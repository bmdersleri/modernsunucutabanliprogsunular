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katmanlı backend mimarisini ve uygulama tasarımını ele alıyor; kitap boyunca kullanılan kütüphane ödünç alma senaryosu üzerinden controller, service, repository ve DTO kavramlarının birbirinden nasıl ayrıldığını göreceğiz. Bölümün amacı yalnızca bu terimleri tanımlamak değil, bir backend uygulamasındaki her satır kodun hangi katmana ait olduğuna dair sağlam bir gerekçe geliştirmektir. Modern sunucu tabanlı programlama dersinin dokuzuncu bölümü olan bu içerik, önceki bölümlerde kurulan HTTP ve sunucu temelleri üzerine inşa edilir ve öğrenciyi gerçek dünyadaki büyük ölçekli uygulamaların iç mimarisine hazırlar.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 boyunca cevaplayacağımız temel sorulardır ve aynı zamanda bölüm sonundaki öz değerlendirme sorularının da iskeletini oluşturur. Katmanların neden ayrı sorumluluklar taşıdığı sorusu Parnas'ın bilgi gizleme ilkesine, istek akışının nasıl işlediği sorusu controller-service-repository zincirine, DTO ile domain model ayrımı Fowler'ın DTO desenine, kod tekrarının azaltılması sorumlulukların ayrılması ilkesine, hata teşhisi ise bölüm sonundaki hata ayıklama alıştırmasına bağlanır. Bu sorular üzerinden ilerlerken, kütüphane ödünç alma senaryosu tüm bölüm boyunca somut bir çapa görevi görecek; her yeni kavram bu senaryo üzerinden örneklenecektir.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öğrenme hedefi, bölümün ölçülebilir başarı ölçütlerini tanımlar ve her biri bölüm sonundaki öz değerlendirme sorularıyla doğrudan eşleşir. İlk hedef, bir isteğin hangi katmana ait olduğunu gerekçesiyle açıklayabilmeyi hedefler; bu, ezber değil muhakeme gerektirir. İkinci hedef, DTO'nun önce alınıp sonra domain kurallarıyla değerlendirilmesi sırasının korunmasını vurgular — bu sıra bozulduğunda güvenlik açıkları doğabilir. Üçüncü hedef, istemciden gelen hesaplanmış bir alanın neden güvenilmez sayılması gerektiğini somut örneklerle açıklayabilmeyi içerir; bu, DTO bölümünde ele alınacak "istemciden gelen veri asla güvenilmez" ilkesinin temelidir. Dördüncü hedef refactoring pratiğine, beşinci hedef ise hata teşhisi becerisine odaklanır. Bu hedeflerin tümü, bölüm sonunda tek bir cümlede özetlenir: öğrenci küçük bir backend uygulamasındaki sorumlulukları gerekçesiyle doğru katmana yerleştirebilecektir.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katmanlı mimari tasarımının merkezi düğüm olduğunu ve controller, service, repository ile DTO'nun bu tasarımdan türeyen dört temel bileşen olduğunu gösterir. Turuncu-yeşil düz oklar katmanlı mimariden doğrudan türeyen bileşenleri, kesikli gri oklar ise DTO'nun sınır geçişlerindeki tamamlayıcı ilişkisini temsil eder — DTO hem controller'ın HTTP sınırında hem de olası dış API sınırlarında devreye girer. Sorumlulukların ayrılması kutusu haritanın altında geniş bir kutu olarak yer alır çünkü bu ilke tüm katmanları tek bir ortak değişim nedenine bağlayan şemsiye kavramdır; kitaptaki tanıma göre her bileşenin sahip olması gereken "tek değişim nedeni" bu haritanın temel felsefesidir. Bu harita, bölüm boyunca tekrar tekrar başvuracağımız zihinsel modeldir.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altı temel kavramın her birinin somut görevini ve o görev yerine getirilmediğinde ortaya çıkacak somut sonucu yan yana gösterir. Örneğin controller satırında, iş mantığının req ve res nesnelerine kilitlenmesi durumunda bu kodun başka bir arayüzde (örneğin bir CLI aracında veya mesaj kuyruğu tüketicisinde) yeniden kullanılamayacağı vurgulanır; bu, ders kitabındaki "Fat Controller" anti-desenine doğrudan bağlanan bir uyarıdır. Repository satırındaki "SQL sorguları servislere dağılır" uyarısı, Martin'in Bağımlılığın Tersine Çevrilmesi ilkesinin ihlalini işaret eder. Bu matris, bölümün geri kalanında her kavramı tek tek derinlemesine incelerken referans alacağımız bir özet çerçevedir; her satır aslında sonraki sayfalarda üç-dört sayfa boyunca genişletilecek bir konudur.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Katmanlı mimarinin tanımı, görevleri controller, service ve repository gibi ayrı sorumluluk katmanlarına bölmektir; bu yaklaşımın kökeni David Parnas'ın 1972 tarihli makalesindeki bilgi gizleme (information hiding) kavramına dayanır — bir modülün iç ayrıntılarını dışarıya kapatması gerektiği fikri. Buschmann ve arkadaşlarının 1996 tarihli "Layers" deseni, katı katmanlama (yalnızca komşu katmanla iletişim) ile gevşek katmanlama arasındaki ayrımı tanımlar; ders kitabındaki örneklerde katı katmanlama tercih edilmiştir, yani controller repository'yi asla doğrudan çağırmaz. Larman'ın 2004 tarihli çalışması, yüksek içbağlılık ve düşük bağlaşımın değişikliğin katmanlar arası yayılma olasılığını azalttığını vurgular. Fabrika benzetmesindeki sipariş masası, üretim bandı ve depo ayrımı, öğrencinin bu üç katmanı günlük hayattan tanıdık bir modelle ilişkilendirmesini sağlamak için seçilmiştir; her bölüm kendi işine odaklanır ve diğerinin işine karışmaz.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(kitaptaki Kod 9.1), en basit haliyle bir ödünç alma isteğinin controller'dan service'e, service'ten repository'ye nasıl aktığını gösterir. Dikkat edilmesi gereken nokta, controller'ın istekKarsila metodunun repository'yi hiç tanımaması, yalnızca service.oduncAl'i çağırmasıdır; bu, katı katmanlama ilkesinin kod düzeyindeki somut yansımasıdır. Bu örnek kasıtlı olarak sadeleştirilmiştir — gerçek bir uygulamada service muhtemelen bir hata nesnesi veya sonuç kodu döndürür, ancak burada amaç sadece çağrı zincirinin yönünü göstermektir. Öğrencilere, her sınıfın constructor'ında yalnızca bir alt katmanın enjekte edildiğine dikkat çekilmelidir; bu, dependency injection'ın en yalın haliyle katman izolasyonunu nasıl desteklediğinin bir göstergesidir.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katmanlı mimarinin tek başına bir dogma olmadığını, farklı ölçek ve ihtiyaçlara göre farklı yaklaşımların uygun olabileceğini gösterir. Tek dosyalı tasarım yalnızca çok küçük denemeler için uygundur; MVC deseni web uygulamalarında arayüz-controller ayrımında güçlüdür ama backend iş kuralı ayrımı konusunda tek başına yeterli olmayabilir. Clean Architecture ise bağımlılıkları çok sıkı yönetir ama öğrenme ve kurulum maliyeti yüksektir — bu, ders kitabının kapsamı dışında bırakılan ama öğrencinin ileride karşılaşabileceği bir yaklaşımdır. Kütüphane, e-ticaret veya öğrenci bilgi sistemi gibi çoklu iş kuralı ve kullanıcı türü barındıran uygulamalarda katmanlı mimarinin özellikle tercih edilmesi gerektiği vurgulanır. Yaygın hatalar arasında, repository'nin HTTP durum kodu döndürmesi özellikle önemlidir çünkü bu, hangi katmanın hangi kararı vereceği konusundaki sınırın ihlalidir — durum kodu kararı yalnızca controller'a aittir.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Controller, dış dünyadan gelen HTTP isteğini karşılayan, parametreleri DTO'ya dönüştüren, service'i çağıran ve sonucu HTTP yanıtına çeviren katmandır. Reenskaug'un 1979 tarihli MVC deseni, controller'ın kullanıcı girdisini yorumlayıp modele ilettiği fikrinin kökenidir; Alur, Crupi ve Malks'ın 2001 tarihli Front Controller deseni ise tüm HTTP isteklerinin tek bir giriş noktasından karşılanması gerektiğini önerir. Ders kitabında özellikle vurgulanan "Fat Controller" anti-deseni, iş kuralının controller'a sızması durumunda Parnas'ın bilgi gizleme ilkesinin ihlal edildiğini belirtir; bu yüzden controller "ince" (thin) tutulmalıdır — yani controller yalnızca çeviri ve yönlendirme yapmalı, karar vermemelidir. Garson benzetmesi bu ayrımı somutlaştırır: garson müşterinin isteğini mutfağın anlayacağı bir sipariş biçimine çevirir ama tarifi belirlemez; tıpkı controller'ın HTTP isteğini DTO'ya çevirip kararı service'e bırakması gibi.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(Kod 9.2), controller'ın iki temel görevini gösterir: biçimsel doğrulama ve hata yakalama. İlk if koşulu, no veya kod alanlarından biri eksikse 400 Bad Request ile erken döner; bu, iş kuralı değil salt biçim doğrulamasıdır — alanın var olup olmadığını kontrol eder, alanın iş kuralına uygun olup olmadığını değil. try-catch bloğu, service'in fırlatabileceği herhangi bir hatayı yakalayıp 400 durum koduna çevirir; burada dikkat çekici nokta, controller'ın hangi spesifik iş kuralının ihlal edildiğini bilmemesidir — yalnızca service'in ürettiği hata mesajını olduğu gibi paketler. Bu tasarım kasıtlıdır: controller'ın iş kuralı detaylarından habersiz kalması, service katmanındaki kuralların değişmesi durumunda controller kodunun hiç dokunulmadan kalabilmesini sağlar.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controller'ı komşu kavramlardan (route, middleware, service) ayırt etmeye yardımcı olur. Route yalnızca URL ile işleyiciyi eşleştirir, iş akışını yönetmek zorunda değildir; middleware kimlik doğrulama veya loglama gibi ortak teknik işlemleri yapar ama belirli bir iş isteğini yönetmez. Controller doğrulaması, alanın boş olması veya beklenen türde gelmemesi gibi taşıma katmanı sorunlarında tercih edilmelidir; iş kuralı sorunları her zaman service'e aittir — bu ayrım, önceki sayfadaki kod örneğindeki if koşulunun neden sadece "eksik alan" kontrolü yaptığını, "limit doldu mu" gibi bir kontrol yapmadığını açıklar. Yaygın hatalar arasında, hata ayrıntılarını (örneğin veritabanı bağlantı metnini) istemciye olduğu gibi göndermek özellikle tehlikelidir çünkü bu, sistemin iç mimarisi hakkında istenmeyen bilgi sızıntısına yol açabilir.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Service katmanı, uygulamanın iş kurallarını ve işlem sırasını yönetir; birden fazla repository ile çalışabilir ama HTTP veya SQL ayrıntısını asla bilmemelidir. Fowler'ın 2002 tarihli Service Layer deseni, uygulama sınırını ve işlem kümesini iş mantığı koordinasyonuyla tanımlar. Transaction Script ve Domain Model, iş mantığını organize etmenin iki karşıt yaklaşımıdır: Transaction Script her işlemi doğrusal bir prosedür olarak ele alırken, Domain Model iş kurallarını nesnelerin davranışına gömer; hangisi seçilirse seçilsin, service katmanı dışarıya tutarlı bir arayüz sunmaya devam eder. Evans'ın 2003 tarihli Application Service kavramı, service'in iş akışını koordine ettiğini ama asıl iş kurallarını domain nesnelerinin taşıdığını vurgular — bu ayrım ileri düzey bir nüanstır ama öğrencinin service'in "sadece koordinasyon" yapabileceğini de bilmesi önemlidir. Aşçı benzetmesi, malzeme yeterliliği veya alerji gibi kararları aşçının (service'in) verdiğini, garsonun (controller'ın) bu kararları vermediğini gösterir.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(Kod 9.3), service katmanının merkezi iş kurallarını nasıl topladığını gösterir. Önce kitap ve öğrenci ilgili repository'lerden getirilir — dikkat edilmesi gereken nokta, kural kontrolünden önce gerekli verilerin toplanmasıdır. Ardından art arda if kontrolleri sırayla değerlendirilir: kitabın var olup olmadığı, öğrencinin var olup olmadığı, kitabın uygun olup olmadığı ve öğrencinin ödünç alma limitinin (kitapta en fazla 3 olarak belirtilir) aşılıp aşılmadığı. Bu sıralı kontrol yapısı, ilk sağlanmayan kuralda hemen hata fırlatarak gereksiz işlem yapılmasını önler. En önemli mesaj, bu kuralların tek bir yerde toplanmış olmasıdır: aynı kuralı kullanan başka bir controller (örneğin bir mobil uygulama controller'ı) bu kuralları tekrar yazmak zorunda kalmaz — bu, ilerleyen sayfalarda ele alınacak refactoring konusunun bir önizlemesidir.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iş kuralının nereye yazılacağına dair dört farklı yaklaşımı karşılaştırır. Controller içinde kural yazmak küçük prototiplerde hızlıdır ama tekrar ve test zorluğu yaratır; domain nesnesi içinde kural yazmak nesne davranışını güçlendirir ama basit projelerde gereksiz karmaşıklık getirebilir; stored procedure veriye yakın kurallar için hızlı olabilir ama uygulama kodundan izlemek zorlaşır çünkü kural artık kaynak kod deposunun dışında, veritabanı sunucusunun içinde yaşar. Bir işlem birden fazla adım, kural veya veri kaynağı içeriyorsa service kullanılması önerilir; tarih biçimlendirme gibi salt teknik yardımcı işlevler ayrı bir yardımcı modülde kalabilir çünkü bunlar iş kuralı değil, teknik detaydır. En kritik yaygın hata, bir kuralın yalnızca bir controller'da uygulanmasıdır — bu durumda başka bir giriş noktası (örneğin bir yönetim paneli veya mobil API) bu kuralı tamamen atlayabilir ve tutarsızlık doğar.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Repository, domain nesnelerinin nasıl saklandığı ve nereden getirildiği ayrıntısını gizler; service bu sayede veri kaynağının teknik detayını bilmeden çalışabilir. Evans (2003) ve Fowler (2002) tarafından tanımlanan Repository deseni, bellekteki bir nesne koleksiyonu gibi davranan bir soyutlamadır — bul, kaydet, sil gibi basit işlemler sunar. Bu kavram, Robert Martin'in Bağımlılığın Tersine Çevrilmesi (Dependency Inversion) ilkesiyle doğrudan ilişkilidir: üst seviye modüller (service) somut bir veritabanı uygulamasına değil, soyut bir arayüze (interface) bağımlı olmalıdır. Bu sayede, service kodu hiç değişmeden veri kaynağı değiştirilebilir — örneğin bellek içi bir prototipten PostgreSQL'e geçiş yapılabilir. Depo benzetmesi bunu somutlaştırır: depo görevlisi kitabın hangi rafta olduğunu bilir ama kime verileceğine karar vermez; bu karar service'e aittir.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(Kod 9.4), gerçek bir veritabanı yerine bellek içi bir dizi kullanan basit bir repository uygulamasını gösterir. kitapListesi, private bir dizi olarak tanımlanır ve gerçek bir veritabanının yerini geçici olarak tutar; bu, öğrenme amaçlı bir sadeleştirmedir ama arayüz sözleşmesi gerçek bir veritabanı repository'siyle aynı kalabilir. kitapBul metodu JavaScript'in find metodunu kullanarak arama yapar ve bulunamazsa undefined döner; opsiyonel zincirleme (?.) operatörü bu durumu güvenle ele alır ve çökme riskini ortadan kaldırır. En önemli vurgu, interface sözleşmesi aynı kaldığı sürece bu bellek içi repository'nin gerçek bir PostgreSQL veya Prisma tabanlı repository ile service kodu hiç değişmeden yer değiştirebilmesidir — bu, bir önceki sayfada anlatılan Bağımlılığın Tersine Çevrilmesi ilkesinin pratikteki somut kanıtıdır.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veri erişimi için repository desenine alternatif üç yaklaşımı karşılaştırır. Doğrudan ORM kullanımı az kod gerektirir ama service'i teknik altyapıya doğrudan bağlar; Active Record deseni basit CRUD işlemleri için pratiktir ama domain mantığı ile veri erişimi birleşebilir, bu da test edilebilirliği zorlaştırır; Query Service karmaşık raporlar için güçlüdür ama ek tasarım gerektirir. Uygulama veri saklıyor, sorguluyor veya güncelliyorsa repository katmanı tercih edilmelidir; karmaşık raporlar için ayrı bir sorgu servisi düşünülebilir — bu, tek bir repository'nin her türlü sorguyu karşılamak zorunda olmadığını gösterir. Yaygın hatalar arasında en kritik olanı, repository içine "öğrencinin limiti doluysa kayıt yapma" gibi iş kurallarının yazılmasıdır; bu, repository'nin sınırlarını aşıp service'in alanına girmesi anlamına gelir ve katman izolasyonunu bozar.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DTO (Data Transfer Object), katmanlar veya dış dünya arasında taşınan verinin amaca özel biçimidir; domain model ise iş alanındaki gerçek kavramları taşır. Fowler'ın 2002 tarihli DTO deseni, dış sınırdan geçen verinin iç modelden bağımsız, amaca özel bir biçime sahip olması gerektiğini savunur. Fowler'ın 2003 tarihli Anemic Domain Model eleştirisi ise önemli bir uyarı taşır: domain yalnızca veri taşıyıcısına indirgenirse, iş kuralları başka yerlere, özellikle service'e sızar — bu, DTO kullanımının aşırıya kaçıp domain modelin tamamen anlamsızlaşmaması gerektiğine dair bir denge noktasıdır. Evans'ın Bounded Context kavramı, hangi modelin hangi sınırda geçerli olduğunu belirlemenin kuramsal aracıdır. Teslim formu benzetmesi bunu somutlaştırır: DTO kapıdaki teslim formu gibidir, domain model ise kurum içindeki resmî kayıttır; form kayıttaki her alanı taşımaz, yalnızca teslimat için gerekli olanları taşır.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DTO ile domain modelin güvenli dönüşümünü gösterir. OduncKaydi arayüzü, iç kullanım için zengin bir domain modelidir ve icNot gibi yalnızca personelin görmesi gereken alanları içerir; OduncAlmaYanitiDTO ise yalnızca istemcinin ihtiyaç duyduğu iki alanı (kitapKodu ve sonTeslimTarihi) taşır. yanitDTOOlustur fonksiyonu bu güvenli dönüşümü yapar ve icNot alanının asla istemciye sızmamasını garanti eder. Bu sayfanın en kritik mesajı dikkat noktasında yer alır: istemciden gelen bir DTO'ya sistemin hesaplaması gereken alanlar (örneğin mevcut ödünç sayısı) asla konulmamalıdır, çünkü istemciden gelen bu tür değerler güvenilmez kabul edilir — bir kullanıcı bu alanı manipüle ederek limit kontrolünü atlatmaya çalışabilir. Bu ilke, öğrenme hedeflerinde vurgulanan "istemciden gelen hesaplanmış bir alanın neden güvenilmez olduğu" sorusunun doğrudan cevabıdır.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DTO kullanımına alternatif yaklaşımları karşılaştırır. Domain modelini doğrudan döndürmek az dönüşüm kodu gerektirir ama veri sızıntısı riski taşır; Pick veya Omit gibi TypeScript araçlarıyla hızlı tür üretimi yapılabilir ama karmaşık API'lerde okunabilirlik azalır; view model ise ekrana özel veri sunar ama çok sayıda model oluşmasına yol açabilir. Dış API, katmanlar arası sınır veya farklı kullanıcı rolleri söz konusu olduğunda DTO tercih edilmelidir; mobil, web ve yönetici paneli gibi farklı istemciler farklı ihtiyaçlar için ayrı yanıt DTO'ları kullanabilir. En önemli yaygın hatalardan biri, DTO doğrulamasını yalnızca TypeScript türüne bırakmaktır — türler yalnızca derleme zamanında kontrol edilir, çalışma zamanında gelen gerçek JSON verisini doğrulamaz; bu nedenle çalışma zamanı doğrulaması (örneğin bir şema doğrulama kütüphanesi ile) hâlâ gereklidir.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Sorumlulukların ayrılması, bir sınıfın mümkün olduğunca tek bir değişim nedenine sahip olması gerektiğini savunan Tek Sorumluluk İlkesi'dir (SRP). Dijkstra'nın 1974 tarihli görüşü, karmaşık bir sistemi anlamanın yolunun bir seferde tek bir kaygıya odaklanmaktan geçtiğini söyler; Fowler'ın 1999 tarihli Refactoring kavramı ise dış davranışı koruyarak kodun iç yapısını küçük, geri alınabilir adımlarla iyileştirme sürecidir. Koddaki örnek (Kod 9.11), aynı oduncAlmayaUygunMu kuralının hem mobil hem de web controller'ı tarafından nasıl paylaşıldığını gösterir; limit değişirse yalnızca tek bir metodun düzenlenmesi yeterlidir, iki controller'ın da ayrı ayrı güncellenmesi gerekmez. Bu, bölümün önceki sayfalarında (özellikle service kod örneğinde) önizlemesi yapılan refactoring fikrinin somut uygulamasıdır. Yaygın hatadaki uyarı özellikle önemlidir: "tek sorumluluk, tek metot anlamına gelir" düşüncesi yanlıştır; amaç metot sayısını sınırlamak değil, her sınıfın yalnızca tek bir değişim nedenine sahip olmasını sağlamaktır — bir sınıfın birden fazla metodu olabilir, yeter ki hepsi aynı kaygıya hizmet etsin.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kavram yanılgısı, ders kitabındaki hata ayıklama alıştırmasından alınmıştır ve öğrencilerin sıkça düştüğü tuzakları somutlaştırır. İlk yanılgı, controller içinde doğrudan SQL çalıştırmanın küçük projelerde sakınca doğurmayacağı inancıdır; oysa controller HTTP'ye özgüdür ve içine veritabanı kodu konulduğunda hem iş kuralları hem veri erişimi kilitlenir, birim test yazmak neredeyse imkânsızlaşır — çözüm, controller'ın yalnızca HTTP parametrelerini DTO'ya dönüştürüp servisi çağırmasıdır. İkinci yanılgı, service katmanında req ve res nesnelerini parametre olarak kullanmanın pratik olduğu düşüncesidir; ama servis HTTP protokolünden tamamen habersiz olmalıdır, aksi halde aynı servis bir CLI aracından veya mesaj kuyruğundan çağrılamaz — çözüm, servis metotlarına yalnızca saf DTO veya ilkel değişkenler geçirmektir. Üçüncü yanılgı, veritabanı varlık modelini doğrudan istemciye JSON olarak dönmenin pratik olduğu inancıdır; oysa veritabanı modeli şifre hash'i, silinme bayrakları veya hassas kurum içi alanlar içerebilir ve doğrudan dönüldüğünde bilgi sızıntısı doğar — çözüm, istemciye dönülecek alanları kesin olarak tanımlayan Response DTO şablonları kullanmaktır. Bu üç yanılgı da aslında bölümün önceki sayfalarında ayrı ayrı işlenen ilkelerin bir araya toplanmış hâlidir.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altı adımlı zaman çizelgesi, bir HTTP isteğinin kütüphane ödünç alma senaryosunda uçtan uca nasıl işlendiğini gösterir; kitaptaki Kod 9.14'te anlatılan tam yaşam döngüsünün özetlenmiş halidir. İlk iki adım controller'da gerçekleşir: girdi doğrulama ile zorunlu alanlar kontrol edilir, ardından saf DTO verisi HTTP bağlamından sıyrılarak service'e devredilir. Üçüncü adımda service, öğrencinin ödünç alma limitini (en fazla 3) aşıp aşmadığını denetler; bu adım turkuaz renkle gösterilir çünkü iş kuralı katmanını temsil eder. Dördüncü ve beşinci adımlar repository'de gerçekleşir: önce kitap ve öğrencinin güncel durumu veri kaynağından sorgulanır, ardından kitabiOduncteIsaretle ve oduncSayisiniArtir çalıştırılarak durum kalıcı olarak güncellenir. Altıncı adımda controller devreye geri döner ve servis sonucunu {durumKodu: 201, mesaj} biçiminde bir HTTP yanıtına paketler. Sağdaki Katman İzolasyon İlkesi kutusu bu akışın özünü vurgular: repository HTTP'den habersizdir, service hangi HTTP durum kodunun döneceğini bilmez, controller ise SQL sorgusundan tamamen izoledir — bu üçlü izolasyon sayesinde aynı service, ileride bir REST API yerine bir gRPC servisi veya kuyruk tüketicisi tarafından hiç değişmeden kullanılabilir.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altı kart, bölümde işlenen tüm temel kavramları tek bakışta özetler. Controller istemci isteğini alır, DTO'ya dönüştürür ve HTTP yanıtını hazırlar; service iş kurallarını merkezi biçimde uygular ve HTTP ile SQL ayrıntısından bağımsızdır; repository veriyi getirir ve saklar, veri kaynağının teknik ayrıntısını gizler. DTO ve domain model kartı, dış dünya ile iç domain model arasında güvenli bir sözleşme kurarak veri sızıntısını önlediğini hatırlatır; refactoring kartı, ortak kuralların service katmanına taşınmasıyla kod tekrarı ve tutarsızlığın azaltıldığını vurgular. Vurgulanan hata ayıklama kartı ise bölümün pratik değerini özetler: girdi veya HTTP sorunu controller'da, iş kuralı sorunu service'te, veri erişim sorunu repository'de aranmalıdır — bu, bir hata raporu geldiğinde öğrencinin izleyeceği sistematik bir teşhis yöntemidir. Alttaki kapanış notu, controller-service-repository üçlü ayrımının kütüphane ödünç alma senaryosunun tüm bölüm boyunca omurgası olduğunu bir kez daha hatırlatır ve bu üçlünün sınav sorularında da temel çerçeve olarak kullanılacağını ima eder.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bölümdeki oduncAl metodu, isteği gönderenin kim olduğunu hiç sormamıştı — bu kasıtlı bir sadeleştirmeydi ve şimdi bu boşluğun doldurulması gerekiyor. Artık yapabilecekleriniz arasında, controller-service-repository akışını uçtan uca kurmak ve DTO ile domain modeli ayırt edip veri sızıntısını önlemek yer alıyor; bu iki beceri, bir sonraki bölümün temelini oluşturacak. Sıradaki bölüm kimlik doğrulama ve yetkilendirmeye odaklanacak: parolaların scrypt algoritmasıyla güvenli biçimde saklanması ve bir kullanıcının yalnızca kendi verisine erişebilmesini garanti eden sahiplik (ownership) denetimleri öğretilecek. Bu bölümde kurulan controller ve service katmanları, bir sonraki bölümde kimlik bilgisiyle birlikte çalışır hâle gelecek — örneğin service katmanındaki iş kuralı kontrollerine artık "bu öğrenci gerçekten bu isteği yapmaya yetkili mi" sorusu da eklenecek. Bu köprü, katmanlı mimarinin sabit bir çerçeve değil, yeni gereksinimlerle birlikte genişleyebilen esnek bir temel olduğunu gösterir.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9-layered-backend-architecture-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9-layered-backend-architecture-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09</a:t>
              </a:r>
            </a:p>
          </p:txBody>
        </p:sp>
      </p:grpSp>
      <p:grpSp>
        <p:nvGrpSpPr>
          <p:cNvPr id="8" name="cover-title"/>
          <p:cNvGrpSpPr/>
          <p:nvPr/>
        </p:nvGrpSpPr>
        <p:grpSpPr>
          <a:xfrm>
            <a:off x="4933950" y="1674495"/>
            <a:ext cx="4848701" cy="1981200"/>
            <a:chOff x="4933950" y="1674495"/>
            <a:chExt cx="4848701" cy="1981200"/>
          </a:xfrm>
        </p:grpSpPr>
        <p:sp>
          <p:nvSpPr>
            <p:cNvPr id="7" name="TextBox 7"/>
            <p:cNvSpPr txBox="1"/>
            <p:nvPr/>
          </p:nvSpPr>
          <p:spPr>
            <a:xfrm>
              <a:off x="4933950" y="1674495"/>
              <a:ext cx="4848701"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Katmanlı Backend</a:t>
              </a:r>
              <a:br/>
              <a:r>
                <a:rPr lang="tr-TR" sz="3900" b="1" dirty="0">
                  <a:solidFill>
                    <a:srgbClr val="12355B"/>
                  </a:solidFill>
                  <a:latin typeface="+mj-lt"/>
                  <a:ea typeface="+mj-ea"/>
                  <a:cs typeface="+mj-cs"/>
                </a:rPr>
                <a:t>Mimarisi ve</a:t>
              </a:r>
              <a:br/>
              <a:r>
                <a:rPr lang="tr-TR" sz="3900" b="1" dirty="0">
                  <a:solidFill>
                    <a:srgbClr val="12355B"/>
                  </a:solidFill>
                  <a:latin typeface="+mj-lt"/>
                  <a:ea typeface="+mj-ea"/>
                  <a:cs typeface="+mj-cs"/>
                </a:rPr>
                <a:t>Uygulama Tasarımı</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258729"/>
            <a:ext cx="4968445" cy="308039"/>
            <a:chOff x="601599" y="1258729"/>
            <a:chExt cx="4968445" cy="308039"/>
          </a:xfrm>
        </p:grpSpPr>
        <p:sp>
          <p:nvSpPr>
            <p:cNvPr id="6" name="TextBox 6"/>
            <p:cNvSpPr txBox="1"/>
            <p:nvPr/>
          </p:nvSpPr>
          <p:spPr>
            <a:xfrm>
              <a:off x="601599" y="125872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roadmap-q1"/>
          <p:cNvGrpSpPr/>
          <p:nvPr/>
        </p:nvGrpSpPr>
        <p:grpSpPr>
          <a:xfrm>
            <a:off x="704850" y="1752600"/>
            <a:ext cx="8837702" cy="414909"/>
            <a:chOff x="704850" y="1752600"/>
            <a:chExt cx="8837702" cy="414909"/>
          </a:xfrm>
        </p:grpSpPr>
        <p:sp>
          <p:nvSpPr>
            <p:cNvPr id="8" name="Ellipse 8"/>
            <p:cNvSpPr/>
            <p:nvPr/>
          </p:nvSpPr>
          <p:spPr>
            <a:xfrm>
              <a:off x="704850" y="1752600"/>
              <a:ext cx="381000" cy="381000"/>
            </a:xfrm>
            <a:prstGeom prst="ellipse">
              <a:avLst/>
            </a:prstGeom>
            <a:solidFill>
              <a:srgbClr val="12355B"/>
            </a:solidFill>
            <a:ln>
              <a:noFill/>
            </a:ln>
          </p:spPr>
        </p:sp>
        <p:sp>
          <p:nvSpPr>
            <p:cNvPr id="9" name="TextBox 9"/>
            <p:cNvSpPr txBox="1"/>
            <p:nvPr/>
          </p:nvSpPr>
          <p:spPr>
            <a:xfrm>
              <a:off x="825932" y="18397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0" name="TextBox 10"/>
            <p:cNvSpPr txBox="1"/>
            <p:nvPr/>
          </p:nvSpPr>
          <p:spPr>
            <a:xfrm>
              <a:off x="1229106" y="1815465"/>
              <a:ext cx="831344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backend uygulamasında katmanlar neden ayrı sorumluluklar taşır?</a:t>
              </a:r>
            </a:p>
          </p:txBody>
        </p:sp>
      </p:grpSp>
      <p:grpSp>
        <p:nvGrpSpPr>
          <p:cNvPr id="15" name="roadmap-q2"/>
          <p:cNvGrpSpPr/>
          <p:nvPr/>
        </p:nvGrpSpPr>
        <p:grpSpPr>
          <a:xfrm>
            <a:off x="704850" y="2438400"/>
            <a:ext cx="8716428" cy="414909"/>
            <a:chOff x="704850" y="2438400"/>
            <a:chExt cx="8716428" cy="414909"/>
          </a:xfrm>
        </p:grpSpPr>
        <p:sp>
          <p:nvSpPr>
            <p:cNvPr id="12" name="Ellipse 12"/>
            <p:cNvSpPr/>
            <p:nvPr/>
          </p:nvSpPr>
          <p:spPr>
            <a:xfrm>
              <a:off x="704850" y="2438400"/>
              <a:ext cx="381000" cy="381000"/>
            </a:xfrm>
            <a:prstGeom prst="ellipse">
              <a:avLst/>
            </a:prstGeom>
            <a:solidFill>
              <a:srgbClr val="12355B"/>
            </a:solidFill>
            <a:ln>
              <a:noFill/>
            </a:ln>
          </p:spPr>
        </p:sp>
        <p:sp>
          <p:nvSpPr>
            <p:cNvPr id="13" name="TextBox 13"/>
            <p:cNvSpPr txBox="1"/>
            <p:nvPr/>
          </p:nvSpPr>
          <p:spPr>
            <a:xfrm>
              <a:off x="825932" y="25255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4" name="TextBox 14"/>
            <p:cNvSpPr txBox="1"/>
            <p:nvPr/>
          </p:nvSpPr>
          <p:spPr>
            <a:xfrm>
              <a:off x="1229106" y="2501265"/>
              <a:ext cx="819217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Controller, service ve repository arasındaki istek akışı nasıl işler?</a:t>
              </a:r>
            </a:p>
          </p:txBody>
        </p:sp>
      </p:grpSp>
      <p:grpSp>
        <p:nvGrpSpPr>
          <p:cNvPr id="19" name="roadmap-q3"/>
          <p:cNvGrpSpPr/>
          <p:nvPr/>
        </p:nvGrpSpPr>
        <p:grpSpPr>
          <a:xfrm>
            <a:off x="704850" y="3124200"/>
            <a:ext cx="6685761" cy="414909"/>
            <a:chOff x="704850" y="3124200"/>
            <a:chExt cx="6685761" cy="414909"/>
          </a:xfrm>
        </p:grpSpPr>
        <p:sp>
          <p:nvSpPr>
            <p:cNvPr id="16" name="Ellipse 16"/>
            <p:cNvSpPr/>
            <p:nvPr/>
          </p:nvSpPr>
          <p:spPr>
            <a:xfrm>
              <a:off x="704850" y="3124200"/>
              <a:ext cx="381000" cy="381000"/>
            </a:xfrm>
            <a:prstGeom prst="ellipse">
              <a:avLst/>
            </a:prstGeom>
            <a:solidFill>
              <a:srgbClr val="12355B"/>
            </a:solidFill>
            <a:ln>
              <a:noFill/>
            </a:ln>
          </p:spPr>
        </p:sp>
        <p:sp>
          <p:nvSpPr>
            <p:cNvPr id="17" name="TextBox 17"/>
            <p:cNvSpPr txBox="1"/>
            <p:nvPr/>
          </p:nvSpPr>
          <p:spPr>
            <a:xfrm>
              <a:off x="825932" y="32113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18" name="TextBox 18"/>
            <p:cNvSpPr txBox="1"/>
            <p:nvPr/>
          </p:nvSpPr>
          <p:spPr>
            <a:xfrm>
              <a:off x="1229106" y="3187065"/>
              <a:ext cx="616150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DTO ile domain model neden aynı nesne olmamalıdır?</a:t>
              </a:r>
            </a:p>
          </p:txBody>
        </p:sp>
      </p:grpSp>
      <p:grpSp>
        <p:nvGrpSpPr>
          <p:cNvPr id="23" name="roadmap-q4"/>
          <p:cNvGrpSpPr/>
          <p:nvPr/>
        </p:nvGrpSpPr>
        <p:grpSpPr>
          <a:xfrm>
            <a:off x="704850" y="3810000"/>
            <a:ext cx="6923130" cy="414909"/>
            <a:chOff x="704850" y="3810000"/>
            <a:chExt cx="6923130" cy="414909"/>
          </a:xfrm>
        </p:grpSpPr>
        <p:sp>
          <p:nvSpPr>
            <p:cNvPr id="20" name="Ellipse 20"/>
            <p:cNvSpPr/>
            <p:nvPr/>
          </p:nvSpPr>
          <p:spPr>
            <a:xfrm>
              <a:off x="704850" y="3810000"/>
              <a:ext cx="381000" cy="381000"/>
            </a:xfrm>
            <a:prstGeom prst="ellipse">
              <a:avLst/>
            </a:prstGeom>
            <a:solidFill>
              <a:srgbClr val="12355B"/>
            </a:solidFill>
            <a:ln>
              <a:noFill/>
            </a:ln>
          </p:spPr>
        </p:sp>
        <p:sp>
          <p:nvSpPr>
            <p:cNvPr id="21" name="TextBox 21"/>
            <p:cNvSpPr txBox="1"/>
            <p:nvPr/>
          </p:nvSpPr>
          <p:spPr>
            <a:xfrm>
              <a:off x="825932" y="38971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2" name="TextBox 22"/>
            <p:cNvSpPr txBox="1"/>
            <p:nvPr/>
          </p:nvSpPr>
          <p:spPr>
            <a:xfrm>
              <a:off x="1229106" y="3872865"/>
              <a:ext cx="639887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Kod tekrarını katmanlı tasarımla nasıl azaltabiliriz?</a:t>
              </a:r>
            </a:p>
          </p:txBody>
        </p:sp>
      </p:grpSp>
      <p:grpSp>
        <p:nvGrpSpPr>
          <p:cNvPr id="27" name="roadmap-q5"/>
          <p:cNvGrpSpPr/>
          <p:nvPr/>
        </p:nvGrpSpPr>
        <p:grpSpPr>
          <a:xfrm>
            <a:off x="704850" y="4495800"/>
            <a:ext cx="8898076" cy="414909"/>
            <a:chOff x="704850" y="4495800"/>
            <a:chExt cx="8898076" cy="414909"/>
          </a:xfrm>
        </p:grpSpPr>
        <p:sp>
          <p:nvSpPr>
            <p:cNvPr id="24" name="Ellipse 24"/>
            <p:cNvSpPr/>
            <p:nvPr/>
          </p:nvSpPr>
          <p:spPr>
            <a:xfrm>
              <a:off x="704850" y="4495800"/>
              <a:ext cx="381000" cy="381000"/>
            </a:xfrm>
            <a:prstGeom prst="ellipse">
              <a:avLst/>
            </a:prstGeom>
            <a:solidFill>
              <a:srgbClr val="12355B"/>
            </a:solidFill>
            <a:ln>
              <a:noFill/>
            </a:ln>
          </p:spPr>
        </p:sp>
        <p:sp>
          <p:nvSpPr>
            <p:cNvPr id="25" name="TextBox 25"/>
            <p:cNvSpPr txBox="1"/>
            <p:nvPr/>
          </p:nvSpPr>
          <p:spPr>
            <a:xfrm>
              <a:off x="825932" y="45829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6" name="TextBox 26"/>
            <p:cNvSpPr txBox="1"/>
            <p:nvPr/>
          </p:nvSpPr>
          <p:spPr>
            <a:xfrm>
              <a:off x="1229106" y="4558665"/>
              <a:ext cx="837382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hata oluştuğunda sorunun hangi katmanda olduğunu nasıl belirleriz?</a:t>
              </a:r>
            </a:p>
          </p:txBody>
        </p:sp>
      </p:grpSp>
      <p:grpSp>
        <p:nvGrpSpPr>
          <p:cNvPr id="32" name="chapter-goal"/>
          <p:cNvGrpSpPr/>
          <p:nvPr/>
        </p:nvGrpSpPr>
        <p:grpSpPr>
          <a:xfrm>
            <a:off x="609600" y="5429250"/>
            <a:ext cx="10972800" cy="1014317"/>
            <a:chOff x="609600" y="5429250"/>
            <a:chExt cx="10972800" cy="1014317"/>
          </a:xfrm>
        </p:grpSpPr>
        <p:sp>
          <p:nvSpPr>
            <p:cNvPr id="28" name="Rectangle 28"/>
            <p:cNvSpPr/>
            <p:nvPr/>
          </p:nvSpPr>
          <p:spPr>
            <a:xfrm>
              <a:off x="609600" y="5429250"/>
              <a:ext cx="10972800" cy="952500"/>
            </a:xfrm>
            <a:prstGeom prst="roundRect">
              <a:avLst>
                <a:gd name="adj" fmla="val 8000"/>
              </a:avLst>
            </a:prstGeom>
            <a:solidFill>
              <a:srgbClr val="EAF4F6"/>
            </a:solidFill>
            <a:ln>
              <a:noFill/>
            </a:ln>
          </p:spPr>
        </p:sp>
        <p:sp>
          <p:nvSpPr>
            <p:cNvPr id="29" name="Rectangle 29"/>
            <p:cNvSpPr/>
            <p:nvPr/>
          </p:nvSpPr>
          <p:spPr>
            <a:xfrm>
              <a:off x="609600" y="5429250"/>
              <a:ext cx="57150" cy="952500"/>
            </a:xfrm>
            <a:prstGeom prst="rect">
              <a:avLst/>
            </a:prstGeom>
            <a:solidFill>
              <a:srgbClr val="00A6A6"/>
            </a:solidFill>
            <a:ln>
              <a:noFill/>
            </a:ln>
          </p:spPr>
        </p:sp>
        <p:sp>
          <p:nvSpPr>
            <p:cNvPr id="30" name="TextBox 30"/>
            <p:cNvSpPr txBox="1"/>
            <p:nvPr/>
          </p:nvSpPr>
          <p:spPr>
            <a:xfrm>
              <a:off x="908304" y="5623560"/>
              <a:ext cx="1420795"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BÖLÜM HEDEFİ</a:t>
              </a:r>
            </a:p>
          </p:txBody>
        </p:sp>
        <p:sp>
          <p:nvSpPr>
            <p:cNvPr id="31" name="TextBox 31"/>
            <p:cNvSpPr txBox="1"/>
            <p:nvPr/>
          </p:nvSpPr>
          <p:spPr>
            <a:xfrm>
              <a:off x="906399" y="5868829"/>
              <a:ext cx="709930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Kütüphane ödünç alma senaryosu üzerinden sürdürülebilir, test edilebilir</a:t>
              </a:r>
              <a:br/>
              <a:r>
                <a:rPr lang="tr-TR" sz="1580" dirty="0">
                  <a:solidFill>
                    <a:srgbClr val="172B3A"/>
                  </a:solidFill>
                  <a:latin typeface="+mn-lt"/>
                  <a:ea typeface="+mn-ea"/>
                  <a:cs typeface="+mn-cs"/>
                </a:rPr>
                <a:t>ve güvenli bir backend tasarımı kurulacaktır.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295400"/>
            <a:ext cx="7679036" cy="671418"/>
            <a:chOff x="685800" y="1295400"/>
            <a:chExt cx="7679036" cy="671418"/>
          </a:xfrm>
        </p:grpSpPr>
        <p:sp>
          <p:nvSpPr>
            <p:cNvPr id="6" name="Rectangle 6"/>
            <p:cNvSpPr/>
            <p:nvPr/>
          </p:nvSpPr>
          <p:spPr>
            <a:xfrm>
              <a:off x="685800" y="1295400"/>
              <a:ext cx="57150" cy="533400"/>
            </a:xfrm>
            <a:prstGeom prst="rect">
              <a:avLst/>
            </a:prstGeom>
            <a:solidFill>
              <a:srgbClr val="00A6A6"/>
            </a:solidFill>
            <a:ln>
              <a:noFill/>
            </a:ln>
          </p:spPr>
        </p:sp>
        <p:sp>
          <p:nvSpPr>
            <p:cNvPr id="7" name="TextBox 7"/>
            <p:cNvSpPr txBox="1"/>
            <p:nvPr/>
          </p:nvSpPr>
          <p:spPr>
            <a:xfrm>
              <a:off x="981456" y="1310640"/>
              <a:ext cx="72268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Controller, service ve repository görevlerini ayırt etmek</a:t>
              </a:r>
            </a:p>
          </p:txBody>
        </p:sp>
        <p:sp>
          <p:nvSpPr>
            <p:cNvPr id="8" name="TextBox 8"/>
            <p:cNvSpPr txBox="1"/>
            <p:nvPr/>
          </p:nvSpPr>
          <p:spPr>
            <a:xfrm>
              <a:off x="982599" y="1658779"/>
              <a:ext cx="738223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bir ödünç alma isteğini gerekçesiyle doğru katmana yerleştirmek</a:t>
              </a:r>
            </a:p>
          </p:txBody>
        </p:sp>
      </p:grpSp>
      <p:grpSp>
        <p:nvGrpSpPr>
          <p:cNvPr id="13" name="objective-2"/>
          <p:cNvGrpSpPr/>
          <p:nvPr/>
        </p:nvGrpSpPr>
        <p:grpSpPr>
          <a:xfrm>
            <a:off x="685800" y="2095500"/>
            <a:ext cx="8998536" cy="671418"/>
            <a:chOff x="685800" y="2095500"/>
            <a:chExt cx="8998536" cy="671418"/>
          </a:xfrm>
        </p:grpSpPr>
        <p:sp>
          <p:nvSpPr>
            <p:cNvPr id="10" name="Rectangle 10"/>
            <p:cNvSpPr/>
            <p:nvPr/>
          </p:nvSpPr>
          <p:spPr>
            <a:xfrm>
              <a:off x="685800" y="2095500"/>
              <a:ext cx="57150" cy="533400"/>
            </a:xfrm>
            <a:prstGeom prst="rect">
              <a:avLst/>
            </a:prstGeom>
            <a:solidFill>
              <a:srgbClr val="00A6A6"/>
            </a:solidFill>
            <a:ln>
              <a:noFill/>
            </a:ln>
          </p:spPr>
        </p:sp>
        <p:sp>
          <p:nvSpPr>
            <p:cNvPr id="11" name="TextBox 11"/>
            <p:cNvSpPr txBox="1"/>
            <p:nvPr/>
          </p:nvSpPr>
          <p:spPr>
            <a:xfrm>
              <a:off x="981456" y="2110740"/>
              <a:ext cx="87028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İstek akışını controller → service → repository sırasıyla tasarlamak</a:t>
              </a:r>
            </a:p>
          </p:txBody>
        </p:sp>
        <p:sp>
          <p:nvSpPr>
            <p:cNvPr id="12" name="TextBox 12"/>
            <p:cNvSpPr txBox="1"/>
            <p:nvPr/>
          </p:nvSpPr>
          <p:spPr>
            <a:xfrm>
              <a:off x="982599" y="2458879"/>
              <a:ext cx="850882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DTO'nun önce alınıp sonra domain kurallarıyla değerlendirilmesini korumak</a:t>
              </a:r>
            </a:p>
          </p:txBody>
        </p:sp>
      </p:grpSp>
      <p:grpSp>
        <p:nvGrpSpPr>
          <p:cNvPr id="17" name="objective-3"/>
          <p:cNvGrpSpPr/>
          <p:nvPr/>
        </p:nvGrpSpPr>
        <p:grpSpPr>
          <a:xfrm>
            <a:off x="685800" y="2895600"/>
            <a:ext cx="8423502" cy="671418"/>
            <a:chOff x="685800" y="2895600"/>
            <a:chExt cx="8423502" cy="671418"/>
          </a:xfrm>
        </p:grpSpPr>
        <p:sp>
          <p:nvSpPr>
            <p:cNvPr id="14" name="Rectangle 14"/>
            <p:cNvSpPr/>
            <p:nvPr/>
          </p:nvSpPr>
          <p:spPr>
            <a:xfrm>
              <a:off x="685800" y="2895600"/>
              <a:ext cx="57150" cy="533400"/>
            </a:xfrm>
            <a:prstGeom prst="rect">
              <a:avLst/>
            </a:prstGeom>
            <a:solidFill>
              <a:srgbClr val="00A6A6"/>
            </a:solidFill>
            <a:ln>
              <a:noFill/>
            </a:ln>
          </p:spPr>
        </p:sp>
        <p:sp>
          <p:nvSpPr>
            <p:cNvPr id="15" name="TextBox 15"/>
            <p:cNvSpPr txBox="1"/>
            <p:nvPr/>
          </p:nvSpPr>
          <p:spPr>
            <a:xfrm>
              <a:off x="981456" y="2910840"/>
              <a:ext cx="64042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DTO ile domain modeli somut örneklerle ayırt etmek</a:t>
              </a:r>
            </a:p>
          </p:txBody>
        </p:sp>
        <p:sp>
          <p:nvSpPr>
            <p:cNvPr id="16" name="TextBox 16"/>
            <p:cNvSpPr txBox="1"/>
            <p:nvPr/>
          </p:nvSpPr>
          <p:spPr>
            <a:xfrm>
              <a:off x="982599" y="3258979"/>
              <a:ext cx="812670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istemciden hesaplanmış bir alanın neden güvenilmez olduğunu açıklamak</a:t>
              </a:r>
            </a:p>
          </p:txBody>
        </p:sp>
      </p:grpSp>
      <p:grpSp>
        <p:nvGrpSpPr>
          <p:cNvPr id="21" name="objective-4"/>
          <p:cNvGrpSpPr/>
          <p:nvPr/>
        </p:nvGrpSpPr>
        <p:grpSpPr>
          <a:xfrm>
            <a:off x="685800" y="3695700"/>
            <a:ext cx="8883930" cy="671418"/>
            <a:chOff x="685800" y="3695700"/>
            <a:chExt cx="8883930" cy="671418"/>
          </a:xfrm>
        </p:grpSpPr>
        <p:sp>
          <p:nvSpPr>
            <p:cNvPr id="18" name="Rectangle 18"/>
            <p:cNvSpPr/>
            <p:nvPr/>
          </p:nvSpPr>
          <p:spPr>
            <a:xfrm>
              <a:off x="685800" y="3695700"/>
              <a:ext cx="57150" cy="533400"/>
            </a:xfrm>
            <a:prstGeom prst="rect">
              <a:avLst/>
            </a:prstGeom>
            <a:solidFill>
              <a:srgbClr val="00A6A6"/>
            </a:solidFill>
            <a:ln>
              <a:noFill/>
            </a:ln>
          </p:spPr>
        </p:sp>
        <p:sp>
          <p:nvSpPr>
            <p:cNvPr id="19" name="TextBox 19"/>
            <p:cNvSpPr txBox="1"/>
            <p:nvPr/>
          </p:nvSpPr>
          <p:spPr>
            <a:xfrm>
              <a:off x="981456" y="3710940"/>
              <a:ext cx="858827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Tekrar eden kuralı service katmanına taşıyarak refactoring yapmak</a:t>
              </a:r>
            </a:p>
          </p:txBody>
        </p:sp>
        <p:sp>
          <p:nvSpPr>
            <p:cNvPr id="20" name="TextBox 20"/>
            <p:cNvSpPr txBox="1"/>
            <p:nvPr/>
          </p:nvSpPr>
          <p:spPr>
            <a:xfrm>
              <a:off x="982599" y="4059079"/>
              <a:ext cx="811616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aynı kuralı kullanan iki controller'ı tek bir service metoduna bağlamak</a:t>
              </a:r>
            </a:p>
          </p:txBody>
        </p:sp>
      </p:grpSp>
      <p:grpSp>
        <p:nvGrpSpPr>
          <p:cNvPr id="25" name="objective-5"/>
          <p:cNvGrpSpPr/>
          <p:nvPr/>
        </p:nvGrpSpPr>
        <p:grpSpPr>
          <a:xfrm>
            <a:off x="685800" y="4495800"/>
            <a:ext cx="8781782" cy="671418"/>
            <a:chOff x="685800" y="4495800"/>
            <a:chExt cx="8781782" cy="671418"/>
          </a:xfrm>
        </p:grpSpPr>
        <p:sp>
          <p:nvSpPr>
            <p:cNvPr id="22" name="Rectangle 22"/>
            <p:cNvSpPr/>
            <p:nvPr/>
          </p:nvSpPr>
          <p:spPr>
            <a:xfrm>
              <a:off x="685800" y="4495800"/>
              <a:ext cx="57150" cy="533400"/>
            </a:xfrm>
            <a:prstGeom prst="rect">
              <a:avLst/>
            </a:prstGeom>
            <a:solidFill>
              <a:srgbClr val="00A6A6"/>
            </a:solidFill>
            <a:ln>
              <a:noFill/>
            </a:ln>
          </p:spPr>
        </p:sp>
        <p:sp>
          <p:nvSpPr>
            <p:cNvPr id="23" name="TextBox 23"/>
            <p:cNvSpPr txBox="1"/>
            <p:nvPr/>
          </p:nvSpPr>
          <p:spPr>
            <a:xfrm>
              <a:off x="981456" y="4511040"/>
              <a:ext cx="848612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hatanın hangi katmanın sorumluluğunu ihlal ettiğini teşhis etmek</a:t>
              </a:r>
            </a:p>
          </p:txBody>
        </p:sp>
        <p:sp>
          <p:nvSpPr>
            <p:cNvPr id="24" name="TextBox 24"/>
            <p:cNvSpPr txBox="1"/>
            <p:nvPr/>
          </p:nvSpPr>
          <p:spPr>
            <a:xfrm>
              <a:off x="982599" y="4859179"/>
              <a:ext cx="762706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girdi, iş kuralı ve veri erişim sorunlarını doğru katmana bağlamak</a:t>
              </a:r>
            </a:p>
          </p:txBody>
        </p:sp>
      </p:grpSp>
      <p:grpSp>
        <p:nvGrpSpPr>
          <p:cNvPr id="30" name="objective-note"/>
          <p:cNvGrpSpPr/>
          <p:nvPr/>
        </p:nvGrpSpPr>
        <p:grpSpPr>
          <a:xfrm>
            <a:off x="609600" y="5391150"/>
            <a:ext cx="10972800" cy="952500"/>
            <a:chOff x="609600" y="5391150"/>
            <a:chExt cx="10972800" cy="952500"/>
          </a:xfrm>
        </p:grpSpPr>
        <p:sp>
          <p:nvSpPr>
            <p:cNvPr id="26" name="Rectangle 26"/>
            <p:cNvSpPr/>
            <p:nvPr/>
          </p:nvSpPr>
          <p:spPr>
            <a:xfrm>
              <a:off x="609600" y="5391150"/>
              <a:ext cx="10972800" cy="952500"/>
            </a:xfrm>
            <a:prstGeom prst="roundRect">
              <a:avLst>
                <a:gd name="adj" fmla="val 8000"/>
              </a:avLst>
            </a:prstGeom>
            <a:solidFill>
              <a:srgbClr val="EAF4F6"/>
            </a:solidFill>
            <a:ln>
              <a:noFill/>
            </a:ln>
          </p:spPr>
        </p:sp>
        <p:sp>
          <p:nvSpPr>
            <p:cNvPr id="27" name="Rectangle 27"/>
            <p:cNvSpPr/>
            <p:nvPr/>
          </p:nvSpPr>
          <p:spPr>
            <a:xfrm>
              <a:off x="609600" y="5391150"/>
              <a:ext cx="57150" cy="952500"/>
            </a:xfrm>
            <a:prstGeom prst="rect">
              <a:avLst/>
            </a:prstGeom>
            <a:solidFill>
              <a:srgbClr val="00A6A6"/>
            </a:solidFill>
            <a:ln>
              <a:noFill/>
            </a:ln>
          </p:spPr>
        </p:sp>
        <p:sp>
          <p:nvSpPr>
            <p:cNvPr id="28" name="TextBox 28"/>
            <p:cNvSpPr txBox="1"/>
            <p:nvPr/>
          </p:nvSpPr>
          <p:spPr>
            <a:xfrm>
              <a:off x="908304" y="5547360"/>
              <a:ext cx="1420795"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BÖLÜM HEDEFİ</a:t>
              </a:r>
            </a:p>
          </p:txBody>
        </p:sp>
        <p:sp>
          <p:nvSpPr>
            <p:cNvPr id="29" name="TextBox 29"/>
            <p:cNvSpPr txBox="1"/>
            <p:nvPr/>
          </p:nvSpPr>
          <p:spPr>
            <a:xfrm>
              <a:off x="906399" y="5773579"/>
              <a:ext cx="706920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Öğrenci, küçük bir backend uygulamasındaki sorumlulukları gerekçesiyle</a:t>
              </a:r>
              <a:br/>
              <a:r>
                <a:rPr lang="tr-TR" sz="1580" dirty="0">
                  <a:solidFill>
                    <a:srgbClr val="172B3A"/>
                  </a:solidFill>
                  <a:latin typeface="+mn-lt"/>
                  <a:ea typeface="+mn-ea"/>
                  <a:cs typeface="+mn-cs"/>
                </a:rPr>
                <a:t>doğru katmana yerleştirebilecektir.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440346" cy="668845"/>
            <a:chOff x="609600" y="171450"/>
            <a:chExt cx="744034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7499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katmanlı mimari</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038600"/>
              <a:chOff x="3143250" y="1581150"/>
              <a:chExt cx="6953250" cy="4038600"/>
            </a:xfrm>
          </p:grpSpPr>
          <p:sp>
            <p:nvSpPr>
              <p:cNvPr id="13" name="Line 13"/>
              <p:cNvSpPr/>
              <p:nvPr/>
            </p:nvSpPr>
            <p:spPr>
              <a:xfrm flipV="1">
                <a:off x="3143250" y="1581150"/>
                <a:ext cx="1352550" cy="1514475"/>
              </a:xfrm>
              <a:prstGeom prst="line">
                <a:avLst/>
              </a:prstGeom>
              <a:noFill/>
              <a:ln w="23812">
                <a:solidFill>
                  <a:srgbClr val="00A6A6"/>
                </a:solidFill>
                <a:tailEnd type="arrow" w="lg" len="lg"/>
              </a:ln>
            </p:spPr>
          </p:sp>
          <p:sp>
            <p:nvSpPr>
              <p:cNvPr id="14" name="Line 14"/>
              <p:cNvSpPr/>
              <p:nvPr/>
            </p:nvSpPr>
            <p:spPr>
              <a:xfrm flipV="1">
                <a:off x="3143250" y="2571750"/>
                <a:ext cx="1352550" cy="523875"/>
              </a:xfrm>
              <a:prstGeom prst="line">
                <a:avLst/>
              </a:prstGeom>
              <a:noFill/>
              <a:ln w="23812">
                <a:solidFill>
                  <a:srgbClr val="00A6A6"/>
                </a:solidFill>
                <a:tailEnd type="arrow" w="lg" len="lg"/>
              </a:ln>
            </p:spPr>
          </p:sp>
          <p:sp>
            <p:nvSpPr>
              <p:cNvPr id="15" name="Line 15"/>
              <p:cNvSpPr/>
              <p:nvPr/>
            </p:nvSpPr>
            <p:spPr>
              <a:xfrm>
                <a:off x="3143250" y="3095625"/>
                <a:ext cx="1352550" cy="466725"/>
              </a:xfrm>
              <a:prstGeom prst="line">
                <a:avLst/>
              </a:prstGeom>
              <a:noFill/>
              <a:ln w="23812">
                <a:solidFill>
                  <a:srgbClr val="00A6A6"/>
                </a:solidFill>
                <a:tailEnd type="arrow" w="lg" len="lg"/>
              </a:ln>
            </p:spPr>
          </p:sp>
          <p:sp>
            <p:nvSpPr>
              <p:cNvPr id="16" name="Line 16"/>
              <p:cNvSpPr/>
              <p:nvPr/>
            </p:nvSpPr>
            <p:spPr>
              <a:xfrm>
                <a:off x="3143250" y="3095625"/>
                <a:ext cx="1352550" cy="1457325"/>
              </a:xfrm>
              <a:prstGeom prst="line">
                <a:avLst/>
              </a:prstGeom>
              <a:noFill/>
              <a:ln w="23812">
                <a:solidFill>
                  <a:srgbClr val="00A6A6"/>
                </a:solidFill>
                <a:tailEnd type="arrow" w="lg" len="lg"/>
              </a:ln>
            </p:spPr>
          </p:sp>
          <p:sp>
            <p:nvSpPr>
              <p:cNvPr id="17" name="Line 17"/>
              <p:cNvSpPr/>
              <p:nvPr/>
            </p:nvSpPr>
            <p:spPr>
              <a:xfrm>
                <a:off x="3143250" y="3095625"/>
                <a:ext cx="1352550" cy="2524125"/>
              </a:xfrm>
              <a:prstGeom prst="line">
                <a:avLst/>
              </a:prstGeom>
              <a:noFill/>
              <a:ln w="23812">
                <a:solidFill>
                  <a:srgbClr val="00A6A6"/>
                </a:solidFill>
                <a:tailEnd type="arrow" w="lg" len="lg"/>
              </a:ln>
            </p:spPr>
          </p:sp>
          <p:sp>
            <p:nvSpPr>
              <p:cNvPr id="18" name="Line 18"/>
              <p:cNvSpPr/>
              <p:nvPr/>
            </p:nvSpPr>
            <p:spPr>
              <a:xfrm>
                <a:off x="8382000" y="1943100"/>
                <a:ext cx="1" cy="228600"/>
              </a:xfrm>
              <a:prstGeom prst="line">
                <a:avLst/>
              </a:prstGeom>
              <a:noFill/>
              <a:ln w="19050">
                <a:solidFill>
                  <a:srgbClr val="52616B"/>
                </a:solidFill>
                <a:custDash>
                  <a:ds d="300000" sp="200000"/>
                </a:custDash>
                <a:tailEnd type="arrow" w="lg" len="lg"/>
              </a:ln>
            </p:spPr>
          </p:sp>
          <p:sp>
            <p:nvSpPr>
              <p:cNvPr id="19" name="Line 19"/>
              <p:cNvSpPr/>
              <p:nvPr/>
            </p:nvSpPr>
            <p:spPr>
              <a:xfrm>
                <a:off x="8382000" y="3924300"/>
                <a:ext cx="1" cy="228600"/>
              </a:xfrm>
              <a:prstGeom prst="line">
                <a:avLst/>
              </a:prstGeom>
              <a:noFill/>
              <a:ln w="19050">
                <a:solidFill>
                  <a:srgbClr val="52616B"/>
                </a:solidFill>
                <a:custDash>
                  <a:ds d="300000" sp="200000"/>
                </a:custDash>
                <a:tailEnd type="arrow" w="lg" len="lg"/>
              </a:ln>
            </p:spPr>
          </p:sp>
          <p:sp>
            <p:nvSpPr>
              <p:cNvPr id="20" name="Line 20"/>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35417"/>
              <a:chOff x="685800" y="2381250"/>
              <a:chExt cx="2381250" cy="1435417"/>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070" y="2614612"/>
                <a:ext cx="1403032"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Katmanlı</a:t>
                </a:r>
                <a:br/>
                <a:r>
                  <a:rPr lang="tr-TR" sz="2250" b="1" dirty="0">
                    <a:solidFill>
                      <a:srgbClr val="FFFFFF"/>
                    </a:solidFill>
                    <a:latin typeface="+mn-lt"/>
                    <a:ea typeface="+mn-ea"/>
                    <a:cs typeface="+mn-cs"/>
                  </a:rPr>
                  <a:t>mimari</a:t>
                </a:r>
                <a:br/>
                <a:r>
                  <a:rPr lang="tr-TR" sz="2250" b="1" dirty="0">
                    <a:solidFill>
                      <a:srgbClr val="FFFFFF"/>
                    </a:solidFill>
                    <a:latin typeface="+mn-lt"/>
                    <a:ea typeface="+mn-ea"/>
                    <a:cs typeface="+mn-cs"/>
                  </a:rPr>
                  <a:t>tasarımı</a:t>
                </a:r>
              </a:p>
            </p:txBody>
          </p:sp>
        </p:grpSp>
        <p:grpSp>
          <p:nvGrpSpPr>
            <p:cNvPr id="28" name="map-node-controller"/>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12976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Controller</a:t>
                </a:r>
              </a:p>
            </p:txBody>
          </p:sp>
          <p:sp>
            <p:nvSpPr>
              <p:cNvPr id="27" name="TextBox 27"/>
              <p:cNvSpPr txBox="1"/>
              <p:nvPr/>
            </p:nvSpPr>
            <p:spPr>
              <a:xfrm>
                <a:off x="4792599" y="1601629"/>
                <a:ext cx="229614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HTTP isteğini karşılar</a:t>
                </a:r>
              </a:p>
            </p:txBody>
          </p:sp>
        </p:grpSp>
        <p:grpSp>
          <p:nvGrpSpPr>
            <p:cNvPr id="32" name="map-node-service"/>
            <p:cNvGrpSpPr/>
            <p:nvPr/>
          </p:nvGrpSpPr>
          <p:grpSpPr>
            <a:xfrm>
              <a:off x="4572000" y="2209800"/>
              <a:ext cx="3810000" cy="723900"/>
              <a:chOff x="4572000" y="2209800"/>
              <a:chExt cx="3810000"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Service</a:t>
                </a:r>
              </a:p>
            </p:txBody>
          </p:sp>
          <p:sp>
            <p:nvSpPr>
              <p:cNvPr id="31" name="TextBox 31"/>
              <p:cNvSpPr txBox="1"/>
              <p:nvPr/>
            </p:nvSpPr>
            <p:spPr>
              <a:xfrm>
                <a:off x="4792599" y="2592229"/>
                <a:ext cx="227061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iş kurallarını uygular</a:t>
                </a:r>
              </a:p>
            </p:txBody>
          </p:sp>
        </p:grpSp>
        <p:grpSp>
          <p:nvGrpSpPr>
            <p:cNvPr id="36" name="map-node-repository"/>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Repository</a:t>
                </a:r>
              </a:p>
            </p:txBody>
          </p:sp>
          <p:sp>
            <p:nvSpPr>
              <p:cNvPr id="35" name="TextBox 35"/>
              <p:cNvSpPr txBox="1"/>
              <p:nvPr/>
            </p:nvSpPr>
            <p:spPr>
              <a:xfrm>
                <a:off x="4792599" y="3582829"/>
                <a:ext cx="237696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veriye erişimi soyutlar</a:t>
                </a:r>
              </a:p>
            </p:txBody>
          </p:sp>
        </p:grpSp>
        <p:grpSp>
          <p:nvGrpSpPr>
            <p:cNvPr id="40" name="map-node-dto"/>
            <p:cNvGrpSpPr/>
            <p:nvPr/>
          </p:nvGrpSpPr>
          <p:grpSpPr>
            <a:xfrm>
              <a:off x="4572000" y="4191000"/>
              <a:ext cx="3810000" cy="723900"/>
              <a:chOff x="4572000" y="4191000"/>
              <a:chExt cx="3810000"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5156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DTO</a:t>
                </a:r>
              </a:p>
            </p:txBody>
          </p:sp>
          <p:sp>
            <p:nvSpPr>
              <p:cNvPr id="39" name="TextBox 39"/>
              <p:cNvSpPr txBox="1"/>
              <p:nvPr/>
            </p:nvSpPr>
            <p:spPr>
              <a:xfrm>
                <a:off x="4792599" y="4573429"/>
                <a:ext cx="289808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sınır veri sözleşmesi kurar</a:t>
                </a:r>
              </a:p>
            </p:txBody>
          </p:sp>
        </p:grpSp>
        <p:grpSp>
          <p:nvGrpSpPr>
            <p:cNvPr id="44" name="map-node-srp"/>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33081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Sorumlulukların ayrılması</a:t>
                </a:r>
              </a:p>
            </p:txBody>
          </p:sp>
          <p:sp>
            <p:nvSpPr>
              <p:cNvPr id="43" name="TextBox 43"/>
              <p:cNvSpPr txBox="1"/>
              <p:nvPr/>
            </p:nvSpPr>
            <p:spPr>
              <a:xfrm>
                <a:off x="4792599" y="5716429"/>
                <a:ext cx="452523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tüm katmanları tek değişim nedenine bağlar</a:t>
                </a:r>
              </a:p>
            </p:txBody>
          </p:sp>
        </p:grpSp>
        <p:grpSp>
          <p:nvGrpSpPr>
            <p:cNvPr id="49" name="map-legend"/>
            <p:cNvGrpSpPr/>
            <p:nvPr/>
          </p:nvGrpSpPr>
          <p:grpSpPr>
            <a:xfrm>
              <a:off x="685800" y="5528310"/>
              <a:ext cx="4080272" cy="577596"/>
              <a:chOff x="685800" y="5528310"/>
              <a:chExt cx="4080272"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8120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Katmanlı mimariden türeyen bileşen</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36863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DTO'nun sınır geçişindeki tamamlayıcı ilişkisi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7" name="matrix-header"/>
          <p:cNvGrpSpPr/>
          <p:nvPr/>
        </p:nvGrpSpPr>
        <p:grpSpPr>
          <a:xfrm>
            <a:off x="609600" y="1143000"/>
            <a:ext cx="10972800" cy="381000"/>
            <a:chOff x="609600" y="1143000"/>
            <a:chExt cx="10972800" cy="381000"/>
          </a:xfrm>
        </p:grpSpPr>
        <p:sp>
          <p:nvSpPr>
            <p:cNvPr id="13" name="Rectangle 13"/>
            <p:cNvSpPr/>
            <p:nvPr/>
          </p:nvSpPr>
          <p:spPr>
            <a:xfrm>
              <a:off x="609600" y="1143000"/>
              <a:ext cx="10972800" cy="381000"/>
            </a:xfrm>
            <a:prstGeom prst="rect">
              <a:avLst/>
            </a:prstGeom>
            <a:solidFill>
              <a:srgbClr val="12355B"/>
            </a:solidFill>
            <a:ln>
              <a:noFill/>
            </a:ln>
          </p:spPr>
        </p:sp>
        <p:sp>
          <p:nvSpPr>
            <p:cNvPr id="14" name="TextBox 14"/>
            <p:cNvSpPr txBox="1"/>
            <p:nvPr/>
          </p:nvSpPr>
          <p:spPr>
            <a:xfrm>
              <a:off x="755904" y="126111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KAVRAM</a:t>
              </a:r>
            </a:p>
          </p:txBody>
        </p:sp>
        <p:sp>
          <p:nvSpPr>
            <p:cNvPr id="15" name="TextBox 15"/>
            <p:cNvSpPr txBox="1"/>
            <p:nvPr/>
          </p:nvSpPr>
          <p:spPr>
            <a:xfrm>
              <a:off x="2699004" y="1261110"/>
              <a:ext cx="130344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TEMEL GÖREVİ</a:t>
              </a:r>
            </a:p>
          </p:txBody>
        </p:sp>
        <p:sp>
          <p:nvSpPr>
            <p:cNvPr id="16" name="TextBox 16"/>
            <p:cNvSpPr txBox="1"/>
            <p:nvPr/>
          </p:nvSpPr>
          <p:spPr>
            <a:xfrm>
              <a:off x="6661404" y="1261110"/>
              <a:ext cx="176729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OLMAZSA NE OLUR?</a:t>
              </a:r>
            </a:p>
          </p:txBody>
        </p:sp>
      </p:grpSp>
      <p:grpSp>
        <p:nvGrpSpPr>
          <p:cNvPr id="22" name="matrix-row-1"/>
          <p:cNvGrpSpPr/>
          <p:nvPr/>
        </p:nvGrpSpPr>
        <p:grpSpPr>
          <a:xfrm>
            <a:off x="609600" y="1650206"/>
            <a:ext cx="10972800" cy="683419"/>
            <a:chOff x="609600" y="1650206"/>
            <a:chExt cx="10972800" cy="683419"/>
          </a:xfrm>
        </p:grpSpPr>
        <p:sp>
          <p:nvSpPr>
            <p:cNvPr id="18" name="TextBox 18"/>
            <p:cNvSpPr txBox="1"/>
            <p:nvPr/>
          </p:nvSpPr>
          <p:spPr>
            <a:xfrm>
              <a:off x="755142" y="1683068"/>
              <a:ext cx="152379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Katmanlı Mimari</a:t>
              </a:r>
            </a:p>
          </p:txBody>
        </p:sp>
        <p:sp>
          <p:nvSpPr>
            <p:cNvPr id="19" name="TextBox 19"/>
            <p:cNvSpPr txBox="1"/>
            <p:nvPr/>
          </p:nvSpPr>
          <p:spPr>
            <a:xfrm>
              <a:off x="2699385" y="1650206"/>
              <a:ext cx="244373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Sunum, iş mantığı ve veri erişimini</a:t>
              </a:r>
              <a:br/>
              <a:r>
                <a:rPr lang="tr-TR" sz="1120" dirty="0">
                  <a:solidFill>
                    <a:srgbClr val="172B3A"/>
                  </a:solidFill>
                  <a:latin typeface="+mn-lt"/>
                  <a:ea typeface="+mn-ea"/>
                  <a:cs typeface="+mn-cs"/>
                </a:rPr>
                <a:t>yatay katmanlara ayırır.</a:t>
              </a:r>
            </a:p>
          </p:txBody>
        </p:sp>
        <p:sp>
          <p:nvSpPr>
            <p:cNvPr id="20" name="TextBox 20"/>
            <p:cNvSpPr txBox="1"/>
            <p:nvPr/>
          </p:nvSpPr>
          <p:spPr>
            <a:xfrm>
              <a:off x="6661785" y="1650206"/>
              <a:ext cx="271399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Tüm kod tek fonksiyona yığılır; bakım</a:t>
              </a:r>
              <a:br/>
              <a:r>
                <a:rPr lang="tr-TR" sz="1120" dirty="0">
                  <a:solidFill>
                    <a:srgbClr val="172B3A"/>
                  </a:solidFill>
                  <a:latin typeface="+mn-lt"/>
                  <a:ea typeface="+mn-ea"/>
                  <a:cs typeface="+mn-cs"/>
                </a:rPr>
                <a:t>ve ekip çalışması imkânsızlaşır.</a:t>
              </a:r>
            </a:p>
          </p:txBody>
        </p:sp>
        <p:sp>
          <p:nvSpPr>
            <p:cNvPr id="21" name="Line 21"/>
            <p:cNvSpPr/>
            <p:nvPr/>
          </p:nvSpPr>
          <p:spPr>
            <a:xfrm>
              <a:off x="609600" y="2324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8" name="matrix-row-2"/>
          <p:cNvGrpSpPr/>
          <p:nvPr/>
        </p:nvGrpSpPr>
        <p:grpSpPr>
          <a:xfrm>
            <a:off x="609600" y="2324100"/>
            <a:ext cx="10972800" cy="809625"/>
            <a:chOff x="609600" y="2324100"/>
            <a:chExt cx="10972800" cy="809625"/>
          </a:xfrm>
        </p:grpSpPr>
        <p:sp>
          <p:nvSpPr>
            <p:cNvPr id="23" name="Rectangle 23"/>
            <p:cNvSpPr/>
            <p:nvPr/>
          </p:nvSpPr>
          <p:spPr>
            <a:xfrm>
              <a:off x="609600" y="2324100"/>
              <a:ext cx="10972800" cy="800100"/>
            </a:xfrm>
            <a:prstGeom prst="rect">
              <a:avLst/>
            </a:prstGeom>
            <a:solidFill>
              <a:srgbClr val="EAF4F6"/>
            </a:solidFill>
            <a:ln>
              <a:noFill/>
            </a:ln>
          </p:spPr>
        </p:sp>
        <p:sp>
          <p:nvSpPr>
            <p:cNvPr id="24" name="TextBox 24"/>
            <p:cNvSpPr txBox="1"/>
            <p:nvPr/>
          </p:nvSpPr>
          <p:spPr>
            <a:xfrm>
              <a:off x="755142" y="2483168"/>
              <a:ext cx="97323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Controller</a:t>
              </a:r>
            </a:p>
          </p:txBody>
        </p:sp>
        <p:sp>
          <p:nvSpPr>
            <p:cNvPr id="25" name="TextBox 25"/>
            <p:cNvSpPr txBox="1"/>
            <p:nvPr/>
          </p:nvSpPr>
          <p:spPr>
            <a:xfrm>
              <a:off x="2699385" y="2450306"/>
              <a:ext cx="278511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HTTP isteğini karşılar, servisi çağırır,</a:t>
              </a:r>
              <a:br/>
              <a:r>
                <a:rPr lang="tr-TR" sz="1120" dirty="0">
                  <a:solidFill>
                    <a:srgbClr val="172B3A"/>
                  </a:solidFill>
                  <a:latin typeface="+mn-lt"/>
                  <a:ea typeface="+mn-ea"/>
                  <a:cs typeface="+mn-cs"/>
                </a:rPr>
                <a:t>yanıtı döner.</a:t>
              </a:r>
            </a:p>
          </p:txBody>
        </p:sp>
        <p:sp>
          <p:nvSpPr>
            <p:cNvPr id="26" name="TextBox 26"/>
            <p:cNvSpPr txBox="1"/>
            <p:nvPr/>
          </p:nvSpPr>
          <p:spPr>
            <a:xfrm>
              <a:off x="6661785" y="2450306"/>
              <a:ext cx="293446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İş mantığı req/res nesnelerine kilitlenir;</a:t>
              </a:r>
              <a:br/>
              <a:r>
                <a:rPr lang="tr-TR" sz="1120" dirty="0">
                  <a:solidFill>
                    <a:srgbClr val="172B3A"/>
                  </a:solidFill>
                  <a:latin typeface="+mn-lt"/>
                  <a:ea typeface="+mn-ea"/>
                  <a:cs typeface="+mn-cs"/>
                </a:rPr>
                <a:t>başka arayüzlerde tekrar kullanılamaz.</a:t>
              </a:r>
            </a:p>
          </p:txBody>
        </p:sp>
        <p:sp>
          <p:nvSpPr>
            <p:cNvPr id="27" name="Line 27"/>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3" name="matrix-row-3"/>
          <p:cNvGrpSpPr/>
          <p:nvPr/>
        </p:nvGrpSpPr>
        <p:grpSpPr>
          <a:xfrm>
            <a:off x="609600" y="3250406"/>
            <a:ext cx="10972800" cy="683419"/>
            <a:chOff x="609600" y="3250406"/>
            <a:chExt cx="10972800" cy="683419"/>
          </a:xfrm>
        </p:grpSpPr>
        <p:sp>
          <p:nvSpPr>
            <p:cNvPr id="29" name="TextBox 29"/>
            <p:cNvSpPr txBox="1"/>
            <p:nvPr/>
          </p:nvSpPr>
          <p:spPr>
            <a:xfrm>
              <a:off x="755142" y="3283268"/>
              <a:ext cx="70623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Service</a:t>
              </a:r>
            </a:p>
          </p:txBody>
        </p:sp>
        <p:sp>
          <p:nvSpPr>
            <p:cNvPr id="30" name="TextBox 30"/>
            <p:cNvSpPr txBox="1"/>
            <p:nvPr/>
          </p:nvSpPr>
          <p:spPr>
            <a:xfrm>
              <a:off x="2699385" y="3250406"/>
              <a:ext cx="249351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Yetki, çakışma ve limit gibi temel iş</a:t>
              </a:r>
              <a:br/>
              <a:r>
                <a:rPr lang="tr-TR" sz="1120" dirty="0">
                  <a:solidFill>
                    <a:srgbClr val="172B3A"/>
                  </a:solidFill>
                  <a:latin typeface="+mn-lt"/>
                  <a:ea typeface="+mn-ea"/>
                  <a:cs typeface="+mn-cs"/>
                </a:rPr>
                <a:t>kurallarını yürütür.</a:t>
              </a:r>
            </a:p>
          </p:txBody>
        </p:sp>
        <p:sp>
          <p:nvSpPr>
            <p:cNvPr id="31" name="TextBox 31"/>
            <p:cNvSpPr txBox="1"/>
            <p:nvPr/>
          </p:nvSpPr>
          <p:spPr>
            <a:xfrm>
              <a:off x="6661785" y="3250406"/>
              <a:ext cx="320471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Kural controller ve veritabanı arasına</a:t>
              </a:r>
              <a:br/>
              <a:r>
                <a:rPr lang="tr-TR" sz="1120" dirty="0">
                  <a:solidFill>
                    <a:srgbClr val="172B3A"/>
                  </a:solidFill>
                  <a:latin typeface="+mn-lt"/>
                  <a:ea typeface="+mn-ea"/>
                  <a:cs typeface="+mn-cs"/>
                </a:rPr>
                <a:t>dağılır; uç noktalar arasında tutarsızlaşır.</a:t>
              </a:r>
            </a:p>
          </p:txBody>
        </p:sp>
        <p:sp>
          <p:nvSpPr>
            <p:cNvPr id="32" name="Line 32"/>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9" name="matrix-row-4"/>
          <p:cNvGrpSpPr/>
          <p:nvPr/>
        </p:nvGrpSpPr>
        <p:grpSpPr>
          <a:xfrm>
            <a:off x="609600" y="3924300"/>
            <a:ext cx="10972800" cy="809625"/>
            <a:chOff x="609600" y="3924300"/>
            <a:chExt cx="10972800" cy="809625"/>
          </a:xfrm>
        </p:grpSpPr>
        <p:sp>
          <p:nvSpPr>
            <p:cNvPr id="34" name="Rectangle 34"/>
            <p:cNvSpPr/>
            <p:nvPr/>
          </p:nvSpPr>
          <p:spPr>
            <a:xfrm>
              <a:off x="609600" y="3924300"/>
              <a:ext cx="10972800" cy="800100"/>
            </a:xfrm>
            <a:prstGeom prst="rect">
              <a:avLst/>
            </a:prstGeom>
            <a:solidFill>
              <a:srgbClr val="EAF4F6"/>
            </a:solidFill>
            <a:ln>
              <a:noFill/>
            </a:ln>
          </p:spPr>
        </p:sp>
        <p:sp>
          <p:nvSpPr>
            <p:cNvPr id="35" name="TextBox 35"/>
            <p:cNvSpPr txBox="1"/>
            <p:nvPr/>
          </p:nvSpPr>
          <p:spPr>
            <a:xfrm>
              <a:off x="755142" y="4083368"/>
              <a:ext cx="102121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Repository</a:t>
              </a:r>
            </a:p>
          </p:txBody>
        </p:sp>
        <p:sp>
          <p:nvSpPr>
            <p:cNvPr id="36" name="TextBox 36"/>
            <p:cNvSpPr txBox="1"/>
            <p:nvPr/>
          </p:nvSpPr>
          <p:spPr>
            <a:xfrm>
              <a:off x="2699385" y="4050506"/>
              <a:ext cx="284200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Veritabanı ve harici kaynaklarla okuma,</a:t>
              </a:r>
              <a:br/>
              <a:r>
                <a:rPr lang="tr-TR" sz="1120" dirty="0">
                  <a:solidFill>
                    <a:srgbClr val="172B3A"/>
                  </a:solidFill>
                  <a:latin typeface="+mn-lt"/>
                  <a:ea typeface="+mn-ea"/>
                  <a:cs typeface="+mn-cs"/>
                </a:rPr>
                <a:t>yazma ve filtreleme işlemlerini soyutlar.</a:t>
              </a:r>
            </a:p>
          </p:txBody>
        </p:sp>
        <p:sp>
          <p:nvSpPr>
            <p:cNvPr id="37" name="TextBox 37"/>
            <p:cNvSpPr txBox="1"/>
            <p:nvPr/>
          </p:nvSpPr>
          <p:spPr>
            <a:xfrm>
              <a:off x="6661785" y="4050506"/>
              <a:ext cx="295579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SQL sorguları servislere dağılır; veri</a:t>
              </a:r>
              <a:br/>
              <a:r>
                <a:rPr lang="tr-TR" sz="1120" dirty="0">
                  <a:solidFill>
                    <a:srgbClr val="172B3A"/>
                  </a:solidFill>
                  <a:latin typeface="+mn-lt"/>
                  <a:ea typeface="+mn-ea"/>
                  <a:cs typeface="+mn-cs"/>
                </a:rPr>
                <a:t>kaynağı değişince tüm iş mantığı bozulur.</a:t>
              </a:r>
            </a:p>
          </p:txBody>
        </p:sp>
        <p:sp>
          <p:nvSpPr>
            <p:cNvPr id="38" name="Line 38"/>
            <p:cNvSpPr/>
            <p:nvPr/>
          </p:nvSpPr>
          <p:spPr>
            <a:xfrm>
              <a:off x="609600" y="4724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matrix-row-5"/>
          <p:cNvGrpSpPr/>
          <p:nvPr/>
        </p:nvGrpSpPr>
        <p:grpSpPr>
          <a:xfrm>
            <a:off x="609600" y="4850606"/>
            <a:ext cx="10972800" cy="683419"/>
            <a:chOff x="609600" y="4850606"/>
            <a:chExt cx="10972800" cy="683419"/>
          </a:xfrm>
        </p:grpSpPr>
        <p:sp>
          <p:nvSpPr>
            <p:cNvPr id="40" name="TextBox 40"/>
            <p:cNvSpPr txBox="1"/>
            <p:nvPr/>
          </p:nvSpPr>
          <p:spPr>
            <a:xfrm>
              <a:off x="755142" y="4883468"/>
              <a:ext cx="38672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DTO</a:t>
              </a:r>
            </a:p>
          </p:txBody>
        </p:sp>
        <p:sp>
          <p:nvSpPr>
            <p:cNvPr id="41" name="TextBox 41"/>
            <p:cNvSpPr txBox="1"/>
            <p:nvPr/>
          </p:nvSpPr>
          <p:spPr>
            <a:xfrm>
              <a:off x="2699385" y="4850606"/>
              <a:ext cx="274955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Katmanlar ve istemci-sunucu sınırında</a:t>
              </a:r>
              <a:br/>
              <a:r>
                <a:rPr lang="tr-TR" sz="1120" dirty="0">
                  <a:solidFill>
                    <a:srgbClr val="172B3A"/>
                  </a:solidFill>
                  <a:latin typeface="+mn-lt"/>
                  <a:ea typeface="+mn-ea"/>
                  <a:cs typeface="+mn-cs"/>
                </a:rPr>
                <a:t>taşınan verinin şeklini belirler.</a:t>
              </a:r>
            </a:p>
          </p:txBody>
        </p:sp>
        <p:sp>
          <p:nvSpPr>
            <p:cNvPr id="42" name="TextBox 42"/>
            <p:cNvSpPr txBox="1"/>
            <p:nvPr/>
          </p:nvSpPr>
          <p:spPr>
            <a:xfrm>
              <a:off x="6661785" y="4850606"/>
              <a:ext cx="287756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Ham veritabanı modelleri dolaşır; hassas</a:t>
              </a:r>
              <a:br/>
              <a:r>
                <a:rPr lang="tr-TR" sz="1120" dirty="0">
                  <a:solidFill>
                    <a:srgbClr val="172B3A"/>
                  </a:solidFill>
                  <a:latin typeface="+mn-lt"/>
                  <a:ea typeface="+mn-ea"/>
                  <a:cs typeface="+mn-cs"/>
                </a:rPr>
                <a:t>alanlar istemciye sızabilir.</a:t>
              </a:r>
            </a:p>
          </p:txBody>
        </p:sp>
        <p:sp>
          <p:nvSpPr>
            <p:cNvPr id="43" name="Line 43"/>
            <p:cNvSpPr/>
            <p:nvPr/>
          </p:nvSpPr>
          <p:spPr>
            <a:xfrm>
              <a:off x="609600" y="5524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9" name="matrix-row-6"/>
          <p:cNvGrpSpPr/>
          <p:nvPr/>
        </p:nvGrpSpPr>
        <p:grpSpPr>
          <a:xfrm>
            <a:off x="609600" y="5524500"/>
            <a:ext cx="10972800" cy="800100"/>
            <a:chOff x="609600" y="5524500"/>
            <a:chExt cx="10972800" cy="800100"/>
          </a:xfrm>
        </p:grpSpPr>
        <p:sp>
          <p:nvSpPr>
            <p:cNvPr id="45" name="Rectangle 45"/>
            <p:cNvSpPr/>
            <p:nvPr/>
          </p:nvSpPr>
          <p:spPr>
            <a:xfrm>
              <a:off x="609600" y="5524500"/>
              <a:ext cx="10972800" cy="800100"/>
            </a:xfrm>
            <a:prstGeom prst="rect">
              <a:avLst/>
            </a:prstGeom>
            <a:solidFill>
              <a:srgbClr val="EAF4F6"/>
            </a:solidFill>
            <a:ln>
              <a:noFill/>
            </a:ln>
          </p:spPr>
        </p:sp>
        <p:sp>
          <p:nvSpPr>
            <p:cNvPr id="46" name="TextBox 46"/>
            <p:cNvSpPr txBox="1"/>
            <p:nvPr/>
          </p:nvSpPr>
          <p:spPr>
            <a:xfrm>
              <a:off x="755142" y="5683568"/>
              <a:ext cx="248695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Sorumlulukların Ayrılması</a:t>
              </a:r>
            </a:p>
          </p:txBody>
        </p:sp>
        <p:sp>
          <p:nvSpPr>
            <p:cNvPr id="47" name="TextBox 47"/>
            <p:cNvSpPr txBox="1"/>
            <p:nvPr/>
          </p:nvSpPr>
          <p:spPr>
            <a:xfrm>
              <a:off x="2699385" y="5650706"/>
              <a:ext cx="234416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Her bileşenin tek değişim nedenine</a:t>
              </a:r>
              <a:br/>
              <a:r>
                <a:rPr lang="tr-TR" sz="1120" dirty="0">
                  <a:solidFill>
                    <a:srgbClr val="172B3A"/>
                  </a:solidFill>
                  <a:latin typeface="+mn-lt"/>
                  <a:ea typeface="+mn-ea"/>
                  <a:cs typeface="+mn-cs"/>
                </a:rPr>
                <a:t>sahip olmasını garanti eder.</a:t>
              </a:r>
            </a:p>
          </p:txBody>
        </p:sp>
        <p:sp>
          <p:nvSpPr>
            <p:cNvPr id="48" name="TextBox 48"/>
            <p:cNvSpPr txBox="1"/>
            <p:nvPr/>
          </p:nvSpPr>
          <p:spPr>
            <a:xfrm>
              <a:off x="6661785" y="5650706"/>
              <a:ext cx="241528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Bir katmandaki değişiklik diğer tüm</a:t>
              </a:r>
              <a:br/>
              <a:r>
                <a:rPr lang="tr-TR" sz="1120" dirty="0">
                  <a:solidFill>
                    <a:srgbClr val="172B3A"/>
                  </a:solidFill>
                  <a:latin typeface="+mn-lt"/>
                  <a:ea typeface="+mn-ea"/>
                  <a:cs typeface="+mn-cs"/>
                </a:rPr>
                <a:t>katmanları zincirleme bozar.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694493" cy="668845"/>
            <a:chOff x="609600" y="171450"/>
            <a:chExt cx="6694493"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0041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Katmanlı mimariye genel bakış</a:t>
              </a:r>
            </a:p>
          </p:txBody>
        </p:sp>
      </p:grpSp>
      <p:grpSp>
        <p:nvGrpSpPr>
          <p:cNvPr id="15" name="definition-block"/>
          <p:cNvGrpSpPr/>
          <p:nvPr/>
        </p:nvGrpSpPr>
        <p:grpSpPr>
          <a:xfrm>
            <a:off x="600456" y="1318260"/>
            <a:ext cx="3332988" cy="1506474"/>
            <a:chOff x="600456" y="1318260"/>
            <a:chExt cx="3332988" cy="1506474"/>
          </a:xfrm>
        </p:grpSpPr>
        <p:sp>
          <p:nvSpPr>
            <p:cNvPr id="13" name="TextBox 13"/>
            <p:cNvSpPr txBox="1"/>
            <p:nvPr/>
          </p:nvSpPr>
          <p:spPr>
            <a:xfrm>
              <a:off x="603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14" name="TextBox 14"/>
            <p:cNvSpPr txBox="1"/>
            <p:nvPr/>
          </p:nvSpPr>
          <p:spPr>
            <a:xfrm>
              <a:off x="600456" y="1558290"/>
              <a:ext cx="3332988" cy="12664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Görevleri farklı sorumluluk</a:t>
              </a:r>
              <a:br/>
              <a:r>
                <a:rPr lang="tr-TR" sz="1800" dirty="0">
                  <a:solidFill>
                    <a:srgbClr val="172B3A"/>
                  </a:solidFill>
                  <a:latin typeface="+mn-lt"/>
                  <a:ea typeface="+mn-ea"/>
                  <a:cs typeface="+mn-cs"/>
                </a:rPr>
                <a:t>katmanlarına ayıran tasarım</a:t>
              </a:r>
              <a:br/>
              <a:r>
                <a:rPr lang="tr-TR" sz="1800" dirty="0">
                  <a:solidFill>
                    <a:srgbClr val="172B3A"/>
                  </a:solidFill>
                  <a:latin typeface="+mn-lt"/>
                  <a:ea typeface="+mn-ea"/>
                  <a:cs typeface="+mn-cs"/>
                </a:rPr>
                <a:t>yaklaşımıdır: controller,</a:t>
              </a:r>
              <a:br/>
              <a:r>
                <a:rPr lang="tr-TR" sz="1800" dirty="0">
                  <a:solidFill>
                    <a:srgbClr val="172B3A"/>
                  </a:solidFill>
                  <a:latin typeface="+mn-lt"/>
                  <a:ea typeface="+mn-ea"/>
                  <a:cs typeface="+mn-cs"/>
                </a:rPr>
                <a:t>service ve repository.</a:t>
              </a:r>
            </a:p>
          </p:txBody>
        </p:sp>
      </p:grpSp>
      <p:grpSp>
        <p:nvGrpSpPr>
          <p:cNvPr id="20" name="factory-analogy"/>
          <p:cNvGrpSpPr/>
          <p:nvPr/>
        </p:nvGrpSpPr>
        <p:grpSpPr>
          <a:xfrm>
            <a:off x="609600" y="3657600"/>
            <a:ext cx="6400800" cy="1771650"/>
            <a:chOff x="609600" y="3657600"/>
            <a:chExt cx="6400800" cy="1771650"/>
          </a:xfrm>
        </p:grpSpPr>
        <p:sp>
          <p:nvSpPr>
            <p:cNvPr id="16" name="Rectangle 16"/>
            <p:cNvSpPr/>
            <p:nvPr/>
          </p:nvSpPr>
          <p:spPr>
            <a:xfrm>
              <a:off x="609600" y="3657600"/>
              <a:ext cx="6400800" cy="1771650"/>
            </a:xfrm>
            <a:prstGeom prst="roundRect">
              <a:avLst>
                <a:gd name="adj" fmla="val 4301"/>
              </a:avLst>
            </a:prstGeom>
            <a:solidFill>
              <a:srgbClr val="EAF4F6"/>
            </a:solidFill>
            <a:ln>
              <a:noFill/>
            </a:ln>
          </p:spPr>
        </p:sp>
        <p:sp>
          <p:nvSpPr>
            <p:cNvPr id="17" name="Rectangle 17"/>
            <p:cNvSpPr/>
            <p:nvPr/>
          </p:nvSpPr>
          <p:spPr>
            <a:xfrm>
              <a:off x="609600" y="3657600"/>
              <a:ext cx="57150" cy="1771650"/>
            </a:xfrm>
            <a:prstGeom prst="rect">
              <a:avLst/>
            </a:prstGeom>
            <a:solidFill>
              <a:srgbClr val="00A6A6"/>
            </a:solidFill>
            <a:ln>
              <a:noFill/>
            </a:ln>
          </p:spPr>
        </p:sp>
        <p:sp>
          <p:nvSpPr>
            <p:cNvPr id="18" name="TextBox 18"/>
            <p:cNvSpPr txBox="1"/>
            <p:nvPr/>
          </p:nvSpPr>
          <p:spPr>
            <a:xfrm>
              <a:off x="908304" y="3832860"/>
              <a:ext cx="985967"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BENZETME</a:t>
              </a:r>
            </a:p>
          </p:txBody>
        </p:sp>
        <p:sp>
          <p:nvSpPr>
            <p:cNvPr id="19" name="TextBox 19"/>
            <p:cNvSpPr txBox="1"/>
            <p:nvPr/>
          </p:nvSpPr>
          <p:spPr>
            <a:xfrm>
              <a:off x="906399" y="4097179"/>
              <a:ext cx="501243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Katmanlar bir fabrikanın bölümleri gibidir: sipariş</a:t>
              </a:r>
              <a:br/>
              <a:r>
                <a:rPr lang="tr-TR" sz="1580" dirty="0">
                  <a:solidFill>
                    <a:srgbClr val="172B3A"/>
                  </a:solidFill>
                  <a:latin typeface="+mn-lt"/>
                  <a:ea typeface="+mn-ea"/>
                  <a:cs typeface="+mn-cs"/>
                </a:rPr>
                <a:t>masası siparişi alır, üretim bandı ürünü hazırlar,</a:t>
              </a:r>
              <a:br/>
              <a:r>
                <a:rPr lang="tr-TR" sz="1580" dirty="0">
                  <a:solidFill>
                    <a:srgbClr val="172B3A"/>
                  </a:solidFill>
                  <a:latin typeface="+mn-lt"/>
                  <a:ea typeface="+mn-ea"/>
                  <a:cs typeface="+mn-cs"/>
                </a:rPr>
                <a:t>depo ürünü saklar — her biri kendi işine odaklanır.</a:t>
              </a:r>
            </a:p>
          </p:txBody>
        </p:sp>
      </p:grpSp>
      <p:grpSp>
        <p:nvGrpSpPr>
          <p:cNvPr id="31" name="theory-block"/>
          <p:cNvGrpSpPr/>
          <p:nvPr/>
        </p:nvGrpSpPr>
        <p:grpSpPr>
          <a:xfrm>
            <a:off x="7315200" y="1219200"/>
            <a:ext cx="4267200" cy="4210050"/>
            <a:chOff x="7315200" y="1219200"/>
            <a:chExt cx="4267200" cy="4210050"/>
          </a:xfrm>
        </p:grpSpPr>
        <p:sp>
          <p:nvSpPr>
            <p:cNvPr id="21" name="Rectangle 21"/>
            <p:cNvSpPr/>
            <p:nvPr/>
          </p:nvSpPr>
          <p:spPr>
            <a:xfrm>
              <a:off x="7315200" y="1219200"/>
              <a:ext cx="4267200" cy="4210050"/>
            </a:xfrm>
            <a:prstGeom prst="roundRect">
              <a:avLst>
                <a:gd name="adj" fmla="val 1810"/>
              </a:avLst>
            </a:prstGeom>
            <a:solidFill>
              <a:srgbClr val="FFFFFF"/>
            </a:solidFill>
            <a:ln w="14288">
              <a:solidFill>
                <a:srgbClr val="B8CBD3"/>
              </a:solidFill>
            </a:ln>
          </p:spPr>
        </p:sp>
        <p:sp>
          <p:nvSpPr>
            <p:cNvPr id="22" name="TextBox 22"/>
            <p:cNvSpPr txBox="1"/>
            <p:nvPr/>
          </p:nvSpPr>
          <p:spPr>
            <a:xfrm>
              <a:off x="7537704" y="13944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23" name="TextBox 23"/>
            <p:cNvSpPr txBox="1"/>
            <p:nvPr/>
          </p:nvSpPr>
          <p:spPr>
            <a:xfrm>
              <a:off x="7536942" y="1721168"/>
              <a:ext cx="13428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Parnas (1972)</a:t>
              </a:r>
            </a:p>
          </p:txBody>
        </p:sp>
        <p:sp>
          <p:nvSpPr>
            <p:cNvPr id="24" name="TextBox 24"/>
            <p:cNvSpPr txBox="1"/>
            <p:nvPr/>
          </p:nvSpPr>
          <p:spPr>
            <a:xfrm>
              <a:off x="7537704" y="1985010"/>
              <a:ext cx="25496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Bilgi gizleme (information hiding):</a:t>
              </a:r>
              <a:br/>
              <a:r>
                <a:rPr lang="tr-TR" sz="1200" dirty="0">
                  <a:solidFill>
                    <a:srgbClr val="172B3A"/>
                  </a:solidFill>
                  <a:latin typeface="+mn-lt"/>
                  <a:ea typeface="+mn-ea"/>
                  <a:cs typeface="+mn-cs"/>
                </a:rPr>
                <a:t>bir modül iç ayrıntılarını dışarı</a:t>
              </a:r>
              <a:br/>
              <a:r>
                <a:rPr lang="tr-TR" sz="1200" dirty="0">
                  <a:solidFill>
                    <a:srgbClr val="172B3A"/>
                  </a:solidFill>
                  <a:latin typeface="+mn-lt"/>
                  <a:ea typeface="+mn-ea"/>
                  <a:cs typeface="+mn-cs"/>
                </a:rPr>
                <a:t>kapatmalıdır.</a:t>
              </a:r>
            </a:p>
          </p:txBody>
        </p:sp>
        <p:sp>
          <p:nvSpPr>
            <p:cNvPr id="25" name="Line 25"/>
            <p:cNvSpPr/>
            <p:nvPr/>
          </p:nvSpPr>
          <p:spPr>
            <a:xfrm>
              <a:off x="7543800" y="272415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26" name="TextBox 26"/>
            <p:cNvSpPr txBox="1"/>
            <p:nvPr/>
          </p:nvSpPr>
          <p:spPr>
            <a:xfrm>
              <a:off x="7536942" y="2845118"/>
              <a:ext cx="243739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Buschmann ve ark. (1996)</a:t>
              </a:r>
            </a:p>
          </p:txBody>
        </p:sp>
        <p:sp>
          <p:nvSpPr>
            <p:cNvPr id="27" name="TextBox 27"/>
            <p:cNvSpPr txBox="1"/>
            <p:nvPr/>
          </p:nvSpPr>
          <p:spPr>
            <a:xfrm>
              <a:off x="7537704" y="3108960"/>
              <a:ext cx="26106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"Layers" deseni: katı katmanlama</a:t>
              </a:r>
              <a:br/>
              <a:r>
                <a:rPr lang="tr-TR" sz="1200" dirty="0">
                  <a:solidFill>
                    <a:srgbClr val="172B3A"/>
                  </a:solidFill>
                  <a:latin typeface="+mn-lt"/>
                  <a:ea typeface="+mn-ea"/>
                  <a:cs typeface="+mn-cs"/>
                </a:rPr>
                <a:t>(yalnızca komşu katmanla iletişim)</a:t>
              </a:r>
              <a:br/>
              <a:r>
                <a:rPr lang="tr-TR" sz="1200" dirty="0">
                  <a:solidFill>
                    <a:srgbClr val="172B3A"/>
                  </a:solidFill>
                  <a:latin typeface="+mn-lt"/>
                  <a:ea typeface="+mn-ea"/>
                  <a:cs typeface="+mn-cs"/>
                </a:rPr>
                <a:t>ile gevşek katmanlama ayrımı.</a:t>
              </a:r>
            </a:p>
          </p:txBody>
        </p:sp>
        <p:sp>
          <p:nvSpPr>
            <p:cNvPr id="28" name="Line 28"/>
            <p:cNvSpPr/>
            <p:nvPr/>
          </p:nvSpPr>
          <p:spPr>
            <a:xfrm>
              <a:off x="7543800" y="38481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29" name="TextBox 29"/>
            <p:cNvSpPr txBox="1"/>
            <p:nvPr/>
          </p:nvSpPr>
          <p:spPr>
            <a:xfrm>
              <a:off x="7536942" y="3969068"/>
              <a:ext cx="138134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Larman (2004)</a:t>
              </a:r>
            </a:p>
          </p:txBody>
        </p:sp>
        <p:sp>
          <p:nvSpPr>
            <p:cNvPr id="30" name="TextBox 30"/>
            <p:cNvSpPr txBox="1"/>
            <p:nvPr/>
          </p:nvSpPr>
          <p:spPr>
            <a:xfrm>
              <a:off x="7537704" y="4232910"/>
              <a:ext cx="26258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Yüksek içbağlılık, düşük bağlaşım:</a:t>
              </a:r>
              <a:br/>
              <a:r>
                <a:rPr lang="tr-TR" sz="1200" dirty="0">
                  <a:solidFill>
                    <a:srgbClr val="172B3A"/>
                  </a:solidFill>
                  <a:latin typeface="+mn-lt"/>
                  <a:ea typeface="+mn-ea"/>
                  <a:cs typeface="+mn-cs"/>
                </a:rPr>
                <a:t>değişikliğin katmanlar arası</a:t>
              </a:r>
              <a:br/>
              <a:r>
                <a:rPr lang="tr-TR" sz="1200" dirty="0">
                  <a:solidFill>
                    <a:srgbClr val="172B3A"/>
                  </a:solidFill>
                  <a:latin typeface="+mn-lt"/>
                  <a:ea typeface="+mn-ea"/>
                  <a:cs typeface="+mn-cs"/>
                </a:rPr>
                <a:t>yayılma olasılığını azaltır.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932419" cy="668845"/>
            <a:chOff x="609600" y="171450"/>
            <a:chExt cx="993241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2420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9.1: Controller–service–repository zinciri</a:t>
              </a:r>
            </a:p>
          </p:txBody>
        </p:sp>
      </p:grpSp>
      <p:grpSp>
        <p:nvGrpSpPr>
          <p:cNvPr id="29" name="code-panel"/>
          <p:cNvGrpSpPr/>
          <p:nvPr/>
        </p:nvGrpSpPr>
        <p:grpSpPr>
          <a:xfrm>
            <a:off x="609600" y="1181100"/>
            <a:ext cx="6553200" cy="4404551"/>
            <a:chOff x="609600" y="1181100"/>
            <a:chExt cx="6553200" cy="4404551"/>
          </a:xfrm>
        </p:grpSpPr>
        <p:sp>
          <p:nvSpPr>
            <p:cNvPr id="12" name="Rectangle 12"/>
            <p:cNvSpPr/>
            <p:nvPr/>
          </p:nvSpPr>
          <p:spPr>
            <a:xfrm>
              <a:off x="609600" y="1181100"/>
              <a:ext cx="6553200" cy="4381500"/>
            </a:xfrm>
            <a:prstGeom prst="roundRect">
              <a:avLst>
                <a:gd name="adj" fmla="val 1739"/>
              </a:avLst>
            </a:prstGeom>
            <a:solidFill>
              <a:srgbClr val="12355B"/>
            </a:solidFill>
            <a:ln>
              <a:noFill/>
            </a:ln>
          </p:spPr>
        </p:sp>
        <p:sp>
          <p:nvSpPr>
            <p:cNvPr id="13" name="TextBox 13"/>
            <p:cNvSpPr txBox="1"/>
            <p:nvPr/>
          </p:nvSpPr>
          <p:spPr>
            <a:xfrm>
              <a:off x="831342" y="1340168"/>
              <a:ext cx="2576036"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OduncAlmaRepository {</a:t>
              </a:r>
            </a:p>
          </p:txBody>
        </p:sp>
        <p:sp>
          <p:nvSpPr>
            <p:cNvPr id="14" name="TextBox 14"/>
            <p:cNvSpPr txBox="1"/>
            <p:nvPr/>
          </p:nvSpPr>
          <p:spPr>
            <a:xfrm>
              <a:off x="831342" y="1587818"/>
              <a:ext cx="212932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oduncKaydet(no, kod) {</a:t>
              </a:r>
            </a:p>
          </p:txBody>
        </p:sp>
        <p:sp>
          <p:nvSpPr>
            <p:cNvPr id="15" name="TextBox 15"/>
            <p:cNvSpPr txBox="1"/>
            <p:nvPr/>
          </p:nvSpPr>
          <p:spPr>
            <a:xfrm>
              <a:off x="831342" y="1835468"/>
              <a:ext cx="270156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 Kayıt oluşturuldu: no - kod</a:t>
              </a:r>
            </a:p>
          </p:txBody>
        </p:sp>
        <p:sp>
          <p:nvSpPr>
            <p:cNvPr id="16" name="TextBox 16"/>
            <p:cNvSpPr txBox="1"/>
            <p:nvPr/>
          </p:nvSpPr>
          <p:spPr>
            <a:xfrm>
              <a:off x="831342" y="208311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17" name="TextBox 17"/>
            <p:cNvSpPr txBox="1"/>
            <p:nvPr/>
          </p:nvSpPr>
          <p:spPr>
            <a:xfrm>
              <a:off x="831342" y="23307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18" name="TextBox 18"/>
            <p:cNvSpPr txBox="1"/>
            <p:nvPr/>
          </p:nvSpPr>
          <p:spPr>
            <a:xfrm>
              <a:off x="831342" y="2711768"/>
              <a:ext cx="2276317"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OduncAlmaService {</a:t>
              </a:r>
            </a:p>
          </p:txBody>
        </p:sp>
        <p:sp>
          <p:nvSpPr>
            <p:cNvPr id="19" name="TextBox 19"/>
            <p:cNvSpPr txBox="1"/>
            <p:nvPr/>
          </p:nvSpPr>
          <p:spPr>
            <a:xfrm>
              <a:off x="831342" y="2959418"/>
              <a:ext cx="267616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constructor(private repo) {}</a:t>
              </a:r>
            </a:p>
          </p:txBody>
        </p:sp>
        <p:sp>
          <p:nvSpPr>
            <p:cNvPr id="20" name="TextBox 20"/>
            <p:cNvSpPr txBox="1"/>
            <p:nvPr/>
          </p:nvSpPr>
          <p:spPr>
            <a:xfrm>
              <a:off x="831342" y="3207068"/>
              <a:ext cx="148360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oduncAl(istek) {</a:t>
              </a:r>
            </a:p>
          </p:txBody>
        </p:sp>
        <p:sp>
          <p:nvSpPr>
            <p:cNvPr id="21" name="TextBox 21"/>
            <p:cNvSpPr txBox="1"/>
            <p:nvPr/>
          </p:nvSpPr>
          <p:spPr>
            <a:xfrm>
              <a:off x="831342" y="3454718"/>
              <a:ext cx="368262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repo.oduncKaydet(istek.no, istek.kod);</a:t>
              </a:r>
            </a:p>
          </p:txBody>
        </p:sp>
        <p:sp>
          <p:nvSpPr>
            <p:cNvPr id="22" name="TextBox 22"/>
            <p:cNvSpPr txBox="1"/>
            <p:nvPr/>
          </p:nvSpPr>
          <p:spPr>
            <a:xfrm>
              <a:off x="831342" y="3702368"/>
              <a:ext cx="270093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"Kitap ödünç verildi.";</a:t>
              </a:r>
            </a:p>
          </p:txBody>
        </p:sp>
        <p:sp>
          <p:nvSpPr>
            <p:cNvPr id="23" name="TextBox 23"/>
            <p:cNvSpPr txBox="1"/>
            <p:nvPr/>
          </p:nvSpPr>
          <p:spPr>
            <a:xfrm>
              <a:off x="831342" y="395001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24" name="TextBox 24"/>
            <p:cNvSpPr txBox="1"/>
            <p:nvPr/>
          </p:nvSpPr>
          <p:spPr>
            <a:xfrm>
              <a:off x="831342" y="41976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25" name="TextBox 25"/>
            <p:cNvSpPr txBox="1"/>
            <p:nvPr/>
          </p:nvSpPr>
          <p:spPr>
            <a:xfrm>
              <a:off x="831342" y="4578668"/>
              <a:ext cx="253028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OduncAlmaController {</a:t>
              </a:r>
            </a:p>
          </p:txBody>
        </p:sp>
        <p:sp>
          <p:nvSpPr>
            <p:cNvPr id="26" name="TextBox 26"/>
            <p:cNvSpPr txBox="1"/>
            <p:nvPr/>
          </p:nvSpPr>
          <p:spPr>
            <a:xfrm>
              <a:off x="831342" y="4826318"/>
              <a:ext cx="293059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constructor(private service) {}</a:t>
              </a:r>
            </a:p>
          </p:txBody>
        </p:sp>
        <p:sp>
          <p:nvSpPr>
            <p:cNvPr id="27" name="TextBox 27"/>
            <p:cNvSpPr txBox="1"/>
            <p:nvPr/>
          </p:nvSpPr>
          <p:spPr>
            <a:xfrm>
              <a:off x="831342" y="5073968"/>
              <a:ext cx="189184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istekKarsila(istek) {</a:t>
              </a:r>
            </a:p>
          </p:txBody>
        </p:sp>
        <p:sp>
          <p:nvSpPr>
            <p:cNvPr id="28" name="TextBox 28"/>
            <p:cNvSpPr txBox="1"/>
            <p:nvPr/>
          </p:nvSpPr>
          <p:spPr>
            <a:xfrm>
              <a:off x="831342" y="5321618"/>
              <a:ext cx="339151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console.log(service.oduncAl(istek));</a:t>
              </a:r>
            </a:p>
          </p:txBody>
        </p:sp>
      </p:grpSp>
      <p:grpSp>
        <p:nvGrpSpPr>
          <p:cNvPr id="40" name="critical-lines"/>
          <p:cNvGrpSpPr/>
          <p:nvPr/>
        </p:nvGrpSpPr>
        <p:grpSpPr>
          <a:xfrm>
            <a:off x="7372350" y="1299210"/>
            <a:ext cx="3000756" cy="1834896"/>
            <a:chOff x="7372350" y="1299210"/>
            <a:chExt cx="3000756" cy="1834896"/>
          </a:xfrm>
        </p:grpSpPr>
        <p:sp>
          <p:nvSpPr>
            <p:cNvPr id="30" name="TextBox 30"/>
            <p:cNvSpPr txBox="1"/>
            <p:nvPr/>
          </p:nvSpPr>
          <p:spPr>
            <a:xfrm>
              <a:off x="7385304" y="1299210"/>
              <a:ext cx="16998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KRİTİK SATIRLAR</a:t>
              </a:r>
            </a:p>
          </p:txBody>
        </p:sp>
        <p:sp>
          <p:nvSpPr>
            <p:cNvPr id="31" name="Ellipse 31"/>
            <p:cNvSpPr/>
            <p:nvPr/>
          </p:nvSpPr>
          <p:spPr>
            <a:xfrm>
              <a:off x="7372350" y="1562100"/>
              <a:ext cx="228600" cy="228600"/>
            </a:xfrm>
            <a:prstGeom prst="ellipse">
              <a:avLst/>
            </a:prstGeom>
            <a:solidFill>
              <a:srgbClr val="12355B"/>
            </a:solidFill>
            <a:ln>
              <a:noFill/>
            </a:ln>
          </p:spPr>
        </p:sp>
        <p:sp>
          <p:nvSpPr>
            <p:cNvPr id="32" name="TextBox 32"/>
            <p:cNvSpPr txBox="1"/>
            <p:nvPr/>
          </p:nvSpPr>
          <p:spPr>
            <a:xfrm>
              <a:off x="7440501" y="16106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33" name="TextBox 33"/>
            <p:cNvSpPr txBox="1"/>
            <p:nvPr/>
          </p:nvSpPr>
          <p:spPr>
            <a:xfrm>
              <a:off x="7709154" y="1604010"/>
              <a:ext cx="26334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Controller isteği doğrudan işlemez;</a:t>
              </a:r>
              <a:br/>
              <a:r>
                <a:rPr lang="tr-TR" sz="1200" dirty="0">
                  <a:solidFill>
                    <a:srgbClr val="172B3A"/>
                  </a:solidFill>
                  <a:latin typeface="+mn-lt"/>
                  <a:ea typeface="+mn-ea"/>
                  <a:cs typeface="+mn-cs"/>
                </a:rPr>
                <a:t>service.oduncAl'e devreder.</a:t>
              </a:r>
            </a:p>
          </p:txBody>
        </p:sp>
        <p:sp>
          <p:nvSpPr>
            <p:cNvPr id="34" name="Ellipse 34"/>
            <p:cNvSpPr/>
            <p:nvPr/>
          </p:nvSpPr>
          <p:spPr>
            <a:xfrm>
              <a:off x="7372350" y="2114550"/>
              <a:ext cx="228600" cy="228600"/>
            </a:xfrm>
            <a:prstGeom prst="ellipse">
              <a:avLst/>
            </a:prstGeom>
            <a:solidFill>
              <a:srgbClr val="12355B"/>
            </a:solidFill>
            <a:ln>
              <a:noFill/>
            </a:ln>
          </p:spPr>
        </p:sp>
        <p:sp>
          <p:nvSpPr>
            <p:cNvPr id="35" name="TextBox 35"/>
            <p:cNvSpPr txBox="1"/>
            <p:nvPr/>
          </p:nvSpPr>
          <p:spPr>
            <a:xfrm>
              <a:off x="7440501" y="216312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36" name="TextBox 36"/>
            <p:cNvSpPr txBox="1"/>
            <p:nvPr/>
          </p:nvSpPr>
          <p:spPr>
            <a:xfrm>
              <a:off x="7709154" y="2156460"/>
              <a:ext cx="2663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Service iş akışını yönetip</a:t>
              </a:r>
              <a:br/>
              <a:r>
                <a:rPr lang="tr-TR" sz="1200" dirty="0">
                  <a:solidFill>
                    <a:srgbClr val="172B3A"/>
                  </a:solidFill>
                  <a:latin typeface="+mn-lt"/>
                  <a:ea typeface="+mn-ea"/>
                  <a:cs typeface="+mn-cs"/>
                </a:rPr>
                <a:t>repository.oduncKaydet'i çağırır.</a:t>
              </a:r>
            </a:p>
          </p:txBody>
        </p:sp>
        <p:sp>
          <p:nvSpPr>
            <p:cNvPr id="37" name="Ellipse 37"/>
            <p:cNvSpPr/>
            <p:nvPr/>
          </p:nvSpPr>
          <p:spPr>
            <a:xfrm>
              <a:off x="7372350" y="2667000"/>
              <a:ext cx="228600" cy="228600"/>
            </a:xfrm>
            <a:prstGeom prst="ellipse">
              <a:avLst/>
            </a:prstGeom>
            <a:solidFill>
              <a:srgbClr val="12355B"/>
            </a:solidFill>
            <a:ln>
              <a:noFill/>
            </a:ln>
          </p:spPr>
        </p:sp>
        <p:sp>
          <p:nvSpPr>
            <p:cNvPr id="38" name="TextBox 38"/>
            <p:cNvSpPr txBox="1"/>
            <p:nvPr/>
          </p:nvSpPr>
          <p:spPr>
            <a:xfrm>
              <a:off x="7440501" y="27155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39" name="TextBox 39"/>
            <p:cNvSpPr txBox="1"/>
            <p:nvPr/>
          </p:nvSpPr>
          <p:spPr>
            <a:xfrm>
              <a:off x="7709154" y="2708910"/>
              <a:ext cx="2587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sınıf yalnızca bir alt katmanı</a:t>
              </a:r>
              <a:br/>
              <a:r>
                <a:rPr lang="tr-TR" sz="1200" dirty="0">
                  <a:solidFill>
                    <a:srgbClr val="172B3A"/>
                  </a:solidFill>
                  <a:latin typeface="+mn-lt"/>
                  <a:ea typeface="+mn-ea"/>
                  <a:cs typeface="+mn-cs"/>
                </a:rPr>
                <a:t>tanır; katman atlaması yoktur.</a:t>
              </a:r>
            </a:p>
          </p:txBody>
        </p:sp>
      </p:grpSp>
      <p:grpSp>
        <p:nvGrpSpPr>
          <p:cNvPr id="45" name="caution-note"/>
          <p:cNvGrpSpPr/>
          <p:nvPr/>
        </p:nvGrpSpPr>
        <p:grpSpPr>
          <a:xfrm>
            <a:off x="7391400" y="4000500"/>
            <a:ext cx="4191000" cy="1562100"/>
            <a:chOff x="7391400" y="4000500"/>
            <a:chExt cx="4191000" cy="1562100"/>
          </a:xfrm>
        </p:grpSpPr>
        <p:sp>
          <p:nvSpPr>
            <p:cNvPr id="41" name="Rectangle 41"/>
            <p:cNvSpPr/>
            <p:nvPr/>
          </p:nvSpPr>
          <p:spPr>
            <a:xfrm>
              <a:off x="7391400" y="4000500"/>
              <a:ext cx="4191000" cy="1562100"/>
            </a:xfrm>
            <a:prstGeom prst="roundRect">
              <a:avLst>
                <a:gd name="adj" fmla="val 4878"/>
              </a:avLst>
            </a:prstGeom>
            <a:solidFill>
              <a:srgbClr val="EAF4F6"/>
            </a:solidFill>
            <a:ln>
              <a:noFill/>
            </a:ln>
          </p:spPr>
        </p:sp>
        <p:sp>
          <p:nvSpPr>
            <p:cNvPr id="42" name="Rectangle 42"/>
            <p:cNvSpPr/>
            <p:nvPr/>
          </p:nvSpPr>
          <p:spPr>
            <a:xfrm>
              <a:off x="7391400" y="4000500"/>
              <a:ext cx="57150" cy="1562100"/>
            </a:xfrm>
            <a:prstGeom prst="rect">
              <a:avLst/>
            </a:prstGeom>
            <a:solidFill>
              <a:srgbClr val="00A6A6"/>
            </a:solidFill>
            <a:ln>
              <a:noFill/>
            </a:ln>
          </p:spPr>
        </p:sp>
        <p:sp>
          <p:nvSpPr>
            <p:cNvPr id="43" name="TextBox 43"/>
            <p:cNvSpPr txBox="1"/>
            <p:nvPr/>
          </p:nvSpPr>
          <p:spPr>
            <a:xfrm>
              <a:off x="7613904" y="4175760"/>
              <a:ext cx="161580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DİKKAT NOKTASI</a:t>
              </a:r>
            </a:p>
          </p:txBody>
        </p:sp>
        <p:sp>
          <p:nvSpPr>
            <p:cNvPr id="44" name="TextBox 44"/>
            <p:cNvSpPr txBox="1"/>
            <p:nvPr/>
          </p:nvSpPr>
          <p:spPr>
            <a:xfrm>
              <a:off x="7613142" y="4445318"/>
              <a:ext cx="3151251"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Controller'ın repository'yi doğrudan</a:t>
              </a:r>
              <a:br/>
              <a:r>
                <a:rPr lang="tr-TR" sz="1350" dirty="0">
                  <a:solidFill>
                    <a:srgbClr val="172B3A"/>
                  </a:solidFill>
                  <a:latin typeface="+mn-lt"/>
                  <a:ea typeface="+mn-ea"/>
                  <a:cs typeface="+mn-cs"/>
                </a:rPr>
                <a:t>çağırması bu örnekte kasıtlı olarak</a:t>
              </a:r>
              <a:br/>
              <a:r>
                <a:rPr lang="tr-TR" sz="1350" dirty="0">
                  <a:solidFill>
                    <a:srgbClr val="172B3A"/>
                  </a:solidFill>
                  <a:latin typeface="+mn-lt"/>
                  <a:ea typeface="+mn-ea"/>
                  <a:cs typeface="+mn-cs"/>
                </a:rPr>
                <a:t>engellenmiştir; her katman yalnızca</a:t>
              </a:r>
              <a:br/>
              <a:r>
                <a:rPr lang="tr-TR" sz="1350" dirty="0">
                  <a:solidFill>
                    <a:srgbClr val="172B3A"/>
                  </a:solidFill>
                  <a:latin typeface="+mn-lt"/>
                  <a:ea typeface="+mn-ea"/>
                  <a:cs typeface="+mn-cs"/>
                </a:rPr>
                <a:t>bir alt komşusunu tanır.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338341" cy="668845"/>
            <a:chOff x="609600" y="171450"/>
            <a:chExt cx="8338341"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6479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 zaman tercih edilmeli? Alternatifler</a:t>
              </a:r>
            </a:p>
          </p:txBody>
        </p:sp>
      </p:grpSp>
      <p:grpSp>
        <p:nvGrpSpPr>
          <p:cNvPr id="16" name="alt-header"/>
          <p:cNvGrpSpPr/>
          <p:nvPr/>
        </p:nvGrpSpPr>
        <p:grpSpPr>
          <a:xfrm>
            <a:off x="609600" y="1181100"/>
            <a:ext cx="10972800" cy="381000"/>
            <a:chOff x="609600" y="1181100"/>
            <a:chExt cx="10972800" cy="381000"/>
          </a:xfrm>
        </p:grpSpPr>
        <p:sp>
          <p:nvSpPr>
            <p:cNvPr id="11" name="Rectangle 11"/>
            <p:cNvSpPr/>
            <p:nvPr/>
          </p:nvSpPr>
          <p:spPr>
            <a:xfrm>
              <a:off x="609600" y="1181100"/>
              <a:ext cx="10972800" cy="381000"/>
            </a:xfrm>
            <a:prstGeom prst="rect">
              <a:avLst/>
            </a:prstGeom>
            <a:solidFill>
              <a:srgbClr val="12355B"/>
            </a:solidFill>
            <a:ln>
              <a:noFill/>
            </a:ln>
          </p:spPr>
        </p:sp>
        <p:sp>
          <p:nvSpPr>
            <p:cNvPr id="12" name="TextBox 12"/>
            <p:cNvSpPr txBox="1"/>
            <p:nvPr/>
          </p:nvSpPr>
          <p:spPr>
            <a:xfrm>
              <a:off x="755904" y="12992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3" name="TextBox 13"/>
            <p:cNvSpPr txBox="1"/>
            <p:nvPr/>
          </p:nvSpPr>
          <p:spPr>
            <a:xfrm>
              <a:off x="3422904" y="1299210"/>
              <a:ext cx="83064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AVANTAJI</a:t>
              </a:r>
            </a:p>
          </p:txBody>
        </p:sp>
        <p:sp>
          <p:nvSpPr>
            <p:cNvPr id="14" name="TextBox 14"/>
            <p:cNvSpPr txBox="1"/>
            <p:nvPr/>
          </p:nvSpPr>
          <p:spPr>
            <a:xfrm>
              <a:off x="6089904" y="1299210"/>
              <a:ext cx="115836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DEZAVANTAJI</a:t>
              </a:r>
            </a:p>
          </p:txBody>
        </p:sp>
        <p:sp>
          <p:nvSpPr>
            <p:cNvPr id="15" name="TextBox 15"/>
            <p:cNvSpPr txBox="1"/>
            <p:nvPr/>
          </p:nvSpPr>
          <p:spPr>
            <a:xfrm>
              <a:off x="8756904" y="1299210"/>
              <a:ext cx="147712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UYGUN KULLANIM</a:t>
              </a:r>
            </a:p>
          </p:txBody>
        </p:sp>
      </p:grpSp>
      <p:grpSp>
        <p:nvGrpSpPr>
          <p:cNvPr id="22" name="alt-row1"/>
          <p:cNvGrpSpPr/>
          <p:nvPr/>
        </p:nvGrpSpPr>
        <p:grpSpPr>
          <a:xfrm>
            <a:off x="609600" y="1699260"/>
            <a:ext cx="10972800" cy="329565"/>
            <a:chOff x="609600" y="1699260"/>
            <a:chExt cx="10972800" cy="329565"/>
          </a:xfrm>
        </p:grpSpPr>
        <p:sp>
          <p:nvSpPr>
            <p:cNvPr id="17" name="TextBox 17"/>
            <p:cNvSpPr txBox="1"/>
            <p:nvPr/>
          </p:nvSpPr>
          <p:spPr>
            <a:xfrm>
              <a:off x="755904" y="1699260"/>
              <a:ext cx="169703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Tek dosyalı tasarım</a:t>
              </a:r>
            </a:p>
          </p:txBody>
        </p:sp>
        <p:sp>
          <p:nvSpPr>
            <p:cNvPr id="18" name="TextBox 18"/>
            <p:cNvSpPr txBox="1"/>
            <p:nvPr/>
          </p:nvSpPr>
          <p:spPr>
            <a:xfrm>
              <a:off x="3423285" y="1707356"/>
              <a:ext cx="165196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başlangıç sağlar</a:t>
              </a:r>
            </a:p>
          </p:txBody>
        </p:sp>
        <p:sp>
          <p:nvSpPr>
            <p:cNvPr id="19" name="TextBox 19"/>
            <p:cNvSpPr txBox="1"/>
            <p:nvPr/>
          </p:nvSpPr>
          <p:spPr>
            <a:xfrm>
              <a:off x="6090285" y="1707356"/>
              <a:ext cx="16368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Sorumluluklar karışır</a:t>
              </a:r>
            </a:p>
          </p:txBody>
        </p:sp>
        <p:sp>
          <p:nvSpPr>
            <p:cNvPr id="20" name="TextBox 20"/>
            <p:cNvSpPr txBox="1"/>
            <p:nvPr/>
          </p:nvSpPr>
          <p:spPr>
            <a:xfrm>
              <a:off x="8757285" y="1707356"/>
              <a:ext cx="150906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küçük denemeler</a:t>
              </a:r>
            </a:p>
          </p:txBody>
        </p:sp>
        <p:sp>
          <p:nvSpPr>
            <p:cNvPr id="21" name="Line 21"/>
            <p:cNvSpPr/>
            <p:nvPr/>
          </p:nvSpPr>
          <p:spPr>
            <a:xfrm>
              <a:off x="609600" y="2019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9" name="alt-row2"/>
          <p:cNvGrpSpPr/>
          <p:nvPr/>
        </p:nvGrpSpPr>
        <p:grpSpPr>
          <a:xfrm>
            <a:off x="609600" y="2019300"/>
            <a:ext cx="10972800" cy="466725"/>
            <a:chOff x="609600" y="2019300"/>
            <a:chExt cx="10972800" cy="466725"/>
          </a:xfrm>
        </p:grpSpPr>
        <p:sp>
          <p:nvSpPr>
            <p:cNvPr id="23" name="Rectangle 23"/>
            <p:cNvSpPr/>
            <p:nvPr/>
          </p:nvSpPr>
          <p:spPr>
            <a:xfrm>
              <a:off x="609600" y="2019300"/>
              <a:ext cx="10972800" cy="457200"/>
            </a:xfrm>
            <a:prstGeom prst="rect">
              <a:avLst/>
            </a:prstGeom>
            <a:solidFill>
              <a:srgbClr val="EAF4F6"/>
            </a:solidFill>
            <a:ln>
              <a:noFill/>
            </a:ln>
          </p:spPr>
        </p:sp>
        <p:sp>
          <p:nvSpPr>
            <p:cNvPr id="24" name="TextBox 24"/>
            <p:cNvSpPr txBox="1"/>
            <p:nvPr/>
          </p:nvSpPr>
          <p:spPr>
            <a:xfrm>
              <a:off x="755904" y="2156460"/>
              <a:ext cx="134910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Katmanlı mimari</a:t>
              </a:r>
            </a:p>
          </p:txBody>
        </p:sp>
        <p:sp>
          <p:nvSpPr>
            <p:cNvPr id="25" name="TextBox 25"/>
            <p:cNvSpPr txBox="1"/>
            <p:nvPr/>
          </p:nvSpPr>
          <p:spPr>
            <a:xfrm>
              <a:off x="3423285" y="2164556"/>
              <a:ext cx="176536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Test ve bakım kolaylığı</a:t>
              </a:r>
            </a:p>
          </p:txBody>
        </p:sp>
        <p:sp>
          <p:nvSpPr>
            <p:cNvPr id="26" name="TextBox 26"/>
            <p:cNvSpPr txBox="1"/>
            <p:nvPr/>
          </p:nvSpPr>
          <p:spPr>
            <a:xfrm>
              <a:off x="6090285" y="2164556"/>
              <a:ext cx="21497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Başlangıçta daha fazla dosya</a:t>
              </a:r>
            </a:p>
          </p:txBody>
        </p:sp>
        <p:sp>
          <p:nvSpPr>
            <p:cNvPr id="27" name="TextBox 27"/>
            <p:cNvSpPr txBox="1"/>
            <p:nvPr/>
          </p:nvSpPr>
          <p:spPr>
            <a:xfrm>
              <a:off x="8757285" y="2164556"/>
              <a:ext cx="19614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Orta ve büyük uygulamalar</a:t>
              </a:r>
            </a:p>
          </p:txBody>
        </p:sp>
        <p:sp>
          <p:nvSpPr>
            <p:cNvPr id="28" name="Line 28"/>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alt-row3"/>
          <p:cNvGrpSpPr/>
          <p:nvPr/>
        </p:nvGrpSpPr>
        <p:grpSpPr>
          <a:xfrm>
            <a:off x="609600" y="2613660"/>
            <a:ext cx="10972800" cy="329565"/>
            <a:chOff x="609600" y="2613660"/>
            <a:chExt cx="10972800" cy="329565"/>
          </a:xfrm>
        </p:grpSpPr>
        <p:sp>
          <p:nvSpPr>
            <p:cNvPr id="30" name="TextBox 30"/>
            <p:cNvSpPr txBox="1"/>
            <p:nvPr/>
          </p:nvSpPr>
          <p:spPr>
            <a:xfrm>
              <a:off x="755904" y="2613660"/>
              <a:ext cx="34375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MVC</a:t>
              </a:r>
            </a:p>
          </p:txBody>
        </p:sp>
        <p:sp>
          <p:nvSpPr>
            <p:cNvPr id="31" name="TextBox 31"/>
            <p:cNvSpPr txBox="1"/>
            <p:nvPr/>
          </p:nvSpPr>
          <p:spPr>
            <a:xfrm>
              <a:off x="3423285" y="2621756"/>
              <a:ext cx="23457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Arayüz/controller ayrımı güçlü</a:t>
              </a:r>
            </a:p>
          </p:txBody>
        </p:sp>
        <p:sp>
          <p:nvSpPr>
            <p:cNvPr id="32" name="TextBox 32"/>
            <p:cNvSpPr txBox="1"/>
            <p:nvPr/>
          </p:nvSpPr>
          <p:spPr>
            <a:xfrm>
              <a:off x="6090285" y="2621756"/>
              <a:ext cx="315975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Backend iş kuralı ayrımı yetersiz kalabilir</a:t>
              </a:r>
            </a:p>
          </p:txBody>
        </p:sp>
        <p:sp>
          <p:nvSpPr>
            <p:cNvPr id="33" name="TextBox 33"/>
            <p:cNvSpPr txBox="1"/>
            <p:nvPr/>
          </p:nvSpPr>
          <p:spPr>
            <a:xfrm>
              <a:off x="8757285" y="2621756"/>
              <a:ext cx="129028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Web uygulamaları</a:t>
              </a:r>
            </a:p>
          </p:txBody>
        </p:sp>
        <p:sp>
          <p:nvSpPr>
            <p:cNvPr id="34" name="Line 34"/>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1" name="alt-row4"/>
          <p:cNvGrpSpPr/>
          <p:nvPr/>
        </p:nvGrpSpPr>
        <p:grpSpPr>
          <a:xfrm>
            <a:off x="609600" y="2933700"/>
            <a:ext cx="10972800" cy="457200"/>
            <a:chOff x="609600" y="2933700"/>
            <a:chExt cx="10972800" cy="457200"/>
          </a:xfrm>
        </p:grpSpPr>
        <p:sp>
          <p:nvSpPr>
            <p:cNvPr id="36" name="Rectangle 36"/>
            <p:cNvSpPr/>
            <p:nvPr/>
          </p:nvSpPr>
          <p:spPr>
            <a:xfrm>
              <a:off x="609600" y="2933700"/>
              <a:ext cx="10972800" cy="457200"/>
            </a:xfrm>
            <a:prstGeom prst="rect">
              <a:avLst/>
            </a:prstGeom>
            <a:solidFill>
              <a:srgbClr val="EAF4F6"/>
            </a:solidFill>
            <a:ln>
              <a:noFill/>
            </a:ln>
          </p:spPr>
        </p:sp>
        <p:sp>
          <p:nvSpPr>
            <p:cNvPr id="37" name="TextBox 37"/>
            <p:cNvSpPr txBox="1"/>
            <p:nvPr/>
          </p:nvSpPr>
          <p:spPr>
            <a:xfrm>
              <a:off x="755904" y="3070860"/>
              <a:ext cx="157456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Clean Architecture</a:t>
              </a:r>
            </a:p>
          </p:txBody>
        </p:sp>
        <p:sp>
          <p:nvSpPr>
            <p:cNvPr id="38" name="TextBox 38"/>
            <p:cNvSpPr txBox="1"/>
            <p:nvPr/>
          </p:nvSpPr>
          <p:spPr>
            <a:xfrm>
              <a:off x="3423285" y="3078956"/>
              <a:ext cx="205904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Bağımlılıkları sıkı yönetir</a:t>
              </a:r>
            </a:p>
          </p:txBody>
        </p:sp>
        <p:sp>
          <p:nvSpPr>
            <p:cNvPr id="39" name="TextBox 39"/>
            <p:cNvSpPr txBox="1"/>
            <p:nvPr/>
          </p:nvSpPr>
          <p:spPr>
            <a:xfrm>
              <a:off x="6090285" y="3078956"/>
              <a:ext cx="262474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Öğrenme ve kurulum maliyeti yüksek</a:t>
              </a:r>
            </a:p>
          </p:txBody>
        </p:sp>
        <p:sp>
          <p:nvSpPr>
            <p:cNvPr id="40" name="TextBox 40"/>
            <p:cNvSpPr txBox="1"/>
            <p:nvPr/>
          </p:nvSpPr>
          <p:spPr>
            <a:xfrm>
              <a:off x="8757285" y="3078956"/>
              <a:ext cx="21725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 uzun ömürlü sistemler</a:t>
              </a:r>
            </a:p>
          </p:txBody>
        </p:sp>
      </p:grpSp>
      <p:grpSp>
        <p:nvGrpSpPr>
          <p:cNvPr id="44" name="usage-note"/>
          <p:cNvGrpSpPr/>
          <p:nvPr/>
        </p:nvGrpSpPr>
        <p:grpSpPr>
          <a:xfrm>
            <a:off x="601599" y="3678079"/>
            <a:ext cx="8779226" cy="574739"/>
            <a:chOff x="601599" y="3678079"/>
            <a:chExt cx="8779226" cy="574739"/>
          </a:xfrm>
        </p:grpSpPr>
        <p:sp>
          <p:nvSpPr>
            <p:cNvPr id="42" name="TextBox 42"/>
            <p:cNvSpPr txBox="1"/>
            <p:nvPr/>
          </p:nvSpPr>
          <p:spPr>
            <a:xfrm>
              <a:off x="601599" y="3678079"/>
              <a:ext cx="814809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Kütüphane, e-ticaret, öğrenci bilgi sistemi gibi çoklu iş kuralı, kullanıcı türü</a:t>
              </a:r>
            </a:p>
          </p:txBody>
        </p:sp>
        <p:sp>
          <p:nvSpPr>
            <p:cNvPr id="43" name="TextBox 43"/>
            <p:cNvSpPr txBox="1"/>
            <p:nvPr/>
          </p:nvSpPr>
          <p:spPr>
            <a:xfrm>
              <a:off x="601599" y="3944779"/>
              <a:ext cx="877922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veya uç nokta barındıran uygulamalarda katmanlı mimari özellikle tercih edilmelidir.</a:t>
              </a:r>
            </a:p>
          </p:txBody>
        </p:sp>
      </p:grpSp>
      <p:grpSp>
        <p:nvGrpSpPr>
          <p:cNvPr id="51" name="common-errors"/>
          <p:cNvGrpSpPr/>
          <p:nvPr/>
        </p:nvGrpSpPr>
        <p:grpSpPr>
          <a:xfrm>
            <a:off x="609600" y="4438650"/>
            <a:ext cx="10972800" cy="1790700"/>
            <a:chOff x="609600" y="4438650"/>
            <a:chExt cx="10972800" cy="1790700"/>
          </a:xfrm>
        </p:grpSpPr>
        <p:sp>
          <p:nvSpPr>
            <p:cNvPr id="45" name="Rectangle 45"/>
            <p:cNvSpPr/>
            <p:nvPr/>
          </p:nvSpPr>
          <p:spPr>
            <a:xfrm>
              <a:off x="609600" y="4438650"/>
              <a:ext cx="10972800" cy="1790700"/>
            </a:xfrm>
            <a:prstGeom prst="roundRect">
              <a:avLst>
                <a:gd name="adj" fmla="val 4255"/>
              </a:avLst>
            </a:prstGeom>
            <a:solidFill>
              <a:srgbClr val="EAF4F6"/>
            </a:solidFill>
            <a:ln>
              <a:noFill/>
            </a:ln>
          </p:spPr>
        </p:sp>
        <p:sp>
          <p:nvSpPr>
            <p:cNvPr id="46" name="Rectangle 46"/>
            <p:cNvSpPr/>
            <p:nvPr/>
          </p:nvSpPr>
          <p:spPr>
            <a:xfrm>
              <a:off x="609600" y="4438650"/>
              <a:ext cx="57150" cy="1790700"/>
            </a:xfrm>
            <a:prstGeom prst="rect">
              <a:avLst/>
            </a:prstGeom>
            <a:solidFill>
              <a:srgbClr val="00A6A6"/>
            </a:solidFill>
            <a:ln>
              <a:noFill/>
            </a:ln>
          </p:spPr>
        </p:sp>
        <p:sp>
          <p:nvSpPr>
            <p:cNvPr id="47" name="TextBox 47"/>
            <p:cNvSpPr txBox="1"/>
            <p:nvPr/>
          </p:nvSpPr>
          <p:spPr>
            <a:xfrm>
              <a:off x="908304" y="4613910"/>
              <a:ext cx="1579961"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YAYGIN HATALAR</a:t>
              </a:r>
            </a:p>
          </p:txBody>
        </p:sp>
        <p:sp>
          <p:nvSpPr>
            <p:cNvPr id="48" name="TextBox 48"/>
            <p:cNvSpPr txBox="1"/>
            <p:nvPr/>
          </p:nvSpPr>
          <p:spPr>
            <a:xfrm>
              <a:off x="907542" y="4883468"/>
              <a:ext cx="88310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Controller içinde veritabanı sorgusu yazmak — HTTP ayrıntısı ve veri erişimi birbirine bağlanır.</a:t>
              </a:r>
            </a:p>
          </p:txBody>
        </p:sp>
        <p:sp>
          <p:nvSpPr>
            <p:cNvPr id="49" name="TextBox 49"/>
            <p:cNvSpPr txBox="1"/>
            <p:nvPr/>
          </p:nvSpPr>
          <p:spPr>
            <a:xfrm>
              <a:off x="907542" y="5207318"/>
              <a:ext cx="71532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Service'i yalnızca repository metodunu aktaran boş bir sınıfa dönüştürmek.</a:t>
              </a:r>
            </a:p>
          </p:txBody>
        </p:sp>
        <p:sp>
          <p:nvSpPr>
            <p:cNvPr id="50" name="TextBox 50"/>
            <p:cNvSpPr txBox="1"/>
            <p:nvPr/>
          </p:nvSpPr>
          <p:spPr>
            <a:xfrm>
              <a:off x="907542" y="5531168"/>
              <a:ext cx="723320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Repository'nin HTTP durum kodu döndürmesi — bu kararı controller vermelidir.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4498520" cy="668845"/>
            <a:chOff x="609600" y="171450"/>
            <a:chExt cx="449852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38081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Controller katmanı</a:t>
              </a:r>
            </a:p>
          </p:txBody>
        </p:sp>
      </p:grpSp>
      <p:grpSp>
        <p:nvGrpSpPr>
          <p:cNvPr id="17" name="controller-icon"/>
          <p:cNvGrpSpPr/>
          <p:nvPr/>
        </p:nvGrpSpPr>
        <p:grpSpPr>
          <a:xfrm>
            <a:off x="698499" y="1308099"/>
            <a:ext cx="355595" cy="355595"/>
            <a:chOff x="698499" y="1308099"/>
            <a:chExt cx="355595" cy="355595"/>
          </a:xfrm>
        </p:grpSpPr>
        <p:grpSp>
          <p:nvGrpSpPr>
            <p:cNvPr id="16" name="icon-controller"/>
            <p:cNvGrpSpPr/>
            <p:nvPr/>
          </p:nvGrpSpPr>
          <p:grpSpPr>
            <a:xfrm>
              <a:off x="698499" y="1308099"/>
              <a:ext cx="355595" cy="355595"/>
              <a:chOff x="698499" y="1308099"/>
              <a:chExt cx="355595" cy="355595"/>
            </a:xfrm>
          </p:grpSpPr>
          <p:sp>
            <p:nvSpPr>
              <p:cNvPr id="13" name="Freeform 13"/>
              <p:cNvSpPr/>
              <p:nvPr/>
            </p:nvSpPr>
            <p:spPr>
              <a:xfrm>
                <a:off x="698499" y="1396997"/>
                <a:ext cx="355595" cy="9525"/>
              </a:xfrm>
              <a:custGeom>
                <a:avLst/>
                <a:gdLst/>
                <a:ahLst/>
                <a:cxnLst/>
                <a:rect l="l" t="t" r="r" b="b"/>
                <a:pathLst>
                  <a:path w="355595" h="9525">
                    <a:moveTo>
                      <a:pt x="0" y="0"/>
                    </a:moveTo>
                    <a:lnTo>
                      <a:pt x="355595" y="0"/>
                    </a:lnTo>
                  </a:path>
                </a:pathLst>
              </a:custGeom>
              <a:noFill/>
              <a:ln w="19047" cap="rnd">
                <a:solidFill>
                  <a:srgbClr val="12355B"/>
                </a:solidFill>
                <a:round/>
              </a:ln>
            </p:spPr>
          </p:sp>
          <p:sp>
            <p:nvSpPr>
              <p:cNvPr id="14" name="Freeform 14"/>
              <p:cNvSpPr/>
              <p:nvPr/>
            </p:nvSpPr>
            <p:spPr>
              <a:xfrm>
                <a:off x="698499" y="1308099"/>
                <a:ext cx="355595" cy="355595"/>
              </a:xfrm>
              <a:custGeom>
                <a:avLst/>
                <a:gdLst/>
                <a:ahLst/>
                <a:cxnLst/>
                <a:rect l="l" t="t" r="r" b="b"/>
                <a:pathLst>
                  <a:path w="355595" h="355595">
                    <a:moveTo>
                      <a:pt x="0" y="44449"/>
                    </a:moveTo>
                    <a:cubicBezTo>
                      <a:pt x="0" y="19901"/>
                      <a:pt x="19901" y="0"/>
                      <a:pt x="44449" y="0"/>
                    </a:cubicBezTo>
                    <a:lnTo>
                      <a:pt x="311146" y="0"/>
                    </a:lnTo>
                    <a:cubicBezTo>
                      <a:pt x="335694" y="0"/>
                      <a:pt x="355595" y="19901"/>
                      <a:pt x="355595" y="44449"/>
                    </a:cubicBezTo>
                    <a:lnTo>
                      <a:pt x="355595" y="311146"/>
                    </a:lnTo>
                    <a:cubicBezTo>
                      <a:pt x="355595" y="335694"/>
                      <a:pt x="335694" y="355595"/>
                      <a:pt x="311146" y="355595"/>
                    </a:cubicBezTo>
                    <a:lnTo>
                      <a:pt x="44449" y="355595"/>
                    </a:lnTo>
                    <a:cubicBezTo>
                      <a:pt x="19901" y="355595"/>
                      <a:pt x="0" y="335694"/>
                      <a:pt x="0" y="311146"/>
                    </a:cubicBezTo>
                    <a:lnTo>
                      <a:pt x="0" y="44449"/>
                    </a:lnTo>
                  </a:path>
                </a:pathLst>
              </a:custGeom>
              <a:noFill/>
              <a:ln w="19047" cap="rnd">
                <a:solidFill>
                  <a:srgbClr val="12355B"/>
                </a:solidFill>
                <a:round/>
              </a:ln>
            </p:spPr>
          </p:sp>
          <p:sp>
            <p:nvSpPr>
              <p:cNvPr id="15" name="Freeform 15"/>
              <p:cNvSpPr/>
              <p:nvPr/>
            </p:nvSpPr>
            <p:spPr>
              <a:xfrm>
                <a:off x="787397" y="1308099"/>
                <a:ext cx="9525" cy="88899"/>
              </a:xfrm>
              <a:custGeom>
                <a:avLst/>
                <a:gdLst/>
                <a:ahLst/>
                <a:cxnLst/>
                <a:rect l="l" t="t" r="r" b="b"/>
                <a:pathLst>
                  <a:path w="9525" h="88899">
                    <a:moveTo>
                      <a:pt x="0" y="0"/>
                    </a:moveTo>
                    <a:lnTo>
                      <a:pt x="0" y="88899"/>
                    </a:lnTo>
                  </a:path>
                </a:pathLst>
              </a:custGeom>
              <a:noFill/>
              <a:ln w="19047" cap="rnd">
                <a:solidFill>
                  <a:srgbClr val="12355B"/>
                </a:solidFill>
                <a:round/>
              </a:ln>
            </p:spPr>
          </p:sp>
        </p:grpSp>
      </p:grpSp>
      <p:grpSp>
        <p:nvGrpSpPr>
          <p:cNvPr id="20" name="definition-block"/>
          <p:cNvGrpSpPr/>
          <p:nvPr/>
        </p:nvGrpSpPr>
        <p:grpSpPr>
          <a:xfrm>
            <a:off x="1363599" y="1318260"/>
            <a:ext cx="3296793" cy="1372457"/>
            <a:chOff x="1363599" y="1318260"/>
            <a:chExt cx="3296793" cy="1372457"/>
          </a:xfrm>
        </p:grpSpPr>
        <p:sp>
          <p:nvSpPr>
            <p:cNvPr id="18" name="TextBox 18"/>
            <p:cNvSpPr txBox="1"/>
            <p:nvPr/>
          </p:nvSpPr>
          <p:spPr>
            <a:xfrm>
              <a:off x="1365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19" name="TextBox 19"/>
            <p:cNvSpPr txBox="1"/>
            <p:nvPr/>
          </p:nvSpPr>
          <p:spPr>
            <a:xfrm>
              <a:off x="1363599" y="1582579"/>
              <a:ext cx="3296793"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Dış dünyadan gelen HTTP isteğini</a:t>
              </a:r>
              <a:br/>
              <a:r>
                <a:rPr lang="tr-TR" sz="1580" dirty="0">
                  <a:solidFill>
                    <a:srgbClr val="172B3A"/>
                  </a:solidFill>
                  <a:latin typeface="+mn-lt"/>
                  <a:ea typeface="+mn-ea"/>
                  <a:cs typeface="+mn-cs"/>
                </a:rPr>
                <a:t>karşılar; parametreleri DTO'ya</a:t>
              </a:r>
              <a:br/>
              <a:r>
                <a:rPr lang="tr-TR" sz="1580" dirty="0">
                  <a:solidFill>
                    <a:srgbClr val="172B3A"/>
                  </a:solidFill>
                  <a:latin typeface="+mn-lt"/>
                  <a:ea typeface="+mn-ea"/>
                  <a:cs typeface="+mn-cs"/>
                </a:rPr>
                <a:t>dönüştürür, service'i çağırır ve</a:t>
              </a:r>
              <a:br/>
              <a:r>
                <a:rPr lang="tr-TR" sz="1580" dirty="0">
                  <a:solidFill>
                    <a:srgbClr val="172B3A"/>
                  </a:solidFill>
                  <a:latin typeface="+mn-lt"/>
                  <a:ea typeface="+mn-ea"/>
                  <a:cs typeface="+mn-cs"/>
                </a:rPr>
                <a:t>sonucu HTTP yanıtına çevirir.</a:t>
              </a:r>
            </a:p>
          </p:txBody>
        </p:sp>
      </p:grpSp>
      <p:grpSp>
        <p:nvGrpSpPr>
          <p:cNvPr id="25" name="waiter-analogy"/>
          <p:cNvGrpSpPr/>
          <p:nvPr/>
        </p:nvGrpSpPr>
        <p:grpSpPr>
          <a:xfrm>
            <a:off x="609600" y="3657600"/>
            <a:ext cx="6400800" cy="1771650"/>
            <a:chOff x="609600" y="3657600"/>
            <a:chExt cx="6400800" cy="1771650"/>
          </a:xfrm>
        </p:grpSpPr>
        <p:sp>
          <p:nvSpPr>
            <p:cNvPr id="21" name="Rectangle 21"/>
            <p:cNvSpPr/>
            <p:nvPr/>
          </p:nvSpPr>
          <p:spPr>
            <a:xfrm>
              <a:off x="609600" y="3657600"/>
              <a:ext cx="6400800" cy="1771650"/>
            </a:xfrm>
            <a:prstGeom prst="roundRect">
              <a:avLst>
                <a:gd name="adj" fmla="val 4301"/>
              </a:avLst>
            </a:prstGeom>
            <a:solidFill>
              <a:srgbClr val="EAF4F6"/>
            </a:solidFill>
            <a:ln>
              <a:noFill/>
            </a:ln>
          </p:spPr>
        </p:sp>
        <p:sp>
          <p:nvSpPr>
            <p:cNvPr id="22" name="Rectangle 22"/>
            <p:cNvSpPr/>
            <p:nvPr/>
          </p:nvSpPr>
          <p:spPr>
            <a:xfrm>
              <a:off x="609600" y="3657600"/>
              <a:ext cx="57150" cy="1771650"/>
            </a:xfrm>
            <a:prstGeom prst="rect">
              <a:avLst/>
            </a:prstGeom>
            <a:solidFill>
              <a:srgbClr val="00A6A6"/>
            </a:solidFill>
            <a:ln>
              <a:noFill/>
            </a:ln>
          </p:spPr>
        </p:sp>
        <p:sp>
          <p:nvSpPr>
            <p:cNvPr id="23" name="TextBox 23"/>
            <p:cNvSpPr txBox="1"/>
            <p:nvPr/>
          </p:nvSpPr>
          <p:spPr>
            <a:xfrm>
              <a:off x="908304" y="3832860"/>
              <a:ext cx="985967"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BENZETME</a:t>
              </a:r>
            </a:p>
          </p:txBody>
        </p:sp>
        <p:sp>
          <p:nvSpPr>
            <p:cNvPr id="24" name="TextBox 24"/>
            <p:cNvSpPr txBox="1"/>
            <p:nvPr/>
          </p:nvSpPr>
          <p:spPr>
            <a:xfrm>
              <a:off x="906399" y="4097179"/>
              <a:ext cx="4059301"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Garson, müşterinin "bir çorba istiyorum"</a:t>
              </a:r>
              <a:br/>
              <a:r>
                <a:rPr lang="tr-TR" sz="1580" dirty="0">
                  <a:solidFill>
                    <a:srgbClr val="172B3A"/>
                  </a:solidFill>
                  <a:latin typeface="+mn-lt"/>
                  <a:ea typeface="+mn-ea"/>
                  <a:cs typeface="+mn-cs"/>
                </a:rPr>
                <a:t>cümlesini mutfağın anlayacağı sipariş</a:t>
              </a:r>
              <a:br/>
              <a:r>
                <a:rPr lang="tr-TR" sz="1580" dirty="0">
                  <a:solidFill>
                    <a:srgbClr val="172B3A"/>
                  </a:solidFill>
                  <a:latin typeface="+mn-lt"/>
                  <a:ea typeface="+mn-ea"/>
                  <a:cs typeface="+mn-cs"/>
                </a:rPr>
                <a:t>biçimine çevirir; tarifi belirlemez.</a:t>
              </a:r>
            </a:p>
          </p:txBody>
        </p:sp>
      </p:grpSp>
      <p:grpSp>
        <p:nvGrpSpPr>
          <p:cNvPr id="36" name="theory-block"/>
          <p:cNvGrpSpPr/>
          <p:nvPr/>
        </p:nvGrpSpPr>
        <p:grpSpPr>
          <a:xfrm>
            <a:off x="7315200" y="1219200"/>
            <a:ext cx="4267200" cy="4210050"/>
            <a:chOff x="7315200" y="1219200"/>
            <a:chExt cx="4267200" cy="4210050"/>
          </a:xfrm>
        </p:grpSpPr>
        <p:sp>
          <p:nvSpPr>
            <p:cNvPr id="26" name="Rectangle 26"/>
            <p:cNvSpPr/>
            <p:nvPr/>
          </p:nvSpPr>
          <p:spPr>
            <a:xfrm>
              <a:off x="7315200" y="1219200"/>
              <a:ext cx="4267200" cy="4210050"/>
            </a:xfrm>
            <a:prstGeom prst="roundRect">
              <a:avLst>
                <a:gd name="adj" fmla="val 1810"/>
              </a:avLst>
            </a:prstGeom>
            <a:solidFill>
              <a:srgbClr val="FFFFFF"/>
            </a:solidFill>
            <a:ln w="14288">
              <a:solidFill>
                <a:srgbClr val="B8CBD3"/>
              </a:solidFill>
            </a:ln>
          </p:spPr>
        </p:sp>
        <p:sp>
          <p:nvSpPr>
            <p:cNvPr id="27" name="TextBox 27"/>
            <p:cNvSpPr txBox="1"/>
            <p:nvPr/>
          </p:nvSpPr>
          <p:spPr>
            <a:xfrm>
              <a:off x="7537704" y="13944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28" name="TextBox 28"/>
            <p:cNvSpPr txBox="1"/>
            <p:nvPr/>
          </p:nvSpPr>
          <p:spPr>
            <a:xfrm>
              <a:off x="7536942" y="1721168"/>
              <a:ext cx="165552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Reenskaug (1979)</a:t>
              </a:r>
            </a:p>
          </p:txBody>
        </p:sp>
        <p:sp>
          <p:nvSpPr>
            <p:cNvPr id="29" name="TextBox 29"/>
            <p:cNvSpPr txBox="1"/>
            <p:nvPr/>
          </p:nvSpPr>
          <p:spPr>
            <a:xfrm>
              <a:off x="7537704" y="1985010"/>
              <a:ext cx="25496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MVC deseni: controller kullanıcı</a:t>
              </a:r>
              <a:br/>
              <a:r>
                <a:rPr lang="tr-TR" sz="1200" dirty="0">
                  <a:solidFill>
                    <a:srgbClr val="172B3A"/>
                  </a:solidFill>
                  <a:latin typeface="+mn-lt"/>
                  <a:ea typeface="+mn-ea"/>
                  <a:cs typeface="+mn-cs"/>
                </a:rPr>
                <a:t>girdisini yorumlayıp modele iletir.</a:t>
              </a:r>
            </a:p>
          </p:txBody>
        </p:sp>
        <p:sp>
          <p:nvSpPr>
            <p:cNvPr id="30" name="Line 30"/>
            <p:cNvSpPr/>
            <p:nvPr/>
          </p:nvSpPr>
          <p:spPr>
            <a:xfrm>
              <a:off x="7543800" y="253365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31" name="TextBox 31"/>
            <p:cNvSpPr txBox="1"/>
            <p:nvPr/>
          </p:nvSpPr>
          <p:spPr>
            <a:xfrm>
              <a:off x="7536942" y="2654618"/>
              <a:ext cx="241828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Alur, Crupi, Malks (2001)</a:t>
              </a:r>
            </a:p>
          </p:txBody>
        </p:sp>
        <p:sp>
          <p:nvSpPr>
            <p:cNvPr id="32" name="TextBox 32"/>
            <p:cNvSpPr txBox="1"/>
            <p:nvPr/>
          </p:nvSpPr>
          <p:spPr>
            <a:xfrm>
              <a:off x="7537704" y="2918460"/>
              <a:ext cx="25420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Front Controller deseni: tüm HTTP</a:t>
              </a:r>
              <a:br/>
              <a:r>
                <a:rPr lang="tr-TR" sz="1200" dirty="0">
                  <a:solidFill>
                    <a:srgbClr val="172B3A"/>
                  </a:solidFill>
                  <a:latin typeface="+mn-lt"/>
                  <a:ea typeface="+mn-ea"/>
                  <a:cs typeface="+mn-cs"/>
                </a:rPr>
                <a:t>isteklerinin tek giriş noktasından</a:t>
              </a:r>
              <a:br/>
              <a:r>
                <a:rPr lang="tr-TR" sz="1200" dirty="0">
                  <a:solidFill>
                    <a:srgbClr val="172B3A"/>
                  </a:solidFill>
                  <a:latin typeface="+mn-lt"/>
                  <a:ea typeface="+mn-ea"/>
                  <a:cs typeface="+mn-cs"/>
                </a:rPr>
                <a:t>karşılanması.</a:t>
              </a:r>
            </a:p>
          </p:txBody>
        </p:sp>
        <p:sp>
          <p:nvSpPr>
            <p:cNvPr id="33" name="Line 33"/>
            <p:cNvSpPr/>
            <p:nvPr/>
          </p:nvSpPr>
          <p:spPr>
            <a:xfrm>
              <a:off x="7543800" y="36576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34" name="TextBox 34"/>
            <p:cNvSpPr txBox="1"/>
            <p:nvPr/>
          </p:nvSpPr>
          <p:spPr>
            <a:xfrm>
              <a:off x="7536942" y="3778568"/>
              <a:ext cx="267922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"Fat Controller" anti-deseni</a:t>
              </a:r>
            </a:p>
          </p:txBody>
        </p:sp>
        <p:sp>
          <p:nvSpPr>
            <p:cNvPr id="35" name="TextBox 35"/>
            <p:cNvSpPr txBox="1"/>
            <p:nvPr/>
          </p:nvSpPr>
          <p:spPr>
            <a:xfrm>
              <a:off x="7537704" y="4042410"/>
              <a:ext cx="30982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İş kuralı controller'a sızarsa Parnas'ın</a:t>
              </a:r>
              <a:br/>
              <a:r>
                <a:rPr lang="tr-TR" sz="1200" dirty="0">
                  <a:solidFill>
                    <a:srgbClr val="172B3A"/>
                  </a:solidFill>
                  <a:latin typeface="+mn-lt"/>
                  <a:ea typeface="+mn-ea"/>
                  <a:cs typeface="+mn-cs"/>
                </a:rPr>
                <a:t>bilgi gizleme ilkesi ihlal edilir; controller</a:t>
              </a:r>
              <a:br/>
              <a:r>
                <a:rPr lang="tr-TR" sz="1200" dirty="0">
                  <a:solidFill>
                    <a:srgbClr val="172B3A"/>
                  </a:solidFill>
                  <a:latin typeface="+mn-lt"/>
                  <a:ea typeface="+mn-ea"/>
                  <a:cs typeface="+mn-cs"/>
                </a:rPr>
                <a:t>"ince" (thin) tutulmalıdır.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537755" cy="668845"/>
            <a:chOff x="609600" y="171450"/>
            <a:chExt cx="1053775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8473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9.2: Controller doğrulaması ve hata yakalama</a:t>
              </a:r>
            </a:p>
          </p:txBody>
        </p:sp>
      </p:grpSp>
      <p:grpSp>
        <p:nvGrpSpPr>
          <p:cNvPr id="29" name="code-panel"/>
          <p:cNvGrpSpPr/>
          <p:nvPr/>
        </p:nvGrpSpPr>
        <p:grpSpPr>
          <a:xfrm>
            <a:off x="609600" y="1181100"/>
            <a:ext cx="6553200" cy="4381500"/>
            <a:chOff x="609600" y="1181100"/>
            <a:chExt cx="6553200" cy="4381500"/>
          </a:xfrm>
        </p:grpSpPr>
        <p:sp>
          <p:nvSpPr>
            <p:cNvPr id="12" name="Rectangle 12"/>
            <p:cNvSpPr/>
            <p:nvPr/>
          </p:nvSpPr>
          <p:spPr>
            <a:xfrm>
              <a:off x="609600" y="1181100"/>
              <a:ext cx="6553200" cy="4381500"/>
            </a:xfrm>
            <a:prstGeom prst="roundRect">
              <a:avLst>
                <a:gd name="adj" fmla="val 1739"/>
              </a:avLst>
            </a:prstGeom>
            <a:solidFill>
              <a:srgbClr val="12355B"/>
            </a:solidFill>
            <a:ln>
              <a:noFill/>
            </a:ln>
          </p:spPr>
        </p:sp>
        <p:sp>
          <p:nvSpPr>
            <p:cNvPr id="13" name="TextBox 13"/>
            <p:cNvSpPr txBox="1"/>
            <p:nvPr/>
          </p:nvSpPr>
          <p:spPr>
            <a:xfrm>
              <a:off x="831342" y="1340168"/>
              <a:ext cx="253028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OduncAlmaController {</a:t>
              </a:r>
            </a:p>
          </p:txBody>
        </p:sp>
        <p:sp>
          <p:nvSpPr>
            <p:cNvPr id="14" name="TextBox 14"/>
            <p:cNvSpPr txBox="1"/>
            <p:nvPr/>
          </p:nvSpPr>
          <p:spPr>
            <a:xfrm>
              <a:off x="831342" y="1587818"/>
              <a:ext cx="214356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oduncAl(istekGovdesi) {</a:t>
              </a:r>
            </a:p>
          </p:txBody>
        </p:sp>
        <p:sp>
          <p:nvSpPr>
            <p:cNvPr id="15" name="TextBox 15"/>
            <p:cNvSpPr txBox="1"/>
            <p:nvPr/>
          </p:nvSpPr>
          <p:spPr>
            <a:xfrm>
              <a:off x="831342" y="1873568"/>
              <a:ext cx="140400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if (!no || !kod) {</a:t>
              </a:r>
            </a:p>
          </p:txBody>
        </p:sp>
        <p:sp>
          <p:nvSpPr>
            <p:cNvPr id="16" name="TextBox 16"/>
            <p:cNvSpPr txBox="1"/>
            <p:nvPr/>
          </p:nvSpPr>
          <p:spPr>
            <a:xfrm>
              <a:off x="831342" y="2121218"/>
              <a:ext cx="232136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 durumKodu: 400,</a:t>
              </a:r>
            </a:p>
          </p:txBody>
        </p:sp>
        <p:sp>
          <p:nvSpPr>
            <p:cNvPr id="17" name="TextBox 17"/>
            <p:cNvSpPr txBox="1"/>
            <p:nvPr/>
          </p:nvSpPr>
          <p:spPr>
            <a:xfrm>
              <a:off x="831342" y="2368868"/>
              <a:ext cx="222917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govde: { mesaj: "Zorunlu</a:t>
              </a:r>
            </a:p>
          </p:txBody>
        </p:sp>
        <p:sp>
          <p:nvSpPr>
            <p:cNvPr id="18" name="TextBox 18"/>
            <p:cNvSpPr txBox="1"/>
            <p:nvPr/>
          </p:nvSpPr>
          <p:spPr>
            <a:xfrm>
              <a:off x="831342" y="2616518"/>
              <a:ext cx="1740218"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alanlar eksik." } };</a:t>
              </a:r>
            </a:p>
          </p:txBody>
        </p:sp>
        <p:sp>
          <p:nvSpPr>
            <p:cNvPr id="19" name="TextBox 19"/>
            <p:cNvSpPr txBox="1"/>
            <p:nvPr/>
          </p:nvSpPr>
          <p:spPr>
            <a:xfrm>
              <a:off x="831342" y="28641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20" name="TextBox 20"/>
            <p:cNvSpPr txBox="1"/>
            <p:nvPr/>
          </p:nvSpPr>
          <p:spPr>
            <a:xfrm>
              <a:off x="831342" y="3245168"/>
              <a:ext cx="468058"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try {</a:t>
              </a:r>
            </a:p>
          </p:txBody>
        </p:sp>
        <p:sp>
          <p:nvSpPr>
            <p:cNvPr id="21" name="TextBox 21"/>
            <p:cNvSpPr txBox="1"/>
            <p:nvPr/>
          </p:nvSpPr>
          <p:spPr>
            <a:xfrm>
              <a:off x="831342" y="3492818"/>
              <a:ext cx="121318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 mesaj =</a:t>
              </a:r>
            </a:p>
          </p:txBody>
        </p:sp>
        <p:sp>
          <p:nvSpPr>
            <p:cNvPr id="22" name="TextBox 22"/>
            <p:cNvSpPr txBox="1"/>
            <p:nvPr/>
          </p:nvSpPr>
          <p:spPr>
            <a:xfrm>
              <a:off x="831342" y="3740468"/>
              <a:ext cx="284290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service.oduncAl(istekGovdesi);</a:t>
              </a:r>
            </a:p>
          </p:txBody>
        </p:sp>
        <p:sp>
          <p:nvSpPr>
            <p:cNvPr id="23" name="TextBox 23"/>
            <p:cNvSpPr txBox="1"/>
            <p:nvPr/>
          </p:nvSpPr>
          <p:spPr>
            <a:xfrm>
              <a:off x="831342" y="3988118"/>
              <a:ext cx="232136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 durumKodu: 201,</a:t>
              </a:r>
            </a:p>
          </p:txBody>
        </p:sp>
        <p:sp>
          <p:nvSpPr>
            <p:cNvPr id="24" name="TextBox 24"/>
            <p:cNvSpPr txBox="1"/>
            <p:nvPr/>
          </p:nvSpPr>
          <p:spPr>
            <a:xfrm>
              <a:off x="831342" y="4235768"/>
              <a:ext cx="172204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govde: { mesaj } };</a:t>
              </a:r>
            </a:p>
          </p:txBody>
        </p:sp>
        <p:sp>
          <p:nvSpPr>
            <p:cNvPr id="25" name="TextBox 25"/>
            <p:cNvSpPr txBox="1"/>
            <p:nvPr/>
          </p:nvSpPr>
          <p:spPr>
            <a:xfrm>
              <a:off x="831342" y="4483418"/>
              <a:ext cx="1476699"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 catch (hata) {</a:t>
              </a:r>
            </a:p>
          </p:txBody>
        </p:sp>
        <p:sp>
          <p:nvSpPr>
            <p:cNvPr id="26" name="TextBox 26"/>
            <p:cNvSpPr txBox="1"/>
            <p:nvPr/>
          </p:nvSpPr>
          <p:spPr>
            <a:xfrm>
              <a:off x="831342" y="4731068"/>
              <a:ext cx="232136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 durumKodu: 400,</a:t>
              </a:r>
            </a:p>
          </p:txBody>
        </p:sp>
        <p:sp>
          <p:nvSpPr>
            <p:cNvPr id="27" name="TextBox 27"/>
            <p:cNvSpPr txBox="1"/>
            <p:nvPr/>
          </p:nvSpPr>
          <p:spPr>
            <a:xfrm>
              <a:off x="831342" y="4978718"/>
              <a:ext cx="311233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govde: { mesaj: hata.message } };</a:t>
              </a:r>
            </a:p>
          </p:txBody>
        </p:sp>
        <p:sp>
          <p:nvSpPr>
            <p:cNvPr id="28" name="TextBox 28"/>
            <p:cNvSpPr txBox="1"/>
            <p:nvPr/>
          </p:nvSpPr>
          <p:spPr>
            <a:xfrm>
              <a:off x="831342" y="52263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grpSp>
      <p:grpSp>
        <p:nvGrpSpPr>
          <p:cNvPr id="40" name="critical-lines"/>
          <p:cNvGrpSpPr/>
          <p:nvPr/>
        </p:nvGrpSpPr>
        <p:grpSpPr>
          <a:xfrm>
            <a:off x="7372350" y="1299210"/>
            <a:ext cx="3396996" cy="1834896"/>
            <a:chOff x="7372350" y="1299210"/>
            <a:chExt cx="3396996" cy="1834896"/>
          </a:xfrm>
        </p:grpSpPr>
        <p:sp>
          <p:nvSpPr>
            <p:cNvPr id="30" name="TextBox 30"/>
            <p:cNvSpPr txBox="1"/>
            <p:nvPr/>
          </p:nvSpPr>
          <p:spPr>
            <a:xfrm>
              <a:off x="7385304" y="1299210"/>
              <a:ext cx="16998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KRİTİK SATIRLAR</a:t>
              </a:r>
            </a:p>
          </p:txBody>
        </p:sp>
        <p:sp>
          <p:nvSpPr>
            <p:cNvPr id="31" name="Ellipse 31"/>
            <p:cNvSpPr/>
            <p:nvPr/>
          </p:nvSpPr>
          <p:spPr>
            <a:xfrm>
              <a:off x="7372350" y="1562100"/>
              <a:ext cx="228600" cy="228600"/>
            </a:xfrm>
            <a:prstGeom prst="ellipse">
              <a:avLst/>
            </a:prstGeom>
            <a:solidFill>
              <a:srgbClr val="12355B"/>
            </a:solidFill>
            <a:ln>
              <a:noFill/>
            </a:ln>
          </p:spPr>
        </p:sp>
        <p:sp>
          <p:nvSpPr>
            <p:cNvPr id="32" name="TextBox 32"/>
            <p:cNvSpPr txBox="1"/>
            <p:nvPr/>
          </p:nvSpPr>
          <p:spPr>
            <a:xfrm>
              <a:off x="7440501" y="16106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33" name="TextBox 33"/>
            <p:cNvSpPr txBox="1"/>
            <p:nvPr/>
          </p:nvSpPr>
          <p:spPr>
            <a:xfrm>
              <a:off x="7709154" y="1604010"/>
              <a:ext cx="29077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İlk if koşulu eksik alanda 400 ile</a:t>
              </a:r>
              <a:br/>
              <a:r>
                <a:rPr lang="tr-TR" sz="1200" dirty="0">
                  <a:solidFill>
                    <a:srgbClr val="172B3A"/>
                  </a:solidFill>
                  <a:latin typeface="+mn-lt"/>
                  <a:ea typeface="+mn-ea"/>
                  <a:cs typeface="+mn-cs"/>
                </a:rPr>
                <a:t>erken döner; bu biçim doğrulamasıdır.</a:t>
              </a:r>
            </a:p>
          </p:txBody>
        </p:sp>
        <p:sp>
          <p:nvSpPr>
            <p:cNvPr id="34" name="Ellipse 34"/>
            <p:cNvSpPr/>
            <p:nvPr/>
          </p:nvSpPr>
          <p:spPr>
            <a:xfrm>
              <a:off x="7372350" y="2114550"/>
              <a:ext cx="228600" cy="228600"/>
            </a:xfrm>
            <a:prstGeom prst="ellipse">
              <a:avLst/>
            </a:prstGeom>
            <a:solidFill>
              <a:srgbClr val="12355B"/>
            </a:solidFill>
            <a:ln>
              <a:noFill/>
            </a:ln>
          </p:spPr>
        </p:sp>
        <p:sp>
          <p:nvSpPr>
            <p:cNvPr id="35" name="TextBox 35"/>
            <p:cNvSpPr txBox="1"/>
            <p:nvPr/>
          </p:nvSpPr>
          <p:spPr>
            <a:xfrm>
              <a:off x="7440501" y="216312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36" name="TextBox 36"/>
            <p:cNvSpPr txBox="1"/>
            <p:nvPr/>
          </p:nvSpPr>
          <p:spPr>
            <a:xfrm>
              <a:off x="7709154" y="2156460"/>
              <a:ext cx="3060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try bloğu service'i çağırır; başarılıysa</a:t>
              </a:r>
              <a:br/>
              <a:r>
                <a:rPr lang="tr-TR" sz="1200" dirty="0">
                  <a:solidFill>
                    <a:srgbClr val="172B3A"/>
                  </a:solidFill>
                  <a:latin typeface="+mn-lt"/>
                  <a:ea typeface="+mn-ea"/>
                  <a:cs typeface="+mn-cs"/>
                </a:rPr>
                <a:t>201 durum kodu üretir.</a:t>
              </a:r>
            </a:p>
          </p:txBody>
        </p:sp>
        <p:sp>
          <p:nvSpPr>
            <p:cNvPr id="37" name="Ellipse 37"/>
            <p:cNvSpPr/>
            <p:nvPr/>
          </p:nvSpPr>
          <p:spPr>
            <a:xfrm>
              <a:off x="7372350" y="2667000"/>
              <a:ext cx="228600" cy="228600"/>
            </a:xfrm>
            <a:prstGeom prst="ellipse">
              <a:avLst/>
            </a:prstGeom>
            <a:solidFill>
              <a:srgbClr val="12355B"/>
            </a:solidFill>
            <a:ln>
              <a:noFill/>
            </a:ln>
          </p:spPr>
        </p:sp>
        <p:sp>
          <p:nvSpPr>
            <p:cNvPr id="38" name="TextBox 38"/>
            <p:cNvSpPr txBox="1"/>
            <p:nvPr/>
          </p:nvSpPr>
          <p:spPr>
            <a:xfrm>
              <a:off x="7440501" y="27155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39" name="TextBox 39"/>
            <p:cNvSpPr txBox="1"/>
            <p:nvPr/>
          </p:nvSpPr>
          <p:spPr>
            <a:xfrm>
              <a:off x="7709154" y="2708910"/>
              <a:ext cx="3060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catch bloğu service'in fırlattığı hatayı</a:t>
              </a:r>
              <a:br/>
              <a:r>
                <a:rPr lang="tr-TR" sz="1200" dirty="0">
                  <a:solidFill>
                    <a:srgbClr val="172B3A"/>
                  </a:solidFill>
                  <a:latin typeface="+mn-lt"/>
                  <a:ea typeface="+mn-ea"/>
                  <a:cs typeface="+mn-cs"/>
                </a:rPr>
                <a:t>400 durum kodlu yanıta çevirir.</a:t>
              </a:r>
            </a:p>
          </p:txBody>
        </p:sp>
      </p:grpSp>
      <p:grpSp>
        <p:nvGrpSpPr>
          <p:cNvPr id="45" name="caution-note"/>
          <p:cNvGrpSpPr/>
          <p:nvPr/>
        </p:nvGrpSpPr>
        <p:grpSpPr>
          <a:xfrm>
            <a:off x="7391400" y="4000500"/>
            <a:ext cx="4191000" cy="1562100"/>
            <a:chOff x="7391400" y="4000500"/>
            <a:chExt cx="4191000" cy="1562100"/>
          </a:xfrm>
        </p:grpSpPr>
        <p:sp>
          <p:nvSpPr>
            <p:cNvPr id="41" name="Rectangle 41"/>
            <p:cNvSpPr/>
            <p:nvPr/>
          </p:nvSpPr>
          <p:spPr>
            <a:xfrm>
              <a:off x="7391400" y="4000500"/>
              <a:ext cx="4191000" cy="1562100"/>
            </a:xfrm>
            <a:prstGeom prst="roundRect">
              <a:avLst>
                <a:gd name="adj" fmla="val 4878"/>
              </a:avLst>
            </a:prstGeom>
            <a:solidFill>
              <a:srgbClr val="EAF4F6"/>
            </a:solidFill>
            <a:ln>
              <a:noFill/>
            </a:ln>
          </p:spPr>
        </p:sp>
        <p:sp>
          <p:nvSpPr>
            <p:cNvPr id="42" name="Rectangle 42"/>
            <p:cNvSpPr/>
            <p:nvPr/>
          </p:nvSpPr>
          <p:spPr>
            <a:xfrm>
              <a:off x="7391400" y="4000500"/>
              <a:ext cx="57150" cy="1562100"/>
            </a:xfrm>
            <a:prstGeom prst="rect">
              <a:avLst/>
            </a:prstGeom>
            <a:solidFill>
              <a:srgbClr val="00A6A6"/>
            </a:solidFill>
            <a:ln>
              <a:noFill/>
            </a:ln>
          </p:spPr>
        </p:sp>
        <p:sp>
          <p:nvSpPr>
            <p:cNvPr id="43" name="TextBox 43"/>
            <p:cNvSpPr txBox="1"/>
            <p:nvPr/>
          </p:nvSpPr>
          <p:spPr>
            <a:xfrm>
              <a:off x="7613904" y="4175760"/>
              <a:ext cx="161580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DİKKAT NOKTASI</a:t>
              </a:r>
            </a:p>
          </p:txBody>
        </p:sp>
        <p:sp>
          <p:nvSpPr>
            <p:cNvPr id="44" name="TextBox 44"/>
            <p:cNvSpPr txBox="1"/>
            <p:nvPr/>
          </p:nvSpPr>
          <p:spPr>
            <a:xfrm>
              <a:off x="7613142" y="4445318"/>
              <a:ext cx="3442716"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Controller hangi iş kuralının ihlal</a:t>
              </a:r>
              <a:br/>
              <a:r>
                <a:rPr lang="tr-TR" sz="1350" dirty="0">
                  <a:solidFill>
                    <a:srgbClr val="172B3A"/>
                  </a:solidFill>
                  <a:latin typeface="+mn-lt"/>
                  <a:ea typeface="+mn-ea"/>
                  <a:cs typeface="+mn-cs"/>
                </a:rPr>
                <a:t>edildiğini bilmez; yalnızca service'in</a:t>
              </a:r>
              <a:br/>
              <a:r>
                <a:rPr lang="tr-TR" sz="1350" dirty="0">
                  <a:solidFill>
                    <a:srgbClr val="172B3A"/>
                  </a:solidFill>
                  <a:latin typeface="+mn-lt"/>
                  <a:ea typeface="+mn-ea"/>
                  <a:cs typeface="+mn-cs"/>
                </a:rPr>
                <a:t>fırlattığı hatayı genel bir 400 yanıtına</a:t>
              </a:r>
              <a:br/>
              <a:r>
                <a:rPr lang="tr-TR" sz="1350" dirty="0">
                  <a:solidFill>
                    <a:srgbClr val="172B3A"/>
                  </a:solidFill>
                  <a:latin typeface="+mn-lt"/>
                  <a:ea typeface="+mn-ea"/>
                  <a:cs typeface="+mn-cs"/>
                </a:rPr>
                <a:t>çevirir.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957990" cy="668845"/>
            <a:chOff x="609600" y="171450"/>
            <a:chExt cx="995799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2676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Controller: komşu kavramlar ve yaygın hatalar</a:t>
              </a:r>
            </a:p>
          </p:txBody>
        </p:sp>
      </p:grpSp>
      <p:grpSp>
        <p:nvGrpSpPr>
          <p:cNvPr id="16" name="alt-header"/>
          <p:cNvGrpSpPr/>
          <p:nvPr/>
        </p:nvGrpSpPr>
        <p:grpSpPr>
          <a:xfrm>
            <a:off x="609600" y="1181100"/>
            <a:ext cx="10972800" cy="381000"/>
            <a:chOff x="609600" y="1181100"/>
            <a:chExt cx="10972800" cy="381000"/>
          </a:xfrm>
        </p:grpSpPr>
        <p:sp>
          <p:nvSpPr>
            <p:cNvPr id="12" name="Rectangle 12"/>
            <p:cNvSpPr/>
            <p:nvPr/>
          </p:nvSpPr>
          <p:spPr>
            <a:xfrm>
              <a:off x="609600" y="1181100"/>
              <a:ext cx="10972800" cy="381000"/>
            </a:xfrm>
            <a:prstGeom prst="rect">
              <a:avLst/>
            </a:prstGeom>
            <a:solidFill>
              <a:srgbClr val="12355B"/>
            </a:solidFill>
            <a:ln>
              <a:noFill/>
            </a:ln>
          </p:spPr>
        </p:sp>
        <p:sp>
          <p:nvSpPr>
            <p:cNvPr id="13" name="TextBox 13"/>
            <p:cNvSpPr txBox="1"/>
            <p:nvPr/>
          </p:nvSpPr>
          <p:spPr>
            <a:xfrm>
              <a:off x="755904" y="129921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KAVRAM</a:t>
              </a:r>
            </a:p>
          </p:txBody>
        </p:sp>
        <p:sp>
          <p:nvSpPr>
            <p:cNvPr id="14" name="TextBox 14"/>
            <p:cNvSpPr txBox="1"/>
            <p:nvPr/>
          </p:nvSpPr>
          <p:spPr>
            <a:xfrm>
              <a:off x="3422904" y="1299210"/>
              <a:ext cx="656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GÖREVİ</a:t>
              </a:r>
            </a:p>
          </p:txBody>
        </p:sp>
        <p:sp>
          <p:nvSpPr>
            <p:cNvPr id="15" name="TextBox 15"/>
            <p:cNvSpPr txBox="1"/>
            <p:nvPr/>
          </p:nvSpPr>
          <p:spPr>
            <a:xfrm>
              <a:off x="7042404" y="1299210"/>
              <a:ext cx="2168408"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CONTROLLER'DAN FARKI</a:t>
              </a:r>
            </a:p>
          </p:txBody>
        </p:sp>
      </p:grpSp>
      <p:grpSp>
        <p:nvGrpSpPr>
          <p:cNvPr id="21" name="alt-row1"/>
          <p:cNvGrpSpPr/>
          <p:nvPr/>
        </p:nvGrpSpPr>
        <p:grpSpPr>
          <a:xfrm>
            <a:off x="609600" y="1699260"/>
            <a:ext cx="10972800" cy="329565"/>
            <a:chOff x="609600" y="1699260"/>
            <a:chExt cx="10972800" cy="329565"/>
          </a:xfrm>
        </p:grpSpPr>
        <p:sp>
          <p:nvSpPr>
            <p:cNvPr id="17" name="TextBox 17"/>
            <p:cNvSpPr txBox="1"/>
            <p:nvPr/>
          </p:nvSpPr>
          <p:spPr>
            <a:xfrm>
              <a:off x="755904" y="169926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Route</a:t>
              </a:r>
            </a:p>
          </p:txBody>
        </p:sp>
        <p:sp>
          <p:nvSpPr>
            <p:cNvPr id="18" name="TextBox 18"/>
            <p:cNvSpPr txBox="1"/>
            <p:nvPr/>
          </p:nvSpPr>
          <p:spPr>
            <a:xfrm>
              <a:off x="3423285" y="1707356"/>
              <a:ext cx="193877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URL ile işleyiciyi eşleştirir</a:t>
              </a:r>
            </a:p>
          </p:txBody>
        </p:sp>
        <p:sp>
          <p:nvSpPr>
            <p:cNvPr id="19" name="TextBox 19"/>
            <p:cNvSpPr txBox="1"/>
            <p:nvPr/>
          </p:nvSpPr>
          <p:spPr>
            <a:xfrm>
              <a:off x="7042785" y="1707356"/>
              <a:ext cx="276793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İş akışını yönetmek zorunda değildir</a:t>
              </a:r>
            </a:p>
          </p:txBody>
        </p:sp>
        <p:sp>
          <p:nvSpPr>
            <p:cNvPr id="20" name="Line 20"/>
            <p:cNvSpPr/>
            <p:nvPr/>
          </p:nvSpPr>
          <p:spPr>
            <a:xfrm>
              <a:off x="609600" y="2019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alt-row2"/>
          <p:cNvGrpSpPr/>
          <p:nvPr/>
        </p:nvGrpSpPr>
        <p:grpSpPr>
          <a:xfrm>
            <a:off x="609600" y="2019300"/>
            <a:ext cx="10972800" cy="466725"/>
            <a:chOff x="609600" y="2019300"/>
            <a:chExt cx="10972800" cy="466725"/>
          </a:xfrm>
        </p:grpSpPr>
        <p:sp>
          <p:nvSpPr>
            <p:cNvPr id="22" name="Rectangle 22"/>
            <p:cNvSpPr/>
            <p:nvPr/>
          </p:nvSpPr>
          <p:spPr>
            <a:xfrm>
              <a:off x="609600" y="2019300"/>
              <a:ext cx="10972800" cy="457200"/>
            </a:xfrm>
            <a:prstGeom prst="rect">
              <a:avLst/>
            </a:prstGeom>
            <a:solidFill>
              <a:srgbClr val="EAF4F6"/>
            </a:solidFill>
            <a:ln>
              <a:noFill/>
            </a:ln>
          </p:spPr>
        </p:sp>
        <p:sp>
          <p:nvSpPr>
            <p:cNvPr id="23" name="TextBox 23"/>
            <p:cNvSpPr txBox="1"/>
            <p:nvPr/>
          </p:nvSpPr>
          <p:spPr>
            <a:xfrm>
              <a:off x="755904" y="2156460"/>
              <a:ext cx="9333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Middleware</a:t>
              </a:r>
            </a:p>
          </p:txBody>
        </p:sp>
        <p:sp>
          <p:nvSpPr>
            <p:cNvPr id="24" name="TextBox 24"/>
            <p:cNvSpPr txBox="1"/>
            <p:nvPr/>
          </p:nvSpPr>
          <p:spPr>
            <a:xfrm>
              <a:off x="3423285" y="2164556"/>
              <a:ext cx="2096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Ortak teknik işlemleri yapar</a:t>
              </a:r>
            </a:p>
          </p:txBody>
        </p:sp>
        <p:sp>
          <p:nvSpPr>
            <p:cNvPr id="25" name="TextBox 25"/>
            <p:cNvSpPr txBox="1"/>
            <p:nvPr/>
          </p:nvSpPr>
          <p:spPr>
            <a:xfrm>
              <a:off x="7042785" y="2164556"/>
              <a:ext cx="195326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Belirli iş isteğini yönetmez</a:t>
              </a:r>
            </a:p>
          </p:txBody>
        </p:sp>
        <p:sp>
          <p:nvSpPr>
            <p:cNvPr id="26" name="Line 26"/>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alt-row3"/>
          <p:cNvGrpSpPr/>
          <p:nvPr/>
        </p:nvGrpSpPr>
        <p:grpSpPr>
          <a:xfrm>
            <a:off x="609600" y="2613660"/>
            <a:ext cx="10972800" cy="329565"/>
            <a:chOff x="609600" y="2613660"/>
            <a:chExt cx="10972800" cy="329565"/>
          </a:xfrm>
        </p:grpSpPr>
        <p:sp>
          <p:nvSpPr>
            <p:cNvPr id="28" name="TextBox 28"/>
            <p:cNvSpPr txBox="1"/>
            <p:nvPr/>
          </p:nvSpPr>
          <p:spPr>
            <a:xfrm>
              <a:off x="755904" y="2613660"/>
              <a:ext cx="86509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Controller</a:t>
              </a:r>
            </a:p>
          </p:txBody>
        </p:sp>
        <p:sp>
          <p:nvSpPr>
            <p:cNvPr id="29" name="TextBox 29"/>
            <p:cNvSpPr txBox="1"/>
            <p:nvPr/>
          </p:nvSpPr>
          <p:spPr>
            <a:xfrm>
              <a:off x="3423285" y="2621756"/>
              <a:ext cx="29875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İsteği DTO'ya dönüştürür, yanıt üretir</a:t>
              </a:r>
            </a:p>
          </p:txBody>
        </p:sp>
        <p:sp>
          <p:nvSpPr>
            <p:cNvPr id="30" name="TextBox 30"/>
            <p:cNvSpPr txBox="1"/>
            <p:nvPr/>
          </p:nvSpPr>
          <p:spPr>
            <a:xfrm>
              <a:off x="7042785" y="2621756"/>
              <a:ext cx="247402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Uç nokta davranışını temsil eder</a:t>
              </a:r>
            </a:p>
          </p:txBody>
        </p:sp>
        <p:sp>
          <p:nvSpPr>
            <p:cNvPr id="31" name="Line 31"/>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4"/>
          <p:cNvGrpSpPr/>
          <p:nvPr/>
        </p:nvGrpSpPr>
        <p:grpSpPr>
          <a:xfrm>
            <a:off x="609600" y="2933700"/>
            <a:ext cx="10972800" cy="457200"/>
            <a:chOff x="609600" y="2933700"/>
            <a:chExt cx="10972800" cy="457200"/>
          </a:xfrm>
        </p:grpSpPr>
        <p:sp>
          <p:nvSpPr>
            <p:cNvPr id="33" name="Rectangle 33"/>
            <p:cNvSpPr/>
            <p:nvPr/>
          </p:nvSpPr>
          <p:spPr>
            <a:xfrm>
              <a:off x="609600" y="2933700"/>
              <a:ext cx="10972800" cy="457200"/>
            </a:xfrm>
            <a:prstGeom prst="rect">
              <a:avLst/>
            </a:prstGeom>
            <a:solidFill>
              <a:srgbClr val="EAF4F6"/>
            </a:solidFill>
            <a:ln>
              <a:noFill/>
            </a:ln>
          </p:spPr>
        </p:sp>
        <p:sp>
          <p:nvSpPr>
            <p:cNvPr id="34" name="TextBox 34"/>
            <p:cNvSpPr txBox="1"/>
            <p:nvPr/>
          </p:nvSpPr>
          <p:spPr>
            <a:xfrm>
              <a:off x="755904" y="3070860"/>
              <a:ext cx="62776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Service</a:t>
              </a:r>
            </a:p>
          </p:txBody>
        </p:sp>
        <p:sp>
          <p:nvSpPr>
            <p:cNvPr id="35" name="TextBox 35"/>
            <p:cNvSpPr txBox="1"/>
            <p:nvPr/>
          </p:nvSpPr>
          <p:spPr>
            <a:xfrm>
              <a:off x="3423285" y="3078956"/>
              <a:ext cx="144099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İş kuralını uygular</a:t>
              </a:r>
            </a:p>
          </p:txBody>
        </p:sp>
        <p:sp>
          <p:nvSpPr>
            <p:cNvPr id="36" name="TextBox 36"/>
            <p:cNvSpPr txBox="1"/>
            <p:nvPr/>
          </p:nvSpPr>
          <p:spPr>
            <a:xfrm>
              <a:off x="7042785" y="3078956"/>
              <a:ext cx="165156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HTTP ayrıntısı bilmez</a:t>
              </a:r>
            </a:p>
          </p:txBody>
        </p:sp>
      </p:grpSp>
      <p:grpSp>
        <p:nvGrpSpPr>
          <p:cNvPr id="40" name="usage-note"/>
          <p:cNvGrpSpPr/>
          <p:nvPr/>
        </p:nvGrpSpPr>
        <p:grpSpPr>
          <a:xfrm>
            <a:off x="601599" y="3678079"/>
            <a:ext cx="8396366" cy="574739"/>
            <a:chOff x="601599" y="3678079"/>
            <a:chExt cx="8396366" cy="574739"/>
          </a:xfrm>
        </p:grpSpPr>
        <p:sp>
          <p:nvSpPr>
            <p:cNvPr id="38" name="TextBox 38"/>
            <p:cNvSpPr txBox="1"/>
            <p:nvPr/>
          </p:nvSpPr>
          <p:spPr>
            <a:xfrm>
              <a:off x="601599" y="3678079"/>
              <a:ext cx="80735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Controller doğrulaması, alanın boş olması veya beklenen türde gelmemesi gibi</a:t>
              </a:r>
            </a:p>
          </p:txBody>
        </p:sp>
        <p:sp>
          <p:nvSpPr>
            <p:cNvPr id="39" name="TextBox 39"/>
            <p:cNvSpPr txBox="1"/>
            <p:nvPr/>
          </p:nvSpPr>
          <p:spPr>
            <a:xfrm>
              <a:off x="601599" y="3944779"/>
              <a:ext cx="839636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taşıma katmanı sorunlarında tercih edilir; iş kuralı sorunları service'e aittir.</a:t>
              </a:r>
            </a:p>
          </p:txBody>
        </p:sp>
      </p:grpSp>
      <p:grpSp>
        <p:nvGrpSpPr>
          <p:cNvPr id="47" name="common-errors"/>
          <p:cNvGrpSpPr/>
          <p:nvPr/>
        </p:nvGrpSpPr>
        <p:grpSpPr>
          <a:xfrm>
            <a:off x="609600" y="4438650"/>
            <a:ext cx="10972800" cy="1790700"/>
            <a:chOff x="609600" y="4438650"/>
            <a:chExt cx="10972800" cy="1790700"/>
          </a:xfrm>
        </p:grpSpPr>
        <p:sp>
          <p:nvSpPr>
            <p:cNvPr id="41" name="Rectangle 41"/>
            <p:cNvSpPr/>
            <p:nvPr/>
          </p:nvSpPr>
          <p:spPr>
            <a:xfrm>
              <a:off x="609600" y="4438650"/>
              <a:ext cx="10972800" cy="1790700"/>
            </a:xfrm>
            <a:prstGeom prst="roundRect">
              <a:avLst>
                <a:gd name="adj" fmla="val 4255"/>
              </a:avLst>
            </a:prstGeom>
            <a:solidFill>
              <a:srgbClr val="EAF4F6"/>
            </a:solidFill>
            <a:ln>
              <a:noFill/>
            </a:ln>
          </p:spPr>
        </p:sp>
        <p:sp>
          <p:nvSpPr>
            <p:cNvPr id="42" name="Rectangle 42"/>
            <p:cNvSpPr/>
            <p:nvPr/>
          </p:nvSpPr>
          <p:spPr>
            <a:xfrm>
              <a:off x="609600" y="4438650"/>
              <a:ext cx="57150" cy="1790700"/>
            </a:xfrm>
            <a:prstGeom prst="rect">
              <a:avLst/>
            </a:prstGeom>
            <a:solidFill>
              <a:srgbClr val="00A6A6"/>
            </a:solidFill>
            <a:ln>
              <a:noFill/>
            </a:ln>
          </p:spPr>
        </p:sp>
        <p:sp>
          <p:nvSpPr>
            <p:cNvPr id="43" name="TextBox 43"/>
            <p:cNvSpPr txBox="1"/>
            <p:nvPr/>
          </p:nvSpPr>
          <p:spPr>
            <a:xfrm>
              <a:off x="908304" y="4613910"/>
              <a:ext cx="1579961"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YAYGIN HATALAR</a:t>
              </a:r>
            </a:p>
          </p:txBody>
        </p:sp>
        <p:sp>
          <p:nvSpPr>
            <p:cNvPr id="44" name="TextBox 44"/>
            <p:cNvSpPr txBox="1"/>
            <p:nvPr/>
          </p:nvSpPr>
          <p:spPr>
            <a:xfrm>
              <a:off x="907542" y="4883468"/>
              <a:ext cx="699858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Controller içinde "öğrencinin limiti dolu mu?" gibi iş kuralı kontrolü yapmak.</a:t>
              </a:r>
            </a:p>
          </p:txBody>
        </p:sp>
        <p:sp>
          <p:nvSpPr>
            <p:cNvPr id="45" name="TextBox 45"/>
            <p:cNvSpPr txBox="1"/>
            <p:nvPr/>
          </p:nvSpPr>
          <p:spPr>
            <a:xfrm>
              <a:off x="907542" y="5207318"/>
              <a:ext cx="469080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Controller'ın repository'yi doğrudan çağırması.</a:t>
              </a:r>
            </a:p>
          </p:txBody>
        </p:sp>
        <p:sp>
          <p:nvSpPr>
            <p:cNvPr id="46" name="TextBox 46"/>
            <p:cNvSpPr txBox="1"/>
            <p:nvPr/>
          </p:nvSpPr>
          <p:spPr>
            <a:xfrm>
              <a:off x="907542" y="5531168"/>
              <a:ext cx="786200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Hata ayrıntılarını (ör. veritabanı bağlantı metni) istemciye olduğu gibi göndermek.</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875675" cy="668845"/>
            <a:chOff x="609600" y="171450"/>
            <a:chExt cx="687567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18530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Service katmanı ve iş kuralları</a:t>
              </a:r>
            </a:p>
          </p:txBody>
        </p:sp>
      </p:grpSp>
      <p:grpSp>
        <p:nvGrpSpPr>
          <p:cNvPr id="24" name="service-icon"/>
          <p:cNvGrpSpPr/>
          <p:nvPr/>
        </p:nvGrpSpPr>
        <p:grpSpPr>
          <a:xfrm>
            <a:off x="676274" y="1285874"/>
            <a:ext cx="400044" cy="400044"/>
            <a:chOff x="676274" y="1285874"/>
            <a:chExt cx="400044" cy="400044"/>
          </a:xfrm>
        </p:grpSpPr>
        <p:grpSp>
          <p:nvGrpSpPr>
            <p:cNvPr id="23" name="icon-service"/>
            <p:cNvGrpSpPr/>
            <p:nvPr/>
          </p:nvGrpSpPr>
          <p:grpSpPr>
            <a:xfrm>
              <a:off x="676274" y="1285874"/>
              <a:ext cx="400044" cy="400044"/>
              <a:chOff x="676274" y="1285874"/>
              <a:chExt cx="400044" cy="400044"/>
            </a:xfrm>
          </p:grpSpPr>
          <p:sp>
            <p:nvSpPr>
              <p:cNvPr id="13" name="Freeform 13"/>
              <p:cNvSpPr/>
              <p:nvPr/>
            </p:nvSpPr>
            <p:spPr>
              <a:xfrm>
                <a:off x="720723" y="1330323"/>
                <a:ext cx="311146" cy="311146"/>
              </a:xfrm>
              <a:custGeom>
                <a:avLst/>
                <a:gdLst/>
                <a:ahLst/>
                <a:cxnLst/>
                <a:rect l="l" t="t" r="r" b="b"/>
                <a:pathLst>
                  <a:path w="311146" h="311146">
                    <a:moveTo>
                      <a:pt x="0" y="22225"/>
                    </a:moveTo>
                    <a:cubicBezTo>
                      <a:pt x="0" y="9950"/>
                      <a:pt x="9950" y="0"/>
                      <a:pt x="22225" y="0"/>
                    </a:cubicBezTo>
                    <a:lnTo>
                      <a:pt x="288921" y="0"/>
                    </a:lnTo>
                    <a:cubicBezTo>
                      <a:pt x="301195" y="0"/>
                      <a:pt x="311146" y="9950"/>
                      <a:pt x="311146" y="22225"/>
                    </a:cubicBezTo>
                    <a:lnTo>
                      <a:pt x="311146" y="288921"/>
                    </a:lnTo>
                    <a:cubicBezTo>
                      <a:pt x="311146" y="301195"/>
                      <a:pt x="301195" y="311146"/>
                      <a:pt x="288921" y="311146"/>
                    </a:cubicBezTo>
                    <a:lnTo>
                      <a:pt x="22225" y="311146"/>
                    </a:lnTo>
                    <a:cubicBezTo>
                      <a:pt x="9950" y="311146"/>
                      <a:pt x="0" y="301195"/>
                      <a:pt x="0" y="288921"/>
                    </a:cubicBezTo>
                    <a:lnTo>
                      <a:pt x="0" y="22225"/>
                    </a:lnTo>
                  </a:path>
                </a:pathLst>
              </a:custGeom>
              <a:noFill/>
              <a:ln w="19047" cap="rnd">
                <a:solidFill>
                  <a:srgbClr val="12355B"/>
                </a:solidFill>
                <a:round/>
              </a:ln>
            </p:spPr>
          </p:sp>
          <p:sp>
            <p:nvSpPr>
              <p:cNvPr id="14" name="Freeform 14"/>
              <p:cNvSpPr/>
              <p:nvPr/>
            </p:nvSpPr>
            <p:spPr>
              <a:xfrm>
                <a:off x="809622" y="1419222"/>
                <a:ext cx="133348" cy="133348"/>
              </a:xfrm>
              <a:custGeom>
                <a:avLst/>
                <a:gdLst/>
                <a:ahLst/>
                <a:cxnLst/>
                <a:rect l="l" t="t" r="r" b="b"/>
                <a:pathLst>
                  <a:path w="133348" h="133348">
                    <a:moveTo>
                      <a:pt x="0" y="0"/>
                    </a:moveTo>
                    <a:lnTo>
                      <a:pt x="133348" y="0"/>
                    </a:lnTo>
                    <a:lnTo>
                      <a:pt x="133348" y="133348"/>
                    </a:lnTo>
                    <a:lnTo>
                      <a:pt x="0" y="133348"/>
                    </a:lnTo>
                    <a:lnTo>
                      <a:pt x="0" y="0"/>
                    </a:lnTo>
                  </a:path>
                </a:pathLst>
              </a:custGeom>
              <a:noFill/>
              <a:ln w="19047" cap="rnd">
                <a:solidFill>
                  <a:srgbClr val="12355B"/>
                </a:solidFill>
                <a:round/>
              </a:ln>
            </p:spPr>
          </p:sp>
          <p:sp>
            <p:nvSpPr>
              <p:cNvPr id="15" name="Freeform 15"/>
              <p:cNvSpPr/>
              <p:nvPr/>
            </p:nvSpPr>
            <p:spPr>
              <a:xfrm>
                <a:off x="676274" y="1441447"/>
                <a:ext cx="44449" cy="9525"/>
              </a:xfrm>
              <a:custGeom>
                <a:avLst/>
                <a:gdLst/>
                <a:ahLst/>
                <a:cxnLst/>
                <a:rect l="l" t="t" r="r" b="b"/>
                <a:pathLst>
                  <a:path w="44449" h="9525">
                    <a:moveTo>
                      <a:pt x="0" y="0"/>
                    </a:moveTo>
                    <a:lnTo>
                      <a:pt x="44449" y="0"/>
                    </a:lnTo>
                  </a:path>
                </a:pathLst>
              </a:custGeom>
              <a:noFill/>
              <a:ln w="19047" cap="rnd">
                <a:solidFill>
                  <a:srgbClr val="12355B"/>
                </a:solidFill>
                <a:round/>
              </a:ln>
            </p:spPr>
          </p:sp>
          <p:sp>
            <p:nvSpPr>
              <p:cNvPr id="16" name="Freeform 16"/>
              <p:cNvSpPr/>
              <p:nvPr/>
            </p:nvSpPr>
            <p:spPr>
              <a:xfrm>
                <a:off x="676274" y="1530346"/>
                <a:ext cx="44449" cy="9525"/>
              </a:xfrm>
              <a:custGeom>
                <a:avLst/>
                <a:gdLst/>
                <a:ahLst/>
                <a:cxnLst/>
                <a:rect l="l" t="t" r="r" b="b"/>
                <a:pathLst>
                  <a:path w="44449" h="9525">
                    <a:moveTo>
                      <a:pt x="0" y="0"/>
                    </a:moveTo>
                    <a:lnTo>
                      <a:pt x="44449" y="0"/>
                    </a:lnTo>
                  </a:path>
                </a:pathLst>
              </a:custGeom>
              <a:noFill/>
              <a:ln w="19047" cap="rnd">
                <a:solidFill>
                  <a:srgbClr val="12355B"/>
                </a:solidFill>
                <a:round/>
              </a:ln>
            </p:spPr>
          </p:sp>
          <p:sp>
            <p:nvSpPr>
              <p:cNvPr id="17" name="Freeform 17"/>
              <p:cNvSpPr/>
              <p:nvPr/>
            </p:nvSpPr>
            <p:spPr>
              <a:xfrm>
                <a:off x="831847" y="1285874"/>
                <a:ext cx="9525" cy="44449"/>
              </a:xfrm>
              <a:custGeom>
                <a:avLst/>
                <a:gdLst/>
                <a:ahLst/>
                <a:cxnLst/>
                <a:rect l="l" t="t" r="r" b="b"/>
                <a:pathLst>
                  <a:path w="9525" h="44449">
                    <a:moveTo>
                      <a:pt x="0" y="0"/>
                    </a:moveTo>
                    <a:lnTo>
                      <a:pt x="0" y="44449"/>
                    </a:lnTo>
                  </a:path>
                </a:pathLst>
              </a:custGeom>
              <a:noFill/>
              <a:ln w="19047" cap="rnd">
                <a:solidFill>
                  <a:srgbClr val="12355B"/>
                </a:solidFill>
                <a:round/>
              </a:ln>
            </p:spPr>
          </p:sp>
          <p:sp>
            <p:nvSpPr>
              <p:cNvPr id="18" name="Freeform 18"/>
              <p:cNvSpPr/>
              <p:nvPr/>
            </p:nvSpPr>
            <p:spPr>
              <a:xfrm>
                <a:off x="920746" y="1285874"/>
                <a:ext cx="9525" cy="44449"/>
              </a:xfrm>
              <a:custGeom>
                <a:avLst/>
                <a:gdLst/>
                <a:ahLst/>
                <a:cxnLst/>
                <a:rect l="l" t="t" r="r" b="b"/>
                <a:pathLst>
                  <a:path w="9525" h="44449">
                    <a:moveTo>
                      <a:pt x="0" y="0"/>
                    </a:moveTo>
                    <a:lnTo>
                      <a:pt x="0" y="44449"/>
                    </a:lnTo>
                  </a:path>
                </a:pathLst>
              </a:custGeom>
              <a:noFill/>
              <a:ln w="19047" cap="rnd">
                <a:solidFill>
                  <a:srgbClr val="12355B"/>
                </a:solidFill>
                <a:round/>
              </a:ln>
            </p:spPr>
          </p:sp>
          <p:sp>
            <p:nvSpPr>
              <p:cNvPr id="19" name="Freeform 19"/>
              <p:cNvSpPr/>
              <p:nvPr/>
            </p:nvSpPr>
            <p:spPr>
              <a:xfrm>
                <a:off x="1031869" y="1441447"/>
                <a:ext cx="44449" cy="9525"/>
              </a:xfrm>
              <a:custGeom>
                <a:avLst/>
                <a:gdLst/>
                <a:ahLst/>
                <a:cxnLst/>
                <a:rect l="l" t="t" r="r" b="b"/>
                <a:pathLst>
                  <a:path w="44449" h="9525">
                    <a:moveTo>
                      <a:pt x="44449" y="0"/>
                    </a:moveTo>
                    <a:lnTo>
                      <a:pt x="0" y="0"/>
                    </a:lnTo>
                  </a:path>
                </a:pathLst>
              </a:custGeom>
              <a:noFill/>
              <a:ln w="19047" cap="rnd">
                <a:solidFill>
                  <a:srgbClr val="12355B"/>
                </a:solidFill>
                <a:round/>
              </a:ln>
            </p:spPr>
          </p:sp>
          <p:sp>
            <p:nvSpPr>
              <p:cNvPr id="20" name="Freeform 20"/>
              <p:cNvSpPr/>
              <p:nvPr/>
            </p:nvSpPr>
            <p:spPr>
              <a:xfrm>
                <a:off x="1031869" y="1530346"/>
                <a:ext cx="44449" cy="9525"/>
              </a:xfrm>
              <a:custGeom>
                <a:avLst/>
                <a:gdLst/>
                <a:ahLst/>
                <a:cxnLst/>
                <a:rect l="l" t="t" r="r" b="b"/>
                <a:pathLst>
                  <a:path w="44449" h="9525">
                    <a:moveTo>
                      <a:pt x="44449" y="0"/>
                    </a:moveTo>
                    <a:lnTo>
                      <a:pt x="0" y="0"/>
                    </a:lnTo>
                  </a:path>
                </a:pathLst>
              </a:custGeom>
              <a:noFill/>
              <a:ln w="19047" cap="rnd">
                <a:solidFill>
                  <a:srgbClr val="12355B"/>
                </a:solidFill>
                <a:round/>
              </a:ln>
            </p:spPr>
          </p:sp>
          <p:sp>
            <p:nvSpPr>
              <p:cNvPr id="21" name="Freeform 21"/>
              <p:cNvSpPr/>
              <p:nvPr/>
            </p:nvSpPr>
            <p:spPr>
              <a:xfrm>
                <a:off x="920746" y="1641469"/>
                <a:ext cx="9525" cy="44449"/>
              </a:xfrm>
              <a:custGeom>
                <a:avLst/>
                <a:gdLst/>
                <a:ahLst/>
                <a:cxnLst/>
                <a:rect l="l" t="t" r="r" b="b"/>
                <a:pathLst>
                  <a:path w="9525" h="44449">
                    <a:moveTo>
                      <a:pt x="0" y="44449"/>
                    </a:moveTo>
                    <a:lnTo>
                      <a:pt x="0" y="0"/>
                    </a:lnTo>
                  </a:path>
                </a:pathLst>
              </a:custGeom>
              <a:noFill/>
              <a:ln w="19047" cap="rnd">
                <a:solidFill>
                  <a:srgbClr val="12355B"/>
                </a:solidFill>
                <a:round/>
              </a:ln>
            </p:spPr>
          </p:sp>
          <p:sp>
            <p:nvSpPr>
              <p:cNvPr id="22" name="Freeform 22"/>
              <p:cNvSpPr/>
              <p:nvPr/>
            </p:nvSpPr>
            <p:spPr>
              <a:xfrm>
                <a:off x="831847" y="1641469"/>
                <a:ext cx="9525" cy="44449"/>
              </a:xfrm>
              <a:custGeom>
                <a:avLst/>
                <a:gdLst/>
                <a:ahLst/>
                <a:cxnLst/>
                <a:rect l="l" t="t" r="r" b="b"/>
                <a:pathLst>
                  <a:path w="9525" h="44449">
                    <a:moveTo>
                      <a:pt x="0" y="44449"/>
                    </a:moveTo>
                    <a:lnTo>
                      <a:pt x="0" y="0"/>
                    </a:lnTo>
                  </a:path>
                </a:pathLst>
              </a:custGeom>
              <a:noFill/>
              <a:ln w="19047" cap="rnd">
                <a:solidFill>
                  <a:srgbClr val="12355B"/>
                </a:solidFill>
                <a:round/>
              </a:ln>
            </p:spPr>
          </p:sp>
        </p:grpSp>
      </p:grpSp>
      <p:grpSp>
        <p:nvGrpSpPr>
          <p:cNvPr id="27" name="definition-block"/>
          <p:cNvGrpSpPr/>
          <p:nvPr/>
        </p:nvGrpSpPr>
        <p:grpSpPr>
          <a:xfrm>
            <a:off x="1363599" y="1318260"/>
            <a:ext cx="3487420" cy="1372457"/>
            <a:chOff x="1363599" y="1318260"/>
            <a:chExt cx="3487420" cy="1372457"/>
          </a:xfrm>
        </p:grpSpPr>
        <p:sp>
          <p:nvSpPr>
            <p:cNvPr id="25" name="TextBox 25"/>
            <p:cNvSpPr txBox="1"/>
            <p:nvPr/>
          </p:nvSpPr>
          <p:spPr>
            <a:xfrm>
              <a:off x="1365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26" name="TextBox 26"/>
            <p:cNvSpPr txBox="1"/>
            <p:nvPr/>
          </p:nvSpPr>
          <p:spPr>
            <a:xfrm>
              <a:off x="1363599" y="1582579"/>
              <a:ext cx="348742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Uygulamanın iş kurallarını ve işlem</a:t>
              </a:r>
              <a:br/>
              <a:r>
                <a:rPr lang="tr-TR" sz="1580" dirty="0">
                  <a:solidFill>
                    <a:srgbClr val="172B3A"/>
                  </a:solidFill>
                  <a:latin typeface="+mn-lt"/>
                  <a:ea typeface="+mn-ea"/>
                  <a:cs typeface="+mn-cs"/>
                </a:rPr>
                <a:t>sırasını yönetir; birden fazla</a:t>
              </a:r>
              <a:br/>
              <a:r>
                <a:rPr lang="tr-TR" sz="1580" dirty="0">
                  <a:solidFill>
                    <a:srgbClr val="172B3A"/>
                  </a:solidFill>
                  <a:latin typeface="+mn-lt"/>
                  <a:ea typeface="+mn-ea"/>
                  <a:cs typeface="+mn-cs"/>
                </a:rPr>
                <a:t>repository ile çalışabilir. HTTP</a:t>
              </a:r>
              <a:br/>
              <a:r>
                <a:rPr lang="tr-TR" sz="1580" dirty="0">
                  <a:solidFill>
                    <a:srgbClr val="172B3A"/>
                  </a:solidFill>
                  <a:latin typeface="+mn-lt"/>
                  <a:ea typeface="+mn-ea"/>
                  <a:cs typeface="+mn-cs"/>
                </a:rPr>
                <a:t>veya SQL ayrıntısını bilmemelidir.</a:t>
              </a:r>
            </a:p>
          </p:txBody>
        </p:sp>
      </p:grpSp>
      <p:grpSp>
        <p:nvGrpSpPr>
          <p:cNvPr id="34" name="chef-analogy"/>
          <p:cNvGrpSpPr/>
          <p:nvPr/>
        </p:nvGrpSpPr>
        <p:grpSpPr>
          <a:xfrm>
            <a:off x="609600" y="3657600"/>
            <a:ext cx="6400800" cy="1771650"/>
            <a:chOff x="609600" y="3657600"/>
            <a:chExt cx="6400800" cy="1771650"/>
          </a:xfrm>
        </p:grpSpPr>
        <p:sp>
          <p:nvSpPr>
            <p:cNvPr id="28" name="Rectangle 28"/>
            <p:cNvSpPr/>
            <p:nvPr/>
          </p:nvSpPr>
          <p:spPr>
            <a:xfrm>
              <a:off x="609600" y="3657600"/>
              <a:ext cx="6400800" cy="1771650"/>
            </a:xfrm>
            <a:prstGeom prst="roundRect">
              <a:avLst>
                <a:gd name="adj" fmla="val 4301"/>
              </a:avLst>
            </a:prstGeom>
            <a:solidFill>
              <a:srgbClr val="EAF4F6"/>
            </a:solidFill>
            <a:ln>
              <a:noFill/>
            </a:ln>
          </p:spPr>
        </p:sp>
        <p:sp>
          <p:nvSpPr>
            <p:cNvPr id="29" name="Rectangle 29"/>
            <p:cNvSpPr/>
            <p:nvPr/>
          </p:nvSpPr>
          <p:spPr>
            <a:xfrm>
              <a:off x="609600" y="3657600"/>
              <a:ext cx="57150" cy="1771650"/>
            </a:xfrm>
            <a:prstGeom prst="rect">
              <a:avLst/>
            </a:prstGeom>
            <a:solidFill>
              <a:srgbClr val="00A6A6"/>
            </a:solidFill>
            <a:ln>
              <a:noFill/>
            </a:ln>
          </p:spPr>
        </p:sp>
        <p:sp>
          <p:nvSpPr>
            <p:cNvPr id="30" name="TextBox 30"/>
            <p:cNvSpPr txBox="1"/>
            <p:nvPr/>
          </p:nvSpPr>
          <p:spPr>
            <a:xfrm>
              <a:off x="908304" y="3832860"/>
              <a:ext cx="985967"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BENZETME</a:t>
              </a:r>
            </a:p>
          </p:txBody>
        </p:sp>
        <p:sp>
          <p:nvSpPr>
            <p:cNvPr id="31" name="TextBox 31"/>
            <p:cNvSpPr txBox="1"/>
            <p:nvPr/>
          </p:nvSpPr>
          <p:spPr>
            <a:xfrm>
              <a:off x="906399" y="4097179"/>
              <a:ext cx="432975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Service, siparişin hazırlanma kurallarını</a:t>
              </a:r>
            </a:p>
          </p:txBody>
        </p:sp>
        <p:sp>
          <p:nvSpPr>
            <p:cNvPr id="32" name="TextBox 32"/>
            <p:cNvSpPr txBox="1"/>
            <p:nvPr/>
          </p:nvSpPr>
          <p:spPr>
            <a:xfrm>
              <a:off x="906399" y="4363879"/>
              <a:ext cx="419554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bilen aşçıdır: malzeme yeterli mi, alerji</a:t>
              </a:r>
            </a:p>
          </p:txBody>
        </p:sp>
        <p:sp>
          <p:nvSpPr>
            <p:cNvPr id="33" name="TextBox 33"/>
            <p:cNvSpPr txBox="1"/>
            <p:nvPr/>
          </p:nvSpPr>
          <p:spPr>
            <a:xfrm>
              <a:off x="906399" y="4630579"/>
              <a:ext cx="349364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var mı — bu kararları aşçı verir.</a:t>
              </a:r>
            </a:p>
          </p:txBody>
        </p:sp>
      </p:grpSp>
      <p:grpSp>
        <p:nvGrpSpPr>
          <p:cNvPr id="45" name="theory-block"/>
          <p:cNvGrpSpPr/>
          <p:nvPr/>
        </p:nvGrpSpPr>
        <p:grpSpPr>
          <a:xfrm>
            <a:off x="7315200" y="1219200"/>
            <a:ext cx="4267200" cy="4210050"/>
            <a:chOff x="7315200" y="1219200"/>
            <a:chExt cx="4267200" cy="4210050"/>
          </a:xfrm>
        </p:grpSpPr>
        <p:sp>
          <p:nvSpPr>
            <p:cNvPr id="35" name="Rectangle 35"/>
            <p:cNvSpPr/>
            <p:nvPr/>
          </p:nvSpPr>
          <p:spPr>
            <a:xfrm>
              <a:off x="7315200" y="1219200"/>
              <a:ext cx="4267200" cy="4210050"/>
            </a:xfrm>
            <a:prstGeom prst="roundRect">
              <a:avLst>
                <a:gd name="adj" fmla="val 1810"/>
              </a:avLst>
            </a:prstGeom>
            <a:solidFill>
              <a:srgbClr val="FFFFFF"/>
            </a:solidFill>
            <a:ln w="14288">
              <a:solidFill>
                <a:srgbClr val="B8CBD3"/>
              </a:solidFill>
            </a:ln>
          </p:spPr>
        </p:sp>
        <p:sp>
          <p:nvSpPr>
            <p:cNvPr id="36" name="TextBox 36"/>
            <p:cNvSpPr txBox="1"/>
            <p:nvPr/>
          </p:nvSpPr>
          <p:spPr>
            <a:xfrm>
              <a:off x="7537704" y="13944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37" name="TextBox 37"/>
            <p:cNvSpPr txBox="1"/>
            <p:nvPr/>
          </p:nvSpPr>
          <p:spPr>
            <a:xfrm>
              <a:off x="7536942" y="1721168"/>
              <a:ext cx="13331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Fowler (2002)</a:t>
              </a:r>
            </a:p>
          </p:txBody>
        </p:sp>
        <p:sp>
          <p:nvSpPr>
            <p:cNvPr id="38" name="TextBox 38"/>
            <p:cNvSpPr txBox="1"/>
            <p:nvPr/>
          </p:nvSpPr>
          <p:spPr>
            <a:xfrm>
              <a:off x="7537704" y="1985010"/>
              <a:ext cx="27325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Service Layer deseni: uygulama</a:t>
              </a:r>
              <a:br/>
              <a:r>
                <a:rPr lang="tr-TR" sz="1200" dirty="0">
                  <a:solidFill>
                    <a:srgbClr val="172B3A"/>
                  </a:solidFill>
                  <a:latin typeface="+mn-lt"/>
                  <a:ea typeface="+mn-ea"/>
                  <a:cs typeface="+mn-cs"/>
                </a:rPr>
                <a:t>sınırını ve işlem kümesini, iş</a:t>
              </a:r>
              <a:br/>
              <a:r>
                <a:rPr lang="tr-TR" sz="1200" dirty="0">
                  <a:solidFill>
                    <a:srgbClr val="172B3A"/>
                  </a:solidFill>
                  <a:latin typeface="+mn-lt"/>
                  <a:ea typeface="+mn-ea"/>
                  <a:cs typeface="+mn-cs"/>
                </a:rPr>
                <a:t>mantığı koordinasyonuyla tanımlar.</a:t>
              </a:r>
            </a:p>
          </p:txBody>
        </p:sp>
        <p:sp>
          <p:nvSpPr>
            <p:cNvPr id="39" name="Line 39"/>
            <p:cNvSpPr/>
            <p:nvPr/>
          </p:nvSpPr>
          <p:spPr>
            <a:xfrm>
              <a:off x="7543800" y="272415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40" name="TextBox 40"/>
            <p:cNvSpPr txBox="1"/>
            <p:nvPr/>
          </p:nvSpPr>
          <p:spPr>
            <a:xfrm>
              <a:off x="7536942" y="2845118"/>
              <a:ext cx="319738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Transaction Script / Domain Model</a:t>
              </a:r>
            </a:p>
          </p:txBody>
        </p:sp>
        <p:sp>
          <p:nvSpPr>
            <p:cNvPr id="41" name="TextBox 41"/>
            <p:cNvSpPr txBox="1"/>
            <p:nvPr/>
          </p:nvSpPr>
          <p:spPr>
            <a:xfrm>
              <a:off x="7537704" y="3108960"/>
              <a:ext cx="27934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İki karşıt iş mantığı organizasyonu;</a:t>
              </a:r>
              <a:br/>
              <a:r>
                <a:rPr lang="tr-TR" sz="1200" dirty="0">
                  <a:solidFill>
                    <a:srgbClr val="172B3A"/>
                  </a:solidFill>
                  <a:latin typeface="+mn-lt"/>
                  <a:ea typeface="+mn-ea"/>
                  <a:cs typeface="+mn-cs"/>
                </a:rPr>
                <a:t>service katmanı hangisi seçilirse</a:t>
              </a:r>
              <a:br/>
              <a:r>
                <a:rPr lang="tr-TR" sz="1200" dirty="0">
                  <a:solidFill>
                    <a:srgbClr val="172B3A"/>
                  </a:solidFill>
                  <a:latin typeface="+mn-lt"/>
                  <a:ea typeface="+mn-ea"/>
                  <a:cs typeface="+mn-cs"/>
                </a:rPr>
                <a:t>seçilsin tutarlı arayüz sunar.</a:t>
              </a:r>
            </a:p>
          </p:txBody>
        </p:sp>
        <p:sp>
          <p:nvSpPr>
            <p:cNvPr id="42" name="Line 42"/>
            <p:cNvSpPr/>
            <p:nvPr/>
          </p:nvSpPr>
          <p:spPr>
            <a:xfrm>
              <a:off x="7543800" y="38481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43" name="TextBox 43"/>
            <p:cNvSpPr txBox="1"/>
            <p:nvPr/>
          </p:nvSpPr>
          <p:spPr>
            <a:xfrm>
              <a:off x="7536942" y="3969068"/>
              <a:ext cx="322400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Evans (2003) — Application Service</a:t>
              </a:r>
            </a:p>
          </p:txBody>
        </p:sp>
        <p:sp>
          <p:nvSpPr>
            <p:cNvPr id="44" name="TextBox 44"/>
            <p:cNvSpPr txBox="1"/>
            <p:nvPr/>
          </p:nvSpPr>
          <p:spPr>
            <a:xfrm>
              <a:off x="7537704" y="4232910"/>
              <a:ext cx="2496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İş akışını koordine eder; domain</a:t>
              </a:r>
              <a:br/>
              <a:r>
                <a:rPr lang="tr-TR" sz="1200" dirty="0">
                  <a:solidFill>
                    <a:srgbClr val="172B3A"/>
                  </a:solidFill>
                  <a:latin typeface="+mn-lt"/>
                  <a:ea typeface="+mn-ea"/>
                  <a:cs typeface="+mn-cs"/>
                </a:rPr>
                <a:t>nesneleri iş kurallarını taşır.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0436743" cy="668845"/>
            <a:chOff x="609600" y="171450"/>
            <a:chExt cx="10436743"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974637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9.3: Service katmanında merkezi iş kuralları</a:t>
              </a:r>
            </a:p>
          </p:txBody>
        </p:sp>
      </p:grpSp>
      <p:grpSp>
        <p:nvGrpSpPr>
          <p:cNvPr id="30" name="code-panel"/>
          <p:cNvGrpSpPr/>
          <p:nvPr/>
        </p:nvGrpSpPr>
        <p:grpSpPr>
          <a:xfrm>
            <a:off x="609600" y="1181100"/>
            <a:ext cx="6553200" cy="4442651"/>
            <a:chOff x="609600" y="1181100"/>
            <a:chExt cx="6553200" cy="4442651"/>
          </a:xfrm>
        </p:grpSpPr>
        <p:sp>
          <p:nvSpPr>
            <p:cNvPr id="13" name="Rectangle 13"/>
            <p:cNvSpPr/>
            <p:nvPr/>
          </p:nvSpPr>
          <p:spPr>
            <a:xfrm>
              <a:off x="609600" y="1181100"/>
              <a:ext cx="6553200" cy="4381500"/>
            </a:xfrm>
            <a:prstGeom prst="roundRect">
              <a:avLst>
                <a:gd name="adj" fmla="val 1739"/>
              </a:avLst>
            </a:prstGeom>
            <a:solidFill>
              <a:srgbClr val="12355B"/>
            </a:solidFill>
            <a:ln>
              <a:noFill/>
            </a:ln>
          </p:spPr>
        </p:sp>
        <p:sp>
          <p:nvSpPr>
            <p:cNvPr id="14" name="TextBox 14"/>
            <p:cNvSpPr txBox="1"/>
            <p:nvPr/>
          </p:nvSpPr>
          <p:spPr>
            <a:xfrm>
              <a:off x="831342" y="1340168"/>
              <a:ext cx="2242860"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KutuphaneService {</a:t>
              </a:r>
            </a:p>
          </p:txBody>
        </p:sp>
        <p:sp>
          <p:nvSpPr>
            <p:cNvPr id="15" name="TextBox 15"/>
            <p:cNvSpPr txBox="1"/>
            <p:nvPr/>
          </p:nvSpPr>
          <p:spPr>
            <a:xfrm>
              <a:off x="831342" y="1587818"/>
              <a:ext cx="148360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oduncAl(istek) {</a:t>
              </a:r>
            </a:p>
          </p:txBody>
        </p:sp>
        <p:sp>
          <p:nvSpPr>
            <p:cNvPr id="16" name="TextBox 16"/>
            <p:cNvSpPr txBox="1"/>
            <p:nvPr/>
          </p:nvSpPr>
          <p:spPr>
            <a:xfrm>
              <a:off x="831342" y="1873568"/>
              <a:ext cx="117683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 kitap =</a:t>
              </a:r>
            </a:p>
          </p:txBody>
        </p:sp>
        <p:sp>
          <p:nvSpPr>
            <p:cNvPr id="17" name="TextBox 17"/>
            <p:cNvSpPr txBox="1"/>
            <p:nvPr/>
          </p:nvSpPr>
          <p:spPr>
            <a:xfrm>
              <a:off x="831342" y="2121218"/>
              <a:ext cx="284339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kitapRepo.kitapBul(istek.kod);</a:t>
              </a:r>
            </a:p>
          </p:txBody>
        </p:sp>
        <p:sp>
          <p:nvSpPr>
            <p:cNvPr id="18" name="TextBox 18"/>
            <p:cNvSpPr txBox="1"/>
            <p:nvPr/>
          </p:nvSpPr>
          <p:spPr>
            <a:xfrm>
              <a:off x="831342" y="2368868"/>
              <a:ext cx="137674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 ogrenci =</a:t>
              </a:r>
            </a:p>
          </p:txBody>
        </p:sp>
        <p:sp>
          <p:nvSpPr>
            <p:cNvPr id="19" name="TextBox 19"/>
            <p:cNvSpPr txBox="1"/>
            <p:nvPr/>
          </p:nvSpPr>
          <p:spPr>
            <a:xfrm>
              <a:off x="831342" y="2616518"/>
              <a:ext cx="314310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ogrenciRepo.ogrenciBul(istek.no);</a:t>
              </a:r>
            </a:p>
          </p:txBody>
        </p:sp>
        <p:sp>
          <p:nvSpPr>
            <p:cNvPr id="20" name="TextBox 20"/>
            <p:cNvSpPr txBox="1"/>
            <p:nvPr/>
          </p:nvSpPr>
          <p:spPr>
            <a:xfrm>
              <a:off x="831342" y="2997518"/>
              <a:ext cx="3400839"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if (!kitap) throw Hata("Kitap yok.");</a:t>
              </a:r>
            </a:p>
          </p:txBody>
        </p:sp>
        <p:sp>
          <p:nvSpPr>
            <p:cNvPr id="21" name="TextBox 21"/>
            <p:cNvSpPr txBox="1"/>
            <p:nvPr/>
          </p:nvSpPr>
          <p:spPr>
            <a:xfrm>
              <a:off x="831342" y="3245168"/>
              <a:ext cx="354691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if (!ogrenci) throw Hata("Öğr. yok.");</a:t>
              </a:r>
            </a:p>
          </p:txBody>
        </p:sp>
        <p:sp>
          <p:nvSpPr>
            <p:cNvPr id="22" name="TextBox 22"/>
            <p:cNvSpPr txBox="1"/>
            <p:nvPr/>
          </p:nvSpPr>
          <p:spPr>
            <a:xfrm>
              <a:off x="831342" y="3492818"/>
              <a:ext cx="1774569"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if (!kitap.uygunMu)</a:t>
              </a:r>
            </a:p>
          </p:txBody>
        </p:sp>
        <p:sp>
          <p:nvSpPr>
            <p:cNvPr id="23" name="TextBox 23"/>
            <p:cNvSpPr txBox="1"/>
            <p:nvPr/>
          </p:nvSpPr>
          <p:spPr>
            <a:xfrm>
              <a:off x="831342" y="3740468"/>
              <a:ext cx="3090429"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throw Hata("Kitap uygun değil.");</a:t>
              </a:r>
            </a:p>
          </p:txBody>
        </p:sp>
        <p:sp>
          <p:nvSpPr>
            <p:cNvPr id="24" name="TextBox 24"/>
            <p:cNvSpPr txBox="1"/>
            <p:nvPr/>
          </p:nvSpPr>
          <p:spPr>
            <a:xfrm>
              <a:off x="831342" y="3988118"/>
              <a:ext cx="260168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if (ogrenci.oduncSayisi &gt;= 3)</a:t>
              </a:r>
            </a:p>
          </p:txBody>
        </p:sp>
        <p:sp>
          <p:nvSpPr>
            <p:cNvPr id="25" name="TextBox 25"/>
            <p:cNvSpPr txBox="1"/>
            <p:nvPr/>
          </p:nvSpPr>
          <p:spPr>
            <a:xfrm>
              <a:off x="831342" y="4235768"/>
              <a:ext cx="2772738"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throw Hata("Limite ulaştı.");</a:t>
              </a:r>
            </a:p>
          </p:txBody>
        </p:sp>
        <p:sp>
          <p:nvSpPr>
            <p:cNvPr id="26" name="TextBox 26"/>
            <p:cNvSpPr txBox="1"/>
            <p:nvPr/>
          </p:nvSpPr>
          <p:spPr>
            <a:xfrm>
              <a:off x="831342" y="4616768"/>
              <a:ext cx="308072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oduncRepo.oduncKaydet(no, kod);</a:t>
              </a:r>
            </a:p>
          </p:txBody>
        </p:sp>
        <p:sp>
          <p:nvSpPr>
            <p:cNvPr id="27" name="TextBox 27"/>
            <p:cNvSpPr txBox="1"/>
            <p:nvPr/>
          </p:nvSpPr>
          <p:spPr>
            <a:xfrm>
              <a:off x="831342" y="4864418"/>
              <a:ext cx="3294069"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`${kitap.ad} ödünç verildi.`;</a:t>
              </a:r>
            </a:p>
          </p:txBody>
        </p:sp>
        <p:sp>
          <p:nvSpPr>
            <p:cNvPr id="28" name="TextBox 28"/>
            <p:cNvSpPr txBox="1"/>
            <p:nvPr/>
          </p:nvSpPr>
          <p:spPr>
            <a:xfrm>
              <a:off x="831342" y="51120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29" name="TextBox 29"/>
            <p:cNvSpPr txBox="1"/>
            <p:nvPr/>
          </p:nvSpPr>
          <p:spPr>
            <a:xfrm>
              <a:off x="831342" y="535971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grpSp>
      <p:grpSp>
        <p:nvGrpSpPr>
          <p:cNvPr id="41" name="critical-lines"/>
          <p:cNvGrpSpPr/>
          <p:nvPr/>
        </p:nvGrpSpPr>
        <p:grpSpPr>
          <a:xfrm>
            <a:off x="7372350" y="1299210"/>
            <a:ext cx="3800856" cy="1834896"/>
            <a:chOff x="7372350" y="1299210"/>
            <a:chExt cx="3800856" cy="1834896"/>
          </a:xfrm>
        </p:grpSpPr>
        <p:sp>
          <p:nvSpPr>
            <p:cNvPr id="31" name="TextBox 31"/>
            <p:cNvSpPr txBox="1"/>
            <p:nvPr/>
          </p:nvSpPr>
          <p:spPr>
            <a:xfrm>
              <a:off x="7385304" y="1299210"/>
              <a:ext cx="16998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KRİTİK SATIRLAR</a:t>
              </a:r>
            </a:p>
          </p:txBody>
        </p:sp>
        <p:sp>
          <p:nvSpPr>
            <p:cNvPr id="32" name="Ellipse 32"/>
            <p:cNvSpPr/>
            <p:nvPr/>
          </p:nvSpPr>
          <p:spPr>
            <a:xfrm>
              <a:off x="7372350" y="1562100"/>
              <a:ext cx="228600" cy="228600"/>
            </a:xfrm>
            <a:prstGeom prst="ellipse">
              <a:avLst/>
            </a:prstGeom>
            <a:solidFill>
              <a:srgbClr val="12355B"/>
            </a:solidFill>
            <a:ln>
              <a:noFill/>
            </a:ln>
          </p:spPr>
        </p:sp>
        <p:sp>
          <p:nvSpPr>
            <p:cNvPr id="33" name="TextBox 33"/>
            <p:cNvSpPr txBox="1"/>
            <p:nvPr/>
          </p:nvSpPr>
          <p:spPr>
            <a:xfrm>
              <a:off x="7440501" y="16106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34" name="TextBox 34"/>
            <p:cNvSpPr txBox="1"/>
            <p:nvPr/>
          </p:nvSpPr>
          <p:spPr>
            <a:xfrm>
              <a:off x="7709154" y="1604010"/>
              <a:ext cx="33345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Kitap ve öğrenci önce ilgili repository'lerden</a:t>
              </a:r>
              <a:br/>
              <a:r>
                <a:rPr lang="tr-TR" sz="1200" dirty="0">
                  <a:solidFill>
                    <a:srgbClr val="172B3A"/>
                  </a:solidFill>
                  <a:latin typeface="+mn-lt"/>
                  <a:ea typeface="+mn-ea"/>
                  <a:cs typeface="+mn-cs"/>
                </a:rPr>
                <a:t>getirilir; kural kontrolünden önce.</a:t>
              </a:r>
            </a:p>
          </p:txBody>
        </p:sp>
        <p:sp>
          <p:nvSpPr>
            <p:cNvPr id="35" name="Ellipse 35"/>
            <p:cNvSpPr/>
            <p:nvPr/>
          </p:nvSpPr>
          <p:spPr>
            <a:xfrm>
              <a:off x="7372350" y="2114550"/>
              <a:ext cx="228600" cy="228600"/>
            </a:xfrm>
            <a:prstGeom prst="ellipse">
              <a:avLst/>
            </a:prstGeom>
            <a:solidFill>
              <a:srgbClr val="12355B"/>
            </a:solidFill>
            <a:ln>
              <a:noFill/>
            </a:ln>
          </p:spPr>
        </p:sp>
        <p:sp>
          <p:nvSpPr>
            <p:cNvPr id="36" name="TextBox 36"/>
            <p:cNvSpPr txBox="1"/>
            <p:nvPr/>
          </p:nvSpPr>
          <p:spPr>
            <a:xfrm>
              <a:off x="7440501" y="216312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37" name="TextBox 37"/>
            <p:cNvSpPr txBox="1"/>
            <p:nvPr/>
          </p:nvSpPr>
          <p:spPr>
            <a:xfrm>
              <a:off x="7709154" y="2156460"/>
              <a:ext cx="34640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Art arda if kontrolleri sırayla değerlendirilir;</a:t>
              </a:r>
              <a:br/>
              <a:r>
                <a:rPr lang="tr-TR" sz="1200" dirty="0">
                  <a:solidFill>
                    <a:srgbClr val="172B3A"/>
                  </a:solidFill>
                  <a:latin typeface="+mn-lt"/>
                  <a:ea typeface="+mn-ea"/>
                  <a:cs typeface="+mn-cs"/>
                </a:rPr>
                <a:t>ilk sağlanmayan kuralda hata fırlatılır.</a:t>
              </a:r>
            </a:p>
          </p:txBody>
        </p:sp>
        <p:sp>
          <p:nvSpPr>
            <p:cNvPr id="38" name="Ellipse 38"/>
            <p:cNvSpPr/>
            <p:nvPr/>
          </p:nvSpPr>
          <p:spPr>
            <a:xfrm>
              <a:off x="7372350" y="2667000"/>
              <a:ext cx="228600" cy="228600"/>
            </a:xfrm>
            <a:prstGeom prst="ellipse">
              <a:avLst/>
            </a:prstGeom>
            <a:solidFill>
              <a:srgbClr val="12355B"/>
            </a:solidFill>
            <a:ln>
              <a:noFill/>
            </a:ln>
          </p:spPr>
        </p:sp>
        <p:sp>
          <p:nvSpPr>
            <p:cNvPr id="39" name="TextBox 39"/>
            <p:cNvSpPr txBox="1"/>
            <p:nvPr/>
          </p:nvSpPr>
          <p:spPr>
            <a:xfrm>
              <a:off x="7440501" y="27155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40" name="TextBox 40"/>
            <p:cNvSpPr txBox="1"/>
            <p:nvPr/>
          </p:nvSpPr>
          <p:spPr>
            <a:xfrm>
              <a:off x="7709154" y="2708910"/>
              <a:ext cx="2679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Tüm kurallar geçildiğinde repository</a:t>
              </a:r>
              <a:br/>
              <a:r>
                <a:rPr lang="tr-TR" sz="1200" dirty="0">
                  <a:solidFill>
                    <a:srgbClr val="172B3A"/>
                  </a:solidFill>
                  <a:latin typeface="+mn-lt"/>
                  <a:ea typeface="+mn-ea"/>
                  <a:cs typeface="+mn-cs"/>
                </a:rPr>
                <a:t>çağrılarak kayıt oluşturulur.</a:t>
              </a:r>
            </a:p>
          </p:txBody>
        </p:sp>
      </p:grpSp>
      <p:grpSp>
        <p:nvGrpSpPr>
          <p:cNvPr id="46" name="caution-note"/>
          <p:cNvGrpSpPr/>
          <p:nvPr/>
        </p:nvGrpSpPr>
        <p:grpSpPr>
          <a:xfrm>
            <a:off x="7391400" y="4000500"/>
            <a:ext cx="4191000" cy="1562100"/>
            <a:chOff x="7391400" y="4000500"/>
            <a:chExt cx="4191000" cy="1562100"/>
          </a:xfrm>
        </p:grpSpPr>
        <p:sp>
          <p:nvSpPr>
            <p:cNvPr id="42" name="Rectangle 42"/>
            <p:cNvSpPr/>
            <p:nvPr/>
          </p:nvSpPr>
          <p:spPr>
            <a:xfrm>
              <a:off x="7391400" y="4000500"/>
              <a:ext cx="4191000" cy="1562100"/>
            </a:xfrm>
            <a:prstGeom prst="roundRect">
              <a:avLst>
                <a:gd name="adj" fmla="val 4878"/>
              </a:avLst>
            </a:prstGeom>
            <a:solidFill>
              <a:srgbClr val="EAF4F6"/>
            </a:solidFill>
            <a:ln>
              <a:noFill/>
            </a:ln>
          </p:spPr>
        </p:sp>
        <p:sp>
          <p:nvSpPr>
            <p:cNvPr id="43" name="Rectangle 43"/>
            <p:cNvSpPr/>
            <p:nvPr/>
          </p:nvSpPr>
          <p:spPr>
            <a:xfrm>
              <a:off x="7391400" y="4000500"/>
              <a:ext cx="57150" cy="1562100"/>
            </a:xfrm>
            <a:prstGeom prst="rect">
              <a:avLst/>
            </a:prstGeom>
            <a:solidFill>
              <a:srgbClr val="00A6A6"/>
            </a:solidFill>
            <a:ln>
              <a:noFill/>
            </a:ln>
          </p:spPr>
        </p:sp>
        <p:sp>
          <p:nvSpPr>
            <p:cNvPr id="44" name="TextBox 44"/>
            <p:cNvSpPr txBox="1"/>
            <p:nvPr/>
          </p:nvSpPr>
          <p:spPr>
            <a:xfrm>
              <a:off x="7613904" y="4175760"/>
              <a:ext cx="161580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DİKKAT NOKTASI</a:t>
              </a:r>
            </a:p>
          </p:txBody>
        </p:sp>
        <p:sp>
          <p:nvSpPr>
            <p:cNvPr id="45" name="TextBox 45"/>
            <p:cNvSpPr txBox="1"/>
            <p:nvPr/>
          </p:nvSpPr>
          <p:spPr>
            <a:xfrm>
              <a:off x="7613142" y="4445318"/>
              <a:ext cx="3459861"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Kurallar tek yerde toplandığı için</a:t>
              </a:r>
              <a:br/>
              <a:r>
                <a:rPr lang="tr-TR" sz="1350" dirty="0">
                  <a:solidFill>
                    <a:srgbClr val="172B3A"/>
                  </a:solidFill>
                  <a:latin typeface="+mn-lt"/>
                  <a:ea typeface="+mn-ea"/>
                  <a:cs typeface="+mn-cs"/>
                </a:rPr>
                <a:t>aynı kuralı kullanan başka bir</a:t>
              </a:r>
              <a:br/>
              <a:r>
                <a:rPr lang="tr-TR" sz="1350" dirty="0">
                  <a:solidFill>
                    <a:srgbClr val="172B3A"/>
                  </a:solidFill>
                  <a:latin typeface="+mn-lt"/>
                  <a:ea typeface="+mn-ea"/>
                  <a:cs typeface="+mn-cs"/>
                </a:rPr>
                <a:t>controller (ör. mobil uygulama) bu</a:t>
              </a:r>
              <a:br/>
              <a:r>
                <a:rPr lang="tr-TR" sz="1350" dirty="0">
                  <a:solidFill>
                    <a:srgbClr val="172B3A"/>
                  </a:solidFill>
                  <a:latin typeface="+mn-lt"/>
                  <a:ea typeface="+mn-ea"/>
                  <a:cs typeface="+mn-cs"/>
                </a:rPr>
                <a:t>kuralları tekrar yazmak zorunda kalmaz.</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688490" cy="668845"/>
            <a:chOff x="609600" y="171450"/>
            <a:chExt cx="868849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9981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Service: alternatifler ve yaygın hatalar</a:t>
              </a:r>
            </a:p>
          </p:txBody>
        </p:sp>
      </p:grpSp>
      <p:grpSp>
        <p:nvGrpSpPr>
          <p:cNvPr id="16" name="alt-header"/>
          <p:cNvGrpSpPr/>
          <p:nvPr/>
        </p:nvGrpSpPr>
        <p:grpSpPr>
          <a:xfrm>
            <a:off x="609600" y="1181100"/>
            <a:ext cx="10972800" cy="381000"/>
            <a:chOff x="609600" y="1181100"/>
            <a:chExt cx="10972800" cy="381000"/>
          </a:xfrm>
        </p:grpSpPr>
        <p:sp>
          <p:nvSpPr>
            <p:cNvPr id="12" name="Rectangle 12"/>
            <p:cNvSpPr/>
            <p:nvPr/>
          </p:nvSpPr>
          <p:spPr>
            <a:xfrm>
              <a:off x="609600" y="1181100"/>
              <a:ext cx="10972800" cy="381000"/>
            </a:xfrm>
            <a:prstGeom prst="rect">
              <a:avLst/>
            </a:prstGeom>
            <a:solidFill>
              <a:srgbClr val="12355B"/>
            </a:solidFill>
            <a:ln>
              <a:noFill/>
            </a:ln>
          </p:spPr>
        </p:sp>
        <p:sp>
          <p:nvSpPr>
            <p:cNvPr id="13" name="TextBox 13"/>
            <p:cNvSpPr txBox="1"/>
            <p:nvPr/>
          </p:nvSpPr>
          <p:spPr>
            <a:xfrm>
              <a:off x="755904" y="12992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4" name="TextBox 14"/>
            <p:cNvSpPr txBox="1"/>
            <p:nvPr/>
          </p:nvSpPr>
          <p:spPr>
            <a:xfrm>
              <a:off x="3994404" y="1299210"/>
              <a:ext cx="104912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GÜÇLÜ YÖNÜ</a:t>
              </a:r>
            </a:p>
          </p:txBody>
        </p:sp>
        <p:sp>
          <p:nvSpPr>
            <p:cNvPr id="15" name="TextBox 15"/>
            <p:cNvSpPr txBox="1"/>
            <p:nvPr/>
          </p:nvSpPr>
          <p:spPr>
            <a:xfrm>
              <a:off x="7613904" y="1299210"/>
              <a:ext cx="100431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ZAYIF YÖNÜ</a:t>
              </a:r>
            </a:p>
          </p:txBody>
        </p:sp>
      </p:grpSp>
      <p:grpSp>
        <p:nvGrpSpPr>
          <p:cNvPr id="21" name="alt-row1"/>
          <p:cNvGrpSpPr/>
          <p:nvPr/>
        </p:nvGrpSpPr>
        <p:grpSpPr>
          <a:xfrm>
            <a:off x="609600" y="1699260"/>
            <a:ext cx="10972800" cy="329565"/>
            <a:chOff x="609600" y="1699260"/>
            <a:chExt cx="10972800" cy="329565"/>
          </a:xfrm>
        </p:grpSpPr>
        <p:sp>
          <p:nvSpPr>
            <p:cNvPr id="17" name="TextBox 17"/>
            <p:cNvSpPr txBox="1"/>
            <p:nvPr/>
          </p:nvSpPr>
          <p:spPr>
            <a:xfrm>
              <a:off x="755904" y="1699260"/>
              <a:ext cx="186604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Controller içinde kural</a:t>
              </a:r>
            </a:p>
          </p:txBody>
        </p:sp>
        <p:sp>
          <p:nvSpPr>
            <p:cNvPr id="18" name="TextBox 18"/>
            <p:cNvSpPr txBox="1"/>
            <p:nvPr/>
          </p:nvSpPr>
          <p:spPr>
            <a:xfrm>
              <a:off x="3994785" y="1707356"/>
              <a:ext cx="19385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Küçük prototipte hızlıdır</a:t>
              </a:r>
            </a:p>
          </p:txBody>
        </p:sp>
        <p:sp>
          <p:nvSpPr>
            <p:cNvPr id="19" name="TextBox 19"/>
            <p:cNvSpPr txBox="1"/>
            <p:nvPr/>
          </p:nvSpPr>
          <p:spPr>
            <a:xfrm>
              <a:off x="7614285" y="1707356"/>
              <a:ext cx="23157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Tekrar ve test zorluğu yaratır</a:t>
              </a:r>
            </a:p>
          </p:txBody>
        </p:sp>
        <p:sp>
          <p:nvSpPr>
            <p:cNvPr id="20" name="Line 20"/>
            <p:cNvSpPr/>
            <p:nvPr/>
          </p:nvSpPr>
          <p:spPr>
            <a:xfrm>
              <a:off x="609600" y="2019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alt-row2"/>
          <p:cNvGrpSpPr/>
          <p:nvPr/>
        </p:nvGrpSpPr>
        <p:grpSpPr>
          <a:xfrm>
            <a:off x="609600" y="2019300"/>
            <a:ext cx="10972800" cy="466725"/>
            <a:chOff x="609600" y="2019300"/>
            <a:chExt cx="10972800" cy="466725"/>
          </a:xfrm>
        </p:grpSpPr>
        <p:sp>
          <p:nvSpPr>
            <p:cNvPr id="22" name="Rectangle 22"/>
            <p:cNvSpPr/>
            <p:nvPr/>
          </p:nvSpPr>
          <p:spPr>
            <a:xfrm>
              <a:off x="609600" y="2019300"/>
              <a:ext cx="10972800" cy="457200"/>
            </a:xfrm>
            <a:prstGeom prst="rect">
              <a:avLst/>
            </a:prstGeom>
            <a:solidFill>
              <a:srgbClr val="EAF4F6"/>
            </a:solidFill>
            <a:ln>
              <a:noFill/>
            </a:ln>
          </p:spPr>
        </p:sp>
        <p:sp>
          <p:nvSpPr>
            <p:cNvPr id="23" name="TextBox 23"/>
            <p:cNvSpPr txBox="1"/>
            <p:nvPr/>
          </p:nvSpPr>
          <p:spPr>
            <a:xfrm>
              <a:off x="755904" y="2156460"/>
              <a:ext cx="136613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Service katmanı</a:t>
              </a:r>
            </a:p>
          </p:txBody>
        </p:sp>
        <p:sp>
          <p:nvSpPr>
            <p:cNvPr id="24" name="TextBox 24"/>
            <p:cNvSpPr txBox="1"/>
            <p:nvPr/>
          </p:nvSpPr>
          <p:spPr>
            <a:xfrm>
              <a:off x="3994785" y="2164556"/>
              <a:ext cx="18552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Kuralları merkezileştirir</a:t>
              </a:r>
            </a:p>
          </p:txBody>
        </p:sp>
        <p:sp>
          <p:nvSpPr>
            <p:cNvPr id="25" name="TextBox 25"/>
            <p:cNvSpPr txBox="1"/>
            <p:nvPr/>
          </p:nvSpPr>
          <p:spPr>
            <a:xfrm>
              <a:off x="7614285" y="2164556"/>
              <a:ext cx="144099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Ek sınıf gerektirir</a:t>
              </a:r>
            </a:p>
          </p:txBody>
        </p:sp>
        <p:sp>
          <p:nvSpPr>
            <p:cNvPr id="26" name="Line 26"/>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alt-row3"/>
          <p:cNvGrpSpPr/>
          <p:nvPr/>
        </p:nvGrpSpPr>
        <p:grpSpPr>
          <a:xfrm>
            <a:off x="609600" y="2613660"/>
            <a:ext cx="10972800" cy="329565"/>
            <a:chOff x="609600" y="2613660"/>
            <a:chExt cx="10972800" cy="329565"/>
          </a:xfrm>
        </p:grpSpPr>
        <p:sp>
          <p:nvSpPr>
            <p:cNvPr id="28" name="TextBox 28"/>
            <p:cNvSpPr txBox="1"/>
            <p:nvPr/>
          </p:nvSpPr>
          <p:spPr>
            <a:xfrm>
              <a:off x="755904" y="2613660"/>
              <a:ext cx="223096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Domain nesnesi içinde kural</a:t>
              </a:r>
            </a:p>
          </p:txBody>
        </p:sp>
        <p:sp>
          <p:nvSpPr>
            <p:cNvPr id="29" name="TextBox 29"/>
            <p:cNvSpPr txBox="1"/>
            <p:nvPr/>
          </p:nvSpPr>
          <p:spPr>
            <a:xfrm>
              <a:off x="3994785" y="2621756"/>
              <a:ext cx="19838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Nesne davranışı güçlü olur</a:t>
              </a:r>
            </a:p>
          </p:txBody>
        </p:sp>
        <p:sp>
          <p:nvSpPr>
            <p:cNvPr id="30" name="TextBox 30"/>
            <p:cNvSpPr txBox="1"/>
            <p:nvPr/>
          </p:nvSpPr>
          <p:spPr>
            <a:xfrm>
              <a:off x="7614285" y="2621756"/>
              <a:ext cx="23605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Basit projede karmaşık gelebilir</a:t>
              </a:r>
            </a:p>
          </p:txBody>
        </p:sp>
        <p:sp>
          <p:nvSpPr>
            <p:cNvPr id="31" name="Line 31"/>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4"/>
          <p:cNvGrpSpPr/>
          <p:nvPr/>
        </p:nvGrpSpPr>
        <p:grpSpPr>
          <a:xfrm>
            <a:off x="609600" y="2933700"/>
            <a:ext cx="10972800" cy="457200"/>
            <a:chOff x="609600" y="2933700"/>
            <a:chExt cx="10972800" cy="457200"/>
          </a:xfrm>
        </p:grpSpPr>
        <p:sp>
          <p:nvSpPr>
            <p:cNvPr id="33" name="Rectangle 33"/>
            <p:cNvSpPr/>
            <p:nvPr/>
          </p:nvSpPr>
          <p:spPr>
            <a:xfrm>
              <a:off x="609600" y="2933700"/>
              <a:ext cx="10972800" cy="457200"/>
            </a:xfrm>
            <a:prstGeom prst="rect">
              <a:avLst/>
            </a:prstGeom>
            <a:solidFill>
              <a:srgbClr val="EAF4F6"/>
            </a:solidFill>
            <a:ln>
              <a:noFill/>
            </a:ln>
          </p:spPr>
        </p:sp>
        <p:sp>
          <p:nvSpPr>
            <p:cNvPr id="34" name="TextBox 34"/>
            <p:cNvSpPr txBox="1"/>
            <p:nvPr/>
          </p:nvSpPr>
          <p:spPr>
            <a:xfrm>
              <a:off x="755904" y="3070860"/>
              <a:ext cx="146792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Stored procedure</a:t>
              </a:r>
            </a:p>
          </p:txBody>
        </p:sp>
        <p:sp>
          <p:nvSpPr>
            <p:cNvPr id="35" name="TextBox 35"/>
            <p:cNvSpPr txBox="1"/>
            <p:nvPr/>
          </p:nvSpPr>
          <p:spPr>
            <a:xfrm>
              <a:off x="3994785" y="3078956"/>
              <a:ext cx="28504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Veriye yakın kurallar için hızlı olabilir</a:t>
              </a:r>
            </a:p>
          </p:txBody>
        </p:sp>
        <p:sp>
          <p:nvSpPr>
            <p:cNvPr id="36" name="TextBox 36"/>
            <p:cNvSpPr txBox="1"/>
            <p:nvPr/>
          </p:nvSpPr>
          <p:spPr>
            <a:xfrm>
              <a:off x="7614285" y="3078956"/>
              <a:ext cx="26321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Uygulama kodundan izlemek zorlaşır</a:t>
              </a:r>
            </a:p>
          </p:txBody>
        </p:sp>
      </p:grpSp>
      <p:grpSp>
        <p:nvGrpSpPr>
          <p:cNvPr id="40" name="usage-note"/>
          <p:cNvGrpSpPr/>
          <p:nvPr/>
        </p:nvGrpSpPr>
        <p:grpSpPr>
          <a:xfrm>
            <a:off x="601599" y="3678079"/>
            <a:ext cx="9115772" cy="574739"/>
            <a:chOff x="601599" y="3678079"/>
            <a:chExt cx="9115772" cy="574739"/>
          </a:xfrm>
        </p:grpSpPr>
        <p:sp>
          <p:nvSpPr>
            <p:cNvPr id="38" name="TextBox 38"/>
            <p:cNvSpPr txBox="1"/>
            <p:nvPr/>
          </p:nvSpPr>
          <p:spPr>
            <a:xfrm>
              <a:off x="601599" y="3678079"/>
              <a:ext cx="91157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işlem birden fazla adım, kural veya veri kaynağı içeriyorsa service kullanılmalıdır;</a:t>
              </a:r>
            </a:p>
          </p:txBody>
        </p:sp>
        <p:sp>
          <p:nvSpPr>
            <p:cNvPr id="39" name="TextBox 39"/>
            <p:cNvSpPr txBox="1"/>
            <p:nvPr/>
          </p:nvSpPr>
          <p:spPr>
            <a:xfrm>
              <a:off x="601599" y="3944779"/>
              <a:ext cx="83112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tarih biçimlendirme gibi teknik yardımcılar ayrı bir yardımcı modülde kalabilir.</a:t>
              </a:r>
            </a:p>
          </p:txBody>
        </p:sp>
      </p:grpSp>
      <p:grpSp>
        <p:nvGrpSpPr>
          <p:cNvPr id="47" name="common-errors"/>
          <p:cNvGrpSpPr/>
          <p:nvPr/>
        </p:nvGrpSpPr>
        <p:grpSpPr>
          <a:xfrm>
            <a:off x="609600" y="4438650"/>
            <a:ext cx="10972800" cy="1790700"/>
            <a:chOff x="609600" y="4438650"/>
            <a:chExt cx="10972800" cy="1790700"/>
          </a:xfrm>
        </p:grpSpPr>
        <p:sp>
          <p:nvSpPr>
            <p:cNvPr id="41" name="Rectangle 41"/>
            <p:cNvSpPr/>
            <p:nvPr/>
          </p:nvSpPr>
          <p:spPr>
            <a:xfrm>
              <a:off x="609600" y="4438650"/>
              <a:ext cx="10972800" cy="1790700"/>
            </a:xfrm>
            <a:prstGeom prst="roundRect">
              <a:avLst>
                <a:gd name="adj" fmla="val 4255"/>
              </a:avLst>
            </a:prstGeom>
            <a:solidFill>
              <a:srgbClr val="EAF4F6"/>
            </a:solidFill>
            <a:ln>
              <a:noFill/>
            </a:ln>
          </p:spPr>
        </p:sp>
        <p:sp>
          <p:nvSpPr>
            <p:cNvPr id="42" name="Rectangle 42"/>
            <p:cNvSpPr/>
            <p:nvPr/>
          </p:nvSpPr>
          <p:spPr>
            <a:xfrm>
              <a:off x="609600" y="4438650"/>
              <a:ext cx="57150" cy="1790700"/>
            </a:xfrm>
            <a:prstGeom prst="rect">
              <a:avLst/>
            </a:prstGeom>
            <a:solidFill>
              <a:srgbClr val="00A6A6"/>
            </a:solidFill>
            <a:ln>
              <a:noFill/>
            </a:ln>
          </p:spPr>
        </p:sp>
        <p:sp>
          <p:nvSpPr>
            <p:cNvPr id="43" name="TextBox 43"/>
            <p:cNvSpPr txBox="1"/>
            <p:nvPr/>
          </p:nvSpPr>
          <p:spPr>
            <a:xfrm>
              <a:off x="908304" y="4613910"/>
              <a:ext cx="1579961"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YAYGIN HATALAR</a:t>
              </a:r>
            </a:p>
          </p:txBody>
        </p:sp>
        <p:sp>
          <p:nvSpPr>
            <p:cNvPr id="44" name="TextBox 44"/>
            <p:cNvSpPr txBox="1"/>
            <p:nvPr/>
          </p:nvSpPr>
          <p:spPr>
            <a:xfrm>
              <a:off x="907542" y="4883468"/>
              <a:ext cx="385478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Service'in HTTP durum kodu döndürmesi.</a:t>
              </a:r>
            </a:p>
          </p:txBody>
        </p:sp>
        <p:sp>
          <p:nvSpPr>
            <p:cNvPr id="45" name="TextBox 45"/>
            <p:cNvSpPr txBox="1"/>
            <p:nvPr/>
          </p:nvSpPr>
          <p:spPr>
            <a:xfrm>
              <a:off x="907542" y="5207318"/>
              <a:ext cx="308538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Service'in SQL metni üretmesi.</a:t>
              </a:r>
            </a:p>
          </p:txBody>
        </p:sp>
        <p:sp>
          <p:nvSpPr>
            <p:cNvPr id="46" name="TextBox 46"/>
            <p:cNvSpPr txBox="1"/>
            <p:nvPr/>
          </p:nvSpPr>
          <p:spPr>
            <a:xfrm>
              <a:off x="907542" y="5531168"/>
              <a:ext cx="831610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Kuralın yalnızca bir controller'da uygulanması — başka giriş noktası bu kuralı atlayabilir.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076978" cy="557403"/>
            <a:chOff x="595122" y="282892"/>
            <a:chExt cx="5076978" cy="557403"/>
          </a:xfrm>
        </p:grpSpPr>
        <p:sp>
          <p:nvSpPr>
            <p:cNvPr id="4" name="TextBox 4"/>
            <p:cNvSpPr txBox="1"/>
            <p:nvPr/>
          </p:nvSpPr>
          <p:spPr>
            <a:xfrm>
              <a:off x="595122" y="282892"/>
              <a:ext cx="50769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Repository ve veri erişimi</a:t>
              </a:r>
            </a:p>
          </p:txBody>
        </p:sp>
      </p:grpSp>
      <p:grpSp>
        <p:nvGrpSpPr>
          <p:cNvPr id="10" name="repository-icon"/>
          <p:cNvGrpSpPr/>
          <p:nvPr/>
        </p:nvGrpSpPr>
        <p:grpSpPr>
          <a:xfrm>
            <a:off x="698499" y="1285874"/>
            <a:ext cx="355595" cy="400044"/>
            <a:chOff x="698499" y="1285874"/>
            <a:chExt cx="355595" cy="400044"/>
          </a:xfrm>
        </p:grpSpPr>
        <p:grpSp>
          <p:nvGrpSpPr>
            <p:cNvPr id="9" name="icon-repository"/>
            <p:cNvGrpSpPr/>
            <p:nvPr/>
          </p:nvGrpSpPr>
          <p:grpSpPr>
            <a:xfrm>
              <a:off x="698499" y="1285874"/>
              <a:ext cx="355595" cy="400044"/>
              <a:chOff x="698499" y="1285874"/>
              <a:chExt cx="355595" cy="400044"/>
            </a:xfrm>
          </p:grpSpPr>
          <p:sp>
            <p:nvSpPr>
              <p:cNvPr id="6" name="Freeform 6"/>
              <p:cNvSpPr/>
              <p:nvPr/>
            </p:nvSpPr>
            <p:spPr>
              <a:xfrm>
                <a:off x="698499" y="1285874"/>
                <a:ext cx="355595" cy="133348"/>
              </a:xfrm>
              <a:custGeom>
                <a:avLst/>
                <a:gdLst/>
                <a:ahLst/>
                <a:cxnLst/>
                <a:rect l="l" t="t" r="r" b="b"/>
                <a:pathLst>
                  <a:path w="355595" h="133348">
                    <a:moveTo>
                      <a:pt x="0" y="66674"/>
                    </a:moveTo>
                    <a:cubicBezTo>
                      <a:pt x="0" y="103497"/>
                      <a:pt x="79603" y="133348"/>
                      <a:pt x="177797" y="133348"/>
                    </a:cubicBezTo>
                    <a:cubicBezTo>
                      <a:pt x="275992" y="133348"/>
                      <a:pt x="355595" y="103497"/>
                      <a:pt x="355595" y="66674"/>
                    </a:cubicBezTo>
                    <a:cubicBezTo>
                      <a:pt x="355595" y="29851"/>
                      <a:pt x="275992" y="0"/>
                      <a:pt x="177797" y="0"/>
                    </a:cubicBezTo>
                    <a:cubicBezTo>
                      <a:pt x="79603" y="0"/>
                      <a:pt x="0" y="29851"/>
                      <a:pt x="0" y="66674"/>
                    </a:cubicBezTo>
                  </a:path>
                </a:pathLst>
              </a:custGeom>
              <a:noFill/>
              <a:ln w="19047" cap="rnd">
                <a:solidFill>
                  <a:srgbClr val="12355B"/>
                </a:solidFill>
                <a:round/>
              </a:ln>
            </p:spPr>
          </p:sp>
          <p:sp>
            <p:nvSpPr>
              <p:cNvPr id="7" name="Freeform 7"/>
              <p:cNvSpPr/>
              <p:nvPr/>
            </p:nvSpPr>
            <p:spPr>
              <a:xfrm>
                <a:off x="698499" y="1352548"/>
                <a:ext cx="355595" cy="200022"/>
              </a:xfrm>
              <a:custGeom>
                <a:avLst/>
                <a:gdLst/>
                <a:ahLst/>
                <a:cxnLst/>
                <a:rect l="l" t="t" r="r" b="b"/>
                <a:pathLst>
                  <a:path w="355595" h="200022">
                    <a:moveTo>
                      <a:pt x="0" y="0"/>
                    </a:moveTo>
                    <a:lnTo>
                      <a:pt x="0" y="133348"/>
                    </a:lnTo>
                    <a:cubicBezTo>
                      <a:pt x="0" y="170171"/>
                      <a:pt x="79603" y="200022"/>
                      <a:pt x="177797" y="200022"/>
                    </a:cubicBezTo>
                    <a:cubicBezTo>
                      <a:pt x="275992" y="200022"/>
                      <a:pt x="355595" y="170171"/>
                      <a:pt x="355595" y="133348"/>
                    </a:cubicBezTo>
                    <a:lnTo>
                      <a:pt x="355595" y="0"/>
                    </a:lnTo>
                  </a:path>
                </a:pathLst>
              </a:custGeom>
              <a:noFill/>
              <a:ln w="19047" cap="rnd">
                <a:solidFill>
                  <a:srgbClr val="12355B"/>
                </a:solidFill>
                <a:round/>
              </a:ln>
            </p:spPr>
          </p:sp>
          <p:sp>
            <p:nvSpPr>
              <p:cNvPr id="8" name="Freeform 8"/>
              <p:cNvSpPr/>
              <p:nvPr/>
            </p:nvSpPr>
            <p:spPr>
              <a:xfrm>
                <a:off x="698499" y="1485896"/>
                <a:ext cx="355595" cy="200022"/>
              </a:xfrm>
              <a:custGeom>
                <a:avLst/>
                <a:gdLst/>
                <a:ahLst/>
                <a:cxnLst/>
                <a:rect l="l" t="t" r="r" b="b"/>
                <a:pathLst>
                  <a:path w="355595" h="200022">
                    <a:moveTo>
                      <a:pt x="0" y="0"/>
                    </a:moveTo>
                    <a:lnTo>
                      <a:pt x="0" y="133348"/>
                    </a:lnTo>
                    <a:cubicBezTo>
                      <a:pt x="0" y="170171"/>
                      <a:pt x="79603" y="200022"/>
                      <a:pt x="177797" y="200022"/>
                    </a:cubicBezTo>
                    <a:cubicBezTo>
                      <a:pt x="275992" y="200022"/>
                      <a:pt x="355595" y="170171"/>
                      <a:pt x="355595" y="133348"/>
                    </a:cubicBezTo>
                    <a:lnTo>
                      <a:pt x="355595" y="0"/>
                    </a:lnTo>
                  </a:path>
                </a:pathLst>
              </a:custGeom>
              <a:noFill/>
              <a:ln w="19047" cap="rnd">
                <a:solidFill>
                  <a:srgbClr val="12355B"/>
                </a:solidFill>
                <a:round/>
              </a:ln>
            </p:spPr>
          </p:sp>
        </p:grpSp>
      </p:grpSp>
      <p:grpSp>
        <p:nvGrpSpPr>
          <p:cNvPr id="13" name="definition-block"/>
          <p:cNvGrpSpPr/>
          <p:nvPr/>
        </p:nvGrpSpPr>
        <p:grpSpPr>
          <a:xfrm>
            <a:off x="1363599" y="1318260"/>
            <a:ext cx="3868674" cy="1372457"/>
            <a:chOff x="1363599" y="1318260"/>
            <a:chExt cx="3868674" cy="1372457"/>
          </a:xfrm>
        </p:grpSpPr>
        <p:sp>
          <p:nvSpPr>
            <p:cNvPr id="11" name="TextBox 11"/>
            <p:cNvSpPr txBox="1"/>
            <p:nvPr/>
          </p:nvSpPr>
          <p:spPr>
            <a:xfrm>
              <a:off x="1365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12" name="TextBox 12"/>
            <p:cNvSpPr txBox="1"/>
            <p:nvPr/>
          </p:nvSpPr>
          <p:spPr>
            <a:xfrm>
              <a:off x="1363599" y="1582579"/>
              <a:ext cx="3868674"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Domain nesnelerinin nasıl saklandığı</a:t>
              </a:r>
              <a:br/>
              <a:r>
                <a:rPr lang="tr-TR" sz="1580" dirty="0">
                  <a:solidFill>
                    <a:srgbClr val="172B3A"/>
                  </a:solidFill>
                  <a:latin typeface="+mn-lt"/>
                  <a:ea typeface="+mn-ea"/>
                  <a:cs typeface="+mn-cs"/>
                </a:rPr>
                <a:t>ve nereden getirildiği ayrıntısını</a:t>
              </a:r>
              <a:br/>
              <a:r>
                <a:rPr lang="tr-TR" sz="1580" dirty="0">
                  <a:solidFill>
                    <a:srgbClr val="172B3A"/>
                  </a:solidFill>
                  <a:latin typeface="+mn-lt"/>
                  <a:ea typeface="+mn-ea"/>
                  <a:cs typeface="+mn-cs"/>
                </a:rPr>
                <a:t>gizler. Service, veri kaynağının teknik</a:t>
              </a:r>
              <a:br/>
              <a:r>
                <a:rPr lang="tr-TR" sz="1580" dirty="0">
                  <a:solidFill>
                    <a:srgbClr val="172B3A"/>
                  </a:solidFill>
                  <a:latin typeface="+mn-lt"/>
                  <a:ea typeface="+mn-ea"/>
                  <a:cs typeface="+mn-cs"/>
                </a:rPr>
                <a:t>ayrıntısını bilmeden çalışır.</a:t>
              </a:r>
            </a:p>
          </p:txBody>
        </p:sp>
      </p:grpSp>
      <p:grpSp>
        <p:nvGrpSpPr>
          <p:cNvPr id="20" name="depot-analogy"/>
          <p:cNvGrpSpPr/>
          <p:nvPr/>
        </p:nvGrpSpPr>
        <p:grpSpPr>
          <a:xfrm>
            <a:off x="609600" y="3657600"/>
            <a:ext cx="6400800" cy="1771650"/>
            <a:chOff x="609600" y="3657600"/>
            <a:chExt cx="6400800" cy="1771650"/>
          </a:xfrm>
        </p:grpSpPr>
        <p:sp>
          <p:nvSpPr>
            <p:cNvPr id="14" name="Rectangle 14"/>
            <p:cNvSpPr/>
            <p:nvPr/>
          </p:nvSpPr>
          <p:spPr>
            <a:xfrm>
              <a:off x="609600" y="3657600"/>
              <a:ext cx="6400800" cy="1771650"/>
            </a:xfrm>
            <a:prstGeom prst="roundRect">
              <a:avLst>
                <a:gd name="adj" fmla="val 4301"/>
              </a:avLst>
            </a:prstGeom>
            <a:solidFill>
              <a:srgbClr val="EAF4F6"/>
            </a:solidFill>
            <a:ln>
              <a:noFill/>
            </a:ln>
          </p:spPr>
        </p:sp>
        <p:sp>
          <p:nvSpPr>
            <p:cNvPr id="15" name="Rectangle 15"/>
            <p:cNvSpPr/>
            <p:nvPr/>
          </p:nvSpPr>
          <p:spPr>
            <a:xfrm>
              <a:off x="609600" y="3657600"/>
              <a:ext cx="57150" cy="1771650"/>
            </a:xfrm>
            <a:prstGeom prst="rect">
              <a:avLst/>
            </a:prstGeom>
            <a:solidFill>
              <a:srgbClr val="00A6A6"/>
            </a:solidFill>
            <a:ln>
              <a:noFill/>
            </a:ln>
          </p:spPr>
        </p:sp>
        <p:sp>
          <p:nvSpPr>
            <p:cNvPr id="16" name="TextBox 16"/>
            <p:cNvSpPr txBox="1"/>
            <p:nvPr/>
          </p:nvSpPr>
          <p:spPr>
            <a:xfrm>
              <a:off x="908304" y="3832860"/>
              <a:ext cx="985967"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BENZETME</a:t>
              </a:r>
            </a:p>
          </p:txBody>
        </p:sp>
        <p:sp>
          <p:nvSpPr>
            <p:cNvPr id="17" name="TextBox 17"/>
            <p:cNvSpPr txBox="1"/>
            <p:nvPr/>
          </p:nvSpPr>
          <p:spPr>
            <a:xfrm>
              <a:off x="906399" y="4097179"/>
              <a:ext cx="450036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Repository bir kütüphane deposuna benzer:</a:t>
              </a:r>
            </a:p>
          </p:txBody>
        </p:sp>
        <p:sp>
          <p:nvSpPr>
            <p:cNvPr id="18" name="TextBox 18"/>
            <p:cNvSpPr txBox="1"/>
            <p:nvPr/>
          </p:nvSpPr>
          <p:spPr>
            <a:xfrm>
              <a:off x="906399" y="4363879"/>
              <a:ext cx="46209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depo görevlisi kitabın rafını bilir, ama kime</a:t>
              </a:r>
            </a:p>
          </p:txBody>
        </p:sp>
        <p:sp>
          <p:nvSpPr>
            <p:cNvPr id="19" name="TextBox 19"/>
            <p:cNvSpPr txBox="1"/>
            <p:nvPr/>
          </p:nvSpPr>
          <p:spPr>
            <a:xfrm>
              <a:off x="906399" y="4630579"/>
              <a:ext cx="28342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verileceğine karar vermez.</a:t>
              </a:r>
            </a:p>
          </p:txBody>
        </p:sp>
      </p:grpSp>
      <p:grpSp>
        <p:nvGrpSpPr>
          <p:cNvPr id="31" name="theory-block"/>
          <p:cNvGrpSpPr/>
          <p:nvPr/>
        </p:nvGrpSpPr>
        <p:grpSpPr>
          <a:xfrm>
            <a:off x="7315200" y="1219200"/>
            <a:ext cx="4267200" cy="4210050"/>
            <a:chOff x="7315200" y="1219200"/>
            <a:chExt cx="4267200" cy="4210050"/>
          </a:xfrm>
        </p:grpSpPr>
        <p:sp>
          <p:nvSpPr>
            <p:cNvPr id="21" name="Rectangle 21"/>
            <p:cNvSpPr/>
            <p:nvPr/>
          </p:nvSpPr>
          <p:spPr>
            <a:xfrm>
              <a:off x="7315200" y="1219200"/>
              <a:ext cx="4267200" cy="4210050"/>
            </a:xfrm>
            <a:prstGeom prst="roundRect">
              <a:avLst>
                <a:gd name="adj" fmla="val 1810"/>
              </a:avLst>
            </a:prstGeom>
            <a:solidFill>
              <a:srgbClr val="FFFFFF"/>
            </a:solidFill>
            <a:ln w="14288">
              <a:solidFill>
                <a:srgbClr val="B8CBD3"/>
              </a:solidFill>
            </a:ln>
          </p:spPr>
        </p:sp>
        <p:sp>
          <p:nvSpPr>
            <p:cNvPr id="22" name="TextBox 22"/>
            <p:cNvSpPr txBox="1"/>
            <p:nvPr/>
          </p:nvSpPr>
          <p:spPr>
            <a:xfrm>
              <a:off x="7537704" y="13944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23" name="TextBox 23"/>
            <p:cNvSpPr txBox="1"/>
            <p:nvPr/>
          </p:nvSpPr>
          <p:spPr>
            <a:xfrm>
              <a:off x="7536942" y="1721168"/>
              <a:ext cx="278022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Evans (2003) / Fowler (2002)</a:t>
              </a:r>
            </a:p>
          </p:txBody>
        </p:sp>
        <p:sp>
          <p:nvSpPr>
            <p:cNvPr id="24" name="TextBox 24"/>
            <p:cNvSpPr txBox="1"/>
            <p:nvPr/>
          </p:nvSpPr>
          <p:spPr>
            <a:xfrm>
              <a:off x="7537704" y="1985010"/>
              <a:ext cx="24353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Repository deseni: bellekteki bir</a:t>
              </a:r>
              <a:br/>
              <a:r>
                <a:rPr lang="tr-TR" sz="1200" dirty="0">
                  <a:solidFill>
                    <a:srgbClr val="172B3A"/>
                  </a:solidFill>
                  <a:latin typeface="+mn-lt"/>
                  <a:ea typeface="+mn-ea"/>
                  <a:cs typeface="+mn-cs"/>
                </a:rPr>
                <a:t>nesne koleksiyonu gibi davranan</a:t>
              </a:r>
              <a:br/>
              <a:r>
                <a:rPr lang="tr-TR" sz="1200" dirty="0">
                  <a:solidFill>
                    <a:srgbClr val="172B3A"/>
                  </a:solidFill>
                  <a:latin typeface="+mn-lt"/>
                  <a:ea typeface="+mn-ea"/>
                  <a:cs typeface="+mn-cs"/>
                </a:rPr>
                <a:t>soyutlama (bul, kaydet, sil).</a:t>
              </a:r>
            </a:p>
          </p:txBody>
        </p:sp>
        <p:sp>
          <p:nvSpPr>
            <p:cNvPr id="25" name="Line 25"/>
            <p:cNvSpPr/>
            <p:nvPr/>
          </p:nvSpPr>
          <p:spPr>
            <a:xfrm>
              <a:off x="7543800" y="272415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26" name="TextBox 26"/>
            <p:cNvSpPr txBox="1"/>
            <p:nvPr/>
          </p:nvSpPr>
          <p:spPr>
            <a:xfrm>
              <a:off x="7536942" y="2845118"/>
              <a:ext cx="382607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Martin — Bağımlılığın Tersine Çevrilmesi</a:t>
              </a:r>
            </a:p>
          </p:txBody>
        </p:sp>
        <p:sp>
          <p:nvSpPr>
            <p:cNvPr id="27" name="TextBox 27"/>
            <p:cNvSpPr txBox="1"/>
            <p:nvPr/>
          </p:nvSpPr>
          <p:spPr>
            <a:xfrm>
              <a:off x="7537704" y="3108960"/>
              <a:ext cx="27020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Üst seviye modüller (service) somut</a:t>
              </a:r>
              <a:br/>
              <a:r>
                <a:rPr lang="tr-TR" sz="1200" dirty="0">
                  <a:solidFill>
                    <a:srgbClr val="172B3A"/>
                  </a:solidFill>
                  <a:latin typeface="+mn-lt"/>
                  <a:ea typeface="+mn-ea"/>
                  <a:cs typeface="+mn-cs"/>
                </a:rPr>
                <a:t>veritabanına değil soyutlamalara</a:t>
              </a:r>
              <a:br/>
              <a:r>
                <a:rPr lang="tr-TR" sz="1200" dirty="0">
                  <a:solidFill>
                    <a:srgbClr val="172B3A"/>
                  </a:solidFill>
                  <a:latin typeface="+mn-lt"/>
                  <a:ea typeface="+mn-ea"/>
                  <a:cs typeface="+mn-cs"/>
                </a:rPr>
                <a:t>(interface) bağımlı olmalıdır.</a:t>
              </a:r>
            </a:p>
          </p:txBody>
        </p:sp>
        <p:sp>
          <p:nvSpPr>
            <p:cNvPr id="28" name="Line 28"/>
            <p:cNvSpPr/>
            <p:nvPr/>
          </p:nvSpPr>
          <p:spPr>
            <a:xfrm>
              <a:off x="7543800" y="38481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29" name="TextBox 29"/>
            <p:cNvSpPr txBox="1"/>
            <p:nvPr/>
          </p:nvSpPr>
          <p:spPr>
            <a:xfrm>
              <a:off x="7536942" y="3969068"/>
              <a:ext cx="5444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Sonuç</a:t>
              </a:r>
            </a:p>
          </p:txBody>
        </p:sp>
        <p:sp>
          <p:nvSpPr>
            <p:cNvPr id="30" name="TextBox 30"/>
            <p:cNvSpPr txBox="1"/>
            <p:nvPr/>
          </p:nvSpPr>
          <p:spPr>
            <a:xfrm>
              <a:off x="7537704" y="4232910"/>
              <a:ext cx="31440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Service kodu değişmeden veri kaynağı</a:t>
              </a:r>
              <a:br/>
              <a:r>
                <a:rPr lang="tr-TR" sz="1200" dirty="0">
                  <a:solidFill>
                    <a:srgbClr val="172B3A"/>
                  </a:solidFill>
                  <a:latin typeface="+mn-lt"/>
                  <a:ea typeface="+mn-ea"/>
                  <a:cs typeface="+mn-cs"/>
                </a:rPr>
                <a:t>(ör. PostgreSQL'e geçiş) değiştirilebilir.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804839" cy="668845"/>
            <a:chOff x="609600" y="171450"/>
            <a:chExt cx="880483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11446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9.4: Bellek içi repository uygulaması</a:t>
              </a:r>
            </a:p>
          </p:txBody>
        </p:sp>
      </p:grpSp>
      <p:grpSp>
        <p:nvGrpSpPr>
          <p:cNvPr id="26" name="code-panel"/>
          <p:cNvGrpSpPr/>
          <p:nvPr/>
        </p:nvGrpSpPr>
        <p:grpSpPr>
          <a:xfrm>
            <a:off x="609600" y="1181100"/>
            <a:ext cx="6553200" cy="4381500"/>
            <a:chOff x="609600" y="1181100"/>
            <a:chExt cx="6553200" cy="4381500"/>
          </a:xfrm>
        </p:grpSpPr>
        <p:sp>
          <p:nvSpPr>
            <p:cNvPr id="12" name="Rectangle 12"/>
            <p:cNvSpPr/>
            <p:nvPr/>
          </p:nvSpPr>
          <p:spPr>
            <a:xfrm>
              <a:off x="609600" y="1181100"/>
              <a:ext cx="6553200" cy="4381500"/>
            </a:xfrm>
            <a:prstGeom prst="roundRect">
              <a:avLst>
                <a:gd name="adj" fmla="val 1739"/>
              </a:avLst>
            </a:prstGeom>
            <a:solidFill>
              <a:srgbClr val="12355B"/>
            </a:solidFill>
            <a:ln>
              <a:noFill/>
            </a:ln>
          </p:spPr>
        </p:sp>
        <p:sp>
          <p:nvSpPr>
            <p:cNvPr id="13" name="TextBox 13"/>
            <p:cNvSpPr txBox="1"/>
            <p:nvPr/>
          </p:nvSpPr>
          <p:spPr>
            <a:xfrm>
              <a:off x="831342" y="1340168"/>
              <a:ext cx="209724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class KitapRepository {</a:t>
              </a:r>
            </a:p>
          </p:txBody>
        </p:sp>
        <p:sp>
          <p:nvSpPr>
            <p:cNvPr id="14" name="TextBox 14"/>
            <p:cNvSpPr txBox="1"/>
            <p:nvPr/>
          </p:nvSpPr>
          <p:spPr>
            <a:xfrm>
              <a:off x="831342" y="1587818"/>
              <a:ext cx="291696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private kitapListesi: Kitap[] = [</a:t>
              </a:r>
            </a:p>
          </p:txBody>
        </p:sp>
        <p:sp>
          <p:nvSpPr>
            <p:cNvPr id="15" name="TextBox 15"/>
            <p:cNvSpPr txBox="1"/>
            <p:nvPr/>
          </p:nvSpPr>
          <p:spPr>
            <a:xfrm>
              <a:off x="831342" y="1835468"/>
              <a:ext cx="337333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 kod: "JAVA-101", uygunMu: true },</a:t>
              </a:r>
            </a:p>
          </p:txBody>
        </p:sp>
        <p:sp>
          <p:nvSpPr>
            <p:cNvPr id="16" name="TextBox 16"/>
            <p:cNvSpPr txBox="1"/>
            <p:nvPr/>
          </p:nvSpPr>
          <p:spPr>
            <a:xfrm>
              <a:off x="831342" y="2083118"/>
              <a:ext cx="310657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 kod: "TS-201", uygunMu: false }</a:t>
              </a:r>
            </a:p>
          </p:txBody>
        </p:sp>
        <p:sp>
          <p:nvSpPr>
            <p:cNvPr id="17" name="TextBox 17"/>
            <p:cNvSpPr txBox="1"/>
            <p:nvPr/>
          </p:nvSpPr>
          <p:spPr>
            <a:xfrm>
              <a:off x="831342" y="2330768"/>
              <a:ext cx="21362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18" name="TextBox 18"/>
            <p:cNvSpPr txBox="1"/>
            <p:nvPr/>
          </p:nvSpPr>
          <p:spPr>
            <a:xfrm>
              <a:off x="831342" y="2635568"/>
              <a:ext cx="1383757"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kitapBul(kod) {</a:t>
              </a:r>
            </a:p>
          </p:txBody>
        </p:sp>
        <p:sp>
          <p:nvSpPr>
            <p:cNvPr id="19" name="TextBox 19"/>
            <p:cNvSpPr txBox="1"/>
            <p:nvPr/>
          </p:nvSpPr>
          <p:spPr>
            <a:xfrm>
              <a:off x="831342" y="2883218"/>
              <a:ext cx="229127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kitapListesi.find(</a:t>
              </a:r>
            </a:p>
          </p:txBody>
        </p:sp>
        <p:sp>
          <p:nvSpPr>
            <p:cNvPr id="20" name="TextBox 20"/>
            <p:cNvSpPr txBox="1"/>
            <p:nvPr/>
          </p:nvSpPr>
          <p:spPr>
            <a:xfrm>
              <a:off x="831342" y="3130868"/>
              <a:ext cx="183108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 =&gt; k.kod === kod);</a:t>
              </a:r>
            </a:p>
          </p:txBody>
        </p:sp>
        <p:sp>
          <p:nvSpPr>
            <p:cNvPr id="21" name="TextBox 21"/>
            <p:cNvSpPr txBox="1"/>
            <p:nvPr/>
          </p:nvSpPr>
          <p:spPr>
            <a:xfrm>
              <a:off x="831342" y="337851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22" name="TextBox 22"/>
            <p:cNvSpPr txBox="1"/>
            <p:nvPr/>
          </p:nvSpPr>
          <p:spPr>
            <a:xfrm>
              <a:off x="831342" y="36261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23" name="TextBox 23"/>
            <p:cNvSpPr txBox="1"/>
            <p:nvPr/>
          </p:nvSpPr>
          <p:spPr>
            <a:xfrm>
              <a:off x="831342" y="4007168"/>
              <a:ext cx="328957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const repo = new KitapRepository();</a:t>
              </a:r>
            </a:p>
          </p:txBody>
        </p:sp>
        <p:sp>
          <p:nvSpPr>
            <p:cNvPr id="24" name="TextBox 24"/>
            <p:cNvSpPr txBox="1"/>
            <p:nvPr/>
          </p:nvSpPr>
          <p:spPr>
            <a:xfrm>
              <a:off x="831342" y="4254818"/>
              <a:ext cx="417166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console.log(repo.kitapBul("JAVA-101")?.ad);</a:t>
              </a:r>
            </a:p>
          </p:txBody>
        </p:sp>
        <p:sp>
          <p:nvSpPr>
            <p:cNvPr id="25" name="TextBox 25"/>
            <p:cNvSpPr txBox="1"/>
            <p:nvPr/>
          </p:nvSpPr>
          <p:spPr>
            <a:xfrm>
              <a:off x="831342" y="4616768"/>
              <a:ext cx="2787360"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 Çıktı: Java ile Programlama</a:t>
              </a:r>
            </a:p>
          </p:txBody>
        </p:sp>
      </p:grpSp>
      <p:grpSp>
        <p:nvGrpSpPr>
          <p:cNvPr id="37" name="critical-lines"/>
          <p:cNvGrpSpPr/>
          <p:nvPr/>
        </p:nvGrpSpPr>
        <p:grpSpPr>
          <a:xfrm>
            <a:off x="7372350" y="1299210"/>
            <a:ext cx="3229356" cy="1834896"/>
            <a:chOff x="7372350" y="1299210"/>
            <a:chExt cx="3229356" cy="1834896"/>
          </a:xfrm>
        </p:grpSpPr>
        <p:sp>
          <p:nvSpPr>
            <p:cNvPr id="27" name="TextBox 27"/>
            <p:cNvSpPr txBox="1"/>
            <p:nvPr/>
          </p:nvSpPr>
          <p:spPr>
            <a:xfrm>
              <a:off x="7385304" y="1299210"/>
              <a:ext cx="16998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KRİTİK SATIRLAR</a:t>
              </a:r>
            </a:p>
          </p:txBody>
        </p:sp>
        <p:sp>
          <p:nvSpPr>
            <p:cNvPr id="28" name="Ellipse 28"/>
            <p:cNvSpPr/>
            <p:nvPr/>
          </p:nvSpPr>
          <p:spPr>
            <a:xfrm>
              <a:off x="7372350" y="1562100"/>
              <a:ext cx="228600" cy="228600"/>
            </a:xfrm>
            <a:prstGeom prst="ellipse">
              <a:avLst/>
            </a:prstGeom>
            <a:solidFill>
              <a:srgbClr val="12355B"/>
            </a:solidFill>
            <a:ln>
              <a:noFill/>
            </a:ln>
          </p:spPr>
        </p:sp>
        <p:sp>
          <p:nvSpPr>
            <p:cNvPr id="29" name="TextBox 29"/>
            <p:cNvSpPr txBox="1"/>
            <p:nvPr/>
          </p:nvSpPr>
          <p:spPr>
            <a:xfrm>
              <a:off x="7440501" y="16106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30" name="TextBox 30"/>
            <p:cNvSpPr txBox="1"/>
            <p:nvPr/>
          </p:nvSpPr>
          <p:spPr>
            <a:xfrm>
              <a:off x="7709154" y="1604010"/>
              <a:ext cx="28925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kitapListesi, gerçek bir veritabanının</a:t>
              </a:r>
              <a:br/>
              <a:r>
                <a:rPr lang="tr-TR" sz="1200" dirty="0">
                  <a:solidFill>
                    <a:srgbClr val="172B3A"/>
                  </a:solidFill>
                  <a:latin typeface="+mn-lt"/>
                  <a:ea typeface="+mn-ea"/>
                  <a:cs typeface="+mn-cs"/>
                </a:rPr>
                <a:t>yerini tutan private bir dizidir.</a:t>
              </a:r>
            </a:p>
          </p:txBody>
        </p:sp>
        <p:sp>
          <p:nvSpPr>
            <p:cNvPr id="31" name="Ellipse 31"/>
            <p:cNvSpPr/>
            <p:nvPr/>
          </p:nvSpPr>
          <p:spPr>
            <a:xfrm>
              <a:off x="7372350" y="2114550"/>
              <a:ext cx="228600" cy="228600"/>
            </a:xfrm>
            <a:prstGeom prst="ellipse">
              <a:avLst/>
            </a:prstGeom>
            <a:solidFill>
              <a:srgbClr val="12355B"/>
            </a:solidFill>
            <a:ln>
              <a:noFill/>
            </a:ln>
          </p:spPr>
        </p:sp>
        <p:sp>
          <p:nvSpPr>
            <p:cNvPr id="32" name="TextBox 32"/>
            <p:cNvSpPr txBox="1"/>
            <p:nvPr/>
          </p:nvSpPr>
          <p:spPr>
            <a:xfrm>
              <a:off x="7440501" y="216312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33" name="TextBox 33"/>
            <p:cNvSpPr txBox="1"/>
            <p:nvPr/>
          </p:nvSpPr>
          <p:spPr>
            <a:xfrm>
              <a:off x="7709154" y="2156460"/>
              <a:ext cx="2679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kitapBul, find ile arar; bulunamazsa</a:t>
              </a:r>
              <a:br/>
              <a:r>
                <a:rPr lang="tr-TR" sz="1200" dirty="0">
                  <a:solidFill>
                    <a:srgbClr val="172B3A"/>
                  </a:solidFill>
                  <a:latin typeface="+mn-lt"/>
                  <a:ea typeface="+mn-ea"/>
                  <a:cs typeface="+mn-cs"/>
                </a:rPr>
                <a:t>undefined döner.</a:t>
              </a:r>
            </a:p>
          </p:txBody>
        </p:sp>
        <p:sp>
          <p:nvSpPr>
            <p:cNvPr id="34" name="Ellipse 34"/>
            <p:cNvSpPr/>
            <p:nvPr/>
          </p:nvSpPr>
          <p:spPr>
            <a:xfrm>
              <a:off x="7372350" y="2667000"/>
              <a:ext cx="228600" cy="228600"/>
            </a:xfrm>
            <a:prstGeom prst="ellipse">
              <a:avLst/>
            </a:prstGeom>
            <a:solidFill>
              <a:srgbClr val="12355B"/>
            </a:solidFill>
            <a:ln>
              <a:noFill/>
            </a:ln>
          </p:spPr>
        </p:sp>
        <p:sp>
          <p:nvSpPr>
            <p:cNvPr id="35" name="TextBox 35"/>
            <p:cNvSpPr txBox="1"/>
            <p:nvPr/>
          </p:nvSpPr>
          <p:spPr>
            <a:xfrm>
              <a:off x="7440501" y="27155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36" name="TextBox 36"/>
            <p:cNvSpPr txBox="1"/>
            <p:nvPr/>
          </p:nvSpPr>
          <p:spPr>
            <a:xfrm>
              <a:off x="7709154" y="2708910"/>
              <a:ext cx="26944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opsiyonel zincirleme, bulunamama</a:t>
              </a:r>
              <a:br/>
              <a:r>
                <a:rPr lang="tr-TR" sz="1200" dirty="0">
                  <a:solidFill>
                    <a:srgbClr val="172B3A"/>
                  </a:solidFill>
                  <a:latin typeface="+mn-lt"/>
                  <a:ea typeface="+mn-ea"/>
                  <a:cs typeface="+mn-cs"/>
                </a:rPr>
                <a:t>durumunu güvenle ele alır.</a:t>
              </a:r>
            </a:p>
          </p:txBody>
        </p:sp>
      </p:grpSp>
      <p:grpSp>
        <p:nvGrpSpPr>
          <p:cNvPr id="42" name="caution-note"/>
          <p:cNvGrpSpPr/>
          <p:nvPr/>
        </p:nvGrpSpPr>
        <p:grpSpPr>
          <a:xfrm>
            <a:off x="7391400" y="4000500"/>
            <a:ext cx="4191000" cy="1562100"/>
            <a:chOff x="7391400" y="4000500"/>
            <a:chExt cx="4191000" cy="1562100"/>
          </a:xfrm>
        </p:grpSpPr>
        <p:sp>
          <p:nvSpPr>
            <p:cNvPr id="38" name="Rectangle 38"/>
            <p:cNvSpPr/>
            <p:nvPr/>
          </p:nvSpPr>
          <p:spPr>
            <a:xfrm>
              <a:off x="7391400" y="4000500"/>
              <a:ext cx="4191000" cy="1562100"/>
            </a:xfrm>
            <a:prstGeom prst="roundRect">
              <a:avLst>
                <a:gd name="adj" fmla="val 4878"/>
              </a:avLst>
            </a:prstGeom>
            <a:solidFill>
              <a:srgbClr val="EAF4F6"/>
            </a:solidFill>
            <a:ln>
              <a:noFill/>
            </a:ln>
          </p:spPr>
        </p:sp>
        <p:sp>
          <p:nvSpPr>
            <p:cNvPr id="39" name="Rectangle 39"/>
            <p:cNvSpPr/>
            <p:nvPr/>
          </p:nvSpPr>
          <p:spPr>
            <a:xfrm>
              <a:off x="7391400" y="4000500"/>
              <a:ext cx="57150" cy="1562100"/>
            </a:xfrm>
            <a:prstGeom prst="rect">
              <a:avLst/>
            </a:prstGeom>
            <a:solidFill>
              <a:srgbClr val="00A6A6"/>
            </a:solidFill>
            <a:ln>
              <a:noFill/>
            </a:ln>
          </p:spPr>
        </p:sp>
        <p:sp>
          <p:nvSpPr>
            <p:cNvPr id="40" name="TextBox 40"/>
            <p:cNvSpPr txBox="1"/>
            <p:nvPr/>
          </p:nvSpPr>
          <p:spPr>
            <a:xfrm>
              <a:off x="7613904" y="4175760"/>
              <a:ext cx="161580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DİKKAT NOKTASI</a:t>
              </a:r>
            </a:p>
          </p:txBody>
        </p:sp>
        <p:sp>
          <p:nvSpPr>
            <p:cNvPr id="41" name="TextBox 41"/>
            <p:cNvSpPr txBox="1"/>
            <p:nvPr/>
          </p:nvSpPr>
          <p:spPr>
            <a:xfrm>
              <a:off x="7613142" y="4445318"/>
              <a:ext cx="3459861"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İnterface sözleşmesi aynı kaldığı</a:t>
              </a:r>
              <a:br/>
              <a:r>
                <a:rPr lang="tr-TR" sz="1350" dirty="0">
                  <a:solidFill>
                    <a:srgbClr val="172B3A"/>
                  </a:solidFill>
                  <a:latin typeface="+mn-lt"/>
                  <a:ea typeface="+mn-ea"/>
                  <a:cs typeface="+mn-cs"/>
                </a:rPr>
                <a:t>sürece bu repository, gerçek bir</a:t>
              </a:r>
              <a:br/>
              <a:r>
                <a:rPr lang="tr-TR" sz="1350" dirty="0">
                  <a:solidFill>
                    <a:srgbClr val="172B3A"/>
                  </a:solidFill>
                  <a:latin typeface="+mn-lt"/>
                  <a:ea typeface="+mn-ea"/>
                  <a:cs typeface="+mn-cs"/>
                </a:rPr>
                <a:t>PostgreSQL veya Prisma repository'siyle</a:t>
              </a:r>
              <a:br/>
              <a:r>
                <a:rPr lang="tr-TR" sz="1350" dirty="0">
                  <a:solidFill>
                    <a:srgbClr val="172B3A"/>
                  </a:solidFill>
                  <a:latin typeface="+mn-lt"/>
                  <a:ea typeface="+mn-ea"/>
                  <a:cs typeface="+mn-cs"/>
                </a:rPr>
                <a:t>service kodu değişmeden yer değiştirir.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353167" cy="668845"/>
            <a:chOff x="609600" y="171450"/>
            <a:chExt cx="935316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66279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Repository: alternatifler ve yaygın hatalar</a:t>
              </a:r>
            </a:p>
          </p:txBody>
        </p:sp>
      </p:grpSp>
      <p:grpSp>
        <p:nvGrpSpPr>
          <p:cNvPr id="16" name="alt-header"/>
          <p:cNvGrpSpPr/>
          <p:nvPr/>
        </p:nvGrpSpPr>
        <p:grpSpPr>
          <a:xfrm>
            <a:off x="609600" y="1181100"/>
            <a:ext cx="10972800" cy="381000"/>
            <a:chOff x="609600" y="1181100"/>
            <a:chExt cx="10972800" cy="381000"/>
          </a:xfrm>
        </p:grpSpPr>
        <p:sp>
          <p:nvSpPr>
            <p:cNvPr id="12" name="Rectangle 12"/>
            <p:cNvSpPr/>
            <p:nvPr/>
          </p:nvSpPr>
          <p:spPr>
            <a:xfrm>
              <a:off x="609600" y="1181100"/>
              <a:ext cx="10972800" cy="381000"/>
            </a:xfrm>
            <a:prstGeom prst="rect">
              <a:avLst/>
            </a:prstGeom>
            <a:solidFill>
              <a:srgbClr val="12355B"/>
            </a:solidFill>
            <a:ln>
              <a:noFill/>
            </a:ln>
          </p:spPr>
        </p:sp>
        <p:sp>
          <p:nvSpPr>
            <p:cNvPr id="13" name="TextBox 13"/>
            <p:cNvSpPr txBox="1"/>
            <p:nvPr/>
          </p:nvSpPr>
          <p:spPr>
            <a:xfrm>
              <a:off x="755904" y="12992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4" name="TextBox 14"/>
            <p:cNvSpPr txBox="1"/>
            <p:nvPr/>
          </p:nvSpPr>
          <p:spPr>
            <a:xfrm>
              <a:off x="3994404" y="1299210"/>
              <a:ext cx="83064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AVANTAJI</a:t>
              </a:r>
            </a:p>
          </p:txBody>
        </p:sp>
        <p:sp>
          <p:nvSpPr>
            <p:cNvPr id="15" name="TextBox 15"/>
            <p:cNvSpPr txBox="1"/>
            <p:nvPr/>
          </p:nvSpPr>
          <p:spPr>
            <a:xfrm>
              <a:off x="7613904" y="1299210"/>
              <a:ext cx="115836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DEZAVANTAJI</a:t>
              </a:r>
            </a:p>
          </p:txBody>
        </p:sp>
      </p:grpSp>
      <p:grpSp>
        <p:nvGrpSpPr>
          <p:cNvPr id="21" name="alt-row1"/>
          <p:cNvGrpSpPr/>
          <p:nvPr/>
        </p:nvGrpSpPr>
        <p:grpSpPr>
          <a:xfrm>
            <a:off x="609600" y="1699260"/>
            <a:ext cx="10972800" cy="329565"/>
            <a:chOff x="609600" y="1699260"/>
            <a:chExt cx="10972800" cy="329565"/>
          </a:xfrm>
        </p:grpSpPr>
        <p:sp>
          <p:nvSpPr>
            <p:cNvPr id="17" name="TextBox 17"/>
            <p:cNvSpPr txBox="1"/>
            <p:nvPr/>
          </p:nvSpPr>
          <p:spPr>
            <a:xfrm>
              <a:off x="755904" y="1699260"/>
              <a:ext cx="201922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Doğrudan ORM kullanımı</a:t>
              </a:r>
            </a:p>
          </p:txBody>
        </p:sp>
        <p:sp>
          <p:nvSpPr>
            <p:cNvPr id="18" name="TextBox 18"/>
            <p:cNvSpPr txBox="1"/>
            <p:nvPr/>
          </p:nvSpPr>
          <p:spPr>
            <a:xfrm>
              <a:off x="3994785" y="1707356"/>
              <a:ext cx="9434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Az kod içerir</a:t>
              </a:r>
            </a:p>
          </p:txBody>
        </p:sp>
        <p:sp>
          <p:nvSpPr>
            <p:cNvPr id="19" name="TextBox 19"/>
            <p:cNvSpPr txBox="1"/>
            <p:nvPr/>
          </p:nvSpPr>
          <p:spPr>
            <a:xfrm>
              <a:off x="7614285" y="1707356"/>
              <a:ext cx="24887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Service teknik altyapıya bağlanır</a:t>
              </a:r>
            </a:p>
          </p:txBody>
        </p:sp>
        <p:sp>
          <p:nvSpPr>
            <p:cNvPr id="20" name="Line 20"/>
            <p:cNvSpPr/>
            <p:nvPr/>
          </p:nvSpPr>
          <p:spPr>
            <a:xfrm>
              <a:off x="609600" y="2019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alt-row2"/>
          <p:cNvGrpSpPr/>
          <p:nvPr/>
        </p:nvGrpSpPr>
        <p:grpSpPr>
          <a:xfrm>
            <a:off x="609600" y="2019300"/>
            <a:ext cx="10972800" cy="466725"/>
            <a:chOff x="609600" y="2019300"/>
            <a:chExt cx="10972800" cy="466725"/>
          </a:xfrm>
        </p:grpSpPr>
        <p:sp>
          <p:nvSpPr>
            <p:cNvPr id="22" name="Rectangle 22"/>
            <p:cNvSpPr/>
            <p:nvPr/>
          </p:nvSpPr>
          <p:spPr>
            <a:xfrm>
              <a:off x="609600" y="2019300"/>
              <a:ext cx="10972800" cy="457200"/>
            </a:xfrm>
            <a:prstGeom prst="rect">
              <a:avLst/>
            </a:prstGeom>
            <a:solidFill>
              <a:srgbClr val="EAF4F6"/>
            </a:solidFill>
            <a:ln>
              <a:noFill/>
            </a:ln>
          </p:spPr>
        </p:sp>
        <p:sp>
          <p:nvSpPr>
            <p:cNvPr id="23" name="TextBox 23"/>
            <p:cNvSpPr txBox="1"/>
            <p:nvPr/>
          </p:nvSpPr>
          <p:spPr>
            <a:xfrm>
              <a:off x="755904" y="2156460"/>
              <a:ext cx="90774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Repository</a:t>
              </a:r>
            </a:p>
          </p:txBody>
        </p:sp>
        <p:sp>
          <p:nvSpPr>
            <p:cNvPr id="24" name="TextBox 24"/>
            <p:cNvSpPr txBox="1"/>
            <p:nvPr/>
          </p:nvSpPr>
          <p:spPr>
            <a:xfrm>
              <a:off x="3994785" y="2164556"/>
              <a:ext cx="17726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 kaynağını soyutlar</a:t>
              </a:r>
            </a:p>
          </p:txBody>
        </p:sp>
        <p:sp>
          <p:nvSpPr>
            <p:cNvPr id="25" name="TextBox 25"/>
            <p:cNvSpPr txBox="1"/>
            <p:nvPr/>
          </p:nvSpPr>
          <p:spPr>
            <a:xfrm>
              <a:off x="7614285" y="2164556"/>
              <a:ext cx="17200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Ek soyutlama oluşturur</a:t>
              </a:r>
            </a:p>
          </p:txBody>
        </p:sp>
        <p:sp>
          <p:nvSpPr>
            <p:cNvPr id="26" name="Line 26"/>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alt-row3"/>
          <p:cNvGrpSpPr/>
          <p:nvPr/>
        </p:nvGrpSpPr>
        <p:grpSpPr>
          <a:xfrm>
            <a:off x="609600" y="2613660"/>
            <a:ext cx="10972800" cy="329565"/>
            <a:chOff x="609600" y="2613660"/>
            <a:chExt cx="10972800" cy="329565"/>
          </a:xfrm>
        </p:grpSpPr>
        <p:sp>
          <p:nvSpPr>
            <p:cNvPr id="28" name="TextBox 28"/>
            <p:cNvSpPr txBox="1"/>
            <p:nvPr/>
          </p:nvSpPr>
          <p:spPr>
            <a:xfrm>
              <a:off x="755904" y="2613660"/>
              <a:ext cx="11508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Active Record</a:t>
              </a:r>
            </a:p>
          </p:txBody>
        </p:sp>
        <p:sp>
          <p:nvSpPr>
            <p:cNvPr id="29" name="TextBox 29"/>
            <p:cNvSpPr txBox="1"/>
            <p:nvPr/>
          </p:nvSpPr>
          <p:spPr>
            <a:xfrm>
              <a:off x="3994785" y="2621756"/>
              <a:ext cx="180582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Basit CRUD için pratiktir</a:t>
              </a:r>
            </a:p>
          </p:txBody>
        </p:sp>
        <p:sp>
          <p:nvSpPr>
            <p:cNvPr id="30" name="TextBox 30"/>
            <p:cNvSpPr txBox="1"/>
            <p:nvPr/>
          </p:nvSpPr>
          <p:spPr>
            <a:xfrm>
              <a:off x="7614285" y="2621756"/>
              <a:ext cx="245088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Domain ve veri erişimi birleşebilir</a:t>
              </a:r>
            </a:p>
          </p:txBody>
        </p:sp>
        <p:sp>
          <p:nvSpPr>
            <p:cNvPr id="31" name="Line 31"/>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4"/>
          <p:cNvGrpSpPr/>
          <p:nvPr/>
        </p:nvGrpSpPr>
        <p:grpSpPr>
          <a:xfrm>
            <a:off x="609600" y="2933700"/>
            <a:ext cx="10972800" cy="457200"/>
            <a:chOff x="609600" y="2933700"/>
            <a:chExt cx="10972800" cy="457200"/>
          </a:xfrm>
        </p:grpSpPr>
        <p:sp>
          <p:nvSpPr>
            <p:cNvPr id="33" name="Rectangle 33"/>
            <p:cNvSpPr/>
            <p:nvPr/>
          </p:nvSpPr>
          <p:spPr>
            <a:xfrm>
              <a:off x="609600" y="2933700"/>
              <a:ext cx="10972800" cy="457200"/>
            </a:xfrm>
            <a:prstGeom prst="rect">
              <a:avLst/>
            </a:prstGeom>
            <a:solidFill>
              <a:srgbClr val="EAF4F6"/>
            </a:solidFill>
            <a:ln>
              <a:noFill/>
            </a:ln>
          </p:spPr>
        </p:sp>
        <p:sp>
          <p:nvSpPr>
            <p:cNvPr id="34" name="TextBox 34"/>
            <p:cNvSpPr txBox="1"/>
            <p:nvPr/>
          </p:nvSpPr>
          <p:spPr>
            <a:xfrm>
              <a:off x="755904" y="3070860"/>
              <a:ext cx="118505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Query Service</a:t>
              </a:r>
            </a:p>
          </p:txBody>
        </p:sp>
        <p:sp>
          <p:nvSpPr>
            <p:cNvPr id="35" name="TextBox 35"/>
            <p:cNvSpPr txBox="1"/>
            <p:nvPr/>
          </p:nvSpPr>
          <p:spPr>
            <a:xfrm>
              <a:off x="3994785" y="3078956"/>
              <a:ext cx="22175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Karmaşık raporlarda güçlüdür</a:t>
              </a:r>
            </a:p>
          </p:txBody>
        </p:sp>
        <p:sp>
          <p:nvSpPr>
            <p:cNvPr id="36" name="TextBox 36"/>
            <p:cNvSpPr txBox="1"/>
            <p:nvPr/>
          </p:nvSpPr>
          <p:spPr>
            <a:xfrm>
              <a:off x="7614285" y="3078956"/>
              <a:ext cx="163708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Ek tasarım gerektirir</a:t>
              </a:r>
            </a:p>
          </p:txBody>
        </p:sp>
      </p:grpSp>
      <p:grpSp>
        <p:nvGrpSpPr>
          <p:cNvPr id="40" name="usage-note"/>
          <p:cNvGrpSpPr/>
          <p:nvPr/>
        </p:nvGrpSpPr>
        <p:grpSpPr>
          <a:xfrm>
            <a:off x="601599" y="3678079"/>
            <a:ext cx="8445717" cy="574739"/>
            <a:chOff x="601599" y="3678079"/>
            <a:chExt cx="8445717" cy="574739"/>
          </a:xfrm>
        </p:grpSpPr>
        <p:sp>
          <p:nvSpPr>
            <p:cNvPr id="38" name="TextBox 38"/>
            <p:cNvSpPr txBox="1"/>
            <p:nvPr/>
          </p:nvSpPr>
          <p:spPr>
            <a:xfrm>
              <a:off x="601599" y="3678079"/>
              <a:ext cx="844571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Uygulama veri saklıyor, sorguluyor veya güncelliyorsa repository katmanı tercih</a:t>
              </a:r>
            </a:p>
          </p:txBody>
        </p:sp>
        <p:sp>
          <p:nvSpPr>
            <p:cNvPr id="39" name="TextBox 39"/>
            <p:cNvSpPr txBox="1"/>
            <p:nvPr/>
          </p:nvSpPr>
          <p:spPr>
            <a:xfrm>
              <a:off x="601599" y="3944779"/>
              <a:ext cx="74179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edilmelidir; karmaşık raporlar için ayrı bir sorgu servisi düşünülebilir.</a:t>
              </a:r>
            </a:p>
          </p:txBody>
        </p:sp>
      </p:grpSp>
      <p:grpSp>
        <p:nvGrpSpPr>
          <p:cNvPr id="47" name="common-errors"/>
          <p:cNvGrpSpPr/>
          <p:nvPr/>
        </p:nvGrpSpPr>
        <p:grpSpPr>
          <a:xfrm>
            <a:off x="609600" y="4438650"/>
            <a:ext cx="10972800" cy="1790700"/>
            <a:chOff x="609600" y="4438650"/>
            <a:chExt cx="10972800" cy="1790700"/>
          </a:xfrm>
        </p:grpSpPr>
        <p:sp>
          <p:nvSpPr>
            <p:cNvPr id="41" name="Rectangle 41"/>
            <p:cNvSpPr/>
            <p:nvPr/>
          </p:nvSpPr>
          <p:spPr>
            <a:xfrm>
              <a:off x="609600" y="4438650"/>
              <a:ext cx="10972800" cy="1790700"/>
            </a:xfrm>
            <a:prstGeom prst="roundRect">
              <a:avLst>
                <a:gd name="adj" fmla="val 4255"/>
              </a:avLst>
            </a:prstGeom>
            <a:solidFill>
              <a:srgbClr val="EAF4F6"/>
            </a:solidFill>
            <a:ln>
              <a:noFill/>
            </a:ln>
          </p:spPr>
        </p:sp>
        <p:sp>
          <p:nvSpPr>
            <p:cNvPr id="42" name="Rectangle 42"/>
            <p:cNvSpPr/>
            <p:nvPr/>
          </p:nvSpPr>
          <p:spPr>
            <a:xfrm>
              <a:off x="609600" y="4438650"/>
              <a:ext cx="57150" cy="1790700"/>
            </a:xfrm>
            <a:prstGeom prst="rect">
              <a:avLst/>
            </a:prstGeom>
            <a:solidFill>
              <a:srgbClr val="00A6A6"/>
            </a:solidFill>
            <a:ln>
              <a:noFill/>
            </a:ln>
          </p:spPr>
        </p:sp>
        <p:sp>
          <p:nvSpPr>
            <p:cNvPr id="43" name="TextBox 43"/>
            <p:cNvSpPr txBox="1"/>
            <p:nvPr/>
          </p:nvSpPr>
          <p:spPr>
            <a:xfrm>
              <a:off x="908304" y="4613910"/>
              <a:ext cx="1579961"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YAYGIN HATALAR</a:t>
              </a:r>
            </a:p>
          </p:txBody>
        </p:sp>
        <p:sp>
          <p:nvSpPr>
            <p:cNvPr id="44" name="TextBox 44"/>
            <p:cNvSpPr txBox="1"/>
            <p:nvPr/>
          </p:nvSpPr>
          <p:spPr>
            <a:xfrm>
              <a:off x="907542" y="4883468"/>
              <a:ext cx="75437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Repository içinde "öğrencinin limiti doluysa kayıt yapma" gibi iş kuralları yazmak.</a:t>
              </a:r>
            </a:p>
          </p:txBody>
        </p:sp>
        <p:sp>
          <p:nvSpPr>
            <p:cNvPr id="45" name="TextBox 45"/>
            <p:cNvSpPr txBox="1"/>
            <p:nvPr/>
          </p:nvSpPr>
          <p:spPr>
            <a:xfrm>
              <a:off x="907542" y="5207318"/>
              <a:ext cx="442707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Bulunamayan veriyi kontrol etmeden kullanmak.</a:t>
              </a:r>
            </a:p>
          </p:txBody>
        </p:sp>
        <p:sp>
          <p:nvSpPr>
            <p:cNvPr id="46" name="TextBox 46"/>
            <p:cNvSpPr txBox="1"/>
            <p:nvPr/>
          </p:nvSpPr>
          <p:spPr>
            <a:xfrm>
              <a:off x="907542" y="5531168"/>
              <a:ext cx="61899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Repository'den istemciye doğrudan veritabanı nesnesi göndermek.</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550010" cy="557403"/>
            <a:chOff x="595122" y="282892"/>
            <a:chExt cx="5550010" cy="557403"/>
          </a:xfrm>
        </p:grpSpPr>
        <p:sp>
          <p:nvSpPr>
            <p:cNvPr id="4" name="TextBox 4"/>
            <p:cNvSpPr txBox="1"/>
            <p:nvPr/>
          </p:nvSpPr>
          <p:spPr>
            <a:xfrm>
              <a:off x="595122" y="282892"/>
              <a:ext cx="55500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DTO ve domain model ayrımı</a:t>
              </a:r>
            </a:p>
          </p:txBody>
        </p:sp>
      </p:grpSp>
      <p:grpSp>
        <p:nvGrpSpPr>
          <p:cNvPr id="12" name="dto-icon"/>
          <p:cNvGrpSpPr/>
          <p:nvPr/>
        </p:nvGrpSpPr>
        <p:grpSpPr>
          <a:xfrm>
            <a:off x="720723" y="1285874"/>
            <a:ext cx="311146" cy="400044"/>
            <a:chOff x="720723" y="1285874"/>
            <a:chExt cx="311146" cy="400044"/>
          </a:xfrm>
        </p:grpSpPr>
        <p:grpSp>
          <p:nvGrpSpPr>
            <p:cNvPr id="11" name="icon-dto"/>
            <p:cNvGrpSpPr/>
            <p:nvPr/>
          </p:nvGrpSpPr>
          <p:grpSpPr>
            <a:xfrm>
              <a:off x="720723" y="1285874"/>
              <a:ext cx="311146" cy="400044"/>
              <a:chOff x="720723" y="1285874"/>
              <a:chExt cx="311146" cy="400044"/>
            </a:xfrm>
          </p:grpSpPr>
          <p:sp>
            <p:nvSpPr>
              <p:cNvPr id="6" name="Freeform 6"/>
              <p:cNvSpPr/>
              <p:nvPr/>
            </p:nvSpPr>
            <p:spPr>
              <a:xfrm>
                <a:off x="920746" y="1285874"/>
                <a:ext cx="111123" cy="111123"/>
              </a:xfrm>
              <a:custGeom>
                <a:avLst/>
                <a:gdLst/>
                <a:ahLst/>
                <a:cxnLst/>
                <a:rect l="l" t="t" r="r" b="b"/>
                <a:pathLst>
                  <a:path w="111123" h="111123">
                    <a:moveTo>
                      <a:pt x="0" y="0"/>
                    </a:moveTo>
                    <a:lnTo>
                      <a:pt x="0" y="88899"/>
                    </a:lnTo>
                    <a:cubicBezTo>
                      <a:pt x="0" y="101173"/>
                      <a:pt x="9950" y="111123"/>
                      <a:pt x="22225" y="111123"/>
                    </a:cubicBezTo>
                    <a:lnTo>
                      <a:pt x="111123" y="111123"/>
                    </a:lnTo>
                  </a:path>
                </a:pathLst>
              </a:custGeom>
              <a:noFill/>
              <a:ln w="19047" cap="rnd">
                <a:solidFill>
                  <a:srgbClr val="12355B"/>
                </a:solidFill>
                <a:round/>
              </a:ln>
            </p:spPr>
          </p:sp>
          <p:sp>
            <p:nvSpPr>
              <p:cNvPr id="7" name="Freeform 7"/>
              <p:cNvSpPr/>
              <p:nvPr/>
            </p:nvSpPr>
            <p:spPr>
              <a:xfrm>
                <a:off x="720723" y="1285874"/>
                <a:ext cx="311146" cy="400044"/>
              </a:xfrm>
              <a:custGeom>
                <a:avLst/>
                <a:gdLst/>
                <a:ahLst/>
                <a:cxnLst/>
                <a:rect l="l" t="t" r="r" b="b"/>
                <a:pathLst>
                  <a:path w="311146" h="400044">
                    <a:moveTo>
                      <a:pt x="266696" y="400044"/>
                    </a:moveTo>
                    <a:lnTo>
                      <a:pt x="44449" y="400044"/>
                    </a:lnTo>
                    <a:cubicBezTo>
                      <a:pt x="19901" y="400044"/>
                      <a:pt x="0" y="380144"/>
                      <a:pt x="0" y="355595"/>
                    </a:cubicBezTo>
                    <a:lnTo>
                      <a:pt x="0" y="44449"/>
                    </a:lnTo>
                    <a:cubicBezTo>
                      <a:pt x="0" y="19901"/>
                      <a:pt x="19901" y="0"/>
                      <a:pt x="44449" y="0"/>
                    </a:cubicBezTo>
                    <a:lnTo>
                      <a:pt x="200022" y="0"/>
                    </a:lnTo>
                    <a:lnTo>
                      <a:pt x="311146" y="111123"/>
                    </a:lnTo>
                    <a:lnTo>
                      <a:pt x="311146" y="355595"/>
                    </a:lnTo>
                    <a:cubicBezTo>
                      <a:pt x="311146" y="380144"/>
                      <a:pt x="291245" y="400044"/>
                      <a:pt x="266696" y="400044"/>
                    </a:cubicBezTo>
                  </a:path>
                </a:pathLst>
              </a:custGeom>
              <a:noFill/>
              <a:ln w="19047" cap="rnd">
                <a:solidFill>
                  <a:srgbClr val="12355B"/>
                </a:solidFill>
                <a:round/>
              </a:ln>
            </p:spPr>
          </p:sp>
          <p:sp>
            <p:nvSpPr>
              <p:cNvPr id="8" name="Freeform 8"/>
              <p:cNvSpPr/>
              <p:nvPr/>
            </p:nvSpPr>
            <p:spPr>
              <a:xfrm>
                <a:off x="809622" y="1419222"/>
                <a:ext cx="22225" cy="9525"/>
              </a:xfrm>
              <a:custGeom>
                <a:avLst/>
                <a:gdLst/>
                <a:ahLst/>
                <a:cxnLst/>
                <a:rect l="l" t="t" r="r" b="b"/>
                <a:pathLst>
                  <a:path w="22225" h="9525">
                    <a:moveTo>
                      <a:pt x="0" y="0"/>
                    </a:moveTo>
                    <a:lnTo>
                      <a:pt x="22225" y="0"/>
                    </a:lnTo>
                  </a:path>
                </a:pathLst>
              </a:custGeom>
              <a:noFill/>
              <a:ln w="19047" cap="rnd">
                <a:solidFill>
                  <a:srgbClr val="12355B"/>
                </a:solidFill>
                <a:round/>
              </a:ln>
            </p:spPr>
          </p:sp>
          <p:sp>
            <p:nvSpPr>
              <p:cNvPr id="9" name="Freeform 9"/>
              <p:cNvSpPr/>
              <p:nvPr/>
            </p:nvSpPr>
            <p:spPr>
              <a:xfrm>
                <a:off x="809622" y="1508121"/>
                <a:ext cx="133348" cy="9525"/>
              </a:xfrm>
              <a:custGeom>
                <a:avLst/>
                <a:gdLst/>
                <a:ahLst/>
                <a:cxnLst/>
                <a:rect l="l" t="t" r="r" b="b"/>
                <a:pathLst>
                  <a:path w="133348" h="9525">
                    <a:moveTo>
                      <a:pt x="0" y="0"/>
                    </a:moveTo>
                    <a:lnTo>
                      <a:pt x="133348" y="0"/>
                    </a:lnTo>
                  </a:path>
                </a:pathLst>
              </a:custGeom>
              <a:noFill/>
              <a:ln w="19047" cap="rnd">
                <a:solidFill>
                  <a:srgbClr val="12355B"/>
                </a:solidFill>
                <a:round/>
              </a:ln>
            </p:spPr>
          </p:sp>
          <p:sp>
            <p:nvSpPr>
              <p:cNvPr id="10" name="Freeform 10"/>
              <p:cNvSpPr/>
              <p:nvPr/>
            </p:nvSpPr>
            <p:spPr>
              <a:xfrm>
                <a:off x="809622" y="1597020"/>
                <a:ext cx="133348" cy="9525"/>
              </a:xfrm>
              <a:custGeom>
                <a:avLst/>
                <a:gdLst/>
                <a:ahLst/>
                <a:cxnLst/>
                <a:rect l="l" t="t" r="r" b="b"/>
                <a:pathLst>
                  <a:path w="133348" h="9525">
                    <a:moveTo>
                      <a:pt x="0" y="0"/>
                    </a:moveTo>
                    <a:lnTo>
                      <a:pt x="133348" y="0"/>
                    </a:lnTo>
                  </a:path>
                </a:pathLst>
              </a:custGeom>
              <a:noFill/>
              <a:ln w="19047" cap="rnd">
                <a:solidFill>
                  <a:srgbClr val="12355B"/>
                </a:solidFill>
                <a:round/>
              </a:ln>
            </p:spPr>
          </p:sp>
        </p:grpSp>
      </p:grpSp>
      <p:grpSp>
        <p:nvGrpSpPr>
          <p:cNvPr id="15" name="definition-block"/>
          <p:cNvGrpSpPr/>
          <p:nvPr/>
        </p:nvGrpSpPr>
        <p:grpSpPr>
          <a:xfrm>
            <a:off x="1363980" y="1318260"/>
            <a:ext cx="3434715" cy="1337310"/>
            <a:chOff x="1363980" y="1318260"/>
            <a:chExt cx="3434715" cy="1337310"/>
          </a:xfrm>
        </p:grpSpPr>
        <p:sp>
          <p:nvSpPr>
            <p:cNvPr id="13" name="TextBox 13"/>
            <p:cNvSpPr txBox="1"/>
            <p:nvPr/>
          </p:nvSpPr>
          <p:spPr>
            <a:xfrm>
              <a:off x="1365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14" name="TextBox 14"/>
            <p:cNvSpPr txBox="1"/>
            <p:nvPr/>
          </p:nvSpPr>
          <p:spPr>
            <a:xfrm>
              <a:off x="1363980" y="1590675"/>
              <a:ext cx="3434715" cy="1064895"/>
            </a:xfrm>
            <a:prstGeom prst="rect">
              <a:avLst/>
            </a:prstGeom>
            <a:noFill/>
            <a:ln>
              <a:noFill/>
            </a:ln>
          </p:spPr>
          <p:txBody>
            <a:bodyPr wrap="none" lIns="0" tIns="0" rIns="0" bIns="0" anchor="t" anchorCtr="0">
              <a:spAutoFit/>
            </a:bodyPr>
            <a:lstStyle/>
            <a:p>
              <a:pPr algn="l">
                <a:lnSpc>
                  <a:spcPts val="2025"/>
                </a:lnSpc>
              </a:pPr>
              <a:r>
                <a:rPr lang="tr-TR" sz="1500" dirty="0">
                  <a:solidFill>
                    <a:srgbClr val="172B3A"/>
                  </a:solidFill>
                  <a:latin typeface="+mn-lt"/>
                  <a:ea typeface="+mn-ea"/>
                  <a:cs typeface="+mn-cs"/>
                </a:rPr>
                <a:t>DTO, katmanlar veya dış dünya</a:t>
              </a:r>
              <a:br/>
              <a:r>
                <a:rPr lang="tr-TR" sz="1500" dirty="0">
                  <a:solidFill>
                    <a:srgbClr val="172B3A"/>
                  </a:solidFill>
                  <a:latin typeface="+mn-lt"/>
                  <a:ea typeface="+mn-ea"/>
                  <a:cs typeface="+mn-cs"/>
                </a:rPr>
                <a:t>arasında taşınan verinin amaca özel</a:t>
              </a:r>
              <a:br/>
              <a:r>
                <a:rPr lang="tr-TR" sz="1500" dirty="0">
                  <a:solidFill>
                    <a:srgbClr val="172B3A"/>
                  </a:solidFill>
                  <a:latin typeface="+mn-lt"/>
                  <a:ea typeface="+mn-ea"/>
                  <a:cs typeface="+mn-cs"/>
                </a:rPr>
                <a:t>biçimidir. Domain model ise iş</a:t>
              </a:r>
              <a:br/>
              <a:r>
                <a:rPr lang="tr-TR" sz="1500" dirty="0">
                  <a:solidFill>
                    <a:srgbClr val="172B3A"/>
                  </a:solidFill>
                  <a:latin typeface="+mn-lt"/>
                  <a:ea typeface="+mn-ea"/>
                  <a:cs typeface="+mn-cs"/>
                </a:rPr>
                <a:t>alanındaki gerçek kavramları taşır.</a:t>
              </a:r>
            </a:p>
          </p:txBody>
        </p:sp>
      </p:grpSp>
      <p:grpSp>
        <p:nvGrpSpPr>
          <p:cNvPr id="22" name="delivery-analogy"/>
          <p:cNvGrpSpPr/>
          <p:nvPr/>
        </p:nvGrpSpPr>
        <p:grpSpPr>
          <a:xfrm>
            <a:off x="609600" y="3657600"/>
            <a:ext cx="6400800" cy="1771650"/>
            <a:chOff x="609600" y="3657600"/>
            <a:chExt cx="6400800" cy="1771650"/>
          </a:xfrm>
        </p:grpSpPr>
        <p:sp>
          <p:nvSpPr>
            <p:cNvPr id="16" name="Rectangle 16"/>
            <p:cNvSpPr/>
            <p:nvPr/>
          </p:nvSpPr>
          <p:spPr>
            <a:xfrm>
              <a:off x="609600" y="3657600"/>
              <a:ext cx="6400800" cy="1771650"/>
            </a:xfrm>
            <a:prstGeom prst="roundRect">
              <a:avLst>
                <a:gd name="adj" fmla="val 4301"/>
              </a:avLst>
            </a:prstGeom>
            <a:solidFill>
              <a:srgbClr val="EAF4F6"/>
            </a:solidFill>
            <a:ln>
              <a:noFill/>
            </a:ln>
          </p:spPr>
        </p:sp>
        <p:sp>
          <p:nvSpPr>
            <p:cNvPr id="17" name="Rectangle 17"/>
            <p:cNvSpPr/>
            <p:nvPr/>
          </p:nvSpPr>
          <p:spPr>
            <a:xfrm>
              <a:off x="609600" y="3657600"/>
              <a:ext cx="57150" cy="1771650"/>
            </a:xfrm>
            <a:prstGeom prst="rect">
              <a:avLst/>
            </a:prstGeom>
            <a:solidFill>
              <a:srgbClr val="00A6A6"/>
            </a:solidFill>
            <a:ln>
              <a:noFill/>
            </a:ln>
          </p:spPr>
        </p:sp>
        <p:sp>
          <p:nvSpPr>
            <p:cNvPr id="18" name="TextBox 18"/>
            <p:cNvSpPr txBox="1"/>
            <p:nvPr/>
          </p:nvSpPr>
          <p:spPr>
            <a:xfrm>
              <a:off x="908304" y="3832860"/>
              <a:ext cx="985967"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BENZETME</a:t>
              </a:r>
            </a:p>
          </p:txBody>
        </p:sp>
        <p:sp>
          <p:nvSpPr>
            <p:cNvPr id="19" name="TextBox 19"/>
            <p:cNvSpPr txBox="1"/>
            <p:nvPr/>
          </p:nvSpPr>
          <p:spPr>
            <a:xfrm>
              <a:off x="906399" y="4097179"/>
              <a:ext cx="364312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DTO kapıdaki teslim formu, domain</a:t>
              </a:r>
            </a:p>
          </p:txBody>
        </p:sp>
        <p:sp>
          <p:nvSpPr>
            <p:cNvPr id="20" name="TextBox 20"/>
            <p:cNvSpPr txBox="1"/>
            <p:nvPr/>
          </p:nvSpPr>
          <p:spPr>
            <a:xfrm>
              <a:off x="906399" y="4363879"/>
              <a:ext cx="429126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model ise kurum içindeki resmî kayıttır;</a:t>
              </a:r>
            </a:p>
          </p:txBody>
        </p:sp>
        <p:sp>
          <p:nvSpPr>
            <p:cNvPr id="21" name="TextBox 21"/>
            <p:cNvSpPr txBox="1"/>
            <p:nvPr/>
          </p:nvSpPr>
          <p:spPr>
            <a:xfrm>
              <a:off x="906399" y="4630579"/>
              <a:ext cx="364253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form kayıttaki her alanı taşımaz.</a:t>
              </a:r>
            </a:p>
          </p:txBody>
        </p:sp>
      </p:grpSp>
      <p:grpSp>
        <p:nvGrpSpPr>
          <p:cNvPr id="33" name="theory-block"/>
          <p:cNvGrpSpPr/>
          <p:nvPr/>
        </p:nvGrpSpPr>
        <p:grpSpPr>
          <a:xfrm>
            <a:off x="7315200" y="1219200"/>
            <a:ext cx="4267200" cy="4210050"/>
            <a:chOff x="7315200" y="1219200"/>
            <a:chExt cx="4267200" cy="4210050"/>
          </a:xfrm>
        </p:grpSpPr>
        <p:sp>
          <p:nvSpPr>
            <p:cNvPr id="23" name="Rectangle 23"/>
            <p:cNvSpPr/>
            <p:nvPr/>
          </p:nvSpPr>
          <p:spPr>
            <a:xfrm>
              <a:off x="7315200" y="1219200"/>
              <a:ext cx="4267200" cy="4210050"/>
            </a:xfrm>
            <a:prstGeom prst="roundRect">
              <a:avLst>
                <a:gd name="adj" fmla="val 1810"/>
              </a:avLst>
            </a:prstGeom>
            <a:solidFill>
              <a:srgbClr val="FFFFFF"/>
            </a:solidFill>
            <a:ln w="14288">
              <a:solidFill>
                <a:srgbClr val="B8CBD3"/>
              </a:solidFill>
            </a:ln>
          </p:spPr>
        </p:sp>
        <p:sp>
          <p:nvSpPr>
            <p:cNvPr id="24" name="TextBox 24"/>
            <p:cNvSpPr txBox="1"/>
            <p:nvPr/>
          </p:nvSpPr>
          <p:spPr>
            <a:xfrm>
              <a:off x="7537704" y="13944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25" name="TextBox 25"/>
            <p:cNvSpPr txBox="1"/>
            <p:nvPr/>
          </p:nvSpPr>
          <p:spPr>
            <a:xfrm>
              <a:off x="7536942" y="1721168"/>
              <a:ext cx="13331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Fowler (2002)</a:t>
              </a:r>
            </a:p>
          </p:txBody>
        </p:sp>
        <p:sp>
          <p:nvSpPr>
            <p:cNvPr id="26" name="TextBox 26"/>
            <p:cNvSpPr txBox="1"/>
            <p:nvPr/>
          </p:nvSpPr>
          <p:spPr>
            <a:xfrm>
              <a:off x="7537704" y="1985010"/>
              <a:ext cx="27934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DTO deseni: dış sınırdan geçen veri,</a:t>
              </a:r>
              <a:br/>
              <a:r>
                <a:rPr lang="tr-TR" sz="1200" dirty="0">
                  <a:solidFill>
                    <a:srgbClr val="172B3A"/>
                  </a:solidFill>
                  <a:latin typeface="+mn-lt"/>
                  <a:ea typeface="+mn-ea"/>
                  <a:cs typeface="+mn-cs"/>
                </a:rPr>
                <a:t>iç modelden bağımsız, amaca özel</a:t>
              </a:r>
              <a:br/>
              <a:r>
                <a:rPr lang="tr-TR" sz="1200" dirty="0">
                  <a:solidFill>
                    <a:srgbClr val="172B3A"/>
                  </a:solidFill>
                  <a:latin typeface="+mn-lt"/>
                  <a:ea typeface="+mn-ea"/>
                  <a:cs typeface="+mn-cs"/>
                </a:rPr>
                <a:t>bir biçime sahip olmalıdır.</a:t>
              </a:r>
            </a:p>
          </p:txBody>
        </p:sp>
        <p:sp>
          <p:nvSpPr>
            <p:cNvPr id="27" name="Line 27"/>
            <p:cNvSpPr/>
            <p:nvPr/>
          </p:nvSpPr>
          <p:spPr>
            <a:xfrm>
              <a:off x="7543800" y="272415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28" name="TextBox 28"/>
            <p:cNvSpPr txBox="1"/>
            <p:nvPr/>
          </p:nvSpPr>
          <p:spPr>
            <a:xfrm>
              <a:off x="7536942" y="2845118"/>
              <a:ext cx="344381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Fowler (2003) — Anemic Domain Model</a:t>
              </a:r>
            </a:p>
          </p:txBody>
        </p:sp>
        <p:sp>
          <p:nvSpPr>
            <p:cNvPr id="29" name="TextBox 29"/>
            <p:cNvSpPr txBox="1"/>
            <p:nvPr/>
          </p:nvSpPr>
          <p:spPr>
            <a:xfrm>
              <a:off x="7537704" y="3108960"/>
              <a:ext cx="25801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Domain yalnızca veri taşıyıcısına</a:t>
              </a:r>
              <a:br/>
              <a:r>
                <a:rPr lang="tr-TR" sz="1200" dirty="0">
                  <a:solidFill>
                    <a:srgbClr val="172B3A"/>
                  </a:solidFill>
                  <a:latin typeface="+mn-lt"/>
                  <a:ea typeface="+mn-ea"/>
                  <a:cs typeface="+mn-cs"/>
                </a:rPr>
                <a:t>indirgenirse iş kuralları başka</a:t>
              </a:r>
              <a:br/>
              <a:r>
                <a:rPr lang="tr-TR" sz="1200" dirty="0">
                  <a:solidFill>
                    <a:srgbClr val="172B3A"/>
                  </a:solidFill>
                  <a:latin typeface="+mn-lt"/>
                  <a:ea typeface="+mn-ea"/>
                  <a:cs typeface="+mn-cs"/>
                </a:rPr>
                <a:t>yerlere (service'e) sızar.</a:t>
              </a:r>
            </a:p>
          </p:txBody>
        </p:sp>
        <p:sp>
          <p:nvSpPr>
            <p:cNvPr id="30" name="Line 30"/>
            <p:cNvSpPr/>
            <p:nvPr/>
          </p:nvSpPr>
          <p:spPr>
            <a:xfrm>
              <a:off x="7543800" y="38481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31" name="TextBox 31"/>
            <p:cNvSpPr txBox="1"/>
            <p:nvPr/>
          </p:nvSpPr>
          <p:spPr>
            <a:xfrm>
              <a:off x="7536942" y="3969068"/>
              <a:ext cx="230481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Evans — Bounded Context</a:t>
              </a:r>
            </a:p>
          </p:txBody>
        </p:sp>
        <p:sp>
          <p:nvSpPr>
            <p:cNvPr id="32" name="TextBox 32"/>
            <p:cNvSpPr txBox="1"/>
            <p:nvPr/>
          </p:nvSpPr>
          <p:spPr>
            <a:xfrm>
              <a:off x="7537704" y="4232910"/>
              <a:ext cx="28315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Hangi modelin hangi sınırda geçerli</a:t>
              </a:r>
              <a:br/>
              <a:r>
                <a:rPr lang="tr-TR" sz="1200" dirty="0">
                  <a:solidFill>
                    <a:srgbClr val="172B3A"/>
                  </a:solidFill>
                  <a:latin typeface="+mn-lt"/>
                  <a:ea typeface="+mn-ea"/>
                  <a:cs typeface="+mn-cs"/>
                </a:rPr>
                <a:t>olduğunu belirlemenin kuramsal aracı.</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22557" cy="557403"/>
            <a:chOff x="595122" y="282892"/>
            <a:chExt cx="7822557" cy="557403"/>
          </a:xfrm>
        </p:grpSpPr>
        <p:sp>
          <p:nvSpPr>
            <p:cNvPr id="4" name="TextBox 4"/>
            <p:cNvSpPr txBox="1"/>
            <p:nvPr/>
          </p:nvSpPr>
          <p:spPr>
            <a:xfrm>
              <a:off x="595122" y="282892"/>
              <a:ext cx="782255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DTO ile domain modelin güvenli dönüşümü</a:t>
              </a:r>
            </a:p>
          </p:txBody>
        </p:sp>
      </p:grpSp>
      <p:grpSp>
        <p:nvGrpSpPr>
          <p:cNvPr id="23" name="code-panel"/>
          <p:cNvGrpSpPr/>
          <p:nvPr/>
        </p:nvGrpSpPr>
        <p:grpSpPr>
          <a:xfrm>
            <a:off x="609600" y="1181100"/>
            <a:ext cx="6553200" cy="4404551"/>
            <a:chOff x="609600" y="1181100"/>
            <a:chExt cx="6553200" cy="4404551"/>
          </a:xfrm>
        </p:grpSpPr>
        <p:sp>
          <p:nvSpPr>
            <p:cNvPr id="6" name="Rectangle 6"/>
            <p:cNvSpPr/>
            <p:nvPr/>
          </p:nvSpPr>
          <p:spPr>
            <a:xfrm>
              <a:off x="609600" y="1181100"/>
              <a:ext cx="6553200" cy="4381500"/>
            </a:xfrm>
            <a:prstGeom prst="roundRect">
              <a:avLst>
                <a:gd name="adj" fmla="val 1739"/>
              </a:avLst>
            </a:prstGeom>
            <a:solidFill>
              <a:srgbClr val="12355B"/>
            </a:solidFill>
            <a:ln>
              <a:noFill/>
            </a:ln>
          </p:spPr>
        </p:sp>
        <p:sp>
          <p:nvSpPr>
            <p:cNvPr id="7" name="TextBox 7"/>
            <p:cNvSpPr txBox="1"/>
            <p:nvPr/>
          </p:nvSpPr>
          <p:spPr>
            <a:xfrm>
              <a:off x="831342" y="1340168"/>
              <a:ext cx="2079580"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interface OduncKaydi {</a:t>
              </a:r>
            </a:p>
          </p:txBody>
        </p:sp>
        <p:sp>
          <p:nvSpPr>
            <p:cNvPr id="8" name="TextBox 8"/>
            <p:cNvSpPr txBox="1"/>
            <p:nvPr/>
          </p:nvSpPr>
          <p:spPr>
            <a:xfrm>
              <a:off x="831342" y="1587818"/>
              <a:ext cx="191884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kayitKimligi: number;</a:t>
              </a:r>
            </a:p>
          </p:txBody>
        </p:sp>
        <p:sp>
          <p:nvSpPr>
            <p:cNvPr id="9" name="TextBox 9"/>
            <p:cNvSpPr txBox="1"/>
            <p:nvPr/>
          </p:nvSpPr>
          <p:spPr>
            <a:xfrm>
              <a:off x="831342" y="1835468"/>
              <a:ext cx="2039858"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sonTeslimTarihi: Date;</a:t>
              </a:r>
            </a:p>
          </p:txBody>
        </p:sp>
        <p:sp>
          <p:nvSpPr>
            <p:cNvPr id="10" name="TextBox 10"/>
            <p:cNvSpPr txBox="1"/>
            <p:nvPr/>
          </p:nvSpPr>
          <p:spPr>
            <a:xfrm>
              <a:off x="831342" y="2083118"/>
              <a:ext cx="315525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icNot: string; // yalnızca personel</a:t>
              </a:r>
            </a:p>
          </p:txBody>
        </p:sp>
        <p:sp>
          <p:nvSpPr>
            <p:cNvPr id="11" name="TextBox 11"/>
            <p:cNvSpPr txBox="1"/>
            <p:nvPr/>
          </p:nvSpPr>
          <p:spPr>
            <a:xfrm>
              <a:off x="831342" y="23307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12" name="TextBox 12"/>
            <p:cNvSpPr txBox="1"/>
            <p:nvPr/>
          </p:nvSpPr>
          <p:spPr>
            <a:xfrm>
              <a:off x="831342" y="2711768"/>
              <a:ext cx="288447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interface OduncAlmaYanitiDTO {</a:t>
              </a:r>
            </a:p>
          </p:txBody>
        </p:sp>
        <p:sp>
          <p:nvSpPr>
            <p:cNvPr id="13" name="TextBox 13"/>
            <p:cNvSpPr txBox="1"/>
            <p:nvPr/>
          </p:nvSpPr>
          <p:spPr>
            <a:xfrm>
              <a:off x="831342" y="2959418"/>
              <a:ext cx="168288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kitapKodu: string;</a:t>
              </a:r>
            </a:p>
          </p:txBody>
        </p:sp>
        <p:sp>
          <p:nvSpPr>
            <p:cNvPr id="14" name="TextBox 14"/>
            <p:cNvSpPr txBox="1"/>
            <p:nvPr/>
          </p:nvSpPr>
          <p:spPr>
            <a:xfrm>
              <a:off x="831342" y="3207068"/>
              <a:ext cx="218804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sonTeslimTarihi: string;</a:t>
              </a:r>
            </a:p>
          </p:txBody>
        </p:sp>
        <p:sp>
          <p:nvSpPr>
            <p:cNvPr id="15" name="TextBox 15"/>
            <p:cNvSpPr txBox="1"/>
            <p:nvPr/>
          </p:nvSpPr>
          <p:spPr>
            <a:xfrm>
              <a:off x="831342" y="345471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16" name="TextBox 16"/>
            <p:cNvSpPr txBox="1"/>
            <p:nvPr/>
          </p:nvSpPr>
          <p:spPr>
            <a:xfrm>
              <a:off x="831342" y="3835718"/>
              <a:ext cx="3137388"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function yanitDTOOlustur(kayit) {</a:t>
              </a:r>
            </a:p>
          </p:txBody>
        </p:sp>
        <p:sp>
          <p:nvSpPr>
            <p:cNvPr id="17" name="TextBox 17"/>
            <p:cNvSpPr txBox="1"/>
            <p:nvPr/>
          </p:nvSpPr>
          <p:spPr>
            <a:xfrm>
              <a:off x="831342" y="4083368"/>
              <a:ext cx="76792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return {</a:t>
              </a:r>
            </a:p>
          </p:txBody>
        </p:sp>
        <p:sp>
          <p:nvSpPr>
            <p:cNvPr id="18" name="TextBox 18"/>
            <p:cNvSpPr txBox="1"/>
            <p:nvPr/>
          </p:nvSpPr>
          <p:spPr>
            <a:xfrm>
              <a:off x="831342" y="4331018"/>
              <a:ext cx="254316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kitapKodu: kayit.kitapKodu,</a:t>
              </a:r>
            </a:p>
          </p:txBody>
        </p:sp>
        <p:sp>
          <p:nvSpPr>
            <p:cNvPr id="19" name="TextBox 19"/>
            <p:cNvSpPr txBox="1"/>
            <p:nvPr/>
          </p:nvSpPr>
          <p:spPr>
            <a:xfrm>
              <a:off x="831342" y="4578668"/>
              <a:ext cx="310678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sonTeslimTarihi: ...toISOString()</a:t>
              </a:r>
            </a:p>
          </p:txBody>
        </p:sp>
        <p:sp>
          <p:nvSpPr>
            <p:cNvPr id="20" name="TextBox 20"/>
            <p:cNvSpPr txBox="1"/>
            <p:nvPr/>
          </p:nvSpPr>
          <p:spPr>
            <a:xfrm>
              <a:off x="831342" y="4826318"/>
              <a:ext cx="21362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a:t>
              </a:r>
            </a:p>
          </p:txBody>
        </p:sp>
        <p:sp>
          <p:nvSpPr>
            <p:cNvPr id="21" name="TextBox 21"/>
            <p:cNvSpPr txBox="1"/>
            <p:nvPr/>
          </p:nvSpPr>
          <p:spPr>
            <a:xfrm>
              <a:off x="831342" y="50739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mn-lt"/>
                  <a:ea typeface="+mn-ea"/>
                  <a:cs typeface="+mn-cs"/>
                </a:rPr>
                <a:t>}</a:t>
              </a:r>
            </a:p>
          </p:txBody>
        </p:sp>
        <p:sp>
          <p:nvSpPr>
            <p:cNvPr id="22" name="TextBox 22"/>
            <p:cNvSpPr txBox="1"/>
            <p:nvPr/>
          </p:nvSpPr>
          <p:spPr>
            <a:xfrm>
              <a:off x="831342" y="5321618"/>
              <a:ext cx="264419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 Çıktı: icNot alanı içermez</a:t>
              </a:r>
            </a:p>
          </p:txBody>
        </p:sp>
      </p:grpSp>
      <p:grpSp>
        <p:nvGrpSpPr>
          <p:cNvPr id="34" name="critical-lines"/>
          <p:cNvGrpSpPr/>
          <p:nvPr/>
        </p:nvGrpSpPr>
        <p:grpSpPr>
          <a:xfrm>
            <a:off x="7372350" y="1299210"/>
            <a:ext cx="3313176" cy="1834896"/>
            <a:chOff x="7372350" y="1299210"/>
            <a:chExt cx="3313176" cy="1834896"/>
          </a:xfrm>
        </p:grpSpPr>
        <p:sp>
          <p:nvSpPr>
            <p:cNvPr id="24" name="TextBox 24"/>
            <p:cNvSpPr txBox="1"/>
            <p:nvPr/>
          </p:nvSpPr>
          <p:spPr>
            <a:xfrm>
              <a:off x="7385304" y="1299210"/>
              <a:ext cx="16998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KRİTİK SATIRLAR</a:t>
              </a:r>
            </a:p>
          </p:txBody>
        </p:sp>
        <p:sp>
          <p:nvSpPr>
            <p:cNvPr id="25" name="Ellipse 25"/>
            <p:cNvSpPr/>
            <p:nvPr/>
          </p:nvSpPr>
          <p:spPr>
            <a:xfrm>
              <a:off x="7372350" y="1562100"/>
              <a:ext cx="228600" cy="228600"/>
            </a:xfrm>
            <a:prstGeom prst="ellipse">
              <a:avLst/>
            </a:prstGeom>
            <a:solidFill>
              <a:srgbClr val="12355B"/>
            </a:solidFill>
            <a:ln>
              <a:noFill/>
            </a:ln>
          </p:spPr>
        </p:sp>
        <p:sp>
          <p:nvSpPr>
            <p:cNvPr id="26" name="TextBox 26"/>
            <p:cNvSpPr txBox="1"/>
            <p:nvPr/>
          </p:nvSpPr>
          <p:spPr>
            <a:xfrm>
              <a:off x="7440501" y="16106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1</a:t>
              </a:r>
            </a:p>
          </p:txBody>
        </p:sp>
        <p:sp>
          <p:nvSpPr>
            <p:cNvPr id="27" name="TextBox 27"/>
            <p:cNvSpPr txBox="1"/>
            <p:nvPr/>
          </p:nvSpPr>
          <p:spPr>
            <a:xfrm>
              <a:off x="7709154" y="1604010"/>
              <a:ext cx="25039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OduncKaydi iç kullanım için zengin</a:t>
              </a:r>
              <a:br/>
              <a:r>
                <a:rPr lang="tr-TR" sz="1200" dirty="0">
                  <a:solidFill>
                    <a:srgbClr val="172B3A"/>
                  </a:solidFill>
                  <a:latin typeface="+mn-lt"/>
                  <a:ea typeface="+mn-ea"/>
                  <a:cs typeface="+mn-cs"/>
                </a:rPr>
                <a:t>bir domain modelidir.</a:t>
              </a:r>
            </a:p>
          </p:txBody>
        </p:sp>
        <p:sp>
          <p:nvSpPr>
            <p:cNvPr id="28" name="Ellipse 28"/>
            <p:cNvSpPr/>
            <p:nvPr/>
          </p:nvSpPr>
          <p:spPr>
            <a:xfrm>
              <a:off x="7372350" y="2114550"/>
              <a:ext cx="228600" cy="228600"/>
            </a:xfrm>
            <a:prstGeom prst="ellipse">
              <a:avLst/>
            </a:prstGeom>
            <a:solidFill>
              <a:srgbClr val="12355B"/>
            </a:solidFill>
            <a:ln>
              <a:noFill/>
            </a:ln>
          </p:spPr>
        </p:sp>
        <p:sp>
          <p:nvSpPr>
            <p:cNvPr id="29" name="TextBox 29"/>
            <p:cNvSpPr txBox="1"/>
            <p:nvPr/>
          </p:nvSpPr>
          <p:spPr>
            <a:xfrm>
              <a:off x="7440501" y="216312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2</a:t>
              </a:r>
            </a:p>
          </p:txBody>
        </p:sp>
        <p:sp>
          <p:nvSpPr>
            <p:cNvPr id="30" name="TextBox 30"/>
            <p:cNvSpPr txBox="1"/>
            <p:nvPr/>
          </p:nvSpPr>
          <p:spPr>
            <a:xfrm>
              <a:off x="7709154" y="2156460"/>
              <a:ext cx="29763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OduncAlmaYanitiDTO yalnızca istemcinin</a:t>
              </a:r>
              <a:br/>
              <a:r>
                <a:rPr lang="tr-TR" sz="1200" dirty="0">
                  <a:solidFill>
                    <a:srgbClr val="172B3A"/>
                  </a:solidFill>
                  <a:latin typeface="+mn-lt"/>
                  <a:ea typeface="+mn-ea"/>
                  <a:cs typeface="+mn-cs"/>
                </a:rPr>
                <a:t>ihtiyaç duyduğu iki alanı taşır.</a:t>
              </a:r>
            </a:p>
          </p:txBody>
        </p:sp>
        <p:sp>
          <p:nvSpPr>
            <p:cNvPr id="31" name="Ellipse 31"/>
            <p:cNvSpPr/>
            <p:nvPr/>
          </p:nvSpPr>
          <p:spPr>
            <a:xfrm>
              <a:off x="7372350" y="2667000"/>
              <a:ext cx="228600" cy="228600"/>
            </a:xfrm>
            <a:prstGeom prst="ellipse">
              <a:avLst/>
            </a:prstGeom>
            <a:solidFill>
              <a:srgbClr val="12355B"/>
            </a:solidFill>
            <a:ln>
              <a:noFill/>
            </a:ln>
          </p:spPr>
        </p:sp>
        <p:sp>
          <p:nvSpPr>
            <p:cNvPr id="32" name="TextBox 32"/>
            <p:cNvSpPr txBox="1"/>
            <p:nvPr/>
          </p:nvSpPr>
          <p:spPr>
            <a:xfrm>
              <a:off x="7440501" y="2715578"/>
              <a:ext cx="92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3</a:t>
              </a:r>
            </a:p>
          </p:txBody>
        </p:sp>
        <p:sp>
          <p:nvSpPr>
            <p:cNvPr id="33" name="TextBox 33"/>
            <p:cNvSpPr txBox="1"/>
            <p:nvPr/>
          </p:nvSpPr>
          <p:spPr>
            <a:xfrm>
              <a:off x="7709154" y="2708910"/>
              <a:ext cx="26563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yanitDTOOlustur fonksiyonu güvenli</a:t>
              </a:r>
              <a:br/>
              <a:r>
                <a:rPr lang="tr-TR" sz="1200" dirty="0">
                  <a:solidFill>
                    <a:srgbClr val="172B3A"/>
                  </a:solidFill>
                  <a:latin typeface="+mn-lt"/>
                  <a:ea typeface="+mn-ea"/>
                  <a:cs typeface="+mn-cs"/>
                </a:rPr>
                <a:t>dönüşümü yapar; icNot sızmaz.</a:t>
              </a:r>
            </a:p>
          </p:txBody>
        </p:sp>
      </p:grpSp>
      <p:grpSp>
        <p:nvGrpSpPr>
          <p:cNvPr id="39" name="caution-note"/>
          <p:cNvGrpSpPr/>
          <p:nvPr/>
        </p:nvGrpSpPr>
        <p:grpSpPr>
          <a:xfrm>
            <a:off x="7391400" y="4000500"/>
            <a:ext cx="4191000" cy="1562100"/>
            <a:chOff x="7391400" y="4000500"/>
            <a:chExt cx="4191000" cy="1562100"/>
          </a:xfrm>
        </p:grpSpPr>
        <p:sp>
          <p:nvSpPr>
            <p:cNvPr id="35" name="Rectangle 35"/>
            <p:cNvSpPr/>
            <p:nvPr/>
          </p:nvSpPr>
          <p:spPr>
            <a:xfrm>
              <a:off x="7391400" y="4000500"/>
              <a:ext cx="4191000" cy="1562100"/>
            </a:xfrm>
            <a:prstGeom prst="roundRect">
              <a:avLst>
                <a:gd name="adj" fmla="val 4878"/>
              </a:avLst>
            </a:prstGeom>
            <a:solidFill>
              <a:srgbClr val="EAF4F6"/>
            </a:solidFill>
            <a:ln>
              <a:noFill/>
            </a:ln>
          </p:spPr>
        </p:sp>
        <p:sp>
          <p:nvSpPr>
            <p:cNvPr id="36" name="Rectangle 36"/>
            <p:cNvSpPr/>
            <p:nvPr/>
          </p:nvSpPr>
          <p:spPr>
            <a:xfrm>
              <a:off x="7391400" y="4000500"/>
              <a:ext cx="57150" cy="1562100"/>
            </a:xfrm>
            <a:prstGeom prst="rect">
              <a:avLst/>
            </a:prstGeom>
            <a:solidFill>
              <a:srgbClr val="00A6A6"/>
            </a:solidFill>
            <a:ln>
              <a:noFill/>
            </a:ln>
          </p:spPr>
        </p:sp>
        <p:sp>
          <p:nvSpPr>
            <p:cNvPr id="37" name="TextBox 37"/>
            <p:cNvSpPr txBox="1"/>
            <p:nvPr/>
          </p:nvSpPr>
          <p:spPr>
            <a:xfrm>
              <a:off x="7613904" y="4175760"/>
              <a:ext cx="161580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DİKKAT NOKTASI</a:t>
              </a:r>
            </a:p>
          </p:txBody>
        </p:sp>
        <p:sp>
          <p:nvSpPr>
            <p:cNvPr id="38" name="TextBox 38"/>
            <p:cNvSpPr txBox="1"/>
            <p:nvPr/>
          </p:nvSpPr>
          <p:spPr>
            <a:xfrm>
              <a:off x="7613142" y="4445318"/>
              <a:ext cx="3399854"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İstemciden gelen DTO'ya sistemin</a:t>
              </a:r>
              <a:br/>
              <a:r>
                <a:rPr lang="tr-TR" sz="1350" dirty="0">
                  <a:solidFill>
                    <a:srgbClr val="172B3A"/>
                  </a:solidFill>
                  <a:latin typeface="+mn-lt"/>
                  <a:ea typeface="+mn-ea"/>
                  <a:cs typeface="+mn-cs"/>
                </a:rPr>
                <a:t>hesaplaması gereken alanlar (ör.</a:t>
              </a:r>
              <a:br/>
              <a:r>
                <a:rPr lang="tr-TR" sz="1350" dirty="0">
                  <a:solidFill>
                    <a:srgbClr val="172B3A"/>
                  </a:solidFill>
                  <a:latin typeface="+mn-lt"/>
                  <a:ea typeface="+mn-ea"/>
                  <a:cs typeface="+mn-cs"/>
                </a:rPr>
                <a:t>mevcut ödünç sayısı) asla konulmamalı;</a:t>
              </a:r>
              <a:br/>
              <a:r>
                <a:rPr lang="tr-TR" sz="1350" dirty="0">
                  <a:solidFill>
                    <a:srgbClr val="172B3A"/>
                  </a:solidFill>
                  <a:latin typeface="+mn-lt"/>
                  <a:ea typeface="+mn-ea"/>
                  <a:cs typeface="+mn-cs"/>
                </a:rPr>
                <a:t>bu değerler güvenilmez kabul edilir.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010355" cy="668845"/>
            <a:chOff x="609600" y="171450"/>
            <a:chExt cx="801035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3199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DTO: alternatifler ve yaygın hatalar</a:t>
              </a:r>
            </a:p>
          </p:txBody>
        </p:sp>
      </p:grpSp>
      <p:grpSp>
        <p:nvGrpSpPr>
          <p:cNvPr id="16" name="alt-header"/>
          <p:cNvGrpSpPr/>
          <p:nvPr/>
        </p:nvGrpSpPr>
        <p:grpSpPr>
          <a:xfrm>
            <a:off x="609600" y="1181100"/>
            <a:ext cx="10972800" cy="381000"/>
            <a:chOff x="609600" y="1181100"/>
            <a:chExt cx="10972800" cy="381000"/>
          </a:xfrm>
        </p:grpSpPr>
        <p:sp>
          <p:nvSpPr>
            <p:cNvPr id="12" name="Rectangle 12"/>
            <p:cNvSpPr/>
            <p:nvPr/>
          </p:nvSpPr>
          <p:spPr>
            <a:xfrm>
              <a:off x="609600" y="1181100"/>
              <a:ext cx="10972800" cy="381000"/>
            </a:xfrm>
            <a:prstGeom prst="rect">
              <a:avLst/>
            </a:prstGeom>
            <a:solidFill>
              <a:srgbClr val="12355B"/>
            </a:solidFill>
            <a:ln>
              <a:noFill/>
            </a:ln>
          </p:spPr>
        </p:sp>
        <p:sp>
          <p:nvSpPr>
            <p:cNvPr id="13" name="TextBox 13"/>
            <p:cNvSpPr txBox="1"/>
            <p:nvPr/>
          </p:nvSpPr>
          <p:spPr>
            <a:xfrm>
              <a:off x="755904" y="12992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4" name="TextBox 14"/>
            <p:cNvSpPr txBox="1"/>
            <p:nvPr/>
          </p:nvSpPr>
          <p:spPr>
            <a:xfrm>
              <a:off x="3994404" y="1299210"/>
              <a:ext cx="83064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AVANTAJI</a:t>
              </a:r>
            </a:p>
          </p:txBody>
        </p:sp>
        <p:sp>
          <p:nvSpPr>
            <p:cNvPr id="15" name="TextBox 15"/>
            <p:cNvSpPr txBox="1"/>
            <p:nvPr/>
          </p:nvSpPr>
          <p:spPr>
            <a:xfrm>
              <a:off x="7613904" y="1299210"/>
              <a:ext cx="54772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RİSKİ</a:t>
              </a:r>
            </a:p>
          </p:txBody>
        </p:sp>
      </p:grpSp>
      <p:grpSp>
        <p:nvGrpSpPr>
          <p:cNvPr id="21" name="alt-row1"/>
          <p:cNvGrpSpPr/>
          <p:nvPr/>
        </p:nvGrpSpPr>
        <p:grpSpPr>
          <a:xfrm>
            <a:off x="609600" y="1699260"/>
            <a:ext cx="10972800" cy="329565"/>
            <a:chOff x="609600" y="1699260"/>
            <a:chExt cx="10972800" cy="329565"/>
          </a:xfrm>
        </p:grpSpPr>
        <p:sp>
          <p:nvSpPr>
            <p:cNvPr id="17" name="TextBox 17"/>
            <p:cNvSpPr txBox="1"/>
            <p:nvPr/>
          </p:nvSpPr>
          <p:spPr>
            <a:xfrm>
              <a:off x="755904" y="1699260"/>
              <a:ext cx="285039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Domain modeli doğrudan döndürmek</a:t>
              </a:r>
            </a:p>
          </p:txBody>
        </p:sp>
        <p:sp>
          <p:nvSpPr>
            <p:cNvPr id="18" name="TextBox 18"/>
            <p:cNvSpPr txBox="1"/>
            <p:nvPr/>
          </p:nvSpPr>
          <p:spPr>
            <a:xfrm>
              <a:off x="3994785" y="1707356"/>
              <a:ext cx="12153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Az dönüşüm kodu</a:t>
              </a:r>
            </a:p>
          </p:txBody>
        </p:sp>
        <p:sp>
          <p:nvSpPr>
            <p:cNvPr id="19" name="TextBox 19"/>
            <p:cNvSpPr txBox="1"/>
            <p:nvPr/>
          </p:nvSpPr>
          <p:spPr>
            <a:xfrm>
              <a:off x="7614285" y="1707356"/>
              <a:ext cx="14861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 sızıntısı riski</a:t>
              </a:r>
            </a:p>
          </p:txBody>
        </p:sp>
        <p:sp>
          <p:nvSpPr>
            <p:cNvPr id="20" name="Line 20"/>
            <p:cNvSpPr/>
            <p:nvPr/>
          </p:nvSpPr>
          <p:spPr>
            <a:xfrm>
              <a:off x="609600" y="2019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alt-row2"/>
          <p:cNvGrpSpPr/>
          <p:nvPr/>
        </p:nvGrpSpPr>
        <p:grpSpPr>
          <a:xfrm>
            <a:off x="609600" y="2019300"/>
            <a:ext cx="10972800" cy="466725"/>
            <a:chOff x="609600" y="2019300"/>
            <a:chExt cx="10972800" cy="466725"/>
          </a:xfrm>
        </p:grpSpPr>
        <p:sp>
          <p:nvSpPr>
            <p:cNvPr id="22" name="Rectangle 22"/>
            <p:cNvSpPr/>
            <p:nvPr/>
          </p:nvSpPr>
          <p:spPr>
            <a:xfrm>
              <a:off x="609600" y="2019300"/>
              <a:ext cx="10972800" cy="457200"/>
            </a:xfrm>
            <a:prstGeom prst="rect">
              <a:avLst/>
            </a:prstGeom>
            <a:solidFill>
              <a:srgbClr val="EAF4F6"/>
            </a:solidFill>
            <a:ln>
              <a:noFill/>
            </a:ln>
          </p:spPr>
        </p:sp>
        <p:sp>
          <p:nvSpPr>
            <p:cNvPr id="23" name="TextBox 23"/>
            <p:cNvSpPr txBox="1"/>
            <p:nvPr/>
          </p:nvSpPr>
          <p:spPr>
            <a:xfrm>
              <a:off x="755904" y="2156460"/>
              <a:ext cx="118193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DTO kullanmak</a:t>
              </a:r>
            </a:p>
          </p:txBody>
        </p:sp>
        <p:sp>
          <p:nvSpPr>
            <p:cNvPr id="24" name="TextBox 24"/>
            <p:cNvSpPr txBox="1"/>
            <p:nvPr/>
          </p:nvSpPr>
          <p:spPr>
            <a:xfrm>
              <a:off x="3994785" y="2164556"/>
              <a:ext cx="220909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Açık ve güvenli API sözleşmesi</a:t>
              </a:r>
            </a:p>
          </p:txBody>
        </p:sp>
        <p:sp>
          <p:nvSpPr>
            <p:cNvPr id="25" name="TextBox 25"/>
            <p:cNvSpPr txBox="1"/>
            <p:nvPr/>
          </p:nvSpPr>
          <p:spPr>
            <a:xfrm>
              <a:off x="7614285" y="2164556"/>
              <a:ext cx="15919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Dönüşüm kodu gerekir</a:t>
              </a:r>
            </a:p>
          </p:txBody>
        </p:sp>
        <p:sp>
          <p:nvSpPr>
            <p:cNvPr id="26" name="Line 26"/>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alt-row3"/>
          <p:cNvGrpSpPr/>
          <p:nvPr/>
        </p:nvGrpSpPr>
        <p:grpSpPr>
          <a:xfrm>
            <a:off x="609600" y="2613660"/>
            <a:ext cx="10972800" cy="329565"/>
            <a:chOff x="609600" y="2613660"/>
            <a:chExt cx="10972800" cy="329565"/>
          </a:xfrm>
        </p:grpSpPr>
        <p:sp>
          <p:nvSpPr>
            <p:cNvPr id="28" name="TextBox 28"/>
            <p:cNvSpPr txBox="1"/>
            <p:nvPr/>
          </p:nvSpPr>
          <p:spPr>
            <a:xfrm>
              <a:off x="755904" y="2613660"/>
              <a:ext cx="178800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Pick / Omit kullanmak</a:t>
              </a:r>
            </a:p>
          </p:txBody>
        </p:sp>
        <p:sp>
          <p:nvSpPr>
            <p:cNvPr id="29" name="TextBox 29"/>
            <p:cNvSpPr txBox="1"/>
            <p:nvPr/>
          </p:nvSpPr>
          <p:spPr>
            <a:xfrm>
              <a:off x="3994785" y="2621756"/>
              <a:ext cx="23582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TypeScript'te hızlı tür üretimi</a:t>
              </a:r>
            </a:p>
          </p:txBody>
        </p:sp>
        <p:sp>
          <p:nvSpPr>
            <p:cNvPr id="30" name="TextBox 30"/>
            <p:cNvSpPr txBox="1"/>
            <p:nvPr/>
          </p:nvSpPr>
          <p:spPr>
            <a:xfrm>
              <a:off x="7614285" y="2621756"/>
              <a:ext cx="287950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Karmaşık API'lerde okunabilirlik azalır</a:t>
              </a:r>
            </a:p>
          </p:txBody>
        </p:sp>
        <p:sp>
          <p:nvSpPr>
            <p:cNvPr id="31" name="Line 31"/>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4"/>
          <p:cNvGrpSpPr/>
          <p:nvPr/>
        </p:nvGrpSpPr>
        <p:grpSpPr>
          <a:xfrm>
            <a:off x="609600" y="2933700"/>
            <a:ext cx="10972800" cy="457200"/>
            <a:chOff x="609600" y="2933700"/>
            <a:chExt cx="10972800" cy="457200"/>
          </a:xfrm>
        </p:grpSpPr>
        <p:sp>
          <p:nvSpPr>
            <p:cNvPr id="33" name="Rectangle 33"/>
            <p:cNvSpPr/>
            <p:nvPr/>
          </p:nvSpPr>
          <p:spPr>
            <a:xfrm>
              <a:off x="609600" y="2933700"/>
              <a:ext cx="10972800" cy="457200"/>
            </a:xfrm>
            <a:prstGeom prst="rect">
              <a:avLst/>
            </a:prstGeom>
            <a:solidFill>
              <a:srgbClr val="EAF4F6"/>
            </a:solidFill>
            <a:ln>
              <a:noFill/>
            </a:ln>
          </p:spPr>
        </p:sp>
        <p:sp>
          <p:nvSpPr>
            <p:cNvPr id="34" name="TextBox 34"/>
            <p:cNvSpPr txBox="1"/>
            <p:nvPr/>
          </p:nvSpPr>
          <p:spPr>
            <a:xfrm>
              <a:off x="755904" y="3070860"/>
              <a:ext cx="173075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View model kullanmak</a:t>
              </a:r>
            </a:p>
          </p:txBody>
        </p:sp>
        <p:sp>
          <p:nvSpPr>
            <p:cNvPr id="35" name="TextBox 35"/>
            <p:cNvSpPr txBox="1"/>
            <p:nvPr/>
          </p:nvSpPr>
          <p:spPr>
            <a:xfrm>
              <a:off x="3994785" y="3078956"/>
              <a:ext cx="16522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Ekrana özel veri sunar</a:t>
              </a:r>
            </a:p>
          </p:txBody>
        </p:sp>
        <p:sp>
          <p:nvSpPr>
            <p:cNvPr id="36" name="TextBox 36"/>
            <p:cNvSpPr txBox="1"/>
            <p:nvPr/>
          </p:nvSpPr>
          <p:spPr>
            <a:xfrm>
              <a:off x="7614285" y="3078956"/>
              <a:ext cx="19836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sayıda model oluşabilir</a:t>
              </a:r>
            </a:p>
          </p:txBody>
        </p:sp>
      </p:grpSp>
      <p:grpSp>
        <p:nvGrpSpPr>
          <p:cNvPr id="40" name="usage-note"/>
          <p:cNvGrpSpPr/>
          <p:nvPr/>
        </p:nvGrpSpPr>
        <p:grpSpPr>
          <a:xfrm>
            <a:off x="601599" y="3678079"/>
            <a:ext cx="9338053" cy="574739"/>
            <a:chOff x="601599" y="3678079"/>
            <a:chExt cx="9338053" cy="574739"/>
          </a:xfrm>
        </p:grpSpPr>
        <p:sp>
          <p:nvSpPr>
            <p:cNvPr id="38" name="TextBox 38"/>
            <p:cNvSpPr txBox="1"/>
            <p:nvPr/>
          </p:nvSpPr>
          <p:spPr>
            <a:xfrm>
              <a:off x="601599" y="3678079"/>
              <a:ext cx="933805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Dış API, katmanlar arası sınır veya farklı kullanıcı rolleri varsa DTO tercih edilmelidir;</a:t>
              </a:r>
            </a:p>
          </p:txBody>
        </p:sp>
        <p:sp>
          <p:nvSpPr>
            <p:cNvPr id="39" name="TextBox 39"/>
            <p:cNvSpPr txBox="1"/>
            <p:nvPr/>
          </p:nvSpPr>
          <p:spPr>
            <a:xfrm>
              <a:off x="601599" y="3944779"/>
              <a:ext cx="868263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mobil, web ve yönetici paneli farklı ihtiyaçlar için ayrı yanıt DTO'ları kullanabilir.</a:t>
              </a:r>
            </a:p>
          </p:txBody>
        </p:sp>
      </p:grpSp>
      <p:grpSp>
        <p:nvGrpSpPr>
          <p:cNvPr id="47" name="common-errors"/>
          <p:cNvGrpSpPr/>
          <p:nvPr/>
        </p:nvGrpSpPr>
        <p:grpSpPr>
          <a:xfrm>
            <a:off x="609600" y="4438650"/>
            <a:ext cx="10972800" cy="1790700"/>
            <a:chOff x="609600" y="4438650"/>
            <a:chExt cx="10972800" cy="1790700"/>
          </a:xfrm>
        </p:grpSpPr>
        <p:sp>
          <p:nvSpPr>
            <p:cNvPr id="41" name="Rectangle 41"/>
            <p:cNvSpPr/>
            <p:nvPr/>
          </p:nvSpPr>
          <p:spPr>
            <a:xfrm>
              <a:off x="609600" y="4438650"/>
              <a:ext cx="10972800" cy="1790700"/>
            </a:xfrm>
            <a:prstGeom prst="roundRect">
              <a:avLst>
                <a:gd name="adj" fmla="val 4255"/>
              </a:avLst>
            </a:prstGeom>
            <a:solidFill>
              <a:srgbClr val="EAF4F6"/>
            </a:solidFill>
            <a:ln>
              <a:noFill/>
            </a:ln>
          </p:spPr>
        </p:sp>
        <p:sp>
          <p:nvSpPr>
            <p:cNvPr id="42" name="Rectangle 42"/>
            <p:cNvSpPr/>
            <p:nvPr/>
          </p:nvSpPr>
          <p:spPr>
            <a:xfrm>
              <a:off x="609600" y="4438650"/>
              <a:ext cx="57150" cy="1790700"/>
            </a:xfrm>
            <a:prstGeom prst="rect">
              <a:avLst/>
            </a:prstGeom>
            <a:solidFill>
              <a:srgbClr val="00A6A6"/>
            </a:solidFill>
            <a:ln>
              <a:noFill/>
            </a:ln>
          </p:spPr>
        </p:sp>
        <p:sp>
          <p:nvSpPr>
            <p:cNvPr id="43" name="TextBox 43"/>
            <p:cNvSpPr txBox="1"/>
            <p:nvPr/>
          </p:nvSpPr>
          <p:spPr>
            <a:xfrm>
              <a:off x="908304" y="4613910"/>
              <a:ext cx="1579961"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YAYGIN HATALAR</a:t>
              </a:r>
            </a:p>
          </p:txBody>
        </p:sp>
        <p:sp>
          <p:nvSpPr>
            <p:cNvPr id="44" name="TextBox 44"/>
            <p:cNvSpPr txBox="1"/>
            <p:nvPr/>
          </p:nvSpPr>
          <p:spPr>
            <a:xfrm>
              <a:off x="907542" y="4883468"/>
              <a:ext cx="868429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 İstemciden gelen DTO'ya sistemin hesaplaması gereken alanları (mevcutOduncSayisi) koymak.</a:t>
              </a:r>
            </a:p>
          </p:txBody>
        </p:sp>
        <p:sp>
          <p:nvSpPr>
            <p:cNvPr id="45" name="TextBox 45"/>
            <p:cNvSpPr txBox="1"/>
            <p:nvPr/>
          </p:nvSpPr>
          <p:spPr>
            <a:xfrm>
              <a:off x="907542" y="5207318"/>
              <a:ext cx="538764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 Domain modeldeki icNot gibi iç alanı API yanıtına eklemek.</a:t>
              </a:r>
            </a:p>
          </p:txBody>
        </p:sp>
        <p:sp>
          <p:nvSpPr>
            <p:cNvPr id="46" name="TextBox 46"/>
            <p:cNvSpPr txBox="1"/>
            <p:nvPr/>
          </p:nvSpPr>
          <p:spPr>
            <a:xfrm>
              <a:off x="907542" y="5531168"/>
              <a:ext cx="96036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DTO doğrulamasını yalnızca TypeScript türüne bırakmak — türler çalışma zamanı JSON'unu doğrulamaz.</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259676" cy="557403"/>
            <a:chOff x="595122" y="282892"/>
            <a:chExt cx="8259676" cy="557403"/>
          </a:xfrm>
        </p:grpSpPr>
        <p:sp>
          <p:nvSpPr>
            <p:cNvPr id="4" name="TextBox 4"/>
            <p:cNvSpPr txBox="1"/>
            <p:nvPr/>
          </p:nvSpPr>
          <p:spPr>
            <a:xfrm>
              <a:off x="595122" y="282892"/>
              <a:ext cx="82596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Sorumlulukların ayrılması ve refactoring</a:t>
              </a:r>
            </a:p>
          </p:txBody>
        </p:sp>
      </p:grpSp>
      <p:grpSp>
        <p:nvGrpSpPr>
          <p:cNvPr id="8" name="definition-block"/>
          <p:cNvGrpSpPr/>
          <p:nvPr/>
        </p:nvGrpSpPr>
        <p:grpSpPr>
          <a:xfrm>
            <a:off x="602361" y="1318260"/>
            <a:ext cx="3296666" cy="1035463"/>
            <a:chOff x="602361" y="1318260"/>
            <a:chExt cx="3296666" cy="1035463"/>
          </a:xfrm>
        </p:grpSpPr>
        <p:sp>
          <p:nvSpPr>
            <p:cNvPr id="6" name="TextBox 6"/>
            <p:cNvSpPr txBox="1"/>
            <p:nvPr/>
          </p:nvSpPr>
          <p:spPr>
            <a:xfrm>
              <a:off x="603504" y="1318260"/>
              <a:ext cx="581436"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TANIM</a:t>
              </a:r>
            </a:p>
          </p:txBody>
        </p:sp>
        <p:sp>
          <p:nvSpPr>
            <p:cNvPr id="7" name="TextBox 7"/>
            <p:cNvSpPr txBox="1"/>
            <p:nvPr/>
          </p:nvSpPr>
          <p:spPr>
            <a:xfrm>
              <a:off x="602361" y="1579721"/>
              <a:ext cx="3296666"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Bir sınıfın mümkün olduğunca tek bir</a:t>
              </a:r>
              <a:br/>
              <a:r>
                <a:rPr lang="tr-TR" sz="1420" dirty="0">
                  <a:solidFill>
                    <a:srgbClr val="172B3A"/>
                  </a:solidFill>
                  <a:latin typeface="+mn-lt"/>
                  <a:ea typeface="+mn-ea"/>
                  <a:cs typeface="+mn-cs"/>
                </a:rPr>
                <a:t>değişim nedenine sahip olmasıdır</a:t>
              </a:r>
              <a:br/>
              <a:r>
                <a:rPr lang="tr-TR" sz="1420" dirty="0">
                  <a:solidFill>
                    <a:srgbClr val="172B3A"/>
                  </a:solidFill>
                  <a:latin typeface="+mn-lt"/>
                  <a:ea typeface="+mn-ea"/>
                  <a:cs typeface="+mn-cs"/>
                </a:rPr>
                <a:t>(Tek Sorumluluk İlkesi, SRP).</a:t>
              </a:r>
            </a:p>
          </p:txBody>
        </p:sp>
      </p:grpSp>
      <p:grpSp>
        <p:nvGrpSpPr>
          <p:cNvPr id="15" name="theory-block"/>
          <p:cNvGrpSpPr/>
          <p:nvPr/>
        </p:nvGrpSpPr>
        <p:grpSpPr>
          <a:xfrm>
            <a:off x="609600" y="3200400"/>
            <a:ext cx="5334000" cy="2228850"/>
            <a:chOff x="609600" y="3200400"/>
            <a:chExt cx="5334000" cy="2228850"/>
          </a:xfrm>
        </p:grpSpPr>
        <p:sp>
          <p:nvSpPr>
            <p:cNvPr id="9" name="Rectangle 9"/>
            <p:cNvSpPr/>
            <p:nvPr/>
          </p:nvSpPr>
          <p:spPr>
            <a:xfrm>
              <a:off x="609600" y="3200400"/>
              <a:ext cx="5334000" cy="2228850"/>
            </a:xfrm>
            <a:prstGeom prst="roundRect">
              <a:avLst>
                <a:gd name="adj" fmla="val 3419"/>
              </a:avLst>
            </a:prstGeom>
            <a:solidFill>
              <a:srgbClr val="FFFFFF"/>
            </a:solidFill>
            <a:ln w="14288">
              <a:solidFill>
                <a:srgbClr val="B8CBD3"/>
              </a:solidFill>
            </a:ln>
          </p:spPr>
        </p:sp>
        <p:sp>
          <p:nvSpPr>
            <p:cNvPr id="10" name="TextBox 10"/>
            <p:cNvSpPr txBox="1"/>
            <p:nvPr/>
          </p:nvSpPr>
          <p:spPr>
            <a:xfrm>
              <a:off x="832104" y="3375660"/>
              <a:ext cx="2095439"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KURAMSAL ARKA PLAN</a:t>
              </a:r>
            </a:p>
          </p:txBody>
        </p:sp>
        <p:sp>
          <p:nvSpPr>
            <p:cNvPr id="11" name="TextBox 11"/>
            <p:cNvSpPr txBox="1"/>
            <p:nvPr/>
          </p:nvSpPr>
          <p:spPr>
            <a:xfrm>
              <a:off x="831723" y="3653314"/>
              <a:ext cx="137952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Dijkstra (1974)</a:t>
              </a:r>
            </a:p>
          </p:txBody>
        </p:sp>
        <p:sp>
          <p:nvSpPr>
            <p:cNvPr id="12" name="TextBox 12"/>
            <p:cNvSpPr txBox="1"/>
            <p:nvPr/>
          </p:nvSpPr>
          <p:spPr>
            <a:xfrm>
              <a:off x="832485" y="3898106"/>
              <a:ext cx="2799334"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Karmaşık sistemi anlamanın yolu, bir</a:t>
              </a:r>
              <a:br/>
              <a:r>
                <a:rPr lang="tr-TR" sz="1120" dirty="0">
                  <a:solidFill>
                    <a:srgbClr val="172B3A"/>
                  </a:solidFill>
                  <a:latin typeface="+mn-lt"/>
                  <a:ea typeface="+mn-ea"/>
                  <a:cs typeface="+mn-cs"/>
                </a:rPr>
                <a:t>seferde tek bir kaygıya odaklanmaktır.</a:t>
              </a:r>
            </a:p>
          </p:txBody>
        </p:sp>
        <p:sp>
          <p:nvSpPr>
            <p:cNvPr id="13" name="TextBox 13"/>
            <p:cNvSpPr txBox="1"/>
            <p:nvPr/>
          </p:nvSpPr>
          <p:spPr>
            <a:xfrm>
              <a:off x="831723" y="4377214"/>
              <a:ext cx="252640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Fowler (1999) — Refactoring</a:t>
              </a:r>
            </a:p>
          </p:txBody>
        </p:sp>
        <p:sp>
          <p:nvSpPr>
            <p:cNvPr id="14" name="TextBox 14"/>
            <p:cNvSpPr txBox="1"/>
            <p:nvPr/>
          </p:nvSpPr>
          <p:spPr>
            <a:xfrm>
              <a:off x="832485" y="4622006"/>
              <a:ext cx="2337054" cy="581978"/>
            </a:xfrm>
            <a:prstGeom prst="rect">
              <a:avLst/>
            </a:prstGeom>
            <a:noFill/>
            <a:ln>
              <a:noFill/>
            </a:ln>
          </p:spPr>
          <p:txBody>
            <a:bodyPr wrap="none" lIns="0" tIns="0" rIns="0" bIns="0" anchor="t" anchorCtr="0">
              <a:spAutoFit/>
            </a:bodyPr>
            <a:lstStyle/>
            <a:p>
              <a:pPr algn="l">
                <a:lnSpc>
                  <a:spcPts val="1425"/>
                </a:lnSpc>
              </a:pPr>
              <a:r>
                <a:rPr lang="tr-TR" sz="1120" dirty="0">
                  <a:solidFill>
                    <a:srgbClr val="172B3A"/>
                  </a:solidFill>
                  <a:latin typeface="+mn-lt"/>
                  <a:ea typeface="+mn-ea"/>
                  <a:cs typeface="+mn-cs"/>
                </a:rPr>
                <a:t>Dış davranışı koruyarak kodun iç</a:t>
              </a:r>
              <a:br/>
              <a:r>
                <a:rPr lang="tr-TR" sz="1120" dirty="0">
                  <a:solidFill>
                    <a:srgbClr val="172B3A"/>
                  </a:solidFill>
                  <a:latin typeface="+mn-lt"/>
                  <a:ea typeface="+mn-ea"/>
                  <a:cs typeface="+mn-cs"/>
                </a:rPr>
                <a:t>yapısını küçük, geri alınabilir</a:t>
              </a:r>
              <a:br/>
              <a:r>
                <a:rPr lang="tr-TR" sz="1120" dirty="0">
                  <a:solidFill>
                    <a:srgbClr val="172B3A"/>
                  </a:solidFill>
                  <a:latin typeface="+mn-lt"/>
                  <a:ea typeface="+mn-ea"/>
                  <a:cs typeface="+mn-cs"/>
                </a:rPr>
                <a:t>adımlarla iyileştirme süreci.</a:t>
              </a:r>
            </a:p>
          </p:txBody>
        </p:sp>
      </p:grpSp>
      <p:grpSp>
        <p:nvGrpSpPr>
          <p:cNvPr id="32" name="code-panel"/>
          <p:cNvGrpSpPr/>
          <p:nvPr/>
        </p:nvGrpSpPr>
        <p:grpSpPr>
          <a:xfrm>
            <a:off x="6248400" y="1219200"/>
            <a:ext cx="5334000" cy="4210050"/>
            <a:chOff x="6248400" y="1219200"/>
            <a:chExt cx="5334000" cy="4210050"/>
          </a:xfrm>
        </p:grpSpPr>
        <p:sp>
          <p:nvSpPr>
            <p:cNvPr id="16" name="Rectangle 16"/>
            <p:cNvSpPr/>
            <p:nvPr/>
          </p:nvSpPr>
          <p:spPr>
            <a:xfrm>
              <a:off x="6248400" y="1219200"/>
              <a:ext cx="5334000" cy="4210050"/>
            </a:xfrm>
            <a:prstGeom prst="roundRect">
              <a:avLst>
                <a:gd name="adj" fmla="val 1810"/>
              </a:avLst>
            </a:prstGeom>
            <a:solidFill>
              <a:srgbClr val="12355B"/>
            </a:solidFill>
            <a:ln>
              <a:noFill/>
            </a:ln>
          </p:spPr>
        </p:sp>
        <p:sp>
          <p:nvSpPr>
            <p:cNvPr id="17" name="TextBox 17"/>
            <p:cNvSpPr txBox="1"/>
            <p:nvPr/>
          </p:nvSpPr>
          <p:spPr>
            <a:xfrm>
              <a:off x="6470904" y="1394460"/>
              <a:ext cx="235361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class OduncKurallariService {</a:t>
              </a:r>
            </a:p>
          </p:txBody>
        </p:sp>
        <p:sp>
          <p:nvSpPr>
            <p:cNvPr id="18" name="TextBox 18"/>
            <p:cNvSpPr txBox="1"/>
            <p:nvPr/>
          </p:nvSpPr>
          <p:spPr>
            <a:xfrm>
              <a:off x="6470904" y="1623060"/>
              <a:ext cx="228312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oduncAlmayaUygunMu(sayi) {</a:t>
              </a:r>
            </a:p>
          </p:txBody>
        </p:sp>
        <p:sp>
          <p:nvSpPr>
            <p:cNvPr id="19" name="TextBox 19"/>
            <p:cNvSpPr txBox="1"/>
            <p:nvPr/>
          </p:nvSpPr>
          <p:spPr>
            <a:xfrm>
              <a:off x="6470904" y="1851660"/>
              <a:ext cx="12722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return sayi &lt; 3;</a:t>
              </a:r>
            </a:p>
          </p:txBody>
        </p:sp>
        <p:sp>
          <p:nvSpPr>
            <p:cNvPr id="20" name="TextBox 20"/>
            <p:cNvSpPr txBox="1"/>
            <p:nvPr/>
          </p:nvSpPr>
          <p:spPr>
            <a:xfrm>
              <a:off x="6470904" y="208026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t>
              </a:r>
            </a:p>
          </p:txBody>
        </p:sp>
        <p:sp>
          <p:nvSpPr>
            <p:cNvPr id="21" name="TextBox 21"/>
            <p:cNvSpPr txBox="1"/>
            <p:nvPr/>
          </p:nvSpPr>
          <p:spPr>
            <a:xfrm>
              <a:off x="6470904" y="2308860"/>
              <a:ext cx="1010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a:t>
              </a:r>
            </a:p>
          </p:txBody>
        </p:sp>
        <p:sp>
          <p:nvSpPr>
            <p:cNvPr id="22" name="TextBox 22"/>
            <p:cNvSpPr txBox="1"/>
            <p:nvPr/>
          </p:nvSpPr>
          <p:spPr>
            <a:xfrm>
              <a:off x="6470904" y="2651760"/>
              <a:ext cx="357968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 İki farklı controller aynı kuralı kullanır:</a:t>
              </a:r>
            </a:p>
          </p:txBody>
        </p:sp>
        <p:sp>
          <p:nvSpPr>
            <p:cNvPr id="23" name="TextBox 23"/>
            <p:cNvSpPr txBox="1"/>
            <p:nvPr/>
          </p:nvSpPr>
          <p:spPr>
            <a:xfrm>
              <a:off x="6470904" y="2918460"/>
              <a:ext cx="229730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class MobilOduncController {</a:t>
              </a:r>
            </a:p>
          </p:txBody>
        </p:sp>
        <p:sp>
          <p:nvSpPr>
            <p:cNvPr id="24" name="TextBox 24"/>
            <p:cNvSpPr txBox="1"/>
            <p:nvPr/>
          </p:nvSpPr>
          <p:spPr>
            <a:xfrm>
              <a:off x="6470904" y="3147060"/>
              <a:ext cx="444556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kontrolEt(sayi) { kurallar.oduncAlmayaUygunMu(sayi) }</a:t>
              </a:r>
            </a:p>
          </p:txBody>
        </p:sp>
        <p:sp>
          <p:nvSpPr>
            <p:cNvPr id="25" name="TextBox 25"/>
            <p:cNvSpPr txBox="1"/>
            <p:nvPr/>
          </p:nvSpPr>
          <p:spPr>
            <a:xfrm>
              <a:off x="6470904" y="3375660"/>
              <a:ext cx="1010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a:t>
              </a:r>
            </a:p>
          </p:txBody>
        </p:sp>
        <p:sp>
          <p:nvSpPr>
            <p:cNvPr id="26" name="TextBox 26"/>
            <p:cNvSpPr txBox="1"/>
            <p:nvPr/>
          </p:nvSpPr>
          <p:spPr>
            <a:xfrm>
              <a:off x="6470904" y="3718560"/>
              <a:ext cx="220100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class WebOduncController {</a:t>
              </a:r>
            </a:p>
          </p:txBody>
        </p:sp>
        <p:sp>
          <p:nvSpPr>
            <p:cNvPr id="27" name="TextBox 27"/>
            <p:cNvSpPr txBox="1"/>
            <p:nvPr/>
          </p:nvSpPr>
          <p:spPr>
            <a:xfrm>
              <a:off x="6470904" y="3947160"/>
              <a:ext cx="444556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kontrolEt(sayi) { kurallar.oduncAlmayaUygunMu(sayi) }</a:t>
              </a:r>
            </a:p>
          </p:txBody>
        </p:sp>
        <p:sp>
          <p:nvSpPr>
            <p:cNvPr id="28" name="TextBox 28"/>
            <p:cNvSpPr txBox="1"/>
            <p:nvPr/>
          </p:nvSpPr>
          <p:spPr>
            <a:xfrm>
              <a:off x="6470904" y="4175760"/>
              <a:ext cx="1010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a:t>
              </a:r>
            </a:p>
          </p:txBody>
        </p:sp>
        <p:sp>
          <p:nvSpPr>
            <p:cNvPr id="29" name="TextBox 29"/>
            <p:cNvSpPr txBox="1"/>
            <p:nvPr/>
          </p:nvSpPr>
          <p:spPr>
            <a:xfrm>
              <a:off x="6470904" y="4518660"/>
              <a:ext cx="39109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Limit değişirse yalnızca tek metot düzenlenir.</a:t>
              </a:r>
            </a:p>
          </p:txBody>
        </p:sp>
        <p:sp>
          <p:nvSpPr>
            <p:cNvPr id="30" name="TextBox 30"/>
            <p:cNvSpPr txBox="1"/>
            <p:nvPr/>
          </p:nvSpPr>
          <p:spPr>
            <a:xfrm>
              <a:off x="6470904" y="4785360"/>
              <a:ext cx="337077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console.log(mobil.kontrolEt(1)); // kabul</a:t>
              </a:r>
            </a:p>
          </p:txBody>
        </p:sp>
        <p:sp>
          <p:nvSpPr>
            <p:cNvPr id="31" name="TextBox 31"/>
            <p:cNvSpPr txBox="1"/>
            <p:nvPr/>
          </p:nvSpPr>
          <p:spPr>
            <a:xfrm>
              <a:off x="6470904" y="5013960"/>
              <a:ext cx="313705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console.log(web.kontrolEt(3)); // ret</a:t>
              </a:r>
            </a:p>
          </p:txBody>
        </p:sp>
      </p:grpSp>
      <p:grpSp>
        <p:nvGrpSpPr>
          <p:cNvPr id="37" name="common-errors"/>
          <p:cNvGrpSpPr/>
          <p:nvPr/>
        </p:nvGrpSpPr>
        <p:grpSpPr>
          <a:xfrm>
            <a:off x="609600" y="5619750"/>
            <a:ext cx="10972800" cy="613601"/>
            <a:chOff x="609600" y="5619750"/>
            <a:chExt cx="10972800" cy="613601"/>
          </a:xfrm>
        </p:grpSpPr>
        <p:sp>
          <p:nvSpPr>
            <p:cNvPr id="33" name="Rectangle 33"/>
            <p:cNvSpPr/>
            <p:nvPr/>
          </p:nvSpPr>
          <p:spPr>
            <a:xfrm>
              <a:off x="609600" y="5619750"/>
              <a:ext cx="10972800" cy="609600"/>
            </a:xfrm>
            <a:prstGeom prst="roundRect">
              <a:avLst>
                <a:gd name="adj" fmla="val 12500"/>
              </a:avLst>
            </a:prstGeom>
            <a:solidFill>
              <a:srgbClr val="EAF4F6"/>
            </a:solidFill>
            <a:ln>
              <a:noFill/>
            </a:ln>
          </p:spPr>
        </p:sp>
        <p:sp>
          <p:nvSpPr>
            <p:cNvPr id="34" name="Rectangle 34"/>
            <p:cNvSpPr/>
            <p:nvPr/>
          </p:nvSpPr>
          <p:spPr>
            <a:xfrm>
              <a:off x="609600" y="5619750"/>
              <a:ext cx="57150" cy="609600"/>
            </a:xfrm>
            <a:prstGeom prst="rect">
              <a:avLst/>
            </a:prstGeom>
            <a:solidFill>
              <a:srgbClr val="00A6A6"/>
            </a:solidFill>
            <a:ln>
              <a:noFill/>
            </a:ln>
          </p:spPr>
        </p:sp>
        <p:sp>
          <p:nvSpPr>
            <p:cNvPr id="35" name="TextBox 35"/>
            <p:cNvSpPr txBox="1"/>
            <p:nvPr/>
          </p:nvSpPr>
          <p:spPr>
            <a:xfrm>
              <a:off x="908304" y="5737860"/>
              <a:ext cx="1113556" cy="234696"/>
            </a:xfrm>
            <a:prstGeom prst="rect">
              <a:avLst/>
            </a:prstGeom>
            <a:noFill/>
            <a:ln>
              <a:noFill/>
            </a:ln>
          </p:spPr>
          <p:txBody>
            <a:bodyPr wrap="none" lIns="0" tIns="0" rIns="0" bIns="0" anchor="t" anchorCtr="0">
              <a:spAutoFit/>
            </a:bodyPr>
            <a:lstStyle/>
            <a:p>
              <a:pPr algn="l"/>
              <a:r>
                <a:rPr lang="tr-TR" sz="1200" b="1" spc="75" dirty="0">
                  <a:solidFill>
                    <a:srgbClr val="2E86AB"/>
                  </a:solidFill>
                  <a:latin typeface="+mn-lt"/>
                  <a:ea typeface="+mn-ea"/>
                  <a:cs typeface="+mn-cs"/>
                </a:rPr>
                <a:t>YAYGIN HATA</a:t>
              </a:r>
            </a:p>
          </p:txBody>
        </p:sp>
        <p:sp>
          <p:nvSpPr>
            <p:cNvPr id="36" name="TextBox 36"/>
            <p:cNvSpPr txBox="1"/>
            <p:nvPr/>
          </p:nvSpPr>
          <p:spPr>
            <a:xfrm>
              <a:off x="907542" y="5969318"/>
              <a:ext cx="829808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"Tek sorumluluk, tek metot anlamına gelir" düşüncesi yanlıştır; amaç tek değişim nedenidir.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controller-sql"/>
          <p:cNvGrpSpPr/>
          <p:nvPr/>
        </p:nvGrpSpPr>
        <p:grpSpPr>
          <a:xfrm>
            <a:off x="609600" y="1865471"/>
            <a:ext cx="10972800" cy="1296829"/>
            <a:chOff x="609600" y="1865471"/>
            <a:chExt cx="10972800" cy="1296829"/>
          </a:xfrm>
        </p:grpSpPr>
        <p:sp>
          <p:nvSpPr>
            <p:cNvPr id="17" name="TextBox 17"/>
            <p:cNvSpPr txBox="1"/>
            <p:nvPr/>
          </p:nvSpPr>
          <p:spPr>
            <a:xfrm>
              <a:off x="754761" y="1865471"/>
              <a:ext cx="2883237" cy="754952"/>
            </a:xfrm>
            <a:prstGeom prst="rect">
              <a:avLst/>
            </a:prstGeom>
            <a:noFill/>
            <a:ln>
              <a:noFill/>
            </a:ln>
          </p:spPr>
          <p:txBody>
            <a:bodyPr wrap="none" lIns="0" tIns="0" rIns="0" bIns="0" anchor="t" anchorCtr="0">
              <a:spAutoFit/>
            </a:bodyPr>
            <a:lstStyle/>
            <a:p>
              <a:pPr algn="l">
                <a:lnSpc>
                  <a:spcPts val="1875"/>
                </a:lnSpc>
              </a:pPr>
              <a:r>
                <a:rPr lang="tr-TR" sz="1420" b="1" dirty="0">
                  <a:solidFill>
                    <a:srgbClr val="12355B"/>
                  </a:solidFill>
                  <a:latin typeface="+mn-lt"/>
                  <a:ea typeface="+mn-ea"/>
                  <a:cs typeface="+mn-cs"/>
                </a:rPr>
                <a:t>"Controller içinde doğrudan</a:t>
              </a:r>
              <a:br/>
              <a:r>
                <a:rPr lang="tr-TR" sz="1420" b="1" dirty="0">
                  <a:solidFill>
                    <a:srgbClr val="12355B"/>
                  </a:solidFill>
                  <a:latin typeface="+mn-lt"/>
                  <a:ea typeface="+mn-ea"/>
                  <a:cs typeface="+mn-cs"/>
                </a:rPr>
                <a:t>SQL çalıştırmak küçük</a:t>
              </a:r>
              <a:br/>
              <a:r>
                <a:rPr lang="tr-TR" sz="1420" b="1" dirty="0">
                  <a:solidFill>
                    <a:srgbClr val="12355B"/>
                  </a:solidFill>
                  <a:latin typeface="+mn-lt"/>
                  <a:ea typeface="+mn-ea"/>
                  <a:cs typeface="+mn-cs"/>
                </a:rPr>
                <a:t>projelerde sakınca doğurmaz."</a:t>
              </a:r>
            </a:p>
          </p:txBody>
        </p:sp>
        <p:sp>
          <p:nvSpPr>
            <p:cNvPr id="18" name="TextBox 18"/>
            <p:cNvSpPr txBox="1"/>
            <p:nvPr/>
          </p:nvSpPr>
          <p:spPr>
            <a:xfrm>
              <a:off x="4375404" y="1889760"/>
              <a:ext cx="25725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Controller HTTP'ye özgüdür; içine</a:t>
              </a:r>
              <a:br/>
              <a:r>
                <a:rPr lang="tr-TR" sz="1200" dirty="0">
                  <a:solidFill>
                    <a:srgbClr val="172B3A"/>
                  </a:solidFill>
                  <a:latin typeface="+mn-lt"/>
                  <a:ea typeface="+mn-ea"/>
                  <a:cs typeface="+mn-cs"/>
                </a:rPr>
                <a:t>veritabanı kodu konulduğunda iş</a:t>
              </a:r>
              <a:br/>
              <a:r>
                <a:rPr lang="tr-TR" sz="1200" dirty="0">
                  <a:solidFill>
                    <a:srgbClr val="172B3A"/>
                  </a:solidFill>
                  <a:latin typeface="+mn-lt"/>
                  <a:ea typeface="+mn-ea"/>
                  <a:cs typeface="+mn-cs"/>
                </a:rPr>
                <a:t>kuralları ve veri erişimi kilitlenir,</a:t>
              </a:r>
              <a:br/>
              <a:r>
                <a:rPr lang="tr-TR" sz="1200" dirty="0">
                  <a:solidFill>
                    <a:srgbClr val="172B3A"/>
                  </a:solidFill>
                  <a:latin typeface="+mn-lt"/>
                  <a:ea typeface="+mn-ea"/>
                  <a:cs typeface="+mn-cs"/>
                </a:rPr>
                <a:t>birim test yazmak imkânsızlaşır.</a:t>
              </a:r>
            </a:p>
          </p:txBody>
        </p:sp>
        <p:sp>
          <p:nvSpPr>
            <p:cNvPr id="19" name="TextBox 19"/>
            <p:cNvSpPr txBox="1"/>
            <p:nvPr/>
          </p:nvSpPr>
          <p:spPr>
            <a:xfrm>
              <a:off x="8185404" y="1889760"/>
              <a:ext cx="26487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Controller yalnızca HTTP</a:t>
              </a:r>
              <a:br/>
              <a:r>
                <a:rPr lang="tr-TR" sz="1200" dirty="0">
                  <a:solidFill>
                    <a:srgbClr val="172B3A"/>
                  </a:solidFill>
                  <a:latin typeface="+mn-lt"/>
                  <a:ea typeface="+mn-ea"/>
                  <a:cs typeface="+mn-cs"/>
                </a:rPr>
                <a:t>parametrelerini DTO'ya dönüştürüp</a:t>
              </a:r>
              <a:br/>
              <a:r>
                <a:rPr lang="tr-TR" sz="1200" dirty="0">
                  <a:solidFill>
                    <a:srgbClr val="172B3A"/>
                  </a:solidFill>
                  <a:latin typeface="+mn-lt"/>
                  <a:ea typeface="+mn-ea"/>
                  <a:cs typeface="+mn-cs"/>
                </a:rPr>
                <a:t>servisi çağırmalı; veritabanına</a:t>
              </a:r>
              <a:br/>
              <a:r>
                <a:rPr lang="tr-TR" sz="1200" dirty="0">
                  <a:solidFill>
                    <a:srgbClr val="172B3A"/>
                  </a:solidFill>
                  <a:latin typeface="+mn-lt"/>
                  <a:ea typeface="+mn-ea"/>
                  <a:cs typeface="+mn-cs"/>
                </a:rPr>
                <a:t>yalnızca repository erişmelidir.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service-http"/>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761" y="3313271"/>
              <a:ext cx="2684412" cy="754952"/>
            </a:xfrm>
            <a:prstGeom prst="rect">
              <a:avLst/>
            </a:prstGeom>
            <a:noFill/>
            <a:ln>
              <a:noFill/>
            </a:ln>
          </p:spPr>
          <p:txBody>
            <a:bodyPr wrap="none" lIns="0" tIns="0" rIns="0" bIns="0" anchor="t" anchorCtr="0">
              <a:spAutoFit/>
            </a:bodyPr>
            <a:lstStyle/>
            <a:p>
              <a:pPr algn="l">
                <a:lnSpc>
                  <a:spcPts val="1875"/>
                </a:lnSpc>
              </a:pPr>
              <a:r>
                <a:rPr lang="tr-TR" sz="1420" b="1" dirty="0">
                  <a:solidFill>
                    <a:srgbClr val="12355B"/>
                  </a:solidFill>
                  <a:latin typeface="+mn-lt"/>
                  <a:ea typeface="+mn-ea"/>
                  <a:cs typeface="+mn-cs"/>
                </a:rPr>
                <a:t>"Service katmanında req</a:t>
              </a:r>
              <a:br/>
              <a:r>
                <a:rPr lang="tr-TR" sz="1420" b="1" dirty="0">
                  <a:solidFill>
                    <a:srgbClr val="12355B"/>
                  </a:solidFill>
                  <a:latin typeface="+mn-lt"/>
                  <a:ea typeface="+mn-ea"/>
                  <a:cs typeface="+mn-cs"/>
                </a:rPr>
                <a:t>ve res nesnelerini parametre</a:t>
              </a:r>
              <a:br/>
              <a:r>
                <a:rPr lang="tr-TR" sz="1420" b="1" dirty="0">
                  <a:solidFill>
                    <a:srgbClr val="12355B"/>
                  </a:solidFill>
                  <a:latin typeface="+mn-lt"/>
                  <a:ea typeface="+mn-ea"/>
                  <a:cs typeface="+mn-cs"/>
                </a:rPr>
                <a:t>olarak kullanmak pratiktir."</a:t>
              </a:r>
            </a:p>
          </p:txBody>
        </p:sp>
        <p:sp>
          <p:nvSpPr>
            <p:cNvPr id="24" name="TextBox 24"/>
            <p:cNvSpPr txBox="1"/>
            <p:nvPr/>
          </p:nvSpPr>
          <p:spPr>
            <a:xfrm>
              <a:off x="4375404" y="3337560"/>
              <a:ext cx="2839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Servis HTTP protokolünden tamamen</a:t>
              </a:r>
              <a:br/>
              <a:r>
                <a:rPr lang="tr-TR" sz="1200" dirty="0">
                  <a:solidFill>
                    <a:srgbClr val="172B3A"/>
                  </a:solidFill>
                  <a:latin typeface="+mn-lt"/>
                  <a:ea typeface="+mn-ea"/>
                  <a:cs typeface="+mn-cs"/>
                </a:rPr>
                <a:t>habersiz olmalıdır; req nesnesine</a:t>
              </a:r>
              <a:br/>
              <a:r>
                <a:rPr lang="tr-TR" sz="1200" dirty="0">
                  <a:solidFill>
                    <a:srgbClr val="172B3A"/>
                  </a:solidFill>
                  <a:latin typeface="+mn-lt"/>
                  <a:ea typeface="+mn-ea"/>
                  <a:cs typeface="+mn-cs"/>
                </a:rPr>
                <a:t>bağımlı kılınırsa aynı servis CLI'dan</a:t>
              </a:r>
              <a:br/>
              <a:r>
                <a:rPr lang="tr-TR" sz="1200" dirty="0">
                  <a:solidFill>
                    <a:srgbClr val="172B3A"/>
                  </a:solidFill>
                  <a:latin typeface="+mn-lt"/>
                  <a:ea typeface="+mn-ea"/>
                  <a:cs typeface="+mn-cs"/>
                </a:rPr>
                <a:t>veya kuyruktan çağrılamaz.</a:t>
              </a:r>
            </a:p>
          </p:txBody>
        </p:sp>
        <p:sp>
          <p:nvSpPr>
            <p:cNvPr id="25" name="TextBox 25"/>
            <p:cNvSpPr txBox="1"/>
            <p:nvPr/>
          </p:nvSpPr>
          <p:spPr>
            <a:xfrm>
              <a:off x="8185404" y="3337560"/>
              <a:ext cx="27401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Servis metotlarına yalnızca saf DTO</a:t>
              </a:r>
              <a:br/>
              <a:r>
                <a:rPr lang="tr-TR" sz="1200" dirty="0">
                  <a:solidFill>
                    <a:srgbClr val="172B3A"/>
                  </a:solidFill>
                  <a:latin typeface="+mn-lt"/>
                  <a:ea typeface="+mn-ea"/>
                  <a:cs typeface="+mn-cs"/>
                </a:rPr>
                <a:t>veya ilkel değişkenler (id: number,</a:t>
              </a:r>
              <a:br/>
              <a:r>
                <a:rPr lang="tr-TR" sz="1200" dirty="0">
                  <a:solidFill>
                    <a:srgbClr val="172B3A"/>
                  </a:solidFill>
                  <a:latin typeface="+mn-lt"/>
                  <a:ea typeface="+mn-ea"/>
                  <a:cs typeface="+mn-cs"/>
                </a:rPr>
                <a:t>veri: DTO) geçirilmelidir.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entity-json"/>
          <p:cNvGrpSpPr/>
          <p:nvPr/>
        </p:nvGrpSpPr>
        <p:grpSpPr>
          <a:xfrm>
            <a:off x="754761" y="4761071"/>
            <a:ext cx="10018395" cy="887635"/>
            <a:chOff x="754761" y="4761071"/>
            <a:chExt cx="10018395" cy="887635"/>
          </a:xfrm>
        </p:grpSpPr>
        <p:sp>
          <p:nvSpPr>
            <p:cNvPr id="28" name="TextBox 28"/>
            <p:cNvSpPr txBox="1"/>
            <p:nvPr/>
          </p:nvSpPr>
          <p:spPr>
            <a:xfrm>
              <a:off x="754761" y="4761071"/>
              <a:ext cx="2532926" cy="754952"/>
            </a:xfrm>
            <a:prstGeom prst="rect">
              <a:avLst/>
            </a:prstGeom>
            <a:noFill/>
            <a:ln>
              <a:noFill/>
            </a:ln>
          </p:spPr>
          <p:txBody>
            <a:bodyPr wrap="none" lIns="0" tIns="0" rIns="0" bIns="0" anchor="t" anchorCtr="0">
              <a:spAutoFit/>
            </a:bodyPr>
            <a:lstStyle/>
            <a:p>
              <a:pPr algn="l">
                <a:lnSpc>
                  <a:spcPts val="1875"/>
                </a:lnSpc>
              </a:pPr>
              <a:r>
                <a:rPr lang="tr-TR" sz="1420" b="1" dirty="0">
                  <a:solidFill>
                    <a:srgbClr val="12355B"/>
                  </a:solidFill>
                  <a:latin typeface="+mn-lt"/>
                  <a:ea typeface="+mn-ea"/>
                  <a:cs typeface="+mn-cs"/>
                </a:rPr>
                <a:t>"Veritabanı varlık modelini</a:t>
              </a:r>
              <a:br/>
              <a:r>
                <a:rPr lang="tr-TR" sz="1420" b="1" dirty="0">
                  <a:solidFill>
                    <a:srgbClr val="12355B"/>
                  </a:solidFill>
                  <a:latin typeface="+mn-lt"/>
                  <a:ea typeface="+mn-ea"/>
                  <a:cs typeface="+mn-cs"/>
                </a:rPr>
                <a:t>doğrudan istemciye JSON</a:t>
              </a:r>
              <a:br/>
              <a:r>
                <a:rPr lang="tr-TR" sz="1420" b="1" dirty="0">
                  <a:solidFill>
                    <a:srgbClr val="12355B"/>
                  </a:solidFill>
                  <a:latin typeface="+mn-lt"/>
                  <a:ea typeface="+mn-ea"/>
                  <a:cs typeface="+mn-cs"/>
                </a:rPr>
                <a:t>olarak dönmek pratiktir."</a:t>
              </a:r>
            </a:p>
          </p:txBody>
        </p:sp>
        <p:sp>
          <p:nvSpPr>
            <p:cNvPr id="29" name="TextBox 29"/>
            <p:cNvSpPr txBox="1"/>
            <p:nvPr/>
          </p:nvSpPr>
          <p:spPr>
            <a:xfrm>
              <a:off x="4375404" y="4785360"/>
              <a:ext cx="30678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Veritabanı modeli şifre hash'i, silinme</a:t>
              </a:r>
              <a:br/>
              <a:r>
                <a:rPr lang="tr-TR" sz="1200" dirty="0">
                  <a:solidFill>
                    <a:srgbClr val="172B3A"/>
                  </a:solidFill>
                  <a:latin typeface="+mn-lt"/>
                  <a:ea typeface="+mn-ea"/>
                  <a:cs typeface="+mn-cs"/>
                </a:rPr>
                <a:t>bayrakları veya hassas kurum içi</a:t>
              </a:r>
              <a:br/>
              <a:r>
                <a:rPr lang="tr-TR" sz="1200" dirty="0">
                  <a:solidFill>
                    <a:srgbClr val="172B3A"/>
                  </a:solidFill>
                  <a:latin typeface="+mn-lt"/>
                  <a:ea typeface="+mn-ea"/>
                  <a:cs typeface="+mn-cs"/>
                </a:rPr>
                <a:t>alanlar içerebilir; doğrudan dönüldüğünde</a:t>
              </a:r>
              <a:br/>
              <a:r>
                <a:rPr lang="tr-TR" sz="1200" dirty="0">
                  <a:solidFill>
                    <a:srgbClr val="172B3A"/>
                  </a:solidFill>
                  <a:latin typeface="+mn-lt"/>
                  <a:ea typeface="+mn-ea"/>
                  <a:cs typeface="+mn-cs"/>
                </a:rPr>
                <a:t>bilgi sızıntısı doğar.</a:t>
              </a:r>
            </a:p>
          </p:txBody>
        </p:sp>
        <p:sp>
          <p:nvSpPr>
            <p:cNvPr id="30" name="TextBox 30"/>
            <p:cNvSpPr txBox="1"/>
            <p:nvPr/>
          </p:nvSpPr>
          <p:spPr>
            <a:xfrm>
              <a:off x="8185404" y="4785360"/>
              <a:ext cx="2587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İstemciye dönülecek alanları kesin</a:t>
              </a:r>
              <a:br/>
              <a:r>
                <a:rPr lang="tr-TR" sz="1200" dirty="0">
                  <a:solidFill>
                    <a:srgbClr val="172B3A"/>
                  </a:solidFill>
                  <a:latin typeface="+mn-lt"/>
                  <a:ea typeface="+mn-ea"/>
                  <a:cs typeface="+mn-cs"/>
                </a:rPr>
                <a:t>olarak tanımlayan Response DTO</a:t>
              </a:r>
              <a:br/>
              <a:r>
                <a:rPr lang="tr-TR" sz="1200" dirty="0">
                  <a:solidFill>
                    <a:srgbClr val="172B3A"/>
                  </a:solidFill>
                  <a:latin typeface="+mn-lt"/>
                  <a:ea typeface="+mn-ea"/>
                  <a:cs typeface="+mn-cs"/>
                </a:rPr>
                <a:t>şablonları kullanılmalıdır.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164490" cy="668845"/>
            <a:chOff x="609600" y="171450"/>
            <a:chExt cx="9164490"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4741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Bir HTTP isteğinin uçtan uca yaşam döngüsü</a:t>
              </a:r>
            </a:p>
          </p:txBody>
        </p:sp>
      </p:grpSp>
      <p:sp>
        <p:nvSpPr>
          <p:cNvPr id="11" name="Line 11"/>
          <p:cNvSpPr/>
          <p:nvPr/>
        </p:nvSpPr>
        <p:spPr>
          <a:xfrm>
            <a:off x="1333500" y="1333500"/>
            <a:ext cx="9525" cy="4762500"/>
          </a:xfrm>
          <a:custGeom>
            <a:avLst/>
            <a:gdLst/>
            <a:ahLst/>
            <a:cxnLst/>
            <a:rect l="l" t="t" r="r" b="b"/>
            <a:pathLst>
              <a:path w="9525" h="4762500">
                <a:moveTo>
                  <a:pt x="0" y="0"/>
                </a:moveTo>
                <a:lnTo>
                  <a:pt x="0" y="4762500"/>
                </a:lnTo>
              </a:path>
            </a:pathLst>
          </a:custGeom>
          <a:noFill/>
          <a:ln w="19050">
            <a:solidFill>
              <a:srgbClr val="B8CBD3"/>
            </a:solidFill>
          </a:ln>
        </p:spPr>
      </p:sp>
      <p:grpSp>
        <p:nvGrpSpPr>
          <p:cNvPr id="18" name="step-1"/>
          <p:cNvGrpSpPr/>
          <p:nvPr/>
        </p:nvGrpSpPr>
        <p:grpSpPr>
          <a:xfrm>
            <a:off x="1162050" y="1340168"/>
            <a:ext cx="4404995" cy="653890"/>
            <a:chOff x="1162050" y="1340168"/>
            <a:chExt cx="4404995" cy="653890"/>
          </a:xfrm>
        </p:grpSpPr>
        <p:sp>
          <p:nvSpPr>
            <p:cNvPr id="12" name="Ellipse 12"/>
            <p:cNvSpPr/>
            <p:nvPr/>
          </p:nvSpPr>
          <p:spPr>
            <a:xfrm>
              <a:off x="1162050" y="1352550"/>
              <a:ext cx="342900" cy="342900"/>
            </a:xfrm>
            <a:prstGeom prst="ellipse">
              <a:avLst/>
            </a:prstGeom>
            <a:solidFill>
              <a:srgbClr val="12355B"/>
            </a:solidFill>
            <a:ln>
              <a:noFill/>
            </a:ln>
          </p:spPr>
        </p:sp>
        <p:sp>
          <p:nvSpPr>
            <p:cNvPr id="13" name="TextBox 13"/>
            <p:cNvSpPr txBox="1"/>
            <p:nvPr/>
          </p:nvSpPr>
          <p:spPr>
            <a:xfrm>
              <a:off x="1280758" y="14516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14" name="Rectangle 14"/>
            <p:cNvSpPr/>
            <p:nvPr/>
          </p:nvSpPr>
          <p:spPr>
            <a:xfrm>
              <a:off x="1714500" y="1371600"/>
              <a:ext cx="1219200" cy="285750"/>
            </a:xfrm>
            <a:prstGeom prst="roundRect">
              <a:avLst>
                <a:gd name="adj" fmla="val 20000"/>
              </a:avLst>
            </a:prstGeom>
            <a:solidFill>
              <a:srgbClr val="12355B"/>
            </a:solidFill>
            <a:ln>
              <a:noFill/>
            </a:ln>
          </p:spPr>
        </p:sp>
        <p:sp>
          <p:nvSpPr>
            <p:cNvPr id="15" name="TextBox 15"/>
            <p:cNvSpPr txBox="1"/>
            <p:nvPr/>
          </p:nvSpPr>
          <p:spPr>
            <a:xfrm>
              <a:off x="1856148" y="1448752"/>
              <a:ext cx="935904"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CONTROLLER</a:t>
              </a:r>
            </a:p>
          </p:txBody>
        </p:sp>
        <p:sp>
          <p:nvSpPr>
            <p:cNvPr id="16" name="TextBox 16"/>
            <p:cNvSpPr txBox="1"/>
            <p:nvPr/>
          </p:nvSpPr>
          <p:spPr>
            <a:xfrm>
              <a:off x="3136392" y="1340168"/>
              <a:ext cx="1441102"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Girdi doğrulama</a:t>
              </a:r>
            </a:p>
          </p:txBody>
        </p:sp>
        <p:sp>
          <p:nvSpPr>
            <p:cNvPr id="17" name="TextBox 17"/>
            <p:cNvSpPr txBox="1"/>
            <p:nvPr/>
          </p:nvSpPr>
          <p:spPr>
            <a:xfrm>
              <a:off x="3137535" y="1593056"/>
              <a:ext cx="2429510"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Zorunlu alanlar denetlenir; eksikse</a:t>
              </a:r>
              <a:br/>
              <a:r>
                <a:rPr lang="tr-TR" sz="1120" dirty="0">
                  <a:solidFill>
                    <a:srgbClr val="52616B"/>
                  </a:solidFill>
                  <a:latin typeface="+mn-lt"/>
                  <a:ea typeface="+mn-ea"/>
                  <a:cs typeface="+mn-cs"/>
                </a:rPr>
                <a:t>400 Bad Request ile erken döner.</a:t>
              </a:r>
            </a:p>
          </p:txBody>
        </p:sp>
      </p:grpSp>
      <p:grpSp>
        <p:nvGrpSpPr>
          <p:cNvPr id="25" name="step-2"/>
          <p:cNvGrpSpPr/>
          <p:nvPr/>
        </p:nvGrpSpPr>
        <p:grpSpPr>
          <a:xfrm>
            <a:off x="1162050" y="2140268"/>
            <a:ext cx="4831715" cy="653890"/>
            <a:chOff x="1162050" y="2140268"/>
            <a:chExt cx="4831715" cy="653890"/>
          </a:xfrm>
        </p:grpSpPr>
        <p:sp>
          <p:nvSpPr>
            <p:cNvPr id="19" name="Ellipse 19"/>
            <p:cNvSpPr/>
            <p:nvPr/>
          </p:nvSpPr>
          <p:spPr>
            <a:xfrm>
              <a:off x="1162050" y="2152650"/>
              <a:ext cx="342900" cy="342900"/>
            </a:xfrm>
            <a:prstGeom prst="ellipse">
              <a:avLst/>
            </a:prstGeom>
            <a:solidFill>
              <a:srgbClr val="12355B"/>
            </a:solidFill>
            <a:ln>
              <a:noFill/>
            </a:ln>
          </p:spPr>
        </p:sp>
        <p:sp>
          <p:nvSpPr>
            <p:cNvPr id="20" name="TextBox 20"/>
            <p:cNvSpPr txBox="1"/>
            <p:nvPr/>
          </p:nvSpPr>
          <p:spPr>
            <a:xfrm>
              <a:off x="1280758" y="22517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21" name="Rectangle 21"/>
            <p:cNvSpPr/>
            <p:nvPr/>
          </p:nvSpPr>
          <p:spPr>
            <a:xfrm>
              <a:off x="1714500" y="2171700"/>
              <a:ext cx="1219200" cy="285750"/>
            </a:xfrm>
            <a:prstGeom prst="roundRect">
              <a:avLst>
                <a:gd name="adj" fmla="val 20000"/>
              </a:avLst>
            </a:prstGeom>
            <a:solidFill>
              <a:srgbClr val="12355B"/>
            </a:solidFill>
            <a:ln>
              <a:noFill/>
            </a:ln>
          </p:spPr>
        </p:sp>
        <p:sp>
          <p:nvSpPr>
            <p:cNvPr id="22" name="TextBox 22"/>
            <p:cNvSpPr txBox="1"/>
            <p:nvPr/>
          </p:nvSpPr>
          <p:spPr>
            <a:xfrm>
              <a:off x="1856148" y="2248852"/>
              <a:ext cx="935904"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CONTROLLER</a:t>
              </a:r>
            </a:p>
          </p:txBody>
        </p:sp>
        <p:sp>
          <p:nvSpPr>
            <p:cNvPr id="23" name="TextBox 23"/>
            <p:cNvSpPr txBox="1"/>
            <p:nvPr/>
          </p:nvSpPr>
          <p:spPr>
            <a:xfrm>
              <a:off x="3136392" y="2140268"/>
              <a:ext cx="1804231"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İş mantığına geçiş</a:t>
              </a:r>
            </a:p>
          </p:txBody>
        </p:sp>
        <p:sp>
          <p:nvSpPr>
            <p:cNvPr id="24" name="TextBox 24"/>
            <p:cNvSpPr txBox="1"/>
            <p:nvPr/>
          </p:nvSpPr>
          <p:spPr>
            <a:xfrm>
              <a:off x="3137535" y="2393156"/>
              <a:ext cx="2856230"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Saf DTO verisi, HTTP bağlamından</a:t>
              </a:r>
              <a:br/>
              <a:r>
                <a:rPr lang="tr-TR" sz="1120" dirty="0">
                  <a:solidFill>
                    <a:srgbClr val="52616B"/>
                  </a:solidFill>
                  <a:latin typeface="+mn-lt"/>
                  <a:ea typeface="+mn-ea"/>
                  <a:cs typeface="+mn-cs"/>
                </a:rPr>
                <a:t>sıyrılarak service.oduncAl'a devredilir.</a:t>
              </a:r>
            </a:p>
          </p:txBody>
        </p:sp>
      </p:grpSp>
      <p:grpSp>
        <p:nvGrpSpPr>
          <p:cNvPr id="32" name="step-3"/>
          <p:cNvGrpSpPr/>
          <p:nvPr/>
        </p:nvGrpSpPr>
        <p:grpSpPr>
          <a:xfrm>
            <a:off x="1162050" y="2940368"/>
            <a:ext cx="4675251" cy="653890"/>
            <a:chOff x="1162050" y="2940368"/>
            <a:chExt cx="4675251" cy="653890"/>
          </a:xfrm>
        </p:grpSpPr>
        <p:sp>
          <p:nvSpPr>
            <p:cNvPr id="26" name="Ellipse 26"/>
            <p:cNvSpPr/>
            <p:nvPr/>
          </p:nvSpPr>
          <p:spPr>
            <a:xfrm>
              <a:off x="1162050" y="2952750"/>
              <a:ext cx="342900" cy="342900"/>
            </a:xfrm>
            <a:prstGeom prst="ellipse">
              <a:avLst/>
            </a:prstGeom>
            <a:solidFill>
              <a:srgbClr val="00A6A6"/>
            </a:solidFill>
            <a:ln>
              <a:noFill/>
            </a:ln>
          </p:spPr>
        </p:sp>
        <p:sp>
          <p:nvSpPr>
            <p:cNvPr id="27" name="TextBox 27"/>
            <p:cNvSpPr txBox="1"/>
            <p:nvPr/>
          </p:nvSpPr>
          <p:spPr>
            <a:xfrm>
              <a:off x="1280758" y="30518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28" name="Rectangle 28"/>
            <p:cNvSpPr/>
            <p:nvPr/>
          </p:nvSpPr>
          <p:spPr>
            <a:xfrm>
              <a:off x="1714500" y="2971800"/>
              <a:ext cx="1219200" cy="285750"/>
            </a:xfrm>
            <a:prstGeom prst="roundRect">
              <a:avLst>
                <a:gd name="adj" fmla="val 20000"/>
              </a:avLst>
            </a:prstGeom>
            <a:solidFill>
              <a:srgbClr val="00A6A6"/>
            </a:solidFill>
            <a:ln>
              <a:noFill/>
            </a:ln>
          </p:spPr>
        </p:sp>
        <p:sp>
          <p:nvSpPr>
            <p:cNvPr id="29" name="TextBox 29"/>
            <p:cNvSpPr txBox="1"/>
            <p:nvPr/>
          </p:nvSpPr>
          <p:spPr>
            <a:xfrm>
              <a:off x="2036491" y="3048952"/>
              <a:ext cx="57521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SERVICE</a:t>
              </a:r>
            </a:p>
          </p:txBody>
        </p:sp>
        <p:sp>
          <p:nvSpPr>
            <p:cNvPr id="30" name="TextBox 30"/>
            <p:cNvSpPr txBox="1"/>
            <p:nvPr/>
          </p:nvSpPr>
          <p:spPr>
            <a:xfrm>
              <a:off x="3136392" y="2940368"/>
              <a:ext cx="1708482"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İş kuralı denetimi</a:t>
              </a:r>
            </a:p>
          </p:txBody>
        </p:sp>
        <p:sp>
          <p:nvSpPr>
            <p:cNvPr id="31" name="TextBox 31"/>
            <p:cNvSpPr txBox="1"/>
            <p:nvPr/>
          </p:nvSpPr>
          <p:spPr>
            <a:xfrm>
              <a:off x="3137535" y="3193256"/>
              <a:ext cx="2699766"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Öğrencinin ödünç alma limitini (en fazla</a:t>
              </a:r>
            </a:p>
            <a:p>
              <a:pPr algn="l">
                <a:lnSpc>
                  <a:spcPts val="1425"/>
                </a:lnSpc>
              </a:pPr>
              <a:r>
                <a:rPr lang="tr-TR" sz="1120" dirty="0">
                  <a:solidFill>
                    <a:srgbClr val="52616B"/>
                  </a:solidFill>
                  <a:latin typeface="+mn-lt"/>
                  <a:ea typeface="+mn-ea"/>
                  <a:cs typeface="+mn-cs"/>
                </a:rPr>
                <a:t>3) aşıp aşmadığı denetlenir.</a:t>
              </a:r>
            </a:p>
          </p:txBody>
        </p:sp>
      </p:grpSp>
      <p:grpSp>
        <p:nvGrpSpPr>
          <p:cNvPr id="39" name="step-4"/>
          <p:cNvGrpSpPr/>
          <p:nvPr/>
        </p:nvGrpSpPr>
        <p:grpSpPr>
          <a:xfrm>
            <a:off x="1162050" y="3740468"/>
            <a:ext cx="4312539" cy="653890"/>
            <a:chOff x="1162050" y="3740468"/>
            <a:chExt cx="4312539" cy="653890"/>
          </a:xfrm>
        </p:grpSpPr>
        <p:sp>
          <p:nvSpPr>
            <p:cNvPr id="33" name="Ellipse 33"/>
            <p:cNvSpPr/>
            <p:nvPr/>
          </p:nvSpPr>
          <p:spPr>
            <a:xfrm>
              <a:off x="1162050" y="3752850"/>
              <a:ext cx="342900" cy="342900"/>
            </a:xfrm>
            <a:prstGeom prst="ellipse">
              <a:avLst/>
            </a:prstGeom>
            <a:solidFill>
              <a:srgbClr val="00A6A6"/>
            </a:solidFill>
            <a:ln>
              <a:noFill/>
            </a:ln>
          </p:spPr>
        </p:sp>
        <p:sp>
          <p:nvSpPr>
            <p:cNvPr id="34" name="TextBox 34"/>
            <p:cNvSpPr txBox="1"/>
            <p:nvPr/>
          </p:nvSpPr>
          <p:spPr>
            <a:xfrm>
              <a:off x="1280758" y="38519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4</a:t>
              </a:r>
            </a:p>
          </p:txBody>
        </p:sp>
        <p:sp>
          <p:nvSpPr>
            <p:cNvPr id="35" name="Rectangle 35"/>
            <p:cNvSpPr/>
            <p:nvPr/>
          </p:nvSpPr>
          <p:spPr>
            <a:xfrm>
              <a:off x="1714500" y="3771900"/>
              <a:ext cx="1219200" cy="285750"/>
            </a:xfrm>
            <a:prstGeom prst="roundRect">
              <a:avLst>
                <a:gd name="adj" fmla="val 20000"/>
              </a:avLst>
            </a:prstGeom>
            <a:solidFill>
              <a:srgbClr val="2E86AB"/>
            </a:solidFill>
            <a:ln>
              <a:noFill/>
            </a:ln>
          </p:spPr>
        </p:sp>
        <p:sp>
          <p:nvSpPr>
            <p:cNvPr id="36" name="TextBox 36"/>
            <p:cNvSpPr txBox="1"/>
            <p:nvPr/>
          </p:nvSpPr>
          <p:spPr>
            <a:xfrm>
              <a:off x="1875751" y="3849052"/>
              <a:ext cx="89669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REPOSITORY</a:t>
              </a:r>
            </a:p>
          </p:txBody>
        </p:sp>
        <p:sp>
          <p:nvSpPr>
            <p:cNvPr id="37" name="TextBox 37"/>
            <p:cNvSpPr txBox="1"/>
            <p:nvPr/>
          </p:nvSpPr>
          <p:spPr>
            <a:xfrm>
              <a:off x="3136392" y="3740468"/>
              <a:ext cx="1575218"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Durum sorgulama</a:t>
              </a:r>
            </a:p>
          </p:txBody>
        </p:sp>
        <p:sp>
          <p:nvSpPr>
            <p:cNvPr id="38" name="TextBox 38"/>
            <p:cNvSpPr txBox="1"/>
            <p:nvPr/>
          </p:nvSpPr>
          <p:spPr>
            <a:xfrm>
              <a:off x="3137535" y="3993356"/>
              <a:ext cx="2337054"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Kitap ve öğrencinin güncel durumu</a:t>
              </a:r>
              <a:br/>
              <a:r>
                <a:rPr lang="tr-TR" sz="1120" dirty="0">
                  <a:solidFill>
                    <a:srgbClr val="52616B"/>
                  </a:solidFill>
                  <a:latin typeface="+mn-lt"/>
                  <a:ea typeface="+mn-ea"/>
                  <a:cs typeface="+mn-cs"/>
                </a:rPr>
                <a:t>veri kaynağından çekilir.</a:t>
              </a:r>
            </a:p>
          </p:txBody>
        </p:sp>
      </p:grpSp>
      <p:grpSp>
        <p:nvGrpSpPr>
          <p:cNvPr id="46" name="step-5"/>
          <p:cNvGrpSpPr/>
          <p:nvPr/>
        </p:nvGrpSpPr>
        <p:grpSpPr>
          <a:xfrm>
            <a:off x="1162050" y="4540568"/>
            <a:ext cx="5023739" cy="653890"/>
            <a:chOff x="1162050" y="4540568"/>
            <a:chExt cx="5023739" cy="653890"/>
          </a:xfrm>
        </p:grpSpPr>
        <p:sp>
          <p:nvSpPr>
            <p:cNvPr id="40" name="Ellipse 40"/>
            <p:cNvSpPr/>
            <p:nvPr/>
          </p:nvSpPr>
          <p:spPr>
            <a:xfrm>
              <a:off x="1162050" y="4552950"/>
              <a:ext cx="342900" cy="342900"/>
            </a:xfrm>
            <a:prstGeom prst="ellipse">
              <a:avLst/>
            </a:prstGeom>
            <a:solidFill>
              <a:srgbClr val="2E86AB"/>
            </a:solidFill>
            <a:ln>
              <a:noFill/>
            </a:ln>
          </p:spPr>
        </p:sp>
        <p:sp>
          <p:nvSpPr>
            <p:cNvPr id="41" name="TextBox 41"/>
            <p:cNvSpPr txBox="1"/>
            <p:nvPr/>
          </p:nvSpPr>
          <p:spPr>
            <a:xfrm>
              <a:off x="1280758" y="46520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5</a:t>
              </a:r>
            </a:p>
          </p:txBody>
        </p:sp>
        <p:sp>
          <p:nvSpPr>
            <p:cNvPr id="42" name="Rectangle 42"/>
            <p:cNvSpPr/>
            <p:nvPr/>
          </p:nvSpPr>
          <p:spPr>
            <a:xfrm>
              <a:off x="1714500" y="4572000"/>
              <a:ext cx="1219200" cy="285750"/>
            </a:xfrm>
            <a:prstGeom prst="roundRect">
              <a:avLst>
                <a:gd name="adj" fmla="val 20000"/>
              </a:avLst>
            </a:prstGeom>
            <a:solidFill>
              <a:srgbClr val="2E86AB"/>
            </a:solidFill>
            <a:ln>
              <a:noFill/>
            </a:ln>
          </p:spPr>
        </p:sp>
        <p:sp>
          <p:nvSpPr>
            <p:cNvPr id="43" name="TextBox 43"/>
            <p:cNvSpPr txBox="1"/>
            <p:nvPr/>
          </p:nvSpPr>
          <p:spPr>
            <a:xfrm>
              <a:off x="1875751" y="4649152"/>
              <a:ext cx="89669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REPOSITORY</a:t>
              </a:r>
            </a:p>
          </p:txBody>
        </p:sp>
        <p:sp>
          <p:nvSpPr>
            <p:cNvPr id="44" name="TextBox 44"/>
            <p:cNvSpPr txBox="1"/>
            <p:nvPr/>
          </p:nvSpPr>
          <p:spPr>
            <a:xfrm>
              <a:off x="3136392" y="4540568"/>
              <a:ext cx="1402782"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Veri kalıcılığı</a:t>
              </a:r>
            </a:p>
          </p:txBody>
        </p:sp>
        <p:sp>
          <p:nvSpPr>
            <p:cNvPr id="45" name="TextBox 45"/>
            <p:cNvSpPr txBox="1"/>
            <p:nvPr/>
          </p:nvSpPr>
          <p:spPr>
            <a:xfrm>
              <a:off x="3137535" y="4793456"/>
              <a:ext cx="3048254"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kitabiOduncteIsaretle ve oduncSayisiniArtir</a:t>
              </a:r>
              <a:br/>
              <a:r>
                <a:rPr lang="tr-TR" sz="1120" dirty="0">
                  <a:solidFill>
                    <a:srgbClr val="52616B"/>
                  </a:solidFill>
                  <a:latin typeface="+mn-lt"/>
                  <a:ea typeface="+mn-ea"/>
                  <a:cs typeface="+mn-cs"/>
                </a:rPr>
                <a:t>çalıştırılarak durum güncellenir.</a:t>
              </a:r>
            </a:p>
          </p:txBody>
        </p:sp>
      </p:grpSp>
      <p:grpSp>
        <p:nvGrpSpPr>
          <p:cNvPr id="53" name="step-6"/>
          <p:cNvGrpSpPr/>
          <p:nvPr/>
        </p:nvGrpSpPr>
        <p:grpSpPr>
          <a:xfrm>
            <a:off x="1162050" y="5340668"/>
            <a:ext cx="4810379" cy="653890"/>
            <a:chOff x="1162050" y="5340668"/>
            <a:chExt cx="4810379" cy="653890"/>
          </a:xfrm>
        </p:grpSpPr>
        <p:sp>
          <p:nvSpPr>
            <p:cNvPr id="47" name="Ellipse 47"/>
            <p:cNvSpPr/>
            <p:nvPr/>
          </p:nvSpPr>
          <p:spPr>
            <a:xfrm>
              <a:off x="1162050" y="5353050"/>
              <a:ext cx="342900" cy="342900"/>
            </a:xfrm>
            <a:prstGeom prst="ellipse">
              <a:avLst/>
            </a:prstGeom>
            <a:solidFill>
              <a:srgbClr val="12355B"/>
            </a:solidFill>
            <a:ln>
              <a:noFill/>
            </a:ln>
          </p:spPr>
        </p:sp>
        <p:sp>
          <p:nvSpPr>
            <p:cNvPr id="48" name="TextBox 48"/>
            <p:cNvSpPr txBox="1"/>
            <p:nvPr/>
          </p:nvSpPr>
          <p:spPr>
            <a:xfrm>
              <a:off x="1280758" y="54521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6</a:t>
              </a:r>
            </a:p>
          </p:txBody>
        </p:sp>
        <p:sp>
          <p:nvSpPr>
            <p:cNvPr id="49" name="Rectangle 49"/>
            <p:cNvSpPr/>
            <p:nvPr/>
          </p:nvSpPr>
          <p:spPr>
            <a:xfrm>
              <a:off x="1714500" y="5372100"/>
              <a:ext cx="1219200" cy="285750"/>
            </a:xfrm>
            <a:prstGeom prst="roundRect">
              <a:avLst>
                <a:gd name="adj" fmla="val 20000"/>
              </a:avLst>
            </a:prstGeom>
            <a:solidFill>
              <a:srgbClr val="12355B"/>
            </a:solidFill>
            <a:ln>
              <a:noFill/>
            </a:ln>
          </p:spPr>
        </p:sp>
        <p:sp>
          <p:nvSpPr>
            <p:cNvPr id="50" name="TextBox 50"/>
            <p:cNvSpPr txBox="1"/>
            <p:nvPr/>
          </p:nvSpPr>
          <p:spPr>
            <a:xfrm>
              <a:off x="1856148" y="5449252"/>
              <a:ext cx="935904"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CONTROLLER</a:t>
              </a:r>
            </a:p>
          </p:txBody>
        </p:sp>
        <p:sp>
          <p:nvSpPr>
            <p:cNvPr id="51" name="TextBox 51"/>
            <p:cNvSpPr txBox="1"/>
            <p:nvPr/>
          </p:nvSpPr>
          <p:spPr>
            <a:xfrm>
              <a:off x="3136392" y="5340668"/>
              <a:ext cx="1183731"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Yanıt inşası</a:t>
              </a:r>
            </a:p>
          </p:txBody>
        </p:sp>
        <p:sp>
          <p:nvSpPr>
            <p:cNvPr id="52" name="TextBox 52"/>
            <p:cNvSpPr txBox="1"/>
            <p:nvPr/>
          </p:nvSpPr>
          <p:spPr>
            <a:xfrm>
              <a:off x="3137535" y="5593556"/>
              <a:ext cx="2834894" cy="401002"/>
            </a:xfrm>
            <a:prstGeom prst="rect">
              <a:avLst/>
            </a:prstGeom>
            <a:noFill/>
            <a:ln>
              <a:noFill/>
            </a:ln>
          </p:spPr>
          <p:txBody>
            <a:bodyPr wrap="none" lIns="0" tIns="0" rIns="0" bIns="0" anchor="t" anchorCtr="0">
              <a:spAutoFit/>
            </a:bodyPr>
            <a:lstStyle/>
            <a:p>
              <a:pPr algn="l">
                <a:lnSpc>
                  <a:spcPts val="1425"/>
                </a:lnSpc>
              </a:pPr>
              <a:r>
                <a:rPr lang="tr-TR" sz="1120" dirty="0">
                  <a:solidFill>
                    <a:srgbClr val="52616B"/>
                  </a:solidFill>
                  <a:latin typeface="+mn-lt"/>
                  <a:ea typeface="+mn-ea"/>
                  <a:cs typeface="+mn-cs"/>
                </a:rPr>
                <a:t>Servis sonucu { durumKodu: 201, mesaj }</a:t>
              </a:r>
              <a:br/>
              <a:r>
                <a:rPr lang="tr-TR" sz="1120" dirty="0">
                  <a:solidFill>
                    <a:srgbClr val="52616B"/>
                  </a:solidFill>
                  <a:latin typeface="+mn-lt"/>
                  <a:ea typeface="+mn-ea"/>
                  <a:cs typeface="+mn-cs"/>
                </a:rPr>
                <a:t>biçiminde HTTP yanıtına paketlenir.</a:t>
              </a:r>
            </a:p>
          </p:txBody>
        </p:sp>
      </p:grpSp>
      <p:grpSp>
        <p:nvGrpSpPr>
          <p:cNvPr id="59" name="isolation-note"/>
          <p:cNvGrpSpPr/>
          <p:nvPr/>
        </p:nvGrpSpPr>
        <p:grpSpPr>
          <a:xfrm>
            <a:off x="8153400" y="1219200"/>
            <a:ext cx="3429000" cy="4533900"/>
            <a:chOff x="8153400" y="1219200"/>
            <a:chExt cx="3429000" cy="4533900"/>
          </a:xfrm>
        </p:grpSpPr>
        <p:sp>
          <p:nvSpPr>
            <p:cNvPr id="54" name="Rectangle 54"/>
            <p:cNvSpPr/>
            <p:nvPr/>
          </p:nvSpPr>
          <p:spPr>
            <a:xfrm>
              <a:off x="8153400" y="1219200"/>
              <a:ext cx="3429000" cy="4533900"/>
            </a:xfrm>
            <a:prstGeom prst="roundRect">
              <a:avLst>
                <a:gd name="adj" fmla="val 2222"/>
              </a:avLst>
            </a:prstGeom>
            <a:solidFill>
              <a:srgbClr val="EAF4F6"/>
            </a:solidFill>
            <a:ln>
              <a:noFill/>
            </a:ln>
          </p:spPr>
        </p:sp>
        <p:sp>
          <p:nvSpPr>
            <p:cNvPr id="55" name="Rectangle 55"/>
            <p:cNvSpPr/>
            <p:nvPr/>
          </p:nvSpPr>
          <p:spPr>
            <a:xfrm>
              <a:off x="8153400" y="1219200"/>
              <a:ext cx="57150" cy="4533900"/>
            </a:xfrm>
            <a:prstGeom prst="rect">
              <a:avLst/>
            </a:prstGeom>
            <a:solidFill>
              <a:srgbClr val="00A6A6"/>
            </a:solidFill>
            <a:ln>
              <a:noFill/>
            </a:ln>
          </p:spPr>
        </p:sp>
        <p:sp>
          <p:nvSpPr>
            <p:cNvPr id="56" name="TextBox 56"/>
            <p:cNvSpPr txBox="1"/>
            <p:nvPr/>
          </p:nvSpPr>
          <p:spPr>
            <a:xfrm>
              <a:off x="8414004" y="1394460"/>
              <a:ext cx="2766670" cy="234696"/>
            </a:xfrm>
            <a:prstGeom prst="rect">
              <a:avLst/>
            </a:prstGeom>
            <a:noFill/>
            <a:ln>
              <a:noFill/>
            </a:ln>
          </p:spPr>
          <p:txBody>
            <a:bodyPr wrap="none" lIns="0" tIns="0" rIns="0" bIns="0" anchor="t" anchorCtr="0">
              <a:spAutoFit/>
            </a:bodyPr>
            <a:lstStyle/>
            <a:p>
              <a:pPr algn="l"/>
              <a:r>
                <a:rPr lang="tr-TR" sz="1200" b="1" spc="150" dirty="0">
                  <a:solidFill>
                    <a:srgbClr val="2E86AB"/>
                  </a:solidFill>
                  <a:latin typeface="+mn-lt"/>
                  <a:ea typeface="+mn-ea"/>
                  <a:cs typeface="+mn-cs"/>
                </a:rPr>
                <a:t>KATMAN İZOLASYON İLKESİ</a:t>
              </a:r>
            </a:p>
          </p:txBody>
        </p:sp>
        <p:sp>
          <p:nvSpPr>
            <p:cNvPr id="57" name="TextBox 57"/>
            <p:cNvSpPr txBox="1"/>
            <p:nvPr/>
          </p:nvSpPr>
          <p:spPr>
            <a:xfrm>
              <a:off x="8413623" y="1729264"/>
              <a:ext cx="2800858"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Repository HTTP'den habersizdir;</a:t>
              </a:r>
              <a:br/>
              <a:r>
                <a:rPr lang="tr-TR" sz="1280" dirty="0">
                  <a:solidFill>
                    <a:srgbClr val="172B3A"/>
                  </a:solidFill>
                  <a:latin typeface="+mn-lt"/>
                  <a:ea typeface="+mn-ea"/>
                  <a:cs typeface="+mn-cs"/>
                </a:rPr>
                <a:t>service hangi HTTP durum kodunun</a:t>
              </a:r>
              <a:br/>
              <a:r>
                <a:rPr lang="tr-TR" sz="1280" dirty="0">
                  <a:solidFill>
                    <a:srgbClr val="172B3A"/>
                  </a:solidFill>
                  <a:latin typeface="+mn-lt"/>
                  <a:ea typeface="+mn-ea"/>
                  <a:cs typeface="+mn-cs"/>
                </a:rPr>
                <a:t>dönüleceğini bilmez; controller SQL</a:t>
              </a:r>
              <a:br/>
              <a:r>
                <a:rPr lang="tr-TR" sz="1280" dirty="0">
                  <a:solidFill>
                    <a:srgbClr val="172B3A"/>
                  </a:solidFill>
                  <a:latin typeface="+mn-lt"/>
                  <a:ea typeface="+mn-ea"/>
                  <a:cs typeface="+mn-cs"/>
                </a:rPr>
                <a:t>sorgusundan tamamen izoledir.</a:t>
              </a:r>
            </a:p>
          </p:txBody>
        </p:sp>
        <p:sp>
          <p:nvSpPr>
            <p:cNvPr id="58" name="TextBox 58"/>
            <p:cNvSpPr txBox="1"/>
            <p:nvPr/>
          </p:nvSpPr>
          <p:spPr>
            <a:xfrm>
              <a:off x="8413623" y="2929414"/>
              <a:ext cx="2735834"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Bu sayede aynı service, ileride bir</a:t>
              </a:r>
              <a:br/>
              <a:r>
                <a:rPr lang="tr-TR" sz="1280" dirty="0">
                  <a:solidFill>
                    <a:srgbClr val="172B3A"/>
                  </a:solidFill>
                  <a:latin typeface="+mn-lt"/>
                  <a:ea typeface="+mn-ea"/>
                  <a:cs typeface="+mn-cs"/>
                </a:rPr>
                <a:t>REST API yerine gRPC servisi veya</a:t>
              </a:r>
              <a:br/>
              <a:r>
                <a:rPr lang="tr-TR" sz="1280" dirty="0">
                  <a:solidFill>
                    <a:srgbClr val="172B3A"/>
                  </a:solidFill>
                  <a:latin typeface="+mn-lt"/>
                  <a:ea typeface="+mn-ea"/>
                  <a:cs typeface="+mn-cs"/>
                </a:rPr>
                <a:t>kuyruk tüketicisi tarafından, hiç</a:t>
              </a:r>
              <a:br/>
              <a:r>
                <a:rPr lang="tr-TR" sz="1280" dirty="0">
                  <a:solidFill>
                    <a:srgbClr val="172B3A"/>
                  </a:solidFill>
                  <a:latin typeface="+mn-lt"/>
                  <a:ea typeface="+mn-ea"/>
                  <a:cs typeface="+mn-cs"/>
                </a:rPr>
                <a:t>değişmeden kullanılabilir.</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controller"/>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2976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Controller</a:t>
              </a:r>
            </a:p>
          </p:txBody>
        </p:sp>
        <p:sp>
          <p:nvSpPr>
            <p:cNvPr id="8" name="TextBox 8"/>
            <p:cNvSpPr txBox="1"/>
            <p:nvPr/>
          </p:nvSpPr>
          <p:spPr>
            <a:xfrm>
              <a:off x="832104" y="1908810"/>
              <a:ext cx="2199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İstemci isteğini alır, DTO'ya</a:t>
              </a:r>
              <a:br/>
              <a:r>
                <a:rPr lang="tr-TR" sz="1200" dirty="0">
                  <a:solidFill>
                    <a:srgbClr val="172B3A"/>
                  </a:solidFill>
                  <a:latin typeface="+mn-lt"/>
                  <a:ea typeface="+mn-ea"/>
                  <a:cs typeface="+mn-cs"/>
                </a:rPr>
                <a:t>dönüştürür ve HTTP yanıtını</a:t>
              </a:r>
              <a:br/>
              <a:r>
                <a:rPr lang="tr-TR" sz="1200" dirty="0">
                  <a:solidFill>
                    <a:srgbClr val="172B3A"/>
                  </a:solidFill>
                  <a:latin typeface="+mn-lt"/>
                  <a:ea typeface="+mn-ea"/>
                  <a:cs typeface="+mn-cs"/>
                </a:rPr>
                <a:t>hazırlar.</a:t>
              </a:r>
            </a:p>
          </p:txBody>
        </p:sp>
      </p:grpSp>
      <p:grpSp>
        <p:nvGrpSpPr>
          <p:cNvPr id="13" name="summary-servic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Service</a:t>
              </a:r>
            </a:p>
          </p:txBody>
        </p:sp>
        <p:sp>
          <p:nvSpPr>
            <p:cNvPr id="12" name="TextBox 12"/>
            <p:cNvSpPr txBox="1"/>
            <p:nvPr/>
          </p:nvSpPr>
          <p:spPr>
            <a:xfrm>
              <a:off x="4565904" y="1908810"/>
              <a:ext cx="22829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 kurallarını merkezi biçimde</a:t>
              </a:r>
              <a:br/>
              <a:r>
                <a:rPr lang="tr-TR" sz="1200" dirty="0">
                  <a:solidFill>
                    <a:srgbClr val="172B3A"/>
                  </a:solidFill>
                  <a:latin typeface="+mn-lt"/>
                  <a:ea typeface="+mn-ea"/>
                  <a:cs typeface="+mn-cs"/>
                </a:rPr>
                <a:t>uygular; HTTP ve SQL</a:t>
              </a:r>
              <a:br/>
              <a:r>
                <a:rPr lang="tr-TR" sz="1200" dirty="0">
                  <a:solidFill>
                    <a:srgbClr val="172B3A"/>
                  </a:solidFill>
                  <a:latin typeface="+mn-lt"/>
                  <a:ea typeface="+mn-ea"/>
                  <a:cs typeface="+mn-cs"/>
                </a:rPr>
                <a:t>ayrıntısından bağımsızdır.</a:t>
              </a:r>
            </a:p>
          </p:txBody>
        </p:sp>
      </p:grpSp>
      <p:grpSp>
        <p:nvGrpSpPr>
          <p:cNvPr id="17" name="summary-repository"/>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Repository</a:t>
              </a:r>
            </a:p>
          </p:txBody>
        </p:sp>
        <p:sp>
          <p:nvSpPr>
            <p:cNvPr id="16" name="TextBox 16"/>
            <p:cNvSpPr txBox="1"/>
            <p:nvPr/>
          </p:nvSpPr>
          <p:spPr>
            <a:xfrm>
              <a:off x="8299704" y="1908810"/>
              <a:ext cx="2328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Veriyi getirir ve saklar; veri</a:t>
              </a:r>
              <a:br/>
              <a:r>
                <a:rPr lang="tr-TR" sz="1200" dirty="0">
                  <a:solidFill>
                    <a:srgbClr val="172B3A"/>
                  </a:solidFill>
                  <a:latin typeface="+mn-lt"/>
                  <a:ea typeface="+mn-ea"/>
                  <a:cs typeface="+mn-cs"/>
                </a:rPr>
                <a:t>kaynağının teknik ayrıntısını</a:t>
              </a:r>
              <a:br/>
              <a:r>
                <a:rPr lang="tr-TR" sz="1200" dirty="0">
                  <a:solidFill>
                    <a:srgbClr val="172B3A"/>
                  </a:solidFill>
                  <a:latin typeface="+mn-lt"/>
                  <a:ea typeface="+mn-ea"/>
                  <a:cs typeface="+mn-cs"/>
                </a:rPr>
                <a:t>gizler.</a:t>
              </a:r>
            </a:p>
          </p:txBody>
        </p:sp>
      </p:grpSp>
      <p:grpSp>
        <p:nvGrpSpPr>
          <p:cNvPr id="21" name="summary-dto"/>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6484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DTO / Domain</a:t>
              </a:r>
            </a:p>
          </p:txBody>
        </p:sp>
        <p:sp>
          <p:nvSpPr>
            <p:cNvPr id="20" name="TextBox 20"/>
            <p:cNvSpPr txBox="1"/>
            <p:nvPr/>
          </p:nvSpPr>
          <p:spPr>
            <a:xfrm>
              <a:off x="832104" y="3718560"/>
              <a:ext cx="23362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Dış dünya ile iç domain model</a:t>
              </a:r>
              <a:br/>
              <a:r>
                <a:rPr lang="tr-TR" sz="1200" dirty="0">
                  <a:solidFill>
                    <a:srgbClr val="172B3A"/>
                  </a:solidFill>
                  <a:latin typeface="+mn-lt"/>
                  <a:ea typeface="+mn-ea"/>
                  <a:cs typeface="+mn-cs"/>
                </a:rPr>
                <a:t>arasında güvenli bir sözleşme</a:t>
              </a:r>
              <a:br/>
              <a:r>
                <a:rPr lang="tr-TR" sz="1200" dirty="0">
                  <a:solidFill>
                    <a:srgbClr val="172B3A"/>
                  </a:solidFill>
                  <a:latin typeface="+mn-lt"/>
                  <a:ea typeface="+mn-ea"/>
                  <a:cs typeface="+mn-cs"/>
                </a:rPr>
                <a:t>kurar; veri sızıntısını önler.</a:t>
              </a:r>
            </a:p>
          </p:txBody>
        </p:sp>
      </p:grpSp>
      <p:grpSp>
        <p:nvGrpSpPr>
          <p:cNvPr id="25" name="summary-refactoring"/>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5015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Refactoring</a:t>
              </a:r>
            </a:p>
          </p:txBody>
        </p:sp>
        <p:sp>
          <p:nvSpPr>
            <p:cNvPr id="24" name="TextBox 24"/>
            <p:cNvSpPr txBox="1"/>
            <p:nvPr/>
          </p:nvSpPr>
          <p:spPr>
            <a:xfrm>
              <a:off x="4565904" y="3718560"/>
              <a:ext cx="25267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Ortak kurallar service katmanına</a:t>
              </a:r>
              <a:br/>
              <a:r>
                <a:rPr lang="tr-TR" sz="1200" dirty="0">
                  <a:solidFill>
                    <a:srgbClr val="172B3A"/>
                  </a:solidFill>
                  <a:latin typeface="+mn-lt"/>
                  <a:ea typeface="+mn-ea"/>
                  <a:cs typeface="+mn-cs"/>
                </a:rPr>
                <a:t>taşınarak kod tekrarı ve</a:t>
              </a:r>
              <a:br/>
              <a:r>
                <a:rPr lang="tr-TR" sz="1200" dirty="0">
                  <a:solidFill>
                    <a:srgbClr val="172B3A"/>
                  </a:solidFill>
                  <a:latin typeface="+mn-lt"/>
                  <a:ea typeface="+mn-ea"/>
                  <a:cs typeface="+mn-cs"/>
                </a:rPr>
                <a:t>tutarsızlık azaltılır.</a:t>
              </a:r>
            </a:p>
          </p:txBody>
        </p:sp>
      </p:grpSp>
      <p:grpSp>
        <p:nvGrpSpPr>
          <p:cNvPr id="29" name="summary-debug"/>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7693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ayıklama</a:t>
              </a:r>
            </a:p>
          </p:txBody>
        </p:sp>
        <p:sp>
          <p:nvSpPr>
            <p:cNvPr id="28" name="TextBox 28"/>
            <p:cNvSpPr txBox="1"/>
            <p:nvPr/>
          </p:nvSpPr>
          <p:spPr>
            <a:xfrm>
              <a:off x="8299704" y="3718560"/>
              <a:ext cx="2465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Girdi/HTTP sorunu controller'da,</a:t>
              </a:r>
              <a:br/>
              <a:r>
                <a:rPr lang="tr-TR" sz="1200" dirty="0">
                  <a:solidFill>
                    <a:srgbClr val="172B3A"/>
                  </a:solidFill>
                  <a:latin typeface="+mn-lt"/>
                  <a:ea typeface="+mn-ea"/>
                  <a:cs typeface="+mn-cs"/>
                </a:rPr>
                <a:t>iş kuralı service'te, veri erişim</a:t>
              </a:r>
              <a:br/>
              <a:r>
                <a:rPr lang="tr-TR" sz="1200" dirty="0">
                  <a:solidFill>
                    <a:srgbClr val="172B3A"/>
                  </a:solidFill>
                  <a:latin typeface="+mn-lt"/>
                  <a:ea typeface="+mn-ea"/>
                  <a:cs typeface="+mn-cs"/>
                </a:rPr>
                <a:t>sorunu repository'de aranır.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55320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Controller HTTP iletişimini, service iş kurallarını, repository veri erişimini yönetir.</a:t>
              </a:r>
            </a:p>
          </p:txBody>
        </p:sp>
        <p:sp>
          <p:nvSpPr>
            <p:cNvPr id="32" name="TextBox 32"/>
            <p:cNvSpPr txBox="1"/>
            <p:nvPr/>
          </p:nvSpPr>
          <p:spPr>
            <a:xfrm>
              <a:off x="906399" y="5583079"/>
              <a:ext cx="878662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üçlü ayrım, kütüphane ödünç alma senaryosunun tüm bölüm boyunca omurgasıdır.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343834" cy="724281"/>
            <a:chOff x="599694" y="1484948"/>
            <a:chExt cx="9343834" cy="724281"/>
          </a:xfrm>
        </p:grpSpPr>
        <p:sp>
          <p:nvSpPr>
            <p:cNvPr id="7" name="TextBox 7"/>
            <p:cNvSpPr txBox="1"/>
            <p:nvPr/>
          </p:nvSpPr>
          <p:spPr>
            <a:xfrm>
              <a:off x="599694" y="1484948"/>
              <a:ext cx="9343834"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Bu bölümdeki oduncAl metodu isteği gönderenin kim olduğunu hiç sormaz.</a:t>
              </a:r>
              <a:br/>
              <a:r>
                <a:rPr lang="tr-TR" sz="1950" dirty="0">
                  <a:solidFill>
                    <a:srgbClr val="172B3A"/>
                  </a:solidFill>
                  <a:latin typeface="+mn-lt"/>
                  <a:ea typeface="+mn-ea"/>
                  <a:cs typeface="+mn-cs"/>
                </a:rPr>
                <a:t>Sıradaki adım, katmanlara kimin hangi isteği yaptırabileceğini belirlemektir.</a:t>
              </a:r>
            </a:p>
          </p:txBody>
        </p:sp>
      </p:grpSp>
      <p:grpSp>
        <p:nvGrpSpPr>
          <p:cNvPr id="14" name="bridge-now"/>
          <p:cNvGrpSpPr/>
          <p:nvPr/>
        </p:nvGrpSpPr>
        <p:grpSpPr>
          <a:xfrm>
            <a:off x="599694" y="2799398"/>
            <a:ext cx="3265424" cy="1834419"/>
            <a:chOff x="599694" y="2799398"/>
            <a:chExt cx="3265424"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301586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Controller-service-repository</a:t>
              </a:r>
              <a:br/>
              <a:r>
                <a:rPr lang="tr-TR" sz="1580" dirty="0">
                  <a:solidFill>
                    <a:srgbClr val="172B3A"/>
                  </a:solidFill>
                  <a:latin typeface="+mn-lt"/>
                  <a:ea typeface="+mn-ea"/>
                  <a:cs typeface="+mn-cs"/>
                </a:rPr>
                <a:t>akışını uçtan uca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95567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DTO ile domain modeli ayırt</a:t>
              </a:r>
              <a:br/>
              <a:r>
                <a:rPr lang="tr-TR" sz="1580" dirty="0">
                  <a:solidFill>
                    <a:srgbClr val="172B3A"/>
                  </a:solidFill>
                  <a:latin typeface="+mn-lt"/>
                  <a:ea typeface="+mn-ea"/>
                  <a:cs typeface="+mn-cs"/>
                </a:rPr>
                <a:t>edip veri sızıntısını önlemek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828211"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Kimlik doğrulama ve</a:t>
              </a:r>
              <a:br/>
              <a:r>
                <a:rPr lang="tr-TR" sz="2250" b="1" dirty="0">
                  <a:solidFill>
                    <a:srgbClr val="FFFFFF"/>
                  </a:solidFill>
                  <a:latin typeface="+mn-lt"/>
                  <a:ea typeface="+mn-ea"/>
                  <a:cs typeface="+mn-cs"/>
                </a:rPr>
                <a:t>yetkilendirme</a:t>
              </a:r>
            </a:p>
          </p:txBody>
        </p:sp>
        <p:sp>
          <p:nvSpPr>
            <p:cNvPr id="18" name="TextBox 18"/>
            <p:cNvSpPr txBox="1"/>
            <p:nvPr/>
          </p:nvSpPr>
          <p:spPr>
            <a:xfrm>
              <a:off x="7307199" y="4135279"/>
              <a:ext cx="369811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Parolaların scrypt ile saklanmasını</a:t>
              </a:r>
              <a:br/>
              <a:r>
                <a:rPr lang="tr-TR" sz="1580" dirty="0">
                  <a:solidFill>
                    <a:srgbClr val="EAF4F6"/>
                  </a:solidFill>
                  <a:latin typeface="+mn-lt"/>
                  <a:ea typeface="+mn-ea"/>
                  <a:cs typeface="+mn-cs"/>
                </a:rPr>
                <a:t>ve sahiplik denetimini öğreneceksiniz.</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3337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bölümdeki controller ve service katmanları, bir sonraki bölümde</a:t>
              </a:r>
            </a:p>
          </p:txBody>
        </p:sp>
        <p:sp>
          <p:nvSpPr>
            <p:cNvPr id="22" name="TextBox 22"/>
            <p:cNvSpPr txBox="1"/>
            <p:nvPr/>
          </p:nvSpPr>
          <p:spPr>
            <a:xfrm>
              <a:off x="906399" y="5830729"/>
              <a:ext cx="496126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kimlik bilgisiyle birlikte çalışır hâle gelecektir.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9-layered-backend-architecture-20260915">
  <a:themeElements>
    <a:clrScheme name="b09-layered-backend-architecture-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9-layered-backend-architecture-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9-layered-backend-architecture-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9-layered-backend-architecture-20260915">
  <a:themeElements>
    <a:clrScheme name="b09-layered-backend-architecture-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9-layered-backend-architecture-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9-layered-backend-architecture-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2026-09-19T21:22:15Z</dcterms:created>
  <dcterms:modified xsi:type="dcterms:W3CDTF">2026-09-19T21:22:15Z</dcterms:modified>
  <cp:category/>
  <cp:contentStatus/>
</cp:coreProperties>
</file>