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Sunucu Tabanlı Programlama" kitabının kapanış bölümüdür ve Üniversite Laboratuvar Yönetim Sistemi adlı bir capstone projesini ele alır. Kitap boyunca ayrı ayrı öğrenilen tip güvenliği, katmanlı mimari, veri modelleme, güvenlik, konteynerleştirme ve başarım konuları burada tek, uçtan uca bir sistemde birleştirilir. Bölümün amacı yeni bir teknik öğretmek değil, önceki on yedi bölümün kazanımlarını gerçekçi bir mühendislik problemi üzerinde sınamaktır: üniversitedeki laboratuvarların ekipman ve rezervasyonlarını yöneten, sensör verisiyle beslenen bir servis. Bu nedenle bölüm, bir "sentez" ya da "capstone" bölümü olarak konumlanır ve savunma/rubrik değerlendirmesiyle kapanır.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Yol haritası, bölümün beş büyük durağını sırasıyla gösterir: gereksinimden mimariye geçiş, veri modeli ve iş kuralları, güvenlik ve dağıtım, hata ayıklama ve bütünleştirme, son olarak rubrikle savunma. Bu sıralama rastgele değildir; her adım bir öncekinin üzerine inşa edilir — önce ne inşa edileceği (gereksinim), sonra nasıl inşa edileceği (mimari ve veri), ardından nasıl güvenli ve çalışır hale getirileceği (güvenlik, konteyner), son olarak da nasıl kanıtlanacağı (test, rubrik) sorularına yanıt verir. Öğrencinin bu haritayı zihninde tutması, ilerleyen sayfalarda hangi kararın hangi amaca hizmet ettiğini takip etmesini kolaylaştırır.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beş öğrenme hedefi şunlardır: gereksinimleri API ve veri modeline dönüştürebilmek, iş kurallarını doğru katmanda konumlandırabilmek, uçtan uca güvenliği (kimlik doğrulama, yetkilendirme, ağ güvenliği) uygulayabilmek, sistemi konteynerleştirip yayına alabilmek ve son olarak kendi çalışmasını nesnel bir rubrikle savunabilmek. Her hedefin yanında somut bir başarı ölçütü bulunur; bu, hedefleri soyut niyetler olmaktan çıkarıp gözlemlenebilir davranışlara dönüştürür. Bölüm sonundaki öz değerlendirme soruları ve rubrik doğrudan bu beş hedefe geri bağlanır, dolayısıyla bu sayfa aynı zamanda bölümün değerlendirme çerçevesinin de önizlemesidir.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bölümün yedi ana kavramını bir iş akışı olarak sıralar: gereksinim analizinden başlayıp sözleşme odaklı API tasarımına, oradan ilişkisel veri modeline, uçtan uca güvenliğe, test ve sözleşme doğrulamasına, konteyner ve dağıtıma, son olarak rubrik savunmasına uzanır. Diyagramdaki kesikli geri-dönüş oku (G'den A'ya), gerçek yazılım geliştirmenin doğrusal olmadığını vurgular: rubrik savunması sırasında ortaya çıkan bir eksiklik, geliştiriciyi gereksinim analizine geri gönderebilir. Bu döngüsellik, capstone'un tek seferlik bir üretim değil, yinelemeli bir mühendislik süreci olduğunu gösterir.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Matris, yedi temel kavramın her birinin sistemdeki somut görevini ve o görev yerine getirilmezse ne olacağını açıkça ortaya koyar. Örneğin sözleşme odaklı API tasarımı olmadan istemci ve sunucu birbirinden bağımsız gelişemez; katmanlı mimari olmadan iş kuralları controller'lara dağılır ve test edilemez hale gelir; RBAC olmadan herhangi bir kullanıcı herhangi bir işlemi yapabilir. Bu tablo, kavramları soyut ilkeler olarak değil, ihmal edildiğinde somut arızalara yol açan mühendislik kararları olarak sunar — bu da rubrik değerlendirmesinde neden her maddenin ayrı ayrı puanlandığını açıklar.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 gerçekten teslim edilenle production'a hazır bir sistemde ayrıca gerekecek olanı beş boyutta karşılaştırır: veri kalıcılığı (bellek içi/SQLite örnek veri vs. yönetilen, yedeklenen bir veritabanı), eşzamanlılık (tek süreçli basit kilitleme vs. dağıtık kilitleme veya sıra tabanlı çözümler), girdi doğrulama (temel tip kontrolleri vs. kapsamlı şema doğrulama ve hız sınırlama), dağıtım (tek sunuculu Docker Compose vs. ölçeklenebilir orkestrasyon) ve başarım (öğretim amaçlı ölçüm vs. gerçek yük testleri). Amaç, öğrencinin "bu bölümü bitirdim, production'a hazırım" yanılgısına düşmesini önlemektir. Kapanış notu, bu bölümün ürününün production mimarisinin öğretim iskeleti olduğunu, nihai ürün olmadığını netleştirir.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Sayfa, doğal dilde yazılmış bir gereksinim cümlesinin ("öğrenciler bir ekipmanı belirli bir tarih aralığında rezerve edebilmeli") nasıl sistematik olarak API ve veri modeline dönüştürüldüğünü gösterir. Cümledeki isimler ("ekipman", "tarih aralığı") veri modeli alanlarına, fiiller ("rezerve edebilmeli") API endpoint'lerine karşılık gelir; bu, gereksinim mühendisliğinde yaygın kullanılan basit ama etkili bir dilbilimsel ayrıştırma tekniğidir. Ekipman ve Rezervasyon interface'leri ile üç türetilmiş endpoint (rezervasyon oluşturma, listeleme, iptal) gösterilir. Dikkat notu kritik bir noktayı vurgular: bu ilk model henüz hiçbir iş kuralı içermez — aynı ekipmanın çakışan tarihlerde rezerve edilmesini engelleyen mantık burada yoktur; bu, bir sonraki sayfanın konusu olan servis katmanına bırakılmıştır. Bu ayrım, veri modelinin "ne" sorusuna, iş kuralının "nasıl" sorusuna yanıt verdiğini gösterir.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Prisma şeması yedi model içerir: Kullanici (rol tabanlı, dört değerli enum: öğrenci/akademisyen/görevli/yönetici), Laboratuvar (ekipman ve sensörlerin ev sahibi), Ekipman (durum enum'u ile), Rezervasyon (tarih aralığı ve durum bilgisiyle), BakimKaydi, Sensor ve SensorTelemetri. Rezervasyon modelindeki bileşik indeks (ekipmanId, baslangic, bitis) sorgu performansını artırır ama tek başına çakışmayı engellemez — bu ayrım önemlidir, çünkü öğrenciler sık sık bir indeksin bütünlük kısıtı sağladığını sanır. Index-note kutusu bunu açıkça belirtir: EXCLUDE kısıtı olmadan indeks yalnızca sorguyu hızlandırır. SensorTelemetri modelindeki zaman damgalı indeks (sensorId, zaman DESC), zaman serisi sorgularının (örneğin "son bir saatteki sıcaklık okumaları") verimli çalışmasını sağlar. "Tarih aralığı" kavramının ayrı bir tablo olmadığı, Rezervasyon tablosundaki baslangic/bitis alanları olduğu özellikle vurgulanır.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Katmanlı mimaride istek, RezervasyonController'dan servis katmanındaki rezervasyonOlustur() fonksiyonuna, oradan RezervasyonRepository arayüzüne akar. Kritik nokta, çakışma kontrolü yapan iş kuralının yalnızca servis katmanında yaşamasıdır — controller yalnızca HTTP isteğini alıp servisi çağırır, repository yalnızca veri erişimini soyutlar. Repository arayüzünün iki farklı somutlaştırması vardır: üretimde gerçek veritabanına bağlanan Prisma repository, testlerde ise bellek içi bir liste kullanan BellekIciRezervasyonRepository (test double). Bu ayrım sayesinde iş kuralı, gerçek bir veritabanı olmadan hızlı unit testlerle doğrulanabilir. Çakışma kuralı beş adımda işler: geçersiz tarih aralığında 400 Bad Request, ekipmanın aktif rezervasyonlarının aranması, tarihAraliklariCakisiyorMu ile karşılaştırma, çakışma varsa 409 Conflict, aksi halde kayıt. Dikkat notu, bu fonksiyonun tarihleri Date nesnesine çevirmeden string olarak karşılaştırdığını, dolayısıyla yalnızca tutarlı ISO 8601 biçiminde doğru sonuç verdiğini belirtir — bu, kaynak metindeki "Kod 18.4" örneğinde gösterilen yaygın bir hataya karşı bir uyarıdır.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Telemetri akışı dört aşamadan geçer: cihazdan gelen ham paket (cihazUuid, sicaklikC, nemYuzde), -40°C ile +85°C aralığı dışındaki değerleri reddeden girdi doğrulama, KRITIK_SICAKLIK_ESIGI = 45.0°C sabitiyle karşılaştırılan kritik eşik denetimi, ve buna bağlı iki dallanma: eşik aşıldığında laboratuvardakiEkipmanlariKoru() ile envanterin toplu korumaya alınması ve gorevliyeAcilEpostaGonder() ile asenkron bildirim gönderilmesi; eşik aşılmazsa yalnızca telemetri kaydedilir ve aksiyon alınmaz. Bağımlılık enjeksiyonu notu, AlarmServisi ve EkipmanAcilDurumRepository gibi bağımlılıkların arayüzler arkasında tutulduğunu, bu sayede otomasyon mantığının gerçek sensör donanımı olmadan unit testlerle sınanabildiğini vurgular. Bu desen, Bölüm 16'daki IoT ele alışı ile Bölüm 12'deki bildirim mekanizmasının capstone'a doğrudan bağlandığı noktalardan biridir.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Dört farklı rol dört farklı bakış açısıyla capstone'u savunur: Elif (Backend Mimarı) katmanlı mimarinin ve sözleşme tasarımının önemini vurgular; Yasemin (Güvenlik Uzmanı) RBAC ve uçtan uca güvenliğin ihmal edilemeyeceğini savunur; İsmail (DevOps) konteynerleştirme ve dağıtım disiplininin sistemin gerçek dünyada çalışabilirliğini belirlediğini söyler; Bahar (Araştırmacı) ise ölçülebilir başarım ve veri bütünlüğünün akademik/araştırma bağlamındaki değerine dikkat çeker. Bu dört bakış açısı, tek bir "doğru" mühendislik kararı olmadığını, her rolün kendi önceliği açısından haklı olduğunu ve gerçek bir mühendislik ekibinde bu gerilimlerin müzakere edilmesi gerektiğini gösterir. Kaynak metindeki tam alıntılar burada özetlenmiştir; her karakterin savunması, kendi uzmanlık alanındaki somut bir riske veya kazanıma atıfta bulunur.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Docker Compose yapılandırması iki servisten oluşur: laboratuvar-api (uygulama konteyneri) ve laboratuvar-db (veritabanı konteyneri). Kritik satırlar notu üç noktaya dikkat çeker: port bağlama biçiminin (host:container) yanlış yapılandırılması dış erişimi engelleyebilir veya güvenlik açığı yaratabilir; veritabanı parolası gibi sırların doğrudan dosyaya yazılmak yerine ortam değişkeni veya secret mekanizmasıyla enjekte edilmesi gerekir; depends_on yalnızca konteynerin başlatılma sırasını garanti eder, veritabanının bağlantı almaya hazır olduğunu garanti etmez — bu nedenle uygulamanın kendi bağlantı yeniden deneme mantığına ihtiyacı vardır. Bu üçüncü nokta, öğrencilerin sık düştüğü bir tuzaktır: Compose'un "up" olması, servisin "ready" olduğu anlamına gelmez.</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Rubrik beş maddeden oluşur ve her biri programatik bir kontrol fonksiyonuna (kontrolFn) bağlanabilir: bu, "kod çalışıyor" iddiasını öznel bir izlenimden nesnel, tekrarlanabilir bir kanıta dönüştürür. Örnek değerlendirmede tüm beş madde karşılanmış ve puan 5/5 olarak hesaplanmıştır. Dikkat notu önemlidir: örnekteki kontrolFn değerleri öğretim amaçlı sabitlenmiş (stubbed) değerlerdir; gerçek bir rubrik değerlendirmesinde bu fonksiyonlar gerçek test sonuçlarını, kod kapsamı raporlarını veya statik analiz çıktılarını okumalıdır. Bu ayrım, rubrik kavramının kendisinin doğru olduğunu ama örnek uygulamanın basitleştirilmiş olduğunu netleştirir.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İstek akışı istemciden başlar, :80 portundaki düz HTTP trafiği 301 yönlendirmesiyle :443'e (HTTPS) yönlendirilir; burada Let's Encrypt sertifikası, TLS 1.2/1.3, saniyede 10 istek/20 patlama sınırlı hız sınırlama (rate limiting) ve HSTS, X-Frame-Options, X-Content-Type-Options gibi güvenlik başlıkları uygulanır; son olarak istek keepalive bağlantılı upstream backend_api'ye (laboratuvar-api:3000) iletilir. İki location bloğu ayrıca gösterilir: /api/ bloğu gerçek X-Real-IP/X-Forwarded-For/X-Forwarded-Proto başlıklarını iletir ve zaman aşımı sınırları tanımlar; /saglik bloğu ise access_log kapatılmış durumda çünkü izleme sunucusu tarafından sürekli sorgulanır ve gereksiz log kirliliği yaratmaması istenir. Kritik satırlar notu, HTTPS yönlendirmesinin ve upstream'in Docker iç ağındaki container adına yönlendiğinin altını çizer — rate limiting'in Node.js uygulamasına yük bindirmeden brute-force/DDoS saldırılarını Nginx katmanında durdurduğu vurgulanır.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Kaynaktaki on iki aşamalı gecikme bütçesi burada beş toplu aşamaya indirgenmiştir: ağ/TLS/yönlendirme (1,9 ms, %20), güvenlik/auth/doğrulama (1,6 ms, %16), controller ve iş mantığı (0,9 ms, %9), veritabanı transaction ve satır kilidi (4,5 ms, %46 — bütçenin en büyük tek payı) ve asenkron işlemler/yanıt (0,8 ms, %8); toplam yaklaşık 9,7 ms'dir. Bu bir ölçüm değil, öğretim amaçlı örnek bir bütçedir ve büyüklük mertebesini göstermek içindir. Sonuç kutusu iki önemli çıkarım sunar: başarımı iyileştirmek isteyen bir mühendisin önce veritabanı transaction'ına bakması gerektiği (çünkü middleware zincirini kısaltmak çok daha küçük bir kazanç sağlar) ve gerçek ölçümün Morgan loglarından p50/p95/p99 hesaplanarak, Prisma transaction süresinin ayrı ölçülerek yapılması gerektiği. Bu sayfa, öğrencilere "ölçmeden iyileştirme yapılmaz" ilkesini somut bir örnekle öğretir.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HataliBakimKaydi.ts kodu, öğrenci rolüyle çağrıldığında bile { basarili: true } döndüren hatalı bir bakim kaydı oluşturma fonksiyonunu gösterir. İki hata tespit edilir: birincisi, istekYapanRol parametresinin alınmasına rağmen hiçbir yerde kontrol edilmemesi — düzeltme, rolün "laboratuvar_gorevlisi" olup olmadığını denetleyip aksi halde 403 Forbidden (AppError) fırlatmaktır; bu Bölüm 10'daki RBAC ilkesinin doğrudan ihlalidir. İkincisi, bakım kaydı tablosuna satır eklenirken ekipmanın durum alanının güncellenmemesi — bu, bakımdaki bir cihazın hâlâ rezervasyona açık görünmesine yol açar; düzeltme, kayıt ekleme ve durum güncellemenin tek bir Prisma $transaction bloğu içinde atomik biçimde yapılmasıdır. Bu iki hata, kaynak metindeki öğrenci tartışmasının (Yasemin, Bahar, İsmail, Elif) temelini oluşturur ve bir sonraki sayfadaki izleme tablosunda sistematik olarak ele alınır.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İzleme tablosu, hatalı sistemin üç farklı senaryoda ne yaptığını ve düzeltilmiş sistemin ne yapması gerektiğini karşılaştırır. Öğrenci senaryosunda rol denetimi olmadığı için öğrenci cihazı bakıma alabilir (yetki ihlali); düzeltilmiş sistemde bu 403 Forbidden ile engellenir. Görevli senaryosunda sistem yalnızca log yazar ama ekipman durumu güncellenmediği için hâlâ "müsait" görünür ve çakışma doğar; düzeltilmiş sistemde kayıt ve durum güncellemesi transaction içinde birlikte yapılır. Veritabanı kesintisi senaryosunda transaction ortasında hata oluşursa hatalı sistemde yarım kalmış kayıt ve kirli veri sızıntısı oluşur; düzeltilmiş sistemde transaction rollback ile atomik geri alma güvenceye alınır. Değerlendirin kutusundaki dört soru, öğrencileri bu hataların requireRole ile nasıl önlendiğini, durum güncellemenin neden aynı serviste tutarlı yapılması gerektiğini, hangi test senaryosunun bunu yakaladığını ve hangi rubrik maddesinin ihlal edildiğini düşünmeye yönlendirir.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Uçtan uca mini uygulama dört adımdan oluşur: sadeceGorevliyeIzinVer(istekYapanRol) fail-fast yetkilendirme kontrolü en başta çalışır ve yalnızca izinli rolleri kabul eden yeniden kullanılabilir bir higher-order function'dır (requireRole deseni); ardından ekipmanRepository.bul(ekipmanId) çağrılır, bulunamazsa 404 döner; sonra bakimDurumunuGuncelle(id, true) çağrılır ki burada kayıt oluşturma ve ekipman durumunu güncelleme birlikte gerçekleşir; son olarak başarı mesajı döner. Örnek çalıştırma sonuçları iki durumu gösterir: laboratuvar_gorevlisi rolüyle başarılı işlem ("Osiloskop-01 bakıma alındı: Kalibrasyon yapıldı", bakimdaMi → true) ve ogrenci rolüyle 403 Forbidden yanıtı ("Bu işlem için gereken rol: laboratuvar_gorevlisi"). Dikkat notu, gerçek bir veritabanında bu iki adımın (kayıt + durum güncelleme) bir transaction içinde birlikte yapılması gerektiğini, aksi halde ikinci adımın başarısız olması durumunda sistemin tutarsız bir ara durumda kalabileceğini hatırlatır — bu, Sayfa 16 ve 17'deki hata ayıklama alıştırmasının doğru çözümünün canlı bir uygulamasıdır.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yaygın yanılgı ele alınır. Birincisi, "kod çalışıyor ve bir arayüz varsa mimari/test eksiklikleri göz ardı edilebilir" düşüncesidir; teknik gerçek, akademik ve kurumsal standartlarda bir sistemin yalnızca çalışmasıyla değil, bakım yapılabilirliği, güvenlik, test güvencesi ve mimari savunulabilirlikle değerlendirildiğidir; mimari çözüm, kodlama başlamadan önce sözleşme ve veri modelinin belirlenmesi, her kritik iş kuralının otomatik entegrasyon testleriyle güvenceye alınmasıdır. İkincisi, "çakışmayı engellemek için önce find() sonra create() çağırmak yeterlidir" yanılgısıdır; bu klasik bir yarış durumudur (race condition) — aynı milisaniyede gelen iki istek ikisi de çakışma görmeyebilir ve mükerrer kayıt oluşur; çözüm, veritabanı düzeyinde tekillik kısıtı veya transaction içinde satır kilitleme (SELECT ... FOR UPDATE ya da Serializable izolasyon seviyesi) kullanmaktır. Üçüncüsü, "yerel makinede Docker ile ayağa kaldırdıysam yayınlama önemsiz bir detaydır" yanılgısıdır; gerçekte canlı sunucu alan adı yönlendirmesi, ters vekil güvenlik başlıkları, SSL sertifika yaşam döngüsü ve kaynak izleme gibi apayrı bir operasyonel disiplin gerektirir; dağıtım son güne bırakılmamalı, baştan itibaren otomatik CI/CD ve Nginx ters vekil arkasında test edilmiş bir üretim hattı kurulmalıdır.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kitap boyunca kütüphane API'si örneği üzerinden öğretilen kavramların Laboratuvar Yönetim Sistemi'ndeki somut karşılıklarını sekiz temsili satırda gösterir: istemci-sunucu-veritabanı katmanları sistemin genel mimarisine; kitap/üye tipleri Ekipman/Rezervasyon/Kullanici tiplerine; kaynak tasarımı ve durum kodları çakışan rezervasyonda 409 dönmesine; ödünç alma kuralının servis katmanında yaşaması rezervasyon çakışma kuralının servis katmanında yaşamasına; JWT/RBAC öğrenci-akademisyen-görevli-yönetici rollerine; OpenAPI sözleşmesi ve testler lab API sözleşmesine; iki servisli Compose ortamı çok servisli Compose dosyasına; sıcaklık/nem sensörleri laboratuvar ortam sensörlerine karşılık gelir. Kaynak metindeki tam tablo on sekiz satır içerir; burada en temsili sekiz satır seçilmiştir. Kapanış notu, Bölüm 18'in (bu bölümün) kendi satırının olmadığını, çünkü bu bölümün tüm önceki satırların tek sistemde bütünleştirilmesi olduğunu vurgular.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kaynak metindeki geniş soru bankasından (5 çoktan seçmeli, 6 doğru/yanlış, 6 açık uçlu, 5 hata bulma sorusu ve tam cevap anahtarı) temsili bir seçki sunar. Çoktan seçmeli sorular rezervasyon çakışma kuralının doğru katmanını (servis katmanı) ve kritik sıcaklık eşiği aşıldığında yapılması gerekeni (ekipmanı korumaya almak ve bildirim göndermek) sorar. Doğru/yanlış soruları find-then-create yaklaşımının çakışmayı tam engelleyemediğini (yanlış, çünkü race condition oluşur) ve Docker Compose'da veritabanı şifresinin doğrudan dosyaya yazılabileceğini (yanlış, ortam değişkeni veya secret kullanılmalı) test eder. Açık uçlu soru, gecikme bütçesinde veritabanı işleminin neden en büyük payı aldığını ve azaltma yöntemlerini sorar (beklenen yanıt: transaction ve kilitleme maliyeti; indeksleme, bağlantı havuzu, sorgu optimizasyonu). Hata bulma sorusu doğrudan HataliBakimKaydi.ts kodundaki iki hatayı (eksik RBAC denetimi, atomik olmayan güncelleme) hedefler.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Alıştırmalar üç zorluk seviyesinde sunulur. Kolay seviyede iki alıştırma vardır: ekipman listesini kategoriye göre filtreleyen bir sorgu parametresi eklemek (controller + repository katmanı, sorgu parametresi doğrulama kazanımı) ve enum'a yeni bir ekipman durumu ("KAYIP") eklemek (Prisma şeması, şema evrimi kazanımı). Orta seviyede üç alıştırma vardır: sahibi veya görevli tarafından iptal edilebilen bir DELETE uç noktası yazmak (controller + servis + RBAC), ekipman başına toplam bakım süresini hesaplayan bir rapor servisi eklemek (servis + agregasyon sorgusu) ve sabit KRITIK_SICAKLIK_ESIGI değerini laboratuvara özgü, veritabanından okunan bir değere dönüştürmek. Zor seviyede iki alıştırma vardır: tarihAraliklariCakisiyorMu mantığını veritabanı düzeyinde bir kısıt veya transaction+kilitleme ile yeniden yazıp eşzamanlı isteklerle sınamak (repository + veritabanı + test katmanı) ve Nginx+Compose+rubrik denetimini bir CI/CD adımına bağlayıp başarısız bir rubrik maddesinde dağıtımı durdurmak (tüm sistem + otomasyon). Bu ilerleme, öğrencinin tek bir katmandan çalışan değişikliklerden tüm sistemi kapsayan otomasyona doğru kademeli olarak ilerlemesini sağlar.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özeti altı temel kazanımı bir araya getirir: katmanlı mimari (controller/servis/repository ayrımı, iş kurallarının yalnızca servis katmanında yaşaması), ilişkisel veri modeli (Prisma şeması, enum/indeks/ilişkilerle veritabanı düzeyinde tutarlılık), uçtan uca güvenlik (JWT, RBAC, Nginx güvenlik başlıkları), sözleşme ve test (rubrik maddelerinin otomatik denetim fonksiyonlarına bağlanarak kanıtlanabilir hale gelmesi), konteyner ve dağıtım (Docker Compose ile paketleme, Nginx ters vekil arkasında yayına alma) ve başarım farkındalığı (gecikme bütçesi, veritabanı işleminin baskın maliyet olduğu, ölçüm olmadan iyileştirme yapılamayacağı). Kapanış mesajı bölümün ana tezini özetler: capstone'un değeri tek bir yeni teknik değil, önceki bölümlerin bütünleşmesidir; savunulabilir mimari yalnızca çalışmakla değil, doğrulanabilir kurallarla kanıtlanır.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Sözlük beş temel terimi tanımlar: rezervasyon çakışması (aynı ekipman için tarih aralıkları kesişen iki talep), yarış durumu/race condition (eşzamanlı işlemlerin sıralamaya bağlı hatalı sonuç üretmesi), RBAC (rol tabanlı erişim denetimi), transaction/işlem bloğu (birden çok veritabanı adımını atomik biçimde birleştiren yapı) ve gecikme bütçesi/latency budget (bir isteğin uçtan uca süresinin aşama aşama dağılımı). Kaynakça, kaynak metindeki sekiz referanstan bir seçki sunar: Prisma ORM belgeleri, Docker Compose resmi belgeleri, Nginx belgeleri, OWASP API Security Top 10, JWT (RFC 7519), PostgreSQL belgeleri, Martin Fowler'ın Patterns of Enterprise Application Architecture eseri ve Node.js/Express belgeleri. Tam bibliyografik künyeler kaynak metnin Kaynakça bölümünde eksiksiz biçimde yer almaktadır; bu sayfa yalnızca en çok atıfta bulunulan kaynakları özetler.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kitabın son bölümüdür ve kapanış sayfası bunu açıkça belirtir: önceki on yedi bölümde öğrenilen her şey artık tek, savunulabilir bir sistemde bütünleşmiş durumdadır. Öğrenci artık katmanlı, güvenli ve test edilebilir bir servis kurabilir ve bir rubrikle kendi sistemini nesnel biçimde savunabilir. Kaynak metin, kurgusal bir "sonraki bölüm" önermek yerine öğrenciyi profesyonel pratiğe yönlendirir: sıradaki adım, bu capstone projesini kendi üretim ortamına taşımak ve bir portföy projesine dönüştürmektir. Kapanış mesajı, öğrenmenin kitapla bitmediğini, her yeni sistemde mimari, güvenlik ve ölçülebilir kaliteyi birlikte tasarlama alışkanlığının kazanılması gerektiğini vurgular.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8-capstone-lab-management-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8-capstone-lab-management-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18</a:t>
              </a:r>
            </a:p>
          </p:txBody>
        </p:sp>
      </p:grpSp>
      <p:grpSp>
        <p:nvGrpSpPr>
          <p:cNvPr id="8" name="cover-title"/>
          <p:cNvGrpSpPr/>
          <p:nvPr/>
        </p:nvGrpSpPr>
        <p:grpSpPr>
          <a:xfrm>
            <a:off x="4936236" y="1986915"/>
            <a:ext cx="4544092" cy="1693164"/>
            <a:chOff x="4936236" y="1986915"/>
            <a:chExt cx="4544092" cy="1693164"/>
          </a:xfrm>
        </p:grpSpPr>
        <p:sp>
          <p:nvSpPr>
            <p:cNvPr id="7" name="TextBox 7"/>
            <p:cNvSpPr txBox="1"/>
            <p:nvPr/>
          </p:nvSpPr>
          <p:spPr>
            <a:xfrm>
              <a:off x="4936236" y="1986915"/>
              <a:ext cx="4544092" cy="1693164"/>
            </a:xfrm>
            <a:prstGeom prst="rect">
              <a:avLst/>
            </a:prstGeom>
            <a:noFill/>
            <a:ln>
              <a:noFill/>
            </a:ln>
          </p:spPr>
          <p:txBody>
            <a:bodyPr wrap="none" lIns="0" tIns="0" rIns="0" bIns="0" anchor="t" anchorCtr="0">
              <a:spAutoFit/>
            </a:bodyPr>
            <a:lstStyle/>
            <a:p>
              <a:pPr algn="l">
                <a:lnSpc>
                  <a:spcPts val="4125"/>
                </a:lnSpc>
              </a:pPr>
              <a:r>
                <a:rPr lang="tr-TR" sz="3300" b="1" dirty="0">
                  <a:solidFill>
                    <a:srgbClr val="12355B"/>
                  </a:solidFill>
                  <a:latin typeface="+mj-lt"/>
                  <a:ea typeface="+mj-ea"/>
                  <a:cs typeface="+mj-cs"/>
                </a:rPr>
                <a:t>Capstone: Üniversite</a:t>
              </a:r>
              <a:br/>
              <a:r>
                <a:rPr lang="tr-TR" sz="3300" b="1" dirty="0">
                  <a:solidFill>
                    <a:srgbClr val="12355B"/>
                  </a:solidFill>
                  <a:latin typeface="+mj-lt"/>
                  <a:ea typeface="+mj-ea"/>
                  <a:cs typeface="+mj-cs"/>
                </a:rPr>
                <a:t>Laboratuvar Yönetim</a:t>
              </a:r>
              <a:br/>
              <a:r>
                <a:rPr lang="tr-TR" sz="3300" b="1" dirty="0">
                  <a:solidFill>
                    <a:srgbClr val="12355B"/>
                  </a:solidFill>
                  <a:latin typeface="+mj-lt"/>
                  <a:ea typeface="+mj-ea"/>
                  <a:cs typeface="+mj-cs"/>
                </a:rPr>
                <a:t>Sistemi</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1599" y="1277779"/>
            <a:ext cx="5202566" cy="308039"/>
            <a:chOff x="601599" y="1277779"/>
            <a:chExt cx="5202566" cy="308039"/>
          </a:xfrm>
        </p:grpSpPr>
        <p:sp>
          <p:nvSpPr>
            <p:cNvPr id="6" name="TextBox 6"/>
            <p:cNvSpPr txBox="1"/>
            <p:nvPr/>
          </p:nvSpPr>
          <p:spPr>
            <a:xfrm>
              <a:off x="601599" y="127777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1" name="roadmap-q1"/>
          <p:cNvGrpSpPr/>
          <p:nvPr/>
        </p:nvGrpSpPr>
        <p:grpSpPr>
          <a:xfrm>
            <a:off x="704850" y="1733550"/>
            <a:ext cx="9625943" cy="376143"/>
            <a:chOff x="704850" y="1733550"/>
            <a:chExt cx="9625943" cy="376143"/>
          </a:xfrm>
        </p:grpSpPr>
        <p:sp>
          <p:nvSpPr>
            <p:cNvPr id="8" name="Ellipse 8"/>
            <p:cNvSpPr/>
            <p:nvPr/>
          </p:nvSpPr>
          <p:spPr>
            <a:xfrm>
              <a:off x="704850" y="1733550"/>
              <a:ext cx="342900" cy="342900"/>
            </a:xfrm>
            <a:prstGeom prst="ellipse">
              <a:avLst/>
            </a:prstGeom>
            <a:solidFill>
              <a:srgbClr val="12355B"/>
            </a:solidFill>
            <a:ln>
              <a:noFill/>
            </a:ln>
          </p:spPr>
        </p:sp>
        <p:sp>
          <p:nvSpPr>
            <p:cNvPr id="9" name="TextBox 9"/>
            <p:cNvSpPr txBox="1"/>
            <p:nvPr/>
          </p:nvSpPr>
          <p:spPr>
            <a:xfrm>
              <a:off x="816965" y="1825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211199" y="1801654"/>
              <a:ext cx="911959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gereksinim listesinden bir REST API ve veri modeli nasıl sistematik biçimde türetilir?</a:t>
              </a:r>
            </a:p>
          </p:txBody>
        </p:sp>
      </p:grpSp>
      <p:grpSp>
        <p:nvGrpSpPr>
          <p:cNvPr id="15" name="roadmap-q2"/>
          <p:cNvGrpSpPr/>
          <p:nvPr/>
        </p:nvGrpSpPr>
        <p:grpSpPr>
          <a:xfrm>
            <a:off x="704850" y="2381250"/>
            <a:ext cx="9632315" cy="566642"/>
            <a:chOff x="704850" y="2381250"/>
            <a:chExt cx="9632315" cy="566642"/>
          </a:xfrm>
        </p:grpSpPr>
        <p:sp>
          <p:nvSpPr>
            <p:cNvPr id="12" name="Ellipse 12"/>
            <p:cNvSpPr/>
            <p:nvPr/>
          </p:nvSpPr>
          <p:spPr>
            <a:xfrm>
              <a:off x="704850" y="2381250"/>
              <a:ext cx="342900" cy="342900"/>
            </a:xfrm>
            <a:prstGeom prst="ellipse">
              <a:avLst/>
            </a:prstGeom>
            <a:solidFill>
              <a:srgbClr val="12355B"/>
            </a:solidFill>
            <a:ln>
              <a:noFill/>
            </a:ln>
          </p:spPr>
        </p:sp>
        <p:sp>
          <p:nvSpPr>
            <p:cNvPr id="13" name="TextBox 13"/>
            <p:cNvSpPr txBox="1"/>
            <p:nvPr/>
          </p:nvSpPr>
          <p:spPr>
            <a:xfrm>
              <a:off x="816965" y="24736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211199" y="2392204"/>
              <a:ext cx="912596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Kitap boyunca ayrı öğrenilen katmanlar (authentication, güvenlik, test, konteynerleştirme)</a:t>
              </a:r>
              <a:br/>
              <a:r>
                <a:rPr lang="tr-TR" sz="1580" dirty="0">
                  <a:solidFill>
                    <a:srgbClr val="172B3A"/>
                  </a:solidFill>
                  <a:latin typeface="+mn-lt"/>
                  <a:ea typeface="+mn-ea"/>
                  <a:cs typeface="+mn-cs"/>
                </a:rPr>
                <a:t>tek bir sistemde nasıl bir araya gelir?</a:t>
              </a:r>
            </a:p>
          </p:txBody>
        </p:sp>
      </p:grpSp>
      <p:grpSp>
        <p:nvGrpSpPr>
          <p:cNvPr id="19" name="roadmap-q3"/>
          <p:cNvGrpSpPr/>
          <p:nvPr/>
        </p:nvGrpSpPr>
        <p:grpSpPr>
          <a:xfrm>
            <a:off x="704850" y="3276600"/>
            <a:ext cx="8629015" cy="566642"/>
            <a:chOff x="704850" y="3276600"/>
            <a:chExt cx="8629015" cy="566642"/>
          </a:xfrm>
        </p:grpSpPr>
        <p:sp>
          <p:nvSpPr>
            <p:cNvPr id="16" name="Ellipse 16"/>
            <p:cNvSpPr/>
            <p:nvPr/>
          </p:nvSpPr>
          <p:spPr>
            <a:xfrm>
              <a:off x="704850" y="3276600"/>
              <a:ext cx="342900" cy="342900"/>
            </a:xfrm>
            <a:prstGeom prst="ellipse">
              <a:avLst/>
            </a:prstGeom>
            <a:solidFill>
              <a:srgbClr val="12355B"/>
            </a:solidFill>
            <a:ln>
              <a:noFill/>
            </a:ln>
          </p:spPr>
        </p:sp>
        <p:sp>
          <p:nvSpPr>
            <p:cNvPr id="17" name="TextBox 17"/>
            <p:cNvSpPr txBox="1"/>
            <p:nvPr/>
          </p:nvSpPr>
          <p:spPr>
            <a:xfrm>
              <a:off x="816965" y="33689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211199" y="3287554"/>
              <a:ext cx="812266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modül (örneğin bakım) baştan tasarlanırken önceki bölümlerdeki hangi kararlar</a:t>
              </a:r>
              <a:br/>
              <a:r>
                <a:rPr lang="tr-TR" sz="1580" dirty="0">
                  <a:solidFill>
                    <a:srgbClr val="172B3A"/>
                  </a:solidFill>
                  <a:latin typeface="+mn-lt"/>
                  <a:ea typeface="+mn-ea"/>
                  <a:cs typeface="+mn-cs"/>
                </a:rPr>
                <a:t>yeniden kullanılabilir, hangileri yeniden düşünülmelidir?</a:t>
              </a:r>
            </a:p>
          </p:txBody>
        </p:sp>
      </p:grpSp>
      <p:grpSp>
        <p:nvGrpSpPr>
          <p:cNvPr id="23" name="roadmap-q4"/>
          <p:cNvGrpSpPr/>
          <p:nvPr/>
        </p:nvGrpSpPr>
        <p:grpSpPr>
          <a:xfrm>
            <a:off x="704850" y="4171950"/>
            <a:ext cx="7367811" cy="376143"/>
            <a:chOff x="704850" y="4171950"/>
            <a:chExt cx="7367811" cy="376143"/>
          </a:xfrm>
        </p:grpSpPr>
        <p:sp>
          <p:nvSpPr>
            <p:cNvPr id="20" name="Ellipse 20"/>
            <p:cNvSpPr/>
            <p:nvPr/>
          </p:nvSpPr>
          <p:spPr>
            <a:xfrm>
              <a:off x="704850" y="4171950"/>
              <a:ext cx="342900" cy="342900"/>
            </a:xfrm>
            <a:prstGeom prst="ellipse">
              <a:avLst/>
            </a:prstGeom>
            <a:solidFill>
              <a:srgbClr val="12355B"/>
            </a:solidFill>
            <a:ln>
              <a:noFill/>
            </a:ln>
          </p:spPr>
        </p:sp>
        <p:sp>
          <p:nvSpPr>
            <p:cNvPr id="21" name="TextBox 21"/>
            <p:cNvSpPr txBox="1"/>
            <p:nvPr/>
          </p:nvSpPr>
          <p:spPr>
            <a:xfrm>
              <a:off x="816965" y="4264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211199" y="4240054"/>
              <a:ext cx="686146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sistemi "production-ready" yapan somut kontrol listesi nedir?</a:t>
              </a:r>
            </a:p>
          </p:txBody>
        </p:sp>
      </p:grpSp>
      <p:grpSp>
        <p:nvGrpSpPr>
          <p:cNvPr id="27" name="roadmap-q5"/>
          <p:cNvGrpSpPr/>
          <p:nvPr/>
        </p:nvGrpSpPr>
        <p:grpSpPr>
          <a:xfrm>
            <a:off x="704850" y="4686300"/>
            <a:ext cx="8984198" cy="376143"/>
            <a:chOff x="704850" y="4686300"/>
            <a:chExt cx="8984198" cy="376143"/>
          </a:xfrm>
        </p:grpSpPr>
        <p:sp>
          <p:nvSpPr>
            <p:cNvPr id="24" name="Ellipse 24"/>
            <p:cNvSpPr/>
            <p:nvPr/>
          </p:nvSpPr>
          <p:spPr>
            <a:xfrm>
              <a:off x="704850" y="4686300"/>
              <a:ext cx="342900" cy="342900"/>
            </a:xfrm>
            <a:prstGeom prst="ellipse">
              <a:avLst/>
            </a:prstGeom>
            <a:solidFill>
              <a:srgbClr val="12355B"/>
            </a:solidFill>
            <a:ln>
              <a:noFill/>
            </a:ln>
          </p:spPr>
        </p:sp>
        <p:sp>
          <p:nvSpPr>
            <p:cNvPr id="25" name="TextBox 25"/>
            <p:cNvSpPr txBox="1"/>
            <p:nvPr/>
          </p:nvSpPr>
          <p:spPr>
            <a:xfrm>
              <a:off x="816965" y="47786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211199" y="4754404"/>
              <a:ext cx="847784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backend projesi, bir rubrik (değerlendirme ölçütü) üzerinden nasıl savunulur?</a:t>
              </a:r>
            </a:p>
          </p:txBody>
        </p:sp>
      </p:grpSp>
      <p:grpSp>
        <p:nvGrpSpPr>
          <p:cNvPr id="32" name="roadmap-goal"/>
          <p:cNvGrpSpPr/>
          <p:nvPr/>
        </p:nvGrpSpPr>
        <p:grpSpPr>
          <a:xfrm>
            <a:off x="609600" y="5429250"/>
            <a:ext cx="10972800" cy="876300"/>
            <a:chOff x="609600" y="5429250"/>
            <a:chExt cx="10972800" cy="876300"/>
          </a:xfrm>
        </p:grpSpPr>
        <p:sp>
          <p:nvSpPr>
            <p:cNvPr id="28" name="Rectangle 28"/>
            <p:cNvSpPr/>
            <p:nvPr/>
          </p:nvSpPr>
          <p:spPr>
            <a:xfrm>
              <a:off x="609600" y="5429250"/>
              <a:ext cx="10972800" cy="876300"/>
            </a:xfrm>
            <a:prstGeom prst="roundRect">
              <a:avLst>
                <a:gd name="adj" fmla="val 8696"/>
              </a:avLst>
            </a:prstGeom>
            <a:solidFill>
              <a:srgbClr val="EAF4F6"/>
            </a:solidFill>
            <a:ln>
              <a:noFill/>
            </a:ln>
          </p:spPr>
        </p:sp>
        <p:sp>
          <p:nvSpPr>
            <p:cNvPr id="29" name="Rectangle 29"/>
            <p:cNvSpPr/>
            <p:nvPr/>
          </p:nvSpPr>
          <p:spPr>
            <a:xfrm>
              <a:off x="609600" y="5429250"/>
              <a:ext cx="57150" cy="876300"/>
            </a:xfrm>
            <a:prstGeom prst="rect">
              <a:avLst/>
            </a:prstGeom>
            <a:solidFill>
              <a:srgbClr val="00A6A6"/>
            </a:solidFill>
            <a:ln>
              <a:noFill/>
            </a:ln>
          </p:spPr>
        </p:sp>
        <p:sp>
          <p:nvSpPr>
            <p:cNvPr id="30" name="TextBox 30"/>
            <p:cNvSpPr txBox="1"/>
            <p:nvPr/>
          </p:nvSpPr>
          <p:spPr>
            <a:xfrm>
              <a:off x="906399" y="5544979"/>
              <a:ext cx="13810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Bölüm Hedefi</a:t>
              </a:r>
            </a:p>
          </p:txBody>
        </p:sp>
        <p:sp>
          <p:nvSpPr>
            <p:cNvPr id="31" name="TextBox 31"/>
            <p:cNvSpPr txBox="1"/>
            <p:nvPr/>
          </p:nvSpPr>
          <p:spPr>
            <a:xfrm>
              <a:off x="908304" y="5852160"/>
              <a:ext cx="7167372" cy="434721"/>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Kitap boyunca geliştirilen tüm modüller (authentication, ekipman, rezervasyon, bakım, sensör,</a:t>
              </a:r>
              <a:br/>
              <a:r>
                <a:rPr lang="tr-TR" sz="1200" dirty="0">
                  <a:solidFill>
                    <a:srgbClr val="172B3A"/>
                  </a:solidFill>
                  <a:latin typeface="+mn-lt"/>
                  <a:ea typeface="+mn-ea"/>
                  <a:cs typeface="+mn-cs"/>
                </a:rPr>
                <a:t>bildirim) tek bir Üniversite Laboratuvar Yönetim Sistemi backend'inde bütünleştirilecektir.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367790"/>
            <a:ext cx="9635892" cy="637128"/>
            <a:chOff x="685800" y="1367790"/>
            <a:chExt cx="9635892" cy="637128"/>
          </a:xfrm>
        </p:grpSpPr>
        <p:sp>
          <p:nvSpPr>
            <p:cNvPr id="6" name="Rectangle 6"/>
            <p:cNvSpPr/>
            <p:nvPr/>
          </p:nvSpPr>
          <p:spPr>
            <a:xfrm>
              <a:off x="685800" y="1371600"/>
              <a:ext cx="57150" cy="495300"/>
            </a:xfrm>
            <a:prstGeom prst="rect">
              <a:avLst/>
            </a:prstGeom>
            <a:solidFill>
              <a:srgbClr val="00A6A6"/>
            </a:solidFill>
            <a:ln>
              <a:noFill/>
            </a:ln>
          </p:spPr>
        </p:sp>
        <p:sp>
          <p:nvSpPr>
            <p:cNvPr id="7" name="TextBox 7"/>
            <p:cNvSpPr txBox="1"/>
            <p:nvPr/>
          </p:nvSpPr>
          <p:spPr>
            <a:xfrm>
              <a:off x="981456" y="1367790"/>
              <a:ext cx="69142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Gereksinim listesinden REST API ve veri modeli türetmek</a:t>
              </a:r>
            </a:p>
          </p:txBody>
        </p:sp>
        <p:sp>
          <p:nvSpPr>
            <p:cNvPr id="8" name="TextBox 8"/>
            <p:cNvSpPr txBox="1"/>
            <p:nvPr/>
          </p:nvSpPr>
          <p:spPr>
            <a:xfrm>
              <a:off x="982599" y="1696879"/>
              <a:ext cx="93390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"öğrenciler ekipman rezerve edebilmeli" gibi bir cümleden endpoint listesi çıkarmak</a:t>
              </a:r>
            </a:p>
          </p:txBody>
        </p:sp>
      </p:grpSp>
      <p:grpSp>
        <p:nvGrpSpPr>
          <p:cNvPr id="13" name="objective-2"/>
          <p:cNvGrpSpPr/>
          <p:nvPr/>
        </p:nvGrpSpPr>
        <p:grpSpPr>
          <a:xfrm>
            <a:off x="685800" y="2091690"/>
            <a:ext cx="10117722" cy="637128"/>
            <a:chOff x="685800" y="2091690"/>
            <a:chExt cx="10117722" cy="637128"/>
          </a:xfrm>
        </p:grpSpPr>
        <p:sp>
          <p:nvSpPr>
            <p:cNvPr id="10" name="Rectangle 10"/>
            <p:cNvSpPr/>
            <p:nvPr/>
          </p:nvSpPr>
          <p:spPr>
            <a:xfrm>
              <a:off x="685800" y="2095500"/>
              <a:ext cx="57150" cy="495300"/>
            </a:xfrm>
            <a:prstGeom prst="rect">
              <a:avLst/>
            </a:prstGeom>
            <a:solidFill>
              <a:srgbClr val="00A6A6"/>
            </a:solidFill>
            <a:ln>
              <a:noFill/>
            </a:ln>
          </p:spPr>
        </p:sp>
        <p:sp>
          <p:nvSpPr>
            <p:cNvPr id="11" name="TextBox 11"/>
            <p:cNvSpPr txBox="1"/>
            <p:nvPr/>
          </p:nvSpPr>
          <p:spPr>
            <a:xfrm>
              <a:off x="981456" y="2091690"/>
              <a:ext cx="98220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Katmanlı mimari, authentication/authorization ve doğrulamayı bütünleştirmek</a:t>
              </a:r>
            </a:p>
          </p:txBody>
        </p:sp>
        <p:sp>
          <p:nvSpPr>
            <p:cNvPr id="12" name="TextBox 12"/>
            <p:cNvSpPr txBox="1"/>
            <p:nvPr/>
          </p:nvSpPr>
          <p:spPr>
            <a:xfrm>
              <a:off x="982599" y="2420779"/>
              <a:ext cx="920822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iş kuralının servis katmanında, yetkinin RBAC katmanında yaşadığını göstermek</a:t>
              </a:r>
            </a:p>
          </p:txBody>
        </p:sp>
      </p:grpSp>
      <p:grpSp>
        <p:nvGrpSpPr>
          <p:cNvPr id="17" name="objective-3"/>
          <p:cNvGrpSpPr/>
          <p:nvPr/>
        </p:nvGrpSpPr>
        <p:grpSpPr>
          <a:xfrm>
            <a:off x="685800" y="2815590"/>
            <a:ext cx="9954004" cy="637128"/>
            <a:chOff x="685800" y="2815590"/>
            <a:chExt cx="9954004" cy="637128"/>
          </a:xfrm>
        </p:grpSpPr>
        <p:sp>
          <p:nvSpPr>
            <p:cNvPr id="14" name="Rectangle 14"/>
            <p:cNvSpPr/>
            <p:nvPr/>
          </p:nvSpPr>
          <p:spPr>
            <a:xfrm>
              <a:off x="685800" y="2819400"/>
              <a:ext cx="57150" cy="495300"/>
            </a:xfrm>
            <a:prstGeom prst="rect">
              <a:avLst/>
            </a:prstGeom>
            <a:solidFill>
              <a:srgbClr val="00A6A6"/>
            </a:solidFill>
            <a:ln>
              <a:noFill/>
            </a:ln>
          </p:spPr>
        </p:sp>
        <p:sp>
          <p:nvSpPr>
            <p:cNvPr id="15" name="TextBox 15"/>
            <p:cNvSpPr txBox="1"/>
            <p:nvPr/>
          </p:nvSpPr>
          <p:spPr>
            <a:xfrm>
              <a:off x="981456" y="2815590"/>
              <a:ext cx="96583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Dosya/e-posta, OpenAPI/test, Docker/Compose ve Linux dağıtımını eklemek</a:t>
              </a:r>
            </a:p>
          </p:txBody>
        </p:sp>
        <p:sp>
          <p:nvSpPr>
            <p:cNvPr id="16" name="TextBox 16"/>
            <p:cNvSpPr txBox="1"/>
            <p:nvPr/>
          </p:nvSpPr>
          <p:spPr>
            <a:xfrm>
              <a:off x="982599" y="3144679"/>
              <a:ext cx="90551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sistemi Docker ile paketleyip Linux sunucuya (kavramsal olarak) yayınlayabilmek</a:t>
              </a:r>
            </a:p>
          </p:txBody>
        </p:sp>
      </p:grpSp>
      <p:grpSp>
        <p:nvGrpSpPr>
          <p:cNvPr id="21" name="objective-4"/>
          <p:cNvGrpSpPr/>
          <p:nvPr/>
        </p:nvGrpSpPr>
        <p:grpSpPr>
          <a:xfrm>
            <a:off x="685800" y="3539490"/>
            <a:ext cx="9880586" cy="637128"/>
            <a:chOff x="685800" y="3539490"/>
            <a:chExt cx="9880586" cy="637128"/>
          </a:xfrm>
        </p:grpSpPr>
        <p:sp>
          <p:nvSpPr>
            <p:cNvPr id="18" name="Rectangle 18"/>
            <p:cNvSpPr/>
            <p:nvPr/>
          </p:nvSpPr>
          <p:spPr>
            <a:xfrm>
              <a:off x="685800" y="3543300"/>
              <a:ext cx="57150" cy="495300"/>
            </a:xfrm>
            <a:prstGeom prst="rect">
              <a:avLst/>
            </a:prstGeom>
            <a:solidFill>
              <a:srgbClr val="00A6A6"/>
            </a:solidFill>
            <a:ln>
              <a:noFill/>
            </a:ln>
          </p:spPr>
        </p:sp>
        <p:sp>
          <p:nvSpPr>
            <p:cNvPr id="19" name="TextBox 19"/>
            <p:cNvSpPr txBox="1"/>
            <p:nvPr/>
          </p:nvSpPr>
          <p:spPr>
            <a:xfrm>
              <a:off x="981456" y="3539490"/>
              <a:ext cx="76081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Güvenlik ve kalite kontrollerini bir rubrik üzerinden savunmak</a:t>
              </a:r>
            </a:p>
          </p:txBody>
        </p:sp>
        <p:sp>
          <p:nvSpPr>
            <p:cNvPr id="20" name="TextBox 20"/>
            <p:cNvSpPr txBox="1"/>
            <p:nvPr/>
          </p:nvSpPr>
          <p:spPr>
            <a:xfrm>
              <a:off x="982599" y="3868579"/>
              <a:ext cx="958378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hangi girdi doğrulanıyor, hangi test hangi senaryoyu kapsıyor sorularını yanıtlamak</a:t>
              </a:r>
            </a:p>
          </p:txBody>
        </p:sp>
      </p:grpSp>
      <p:grpSp>
        <p:nvGrpSpPr>
          <p:cNvPr id="25" name="objective-5"/>
          <p:cNvGrpSpPr/>
          <p:nvPr/>
        </p:nvGrpSpPr>
        <p:grpSpPr>
          <a:xfrm>
            <a:off x="685800" y="4263390"/>
            <a:ext cx="9231640" cy="637128"/>
            <a:chOff x="685800" y="4263390"/>
            <a:chExt cx="9231640" cy="637128"/>
          </a:xfrm>
        </p:grpSpPr>
        <p:sp>
          <p:nvSpPr>
            <p:cNvPr id="22" name="Rectangle 22"/>
            <p:cNvSpPr/>
            <p:nvPr/>
          </p:nvSpPr>
          <p:spPr>
            <a:xfrm>
              <a:off x="685800" y="4267200"/>
              <a:ext cx="57150" cy="495300"/>
            </a:xfrm>
            <a:prstGeom prst="rect">
              <a:avLst/>
            </a:prstGeom>
            <a:solidFill>
              <a:srgbClr val="00A6A6"/>
            </a:solidFill>
            <a:ln>
              <a:noFill/>
            </a:ln>
          </p:spPr>
        </p:sp>
        <p:sp>
          <p:nvSpPr>
            <p:cNvPr id="23" name="TextBox 23"/>
            <p:cNvSpPr txBox="1"/>
            <p:nvPr/>
          </p:nvSpPr>
          <p:spPr>
            <a:xfrm>
              <a:off x="981456" y="4263390"/>
              <a:ext cx="63237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Kapsam dışı bırakılan kısımları açıkça belirtmek</a:t>
              </a:r>
            </a:p>
          </p:txBody>
        </p:sp>
        <p:sp>
          <p:nvSpPr>
            <p:cNvPr id="24" name="TextBox 24"/>
            <p:cNvSpPr txBox="1"/>
            <p:nvPr/>
          </p:nvSpPr>
          <p:spPr>
            <a:xfrm>
              <a:off x="982599" y="4592479"/>
              <a:ext cx="893484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tam frontend gibi bilinçli dışlanan kısımların gerekçesini yazılı olarak sunmak</a:t>
              </a:r>
            </a:p>
          </p:txBody>
        </p:sp>
      </p:grpSp>
      <p:grpSp>
        <p:nvGrpSpPr>
          <p:cNvPr id="30" name="objective-note"/>
          <p:cNvGrpSpPr/>
          <p:nvPr/>
        </p:nvGrpSpPr>
        <p:grpSpPr>
          <a:xfrm>
            <a:off x="609600" y="5143500"/>
            <a:ext cx="10972800" cy="952500"/>
            <a:chOff x="609600" y="5143500"/>
            <a:chExt cx="10972800" cy="952500"/>
          </a:xfrm>
        </p:grpSpPr>
        <p:sp>
          <p:nvSpPr>
            <p:cNvPr id="26" name="Rectangle 26"/>
            <p:cNvSpPr/>
            <p:nvPr/>
          </p:nvSpPr>
          <p:spPr>
            <a:xfrm>
              <a:off x="609600" y="5143500"/>
              <a:ext cx="10972800" cy="952500"/>
            </a:xfrm>
            <a:prstGeom prst="roundRect">
              <a:avLst>
                <a:gd name="adj" fmla="val 8000"/>
              </a:avLst>
            </a:prstGeom>
            <a:solidFill>
              <a:srgbClr val="EAF4F6"/>
            </a:solidFill>
            <a:ln>
              <a:noFill/>
            </a:ln>
          </p:spPr>
        </p:sp>
        <p:sp>
          <p:nvSpPr>
            <p:cNvPr id="27" name="Rectangle 27"/>
            <p:cNvSpPr/>
            <p:nvPr/>
          </p:nvSpPr>
          <p:spPr>
            <a:xfrm>
              <a:off x="609600" y="5143500"/>
              <a:ext cx="57150" cy="952500"/>
            </a:xfrm>
            <a:prstGeom prst="rect">
              <a:avLst/>
            </a:prstGeom>
            <a:solidFill>
              <a:srgbClr val="00A6A6"/>
            </a:solidFill>
            <a:ln>
              <a:noFill/>
            </a:ln>
          </p:spPr>
        </p:sp>
        <p:sp>
          <p:nvSpPr>
            <p:cNvPr id="28" name="TextBox 28"/>
            <p:cNvSpPr txBox="1"/>
            <p:nvPr/>
          </p:nvSpPr>
          <p:spPr>
            <a:xfrm>
              <a:off x="906399" y="5278279"/>
              <a:ext cx="13810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Bölüm Hedefi</a:t>
              </a:r>
            </a:p>
          </p:txBody>
        </p:sp>
        <p:sp>
          <p:nvSpPr>
            <p:cNvPr id="29" name="TextBox 29"/>
            <p:cNvSpPr txBox="1"/>
            <p:nvPr/>
          </p:nvSpPr>
          <p:spPr>
            <a:xfrm>
              <a:off x="908304" y="5585460"/>
              <a:ext cx="8965692" cy="434721"/>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Öğrenci, bir gereksinim listesinden başlayarak kitap boyunca öğrenilen tüm katmanları içeren</a:t>
              </a:r>
              <a:br/>
              <a:r>
                <a:rPr lang="tr-TR" sz="1200" dirty="0">
                  <a:solidFill>
                    <a:srgbClr val="172B3A"/>
                  </a:solidFill>
                  <a:latin typeface="+mn-lt"/>
                  <a:ea typeface="+mn-ea"/>
                  <a:cs typeface="+mn-cs"/>
                </a:rPr>
                <a:t>bir backend sistemi tasarlayabilecek ve kendi çözümünün ölçütleri karşılayıp karşılamadığını gerekçelendirebilecektir.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393861" cy="668845"/>
            <a:chOff x="609600" y="171450"/>
            <a:chExt cx="939386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87034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capstone geliştirme akışı</a:t>
              </a:r>
            </a:p>
          </p:txBody>
        </p:sp>
      </p:grpSp>
      <p:grpSp>
        <p:nvGrpSpPr>
          <p:cNvPr id="51" name="concept-map"/>
          <p:cNvGrpSpPr/>
          <p:nvPr/>
        </p:nvGrpSpPr>
        <p:grpSpPr>
          <a:xfrm>
            <a:off x="285750" y="1333500"/>
            <a:ext cx="10949348" cy="4486656"/>
            <a:chOff x="285750" y="1333500"/>
            <a:chExt cx="10949348" cy="4486656"/>
          </a:xfrm>
        </p:grpSpPr>
        <p:grpSp>
          <p:nvGrpSpPr>
            <p:cNvPr id="19" name="map-arrows"/>
            <p:cNvGrpSpPr/>
            <p:nvPr/>
          </p:nvGrpSpPr>
          <p:grpSpPr>
            <a:xfrm>
              <a:off x="285750" y="1762125"/>
              <a:ext cx="9677401" cy="3762375"/>
              <a:chOff x="285750" y="1762125"/>
              <a:chExt cx="9677401" cy="3762375"/>
            </a:xfrm>
          </p:grpSpPr>
          <p:sp>
            <p:nvSpPr>
              <p:cNvPr id="12" name="Line 12"/>
              <p:cNvSpPr/>
              <p:nvPr/>
            </p:nvSpPr>
            <p:spPr>
              <a:xfrm>
                <a:off x="3086100" y="1762125"/>
                <a:ext cx="190500" cy="1"/>
              </a:xfrm>
              <a:prstGeom prst="line">
                <a:avLst/>
              </a:prstGeom>
              <a:noFill/>
              <a:ln w="23812">
                <a:solidFill>
                  <a:srgbClr val="00A6A6"/>
                </a:solidFill>
                <a:tailEnd type="arrow" w="lg" len="lg"/>
              </a:ln>
            </p:spPr>
          </p:sp>
          <p:sp>
            <p:nvSpPr>
              <p:cNvPr id="13" name="Line 13"/>
              <p:cNvSpPr/>
              <p:nvPr/>
            </p:nvSpPr>
            <p:spPr>
              <a:xfrm>
                <a:off x="5791200" y="1762125"/>
                <a:ext cx="190500" cy="1"/>
              </a:xfrm>
              <a:prstGeom prst="line">
                <a:avLst/>
              </a:prstGeom>
              <a:noFill/>
              <a:ln w="23812">
                <a:solidFill>
                  <a:srgbClr val="00A6A6"/>
                </a:solidFill>
                <a:tailEnd type="arrow" w="lg" len="lg"/>
              </a:ln>
            </p:spPr>
          </p:sp>
          <p:sp>
            <p:nvSpPr>
              <p:cNvPr id="14" name="Line 14"/>
              <p:cNvSpPr/>
              <p:nvPr/>
            </p:nvSpPr>
            <p:spPr>
              <a:xfrm>
                <a:off x="8496300" y="1762125"/>
                <a:ext cx="190500" cy="1"/>
              </a:xfrm>
              <a:prstGeom prst="line">
                <a:avLst/>
              </a:prstGeom>
              <a:noFill/>
              <a:ln w="23812">
                <a:solidFill>
                  <a:srgbClr val="00A6A6"/>
                </a:solidFill>
                <a:tailEnd type="arrow" w="lg" len="lg"/>
              </a:ln>
            </p:spPr>
          </p:sp>
          <p:sp>
            <p:nvSpPr>
              <p:cNvPr id="15" name="Line 15"/>
              <p:cNvSpPr/>
              <p:nvPr/>
            </p:nvSpPr>
            <p:spPr>
              <a:xfrm>
                <a:off x="9963150" y="2190750"/>
                <a:ext cx="1" cy="1866900"/>
              </a:xfrm>
              <a:prstGeom prst="line">
                <a:avLst/>
              </a:prstGeom>
              <a:noFill/>
              <a:ln w="23812">
                <a:solidFill>
                  <a:srgbClr val="00A6A6"/>
                </a:solidFill>
                <a:tailEnd type="arrow" w="lg" len="lg"/>
              </a:ln>
            </p:spPr>
          </p:sp>
          <p:sp>
            <p:nvSpPr>
              <p:cNvPr id="16" name="Line 16"/>
              <p:cNvSpPr/>
              <p:nvPr/>
            </p:nvSpPr>
            <p:spPr>
              <a:xfrm flipH="1">
                <a:off x="8534400" y="4524375"/>
                <a:ext cx="152400" cy="1"/>
              </a:xfrm>
              <a:prstGeom prst="line">
                <a:avLst/>
              </a:prstGeom>
              <a:noFill/>
              <a:ln w="23812">
                <a:solidFill>
                  <a:srgbClr val="00A6A6"/>
                </a:solidFill>
                <a:tailEnd type="arrow" w="lg" len="lg"/>
              </a:ln>
            </p:spPr>
          </p:sp>
          <p:sp>
            <p:nvSpPr>
              <p:cNvPr id="17" name="Line 17"/>
              <p:cNvSpPr/>
              <p:nvPr/>
            </p:nvSpPr>
            <p:spPr>
              <a:xfrm flipH="1">
                <a:off x="5829300" y="4524375"/>
                <a:ext cx="152400" cy="1"/>
              </a:xfrm>
              <a:prstGeom prst="line">
                <a:avLst/>
              </a:prstGeom>
              <a:noFill/>
              <a:ln w="23812">
                <a:solidFill>
                  <a:srgbClr val="00A6A6"/>
                </a:solidFill>
                <a:tailEnd type="arrow" w="lg" len="lg"/>
              </a:ln>
            </p:spPr>
          </p:sp>
          <p:sp>
            <p:nvSpPr>
              <p:cNvPr id="18" name="Freeform 18"/>
              <p:cNvSpPr/>
              <p:nvPr/>
            </p:nvSpPr>
            <p:spPr>
              <a:xfrm>
                <a:off x="285750" y="1762125"/>
                <a:ext cx="4267200" cy="3762375"/>
              </a:xfrm>
              <a:custGeom>
                <a:avLst/>
                <a:gdLst/>
                <a:ahLst/>
                <a:cxnLst/>
                <a:rect l="l" t="t" r="r" b="b"/>
                <a:pathLst>
                  <a:path w="4267200" h="3762375">
                    <a:moveTo>
                      <a:pt x="4267200" y="3190875"/>
                    </a:moveTo>
                    <a:lnTo>
                      <a:pt x="4267200" y="3762375"/>
                    </a:lnTo>
                    <a:lnTo>
                      <a:pt x="0" y="3762375"/>
                    </a:lnTo>
                    <a:lnTo>
                      <a:pt x="0" y="0"/>
                    </a:lnTo>
                    <a:lnTo>
                      <a:pt x="285750" y="0"/>
                    </a:lnTo>
                  </a:path>
                </a:pathLst>
              </a:custGeom>
              <a:noFill/>
              <a:ln w="19050">
                <a:solidFill>
                  <a:srgbClr val="52616B"/>
                </a:solidFill>
                <a:custDash>
                  <a:ds d="300000" sp="200000"/>
                </a:custDash>
                <a:tailEnd type="arrow" w="lg" len="lg"/>
              </a:ln>
            </p:spPr>
          </p:sp>
        </p:grpSp>
        <p:grpSp>
          <p:nvGrpSpPr>
            <p:cNvPr id="23" name="node-a"/>
            <p:cNvGrpSpPr/>
            <p:nvPr/>
          </p:nvGrpSpPr>
          <p:grpSpPr>
            <a:xfrm>
              <a:off x="609600" y="1333500"/>
              <a:ext cx="2746705" cy="857250"/>
              <a:chOff x="609600" y="1333500"/>
              <a:chExt cx="2746705" cy="857250"/>
            </a:xfrm>
          </p:grpSpPr>
          <p:sp>
            <p:nvSpPr>
              <p:cNvPr id="20" name="Rectangle 20"/>
              <p:cNvSpPr/>
              <p:nvPr/>
            </p:nvSpPr>
            <p:spPr>
              <a:xfrm>
                <a:off x="609600" y="1333500"/>
                <a:ext cx="2476500" cy="857250"/>
              </a:xfrm>
              <a:prstGeom prst="roundRect">
                <a:avLst>
                  <a:gd name="adj" fmla="val 11111"/>
                </a:avLst>
              </a:prstGeom>
              <a:solidFill>
                <a:srgbClr val="12355B"/>
              </a:solidFill>
              <a:ln>
                <a:noFill/>
              </a:ln>
            </p:spPr>
          </p:sp>
          <p:sp>
            <p:nvSpPr>
              <p:cNvPr id="21" name="TextBox 21"/>
              <p:cNvSpPr txBox="1"/>
              <p:nvPr/>
            </p:nvSpPr>
            <p:spPr>
              <a:xfrm>
                <a:off x="829056" y="1463040"/>
                <a:ext cx="2213687"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Gereksinim analizi</a:t>
                </a:r>
              </a:p>
            </p:txBody>
          </p:sp>
          <p:sp>
            <p:nvSpPr>
              <p:cNvPr id="22" name="TextBox 22"/>
              <p:cNvSpPr txBox="1"/>
              <p:nvPr/>
            </p:nvSpPr>
            <p:spPr>
              <a:xfrm>
                <a:off x="832104" y="1775460"/>
                <a:ext cx="25242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cümleleri fiil/isim olarak ayırır</a:t>
                </a:r>
              </a:p>
            </p:txBody>
          </p:sp>
        </p:grpSp>
        <p:grpSp>
          <p:nvGrpSpPr>
            <p:cNvPr id="27" name="node-b"/>
            <p:cNvGrpSpPr/>
            <p:nvPr/>
          </p:nvGrpSpPr>
          <p:grpSpPr>
            <a:xfrm>
              <a:off x="3314700" y="1333500"/>
              <a:ext cx="2661256" cy="857250"/>
              <a:chOff x="3314700" y="1333500"/>
              <a:chExt cx="2661256" cy="857250"/>
            </a:xfrm>
          </p:grpSpPr>
          <p:sp>
            <p:nvSpPr>
              <p:cNvPr id="24" name="Rectangle 24"/>
              <p:cNvSpPr/>
              <p:nvPr/>
            </p:nvSpPr>
            <p:spPr>
              <a:xfrm>
                <a:off x="3314700" y="1333500"/>
                <a:ext cx="2476500" cy="857250"/>
              </a:xfrm>
              <a:prstGeom prst="roundRect">
                <a:avLst>
                  <a:gd name="adj" fmla="val 11111"/>
                </a:avLst>
              </a:prstGeom>
              <a:solidFill>
                <a:srgbClr val="FFFFFF"/>
              </a:solidFill>
              <a:ln w="14288">
                <a:solidFill>
                  <a:srgbClr val="2E86AB"/>
                </a:solidFill>
              </a:ln>
            </p:spPr>
          </p:sp>
          <p:sp>
            <p:nvSpPr>
              <p:cNvPr id="25" name="TextBox 25"/>
              <p:cNvSpPr txBox="1"/>
              <p:nvPr/>
            </p:nvSpPr>
            <p:spPr>
              <a:xfrm>
                <a:off x="3534156" y="1463040"/>
                <a:ext cx="24418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Sözleşme odaklı API</a:t>
                </a:r>
              </a:p>
            </p:txBody>
          </p:sp>
          <p:sp>
            <p:nvSpPr>
              <p:cNvPr id="26" name="TextBox 26"/>
              <p:cNvSpPr txBox="1"/>
              <p:nvPr/>
            </p:nvSpPr>
            <p:spPr>
              <a:xfrm>
                <a:off x="3537204" y="1775460"/>
                <a:ext cx="20051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REST + OpenAPI tasarımı</a:t>
                </a:r>
              </a:p>
            </p:txBody>
          </p:sp>
        </p:grpSp>
        <p:grpSp>
          <p:nvGrpSpPr>
            <p:cNvPr id="31" name="node-c"/>
            <p:cNvGrpSpPr/>
            <p:nvPr/>
          </p:nvGrpSpPr>
          <p:grpSpPr>
            <a:xfrm>
              <a:off x="6019800" y="1333500"/>
              <a:ext cx="2662047" cy="857250"/>
              <a:chOff x="6019800" y="1333500"/>
              <a:chExt cx="2662047" cy="857250"/>
            </a:xfrm>
          </p:grpSpPr>
          <p:sp>
            <p:nvSpPr>
              <p:cNvPr id="28" name="Rectangle 28"/>
              <p:cNvSpPr/>
              <p:nvPr/>
            </p:nvSpPr>
            <p:spPr>
              <a:xfrm>
                <a:off x="6019800" y="1333500"/>
                <a:ext cx="2476500" cy="857250"/>
              </a:xfrm>
              <a:prstGeom prst="roundRect">
                <a:avLst>
                  <a:gd name="adj" fmla="val 11111"/>
                </a:avLst>
              </a:prstGeom>
              <a:solidFill>
                <a:srgbClr val="FFFFFF"/>
              </a:solidFill>
              <a:ln w="14288">
                <a:solidFill>
                  <a:srgbClr val="2E86AB"/>
                </a:solidFill>
              </a:ln>
            </p:spPr>
          </p:sp>
          <p:sp>
            <p:nvSpPr>
              <p:cNvPr id="29" name="TextBox 29"/>
              <p:cNvSpPr txBox="1"/>
              <p:nvPr/>
            </p:nvSpPr>
            <p:spPr>
              <a:xfrm>
                <a:off x="6239256" y="1463040"/>
                <a:ext cx="24425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İlişkisel veri modeli</a:t>
                </a:r>
              </a:p>
            </p:txBody>
          </p:sp>
          <p:sp>
            <p:nvSpPr>
              <p:cNvPr id="30" name="TextBox 30"/>
              <p:cNvSpPr txBox="1"/>
              <p:nvPr/>
            </p:nvSpPr>
            <p:spPr>
              <a:xfrm>
                <a:off x="6242304" y="1775460"/>
                <a:ext cx="22865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PostgreSQL + Prisma şeması</a:t>
                </a:r>
              </a:p>
            </p:txBody>
          </p:sp>
        </p:grpSp>
        <p:grpSp>
          <p:nvGrpSpPr>
            <p:cNvPr id="35" name="node-d"/>
            <p:cNvGrpSpPr/>
            <p:nvPr/>
          </p:nvGrpSpPr>
          <p:grpSpPr>
            <a:xfrm>
              <a:off x="8724900" y="1333500"/>
              <a:ext cx="2510198" cy="857250"/>
              <a:chOff x="8724900" y="1333500"/>
              <a:chExt cx="2510198" cy="857250"/>
            </a:xfrm>
          </p:grpSpPr>
          <p:sp>
            <p:nvSpPr>
              <p:cNvPr id="32" name="Rectangle 32"/>
              <p:cNvSpPr/>
              <p:nvPr/>
            </p:nvSpPr>
            <p:spPr>
              <a:xfrm>
                <a:off x="8724900" y="1333500"/>
                <a:ext cx="2476500" cy="857250"/>
              </a:xfrm>
              <a:prstGeom prst="roundRect">
                <a:avLst>
                  <a:gd name="adj" fmla="val 11111"/>
                </a:avLst>
              </a:prstGeom>
              <a:solidFill>
                <a:srgbClr val="FFFFFF"/>
              </a:solidFill>
              <a:ln w="14288">
                <a:solidFill>
                  <a:srgbClr val="2E86AB"/>
                </a:solidFill>
              </a:ln>
            </p:spPr>
          </p:sp>
          <p:sp>
            <p:nvSpPr>
              <p:cNvPr id="33" name="TextBox 33"/>
              <p:cNvSpPr txBox="1"/>
              <p:nvPr/>
            </p:nvSpPr>
            <p:spPr>
              <a:xfrm>
                <a:off x="8944356" y="1463040"/>
                <a:ext cx="22907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Uçtan uca güvenlik</a:t>
                </a:r>
              </a:p>
            </p:txBody>
          </p:sp>
          <p:sp>
            <p:nvSpPr>
              <p:cNvPr id="34" name="TextBox 34"/>
              <p:cNvSpPr txBox="1"/>
              <p:nvPr/>
            </p:nvSpPr>
            <p:spPr>
              <a:xfrm>
                <a:off x="8947404" y="1775460"/>
                <a:ext cx="21848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JWT, RBAC, girdi doğrulama</a:t>
                </a:r>
              </a:p>
            </p:txBody>
          </p:sp>
        </p:grpSp>
        <p:grpSp>
          <p:nvGrpSpPr>
            <p:cNvPr id="39" name="node-e"/>
            <p:cNvGrpSpPr/>
            <p:nvPr/>
          </p:nvGrpSpPr>
          <p:grpSpPr>
            <a:xfrm>
              <a:off x="8724900" y="4095750"/>
              <a:ext cx="2476500" cy="857250"/>
              <a:chOff x="8724900" y="4095750"/>
              <a:chExt cx="2476500" cy="857250"/>
            </a:xfrm>
          </p:grpSpPr>
          <p:sp>
            <p:nvSpPr>
              <p:cNvPr id="36" name="Rectangle 36"/>
              <p:cNvSpPr/>
              <p:nvPr/>
            </p:nvSpPr>
            <p:spPr>
              <a:xfrm>
                <a:off x="8724900" y="4095750"/>
                <a:ext cx="2476500" cy="857250"/>
              </a:xfrm>
              <a:prstGeom prst="roundRect">
                <a:avLst>
                  <a:gd name="adj" fmla="val 11111"/>
                </a:avLst>
              </a:prstGeom>
              <a:solidFill>
                <a:srgbClr val="FFFFFF"/>
              </a:solidFill>
              <a:ln w="14288">
                <a:solidFill>
                  <a:srgbClr val="2E86AB"/>
                </a:solidFill>
              </a:ln>
            </p:spPr>
          </p:sp>
          <p:sp>
            <p:nvSpPr>
              <p:cNvPr id="37" name="TextBox 37"/>
              <p:cNvSpPr txBox="1"/>
              <p:nvPr/>
            </p:nvSpPr>
            <p:spPr>
              <a:xfrm>
                <a:off x="8944356" y="4225290"/>
                <a:ext cx="212583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Test ve sözleşme</a:t>
                </a:r>
              </a:p>
            </p:txBody>
          </p:sp>
          <p:sp>
            <p:nvSpPr>
              <p:cNvPr id="38" name="TextBox 38"/>
              <p:cNvSpPr txBox="1"/>
              <p:nvPr/>
            </p:nvSpPr>
            <p:spPr>
              <a:xfrm>
                <a:off x="8947404" y="4537710"/>
                <a:ext cx="19481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OpenAPI + modül testleri</a:t>
                </a:r>
              </a:p>
            </p:txBody>
          </p:sp>
        </p:grpSp>
        <p:grpSp>
          <p:nvGrpSpPr>
            <p:cNvPr id="43" name="node-f"/>
            <p:cNvGrpSpPr/>
            <p:nvPr/>
          </p:nvGrpSpPr>
          <p:grpSpPr>
            <a:xfrm>
              <a:off x="6019800" y="4095750"/>
              <a:ext cx="2968725" cy="857250"/>
              <a:chOff x="6019800" y="4095750"/>
              <a:chExt cx="2968725" cy="857250"/>
            </a:xfrm>
          </p:grpSpPr>
          <p:sp>
            <p:nvSpPr>
              <p:cNvPr id="40" name="Rectangle 40"/>
              <p:cNvSpPr/>
              <p:nvPr/>
            </p:nvSpPr>
            <p:spPr>
              <a:xfrm>
                <a:off x="6019800" y="4095750"/>
                <a:ext cx="2476500" cy="857250"/>
              </a:xfrm>
              <a:prstGeom prst="roundRect">
                <a:avLst>
                  <a:gd name="adj" fmla="val 11111"/>
                </a:avLst>
              </a:prstGeom>
              <a:solidFill>
                <a:srgbClr val="FFFFFF"/>
              </a:solidFill>
              <a:ln w="14288">
                <a:solidFill>
                  <a:srgbClr val="2E86AB"/>
                </a:solidFill>
              </a:ln>
            </p:spPr>
          </p:sp>
          <p:sp>
            <p:nvSpPr>
              <p:cNvPr id="41" name="TextBox 41"/>
              <p:cNvSpPr txBox="1"/>
              <p:nvPr/>
            </p:nvSpPr>
            <p:spPr>
              <a:xfrm>
                <a:off x="6239256" y="4225290"/>
                <a:ext cx="27492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Konteyner ve dağıtım</a:t>
                </a:r>
              </a:p>
            </p:txBody>
          </p:sp>
          <p:sp>
            <p:nvSpPr>
              <p:cNvPr id="42" name="TextBox 42"/>
              <p:cNvSpPr txBox="1"/>
              <p:nvPr/>
            </p:nvSpPr>
            <p:spPr>
              <a:xfrm>
                <a:off x="6242304" y="4537710"/>
                <a:ext cx="18548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Docker Compose + Nginx</a:t>
                </a:r>
              </a:p>
            </p:txBody>
          </p:sp>
        </p:grpSp>
        <p:grpSp>
          <p:nvGrpSpPr>
            <p:cNvPr id="47" name="node-g"/>
            <p:cNvGrpSpPr/>
            <p:nvPr/>
          </p:nvGrpSpPr>
          <p:grpSpPr>
            <a:xfrm>
              <a:off x="3314700" y="4095750"/>
              <a:ext cx="2649779" cy="857250"/>
              <a:chOff x="3314700" y="4095750"/>
              <a:chExt cx="2649779" cy="857250"/>
            </a:xfrm>
          </p:grpSpPr>
          <p:sp>
            <p:nvSpPr>
              <p:cNvPr id="44" name="Rectangle 44"/>
              <p:cNvSpPr/>
              <p:nvPr/>
            </p:nvSpPr>
            <p:spPr>
              <a:xfrm>
                <a:off x="3314700" y="4095750"/>
                <a:ext cx="2476500" cy="857250"/>
              </a:xfrm>
              <a:prstGeom prst="roundRect">
                <a:avLst>
                  <a:gd name="adj" fmla="val 11111"/>
                </a:avLst>
              </a:prstGeom>
              <a:solidFill>
                <a:srgbClr val="EAF4F6"/>
              </a:solidFill>
              <a:ln w="14288">
                <a:solidFill>
                  <a:srgbClr val="00A6A6"/>
                </a:solidFill>
              </a:ln>
            </p:spPr>
          </p:sp>
          <p:sp>
            <p:nvSpPr>
              <p:cNvPr id="45" name="TextBox 45"/>
              <p:cNvSpPr txBox="1"/>
              <p:nvPr/>
            </p:nvSpPr>
            <p:spPr>
              <a:xfrm>
                <a:off x="3534156" y="4225290"/>
                <a:ext cx="21891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Rubrik savunması</a:t>
                </a:r>
              </a:p>
            </p:txBody>
          </p:sp>
          <p:sp>
            <p:nvSpPr>
              <p:cNvPr id="46" name="TextBox 46"/>
              <p:cNvSpPr txBox="1"/>
              <p:nvPr/>
            </p:nvSpPr>
            <p:spPr>
              <a:xfrm>
                <a:off x="3537204" y="4537710"/>
                <a:ext cx="242727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kararların gerekçelendirilmesi</a:t>
                </a:r>
              </a:p>
            </p:txBody>
          </p:sp>
        </p:grpSp>
        <p:grpSp>
          <p:nvGrpSpPr>
            <p:cNvPr id="50" name="map-legend"/>
            <p:cNvGrpSpPr/>
            <p:nvPr/>
          </p:nvGrpSpPr>
          <p:grpSpPr>
            <a:xfrm>
              <a:off x="285750" y="5585460"/>
              <a:ext cx="10787125" cy="234696"/>
              <a:chOff x="285750" y="5585460"/>
              <a:chExt cx="10787125" cy="234696"/>
            </a:xfrm>
          </p:grpSpPr>
          <p:sp>
            <p:nvSpPr>
              <p:cNvPr id="48" name="Line 48"/>
              <p:cNvSpPr/>
              <p:nvPr/>
            </p:nvSpPr>
            <p:spPr>
              <a:xfrm>
                <a:off x="285750" y="5619750"/>
                <a:ext cx="9525" cy="9525"/>
              </a:xfrm>
              <a:custGeom>
                <a:avLst/>
                <a:gdLst/>
                <a:ahLst/>
                <a:cxnLst/>
                <a:rect l="l" t="t" r="r" b="b"/>
                <a:pathLst>
                  <a:path w="9525" h="9525">
                    <a:moveTo>
                      <a:pt x="0" y="0"/>
                    </a:moveTo>
                    <a:lnTo>
                      <a:pt x="0" y="0"/>
                    </a:lnTo>
                  </a:path>
                </a:pathLst>
              </a:custGeom>
              <a:noFill/>
              <a:ln>
                <a:noFill/>
              </a:ln>
            </p:spPr>
          </p:sp>
          <p:sp>
            <p:nvSpPr>
              <p:cNvPr id="49" name="TextBox 49"/>
              <p:cNvSpPr txBox="1"/>
              <p:nvPr/>
            </p:nvSpPr>
            <p:spPr>
              <a:xfrm>
                <a:off x="603504" y="5585460"/>
                <a:ext cx="104693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Kesikli ok bilinçli olarak geridir: capstone doğrusal bir boru hattı değil, gereksinim-uygulama-savunma arasında dönen bir döngüdür.</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360922" cy="642557"/>
            <a:chOff x="609600" y="171450"/>
            <a:chExt cx="5360922" cy="642557"/>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301496" y="315278"/>
              <a:ext cx="4669026"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Kavram sorumluluk matrisi</a:t>
              </a:r>
            </a:p>
          </p:txBody>
        </p:sp>
      </p:grpSp>
      <p:grpSp>
        <p:nvGrpSpPr>
          <p:cNvPr id="19" name="table-header"/>
          <p:cNvGrpSpPr/>
          <p:nvPr/>
        </p:nvGrpSpPr>
        <p:grpSpPr>
          <a:xfrm>
            <a:off x="609600" y="1314450"/>
            <a:ext cx="10972800" cy="400050"/>
            <a:chOff x="609600" y="1314450"/>
            <a:chExt cx="10972800" cy="400050"/>
          </a:xfrm>
        </p:grpSpPr>
        <p:sp>
          <p:nvSpPr>
            <p:cNvPr id="13" name="Rectangle 13"/>
            <p:cNvSpPr/>
            <p:nvPr/>
          </p:nvSpPr>
          <p:spPr>
            <a:xfrm>
              <a:off x="609600" y="1314450"/>
              <a:ext cx="2095500" cy="400050"/>
            </a:xfrm>
            <a:prstGeom prst="rect">
              <a:avLst/>
            </a:prstGeom>
            <a:solidFill>
              <a:srgbClr val="12355B"/>
            </a:solidFill>
            <a:ln>
              <a:noFill/>
            </a:ln>
          </p:spPr>
        </p:sp>
        <p:sp>
          <p:nvSpPr>
            <p:cNvPr id="14" name="Rectangle 14"/>
            <p:cNvSpPr/>
            <p:nvPr/>
          </p:nvSpPr>
          <p:spPr>
            <a:xfrm>
              <a:off x="2857500" y="1314450"/>
              <a:ext cx="4762500" cy="400050"/>
            </a:xfrm>
            <a:prstGeom prst="rect">
              <a:avLst/>
            </a:prstGeom>
            <a:solidFill>
              <a:srgbClr val="12355B"/>
            </a:solidFill>
            <a:ln>
              <a:noFill/>
            </a:ln>
          </p:spPr>
        </p:sp>
        <p:sp>
          <p:nvSpPr>
            <p:cNvPr id="15" name="Rectangle 15"/>
            <p:cNvSpPr/>
            <p:nvPr/>
          </p:nvSpPr>
          <p:spPr>
            <a:xfrm>
              <a:off x="7772400" y="1314450"/>
              <a:ext cx="3810000" cy="400050"/>
            </a:xfrm>
            <a:prstGeom prst="rect">
              <a:avLst/>
            </a:prstGeom>
            <a:solidFill>
              <a:srgbClr val="12355B"/>
            </a:solidFill>
            <a:ln>
              <a:noFill/>
            </a:ln>
          </p:spPr>
        </p:sp>
        <p:sp>
          <p:nvSpPr>
            <p:cNvPr id="16" name="TextBox 16"/>
            <p:cNvSpPr txBox="1"/>
            <p:nvPr/>
          </p:nvSpPr>
          <p:spPr>
            <a:xfrm>
              <a:off x="755142" y="1416368"/>
              <a:ext cx="687900"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Kavram</a:t>
              </a:r>
            </a:p>
          </p:txBody>
        </p:sp>
        <p:sp>
          <p:nvSpPr>
            <p:cNvPr id="17" name="TextBox 17"/>
            <p:cNvSpPr txBox="1"/>
            <p:nvPr/>
          </p:nvSpPr>
          <p:spPr>
            <a:xfrm>
              <a:off x="3003042" y="1416368"/>
              <a:ext cx="1180082"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Temel Görevi</a:t>
              </a:r>
            </a:p>
          </p:txBody>
        </p:sp>
        <p:sp>
          <p:nvSpPr>
            <p:cNvPr id="18" name="TextBox 18"/>
            <p:cNvSpPr txBox="1"/>
            <p:nvPr/>
          </p:nvSpPr>
          <p:spPr>
            <a:xfrm>
              <a:off x="7917942" y="1416368"/>
              <a:ext cx="1637574"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Olmazsa Ne Olur?</a:t>
              </a:r>
            </a:p>
          </p:txBody>
        </p:sp>
      </p:grpSp>
      <p:grpSp>
        <p:nvGrpSpPr>
          <p:cNvPr id="25" name="row-1"/>
          <p:cNvGrpSpPr/>
          <p:nvPr/>
        </p:nvGrpSpPr>
        <p:grpSpPr>
          <a:xfrm>
            <a:off x="609600" y="1714500"/>
            <a:ext cx="10972800" cy="542925"/>
            <a:chOff x="609600" y="1714500"/>
            <a:chExt cx="10972800" cy="542925"/>
          </a:xfrm>
        </p:grpSpPr>
        <p:sp>
          <p:nvSpPr>
            <p:cNvPr id="20" name="Rectangle 20"/>
            <p:cNvSpPr/>
            <p:nvPr/>
          </p:nvSpPr>
          <p:spPr>
            <a:xfrm>
              <a:off x="609600" y="1714500"/>
              <a:ext cx="10972800" cy="533400"/>
            </a:xfrm>
            <a:prstGeom prst="rect">
              <a:avLst/>
            </a:prstGeom>
            <a:solidFill>
              <a:srgbClr val="FFFFFF"/>
            </a:solidFill>
            <a:ln>
              <a:noFill/>
            </a:ln>
          </p:spPr>
        </p:sp>
        <p:sp>
          <p:nvSpPr>
            <p:cNvPr id="21" name="TextBox 21"/>
            <p:cNvSpPr txBox="1"/>
            <p:nvPr/>
          </p:nvSpPr>
          <p:spPr>
            <a:xfrm>
              <a:off x="755523" y="1891189"/>
              <a:ext cx="156173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Bütünleşik Mimari</a:t>
              </a:r>
            </a:p>
          </p:txBody>
        </p:sp>
        <p:sp>
          <p:nvSpPr>
            <p:cNvPr id="22" name="TextBox 22"/>
            <p:cNvSpPr txBox="1"/>
            <p:nvPr/>
          </p:nvSpPr>
          <p:spPr>
            <a:xfrm>
              <a:off x="3003804" y="1899285"/>
              <a:ext cx="52837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Disiplinleri (mimari, veri, güvenlik, devops) tek projede birleştirir</a:t>
              </a:r>
            </a:p>
          </p:txBody>
        </p:sp>
        <p:sp>
          <p:nvSpPr>
            <p:cNvPr id="23" name="TextBox 23"/>
            <p:cNvSpPr txBox="1"/>
            <p:nvPr/>
          </p:nvSpPr>
          <p:spPr>
            <a:xfrm>
              <a:off x="7919085" y="1821656"/>
              <a:ext cx="176098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Bilgi dağınık teori kalır,</a:t>
              </a:r>
              <a:br/>
              <a:r>
                <a:rPr lang="tr-TR" sz="1120" dirty="0">
                  <a:solidFill>
                    <a:srgbClr val="172B3A"/>
                  </a:solidFill>
                  <a:latin typeface="+mn-lt"/>
                  <a:ea typeface="+mn-ea"/>
                  <a:cs typeface="+mn-cs"/>
                </a:rPr>
                <a:t>çalışan sistem çıkmaz</a:t>
              </a:r>
            </a:p>
          </p:txBody>
        </p:sp>
        <p:sp>
          <p:nvSpPr>
            <p:cNvPr id="24" name="Line 24"/>
            <p:cNvSpPr/>
            <p:nvPr/>
          </p:nvSpPr>
          <p:spPr>
            <a:xfrm>
              <a:off x="609600" y="2247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2"/>
          <p:cNvGrpSpPr/>
          <p:nvPr/>
        </p:nvGrpSpPr>
        <p:grpSpPr>
          <a:xfrm>
            <a:off x="609600" y="2247900"/>
            <a:ext cx="10972800" cy="542925"/>
            <a:chOff x="609600" y="2247900"/>
            <a:chExt cx="10972800" cy="542925"/>
          </a:xfrm>
        </p:grpSpPr>
        <p:sp>
          <p:nvSpPr>
            <p:cNvPr id="26" name="Rectangle 26"/>
            <p:cNvSpPr/>
            <p:nvPr/>
          </p:nvSpPr>
          <p:spPr>
            <a:xfrm>
              <a:off x="609600" y="2247900"/>
              <a:ext cx="10972800" cy="533400"/>
            </a:xfrm>
            <a:prstGeom prst="rect">
              <a:avLst/>
            </a:prstGeom>
            <a:solidFill>
              <a:srgbClr val="EAF4F6"/>
            </a:solidFill>
            <a:ln>
              <a:noFill/>
            </a:ln>
          </p:spPr>
        </p:sp>
        <p:sp>
          <p:nvSpPr>
            <p:cNvPr id="27" name="TextBox 27"/>
            <p:cNvSpPr txBox="1"/>
            <p:nvPr/>
          </p:nvSpPr>
          <p:spPr>
            <a:xfrm>
              <a:off x="755523" y="2424589"/>
              <a:ext cx="206797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Gereksinim Mühendisliği</a:t>
              </a:r>
            </a:p>
          </p:txBody>
        </p:sp>
        <p:sp>
          <p:nvSpPr>
            <p:cNvPr id="28" name="TextBox 28"/>
            <p:cNvSpPr txBox="1"/>
            <p:nvPr/>
          </p:nvSpPr>
          <p:spPr>
            <a:xfrm>
              <a:off x="3003804" y="2432685"/>
              <a:ext cx="48946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Paydaş hikâyelerini API uç noktalarına ve veri modeline çevirir</a:t>
              </a:r>
            </a:p>
          </p:txBody>
        </p:sp>
        <p:sp>
          <p:nvSpPr>
            <p:cNvPr id="29" name="TextBox 29"/>
            <p:cNvSpPr txBox="1"/>
            <p:nvPr/>
          </p:nvSpPr>
          <p:spPr>
            <a:xfrm>
              <a:off x="7919085" y="2355056"/>
              <a:ext cx="242239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Kritik yetki/rezervasyon kuralları</a:t>
              </a:r>
              <a:br/>
              <a:r>
                <a:rPr lang="tr-TR" sz="1120" dirty="0">
                  <a:solidFill>
                    <a:srgbClr val="172B3A"/>
                  </a:solidFill>
                  <a:latin typeface="+mn-lt"/>
                  <a:ea typeface="+mn-ea"/>
                  <a:cs typeface="+mn-cs"/>
                </a:rPr>
                <a:t>unutulur, hedeften sapılır</a:t>
              </a:r>
            </a:p>
          </p:txBody>
        </p:sp>
        <p:sp>
          <p:nvSpPr>
            <p:cNvPr id="30" name="Line 30"/>
            <p:cNvSpPr/>
            <p:nvPr/>
          </p:nvSpPr>
          <p:spPr>
            <a:xfrm>
              <a:off x="609600" y="2781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3"/>
          <p:cNvGrpSpPr/>
          <p:nvPr/>
        </p:nvGrpSpPr>
        <p:grpSpPr>
          <a:xfrm>
            <a:off x="609600" y="2781300"/>
            <a:ext cx="10972800" cy="542925"/>
            <a:chOff x="609600" y="2781300"/>
            <a:chExt cx="10972800" cy="542925"/>
          </a:xfrm>
        </p:grpSpPr>
        <p:sp>
          <p:nvSpPr>
            <p:cNvPr id="32" name="Rectangle 32"/>
            <p:cNvSpPr/>
            <p:nvPr/>
          </p:nvSpPr>
          <p:spPr>
            <a:xfrm>
              <a:off x="609600" y="2781300"/>
              <a:ext cx="10972800" cy="533400"/>
            </a:xfrm>
            <a:prstGeom prst="rect">
              <a:avLst/>
            </a:prstGeom>
            <a:solidFill>
              <a:srgbClr val="FFFFFF"/>
            </a:solidFill>
            <a:ln>
              <a:noFill/>
            </a:ln>
          </p:spPr>
        </p:sp>
        <p:sp>
          <p:nvSpPr>
            <p:cNvPr id="33" name="TextBox 33"/>
            <p:cNvSpPr txBox="1"/>
            <p:nvPr/>
          </p:nvSpPr>
          <p:spPr>
            <a:xfrm>
              <a:off x="755523" y="2957989"/>
              <a:ext cx="177879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Sözleşme Odaklı API</a:t>
              </a:r>
            </a:p>
          </p:txBody>
        </p:sp>
        <p:sp>
          <p:nvSpPr>
            <p:cNvPr id="34" name="TextBox 34"/>
            <p:cNvSpPr txBox="1"/>
            <p:nvPr/>
          </p:nvSpPr>
          <p:spPr>
            <a:xfrm>
              <a:off x="3003804" y="2966085"/>
              <a:ext cx="34379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REST ilkeleri + OpenAPI ile dış yüzü belgeler</a:t>
              </a:r>
            </a:p>
          </p:txBody>
        </p:sp>
        <p:sp>
          <p:nvSpPr>
            <p:cNvPr id="35" name="TextBox 35"/>
            <p:cNvSpPr txBox="1"/>
            <p:nvPr/>
          </p:nvSpPr>
          <p:spPr>
            <a:xfrm>
              <a:off x="7919085" y="2888456"/>
              <a:ext cx="2557526"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İstemciler uç noktaları kestiremez,</a:t>
              </a:r>
              <a:br/>
              <a:r>
                <a:rPr lang="tr-TR" sz="1120" dirty="0">
                  <a:solidFill>
                    <a:srgbClr val="172B3A"/>
                  </a:solidFill>
                  <a:latin typeface="+mn-lt"/>
                  <a:ea typeface="+mn-ea"/>
                  <a:cs typeface="+mn-cs"/>
                </a:rPr>
                <a:t>entegrasyon felç olur</a:t>
              </a:r>
            </a:p>
          </p:txBody>
        </p:sp>
        <p:sp>
          <p:nvSpPr>
            <p:cNvPr id="36" name="Line 36"/>
            <p:cNvSpPr/>
            <p:nvPr/>
          </p:nvSpPr>
          <p:spPr>
            <a:xfrm>
              <a:off x="609600" y="3314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row-4"/>
          <p:cNvGrpSpPr/>
          <p:nvPr/>
        </p:nvGrpSpPr>
        <p:grpSpPr>
          <a:xfrm>
            <a:off x="609600" y="3314700"/>
            <a:ext cx="10972800" cy="542925"/>
            <a:chOff x="609600" y="3314700"/>
            <a:chExt cx="10972800" cy="542925"/>
          </a:xfrm>
        </p:grpSpPr>
        <p:sp>
          <p:nvSpPr>
            <p:cNvPr id="38" name="Rectangle 38"/>
            <p:cNvSpPr/>
            <p:nvPr/>
          </p:nvSpPr>
          <p:spPr>
            <a:xfrm>
              <a:off x="609600" y="3314700"/>
              <a:ext cx="10972800" cy="533400"/>
            </a:xfrm>
            <a:prstGeom prst="rect">
              <a:avLst/>
            </a:prstGeom>
            <a:solidFill>
              <a:srgbClr val="EAF4F6"/>
            </a:solidFill>
            <a:ln>
              <a:noFill/>
            </a:ln>
          </p:spPr>
        </p:sp>
        <p:sp>
          <p:nvSpPr>
            <p:cNvPr id="39" name="TextBox 39"/>
            <p:cNvSpPr txBox="1"/>
            <p:nvPr/>
          </p:nvSpPr>
          <p:spPr>
            <a:xfrm>
              <a:off x="755523" y="3491389"/>
              <a:ext cx="205500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İlişkisel Veri Bütünlüğü</a:t>
              </a:r>
            </a:p>
          </p:txBody>
        </p:sp>
        <p:sp>
          <p:nvSpPr>
            <p:cNvPr id="40" name="TextBox 40"/>
            <p:cNvSpPr txBox="1"/>
            <p:nvPr/>
          </p:nvSpPr>
          <p:spPr>
            <a:xfrm>
              <a:off x="3003804" y="3499485"/>
              <a:ext cx="4750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PostgreSQL + Prisma ile ACID garantili, ilişkili veriyi yönetir</a:t>
              </a:r>
            </a:p>
          </p:txBody>
        </p:sp>
        <p:sp>
          <p:nvSpPr>
            <p:cNvPr id="41" name="TextBox 41"/>
            <p:cNvSpPr txBox="1"/>
            <p:nvPr/>
          </p:nvSpPr>
          <p:spPr>
            <a:xfrm>
              <a:off x="7919085" y="3421856"/>
              <a:ext cx="174675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Çakışan rezervasyon ve</a:t>
              </a:r>
              <a:br/>
              <a:r>
                <a:rPr lang="tr-TR" sz="1120" dirty="0">
                  <a:solidFill>
                    <a:srgbClr val="172B3A"/>
                  </a:solidFill>
                  <a:latin typeface="+mn-lt"/>
                  <a:ea typeface="+mn-ea"/>
                  <a:cs typeface="+mn-cs"/>
                </a:rPr>
                <a:t>tutarsız kayıtlar oluşur</a:t>
              </a:r>
            </a:p>
          </p:txBody>
        </p:sp>
        <p:sp>
          <p:nvSpPr>
            <p:cNvPr id="42" name="Line 42"/>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9" name="row-5"/>
          <p:cNvGrpSpPr/>
          <p:nvPr/>
        </p:nvGrpSpPr>
        <p:grpSpPr>
          <a:xfrm>
            <a:off x="609600" y="3848100"/>
            <a:ext cx="10972800" cy="542925"/>
            <a:chOff x="609600" y="3848100"/>
            <a:chExt cx="10972800" cy="542925"/>
          </a:xfrm>
        </p:grpSpPr>
        <p:sp>
          <p:nvSpPr>
            <p:cNvPr id="44" name="Rectangle 44"/>
            <p:cNvSpPr/>
            <p:nvPr/>
          </p:nvSpPr>
          <p:spPr>
            <a:xfrm>
              <a:off x="609600" y="3848100"/>
              <a:ext cx="10972800" cy="533400"/>
            </a:xfrm>
            <a:prstGeom prst="rect">
              <a:avLst/>
            </a:prstGeom>
            <a:solidFill>
              <a:srgbClr val="FFFFFF"/>
            </a:solidFill>
            <a:ln>
              <a:noFill/>
            </a:ln>
          </p:spPr>
        </p:sp>
        <p:sp>
          <p:nvSpPr>
            <p:cNvPr id="45" name="TextBox 45"/>
            <p:cNvSpPr txBox="1"/>
            <p:nvPr/>
          </p:nvSpPr>
          <p:spPr>
            <a:xfrm>
              <a:off x="755523" y="4024789"/>
              <a:ext cx="164031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Uçtan Uca Güvenlik</a:t>
              </a:r>
            </a:p>
          </p:txBody>
        </p:sp>
        <p:sp>
          <p:nvSpPr>
            <p:cNvPr id="46" name="TextBox 46"/>
            <p:cNvSpPr txBox="1"/>
            <p:nvPr/>
          </p:nvSpPr>
          <p:spPr>
            <a:xfrm>
              <a:off x="3003804" y="4032885"/>
              <a:ext cx="46704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JWT + RBAC + rate limiting + girdi doğrulamasını birleştirir</a:t>
              </a:r>
            </a:p>
          </p:txBody>
        </p:sp>
        <p:sp>
          <p:nvSpPr>
            <p:cNvPr id="47" name="TextBox 47"/>
            <p:cNvSpPr txBox="1"/>
            <p:nvPr/>
          </p:nvSpPr>
          <p:spPr>
            <a:xfrm>
              <a:off x="7919085" y="3955256"/>
              <a:ext cx="228727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IDOR veya brute-force ile sistem</a:t>
              </a:r>
              <a:br/>
              <a:r>
                <a:rPr lang="tr-TR" sz="1120" dirty="0">
                  <a:solidFill>
                    <a:srgbClr val="172B3A"/>
                  </a:solidFill>
                  <a:latin typeface="+mn-lt"/>
                  <a:ea typeface="+mn-ea"/>
                  <a:cs typeface="+mn-cs"/>
                </a:rPr>
                <a:t>kolayca kırılır</a:t>
              </a:r>
            </a:p>
          </p:txBody>
        </p:sp>
        <p:sp>
          <p:nvSpPr>
            <p:cNvPr id="48" name="Line 48"/>
            <p:cNvSpPr/>
            <p:nvPr/>
          </p:nvSpPr>
          <p:spPr>
            <a:xfrm>
              <a:off x="609600" y="4381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5" name="row-6"/>
          <p:cNvGrpSpPr/>
          <p:nvPr/>
        </p:nvGrpSpPr>
        <p:grpSpPr>
          <a:xfrm>
            <a:off x="609600" y="4381500"/>
            <a:ext cx="10972800" cy="542925"/>
            <a:chOff x="609600" y="4381500"/>
            <a:chExt cx="10972800" cy="542925"/>
          </a:xfrm>
        </p:grpSpPr>
        <p:sp>
          <p:nvSpPr>
            <p:cNvPr id="50" name="Rectangle 50"/>
            <p:cNvSpPr/>
            <p:nvPr/>
          </p:nvSpPr>
          <p:spPr>
            <a:xfrm>
              <a:off x="609600" y="4381500"/>
              <a:ext cx="10972800" cy="533400"/>
            </a:xfrm>
            <a:prstGeom prst="rect">
              <a:avLst/>
            </a:prstGeom>
            <a:solidFill>
              <a:srgbClr val="EAF4F6"/>
            </a:solidFill>
            <a:ln>
              <a:noFill/>
            </a:ln>
          </p:spPr>
        </p:sp>
        <p:sp>
          <p:nvSpPr>
            <p:cNvPr id="51" name="TextBox 51"/>
            <p:cNvSpPr txBox="1"/>
            <p:nvPr/>
          </p:nvSpPr>
          <p:spPr>
            <a:xfrm>
              <a:off x="755523" y="4558189"/>
              <a:ext cx="196107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Konteyner ve Dağıtım</a:t>
              </a:r>
            </a:p>
          </p:txBody>
        </p:sp>
        <p:sp>
          <p:nvSpPr>
            <p:cNvPr id="52" name="TextBox 52"/>
            <p:cNvSpPr txBox="1"/>
            <p:nvPr/>
          </p:nvSpPr>
          <p:spPr>
            <a:xfrm>
              <a:off x="3003804" y="4566285"/>
              <a:ext cx="39492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Compose ile paketler, Nginx + TLS ile dünyaya açar</a:t>
              </a:r>
            </a:p>
          </p:txBody>
        </p:sp>
        <p:sp>
          <p:nvSpPr>
            <p:cNvPr id="53" name="TextBox 53"/>
            <p:cNvSpPr txBox="1"/>
            <p:nvPr/>
          </p:nvSpPr>
          <p:spPr>
            <a:xfrm>
              <a:off x="7919085" y="4488656"/>
              <a:ext cx="279933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Sistem yalnızca yerel makinede çalışır,</a:t>
              </a:r>
              <a:br/>
              <a:r>
                <a:rPr lang="tr-TR" sz="1120" dirty="0">
                  <a:solidFill>
                    <a:srgbClr val="172B3A"/>
                  </a:solidFill>
                  <a:latin typeface="+mn-lt"/>
                  <a:ea typeface="+mn-ea"/>
                  <a:cs typeface="+mn-cs"/>
                </a:rPr>
                <a:t>sunucuda çöker</a:t>
              </a:r>
            </a:p>
          </p:txBody>
        </p:sp>
        <p:sp>
          <p:nvSpPr>
            <p:cNvPr id="54" name="Line 54"/>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60" name="row-7"/>
          <p:cNvGrpSpPr/>
          <p:nvPr/>
        </p:nvGrpSpPr>
        <p:grpSpPr>
          <a:xfrm>
            <a:off x="609600" y="4914900"/>
            <a:ext cx="10972800" cy="533400"/>
            <a:chOff x="609600" y="4914900"/>
            <a:chExt cx="10972800" cy="533400"/>
          </a:xfrm>
        </p:grpSpPr>
        <p:sp>
          <p:nvSpPr>
            <p:cNvPr id="56" name="Rectangle 56"/>
            <p:cNvSpPr/>
            <p:nvPr/>
          </p:nvSpPr>
          <p:spPr>
            <a:xfrm>
              <a:off x="609600" y="4914900"/>
              <a:ext cx="10972800" cy="533400"/>
            </a:xfrm>
            <a:prstGeom prst="rect">
              <a:avLst/>
            </a:prstGeom>
            <a:solidFill>
              <a:srgbClr val="FFFFFF"/>
            </a:solidFill>
            <a:ln>
              <a:noFill/>
            </a:ln>
          </p:spPr>
        </p:sp>
        <p:sp>
          <p:nvSpPr>
            <p:cNvPr id="57" name="TextBox 57"/>
            <p:cNvSpPr txBox="1"/>
            <p:nvPr/>
          </p:nvSpPr>
          <p:spPr>
            <a:xfrm>
              <a:off x="755523" y="5091589"/>
              <a:ext cx="156246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Rubrik Savunması</a:t>
              </a:r>
            </a:p>
          </p:txBody>
        </p:sp>
        <p:sp>
          <p:nvSpPr>
            <p:cNvPr id="58" name="TextBox 58"/>
            <p:cNvSpPr txBox="1"/>
            <p:nvPr/>
          </p:nvSpPr>
          <p:spPr>
            <a:xfrm>
              <a:off x="3003804" y="5099685"/>
              <a:ext cx="5824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Sistemi test kapsamı, güvenlik ve mimari ölçütlerine göre gerekçelendirir</a:t>
              </a:r>
            </a:p>
          </p:txBody>
        </p:sp>
        <p:sp>
          <p:nvSpPr>
            <p:cNvPr id="59" name="TextBox 59"/>
            <p:cNvSpPr txBox="1"/>
            <p:nvPr/>
          </p:nvSpPr>
          <p:spPr>
            <a:xfrm>
              <a:off x="7919085" y="5022056"/>
              <a:ext cx="188899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Mimari kararlar ve kalite</a:t>
              </a:r>
              <a:br/>
              <a:r>
                <a:rPr lang="tr-TR" sz="1120" dirty="0">
                  <a:solidFill>
                    <a:srgbClr val="172B3A"/>
                  </a:solidFill>
                  <a:latin typeface="+mn-lt"/>
                  <a:ea typeface="+mn-ea"/>
                  <a:cs typeface="+mn-cs"/>
                </a:rPr>
                <a:t>standartları denetlenemez</a:t>
              </a:r>
            </a:p>
          </p:txBody>
        </p:sp>
      </p:grpSp>
      <p:grpSp>
        <p:nvGrpSpPr>
          <p:cNvPr id="64" name="table-frame"/>
          <p:cNvGrpSpPr/>
          <p:nvPr/>
        </p:nvGrpSpPr>
        <p:grpSpPr>
          <a:xfrm>
            <a:off x="609600" y="1314450"/>
            <a:ext cx="10972800" cy="4133850"/>
            <a:chOff x="609600" y="1314450"/>
            <a:chExt cx="10972800" cy="4133850"/>
          </a:xfrm>
        </p:grpSpPr>
        <p:sp>
          <p:nvSpPr>
            <p:cNvPr id="61" name="table-border"/>
            <p:cNvSpPr/>
            <p:nvPr/>
          </p:nvSpPr>
          <p:spPr>
            <a:xfrm>
              <a:off x="609600" y="1314450"/>
              <a:ext cx="10972800" cy="4133850"/>
            </a:xfrm>
            <a:prstGeom prst="rect">
              <a:avLst/>
            </a:prstGeom>
            <a:noFill/>
            <a:ln w="14288">
              <a:solidFill>
                <a:srgbClr val="B8CBD3"/>
              </a:solidFill>
            </a:ln>
          </p:spPr>
        </p:sp>
        <p:sp>
          <p:nvSpPr>
            <p:cNvPr id="62" name="Line 62"/>
            <p:cNvSpPr/>
            <p:nvPr/>
          </p:nvSpPr>
          <p:spPr>
            <a:xfrm>
              <a:off x="2857500" y="1314450"/>
              <a:ext cx="9525" cy="4133850"/>
            </a:xfrm>
            <a:custGeom>
              <a:avLst/>
              <a:gdLst/>
              <a:ahLst/>
              <a:cxnLst/>
              <a:rect l="l" t="t" r="r" b="b"/>
              <a:pathLst>
                <a:path w="9525" h="4133850">
                  <a:moveTo>
                    <a:pt x="0" y="0"/>
                  </a:moveTo>
                  <a:lnTo>
                    <a:pt x="0" y="4133850"/>
                  </a:lnTo>
                </a:path>
              </a:pathLst>
            </a:custGeom>
            <a:noFill/>
            <a:ln w="9525">
              <a:solidFill>
                <a:srgbClr val="B8CBD3"/>
              </a:solidFill>
            </a:ln>
          </p:spPr>
        </p:sp>
        <p:sp>
          <p:nvSpPr>
            <p:cNvPr id="63" name="Line 63"/>
            <p:cNvSpPr/>
            <p:nvPr/>
          </p:nvSpPr>
          <p:spPr>
            <a:xfrm>
              <a:off x="7772400" y="1314450"/>
              <a:ext cx="9525" cy="4133850"/>
            </a:xfrm>
            <a:custGeom>
              <a:avLst/>
              <a:gdLst/>
              <a:ahLst/>
              <a:cxnLst/>
              <a:rect l="l" t="t" r="r" b="b"/>
              <a:pathLst>
                <a:path w="9525" h="4133850">
                  <a:moveTo>
                    <a:pt x="0" y="0"/>
                  </a:moveTo>
                  <a:lnTo>
                    <a:pt x="0" y="4133850"/>
                  </a:lnTo>
                </a:path>
              </a:pathLst>
            </a:custGeom>
            <a:noFill/>
            <a:ln w="9525">
              <a:solidFill>
                <a:srgbClr val="B8CBD3"/>
              </a:solidFill>
            </a:ln>
          </p:spPr>
        </p:sp>
      </p:grpSp>
      <p:sp>
        <p:nvSpPr>
          <p:cNvPr id="65" name="TextBox 6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6646" y="315278"/>
            <a:ext cx="7571751" cy="498729"/>
            <a:chOff x="596646" y="315278"/>
            <a:chExt cx="7571751" cy="498729"/>
          </a:xfrm>
        </p:grpSpPr>
        <p:sp>
          <p:nvSpPr>
            <p:cNvPr id="4" name="TextBox 4"/>
            <p:cNvSpPr txBox="1"/>
            <p:nvPr/>
          </p:nvSpPr>
          <p:spPr>
            <a:xfrm>
              <a:off x="596646" y="315278"/>
              <a:ext cx="7571751"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Bu bölümün kapsamı: teslim vs. production</a:t>
              </a:r>
            </a:p>
          </p:txBody>
        </p:sp>
      </p:grpSp>
      <p:grpSp>
        <p:nvGrpSpPr>
          <p:cNvPr id="7" name="scope-intro"/>
          <p:cNvGrpSpPr/>
          <p:nvPr/>
        </p:nvGrpSpPr>
        <p:grpSpPr>
          <a:xfrm>
            <a:off x="602742" y="1168718"/>
            <a:ext cx="8861251" cy="264033"/>
            <a:chOff x="602742" y="1168718"/>
            <a:chExt cx="8861251" cy="264033"/>
          </a:xfrm>
        </p:grpSpPr>
        <p:sp>
          <p:nvSpPr>
            <p:cNvPr id="6" name="TextBox 6"/>
            <p:cNvSpPr txBox="1"/>
            <p:nvPr/>
          </p:nvSpPr>
          <p:spPr>
            <a:xfrm>
              <a:off x="602742" y="1168718"/>
              <a:ext cx="8861251"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"Production-ready" burada bir hedef ve ölçüttür; bölümün kod örneklerinin olgunluk düzeyi değildir.</a:t>
              </a:r>
            </a:p>
          </p:txBody>
        </p:sp>
      </p:grpSp>
      <p:grpSp>
        <p:nvGrpSpPr>
          <p:cNvPr id="14" name="table-header"/>
          <p:cNvGrpSpPr/>
          <p:nvPr/>
        </p:nvGrpSpPr>
        <p:grpSpPr>
          <a:xfrm>
            <a:off x="609600" y="1504950"/>
            <a:ext cx="10972800" cy="400050"/>
            <a:chOff x="609600" y="1504950"/>
            <a:chExt cx="10972800" cy="400050"/>
          </a:xfrm>
        </p:grpSpPr>
        <p:sp>
          <p:nvSpPr>
            <p:cNvPr id="8" name="Rectangle 8"/>
            <p:cNvSpPr/>
            <p:nvPr/>
          </p:nvSpPr>
          <p:spPr>
            <a:xfrm>
              <a:off x="609600" y="1504950"/>
              <a:ext cx="1714500" cy="400050"/>
            </a:xfrm>
            <a:prstGeom prst="rect">
              <a:avLst/>
            </a:prstGeom>
            <a:solidFill>
              <a:srgbClr val="12355B"/>
            </a:solidFill>
            <a:ln>
              <a:noFill/>
            </a:ln>
          </p:spPr>
        </p:sp>
        <p:sp>
          <p:nvSpPr>
            <p:cNvPr id="9" name="Rectangle 9"/>
            <p:cNvSpPr/>
            <p:nvPr/>
          </p:nvSpPr>
          <p:spPr>
            <a:xfrm>
              <a:off x="2476500" y="1504950"/>
              <a:ext cx="4381500" cy="400050"/>
            </a:xfrm>
            <a:prstGeom prst="rect">
              <a:avLst/>
            </a:prstGeom>
            <a:solidFill>
              <a:srgbClr val="12355B"/>
            </a:solidFill>
            <a:ln>
              <a:noFill/>
            </a:ln>
          </p:spPr>
        </p:sp>
        <p:sp>
          <p:nvSpPr>
            <p:cNvPr id="10" name="Rectangle 10"/>
            <p:cNvSpPr/>
            <p:nvPr/>
          </p:nvSpPr>
          <p:spPr>
            <a:xfrm>
              <a:off x="7010400" y="1504950"/>
              <a:ext cx="4572000" cy="400050"/>
            </a:xfrm>
            <a:prstGeom prst="rect">
              <a:avLst/>
            </a:prstGeom>
            <a:solidFill>
              <a:srgbClr val="12355B"/>
            </a:solidFill>
            <a:ln>
              <a:noFill/>
            </a:ln>
          </p:spPr>
        </p:sp>
        <p:sp>
          <p:nvSpPr>
            <p:cNvPr id="11" name="TextBox 11"/>
            <p:cNvSpPr txBox="1"/>
            <p:nvPr/>
          </p:nvSpPr>
          <p:spPr>
            <a:xfrm>
              <a:off x="755523" y="1614964"/>
              <a:ext cx="516142"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Boyut</a:t>
              </a:r>
            </a:p>
          </p:txBody>
        </p:sp>
        <p:sp>
          <p:nvSpPr>
            <p:cNvPr id="12" name="TextBox 12"/>
            <p:cNvSpPr txBox="1"/>
            <p:nvPr/>
          </p:nvSpPr>
          <p:spPr>
            <a:xfrm>
              <a:off x="2622423" y="1614964"/>
              <a:ext cx="2117391"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Bu bölümde teslim edilen</a:t>
              </a:r>
            </a:p>
          </p:txBody>
        </p:sp>
        <p:sp>
          <p:nvSpPr>
            <p:cNvPr id="13" name="TextBox 13"/>
            <p:cNvSpPr txBox="1"/>
            <p:nvPr/>
          </p:nvSpPr>
          <p:spPr>
            <a:xfrm>
              <a:off x="7156323" y="1614964"/>
              <a:ext cx="3963246"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Production'a hazır sistemde ayrıca gereken</a:t>
              </a:r>
            </a:p>
          </p:txBody>
        </p:sp>
      </p:grpSp>
      <p:grpSp>
        <p:nvGrpSpPr>
          <p:cNvPr id="20" name="row-1"/>
          <p:cNvGrpSpPr/>
          <p:nvPr/>
        </p:nvGrpSpPr>
        <p:grpSpPr>
          <a:xfrm>
            <a:off x="609600" y="1905000"/>
            <a:ext cx="10972800" cy="657225"/>
            <a:chOff x="609600" y="1905000"/>
            <a:chExt cx="10972800" cy="657225"/>
          </a:xfrm>
        </p:grpSpPr>
        <p:sp>
          <p:nvSpPr>
            <p:cNvPr id="15" name="Rectangle 15"/>
            <p:cNvSpPr/>
            <p:nvPr/>
          </p:nvSpPr>
          <p:spPr>
            <a:xfrm>
              <a:off x="609600" y="1905000"/>
              <a:ext cx="10972800" cy="647700"/>
            </a:xfrm>
            <a:prstGeom prst="rect">
              <a:avLst/>
            </a:prstGeom>
            <a:solidFill>
              <a:srgbClr val="FFFFFF"/>
            </a:solidFill>
            <a:ln>
              <a:noFill/>
            </a:ln>
          </p:spPr>
        </p:sp>
        <p:sp>
          <p:nvSpPr>
            <p:cNvPr id="16" name="TextBox 16"/>
            <p:cNvSpPr txBox="1"/>
            <p:nvPr/>
          </p:nvSpPr>
          <p:spPr>
            <a:xfrm>
              <a:off x="755904" y="2042160"/>
              <a:ext cx="124691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Veri kalıcılığı</a:t>
              </a:r>
            </a:p>
          </p:txBody>
        </p:sp>
        <p:sp>
          <p:nvSpPr>
            <p:cNvPr id="17" name="TextBox 17"/>
            <p:cNvSpPr txBox="1"/>
            <p:nvPr/>
          </p:nvSpPr>
          <p:spPr>
            <a:xfrm>
              <a:off x="2623185" y="1993106"/>
              <a:ext cx="226593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Bellek içi repository; süreç</a:t>
              </a:r>
              <a:br/>
              <a:r>
                <a:rPr lang="tr-TR" sz="1120" dirty="0">
                  <a:solidFill>
                    <a:srgbClr val="172B3A"/>
                  </a:solidFill>
                  <a:latin typeface="+mn-lt"/>
                  <a:ea typeface="+mn-ea"/>
                  <a:cs typeface="+mn-cs"/>
                </a:rPr>
                <a:t>yeniden başlayınca veri kaybolur</a:t>
              </a:r>
            </a:p>
          </p:txBody>
        </p:sp>
        <p:sp>
          <p:nvSpPr>
            <p:cNvPr id="18" name="TextBox 18"/>
            <p:cNvSpPr txBox="1"/>
            <p:nvPr/>
          </p:nvSpPr>
          <p:spPr>
            <a:xfrm>
              <a:off x="7157085" y="1993106"/>
              <a:ext cx="225171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PostgreSQL, migration geçmişi,</a:t>
              </a:r>
              <a:br/>
              <a:r>
                <a:rPr lang="tr-TR" sz="1120" dirty="0">
                  <a:solidFill>
                    <a:srgbClr val="172B3A"/>
                  </a:solidFill>
                  <a:latin typeface="+mn-lt"/>
                  <a:ea typeface="+mn-ea"/>
                  <a:cs typeface="+mn-cs"/>
                </a:rPr>
                <a:t>yedekleme ve geri dönüş provası</a:t>
              </a:r>
            </a:p>
          </p:txBody>
        </p:sp>
        <p:sp>
          <p:nvSpPr>
            <p:cNvPr id="19" name="Line 19"/>
            <p:cNvSpPr/>
            <p:nvPr/>
          </p:nvSpPr>
          <p:spPr>
            <a:xfrm>
              <a:off x="609600" y="2552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row-2"/>
          <p:cNvGrpSpPr/>
          <p:nvPr/>
        </p:nvGrpSpPr>
        <p:grpSpPr>
          <a:xfrm>
            <a:off x="609600" y="2552700"/>
            <a:ext cx="10972800" cy="657225"/>
            <a:chOff x="609600" y="2552700"/>
            <a:chExt cx="10972800" cy="657225"/>
          </a:xfrm>
        </p:grpSpPr>
        <p:sp>
          <p:nvSpPr>
            <p:cNvPr id="21" name="Rectangle 21"/>
            <p:cNvSpPr/>
            <p:nvPr/>
          </p:nvSpPr>
          <p:spPr>
            <a:xfrm>
              <a:off x="609600" y="2552700"/>
              <a:ext cx="10972800" cy="647700"/>
            </a:xfrm>
            <a:prstGeom prst="rect">
              <a:avLst/>
            </a:prstGeom>
            <a:solidFill>
              <a:srgbClr val="EAF4F6"/>
            </a:solidFill>
            <a:ln>
              <a:noFill/>
            </a:ln>
          </p:spPr>
        </p:sp>
        <p:sp>
          <p:nvSpPr>
            <p:cNvPr id="22" name="TextBox 22"/>
            <p:cNvSpPr txBox="1"/>
            <p:nvPr/>
          </p:nvSpPr>
          <p:spPr>
            <a:xfrm>
              <a:off x="755904" y="2689860"/>
              <a:ext cx="108584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Eşzamanlılık</a:t>
              </a:r>
            </a:p>
          </p:txBody>
        </p:sp>
        <p:sp>
          <p:nvSpPr>
            <p:cNvPr id="23" name="TextBox 23"/>
            <p:cNvSpPr txBox="1"/>
            <p:nvPr/>
          </p:nvSpPr>
          <p:spPr>
            <a:xfrm>
              <a:off x="2623185" y="2640806"/>
              <a:ext cx="2628646"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Tek süreçli örnek; çakışan iki</a:t>
              </a:r>
              <a:br/>
              <a:r>
                <a:rPr lang="tr-TR" sz="1120" dirty="0">
                  <a:solidFill>
                    <a:srgbClr val="172B3A"/>
                  </a:solidFill>
                  <a:latin typeface="+mn-lt"/>
                  <a:ea typeface="+mn-ea"/>
                  <a:cs typeface="+mn-cs"/>
                </a:rPr>
                <a:t>rezervasyon aynı anda kabul edilebilir</a:t>
              </a:r>
            </a:p>
          </p:txBody>
        </p:sp>
        <p:sp>
          <p:nvSpPr>
            <p:cNvPr id="24" name="TextBox 24"/>
            <p:cNvSpPr txBox="1"/>
            <p:nvPr/>
          </p:nvSpPr>
          <p:spPr>
            <a:xfrm>
              <a:off x="7157085" y="2640806"/>
              <a:ext cx="3318510"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Veritabanı transaction'ı,</a:t>
              </a:r>
              <a:br/>
              <a:r>
                <a:rPr lang="tr-TR" sz="1120" dirty="0">
                  <a:solidFill>
                    <a:srgbClr val="172B3A"/>
                  </a:solidFill>
                  <a:latin typeface="+mn-lt"/>
                  <a:ea typeface="+mn-ea"/>
                  <a:cs typeface="+mn-cs"/>
                </a:rPr>
                <a:t>SELECT ... FOR UPDATE veya benzersizlik kısıtı</a:t>
              </a:r>
            </a:p>
          </p:txBody>
        </p:sp>
        <p:sp>
          <p:nvSpPr>
            <p:cNvPr id="25" name="Line 25"/>
            <p:cNvSpPr/>
            <p:nvPr/>
          </p:nvSpPr>
          <p:spPr>
            <a:xfrm>
              <a:off x="609600" y="3200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row-3"/>
          <p:cNvGrpSpPr/>
          <p:nvPr/>
        </p:nvGrpSpPr>
        <p:grpSpPr>
          <a:xfrm>
            <a:off x="609600" y="3200400"/>
            <a:ext cx="10972800" cy="657225"/>
            <a:chOff x="609600" y="3200400"/>
            <a:chExt cx="10972800" cy="657225"/>
          </a:xfrm>
        </p:grpSpPr>
        <p:sp>
          <p:nvSpPr>
            <p:cNvPr id="27" name="Rectangle 27"/>
            <p:cNvSpPr/>
            <p:nvPr/>
          </p:nvSpPr>
          <p:spPr>
            <a:xfrm>
              <a:off x="609600" y="3200400"/>
              <a:ext cx="10972800" cy="647700"/>
            </a:xfrm>
            <a:prstGeom prst="rect">
              <a:avLst/>
            </a:prstGeom>
            <a:solidFill>
              <a:srgbClr val="FFFFFF"/>
            </a:solidFill>
            <a:ln>
              <a:noFill/>
            </a:ln>
          </p:spPr>
        </p:sp>
        <p:sp>
          <p:nvSpPr>
            <p:cNvPr id="28" name="TextBox 28"/>
            <p:cNvSpPr txBox="1"/>
            <p:nvPr/>
          </p:nvSpPr>
          <p:spPr>
            <a:xfrm>
              <a:off x="755904" y="3337560"/>
              <a:ext cx="128097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Girdi doğrulama</a:t>
              </a:r>
            </a:p>
          </p:txBody>
        </p:sp>
        <p:sp>
          <p:nvSpPr>
            <p:cNvPr id="29" name="TextBox 29"/>
            <p:cNvSpPr txBox="1"/>
            <p:nvPr/>
          </p:nvSpPr>
          <p:spPr>
            <a:xfrm>
              <a:off x="2623185" y="3288506"/>
              <a:ext cx="233705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Zorunlu alan ve biçim denetimi;</a:t>
              </a:r>
              <a:br/>
              <a:r>
                <a:rPr lang="tr-TR" sz="1120" dirty="0">
                  <a:solidFill>
                    <a:srgbClr val="172B3A"/>
                  </a:solidFill>
                  <a:latin typeface="+mn-lt"/>
                  <a:ea typeface="+mn-ea"/>
                  <a:cs typeface="+mn-cs"/>
                </a:rPr>
                <a:t>tarih formatı bir önkoşul sayılır</a:t>
              </a:r>
            </a:p>
          </p:txBody>
        </p:sp>
        <p:sp>
          <p:nvSpPr>
            <p:cNvPr id="30" name="TextBox 30"/>
            <p:cNvSpPr txBox="1"/>
            <p:nvPr/>
          </p:nvSpPr>
          <p:spPr>
            <a:xfrm>
              <a:off x="7157085" y="3288506"/>
              <a:ext cx="215925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Şema tabanlı doğrulama (Zod),</a:t>
              </a:r>
              <a:br/>
              <a:r>
                <a:rPr lang="tr-TR" sz="1120" dirty="0">
                  <a:solidFill>
                    <a:srgbClr val="172B3A"/>
                  </a:solidFill>
                  <a:latin typeface="+mn-lt"/>
                  <a:ea typeface="+mn-ea"/>
                  <a:cs typeface="+mn-cs"/>
                </a:rPr>
                <a:t>saat dilimi ve takvim kuralları</a:t>
              </a:r>
            </a:p>
          </p:txBody>
        </p:sp>
        <p:sp>
          <p:nvSpPr>
            <p:cNvPr id="31" name="Line 31"/>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8" name="row-4"/>
          <p:cNvGrpSpPr/>
          <p:nvPr/>
        </p:nvGrpSpPr>
        <p:grpSpPr>
          <a:xfrm>
            <a:off x="609600" y="3848100"/>
            <a:ext cx="10972800" cy="657225"/>
            <a:chOff x="609600" y="3848100"/>
            <a:chExt cx="10972800" cy="657225"/>
          </a:xfrm>
        </p:grpSpPr>
        <p:sp>
          <p:nvSpPr>
            <p:cNvPr id="33" name="Rectangle 33"/>
            <p:cNvSpPr/>
            <p:nvPr/>
          </p:nvSpPr>
          <p:spPr>
            <a:xfrm>
              <a:off x="609600" y="3848100"/>
              <a:ext cx="10972800" cy="647700"/>
            </a:xfrm>
            <a:prstGeom prst="rect">
              <a:avLst/>
            </a:prstGeom>
            <a:solidFill>
              <a:srgbClr val="EAF4F6"/>
            </a:solidFill>
            <a:ln>
              <a:noFill/>
            </a:ln>
          </p:spPr>
        </p:sp>
        <p:sp>
          <p:nvSpPr>
            <p:cNvPr id="34" name="TextBox 34"/>
            <p:cNvSpPr txBox="1"/>
            <p:nvPr/>
          </p:nvSpPr>
          <p:spPr>
            <a:xfrm>
              <a:off x="755904" y="3985260"/>
              <a:ext cx="70471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Dağıtım</a:t>
              </a:r>
            </a:p>
          </p:txBody>
        </p:sp>
        <p:sp>
          <p:nvSpPr>
            <p:cNvPr id="35" name="TextBox 35"/>
            <p:cNvSpPr txBox="1"/>
            <p:nvPr/>
          </p:nvSpPr>
          <p:spPr>
            <a:xfrm>
              <a:off x="2623185" y="3936206"/>
              <a:ext cx="231571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Compose ve Nginx yapılandırması</a:t>
              </a:r>
              <a:br/>
              <a:r>
                <a:rPr lang="tr-TR" sz="1120" dirty="0">
                  <a:solidFill>
                    <a:srgbClr val="172B3A"/>
                  </a:solidFill>
                  <a:latin typeface="+mn-lt"/>
                  <a:ea typeface="+mn-ea"/>
                  <a:cs typeface="+mn-cs"/>
                </a:rPr>
                <a:t>kavramsal olarak gösterilir</a:t>
              </a:r>
            </a:p>
          </p:txBody>
        </p:sp>
        <p:sp>
          <p:nvSpPr>
            <p:cNvPr id="36" name="TextBox 36"/>
            <p:cNvSpPr txBox="1"/>
            <p:nvPr/>
          </p:nvSpPr>
          <p:spPr>
            <a:xfrm>
              <a:off x="7157085" y="3936206"/>
              <a:ext cx="2529078"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Uçtan uca kurulum, TLS sertifikası,</a:t>
              </a:r>
              <a:br/>
              <a:r>
                <a:rPr lang="tr-TR" sz="1120" dirty="0">
                  <a:solidFill>
                    <a:srgbClr val="172B3A"/>
                  </a:solidFill>
                  <a:latin typeface="+mn-lt"/>
                  <a:ea typeface="+mn-ea"/>
                  <a:cs typeface="+mn-cs"/>
                </a:rPr>
                <a:t>izleme ve alarm</a:t>
              </a:r>
            </a:p>
          </p:txBody>
        </p:sp>
        <p:sp>
          <p:nvSpPr>
            <p:cNvPr id="37" name="Line 37"/>
            <p:cNvSpPr/>
            <p:nvPr/>
          </p:nvSpPr>
          <p:spPr>
            <a:xfrm>
              <a:off x="609600" y="4495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row-5"/>
          <p:cNvGrpSpPr/>
          <p:nvPr/>
        </p:nvGrpSpPr>
        <p:grpSpPr>
          <a:xfrm>
            <a:off x="609600" y="4495800"/>
            <a:ext cx="10972800" cy="647700"/>
            <a:chOff x="609600" y="4495800"/>
            <a:chExt cx="10972800" cy="647700"/>
          </a:xfrm>
        </p:grpSpPr>
        <p:sp>
          <p:nvSpPr>
            <p:cNvPr id="39" name="Rectangle 39"/>
            <p:cNvSpPr/>
            <p:nvPr/>
          </p:nvSpPr>
          <p:spPr>
            <a:xfrm>
              <a:off x="609600" y="4495800"/>
              <a:ext cx="10972800" cy="647700"/>
            </a:xfrm>
            <a:prstGeom prst="rect">
              <a:avLst/>
            </a:prstGeom>
            <a:solidFill>
              <a:srgbClr val="FFFFFF"/>
            </a:solidFill>
            <a:ln>
              <a:noFill/>
            </a:ln>
          </p:spPr>
        </p:sp>
        <p:sp>
          <p:nvSpPr>
            <p:cNvPr id="40" name="TextBox 40"/>
            <p:cNvSpPr txBox="1"/>
            <p:nvPr/>
          </p:nvSpPr>
          <p:spPr>
            <a:xfrm>
              <a:off x="755904" y="4632960"/>
              <a:ext cx="70471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Başarım</a:t>
              </a:r>
            </a:p>
          </p:txBody>
        </p:sp>
        <p:sp>
          <p:nvSpPr>
            <p:cNvPr id="41" name="TextBox 41"/>
            <p:cNvSpPr txBox="1"/>
            <p:nvPr/>
          </p:nvSpPr>
          <p:spPr>
            <a:xfrm>
              <a:off x="2623185" y="4641056"/>
              <a:ext cx="163708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Örnek gecikme bütçesi</a:t>
              </a:r>
            </a:p>
          </p:txBody>
        </p:sp>
        <p:sp>
          <p:nvSpPr>
            <p:cNvPr id="42" name="TextBox 42"/>
            <p:cNvSpPr txBox="1"/>
            <p:nvPr/>
          </p:nvSpPr>
          <p:spPr>
            <a:xfrm>
              <a:off x="7157085" y="4641056"/>
              <a:ext cx="20608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Yük testi ve p95/p99 ölçümü</a:t>
              </a:r>
            </a:p>
          </p:txBody>
        </p:sp>
      </p:grpSp>
      <p:grpSp>
        <p:nvGrpSpPr>
          <p:cNvPr id="47" name="table-frame"/>
          <p:cNvGrpSpPr/>
          <p:nvPr/>
        </p:nvGrpSpPr>
        <p:grpSpPr>
          <a:xfrm>
            <a:off x="609600" y="1504950"/>
            <a:ext cx="10972800" cy="3638550"/>
            <a:chOff x="609600" y="1504950"/>
            <a:chExt cx="10972800" cy="3638550"/>
          </a:xfrm>
        </p:grpSpPr>
        <p:sp>
          <p:nvSpPr>
            <p:cNvPr id="44" name="Rectangle 44"/>
            <p:cNvSpPr/>
            <p:nvPr/>
          </p:nvSpPr>
          <p:spPr>
            <a:xfrm>
              <a:off x="609600" y="1504950"/>
              <a:ext cx="10972800" cy="3638550"/>
            </a:xfrm>
            <a:prstGeom prst="rect">
              <a:avLst/>
            </a:prstGeom>
            <a:noFill/>
            <a:ln w="14288">
              <a:solidFill>
                <a:srgbClr val="B8CBD3"/>
              </a:solidFill>
            </a:ln>
          </p:spPr>
        </p:sp>
        <p:sp>
          <p:nvSpPr>
            <p:cNvPr id="45" name="Line 45"/>
            <p:cNvSpPr/>
            <p:nvPr/>
          </p:nvSpPr>
          <p:spPr>
            <a:xfrm>
              <a:off x="2476500" y="1504950"/>
              <a:ext cx="9525" cy="3638550"/>
            </a:xfrm>
            <a:custGeom>
              <a:avLst/>
              <a:gdLst/>
              <a:ahLst/>
              <a:cxnLst/>
              <a:rect l="l" t="t" r="r" b="b"/>
              <a:pathLst>
                <a:path w="9525" h="3638550">
                  <a:moveTo>
                    <a:pt x="0" y="0"/>
                  </a:moveTo>
                  <a:lnTo>
                    <a:pt x="0" y="3638550"/>
                  </a:lnTo>
                </a:path>
              </a:pathLst>
            </a:custGeom>
            <a:noFill/>
            <a:ln w="9525">
              <a:solidFill>
                <a:srgbClr val="B8CBD3"/>
              </a:solidFill>
            </a:ln>
          </p:spPr>
        </p:sp>
        <p:sp>
          <p:nvSpPr>
            <p:cNvPr id="46" name="Line 46"/>
            <p:cNvSpPr/>
            <p:nvPr/>
          </p:nvSpPr>
          <p:spPr>
            <a:xfrm>
              <a:off x="7010400" y="1504950"/>
              <a:ext cx="9525" cy="3638550"/>
            </a:xfrm>
            <a:custGeom>
              <a:avLst/>
              <a:gdLst/>
              <a:ahLst/>
              <a:cxnLst/>
              <a:rect l="l" t="t" r="r" b="b"/>
              <a:pathLst>
                <a:path w="9525" h="3638550">
                  <a:moveTo>
                    <a:pt x="0" y="0"/>
                  </a:moveTo>
                  <a:lnTo>
                    <a:pt x="0" y="3638550"/>
                  </a:lnTo>
                </a:path>
              </a:pathLst>
            </a:custGeom>
            <a:noFill/>
            <a:ln w="9525">
              <a:solidFill>
                <a:srgbClr val="B8CBD3"/>
              </a:solidFill>
            </a:ln>
          </p:spPr>
        </p:sp>
      </p:grpSp>
      <p:grpSp>
        <p:nvGrpSpPr>
          <p:cNvPr id="52" name="scope-closing"/>
          <p:cNvGrpSpPr/>
          <p:nvPr/>
        </p:nvGrpSpPr>
        <p:grpSpPr>
          <a:xfrm>
            <a:off x="609600" y="5353050"/>
            <a:ext cx="10972800" cy="876300"/>
            <a:chOff x="609600" y="5353050"/>
            <a:chExt cx="10972800" cy="876300"/>
          </a:xfrm>
        </p:grpSpPr>
        <p:sp>
          <p:nvSpPr>
            <p:cNvPr id="48" name="Rectangle 48"/>
            <p:cNvSpPr/>
            <p:nvPr/>
          </p:nvSpPr>
          <p:spPr>
            <a:xfrm>
              <a:off x="609600" y="5353050"/>
              <a:ext cx="10972800" cy="876300"/>
            </a:xfrm>
            <a:prstGeom prst="roundRect">
              <a:avLst>
                <a:gd name="adj" fmla="val 8696"/>
              </a:avLst>
            </a:prstGeom>
            <a:solidFill>
              <a:srgbClr val="EAF4F6"/>
            </a:solidFill>
            <a:ln>
              <a:noFill/>
            </a:ln>
          </p:spPr>
        </p:sp>
        <p:sp>
          <p:nvSpPr>
            <p:cNvPr id="49" name="Rectangle 49"/>
            <p:cNvSpPr/>
            <p:nvPr/>
          </p:nvSpPr>
          <p:spPr>
            <a:xfrm>
              <a:off x="609600" y="5353050"/>
              <a:ext cx="57150" cy="876300"/>
            </a:xfrm>
            <a:prstGeom prst="rect">
              <a:avLst/>
            </a:prstGeom>
            <a:solidFill>
              <a:srgbClr val="00A6A6"/>
            </a:solidFill>
            <a:ln>
              <a:noFill/>
            </a:ln>
          </p:spPr>
        </p:sp>
        <p:sp>
          <p:nvSpPr>
            <p:cNvPr id="50" name="TextBox 50"/>
            <p:cNvSpPr txBox="1"/>
            <p:nvPr/>
          </p:nvSpPr>
          <p:spPr>
            <a:xfrm>
              <a:off x="907542" y="5493068"/>
              <a:ext cx="539148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bölümün ürünü: production mimarisinin öğretim iskeleti</a:t>
              </a:r>
            </a:p>
          </p:txBody>
        </p:sp>
        <p:sp>
          <p:nvSpPr>
            <p:cNvPr id="51" name="TextBox 51"/>
            <p:cNvSpPr txBox="1"/>
            <p:nvPr/>
          </p:nvSpPr>
          <p:spPr>
            <a:xfrm>
              <a:off x="908304" y="5756910"/>
              <a:ext cx="58033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Mimari kararlar, katman sınırları ve kalite ölçütleri gerçek ve savunulabilir;</a:t>
              </a:r>
              <a:br/>
              <a:r>
                <a:rPr lang="tr-TR" sz="1200" dirty="0">
                  <a:solidFill>
                    <a:srgbClr val="172B3A"/>
                  </a:solidFill>
                  <a:latin typeface="+mn-lt"/>
                  <a:ea typeface="+mn-ea"/>
                  <a:cs typeface="+mn-cs"/>
                </a:rPr>
                <a:t>işletim sağlamlığı bilinçli olarak kapsam dışıdır.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315337" cy="642557"/>
            <a:chOff x="609600" y="171450"/>
            <a:chExt cx="8315337" cy="642557"/>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301496" y="315278"/>
              <a:ext cx="7623441"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Gereksinimden API ve veri modeline türetme</a:t>
              </a:r>
            </a:p>
          </p:txBody>
        </p:sp>
      </p:grpSp>
      <p:grpSp>
        <p:nvGrpSpPr>
          <p:cNvPr id="16" name="req-quote"/>
          <p:cNvGrpSpPr/>
          <p:nvPr/>
        </p:nvGrpSpPr>
        <p:grpSpPr>
          <a:xfrm>
            <a:off x="609600" y="1104900"/>
            <a:ext cx="10972800" cy="716089"/>
            <a:chOff x="609600" y="1104900"/>
            <a:chExt cx="10972800" cy="716089"/>
          </a:xfrm>
        </p:grpSpPr>
        <p:sp>
          <p:nvSpPr>
            <p:cNvPr id="13" name="Rectangle 13"/>
            <p:cNvSpPr/>
            <p:nvPr/>
          </p:nvSpPr>
          <p:spPr>
            <a:xfrm>
              <a:off x="609600" y="1104900"/>
              <a:ext cx="10972800" cy="666750"/>
            </a:xfrm>
            <a:prstGeom prst="roundRect">
              <a:avLst>
                <a:gd name="adj" fmla="val 11429"/>
              </a:avLst>
            </a:prstGeom>
            <a:solidFill>
              <a:srgbClr val="12355B"/>
            </a:solidFill>
            <a:ln>
              <a:noFill/>
            </a:ln>
          </p:spPr>
        </p:sp>
        <p:sp>
          <p:nvSpPr>
            <p:cNvPr id="14" name="TextBox 14"/>
            <p:cNvSpPr txBox="1"/>
            <p:nvPr/>
          </p:nvSpPr>
          <p:spPr>
            <a:xfrm>
              <a:off x="906018" y="1250632"/>
              <a:ext cx="5737070" cy="322707"/>
            </a:xfrm>
            <a:prstGeom prst="rect">
              <a:avLst/>
            </a:prstGeom>
            <a:noFill/>
            <a:ln>
              <a:noFill/>
            </a:ln>
          </p:spPr>
          <p:txBody>
            <a:bodyPr wrap="none" lIns="0" tIns="0" rIns="0" bIns="0" anchor="t" anchorCtr="0">
              <a:spAutoFit/>
            </a:bodyPr>
            <a:lstStyle/>
            <a:p>
              <a:pPr algn="l"/>
              <a:r>
                <a:rPr lang="tr-TR" sz="1650" dirty="0">
                  <a:solidFill>
                    <a:srgbClr val="FFFFFF"/>
                  </a:solidFill>
                  <a:latin typeface="+mn-lt"/>
                  <a:ea typeface="+mn-ea"/>
                  <a:cs typeface="+mn-cs"/>
                </a:rPr>
                <a:t xml:space="preserve">"Öğrenciler bir </a:t>
              </a:r>
              <a:r>
                <a:rPr lang="tr-TR" sz="1650" b="1" dirty="0">
                  <a:solidFill>
                    <a:srgbClr val="00A6A6"/>
                  </a:solidFill>
                  <a:latin typeface="+mn-lt"/>
                  <a:ea typeface="+mn-ea"/>
                  <a:cs typeface="+mn-cs"/>
                </a:rPr>
                <a:t>ekipmanı</a:t>
              </a:r>
              <a:r>
                <a:rPr lang="tr-TR" sz="1650" dirty="0">
                  <a:solidFill>
                    <a:srgbClr val="FFFFFF"/>
                  </a:solidFill>
                  <a:latin typeface="+mn-lt"/>
                  <a:ea typeface="+mn-ea"/>
                  <a:cs typeface="+mn-cs"/>
                </a:rPr>
                <a:t xml:space="preserve"> belirli bir </a:t>
              </a:r>
              <a:r>
                <a:rPr lang="tr-TR" sz="1650" b="1" dirty="0">
                  <a:solidFill>
                    <a:srgbClr val="00A6A6"/>
                  </a:solidFill>
                  <a:latin typeface="+mn-lt"/>
                  <a:ea typeface="+mn-ea"/>
                  <a:cs typeface="+mn-cs"/>
                </a:rPr>
                <a:t>tarih aralığında</a:t>
              </a:r>
            </a:p>
          </p:txBody>
        </p:sp>
        <p:sp>
          <p:nvSpPr>
            <p:cNvPr id="15" name="TextBox 15"/>
            <p:cNvSpPr txBox="1"/>
            <p:nvPr/>
          </p:nvSpPr>
          <p:spPr>
            <a:xfrm>
              <a:off x="906018" y="1498282"/>
              <a:ext cx="2325177" cy="322707"/>
            </a:xfrm>
            <a:prstGeom prst="rect">
              <a:avLst/>
            </a:prstGeom>
            <a:noFill/>
            <a:ln>
              <a:noFill/>
            </a:ln>
          </p:spPr>
          <p:txBody>
            <a:bodyPr wrap="none" lIns="0" tIns="0" rIns="0" bIns="0" anchor="t" anchorCtr="0">
              <a:spAutoFit/>
            </a:bodyPr>
            <a:lstStyle/>
            <a:p>
              <a:pPr algn="l"/>
              <a:r>
                <a:rPr lang="tr-TR" sz="1650" b="1" dirty="0">
                  <a:solidFill>
                    <a:srgbClr val="2E86AB"/>
                  </a:solidFill>
                  <a:latin typeface="+mn-lt"/>
                  <a:ea typeface="+mn-ea"/>
                  <a:cs typeface="+mn-cs"/>
                </a:rPr>
                <a:t>rezerve edebilmeli</a:t>
              </a:r>
              <a:r>
                <a:rPr lang="tr-TR" sz="1650" dirty="0">
                  <a:solidFill>
                    <a:srgbClr val="FFFFFF"/>
                  </a:solidFill>
                  <a:latin typeface="+mn-lt"/>
                  <a:ea typeface="+mn-ea"/>
                  <a:cs typeface="+mn-cs"/>
                </a:rPr>
                <a:t>."</a:t>
              </a:r>
            </a:p>
          </p:txBody>
        </p:sp>
      </p:grpSp>
      <p:grpSp>
        <p:nvGrpSpPr>
          <p:cNvPr id="21" name="legend-row"/>
          <p:cNvGrpSpPr/>
          <p:nvPr/>
        </p:nvGrpSpPr>
        <p:grpSpPr>
          <a:xfrm>
            <a:off x="666750" y="1831181"/>
            <a:ext cx="3484932" cy="220028"/>
            <a:chOff x="666750" y="1831181"/>
            <a:chExt cx="3484932" cy="220028"/>
          </a:xfrm>
        </p:grpSpPr>
        <p:sp>
          <p:nvSpPr>
            <p:cNvPr id="17" name="Ellipse 17"/>
            <p:cNvSpPr/>
            <p:nvPr/>
          </p:nvSpPr>
          <p:spPr>
            <a:xfrm>
              <a:off x="666750" y="1847850"/>
              <a:ext cx="114300" cy="114300"/>
            </a:xfrm>
            <a:prstGeom prst="ellipse">
              <a:avLst/>
            </a:prstGeom>
            <a:solidFill>
              <a:srgbClr val="00A6A6"/>
            </a:solidFill>
            <a:ln>
              <a:noFill/>
            </a:ln>
          </p:spPr>
        </p:sp>
        <p:sp>
          <p:nvSpPr>
            <p:cNvPr id="18" name="TextBox 18"/>
            <p:cNvSpPr txBox="1"/>
            <p:nvPr/>
          </p:nvSpPr>
          <p:spPr>
            <a:xfrm>
              <a:off x="851535" y="1831181"/>
              <a:ext cx="168502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isim → veri modeli alanı</a:t>
              </a:r>
            </a:p>
          </p:txBody>
        </p:sp>
        <p:sp>
          <p:nvSpPr>
            <p:cNvPr id="19" name="Ellipse 19"/>
            <p:cNvSpPr/>
            <p:nvPr/>
          </p:nvSpPr>
          <p:spPr>
            <a:xfrm>
              <a:off x="2667000" y="1847850"/>
              <a:ext cx="114300" cy="114300"/>
            </a:xfrm>
            <a:prstGeom prst="ellipse">
              <a:avLst/>
            </a:prstGeom>
            <a:solidFill>
              <a:srgbClr val="2E86AB"/>
            </a:solidFill>
            <a:ln>
              <a:noFill/>
            </a:ln>
          </p:spPr>
        </p:sp>
        <p:sp>
          <p:nvSpPr>
            <p:cNvPr id="20" name="TextBox 20"/>
            <p:cNvSpPr txBox="1"/>
            <p:nvPr/>
          </p:nvSpPr>
          <p:spPr>
            <a:xfrm>
              <a:off x="2851785" y="1831181"/>
              <a:ext cx="129989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fiil → API endpoint</a:t>
              </a:r>
            </a:p>
          </p:txBody>
        </p:sp>
      </p:grpSp>
      <p:grpSp>
        <p:nvGrpSpPr>
          <p:cNvPr id="32" name="card-ekipman"/>
          <p:cNvGrpSpPr/>
          <p:nvPr/>
        </p:nvGrpSpPr>
        <p:grpSpPr>
          <a:xfrm>
            <a:off x="609600" y="2247900"/>
            <a:ext cx="3429000" cy="2857500"/>
            <a:chOff x="609600" y="2247900"/>
            <a:chExt cx="3429000" cy="2857500"/>
          </a:xfrm>
        </p:grpSpPr>
        <p:sp>
          <p:nvSpPr>
            <p:cNvPr id="22" name="Rectangle 22"/>
            <p:cNvSpPr/>
            <p:nvPr/>
          </p:nvSpPr>
          <p:spPr>
            <a:xfrm>
              <a:off x="609600" y="2247900"/>
              <a:ext cx="3429000" cy="2857500"/>
            </a:xfrm>
            <a:prstGeom prst="roundRect">
              <a:avLst>
                <a:gd name="adj" fmla="val 2667"/>
              </a:avLst>
            </a:prstGeom>
            <a:solidFill>
              <a:srgbClr val="FFFFFF"/>
            </a:solidFill>
            <a:ln w="14288">
              <a:solidFill>
                <a:srgbClr val="2E86AB"/>
              </a:solidFill>
            </a:ln>
          </p:spPr>
        </p:sp>
        <p:sp>
          <p:nvSpPr>
            <p:cNvPr id="23" name="Rectangle 23"/>
            <p:cNvSpPr/>
            <p:nvPr/>
          </p:nvSpPr>
          <p:spPr>
            <a:xfrm>
              <a:off x="609600" y="2247900"/>
              <a:ext cx="3429000" cy="381000"/>
            </a:xfrm>
            <a:prstGeom prst="roundRect">
              <a:avLst>
                <a:gd name="adj" fmla="val 20000"/>
              </a:avLst>
            </a:prstGeom>
            <a:solidFill>
              <a:srgbClr val="2E86AB"/>
            </a:solidFill>
            <a:ln>
              <a:noFill/>
            </a:ln>
          </p:spPr>
        </p:sp>
        <p:sp>
          <p:nvSpPr>
            <p:cNvPr id="24" name="Rectangle 24"/>
            <p:cNvSpPr/>
            <p:nvPr/>
          </p:nvSpPr>
          <p:spPr>
            <a:xfrm>
              <a:off x="609600" y="2438400"/>
              <a:ext cx="3429000" cy="190500"/>
            </a:xfrm>
            <a:prstGeom prst="rect">
              <a:avLst/>
            </a:prstGeom>
            <a:solidFill>
              <a:srgbClr val="2E86AB"/>
            </a:solidFill>
            <a:ln>
              <a:noFill/>
            </a:ln>
          </p:spPr>
        </p:sp>
        <p:sp>
          <p:nvSpPr>
            <p:cNvPr id="25" name="TextBox 25"/>
            <p:cNvSpPr txBox="1"/>
            <p:nvPr/>
          </p:nvSpPr>
          <p:spPr>
            <a:xfrm>
              <a:off x="831342" y="2349818"/>
              <a:ext cx="1698907"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interface Ekipman</a:t>
              </a:r>
            </a:p>
          </p:txBody>
        </p:sp>
        <p:sp>
          <p:nvSpPr>
            <p:cNvPr id="26" name="TextBox 26"/>
            <p:cNvSpPr txBox="1"/>
            <p:nvPr/>
          </p:nvSpPr>
          <p:spPr>
            <a:xfrm>
              <a:off x="832104" y="2804160"/>
              <a:ext cx="8522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id: number</a:t>
              </a:r>
            </a:p>
          </p:txBody>
        </p:sp>
        <p:sp>
          <p:nvSpPr>
            <p:cNvPr id="27" name="TextBox 27"/>
            <p:cNvSpPr txBox="1"/>
            <p:nvPr/>
          </p:nvSpPr>
          <p:spPr>
            <a:xfrm>
              <a:off x="832104" y="3070860"/>
              <a:ext cx="8199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 string</a:t>
              </a:r>
            </a:p>
          </p:txBody>
        </p:sp>
        <p:sp>
          <p:nvSpPr>
            <p:cNvPr id="28" name="TextBox 28"/>
            <p:cNvSpPr txBox="1"/>
            <p:nvPr/>
          </p:nvSpPr>
          <p:spPr>
            <a:xfrm>
              <a:off x="832104" y="3337560"/>
              <a:ext cx="19397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laboratuvarKodu: string</a:t>
              </a:r>
            </a:p>
          </p:txBody>
        </p:sp>
        <p:sp>
          <p:nvSpPr>
            <p:cNvPr id="29" name="TextBox 29"/>
            <p:cNvSpPr txBox="1"/>
            <p:nvPr/>
          </p:nvSpPr>
          <p:spPr>
            <a:xfrm>
              <a:off x="832104" y="3604260"/>
              <a:ext cx="15198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bakimdaMi: boolean</a:t>
              </a:r>
            </a:p>
          </p:txBody>
        </p:sp>
        <p:sp>
          <p:nvSpPr>
            <p:cNvPr id="30" name="TextBox 30"/>
            <p:cNvSpPr txBox="1"/>
            <p:nvPr/>
          </p:nvSpPr>
          <p:spPr>
            <a:xfrm>
              <a:off x="832866" y="3963352"/>
              <a:ext cx="196131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"ekipman" isminden türetilir</a:t>
              </a:r>
            </a:p>
          </p:txBody>
        </p:sp>
        <p:sp>
          <p:nvSpPr>
            <p:cNvPr id="31" name="TextBox 31"/>
            <p:cNvSpPr txBox="1"/>
            <p:nvPr/>
          </p:nvSpPr>
          <p:spPr>
            <a:xfrm>
              <a:off x="832866" y="4172902"/>
              <a:ext cx="203800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(bkz. Bölüm 3, tip tasarımı)</a:t>
              </a:r>
            </a:p>
          </p:txBody>
        </p:sp>
      </p:grpSp>
      <p:grpSp>
        <p:nvGrpSpPr>
          <p:cNvPr id="41" name="card-rezervasyon"/>
          <p:cNvGrpSpPr/>
          <p:nvPr/>
        </p:nvGrpSpPr>
        <p:grpSpPr>
          <a:xfrm>
            <a:off x="4381500" y="2247900"/>
            <a:ext cx="3429000" cy="2857500"/>
            <a:chOff x="4381500" y="2247900"/>
            <a:chExt cx="3429000" cy="2857500"/>
          </a:xfrm>
        </p:grpSpPr>
        <p:sp>
          <p:nvSpPr>
            <p:cNvPr id="33" name="Rectangle 33"/>
            <p:cNvSpPr/>
            <p:nvPr/>
          </p:nvSpPr>
          <p:spPr>
            <a:xfrm>
              <a:off x="4381500" y="2247900"/>
              <a:ext cx="3429000" cy="2857500"/>
            </a:xfrm>
            <a:prstGeom prst="roundRect">
              <a:avLst>
                <a:gd name="adj" fmla="val 2667"/>
              </a:avLst>
            </a:prstGeom>
            <a:solidFill>
              <a:srgbClr val="FFFFFF"/>
            </a:solidFill>
            <a:ln w="14288">
              <a:solidFill>
                <a:srgbClr val="2E86AB"/>
              </a:solidFill>
            </a:ln>
          </p:spPr>
        </p:sp>
        <p:sp>
          <p:nvSpPr>
            <p:cNvPr id="34" name="Rectangle 34"/>
            <p:cNvSpPr/>
            <p:nvPr/>
          </p:nvSpPr>
          <p:spPr>
            <a:xfrm>
              <a:off x="4381500" y="2247900"/>
              <a:ext cx="3429000" cy="381000"/>
            </a:xfrm>
            <a:prstGeom prst="roundRect">
              <a:avLst>
                <a:gd name="adj" fmla="val 20000"/>
              </a:avLst>
            </a:prstGeom>
            <a:solidFill>
              <a:srgbClr val="2E86AB"/>
            </a:solidFill>
            <a:ln>
              <a:noFill/>
            </a:ln>
          </p:spPr>
        </p:sp>
        <p:sp>
          <p:nvSpPr>
            <p:cNvPr id="35" name="TextBox 35"/>
            <p:cNvSpPr txBox="1"/>
            <p:nvPr/>
          </p:nvSpPr>
          <p:spPr>
            <a:xfrm>
              <a:off x="4603242" y="2349818"/>
              <a:ext cx="2128287"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interface Rezervasyon</a:t>
              </a:r>
            </a:p>
          </p:txBody>
        </p:sp>
        <p:sp>
          <p:nvSpPr>
            <p:cNvPr id="36" name="TextBox 36"/>
            <p:cNvSpPr txBox="1"/>
            <p:nvPr/>
          </p:nvSpPr>
          <p:spPr>
            <a:xfrm>
              <a:off x="4604004" y="2766060"/>
              <a:ext cx="26081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id, ekipmanId, ogrenciId: number</a:t>
              </a:r>
            </a:p>
          </p:txBody>
        </p:sp>
        <p:sp>
          <p:nvSpPr>
            <p:cNvPr id="37" name="TextBox 37"/>
            <p:cNvSpPr txBox="1"/>
            <p:nvPr/>
          </p:nvSpPr>
          <p:spPr>
            <a:xfrm>
              <a:off x="4604004" y="3032760"/>
              <a:ext cx="27705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baslangic, bitis: string (ISO 8601)</a:t>
              </a:r>
            </a:p>
          </p:txBody>
        </p:sp>
        <p:sp>
          <p:nvSpPr>
            <p:cNvPr id="38" name="TextBox 38"/>
            <p:cNvSpPr txBox="1"/>
            <p:nvPr/>
          </p:nvSpPr>
          <p:spPr>
            <a:xfrm>
              <a:off x="4604004" y="3299460"/>
              <a:ext cx="18790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durum: "aktif" | "iptal" |</a:t>
              </a:r>
              <a:br/>
              <a:r>
                <a:rPr lang="tr-TR" sz="1200" dirty="0">
                  <a:solidFill>
                    <a:srgbClr val="172B3A"/>
                  </a:solidFill>
                  <a:latin typeface="+mn-lt"/>
                  <a:ea typeface="+mn-ea"/>
                  <a:cs typeface="+mn-cs"/>
                </a:rPr>
                <a:t>"tamamlandi"</a:t>
              </a:r>
            </a:p>
          </p:txBody>
        </p:sp>
        <p:sp>
          <p:nvSpPr>
            <p:cNvPr id="39" name="TextBox 39"/>
            <p:cNvSpPr txBox="1"/>
            <p:nvPr/>
          </p:nvSpPr>
          <p:spPr>
            <a:xfrm>
              <a:off x="4604766" y="3963352"/>
              <a:ext cx="213093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union tip, "rezerve edebilmeli"</a:t>
              </a:r>
            </a:p>
          </p:txBody>
        </p:sp>
        <p:sp>
          <p:nvSpPr>
            <p:cNvPr id="40" name="TextBox 40"/>
            <p:cNvSpPr txBox="1"/>
            <p:nvPr/>
          </p:nvSpPr>
          <p:spPr>
            <a:xfrm>
              <a:off x="4604766" y="4172902"/>
              <a:ext cx="201078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fiilinin yaşam döngüsünü açar</a:t>
              </a:r>
            </a:p>
          </p:txBody>
        </p:sp>
      </p:grpSp>
      <p:grpSp>
        <p:nvGrpSpPr>
          <p:cNvPr id="50" name="card-endpoints"/>
          <p:cNvGrpSpPr/>
          <p:nvPr/>
        </p:nvGrpSpPr>
        <p:grpSpPr>
          <a:xfrm>
            <a:off x="8153400" y="2247900"/>
            <a:ext cx="3429000" cy="2857500"/>
            <a:chOff x="8153400" y="2247900"/>
            <a:chExt cx="3429000" cy="2857500"/>
          </a:xfrm>
        </p:grpSpPr>
        <p:sp>
          <p:nvSpPr>
            <p:cNvPr id="42" name="Rectangle 42"/>
            <p:cNvSpPr/>
            <p:nvPr/>
          </p:nvSpPr>
          <p:spPr>
            <a:xfrm>
              <a:off x="8153400" y="2247900"/>
              <a:ext cx="3429000" cy="2857500"/>
            </a:xfrm>
            <a:prstGeom prst="roundRect">
              <a:avLst>
                <a:gd name="adj" fmla="val 2667"/>
              </a:avLst>
            </a:prstGeom>
            <a:solidFill>
              <a:srgbClr val="EAF4F6"/>
            </a:solidFill>
            <a:ln w="14288">
              <a:solidFill>
                <a:srgbClr val="00A6A6"/>
              </a:solidFill>
            </a:ln>
          </p:spPr>
        </p:sp>
        <p:sp>
          <p:nvSpPr>
            <p:cNvPr id="43" name="Rectangle 43"/>
            <p:cNvSpPr/>
            <p:nvPr/>
          </p:nvSpPr>
          <p:spPr>
            <a:xfrm>
              <a:off x="8153400" y="2247900"/>
              <a:ext cx="3429000" cy="381000"/>
            </a:xfrm>
            <a:prstGeom prst="roundRect">
              <a:avLst>
                <a:gd name="adj" fmla="val 20000"/>
              </a:avLst>
            </a:prstGeom>
            <a:solidFill>
              <a:srgbClr val="00A6A6"/>
            </a:solidFill>
            <a:ln>
              <a:noFill/>
            </a:ln>
          </p:spPr>
        </p:sp>
        <p:sp>
          <p:nvSpPr>
            <p:cNvPr id="44" name="TextBox 44"/>
            <p:cNvSpPr txBox="1"/>
            <p:nvPr/>
          </p:nvSpPr>
          <p:spPr>
            <a:xfrm>
              <a:off x="8375142" y="2349818"/>
              <a:ext cx="2090015"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Türetilen endpoint'ler</a:t>
              </a:r>
            </a:p>
          </p:txBody>
        </p:sp>
        <p:sp>
          <p:nvSpPr>
            <p:cNvPr id="45" name="TextBox 45"/>
            <p:cNvSpPr txBox="1"/>
            <p:nvPr/>
          </p:nvSpPr>
          <p:spPr>
            <a:xfrm>
              <a:off x="8376285" y="2774156"/>
              <a:ext cx="156895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POST /ekipmanlar/:id/</a:t>
              </a:r>
              <a:br/>
              <a:r>
                <a:rPr lang="tr-TR" sz="1120" dirty="0">
                  <a:solidFill>
                    <a:srgbClr val="172B3A"/>
                  </a:solidFill>
                  <a:latin typeface="+mn-lt"/>
                  <a:ea typeface="+mn-ea"/>
                  <a:cs typeface="+mn-cs"/>
                </a:rPr>
                <a:t>rezervasyonlar</a:t>
              </a:r>
            </a:p>
          </p:txBody>
        </p:sp>
        <p:sp>
          <p:nvSpPr>
            <p:cNvPr id="46" name="TextBox 46"/>
            <p:cNvSpPr txBox="1"/>
            <p:nvPr/>
          </p:nvSpPr>
          <p:spPr>
            <a:xfrm>
              <a:off x="8376285" y="3231356"/>
              <a:ext cx="146227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GET /ekipmanlar/:id/</a:t>
              </a:r>
              <a:br/>
              <a:r>
                <a:rPr lang="tr-TR" sz="1120" dirty="0">
                  <a:solidFill>
                    <a:srgbClr val="172B3A"/>
                  </a:solidFill>
                  <a:latin typeface="+mn-lt"/>
                  <a:ea typeface="+mn-ea"/>
                  <a:cs typeface="+mn-cs"/>
                </a:rPr>
                <a:t>rezervasyonlar</a:t>
              </a:r>
            </a:p>
          </p:txBody>
        </p:sp>
        <p:sp>
          <p:nvSpPr>
            <p:cNvPr id="47" name="TextBox 47"/>
            <p:cNvSpPr txBox="1"/>
            <p:nvPr/>
          </p:nvSpPr>
          <p:spPr>
            <a:xfrm>
              <a:off x="8376285" y="3688556"/>
              <a:ext cx="208596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DELETE /rezervasyonlar/:id</a:t>
              </a:r>
            </a:p>
          </p:txBody>
        </p:sp>
        <p:sp>
          <p:nvSpPr>
            <p:cNvPr id="48" name="TextBox 48"/>
            <p:cNvSpPr txBox="1"/>
            <p:nvPr/>
          </p:nvSpPr>
          <p:spPr>
            <a:xfrm>
              <a:off x="8376666" y="4077652"/>
              <a:ext cx="255517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URL yapısı, rezervasyonun ekipmana</a:t>
              </a:r>
            </a:p>
          </p:txBody>
        </p:sp>
        <p:sp>
          <p:nvSpPr>
            <p:cNvPr id="49" name="TextBox 49"/>
            <p:cNvSpPr txBox="1"/>
            <p:nvPr/>
          </p:nvSpPr>
          <p:spPr>
            <a:xfrm>
              <a:off x="8376666" y="4249102"/>
              <a:ext cx="292249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iç içe (nested) kaynak olduğunu ifade eder</a:t>
              </a:r>
            </a:p>
          </p:txBody>
        </p:sp>
      </p:grpSp>
      <p:grpSp>
        <p:nvGrpSpPr>
          <p:cNvPr id="55" name="note-caution"/>
          <p:cNvGrpSpPr/>
          <p:nvPr/>
        </p:nvGrpSpPr>
        <p:grpSpPr>
          <a:xfrm>
            <a:off x="609600" y="5334000"/>
            <a:ext cx="10972800" cy="666750"/>
            <a:chOff x="609600" y="5334000"/>
            <a:chExt cx="10972800" cy="666750"/>
          </a:xfrm>
        </p:grpSpPr>
        <p:sp>
          <p:nvSpPr>
            <p:cNvPr id="51" name="Rectangle 51"/>
            <p:cNvSpPr/>
            <p:nvPr/>
          </p:nvSpPr>
          <p:spPr>
            <a:xfrm>
              <a:off x="609600" y="5334000"/>
              <a:ext cx="10972800" cy="666750"/>
            </a:xfrm>
            <a:prstGeom prst="roundRect">
              <a:avLst>
                <a:gd name="adj" fmla="val 11429"/>
              </a:avLst>
            </a:prstGeom>
            <a:solidFill>
              <a:srgbClr val="FFFFFF"/>
            </a:solidFill>
            <a:ln w="9525">
              <a:solidFill>
                <a:srgbClr val="B8CBD3"/>
              </a:solidFill>
            </a:ln>
          </p:spPr>
        </p:sp>
        <p:sp>
          <p:nvSpPr>
            <p:cNvPr id="52" name="Rectangle 52"/>
            <p:cNvSpPr/>
            <p:nvPr/>
          </p:nvSpPr>
          <p:spPr>
            <a:xfrm>
              <a:off x="609600" y="5334000"/>
              <a:ext cx="57150" cy="666750"/>
            </a:xfrm>
            <a:prstGeom prst="rect">
              <a:avLst/>
            </a:prstGeom>
            <a:solidFill>
              <a:srgbClr val="2E86AB"/>
            </a:solidFill>
            <a:ln>
              <a:noFill/>
            </a:ln>
          </p:spPr>
        </p:sp>
        <p:sp>
          <p:nvSpPr>
            <p:cNvPr id="53" name="TextBox 53"/>
            <p:cNvSpPr txBox="1"/>
            <p:nvPr/>
          </p:nvSpPr>
          <p:spPr>
            <a:xfrm>
              <a:off x="907923" y="5463064"/>
              <a:ext cx="132131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Dikkat noktası</a:t>
              </a:r>
            </a:p>
          </p:txBody>
        </p:sp>
        <p:sp>
          <p:nvSpPr>
            <p:cNvPr id="54" name="TextBox 54"/>
            <p:cNvSpPr txBox="1"/>
            <p:nvPr/>
          </p:nvSpPr>
          <p:spPr>
            <a:xfrm>
              <a:off x="908304" y="5699760"/>
              <a:ext cx="92416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model henüz hiçbir iş kuralı içermez; çakışan tarih aralığı kontrolü servis katmanına bir sonraki adımda eklenir.</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680174" cy="642557"/>
            <a:chOff x="609600" y="171450"/>
            <a:chExt cx="7680174" cy="642557"/>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301496" y="315278"/>
              <a:ext cx="6988278"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Veri modeli: yedi modüllü Prisma şeması</a:t>
              </a:r>
            </a:p>
          </p:txBody>
        </p:sp>
      </p:grpSp>
      <p:grpSp>
        <p:nvGrpSpPr>
          <p:cNvPr id="18" name="card-kullanici"/>
          <p:cNvGrpSpPr/>
          <p:nvPr/>
        </p:nvGrpSpPr>
        <p:grpSpPr>
          <a:xfrm>
            <a:off x="609600" y="1409700"/>
            <a:ext cx="2476500" cy="1145857"/>
            <a:chOff x="609600" y="1409700"/>
            <a:chExt cx="2476500" cy="1145857"/>
          </a:xfrm>
        </p:grpSpPr>
        <p:sp>
          <p:nvSpPr>
            <p:cNvPr id="12" name="Rectangle 12"/>
            <p:cNvSpPr/>
            <p:nvPr/>
          </p:nvSpPr>
          <p:spPr>
            <a:xfrm>
              <a:off x="609600" y="1409700"/>
              <a:ext cx="2476500" cy="1104900"/>
            </a:xfrm>
            <a:prstGeom prst="roundRect">
              <a:avLst>
                <a:gd name="adj" fmla="val 6897"/>
              </a:avLst>
            </a:prstGeom>
            <a:solidFill>
              <a:srgbClr val="FFFFFF"/>
            </a:solidFill>
            <a:ln w="14288">
              <a:solidFill>
                <a:srgbClr val="2E86AB"/>
              </a:solidFill>
            </a:ln>
          </p:spPr>
        </p:sp>
        <p:sp>
          <p:nvSpPr>
            <p:cNvPr id="13" name="Rectangle 13"/>
            <p:cNvSpPr/>
            <p:nvPr/>
          </p:nvSpPr>
          <p:spPr>
            <a:xfrm>
              <a:off x="609600" y="1409700"/>
              <a:ext cx="2476500" cy="323850"/>
            </a:xfrm>
            <a:prstGeom prst="roundRect">
              <a:avLst>
                <a:gd name="adj" fmla="val 23529"/>
              </a:avLst>
            </a:prstGeom>
            <a:solidFill>
              <a:srgbClr val="12355B"/>
            </a:solidFill>
            <a:ln>
              <a:noFill/>
            </a:ln>
          </p:spPr>
        </p:sp>
        <p:sp>
          <p:nvSpPr>
            <p:cNvPr id="14" name="TextBox 14"/>
            <p:cNvSpPr txBox="1"/>
            <p:nvPr/>
          </p:nvSpPr>
          <p:spPr>
            <a:xfrm>
              <a:off x="755904" y="1499235"/>
              <a:ext cx="68641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Kullanici</a:t>
              </a:r>
            </a:p>
          </p:txBody>
        </p:sp>
        <p:sp>
          <p:nvSpPr>
            <p:cNvPr id="15" name="TextBox 15"/>
            <p:cNvSpPr txBox="1"/>
            <p:nvPr/>
          </p:nvSpPr>
          <p:spPr>
            <a:xfrm>
              <a:off x="756666" y="1829752"/>
              <a:ext cx="150688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id, eposta, sifreHash</a:t>
              </a:r>
            </a:p>
          </p:txBody>
        </p:sp>
        <p:sp>
          <p:nvSpPr>
            <p:cNvPr id="16" name="TextBox 16"/>
            <p:cNvSpPr txBox="1"/>
            <p:nvPr/>
          </p:nvSpPr>
          <p:spPr>
            <a:xfrm>
              <a:off x="756666" y="2020252"/>
              <a:ext cx="137470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rol: enum (4 değer)</a:t>
              </a:r>
            </a:p>
          </p:txBody>
        </p:sp>
        <p:sp>
          <p:nvSpPr>
            <p:cNvPr id="17" name="TextBox 17"/>
            <p:cNvSpPr txBox="1"/>
            <p:nvPr/>
          </p:nvSpPr>
          <p:spPr>
            <a:xfrm>
              <a:off x="757238" y="2245995"/>
              <a:ext cx="1232535" cy="309562"/>
            </a:xfrm>
            <a:prstGeom prst="rect">
              <a:avLst/>
            </a:prstGeom>
            <a:noFill/>
            <a:ln>
              <a:noFill/>
            </a:ln>
          </p:spPr>
          <p:txBody>
            <a:bodyPr wrap="none" lIns="0" tIns="0" rIns="0" bIns="0" anchor="t" anchorCtr="0">
              <a:spAutoFit/>
            </a:bodyPr>
            <a:lstStyle/>
            <a:p>
              <a:pPr algn="l">
                <a:lnSpc>
                  <a:spcPts val="1050"/>
                </a:lnSpc>
              </a:pPr>
              <a:r>
                <a:rPr lang="tr-TR" sz="900" dirty="0">
                  <a:solidFill>
                    <a:srgbClr val="52616B"/>
                  </a:solidFill>
                  <a:latin typeface="+mn-lt"/>
                  <a:ea typeface="+mn-ea"/>
                  <a:cs typeface="+mn-cs"/>
                </a:rPr>
                <a:t>öğrenci/akademisyen/</a:t>
              </a:r>
              <a:br/>
              <a:r>
                <a:rPr lang="tr-TR" sz="900" dirty="0">
                  <a:solidFill>
                    <a:srgbClr val="52616B"/>
                  </a:solidFill>
                  <a:latin typeface="+mn-lt"/>
                  <a:ea typeface="+mn-ea"/>
                  <a:cs typeface="+mn-cs"/>
                </a:rPr>
                <a:t>görevli/yönetici</a:t>
              </a:r>
            </a:p>
          </p:txBody>
        </p:sp>
      </p:grpSp>
      <p:grpSp>
        <p:nvGrpSpPr>
          <p:cNvPr id="25" name="card-laboratuvar"/>
          <p:cNvGrpSpPr/>
          <p:nvPr/>
        </p:nvGrpSpPr>
        <p:grpSpPr>
          <a:xfrm>
            <a:off x="3276600" y="1409700"/>
            <a:ext cx="2476500" cy="1104900"/>
            <a:chOff x="3276600" y="1409700"/>
            <a:chExt cx="2476500" cy="1104900"/>
          </a:xfrm>
        </p:grpSpPr>
        <p:sp>
          <p:nvSpPr>
            <p:cNvPr id="19" name="Rectangle 19"/>
            <p:cNvSpPr/>
            <p:nvPr/>
          </p:nvSpPr>
          <p:spPr>
            <a:xfrm>
              <a:off x="3276600" y="1409700"/>
              <a:ext cx="2476500" cy="1104900"/>
            </a:xfrm>
            <a:prstGeom prst="roundRect">
              <a:avLst>
                <a:gd name="adj" fmla="val 6897"/>
              </a:avLst>
            </a:prstGeom>
            <a:solidFill>
              <a:srgbClr val="FFFFFF"/>
            </a:solidFill>
            <a:ln w="14288">
              <a:solidFill>
                <a:srgbClr val="2E86AB"/>
              </a:solidFill>
            </a:ln>
          </p:spPr>
        </p:sp>
        <p:sp>
          <p:nvSpPr>
            <p:cNvPr id="20" name="Rectangle 20"/>
            <p:cNvSpPr/>
            <p:nvPr/>
          </p:nvSpPr>
          <p:spPr>
            <a:xfrm>
              <a:off x="3276600" y="1409700"/>
              <a:ext cx="2476500" cy="323850"/>
            </a:xfrm>
            <a:prstGeom prst="roundRect">
              <a:avLst>
                <a:gd name="adj" fmla="val 23529"/>
              </a:avLst>
            </a:prstGeom>
            <a:solidFill>
              <a:srgbClr val="12355B"/>
            </a:solidFill>
            <a:ln>
              <a:noFill/>
            </a:ln>
          </p:spPr>
        </p:sp>
        <p:sp>
          <p:nvSpPr>
            <p:cNvPr id="21" name="TextBox 21"/>
            <p:cNvSpPr txBox="1"/>
            <p:nvPr/>
          </p:nvSpPr>
          <p:spPr>
            <a:xfrm>
              <a:off x="3422904" y="1499235"/>
              <a:ext cx="104368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Laboratuvar</a:t>
              </a:r>
            </a:p>
          </p:txBody>
        </p:sp>
        <p:sp>
          <p:nvSpPr>
            <p:cNvPr id="22" name="TextBox 22"/>
            <p:cNvSpPr txBox="1"/>
            <p:nvPr/>
          </p:nvSpPr>
          <p:spPr>
            <a:xfrm>
              <a:off x="3423666" y="1829752"/>
              <a:ext cx="188898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id, kod (ör. LAB-BBM-101)</a:t>
              </a:r>
            </a:p>
          </p:txBody>
        </p:sp>
        <p:sp>
          <p:nvSpPr>
            <p:cNvPr id="23" name="TextBox 23"/>
            <p:cNvSpPr txBox="1"/>
            <p:nvPr/>
          </p:nvSpPr>
          <p:spPr>
            <a:xfrm>
              <a:off x="3423666" y="2020252"/>
              <a:ext cx="141004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ad, konum, kapasite</a:t>
              </a:r>
            </a:p>
          </p:txBody>
        </p:sp>
        <p:sp>
          <p:nvSpPr>
            <p:cNvPr id="24" name="TextBox 24"/>
            <p:cNvSpPr txBox="1"/>
            <p:nvPr/>
          </p:nvSpPr>
          <p:spPr>
            <a:xfrm>
              <a:off x="3424047" y="2256949"/>
              <a:ext cx="206138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ekipman ve sensörlerin ev sahibi</a:t>
              </a:r>
            </a:p>
          </p:txBody>
        </p:sp>
      </p:grpSp>
      <p:grpSp>
        <p:nvGrpSpPr>
          <p:cNvPr id="32" name="card-ekipman"/>
          <p:cNvGrpSpPr/>
          <p:nvPr/>
        </p:nvGrpSpPr>
        <p:grpSpPr>
          <a:xfrm>
            <a:off x="5943600" y="1409700"/>
            <a:ext cx="2476500" cy="1104900"/>
            <a:chOff x="5943600" y="1409700"/>
            <a:chExt cx="2476500" cy="1104900"/>
          </a:xfrm>
        </p:grpSpPr>
        <p:sp>
          <p:nvSpPr>
            <p:cNvPr id="26" name="Rectangle 26"/>
            <p:cNvSpPr/>
            <p:nvPr/>
          </p:nvSpPr>
          <p:spPr>
            <a:xfrm>
              <a:off x="5943600" y="1409700"/>
              <a:ext cx="2476500" cy="1104900"/>
            </a:xfrm>
            <a:prstGeom prst="roundRect">
              <a:avLst>
                <a:gd name="adj" fmla="val 6897"/>
              </a:avLst>
            </a:prstGeom>
            <a:solidFill>
              <a:srgbClr val="FFFFFF"/>
            </a:solidFill>
            <a:ln w="19050">
              <a:solidFill>
                <a:srgbClr val="00A6A6"/>
              </a:solidFill>
            </a:ln>
          </p:spPr>
        </p:sp>
        <p:sp>
          <p:nvSpPr>
            <p:cNvPr id="27" name="Rectangle 27"/>
            <p:cNvSpPr/>
            <p:nvPr/>
          </p:nvSpPr>
          <p:spPr>
            <a:xfrm>
              <a:off x="5943600" y="1409700"/>
              <a:ext cx="2476500" cy="323850"/>
            </a:xfrm>
            <a:prstGeom prst="roundRect">
              <a:avLst>
                <a:gd name="adj" fmla="val 23529"/>
              </a:avLst>
            </a:prstGeom>
            <a:solidFill>
              <a:srgbClr val="00A6A6"/>
            </a:solidFill>
            <a:ln>
              <a:noFill/>
            </a:ln>
          </p:spPr>
        </p:sp>
        <p:sp>
          <p:nvSpPr>
            <p:cNvPr id="28" name="TextBox 28"/>
            <p:cNvSpPr txBox="1"/>
            <p:nvPr/>
          </p:nvSpPr>
          <p:spPr>
            <a:xfrm>
              <a:off x="6089904" y="1499235"/>
              <a:ext cx="66196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Ekipman</a:t>
              </a:r>
            </a:p>
          </p:txBody>
        </p:sp>
        <p:sp>
          <p:nvSpPr>
            <p:cNvPr id="29" name="TextBox 29"/>
            <p:cNvSpPr txBox="1"/>
            <p:nvPr/>
          </p:nvSpPr>
          <p:spPr>
            <a:xfrm>
              <a:off x="6090666" y="1829752"/>
              <a:ext cx="131635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id, seriNo (unique)</a:t>
              </a:r>
            </a:p>
          </p:txBody>
        </p:sp>
        <p:sp>
          <p:nvSpPr>
            <p:cNvPr id="30" name="TextBox 30"/>
            <p:cNvSpPr txBox="1"/>
            <p:nvPr/>
          </p:nvSpPr>
          <p:spPr>
            <a:xfrm>
              <a:off x="6090666" y="2020252"/>
              <a:ext cx="159379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durum: enum (4 değer)</a:t>
              </a:r>
            </a:p>
          </p:txBody>
        </p:sp>
        <p:sp>
          <p:nvSpPr>
            <p:cNvPr id="31" name="TextBox 31"/>
            <p:cNvSpPr txBox="1"/>
            <p:nvPr/>
          </p:nvSpPr>
          <p:spPr>
            <a:xfrm>
              <a:off x="6091047" y="2256949"/>
              <a:ext cx="1845722"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laboratuvarId → Laboratuvar</a:t>
              </a:r>
            </a:p>
          </p:txBody>
        </p:sp>
      </p:grpSp>
      <p:grpSp>
        <p:nvGrpSpPr>
          <p:cNvPr id="39" name="card-rezervasyon"/>
          <p:cNvGrpSpPr/>
          <p:nvPr/>
        </p:nvGrpSpPr>
        <p:grpSpPr>
          <a:xfrm>
            <a:off x="8610600" y="1409700"/>
            <a:ext cx="2476500" cy="1133190"/>
            <a:chOff x="8610600" y="1409700"/>
            <a:chExt cx="2476500" cy="1133190"/>
          </a:xfrm>
        </p:grpSpPr>
        <p:sp>
          <p:nvSpPr>
            <p:cNvPr id="33" name="Rectangle 33"/>
            <p:cNvSpPr/>
            <p:nvPr/>
          </p:nvSpPr>
          <p:spPr>
            <a:xfrm>
              <a:off x="8610600" y="1409700"/>
              <a:ext cx="2476500" cy="1104900"/>
            </a:xfrm>
            <a:prstGeom prst="roundRect">
              <a:avLst>
                <a:gd name="adj" fmla="val 6897"/>
              </a:avLst>
            </a:prstGeom>
            <a:solidFill>
              <a:srgbClr val="FFFFFF"/>
            </a:solidFill>
            <a:ln w="19050">
              <a:solidFill>
                <a:srgbClr val="00A6A6"/>
              </a:solidFill>
            </a:ln>
          </p:spPr>
        </p:sp>
        <p:sp>
          <p:nvSpPr>
            <p:cNvPr id="34" name="Rectangle 34"/>
            <p:cNvSpPr/>
            <p:nvPr/>
          </p:nvSpPr>
          <p:spPr>
            <a:xfrm>
              <a:off x="8610600" y="1409700"/>
              <a:ext cx="2476500" cy="323850"/>
            </a:xfrm>
            <a:prstGeom prst="roundRect">
              <a:avLst>
                <a:gd name="adj" fmla="val 23529"/>
              </a:avLst>
            </a:prstGeom>
            <a:solidFill>
              <a:srgbClr val="00A6A6"/>
            </a:solidFill>
            <a:ln>
              <a:noFill/>
            </a:ln>
          </p:spPr>
        </p:sp>
        <p:sp>
          <p:nvSpPr>
            <p:cNvPr id="35" name="TextBox 35"/>
            <p:cNvSpPr txBox="1"/>
            <p:nvPr/>
          </p:nvSpPr>
          <p:spPr>
            <a:xfrm>
              <a:off x="8756904" y="1499235"/>
              <a:ext cx="104368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Rezervasyon</a:t>
              </a:r>
            </a:p>
          </p:txBody>
        </p:sp>
        <p:sp>
          <p:nvSpPr>
            <p:cNvPr id="36" name="TextBox 36"/>
            <p:cNvSpPr txBox="1"/>
            <p:nvPr/>
          </p:nvSpPr>
          <p:spPr>
            <a:xfrm>
              <a:off x="8757666" y="1829752"/>
              <a:ext cx="14748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ekipmanId, kullaniciId</a:t>
              </a:r>
            </a:p>
          </p:txBody>
        </p:sp>
        <p:sp>
          <p:nvSpPr>
            <p:cNvPr id="37" name="TextBox 37"/>
            <p:cNvSpPr txBox="1"/>
            <p:nvPr/>
          </p:nvSpPr>
          <p:spPr>
            <a:xfrm>
              <a:off x="8757666" y="2020252"/>
              <a:ext cx="161500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baslangic, bitis, durum</a:t>
              </a:r>
            </a:p>
          </p:txBody>
        </p:sp>
        <p:sp>
          <p:nvSpPr>
            <p:cNvPr id="38" name="TextBox 38"/>
            <p:cNvSpPr txBox="1"/>
            <p:nvPr/>
          </p:nvSpPr>
          <p:spPr>
            <a:xfrm>
              <a:off x="8758047" y="2199799"/>
              <a:ext cx="1242060"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52616B"/>
                  </a:solidFill>
                  <a:latin typeface="+mn-lt"/>
                  <a:ea typeface="+mn-ea"/>
                  <a:cs typeface="+mn-cs"/>
                </a:rPr>
                <a:t>@@index([ekipmanId,</a:t>
              </a:r>
              <a:br/>
              <a:r>
                <a:rPr lang="tr-TR" sz="980" dirty="0">
                  <a:solidFill>
                    <a:srgbClr val="52616B"/>
                  </a:solidFill>
                  <a:latin typeface="+mn-lt"/>
                  <a:ea typeface="+mn-ea"/>
                  <a:cs typeface="+mn-cs"/>
                </a:rPr>
                <a:t>baslangic, bitis])</a:t>
              </a:r>
            </a:p>
          </p:txBody>
        </p:sp>
      </p:grpSp>
      <p:grpSp>
        <p:nvGrpSpPr>
          <p:cNvPr id="46" name="card-bakim"/>
          <p:cNvGrpSpPr/>
          <p:nvPr/>
        </p:nvGrpSpPr>
        <p:grpSpPr>
          <a:xfrm>
            <a:off x="1943100" y="2857500"/>
            <a:ext cx="2476500" cy="1104900"/>
            <a:chOff x="1943100" y="2857500"/>
            <a:chExt cx="2476500" cy="1104900"/>
          </a:xfrm>
        </p:grpSpPr>
        <p:sp>
          <p:nvSpPr>
            <p:cNvPr id="40" name="Rectangle 40"/>
            <p:cNvSpPr/>
            <p:nvPr/>
          </p:nvSpPr>
          <p:spPr>
            <a:xfrm>
              <a:off x="1943100" y="2857500"/>
              <a:ext cx="2476500" cy="1104900"/>
            </a:xfrm>
            <a:prstGeom prst="roundRect">
              <a:avLst>
                <a:gd name="adj" fmla="val 6897"/>
              </a:avLst>
            </a:prstGeom>
            <a:solidFill>
              <a:srgbClr val="FFFFFF"/>
            </a:solidFill>
            <a:ln w="14288">
              <a:solidFill>
                <a:srgbClr val="2E86AB"/>
              </a:solidFill>
            </a:ln>
          </p:spPr>
        </p:sp>
        <p:sp>
          <p:nvSpPr>
            <p:cNvPr id="41" name="Rectangle 41"/>
            <p:cNvSpPr/>
            <p:nvPr/>
          </p:nvSpPr>
          <p:spPr>
            <a:xfrm>
              <a:off x="1943100" y="2857500"/>
              <a:ext cx="2476500" cy="323850"/>
            </a:xfrm>
            <a:prstGeom prst="roundRect">
              <a:avLst>
                <a:gd name="adj" fmla="val 23529"/>
              </a:avLst>
            </a:prstGeom>
            <a:solidFill>
              <a:srgbClr val="12355B"/>
            </a:solidFill>
            <a:ln>
              <a:noFill/>
            </a:ln>
          </p:spPr>
        </p:sp>
        <p:sp>
          <p:nvSpPr>
            <p:cNvPr id="42" name="TextBox 42"/>
            <p:cNvSpPr txBox="1"/>
            <p:nvPr/>
          </p:nvSpPr>
          <p:spPr>
            <a:xfrm>
              <a:off x="2089404" y="2947035"/>
              <a:ext cx="90420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BakimKaydi</a:t>
              </a:r>
            </a:p>
          </p:txBody>
        </p:sp>
        <p:sp>
          <p:nvSpPr>
            <p:cNvPr id="43" name="TextBox 43"/>
            <p:cNvSpPr txBox="1"/>
            <p:nvPr/>
          </p:nvSpPr>
          <p:spPr>
            <a:xfrm>
              <a:off x="2090166" y="3277552"/>
              <a:ext cx="139039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ekipmanId, gorevliId</a:t>
              </a:r>
            </a:p>
          </p:txBody>
        </p:sp>
        <p:sp>
          <p:nvSpPr>
            <p:cNvPr id="44" name="TextBox 44"/>
            <p:cNvSpPr txBox="1"/>
            <p:nvPr/>
          </p:nvSpPr>
          <p:spPr>
            <a:xfrm>
              <a:off x="2090166" y="3468052"/>
              <a:ext cx="224869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aciklama, maliyet, tamamlandiMi</a:t>
              </a:r>
            </a:p>
          </p:txBody>
        </p:sp>
        <p:sp>
          <p:nvSpPr>
            <p:cNvPr id="45" name="TextBox 45"/>
            <p:cNvSpPr txBox="1"/>
            <p:nvPr/>
          </p:nvSpPr>
          <p:spPr>
            <a:xfrm>
              <a:off x="2090547" y="3704749"/>
              <a:ext cx="186560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gorevli → Kullanici (Restrict)</a:t>
              </a:r>
            </a:p>
          </p:txBody>
        </p:sp>
      </p:grpSp>
      <p:grpSp>
        <p:nvGrpSpPr>
          <p:cNvPr id="53" name="card-sensor"/>
          <p:cNvGrpSpPr/>
          <p:nvPr/>
        </p:nvGrpSpPr>
        <p:grpSpPr>
          <a:xfrm>
            <a:off x="4610100" y="2857500"/>
            <a:ext cx="2476500" cy="1104900"/>
            <a:chOff x="4610100" y="2857500"/>
            <a:chExt cx="2476500" cy="1104900"/>
          </a:xfrm>
        </p:grpSpPr>
        <p:sp>
          <p:nvSpPr>
            <p:cNvPr id="47" name="Rectangle 47"/>
            <p:cNvSpPr/>
            <p:nvPr/>
          </p:nvSpPr>
          <p:spPr>
            <a:xfrm>
              <a:off x="4610100" y="2857500"/>
              <a:ext cx="2476500" cy="1104900"/>
            </a:xfrm>
            <a:prstGeom prst="roundRect">
              <a:avLst>
                <a:gd name="adj" fmla="val 6897"/>
              </a:avLst>
            </a:prstGeom>
            <a:solidFill>
              <a:srgbClr val="FFFFFF"/>
            </a:solidFill>
            <a:ln w="14288">
              <a:solidFill>
                <a:srgbClr val="2E86AB"/>
              </a:solidFill>
            </a:ln>
          </p:spPr>
        </p:sp>
        <p:sp>
          <p:nvSpPr>
            <p:cNvPr id="48" name="Rectangle 48"/>
            <p:cNvSpPr/>
            <p:nvPr/>
          </p:nvSpPr>
          <p:spPr>
            <a:xfrm>
              <a:off x="4610100" y="2857500"/>
              <a:ext cx="2476500" cy="323850"/>
            </a:xfrm>
            <a:prstGeom prst="roundRect">
              <a:avLst>
                <a:gd name="adj" fmla="val 23529"/>
              </a:avLst>
            </a:prstGeom>
            <a:solidFill>
              <a:srgbClr val="12355B"/>
            </a:solidFill>
            <a:ln>
              <a:noFill/>
            </a:ln>
          </p:spPr>
        </p:sp>
        <p:sp>
          <p:nvSpPr>
            <p:cNvPr id="49" name="TextBox 49"/>
            <p:cNvSpPr txBox="1"/>
            <p:nvPr/>
          </p:nvSpPr>
          <p:spPr>
            <a:xfrm>
              <a:off x="4756404" y="2947035"/>
              <a:ext cx="577223"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Sensor</a:t>
              </a:r>
            </a:p>
          </p:txBody>
        </p:sp>
        <p:sp>
          <p:nvSpPr>
            <p:cNvPr id="50" name="TextBox 50"/>
            <p:cNvSpPr txBox="1"/>
            <p:nvPr/>
          </p:nvSpPr>
          <p:spPr>
            <a:xfrm>
              <a:off x="4757166" y="3277552"/>
              <a:ext cx="162713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cihazUuid (unique), tur</a:t>
              </a:r>
            </a:p>
          </p:txBody>
        </p:sp>
        <p:sp>
          <p:nvSpPr>
            <p:cNvPr id="51" name="TextBox 51"/>
            <p:cNvSpPr txBox="1"/>
            <p:nvPr/>
          </p:nvSpPr>
          <p:spPr>
            <a:xfrm>
              <a:off x="4757166" y="3468052"/>
              <a:ext cx="197761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laboratuvarId → Laboratuvar</a:t>
              </a:r>
            </a:p>
          </p:txBody>
        </p:sp>
        <p:sp>
          <p:nvSpPr>
            <p:cNvPr id="52" name="TextBox 52"/>
            <p:cNvSpPr txBox="1"/>
            <p:nvPr/>
          </p:nvSpPr>
          <p:spPr>
            <a:xfrm>
              <a:off x="4757547" y="3704749"/>
              <a:ext cx="1696588"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SICAKLIK / NEM / DOLULUK</a:t>
              </a:r>
            </a:p>
          </p:txBody>
        </p:sp>
      </p:grpSp>
      <p:grpSp>
        <p:nvGrpSpPr>
          <p:cNvPr id="60" name="card-telemetri"/>
          <p:cNvGrpSpPr/>
          <p:nvPr/>
        </p:nvGrpSpPr>
        <p:grpSpPr>
          <a:xfrm>
            <a:off x="7277100" y="2857500"/>
            <a:ext cx="2476500" cy="1114140"/>
            <a:chOff x="7277100" y="2857500"/>
            <a:chExt cx="2476500" cy="1114140"/>
          </a:xfrm>
        </p:grpSpPr>
        <p:sp>
          <p:nvSpPr>
            <p:cNvPr id="54" name="Rectangle 54"/>
            <p:cNvSpPr/>
            <p:nvPr/>
          </p:nvSpPr>
          <p:spPr>
            <a:xfrm>
              <a:off x="7277100" y="2857500"/>
              <a:ext cx="2476500" cy="1104900"/>
            </a:xfrm>
            <a:prstGeom prst="roundRect">
              <a:avLst>
                <a:gd name="adj" fmla="val 6897"/>
              </a:avLst>
            </a:prstGeom>
            <a:solidFill>
              <a:srgbClr val="EAF4F6"/>
            </a:solidFill>
            <a:ln w="14288">
              <a:solidFill>
                <a:srgbClr val="00A6A6"/>
              </a:solidFill>
            </a:ln>
          </p:spPr>
        </p:sp>
        <p:sp>
          <p:nvSpPr>
            <p:cNvPr id="55" name="Rectangle 55"/>
            <p:cNvSpPr/>
            <p:nvPr/>
          </p:nvSpPr>
          <p:spPr>
            <a:xfrm>
              <a:off x="7277100" y="2857500"/>
              <a:ext cx="2476500" cy="323850"/>
            </a:xfrm>
            <a:prstGeom prst="roundRect">
              <a:avLst>
                <a:gd name="adj" fmla="val 23529"/>
              </a:avLst>
            </a:prstGeom>
            <a:solidFill>
              <a:srgbClr val="00A6A6"/>
            </a:solidFill>
            <a:ln>
              <a:noFill/>
            </a:ln>
          </p:spPr>
        </p:sp>
        <p:sp>
          <p:nvSpPr>
            <p:cNvPr id="56" name="TextBox 56"/>
            <p:cNvSpPr txBox="1"/>
            <p:nvPr/>
          </p:nvSpPr>
          <p:spPr>
            <a:xfrm>
              <a:off x="7423404" y="2947035"/>
              <a:ext cx="1370858"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SensorTelemetri</a:t>
              </a:r>
            </a:p>
          </p:txBody>
        </p:sp>
        <p:sp>
          <p:nvSpPr>
            <p:cNvPr id="57" name="TextBox 57"/>
            <p:cNvSpPr txBox="1"/>
            <p:nvPr/>
          </p:nvSpPr>
          <p:spPr>
            <a:xfrm>
              <a:off x="7424166" y="3277552"/>
              <a:ext cx="163220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id: BigInt, deger, birim</a:t>
              </a:r>
            </a:p>
          </p:txBody>
        </p:sp>
        <p:sp>
          <p:nvSpPr>
            <p:cNvPr id="58" name="TextBox 58"/>
            <p:cNvSpPr txBox="1"/>
            <p:nvPr/>
          </p:nvSpPr>
          <p:spPr>
            <a:xfrm>
              <a:off x="7424166" y="3468052"/>
              <a:ext cx="142917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zaman: Timestamptz</a:t>
              </a:r>
            </a:p>
          </p:txBody>
        </p:sp>
        <p:sp>
          <p:nvSpPr>
            <p:cNvPr id="59" name="TextBox 59"/>
            <p:cNvSpPr txBox="1"/>
            <p:nvPr/>
          </p:nvSpPr>
          <p:spPr>
            <a:xfrm>
              <a:off x="7424547" y="3628549"/>
              <a:ext cx="1266952"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52616B"/>
                  </a:solidFill>
                  <a:latin typeface="+mn-lt"/>
                  <a:ea typeface="+mn-ea"/>
                  <a:cs typeface="+mn-cs"/>
                </a:rPr>
                <a:t>@@index([sensorId,</a:t>
              </a:r>
              <a:br/>
              <a:r>
                <a:rPr lang="tr-TR" sz="980" dirty="0">
                  <a:solidFill>
                    <a:srgbClr val="52616B"/>
                  </a:solidFill>
                  <a:latin typeface="+mn-lt"/>
                  <a:ea typeface="+mn-ea"/>
                  <a:cs typeface="+mn-cs"/>
                </a:rPr>
                <a:t>zaman(sort:Desc)])</a:t>
              </a:r>
            </a:p>
          </p:txBody>
        </p:sp>
      </p:grpSp>
      <p:grpSp>
        <p:nvGrpSpPr>
          <p:cNvPr id="63" name="rel-arrows"/>
          <p:cNvGrpSpPr/>
          <p:nvPr/>
        </p:nvGrpSpPr>
        <p:grpSpPr>
          <a:xfrm>
            <a:off x="4324350" y="2057400"/>
            <a:ext cx="2667001" cy="762000"/>
            <a:chOff x="4324350" y="2057400"/>
            <a:chExt cx="2667001" cy="762000"/>
          </a:xfrm>
        </p:grpSpPr>
        <p:sp>
          <p:nvSpPr>
            <p:cNvPr id="61" name="Line 61"/>
            <p:cNvSpPr/>
            <p:nvPr/>
          </p:nvSpPr>
          <p:spPr>
            <a:xfrm>
              <a:off x="4324350" y="2057400"/>
              <a:ext cx="1524000" cy="1"/>
            </a:xfrm>
            <a:prstGeom prst="line">
              <a:avLst/>
            </a:prstGeom>
            <a:noFill/>
            <a:ln w="19050">
              <a:solidFill>
                <a:srgbClr val="00A6A6"/>
              </a:solidFill>
              <a:tailEnd type="arrow" w="lg" len="lg"/>
            </a:ln>
          </p:spPr>
        </p:sp>
        <p:sp>
          <p:nvSpPr>
            <p:cNvPr id="62" name="Line 62"/>
            <p:cNvSpPr/>
            <p:nvPr/>
          </p:nvSpPr>
          <p:spPr>
            <a:xfrm>
              <a:off x="6991350" y="2514600"/>
              <a:ext cx="1" cy="304800"/>
            </a:xfrm>
            <a:prstGeom prst="line">
              <a:avLst/>
            </a:prstGeom>
            <a:noFill/>
            <a:ln w="14288">
              <a:solidFill>
                <a:srgbClr val="00A6A6"/>
              </a:solidFill>
              <a:custDash>
                <a:ds d="333333" sp="266667"/>
              </a:custDash>
              <a:tailEnd type="arrow" w="lg" len="lg"/>
            </a:ln>
          </p:spPr>
        </p:sp>
      </p:grpSp>
      <p:grpSp>
        <p:nvGrpSpPr>
          <p:cNvPr id="68" name="index-note"/>
          <p:cNvGrpSpPr/>
          <p:nvPr/>
        </p:nvGrpSpPr>
        <p:grpSpPr>
          <a:xfrm>
            <a:off x="609600" y="4210050"/>
            <a:ext cx="10972800" cy="914400"/>
            <a:chOff x="609600" y="4210050"/>
            <a:chExt cx="10972800" cy="914400"/>
          </a:xfrm>
        </p:grpSpPr>
        <p:sp>
          <p:nvSpPr>
            <p:cNvPr id="64" name="Rectangle 64"/>
            <p:cNvSpPr/>
            <p:nvPr/>
          </p:nvSpPr>
          <p:spPr>
            <a:xfrm>
              <a:off x="609600" y="4210050"/>
              <a:ext cx="10972800" cy="914400"/>
            </a:xfrm>
            <a:prstGeom prst="roundRect">
              <a:avLst>
                <a:gd name="adj" fmla="val 8333"/>
              </a:avLst>
            </a:prstGeom>
            <a:solidFill>
              <a:srgbClr val="FFFFFF"/>
            </a:solidFill>
            <a:ln w="9525">
              <a:solidFill>
                <a:srgbClr val="B8CBD3"/>
              </a:solidFill>
            </a:ln>
          </p:spPr>
        </p:sp>
        <p:sp>
          <p:nvSpPr>
            <p:cNvPr id="65" name="Rectangle 65"/>
            <p:cNvSpPr/>
            <p:nvPr/>
          </p:nvSpPr>
          <p:spPr>
            <a:xfrm>
              <a:off x="609600" y="4210050"/>
              <a:ext cx="57150" cy="914400"/>
            </a:xfrm>
            <a:prstGeom prst="rect">
              <a:avLst/>
            </a:prstGeom>
            <a:solidFill>
              <a:srgbClr val="2E86AB"/>
            </a:solidFill>
            <a:ln>
              <a:noFill/>
            </a:ln>
          </p:spPr>
        </p:sp>
        <p:sp>
          <p:nvSpPr>
            <p:cNvPr id="66" name="TextBox 66"/>
            <p:cNvSpPr txBox="1"/>
            <p:nvPr/>
          </p:nvSpPr>
          <p:spPr>
            <a:xfrm>
              <a:off x="907923" y="4358164"/>
              <a:ext cx="335700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"Tarih aralığı" ayrı bir tablo değildir</a:t>
              </a:r>
            </a:p>
          </p:txBody>
        </p:sp>
        <p:sp>
          <p:nvSpPr>
            <p:cNvPr id="67" name="TextBox 67"/>
            <p:cNvSpPr txBox="1"/>
            <p:nvPr/>
          </p:nvSpPr>
          <p:spPr>
            <a:xfrm>
              <a:off x="908685" y="4602956"/>
              <a:ext cx="799820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rezervasyonlar tablosundaki baslangic/bitis alanlarıdır; çakışma kuralı bu iki alan üzerinde tanımlanır.</a:t>
              </a:r>
              <a:br/>
              <a:r>
                <a:rPr lang="tr-TR" sz="1120" dirty="0">
                  <a:solidFill>
                    <a:srgbClr val="172B3A"/>
                  </a:solidFill>
                  <a:latin typeface="+mn-lt"/>
                  <a:ea typeface="+mn-ea"/>
                  <a:cs typeface="+mn-cs"/>
                </a:rPr>
                <a:t>EXCLUDE kısıtı olmadan (ekipman_id, baslangic, bitis) dizini yalnızca sorguyu hızlandırır, çakışmayı engellemez.</a:t>
              </a:r>
            </a:p>
          </p:txBody>
        </p:sp>
      </p:grpSp>
      <p:sp>
        <p:nvSpPr>
          <p:cNvPr id="69" name="TextBox 6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849068" cy="642557"/>
            <a:chOff x="609600" y="171450"/>
            <a:chExt cx="9849068" cy="642557"/>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301496" y="315278"/>
              <a:ext cx="9157172"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Katmanlı mimari: iş kuralı servis katmanında yaşar</a:t>
              </a:r>
            </a:p>
          </p:txBody>
        </p:sp>
      </p:grpSp>
      <p:grpSp>
        <p:nvGrpSpPr>
          <p:cNvPr id="17" name="layer-arrows"/>
          <p:cNvGrpSpPr/>
          <p:nvPr/>
        </p:nvGrpSpPr>
        <p:grpSpPr>
          <a:xfrm>
            <a:off x="1428750" y="1943100"/>
            <a:ext cx="3695700" cy="2190750"/>
            <a:chOff x="1428750" y="1943100"/>
            <a:chExt cx="3695700" cy="2190750"/>
          </a:xfrm>
        </p:grpSpPr>
        <p:sp>
          <p:nvSpPr>
            <p:cNvPr id="13" name="Line 13"/>
            <p:cNvSpPr/>
            <p:nvPr/>
          </p:nvSpPr>
          <p:spPr>
            <a:xfrm>
              <a:off x="3276600" y="1943100"/>
              <a:ext cx="1" cy="171450"/>
            </a:xfrm>
            <a:prstGeom prst="line">
              <a:avLst/>
            </a:prstGeom>
            <a:noFill/>
            <a:ln w="19050">
              <a:solidFill>
                <a:srgbClr val="52616B"/>
              </a:solidFill>
              <a:tailEnd type="arrow" w="lg" len="lg"/>
            </a:ln>
          </p:spPr>
        </p:sp>
        <p:sp>
          <p:nvSpPr>
            <p:cNvPr id="14" name="Line 14"/>
            <p:cNvSpPr/>
            <p:nvPr/>
          </p:nvSpPr>
          <p:spPr>
            <a:xfrm>
              <a:off x="3276600" y="3086100"/>
              <a:ext cx="1" cy="171450"/>
            </a:xfrm>
            <a:prstGeom prst="line">
              <a:avLst/>
            </a:prstGeom>
            <a:noFill/>
            <a:ln w="19050">
              <a:solidFill>
                <a:srgbClr val="52616B"/>
              </a:solidFill>
              <a:tailEnd type="arrow" w="lg" len="lg"/>
            </a:ln>
          </p:spPr>
        </p:sp>
        <p:sp>
          <p:nvSpPr>
            <p:cNvPr id="15" name="Line 15"/>
            <p:cNvSpPr/>
            <p:nvPr/>
          </p:nvSpPr>
          <p:spPr>
            <a:xfrm flipH="1">
              <a:off x="1428750" y="3848100"/>
              <a:ext cx="666750" cy="285750"/>
            </a:xfrm>
            <a:prstGeom prst="line">
              <a:avLst/>
            </a:prstGeom>
            <a:noFill/>
            <a:ln w="19050">
              <a:solidFill>
                <a:srgbClr val="52616B"/>
              </a:solidFill>
              <a:tailEnd type="arrow" w="lg" len="lg"/>
            </a:ln>
          </p:spPr>
        </p:sp>
        <p:sp>
          <p:nvSpPr>
            <p:cNvPr id="16" name="Line 16"/>
            <p:cNvSpPr/>
            <p:nvPr/>
          </p:nvSpPr>
          <p:spPr>
            <a:xfrm>
              <a:off x="4457700" y="3848100"/>
              <a:ext cx="666750" cy="285750"/>
            </a:xfrm>
            <a:prstGeom prst="line">
              <a:avLst/>
            </a:prstGeom>
            <a:noFill/>
            <a:ln w="19050">
              <a:solidFill>
                <a:srgbClr val="52616B"/>
              </a:solidFill>
              <a:tailEnd type="arrow" w="lg" len="lg"/>
            </a:ln>
          </p:spPr>
        </p:sp>
      </p:grpSp>
      <p:grpSp>
        <p:nvGrpSpPr>
          <p:cNvPr id="21" name="layer-controller"/>
          <p:cNvGrpSpPr/>
          <p:nvPr/>
        </p:nvGrpSpPr>
        <p:grpSpPr>
          <a:xfrm>
            <a:off x="609600" y="1257300"/>
            <a:ext cx="5334000" cy="666750"/>
            <a:chOff x="609600" y="1257300"/>
            <a:chExt cx="5334000" cy="666750"/>
          </a:xfrm>
        </p:grpSpPr>
        <p:sp>
          <p:nvSpPr>
            <p:cNvPr id="18" name="Rectangle 18"/>
            <p:cNvSpPr/>
            <p:nvPr/>
          </p:nvSpPr>
          <p:spPr>
            <a:xfrm>
              <a:off x="609600" y="1257300"/>
              <a:ext cx="5334000" cy="666750"/>
            </a:xfrm>
            <a:prstGeom prst="roundRect">
              <a:avLst>
                <a:gd name="adj" fmla="val 11429"/>
              </a:avLst>
            </a:prstGeom>
            <a:solidFill>
              <a:srgbClr val="FFFFFF"/>
            </a:solidFill>
            <a:ln w="14288">
              <a:solidFill>
                <a:srgbClr val="2E86AB"/>
              </a:solidFill>
            </a:ln>
          </p:spPr>
        </p:sp>
        <p:sp>
          <p:nvSpPr>
            <p:cNvPr id="19" name="TextBox 19"/>
            <p:cNvSpPr txBox="1"/>
            <p:nvPr/>
          </p:nvSpPr>
          <p:spPr>
            <a:xfrm>
              <a:off x="831342" y="1397318"/>
              <a:ext cx="213368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RezervasyonController</a:t>
              </a:r>
            </a:p>
          </p:txBody>
        </p:sp>
        <p:sp>
          <p:nvSpPr>
            <p:cNvPr id="20" name="TextBox 20"/>
            <p:cNvSpPr txBox="1"/>
            <p:nvPr/>
          </p:nvSpPr>
          <p:spPr>
            <a:xfrm>
              <a:off x="832866" y="1658302"/>
              <a:ext cx="239616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HTTP isteğini alır, servisi çağırır</a:t>
              </a:r>
            </a:p>
          </p:txBody>
        </p:sp>
      </p:grpSp>
      <p:grpSp>
        <p:nvGrpSpPr>
          <p:cNvPr id="26" name="layer-service"/>
          <p:cNvGrpSpPr/>
          <p:nvPr/>
        </p:nvGrpSpPr>
        <p:grpSpPr>
          <a:xfrm>
            <a:off x="609600" y="2114550"/>
            <a:ext cx="5334000" cy="952500"/>
            <a:chOff x="609600" y="2114550"/>
            <a:chExt cx="5334000" cy="952500"/>
          </a:xfrm>
        </p:grpSpPr>
        <p:sp>
          <p:nvSpPr>
            <p:cNvPr id="22" name="Rectangle 22"/>
            <p:cNvSpPr/>
            <p:nvPr/>
          </p:nvSpPr>
          <p:spPr>
            <a:xfrm>
              <a:off x="609600" y="2114550"/>
              <a:ext cx="5334000" cy="952500"/>
            </a:xfrm>
            <a:prstGeom prst="roundRect">
              <a:avLst>
                <a:gd name="adj" fmla="val 8000"/>
              </a:avLst>
            </a:prstGeom>
            <a:solidFill>
              <a:srgbClr val="12355B"/>
            </a:solidFill>
            <a:ln w="19050">
              <a:solidFill>
                <a:srgbClr val="00A6A6"/>
              </a:solidFill>
            </a:ln>
          </p:spPr>
        </p:sp>
        <p:sp>
          <p:nvSpPr>
            <p:cNvPr id="23" name="TextBox 23"/>
            <p:cNvSpPr txBox="1"/>
            <p:nvPr/>
          </p:nvSpPr>
          <p:spPr>
            <a:xfrm>
              <a:off x="831342" y="2273618"/>
              <a:ext cx="3748370"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rezervasyonOlustur() — Servis katmanı</a:t>
              </a:r>
            </a:p>
          </p:txBody>
        </p:sp>
        <p:sp>
          <p:nvSpPr>
            <p:cNvPr id="24" name="TextBox 24"/>
            <p:cNvSpPr txBox="1"/>
            <p:nvPr/>
          </p:nvSpPr>
          <p:spPr>
            <a:xfrm>
              <a:off x="832866" y="2553652"/>
              <a:ext cx="342327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tarihAraliklariCakisiyorMu() ile çakışma denetimi</a:t>
              </a:r>
            </a:p>
          </p:txBody>
        </p:sp>
        <p:sp>
          <p:nvSpPr>
            <p:cNvPr id="25" name="TextBox 25"/>
            <p:cNvSpPr txBox="1"/>
            <p:nvPr/>
          </p:nvSpPr>
          <p:spPr>
            <a:xfrm>
              <a:off x="832866" y="2763202"/>
              <a:ext cx="2775376"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İş kuralı burada yaşar (bkz. Bölüm 9)</a:t>
              </a:r>
            </a:p>
          </p:txBody>
        </p:sp>
      </p:grpSp>
      <p:grpSp>
        <p:nvGrpSpPr>
          <p:cNvPr id="30" name="layer-repo-interface"/>
          <p:cNvGrpSpPr/>
          <p:nvPr/>
        </p:nvGrpSpPr>
        <p:grpSpPr>
          <a:xfrm>
            <a:off x="609600" y="3257550"/>
            <a:ext cx="5334000" cy="590550"/>
            <a:chOff x="609600" y="3257550"/>
            <a:chExt cx="5334000" cy="590550"/>
          </a:xfrm>
        </p:grpSpPr>
        <p:sp>
          <p:nvSpPr>
            <p:cNvPr id="27" name="Rectangle 27"/>
            <p:cNvSpPr/>
            <p:nvPr/>
          </p:nvSpPr>
          <p:spPr>
            <a:xfrm>
              <a:off x="609600" y="3257550"/>
              <a:ext cx="5334000" cy="590550"/>
            </a:xfrm>
            <a:prstGeom prst="roundRect">
              <a:avLst>
                <a:gd name="adj" fmla="val 12903"/>
              </a:avLst>
            </a:prstGeom>
            <a:solidFill>
              <a:srgbClr val="FFFFFF"/>
            </a:solidFill>
            <a:ln w="14288">
              <a:solidFill>
                <a:srgbClr val="2E86AB"/>
              </a:solidFill>
            </a:ln>
          </p:spPr>
        </p:sp>
        <p:sp>
          <p:nvSpPr>
            <p:cNvPr id="28" name="TextBox 28"/>
            <p:cNvSpPr txBox="1"/>
            <p:nvPr/>
          </p:nvSpPr>
          <p:spPr>
            <a:xfrm>
              <a:off x="831723" y="3367564"/>
              <a:ext cx="291996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RezervasyonRepository (arayüz)</a:t>
              </a:r>
            </a:p>
          </p:txBody>
        </p:sp>
        <p:sp>
          <p:nvSpPr>
            <p:cNvPr id="29" name="TextBox 29"/>
            <p:cNvSpPr txBox="1"/>
            <p:nvPr/>
          </p:nvSpPr>
          <p:spPr>
            <a:xfrm>
              <a:off x="832866" y="3601402"/>
              <a:ext cx="303422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ekipmaninAktifRezervasyonlariniBul, kaydet</a:t>
              </a:r>
            </a:p>
          </p:txBody>
        </p:sp>
      </p:grpSp>
      <p:grpSp>
        <p:nvGrpSpPr>
          <p:cNvPr id="35" name="layer-repo-prod"/>
          <p:cNvGrpSpPr/>
          <p:nvPr/>
        </p:nvGrpSpPr>
        <p:grpSpPr>
          <a:xfrm>
            <a:off x="609600" y="4133850"/>
            <a:ext cx="2476500" cy="857250"/>
            <a:chOff x="609600" y="4133850"/>
            <a:chExt cx="2476500" cy="857250"/>
          </a:xfrm>
        </p:grpSpPr>
        <p:sp>
          <p:nvSpPr>
            <p:cNvPr id="31" name="Rectangle 31"/>
            <p:cNvSpPr/>
            <p:nvPr/>
          </p:nvSpPr>
          <p:spPr>
            <a:xfrm>
              <a:off x="609600" y="4133850"/>
              <a:ext cx="2476500" cy="857250"/>
            </a:xfrm>
            <a:prstGeom prst="roundRect">
              <a:avLst>
                <a:gd name="adj" fmla="val 8889"/>
              </a:avLst>
            </a:prstGeom>
            <a:solidFill>
              <a:srgbClr val="FFFFFF"/>
            </a:solidFill>
            <a:ln w="14288">
              <a:solidFill>
                <a:srgbClr val="B8CBD3"/>
              </a:solidFill>
            </a:ln>
          </p:spPr>
        </p:sp>
        <p:sp>
          <p:nvSpPr>
            <p:cNvPr id="32" name="TextBox 32"/>
            <p:cNvSpPr txBox="1"/>
            <p:nvPr/>
          </p:nvSpPr>
          <p:spPr>
            <a:xfrm>
              <a:off x="832485" y="4279106"/>
              <a:ext cx="140951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Prisma repository</a:t>
              </a:r>
            </a:p>
          </p:txBody>
        </p:sp>
        <p:sp>
          <p:nvSpPr>
            <p:cNvPr id="33" name="TextBox 33"/>
            <p:cNvSpPr txBox="1"/>
            <p:nvPr/>
          </p:nvSpPr>
          <p:spPr>
            <a:xfrm>
              <a:off x="832866" y="4496752"/>
              <a:ext cx="176342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gerçek üretim veritabanı</a:t>
              </a:r>
            </a:p>
          </p:txBody>
        </p:sp>
        <p:sp>
          <p:nvSpPr>
            <p:cNvPr id="34" name="TextBox 34"/>
            <p:cNvSpPr txBox="1"/>
            <p:nvPr/>
          </p:nvSpPr>
          <p:spPr>
            <a:xfrm>
              <a:off x="832866" y="4687252"/>
              <a:ext cx="67539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(Bölüm 8)</a:t>
              </a:r>
            </a:p>
          </p:txBody>
        </p:sp>
      </p:grpSp>
      <p:grpSp>
        <p:nvGrpSpPr>
          <p:cNvPr id="40" name="layer-repo-test"/>
          <p:cNvGrpSpPr/>
          <p:nvPr/>
        </p:nvGrpSpPr>
        <p:grpSpPr>
          <a:xfrm>
            <a:off x="3467100" y="4133850"/>
            <a:ext cx="2476500" cy="857250"/>
            <a:chOff x="3467100" y="4133850"/>
            <a:chExt cx="2476500" cy="857250"/>
          </a:xfrm>
        </p:grpSpPr>
        <p:sp>
          <p:nvSpPr>
            <p:cNvPr id="36" name="Rectangle 36"/>
            <p:cNvSpPr/>
            <p:nvPr/>
          </p:nvSpPr>
          <p:spPr>
            <a:xfrm>
              <a:off x="3467100" y="4133850"/>
              <a:ext cx="2476500" cy="857250"/>
            </a:xfrm>
            <a:prstGeom prst="roundRect">
              <a:avLst>
                <a:gd name="adj" fmla="val 8889"/>
              </a:avLst>
            </a:prstGeom>
            <a:solidFill>
              <a:srgbClr val="EAF4F6"/>
            </a:solidFill>
            <a:ln w="14288">
              <a:solidFill>
                <a:srgbClr val="00A6A6"/>
              </a:solidFill>
            </a:ln>
          </p:spPr>
        </p:sp>
        <p:sp>
          <p:nvSpPr>
            <p:cNvPr id="37" name="TextBox 37"/>
            <p:cNvSpPr txBox="1"/>
            <p:nvPr/>
          </p:nvSpPr>
          <p:spPr>
            <a:xfrm>
              <a:off x="3690747" y="4257199"/>
              <a:ext cx="1388612" cy="343091"/>
            </a:xfrm>
            <a:prstGeom prst="rect">
              <a:avLst/>
            </a:prstGeom>
            <a:noFill/>
            <a:ln>
              <a:noFill/>
            </a:ln>
          </p:spPr>
          <p:txBody>
            <a:bodyPr wrap="none" lIns="0" tIns="0" rIns="0" bIns="0" anchor="t" anchorCtr="0">
              <a:spAutoFit/>
            </a:bodyPr>
            <a:lstStyle/>
            <a:p>
              <a:pPr algn="l">
                <a:lnSpc>
                  <a:spcPts val="1200"/>
                </a:lnSpc>
              </a:pPr>
              <a:r>
                <a:rPr lang="tr-TR" sz="980" b="1" dirty="0">
                  <a:solidFill>
                    <a:srgbClr val="12355B"/>
                  </a:solidFill>
                  <a:latin typeface="+mn-lt"/>
                  <a:ea typeface="+mn-ea"/>
                  <a:cs typeface="+mn-cs"/>
                </a:rPr>
                <a:t>BellekIciRezervasyon-</a:t>
              </a:r>
              <a:br/>
              <a:r>
                <a:rPr lang="tr-TR" sz="980" b="1" dirty="0">
                  <a:solidFill>
                    <a:srgbClr val="12355B"/>
                  </a:solidFill>
                  <a:latin typeface="+mn-lt"/>
                  <a:ea typeface="+mn-ea"/>
                  <a:cs typeface="+mn-cs"/>
                </a:rPr>
                <a:t>Repository</a:t>
              </a:r>
            </a:p>
          </p:txBody>
        </p:sp>
        <p:sp>
          <p:nvSpPr>
            <p:cNvPr id="38" name="TextBox 38"/>
            <p:cNvSpPr txBox="1"/>
            <p:nvPr/>
          </p:nvSpPr>
          <p:spPr>
            <a:xfrm>
              <a:off x="3690747" y="4600099"/>
              <a:ext cx="1500688"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test için bellek içi liste</a:t>
              </a:r>
            </a:p>
          </p:txBody>
        </p:sp>
        <p:sp>
          <p:nvSpPr>
            <p:cNvPr id="39" name="TextBox 39"/>
            <p:cNvSpPr txBox="1"/>
            <p:nvPr/>
          </p:nvSpPr>
          <p:spPr>
            <a:xfrm>
              <a:off x="3690747" y="4771549"/>
              <a:ext cx="154604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(Bölüm 13, test double)</a:t>
              </a:r>
            </a:p>
          </p:txBody>
        </p:sp>
      </p:grpSp>
      <p:grpSp>
        <p:nvGrpSpPr>
          <p:cNvPr id="55" name="rule-card"/>
          <p:cNvGrpSpPr/>
          <p:nvPr/>
        </p:nvGrpSpPr>
        <p:grpSpPr>
          <a:xfrm>
            <a:off x="6286500" y="1257300"/>
            <a:ext cx="5257800" cy="3733800"/>
            <a:chOff x="6286500" y="1257300"/>
            <a:chExt cx="5257800" cy="3733800"/>
          </a:xfrm>
        </p:grpSpPr>
        <p:sp>
          <p:nvSpPr>
            <p:cNvPr id="41" name="Rectangle 41"/>
            <p:cNvSpPr/>
            <p:nvPr/>
          </p:nvSpPr>
          <p:spPr>
            <a:xfrm>
              <a:off x="6286500" y="1257300"/>
              <a:ext cx="5257800" cy="3733800"/>
            </a:xfrm>
            <a:prstGeom prst="roundRect">
              <a:avLst>
                <a:gd name="adj" fmla="val 2041"/>
              </a:avLst>
            </a:prstGeom>
            <a:solidFill>
              <a:srgbClr val="FFFFFF"/>
            </a:solidFill>
            <a:ln w="9525">
              <a:solidFill>
                <a:srgbClr val="B8CBD3"/>
              </a:solidFill>
            </a:ln>
          </p:spPr>
        </p:sp>
        <p:sp>
          <p:nvSpPr>
            <p:cNvPr id="42" name="Rectangle 42"/>
            <p:cNvSpPr/>
            <p:nvPr/>
          </p:nvSpPr>
          <p:spPr>
            <a:xfrm>
              <a:off x="6286500" y="1257300"/>
              <a:ext cx="5257800" cy="381000"/>
            </a:xfrm>
            <a:prstGeom prst="roundRect">
              <a:avLst>
                <a:gd name="adj" fmla="val 20000"/>
              </a:avLst>
            </a:prstGeom>
            <a:solidFill>
              <a:srgbClr val="2E86AB"/>
            </a:solidFill>
            <a:ln>
              <a:noFill/>
            </a:ln>
          </p:spPr>
        </p:sp>
        <p:sp>
          <p:nvSpPr>
            <p:cNvPr id="43" name="TextBox 43"/>
            <p:cNvSpPr txBox="1"/>
            <p:nvPr/>
          </p:nvSpPr>
          <p:spPr>
            <a:xfrm>
              <a:off x="6508623" y="1367314"/>
              <a:ext cx="2597034"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Çakışma kuralının çalışması</a:t>
              </a:r>
            </a:p>
          </p:txBody>
        </p:sp>
        <p:sp>
          <p:nvSpPr>
            <p:cNvPr id="44" name="TextBox 44"/>
            <p:cNvSpPr txBox="1"/>
            <p:nvPr/>
          </p:nvSpPr>
          <p:spPr>
            <a:xfrm>
              <a:off x="6509385" y="1821656"/>
              <a:ext cx="307661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 xml:space="preserve">1. baslangic ≥ bitis ise → </a:t>
              </a:r>
              <a:r>
                <a:rPr lang="tr-TR" sz="1120" b="1" dirty="0">
                  <a:solidFill>
                    <a:srgbClr val="12355B"/>
                  </a:solidFill>
                  <a:latin typeface="+mn-lt"/>
                  <a:ea typeface="+mn-ea"/>
                  <a:cs typeface="+mn-cs"/>
                </a:rPr>
                <a:t>400 Bad Request</a:t>
              </a:r>
            </a:p>
          </p:txBody>
        </p:sp>
        <p:sp>
          <p:nvSpPr>
            <p:cNvPr id="45" name="TextBox 45"/>
            <p:cNvSpPr txBox="1"/>
            <p:nvPr/>
          </p:nvSpPr>
          <p:spPr>
            <a:xfrm>
              <a:off x="6509385" y="2107406"/>
              <a:ext cx="318281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 Ekipmanın aktif rezervasyonları aranır</a:t>
              </a:r>
            </a:p>
          </p:txBody>
        </p:sp>
        <p:sp>
          <p:nvSpPr>
            <p:cNvPr id="46" name="TextBox 46"/>
            <p:cNvSpPr txBox="1"/>
            <p:nvPr/>
          </p:nvSpPr>
          <p:spPr>
            <a:xfrm>
              <a:off x="6509385" y="2393156"/>
              <a:ext cx="35910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 tarihAraliklariCakisiyorMu ile karşılaştırılır</a:t>
              </a:r>
            </a:p>
          </p:txBody>
        </p:sp>
        <p:sp>
          <p:nvSpPr>
            <p:cNvPr id="47" name="TextBox 47"/>
            <p:cNvSpPr txBox="1"/>
            <p:nvPr/>
          </p:nvSpPr>
          <p:spPr>
            <a:xfrm>
              <a:off x="6509385" y="2678906"/>
              <a:ext cx="240595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 xml:space="preserve">4. Çakışma varsa → </a:t>
              </a:r>
              <a:r>
                <a:rPr lang="tr-TR" sz="1120" b="1" dirty="0">
                  <a:solidFill>
                    <a:srgbClr val="12355B"/>
                  </a:solidFill>
                  <a:latin typeface="+mn-lt"/>
                  <a:ea typeface="+mn-ea"/>
                  <a:cs typeface="+mn-cs"/>
                </a:rPr>
                <a:t>409 Conflict</a:t>
              </a:r>
            </a:p>
          </p:txBody>
        </p:sp>
        <p:sp>
          <p:nvSpPr>
            <p:cNvPr id="48" name="TextBox 48"/>
            <p:cNvSpPr txBox="1"/>
            <p:nvPr/>
          </p:nvSpPr>
          <p:spPr>
            <a:xfrm>
              <a:off x="6509385" y="2964656"/>
              <a:ext cx="37557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5. Aksi halde rezervasyon "aktif" olarak kaydedilir</a:t>
              </a:r>
            </a:p>
          </p:txBody>
        </p:sp>
        <p:sp>
          <p:nvSpPr>
            <p:cNvPr id="49" name="Rectangle 49"/>
            <p:cNvSpPr/>
            <p:nvPr/>
          </p:nvSpPr>
          <p:spPr>
            <a:xfrm>
              <a:off x="6515100" y="3352800"/>
              <a:ext cx="4800600" cy="1333500"/>
            </a:xfrm>
            <a:prstGeom prst="roundRect">
              <a:avLst>
                <a:gd name="adj" fmla="val 4286"/>
              </a:avLst>
            </a:prstGeom>
            <a:solidFill>
              <a:srgbClr val="EAF4F6"/>
            </a:solidFill>
            <a:ln>
              <a:noFill/>
            </a:ln>
          </p:spPr>
        </p:sp>
        <p:sp>
          <p:nvSpPr>
            <p:cNvPr id="50" name="TextBox 50"/>
            <p:cNvSpPr txBox="1"/>
            <p:nvPr/>
          </p:nvSpPr>
          <p:spPr>
            <a:xfrm>
              <a:off x="6700266" y="3487102"/>
              <a:ext cx="876368"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Örnek çıktı</a:t>
              </a:r>
            </a:p>
          </p:txBody>
        </p:sp>
        <p:sp>
          <p:nvSpPr>
            <p:cNvPr id="51" name="TextBox 51"/>
            <p:cNvSpPr txBox="1"/>
            <p:nvPr/>
          </p:nvSpPr>
          <p:spPr>
            <a:xfrm>
              <a:off x="6700266" y="3715702"/>
              <a:ext cx="36404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aktif</a:t>
              </a:r>
            </a:p>
          </p:txBody>
        </p:sp>
        <p:sp>
          <p:nvSpPr>
            <p:cNvPr id="52" name="TextBox 52"/>
            <p:cNvSpPr txBox="1"/>
            <p:nvPr/>
          </p:nvSpPr>
          <p:spPr>
            <a:xfrm>
              <a:off x="6700266" y="3944302"/>
              <a:ext cx="193822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409 Bu ekipman seçilen tarih</a:t>
              </a:r>
            </a:p>
          </p:txBody>
        </p:sp>
        <p:sp>
          <p:nvSpPr>
            <p:cNvPr id="53" name="TextBox 53"/>
            <p:cNvSpPr txBox="1"/>
            <p:nvPr/>
          </p:nvSpPr>
          <p:spPr>
            <a:xfrm>
              <a:off x="6700266" y="4153852"/>
              <a:ext cx="235709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aralığında zaten rezerve edilmiş.</a:t>
              </a:r>
            </a:p>
          </p:txBody>
        </p:sp>
        <p:sp>
          <p:nvSpPr>
            <p:cNvPr id="54" name="TextBox 54"/>
            <p:cNvSpPr txBox="1"/>
            <p:nvPr/>
          </p:nvSpPr>
          <p:spPr>
            <a:xfrm>
              <a:off x="6700647" y="4409599"/>
              <a:ext cx="213400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AppError(409, mesaj) — Bölüm 11</a:t>
              </a:r>
            </a:p>
          </p:txBody>
        </p:sp>
      </p:grpSp>
      <p:grpSp>
        <p:nvGrpSpPr>
          <p:cNvPr id="60" name="note-caution"/>
          <p:cNvGrpSpPr/>
          <p:nvPr/>
        </p:nvGrpSpPr>
        <p:grpSpPr>
          <a:xfrm>
            <a:off x="609600" y="5200650"/>
            <a:ext cx="10972800" cy="803434"/>
            <a:chOff x="609600" y="5200650"/>
            <a:chExt cx="10972800" cy="803434"/>
          </a:xfrm>
        </p:grpSpPr>
        <p:sp>
          <p:nvSpPr>
            <p:cNvPr id="56" name="Rectangle 56"/>
            <p:cNvSpPr/>
            <p:nvPr/>
          </p:nvSpPr>
          <p:spPr>
            <a:xfrm>
              <a:off x="609600" y="5200650"/>
              <a:ext cx="10972800" cy="800100"/>
            </a:xfrm>
            <a:prstGeom prst="roundRect">
              <a:avLst>
                <a:gd name="adj" fmla="val 9524"/>
              </a:avLst>
            </a:prstGeom>
            <a:solidFill>
              <a:srgbClr val="EAF4F6"/>
            </a:solidFill>
            <a:ln>
              <a:noFill/>
            </a:ln>
          </p:spPr>
        </p:sp>
        <p:sp>
          <p:nvSpPr>
            <p:cNvPr id="57" name="Rectangle 57"/>
            <p:cNvSpPr/>
            <p:nvPr/>
          </p:nvSpPr>
          <p:spPr>
            <a:xfrm>
              <a:off x="609600" y="5200650"/>
              <a:ext cx="57150" cy="742950"/>
            </a:xfrm>
            <a:prstGeom prst="rect">
              <a:avLst/>
            </a:prstGeom>
            <a:solidFill>
              <a:srgbClr val="00A6A6"/>
            </a:solidFill>
            <a:ln>
              <a:noFill/>
            </a:ln>
          </p:spPr>
        </p:sp>
        <p:sp>
          <p:nvSpPr>
            <p:cNvPr id="58" name="TextBox 58"/>
            <p:cNvSpPr txBox="1"/>
            <p:nvPr/>
          </p:nvSpPr>
          <p:spPr>
            <a:xfrm>
              <a:off x="908304" y="53568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59" name="TextBox 59"/>
            <p:cNvSpPr txBox="1"/>
            <p:nvPr/>
          </p:nvSpPr>
          <p:spPr>
            <a:xfrm>
              <a:off x="908685" y="5593556"/>
              <a:ext cx="585038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tarihAraliklariCakisiyorMu tarihleri Date'e çevirmeden string olarak karşılaştırır;</a:t>
              </a:r>
              <a:br/>
              <a:r>
                <a:rPr lang="tr-TR" sz="1120" dirty="0">
                  <a:solidFill>
                    <a:srgbClr val="172B3A"/>
                  </a:solidFill>
                  <a:latin typeface="+mn-lt"/>
                  <a:ea typeface="+mn-ea"/>
                  <a:cs typeface="+mn-cs"/>
                </a:rPr>
                <a:t>yalnızca tutarlı ISO 8601 biçiminde doğru sonuç verir.</a:t>
              </a:r>
            </a:p>
          </p:txBody>
        </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895781" cy="642557"/>
            <a:chOff x="609600" y="171450"/>
            <a:chExt cx="7895781" cy="642557"/>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301496" y="315278"/>
              <a:ext cx="7203885"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IoT sensör telemetrisi ve otomatik alarm</a:t>
              </a:r>
            </a:p>
          </p:txBody>
        </p:sp>
      </p:grpSp>
      <p:grpSp>
        <p:nvGrpSpPr>
          <p:cNvPr id="17" name="flow-arrows"/>
          <p:cNvGrpSpPr/>
          <p:nvPr/>
        </p:nvGrpSpPr>
        <p:grpSpPr>
          <a:xfrm>
            <a:off x="3143250" y="1905000"/>
            <a:ext cx="7143750" cy="952500"/>
            <a:chOff x="3143250" y="1905000"/>
            <a:chExt cx="7143750" cy="952500"/>
          </a:xfrm>
        </p:grpSpPr>
        <p:sp>
          <p:nvSpPr>
            <p:cNvPr id="13" name="Line 13"/>
            <p:cNvSpPr/>
            <p:nvPr/>
          </p:nvSpPr>
          <p:spPr>
            <a:xfrm>
              <a:off x="3143250" y="1905000"/>
              <a:ext cx="285750" cy="1"/>
            </a:xfrm>
            <a:prstGeom prst="line">
              <a:avLst/>
            </a:prstGeom>
            <a:noFill/>
            <a:ln w="19050">
              <a:solidFill>
                <a:srgbClr val="52616B"/>
              </a:solidFill>
              <a:tailEnd type="arrow" w="lg" len="lg"/>
            </a:ln>
          </p:spPr>
        </p:sp>
        <p:sp>
          <p:nvSpPr>
            <p:cNvPr id="14" name="Line 14"/>
            <p:cNvSpPr/>
            <p:nvPr/>
          </p:nvSpPr>
          <p:spPr>
            <a:xfrm>
              <a:off x="6286500" y="1905000"/>
              <a:ext cx="285750" cy="1"/>
            </a:xfrm>
            <a:prstGeom prst="line">
              <a:avLst/>
            </a:prstGeom>
            <a:noFill/>
            <a:ln w="19050">
              <a:solidFill>
                <a:srgbClr val="52616B"/>
              </a:solidFill>
              <a:tailEnd type="arrow" w="lg" len="lg"/>
            </a:ln>
          </p:spPr>
        </p:sp>
        <p:sp>
          <p:nvSpPr>
            <p:cNvPr id="15" name="Line 15"/>
            <p:cNvSpPr/>
            <p:nvPr/>
          </p:nvSpPr>
          <p:spPr>
            <a:xfrm flipH="1">
              <a:off x="7810500" y="2228850"/>
              <a:ext cx="762000" cy="628650"/>
            </a:xfrm>
            <a:prstGeom prst="line">
              <a:avLst/>
            </a:prstGeom>
            <a:noFill/>
            <a:ln w="23812">
              <a:solidFill>
                <a:srgbClr val="00A6A6"/>
              </a:solidFill>
              <a:tailEnd type="arrow" w="lg" len="lg"/>
            </a:ln>
          </p:spPr>
        </p:sp>
        <p:sp>
          <p:nvSpPr>
            <p:cNvPr id="16" name="Line 16"/>
            <p:cNvSpPr/>
            <p:nvPr/>
          </p:nvSpPr>
          <p:spPr>
            <a:xfrm>
              <a:off x="9715500" y="2228850"/>
              <a:ext cx="571500" cy="628650"/>
            </a:xfrm>
            <a:prstGeom prst="line">
              <a:avLst/>
            </a:prstGeom>
            <a:noFill/>
            <a:ln w="19050">
              <a:solidFill>
                <a:srgbClr val="52616B"/>
              </a:solidFill>
              <a:custDash>
                <a:ds d="300000" sp="200000"/>
              </a:custDash>
              <a:tailEnd type="arrow" w="lg" len="lg"/>
            </a:ln>
          </p:spPr>
        </p:sp>
      </p:grpSp>
      <p:grpSp>
        <p:nvGrpSpPr>
          <p:cNvPr id="21" name="node-sensor"/>
          <p:cNvGrpSpPr/>
          <p:nvPr/>
        </p:nvGrpSpPr>
        <p:grpSpPr>
          <a:xfrm>
            <a:off x="609600" y="1524000"/>
            <a:ext cx="2533650" cy="762000"/>
            <a:chOff x="609600" y="1524000"/>
            <a:chExt cx="2533650" cy="762000"/>
          </a:xfrm>
        </p:grpSpPr>
        <p:sp>
          <p:nvSpPr>
            <p:cNvPr id="18" name="Rectangle 18"/>
            <p:cNvSpPr/>
            <p:nvPr/>
          </p:nvSpPr>
          <p:spPr>
            <a:xfrm>
              <a:off x="609600" y="1524000"/>
              <a:ext cx="2533650" cy="762000"/>
            </a:xfrm>
            <a:prstGeom prst="roundRect">
              <a:avLst>
                <a:gd name="adj" fmla="val 10000"/>
              </a:avLst>
            </a:prstGeom>
            <a:solidFill>
              <a:srgbClr val="FFFFFF"/>
            </a:solidFill>
            <a:ln w="14288">
              <a:solidFill>
                <a:srgbClr val="2E86AB"/>
              </a:solidFill>
            </a:ln>
          </p:spPr>
        </p:sp>
        <p:sp>
          <p:nvSpPr>
            <p:cNvPr id="19" name="TextBox 19"/>
            <p:cNvSpPr txBox="1"/>
            <p:nvPr/>
          </p:nvSpPr>
          <p:spPr>
            <a:xfrm>
              <a:off x="831723" y="1691164"/>
              <a:ext cx="146585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Telemetri paketi</a:t>
              </a:r>
            </a:p>
          </p:txBody>
        </p:sp>
        <p:sp>
          <p:nvSpPr>
            <p:cNvPr id="20" name="TextBox 20"/>
            <p:cNvSpPr txBox="1"/>
            <p:nvPr/>
          </p:nvSpPr>
          <p:spPr>
            <a:xfrm>
              <a:off x="832866" y="1944052"/>
              <a:ext cx="213766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cihazUuid, sicaklikC, nemYuzde</a:t>
              </a:r>
            </a:p>
          </p:txBody>
        </p:sp>
      </p:grpSp>
      <p:grpSp>
        <p:nvGrpSpPr>
          <p:cNvPr id="25" name="node-validate"/>
          <p:cNvGrpSpPr/>
          <p:nvPr/>
        </p:nvGrpSpPr>
        <p:grpSpPr>
          <a:xfrm>
            <a:off x="3429000" y="1524000"/>
            <a:ext cx="2888707" cy="762000"/>
            <a:chOff x="3429000" y="1524000"/>
            <a:chExt cx="2888707" cy="762000"/>
          </a:xfrm>
        </p:grpSpPr>
        <p:sp>
          <p:nvSpPr>
            <p:cNvPr id="22" name="Rectangle 22"/>
            <p:cNvSpPr/>
            <p:nvPr/>
          </p:nvSpPr>
          <p:spPr>
            <a:xfrm>
              <a:off x="3429000" y="1524000"/>
              <a:ext cx="2857500" cy="762000"/>
            </a:xfrm>
            <a:prstGeom prst="roundRect">
              <a:avLst>
                <a:gd name="adj" fmla="val 10000"/>
              </a:avLst>
            </a:prstGeom>
            <a:solidFill>
              <a:srgbClr val="FFFFFF"/>
            </a:solidFill>
            <a:ln w="14288">
              <a:solidFill>
                <a:srgbClr val="2E86AB"/>
              </a:solidFill>
            </a:ln>
          </p:spPr>
        </p:sp>
        <p:sp>
          <p:nvSpPr>
            <p:cNvPr id="23" name="TextBox 23"/>
            <p:cNvSpPr txBox="1"/>
            <p:nvPr/>
          </p:nvSpPr>
          <p:spPr>
            <a:xfrm>
              <a:off x="3651123" y="1691164"/>
              <a:ext cx="136632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Girdi doğrulama</a:t>
              </a:r>
            </a:p>
          </p:txBody>
        </p:sp>
        <p:sp>
          <p:nvSpPr>
            <p:cNvPr id="24" name="TextBox 24"/>
            <p:cNvSpPr txBox="1"/>
            <p:nvPr/>
          </p:nvSpPr>
          <p:spPr>
            <a:xfrm>
              <a:off x="3652266" y="1944052"/>
              <a:ext cx="266544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-40°C ile +85°C aralığı dışı reddedilir</a:t>
              </a:r>
            </a:p>
          </p:txBody>
        </p:sp>
      </p:grpSp>
      <p:grpSp>
        <p:nvGrpSpPr>
          <p:cNvPr id="30" name="node-threshold"/>
          <p:cNvGrpSpPr/>
          <p:nvPr/>
        </p:nvGrpSpPr>
        <p:grpSpPr>
          <a:xfrm>
            <a:off x="6572250" y="1524000"/>
            <a:ext cx="3238500" cy="952500"/>
            <a:chOff x="6572250" y="1524000"/>
            <a:chExt cx="3238500" cy="952500"/>
          </a:xfrm>
        </p:grpSpPr>
        <p:sp>
          <p:nvSpPr>
            <p:cNvPr id="26" name="Rectangle 26"/>
            <p:cNvSpPr/>
            <p:nvPr/>
          </p:nvSpPr>
          <p:spPr>
            <a:xfrm>
              <a:off x="6572250" y="1524000"/>
              <a:ext cx="3238500" cy="952500"/>
            </a:xfrm>
            <a:prstGeom prst="roundRect">
              <a:avLst>
                <a:gd name="adj" fmla="val 8000"/>
              </a:avLst>
            </a:prstGeom>
            <a:solidFill>
              <a:srgbClr val="12355B"/>
            </a:solidFill>
            <a:ln w="19050">
              <a:solidFill>
                <a:srgbClr val="00A6A6"/>
              </a:solidFill>
            </a:ln>
          </p:spPr>
        </p:sp>
        <p:sp>
          <p:nvSpPr>
            <p:cNvPr id="27" name="TextBox 27"/>
            <p:cNvSpPr txBox="1"/>
            <p:nvPr/>
          </p:nvSpPr>
          <p:spPr>
            <a:xfrm>
              <a:off x="6794373" y="1691164"/>
              <a:ext cx="1728112"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Kritik eşik denetimi</a:t>
              </a:r>
            </a:p>
          </p:txBody>
        </p:sp>
        <p:sp>
          <p:nvSpPr>
            <p:cNvPr id="28" name="TextBox 28"/>
            <p:cNvSpPr txBox="1"/>
            <p:nvPr/>
          </p:nvSpPr>
          <p:spPr>
            <a:xfrm>
              <a:off x="6795516" y="1944052"/>
              <a:ext cx="217627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KRITIK_SICAKLIK_ESIGI = 45.0°C</a:t>
              </a:r>
            </a:p>
          </p:txBody>
        </p:sp>
        <p:sp>
          <p:nvSpPr>
            <p:cNvPr id="29" name="TextBox 29"/>
            <p:cNvSpPr txBox="1"/>
            <p:nvPr/>
          </p:nvSpPr>
          <p:spPr>
            <a:xfrm>
              <a:off x="6795516" y="2172652"/>
              <a:ext cx="1381271"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sicaklikC ≥ eşik mi?</a:t>
              </a:r>
            </a:p>
          </p:txBody>
        </p:sp>
      </p:grpSp>
      <p:grpSp>
        <p:nvGrpSpPr>
          <p:cNvPr id="38" name="node-emergency"/>
          <p:cNvGrpSpPr/>
          <p:nvPr/>
        </p:nvGrpSpPr>
        <p:grpSpPr>
          <a:xfrm>
            <a:off x="6286500" y="2857500"/>
            <a:ext cx="3048000" cy="1638300"/>
            <a:chOff x="6286500" y="2857500"/>
            <a:chExt cx="3048000" cy="1638300"/>
          </a:xfrm>
        </p:grpSpPr>
        <p:sp>
          <p:nvSpPr>
            <p:cNvPr id="31" name="Rectangle 31"/>
            <p:cNvSpPr/>
            <p:nvPr/>
          </p:nvSpPr>
          <p:spPr>
            <a:xfrm>
              <a:off x="6286500" y="2857500"/>
              <a:ext cx="3048000" cy="1638300"/>
            </a:xfrm>
            <a:prstGeom prst="roundRect">
              <a:avLst>
                <a:gd name="adj" fmla="val 4651"/>
              </a:avLst>
            </a:prstGeom>
            <a:solidFill>
              <a:srgbClr val="EAF4F6"/>
            </a:solidFill>
            <a:ln w="19050">
              <a:solidFill>
                <a:srgbClr val="00A6A6"/>
              </a:solidFill>
            </a:ln>
          </p:spPr>
        </p:sp>
        <p:sp>
          <p:nvSpPr>
            <p:cNvPr id="32" name="TextBox 32"/>
            <p:cNvSpPr txBox="1"/>
            <p:nvPr/>
          </p:nvSpPr>
          <p:spPr>
            <a:xfrm>
              <a:off x="6508623" y="3005614"/>
              <a:ext cx="152120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Evet — acil durum</a:t>
              </a:r>
            </a:p>
          </p:txBody>
        </p:sp>
        <p:sp>
          <p:nvSpPr>
            <p:cNvPr id="33" name="TextBox 33"/>
            <p:cNvSpPr txBox="1"/>
            <p:nvPr/>
          </p:nvSpPr>
          <p:spPr>
            <a:xfrm>
              <a:off x="6509766" y="3277552"/>
              <a:ext cx="235885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laboratuvardakiEkipmanlariKoru()</a:t>
              </a:r>
            </a:p>
          </p:txBody>
        </p:sp>
        <p:sp>
          <p:nvSpPr>
            <p:cNvPr id="34" name="TextBox 34"/>
            <p:cNvSpPr txBox="1"/>
            <p:nvPr/>
          </p:nvSpPr>
          <p:spPr>
            <a:xfrm>
              <a:off x="6509766" y="3487102"/>
              <a:ext cx="270340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ile tüm envanter toplu korumaya alınır</a:t>
              </a:r>
            </a:p>
          </p:txBody>
        </p:sp>
        <p:sp>
          <p:nvSpPr>
            <p:cNvPr id="35" name="TextBox 35"/>
            <p:cNvSpPr txBox="1"/>
            <p:nvPr/>
          </p:nvSpPr>
          <p:spPr>
            <a:xfrm>
              <a:off x="6509766" y="3791902"/>
              <a:ext cx="198167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gorevliyeAcilEpostaGonder()</a:t>
              </a:r>
            </a:p>
          </p:txBody>
        </p:sp>
        <p:sp>
          <p:nvSpPr>
            <p:cNvPr id="36" name="TextBox 36"/>
            <p:cNvSpPr txBox="1"/>
            <p:nvPr/>
          </p:nvSpPr>
          <p:spPr>
            <a:xfrm>
              <a:off x="6509766" y="4001452"/>
              <a:ext cx="210266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ile asenkron bildirim tetiklenir</a:t>
              </a:r>
            </a:p>
          </p:txBody>
        </p:sp>
        <p:sp>
          <p:nvSpPr>
            <p:cNvPr id="37" name="TextBox 37"/>
            <p:cNvSpPr txBox="1"/>
            <p:nvPr/>
          </p:nvSpPr>
          <p:spPr>
            <a:xfrm>
              <a:off x="6510147" y="4238149"/>
              <a:ext cx="103647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guvenliMi: false</a:t>
              </a:r>
            </a:p>
          </p:txBody>
        </p:sp>
      </p:grpSp>
      <p:grpSp>
        <p:nvGrpSpPr>
          <p:cNvPr id="44" name="node-safe"/>
          <p:cNvGrpSpPr/>
          <p:nvPr/>
        </p:nvGrpSpPr>
        <p:grpSpPr>
          <a:xfrm>
            <a:off x="9525000" y="2857500"/>
            <a:ext cx="2057400" cy="1638300"/>
            <a:chOff x="9525000" y="2857500"/>
            <a:chExt cx="2057400" cy="1638300"/>
          </a:xfrm>
        </p:grpSpPr>
        <p:sp>
          <p:nvSpPr>
            <p:cNvPr id="39" name="Rectangle 39"/>
            <p:cNvSpPr/>
            <p:nvPr/>
          </p:nvSpPr>
          <p:spPr>
            <a:xfrm>
              <a:off x="9525000" y="2857500"/>
              <a:ext cx="2057400" cy="1638300"/>
            </a:xfrm>
            <a:prstGeom prst="roundRect">
              <a:avLst>
                <a:gd name="adj" fmla="val 4651"/>
              </a:avLst>
            </a:prstGeom>
            <a:solidFill>
              <a:srgbClr val="FFFFFF"/>
            </a:solidFill>
            <a:ln w="14288">
              <a:solidFill>
                <a:srgbClr val="B8CBD3"/>
              </a:solidFill>
            </a:ln>
          </p:spPr>
        </p:sp>
        <p:sp>
          <p:nvSpPr>
            <p:cNvPr id="40" name="TextBox 40"/>
            <p:cNvSpPr txBox="1"/>
            <p:nvPr/>
          </p:nvSpPr>
          <p:spPr>
            <a:xfrm>
              <a:off x="9747123" y="3005614"/>
              <a:ext cx="133087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Hayır — güvenli</a:t>
              </a:r>
            </a:p>
          </p:txBody>
        </p:sp>
        <p:sp>
          <p:nvSpPr>
            <p:cNvPr id="41" name="TextBox 41"/>
            <p:cNvSpPr txBox="1"/>
            <p:nvPr/>
          </p:nvSpPr>
          <p:spPr>
            <a:xfrm>
              <a:off x="9748266" y="3277552"/>
              <a:ext cx="118152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Aksiyon alınmaz,</a:t>
              </a:r>
            </a:p>
          </p:txBody>
        </p:sp>
        <p:sp>
          <p:nvSpPr>
            <p:cNvPr id="42" name="TextBox 42"/>
            <p:cNvSpPr txBox="1"/>
            <p:nvPr/>
          </p:nvSpPr>
          <p:spPr>
            <a:xfrm>
              <a:off x="9748266" y="3468052"/>
              <a:ext cx="138177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telemetri kaydedilir</a:t>
              </a:r>
            </a:p>
          </p:txBody>
        </p:sp>
        <p:sp>
          <p:nvSpPr>
            <p:cNvPr id="43" name="TextBox 43"/>
            <p:cNvSpPr txBox="1"/>
            <p:nvPr/>
          </p:nvSpPr>
          <p:spPr>
            <a:xfrm>
              <a:off x="9748647" y="4085749"/>
              <a:ext cx="99704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guvenliMi: true</a:t>
              </a:r>
            </a:p>
          </p:txBody>
        </p:sp>
      </p:grpSp>
      <p:grpSp>
        <p:nvGrpSpPr>
          <p:cNvPr id="53" name="di-note"/>
          <p:cNvGrpSpPr/>
          <p:nvPr/>
        </p:nvGrpSpPr>
        <p:grpSpPr>
          <a:xfrm>
            <a:off x="609600" y="2857500"/>
            <a:ext cx="5334000" cy="1638300"/>
            <a:chOff x="609600" y="2857500"/>
            <a:chExt cx="5334000" cy="1638300"/>
          </a:xfrm>
        </p:grpSpPr>
        <p:sp>
          <p:nvSpPr>
            <p:cNvPr id="45" name="Rectangle 45"/>
            <p:cNvSpPr/>
            <p:nvPr/>
          </p:nvSpPr>
          <p:spPr>
            <a:xfrm>
              <a:off x="609600" y="2857500"/>
              <a:ext cx="5334000" cy="1638300"/>
            </a:xfrm>
            <a:prstGeom prst="roundRect">
              <a:avLst>
                <a:gd name="adj" fmla="val 4651"/>
              </a:avLst>
            </a:prstGeom>
            <a:solidFill>
              <a:srgbClr val="FFFFFF"/>
            </a:solidFill>
            <a:ln w="9525">
              <a:solidFill>
                <a:srgbClr val="B8CBD3"/>
              </a:solidFill>
            </a:ln>
          </p:spPr>
        </p:sp>
        <p:sp>
          <p:nvSpPr>
            <p:cNvPr id="46" name="Rectangle 46"/>
            <p:cNvSpPr/>
            <p:nvPr/>
          </p:nvSpPr>
          <p:spPr>
            <a:xfrm>
              <a:off x="609600" y="2857500"/>
              <a:ext cx="57150" cy="1638300"/>
            </a:xfrm>
            <a:prstGeom prst="rect">
              <a:avLst/>
            </a:prstGeom>
            <a:solidFill>
              <a:srgbClr val="2E86AB"/>
            </a:solidFill>
            <a:ln>
              <a:noFill/>
            </a:ln>
          </p:spPr>
        </p:sp>
        <p:sp>
          <p:nvSpPr>
            <p:cNvPr id="47" name="TextBox 47"/>
            <p:cNvSpPr txBox="1"/>
            <p:nvPr/>
          </p:nvSpPr>
          <p:spPr>
            <a:xfrm>
              <a:off x="907923" y="3005614"/>
              <a:ext cx="376336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Bağımlılık enjeksiyonu ile test edilebilirlik</a:t>
              </a:r>
            </a:p>
          </p:txBody>
        </p:sp>
        <p:sp>
          <p:nvSpPr>
            <p:cNvPr id="48" name="TextBox 48"/>
            <p:cNvSpPr txBox="1"/>
            <p:nvPr/>
          </p:nvSpPr>
          <p:spPr>
            <a:xfrm>
              <a:off x="908685" y="3288506"/>
              <a:ext cx="327300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AlarmServisi ve EkipmanAcilDurumRepository</a:t>
              </a:r>
            </a:p>
          </p:txBody>
        </p:sp>
        <p:sp>
          <p:nvSpPr>
            <p:cNvPr id="49" name="TextBox 49"/>
            <p:cNvSpPr txBox="1"/>
            <p:nvPr/>
          </p:nvSpPr>
          <p:spPr>
            <a:xfrm>
              <a:off x="908685" y="3498056"/>
              <a:ext cx="375817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arayüzler arkasında tutulur; bu sayede otomasyon</a:t>
              </a:r>
            </a:p>
          </p:txBody>
        </p:sp>
        <p:sp>
          <p:nvSpPr>
            <p:cNvPr id="50" name="TextBox 50"/>
            <p:cNvSpPr txBox="1"/>
            <p:nvPr/>
          </p:nvSpPr>
          <p:spPr>
            <a:xfrm>
              <a:off x="908685" y="3707606"/>
              <a:ext cx="41728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gerçek sensör donanımı olmadan unit testlerle sınanır.</a:t>
              </a:r>
            </a:p>
          </p:txBody>
        </p:sp>
        <p:sp>
          <p:nvSpPr>
            <p:cNvPr id="51" name="TextBox 51"/>
            <p:cNvSpPr txBox="1"/>
            <p:nvPr/>
          </p:nvSpPr>
          <p:spPr>
            <a:xfrm>
              <a:off x="909066" y="4020502"/>
              <a:ext cx="358089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Bölüm 16 (IoT) ve Bölüm 12 (bildirim) katmanlarının</a:t>
              </a:r>
            </a:p>
          </p:txBody>
        </p:sp>
        <p:sp>
          <p:nvSpPr>
            <p:cNvPr id="52" name="TextBox 52"/>
            <p:cNvSpPr txBox="1"/>
            <p:nvPr/>
          </p:nvSpPr>
          <p:spPr>
            <a:xfrm>
              <a:off x="909066" y="4211002"/>
              <a:ext cx="247017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capstone'a doğrudan bağlanışıdır.</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542266" cy="642557"/>
            <a:chOff x="609600" y="171450"/>
            <a:chExt cx="7542266" cy="642557"/>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301496" y="315278"/>
              <a:ext cx="6850370"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Mimari karar masası ve jüri savunması</a:t>
              </a:r>
            </a:p>
          </p:txBody>
        </p:sp>
      </p:grpSp>
      <p:grpSp>
        <p:nvGrpSpPr>
          <p:cNvPr id="19" name="card-elif"/>
          <p:cNvGrpSpPr/>
          <p:nvPr/>
        </p:nvGrpSpPr>
        <p:grpSpPr>
          <a:xfrm>
            <a:off x="609600" y="1219200"/>
            <a:ext cx="5257800" cy="2095500"/>
            <a:chOff x="609600" y="1219200"/>
            <a:chExt cx="5257800" cy="2095500"/>
          </a:xfrm>
        </p:grpSpPr>
        <p:sp>
          <p:nvSpPr>
            <p:cNvPr id="13" name="Rectangle 13"/>
            <p:cNvSpPr/>
            <p:nvPr/>
          </p:nvSpPr>
          <p:spPr>
            <a:xfrm>
              <a:off x="609600" y="1219200"/>
              <a:ext cx="5257800" cy="2095500"/>
            </a:xfrm>
            <a:prstGeom prst="roundRect">
              <a:avLst>
                <a:gd name="adj" fmla="val 3636"/>
              </a:avLst>
            </a:prstGeom>
            <a:solidFill>
              <a:srgbClr val="FFFFFF"/>
            </a:solidFill>
            <a:ln w="14288">
              <a:solidFill>
                <a:srgbClr val="2E86AB"/>
              </a:solidFill>
            </a:ln>
          </p:spPr>
        </p:sp>
        <p:sp>
          <p:nvSpPr>
            <p:cNvPr id="14" name="Rectangle 14"/>
            <p:cNvSpPr/>
            <p:nvPr/>
          </p:nvSpPr>
          <p:spPr>
            <a:xfrm>
              <a:off x="609600" y="1219200"/>
              <a:ext cx="57150" cy="2095500"/>
            </a:xfrm>
            <a:prstGeom prst="rect">
              <a:avLst/>
            </a:prstGeom>
            <a:solidFill>
              <a:srgbClr val="12355B"/>
            </a:solidFill>
            <a:ln>
              <a:noFill/>
            </a:ln>
          </p:spPr>
        </p:sp>
        <p:sp>
          <p:nvSpPr>
            <p:cNvPr id="15" name="TextBox 15"/>
            <p:cNvSpPr txBox="1"/>
            <p:nvPr/>
          </p:nvSpPr>
          <p:spPr>
            <a:xfrm>
              <a:off x="869442" y="1359218"/>
              <a:ext cx="202774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Elif — Backend Mimarı</a:t>
              </a:r>
            </a:p>
          </p:txBody>
        </p:sp>
        <p:sp>
          <p:nvSpPr>
            <p:cNvPr id="16" name="TextBox 16"/>
            <p:cNvSpPr txBox="1"/>
            <p:nvPr/>
          </p:nvSpPr>
          <p:spPr>
            <a:xfrm>
              <a:off x="870585" y="1669256"/>
              <a:ext cx="3709670"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Modüler monolit seçildi: rezervasyon ve bakım kaydı</a:t>
              </a:r>
              <a:br/>
              <a:r>
                <a:rPr lang="tr-TR" sz="1120" dirty="0">
                  <a:solidFill>
                    <a:srgbClr val="172B3A"/>
                  </a:solidFill>
                  <a:latin typeface="+mn-lt"/>
                  <a:ea typeface="+mn-ea"/>
                  <a:cs typeface="+mn-cs"/>
                </a:rPr>
                <a:t>aynı veritabanında atomik transaction gerektiriyor.</a:t>
              </a:r>
            </a:p>
          </p:txBody>
        </p:sp>
        <p:sp>
          <p:nvSpPr>
            <p:cNvPr id="17" name="TextBox 17"/>
            <p:cNvSpPr txBox="1"/>
            <p:nvPr/>
          </p:nvSpPr>
          <p:spPr>
            <a:xfrm>
              <a:off x="870585" y="2278856"/>
              <a:ext cx="3432302"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Mikroservis olsaydı dağıtık transaction maliyeti</a:t>
              </a:r>
              <a:br/>
              <a:r>
                <a:rPr lang="tr-TR" sz="1120" dirty="0">
                  <a:solidFill>
                    <a:srgbClr val="172B3A"/>
                  </a:solidFill>
                  <a:latin typeface="+mn-lt"/>
                  <a:ea typeface="+mn-ea"/>
                  <a:cs typeface="+mn-cs"/>
                </a:rPr>
                <a:t>projenin karmaşıklığını orantısız artıracaktı.</a:t>
              </a:r>
            </a:p>
          </p:txBody>
        </p:sp>
        <p:sp>
          <p:nvSpPr>
            <p:cNvPr id="18" name="TextBox 18"/>
            <p:cNvSpPr txBox="1"/>
            <p:nvPr/>
          </p:nvSpPr>
          <p:spPr>
            <a:xfrm>
              <a:off x="870966" y="2953702"/>
              <a:ext cx="309637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Domain sınırları ile ileride bölünebilir kalır.</a:t>
              </a:r>
            </a:p>
          </p:txBody>
        </p:sp>
      </p:grpSp>
      <p:grpSp>
        <p:nvGrpSpPr>
          <p:cNvPr id="26" name="card-yasemin"/>
          <p:cNvGrpSpPr/>
          <p:nvPr/>
        </p:nvGrpSpPr>
        <p:grpSpPr>
          <a:xfrm>
            <a:off x="6324600" y="1219200"/>
            <a:ext cx="5257800" cy="2095500"/>
            <a:chOff x="6324600" y="1219200"/>
            <a:chExt cx="5257800" cy="2095500"/>
          </a:xfrm>
        </p:grpSpPr>
        <p:sp>
          <p:nvSpPr>
            <p:cNvPr id="20" name="Rectangle 20"/>
            <p:cNvSpPr/>
            <p:nvPr/>
          </p:nvSpPr>
          <p:spPr>
            <a:xfrm>
              <a:off x="6324600" y="1219200"/>
              <a:ext cx="5257800" cy="2095500"/>
            </a:xfrm>
            <a:prstGeom prst="roundRect">
              <a:avLst>
                <a:gd name="adj" fmla="val 3636"/>
              </a:avLst>
            </a:prstGeom>
            <a:solidFill>
              <a:srgbClr val="FFFFFF"/>
            </a:solidFill>
            <a:ln w="14288">
              <a:solidFill>
                <a:srgbClr val="2E86AB"/>
              </a:solidFill>
            </a:ln>
          </p:spPr>
        </p:sp>
        <p:sp>
          <p:nvSpPr>
            <p:cNvPr id="21" name="Rectangle 21"/>
            <p:cNvSpPr/>
            <p:nvPr/>
          </p:nvSpPr>
          <p:spPr>
            <a:xfrm>
              <a:off x="6324600" y="1219200"/>
              <a:ext cx="57150" cy="2095500"/>
            </a:xfrm>
            <a:prstGeom prst="rect">
              <a:avLst/>
            </a:prstGeom>
            <a:solidFill>
              <a:srgbClr val="12355B"/>
            </a:solidFill>
            <a:ln>
              <a:noFill/>
            </a:ln>
          </p:spPr>
        </p:sp>
        <p:sp>
          <p:nvSpPr>
            <p:cNvPr id="22" name="TextBox 22"/>
            <p:cNvSpPr txBox="1"/>
            <p:nvPr/>
          </p:nvSpPr>
          <p:spPr>
            <a:xfrm>
              <a:off x="6584442" y="1359218"/>
              <a:ext cx="244715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Yasemin — Güvenlik Uzmanı</a:t>
              </a:r>
            </a:p>
          </p:txBody>
        </p:sp>
        <p:sp>
          <p:nvSpPr>
            <p:cNvPr id="23" name="TextBox 23"/>
            <p:cNvSpPr txBox="1"/>
            <p:nvPr/>
          </p:nvSpPr>
          <p:spPr>
            <a:xfrm>
              <a:off x="6585585" y="1669256"/>
              <a:ext cx="3709670"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En kritik risk BOLA/IDOR idi: sorgu, id parametresine</a:t>
              </a:r>
              <a:br/>
              <a:r>
                <a:rPr lang="tr-TR" sz="1120" dirty="0">
                  <a:solidFill>
                    <a:srgbClr val="172B3A"/>
                  </a:solidFill>
                  <a:latin typeface="+mn-lt"/>
                  <a:ea typeface="+mn-ea"/>
                  <a:cs typeface="+mn-cs"/>
                </a:rPr>
                <a:t>ek olarak kullaniciId eşleşmesini de zorunlu kılar.</a:t>
              </a:r>
            </a:p>
          </p:txBody>
        </p:sp>
        <p:sp>
          <p:nvSpPr>
            <p:cNvPr id="24" name="TextBox 24"/>
            <p:cNvSpPr txBox="1"/>
            <p:nvPr/>
          </p:nvSpPr>
          <p:spPr>
            <a:xfrm>
              <a:off x="6585585" y="2278856"/>
              <a:ext cx="2095246"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WHERE id = :rezervasyonId AND</a:t>
              </a:r>
              <a:br/>
              <a:r>
                <a:rPr lang="tr-TR" sz="1120" dirty="0">
                  <a:solidFill>
                    <a:srgbClr val="172B3A"/>
                  </a:solidFill>
                  <a:latin typeface="+mn-lt"/>
                  <a:ea typeface="+mn-ea"/>
                  <a:cs typeface="+mn-cs"/>
                </a:rPr>
                <a:t>kullaniciId = :aktifKullaniciId</a:t>
              </a:r>
            </a:p>
          </p:txBody>
        </p:sp>
        <p:sp>
          <p:nvSpPr>
            <p:cNvPr id="25" name="TextBox 25"/>
            <p:cNvSpPr txBox="1"/>
            <p:nvPr/>
          </p:nvSpPr>
          <p:spPr>
            <a:xfrm>
              <a:off x="6585966" y="2953702"/>
              <a:ext cx="413198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IoT sensörleri JWT yerine rotasyonlu API anahtarı kullanır.</a:t>
              </a:r>
            </a:p>
          </p:txBody>
        </p:sp>
      </p:grpSp>
      <p:grpSp>
        <p:nvGrpSpPr>
          <p:cNvPr id="32" name="card-ismail"/>
          <p:cNvGrpSpPr/>
          <p:nvPr/>
        </p:nvGrpSpPr>
        <p:grpSpPr>
          <a:xfrm>
            <a:off x="609600" y="3543300"/>
            <a:ext cx="5257800" cy="2095500"/>
            <a:chOff x="609600" y="3543300"/>
            <a:chExt cx="5257800" cy="2095500"/>
          </a:xfrm>
        </p:grpSpPr>
        <p:sp>
          <p:nvSpPr>
            <p:cNvPr id="27" name="Rectangle 27"/>
            <p:cNvSpPr/>
            <p:nvPr/>
          </p:nvSpPr>
          <p:spPr>
            <a:xfrm>
              <a:off x="609600" y="3543300"/>
              <a:ext cx="5257800" cy="2095500"/>
            </a:xfrm>
            <a:prstGeom prst="roundRect">
              <a:avLst>
                <a:gd name="adj" fmla="val 3636"/>
              </a:avLst>
            </a:prstGeom>
            <a:solidFill>
              <a:srgbClr val="FFFFFF"/>
            </a:solidFill>
            <a:ln w="14288">
              <a:solidFill>
                <a:srgbClr val="2E86AB"/>
              </a:solidFill>
            </a:ln>
          </p:spPr>
        </p:sp>
        <p:sp>
          <p:nvSpPr>
            <p:cNvPr id="28" name="Rectangle 28"/>
            <p:cNvSpPr/>
            <p:nvPr/>
          </p:nvSpPr>
          <p:spPr>
            <a:xfrm>
              <a:off x="609600" y="3543300"/>
              <a:ext cx="57150" cy="2095500"/>
            </a:xfrm>
            <a:prstGeom prst="rect">
              <a:avLst/>
            </a:prstGeom>
            <a:solidFill>
              <a:srgbClr val="12355B"/>
            </a:solidFill>
            <a:ln>
              <a:noFill/>
            </a:ln>
          </p:spPr>
        </p:sp>
        <p:sp>
          <p:nvSpPr>
            <p:cNvPr id="29" name="TextBox 29"/>
            <p:cNvSpPr txBox="1"/>
            <p:nvPr/>
          </p:nvSpPr>
          <p:spPr>
            <a:xfrm>
              <a:off x="869442" y="3683318"/>
              <a:ext cx="330978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İsmail — Sistem Yöneticisi / DevOps</a:t>
              </a:r>
            </a:p>
          </p:txBody>
        </p:sp>
        <p:sp>
          <p:nvSpPr>
            <p:cNvPr id="30" name="TextBox 30"/>
            <p:cNvSpPr txBox="1"/>
            <p:nvPr/>
          </p:nvSpPr>
          <p:spPr>
            <a:xfrm>
              <a:off x="870585" y="3993356"/>
              <a:ext cx="3859022"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PostgreSQL'in 5432 portu dış internete asla açılmadı;</a:t>
              </a:r>
              <a:br/>
              <a:r>
                <a:rPr lang="tr-TR" sz="1120" dirty="0">
                  <a:solidFill>
                    <a:srgbClr val="172B3A"/>
                  </a:solidFill>
                  <a:latin typeface="+mn-lt"/>
                  <a:ea typeface="+mn-ea"/>
                  <a:cs typeface="+mn-cs"/>
                </a:rPr>
                <a:t>yalnızca Docker'ın izole iç ağı backend-net üzerinden.</a:t>
              </a:r>
            </a:p>
          </p:txBody>
        </p:sp>
        <p:sp>
          <p:nvSpPr>
            <p:cNvPr id="31" name="TextBox 31"/>
            <p:cNvSpPr txBox="1"/>
            <p:nvPr/>
          </p:nvSpPr>
          <p:spPr>
            <a:xfrm>
              <a:off x="870585" y="4602956"/>
              <a:ext cx="3602990"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Dış dünyayla tek temas noktası Nginx ters vekildir,</a:t>
              </a:r>
              <a:br/>
              <a:r>
                <a:rPr lang="tr-TR" sz="1120" dirty="0">
                  <a:solidFill>
                    <a:srgbClr val="172B3A"/>
                  </a:solidFill>
                  <a:latin typeface="+mn-lt"/>
                  <a:ea typeface="+mn-ea"/>
                  <a:cs typeface="+mn-cs"/>
                </a:rPr>
                <a:t>Let's Encrypt TLS burada sonlandırılır.</a:t>
              </a:r>
            </a:p>
          </p:txBody>
        </p:sp>
      </p:grpSp>
      <p:grpSp>
        <p:nvGrpSpPr>
          <p:cNvPr id="39" name="card-bahar"/>
          <p:cNvGrpSpPr/>
          <p:nvPr/>
        </p:nvGrpSpPr>
        <p:grpSpPr>
          <a:xfrm>
            <a:off x="6324600" y="3543300"/>
            <a:ext cx="5257800" cy="2095500"/>
            <a:chOff x="6324600" y="3543300"/>
            <a:chExt cx="5257800" cy="2095500"/>
          </a:xfrm>
        </p:grpSpPr>
        <p:sp>
          <p:nvSpPr>
            <p:cNvPr id="33" name="Rectangle 33"/>
            <p:cNvSpPr/>
            <p:nvPr/>
          </p:nvSpPr>
          <p:spPr>
            <a:xfrm>
              <a:off x="6324600" y="3543300"/>
              <a:ext cx="5257800" cy="2095500"/>
            </a:xfrm>
            <a:prstGeom prst="roundRect">
              <a:avLst>
                <a:gd name="adj" fmla="val 3636"/>
              </a:avLst>
            </a:prstGeom>
            <a:solidFill>
              <a:srgbClr val="FFFFFF"/>
            </a:solidFill>
            <a:ln w="14288">
              <a:solidFill>
                <a:srgbClr val="2E86AB"/>
              </a:solidFill>
            </a:ln>
          </p:spPr>
        </p:sp>
        <p:sp>
          <p:nvSpPr>
            <p:cNvPr id="34" name="Rectangle 34"/>
            <p:cNvSpPr/>
            <p:nvPr/>
          </p:nvSpPr>
          <p:spPr>
            <a:xfrm>
              <a:off x="6324600" y="3543300"/>
              <a:ext cx="57150" cy="2095500"/>
            </a:xfrm>
            <a:prstGeom prst="rect">
              <a:avLst/>
            </a:prstGeom>
            <a:solidFill>
              <a:srgbClr val="12355B"/>
            </a:solidFill>
            <a:ln>
              <a:noFill/>
            </a:ln>
          </p:spPr>
        </p:sp>
        <p:sp>
          <p:nvSpPr>
            <p:cNvPr id="35" name="TextBox 35"/>
            <p:cNvSpPr txBox="1"/>
            <p:nvPr/>
          </p:nvSpPr>
          <p:spPr>
            <a:xfrm>
              <a:off x="6584442" y="3683318"/>
              <a:ext cx="302921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Bahar — Lisansüstü Araştırmacı</a:t>
              </a:r>
            </a:p>
          </p:txBody>
        </p:sp>
        <p:sp>
          <p:nvSpPr>
            <p:cNvPr id="36" name="TextBox 36"/>
            <p:cNvSpPr txBox="1"/>
            <p:nvPr/>
          </p:nvSpPr>
          <p:spPr>
            <a:xfrm>
              <a:off x="6585585" y="3993356"/>
              <a:ext cx="392873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Popüler bir ekipmana aynı saniyede gelen iki talep için</a:t>
              </a:r>
            </a:p>
          </p:txBody>
        </p:sp>
        <p:sp>
          <p:nvSpPr>
            <p:cNvPr id="37" name="TextBox 37"/>
            <p:cNvSpPr txBox="1"/>
            <p:nvPr/>
          </p:nvSpPr>
          <p:spPr>
            <a:xfrm>
              <a:off x="6585585" y="4202906"/>
              <a:ext cx="38109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bellek içi denetim yarış durumuna karşı yetersizdi.</a:t>
              </a:r>
            </a:p>
          </p:txBody>
        </p:sp>
        <p:sp>
          <p:nvSpPr>
            <p:cNvPr id="38" name="TextBox 38"/>
            <p:cNvSpPr txBox="1"/>
            <p:nvPr/>
          </p:nvSpPr>
          <p:spPr>
            <a:xfrm>
              <a:off x="6585585" y="4602956"/>
              <a:ext cx="3738118"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Serializable izolasyon veya pesimistik kilit modellendi;</a:t>
              </a:r>
              <a:br/>
              <a:r>
                <a:rPr lang="tr-TR" sz="1120" dirty="0">
                  <a:solidFill>
                    <a:srgbClr val="172B3A"/>
                  </a:solidFill>
                  <a:latin typeface="+mn-lt"/>
                  <a:ea typeface="+mn-ea"/>
                  <a:cs typeface="+mn-cs"/>
                </a:rPr>
                <a:t>bildirim e-postası asenkron kuyruğa devredildi.</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5895509" cy="642557"/>
            <a:chOff x="609600" y="171450"/>
            <a:chExt cx="5895509" cy="642557"/>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301496" y="315278"/>
              <a:ext cx="5203613"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Docker Compose ile paketleme</a:t>
              </a:r>
            </a:p>
          </p:txBody>
        </p:sp>
      </p:grpSp>
      <p:grpSp>
        <p:nvGrpSpPr>
          <p:cNvPr id="11" name="compose-frame"/>
          <p:cNvGrpSpPr/>
          <p:nvPr/>
        </p:nvGrpSpPr>
        <p:grpSpPr>
          <a:xfrm>
            <a:off x="609600" y="1219200"/>
            <a:ext cx="10972800" cy="381000"/>
            <a:chOff x="609600" y="1219200"/>
            <a:chExt cx="10972800" cy="381000"/>
          </a:xfrm>
        </p:grpSpPr>
        <p:sp>
          <p:nvSpPr>
            <p:cNvPr id="9" name="Rectangle 9"/>
            <p:cNvSpPr/>
            <p:nvPr/>
          </p:nvSpPr>
          <p:spPr>
            <a:xfrm>
              <a:off x="609600" y="1219200"/>
              <a:ext cx="10972800" cy="381000"/>
            </a:xfrm>
            <a:prstGeom prst="roundRect">
              <a:avLst>
                <a:gd name="adj" fmla="val 15000"/>
              </a:avLst>
            </a:prstGeom>
            <a:solidFill>
              <a:srgbClr val="EAF4F6"/>
            </a:solidFill>
            <a:ln w="9525">
              <a:solidFill>
                <a:srgbClr val="00A6A6"/>
              </a:solidFill>
            </a:ln>
          </p:spPr>
        </p:sp>
        <p:sp>
          <p:nvSpPr>
            <p:cNvPr id="10" name="TextBox 10"/>
            <p:cNvSpPr txBox="1"/>
            <p:nvPr/>
          </p:nvSpPr>
          <p:spPr>
            <a:xfrm>
              <a:off x="908304" y="1327785"/>
              <a:ext cx="43043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docker-compose.yml — Laboratuvar Yönetim Sistemi</a:t>
              </a:r>
            </a:p>
          </p:txBody>
        </p:sp>
      </p:grpSp>
      <p:grpSp>
        <p:nvGrpSpPr>
          <p:cNvPr id="20" name="svc-api"/>
          <p:cNvGrpSpPr/>
          <p:nvPr/>
        </p:nvGrpSpPr>
        <p:grpSpPr>
          <a:xfrm>
            <a:off x="609600" y="1828800"/>
            <a:ext cx="4762500" cy="2286000"/>
            <a:chOff x="609600" y="1828800"/>
            <a:chExt cx="4762500" cy="2286000"/>
          </a:xfrm>
        </p:grpSpPr>
        <p:sp>
          <p:nvSpPr>
            <p:cNvPr id="12" name="Rectangle 12"/>
            <p:cNvSpPr/>
            <p:nvPr/>
          </p:nvSpPr>
          <p:spPr>
            <a:xfrm>
              <a:off x="609600" y="1828800"/>
              <a:ext cx="4762500" cy="2286000"/>
            </a:xfrm>
            <a:prstGeom prst="roundRect">
              <a:avLst>
                <a:gd name="adj" fmla="val 3333"/>
              </a:avLst>
            </a:prstGeom>
            <a:solidFill>
              <a:srgbClr val="12355B"/>
            </a:solidFill>
            <a:ln>
              <a:noFill/>
            </a:ln>
          </p:spPr>
        </p:sp>
        <p:sp>
          <p:nvSpPr>
            <p:cNvPr id="13" name="TextBox 13"/>
            <p:cNvSpPr txBox="1"/>
            <p:nvPr/>
          </p:nvSpPr>
          <p:spPr>
            <a:xfrm>
              <a:off x="831342" y="1987868"/>
              <a:ext cx="1492601"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laboratuvar-api</a:t>
              </a:r>
            </a:p>
          </p:txBody>
        </p:sp>
        <p:sp>
          <p:nvSpPr>
            <p:cNvPr id="14" name="TextBox 14"/>
            <p:cNvSpPr txBox="1"/>
            <p:nvPr/>
          </p:nvSpPr>
          <p:spPr>
            <a:xfrm>
              <a:off x="832485" y="2316956"/>
              <a:ext cx="56175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build: .</a:t>
              </a:r>
            </a:p>
          </p:txBody>
        </p:sp>
        <p:sp>
          <p:nvSpPr>
            <p:cNvPr id="15" name="TextBox 15"/>
            <p:cNvSpPr txBox="1"/>
            <p:nvPr/>
          </p:nvSpPr>
          <p:spPr>
            <a:xfrm>
              <a:off x="832485" y="2583656"/>
              <a:ext cx="212981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ports: 127.0.0.1:3000:3000</a:t>
              </a:r>
            </a:p>
          </p:txBody>
        </p:sp>
        <p:sp>
          <p:nvSpPr>
            <p:cNvPr id="16" name="TextBox 16"/>
            <p:cNvSpPr txBox="1"/>
            <p:nvPr/>
          </p:nvSpPr>
          <p:spPr>
            <a:xfrm>
              <a:off x="832485" y="2850356"/>
              <a:ext cx="99900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environment:</a:t>
              </a:r>
            </a:p>
          </p:txBody>
        </p:sp>
        <p:sp>
          <p:nvSpPr>
            <p:cNvPr id="17" name="TextBox 17"/>
            <p:cNvSpPr txBox="1"/>
            <p:nvPr/>
          </p:nvSpPr>
          <p:spPr>
            <a:xfrm>
              <a:off x="1023366" y="3087052"/>
              <a:ext cx="225119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mn-lt"/>
                  <a:ea typeface="+mn-ea"/>
                  <a:cs typeface="+mn-cs"/>
                </a:rPr>
                <a:t>DATABASE_URL (laboratuvar-db)</a:t>
              </a:r>
            </a:p>
          </p:txBody>
        </p:sp>
        <p:sp>
          <p:nvSpPr>
            <p:cNvPr id="18" name="TextBox 18"/>
            <p:cNvSpPr txBox="1"/>
            <p:nvPr/>
          </p:nvSpPr>
          <p:spPr>
            <a:xfrm>
              <a:off x="1023366" y="3296602"/>
              <a:ext cx="204592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mn-lt"/>
                  <a:ea typeface="+mn-ea"/>
                  <a:cs typeface="+mn-cs"/>
                </a:rPr>
                <a:t>JWT_GIZLI_ANAHTAR (${env})</a:t>
              </a:r>
            </a:p>
          </p:txBody>
        </p:sp>
        <p:sp>
          <p:nvSpPr>
            <p:cNvPr id="19" name="TextBox 19"/>
            <p:cNvSpPr txBox="1"/>
            <p:nvPr/>
          </p:nvSpPr>
          <p:spPr>
            <a:xfrm>
              <a:off x="832866" y="3734752"/>
              <a:ext cx="196131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depends_on: laboratuvar-db</a:t>
              </a:r>
            </a:p>
          </p:txBody>
        </p:sp>
      </p:grpSp>
      <p:sp>
        <p:nvSpPr>
          <p:cNvPr id="21" name="Line 21"/>
          <p:cNvSpPr/>
          <p:nvPr/>
        </p:nvSpPr>
        <p:spPr>
          <a:xfrm>
            <a:off x="5372100" y="2971800"/>
            <a:ext cx="495300" cy="1"/>
          </a:xfrm>
          <a:prstGeom prst="line">
            <a:avLst/>
          </a:prstGeom>
          <a:noFill/>
          <a:ln w="23812">
            <a:solidFill>
              <a:srgbClr val="00A6A6"/>
            </a:solidFill>
            <a:tailEnd type="arrow" w="lg" len="lg"/>
          </a:ln>
        </p:spPr>
      </p:sp>
      <p:grpSp>
        <p:nvGrpSpPr>
          <p:cNvPr id="31" name="svc-db"/>
          <p:cNvGrpSpPr/>
          <p:nvPr/>
        </p:nvGrpSpPr>
        <p:grpSpPr>
          <a:xfrm>
            <a:off x="5867400" y="1828800"/>
            <a:ext cx="4762500" cy="2286000"/>
            <a:chOff x="5867400" y="1828800"/>
            <a:chExt cx="4762500" cy="2286000"/>
          </a:xfrm>
        </p:grpSpPr>
        <p:sp>
          <p:nvSpPr>
            <p:cNvPr id="22" name="Rectangle 22"/>
            <p:cNvSpPr/>
            <p:nvPr/>
          </p:nvSpPr>
          <p:spPr>
            <a:xfrm>
              <a:off x="5867400" y="1828800"/>
              <a:ext cx="4762500" cy="2286000"/>
            </a:xfrm>
            <a:prstGeom prst="roundRect">
              <a:avLst>
                <a:gd name="adj" fmla="val 3333"/>
              </a:avLst>
            </a:prstGeom>
            <a:solidFill>
              <a:srgbClr val="FFFFFF"/>
            </a:solidFill>
            <a:ln w="14288">
              <a:solidFill>
                <a:srgbClr val="2E86AB"/>
              </a:solidFill>
            </a:ln>
          </p:spPr>
        </p:sp>
        <p:sp>
          <p:nvSpPr>
            <p:cNvPr id="23" name="TextBox 23"/>
            <p:cNvSpPr txBox="1"/>
            <p:nvPr/>
          </p:nvSpPr>
          <p:spPr>
            <a:xfrm>
              <a:off x="6089142" y="1987868"/>
              <a:ext cx="143535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laboratuvar-db</a:t>
              </a:r>
            </a:p>
          </p:txBody>
        </p:sp>
        <p:sp>
          <p:nvSpPr>
            <p:cNvPr id="24" name="TextBox 24"/>
            <p:cNvSpPr txBox="1"/>
            <p:nvPr/>
          </p:nvSpPr>
          <p:spPr>
            <a:xfrm>
              <a:off x="6090285" y="2316956"/>
              <a:ext cx="196395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image: postgres:17-alpine</a:t>
              </a:r>
            </a:p>
          </p:txBody>
        </p:sp>
        <p:sp>
          <p:nvSpPr>
            <p:cNvPr id="25" name="TextBox 25"/>
            <p:cNvSpPr txBox="1"/>
            <p:nvPr/>
          </p:nvSpPr>
          <p:spPr>
            <a:xfrm>
              <a:off x="6090285" y="2583656"/>
              <a:ext cx="99900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environment:</a:t>
              </a:r>
            </a:p>
          </p:txBody>
        </p:sp>
        <p:sp>
          <p:nvSpPr>
            <p:cNvPr id="26" name="TextBox 26"/>
            <p:cNvSpPr txBox="1"/>
            <p:nvPr/>
          </p:nvSpPr>
          <p:spPr>
            <a:xfrm>
              <a:off x="6281166" y="2820352"/>
              <a:ext cx="204897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POSTGRES_PASSWORD: parola</a:t>
              </a:r>
            </a:p>
          </p:txBody>
        </p:sp>
        <p:sp>
          <p:nvSpPr>
            <p:cNvPr id="27" name="TextBox 27"/>
            <p:cNvSpPr txBox="1"/>
            <p:nvPr/>
          </p:nvSpPr>
          <p:spPr>
            <a:xfrm>
              <a:off x="6281166" y="3029902"/>
              <a:ext cx="188324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POSTGRES_DB: laboratuvar</a:t>
              </a:r>
            </a:p>
          </p:txBody>
        </p:sp>
        <p:sp>
          <p:nvSpPr>
            <p:cNvPr id="28" name="TextBox 28"/>
            <p:cNvSpPr txBox="1"/>
            <p:nvPr/>
          </p:nvSpPr>
          <p:spPr>
            <a:xfrm>
              <a:off x="6090285" y="3364706"/>
              <a:ext cx="66729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volumes:</a:t>
              </a:r>
            </a:p>
          </p:txBody>
        </p:sp>
        <p:sp>
          <p:nvSpPr>
            <p:cNvPr id="29" name="TextBox 29"/>
            <p:cNvSpPr txBox="1"/>
            <p:nvPr/>
          </p:nvSpPr>
          <p:spPr>
            <a:xfrm>
              <a:off x="6281166" y="3601402"/>
              <a:ext cx="224401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laboratuvar-db-verisi:/var/lib/</a:t>
              </a:r>
            </a:p>
          </p:txBody>
        </p:sp>
        <p:sp>
          <p:nvSpPr>
            <p:cNvPr id="30" name="TextBox 30"/>
            <p:cNvSpPr txBox="1"/>
            <p:nvPr/>
          </p:nvSpPr>
          <p:spPr>
            <a:xfrm>
              <a:off x="6281166" y="3791902"/>
              <a:ext cx="114147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postgresql/data</a:t>
              </a:r>
            </a:p>
          </p:txBody>
        </p:sp>
      </p:grpSp>
      <p:grpSp>
        <p:nvGrpSpPr>
          <p:cNvPr id="40" name="critical-lines"/>
          <p:cNvGrpSpPr/>
          <p:nvPr/>
        </p:nvGrpSpPr>
        <p:grpSpPr>
          <a:xfrm>
            <a:off x="609600" y="4305300"/>
            <a:ext cx="10972800" cy="1714500"/>
            <a:chOff x="609600" y="4305300"/>
            <a:chExt cx="10972800" cy="1714500"/>
          </a:xfrm>
        </p:grpSpPr>
        <p:sp>
          <p:nvSpPr>
            <p:cNvPr id="32" name="Rectangle 32"/>
            <p:cNvSpPr/>
            <p:nvPr/>
          </p:nvSpPr>
          <p:spPr>
            <a:xfrm>
              <a:off x="609600" y="4305300"/>
              <a:ext cx="10972800" cy="1714500"/>
            </a:xfrm>
            <a:prstGeom prst="roundRect">
              <a:avLst>
                <a:gd name="adj" fmla="val 4444"/>
              </a:avLst>
            </a:prstGeom>
            <a:solidFill>
              <a:srgbClr val="FFFFFF"/>
            </a:solidFill>
            <a:ln w="9525">
              <a:solidFill>
                <a:srgbClr val="B8CBD3"/>
              </a:solidFill>
            </a:ln>
          </p:spPr>
        </p:sp>
        <p:sp>
          <p:nvSpPr>
            <p:cNvPr id="33" name="Rectangle 33"/>
            <p:cNvSpPr/>
            <p:nvPr/>
          </p:nvSpPr>
          <p:spPr>
            <a:xfrm>
              <a:off x="609600" y="4305300"/>
              <a:ext cx="57150" cy="1714500"/>
            </a:xfrm>
            <a:prstGeom prst="rect">
              <a:avLst/>
            </a:prstGeom>
            <a:solidFill>
              <a:srgbClr val="2E86AB"/>
            </a:solidFill>
            <a:ln>
              <a:noFill/>
            </a:ln>
          </p:spPr>
        </p:sp>
        <p:sp>
          <p:nvSpPr>
            <p:cNvPr id="34" name="TextBox 34"/>
            <p:cNvSpPr txBox="1"/>
            <p:nvPr/>
          </p:nvSpPr>
          <p:spPr>
            <a:xfrm>
              <a:off x="907923" y="4434364"/>
              <a:ext cx="132999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Kritik satırlar</a:t>
              </a:r>
            </a:p>
          </p:txBody>
        </p:sp>
        <p:sp>
          <p:nvSpPr>
            <p:cNvPr id="35" name="TextBox 35"/>
            <p:cNvSpPr txBox="1"/>
            <p:nvPr/>
          </p:nvSpPr>
          <p:spPr>
            <a:xfrm>
              <a:off x="908685" y="4698206"/>
              <a:ext cx="72251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 ports: "127.0.0.1:3000:3000" — API portu yalnızca localhost'a bağlanır, dışarıya kapatılır;</a:t>
              </a:r>
            </a:p>
          </p:txBody>
        </p:sp>
        <p:sp>
          <p:nvSpPr>
            <p:cNvPr id="36" name="TextBox 36"/>
            <p:cNvSpPr txBox="1"/>
            <p:nvPr/>
          </p:nvSpPr>
          <p:spPr>
            <a:xfrm>
              <a:off x="1061085" y="4888706"/>
              <a:ext cx="423809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dış erişim ancak Nginx reverse proxy üzerinden sağlanır.</a:t>
              </a:r>
            </a:p>
          </p:txBody>
        </p:sp>
        <p:sp>
          <p:nvSpPr>
            <p:cNvPr id="37" name="TextBox 37"/>
            <p:cNvSpPr txBox="1"/>
            <p:nvPr/>
          </p:nvSpPr>
          <p:spPr>
            <a:xfrm>
              <a:off x="908685" y="5155406"/>
              <a:ext cx="84178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 JWT_GIZLI_ANAHTAR: ${JWT_GIZLI_ANAHTAR} — gizli anahtar dosyaya gömülmez, host ortamından enjekte edilir.</a:t>
              </a:r>
            </a:p>
          </p:txBody>
        </p:sp>
        <p:sp>
          <p:nvSpPr>
            <p:cNvPr id="38" name="TextBox 38"/>
            <p:cNvSpPr txBox="1"/>
            <p:nvPr/>
          </p:nvSpPr>
          <p:spPr>
            <a:xfrm>
              <a:off x="908685" y="5422106"/>
              <a:ext cx="831156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 depends_on yalnızca başlatma sırasını garanti eder; veritabanının bağlantıya hazır olduğunu garanti etmez</a:t>
              </a:r>
            </a:p>
          </p:txBody>
        </p:sp>
        <p:sp>
          <p:nvSpPr>
            <p:cNvPr id="39" name="TextBox 39"/>
            <p:cNvSpPr txBox="1"/>
            <p:nvPr/>
          </p:nvSpPr>
          <p:spPr>
            <a:xfrm>
              <a:off x="1061085" y="5612606"/>
              <a:ext cx="246088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(bkz. Bölüm 14, retry mantığı).</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460291" cy="642557"/>
            <a:chOff x="609600" y="171450"/>
            <a:chExt cx="8460291" cy="642557"/>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301496" y="315278"/>
              <a:ext cx="7768395"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Kalite kriterleri: rubrik ile özdeğerlendirme</a:t>
              </a:r>
            </a:p>
          </p:txBody>
        </p:sp>
      </p:grpSp>
      <p:grpSp>
        <p:nvGrpSpPr>
          <p:cNvPr id="12" name="rubric-item-1"/>
          <p:cNvGrpSpPr/>
          <p:nvPr/>
        </p:nvGrpSpPr>
        <p:grpSpPr>
          <a:xfrm>
            <a:off x="685800" y="1352550"/>
            <a:ext cx="4778332" cy="334423"/>
            <a:chOff x="685800" y="1352550"/>
            <a:chExt cx="4778332" cy="334423"/>
          </a:xfrm>
        </p:grpSpPr>
        <p:sp>
          <p:nvSpPr>
            <p:cNvPr id="9" name="Ellipse 9"/>
            <p:cNvSpPr/>
            <p:nvPr/>
          </p:nvSpPr>
          <p:spPr>
            <a:xfrm>
              <a:off x="685800" y="1352550"/>
              <a:ext cx="304800" cy="304800"/>
            </a:xfrm>
            <a:prstGeom prst="ellipse">
              <a:avLst/>
            </a:prstGeom>
            <a:solidFill>
              <a:srgbClr val="00A6A6"/>
            </a:solidFill>
            <a:ln>
              <a:noFill/>
            </a:ln>
          </p:spPr>
        </p:sp>
        <p:sp>
          <p:nvSpPr>
            <p:cNvPr id="10" name="Freeform 10"/>
            <p:cNvSpPr/>
            <p:nvPr/>
          </p:nvSpPr>
          <p:spPr>
            <a:xfrm>
              <a:off x="762000" y="1428750"/>
              <a:ext cx="161925" cy="142875"/>
            </a:xfrm>
            <a:custGeom>
              <a:avLst/>
              <a:gdLst/>
              <a:ahLst/>
              <a:cxnLst/>
              <a:rect l="l" t="t" r="r" b="b"/>
              <a:pathLst>
                <a:path w="161925" h="142875">
                  <a:moveTo>
                    <a:pt x="0" y="76200"/>
                  </a:moveTo>
                  <a:lnTo>
                    <a:pt x="57150" y="142875"/>
                  </a:lnTo>
                  <a:lnTo>
                    <a:pt x="161925" y="0"/>
                  </a:lnTo>
                </a:path>
              </a:pathLst>
            </a:custGeom>
            <a:noFill/>
            <a:ln w="23812" cap="rnd">
              <a:solidFill>
                <a:srgbClr val="FFFFFF"/>
              </a:solidFill>
              <a:round/>
            </a:ln>
          </p:spPr>
        </p:sp>
        <p:sp>
          <p:nvSpPr>
            <p:cNvPr id="11" name="TextBox 11"/>
            <p:cNvSpPr txBox="1"/>
            <p:nvPr/>
          </p:nvSpPr>
          <p:spPr>
            <a:xfrm>
              <a:off x="1135761" y="1408271"/>
              <a:ext cx="432837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Authentication ve RBAC uygulanmış (Bölüm 10)</a:t>
              </a:r>
            </a:p>
          </p:txBody>
        </p:sp>
      </p:grpSp>
      <p:grpSp>
        <p:nvGrpSpPr>
          <p:cNvPr id="16" name="rubric-item-2"/>
          <p:cNvGrpSpPr/>
          <p:nvPr/>
        </p:nvGrpSpPr>
        <p:grpSpPr>
          <a:xfrm>
            <a:off x="685800" y="1943100"/>
            <a:ext cx="5324070" cy="334423"/>
            <a:chOff x="685800" y="1943100"/>
            <a:chExt cx="5324070" cy="334423"/>
          </a:xfrm>
        </p:grpSpPr>
        <p:sp>
          <p:nvSpPr>
            <p:cNvPr id="13" name="Ellipse 13"/>
            <p:cNvSpPr/>
            <p:nvPr/>
          </p:nvSpPr>
          <p:spPr>
            <a:xfrm>
              <a:off x="685800" y="1943100"/>
              <a:ext cx="304800" cy="304800"/>
            </a:xfrm>
            <a:prstGeom prst="ellipse">
              <a:avLst/>
            </a:prstGeom>
            <a:solidFill>
              <a:srgbClr val="00A6A6"/>
            </a:solidFill>
            <a:ln>
              <a:noFill/>
            </a:ln>
          </p:spPr>
        </p:sp>
        <p:sp>
          <p:nvSpPr>
            <p:cNvPr id="14" name="Freeform 14"/>
            <p:cNvSpPr/>
            <p:nvPr/>
          </p:nvSpPr>
          <p:spPr>
            <a:xfrm>
              <a:off x="762000" y="2019300"/>
              <a:ext cx="161925" cy="142875"/>
            </a:xfrm>
            <a:custGeom>
              <a:avLst/>
              <a:gdLst/>
              <a:ahLst/>
              <a:cxnLst/>
              <a:rect l="l" t="t" r="r" b="b"/>
              <a:pathLst>
                <a:path w="161925" h="142875">
                  <a:moveTo>
                    <a:pt x="0" y="76200"/>
                  </a:moveTo>
                  <a:lnTo>
                    <a:pt x="57150" y="142875"/>
                  </a:lnTo>
                  <a:lnTo>
                    <a:pt x="161925" y="0"/>
                  </a:lnTo>
                </a:path>
              </a:pathLst>
            </a:custGeom>
            <a:noFill/>
            <a:ln w="23812" cap="rnd">
              <a:solidFill>
                <a:srgbClr val="FFFFFF"/>
              </a:solidFill>
              <a:round/>
            </a:ln>
          </p:spPr>
        </p:sp>
        <p:sp>
          <p:nvSpPr>
            <p:cNvPr id="15" name="TextBox 15"/>
            <p:cNvSpPr txBox="1"/>
            <p:nvPr/>
          </p:nvSpPr>
          <p:spPr>
            <a:xfrm>
              <a:off x="1135761" y="1998821"/>
              <a:ext cx="487410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Girdi doğrulama ve merkezi hata yönetimi (Bölüm 11)</a:t>
              </a:r>
            </a:p>
          </p:txBody>
        </p:sp>
      </p:grpSp>
      <p:grpSp>
        <p:nvGrpSpPr>
          <p:cNvPr id="20" name="rubric-item-3"/>
          <p:cNvGrpSpPr/>
          <p:nvPr/>
        </p:nvGrpSpPr>
        <p:grpSpPr>
          <a:xfrm>
            <a:off x="685800" y="2533650"/>
            <a:ext cx="5936413" cy="334423"/>
            <a:chOff x="685800" y="2533650"/>
            <a:chExt cx="5936413" cy="334423"/>
          </a:xfrm>
        </p:grpSpPr>
        <p:sp>
          <p:nvSpPr>
            <p:cNvPr id="17" name="Ellipse 17"/>
            <p:cNvSpPr/>
            <p:nvPr/>
          </p:nvSpPr>
          <p:spPr>
            <a:xfrm>
              <a:off x="685800" y="2533650"/>
              <a:ext cx="304800" cy="304800"/>
            </a:xfrm>
            <a:prstGeom prst="ellipse">
              <a:avLst/>
            </a:prstGeom>
            <a:solidFill>
              <a:srgbClr val="00A6A6"/>
            </a:solidFill>
            <a:ln>
              <a:noFill/>
            </a:ln>
          </p:spPr>
        </p:sp>
        <p:sp>
          <p:nvSpPr>
            <p:cNvPr id="18" name="Freeform 18"/>
            <p:cNvSpPr/>
            <p:nvPr/>
          </p:nvSpPr>
          <p:spPr>
            <a:xfrm>
              <a:off x="762000" y="2609850"/>
              <a:ext cx="161925" cy="142875"/>
            </a:xfrm>
            <a:custGeom>
              <a:avLst/>
              <a:gdLst/>
              <a:ahLst/>
              <a:cxnLst/>
              <a:rect l="l" t="t" r="r" b="b"/>
              <a:pathLst>
                <a:path w="161925" h="142875">
                  <a:moveTo>
                    <a:pt x="0" y="76200"/>
                  </a:moveTo>
                  <a:lnTo>
                    <a:pt x="57150" y="142875"/>
                  </a:lnTo>
                  <a:lnTo>
                    <a:pt x="161925" y="0"/>
                  </a:lnTo>
                </a:path>
              </a:pathLst>
            </a:custGeom>
            <a:noFill/>
            <a:ln w="23812" cap="rnd">
              <a:solidFill>
                <a:srgbClr val="FFFFFF"/>
              </a:solidFill>
              <a:round/>
            </a:ln>
          </p:spPr>
        </p:sp>
        <p:sp>
          <p:nvSpPr>
            <p:cNvPr id="19" name="TextBox 19"/>
            <p:cNvSpPr txBox="1"/>
            <p:nvPr/>
          </p:nvSpPr>
          <p:spPr>
            <a:xfrm>
              <a:off x="1135761" y="2589371"/>
              <a:ext cx="548645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OpenAPI sözleşmesi ve unit/integration testler (Bölüm 13)</a:t>
              </a:r>
            </a:p>
          </p:txBody>
        </p:sp>
      </p:grpSp>
      <p:grpSp>
        <p:nvGrpSpPr>
          <p:cNvPr id="24" name="rubric-item-4"/>
          <p:cNvGrpSpPr/>
          <p:nvPr/>
        </p:nvGrpSpPr>
        <p:grpSpPr>
          <a:xfrm>
            <a:off x="685800" y="3124200"/>
            <a:ext cx="4775686" cy="334423"/>
            <a:chOff x="685800" y="3124200"/>
            <a:chExt cx="4775686" cy="334423"/>
          </a:xfrm>
        </p:grpSpPr>
        <p:sp>
          <p:nvSpPr>
            <p:cNvPr id="21" name="Ellipse 21"/>
            <p:cNvSpPr/>
            <p:nvPr/>
          </p:nvSpPr>
          <p:spPr>
            <a:xfrm>
              <a:off x="685800" y="3124200"/>
              <a:ext cx="304800" cy="304800"/>
            </a:xfrm>
            <a:prstGeom prst="ellipse">
              <a:avLst/>
            </a:prstGeom>
            <a:solidFill>
              <a:srgbClr val="00A6A6"/>
            </a:solidFill>
            <a:ln>
              <a:noFill/>
            </a:ln>
          </p:spPr>
        </p:sp>
        <p:sp>
          <p:nvSpPr>
            <p:cNvPr id="22" name="Freeform 22"/>
            <p:cNvSpPr/>
            <p:nvPr/>
          </p:nvSpPr>
          <p:spPr>
            <a:xfrm>
              <a:off x="762000" y="3200400"/>
              <a:ext cx="161925" cy="142875"/>
            </a:xfrm>
            <a:custGeom>
              <a:avLst/>
              <a:gdLst/>
              <a:ahLst/>
              <a:cxnLst/>
              <a:rect l="l" t="t" r="r" b="b"/>
              <a:pathLst>
                <a:path w="161925" h="142875">
                  <a:moveTo>
                    <a:pt x="0" y="76200"/>
                  </a:moveTo>
                  <a:lnTo>
                    <a:pt x="57150" y="142875"/>
                  </a:lnTo>
                  <a:lnTo>
                    <a:pt x="161925" y="0"/>
                  </a:lnTo>
                </a:path>
              </a:pathLst>
            </a:custGeom>
            <a:noFill/>
            <a:ln w="23812" cap="rnd">
              <a:solidFill>
                <a:srgbClr val="FFFFFF"/>
              </a:solidFill>
              <a:round/>
            </a:ln>
          </p:spPr>
        </p:sp>
        <p:sp>
          <p:nvSpPr>
            <p:cNvPr id="23" name="TextBox 23"/>
            <p:cNvSpPr txBox="1"/>
            <p:nvPr/>
          </p:nvSpPr>
          <p:spPr>
            <a:xfrm>
              <a:off x="1135761" y="3179921"/>
              <a:ext cx="432572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Docker Compose ile çalıştırılabilir (Bölüm 14)</a:t>
              </a:r>
            </a:p>
          </p:txBody>
        </p:sp>
      </p:grpSp>
      <p:grpSp>
        <p:nvGrpSpPr>
          <p:cNvPr id="28" name="rubric-item-5"/>
          <p:cNvGrpSpPr/>
          <p:nvPr/>
        </p:nvGrpSpPr>
        <p:grpSpPr>
          <a:xfrm>
            <a:off x="685800" y="3714750"/>
            <a:ext cx="5133062" cy="334423"/>
            <a:chOff x="685800" y="3714750"/>
            <a:chExt cx="5133062" cy="334423"/>
          </a:xfrm>
        </p:grpSpPr>
        <p:sp>
          <p:nvSpPr>
            <p:cNvPr id="25" name="Ellipse 25"/>
            <p:cNvSpPr/>
            <p:nvPr/>
          </p:nvSpPr>
          <p:spPr>
            <a:xfrm>
              <a:off x="685800" y="3714750"/>
              <a:ext cx="304800" cy="304800"/>
            </a:xfrm>
            <a:prstGeom prst="ellipse">
              <a:avLst/>
            </a:prstGeom>
            <a:solidFill>
              <a:srgbClr val="00A6A6"/>
            </a:solidFill>
            <a:ln>
              <a:noFill/>
            </a:ln>
          </p:spPr>
        </p:sp>
        <p:sp>
          <p:nvSpPr>
            <p:cNvPr id="26" name="Freeform 26"/>
            <p:cNvSpPr/>
            <p:nvPr/>
          </p:nvSpPr>
          <p:spPr>
            <a:xfrm>
              <a:off x="762000" y="3790950"/>
              <a:ext cx="161925" cy="142875"/>
            </a:xfrm>
            <a:custGeom>
              <a:avLst/>
              <a:gdLst/>
              <a:ahLst/>
              <a:cxnLst/>
              <a:rect l="l" t="t" r="r" b="b"/>
              <a:pathLst>
                <a:path w="161925" h="142875">
                  <a:moveTo>
                    <a:pt x="0" y="76200"/>
                  </a:moveTo>
                  <a:lnTo>
                    <a:pt x="57150" y="142875"/>
                  </a:lnTo>
                  <a:lnTo>
                    <a:pt x="161925" y="0"/>
                  </a:lnTo>
                </a:path>
              </a:pathLst>
            </a:custGeom>
            <a:noFill/>
            <a:ln w="23812" cap="rnd">
              <a:solidFill>
                <a:srgbClr val="FFFFFF"/>
              </a:solidFill>
              <a:round/>
            </a:ln>
          </p:spPr>
        </p:sp>
        <p:sp>
          <p:nvSpPr>
            <p:cNvPr id="27" name="TextBox 27"/>
            <p:cNvSpPr txBox="1"/>
            <p:nvPr/>
          </p:nvSpPr>
          <p:spPr>
            <a:xfrm>
              <a:off x="1135761" y="3770471"/>
              <a:ext cx="468310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Sırlar ortam değişkeninde, kodda değil (Bölüm 15)</a:t>
              </a:r>
            </a:p>
          </p:txBody>
        </p:sp>
      </p:grpSp>
      <p:grpSp>
        <p:nvGrpSpPr>
          <p:cNvPr id="36" name="score-card"/>
          <p:cNvGrpSpPr/>
          <p:nvPr/>
        </p:nvGrpSpPr>
        <p:grpSpPr>
          <a:xfrm>
            <a:off x="8534400" y="1257300"/>
            <a:ext cx="3048000" cy="2952750"/>
            <a:chOff x="8534400" y="1257300"/>
            <a:chExt cx="3048000" cy="2952750"/>
          </a:xfrm>
        </p:grpSpPr>
        <p:sp>
          <p:nvSpPr>
            <p:cNvPr id="29" name="Rectangle 29"/>
            <p:cNvSpPr/>
            <p:nvPr/>
          </p:nvSpPr>
          <p:spPr>
            <a:xfrm>
              <a:off x="8534400" y="1257300"/>
              <a:ext cx="3048000" cy="2952750"/>
            </a:xfrm>
            <a:prstGeom prst="roundRect">
              <a:avLst>
                <a:gd name="adj" fmla="val 3226"/>
              </a:avLst>
            </a:prstGeom>
            <a:solidFill>
              <a:srgbClr val="12355B"/>
            </a:solidFill>
            <a:ln>
              <a:noFill/>
            </a:ln>
          </p:spPr>
        </p:sp>
        <p:sp>
          <p:nvSpPr>
            <p:cNvPr id="30" name="TextBox 30"/>
            <p:cNvSpPr txBox="1"/>
            <p:nvPr/>
          </p:nvSpPr>
          <p:spPr>
            <a:xfrm>
              <a:off x="8833104" y="1584960"/>
              <a:ext cx="1283818" cy="234696"/>
            </a:xfrm>
            <a:prstGeom prst="rect">
              <a:avLst/>
            </a:prstGeom>
            <a:noFill/>
            <a:ln>
              <a:noFill/>
            </a:ln>
          </p:spPr>
          <p:txBody>
            <a:bodyPr wrap="none" lIns="0" tIns="0" rIns="0" bIns="0" anchor="t" anchorCtr="0">
              <a:spAutoFit/>
            </a:bodyPr>
            <a:lstStyle/>
            <a:p>
              <a:pPr algn="l"/>
              <a:r>
                <a:rPr lang="tr-TR" sz="1200" spc="150" dirty="0">
                  <a:solidFill>
                    <a:srgbClr val="EAF4F6"/>
                  </a:solidFill>
                  <a:latin typeface="+mn-lt"/>
                  <a:ea typeface="+mn-ea"/>
                  <a:cs typeface="+mn-cs"/>
                </a:rPr>
                <a:t>TOPLAM PUAN</a:t>
              </a:r>
            </a:p>
          </p:txBody>
        </p:sp>
        <p:sp>
          <p:nvSpPr>
            <p:cNvPr id="31" name="TextBox 31"/>
            <p:cNvSpPr txBox="1"/>
            <p:nvPr/>
          </p:nvSpPr>
          <p:spPr>
            <a:xfrm>
              <a:off x="8820150" y="2084070"/>
              <a:ext cx="1755515" cy="1047750"/>
            </a:xfrm>
            <a:prstGeom prst="rect">
              <a:avLst/>
            </a:prstGeom>
            <a:noFill/>
            <a:ln>
              <a:noFill/>
            </a:ln>
          </p:spPr>
          <p:txBody>
            <a:bodyPr wrap="none" lIns="0" tIns="0" rIns="0" bIns="0" anchor="t" anchorCtr="0">
              <a:spAutoFit/>
            </a:bodyPr>
            <a:lstStyle/>
            <a:p>
              <a:pPr algn="l"/>
              <a:r>
                <a:rPr lang="tr-TR" sz="5400" b="1" dirty="0">
                  <a:solidFill>
                    <a:srgbClr val="00A6A6"/>
                  </a:solidFill>
                  <a:latin typeface="+mj-lt"/>
                  <a:ea typeface="+mj-ea"/>
                  <a:cs typeface="+mj-cs"/>
                </a:rPr>
                <a:t>5 / 5</a:t>
              </a:r>
            </a:p>
          </p:txBody>
        </p:sp>
        <p:sp>
          <p:nvSpPr>
            <p:cNvPr id="32" name="TextBox 32"/>
            <p:cNvSpPr txBox="1"/>
            <p:nvPr/>
          </p:nvSpPr>
          <p:spPr>
            <a:xfrm>
              <a:off x="8833485" y="3021806"/>
              <a:ext cx="213460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rubrikDegerlendir(maddeler)</a:t>
              </a:r>
            </a:p>
          </p:txBody>
        </p:sp>
        <p:sp>
          <p:nvSpPr>
            <p:cNvPr id="33" name="TextBox 33"/>
            <p:cNvSpPr txBox="1"/>
            <p:nvPr/>
          </p:nvSpPr>
          <p:spPr>
            <a:xfrm>
              <a:off x="8833485" y="3269456"/>
              <a:ext cx="172810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kontrolFn() true dönen</a:t>
              </a:r>
            </a:p>
          </p:txBody>
        </p:sp>
        <p:sp>
          <p:nvSpPr>
            <p:cNvPr id="34" name="TextBox 34"/>
            <p:cNvSpPr txBox="1"/>
            <p:nvPr/>
          </p:nvSpPr>
          <p:spPr>
            <a:xfrm>
              <a:off x="8833485" y="3479006"/>
              <a:ext cx="117239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maddeleri sayar</a:t>
              </a:r>
            </a:p>
          </p:txBody>
        </p:sp>
        <p:sp>
          <p:nvSpPr>
            <p:cNvPr id="35" name="TextBox 35"/>
            <p:cNvSpPr txBox="1"/>
            <p:nvPr/>
          </p:nvSpPr>
          <p:spPr>
            <a:xfrm>
              <a:off x="8834247" y="3799999"/>
              <a:ext cx="56773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Kod 18.6</a:t>
              </a:r>
            </a:p>
          </p:txBody>
        </p:sp>
      </p:grpSp>
      <p:grpSp>
        <p:nvGrpSpPr>
          <p:cNvPr id="41" name="note-caution"/>
          <p:cNvGrpSpPr/>
          <p:nvPr/>
        </p:nvGrpSpPr>
        <p:grpSpPr>
          <a:xfrm>
            <a:off x="609600" y="4381500"/>
            <a:ext cx="10972800" cy="857250"/>
            <a:chOff x="609600" y="4381500"/>
            <a:chExt cx="10972800" cy="857250"/>
          </a:xfrm>
        </p:grpSpPr>
        <p:sp>
          <p:nvSpPr>
            <p:cNvPr id="37" name="Rectangle 37"/>
            <p:cNvSpPr/>
            <p:nvPr/>
          </p:nvSpPr>
          <p:spPr>
            <a:xfrm>
              <a:off x="609600" y="4381500"/>
              <a:ext cx="10972800" cy="857250"/>
            </a:xfrm>
            <a:prstGeom prst="roundRect">
              <a:avLst>
                <a:gd name="adj" fmla="val 8889"/>
              </a:avLst>
            </a:prstGeom>
            <a:solidFill>
              <a:srgbClr val="EAF4F6"/>
            </a:solidFill>
            <a:ln>
              <a:noFill/>
            </a:ln>
          </p:spPr>
        </p:sp>
        <p:sp>
          <p:nvSpPr>
            <p:cNvPr id="38" name="Rectangle 38"/>
            <p:cNvSpPr/>
            <p:nvPr/>
          </p:nvSpPr>
          <p:spPr>
            <a:xfrm>
              <a:off x="609600" y="4381500"/>
              <a:ext cx="57150" cy="857250"/>
            </a:xfrm>
            <a:prstGeom prst="rect">
              <a:avLst/>
            </a:prstGeom>
            <a:solidFill>
              <a:srgbClr val="00A6A6"/>
            </a:solidFill>
            <a:ln>
              <a:noFill/>
            </a:ln>
          </p:spPr>
        </p:sp>
        <p:sp>
          <p:nvSpPr>
            <p:cNvPr id="39" name="TextBox 39"/>
            <p:cNvSpPr txBox="1"/>
            <p:nvPr/>
          </p:nvSpPr>
          <p:spPr>
            <a:xfrm>
              <a:off x="907923" y="4529614"/>
              <a:ext cx="132131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Dikkat noktası</a:t>
              </a:r>
            </a:p>
          </p:txBody>
        </p:sp>
        <p:sp>
          <p:nvSpPr>
            <p:cNvPr id="40" name="TextBox 40"/>
            <p:cNvSpPr txBox="1"/>
            <p:nvPr/>
          </p:nvSpPr>
          <p:spPr>
            <a:xfrm>
              <a:off x="908304" y="4766310"/>
              <a:ext cx="6481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Örnekteki kontrolFn değerleri sabit true döndüğü için rubrik her zaman tam puan verir;</a:t>
              </a:r>
              <a:br/>
              <a:r>
                <a:rPr lang="tr-TR" sz="1200" dirty="0">
                  <a:solidFill>
                    <a:srgbClr val="172B3A"/>
                  </a:solidFill>
                  <a:latin typeface="+mn-lt"/>
                  <a:ea typeface="+mn-ea"/>
                  <a:cs typeface="+mn-cs"/>
                </a:rPr>
                <a:t>gerçek bir CI/CD hattında bu fonksiyonlar gerçek test/lint sonuçlarına bağlanmalıdır.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550354" cy="642557"/>
            <a:chOff x="609600" y="171450"/>
            <a:chExt cx="6550354" cy="642557"/>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301496" y="315278"/>
              <a:ext cx="5858458"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Nginx ters vekil ile üretim yayını</a:t>
              </a:r>
            </a:p>
          </p:txBody>
        </p:sp>
      </p:grpSp>
      <p:grpSp>
        <p:nvGrpSpPr>
          <p:cNvPr id="12" name="flow-arrows"/>
          <p:cNvGrpSpPr/>
          <p:nvPr/>
        </p:nvGrpSpPr>
        <p:grpSpPr>
          <a:xfrm>
            <a:off x="2171700" y="1905000"/>
            <a:ext cx="6172200" cy="1"/>
            <a:chOff x="2171700" y="1905000"/>
            <a:chExt cx="6172200" cy="1"/>
          </a:xfrm>
        </p:grpSpPr>
        <p:sp>
          <p:nvSpPr>
            <p:cNvPr id="9" name="Line 9"/>
            <p:cNvSpPr/>
            <p:nvPr/>
          </p:nvSpPr>
          <p:spPr>
            <a:xfrm>
              <a:off x="2171700" y="1905000"/>
              <a:ext cx="361950" cy="1"/>
            </a:xfrm>
            <a:prstGeom prst="line">
              <a:avLst/>
            </a:prstGeom>
            <a:noFill/>
            <a:ln w="19050">
              <a:solidFill>
                <a:srgbClr val="52616B"/>
              </a:solidFill>
              <a:tailEnd type="arrow" w="lg" len="lg"/>
            </a:ln>
          </p:spPr>
        </p:sp>
        <p:sp>
          <p:nvSpPr>
            <p:cNvPr id="10" name="Line 10"/>
            <p:cNvSpPr/>
            <p:nvPr/>
          </p:nvSpPr>
          <p:spPr>
            <a:xfrm>
              <a:off x="4667250" y="1905000"/>
              <a:ext cx="361950" cy="1"/>
            </a:xfrm>
            <a:prstGeom prst="line">
              <a:avLst/>
            </a:prstGeom>
            <a:noFill/>
            <a:ln w="19050">
              <a:solidFill>
                <a:srgbClr val="52616B"/>
              </a:solidFill>
              <a:tailEnd type="arrow" w="lg" len="lg"/>
            </a:ln>
          </p:spPr>
        </p:sp>
        <p:sp>
          <p:nvSpPr>
            <p:cNvPr id="11" name="Line 11"/>
            <p:cNvSpPr/>
            <p:nvPr/>
          </p:nvSpPr>
          <p:spPr>
            <a:xfrm>
              <a:off x="7981950" y="1905000"/>
              <a:ext cx="361950" cy="1"/>
            </a:xfrm>
            <a:prstGeom prst="line">
              <a:avLst/>
            </a:prstGeom>
            <a:noFill/>
            <a:ln w="23812">
              <a:solidFill>
                <a:srgbClr val="00A6A6"/>
              </a:solidFill>
              <a:tailEnd type="arrow" w="lg" len="lg"/>
            </a:ln>
          </p:spPr>
        </p:sp>
      </p:grpSp>
      <p:grpSp>
        <p:nvGrpSpPr>
          <p:cNvPr id="16" name="node-client"/>
          <p:cNvGrpSpPr/>
          <p:nvPr/>
        </p:nvGrpSpPr>
        <p:grpSpPr>
          <a:xfrm>
            <a:off x="609600" y="1524000"/>
            <a:ext cx="1562100" cy="762000"/>
            <a:chOff x="609600" y="1524000"/>
            <a:chExt cx="1562100" cy="762000"/>
          </a:xfrm>
        </p:grpSpPr>
        <p:sp>
          <p:nvSpPr>
            <p:cNvPr id="13" name="Rectangle 13"/>
            <p:cNvSpPr/>
            <p:nvPr/>
          </p:nvSpPr>
          <p:spPr>
            <a:xfrm>
              <a:off x="609600" y="1524000"/>
              <a:ext cx="1562100" cy="762000"/>
            </a:xfrm>
            <a:prstGeom prst="roundRect">
              <a:avLst>
                <a:gd name="adj" fmla="val 10000"/>
              </a:avLst>
            </a:prstGeom>
            <a:solidFill>
              <a:srgbClr val="FFFFFF"/>
            </a:solidFill>
            <a:ln w="14288">
              <a:solidFill>
                <a:srgbClr val="B8CBD3"/>
              </a:solidFill>
            </a:ln>
          </p:spPr>
        </p:sp>
        <p:sp>
          <p:nvSpPr>
            <p:cNvPr id="14" name="TextBox 14"/>
            <p:cNvSpPr txBox="1"/>
            <p:nvPr/>
          </p:nvSpPr>
          <p:spPr>
            <a:xfrm>
              <a:off x="832104" y="1737360"/>
              <a:ext cx="6619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İstemci</a:t>
              </a:r>
            </a:p>
          </p:txBody>
        </p:sp>
        <p:sp>
          <p:nvSpPr>
            <p:cNvPr id="15" name="TextBox 15"/>
            <p:cNvSpPr txBox="1"/>
            <p:nvPr/>
          </p:nvSpPr>
          <p:spPr>
            <a:xfrm>
              <a:off x="833247" y="1990249"/>
              <a:ext cx="106532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tarayıcı / mobil</a:t>
              </a:r>
            </a:p>
          </p:txBody>
        </p:sp>
      </p:grpSp>
      <p:grpSp>
        <p:nvGrpSpPr>
          <p:cNvPr id="20" name="node-80"/>
          <p:cNvGrpSpPr/>
          <p:nvPr/>
        </p:nvGrpSpPr>
        <p:grpSpPr>
          <a:xfrm>
            <a:off x="2533650" y="1524000"/>
            <a:ext cx="2133600" cy="762000"/>
            <a:chOff x="2533650" y="1524000"/>
            <a:chExt cx="2133600" cy="762000"/>
          </a:xfrm>
        </p:grpSpPr>
        <p:sp>
          <p:nvSpPr>
            <p:cNvPr id="17" name="Rectangle 17"/>
            <p:cNvSpPr/>
            <p:nvPr/>
          </p:nvSpPr>
          <p:spPr>
            <a:xfrm>
              <a:off x="2533650" y="1524000"/>
              <a:ext cx="2133600" cy="762000"/>
            </a:xfrm>
            <a:prstGeom prst="roundRect">
              <a:avLst>
                <a:gd name="adj" fmla="val 10000"/>
              </a:avLst>
            </a:prstGeom>
            <a:solidFill>
              <a:srgbClr val="FFFFFF"/>
            </a:solidFill>
            <a:ln w="14288">
              <a:solidFill>
                <a:srgbClr val="2E86AB"/>
              </a:solidFill>
            </a:ln>
          </p:spPr>
        </p:sp>
        <p:sp>
          <p:nvSpPr>
            <p:cNvPr id="18" name="TextBox 18"/>
            <p:cNvSpPr txBox="1"/>
            <p:nvPr/>
          </p:nvSpPr>
          <p:spPr>
            <a:xfrm>
              <a:off x="2756154" y="1699260"/>
              <a:ext cx="95311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:80 (HTTP)</a:t>
              </a:r>
            </a:p>
          </p:txBody>
        </p:sp>
        <p:sp>
          <p:nvSpPr>
            <p:cNvPr id="19" name="TextBox 19"/>
            <p:cNvSpPr txBox="1"/>
            <p:nvPr/>
          </p:nvSpPr>
          <p:spPr>
            <a:xfrm>
              <a:off x="2757297" y="1952149"/>
              <a:ext cx="139514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return 301 https://…</a:t>
              </a:r>
            </a:p>
          </p:txBody>
        </p:sp>
      </p:grpSp>
      <p:grpSp>
        <p:nvGrpSpPr>
          <p:cNvPr id="26" name="node-443"/>
          <p:cNvGrpSpPr/>
          <p:nvPr/>
        </p:nvGrpSpPr>
        <p:grpSpPr>
          <a:xfrm>
            <a:off x="5029200" y="1409700"/>
            <a:ext cx="2952750" cy="1143000"/>
            <a:chOff x="5029200" y="1409700"/>
            <a:chExt cx="2952750" cy="1143000"/>
          </a:xfrm>
        </p:grpSpPr>
        <p:sp>
          <p:nvSpPr>
            <p:cNvPr id="21" name="Rectangle 21"/>
            <p:cNvSpPr/>
            <p:nvPr/>
          </p:nvSpPr>
          <p:spPr>
            <a:xfrm>
              <a:off x="5029200" y="1409700"/>
              <a:ext cx="2952750" cy="1143000"/>
            </a:xfrm>
            <a:prstGeom prst="roundRect">
              <a:avLst>
                <a:gd name="adj" fmla="val 6667"/>
              </a:avLst>
            </a:prstGeom>
            <a:solidFill>
              <a:srgbClr val="12355B"/>
            </a:solidFill>
            <a:ln>
              <a:noFill/>
            </a:ln>
          </p:spPr>
        </p:sp>
        <p:sp>
          <p:nvSpPr>
            <p:cNvPr id="22" name="TextBox 22"/>
            <p:cNvSpPr txBox="1"/>
            <p:nvPr/>
          </p:nvSpPr>
          <p:spPr>
            <a:xfrm>
              <a:off x="5251704" y="1584960"/>
              <a:ext cx="2342083"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:443 (HTTPS, TLS 1.2/1.3)</a:t>
              </a:r>
            </a:p>
          </p:txBody>
        </p:sp>
        <p:sp>
          <p:nvSpPr>
            <p:cNvPr id="23" name="TextBox 23"/>
            <p:cNvSpPr txBox="1"/>
            <p:nvPr/>
          </p:nvSpPr>
          <p:spPr>
            <a:xfrm>
              <a:off x="5252847" y="1837849"/>
              <a:ext cx="170063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Let's Encrypt sertifikası</a:t>
              </a:r>
            </a:p>
          </p:txBody>
        </p:sp>
        <p:sp>
          <p:nvSpPr>
            <p:cNvPr id="24" name="TextBox 24"/>
            <p:cNvSpPr txBox="1"/>
            <p:nvPr/>
          </p:nvSpPr>
          <p:spPr>
            <a:xfrm>
              <a:off x="5252847" y="2028349"/>
              <a:ext cx="1734530"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mn-lt"/>
                  <a:ea typeface="+mn-ea"/>
                  <a:cs typeface="+mn-cs"/>
                </a:rPr>
                <a:t>limit_req 10r/s, burst 20</a:t>
              </a:r>
            </a:p>
          </p:txBody>
        </p:sp>
        <p:sp>
          <p:nvSpPr>
            <p:cNvPr id="25" name="TextBox 25"/>
            <p:cNvSpPr txBox="1"/>
            <p:nvPr/>
          </p:nvSpPr>
          <p:spPr>
            <a:xfrm>
              <a:off x="5253038" y="2215991"/>
              <a:ext cx="1264412" cy="285750"/>
            </a:xfrm>
            <a:prstGeom prst="rect">
              <a:avLst/>
            </a:prstGeom>
            <a:noFill/>
            <a:ln>
              <a:noFill/>
            </a:ln>
          </p:spPr>
          <p:txBody>
            <a:bodyPr wrap="none" lIns="0" tIns="0" rIns="0" bIns="0" anchor="t" anchorCtr="0">
              <a:spAutoFit/>
            </a:bodyPr>
            <a:lstStyle/>
            <a:p>
              <a:pPr algn="l">
                <a:lnSpc>
                  <a:spcPts val="975"/>
                </a:lnSpc>
              </a:pPr>
              <a:r>
                <a:rPr lang="tr-TR" sz="820" dirty="0">
                  <a:solidFill>
                    <a:srgbClr val="EAF4F6"/>
                  </a:solidFill>
                  <a:latin typeface="+mn-lt"/>
                  <a:ea typeface="+mn-ea"/>
                  <a:cs typeface="+mn-cs"/>
                </a:rPr>
                <a:t>HSTS, X-Frame-Options,</a:t>
              </a:r>
              <a:br/>
              <a:r>
                <a:rPr lang="tr-TR" sz="820" dirty="0">
                  <a:solidFill>
                    <a:srgbClr val="EAF4F6"/>
                  </a:solidFill>
                  <a:latin typeface="+mn-lt"/>
                  <a:ea typeface="+mn-ea"/>
                  <a:cs typeface="+mn-cs"/>
                </a:rPr>
                <a:t>X-Content-Type-Options</a:t>
              </a:r>
            </a:p>
          </p:txBody>
        </p:sp>
      </p:grpSp>
      <p:grpSp>
        <p:nvGrpSpPr>
          <p:cNvPr id="30" name="node-upstream"/>
          <p:cNvGrpSpPr/>
          <p:nvPr/>
        </p:nvGrpSpPr>
        <p:grpSpPr>
          <a:xfrm>
            <a:off x="8343900" y="1524000"/>
            <a:ext cx="3238500" cy="762000"/>
            <a:chOff x="8343900" y="1524000"/>
            <a:chExt cx="3238500" cy="762000"/>
          </a:xfrm>
        </p:grpSpPr>
        <p:sp>
          <p:nvSpPr>
            <p:cNvPr id="27" name="Rectangle 27"/>
            <p:cNvSpPr/>
            <p:nvPr/>
          </p:nvSpPr>
          <p:spPr>
            <a:xfrm>
              <a:off x="8343900" y="1524000"/>
              <a:ext cx="3238500" cy="762000"/>
            </a:xfrm>
            <a:prstGeom prst="roundRect">
              <a:avLst>
                <a:gd name="adj" fmla="val 10000"/>
              </a:avLst>
            </a:prstGeom>
            <a:solidFill>
              <a:srgbClr val="FFFFFF"/>
            </a:solidFill>
            <a:ln w="19050">
              <a:solidFill>
                <a:srgbClr val="00A6A6"/>
              </a:solidFill>
            </a:ln>
          </p:spPr>
        </p:sp>
        <p:sp>
          <p:nvSpPr>
            <p:cNvPr id="28" name="TextBox 28"/>
            <p:cNvSpPr txBox="1"/>
            <p:nvPr/>
          </p:nvSpPr>
          <p:spPr>
            <a:xfrm>
              <a:off x="8566404" y="1699260"/>
              <a:ext cx="182713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upstream backend_api</a:t>
              </a:r>
            </a:p>
          </p:txBody>
        </p:sp>
        <p:sp>
          <p:nvSpPr>
            <p:cNvPr id="29" name="TextBox 29"/>
            <p:cNvSpPr txBox="1"/>
            <p:nvPr/>
          </p:nvSpPr>
          <p:spPr>
            <a:xfrm>
              <a:off x="8567547" y="1952149"/>
              <a:ext cx="227906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laboratuvar-api:3000, keepalive 32</a:t>
              </a:r>
            </a:p>
          </p:txBody>
        </p:sp>
      </p:grpSp>
      <p:grpSp>
        <p:nvGrpSpPr>
          <p:cNvPr id="46" name="location-cards"/>
          <p:cNvGrpSpPr/>
          <p:nvPr/>
        </p:nvGrpSpPr>
        <p:grpSpPr>
          <a:xfrm>
            <a:off x="609600" y="2667000"/>
            <a:ext cx="10972800" cy="1714500"/>
            <a:chOff x="609600" y="2667000"/>
            <a:chExt cx="10972800" cy="1714500"/>
          </a:xfrm>
        </p:grpSpPr>
        <p:sp>
          <p:nvSpPr>
            <p:cNvPr id="31" name="Rectangle 31"/>
            <p:cNvSpPr/>
            <p:nvPr/>
          </p:nvSpPr>
          <p:spPr>
            <a:xfrm>
              <a:off x="609600" y="2667000"/>
              <a:ext cx="5334000" cy="1714500"/>
            </a:xfrm>
            <a:prstGeom prst="roundRect">
              <a:avLst>
                <a:gd name="adj" fmla="val 4444"/>
              </a:avLst>
            </a:prstGeom>
            <a:solidFill>
              <a:srgbClr val="FFFFFF"/>
            </a:solidFill>
            <a:ln w="9525">
              <a:solidFill>
                <a:srgbClr val="B8CBD3"/>
              </a:solidFill>
            </a:ln>
          </p:spPr>
        </p:sp>
        <p:sp>
          <p:nvSpPr>
            <p:cNvPr id="32" name="Rectangle 32"/>
            <p:cNvSpPr/>
            <p:nvPr/>
          </p:nvSpPr>
          <p:spPr>
            <a:xfrm>
              <a:off x="609600" y="2667000"/>
              <a:ext cx="57150" cy="1714500"/>
            </a:xfrm>
            <a:prstGeom prst="rect">
              <a:avLst/>
            </a:prstGeom>
            <a:solidFill>
              <a:srgbClr val="00A6A6"/>
            </a:solidFill>
            <a:ln>
              <a:noFill/>
            </a:ln>
          </p:spPr>
        </p:sp>
        <p:sp>
          <p:nvSpPr>
            <p:cNvPr id="33" name="TextBox 33"/>
            <p:cNvSpPr txBox="1"/>
            <p:nvPr/>
          </p:nvSpPr>
          <p:spPr>
            <a:xfrm>
              <a:off x="907923" y="2815114"/>
              <a:ext cx="122518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location /api/</a:t>
              </a:r>
            </a:p>
          </p:txBody>
        </p:sp>
        <p:sp>
          <p:nvSpPr>
            <p:cNvPr id="34" name="TextBox 34"/>
            <p:cNvSpPr txBox="1"/>
            <p:nvPr/>
          </p:nvSpPr>
          <p:spPr>
            <a:xfrm>
              <a:off x="908685" y="3078956"/>
              <a:ext cx="234089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proxy_pass http://backend_api</a:t>
              </a:r>
            </a:p>
          </p:txBody>
        </p:sp>
        <p:sp>
          <p:nvSpPr>
            <p:cNvPr id="35" name="TextBox 35"/>
            <p:cNvSpPr txBox="1"/>
            <p:nvPr/>
          </p:nvSpPr>
          <p:spPr>
            <a:xfrm>
              <a:off x="908685" y="3307556"/>
              <a:ext cx="42275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X-Real-IP, X-Forwarded-For, X-Forwarded-Proto iletilir</a:t>
              </a:r>
            </a:p>
          </p:txBody>
        </p:sp>
        <p:sp>
          <p:nvSpPr>
            <p:cNvPr id="36" name="TextBox 36"/>
            <p:cNvSpPr txBox="1"/>
            <p:nvPr/>
          </p:nvSpPr>
          <p:spPr>
            <a:xfrm>
              <a:off x="908685" y="3536156"/>
              <a:ext cx="38637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proxy_connect_timeout 5s, proxy_read_timeout 30s</a:t>
              </a:r>
            </a:p>
          </p:txBody>
        </p:sp>
        <p:sp>
          <p:nvSpPr>
            <p:cNvPr id="37" name="TextBox 37"/>
            <p:cNvSpPr txBox="1"/>
            <p:nvPr/>
          </p:nvSpPr>
          <p:spPr>
            <a:xfrm>
              <a:off x="909066" y="3849052"/>
              <a:ext cx="331718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rate limiting brute-force/DDoS'u Node.js'e yük</a:t>
              </a:r>
            </a:p>
          </p:txBody>
        </p:sp>
        <p:sp>
          <p:nvSpPr>
            <p:cNvPr id="38" name="TextBox 38"/>
            <p:cNvSpPr txBox="1"/>
            <p:nvPr/>
          </p:nvSpPr>
          <p:spPr>
            <a:xfrm>
              <a:off x="909066" y="4039552"/>
              <a:ext cx="273620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bindirmeden Nginx katmanında durdurur</a:t>
              </a:r>
            </a:p>
          </p:txBody>
        </p:sp>
        <p:sp>
          <p:nvSpPr>
            <p:cNvPr id="39" name="Rectangle 39"/>
            <p:cNvSpPr/>
            <p:nvPr/>
          </p:nvSpPr>
          <p:spPr>
            <a:xfrm>
              <a:off x="6248400" y="2667000"/>
              <a:ext cx="5334000" cy="1714500"/>
            </a:xfrm>
            <a:prstGeom prst="roundRect">
              <a:avLst>
                <a:gd name="adj" fmla="val 4444"/>
              </a:avLst>
            </a:prstGeom>
            <a:solidFill>
              <a:srgbClr val="FFFFFF"/>
            </a:solidFill>
            <a:ln w="9525">
              <a:solidFill>
                <a:srgbClr val="B8CBD3"/>
              </a:solidFill>
            </a:ln>
          </p:spPr>
        </p:sp>
        <p:sp>
          <p:nvSpPr>
            <p:cNvPr id="40" name="Rectangle 40"/>
            <p:cNvSpPr/>
            <p:nvPr/>
          </p:nvSpPr>
          <p:spPr>
            <a:xfrm>
              <a:off x="6248400" y="2667000"/>
              <a:ext cx="57150" cy="1714500"/>
            </a:xfrm>
            <a:prstGeom prst="rect">
              <a:avLst/>
            </a:prstGeom>
            <a:solidFill>
              <a:srgbClr val="2E86AB"/>
            </a:solidFill>
            <a:ln>
              <a:noFill/>
            </a:ln>
          </p:spPr>
        </p:sp>
        <p:sp>
          <p:nvSpPr>
            <p:cNvPr id="41" name="TextBox 41"/>
            <p:cNvSpPr txBox="1"/>
            <p:nvPr/>
          </p:nvSpPr>
          <p:spPr>
            <a:xfrm>
              <a:off x="6546723" y="2815114"/>
              <a:ext cx="137897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location /saglik</a:t>
              </a:r>
            </a:p>
          </p:txBody>
        </p:sp>
        <p:sp>
          <p:nvSpPr>
            <p:cNvPr id="42" name="TextBox 42"/>
            <p:cNvSpPr txBox="1"/>
            <p:nvPr/>
          </p:nvSpPr>
          <p:spPr>
            <a:xfrm>
              <a:off x="6547485" y="3078956"/>
              <a:ext cx="28459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proxy_pass http://backend_api/saglik</a:t>
              </a:r>
            </a:p>
          </p:txBody>
        </p:sp>
        <p:sp>
          <p:nvSpPr>
            <p:cNvPr id="43" name="TextBox 43"/>
            <p:cNvSpPr txBox="1"/>
            <p:nvPr/>
          </p:nvSpPr>
          <p:spPr>
            <a:xfrm>
              <a:off x="6547485" y="3307556"/>
              <a:ext cx="10970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access_log off</a:t>
              </a:r>
            </a:p>
          </p:txBody>
        </p:sp>
        <p:sp>
          <p:nvSpPr>
            <p:cNvPr id="44" name="TextBox 44"/>
            <p:cNvSpPr txBox="1"/>
            <p:nvPr/>
          </p:nvSpPr>
          <p:spPr>
            <a:xfrm>
              <a:off x="6547866" y="3620452"/>
              <a:ext cx="333700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İzleme sunucusu tarafından düzenli sorgulanır,</a:t>
              </a:r>
            </a:p>
          </p:txBody>
        </p:sp>
        <p:sp>
          <p:nvSpPr>
            <p:cNvPr id="45" name="TextBox 45"/>
            <p:cNvSpPr txBox="1"/>
            <p:nvPr/>
          </p:nvSpPr>
          <p:spPr>
            <a:xfrm>
              <a:off x="6547866" y="3810952"/>
              <a:ext cx="188356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gereksiz log kirliliği önlenir</a:t>
              </a:r>
            </a:p>
          </p:txBody>
        </p:sp>
      </p:grpSp>
      <p:grpSp>
        <p:nvGrpSpPr>
          <p:cNvPr id="52" name="note-caution"/>
          <p:cNvGrpSpPr/>
          <p:nvPr/>
        </p:nvGrpSpPr>
        <p:grpSpPr>
          <a:xfrm>
            <a:off x="609600" y="4667250"/>
            <a:ext cx="10972800" cy="952500"/>
            <a:chOff x="609600" y="4667250"/>
            <a:chExt cx="10972800" cy="952500"/>
          </a:xfrm>
        </p:grpSpPr>
        <p:sp>
          <p:nvSpPr>
            <p:cNvPr id="47" name="Rectangle 47"/>
            <p:cNvSpPr/>
            <p:nvPr/>
          </p:nvSpPr>
          <p:spPr>
            <a:xfrm>
              <a:off x="609600" y="4667250"/>
              <a:ext cx="10972800" cy="952500"/>
            </a:xfrm>
            <a:prstGeom prst="roundRect">
              <a:avLst>
                <a:gd name="adj" fmla="val 8000"/>
              </a:avLst>
            </a:prstGeom>
            <a:solidFill>
              <a:srgbClr val="EAF4F6"/>
            </a:solidFill>
            <a:ln>
              <a:noFill/>
            </a:ln>
          </p:spPr>
        </p:sp>
        <p:sp>
          <p:nvSpPr>
            <p:cNvPr id="48" name="Rectangle 48"/>
            <p:cNvSpPr/>
            <p:nvPr/>
          </p:nvSpPr>
          <p:spPr>
            <a:xfrm>
              <a:off x="609600" y="4667250"/>
              <a:ext cx="57150" cy="952500"/>
            </a:xfrm>
            <a:prstGeom prst="rect">
              <a:avLst/>
            </a:prstGeom>
            <a:solidFill>
              <a:srgbClr val="00A6A6"/>
            </a:solidFill>
            <a:ln>
              <a:noFill/>
            </a:ln>
          </p:spPr>
        </p:sp>
        <p:sp>
          <p:nvSpPr>
            <p:cNvPr id="49" name="TextBox 49"/>
            <p:cNvSpPr txBox="1"/>
            <p:nvPr/>
          </p:nvSpPr>
          <p:spPr>
            <a:xfrm>
              <a:off x="907923" y="4815364"/>
              <a:ext cx="132999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Kritik satırlar</a:t>
              </a:r>
            </a:p>
          </p:txBody>
        </p:sp>
        <p:sp>
          <p:nvSpPr>
            <p:cNvPr id="50" name="TextBox 50"/>
            <p:cNvSpPr txBox="1"/>
            <p:nvPr/>
          </p:nvSpPr>
          <p:spPr>
            <a:xfrm>
              <a:off x="908685" y="5060156"/>
              <a:ext cx="784093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return 301 https://$host$request_uri — tüm düz metin HTTP istekleri kalıcı olarak HTTPS'e yönlendirilir.</a:t>
              </a:r>
            </a:p>
          </p:txBody>
        </p:sp>
        <p:sp>
          <p:nvSpPr>
            <p:cNvPr id="51" name="TextBox 51"/>
            <p:cNvSpPr txBox="1"/>
            <p:nvPr/>
          </p:nvSpPr>
          <p:spPr>
            <a:xfrm>
              <a:off x="908685" y="5288756"/>
              <a:ext cx="839200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upstream backend_api — Docker iç ağındaki container adına yönlenir, keepalive TCP el sıkışma maliyetini düşürür.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9718531" cy="629412"/>
            <a:chOff x="609600" y="171450"/>
            <a:chExt cx="9718531" cy="629412"/>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302258" y="331470"/>
              <a:ext cx="9025873"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Uçtan uca istek yaşam döngüsü: örnek gecikme bütçesi</a:t>
              </a:r>
            </a:p>
          </p:txBody>
        </p:sp>
      </p:grpSp>
      <p:grpSp>
        <p:nvGrpSpPr>
          <p:cNvPr id="20" name="budget-intro"/>
          <p:cNvGrpSpPr/>
          <p:nvPr/>
        </p:nvGrpSpPr>
        <p:grpSpPr>
          <a:xfrm>
            <a:off x="603504" y="1184910"/>
            <a:ext cx="9475817" cy="234696"/>
            <a:chOff x="603504" y="1184910"/>
            <a:chExt cx="9475817" cy="234696"/>
          </a:xfrm>
        </p:grpSpPr>
        <p:sp>
          <p:nvSpPr>
            <p:cNvPr id="19" name="TextBox 19"/>
            <p:cNvSpPr txBox="1"/>
            <p:nvPr/>
          </p:nvSpPr>
          <p:spPr>
            <a:xfrm>
              <a:off x="603504" y="1184910"/>
              <a:ext cx="94758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POST /api/rezervasyonlar isteği için ölçülmüş değil, öğretim amaçlı örnek bir bütçedir — büyüklük mertebesini gösterir.</a:t>
              </a:r>
            </a:p>
          </p:txBody>
        </p:sp>
      </p:grpSp>
      <p:grpSp>
        <p:nvGrpSpPr>
          <p:cNvPr id="27" name="latency-bar"/>
          <p:cNvGrpSpPr/>
          <p:nvPr/>
        </p:nvGrpSpPr>
        <p:grpSpPr>
          <a:xfrm>
            <a:off x="609600" y="1676400"/>
            <a:ext cx="10972800" cy="666750"/>
            <a:chOff x="609600" y="1676400"/>
            <a:chExt cx="10972800" cy="666750"/>
          </a:xfrm>
        </p:grpSpPr>
        <p:sp>
          <p:nvSpPr>
            <p:cNvPr id="21" name="Rectangle 21"/>
            <p:cNvSpPr/>
            <p:nvPr/>
          </p:nvSpPr>
          <p:spPr>
            <a:xfrm>
              <a:off x="609600" y="1676400"/>
              <a:ext cx="2152650" cy="666750"/>
            </a:xfrm>
            <a:prstGeom prst="rect">
              <a:avLst/>
            </a:prstGeom>
            <a:solidFill>
              <a:srgbClr val="2E86AB"/>
            </a:solidFill>
            <a:ln>
              <a:noFill/>
            </a:ln>
          </p:spPr>
        </p:sp>
        <p:sp>
          <p:nvSpPr>
            <p:cNvPr id="22" name="Rectangle 22"/>
            <p:cNvSpPr/>
            <p:nvPr/>
          </p:nvSpPr>
          <p:spPr>
            <a:xfrm>
              <a:off x="2762250" y="1676400"/>
              <a:ext cx="1809750" cy="666750"/>
            </a:xfrm>
            <a:prstGeom prst="rect">
              <a:avLst/>
            </a:prstGeom>
            <a:solidFill>
              <a:srgbClr val="12355B"/>
            </a:solidFill>
            <a:ln>
              <a:noFill/>
            </a:ln>
          </p:spPr>
        </p:sp>
        <p:sp>
          <p:nvSpPr>
            <p:cNvPr id="23" name="Rectangle 23"/>
            <p:cNvSpPr/>
            <p:nvPr/>
          </p:nvSpPr>
          <p:spPr>
            <a:xfrm>
              <a:off x="4572000" y="1676400"/>
              <a:ext cx="1019175" cy="666750"/>
            </a:xfrm>
            <a:prstGeom prst="rect">
              <a:avLst/>
            </a:prstGeom>
            <a:solidFill>
              <a:srgbClr val="52616B"/>
            </a:solidFill>
            <a:ln>
              <a:noFill/>
            </a:ln>
          </p:spPr>
        </p:sp>
        <p:sp>
          <p:nvSpPr>
            <p:cNvPr id="24" name="Rectangle 24"/>
            <p:cNvSpPr/>
            <p:nvPr/>
          </p:nvSpPr>
          <p:spPr>
            <a:xfrm>
              <a:off x="5591175" y="1676400"/>
              <a:ext cx="5086350" cy="666750"/>
            </a:xfrm>
            <a:prstGeom prst="rect">
              <a:avLst/>
            </a:prstGeom>
            <a:solidFill>
              <a:srgbClr val="00A6A6"/>
            </a:solidFill>
            <a:ln>
              <a:noFill/>
            </a:ln>
          </p:spPr>
        </p:sp>
        <p:sp>
          <p:nvSpPr>
            <p:cNvPr id="25" name="Rectangle 25"/>
            <p:cNvSpPr/>
            <p:nvPr/>
          </p:nvSpPr>
          <p:spPr>
            <a:xfrm>
              <a:off x="10677525" y="1676400"/>
              <a:ext cx="904875" cy="666750"/>
            </a:xfrm>
            <a:prstGeom prst="rect">
              <a:avLst/>
            </a:prstGeom>
            <a:solidFill>
              <a:srgbClr val="2E86AB">
                <a:alpha val="60000"/>
              </a:srgbClr>
            </a:solidFill>
            <a:ln>
              <a:noFill/>
            </a:ln>
          </p:spPr>
        </p:sp>
        <p:sp>
          <p:nvSpPr>
            <p:cNvPr id="26" name="TextBox 26"/>
            <p:cNvSpPr txBox="1"/>
            <p:nvPr/>
          </p:nvSpPr>
          <p:spPr>
            <a:xfrm>
              <a:off x="7464147" y="1905000"/>
              <a:ext cx="1340406" cy="293370"/>
            </a:xfrm>
            <a:prstGeom prst="rect">
              <a:avLst/>
            </a:prstGeom>
            <a:noFill/>
            <a:ln>
              <a:noFill/>
            </a:ln>
          </p:spPr>
          <p:txBody>
            <a:bodyPr wrap="none" lIns="0" tIns="0" rIns="0" bIns="0" anchor="t" anchorCtr="0">
              <a:spAutoFit/>
            </a:bodyPr>
            <a:lstStyle/>
            <a:p>
              <a:pPr algn="ctr"/>
              <a:r>
                <a:rPr lang="tr-TR" sz="1500" b="1" dirty="0">
                  <a:solidFill>
                    <a:srgbClr val="FFFFFF"/>
                  </a:solidFill>
                  <a:latin typeface="+mn-lt"/>
                  <a:ea typeface="+mn-ea"/>
                  <a:cs typeface="+mn-cs"/>
                </a:rPr>
                <a:t>4,5 ms — %46</a:t>
              </a:r>
            </a:p>
          </p:txBody>
        </p:sp>
      </p:grpSp>
      <p:grpSp>
        <p:nvGrpSpPr>
          <p:cNvPr id="31" name="legend-1"/>
          <p:cNvGrpSpPr/>
          <p:nvPr/>
        </p:nvGrpSpPr>
        <p:grpSpPr>
          <a:xfrm>
            <a:off x="603885" y="2495550"/>
            <a:ext cx="1755891" cy="422434"/>
            <a:chOff x="603885" y="2495550"/>
            <a:chExt cx="1755891" cy="422434"/>
          </a:xfrm>
        </p:grpSpPr>
        <p:sp>
          <p:nvSpPr>
            <p:cNvPr id="28" name="Rectangle 28"/>
            <p:cNvSpPr/>
            <p:nvPr/>
          </p:nvSpPr>
          <p:spPr>
            <a:xfrm>
              <a:off x="609600" y="2495550"/>
              <a:ext cx="133350" cy="133350"/>
            </a:xfrm>
            <a:prstGeom prst="rect">
              <a:avLst/>
            </a:prstGeom>
            <a:solidFill>
              <a:srgbClr val="2E86AB"/>
            </a:solidFill>
            <a:ln>
              <a:noFill/>
            </a:ln>
          </p:spPr>
        </p:sp>
        <p:sp>
          <p:nvSpPr>
            <p:cNvPr id="29" name="TextBox 29"/>
            <p:cNvSpPr txBox="1"/>
            <p:nvPr/>
          </p:nvSpPr>
          <p:spPr>
            <a:xfrm>
              <a:off x="813816" y="2496502"/>
              <a:ext cx="1545960"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Ağ, TLS, yönlendirme</a:t>
              </a:r>
            </a:p>
          </p:txBody>
        </p:sp>
        <p:sp>
          <p:nvSpPr>
            <p:cNvPr id="30" name="TextBox 30"/>
            <p:cNvSpPr txBox="1"/>
            <p:nvPr/>
          </p:nvSpPr>
          <p:spPr>
            <a:xfrm>
              <a:off x="603885" y="2697956"/>
              <a:ext cx="95377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1,9 ms · %20</a:t>
              </a:r>
            </a:p>
          </p:txBody>
        </p:sp>
      </p:grpSp>
      <p:grpSp>
        <p:nvGrpSpPr>
          <p:cNvPr id="35" name="legend-2"/>
          <p:cNvGrpSpPr/>
          <p:nvPr/>
        </p:nvGrpSpPr>
        <p:grpSpPr>
          <a:xfrm>
            <a:off x="2756535" y="2495550"/>
            <a:ext cx="1161136" cy="612934"/>
            <a:chOff x="2756535" y="2495550"/>
            <a:chExt cx="1161136" cy="612934"/>
          </a:xfrm>
        </p:grpSpPr>
        <p:sp>
          <p:nvSpPr>
            <p:cNvPr id="32" name="Rectangle 32"/>
            <p:cNvSpPr/>
            <p:nvPr/>
          </p:nvSpPr>
          <p:spPr>
            <a:xfrm>
              <a:off x="2762250" y="2495550"/>
              <a:ext cx="133350" cy="133350"/>
            </a:xfrm>
            <a:prstGeom prst="rect">
              <a:avLst/>
            </a:prstGeom>
            <a:solidFill>
              <a:srgbClr val="12355B"/>
            </a:solidFill>
            <a:ln>
              <a:noFill/>
            </a:ln>
          </p:spPr>
        </p:sp>
        <p:sp>
          <p:nvSpPr>
            <p:cNvPr id="33" name="TextBox 33"/>
            <p:cNvSpPr txBox="1"/>
            <p:nvPr/>
          </p:nvSpPr>
          <p:spPr>
            <a:xfrm>
              <a:off x="2966847" y="2504599"/>
              <a:ext cx="950824" cy="324041"/>
            </a:xfrm>
            <a:prstGeom prst="rect">
              <a:avLst/>
            </a:prstGeom>
            <a:noFill/>
            <a:ln>
              <a:noFill/>
            </a:ln>
          </p:spPr>
          <p:txBody>
            <a:bodyPr wrap="none" lIns="0" tIns="0" rIns="0" bIns="0" anchor="t" anchorCtr="0">
              <a:spAutoFit/>
            </a:bodyPr>
            <a:lstStyle/>
            <a:p>
              <a:pPr algn="l">
                <a:lnSpc>
                  <a:spcPts val="1050"/>
                </a:lnSpc>
              </a:pPr>
              <a:r>
                <a:rPr lang="tr-TR" sz="980" b="1" dirty="0">
                  <a:solidFill>
                    <a:srgbClr val="12355B"/>
                  </a:solidFill>
                  <a:latin typeface="+mn-lt"/>
                  <a:ea typeface="+mn-ea"/>
                  <a:cs typeface="+mn-cs"/>
                </a:rPr>
                <a:t>Güvenlik/auth/</a:t>
              </a:r>
              <a:br/>
              <a:r>
                <a:rPr lang="tr-TR" sz="980" b="1" dirty="0">
                  <a:solidFill>
                    <a:srgbClr val="12355B"/>
                  </a:solidFill>
                  <a:latin typeface="+mn-lt"/>
                  <a:ea typeface="+mn-ea"/>
                  <a:cs typeface="+mn-cs"/>
                </a:rPr>
                <a:t>doğrulama</a:t>
              </a:r>
            </a:p>
          </p:txBody>
        </p:sp>
        <p:sp>
          <p:nvSpPr>
            <p:cNvPr id="34" name="TextBox 34"/>
            <p:cNvSpPr txBox="1"/>
            <p:nvPr/>
          </p:nvSpPr>
          <p:spPr>
            <a:xfrm>
              <a:off x="2756535" y="2888456"/>
              <a:ext cx="95377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1,6 ms · %16</a:t>
              </a:r>
            </a:p>
          </p:txBody>
        </p:sp>
      </p:grpSp>
      <p:grpSp>
        <p:nvGrpSpPr>
          <p:cNvPr id="39" name="legend-3"/>
          <p:cNvGrpSpPr/>
          <p:nvPr/>
        </p:nvGrpSpPr>
        <p:grpSpPr>
          <a:xfrm>
            <a:off x="4566285" y="2495550"/>
            <a:ext cx="984714" cy="612934"/>
            <a:chOff x="4566285" y="2495550"/>
            <a:chExt cx="984714" cy="612934"/>
          </a:xfrm>
        </p:grpSpPr>
        <p:sp>
          <p:nvSpPr>
            <p:cNvPr id="36" name="Rectangle 36"/>
            <p:cNvSpPr/>
            <p:nvPr/>
          </p:nvSpPr>
          <p:spPr>
            <a:xfrm>
              <a:off x="4572000" y="2495550"/>
              <a:ext cx="133350" cy="133350"/>
            </a:xfrm>
            <a:prstGeom prst="rect">
              <a:avLst/>
            </a:prstGeom>
            <a:solidFill>
              <a:srgbClr val="52616B"/>
            </a:solidFill>
            <a:ln>
              <a:noFill/>
            </a:ln>
          </p:spPr>
        </p:sp>
        <p:sp>
          <p:nvSpPr>
            <p:cNvPr id="37" name="TextBox 37"/>
            <p:cNvSpPr txBox="1"/>
            <p:nvPr/>
          </p:nvSpPr>
          <p:spPr>
            <a:xfrm>
              <a:off x="4776597" y="2504599"/>
              <a:ext cx="774402" cy="324041"/>
            </a:xfrm>
            <a:prstGeom prst="rect">
              <a:avLst/>
            </a:prstGeom>
            <a:noFill/>
            <a:ln>
              <a:noFill/>
            </a:ln>
          </p:spPr>
          <p:txBody>
            <a:bodyPr wrap="none" lIns="0" tIns="0" rIns="0" bIns="0" anchor="t" anchorCtr="0">
              <a:spAutoFit/>
            </a:bodyPr>
            <a:lstStyle/>
            <a:p>
              <a:pPr algn="l">
                <a:lnSpc>
                  <a:spcPts val="1050"/>
                </a:lnSpc>
              </a:pPr>
              <a:r>
                <a:rPr lang="tr-TR" sz="980" b="1" dirty="0">
                  <a:solidFill>
                    <a:srgbClr val="12355B"/>
                  </a:solidFill>
                  <a:latin typeface="+mn-lt"/>
                  <a:ea typeface="+mn-ea"/>
                  <a:cs typeface="+mn-cs"/>
                </a:rPr>
                <a:t>Controller +</a:t>
              </a:r>
              <a:br/>
              <a:r>
                <a:rPr lang="tr-TR" sz="980" b="1" dirty="0">
                  <a:solidFill>
                    <a:srgbClr val="12355B"/>
                  </a:solidFill>
                  <a:latin typeface="+mn-lt"/>
                  <a:ea typeface="+mn-ea"/>
                  <a:cs typeface="+mn-cs"/>
                </a:rPr>
                <a:t>iş mantığı</a:t>
              </a:r>
            </a:p>
          </p:txBody>
        </p:sp>
        <p:sp>
          <p:nvSpPr>
            <p:cNvPr id="38" name="TextBox 38"/>
            <p:cNvSpPr txBox="1"/>
            <p:nvPr/>
          </p:nvSpPr>
          <p:spPr>
            <a:xfrm>
              <a:off x="4566285" y="2888456"/>
              <a:ext cx="87084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0,9 ms · %9</a:t>
              </a:r>
            </a:p>
          </p:txBody>
        </p:sp>
      </p:grpSp>
      <p:grpSp>
        <p:nvGrpSpPr>
          <p:cNvPr id="43" name="legend-4"/>
          <p:cNvGrpSpPr/>
          <p:nvPr/>
        </p:nvGrpSpPr>
        <p:grpSpPr>
          <a:xfrm>
            <a:off x="5585460" y="2495550"/>
            <a:ext cx="3094766" cy="422434"/>
            <a:chOff x="5585460" y="2495550"/>
            <a:chExt cx="3094766" cy="422434"/>
          </a:xfrm>
        </p:grpSpPr>
        <p:sp>
          <p:nvSpPr>
            <p:cNvPr id="40" name="Rectangle 40"/>
            <p:cNvSpPr/>
            <p:nvPr/>
          </p:nvSpPr>
          <p:spPr>
            <a:xfrm>
              <a:off x="5591175" y="2495550"/>
              <a:ext cx="133350" cy="133350"/>
            </a:xfrm>
            <a:prstGeom prst="rect">
              <a:avLst/>
            </a:prstGeom>
            <a:solidFill>
              <a:srgbClr val="00A6A6"/>
            </a:solidFill>
            <a:ln>
              <a:noFill/>
            </a:ln>
          </p:spPr>
        </p:sp>
        <p:sp>
          <p:nvSpPr>
            <p:cNvPr id="41" name="TextBox 41"/>
            <p:cNvSpPr txBox="1"/>
            <p:nvPr/>
          </p:nvSpPr>
          <p:spPr>
            <a:xfrm>
              <a:off x="5795391" y="2496502"/>
              <a:ext cx="2746116"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Veritabanı transaction ve satır kilidi</a:t>
              </a:r>
            </a:p>
          </p:txBody>
        </p:sp>
        <p:sp>
          <p:nvSpPr>
            <p:cNvPr id="42" name="TextBox 42"/>
            <p:cNvSpPr txBox="1"/>
            <p:nvPr/>
          </p:nvSpPr>
          <p:spPr>
            <a:xfrm>
              <a:off x="5585460" y="2697956"/>
              <a:ext cx="309476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4,5 ms · %46 — bütçenin en büyük tek payı</a:t>
              </a:r>
            </a:p>
          </p:txBody>
        </p:sp>
      </p:grpSp>
      <p:grpSp>
        <p:nvGrpSpPr>
          <p:cNvPr id="47" name="legend-5"/>
          <p:cNvGrpSpPr/>
          <p:nvPr/>
        </p:nvGrpSpPr>
        <p:grpSpPr>
          <a:xfrm>
            <a:off x="10671810" y="2495550"/>
            <a:ext cx="870844" cy="612934"/>
            <a:chOff x="10671810" y="2495550"/>
            <a:chExt cx="870844" cy="612934"/>
          </a:xfrm>
        </p:grpSpPr>
        <p:sp>
          <p:nvSpPr>
            <p:cNvPr id="44" name="Rectangle 44"/>
            <p:cNvSpPr/>
            <p:nvPr/>
          </p:nvSpPr>
          <p:spPr>
            <a:xfrm>
              <a:off x="10677525" y="2495550"/>
              <a:ext cx="133350" cy="133350"/>
            </a:xfrm>
            <a:prstGeom prst="rect">
              <a:avLst/>
            </a:prstGeom>
            <a:solidFill>
              <a:srgbClr val="2E86AB">
                <a:alpha val="60000"/>
              </a:srgbClr>
            </a:solidFill>
            <a:ln>
              <a:noFill/>
            </a:ln>
          </p:spPr>
        </p:sp>
        <p:sp>
          <p:nvSpPr>
            <p:cNvPr id="45" name="TextBox 45"/>
            <p:cNvSpPr txBox="1"/>
            <p:nvPr/>
          </p:nvSpPr>
          <p:spPr>
            <a:xfrm>
              <a:off x="10672572" y="2637949"/>
              <a:ext cx="695992" cy="324041"/>
            </a:xfrm>
            <a:prstGeom prst="rect">
              <a:avLst/>
            </a:prstGeom>
            <a:noFill/>
            <a:ln>
              <a:noFill/>
            </a:ln>
          </p:spPr>
          <p:txBody>
            <a:bodyPr wrap="none" lIns="0" tIns="0" rIns="0" bIns="0" anchor="t" anchorCtr="0">
              <a:spAutoFit/>
            </a:bodyPr>
            <a:lstStyle/>
            <a:p>
              <a:pPr algn="l">
                <a:lnSpc>
                  <a:spcPts val="1050"/>
                </a:lnSpc>
              </a:pPr>
              <a:r>
                <a:rPr lang="tr-TR" sz="980" b="1" dirty="0">
                  <a:solidFill>
                    <a:srgbClr val="12355B"/>
                  </a:solidFill>
                  <a:latin typeface="+mn-lt"/>
                  <a:ea typeface="+mn-ea"/>
                  <a:cs typeface="+mn-cs"/>
                </a:rPr>
                <a:t>Asenkron +</a:t>
              </a:r>
              <a:br/>
              <a:r>
                <a:rPr lang="tr-TR" sz="980" b="1" dirty="0">
                  <a:solidFill>
                    <a:srgbClr val="12355B"/>
                  </a:solidFill>
                  <a:latin typeface="+mn-lt"/>
                  <a:ea typeface="+mn-ea"/>
                  <a:cs typeface="+mn-cs"/>
                </a:rPr>
                <a:t>yanıt</a:t>
              </a:r>
            </a:p>
          </p:txBody>
        </p:sp>
        <p:sp>
          <p:nvSpPr>
            <p:cNvPr id="46" name="TextBox 46"/>
            <p:cNvSpPr txBox="1"/>
            <p:nvPr/>
          </p:nvSpPr>
          <p:spPr>
            <a:xfrm>
              <a:off x="10671810" y="2888456"/>
              <a:ext cx="87084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0,8 ms · %8</a:t>
              </a:r>
            </a:p>
          </p:txBody>
        </p:sp>
      </p:grpSp>
      <p:grpSp>
        <p:nvGrpSpPr>
          <p:cNvPr id="54" name="budget-conclusion"/>
          <p:cNvGrpSpPr/>
          <p:nvPr/>
        </p:nvGrpSpPr>
        <p:grpSpPr>
          <a:xfrm>
            <a:off x="609600" y="3543300"/>
            <a:ext cx="10972800" cy="1238250"/>
            <a:chOff x="609600" y="3543300"/>
            <a:chExt cx="10972800" cy="1238250"/>
          </a:xfrm>
        </p:grpSpPr>
        <p:sp>
          <p:nvSpPr>
            <p:cNvPr id="48" name="Rectangle 48"/>
            <p:cNvSpPr/>
            <p:nvPr/>
          </p:nvSpPr>
          <p:spPr>
            <a:xfrm>
              <a:off x="609600" y="3543300"/>
              <a:ext cx="10972800" cy="1238250"/>
            </a:xfrm>
            <a:prstGeom prst="roundRect">
              <a:avLst>
                <a:gd name="adj" fmla="val 6154"/>
              </a:avLst>
            </a:prstGeom>
            <a:solidFill>
              <a:srgbClr val="EAF4F6"/>
            </a:solidFill>
            <a:ln>
              <a:noFill/>
            </a:ln>
          </p:spPr>
        </p:sp>
        <p:sp>
          <p:nvSpPr>
            <p:cNvPr id="49" name="Rectangle 49"/>
            <p:cNvSpPr/>
            <p:nvPr/>
          </p:nvSpPr>
          <p:spPr>
            <a:xfrm>
              <a:off x="609600" y="3543300"/>
              <a:ext cx="57150" cy="1238250"/>
            </a:xfrm>
            <a:prstGeom prst="rect">
              <a:avLst/>
            </a:prstGeom>
            <a:solidFill>
              <a:srgbClr val="00A6A6"/>
            </a:solidFill>
            <a:ln>
              <a:noFill/>
            </a:ln>
          </p:spPr>
        </p:sp>
        <p:sp>
          <p:nvSpPr>
            <p:cNvPr id="50" name="TextBox 50"/>
            <p:cNvSpPr txBox="1"/>
            <p:nvPr/>
          </p:nvSpPr>
          <p:spPr>
            <a:xfrm>
              <a:off x="907542" y="3683318"/>
              <a:ext cx="440063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Toplam ≈ 9,7 ms — asıl okunacak şey oranlardır</a:t>
              </a:r>
            </a:p>
          </p:txBody>
        </p:sp>
        <p:sp>
          <p:nvSpPr>
            <p:cNvPr id="51" name="TextBox 51"/>
            <p:cNvSpPr txBox="1"/>
            <p:nvPr/>
          </p:nvSpPr>
          <p:spPr>
            <a:xfrm>
              <a:off x="908304" y="3947160"/>
              <a:ext cx="83536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Bütçenin yarısına yakını (~4,5 ms) tek bir yerde, veritabanı transaction'ı ve satır kilidinde harcanır.</a:t>
              </a:r>
            </a:p>
          </p:txBody>
        </p:sp>
        <p:sp>
          <p:nvSpPr>
            <p:cNvPr id="52" name="TextBox 52"/>
            <p:cNvSpPr txBox="1"/>
            <p:nvPr/>
          </p:nvSpPr>
          <p:spPr>
            <a:xfrm>
              <a:off x="908304" y="4175760"/>
              <a:ext cx="96616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Başarımı iyileştirmek isteyen mühendis önce oraya bakar; middleware zincirini kısaltmak çok daha küçük bir kazanç verir.</a:t>
              </a:r>
            </a:p>
          </p:txBody>
        </p:sp>
        <p:sp>
          <p:nvSpPr>
            <p:cNvPr id="53" name="TextBox 53"/>
            <p:cNvSpPr txBox="1"/>
            <p:nvPr/>
          </p:nvSpPr>
          <p:spPr>
            <a:xfrm>
              <a:off x="908685" y="4450556"/>
              <a:ext cx="811682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Kendi ölçümünüzü yapın: Morgan loglarından p50/p95/p99 hesaplayın, Prisma transaction süresini ayrı ölçün.</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647319" cy="629412"/>
            <a:chOff x="609600" y="171450"/>
            <a:chExt cx="6647319" cy="629412"/>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302258" y="331470"/>
              <a:ext cx="5954661"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Hata ayıklama: HataliBakimKaydi.ts</a:t>
              </a:r>
            </a:p>
          </p:txBody>
        </p:sp>
      </p:grpSp>
      <p:grpSp>
        <p:nvGrpSpPr>
          <p:cNvPr id="27" name="code-card"/>
          <p:cNvGrpSpPr/>
          <p:nvPr/>
        </p:nvGrpSpPr>
        <p:grpSpPr>
          <a:xfrm>
            <a:off x="609600" y="1219200"/>
            <a:ext cx="5334000" cy="4095750"/>
            <a:chOff x="609600" y="1219200"/>
            <a:chExt cx="5334000" cy="4095750"/>
          </a:xfrm>
        </p:grpSpPr>
        <p:sp>
          <p:nvSpPr>
            <p:cNvPr id="12" name="Rectangle 12"/>
            <p:cNvSpPr/>
            <p:nvPr/>
          </p:nvSpPr>
          <p:spPr>
            <a:xfrm>
              <a:off x="609600" y="1219200"/>
              <a:ext cx="5334000" cy="4095750"/>
            </a:xfrm>
            <a:prstGeom prst="roundRect">
              <a:avLst>
                <a:gd name="adj" fmla="val 1860"/>
              </a:avLst>
            </a:prstGeom>
            <a:solidFill>
              <a:srgbClr val="12355B"/>
            </a:solidFill>
            <a:ln>
              <a:noFill/>
            </a:ln>
          </p:spPr>
        </p:sp>
        <p:sp>
          <p:nvSpPr>
            <p:cNvPr id="13" name="TextBox 13"/>
            <p:cNvSpPr txBox="1"/>
            <p:nvPr/>
          </p:nvSpPr>
          <p:spPr>
            <a:xfrm>
              <a:off x="832104" y="1394460"/>
              <a:ext cx="3443633"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bakimKaydiOlustur(kayit, istekYapanRol)</a:t>
              </a:r>
            </a:p>
          </p:txBody>
        </p:sp>
        <p:sp>
          <p:nvSpPr>
            <p:cNvPr id="14" name="TextBox 14"/>
            <p:cNvSpPr txBox="1"/>
            <p:nvPr/>
          </p:nvSpPr>
          <p:spPr>
            <a:xfrm>
              <a:off x="832866" y="1753552"/>
              <a:ext cx="158190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interface BakimKaydi {</a:t>
              </a:r>
            </a:p>
          </p:txBody>
        </p:sp>
        <p:sp>
          <p:nvSpPr>
            <p:cNvPr id="15" name="TextBox 15"/>
            <p:cNvSpPr txBox="1"/>
            <p:nvPr/>
          </p:nvSpPr>
          <p:spPr>
            <a:xfrm>
              <a:off x="985266" y="1963102"/>
              <a:ext cx="145015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ekipmanId, aciklama,</a:t>
              </a:r>
            </a:p>
          </p:txBody>
        </p:sp>
        <p:sp>
          <p:nvSpPr>
            <p:cNvPr id="16" name="TextBox 16"/>
            <p:cNvSpPr txBox="1"/>
            <p:nvPr/>
          </p:nvSpPr>
          <p:spPr>
            <a:xfrm>
              <a:off x="985266" y="2153602"/>
              <a:ext cx="155221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laboratuvarGorevlisiId</a:t>
              </a:r>
            </a:p>
          </p:txBody>
        </p:sp>
        <p:sp>
          <p:nvSpPr>
            <p:cNvPr id="17" name="TextBox 17"/>
            <p:cNvSpPr txBox="1"/>
            <p:nvPr/>
          </p:nvSpPr>
          <p:spPr>
            <a:xfrm>
              <a:off x="832866" y="234410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a:t>
              </a:r>
            </a:p>
          </p:txBody>
        </p:sp>
        <p:sp>
          <p:nvSpPr>
            <p:cNvPr id="18" name="TextBox 18"/>
            <p:cNvSpPr txBox="1"/>
            <p:nvPr/>
          </p:nvSpPr>
          <p:spPr>
            <a:xfrm>
              <a:off x="832866" y="2706052"/>
              <a:ext cx="180381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console.log("Bakım kaydı</a:t>
              </a:r>
            </a:p>
          </p:txBody>
        </p:sp>
        <p:sp>
          <p:nvSpPr>
            <p:cNvPr id="19" name="TextBox 19"/>
            <p:cNvSpPr txBox="1"/>
            <p:nvPr/>
          </p:nvSpPr>
          <p:spPr>
            <a:xfrm>
              <a:off x="985266" y="2896552"/>
              <a:ext cx="224401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oluşturuldu: " + kayit.aciklama)</a:t>
              </a:r>
            </a:p>
          </p:txBody>
        </p:sp>
        <p:sp>
          <p:nvSpPr>
            <p:cNvPr id="20" name="TextBox 20"/>
            <p:cNvSpPr txBox="1"/>
            <p:nvPr/>
          </p:nvSpPr>
          <p:spPr>
            <a:xfrm>
              <a:off x="832866" y="3182302"/>
              <a:ext cx="1706880"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return { basarili: true }</a:t>
              </a:r>
            </a:p>
          </p:txBody>
        </p:sp>
        <p:sp>
          <p:nvSpPr>
            <p:cNvPr id="21" name="Rectangle 21"/>
            <p:cNvSpPr/>
            <p:nvPr/>
          </p:nvSpPr>
          <p:spPr>
            <a:xfrm>
              <a:off x="838200" y="3619500"/>
              <a:ext cx="4800600" cy="762000"/>
            </a:xfrm>
            <a:prstGeom prst="roundRect">
              <a:avLst>
                <a:gd name="adj" fmla="val 7500"/>
              </a:avLst>
            </a:prstGeom>
            <a:solidFill>
              <a:srgbClr val="2E86AB">
                <a:alpha val="25000"/>
              </a:srgbClr>
            </a:solidFill>
            <a:ln>
              <a:noFill/>
            </a:ln>
          </p:spPr>
        </p:sp>
        <p:sp>
          <p:nvSpPr>
            <p:cNvPr id="22" name="TextBox 22"/>
            <p:cNvSpPr txBox="1"/>
            <p:nvPr/>
          </p:nvSpPr>
          <p:spPr>
            <a:xfrm>
              <a:off x="985266" y="3734752"/>
              <a:ext cx="1550114"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Çağrı: rol = "ogrenci"</a:t>
              </a:r>
            </a:p>
          </p:txBody>
        </p:sp>
        <p:sp>
          <p:nvSpPr>
            <p:cNvPr id="23" name="TextBox 23"/>
            <p:cNvSpPr txBox="1"/>
            <p:nvPr/>
          </p:nvSpPr>
          <p:spPr>
            <a:xfrm>
              <a:off x="985266" y="3944302"/>
              <a:ext cx="2732218"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Beklenmeyen çıktı: { basarili: true }</a:t>
              </a:r>
            </a:p>
          </p:txBody>
        </p:sp>
        <p:sp>
          <p:nvSpPr>
            <p:cNvPr id="24" name="TextBox 24"/>
            <p:cNvSpPr txBox="1"/>
            <p:nvPr/>
          </p:nvSpPr>
          <p:spPr>
            <a:xfrm>
              <a:off x="985647" y="4161949"/>
              <a:ext cx="276458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Öğrenci rolüyle bakım kaydı oluşturulabildi</a:t>
              </a:r>
            </a:p>
          </p:txBody>
        </p:sp>
        <p:sp>
          <p:nvSpPr>
            <p:cNvPr id="25" name="TextBox 25"/>
            <p:cNvSpPr txBox="1"/>
            <p:nvPr/>
          </p:nvSpPr>
          <p:spPr>
            <a:xfrm>
              <a:off x="833247" y="4638199"/>
              <a:ext cx="287273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rol denetimi hiç yapılmıyor; ekipman durumu</a:t>
              </a:r>
            </a:p>
          </p:txBody>
        </p:sp>
        <p:sp>
          <p:nvSpPr>
            <p:cNvPr id="26" name="TextBox 26"/>
            <p:cNvSpPr txBox="1"/>
            <p:nvPr/>
          </p:nvSpPr>
          <p:spPr>
            <a:xfrm>
              <a:off x="833247" y="4828699"/>
              <a:ext cx="315637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ayrı, senkronize olmayan bir yerde güncelleniyor</a:t>
              </a:r>
            </a:p>
          </p:txBody>
        </p:sp>
      </p:grpSp>
      <p:grpSp>
        <p:nvGrpSpPr>
          <p:cNvPr id="37" name="error-1"/>
          <p:cNvGrpSpPr/>
          <p:nvPr/>
        </p:nvGrpSpPr>
        <p:grpSpPr>
          <a:xfrm>
            <a:off x="6248400" y="1219200"/>
            <a:ext cx="5334000" cy="1905000"/>
            <a:chOff x="6248400" y="1219200"/>
            <a:chExt cx="5334000" cy="1905000"/>
          </a:xfrm>
        </p:grpSpPr>
        <p:sp>
          <p:nvSpPr>
            <p:cNvPr id="28" name="Rectangle 28"/>
            <p:cNvSpPr/>
            <p:nvPr/>
          </p:nvSpPr>
          <p:spPr>
            <a:xfrm>
              <a:off x="6248400" y="1219200"/>
              <a:ext cx="5334000" cy="1905000"/>
            </a:xfrm>
            <a:prstGeom prst="roundRect">
              <a:avLst>
                <a:gd name="adj" fmla="val 4000"/>
              </a:avLst>
            </a:prstGeom>
            <a:solidFill>
              <a:srgbClr val="FFFFFF"/>
            </a:solidFill>
            <a:ln w="14288">
              <a:solidFill>
                <a:srgbClr val="2E86AB"/>
              </a:solidFill>
            </a:ln>
          </p:spPr>
        </p:sp>
        <p:sp>
          <p:nvSpPr>
            <p:cNvPr id="29" name="Rectangle 29"/>
            <p:cNvSpPr/>
            <p:nvPr/>
          </p:nvSpPr>
          <p:spPr>
            <a:xfrm>
              <a:off x="6248400" y="1219200"/>
              <a:ext cx="57150" cy="1905000"/>
            </a:xfrm>
            <a:prstGeom prst="rect">
              <a:avLst/>
            </a:prstGeom>
            <a:solidFill>
              <a:srgbClr val="2E86AB"/>
            </a:solidFill>
            <a:ln>
              <a:noFill/>
            </a:ln>
          </p:spPr>
        </p:sp>
        <p:sp>
          <p:nvSpPr>
            <p:cNvPr id="30" name="TextBox 30"/>
            <p:cNvSpPr txBox="1"/>
            <p:nvPr/>
          </p:nvSpPr>
          <p:spPr>
            <a:xfrm>
              <a:off x="6546342" y="1359218"/>
              <a:ext cx="268940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Hata 1 — Yetki kontrolü eksik</a:t>
              </a:r>
            </a:p>
          </p:txBody>
        </p:sp>
        <p:sp>
          <p:nvSpPr>
            <p:cNvPr id="31" name="TextBox 31"/>
            <p:cNvSpPr txBox="1"/>
            <p:nvPr/>
          </p:nvSpPr>
          <p:spPr>
            <a:xfrm>
              <a:off x="6547485" y="1669256"/>
              <a:ext cx="30666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istekYapanRol: string parametresi alınır</a:t>
              </a:r>
            </a:p>
          </p:txBody>
        </p:sp>
        <p:sp>
          <p:nvSpPr>
            <p:cNvPr id="32" name="TextBox 32"/>
            <p:cNvSpPr txBox="1"/>
            <p:nvPr/>
          </p:nvSpPr>
          <p:spPr>
            <a:xfrm>
              <a:off x="6547485" y="1878806"/>
              <a:ext cx="242382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ama gövdede hiç kontrol edilmez.</a:t>
              </a:r>
            </a:p>
          </p:txBody>
        </p:sp>
        <p:sp>
          <p:nvSpPr>
            <p:cNvPr id="33" name="TextBox 33"/>
            <p:cNvSpPr txBox="1"/>
            <p:nvPr/>
          </p:nvSpPr>
          <p:spPr>
            <a:xfrm>
              <a:off x="6547485" y="2183606"/>
              <a:ext cx="79265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Düzeltme:</a:t>
              </a:r>
            </a:p>
          </p:txBody>
        </p:sp>
        <p:sp>
          <p:nvSpPr>
            <p:cNvPr id="34" name="TextBox 34"/>
            <p:cNvSpPr txBox="1"/>
            <p:nvPr/>
          </p:nvSpPr>
          <p:spPr>
            <a:xfrm>
              <a:off x="6547485" y="2412206"/>
              <a:ext cx="30826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istekYapanRol !== "laboratuvar_gorevlisi"</a:t>
              </a:r>
            </a:p>
          </p:txBody>
        </p:sp>
        <p:sp>
          <p:nvSpPr>
            <p:cNvPr id="35" name="TextBox 35"/>
            <p:cNvSpPr txBox="1"/>
            <p:nvPr/>
          </p:nvSpPr>
          <p:spPr>
            <a:xfrm>
              <a:off x="6547485" y="2621756"/>
              <a:ext cx="26672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ise 403 Forbidden (AppError) fırlat</a:t>
              </a:r>
            </a:p>
          </p:txBody>
        </p:sp>
        <p:sp>
          <p:nvSpPr>
            <p:cNvPr id="36" name="TextBox 36"/>
            <p:cNvSpPr txBox="1"/>
            <p:nvPr/>
          </p:nvSpPr>
          <p:spPr>
            <a:xfrm>
              <a:off x="6548247" y="2866549"/>
              <a:ext cx="187867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Bölüm 10, RBAC ilkesinin ihlali</a:t>
              </a:r>
            </a:p>
          </p:txBody>
        </p:sp>
      </p:grpSp>
      <p:grpSp>
        <p:nvGrpSpPr>
          <p:cNvPr id="47" name="error-2"/>
          <p:cNvGrpSpPr/>
          <p:nvPr/>
        </p:nvGrpSpPr>
        <p:grpSpPr>
          <a:xfrm>
            <a:off x="6248400" y="3276600"/>
            <a:ext cx="5334000" cy="2038350"/>
            <a:chOff x="6248400" y="3276600"/>
            <a:chExt cx="5334000" cy="2038350"/>
          </a:xfrm>
        </p:grpSpPr>
        <p:sp>
          <p:nvSpPr>
            <p:cNvPr id="38" name="Rectangle 38"/>
            <p:cNvSpPr/>
            <p:nvPr/>
          </p:nvSpPr>
          <p:spPr>
            <a:xfrm>
              <a:off x="6248400" y="3276600"/>
              <a:ext cx="5334000" cy="2038350"/>
            </a:xfrm>
            <a:prstGeom prst="roundRect">
              <a:avLst>
                <a:gd name="adj" fmla="val 3738"/>
              </a:avLst>
            </a:prstGeom>
            <a:solidFill>
              <a:srgbClr val="FFFFFF"/>
            </a:solidFill>
            <a:ln w="14288">
              <a:solidFill>
                <a:srgbClr val="00A6A6"/>
              </a:solidFill>
            </a:ln>
          </p:spPr>
        </p:sp>
        <p:sp>
          <p:nvSpPr>
            <p:cNvPr id="39" name="Rectangle 39"/>
            <p:cNvSpPr/>
            <p:nvPr/>
          </p:nvSpPr>
          <p:spPr>
            <a:xfrm>
              <a:off x="6248400" y="3276600"/>
              <a:ext cx="57150" cy="2038350"/>
            </a:xfrm>
            <a:prstGeom prst="rect">
              <a:avLst/>
            </a:prstGeom>
            <a:solidFill>
              <a:srgbClr val="00A6A6"/>
            </a:solidFill>
            <a:ln>
              <a:noFill/>
            </a:ln>
          </p:spPr>
        </p:sp>
        <p:sp>
          <p:nvSpPr>
            <p:cNvPr id="40" name="TextBox 40"/>
            <p:cNvSpPr txBox="1"/>
            <p:nvPr/>
          </p:nvSpPr>
          <p:spPr>
            <a:xfrm>
              <a:off x="6546342" y="3416618"/>
              <a:ext cx="287998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Hata 2 — Atomiklik/tutarsızlık</a:t>
              </a:r>
            </a:p>
          </p:txBody>
        </p:sp>
        <p:sp>
          <p:nvSpPr>
            <p:cNvPr id="41" name="TextBox 41"/>
            <p:cNvSpPr txBox="1"/>
            <p:nvPr/>
          </p:nvSpPr>
          <p:spPr>
            <a:xfrm>
              <a:off x="6547485" y="3726656"/>
              <a:ext cx="30092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Bakım kaydı tablosuna satır eklenir ama</a:t>
              </a:r>
            </a:p>
          </p:txBody>
        </p:sp>
        <p:sp>
          <p:nvSpPr>
            <p:cNvPr id="42" name="TextBox 42"/>
            <p:cNvSpPr txBox="1"/>
            <p:nvPr/>
          </p:nvSpPr>
          <p:spPr>
            <a:xfrm>
              <a:off x="6547485" y="3936206"/>
              <a:ext cx="27404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ekipmanın durum alanı güncellenmez;</a:t>
              </a:r>
            </a:p>
          </p:txBody>
        </p:sp>
        <p:sp>
          <p:nvSpPr>
            <p:cNvPr id="43" name="TextBox 43"/>
            <p:cNvSpPr txBox="1"/>
            <p:nvPr/>
          </p:nvSpPr>
          <p:spPr>
            <a:xfrm>
              <a:off x="6547485" y="4145756"/>
              <a:ext cx="329831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bakımdaki cihaz rezervasyona açık görünür.</a:t>
              </a:r>
            </a:p>
          </p:txBody>
        </p:sp>
        <p:sp>
          <p:nvSpPr>
            <p:cNvPr id="44" name="TextBox 44"/>
            <p:cNvSpPr txBox="1"/>
            <p:nvPr/>
          </p:nvSpPr>
          <p:spPr>
            <a:xfrm>
              <a:off x="6547485" y="4450556"/>
              <a:ext cx="79265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Düzeltme:</a:t>
              </a:r>
            </a:p>
          </p:txBody>
        </p:sp>
        <p:sp>
          <p:nvSpPr>
            <p:cNvPr id="45" name="TextBox 45"/>
            <p:cNvSpPr txBox="1"/>
            <p:nvPr/>
          </p:nvSpPr>
          <p:spPr>
            <a:xfrm>
              <a:off x="6547485" y="4679156"/>
              <a:ext cx="309746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Kayıt + durum güncellemesi tek bir Prisma</a:t>
              </a:r>
            </a:p>
          </p:txBody>
        </p:sp>
        <p:sp>
          <p:nvSpPr>
            <p:cNvPr id="46" name="TextBox 46"/>
            <p:cNvSpPr txBox="1"/>
            <p:nvPr/>
          </p:nvSpPr>
          <p:spPr>
            <a:xfrm>
              <a:off x="6547485" y="4888706"/>
              <a:ext cx="32003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$transaction bloğu içinde birlikte yapılmalı</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95873" cy="629412"/>
            <a:chOff x="609600" y="171450"/>
            <a:chExt cx="7495873" cy="629412"/>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302258" y="331470"/>
              <a:ext cx="6803215"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İzleme tablosu: hatalı ve düzeltilmiş hat</a:t>
              </a:r>
            </a:p>
          </p:txBody>
        </p:sp>
      </p:grpSp>
      <p:grpSp>
        <p:nvGrpSpPr>
          <p:cNvPr id="18" name="table-header"/>
          <p:cNvGrpSpPr/>
          <p:nvPr/>
        </p:nvGrpSpPr>
        <p:grpSpPr>
          <a:xfrm>
            <a:off x="609600" y="1219200"/>
            <a:ext cx="10820400" cy="400050"/>
            <a:chOff x="609600" y="1219200"/>
            <a:chExt cx="10820400" cy="400050"/>
          </a:xfrm>
        </p:grpSpPr>
        <p:sp>
          <p:nvSpPr>
            <p:cNvPr id="12" name="Rectangle 12"/>
            <p:cNvSpPr/>
            <p:nvPr/>
          </p:nvSpPr>
          <p:spPr>
            <a:xfrm>
              <a:off x="609600" y="1219200"/>
              <a:ext cx="2000250" cy="400050"/>
            </a:xfrm>
            <a:prstGeom prst="rect">
              <a:avLst/>
            </a:prstGeom>
            <a:solidFill>
              <a:srgbClr val="12355B"/>
            </a:solidFill>
            <a:ln>
              <a:noFill/>
            </a:ln>
          </p:spPr>
        </p:sp>
        <p:sp>
          <p:nvSpPr>
            <p:cNvPr id="13" name="Rectangle 13"/>
            <p:cNvSpPr/>
            <p:nvPr/>
          </p:nvSpPr>
          <p:spPr>
            <a:xfrm>
              <a:off x="2762250" y="1219200"/>
              <a:ext cx="4191000" cy="400050"/>
            </a:xfrm>
            <a:prstGeom prst="rect">
              <a:avLst/>
            </a:prstGeom>
            <a:solidFill>
              <a:srgbClr val="12355B"/>
            </a:solidFill>
            <a:ln>
              <a:noFill/>
            </a:ln>
          </p:spPr>
        </p:sp>
        <p:sp>
          <p:nvSpPr>
            <p:cNvPr id="14" name="Rectangle 14"/>
            <p:cNvSpPr/>
            <p:nvPr/>
          </p:nvSpPr>
          <p:spPr>
            <a:xfrm>
              <a:off x="7105650" y="1219200"/>
              <a:ext cx="4324350" cy="400050"/>
            </a:xfrm>
            <a:prstGeom prst="rect">
              <a:avLst/>
            </a:prstGeom>
            <a:solidFill>
              <a:srgbClr val="12355B"/>
            </a:solidFill>
            <a:ln>
              <a:noFill/>
            </a:ln>
          </p:spPr>
        </p:sp>
        <p:sp>
          <p:nvSpPr>
            <p:cNvPr id="15" name="TextBox 15"/>
            <p:cNvSpPr txBox="1"/>
            <p:nvPr/>
          </p:nvSpPr>
          <p:spPr>
            <a:xfrm>
              <a:off x="755904" y="1337310"/>
              <a:ext cx="86539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Adım / Rol</a:t>
              </a:r>
            </a:p>
          </p:txBody>
        </p:sp>
        <p:sp>
          <p:nvSpPr>
            <p:cNvPr id="16" name="TextBox 16"/>
            <p:cNvSpPr txBox="1"/>
            <p:nvPr/>
          </p:nvSpPr>
          <p:spPr>
            <a:xfrm>
              <a:off x="2908554" y="1337310"/>
              <a:ext cx="167304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Hatalı Sistem Etkisi</a:t>
              </a:r>
            </a:p>
          </p:txBody>
        </p:sp>
        <p:sp>
          <p:nvSpPr>
            <p:cNvPr id="17" name="TextBox 17"/>
            <p:cNvSpPr txBox="1"/>
            <p:nvPr/>
          </p:nvSpPr>
          <p:spPr>
            <a:xfrm>
              <a:off x="7251954" y="1337310"/>
              <a:ext cx="228481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Düzeltilmiş Çıktı / Güvence</a:t>
              </a:r>
            </a:p>
          </p:txBody>
        </p:sp>
      </p:grpSp>
      <p:grpSp>
        <p:nvGrpSpPr>
          <p:cNvPr id="25" name="row-1"/>
          <p:cNvGrpSpPr/>
          <p:nvPr/>
        </p:nvGrpSpPr>
        <p:grpSpPr>
          <a:xfrm>
            <a:off x="609600" y="1619250"/>
            <a:ext cx="10820400" cy="962025"/>
            <a:chOff x="609600" y="1619250"/>
            <a:chExt cx="10820400" cy="962025"/>
          </a:xfrm>
        </p:grpSpPr>
        <p:sp>
          <p:nvSpPr>
            <p:cNvPr id="19" name="Rectangle 19"/>
            <p:cNvSpPr/>
            <p:nvPr/>
          </p:nvSpPr>
          <p:spPr>
            <a:xfrm>
              <a:off x="609600" y="1619250"/>
              <a:ext cx="10820400" cy="952500"/>
            </a:xfrm>
            <a:prstGeom prst="rect">
              <a:avLst/>
            </a:prstGeom>
            <a:solidFill>
              <a:srgbClr val="FFFFFF"/>
            </a:solidFill>
            <a:ln>
              <a:noFill/>
            </a:ln>
          </p:spPr>
        </p:sp>
        <p:sp>
          <p:nvSpPr>
            <p:cNvPr id="20" name="TextBox 20"/>
            <p:cNvSpPr txBox="1"/>
            <p:nvPr/>
          </p:nvSpPr>
          <p:spPr>
            <a:xfrm>
              <a:off x="756285" y="1783556"/>
              <a:ext cx="80939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 Öğrenci</a:t>
              </a:r>
            </a:p>
          </p:txBody>
        </p:sp>
        <p:sp>
          <p:nvSpPr>
            <p:cNvPr id="21" name="TextBox 21"/>
            <p:cNvSpPr txBox="1"/>
            <p:nvPr/>
          </p:nvSpPr>
          <p:spPr>
            <a:xfrm>
              <a:off x="756666" y="2001202"/>
              <a:ext cx="130151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Bakım kaydı talebi</a:t>
              </a:r>
            </a:p>
          </p:txBody>
        </p:sp>
        <p:sp>
          <p:nvSpPr>
            <p:cNvPr id="22" name="TextBox 22"/>
            <p:cNvSpPr txBox="1"/>
            <p:nvPr/>
          </p:nvSpPr>
          <p:spPr>
            <a:xfrm>
              <a:off x="2909316" y="1791652"/>
              <a:ext cx="208426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Rol denetimi yok; öğrenci cihazı</a:t>
              </a:r>
              <a:br/>
              <a:r>
                <a:rPr lang="tr-TR" sz="1050" dirty="0">
                  <a:solidFill>
                    <a:srgbClr val="172B3A"/>
                  </a:solidFill>
                  <a:latin typeface="+mn-lt"/>
                  <a:ea typeface="+mn-ea"/>
                  <a:cs typeface="+mn-cs"/>
                </a:rPr>
                <a:t>bakıma alabilir (yetki ihlali)</a:t>
              </a:r>
            </a:p>
          </p:txBody>
        </p:sp>
        <p:sp>
          <p:nvSpPr>
            <p:cNvPr id="23" name="TextBox 23"/>
            <p:cNvSpPr txBox="1"/>
            <p:nvPr/>
          </p:nvSpPr>
          <p:spPr>
            <a:xfrm>
              <a:off x="7252716" y="1791652"/>
              <a:ext cx="108413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403 Forbidden</a:t>
              </a:r>
              <a:br/>
              <a:r>
                <a:rPr lang="tr-TR" sz="1050" dirty="0">
                  <a:solidFill>
                    <a:srgbClr val="172B3A"/>
                  </a:solidFill>
                  <a:latin typeface="+mn-lt"/>
                  <a:ea typeface="+mn-ea"/>
                  <a:cs typeface="+mn-cs"/>
                </a:rPr>
                <a:t>("Yetkiniz yok")</a:t>
              </a:r>
            </a:p>
          </p:txBody>
        </p:sp>
        <p:sp>
          <p:nvSpPr>
            <p:cNvPr id="24" name="Line 24"/>
            <p:cNvSpPr/>
            <p:nvPr/>
          </p:nvSpPr>
          <p:spPr>
            <a:xfrm>
              <a:off x="609600" y="2571750"/>
              <a:ext cx="10820400" cy="9525"/>
            </a:xfrm>
            <a:custGeom>
              <a:avLst/>
              <a:gdLst/>
              <a:ahLst/>
              <a:cxnLst/>
              <a:rect l="l" t="t" r="r" b="b"/>
              <a:pathLst>
                <a:path w="10820400" h="9525">
                  <a:moveTo>
                    <a:pt x="0" y="0"/>
                  </a:moveTo>
                  <a:lnTo>
                    <a:pt x="10820400" y="0"/>
                  </a:lnTo>
                </a:path>
              </a:pathLst>
            </a:custGeom>
            <a:noFill/>
            <a:ln w="9525">
              <a:solidFill>
                <a:srgbClr val="B8CBD3"/>
              </a:solidFill>
            </a:ln>
          </p:spPr>
        </p:sp>
      </p:grpSp>
      <p:grpSp>
        <p:nvGrpSpPr>
          <p:cNvPr id="32" name="row-2"/>
          <p:cNvGrpSpPr/>
          <p:nvPr/>
        </p:nvGrpSpPr>
        <p:grpSpPr>
          <a:xfrm>
            <a:off x="609600" y="2571750"/>
            <a:ext cx="10820400" cy="962025"/>
            <a:chOff x="609600" y="2571750"/>
            <a:chExt cx="10820400" cy="962025"/>
          </a:xfrm>
        </p:grpSpPr>
        <p:sp>
          <p:nvSpPr>
            <p:cNvPr id="26" name="Rectangle 26"/>
            <p:cNvSpPr/>
            <p:nvPr/>
          </p:nvSpPr>
          <p:spPr>
            <a:xfrm>
              <a:off x="609600" y="2571750"/>
              <a:ext cx="10820400" cy="952500"/>
            </a:xfrm>
            <a:prstGeom prst="rect">
              <a:avLst/>
            </a:prstGeom>
            <a:solidFill>
              <a:srgbClr val="EAF4F6"/>
            </a:solidFill>
            <a:ln>
              <a:noFill/>
            </a:ln>
          </p:spPr>
        </p:sp>
        <p:sp>
          <p:nvSpPr>
            <p:cNvPr id="27" name="TextBox 27"/>
            <p:cNvSpPr txBox="1"/>
            <p:nvPr/>
          </p:nvSpPr>
          <p:spPr>
            <a:xfrm>
              <a:off x="756285" y="2736056"/>
              <a:ext cx="76949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 Görevli</a:t>
              </a:r>
            </a:p>
          </p:txBody>
        </p:sp>
        <p:sp>
          <p:nvSpPr>
            <p:cNvPr id="28" name="TextBox 28"/>
            <p:cNvSpPr txBox="1"/>
            <p:nvPr/>
          </p:nvSpPr>
          <p:spPr>
            <a:xfrm>
              <a:off x="756666" y="2953702"/>
              <a:ext cx="130151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Bakım kaydı talebi</a:t>
              </a:r>
            </a:p>
          </p:txBody>
        </p:sp>
        <p:sp>
          <p:nvSpPr>
            <p:cNvPr id="29" name="TextBox 29"/>
            <p:cNvSpPr txBox="1"/>
            <p:nvPr/>
          </p:nvSpPr>
          <p:spPr>
            <a:xfrm>
              <a:off x="2909316" y="2744152"/>
              <a:ext cx="220427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Sadece log yazar; ekipman hâlâ</a:t>
              </a:r>
              <a:br/>
              <a:r>
                <a:rPr lang="tr-TR" sz="1050" dirty="0">
                  <a:solidFill>
                    <a:srgbClr val="172B3A"/>
                  </a:solidFill>
                  <a:latin typeface="+mn-lt"/>
                  <a:ea typeface="+mn-ea"/>
                  <a:cs typeface="+mn-cs"/>
                </a:rPr>
                <a:t>"MUSAIT" görünür, çakışma doğar</a:t>
              </a:r>
            </a:p>
          </p:txBody>
        </p:sp>
        <p:sp>
          <p:nvSpPr>
            <p:cNvPr id="30" name="TextBox 30"/>
            <p:cNvSpPr txBox="1"/>
            <p:nvPr/>
          </p:nvSpPr>
          <p:spPr>
            <a:xfrm>
              <a:off x="7252716" y="2744152"/>
              <a:ext cx="247097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201 Created — kayıt + durum</a:t>
              </a:r>
              <a:br/>
              <a:r>
                <a:rPr lang="tr-TR" sz="1050" dirty="0">
                  <a:solidFill>
                    <a:srgbClr val="172B3A"/>
                  </a:solidFill>
                  <a:latin typeface="+mn-lt"/>
                  <a:ea typeface="+mn-ea"/>
                  <a:cs typeface="+mn-cs"/>
                </a:rPr>
                <a:t>transaction içinde birlikte güncellenir</a:t>
              </a:r>
            </a:p>
          </p:txBody>
        </p:sp>
        <p:sp>
          <p:nvSpPr>
            <p:cNvPr id="31" name="Line 31"/>
            <p:cNvSpPr/>
            <p:nvPr/>
          </p:nvSpPr>
          <p:spPr>
            <a:xfrm>
              <a:off x="609600" y="3524250"/>
              <a:ext cx="10820400" cy="9525"/>
            </a:xfrm>
            <a:custGeom>
              <a:avLst/>
              <a:gdLst/>
              <a:ahLst/>
              <a:cxnLst/>
              <a:rect l="l" t="t" r="r" b="b"/>
              <a:pathLst>
                <a:path w="10820400" h="9525">
                  <a:moveTo>
                    <a:pt x="0" y="0"/>
                  </a:moveTo>
                  <a:lnTo>
                    <a:pt x="10820400" y="0"/>
                  </a:lnTo>
                </a:path>
              </a:pathLst>
            </a:custGeom>
            <a:noFill/>
            <a:ln w="9525">
              <a:solidFill>
                <a:srgbClr val="B8CBD3"/>
              </a:solidFill>
            </a:ln>
          </p:spPr>
        </p:sp>
      </p:grpSp>
      <p:grpSp>
        <p:nvGrpSpPr>
          <p:cNvPr id="38" name="row-3"/>
          <p:cNvGrpSpPr/>
          <p:nvPr/>
        </p:nvGrpSpPr>
        <p:grpSpPr>
          <a:xfrm>
            <a:off x="609600" y="3524250"/>
            <a:ext cx="10820400" cy="952500"/>
            <a:chOff x="609600" y="3524250"/>
            <a:chExt cx="10820400" cy="952500"/>
          </a:xfrm>
        </p:grpSpPr>
        <p:sp>
          <p:nvSpPr>
            <p:cNvPr id="33" name="Rectangle 33"/>
            <p:cNvSpPr/>
            <p:nvPr/>
          </p:nvSpPr>
          <p:spPr>
            <a:xfrm>
              <a:off x="609600" y="3524250"/>
              <a:ext cx="10820400" cy="952500"/>
            </a:xfrm>
            <a:prstGeom prst="rect">
              <a:avLst/>
            </a:prstGeom>
            <a:solidFill>
              <a:srgbClr val="FFFFFF"/>
            </a:solidFill>
            <a:ln>
              <a:noFill/>
            </a:ln>
          </p:spPr>
        </p:sp>
        <p:sp>
          <p:nvSpPr>
            <p:cNvPr id="34" name="TextBox 34"/>
            <p:cNvSpPr txBox="1"/>
            <p:nvPr/>
          </p:nvSpPr>
          <p:spPr>
            <a:xfrm>
              <a:off x="756285" y="3688556"/>
              <a:ext cx="1781880"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3. Veritabanı kesintisi</a:t>
              </a:r>
            </a:p>
          </p:txBody>
        </p:sp>
        <p:sp>
          <p:nvSpPr>
            <p:cNvPr id="35" name="TextBox 35"/>
            <p:cNvSpPr txBox="1"/>
            <p:nvPr/>
          </p:nvSpPr>
          <p:spPr>
            <a:xfrm>
              <a:off x="756666" y="3906202"/>
              <a:ext cx="193049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Transaction ortasında hata</a:t>
              </a:r>
            </a:p>
          </p:txBody>
        </p:sp>
        <p:sp>
          <p:nvSpPr>
            <p:cNvPr id="36" name="TextBox 36"/>
            <p:cNvSpPr txBox="1"/>
            <p:nvPr/>
          </p:nvSpPr>
          <p:spPr>
            <a:xfrm>
              <a:off x="2909316" y="3696652"/>
              <a:ext cx="135750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Yarım kalmış kayıt;</a:t>
              </a:r>
              <a:br/>
              <a:r>
                <a:rPr lang="tr-TR" sz="1050" dirty="0">
                  <a:solidFill>
                    <a:srgbClr val="172B3A"/>
                  </a:solidFill>
                  <a:latin typeface="+mn-lt"/>
                  <a:ea typeface="+mn-ea"/>
                  <a:cs typeface="+mn-cs"/>
                </a:rPr>
                <a:t>kirli veri sızıntısı</a:t>
              </a:r>
            </a:p>
          </p:txBody>
        </p:sp>
        <p:sp>
          <p:nvSpPr>
            <p:cNvPr id="37" name="TextBox 37"/>
            <p:cNvSpPr txBox="1"/>
            <p:nvPr/>
          </p:nvSpPr>
          <p:spPr>
            <a:xfrm>
              <a:off x="7252716" y="3696652"/>
              <a:ext cx="240430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Transaction Rollback —</a:t>
              </a:r>
              <a:br/>
              <a:r>
                <a:rPr lang="tr-TR" sz="1050" dirty="0">
                  <a:solidFill>
                    <a:srgbClr val="172B3A"/>
                  </a:solidFill>
                  <a:latin typeface="+mn-lt"/>
                  <a:ea typeface="+mn-ea"/>
                  <a:cs typeface="+mn-cs"/>
                </a:rPr>
                <a:t>atomik geri alma, tutarlılık korunur</a:t>
              </a:r>
            </a:p>
          </p:txBody>
        </p:sp>
      </p:grpSp>
      <p:grpSp>
        <p:nvGrpSpPr>
          <p:cNvPr id="42" name="table-frame"/>
          <p:cNvGrpSpPr/>
          <p:nvPr/>
        </p:nvGrpSpPr>
        <p:grpSpPr>
          <a:xfrm>
            <a:off x="609600" y="1219200"/>
            <a:ext cx="10820400" cy="3257550"/>
            <a:chOff x="609600" y="1219200"/>
            <a:chExt cx="10820400" cy="3257550"/>
          </a:xfrm>
        </p:grpSpPr>
        <p:sp>
          <p:nvSpPr>
            <p:cNvPr id="39" name="Rectangle 39"/>
            <p:cNvSpPr/>
            <p:nvPr/>
          </p:nvSpPr>
          <p:spPr>
            <a:xfrm>
              <a:off x="609600" y="1219200"/>
              <a:ext cx="10820400" cy="3257550"/>
            </a:xfrm>
            <a:prstGeom prst="rect">
              <a:avLst/>
            </a:prstGeom>
            <a:noFill/>
            <a:ln w="14288">
              <a:solidFill>
                <a:srgbClr val="B8CBD3"/>
              </a:solidFill>
            </a:ln>
          </p:spPr>
        </p:sp>
        <p:sp>
          <p:nvSpPr>
            <p:cNvPr id="40" name="Line 40"/>
            <p:cNvSpPr/>
            <p:nvPr/>
          </p:nvSpPr>
          <p:spPr>
            <a:xfrm>
              <a:off x="2762250" y="1219200"/>
              <a:ext cx="9525" cy="3257550"/>
            </a:xfrm>
            <a:custGeom>
              <a:avLst/>
              <a:gdLst/>
              <a:ahLst/>
              <a:cxnLst/>
              <a:rect l="l" t="t" r="r" b="b"/>
              <a:pathLst>
                <a:path w="9525" h="3257550">
                  <a:moveTo>
                    <a:pt x="0" y="0"/>
                  </a:moveTo>
                  <a:lnTo>
                    <a:pt x="0" y="3257550"/>
                  </a:lnTo>
                </a:path>
              </a:pathLst>
            </a:custGeom>
            <a:noFill/>
            <a:ln w="9525">
              <a:solidFill>
                <a:srgbClr val="B8CBD3"/>
              </a:solidFill>
            </a:ln>
          </p:spPr>
        </p:sp>
        <p:sp>
          <p:nvSpPr>
            <p:cNvPr id="41" name="Line 41"/>
            <p:cNvSpPr/>
            <p:nvPr/>
          </p:nvSpPr>
          <p:spPr>
            <a:xfrm>
              <a:off x="7105650" y="1219200"/>
              <a:ext cx="9525" cy="3257550"/>
            </a:xfrm>
            <a:custGeom>
              <a:avLst/>
              <a:gdLst/>
              <a:ahLst/>
              <a:cxnLst/>
              <a:rect l="l" t="t" r="r" b="b"/>
              <a:pathLst>
                <a:path w="9525" h="3257550">
                  <a:moveTo>
                    <a:pt x="0" y="0"/>
                  </a:moveTo>
                  <a:lnTo>
                    <a:pt x="0" y="3257550"/>
                  </a:lnTo>
                </a:path>
              </a:pathLst>
            </a:custGeom>
            <a:noFill/>
            <a:ln w="9525">
              <a:solidFill>
                <a:srgbClr val="B8CBD3"/>
              </a:solidFill>
            </a:ln>
          </p:spPr>
        </p:sp>
      </p:grpSp>
      <p:grpSp>
        <p:nvGrpSpPr>
          <p:cNvPr id="50" name="evaluate-box"/>
          <p:cNvGrpSpPr/>
          <p:nvPr/>
        </p:nvGrpSpPr>
        <p:grpSpPr>
          <a:xfrm>
            <a:off x="609600" y="4667250"/>
            <a:ext cx="10820400" cy="1352550"/>
            <a:chOff x="609600" y="4667250"/>
            <a:chExt cx="10820400" cy="1352550"/>
          </a:xfrm>
        </p:grpSpPr>
        <p:sp>
          <p:nvSpPr>
            <p:cNvPr id="43" name="Rectangle 43"/>
            <p:cNvSpPr/>
            <p:nvPr/>
          </p:nvSpPr>
          <p:spPr>
            <a:xfrm>
              <a:off x="609600" y="4667250"/>
              <a:ext cx="10820400" cy="1352550"/>
            </a:xfrm>
            <a:prstGeom prst="roundRect">
              <a:avLst>
                <a:gd name="adj" fmla="val 5634"/>
              </a:avLst>
            </a:prstGeom>
            <a:solidFill>
              <a:srgbClr val="FFFFFF"/>
            </a:solidFill>
            <a:ln w="9525">
              <a:solidFill>
                <a:srgbClr val="B8CBD3"/>
              </a:solidFill>
            </a:ln>
          </p:spPr>
        </p:sp>
        <p:sp>
          <p:nvSpPr>
            <p:cNvPr id="44" name="Rectangle 44"/>
            <p:cNvSpPr/>
            <p:nvPr/>
          </p:nvSpPr>
          <p:spPr>
            <a:xfrm>
              <a:off x="609600" y="4667250"/>
              <a:ext cx="57150" cy="1352550"/>
            </a:xfrm>
            <a:prstGeom prst="rect">
              <a:avLst/>
            </a:prstGeom>
            <a:solidFill>
              <a:srgbClr val="2E86AB"/>
            </a:solidFill>
            <a:ln>
              <a:noFill/>
            </a:ln>
          </p:spPr>
        </p:sp>
        <p:sp>
          <p:nvSpPr>
            <p:cNvPr id="45" name="TextBox 45"/>
            <p:cNvSpPr txBox="1"/>
            <p:nvPr/>
          </p:nvSpPr>
          <p:spPr>
            <a:xfrm>
              <a:off x="907923" y="4796314"/>
              <a:ext cx="117594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Değerlendirin</a:t>
              </a:r>
            </a:p>
          </p:txBody>
        </p:sp>
        <p:sp>
          <p:nvSpPr>
            <p:cNvPr id="46" name="TextBox 46"/>
            <p:cNvSpPr txBox="1"/>
            <p:nvPr/>
          </p:nvSpPr>
          <p:spPr>
            <a:xfrm>
              <a:off x="908685" y="5060156"/>
              <a:ext cx="37677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 Bu hata requireRole (Bölüm 10) ile nasıl önlenir?</a:t>
              </a:r>
            </a:p>
          </p:txBody>
        </p:sp>
        <p:sp>
          <p:nvSpPr>
            <p:cNvPr id="47" name="TextBox 47"/>
            <p:cNvSpPr txBox="1"/>
            <p:nvPr/>
          </p:nvSpPr>
          <p:spPr>
            <a:xfrm>
              <a:off x="908685" y="5288756"/>
              <a:ext cx="50902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 Durum güncelleme neden aynı serviste, tutarlı biçimde yapılmalı?</a:t>
              </a:r>
            </a:p>
          </p:txBody>
        </p:sp>
        <p:sp>
          <p:nvSpPr>
            <p:cNvPr id="48" name="TextBox 48"/>
            <p:cNvSpPr txBox="1"/>
            <p:nvPr/>
          </p:nvSpPr>
          <p:spPr>
            <a:xfrm>
              <a:off x="908685" y="5517356"/>
              <a:ext cx="52614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 Bu eksiklik Bölüm 13'teki test paketinde hangi senaryoyla yakalanır?</a:t>
              </a:r>
            </a:p>
          </p:txBody>
        </p:sp>
        <p:sp>
          <p:nvSpPr>
            <p:cNvPr id="49" name="TextBox 49"/>
            <p:cNvSpPr txBox="1"/>
            <p:nvPr/>
          </p:nvSpPr>
          <p:spPr>
            <a:xfrm>
              <a:off x="908685" y="5745956"/>
              <a:ext cx="416374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4. Bu hata rubrikte (code_006) hangi maddeyi ihlal eder?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7408" y="331470"/>
            <a:ext cx="8512750" cy="469392"/>
            <a:chOff x="597408" y="331470"/>
            <a:chExt cx="8512750" cy="469392"/>
          </a:xfrm>
        </p:grpSpPr>
        <p:sp>
          <p:nvSpPr>
            <p:cNvPr id="4" name="TextBox 4"/>
            <p:cNvSpPr txBox="1"/>
            <p:nvPr/>
          </p:nvSpPr>
          <p:spPr>
            <a:xfrm>
              <a:off x="597408" y="331470"/>
              <a:ext cx="8512750"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Uçtan uca mini uygulama: RBAC + tutarlı güncelleme</a:t>
              </a:r>
            </a:p>
          </p:txBody>
        </p:sp>
      </p:grpSp>
      <p:grpSp>
        <p:nvGrpSpPr>
          <p:cNvPr id="9" name="flow-arrows"/>
          <p:cNvGrpSpPr/>
          <p:nvPr/>
        </p:nvGrpSpPr>
        <p:grpSpPr>
          <a:xfrm>
            <a:off x="3276600" y="2095500"/>
            <a:ext cx="1" cy="2305050"/>
            <a:chOff x="3276600" y="2095500"/>
            <a:chExt cx="1" cy="2305050"/>
          </a:xfrm>
        </p:grpSpPr>
        <p:sp>
          <p:nvSpPr>
            <p:cNvPr id="6" name="Line 6"/>
            <p:cNvSpPr/>
            <p:nvPr/>
          </p:nvSpPr>
          <p:spPr>
            <a:xfrm>
              <a:off x="3276600" y="2095500"/>
              <a:ext cx="1" cy="209550"/>
            </a:xfrm>
            <a:prstGeom prst="line">
              <a:avLst/>
            </a:prstGeom>
            <a:noFill/>
            <a:ln w="19050">
              <a:solidFill>
                <a:srgbClr val="52616B"/>
              </a:solidFill>
              <a:tailEnd type="arrow" w="lg" len="lg"/>
            </a:ln>
          </p:spPr>
        </p:sp>
        <p:sp>
          <p:nvSpPr>
            <p:cNvPr id="7" name="Line 7"/>
            <p:cNvSpPr/>
            <p:nvPr/>
          </p:nvSpPr>
          <p:spPr>
            <a:xfrm>
              <a:off x="3276600" y="3143250"/>
              <a:ext cx="1" cy="209550"/>
            </a:xfrm>
            <a:prstGeom prst="line">
              <a:avLst/>
            </a:prstGeom>
            <a:noFill/>
            <a:ln w="19050">
              <a:solidFill>
                <a:srgbClr val="52616B"/>
              </a:solidFill>
              <a:tailEnd type="arrow" w="lg" len="lg"/>
            </a:ln>
          </p:spPr>
        </p:sp>
        <p:sp>
          <p:nvSpPr>
            <p:cNvPr id="8" name="Line 8"/>
            <p:cNvSpPr/>
            <p:nvPr/>
          </p:nvSpPr>
          <p:spPr>
            <a:xfrm>
              <a:off x="3276600" y="4191000"/>
              <a:ext cx="1" cy="209550"/>
            </a:xfrm>
            <a:prstGeom prst="line">
              <a:avLst/>
            </a:prstGeom>
            <a:noFill/>
            <a:ln w="19050">
              <a:solidFill>
                <a:srgbClr val="52616B"/>
              </a:solidFill>
              <a:tailEnd type="arrow" w="lg" len="lg"/>
            </a:ln>
          </p:spPr>
        </p:sp>
      </p:grpSp>
      <p:grpSp>
        <p:nvGrpSpPr>
          <p:cNvPr id="13" name="step-1"/>
          <p:cNvGrpSpPr/>
          <p:nvPr/>
        </p:nvGrpSpPr>
        <p:grpSpPr>
          <a:xfrm>
            <a:off x="609600" y="1409700"/>
            <a:ext cx="5334000" cy="685800"/>
            <a:chOff x="609600" y="1409700"/>
            <a:chExt cx="5334000" cy="685800"/>
          </a:xfrm>
        </p:grpSpPr>
        <p:sp>
          <p:nvSpPr>
            <p:cNvPr id="10" name="Rectangle 10"/>
            <p:cNvSpPr/>
            <p:nvPr/>
          </p:nvSpPr>
          <p:spPr>
            <a:xfrm>
              <a:off x="609600" y="1409700"/>
              <a:ext cx="5334000" cy="685800"/>
            </a:xfrm>
            <a:prstGeom prst="roundRect">
              <a:avLst>
                <a:gd name="adj" fmla="val 11111"/>
              </a:avLst>
            </a:prstGeom>
            <a:solidFill>
              <a:srgbClr val="12355B"/>
            </a:solidFill>
            <a:ln w="19050">
              <a:solidFill>
                <a:srgbClr val="00A6A6"/>
              </a:solidFill>
            </a:ln>
          </p:spPr>
        </p:sp>
        <p:sp>
          <p:nvSpPr>
            <p:cNvPr id="11" name="TextBox 11"/>
            <p:cNvSpPr txBox="1"/>
            <p:nvPr/>
          </p:nvSpPr>
          <p:spPr>
            <a:xfrm>
              <a:off x="831723" y="1576864"/>
              <a:ext cx="3451049"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sadeceGorevliyeIzinVer(istekYapanRol)</a:t>
              </a:r>
            </a:p>
          </p:txBody>
        </p:sp>
        <p:sp>
          <p:nvSpPr>
            <p:cNvPr id="12" name="TextBox 12"/>
            <p:cNvSpPr txBox="1"/>
            <p:nvPr/>
          </p:nvSpPr>
          <p:spPr>
            <a:xfrm>
              <a:off x="832866" y="1829752"/>
              <a:ext cx="3065602"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Fail-fast yetkilendirme — en başta çalışır</a:t>
              </a:r>
            </a:p>
          </p:txBody>
        </p:sp>
      </p:grpSp>
      <p:grpSp>
        <p:nvGrpSpPr>
          <p:cNvPr id="17" name="step-2"/>
          <p:cNvGrpSpPr/>
          <p:nvPr/>
        </p:nvGrpSpPr>
        <p:grpSpPr>
          <a:xfrm>
            <a:off x="609600" y="2476500"/>
            <a:ext cx="5334000" cy="666750"/>
            <a:chOff x="609600" y="2476500"/>
            <a:chExt cx="5334000" cy="666750"/>
          </a:xfrm>
        </p:grpSpPr>
        <p:sp>
          <p:nvSpPr>
            <p:cNvPr id="14" name="Rectangle 14"/>
            <p:cNvSpPr/>
            <p:nvPr/>
          </p:nvSpPr>
          <p:spPr>
            <a:xfrm>
              <a:off x="609600" y="2476500"/>
              <a:ext cx="5334000" cy="666750"/>
            </a:xfrm>
            <a:prstGeom prst="roundRect">
              <a:avLst>
                <a:gd name="adj" fmla="val 11429"/>
              </a:avLst>
            </a:prstGeom>
            <a:solidFill>
              <a:srgbClr val="FFFFFF"/>
            </a:solidFill>
            <a:ln w="14288">
              <a:solidFill>
                <a:srgbClr val="2E86AB"/>
              </a:solidFill>
            </a:ln>
          </p:spPr>
        </p:sp>
        <p:sp>
          <p:nvSpPr>
            <p:cNvPr id="15" name="TextBox 15"/>
            <p:cNvSpPr txBox="1"/>
            <p:nvPr/>
          </p:nvSpPr>
          <p:spPr>
            <a:xfrm>
              <a:off x="832104" y="2632710"/>
              <a:ext cx="286443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ekipmanRepository.bul(ekipmanId)</a:t>
              </a:r>
            </a:p>
          </p:txBody>
        </p:sp>
        <p:sp>
          <p:nvSpPr>
            <p:cNvPr id="16" name="TextBox 16"/>
            <p:cNvSpPr txBox="1"/>
            <p:nvPr/>
          </p:nvSpPr>
          <p:spPr>
            <a:xfrm>
              <a:off x="832866" y="2877502"/>
              <a:ext cx="265219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bulunamazsa → 404 Ekipman bulunamadı</a:t>
              </a:r>
            </a:p>
          </p:txBody>
        </p:sp>
      </p:grpSp>
      <p:grpSp>
        <p:nvGrpSpPr>
          <p:cNvPr id="21" name="step-3"/>
          <p:cNvGrpSpPr/>
          <p:nvPr/>
        </p:nvGrpSpPr>
        <p:grpSpPr>
          <a:xfrm>
            <a:off x="609600" y="3543300"/>
            <a:ext cx="5334000" cy="647700"/>
            <a:chOff x="609600" y="3543300"/>
            <a:chExt cx="5334000" cy="647700"/>
          </a:xfrm>
        </p:grpSpPr>
        <p:sp>
          <p:nvSpPr>
            <p:cNvPr id="18" name="Rectangle 18"/>
            <p:cNvSpPr/>
            <p:nvPr/>
          </p:nvSpPr>
          <p:spPr>
            <a:xfrm>
              <a:off x="609600" y="3543300"/>
              <a:ext cx="5334000" cy="647700"/>
            </a:xfrm>
            <a:prstGeom prst="roundRect">
              <a:avLst>
                <a:gd name="adj" fmla="val 11765"/>
              </a:avLst>
            </a:prstGeom>
            <a:solidFill>
              <a:srgbClr val="FFFFFF"/>
            </a:solidFill>
            <a:ln w="14288">
              <a:solidFill>
                <a:srgbClr val="2E86AB"/>
              </a:solidFill>
            </a:ln>
          </p:spPr>
        </p:sp>
        <p:sp>
          <p:nvSpPr>
            <p:cNvPr id="19" name="TextBox 19"/>
            <p:cNvSpPr txBox="1"/>
            <p:nvPr/>
          </p:nvSpPr>
          <p:spPr>
            <a:xfrm>
              <a:off x="832104" y="3699510"/>
              <a:ext cx="277157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bakimDurumunuGuncelle(id, true)</a:t>
              </a:r>
            </a:p>
          </p:txBody>
        </p:sp>
        <p:sp>
          <p:nvSpPr>
            <p:cNvPr id="20" name="TextBox 20"/>
            <p:cNvSpPr txBox="1"/>
            <p:nvPr/>
          </p:nvSpPr>
          <p:spPr>
            <a:xfrm>
              <a:off x="832866" y="3925252"/>
              <a:ext cx="265393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bakım kaydı + ekipman durumu birlikte</a:t>
              </a:r>
            </a:p>
          </p:txBody>
        </p:sp>
      </p:grpSp>
      <p:grpSp>
        <p:nvGrpSpPr>
          <p:cNvPr id="25" name="step-4"/>
          <p:cNvGrpSpPr/>
          <p:nvPr/>
        </p:nvGrpSpPr>
        <p:grpSpPr>
          <a:xfrm>
            <a:off x="609600" y="4400550"/>
            <a:ext cx="5334000" cy="590550"/>
            <a:chOff x="609600" y="4400550"/>
            <a:chExt cx="5334000" cy="590550"/>
          </a:xfrm>
        </p:grpSpPr>
        <p:sp>
          <p:nvSpPr>
            <p:cNvPr id="22" name="Rectangle 22"/>
            <p:cNvSpPr/>
            <p:nvPr/>
          </p:nvSpPr>
          <p:spPr>
            <a:xfrm>
              <a:off x="609600" y="4400550"/>
              <a:ext cx="5334000" cy="590550"/>
            </a:xfrm>
            <a:prstGeom prst="roundRect">
              <a:avLst>
                <a:gd name="adj" fmla="val 12903"/>
              </a:avLst>
            </a:prstGeom>
            <a:solidFill>
              <a:srgbClr val="EAF4F6"/>
            </a:solidFill>
            <a:ln w="14288">
              <a:solidFill>
                <a:srgbClr val="00A6A6"/>
              </a:solidFill>
            </a:ln>
          </p:spPr>
        </p:sp>
        <p:sp>
          <p:nvSpPr>
            <p:cNvPr id="23" name="TextBox 23"/>
            <p:cNvSpPr txBox="1"/>
            <p:nvPr/>
          </p:nvSpPr>
          <p:spPr>
            <a:xfrm>
              <a:off x="832104" y="4537710"/>
              <a:ext cx="352335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mesaj: "... bakıma alındı: ..." } döner</a:t>
              </a:r>
            </a:p>
          </p:txBody>
        </p:sp>
        <p:sp>
          <p:nvSpPr>
            <p:cNvPr id="24" name="TextBox 24"/>
            <p:cNvSpPr txBox="1"/>
            <p:nvPr/>
          </p:nvSpPr>
          <p:spPr>
            <a:xfrm>
              <a:off x="833247" y="4752499"/>
              <a:ext cx="413704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İş kuralı: kayıt oluşturulunca ekipman aynı anda bakıma alınır</a:t>
              </a:r>
            </a:p>
          </p:txBody>
        </p:sp>
      </p:grpSp>
      <p:grpSp>
        <p:nvGrpSpPr>
          <p:cNvPr id="41" name="output-card"/>
          <p:cNvGrpSpPr/>
          <p:nvPr/>
        </p:nvGrpSpPr>
        <p:grpSpPr>
          <a:xfrm>
            <a:off x="6286500" y="1409700"/>
            <a:ext cx="5257800" cy="3581400"/>
            <a:chOff x="6286500" y="1409700"/>
            <a:chExt cx="5257800" cy="3581400"/>
          </a:xfrm>
        </p:grpSpPr>
        <p:sp>
          <p:nvSpPr>
            <p:cNvPr id="26" name="Rectangle 26"/>
            <p:cNvSpPr/>
            <p:nvPr/>
          </p:nvSpPr>
          <p:spPr>
            <a:xfrm>
              <a:off x="6286500" y="1409700"/>
              <a:ext cx="5257800" cy="3581400"/>
            </a:xfrm>
            <a:prstGeom prst="roundRect">
              <a:avLst>
                <a:gd name="adj" fmla="val 2128"/>
              </a:avLst>
            </a:prstGeom>
            <a:solidFill>
              <a:srgbClr val="FFFFFF"/>
            </a:solidFill>
            <a:ln w="9525">
              <a:solidFill>
                <a:srgbClr val="B8CBD3"/>
              </a:solidFill>
            </a:ln>
          </p:spPr>
        </p:sp>
        <p:sp>
          <p:nvSpPr>
            <p:cNvPr id="27" name="Rectangle 27"/>
            <p:cNvSpPr/>
            <p:nvPr/>
          </p:nvSpPr>
          <p:spPr>
            <a:xfrm>
              <a:off x="6286500" y="1409700"/>
              <a:ext cx="5257800" cy="381000"/>
            </a:xfrm>
            <a:prstGeom prst="roundRect">
              <a:avLst>
                <a:gd name="adj" fmla="val 20000"/>
              </a:avLst>
            </a:prstGeom>
            <a:solidFill>
              <a:srgbClr val="2E86AB"/>
            </a:solidFill>
            <a:ln>
              <a:noFill/>
            </a:ln>
          </p:spPr>
        </p:sp>
        <p:sp>
          <p:nvSpPr>
            <p:cNvPr id="28" name="TextBox 28"/>
            <p:cNvSpPr txBox="1"/>
            <p:nvPr/>
          </p:nvSpPr>
          <p:spPr>
            <a:xfrm>
              <a:off x="6508623" y="1519714"/>
              <a:ext cx="2461260"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Örnek çalıştırma sonuçları</a:t>
              </a:r>
            </a:p>
          </p:txBody>
        </p:sp>
        <p:sp>
          <p:nvSpPr>
            <p:cNvPr id="29" name="Rectangle 29"/>
            <p:cNvSpPr/>
            <p:nvPr/>
          </p:nvSpPr>
          <p:spPr>
            <a:xfrm>
              <a:off x="6515100" y="1943100"/>
              <a:ext cx="4800600" cy="1143000"/>
            </a:xfrm>
            <a:prstGeom prst="roundRect">
              <a:avLst>
                <a:gd name="adj" fmla="val 5000"/>
              </a:avLst>
            </a:prstGeom>
            <a:solidFill>
              <a:srgbClr val="EAF4F6"/>
            </a:solidFill>
            <a:ln>
              <a:noFill/>
            </a:ln>
          </p:spPr>
        </p:sp>
        <p:sp>
          <p:nvSpPr>
            <p:cNvPr id="30" name="TextBox 30"/>
            <p:cNvSpPr txBox="1"/>
            <p:nvPr/>
          </p:nvSpPr>
          <p:spPr>
            <a:xfrm>
              <a:off x="6699885" y="2069306"/>
              <a:ext cx="225947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rol = "laboratuvar_gorevlisi"</a:t>
              </a:r>
            </a:p>
          </p:txBody>
        </p:sp>
        <p:sp>
          <p:nvSpPr>
            <p:cNvPr id="31" name="TextBox 31"/>
            <p:cNvSpPr txBox="1"/>
            <p:nvPr/>
          </p:nvSpPr>
          <p:spPr>
            <a:xfrm>
              <a:off x="6700266" y="2325052"/>
              <a:ext cx="199491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Osiloskop-01 bakıma alındı:</a:t>
              </a:r>
            </a:p>
          </p:txBody>
        </p:sp>
        <p:sp>
          <p:nvSpPr>
            <p:cNvPr id="32" name="TextBox 32"/>
            <p:cNvSpPr txBox="1"/>
            <p:nvPr/>
          </p:nvSpPr>
          <p:spPr>
            <a:xfrm>
              <a:off x="6700266" y="2515552"/>
              <a:ext cx="135063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Kalibrasyon yapıldı</a:t>
              </a:r>
            </a:p>
          </p:txBody>
        </p:sp>
        <p:sp>
          <p:nvSpPr>
            <p:cNvPr id="33" name="TextBox 33"/>
            <p:cNvSpPr txBox="1"/>
            <p:nvPr/>
          </p:nvSpPr>
          <p:spPr>
            <a:xfrm>
              <a:off x="6700266" y="2744152"/>
              <a:ext cx="1232999"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bakimdaMi → true</a:t>
              </a:r>
            </a:p>
          </p:txBody>
        </p:sp>
        <p:sp>
          <p:nvSpPr>
            <p:cNvPr id="34" name="Rectangle 34"/>
            <p:cNvSpPr/>
            <p:nvPr/>
          </p:nvSpPr>
          <p:spPr>
            <a:xfrm>
              <a:off x="6515100" y="3200400"/>
              <a:ext cx="4800600" cy="952500"/>
            </a:xfrm>
            <a:prstGeom prst="roundRect">
              <a:avLst>
                <a:gd name="adj" fmla="val 6000"/>
              </a:avLst>
            </a:prstGeom>
            <a:solidFill>
              <a:srgbClr val="12355B"/>
            </a:solidFill>
            <a:ln>
              <a:noFill/>
            </a:ln>
          </p:spPr>
        </p:sp>
        <p:sp>
          <p:nvSpPr>
            <p:cNvPr id="35" name="TextBox 35"/>
            <p:cNvSpPr txBox="1"/>
            <p:nvPr/>
          </p:nvSpPr>
          <p:spPr>
            <a:xfrm>
              <a:off x="6699885" y="3326606"/>
              <a:ext cx="1159200"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rol = "ogrenci"</a:t>
              </a:r>
            </a:p>
          </p:txBody>
        </p:sp>
        <p:sp>
          <p:nvSpPr>
            <p:cNvPr id="36" name="TextBox 36"/>
            <p:cNvSpPr txBox="1"/>
            <p:nvPr/>
          </p:nvSpPr>
          <p:spPr>
            <a:xfrm>
              <a:off x="6700266" y="3601402"/>
              <a:ext cx="202326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403 Bu işlem için gereken rol:</a:t>
              </a:r>
            </a:p>
          </p:txBody>
        </p:sp>
        <p:sp>
          <p:nvSpPr>
            <p:cNvPr id="37" name="TextBox 37"/>
            <p:cNvSpPr txBox="1"/>
            <p:nvPr/>
          </p:nvSpPr>
          <p:spPr>
            <a:xfrm>
              <a:off x="6700266" y="3791902"/>
              <a:ext cx="150192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laboratuvar_gorevlisi</a:t>
              </a:r>
            </a:p>
          </p:txBody>
        </p:sp>
        <p:sp>
          <p:nvSpPr>
            <p:cNvPr id="38" name="TextBox 38"/>
            <p:cNvSpPr txBox="1"/>
            <p:nvPr/>
          </p:nvSpPr>
          <p:spPr>
            <a:xfrm>
              <a:off x="6700266" y="4363402"/>
              <a:ext cx="310345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requireRole, yalnızca izinli rolleri kabul eden</a:t>
              </a:r>
            </a:p>
          </p:txBody>
        </p:sp>
        <p:sp>
          <p:nvSpPr>
            <p:cNvPr id="39" name="TextBox 39"/>
            <p:cNvSpPr txBox="1"/>
            <p:nvPr/>
          </p:nvSpPr>
          <p:spPr>
            <a:xfrm>
              <a:off x="6700266" y="4553902"/>
              <a:ext cx="321933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yeniden kullanılabilir bir fonksiyon üreticisidir</a:t>
              </a:r>
            </a:p>
          </p:txBody>
        </p:sp>
        <p:sp>
          <p:nvSpPr>
            <p:cNvPr id="40" name="TextBox 40"/>
            <p:cNvSpPr txBox="1"/>
            <p:nvPr/>
          </p:nvSpPr>
          <p:spPr>
            <a:xfrm>
              <a:off x="6700647" y="4752499"/>
              <a:ext cx="157984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(higher-order function)</a:t>
              </a:r>
            </a:p>
          </p:txBody>
        </p:sp>
      </p:grpSp>
      <p:grpSp>
        <p:nvGrpSpPr>
          <p:cNvPr id="46" name="note-caution"/>
          <p:cNvGrpSpPr/>
          <p:nvPr/>
        </p:nvGrpSpPr>
        <p:grpSpPr>
          <a:xfrm>
            <a:off x="609600" y="5200650"/>
            <a:ext cx="10934700" cy="742950"/>
            <a:chOff x="609600" y="5200650"/>
            <a:chExt cx="10934700" cy="742950"/>
          </a:xfrm>
        </p:grpSpPr>
        <p:sp>
          <p:nvSpPr>
            <p:cNvPr id="42" name="Rectangle 42"/>
            <p:cNvSpPr/>
            <p:nvPr/>
          </p:nvSpPr>
          <p:spPr>
            <a:xfrm>
              <a:off x="609600" y="5200650"/>
              <a:ext cx="10934700" cy="742950"/>
            </a:xfrm>
            <a:prstGeom prst="roundRect">
              <a:avLst>
                <a:gd name="adj" fmla="val 10256"/>
              </a:avLst>
            </a:prstGeom>
            <a:solidFill>
              <a:srgbClr val="EAF4F6"/>
            </a:solidFill>
            <a:ln>
              <a:noFill/>
            </a:ln>
          </p:spPr>
        </p:sp>
        <p:sp>
          <p:nvSpPr>
            <p:cNvPr id="43" name="Rectangle 43"/>
            <p:cNvSpPr/>
            <p:nvPr/>
          </p:nvSpPr>
          <p:spPr>
            <a:xfrm>
              <a:off x="609600" y="5200650"/>
              <a:ext cx="57150" cy="742950"/>
            </a:xfrm>
            <a:prstGeom prst="rect">
              <a:avLst/>
            </a:prstGeom>
            <a:solidFill>
              <a:srgbClr val="00A6A6"/>
            </a:solidFill>
            <a:ln>
              <a:noFill/>
            </a:ln>
          </p:spPr>
        </p:sp>
        <p:sp>
          <p:nvSpPr>
            <p:cNvPr id="44" name="TextBox 44"/>
            <p:cNvSpPr txBox="1"/>
            <p:nvPr/>
          </p:nvSpPr>
          <p:spPr>
            <a:xfrm>
              <a:off x="908685" y="5345906"/>
              <a:ext cx="115624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Dikkat noktası</a:t>
              </a:r>
            </a:p>
          </p:txBody>
        </p:sp>
        <p:sp>
          <p:nvSpPr>
            <p:cNvPr id="45" name="TextBox 45"/>
            <p:cNvSpPr txBox="1"/>
            <p:nvPr/>
          </p:nvSpPr>
          <p:spPr>
            <a:xfrm>
              <a:off x="909066" y="5563552"/>
              <a:ext cx="714489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Gerçek bir veritabanında bu iki adım (kayıt + durum güncelleme) bir transaction içinde birlikte yapılmalıdır;</a:t>
              </a:r>
              <a:br/>
              <a:r>
                <a:rPr lang="tr-TR" sz="1050" dirty="0">
                  <a:solidFill>
                    <a:srgbClr val="172B3A"/>
                  </a:solidFill>
                  <a:latin typeface="+mn-lt"/>
                  <a:ea typeface="+mn-ea"/>
                  <a:cs typeface="+mn-cs"/>
                </a:rPr>
                <a:t>aksi halde ikinci adım başarısız olursa sistem tutarsız bir ara durumda kalabilir.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goz-ardi"/>
          <p:cNvGrpSpPr/>
          <p:nvPr/>
        </p:nvGrpSpPr>
        <p:grpSpPr>
          <a:xfrm>
            <a:off x="609600" y="1865471"/>
            <a:ext cx="10972800" cy="1296829"/>
            <a:chOff x="609600" y="1865471"/>
            <a:chExt cx="10972800" cy="1296829"/>
          </a:xfrm>
        </p:grpSpPr>
        <p:sp>
          <p:nvSpPr>
            <p:cNvPr id="17" name="TextBox 17"/>
            <p:cNvSpPr txBox="1"/>
            <p:nvPr/>
          </p:nvSpPr>
          <p:spPr>
            <a:xfrm>
              <a:off x="754761" y="1865471"/>
              <a:ext cx="2400376" cy="9645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"Kod çalışıyor ve bir</a:t>
              </a:r>
              <a:br/>
              <a:r>
                <a:rPr lang="tr-TR" sz="1420" b="1" dirty="0">
                  <a:solidFill>
                    <a:srgbClr val="12355B"/>
                  </a:solidFill>
                  <a:latin typeface="+mn-lt"/>
                  <a:ea typeface="+mn-ea"/>
                  <a:cs typeface="+mn-cs"/>
                </a:rPr>
                <a:t>arayüz varsa mimari/test</a:t>
              </a:r>
              <a:br/>
              <a:r>
                <a:rPr lang="tr-TR" sz="1420" b="1" dirty="0">
                  <a:solidFill>
                    <a:srgbClr val="12355B"/>
                  </a:solidFill>
                  <a:latin typeface="+mn-lt"/>
                  <a:ea typeface="+mn-ea"/>
                  <a:cs typeface="+mn-cs"/>
                </a:rPr>
                <a:t>eksiklikleri göz ardı</a:t>
              </a:r>
              <a:br/>
              <a:r>
                <a:rPr lang="tr-TR" sz="1420" b="1" dirty="0">
                  <a:solidFill>
                    <a:srgbClr val="12355B"/>
                  </a:solidFill>
                  <a:latin typeface="+mn-lt"/>
                  <a:ea typeface="+mn-ea"/>
                  <a:cs typeface="+mn-cs"/>
                </a:rPr>
                <a:t>edilebilir."</a:t>
              </a:r>
            </a:p>
          </p:txBody>
        </p:sp>
        <p:sp>
          <p:nvSpPr>
            <p:cNvPr id="18" name="TextBox 18"/>
            <p:cNvSpPr txBox="1"/>
            <p:nvPr/>
          </p:nvSpPr>
          <p:spPr>
            <a:xfrm>
              <a:off x="4375404" y="1889760"/>
              <a:ext cx="33268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Akademik ve kurumsal standartlarda bir</a:t>
              </a:r>
              <a:br/>
              <a:r>
                <a:rPr lang="tr-TR" sz="1200" dirty="0">
                  <a:solidFill>
                    <a:srgbClr val="172B3A"/>
                  </a:solidFill>
                  <a:latin typeface="+mn-lt"/>
                  <a:ea typeface="+mn-ea"/>
                  <a:cs typeface="+mn-cs"/>
                </a:rPr>
                <a:t>sistem yalnızca "çalışmasıyla" değil; bakım</a:t>
              </a:r>
              <a:br/>
              <a:r>
                <a:rPr lang="tr-TR" sz="1200" dirty="0">
                  <a:solidFill>
                    <a:srgbClr val="172B3A"/>
                  </a:solidFill>
                  <a:latin typeface="+mn-lt"/>
                  <a:ea typeface="+mn-ea"/>
                  <a:cs typeface="+mn-cs"/>
                </a:rPr>
                <a:t>yapılabilirliği, güvenlik, test güvencesi ve</a:t>
              </a:r>
              <a:br/>
              <a:r>
                <a:rPr lang="tr-TR" sz="1200" dirty="0">
                  <a:solidFill>
                    <a:srgbClr val="172B3A"/>
                  </a:solidFill>
                  <a:latin typeface="+mn-lt"/>
                  <a:ea typeface="+mn-ea"/>
                  <a:cs typeface="+mn-cs"/>
                </a:rPr>
                <a:t>mimari savunulabilirlikle değerlendirilir.</a:t>
              </a:r>
            </a:p>
          </p:txBody>
        </p:sp>
        <p:sp>
          <p:nvSpPr>
            <p:cNvPr id="19" name="TextBox 19"/>
            <p:cNvSpPr txBox="1"/>
            <p:nvPr/>
          </p:nvSpPr>
          <p:spPr>
            <a:xfrm>
              <a:off x="8185404" y="1889760"/>
              <a:ext cx="30068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Kodlama başlamadan önce sözleşme ve</a:t>
              </a:r>
              <a:br/>
              <a:r>
                <a:rPr lang="tr-TR" sz="1200" dirty="0">
                  <a:solidFill>
                    <a:srgbClr val="172B3A"/>
                  </a:solidFill>
                  <a:latin typeface="+mn-lt"/>
                  <a:ea typeface="+mn-ea"/>
                  <a:cs typeface="+mn-cs"/>
                </a:rPr>
                <a:t>veri modeli belirlenmeli; her kritik iş</a:t>
              </a:r>
              <a:br/>
              <a:r>
                <a:rPr lang="tr-TR" sz="1200" dirty="0">
                  <a:solidFill>
                    <a:srgbClr val="172B3A"/>
                  </a:solidFill>
                  <a:latin typeface="+mn-lt"/>
                  <a:ea typeface="+mn-ea"/>
                  <a:cs typeface="+mn-cs"/>
                </a:rPr>
                <a:t>kuralı otomatik entegrasyon testleriyle</a:t>
              </a:r>
              <a:br/>
              <a:r>
                <a:rPr lang="tr-TR" sz="1200" dirty="0">
                  <a:solidFill>
                    <a:srgbClr val="172B3A"/>
                  </a:solidFill>
                  <a:latin typeface="+mn-lt"/>
                  <a:ea typeface="+mn-ea"/>
                  <a:cs typeface="+mn-cs"/>
                </a:rPr>
                <a:t>güvenceye alınmalıdır.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race"/>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761" y="3313271"/>
              <a:ext cx="2135276" cy="9645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"Çakışmayı engellemek</a:t>
              </a:r>
              <a:br/>
              <a:r>
                <a:rPr lang="tr-TR" sz="1420" b="1" dirty="0">
                  <a:solidFill>
                    <a:srgbClr val="12355B"/>
                  </a:solidFill>
                  <a:latin typeface="+mn-lt"/>
                  <a:ea typeface="+mn-ea"/>
                  <a:cs typeface="+mn-cs"/>
                </a:rPr>
                <a:t>için önce find() sonra</a:t>
              </a:r>
              <a:br/>
              <a:r>
                <a:rPr lang="tr-TR" sz="1420" b="1" dirty="0">
                  <a:solidFill>
                    <a:srgbClr val="12355B"/>
                  </a:solidFill>
                  <a:latin typeface="+mn-lt"/>
                  <a:ea typeface="+mn-ea"/>
                  <a:cs typeface="+mn-cs"/>
                </a:rPr>
                <a:t>create() çağırmak</a:t>
              </a:r>
              <a:br/>
              <a:r>
                <a:rPr lang="tr-TR" sz="1420" b="1" dirty="0">
                  <a:solidFill>
                    <a:srgbClr val="12355B"/>
                  </a:solidFill>
                  <a:latin typeface="+mn-lt"/>
                  <a:ea typeface="+mn-ea"/>
                  <a:cs typeface="+mn-cs"/>
                </a:rPr>
                <a:t>yeterlidir."</a:t>
              </a:r>
            </a:p>
          </p:txBody>
        </p:sp>
        <p:sp>
          <p:nvSpPr>
            <p:cNvPr id="24" name="TextBox 24"/>
            <p:cNvSpPr txBox="1"/>
            <p:nvPr/>
          </p:nvSpPr>
          <p:spPr>
            <a:xfrm>
              <a:off x="4375404" y="3337560"/>
              <a:ext cx="32430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klasik bir yarış durumudur (race</a:t>
              </a:r>
              <a:br/>
              <a:r>
                <a:rPr lang="tr-TR" sz="1200" dirty="0">
                  <a:solidFill>
                    <a:srgbClr val="172B3A"/>
                  </a:solidFill>
                  <a:latin typeface="+mn-lt"/>
                  <a:ea typeface="+mn-ea"/>
                  <a:cs typeface="+mn-cs"/>
                </a:rPr>
                <a:t>condition). Aynı milisaniyede gelen iki istek</a:t>
              </a:r>
              <a:br/>
              <a:r>
                <a:rPr lang="tr-TR" sz="1200" dirty="0">
                  <a:solidFill>
                    <a:srgbClr val="172B3A"/>
                  </a:solidFill>
                  <a:latin typeface="+mn-lt"/>
                  <a:ea typeface="+mn-ea"/>
                  <a:cs typeface="+mn-cs"/>
                </a:rPr>
                <a:t>ikisi de çakışma görmeyebilir; mükerrer</a:t>
              </a:r>
              <a:br/>
              <a:r>
                <a:rPr lang="tr-TR" sz="1200" dirty="0">
                  <a:solidFill>
                    <a:srgbClr val="172B3A"/>
                  </a:solidFill>
                  <a:latin typeface="+mn-lt"/>
                  <a:ea typeface="+mn-ea"/>
                  <a:cs typeface="+mn-cs"/>
                </a:rPr>
                <a:t>kayıt oluşur.</a:t>
              </a:r>
            </a:p>
          </p:txBody>
        </p:sp>
        <p:sp>
          <p:nvSpPr>
            <p:cNvPr id="25" name="TextBox 25"/>
            <p:cNvSpPr txBox="1"/>
            <p:nvPr/>
          </p:nvSpPr>
          <p:spPr>
            <a:xfrm>
              <a:off x="8185404" y="3337560"/>
              <a:ext cx="30144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Veritabanı düzeyinde tekillik kısıtı</a:t>
              </a:r>
              <a:br/>
              <a:r>
                <a:rPr lang="tr-TR" sz="1200" dirty="0">
                  <a:solidFill>
                    <a:srgbClr val="172B3A"/>
                  </a:solidFill>
                  <a:latin typeface="+mn-lt"/>
                  <a:ea typeface="+mn-ea"/>
                  <a:cs typeface="+mn-cs"/>
                </a:rPr>
                <a:t>(exclusion constraint) veya transaction</a:t>
              </a:r>
              <a:br/>
              <a:r>
                <a:rPr lang="tr-TR" sz="1200" dirty="0">
                  <a:solidFill>
                    <a:srgbClr val="172B3A"/>
                  </a:solidFill>
                  <a:latin typeface="+mn-lt"/>
                  <a:ea typeface="+mn-ea"/>
                  <a:cs typeface="+mn-cs"/>
                </a:rPr>
                <a:t>içinde satır kilitleme (SELECT ... FOR</a:t>
              </a:r>
              <a:br/>
              <a:r>
                <a:rPr lang="tr-TR" sz="1200" dirty="0">
                  <a:solidFill>
                    <a:srgbClr val="172B3A"/>
                  </a:solidFill>
                  <a:latin typeface="+mn-lt"/>
                  <a:ea typeface="+mn-ea"/>
                  <a:cs typeface="+mn-cs"/>
                </a:rPr>
                <a:t>UPDATE / Serializable) kullanılmalıdır.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deploy"/>
          <p:cNvGrpSpPr/>
          <p:nvPr/>
        </p:nvGrpSpPr>
        <p:grpSpPr>
          <a:xfrm>
            <a:off x="754761" y="4761071"/>
            <a:ext cx="10490835" cy="964502"/>
            <a:chOff x="754761" y="4761071"/>
            <a:chExt cx="10490835" cy="964502"/>
          </a:xfrm>
        </p:grpSpPr>
        <p:sp>
          <p:nvSpPr>
            <p:cNvPr id="28" name="TextBox 28"/>
            <p:cNvSpPr txBox="1"/>
            <p:nvPr/>
          </p:nvSpPr>
          <p:spPr>
            <a:xfrm>
              <a:off x="754761" y="4761071"/>
              <a:ext cx="2154212" cy="9645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"Yerel makinede Docker</a:t>
              </a:r>
              <a:br/>
              <a:r>
                <a:rPr lang="tr-TR" sz="1420" b="1" dirty="0">
                  <a:solidFill>
                    <a:srgbClr val="12355B"/>
                  </a:solidFill>
                  <a:latin typeface="+mn-lt"/>
                  <a:ea typeface="+mn-ea"/>
                  <a:cs typeface="+mn-cs"/>
                </a:rPr>
                <a:t>ile ayağa kaldırdıysam</a:t>
              </a:r>
              <a:br/>
              <a:r>
                <a:rPr lang="tr-TR" sz="1420" b="1" dirty="0">
                  <a:solidFill>
                    <a:srgbClr val="12355B"/>
                  </a:solidFill>
                  <a:latin typeface="+mn-lt"/>
                  <a:ea typeface="+mn-ea"/>
                  <a:cs typeface="+mn-cs"/>
                </a:rPr>
                <a:t>yayınlama önemsiz bir</a:t>
              </a:r>
              <a:br/>
              <a:r>
                <a:rPr lang="tr-TR" sz="1420" b="1" dirty="0">
                  <a:solidFill>
                    <a:srgbClr val="12355B"/>
                  </a:solidFill>
                  <a:latin typeface="+mn-lt"/>
                  <a:ea typeface="+mn-ea"/>
                  <a:cs typeface="+mn-cs"/>
                </a:rPr>
                <a:t>detaydır."</a:t>
              </a:r>
            </a:p>
          </p:txBody>
        </p:sp>
        <p:sp>
          <p:nvSpPr>
            <p:cNvPr id="29" name="TextBox 29"/>
            <p:cNvSpPr txBox="1"/>
            <p:nvPr/>
          </p:nvSpPr>
          <p:spPr>
            <a:xfrm>
              <a:off x="4375404" y="4785360"/>
              <a:ext cx="32125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Canlı sunucu; alan adı yönlendirmesi, ters</a:t>
              </a:r>
              <a:br/>
              <a:r>
                <a:rPr lang="tr-TR" sz="1200" dirty="0">
                  <a:solidFill>
                    <a:srgbClr val="172B3A"/>
                  </a:solidFill>
                  <a:latin typeface="+mn-lt"/>
                  <a:ea typeface="+mn-ea"/>
                  <a:cs typeface="+mn-cs"/>
                </a:rPr>
                <a:t>vekil güvenlik başlıkları, SSL sertifika</a:t>
              </a:r>
              <a:br/>
              <a:r>
                <a:rPr lang="tr-TR" sz="1200" dirty="0">
                  <a:solidFill>
                    <a:srgbClr val="172B3A"/>
                  </a:solidFill>
                  <a:latin typeface="+mn-lt"/>
                  <a:ea typeface="+mn-ea"/>
                  <a:cs typeface="+mn-cs"/>
                </a:rPr>
                <a:t>yaşam döngüsü ve kaynak izleme gibi apayrı</a:t>
              </a:r>
              <a:br/>
              <a:r>
                <a:rPr lang="tr-TR" sz="1200" dirty="0">
                  <a:solidFill>
                    <a:srgbClr val="172B3A"/>
                  </a:solidFill>
                  <a:latin typeface="+mn-lt"/>
                  <a:ea typeface="+mn-ea"/>
                  <a:cs typeface="+mn-cs"/>
                </a:rPr>
                <a:t>bir operasyonel disiplin gerektirir.</a:t>
              </a:r>
            </a:p>
          </p:txBody>
        </p:sp>
        <p:sp>
          <p:nvSpPr>
            <p:cNvPr id="30" name="TextBox 30"/>
            <p:cNvSpPr txBox="1"/>
            <p:nvPr/>
          </p:nvSpPr>
          <p:spPr>
            <a:xfrm>
              <a:off x="8185404" y="4785360"/>
              <a:ext cx="3060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Dağıtım son güne bırakılmamalı; baştan</a:t>
              </a:r>
              <a:br/>
              <a:r>
                <a:rPr lang="tr-TR" sz="1200" dirty="0">
                  <a:solidFill>
                    <a:srgbClr val="172B3A"/>
                  </a:solidFill>
                  <a:latin typeface="+mn-lt"/>
                  <a:ea typeface="+mn-ea"/>
                  <a:cs typeface="+mn-cs"/>
                </a:rPr>
                <a:t>itibaren otomatik CI/CD ve Nginx ters</a:t>
              </a:r>
              <a:br/>
              <a:r>
                <a:rPr lang="tr-TR" sz="1200" dirty="0">
                  <a:solidFill>
                    <a:srgbClr val="172B3A"/>
                  </a:solidFill>
                  <a:latin typeface="+mn-lt"/>
                  <a:ea typeface="+mn-ea"/>
                  <a:cs typeface="+mn-cs"/>
                </a:rPr>
                <a:t>vekil arkasında test edilmiş bir üretim</a:t>
              </a:r>
              <a:br/>
              <a:r>
                <a:rPr lang="tr-TR" sz="1200" dirty="0">
                  <a:solidFill>
                    <a:srgbClr val="172B3A"/>
                  </a:solidFill>
                  <a:latin typeface="+mn-lt"/>
                  <a:ea typeface="+mn-ea"/>
                  <a:cs typeface="+mn-cs"/>
                </a:rPr>
                <a:t>hattı kurulmalıdır.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7408" y="331470"/>
            <a:ext cx="6769556" cy="469392"/>
            <a:chOff x="597408" y="331470"/>
            <a:chExt cx="6769556" cy="469392"/>
          </a:xfrm>
        </p:grpSpPr>
        <p:sp>
          <p:nvSpPr>
            <p:cNvPr id="4" name="TextBox 4"/>
            <p:cNvSpPr txBox="1"/>
            <p:nvPr/>
          </p:nvSpPr>
          <p:spPr>
            <a:xfrm>
              <a:off x="597408" y="331470"/>
              <a:ext cx="6769556"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Kütüphane örneğinden capstone'a eşleme</a:t>
              </a:r>
            </a:p>
          </p:txBody>
        </p:sp>
      </p:grpSp>
      <p:grpSp>
        <p:nvGrpSpPr>
          <p:cNvPr id="7" name="mapping-intro"/>
          <p:cNvGrpSpPr/>
          <p:nvPr/>
        </p:nvGrpSpPr>
        <p:grpSpPr>
          <a:xfrm>
            <a:off x="603504" y="1165860"/>
            <a:ext cx="9087883" cy="234696"/>
            <a:chOff x="603504" y="1165860"/>
            <a:chExt cx="9087883" cy="234696"/>
          </a:xfrm>
        </p:grpSpPr>
        <p:sp>
          <p:nvSpPr>
            <p:cNvPr id="6" name="TextBox 6"/>
            <p:cNvSpPr txBox="1"/>
            <p:nvPr/>
          </p:nvSpPr>
          <p:spPr>
            <a:xfrm>
              <a:off x="603504" y="1165860"/>
              <a:ext cx="90878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Kitap boyunca kütüphane API'sinde kurulan yapıların Laboratuvar Yönetim Sistemi'ndeki karşılığı (temsili seçki):</a:t>
              </a:r>
            </a:p>
          </p:txBody>
        </p:sp>
      </p:grpSp>
      <p:grpSp>
        <p:nvGrpSpPr>
          <p:cNvPr id="14" name="table-header"/>
          <p:cNvGrpSpPr/>
          <p:nvPr/>
        </p:nvGrpSpPr>
        <p:grpSpPr>
          <a:xfrm>
            <a:off x="609600" y="1485900"/>
            <a:ext cx="10972800" cy="381000"/>
            <a:chOff x="609600" y="1485900"/>
            <a:chExt cx="10972800" cy="381000"/>
          </a:xfrm>
        </p:grpSpPr>
        <p:sp>
          <p:nvSpPr>
            <p:cNvPr id="8" name="Rectangle 8"/>
            <p:cNvSpPr/>
            <p:nvPr/>
          </p:nvSpPr>
          <p:spPr>
            <a:xfrm>
              <a:off x="609600" y="1485900"/>
              <a:ext cx="666750" cy="381000"/>
            </a:xfrm>
            <a:prstGeom prst="rect">
              <a:avLst/>
            </a:prstGeom>
            <a:solidFill>
              <a:srgbClr val="12355B"/>
            </a:solidFill>
            <a:ln>
              <a:noFill/>
            </a:ln>
          </p:spPr>
        </p:sp>
        <p:sp>
          <p:nvSpPr>
            <p:cNvPr id="9" name="Rectangle 9"/>
            <p:cNvSpPr/>
            <p:nvPr/>
          </p:nvSpPr>
          <p:spPr>
            <a:xfrm>
              <a:off x="1428750" y="1485900"/>
              <a:ext cx="4762500" cy="381000"/>
            </a:xfrm>
            <a:prstGeom prst="rect">
              <a:avLst/>
            </a:prstGeom>
            <a:solidFill>
              <a:srgbClr val="12355B"/>
            </a:solidFill>
            <a:ln>
              <a:noFill/>
            </a:ln>
          </p:spPr>
        </p:sp>
        <p:sp>
          <p:nvSpPr>
            <p:cNvPr id="10" name="Rectangle 10"/>
            <p:cNvSpPr/>
            <p:nvPr/>
          </p:nvSpPr>
          <p:spPr>
            <a:xfrm>
              <a:off x="6343650" y="1485900"/>
              <a:ext cx="5238750" cy="381000"/>
            </a:xfrm>
            <a:prstGeom prst="rect">
              <a:avLst/>
            </a:prstGeom>
            <a:solidFill>
              <a:srgbClr val="12355B"/>
            </a:solidFill>
            <a:ln>
              <a:noFill/>
            </a:ln>
          </p:spPr>
        </p:sp>
        <p:sp>
          <p:nvSpPr>
            <p:cNvPr id="11" name="TextBox 11"/>
            <p:cNvSpPr txBox="1"/>
            <p:nvPr/>
          </p:nvSpPr>
          <p:spPr>
            <a:xfrm>
              <a:off x="756285" y="1602581"/>
              <a:ext cx="443714"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Bölüm</a:t>
              </a:r>
            </a:p>
          </p:txBody>
        </p:sp>
        <p:sp>
          <p:nvSpPr>
            <p:cNvPr id="12" name="TextBox 12"/>
            <p:cNvSpPr txBox="1"/>
            <p:nvPr/>
          </p:nvSpPr>
          <p:spPr>
            <a:xfrm>
              <a:off x="1575435" y="1602581"/>
              <a:ext cx="2209031"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Kütüphane örneğinde kurulan</a:t>
              </a:r>
            </a:p>
          </p:txBody>
        </p:sp>
        <p:sp>
          <p:nvSpPr>
            <p:cNvPr id="13" name="TextBox 13"/>
            <p:cNvSpPr txBox="1"/>
            <p:nvPr/>
          </p:nvSpPr>
          <p:spPr>
            <a:xfrm>
              <a:off x="6490335" y="1602581"/>
              <a:ext cx="2636456"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Laboratuvar sisteminde karşılığı</a:t>
              </a:r>
            </a:p>
          </p:txBody>
        </p:sp>
      </p:grpSp>
      <p:grpSp>
        <p:nvGrpSpPr>
          <p:cNvPr id="47" name="rows"/>
          <p:cNvGrpSpPr/>
          <p:nvPr/>
        </p:nvGrpSpPr>
        <p:grpSpPr>
          <a:xfrm>
            <a:off x="609600" y="1866900"/>
            <a:ext cx="10972800" cy="3657600"/>
            <a:chOff x="609600" y="1866900"/>
            <a:chExt cx="10972800" cy="3657600"/>
          </a:xfrm>
        </p:grpSpPr>
        <p:sp>
          <p:nvSpPr>
            <p:cNvPr id="15" name="Rectangle 15"/>
            <p:cNvSpPr/>
            <p:nvPr/>
          </p:nvSpPr>
          <p:spPr>
            <a:xfrm>
              <a:off x="609600" y="1866900"/>
              <a:ext cx="10972800" cy="457200"/>
            </a:xfrm>
            <a:prstGeom prst="rect">
              <a:avLst/>
            </a:prstGeom>
            <a:solidFill>
              <a:srgbClr val="FFFFFF"/>
            </a:solidFill>
            <a:ln>
              <a:noFill/>
            </a:ln>
          </p:spPr>
        </p:sp>
        <p:sp>
          <p:nvSpPr>
            <p:cNvPr id="16" name="TextBox 16"/>
            <p:cNvSpPr txBox="1"/>
            <p:nvPr/>
          </p:nvSpPr>
          <p:spPr>
            <a:xfrm>
              <a:off x="756285" y="2021681"/>
              <a:ext cx="9850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a:t>
              </a:r>
            </a:p>
          </p:txBody>
        </p:sp>
        <p:sp>
          <p:nvSpPr>
            <p:cNvPr id="17" name="TextBox 17"/>
            <p:cNvSpPr txBox="1"/>
            <p:nvPr/>
          </p:nvSpPr>
          <p:spPr>
            <a:xfrm>
              <a:off x="1575816" y="2029778"/>
              <a:ext cx="38388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İstemci-sunucu-veritabanı katmanları, API sözleşmesi</a:t>
              </a:r>
            </a:p>
          </p:txBody>
        </p:sp>
        <p:sp>
          <p:nvSpPr>
            <p:cNvPr id="18" name="TextBox 18"/>
            <p:cNvSpPr txBox="1"/>
            <p:nvPr/>
          </p:nvSpPr>
          <p:spPr>
            <a:xfrm>
              <a:off x="6490716" y="2029778"/>
              <a:ext cx="243233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Sistemin genel mimarisi ve dış yüzü</a:t>
              </a:r>
            </a:p>
          </p:txBody>
        </p:sp>
        <p:sp>
          <p:nvSpPr>
            <p:cNvPr id="19" name="Rectangle 19"/>
            <p:cNvSpPr/>
            <p:nvPr/>
          </p:nvSpPr>
          <p:spPr>
            <a:xfrm>
              <a:off x="609600" y="2324100"/>
              <a:ext cx="10972800" cy="457200"/>
            </a:xfrm>
            <a:prstGeom prst="rect">
              <a:avLst/>
            </a:prstGeom>
            <a:solidFill>
              <a:srgbClr val="EAF4F6"/>
            </a:solidFill>
            <a:ln>
              <a:noFill/>
            </a:ln>
          </p:spPr>
        </p:sp>
        <p:sp>
          <p:nvSpPr>
            <p:cNvPr id="20" name="TextBox 20"/>
            <p:cNvSpPr txBox="1"/>
            <p:nvPr/>
          </p:nvSpPr>
          <p:spPr>
            <a:xfrm>
              <a:off x="756285" y="2478881"/>
              <a:ext cx="9850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3</a:t>
              </a:r>
            </a:p>
          </p:txBody>
        </p:sp>
        <p:sp>
          <p:nvSpPr>
            <p:cNvPr id="21" name="TextBox 21"/>
            <p:cNvSpPr txBox="1"/>
            <p:nvPr/>
          </p:nvSpPr>
          <p:spPr>
            <a:xfrm>
              <a:off x="1575816" y="2486978"/>
              <a:ext cx="253839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Kitap/üye tipleri, interface ve union</a:t>
              </a:r>
            </a:p>
          </p:txBody>
        </p:sp>
        <p:sp>
          <p:nvSpPr>
            <p:cNvPr id="22" name="TextBox 22"/>
            <p:cNvSpPr txBox="1"/>
            <p:nvPr/>
          </p:nvSpPr>
          <p:spPr>
            <a:xfrm>
              <a:off x="6490716" y="2486978"/>
              <a:ext cx="356523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Ekipman, Rezervasyon, Kullanici tipleri ve DTO'ları</a:t>
              </a:r>
            </a:p>
          </p:txBody>
        </p:sp>
        <p:sp>
          <p:nvSpPr>
            <p:cNvPr id="23" name="Rectangle 23"/>
            <p:cNvSpPr/>
            <p:nvPr/>
          </p:nvSpPr>
          <p:spPr>
            <a:xfrm>
              <a:off x="609600" y="2781300"/>
              <a:ext cx="10972800" cy="457200"/>
            </a:xfrm>
            <a:prstGeom prst="rect">
              <a:avLst/>
            </a:prstGeom>
            <a:solidFill>
              <a:srgbClr val="FFFFFF"/>
            </a:solidFill>
            <a:ln>
              <a:noFill/>
            </a:ln>
          </p:spPr>
        </p:sp>
        <p:sp>
          <p:nvSpPr>
            <p:cNvPr id="24" name="TextBox 24"/>
            <p:cNvSpPr txBox="1"/>
            <p:nvPr/>
          </p:nvSpPr>
          <p:spPr>
            <a:xfrm>
              <a:off x="756285" y="2936081"/>
              <a:ext cx="9850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6</a:t>
              </a:r>
            </a:p>
          </p:txBody>
        </p:sp>
        <p:sp>
          <p:nvSpPr>
            <p:cNvPr id="25" name="TextBox 25"/>
            <p:cNvSpPr txBox="1"/>
            <p:nvPr/>
          </p:nvSpPr>
          <p:spPr>
            <a:xfrm>
              <a:off x="1575816" y="2944178"/>
              <a:ext cx="30758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Kaynak tasarımı, durum kodları, sayfalama</a:t>
              </a:r>
            </a:p>
          </p:txBody>
        </p:sp>
        <p:sp>
          <p:nvSpPr>
            <p:cNvPr id="26" name="TextBox 26"/>
            <p:cNvSpPr txBox="1"/>
            <p:nvPr/>
          </p:nvSpPr>
          <p:spPr>
            <a:xfrm>
              <a:off x="6490716" y="2944178"/>
              <a:ext cx="341509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Çakışan rezervasyonda 409, listelerde sayfalama</a:t>
              </a:r>
            </a:p>
          </p:txBody>
        </p:sp>
        <p:sp>
          <p:nvSpPr>
            <p:cNvPr id="27" name="Rectangle 27"/>
            <p:cNvSpPr/>
            <p:nvPr/>
          </p:nvSpPr>
          <p:spPr>
            <a:xfrm>
              <a:off x="609600" y="3238500"/>
              <a:ext cx="10972800" cy="457200"/>
            </a:xfrm>
            <a:prstGeom prst="rect">
              <a:avLst/>
            </a:prstGeom>
            <a:solidFill>
              <a:srgbClr val="EAF4F6"/>
            </a:solidFill>
            <a:ln>
              <a:noFill/>
            </a:ln>
          </p:spPr>
        </p:sp>
        <p:sp>
          <p:nvSpPr>
            <p:cNvPr id="28" name="TextBox 28"/>
            <p:cNvSpPr txBox="1"/>
            <p:nvPr/>
          </p:nvSpPr>
          <p:spPr>
            <a:xfrm>
              <a:off x="756285" y="3393281"/>
              <a:ext cx="9850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9</a:t>
              </a:r>
            </a:p>
          </p:txBody>
        </p:sp>
        <p:sp>
          <p:nvSpPr>
            <p:cNvPr id="29" name="TextBox 29"/>
            <p:cNvSpPr txBox="1"/>
            <p:nvPr/>
          </p:nvSpPr>
          <p:spPr>
            <a:xfrm>
              <a:off x="1575816" y="3401378"/>
              <a:ext cx="354909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Ödünç alma kuralının service katmanında yaşaması</a:t>
              </a:r>
            </a:p>
          </p:txBody>
        </p:sp>
        <p:sp>
          <p:nvSpPr>
            <p:cNvPr id="30" name="TextBox 30"/>
            <p:cNvSpPr txBox="1"/>
            <p:nvPr/>
          </p:nvSpPr>
          <p:spPr>
            <a:xfrm>
              <a:off x="6490716" y="3401378"/>
              <a:ext cx="428411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Rezervasyon çakışma kuralının service katmanında yaşaması</a:t>
              </a:r>
            </a:p>
          </p:txBody>
        </p:sp>
        <p:sp>
          <p:nvSpPr>
            <p:cNvPr id="31" name="Rectangle 31"/>
            <p:cNvSpPr/>
            <p:nvPr/>
          </p:nvSpPr>
          <p:spPr>
            <a:xfrm>
              <a:off x="609600" y="3695700"/>
              <a:ext cx="10972800" cy="457200"/>
            </a:xfrm>
            <a:prstGeom prst="rect">
              <a:avLst/>
            </a:prstGeom>
            <a:solidFill>
              <a:srgbClr val="FFFFFF"/>
            </a:solidFill>
            <a:ln>
              <a:noFill/>
            </a:ln>
          </p:spPr>
        </p:sp>
        <p:sp>
          <p:nvSpPr>
            <p:cNvPr id="32" name="TextBox 32"/>
            <p:cNvSpPr txBox="1"/>
            <p:nvPr/>
          </p:nvSpPr>
          <p:spPr>
            <a:xfrm>
              <a:off x="756285" y="3850481"/>
              <a:ext cx="18557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10</a:t>
              </a:r>
            </a:p>
          </p:txBody>
        </p:sp>
        <p:sp>
          <p:nvSpPr>
            <p:cNvPr id="33" name="TextBox 33"/>
            <p:cNvSpPr txBox="1"/>
            <p:nvPr/>
          </p:nvSpPr>
          <p:spPr>
            <a:xfrm>
              <a:off x="1575816" y="3858578"/>
              <a:ext cx="298675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Öğrenci/kütüphaneci rolleriyle JWT ve RBAC</a:t>
              </a:r>
            </a:p>
          </p:txBody>
        </p:sp>
        <p:sp>
          <p:nvSpPr>
            <p:cNvPr id="34" name="TextBox 34"/>
            <p:cNvSpPr txBox="1"/>
            <p:nvPr/>
          </p:nvSpPr>
          <p:spPr>
            <a:xfrm>
              <a:off x="6490716" y="3858578"/>
              <a:ext cx="323803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Öğrenci, akademisyen, görevli, yönetici rolleri</a:t>
              </a:r>
            </a:p>
          </p:txBody>
        </p:sp>
        <p:sp>
          <p:nvSpPr>
            <p:cNvPr id="35" name="Rectangle 35"/>
            <p:cNvSpPr/>
            <p:nvPr/>
          </p:nvSpPr>
          <p:spPr>
            <a:xfrm>
              <a:off x="609600" y="4152900"/>
              <a:ext cx="10972800" cy="457200"/>
            </a:xfrm>
            <a:prstGeom prst="rect">
              <a:avLst/>
            </a:prstGeom>
            <a:solidFill>
              <a:srgbClr val="EAF4F6"/>
            </a:solidFill>
            <a:ln>
              <a:noFill/>
            </a:ln>
          </p:spPr>
        </p:sp>
        <p:sp>
          <p:nvSpPr>
            <p:cNvPr id="36" name="TextBox 36"/>
            <p:cNvSpPr txBox="1"/>
            <p:nvPr/>
          </p:nvSpPr>
          <p:spPr>
            <a:xfrm>
              <a:off x="756285" y="4307681"/>
              <a:ext cx="18557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13</a:t>
              </a:r>
            </a:p>
          </p:txBody>
        </p:sp>
        <p:sp>
          <p:nvSpPr>
            <p:cNvPr id="37" name="TextBox 37"/>
            <p:cNvSpPr txBox="1"/>
            <p:nvPr/>
          </p:nvSpPr>
          <p:spPr>
            <a:xfrm>
              <a:off x="1575816" y="4315778"/>
              <a:ext cx="353082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Kütüphane API'sinin OpenAPI sözleşmesi ve testleri</a:t>
              </a:r>
            </a:p>
          </p:txBody>
        </p:sp>
        <p:sp>
          <p:nvSpPr>
            <p:cNvPr id="38" name="TextBox 38"/>
            <p:cNvSpPr txBox="1"/>
            <p:nvPr/>
          </p:nvSpPr>
          <p:spPr>
            <a:xfrm>
              <a:off x="6490716" y="4315778"/>
              <a:ext cx="323796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Lab API sözleşmesi ve modül başına test paketi</a:t>
              </a:r>
            </a:p>
          </p:txBody>
        </p:sp>
        <p:sp>
          <p:nvSpPr>
            <p:cNvPr id="39" name="Rectangle 39"/>
            <p:cNvSpPr/>
            <p:nvPr/>
          </p:nvSpPr>
          <p:spPr>
            <a:xfrm>
              <a:off x="609600" y="4610100"/>
              <a:ext cx="10972800" cy="457200"/>
            </a:xfrm>
            <a:prstGeom prst="rect">
              <a:avLst/>
            </a:prstGeom>
            <a:solidFill>
              <a:srgbClr val="FFFFFF"/>
            </a:solidFill>
            <a:ln>
              <a:noFill/>
            </a:ln>
          </p:spPr>
        </p:sp>
        <p:sp>
          <p:nvSpPr>
            <p:cNvPr id="40" name="TextBox 40"/>
            <p:cNvSpPr txBox="1"/>
            <p:nvPr/>
          </p:nvSpPr>
          <p:spPr>
            <a:xfrm>
              <a:off x="756285" y="4764881"/>
              <a:ext cx="18557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14</a:t>
              </a:r>
            </a:p>
          </p:txBody>
        </p:sp>
        <p:sp>
          <p:nvSpPr>
            <p:cNvPr id="41" name="TextBox 41"/>
            <p:cNvSpPr txBox="1"/>
            <p:nvPr/>
          </p:nvSpPr>
          <p:spPr>
            <a:xfrm>
              <a:off x="1575816" y="4772978"/>
              <a:ext cx="266855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İki servisli (API + DB) Compose ortamı</a:t>
              </a:r>
            </a:p>
          </p:txBody>
        </p:sp>
        <p:sp>
          <p:nvSpPr>
            <p:cNvPr id="42" name="TextBox 42"/>
            <p:cNvSpPr txBox="1"/>
            <p:nvPr/>
          </p:nvSpPr>
          <p:spPr>
            <a:xfrm>
              <a:off x="6490716" y="4772978"/>
              <a:ext cx="303041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Lab sisteminin çok servisli Compose dosyası</a:t>
              </a:r>
            </a:p>
          </p:txBody>
        </p:sp>
        <p:sp>
          <p:nvSpPr>
            <p:cNvPr id="43" name="Rectangle 43"/>
            <p:cNvSpPr/>
            <p:nvPr/>
          </p:nvSpPr>
          <p:spPr>
            <a:xfrm>
              <a:off x="609600" y="5067300"/>
              <a:ext cx="10972800" cy="457200"/>
            </a:xfrm>
            <a:prstGeom prst="rect">
              <a:avLst/>
            </a:prstGeom>
            <a:solidFill>
              <a:srgbClr val="EAF4F6"/>
            </a:solidFill>
            <a:ln>
              <a:noFill/>
            </a:ln>
          </p:spPr>
        </p:sp>
        <p:sp>
          <p:nvSpPr>
            <p:cNvPr id="44" name="TextBox 44"/>
            <p:cNvSpPr txBox="1"/>
            <p:nvPr/>
          </p:nvSpPr>
          <p:spPr>
            <a:xfrm>
              <a:off x="756285" y="5222081"/>
              <a:ext cx="18557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16</a:t>
              </a:r>
            </a:p>
          </p:txBody>
        </p:sp>
        <p:sp>
          <p:nvSpPr>
            <p:cNvPr id="45" name="TextBox 45"/>
            <p:cNvSpPr txBox="1"/>
            <p:nvPr/>
          </p:nvSpPr>
          <p:spPr>
            <a:xfrm>
              <a:off x="1575816" y="5230178"/>
              <a:ext cx="265152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Okuma salonu sıcaklık/nem sensörleri</a:t>
              </a:r>
            </a:p>
          </p:txBody>
        </p:sp>
        <p:sp>
          <p:nvSpPr>
            <p:cNvPr id="46" name="TextBox 46"/>
            <p:cNvSpPr txBox="1"/>
            <p:nvPr/>
          </p:nvSpPr>
          <p:spPr>
            <a:xfrm>
              <a:off x="6490716" y="5230178"/>
              <a:ext cx="352775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Laboratuvar ortam sensörleri ve telemetri tablosu</a:t>
              </a:r>
            </a:p>
          </p:txBody>
        </p:sp>
      </p:grpSp>
      <p:grpSp>
        <p:nvGrpSpPr>
          <p:cNvPr id="51" name="table-frame"/>
          <p:cNvGrpSpPr/>
          <p:nvPr/>
        </p:nvGrpSpPr>
        <p:grpSpPr>
          <a:xfrm>
            <a:off x="609600" y="1485900"/>
            <a:ext cx="10972800" cy="4038600"/>
            <a:chOff x="609600" y="1485900"/>
            <a:chExt cx="10972800" cy="4038600"/>
          </a:xfrm>
        </p:grpSpPr>
        <p:sp>
          <p:nvSpPr>
            <p:cNvPr id="48" name="Rectangle 48"/>
            <p:cNvSpPr/>
            <p:nvPr/>
          </p:nvSpPr>
          <p:spPr>
            <a:xfrm>
              <a:off x="609600" y="1485900"/>
              <a:ext cx="10972800" cy="4038600"/>
            </a:xfrm>
            <a:prstGeom prst="rect">
              <a:avLst/>
            </a:prstGeom>
            <a:noFill/>
            <a:ln w="14288">
              <a:solidFill>
                <a:srgbClr val="B8CBD3"/>
              </a:solidFill>
            </a:ln>
          </p:spPr>
        </p:sp>
        <p:sp>
          <p:nvSpPr>
            <p:cNvPr id="49" name="Line 49"/>
            <p:cNvSpPr/>
            <p:nvPr/>
          </p:nvSpPr>
          <p:spPr>
            <a:xfrm>
              <a:off x="1428750" y="1485900"/>
              <a:ext cx="9525" cy="4038600"/>
            </a:xfrm>
            <a:custGeom>
              <a:avLst/>
              <a:gdLst/>
              <a:ahLst/>
              <a:cxnLst/>
              <a:rect l="l" t="t" r="r" b="b"/>
              <a:pathLst>
                <a:path w="9525" h="4038600">
                  <a:moveTo>
                    <a:pt x="0" y="0"/>
                  </a:moveTo>
                  <a:lnTo>
                    <a:pt x="0" y="4038600"/>
                  </a:lnTo>
                </a:path>
              </a:pathLst>
            </a:custGeom>
            <a:noFill/>
            <a:ln w="9525">
              <a:solidFill>
                <a:srgbClr val="B8CBD3"/>
              </a:solidFill>
            </a:ln>
          </p:spPr>
        </p:sp>
        <p:sp>
          <p:nvSpPr>
            <p:cNvPr id="50" name="Line 50"/>
            <p:cNvSpPr/>
            <p:nvPr/>
          </p:nvSpPr>
          <p:spPr>
            <a:xfrm>
              <a:off x="6343650" y="1485900"/>
              <a:ext cx="9525" cy="4038600"/>
            </a:xfrm>
            <a:custGeom>
              <a:avLst/>
              <a:gdLst/>
              <a:ahLst/>
              <a:cxnLst/>
              <a:rect l="l" t="t" r="r" b="b"/>
              <a:pathLst>
                <a:path w="9525" h="4038600">
                  <a:moveTo>
                    <a:pt x="0" y="0"/>
                  </a:moveTo>
                  <a:lnTo>
                    <a:pt x="0" y="4038600"/>
                  </a:lnTo>
                </a:path>
              </a:pathLst>
            </a:custGeom>
            <a:noFill/>
            <a:ln w="9525">
              <a:solidFill>
                <a:srgbClr val="B8CBD3"/>
              </a:solidFill>
            </a:ln>
          </p:spPr>
        </p:sp>
      </p:grpSp>
      <p:grpSp>
        <p:nvGrpSpPr>
          <p:cNvPr id="53" name="mapping-closing"/>
          <p:cNvGrpSpPr/>
          <p:nvPr/>
        </p:nvGrpSpPr>
        <p:grpSpPr>
          <a:xfrm>
            <a:off x="603504" y="5833110"/>
            <a:ext cx="7699184" cy="234696"/>
            <a:chOff x="603504" y="5833110"/>
            <a:chExt cx="7699184" cy="234696"/>
          </a:xfrm>
        </p:grpSpPr>
        <p:sp>
          <p:nvSpPr>
            <p:cNvPr id="52" name="TextBox 52"/>
            <p:cNvSpPr txBox="1"/>
            <p:nvPr/>
          </p:nvSpPr>
          <p:spPr>
            <a:xfrm>
              <a:off x="603504" y="5833110"/>
              <a:ext cx="76991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18'in kendi satırı yok: bu bölüm, tüm önceki satırların tek sistemde bütünleştirilmesidir.</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7408" y="331470"/>
            <a:ext cx="6701931" cy="469392"/>
            <a:chOff x="597408" y="331470"/>
            <a:chExt cx="6701931" cy="469392"/>
          </a:xfrm>
        </p:grpSpPr>
        <p:sp>
          <p:nvSpPr>
            <p:cNvPr id="4" name="TextBox 4"/>
            <p:cNvSpPr txBox="1"/>
            <p:nvPr/>
          </p:nvSpPr>
          <p:spPr>
            <a:xfrm>
              <a:off x="597408" y="331470"/>
              <a:ext cx="6701931"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Öz değerlendirme soruları (örnek seçki)</a:t>
              </a:r>
            </a:p>
          </p:txBody>
        </p:sp>
      </p:grpSp>
      <p:grpSp>
        <p:nvGrpSpPr>
          <p:cNvPr id="24" name="mcq-col"/>
          <p:cNvGrpSpPr/>
          <p:nvPr/>
        </p:nvGrpSpPr>
        <p:grpSpPr>
          <a:xfrm>
            <a:off x="609600" y="1219200"/>
            <a:ext cx="5334000" cy="4381500"/>
            <a:chOff x="609600" y="1219200"/>
            <a:chExt cx="5334000" cy="4381500"/>
          </a:xfrm>
        </p:grpSpPr>
        <p:sp>
          <p:nvSpPr>
            <p:cNvPr id="6" name="Rectangle 6"/>
            <p:cNvSpPr/>
            <p:nvPr/>
          </p:nvSpPr>
          <p:spPr>
            <a:xfrm>
              <a:off x="609600" y="1219200"/>
              <a:ext cx="5334000" cy="381000"/>
            </a:xfrm>
            <a:prstGeom prst="roundRect">
              <a:avLst>
                <a:gd name="adj" fmla="val 15000"/>
              </a:avLst>
            </a:prstGeom>
            <a:solidFill>
              <a:srgbClr val="12355B"/>
            </a:solidFill>
            <a:ln>
              <a:noFill/>
            </a:ln>
          </p:spPr>
        </p:sp>
        <p:sp>
          <p:nvSpPr>
            <p:cNvPr id="7" name="TextBox 7"/>
            <p:cNvSpPr txBox="1"/>
            <p:nvPr/>
          </p:nvSpPr>
          <p:spPr>
            <a:xfrm>
              <a:off x="832104" y="1337310"/>
              <a:ext cx="123026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Çoktan seçmeli</a:t>
              </a:r>
            </a:p>
          </p:txBody>
        </p:sp>
        <p:sp>
          <p:nvSpPr>
            <p:cNvPr id="8" name="Rectangle 8"/>
            <p:cNvSpPr/>
            <p:nvPr/>
          </p:nvSpPr>
          <p:spPr>
            <a:xfrm>
              <a:off x="609600" y="1714500"/>
              <a:ext cx="5334000" cy="1809750"/>
            </a:xfrm>
            <a:prstGeom prst="roundRect">
              <a:avLst>
                <a:gd name="adj" fmla="val 4211"/>
              </a:avLst>
            </a:prstGeom>
            <a:solidFill>
              <a:srgbClr val="FFFFFF"/>
            </a:solidFill>
            <a:ln w="9525">
              <a:solidFill>
                <a:srgbClr val="B8CBD3"/>
              </a:solidFill>
            </a:ln>
          </p:spPr>
        </p:sp>
        <p:sp>
          <p:nvSpPr>
            <p:cNvPr id="9" name="TextBox 9"/>
            <p:cNvSpPr txBox="1"/>
            <p:nvPr/>
          </p:nvSpPr>
          <p:spPr>
            <a:xfrm>
              <a:off x="832485" y="1878806"/>
              <a:ext cx="435466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 Rezervasyon çakışma kuralının doğru yeri neresidir?</a:t>
              </a:r>
            </a:p>
          </p:txBody>
        </p:sp>
        <p:sp>
          <p:nvSpPr>
            <p:cNvPr id="10" name="TextBox 10"/>
            <p:cNvSpPr txBox="1"/>
            <p:nvPr/>
          </p:nvSpPr>
          <p:spPr>
            <a:xfrm>
              <a:off x="832866" y="2134552"/>
              <a:ext cx="19171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 Controller B) Repository</a:t>
              </a:r>
            </a:p>
          </p:txBody>
        </p:sp>
        <p:sp>
          <p:nvSpPr>
            <p:cNvPr id="11" name="TextBox 11"/>
            <p:cNvSpPr txBox="1"/>
            <p:nvPr/>
          </p:nvSpPr>
          <p:spPr>
            <a:xfrm>
              <a:off x="832866" y="2344102"/>
              <a:ext cx="2125932"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C) Service katmanı D) Ön yüz</a:t>
              </a:r>
            </a:p>
          </p:txBody>
        </p:sp>
        <p:sp>
          <p:nvSpPr>
            <p:cNvPr id="12" name="Line 12"/>
            <p:cNvSpPr/>
            <p:nvPr/>
          </p:nvSpPr>
          <p:spPr>
            <a:xfrm>
              <a:off x="838200" y="262890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3" name="TextBox 13"/>
            <p:cNvSpPr txBox="1"/>
            <p:nvPr/>
          </p:nvSpPr>
          <p:spPr>
            <a:xfrm>
              <a:off x="832485" y="2736056"/>
              <a:ext cx="355760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 KRITIK_SICAKLIK_ESIGI aşıldığında ne olur?</a:t>
              </a:r>
            </a:p>
          </p:txBody>
        </p:sp>
        <p:sp>
          <p:nvSpPr>
            <p:cNvPr id="14" name="TextBox 14"/>
            <p:cNvSpPr txBox="1"/>
            <p:nvPr/>
          </p:nvSpPr>
          <p:spPr>
            <a:xfrm>
              <a:off x="832866" y="2991802"/>
              <a:ext cx="147627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 Sadece log yazılır</a:t>
              </a:r>
            </a:p>
          </p:txBody>
        </p:sp>
        <p:sp>
          <p:nvSpPr>
            <p:cNvPr id="15" name="TextBox 15"/>
            <p:cNvSpPr txBox="1"/>
            <p:nvPr/>
          </p:nvSpPr>
          <p:spPr>
            <a:xfrm>
              <a:off x="832866" y="3201352"/>
              <a:ext cx="2722079"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B) Ekipman korumaya alınır + bildirim</a:t>
              </a:r>
            </a:p>
          </p:txBody>
        </p:sp>
        <p:sp>
          <p:nvSpPr>
            <p:cNvPr id="16" name="Rectangle 16"/>
            <p:cNvSpPr/>
            <p:nvPr/>
          </p:nvSpPr>
          <p:spPr>
            <a:xfrm>
              <a:off x="609600" y="3714750"/>
              <a:ext cx="5334000" cy="1885950"/>
            </a:xfrm>
            <a:prstGeom prst="roundRect">
              <a:avLst>
                <a:gd name="adj" fmla="val 4040"/>
              </a:avLst>
            </a:prstGeom>
            <a:solidFill>
              <a:srgbClr val="FFFFFF"/>
            </a:solidFill>
            <a:ln w="9525">
              <a:solidFill>
                <a:srgbClr val="B8CBD3"/>
              </a:solidFill>
            </a:ln>
          </p:spPr>
        </p:sp>
        <p:sp>
          <p:nvSpPr>
            <p:cNvPr id="17" name="TextBox 17"/>
            <p:cNvSpPr txBox="1"/>
            <p:nvPr/>
          </p:nvSpPr>
          <p:spPr>
            <a:xfrm>
              <a:off x="832104" y="3870960"/>
              <a:ext cx="120319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Doğru / Yanlış</a:t>
              </a:r>
            </a:p>
          </p:txBody>
        </p:sp>
        <p:sp>
          <p:nvSpPr>
            <p:cNvPr id="18" name="TextBox 18"/>
            <p:cNvSpPr txBox="1"/>
            <p:nvPr/>
          </p:nvSpPr>
          <p:spPr>
            <a:xfrm>
              <a:off x="832866" y="4153852"/>
              <a:ext cx="288009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"find-then-create" yaklaşımı çakışmayı</a:t>
              </a:r>
            </a:p>
          </p:txBody>
        </p:sp>
        <p:sp>
          <p:nvSpPr>
            <p:cNvPr id="19" name="TextBox 19"/>
            <p:cNvSpPr txBox="1"/>
            <p:nvPr/>
          </p:nvSpPr>
          <p:spPr>
            <a:xfrm>
              <a:off x="832866" y="4344352"/>
              <a:ext cx="210973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her koşulda tamamen engeller.</a:t>
              </a:r>
            </a:p>
          </p:txBody>
        </p:sp>
        <p:sp>
          <p:nvSpPr>
            <p:cNvPr id="20" name="TextBox 20"/>
            <p:cNvSpPr txBox="1"/>
            <p:nvPr/>
          </p:nvSpPr>
          <p:spPr>
            <a:xfrm>
              <a:off x="832866" y="4553902"/>
              <a:ext cx="3347903"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Yanlış — yarış durumu (race condition) oluşur</a:t>
              </a:r>
            </a:p>
          </p:txBody>
        </p:sp>
        <p:sp>
          <p:nvSpPr>
            <p:cNvPr id="21" name="TextBox 21"/>
            <p:cNvSpPr txBox="1"/>
            <p:nvPr/>
          </p:nvSpPr>
          <p:spPr>
            <a:xfrm>
              <a:off x="832866" y="4877752"/>
              <a:ext cx="263491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Docker Compose'da veritabanı şifresi</a:t>
              </a:r>
            </a:p>
          </p:txBody>
        </p:sp>
        <p:sp>
          <p:nvSpPr>
            <p:cNvPr id="22" name="TextBox 22"/>
            <p:cNvSpPr txBox="1"/>
            <p:nvPr/>
          </p:nvSpPr>
          <p:spPr>
            <a:xfrm>
              <a:off x="832866" y="5068252"/>
              <a:ext cx="205319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doğrudan dosyaya yazılabilir.</a:t>
              </a:r>
            </a:p>
          </p:txBody>
        </p:sp>
        <p:sp>
          <p:nvSpPr>
            <p:cNvPr id="23" name="TextBox 23"/>
            <p:cNvSpPr txBox="1"/>
            <p:nvPr/>
          </p:nvSpPr>
          <p:spPr>
            <a:xfrm>
              <a:off x="832866" y="5277802"/>
              <a:ext cx="3347628"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Yanlış — ortam değişkeni / secret kullanılmalı</a:t>
              </a:r>
            </a:p>
          </p:txBody>
        </p:sp>
      </p:grpSp>
      <p:grpSp>
        <p:nvGrpSpPr>
          <p:cNvPr id="44" name="open-col"/>
          <p:cNvGrpSpPr/>
          <p:nvPr/>
        </p:nvGrpSpPr>
        <p:grpSpPr>
          <a:xfrm>
            <a:off x="6248400" y="1219200"/>
            <a:ext cx="5334000" cy="4381500"/>
            <a:chOff x="6248400" y="1219200"/>
            <a:chExt cx="5334000" cy="4381500"/>
          </a:xfrm>
        </p:grpSpPr>
        <p:sp>
          <p:nvSpPr>
            <p:cNvPr id="25" name="Rectangle 25"/>
            <p:cNvSpPr/>
            <p:nvPr/>
          </p:nvSpPr>
          <p:spPr>
            <a:xfrm>
              <a:off x="6248400" y="1219200"/>
              <a:ext cx="5334000" cy="381000"/>
            </a:xfrm>
            <a:prstGeom prst="roundRect">
              <a:avLst>
                <a:gd name="adj" fmla="val 15000"/>
              </a:avLst>
            </a:prstGeom>
            <a:solidFill>
              <a:srgbClr val="12355B"/>
            </a:solidFill>
            <a:ln>
              <a:noFill/>
            </a:ln>
          </p:spPr>
        </p:sp>
        <p:sp>
          <p:nvSpPr>
            <p:cNvPr id="26" name="TextBox 26"/>
            <p:cNvSpPr txBox="1"/>
            <p:nvPr/>
          </p:nvSpPr>
          <p:spPr>
            <a:xfrm>
              <a:off x="6470904" y="1337310"/>
              <a:ext cx="185020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Açık uçlu / hata bulma</a:t>
              </a:r>
            </a:p>
          </p:txBody>
        </p:sp>
        <p:sp>
          <p:nvSpPr>
            <p:cNvPr id="27" name="Rectangle 27"/>
            <p:cNvSpPr/>
            <p:nvPr/>
          </p:nvSpPr>
          <p:spPr>
            <a:xfrm>
              <a:off x="6248400" y="1714500"/>
              <a:ext cx="5334000" cy="2190750"/>
            </a:xfrm>
            <a:prstGeom prst="roundRect">
              <a:avLst>
                <a:gd name="adj" fmla="val 3478"/>
              </a:avLst>
            </a:prstGeom>
            <a:solidFill>
              <a:srgbClr val="FFFFFF"/>
            </a:solidFill>
            <a:ln w="9525">
              <a:solidFill>
                <a:srgbClr val="B8CBD3"/>
              </a:solidFill>
            </a:ln>
          </p:spPr>
        </p:sp>
        <p:sp>
          <p:nvSpPr>
            <p:cNvPr id="28" name="TextBox 28"/>
            <p:cNvSpPr txBox="1"/>
            <p:nvPr/>
          </p:nvSpPr>
          <p:spPr>
            <a:xfrm>
              <a:off x="6471285" y="1878806"/>
              <a:ext cx="111689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Açık uçlu soru</a:t>
              </a:r>
            </a:p>
          </p:txBody>
        </p:sp>
        <p:sp>
          <p:nvSpPr>
            <p:cNvPr id="29" name="TextBox 29"/>
            <p:cNvSpPr txBox="1"/>
            <p:nvPr/>
          </p:nvSpPr>
          <p:spPr>
            <a:xfrm>
              <a:off x="6471666" y="2134552"/>
              <a:ext cx="298346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Gecikme bütçesinde veritabanı işlemi neden</a:t>
              </a:r>
            </a:p>
          </p:txBody>
        </p:sp>
        <p:sp>
          <p:nvSpPr>
            <p:cNvPr id="30" name="TextBox 30"/>
            <p:cNvSpPr txBox="1"/>
            <p:nvPr/>
          </p:nvSpPr>
          <p:spPr>
            <a:xfrm>
              <a:off x="6471666" y="2325052"/>
              <a:ext cx="330197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en büyük payı alır? İki azaltma yöntemi önerin.</a:t>
              </a:r>
            </a:p>
          </p:txBody>
        </p:sp>
        <p:sp>
          <p:nvSpPr>
            <p:cNvPr id="31" name="TextBox 31"/>
            <p:cNvSpPr txBox="1"/>
            <p:nvPr/>
          </p:nvSpPr>
          <p:spPr>
            <a:xfrm>
              <a:off x="6472047" y="2599849"/>
              <a:ext cx="275831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Beklenen: transaction + kilitleme maliyeti;</a:t>
              </a:r>
            </a:p>
          </p:txBody>
        </p:sp>
        <p:sp>
          <p:nvSpPr>
            <p:cNvPr id="32" name="TextBox 32"/>
            <p:cNvSpPr txBox="1"/>
            <p:nvPr/>
          </p:nvSpPr>
          <p:spPr>
            <a:xfrm>
              <a:off x="6472047" y="2790349"/>
              <a:ext cx="324872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indeksleme, bağlantı havuzu, sorgu optimizasyonu</a:t>
              </a:r>
            </a:p>
          </p:txBody>
        </p:sp>
        <p:sp>
          <p:nvSpPr>
            <p:cNvPr id="33" name="TextBox 33"/>
            <p:cNvSpPr txBox="1"/>
            <p:nvPr/>
          </p:nvSpPr>
          <p:spPr>
            <a:xfrm>
              <a:off x="6471285" y="3117056"/>
              <a:ext cx="140984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Hata bulma sorusu</a:t>
              </a:r>
            </a:p>
          </p:txBody>
        </p:sp>
        <p:sp>
          <p:nvSpPr>
            <p:cNvPr id="34" name="TextBox 34"/>
            <p:cNvSpPr txBox="1"/>
            <p:nvPr/>
          </p:nvSpPr>
          <p:spPr>
            <a:xfrm>
              <a:off x="6471666" y="3372802"/>
              <a:ext cx="280841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HataliBakimKaydi.ts kodundaki iki hatayı</a:t>
              </a:r>
            </a:p>
          </p:txBody>
        </p:sp>
        <p:sp>
          <p:nvSpPr>
            <p:cNvPr id="35" name="TextBox 35"/>
            <p:cNvSpPr txBox="1"/>
            <p:nvPr/>
          </p:nvSpPr>
          <p:spPr>
            <a:xfrm>
              <a:off x="6471666" y="3563302"/>
              <a:ext cx="203905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saptayın ve düzeltme önerin.</a:t>
              </a:r>
            </a:p>
          </p:txBody>
        </p:sp>
        <p:sp>
          <p:nvSpPr>
            <p:cNvPr id="36" name="TextBox 36"/>
            <p:cNvSpPr txBox="1"/>
            <p:nvPr/>
          </p:nvSpPr>
          <p:spPr>
            <a:xfrm>
              <a:off x="6472047" y="3761899"/>
              <a:ext cx="373893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Beklenen: eksik RBAC denetimi, atomik olmayan güncelleme</a:t>
              </a:r>
            </a:p>
          </p:txBody>
        </p:sp>
        <p:sp>
          <p:nvSpPr>
            <p:cNvPr id="37" name="Rectangle 37"/>
            <p:cNvSpPr/>
            <p:nvPr/>
          </p:nvSpPr>
          <p:spPr>
            <a:xfrm>
              <a:off x="6248400" y="4076700"/>
              <a:ext cx="5334000" cy="1524000"/>
            </a:xfrm>
            <a:prstGeom prst="roundRect">
              <a:avLst>
                <a:gd name="adj" fmla="val 5000"/>
              </a:avLst>
            </a:prstGeom>
            <a:solidFill>
              <a:srgbClr val="EAF4F6"/>
            </a:solidFill>
            <a:ln>
              <a:noFill/>
            </a:ln>
          </p:spPr>
        </p:sp>
        <p:sp>
          <p:nvSpPr>
            <p:cNvPr id="38" name="Rectangle 38"/>
            <p:cNvSpPr/>
            <p:nvPr/>
          </p:nvSpPr>
          <p:spPr>
            <a:xfrm>
              <a:off x="6248400" y="4076700"/>
              <a:ext cx="57150" cy="1524000"/>
            </a:xfrm>
            <a:prstGeom prst="rect">
              <a:avLst/>
            </a:prstGeom>
            <a:solidFill>
              <a:srgbClr val="00A6A6"/>
            </a:solidFill>
            <a:ln>
              <a:noFill/>
            </a:ln>
          </p:spPr>
        </p:sp>
        <p:sp>
          <p:nvSpPr>
            <p:cNvPr id="39" name="TextBox 39"/>
            <p:cNvSpPr txBox="1"/>
            <p:nvPr/>
          </p:nvSpPr>
          <p:spPr>
            <a:xfrm>
              <a:off x="6547485" y="4221956"/>
              <a:ext cx="57075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Kapsam</a:t>
              </a:r>
            </a:p>
          </p:txBody>
        </p:sp>
        <p:sp>
          <p:nvSpPr>
            <p:cNvPr id="40" name="TextBox 40"/>
            <p:cNvSpPr txBox="1"/>
            <p:nvPr/>
          </p:nvSpPr>
          <p:spPr>
            <a:xfrm>
              <a:off x="6547866" y="4477702"/>
              <a:ext cx="254615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Tam soru bankası (5 çoktan seçmeli,</a:t>
              </a:r>
            </a:p>
          </p:txBody>
        </p:sp>
        <p:sp>
          <p:nvSpPr>
            <p:cNvPr id="41" name="TextBox 41"/>
            <p:cNvSpPr txBox="1"/>
            <p:nvPr/>
          </p:nvSpPr>
          <p:spPr>
            <a:xfrm>
              <a:off x="6547866" y="4668202"/>
              <a:ext cx="295076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6 doğru/yanlış, 6 açık uçlu, 5 hata bulma)</a:t>
              </a:r>
            </a:p>
          </p:txBody>
        </p:sp>
        <p:sp>
          <p:nvSpPr>
            <p:cNvPr id="42" name="TextBox 42"/>
            <p:cNvSpPr txBox="1"/>
            <p:nvPr/>
          </p:nvSpPr>
          <p:spPr>
            <a:xfrm>
              <a:off x="6547866" y="4877752"/>
              <a:ext cx="302144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ve cevap anahtarı kaynak metinde yer alır;</a:t>
              </a:r>
            </a:p>
          </p:txBody>
        </p:sp>
        <p:sp>
          <p:nvSpPr>
            <p:cNvPr id="43" name="TextBox 43"/>
            <p:cNvSpPr txBox="1"/>
            <p:nvPr/>
          </p:nvSpPr>
          <p:spPr>
            <a:xfrm>
              <a:off x="6547866" y="5087302"/>
              <a:ext cx="25903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burada temsili bir seçki sunulmuştur.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7408" y="331470"/>
            <a:ext cx="4563951" cy="469392"/>
            <a:chOff x="597408" y="331470"/>
            <a:chExt cx="4563951" cy="469392"/>
          </a:xfrm>
        </p:grpSpPr>
        <p:sp>
          <p:nvSpPr>
            <p:cNvPr id="4" name="TextBox 4"/>
            <p:cNvSpPr txBox="1"/>
            <p:nvPr/>
          </p:nvSpPr>
          <p:spPr>
            <a:xfrm>
              <a:off x="597408" y="331470"/>
              <a:ext cx="4563951"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Programlama alıştırmaları</a:t>
              </a:r>
            </a:p>
          </p:txBody>
        </p:sp>
      </p:grpSp>
      <p:grpSp>
        <p:nvGrpSpPr>
          <p:cNvPr id="20" name="col-kolay"/>
          <p:cNvGrpSpPr/>
          <p:nvPr/>
        </p:nvGrpSpPr>
        <p:grpSpPr>
          <a:xfrm>
            <a:off x="609600" y="1219200"/>
            <a:ext cx="3352800" cy="3314700"/>
            <a:chOff x="609600" y="1219200"/>
            <a:chExt cx="3352800" cy="3314700"/>
          </a:xfrm>
        </p:grpSpPr>
        <p:sp>
          <p:nvSpPr>
            <p:cNvPr id="6" name="Rectangle 6"/>
            <p:cNvSpPr/>
            <p:nvPr/>
          </p:nvSpPr>
          <p:spPr>
            <a:xfrm>
              <a:off x="609600" y="1219200"/>
              <a:ext cx="3352800" cy="342900"/>
            </a:xfrm>
            <a:prstGeom prst="roundRect">
              <a:avLst>
                <a:gd name="adj" fmla="val 16667"/>
              </a:avLst>
            </a:prstGeom>
            <a:solidFill>
              <a:srgbClr val="00A6A6"/>
            </a:solidFill>
            <a:ln>
              <a:noFill/>
            </a:ln>
          </p:spPr>
        </p:sp>
        <p:sp>
          <p:nvSpPr>
            <p:cNvPr id="7" name="TextBox 7"/>
            <p:cNvSpPr txBox="1"/>
            <p:nvPr/>
          </p:nvSpPr>
          <p:spPr>
            <a:xfrm>
              <a:off x="832485" y="1326356"/>
              <a:ext cx="504889"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KOLAY</a:t>
              </a:r>
            </a:p>
          </p:txBody>
        </p:sp>
        <p:sp>
          <p:nvSpPr>
            <p:cNvPr id="8" name="Rectangle 8"/>
            <p:cNvSpPr/>
            <p:nvPr/>
          </p:nvSpPr>
          <p:spPr>
            <a:xfrm>
              <a:off x="609600" y="1676400"/>
              <a:ext cx="3352800" cy="1390650"/>
            </a:xfrm>
            <a:prstGeom prst="roundRect">
              <a:avLst>
                <a:gd name="adj" fmla="val 5479"/>
              </a:avLst>
            </a:prstGeom>
            <a:solidFill>
              <a:srgbClr val="FFFFFF"/>
            </a:solidFill>
            <a:ln w="9525">
              <a:solidFill>
                <a:srgbClr val="B8CBD3"/>
              </a:solidFill>
            </a:ln>
          </p:spPr>
        </p:sp>
        <p:sp>
          <p:nvSpPr>
            <p:cNvPr id="9" name="TextBox 9"/>
            <p:cNvSpPr txBox="1"/>
            <p:nvPr/>
          </p:nvSpPr>
          <p:spPr>
            <a:xfrm>
              <a:off x="832485" y="1821656"/>
              <a:ext cx="220923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1. Ekipman listesi filtreleme</a:t>
              </a:r>
            </a:p>
          </p:txBody>
        </p:sp>
        <p:sp>
          <p:nvSpPr>
            <p:cNvPr id="10" name="TextBox 10"/>
            <p:cNvSpPr txBox="1"/>
            <p:nvPr/>
          </p:nvSpPr>
          <p:spPr>
            <a:xfrm>
              <a:off x="833247" y="2066449"/>
              <a:ext cx="213794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Kategoriye göre ekipman listesini</a:t>
              </a:r>
            </a:p>
          </p:txBody>
        </p:sp>
        <p:sp>
          <p:nvSpPr>
            <p:cNvPr id="11" name="TextBox 11"/>
            <p:cNvSpPr txBox="1"/>
            <p:nvPr/>
          </p:nvSpPr>
          <p:spPr>
            <a:xfrm>
              <a:off x="833247" y="2237899"/>
              <a:ext cx="272101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filtreleyen bir sorgu parametresi ekleyin.</a:t>
              </a:r>
            </a:p>
          </p:txBody>
        </p:sp>
        <p:sp>
          <p:nvSpPr>
            <p:cNvPr id="12" name="TextBox 12"/>
            <p:cNvSpPr txBox="1"/>
            <p:nvPr/>
          </p:nvSpPr>
          <p:spPr>
            <a:xfrm>
              <a:off x="833247" y="2466499"/>
              <a:ext cx="210133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Controller + Repository</a:t>
              </a:r>
            </a:p>
          </p:txBody>
        </p:sp>
        <p:sp>
          <p:nvSpPr>
            <p:cNvPr id="13" name="TextBox 13"/>
            <p:cNvSpPr txBox="1"/>
            <p:nvPr/>
          </p:nvSpPr>
          <p:spPr>
            <a:xfrm>
              <a:off x="833247" y="2676049"/>
              <a:ext cx="2540788"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Kazanım: sorgu parametresi doğrulama</a:t>
              </a:r>
            </a:p>
          </p:txBody>
        </p:sp>
        <p:sp>
          <p:nvSpPr>
            <p:cNvPr id="14" name="Rectangle 14"/>
            <p:cNvSpPr/>
            <p:nvPr/>
          </p:nvSpPr>
          <p:spPr>
            <a:xfrm>
              <a:off x="609600" y="3143250"/>
              <a:ext cx="3352800" cy="1390650"/>
            </a:xfrm>
            <a:prstGeom prst="roundRect">
              <a:avLst>
                <a:gd name="adj" fmla="val 5479"/>
              </a:avLst>
            </a:prstGeom>
            <a:solidFill>
              <a:srgbClr val="FFFFFF"/>
            </a:solidFill>
            <a:ln w="9525">
              <a:solidFill>
                <a:srgbClr val="B8CBD3"/>
              </a:solidFill>
            </a:ln>
          </p:spPr>
        </p:sp>
        <p:sp>
          <p:nvSpPr>
            <p:cNvPr id="15" name="TextBox 15"/>
            <p:cNvSpPr txBox="1"/>
            <p:nvPr/>
          </p:nvSpPr>
          <p:spPr>
            <a:xfrm>
              <a:off x="832485" y="3288506"/>
              <a:ext cx="180599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 Sözlük terimi ekleme</a:t>
              </a:r>
            </a:p>
          </p:txBody>
        </p:sp>
        <p:sp>
          <p:nvSpPr>
            <p:cNvPr id="16" name="TextBox 16"/>
            <p:cNvSpPr txBox="1"/>
            <p:nvPr/>
          </p:nvSpPr>
          <p:spPr>
            <a:xfrm>
              <a:off x="833247" y="3533299"/>
              <a:ext cx="203958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Enum'a yeni bir ekipman durumu</a:t>
              </a:r>
            </a:p>
          </p:txBody>
        </p:sp>
        <p:sp>
          <p:nvSpPr>
            <p:cNvPr id="17" name="TextBox 17"/>
            <p:cNvSpPr txBox="1"/>
            <p:nvPr/>
          </p:nvSpPr>
          <p:spPr>
            <a:xfrm>
              <a:off x="833247" y="3704749"/>
              <a:ext cx="273568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("KAYIP") ekleyip ilgili dalları güncelleyin.</a:t>
              </a:r>
            </a:p>
          </p:txBody>
        </p:sp>
        <p:sp>
          <p:nvSpPr>
            <p:cNvPr id="18" name="TextBox 18"/>
            <p:cNvSpPr txBox="1"/>
            <p:nvPr/>
          </p:nvSpPr>
          <p:spPr>
            <a:xfrm>
              <a:off x="833247" y="3933349"/>
              <a:ext cx="152334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Prisma şeması</a:t>
              </a:r>
            </a:p>
          </p:txBody>
        </p:sp>
        <p:sp>
          <p:nvSpPr>
            <p:cNvPr id="19" name="TextBox 19"/>
            <p:cNvSpPr txBox="1"/>
            <p:nvPr/>
          </p:nvSpPr>
          <p:spPr>
            <a:xfrm>
              <a:off x="833247" y="4142899"/>
              <a:ext cx="141299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Kazanım: şema evrimi</a:t>
              </a:r>
            </a:p>
          </p:txBody>
        </p:sp>
      </p:grpSp>
      <p:grpSp>
        <p:nvGrpSpPr>
          <p:cNvPr id="33" name="col-orta"/>
          <p:cNvGrpSpPr/>
          <p:nvPr/>
        </p:nvGrpSpPr>
        <p:grpSpPr>
          <a:xfrm>
            <a:off x="4191000" y="1219200"/>
            <a:ext cx="3352800" cy="3314700"/>
            <a:chOff x="4191000" y="1219200"/>
            <a:chExt cx="3352800" cy="3314700"/>
          </a:xfrm>
        </p:grpSpPr>
        <p:sp>
          <p:nvSpPr>
            <p:cNvPr id="21" name="Rectangle 21"/>
            <p:cNvSpPr/>
            <p:nvPr/>
          </p:nvSpPr>
          <p:spPr>
            <a:xfrm>
              <a:off x="4191000" y="1219200"/>
              <a:ext cx="3352800" cy="342900"/>
            </a:xfrm>
            <a:prstGeom prst="roundRect">
              <a:avLst>
                <a:gd name="adj" fmla="val 16667"/>
              </a:avLst>
            </a:prstGeom>
            <a:solidFill>
              <a:srgbClr val="2E86AB"/>
            </a:solidFill>
            <a:ln>
              <a:noFill/>
            </a:ln>
          </p:spPr>
        </p:sp>
        <p:sp>
          <p:nvSpPr>
            <p:cNvPr id="22" name="TextBox 22"/>
            <p:cNvSpPr txBox="1"/>
            <p:nvPr/>
          </p:nvSpPr>
          <p:spPr>
            <a:xfrm>
              <a:off x="4413885" y="1326356"/>
              <a:ext cx="412888"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ORTA</a:t>
              </a:r>
            </a:p>
          </p:txBody>
        </p:sp>
        <p:sp>
          <p:nvSpPr>
            <p:cNvPr id="23" name="Rectangle 23"/>
            <p:cNvSpPr/>
            <p:nvPr/>
          </p:nvSpPr>
          <p:spPr>
            <a:xfrm>
              <a:off x="4191000" y="1676400"/>
              <a:ext cx="3352800" cy="1390650"/>
            </a:xfrm>
            <a:prstGeom prst="roundRect">
              <a:avLst>
                <a:gd name="adj" fmla="val 5479"/>
              </a:avLst>
            </a:prstGeom>
            <a:solidFill>
              <a:srgbClr val="FFFFFF"/>
            </a:solidFill>
            <a:ln w="9525">
              <a:solidFill>
                <a:srgbClr val="B8CBD3"/>
              </a:solidFill>
            </a:ln>
          </p:spPr>
        </p:sp>
        <p:sp>
          <p:nvSpPr>
            <p:cNvPr id="24" name="TextBox 24"/>
            <p:cNvSpPr txBox="1"/>
            <p:nvPr/>
          </p:nvSpPr>
          <p:spPr>
            <a:xfrm>
              <a:off x="4413885" y="1821656"/>
              <a:ext cx="247877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3. Rezervasyon iptal uç noktası</a:t>
              </a:r>
            </a:p>
          </p:txBody>
        </p:sp>
        <p:sp>
          <p:nvSpPr>
            <p:cNvPr id="25" name="TextBox 25"/>
            <p:cNvSpPr txBox="1"/>
            <p:nvPr/>
          </p:nvSpPr>
          <p:spPr>
            <a:xfrm>
              <a:off x="4414647" y="2066449"/>
              <a:ext cx="229629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Sahibi veya görevli tarafından iptal</a:t>
              </a:r>
            </a:p>
          </p:txBody>
        </p:sp>
        <p:sp>
          <p:nvSpPr>
            <p:cNvPr id="26" name="TextBox 26"/>
            <p:cNvSpPr txBox="1"/>
            <p:nvPr/>
          </p:nvSpPr>
          <p:spPr>
            <a:xfrm>
              <a:off x="4414647" y="2237899"/>
              <a:ext cx="2535663"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edilebilen bir DELETE uç noktası yazın.</a:t>
              </a:r>
            </a:p>
          </p:txBody>
        </p:sp>
        <p:sp>
          <p:nvSpPr>
            <p:cNvPr id="27" name="TextBox 27"/>
            <p:cNvSpPr txBox="1"/>
            <p:nvPr/>
          </p:nvSpPr>
          <p:spPr>
            <a:xfrm>
              <a:off x="4414647" y="2466499"/>
              <a:ext cx="234582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Controller + Service + RBAC</a:t>
              </a:r>
            </a:p>
          </p:txBody>
        </p:sp>
        <p:sp>
          <p:nvSpPr>
            <p:cNvPr id="28" name="Rectangle 28"/>
            <p:cNvSpPr/>
            <p:nvPr/>
          </p:nvSpPr>
          <p:spPr>
            <a:xfrm>
              <a:off x="4191000" y="3143250"/>
              <a:ext cx="3352800" cy="1390650"/>
            </a:xfrm>
            <a:prstGeom prst="roundRect">
              <a:avLst>
                <a:gd name="adj" fmla="val 5479"/>
              </a:avLst>
            </a:prstGeom>
            <a:solidFill>
              <a:srgbClr val="FFFFFF"/>
            </a:solidFill>
            <a:ln w="9525">
              <a:solidFill>
                <a:srgbClr val="B8CBD3"/>
              </a:solidFill>
            </a:ln>
          </p:spPr>
        </p:sp>
        <p:sp>
          <p:nvSpPr>
            <p:cNvPr id="29" name="TextBox 29"/>
            <p:cNvSpPr txBox="1"/>
            <p:nvPr/>
          </p:nvSpPr>
          <p:spPr>
            <a:xfrm>
              <a:off x="4413885" y="3288506"/>
              <a:ext cx="1885399"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4. Bakım geçmişi raporu</a:t>
              </a:r>
            </a:p>
          </p:txBody>
        </p:sp>
        <p:sp>
          <p:nvSpPr>
            <p:cNvPr id="30" name="TextBox 30"/>
            <p:cNvSpPr txBox="1"/>
            <p:nvPr/>
          </p:nvSpPr>
          <p:spPr>
            <a:xfrm>
              <a:off x="4414647" y="3533299"/>
              <a:ext cx="244166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Ekipman başına toplam bakım süresini</a:t>
              </a:r>
            </a:p>
          </p:txBody>
        </p:sp>
        <p:sp>
          <p:nvSpPr>
            <p:cNvPr id="31" name="TextBox 31"/>
            <p:cNvSpPr txBox="1"/>
            <p:nvPr/>
          </p:nvSpPr>
          <p:spPr>
            <a:xfrm>
              <a:off x="4414647" y="3704749"/>
              <a:ext cx="236481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hesaplayan bir rapor servisi ekleyin.</a:t>
              </a:r>
            </a:p>
          </p:txBody>
        </p:sp>
        <p:sp>
          <p:nvSpPr>
            <p:cNvPr id="32" name="TextBox 32"/>
            <p:cNvSpPr txBox="1"/>
            <p:nvPr/>
          </p:nvSpPr>
          <p:spPr>
            <a:xfrm>
              <a:off x="4414647" y="3933349"/>
              <a:ext cx="249288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Service + agregasyon sorgusu</a:t>
              </a:r>
            </a:p>
          </p:txBody>
        </p:sp>
      </p:grpSp>
      <p:grpSp>
        <p:nvGrpSpPr>
          <p:cNvPr id="39" name="col-orta2"/>
          <p:cNvGrpSpPr/>
          <p:nvPr/>
        </p:nvGrpSpPr>
        <p:grpSpPr>
          <a:xfrm>
            <a:off x="4191000" y="4610100"/>
            <a:ext cx="3352800" cy="1009650"/>
            <a:chOff x="4191000" y="4610100"/>
            <a:chExt cx="3352800" cy="1009650"/>
          </a:xfrm>
        </p:grpSpPr>
        <p:sp>
          <p:nvSpPr>
            <p:cNvPr id="34" name="Rectangle 34"/>
            <p:cNvSpPr/>
            <p:nvPr/>
          </p:nvSpPr>
          <p:spPr>
            <a:xfrm>
              <a:off x="4191000" y="4610100"/>
              <a:ext cx="3352800" cy="1009650"/>
            </a:xfrm>
            <a:prstGeom prst="roundRect">
              <a:avLst>
                <a:gd name="adj" fmla="val 7547"/>
              </a:avLst>
            </a:prstGeom>
            <a:solidFill>
              <a:srgbClr val="FFFFFF"/>
            </a:solidFill>
            <a:ln w="9525">
              <a:solidFill>
                <a:srgbClr val="B8CBD3"/>
              </a:solidFill>
            </a:ln>
          </p:spPr>
        </p:sp>
        <p:sp>
          <p:nvSpPr>
            <p:cNvPr id="35" name="TextBox 35"/>
            <p:cNvSpPr txBox="1"/>
            <p:nvPr/>
          </p:nvSpPr>
          <p:spPr>
            <a:xfrm>
              <a:off x="4413885" y="4736306"/>
              <a:ext cx="2375859"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5. Sensör eşik yapılandırması</a:t>
              </a:r>
            </a:p>
          </p:txBody>
        </p:sp>
        <p:sp>
          <p:nvSpPr>
            <p:cNvPr id="36" name="TextBox 36"/>
            <p:cNvSpPr txBox="1"/>
            <p:nvPr/>
          </p:nvSpPr>
          <p:spPr>
            <a:xfrm>
              <a:off x="4414647" y="4981099"/>
              <a:ext cx="233884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Sabit KRITIK_SICAKLIK_ESIGI değerini</a:t>
              </a:r>
            </a:p>
          </p:txBody>
        </p:sp>
        <p:sp>
          <p:nvSpPr>
            <p:cNvPr id="37" name="TextBox 37"/>
            <p:cNvSpPr txBox="1"/>
            <p:nvPr/>
          </p:nvSpPr>
          <p:spPr>
            <a:xfrm>
              <a:off x="4414647" y="5152549"/>
              <a:ext cx="274740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laboratuvara özgü, veritabanından okunan</a:t>
              </a:r>
            </a:p>
          </p:txBody>
        </p:sp>
        <p:sp>
          <p:nvSpPr>
            <p:cNvPr id="38" name="TextBox 38"/>
            <p:cNvSpPr txBox="1"/>
            <p:nvPr/>
          </p:nvSpPr>
          <p:spPr>
            <a:xfrm>
              <a:off x="4414647" y="5323999"/>
              <a:ext cx="150728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bir değere dönüştürün.</a:t>
              </a:r>
            </a:p>
          </p:txBody>
        </p:sp>
      </p:grpSp>
      <p:grpSp>
        <p:nvGrpSpPr>
          <p:cNvPr id="55" name="col-zor"/>
          <p:cNvGrpSpPr/>
          <p:nvPr/>
        </p:nvGrpSpPr>
        <p:grpSpPr>
          <a:xfrm>
            <a:off x="7772400" y="1219200"/>
            <a:ext cx="3352800" cy="4267200"/>
            <a:chOff x="7772400" y="1219200"/>
            <a:chExt cx="3352800" cy="4267200"/>
          </a:xfrm>
        </p:grpSpPr>
        <p:sp>
          <p:nvSpPr>
            <p:cNvPr id="40" name="Rectangle 40"/>
            <p:cNvSpPr/>
            <p:nvPr/>
          </p:nvSpPr>
          <p:spPr>
            <a:xfrm>
              <a:off x="7772400" y="1219200"/>
              <a:ext cx="3352800" cy="342900"/>
            </a:xfrm>
            <a:prstGeom prst="roundRect">
              <a:avLst>
                <a:gd name="adj" fmla="val 16667"/>
              </a:avLst>
            </a:prstGeom>
            <a:solidFill>
              <a:srgbClr val="12355B"/>
            </a:solidFill>
            <a:ln>
              <a:noFill/>
            </a:ln>
          </p:spPr>
        </p:sp>
        <p:sp>
          <p:nvSpPr>
            <p:cNvPr id="41" name="TextBox 41"/>
            <p:cNvSpPr txBox="1"/>
            <p:nvPr/>
          </p:nvSpPr>
          <p:spPr>
            <a:xfrm>
              <a:off x="7995285" y="1326356"/>
              <a:ext cx="320887"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ZOR</a:t>
              </a:r>
            </a:p>
          </p:txBody>
        </p:sp>
        <p:sp>
          <p:nvSpPr>
            <p:cNvPr id="42" name="Rectangle 42"/>
            <p:cNvSpPr/>
            <p:nvPr/>
          </p:nvSpPr>
          <p:spPr>
            <a:xfrm>
              <a:off x="7772400" y="1676400"/>
              <a:ext cx="3352800" cy="1866900"/>
            </a:xfrm>
            <a:prstGeom prst="roundRect">
              <a:avLst>
                <a:gd name="adj" fmla="val 4082"/>
              </a:avLst>
            </a:prstGeom>
            <a:solidFill>
              <a:srgbClr val="FFFFFF"/>
            </a:solidFill>
            <a:ln w="9525">
              <a:solidFill>
                <a:srgbClr val="B8CBD3"/>
              </a:solidFill>
            </a:ln>
          </p:spPr>
        </p:sp>
        <p:sp>
          <p:nvSpPr>
            <p:cNvPr id="43" name="TextBox 43"/>
            <p:cNvSpPr txBox="1"/>
            <p:nvPr/>
          </p:nvSpPr>
          <p:spPr>
            <a:xfrm>
              <a:off x="7995285" y="1821656"/>
              <a:ext cx="213854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6. Atomik çakışma denetimi</a:t>
              </a:r>
            </a:p>
          </p:txBody>
        </p:sp>
        <p:sp>
          <p:nvSpPr>
            <p:cNvPr id="44" name="TextBox 44"/>
            <p:cNvSpPr txBox="1"/>
            <p:nvPr/>
          </p:nvSpPr>
          <p:spPr>
            <a:xfrm>
              <a:off x="7996047" y="2066449"/>
              <a:ext cx="242263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tarihAraliklariCakisiyorMu mantığını</a:t>
              </a:r>
            </a:p>
          </p:txBody>
        </p:sp>
        <p:sp>
          <p:nvSpPr>
            <p:cNvPr id="45" name="TextBox 45"/>
            <p:cNvSpPr txBox="1"/>
            <p:nvPr/>
          </p:nvSpPr>
          <p:spPr>
            <a:xfrm>
              <a:off x="7996047" y="2237899"/>
              <a:ext cx="231863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veritabanı düzeyinde bir kısıt veya</a:t>
              </a:r>
            </a:p>
          </p:txBody>
        </p:sp>
        <p:sp>
          <p:nvSpPr>
            <p:cNvPr id="46" name="TextBox 46"/>
            <p:cNvSpPr txBox="1"/>
            <p:nvPr/>
          </p:nvSpPr>
          <p:spPr>
            <a:xfrm>
              <a:off x="7996047" y="2409349"/>
              <a:ext cx="265505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transaction + kilitleme ile yeniden yazın;</a:t>
              </a:r>
            </a:p>
          </p:txBody>
        </p:sp>
        <p:sp>
          <p:nvSpPr>
            <p:cNvPr id="47" name="TextBox 47"/>
            <p:cNvSpPr txBox="1"/>
            <p:nvPr/>
          </p:nvSpPr>
          <p:spPr>
            <a:xfrm>
              <a:off x="7996047" y="2580799"/>
              <a:ext cx="194264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eşzamanlı isteklerle sınayın.</a:t>
              </a:r>
            </a:p>
          </p:txBody>
        </p:sp>
        <p:sp>
          <p:nvSpPr>
            <p:cNvPr id="48" name="TextBox 48"/>
            <p:cNvSpPr txBox="1"/>
            <p:nvPr/>
          </p:nvSpPr>
          <p:spPr>
            <a:xfrm>
              <a:off x="7996047" y="2828449"/>
              <a:ext cx="2572338"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Repository + veritabanı + test</a:t>
              </a:r>
            </a:p>
          </p:txBody>
        </p:sp>
        <p:sp>
          <p:nvSpPr>
            <p:cNvPr id="49" name="Rectangle 49"/>
            <p:cNvSpPr/>
            <p:nvPr/>
          </p:nvSpPr>
          <p:spPr>
            <a:xfrm>
              <a:off x="7772400" y="3619500"/>
              <a:ext cx="3352800" cy="1866900"/>
            </a:xfrm>
            <a:prstGeom prst="roundRect">
              <a:avLst>
                <a:gd name="adj" fmla="val 4082"/>
              </a:avLst>
            </a:prstGeom>
            <a:solidFill>
              <a:srgbClr val="FFFFFF"/>
            </a:solidFill>
            <a:ln w="9525">
              <a:solidFill>
                <a:srgbClr val="B8CBD3"/>
              </a:solidFill>
            </a:ln>
          </p:spPr>
        </p:sp>
        <p:sp>
          <p:nvSpPr>
            <p:cNvPr id="50" name="TextBox 50"/>
            <p:cNvSpPr txBox="1"/>
            <p:nvPr/>
          </p:nvSpPr>
          <p:spPr>
            <a:xfrm>
              <a:off x="7995285" y="3764756"/>
              <a:ext cx="202799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7. Uçtan uca üretim hattı</a:t>
              </a:r>
            </a:p>
          </p:txBody>
        </p:sp>
        <p:sp>
          <p:nvSpPr>
            <p:cNvPr id="51" name="TextBox 51"/>
            <p:cNvSpPr txBox="1"/>
            <p:nvPr/>
          </p:nvSpPr>
          <p:spPr>
            <a:xfrm>
              <a:off x="7996047" y="4009549"/>
              <a:ext cx="228161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Nginx + Compose + rubrik denetimini</a:t>
              </a:r>
            </a:p>
          </p:txBody>
        </p:sp>
        <p:sp>
          <p:nvSpPr>
            <p:cNvPr id="52" name="TextBox 52"/>
            <p:cNvSpPr txBox="1"/>
            <p:nvPr/>
          </p:nvSpPr>
          <p:spPr>
            <a:xfrm>
              <a:off x="7996047" y="4180999"/>
              <a:ext cx="250826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bir CI/CD adımına bağlayın; başarısız</a:t>
              </a:r>
            </a:p>
          </p:txBody>
        </p:sp>
        <p:sp>
          <p:nvSpPr>
            <p:cNvPr id="53" name="TextBox 53"/>
            <p:cNvSpPr txBox="1"/>
            <p:nvPr/>
          </p:nvSpPr>
          <p:spPr>
            <a:xfrm>
              <a:off x="7996047" y="4352449"/>
              <a:ext cx="250993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rubrik maddesinde dağıtımı durdurun.</a:t>
              </a:r>
            </a:p>
          </p:txBody>
        </p:sp>
        <p:sp>
          <p:nvSpPr>
            <p:cNvPr id="54" name="TextBox 54"/>
            <p:cNvSpPr txBox="1"/>
            <p:nvPr/>
          </p:nvSpPr>
          <p:spPr>
            <a:xfrm>
              <a:off x="7996047" y="4600099"/>
              <a:ext cx="2137332"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Katman: Tüm sistem + otomasyon</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mimari"/>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0236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Katmanlı mimari</a:t>
              </a:r>
            </a:p>
          </p:txBody>
        </p:sp>
        <p:sp>
          <p:nvSpPr>
            <p:cNvPr id="8" name="TextBox 8"/>
            <p:cNvSpPr txBox="1"/>
            <p:nvPr/>
          </p:nvSpPr>
          <p:spPr>
            <a:xfrm>
              <a:off x="832104" y="1908810"/>
              <a:ext cx="2511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Controller, service ve repository</a:t>
              </a:r>
              <a:br/>
              <a:r>
                <a:rPr lang="tr-TR" sz="1200" dirty="0">
                  <a:solidFill>
                    <a:srgbClr val="172B3A"/>
                  </a:solidFill>
                  <a:latin typeface="+mn-lt"/>
                  <a:ea typeface="+mn-ea"/>
                  <a:cs typeface="+mn-cs"/>
                </a:rPr>
                <a:t>ayrımı; iş kuralları yalnızca</a:t>
              </a:r>
              <a:br/>
              <a:r>
                <a:rPr lang="tr-TR" sz="1200" dirty="0">
                  <a:solidFill>
                    <a:srgbClr val="172B3A"/>
                  </a:solidFill>
                  <a:latin typeface="+mn-lt"/>
                  <a:ea typeface="+mn-ea"/>
                  <a:cs typeface="+mn-cs"/>
                </a:rPr>
                <a:t>service katmanında yaşar.</a:t>
              </a:r>
            </a:p>
          </p:txBody>
        </p:sp>
      </p:grpSp>
      <p:grpSp>
        <p:nvGrpSpPr>
          <p:cNvPr id="13" name="summary-veri"/>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4425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İlişkisel veri modeli</a:t>
              </a:r>
            </a:p>
          </p:txBody>
        </p:sp>
        <p:sp>
          <p:nvSpPr>
            <p:cNvPr id="12" name="TextBox 12"/>
            <p:cNvSpPr txBox="1"/>
            <p:nvPr/>
          </p:nvSpPr>
          <p:spPr>
            <a:xfrm>
              <a:off x="4565904" y="1908810"/>
              <a:ext cx="2442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Prisma şeması; enum, indeks ve</a:t>
              </a:r>
              <a:br/>
              <a:r>
                <a:rPr lang="tr-TR" sz="1200" dirty="0">
                  <a:solidFill>
                    <a:srgbClr val="172B3A"/>
                  </a:solidFill>
                  <a:latin typeface="+mn-lt"/>
                  <a:ea typeface="+mn-ea"/>
                  <a:cs typeface="+mn-cs"/>
                </a:rPr>
                <a:t>ilişkilerle tutarlılığı veritabanı</a:t>
              </a:r>
              <a:br/>
              <a:r>
                <a:rPr lang="tr-TR" sz="1200" dirty="0">
                  <a:solidFill>
                    <a:srgbClr val="172B3A"/>
                  </a:solidFill>
                  <a:latin typeface="+mn-lt"/>
                  <a:ea typeface="+mn-ea"/>
                  <a:cs typeface="+mn-cs"/>
                </a:rPr>
                <a:t>düzeyinde güvenceye alır.</a:t>
              </a:r>
            </a:p>
          </p:txBody>
        </p:sp>
      </p:grpSp>
      <p:grpSp>
        <p:nvGrpSpPr>
          <p:cNvPr id="17" name="summary-guvenlik"/>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2907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Uçtan uca güvenlik</a:t>
              </a:r>
            </a:p>
          </p:txBody>
        </p:sp>
        <p:sp>
          <p:nvSpPr>
            <p:cNvPr id="16" name="TextBox 16"/>
            <p:cNvSpPr txBox="1"/>
            <p:nvPr/>
          </p:nvSpPr>
          <p:spPr>
            <a:xfrm>
              <a:off x="8299704" y="1908810"/>
              <a:ext cx="2161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JWT kimlik doğrulama, rol</a:t>
              </a:r>
              <a:br/>
              <a:r>
                <a:rPr lang="tr-TR" sz="1200" dirty="0">
                  <a:solidFill>
                    <a:srgbClr val="172B3A"/>
                  </a:solidFill>
                  <a:latin typeface="+mn-lt"/>
                  <a:ea typeface="+mn-ea"/>
                  <a:cs typeface="+mn-cs"/>
                </a:rPr>
                <a:t>tabanlı yetkilendirme (RBAC)</a:t>
              </a:r>
              <a:br/>
              <a:r>
                <a:rPr lang="tr-TR" sz="1200" dirty="0">
                  <a:solidFill>
                    <a:srgbClr val="172B3A"/>
                  </a:solidFill>
                  <a:latin typeface="+mn-lt"/>
                  <a:ea typeface="+mn-ea"/>
                  <a:cs typeface="+mn-cs"/>
                </a:rPr>
                <a:t>ve Nginx güvenlik başlıkları.</a:t>
              </a:r>
            </a:p>
          </p:txBody>
        </p:sp>
      </p:grpSp>
      <p:grpSp>
        <p:nvGrpSpPr>
          <p:cNvPr id="21" name="summary-tes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212583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Sözleşme ve test</a:t>
              </a:r>
            </a:p>
          </p:txBody>
        </p:sp>
        <p:sp>
          <p:nvSpPr>
            <p:cNvPr id="20" name="TextBox 20"/>
            <p:cNvSpPr txBox="1"/>
            <p:nvPr/>
          </p:nvSpPr>
          <p:spPr>
            <a:xfrm>
              <a:off x="832104" y="3718560"/>
              <a:ext cx="2305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Rubrik maddeleri otomatik</a:t>
              </a:r>
              <a:br/>
              <a:r>
                <a:rPr lang="tr-TR" sz="1200" dirty="0">
                  <a:solidFill>
                    <a:srgbClr val="172B3A"/>
                  </a:solidFill>
                  <a:latin typeface="+mn-lt"/>
                  <a:ea typeface="+mn-ea"/>
                  <a:cs typeface="+mn-cs"/>
                </a:rPr>
                <a:t>denetim fonksiyonlarına</a:t>
              </a:r>
              <a:br/>
              <a:r>
                <a:rPr lang="tr-TR" sz="1200" dirty="0">
                  <a:solidFill>
                    <a:srgbClr val="172B3A"/>
                  </a:solidFill>
                  <a:latin typeface="+mn-lt"/>
                  <a:ea typeface="+mn-ea"/>
                  <a:cs typeface="+mn-cs"/>
                </a:rPr>
                <a:t>bağlanarak kanıtlanabilir olur.</a:t>
              </a:r>
            </a:p>
          </p:txBody>
        </p:sp>
      </p:grpSp>
      <p:grpSp>
        <p:nvGrpSpPr>
          <p:cNvPr id="25" name="summary-dagitim"/>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7492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Konteyner ve dağıtım</a:t>
              </a:r>
            </a:p>
          </p:txBody>
        </p:sp>
        <p:sp>
          <p:nvSpPr>
            <p:cNvPr id="24" name="TextBox 24"/>
            <p:cNvSpPr txBox="1"/>
            <p:nvPr/>
          </p:nvSpPr>
          <p:spPr>
            <a:xfrm>
              <a:off x="4565904" y="3718560"/>
              <a:ext cx="22524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Docker Compose ile çok</a:t>
              </a:r>
              <a:br/>
              <a:r>
                <a:rPr lang="tr-TR" sz="1200" dirty="0">
                  <a:solidFill>
                    <a:srgbClr val="172B3A"/>
                  </a:solidFill>
                  <a:latin typeface="+mn-lt"/>
                  <a:ea typeface="+mn-ea"/>
                  <a:cs typeface="+mn-cs"/>
                </a:rPr>
                <a:t>servisli paketleme; Nginx ters</a:t>
              </a:r>
              <a:br/>
              <a:r>
                <a:rPr lang="tr-TR" sz="1200" dirty="0">
                  <a:solidFill>
                    <a:srgbClr val="172B3A"/>
                  </a:solidFill>
                  <a:latin typeface="+mn-lt"/>
                  <a:ea typeface="+mn-ea"/>
                  <a:cs typeface="+mn-cs"/>
                </a:rPr>
                <a:t>vekil arkasında yayına alma.</a:t>
              </a:r>
            </a:p>
          </p:txBody>
        </p:sp>
      </p:grpSp>
      <p:grpSp>
        <p:nvGrpSpPr>
          <p:cNvPr id="29" name="summary-basarim"/>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7488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Başarım farkındalığı</a:t>
              </a:r>
            </a:p>
          </p:txBody>
        </p:sp>
        <p:sp>
          <p:nvSpPr>
            <p:cNvPr id="28" name="TextBox 28"/>
            <p:cNvSpPr txBox="1"/>
            <p:nvPr/>
          </p:nvSpPr>
          <p:spPr>
            <a:xfrm>
              <a:off x="8299704" y="3718560"/>
              <a:ext cx="2115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Gecikme bütçesi; veritabanı</a:t>
              </a:r>
              <a:br/>
              <a:r>
                <a:rPr lang="tr-TR" sz="1200" dirty="0">
                  <a:solidFill>
                    <a:srgbClr val="172B3A"/>
                  </a:solidFill>
                  <a:latin typeface="+mn-lt"/>
                  <a:ea typeface="+mn-ea"/>
                  <a:cs typeface="+mn-cs"/>
                </a:rPr>
                <a:t>işlemi baskın maliyet, ölçüm</a:t>
              </a:r>
              <a:br/>
              <a:r>
                <a:rPr lang="tr-TR" sz="1200" dirty="0">
                  <a:solidFill>
                    <a:srgbClr val="172B3A"/>
                  </a:solidFill>
                  <a:latin typeface="+mn-lt"/>
                  <a:ea typeface="+mn-ea"/>
                  <a:cs typeface="+mn-cs"/>
                </a:rPr>
                <a:t>olmadan iyileştirme olmaz.</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992392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Capstone'un değeri tek bir yeni teknik değil, önceki bölümlerin bütünleşmesidir.</a:t>
              </a:r>
            </a:p>
          </p:txBody>
        </p:sp>
        <p:sp>
          <p:nvSpPr>
            <p:cNvPr id="32" name="TextBox 32"/>
            <p:cNvSpPr txBox="1"/>
            <p:nvPr/>
          </p:nvSpPr>
          <p:spPr>
            <a:xfrm>
              <a:off x="906399" y="5583079"/>
              <a:ext cx="871142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Savunulabilir mimari, doğrulanabilir kurallarla kanıtlanır — sadece çalışmakla değil.</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7408" y="331470"/>
            <a:ext cx="3139433" cy="469392"/>
            <a:chOff x="597408" y="331470"/>
            <a:chExt cx="3139433" cy="469392"/>
          </a:xfrm>
        </p:grpSpPr>
        <p:sp>
          <p:nvSpPr>
            <p:cNvPr id="4" name="TextBox 4"/>
            <p:cNvSpPr txBox="1"/>
            <p:nvPr/>
          </p:nvSpPr>
          <p:spPr>
            <a:xfrm>
              <a:off x="597408" y="331470"/>
              <a:ext cx="3139433"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Sözlük ve kaynakça</a:t>
              </a:r>
            </a:p>
          </p:txBody>
        </p:sp>
      </p:grpSp>
      <p:grpSp>
        <p:nvGrpSpPr>
          <p:cNvPr id="23" name="glossary-col"/>
          <p:cNvGrpSpPr/>
          <p:nvPr/>
        </p:nvGrpSpPr>
        <p:grpSpPr>
          <a:xfrm>
            <a:off x="609600" y="1219200"/>
            <a:ext cx="5334000" cy="4381500"/>
            <a:chOff x="609600" y="1219200"/>
            <a:chExt cx="5334000" cy="4381500"/>
          </a:xfrm>
        </p:grpSpPr>
        <p:sp>
          <p:nvSpPr>
            <p:cNvPr id="6" name="Rectangle 6"/>
            <p:cNvSpPr/>
            <p:nvPr/>
          </p:nvSpPr>
          <p:spPr>
            <a:xfrm>
              <a:off x="609600" y="1219200"/>
              <a:ext cx="5334000" cy="381000"/>
            </a:xfrm>
            <a:prstGeom prst="roundRect">
              <a:avLst>
                <a:gd name="adj" fmla="val 15000"/>
              </a:avLst>
            </a:prstGeom>
            <a:solidFill>
              <a:srgbClr val="12355B"/>
            </a:solidFill>
            <a:ln>
              <a:noFill/>
            </a:ln>
          </p:spPr>
        </p:sp>
        <p:sp>
          <p:nvSpPr>
            <p:cNvPr id="7" name="TextBox 7"/>
            <p:cNvSpPr txBox="1"/>
            <p:nvPr/>
          </p:nvSpPr>
          <p:spPr>
            <a:xfrm>
              <a:off x="832104" y="1337310"/>
              <a:ext cx="53441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Sözlük</a:t>
              </a:r>
            </a:p>
          </p:txBody>
        </p:sp>
        <p:sp>
          <p:nvSpPr>
            <p:cNvPr id="8" name="Rectangle 8"/>
            <p:cNvSpPr/>
            <p:nvPr/>
          </p:nvSpPr>
          <p:spPr>
            <a:xfrm>
              <a:off x="609600" y="1714500"/>
              <a:ext cx="5334000" cy="3886200"/>
            </a:xfrm>
            <a:prstGeom prst="roundRect">
              <a:avLst>
                <a:gd name="adj" fmla="val 1961"/>
              </a:avLst>
            </a:prstGeom>
            <a:solidFill>
              <a:srgbClr val="FFFFFF"/>
            </a:solidFill>
            <a:ln w="9525">
              <a:solidFill>
                <a:srgbClr val="B8CBD3"/>
              </a:solidFill>
            </a:ln>
          </p:spPr>
        </p:sp>
        <p:sp>
          <p:nvSpPr>
            <p:cNvPr id="9" name="TextBox 9"/>
            <p:cNvSpPr txBox="1"/>
            <p:nvPr/>
          </p:nvSpPr>
          <p:spPr>
            <a:xfrm>
              <a:off x="832104" y="1889760"/>
              <a:ext cx="196835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Rezervasyon çakışması</a:t>
              </a:r>
            </a:p>
          </p:txBody>
        </p:sp>
        <p:sp>
          <p:nvSpPr>
            <p:cNvPr id="10" name="TextBox 10"/>
            <p:cNvSpPr txBox="1"/>
            <p:nvPr/>
          </p:nvSpPr>
          <p:spPr>
            <a:xfrm>
              <a:off x="832866" y="2115502"/>
              <a:ext cx="376088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Aynı ekipman için tarih aralıkları kesişen iki taleptir.</a:t>
              </a:r>
            </a:p>
          </p:txBody>
        </p:sp>
        <p:sp>
          <p:nvSpPr>
            <p:cNvPr id="11" name="Line 11"/>
            <p:cNvSpPr/>
            <p:nvPr/>
          </p:nvSpPr>
          <p:spPr>
            <a:xfrm>
              <a:off x="838200" y="2400300"/>
              <a:ext cx="4876800" cy="9525"/>
            </a:xfrm>
            <a:custGeom>
              <a:avLst/>
              <a:gdLst/>
              <a:ahLst/>
              <a:cxnLst/>
              <a:rect l="l" t="t" r="r" b="b"/>
              <a:pathLst>
                <a:path w="4876800" h="9525">
                  <a:moveTo>
                    <a:pt x="0" y="0"/>
                  </a:moveTo>
                  <a:lnTo>
                    <a:pt x="4876800" y="0"/>
                  </a:lnTo>
                </a:path>
              </a:pathLst>
            </a:custGeom>
            <a:noFill/>
            <a:ln w="9525">
              <a:solidFill>
                <a:srgbClr val="B8CBD3"/>
              </a:solidFill>
            </a:ln>
          </p:spPr>
        </p:sp>
        <p:sp>
          <p:nvSpPr>
            <p:cNvPr id="12" name="TextBox 12"/>
            <p:cNvSpPr txBox="1"/>
            <p:nvPr/>
          </p:nvSpPr>
          <p:spPr>
            <a:xfrm>
              <a:off x="832104" y="2518410"/>
              <a:ext cx="254550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Yarış durumu (race condition)</a:t>
              </a:r>
            </a:p>
          </p:txBody>
        </p:sp>
        <p:sp>
          <p:nvSpPr>
            <p:cNvPr id="13" name="TextBox 13"/>
            <p:cNvSpPr txBox="1"/>
            <p:nvPr/>
          </p:nvSpPr>
          <p:spPr>
            <a:xfrm>
              <a:off x="832866" y="2744152"/>
              <a:ext cx="426280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Eşzamanlı işlemlerin sıralamaya bağlı hatalı sonuç üretmesi.</a:t>
              </a:r>
            </a:p>
          </p:txBody>
        </p:sp>
        <p:sp>
          <p:nvSpPr>
            <p:cNvPr id="14" name="Line 14"/>
            <p:cNvSpPr/>
            <p:nvPr/>
          </p:nvSpPr>
          <p:spPr>
            <a:xfrm>
              <a:off x="838200" y="3028950"/>
              <a:ext cx="4876800" cy="9525"/>
            </a:xfrm>
            <a:custGeom>
              <a:avLst/>
              <a:gdLst/>
              <a:ahLst/>
              <a:cxnLst/>
              <a:rect l="l" t="t" r="r" b="b"/>
              <a:pathLst>
                <a:path w="4876800" h="9525">
                  <a:moveTo>
                    <a:pt x="0" y="0"/>
                  </a:moveTo>
                  <a:lnTo>
                    <a:pt x="4876800" y="0"/>
                  </a:lnTo>
                </a:path>
              </a:pathLst>
            </a:custGeom>
            <a:noFill/>
            <a:ln w="9525">
              <a:solidFill>
                <a:srgbClr val="B8CBD3"/>
              </a:solidFill>
            </a:ln>
          </p:spPr>
        </p:sp>
        <p:sp>
          <p:nvSpPr>
            <p:cNvPr id="15" name="TextBox 15"/>
            <p:cNvSpPr txBox="1"/>
            <p:nvPr/>
          </p:nvSpPr>
          <p:spPr>
            <a:xfrm>
              <a:off x="832104" y="3147060"/>
              <a:ext cx="4064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RBAC</a:t>
              </a:r>
            </a:p>
          </p:txBody>
        </p:sp>
        <p:sp>
          <p:nvSpPr>
            <p:cNvPr id="16" name="TextBox 16"/>
            <p:cNvSpPr txBox="1"/>
            <p:nvPr/>
          </p:nvSpPr>
          <p:spPr>
            <a:xfrm>
              <a:off x="832866" y="3372802"/>
              <a:ext cx="414261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Rol tabanlı erişim denetimi; yetkiyi kullanıcı rolüne bağlar.</a:t>
              </a:r>
            </a:p>
          </p:txBody>
        </p:sp>
        <p:sp>
          <p:nvSpPr>
            <p:cNvPr id="17" name="Line 17"/>
            <p:cNvSpPr/>
            <p:nvPr/>
          </p:nvSpPr>
          <p:spPr>
            <a:xfrm>
              <a:off x="838200" y="3657600"/>
              <a:ext cx="4876800" cy="9525"/>
            </a:xfrm>
            <a:custGeom>
              <a:avLst/>
              <a:gdLst/>
              <a:ahLst/>
              <a:cxnLst/>
              <a:rect l="l" t="t" r="r" b="b"/>
              <a:pathLst>
                <a:path w="4876800" h="9525">
                  <a:moveTo>
                    <a:pt x="0" y="0"/>
                  </a:moveTo>
                  <a:lnTo>
                    <a:pt x="4876800" y="0"/>
                  </a:lnTo>
                </a:path>
              </a:pathLst>
            </a:custGeom>
            <a:noFill/>
            <a:ln w="9525">
              <a:solidFill>
                <a:srgbClr val="B8CBD3"/>
              </a:solidFill>
            </a:ln>
          </p:spPr>
        </p:sp>
        <p:sp>
          <p:nvSpPr>
            <p:cNvPr id="18" name="TextBox 18"/>
            <p:cNvSpPr txBox="1"/>
            <p:nvPr/>
          </p:nvSpPr>
          <p:spPr>
            <a:xfrm>
              <a:off x="832104" y="3775710"/>
              <a:ext cx="212966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Transaction (işlem bloğu)</a:t>
              </a:r>
            </a:p>
          </p:txBody>
        </p:sp>
        <p:sp>
          <p:nvSpPr>
            <p:cNvPr id="19" name="TextBox 19"/>
            <p:cNvSpPr txBox="1"/>
            <p:nvPr/>
          </p:nvSpPr>
          <p:spPr>
            <a:xfrm>
              <a:off x="832866" y="4001452"/>
              <a:ext cx="400127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Birden çok veritabanı adımını atomik biçimde birleştirir.</a:t>
              </a:r>
            </a:p>
          </p:txBody>
        </p:sp>
        <p:sp>
          <p:nvSpPr>
            <p:cNvPr id="20" name="Line 20"/>
            <p:cNvSpPr/>
            <p:nvPr/>
          </p:nvSpPr>
          <p:spPr>
            <a:xfrm>
              <a:off x="838200" y="4286250"/>
              <a:ext cx="4876800" cy="9525"/>
            </a:xfrm>
            <a:custGeom>
              <a:avLst/>
              <a:gdLst/>
              <a:ahLst/>
              <a:cxnLst/>
              <a:rect l="l" t="t" r="r" b="b"/>
              <a:pathLst>
                <a:path w="4876800" h="9525">
                  <a:moveTo>
                    <a:pt x="0" y="0"/>
                  </a:moveTo>
                  <a:lnTo>
                    <a:pt x="4876800" y="0"/>
                  </a:lnTo>
                </a:path>
              </a:pathLst>
            </a:custGeom>
            <a:noFill/>
            <a:ln w="9525">
              <a:solidFill>
                <a:srgbClr val="B8CBD3"/>
              </a:solidFill>
            </a:ln>
          </p:spPr>
        </p:sp>
        <p:sp>
          <p:nvSpPr>
            <p:cNvPr id="21" name="TextBox 21"/>
            <p:cNvSpPr txBox="1"/>
            <p:nvPr/>
          </p:nvSpPr>
          <p:spPr>
            <a:xfrm>
              <a:off x="832104" y="4404360"/>
              <a:ext cx="27828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Gecikme bütçesi (latency budget)</a:t>
              </a:r>
            </a:p>
          </p:txBody>
        </p:sp>
        <p:sp>
          <p:nvSpPr>
            <p:cNvPr id="22" name="TextBox 22"/>
            <p:cNvSpPr txBox="1"/>
            <p:nvPr/>
          </p:nvSpPr>
          <p:spPr>
            <a:xfrm>
              <a:off x="832866" y="4630102"/>
              <a:ext cx="376118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Bir isteğin uçtan uca süresinin aşama aşama dağılımı.</a:t>
              </a:r>
            </a:p>
          </p:txBody>
        </p:sp>
      </p:grpSp>
      <p:grpSp>
        <p:nvGrpSpPr>
          <p:cNvPr id="37" name="reference-col"/>
          <p:cNvGrpSpPr/>
          <p:nvPr/>
        </p:nvGrpSpPr>
        <p:grpSpPr>
          <a:xfrm>
            <a:off x="6248400" y="1219200"/>
            <a:ext cx="5334000" cy="4381500"/>
            <a:chOff x="6248400" y="1219200"/>
            <a:chExt cx="5334000" cy="4381500"/>
          </a:xfrm>
        </p:grpSpPr>
        <p:sp>
          <p:nvSpPr>
            <p:cNvPr id="24" name="Rectangle 24"/>
            <p:cNvSpPr/>
            <p:nvPr/>
          </p:nvSpPr>
          <p:spPr>
            <a:xfrm>
              <a:off x="6248400" y="1219200"/>
              <a:ext cx="5334000" cy="381000"/>
            </a:xfrm>
            <a:prstGeom prst="roundRect">
              <a:avLst>
                <a:gd name="adj" fmla="val 15000"/>
              </a:avLst>
            </a:prstGeom>
            <a:solidFill>
              <a:srgbClr val="12355B"/>
            </a:solidFill>
            <a:ln>
              <a:noFill/>
            </a:ln>
          </p:spPr>
        </p:sp>
        <p:sp>
          <p:nvSpPr>
            <p:cNvPr id="25" name="TextBox 25"/>
            <p:cNvSpPr txBox="1"/>
            <p:nvPr/>
          </p:nvSpPr>
          <p:spPr>
            <a:xfrm>
              <a:off x="6470904" y="1337310"/>
              <a:ext cx="1426178"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Kaynakça (seçki)</a:t>
              </a:r>
            </a:p>
          </p:txBody>
        </p:sp>
        <p:sp>
          <p:nvSpPr>
            <p:cNvPr id="26" name="Rectangle 26"/>
            <p:cNvSpPr/>
            <p:nvPr/>
          </p:nvSpPr>
          <p:spPr>
            <a:xfrm>
              <a:off x="6248400" y="1714500"/>
              <a:ext cx="5334000" cy="3886200"/>
            </a:xfrm>
            <a:prstGeom prst="roundRect">
              <a:avLst>
                <a:gd name="adj" fmla="val 1961"/>
              </a:avLst>
            </a:prstGeom>
            <a:solidFill>
              <a:srgbClr val="FFFFFF"/>
            </a:solidFill>
            <a:ln w="9525">
              <a:solidFill>
                <a:srgbClr val="B8CBD3"/>
              </a:solidFill>
            </a:ln>
          </p:spPr>
        </p:sp>
        <p:sp>
          <p:nvSpPr>
            <p:cNvPr id="27" name="TextBox 27"/>
            <p:cNvSpPr txBox="1"/>
            <p:nvPr/>
          </p:nvSpPr>
          <p:spPr>
            <a:xfrm>
              <a:off x="6471666" y="1886902"/>
              <a:ext cx="385773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Prisma ORM Belgeleri — şema, ilişki ve migration rehberi</a:t>
              </a:r>
            </a:p>
          </p:txBody>
        </p:sp>
        <p:sp>
          <p:nvSpPr>
            <p:cNvPr id="28" name="TextBox 28"/>
            <p:cNvSpPr txBox="1"/>
            <p:nvPr/>
          </p:nvSpPr>
          <p:spPr>
            <a:xfrm>
              <a:off x="6471666" y="2153602"/>
              <a:ext cx="389524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Docker Compose Resmi Belgeleri — çoklu servis düzenleme</a:t>
              </a:r>
            </a:p>
          </p:txBody>
        </p:sp>
        <p:sp>
          <p:nvSpPr>
            <p:cNvPr id="29" name="TextBox 29"/>
            <p:cNvSpPr txBox="1"/>
            <p:nvPr/>
          </p:nvSpPr>
          <p:spPr>
            <a:xfrm>
              <a:off x="6471666" y="2420302"/>
              <a:ext cx="349767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Nginx Belgeleri — ters vekil, TLS ve oran sınırlama</a:t>
              </a:r>
            </a:p>
          </p:txBody>
        </p:sp>
        <p:sp>
          <p:nvSpPr>
            <p:cNvPr id="30" name="TextBox 30"/>
            <p:cNvSpPr txBox="1"/>
            <p:nvPr/>
          </p:nvSpPr>
          <p:spPr>
            <a:xfrm>
              <a:off x="6471666" y="2687002"/>
              <a:ext cx="333910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OWASP API Security Top 10 — API güvenlik ilkeleri</a:t>
              </a:r>
            </a:p>
          </p:txBody>
        </p:sp>
        <p:sp>
          <p:nvSpPr>
            <p:cNvPr id="31" name="TextBox 31"/>
            <p:cNvSpPr txBox="1"/>
            <p:nvPr/>
          </p:nvSpPr>
          <p:spPr>
            <a:xfrm>
              <a:off x="6471666" y="2953702"/>
              <a:ext cx="352070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JWT (RFC 7519) — belirteç tabanlı kimlik doğrulama</a:t>
              </a:r>
            </a:p>
          </p:txBody>
        </p:sp>
        <p:sp>
          <p:nvSpPr>
            <p:cNvPr id="32" name="TextBox 32"/>
            <p:cNvSpPr txBox="1"/>
            <p:nvPr/>
          </p:nvSpPr>
          <p:spPr>
            <a:xfrm>
              <a:off x="6471666" y="3220402"/>
              <a:ext cx="398379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PostgreSQL Belgeleri — transaction ve kilitleme semantiği</a:t>
              </a:r>
            </a:p>
          </p:txBody>
        </p:sp>
        <p:sp>
          <p:nvSpPr>
            <p:cNvPr id="33" name="TextBox 33"/>
            <p:cNvSpPr txBox="1"/>
            <p:nvPr/>
          </p:nvSpPr>
          <p:spPr>
            <a:xfrm>
              <a:off x="6471666" y="3487102"/>
              <a:ext cx="445516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Martin Fowler, Patterns of Enterprise Application Architecture</a:t>
              </a:r>
            </a:p>
          </p:txBody>
        </p:sp>
        <p:sp>
          <p:nvSpPr>
            <p:cNvPr id="34" name="TextBox 34"/>
            <p:cNvSpPr txBox="1"/>
            <p:nvPr/>
          </p:nvSpPr>
          <p:spPr>
            <a:xfrm>
              <a:off x="6471666" y="3753802"/>
              <a:ext cx="385606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Node.js / Express Belgeleri — katmanlı sunucu tasarımı</a:t>
              </a:r>
            </a:p>
          </p:txBody>
        </p:sp>
        <p:sp>
          <p:nvSpPr>
            <p:cNvPr id="35" name="TextBox 35"/>
            <p:cNvSpPr txBox="1"/>
            <p:nvPr/>
          </p:nvSpPr>
          <p:spPr>
            <a:xfrm>
              <a:off x="6472047" y="4085749"/>
              <a:ext cx="344828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Tam bibliyografik künyeler kaynak metindeki Kaynakça</a:t>
              </a:r>
            </a:p>
          </p:txBody>
        </p:sp>
        <p:sp>
          <p:nvSpPr>
            <p:cNvPr id="36" name="TextBox 36"/>
            <p:cNvSpPr txBox="1"/>
            <p:nvPr/>
          </p:nvSpPr>
          <p:spPr>
            <a:xfrm>
              <a:off x="6472047" y="4276249"/>
              <a:ext cx="280677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bölümünde eksiksiz biçimde yer almaktadır.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19600" y="3810000"/>
            <a:ext cx="2590800" cy="1"/>
          </a:xfrm>
          <a:prstGeom prst="line">
            <a:avLst/>
          </a:prstGeom>
          <a:noFill/>
          <a:ln w="28575">
            <a:solidFill>
              <a:srgbClr val="00A6A6"/>
            </a:solidFill>
            <a:tailEnd type="arrow" w="lg" len="lg"/>
          </a:ln>
        </p:spPr>
      </p:sp>
      <p:grpSp>
        <p:nvGrpSpPr>
          <p:cNvPr id="6" name="page-title"/>
          <p:cNvGrpSpPr/>
          <p:nvPr/>
        </p:nvGrpSpPr>
        <p:grpSpPr>
          <a:xfrm>
            <a:off x="595122" y="282892"/>
            <a:ext cx="6488074" cy="557403"/>
            <a:chOff x="595122" y="282892"/>
            <a:chExt cx="6488074" cy="557403"/>
          </a:xfrm>
        </p:grpSpPr>
        <p:sp>
          <p:nvSpPr>
            <p:cNvPr id="5" name="TextBox 5"/>
            <p:cNvSpPr txBox="1"/>
            <p:nvPr/>
          </p:nvSpPr>
          <p:spPr>
            <a:xfrm>
              <a:off x="595122" y="282892"/>
              <a:ext cx="64880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Kitabın kapanışı: sıradaki adım</a:t>
              </a:r>
            </a:p>
          </p:txBody>
        </p:sp>
      </p:grpSp>
      <p:grpSp>
        <p:nvGrpSpPr>
          <p:cNvPr id="8" name="bridge-claim"/>
          <p:cNvGrpSpPr/>
          <p:nvPr/>
        </p:nvGrpSpPr>
        <p:grpSpPr>
          <a:xfrm>
            <a:off x="599694" y="1484948"/>
            <a:ext cx="8737092" cy="724281"/>
            <a:chOff x="599694" y="1484948"/>
            <a:chExt cx="8737092" cy="724281"/>
          </a:xfrm>
        </p:grpSpPr>
        <p:sp>
          <p:nvSpPr>
            <p:cNvPr id="7" name="TextBox 7"/>
            <p:cNvSpPr txBox="1"/>
            <p:nvPr/>
          </p:nvSpPr>
          <p:spPr>
            <a:xfrm>
              <a:off x="599694" y="1484948"/>
              <a:ext cx="873709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Bu, kitabın son bölümüdür. Önceki 17 bölümde öğrendiğiniz her şey artık</a:t>
              </a:r>
              <a:br/>
              <a:r>
                <a:rPr lang="tr-TR" sz="1950" dirty="0">
                  <a:solidFill>
                    <a:srgbClr val="172B3A"/>
                  </a:solidFill>
                  <a:latin typeface="+mn-lt"/>
                  <a:ea typeface="+mn-ea"/>
                  <a:cs typeface="+mn-cs"/>
                </a:rPr>
                <a:t>tek, savunulabilir bir sistemde bütünleşmiş durumda.</a:t>
              </a:r>
            </a:p>
          </p:txBody>
        </p:sp>
      </p:grpSp>
      <p:grpSp>
        <p:nvGrpSpPr>
          <p:cNvPr id="14" name="bridge-now"/>
          <p:cNvGrpSpPr/>
          <p:nvPr/>
        </p:nvGrpSpPr>
        <p:grpSpPr>
          <a:xfrm>
            <a:off x="599694" y="2799398"/>
            <a:ext cx="3064764" cy="1834419"/>
            <a:chOff x="599694" y="2799398"/>
            <a:chExt cx="3064764"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64464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Katmanlı, güvenli ve test</a:t>
              </a:r>
              <a:br/>
              <a:r>
                <a:rPr lang="tr-TR" sz="1580" dirty="0">
                  <a:solidFill>
                    <a:srgbClr val="172B3A"/>
                  </a:solidFill>
                  <a:latin typeface="+mn-lt"/>
                  <a:ea typeface="+mn-ea"/>
                  <a:cs typeface="+mn-cs"/>
                </a:rPr>
                <a:t>edilebilir bir servis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81520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rubrikle kendi sisteminizi</a:t>
              </a:r>
              <a:br/>
              <a:r>
                <a:rPr lang="tr-TR" sz="1580" dirty="0">
                  <a:solidFill>
                    <a:srgbClr val="172B3A"/>
                  </a:solidFill>
                  <a:latin typeface="+mn-lt"/>
                  <a:ea typeface="+mn-ea"/>
                  <a:cs typeface="+mn-cs"/>
                </a:rPr>
                <a:t>nesnel biçimde savunmak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579108"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SIRADAKİ ADIM</a:t>
              </a:r>
            </a:p>
          </p:txBody>
        </p:sp>
        <p:sp>
          <p:nvSpPr>
            <p:cNvPr id="17" name="TextBox 17"/>
            <p:cNvSpPr txBox="1"/>
            <p:nvPr/>
          </p:nvSpPr>
          <p:spPr>
            <a:xfrm>
              <a:off x="7303770" y="3319462"/>
              <a:ext cx="2408158"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Kendi projenizi</a:t>
              </a:r>
              <a:br/>
              <a:r>
                <a:rPr lang="tr-TR" sz="2250" b="1" dirty="0">
                  <a:solidFill>
                    <a:srgbClr val="FFFFFF"/>
                  </a:solidFill>
                  <a:latin typeface="+mn-lt"/>
                  <a:ea typeface="+mn-ea"/>
                  <a:cs typeface="+mn-cs"/>
                </a:rPr>
                <a:t>üretime taşıyın</a:t>
              </a:r>
            </a:p>
          </p:txBody>
        </p:sp>
        <p:sp>
          <p:nvSpPr>
            <p:cNvPr id="18" name="TextBox 18"/>
            <p:cNvSpPr txBox="1"/>
            <p:nvPr/>
          </p:nvSpPr>
          <p:spPr>
            <a:xfrm>
              <a:off x="7307199" y="4135279"/>
              <a:ext cx="257441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Bu capstone'u bir portföy</a:t>
              </a:r>
              <a:br/>
              <a:r>
                <a:rPr lang="tr-TR" sz="1580" dirty="0">
                  <a:solidFill>
                    <a:srgbClr val="EAF4F6"/>
                  </a:solidFill>
                  <a:latin typeface="+mn-lt"/>
                  <a:ea typeface="+mn-ea"/>
                  <a:cs typeface="+mn-cs"/>
                </a:rPr>
                <a:t>projesine dönüştürün.</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75925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Öğrenme burada bitmiyor: her yeni sistemde mimariyi, güvenliği ve</a:t>
              </a:r>
              <a:br/>
              <a:r>
                <a:rPr lang="tr-TR" sz="1800" b="1" dirty="0">
                  <a:solidFill>
                    <a:srgbClr val="12355B"/>
                  </a:solidFill>
                  <a:latin typeface="+mn-lt"/>
                  <a:ea typeface="+mn-ea"/>
                  <a:cs typeface="+mn-cs"/>
                </a:rPr>
                <a:t>ölçülebilir kaliteyi birlikte tasarlayın.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8-capstone-lab-management-20260916">
  <a:themeElements>
    <a:clrScheme name="b18-capstone-lab-management-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8-capstone-lab-management-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8-capstone-lab-management-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8-capstone-lab-management-20260916">
  <a:themeElements>
    <a:clrScheme name="b18-capstone-lab-management-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8-capstone-lab-management-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8-capstone-lab-management-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2026-09-19T21:22:29Z</dcterms:created>
  <dcterms:modified xsi:type="dcterms:W3CDTF">2026-09-19T21:22:29Z</dcterms:modified>
  <cp:category/>
  <cp:contentStatus/>
</cp:coreProperties>
</file>