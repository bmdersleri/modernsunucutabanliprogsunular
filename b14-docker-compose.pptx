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kitabın önceki bölümlerinde geliştirilen kütüphane API'sini konteynerleştirme pratiğine taşıyor. Buraya kadar backend uygulaması yalnızca geliştirme makinesinde çalışıyordu; bu bölümden itibaren aynı uygulamanın herhangi bir ortamda birebir aynı şekilde çalışmasını garanti eden Docker ve Docker Compose araçlarını öğreneceğiz. Bölüm on dört numarasıyla, ders programında sunucu tarafı programlamanın dağıtım aşamasına geçişi temsil ediyor; bir sonraki bölümde bu konteynerin gerçek bir sunucuya nasıl taşınacağını göreceğiz.</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beş soru, bölümün tamamının iskeletini oluşturuyor ve bilinçli olarak artan karmaşıklık sırasına göre dizilmiş: önce motivasyon (neden konteyner), sonra imaj inşası (Dockerfile), sonra imaj/container ayrımı, sonra veri kalıcılığı ve ağ iletişimi, son olarak da bunların hepsini birleştiren Docker Compose. Öğrencilere bu soruları okurken şunu vurgulamakta fayda var: her soru bir önceki sorunun cevabına dayanıyor, yani sıralamayı atlayarak ilerlemek kavram kaymalarına yol açabilir. Bölüm hedefindeki kütüphane API'si örneği, ders boyunca kullanılan tek, tutarlı bir senaryo olarak kalacak; bu sayede her yeni kavram soyut değil, somut bir bağlamda öğrenilecek.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beş hedef, sınav ve alıştırma sorularının doğrudan temelini oluşturuyor; her hedefin yanındaki ölçüt, "başardım mı" sorusuna somut bir cevap veriyor. Özellikle dördüncü hedefte vurgulanan "container adıyla erişim" konusu, öğrencilerin en çok hata yaptığı noktadır çünkü yerel geliştirme deneyimlerinde alışık oldukları `localhost` kavramı container içinde tamamen farklı bir anlama bürünür. Üçüncü hedefteki "hangi verinin kaybolacağını ayırt etmek" ifadesi kasıtlı olarak seçildi: amaç yalnızca volume'un ne olduğunu ezberletmek değil, volume olmadan neyin, neden kaybolduğunu nedensel olarak açıklayabilmektir.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harita, bölümdeki beş temel kavramın birbirine nasıl bağlandığını tek bakışta gösteriyor: Dockerfile bir tarif, image o tarifin ürünü, container ise o ürünün çalışan hali. Volume ve network'ün container'dan çıkan kesikli çizgilerle gösterilmesi bilinçli bir tasarım kararıdır — bunlar container'ın "olmazsa olmaz" bir parçası değil, container'ın eksikliklerini (geçicilik ve izolasyon) tamamlayan yardımcı mekanizmalardır. Docker Compose'un en altta, tüm okları toplayan bir kutu olarak durması, onun yeni bir kavram değil, var olan kavramların bir düzenleyicisi olduğunu vurgular. Bu diyagramı anlatırken öğrencilere şunu sorabilirsiniz: "Eğer Dockerfile'ı değiştirirsem, hangi kutular etkilenir?" — cevap yalnızca image ve ondan sonrakiler olacaktır, çünkü Dockerfile geçmişe değil geleceğe etki eder.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tablonun asıl amacı, öğrencilerin sıkça birbirine karıştırdığı dört kavramı net sınırlarla ayırmaktır. "Sorumlu OLMADIĞI" sütunu kasıtlı olarak eklendi çünkü yeni başlayanların en büyük yanılgısı, örneğin Dockerfile'ın "çalışan bir şey" olduğunu sanmasıdır — oysa Dockerfile yalnızca metin dosyasıdır, hiçbir zaman kendisi çalışmaz. Benzer şekilde image'ın "durum tutmadığı" vurgusu, ileride volume konusunu anlamanın temelini oluşturur: eğer image durum tutabilseydi, volume'a hiç ihtiyaç olmazdı. Alttaki notta belirtilen "her seferinde neden yeniden build ediyorum" sorusu, aslında katman önbellekleme konusunun bir önizlemesidir ve on numaralı slaytta detaylandırılacaktır.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İkinci tablo, ilkindeki dört temel kavramın üzerine volume, network ve Compose'u ekleyerek zinciri tamamlıyor. Buradaki en kritik ayrım, network'ün "veri kalıcılığı sağlamadığı" notudur — öğrenciler sıklıkla network ile volume'u aynı şeyin iki yönü sanır, oysa ikisi tamamen farklı problemleri çözer: biri container'lar arası konuşmayı, diğeri container'ın kendi verisinin hayatta kalmasını sağlar. Alttaki özet paragrafı, tüm zinciri tek bir cümlede toparlayarak öğrencilere "büyük resmi" hatırlatıyor; bu, ileride Compose YAML dosyasını okurken her bölümün (services, volumes, networks) neden orada olduğunu anlamalarına yardımcı olacak.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slaytta anlatılan "benim makinemde çalışıyordu" problemi, yazılım endüstrisinde konteynerleştirmenin var olma sebebinin özeti sayılır. Sol taraftaki üç problem — ortam tutarsızlığı, kurulum karmaşası, izolasyon eksikliği — gerçek dünyada birbirini besleyen sorunlardır: örneğin bir sunucuda birden fazla Node.js sürümü çalıştırmak isteyen bir ekip, izolasyon eksikliği yüzünden kurulum karmaşasına düşer. Sağ taraftaki çözümlerin her biri, konteynerleştirmenin teknik bir yenilikten çok bir disiplin/süreç yeniliği olduğunu gösterir; Docker'ın kendisi 2013'te ortaya çıkmadan önce de benzer izolasyon teknolojileri vardı, ama Docker bunları kullanıcı dostu bir iş akışına dönüştürdü. Öğrencilere şunu vurgulayın: konteynerleştirme her problemi çözmez, örneğin tek kişilik bir betik için bu ek karmaşıklık gereksiz olabilir; bu bölümün ilerleyen kısımlarında bu istisna tekrar ele alınacaktır.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slayt, container'ların neden VM'lerden çok daha hızlı başladığını mimari düzeyde açıklıyor: VM'ler her biri kendi tam işletim sistemi çekirdeğini çalıştırırken, container'lar ana makinenin tek bir çekirdeğini paylaşır. Bu paylaşım hem avantaj hem dezavantajdır — hız kazandırır ama izolasyon sınırını VM'ye göre zayıflatır; bu ayrım, güvenlik açısından hassas iş yüklerinde neden hâlâ VM'lerin tercih edildiğini açıklar. cgroups ve namespaces ikilisi aslında Docker'dan çok önce, 2006-2007'de Google mühendisleri tarafından geliştirildi; Docker'ın asıl katkısı teknolojiyi icat etmek değil, onu image formatı ve komut satırı araçlarıyla erişilebilir hale getirmekti — bu tarihsel bilgi, öğrencilerin "Docker her şeyi kendisi icat etti" yanılgısına düşmesini önler. cgroups'un kaynak sınırlama, namespaces'in ise görünürlük izolasyonu sağladığı ayrımı, ileride production ortamında kaynak limitleri (cpus, memory) tanımlarken tekrar karşımıza çıkacak.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dört adımlık döngü — build, run, listele, durdur/kaldır — Docker ile çalışırken günlük olarak tekrarlanan temel iş akışıdır ve bu bölümdeki tüm diğer komutlar bu dört adımın türevleridir. Build adımının yalnızca Dockerfile değiştiğinde tekrarlanması gerektiği vurgusu önemlidir çünkü yeni başlayanlar sıklıkla her kod değişikliğinde gereksiz yere yeniden build eder ya da tam tersi, gerekli olduğunda build etmeyi unutur. `docker stop` ile `docker rm` arasındaki sıra farkı da kritiktir: stop yalnızca süreci nazikçe durdurur, container'ın kendisi ve içindeki (volume kullanılmayan) veriler hâlâ diskte durur; rm ise bu kaynakları kalıcı olarak serbest bırakır. Kod bloğundaki dikkat notunda belirtilmese de, `docker rm` komutunun çalışan bir container üzerinde `-f` bayrağı olmadan başarısız olacağını hatırlatmak faydalı olur.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Katmanlı yapı diyagramı, Dockerfile'daki satır sırasının rastgele olmadığını, doğrudan build performansını etkilediğini gösteriyor. Docker'ın önbellekleme mekanizması, bir katman değişmediği sürece o katmanı ve ondan sonraki tüm katmanları yeniden hesaplamak zorunda kalmaz; ama bir katman değişirse, o katmandan itibaren her şey yeniden inşa edilir — bu yüzden nadiren değişen satırlar (temel imaj, bağımlılık kurulumu) en başa, sık değişen satırlar (kaynak kod kopyalama) en sona yazılır. Bu prensip, versiyon kontrol sistemlerindeki delta/diff mantığına kavramsal olarak çok yakındır ve öğrencilere Git ile zaten bildikleri bir fikri yeni bir bağlamda tanıma fırsatı sunar. Sağdaki "değişmez altyapı" ilkesi, ileride production ortamında neden bir container'ı elle düzeltmek yerine her zaman yeni bir image build edip yeniden dağıtmanın tercih edildiğini açıklayan felsefi temeldir.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 örneği, tek bir Dockerfile içinde iki ayrı "aşama" tanımlayarak geliştirme araçlarının production imajına hiç girmemesini sağlıyor. `COPY --from=build` satırı bu tekniğin kalbidir: yalnızca derlenmiş `dist` klasörünü ikinci aşamaya taşır, ilk aşamadaki TypeScript derleyicisi, devDependencies ve kaynak kod tamamen geride bırakılır. Dikkat kutusunda vurgulanan "iki kez npm install çalıştırma" durumu ilk bakışta gereksiz bir tekrar gibi görünebilir, ama bu bilinçli bir tasarımdır: her aşama kendi bağımsız dosya sistemine sahiptir, bu yüzden production aşamasının ihtiyaç duyduğu paketleri kendi ortamında yeniden kurması gerekir. Bu tekniğin sonucu somut ve ölçülebilir: image boyutu küçülür, saldırı yüzeyi daralır çünkü derleme araçlarındaki olası güvenlik açıkları artık production imajında bulunmaz.</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dört hatanın ortak noktası, hepsinin "çalışıyor gibi görünen ama kırılgan" bir Dockerfile üretmesidir — yani hata anında değil, ileride bir noktada ortaya çıkar. Birinci hata (host'tan node_modules kopyalamak) özellikle Windows veya macOS'ta geliştirme yapıp Linux tabanlı container'a dağıtım yapanları vurur, çünkü bazı npm paketleri işletim sistemine özgü native ikili dosyalar içerir. İkinci hata (sırları ENV ile yazmak) güvenlik açısından ciddidir çünkü Docker image katmanları, o katman "silinmiş" gibi görünse bile image geçmişinde arşivlenmiş kalır — bu, `docker history` komutuyla dahi görünür olabilir. Dördüncü hata (root kullanıcı) özellikle konteyner kaçışı (container escape) güvenlik açıkları bağlamında önemlidir; `USER node` satırı eklemek, bir güvenlik açığı istismar edilse bile saldırganın yetkisini sınırlar — bu, "en az yetki" (principle of least privilege) ilkesinin Docker'daki somut uygulamasıdır.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Sınıf/nesne analojisi, nesne yönelimli programlama geçmişi olan öğrenciler için en hızlı kavrama yolunu sunar: image bir sınıf tanımı gibi salt okunur ve paylaşılabilirken, her container o sınıftan üretilmiş bağımsız bir nesne gibi kendi durumuna sahiptir. Sağdaki durum diyagramı, "çalışmıyor" ifadesinin aslında üç farklı anlama gelebileceğini gösteriyor — hiç başlamamış, başlayıp çıkmış, ya da sürekli yeniden başlıyor olabilir; bu ayrımı yapabilmek hata ayıklamanın ilk adımıdır. Alttaki yazılabilir katman notu, bu bölümün en kritik kavramsal köprüsüdür: container'ın kendi yazılabilir katmanı, container silindiğinde onunla birlikte yok olur, bu yüzden kalıcı veri için mutlaka ayrı bir mekanizmaya (volume) ihtiyaç vardır — bu, bir sonraki bölümün doğrudan gerekçesidir. Cloud-native mimaride container'ların "atılabilir" (ephemeral) olması gerektiği varsayımı, herhangi bir anda sonlandırılıp yeniden başlatılabilmesi gerektiği anlamına gelir; bu varsayım, durum taşıyan her şeyin container'ın dışına taşınması gerekliliğini doğurur.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 örneği, "bir sınıftan birden fazla nesne türetilebilir" fikrinin pratikte nasıl göründüğünü gösteriyor: aynı image'dan iki bağımsız container, farklı portlarla, farklı isimlerle çalıştırılabiliyor. `docker logs -f` komutundaki `-f` (follow) bayrağı, canlı log takibi ile tek seferlik log görüntülemeyi ayıran kritik bir detaydır — üretim ortamında bir hatayı gerçek zamanlı izlemek isteyen bir geliştirici bu bayrağı unutursa yalnızca o ana kadarki logları görür. Sağdaki "stop ile rm'i karıştırmak" hatası, yeni başlayanların en sık düştüğü yanılgılardan biridir; stop bir süreci duraklatır ama container'ı ve içindeki (volume dışı) veriyi korur, `docker start` ile aynı container tekrar canlandırılabilir. Alttaki kapanış notu bilinçli bir geçiş cümlesidir: container sayısı elle yönetilemeyecek kadar arttığında (örneğin onlarca mikroservis), bu manuel yaklaşım hataya çok açık hale gelir — bu da doğrudan Docker Compose'un varlık nedenidir.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slaytta sunulan "hesaplama ile durumun ayrıştırılması" ilkesi, bölüm dokuzdaki katmanlı mimari tartışmasıyla doğrudan bağlantılıdır: tıpkı bir controller/service katmanının durumsuz (stateless) ve kolayca yeniden kurulabilir olması, ama repository'nin arkasındaki veritabanının kalıcı olması gerektiği gibi, container'ın kendisi de "atılabilir" olabilirken yönettiği veri aynı disipline tabi olamaz. Network tanımındaki "servis keşfi" (service discovery) kavramı, dağıtık sistemlerin çok daha genel bir problemine küçük ölçekli bir çözümdür: büyük ölçekli sistemlerde (örneğin Kubernetes'te) bu problem çok daha karmaşık mekanizmalarla çözülür, ama temel fikir aynıdır — bir bileşenin diğerini sabit bir adres yerine isimle bulabilmesi. Alttaki uyarı, "varsayılan bridge network'te container'lar birbirini adla bulamaz" notu özellikle önemlidir çünkü bu, öğrencilerin ilk denemelerinde en çok karşılaştığı "connection refused" hatalarının kök nedenidir — bir sonraki slaytta bu durumun somut kod örneği gösterilecek.</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 örneği, önceki slaytta anlatılan kuramı somutlaştırıyor: önce bir volume ve bir network önceden oluşturuluyor, sonra PostgreSQL bu ikisiyle birlikte çalıştırılıyor, son olarak API container'ı aynı network'e eklenerek veritabanına servis adıyla (`kutuphane-db`) erişebiliyor. Sağ üstteki dikkat kutusu bu örneğin en kritik satırını vurguluyor: `--network kutuphane-network` bayrağı olmadan iki container aynı ana makinede çalışsa bile birbirini isimle bulamaz, çünkü Docker'ın DNS mekanizması yalnızca kullanıcı tanımlı (user-defined) network'lerde aktiftir. Sağ alttaki dört yaygın hatanın üçüncüsü — parolayı `-e` ile komut satırına açıkça yazmak — özellikle önemlidir çünkü bu bilgi işletim sisteminin süreç listesinde (`ps aux` gibi komutlarla) ve kabuk geçmiş dosyasında görünür kalır; bu, geliştirme ortamında "kabul edilebilir" görünse de production'a asla taşınmamalıdır. Dördüncü hata (volume adı çakışması) ekip büyüdükçe daha sık görülen, ama fark edilmesi zor bir hatadır; volume adlarına proje/ortam öneki eklemek basit ama etkili bir savunma pratiğidir.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Bildirimsel ile buyrultucu yaklaşım arasındaki ayrım, yalnızca Docker Compose'a özgü değil, "Infrastructure as Code" hareketinin tamamının temel felsefesidir; Puppet, Chef ve Terraform gibi araçlar da aynı fikri farklı alanlarda uygular. Buyrultucu yaklaşımda (elle `docker run` komutları) her adım açıkça yazılır ve tekrarlanabilirliği garanti etmek zordur; bildirimsel yaklaşımda ise yalnızca "olması gereken nihai durum" tanımlanır ve aracın bu duruma nasıl ulaşılacağına karar vermesine izin verilir. Alttaki "sıra hazır olma anlamına gelmez" notu, bu bölümün en önemli kavramsal tuzaklarından birine işaret ediyor ve on dokuzuncu slaytta somut bir çözümle (healthcheck) ele alınacak. Bu ayrımı anlamak, yalnızca Docker'da değil, gelecekte karşılaşacakları Kubernetes gibi orkestrasyon araçlarında da işlerine yarayacaktır çünkü bildirimsel model, modern altyapı yönetiminin standart yaklaşımıdır.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YAML dosyası, önceki slaytlarda ayrı ayrı öğrenilen tüm kavramların (servis, port eşleme, ortam değişkeni, depends_on, volume) tek bir dosyada nasıl bir araya geldiğini gösteriyor. `depends_on` satırının turuncu/vurgulu renkte gösterilmesi bilinçlidir çünkü bu alan bu bölümün en çok yanlış anlaşılan kısmıdır — yalnızca başlatma sırasını belirler, veritabanının bağlantı almaya hazır olduğunu garanti etmez. Sağdaki "otomatik network" notu, öğrencilerin önceki bölümde elle `docker network create` komutuyla yaptığı işi Compose'un kendiliğinden yapması sayesinde neden daha az hataya açık olduğunu gösteriyor; Compose, `services` altındaki her proje için otomatik bir network oluşturur ve servisler birbirine adlarıyla ulaşabilir hale gelir. `volumes` bölümündeki `kutuphane-db-verisi` tanımı, önceki bölümde elle `docker volume create` ile yapılan işlemin YAML karşılığıdır — bu paralellik, öğrencilere Compose'un "yeni bir şey icat etmediğini, var olan komutları organize ettiğini" hatırlatmak için kullanılabilir.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slayt, bölümün en sık karşılaşılan ve en tehlikeli yanılgısını doğrudan ele alıyor: `depends_on`'un veritabanının tamamen hazır olduğunu garanti ettiği inancı. Gerçekte PostgreSQL container'ı "başlamış" olabilir ama veritabanı motorunun bağlantı kabul etmesi (disk üzerindeki verileri yükleme, soket açma gibi işlemler nedeniyle) birkaç saniye sürebilir; bu süre zarfında API servisi başlarsa bağlantı hatasıyla çöker. `condition: service_healthy` çözümü, Compose'a "yalnızca container başladığında değil, healthcheck komutu başarılı dönmeye başladığında API'yi başlat" talimatını verir; `pg_isready` komutu burada PostgreSQL'in gerçekten sorgu almaya hazır olup olmadığını denetler. Sağdaki not özellikle önemlidir: healthcheck, uygulama kodundaki retry mantığına duyulan ihtiyacı azaltır ama tamamen ortadan kaldırmaz — ağ kesintisi gibi çalışma zamanı sorunları hâlâ mümkündür, bu yüzden savunma amaçlı retry mantığı (bir sonraki slaytlarda görülecek `saglikliBaglantiKur` fonksiyonu gibi) yine de gereklidir.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Geliştirme ve üretim ortamlarının gereksinimlerinin birbirine neredeyse zıt olması, tek bir Compose dosyasının her iki ortama da hizmet edemeyeceğini gösteriyor. Geliştirmede hız ve görünürlük öncelikliyken (hot-reload, açık portlar, ayrıntılı loglar), üretimde kararlılık ve güvenlik öncelikli hale gelir (salt okunur dosya sistemi, kaynak sınırları, otomatik yeniden başlatma). `restart: unless-stopped` politikası, sunucu yeniden başladığında veya container beklenmedik şekilde çöktüğünde servisin kendiliğinden ayağa kalkmasını sağlar — bu, production'da insan müdahalesi gerektirmeyen bir dayanıklılık katmanıdır. Alttaki `$DB_PAROLA` ortam değişkeni kullanımı, on ikinci slaytta öğrenilen "sırları Dockerfile'a yazma" hatasının Compose seviyesindeki çözümüdür; gerçek parola YAML dosyasında hiç görünmez, yalnızca çalışma zamanında dışarıdan enjekte edilir.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iki hata, gerçek bir öğrenci projesinde neredeyse kaçınılmaz olarak karşılaşılan hatalardır ve bilinçli olarak birlikte sunulmuştur çünkü genellikle aynı anda ortaya çıkarlar. Birinci hata (`localhost` kullanımı), container içindeki bir sürecin kendi ağ ad alanına (network namespace) sahip olduğunu unutmaktan kaynaklanır — API container'ı içinde çalışan kod için `localhost`, host makineyi değil, API container'ının kendisini işaret eder. İkinci hata (tek deneme), `depends_on`'un veya hatta `service_healthy`'nin bile yüzde yüz garanti olmadığını gösterir; ağ dalgalanmaları veya beklenmedik gecikmeler her zaman mümkündür, bu yüzden uygulama kodu kendi savunma mekanizmasına (retry) sahip olmalıdır. Alttaki izleme tablosu, üç farklı senaryonun hatalı ve düzeltilmiş mimaride nasıl farklı sonuçlar ürettiğini yan yana göstererek, öğrencilere "neden" sorusunu somut karşılaştırmalarla cevaplıyor; bu tablo formatı, kitabın önceki bölümlerindeki trace table pedagojik yaklaşımıyla tutarlıdır.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üç yanılgı, bölümün en çok tekrar eden ve en kalıcı hasar veren hatalarını temsil eder, bu yüzden sınav sorularının da temelini oluşturur. Birinci yanılgı, geliştirme kolaylığı ile production disiplini arasındaki gerilimi gösterir — "çalışıyor" ile "doğru inşa edilmiş" aynı şey değildir; bir image çalışıyor olsa bile içinde gereksiz araçlar taşıyorsa güvenlik ve performans açısından kusurludur. İkinci yanılgı, container'ların doğası gereği geçici olduğu gerçeğinin ne kadar sık göz ardı edildiğini gösterir; bu yanılgıya düşen bir geliştirici, yalnızca bir `docker-compose down` veya container yeniden oluşturma işleminden sonra tüm veritabanı verisini kalıcı olarak kaybedebilir. Üçüncü yanılgı ise bu bölümün belki de en ince ayrımıdır: "sıra" ile "hazır olma" arasındaki fark, yalnızca Docker Compose'a özgü değil, genel olarak dağıtık sistemlerin başlatma (startup) ve hazırlık (readiness) kavramları arasındaki temel ayrımın bir yansımasıdır.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 bölümdeki tüm parçaların (Dockerfile, Compose, ağ, healthcheck kavramları) uygulama kodu seviyesinde nasıl bir araya geldiğini gösteren sentez örneğidir. `saglikliBaglantiKur` fonksiyonu, healthcheck'in "neredeyse her zaman" yeterli olduğu ama "her zaman" yeterli olmadığı gerçeğine karşı son bir savunma katmanı sunar — sabit sayıda deneme yaparak sonsuz döngü riskini önlerken, her denemeden sonra bekleyerek veritabanına ayağa kalkma zamanı tanır. Fonksiyonun `throw new VeritabaniBaglantiHatasi` ile son denemede de başarısız olursa anlamlı bir hata fırlatması, sessizce başarısız olmak yerine sorunu görünür kılan iyi bir hata yönetimi pratiğidir; bu, kitabın önceki bölümlerinde işlenen hata yönetimi disipliniyle tutarlıdır. Alttaki geliştirme önerileri (exponential backoff, healthcheck ekleme, Dockerfile'a HEALTHCHECK talimatı ekleme), öğrencilere bu temel örneği kendi projelerinde nasıl daha da sağlamlaştırabileceklerine dair somut bir yol haritası sunuyor.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altı kart, bölümün kavramsal omurgasını özetliyor ve her biri bir önceki bölüm setinin doğrudan karşılığıdır: image/container ayrımı, multi-stage build, volume, network, Compose ve healthcheck. Bu kartların sırası tesadüfi değildir — soldan sağa, yukarıdan aşağıya doğru okunduğunda, bölümün anlatım sırasını (temel kavramlar önce, birleştirici Compose kavramı sonra) yansıtır. Alttaki sınav notu kasıtlı olarak "hız değildir, taşınabilirliktir" vurgusunu yapıyor çünkü öğrenciler sıklıkla konteynerleştirmenin asıl faydasının performans olduğunu düşünür; oysa asıl kazanım, "bu ortamda çalışıyor ama şu ortamda çalışmıyor" belirsizliğinin ortadan kalkmasıdır. Bu özet, sınav öncesi hızlı tekrar için tasarlanmış olsa da, her kartın arkasında bu bölümde işlenen daha derin bir kuramsal gerekçe (katmanlı dosya sistemi, hesaplama/durum ayrımı, bildirimsel model, başlatma/hazır olma ayrımı) olduğunu unutmamak gerekir.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bölümün sonunda öğrenciler artık kütüphane API'sini ve veritabanını taşınabilir, tekrarlanabilir bir birim haline getirmiş durumdalar; ama bu birim hâlâ yalnızca kendi geliştirme makinelerinde çalışıyor. Bir sonraki bölümün odağı, bu konteynerin gerçek bir Linux sunucuya nasıl aktarılacağı, Nginx gibi bir reverse proxy ile nasıl dış dünyaya açılacağı ve HTTPS ile nasıl güvenli hale getirileceğidir — yani bu bölümde "doğru inşa etmeyi" öğrendiğimiz şeyi, bir sonraki bölümde "güvenle yayınlamayı" öğreneceğiz. Alttaki kapanış notu, öğrencilere ileriye dönük bir alışkanlık kazandırmayı hedefliyor: yeni bir servis tasarlarken en başından "bu veri kalıcı mı, bu servis başka biriyle mi konuşacak" sorularını sormak, sonradan volume veya network eksikliğinden kaynaklanan acil müdahaleleri önler. Bu köprü, aynı zamanda konteynerleştirmenin kendi başına bir amaç olmadığını, gerçek kullanıcılara güvenli ve kararlı biçimde ulaşmanın bir ara adımı olduğunu hatırlatır.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14-docker-compose-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14-docker-compose-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14</a:t>
              </a:r>
            </a:p>
          </p:txBody>
        </p:sp>
      </p:grpSp>
      <p:grpSp>
        <p:nvGrpSpPr>
          <p:cNvPr id="8" name="cover-title"/>
          <p:cNvGrpSpPr/>
          <p:nvPr/>
        </p:nvGrpSpPr>
        <p:grpSpPr>
          <a:xfrm>
            <a:off x="4933950" y="1674495"/>
            <a:ext cx="4744688" cy="1981200"/>
            <a:chOff x="4933950" y="1674495"/>
            <a:chExt cx="4744688" cy="1981200"/>
          </a:xfrm>
        </p:grpSpPr>
        <p:sp>
          <p:nvSpPr>
            <p:cNvPr id="7" name="TextBox 7"/>
            <p:cNvSpPr txBox="1"/>
            <p:nvPr/>
          </p:nvSpPr>
          <p:spPr>
            <a:xfrm>
              <a:off x="4933950" y="1674495"/>
              <a:ext cx="4744688" cy="1981200"/>
            </a:xfrm>
            <a:prstGeom prst="rect">
              <a:avLst/>
            </a:prstGeom>
            <a:noFill/>
            <a:ln>
              <a:noFill/>
            </a:ln>
          </p:spPr>
          <p:txBody>
            <a:bodyPr wrap="none" lIns="0" tIns="0" rIns="0" bIns="0" anchor="t" anchorCtr="0">
              <a:spAutoFit/>
            </a:bodyPr>
            <a:lstStyle/>
            <a:p>
              <a:pPr algn="l">
                <a:lnSpc>
                  <a:spcPts val="4800"/>
                </a:lnSpc>
              </a:pPr>
              <a:r>
                <a:rPr lang="tr-TR" sz="3900" b="1" dirty="0">
                  <a:solidFill>
                    <a:srgbClr val="12355B"/>
                  </a:solidFill>
                  <a:latin typeface="+mj-lt"/>
                  <a:ea typeface="+mj-ea"/>
                  <a:cs typeface="+mj-cs"/>
                </a:rPr>
                <a:t>Docker ile Backend</a:t>
              </a:r>
              <a:br/>
              <a:r>
                <a:rPr lang="tr-TR" sz="3900" b="1" dirty="0">
                  <a:solidFill>
                    <a:srgbClr val="12355B"/>
                  </a:solidFill>
                  <a:latin typeface="+mj-lt"/>
                  <a:ea typeface="+mj-ea"/>
                  <a:cs typeface="+mj-cs"/>
                </a:rPr>
                <a:t>Uygulamalarını</a:t>
              </a:r>
              <a:br/>
              <a:r>
                <a:rPr lang="tr-TR" sz="3900" b="1" dirty="0">
                  <a:solidFill>
                    <a:srgbClr val="12355B"/>
                  </a:solidFill>
                  <a:latin typeface="+mj-lt"/>
                  <a:ea typeface="+mj-ea"/>
                  <a:cs typeface="+mj-cs"/>
                </a:rPr>
                <a:t>Konteynerleştirme</a:t>
              </a:r>
            </a:p>
          </p:txBody>
        </p:sp>
      </p:grpSp>
      <p:grpSp>
        <p:nvGrpSpPr>
          <p:cNvPr id="12" name="cover-subtitle"/>
          <p:cNvGrpSpPr/>
          <p:nvPr/>
        </p:nvGrpSpPr>
        <p:grpSpPr>
          <a:xfrm>
            <a:off x="4943094" y="4095750"/>
            <a:ext cx="4648390" cy="900018"/>
            <a:chOff x="4943094" y="4095750"/>
            <a:chExt cx="4648390" cy="900018"/>
          </a:xfrm>
        </p:grpSpPr>
        <p:sp>
          <p:nvSpPr>
            <p:cNvPr id="9" name="Rectangle 9"/>
            <p:cNvSpPr/>
            <p:nvPr/>
          </p:nvSpPr>
          <p:spPr>
            <a:xfrm>
              <a:off x="4953000" y="4095750"/>
              <a:ext cx="1143000" cy="38100"/>
            </a:xfrm>
            <a:prstGeom prst="rect">
              <a:avLst/>
            </a:prstGeom>
            <a:solidFill>
              <a:srgbClr val="00A6A6"/>
            </a:solidFill>
            <a:ln>
              <a:noFill/>
            </a:ln>
          </p:spPr>
        </p:sp>
        <p:sp>
          <p:nvSpPr>
            <p:cNvPr id="10" name="TextBox 10"/>
            <p:cNvSpPr txBox="1"/>
            <p:nvPr/>
          </p:nvSpPr>
          <p:spPr>
            <a:xfrm>
              <a:off x="4943094" y="4228148"/>
              <a:ext cx="4648390"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Sunucu Tabanlı Programlama</a:t>
              </a:r>
            </a:p>
          </p:txBody>
        </p:sp>
        <p:sp>
          <p:nvSpPr>
            <p:cNvPr id="11" name="TextBox 11"/>
            <p:cNvSpPr txBox="1"/>
            <p:nvPr/>
          </p:nvSpPr>
          <p:spPr>
            <a:xfrm>
              <a:off x="4944999" y="4687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map-intro"/>
          <p:cNvGrpSpPr/>
          <p:nvPr/>
        </p:nvGrpSpPr>
        <p:grpSpPr>
          <a:xfrm>
            <a:off x="603504" y="1146810"/>
            <a:ext cx="3951355" cy="234696"/>
            <a:chOff x="603504" y="1146810"/>
            <a:chExt cx="3951355" cy="234696"/>
          </a:xfrm>
        </p:grpSpPr>
        <p:sp>
          <p:nvSpPr>
            <p:cNvPr id="6" name="TextBox 6"/>
            <p:cNvSpPr txBox="1"/>
            <p:nvPr/>
          </p:nvSpPr>
          <p:spPr>
            <a:xfrm>
              <a:off x="603504" y="1146810"/>
              <a:ext cx="395135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bölümü okurken şu beş soruyu aklınızda tutun:</a:t>
              </a:r>
            </a:p>
          </p:txBody>
        </p:sp>
      </p:grpSp>
      <p:grpSp>
        <p:nvGrpSpPr>
          <p:cNvPr id="12" name="roadmap-q1"/>
          <p:cNvGrpSpPr/>
          <p:nvPr/>
        </p:nvGrpSpPr>
        <p:grpSpPr>
          <a:xfrm>
            <a:off x="609600" y="1485900"/>
            <a:ext cx="10859278" cy="419100"/>
            <a:chOff x="609600" y="1485900"/>
            <a:chExt cx="10859278" cy="419100"/>
          </a:xfrm>
        </p:grpSpPr>
        <p:sp>
          <p:nvSpPr>
            <p:cNvPr id="8" name="Rectangle 8"/>
            <p:cNvSpPr/>
            <p:nvPr/>
          </p:nvSpPr>
          <p:spPr>
            <a:xfrm>
              <a:off x="609600" y="1485900"/>
              <a:ext cx="57150" cy="419100"/>
            </a:xfrm>
            <a:prstGeom prst="rect">
              <a:avLst/>
            </a:prstGeom>
            <a:solidFill>
              <a:srgbClr val="00A6A6"/>
            </a:solidFill>
            <a:ln>
              <a:noFill/>
            </a:ln>
          </p:spPr>
        </p:sp>
        <p:sp>
          <p:nvSpPr>
            <p:cNvPr id="9" name="Ellipse 9"/>
            <p:cNvSpPr/>
            <p:nvPr/>
          </p:nvSpPr>
          <p:spPr>
            <a:xfrm>
              <a:off x="857250" y="1524000"/>
              <a:ext cx="342900" cy="342900"/>
            </a:xfrm>
            <a:prstGeom prst="ellipse">
              <a:avLst/>
            </a:prstGeom>
            <a:solidFill>
              <a:srgbClr val="12355B"/>
            </a:solidFill>
            <a:ln>
              <a:noFill/>
            </a:ln>
          </p:spPr>
        </p:sp>
        <p:sp>
          <p:nvSpPr>
            <p:cNvPr id="10" name="TextBox 10"/>
            <p:cNvSpPr txBox="1"/>
            <p:nvPr/>
          </p:nvSpPr>
          <p:spPr>
            <a:xfrm>
              <a:off x="969365" y="16163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1</a:t>
              </a:r>
            </a:p>
          </p:txBody>
        </p:sp>
        <p:sp>
          <p:nvSpPr>
            <p:cNvPr id="11" name="TextBox 11"/>
            <p:cNvSpPr txBox="1"/>
            <p:nvPr/>
          </p:nvSpPr>
          <p:spPr>
            <a:xfrm>
              <a:off x="1363599" y="1582579"/>
              <a:ext cx="1010527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"Benim makinemde çalışıyordu" sorunu neden ortaya çıkar; konteynerleştirme bunu nasıl çözer?</a:t>
              </a:r>
            </a:p>
          </p:txBody>
        </p:sp>
      </p:grpSp>
      <p:grpSp>
        <p:nvGrpSpPr>
          <p:cNvPr id="17" name="roadmap-q2"/>
          <p:cNvGrpSpPr/>
          <p:nvPr/>
        </p:nvGrpSpPr>
        <p:grpSpPr>
          <a:xfrm>
            <a:off x="609600" y="2286000"/>
            <a:ext cx="8068940" cy="419100"/>
            <a:chOff x="609600" y="2286000"/>
            <a:chExt cx="8068940" cy="419100"/>
          </a:xfrm>
        </p:grpSpPr>
        <p:sp>
          <p:nvSpPr>
            <p:cNvPr id="13" name="Rectangle 13"/>
            <p:cNvSpPr/>
            <p:nvPr/>
          </p:nvSpPr>
          <p:spPr>
            <a:xfrm>
              <a:off x="609600" y="2286000"/>
              <a:ext cx="57150" cy="419100"/>
            </a:xfrm>
            <a:prstGeom prst="rect">
              <a:avLst/>
            </a:prstGeom>
            <a:solidFill>
              <a:srgbClr val="00A6A6"/>
            </a:solidFill>
            <a:ln>
              <a:noFill/>
            </a:ln>
          </p:spPr>
        </p:sp>
        <p:sp>
          <p:nvSpPr>
            <p:cNvPr id="14" name="Ellipse 14"/>
            <p:cNvSpPr/>
            <p:nvPr/>
          </p:nvSpPr>
          <p:spPr>
            <a:xfrm>
              <a:off x="857250" y="2324100"/>
              <a:ext cx="342900" cy="342900"/>
            </a:xfrm>
            <a:prstGeom prst="ellipse">
              <a:avLst/>
            </a:prstGeom>
            <a:solidFill>
              <a:srgbClr val="12355B"/>
            </a:solidFill>
            <a:ln>
              <a:noFill/>
            </a:ln>
          </p:spPr>
        </p:sp>
        <p:sp>
          <p:nvSpPr>
            <p:cNvPr id="15" name="TextBox 15"/>
            <p:cNvSpPr txBox="1"/>
            <p:nvPr/>
          </p:nvSpPr>
          <p:spPr>
            <a:xfrm>
              <a:off x="969365" y="24164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2</a:t>
              </a:r>
            </a:p>
          </p:txBody>
        </p:sp>
        <p:sp>
          <p:nvSpPr>
            <p:cNvPr id="16" name="TextBox 16"/>
            <p:cNvSpPr txBox="1"/>
            <p:nvPr/>
          </p:nvSpPr>
          <p:spPr>
            <a:xfrm>
              <a:off x="1363599" y="2382679"/>
              <a:ext cx="731494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Dockerfile'ın satırları hangi sırayla ve neden bu sırayla çalışır?</a:t>
              </a:r>
            </a:p>
          </p:txBody>
        </p:sp>
      </p:grpSp>
      <p:grpSp>
        <p:nvGrpSpPr>
          <p:cNvPr id="22" name="roadmap-q3"/>
          <p:cNvGrpSpPr/>
          <p:nvPr/>
        </p:nvGrpSpPr>
        <p:grpSpPr>
          <a:xfrm>
            <a:off x="609600" y="3086100"/>
            <a:ext cx="9412489" cy="419100"/>
            <a:chOff x="609600" y="3086100"/>
            <a:chExt cx="9412489" cy="419100"/>
          </a:xfrm>
        </p:grpSpPr>
        <p:sp>
          <p:nvSpPr>
            <p:cNvPr id="18" name="Rectangle 18"/>
            <p:cNvSpPr/>
            <p:nvPr/>
          </p:nvSpPr>
          <p:spPr>
            <a:xfrm>
              <a:off x="609600" y="3086100"/>
              <a:ext cx="57150" cy="419100"/>
            </a:xfrm>
            <a:prstGeom prst="rect">
              <a:avLst/>
            </a:prstGeom>
            <a:solidFill>
              <a:srgbClr val="00A6A6"/>
            </a:solidFill>
            <a:ln>
              <a:noFill/>
            </a:ln>
          </p:spPr>
        </p:sp>
        <p:sp>
          <p:nvSpPr>
            <p:cNvPr id="19" name="Ellipse 19"/>
            <p:cNvSpPr/>
            <p:nvPr/>
          </p:nvSpPr>
          <p:spPr>
            <a:xfrm>
              <a:off x="857250" y="3124200"/>
              <a:ext cx="342900" cy="342900"/>
            </a:xfrm>
            <a:prstGeom prst="ellipse">
              <a:avLst/>
            </a:prstGeom>
            <a:solidFill>
              <a:srgbClr val="12355B"/>
            </a:solidFill>
            <a:ln>
              <a:noFill/>
            </a:ln>
          </p:spPr>
        </p:sp>
        <p:sp>
          <p:nvSpPr>
            <p:cNvPr id="20" name="TextBox 20"/>
            <p:cNvSpPr txBox="1"/>
            <p:nvPr/>
          </p:nvSpPr>
          <p:spPr>
            <a:xfrm>
              <a:off x="969365" y="32165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3</a:t>
              </a:r>
            </a:p>
          </p:txBody>
        </p:sp>
        <p:sp>
          <p:nvSpPr>
            <p:cNvPr id="21" name="TextBox 21"/>
            <p:cNvSpPr txBox="1"/>
            <p:nvPr/>
          </p:nvSpPr>
          <p:spPr>
            <a:xfrm>
              <a:off x="1363599" y="3182779"/>
              <a:ext cx="865849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Image ile container arasındaki fark nedir; bir image'dan kaç container üretilebilir?</a:t>
              </a:r>
            </a:p>
          </p:txBody>
        </p:sp>
      </p:grpSp>
      <p:grpSp>
        <p:nvGrpSpPr>
          <p:cNvPr id="27" name="roadmap-q4"/>
          <p:cNvGrpSpPr/>
          <p:nvPr/>
        </p:nvGrpSpPr>
        <p:grpSpPr>
          <a:xfrm>
            <a:off x="609600" y="3886200"/>
            <a:ext cx="10422669" cy="419100"/>
            <a:chOff x="609600" y="3886200"/>
            <a:chExt cx="10422669" cy="419100"/>
          </a:xfrm>
        </p:grpSpPr>
        <p:sp>
          <p:nvSpPr>
            <p:cNvPr id="23" name="Rectangle 23"/>
            <p:cNvSpPr/>
            <p:nvPr/>
          </p:nvSpPr>
          <p:spPr>
            <a:xfrm>
              <a:off x="609600" y="3886200"/>
              <a:ext cx="57150" cy="419100"/>
            </a:xfrm>
            <a:prstGeom prst="rect">
              <a:avLst/>
            </a:prstGeom>
            <a:solidFill>
              <a:srgbClr val="00A6A6"/>
            </a:solidFill>
            <a:ln>
              <a:noFill/>
            </a:ln>
          </p:spPr>
        </p:sp>
        <p:sp>
          <p:nvSpPr>
            <p:cNvPr id="24" name="Ellipse 24"/>
            <p:cNvSpPr/>
            <p:nvPr/>
          </p:nvSpPr>
          <p:spPr>
            <a:xfrm>
              <a:off x="857250" y="3924300"/>
              <a:ext cx="342900" cy="342900"/>
            </a:xfrm>
            <a:prstGeom prst="ellipse">
              <a:avLst/>
            </a:prstGeom>
            <a:solidFill>
              <a:srgbClr val="12355B"/>
            </a:solidFill>
            <a:ln>
              <a:noFill/>
            </a:ln>
          </p:spPr>
        </p:sp>
        <p:sp>
          <p:nvSpPr>
            <p:cNvPr id="25" name="TextBox 25"/>
            <p:cNvSpPr txBox="1"/>
            <p:nvPr/>
          </p:nvSpPr>
          <p:spPr>
            <a:xfrm>
              <a:off x="969365" y="40166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4</a:t>
              </a:r>
            </a:p>
          </p:txBody>
        </p:sp>
        <p:sp>
          <p:nvSpPr>
            <p:cNvPr id="26" name="TextBox 26"/>
            <p:cNvSpPr txBox="1"/>
            <p:nvPr/>
          </p:nvSpPr>
          <p:spPr>
            <a:xfrm>
              <a:off x="1363599" y="3982879"/>
              <a:ext cx="966867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Container yeniden başlatılınca veritabanı verisi neden kaybolabilir; volume bunu nasıl önler?</a:t>
              </a:r>
            </a:p>
          </p:txBody>
        </p:sp>
      </p:grpSp>
      <p:grpSp>
        <p:nvGrpSpPr>
          <p:cNvPr id="32" name="roadmap-q5"/>
          <p:cNvGrpSpPr/>
          <p:nvPr/>
        </p:nvGrpSpPr>
        <p:grpSpPr>
          <a:xfrm>
            <a:off x="609600" y="4686300"/>
            <a:ext cx="11128618" cy="419100"/>
            <a:chOff x="609600" y="4686300"/>
            <a:chExt cx="11128618" cy="419100"/>
          </a:xfrm>
        </p:grpSpPr>
        <p:sp>
          <p:nvSpPr>
            <p:cNvPr id="28" name="Rectangle 28"/>
            <p:cNvSpPr/>
            <p:nvPr/>
          </p:nvSpPr>
          <p:spPr>
            <a:xfrm>
              <a:off x="609600" y="4686300"/>
              <a:ext cx="57150" cy="419100"/>
            </a:xfrm>
            <a:prstGeom prst="rect">
              <a:avLst/>
            </a:prstGeom>
            <a:solidFill>
              <a:srgbClr val="00A6A6"/>
            </a:solidFill>
            <a:ln>
              <a:noFill/>
            </a:ln>
          </p:spPr>
        </p:sp>
        <p:sp>
          <p:nvSpPr>
            <p:cNvPr id="29" name="Ellipse 29"/>
            <p:cNvSpPr/>
            <p:nvPr/>
          </p:nvSpPr>
          <p:spPr>
            <a:xfrm>
              <a:off x="857250" y="4724400"/>
              <a:ext cx="342900" cy="342900"/>
            </a:xfrm>
            <a:prstGeom prst="ellipse">
              <a:avLst/>
            </a:prstGeom>
            <a:solidFill>
              <a:srgbClr val="12355B"/>
            </a:solidFill>
            <a:ln>
              <a:noFill/>
            </a:ln>
          </p:spPr>
        </p:sp>
        <p:sp>
          <p:nvSpPr>
            <p:cNvPr id="30" name="TextBox 30"/>
            <p:cNvSpPr txBox="1"/>
            <p:nvPr/>
          </p:nvSpPr>
          <p:spPr>
            <a:xfrm>
              <a:off x="969365" y="48167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5</a:t>
              </a:r>
            </a:p>
          </p:txBody>
        </p:sp>
        <p:sp>
          <p:nvSpPr>
            <p:cNvPr id="31" name="TextBox 31"/>
            <p:cNvSpPr txBox="1"/>
            <p:nvPr/>
          </p:nvSpPr>
          <p:spPr>
            <a:xfrm>
              <a:off x="1363599" y="4782979"/>
              <a:ext cx="1037461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Docker Compose, API ve PostgreSQL servislerini tek komutla ayağa kaldırırken hangi sorunu çözer?</a:t>
              </a:r>
            </a:p>
          </p:txBody>
        </p:sp>
      </p:grpSp>
      <p:grpSp>
        <p:nvGrpSpPr>
          <p:cNvPr id="36" name="roadmap-goal"/>
          <p:cNvGrpSpPr/>
          <p:nvPr/>
        </p:nvGrpSpPr>
        <p:grpSpPr>
          <a:xfrm>
            <a:off x="609600" y="5562600"/>
            <a:ext cx="10972800" cy="723900"/>
            <a:chOff x="609600" y="5562600"/>
            <a:chExt cx="10972800" cy="723900"/>
          </a:xfrm>
        </p:grpSpPr>
        <p:sp>
          <p:nvSpPr>
            <p:cNvPr id="33" name="Rectangle 33"/>
            <p:cNvSpPr/>
            <p:nvPr/>
          </p:nvSpPr>
          <p:spPr>
            <a:xfrm>
              <a:off x="609600" y="5562600"/>
              <a:ext cx="10972800" cy="723900"/>
            </a:xfrm>
            <a:prstGeom prst="roundRect">
              <a:avLst>
                <a:gd name="adj" fmla="val 10526"/>
              </a:avLst>
            </a:prstGeom>
            <a:solidFill>
              <a:srgbClr val="EAF4F6"/>
            </a:solidFill>
            <a:ln>
              <a:noFill/>
            </a:ln>
          </p:spPr>
        </p:sp>
        <p:sp>
          <p:nvSpPr>
            <p:cNvPr id="34" name="TextBox 34"/>
            <p:cNvSpPr txBox="1"/>
            <p:nvPr/>
          </p:nvSpPr>
          <p:spPr>
            <a:xfrm>
              <a:off x="906399" y="5697379"/>
              <a:ext cx="1006373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Bölüm Hedefi: Kütüphane API'si için Dockerfile yazılacak, image/container yaşam döngüsü</a:t>
              </a:r>
            </a:p>
          </p:txBody>
        </p:sp>
        <p:sp>
          <p:nvSpPr>
            <p:cNvPr id="35" name="TextBox 35"/>
            <p:cNvSpPr txBox="1"/>
            <p:nvPr/>
          </p:nvSpPr>
          <p:spPr>
            <a:xfrm>
              <a:off x="906399" y="5964079"/>
              <a:ext cx="1028128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yönetilecek, volume ile veri kalıcılığı sağlanacak ve Compose ile API + PostgreSQL çalıştırılacak.</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13763" cy="557403"/>
            <a:chOff x="595122" y="282892"/>
            <a:chExt cx="7413763" cy="557403"/>
          </a:xfrm>
        </p:grpSpPr>
        <p:sp>
          <p:nvSpPr>
            <p:cNvPr id="4" name="TextBox 4"/>
            <p:cNvSpPr txBox="1"/>
            <p:nvPr/>
          </p:nvSpPr>
          <p:spPr>
            <a:xfrm>
              <a:off x="59512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9" name="objective-1"/>
          <p:cNvGrpSpPr/>
          <p:nvPr/>
        </p:nvGrpSpPr>
        <p:grpSpPr>
          <a:xfrm>
            <a:off x="685800" y="1520190"/>
            <a:ext cx="8838617" cy="637128"/>
            <a:chOff x="685800" y="1520190"/>
            <a:chExt cx="8838617" cy="637128"/>
          </a:xfrm>
        </p:grpSpPr>
        <p:sp>
          <p:nvSpPr>
            <p:cNvPr id="6" name="Rectangle 6"/>
            <p:cNvSpPr/>
            <p:nvPr/>
          </p:nvSpPr>
          <p:spPr>
            <a:xfrm>
              <a:off x="685800" y="1524000"/>
              <a:ext cx="57150" cy="495300"/>
            </a:xfrm>
            <a:prstGeom prst="rect">
              <a:avLst/>
            </a:prstGeom>
            <a:solidFill>
              <a:srgbClr val="00A6A6"/>
            </a:solidFill>
            <a:ln>
              <a:noFill/>
            </a:ln>
          </p:spPr>
        </p:sp>
        <p:sp>
          <p:nvSpPr>
            <p:cNvPr id="7" name="TextBox 7"/>
            <p:cNvSpPr txBox="1"/>
            <p:nvPr/>
          </p:nvSpPr>
          <p:spPr>
            <a:xfrm>
              <a:off x="981456" y="1520190"/>
              <a:ext cx="727394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Bir backend için katmanlı (multi-stage) Dockerfile yazmak</a:t>
              </a:r>
            </a:p>
          </p:txBody>
        </p:sp>
        <p:sp>
          <p:nvSpPr>
            <p:cNvPr id="8" name="TextBox 8"/>
            <p:cNvSpPr txBox="1"/>
            <p:nvPr/>
          </p:nvSpPr>
          <p:spPr>
            <a:xfrm>
              <a:off x="982599" y="1849279"/>
              <a:ext cx="854181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derleme ve production aşamaları ayrı, üretim image'ı gereksiz büyük değil</a:t>
              </a:r>
            </a:p>
          </p:txBody>
        </p:sp>
      </p:grpSp>
      <p:grpSp>
        <p:nvGrpSpPr>
          <p:cNvPr id="13" name="objective-2"/>
          <p:cNvGrpSpPr/>
          <p:nvPr/>
        </p:nvGrpSpPr>
        <p:grpSpPr>
          <a:xfrm>
            <a:off x="685800" y="2510790"/>
            <a:ext cx="10296224" cy="637128"/>
            <a:chOff x="685800" y="2510790"/>
            <a:chExt cx="10296224" cy="637128"/>
          </a:xfrm>
        </p:grpSpPr>
        <p:sp>
          <p:nvSpPr>
            <p:cNvPr id="10" name="Rectangle 10"/>
            <p:cNvSpPr/>
            <p:nvPr/>
          </p:nvSpPr>
          <p:spPr>
            <a:xfrm>
              <a:off x="685800" y="2514600"/>
              <a:ext cx="57150" cy="495300"/>
            </a:xfrm>
            <a:prstGeom prst="rect">
              <a:avLst/>
            </a:prstGeom>
            <a:solidFill>
              <a:srgbClr val="00A6A6"/>
            </a:solidFill>
            <a:ln>
              <a:noFill/>
            </a:ln>
          </p:spPr>
        </p:sp>
        <p:sp>
          <p:nvSpPr>
            <p:cNvPr id="11" name="TextBox 11"/>
            <p:cNvSpPr txBox="1"/>
            <p:nvPr/>
          </p:nvSpPr>
          <p:spPr>
            <a:xfrm>
              <a:off x="981456" y="2510790"/>
              <a:ext cx="1000056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Image build etme, container çalıştırma/durdurma/kaldırma sırasını uygulamak</a:t>
              </a:r>
            </a:p>
          </p:txBody>
        </p:sp>
        <p:sp>
          <p:nvSpPr>
            <p:cNvPr id="12" name="TextBox 12"/>
            <p:cNvSpPr txBox="1"/>
            <p:nvPr/>
          </p:nvSpPr>
          <p:spPr>
            <a:xfrm>
              <a:off x="982599" y="2839879"/>
              <a:ext cx="776595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build → run → stop → rm sırası hatasız, doğru bayraklarla uygulanır</a:t>
              </a:r>
            </a:p>
          </p:txBody>
        </p:sp>
      </p:grpSp>
      <p:grpSp>
        <p:nvGrpSpPr>
          <p:cNvPr id="17" name="objective-3"/>
          <p:cNvGrpSpPr/>
          <p:nvPr/>
        </p:nvGrpSpPr>
        <p:grpSpPr>
          <a:xfrm>
            <a:off x="685800" y="3501390"/>
            <a:ext cx="8806007" cy="637128"/>
            <a:chOff x="685800" y="3501390"/>
            <a:chExt cx="8806007" cy="637128"/>
          </a:xfrm>
        </p:grpSpPr>
        <p:sp>
          <p:nvSpPr>
            <p:cNvPr id="14" name="Rectangle 14"/>
            <p:cNvSpPr/>
            <p:nvPr/>
          </p:nvSpPr>
          <p:spPr>
            <a:xfrm>
              <a:off x="685800" y="3505200"/>
              <a:ext cx="57150" cy="495300"/>
            </a:xfrm>
            <a:prstGeom prst="rect">
              <a:avLst/>
            </a:prstGeom>
            <a:solidFill>
              <a:srgbClr val="00A6A6"/>
            </a:solidFill>
            <a:ln>
              <a:noFill/>
            </a:ln>
          </p:spPr>
        </p:sp>
        <p:sp>
          <p:nvSpPr>
            <p:cNvPr id="15" name="TextBox 15"/>
            <p:cNvSpPr txBox="1"/>
            <p:nvPr/>
          </p:nvSpPr>
          <p:spPr>
            <a:xfrm>
              <a:off x="981456" y="3501390"/>
              <a:ext cx="842259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Container yeniden oluşunca hangi verinin kaybolacağını ayırt etmek</a:t>
              </a:r>
            </a:p>
          </p:txBody>
        </p:sp>
        <p:sp>
          <p:nvSpPr>
            <p:cNvPr id="16" name="TextBox 16"/>
            <p:cNvSpPr txBox="1"/>
            <p:nvPr/>
          </p:nvSpPr>
          <p:spPr>
            <a:xfrm>
              <a:off x="982599" y="3830479"/>
              <a:ext cx="850920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veritabanı verisinin yalnızca bir volume ile kalıcı kaldığı gerekçelendirilir</a:t>
              </a:r>
            </a:p>
          </p:txBody>
        </p:sp>
      </p:grpSp>
      <p:grpSp>
        <p:nvGrpSpPr>
          <p:cNvPr id="21" name="objective-4"/>
          <p:cNvGrpSpPr/>
          <p:nvPr/>
        </p:nvGrpSpPr>
        <p:grpSpPr>
          <a:xfrm>
            <a:off x="685800" y="4491990"/>
            <a:ext cx="8425644" cy="637128"/>
            <a:chOff x="685800" y="4491990"/>
            <a:chExt cx="8425644" cy="637128"/>
          </a:xfrm>
        </p:grpSpPr>
        <p:sp>
          <p:nvSpPr>
            <p:cNvPr id="18" name="Rectangle 18"/>
            <p:cNvSpPr/>
            <p:nvPr/>
          </p:nvSpPr>
          <p:spPr>
            <a:xfrm>
              <a:off x="685800" y="4495800"/>
              <a:ext cx="57150" cy="495300"/>
            </a:xfrm>
            <a:prstGeom prst="rect">
              <a:avLst/>
            </a:prstGeom>
            <a:solidFill>
              <a:srgbClr val="00A6A6"/>
            </a:solidFill>
            <a:ln>
              <a:noFill/>
            </a:ln>
          </p:spPr>
        </p:sp>
        <p:sp>
          <p:nvSpPr>
            <p:cNvPr id="19" name="TextBox 19"/>
            <p:cNvSpPr txBox="1"/>
            <p:nvPr/>
          </p:nvSpPr>
          <p:spPr>
            <a:xfrm>
              <a:off x="981456" y="4491990"/>
              <a:ext cx="812998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İki container'ın birbirine container adıyla ulaşmasını açıklamak</a:t>
              </a:r>
            </a:p>
          </p:txBody>
        </p:sp>
        <p:sp>
          <p:nvSpPr>
            <p:cNvPr id="20" name="TextBox 20"/>
            <p:cNvSpPr txBox="1"/>
            <p:nvPr/>
          </p:nvSpPr>
          <p:spPr>
            <a:xfrm>
              <a:off x="982599" y="4821079"/>
              <a:ext cx="774570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DATABASE_URL içinde IP yerine Docker network servis adı kullanılır</a:t>
              </a:r>
            </a:p>
          </p:txBody>
        </p:sp>
      </p:grpSp>
      <p:grpSp>
        <p:nvGrpSpPr>
          <p:cNvPr id="25" name="objective-5"/>
          <p:cNvGrpSpPr/>
          <p:nvPr/>
        </p:nvGrpSpPr>
        <p:grpSpPr>
          <a:xfrm>
            <a:off x="685800" y="5482590"/>
            <a:ext cx="8771033" cy="637128"/>
            <a:chOff x="685800" y="5482590"/>
            <a:chExt cx="8771033" cy="637128"/>
          </a:xfrm>
        </p:grpSpPr>
        <p:sp>
          <p:nvSpPr>
            <p:cNvPr id="22" name="Rectangle 22"/>
            <p:cNvSpPr/>
            <p:nvPr/>
          </p:nvSpPr>
          <p:spPr>
            <a:xfrm>
              <a:off x="685800" y="5486400"/>
              <a:ext cx="57150" cy="495300"/>
            </a:xfrm>
            <a:prstGeom prst="rect">
              <a:avLst/>
            </a:prstGeom>
            <a:solidFill>
              <a:srgbClr val="00A6A6"/>
            </a:solidFill>
            <a:ln>
              <a:noFill/>
            </a:ln>
          </p:spPr>
        </p:sp>
        <p:sp>
          <p:nvSpPr>
            <p:cNvPr id="23" name="TextBox 23"/>
            <p:cNvSpPr txBox="1"/>
            <p:nvPr/>
          </p:nvSpPr>
          <p:spPr>
            <a:xfrm>
              <a:off x="981456" y="5482590"/>
              <a:ext cx="846138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Compose dosyasında servis, volume ve network tanımlarını kurmak</a:t>
              </a:r>
            </a:p>
          </p:txBody>
        </p:sp>
        <p:sp>
          <p:nvSpPr>
            <p:cNvPr id="24" name="TextBox 24"/>
            <p:cNvSpPr txBox="1"/>
            <p:nvPr/>
          </p:nvSpPr>
          <p:spPr>
            <a:xfrm>
              <a:off x="982599" y="5811679"/>
              <a:ext cx="847423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sırlar Dockerfile'a yazılmaz; healthcheck ile depends_on doğru koşullanır</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9402393" cy="668845"/>
            <a:chOff x="609600" y="171450"/>
            <a:chExt cx="9402393"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871202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Dockerfile'dan Compose'a</a:t>
              </a:r>
            </a:p>
          </p:txBody>
        </p:sp>
      </p:grpSp>
      <p:grpSp>
        <p:nvGrpSpPr>
          <p:cNvPr id="46" name="concept-map"/>
          <p:cNvGrpSpPr/>
          <p:nvPr/>
        </p:nvGrpSpPr>
        <p:grpSpPr>
          <a:xfrm>
            <a:off x="685800" y="1219200"/>
            <a:ext cx="11085353" cy="4886706"/>
            <a:chOff x="685800" y="1219200"/>
            <a:chExt cx="11085353" cy="4886706"/>
          </a:xfrm>
        </p:grpSpPr>
        <p:grpSp>
          <p:nvGrpSpPr>
            <p:cNvPr id="17" name="Group 17"/>
            <p:cNvGrpSpPr/>
            <p:nvPr/>
          </p:nvGrpSpPr>
          <p:grpSpPr>
            <a:xfrm>
              <a:off x="3143250" y="1581150"/>
              <a:ext cx="6953250" cy="4038600"/>
              <a:chOff x="3143250" y="1581150"/>
              <a:chExt cx="6953250" cy="4038600"/>
            </a:xfrm>
          </p:grpSpPr>
          <p:sp>
            <p:nvSpPr>
              <p:cNvPr id="9" name="Line 9"/>
              <p:cNvSpPr/>
              <p:nvPr/>
            </p:nvSpPr>
            <p:spPr>
              <a:xfrm flipV="1">
                <a:off x="3143250" y="1581150"/>
                <a:ext cx="1352550" cy="1514475"/>
              </a:xfrm>
              <a:prstGeom prst="line">
                <a:avLst/>
              </a:prstGeom>
              <a:noFill/>
              <a:ln w="23812">
                <a:solidFill>
                  <a:srgbClr val="00A6A6"/>
                </a:solidFill>
                <a:tailEnd type="arrow" w="lg" len="lg"/>
              </a:ln>
            </p:spPr>
          </p:sp>
          <p:sp>
            <p:nvSpPr>
              <p:cNvPr id="10" name="Line 10"/>
              <p:cNvSpPr/>
              <p:nvPr/>
            </p:nvSpPr>
            <p:spPr>
              <a:xfrm flipV="1">
                <a:off x="3143250" y="2571750"/>
                <a:ext cx="1352550" cy="523875"/>
              </a:xfrm>
              <a:prstGeom prst="line">
                <a:avLst/>
              </a:prstGeom>
              <a:noFill/>
              <a:ln w="23812">
                <a:solidFill>
                  <a:srgbClr val="00A6A6"/>
                </a:solidFill>
                <a:tailEnd type="arrow" w="lg" len="lg"/>
              </a:ln>
            </p:spPr>
          </p:sp>
          <p:sp>
            <p:nvSpPr>
              <p:cNvPr id="11" name="Line 11"/>
              <p:cNvSpPr/>
              <p:nvPr/>
            </p:nvSpPr>
            <p:spPr>
              <a:xfrm>
                <a:off x="3143250" y="3095625"/>
                <a:ext cx="1352550" cy="466725"/>
              </a:xfrm>
              <a:prstGeom prst="line">
                <a:avLst/>
              </a:prstGeom>
              <a:noFill/>
              <a:ln w="23812">
                <a:solidFill>
                  <a:srgbClr val="00A6A6"/>
                </a:solidFill>
                <a:tailEnd type="arrow" w="lg" len="lg"/>
              </a:ln>
            </p:spPr>
          </p:sp>
          <p:sp>
            <p:nvSpPr>
              <p:cNvPr id="12" name="Line 12"/>
              <p:cNvSpPr/>
              <p:nvPr/>
            </p:nvSpPr>
            <p:spPr>
              <a:xfrm>
                <a:off x="3143250" y="3095625"/>
                <a:ext cx="1352550" cy="1457325"/>
              </a:xfrm>
              <a:prstGeom prst="line">
                <a:avLst/>
              </a:prstGeom>
              <a:noFill/>
              <a:ln w="23812">
                <a:solidFill>
                  <a:srgbClr val="00A6A6"/>
                </a:solidFill>
                <a:tailEnd type="arrow" w="lg" len="lg"/>
              </a:ln>
            </p:spPr>
          </p:sp>
          <p:sp>
            <p:nvSpPr>
              <p:cNvPr id="13" name="Line 13"/>
              <p:cNvSpPr/>
              <p:nvPr/>
            </p:nvSpPr>
            <p:spPr>
              <a:xfrm>
                <a:off x="3143250" y="3095625"/>
                <a:ext cx="1352550" cy="2524125"/>
              </a:xfrm>
              <a:prstGeom prst="line">
                <a:avLst/>
              </a:prstGeom>
              <a:noFill/>
              <a:ln w="23812">
                <a:solidFill>
                  <a:srgbClr val="00A6A6"/>
                </a:solidFill>
                <a:tailEnd type="arrow" w="lg" len="lg"/>
              </a:ln>
            </p:spPr>
          </p:sp>
          <p:sp>
            <p:nvSpPr>
              <p:cNvPr id="14" name="Line 14"/>
              <p:cNvSpPr/>
              <p:nvPr/>
            </p:nvSpPr>
            <p:spPr>
              <a:xfrm>
                <a:off x="6477000" y="2952750"/>
                <a:ext cx="1" cy="190500"/>
              </a:xfrm>
              <a:prstGeom prst="line">
                <a:avLst/>
              </a:prstGeom>
              <a:noFill/>
              <a:ln w="19050">
                <a:solidFill>
                  <a:srgbClr val="52616B"/>
                </a:solidFill>
                <a:custDash>
                  <a:ds d="300000" sp="200000"/>
                </a:custDash>
                <a:tailEnd type="arrow" w="lg" len="lg"/>
              </a:ln>
            </p:spPr>
          </p:sp>
          <p:sp>
            <p:nvSpPr>
              <p:cNvPr id="15" name="Line 15"/>
              <p:cNvSpPr/>
              <p:nvPr/>
            </p:nvSpPr>
            <p:spPr>
              <a:xfrm flipV="1">
                <a:off x="6477000" y="3981450"/>
                <a:ext cx="1" cy="190500"/>
              </a:xfrm>
              <a:prstGeom prst="line">
                <a:avLst/>
              </a:prstGeom>
              <a:noFill/>
              <a:ln w="19050">
                <a:solidFill>
                  <a:srgbClr val="52616B"/>
                </a:solidFill>
                <a:custDash>
                  <a:ds d="300000" sp="200000"/>
                </a:custDash>
                <a:tailEnd type="arrow" w="lg" len="lg"/>
              </a:ln>
            </p:spPr>
          </p:sp>
          <p:sp>
            <p:nvSpPr>
              <p:cNvPr id="16" name="Line 16"/>
              <p:cNvSpPr/>
              <p:nvPr/>
            </p:nvSpPr>
            <p:spPr>
              <a:xfrm>
                <a:off x="8496300" y="1676400"/>
                <a:ext cx="1600200" cy="3581400"/>
              </a:xfrm>
              <a:prstGeom prst="line">
                <a:avLst/>
              </a:prstGeom>
              <a:noFill/>
              <a:ln w="19050">
                <a:solidFill>
                  <a:srgbClr val="52616B"/>
                </a:solidFill>
                <a:custDash>
                  <a:ds d="300000" sp="200000"/>
                </a:custDash>
                <a:tailEnd type="arrow" w="lg" len="lg"/>
              </a:ln>
            </p:spPr>
          </p:sp>
        </p:grpSp>
        <p:grpSp>
          <p:nvGrpSpPr>
            <p:cNvPr id="20" name="map-hub"/>
            <p:cNvGrpSpPr/>
            <p:nvPr/>
          </p:nvGrpSpPr>
          <p:grpSpPr>
            <a:xfrm>
              <a:off x="685800" y="2381250"/>
              <a:ext cx="2381250" cy="1428750"/>
              <a:chOff x="685800" y="2381250"/>
              <a:chExt cx="2381250" cy="1428750"/>
            </a:xfrm>
          </p:grpSpPr>
          <p:sp>
            <p:nvSpPr>
              <p:cNvPr id="18" name="Rectangle 18"/>
              <p:cNvSpPr/>
              <p:nvPr/>
            </p:nvSpPr>
            <p:spPr>
              <a:xfrm>
                <a:off x="685800" y="2381250"/>
                <a:ext cx="2381250" cy="1428750"/>
              </a:xfrm>
              <a:prstGeom prst="roundRect">
                <a:avLst>
                  <a:gd name="adj" fmla="val 6667"/>
                </a:avLst>
              </a:prstGeom>
              <a:solidFill>
                <a:srgbClr val="12355B"/>
              </a:solidFill>
              <a:ln>
                <a:noFill/>
              </a:ln>
            </p:spPr>
          </p:sp>
          <p:sp>
            <p:nvSpPr>
              <p:cNvPr id="19" name="TextBox 19"/>
              <p:cNvSpPr txBox="1"/>
              <p:nvPr/>
            </p:nvSpPr>
            <p:spPr>
              <a:xfrm>
                <a:off x="941832" y="2630805"/>
                <a:ext cx="1435513" cy="1134618"/>
              </a:xfrm>
              <a:prstGeom prst="rect">
                <a:avLst/>
              </a:prstGeom>
              <a:noFill/>
              <a:ln>
                <a:noFill/>
              </a:ln>
            </p:spPr>
            <p:txBody>
              <a:bodyPr wrap="none" lIns="0" tIns="0" rIns="0" bIns="0" anchor="t" anchorCtr="0">
                <a:spAutoFit/>
              </a:bodyPr>
              <a:lstStyle/>
              <a:p>
                <a:pPr algn="l">
                  <a:lnSpc>
                    <a:spcPts val="2850"/>
                  </a:lnSpc>
                </a:pPr>
                <a:r>
                  <a:rPr lang="tr-TR" sz="2100" b="1" dirty="0">
                    <a:solidFill>
                      <a:srgbClr val="FFFFFF"/>
                    </a:solidFill>
                    <a:latin typeface="+mn-lt"/>
                    <a:ea typeface="+mn-ea"/>
                    <a:cs typeface="+mn-cs"/>
                  </a:rPr>
                  <a:t>Dockerfile</a:t>
                </a:r>
                <a:br/>
                <a:r>
                  <a:rPr lang="tr-TR" sz="2100" b="1" dirty="0">
                    <a:solidFill>
                      <a:srgbClr val="FFFFFF"/>
                    </a:solidFill>
                    <a:latin typeface="+mn-lt"/>
                    <a:ea typeface="+mn-ea"/>
                    <a:cs typeface="+mn-cs"/>
                  </a:rPr>
                  <a:t>image için</a:t>
                </a:r>
                <a:br/>
                <a:r>
                  <a:rPr lang="tr-TR" sz="2100" b="1" dirty="0">
                    <a:solidFill>
                      <a:srgbClr val="FFFFFF"/>
                    </a:solidFill>
                    <a:latin typeface="+mn-lt"/>
                    <a:ea typeface="+mn-ea"/>
                    <a:cs typeface="+mn-cs"/>
                  </a:rPr>
                  <a:t>inşa tarifi</a:t>
                </a:r>
              </a:p>
            </p:txBody>
          </p:sp>
        </p:grpSp>
        <p:grpSp>
          <p:nvGrpSpPr>
            <p:cNvPr id="24" name="map-node-image"/>
            <p:cNvGrpSpPr/>
            <p:nvPr/>
          </p:nvGrpSpPr>
          <p:grpSpPr>
            <a:xfrm>
              <a:off x="4572000" y="1219200"/>
              <a:ext cx="3810000" cy="723900"/>
              <a:chOff x="4572000" y="1219200"/>
              <a:chExt cx="3810000" cy="723900"/>
            </a:xfrm>
          </p:grpSpPr>
          <p:sp>
            <p:nvSpPr>
              <p:cNvPr id="21" name="Rectangle 21"/>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2" name="TextBox 22"/>
              <p:cNvSpPr txBox="1"/>
              <p:nvPr/>
            </p:nvSpPr>
            <p:spPr>
              <a:xfrm>
                <a:off x="4791456" y="1329690"/>
                <a:ext cx="71303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Image</a:t>
                </a:r>
              </a:p>
            </p:txBody>
          </p:sp>
          <p:sp>
            <p:nvSpPr>
              <p:cNvPr id="23" name="TextBox 23"/>
              <p:cNvSpPr txBox="1"/>
              <p:nvPr/>
            </p:nvSpPr>
            <p:spPr>
              <a:xfrm>
                <a:off x="4792599" y="1601629"/>
                <a:ext cx="319586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salt okunur paketlenmiş taslak</a:t>
                </a:r>
              </a:p>
            </p:txBody>
          </p:sp>
        </p:grpSp>
        <p:grpSp>
          <p:nvGrpSpPr>
            <p:cNvPr id="28" name="map-node-container"/>
            <p:cNvGrpSpPr/>
            <p:nvPr/>
          </p:nvGrpSpPr>
          <p:grpSpPr>
            <a:xfrm>
              <a:off x="4572000" y="2209800"/>
              <a:ext cx="3810000" cy="723900"/>
              <a:chOff x="4572000" y="2209800"/>
              <a:chExt cx="3810000" cy="723900"/>
            </a:xfrm>
          </p:grpSpPr>
          <p:sp>
            <p:nvSpPr>
              <p:cNvPr id="25" name="Rectangle 25"/>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26" name="TextBox 26"/>
              <p:cNvSpPr txBox="1"/>
              <p:nvPr/>
            </p:nvSpPr>
            <p:spPr>
              <a:xfrm>
                <a:off x="4791456" y="2320290"/>
                <a:ext cx="122163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Container</a:t>
                </a:r>
              </a:p>
            </p:txBody>
          </p:sp>
          <p:sp>
            <p:nvSpPr>
              <p:cNvPr id="27" name="TextBox 27"/>
              <p:cNvSpPr txBox="1"/>
              <p:nvPr/>
            </p:nvSpPr>
            <p:spPr>
              <a:xfrm>
                <a:off x="4792599" y="2592229"/>
                <a:ext cx="342983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image'dan üretilen çalışan örnek</a:t>
                </a:r>
              </a:p>
            </p:txBody>
          </p:sp>
        </p:grpSp>
        <p:grpSp>
          <p:nvGrpSpPr>
            <p:cNvPr id="32" name="map-node-volume"/>
            <p:cNvGrpSpPr/>
            <p:nvPr/>
          </p:nvGrpSpPr>
          <p:grpSpPr>
            <a:xfrm>
              <a:off x="4572000" y="3200400"/>
              <a:ext cx="3810000" cy="723900"/>
              <a:chOff x="4572000" y="3200400"/>
              <a:chExt cx="3810000" cy="723900"/>
            </a:xfrm>
          </p:grpSpPr>
          <p:sp>
            <p:nvSpPr>
              <p:cNvPr id="29" name="Rectangle 29"/>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0" name="TextBox 30"/>
              <p:cNvSpPr txBox="1"/>
              <p:nvPr/>
            </p:nvSpPr>
            <p:spPr>
              <a:xfrm>
                <a:off x="4791456" y="3310890"/>
                <a:ext cx="85299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Volume</a:t>
                </a:r>
              </a:p>
            </p:txBody>
          </p:sp>
          <p:sp>
            <p:nvSpPr>
              <p:cNvPr id="31" name="TextBox 31"/>
              <p:cNvSpPr txBox="1"/>
              <p:nvPr/>
            </p:nvSpPr>
            <p:spPr>
              <a:xfrm>
                <a:off x="4792599" y="3582829"/>
                <a:ext cx="356808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container ötesi kalıcı veri deposu</a:t>
                </a:r>
              </a:p>
            </p:txBody>
          </p:sp>
        </p:grpSp>
        <p:grpSp>
          <p:nvGrpSpPr>
            <p:cNvPr id="36" name="map-node-network"/>
            <p:cNvGrpSpPr/>
            <p:nvPr/>
          </p:nvGrpSpPr>
          <p:grpSpPr>
            <a:xfrm>
              <a:off x="4572000" y="4191000"/>
              <a:ext cx="3810000" cy="723900"/>
              <a:chOff x="4572000" y="4191000"/>
              <a:chExt cx="3810000" cy="723900"/>
            </a:xfrm>
          </p:grpSpPr>
          <p:sp>
            <p:nvSpPr>
              <p:cNvPr id="33" name="Rectangle 33"/>
              <p:cNvSpPr/>
              <p:nvPr/>
            </p:nvSpPr>
            <p:spPr>
              <a:xfrm>
                <a:off x="4572000" y="4191000"/>
                <a:ext cx="3810000" cy="723900"/>
              </a:xfrm>
              <a:prstGeom prst="roundRect">
                <a:avLst>
                  <a:gd name="adj" fmla="val 13158"/>
                </a:avLst>
              </a:prstGeom>
              <a:solidFill>
                <a:srgbClr val="FFFFFF"/>
              </a:solidFill>
              <a:ln w="14288">
                <a:solidFill>
                  <a:srgbClr val="2E86AB"/>
                </a:solidFill>
              </a:ln>
            </p:spPr>
          </p:sp>
          <p:sp>
            <p:nvSpPr>
              <p:cNvPr id="34" name="TextBox 34"/>
              <p:cNvSpPr txBox="1"/>
              <p:nvPr/>
            </p:nvSpPr>
            <p:spPr>
              <a:xfrm>
                <a:off x="4791456" y="4301490"/>
                <a:ext cx="105706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Network</a:t>
                </a:r>
              </a:p>
            </p:txBody>
          </p:sp>
          <p:sp>
            <p:nvSpPr>
              <p:cNvPr id="35" name="TextBox 35"/>
              <p:cNvSpPr txBox="1"/>
              <p:nvPr/>
            </p:nvSpPr>
            <p:spPr>
              <a:xfrm>
                <a:off x="4792599" y="4573429"/>
                <a:ext cx="355745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container'lar arası isimle iletişim</a:t>
                </a:r>
              </a:p>
            </p:txBody>
          </p:sp>
        </p:grpSp>
        <p:grpSp>
          <p:nvGrpSpPr>
            <p:cNvPr id="40" name="map-node-compose"/>
            <p:cNvGrpSpPr/>
            <p:nvPr/>
          </p:nvGrpSpPr>
          <p:grpSpPr>
            <a:xfrm>
              <a:off x="4572000" y="5334000"/>
              <a:ext cx="7199153" cy="723900"/>
              <a:chOff x="4572000" y="5334000"/>
              <a:chExt cx="7199153" cy="723900"/>
            </a:xfrm>
          </p:grpSpPr>
          <p:sp>
            <p:nvSpPr>
              <p:cNvPr id="37" name="Rectangle 37"/>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38" name="TextBox 38"/>
              <p:cNvSpPr txBox="1"/>
              <p:nvPr/>
            </p:nvSpPr>
            <p:spPr>
              <a:xfrm>
                <a:off x="4791456" y="5444490"/>
                <a:ext cx="198164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Docker Compose</a:t>
                </a:r>
              </a:p>
            </p:txBody>
          </p:sp>
          <p:sp>
            <p:nvSpPr>
              <p:cNvPr id="39" name="TextBox 39"/>
              <p:cNvSpPr txBox="1"/>
              <p:nvPr/>
            </p:nvSpPr>
            <p:spPr>
              <a:xfrm>
                <a:off x="4792599" y="5716429"/>
                <a:ext cx="697855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servisleri, volume'ü ve network'ü tek YAML dosyasında birleştirir</a:t>
                </a:r>
              </a:p>
            </p:txBody>
          </p:sp>
        </p:grpSp>
        <p:grpSp>
          <p:nvGrpSpPr>
            <p:cNvPr id="45" name="map-legend"/>
            <p:cNvGrpSpPr/>
            <p:nvPr/>
          </p:nvGrpSpPr>
          <p:grpSpPr>
            <a:xfrm>
              <a:off x="685800" y="5528310"/>
              <a:ext cx="4595284" cy="577596"/>
              <a:chOff x="685800" y="5528310"/>
              <a:chExt cx="4595284" cy="577596"/>
            </a:xfrm>
          </p:grpSpPr>
          <p:sp>
            <p:nvSpPr>
              <p:cNvPr id="41" name="Line 41"/>
              <p:cNvSpPr/>
              <p:nvPr/>
            </p:nvSpPr>
            <p:spPr>
              <a:xfrm>
                <a:off x="685800" y="5600700"/>
                <a:ext cx="304800" cy="1"/>
              </a:xfrm>
              <a:prstGeom prst="line">
                <a:avLst/>
              </a:prstGeom>
              <a:noFill/>
              <a:ln w="23812">
                <a:solidFill>
                  <a:srgbClr val="00A6A6"/>
                </a:solidFill>
                <a:tailEnd type="arrow" w="lg" len="lg"/>
              </a:ln>
            </p:spPr>
          </p:sp>
          <p:sp>
            <p:nvSpPr>
              <p:cNvPr id="42" name="TextBox 42"/>
              <p:cNvSpPr txBox="1"/>
              <p:nvPr/>
            </p:nvSpPr>
            <p:spPr>
              <a:xfrm>
                <a:off x="1079754" y="5528310"/>
                <a:ext cx="37328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Dockerfile'dan türeyen inşa/çalıştırma zinciri</a:t>
                </a:r>
              </a:p>
            </p:txBody>
          </p:sp>
          <p:sp>
            <p:nvSpPr>
              <p:cNvPr id="43" name="Line 43"/>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4" name="TextBox 44"/>
              <p:cNvSpPr txBox="1"/>
              <p:nvPr/>
            </p:nvSpPr>
            <p:spPr>
              <a:xfrm>
                <a:off x="1079754" y="5871210"/>
                <a:ext cx="420133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Container'ın volume/network ile tamamlayıcı ilişkisi</a:t>
                </a:r>
              </a:p>
            </p:txBody>
          </p:sp>
        </p:gr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140412" cy="668845"/>
            <a:chOff x="609600" y="171450"/>
            <a:chExt cx="7140412"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645004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 (1/2)</a:t>
              </a:r>
            </a:p>
          </p:txBody>
        </p:sp>
      </p:grpSp>
      <p:grpSp>
        <p:nvGrpSpPr>
          <p:cNvPr id="17" name="table-header"/>
          <p:cNvGrpSpPr/>
          <p:nvPr/>
        </p:nvGrpSpPr>
        <p:grpSpPr>
          <a:xfrm>
            <a:off x="609600" y="1181100"/>
            <a:ext cx="10972800" cy="419100"/>
            <a:chOff x="609600" y="1181100"/>
            <a:chExt cx="10972800" cy="419100"/>
          </a:xfrm>
        </p:grpSpPr>
        <p:sp>
          <p:nvSpPr>
            <p:cNvPr id="13" name="Rectangle 13"/>
            <p:cNvSpPr/>
            <p:nvPr/>
          </p:nvSpPr>
          <p:spPr>
            <a:xfrm>
              <a:off x="609600" y="1181100"/>
              <a:ext cx="10972800" cy="419100"/>
            </a:xfrm>
            <a:prstGeom prst="rect">
              <a:avLst/>
            </a:prstGeom>
            <a:solidFill>
              <a:srgbClr val="12355B"/>
            </a:solidFill>
            <a:ln>
              <a:noFill/>
            </a:ln>
          </p:spPr>
        </p:sp>
        <p:sp>
          <p:nvSpPr>
            <p:cNvPr id="14" name="TextBox 14"/>
            <p:cNvSpPr txBox="1"/>
            <p:nvPr/>
          </p:nvSpPr>
          <p:spPr>
            <a:xfrm>
              <a:off x="830199" y="1277779"/>
              <a:ext cx="805047"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Kavram</a:t>
              </a:r>
            </a:p>
          </p:txBody>
        </p:sp>
        <p:sp>
          <p:nvSpPr>
            <p:cNvPr id="15" name="TextBox 15"/>
            <p:cNvSpPr txBox="1"/>
            <p:nvPr/>
          </p:nvSpPr>
          <p:spPr>
            <a:xfrm>
              <a:off x="3497199" y="1277779"/>
              <a:ext cx="1306784"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Sorumluluğu</a:t>
              </a:r>
            </a:p>
          </p:txBody>
        </p:sp>
        <p:sp>
          <p:nvSpPr>
            <p:cNvPr id="16" name="TextBox 16"/>
            <p:cNvSpPr txBox="1"/>
            <p:nvPr/>
          </p:nvSpPr>
          <p:spPr>
            <a:xfrm>
              <a:off x="7802499" y="1277779"/>
              <a:ext cx="1955726"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Sorumlu OLMADIĞI</a:t>
              </a:r>
            </a:p>
          </p:txBody>
        </p:sp>
      </p:grpSp>
      <p:grpSp>
        <p:nvGrpSpPr>
          <p:cNvPr id="22" name="row-engine"/>
          <p:cNvGrpSpPr/>
          <p:nvPr/>
        </p:nvGrpSpPr>
        <p:grpSpPr>
          <a:xfrm>
            <a:off x="609600" y="1600200"/>
            <a:ext cx="10972800" cy="876300"/>
            <a:chOff x="609600" y="1600200"/>
            <a:chExt cx="10972800" cy="876300"/>
          </a:xfrm>
        </p:grpSpPr>
        <p:sp>
          <p:nvSpPr>
            <p:cNvPr id="18" name="Rectangle 18"/>
            <p:cNvSpPr/>
            <p:nvPr/>
          </p:nvSpPr>
          <p:spPr>
            <a:xfrm>
              <a:off x="609600" y="1600200"/>
              <a:ext cx="10972800" cy="876300"/>
            </a:xfrm>
            <a:prstGeom prst="rect">
              <a:avLst/>
            </a:prstGeom>
            <a:solidFill>
              <a:srgbClr val="FFFFFF"/>
            </a:solidFill>
            <a:ln w="9525">
              <a:solidFill>
                <a:srgbClr val="B8CBD3"/>
              </a:solidFill>
            </a:ln>
          </p:spPr>
        </p:sp>
        <p:sp>
          <p:nvSpPr>
            <p:cNvPr id="19" name="TextBox 19"/>
            <p:cNvSpPr txBox="1"/>
            <p:nvPr/>
          </p:nvSpPr>
          <p:spPr>
            <a:xfrm>
              <a:off x="829056" y="1748790"/>
              <a:ext cx="172622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Docker Engine</a:t>
              </a:r>
            </a:p>
          </p:txBody>
        </p:sp>
        <p:sp>
          <p:nvSpPr>
            <p:cNvPr id="20" name="TextBox 20"/>
            <p:cNvSpPr txBox="1"/>
            <p:nvPr/>
          </p:nvSpPr>
          <p:spPr>
            <a:xfrm>
              <a:off x="3497199" y="1715929"/>
              <a:ext cx="3587750"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Image'ları inşa eder,</a:t>
              </a:r>
              <a:br/>
              <a:r>
                <a:rPr lang="tr-TR" sz="1580" dirty="0">
                  <a:solidFill>
                    <a:srgbClr val="172B3A"/>
                  </a:solidFill>
                  <a:latin typeface="+mn-lt"/>
                  <a:ea typeface="+mn-ea"/>
                  <a:cs typeface="+mn-cs"/>
                </a:rPr>
                <a:t>container'ları çalıştırıp izole eder</a:t>
              </a:r>
            </a:p>
          </p:txBody>
        </p:sp>
        <p:sp>
          <p:nvSpPr>
            <p:cNvPr id="21" name="TextBox 21"/>
            <p:cNvSpPr txBox="1"/>
            <p:nvPr/>
          </p:nvSpPr>
          <p:spPr>
            <a:xfrm>
              <a:off x="7802499" y="1715929"/>
              <a:ext cx="2153031"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52616B"/>
                  </a:solidFill>
                  <a:latin typeface="+mn-lt"/>
                  <a:ea typeface="+mn-ea"/>
                  <a:cs typeface="+mn-cs"/>
                </a:rPr>
                <a:t>Uygulama kodunun</a:t>
              </a:r>
              <a:br/>
              <a:r>
                <a:rPr lang="tr-TR" sz="1580" dirty="0">
                  <a:solidFill>
                    <a:srgbClr val="52616B"/>
                  </a:solidFill>
                  <a:latin typeface="+mn-lt"/>
                  <a:ea typeface="+mn-ea"/>
                  <a:cs typeface="+mn-cs"/>
                </a:rPr>
                <a:t>iş mantığını üretmez</a:t>
              </a:r>
            </a:p>
          </p:txBody>
        </p:sp>
      </p:grpSp>
      <p:grpSp>
        <p:nvGrpSpPr>
          <p:cNvPr id="27" name="row-dockerfile"/>
          <p:cNvGrpSpPr/>
          <p:nvPr/>
        </p:nvGrpSpPr>
        <p:grpSpPr>
          <a:xfrm>
            <a:off x="609600" y="2476500"/>
            <a:ext cx="10972800" cy="876300"/>
            <a:chOff x="609600" y="2476500"/>
            <a:chExt cx="10972800" cy="876300"/>
          </a:xfrm>
        </p:grpSpPr>
        <p:sp>
          <p:nvSpPr>
            <p:cNvPr id="23" name="Rectangle 23"/>
            <p:cNvSpPr/>
            <p:nvPr/>
          </p:nvSpPr>
          <p:spPr>
            <a:xfrm>
              <a:off x="609600" y="2476500"/>
              <a:ext cx="10972800" cy="876300"/>
            </a:xfrm>
            <a:prstGeom prst="rect">
              <a:avLst/>
            </a:prstGeom>
            <a:solidFill>
              <a:srgbClr val="EAF4F6"/>
            </a:solidFill>
            <a:ln w="9525">
              <a:solidFill>
                <a:srgbClr val="B8CBD3"/>
              </a:solidFill>
            </a:ln>
          </p:spPr>
        </p:sp>
        <p:sp>
          <p:nvSpPr>
            <p:cNvPr id="24" name="TextBox 24"/>
            <p:cNvSpPr txBox="1"/>
            <p:nvPr/>
          </p:nvSpPr>
          <p:spPr>
            <a:xfrm>
              <a:off x="829056" y="2625090"/>
              <a:ext cx="129764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Dockerfile</a:t>
              </a:r>
            </a:p>
          </p:txBody>
        </p:sp>
        <p:sp>
          <p:nvSpPr>
            <p:cNvPr id="25" name="TextBox 25"/>
            <p:cNvSpPr txBox="1"/>
            <p:nvPr/>
          </p:nvSpPr>
          <p:spPr>
            <a:xfrm>
              <a:off x="3497199" y="2592229"/>
              <a:ext cx="2243328"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Bir image'ın nasıl inşa</a:t>
              </a:r>
              <a:br/>
              <a:r>
                <a:rPr lang="tr-TR" sz="1580" dirty="0">
                  <a:solidFill>
                    <a:srgbClr val="172B3A"/>
                  </a:solidFill>
                  <a:latin typeface="+mn-lt"/>
                  <a:ea typeface="+mn-ea"/>
                  <a:cs typeface="+mn-cs"/>
                </a:rPr>
                <a:t>edileceğinin tarifidir</a:t>
              </a:r>
            </a:p>
          </p:txBody>
        </p:sp>
        <p:sp>
          <p:nvSpPr>
            <p:cNvPr id="26" name="TextBox 26"/>
            <p:cNvSpPr txBox="1"/>
            <p:nvPr/>
          </p:nvSpPr>
          <p:spPr>
            <a:xfrm>
              <a:off x="7802499" y="2592229"/>
              <a:ext cx="2594483"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52616B"/>
                  </a:solidFill>
                  <a:latin typeface="+mn-lt"/>
                  <a:ea typeface="+mn-ea"/>
                  <a:cs typeface="+mn-cs"/>
                </a:rPr>
                <a:t>Çalışan bir süreç değildir,</a:t>
              </a:r>
              <a:br/>
              <a:r>
                <a:rPr lang="tr-TR" sz="1580" dirty="0">
                  <a:solidFill>
                    <a:srgbClr val="52616B"/>
                  </a:solidFill>
                  <a:latin typeface="+mn-lt"/>
                  <a:ea typeface="+mn-ea"/>
                  <a:cs typeface="+mn-cs"/>
                </a:rPr>
                <a:t>yalnızca talimat metnidir</a:t>
              </a:r>
            </a:p>
          </p:txBody>
        </p:sp>
      </p:grpSp>
      <p:grpSp>
        <p:nvGrpSpPr>
          <p:cNvPr id="32" name="row-image"/>
          <p:cNvGrpSpPr/>
          <p:nvPr/>
        </p:nvGrpSpPr>
        <p:grpSpPr>
          <a:xfrm>
            <a:off x="609600" y="3352800"/>
            <a:ext cx="10972800" cy="876300"/>
            <a:chOff x="609600" y="3352800"/>
            <a:chExt cx="10972800" cy="876300"/>
          </a:xfrm>
        </p:grpSpPr>
        <p:sp>
          <p:nvSpPr>
            <p:cNvPr id="28" name="Rectangle 28"/>
            <p:cNvSpPr/>
            <p:nvPr/>
          </p:nvSpPr>
          <p:spPr>
            <a:xfrm>
              <a:off x="609600" y="3352800"/>
              <a:ext cx="10972800" cy="876300"/>
            </a:xfrm>
            <a:prstGeom prst="rect">
              <a:avLst/>
            </a:prstGeom>
            <a:solidFill>
              <a:srgbClr val="FFFFFF"/>
            </a:solidFill>
            <a:ln w="9525">
              <a:solidFill>
                <a:srgbClr val="B8CBD3"/>
              </a:solidFill>
            </a:ln>
          </p:spPr>
        </p:sp>
        <p:sp>
          <p:nvSpPr>
            <p:cNvPr id="29" name="TextBox 29"/>
            <p:cNvSpPr txBox="1"/>
            <p:nvPr/>
          </p:nvSpPr>
          <p:spPr>
            <a:xfrm>
              <a:off x="829056" y="3501390"/>
              <a:ext cx="71303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Image</a:t>
              </a:r>
            </a:p>
          </p:txBody>
        </p:sp>
        <p:sp>
          <p:nvSpPr>
            <p:cNvPr id="30" name="TextBox 30"/>
            <p:cNvSpPr txBox="1"/>
            <p:nvPr/>
          </p:nvSpPr>
          <p:spPr>
            <a:xfrm>
              <a:off x="3497199" y="3468529"/>
              <a:ext cx="2975737"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Salt okunur, katmanlı,</a:t>
              </a:r>
              <a:br/>
              <a:r>
                <a:rPr lang="tr-TR" sz="1580" dirty="0">
                  <a:solidFill>
                    <a:srgbClr val="172B3A"/>
                  </a:solidFill>
                  <a:latin typeface="+mn-lt"/>
                  <a:ea typeface="+mn-ea"/>
                  <a:cs typeface="+mn-cs"/>
                </a:rPr>
                <a:t>taşınabilir paket görevi görür</a:t>
              </a:r>
            </a:p>
          </p:txBody>
        </p:sp>
        <p:sp>
          <p:nvSpPr>
            <p:cNvPr id="31" name="TextBox 31"/>
            <p:cNvSpPr txBox="1"/>
            <p:nvPr/>
          </p:nvSpPr>
          <p:spPr>
            <a:xfrm>
              <a:off x="7802499" y="3468529"/>
              <a:ext cx="2484120"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52616B"/>
                  </a:solidFill>
                  <a:latin typeface="+mn-lt"/>
                  <a:ea typeface="+mn-ea"/>
                  <a:cs typeface="+mn-cs"/>
                </a:rPr>
                <a:t>Kendi başına çalışan bir</a:t>
              </a:r>
              <a:br/>
              <a:r>
                <a:rPr lang="tr-TR" sz="1580" dirty="0">
                  <a:solidFill>
                    <a:srgbClr val="52616B"/>
                  </a:solidFill>
                  <a:latin typeface="+mn-lt"/>
                  <a:ea typeface="+mn-ea"/>
                  <a:cs typeface="+mn-cs"/>
                </a:rPr>
                <a:t>süreç veya durum tutmaz</a:t>
              </a:r>
            </a:p>
          </p:txBody>
        </p:sp>
      </p:grpSp>
      <p:grpSp>
        <p:nvGrpSpPr>
          <p:cNvPr id="37" name="row-container"/>
          <p:cNvGrpSpPr/>
          <p:nvPr/>
        </p:nvGrpSpPr>
        <p:grpSpPr>
          <a:xfrm>
            <a:off x="609600" y="4229100"/>
            <a:ext cx="10972800" cy="876300"/>
            <a:chOff x="609600" y="4229100"/>
            <a:chExt cx="10972800" cy="876300"/>
          </a:xfrm>
        </p:grpSpPr>
        <p:sp>
          <p:nvSpPr>
            <p:cNvPr id="33" name="Rectangle 33"/>
            <p:cNvSpPr/>
            <p:nvPr/>
          </p:nvSpPr>
          <p:spPr>
            <a:xfrm>
              <a:off x="609600" y="4229100"/>
              <a:ext cx="10972800" cy="876300"/>
            </a:xfrm>
            <a:prstGeom prst="rect">
              <a:avLst/>
            </a:prstGeom>
            <a:solidFill>
              <a:srgbClr val="EAF4F6"/>
            </a:solidFill>
            <a:ln w="9525">
              <a:solidFill>
                <a:srgbClr val="B8CBD3"/>
              </a:solidFill>
            </a:ln>
          </p:spPr>
        </p:sp>
        <p:sp>
          <p:nvSpPr>
            <p:cNvPr id="34" name="TextBox 34"/>
            <p:cNvSpPr txBox="1"/>
            <p:nvPr/>
          </p:nvSpPr>
          <p:spPr>
            <a:xfrm>
              <a:off x="829056" y="4377690"/>
              <a:ext cx="122163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Container</a:t>
              </a:r>
            </a:p>
          </p:txBody>
        </p:sp>
        <p:sp>
          <p:nvSpPr>
            <p:cNvPr id="35" name="TextBox 35"/>
            <p:cNvSpPr txBox="1"/>
            <p:nvPr/>
          </p:nvSpPr>
          <p:spPr>
            <a:xfrm>
              <a:off x="3497199" y="4344829"/>
              <a:ext cx="2724912"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Image'dan türeyen, çalışan</a:t>
              </a:r>
              <a:br/>
              <a:r>
                <a:rPr lang="tr-TR" sz="1580" dirty="0">
                  <a:solidFill>
                    <a:srgbClr val="172B3A"/>
                  </a:solidFill>
                  <a:latin typeface="+mn-lt"/>
                  <a:ea typeface="+mn-ea"/>
                  <a:cs typeface="+mn-cs"/>
                </a:rPr>
                <a:t>ve durum taşıyan örnektir</a:t>
              </a:r>
            </a:p>
          </p:txBody>
        </p:sp>
        <p:sp>
          <p:nvSpPr>
            <p:cNvPr id="36" name="TextBox 36"/>
            <p:cNvSpPr txBox="1"/>
            <p:nvPr/>
          </p:nvSpPr>
          <p:spPr>
            <a:xfrm>
              <a:off x="7802499" y="4344829"/>
              <a:ext cx="3668014"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52616B"/>
                  </a:solidFill>
                  <a:latin typeface="+mn-lt"/>
                  <a:ea typeface="+mn-ea"/>
                  <a:cs typeface="+mn-cs"/>
                </a:rPr>
                <a:t>Kalıcı veriyi kendi</a:t>
              </a:r>
              <a:br/>
              <a:r>
                <a:rPr lang="tr-TR" sz="1580" dirty="0">
                  <a:solidFill>
                    <a:srgbClr val="52616B"/>
                  </a:solidFill>
                  <a:latin typeface="+mn-lt"/>
                  <a:ea typeface="+mn-ea"/>
                  <a:cs typeface="+mn-cs"/>
                </a:rPr>
                <a:t>yazılabilir katmanında garanti etmez</a:t>
              </a:r>
            </a:p>
          </p:txBody>
        </p:sp>
      </p:grpSp>
      <p:grpSp>
        <p:nvGrpSpPr>
          <p:cNvPr id="43" name="row-note"/>
          <p:cNvGrpSpPr/>
          <p:nvPr/>
        </p:nvGrpSpPr>
        <p:grpSpPr>
          <a:xfrm>
            <a:off x="609600" y="5257800"/>
            <a:ext cx="10972800" cy="867156"/>
            <a:chOff x="609600" y="5257800"/>
            <a:chExt cx="10972800" cy="867156"/>
          </a:xfrm>
        </p:grpSpPr>
        <p:sp>
          <p:nvSpPr>
            <p:cNvPr id="38" name="Rectangle 38"/>
            <p:cNvSpPr/>
            <p:nvPr/>
          </p:nvSpPr>
          <p:spPr>
            <a:xfrm>
              <a:off x="609600" y="5257800"/>
              <a:ext cx="10972800" cy="800100"/>
            </a:xfrm>
            <a:prstGeom prst="roundRect">
              <a:avLst>
                <a:gd name="adj" fmla="val 9524"/>
              </a:avLst>
            </a:prstGeom>
            <a:solidFill>
              <a:srgbClr val="EAF4F6"/>
            </a:solidFill>
            <a:ln>
              <a:noFill/>
            </a:ln>
          </p:spPr>
        </p:sp>
        <p:sp>
          <p:nvSpPr>
            <p:cNvPr id="39" name="Rectangle 39"/>
            <p:cNvSpPr/>
            <p:nvPr/>
          </p:nvSpPr>
          <p:spPr>
            <a:xfrm>
              <a:off x="609600" y="5257800"/>
              <a:ext cx="57150" cy="800100"/>
            </a:xfrm>
            <a:prstGeom prst="rect">
              <a:avLst/>
            </a:prstGeom>
            <a:solidFill>
              <a:srgbClr val="00A6A6"/>
            </a:solidFill>
            <a:ln>
              <a:noFill/>
            </a:ln>
          </p:spPr>
        </p:sp>
        <p:sp>
          <p:nvSpPr>
            <p:cNvPr id="40" name="TextBox 40"/>
            <p:cNvSpPr txBox="1"/>
            <p:nvPr/>
          </p:nvSpPr>
          <p:spPr>
            <a:xfrm>
              <a:off x="906399" y="5392579"/>
              <a:ext cx="222363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Ayrım neden önemli?</a:t>
              </a:r>
            </a:p>
          </p:txBody>
        </p:sp>
        <p:sp>
          <p:nvSpPr>
            <p:cNvPr id="41" name="TextBox 41"/>
            <p:cNvSpPr txBox="1"/>
            <p:nvPr/>
          </p:nvSpPr>
          <p:spPr>
            <a:xfrm>
              <a:off x="906399" y="5659279"/>
              <a:ext cx="838237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Dockerfile ile image'ı, image ile container'ı karıştırmak; "neden her seferinde</a:t>
              </a:r>
            </a:p>
          </p:txBody>
        </p:sp>
        <p:sp>
          <p:nvSpPr>
            <p:cNvPr id="42" name="TextBox 42"/>
            <p:cNvSpPr txBox="1"/>
            <p:nvPr/>
          </p:nvSpPr>
          <p:spPr>
            <a:xfrm>
              <a:off x="908304" y="5890260"/>
              <a:ext cx="748360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yeniden build ediyorum" ya da "container silinince neden her şey uçuyor" gibi hatalara yol açar.</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140412" cy="668845"/>
            <a:chOff x="609600" y="171450"/>
            <a:chExt cx="7140412"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645004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 (2/2)</a:t>
              </a:r>
            </a:p>
          </p:txBody>
        </p:sp>
      </p:grpSp>
      <p:grpSp>
        <p:nvGrpSpPr>
          <p:cNvPr id="17" name="table-header"/>
          <p:cNvGrpSpPr/>
          <p:nvPr/>
        </p:nvGrpSpPr>
        <p:grpSpPr>
          <a:xfrm>
            <a:off x="609600" y="1181100"/>
            <a:ext cx="10972800" cy="419100"/>
            <a:chOff x="609600" y="1181100"/>
            <a:chExt cx="10972800" cy="419100"/>
          </a:xfrm>
        </p:grpSpPr>
        <p:sp>
          <p:nvSpPr>
            <p:cNvPr id="13" name="Rectangle 13"/>
            <p:cNvSpPr/>
            <p:nvPr/>
          </p:nvSpPr>
          <p:spPr>
            <a:xfrm>
              <a:off x="609600" y="1181100"/>
              <a:ext cx="10972800" cy="419100"/>
            </a:xfrm>
            <a:prstGeom prst="rect">
              <a:avLst/>
            </a:prstGeom>
            <a:solidFill>
              <a:srgbClr val="12355B"/>
            </a:solidFill>
            <a:ln>
              <a:noFill/>
            </a:ln>
          </p:spPr>
        </p:sp>
        <p:sp>
          <p:nvSpPr>
            <p:cNvPr id="14" name="TextBox 14"/>
            <p:cNvSpPr txBox="1"/>
            <p:nvPr/>
          </p:nvSpPr>
          <p:spPr>
            <a:xfrm>
              <a:off x="830199" y="1277779"/>
              <a:ext cx="805047"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Kavram</a:t>
              </a:r>
            </a:p>
          </p:txBody>
        </p:sp>
        <p:sp>
          <p:nvSpPr>
            <p:cNvPr id="15" name="TextBox 15"/>
            <p:cNvSpPr txBox="1"/>
            <p:nvPr/>
          </p:nvSpPr>
          <p:spPr>
            <a:xfrm>
              <a:off x="3497199" y="1277779"/>
              <a:ext cx="1306784"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Sorumluluğu</a:t>
              </a:r>
            </a:p>
          </p:txBody>
        </p:sp>
        <p:sp>
          <p:nvSpPr>
            <p:cNvPr id="16" name="TextBox 16"/>
            <p:cNvSpPr txBox="1"/>
            <p:nvPr/>
          </p:nvSpPr>
          <p:spPr>
            <a:xfrm>
              <a:off x="7802499" y="1277779"/>
              <a:ext cx="1955726"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Sorumlu OLMADIĞI</a:t>
              </a:r>
            </a:p>
          </p:txBody>
        </p:sp>
      </p:grpSp>
      <p:grpSp>
        <p:nvGrpSpPr>
          <p:cNvPr id="22" name="row-volume"/>
          <p:cNvGrpSpPr/>
          <p:nvPr/>
        </p:nvGrpSpPr>
        <p:grpSpPr>
          <a:xfrm>
            <a:off x="609600" y="1600200"/>
            <a:ext cx="10972800" cy="876300"/>
            <a:chOff x="609600" y="1600200"/>
            <a:chExt cx="10972800" cy="876300"/>
          </a:xfrm>
        </p:grpSpPr>
        <p:sp>
          <p:nvSpPr>
            <p:cNvPr id="18" name="Rectangle 18"/>
            <p:cNvSpPr/>
            <p:nvPr/>
          </p:nvSpPr>
          <p:spPr>
            <a:xfrm>
              <a:off x="609600" y="1600200"/>
              <a:ext cx="10972800" cy="876300"/>
            </a:xfrm>
            <a:prstGeom prst="rect">
              <a:avLst/>
            </a:prstGeom>
            <a:solidFill>
              <a:srgbClr val="FFFFFF"/>
            </a:solidFill>
            <a:ln w="9525">
              <a:solidFill>
                <a:srgbClr val="B8CBD3"/>
              </a:solidFill>
            </a:ln>
          </p:spPr>
        </p:sp>
        <p:sp>
          <p:nvSpPr>
            <p:cNvPr id="19" name="TextBox 19"/>
            <p:cNvSpPr txBox="1"/>
            <p:nvPr/>
          </p:nvSpPr>
          <p:spPr>
            <a:xfrm>
              <a:off x="829056" y="1748790"/>
              <a:ext cx="85299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Volume</a:t>
              </a:r>
            </a:p>
          </p:txBody>
        </p:sp>
        <p:sp>
          <p:nvSpPr>
            <p:cNvPr id="20" name="TextBox 20"/>
            <p:cNvSpPr txBox="1"/>
            <p:nvPr/>
          </p:nvSpPr>
          <p:spPr>
            <a:xfrm>
              <a:off x="3497199" y="1715929"/>
              <a:ext cx="3216529"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Container'ın yaşam döngüsünden</a:t>
              </a:r>
              <a:br/>
              <a:r>
                <a:rPr lang="tr-TR" sz="1580" dirty="0">
                  <a:solidFill>
                    <a:srgbClr val="172B3A"/>
                  </a:solidFill>
                  <a:latin typeface="+mn-lt"/>
                  <a:ea typeface="+mn-ea"/>
                  <a:cs typeface="+mn-cs"/>
                </a:rPr>
                <a:t>bağımsız veri kalıcılığı sağlar</a:t>
              </a:r>
            </a:p>
          </p:txBody>
        </p:sp>
        <p:sp>
          <p:nvSpPr>
            <p:cNvPr id="21" name="TextBox 21"/>
            <p:cNvSpPr txBox="1"/>
            <p:nvPr/>
          </p:nvSpPr>
          <p:spPr>
            <a:xfrm>
              <a:off x="7802499" y="1715929"/>
              <a:ext cx="2243328"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52616B"/>
                  </a:solidFill>
                  <a:latin typeface="+mn-lt"/>
                  <a:ea typeface="+mn-ea"/>
                  <a:cs typeface="+mn-cs"/>
                </a:rPr>
                <a:t>Container'lar arası ağ</a:t>
              </a:r>
              <a:br/>
              <a:r>
                <a:rPr lang="tr-TR" sz="1580" dirty="0">
                  <a:solidFill>
                    <a:srgbClr val="52616B"/>
                  </a:solidFill>
                  <a:latin typeface="+mn-lt"/>
                  <a:ea typeface="+mn-ea"/>
                  <a:cs typeface="+mn-cs"/>
                </a:rPr>
                <a:t>iletişimini yönetmez</a:t>
              </a:r>
            </a:p>
          </p:txBody>
        </p:sp>
      </p:grpSp>
      <p:grpSp>
        <p:nvGrpSpPr>
          <p:cNvPr id="27" name="row-network"/>
          <p:cNvGrpSpPr/>
          <p:nvPr/>
        </p:nvGrpSpPr>
        <p:grpSpPr>
          <a:xfrm>
            <a:off x="609600" y="2476500"/>
            <a:ext cx="10972800" cy="876300"/>
            <a:chOff x="609600" y="2476500"/>
            <a:chExt cx="10972800" cy="876300"/>
          </a:xfrm>
        </p:grpSpPr>
        <p:sp>
          <p:nvSpPr>
            <p:cNvPr id="23" name="Rectangle 23"/>
            <p:cNvSpPr/>
            <p:nvPr/>
          </p:nvSpPr>
          <p:spPr>
            <a:xfrm>
              <a:off x="609600" y="2476500"/>
              <a:ext cx="10972800" cy="876300"/>
            </a:xfrm>
            <a:prstGeom prst="rect">
              <a:avLst/>
            </a:prstGeom>
            <a:solidFill>
              <a:srgbClr val="EAF4F6"/>
            </a:solidFill>
            <a:ln w="9525">
              <a:solidFill>
                <a:srgbClr val="B8CBD3"/>
              </a:solidFill>
            </a:ln>
          </p:spPr>
        </p:sp>
        <p:sp>
          <p:nvSpPr>
            <p:cNvPr id="24" name="TextBox 24"/>
            <p:cNvSpPr txBox="1"/>
            <p:nvPr/>
          </p:nvSpPr>
          <p:spPr>
            <a:xfrm>
              <a:off x="829056" y="2625090"/>
              <a:ext cx="105706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Network</a:t>
              </a:r>
            </a:p>
          </p:txBody>
        </p:sp>
        <p:sp>
          <p:nvSpPr>
            <p:cNvPr id="25" name="TextBox 25"/>
            <p:cNvSpPr txBox="1"/>
            <p:nvPr/>
          </p:nvSpPr>
          <p:spPr>
            <a:xfrm>
              <a:off x="3497199" y="2592229"/>
              <a:ext cx="3146298"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Container'ların birbirine servis</a:t>
              </a:r>
              <a:br/>
              <a:r>
                <a:rPr lang="tr-TR" sz="1580" dirty="0">
                  <a:solidFill>
                    <a:srgbClr val="172B3A"/>
                  </a:solidFill>
                  <a:latin typeface="+mn-lt"/>
                  <a:ea typeface="+mn-ea"/>
                  <a:cs typeface="+mn-cs"/>
                </a:rPr>
                <a:t>adıyla ulaşmasını sağlar</a:t>
              </a:r>
            </a:p>
          </p:txBody>
        </p:sp>
        <p:sp>
          <p:nvSpPr>
            <p:cNvPr id="26" name="TextBox 26"/>
            <p:cNvSpPr txBox="1"/>
            <p:nvPr/>
          </p:nvSpPr>
          <p:spPr>
            <a:xfrm>
              <a:off x="7802499" y="2592229"/>
              <a:ext cx="3025902"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52616B"/>
                  </a:solidFill>
                  <a:latin typeface="+mn-lt"/>
                  <a:ea typeface="+mn-ea"/>
                  <a:cs typeface="+mn-cs"/>
                </a:rPr>
                <a:t>Container yeniden başlatılınca</a:t>
              </a:r>
              <a:br/>
              <a:r>
                <a:rPr lang="tr-TR" sz="1580" dirty="0">
                  <a:solidFill>
                    <a:srgbClr val="52616B"/>
                  </a:solidFill>
                  <a:latin typeface="+mn-lt"/>
                  <a:ea typeface="+mn-ea"/>
                  <a:cs typeface="+mn-cs"/>
                </a:rPr>
                <a:t>veriyi korumaz</a:t>
              </a:r>
            </a:p>
          </p:txBody>
        </p:sp>
      </p:grpSp>
      <p:grpSp>
        <p:nvGrpSpPr>
          <p:cNvPr id="32" name="row-compose"/>
          <p:cNvGrpSpPr/>
          <p:nvPr/>
        </p:nvGrpSpPr>
        <p:grpSpPr>
          <a:xfrm>
            <a:off x="609600" y="3352800"/>
            <a:ext cx="10972800" cy="876300"/>
            <a:chOff x="609600" y="3352800"/>
            <a:chExt cx="10972800" cy="876300"/>
          </a:xfrm>
        </p:grpSpPr>
        <p:sp>
          <p:nvSpPr>
            <p:cNvPr id="28" name="Rectangle 28"/>
            <p:cNvSpPr/>
            <p:nvPr/>
          </p:nvSpPr>
          <p:spPr>
            <a:xfrm>
              <a:off x="609600" y="3352800"/>
              <a:ext cx="10972800" cy="876300"/>
            </a:xfrm>
            <a:prstGeom prst="rect">
              <a:avLst/>
            </a:prstGeom>
            <a:solidFill>
              <a:srgbClr val="FFFFFF"/>
            </a:solidFill>
            <a:ln w="9525">
              <a:solidFill>
                <a:srgbClr val="B8CBD3"/>
              </a:solidFill>
            </a:ln>
          </p:spPr>
        </p:sp>
        <p:sp>
          <p:nvSpPr>
            <p:cNvPr id="29" name="TextBox 29"/>
            <p:cNvSpPr txBox="1"/>
            <p:nvPr/>
          </p:nvSpPr>
          <p:spPr>
            <a:xfrm>
              <a:off x="829056" y="3501390"/>
              <a:ext cx="198164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Docker Compose</a:t>
              </a:r>
            </a:p>
          </p:txBody>
        </p:sp>
        <p:sp>
          <p:nvSpPr>
            <p:cNvPr id="30" name="TextBox 30"/>
            <p:cNvSpPr txBox="1"/>
            <p:nvPr/>
          </p:nvSpPr>
          <p:spPr>
            <a:xfrm>
              <a:off x="3497199" y="3468529"/>
              <a:ext cx="3617849"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Servisleri, volume'leri ve network'ü</a:t>
              </a:r>
              <a:br/>
              <a:r>
                <a:rPr lang="tr-TR" sz="1580" dirty="0">
                  <a:solidFill>
                    <a:srgbClr val="172B3A"/>
                  </a:solidFill>
                  <a:latin typeface="+mn-lt"/>
                  <a:ea typeface="+mn-ea"/>
                  <a:cs typeface="+mn-cs"/>
                </a:rPr>
                <a:t>tek YAML'de tanımlayıp yönetir</a:t>
              </a:r>
            </a:p>
          </p:txBody>
        </p:sp>
        <p:sp>
          <p:nvSpPr>
            <p:cNvPr id="31" name="TextBox 31"/>
            <p:cNvSpPr txBox="1"/>
            <p:nvPr/>
          </p:nvSpPr>
          <p:spPr>
            <a:xfrm>
              <a:off x="7802499" y="3468529"/>
              <a:ext cx="3397123"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52616B"/>
                  </a:solidFill>
                  <a:latin typeface="+mn-lt"/>
                  <a:ea typeface="+mn-ea"/>
                  <a:cs typeface="+mn-cs"/>
                </a:rPr>
                <a:t>Image içeriğini kendisi</a:t>
              </a:r>
              <a:br/>
              <a:r>
                <a:rPr lang="tr-TR" sz="1580" dirty="0">
                  <a:solidFill>
                    <a:srgbClr val="52616B"/>
                  </a:solidFill>
                  <a:latin typeface="+mn-lt"/>
                  <a:ea typeface="+mn-ea"/>
                  <a:cs typeface="+mn-cs"/>
                </a:rPr>
                <a:t>inşa etmez, Dockerfile'a devreder</a:t>
              </a:r>
            </a:p>
          </p:txBody>
        </p:sp>
      </p:grpSp>
      <p:grpSp>
        <p:nvGrpSpPr>
          <p:cNvPr id="40" name="row-note"/>
          <p:cNvGrpSpPr/>
          <p:nvPr/>
        </p:nvGrpSpPr>
        <p:grpSpPr>
          <a:xfrm>
            <a:off x="609600" y="4381500"/>
            <a:ext cx="10972800" cy="1676400"/>
            <a:chOff x="609600" y="4381500"/>
            <a:chExt cx="10972800" cy="1676400"/>
          </a:xfrm>
        </p:grpSpPr>
        <p:sp>
          <p:nvSpPr>
            <p:cNvPr id="33" name="Rectangle 33"/>
            <p:cNvSpPr/>
            <p:nvPr/>
          </p:nvSpPr>
          <p:spPr>
            <a:xfrm>
              <a:off x="609600" y="4381500"/>
              <a:ext cx="10972800" cy="1676400"/>
            </a:xfrm>
            <a:prstGeom prst="roundRect">
              <a:avLst>
                <a:gd name="adj" fmla="val 4545"/>
              </a:avLst>
            </a:prstGeom>
            <a:solidFill>
              <a:srgbClr val="EAF4F6"/>
            </a:solidFill>
            <a:ln>
              <a:noFill/>
            </a:ln>
          </p:spPr>
        </p:sp>
        <p:sp>
          <p:nvSpPr>
            <p:cNvPr id="34" name="Rectangle 34"/>
            <p:cNvSpPr/>
            <p:nvPr/>
          </p:nvSpPr>
          <p:spPr>
            <a:xfrm>
              <a:off x="609600" y="4381500"/>
              <a:ext cx="57150" cy="1676400"/>
            </a:xfrm>
            <a:prstGeom prst="rect">
              <a:avLst/>
            </a:prstGeom>
            <a:solidFill>
              <a:srgbClr val="00A6A6"/>
            </a:solidFill>
            <a:ln>
              <a:noFill/>
            </a:ln>
          </p:spPr>
        </p:sp>
        <p:sp>
          <p:nvSpPr>
            <p:cNvPr id="35" name="TextBox 35"/>
            <p:cNvSpPr txBox="1"/>
            <p:nvPr/>
          </p:nvSpPr>
          <p:spPr>
            <a:xfrm>
              <a:off x="906399" y="4516279"/>
              <a:ext cx="164172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Zincirin bütünü</a:t>
              </a:r>
            </a:p>
          </p:txBody>
        </p:sp>
        <p:sp>
          <p:nvSpPr>
            <p:cNvPr id="36" name="TextBox 36"/>
            <p:cNvSpPr txBox="1"/>
            <p:nvPr/>
          </p:nvSpPr>
          <p:spPr>
            <a:xfrm>
              <a:off x="906399" y="4802029"/>
              <a:ext cx="948809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Dockerfile bir tarif, image bir paket, container o paketin çalışan halidir; volume container</a:t>
              </a:r>
            </a:p>
          </p:txBody>
        </p:sp>
        <p:sp>
          <p:nvSpPr>
            <p:cNvPr id="37" name="TextBox 37"/>
            <p:cNvSpPr txBox="1"/>
            <p:nvPr/>
          </p:nvSpPr>
          <p:spPr>
            <a:xfrm>
              <a:off x="906399" y="5068729"/>
              <a:ext cx="871789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silindiğinde verinin uçmamasını, network ise container'ların birbirini IP değil isimle</a:t>
              </a:r>
            </a:p>
          </p:txBody>
        </p:sp>
        <p:sp>
          <p:nvSpPr>
            <p:cNvPr id="38" name="TextBox 38"/>
            <p:cNvSpPr txBox="1"/>
            <p:nvPr/>
          </p:nvSpPr>
          <p:spPr>
            <a:xfrm>
              <a:off x="906399" y="5335429"/>
              <a:ext cx="899482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bulmasını sağlar. Docker Compose bunların hepsini tek bildirimsel dosyada birleştirir.</a:t>
              </a:r>
            </a:p>
          </p:txBody>
        </p:sp>
        <p:sp>
          <p:nvSpPr>
            <p:cNvPr id="39" name="TextBox 39"/>
            <p:cNvSpPr txBox="1"/>
            <p:nvPr/>
          </p:nvSpPr>
          <p:spPr>
            <a:xfrm>
              <a:off x="908304" y="5699760"/>
              <a:ext cx="815956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tablodaki her satırı ayrı ayrı ezberlemek yerine, "hangi kavram neyin cevabı" sorusuna odaklanın.</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7298605" cy="668845"/>
            <a:chOff x="609600" y="171450"/>
            <a:chExt cx="7298605"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660823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Konteynerleştirme neden gerekli?</a:t>
              </a:r>
            </a:p>
          </p:txBody>
        </p:sp>
      </p:grpSp>
      <p:grpSp>
        <p:nvGrpSpPr>
          <p:cNvPr id="14" name="definition-block"/>
          <p:cNvGrpSpPr/>
          <p:nvPr/>
        </p:nvGrpSpPr>
        <p:grpSpPr>
          <a:xfrm>
            <a:off x="609600" y="1181100"/>
            <a:ext cx="10972800" cy="976218"/>
            <a:chOff x="609600" y="1181100"/>
            <a:chExt cx="10972800" cy="976218"/>
          </a:xfrm>
        </p:grpSpPr>
        <p:sp>
          <p:nvSpPr>
            <p:cNvPr id="9" name="Rectangle 9"/>
            <p:cNvSpPr/>
            <p:nvPr/>
          </p:nvSpPr>
          <p:spPr>
            <a:xfrm>
              <a:off x="609600" y="1181100"/>
              <a:ext cx="10972800" cy="952500"/>
            </a:xfrm>
            <a:prstGeom prst="roundRect">
              <a:avLst>
                <a:gd name="adj" fmla="val 8000"/>
              </a:avLst>
            </a:prstGeom>
            <a:solidFill>
              <a:srgbClr val="EAF4F6"/>
            </a:solidFill>
            <a:ln>
              <a:noFill/>
            </a:ln>
          </p:spPr>
        </p:sp>
        <p:sp>
          <p:nvSpPr>
            <p:cNvPr id="10" name="Rectangle 10"/>
            <p:cNvSpPr/>
            <p:nvPr/>
          </p:nvSpPr>
          <p:spPr>
            <a:xfrm>
              <a:off x="609600" y="1181100"/>
              <a:ext cx="57150" cy="952500"/>
            </a:xfrm>
            <a:prstGeom prst="rect">
              <a:avLst/>
            </a:prstGeom>
            <a:solidFill>
              <a:srgbClr val="00A6A6"/>
            </a:solidFill>
            <a:ln>
              <a:noFill/>
            </a:ln>
          </p:spPr>
        </p:sp>
        <p:sp>
          <p:nvSpPr>
            <p:cNvPr id="11" name="TextBox 11"/>
            <p:cNvSpPr txBox="1"/>
            <p:nvPr/>
          </p:nvSpPr>
          <p:spPr>
            <a:xfrm>
              <a:off x="905256" y="1329690"/>
              <a:ext cx="232856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Konteynerleştirme</a:t>
              </a:r>
            </a:p>
          </p:txBody>
        </p:sp>
        <p:sp>
          <p:nvSpPr>
            <p:cNvPr id="12" name="TextBox 12"/>
            <p:cNvSpPr txBox="1"/>
            <p:nvPr/>
          </p:nvSpPr>
          <p:spPr>
            <a:xfrm>
              <a:off x="906399" y="1639729"/>
              <a:ext cx="956241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uygulamayı kodu, bağımlılıkları ve çalışma zamanı ayarlarıyla birlikte tek, taşınabilir</a:t>
              </a:r>
            </a:p>
          </p:txBody>
        </p:sp>
        <p:sp>
          <p:nvSpPr>
            <p:cNvPr id="13" name="TextBox 13"/>
            <p:cNvSpPr txBox="1"/>
            <p:nvPr/>
          </p:nvSpPr>
          <p:spPr>
            <a:xfrm>
              <a:off x="906399" y="1849279"/>
              <a:ext cx="906637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birime paketleyip, her ortamda aynı şekilde çalışmasını garanti eden yaklaşımdır.</a:t>
              </a:r>
            </a:p>
          </p:txBody>
        </p:sp>
      </p:grpSp>
      <p:grpSp>
        <p:nvGrpSpPr>
          <p:cNvPr id="28" name="problem-old"/>
          <p:cNvGrpSpPr/>
          <p:nvPr/>
        </p:nvGrpSpPr>
        <p:grpSpPr>
          <a:xfrm>
            <a:off x="609600" y="2400300"/>
            <a:ext cx="5257800" cy="3048000"/>
            <a:chOff x="609600" y="2400300"/>
            <a:chExt cx="5257800" cy="3048000"/>
          </a:xfrm>
        </p:grpSpPr>
        <p:sp>
          <p:nvSpPr>
            <p:cNvPr id="15" name="Rectangle 15"/>
            <p:cNvSpPr/>
            <p:nvPr/>
          </p:nvSpPr>
          <p:spPr>
            <a:xfrm>
              <a:off x="609600" y="2400300"/>
              <a:ext cx="5257800" cy="3048000"/>
            </a:xfrm>
            <a:prstGeom prst="roundRect">
              <a:avLst>
                <a:gd name="adj" fmla="val 3125"/>
              </a:avLst>
            </a:prstGeom>
            <a:solidFill>
              <a:srgbClr val="FFFFFF"/>
            </a:solidFill>
            <a:ln w="14288">
              <a:solidFill>
                <a:srgbClr val="B8CBD3"/>
              </a:solidFill>
            </a:ln>
          </p:spPr>
        </p:sp>
        <p:sp>
          <p:nvSpPr>
            <p:cNvPr id="16" name="Rectangle 16"/>
            <p:cNvSpPr/>
            <p:nvPr/>
          </p:nvSpPr>
          <p:spPr>
            <a:xfrm>
              <a:off x="609600" y="2400300"/>
              <a:ext cx="5257800" cy="495300"/>
            </a:xfrm>
            <a:prstGeom prst="roundRect">
              <a:avLst>
                <a:gd name="adj" fmla="val 19231"/>
              </a:avLst>
            </a:prstGeom>
            <a:solidFill>
              <a:srgbClr val="52616B"/>
            </a:solidFill>
            <a:ln>
              <a:noFill/>
            </a:ln>
          </p:spPr>
        </p:sp>
        <p:sp>
          <p:nvSpPr>
            <p:cNvPr id="17" name="Rectangle 17"/>
            <p:cNvSpPr/>
            <p:nvPr/>
          </p:nvSpPr>
          <p:spPr>
            <a:xfrm>
              <a:off x="609600" y="2705100"/>
              <a:ext cx="5257800" cy="190500"/>
            </a:xfrm>
            <a:prstGeom prst="rect">
              <a:avLst/>
            </a:prstGeom>
            <a:solidFill>
              <a:srgbClr val="52616B"/>
            </a:solidFill>
            <a:ln>
              <a:noFill/>
            </a:ln>
          </p:spPr>
        </p:sp>
        <p:sp>
          <p:nvSpPr>
            <p:cNvPr id="18" name="TextBox 18"/>
            <p:cNvSpPr txBox="1"/>
            <p:nvPr/>
          </p:nvSpPr>
          <p:spPr>
            <a:xfrm>
              <a:off x="849249" y="2554129"/>
              <a:ext cx="2412801"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Konteynersiz dağıtım</a:t>
              </a:r>
            </a:p>
          </p:txBody>
        </p:sp>
        <p:sp>
          <p:nvSpPr>
            <p:cNvPr id="19" name="TextBox 19"/>
            <p:cNvSpPr txBox="1"/>
            <p:nvPr/>
          </p:nvSpPr>
          <p:spPr>
            <a:xfrm>
              <a:off x="849249" y="3030379"/>
              <a:ext cx="327767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"Benim makinemde çalışıyordu"</a:t>
              </a:r>
            </a:p>
          </p:txBody>
        </p:sp>
        <p:sp>
          <p:nvSpPr>
            <p:cNvPr id="20" name="TextBox 20"/>
            <p:cNvSpPr txBox="1"/>
            <p:nvPr/>
          </p:nvSpPr>
          <p:spPr>
            <a:xfrm>
              <a:off x="851154" y="3356610"/>
              <a:ext cx="336696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Geliştirme ve sunucu ortamındaki Node.js,</a:t>
              </a:r>
            </a:p>
          </p:txBody>
        </p:sp>
        <p:sp>
          <p:nvSpPr>
            <p:cNvPr id="21" name="TextBox 21"/>
            <p:cNvSpPr txBox="1"/>
            <p:nvPr/>
          </p:nvSpPr>
          <p:spPr>
            <a:xfrm>
              <a:off x="851154" y="3566160"/>
              <a:ext cx="289113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PostgreSQL sürümleri farklı olabilir</a:t>
              </a:r>
            </a:p>
          </p:txBody>
        </p:sp>
        <p:sp>
          <p:nvSpPr>
            <p:cNvPr id="22" name="TextBox 22"/>
            <p:cNvSpPr txBox="1"/>
            <p:nvPr/>
          </p:nvSpPr>
          <p:spPr>
            <a:xfrm>
              <a:off x="849249" y="3868579"/>
              <a:ext cx="199043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Kurulum karmaşası</a:t>
              </a:r>
            </a:p>
          </p:txBody>
        </p:sp>
        <p:sp>
          <p:nvSpPr>
            <p:cNvPr id="23" name="TextBox 23"/>
            <p:cNvSpPr txBox="1"/>
            <p:nvPr/>
          </p:nvSpPr>
          <p:spPr>
            <a:xfrm>
              <a:off x="851154" y="4194810"/>
              <a:ext cx="256974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Her sunucuda bağımlılıklar elle,</a:t>
              </a:r>
            </a:p>
          </p:txBody>
        </p:sp>
        <p:sp>
          <p:nvSpPr>
            <p:cNvPr id="24" name="TextBox 24"/>
            <p:cNvSpPr txBox="1"/>
            <p:nvPr/>
          </p:nvSpPr>
          <p:spPr>
            <a:xfrm>
              <a:off x="851154" y="4404360"/>
              <a:ext cx="175686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tekrar tekrar kurulur</a:t>
              </a:r>
            </a:p>
          </p:txBody>
        </p:sp>
        <p:sp>
          <p:nvSpPr>
            <p:cNvPr id="25" name="TextBox 25"/>
            <p:cNvSpPr txBox="1"/>
            <p:nvPr/>
          </p:nvSpPr>
          <p:spPr>
            <a:xfrm>
              <a:off x="849249" y="4706779"/>
              <a:ext cx="192565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İzolasyon eksikliği</a:t>
              </a:r>
            </a:p>
          </p:txBody>
        </p:sp>
        <p:sp>
          <p:nvSpPr>
            <p:cNvPr id="26" name="TextBox 26"/>
            <p:cNvSpPr txBox="1"/>
            <p:nvPr/>
          </p:nvSpPr>
          <p:spPr>
            <a:xfrm>
              <a:off x="851154" y="5033010"/>
              <a:ext cx="302177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Aynı sunucudaki uygulamalar birbirinin</a:t>
              </a:r>
            </a:p>
          </p:txBody>
        </p:sp>
        <p:sp>
          <p:nvSpPr>
            <p:cNvPr id="27" name="TextBox 27"/>
            <p:cNvSpPr txBox="1"/>
            <p:nvPr/>
          </p:nvSpPr>
          <p:spPr>
            <a:xfrm>
              <a:off x="851154" y="5185410"/>
              <a:ext cx="229804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bağımlılıklarıyla çakışabilir</a:t>
              </a:r>
            </a:p>
          </p:txBody>
        </p:sp>
      </p:grpSp>
      <p:grpSp>
        <p:nvGrpSpPr>
          <p:cNvPr id="42" name="problem-new"/>
          <p:cNvGrpSpPr/>
          <p:nvPr/>
        </p:nvGrpSpPr>
        <p:grpSpPr>
          <a:xfrm>
            <a:off x="6324600" y="2400300"/>
            <a:ext cx="5257800" cy="3048000"/>
            <a:chOff x="6324600" y="2400300"/>
            <a:chExt cx="5257800" cy="3048000"/>
          </a:xfrm>
        </p:grpSpPr>
        <p:sp>
          <p:nvSpPr>
            <p:cNvPr id="29" name="Rectangle 29"/>
            <p:cNvSpPr/>
            <p:nvPr/>
          </p:nvSpPr>
          <p:spPr>
            <a:xfrm>
              <a:off x="6324600" y="2400300"/>
              <a:ext cx="5257800" cy="3048000"/>
            </a:xfrm>
            <a:prstGeom prst="roundRect">
              <a:avLst>
                <a:gd name="adj" fmla="val 3125"/>
              </a:avLst>
            </a:prstGeom>
            <a:solidFill>
              <a:srgbClr val="FFFFFF"/>
            </a:solidFill>
            <a:ln w="14288">
              <a:solidFill>
                <a:srgbClr val="00A6A6"/>
              </a:solidFill>
            </a:ln>
          </p:spPr>
        </p:sp>
        <p:sp>
          <p:nvSpPr>
            <p:cNvPr id="30" name="Rectangle 30"/>
            <p:cNvSpPr/>
            <p:nvPr/>
          </p:nvSpPr>
          <p:spPr>
            <a:xfrm>
              <a:off x="6324600" y="2400300"/>
              <a:ext cx="5257800" cy="495300"/>
            </a:xfrm>
            <a:prstGeom prst="roundRect">
              <a:avLst>
                <a:gd name="adj" fmla="val 19231"/>
              </a:avLst>
            </a:prstGeom>
            <a:solidFill>
              <a:srgbClr val="12355B"/>
            </a:solidFill>
            <a:ln>
              <a:noFill/>
            </a:ln>
          </p:spPr>
        </p:sp>
        <p:sp>
          <p:nvSpPr>
            <p:cNvPr id="31" name="Rectangle 31"/>
            <p:cNvSpPr/>
            <p:nvPr/>
          </p:nvSpPr>
          <p:spPr>
            <a:xfrm>
              <a:off x="6324600" y="2705100"/>
              <a:ext cx="5257800" cy="190500"/>
            </a:xfrm>
            <a:prstGeom prst="rect">
              <a:avLst/>
            </a:prstGeom>
            <a:solidFill>
              <a:srgbClr val="12355B"/>
            </a:solidFill>
            <a:ln>
              <a:noFill/>
            </a:ln>
          </p:spPr>
        </p:sp>
        <p:sp>
          <p:nvSpPr>
            <p:cNvPr id="32" name="TextBox 32"/>
            <p:cNvSpPr txBox="1"/>
            <p:nvPr/>
          </p:nvSpPr>
          <p:spPr>
            <a:xfrm>
              <a:off x="6564249" y="2554129"/>
              <a:ext cx="2233967"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Konteynerli dağıtım</a:t>
              </a:r>
            </a:p>
          </p:txBody>
        </p:sp>
        <p:sp>
          <p:nvSpPr>
            <p:cNvPr id="33" name="TextBox 33"/>
            <p:cNvSpPr txBox="1"/>
            <p:nvPr/>
          </p:nvSpPr>
          <p:spPr>
            <a:xfrm>
              <a:off x="6564249" y="3030379"/>
              <a:ext cx="246897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Tutarlı çalışma zamanı</a:t>
              </a:r>
            </a:p>
          </p:txBody>
        </p:sp>
        <p:sp>
          <p:nvSpPr>
            <p:cNvPr id="34" name="TextBox 34"/>
            <p:cNvSpPr txBox="1"/>
            <p:nvPr/>
          </p:nvSpPr>
          <p:spPr>
            <a:xfrm>
              <a:off x="6566154" y="3356610"/>
              <a:ext cx="320799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Image içine gömülü sürümler her ortamda</a:t>
              </a:r>
            </a:p>
          </p:txBody>
        </p:sp>
        <p:sp>
          <p:nvSpPr>
            <p:cNvPr id="35" name="TextBox 35"/>
            <p:cNvSpPr txBox="1"/>
            <p:nvPr/>
          </p:nvSpPr>
          <p:spPr>
            <a:xfrm>
              <a:off x="6566154" y="3566160"/>
              <a:ext cx="217688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birebir aynı şekilde çalışır</a:t>
              </a:r>
            </a:p>
          </p:txBody>
        </p:sp>
        <p:sp>
          <p:nvSpPr>
            <p:cNvPr id="36" name="TextBox 36"/>
            <p:cNvSpPr txBox="1"/>
            <p:nvPr/>
          </p:nvSpPr>
          <p:spPr>
            <a:xfrm>
              <a:off x="6564249" y="3868579"/>
              <a:ext cx="217142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Tek komutla dağıtım</a:t>
              </a:r>
            </a:p>
          </p:txBody>
        </p:sp>
        <p:sp>
          <p:nvSpPr>
            <p:cNvPr id="37" name="TextBox 37"/>
            <p:cNvSpPr txBox="1"/>
            <p:nvPr/>
          </p:nvSpPr>
          <p:spPr>
            <a:xfrm>
              <a:off x="6566154" y="4194810"/>
              <a:ext cx="300883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docker run veya docker compose up ile</a:t>
              </a:r>
            </a:p>
          </p:txBody>
        </p:sp>
        <p:sp>
          <p:nvSpPr>
            <p:cNvPr id="38" name="TextBox 38"/>
            <p:cNvSpPr txBox="1"/>
            <p:nvPr/>
          </p:nvSpPr>
          <p:spPr>
            <a:xfrm>
              <a:off x="6566154" y="4404360"/>
              <a:ext cx="174071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kurulum otomatikleşir</a:t>
              </a:r>
            </a:p>
          </p:txBody>
        </p:sp>
        <p:sp>
          <p:nvSpPr>
            <p:cNvPr id="39" name="TextBox 39"/>
            <p:cNvSpPr txBox="1"/>
            <p:nvPr/>
          </p:nvSpPr>
          <p:spPr>
            <a:xfrm>
              <a:off x="6564249" y="4706779"/>
              <a:ext cx="173469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Süreç izolasyonu</a:t>
              </a:r>
            </a:p>
          </p:txBody>
        </p:sp>
        <p:sp>
          <p:nvSpPr>
            <p:cNvPr id="40" name="TextBox 40"/>
            <p:cNvSpPr txBox="1"/>
            <p:nvPr/>
          </p:nvSpPr>
          <p:spPr>
            <a:xfrm>
              <a:off x="6566154" y="5033010"/>
              <a:ext cx="28848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Her container kendi dosya sistemi ve</a:t>
              </a:r>
            </a:p>
          </p:txBody>
        </p:sp>
        <p:sp>
          <p:nvSpPr>
            <p:cNvPr id="41" name="TextBox 41"/>
            <p:cNvSpPr txBox="1"/>
            <p:nvPr/>
          </p:nvSpPr>
          <p:spPr>
            <a:xfrm>
              <a:off x="6566154" y="5185410"/>
              <a:ext cx="183763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ağ görünümüyle çalışır</a:t>
              </a:r>
            </a:p>
          </p:txBody>
        </p:sp>
      </p:grpSp>
      <p:sp>
        <p:nvSpPr>
          <p:cNvPr id="43" name="TextBox 4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9201195" cy="668845"/>
            <a:chOff x="609600" y="171450"/>
            <a:chExt cx="9201195"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85108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Kuramsal arka plan: VM'ye karşı container</a:t>
              </a:r>
            </a:p>
          </p:txBody>
        </p:sp>
      </p:grpSp>
      <p:grpSp>
        <p:nvGrpSpPr>
          <p:cNvPr id="21" name="vm-diagram"/>
          <p:cNvGrpSpPr/>
          <p:nvPr/>
        </p:nvGrpSpPr>
        <p:grpSpPr>
          <a:xfrm>
            <a:off x="600456" y="1196340"/>
            <a:ext cx="5266944" cy="3070860"/>
            <a:chOff x="600456" y="1196340"/>
            <a:chExt cx="5266944" cy="3070860"/>
          </a:xfrm>
        </p:grpSpPr>
        <p:sp>
          <p:nvSpPr>
            <p:cNvPr id="9" name="TextBox 9"/>
            <p:cNvSpPr txBox="1"/>
            <p:nvPr/>
          </p:nvSpPr>
          <p:spPr>
            <a:xfrm>
              <a:off x="600456" y="1196340"/>
              <a:ext cx="227364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Sanal makine (VM)</a:t>
              </a:r>
            </a:p>
          </p:txBody>
        </p:sp>
        <p:sp>
          <p:nvSpPr>
            <p:cNvPr id="10" name="Rectangle 10"/>
            <p:cNvSpPr/>
            <p:nvPr/>
          </p:nvSpPr>
          <p:spPr>
            <a:xfrm>
              <a:off x="609600" y="1524000"/>
              <a:ext cx="5257800" cy="2743200"/>
            </a:xfrm>
            <a:prstGeom prst="roundRect">
              <a:avLst>
                <a:gd name="adj" fmla="val 2778"/>
              </a:avLst>
            </a:prstGeom>
            <a:solidFill>
              <a:srgbClr val="FFFFFF"/>
            </a:solidFill>
            <a:ln w="14288">
              <a:solidFill>
                <a:srgbClr val="B8CBD3"/>
              </a:solidFill>
            </a:ln>
          </p:spPr>
        </p:sp>
        <p:sp>
          <p:nvSpPr>
            <p:cNvPr id="11" name="Rectangle 11"/>
            <p:cNvSpPr/>
            <p:nvPr/>
          </p:nvSpPr>
          <p:spPr>
            <a:xfrm>
              <a:off x="838200" y="1714500"/>
              <a:ext cx="4800600" cy="495300"/>
            </a:xfrm>
            <a:prstGeom prst="roundRect">
              <a:avLst>
                <a:gd name="adj" fmla="val 11538"/>
              </a:avLst>
            </a:prstGeom>
            <a:solidFill>
              <a:srgbClr val="EAF4F6"/>
            </a:solidFill>
            <a:ln w="9525">
              <a:solidFill>
                <a:srgbClr val="2E86AB"/>
              </a:solidFill>
            </a:ln>
          </p:spPr>
        </p:sp>
        <p:sp>
          <p:nvSpPr>
            <p:cNvPr id="12" name="TextBox 12"/>
            <p:cNvSpPr txBox="1"/>
            <p:nvPr/>
          </p:nvSpPr>
          <p:spPr>
            <a:xfrm>
              <a:off x="2807106" y="1889760"/>
              <a:ext cx="862787"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Uygulama A</a:t>
              </a:r>
            </a:p>
          </p:txBody>
        </p:sp>
        <p:sp>
          <p:nvSpPr>
            <p:cNvPr id="13" name="Rectangle 13"/>
            <p:cNvSpPr/>
            <p:nvPr/>
          </p:nvSpPr>
          <p:spPr>
            <a:xfrm>
              <a:off x="838200" y="2324100"/>
              <a:ext cx="4800600" cy="495300"/>
            </a:xfrm>
            <a:prstGeom prst="roundRect">
              <a:avLst>
                <a:gd name="adj" fmla="val 11538"/>
              </a:avLst>
            </a:prstGeom>
            <a:solidFill>
              <a:srgbClr val="EAF4F6"/>
            </a:solidFill>
            <a:ln w="9525">
              <a:solidFill>
                <a:srgbClr val="2E86AB"/>
              </a:solidFill>
            </a:ln>
          </p:spPr>
        </p:sp>
        <p:sp>
          <p:nvSpPr>
            <p:cNvPr id="14" name="TextBox 14"/>
            <p:cNvSpPr txBox="1"/>
            <p:nvPr/>
          </p:nvSpPr>
          <p:spPr>
            <a:xfrm>
              <a:off x="2807106" y="2499360"/>
              <a:ext cx="862787"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Uygulama B</a:t>
              </a:r>
            </a:p>
          </p:txBody>
        </p:sp>
        <p:sp>
          <p:nvSpPr>
            <p:cNvPr id="15" name="TextBox 15"/>
            <p:cNvSpPr txBox="1"/>
            <p:nvPr/>
          </p:nvSpPr>
          <p:spPr>
            <a:xfrm>
              <a:off x="1136904" y="1889760"/>
              <a:ext cx="58844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Tam OS</a:t>
              </a:r>
            </a:p>
          </p:txBody>
        </p:sp>
        <p:sp>
          <p:nvSpPr>
            <p:cNvPr id="16" name="TextBox 16"/>
            <p:cNvSpPr txBox="1"/>
            <p:nvPr/>
          </p:nvSpPr>
          <p:spPr>
            <a:xfrm>
              <a:off x="1136904" y="2499360"/>
              <a:ext cx="58844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Tam OS</a:t>
              </a:r>
            </a:p>
          </p:txBody>
        </p:sp>
        <p:sp>
          <p:nvSpPr>
            <p:cNvPr id="17" name="Rectangle 17"/>
            <p:cNvSpPr/>
            <p:nvPr/>
          </p:nvSpPr>
          <p:spPr>
            <a:xfrm>
              <a:off x="838200" y="2933700"/>
              <a:ext cx="4800600" cy="419100"/>
            </a:xfrm>
            <a:prstGeom prst="roundRect">
              <a:avLst>
                <a:gd name="adj" fmla="val 13636"/>
              </a:avLst>
            </a:prstGeom>
            <a:solidFill>
              <a:srgbClr val="12355B"/>
            </a:solidFill>
            <a:ln>
              <a:noFill/>
            </a:ln>
          </p:spPr>
        </p:sp>
        <p:sp>
          <p:nvSpPr>
            <p:cNvPr id="18" name="TextBox 18"/>
            <p:cNvSpPr txBox="1"/>
            <p:nvPr/>
          </p:nvSpPr>
          <p:spPr>
            <a:xfrm>
              <a:off x="2805951" y="3070860"/>
              <a:ext cx="865099"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Hipervizör</a:t>
              </a:r>
            </a:p>
          </p:txBody>
        </p:sp>
        <p:sp>
          <p:nvSpPr>
            <p:cNvPr id="19" name="Rectangle 19"/>
            <p:cNvSpPr/>
            <p:nvPr/>
          </p:nvSpPr>
          <p:spPr>
            <a:xfrm>
              <a:off x="838200" y="3467100"/>
              <a:ext cx="4800600" cy="571500"/>
            </a:xfrm>
            <a:prstGeom prst="roundRect">
              <a:avLst>
                <a:gd name="adj" fmla="val 10000"/>
              </a:avLst>
            </a:prstGeom>
            <a:solidFill>
              <a:srgbClr val="52616B"/>
            </a:solidFill>
            <a:ln>
              <a:noFill/>
            </a:ln>
          </p:spPr>
        </p:sp>
        <p:sp>
          <p:nvSpPr>
            <p:cNvPr id="20" name="TextBox 20"/>
            <p:cNvSpPr txBox="1"/>
            <p:nvPr/>
          </p:nvSpPr>
          <p:spPr>
            <a:xfrm>
              <a:off x="2372965" y="3680460"/>
              <a:ext cx="1731070"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Ana makine donanımı</a:t>
              </a:r>
            </a:p>
          </p:txBody>
        </p:sp>
      </p:grpSp>
      <p:grpSp>
        <p:nvGrpSpPr>
          <p:cNvPr id="34" name="container-diagram"/>
          <p:cNvGrpSpPr/>
          <p:nvPr/>
        </p:nvGrpSpPr>
        <p:grpSpPr>
          <a:xfrm>
            <a:off x="6315456" y="1196340"/>
            <a:ext cx="5266944" cy="3070860"/>
            <a:chOff x="6315456" y="1196340"/>
            <a:chExt cx="5266944" cy="3070860"/>
          </a:xfrm>
        </p:grpSpPr>
        <p:sp>
          <p:nvSpPr>
            <p:cNvPr id="22" name="TextBox 22"/>
            <p:cNvSpPr txBox="1"/>
            <p:nvPr/>
          </p:nvSpPr>
          <p:spPr>
            <a:xfrm>
              <a:off x="6315456" y="1196340"/>
              <a:ext cx="122163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Container</a:t>
              </a:r>
            </a:p>
          </p:txBody>
        </p:sp>
        <p:sp>
          <p:nvSpPr>
            <p:cNvPr id="23" name="Rectangle 23"/>
            <p:cNvSpPr/>
            <p:nvPr/>
          </p:nvSpPr>
          <p:spPr>
            <a:xfrm>
              <a:off x="6324600" y="1524000"/>
              <a:ext cx="5257800" cy="2743200"/>
            </a:xfrm>
            <a:prstGeom prst="roundRect">
              <a:avLst>
                <a:gd name="adj" fmla="val 2778"/>
              </a:avLst>
            </a:prstGeom>
            <a:solidFill>
              <a:srgbClr val="FFFFFF"/>
            </a:solidFill>
            <a:ln w="14288">
              <a:solidFill>
                <a:srgbClr val="00A6A6"/>
              </a:solidFill>
            </a:ln>
          </p:spPr>
        </p:sp>
        <p:sp>
          <p:nvSpPr>
            <p:cNvPr id="24" name="Rectangle 24"/>
            <p:cNvSpPr/>
            <p:nvPr/>
          </p:nvSpPr>
          <p:spPr>
            <a:xfrm>
              <a:off x="6553200" y="1714500"/>
              <a:ext cx="2228850" cy="571500"/>
            </a:xfrm>
            <a:prstGeom prst="roundRect">
              <a:avLst>
                <a:gd name="adj" fmla="val 10000"/>
              </a:avLst>
            </a:prstGeom>
            <a:solidFill>
              <a:srgbClr val="EAF4F6"/>
            </a:solidFill>
            <a:ln w="9525">
              <a:solidFill>
                <a:srgbClr val="00A6A6"/>
              </a:solidFill>
            </a:ln>
          </p:spPr>
        </p:sp>
        <p:sp>
          <p:nvSpPr>
            <p:cNvPr id="25" name="TextBox 25"/>
            <p:cNvSpPr txBox="1"/>
            <p:nvPr/>
          </p:nvSpPr>
          <p:spPr>
            <a:xfrm>
              <a:off x="7236231" y="1927860"/>
              <a:ext cx="862787"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Uygulama A</a:t>
              </a:r>
            </a:p>
          </p:txBody>
        </p:sp>
        <p:sp>
          <p:nvSpPr>
            <p:cNvPr id="26" name="Rectangle 26"/>
            <p:cNvSpPr/>
            <p:nvPr/>
          </p:nvSpPr>
          <p:spPr>
            <a:xfrm>
              <a:off x="8934450" y="1714500"/>
              <a:ext cx="2228850" cy="571500"/>
            </a:xfrm>
            <a:prstGeom prst="roundRect">
              <a:avLst>
                <a:gd name="adj" fmla="val 10000"/>
              </a:avLst>
            </a:prstGeom>
            <a:solidFill>
              <a:srgbClr val="EAF4F6"/>
            </a:solidFill>
            <a:ln w="9525">
              <a:solidFill>
                <a:srgbClr val="00A6A6"/>
              </a:solidFill>
            </a:ln>
          </p:spPr>
        </p:sp>
        <p:sp>
          <p:nvSpPr>
            <p:cNvPr id="27" name="TextBox 27"/>
            <p:cNvSpPr txBox="1"/>
            <p:nvPr/>
          </p:nvSpPr>
          <p:spPr>
            <a:xfrm>
              <a:off x="9617481" y="1927860"/>
              <a:ext cx="862787"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Uygulama B</a:t>
              </a:r>
            </a:p>
          </p:txBody>
        </p:sp>
        <p:sp>
          <p:nvSpPr>
            <p:cNvPr id="28" name="Rectangle 28"/>
            <p:cNvSpPr/>
            <p:nvPr/>
          </p:nvSpPr>
          <p:spPr>
            <a:xfrm>
              <a:off x="6553200" y="2438400"/>
              <a:ext cx="4610100" cy="571500"/>
            </a:xfrm>
            <a:prstGeom prst="roundRect">
              <a:avLst>
                <a:gd name="adj" fmla="val 10000"/>
              </a:avLst>
            </a:prstGeom>
            <a:solidFill>
              <a:srgbClr val="12355B"/>
            </a:solidFill>
            <a:ln>
              <a:noFill/>
            </a:ln>
          </p:spPr>
        </p:sp>
        <p:sp>
          <p:nvSpPr>
            <p:cNvPr id="29" name="TextBox 29"/>
            <p:cNvSpPr txBox="1"/>
            <p:nvPr/>
          </p:nvSpPr>
          <p:spPr>
            <a:xfrm>
              <a:off x="7255748" y="2651760"/>
              <a:ext cx="3205005"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Docker Engine (cgroups + namespaces)</a:t>
              </a:r>
            </a:p>
          </p:txBody>
        </p:sp>
        <p:sp>
          <p:nvSpPr>
            <p:cNvPr id="30" name="Rectangle 30"/>
            <p:cNvSpPr/>
            <p:nvPr/>
          </p:nvSpPr>
          <p:spPr>
            <a:xfrm>
              <a:off x="6553200" y="3162300"/>
              <a:ext cx="4610100" cy="495300"/>
            </a:xfrm>
            <a:prstGeom prst="roundRect">
              <a:avLst>
                <a:gd name="adj" fmla="val 11538"/>
              </a:avLst>
            </a:prstGeom>
            <a:solidFill>
              <a:srgbClr val="2E86AB"/>
            </a:solidFill>
            <a:ln>
              <a:noFill/>
            </a:ln>
          </p:spPr>
        </p:sp>
        <p:sp>
          <p:nvSpPr>
            <p:cNvPr id="31" name="TextBox 31"/>
            <p:cNvSpPr txBox="1"/>
            <p:nvPr/>
          </p:nvSpPr>
          <p:spPr>
            <a:xfrm>
              <a:off x="7956337" y="3337560"/>
              <a:ext cx="1803826"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Ortak Linux çekirdeği</a:t>
              </a:r>
            </a:p>
          </p:txBody>
        </p:sp>
        <p:sp>
          <p:nvSpPr>
            <p:cNvPr id="32" name="Rectangle 32"/>
            <p:cNvSpPr/>
            <p:nvPr/>
          </p:nvSpPr>
          <p:spPr>
            <a:xfrm>
              <a:off x="6553200" y="3810000"/>
              <a:ext cx="4610100" cy="419100"/>
            </a:xfrm>
            <a:prstGeom prst="roundRect">
              <a:avLst>
                <a:gd name="adj" fmla="val 13636"/>
              </a:avLst>
            </a:prstGeom>
            <a:solidFill>
              <a:srgbClr val="52616B"/>
            </a:solidFill>
            <a:ln>
              <a:noFill/>
            </a:ln>
          </p:spPr>
        </p:sp>
        <p:sp>
          <p:nvSpPr>
            <p:cNvPr id="33" name="TextBox 33"/>
            <p:cNvSpPr txBox="1"/>
            <p:nvPr/>
          </p:nvSpPr>
          <p:spPr>
            <a:xfrm>
              <a:off x="7992715" y="3947160"/>
              <a:ext cx="1731070"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Ana makine donanımı</a:t>
              </a:r>
            </a:p>
          </p:txBody>
        </p:sp>
      </p:grpSp>
      <p:grpSp>
        <p:nvGrpSpPr>
          <p:cNvPr id="42" name="mechanism-note"/>
          <p:cNvGrpSpPr/>
          <p:nvPr/>
        </p:nvGrpSpPr>
        <p:grpSpPr>
          <a:xfrm>
            <a:off x="609600" y="4610100"/>
            <a:ext cx="11256195" cy="1600200"/>
            <a:chOff x="609600" y="4610100"/>
            <a:chExt cx="11256195" cy="1600200"/>
          </a:xfrm>
        </p:grpSpPr>
        <p:sp>
          <p:nvSpPr>
            <p:cNvPr id="35" name="Rectangle 35"/>
            <p:cNvSpPr/>
            <p:nvPr/>
          </p:nvSpPr>
          <p:spPr>
            <a:xfrm>
              <a:off x="609600" y="4610100"/>
              <a:ext cx="10972800" cy="1600200"/>
            </a:xfrm>
            <a:prstGeom prst="roundRect">
              <a:avLst>
                <a:gd name="adj" fmla="val 4762"/>
              </a:avLst>
            </a:prstGeom>
            <a:solidFill>
              <a:srgbClr val="EAF4F6"/>
            </a:solidFill>
            <a:ln>
              <a:noFill/>
            </a:ln>
          </p:spPr>
        </p:sp>
        <p:sp>
          <p:nvSpPr>
            <p:cNvPr id="36" name="Rectangle 36"/>
            <p:cNvSpPr/>
            <p:nvPr/>
          </p:nvSpPr>
          <p:spPr>
            <a:xfrm>
              <a:off x="609600" y="4610100"/>
              <a:ext cx="57150" cy="1600200"/>
            </a:xfrm>
            <a:prstGeom prst="rect">
              <a:avLst/>
            </a:prstGeom>
            <a:solidFill>
              <a:srgbClr val="00A6A6"/>
            </a:solidFill>
            <a:ln>
              <a:noFill/>
            </a:ln>
          </p:spPr>
        </p:sp>
        <p:sp>
          <p:nvSpPr>
            <p:cNvPr id="37" name="TextBox 37"/>
            <p:cNvSpPr txBox="1"/>
            <p:nvPr/>
          </p:nvSpPr>
          <p:spPr>
            <a:xfrm>
              <a:off x="906399" y="4744879"/>
              <a:ext cx="278128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İki çekirdek mekanizması</a:t>
              </a:r>
            </a:p>
          </p:txBody>
        </p:sp>
        <p:sp>
          <p:nvSpPr>
            <p:cNvPr id="38" name="TextBox 38"/>
            <p:cNvSpPr txBox="1"/>
            <p:nvPr/>
          </p:nvSpPr>
          <p:spPr>
            <a:xfrm>
              <a:off x="906399" y="5011579"/>
              <a:ext cx="950570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cgroups, bir sürecin kullanabileceği CPU/bellek/G-Ç kaynağını sınırlar; namespaces ise bir</a:t>
              </a:r>
            </a:p>
          </p:txBody>
        </p:sp>
        <p:sp>
          <p:nvSpPr>
            <p:cNvPr id="39" name="TextBox 39"/>
            <p:cNvSpPr txBox="1"/>
            <p:nvPr/>
          </p:nvSpPr>
          <p:spPr>
            <a:xfrm>
              <a:off x="906399" y="5240179"/>
              <a:ext cx="942423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sürecin dosya sistemi, ağ ve süreç kimliklerini diğer süreçlerden izole gösterir. Docker'ın</a:t>
              </a:r>
            </a:p>
          </p:txBody>
        </p:sp>
        <p:sp>
          <p:nvSpPr>
            <p:cNvPr id="40" name="TextBox 40"/>
            <p:cNvSpPr txBox="1"/>
            <p:nvPr/>
          </p:nvSpPr>
          <p:spPr>
            <a:xfrm>
              <a:off x="906399" y="5468779"/>
              <a:ext cx="1095939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katkısı, 2013'te bu ikisini image formatı ve araç zinciriyle birleştirip kullanıcı dostu hale getirmesidir.</a:t>
              </a:r>
            </a:p>
          </p:txBody>
        </p:sp>
        <p:sp>
          <p:nvSpPr>
            <p:cNvPr id="41" name="TextBox 41"/>
            <p:cNvSpPr txBox="1"/>
            <p:nvPr/>
          </p:nvSpPr>
          <p:spPr>
            <a:xfrm>
              <a:off x="908304" y="5833110"/>
              <a:ext cx="766155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Çekirdek paylaşımı hızı artırır ama VM'ye göre daha zayıf bir izolasyon sınırı anlamına gelir.</a:t>
              </a:r>
            </a:p>
          </p:txBody>
        </p:sp>
      </p:grpSp>
      <p:sp>
        <p:nvSpPr>
          <p:cNvPr id="43" name="TextBox 4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7379796" cy="668845"/>
            <a:chOff x="609600" y="171450"/>
            <a:chExt cx="7379796"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668942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Image ve container yaşam döngüsü</a:t>
              </a:r>
            </a:p>
          </p:txBody>
        </p:sp>
      </p:grpSp>
      <p:grpSp>
        <p:nvGrpSpPr>
          <p:cNvPr id="24" name="lifecycle-flow"/>
          <p:cNvGrpSpPr/>
          <p:nvPr/>
        </p:nvGrpSpPr>
        <p:grpSpPr>
          <a:xfrm>
            <a:off x="609600" y="1257300"/>
            <a:ext cx="10972800" cy="685800"/>
            <a:chOff x="609600" y="1257300"/>
            <a:chExt cx="10972800" cy="685800"/>
          </a:xfrm>
        </p:grpSpPr>
        <p:sp>
          <p:nvSpPr>
            <p:cNvPr id="9" name="Rectangle 9"/>
            <p:cNvSpPr/>
            <p:nvPr/>
          </p:nvSpPr>
          <p:spPr>
            <a:xfrm>
              <a:off x="609600" y="1257300"/>
              <a:ext cx="2171700" cy="685800"/>
            </a:xfrm>
            <a:prstGeom prst="roundRect">
              <a:avLst>
                <a:gd name="adj" fmla="val 11111"/>
              </a:avLst>
            </a:prstGeom>
            <a:solidFill>
              <a:srgbClr val="12355B"/>
            </a:solidFill>
            <a:ln>
              <a:noFill/>
            </a:ln>
          </p:spPr>
        </p:sp>
        <p:sp>
          <p:nvSpPr>
            <p:cNvPr id="10" name="TextBox 10"/>
            <p:cNvSpPr txBox="1"/>
            <p:nvPr/>
          </p:nvSpPr>
          <p:spPr>
            <a:xfrm>
              <a:off x="1473915" y="1416368"/>
              <a:ext cx="443070"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build</a:t>
              </a:r>
            </a:p>
          </p:txBody>
        </p:sp>
        <p:sp>
          <p:nvSpPr>
            <p:cNvPr id="11" name="TextBox 11"/>
            <p:cNvSpPr txBox="1"/>
            <p:nvPr/>
          </p:nvSpPr>
          <p:spPr>
            <a:xfrm>
              <a:off x="971824" y="1661160"/>
              <a:ext cx="1447251"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Dockerfile → image</a:t>
              </a:r>
            </a:p>
          </p:txBody>
        </p:sp>
        <p:sp>
          <p:nvSpPr>
            <p:cNvPr id="12" name="Line 12"/>
            <p:cNvSpPr/>
            <p:nvPr/>
          </p:nvSpPr>
          <p:spPr>
            <a:xfrm>
              <a:off x="2781300" y="1600200"/>
              <a:ext cx="419100" cy="1"/>
            </a:xfrm>
            <a:prstGeom prst="line">
              <a:avLst/>
            </a:prstGeom>
            <a:noFill/>
            <a:ln w="23812">
              <a:solidFill>
                <a:srgbClr val="00A6A6"/>
              </a:solidFill>
              <a:tailEnd type="arrow" w="lg" len="lg"/>
            </a:ln>
          </p:spPr>
        </p:sp>
        <p:sp>
          <p:nvSpPr>
            <p:cNvPr id="13" name="Rectangle 13"/>
            <p:cNvSpPr/>
            <p:nvPr/>
          </p:nvSpPr>
          <p:spPr>
            <a:xfrm>
              <a:off x="3276600" y="1257300"/>
              <a:ext cx="2171700" cy="685800"/>
            </a:xfrm>
            <a:prstGeom prst="roundRect">
              <a:avLst>
                <a:gd name="adj" fmla="val 11111"/>
              </a:avLst>
            </a:prstGeom>
            <a:solidFill>
              <a:srgbClr val="2E86AB"/>
            </a:solidFill>
            <a:ln>
              <a:noFill/>
            </a:ln>
          </p:spPr>
        </p:sp>
        <p:sp>
          <p:nvSpPr>
            <p:cNvPr id="14" name="TextBox 14"/>
            <p:cNvSpPr txBox="1"/>
            <p:nvPr/>
          </p:nvSpPr>
          <p:spPr>
            <a:xfrm>
              <a:off x="4198162" y="1416368"/>
              <a:ext cx="328575"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run</a:t>
              </a:r>
            </a:p>
          </p:txBody>
        </p:sp>
        <p:sp>
          <p:nvSpPr>
            <p:cNvPr id="15" name="TextBox 15"/>
            <p:cNvSpPr txBox="1"/>
            <p:nvPr/>
          </p:nvSpPr>
          <p:spPr>
            <a:xfrm>
              <a:off x="3665753" y="1661160"/>
              <a:ext cx="1393393"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image → container</a:t>
              </a:r>
            </a:p>
          </p:txBody>
        </p:sp>
        <p:sp>
          <p:nvSpPr>
            <p:cNvPr id="16" name="Line 16"/>
            <p:cNvSpPr/>
            <p:nvPr/>
          </p:nvSpPr>
          <p:spPr>
            <a:xfrm>
              <a:off x="5448300" y="1600200"/>
              <a:ext cx="419100" cy="1"/>
            </a:xfrm>
            <a:prstGeom prst="line">
              <a:avLst/>
            </a:prstGeom>
            <a:noFill/>
            <a:ln w="23812">
              <a:solidFill>
                <a:srgbClr val="00A6A6"/>
              </a:solidFill>
              <a:tailEnd type="arrow" w="lg" len="lg"/>
            </a:ln>
          </p:spPr>
        </p:sp>
        <p:sp>
          <p:nvSpPr>
            <p:cNvPr id="17" name="Rectangle 17"/>
            <p:cNvSpPr/>
            <p:nvPr/>
          </p:nvSpPr>
          <p:spPr>
            <a:xfrm>
              <a:off x="5943600" y="1257300"/>
              <a:ext cx="2171700" cy="685800"/>
            </a:xfrm>
            <a:prstGeom prst="roundRect">
              <a:avLst>
                <a:gd name="adj" fmla="val 11111"/>
              </a:avLst>
            </a:prstGeom>
            <a:solidFill>
              <a:srgbClr val="00A6A6"/>
            </a:solidFill>
            <a:ln>
              <a:noFill/>
            </a:ln>
          </p:spPr>
        </p:sp>
        <p:sp>
          <p:nvSpPr>
            <p:cNvPr id="18" name="TextBox 18"/>
            <p:cNvSpPr txBox="1"/>
            <p:nvPr/>
          </p:nvSpPr>
          <p:spPr>
            <a:xfrm>
              <a:off x="6917639" y="1416368"/>
              <a:ext cx="223622"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ps</a:t>
              </a:r>
            </a:p>
          </p:txBody>
        </p:sp>
        <p:sp>
          <p:nvSpPr>
            <p:cNvPr id="19" name="TextBox 19"/>
            <p:cNvSpPr txBox="1"/>
            <p:nvPr/>
          </p:nvSpPr>
          <p:spPr>
            <a:xfrm>
              <a:off x="6300445" y="1661160"/>
              <a:ext cx="1458011" cy="234696"/>
            </a:xfrm>
            <a:prstGeom prst="rect">
              <a:avLst/>
            </a:prstGeom>
            <a:noFill/>
            <a:ln>
              <a:noFill/>
            </a:ln>
          </p:spPr>
          <p:txBody>
            <a:bodyPr wrap="none" lIns="0" tIns="0" rIns="0" bIns="0" anchor="t" anchorCtr="0">
              <a:spAutoFit/>
            </a:bodyPr>
            <a:lstStyle/>
            <a:p>
              <a:pPr algn="ctr"/>
              <a:r>
                <a:rPr lang="tr-TR" sz="1200" dirty="0">
                  <a:solidFill>
                    <a:srgbClr val="FFFFFF"/>
                  </a:solidFill>
                  <a:latin typeface="+mn-lt"/>
                  <a:ea typeface="+mn-ea"/>
                  <a:cs typeface="+mn-cs"/>
                </a:rPr>
                <a:t>çalışanları listele</a:t>
              </a:r>
            </a:p>
          </p:txBody>
        </p:sp>
        <p:sp>
          <p:nvSpPr>
            <p:cNvPr id="20" name="Line 20"/>
            <p:cNvSpPr/>
            <p:nvPr/>
          </p:nvSpPr>
          <p:spPr>
            <a:xfrm>
              <a:off x="8115300" y="1600200"/>
              <a:ext cx="419100" cy="1"/>
            </a:xfrm>
            <a:prstGeom prst="line">
              <a:avLst/>
            </a:prstGeom>
            <a:noFill/>
            <a:ln w="23812">
              <a:solidFill>
                <a:srgbClr val="00A6A6"/>
              </a:solidFill>
              <a:tailEnd type="arrow" w="lg" len="lg"/>
            </a:ln>
          </p:spPr>
        </p:sp>
        <p:sp>
          <p:nvSpPr>
            <p:cNvPr id="21" name="Rectangle 21"/>
            <p:cNvSpPr/>
            <p:nvPr/>
          </p:nvSpPr>
          <p:spPr>
            <a:xfrm>
              <a:off x="8610600" y="1257300"/>
              <a:ext cx="2971800" cy="685800"/>
            </a:xfrm>
            <a:prstGeom prst="roundRect">
              <a:avLst>
                <a:gd name="adj" fmla="val 11111"/>
              </a:avLst>
            </a:prstGeom>
            <a:solidFill>
              <a:srgbClr val="52616B"/>
            </a:solidFill>
            <a:ln>
              <a:noFill/>
            </a:ln>
          </p:spPr>
        </p:sp>
        <p:sp>
          <p:nvSpPr>
            <p:cNvPr id="22" name="TextBox 22"/>
            <p:cNvSpPr txBox="1"/>
            <p:nvPr/>
          </p:nvSpPr>
          <p:spPr>
            <a:xfrm>
              <a:off x="9645977" y="1416368"/>
              <a:ext cx="901047"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stop → rm</a:t>
              </a:r>
            </a:p>
          </p:txBody>
        </p:sp>
        <p:sp>
          <p:nvSpPr>
            <p:cNvPr id="23" name="TextBox 23"/>
            <p:cNvSpPr txBox="1"/>
            <p:nvPr/>
          </p:nvSpPr>
          <p:spPr>
            <a:xfrm>
              <a:off x="9508846" y="1661160"/>
              <a:ext cx="1175309"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durdur, kaldır</a:t>
              </a:r>
            </a:p>
          </p:txBody>
        </p:sp>
      </p:grpSp>
      <p:grpSp>
        <p:nvGrpSpPr>
          <p:cNvPr id="35" name="code-block"/>
          <p:cNvGrpSpPr/>
          <p:nvPr/>
        </p:nvGrpSpPr>
        <p:grpSpPr>
          <a:xfrm>
            <a:off x="609600" y="2286000"/>
            <a:ext cx="10972800" cy="2781300"/>
            <a:chOff x="609600" y="2286000"/>
            <a:chExt cx="10972800" cy="2781300"/>
          </a:xfrm>
        </p:grpSpPr>
        <p:sp>
          <p:nvSpPr>
            <p:cNvPr id="25" name="Rectangle 25"/>
            <p:cNvSpPr/>
            <p:nvPr/>
          </p:nvSpPr>
          <p:spPr>
            <a:xfrm>
              <a:off x="609600" y="2286000"/>
              <a:ext cx="10972800" cy="2781300"/>
            </a:xfrm>
            <a:prstGeom prst="roundRect">
              <a:avLst>
                <a:gd name="adj" fmla="val 2740"/>
              </a:avLst>
            </a:prstGeom>
            <a:solidFill>
              <a:srgbClr val="12355B"/>
            </a:solidFill>
            <a:ln>
              <a:noFill/>
            </a:ln>
          </p:spPr>
        </p:sp>
        <p:sp>
          <p:nvSpPr>
            <p:cNvPr id="26" name="TextBox 26"/>
            <p:cNvSpPr txBox="1"/>
            <p:nvPr/>
          </p:nvSpPr>
          <p:spPr>
            <a:xfrm>
              <a:off x="832104" y="2442210"/>
              <a:ext cx="4886633"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Kod 14.1 · Docker image ve container yaşam döngüsü temelleri</a:t>
              </a:r>
            </a:p>
          </p:txBody>
        </p:sp>
        <p:sp>
          <p:nvSpPr>
            <p:cNvPr id="27" name="TextBox 27"/>
            <p:cNvSpPr txBox="1"/>
            <p:nvPr/>
          </p:nvSpPr>
          <p:spPr>
            <a:xfrm>
              <a:off x="832104" y="2747010"/>
              <a:ext cx="401747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 1. Dockerfile'dan bir image inşa et (build)</a:t>
              </a:r>
            </a:p>
          </p:txBody>
        </p:sp>
        <p:sp>
          <p:nvSpPr>
            <p:cNvPr id="28" name="TextBox 28"/>
            <p:cNvSpPr txBox="1"/>
            <p:nvPr/>
          </p:nvSpPr>
          <p:spPr>
            <a:xfrm>
              <a:off x="832104" y="2975610"/>
              <a:ext cx="3121914"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docker build -t kutuphane-api:1.0 .</a:t>
              </a:r>
            </a:p>
          </p:txBody>
        </p:sp>
        <p:sp>
          <p:nvSpPr>
            <p:cNvPr id="29" name="TextBox 29"/>
            <p:cNvSpPr txBox="1"/>
            <p:nvPr/>
          </p:nvSpPr>
          <p:spPr>
            <a:xfrm>
              <a:off x="832104" y="3299460"/>
              <a:ext cx="410626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 2. Bu image'dan bir container çalıştır (run)</a:t>
              </a:r>
            </a:p>
          </p:txBody>
        </p:sp>
        <p:sp>
          <p:nvSpPr>
            <p:cNvPr id="30" name="TextBox 30"/>
            <p:cNvSpPr txBox="1"/>
            <p:nvPr/>
          </p:nvSpPr>
          <p:spPr>
            <a:xfrm>
              <a:off x="832104" y="3528060"/>
              <a:ext cx="6409334"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docker run --name kutuphane-api-container -p 3000:3000 kutuphane-api:1.0</a:t>
              </a:r>
            </a:p>
          </p:txBody>
        </p:sp>
        <p:sp>
          <p:nvSpPr>
            <p:cNvPr id="31" name="TextBox 31"/>
            <p:cNvSpPr txBox="1"/>
            <p:nvPr/>
          </p:nvSpPr>
          <p:spPr>
            <a:xfrm>
              <a:off x="832104" y="3851910"/>
              <a:ext cx="312843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 3. Çalışan container'ları listele</a:t>
              </a:r>
            </a:p>
          </p:txBody>
        </p:sp>
        <p:sp>
          <p:nvSpPr>
            <p:cNvPr id="32" name="TextBox 32"/>
            <p:cNvSpPr txBox="1"/>
            <p:nvPr/>
          </p:nvSpPr>
          <p:spPr>
            <a:xfrm>
              <a:off x="832104" y="4080510"/>
              <a:ext cx="811835"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docker ps</a:t>
              </a:r>
            </a:p>
          </p:txBody>
        </p:sp>
        <p:sp>
          <p:nvSpPr>
            <p:cNvPr id="33" name="TextBox 33"/>
            <p:cNvSpPr txBox="1"/>
            <p:nvPr/>
          </p:nvSpPr>
          <p:spPr>
            <a:xfrm>
              <a:off x="832104" y="4404360"/>
              <a:ext cx="295113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 4. Container'ı durdur ve kaldır</a:t>
              </a:r>
            </a:p>
          </p:txBody>
        </p:sp>
        <p:sp>
          <p:nvSpPr>
            <p:cNvPr id="34" name="TextBox 34"/>
            <p:cNvSpPr txBox="1"/>
            <p:nvPr/>
          </p:nvSpPr>
          <p:spPr>
            <a:xfrm>
              <a:off x="832104" y="4632960"/>
              <a:ext cx="6409334"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docker stop kutuphane-api-container &amp;&amp; docker rm kutuphane-api-container</a:t>
              </a:r>
            </a:p>
          </p:txBody>
        </p:sp>
      </p:grpSp>
      <p:grpSp>
        <p:nvGrpSpPr>
          <p:cNvPr id="41" name="reminder-note"/>
          <p:cNvGrpSpPr/>
          <p:nvPr/>
        </p:nvGrpSpPr>
        <p:grpSpPr>
          <a:xfrm>
            <a:off x="609600" y="5257800"/>
            <a:ext cx="10972800" cy="867156"/>
            <a:chOff x="609600" y="5257800"/>
            <a:chExt cx="10972800" cy="867156"/>
          </a:xfrm>
        </p:grpSpPr>
        <p:sp>
          <p:nvSpPr>
            <p:cNvPr id="36" name="Rectangle 36"/>
            <p:cNvSpPr/>
            <p:nvPr/>
          </p:nvSpPr>
          <p:spPr>
            <a:xfrm>
              <a:off x="609600" y="5257800"/>
              <a:ext cx="10972800" cy="800100"/>
            </a:xfrm>
            <a:prstGeom prst="roundRect">
              <a:avLst>
                <a:gd name="adj" fmla="val 9524"/>
              </a:avLst>
            </a:prstGeom>
            <a:solidFill>
              <a:srgbClr val="EAF4F6"/>
            </a:solidFill>
            <a:ln>
              <a:noFill/>
            </a:ln>
          </p:spPr>
        </p:sp>
        <p:sp>
          <p:nvSpPr>
            <p:cNvPr id="37" name="Rectangle 37"/>
            <p:cNvSpPr/>
            <p:nvPr/>
          </p:nvSpPr>
          <p:spPr>
            <a:xfrm>
              <a:off x="609600" y="5257800"/>
              <a:ext cx="57150" cy="800100"/>
            </a:xfrm>
            <a:prstGeom prst="rect">
              <a:avLst/>
            </a:prstGeom>
            <a:solidFill>
              <a:srgbClr val="00A6A6"/>
            </a:solidFill>
            <a:ln>
              <a:noFill/>
            </a:ln>
          </p:spPr>
        </p:sp>
        <p:sp>
          <p:nvSpPr>
            <p:cNvPr id="38" name="TextBox 38"/>
            <p:cNvSpPr txBox="1"/>
            <p:nvPr/>
          </p:nvSpPr>
          <p:spPr>
            <a:xfrm>
              <a:off x="906399" y="5392579"/>
              <a:ext cx="246965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 zaman hangi komut?</a:t>
              </a:r>
            </a:p>
          </p:txBody>
        </p:sp>
        <p:sp>
          <p:nvSpPr>
            <p:cNvPr id="39" name="TextBox 39"/>
            <p:cNvSpPr txBox="1"/>
            <p:nvPr/>
          </p:nvSpPr>
          <p:spPr>
            <a:xfrm>
              <a:off x="906399" y="5659279"/>
              <a:ext cx="847755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build yalnızca Dockerfile değiştiğinde tekrarlanır; kod değişmeden her run öncesi</a:t>
              </a:r>
            </a:p>
          </p:txBody>
        </p:sp>
        <p:sp>
          <p:nvSpPr>
            <p:cNvPr id="40" name="TextBox 40"/>
            <p:cNvSpPr txBox="1"/>
            <p:nvPr/>
          </p:nvSpPr>
          <p:spPr>
            <a:xfrm>
              <a:off x="908304" y="5890260"/>
              <a:ext cx="732205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yeniden build etmek zaman kaybıdır — aynı image'dan istenildiği kadar container üretilebilir.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306311" cy="668845"/>
            <a:chOff x="609600" y="171450"/>
            <a:chExt cx="8306311"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761593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Dockerfile: satır satır katman inşası</a:t>
              </a:r>
            </a:p>
          </p:txBody>
        </p:sp>
      </p:grpSp>
      <p:grpSp>
        <p:nvGrpSpPr>
          <p:cNvPr id="14" name="definition-block"/>
          <p:cNvGrpSpPr/>
          <p:nvPr/>
        </p:nvGrpSpPr>
        <p:grpSpPr>
          <a:xfrm>
            <a:off x="609600" y="1181100"/>
            <a:ext cx="10972800" cy="857250"/>
            <a:chOff x="609600" y="1181100"/>
            <a:chExt cx="10972800" cy="857250"/>
          </a:xfrm>
        </p:grpSpPr>
        <p:sp>
          <p:nvSpPr>
            <p:cNvPr id="9" name="Rectangle 9"/>
            <p:cNvSpPr/>
            <p:nvPr/>
          </p:nvSpPr>
          <p:spPr>
            <a:xfrm>
              <a:off x="609600" y="1181100"/>
              <a:ext cx="10972800" cy="857250"/>
            </a:xfrm>
            <a:prstGeom prst="roundRect">
              <a:avLst>
                <a:gd name="adj" fmla="val 8889"/>
              </a:avLst>
            </a:prstGeom>
            <a:solidFill>
              <a:srgbClr val="EAF4F6"/>
            </a:solidFill>
            <a:ln>
              <a:noFill/>
            </a:ln>
          </p:spPr>
        </p:sp>
        <p:sp>
          <p:nvSpPr>
            <p:cNvPr id="10" name="Rectangle 10"/>
            <p:cNvSpPr/>
            <p:nvPr/>
          </p:nvSpPr>
          <p:spPr>
            <a:xfrm>
              <a:off x="609600" y="1181100"/>
              <a:ext cx="57150" cy="857250"/>
            </a:xfrm>
            <a:prstGeom prst="rect">
              <a:avLst/>
            </a:prstGeom>
            <a:solidFill>
              <a:srgbClr val="00A6A6"/>
            </a:solidFill>
            <a:ln>
              <a:noFill/>
            </a:ln>
          </p:spPr>
        </p:sp>
        <p:sp>
          <p:nvSpPr>
            <p:cNvPr id="11" name="TextBox 11"/>
            <p:cNvSpPr txBox="1"/>
            <p:nvPr/>
          </p:nvSpPr>
          <p:spPr>
            <a:xfrm>
              <a:off x="906399" y="12777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2" name="TextBox 12"/>
            <p:cNvSpPr txBox="1"/>
            <p:nvPr/>
          </p:nvSpPr>
          <p:spPr>
            <a:xfrm>
              <a:off x="906399" y="1525429"/>
              <a:ext cx="912660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Dockerfile, bir image'ın adım adım nasıl inşa edileceğini tanımlayan metin dosyasıdır:</a:t>
              </a:r>
            </a:p>
          </p:txBody>
        </p:sp>
        <p:sp>
          <p:nvSpPr>
            <p:cNvPr id="13" name="TextBox 13"/>
            <p:cNvSpPr txBox="1"/>
            <p:nvPr/>
          </p:nvSpPr>
          <p:spPr>
            <a:xfrm>
              <a:off x="908304" y="1794510"/>
              <a:ext cx="846902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temel çalışma zamanı seçimi, bağımlılık kurulumu, kod kopyalama ve başlatma komutu sırayla tanımlanır.</a:t>
              </a:r>
            </a:p>
          </p:txBody>
        </p:sp>
      </p:grpSp>
      <p:grpSp>
        <p:nvGrpSpPr>
          <p:cNvPr id="28" name="layer-diagram"/>
          <p:cNvGrpSpPr/>
          <p:nvPr/>
        </p:nvGrpSpPr>
        <p:grpSpPr>
          <a:xfrm>
            <a:off x="600456" y="2225040"/>
            <a:ext cx="5266944" cy="2823210"/>
            <a:chOff x="600456" y="2225040"/>
            <a:chExt cx="5266944" cy="2823210"/>
          </a:xfrm>
        </p:grpSpPr>
        <p:sp>
          <p:nvSpPr>
            <p:cNvPr id="15" name="TextBox 15"/>
            <p:cNvSpPr txBox="1"/>
            <p:nvPr/>
          </p:nvSpPr>
          <p:spPr>
            <a:xfrm>
              <a:off x="600456" y="2225040"/>
              <a:ext cx="288874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Katmanlı dosya sistemi</a:t>
              </a:r>
            </a:p>
          </p:txBody>
        </p:sp>
        <p:sp>
          <p:nvSpPr>
            <p:cNvPr id="16" name="Rectangle 16"/>
            <p:cNvSpPr/>
            <p:nvPr/>
          </p:nvSpPr>
          <p:spPr>
            <a:xfrm>
              <a:off x="609600" y="2571750"/>
              <a:ext cx="5257800" cy="495300"/>
            </a:xfrm>
            <a:prstGeom prst="rect">
              <a:avLst/>
            </a:prstGeom>
            <a:solidFill>
              <a:srgbClr val="FFFFFF"/>
            </a:solidFill>
            <a:ln w="9525">
              <a:solidFill>
                <a:srgbClr val="B8CBD3"/>
              </a:solidFill>
            </a:ln>
          </p:spPr>
        </p:sp>
        <p:sp>
          <p:nvSpPr>
            <p:cNvPr id="17" name="TextBox 17"/>
            <p:cNvSpPr txBox="1"/>
            <p:nvPr/>
          </p:nvSpPr>
          <p:spPr>
            <a:xfrm>
              <a:off x="832104" y="2747010"/>
              <a:ext cx="244190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CMD ["node", "dist/index.js"]</a:t>
              </a:r>
            </a:p>
          </p:txBody>
        </p:sp>
        <p:sp>
          <p:nvSpPr>
            <p:cNvPr id="18" name="Rectangle 18"/>
            <p:cNvSpPr/>
            <p:nvPr/>
          </p:nvSpPr>
          <p:spPr>
            <a:xfrm>
              <a:off x="609600" y="3067050"/>
              <a:ext cx="5257800" cy="495300"/>
            </a:xfrm>
            <a:prstGeom prst="rect">
              <a:avLst/>
            </a:prstGeom>
            <a:solidFill>
              <a:srgbClr val="EAF4F6"/>
            </a:solidFill>
            <a:ln w="9525">
              <a:solidFill>
                <a:srgbClr val="B8CBD3"/>
              </a:solidFill>
            </a:ln>
          </p:spPr>
        </p:sp>
        <p:sp>
          <p:nvSpPr>
            <p:cNvPr id="19" name="TextBox 19"/>
            <p:cNvSpPr txBox="1"/>
            <p:nvPr/>
          </p:nvSpPr>
          <p:spPr>
            <a:xfrm>
              <a:off x="832104" y="3242310"/>
              <a:ext cx="177903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COPY . . (kaynak kod)</a:t>
              </a:r>
            </a:p>
          </p:txBody>
        </p:sp>
        <p:sp>
          <p:nvSpPr>
            <p:cNvPr id="20" name="Rectangle 20"/>
            <p:cNvSpPr/>
            <p:nvPr/>
          </p:nvSpPr>
          <p:spPr>
            <a:xfrm>
              <a:off x="609600" y="3562350"/>
              <a:ext cx="5257800" cy="495300"/>
            </a:xfrm>
            <a:prstGeom prst="rect">
              <a:avLst/>
            </a:prstGeom>
            <a:solidFill>
              <a:srgbClr val="FFFFFF"/>
            </a:solidFill>
            <a:ln w="9525">
              <a:solidFill>
                <a:srgbClr val="B8CBD3"/>
              </a:solidFill>
            </a:ln>
          </p:spPr>
        </p:sp>
        <p:sp>
          <p:nvSpPr>
            <p:cNvPr id="21" name="TextBox 21"/>
            <p:cNvSpPr txBox="1"/>
            <p:nvPr/>
          </p:nvSpPr>
          <p:spPr>
            <a:xfrm>
              <a:off x="832104" y="3737610"/>
              <a:ext cx="24836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RUN npm install (bağımlılıklar)</a:t>
              </a:r>
            </a:p>
          </p:txBody>
        </p:sp>
        <p:sp>
          <p:nvSpPr>
            <p:cNvPr id="22" name="Rectangle 22"/>
            <p:cNvSpPr/>
            <p:nvPr/>
          </p:nvSpPr>
          <p:spPr>
            <a:xfrm>
              <a:off x="609600" y="4057650"/>
              <a:ext cx="5257800" cy="495300"/>
            </a:xfrm>
            <a:prstGeom prst="rect">
              <a:avLst/>
            </a:prstGeom>
            <a:solidFill>
              <a:srgbClr val="EAF4F6"/>
            </a:solidFill>
            <a:ln w="9525">
              <a:solidFill>
                <a:srgbClr val="B8CBD3"/>
              </a:solidFill>
            </a:ln>
          </p:spPr>
        </p:sp>
        <p:sp>
          <p:nvSpPr>
            <p:cNvPr id="23" name="TextBox 23"/>
            <p:cNvSpPr txBox="1"/>
            <p:nvPr/>
          </p:nvSpPr>
          <p:spPr>
            <a:xfrm>
              <a:off x="832104" y="4232910"/>
              <a:ext cx="32023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COPY package.json package-lock.json ./</a:t>
              </a:r>
            </a:p>
          </p:txBody>
        </p:sp>
        <p:sp>
          <p:nvSpPr>
            <p:cNvPr id="24" name="Rectangle 24"/>
            <p:cNvSpPr/>
            <p:nvPr/>
          </p:nvSpPr>
          <p:spPr>
            <a:xfrm>
              <a:off x="609600" y="4552950"/>
              <a:ext cx="5257800" cy="495300"/>
            </a:xfrm>
            <a:prstGeom prst="rect">
              <a:avLst/>
            </a:prstGeom>
            <a:solidFill>
              <a:srgbClr val="12355B"/>
            </a:solidFill>
            <a:ln>
              <a:noFill/>
            </a:ln>
          </p:spPr>
        </p:sp>
        <p:sp>
          <p:nvSpPr>
            <p:cNvPr id="25" name="TextBox 25"/>
            <p:cNvSpPr txBox="1"/>
            <p:nvPr/>
          </p:nvSpPr>
          <p:spPr>
            <a:xfrm>
              <a:off x="832104" y="4728210"/>
              <a:ext cx="2954469"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mn-lt"/>
                  <a:ea typeface="+mn-ea"/>
                  <a:cs typeface="+mn-cs"/>
                </a:rPr>
                <a:t>FROM node:24-alpine (taban katman)</a:t>
              </a:r>
            </a:p>
          </p:txBody>
        </p:sp>
        <p:sp>
          <p:nvSpPr>
            <p:cNvPr id="26" name="TextBox 26"/>
            <p:cNvSpPr txBox="1"/>
            <p:nvPr/>
          </p:nvSpPr>
          <p:spPr>
            <a:xfrm>
              <a:off x="4791608" y="2727960"/>
              <a:ext cx="1005688"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 sık değişir</a:t>
              </a:r>
            </a:p>
          </p:txBody>
        </p:sp>
        <p:sp>
          <p:nvSpPr>
            <p:cNvPr id="27" name="TextBox 27"/>
            <p:cNvSpPr txBox="1"/>
            <p:nvPr/>
          </p:nvSpPr>
          <p:spPr>
            <a:xfrm>
              <a:off x="3935425" y="4671060"/>
              <a:ext cx="1861871" cy="234696"/>
            </a:xfrm>
            <a:prstGeom prst="rect">
              <a:avLst/>
            </a:prstGeom>
            <a:noFill/>
            <a:ln>
              <a:noFill/>
            </a:ln>
          </p:spPr>
          <p:txBody>
            <a:bodyPr wrap="none" lIns="0" tIns="0" rIns="0" bIns="0" anchor="t" anchorCtr="0">
              <a:spAutoFit/>
            </a:bodyPr>
            <a:lstStyle/>
            <a:p>
              <a:pPr algn="r"/>
              <a:r>
                <a:rPr lang="tr-TR" sz="1200" dirty="0">
                  <a:solidFill>
                    <a:srgbClr val="EAF4F6"/>
                  </a:solidFill>
                  <a:latin typeface="+mn-lt"/>
                  <a:ea typeface="+mn-ea"/>
                  <a:cs typeface="+mn-cs"/>
                </a:rPr>
                <a:t>↓ önbellekten kullanılır</a:t>
              </a:r>
            </a:p>
          </p:txBody>
        </p:sp>
      </p:grpSp>
      <p:grpSp>
        <p:nvGrpSpPr>
          <p:cNvPr id="41" name="theory-block"/>
          <p:cNvGrpSpPr/>
          <p:nvPr/>
        </p:nvGrpSpPr>
        <p:grpSpPr>
          <a:xfrm>
            <a:off x="6324600" y="2209800"/>
            <a:ext cx="5257800" cy="3238500"/>
            <a:chOff x="6324600" y="2209800"/>
            <a:chExt cx="5257800" cy="3238500"/>
          </a:xfrm>
        </p:grpSpPr>
        <p:sp>
          <p:nvSpPr>
            <p:cNvPr id="29" name="Rectangle 29"/>
            <p:cNvSpPr/>
            <p:nvPr/>
          </p:nvSpPr>
          <p:spPr>
            <a:xfrm>
              <a:off x="6324600" y="2209800"/>
              <a:ext cx="5257800" cy="3238500"/>
            </a:xfrm>
            <a:prstGeom prst="roundRect">
              <a:avLst>
                <a:gd name="adj" fmla="val 2353"/>
              </a:avLst>
            </a:prstGeom>
            <a:solidFill>
              <a:srgbClr val="FFFFFF"/>
            </a:solidFill>
            <a:ln w="14288">
              <a:solidFill>
                <a:srgbClr val="B8CBD3"/>
              </a:solidFill>
            </a:ln>
          </p:spPr>
        </p:sp>
        <p:sp>
          <p:nvSpPr>
            <p:cNvPr id="30" name="TextBox 30"/>
            <p:cNvSpPr txBox="1"/>
            <p:nvPr/>
          </p:nvSpPr>
          <p:spPr>
            <a:xfrm>
              <a:off x="6583299" y="2363629"/>
              <a:ext cx="205553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Kuramsal arka plan</a:t>
              </a:r>
            </a:p>
          </p:txBody>
        </p:sp>
        <p:sp>
          <p:nvSpPr>
            <p:cNvPr id="31" name="TextBox 31"/>
            <p:cNvSpPr txBox="1"/>
            <p:nvPr/>
          </p:nvSpPr>
          <p:spPr>
            <a:xfrm>
              <a:off x="6583299" y="2668429"/>
              <a:ext cx="405350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Her satır Union File System/OverlayFS</a:t>
              </a:r>
            </a:p>
          </p:txBody>
        </p:sp>
        <p:sp>
          <p:nvSpPr>
            <p:cNvPr id="32" name="TextBox 32"/>
            <p:cNvSpPr txBox="1"/>
            <p:nvPr/>
          </p:nvSpPr>
          <p:spPr>
            <a:xfrm>
              <a:off x="6583299" y="2897029"/>
              <a:ext cx="414237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üzerinde salt okunur bir katman üretir;</a:t>
              </a:r>
            </a:p>
          </p:txBody>
        </p:sp>
        <p:sp>
          <p:nvSpPr>
            <p:cNvPr id="33" name="TextBox 33"/>
            <p:cNvSpPr txBox="1"/>
            <p:nvPr/>
          </p:nvSpPr>
          <p:spPr>
            <a:xfrm>
              <a:off x="6583299" y="3125629"/>
              <a:ext cx="467412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katman yalnızca öncekinin farkını (diff)</a:t>
              </a:r>
            </a:p>
          </p:txBody>
        </p:sp>
        <p:sp>
          <p:nvSpPr>
            <p:cNvPr id="34" name="TextBox 34"/>
            <p:cNvSpPr txBox="1"/>
            <p:nvPr/>
          </p:nvSpPr>
          <p:spPr>
            <a:xfrm>
              <a:off x="6583299" y="3354229"/>
              <a:ext cx="437634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taşır — git'teki delta depolamaya benzer.</a:t>
              </a:r>
            </a:p>
          </p:txBody>
        </p:sp>
        <p:sp>
          <p:nvSpPr>
            <p:cNvPr id="35" name="TextBox 35"/>
            <p:cNvSpPr txBox="1"/>
            <p:nvPr/>
          </p:nvSpPr>
          <p:spPr>
            <a:xfrm>
              <a:off x="6583299" y="3678079"/>
              <a:ext cx="475561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Değişmez altyapı (immutable infrastructure)</a:t>
              </a:r>
            </a:p>
          </p:txBody>
        </p:sp>
        <p:sp>
          <p:nvSpPr>
            <p:cNvPr id="36" name="TextBox 36"/>
            <p:cNvSpPr txBox="1"/>
            <p:nvPr/>
          </p:nvSpPr>
          <p:spPr>
            <a:xfrm>
              <a:off x="6583299" y="3906679"/>
              <a:ext cx="369570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ilkesi gereği, çalışan bir image asla</a:t>
              </a:r>
            </a:p>
          </p:txBody>
        </p:sp>
        <p:sp>
          <p:nvSpPr>
            <p:cNvPr id="37" name="TextBox 37"/>
            <p:cNvSpPr txBox="1"/>
            <p:nvPr/>
          </p:nvSpPr>
          <p:spPr>
            <a:xfrm>
              <a:off x="6583299" y="4135279"/>
              <a:ext cx="375951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yamalanmaz; her güncelleme yeni bir</a:t>
              </a:r>
            </a:p>
          </p:txBody>
        </p:sp>
        <p:sp>
          <p:nvSpPr>
            <p:cNvPr id="38" name="TextBox 38"/>
            <p:cNvSpPr txBox="1"/>
            <p:nvPr/>
          </p:nvSpPr>
          <p:spPr>
            <a:xfrm>
              <a:off x="6583299" y="4363879"/>
              <a:ext cx="278109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image inşa ederek yapılır.</a:t>
              </a:r>
            </a:p>
          </p:txBody>
        </p:sp>
        <p:sp>
          <p:nvSpPr>
            <p:cNvPr id="39" name="TextBox 39"/>
            <p:cNvSpPr txBox="1"/>
            <p:nvPr/>
          </p:nvSpPr>
          <p:spPr>
            <a:xfrm>
              <a:off x="6585204" y="4728210"/>
              <a:ext cx="446832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Kural: az değişen satırları önce, sık değişeni sona yaz.</a:t>
              </a:r>
            </a:p>
          </p:txBody>
        </p:sp>
        <p:sp>
          <p:nvSpPr>
            <p:cNvPr id="40" name="TextBox 40"/>
            <p:cNvSpPr txBox="1"/>
            <p:nvPr/>
          </p:nvSpPr>
          <p:spPr>
            <a:xfrm>
              <a:off x="6585204" y="4937760"/>
              <a:ext cx="366003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sıralama build süresini önbellekle kısaltır.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7232813" cy="668845"/>
            <a:chOff x="609600" y="171450"/>
            <a:chExt cx="7232813"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654244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14.2: Multi-stage Dockerfile</a:t>
              </a:r>
            </a:p>
          </p:txBody>
        </p:sp>
      </p:grpSp>
      <p:grpSp>
        <p:nvGrpSpPr>
          <p:cNvPr id="25" name="code-block"/>
          <p:cNvGrpSpPr/>
          <p:nvPr/>
        </p:nvGrpSpPr>
        <p:grpSpPr>
          <a:xfrm>
            <a:off x="609600" y="1181100"/>
            <a:ext cx="10972800" cy="3048000"/>
            <a:chOff x="609600" y="1181100"/>
            <a:chExt cx="10972800" cy="3048000"/>
          </a:xfrm>
        </p:grpSpPr>
        <p:sp>
          <p:nvSpPr>
            <p:cNvPr id="9" name="Rectangle 9"/>
            <p:cNvSpPr/>
            <p:nvPr/>
          </p:nvSpPr>
          <p:spPr>
            <a:xfrm>
              <a:off x="609600" y="1181100"/>
              <a:ext cx="10972800" cy="3048000"/>
            </a:xfrm>
            <a:prstGeom prst="roundRect">
              <a:avLst>
                <a:gd name="adj" fmla="val 2500"/>
              </a:avLst>
            </a:prstGeom>
            <a:solidFill>
              <a:srgbClr val="12355B"/>
            </a:solidFill>
            <a:ln>
              <a:noFill/>
            </a:ln>
          </p:spPr>
        </p:sp>
        <p:sp>
          <p:nvSpPr>
            <p:cNvPr id="10" name="TextBox 10"/>
            <p:cNvSpPr txBox="1"/>
            <p:nvPr/>
          </p:nvSpPr>
          <p:spPr>
            <a:xfrm>
              <a:off x="832104" y="1318260"/>
              <a:ext cx="190483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 --- Aşama 1: build ---</a:t>
              </a:r>
            </a:p>
          </p:txBody>
        </p:sp>
        <p:sp>
          <p:nvSpPr>
            <p:cNvPr id="11" name="TextBox 11"/>
            <p:cNvSpPr txBox="1"/>
            <p:nvPr/>
          </p:nvSpPr>
          <p:spPr>
            <a:xfrm>
              <a:off x="832104" y="1546860"/>
              <a:ext cx="2540203"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FROM node:24-alpine AS build</a:t>
              </a:r>
            </a:p>
          </p:txBody>
        </p:sp>
        <p:sp>
          <p:nvSpPr>
            <p:cNvPr id="12" name="TextBox 12"/>
            <p:cNvSpPr txBox="1"/>
            <p:nvPr/>
          </p:nvSpPr>
          <p:spPr>
            <a:xfrm>
              <a:off x="832104" y="1756410"/>
              <a:ext cx="1562527"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WORKDIR /uygulama</a:t>
              </a:r>
            </a:p>
          </p:txBody>
        </p:sp>
        <p:sp>
          <p:nvSpPr>
            <p:cNvPr id="13" name="TextBox 13"/>
            <p:cNvSpPr txBox="1"/>
            <p:nvPr/>
          </p:nvSpPr>
          <p:spPr>
            <a:xfrm>
              <a:off x="832104" y="1965960"/>
              <a:ext cx="3413943"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COPY package.json package-lock.json ./</a:t>
              </a:r>
            </a:p>
          </p:txBody>
        </p:sp>
        <p:sp>
          <p:nvSpPr>
            <p:cNvPr id="14" name="TextBox 14"/>
            <p:cNvSpPr txBox="1"/>
            <p:nvPr/>
          </p:nvSpPr>
          <p:spPr>
            <a:xfrm>
              <a:off x="832104" y="2175510"/>
              <a:ext cx="1362339"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RUN npm install</a:t>
              </a:r>
            </a:p>
          </p:txBody>
        </p:sp>
        <p:sp>
          <p:nvSpPr>
            <p:cNvPr id="15" name="TextBox 15"/>
            <p:cNvSpPr txBox="1"/>
            <p:nvPr/>
          </p:nvSpPr>
          <p:spPr>
            <a:xfrm>
              <a:off x="832104" y="2385060"/>
              <a:ext cx="763219"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COPY . .</a:t>
              </a:r>
            </a:p>
          </p:txBody>
        </p:sp>
        <p:sp>
          <p:nvSpPr>
            <p:cNvPr id="16" name="TextBox 16"/>
            <p:cNvSpPr txBox="1"/>
            <p:nvPr/>
          </p:nvSpPr>
          <p:spPr>
            <a:xfrm>
              <a:off x="832104" y="2594610"/>
              <a:ext cx="1540949"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RUN npm run build</a:t>
              </a:r>
            </a:p>
          </p:txBody>
        </p:sp>
        <p:sp>
          <p:nvSpPr>
            <p:cNvPr id="17" name="TextBox 17"/>
            <p:cNvSpPr txBox="1"/>
            <p:nvPr/>
          </p:nvSpPr>
          <p:spPr>
            <a:xfrm>
              <a:off x="832104" y="2899410"/>
              <a:ext cx="238774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 --- Aşama 2: production ---</a:t>
              </a:r>
            </a:p>
          </p:txBody>
        </p:sp>
        <p:sp>
          <p:nvSpPr>
            <p:cNvPr id="18" name="TextBox 18"/>
            <p:cNvSpPr txBox="1"/>
            <p:nvPr/>
          </p:nvSpPr>
          <p:spPr>
            <a:xfrm>
              <a:off x="832104" y="3108960"/>
              <a:ext cx="2982515"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FROM node:24-alpine AS production</a:t>
              </a:r>
            </a:p>
          </p:txBody>
        </p:sp>
        <p:sp>
          <p:nvSpPr>
            <p:cNvPr id="19" name="TextBox 19"/>
            <p:cNvSpPr txBox="1"/>
            <p:nvPr/>
          </p:nvSpPr>
          <p:spPr>
            <a:xfrm>
              <a:off x="832104" y="3318510"/>
              <a:ext cx="2113559"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ENV NODE_ENV=production</a:t>
              </a:r>
            </a:p>
          </p:txBody>
        </p:sp>
        <p:sp>
          <p:nvSpPr>
            <p:cNvPr id="20" name="TextBox 20"/>
            <p:cNvSpPr txBox="1"/>
            <p:nvPr/>
          </p:nvSpPr>
          <p:spPr>
            <a:xfrm>
              <a:off x="832104" y="3528060"/>
              <a:ext cx="2341885"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RUN npm install --omit=dev</a:t>
              </a:r>
            </a:p>
          </p:txBody>
        </p:sp>
        <p:sp>
          <p:nvSpPr>
            <p:cNvPr id="21" name="TextBox 21"/>
            <p:cNvSpPr txBox="1"/>
            <p:nvPr/>
          </p:nvSpPr>
          <p:spPr>
            <a:xfrm>
              <a:off x="6242304" y="3528060"/>
              <a:ext cx="350436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COPY --from=build /uygulama/dist ./dist</a:t>
              </a:r>
            </a:p>
          </p:txBody>
        </p:sp>
        <p:sp>
          <p:nvSpPr>
            <p:cNvPr id="22" name="TextBox 22"/>
            <p:cNvSpPr txBox="1"/>
            <p:nvPr/>
          </p:nvSpPr>
          <p:spPr>
            <a:xfrm>
              <a:off x="832104" y="3737610"/>
              <a:ext cx="1044854"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EXPOSE 3000</a:t>
              </a:r>
            </a:p>
          </p:txBody>
        </p:sp>
        <p:sp>
          <p:nvSpPr>
            <p:cNvPr id="23" name="TextBox 23"/>
            <p:cNvSpPr txBox="1"/>
            <p:nvPr/>
          </p:nvSpPr>
          <p:spPr>
            <a:xfrm>
              <a:off x="6242304" y="3737610"/>
              <a:ext cx="2613127"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CMD ["node", "dist/index.js"]</a:t>
              </a:r>
            </a:p>
          </p:txBody>
        </p:sp>
        <p:sp>
          <p:nvSpPr>
            <p:cNvPr id="24" name="Rectangle 24"/>
            <p:cNvSpPr/>
            <p:nvPr/>
          </p:nvSpPr>
          <p:spPr>
            <a:xfrm>
              <a:off x="6096000" y="3505200"/>
              <a:ext cx="4038600" cy="323850"/>
            </a:xfrm>
            <a:prstGeom prst="roundRect">
              <a:avLst>
                <a:gd name="adj" fmla="val 11765"/>
              </a:avLst>
            </a:prstGeom>
            <a:noFill/>
            <a:ln w="14288">
              <a:solidFill>
                <a:srgbClr val="00A6A6"/>
              </a:solidFill>
            </a:ln>
          </p:spPr>
        </p:sp>
      </p:grpSp>
      <p:grpSp>
        <p:nvGrpSpPr>
          <p:cNvPr id="32" name="key-lines"/>
          <p:cNvGrpSpPr/>
          <p:nvPr/>
        </p:nvGrpSpPr>
        <p:grpSpPr>
          <a:xfrm>
            <a:off x="609600" y="4381500"/>
            <a:ext cx="5257800" cy="1524000"/>
            <a:chOff x="609600" y="4381500"/>
            <a:chExt cx="5257800" cy="1524000"/>
          </a:xfrm>
        </p:grpSpPr>
        <p:sp>
          <p:nvSpPr>
            <p:cNvPr id="26" name="Rectangle 26"/>
            <p:cNvSpPr/>
            <p:nvPr/>
          </p:nvSpPr>
          <p:spPr>
            <a:xfrm>
              <a:off x="609600" y="4381500"/>
              <a:ext cx="5257800" cy="1524000"/>
            </a:xfrm>
            <a:prstGeom prst="roundRect">
              <a:avLst>
                <a:gd name="adj" fmla="val 5000"/>
              </a:avLst>
            </a:prstGeom>
            <a:solidFill>
              <a:srgbClr val="FFFFFF"/>
            </a:solidFill>
            <a:ln w="14288">
              <a:solidFill>
                <a:srgbClr val="B8CBD3"/>
              </a:solidFill>
            </a:ln>
          </p:spPr>
        </p:sp>
        <p:sp>
          <p:nvSpPr>
            <p:cNvPr id="27" name="TextBox 27"/>
            <p:cNvSpPr txBox="1"/>
            <p:nvPr/>
          </p:nvSpPr>
          <p:spPr>
            <a:xfrm>
              <a:off x="830199" y="4516279"/>
              <a:ext cx="132923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Kritik satır</a:t>
              </a:r>
            </a:p>
          </p:txBody>
        </p:sp>
        <p:sp>
          <p:nvSpPr>
            <p:cNvPr id="28" name="TextBox 28"/>
            <p:cNvSpPr txBox="1"/>
            <p:nvPr/>
          </p:nvSpPr>
          <p:spPr>
            <a:xfrm>
              <a:off x="832104" y="4842510"/>
              <a:ext cx="327643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COPY --from=build /uygulama/dist ./dist</a:t>
              </a:r>
            </a:p>
          </p:txBody>
        </p:sp>
        <p:sp>
          <p:nvSpPr>
            <p:cNvPr id="29" name="TextBox 29"/>
            <p:cNvSpPr txBox="1"/>
            <p:nvPr/>
          </p:nvSpPr>
          <p:spPr>
            <a:xfrm>
              <a:off x="832104" y="5090160"/>
              <a:ext cx="389732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yalnızca derlenmiş çıktı ikinci aşamaya taşınır;</a:t>
              </a:r>
            </a:p>
          </p:txBody>
        </p:sp>
        <p:sp>
          <p:nvSpPr>
            <p:cNvPr id="30" name="TextBox 30"/>
            <p:cNvSpPr txBox="1"/>
            <p:nvPr/>
          </p:nvSpPr>
          <p:spPr>
            <a:xfrm>
              <a:off x="832104" y="5299710"/>
              <a:ext cx="311383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kaynak kod ve build araçları production</a:t>
              </a:r>
            </a:p>
          </p:txBody>
        </p:sp>
        <p:sp>
          <p:nvSpPr>
            <p:cNvPr id="31" name="TextBox 31"/>
            <p:cNvSpPr txBox="1"/>
            <p:nvPr/>
          </p:nvSpPr>
          <p:spPr>
            <a:xfrm>
              <a:off x="832104" y="5509260"/>
              <a:ext cx="150647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image'ına sızmaz.</a:t>
              </a:r>
            </a:p>
          </p:txBody>
        </p:sp>
      </p:grpSp>
      <p:grpSp>
        <p:nvGrpSpPr>
          <p:cNvPr id="40" name="security-note"/>
          <p:cNvGrpSpPr/>
          <p:nvPr/>
        </p:nvGrpSpPr>
        <p:grpSpPr>
          <a:xfrm>
            <a:off x="6324600" y="4381500"/>
            <a:ext cx="5257800" cy="1524000"/>
            <a:chOff x="6324600" y="4381500"/>
            <a:chExt cx="5257800" cy="1524000"/>
          </a:xfrm>
        </p:grpSpPr>
        <p:sp>
          <p:nvSpPr>
            <p:cNvPr id="33" name="Rectangle 33"/>
            <p:cNvSpPr/>
            <p:nvPr/>
          </p:nvSpPr>
          <p:spPr>
            <a:xfrm>
              <a:off x="6324600" y="4381500"/>
              <a:ext cx="5257800" cy="1524000"/>
            </a:xfrm>
            <a:prstGeom prst="roundRect">
              <a:avLst>
                <a:gd name="adj" fmla="val 5000"/>
              </a:avLst>
            </a:prstGeom>
            <a:solidFill>
              <a:srgbClr val="EAF4F6"/>
            </a:solidFill>
            <a:ln>
              <a:noFill/>
            </a:ln>
          </p:spPr>
        </p:sp>
        <p:sp>
          <p:nvSpPr>
            <p:cNvPr id="34" name="Rectangle 34"/>
            <p:cNvSpPr/>
            <p:nvPr/>
          </p:nvSpPr>
          <p:spPr>
            <a:xfrm>
              <a:off x="6324600" y="4381500"/>
              <a:ext cx="57150" cy="1524000"/>
            </a:xfrm>
            <a:prstGeom prst="rect">
              <a:avLst/>
            </a:prstGeom>
            <a:solidFill>
              <a:srgbClr val="00A6A6"/>
            </a:solidFill>
            <a:ln>
              <a:noFill/>
            </a:ln>
          </p:spPr>
        </p:sp>
        <p:sp>
          <p:nvSpPr>
            <p:cNvPr id="35" name="TextBox 35"/>
            <p:cNvSpPr txBox="1"/>
            <p:nvPr/>
          </p:nvSpPr>
          <p:spPr>
            <a:xfrm>
              <a:off x="6621399" y="4516279"/>
              <a:ext cx="312799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daha küçük ve güvenli?</a:t>
              </a:r>
            </a:p>
          </p:txBody>
        </p:sp>
        <p:sp>
          <p:nvSpPr>
            <p:cNvPr id="36" name="TextBox 36"/>
            <p:cNvSpPr txBox="1"/>
            <p:nvPr/>
          </p:nvSpPr>
          <p:spPr>
            <a:xfrm>
              <a:off x="6623304" y="4842510"/>
              <a:ext cx="317037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npm install --omit=dev yalnızca çalışma</a:t>
              </a:r>
            </a:p>
          </p:txBody>
        </p:sp>
        <p:sp>
          <p:nvSpPr>
            <p:cNvPr id="37" name="TextBox 37"/>
            <p:cNvSpPr txBox="1"/>
            <p:nvPr/>
          </p:nvSpPr>
          <p:spPr>
            <a:xfrm>
              <a:off x="6623304" y="5052060"/>
              <a:ext cx="344740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zamanı bağımlılıklarını kurar; TypeScript</a:t>
              </a:r>
            </a:p>
          </p:txBody>
        </p:sp>
        <p:sp>
          <p:nvSpPr>
            <p:cNvPr id="38" name="TextBox 38"/>
            <p:cNvSpPr txBox="1"/>
            <p:nvPr/>
          </p:nvSpPr>
          <p:spPr>
            <a:xfrm>
              <a:off x="6623304" y="5261610"/>
              <a:ext cx="33803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derleyicisi gibi geliştirme araçları image'a</a:t>
              </a:r>
            </a:p>
          </p:txBody>
        </p:sp>
        <p:sp>
          <p:nvSpPr>
            <p:cNvPr id="39" name="TextBox 39"/>
            <p:cNvSpPr txBox="1"/>
            <p:nvPr/>
          </p:nvSpPr>
          <p:spPr>
            <a:xfrm>
              <a:off x="6623304" y="5471160"/>
              <a:ext cx="321076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hiç girmediği için saldırı yüzeyi küçülür.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104530" cy="668845"/>
            <a:chOff x="609600" y="171450"/>
            <a:chExt cx="8104530"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741415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Dockerfile yazarken dört yaygın hata</a:t>
              </a:r>
            </a:p>
          </p:txBody>
        </p:sp>
      </p:grpSp>
      <p:grpSp>
        <p:nvGrpSpPr>
          <p:cNvPr id="18" name="mistake-1"/>
          <p:cNvGrpSpPr/>
          <p:nvPr/>
        </p:nvGrpSpPr>
        <p:grpSpPr>
          <a:xfrm>
            <a:off x="609600" y="1181100"/>
            <a:ext cx="5257800" cy="1905000"/>
            <a:chOff x="609600" y="1181100"/>
            <a:chExt cx="5257800" cy="1905000"/>
          </a:xfrm>
        </p:grpSpPr>
        <p:sp>
          <p:nvSpPr>
            <p:cNvPr id="9" name="Rectangle 9"/>
            <p:cNvSpPr/>
            <p:nvPr/>
          </p:nvSpPr>
          <p:spPr>
            <a:xfrm>
              <a:off x="609600" y="1181100"/>
              <a:ext cx="5257800" cy="1905000"/>
            </a:xfrm>
            <a:prstGeom prst="roundRect">
              <a:avLst>
                <a:gd name="adj" fmla="val 4000"/>
              </a:avLst>
            </a:prstGeom>
            <a:solidFill>
              <a:srgbClr val="FFFFFF"/>
            </a:solidFill>
            <a:ln w="14288">
              <a:solidFill>
                <a:srgbClr val="B8CBD3"/>
              </a:solidFill>
            </a:ln>
          </p:spPr>
        </p:sp>
        <p:sp>
          <p:nvSpPr>
            <p:cNvPr id="10" name="Ellipse 10"/>
            <p:cNvSpPr/>
            <p:nvPr/>
          </p:nvSpPr>
          <p:spPr>
            <a:xfrm>
              <a:off x="762000" y="1333500"/>
              <a:ext cx="304800" cy="304800"/>
            </a:xfrm>
            <a:prstGeom prst="ellipse">
              <a:avLst/>
            </a:prstGeom>
            <a:solidFill>
              <a:srgbClr val="52616B"/>
            </a:solidFill>
            <a:ln>
              <a:noFill/>
            </a:ln>
          </p:spPr>
        </p:sp>
        <p:sp>
          <p:nvSpPr>
            <p:cNvPr id="11" name="TextBox 11"/>
            <p:cNvSpPr txBox="1"/>
            <p:nvPr/>
          </p:nvSpPr>
          <p:spPr>
            <a:xfrm>
              <a:off x="861658" y="14135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1</a:t>
              </a:r>
            </a:p>
          </p:txBody>
        </p:sp>
        <p:sp>
          <p:nvSpPr>
            <p:cNvPr id="12" name="TextBox 12"/>
            <p:cNvSpPr txBox="1"/>
            <p:nvPr/>
          </p:nvSpPr>
          <p:spPr>
            <a:xfrm>
              <a:off x="1173099" y="1373029"/>
              <a:ext cx="382036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Host'tan node_modules kopyalamak</a:t>
              </a:r>
            </a:p>
          </p:txBody>
        </p:sp>
        <p:sp>
          <p:nvSpPr>
            <p:cNvPr id="13" name="TextBox 13"/>
            <p:cNvSpPr txBox="1"/>
            <p:nvPr/>
          </p:nvSpPr>
          <p:spPr>
            <a:xfrm>
              <a:off x="908304" y="1699260"/>
              <a:ext cx="383983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COPY node_modules ./node_modules yerine image</a:t>
              </a:r>
            </a:p>
          </p:txBody>
        </p:sp>
        <p:sp>
          <p:nvSpPr>
            <p:cNvPr id="14" name="TextBox 14"/>
            <p:cNvSpPr txBox="1"/>
            <p:nvPr/>
          </p:nvSpPr>
          <p:spPr>
            <a:xfrm>
              <a:off x="908304" y="1908810"/>
              <a:ext cx="445465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içinde npm install çalıştırılmalı; aksi hâlde host'a özgü</a:t>
              </a:r>
            </a:p>
          </p:txBody>
        </p:sp>
        <p:sp>
          <p:nvSpPr>
            <p:cNvPr id="15" name="TextBox 15"/>
            <p:cNvSpPr txBox="1"/>
            <p:nvPr/>
          </p:nvSpPr>
          <p:spPr>
            <a:xfrm>
              <a:off x="908304" y="2118360"/>
              <a:ext cx="410439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native ikili dosyalar container Linux'unda çalışmaz.</a:t>
              </a:r>
            </a:p>
          </p:txBody>
        </p:sp>
        <p:sp>
          <p:nvSpPr>
            <p:cNvPr id="16" name="TextBox 16"/>
            <p:cNvSpPr txBox="1"/>
            <p:nvPr/>
          </p:nvSpPr>
          <p:spPr>
            <a:xfrm>
              <a:off x="908304" y="2442210"/>
              <a:ext cx="341394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Consolas"/>
                  <a:ea typeface="Consolas"/>
                  <a:cs typeface="Consolas"/>
                </a:rPr>
                <a:t>COPY package.json package-lock.json ./</a:t>
              </a:r>
            </a:p>
          </p:txBody>
        </p:sp>
        <p:sp>
          <p:nvSpPr>
            <p:cNvPr id="17" name="TextBox 17"/>
            <p:cNvSpPr txBox="1"/>
            <p:nvPr/>
          </p:nvSpPr>
          <p:spPr>
            <a:xfrm>
              <a:off x="908304" y="2651760"/>
              <a:ext cx="136233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Consolas"/>
                  <a:ea typeface="Consolas"/>
                  <a:cs typeface="Consolas"/>
                </a:rPr>
                <a:t>RUN npm install</a:t>
              </a:r>
            </a:p>
          </p:txBody>
        </p:sp>
      </p:grpSp>
      <p:grpSp>
        <p:nvGrpSpPr>
          <p:cNvPr id="28" name="mistake-2"/>
          <p:cNvGrpSpPr/>
          <p:nvPr/>
        </p:nvGrpSpPr>
        <p:grpSpPr>
          <a:xfrm>
            <a:off x="6324600" y="1181100"/>
            <a:ext cx="5257800" cy="1905000"/>
            <a:chOff x="6324600" y="1181100"/>
            <a:chExt cx="5257800" cy="1905000"/>
          </a:xfrm>
        </p:grpSpPr>
        <p:sp>
          <p:nvSpPr>
            <p:cNvPr id="19" name="Rectangle 19"/>
            <p:cNvSpPr/>
            <p:nvPr/>
          </p:nvSpPr>
          <p:spPr>
            <a:xfrm>
              <a:off x="6324600" y="1181100"/>
              <a:ext cx="5257800" cy="1905000"/>
            </a:xfrm>
            <a:prstGeom prst="roundRect">
              <a:avLst>
                <a:gd name="adj" fmla="val 4000"/>
              </a:avLst>
            </a:prstGeom>
            <a:solidFill>
              <a:srgbClr val="FFFFFF"/>
            </a:solidFill>
            <a:ln w="14288">
              <a:solidFill>
                <a:srgbClr val="B8CBD3"/>
              </a:solidFill>
            </a:ln>
          </p:spPr>
        </p:sp>
        <p:sp>
          <p:nvSpPr>
            <p:cNvPr id="20" name="Ellipse 20"/>
            <p:cNvSpPr/>
            <p:nvPr/>
          </p:nvSpPr>
          <p:spPr>
            <a:xfrm>
              <a:off x="6477000" y="1333500"/>
              <a:ext cx="304800" cy="304800"/>
            </a:xfrm>
            <a:prstGeom prst="ellipse">
              <a:avLst/>
            </a:prstGeom>
            <a:solidFill>
              <a:srgbClr val="52616B"/>
            </a:solidFill>
            <a:ln>
              <a:noFill/>
            </a:ln>
          </p:spPr>
        </p:sp>
        <p:sp>
          <p:nvSpPr>
            <p:cNvPr id="21" name="TextBox 21"/>
            <p:cNvSpPr txBox="1"/>
            <p:nvPr/>
          </p:nvSpPr>
          <p:spPr>
            <a:xfrm>
              <a:off x="6576658" y="14135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2</a:t>
              </a:r>
            </a:p>
          </p:txBody>
        </p:sp>
        <p:sp>
          <p:nvSpPr>
            <p:cNvPr id="22" name="TextBox 22"/>
            <p:cNvSpPr txBox="1"/>
            <p:nvPr/>
          </p:nvSpPr>
          <p:spPr>
            <a:xfrm>
              <a:off x="6888099" y="1373029"/>
              <a:ext cx="389359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Sırları ENV ile Dockerfile'a yazmak</a:t>
              </a:r>
            </a:p>
          </p:txBody>
        </p:sp>
        <p:sp>
          <p:nvSpPr>
            <p:cNvPr id="23" name="TextBox 23"/>
            <p:cNvSpPr txBox="1"/>
            <p:nvPr/>
          </p:nvSpPr>
          <p:spPr>
            <a:xfrm>
              <a:off x="6623304" y="1699260"/>
              <a:ext cx="38762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Veritabanı parolası gibi bilgiler ENV ile yazılırsa</a:t>
              </a:r>
            </a:p>
          </p:txBody>
        </p:sp>
        <p:sp>
          <p:nvSpPr>
            <p:cNvPr id="24" name="TextBox 24"/>
            <p:cNvSpPr txBox="1"/>
            <p:nvPr/>
          </p:nvSpPr>
          <p:spPr>
            <a:xfrm>
              <a:off x="6623304" y="1908810"/>
              <a:ext cx="36711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image katmanlarında kalıcı olarak saklanır ve</a:t>
              </a:r>
            </a:p>
          </p:txBody>
        </p:sp>
        <p:sp>
          <p:nvSpPr>
            <p:cNvPr id="25" name="TextBox 25"/>
            <p:cNvSpPr txBox="1"/>
            <p:nvPr/>
          </p:nvSpPr>
          <p:spPr>
            <a:xfrm>
              <a:off x="6623304" y="2118360"/>
              <a:ext cx="354192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image'ı çeken herkes tarafından okunabilir.</a:t>
              </a:r>
            </a:p>
          </p:txBody>
        </p:sp>
        <p:sp>
          <p:nvSpPr>
            <p:cNvPr id="26" name="TextBox 26"/>
            <p:cNvSpPr txBox="1"/>
            <p:nvPr/>
          </p:nvSpPr>
          <p:spPr>
            <a:xfrm>
              <a:off x="6623304" y="2442210"/>
              <a:ext cx="424013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Çözüm: sırlar Compose'un secrets/env dosyasından,</a:t>
              </a:r>
            </a:p>
          </p:txBody>
        </p:sp>
        <p:sp>
          <p:nvSpPr>
            <p:cNvPr id="27" name="TextBox 27"/>
            <p:cNvSpPr txBox="1"/>
            <p:nvPr/>
          </p:nvSpPr>
          <p:spPr>
            <a:xfrm>
              <a:off x="6623304" y="2651760"/>
              <a:ext cx="285536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çalışma zamanında enjekte edilmeli.</a:t>
              </a:r>
            </a:p>
          </p:txBody>
        </p:sp>
      </p:grpSp>
      <p:grpSp>
        <p:nvGrpSpPr>
          <p:cNvPr id="38" name="mistake-3"/>
          <p:cNvGrpSpPr/>
          <p:nvPr/>
        </p:nvGrpSpPr>
        <p:grpSpPr>
          <a:xfrm>
            <a:off x="609600" y="3314700"/>
            <a:ext cx="5257800" cy="1905000"/>
            <a:chOff x="609600" y="3314700"/>
            <a:chExt cx="5257800" cy="1905000"/>
          </a:xfrm>
        </p:grpSpPr>
        <p:sp>
          <p:nvSpPr>
            <p:cNvPr id="29" name="Rectangle 29"/>
            <p:cNvSpPr/>
            <p:nvPr/>
          </p:nvSpPr>
          <p:spPr>
            <a:xfrm>
              <a:off x="609600" y="3314700"/>
              <a:ext cx="5257800" cy="1905000"/>
            </a:xfrm>
            <a:prstGeom prst="roundRect">
              <a:avLst>
                <a:gd name="adj" fmla="val 4000"/>
              </a:avLst>
            </a:prstGeom>
            <a:solidFill>
              <a:srgbClr val="FFFFFF"/>
            </a:solidFill>
            <a:ln w="14288">
              <a:solidFill>
                <a:srgbClr val="B8CBD3"/>
              </a:solidFill>
            </a:ln>
          </p:spPr>
        </p:sp>
        <p:sp>
          <p:nvSpPr>
            <p:cNvPr id="30" name="Ellipse 30"/>
            <p:cNvSpPr/>
            <p:nvPr/>
          </p:nvSpPr>
          <p:spPr>
            <a:xfrm>
              <a:off x="762000" y="3467100"/>
              <a:ext cx="304800" cy="304800"/>
            </a:xfrm>
            <a:prstGeom prst="ellipse">
              <a:avLst/>
            </a:prstGeom>
            <a:solidFill>
              <a:srgbClr val="52616B"/>
            </a:solidFill>
            <a:ln>
              <a:noFill/>
            </a:ln>
          </p:spPr>
        </p:sp>
        <p:sp>
          <p:nvSpPr>
            <p:cNvPr id="31" name="TextBox 31"/>
            <p:cNvSpPr txBox="1"/>
            <p:nvPr/>
          </p:nvSpPr>
          <p:spPr>
            <a:xfrm>
              <a:off x="861658" y="35471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3</a:t>
              </a:r>
            </a:p>
          </p:txBody>
        </p:sp>
        <p:sp>
          <p:nvSpPr>
            <p:cNvPr id="32" name="TextBox 32"/>
            <p:cNvSpPr txBox="1"/>
            <p:nvPr/>
          </p:nvSpPr>
          <p:spPr>
            <a:xfrm>
              <a:off x="1173099" y="3506629"/>
              <a:ext cx="235718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Yanlış katman sırası</a:t>
              </a:r>
            </a:p>
          </p:txBody>
        </p:sp>
        <p:sp>
          <p:nvSpPr>
            <p:cNvPr id="33" name="TextBox 33"/>
            <p:cNvSpPr txBox="1"/>
            <p:nvPr/>
          </p:nvSpPr>
          <p:spPr>
            <a:xfrm>
              <a:off x="908304" y="3832860"/>
              <a:ext cx="41287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Kaynak kod, bağımlılıklardan önce kopyalanırsa her</a:t>
              </a:r>
            </a:p>
          </p:txBody>
        </p:sp>
        <p:sp>
          <p:nvSpPr>
            <p:cNvPr id="34" name="TextBox 34"/>
            <p:cNvSpPr txBox="1"/>
            <p:nvPr/>
          </p:nvSpPr>
          <p:spPr>
            <a:xfrm>
              <a:off x="908304" y="4042410"/>
              <a:ext cx="40346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kod değişikliği node_modules katmanının da yeniden</a:t>
              </a:r>
            </a:p>
          </p:txBody>
        </p:sp>
        <p:sp>
          <p:nvSpPr>
            <p:cNvPr id="35" name="TextBox 35"/>
            <p:cNvSpPr txBox="1"/>
            <p:nvPr/>
          </p:nvSpPr>
          <p:spPr>
            <a:xfrm>
              <a:off x="908304" y="4251960"/>
              <a:ext cx="388924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indirilmesini tetikler; build süresi gereksiz uzar.</a:t>
              </a:r>
            </a:p>
          </p:txBody>
        </p:sp>
        <p:sp>
          <p:nvSpPr>
            <p:cNvPr id="36" name="TextBox 36"/>
            <p:cNvSpPr txBox="1"/>
            <p:nvPr/>
          </p:nvSpPr>
          <p:spPr>
            <a:xfrm>
              <a:off x="908304" y="4575810"/>
              <a:ext cx="415342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Kural: az değişeni (package.json) önce, sık değişeni</a:t>
              </a:r>
            </a:p>
          </p:txBody>
        </p:sp>
        <p:sp>
          <p:nvSpPr>
            <p:cNvPr id="37" name="TextBox 37"/>
            <p:cNvSpPr txBox="1"/>
            <p:nvPr/>
          </p:nvSpPr>
          <p:spPr>
            <a:xfrm>
              <a:off x="908304" y="4785360"/>
              <a:ext cx="216072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(kaynak kod) sona kopyala.</a:t>
              </a:r>
            </a:p>
          </p:txBody>
        </p:sp>
      </p:grpSp>
      <p:grpSp>
        <p:nvGrpSpPr>
          <p:cNvPr id="48" name="mistake-4"/>
          <p:cNvGrpSpPr/>
          <p:nvPr/>
        </p:nvGrpSpPr>
        <p:grpSpPr>
          <a:xfrm>
            <a:off x="6324600" y="3314700"/>
            <a:ext cx="5257800" cy="1905000"/>
            <a:chOff x="6324600" y="3314700"/>
            <a:chExt cx="5257800" cy="1905000"/>
          </a:xfrm>
        </p:grpSpPr>
        <p:sp>
          <p:nvSpPr>
            <p:cNvPr id="39" name="Rectangle 39"/>
            <p:cNvSpPr/>
            <p:nvPr/>
          </p:nvSpPr>
          <p:spPr>
            <a:xfrm>
              <a:off x="6324600" y="3314700"/>
              <a:ext cx="5257800" cy="1905000"/>
            </a:xfrm>
            <a:prstGeom prst="roundRect">
              <a:avLst>
                <a:gd name="adj" fmla="val 4000"/>
              </a:avLst>
            </a:prstGeom>
            <a:solidFill>
              <a:srgbClr val="FFFFFF"/>
            </a:solidFill>
            <a:ln w="14288">
              <a:solidFill>
                <a:srgbClr val="B8CBD3"/>
              </a:solidFill>
            </a:ln>
          </p:spPr>
        </p:sp>
        <p:sp>
          <p:nvSpPr>
            <p:cNvPr id="40" name="Ellipse 40"/>
            <p:cNvSpPr/>
            <p:nvPr/>
          </p:nvSpPr>
          <p:spPr>
            <a:xfrm>
              <a:off x="6477000" y="3467100"/>
              <a:ext cx="304800" cy="304800"/>
            </a:xfrm>
            <a:prstGeom prst="ellipse">
              <a:avLst/>
            </a:prstGeom>
            <a:solidFill>
              <a:srgbClr val="52616B"/>
            </a:solidFill>
            <a:ln>
              <a:noFill/>
            </a:ln>
          </p:spPr>
        </p:sp>
        <p:sp>
          <p:nvSpPr>
            <p:cNvPr id="41" name="TextBox 41"/>
            <p:cNvSpPr txBox="1"/>
            <p:nvPr/>
          </p:nvSpPr>
          <p:spPr>
            <a:xfrm>
              <a:off x="6576658" y="3547110"/>
              <a:ext cx="10548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4</a:t>
              </a:r>
            </a:p>
          </p:txBody>
        </p:sp>
        <p:sp>
          <p:nvSpPr>
            <p:cNvPr id="42" name="TextBox 42"/>
            <p:cNvSpPr txBox="1"/>
            <p:nvPr/>
          </p:nvSpPr>
          <p:spPr>
            <a:xfrm>
              <a:off x="6888099" y="3506629"/>
              <a:ext cx="328785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root kullanıcıyla çalıştırmak</a:t>
              </a:r>
            </a:p>
          </p:txBody>
        </p:sp>
        <p:sp>
          <p:nvSpPr>
            <p:cNvPr id="43" name="TextBox 43"/>
            <p:cNvSpPr txBox="1"/>
            <p:nvPr/>
          </p:nvSpPr>
          <p:spPr>
            <a:xfrm>
              <a:off x="6623304" y="3832860"/>
              <a:ext cx="402363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Container varsayılan olarak root ile çalışırsa, bir</a:t>
              </a:r>
            </a:p>
          </p:txBody>
        </p:sp>
        <p:sp>
          <p:nvSpPr>
            <p:cNvPr id="44" name="TextBox 44"/>
            <p:cNvSpPr txBox="1"/>
            <p:nvPr/>
          </p:nvSpPr>
          <p:spPr>
            <a:xfrm>
              <a:off x="6623304" y="4042410"/>
              <a:ext cx="432541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güvenlik açığı istismar edildiğinde saldırgan container</a:t>
              </a:r>
            </a:p>
          </p:txBody>
        </p:sp>
        <p:sp>
          <p:nvSpPr>
            <p:cNvPr id="45" name="TextBox 45"/>
            <p:cNvSpPr txBox="1"/>
            <p:nvPr/>
          </p:nvSpPr>
          <p:spPr>
            <a:xfrm>
              <a:off x="6623304" y="4251960"/>
              <a:ext cx="254035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içinde root yetkisine sahip olur.</a:t>
              </a:r>
            </a:p>
          </p:txBody>
        </p:sp>
        <p:sp>
          <p:nvSpPr>
            <p:cNvPr id="46" name="TextBox 46"/>
            <p:cNvSpPr txBox="1"/>
            <p:nvPr/>
          </p:nvSpPr>
          <p:spPr>
            <a:xfrm>
              <a:off x="6623304" y="4575810"/>
              <a:ext cx="83446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Consolas"/>
                  <a:ea typeface="Consolas"/>
                  <a:cs typeface="Consolas"/>
                </a:rPr>
                <a:t>USER node</a:t>
              </a:r>
            </a:p>
          </p:txBody>
        </p:sp>
        <p:sp>
          <p:nvSpPr>
            <p:cNvPr id="47" name="TextBox 47"/>
            <p:cNvSpPr txBox="1"/>
            <p:nvPr/>
          </p:nvSpPr>
          <p:spPr>
            <a:xfrm>
              <a:off x="6623304" y="4785360"/>
              <a:ext cx="329961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ile ayrıcalıksız bir kullanıcıya geçilmeli.</a:t>
              </a:r>
            </a:p>
          </p:txBody>
        </p:sp>
      </p:grpSp>
      <p:sp>
        <p:nvSpPr>
          <p:cNvPr id="49" name="TextBox 4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7661878" cy="668845"/>
            <a:chOff x="609600" y="171450"/>
            <a:chExt cx="7661878"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697150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Image ile container: sınıf ve örnek</a:t>
              </a:r>
            </a:p>
          </p:txBody>
        </p:sp>
      </p:grpSp>
      <p:grpSp>
        <p:nvGrpSpPr>
          <p:cNvPr id="14" name="analogy-block"/>
          <p:cNvGrpSpPr/>
          <p:nvPr/>
        </p:nvGrpSpPr>
        <p:grpSpPr>
          <a:xfrm>
            <a:off x="609600" y="1181100"/>
            <a:ext cx="10972800" cy="867156"/>
            <a:chOff x="609600" y="1181100"/>
            <a:chExt cx="10972800" cy="867156"/>
          </a:xfrm>
        </p:grpSpPr>
        <p:sp>
          <p:nvSpPr>
            <p:cNvPr id="9" name="Rectangle 9"/>
            <p:cNvSpPr/>
            <p:nvPr/>
          </p:nvSpPr>
          <p:spPr>
            <a:xfrm>
              <a:off x="609600" y="1181100"/>
              <a:ext cx="10972800" cy="857250"/>
            </a:xfrm>
            <a:prstGeom prst="roundRect">
              <a:avLst>
                <a:gd name="adj" fmla="val 8889"/>
              </a:avLst>
            </a:prstGeom>
            <a:solidFill>
              <a:srgbClr val="EAF4F6"/>
            </a:solidFill>
            <a:ln>
              <a:noFill/>
            </a:ln>
          </p:spPr>
        </p:sp>
        <p:sp>
          <p:nvSpPr>
            <p:cNvPr id="10" name="Rectangle 10"/>
            <p:cNvSpPr/>
            <p:nvPr/>
          </p:nvSpPr>
          <p:spPr>
            <a:xfrm>
              <a:off x="609600" y="1181100"/>
              <a:ext cx="57150" cy="857250"/>
            </a:xfrm>
            <a:prstGeom prst="rect">
              <a:avLst/>
            </a:prstGeom>
            <a:solidFill>
              <a:srgbClr val="00A6A6"/>
            </a:solidFill>
            <a:ln>
              <a:noFill/>
            </a:ln>
          </p:spPr>
        </p:sp>
        <p:sp>
          <p:nvSpPr>
            <p:cNvPr id="11" name="TextBox 11"/>
            <p:cNvSpPr txBox="1"/>
            <p:nvPr/>
          </p:nvSpPr>
          <p:spPr>
            <a:xfrm>
              <a:off x="906399" y="1315879"/>
              <a:ext cx="238973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Nesne yönelimli analoji</a:t>
              </a:r>
            </a:p>
          </p:txBody>
        </p:sp>
        <p:sp>
          <p:nvSpPr>
            <p:cNvPr id="12" name="TextBox 12"/>
            <p:cNvSpPr txBox="1"/>
            <p:nvPr/>
          </p:nvSpPr>
          <p:spPr>
            <a:xfrm>
              <a:off x="906399" y="1563529"/>
              <a:ext cx="911615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Image, bir sınıf (class) tanımı gibidir; container ise o sınıftan üretilmiş, çalışan bir</a:t>
              </a:r>
            </a:p>
          </p:txBody>
        </p:sp>
        <p:sp>
          <p:nvSpPr>
            <p:cNvPr id="13" name="TextBox 13"/>
            <p:cNvSpPr txBox="1"/>
            <p:nvPr/>
          </p:nvSpPr>
          <p:spPr>
            <a:xfrm>
              <a:off x="908304" y="1813560"/>
              <a:ext cx="683463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örnektir (instance). Aynı image'dan istenildiği kadar bağımsız container üretilebilir.</a:t>
              </a:r>
            </a:p>
          </p:txBody>
        </p:sp>
      </p:grpSp>
      <p:grpSp>
        <p:nvGrpSpPr>
          <p:cNvPr id="27" name="instances-diagram"/>
          <p:cNvGrpSpPr/>
          <p:nvPr/>
        </p:nvGrpSpPr>
        <p:grpSpPr>
          <a:xfrm>
            <a:off x="609600" y="2286000"/>
            <a:ext cx="5676900" cy="1847850"/>
            <a:chOff x="609600" y="2286000"/>
            <a:chExt cx="5676900" cy="1847850"/>
          </a:xfrm>
        </p:grpSpPr>
        <p:sp>
          <p:nvSpPr>
            <p:cNvPr id="15" name="Rectangle 15"/>
            <p:cNvSpPr/>
            <p:nvPr/>
          </p:nvSpPr>
          <p:spPr>
            <a:xfrm>
              <a:off x="609600" y="2590800"/>
              <a:ext cx="1714500" cy="1238250"/>
            </a:xfrm>
            <a:prstGeom prst="roundRect">
              <a:avLst>
                <a:gd name="adj" fmla="val 6154"/>
              </a:avLst>
            </a:prstGeom>
            <a:solidFill>
              <a:srgbClr val="12355B"/>
            </a:solidFill>
            <a:ln>
              <a:noFill/>
            </a:ln>
          </p:spPr>
        </p:sp>
        <p:sp>
          <p:nvSpPr>
            <p:cNvPr id="16" name="TextBox 16"/>
            <p:cNvSpPr txBox="1"/>
            <p:nvPr/>
          </p:nvSpPr>
          <p:spPr>
            <a:xfrm>
              <a:off x="1199463" y="2997518"/>
              <a:ext cx="534773"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Image</a:t>
              </a:r>
            </a:p>
          </p:txBody>
        </p:sp>
        <p:sp>
          <p:nvSpPr>
            <p:cNvPr id="17" name="TextBox 17"/>
            <p:cNvSpPr txBox="1"/>
            <p:nvPr/>
          </p:nvSpPr>
          <p:spPr>
            <a:xfrm>
              <a:off x="725729" y="3261360"/>
              <a:ext cx="1482242"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kutuphane-api:1.0</a:t>
              </a:r>
            </a:p>
          </p:txBody>
        </p:sp>
        <p:sp>
          <p:nvSpPr>
            <p:cNvPr id="18" name="Line 18"/>
            <p:cNvSpPr/>
            <p:nvPr/>
          </p:nvSpPr>
          <p:spPr>
            <a:xfrm flipV="1">
              <a:off x="2324100" y="2590800"/>
              <a:ext cx="1295400" cy="266700"/>
            </a:xfrm>
            <a:prstGeom prst="line">
              <a:avLst/>
            </a:prstGeom>
            <a:noFill/>
            <a:ln w="19050">
              <a:solidFill>
                <a:srgbClr val="00A6A6"/>
              </a:solidFill>
              <a:tailEnd type="arrow" w="lg" len="lg"/>
            </a:ln>
          </p:spPr>
        </p:sp>
        <p:sp>
          <p:nvSpPr>
            <p:cNvPr id="19" name="Line 19"/>
            <p:cNvSpPr/>
            <p:nvPr/>
          </p:nvSpPr>
          <p:spPr>
            <a:xfrm>
              <a:off x="2324100" y="3209925"/>
              <a:ext cx="1295400" cy="1"/>
            </a:xfrm>
            <a:prstGeom prst="line">
              <a:avLst/>
            </a:prstGeom>
            <a:noFill/>
            <a:ln w="19050">
              <a:solidFill>
                <a:srgbClr val="00A6A6"/>
              </a:solidFill>
              <a:tailEnd type="arrow" w="lg" len="lg"/>
            </a:ln>
          </p:spPr>
        </p:sp>
        <p:sp>
          <p:nvSpPr>
            <p:cNvPr id="20" name="Line 20"/>
            <p:cNvSpPr/>
            <p:nvPr/>
          </p:nvSpPr>
          <p:spPr>
            <a:xfrm>
              <a:off x="2324100" y="3562350"/>
              <a:ext cx="1295400" cy="266700"/>
            </a:xfrm>
            <a:prstGeom prst="line">
              <a:avLst/>
            </a:prstGeom>
            <a:noFill/>
            <a:ln w="19050">
              <a:solidFill>
                <a:srgbClr val="00A6A6"/>
              </a:solidFill>
              <a:tailEnd type="arrow" w="lg" len="lg"/>
            </a:ln>
          </p:spPr>
        </p:sp>
        <p:sp>
          <p:nvSpPr>
            <p:cNvPr id="21" name="Rectangle 21"/>
            <p:cNvSpPr/>
            <p:nvPr/>
          </p:nvSpPr>
          <p:spPr>
            <a:xfrm>
              <a:off x="3695700" y="2286000"/>
              <a:ext cx="2590800" cy="609600"/>
            </a:xfrm>
            <a:prstGeom prst="roundRect">
              <a:avLst>
                <a:gd name="adj" fmla="val 12500"/>
              </a:avLst>
            </a:prstGeom>
            <a:solidFill>
              <a:srgbClr val="FFFFFF"/>
            </a:solidFill>
            <a:ln w="14288">
              <a:solidFill>
                <a:srgbClr val="2E86AB"/>
              </a:solidFill>
            </a:ln>
          </p:spPr>
        </p:sp>
        <p:sp>
          <p:nvSpPr>
            <p:cNvPr id="22" name="TextBox 22"/>
            <p:cNvSpPr txBox="1"/>
            <p:nvPr/>
          </p:nvSpPr>
          <p:spPr>
            <a:xfrm>
              <a:off x="4014254" y="2518410"/>
              <a:ext cx="1953692"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container A · port 3000</a:t>
              </a:r>
            </a:p>
          </p:txBody>
        </p:sp>
        <p:sp>
          <p:nvSpPr>
            <p:cNvPr id="23" name="Rectangle 23"/>
            <p:cNvSpPr/>
            <p:nvPr/>
          </p:nvSpPr>
          <p:spPr>
            <a:xfrm>
              <a:off x="3695700" y="2905125"/>
              <a:ext cx="2590800" cy="609600"/>
            </a:xfrm>
            <a:prstGeom prst="roundRect">
              <a:avLst>
                <a:gd name="adj" fmla="val 12500"/>
              </a:avLst>
            </a:prstGeom>
            <a:solidFill>
              <a:srgbClr val="FFFFFF"/>
            </a:solidFill>
            <a:ln w="14288">
              <a:solidFill>
                <a:srgbClr val="2E86AB"/>
              </a:solidFill>
            </a:ln>
          </p:spPr>
        </p:sp>
        <p:sp>
          <p:nvSpPr>
            <p:cNvPr id="24" name="TextBox 24"/>
            <p:cNvSpPr txBox="1"/>
            <p:nvPr/>
          </p:nvSpPr>
          <p:spPr>
            <a:xfrm>
              <a:off x="4014254" y="3137535"/>
              <a:ext cx="1953692"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container B · port 3001</a:t>
              </a:r>
            </a:p>
          </p:txBody>
        </p:sp>
        <p:sp>
          <p:nvSpPr>
            <p:cNvPr id="25" name="Rectangle 25"/>
            <p:cNvSpPr/>
            <p:nvPr/>
          </p:nvSpPr>
          <p:spPr>
            <a:xfrm>
              <a:off x="3695700" y="3524250"/>
              <a:ext cx="2590800" cy="609600"/>
            </a:xfrm>
            <a:prstGeom prst="roundRect">
              <a:avLst>
                <a:gd name="adj" fmla="val 12500"/>
              </a:avLst>
            </a:prstGeom>
            <a:solidFill>
              <a:srgbClr val="FFFFFF"/>
            </a:solidFill>
            <a:ln w="14288">
              <a:solidFill>
                <a:srgbClr val="2E86AB"/>
              </a:solidFill>
            </a:ln>
          </p:spPr>
        </p:sp>
        <p:sp>
          <p:nvSpPr>
            <p:cNvPr id="26" name="TextBox 26"/>
            <p:cNvSpPr txBox="1"/>
            <p:nvPr/>
          </p:nvSpPr>
          <p:spPr>
            <a:xfrm>
              <a:off x="4014254" y="3756660"/>
              <a:ext cx="1953692"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container C · port 3002</a:t>
              </a:r>
            </a:p>
          </p:txBody>
        </p:sp>
      </p:grpSp>
      <p:grpSp>
        <p:nvGrpSpPr>
          <p:cNvPr id="40" name="state-diagram"/>
          <p:cNvGrpSpPr/>
          <p:nvPr/>
        </p:nvGrpSpPr>
        <p:grpSpPr>
          <a:xfrm>
            <a:off x="7010400" y="2286000"/>
            <a:ext cx="4572000" cy="1905000"/>
            <a:chOff x="7010400" y="2286000"/>
            <a:chExt cx="4572000" cy="1905000"/>
          </a:xfrm>
        </p:grpSpPr>
        <p:sp>
          <p:nvSpPr>
            <p:cNvPr id="28" name="Rectangle 28"/>
            <p:cNvSpPr/>
            <p:nvPr/>
          </p:nvSpPr>
          <p:spPr>
            <a:xfrm>
              <a:off x="7010400" y="2286000"/>
              <a:ext cx="4572000" cy="1905000"/>
            </a:xfrm>
            <a:prstGeom prst="roundRect">
              <a:avLst>
                <a:gd name="adj" fmla="val 4000"/>
              </a:avLst>
            </a:prstGeom>
            <a:solidFill>
              <a:srgbClr val="FFFFFF"/>
            </a:solidFill>
            <a:ln w="14288">
              <a:solidFill>
                <a:srgbClr val="B8CBD3"/>
              </a:solidFill>
            </a:ln>
          </p:spPr>
        </p:sp>
        <p:sp>
          <p:nvSpPr>
            <p:cNvPr id="29" name="TextBox 29"/>
            <p:cNvSpPr txBox="1"/>
            <p:nvPr/>
          </p:nvSpPr>
          <p:spPr>
            <a:xfrm>
              <a:off x="7230999" y="2401729"/>
              <a:ext cx="296007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Container yaşam durumları</a:t>
              </a:r>
            </a:p>
          </p:txBody>
        </p:sp>
        <p:sp>
          <p:nvSpPr>
            <p:cNvPr id="30" name="Rectangle 30"/>
            <p:cNvSpPr/>
            <p:nvPr/>
          </p:nvSpPr>
          <p:spPr>
            <a:xfrm>
              <a:off x="7239000" y="2724150"/>
              <a:ext cx="1238250" cy="381000"/>
            </a:xfrm>
            <a:prstGeom prst="roundRect">
              <a:avLst>
                <a:gd name="adj" fmla="val 15000"/>
              </a:avLst>
            </a:prstGeom>
            <a:solidFill>
              <a:srgbClr val="00A6A6"/>
            </a:solidFill>
            <a:ln>
              <a:noFill/>
            </a:ln>
          </p:spPr>
        </p:sp>
        <p:sp>
          <p:nvSpPr>
            <p:cNvPr id="31" name="TextBox 31"/>
            <p:cNvSpPr txBox="1"/>
            <p:nvPr/>
          </p:nvSpPr>
          <p:spPr>
            <a:xfrm>
              <a:off x="7546711" y="2832735"/>
              <a:ext cx="622828"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running</a:t>
              </a:r>
            </a:p>
          </p:txBody>
        </p:sp>
        <p:sp>
          <p:nvSpPr>
            <p:cNvPr id="32" name="Line 32"/>
            <p:cNvSpPr/>
            <p:nvPr/>
          </p:nvSpPr>
          <p:spPr>
            <a:xfrm>
              <a:off x="8477250" y="2914650"/>
              <a:ext cx="438150" cy="1"/>
            </a:xfrm>
            <a:prstGeom prst="line">
              <a:avLst/>
            </a:prstGeom>
            <a:noFill/>
            <a:ln w="19050">
              <a:solidFill>
                <a:srgbClr val="52616B"/>
              </a:solidFill>
              <a:tailEnd type="arrow" w="lg" len="lg"/>
            </a:ln>
          </p:spPr>
        </p:sp>
        <p:sp>
          <p:nvSpPr>
            <p:cNvPr id="33" name="TextBox 33"/>
            <p:cNvSpPr txBox="1"/>
            <p:nvPr/>
          </p:nvSpPr>
          <p:spPr>
            <a:xfrm>
              <a:off x="8566404" y="2708910"/>
              <a:ext cx="36758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stop</a:t>
              </a:r>
            </a:p>
          </p:txBody>
        </p:sp>
        <p:sp>
          <p:nvSpPr>
            <p:cNvPr id="34" name="Rectangle 34"/>
            <p:cNvSpPr/>
            <p:nvPr/>
          </p:nvSpPr>
          <p:spPr>
            <a:xfrm>
              <a:off x="8991600" y="2724150"/>
              <a:ext cx="1238250" cy="381000"/>
            </a:xfrm>
            <a:prstGeom prst="roundRect">
              <a:avLst>
                <a:gd name="adj" fmla="val 15000"/>
              </a:avLst>
            </a:prstGeom>
            <a:solidFill>
              <a:srgbClr val="52616B"/>
            </a:solidFill>
            <a:ln>
              <a:noFill/>
            </a:ln>
          </p:spPr>
        </p:sp>
        <p:sp>
          <p:nvSpPr>
            <p:cNvPr id="35" name="TextBox 35"/>
            <p:cNvSpPr txBox="1"/>
            <p:nvPr/>
          </p:nvSpPr>
          <p:spPr>
            <a:xfrm>
              <a:off x="9278108" y="2832735"/>
              <a:ext cx="665234"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stopped</a:t>
              </a:r>
            </a:p>
          </p:txBody>
        </p:sp>
        <p:sp>
          <p:nvSpPr>
            <p:cNvPr id="36" name="Line 36"/>
            <p:cNvSpPr/>
            <p:nvPr/>
          </p:nvSpPr>
          <p:spPr>
            <a:xfrm flipH="1">
              <a:off x="7858125" y="3105150"/>
              <a:ext cx="1752600" cy="514350"/>
            </a:xfrm>
            <a:prstGeom prst="line">
              <a:avLst/>
            </a:prstGeom>
            <a:noFill/>
            <a:ln w="19050">
              <a:solidFill>
                <a:srgbClr val="52616B"/>
              </a:solidFill>
              <a:tailEnd type="arrow" w="lg" len="lg"/>
            </a:ln>
          </p:spPr>
        </p:sp>
        <p:sp>
          <p:nvSpPr>
            <p:cNvPr id="37" name="TextBox 37"/>
            <p:cNvSpPr txBox="1"/>
            <p:nvPr/>
          </p:nvSpPr>
          <p:spPr>
            <a:xfrm>
              <a:off x="8756904" y="3375660"/>
              <a:ext cx="22219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rm</a:t>
              </a:r>
            </a:p>
          </p:txBody>
        </p:sp>
        <p:sp>
          <p:nvSpPr>
            <p:cNvPr id="38" name="Rectangle 38"/>
            <p:cNvSpPr/>
            <p:nvPr/>
          </p:nvSpPr>
          <p:spPr>
            <a:xfrm>
              <a:off x="7239000" y="3619500"/>
              <a:ext cx="1238250" cy="381000"/>
            </a:xfrm>
            <a:prstGeom prst="roundRect">
              <a:avLst>
                <a:gd name="adj" fmla="val 15000"/>
              </a:avLst>
            </a:prstGeom>
            <a:solidFill>
              <a:srgbClr val="2E86AB"/>
            </a:solidFill>
            <a:ln>
              <a:noFill/>
            </a:ln>
          </p:spPr>
        </p:sp>
        <p:sp>
          <p:nvSpPr>
            <p:cNvPr id="39" name="TextBox 39"/>
            <p:cNvSpPr txBox="1"/>
            <p:nvPr/>
          </p:nvSpPr>
          <p:spPr>
            <a:xfrm>
              <a:off x="7427976" y="3728085"/>
              <a:ext cx="860298"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kaldırıldı</a:t>
              </a:r>
            </a:p>
          </p:txBody>
        </p:sp>
      </p:grpSp>
      <p:grpSp>
        <p:nvGrpSpPr>
          <p:cNvPr id="46" name="closing-note"/>
          <p:cNvGrpSpPr/>
          <p:nvPr/>
        </p:nvGrpSpPr>
        <p:grpSpPr>
          <a:xfrm>
            <a:off x="609600" y="4533900"/>
            <a:ext cx="10972800" cy="914400"/>
            <a:chOff x="609600" y="4533900"/>
            <a:chExt cx="10972800" cy="914400"/>
          </a:xfrm>
        </p:grpSpPr>
        <p:sp>
          <p:nvSpPr>
            <p:cNvPr id="41" name="Rectangle 41"/>
            <p:cNvSpPr/>
            <p:nvPr/>
          </p:nvSpPr>
          <p:spPr>
            <a:xfrm>
              <a:off x="609600" y="4533900"/>
              <a:ext cx="10972800" cy="914400"/>
            </a:xfrm>
            <a:prstGeom prst="roundRect">
              <a:avLst>
                <a:gd name="adj" fmla="val 8333"/>
              </a:avLst>
            </a:prstGeom>
            <a:solidFill>
              <a:srgbClr val="EAF4F6"/>
            </a:solidFill>
            <a:ln>
              <a:noFill/>
            </a:ln>
          </p:spPr>
        </p:sp>
        <p:sp>
          <p:nvSpPr>
            <p:cNvPr id="42" name="Rectangle 42"/>
            <p:cNvSpPr/>
            <p:nvPr/>
          </p:nvSpPr>
          <p:spPr>
            <a:xfrm>
              <a:off x="609600" y="4533900"/>
              <a:ext cx="57150" cy="914400"/>
            </a:xfrm>
            <a:prstGeom prst="rect">
              <a:avLst/>
            </a:prstGeom>
            <a:solidFill>
              <a:srgbClr val="00A6A6"/>
            </a:solidFill>
            <a:ln>
              <a:noFill/>
            </a:ln>
          </p:spPr>
        </p:sp>
        <p:sp>
          <p:nvSpPr>
            <p:cNvPr id="43" name="TextBox 43"/>
            <p:cNvSpPr txBox="1"/>
            <p:nvPr/>
          </p:nvSpPr>
          <p:spPr>
            <a:xfrm>
              <a:off x="906399" y="4668679"/>
              <a:ext cx="199909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Yazılabilir katman</a:t>
              </a:r>
            </a:p>
          </p:txBody>
        </p:sp>
        <p:sp>
          <p:nvSpPr>
            <p:cNvPr id="44" name="TextBox 44"/>
            <p:cNvSpPr txBox="1"/>
            <p:nvPr/>
          </p:nvSpPr>
          <p:spPr>
            <a:xfrm>
              <a:off x="906399" y="4935379"/>
              <a:ext cx="858398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Her container, image'ın salt okunur katmanlarının üzerine kendi geçici yazılabilir</a:t>
              </a:r>
            </a:p>
          </p:txBody>
        </p:sp>
        <p:sp>
          <p:nvSpPr>
            <p:cNvPr id="45" name="TextBox 45"/>
            <p:cNvSpPr txBox="1"/>
            <p:nvPr/>
          </p:nvSpPr>
          <p:spPr>
            <a:xfrm>
              <a:off x="908304" y="5166360"/>
              <a:ext cx="948674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katmanını ekler; container kaldırıldığında bu katman da birlikte silinir — bu yüzden veri kalıcılığı için volume gerekir.</a:t>
              </a:r>
            </a:p>
          </p:txBody>
        </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343760" cy="668845"/>
            <a:chOff x="609600" y="171450"/>
            <a:chExt cx="8343760"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765338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14.4: Aynı imajdan çoklu container</a:t>
              </a:r>
            </a:p>
          </p:txBody>
        </p:sp>
      </p:grpSp>
      <p:grpSp>
        <p:nvGrpSpPr>
          <p:cNvPr id="18" name="code-block"/>
          <p:cNvGrpSpPr/>
          <p:nvPr/>
        </p:nvGrpSpPr>
        <p:grpSpPr>
          <a:xfrm>
            <a:off x="609600" y="1181100"/>
            <a:ext cx="10972800" cy="2247900"/>
            <a:chOff x="609600" y="1181100"/>
            <a:chExt cx="10972800" cy="2247900"/>
          </a:xfrm>
        </p:grpSpPr>
        <p:sp>
          <p:nvSpPr>
            <p:cNvPr id="9" name="Rectangle 9"/>
            <p:cNvSpPr/>
            <p:nvPr/>
          </p:nvSpPr>
          <p:spPr>
            <a:xfrm>
              <a:off x="609600" y="1181100"/>
              <a:ext cx="10972800" cy="2247900"/>
            </a:xfrm>
            <a:prstGeom prst="roundRect">
              <a:avLst>
                <a:gd name="adj" fmla="val 3390"/>
              </a:avLst>
            </a:prstGeom>
            <a:solidFill>
              <a:srgbClr val="12355B"/>
            </a:solidFill>
            <a:ln>
              <a:noFill/>
            </a:ln>
          </p:spPr>
        </p:sp>
        <p:sp>
          <p:nvSpPr>
            <p:cNvPr id="10" name="TextBox 10"/>
            <p:cNvSpPr txBox="1"/>
            <p:nvPr/>
          </p:nvSpPr>
          <p:spPr>
            <a:xfrm>
              <a:off x="832104" y="1318260"/>
              <a:ext cx="564731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 Aynı image'dan iki farklı container, iki farklı port ile çalıştırılıyor</a:t>
              </a:r>
            </a:p>
          </p:txBody>
        </p:sp>
        <p:sp>
          <p:nvSpPr>
            <p:cNvPr id="11" name="TextBox 11"/>
            <p:cNvSpPr txBox="1"/>
            <p:nvPr/>
          </p:nvSpPr>
          <p:spPr>
            <a:xfrm>
              <a:off x="832104" y="1546860"/>
              <a:ext cx="5965088"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docker run -d --name kutuphane-api-1 -p 3000:3000 kutuphane-api:1.0</a:t>
              </a:r>
            </a:p>
          </p:txBody>
        </p:sp>
        <p:sp>
          <p:nvSpPr>
            <p:cNvPr id="12" name="TextBox 12"/>
            <p:cNvSpPr txBox="1"/>
            <p:nvPr/>
          </p:nvSpPr>
          <p:spPr>
            <a:xfrm>
              <a:off x="832104" y="1756410"/>
              <a:ext cx="5965088"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docker run -d --name kutuphane-api-2 -p 3001:3000 kutuphane-api:1.0</a:t>
              </a:r>
            </a:p>
          </p:txBody>
        </p:sp>
        <p:sp>
          <p:nvSpPr>
            <p:cNvPr id="13" name="TextBox 13"/>
            <p:cNvSpPr txBox="1"/>
            <p:nvPr/>
          </p:nvSpPr>
          <p:spPr>
            <a:xfrm>
              <a:off x="832104" y="2080260"/>
              <a:ext cx="2677668"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docker logs -f kutuphane-api-1</a:t>
              </a:r>
            </a:p>
          </p:txBody>
        </p:sp>
        <p:sp>
          <p:nvSpPr>
            <p:cNvPr id="14" name="TextBox 14"/>
            <p:cNvSpPr txBox="1"/>
            <p:nvPr/>
          </p:nvSpPr>
          <p:spPr>
            <a:xfrm>
              <a:off x="832104" y="2289810"/>
              <a:ext cx="376001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 -d: arka planda çalıştır · -f: canlı log takibi</a:t>
              </a:r>
            </a:p>
          </p:txBody>
        </p:sp>
        <p:sp>
          <p:nvSpPr>
            <p:cNvPr id="15" name="TextBox 15"/>
            <p:cNvSpPr txBox="1"/>
            <p:nvPr/>
          </p:nvSpPr>
          <p:spPr>
            <a:xfrm>
              <a:off x="832104" y="2613660"/>
              <a:ext cx="4987747"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docker stop kutuphane-api-1 &amp;&amp; docker rm kutuphane-api-1</a:t>
              </a:r>
            </a:p>
          </p:txBody>
        </p:sp>
        <p:sp>
          <p:nvSpPr>
            <p:cNvPr id="16" name="TextBox 16"/>
            <p:cNvSpPr txBox="1"/>
            <p:nvPr/>
          </p:nvSpPr>
          <p:spPr>
            <a:xfrm>
              <a:off x="832104" y="2823210"/>
              <a:ext cx="2499970"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docker rmi kutuphane-api:1.0</a:t>
              </a:r>
            </a:p>
          </p:txBody>
        </p:sp>
        <p:sp>
          <p:nvSpPr>
            <p:cNvPr id="17" name="TextBox 17"/>
            <p:cNvSpPr txBox="1"/>
            <p:nvPr/>
          </p:nvSpPr>
          <p:spPr>
            <a:xfrm>
              <a:off x="832104" y="3051810"/>
              <a:ext cx="456773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 rmi: tüm container'lar kaldırıldıktan sonra image'ı sil</a:t>
              </a:r>
            </a:p>
          </p:txBody>
        </p:sp>
      </p:grpSp>
      <p:grpSp>
        <p:nvGrpSpPr>
          <p:cNvPr id="26" name="mistake-name"/>
          <p:cNvGrpSpPr/>
          <p:nvPr/>
        </p:nvGrpSpPr>
        <p:grpSpPr>
          <a:xfrm>
            <a:off x="609600" y="3619500"/>
            <a:ext cx="5257800" cy="1676400"/>
            <a:chOff x="609600" y="3619500"/>
            <a:chExt cx="5257800" cy="1676400"/>
          </a:xfrm>
        </p:grpSpPr>
        <p:sp>
          <p:nvSpPr>
            <p:cNvPr id="19" name="Rectangle 19"/>
            <p:cNvSpPr/>
            <p:nvPr/>
          </p:nvSpPr>
          <p:spPr>
            <a:xfrm>
              <a:off x="609600" y="3619500"/>
              <a:ext cx="5257800" cy="1676400"/>
            </a:xfrm>
            <a:prstGeom prst="roundRect">
              <a:avLst>
                <a:gd name="adj" fmla="val 4545"/>
              </a:avLst>
            </a:prstGeom>
            <a:solidFill>
              <a:srgbClr val="FFFFFF"/>
            </a:solidFill>
            <a:ln w="14288">
              <a:solidFill>
                <a:srgbClr val="B8CBD3"/>
              </a:solidFill>
            </a:ln>
          </p:spPr>
        </p:sp>
        <p:sp>
          <p:nvSpPr>
            <p:cNvPr id="20" name="TextBox 20"/>
            <p:cNvSpPr txBox="1"/>
            <p:nvPr/>
          </p:nvSpPr>
          <p:spPr>
            <a:xfrm>
              <a:off x="830199" y="3754279"/>
              <a:ext cx="494872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 aynı --name'i tekrar kullanmak</a:t>
              </a:r>
            </a:p>
          </p:txBody>
        </p:sp>
        <p:sp>
          <p:nvSpPr>
            <p:cNvPr id="21" name="TextBox 21"/>
            <p:cNvSpPr txBox="1"/>
            <p:nvPr/>
          </p:nvSpPr>
          <p:spPr>
            <a:xfrm>
              <a:off x="832104" y="4061460"/>
              <a:ext cx="314012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Consolas"/>
                  <a:ea typeface="Consolas"/>
                  <a:cs typeface="Consolas"/>
                </a:rPr>
                <a:t>Error: Conflict. The container name</a:t>
              </a:r>
            </a:p>
          </p:txBody>
        </p:sp>
        <p:sp>
          <p:nvSpPr>
            <p:cNvPr id="22" name="TextBox 22"/>
            <p:cNvSpPr txBox="1"/>
            <p:nvPr/>
          </p:nvSpPr>
          <p:spPr>
            <a:xfrm>
              <a:off x="832104" y="4271010"/>
              <a:ext cx="329961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Consolas"/>
                  <a:ea typeface="Consolas"/>
                  <a:cs typeface="Consolas"/>
                </a:rPr>
                <a:t>"/kutuphane-api-1" is already in use.</a:t>
              </a:r>
            </a:p>
          </p:txBody>
        </p:sp>
        <p:sp>
          <p:nvSpPr>
            <p:cNvPr id="23" name="TextBox 23"/>
            <p:cNvSpPr txBox="1"/>
            <p:nvPr/>
          </p:nvSpPr>
          <p:spPr>
            <a:xfrm>
              <a:off x="832104" y="4594860"/>
              <a:ext cx="322509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Çözüm: docker rm -f kutuphane-api-1 ile</a:t>
              </a:r>
            </a:p>
          </p:txBody>
        </p:sp>
        <p:sp>
          <p:nvSpPr>
            <p:cNvPr id="24" name="TextBox 24"/>
            <p:cNvSpPr txBox="1"/>
            <p:nvPr/>
          </p:nvSpPr>
          <p:spPr>
            <a:xfrm>
              <a:off x="832104" y="4804410"/>
              <a:ext cx="321076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öncekini kaldır ya da farklı bir isim ver.</a:t>
              </a:r>
            </a:p>
          </p:txBody>
        </p:sp>
        <p:sp>
          <p:nvSpPr>
            <p:cNvPr id="25" name="TextBox 25"/>
            <p:cNvSpPr txBox="1"/>
            <p:nvPr/>
          </p:nvSpPr>
          <p:spPr>
            <a:xfrm>
              <a:off x="832104" y="5033010"/>
              <a:ext cx="43334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docker rmi de bağlı container kaldırılmadan çalışmaz.</a:t>
              </a:r>
            </a:p>
          </p:txBody>
        </p:sp>
      </p:grpSp>
      <p:grpSp>
        <p:nvGrpSpPr>
          <p:cNvPr id="34" name="mistake-stop"/>
          <p:cNvGrpSpPr/>
          <p:nvPr/>
        </p:nvGrpSpPr>
        <p:grpSpPr>
          <a:xfrm>
            <a:off x="6324600" y="3619500"/>
            <a:ext cx="5257800" cy="1676400"/>
            <a:chOff x="6324600" y="3619500"/>
            <a:chExt cx="5257800" cy="1676400"/>
          </a:xfrm>
        </p:grpSpPr>
        <p:sp>
          <p:nvSpPr>
            <p:cNvPr id="27" name="Rectangle 27"/>
            <p:cNvSpPr/>
            <p:nvPr/>
          </p:nvSpPr>
          <p:spPr>
            <a:xfrm>
              <a:off x="6324600" y="3619500"/>
              <a:ext cx="5257800" cy="1676400"/>
            </a:xfrm>
            <a:prstGeom prst="roundRect">
              <a:avLst>
                <a:gd name="adj" fmla="val 4545"/>
              </a:avLst>
            </a:prstGeom>
            <a:solidFill>
              <a:srgbClr val="FFFFFF"/>
            </a:solidFill>
            <a:ln w="14288">
              <a:solidFill>
                <a:srgbClr val="B8CBD3"/>
              </a:solidFill>
            </a:ln>
          </p:spPr>
        </p:sp>
        <p:sp>
          <p:nvSpPr>
            <p:cNvPr id="28" name="TextBox 28"/>
            <p:cNvSpPr txBox="1"/>
            <p:nvPr/>
          </p:nvSpPr>
          <p:spPr>
            <a:xfrm>
              <a:off x="6545199" y="3754279"/>
              <a:ext cx="433423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 stop ile rm'i karıştırmak</a:t>
              </a:r>
            </a:p>
          </p:txBody>
        </p:sp>
        <p:sp>
          <p:nvSpPr>
            <p:cNvPr id="29" name="TextBox 29"/>
            <p:cNvSpPr txBox="1"/>
            <p:nvPr/>
          </p:nvSpPr>
          <p:spPr>
            <a:xfrm>
              <a:off x="6547104" y="4080510"/>
              <a:ext cx="35015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docker stop yalnızca durdurur, silmez; veri</a:t>
              </a:r>
            </a:p>
          </p:txBody>
        </p:sp>
        <p:sp>
          <p:nvSpPr>
            <p:cNvPr id="30" name="TextBox 30"/>
            <p:cNvSpPr txBox="1"/>
            <p:nvPr/>
          </p:nvSpPr>
          <p:spPr>
            <a:xfrm>
              <a:off x="6547104" y="4290060"/>
              <a:ext cx="32673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volume kullanılmasa bile dosya sisteminde</a:t>
              </a:r>
            </a:p>
          </p:txBody>
        </p:sp>
        <p:sp>
          <p:nvSpPr>
            <p:cNvPr id="31" name="TextBox 31"/>
            <p:cNvSpPr txBox="1"/>
            <p:nvPr/>
          </p:nvSpPr>
          <p:spPr>
            <a:xfrm>
              <a:off x="6547104" y="4499610"/>
              <a:ext cx="344500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durur — docker start ile geri başlatılabilir.</a:t>
              </a:r>
            </a:p>
          </p:txBody>
        </p:sp>
        <p:sp>
          <p:nvSpPr>
            <p:cNvPr id="32" name="TextBox 32"/>
            <p:cNvSpPr txBox="1"/>
            <p:nvPr/>
          </p:nvSpPr>
          <p:spPr>
            <a:xfrm>
              <a:off x="6547104" y="4804410"/>
              <a:ext cx="29361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--rm bayrağı olmadan biriken deneme</a:t>
              </a:r>
            </a:p>
          </p:txBody>
        </p:sp>
        <p:sp>
          <p:nvSpPr>
            <p:cNvPr id="33" name="TextBox 33"/>
            <p:cNvSpPr txBox="1"/>
            <p:nvPr/>
          </p:nvSpPr>
          <p:spPr>
            <a:xfrm>
              <a:off x="6547104" y="5013960"/>
              <a:ext cx="385693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container'ları docker container prune temizler.</a:t>
              </a:r>
            </a:p>
          </p:txBody>
        </p:sp>
      </p:grpSp>
      <p:grpSp>
        <p:nvGrpSpPr>
          <p:cNvPr id="38" name="scaling-note"/>
          <p:cNvGrpSpPr/>
          <p:nvPr/>
        </p:nvGrpSpPr>
        <p:grpSpPr>
          <a:xfrm>
            <a:off x="609600" y="5600700"/>
            <a:ext cx="10972800" cy="571500"/>
            <a:chOff x="609600" y="5600700"/>
            <a:chExt cx="10972800" cy="571500"/>
          </a:xfrm>
        </p:grpSpPr>
        <p:sp>
          <p:nvSpPr>
            <p:cNvPr id="35" name="Rectangle 35"/>
            <p:cNvSpPr/>
            <p:nvPr/>
          </p:nvSpPr>
          <p:spPr>
            <a:xfrm>
              <a:off x="609600" y="5600700"/>
              <a:ext cx="10972800" cy="571500"/>
            </a:xfrm>
            <a:prstGeom prst="roundRect">
              <a:avLst>
                <a:gd name="adj" fmla="val 13333"/>
              </a:avLst>
            </a:prstGeom>
            <a:solidFill>
              <a:srgbClr val="EAF4F6"/>
            </a:solidFill>
            <a:ln>
              <a:noFill/>
            </a:ln>
          </p:spPr>
        </p:sp>
        <p:sp>
          <p:nvSpPr>
            <p:cNvPr id="36" name="Rectangle 36"/>
            <p:cNvSpPr/>
            <p:nvPr/>
          </p:nvSpPr>
          <p:spPr>
            <a:xfrm>
              <a:off x="609600" y="5600700"/>
              <a:ext cx="57150" cy="571500"/>
            </a:xfrm>
            <a:prstGeom prst="rect">
              <a:avLst/>
            </a:prstGeom>
            <a:solidFill>
              <a:srgbClr val="00A6A6"/>
            </a:solidFill>
            <a:ln>
              <a:noFill/>
            </a:ln>
          </p:spPr>
        </p:sp>
        <p:sp>
          <p:nvSpPr>
            <p:cNvPr id="37" name="TextBox 37"/>
            <p:cNvSpPr txBox="1"/>
            <p:nvPr/>
          </p:nvSpPr>
          <p:spPr>
            <a:xfrm>
              <a:off x="906399" y="5764054"/>
              <a:ext cx="958783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Container sayısı arttıkça elle yönetim hataya açık hâle gelir — sırada Docker Compose var.</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937968" cy="557403"/>
            <a:chOff x="595122" y="282892"/>
            <a:chExt cx="7937968" cy="557403"/>
          </a:xfrm>
        </p:grpSpPr>
        <p:sp>
          <p:nvSpPr>
            <p:cNvPr id="4" name="TextBox 4"/>
            <p:cNvSpPr txBox="1"/>
            <p:nvPr/>
          </p:nvSpPr>
          <p:spPr>
            <a:xfrm>
              <a:off x="595122" y="282892"/>
              <a:ext cx="793796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Volume ve network: kalıcılık ve iletişim</a:t>
              </a:r>
            </a:p>
          </p:txBody>
        </p:sp>
      </p:grpSp>
      <p:grpSp>
        <p:nvGrpSpPr>
          <p:cNvPr id="14" name="volume-def"/>
          <p:cNvGrpSpPr/>
          <p:nvPr/>
        </p:nvGrpSpPr>
        <p:grpSpPr>
          <a:xfrm>
            <a:off x="609600" y="1181100"/>
            <a:ext cx="5257800" cy="1905000"/>
            <a:chOff x="609600" y="1181100"/>
            <a:chExt cx="5257800" cy="1905000"/>
          </a:xfrm>
        </p:grpSpPr>
        <p:sp>
          <p:nvSpPr>
            <p:cNvPr id="6" name="Rectangle 6"/>
            <p:cNvSpPr/>
            <p:nvPr/>
          </p:nvSpPr>
          <p:spPr>
            <a:xfrm>
              <a:off x="609600" y="1181100"/>
              <a:ext cx="5257800" cy="1905000"/>
            </a:xfrm>
            <a:prstGeom prst="roundRect">
              <a:avLst>
                <a:gd name="adj" fmla="val 4000"/>
              </a:avLst>
            </a:prstGeom>
            <a:solidFill>
              <a:srgbClr val="FFFFFF"/>
            </a:solidFill>
            <a:ln w="14288">
              <a:solidFill>
                <a:srgbClr val="B8CBD3"/>
              </a:solidFill>
            </a:ln>
          </p:spPr>
        </p:sp>
        <p:sp>
          <p:nvSpPr>
            <p:cNvPr id="7" name="TextBox 7"/>
            <p:cNvSpPr txBox="1"/>
            <p:nvPr/>
          </p:nvSpPr>
          <p:spPr>
            <a:xfrm>
              <a:off x="829056" y="1291590"/>
              <a:ext cx="85299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Volume</a:t>
              </a:r>
            </a:p>
          </p:txBody>
        </p:sp>
        <p:sp>
          <p:nvSpPr>
            <p:cNvPr id="8" name="TextBox 8"/>
            <p:cNvSpPr txBox="1"/>
            <p:nvPr/>
          </p:nvSpPr>
          <p:spPr>
            <a:xfrm>
              <a:off x="830199" y="1601629"/>
              <a:ext cx="419165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Container'ın yeniden oluşturulmasından</a:t>
              </a:r>
            </a:p>
          </p:txBody>
        </p:sp>
        <p:sp>
          <p:nvSpPr>
            <p:cNvPr id="9" name="TextBox 9"/>
            <p:cNvSpPr txBox="1"/>
            <p:nvPr/>
          </p:nvSpPr>
          <p:spPr>
            <a:xfrm>
              <a:off x="830199" y="1811179"/>
              <a:ext cx="419165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veya silinmesinden etkilenmeyen, Docker</a:t>
              </a:r>
            </a:p>
          </p:txBody>
        </p:sp>
        <p:sp>
          <p:nvSpPr>
            <p:cNvPr id="10" name="TextBox 10"/>
            <p:cNvSpPr txBox="1"/>
            <p:nvPr/>
          </p:nvSpPr>
          <p:spPr>
            <a:xfrm>
              <a:off x="830199" y="2020729"/>
              <a:ext cx="450396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tarafından yönetilen kalıcı depo alanıdır.</a:t>
              </a:r>
            </a:p>
          </p:txBody>
        </p:sp>
        <p:sp>
          <p:nvSpPr>
            <p:cNvPr id="11" name="TextBox 11"/>
            <p:cNvSpPr txBox="1"/>
            <p:nvPr/>
          </p:nvSpPr>
          <p:spPr>
            <a:xfrm>
              <a:off x="832104" y="2385060"/>
              <a:ext cx="388725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Neden: "hesaplama" ile "durum" ayrıştırılmalı —</a:t>
              </a:r>
            </a:p>
          </p:txBody>
        </p:sp>
        <p:sp>
          <p:nvSpPr>
            <p:cNvPr id="12" name="TextBox 12"/>
            <p:cNvSpPr txBox="1"/>
            <p:nvPr/>
          </p:nvSpPr>
          <p:spPr>
            <a:xfrm>
              <a:off x="832104" y="2594610"/>
              <a:ext cx="345307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container geçicidir (ephemeral), ama verisi</a:t>
              </a:r>
            </a:p>
          </p:txBody>
        </p:sp>
        <p:sp>
          <p:nvSpPr>
            <p:cNvPr id="13" name="TextBox 13"/>
            <p:cNvSpPr txBox="1"/>
            <p:nvPr/>
          </p:nvSpPr>
          <p:spPr>
            <a:xfrm>
              <a:off x="832104" y="2804160"/>
              <a:ext cx="207995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aynı disipline tabi olamaz.</a:t>
              </a:r>
            </a:p>
          </p:txBody>
        </p:sp>
      </p:grpSp>
      <p:grpSp>
        <p:nvGrpSpPr>
          <p:cNvPr id="23" name="network-def"/>
          <p:cNvGrpSpPr/>
          <p:nvPr/>
        </p:nvGrpSpPr>
        <p:grpSpPr>
          <a:xfrm>
            <a:off x="6324600" y="1181100"/>
            <a:ext cx="5257800" cy="1905000"/>
            <a:chOff x="6324600" y="1181100"/>
            <a:chExt cx="5257800" cy="1905000"/>
          </a:xfrm>
        </p:grpSpPr>
        <p:sp>
          <p:nvSpPr>
            <p:cNvPr id="15" name="Rectangle 15"/>
            <p:cNvSpPr/>
            <p:nvPr/>
          </p:nvSpPr>
          <p:spPr>
            <a:xfrm>
              <a:off x="6324600" y="1181100"/>
              <a:ext cx="5257800" cy="1905000"/>
            </a:xfrm>
            <a:prstGeom prst="roundRect">
              <a:avLst>
                <a:gd name="adj" fmla="val 4000"/>
              </a:avLst>
            </a:prstGeom>
            <a:solidFill>
              <a:srgbClr val="FFFFFF"/>
            </a:solidFill>
            <a:ln w="14288">
              <a:solidFill>
                <a:srgbClr val="00A6A6"/>
              </a:solidFill>
            </a:ln>
          </p:spPr>
        </p:sp>
        <p:sp>
          <p:nvSpPr>
            <p:cNvPr id="16" name="TextBox 16"/>
            <p:cNvSpPr txBox="1"/>
            <p:nvPr/>
          </p:nvSpPr>
          <p:spPr>
            <a:xfrm>
              <a:off x="6544056" y="1291590"/>
              <a:ext cx="105706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Network</a:t>
              </a:r>
            </a:p>
          </p:txBody>
        </p:sp>
        <p:sp>
          <p:nvSpPr>
            <p:cNvPr id="17" name="TextBox 17"/>
            <p:cNvSpPr txBox="1"/>
            <p:nvPr/>
          </p:nvSpPr>
          <p:spPr>
            <a:xfrm>
              <a:off x="6545199" y="1601629"/>
              <a:ext cx="401395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Birden fazla container'ın birbirine, IP</a:t>
              </a:r>
            </a:p>
          </p:txBody>
        </p:sp>
        <p:sp>
          <p:nvSpPr>
            <p:cNvPr id="18" name="TextBox 18"/>
            <p:cNvSpPr txBox="1"/>
            <p:nvPr/>
          </p:nvSpPr>
          <p:spPr>
            <a:xfrm>
              <a:off x="6545199" y="1811179"/>
              <a:ext cx="397221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yerine servis/container adı üzerinden</a:t>
              </a:r>
            </a:p>
          </p:txBody>
        </p:sp>
        <p:sp>
          <p:nvSpPr>
            <p:cNvPr id="19" name="TextBox 19"/>
            <p:cNvSpPr txBox="1"/>
            <p:nvPr/>
          </p:nvSpPr>
          <p:spPr>
            <a:xfrm>
              <a:off x="6545199" y="2020729"/>
              <a:ext cx="305760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erişebildiği izole sanal ağdır.</a:t>
              </a:r>
            </a:p>
          </p:txBody>
        </p:sp>
        <p:sp>
          <p:nvSpPr>
            <p:cNvPr id="20" name="TextBox 20"/>
            <p:cNvSpPr txBox="1"/>
            <p:nvPr/>
          </p:nvSpPr>
          <p:spPr>
            <a:xfrm>
              <a:off x="6547104" y="2385060"/>
              <a:ext cx="366003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Neden: Docker'ın gömülü DNS'i, container'lar</a:t>
              </a:r>
            </a:p>
          </p:txBody>
        </p:sp>
        <p:sp>
          <p:nvSpPr>
            <p:cNvPr id="21" name="TextBox 21"/>
            <p:cNvSpPr txBox="1"/>
            <p:nvPr/>
          </p:nvSpPr>
          <p:spPr>
            <a:xfrm>
              <a:off x="6547104" y="2594610"/>
              <a:ext cx="334807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oluşup silindikçe adları dinamik günceller —</a:t>
              </a:r>
            </a:p>
          </p:txBody>
        </p:sp>
        <p:sp>
          <p:nvSpPr>
            <p:cNvPr id="22" name="TextBox 22"/>
            <p:cNvSpPr txBox="1"/>
            <p:nvPr/>
          </p:nvSpPr>
          <p:spPr>
            <a:xfrm>
              <a:off x="6547104" y="2804160"/>
              <a:ext cx="342077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küçük ölçekli bir "servis keşfi" çözümüdür.</a:t>
              </a:r>
            </a:p>
          </p:txBody>
        </p:sp>
      </p:grpSp>
      <p:grpSp>
        <p:nvGrpSpPr>
          <p:cNvPr id="33" name="theory-note"/>
          <p:cNvGrpSpPr/>
          <p:nvPr/>
        </p:nvGrpSpPr>
        <p:grpSpPr>
          <a:xfrm>
            <a:off x="609600" y="3352800"/>
            <a:ext cx="10972800" cy="2095500"/>
            <a:chOff x="609600" y="3352800"/>
            <a:chExt cx="10972800" cy="2095500"/>
          </a:xfrm>
        </p:grpSpPr>
        <p:sp>
          <p:nvSpPr>
            <p:cNvPr id="24" name="Rectangle 24"/>
            <p:cNvSpPr/>
            <p:nvPr/>
          </p:nvSpPr>
          <p:spPr>
            <a:xfrm>
              <a:off x="609600" y="3352800"/>
              <a:ext cx="10972800" cy="2095500"/>
            </a:xfrm>
            <a:prstGeom prst="roundRect">
              <a:avLst>
                <a:gd name="adj" fmla="val 3636"/>
              </a:avLst>
            </a:prstGeom>
            <a:solidFill>
              <a:srgbClr val="EAF4F6"/>
            </a:solidFill>
            <a:ln>
              <a:noFill/>
            </a:ln>
          </p:spPr>
        </p:sp>
        <p:sp>
          <p:nvSpPr>
            <p:cNvPr id="25" name="Rectangle 25"/>
            <p:cNvSpPr/>
            <p:nvPr/>
          </p:nvSpPr>
          <p:spPr>
            <a:xfrm>
              <a:off x="609600" y="3352800"/>
              <a:ext cx="57150" cy="2095500"/>
            </a:xfrm>
            <a:prstGeom prst="rect">
              <a:avLst/>
            </a:prstGeom>
            <a:solidFill>
              <a:srgbClr val="00A6A6"/>
            </a:solidFill>
            <a:ln>
              <a:noFill/>
            </a:ln>
          </p:spPr>
        </p:sp>
        <p:sp>
          <p:nvSpPr>
            <p:cNvPr id="26" name="TextBox 26"/>
            <p:cNvSpPr txBox="1"/>
            <p:nvPr/>
          </p:nvSpPr>
          <p:spPr>
            <a:xfrm>
              <a:off x="906399" y="3487579"/>
              <a:ext cx="205553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Kuramsal arka plan</a:t>
              </a:r>
            </a:p>
          </p:txBody>
        </p:sp>
        <p:sp>
          <p:nvSpPr>
            <p:cNvPr id="27" name="TextBox 27"/>
            <p:cNvSpPr txBox="1"/>
            <p:nvPr/>
          </p:nvSpPr>
          <p:spPr>
            <a:xfrm>
              <a:off x="906399" y="3754279"/>
              <a:ext cx="905200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Bu ayrım, katmanlı mimarideki durumsuz controller/service ile repository arkasındaki</a:t>
              </a:r>
            </a:p>
          </p:txBody>
        </p:sp>
        <p:sp>
          <p:nvSpPr>
            <p:cNvPr id="28" name="TextBox 28"/>
            <p:cNvSpPr txBox="1"/>
            <p:nvPr/>
          </p:nvSpPr>
          <p:spPr>
            <a:xfrm>
              <a:off x="906399" y="3982879"/>
              <a:ext cx="924716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kalıcı veritabanının altyapı seviyesindeki karşılığıdır: container ne kadar "atılabilir"</a:t>
              </a:r>
            </a:p>
          </p:txBody>
        </p:sp>
        <p:sp>
          <p:nvSpPr>
            <p:cNvPr id="29" name="TextBox 29"/>
            <p:cNvSpPr txBox="1"/>
            <p:nvPr/>
          </p:nvSpPr>
          <p:spPr>
            <a:xfrm>
              <a:off x="906399" y="4211479"/>
              <a:ext cx="636508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olursa olsun, yönettiği kalıcı veri aynı disipline tabi olamaz.</a:t>
              </a:r>
            </a:p>
          </p:txBody>
        </p:sp>
        <p:sp>
          <p:nvSpPr>
            <p:cNvPr id="30" name="TextBox 30"/>
            <p:cNvSpPr txBox="1"/>
            <p:nvPr/>
          </p:nvSpPr>
          <p:spPr>
            <a:xfrm>
              <a:off x="908304" y="4575810"/>
              <a:ext cx="701218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Varsayılan bridge network'te container'lar birbirini adla bulamaz; servis adıyla iletişim</a:t>
              </a:r>
            </a:p>
          </p:txBody>
        </p:sp>
        <p:sp>
          <p:nvSpPr>
            <p:cNvPr id="31" name="TextBox 31"/>
            <p:cNvSpPr txBox="1"/>
            <p:nvPr/>
          </p:nvSpPr>
          <p:spPr>
            <a:xfrm>
              <a:off x="908304" y="4785360"/>
              <a:ext cx="542391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ancak açıkça oluşturulmuş bir user-defined network'te mümkündür.</a:t>
              </a:r>
            </a:p>
          </p:txBody>
        </p:sp>
        <p:sp>
          <p:nvSpPr>
            <p:cNvPr id="32" name="TextBox 32"/>
            <p:cNvSpPr txBox="1"/>
            <p:nvPr/>
          </p:nvSpPr>
          <p:spPr>
            <a:xfrm>
              <a:off x="908304" y="5090160"/>
              <a:ext cx="802215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dağıtık sistemlerdeki "servis keşfi" (service discovery) probleminin tek makineli bir çözümüdür.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265200" cy="668845"/>
            <a:chOff x="609600" y="171450"/>
            <a:chExt cx="826520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757482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14.5: Volume ve network kurulumu</a:t>
              </a:r>
            </a:p>
          </p:txBody>
        </p:sp>
      </p:grpSp>
      <p:grpSp>
        <p:nvGrpSpPr>
          <p:cNvPr id="27" name="code-block"/>
          <p:cNvGrpSpPr/>
          <p:nvPr/>
        </p:nvGrpSpPr>
        <p:grpSpPr>
          <a:xfrm>
            <a:off x="609600" y="1181100"/>
            <a:ext cx="5257800" cy="3238500"/>
            <a:chOff x="609600" y="1181100"/>
            <a:chExt cx="5257800" cy="3238500"/>
          </a:xfrm>
        </p:grpSpPr>
        <p:sp>
          <p:nvSpPr>
            <p:cNvPr id="12" name="Rectangle 12"/>
            <p:cNvSpPr/>
            <p:nvPr/>
          </p:nvSpPr>
          <p:spPr>
            <a:xfrm>
              <a:off x="609600" y="1181100"/>
              <a:ext cx="5257800" cy="3238500"/>
            </a:xfrm>
            <a:prstGeom prst="roundRect">
              <a:avLst>
                <a:gd name="adj" fmla="val 2353"/>
              </a:avLst>
            </a:prstGeom>
            <a:solidFill>
              <a:srgbClr val="12355B"/>
            </a:solidFill>
            <a:ln>
              <a:noFill/>
            </a:ln>
          </p:spPr>
        </p:sp>
        <p:sp>
          <p:nvSpPr>
            <p:cNvPr id="13" name="TextBox 13"/>
            <p:cNvSpPr txBox="1"/>
            <p:nvPr/>
          </p:nvSpPr>
          <p:spPr>
            <a:xfrm>
              <a:off x="832104" y="1299210"/>
              <a:ext cx="331287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 Kalıcı veri ve iletişim için önce hazırlık</a:t>
              </a:r>
            </a:p>
          </p:txBody>
        </p:sp>
        <p:sp>
          <p:nvSpPr>
            <p:cNvPr id="14" name="TextBox 14"/>
            <p:cNvSpPr txBox="1"/>
            <p:nvPr/>
          </p:nvSpPr>
          <p:spPr>
            <a:xfrm>
              <a:off x="832104" y="1527810"/>
              <a:ext cx="3566160"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docker volume create kutuphane-db-verisi</a:t>
              </a:r>
            </a:p>
          </p:txBody>
        </p:sp>
        <p:sp>
          <p:nvSpPr>
            <p:cNvPr id="15" name="TextBox 15"/>
            <p:cNvSpPr txBox="1"/>
            <p:nvPr/>
          </p:nvSpPr>
          <p:spPr>
            <a:xfrm>
              <a:off x="832104" y="1737360"/>
              <a:ext cx="3477311"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docker network create kutuphane-network</a:t>
              </a:r>
            </a:p>
          </p:txBody>
        </p:sp>
        <p:sp>
          <p:nvSpPr>
            <p:cNvPr id="16" name="TextBox 16"/>
            <p:cNvSpPr txBox="1"/>
            <p:nvPr/>
          </p:nvSpPr>
          <p:spPr>
            <a:xfrm>
              <a:off x="832104" y="2042160"/>
              <a:ext cx="359728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 PostgreSQL'i volume + network ile çalıştır</a:t>
              </a:r>
            </a:p>
          </p:txBody>
        </p:sp>
        <p:sp>
          <p:nvSpPr>
            <p:cNvPr id="17" name="TextBox 17"/>
            <p:cNvSpPr txBox="1"/>
            <p:nvPr/>
          </p:nvSpPr>
          <p:spPr>
            <a:xfrm>
              <a:off x="832104" y="2251710"/>
              <a:ext cx="3121914"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docker run -d --name kutuphane-db \</a:t>
              </a:r>
            </a:p>
          </p:txBody>
        </p:sp>
        <p:sp>
          <p:nvSpPr>
            <p:cNvPr id="18" name="TextBox 18"/>
            <p:cNvSpPr txBox="1"/>
            <p:nvPr/>
          </p:nvSpPr>
          <p:spPr>
            <a:xfrm>
              <a:off x="832104" y="2442210"/>
              <a:ext cx="258881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--network kutuphane-network \</a:t>
              </a:r>
            </a:p>
          </p:txBody>
        </p:sp>
        <p:sp>
          <p:nvSpPr>
            <p:cNvPr id="19" name="TextBox 19"/>
            <p:cNvSpPr txBox="1"/>
            <p:nvPr/>
          </p:nvSpPr>
          <p:spPr>
            <a:xfrm>
              <a:off x="832104" y="2632710"/>
              <a:ext cx="329961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-v kutuphane-db-verisi:/var/lib/... \</a:t>
              </a:r>
            </a:p>
          </p:txBody>
        </p:sp>
        <p:sp>
          <p:nvSpPr>
            <p:cNvPr id="20" name="TextBox 20"/>
            <p:cNvSpPr txBox="1"/>
            <p:nvPr/>
          </p:nvSpPr>
          <p:spPr>
            <a:xfrm>
              <a:off x="832104" y="2823210"/>
              <a:ext cx="161147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postgres:17-alpine</a:t>
              </a:r>
            </a:p>
          </p:txBody>
        </p:sp>
        <p:sp>
          <p:nvSpPr>
            <p:cNvPr id="21" name="TextBox 21"/>
            <p:cNvSpPr txBox="1"/>
            <p:nvPr/>
          </p:nvSpPr>
          <p:spPr>
            <a:xfrm>
              <a:off x="832104" y="3128010"/>
              <a:ext cx="2267668"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 API'yi aynı network'e ekle</a:t>
              </a:r>
            </a:p>
          </p:txBody>
        </p:sp>
        <p:sp>
          <p:nvSpPr>
            <p:cNvPr id="22" name="TextBox 22"/>
            <p:cNvSpPr txBox="1"/>
            <p:nvPr/>
          </p:nvSpPr>
          <p:spPr>
            <a:xfrm>
              <a:off x="832104" y="3337560"/>
              <a:ext cx="3210763"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docker run -d --name kutuphane-api \</a:t>
              </a:r>
            </a:p>
          </p:txBody>
        </p:sp>
        <p:sp>
          <p:nvSpPr>
            <p:cNvPr id="23" name="TextBox 23"/>
            <p:cNvSpPr txBox="1"/>
            <p:nvPr/>
          </p:nvSpPr>
          <p:spPr>
            <a:xfrm>
              <a:off x="832104" y="3528060"/>
              <a:ext cx="258881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--network kutuphane-network \</a:t>
              </a:r>
            </a:p>
          </p:txBody>
        </p:sp>
        <p:sp>
          <p:nvSpPr>
            <p:cNvPr id="24" name="TextBox 24"/>
            <p:cNvSpPr txBox="1"/>
            <p:nvPr/>
          </p:nvSpPr>
          <p:spPr>
            <a:xfrm>
              <a:off x="832104" y="3718560"/>
              <a:ext cx="393613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-e DATABASE_URL=...@kutuphane-db:5432/... \</a:t>
              </a:r>
            </a:p>
          </p:txBody>
        </p:sp>
        <p:sp>
          <p:nvSpPr>
            <p:cNvPr id="25" name="TextBox 25"/>
            <p:cNvSpPr txBox="1"/>
            <p:nvPr/>
          </p:nvSpPr>
          <p:spPr>
            <a:xfrm>
              <a:off x="832104" y="3909060"/>
              <a:ext cx="152262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kutuphane-api:1.0</a:t>
              </a:r>
            </a:p>
          </p:txBody>
        </p:sp>
        <p:sp>
          <p:nvSpPr>
            <p:cNvPr id="26" name="TextBox 26"/>
            <p:cNvSpPr txBox="1"/>
            <p:nvPr/>
          </p:nvSpPr>
          <p:spPr>
            <a:xfrm>
              <a:off x="832104" y="4175760"/>
              <a:ext cx="253227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-v: veri dizinini volume'a bağlar</a:t>
              </a:r>
            </a:p>
          </p:txBody>
        </p:sp>
      </p:grpSp>
      <p:grpSp>
        <p:nvGrpSpPr>
          <p:cNvPr id="36" name="dikkat-block"/>
          <p:cNvGrpSpPr/>
          <p:nvPr/>
        </p:nvGrpSpPr>
        <p:grpSpPr>
          <a:xfrm>
            <a:off x="6324600" y="1181100"/>
            <a:ext cx="5257800" cy="1600200"/>
            <a:chOff x="6324600" y="1181100"/>
            <a:chExt cx="5257800" cy="1600200"/>
          </a:xfrm>
        </p:grpSpPr>
        <p:sp>
          <p:nvSpPr>
            <p:cNvPr id="28" name="Rectangle 28"/>
            <p:cNvSpPr/>
            <p:nvPr/>
          </p:nvSpPr>
          <p:spPr>
            <a:xfrm>
              <a:off x="6324600" y="1181100"/>
              <a:ext cx="5257800" cy="1600200"/>
            </a:xfrm>
            <a:prstGeom prst="roundRect">
              <a:avLst>
                <a:gd name="adj" fmla="val 4762"/>
              </a:avLst>
            </a:prstGeom>
            <a:solidFill>
              <a:srgbClr val="EAF4F6"/>
            </a:solidFill>
            <a:ln>
              <a:noFill/>
            </a:ln>
          </p:spPr>
        </p:sp>
        <p:sp>
          <p:nvSpPr>
            <p:cNvPr id="29" name="Rectangle 29"/>
            <p:cNvSpPr/>
            <p:nvPr/>
          </p:nvSpPr>
          <p:spPr>
            <a:xfrm>
              <a:off x="6324600" y="1181100"/>
              <a:ext cx="57150" cy="1600200"/>
            </a:xfrm>
            <a:prstGeom prst="rect">
              <a:avLst/>
            </a:prstGeom>
            <a:solidFill>
              <a:srgbClr val="00A6A6"/>
            </a:solidFill>
            <a:ln>
              <a:noFill/>
            </a:ln>
          </p:spPr>
        </p:sp>
        <p:sp>
          <p:nvSpPr>
            <p:cNvPr id="30" name="TextBox 30"/>
            <p:cNvSpPr txBox="1"/>
            <p:nvPr/>
          </p:nvSpPr>
          <p:spPr>
            <a:xfrm>
              <a:off x="6621399" y="1296829"/>
              <a:ext cx="19226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Dikkat noktası</a:t>
              </a:r>
            </a:p>
          </p:txBody>
        </p:sp>
        <p:sp>
          <p:nvSpPr>
            <p:cNvPr id="31" name="TextBox 31"/>
            <p:cNvSpPr txBox="1"/>
            <p:nvPr/>
          </p:nvSpPr>
          <p:spPr>
            <a:xfrm>
              <a:off x="6623304" y="1623060"/>
              <a:ext cx="349879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Varsayılan bridge network'te container'lar</a:t>
              </a:r>
            </a:p>
          </p:txBody>
        </p:sp>
        <p:sp>
          <p:nvSpPr>
            <p:cNvPr id="32" name="TextBox 32"/>
            <p:cNvSpPr txBox="1"/>
            <p:nvPr/>
          </p:nvSpPr>
          <p:spPr>
            <a:xfrm>
              <a:off x="6623304" y="1832610"/>
              <a:ext cx="347731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birbirini adla bulamaz; servis adıyla iletişim</a:t>
              </a:r>
            </a:p>
          </p:txBody>
        </p:sp>
        <p:sp>
          <p:nvSpPr>
            <p:cNvPr id="33" name="TextBox 33"/>
            <p:cNvSpPr txBox="1"/>
            <p:nvPr/>
          </p:nvSpPr>
          <p:spPr>
            <a:xfrm>
              <a:off x="6623304" y="2042160"/>
              <a:ext cx="345307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ancak açıkça oluşturulmuş bir user-defined</a:t>
              </a:r>
            </a:p>
          </p:txBody>
        </p:sp>
        <p:sp>
          <p:nvSpPr>
            <p:cNvPr id="34" name="TextBox 34"/>
            <p:cNvSpPr txBox="1"/>
            <p:nvPr/>
          </p:nvSpPr>
          <p:spPr>
            <a:xfrm>
              <a:off x="6623304" y="2251710"/>
              <a:ext cx="286344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network'te mümkündür — --network</a:t>
              </a:r>
            </a:p>
          </p:txBody>
        </p:sp>
        <p:sp>
          <p:nvSpPr>
            <p:cNvPr id="35" name="TextBox 35"/>
            <p:cNvSpPr txBox="1"/>
            <p:nvPr/>
          </p:nvSpPr>
          <p:spPr>
            <a:xfrm>
              <a:off x="6623304" y="2461260"/>
              <a:ext cx="33480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kutuphane-network bu yüzden zorunludur.</a:t>
              </a:r>
            </a:p>
          </p:txBody>
        </p:sp>
      </p:grpSp>
      <p:grpSp>
        <p:nvGrpSpPr>
          <p:cNvPr id="47" name="mistakes-block"/>
          <p:cNvGrpSpPr/>
          <p:nvPr/>
        </p:nvGrpSpPr>
        <p:grpSpPr>
          <a:xfrm>
            <a:off x="6324600" y="2933700"/>
            <a:ext cx="5257800" cy="2514600"/>
            <a:chOff x="6324600" y="2933700"/>
            <a:chExt cx="5257800" cy="2514600"/>
          </a:xfrm>
        </p:grpSpPr>
        <p:sp>
          <p:nvSpPr>
            <p:cNvPr id="37" name="Rectangle 37"/>
            <p:cNvSpPr/>
            <p:nvPr/>
          </p:nvSpPr>
          <p:spPr>
            <a:xfrm>
              <a:off x="6324600" y="2933700"/>
              <a:ext cx="5257800" cy="2514600"/>
            </a:xfrm>
            <a:prstGeom prst="roundRect">
              <a:avLst>
                <a:gd name="adj" fmla="val 3030"/>
              </a:avLst>
            </a:prstGeom>
            <a:solidFill>
              <a:srgbClr val="FFFFFF"/>
            </a:solidFill>
            <a:ln w="14288">
              <a:solidFill>
                <a:srgbClr val="B8CBD3"/>
              </a:solidFill>
            </a:ln>
          </p:spPr>
        </p:sp>
        <p:sp>
          <p:nvSpPr>
            <p:cNvPr id="38" name="TextBox 38"/>
            <p:cNvSpPr txBox="1"/>
            <p:nvPr/>
          </p:nvSpPr>
          <p:spPr>
            <a:xfrm>
              <a:off x="6545199" y="3068479"/>
              <a:ext cx="16310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hatalar</a:t>
              </a:r>
            </a:p>
          </p:txBody>
        </p:sp>
        <p:sp>
          <p:nvSpPr>
            <p:cNvPr id="39" name="TextBox 39"/>
            <p:cNvSpPr txBox="1"/>
            <p:nvPr/>
          </p:nvSpPr>
          <p:spPr>
            <a:xfrm>
              <a:off x="6547104" y="3375660"/>
              <a:ext cx="403197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 Volume olmadan veritabanı çalıştırıp container</a:t>
              </a:r>
            </a:p>
          </p:txBody>
        </p:sp>
        <p:sp>
          <p:nvSpPr>
            <p:cNvPr id="40" name="TextBox 40"/>
            <p:cNvSpPr txBox="1"/>
            <p:nvPr/>
          </p:nvSpPr>
          <p:spPr>
            <a:xfrm>
              <a:off x="6547104" y="3566160"/>
              <a:ext cx="357423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silinince tüm verinin kaybolmasına şaşırmak.</a:t>
              </a:r>
            </a:p>
          </p:txBody>
        </p:sp>
        <p:sp>
          <p:nvSpPr>
            <p:cNvPr id="41" name="TextBox 41"/>
            <p:cNvSpPr txBox="1"/>
            <p:nvPr/>
          </p:nvSpPr>
          <p:spPr>
            <a:xfrm>
              <a:off x="6547104" y="3832860"/>
              <a:ext cx="39838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 Container'ları aynı network'e eklemeyi unutup</a:t>
              </a:r>
            </a:p>
          </p:txBody>
        </p:sp>
        <p:sp>
          <p:nvSpPr>
            <p:cNvPr id="42" name="TextBox 42"/>
            <p:cNvSpPr txBox="1"/>
            <p:nvPr/>
          </p:nvSpPr>
          <p:spPr>
            <a:xfrm>
              <a:off x="6547104" y="4023360"/>
              <a:ext cx="431701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API'nin veritabanına localhost'tan erişmeyi denemesi.</a:t>
              </a:r>
            </a:p>
          </p:txBody>
        </p:sp>
        <p:sp>
          <p:nvSpPr>
            <p:cNvPr id="43" name="TextBox 43"/>
            <p:cNvSpPr txBox="1"/>
            <p:nvPr/>
          </p:nvSpPr>
          <p:spPr>
            <a:xfrm>
              <a:off x="6547104" y="4290060"/>
              <a:ext cx="431505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3. Veritabanı parolasını -e ile satıra açıkça yazmak;</a:t>
              </a:r>
            </a:p>
          </p:txBody>
        </p:sp>
        <p:sp>
          <p:nvSpPr>
            <p:cNvPr id="44" name="TextBox 44"/>
            <p:cNvSpPr txBox="1"/>
            <p:nvPr/>
          </p:nvSpPr>
          <p:spPr>
            <a:xfrm>
              <a:off x="6547104" y="4480560"/>
              <a:ext cx="31542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bilgi kabuk geçmişinde görünür kalır.</a:t>
              </a:r>
            </a:p>
          </p:txBody>
        </p:sp>
        <p:sp>
          <p:nvSpPr>
            <p:cNvPr id="45" name="TextBox 45"/>
            <p:cNvSpPr txBox="1"/>
            <p:nvPr/>
          </p:nvSpPr>
          <p:spPr>
            <a:xfrm>
              <a:off x="6547104" y="4747260"/>
              <a:ext cx="364440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4. Aynı volume adını farklı projelerde tekrar</a:t>
              </a:r>
            </a:p>
          </p:txBody>
        </p:sp>
        <p:sp>
          <p:nvSpPr>
            <p:cNvPr id="46" name="TextBox 46"/>
            <p:cNvSpPr txBox="1"/>
            <p:nvPr/>
          </p:nvSpPr>
          <p:spPr>
            <a:xfrm>
              <a:off x="6547104" y="4937760"/>
              <a:ext cx="331576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kullanıp verilerin karışmasına yol açmak.</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963318" cy="668845"/>
            <a:chOff x="609600" y="171450"/>
            <a:chExt cx="8963318"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827294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Docker Compose: bildirimsel orkestrasyon</a:t>
              </a:r>
            </a:p>
          </p:txBody>
        </p:sp>
      </p:grpSp>
      <p:grpSp>
        <p:nvGrpSpPr>
          <p:cNvPr id="14" name="definition-block"/>
          <p:cNvGrpSpPr/>
          <p:nvPr/>
        </p:nvGrpSpPr>
        <p:grpSpPr>
          <a:xfrm>
            <a:off x="609600" y="1181100"/>
            <a:ext cx="10972800" cy="914400"/>
            <a:chOff x="609600" y="1181100"/>
            <a:chExt cx="10972800" cy="914400"/>
          </a:xfrm>
        </p:grpSpPr>
        <p:sp>
          <p:nvSpPr>
            <p:cNvPr id="9" name="Rectangle 9"/>
            <p:cNvSpPr/>
            <p:nvPr/>
          </p:nvSpPr>
          <p:spPr>
            <a:xfrm>
              <a:off x="609600" y="1181100"/>
              <a:ext cx="10972800" cy="914400"/>
            </a:xfrm>
            <a:prstGeom prst="roundRect">
              <a:avLst>
                <a:gd name="adj" fmla="val 8333"/>
              </a:avLst>
            </a:prstGeom>
            <a:solidFill>
              <a:srgbClr val="EAF4F6"/>
            </a:solidFill>
            <a:ln>
              <a:noFill/>
            </a:ln>
          </p:spPr>
        </p:sp>
        <p:sp>
          <p:nvSpPr>
            <p:cNvPr id="10" name="Rectangle 10"/>
            <p:cNvSpPr/>
            <p:nvPr/>
          </p:nvSpPr>
          <p:spPr>
            <a:xfrm>
              <a:off x="609600" y="1181100"/>
              <a:ext cx="57150" cy="914400"/>
            </a:xfrm>
            <a:prstGeom prst="rect">
              <a:avLst/>
            </a:prstGeom>
            <a:solidFill>
              <a:srgbClr val="00A6A6"/>
            </a:solidFill>
            <a:ln>
              <a:noFill/>
            </a:ln>
          </p:spPr>
        </p:sp>
        <p:sp>
          <p:nvSpPr>
            <p:cNvPr id="11" name="TextBox 11"/>
            <p:cNvSpPr txBox="1"/>
            <p:nvPr/>
          </p:nvSpPr>
          <p:spPr>
            <a:xfrm>
              <a:off x="906399" y="13158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2" name="TextBox 12"/>
            <p:cNvSpPr txBox="1"/>
            <p:nvPr/>
          </p:nvSpPr>
          <p:spPr>
            <a:xfrm>
              <a:off x="906399" y="1582579"/>
              <a:ext cx="949855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Birden fazla container'ı (servisi), aralarındaki volume ve network ilişkileriyle birlikte tek</a:t>
              </a:r>
            </a:p>
          </p:txBody>
        </p:sp>
        <p:sp>
          <p:nvSpPr>
            <p:cNvPr id="13" name="TextBox 13"/>
            <p:cNvSpPr txBox="1"/>
            <p:nvPr/>
          </p:nvSpPr>
          <p:spPr>
            <a:xfrm>
              <a:off x="908304" y="1832610"/>
              <a:ext cx="737595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bir YAML dosyasında tanımlayıp docker compose up tek komutuyla birlikte çalıştırma aracı.</a:t>
              </a:r>
            </a:p>
          </p:txBody>
        </p:sp>
      </p:grpSp>
      <p:grpSp>
        <p:nvGrpSpPr>
          <p:cNvPr id="24" name="imperative-side"/>
          <p:cNvGrpSpPr/>
          <p:nvPr/>
        </p:nvGrpSpPr>
        <p:grpSpPr>
          <a:xfrm>
            <a:off x="609600" y="2324100"/>
            <a:ext cx="5257800" cy="2209800"/>
            <a:chOff x="609600" y="2324100"/>
            <a:chExt cx="5257800" cy="2209800"/>
          </a:xfrm>
        </p:grpSpPr>
        <p:sp>
          <p:nvSpPr>
            <p:cNvPr id="15" name="Rectangle 15"/>
            <p:cNvSpPr/>
            <p:nvPr/>
          </p:nvSpPr>
          <p:spPr>
            <a:xfrm>
              <a:off x="609600" y="2324100"/>
              <a:ext cx="5257800" cy="2209800"/>
            </a:xfrm>
            <a:prstGeom prst="roundRect">
              <a:avLst>
                <a:gd name="adj" fmla="val 4310"/>
              </a:avLst>
            </a:prstGeom>
            <a:solidFill>
              <a:srgbClr val="FFFFFF"/>
            </a:solidFill>
            <a:ln w="14288">
              <a:solidFill>
                <a:srgbClr val="B8CBD3"/>
              </a:solidFill>
            </a:ln>
          </p:spPr>
        </p:sp>
        <p:sp>
          <p:nvSpPr>
            <p:cNvPr id="16" name="Rectangle 16"/>
            <p:cNvSpPr/>
            <p:nvPr/>
          </p:nvSpPr>
          <p:spPr>
            <a:xfrm>
              <a:off x="609600" y="2324100"/>
              <a:ext cx="5257800" cy="457200"/>
            </a:xfrm>
            <a:prstGeom prst="roundRect">
              <a:avLst>
                <a:gd name="adj" fmla="val 20833"/>
              </a:avLst>
            </a:prstGeom>
            <a:solidFill>
              <a:srgbClr val="52616B"/>
            </a:solidFill>
            <a:ln>
              <a:noFill/>
            </a:ln>
          </p:spPr>
        </p:sp>
        <p:sp>
          <p:nvSpPr>
            <p:cNvPr id="17" name="Rectangle 17"/>
            <p:cNvSpPr/>
            <p:nvPr/>
          </p:nvSpPr>
          <p:spPr>
            <a:xfrm>
              <a:off x="609600" y="2571750"/>
              <a:ext cx="5257800" cy="209550"/>
            </a:xfrm>
            <a:prstGeom prst="rect">
              <a:avLst/>
            </a:prstGeom>
            <a:solidFill>
              <a:srgbClr val="52616B"/>
            </a:solidFill>
            <a:ln>
              <a:noFill/>
            </a:ln>
          </p:spPr>
        </p:sp>
        <p:sp>
          <p:nvSpPr>
            <p:cNvPr id="18" name="TextBox 18"/>
            <p:cNvSpPr txBox="1"/>
            <p:nvPr/>
          </p:nvSpPr>
          <p:spPr>
            <a:xfrm>
              <a:off x="849249" y="2439829"/>
              <a:ext cx="2670007"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Buyrultucu (imperative)</a:t>
              </a:r>
            </a:p>
          </p:txBody>
        </p:sp>
        <p:sp>
          <p:nvSpPr>
            <p:cNvPr id="19" name="TextBox 19"/>
            <p:cNvSpPr txBox="1"/>
            <p:nvPr/>
          </p:nvSpPr>
          <p:spPr>
            <a:xfrm>
              <a:off x="851154" y="2956560"/>
              <a:ext cx="27745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docker run, docker volume create,</a:t>
              </a:r>
            </a:p>
          </p:txBody>
        </p:sp>
        <p:sp>
          <p:nvSpPr>
            <p:cNvPr id="20" name="TextBox 20"/>
            <p:cNvSpPr txBox="1"/>
            <p:nvPr/>
          </p:nvSpPr>
          <p:spPr>
            <a:xfrm>
              <a:off x="851154" y="3166110"/>
              <a:ext cx="312999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docker network create — her adım elle,</a:t>
              </a:r>
            </a:p>
          </p:txBody>
        </p:sp>
        <p:sp>
          <p:nvSpPr>
            <p:cNvPr id="21" name="TextBox 21"/>
            <p:cNvSpPr txBox="1"/>
            <p:nvPr/>
          </p:nvSpPr>
          <p:spPr>
            <a:xfrm>
              <a:off x="851154" y="3375660"/>
              <a:ext cx="252420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sırayla yazılır ve tekrarlanır.</a:t>
              </a:r>
            </a:p>
          </p:txBody>
        </p:sp>
        <p:sp>
          <p:nvSpPr>
            <p:cNvPr id="22" name="TextBox 22"/>
            <p:cNvSpPr txBox="1"/>
            <p:nvPr/>
          </p:nvSpPr>
          <p:spPr>
            <a:xfrm>
              <a:off x="851154" y="3699510"/>
              <a:ext cx="303896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"Ne yapılacağını" adım adım anlatır.</a:t>
              </a:r>
            </a:p>
          </p:txBody>
        </p:sp>
        <p:sp>
          <p:nvSpPr>
            <p:cNvPr id="23" name="TextBox 23"/>
            <p:cNvSpPr txBox="1"/>
            <p:nvPr/>
          </p:nvSpPr>
          <p:spPr>
            <a:xfrm>
              <a:off x="851154" y="4061460"/>
              <a:ext cx="351482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Ekip üyeleri arasında tutarsızlığa açıktır.</a:t>
              </a:r>
            </a:p>
          </p:txBody>
        </p:sp>
      </p:grpSp>
      <p:grpSp>
        <p:nvGrpSpPr>
          <p:cNvPr id="35" name="declarative-side"/>
          <p:cNvGrpSpPr/>
          <p:nvPr/>
        </p:nvGrpSpPr>
        <p:grpSpPr>
          <a:xfrm>
            <a:off x="6324600" y="2324100"/>
            <a:ext cx="5257800" cy="2209800"/>
            <a:chOff x="6324600" y="2324100"/>
            <a:chExt cx="5257800" cy="2209800"/>
          </a:xfrm>
        </p:grpSpPr>
        <p:sp>
          <p:nvSpPr>
            <p:cNvPr id="25" name="Rectangle 25"/>
            <p:cNvSpPr/>
            <p:nvPr/>
          </p:nvSpPr>
          <p:spPr>
            <a:xfrm>
              <a:off x="6324600" y="2324100"/>
              <a:ext cx="5257800" cy="2209800"/>
            </a:xfrm>
            <a:prstGeom prst="roundRect">
              <a:avLst>
                <a:gd name="adj" fmla="val 4310"/>
              </a:avLst>
            </a:prstGeom>
            <a:solidFill>
              <a:srgbClr val="FFFFFF"/>
            </a:solidFill>
            <a:ln w="14288">
              <a:solidFill>
                <a:srgbClr val="00A6A6"/>
              </a:solidFill>
            </a:ln>
          </p:spPr>
        </p:sp>
        <p:sp>
          <p:nvSpPr>
            <p:cNvPr id="26" name="Rectangle 26"/>
            <p:cNvSpPr/>
            <p:nvPr/>
          </p:nvSpPr>
          <p:spPr>
            <a:xfrm>
              <a:off x="6324600" y="2324100"/>
              <a:ext cx="5257800" cy="457200"/>
            </a:xfrm>
            <a:prstGeom prst="roundRect">
              <a:avLst>
                <a:gd name="adj" fmla="val 20833"/>
              </a:avLst>
            </a:prstGeom>
            <a:solidFill>
              <a:srgbClr val="12355B"/>
            </a:solidFill>
            <a:ln>
              <a:noFill/>
            </a:ln>
          </p:spPr>
        </p:sp>
        <p:sp>
          <p:nvSpPr>
            <p:cNvPr id="27" name="Rectangle 27"/>
            <p:cNvSpPr/>
            <p:nvPr/>
          </p:nvSpPr>
          <p:spPr>
            <a:xfrm>
              <a:off x="6324600" y="2571750"/>
              <a:ext cx="5257800" cy="209550"/>
            </a:xfrm>
            <a:prstGeom prst="rect">
              <a:avLst/>
            </a:prstGeom>
            <a:solidFill>
              <a:srgbClr val="12355B"/>
            </a:solidFill>
            <a:ln>
              <a:noFill/>
            </a:ln>
          </p:spPr>
        </p:sp>
        <p:sp>
          <p:nvSpPr>
            <p:cNvPr id="28" name="TextBox 28"/>
            <p:cNvSpPr txBox="1"/>
            <p:nvPr/>
          </p:nvSpPr>
          <p:spPr>
            <a:xfrm>
              <a:off x="6564249" y="2439829"/>
              <a:ext cx="2691717"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Bildirimsel (declarative)</a:t>
              </a:r>
            </a:p>
          </p:txBody>
        </p:sp>
        <p:sp>
          <p:nvSpPr>
            <p:cNvPr id="29" name="TextBox 29"/>
            <p:cNvSpPr txBox="1"/>
            <p:nvPr/>
          </p:nvSpPr>
          <p:spPr>
            <a:xfrm>
              <a:off x="6566154" y="2956560"/>
              <a:ext cx="298460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docker-compose.yml — tek dosya, tek</a:t>
              </a:r>
            </a:p>
          </p:txBody>
        </p:sp>
        <p:sp>
          <p:nvSpPr>
            <p:cNvPr id="30" name="TextBox 30"/>
            <p:cNvSpPr txBox="1"/>
            <p:nvPr/>
          </p:nvSpPr>
          <p:spPr>
            <a:xfrm>
              <a:off x="6566154" y="3166110"/>
              <a:ext cx="30734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komut (docker compose up) ile "olması</a:t>
              </a:r>
            </a:p>
          </p:txBody>
        </p:sp>
        <p:sp>
          <p:nvSpPr>
            <p:cNvPr id="31" name="TextBox 31"/>
            <p:cNvSpPr txBox="1"/>
            <p:nvPr/>
          </p:nvSpPr>
          <p:spPr>
            <a:xfrm>
              <a:off x="6566154" y="3375660"/>
              <a:ext cx="267766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gereken nihai durum" tanımlanır.</a:t>
              </a:r>
            </a:p>
          </p:txBody>
        </p:sp>
        <p:sp>
          <p:nvSpPr>
            <p:cNvPr id="32" name="TextBox 32"/>
            <p:cNvSpPr txBox="1"/>
            <p:nvPr/>
          </p:nvSpPr>
          <p:spPr>
            <a:xfrm>
              <a:off x="6566154" y="3699510"/>
              <a:ext cx="347143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Infrastructure as Code ilkesiyle uyumludur:</a:t>
              </a:r>
            </a:p>
          </p:txBody>
        </p:sp>
        <p:sp>
          <p:nvSpPr>
            <p:cNvPr id="33" name="TextBox 33"/>
            <p:cNvSpPr txBox="1"/>
            <p:nvPr/>
          </p:nvSpPr>
          <p:spPr>
            <a:xfrm>
              <a:off x="6566154" y="3909060"/>
              <a:ext cx="342884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sürüm kontrolüne eklenebilir, incelenebilir,</a:t>
              </a:r>
            </a:p>
          </p:txBody>
        </p:sp>
        <p:sp>
          <p:nvSpPr>
            <p:cNvPr id="34" name="TextBox 34"/>
            <p:cNvSpPr txBox="1"/>
            <p:nvPr/>
          </p:nvSpPr>
          <p:spPr>
            <a:xfrm>
              <a:off x="6566154" y="4118610"/>
              <a:ext cx="127223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tekrarlanabilir.</a:t>
              </a:r>
            </a:p>
          </p:txBody>
        </p:sp>
      </p:grpSp>
      <p:grpSp>
        <p:nvGrpSpPr>
          <p:cNvPr id="42" name="readiness-note"/>
          <p:cNvGrpSpPr/>
          <p:nvPr/>
        </p:nvGrpSpPr>
        <p:grpSpPr>
          <a:xfrm>
            <a:off x="609600" y="4838700"/>
            <a:ext cx="10972800" cy="1219200"/>
            <a:chOff x="609600" y="4838700"/>
            <a:chExt cx="10972800" cy="1219200"/>
          </a:xfrm>
        </p:grpSpPr>
        <p:sp>
          <p:nvSpPr>
            <p:cNvPr id="36" name="Rectangle 36"/>
            <p:cNvSpPr/>
            <p:nvPr/>
          </p:nvSpPr>
          <p:spPr>
            <a:xfrm>
              <a:off x="609600" y="4838700"/>
              <a:ext cx="10972800" cy="1219200"/>
            </a:xfrm>
            <a:prstGeom prst="roundRect">
              <a:avLst>
                <a:gd name="adj" fmla="val 6250"/>
              </a:avLst>
            </a:prstGeom>
            <a:solidFill>
              <a:srgbClr val="EAF4F6"/>
            </a:solidFill>
            <a:ln>
              <a:noFill/>
            </a:ln>
          </p:spPr>
        </p:sp>
        <p:sp>
          <p:nvSpPr>
            <p:cNvPr id="37" name="Rectangle 37"/>
            <p:cNvSpPr/>
            <p:nvPr/>
          </p:nvSpPr>
          <p:spPr>
            <a:xfrm>
              <a:off x="609600" y="4838700"/>
              <a:ext cx="57150" cy="1219200"/>
            </a:xfrm>
            <a:prstGeom prst="rect">
              <a:avLst/>
            </a:prstGeom>
            <a:solidFill>
              <a:srgbClr val="00A6A6"/>
            </a:solidFill>
            <a:ln>
              <a:noFill/>
            </a:ln>
          </p:spPr>
        </p:sp>
        <p:sp>
          <p:nvSpPr>
            <p:cNvPr id="38" name="TextBox 38"/>
            <p:cNvSpPr txBox="1"/>
            <p:nvPr/>
          </p:nvSpPr>
          <p:spPr>
            <a:xfrm>
              <a:off x="906399" y="4973479"/>
              <a:ext cx="193382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Sıra ≠ hazır olma</a:t>
              </a:r>
            </a:p>
          </p:txBody>
        </p:sp>
        <p:sp>
          <p:nvSpPr>
            <p:cNvPr id="39" name="TextBox 39"/>
            <p:cNvSpPr txBox="1"/>
            <p:nvPr/>
          </p:nvSpPr>
          <p:spPr>
            <a:xfrm>
              <a:off x="906399" y="5240179"/>
              <a:ext cx="943859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depends_on yalnızca başlatma sırasını garanti eder, servisin istek almaya hazır olduğunu</a:t>
              </a:r>
            </a:p>
          </p:txBody>
        </p:sp>
        <p:sp>
          <p:nvSpPr>
            <p:cNvPr id="40" name="TextBox 40"/>
            <p:cNvSpPr txBox="1"/>
            <p:nvPr/>
          </p:nvSpPr>
          <p:spPr>
            <a:xfrm>
              <a:off x="906399" y="5468779"/>
              <a:ext cx="847762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değil — PostgreSQL başlar ama bağlantı kabul etmesi birkaç saniye daha sürebilir.</a:t>
              </a:r>
            </a:p>
          </p:txBody>
        </p:sp>
        <p:sp>
          <p:nvSpPr>
            <p:cNvPr id="41" name="TextBox 41"/>
            <p:cNvSpPr txBox="1"/>
            <p:nvPr/>
          </p:nvSpPr>
          <p:spPr>
            <a:xfrm>
              <a:off x="908304" y="5775960"/>
              <a:ext cx="772322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ayrım, üretim sistemlerinde ayrı bir healthcheck mekanizmasının neden var olduğunu açıklar.</a:t>
              </a:r>
            </a:p>
          </p:txBody>
        </p:sp>
      </p:grpSp>
      <p:sp>
        <p:nvSpPr>
          <p:cNvPr id="43" name="TextBox 4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792623" cy="668845"/>
            <a:chOff x="609600" y="171450"/>
            <a:chExt cx="8792623"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81022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14.6: docker-compose.yml anatomisi</a:t>
              </a:r>
            </a:p>
          </p:txBody>
        </p:sp>
      </p:grpSp>
      <p:grpSp>
        <p:nvGrpSpPr>
          <p:cNvPr id="28" name="code-block"/>
          <p:cNvGrpSpPr/>
          <p:nvPr/>
        </p:nvGrpSpPr>
        <p:grpSpPr>
          <a:xfrm>
            <a:off x="609600" y="1181100"/>
            <a:ext cx="6286500" cy="4381500"/>
            <a:chOff x="609600" y="1181100"/>
            <a:chExt cx="6286500" cy="4381500"/>
          </a:xfrm>
        </p:grpSpPr>
        <p:sp>
          <p:nvSpPr>
            <p:cNvPr id="9" name="Rectangle 9"/>
            <p:cNvSpPr/>
            <p:nvPr/>
          </p:nvSpPr>
          <p:spPr>
            <a:xfrm>
              <a:off x="609600" y="1181100"/>
              <a:ext cx="6286500" cy="4381500"/>
            </a:xfrm>
            <a:prstGeom prst="roundRect">
              <a:avLst>
                <a:gd name="adj" fmla="val 1739"/>
              </a:avLst>
            </a:prstGeom>
            <a:solidFill>
              <a:srgbClr val="12355B"/>
            </a:solidFill>
            <a:ln>
              <a:noFill/>
            </a:ln>
          </p:spPr>
        </p:sp>
        <p:sp>
          <p:nvSpPr>
            <p:cNvPr id="10" name="TextBox 10"/>
            <p:cNvSpPr txBox="1"/>
            <p:nvPr/>
          </p:nvSpPr>
          <p:spPr>
            <a:xfrm>
              <a:off x="832104" y="1318260"/>
              <a:ext cx="811835"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services:</a:t>
              </a:r>
            </a:p>
          </p:txBody>
        </p:sp>
        <p:sp>
          <p:nvSpPr>
            <p:cNvPr id="11" name="TextBox 11"/>
            <p:cNvSpPr txBox="1"/>
            <p:nvPr/>
          </p:nvSpPr>
          <p:spPr>
            <a:xfrm>
              <a:off x="832104" y="1527810"/>
              <a:ext cx="125608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kutuphane-api:</a:t>
              </a:r>
            </a:p>
          </p:txBody>
        </p:sp>
        <p:sp>
          <p:nvSpPr>
            <p:cNvPr id="12" name="TextBox 12"/>
            <p:cNvSpPr txBox="1"/>
            <p:nvPr/>
          </p:nvSpPr>
          <p:spPr>
            <a:xfrm>
              <a:off x="832104" y="1737360"/>
              <a:ext cx="72298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build: .</a:t>
              </a:r>
            </a:p>
          </p:txBody>
        </p:sp>
        <p:sp>
          <p:nvSpPr>
            <p:cNvPr id="13" name="TextBox 13"/>
            <p:cNvSpPr txBox="1"/>
            <p:nvPr/>
          </p:nvSpPr>
          <p:spPr>
            <a:xfrm>
              <a:off x="832104" y="1946910"/>
              <a:ext cx="54528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ports:</a:t>
              </a:r>
            </a:p>
          </p:txBody>
        </p:sp>
        <p:sp>
          <p:nvSpPr>
            <p:cNvPr id="14" name="TextBox 14"/>
            <p:cNvSpPr txBox="1"/>
            <p:nvPr/>
          </p:nvSpPr>
          <p:spPr>
            <a:xfrm>
              <a:off x="832104" y="2156460"/>
              <a:ext cx="116723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 "3000:3000"</a:t>
              </a:r>
            </a:p>
          </p:txBody>
        </p:sp>
        <p:sp>
          <p:nvSpPr>
            <p:cNvPr id="15" name="TextBox 15"/>
            <p:cNvSpPr txBox="1"/>
            <p:nvPr/>
          </p:nvSpPr>
          <p:spPr>
            <a:xfrm>
              <a:off x="832104" y="2366010"/>
              <a:ext cx="107838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environment:</a:t>
              </a:r>
            </a:p>
          </p:txBody>
        </p:sp>
        <p:sp>
          <p:nvSpPr>
            <p:cNvPr id="16" name="TextBox 16"/>
            <p:cNvSpPr txBox="1"/>
            <p:nvPr/>
          </p:nvSpPr>
          <p:spPr>
            <a:xfrm>
              <a:off x="832104" y="2575560"/>
              <a:ext cx="357538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DATABASE_URL: ...@kutuphane-db:5432/...</a:t>
              </a:r>
            </a:p>
          </p:txBody>
        </p:sp>
        <p:sp>
          <p:nvSpPr>
            <p:cNvPr id="17" name="TextBox 17"/>
            <p:cNvSpPr txBox="1"/>
            <p:nvPr/>
          </p:nvSpPr>
          <p:spPr>
            <a:xfrm>
              <a:off x="832104" y="2785110"/>
              <a:ext cx="989533"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depends_on:</a:t>
              </a:r>
            </a:p>
          </p:txBody>
        </p:sp>
        <p:sp>
          <p:nvSpPr>
            <p:cNvPr id="18" name="TextBox 18"/>
            <p:cNvSpPr txBox="1"/>
            <p:nvPr/>
          </p:nvSpPr>
          <p:spPr>
            <a:xfrm>
              <a:off x="832104" y="2994660"/>
              <a:ext cx="125608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kutuphane-db</a:t>
              </a:r>
            </a:p>
          </p:txBody>
        </p:sp>
        <p:sp>
          <p:nvSpPr>
            <p:cNvPr id="19" name="TextBox 19"/>
            <p:cNvSpPr txBox="1"/>
            <p:nvPr/>
          </p:nvSpPr>
          <p:spPr>
            <a:xfrm>
              <a:off x="832104" y="3280410"/>
              <a:ext cx="116723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kutuphane-db:</a:t>
              </a:r>
            </a:p>
          </p:txBody>
        </p:sp>
        <p:sp>
          <p:nvSpPr>
            <p:cNvPr id="20" name="TextBox 20"/>
            <p:cNvSpPr txBox="1"/>
            <p:nvPr/>
          </p:nvSpPr>
          <p:spPr>
            <a:xfrm>
              <a:off x="832104" y="3489960"/>
              <a:ext cx="223342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image: postgres:17-alpine</a:t>
              </a:r>
            </a:p>
          </p:txBody>
        </p:sp>
        <p:sp>
          <p:nvSpPr>
            <p:cNvPr id="21" name="TextBox 21"/>
            <p:cNvSpPr txBox="1"/>
            <p:nvPr/>
          </p:nvSpPr>
          <p:spPr>
            <a:xfrm>
              <a:off x="832104" y="3699510"/>
              <a:ext cx="107838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environment:</a:t>
              </a:r>
            </a:p>
          </p:txBody>
        </p:sp>
        <p:sp>
          <p:nvSpPr>
            <p:cNvPr id="22" name="TextBox 22"/>
            <p:cNvSpPr txBox="1"/>
            <p:nvPr/>
          </p:nvSpPr>
          <p:spPr>
            <a:xfrm>
              <a:off x="832104" y="3909060"/>
              <a:ext cx="347839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POSTGRES_PASSWORD: gelistirme_parolasi</a:t>
              </a:r>
            </a:p>
          </p:txBody>
        </p:sp>
        <p:sp>
          <p:nvSpPr>
            <p:cNvPr id="23" name="TextBox 23"/>
            <p:cNvSpPr txBox="1"/>
            <p:nvPr/>
          </p:nvSpPr>
          <p:spPr>
            <a:xfrm>
              <a:off x="832104" y="4118610"/>
              <a:ext cx="202510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POSTGRES_DB: kutuphane</a:t>
              </a:r>
            </a:p>
          </p:txBody>
        </p:sp>
        <p:sp>
          <p:nvSpPr>
            <p:cNvPr id="24" name="TextBox 24"/>
            <p:cNvSpPr txBox="1"/>
            <p:nvPr/>
          </p:nvSpPr>
          <p:spPr>
            <a:xfrm>
              <a:off x="832104" y="4328160"/>
              <a:ext cx="722986"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volumes:</a:t>
              </a:r>
            </a:p>
          </p:txBody>
        </p:sp>
        <p:sp>
          <p:nvSpPr>
            <p:cNvPr id="25" name="TextBox 25"/>
            <p:cNvSpPr txBox="1"/>
            <p:nvPr/>
          </p:nvSpPr>
          <p:spPr>
            <a:xfrm>
              <a:off x="832104" y="4537710"/>
              <a:ext cx="4099255"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kutuphane-db-verisi:/var/lib/postgresql/data</a:t>
              </a:r>
            </a:p>
          </p:txBody>
        </p:sp>
        <p:sp>
          <p:nvSpPr>
            <p:cNvPr id="26" name="TextBox 26"/>
            <p:cNvSpPr txBox="1"/>
            <p:nvPr/>
          </p:nvSpPr>
          <p:spPr>
            <a:xfrm>
              <a:off x="832104" y="4842510"/>
              <a:ext cx="722986"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volumes:</a:t>
              </a:r>
            </a:p>
          </p:txBody>
        </p:sp>
        <p:sp>
          <p:nvSpPr>
            <p:cNvPr id="27" name="TextBox 27"/>
            <p:cNvSpPr txBox="1"/>
            <p:nvPr/>
          </p:nvSpPr>
          <p:spPr>
            <a:xfrm>
              <a:off x="832104" y="5052060"/>
              <a:ext cx="1789176"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kutuphane-db-verisi:</a:t>
              </a:r>
            </a:p>
          </p:txBody>
        </p:sp>
      </p:grpSp>
      <p:grpSp>
        <p:nvGrpSpPr>
          <p:cNvPr id="44" name="annotations"/>
          <p:cNvGrpSpPr/>
          <p:nvPr/>
        </p:nvGrpSpPr>
        <p:grpSpPr>
          <a:xfrm>
            <a:off x="6667500" y="1181100"/>
            <a:ext cx="4914900" cy="3981450"/>
            <a:chOff x="6667500" y="1181100"/>
            <a:chExt cx="4914900" cy="3981450"/>
          </a:xfrm>
        </p:grpSpPr>
        <p:sp>
          <p:nvSpPr>
            <p:cNvPr id="29" name="Rectangle 29"/>
            <p:cNvSpPr/>
            <p:nvPr/>
          </p:nvSpPr>
          <p:spPr>
            <a:xfrm>
              <a:off x="7124700" y="2762250"/>
              <a:ext cx="4457700" cy="571500"/>
            </a:xfrm>
            <a:prstGeom prst="roundRect">
              <a:avLst>
                <a:gd name="adj" fmla="val 10000"/>
              </a:avLst>
            </a:prstGeom>
            <a:solidFill>
              <a:srgbClr val="EAF4F6"/>
            </a:solidFill>
            <a:ln w="14288">
              <a:solidFill>
                <a:srgbClr val="00A6A6"/>
              </a:solidFill>
            </a:ln>
          </p:spPr>
        </p:sp>
        <p:sp>
          <p:nvSpPr>
            <p:cNvPr id="30" name="TextBox 30"/>
            <p:cNvSpPr txBox="1"/>
            <p:nvPr/>
          </p:nvSpPr>
          <p:spPr>
            <a:xfrm>
              <a:off x="7309104" y="2842260"/>
              <a:ext cx="94510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depends_on</a:t>
              </a:r>
            </a:p>
          </p:txBody>
        </p:sp>
        <p:sp>
          <p:nvSpPr>
            <p:cNvPr id="31" name="TextBox 31"/>
            <p:cNvSpPr txBox="1"/>
            <p:nvPr/>
          </p:nvSpPr>
          <p:spPr>
            <a:xfrm>
              <a:off x="7309104" y="3051810"/>
              <a:ext cx="283113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yalnızca başlatma sırasını belirler</a:t>
              </a:r>
            </a:p>
          </p:txBody>
        </p:sp>
        <p:sp>
          <p:nvSpPr>
            <p:cNvPr id="32" name="Line 32"/>
            <p:cNvSpPr/>
            <p:nvPr/>
          </p:nvSpPr>
          <p:spPr>
            <a:xfrm>
              <a:off x="6667500" y="3009900"/>
              <a:ext cx="457200" cy="38100"/>
            </a:xfrm>
            <a:custGeom>
              <a:avLst/>
              <a:gdLst/>
              <a:ahLst/>
              <a:cxnLst/>
              <a:rect l="l" t="t" r="r" b="b"/>
              <a:pathLst>
                <a:path w="457200" h="38100">
                  <a:moveTo>
                    <a:pt x="457200" y="38100"/>
                  </a:moveTo>
                  <a:lnTo>
                    <a:pt x="0" y="0"/>
                  </a:lnTo>
                </a:path>
              </a:pathLst>
            </a:custGeom>
            <a:noFill/>
            <a:ln w="14288">
              <a:solidFill>
                <a:srgbClr val="00A6A6"/>
              </a:solidFill>
            </a:ln>
          </p:spPr>
        </p:sp>
        <p:sp>
          <p:nvSpPr>
            <p:cNvPr id="33" name="Rectangle 33"/>
            <p:cNvSpPr/>
            <p:nvPr/>
          </p:nvSpPr>
          <p:spPr>
            <a:xfrm>
              <a:off x="7124700" y="4305300"/>
              <a:ext cx="4457700" cy="857250"/>
            </a:xfrm>
            <a:prstGeom prst="roundRect">
              <a:avLst>
                <a:gd name="adj" fmla="val 6667"/>
              </a:avLst>
            </a:prstGeom>
            <a:solidFill>
              <a:srgbClr val="EAF4F6"/>
            </a:solidFill>
            <a:ln w="14288">
              <a:solidFill>
                <a:srgbClr val="00A6A6"/>
              </a:solidFill>
            </a:ln>
          </p:spPr>
        </p:sp>
        <p:sp>
          <p:nvSpPr>
            <p:cNvPr id="34" name="TextBox 34"/>
            <p:cNvSpPr txBox="1"/>
            <p:nvPr/>
          </p:nvSpPr>
          <p:spPr>
            <a:xfrm>
              <a:off x="7309104" y="4404360"/>
              <a:ext cx="125890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volumes bölümü</a:t>
              </a:r>
            </a:p>
          </p:txBody>
        </p:sp>
        <p:sp>
          <p:nvSpPr>
            <p:cNvPr id="35" name="TextBox 35"/>
            <p:cNvSpPr txBox="1"/>
            <p:nvPr/>
          </p:nvSpPr>
          <p:spPr>
            <a:xfrm>
              <a:off x="7309104" y="4613910"/>
              <a:ext cx="304921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kutuphane-db-verisi adlandırılmış bir</a:t>
              </a:r>
            </a:p>
          </p:txBody>
        </p:sp>
        <p:sp>
          <p:nvSpPr>
            <p:cNvPr id="36" name="TextBox 36"/>
            <p:cNvSpPr txBox="1"/>
            <p:nvPr/>
          </p:nvSpPr>
          <p:spPr>
            <a:xfrm>
              <a:off x="7309104" y="4823460"/>
              <a:ext cx="241655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Docker volume'unu temsil eder</a:t>
              </a:r>
            </a:p>
          </p:txBody>
        </p:sp>
        <p:sp>
          <p:nvSpPr>
            <p:cNvPr id="37" name="Line 37"/>
            <p:cNvSpPr/>
            <p:nvPr/>
          </p:nvSpPr>
          <p:spPr>
            <a:xfrm>
              <a:off x="6667500" y="4552950"/>
              <a:ext cx="457200" cy="19050"/>
            </a:xfrm>
            <a:custGeom>
              <a:avLst/>
              <a:gdLst/>
              <a:ahLst/>
              <a:cxnLst/>
              <a:rect l="l" t="t" r="r" b="b"/>
              <a:pathLst>
                <a:path w="457200" h="19050">
                  <a:moveTo>
                    <a:pt x="457200" y="19050"/>
                  </a:moveTo>
                  <a:lnTo>
                    <a:pt x="0" y="0"/>
                  </a:lnTo>
                </a:path>
              </a:pathLst>
            </a:custGeom>
            <a:noFill/>
            <a:ln w="14288">
              <a:solidFill>
                <a:srgbClr val="00A6A6"/>
              </a:solidFill>
            </a:ln>
          </p:spPr>
        </p:sp>
        <p:sp>
          <p:nvSpPr>
            <p:cNvPr id="38" name="Rectangle 38"/>
            <p:cNvSpPr/>
            <p:nvPr/>
          </p:nvSpPr>
          <p:spPr>
            <a:xfrm>
              <a:off x="7124700" y="1181100"/>
              <a:ext cx="4457700" cy="1333500"/>
            </a:xfrm>
            <a:prstGeom prst="roundRect">
              <a:avLst>
                <a:gd name="adj" fmla="val 4286"/>
              </a:avLst>
            </a:prstGeom>
            <a:solidFill>
              <a:srgbClr val="FFFFFF"/>
            </a:solidFill>
            <a:ln w="14288">
              <a:solidFill>
                <a:srgbClr val="B8CBD3"/>
              </a:solidFill>
            </a:ln>
          </p:spPr>
        </p:sp>
        <p:sp>
          <p:nvSpPr>
            <p:cNvPr id="39" name="TextBox 39"/>
            <p:cNvSpPr txBox="1"/>
            <p:nvPr/>
          </p:nvSpPr>
          <p:spPr>
            <a:xfrm>
              <a:off x="7345299" y="1315879"/>
              <a:ext cx="201118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Otomatik network</a:t>
              </a:r>
            </a:p>
          </p:txBody>
        </p:sp>
        <p:sp>
          <p:nvSpPr>
            <p:cNvPr id="40" name="TextBox 40"/>
            <p:cNvSpPr txBox="1"/>
            <p:nvPr/>
          </p:nvSpPr>
          <p:spPr>
            <a:xfrm>
              <a:off x="7347204" y="1642110"/>
              <a:ext cx="342598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Compose, services altındaki her servis için</a:t>
              </a:r>
            </a:p>
          </p:txBody>
        </p:sp>
        <p:sp>
          <p:nvSpPr>
            <p:cNvPr id="41" name="TextBox 41"/>
            <p:cNvSpPr txBox="1"/>
            <p:nvPr/>
          </p:nvSpPr>
          <p:spPr>
            <a:xfrm>
              <a:off x="7347204" y="1851660"/>
              <a:ext cx="33561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otomatik bir network oluşturur; servisler</a:t>
              </a:r>
            </a:p>
          </p:txBody>
        </p:sp>
        <p:sp>
          <p:nvSpPr>
            <p:cNvPr id="42" name="TextBox 42"/>
            <p:cNvSpPr txBox="1"/>
            <p:nvPr/>
          </p:nvSpPr>
          <p:spPr>
            <a:xfrm>
              <a:off x="7347204" y="2061210"/>
              <a:ext cx="369539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birbirine servis adıyla (kutuphane-db) ulaşır.</a:t>
              </a:r>
            </a:p>
          </p:txBody>
        </p:sp>
        <p:sp>
          <p:nvSpPr>
            <p:cNvPr id="43" name="TextBox 43"/>
            <p:cNvSpPr txBox="1"/>
            <p:nvPr/>
          </p:nvSpPr>
          <p:spPr>
            <a:xfrm>
              <a:off x="7347204" y="2270760"/>
              <a:ext cx="303858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Elle docker network create gerekmez.</a:t>
              </a:r>
            </a:p>
          </p:txBody>
        </p:sp>
      </p:grpSp>
      <p:grpSp>
        <p:nvGrpSpPr>
          <p:cNvPr id="46" name="command-note"/>
          <p:cNvGrpSpPr/>
          <p:nvPr/>
        </p:nvGrpSpPr>
        <p:grpSpPr>
          <a:xfrm>
            <a:off x="603504" y="5852160"/>
            <a:ext cx="8564071" cy="234696"/>
            <a:chOff x="603504" y="5852160"/>
            <a:chExt cx="8564071" cy="234696"/>
          </a:xfrm>
        </p:grpSpPr>
        <p:sp>
          <p:nvSpPr>
            <p:cNvPr id="45" name="TextBox 45"/>
            <p:cNvSpPr txBox="1"/>
            <p:nvPr/>
          </p:nvSpPr>
          <p:spPr>
            <a:xfrm>
              <a:off x="603504" y="5852160"/>
              <a:ext cx="856407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Yönetim: docker compose up --build -d · docker compose ps · docker compose logs -f · docker compose down</a:t>
              </a:r>
            </a:p>
          </p:txBody>
        </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468671" cy="557403"/>
            <a:chOff x="595122" y="282892"/>
            <a:chExt cx="8468671" cy="557403"/>
          </a:xfrm>
        </p:grpSpPr>
        <p:sp>
          <p:nvSpPr>
            <p:cNvPr id="4" name="TextBox 4"/>
            <p:cNvSpPr txBox="1"/>
            <p:nvPr/>
          </p:nvSpPr>
          <p:spPr>
            <a:xfrm>
              <a:off x="595122" y="282892"/>
              <a:ext cx="846867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depends_on'un gerçek anlamı: healthcheck</a:t>
              </a:r>
            </a:p>
          </p:txBody>
        </p:sp>
      </p:grpSp>
      <p:grpSp>
        <p:nvGrpSpPr>
          <p:cNvPr id="11" name="myth-block"/>
          <p:cNvGrpSpPr/>
          <p:nvPr/>
        </p:nvGrpSpPr>
        <p:grpSpPr>
          <a:xfrm>
            <a:off x="609600" y="1181100"/>
            <a:ext cx="10972800" cy="829056"/>
            <a:chOff x="609600" y="1181100"/>
            <a:chExt cx="10972800" cy="829056"/>
          </a:xfrm>
        </p:grpSpPr>
        <p:sp>
          <p:nvSpPr>
            <p:cNvPr id="6" name="Rectangle 6"/>
            <p:cNvSpPr/>
            <p:nvPr/>
          </p:nvSpPr>
          <p:spPr>
            <a:xfrm>
              <a:off x="609600" y="1181100"/>
              <a:ext cx="10972800" cy="800100"/>
            </a:xfrm>
            <a:prstGeom prst="roundRect">
              <a:avLst>
                <a:gd name="adj" fmla="val 9524"/>
              </a:avLst>
            </a:prstGeom>
            <a:solidFill>
              <a:srgbClr val="EAF4F6"/>
            </a:solidFill>
            <a:ln>
              <a:noFill/>
            </a:ln>
          </p:spPr>
        </p:sp>
        <p:sp>
          <p:nvSpPr>
            <p:cNvPr id="7" name="Rectangle 7"/>
            <p:cNvSpPr/>
            <p:nvPr/>
          </p:nvSpPr>
          <p:spPr>
            <a:xfrm>
              <a:off x="609600" y="1181100"/>
              <a:ext cx="57150" cy="800100"/>
            </a:xfrm>
            <a:prstGeom prst="rect">
              <a:avLst/>
            </a:prstGeom>
            <a:solidFill>
              <a:srgbClr val="00A6A6"/>
            </a:solidFill>
            <a:ln>
              <a:noFill/>
            </a:ln>
          </p:spPr>
        </p:sp>
        <p:sp>
          <p:nvSpPr>
            <p:cNvPr id="8" name="TextBox 8"/>
            <p:cNvSpPr txBox="1"/>
            <p:nvPr/>
          </p:nvSpPr>
          <p:spPr>
            <a:xfrm>
              <a:off x="906399" y="1315879"/>
              <a:ext cx="131867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a:t>
              </a:r>
            </a:p>
          </p:txBody>
        </p:sp>
        <p:sp>
          <p:nvSpPr>
            <p:cNvPr id="9" name="TextBox 9"/>
            <p:cNvSpPr txBox="1"/>
            <p:nvPr/>
          </p:nvSpPr>
          <p:spPr>
            <a:xfrm>
              <a:off x="906399" y="1582579"/>
              <a:ext cx="974700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depends_on'un veritabanının tamamen hazır olmasını garanti ettiğini sanmak; oysa yalnızca</a:t>
              </a:r>
            </a:p>
          </p:txBody>
        </p:sp>
        <p:sp>
          <p:nvSpPr>
            <p:cNvPr id="10" name="TextBox 10"/>
            <p:cNvSpPr txBox="1"/>
            <p:nvPr/>
          </p:nvSpPr>
          <p:spPr>
            <a:xfrm>
              <a:off x="908304" y="1775460"/>
              <a:ext cx="753206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container'ın başlatılma sırasını belirler, içindeki servisin hazır olup olmadığını denetlemez.</a:t>
              </a:r>
            </a:p>
          </p:txBody>
        </p:sp>
      </p:grpSp>
      <p:grpSp>
        <p:nvGrpSpPr>
          <p:cNvPr id="24" name="code-block"/>
          <p:cNvGrpSpPr/>
          <p:nvPr/>
        </p:nvGrpSpPr>
        <p:grpSpPr>
          <a:xfrm>
            <a:off x="609600" y="2209800"/>
            <a:ext cx="6096000" cy="2857500"/>
            <a:chOff x="609600" y="2209800"/>
            <a:chExt cx="6096000" cy="2857500"/>
          </a:xfrm>
        </p:grpSpPr>
        <p:sp>
          <p:nvSpPr>
            <p:cNvPr id="12" name="Rectangle 12"/>
            <p:cNvSpPr/>
            <p:nvPr/>
          </p:nvSpPr>
          <p:spPr>
            <a:xfrm>
              <a:off x="609600" y="2209800"/>
              <a:ext cx="6096000" cy="2857500"/>
            </a:xfrm>
            <a:prstGeom prst="roundRect">
              <a:avLst>
                <a:gd name="adj" fmla="val 2667"/>
              </a:avLst>
            </a:prstGeom>
            <a:solidFill>
              <a:srgbClr val="12355B"/>
            </a:solidFill>
            <a:ln>
              <a:noFill/>
            </a:ln>
          </p:spPr>
        </p:sp>
        <p:sp>
          <p:nvSpPr>
            <p:cNvPr id="13" name="TextBox 13"/>
            <p:cNvSpPr txBox="1"/>
            <p:nvPr/>
          </p:nvSpPr>
          <p:spPr>
            <a:xfrm>
              <a:off x="832104" y="2346960"/>
              <a:ext cx="811835"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services:</a:t>
              </a:r>
            </a:p>
          </p:txBody>
        </p:sp>
        <p:sp>
          <p:nvSpPr>
            <p:cNvPr id="14" name="TextBox 14"/>
            <p:cNvSpPr txBox="1"/>
            <p:nvPr/>
          </p:nvSpPr>
          <p:spPr>
            <a:xfrm>
              <a:off x="832104" y="2556510"/>
              <a:ext cx="125608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kutuphane-api:</a:t>
              </a:r>
            </a:p>
          </p:txBody>
        </p:sp>
        <p:sp>
          <p:nvSpPr>
            <p:cNvPr id="15" name="TextBox 15"/>
            <p:cNvSpPr txBox="1"/>
            <p:nvPr/>
          </p:nvSpPr>
          <p:spPr>
            <a:xfrm>
              <a:off x="832104" y="2766060"/>
              <a:ext cx="72298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build: .</a:t>
              </a:r>
            </a:p>
          </p:txBody>
        </p:sp>
        <p:sp>
          <p:nvSpPr>
            <p:cNvPr id="16" name="TextBox 16"/>
            <p:cNvSpPr txBox="1"/>
            <p:nvPr/>
          </p:nvSpPr>
          <p:spPr>
            <a:xfrm>
              <a:off x="832104" y="2975610"/>
              <a:ext cx="989533"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depends_on:</a:t>
              </a:r>
            </a:p>
          </p:txBody>
        </p:sp>
        <p:sp>
          <p:nvSpPr>
            <p:cNvPr id="17" name="TextBox 17"/>
            <p:cNvSpPr txBox="1"/>
            <p:nvPr/>
          </p:nvSpPr>
          <p:spPr>
            <a:xfrm>
              <a:off x="832104" y="3185160"/>
              <a:ext cx="116723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kutuphane-db:</a:t>
              </a:r>
            </a:p>
          </p:txBody>
        </p:sp>
        <p:sp>
          <p:nvSpPr>
            <p:cNvPr id="18" name="TextBox 18"/>
            <p:cNvSpPr txBox="1"/>
            <p:nvPr/>
          </p:nvSpPr>
          <p:spPr>
            <a:xfrm>
              <a:off x="832104" y="3394710"/>
              <a:ext cx="232227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condition: service_healthy</a:t>
              </a:r>
            </a:p>
          </p:txBody>
        </p:sp>
        <p:sp>
          <p:nvSpPr>
            <p:cNvPr id="19" name="TextBox 19"/>
            <p:cNvSpPr txBox="1"/>
            <p:nvPr/>
          </p:nvSpPr>
          <p:spPr>
            <a:xfrm>
              <a:off x="832104" y="3718560"/>
              <a:ext cx="116723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kutuphane-db:</a:t>
              </a:r>
            </a:p>
          </p:txBody>
        </p:sp>
        <p:sp>
          <p:nvSpPr>
            <p:cNvPr id="20" name="TextBox 20"/>
            <p:cNvSpPr txBox="1"/>
            <p:nvPr/>
          </p:nvSpPr>
          <p:spPr>
            <a:xfrm>
              <a:off x="832104" y="3928110"/>
              <a:ext cx="223342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image: postgres:17-alpine</a:t>
              </a:r>
            </a:p>
          </p:txBody>
        </p:sp>
        <p:sp>
          <p:nvSpPr>
            <p:cNvPr id="21" name="TextBox 21"/>
            <p:cNvSpPr txBox="1"/>
            <p:nvPr/>
          </p:nvSpPr>
          <p:spPr>
            <a:xfrm>
              <a:off x="832104" y="4137660"/>
              <a:ext cx="107838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healthcheck:</a:t>
              </a:r>
            </a:p>
          </p:txBody>
        </p:sp>
        <p:sp>
          <p:nvSpPr>
            <p:cNvPr id="22" name="TextBox 22"/>
            <p:cNvSpPr txBox="1"/>
            <p:nvPr/>
          </p:nvSpPr>
          <p:spPr>
            <a:xfrm>
              <a:off x="832104" y="4347210"/>
              <a:ext cx="407830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test: ["CMD-SHELL", "pg_isready -U postgres"]</a:t>
              </a:r>
            </a:p>
          </p:txBody>
        </p:sp>
        <p:sp>
          <p:nvSpPr>
            <p:cNvPr id="23" name="TextBox 23"/>
            <p:cNvSpPr txBox="1"/>
            <p:nvPr/>
          </p:nvSpPr>
          <p:spPr>
            <a:xfrm>
              <a:off x="832104" y="4556760"/>
              <a:ext cx="356616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interval: 2s · timeout: 3s · retries: 10</a:t>
              </a:r>
            </a:p>
          </p:txBody>
        </p:sp>
      </p:grpSp>
      <p:grpSp>
        <p:nvGrpSpPr>
          <p:cNvPr id="36" name="explain-block"/>
          <p:cNvGrpSpPr/>
          <p:nvPr/>
        </p:nvGrpSpPr>
        <p:grpSpPr>
          <a:xfrm>
            <a:off x="7010400" y="2209800"/>
            <a:ext cx="4572000" cy="2857500"/>
            <a:chOff x="7010400" y="2209800"/>
            <a:chExt cx="4572000" cy="2857500"/>
          </a:xfrm>
        </p:grpSpPr>
        <p:sp>
          <p:nvSpPr>
            <p:cNvPr id="25" name="Rectangle 25"/>
            <p:cNvSpPr/>
            <p:nvPr/>
          </p:nvSpPr>
          <p:spPr>
            <a:xfrm>
              <a:off x="7010400" y="2209800"/>
              <a:ext cx="4572000" cy="2857500"/>
            </a:xfrm>
            <a:prstGeom prst="roundRect">
              <a:avLst>
                <a:gd name="adj" fmla="val 2667"/>
              </a:avLst>
            </a:prstGeom>
            <a:solidFill>
              <a:srgbClr val="FFFFFF"/>
            </a:solidFill>
            <a:ln w="14288">
              <a:solidFill>
                <a:srgbClr val="B8CBD3"/>
              </a:solidFill>
            </a:ln>
          </p:spPr>
        </p:sp>
        <p:sp>
          <p:nvSpPr>
            <p:cNvPr id="26" name="TextBox 26"/>
            <p:cNvSpPr txBox="1"/>
            <p:nvPr/>
          </p:nvSpPr>
          <p:spPr>
            <a:xfrm>
              <a:off x="7230999" y="2344579"/>
              <a:ext cx="120712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 değişir?</a:t>
              </a:r>
            </a:p>
          </p:txBody>
        </p:sp>
        <p:sp>
          <p:nvSpPr>
            <p:cNvPr id="27" name="TextBox 27"/>
            <p:cNvSpPr txBox="1"/>
            <p:nvPr/>
          </p:nvSpPr>
          <p:spPr>
            <a:xfrm>
              <a:off x="7232904" y="2670810"/>
              <a:ext cx="286900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Compose, kutuphane-api'yi yalnızca</a:t>
              </a:r>
            </a:p>
          </p:txBody>
        </p:sp>
        <p:sp>
          <p:nvSpPr>
            <p:cNvPr id="28" name="TextBox 28"/>
            <p:cNvSpPr txBox="1"/>
            <p:nvPr/>
          </p:nvSpPr>
          <p:spPr>
            <a:xfrm>
              <a:off x="7232904" y="2880360"/>
              <a:ext cx="299267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kutuphane-db'nin healthcheck komutu</a:t>
              </a:r>
            </a:p>
          </p:txBody>
        </p:sp>
        <p:sp>
          <p:nvSpPr>
            <p:cNvPr id="29" name="TextBox 29"/>
            <p:cNvSpPr txBox="1"/>
            <p:nvPr/>
          </p:nvSpPr>
          <p:spPr>
            <a:xfrm>
              <a:off x="7232904" y="3089910"/>
              <a:ext cx="36711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başarılı dönmeye başladıktan sonra başlatır.</a:t>
              </a:r>
            </a:p>
          </p:txBody>
        </p:sp>
        <p:sp>
          <p:nvSpPr>
            <p:cNvPr id="30" name="TextBox 30"/>
            <p:cNvSpPr txBox="1"/>
            <p:nvPr/>
          </p:nvSpPr>
          <p:spPr>
            <a:xfrm>
              <a:off x="7232904" y="3413760"/>
              <a:ext cx="30869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uygulama kodundaki yeniden deneme</a:t>
              </a:r>
            </a:p>
          </p:txBody>
        </p:sp>
        <p:sp>
          <p:nvSpPr>
            <p:cNvPr id="31" name="TextBox 31"/>
            <p:cNvSpPr txBox="1"/>
            <p:nvPr/>
          </p:nvSpPr>
          <p:spPr>
            <a:xfrm>
              <a:off x="7232904" y="3623310"/>
              <a:ext cx="359039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(retry) mantığına duyulan ihtiyacı azaltır —</a:t>
              </a:r>
            </a:p>
          </p:txBody>
        </p:sp>
        <p:sp>
          <p:nvSpPr>
            <p:cNvPr id="32" name="TextBox 32"/>
            <p:cNvSpPr txBox="1"/>
            <p:nvPr/>
          </p:nvSpPr>
          <p:spPr>
            <a:xfrm>
              <a:off x="7232904" y="3832860"/>
              <a:ext cx="28715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ama tamamen ortadan kaldırmaz; ağ</a:t>
              </a:r>
            </a:p>
          </p:txBody>
        </p:sp>
        <p:sp>
          <p:nvSpPr>
            <p:cNvPr id="33" name="TextBox 33"/>
            <p:cNvSpPr txBox="1"/>
            <p:nvPr/>
          </p:nvSpPr>
          <p:spPr>
            <a:xfrm>
              <a:off x="7232904" y="4042410"/>
              <a:ext cx="354192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kesintisi gibi durumlara karşı retry mantığı</a:t>
              </a:r>
            </a:p>
          </p:txBody>
        </p:sp>
        <p:sp>
          <p:nvSpPr>
            <p:cNvPr id="34" name="TextBox 34"/>
            <p:cNvSpPr txBox="1"/>
            <p:nvPr/>
          </p:nvSpPr>
          <p:spPr>
            <a:xfrm>
              <a:off x="7232904" y="4251960"/>
              <a:ext cx="375193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yine de bir savunma katmanı olarak kalmalıdır.</a:t>
              </a:r>
            </a:p>
          </p:txBody>
        </p:sp>
        <p:sp>
          <p:nvSpPr>
            <p:cNvPr id="35" name="TextBox 35"/>
            <p:cNvSpPr txBox="1"/>
            <p:nvPr/>
          </p:nvSpPr>
          <p:spPr>
            <a:xfrm>
              <a:off x="7232904" y="4575810"/>
              <a:ext cx="361332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ayrım: "başlatma sırası" ≠ "hazır olma".</a:t>
              </a:r>
            </a:p>
          </p:txBody>
        </p:sp>
      </p:grpSp>
      <p:grpSp>
        <p:nvGrpSpPr>
          <p:cNvPr id="40" name="startup-note"/>
          <p:cNvGrpSpPr/>
          <p:nvPr/>
        </p:nvGrpSpPr>
        <p:grpSpPr>
          <a:xfrm>
            <a:off x="609600" y="5334000"/>
            <a:ext cx="10972800" cy="571500"/>
            <a:chOff x="609600" y="5334000"/>
            <a:chExt cx="10972800" cy="571500"/>
          </a:xfrm>
        </p:grpSpPr>
        <p:sp>
          <p:nvSpPr>
            <p:cNvPr id="37" name="Rectangle 37"/>
            <p:cNvSpPr/>
            <p:nvPr/>
          </p:nvSpPr>
          <p:spPr>
            <a:xfrm>
              <a:off x="609600" y="5334000"/>
              <a:ext cx="10972800" cy="571500"/>
            </a:xfrm>
            <a:prstGeom prst="roundRect">
              <a:avLst>
                <a:gd name="adj" fmla="val 13333"/>
              </a:avLst>
            </a:prstGeom>
            <a:solidFill>
              <a:srgbClr val="EAF4F6"/>
            </a:solidFill>
            <a:ln>
              <a:noFill/>
            </a:ln>
          </p:spPr>
        </p:sp>
        <p:sp>
          <p:nvSpPr>
            <p:cNvPr id="38" name="Rectangle 38"/>
            <p:cNvSpPr/>
            <p:nvPr/>
          </p:nvSpPr>
          <p:spPr>
            <a:xfrm>
              <a:off x="609600" y="5334000"/>
              <a:ext cx="57150" cy="571500"/>
            </a:xfrm>
            <a:prstGeom prst="rect">
              <a:avLst/>
            </a:prstGeom>
            <a:solidFill>
              <a:srgbClr val="00A6A6"/>
            </a:solidFill>
            <a:ln>
              <a:noFill/>
            </a:ln>
          </p:spPr>
        </p:sp>
        <p:sp>
          <p:nvSpPr>
            <p:cNvPr id="39" name="TextBox 39"/>
            <p:cNvSpPr txBox="1"/>
            <p:nvPr/>
          </p:nvSpPr>
          <p:spPr>
            <a:xfrm>
              <a:off x="906399" y="5506879"/>
              <a:ext cx="916911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PostgreSQL container'ı başlar, ama bağlantı kabul etmesi birkaç saniye daha sürebilir.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036715" cy="668845"/>
            <a:chOff x="609600" y="171450"/>
            <a:chExt cx="8036715"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734634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Geliştirme ile üretim Compose ayrımı</a:t>
              </a:r>
            </a:p>
          </p:txBody>
        </p:sp>
      </p:grpSp>
      <p:grpSp>
        <p:nvGrpSpPr>
          <p:cNvPr id="20" name="dev-col"/>
          <p:cNvGrpSpPr/>
          <p:nvPr/>
        </p:nvGrpSpPr>
        <p:grpSpPr>
          <a:xfrm>
            <a:off x="609600" y="1181100"/>
            <a:ext cx="5257800" cy="2743200"/>
            <a:chOff x="609600" y="1181100"/>
            <a:chExt cx="5257800" cy="2743200"/>
          </a:xfrm>
        </p:grpSpPr>
        <p:sp>
          <p:nvSpPr>
            <p:cNvPr id="9" name="Rectangle 9"/>
            <p:cNvSpPr/>
            <p:nvPr/>
          </p:nvSpPr>
          <p:spPr>
            <a:xfrm>
              <a:off x="609600" y="1181100"/>
              <a:ext cx="5257800" cy="2743200"/>
            </a:xfrm>
            <a:prstGeom prst="roundRect">
              <a:avLst>
                <a:gd name="adj" fmla="val 3472"/>
              </a:avLst>
            </a:prstGeom>
            <a:solidFill>
              <a:srgbClr val="FFFFFF"/>
            </a:solidFill>
            <a:ln w="14288">
              <a:solidFill>
                <a:srgbClr val="B8CBD3"/>
              </a:solidFill>
            </a:ln>
          </p:spPr>
        </p:sp>
        <p:sp>
          <p:nvSpPr>
            <p:cNvPr id="10" name="Rectangle 10"/>
            <p:cNvSpPr/>
            <p:nvPr/>
          </p:nvSpPr>
          <p:spPr>
            <a:xfrm>
              <a:off x="609600" y="1181100"/>
              <a:ext cx="5257800" cy="495300"/>
            </a:xfrm>
            <a:prstGeom prst="roundRect">
              <a:avLst>
                <a:gd name="adj" fmla="val 19231"/>
              </a:avLst>
            </a:prstGeom>
            <a:solidFill>
              <a:srgbClr val="2E86AB"/>
            </a:solidFill>
            <a:ln>
              <a:noFill/>
            </a:ln>
          </p:spPr>
        </p:sp>
        <p:sp>
          <p:nvSpPr>
            <p:cNvPr id="11" name="Rectangle 11"/>
            <p:cNvSpPr/>
            <p:nvPr/>
          </p:nvSpPr>
          <p:spPr>
            <a:xfrm>
              <a:off x="609600" y="1485900"/>
              <a:ext cx="5257800" cy="190500"/>
            </a:xfrm>
            <a:prstGeom prst="rect">
              <a:avLst/>
            </a:prstGeom>
            <a:solidFill>
              <a:srgbClr val="2E86AB"/>
            </a:solidFill>
            <a:ln>
              <a:noFill/>
            </a:ln>
          </p:spPr>
        </p:sp>
        <p:sp>
          <p:nvSpPr>
            <p:cNvPr id="12" name="TextBox 12"/>
            <p:cNvSpPr txBox="1"/>
            <p:nvPr/>
          </p:nvSpPr>
          <p:spPr>
            <a:xfrm>
              <a:off x="849249" y="1334929"/>
              <a:ext cx="1810458"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Geliştirme (dev)</a:t>
              </a:r>
            </a:p>
          </p:txBody>
        </p:sp>
        <p:sp>
          <p:nvSpPr>
            <p:cNvPr id="13" name="TextBox 13"/>
            <p:cNvSpPr txBox="1"/>
            <p:nvPr/>
          </p:nvSpPr>
          <p:spPr>
            <a:xfrm>
              <a:off x="851154" y="1889760"/>
              <a:ext cx="207743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Bind mount ile hot-reload:</a:t>
              </a:r>
            </a:p>
          </p:txBody>
        </p:sp>
        <p:sp>
          <p:nvSpPr>
            <p:cNvPr id="14" name="TextBox 14"/>
            <p:cNvSpPr txBox="1"/>
            <p:nvPr/>
          </p:nvSpPr>
          <p:spPr>
            <a:xfrm>
              <a:off x="851154" y="2099310"/>
              <a:ext cx="356616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kod değiştikçe container anlık yeniden başlar</a:t>
              </a:r>
            </a:p>
          </p:txBody>
        </p:sp>
        <p:sp>
          <p:nvSpPr>
            <p:cNvPr id="15" name="TextBox 15"/>
            <p:cNvSpPr txBox="1"/>
            <p:nvPr/>
          </p:nvSpPr>
          <p:spPr>
            <a:xfrm>
              <a:off x="851154" y="2385060"/>
              <a:ext cx="243779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Açık portlar (ör. 5432:5432):</a:t>
              </a:r>
            </a:p>
          </p:txBody>
        </p:sp>
        <p:sp>
          <p:nvSpPr>
            <p:cNvPr id="16" name="TextBox 16"/>
            <p:cNvSpPr txBox="1"/>
            <p:nvPr/>
          </p:nvSpPr>
          <p:spPr>
            <a:xfrm>
              <a:off x="851154" y="2594610"/>
              <a:ext cx="355808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veritabanına doğrudan araçtan bağlanılabilir</a:t>
              </a:r>
            </a:p>
          </p:txBody>
        </p:sp>
        <p:sp>
          <p:nvSpPr>
            <p:cNvPr id="17" name="TextBox 17"/>
            <p:cNvSpPr txBox="1"/>
            <p:nvPr/>
          </p:nvSpPr>
          <p:spPr>
            <a:xfrm>
              <a:off x="851154" y="2880360"/>
              <a:ext cx="202073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Ayrıntılı hata ayıklama:</a:t>
              </a:r>
            </a:p>
          </p:txBody>
        </p:sp>
        <p:sp>
          <p:nvSpPr>
            <p:cNvPr id="18" name="TextBox 18"/>
            <p:cNvSpPr txBox="1"/>
            <p:nvPr/>
          </p:nvSpPr>
          <p:spPr>
            <a:xfrm>
              <a:off x="851154" y="3089910"/>
              <a:ext cx="304114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log seviyesi ve hata izleri açık tutulur</a:t>
              </a:r>
            </a:p>
          </p:txBody>
        </p:sp>
        <p:sp>
          <p:nvSpPr>
            <p:cNvPr id="19" name="TextBox 19"/>
            <p:cNvSpPr txBox="1"/>
            <p:nvPr/>
          </p:nvSpPr>
          <p:spPr>
            <a:xfrm>
              <a:off x="851154" y="3470910"/>
              <a:ext cx="261021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Amaç: hızlı geri bildirim döngüsü</a:t>
              </a:r>
            </a:p>
          </p:txBody>
        </p:sp>
      </p:grpSp>
      <p:grpSp>
        <p:nvGrpSpPr>
          <p:cNvPr id="32" name="prod-col"/>
          <p:cNvGrpSpPr/>
          <p:nvPr/>
        </p:nvGrpSpPr>
        <p:grpSpPr>
          <a:xfrm>
            <a:off x="6324600" y="1181100"/>
            <a:ext cx="5257800" cy="2743200"/>
            <a:chOff x="6324600" y="1181100"/>
            <a:chExt cx="5257800" cy="2743200"/>
          </a:xfrm>
        </p:grpSpPr>
        <p:sp>
          <p:nvSpPr>
            <p:cNvPr id="21" name="Rectangle 21"/>
            <p:cNvSpPr/>
            <p:nvPr/>
          </p:nvSpPr>
          <p:spPr>
            <a:xfrm>
              <a:off x="6324600" y="1181100"/>
              <a:ext cx="5257800" cy="2743200"/>
            </a:xfrm>
            <a:prstGeom prst="roundRect">
              <a:avLst>
                <a:gd name="adj" fmla="val 3472"/>
              </a:avLst>
            </a:prstGeom>
            <a:solidFill>
              <a:srgbClr val="FFFFFF"/>
            </a:solidFill>
            <a:ln w="14288">
              <a:solidFill>
                <a:srgbClr val="00A6A6"/>
              </a:solidFill>
            </a:ln>
          </p:spPr>
        </p:sp>
        <p:sp>
          <p:nvSpPr>
            <p:cNvPr id="22" name="Rectangle 22"/>
            <p:cNvSpPr/>
            <p:nvPr/>
          </p:nvSpPr>
          <p:spPr>
            <a:xfrm>
              <a:off x="6324600" y="1181100"/>
              <a:ext cx="5257800" cy="495300"/>
            </a:xfrm>
            <a:prstGeom prst="roundRect">
              <a:avLst>
                <a:gd name="adj" fmla="val 19231"/>
              </a:avLst>
            </a:prstGeom>
            <a:solidFill>
              <a:srgbClr val="12355B"/>
            </a:solidFill>
            <a:ln>
              <a:noFill/>
            </a:ln>
          </p:spPr>
        </p:sp>
        <p:sp>
          <p:nvSpPr>
            <p:cNvPr id="23" name="Rectangle 23"/>
            <p:cNvSpPr/>
            <p:nvPr/>
          </p:nvSpPr>
          <p:spPr>
            <a:xfrm>
              <a:off x="6324600" y="1485900"/>
              <a:ext cx="5257800" cy="190500"/>
            </a:xfrm>
            <a:prstGeom prst="rect">
              <a:avLst/>
            </a:prstGeom>
            <a:solidFill>
              <a:srgbClr val="12355B"/>
            </a:solidFill>
            <a:ln>
              <a:noFill/>
            </a:ln>
          </p:spPr>
        </p:sp>
        <p:sp>
          <p:nvSpPr>
            <p:cNvPr id="24" name="TextBox 24"/>
            <p:cNvSpPr txBox="1"/>
            <p:nvPr/>
          </p:nvSpPr>
          <p:spPr>
            <a:xfrm>
              <a:off x="6564249" y="1334929"/>
              <a:ext cx="1554503"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Üretim (prod)</a:t>
              </a:r>
            </a:p>
          </p:txBody>
        </p:sp>
        <p:sp>
          <p:nvSpPr>
            <p:cNvPr id="25" name="TextBox 25"/>
            <p:cNvSpPr txBox="1"/>
            <p:nvPr/>
          </p:nvSpPr>
          <p:spPr>
            <a:xfrm>
              <a:off x="6566154" y="1889760"/>
              <a:ext cx="212576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Salt okunur container'lar:</a:t>
              </a:r>
            </a:p>
          </p:txBody>
        </p:sp>
        <p:sp>
          <p:nvSpPr>
            <p:cNvPr id="26" name="TextBox 26"/>
            <p:cNvSpPr txBox="1"/>
            <p:nvPr/>
          </p:nvSpPr>
          <p:spPr>
            <a:xfrm>
              <a:off x="6566154" y="2099310"/>
              <a:ext cx="363885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çalışma zamanında dosya değişikliği engellenir</a:t>
              </a:r>
            </a:p>
          </p:txBody>
        </p:sp>
        <p:sp>
          <p:nvSpPr>
            <p:cNvPr id="27" name="TextBox 27"/>
            <p:cNvSpPr txBox="1"/>
            <p:nvPr/>
          </p:nvSpPr>
          <p:spPr>
            <a:xfrm>
              <a:off x="6566154" y="2385060"/>
              <a:ext cx="276465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Kaynak sınırları (cpus, memory):</a:t>
              </a:r>
            </a:p>
          </p:txBody>
        </p:sp>
        <p:sp>
          <p:nvSpPr>
            <p:cNvPr id="28" name="TextBox 28"/>
            <p:cNvSpPr txBox="1"/>
            <p:nvPr/>
          </p:nvSpPr>
          <p:spPr>
            <a:xfrm>
              <a:off x="6566154" y="2594610"/>
              <a:ext cx="310576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bir servisin sunucuyu tüketmesi önlenir</a:t>
              </a:r>
            </a:p>
          </p:txBody>
        </p:sp>
        <p:sp>
          <p:nvSpPr>
            <p:cNvPr id="29" name="TextBox 29"/>
            <p:cNvSpPr txBox="1"/>
            <p:nvPr/>
          </p:nvSpPr>
          <p:spPr>
            <a:xfrm>
              <a:off x="6566154" y="2880360"/>
              <a:ext cx="31865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restart: unless-stopped + healthcheck:</a:t>
              </a:r>
            </a:p>
          </p:txBody>
        </p:sp>
        <p:sp>
          <p:nvSpPr>
            <p:cNvPr id="30" name="TextBox 30"/>
            <p:cNvSpPr txBox="1"/>
            <p:nvPr/>
          </p:nvSpPr>
          <p:spPr>
            <a:xfrm>
              <a:off x="6566154" y="3089910"/>
              <a:ext cx="305672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veritabanı hazır olmadan API başlamaz</a:t>
              </a:r>
            </a:p>
          </p:txBody>
        </p:sp>
        <p:sp>
          <p:nvSpPr>
            <p:cNvPr id="31" name="TextBox 31"/>
            <p:cNvSpPr txBox="1"/>
            <p:nvPr/>
          </p:nvSpPr>
          <p:spPr>
            <a:xfrm>
              <a:off x="6566154" y="3470910"/>
              <a:ext cx="225485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Amaç: kararlılık ve güvenlik</a:t>
              </a:r>
            </a:p>
          </p:txBody>
        </p:sp>
      </p:grpSp>
      <p:grpSp>
        <p:nvGrpSpPr>
          <p:cNvPr id="43" name="code-block"/>
          <p:cNvGrpSpPr/>
          <p:nvPr/>
        </p:nvGrpSpPr>
        <p:grpSpPr>
          <a:xfrm>
            <a:off x="609600" y="4152900"/>
            <a:ext cx="10972800" cy="1409700"/>
            <a:chOff x="609600" y="4152900"/>
            <a:chExt cx="10972800" cy="1409700"/>
          </a:xfrm>
        </p:grpSpPr>
        <p:sp>
          <p:nvSpPr>
            <p:cNvPr id="33" name="Rectangle 33"/>
            <p:cNvSpPr/>
            <p:nvPr/>
          </p:nvSpPr>
          <p:spPr>
            <a:xfrm>
              <a:off x="609600" y="4152900"/>
              <a:ext cx="10972800" cy="1409700"/>
            </a:xfrm>
            <a:prstGeom prst="roundRect">
              <a:avLst>
                <a:gd name="adj" fmla="val 5405"/>
              </a:avLst>
            </a:prstGeom>
            <a:solidFill>
              <a:srgbClr val="12355B"/>
            </a:solidFill>
            <a:ln>
              <a:noFill/>
            </a:ln>
          </p:spPr>
        </p:sp>
        <p:sp>
          <p:nvSpPr>
            <p:cNvPr id="34" name="TextBox 34"/>
            <p:cNvSpPr txBox="1"/>
            <p:nvPr/>
          </p:nvSpPr>
          <p:spPr>
            <a:xfrm>
              <a:off x="832104" y="4271010"/>
              <a:ext cx="3662646"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 Kod 14.8 · docker-compose.prod.yml (özet)</a:t>
              </a:r>
            </a:p>
          </p:txBody>
        </p:sp>
        <p:sp>
          <p:nvSpPr>
            <p:cNvPr id="35" name="TextBox 35"/>
            <p:cNvSpPr txBox="1"/>
            <p:nvPr/>
          </p:nvSpPr>
          <p:spPr>
            <a:xfrm>
              <a:off x="832104" y="4499610"/>
              <a:ext cx="989533"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veritabani:</a:t>
              </a:r>
            </a:p>
          </p:txBody>
        </p:sp>
        <p:sp>
          <p:nvSpPr>
            <p:cNvPr id="36" name="TextBox 36"/>
            <p:cNvSpPr txBox="1"/>
            <p:nvPr/>
          </p:nvSpPr>
          <p:spPr>
            <a:xfrm>
              <a:off x="832104" y="4709160"/>
              <a:ext cx="223342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image: postgres:17-alpine</a:t>
              </a:r>
            </a:p>
          </p:txBody>
        </p:sp>
        <p:sp>
          <p:nvSpPr>
            <p:cNvPr id="37" name="TextBox 37"/>
            <p:cNvSpPr txBox="1"/>
            <p:nvPr/>
          </p:nvSpPr>
          <p:spPr>
            <a:xfrm>
              <a:off x="832104" y="4918710"/>
              <a:ext cx="2055724"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restart: unless-stopped</a:t>
              </a:r>
            </a:p>
          </p:txBody>
        </p:sp>
        <p:sp>
          <p:nvSpPr>
            <p:cNvPr id="38" name="TextBox 38"/>
            <p:cNvSpPr txBox="1"/>
            <p:nvPr/>
          </p:nvSpPr>
          <p:spPr>
            <a:xfrm>
              <a:off x="832104" y="5128260"/>
              <a:ext cx="407329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environment: [POSTGRES_PASSWORD: $DB_PAROLA]</a:t>
              </a:r>
            </a:p>
          </p:txBody>
        </p:sp>
        <p:sp>
          <p:nvSpPr>
            <p:cNvPr id="39" name="TextBox 39"/>
            <p:cNvSpPr txBox="1"/>
            <p:nvPr/>
          </p:nvSpPr>
          <p:spPr>
            <a:xfrm>
              <a:off x="6242304" y="4499610"/>
              <a:ext cx="107838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healthcheck:</a:t>
              </a:r>
            </a:p>
          </p:txBody>
        </p:sp>
        <p:sp>
          <p:nvSpPr>
            <p:cNvPr id="40" name="TextBox 40"/>
            <p:cNvSpPr txBox="1"/>
            <p:nvPr/>
          </p:nvSpPr>
          <p:spPr>
            <a:xfrm>
              <a:off x="6242304" y="4709160"/>
              <a:ext cx="4521215"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test: ["CMD-SHELL", "pg_isready -U kutuphane_app"]</a:t>
              </a:r>
            </a:p>
          </p:txBody>
        </p:sp>
        <p:sp>
          <p:nvSpPr>
            <p:cNvPr id="41" name="TextBox 41"/>
            <p:cNvSpPr txBox="1"/>
            <p:nvPr/>
          </p:nvSpPr>
          <p:spPr>
            <a:xfrm>
              <a:off x="6242304" y="4918710"/>
              <a:ext cx="81183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networks:</a:t>
              </a:r>
            </a:p>
          </p:txBody>
        </p:sp>
        <p:sp>
          <p:nvSpPr>
            <p:cNvPr id="42" name="TextBox 42"/>
            <p:cNvSpPr txBox="1"/>
            <p:nvPr/>
          </p:nvSpPr>
          <p:spPr>
            <a:xfrm>
              <a:off x="6242304" y="5128260"/>
              <a:ext cx="63413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 ic_ag</a:t>
              </a:r>
            </a:p>
          </p:txBody>
        </p:sp>
      </p:grpSp>
      <p:grpSp>
        <p:nvGrpSpPr>
          <p:cNvPr id="45" name="secret-note"/>
          <p:cNvGrpSpPr/>
          <p:nvPr/>
        </p:nvGrpSpPr>
        <p:grpSpPr>
          <a:xfrm>
            <a:off x="603504" y="5814060"/>
            <a:ext cx="8735210" cy="234696"/>
            <a:chOff x="603504" y="5814060"/>
            <a:chExt cx="8735210" cy="234696"/>
          </a:xfrm>
        </p:grpSpPr>
        <p:sp>
          <p:nvSpPr>
            <p:cNvPr id="44" name="TextBox 44"/>
            <p:cNvSpPr txBox="1"/>
            <p:nvPr/>
          </p:nvSpPr>
          <p:spPr>
            <a:xfrm>
              <a:off x="603504" y="5814060"/>
              <a:ext cx="87352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$DB_PAROLA ortam değişkeninden gelir; production sırları asla Dockerfile'a veya YAML'a düz metin yazılmaz.</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769190" cy="668845"/>
            <a:chOff x="609600" y="171450"/>
            <a:chExt cx="876919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807881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Hata ayıklama alıştırması: iki gizli hata</a:t>
              </a:r>
            </a:p>
          </p:txBody>
        </p:sp>
      </p:grpSp>
      <p:grpSp>
        <p:nvGrpSpPr>
          <p:cNvPr id="23" name="code-block"/>
          <p:cNvGrpSpPr/>
          <p:nvPr/>
        </p:nvGrpSpPr>
        <p:grpSpPr>
          <a:xfrm>
            <a:off x="609600" y="1181100"/>
            <a:ext cx="6096000" cy="2857500"/>
            <a:chOff x="609600" y="1181100"/>
            <a:chExt cx="6096000" cy="2857500"/>
          </a:xfrm>
        </p:grpSpPr>
        <p:sp>
          <p:nvSpPr>
            <p:cNvPr id="12" name="Rectangle 12"/>
            <p:cNvSpPr/>
            <p:nvPr/>
          </p:nvSpPr>
          <p:spPr>
            <a:xfrm>
              <a:off x="609600" y="1181100"/>
              <a:ext cx="6096000" cy="2857500"/>
            </a:xfrm>
            <a:prstGeom prst="roundRect">
              <a:avLst>
                <a:gd name="adj" fmla="val 2667"/>
              </a:avLst>
            </a:prstGeom>
            <a:solidFill>
              <a:srgbClr val="12355B"/>
            </a:solidFill>
            <a:ln>
              <a:noFill/>
            </a:ln>
          </p:spPr>
        </p:sp>
        <p:sp>
          <p:nvSpPr>
            <p:cNvPr id="13" name="TextBox 13"/>
            <p:cNvSpPr txBox="1"/>
            <p:nvPr/>
          </p:nvSpPr>
          <p:spPr>
            <a:xfrm>
              <a:off x="832104" y="1299210"/>
              <a:ext cx="1671599"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 HataliBaslatma.ts</a:t>
              </a:r>
            </a:p>
          </p:txBody>
        </p:sp>
        <p:sp>
          <p:nvSpPr>
            <p:cNvPr id="14" name="TextBox 14"/>
            <p:cNvSpPr txBox="1"/>
            <p:nvPr/>
          </p:nvSpPr>
          <p:spPr>
            <a:xfrm>
              <a:off x="832104" y="1604010"/>
              <a:ext cx="241791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const client = new Client({</a:t>
              </a:r>
            </a:p>
          </p:txBody>
        </p:sp>
        <p:sp>
          <p:nvSpPr>
            <p:cNvPr id="15" name="TextBox 15"/>
            <p:cNvSpPr txBox="1"/>
            <p:nvPr/>
          </p:nvSpPr>
          <p:spPr>
            <a:xfrm>
              <a:off x="832104" y="1813560"/>
              <a:ext cx="1611478"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host: "localhost",</a:t>
              </a:r>
            </a:p>
          </p:txBody>
        </p:sp>
        <p:sp>
          <p:nvSpPr>
            <p:cNvPr id="16" name="TextBox 16"/>
            <p:cNvSpPr txBox="1"/>
            <p:nvPr/>
          </p:nvSpPr>
          <p:spPr>
            <a:xfrm>
              <a:off x="832104" y="2023110"/>
              <a:ext cx="98953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port: 5432,</a:t>
              </a:r>
            </a:p>
          </p:txBody>
        </p:sp>
        <p:sp>
          <p:nvSpPr>
            <p:cNvPr id="17" name="TextBox 17"/>
            <p:cNvSpPr txBox="1"/>
            <p:nvPr/>
          </p:nvSpPr>
          <p:spPr>
            <a:xfrm>
              <a:off x="832104" y="2232660"/>
              <a:ext cx="27874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t>
              </a:r>
            </a:p>
          </p:txBody>
        </p:sp>
        <p:sp>
          <p:nvSpPr>
            <p:cNvPr id="18" name="TextBox 18"/>
            <p:cNvSpPr txBox="1"/>
            <p:nvPr/>
          </p:nvSpPr>
          <p:spPr>
            <a:xfrm>
              <a:off x="832104" y="2442210"/>
              <a:ext cx="27874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t>
              </a:r>
            </a:p>
          </p:txBody>
        </p:sp>
        <p:sp>
          <p:nvSpPr>
            <p:cNvPr id="19" name="TextBox 19"/>
            <p:cNvSpPr txBox="1"/>
            <p:nvPr/>
          </p:nvSpPr>
          <p:spPr>
            <a:xfrm>
              <a:off x="832104" y="2766060"/>
              <a:ext cx="2055724"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await client.connect();</a:t>
              </a:r>
            </a:p>
          </p:txBody>
        </p:sp>
        <p:sp>
          <p:nvSpPr>
            <p:cNvPr id="20" name="TextBox 20"/>
            <p:cNvSpPr txBox="1"/>
            <p:nvPr/>
          </p:nvSpPr>
          <p:spPr>
            <a:xfrm>
              <a:off x="832104" y="2975610"/>
              <a:ext cx="241791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console.log("Bağlanıldı.");</a:t>
              </a:r>
            </a:p>
          </p:txBody>
        </p:sp>
        <p:sp>
          <p:nvSpPr>
            <p:cNvPr id="21" name="TextBox 21"/>
            <p:cNvSpPr txBox="1"/>
            <p:nvPr/>
          </p:nvSpPr>
          <p:spPr>
            <a:xfrm>
              <a:off x="832104" y="3280410"/>
              <a:ext cx="325667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 Çıktı: Error: connect ECONNREFUSED</a:t>
              </a:r>
            </a:p>
          </p:txBody>
        </p:sp>
        <p:sp>
          <p:nvSpPr>
            <p:cNvPr id="22" name="TextBox 22"/>
            <p:cNvSpPr txBox="1"/>
            <p:nvPr/>
          </p:nvSpPr>
          <p:spPr>
            <a:xfrm>
              <a:off x="832104" y="3489960"/>
              <a:ext cx="148224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 127.0.0.1:5432</a:t>
              </a:r>
            </a:p>
          </p:txBody>
        </p:sp>
      </p:grpSp>
      <p:grpSp>
        <p:nvGrpSpPr>
          <p:cNvPr id="34" name="fixes-block"/>
          <p:cNvGrpSpPr/>
          <p:nvPr/>
        </p:nvGrpSpPr>
        <p:grpSpPr>
          <a:xfrm>
            <a:off x="7010400" y="1181100"/>
            <a:ext cx="4572000" cy="2857500"/>
            <a:chOff x="7010400" y="1181100"/>
            <a:chExt cx="4572000" cy="2857500"/>
          </a:xfrm>
        </p:grpSpPr>
        <p:sp>
          <p:nvSpPr>
            <p:cNvPr id="24" name="Rectangle 24"/>
            <p:cNvSpPr/>
            <p:nvPr/>
          </p:nvSpPr>
          <p:spPr>
            <a:xfrm>
              <a:off x="7010400" y="1181100"/>
              <a:ext cx="4572000" cy="1333500"/>
            </a:xfrm>
            <a:prstGeom prst="roundRect">
              <a:avLst>
                <a:gd name="adj" fmla="val 5714"/>
              </a:avLst>
            </a:prstGeom>
            <a:solidFill>
              <a:srgbClr val="FFFFFF"/>
            </a:solidFill>
            <a:ln w="14288">
              <a:solidFill>
                <a:srgbClr val="B8CBD3"/>
              </a:solidFill>
            </a:ln>
          </p:spPr>
        </p:sp>
        <p:sp>
          <p:nvSpPr>
            <p:cNvPr id="25" name="TextBox 25"/>
            <p:cNvSpPr txBox="1"/>
            <p:nvPr/>
          </p:nvSpPr>
          <p:spPr>
            <a:xfrm>
              <a:off x="7230999" y="1315879"/>
              <a:ext cx="213504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Hata 1: yanlış host</a:t>
              </a:r>
            </a:p>
          </p:txBody>
        </p:sp>
        <p:sp>
          <p:nvSpPr>
            <p:cNvPr id="26" name="TextBox 26"/>
            <p:cNvSpPr txBox="1"/>
            <p:nvPr/>
          </p:nvSpPr>
          <p:spPr>
            <a:xfrm>
              <a:off x="7232904" y="1642110"/>
              <a:ext cx="258575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Container içinde localhost, kendi</a:t>
              </a:r>
            </a:p>
          </p:txBody>
        </p:sp>
        <p:sp>
          <p:nvSpPr>
            <p:cNvPr id="27" name="TextBox 27"/>
            <p:cNvSpPr txBox="1"/>
            <p:nvPr/>
          </p:nvSpPr>
          <p:spPr>
            <a:xfrm>
              <a:off x="7232904" y="1851660"/>
              <a:ext cx="305729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container'ını işaret eder; veritabanı</a:t>
              </a:r>
            </a:p>
          </p:txBody>
        </p:sp>
        <p:sp>
          <p:nvSpPr>
            <p:cNvPr id="28" name="TextBox 28"/>
            <p:cNvSpPr txBox="1"/>
            <p:nvPr/>
          </p:nvSpPr>
          <p:spPr>
            <a:xfrm>
              <a:off x="7232904" y="2061210"/>
              <a:ext cx="31041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değil. Doğrusu: host: "kutuphane-db".</a:t>
              </a:r>
            </a:p>
          </p:txBody>
        </p:sp>
        <p:sp>
          <p:nvSpPr>
            <p:cNvPr id="29" name="Rectangle 29"/>
            <p:cNvSpPr/>
            <p:nvPr/>
          </p:nvSpPr>
          <p:spPr>
            <a:xfrm>
              <a:off x="7010400" y="2705100"/>
              <a:ext cx="4572000" cy="1333500"/>
            </a:xfrm>
            <a:prstGeom prst="roundRect">
              <a:avLst>
                <a:gd name="adj" fmla="val 5714"/>
              </a:avLst>
            </a:prstGeom>
            <a:solidFill>
              <a:srgbClr val="FFFFFF"/>
            </a:solidFill>
            <a:ln w="14288">
              <a:solidFill>
                <a:srgbClr val="B8CBD3"/>
              </a:solidFill>
            </a:ln>
          </p:spPr>
        </p:sp>
        <p:sp>
          <p:nvSpPr>
            <p:cNvPr id="30" name="TextBox 30"/>
            <p:cNvSpPr txBox="1"/>
            <p:nvPr/>
          </p:nvSpPr>
          <p:spPr>
            <a:xfrm>
              <a:off x="7230999" y="2839879"/>
              <a:ext cx="211327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Hata 2: tek deneme</a:t>
              </a:r>
            </a:p>
          </p:txBody>
        </p:sp>
        <p:sp>
          <p:nvSpPr>
            <p:cNvPr id="31" name="TextBox 31"/>
            <p:cNvSpPr txBox="1"/>
            <p:nvPr/>
          </p:nvSpPr>
          <p:spPr>
            <a:xfrm>
              <a:off x="7232904" y="3166110"/>
              <a:ext cx="27152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Bağlantı yalnızca bir kez denenir;</a:t>
              </a:r>
            </a:p>
          </p:txBody>
        </p:sp>
        <p:sp>
          <p:nvSpPr>
            <p:cNvPr id="32" name="TextBox 32"/>
            <p:cNvSpPr txBox="1"/>
            <p:nvPr/>
          </p:nvSpPr>
          <p:spPr>
            <a:xfrm>
              <a:off x="7232904" y="3375660"/>
              <a:ext cx="243535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veritabanı henüz hazır değilse</a:t>
              </a:r>
            </a:p>
          </p:txBody>
        </p:sp>
        <p:sp>
          <p:nvSpPr>
            <p:cNvPr id="33" name="TextBox 33"/>
            <p:cNvSpPr txBox="1"/>
            <p:nvPr/>
          </p:nvSpPr>
          <p:spPr>
            <a:xfrm>
              <a:off x="7232904" y="3585210"/>
              <a:ext cx="308152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uygulama hemen çöker — retry gerekir.</a:t>
              </a:r>
            </a:p>
          </p:txBody>
        </p:sp>
      </p:grpSp>
      <p:grpSp>
        <p:nvGrpSpPr>
          <p:cNvPr id="51" name="trace-table"/>
          <p:cNvGrpSpPr/>
          <p:nvPr/>
        </p:nvGrpSpPr>
        <p:grpSpPr>
          <a:xfrm>
            <a:off x="609600" y="4229100"/>
            <a:ext cx="10972800" cy="1428750"/>
            <a:chOff x="609600" y="4229100"/>
            <a:chExt cx="10972800" cy="1428750"/>
          </a:xfrm>
        </p:grpSpPr>
        <p:sp>
          <p:nvSpPr>
            <p:cNvPr id="35" name="Rectangle 35"/>
            <p:cNvSpPr/>
            <p:nvPr/>
          </p:nvSpPr>
          <p:spPr>
            <a:xfrm>
              <a:off x="609600" y="4229100"/>
              <a:ext cx="10972800" cy="342900"/>
            </a:xfrm>
            <a:prstGeom prst="rect">
              <a:avLst/>
            </a:prstGeom>
            <a:solidFill>
              <a:srgbClr val="12355B"/>
            </a:solidFill>
            <a:ln>
              <a:noFill/>
            </a:ln>
          </p:spPr>
        </p:sp>
        <p:sp>
          <p:nvSpPr>
            <p:cNvPr id="36" name="TextBox 36"/>
            <p:cNvSpPr txBox="1"/>
            <p:nvPr/>
          </p:nvSpPr>
          <p:spPr>
            <a:xfrm>
              <a:off x="832104" y="4328160"/>
              <a:ext cx="670514"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Senaryo</a:t>
              </a:r>
            </a:p>
          </p:txBody>
        </p:sp>
        <p:sp>
          <p:nvSpPr>
            <p:cNvPr id="37" name="TextBox 37"/>
            <p:cNvSpPr txBox="1"/>
            <p:nvPr/>
          </p:nvSpPr>
          <p:spPr>
            <a:xfrm>
              <a:off x="3499104" y="4328160"/>
              <a:ext cx="1052206"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Hatalı sonuç</a:t>
              </a:r>
            </a:p>
          </p:txBody>
        </p:sp>
        <p:sp>
          <p:nvSpPr>
            <p:cNvPr id="38" name="TextBox 38"/>
            <p:cNvSpPr txBox="1"/>
            <p:nvPr/>
          </p:nvSpPr>
          <p:spPr>
            <a:xfrm>
              <a:off x="6851904" y="4328160"/>
              <a:ext cx="1501319"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Düzeltilmiş mimari</a:t>
              </a:r>
            </a:p>
          </p:txBody>
        </p:sp>
        <p:sp>
          <p:nvSpPr>
            <p:cNvPr id="39" name="Rectangle 39"/>
            <p:cNvSpPr/>
            <p:nvPr/>
          </p:nvSpPr>
          <p:spPr>
            <a:xfrm>
              <a:off x="609600" y="4572000"/>
              <a:ext cx="10972800" cy="361950"/>
            </a:xfrm>
            <a:prstGeom prst="rect">
              <a:avLst/>
            </a:prstGeom>
            <a:solidFill>
              <a:srgbClr val="FFFFFF"/>
            </a:solidFill>
            <a:ln w="9525">
              <a:solidFill>
                <a:srgbClr val="B8CBD3"/>
              </a:solidFill>
            </a:ln>
          </p:spPr>
        </p:sp>
        <p:sp>
          <p:nvSpPr>
            <p:cNvPr id="40" name="TextBox 40"/>
            <p:cNvSpPr txBox="1"/>
            <p:nvPr/>
          </p:nvSpPr>
          <p:spPr>
            <a:xfrm>
              <a:off x="832104" y="4671060"/>
              <a:ext cx="20848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Container içinden bağlantı</a:t>
              </a:r>
            </a:p>
          </p:txBody>
        </p:sp>
        <p:sp>
          <p:nvSpPr>
            <p:cNvPr id="41" name="TextBox 41"/>
            <p:cNvSpPr txBox="1"/>
            <p:nvPr/>
          </p:nvSpPr>
          <p:spPr>
            <a:xfrm>
              <a:off x="3499104" y="4671060"/>
              <a:ext cx="253837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ECONNREFUSED 127.0.0.1:5432</a:t>
              </a:r>
            </a:p>
          </p:txBody>
        </p:sp>
        <p:sp>
          <p:nvSpPr>
            <p:cNvPr id="42" name="TextBox 42"/>
            <p:cNvSpPr txBox="1"/>
            <p:nvPr/>
          </p:nvSpPr>
          <p:spPr>
            <a:xfrm>
              <a:off x="6851904" y="4671060"/>
              <a:ext cx="26261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kutuphane-db:5432 (Docker DNS)</a:t>
              </a:r>
            </a:p>
          </p:txBody>
        </p:sp>
        <p:sp>
          <p:nvSpPr>
            <p:cNvPr id="43" name="Rectangle 43"/>
            <p:cNvSpPr/>
            <p:nvPr/>
          </p:nvSpPr>
          <p:spPr>
            <a:xfrm>
              <a:off x="609600" y="4933950"/>
              <a:ext cx="10972800" cy="361950"/>
            </a:xfrm>
            <a:prstGeom prst="rect">
              <a:avLst/>
            </a:prstGeom>
            <a:solidFill>
              <a:srgbClr val="EAF4F6"/>
            </a:solidFill>
            <a:ln w="9525">
              <a:solidFill>
                <a:srgbClr val="B8CBD3"/>
              </a:solidFill>
            </a:ln>
          </p:spPr>
        </p:sp>
        <p:sp>
          <p:nvSpPr>
            <p:cNvPr id="44" name="TextBox 44"/>
            <p:cNvSpPr txBox="1"/>
            <p:nvPr/>
          </p:nvSpPr>
          <p:spPr>
            <a:xfrm>
              <a:off x="832104" y="5033010"/>
              <a:ext cx="204493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DB henüz başlıyor (0. sn)</a:t>
              </a:r>
            </a:p>
          </p:txBody>
        </p:sp>
        <p:sp>
          <p:nvSpPr>
            <p:cNvPr id="45" name="TextBox 45"/>
            <p:cNvSpPr txBox="1"/>
            <p:nvPr/>
          </p:nvSpPr>
          <p:spPr>
            <a:xfrm>
              <a:off x="3499104" y="5033010"/>
              <a:ext cx="216680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İlk hatada process.exit(1)</a:t>
              </a:r>
            </a:p>
          </p:txBody>
        </p:sp>
        <p:sp>
          <p:nvSpPr>
            <p:cNvPr id="46" name="TextBox 46"/>
            <p:cNvSpPr txBox="1"/>
            <p:nvPr/>
          </p:nvSpPr>
          <p:spPr>
            <a:xfrm>
              <a:off x="6851904" y="5033010"/>
              <a:ext cx="275036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condition: service_healthy + retry</a:t>
              </a:r>
            </a:p>
          </p:txBody>
        </p:sp>
        <p:sp>
          <p:nvSpPr>
            <p:cNvPr id="47" name="Rectangle 47"/>
            <p:cNvSpPr/>
            <p:nvPr/>
          </p:nvSpPr>
          <p:spPr>
            <a:xfrm>
              <a:off x="609600" y="5295900"/>
              <a:ext cx="10972800" cy="361950"/>
            </a:xfrm>
            <a:prstGeom prst="rect">
              <a:avLst/>
            </a:prstGeom>
            <a:solidFill>
              <a:srgbClr val="FFFFFF"/>
            </a:solidFill>
            <a:ln w="9525">
              <a:solidFill>
                <a:srgbClr val="B8CBD3"/>
              </a:solidFill>
            </a:ln>
          </p:spPr>
        </p:sp>
        <p:sp>
          <p:nvSpPr>
            <p:cNvPr id="48" name="TextBox 48"/>
            <p:cNvSpPr txBox="1"/>
            <p:nvPr/>
          </p:nvSpPr>
          <p:spPr>
            <a:xfrm>
              <a:off x="832104" y="5394960"/>
              <a:ext cx="14223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Geçici ağ kesintisi</a:t>
              </a:r>
            </a:p>
          </p:txBody>
        </p:sp>
        <p:sp>
          <p:nvSpPr>
            <p:cNvPr id="49" name="TextBox 49"/>
            <p:cNvSpPr txBox="1"/>
            <p:nvPr/>
          </p:nvSpPr>
          <p:spPr>
            <a:xfrm>
              <a:off x="3499104" y="5394960"/>
              <a:ext cx="288231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CrashLoop (sürekli yeniden başlama)</a:t>
              </a:r>
            </a:p>
          </p:txBody>
        </p:sp>
        <p:sp>
          <p:nvSpPr>
            <p:cNvPr id="50" name="TextBox 50"/>
            <p:cNvSpPr txBox="1"/>
            <p:nvPr/>
          </p:nvSpPr>
          <p:spPr>
            <a:xfrm>
              <a:off x="6851904" y="5394960"/>
              <a:ext cx="22844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5 denemeli retryWithBackoff</a:t>
              </a:r>
            </a:p>
          </p:txBody>
        </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37513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MİMARİ ÇÖZÜM</a:t>
              </a:r>
            </a:p>
          </p:txBody>
        </p:sp>
      </p:grpSp>
      <p:grpSp>
        <p:nvGrpSpPr>
          <p:cNvPr id="21" name="fallacy-devtools"/>
          <p:cNvGrpSpPr/>
          <p:nvPr/>
        </p:nvGrpSpPr>
        <p:grpSpPr>
          <a:xfrm>
            <a:off x="609600" y="1849279"/>
            <a:ext cx="10972800" cy="1313021"/>
            <a:chOff x="609600" y="1849279"/>
            <a:chExt cx="10972800" cy="1313021"/>
          </a:xfrm>
        </p:grpSpPr>
        <p:sp>
          <p:nvSpPr>
            <p:cNvPr id="17" name="TextBox 17"/>
            <p:cNvSpPr txBox="1"/>
            <p:nvPr/>
          </p:nvSpPr>
          <p:spPr>
            <a:xfrm>
              <a:off x="753999" y="1849279"/>
              <a:ext cx="2344160"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"Geliştirme araçlarını</a:t>
              </a:r>
              <a:br/>
              <a:r>
                <a:rPr lang="tr-TR" sz="1580" b="1" dirty="0">
                  <a:solidFill>
                    <a:srgbClr val="12355B"/>
                  </a:solidFill>
                  <a:latin typeface="+mn-lt"/>
                  <a:ea typeface="+mn-ea"/>
                  <a:cs typeface="+mn-cs"/>
                </a:rPr>
                <a:t>son imajda bırakmak</a:t>
              </a:r>
              <a:br/>
              <a:r>
                <a:rPr lang="tr-TR" sz="1580" b="1" dirty="0">
                  <a:solidFill>
                    <a:srgbClr val="12355B"/>
                  </a:solidFill>
                  <a:latin typeface="+mn-lt"/>
                  <a:ea typeface="+mn-ea"/>
                  <a:cs typeface="+mn-cs"/>
                </a:rPr>
                <a:t>sakıncasızdır."</a:t>
              </a:r>
            </a:p>
          </p:txBody>
        </p:sp>
        <p:sp>
          <p:nvSpPr>
            <p:cNvPr id="18" name="TextBox 18"/>
            <p:cNvSpPr txBox="1"/>
            <p:nvPr/>
          </p:nvSpPr>
          <p:spPr>
            <a:xfrm>
              <a:off x="4375404" y="1889760"/>
              <a:ext cx="30373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Bu durum image boyutunu ~1 GB'a</a:t>
              </a:r>
              <a:br/>
              <a:r>
                <a:rPr lang="tr-TR" sz="1200" dirty="0">
                  <a:solidFill>
                    <a:srgbClr val="172B3A"/>
                  </a:solidFill>
                  <a:latin typeface="+mn-lt"/>
                  <a:ea typeface="+mn-ea"/>
                  <a:cs typeface="+mn-cs"/>
                </a:rPr>
                <a:t>çıkarır, gereksiz güvenlik açıkları</a:t>
              </a:r>
              <a:br/>
              <a:r>
                <a:rPr lang="tr-TR" sz="1200" dirty="0">
                  <a:solidFill>
                    <a:srgbClr val="172B3A"/>
                  </a:solidFill>
                  <a:latin typeface="+mn-lt"/>
                  <a:ea typeface="+mn-ea"/>
                  <a:cs typeface="+mn-cs"/>
                </a:rPr>
                <a:t>barındırır ve dağıtımı hantallaştırır.</a:t>
              </a:r>
            </a:p>
          </p:txBody>
        </p:sp>
        <p:sp>
          <p:nvSpPr>
            <p:cNvPr id="19" name="TextBox 19"/>
            <p:cNvSpPr txBox="1"/>
            <p:nvPr/>
          </p:nvSpPr>
          <p:spPr>
            <a:xfrm>
              <a:off x="8185404" y="1889760"/>
              <a:ext cx="27706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Çok aşamalı inşa (multi-stage build)</a:t>
              </a:r>
              <a:br/>
              <a:r>
                <a:rPr lang="tr-TR" sz="1200" dirty="0">
                  <a:solidFill>
                    <a:srgbClr val="172B3A"/>
                  </a:solidFill>
                  <a:latin typeface="+mn-lt"/>
                  <a:ea typeface="+mn-ea"/>
                  <a:cs typeface="+mn-cs"/>
                </a:rPr>
                <a:t>ile derleme ortamı ayrılmalı; üretim</a:t>
              </a:r>
              <a:br/>
              <a:r>
                <a:rPr lang="tr-TR" sz="1200" dirty="0">
                  <a:solidFill>
                    <a:srgbClr val="172B3A"/>
                  </a:solidFill>
                  <a:latin typeface="+mn-lt"/>
                  <a:ea typeface="+mn-ea"/>
                  <a:cs typeface="+mn-cs"/>
                </a:rPr>
                <a:t>imajına yalnızca dist klasörü ve</a:t>
              </a:r>
              <a:br/>
              <a:r>
                <a:rPr lang="tr-TR" sz="1200" dirty="0">
                  <a:solidFill>
                    <a:srgbClr val="172B3A"/>
                  </a:solidFill>
                  <a:latin typeface="+mn-lt"/>
                  <a:ea typeface="+mn-ea"/>
                  <a:cs typeface="+mn-cs"/>
                </a:rPr>
                <a:t>üretim bağımlılıkları alınmalıdır.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volume"/>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3999" y="3297079"/>
              <a:ext cx="2586457"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"Volume bağlamadan</a:t>
              </a:r>
              <a:br/>
              <a:r>
                <a:rPr lang="tr-TR" sz="1580" b="1" dirty="0">
                  <a:solidFill>
                    <a:srgbClr val="12355B"/>
                  </a:solidFill>
                  <a:latin typeface="+mn-lt"/>
                  <a:ea typeface="+mn-ea"/>
                  <a:cs typeface="+mn-cs"/>
                </a:rPr>
                <a:t>çalıştırmak verileri</a:t>
              </a:r>
              <a:br/>
              <a:r>
                <a:rPr lang="tr-TR" sz="1580" b="1" dirty="0">
                  <a:solidFill>
                    <a:srgbClr val="12355B"/>
                  </a:solidFill>
                  <a:latin typeface="+mn-lt"/>
                  <a:ea typeface="+mn-ea"/>
                  <a:cs typeface="+mn-cs"/>
                </a:rPr>
                <a:t>korumak için yeterlidir."</a:t>
              </a:r>
            </a:p>
          </p:txBody>
        </p:sp>
        <p:sp>
          <p:nvSpPr>
            <p:cNvPr id="24" name="TextBox 24"/>
            <p:cNvSpPr txBox="1"/>
            <p:nvPr/>
          </p:nvSpPr>
          <p:spPr>
            <a:xfrm>
              <a:off x="4375404" y="3337560"/>
              <a:ext cx="27553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Container'lar geçicidir (ephemeral).</a:t>
              </a:r>
              <a:br/>
              <a:r>
                <a:rPr lang="tr-TR" sz="1200" dirty="0">
                  <a:solidFill>
                    <a:srgbClr val="172B3A"/>
                  </a:solidFill>
                  <a:latin typeface="+mn-lt"/>
                  <a:ea typeface="+mn-ea"/>
                  <a:cs typeface="+mn-cs"/>
                </a:rPr>
                <a:t>Volume bağlanmayan bir PostgreSQL</a:t>
              </a:r>
              <a:br/>
              <a:r>
                <a:rPr lang="tr-TR" sz="1200" dirty="0">
                  <a:solidFill>
                    <a:srgbClr val="172B3A"/>
                  </a:solidFill>
                  <a:latin typeface="+mn-lt"/>
                  <a:ea typeface="+mn-ea"/>
                  <a:cs typeface="+mn-cs"/>
                </a:rPr>
                <a:t>yeniden oluşturulunca tüm veri</a:t>
              </a:r>
              <a:br/>
              <a:r>
                <a:rPr lang="tr-TR" sz="1200" dirty="0">
                  <a:solidFill>
                    <a:srgbClr val="172B3A"/>
                  </a:solidFill>
                  <a:latin typeface="+mn-lt"/>
                  <a:ea typeface="+mn-ea"/>
                  <a:cs typeface="+mn-cs"/>
                </a:rPr>
                <a:t>kalıcı olarak silinir.</a:t>
              </a:r>
            </a:p>
          </p:txBody>
        </p:sp>
        <p:sp>
          <p:nvSpPr>
            <p:cNvPr id="25" name="TextBox 25"/>
            <p:cNvSpPr txBox="1"/>
            <p:nvPr/>
          </p:nvSpPr>
          <p:spPr>
            <a:xfrm>
              <a:off x="8185404" y="3337560"/>
              <a:ext cx="28544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Veri dizini (/var/lib/postgresql/data)</a:t>
              </a:r>
              <a:br/>
              <a:r>
                <a:rPr lang="tr-TR" sz="1200" dirty="0">
                  <a:solidFill>
                    <a:srgbClr val="172B3A"/>
                  </a:solidFill>
                  <a:latin typeface="+mn-lt"/>
                  <a:ea typeface="+mn-ea"/>
                  <a:cs typeface="+mn-cs"/>
                </a:rPr>
                <a:t>mutlaka adlandırılmış bir Docker</a:t>
              </a:r>
              <a:br/>
              <a:r>
                <a:rPr lang="tr-TR" sz="1200" dirty="0">
                  <a:solidFill>
                    <a:srgbClr val="172B3A"/>
                  </a:solidFill>
                  <a:latin typeface="+mn-lt"/>
                  <a:ea typeface="+mn-ea"/>
                  <a:cs typeface="+mn-cs"/>
                </a:rPr>
                <a:t>volume ile ana makineye</a:t>
              </a:r>
              <a:br/>
              <a:r>
                <a:rPr lang="tr-TR" sz="1200" dirty="0">
                  <a:solidFill>
                    <a:srgbClr val="172B3A"/>
                  </a:solidFill>
                  <a:latin typeface="+mn-lt"/>
                  <a:ea typeface="+mn-ea"/>
                  <a:cs typeface="+mn-cs"/>
                </a:rPr>
                <a:t>bağlanmalıdır.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dependson"/>
          <p:cNvGrpSpPr/>
          <p:nvPr/>
        </p:nvGrpSpPr>
        <p:grpSpPr>
          <a:xfrm>
            <a:off x="753999" y="4744879"/>
            <a:ext cx="9965817" cy="903827"/>
            <a:chOff x="753999" y="4744879"/>
            <a:chExt cx="9965817" cy="903827"/>
          </a:xfrm>
        </p:grpSpPr>
        <p:sp>
          <p:nvSpPr>
            <p:cNvPr id="28" name="TextBox 28"/>
            <p:cNvSpPr txBox="1"/>
            <p:nvPr/>
          </p:nvSpPr>
          <p:spPr>
            <a:xfrm>
              <a:off x="753999" y="4744879"/>
              <a:ext cx="3629387"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"depends_on yazmak</a:t>
              </a:r>
              <a:br/>
              <a:r>
                <a:rPr lang="tr-TR" sz="1580" b="1" dirty="0">
                  <a:solidFill>
                    <a:srgbClr val="12355B"/>
                  </a:solidFill>
                  <a:latin typeface="+mn-lt"/>
                  <a:ea typeface="+mn-ea"/>
                  <a:cs typeface="+mn-cs"/>
                </a:rPr>
                <a:t>veritabanının sorgu</a:t>
              </a:r>
              <a:br/>
              <a:r>
                <a:rPr lang="tr-TR" sz="1580" b="1" dirty="0">
                  <a:solidFill>
                    <a:srgbClr val="12355B"/>
                  </a:solidFill>
                  <a:latin typeface="+mn-lt"/>
                  <a:ea typeface="+mn-ea"/>
                  <a:cs typeface="+mn-cs"/>
                </a:rPr>
                <a:t>almaya hazır olduğunu garantiler."</a:t>
              </a:r>
            </a:p>
          </p:txBody>
        </p:sp>
        <p:sp>
          <p:nvSpPr>
            <p:cNvPr id="29" name="TextBox 29"/>
            <p:cNvSpPr txBox="1"/>
            <p:nvPr/>
          </p:nvSpPr>
          <p:spPr>
            <a:xfrm>
              <a:off x="4375404" y="4785360"/>
              <a:ext cx="23058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depends_on yalnızca container</a:t>
              </a:r>
              <a:br/>
              <a:r>
                <a:rPr lang="tr-TR" sz="1200" dirty="0">
                  <a:solidFill>
                    <a:srgbClr val="172B3A"/>
                  </a:solidFill>
                  <a:latin typeface="+mn-lt"/>
                  <a:ea typeface="+mn-ea"/>
                  <a:cs typeface="+mn-cs"/>
                </a:rPr>
                <a:t>sürecinin başladığını belirtir;</a:t>
              </a:r>
              <a:br/>
              <a:r>
                <a:rPr lang="tr-TR" sz="1200" dirty="0">
                  <a:solidFill>
                    <a:srgbClr val="172B3A"/>
                  </a:solidFill>
                  <a:latin typeface="+mn-lt"/>
                  <a:ea typeface="+mn-ea"/>
                  <a:cs typeface="+mn-cs"/>
                </a:rPr>
                <a:t>veritabanının portu dinlemesi</a:t>
              </a:r>
              <a:br/>
              <a:r>
                <a:rPr lang="tr-TR" sz="1200" dirty="0">
                  <a:solidFill>
                    <a:srgbClr val="172B3A"/>
                  </a:solidFill>
                  <a:latin typeface="+mn-lt"/>
                  <a:ea typeface="+mn-ea"/>
                  <a:cs typeface="+mn-cs"/>
                </a:rPr>
                <a:t>birkaç saniye alabilir.</a:t>
              </a:r>
            </a:p>
          </p:txBody>
        </p:sp>
        <p:sp>
          <p:nvSpPr>
            <p:cNvPr id="30" name="TextBox 30"/>
            <p:cNvSpPr txBox="1"/>
            <p:nvPr/>
          </p:nvSpPr>
          <p:spPr>
            <a:xfrm>
              <a:off x="8185404" y="4785360"/>
              <a:ext cx="25344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PostgreSQL servisine healthcheck</a:t>
              </a:r>
              <a:br/>
              <a:r>
                <a:rPr lang="tr-TR" sz="1200" dirty="0">
                  <a:solidFill>
                    <a:srgbClr val="172B3A"/>
                  </a:solidFill>
                  <a:latin typeface="+mn-lt"/>
                  <a:ea typeface="+mn-ea"/>
                  <a:cs typeface="+mn-cs"/>
                </a:rPr>
                <a:t>eklenmeli ve API servisinde</a:t>
              </a:r>
              <a:br/>
              <a:r>
                <a:rPr lang="tr-TR" sz="1200" dirty="0">
                  <a:solidFill>
                    <a:srgbClr val="172B3A"/>
                  </a:solidFill>
                  <a:latin typeface="+mn-lt"/>
                  <a:ea typeface="+mn-ea"/>
                  <a:cs typeface="+mn-cs"/>
                </a:rPr>
                <a:t>condition: service_healthy</a:t>
              </a:r>
              <a:br/>
              <a:r>
                <a:rPr lang="tr-TR" sz="1200" dirty="0">
                  <a:solidFill>
                    <a:srgbClr val="172B3A"/>
                  </a:solidFill>
                  <a:latin typeface="+mn-lt"/>
                  <a:ea typeface="+mn-ea"/>
                  <a:cs typeface="+mn-cs"/>
                </a:rPr>
                <a:t>koşulu kullanılmalıdır.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907024" cy="557403"/>
            <a:chOff x="595122" y="282892"/>
            <a:chExt cx="5907024" cy="557403"/>
          </a:xfrm>
        </p:grpSpPr>
        <p:sp>
          <p:nvSpPr>
            <p:cNvPr id="4" name="TextBox 4"/>
            <p:cNvSpPr txBox="1"/>
            <p:nvPr/>
          </p:nvSpPr>
          <p:spPr>
            <a:xfrm>
              <a:off x="595122" y="282892"/>
              <a:ext cx="590702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Uçtan uca: saglikliBaglantiKur</a:t>
              </a:r>
            </a:p>
          </p:txBody>
        </p:sp>
      </p:grpSp>
      <p:grpSp>
        <p:nvGrpSpPr>
          <p:cNvPr id="10" name="goal-block"/>
          <p:cNvGrpSpPr/>
          <p:nvPr/>
        </p:nvGrpSpPr>
        <p:grpSpPr>
          <a:xfrm>
            <a:off x="609600" y="1181100"/>
            <a:ext cx="10972800" cy="647700"/>
            <a:chOff x="609600" y="1181100"/>
            <a:chExt cx="10972800" cy="647700"/>
          </a:xfrm>
        </p:grpSpPr>
        <p:sp>
          <p:nvSpPr>
            <p:cNvPr id="6" name="Rectangle 6"/>
            <p:cNvSpPr/>
            <p:nvPr/>
          </p:nvSpPr>
          <p:spPr>
            <a:xfrm>
              <a:off x="609600" y="1181100"/>
              <a:ext cx="10972800" cy="647700"/>
            </a:xfrm>
            <a:prstGeom prst="roundRect">
              <a:avLst>
                <a:gd name="adj" fmla="val 11765"/>
              </a:avLst>
            </a:prstGeom>
            <a:solidFill>
              <a:srgbClr val="EAF4F6"/>
            </a:solidFill>
            <a:ln>
              <a:noFill/>
            </a:ln>
          </p:spPr>
        </p:sp>
        <p:sp>
          <p:nvSpPr>
            <p:cNvPr id="7" name="Rectangle 7"/>
            <p:cNvSpPr/>
            <p:nvPr/>
          </p:nvSpPr>
          <p:spPr>
            <a:xfrm>
              <a:off x="609600" y="1181100"/>
              <a:ext cx="57150" cy="647700"/>
            </a:xfrm>
            <a:prstGeom prst="rect">
              <a:avLst/>
            </a:prstGeom>
            <a:solidFill>
              <a:srgbClr val="00A6A6"/>
            </a:solidFill>
            <a:ln>
              <a:noFill/>
            </a:ln>
          </p:spPr>
        </p:sp>
        <p:sp>
          <p:nvSpPr>
            <p:cNvPr id="8" name="TextBox 8"/>
            <p:cNvSpPr txBox="1"/>
            <p:nvPr/>
          </p:nvSpPr>
          <p:spPr>
            <a:xfrm>
              <a:off x="906399" y="1296829"/>
              <a:ext cx="167440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Bölüm Hedefi</a:t>
              </a:r>
            </a:p>
          </p:txBody>
        </p:sp>
        <p:sp>
          <p:nvSpPr>
            <p:cNvPr id="9" name="TextBox 9"/>
            <p:cNvSpPr txBox="1"/>
            <p:nvPr/>
          </p:nvSpPr>
          <p:spPr>
            <a:xfrm>
              <a:off x="908304" y="1565910"/>
              <a:ext cx="865214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Dockerfile, docker-compose.yml ve uygulama içi bağlantı yeniden deneme mantığını tek akışta birleştirmek.</a:t>
              </a:r>
            </a:p>
          </p:txBody>
        </p:sp>
      </p:grpSp>
      <p:grpSp>
        <p:nvGrpSpPr>
          <p:cNvPr id="26" name="code-block"/>
          <p:cNvGrpSpPr/>
          <p:nvPr/>
        </p:nvGrpSpPr>
        <p:grpSpPr>
          <a:xfrm>
            <a:off x="609600" y="2019300"/>
            <a:ext cx="6667500" cy="3429000"/>
            <a:chOff x="609600" y="2019300"/>
            <a:chExt cx="6667500" cy="3429000"/>
          </a:xfrm>
        </p:grpSpPr>
        <p:sp>
          <p:nvSpPr>
            <p:cNvPr id="11" name="Rectangle 11"/>
            <p:cNvSpPr/>
            <p:nvPr/>
          </p:nvSpPr>
          <p:spPr>
            <a:xfrm>
              <a:off x="609600" y="2019300"/>
              <a:ext cx="6667500" cy="3429000"/>
            </a:xfrm>
            <a:prstGeom prst="roundRect">
              <a:avLst>
                <a:gd name="adj" fmla="val 2222"/>
              </a:avLst>
            </a:prstGeom>
            <a:solidFill>
              <a:srgbClr val="12355B"/>
            </a:solidFill>
            <a:ln>
              <a:noFill/>
            </a:ln>
          </p:spPr>
        </p:sp>
        <p:sp>
          <p:nvSpPr>
            <p:cNvPr id="12" name="TextBox 12"/>
            <p:cNvSpPr txBox="1"/>
            <p:nvPr/>
          </p:nvSpPr>
          <p:spPr>
            <a:xfrm>
              <a:off x="832104" y="2137410"/>
              <a:ext cx="344174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 Kod 14.9 · Güvenli veritabanı bağlantısı</a:t>
              </a:r>
            </a:p>
          </p:txBody>
        </p:sp>
        <p:sp>
          <p:nvSpPr>
            <p:cNvPr id="13" name="TextBox 13"/>
            <p:cNvSpPr txBox="1"/>
            <p:nvPr/>
          </p:nvSpPr>
          <p:spPr>
            <a:xfrm>
              <a:off x="832104" y="2385060"/>
              <a:ext cx="3132915"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async function saglikliBaglantiKur(</a:t>
              </a:r>
            </a:p>
          </p:txBody>
        </p:sp>
        <p:sp>
          <p:nvSpPr>
            <p:cNvPr id="14" name="TextBox 14"/>
            <p:cNvSpPr txBox="1"/>
            <p:nvPr/>
          </p:nvSpPr>
          <p:spPr>
            <a:xfrm>
              <a:off x="832104" y="2594610"/>
              <a:ext cx="242243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secenekler, gercekBaglanFn,</a:t>
              </a:r>
            </a:p>
          </p:txBody>
        </p:sp>
        <p:sp>
          <p:nvSpPr>
            <p:cNvPr id="15" name="TextBox 15"/>
            <p:cNvSpPr txBox="1"/>
            <p:nvPr/>
          </p:nvSpPr>
          <p:spPr>
            <a:xfrm>
              <a:off x="832104" y="2804160"/>
              <a:ext cx="296002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maksimumDeneme = 5, bekleMs = 500</a:t>
              </a:r>
            </a:p>
          </p:txBody>
        </p:sp>
        <p:sp>
          <p:nvSpPr>
            <p:cNvPr id="16" name="TextBox 16"/>
            <p:cNvSpPr txBox="1"/>
            <p:nvPr/>
          </p:nvSpPr>
          <p:spPr>
            <a:xfrm>
              <a:off x="832104" y="3013710"/>
              <a:ext cx="1619707"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 Promise&lt;void&gt; {</a:t>
              </a:r>
            </a:p>
          </p:txBody>
        </p:sp>
        <p:sp>
          <p:nvSpPr>
            <p:cNvPr id="17" name="TextBox 17"/>
            <p:cNvSpPr txBox="1"/>
            <p:nvPr/>
          </p:nvSpPr>
          <p:spPr>
            <a:xfrm>
              <a:off x="832104" y="3223260"/>
              <a:ext cx="4107233"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for (deneme = 1; deneme &lt;= maksimumDeneme; ++)</a:t>
              </a:r>
            </a:p>
          </p:txBody>
        </p:sp>
        <p:sp>
          <p:nvSpPr>
            <p:cNvPr id="18" name="TextBox 18"/>
            <p:cNvSpPr txBox="1"/>
            <p:nvPr/>
          </p:nvSpPr>
          <p:spPr>
            <a:xfrm>
              <a:off x="832104" y="3432810"/>
              <a:ext cx="437877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try { await gercekBaglanFn(secenekler); return; }</a:t>
              </a:r>
            </a:p>
          </p:txBody>
        </p:sp>
        <p:sp>
          <p:nvSpPr>
            <p:cNvPr id="19" name="TextBox 19"/>
            <p:cNvSpPr txBox="1"/>
            <p:nvPr/>
          </p:nvSpPr>
          <p:spPr>
            <a:xfrm>
              <a:off x="832104" y="3642360"/>
              <a:ext cx="63413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catch {</a:t>
              </a:r>
            </a:p>
          </p:txBody>
        </p:sp>
        <p:sp>
          <p:nvSpPr>
            <p:cNvPr id="20" name="TextBox 20"/>
            <p:cNvSpPr txBox="1"/>
            <p:nvPr/>
          </p:nvSpPr>
          <p:spPr>
            <a:xfrm>
              <a:off x="832104" y="3851910"/>
              <a:ext cx="3662646"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if (deneme === maksimumDeneme) throw ...;</a:t>
              </a:r>
            </a:p>
          </p:txBody>
        </p:sp>
        <p:sp>
          <p:nvSpPr>
            <p:cNvPr id="21" name="TextBox 21"/>
            <p:cNvSpPr txBox="1"/>
            <p:nvPr/>
          </p:nvSpPr>
          <p:spPr>
            <a:xfrm>
              <a:off x="832104" y="4061460"/>
              <a:ext cx="188423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await bekle(bekleMs);</a:t>
              </a:r>
            </a:p>
          </p:txBody>
        </p:sp>
        <p:sp>
          <p:nvSpPr>
            <p:cNvPr id="22" name="TextBox 22"/>
            <p:cNvSpPr txBox="1"/>
            <p:nvPr/>
          </p:nvSpPr>
          <p:spPr>
            <a:xfrm>
              <a:off x="832104" y="4271010"/>
              <a:ext cx="10104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t>
              </a:r>
            </a:p>
          </p:txBody>
        </p:sp>
        <p:sp>
          <p:nvSpPr>
            <p:cNvPr id="23" name="TextBox 23"/>
            <p:cNvSpPr txBox="1"/>
            <p:nvPr/>
          </p:nvSpPr>
          <p:spPr>
            <a:xfrm>
              <a:off x="832104" y="4480560"/>
              <a:ext cx="101041"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a:t>
              </a:r>
            </a:p>
          </p:txBody>
        </p:sp>
        <p:sp>
          <p:nvSpPr>
            <p:cNvPr id="24" name="TextBox 24"/>
            <p:cNvSpPr txBox="1"/>
            <p:nvPr/>
          </p:nvSpPr>
          <p:spPr>
            <a:xfrm>
              <a:off x="832104" y="4785360"/>
              <a:ext cx="385506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host: "kutuphane-db" · Compose'daki servis adı</a:t>
              </a:r>
            </a:p>
          </p:txBody>
        </p:sp>
        <p:sp>
          <p:nvSpPr>
            <p:cNvPr id="25" name="TextBox 25"/>
            <p:cNvSpPr txBox="1"/>
            <p:nvPr/>
          </p:nvSpPr>
          <p:spPr>
            <a:xfrm>
              <a:off x="832104" y="4994910"/>
              <a:ext cx="4532353"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 Çıktı: [kutuphane-db] Bağlantı 3. denemede kuruldu.</a:t>
              </a:r>
            </a:p>
          </p:txBody>
        </p:sp>
      </p:grpSp>
      <p:grpSp>
        <p:nvGrpSpPr>
          <p:cNvPr id="42" name="explain-block"/>
          <p:cNvGrpSpPr/>
          <p:nvPr/>
        </p:nvGrpSpPr>
        <p:grpSpPr>
          <a:xfrm>
            <a:off x="7581900" y="2019300"/>
            <a:ext cx="4000500" cy="3429000"/>
            <a:chOff x="7581900" y="2019300"/>
            <a:chExt cx="4000500" cy="3429000"/>
          </a:xfrm>
        </p:grpSpPr>
        <p:sp>
          <p:nvSpPr>
            <p:cNvPr id="27" name="Rectangle 27"/>
            <p:cNvSpPr/>
            <p:nvPr/>
          </p:nvSpPr>
          <p:spPr>
            <a:xfrm>
              <a:off x="7581900" y="2019300"/>
              <a:ext cx="4000500" cy="1676400"/>
            </a:xfrm>
            <a:prstGeom prst="roundRect">
              <a:avLst>
                <a:gd name="adj" fmla="val 4545"/>
              </a:avLst>
            </a:prstGeom>
            <a:solidFill>
              <a:srgbClr val="FFFFFF"/>
            </a:solidFill>
            <a:ln w="14288">
              <a:solidFill>
                <a:srgbClr val="B8CBD3"/>
              </a:solidFill>
            </a:ln>
          </p:spPr>
        </p:sp>
        <p:sp>
          <p:nvSpPr>
            <p:cNvPr id="28" name="TextBox 28"/>
            <p:cNvSpPr txBox="1"/>
            <p:nvPr/>
          </p:nvSpPr>
          <p:spPr>
            <a:xfrm>
              <a:off x="7802499" y="2154079"/>
              <a:ext cx="164172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Kritik satırlar</a:t>
              </a:r>
            </a:p>
          </p:txBody>
        </p:sp>
        <p:sp>
          <p:nvSpPr>
            <p:cNvPr id="29" name="TextBox 29"/>
            <p:cNvSpPr txBox="1"/>
            <p:nvPr/>
          </p:nvSpPr>
          <p:spPr>
            <a:xfrm>
              <a:off x="7804404" y="2461260"/>
              <a:ext cx="228747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Sabit sayıda deneme, sonsuz</a:t>
              </a:r>
            </a:p>
          </p:txBody>
        </p:sp>
        <p:sp>
          <p:nvSpPr>
            <p:cNvPr id="30" name="TextBox 30"/>
            <p:cNvSpPr txBox="1"/>
            <p:nvPr/>
          </p:nvSpPr>
          <p:spPr>
            <a:xfrm>
              <a:off x="7804404" y="2670810"/>
              <a:ext cx="165994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döngü riski taşımaz.</a:t>
              </a:r>
            </a:p>
          </p:txBody>
        </p:sp>
        <p:sp>
          <p:nvSpPr>
            <p:cNvPr id="31" name="TextBox 31"/>
            <p:cNvSpPr txBox="1"/>
            <p:nvPr/>
          </p:nvSpPr>
          <p:spPr>
            <a:xfrm>
              <a:off x="7804404" y="2937510"/>
              <a:ext cx="25134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Her denemeden sonra sabit süre</a:t>
              </a:r>
            </a:p>
          </p:txBody>
        </p:sp>
        <p:sp>
          <p:nvSpPr>
            <p:cNvPr id="32" name="TextBox 32"/>
            <p:cNvSpPr txBox="1"/>
            <p:nvPr/>
          </p:nvSpPr>
          <p:spPr>
            <a:xfrm>
              <a:off x="7804404" y="3147060"/>
              <a:ext cx="23011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beklenir; DB'ye ayağa kalkma</a:t>
              </a:r>
            </a:p>
          </p:txBody>
        </p:sp>
        <p:sp>
          <p:nvSpPr>
            <p:cNvPr id="33" name="TextBox 33"/>
            <p:cNvSpPr txBox="1"/>
            <p:nvPr/>
          </p:nvSpPr>
          <p:spPr>
            <a:xfrm>
              <a:off x="7804404" y="3356610"/>
              <a:ext cx="13368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zamanı tanınır.</a:t>
              </a:r>
            </a:p>
          </p:txBody>
        </p:sp>
        <p:sp>
          <p:nvSpPr>
            <p:cNvPr id="34" name="Rectangle 34"/>
            <p:cNvSpPr/>
            <p:nvPr/>
          </p:nvSpPr>
          <p:spPr>
            <a:xfrm>
              <a:off x="7581900" y="3848100"/>
              <a:ext cx="4000500" cy="1600200"/>
            </a:xfrm>
            <a:prstGeom prst="roundRect">
              <a:avLst>
                <a:gd name="adj" fmla="val 4762"/>
              </a:avLst>
            </a:prstGeom>
            <a:solidFill>
              <a:srgbClr val="EAF4F6"/>
            </a:solidFill>
            <a:ln>
              <a:noFill/>
            </a:ln>
          </p:spPr>
        </p:sp>
        <p:sp>
          <p:nvSpPr>
            <p:cNvPr id="35" name="Rectangle 35"/>
            <p:cNvSpPr/>
            <p:nvPr/>
          </p:nvSpPr>
          <p:spPr>
            <a:xfrm>
              <a:off x="7581900" y="3848100"/>
              <a:ext cx="57150" cy="1600200"/>
            </a:xfrm>
            <a:prstGeom prst="rect">
              <a:avLst/>
            </a:prstGeom>
            <a:solidFill>
              <a:srgbClr val="00A6A6"/>
            </a:solidFill>
            <a:ln>
              <a:noFill/>
            </a:ln>
          </p:spPr>
        </p:sp>
        <p:sp>
          <p:nvSpPr>
            <p:cNvPr id="36" name="TextBox 36"/>
            <p:cNvSpPr txBox="1"/>
            <p:nvPr/>
          </p:nvSpPr>
          <p:spPr>
            <a:xfrm>
              <a:off x="7802499" y="3982879"/>
              <a:ext cx="19226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Dikkat noktası</a:t>
              </a:r>
            </a:p>
          </p:txBody>
        </p:sp>
        <p:sp>
          <p:nvSpPr>
            <p:cNvPr id="37" name="TextBox 37"/>
            <p:cNvSpPr txBox="1"/>
            <p:nvPr/>
          </p:nvSpPr>
          <p:spPr>
            <a:xfrm>
              <a:off x="7804404" y="4290060"/>
              <a:ext cx="24191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depends_on, servisin başlamış</a:t>
              </a:r>
            </a:p>
          </p:txBody>
        </p:sp>
        <p:sp>
          <p:nvSpPr>
            <p:cNvPr id="38" name="TextBox 38"/>
            <p:cNvSpPr txBox="1"/>
            <p:nvPr/>
          </p:nvSpPr>
          <p:spPr>
            <a:xfrm>
              <a:off x="7804404" y="4499610"/>
              <a:ext cx="28149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olmasını garanti eder ama bağlantı</a:t>
              </a:r>
            </a:p>
          </p:txBody>
        </p:sp>
        <p:sp>
          <p:nvSpPr>
            <p:cNvPr id="39" name="TextBox 39"/>
            <p:cNvSpPr txBox="1"/>
            <p:nvPr/>
          </p:nvSpPr>
          <p:spPr>
            <a:xfrm>
              <a:off x="7804404" y="4709160"/>
              <a:ext cx="237881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almaya hazır olduğunu garanti</a:t>
              </a:r>
            </a:p>
          </p:txBody>
        </p:sp>
        <p:sp>
          <p:nvSpPr>
            <p:cNvPr id="40" name="TextBox 40"/>
            <p:cNvSpPr txBox="1"/>
            <p:nvPr/>
          </p:nvSpPr>
          <p:spPr>
            <a:xfrm>
              <a:off x="7804404" y="4918710"/>
              <a:ext cx="218495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etmez — bu yüzden uygulama</a:t>
              </a:r>
            </a:p>
          </p:txBody>
        </p:sp>
        <p:sp>
          <p:nvSpPr>
            <p:cNvPr id="41" name="TextBox 41"/>
            <p:cNvSpPr txBox="1"/>
            <p:nvPr/>
          </p:nvSpPr>
          <p:spPr>
            <a:xfrm>
              <a:off x="7804404" y="5128260"/>
              <a:ext cx="25726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tarafında retry hâlâ gereklidir.</a:t>
              </a:r>
            </a:p>
          </p:txBody>
        </p:sp>
      </p:grpSp>
      <p:grpSp>
        <p:nvGrpSpPr>
          <p:cNvPr id="44" name="extend-note"/>
          <p:cNvGrpSpPr/>
          <p:nvPr/>
        </p:nvGrpSpPr>
        <p:grpSpPr>
          <a:xfrm>
            <a:off x="603504" y="5699760"/>
            <a:ext cx="8996373" cy="234696"/>
            <a:chOff x="603504" y="5699760"/>
            <a:chExt cx="8996373" cy="234696"/>
          </a:xfrm>
        </p:grpSpPr>
        <p:sp>
          <p:nvSpPr>
            <p:cNvPr id="43" name="TextBox 43"/>
            <p:cNvSpPr txBox="1"/>
            <p:nvPr/>
          </p:nvSpPr>
          <p:spPr>
            <a:xfrm>
              <a:off x="603504" y="5699760"/>
              <a:ext cx="899637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Geliştirin: exponential backoff ekleyin · API servisine healthcheck tanımlayın · Dockerfile'a HEALTHCHECK ekleyin</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image"/>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221127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Image / Container</a:t>
              </a:r>
            </a:p>
          </p:txBody>
        </p:sp>
        <p:sp>
          <p:nvSpPr>
            <p:cNvPr id="8" name="TextBox 8"/>
            <p:cNvSpPr txBox="1"/>
            <p:nvPr/>
          </p:nvSpPr>
          <p:spPr>
            <a:xfrm>
              <a:off x="832104" y="1908810"/>
              <a:ext cx="23439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Image salt okunur taslaktır;</a:t>
              </a:r>
              <a:br/>
              <a:r>
                <a:rPr lang="tr-TR" sz="1200" dirty="0">
                  <a:solidFill>
                    <a:srgbClr val="172B3A"/>
                  </a:solidFill>
                  <a:latin typeface="+mn-lt"/>
                  <a:ea typeface="+mn-ea"/>
                  <a:cs typeface="+mn-cs"/>
                </a:rPr>
                <a:t>container bu taslaktan üretilen</a:t>
              </a:r>
              <a:br/>
              <a:r>
                <a:rPr lang="tr-TR" sz="1200" dirty="0">
                  <a:solidFill>
                    <a:srgbClr val="172B3A"/>
                  </a:solidFill>
                  <a:latin typeface="+mn-lt"/>
                  <a:ea typeface="+mn-ea"/>
                  <a:cs typeface="+mn-cs"/>
                </a:rPr>
                <a:t>çalışan örnektir.</a:t>
              </a:r>
            </a:p>
          </p:txBody>
        </p:sp>
      </p:grpSp>
      <p:grpSp>
        <p:nvGrpSpPr>
          <p:cNvPr id="13" name="summary-multistage"/>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213804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Multi-stage build</a:t>
              </a:r>
            </a:p>
          </p:txBody>
        </p:sp>
        <p:sp>
          <p:nvSpPr>
            <p:cNvPr id="12" name="TextBox 12"/>
            <p:cNvSpPr txBox="1"/>
            <p:nvPr/>
          </p:nvSpPr>
          <p:spPr>
            <a:xfrm>
              <a:off x="4565904" y="1908810"/>
              <a:ext cx="22829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Derleme araçlarını production</a:t>
              </a:r>
              <a:br/>
              <a:r>
                <a:rPr lang="tr-TR" sz="1200" dirty="0">
                  <a:solidFill>
                    <a:srgbClr val="172B3A"/>
                  </a:solidFill>
                  <a:latin typeface="+mn-lt"/>
                  <a:ea typeface="+mn-ea"/>
                  <a:cs typeface="+mn-cs"/>
                </a:rPr>
                <a:t>image'ından ayırarak daha</a:t>
              </a:r>
              <a:br/>
              <a:r>
                <a:rPr lang="tr-TR" sz="1200" dirty="0">
                  <a:solidFill>
                    <a:srgbClr val="172B3A"/>
                  </a:solidFill>
                  <a:latin typeface="+mn-lt"/>
                  <a:ea typeface="+mn-ea"/>
                  <a:cs typeface="+mn-cs"/>
                </a:rPr>
                <a:t>küçük, güvenli sonuç üretir.</a:t>
              </a:r>
            </a:p>
          </p:txBody>
        </p:sp>
      </p:grpSp>
      <p:grpSp>
        <p:nvGrpSpPr>
          <p:cNvPr id="17" name="summary-volume"/>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85299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Volume</a:t>
              </a:r>
            </a:p>
          </p:txBody>
        </p:sp>
        <p:sp>
          <p:nvSpPr>
            <p:cNvPr id="16" name="TextBox 16"/>
            <p:cNvSpPr txBox="1"/>
            <p:nvPr/>
          </p:nvSpPr>
          <p:spPr>
            <a:xfrm>
              <a:off x="8299704" y="1908810"/>
              <a:ext cx="23667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Container geçicidir ama volume,</a:t>
              </a:r>
              <a:br/>
              <a:r>
                <a:rPr lang="tr-TR" sz="1200" dirty="0">
                  <a:solidFill>
                    <a:srgbClr val="172B3A"/>
                  </a:solidFill>
                  <a:latin typeface="+mn-lt"/>
                  <a:ea typeface="+mn-ea"/>
                  <a:cs typeface="+mn-cs"/>
                </a:rPr>
                <a:t>durum taşıyan servislerin</a:t>
              </a:r>
              <a:br/>
              <a:r>
                <a:rPr lang="tr-TR" sz="1200" dirty="0">
                  <a:solidFill>
                    <a:srgbClr val="172B3A"/>
                  </a:solidFill>
                  <a:latin typeface="+mn-lt"/>
                  <a:ea typeface="+mn-ea"/>
                  <a:cs typeface="+mn-cs"/>
                </a:rPr>
                <a:t>verisini kalıcı kılar.</a:t>
              </a:r>
            </a:p>
          </p:txBody>
        </p:sp>
      </p:grpSp>
      <p:grpSp>
        <p:nvGrpSpPr>
          <p:cNvPr id="21" name="summary-network"/>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105706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Network</a:t>
              </a:r>
            </a:p>
          </p:txBody>
        </p:sp>
        <p:sp>
          <p:nvSpPr>
            <p:cNvPr id="20" name="TextBox 20"/>
            <p:cNvSpPr txBox="1"/>
            <p:nvPr/>
          </p:nvSpPr>
          <p:spPr>
            <a:xfrm>
              <a:off x="832104" y="3718560"/>
              <a:ext cx="21000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Servislerin birbirine kararlı</a:t>
              </a:r>
              <a:br/>
              <a:r>
                <a:rPr lang="tr-TR" sz="1200" dirty="0">
                  <a:solidFill>
                    <a:srgbClr val="172B3A"/>
                  </a:solidFill>
                  <a:latin typeface="+mn-lt"/>
                  <a:ea typeface="+mn-ea"/>
                  <a:cs typeface="+mn-cs"/>
                </a:rPr>
                <a:t>isimlerle (localhost değil)</a:t>
              </a:r>
              <a:br/>
              <a:r>
                <a:rPr lang="tr-TR" sz="1200" dirty="0">
                  <a:solidFill>
                    <a:srgbClr val="172B3A"/>
                  </a:solidFill>
                  <a:latin typeface="+mn-lt"/>
                  <a:ea typeface="+mn-ea"/>
                  <a:cs typeface="+mn-cs"/>
                </a:rPr>
                <a:t>ulaşmasını sağlar.</a:t>
              </a:r>
            </a:p>
          </p:txBody>
        </p:sp>
      </p:grpSp>
      <p:grpSp>
        <p:nvGrpSpPr>
          <p:cNvPr id="25" name="summary-compose"/>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198164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Docker Compose</a:t>
              </a:r>
            </a:p>
          </p:txBody>
        </p:sp>
        <p:sp>
          <p:nvSpPr>
            <p:cNvPr id="24" name="TextBox 24"/>
            <p:cNvSpPr txBox="1"/>
            <p:nvPr/>
          </p:nvSpPr>
          <p:spPr>
            <a:xfrm>
              <a:off x="4565904" y="3718560"/>
              <a:ext cx="25725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Servisleri, volume'ü ve network'ü</a:t>
              </a:r>
              <a:br/>
              <a:r>
                <a:rPr lang="tr-TR" sz="1200" dirty="0">
                  <a:solidFill>
                    <a:srgbClr val="172B3A"/>
                  </a:solidFill>
                  <a:latin typeface="+mn-lt"/>
                  <a:ea typeface="+mn-ea"/>
                  <a:cs typeface="+mn-cs"/>
                </a:rPr>
                <a:t>tek YAML dosyasında birleştirip</a:t>
              </a:r>
              <a:br/>
              <a:r>
                <a:rPr lang="tr-TR" sz="1200" dirty="0">
                  <a:solidFill>
                    <a:srgbClr val="172B3A"/>
                  </a:solidFill>
                  <a:latin typeface="+mn-lt"/>
                  <a:ea typeface="+mn-ea"/>
                  <a:cs typeface="+mn-cs"/>
                </a:rPr>
                <a:t>tek komutla ayağa kaldırır.</a:t>
              </a:r>
            </a:p>
          </p:txBody>
        </p:sp>
      </p:grpSp>
      <p:grpSp>
        <p:nvGrpSpPr>
          <p:cNvPr id="29" name="summary-healthcheck"/>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150158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Healthcheck</a:t>
              </a:r>
            </a:p>
          </p:txBody>
        </p:sp>
        <p:sp>
          <p:nvSpPr>
            <p:cNvPr id="28" name="TextBox 28"/>
            <p:cNvSpPr txBox="1"/>
            <p:nvPr/>
          </p:nvSpPr>
          <p:spPr>
            <a:xfrm>
              <a:off x="8299704" y="3718560"/>
              <a:ext cx="21686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depends_on yalnızca sırayı</a:t>
              </a:r>
              <a:br/>
              <a:r>
                <a:rPr lang="tr-TR" sz="1200" dirty="0">
                  <a:solidFill>
                    <a:srgbClr val="172B3A"/>
                  </a:solidFill>
                  <a:latin typeface="+mn-lt"/>
                  <a:ea typeface="+mn-ea"/>
                  <a:cs typeface="+mn-cs"/>
                </a:rPr>
                <a:t>garanti eder; hazır olma için</a:t>
              </a:r>
              <a:br/>
              <a:r>
                <a:rPr lang="tr-TR" sz="1200" dirty="0">
                  <a:solidFill>
                    <a:srgbClr val="172B3A"/>
                  </a:solidFill>
                  <a:latin typeface="+mn-lt"/>
                  <a:ea typeface="+mn-ea"/>
                  <a:cs typeface="+mn-cs"/>
                </a:rPr>
                <a:t>service_healthy gerekir.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861388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 Bir backend'i konteynerleştirmenin en önemli katkısı hız değildir.</a:t>
              </a:r>
            </a:p>
          </p:txBody>
        </p:sp>
        <p:sp>
          <p:nvSpPr>
            <p:cNvPr id="32" name="TextBox 32"/>
            <p:cNvSpPr txBox="1"/>
            <p:nvPr/>
          </p:nvSpPr>
          <p:spPr>
            <a:xfrm>
              <a:off x="906399" y="5583079"/>
              <a:ext cx="790360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Her ortamda aynı davranışı garanti eden, taşınabilir bir birim üretmektir.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9826752" cy="724281"/>
            <a:chOff x="599694" y="1484948"/>
            <a:chExt cx="9826752" cy="724281"/>
          </a:xfrm>
        </p:grpSpPr>
        <p:sp>
          <p:nvSpPr>
            <p:cNvPr id="7" name="TextBox 7"/>
            <p:cNvSpPr txBox="1"/>
            <p:nvPr/>
          </p:nvSpPr>
          <p:spPr>
            <a:xfrm>
              <a:off x="599694" y="1484948"/>
              <a:ext cx="9826752"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Uygulama artık taşınabilir bir konteyner içinde çalışıyor. Sıradaki adım, bu</a:t>
              </a:r>
              <a:br/>
              <a:r>
                <a:rPr lang="tr-TR" sz="1950" dirty="0">
                  <a:solidFill>
                    <a:srgbClr val="172B3A"/>
                  </a:solidFill>
                  <a:latin typeface="+mn-lt"/>
                  <a:ea typeface="+mn-ea"/>
                  <a:cs typeface="+mn-cs"/>
                </a:rPr>
                <a:t>konteyneri gerçek bir Linux sunucuya taşıyıp dış dünyaya güvenli biçimde açmak.</a:t>
              </a:r>
            </a:p>
          </p:txBody>
        </p:sp>
      </p:grpSp>
      <p:grpSp>
        <p:nvGrpSpPr>
          <p:cNvPr id="14" name="bridge-now"/>
          <p:cNvGrpSpPr/>
          <p:nvPr/>
        </p:nvGrpSpPr>
        <p:grpSpPr>
          <a:xfrm>
            <a:off x="599694" y="2799398"/>
            <a:ext cx="3255391" cy="1834419"/>
            <a:chOff x="599694" y="2799398"/>
            <a:chExt cx="3255391"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524252"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Multi-stage Dockerfile ile</a:t>
              </a:r>
              <a:br/>
              <a:r>
                <a:rPr lang="tr-TR" sz="1580" dirty="0">
                  <a:solidFill>
                    <a:srgbClr val="172B3A"/>
                  </a:solidFill>
                  <a:latin typeface="+mn-lt"/>
                  <a:ea typeface="+mn-ea"/>
                  <a:cs typeface="+mn-cs"/>
                </a:rPr>
                <a:t>production imajı üretmek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300583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Compose ile API + PostgreSQL'i</a:t>
              </a:r>
              <a:br/>
              <a:r>
                <a:rPr lang="tr-TR" sz="1580" dirty="0">
                  <a:solidFill>
                    <a:srgbClr val="172B3A"/>
                  </a:solidFill>
                  <a:latin typeface="+mn-lt"/>
                  <a:ea typeface="+mn-ea"/>
                  <a:cs typeface="+mn-cs"/>
                </a:rPr>
                <a:t>tek komutla ayağa kaldırmak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3068241"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Sunucuya dağıtım ve</a:t>
              </a:r>
              <a:br/>
              <a:r>
                <a:rPr lang="tr-TR" sz="2250" b="1" dirty="0">
                  <a:solidFill>
                    <a:srgbClr val="FFFFFF"/>
                  </a:solidFill>
                  <a:latin typeface="+mn-lt"/>
                  <a:ea typeface="+mn-ea"/>
                  <a:cs typeface="+mn-cs"/>
                </a:rPr>
                <a:t>Nginx reverse proxy</a:t>
              </a:r>
            </a:p>
          </p:txBody>
        </p:sp>
        <p:sp>
          <p:nvSpPr>
            <p:cNvPr id="18" name="TextBox 18"/>
            <p:cNvSpPr txBox="1"/>
            <p:nvPr/>
          </p:nvSpPr>
          <p:spPr>
            <a:xfrm>
              <a:off x="7307199" y="4135279"/>
              <a:ext cx="3186430"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Konteynerinizi bir Linux</a:t>
              </a:r>
              <a:br/>
              <a:r>
                <a:rPr lang="tr-TR" sz="1580" dirty="0">
                  <a:solidFill>
                    <a:srgbClr val="EAF4F6"/>
                  </a:solidFill>
                  <a:latin typeface="+mn-lt"/>
                  <a:ea typeface="+mn-ea"/>
                  <a:cs typeface="+mn-cs"/>
                </a:rPr>
                <a:t>sunucuda HTTPS ile açacaksınız.</a:t>
              </a:r>
            </a:p>
          </p:txBody>
        </p:sp>
      </p:grpSp>
      <p:grpSp>
        <p:nvGrpSpPr>
          <p:cNvPr id="22" name="bridge-closing"/>
          <p:cNvGrpSpPr/>
          <p:nvPr/>
        </p:nvGrpSpPr>
        <p:grpSpPr>
          <a:xfrm>
            <a:off x="609600" y="5429250"/>
            <a:ext cx="10972800" cy="729234"/>
            <a:chOff x="609600" y="5429250"/>
            <a:chExt cx="10972800" cy="729234"/>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9535478"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Her yeni servisi tasarlarken hangi verinin volume'a, hangi bağlantının network'e</a:t>
              </a:r>
              <a:br/>
              <a:r>
                <a:rPr lang="tr-TR" sz="1800" b="1" dirty="0">
                  <a:solidFill>
                    <a:srgbClr val="12355B"/>
                  </a:solidFill>
                  <a:latin typeface="+mn-lt"/>
                  <a:ea typeface="+mn-ea"/>
                  <a:cs typeface="+mn-cs"/>
                </a:rPr>
                <a:t>ihtiyaç duyduğunu önceden düşünün.</a:t>
              </a:r>
            </a:p>
          </p:txBody>
        </p:sp>
      </p:grpSp>
      <p:sp>
        <p:nvSpPr>
          <p:cNvPr id="23" name="TextBox 2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14-docker-compose-20260916">
  <a:themeElements>
    <a:clrScheme name="b14-docker-compose-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4-docker-compose-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4-docker-compose-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14-docker-compose-20260916">
  <a:themeElements>
    <a:clrScheme name="b14-docker-compose-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4-docker-compose-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4-docker-compose-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2026-09-19T21:21:59Z</dcterms:created>
  <dcterms:modified xsi:type="dcterms:W3CDTF">2026-09-19T21:21:59Z</dcterms:modified>
  <cp:category/>
  <cp:contentStatus/>
</cp:coreProperties>
</file>