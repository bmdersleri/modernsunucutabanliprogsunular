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Override PartName="/ppt/theme/theme2.xml" ContentType="application/vnd.openxmlformats-officedocument.them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saveSubsetFonts="1" autoCompressPictures="0">
  <p:sldMasterIdLst>
    <p:sldMasterId id="2147483648" r:id="rId1"/>
  </p:sldMasterIdLst>
  <p:notesMasterIdLst>
    <p:notesMasterId r:id="rId32"/>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16x9"/>
  <p:notesSz cx="6858000" cy="9144000"/>
  <p:defaultText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  <Relationship Id="rId32" Type="http://schemas.openxmlformats.org/officeDocument/2006/relationships/notesMaster" Target="notesMasters/notesMaster1.xml"/>
</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a:lstStyle/>
          <a:p>
            <a:pPr/>
            <a:endParaRPr lang="tr-TR"/>
          </a:p>
        </p:txBody>
      </p:sp>
      <p:sp>
        <p:nvSpPr>
          <p:cNvPr id="3" name="Date Placeholder 2"/>
          <p:cNvSpPr>
            <a:spLocks noGrp="1"/>
          </p:cNvSpPr>
          <p:nvPr>
            <p:ph type="dt" sz="half" idx="1"/>
          </p:nvPr>
        </p:nvSpPr>
        <p:spPr>
          <a:xfrm>
            <a:off x="3884613" y="0"/>
            <a:ext cx="2971800" cy="457200"/>
          </a:xfrm>
          <a:prstGeom prst="rect">
            <a:avLst/>
          </a:prstGeom>
        </p:spPr>
        <p:txBody>
          <a:bodyPr/>
          <a:lstStyle/>
          <a:p>
            <a:pPr/>
            <a:endParaRPr lang="tr-TR"/>
          </a:p>
        </p:txBody>
      </p:sp>
      <p:sp>
        <p:nvSpPr>
          <p:cNvPr id="4" name="Slide Image Placeholder 3"/>
          <p:cNvSpPr>
            <a:spLocks noGrp="1" noRot="1" noChangeAspect="1"/>
          </p:cNvSpPr>
          <p:nvPr>
            <p:ph type="sldImg" idx="2"/>
          </p:nvPr>
        </p:nvSpPr>
        <p:spPr>
          <a:xfrm>
            <a:off x="1143000" y="685800"/>
            <a:ext cx="4572000" cy="3429000"/>
          </a:xfrm>
          <a:prstGeom prst="rect">
            <a:avLst/>
          </a:prstGeom>
        </p:spPr>
      </p:sp>
      <p:sp>
        <p:nvSpPr>
          <p:cNvPr id="5" name="Notes Placeholder 4"/>
          <p:cNvSpPr>
            <a:spLocks noGrp="1"/>
          </p:cNvSpPr>
          <p:nvPr>
            <p:ph type="body" sz="quarter" idx="3"/>
          </p:nvPr>
        </p:nvSpPr>
        <p:spPr>
          <a:xfrm>
            <a:off x="685800" y="4343400"/>
            <a:ext cx="5486400" cy="4114800"/>
          </a:xfrm>
          <a:prstGeom prst="rect">
            <a:avLst/>
          </a:prstGeom>
        </p:spPr>
        <p:txBody>
          <a:bodyPr/>
          <a:lstStyle/>
          <a:p>
            <a:pPr/>
            <a:endParaRPr lang="tr-TR"/>
          </a:p>
        </p:txBody>
      </p:sp>
      <p:sp>
        <p:nvSpPr>
          <p:cNvPr id="6" name="Footer Placeholder 5"/>
          <p:cNvSpPr>
            <a:spLocks noGrp="1"/>
          </p:cNvSpPr>
          <p:nvPr>
            <p:ph type="ftr" sz="quarter" idx="4"/>
          </p:nvPr>
        </p:nvSpPr>
        <p:spPr>
          <a:xfrm>
            <a:off x="0" y="8685213"/>
            <a:ext cx="2971800" cy="457200"/>
          </a:xfrm>
          <a:prstGeom prst="rect">
            <a:avLst/>
          </a:prstGeom>
        </p:spPr>
        <p:txBody>
          <a:bodyPr/>
          <a:lstStyle/>
          <a:p>
            <a:pPr/>
            <a:endParaRPr lang="tr-TR"/>
          </a:p>
        </p:txBody>
      </p:sp>
      <p:sp>
        <p:nvSpPr>
          <p:cNvPr id="7" name="Slide Number Placeholder 6"/>
          <p:cNvSpPr>
            <a:spLocks noGrp="1"/>
          </p:cNvSpPr>
          <p:nvPr>
            <p:ph type="sldNum" sz="quarter" idx="5"/>
          </p:nvPr>
        </p:nvSpPr>
        <p:spPr>
          <a:xfrm>
            <a:off x="3884613" y="8685213"/>
            <a:ext cx="2971800" cy="457200"/>
          </a:xfrm>
          <a:prstGeom prst="rect">
            <a:avLst/>
          </a:prstGeom>
        </p:spPr>
        <p:txBody>
          <a:bodyPr/>
          <a:lstStyle/>
          <a:p>
            <a:pPr/>
            <a:endParaRPr lang="tr-TR"/>
          </a:p>
        </p:txBody>
      </p:sp>
    </p:spTree>
  </p:cSld>
  <p:clrMap bg1="lt1" tx1="dk1" bg2="lt2" tx2="dk2" accent1="accent1" accent2="accent2" accent3="accent3" accent4="accent4" accent5="accent5" accent6="accent6" hlink="hlink" folHlink="folHlink"/>
  <p:hf/>
  <p:notesStyle>
    <a:lvl1pPr marL="0" algn="l">
      <a:defRPr sz="1200" lang="tr-TR"/>
    </a:lvl1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 Modern Sunucu Tabanlı Programlama kitabının sekizinci bölümü olarak Prisma ORM ve veri erişim katmanını ele alır. Şimdiye kadar sunucu tarafında iş mantığı ve HTTP isteklerinin işlenmesi üzerinde durulmuştu; bu bölümle birlikte odak, uygulamanın veritabanıyla nasıl güvenli ve tür denetimli biçimde konuştuğuna kayar. Prisma, TypeScript ekosisteminde yaygın kullanılan bir ORM aracı olduğu için burada seçilmiştir; ancak amaç yalnızca bir aracı öğretmek değil, ORM, migration ve repository kavramlarının birbirinden farklı sorumluluklar taşıdığını kavratmaktır.</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Bölümün hedefi tek cümlede şu şekilde özetlenebilir: Prisma ile şema tanımlamak, migration üretmek, ilişkili verileri tür güvenli biçimde sorgulamak ve tüm bu veri erişimini repository katmanında toplamak. Sayfadaki beş soru, bölüm boyunca cevaplanacak ana eksenleri temsil eder: Prisma'nın uygulama ile veritabanı arasında nasıl bir köprü kurduğu, schema/migration/Client üçlüsünün sorumluluk ayrımı, tür güvenliğinin hangi hataları derleme anında yakaladığı, ilişkili modellerin (User-Post) nasıl sorgulandığı ve repository katmanının neden ayrı bir soyutlama olarak var olduğu. Bu sorular, öğrencinin bölüm sonunda kendi kendine yanıtlayabilmesi beklenen kontrol noktalarıdır.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Beş öğrenme hedefi, bölümün pratik çıktısını tanımlar ve her biri somut bir başarı ölçütüyle eşleştirilmiştir. İlk hedef, User ve Post modellerini schema.prisma içinde doğru alan türleri, birincil anahtar ve ilişki alanlarıyla tanımlamaktır. İkinci hedef migration sürecinin yönetimidir; burada vurgulanması gereken nokta, şema dosyasındaki bir değişikliğin kendiliğinden veritabanına yansımadığı, mutlaka migration adımından geçmesi gerektiğidir. Üçüncü hedef CRUD operasyonlarını (create, findMany, update, delete) tür denetiminden yararlanarak yazmaktır. Dördüncü hedef include ve select ile ilişkili veriyi yalnızca ihtiyaç kadar getirmektir — bu, performans ve güvenlik açısından kritik bir ayrımdır. Beşinci hedef ise veri erişimini repository katmanında sınırlandırarak hata durumlarını uygulamaya güvenli biçimde taşımaktır.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Kavram haritası, Prisma schema'nın bölümün tek gerçeklik kaynağı (single source of truth) olduğunu görsel olarak vurgular: merkezdeki schema kutusundan migration, Prisma Client, CRUD sorguları ve dolaylı olarak repository katmanına doğru düz oklar uzanır — bunlar "üretim/tanım" ilişkisidir. Kesikli oklar ise "sonuç ve soyutlama" ilişkisini gösterir: migration'ın veritabanı şemasını evriltmesi ve CRUD sorgularının repository katmanının arkasında gizlenmesi gibi. Bu diyagramın asıl mesajı şudur: schema.prisma değişmeden migration, Client ya da tür güvenli sorgu üretilemez; dolayısıyla bölümdeki her teknik adım aslında bu tek kaynağın bir türevidir.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matris, bölümün altı temel kavramını (Prisma ORM, schema.prisma, Migration, Relations, Type-Safe Query, Repository Katmanı) üç soruyla sınırlandırır: her kavramın temel görevi nedir, ne yapmaz, ve olmazsa ne olur. Bu üçlü format kasıtlı olarak seçilmiştir çünkü öğrencilerin en sık yaptığı hata, bir kavramın sorumluluğunu abartıp komşu kavramın işini de yaptığını sanmaktır — örneğin Prisma ORM'in SQL bilgisini gereksiz kıldığını, ya da schema.prisma'nın kendiliğinden veritabanını değiştirdiğini düşünmek. "Olmazsa ne olur?" sütunu özellikle önemlidir: örneğin Relations tanımlanmazsa geliştirici birden çok sorguyu elle birleştirmek zorunda kalır ve N+1 sorgu problemi büyür; Repository katmanı olmazsa servis kodu doğrudan Prisma API'sine kilitlenir ve test edilebilirlik kaybolur. Bu matris, ilerleyen sayfalarda işlenecek her konunun çerçevesini önceden çizer.</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Prisma, ilişkisel veritabanlarıyla TypeScript/JavaScript uygulamaları arasında bir "tercüman" gibi çalışır: uygulama tarafındaki nesne ve sınıflar, Prisma katmanından geçerek SQL'e çevrilir, sonuç ise yine TypeScript nesnesi olarak geri döner. Model çoğunlukla bir tabloya, alan bir sütuna, model örneği ise bir satıra karşılık gelir — bu eşleme mantığı ORM'in temelini oluşturur. Diyagramdaki üç kutu (uygulama tarafı, Prisma, veritabanı tarafı) arasındaki akış, "bu kullanıcının gönderilerini getir" gibi iş odaklı bir isteğin nasıl "SELECT posts WHERE user_id = ?" gibi somut bir SQL ifadesine dönüştüğünü gösterir. Kuramsal arka planda Fowler'ın (2002) tanımladığı iki karşıt desen hatırlatılır: Active Record ve Data Mapper. Prisma, modellerin ayrı bir şema dosyasında tanımlanıp bir istemci sınıfının üretilmesi nedeniyle Data Mapper yaklaşımına daha yakın konumlanır; bu, Active Record'un aksine model sınıflarının kendi kalıcılık mantığını taşımadığı anlamına gelir.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bir sorgunun uygulama içinde katman katman nasıl ilerlediğini gösterir: uygulama servisi iş odaklı bir istekte bulunur, repository bu isteği veri erişim sınırında tutar, Prisma Client sorguyu SQL'e çevirir, veritabanı SQL'i çalıştırıp satırları döndürür ve sonuç TypeScript nesnesi olarak geri akar. Bu akıştaki en önemli fikir, her katmanın yalnızca bir sorumluluk taşıması ve tür uyuşmazlığının çalışma anında değil, derleme aşamasında yakalanmasıdır. Alt kısımdaki iki döngü karşılaştırması bilinçli bir ayrımdır: migration döngüsü "mutfağın düzenine" benzetilir — şema değişikliği bir kez, sürümlenerek uygulanır; sorgu döngüsü ise "o anda hazırlanan sipariş" gibidir — her istekte yeniden çalışır. Bu ayrımı karıştırmak, öğrencilerin migration'ı her sorguda tekrar çalışması gereken bir işlem sanmasına yol açabilir; oysa migration yapısal, sorgu ise anlıktır.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8.1'deki schema.prisma dosyası üç bölümden oluşur: generator client bloğu tür güvenli Prisma Client üretilmesini sağlar, datasource bloğu veritabanı bağlantısının ortam değişkeninden (env) okunacağını belirtir, ve model User bloğu asıl veri yapısını tanımlar. Kritik satırlardan biri epostaAdresi alanına eklenen @unique niteleyicisidir; bu, e-posta alanını yalnızca uygulama kodunda değil, veritabanı düzeyinde de benzersiz kılar — yani iki kullanıcı aynı e-postayla kayıt olamaz, bu kısıtlama veritabanı motoru tarafından zorlanır. Dikkat kutusunda vurgulanan nokta bölümün en sık tekrarlanan uyarısıdır: şema dosyasını düzenlemek tek başına veritabanını değiştirmez; bu değişikliğin veritabanına yansıması için mutlaka bir migration çalıştırılmalıdır. Alt kısımdaki model-tablo, alan-sütun, model örneği-satır eşlemesi, ORM'in temel çeviri mantığını bir kez daha somutlaştırır.</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8.2, PrismaClient örneğinin nasıl oluşturulacağını ve iki temel işlemi (create, findMany) gösterir. new PrismaClient() çağrısı tür güvenli sorgu istemcisini oluşturur; user.create çağrısı yeni bir satır ekler ve eklenen kaydı döndürür; findMany ise kayıtları belirtilen sıralamaya (burada id'ye göre artan) göre bir dizi olarak getirir. Sayfadaki en kritik uyarı, her fonksiyon çağrısında yeni bir PrismaClient örneği oluşturmanın yaygın bir hata olduğudur — bu, veritabanı bağlantılarının gereksiz yere çoğalmasına yol açar; istemci, uygulama düzeyinde tek bir kez oluşturulup paylaşılmalıdır. Son not, Prisma Client'taki tüm çağrıların asenkron olduğunu hatırlatır: await ifadesi atlanırsa geliştirici gerçek veri yerine henüz çözülmemiş bir Promise nesnesiyle karşılaşır, bu da hem çalışma zamanı hatalarına hem de kafa karışıklığına yol açabilir.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Migration, veritabanı şemasındaki değişiklikleri sürümlü ve tekrarlanabilir adımlar hâlinde kaydeden bir dönüşümdür ve proje kaynak kodunun bir parçası olarak saklanır. Sayfadaki "tadilat günlüğü" benzetmesi bu fikri somutlaştırır: bir binaya ikinci kata sınıf eklendiği bilgisi yalnızca mimari çizimde durmaz, değişikliğin hangi sırayla yapıldığı da kayıt altına alınır; böylece aynı yapı başka bir ortamda güvenilir biçimde yeniden oluşturulabilir. Migration'ın var olma nedeni, ekip çalışmasında veritabanlarının elle değiştirilmesinin "benim bilgisayarımda çalışıyor" sorununa yol açmasıdır — bir geliştiricinin ortamındaki bir sütun başka bir ortamda bulunmayabilir. Kuramsal arka planda bu fikir, "şema evrimi" araştırma alanının pratikteki karşılığı olarak sunulur; migration dosyalarının Git'te sürümlenmesi, "altyapının kod olarak tanımlanması" (Infrastructure as Code) felsefesinin veritabanı şemasına uygulanmış hâlidir — her geçmiş durum, adımlar yeniden çalıştırılarak yeniden üretilebilir.</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mevcut bir modele yeni bir alan (telefonNumarasi) eklemenin uçtan uca akışını dört adımda gösterir: önce şema düzenlenir (alan isteğe bağlı, yani String? olarak eklenir), sonra prisma migrate dev --name komutu ile migration üretilir, ardından prisma generate ile Prisma Client yeniden üretilir, ve son olarak yeni alan uygulama kodunda kullanılabilir hâle gelir. Soru işareti (?) niteleyicisinin anlamı önemlidir: alan opsiyonel olduğu için var olan kayıtlarda bu alan için bir değer olmadan migration sorunsuz uygulanabilir — eğer alan zorunlu (non-null) olarak eklenseydi, mevcut satırlarda değer bulunmadığından migration başarısız olabilirdi. Alt kısımdaki uyarı, migrate dev komutunun yalnızca geliştirme ortamı için kullanılması gerektiğini, üretim ortamında ise migrate deploy komutunun tercih edilmesi gerektiğini vurgular; bu ayrım, geliştirme sırasında migration dosyalarının otomatik oluşturulup uygulanmasıyla üretimde önceden hazırlanmış migration'ların kontrollü biçimde uygulanması arasındaki farkı yansıtır.</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Karşılaştırmalı örnek, zorunlu bir alanın (okulNo String) doğrudan mevcut bir modele eklenmesinin neden riskli olduğunu gösterir: var olan satırların bu alanı bulunmadığından migration başarısız olabilir; buradaki asıl sorun bir geçiş planının düşünülmemiş olmasıdır. Doğru yaklaşım aşamalıdır: ilk migration alanı isteğe bağlı (String?) olarak ekler, ardından mevcut kayıtlar uygun değerlerle güncellenir, ve ancak bundan sonra ikinci bir migration alanı zorunlu hâle getirebilir. Diğer sık hatalar listesi bu tekil örneğin ötesine geçer: migration dosyasını üretime uygulandıktan sonra elle değiştirmek migration geçmişinin bütünlüğünü bozar; migration'ı Git'e eklememek ekip senkronizasyonunu imkânsız kılar; ve veri kaybı uyarılarını okumadan migration komutunu çalıştırmak geri dönüşü olmayan veri kaybına yol açabilir. Bölümün genel öğüdü, her şema değişikliğinin önce örnek veriyle test edilmesi gerektiğidir.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8.6, dört temel CRUD işlemini tek bir akışta gösterir: create işlemi data nesnesiyle yeni bir satır oluşturur; findMany ve select birlikte kullanılarak yalnızca ihtiyaç duyulan sütunlar (id, adSoyad, epostaAdresi) getirilir; update ve delete işlemleri ise etkilenecek kaydı where koşuluyla belirler — burada birincil anahtar üzerinden filtrelemek en güvenli yöntemdir çünkü birden fazla satırı yanlışlıkla etkileme riskini ortadan kaldırır. Şemadan tip türetme kutusunun vurguladığı kritik nokta, epostaAdres gibi yanlış yazılmış bir alan adının uygulama hiç çalıştırılmadan, derleme anında hata olarak yakalanmasıdır — bu, Prisma'nın tür güvenliğinin en somut faydasıdır. Ancak sayfanın son notu bir sınırı da açıkça belirtir: tür sistemi yalnızca yapısal hataları (yanlış alan adı, yanlış tür) yakalar; bir e-posta adresinin biçimsel olarak geçerli olup olmadığı gibi iş kuralları hâlâ ayrı bir doğrulama katmanı gerektirir — bu konu bir sonraki bölümde ele alınacaktır.</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8.7, findUnique ile benzersiz bir alandan (epostaAdresi) tek bir kayıt aramayı gösterir. Kritik olan kısım, sonucun null olabileceğinin açıkça kontrol edilmesidir: if (bulunan === null) bloğu, kayıt bulunamadığında fonksiyonun güvenli biçimde sonlanmasını sağlar; bu guard olmadan sonraki satırlarda null bir nesnenin alanına erişmeye çalışmak çalışma zamanı hatasına yol açar. Karar tablosu, farklı senaryolar için hangi yöntemin uygun olduğunu netleştirir: tek ve benzersiz bir kayıt aranıyorsa findUnique, çoklu veya belirsiz bir kritere göre arama yapılıyorsa (örneğin soyada göre) findFirst, birden çok kaydı aynı anda güncellemek için updateMany, ve kaydı fiziksel olarak silmek yerine geçmişi korumak isteniyorsa silinmeTarihi gibi bir alanla mantıksal silme tercih edilmelidir. Sağ paneldeki sık hatalar, null olabilecek bir sonucun alanına doğrudan erişmek ve güncelleme işleminde yanlış veya benzersiz olmayan bir where koşulu kullanmaktır — ikincisi özellikle tehlikelidir çünkü istenmeyen sayıda satırı etkileyebilir.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ER diyagramı, User ve Post modelleri arasındaki bire-çok (1:N) ilişkiyi somutlaştırır: User modelindeki gonderiler alanı Post[] türündedir ve bu, ilişkinin ters yönünü temsil eder — karşılığında veritabanında gerçek bir sütun yoktur. Post modelindeki yazarId alanı ise gerçek yabancı anahtardır ve @relation(fields: [yazarId], references: [id]) niteleyicisiyle User.id'ye bağlanır. Kod bloğu bu ilişkinin schema.prisma içinde nasıl yazıldığını gösterir; burada dikkat edilmesi gereken nokta, ilişkinin iki ucunun da (User tarafındaki dizi alanı ve Post tarafındaki skaler yabancı anahtar) birlikte tanımlanması gerektiğidir. Alt kısımdaki kütüphane benzetmesi bu soyut ilişkiyi günlük hayattan bir örnekle açıklar: her kitabın bir yazarı vardır ama bir yazarın birden çok kitabı olabilir; kitap kartındaki yazar numarası tıpkı yazarId gibi bir yabancı anahtar görevi görür.</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8.9 ve 8.10, ilişkili veriyle çalışmanın iki farklı senaryosunu gösterir: iç içe create ile bir kullanıcı ve onun ilk gönderisi tek bir Prisma çağrısında birlikte oluşturulur (include ile sonuçta gönderi de döner); filtreli birlikte okuma örneğinde ise where içindeki some ifadesi "en az bir ilişkili gönderi koşulu karşılıyor mu" sorusunu dış filtre olarak sorar, içteki where ise yalnızca hangi gönderilerin döndürüleceğini sınırlar. Bu ayrım kritik öneme sahiptir: dıştaki filtre hangi kullanıcıların sonuç kümesine gireceğini, içteki filtre ise dönen kullanıcı nesnesinin hangi gönderilerle dolacağını belirler — ikisi karıştırılırsa yanlış veya eksik veri kümeleri elde edilir. Sağ alttaki karşılaştırma tablosu include ile iç içe select arasındaki pratik tercihi özetler: include, tüm ilişkili alanların gerektiği durumlarda daha pratiktir; select ise API yanıtında veri minimizasyonu ve hassas alanların dışarıda bırakılması gereken durumlarda daha kontrollüdür.</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Yanlış örnekte, findUnique çağrısında include belirtilmeden dönen kullanıcı nesnesinin gonderiler alanına erişilmeye çalışılır; ancak bu alan sonuç türünde bulunmadığından TypeScript bu erişimi derleme hatası olarak işaretler — bu, tür güvenliğinin ilişkiler bağlamında da çalıştığının somut bir kanıtıdır. Doğru yaklaşım, ilişkinin include: { gonderiler: true } ile açıkça istenmesidir; ayrıca sonuç güvenli erişim için ?? 0 gibi bir varsayılan değerle korunur. Sayfadaki diğer sık hatalar listesi ilişki sorgularının ötesine uzanır: some/every/none operatörlerinin anlamlarının karıştırılması (biri "en az bir", diğeri "hepsi", sonuncusu "hiçbiri" anlamına gelir ve yanlış kullanıldığında sonuç kümesi tamamen yanlış olabilir), sayfalama olmadan tüm ilişkili kayıtları belleğe yüklemek (performans riski), ve silme davranışının sonuçlarını düşünmeden ilişkili bir kaydı silmek (örneğin bir kullanıcı silindiğinde gönderilerinin ne olacağının schema'da tanımlanmamış olması). Çözüm önerisi, filtre anlamlarının test edilmesi, getirilen veri miktarının sınırlanması ve silme politikasının şema düzeyinde açıkça belirlenmesidir.</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Repository, veri erişim işlemlerini uygulamanın iş kurallarından ayıran bir tasarım katmanıdır: servis katmanı "yayınlanmış gönderileri getir" gibi iş odaklı bir istekte bulunur, repository ise bu isteğin somut bir Prisma sorgusuna nasıl dönüşeceğini bilir. Üç katmanlı diyagram bu ayrımı netleştirir: servis katmanı Prisma söz dizimini hiç bilmez; repository, epostaIleBul veya yayinlanmisGonderileriGetir gibi uygulama diline yakın isimler taşıyan metotlar sunar; Prisma Client'ın ham veritabanı çağrıları ise yalnızca repository'nin içinde bilinir ve dışarı sızmaz. Kuramsal arka planda Fowler (2002) ve Evans (2003) Repository desenini tanımlar; bu desenin temelinde Robert C. Martin'in Bağımlılığın Tersine Çevrilmesi İlkesi (Dependency Inversion Principle) yatar — servis katmanı Prisma'nın somut türlerine değil, repository'nin sunduğu soyut arayüze bağımlı olmalıdır. Arşiv görevlisi benzetmesi bunu günlük hayattan bir örnekle anlatır: öğretmen arşiv deposuna kendisi girmez, "öğrenci dosyasını getir" der; dosyanın nerede ve nasıl saklandığını bilmek arşiv görevlisinin işidir.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8.11 ve 8.12, KullaniciRepository sınıfının nasıl yazıldığını ve servis katmanında nasıl kullanıldığını gösterir. Sınıfın constructor'ı PrismaClient'ı dışarıdan bir parametre olarak alır (bağımlılık enjeksiyonu); bu tasarım, test sırasında gerçek veritabanı yerine sahte (mock) bir Prisma nesnesi vermeyi kolaylaştırır çünkü sınıf kendi bağımlılığını kendisi oluşturmaz. epostaIleBul metodu, veritabanı sorgusunun ayrıntısını çağıran koddan tamamen gizler; servis katmanı yalnızca "kullanıcıyı e-postayla arıyorum" bilgisiyle ilgilenir, findUnique'in nasıl çağrıldığını bilmesi gerekmez. Sorumluluk ayrımı notunun vurguladığı gibi, servis katmanı iş kuralına (örneğin null kontrolü sonrası hoş geldin mesajı) odaklanır ve Prisma sorgusunu doğrudan yazmaz; bu ayrım hem test edilebilirliği hem de kod okunabilirliğini artırır çünkü her sınıfın değişme nedeni tektir.</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Yanlış örnekte, kullaniciBulVeMesajYaz adlı metot hem veritabanı sorgusunu çalıştırır hem de doğrudan bir arayüz mesajı (console.log ile "Hoş geldiniz" veya "Yok") üretir; bu, sunum katmanına ait bir sorumluluğun repository içine sızmasıdır ve sınıfın birden fazla nedenle değişmesine yol açar — hem veri erişim mantığı hem de mesaj metni değiştiğinde bu sınıf güncellenmek zorunda kalır. Doğru yaklaşımda epostaIleBul metodu yalnızca sorgu sonucunu döndürür; hangi mesajın gösterileceğine servis katmanı, dönen sonuca bakarak karar verir. Diğer sık hatalar arasında her tablo için anlamsız, aşırı genel metotlar tanımlamak (repository'nin iş diline yakın olması gerektiği ilkesine aykırıdır) ve transaction gerektiren birden fazla işlemi bağımsız repository çağrılarına bölmek sayılır — bu ikincisi, işlemlerden biri başarısız olduğunda veritabanının tutarsız bir durumda kalmasına yol açabilir. Çözüm, metotları iş gereksinimiyle adlandırmak ve ilişkili işlemleri uygun bir transaction sınırında birleştirmektir.</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8.23'teki hatalı fonksiyon, gonderiYaz adlı bir işlemde altı farklı hatayı bir arada barındırır: yazarKimligi parametresinin türü (muhtemelen number yerine string), findUnique çağrısında eksik await, baslik alanına sayı (42) atanması gerekirken string beklenmesi, yazar ilişkisinin connect sözdizimi yerine doğrudan nesne olarak verilmesi, ilişkili yazar verisinin include ile açıkça istenmemesi, ve null olabilecek yazar değişkeni için guard kontrolünün bulunmaması. Trace tablosu, düzeltilmiş kodun (Kod 8.24) beş adımda nasıl doğru çalıştığını gösterir: önce await ile Promise çözülüp gerçek kullanıcı (User | null) elde edilir; ardından null guard ile yazar bulunamadığında işlem güvenle durdurulur ve bu, veritabanı düzeyinde bir Foreign Key Constraint ihlalini önler; sonra connect: { id } sözdizimiyle ilişki doğru şekilde kurulur; include: { yazar: true } ile yeni gönderiyle birlikte yazar nesnesi de doldurulur (eager loading); ve son olarak gonderi.yazar.adSoyad erişimi artık güvenli hâle gelir çünkü include sayesinde undefined çökmesi önlenmiştir. Laboratuvar Masası diyaloğundaki Elif'in yorumu bu zincirin özünü taşır: yazar null ise veritabanında olmayan bir kullanıcıya gönderi bağlanamaz, bu bir Foreign Key Constraint ihlaline yol açar — dolayısıyla null kontrolü yalnızca bir "iyi pratik" değil, veritabanı bütünlüğünü korumak için zorunlu bir adımdır.</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sayfa, öğrencilerin Prisma ile çalışırken düştüğü üç yaygın yanılgıyı ele alır. Birincisi, "Prisma kullandığım için artık ilişkisel veritabanı ve SQL bilmeme gerek yok" düşüncesidir; oysa Prisma arka planda SQL üretir ve SQL mantığını bilmeyen bir geliştirici, farkında olmadan yüzlerce tekrarlı N+1 sorgusu üreterek veritabanını felç edebilir — çözüm, prisma.$on('query') ile üretilen ham SQL sorgularının ve gecikme sürelerinin geliştirme ortamında düzenli izlenmesidir. İkincisi, "schema.prisma'yı değiştirdikten sonra canlıda db push yeterlidir" yanılgısıdır; db push şemayı zorla eşitler, veri kaybı riski taşıyan değişikliklerde kolonları sessizce siler ve geri alınabilir bir migration geçmişi tutmaz — canlı ve ekip ortamlarında her zaman migrate dev ile versiyonlanmış SQL üretilip migrate deploy ile uygulanmalıdır. Üçüncüsü, "ihtiyaç olsun olmasın tüm ilişkileri include ile çekmek pratiktir" düşüncesidir; bu, devasa SQL JOIN sorgularına ve sunucu belleğinde megabaytlarca gereksiz verinin birikmesine yol açar — çözüm, yalnızca o uç noktada gerçekten ihtiyaç duyulan alanların select ve include ile seçici biçimde çekilmesidir. Bu üç yanılgı, bölümdeki teknik doğru bilgiyle mimari çözümü karşı karşıya koyarak öğrencinin hem "ne olduğunu" hem de "neden yanlış olduğunu" görmesini sağlar.</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Kod 8.13, bölümde işlenen tüm kavramları tek bir akışta birleştiren bir mini uygulamadır: KullaniciRepository sınıfı hem kullaniciVeGonderiOlustur (iç içe create ile kullanıcı ve gönderiyi tek Prisma çağrısında oluşturur) hem de yayinlanmisBasliklariGetir (select ile yalnızca ihtiyaç duyulan alanları getirir, içteki where ile yalnızca yayınlanmış gönderileri filtreler) metotlarını barındırır. Bu iki metot, Prisma Client, CRUD, ilişki tanımlama, seçici veri getirme ve repository kullanımının tek bir sınıfta nasıl bir araya geldiğini gösterir. Dikkat noktası kutusunun vurguladığı kritik tasarım ilkesi, anaProgram'ın (yani çağıran servis kodunun) Prisma'nın select veya where söz dizimini hiç bilmeden yalnızca KullaniciRepository'nin metotlarını çağırmasıdır — bu, bölüm boyunca işlenen repository/servis ayrımının somut, çalışan bir örneğidir ve bölümün "veri erişim katmanı" başlığının pratikteki karşılığını temsil eder.</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Altı özet kartı, bölümün ana kavramlarını tek cümlelik tanımlarla toparlar: schema.prisma modellerin ve ilişkilerin tanımlandığı tek gerçeklik kaynağıdır; migration kalıcı şema değişikliklerini sürümlü biçimde veritabanına uygular; tür güvenli CRUD yanlış alan, yanlış tür ve bazı sorgu hatalarını kod çalışmadan önce yakalar; ilişkiler User-Post gibi bire-çok bağlantıları yabancı anahtar, ilişki alanı ve iç içe sorgularla ifade eder; include/select seçimi getirilen veri miktarını ve performansı doğrudan etkiler; ve repository katmanı Prisma çağrılarını iş kurallarından ayırarak test edilebilirliği artırır. Alt kısımdaki sınav notu bölümün en önemli kavramsal ayrımını bir kez daha netleştirir: ORM, migration ve repository aynı şey değildir — ORM bir eşleme yaklaşımıdır, migration şemanın zaman içindeki kaydıdır, repository ise veri erişiminin sınırıdır. Bu üçünü birbirine karıştırmak, bölüm boyunca işlenen kavram yanılgılarının çoğunun kök nedenidir.</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pPr/>
            <a:r>
              <a:rPr lang="tr-TR" dirty="0"/>
              <a:t>Bu bölümün sonunda öğrenci artık şemayı tanımlayıp migration ile veritabanına yansıtabilir ve ilişkili veriyi repository katmanında sınırlandırarak sorgulayabilir durumdadır. Veri erişim katmanı artık repository arkasında güvenli biçimde durduğuna göre, sıradaki adım bu veriyi HTTP isteklerine dönüştürüp dış dünyadan gelen girdiyi doğrulamaktır — yani repository'nin döndürdüğü tür güvenli nesnelerin bir API yanıtına nasıl çevrileceği ve gelen isteklerin nasıl doğrulanacağı sorusu. Sonraki bölüm, uygulama servisleri, doğrulama ve API konularını işleyecek; repository'den dönen verinin HTTP yanıtına dönüşümü ve olası hataların yönetimi bu bölümün doğal devamı olacaktır. Kapanış notu bu geçişi bilinçli kılmak için öğrenciye bir düşünme görevi bırakır: her repository metodunun döndürdüğü verinin, hangi HTTP yanıtına dönüşeceğini şimdiden düşünmek — bu, bir sonraki bölümde ele alınacak katman sınırının önceden zihinde kurulmasını sağlar.</a:t>
            </a:r>
          </a:p>
        </p:txBody>
      </p:sp>
    </p:spTree>
  </p:cSld>
  <p:clrMapOvr>
    <a:masterClrMapping/>
  </p:clrMapOvr>
</p:note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7.xml><?xml version="1.0" encoding="utf-8"?>
<p:sldLayout xmlns:a="http://schemas.openxmlformats.org/drawingml/2006/main" xmlns:p="http://schemas.openxmlformats.org/presentationml/2006/main" type="blank" preserve="1">
  <p:cSld name="b08-orm-prisma-data-access-20260915 — 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tr-TR" smtClean="0"/>
              <a:t>1/27/13</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C1FF6DA9-008F-8B48-92A6-B652298478BF}"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slideLayout" Target="../slideLayouts/slideLayout7.xml"/><Relationship Id="rId1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name="b08-orm-prisma-data-access-20260915 — Master">
    <p:bg>
      <p:bgRef idx="1001">
        <a:schemeClr val="bg1"/>
      </p:bgRef>
    </p:bg>
    <p:spTree>
      <p:nvGrpSpPr>
        <p:cNvPr id="1" name=""/>
        <p:cNvGrpSpPr/>
        <p:nvPr/>
      </p:nvGrpSpPr>
      <p:grpSpPr>
        <a:xfrm>
          <a:off x="0" y="0"/>
          <a:ext cx="0" cy="0"/>
          <a:chOff x="0" y="0"/>
          <a:chExt cx="0" cy="0"/>
        </a:xfrm>
      </p:grpSpPr>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lang="tr-TR">
                <a:solidFill>
                  <a:schemeClr val="tx1">
                    <a:tint val="75000"/>
                  </a:schemeClr>
                </a:solidFill>
              </a:defRPr>
            </a:lvl1pPr>
          </a:lstStyle>
          <a:p>
            <a:fld id="{5BCAD085-E8A6-8845-BD4E-CB4CCA059FC4}" type="datetimeFigureOut">
              <a:rPr lang="tr-TR" smtClean="0"/>
              <a:t>1/27/13</a:t>
            </a:fld>
            <a:endParaRPr lang="tr-T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lang="tr-TR">
                <a:solidFill>
                  <a:schemeClr val="tx1">
                    <a:tint val="75000"/>
                  </a:schemeClr>
                </a:solidFill>
              </a:defRPr>
            </a:lvl1pPr>
          </a:lstStyle>
          <a:p>
            <a:endParaRPr lang="tr-T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lang="tr-TR">
                <a:solidFill>
                  <a:schemeClr val="tx1">
                    <a:tint val="75000"/>
                  </a:schemeClr>
                </a:solidFill>
              </a:defRPr>
            </a:lvl1pPr>
          </a:lstStyle>
          <a:p>
            <a:fld id="{C1FF6DA9-008F-8B48-92A6-B652298478BF}" type="slidenum">
              <a:rPr lang="tr-TR" smtClean="0"/>
              <a:t>‹#›</a:t>
            </a:fld>
            <a:endParaRPr lang="tr-TR"/>
          </a:p>
        </p:txBody>
      </p:sp>
    </p:spTree>
  </p:cSld>
  <p:clrMap bg1="lt1" tx1="dk1" bg2="lt2" tx2="dk2" accent1="accent1" accent2="accent2" accent3="accent3" accent4="accent4" accent5="accent5" accent6="accent6" hlink="hlink" folHlink="folHlink"/>
  <p:sldLayoutIdLst>
    <p:sldLayoutId id="2147483655" r:id="rId7"/>
  </p:sldLayoutIdLst>
  <p:txStyles>
    <p:titleStyle>
      <a:lvl1pPr algn="ctr" defTabSz="457200" rtl="0" eaLnBrk="1" latinLnBrk="0" hangingPunct="1">
        <a:spcBef>
          <a:spcPct val="0"/>
        </a:spcBef>
        <a:buNone/>
        <a:defRPr sz="4400" kern="1200" lang="tr-TR">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lang="tr-TR">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lang="tr-TR">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lang="tr-TR">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lang="tr-TR">
          <a:solidFill>
            <a:schemeClr val="tx1"/>
          </a:solidFill>
          <a:latin typeface="+mn-lt"/>
          <a:ea typeface="+mn-ea"/>
          <a:cs typeface="+mn-cs"/>
        </a:defRPr>
      </a:lvl9pPr>
    </p:bodyStyle>
    <p:otherStyle>
      <a:defPPr>
        <a:defRPr lang="tr-TR"/>
      </a:defPPr>
      <a:lvl1pPr marL="0" algn="l" defTabSz="457200" rtl="0" eaLnBrk="1" latinLnBrk="0" hangingPunct="1">
        <a:defRPr sz="1800" kern="1200" lang="tr-TR">
          <a:solidFill>
            <a:schemeClr val="tx1"/>
          </a:solidFill>
          <a:latin typeface="+mn-lt"/>
          <a:ea typeface="+mn-ea"/>
          <a:cs typeface="+mn-cs"/>
        </a:defRPr>
      </a:lvl1pPr>
      <a:lvl2pPr marL="457200" algn="l" defTabSz="457200" rtl="0" eaLnBrk="1" latinLnBrk="0" hangingPunct="1">
        <a:defRPr sz="1800" kern="1200" lang="tr-TR">
          <a:solidFill>
            <a:schemeClr val="tx1"/>
          </a:solidFill>
          <a:latin typeface="+mn-lt"/>
          <a:ea typeface="+mn-ea"/>
          <a:cs typeface="+mn-cs"/>
        </a:defRPr>
      </a:lvl2pPr>
      <a:lvl3pPr marL="914400" algn="l" defTabSz="457200" rtl="0" eaLnBrk="1" latinLnBrk="0" hangingPunct="1">
        <a:defRPr sz="1800" kern="1200" lang="tr-TR">
          <a:solidFill>
            <a:schemeClr val="tx1"/>
          </a:solidFill>
          <a:latin typeface="+mn-lt"/>
          <a:ea typeface="+mn-ea"/>
          <a:cs typeface="+mn-cs"/>
        </a:defRPr>
      </a:lvl3pPr>
      <a:lvl4pPr marL="1371600" algn="l" defTabSz="457200" rtl="0" eaLnBrk="1" latinLnBrk="0" hangingPunct="1">
        <a:defRPr sz="1800" kern="1200" lang="tr-TR">
          <a:solidFill>
            <a:schemeClr val="tx1"/>
          </a:solidFill>
          <a:latin typeface="+mn-lt"/>
          <a:ea typeface="+mn-ea"/>
          <a:cs typeface="+mn-cs"/>
        </a:defRPr>
      </a:lvl4pPr>
      <a:lvl5pPr marL="1828800" algn="l" defTabSz="457200" rtl="0" eaLnBrk="1" latinLnBrk="0" hangingPunct="1">
        <a:defRPr sz="1800" kern="1200" lang="tr-TR">
          <a:solidFill>
            <a:schemeClr val="tx1"/>
          </a:solidFill>
          <a:latin typeface="+mn-lt"/>
          <a:ea typeface="+mn-ea"/>
          <a:cs typeface="+mn-cs"/>
        </a:defRPr>
      </a:lvl5pPr>
      <a:lvl6pPr marL="2286000" algn="l" defTabSz="457200" rtl="0" eaLnBrk="1" latinLnBrk="0" hangingPunct="1">
        <a:defRPr sz="1800" kern="1200" lang="tr-TR">
          <a:solidFill>
            <a:schemeClr val="tx1"/>
          </a:solidFill>
          <a:latin typeface="+mn-lt"/>
          <a:ea typeface="+mn-ea"/>
          <a:cs typeface="+mn-cs"/>
        </a:defRPr>
      </a:lvl6pPr>
      <a:lvl7pPr marL="2743200" algn="l" defTabSz="457200" rtl="0" eaLnBrk="1" latinLnBrk="0" hangingPunct="1">
        <a:defRPr sz="1800" kern="1200" lang="tr-TR">
          <a:solidFill>
            <a:schemeClr val="tx1"/>
          </a:solidFill>
          <a:latin typeface="+mn-lt"/>
          <a:ea typeface="+mn-ea"/>
          <a:cs typeface="+mn-cs"/>
        </a:defRPr>
      </a:lvl7pPr>
      <a:lvl8pPr marL="3200400" algn="l" defTabSz="457200" rtl="0" eaLnBrk="1" latinLnBrk="0" hangingPunct="1">
        <a:defRPr sz="1800" kern="1200" lang="tr-TR">
          <a:solidFill>
            <a:schemeClr val="tx1"/>
          </a:solidFill>
          <a:latin typeface="+mn-lt"/>
          <a:ea typeface="+mn-ea"/>
          <a:cs typeface="+mn-cs"/>
        </a:defRPr>
      </a:lvl8pPr>
      <a:lvl9pPr marL="3657600" algn="l" defTabSz="457200" rtl="0" eaLnBrk="1" latinLnBrk="0" hangingPunct="1">
        <a:defRPr sz="1800" kern="1200" lang="tr-TR">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xml"/>
</Relationships>
</file>

<file path=ppt/slides/_rels/slide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xml"/>
</Relationships>
</file>

<file path=ppt/slides/_rels/slide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3.xml"/>
</Relationships>
</file>

<file path=ppt/slides/_rels/slide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4.xml"/>
</Relationships>
</file>

<file path=ppt/slides/_rels/slide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5.xml"/>
</Relationships>
</file>

<file path=ppt/slides/_rels/slide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6.xml"/>
</Relationships>
</file>

<file path=ppt/slides/_rels/slide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7.xml"/>
</Relationships>
</file>

<file path=ppt/slides/_rels/slide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8.xml"/>
</Relationships>
</file>

<file path=ppt/slides/_rels/slide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9.xml"/>
</Relationships>
</file>

<file path=ppt/slides/_rels/slide1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0.xml"/>
</Relationships>
</file>

<file path=ppt/slides/_rels/slide1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1.xml"/>
</Relationships>
</file>

<file path=ppt/slides/_rels/slide1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2.xml"/>
</Relationships>
</file>

<file path=ppt/slides/_rels/slide1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3.xml"/>
</Relationships>
</file>

<file path=ppt/slides/_rels/slide1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4.xml"/>
</Relationships>
</file>

<file path=ppt/slides/_rels/slide1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5.xml"/>
</Relationships>
</file>

<file path=ppt/slides/_rels/slide16.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6.xml"/>
</Relationships>
</file>

<file path=ppt/slides/_rels/slide17.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7.xml"/>
</Relationships>
</file>

<file path=ppt/slides/_rels/slide18.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8.xml"/>
</Relationships>
</file>

<file path=ppt/slides/_rels/slide19.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19.xml"/>
</Relationships>
</file>

<file path=ppt/slides/_rels/slide20.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0.xml"/>
</Relationships>
</file>

<file path=ppt/slides/_rels/slide21.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1.xml"/>
</Relationships>
</file>

<file path=ppt/slides/_rels/slide22.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2.xml"/>
</Relationships>
</file>

<file path=ppt/slides/_rels/slide23.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3.xml"/>
</Relationships>
</file>

<file path=ppt/slides/_rels/slide24.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4.xml"/>
</Relationships>
</file>

<file path=ppt/slides/_rels/slide25.xml.rels><?xml version="1.0" encoding="UTF-8" standalone="yes"?>
<Relationships xmlns="http://schemas.openxmlformats.org/package/2006/relationships">
  <Relationship Id="rId1"
                Type="http://schemas.openxmlformats.org/officeDocument/2006/relationships/slideLayout"
                Target="../slideLayouts/slideLayout7.xml"/>
  <Relationship Id="rId2" Type="http://schemas.openxmlformats.org/officeDocument/2006/relationships/notesSlide" Target="../notesSlides/notesSlide25.xml"/>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cover-panel"/>
          <p:cNvSpPr/>
          <p:nvPr/>
        </p:nvSpPr>
        <p:spPr>
          <a:xfrm>
            <a:off x="0" y="0"/>
            <a:ext cx="4191000" cy="6858000"/>
          </a:xfrm>
          <a:prstGeom prst="rect">
            <a:avLst/>
          </a:prstGeom>
          <a:solidFill>
            <a:srgbClr val="12355B"/>
          </a:solidFill>
          <a:ln>
            <a:noFill/>
          </a:ln>
        </p:spPr>
      </p:sp>
      <p:sp>
        <p:nvSpPr>
          <p:cNvPr id="3" name="Line 3"/>
          <p:cNvSpPr/>
          <p:nvPr/>
        </p:nvSpPr>
        <p:spPr>
          <a:xfrm>
            <a:off x="685800" y="5905500"/>
            <a:ext cx="10553700" cy="1"/>
          </a:xfrm>
          <a:prstGeom prst="line">
            <a:avLst/>
          </a:prstGeom>
          <a:noFill/>
          <a:ln w="19050">
            <a:solidFill>
              <a:srgbClr val="00A6A6"/>
            </a:solidFill>
            <a:tailEnd type="arrow" w="lg" len="lg"/>
          </a:ln>
        </p:spPr>
      </p:sp>
      <p:grpSp>
        <p:nvGrpSpPr>
          <p:cNvPr id="6" name="cover-chapter"/>
          <p:cNvGrpSpPr/>
          <p:nvPr/>
        </p:nvGrpSpPr>
        <p:grpSpPr>
          <a:xfrm>
            <a:off x="666750" y="2251710"/>
            <a:ext cx="1787319" cy="2410777"/>
            <a:chOff x="666750" y="2251710"/>
            <a:chExt cx="1787319" cy="2410777"/>
          </a:xfrm>
        </p:grpSpPr>
        <p:sp>
          <p:nvSpPr>
            <p:cNvPr id="4" name="TextBox 4"/>
            <p:cNvSpPr txBox="1"/>
            <p:nvPr/>
          </p:nvSpPr>
          <p:spPr>
            <a:xfrm>
              <a:off x="679704" y="2251710"/>
              <a:ext cx="668914" cy="234696"/>
            </a:xfrm>
            <a:prstGeom prst="rect">
              <a:avLst/>
            </a:prstGeom>
            <a:noFill/>
            <a:ln>
              <a:noFill/>
            </a:ln>
          </p:spPr>
          <p:txBody>
            <a:bodyPr wrap="none" lIns="0" tIns="0" rIns="0" bIns="0" anchor="t" anchorCtr="0">
              <a:spAutoFit/>
            </a:bodyPr>
            <a:lstStyle/>
            <a:p>
              <a:pPr algn="l"/>
              <a:r>
                <a:rPr lang="tr-TR" sz="1200" b="1" spc="225" dirty="0">
                  <a:solidFill>
                    <a:srgbClr val="EAF4F6"/>
                  </a:solidFill>
                  <a:latin typeface="+mn-lt"/>
                  <a:ea typeface="+mn-ea"/>
                  <a:cs typeface="+mn-cs"/>
                </a:rPr>
                <a:t>BÖLÜM</a:t>
              </a:r>
            </a:p>
          </p:txBody>
        </p:sp>
        <p:sp>
          <p:nvSpPr>
            <p:cNvPr id="5" name="TextBox 5"/>
            <p:cNvSpPr txBox="1"/>
            <p:nvPr/>
          </p:nvSpPr>
          <p:spPr>
            <a:xfrm>
              <a:off x="666750" y="2500312"/>
              <a:ext cx="1787319" cy="2162175"/>
            </a:xfrm>
            <a:prstGeom prst="rect">
              <a:avLst/>
            </a:prstGeom>
            <a:noFill/>
            <a:ln>
              <a:noFill/>
            </a:ln>
          </p:spPr>
          <p:txBody>
            <a:bodyPr wrap="none" lIns="0" tIns="0" rIns="0" bIns="0" anchor="t" anchorCtr="0">
              <a:spAutoFit/>
            </a:bodyPr>
            <a:lstStyle/>
            <a:p>
              <a:pPr algn="l"/>
              <a:r>
                <a:rPr lang="tr-TR" sz="11250" b="1" dirty="0">
                  <a:solidFill>
                    <a:srgbClr val="00A6A6"/>
                  </a:solidFill>
                  <a:latin typeface="+mj-lt"/>
                  <a:ea typeface="+mj-ea"/>
                  <a:cs typeface="+mj-cs"/>
                </a:rPr>
                <a:t>08</a:t>
              </a:r>
            </a:p>
          </p:txBody>
        </p:sp>
      </p:grpSp>
      <p:grpSp>
        <p:nvGrpSpPr>
          <p:cNvPr id="8" name="cover-title"/>
          <p:cNvGrpSpPr/>
          <p:nvPr/>
        </p:nvGrpSpPr>
        <p:grpSpPr>
          <a:xfrm>
            <a:off x="4933950" y="1769745"/>
            <a:ext cx="3678555" cy="1981200"/>
            <a:chOff x="4933950" y="1769745"/>
            <a:chExt cx="3678555" cy="1981200"/>
          </a:xfrm>
        </p:grpSpPr>
        <p:sp>
          <p:nvSpPr>
            <p:cNvPr id="7" name="TextBox 7"/>
            <p:cNvSpPr txBox="1"/>
            <p:nvPr/>
          </p:nvSpPr>
          <p:spPr>
            <a:xfrm>
              <a:off x="4933950" y="1769745"/>
              <a:ext cx="3678555" cy="1981200"/>
            </a:xfrm>
            <a:prstGeom prst="rect">
              <a:avLst/>
            </a:prstGeom>
            <a:noFill/>
            <a:ln>
              <a:noFill/>
            </a:ln>
          </p:spPr>
          <p:txBody>
            <a:bodyPr wrap="none" lIns="0" tIns="0" rIns="0" bIns="0" anchor="t" anchorCtr="0">
              <a:spAutoFit/>
            </a:bodyPr>
            <a:lstStyle/>
            <a:p>
              <a:pPr algn="l">
                <a:lnSpc>
                  <a:spcPts val="4800"/>
                </a:lnSpc>
              </a:pPr>
              <a:r>
                <a:rPr lang="tr-TR" sz="3900" b="1" dirty="0">
                  <a:solidFill>
                    <a:srgbClr val="12355B"/>
                  </a:solidFill>
                  <a:latin typeface="+mj-lt"/>
                  <a:ea typeface="+mj-ea"/>
                  <a:cs typeface="+mj-cs"/>
                </a:rPr>
                <a:t>Prisma ORM ve</a:t>
              </a:r>
              <a:br/>
              <a:r>
                <a:rPr lang="tr-TR" sz="3900" b="1" dirty="0">
                  <a:solidFill>
                    <a:srgbClr val="12355B"/>
                  </a:solidFill>
                  <a:latin typeface="+mj-lt"/>
                  <a:ea typeface="+mj-ea"/>
                  <a:cs typeface="+mj-cs"/>
                </a:rPr>
                <a:t>Veri Erişim</a:t>
              </a:r>
              <a:br/>
              <a:r>
                <a:rPr lang="tr-TR" sz="3900" b="1" dirty="0">
                  <a:solidFill>
                    <a:srgbClr val="12355B"/>
                  </a:solidFill>
                  <a:latin typeface="+mj-lt"/>
                  <a:ea typeface="+mj-ea"/>
                  <a:cs typeface="+mj-cs"/>
                </a:rPr>
                <a:t>Katmanı</a:t>
              </a:r>
            </a:p>
          </p:txBody>
        </p:sp>
      </p:grpSp>
      <p:grpSp>
        <p:nvGrpSpPr>
          <p:cNvPr id="12" name="cover-subtitle"/>
          <p:cNvGrpSpPr/>
          <p:nvPr/>
        </p:nvGrpSpPr>
        <p:grpSpPr>
          <a:xfrm>
            <a:off x="4943094" y="4095750"/>
            <a:ext cx="4648390" cy="900018"/>
            <a:chOff x="4943094" y="4095750"/>
            <a:chExt cx="4648390" cy="900018"/>
          </a:xfrm>
        </p:grpSpPr>
        <p:sp>
          <p:nvSpPr>
            <p:cNvPr id="9" name="Rectangle 9"/>
            <p:cNvSpPr/>
            <p:nvPr/>
          </p:nvSpPr>
          <p:spPr>
            <a:xfrm>
              <a:off x="4953000" y="4095750"/>
              <a:ext cx="1143000" cy="38100"/>
            </a:xfrm>
            <a:prstGeom prst="rect">
              <a:avLst/>
            </a:prstGeom>
            <a:solidFill>
              <a:srgbClr val="00A6A6"/>
            </a:solidFill>
            <a:ln>
              <a:noFill/>
            </a:ln>
          </p:spPr>
        </p:sp>
        <p:sp>
          <p:nvSpPr>
            <p:cNvPr id="10" name="TextBox 10"/>
            <p:cNvSpPr txBox="1"/>
            <p:nvPr/>
          </p:nvSpPr>
          <p:spPr>
            <a:xfrm>
              <a:off x="4943094" y="4228148"/>
              <a:ext cx="4648390" cy="381381"/>
            </a:xfrm>
            <a:prstGeom prst="rect">
              <a:avLst/>
            </a:prstGeom>
            <a:noFill/>
            <a:ln>
              <a:noFill/>
            </a:ln>
          </p:spPr>
          <p:txBody>
            <a:bodyPr wrap="none" lIns="0" tIns="0" rIns="0" bIns="0" anchor="t" anchorCtr="0">
              <a:spAutoFit/>
            </a:bodyPr>
            <a:lstStyle/>
            <a:p>
              <a:pPr algn="l"/>
              <a:r>
                <a:rPr lang="tr-TR" sz="1950" dirty="0">
                  <a:solidFill>
                    <a:srgbClr val="2E86AB"/>
                  </a:solidFill>
                  <a:latin typeface="+mn-lt"/>
                  <a:ea typeface="+mn-ea"/>
                  <a:cs typeface="+mn-cs"/>
                </a:rPr>
                <a:t>Modern Sunucu Tabanlı Programlama</a:t>
              </a:r>
            </a:p>
          </p:txBody>
        </p:sp>
        <p:sp>
          <p:nvSpPr>
            <p:cNvPr id="11" name="TextBox 11"/>
            <p:cNvSpPr txBox="1"/>
            <p:nvPr/>
          </p:nvSpPr>
          <p:spPr>
            <a:xfrm>
              <a:off x="4944999" y="4687729"/>
              <a:ext cx="249846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Prof. Dr. İsmail KIRBAŞ</a:t>
              </a:r>
            </a:p>
          </p:txBody>
        </p:sp>
      </p:grpSp>
      <p:grpSp>
        <p:nvGrpSpPr>
          <p:cNvPr id="14" name="cover-meta"/>
          <p:cNvGrpSpPr/>
          <p:nvPr/>
        </p:nvGrpSpPr>
        <p:grpSpPr>
          <a:xfrm>
            <a:off x="4946904" y="6233160"/>
            <a:ext cx="4973434" cy="234696"/>
            <a:chOff x="4946904" y="6233160"/>
            <a:chExt cx="4973434" cy="234696"/>
          </a:xfrm>
        </p:grpSpPr>
        <p:sp>
          <p:nvSpPr>
            <p:cNvPr id="13" name="TextBox 13"/>
            <p:cNvSpPr txBox="1"/>
            <p:nvPr/>
          </p:nvSpPr>
          <p:spPr>
            <a:xfrm>
              <a:off x="4946904" y="6233160"/>
              <a:ext cx="4973434"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Mehmet Akif Ersoy Üniversitesi · Bilgisayar Mühendisliği · 2026</a:t>
              </a:r>
            </a:p>
          </p:txBody>
        </p:sp>
      </p:grpSp>
    </p:spTree>
  </p:cSld>
  <p:clrMapOvr>
    <a:masterClrMapping/>
  </p:clrMapOvr>
  <p:transition xmlns:p14="http://schemas.microsoft.com/office/powerpoint/2010/main" p14:dur="400">
    <p:fade/>
  </p:transition>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3606794" cy="557403"/>
            <a:chOff x="595122" y="282892"/>
            <a:chExt cx="3606794" cy="557403"/>
          </a:xfrm>
        </p:grpSpPr>
        <p:sp>
          <p:nvSpPr>
            <p:cNvPr id="4" name="TextBox 4"/>
            <p:cNvSpPr txBox="1"/>
            <p:nvPr/>
          </p:nvSpPr>
          <p:spPr>
            <a:xfrm>
              <a:off x="595122" y="282892"/>
              <a:ext cx="360679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yol haritası</a:t>
              </a:r>
            </a:p>
          </p:txBody>
        </p:sp>
      </p:grpSp>
      <p:grpSp>
        <p:nvGrpSpPr>
          <p:cNvPr id="10" name="goal-banner"/>
          <p:cNvGrpSpPr/>
          <p:nvPr/>
        </p:nvGrpSpPr>
        <p:grpSpPr>
          <a:xfrm>
            <a:off x="609600" y="1143000"/>
            <a:ext cx="11438319" cy="647700"/>
            <a:chOff x="609600" y="1143000"/>
            <a:chExt cx="11438319" cy="647700"/>
          </a:xfrm>
        </p:grpSpPr>
        <p:sp>
          <p:nvSpPr>
            <p:cNvPr id="6" name="Rectangle 6"/>
            <p:cNvSpPr/>
            <p:nvPr/>
          </p:nvSpPr>
          <p:spPr>
            <a:xfrm>
              <a:off x="609600" y="1143000"/>
              <a:ext cx="10972800" cy="647700"/>
            </a:xfrm>
            <a:prstGeom prst="roundRect">
              <a:avLst>
                <a:gd name="adj" fmla="val 11765"/>
              </a:avLst>
            </a:prstGeom>
            <a:solidFill>
              <a:srgbClr val="EAF4F6"/>
            </a:solidFill>
            <a:ln>
              <a:noFill/>
            </a:ln>
          </p:spPr>
        </p:sp>
        <p:sp>
          <p:nvSpPr>
            <p:cNvPr id="7" name="Rectangle 7"/>
            <p:cNvSpPr/>
            <p:nvPr/>
          </p:nvSpPr>
          <p:spPr>
            <a:xfrm>
              <a:off x="609600" y="1143000"/>
              <a:ext cx="57150" cy="647700"/>
            </a:xfrm>
            <a:prstGeom prst="rect">
              <a:avLst/>
            </a:prstGeom>
            <a:solidFill>
              <a:srgbClr val="00A6A6"/>
            </a:solidFill>
            <a:ln>
              <a:noFill/>
            </a:ln>
          </p:spPr>
        </p:sp>
        <p:sp>
          <p:nvSpPr>
            <p:cNvPr id="8" name="TextBox 8"/>
            <p:cNvSpPr txBox="1"/>
            <p:nvPr/>
          </p:nvSpPr>
          <p:spPr>
            <a:xfrm>
              <a:off x="906399" y="1239679"/>
              <a:ext cx="167440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 Bölüm Hedefi</a:t>
              </a:r>
            </a:p>
          </p:txBody>
        </p:sp>
        <p:sp>
          <p:nvSpPr>
            <p:cNvPr id="9" name="TextBox 9"/>
            <p:cNvSpPr txBox="1"/>
            <p:nvPr/>
          </p:nvSpPr>
          <p:spPr>
            <a:xfrm>
              <a:off x="908304" y="1527810"/>
              <a:ext cx="11139615"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Prisma ile şema tanımlayıp migration oluşturmak, ilişkili verileri tür güvenli sorgulamak ve veri erişimini repository katmanında düzenlemek.</a:t>
              </a:r>
            </a:p>
          </p:txBody>
        </p:sp>
      </p:grpSp>
      <p:grpSp>
        <p:nvGrpSpPr>
          <p:cNvPr id="14" name="q1"/>
          <p:cNvGrpSpPr/>
          <p:nvPr/>
        </p:nvGrpSpPr>
        <p:grpSpPr>
          <a:xfrm>
            <a:off x="704850" y="2076450"/>
            <a:ext cx="8787423" cy="443484"/>
            <a:chOff x="704850" y="2076450"/>
            <a:chExt cx="8787423" cy="443484"/>
          </a:xfrm>
        </p:grpSpPr>
        <p:sp>
          <p:nvSpPr>
            <p:cNvPr id="11" name="Ellipse 11"/>
            <p:cNvSpPr/>
            <p:nvPr/>
          </p:nvSpPr>
          <p:spPr>
            <a:xfrm>
              <a:off x="704850" y="2076450"/>
              <a:ext cx="419100" cy="419100"/>
            </a:xfrm>
            <a:prstGeom prst="ellipse">
              <a:avLst/>
            </a:prstGeom>
            <a:solidFill>
              <a:srgbClr val="12355B"/>
            </a:solidFill>
            <a:ln>
              <a:noFill/>
            </a:ln>
          </p:spPr>
        </p:sp>
        <p:sp>
          <p:nvSpPr>
            <p:cNvPr id="12" name="TextBox 12"/>
            <p:cNvSpPr txBox="1"/>
            <p:nvPr/>
          </p:nvSpPr>
          <p:spPr>
            <a:xfrm>
              <a:off x="844982" y="21921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1</a:t>
              </a:r>
            </a:p>
          </p:txBody>
        </p:sp>
        <p:sp>
          <p:nvSpPr>
            <p:cNvPr id="13" name="TextBox 13"/>
            <p:cNvSpPr txBox="1"/>
            <p:nvPr/>
          </p:nvSpPr>
          <p:spPr>
            <a:xfrm>
              <a:off x="1324356" y="2167890"/>
              <a:ext cx="8167917"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Prisma, uygulama ile ilişkisel veritabanı arasında nasıl köprü kurar?</a:t>
              </a:r>
            </a:p>
          </p:txBody>
        </p:sp>
      </p:grpSp>
      <p:grpSp>
        <p:nvGrpSpPr>
          <p:cNvPr id="18" name="q2"/>
          <p:cNvGrpSpPr/>
          <p:nvPr/>
        </p:nvGrpSpPr>
        <p:grpSpPr>
          <a:xfrm>
            <a:off x="704850" y="2857500"/>
            <a:ext cx="9009606" cy="443484"/>
            <a:chOff x="704850" y="2857500"/>
            <a:chExt cx="9009606" cy="443484"/>
          </a:xfrm>
        </p:grpSpPr>
        <p:sp>
          <p:nvSpPr>
            <p:cNvPr id="15" name="Ellipse 15"/>
            <p:cNvSpPr/>
            <p:nvPr/>
          </p:nvSpPr>
          <p:spPr>
            <a:xfrm>
              <a:off x="704850" y="2857500"/>
              <a:ext cx="419100" cy="419100"/>
            </a:xfrm>
            <a:prstGeom prst="ellipse">
              <a:avLst/>
            </a:prstGeom>
            <a:solidFill>
              <a:srgbClr val="12355B"/>
            </a:solidFill>
            <a:ln>
              <a:noFill/>
            </a:ln>
          </p:spPr>
        </p:sp>
        <p:sp>
          <p:nvSpPr>
            <p:cNvPr id="16" name="TextBox 16"/>
            <p:cNvSpPr txBox="1"/>
            <p:nvPr/>
          </p:nvSpPr>
          <p:spPr>
            <a:xfrm>
              <a:off x="844982" y="29732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2</a:t>
              </a:r>
            </a:p>
          </p:txBody>
        </p:sp>
        <p:sp>
          <p:nvSpPr>
            <p:cNvPr id="17" name="TextBox 17"/>
            <p:cNvSpPr txBox="1"/>
            <p:nvPr/>
          </p:nvSpPr>
          <p:spPr>
            <a:xfrm>
              <a:off x="1324356" y="2948940"/>
              <a:ext cx="8390100"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Prisma schema, migration ve Prisma Client hangi sorumlulukları taşır?</a:t>
              </a:r>
            </a:p>
          </p:txBody>
        </p:sp>
      </p:grpSp>
      <p:grpSp>
        <p:nvGrpSpPr>
          <p:cNvPr id="22" name="q3"/>
          <p:cNvGrpSpPr/>
          <p:nvPr/>
        </p:nvGrpSpPr>
        <p:grpSpPr>
          <a:xfrm>
            <a:off x="704850" y="3638550"/>
            <a:ext cx="7885190" cy="443484"/>
            <a:chOff x="704850" y="3638550"/>
            <a:chExt cx="7885190" cy="443484"/>
          </a:xfrm>
        </p:grpSpPr>
        <p:sp>
          <p:nvSpPr>
            <p:cNvPr id="19" name="Ellipse 19"/>
            <p:cNvSpPr/>
            <p:nvPr/>
          </p:nvSpPr>
          <p:spPr>
            <a:xfrm>
              <a:off x="704850" y="3638550"/>
              <a:ext cx="419100" cy="419100"/>
            </a:xfrm>
            <a:prstGeom prst="ellipse">
              <a:avLst/>
            </a:prstGeom>
            <a:solidFill>
              <a:srgbClr val="12355B"/>
            </a:solidFill>
            <a:ln>
              <a:noFill/>
            </a:ln>
          </p:spPr>
        </p:sp>
        <p:sp>
          <p:nvSpPr>
            <p:cNvPr id="20" name="TextBox 20"/>
            <p:cNvSpPr txBox="1"/>
            <p:nvPr/>
          </p:nvSpPr>
          <p:spPr>
            <a:xfrm>
              <a:off x="844982" y="37542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3</a:t>
              </a:r>
            </a:p>
          </p:txBody>
        </p:sp>
        <p:sp>
          <p:nvSpPr>
            <p:cNvPr id="21" name="TextBox 21"/>
            <p:cNvSpPr txBox="1"/>
            <p:nvPr/>
          </p:nvSpPr>
          <p:spPr>
            <a:xfrm>
              <a:off x="1324356" y="3729990"/>
              <a:ext cx="7265684"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Tür güvenli CRUD sorguları geliştirmede hangi hataları önler?</a:t>
              </a:r>
            </a:p>
          </p:txBody>
        </p:sp>
      </p:grpSp>
      <p:grpSp>
        <p:nvGrpSpPr>
          <p:cNvPr id="26" name="q4"/>
          <p:cNvGrpSpPr/>
          <p:nvPr/>
        </p:nvGrpSpPr>
        <p:grpSpPr>
          <a:xfrm>
            <a:off x="704850" y="4419600"/>
            <a:ext cx="6613764" cy="443484"/>
            <a:chOff x="704850" y="4419600"/>
            <a:chExt cx="6613764" cy="443484"/>
          </a:xfrm>
        </p:grpSpPr>
        <p:sp>
          <p:nvSpPr>
            <p:cNvPr id="23" name="Ellipse 23"/>
            <p:cNvSpPr/>
            <p:nvPr/>
          </p:nvSpPr>
          <p:spPr>
            <a:xfrm>
              <a:off x="704850" y="4419600"/>
              <a:ext cx="419100" cy="419100"/>
            </a:xfrm>
            <a:prstGeom prst="ellipse">
              <a:avLst/>
            </a:prstGeom>
            <a:solidFill>
              <a:srgbClr val="12355B"/>
            </a:solidFill>
            <a:ln>
              <a:noFill/>
            </a:ln>
          </p:spPr>
        </p:sp>
        <p:sp>
          <p:nvSpPr>
            <p:cNvPr id="24" name="TextBox 24"/>
            <p:cNvSpPr txBox="1"/>
            <p:nvPr/>
          </p:nvSpPr>
          <p:spPr>
            <a:xfrm>
              <a:off x="844982" y="453532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4</a:t>
              </a:r>
            </a:p>
          </p:txBody>
        </p:sp>
        <p:sp>
          <p:nvSpPr>
            <p:cNvPr id="25" name="TextBox 25"/>
            <p:cNvSpPr txBox="1"/>
            <p:nvPr/>
          </p:nvSpPr>
          <p:spPr>
            <a:xfrm>
              <a:off x="1324356" y="4511040"/>
              <a:ext cx="5994258"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User ve Post gibi ilişkili modeller nasıl sorgulanır?</a:t>
              </a:r>
            </a:p>
          </p:txBody>
        </p:sp>
      </p:grpSp>
      <p:grpSp>
        <p:nvGrpSpPr>
          <p:cNvPr id="30" name="q5"/>
          <p:cNvGrpSpPr/>
          <p:nvPr/>
        </p:nvGrpSpPr>
        <p:grpSpPr>
          <a:xfrm>
            <a:off x="704850" y="5200650"/>
            <a:ext cx="8302719" cy="443484"/>
            <a:chOff x="704850" y="5200650"/>
            <a:chExt cx="8302719" cy="443484"/>
          </a:xfrm>
        </p:grpSpPr>
        <p:sp>
          <p:nvSpPr>
            <p:cNvPr id="27" name="Ellipse 27"/>
            <p:cNvSpPr/>
            <p:nvPr/>
          </p:nvSpPr>
          <p:spPr>
            <a:xfrm>
              <a:off x="704850" y="5200650"/>
              <a:ext cx="419100" cy="419100"/>
            </a:xfrm>
            <a:prstGeom prst="ellipse">
              <a:avLst/>
            </a:prstGeom>
            <a:solidFill>
              <a:srgbClr val="12355B"/>
            </a:solidFill>
            <a:ln>
              <a:noFill/>
            </a:ln>
          </p:spPr>
        </p:sp>
        <p:sp>
          <p:nvSpPr>
            <p:cNvPr id="28" name="TextBox 28"/>
            <p:cNvSpPr txBox="1"/>
            <p:nvPr/>
          </p:nvSpPr>
          <p:spPr>
            <a:xfrm>
              <a:off x="844982" y="5316379"/>
              <a:ext cx="138836" cy="308039"/>
            </a:xfrm>
            <a:prstGeom prst="rect">
              <a:avLst/>
            </a:prstGeom>
            <a:noFill/>
            <a:ln>
              <a:noFill/>
            </a:ln>
          </p:spPr>
          <p:txBody>
            <a:bodyPr wrap="none" lIns="0" tIns="0" rIns="0" bIns="0" anchor="t" anchorCtr="0">
              <a:spAutoFit/>
            </a:bodyPr>
            <a:lstStyle/>
            <a:p>
              <a:pPr algn="ctr"/>
              <a:r>
                <a:rPr lang="tr-TR" sz="1580" b="1" dirty="0">
                  <a:solidFill>
                    <a:srgbClr val="FFFFFF"/>
                  </a:solidFill>
                  <a:latin typeface="+mn-lt"/>
                  <a:ea typeface="+mn-ea"/>
                  <a:cs typeface="+mn-cs"/>
                </a:rPr>
                <a:t>5</a:t>
              </a:r>
            </a:p>
          </p:txBody>
        </p:sp>
        <p:sp>
          <p:nvSpPr>
            <p:cNvPr id="29" name="TextBox 29"/>
            <p:cNvSpPr txBox="1"/>
            <p:nvPr/>
          </p:nvSpPr>
          <p:spPr>
            <a:xfrm>
              <a:off x="1324356" y="5292090"/>
              <a:ext cx="7683213" cy="352044"/>
            </a:xfrm>
            <a:prstGeom prst="rect">
              <a:avLst/>
            </a:prstGeom>
            <a:noFill/>
            <a:ln>
              <a:noFill/>
            </a:ln>
          </p:spPr>
          <p:txBody>
            <a:bodyPr wrap="none" lIns="0" tIns="0" rIns="0" bIns="0" anchor="t" anchorCtr="0">
              <a:spAutoFit/>
            </a:bodyPr>
            <a:lstStyle/>
            <a:p>
              <a:pPr algn="l"/>
              <a:r>
                <a:rPr lang="tr-TR" sz="1800" dirty="0">
                  <a:solidFill>
                    <a:srgbClr val="172B3A"/>
                  </a:solidFill>
                  <a:latin typeface="+mn-lt"/>
                  <a:ea typeface="+mn-ea"/>
                  <a:cs typeface="+mn-cs"/>
                </a:rPr>
                <a:t>Repository katmanı veri erişimini iş kurallarından neden ayırır?</a:t>
              </a:r>
            </a:p>
          </p:txBody>
        </p:sp>
      </p:grpSp>
      <p:sp>
        <p:nvSpPr>
          <p:cNvPr id="31" name="TextBox 3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02 / 25</a:t>
            </a:r>
          </a:p>
        </p:txBody>
      </p:sp>
    </p:spTree>
  </p:cSld>
  <p:clrMapOvr>
    <a:masterClrMapping/>
  </p:clrMapOvr>
  <p:transition xmlns:p14="http://schemas.microsoft.com/office/powerpoint/2010/main" p14:dur="400">
    <p:fade/>
  </p:transition>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413763" cy="557403"/>
            <a:chOff x="595122" y="282892"/>
            <a:chExt cx="7413763" cy="557403"/>
          </a:xfrm>
        </p:grpSpPr>
        <p:sp>
          <p:nvSpPr>
            <p:cNvPr id="4" name="TextBox 4"/>
            <p:cNvSpPr txBox="1"/>
            <p:nvPr/>
          </p:nvSpPr>
          <p:spPr>
            <a:xfrm>
              <a:off x="595122" y="282892"/>
              <a:ext cx="741376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Öğrenme hedefleri ve başarı ölçütleri</a:t>
              </a:r>
            </a:p>
          </p:txBody>
        </p:sp>
      </p:grpSp>
      <p:grpSp>
        <p:nvGrpSpPr>
          <p:cNvPr id="9" name="objective-1"/>
          <p:cNvGrpSpPr/>
          <p:nvPr/>
        </p:nvGrpSpPr>
        <p:grpSpPr>
          <a:xfrm>
            <a:off x="685800" y="1520190"/>
            <a:ext cx="7475489" cy="637128"/>
            <a:chOff x="685800" y="1520190"/>
            <a:chExt cx="7475489" cy="637128"/>
          </a:xfrm>
        </p:grpSpPr>
        <p:sp>
          <p:nvSpPr>
            <p:cNvPr id="6" name="Rectangle 6"/>
            <p:cNvSpPr/>
            <p:nvPr/>
          </p:nvSpPr>
          <p:spPr>
            <a:xfrm>
              <a:off x="685800" y="1524000"/>
              <a:ext cx="57150" cy="495300"/>
            </a:xfrm>
            <a:prstGeom prst="rect">
              <a:avLst/>
            </a:prstGeom>
            <a:solidFill>
              <a:srgbClr val="00A6A6"/>
            </a:solidFill>
            <a:ln>
              <a:noFill/>
            </a:ln>
          </p:spPr>
        </p:sp>
        <p:sp>
          <p:nvSpPr>
            <p:cNvPr id="7" name="TextBox 7"/>
            <p:cNvSpPr txBox="1"/>
            <p:nvPr/>
          </p:nvSpPr>
          <p:spPr>
            <a:xfrm>
              <a:off x="981456" y="1520190"/>
              <a:ext cx="7179833"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Prisma schema içinde User ve Post modellerini tanımlamak</a:t>
              </a:r>
            </a:p>
          </p:txBody>
        </p:sp>
        <p:sp>
          <p:nvSpPr>
            <p:cNvPr id="8" name="TextBox 8"/>
            <p:cNvSpPr txBox="1"/>
            <p:nvPr/>
          </p:nvSpPr>
          <p:spPr>
            <a:xfrm>
              <a:off x="982599" y="1849279"/>
              <a:ext cx="714816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alan türleri, birincil anahtar ve ilişki alanlarını doğru seçmek</a:t>
              </a:r>
            </a:p>
          </p:txBody>
        </p:sp>
      </p:grpSp>
      <p:grpSp>
        <p:nvGrpSpPr>
          <p:cNvPr id="13" name="objective-2"/>
          <p:cNvGrpSpPr/>
          <p:nvPr/>
        </p:nvGrpSpPr>
        <p:grpSpPr>
          <a:xfrm>
            <a:off x="685800" y="2510790"/>
            <a:ext cx="9157052" cy="637128"/>
            <a:chOff x="685800" y="2510790"/>
            <a:chExt cx="9157052" cy="637128"/>
          </a:xfrm>
        </p:grpSpPr>
        <p:sp>
          <p:nvSpPr>
            <p:cNvPr id="10" name="Rectangle 10"/>
            <p:cNvSpPr/>
            <p:nvPr/>
          </p:nvSpPr>
          <p:spPr>
            <a:xfrm>
              <a:off x="685800" y="2514600"/>
              <a:ext cx="57150" cy="495300"/>
            </a:xfrm>
            <a:prstGeom prst="rect">
              <a:avLst/>
            </a:prstGeom>
            <a:solidFill>
              <a:srgbClr val="00A6A6"/>
            </a:solidFill>
            <a:ln>
              <a:noFill/>
            </a:ln>
          </p:spPr>
        </p:sp>
        <p:sp>
          <p:nvSpPr>
            <p:cNvPr id="11" name="TextBox 11"/>
            <p:cNvSpPr txBox="1"/>
            <p:nvPr/>
          </p:nvSpPr>
          <p:spPr>
            <a:xfrm>
              <a:off x="981456" y="2510790"/>
              <a:ext cx="352464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Migration sürecini yönetmek</a:t>
              </a:r>
            </a:p>
          </p:txBody>
        </p:sp>
        <p:sp>
          <p:nvSpPr>
            <p:cNvPr id="12" name="TextBox 12"/>
            <p:cNvSpPr txBox="1"/>
            <p:nvPr/>
          </p:nvSpPr>
          <p:spPr>
            <a:xfrm>
              <a:off x="982599" y="2839879"/>
              <a:ext cx="8860253"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şema değişikliğinin veritabanına migration ile yansıması gerektiğini açıklamak</a:t>
              </a:r>
            </a:p>
          </p:txBody>
        </p:sp>
      </p:grpSp>
      <p:grpSp>
        <p:nvGrpSpPr>
          <p:cNvPr id="17" name="objective-3"/>
          <p:cNvGrpSpPr/>
          <p:nvPr/>
        </p:nvGrpSpPr>
        <p:grpSpPr>
          <a:xfrm>
            <a:off x="685800" y="3501390"/>
            <a:ext cx="10079416" cy="637128"/>
            <a:chOff x="685800" y="3501390"/>
            <a:chExt cx="10079416" cy="637128"/>
          </a:xfrm>
        </p:grpSpPr>
        <p:sp>
          <p:nvSpPr>
            <p:cNvPr id="14" name="Rectangle 14"/>
            <p:cNvSpPr/>
            <p:nvPr/>
          </p:nvSpPr>
          <p:spPr>
            <a:xfrm>
              <a:off x="685800" y="3505200"/>
              <a:ext cx="57150" cy="495300"/>
            </a:xfrm>
            <a:prstGeom prst="rect">
              <a:avLst/>
            </a:prstGeom>
            <a:solidFill>
              <a:srgbClr val="00A6A6"/>
            </a:solidFill>
            <a:ln>
              <a:noFill/>
            </a:ln>
          </p:spPr>
        </p:sp>
        <p:sp>
          <p:nvSpPr>
            <p:cNvPr id="15" name="TextBox 15"/>
            <p:cNvSpPr txBox="1"/>
            <p:nvPr/>
          </p:nvSpPr>
          <p:spPr>
            <a:xfrm>
              <a:off x="981456" y="3501390"/>
              <a:ext cx="42830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Tür güvenli CRUD sorguları kurmak</a:t>
              </a:r>
            </a:p>
          </p:txBody>
        </p:sp>
        <p:sp>
          <p:nvSpPr>
            <p:cNvPr id="16" name="TextBox 16"/>
            <p:cNvSpPr txBox="1"/>
            <p:nvPr/>
          </p:nvSpPr>
          <p:spPr>
            <a:xfrm>
              <a:off x="982599" y="3830479"/>
              <a:ext cx="9782617"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create, findMany, update ve delete çağrılarını tür denetiminden yararlanarak yazmak</a:t>
              </a:r>
            </a:p>
          </p:txBody>
        </p:sp>
      </p:grpSp>
      <p:grpSp>
        <p:nvGrpSpPr>
          <p:cNvPr id="21" name="objective-4"/>
          <p:cNvGrpSpPr/>
          <p:nvPr/>
        </p:nvGrpSpPr>
        <p:grpSpPr>
          <a:xfrm>
            <a:off x="685800" y="4491990"/>
            <a:ext cx="7200018" cy="637128"/>
            <a:chOff x="685800" y="4491990"/>
            <a:chExt cx="7200018" cy="637128"/>
          </a:xfrm>
        </p:grpSpPr>
        <p:sp>
          <p:nvSpPr>
            <p:cNvPr id="18" name="Rectangle 18"/>
            <p:cNvSpPr/>
            <p:nvPr/>
          </p:nvSpPr>
          <p:spPr>
            <a:xfrm>
              <a:off x="685800" y="4495800"/>
              <a:ext cx="57150" cy="495300"/>
            </a:xfrm>
            <a:prstGeom prst="rect">
              <a:avLst/>
            </a:prstGeom>
            <a:solidFill>
              <a:srgbClr val="00A6A6"/>
            </a:solidFill>
            <a:ln>
              <a:noFill/>
            </a:ln>
          </p:spPr>
        </p:sp>
        <p:sp>
          <p:nvSpPr>
            <p:cNvPr id="19" name="TextBox 19"/>
            <p:cNvSpPr txBox="1"/>
            <p:nvPr/>
          </p:nvSpPr>
          <p:spPr>
            <a:xfrm>
              <a:off x="981456" y="4491990"/>
              <a:ext cx="56615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İlişkili verileri include / select ile sorgulamak</a:t>
              </a:r>
            </a:p>
          </p:txBody>
        </p:sp>
        <p:sp>
          <p:nvSpPr>
            <p:cNvPr id="20" name="TextBox 20"/>
            <p:cNvSpPr txBox="1"/>
            <p:nvPr/>
          </p:nvSpPr>
          <p:spPr>
            <a:xfrm>
              <a:off x="982599" y="4821079"/>
              <a:ext cx="690321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yalnızca gereksinim duyulan alanlarla ilişkili veriyi getirmek</a:t>
              </a:r>
            </a:p>
          </p:txBody>
        </p:sp>
      </p:grpSp>
      <p:grpSp>
        <p:nvGrpSpPr>
          <p:cNvPr id="25" name="objective-5"/>
          <p:cNvGrpSpPr/>
          <p:nvPr/>
        </p:nvGrpSpPr>
        <p:grpSpPr>
          <a:xfrm>
            <a:off x="685800" y="5482590"/>
            <a:ext cx="7509064" cy="637128"/>
            <a:chOff x="685800" y="5482590"/>
            <a:chExt cx="7509064" cy="637128"/>
          </a:xfrm>
        </p:grpSpPr>
        <p:sp>
          <p:nvSpPr>
            <p:cNvPr id="22" name="Rectangle 22"/>
            <p:cNvSpPr/>
            <p:nvPr/>
          </p:nvSpPr>
          <p:spPr>
            <a:xfrm>
              <a:off x="685800" y="5486400"/>
              <a:ext cx="57150" cy="495300"/>
            </a:xfrm>
            <a:prstGeom prst="rect">
              <a:avLst/>
            </a:prstGeom>
            <a:solidFill>
              <a:srgbClr val="00A6A6"/>
            </a:solidFill>
            <a:ln>
              <a:noFill/>
            </a:ln>
          </p:spPr>
        </p:sp>
        <p:sp>
          <p:nvSpPr>
            <p:cNvPr id="23" name="TextBox 23"/>
            <p:cNvSpPr txBox="1"/>
            <p:nvPr/>
          </p:nvSpPr>
          <p:spPr>
            <a:xfrm>
              <a:off x="981456" y="5482590"/>
              <a:ext cx="661600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 erişimini repository katmanında sınırlandırmak</a:t>
              </a:r>
            </a:p>
          </p:txBody>
        </p:sp>
        <p:sp>
          <p:nvSpPr>
            <p:cNvPr id="24" name="TextBox 24"/>
            <p:cNvSpPr txBox="1"/>
            <p:nvPr/>
          </p:nvSpPr>
          <p:spPr>
            <a:xfrm>
              <a:off x="982599" y="5811679"/>
              <a:ext cx="7212265"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Ölçüt: hata durumlarını uygulama katmanına güvenli biçimde taşımak</a:t>
              </a:r>
            </a:p>
          </p:txBody>
        </p:sp>
      </p:grpSp>
      <p:sp>
        <p:nvSpPr>
          <p:cNvPr id="26" name="TextBox 2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03 / 25</a:t>
            </a:r>
          </a:p>
        </p:txBody>
      </p:sp>
    </p:spTree>
  </p:cSld>
  <p:clrMapOvr>
    <a:masterClrMapping/>
  </p:clrMapOvr>
  <p:transition xmlns:p14="http://schemas.microsoft.com/office/powerpoint/2010/main" p14:dur="400">
    <p:fade/>
  </p:transition>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3" name="page-title"/>
          <p:cNvGrpSpPr/>
          <p:nvPr/>
        </p:nvGrpSpPr>
        <p:grpSpPr>
          <a:xfrm>
            <a:off x="609600" y="171450"/>
            <a:ext cx="7803151" cy="668845"/>
            <a:chOff x="609600" y="171450"/>
            <a:chExt cx="7803151" cy="668845"/>
          </a:xfrm>
        </p:grpSpPr>
        <p:grpSp>
          <p:nvGrpSpPr>
            <p:cNvPr id="11"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10" name="Group 10"/>
              <p:cNvGrpSpPr/>
              <p:nvPr/>
            </p:nvGrpSpPr>
            <p:grpSpPr>
              <a:xfrm>
                <a:off x="762476" y="324326"/>
                <a:ext cx="265748" cy="265748"/>
                <a:chOff x="762476" y="324326"/>
                <a:chExt cx="265748" cy="265748"/>
              </a:xfrm>
            </p:grpSpPr>
            <p:sp>
              <p:nvSpPr>
                <p:cNvPr id="5" name="Freeform 5"/>
                <p:cNvSpPr/>
                <p:nvPr/>
              </p:nvSpPr>
              <p:spPr>
                <a:xfrm>
                  <a:off x="762476" y="324326"/>
                  <a:ext cx="265748" cy="265748"/>
                </a:xfrm>
                <a:custGeom>
                  <a:avLst/>
                  <a:gdLst/>
                  <a:ahLst/>
                  <a:cxnLst/>
                  <a:rect l="l" t="t" r="r" b="b"/>
                  <a:pathLst>
                    <a:path w="265748" h="265748">
                      <a:moveTo>
                        <a:pt x="0" y="132874"/>
                      </a:moveTo>
                      <a:cubicBezTo>
                        <a:pt x="0" y="206258"/>
                        <a:pt x="59490" y="265748"/>
                        <a:pt x="132874" y="265748"/>
                      </a:cubicBezTo>
                      <a:cubicBezTo>
                        <a:pt x="206258" y="265748"/>
                        <a:pt x="265748" y="206258"/>
                        <a:pt x="265748" y="132874"/>
                      </a:cubicBezTo>
                      <a:cubicBezTo>
                        <a:pt x="265748" y="59490"/>
                        <a:pt x="206258" y="0"/>
                        <a:pt x="132874" y="0"/>
                      </a:cubicBezTo>
                      <a:cubicBezTo>
                        <a:pt x="59490" y="0"/>
                        <a:pt x="0" y="59490"/>
                        <a:pt x="0" y="132874"/>
                      </a:cubicBezTo>
                    </a:path>
                  </a:pathLst>
                </a:custGeom>
                <a:noFill/>
                <a:ln w="24759" cap="rnd">
                  <a:solidFill>
                    <a:srgbClr val="FFFFFF"/>
                  </a:solidFill>
                  <a:round/>
                </a:ln>
              </p:spPr>
            </p:sp>
            <p:sp>
              <p:nvSpPr>
                <p:cNvPr id="6" name="Freeform 6"/>
                <p:cNvSpPr/>
                <p:nvPr/>
              </p:nvSpPr>
              <p:spPr>
                <a:xfrm>
                  <a:off x="771334" y="412909"/>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7" name="Freeform 7"/>
                <p:cNvSpPr/>
                <p:nvPr/>
              </p:nvSpPr>
              <p:spPr>
                <a:xfrm>
                  <a:off x="771334" y="501491"/>
                  <a:ext cx="248031" cy="9525"/>
                </a:xfrm>
                <a:custGeom>
                  <a:avLst/>
                  <a:gdLst/>
                  <a:ahLst/>
                  <a:cxnLst/>
                  <a:rect l="l" t="t" r="r" b="b"/>
                  <a:pathLst>
                    <a:path w="248031" h="9525">
                      <a:moveTo>
                        <a:pt x="0" y="0"/>
                      </a:moveTo>
                      <a:lnTo>
                        <a:pt x="248031" y="0"/>
                      </a:lnTo>
                    </a:path>
                  </a:pathLst>
                </a:custGeom>
                <a:noFill/>
                <a:ln w="24759" cap="rnd">
                  <a:solidFill>
                    <a:srgbClr val="FFFFFF"/>
                  </a:solidFill>
                  <a:round/>
                </a:ln>
              </p:spPr>
            </p:sp>
            <p:sp>
              <p:nvSpPr>
                <p:cNvPr id="8" name="Freeform 8"/>
                <p:cNvSpPr/>
                <p:nvPr/>
              </p:nvSpPr>
              <p:spPr>
                <a:xfrm>
                  <a:off x="837224" y="324326"/>
                  <a:ext cx="50744" cy="265748"/>
                </a:xfrm>
                <a:custGeom>
                  <a:avLst/>
                  <a:gdLst/>
                  <a:ahLst/>
                  <a:cxnLst/>
                  <a:rect l="l" t="t" r="r" b="b"/>
                  <a:pathLst>
                    <a:path w="50744" h="265748">
                      <a:moveTo>
                        <a:pt x="50744" y="0"/>
                      </a:moveTo>
                      <a:cubicBezTo>
                        <a:pt x="0" y="81315"/>
                        <a:pt x="0" y="184432"/>
                        <a:pt x="50744" y="265748"/>
                      </a:cubicBezTo>
                    </a:path>
                  </a:pathLst>
                </a:custGeom>
                <a:noFill/>
                <a:ln w="24759" cap="rnd">
                  <a:solidFill>
                    <a:srgbClr val="FFFFFF"/>
                  </a:solidFill>
                  <a:round/>
                </a:ln>
              </p:spPr>
            </p:sp>
            <p:sp>
              <p:nvSpPr>
                <p:cNvPr id="9" name="Freeform 9"/>
                <p:cNvSpPr/>
                <p:nvPr/>
              </p:nvSpPr>
              <p:spPr>
                <a:xfrm>
                  <a:off x="902732" y="324326"/>
                  <a:ext cx="50744" cy="265748"/>
                </a:xfrm>
                <a:custGeom>
                  <a:avLst/>
                  <a:gdLst/>
                  <a:ahLst/>
                  <a:cxnLst/>
                  <a:rect l="l" t="t" r="r" b="b"/>
                  <a:pathLst>
                    <a:path w="50744" h="265748">
                      <a:moveTo>
                        <a:pt x="0" y="0"/>
                      </a:moveTo>
                      <a:cubicBezTo>
                        <a:pt x="50744" y="81315"/>
                        <a:pt x="50744" y="184432"/>
                        <a:pt x="0" y="265748"/>
                      </a:cubicBezTo>
                    </a:path>
                  </a:pathLst>
                </a:custGeom>
                <a:noFill/>
                <a:ln w="24759" cap="rnd">
                  <a:solidFill>
                    <a:srgbClr val="FFFFFF"/>
                  </a:solidFill>
                  <a:round/>
                </a:ln>
              </p:spPr>
            </p:sp>
          </p:grpSp>
        </p:grpSp>
        <p:sp>
          <p:nvSpPr>
            <p:cNvPr id="12" name="TextBox 12"/>
            <p:cNvSpPr txBox="1"/>
            <p:nvPr/>
          </p:nvSpPr>
          <p:spPr>
            <a:xfrm>
              <a:off x="1299972" y="282892"/>
              <a:ext cx="711277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haritası: altı temel kavram</a:t>
              </a:r>
            </a:p>
          </p:txBody>
        </p:sp>
      </p:grpSp>
      <p:grpSp>
        <p:nvGrpSpPr>
          <p:cNvPr id="51" name="concept-map"/>
          <p:cNvGrpSpPr/>
          <p:nvPr/>
        </p:nvGrpSpPr>
        <p:grpSpPr>
          <a:xfrm>
            <a:off x="685800" y="1219200"/>
            <a:ext cx="10896600" cy="4886706"/>
            <a:chOff x="685800" y="1219200"/>
            <a:chExt cx="10896600" cy="4886706"/>
          </a:xfrm>
        </p:grpSpPr>
        <p:grpSp>
          <p:nvGrpSpPr>
            <p:cNvPr id="22" name="Group 22"/>
            <p:cNvGrpSpPr/>
            <p:nvPr/>
          </p:nvGrpSpPr>
          <p:grpSpPr>
            <a:xfrm>
              <a:off x="3143250" y="1581150"/>
              <a:ext cx="6953250" cy="4038600"/>
              <a:chOff x="3143250" y="1581150"/>
              <a:chExt cx="6953250" cy="4038600"/>
            </a:xfrm>
          </p:grpSpPr>
          <p:sp>
            <p:nvSpPr>
              <p:cNvPr id="14" name="Line 14"/>
              <p:cNvSpPr/>
              <p:nvPr/>
            </p:nvSpPr>
            <p:spPr>
              <a:xfrm flipV="1">
                <a:off x="3143250" y="1581150"/>
                <a:ext cx="1352550" cy="1514475"/>
              </a:xfrm>
              <a:prstGeom prst="line">
                <a:avLst/>
              </a:prstGeom>
              <a:noFill/>
              <a:ln w="23812">
                <a:solidFill>
                  <a:srgbClr val="00A6A6"/>
                </a:solidFill>
                <a:tailEnd type="arrow" w="lg" len="lg"/>
              </a:ln>
            </p:spPr>
          </p:sp>
          <p:sp>
            <p:nvSpPr>
              <p:cNvPr id="15" name="Line 15"/>
              <p:cNvSpPr/>
              <p:nvPr/>
            </p:nvSpPr>
            <p:spPr>
              <a:xfrm flipV="1">
                <a:off x="3143250" y="2571750"/>
                <a:ext cx="1352550" cy="523875"/>
              </a:xfrm>
              <a:prstGeom prst="line">
                <a:avLst/>
              </a:prstGeom>
              <a:noFill/>
              <a:ln w="23812">
                <a:solidFill>
                  <a:srgbClr val="00A6A6"/>
                </a:solidFill>
                <a:tailEnd type="arrow" w="lg" len="lg"/>
              </a:ln>
            </p:spPr>
          </p:sp>
          <p:sp>
            <p:nvSpPr>
              <p:cNvPr id="16" name="Line 16"/>
              <p:cNvSpPr/>
              <p:nvPr/>
            </p:nvSpPr>
            <p:spPr>
              <a:xfrm>
                <a:off x="3143250" y="3095625"/>
                <a:ext cx="1352550" cy="466725"/>
              </a:xfrm>
              <a:prstGeom prst="line">
                <a:avLst/>
              </a:prstGeom>
              <a:noFill/>
              <a:ln w="23812">
                <a:solidFill>
                  <a:srgbClr val="00A6A6"/>
                </a:solidFill>
                <a:tailEnd type="arrow" w="lg" len="lg"/>
              </a:ln>
            </p:spPr>
          </p:sp>
          <p:sp>
            <p:nvSpPr>
              <p:cNvPr id="17" name="Line 17"/>
              <p:cNvSpPr/>
              <p:nvPr/>
            </p:nvSpPr>
            <p:spPr>
              <a:xfrm>
                <a:off x="3143250" y="3095625"/>
                <a:ext cx="1352550" cy="1457325"/>
              </a:xfrm>
              <a:prstGeom prst="line">
                <a:avLst/>
              </a:prstGeom>
              <a:noFill/>
              <a:ln w="23812">
                <a:solidFill>
                  <a:srgbClr val="00A6A6"/>
                </a:solidFill>
                <a:tailEnd type="arrow" w="lg" len="lg"/>
              </a:ln>
            </p:spPr>
          </p:sp>
          <p:sp>
            <p:nvSpPr>
              <p:cNvPr id="18" name="Line 18"/>
              <p:cNvSpPr/>
              <p:nvPr/>
            </p:nvSpPr>
            <p:spPr>
              <a:xfrm>
                <a:off x="3143250" y="3095625"/>
                <a:ext cx="1352550" cy="2524125"/>
              </a:xfrm>
              <a:prstGeom prst="line">
                <a:avLst/>
              </a:prstGeom>
              <a:noFill/>
              <a:ln w="23812">
                <a:solidFill>
                  <a:srgbClr val="00A6A6"/>
                </a:solidFill>
                <a:tailEnd type="arrow" w="lg" len="lg"/>
              </a:ln>
            </p:spPr>
          </p:sp>
          <p:sp>
            <p:nvSpPr>
              <p:cNvPr id="19" name="Line 19"/>
              <p:cNvSpPr/>
              <p:nvPr/>
            </p:nvSpPr>
            <p:spPr>
              <a:xfrm>
                <a:off x="6477000" y="2952750"/>
                <a:ext cx="1" cy="190500"/>
              </a:xfrm>
              <a:prstGeom prst="line">
                <a:avLst/>
              </a:prstGeom>
              <a:noFill/>
              <a:ln w="19050">
                <a:solidFill>
                  <a:srgbClr val="52616B"/>
                </a:solidFill>
                <a:custDash>
                  <a:ds d="300000" sp="200000"/>
                </a:custDash>
                <a:tailEnd type="arrow" w="lg" len="lg"/>
              </a:ln>
            </p:spPr>
          </p:sp>
          <p:sp>
            <p:nvSpPr>
              <p:cNvPr id="20" name="Line 20"/>
              <p:cNvSpPr/>
              <p:nvPr/>
            </p:nvSpPr>
            <p:spPr>
              <a:xfrm flipV="1">
                <a:off x="6477000" y="3981450"/>
                <a:ext cx="1" cy="190500"/>
              </a:xfrm>
              <a:prstGeom prst="line">
                <a:avLst/>
              </a:prstGeom>
              <a:noFill/>
              <a:ln w="19050">
                <a:solidFill>
                  <a:srgbClr val="52616B"/>
                </a:solidFill>
                <a:custDash>
                  <a:ds d="300000" sp="200000"/>
                </a:custDash>
                <a:tailEnd type="arrow" w="lg" len="lg"/>
              </a:ln>
            </p:spPr>
          </p:sp>
          <p:sp>
            <p:nvSpPr>
              <p:cNvPr id="21" name="Line 21"/>
              <p:cNvSpPr/>
              <p:nvPr/>
            </p:nvSpPr>
            <p:spPr>
              <a:xfrm>
                <a:off x="8496300" y="1676400"/>
                <a:ext cx="1600200" cy="3581400"/>
              </a:xfrm>
              <a:prstGeom prst="line">
                <a:avLst/>
              </a:prstGeom>
              <a:noFill/>
              <a:ln w="19050">
                <a:solidFill>
                  <a:srgbClr val="52616B"/>
                </a:solidFill>
                <a:custDash>
                  <a:ds d="300000" sp="200000"/>
                </a:custDash>
                <a:tailEnd type="arrow" w="lg" len="lg"/>
              </a:ln>
            </p:spPr>
          </p:sp>
        </p:grpSp>
        <p:grpSp>
          <p:nvGrpSpPr>
            <p:cNvPr id="25" name="map-hub"/>
            <p:cNvGrpSpPr/>
            <p:nvPr/>
          </p:nvGrpSpPr>
          <p:grpSpPr>
            <a:xfrm>
              <a:off x="685800" y="2381250"/>
              <a:ext cx="2381250" cy="1435417"/>
              <a:chOff x="685800" y="2381250"/>
              <a:chExt cx="2381250" cy="1435417"/>
            </a:xfrm>
          </p:grpSpPr>
          <p:sp>
            <p:nvSpPr>
              <p:cNvPr id="23" name="Rectangle 23"/>
              <p:cNvSpPr/>
              <p:nvPr/>
            </p:nvSpPr>
            <p:spPr>
              <a:xfrm>
                <a:off x="685800" y="2381250"/>
                <a:ext cx="2381250" cy="1428750"/>
              </a:xfrm>
              <a:prstGeom prst="roundRect">
                <a:avLst>
                  <a:gd name="adj" fmla="val 6667"/>
                </a:avLst>
              </a:prstGeom>
              <a:solidFill>
                <a:srgbClr val="12355B"/>
              </a:solidFill>
              <a:ln>
                <a:noFill/>
              </a:ln>
            </p:spPr>
          </p:sp>
          <p:sp>
            <p:nvSpPr>
              <p:cNvPr id="24" name="TextBox 24"/>
              <p:cNvSpPr txBox="1"/>
              <p:nvPr/>
            </p:nvSpPr>
            <p:spPr>
              <a:xfrm>
                <a:off x="941070" y="2614612"/>
                <a:ext cx="1928098" cy="1202055"/>
              </a:xfrm>
              <a:prstGeom prst="rect">
                <a:avLst/>
              </a:prstGeom>
              <a:noFill/>
              <a:ln>
                <a:noFill/>
              </a:ln>
            </p:spPr>
            <p:txBody>
              <a:bodyPr wrap="none" lIns="0" tIns="0" rIns="0" bIns="0" anchor="t" anchorCtr="0">
                <a:spAutoFit/>
              </a:bodyPr>
              <a:lstStyle/>
              <a:p>
                <a:pPr algn="l">
                  <a:lnSpc>
                    <a:spcPts val="3000"/>
                  </a:lnSpc>
                </a:pPr>
                <a:r>
                  <a:rPr lang="tr-TR" sz="2250" b="1" dirty="0">
                    <a:solidFill>
                      <a:srgbClr val="FFFFFF"/>
                    </a:solidFill>
                    <a:latin typeface="+mn-lt"/>
                    <a:ea typeface="+mn-ea"/>
                    <a:cs typeface="+mn-cs"/>
                  </a:rPr>
                  <a:t>Prisma</a:t>
                </a:r>
                <a:br/>
                <a:r>
                  <a:rPr lang="tr-TR" sz="2250" b="1" dirty="0">
                    <a:solidFill>
                      <a:srgbClr val="FFFFFF"/>
                    </a:solidFill>
                    <a:latin typeface="+mn-lt"/>
                    <a:ea typeface="+mn-ea"/>
                    <a:cs typeface="+mn-cs"/>
                  </a:rPr>
                  <a:t>schema</a:t>
                </a:r>
                <a:br/>
                <a:r>
                  <a:rPr lang="tr-TR" sz="2250" b="1" dirty="0">
                    <a:solidFill>
                      <a:srgbClr val="FFFFFF"/>
                    </a:solidFill>
                    <a:latin typeface="+mn-lt"/>
                    <a:ea typeface="+mn-ea"/>
                    <a:cs typeface="+mn-cs"/>
                  </a:rPr>
                  <a:t>(tek kaynak)</a:t>
                </a:r>
              </a:p>
            </p:txBody>
          </p:sp>
        </p:grpSp>
        <p:grpSp>
          <p:nvGrpSpPr>
            <p:cNvPr id="29" name="map-node-migration"/>
            <p:cNvGrpSpPr/>
            <p:nvPr/>
          </p:nvGrpSpPr>
          <p:grpSpPr>
            <a:xfrm>
              <a:off x="4572000" y="1219200"/>
              <a:ext cx="3810000" cy="723900"/>
              <a:chOff x="4572000" y="1219200"/>
              <a:chExt cx="3810000" cy="723900"/>
            </a:xfrm>
          </p:grpSpPr>
          <p:sp>
            <p:nvSpPr>
              <p:cNvPr id="26" name="Rectangle 26"/>
              <p:cNvSpPr/>
              <p:nvPr/>
            </p:nvSpPr>
            <p:spPr>
              <a:xfrm>
                <a:off x="4572000" y="1219200"/>
                <a:ext cx="3810000" cy="723900"/>
              </a:xfrm>
              <a:prstGeom prst="roundRect">
                <a:avLst>
                  <a:gd name="adj" fmla="val 13158"/>
                </a:avLst>
              </a:prstGeom>
              <a:solidFill>
                <a:srgbClr val="FFFFFF"/>
              </a:solidFill>
              <a:ln w="14288">
                <a:solidFill>
                  <a:srgbClr val="2E86AB"/>
                </a:solidFill>
              </a:ln>
            </p:spPr>
          </p:sp>
          <p:sp>
            <p:nvSpPr>
              <p:cNvPr id="27" name="TextBox 27"/>
              <p:cNvSpPr txBox="1"/>
              <p:nvPr/>
            </p:nvSpPr>
            <p:spPr>
              <a:xfrm>
                <a:off x="4791456" y="1329690"/>
                <a:ext cx="120883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Migration</a:t>
                </a:r>
              </a:p>
            </p:txBody>
          </p:sp>
          <p:sp>
            <p:nvSpPr>
              <p:cNvPr id="28" name="TextBox 28"/>
              <p:cNvSpPr txBox="1"/>
              <p:nvPr/>
            </p:nvSpPr>
            <p:spPr>
              <a:xfrm>
                <a:off x="4792599" y="1601629"/>
                <a:ext cx="337638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şemayı versiyonlu SQL'e çevirir</a:t>
                </a:r>
              </a:p>
            </p:txBody>
          </p:sp>
        </p:grpSp>
        <p:grpSp>
          <p:nvGrpSpPr>
            <p:cNvPr id="33" name="map-node-client"/>
            <p:cNvGrpSpPr/>
            <p:nvPr/>
          </p:nvGrpSpPr>
          <p:grpSpPr>
            <a:xfrm>
              <a:off x="4572000" y="2209800"/>
              <a:ext cx="3810000" cy="723900"/>
              <a:chOff x="4572000" y="2209800"/>
              <a:chExt cx="3810000" cy="723900"/>
            </a:xfrm>
          </p:grpSpPr>
          <p:sp>
            <p:nvSpPr>
              <p:cNvPr id="30" name="Rectangle 30"/>
              <p:cNvSpPr/>
              <p:nvPr/>
            </p:nvSpPr>
            <p:spPr>
              <a:xfrm>
                <a:off x="4572000" y="2209800"/>
                <a:ext cx="3810000" cy="723900"/>
              </a:xfrm>
              <a:prstGeom prst="roundRect">
                <a:avLst>
                  <a:gd name="adj" fmla="val 13158"/>
                </a:avLst>
              </a:prstGeom>
              <a:solidFill>
                <a:srgbClr val="FFFFFF"/>
              </a:solidFill>
              <a:ln w="14288">
                <a:solidFill>
                  <a:srgbClr val="2E86AB"/>
                </a:solidFill>
              </a:ln>
            </p:spPr>
          </p:sp>
          <p:sp>
            <p:nvSpPr>
              <p:cNvPr id="31" name="TextBox 31"/>
              <p:cNvSpPr txBox="1"/>
              <p:nvPr/>
            </p:nvSpPr>
            <p:spPr>
              <a:xfrm>
                <a:off x="4791456" y="2320290"/>
                <a:ext cx="164917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Prisma Client</a:t>
                </a:r>
              </a:p>
            </p:txBody>
          </p:sp>
          <p:sp>
            <p:nvSpPr>
              <p:cNvPr id="32" name="TextBox 32"/>
              <p:cNvSpPr txBox="1"/>
              <p:nvPr/>
            </p:nvSpPr>
            <p:spPr>
              <a:xfrm>
                <a:off x="4792599" y="2592229"/>
                <a:ext cx="3387291"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tür güvenli sorgu arayüzü üretir</a:t>
                </a:r>
              </a:p>
            </p:txBody>
          </p:sp>
        </p:grpSp>
        <p:grpSp>
          <p:nvGrpSpPr>
            <p:cNvPr id="37" name="map-node-db"/>
            <p:cNvGrpSpPr/>
            <p:nvPr/>
          </p:nvGrpSpPr>
          <p:grpSpPr>
            <a:xfrm>
              <a:off x="4572000" y="3200400"/>
              <a:ext cx="3810000" cy="723900"/>
              <a:chOff x="4572000" y="3200400"/>
              <a:chExt cx="3810000" cy="723900"/>
            </a:xfrm>
          </p:grpSpPr>
          <p:sp>
            <p:nvSpPr>
              <p:cNvPr id="34" name="Rectangle 34"/>
              <p:cNvSpPr/>
              <p:nvPr/>
            </p:nvSpPr>
            <p:spPr>
              <a:xfrm>
                <a:off x="4572000" y="3200400"/>
                <a:ext cx="3810000" cy="723900"/>
              </a:xfrm>
              <a:prstGeom prst="roundRect">
                <a:avLst>
                  <a:gd name="adj" fmla="val 13158"/>
                </a:avLst>
              </a:prstGeom>
              <a:solidFill>
                <a:srgbClr val="FFFFFF"/>
              </a:solidFill>
              <a:ln w="14288">
                <a:solidFill>
                  <a:srgbClr val="2E86AB"/>
                </a:solidFill>
              </a:ln>
            </p:spPr>
          </p:sp>
          <p:sp>
            <p:nvSpPr>
              <p:cNvPr id="35" name="TextBox 35"/>
              <p:cNvSpPr txBox="1"/>
              <p:nvPr/>
            </p:nvSpPr>
            <p:spPr>
              <a:xfrm>
                <a:off x="4791456" y="3310890"/>
                <a:ext cx="232904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Veritabanı şeması</a:t>
                </a:r>
              </a:p>
            </p:txBody>
          </p:sp>
          <p:sp>
            <p:nvSpPr>
              <p:cNvPr id="36" name="TextBox 36"/>
              <p:cNvSpPr txBox="1"/>
              <p:nvPr/>
            </p:nvSpPr>
            <p:spPr>
              <a:xfrm>
                <a:off x="4792599" y="3582829"/>
                <a:ext cx="2036648"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migration ile evrilir</a:t>
                </a:r>
              </a:p>
            </p:txBody>
          </p:sp>
        </p:grpSp>
        <p:grpSp>
          <p:nvGrpSpPr>
            <p:cNvPr id="41" name="map-node-crud"/>
            <p:cNvGrpSpPr/>
            <p:nvPr/>
          </p:nvGrpSpPr>
          <p:grpSpPr>
            <a:xfrm>
              <a:off x="4572000" y="4191000"/>
              <a:ext cx="3810000" cy="723900"/>
              <a:chOff x="4572000" y="4191000"/>
              <a:chExt cx="3810000" cy="723900"/>
            </a:xfrm>
          </p:grpSpPr>
          <p:sp>
            <p:nvSpPr>
              <p:cNvPr id="38" name="Rectangle 38"/>
              <p:cNvSpPr/>
              <p:nvPr/>
            </p:nvSpPr>
            <p:spPr>
              <a:xfrm>
                <a:off x="4572000" y="4191000"/>
                <a:ext cx="3810000" cy="723900"/>
              </a:xfrm>
              <a:prstGeom prst="roundRect">
                <a:avLst>
                  <a:gd name="adj" fmla="val 13158"/>
                </a:avLst>
              </a:prstGeom>
              <a:solidFill>
                <a:srgbClr val="FFFFFF"/>
              </a:solidFill>
              <a:ln w="14288">
                <a:solidFill>
                  <a:srgbClr val="2E86AB"/>
                </a:solidFill>
              </a:ln>
            </p:spPr>
          </p:sp>
          <p:sp>
            <p:nvSpPr>
              <p:cNvPr id="39" name="TextBox 39"/>
              <p:cNvSpPr txBox="1"/>
              <p:nvPr/>
            </p:nvSpPr>
            <p:spPr>
              <a:xfrm>
                <a:off x="4791456" y="4301490"/>
                <a:ext cx="188210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CRUD sorguları</a:t>
                </a:r>
              </a:p>
            </p:txBody>
          </p:sp>
          <p:sp>
            <p:nvSpPr>
              <p:cNvPr id="40" name="TextBox 40"/>
              <p:cNvSpPr txBox="1"/>
              <p:nvPr/>
            </p:nvSpPr>
            <p:spPr>
              <a:xfrm>
                <a:off x="4792599" y="4573429"/>
                <a:ext cx="2872630"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Client ile doğrudan çağrılır</a:t>
                </a:r>
              </a:p>
            </p:txBody>
          </p:sp>
        </p:grpSp>
        <p:grpSp>
          <p:nvGrpSpPr>
            <p:cNvPr id="45" name="map-node-repo"/>
            <p:cNvGrpSpPr/>
            <p:nvPr/>
          </p:nvGrpSpPr>
          <p:grpSpPr>
            <a:xfrm>
              <a:off x="4572000" y="5334000"/>
              <a:ext cx="7010400" cy="723900"/>
              <a:chOff x="4572000" y="5334000"/>
              <a:chExt cx="7010400" cy="723900"/>
            </a:xfrm>
          </p:grpSpPr>
          <p:sp>
            <p:nvSpPr>
              <p:cNvPr id="42" name="Rectangle 42"/>
              <p:cNvSpPr/>
              <p:nvPr/>
            </p:nvSpPr>
            <p:spPr>
              <a:xfrm>
                <a:off x="4572000" y="5334000"/>
                <a:ext cx="7010400" cy="723900"/>
              </a:xfrm>
              <a:prstGeom prst="roundRect">
                <a:avLst>
                  <a:gd name="adj" fmla="val 13158"/>
                </a:avLst>
              </a:prstGeom>
              <a:solidFill>
                <a:srgbClr val="EAF4F6"/>
              </a:solidFill>
              <a:ln w="14288">
                <a:solidFill>
                  <a:srgbClr val="00A6A6"/>
                </a:solidFill>
              </a:ln>
            </p:spPr>
          </p:sp>
          <p:sp>
            <p:nvSpPr>
              <p:cNvPr id="43" name="TextBox 43"/>
              <p:cNvSpPr txBox="1"/>
              <p:nvPr/>
            </p:nvSpPr>
            <p:spPr>
              <a:xfrm>
                <a:off x="4791456" y="5444490"/>
                <a:ext cx="246896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Repository katmanı</a:t>
                </a:r>
              </a:p>
            </p:txBody>
          </p:sp>
          <p:sp>
            <p:nvSpPr>
              <p:cNvPr id="44" name="TextBox 44"/>
              <p:cNvSpPr txBox="1"/>
              <p:nvPr/>
            </p:nvSpPr>
            <p:spPr>
              <a:xfrm>
                <a:off x="4792599" y="5716429"/>
                <a:ext cx="4296749"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CRUD çağrılarını iş kurallarından ayırır</a:t>
                </a:r>
              </a:p>
            </p:txBody>
          </p:sp>
        </p:grpSp>
        <p:grpSp>
          <p:nvGrpSpPr>
            <p:cNvPr id="50" name="map-legend"/>
            <p:cNvGrpSpPr/>
            <p:nvPr/>
          </p:nvGrpSpPr>
          <p:grpSpPr>
            <a:xfrm>
              <a:off x="685800" y="5528310"/>
              <a:ext cx="5088139" cy="577596"/>
              <a:chOff x="685800" y="5528310"/>
              <a:chExt cx="5088139" cy="577596"/>
            </a:xfrm>
          </p:grpSpPr>
          <p:sp>
            <p:nvSpPr>
              <p:cNvPr id="46" name="Line 46"/>
              <p:cNvSpPr/>
              <p:nvPr/>
            </p:nvSpPr>
            <p:spPr>
              <a:xfrm>
                <a:off x="685800" y="5600700"/>
                <a:ext cx="304800" cy="1"/>
              </a:xfrm>
              <a:prstGeom prst="line">
                <a:avLst/>
              </a:prstGeom>
              <a:noFill/>
              <a:ln w="23812">
                <a:solidFill>
                  <a:srgbClr val="00A6A6"/>
                </a:solidFill>
                <a:tailEnd type="arrow" w="lg" len="lg"/>
              </a:ln>
            </p:spPr>
          </p:sp>
          <p:sp>
            <p:nvSpPr>
              <p:cNvPr id="47" name="TextBox 47"/>
              <p:cNvSpPr txBox="1"/>
              <p:nvPr/>
            </p:nvSpPr>
            <p:spPr>
              <a:xfrm>
                <a:off x="1079754" y="5528310"/>
                <a:ext cx="312724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Schema'dan doğan üretim/tanım ilişkisi</a:t>
                </a:r>
              </a:p>
            </p:txBody>
          </p:sp>
          <p:sp>
            <p:nvSpPr>
              <p:cNvPr id="48" name="Line 48"/>
              <p:cNvSpPr/>
              <p:nvPr/>
            </p:nvSpPr>
            <p:spPr>
              <a:xfrm>
                <a:off x="685800" y="5943600"/>
                <a:ext cx="304800" cy="1"/>
              </a:xfrm>
              <a:prstGeom prst="line">
                <a:avLst/>
              </a:prstGeom>
              <a:noFill/>
              <a:ln w="19050">
                <a:solidFill>
                  <a:srgbClr val="52616B"/>
                </a:solidFill>
                <a:custDash>
                  <a:ds d="300000" sp="200000"/>
                </a:custDash>
                <a:tailEnd type="arrow" w="lg" len="lg"/>
              </a:ln>
            </p:spPr>
          </p:sp>
          <p:sp>
            <p:nvSpPr>
              <p:cNvPr id="49" name="TextBox 49"/>
              <p:cNvSpPr txBox="1"/>
              <p:nvPr/>
            </p:nvSpPr>
            <p:spPr>
              <a:xfrm>
                <a:off x="1079754" y="5871210"/>
                <a:ext cx="4694185"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Sonuç ve soyutlama ilişkisi (uygulanır / arkasında gizlenir)</a:t>
                </a:r>
              </a:p>
            </p:txBody>
          </p:sp>
        </p:grpSp>
      </p:grpSp>
      <p:sp>
        <p:nvSpPr>
          <p:cNvPr id="52" name="TextBox 5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04 / 25</a:t>
            </a:r>
          </a:p>
        </p:txBody>
      </p:sp>
    </p:spTree>
  </p:cSld>
  <p:clrMapOvr>
    <a:masterClrMapping/>
  </p:clrMapOvr>
  <p:transition xmlns:p14="http://schemas.microsoft.com/office/powerpoint/2010/main" p14:dur="400">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5908695" cy="668845"/>
            <a:chOff x="609600" y="171450"/>
            <a:chExt cx="5908695"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521832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sorumluluk matrisi</a:t>
              </a:r>
            </a:p>
          </p:txBody>
        </p:sp>
      </p:grpSp>
      <p:grpSp>
        <p:nvGrpSpPr>
          <p:cNvPr id="18" name="matrix-header"/>
          <p:cNvGrpSpPr/>
          <p:nvPr/>
        </p:nvGrpSpPr>
        <p:grpSpPr>
          <a:xfrm>
            <a:off x="609600" y="1333500"/>
            <a:ext cx="10972800" cy="342900"/>
            <a:chOff x="609600" y="1333500"/>
            <a:chExt cx="10972800" cy="342900"/>
          </a:xfrm>
        </p:grpSpPr>
        <p:sp>
          <p:nvSpPr>
            <p:cNvPr id="13" name="Rectangle 13"/>
            <p:cNvSpPr/>
            <p:nvPr/>
          </p:nvSpPr>
          <p:spPr>
            <a:xfrm>
              <a:off x="609600" y="1333500"/>
              <a:ext cx="10972800" cy="342900"/>
            </a:xfrm>
            <a:prstGeom prst="rect">
              <a:avLst/>
            </a:prstGeom>
            <a:solidFill>
              <a:srgbClr val="12355B"/>
            </a:solidFill>
            <a:ln>
              <a:noFill/>
            </a:ln>
          </p:spPr>
        </p:sp>
        <p:sp>
          <p:nvSpPr>
            <p:cNvPr id="14" name="TextBox 14"/>
            <p:cNvSpPr txBox="1"/>
            <p:nvPr/>
          </p:nvSpPr>
          <p:spPr>
            <a:xfrm>
              <a:off x="756285" y="1431131"/>
              <a:ext cx="650230"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KAVRAM</a:t>
              </a:r>
            </a:p>
          </p:txBody>
        </p:sp>
        <p:sp>
          <p:nvSpPr>
            <p:cNvPr id="15" name="TextBox 15"/>
            <p:cNvSpPr txBox="1"/>
            <p:nvPr/>
          </p:nvSpPr>
          <p:spPr>
            <a:xfrm>
              <a:off x="2470785" y="1431131"/>
              <a:ext cx="1224424"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TEMEL GÖREVİ</a:t>
              </a:r>
            </a:p>
          </p:txBody>
        </p:sp>
        <p:sp>
          <p:nvSpPr>
            <p:cNvPr id="16" name="TextBox 16"/>
            <p:cNvSpPr txBox="1"/>
            <p:nvPr/>
          </p:nvSpPr>
          <p:spPr>
            <a:xfrm>
              <a:off x="5709285" y="1431131"/>
              <a:ext cx="1019087"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NE YAPMAZ?</a:t>
              </a:r>
            </a:p>
          </p:txBody>
        </p:sp>
        <p:sp>
          <p:nvSpPr>
            <p:cNvPr id="17" name="TextBox 17"/>
            <p:cNvSpPr txBox="1"/>
            <p:nvPr/>
          </p:nvSpPr>
          <p:spPr>
            <a:xfrm>
              <a:off x="8757285" y="1431131"/>
              <a:ext cx="1660191" cy="220028"/>
            </a:xfrm>
            <a:prstGeom prst="rect">
              <a:avLst/>
            </a:prstGeom>
            <a:noFill/>
            <a:ln>
              <a:noFill/>
            </a:ln>
          </p:spPr>
          <p:txBody>
            <a:bodyPr wrap="none" lIns="0" tIns="0" rIns="0" bIns="0" anchor="t" anchorCtr="0">
              <a:spAutoFit/>
            </a:bodyPr>
            <a:lstStyle/>
            <a:p>
              <a:pPr algn="l"/>
              <a:r>
                <a:rPr lang="tr-TR" sz="1120" b="1" spc="75" dirty="0">
                  <a:solidFill>
                    <a:srgbClr val="FFFFFF"/>
                  </a:solidFill>
                  <a:latin typeface="+mn-lt"/>
                  <a:ea typeface="+mn-ea"/>
                  <a:cs typeface="+mn-cs"/>
                </a:rPr>
                <a:t>OLMAZSA NE OLUR?</a:t>
              </a:r>
            </a:p>
          </p:txBody>
        </p:sp>
      </p:grpSp>
      <p:grpSp>
        <p:nvGrpSpPr>
          <p:cNvPr id="24" name="row-orm"/>
          <p:cNvGrpSpPr/>
          <p:nvPr/>
        </p:nvGrpSpPr>
        <p:grpSpPr>
          <a:xfrm>
            <a:off x="609600" y="1756410"/>
            <a:ext cx="10972800" cy="596646"/>
            <a:chOff x="609600" y="1756410"/>
            <a:chExt cx="10972800" cy="596646"/>
          </a:xfrm>
        </p:grpSpPr>
        <p:sp>
          <p:nvSpPr>
            <p:cNvPr id="19" name="TextBox 19"/>
            <p:cNvSpPr txBox="1"/>
            <p:nvPr/>
          </p:nvSpPr>
          <p:spPr>
            <a:xfrm>
              <a:off x="755904" y="1813560"/>
              <a:ext cx="98596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Prisma ORM</a:t>
              </a:r>
            </a:p>
          </p:txBody>
        </p:sp>
        <p:sp>
          <p:nvSpPr>
            <p:cNvPr id="20" name="TextBox 20"/>
            <p:cNvSpPr txBox="1"/>
            <p:nvPr/>
          </p:nvSpPr>
          <p:spPr>
            <a:xfrm>
              <a:off x="2470404" y="1756410"/>
              <a:ext cx="19705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Tabloları TypeScript</a:t>
              </a:r>
              <a:br/>
              <a:r>
                <a:rPr lang="tr-TR" sz="1200" dirty="0">
                  <a:solidFill>
                    <a:srgbClr val="172B3A"/>
                  </a:solidFill>
                  <a:latin typeface="+mn-lt"/>
                  <a:ea typeface="+mn-ea"/>
                  <a:cs typeface="+mn-cs"/>
                </a:rPr>
                <a:t>modellerine eşleyip SQL'i</a:t>
              </a:r>
              <a:br/>
              <a:r>
                <a:rPr lang="tr-TR" sz="1200" dirty="0">
                  <a:solidFill>
                    <a:srgbClr val="172B3A"/>
                  </a:solidFill>
                  <a:latin typeface="+mn-lt"/>
                  <a:ea typeface="+mn-ea"/>
                  <a:cs typeface="+mn-cs"/>
                </a:rPr>
                <a:t>tür güvenli API'ye çevirir.</a:t>
              </a:r>
            </a:p>
          </p:txBody>
        </p:sp>
        <p:sp>
          <p:nvSpPr>
            <p:cNvPr id="21" name="TextBox 21"/>
            <p:cNvSpPr txBox="1"/>
            <p:nvPr/>
          </p:nvSpPr>
          <p:spPr>
            <a:xfrm>
              <a:off x="5708904" y="1756410"/>
              <a:ext cx="22219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Ham SQL yazma gereksinimini</a:t>
              </a:r>
              <a:br/>
              <a:r>
                <a:rPr lang="tr-TR" sz="1200" dirty="0">
                  <a:solidFill>
                    <a:srgbClr val="172B3A"/>
                  </a:solidFill>
                  <a:latin typeface="+mn-lt"/>
                  <a:ea typeface="+mn-ea"/>
                  <a:cs typeface="+mn-cs"/>
                </a:rPr>
                <a:t>ortadan kaldırmaz; karmaşık</a:t>
              </a:r>
              <a:br/>
              <a:r>
                <a:rPr lang="tr-TR" sz="1200" dirty="0">
                  <a:solidFill>
                    <a:srgbClr val="172B3A"/>
                  </a:solidFill>
                  <a:latin typeface="+mn-lt"/>
                  <a:ea typeface="+mn-ea"/>
                  <a:cs typeface="+mn-cs"/>
                </a:rPr>
                <a:t>raporlamada yer bırakır.</a:t>
              </a:r>
            </a:p>
          </p:txBody>
        </p:sp>
        <p:sp>
          <p:nvSpPr>
            <p:cNvPr id="22" name="TextBox 22"/>
            <p:cNvSpPr txBox="1"/>
            <p:nvPr/>
          </p:nvSpPr>
          <p:spPr>
            <a:xfrm>
              <a:off x="8756904" y="1756410"/>
              <a:ext cx="21991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Sütun yazım hataları canlıda</a:t>
              </a:r>
              <a:br/>
              <a:r>
                <a:rPr lang="tr-TR" sz="1200" dirty="0">
                  <a:solidFill>
                    <a:srgbClr val="172B3A"/>
                  </a:solidFill>
                  <a:latin typeface="+mn-lt"/>
                  <a:ea typeface="+mn-ea"/>
                  <a:cs typeface="+mn-cs"/>
                </a:rPr>
                <a:t>patlar; SQL Injection riski</a:t>
              </a:r>
              <a:br/>
              <a:r>
                <a:rPr lang="tr-TR" sz="1200" dirty="0">
                  <a:solidFill>
                    <a:srgbClr val="172B3A"/>
                  </a:solidFill>
                  <a:latin typeface="+mn-lt"/>
                  <a:ea typeface="+mn-ea"/>
                  <a:cs typeface="+mn-cs"/>
                </a:rPr>
                <a:t>artar.</a:t>
              </a:r>
            </a:p>
          </p:txBody>
        </p:sp>
        <p:sp>
          <p:nvSpPr>
            <p:cNvPr id="23" name="Line 23"/>
            <p:cNvSpPr/>
            <p:nvPr/>
          </p:nvSpPr>
          <p:spPr>
            <a:xfrm>
              <a:off x="609600" y="23241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row-schema"/>
          <p:cNvGrpSpPr/>
          <p:nvPr/>
        </p:nvGrpSpPr>
        <p:grpSpPr>
          <a:xfrm>
            <a:off x="609600" y="2324100"/>
            <a:ext cx="10972800" cy="676656"/>
            <a:chOff x="609600" y="2324100"/>
            <a:chExt cx="10972800" cy="676656"/>
          </a:xfrm>
        </p:grpSpPr>
        <p:sp>
          <p:nvSpPr>
            <p:cNvPr id="25" name="Rectangle 25"/>
            <p:cNvSpPr/>
            <p:nvPr/>
          </p:nvSpPr>
          <p:spPr>
            <a:xfrm>
              <a:off x="609600" y="2324100"/>
              <a:ext cx="10972800" cy="647700"/>
            </a:xfrm>
            <a:prstGeom prst="rect">
              <a:avLst/>
            </a:prstGeom>
            <a:solidFill>
              <a:srgbClr val="EAF4F6"/>
            </a:solidFill>
            <a:ln>
              <a:noFill/>
            </a:ln>
          </p:spPr>
        </p:sp>
        <p:sp>
          <p:nvSpPr>
            <p:cNvPr id="26" name="TextBox 26"/>
            <p:cNvSpPr txBox="1"/>
            <p:nvPr/>
          </p:nvSpPr>
          <p:spPr>
            <a:xfrm>
              <a:off x="755904" y="2461260"/>
              <a:ext cx="125042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schema.prisma</a:t>
              </a:r>
            </a:p>
          </p:txBody>
        </p:sp>
        <p:sp>
          <p:nvSpPr>
            <p:cNvPr id="27" name="TextBox 27"/>
            <p:cNvSpPr txBox="1"/>
            <p:nvPr/>
          </p:nvSpPr>
          <p:spPr>
            <a:xfrm>
              <a:off x="2470404" y="2404110"/>
              <a:ext cx="19705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Modelleri, alan tiplerini ve</a:t>
              </a:r>
              <a:br/>
              <a:r>
                <a:rPr lang="tr-TR" sz="1200" dirty="0">
                  <a:solidFill>
                    <a:srgbClr val="172B3A"/>
                  </a:solidFill>
                  <a:latin typeface="+mn-lt"/>
                  <a:ea typeface="+mn-ea"/>
                  <a:cs typeface="+mn-cs"/>
                </a:rPr>
                <a:t>ilişkileri tanımlayan tek</a:t>
              </a:r>
              <a:br/>
              <a:r>
                <a:rPr lang="tr-TR" sz="1200" dirty="0">
                  <a:solidFill>
                    <a:srgbClr val="172B3A"/>
                  </a:solidFill>
                  <a:latin typeface="+mn-lt"/>
                  <a:ea typeface="+mn-ea"/>
                  <a:cs typeface="+mn-cs"/>
                </a:rPr>
                <a:t>gerçeklik kaynağıdır.</a:t>
              </a:r>
            </a:p>
          </p:txBody>
        </p:sp>
        <p:sp>
          <p:nvSpPr>
            <p:cNvPr id="28" name="TextBox 28"/>
            <p:cNvSpPr txBox="1"/>
            <p:nvPr/>
          </p:nvSpPr>
          <p:spPr>
            <a:xfrm>
              <a:off x="5708904" y="2404110"/>
              <a:ext cx="21991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Doğrudan veritabanında</a:t>
              </a:r>
              <a:br/>
              <a:r>
                <a:rPr lang="tr-TR" sz="1200" dirty="0">
                  <a:solidFill>
                    <a:srgbClr val="172B3A"/>
                  </a:solidFill>
                  <a:latin typeface="+mn-lt"/>
                  <a:ea typeface="+mn-ea"/>
                  <a:cs typeface="+mn-cs"/>
                </a:rPr>
                <a:t>çalışmaz; migration ve Client</a:t>
              </a:r>
              <a:br/>
              <a:r>
                <a:rPr lang="tr-TR" sz="1200" dirty="0">
                  <a:solidFill>
                    <a:srgbClr val="172B3A"/>
                  </a:solidFill>
                  <a:latin typeface="+mn-lt"/>
                  <a:ea typeface="+mn-ea"/>
                  <a:cs typeface="+mn-cs"/>
                </a:rPr>
                <a:t>üretimi için girdidir.</a:t>
              </a:r>
            </a:p>
          </p:txBody>
        </p:sp>
        <p:sp>
          <p:nvSpPr>
            <p:cNvPr id="29" name="TextBox 29"/>
            <p:cNvSpPr txBox="1"/>
            <p:nvPr/>
          </p:nvSpPr>
          <p:spPr>
            <a:xfrm>
              <a:off x="8756904" y="2404110"/>
              <a:ext cx="20467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Kod modelleri ile veritabanı</a:t>
              </a:r>
              <a:br/>
              <a:r>
                <a:rPr lang="tr-TR" sz="1200" dirty="0">
                  <a:solidFill>
                    <a:srgbClr val="172B3A"/>
                  </a:solidFill>
                  <a:latin typeface="+mn-lt"/>
                  <a:ea typeface="+mn-ea"/>
                  <a:cs typeface="+mn-cs"/>
                </a:rPr>
                <a:t>şeması kopar (drift);</a:t>
              </a:r>
              <a:br/>
              <a:r>
                <a:rPr lang="tr-TR" sz="1200" dirty="0">
                  <a:solidFill>
                    <a:srgbClr val="172B3A"/>
                  </a:solidFill>
                  <a:latin typeface="+mn-lt"/>
                  <a:ea typeface="+mn-ea"/>
                  <a:cs typeface="+mn-cs"/>
                </a:rPr>
                <a:t>tipler elle yazılır.</a:t>
              </a:r>
            </a:p>
          </p:txBody>
        </p:sp>
        <p:sp>
          <p:nvSpPr>
            <p:cNvPr id="30" name="Line 30"/>
            <p:cNvSpPr/>
            <p:nvPr/>
          </p:nvSpPr>
          <p:spPr>
            <a:xfrm>
              <a:off x="609600" y="29718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7" name="row-migration"/>
          <p:cNvGrpSpPr/>
          <p:nvPr/>
        </p:nvGrpSpPr>
        <p:grpSpPr>
          <a:xfrm>
            <a:off x="609600" y="3051810"/>
            <a:ext cx="10972800" cy="596646"/>
            <a:chOff x="609600" y="3051810"/>
            <a:chExt cx="10972800" cy="596646"/>
          </a:xfrm>
        </p:grpSpPr>
        <p:sp>
          <p:nvSpPr>
            <p:cNvPr id="32" name="TextBox 32"/>
            <p:cNvSpPr txBox="1"/>
            <p:nvPr/>
          </p:nvSpPr>
          <p:spPr>
            <a:xfrm>
              <a:off x="755904" y="3108960"/>
              <a:ext cx="80589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Migration</a:t>
              </a:r>
            </a:p>
          </p:txBody>
        </p:sp>
        <p:sp>
          <p:nvSpPr>
            <p:cNvPr id="33" name="TextBox 33"/>
            <p:cNvSpPr txBox="1"/>
            <p:nvPr/>
          </p:nvSpPr>
          <p:spPr>
            <a:xfrm>
              <a:off x="2470404" y="3051810"/>
              <a:ext cx="21915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Şema değişikliğini versiyonlu</a:t>
              </a:r>
              <a:br/>
              <a:r>
                <a:rPr lang="tr-TR" sz="1200" dirty="0">
                  <a:solidFill>
                    <a:srgbClr val="172B3A"/>
                  </a:solidFill>
                  <a:latin typeface="+mn-lt"/>
                  <a:ea typeface="+mn-ea"/>
                  <a:cs typeface="+mn-cs"/>
                </a:rPr>
                <a:t>SQL adımlarına çevirip hedef</a:t>
              </a:r>
              <a:br/>
              <a:r>
                <a:rPr lang="tr-TR" sz="1200" dirty="0">
                  <a:solidFill>
                    <a:srgbClr val="172B3A"/>
                  </a:solidFill>
                  <a:latin typeface="+mn-lt"/>
                  <a:ea typeface="+mn-ea"/>
                  <a:cs typeface="+mn-cs"/>
                </a:rPr>
                <a:t>veritabanına uygular.</a:t>
              </a:r>
            </a:p>
          </p:txBody>
        </p:sp>
        <p:sp>
          <p:nvSpPr>
            <p:cNvPr id="34" name="TextBox 34"/>
            <p:cNvSpPr txBox="1"/>
            <p:nvPr/>
          </p:nvSpPr>
          <p:spPr>
            <a:xfrm>
              <a:off x="5708904" y="3051810"/>
              <a:ext cx="21076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Uyumsuz eski veriyi sihirli</a:t>
              </a:r>
              <a:br/>
              <a:r>
                <a:rPr lang="tr-TR" sz="1200" dirty="0">
                  <a:solidFill>
                    <a:srgbClr val="172B3A"/>
                  </a:solidFill>
                  <a:latin typeface="+mn-lt"/>
                  <a:ea typeface="+mn-ea"/>
                  <a:cs typeface="+mn-cs"/>
                </a:rPr>
                <a:t>dönüştürmez; geri dönüşsüz</a:t>
              </a:r>
              <a:br/>
              <a:r>
                <a:rPr lang="tr-TR" sz="1200" dirty="0">
                  <a:solidFill>
                    <a:srgbClr val="172B3A"/>
                  </a:solidFill>
                  <a:latin typeface="+mn-lt"/>
                  <a:ea typeface="+mn-ea"/>
                  <a:cs typeface="+mn-cs"/>
                </a:rPr>
                <a:t>kayıp için onay ister.</a:t>
              </a:r>
            </a:p>
          </p:txBody>
        </p:sp>
        <p:sp>
          <p:nvSpPr>
            <p:cNvPr id="35" name="TextBox 35"/>
            <p:cNvSpPr txBox="1"/>
            <p:nvPr/>
          </p:nvSpPr>
          <p:spPr>
            <a:xfrm>
              <a:off x="8756904" y="3051810"/>
              <a:ext cx="17876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Ortamlar arası şema</a:t>
              </a:r>
              <a:br/>
              <a:r>
                <a:rPr lang="tr-TR" sz="1200" dirty="0">
                  <a:solidFill>
                    <a:srgbClr val="172B3A"/>
                  </a:solidFill>
                  <a:latin typeface="+mn-lt"/>
                  <a:ea typeface="+mn-ea"/>
                  <a:cs typeface="+mn-cs"/>
                </a:rPr>
                <a:t>uyuşmaz; ekip birbirinin</a:t>
              </a:r>
              <a:br/>
              <a:r>
                <a:rPr lang="tr-TR" sz="1200" dirty="0">
                  <a:solidFill>
                    <a:srgbClr val="172B3A"/>
                  </a:solidFill>
                  <a:latin typeface="+mn-lt"/>
                  <a:ea typeface="+mn-ea"/>
                  <a:cs typeface="+mn-cs"/>
                </a:rPr>
                <a:t>değişikliğini ezer.</a:t>
              </a:r>
            </a:p>
          </p:txBody>
        </p:sp>
        <p:sp>
          <p:nvSpPr>
            <p:cNvPr id="36" name="Line 36"/>
            <p:cNvSpPr/>
            <p:nvPr/>
          </p:nvSpPr>
          <p:spPr>
            <a:xfrm>
              <a:off x="609600" y="36195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44" name="row-relations"/>
          <p:cNvGrpSpPr/>
          <p:nvPr/>
        </p:nvGrpSpPr>
        <p:grpSpPr>
          <a:xfrm>
            <a:off x="609600" y="3619500"/>
            <a:ext cx="10972800" cy="676656"/>
            <a:chOff x="609600" y="3619500"/>
            <a:chExt cx="10972800" cy="676656"/>
          </a:xfrm>
        </p:grpSpPr>
        <p:sp>
          <p:nvSpPr>
            <p:cNvPr id="38" name="Rectangle 38"/>
            <p:cNvSpPr/>
            <p:nvPr/>
          </p:nvSpPr>
          <p:spPr>
            <a:xfrm>
              <a:off x="609600" y="3619500"/>
              <a:ext cx="10972800" cy="647700"/>
            </a:xfrm>
            <a:prstGeom prst="rect">
              <a:avLst/>
            </a:prstGeom>
            <a:solidFill>
              <a:srgbClr val="EAF4F6"/>
            </a:solidFill>
            <a:ln>
              <a:noFill/>
            </a:ln>
          </p:spPr>
        </p:sp>
        <p:sp>
          <p:nvSpPr>
            <p:cNvPr id="39" name="TextBox 39"/>
            <p:cNvSpPr txBox="1"/>
            <p:nvPr/>
          </p:nvSpPr>
          <p:spPr>
            <a:xfrm>
              <a:off x="755904" y="3718560"/>
              <a:ext cx="900303"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Relations</a:t>
              </a:r>
              <a:br/>
              <a:r>
                <a:rPr lang="tr-TR" sz="1200" b="1" dirty="0">
                  <a:solidFill>
                    <a:srgbClr val="12355B"/>
                  </a:solidFill>
                  <a:latin typeface="+mn-lt"/>
                  <a:ea typeface="+mn-ea"/>
                  <a:cs typeface="+mn-cs"/>
                </a:rPr>
                <a:t>(@relation)</a:t>
              </a:r>
            </a:p>
          </p:txBody>
        </p:sp>
        <p:sp>
          <p:nvSpPr>
            <p:cNvPr id="40" name="TextBox 40"/>
            <p:cNvSpPr txBox="1"/>
            <p:nvPr/>
          </p:nvSpPr>
          <p:spPr>
            <a:xfrm>
              <a:off x="2470404" y="3699510"/>
              <a:ext cx="19095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Yabancı anahtar ilişkisini</a:t>
              </a:r>
              <a:br/>
              <a:r>
                <a:rPr lang="tr-TR" sz="1200" dirty="0">
                  <a:solidFill>
                    <a:srgbClr val="172B3A"/>
                  </a:solidFill>
                  <a:latin typeface="+mn-lt"/>
                  <a:ea typeface="+mn-ea"/>
                  <a:cs typeface="+mn-cs"/>
                </a:rPr>
                <a:t>modeller üzerinde bağlar,</a:t>
              </a:r>
              <a:br/>
              <a:r>
                <a:rPr lang="tr-TR" sz="1200" dirty="0">
                  <a:solidFill>
                    <a:srgbClr val="172B3A"/>
                  </a:solidFill>
                  <a:latin typeface="+mn-lt"/>
                  <a:ea typeface="+mn-ea"/>
                  <a:cs typeface="+mn-cs"/>
                </a:rPr>
                <a:t>include ile veri getirtir.</a:t>
              </a:r>
            </a:p>
          </p:txBody>
        </p:sp>
        <p:sp>
          <p:nvSpPr>
            <p:cNvPr id="41" name="TextBox 41"/>
            <p:cNvSpPr txBox="1"/>
            <p:nvPr/>
          </p:nvSpPr>
          <p:spPr>
            <a:xfrm>
              <a:off x="5708904" y="3699510"/>
              <a:ext cx="22143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Tüm ilişkili tabloları otomatik</a:t>
              </a:r>
              <a:br/>
              <a:r>
                <a:rPr lang="tr-TR" sz="1200" dirty="0">
                  <a:solidFill>
                    <a:srgbClr val="172B3A"/>
                  </a:solidFill>
                  <a:latin typeface="+mn-lt"/>
                  <a:ea typeface="+mn-ea"/>
                  <a:cs typeface="+mn-cs"/>
                </a:rPr>
                <a:t>yüklemez (lazy); açıkça</a:t>
              </a:r>
              <a:br/>
              <a:r>
                <a:rPr lang="tr-TR" sz="1200" dirty="0">
                  <a:solidFill>
                    <a:srgbClr val="172B3A"/>
                  </a:solidFill>
                  <a:latin typeface="+mn-lt"/>
                  <a:ea typeface="+mn-ea"/>
                  <a:cs typeface="+mn-cs"/>
                </a:rPr>
                <a:t>istenmelidir.</a:t>
              </a:r>
            </a:p>
          </p:txBody>
        </p:sp>
        <p:sp>
          <p:nvSpPr>
            <p:cNvPr id="42" name="TextBox 42"/>
            <p:cNvSpPr txBox="1"/>
            <p:nvPr/>
          </p:nvSpPr>
          <p:spPr>
            <a:xfrm>
              <a:off x="8756904" y="3699510"/>
              <a:ext cx="171907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Birden çok sorgu elle</a:t>
              </a:r>
              <a:br/>
              <a:r>
                <a:rPr lang="tr-TR" sz="1200" dirty="0">
                  <a:solidFill>
                    <a:srgbClr val="172B3A"/>
                  </a:solidFill>
                  <a:latin typeface="+mn-lt"/>
                  <a:ea typeface="+mn-ea"/>
                  <a:cs typeface="+mn-cs"/>
                </a:rPr>
                <a:t>birleştirilir; N+1 sorgu</a:t>
              </a:r>
              <a:br/>
              <a:r>
                <a:rPr lang="tr-TR" sz="1200" dirty="0">
                  <a:solidFill>
                    <a:srgbClr val="172B3A"/>
                  </a:solidFill>
                  <a:latin typeface="+mn-lt"/>
                  <a:ea typeface="+mn-ea"/>
                  <a:cs typeface="+mn-cs"/>
                </a:rPr>
                <a:t>problemi büyür.</a:t>
              </a:r>
            </a:p>
          </p:txBody>
        </p:sp>
        <p:sp>
          <p:nvSpPr>
            <p:cNvPr id="43" name="Line 43"/>
            <p:cNvSpPr/>
            <p:nvPr/>
          </p:nvSpPr>
          <p:spPr>
            <a:xfrm>
              <a:off x="609600" y="42672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0" name="row-typesafe"/>
          <p:cNvGrpSpPr/>
          <p:nvPr/>
        </p:nvGrpSpPr>
        <p:grpSpPr>
          <a:xfrm>
            <a:off x="609600" y="4347210"/>
            <a:ext cx="10972800" cy="596646"/>
            <a:chOff x="609600" y="4347210"/>
            <a:chExt cx="10972800" cy="596646"/>
          </a:xfrm>
        </p:grpSpPr>
        <p:sp>
          <p:nvSpPr>
            <p:cNvPr id="45" name="TextBox 45"/>
            <p:cNvSpPr txBox="1"/>
            <p:nvPr/>
          </p:nvSpPr>
          <p:spPr>
            <a:xfrm>
              <a:off x="755904" y="4366260"/>
              <a:ext cx="804291"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Type-Safe</a:t>
              </a:r>
              <a:br/>
              <a:r>
                <a:rPr lang="tr-TR" sz="1200" b="1" dirty="0">
                  <a:solidFill>
                    <a:srgbClr val="12355B"/>
                  </a:solidFill>
                  <a:latin typeface="+mn-lt"/>
                  <a:ea typeface="+mn-ea"/>
                  <a:cs typeface="+mn-cs"/>
                </a:rPr>
                <a:t>Query</a:t>
              </a:r>
            </a:p>
          </p:txBody>
        </p:sp>
        <p:sp>
          <p:nvSpPr>
            <p:cNvPr id="46" name="TextBox 46"/>
            <p:cNvSpPr txBox="1"/>
            <p:nvPr/>
          </p:nvSpPr>
          <p:spPr>
            <a:xfrm>
              <a:off x="2470404" y="4347210"/>
              <a:ext cx="220675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Her sorgunun girdi/çıktısını</a:t>
              </a:r>
              <a:br/>
              <a:r>
                <a:rPr lang="tr-TR" sz="1200" dirty="0">
                  <a:solidFill>
                    <a:srgbClr val="172B3A"/>
                  </a:solidFill>
                  <a:latin typeface="+mn-lt"/>
                  <a:ea typeface="+mn-ea"/>
                  <a:cs typeface="+mn-cs"/>
                </a:rPr>
                <a:t>derleme anında doğrular,</a:t>
              </a:r>
              <a:br/>
              <a:r>
                <a:rPr lang="tr-TR" sz="1200" dirty="0">
                  <a:solidFill>
                    <a:srgbClr val="172B3A"/>
                  </a:solidFill>
                  <a:latin typeface="+mn-lt"/>
                  <a:ea typeface="+mn-ea"/>
                  <a:cs typeface="+mn-cs"/>
                </a:rPr>
                <a:t>otomatik tamamlama sunar.</a:t>
              </a:r>
            </a:p>
          </p:txBody>
        </p:sp>
        <p:sp>
          <p:nvSpPr>
            <p:cNvPr id="47" name="TextBox 47"/>
            <p:cNvSpPr txBox="1"/>
            <p:nvPr/>
          </p:nvSpPr>
          <p:spPr>
            <a:xfrm>
              <a:off x="5708904" y="4347210"/>
              <a:ext cx="23439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Güvensiz HTTP gövdesini</a:t>
              </a:r>
              <a:br/>
              <a:r>
                <a:rPr lang="tr-TR" sz="1200" dirty="0">
                  <a:solidFill>
                    <a:srgbClr val="172B3A"/>
                  </a:solidFill>
                  <a:latin typeface="+mn-lt"/>
                  <a:ea typeface="+mn-ea"/>
                  <a:cs typeface="+mn-cs"/>
                </a:rPr>
                <a:t>otomatik temizlemez;</a:t>
              </a:r>
              <a:br/>
              <a:r>
                <a:rPr lang="tr-TR" sz="1200" dirty="0">
                  <a:solidFill>
                    <a:srgbClr val="172B3A"/>
                  </a:solidFill>
                  <a:latin typeface="+mn-lt"/>
                  <a:ea typeface="+mn-ea"/>
                  <a:cs typeface="+mn-cs"/>
                </a:rPr>
                <a:t>validation kütüphanesi gerekir.</a:t>
              </a:r>
            </a:p>
          </p:txBody>
        </p:sp>
        <p:sp>
          <p:nvSpPr>
            <p:cNvPr id="48" name="TextBox 48"/>
            <p:cNvSpPr txBox="1"/>
            <p:nvPr/>
          </p:nvSpPr>
          <p:spPr>
            <a:xfrm>
              <a:off x="8756904" y="4347210"/>
              <a:ext cx="19705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Yanlış alan/tip derleyicide</a:t>
              </a:r>
              <a:br/>
              <a:r>
                <a:rPr lang="tr-TR" sz="1200" dirty="0">
                  <a:solidFill>
                    <a:srgbClr val="172B3A"/>
                  </a:solidFill>
                  <a:latin typeface="+mn-lt"/>
                  <a:ea typeface="+mn-ea"/>
                  <a:cs typeface="+mn-cs"/>
                </a:rPr>
                <a:t>yakalanamaz; geliştirme</a:t>
              </a:r>
              <a:br/>
              <a:r>
                <a:rPr lang="tr-TR" sz="1200" dirty="0">
                  <a:solidFill>
                    <a:srgbClr val="172B3A"/>
                  </a:solidFill>
                  <a:latin typeface="+mn-lt"/>
                  <a:ea typeface="+mn-ea"/>
                  <a:cs typeface="+mn-cs"/>
                </a:rPr>
                <a:t>hızı düşer.</a:t>
              </a:r>
            </a:p>
          </p:txBody>
        </p:sp>
        <p:sp>
          <p:nvSpPr>
            <p:cNvPr id="49" name="Line 49"/>
            <p:cNvSpPr/>
            <p:nvPr/>
          </p:nvSpPr>
          <p:spPr>
            <a:xfrm>
              <a:off x="609600" y="4914900"/>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56" name="row-repository"/>
          <p:cNvGrpSpPr/>
          <p:nvPr/>
        </p:nvGrpSpPr>
        <p:grpSpPr>
          <a:xfrm>
            <a:off x="609600" y="4914900"/>
            <a:ext cx="10972800" cy="676656"/>
            <a:chOff x="609600" y="4914900"/>
            <a:chExt cx="10972800" cy="676656"/>
          </a:xfrm>
        </p:grpSpPr>
        <p:sp>
          <p:nvSpPr>
            <p:cNvPr id="51" name="Rectangle 51"/>
            <p:cNvSpPr/>
            <p:nvPr/>
          </p:nvSpPr>
          <p:spPr>
            <a:xfrm>
              <a:off x="609600" y="4914900"/>
              <a:ext cx="10972800" cy="647700"/>
            </a:xfrm>
            <a:prstGeom prst="rect">
              <a:avLst/>
            </a:prstGeom>
            <a:solidFill>
              <a:srgbClr val="EAF4F6"/>
            </a:solidFill>
            <a:ln>
              <a:noFill/>
            </a:ln>
          </p:spPr>
        </p:sp>
        <p:sp>
          <p:nvSpPr>
            <p:cNvPr id="52" name="TextBox 52"/>
            <p:cNvSpPr txBox="1"/>
            <p:nvPr/>
          </p:nvSpPr>
          <p:spPr>
            <a:xfrm>
              <a:off x="755904" y="5052060"/>
              <a:ext cx="852297" cy="406146"/>
            </a:xfrm>
            <a:prstGeom prst="rect">
              <a:avLst/>
            </a:prstGeom>
            <a:noFill/>
            <a:ln>
              <a:noFill/>
            </a:ln>
          </p:spPr>
          <p:txBody>
            <a:bodyPr wrap="none" lIns="0" tIns="0" rIns="0" bIns="0" anchor="t" anchorCtr="0">
              <a:spAutoFit/>
            </a:bodyPr>
            <a:lstStyle/>
            <a:p>
              <a:pPr algn="l">
                <a:lnSpc>
                  <a:spcPts val="1350"/>
                </a:lnSpc>
              </a:pPr>
              <a:r>
                <a:rPr lang="tr-TR" sz="1200" b="1" dirty="0">
                  <a:solidFill>
                    <a:srgbClr val="12355B"/>
                  </a:solidFill>
                  <a:latin typeface="+mn-lt"/>
                  <a:ea typeface="+mn-ea"/>
                  <a:cs typeface="+mn-cs"/>
                </a:rPr>
                <a:t>Repository</a:t>
              </a:r>
              <a:br/>
              <a:r>
                <a:rPr lang="tr-TR" sz="1200" b="1" dirty="0">
                  <a:solidFill>
                    <a:srgbClr val="12355B"/>
                  </a:solidFill>
                  <a:latin typeface="+mn-lt"/>
                  <a:ea typeface="+mn-ea"/>
                  <a:cs typeface="+mn-cs"/>
                </a:rPr>
                <a:t>Katmanı</a:t>
              </a:r>
            </a:p>
          </p:txBody>
        </p:sp>
        <p:sp>
          <p:nvSpPr>
            <p:cNvPr id="53" name="TextBox 53"/>
            <p:cNvSpPr txBox="1"/>
            <p:nvPr/>
          </p:nvSpPr>
          <p:spPr>
            <a:xfrm>
              <a:off x="2470404" y="4994910"/>
              <a:ext cx="219913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Prisma çağrılarını soyutlar,</a:t>
              </a:r>
              <a:br/>
              <a:r>
                <a:rPr lang="tr-TR" sz="1200" dirty="0">
                  <a:solidFill>
                    <a:srgbClr val="172B3A"/>
                  </a:solidFill>
                  <a:latin typeface="+mn-lt"/>
                  <a:ea typeface="+mn-ea"/>
                  <a:cs typeface="+mn-cs"/>
                </a:rPr>
                <a:t>servis katmanını ORM'e</a:t>
              </a:r>
              <a:br/>
              <a:r>
                <a:rPr lang="tr-TR" sz="1200" dirty="0">
                  <a:solidFill>
                    <a:srgbClr val="172B3A"/>
                  </a:solidFill>
                  <a:latin typeface="+mn-lt"/>
                  <a:ea typeface="+mn-ea"/>
                  <a:cs typeface="+mn-cs"/>
                </a:rPr>
                <a:t>bağımlılıktan kurtarır.</a:t>
              </a:r>
            </a:p>
          </p:txBody>
        </p:sp>
        <p:sp>
          <p:nvSpPr>
            <p:cNvPr id="54" name="TextBox 54"/>
            <p:cNvSpPr txBox="1"/>
            <p:nvPr/>
          </p:nvSpPr>
          <p:spPr>
            <a:xfrm>
              <a:off x="5708904" y="4994910"/>
              <a:ext cx="229819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İş kurallarını (indirim, yetki)</a:t>
              </a:r>
              <a:br/>
              <a:r>
                <a:rPr lang="tr-TR" sz="1200" dirty="0">
                  <a:solidFill>
                    <a:srgbClr val="172B3A"/>
                  </a:solidFill>
                  <a:latin typeface="+mn-lt"/>
                  <a:ea typeface="+mn-ea"/>
                  <a:cs typeface="+mn-cs"/>
                </a:rPr>
                <a:t>çalıştırmaz; yalnızca okuma/</a:t>
              </a:r>
              <a:br/>
              <a:r>
                <a:rPr lang="tr-TR" sz="1200" dirty="0">
                  <a:solidFill>
                    <a:srgbClr val="172B3A"/>
                  </a:solidFill>
                  <a:latin typeface="+mn-lt"/>
                  <a:ea typeface="+mn-ea"/>
                  <a:cs typeface="+mn-cs"/>
                </a:rPr>
                <a:t>yazmayı sarmalar.</a:t>
              </a:r>
            </a:p>
          </p:txBody>
        </p:sp>
        <p:sp>
          <p:nvSpPr>
            <p:cNvPr id="55" name="TextBox 55"/>
            <p:cNvSpPr txBox="1"/>
            <p:nvPr/>
          </p:nvSpPr>
          <p:spPr>
            <a:xfrm>
              <a:off x="8756904" y="4994910"/>
              <a:ext cx="1772412" cy="596646"/>
            </a:xfrm>
            <a:prstGeom prst="rect">
              <a:avLst/>
            </a:prstGeom>
            <a:noFill/>
            <a:ln>
              <a:noFill/>
            </a:ln>
          </p:spPr>
          <p:txBody>
            <a:bodyPr wrap="none" lIns="0" tIns="0" rIns="0" bIns="0" anchor="t" anchorCtr="0">
              <a:spAutoFit/>
            </a:bodyPr>
            <a:lstStyle/>
            <a:p>
              <a:pPr algn="l">
                <a:lnSpc>
                  <a:spcPts val="1425"/>
                </a:lnSpc>
              </a:pPr>
              <a:r>
                <a:rPr lang="tr-TR" sz="1200" dirty="0">
                  <a:solidFill>
                    <a:srgbClr val="172B3A"/>
                  </a:solidFill>
                  <a:latin typeface="+mn-lt"/>
                  <a:ea typeface="+mn-ea"/>
                  <a:cs typeface="+mn-cs"/>
                </a:rPr>
                <a:t>Servis Prisma API'sine</a:t>
              </a:r>
              <a:br/>
              <a:r>
                <a:rPr lang="tr-TR" sz="1200" dirty="0">
                  <a:solidFill>
                    <a:srgbClr val="172B3A"/>
                  </a:solidFill>
                  <a:latin typeface="+mn-lt"/>
                  <a:ea typeface="+mn-ea"/>
                  <a:cs typeface="+mn-cs"/>
                </a:rPr>
                <a:t>kilitlenir; test ve ORM</a:t>
              </a:r>
              <a:br/>
              <a:r>
                <a:rPr lang="tr-TR" sz="1200" dirty="0">
                  <a:solidFill>
                    <a:srgbClr val="172B3A"/>
                  </a:solidFill>
                  <a:latin typeface="+mn-lt"/>
                  <a:ea typeface="+mn-ea"/>
                  <a:cs typeface="+mn-cs"/>
                </a:rPr>
                <a:t>değişimi imkânsızlaşır.</a:t>
              </a:r>
            </a:p>
          </p:txBody>
        </p:sp>
      </p:grpSp>
      <p:sp>
        <p:nvSpPr>
          <p:cNvPr id="57" name="TextBox 5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05 / 25</a:t>
            </a:r>
          </a:p>
        </p:txBody>
      </p:sp>
    </p:spTree>
  </p:cSld>
  <p:clrMapOvr>
    <a:masterClrMapping/>
  </p:clrMapOvr>
  <p:transition xmlns:p14="http://schemas.microsoft.com/office/powerpoint/2010/main" p14:dur="400">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349193" cy="668845"/>
            <a:chOff x="609600" y="171450"/>
            <a:chExt cx="534919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46588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Prisma ve ORM kavramı</a:t>
              </a:r>
            </a:p>
          </p:txBody>
        </p:sp>
      </p:grpSp>
      <p:grpSp>
        <p:nvGrpSpPr>
          <p:cNvPr id="16" name="def-block"/>
          <p:cNvGrpSpPr/>
          <p:nvPr/>
        </p:nvGrpSpPr>
        <p:grpSpPr>
          <a:xfrm>
            <a:off x="609600" y="1219200"/>
            <a:ext cx="10972800" cy="1028700"/>
            <a:chOff x="609600" y="1219200"/>
            <a:chExt cx="10972800" cy="1028700"/>
          </a:xfrm>
        </p:grpSpPr>
        <p:sp>
          <p:nvSpPr>
            <p:cNvPr id="12" name="Rectangle 12"/>
            <p:cNvSpPr/>
            <p:nvPr/>
          </p:nvSpPr>
          <p:spPr>
            <a:xfrm>
              <a:off x="609600" y="1219200"/>
              <a:ext cx="10972800" cy="1028700"/>
            </a:xfrm>
            <a:prstGeom prst="roundRect">
              <a:avLst>
                <a:gd name="adj" fmla="val 7407"/>
              </a:avLst>
            </a:prstGeom>
            <a:solidFill>
              <a:srgbClr val="EAF4F6"/>
            </a:solidFill>
            <a:ln>
              <a:noFill/>
            </a:ln>
          </p:spPr>
        </p:sp>
        <p:sp>
          <p:nvSpPr>
            <p:cNvPr id="13" name="Rectangle 13"/>
            <p:cNvSpPr/>
            <p:nvPr/>
          </p:nvSpPr>
          <p:spPr>
            <a:xfrm>
              <a:off x="609600" y="1219200"/>
              <a:ext cx="57150" cy="1028700"/>
            </a:xfrm>
            <a:prstGeom prst="rect">
              <a:avLst/>
            </a:prstGeom>
            <a:solidFill>
              <a:srgbClr val="00A6A6"/>
            </a:solidFill>
            <a:ln>
              <a:noFill/>
            </a:ln>
          </p:spPr>
        </p:sp>
        <p:sp>
          <p:nvSpPr>
            <p:cNvPr id="14" name="TextBox 14"/>
            <p:cNvSpPr txBox="1"/>
            <p:nvPr/>
          </p:nvSpPr>
          <p:spPr>
            <a:xfrm>
              <a:off x="906399" y="13349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5" name="TextBox 15"/>
            <p:cNvSpPr txBox="1"/>
            <p:nvPr/>
          </p:nvSpPr>
          <p:spPr>
            <a:xfrm>
              <a:off x="908304" y="1642110"/>
              <a:ext cx="872947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Prisma, TypeScript/JavaScript uygulamalarında ilişkisel veritabanlarıyla çalışmayı kolaylaştıran bir ORM aracıdır.</a:t>
              </a:r>
              <a:br/>
              <a:r>
                <a:rPr lang="tr-TR" sz="1200" dirty="0">
                  <a:solidFill>
                    <a:srgbClr val="172B3A"/>
                  </a:solidFill>
                  <a:latin typeface="+mn-lt"/>
                  <a:ea typeface="+mn-ea"/>
                  <a:cs typeface="+mn-cs"/>
                </a:rPr>
                <a:t>Model çoğunlukla tabloya, alan sütuna, model örneği ise satıra karşılık gelir.</a:t>
              </a:r>
            </a:p>
          </p:txBody>
        </p:sp>
      </p:grpSp>
      <p:grpSp>
        <p:nvGrpSpPr>
          <p:cNvPr id="46" name="translator-diagram"/>
          <p:cNvGrpSpPr/>
          <p:nvPr/>
        </p:nvGrpSpPr>
        <p:grpSpPr>
          <a:xfrm>
            <a:off x="609600" y="2514600"/>
            <a:ext cx="10972800" cy="1905000"/>
            <a:chOff x="609600" y="2514600"/>
            <a:chExt cx="10972800" cy="1905000"/>
          </a:xfrm>
        </p:grpSpPr>
        <p:grpSp>
          <p:nvGrpSpPr>
            <p:cNvPr id="25" name="app-side"/>
            <p:cNvGrpSpPr/>
            <p:nvPr/>
          </p:nvGrpSpPr>
          <p:grpSpPr>
            <a:xfrm>
              <a:off x="609600" y="2514600"/>
              <a:ext cx="3143250" cy="1905000"/>
              <a:chOff x="609600" y="2514600"/>
              <a:chExt cx="3143250" cy="1905000"/>
            </a:xfrm>
          </p:grpSpPr>
          <p:sp>
            <p:nvSpPr>
              <p:cNvPr id="17" name="Rectangle 17"/>
              <p:cNvSpPr/>
              <p:nvPr/>
            </p:nvSpPr>
            <p:spPr>
              <a:xfrm>
                <a:off x="609600" y="2514600"/>
                <a:ext cx="3143250" cy="1905000"/>
              </a:xfrm>
              <a:prstGeom prst="roundRect">
                <a:avLst>
                  <a:gd name="adj" fmla="val 5000"/>
                </a:avLst>
              </a:prstGeom>
              <a:solidFill>
                <a:srgbClr val="FFFFFF"/>
              </a:solidFill>
              <a:ln w="14288">
                <a:solidFill>
                  <a:srgbClr val="2E86AB"/>
                </a:solidFill>
              </a:ln>
            </p:spPr>
          </p:sp>
          <p:grpSp>
            <p:nvGrpSpPr>
              <p:cNvPr id="21" name="icon-code-app"/>
              <p:cNvGrpSpPr/>
              <p:nvPr/>
            </p:nvGrpSpPr>
            <p:grpSpPr>
              <a:xfrm>
                <a:off x="876299" y="2755899"/>
                <a:ext cx="228595" cy="203195"/>
                <a:chOff x="876299" y="2755899"/>
                <a:chExt cx="228595" cy="203195"/>
              </a:xfrm>
            </p:grpSpPr>
            <p:sp>
              <p:nvSpPr>
                <p:cNvPr id="18" name="Freeform 18"/>
                <p:cNvSpPr/>
                <p:nvPr/>
              </p:nvSpPr>
              <p:spPr>
                <a:xfrm>
                  <a:off x="876299" y="2806697"/>
                  <a:ext cx="50799" cy="101597"/>
                </a:xfrm>
                <a:custGeom>
                  <a:avLst/>
                  <a:gdLst/>
                  <a:ahLst/>
                  <a:cxnLst/>
                  <a:rect l="l" t="t" r="r" b="b"/>
                  <a:pathLst>
                    <a:path w="50799" h="101597">
                      <a:moveTo>
                        <a:pt x="50799" y="0"/>
                      </a:moveTo>
                      <a:lnTo>
                        <a:pt x="0" y="50799"/>
                      </a:lnTo>
                      <a:lnTo>
                        <a:pt x="50799" y="101597"/>
                      </a:lnTo>
                    </a:path>
                  </a:pathLst>
                </a:custGeom>
                <a:noFill/>
                <a:ln w="19050" cap="rnd">
                  <a:solidFill>
                    <a:srgbClr val="12355B"/>
                  </a:solidFill>
                  <a:round/>
                </a:ln>
              </p:spPr>
            </p:sp>
            <p:sp>
              <p:nvSpPr>
                <p:cNvPr id="19" name="Freeform 19"/>
                <p:cNvSpPr/>
                <p:nvPr/>
              </p:nvSpPr>
              <p:spPr>
                <a:xfrm>
                  <a:off x="1054095" y="2806697"/>
                  <a:ext cx="50799" cy="101597"/>
                </a:xfrm>
                <a:custGeom>
                  <a:avLst/>
                  <a:gdLst/>
                  <a:ahLst/>
                  <a:cxnLst/>
                  <a:rect l="l" t="t" r="r" b="b"/>
                  <a:pathLst>
                    <a:path w="50799" h="101597">
                      <a:moveTo>
                        <a:pt x="0" y="0"/>
                      </a:moveTo>
                      <a:lnTo>
                        <a:pt x="50799" y="50799"/>
                      </a:lnTo>
                      <a:lnTo>
                        <a:pt x="0" y="101597"/>
                      </a:lnTo>
                    </a:path>
                  </a:pathLst>
                </a:custGeom>
                <a:noFill/>
                <a:ln w="19050" cap="rnd">
                  <a:solidFill>
                    <a:srgbClr val="12355B"/>
                  </a:solidFill>
                  <a:round/>
                </a:ln>
              </p:spPr>
            </p:sp>
            <p:sp>
              <p:nvSpPr>
                <p:cNvPr id="20" name="Freeform 20"/>
                <p:cNvSpPr/>
                <p:nvPr/>
              </p:nvSpPr>
              <p:spPr>
                <a:xfrm>
                  <a:off x="965197" y="2755899"/>
                  <a:ext cx="50799" cy="203195"/>
                </a:xfrm>
                <a:custGeom>
                  <a:avLst/>
                  <a:gdLst/>
                  <a:ahLst/>
                  <a:cxnLst/>
                  <a:rect l="l" t="t" r="r" b="b"/>
                  <a:pathLst>
                    <a:path w="50799" h="203195">
                      <a:moveTo>
                        <a:pt x="50799" y="0"/>
                      </a:moveTo>
                      <a:lnTo>
                        <a:pt x="0" y="203195"/>
                      </a:lnTo>
                    </a:path>
                  </a:pathLst>
                </a:custGeom>
                <a:noFill/>
                <a:ln w="19050" cap="rnd">
                  <a:solidFill>
                    <a:srgbClr val="12355B"/>
                  </a:solidFill>
                  <a:round/>
                </a:ln>
              </p:spPr>
            </p:sp>
          </p:grpSp>
          <p:sp>
            <p:nvSpPr>
              <p:cNvPr id="22" name="TextBox 22"/>
              <p:cNvSpPr txBox="1"/>
              <p:nvPr/>
            </p:nvSpPr>
            <p:spPr>
              <a:xfrm>
                <a:off x="1248156" y="2739390"/>
                <a:ext cx="2049199"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Uygulama tarafı</a:t>
                </a:r>
              </a:p>
            </p:txBody>
          </p:sp>
          <p:sp>
            <p:nvSpPr>
              <p:cNvPr id="23" name="TextBox 23"/>
              <p:cNvSpPr txBox="1"/>
              <p:nvPr/>
            </p:nvSpPr>
            <p:spPr>
              <a:xfrm>
                <a:off x="832104" y="3166110"/>
                <a:ext cx="14904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Nesneler, sınıflar,</a:t>
                </a:r>
                <a:br/>
                <a:r>
                  <a:rPr lang="tr-TR" sz="1200" dirty="0">
                    <a:solidFill>
                      <a:srgbClr val="172B3A"/>
                    </a:solidFill>
                    <a:latin typeface="+mn-lt"/>
                    <a:ea typeface="+mn-ea"/>
                    <a:cs typeface="+mn-cs"/>
                  </a:rPr>
                  <a:t>TypeScript türleri</a:t>
                </a:r>
              </a:p>
            </p:txBody>
          </p:sp>
          <p:sp>
            <p:nvSpPr>
              <p:cNvPr id="24" name="TextBox 24"/>
              <p:cNvSpPr txBox="1"/>
              <p:nvPr/>
            </p:nvSpPr>
            <p:spPr>
              <a:xfrm>
                <a:off x="832104" y="3832860"/>
                <a:ext cx="14599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"Bu kullanıcının</a:t>
                </a:r>
                <a:br/>
                <a:r>
                  <a:rPr lang="tr-TR" sz="1200" dirty="0">
                    <a:solidFill>
                      <a:srgbClr val="52616B"/>
                    </a:solidFill>
                    <a:latin typeface="+mn-lt"/>
                    <a:ea typeface="+mn-ea"/>
                    <a:cs typeface="+mn-cs"/>
                  </a:rPr>
                  <a:t>gönderilerini getir"</a:t>
                </a:r>
              </a:p>
            </p:txBody>
          </p:sp>
        </p:grpSp>
        <p:grpSp>
          <p:nvGrpSpPr>
            <p:cNvPr id="34" name="prisma-side"/>
            <p:cNvGrpSpPr/>
            <p:nvPr/>
          </p:nvGrpSpPr>
          <p:grpSpPr>
            <a:xfrm>
              <a:off x="4524375" y="2514600"/>
              <a:ext cx="3143250" cy="1905000"/>
              <a:chOff x="4524375" y="2514600"/>
              <a:chExt cx="3143250" cy="1905000"/>
            </a:xfrm>
          </p:grpSpPr>
          <p:sp>
            <p:nvSpPr>
              <p:cNvPr id="26" name="Rectangle 26"/>
              <p:cNvSpPr/>
              <p:nvPr/>
            </p:nvSpPr>
            <p:spPr>
              <a:xfrm>
                <a:off x="4524375" y="2514600"/>
                <a:ext cx="3143250" cy="1905000"/>
              </a:xfrm>
              <a:prstGeom prst="roundRect">
                <a:avLst>
                  <a:gd name="adj" fmla="val 5000"/>
                </a:avLst>
              </a:prstGeom>
              <a:solidFill>
                <a:srgbClr val="12355B"/>
              </a:solidFill>
              <a:ln>
                <a:noFill/>
              </a:ln>
            </p:spPr>
          </p:sp>
          <p:grpSp>
            <p:nvGrpSpPr>
              <p:cNvPr id="31" name="icon-api-mid"/>
              <p:cNvGrpSpPr/>
              <p:nvPr/>
            </p:nvGrpSpPr>
            <p:grpSpPr>
              <a:xfrm>
                <a:off x="4791074" y="2743199"/>
                <a:ext cx="228594" cy="228594"/>
                <a:chOff x="4791074" y="2743199"/>
                <a:chExt cx="228594" cy="228594"/>
              </a:xfrm>
            </p:grpSpPr>
            <p:sp>
              <p:nvSpPr>
                <p:cNvPr id="27" name="Freeform 27"/>
                <p:cNvSpPr/>
                <p:nvPr/>
              </p:nvSpPr>
              <p:spPr>
                <a:xfrm>
                  <a:off x="4791074" y="2832097"/>
                  <a:ext cx="114297" cy="63498"/>
                </a:xfrm>
                <a:custGeom>
                  <a:avLst/>
                  <a:gdLst/>
                  <a:ahLst/>
                  <a:cxnLst/>
                  <a:rect l="l" t="t" r="r" b="b"/>
                  <a:pathLst>
                    <a:path w="114297" h="63498">
                      <a:moveTo>
                        <a:pt x="114297" y="63498"/>
                      </a:moveTo>
                      <a:lnTo>
                        <a:pt x="31749" y="63498"/>
                      </a:lnTo>
                      <a:cubicBezTo>
                        <a:pt x="14215" y="63498"/>
                        <a:pt x="0" y="49284"/>
                        <a:pt x="0" y="31749"/>
                      </a:cubicBezTo>
                      <a:cubicBezTo>
                        <a:pt x="0" y="14215"/>
                        <a:pt x="14215" y="0"/>
                        <a:pt x="31749" y="0"/>
                      </a:cubicBezTo>
                      <a:lnTo>
                        <a:pt x="38099" y="0"/>
                      </a:lnTo>
                    </a:path>
                  </a:pathLst>
                </a:custGeom>
                <a:noFill/>
                <a:ln w="19050" cap="rnd">
                  <a:solidFill>
                    <a:srgbClr val="FFFFFF"/>
                  </a:solidFill>
                  <a:round/>
                </a:ln>
              </p:spPr>
            </p:sp>
            <p:sp>
              <p:nvSpPr>
                <p:cNvPr id="28" name="Freeform 28"/>
                <p:cNvSpPr/>
                <p:nvPr/>
              </p:nvSpPr>
              <p:spPr>
                <a:xfrm>
                  <a:off x="4879972" y="2857496"/>
                  <a:ext cx="63498" cy="114297"/>
                </a:xfrm>
                <a:custGeom>
                  <a:avLst/>
                  <a:gdLst/>
                  <a:ahLst/>
                  <a:cxnLst/>
                  <a:rect l="l" t="t" r="r" b="b"/>
                  <a:pathLst>
                    <a:path w="63498" h="114297">
                      <a:moveTo>
                        <a:pt x="63498" y="0"/>
                      </a:moveTo>
                      <a:lnTo>
                        <a:pt x="63498" y="82548"/>
                      </a:lnTo>
                      <a:cubicBezTo>
                        <a:pt x="63498" y="100083"/>
                        <a:pt x="49284" y="114297"/>
                        <a:pt x="31749" y="114297"/>
                      </a:cubicBezTo>
                      <a:cubicBezTo>
                        <a:pt x="14215" y="114297"/>
                        <a:pt x="0" y="100083"/>
                        <a:pt x="0" y="82548"/>
                      </a:cubicBezTo>
                      <a:lnTo>
                        <a:pt x="0" y="76198"/>
                      </a:lnTo>
                    </a:path>
                  </a:pathLst>
                </a:custGeom>
                <a:noFill/>
                <a:ln w="19050" cap="rnd">
                  <a:solidFill>
                    <a:srgbClr val="FFFFFF"/>
                  </a:solidFill>
                  <a:round/>
                </a:ln>
              </p:spPr>
            </p:sp>
            <p:sp>
              <p:nvSpPr>
                <p:cNvPr id="29" name="Freeform 29"/>
                <p:cNvSpPr/>
                <p:nvPr/>
              </p:nvSpPr>
              <p:spPr>
                <a:xfrm>
                  <a:off x="4905371" y="2819397"/>
                  <a:ext cx="114297" cy="63498"/>
                </a:xfrm>
                <a:custGeom>
                  <a:avLst/>
                  <a:gdLst/>
                  <a:ahLst/>
                  <a:cxnLst/>
                  <a:rect l="l" t="t" r="r" b="b"/>
                  <a:pathLst>
                    <a:path w="114297" h="63498">
                      <a:moveTo>
                        <a:pt x="0" y="0"/>
                      </a:moveTo>
                      <a:lnTo>
                        <a:pt x="82548" y="0"/>
                      </a:lnTo>
                      <a:cubicBezTo>
                        <a:pt x="100083" y="0"/>
                        <a:pt x="114297" y="14215"/>
                        <a:pt x="114297" y="31749"/>
                      </a:cubicBezTo>
                      <a:cubicBezTo>
                        <a:pt x="114297" y="49284"/>
                        <a:pt x="100083" y="63498"/>
                        <a:pt x="82548" y="63498"/>
                      </a:cubicBezTo>
                      <a:lnTo>
                        <a:pt x="76198" y="63498"/>
                      </a:lnTo>
                    </a:path>
                  </a:pathLst>
                </a:custGeom>
                <a:noFill/>
                <a:ln w="19050" cap="rnd">
                  <a:solidFill>
                    <a:srgbClr val="FFFFFF"/>
                  </a:solidFill>
                  <a:round/>
                </a:ln>
              </p:spPr>
            </p:sp>
            <p:sp>
              <p:nvSpPr>
                <p:cNvPr id="30" name="Freeform 30"/>
                <p:cNvSpPr/>
                <p:nvPr/>
              </p:nvSpPr>
              <p:spPr>
                <a:xfrm>
                  <a:off x="4867272" y="2743199"/>
                  <a:ext cx="63498" cy="114297"/>
                </a:xfrm>
                <a:custGeom>
                  <a:avLst/>
                  <a:gdLst/>
                  <a:ahLst/>
                  <a:cxnLst/>
                  <a:rect l="l" t="t" r="r" b="b"/>
                  <a:pathLst>
                    <a:path w="63498" h="114297">
                      <a:moveTo>
                        <a:pt x="0" y="114297"/>
                      </a:moveTo>
                      <a:lnTo>
                        <a:pt x="0" y="31749"/>
                      </a:lnTo>
                      <a:cubicBezTo>
                        <a:pt x="0" y="14215"/>
                        <a:pt x="14215" y="0"/>
                        <a:pt x="31749" y="0"/>
                      </a:cubicBezTo>
                      <a:cubicBezTo>
                        <a:pt x="49284" y="0"/>
                        <a:pt x="63498" y="14215"/>
                        <a:pt x="63498" y="31749"/>
                      </a:cubicBezTo>
                      <a:lnTo>
                        <a:pt x="63498" y="38099"/>
                      </a:lnTo>
                    </a:path>
                  </a:pathLst>
                </a:custGeom>
                <a:noFill/>
                <a:ln w="19050" cap="rnd">
                  <a:solidFill>
                    <a:srgbClr val="FFFFFF"/>
                  </a:solidFill>
                  <a:round/>
                </a:ln>
              </p:spPr>
            </p:sp>
          </p:grpSp>
          <p:sp>
            <p:nvSpPr>
              <p:cNvPr id="32" name="TextBox 32"/>
              <p:cNvSpPr txBox="1"/>
              <p:nvPr/>
            </p:nvSpPr>
            <p:spPr>
              <a:xfrm>
                <a:off x="5162931" y="2739390"/>
                <a:ext cx="2381298" cy="352044"/>
              </a:xfrm>
              <a:prstGeom prst="rect">
                <a:avLst/>
              </a:prstGeom>
              <a:noFill/>
              <a:ln>
                <a:noFill/>
              </a:ln>
            </p:spPr>
            <p:txBody>
              <a:bodyPr wrap="none" lIns="0" tIns="0" rIns="0" bIns="0" anchor="t" anchorCtr="0">
                <a:spAutoFit/>
              </a:bodyPr>
              <a:lstStyle/>
              <a:p>
                <a:pPr algn="l"/>
                <a:r>
                  <a:rPr lang="tr-TR" sz="1800" b="1" dirty="0">
                    <a:solidFill>
                      <a:srgbClr val="FFFFFF"/>
                    </a:solidFill>
                    <a:latin typeface="+mn-lt"/>
                    <a:ea typeface="+mn-ea"/>
                    <a:cs typeface="+mn-cs"/>
                  </a:rPr>
                  <a:t>Prisma (tercüman)</a:t>
                </a:r>
              </a:p>
            </p:txBody>
          </p:sp>
          <p:sp>
            <p:nvSpPr>
              <p:cNvPr id="33" name="TextBox 33"/>
              <p:cNvSpPr txBox="1"/>
              <p:nvPr/>
            </p:nvSpPr>
            <p:spPr>
              <a:xfrm>
                <a:off x="4746879" y="3166110"/>
                <a:ext cx="15361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EAF4F6"/>
                    </a:solidFill>
                    <a:latin typeface="+mn-lt"/>
                    <a:ea typeface="+mn-ea"/>
                    <a:cs typeface="+mn-cs"/>
                  </a:rPr>
                  <a:t>İsteği SQL işlemine</a:t>
                </a:r>
                <a:br/>
                <a:r>
                  <a:rPr lang="tr-TR" sz="1200" dirty="0">
                    <a:solidFill>
                      <a:srgbClr val="EAF4F6"/>
                    </a:solidFill>
                    <a:latin typeface="+mn-lt"/>
                    <a:ea typeface="+mn-ea"/>
                    <a:cs typeface="+mn-cs"/>
                  </a:rPr>
                  <a:t>çevirir, sonucu</a:t>
                </a:r>
                <a:br/>
                <a:r>
                  <a:rPr lang="tr-TR" sz="1200" dirty="0">
                    <a:solidFill>
                      <a:srgbClr val="EAF4F6"/>
                    </a:solidFill>
                    <a:latin typeface="+mn-lt"/>
                    <a:ea typeface="+mn-ea"/>
                    <a:cs typeface="+mn-cs"/>
                  </a:rPr>
                  <a:t>TypeScript nesnesi</a:t>
                </a:r>
                <a:br/>
                <a:r>
                  <a:rPr lang="tr-TR" sz="1200" dirty="0">
                    <a:solidFill>
                      <a:srgbClr val="EAF4F6"/>
                    </a:solidFill>
                    <a:latin typeface="+mn-lt"/>
                    <a:ea typeface="+mn-ea"/>
                    <a:cs typeface="+mn-cs"/>
                  </a:rPr>
                  <a:t>olarak geri döndürür</a:t>
                </a:r>
              </a:p>
            </p:txBody>
          </p:sp>
        </p:grpSp>
        <p:grpSp>
          <p:nvGrpSpPr>
            <p:cNvPr id="43" name="db-side"/>
            <p:cNvGrpSpPr/>
            <p:nvPr/>
          </p:nvGrpSpPr>
          <p:grpSpPr>
            <a:xfrm>
              <a:off x="8439150" y="2514600"/>
              <a:ext cx="3143250" cy="1905000"/>
              <a:chOff x="8439150" y="2514600"/>
              <a:chExt cx="3143250" cy="1905000"/>
            </a:xfrm>
          </p:grpSpPr>
          <p:sp>
            <p:nvSpPr>
              <p:cNvPr id="35" name="Rectangle 35"/>
              <p:cNvSpPr/>
              <p:nvPr/>
            </p:nvSpPr>
            <p:spPr>
              <a:xfrm>
                <a:off x="8439150" y="2514600"/>
                <a:ext cx="3143250" cy="1905000"/>
              </a:xfrm>
              <a:prstGeom prst="roundRect">
                <a:avLst>
                  <a:gd name="adj" fmla="val 5000"/>
                </a:avLst>
              </a:prstGeom>
              <a:solidFill>
                <a:srgbClr val="FFFFFF"/>
              </a:solidFill>
              <a:ln w="14288">
                <a:solidFill>
                  <a:srgbClr val="2E86AB"/>
                </a:solidFill>
              </a:ln>
            </p:spPr>
          </p:sp>
          <p:grpSp>
            <p:nvGrpSpPr>
              <p:cNvPr id="39" name="icon-db-side"/>
              <p:cNvGrpSpPr/>
              <p:nvPr/>
            </p:nvGrpSpPr>
            <p:grpSpPr>
              <a:xfrm>
                <a:off x="8718549" y="2743199"/>
                <a:ext cx="203195" cy="228594"/>
                <a:chOff x="8718549" y="2743199"/>
                <a:chExt cx="203195" cy="228594"/>
              </a:xfrm>
            </p:grpSpPr>
            <p:sp>
              <p:nvSpPr>
                <p:cNvPr id="36" name="Freeform 36"/>
                <p:cNvSpPr/>
                <p:nvPr/>
              </p:nvSpPr>
              <p:spPr>
                <a:xfrm>
                  <a:off x="8718549" y="2743199"/>
                  <a:ext cx="203195" cy="76198"/>
                </a:xfrm>
                <a:custGeom>
                  <a:avLst/>
                  <a:gdLst/>
                  <a:ahLst/>
                  <a:cxnLst/>
                  <a:rect l="l" t="t" r="r" b="b"/>
                  <a:pathLst>
                    <a:path w="203195" h="76198">
                      <a:moveTo>
                        <a:pt x="0" y="38099"/>
                      </a:moveTo>
                      <a:cubicBezTo>
                        <a:pt x="0" y="59141"/>
                        <a:pt x="45487" y="76198"/>
                        <a:pt x="101597" y="76198"/>
                      </a:cubicBezTo>
                      <a:cubicBezTo>
                        <a:pt x="157708" y="76198"/>
                        <a:pt x="203195" y="59141"/>
                        <a:pt x="203195" y="38099"/>
                      </a:cubicBezTo>
                      <a:cubicBezTo>
                        <a:pt x="203195" y="17058"/>
                        <a:pt x="157708" y="0"/>
                        <a:pt x="101597" y="0"/>
                      </a:cubicBezTo>
                      <a:cubicBezTo>
                        <a:pt x="45487" y="0"/>
                        <a:pt x="0" y="17058"/>
                        <a:pt x="0" y="38099"/>
                      </a:cubicBezTo>
                    </a:path>
                  </a:pathLst>
                </a:custGeom>
                <a:noFill/>
                <a:ln w="19050" cap="rnd">
                  <a:solidFill>
                    <a:srgbClr val="12355B"/>
                  </a:solidFill>
                  <a:round/>
                </a:ln>
              </p:spPr>
            </p:sp>
            <p:sp>
              <p:nvSpPr>
                <p:cNvPr id="37" name="Freeform 37"/>
                <p:cNvSpPr/>
                <p:nvPr/>
              </p:nvSpPr>
              <p:spPr>
                <a:xfrm>
                  <a:off x="8718549" y="2781298"/>
                  <a:ext cx="203195" cy="114297"/>
                </a:xfrm>
                <a:custGeom>
                  <a:avLst/>
                  <a:gdLst/>
                  <a:ahLst/>
                  <a:cxnLst/>
                  <a:rect l="l" t="t" r="r" b="b"/>
                  <a:pathLst>
                    <a:path w="203195" h="114297">
                      <a:moveTo>
                        <a:pt x="0" y="0"/>
                      </a:moveTo>
                      <a:lnTo>
                        <a:pt x="0" y="76198"/>
                      </a:lnTo>
                      <a:cubicBezTo>
                        <a:pt x="0" y="97240"/>
                        <a:pt x="45487" y="114297"/>
                        <a:pt x="101597" y="114297"/>
                      </a:cubicBezTo>
                      <a:cubicBezTo>
                        <a:pt x="157708" y="114297"/>
                        <a:pt x="203195" y="97240"/>
                        <a:pt x="203195" y="76198"/>
                      </a:cubicBezTo>
                      <a:lnTo>
                        <a:pt x="203195" y="0"/>
                      </a:lnTo>
                    </a:path>
                  </a:pathLst>
                </a:custGeom>
                <a:noFill/>
                <a:ln w="19050" cap="rnd">
                  <a:solidFill>
                    <a:srgbClr val="12355B"/>
                  </a:solidFill>
                  <a:round/>
                </a:ln>
              </p:spPr>
            </p:sp>
            <p:sp>
              <p:nvSpPr>
                <p:cNvPr id="38" name="Freeform 38"/>
                <p:cNvSpPr/>
                <p:nvPr/>
              </p:nvSpPr>
              <p:spPr>
                <a:xfrm>
                  <a:off x="8718549" y="2857496"/>
                  <a:ext cx="203195" cy="114297"/>
                </a:xfrm>
                <a:custGeom>
                  <a:avLst/>
                  <a:gdLst/>
                  <a:ahLst/>
                  <a:cxnLst/>
                  <a:rect l="l" t="t" r="r" b="b"/>
                  <a:pathLst>
                    <a:path w="203195" h="114297">
                      <a:moveTo>
                        <a:pt x="0" y="0"/>
                      </a:moveTo>
                      <a:lnTo>
                        <a:pt x="0" y="76198"/>
                      </a:lnTo>
                      <a:cubicBezTo>
                        <a:pt x="0" y="97240"/>
                        <a:pt x="45487" y="114297"/>
                        <a:pt x="101597" y="114297"/>
                      </a:cubicBezTo>
                      <a:cubicBezTo>
                        <a:pt x="157708" y="114297"/>
                        <a:pt x="203195" y="97240"/>
                        <a:pt x="203195" y="76198"/>
                      </a:cubicBezTo>
                      <a:lnTo>
                        <a:pt x="203195" y="0"/>
                      </a:lnTo>
                    </a:path>
                  </a:pathLst>
                </a:custGeom>
                <a:noFill/>
                <a:ln w="19050" cap="rnd">
                  <a:solidFill>
                    <a:srgbClr val="12355B"/>
                  </a:solidFill>
                  <a:round/>
                </a:ln>
              </p:spPr>
            </p:sp>
          </p:grpSp>
          <p:sp>
            <p:nvSpPr>
              <p:cNvPr id="40" name="TextBox 40"/>
              <p:cNvSpPr txBox="1"/>
              <p:nvPr/>
            </p:nvSpPr>
            <p:spPr>
              <a:xfrm>
                <a:off x="9077706" y="2739390"/>
                <a:ext cx="22779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Veritabanı tarafı</a:t>
                </a:r>
              </a:p>
            </p:txBody>
          </p:sp>
          <p:sp>
            <p:nvSpPr>
              <p:cNvPr id="41" name="TextBox 41"/>
              <p:cNvSpPr txBox="1"/>
              <p:nvPr/>
            </p:nvSpPr>
            <p:spPr>
              <a:xfrm>
                <a:off x="8661654" y="3166110"/>
                <a:ext cx="145237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Tablolar, sütunlar,</a:t>
                </a:r>
                <a:br/>
                <a:r>
                  <a:rPr lang="tr-TR" sz="1200" dirty="0">
                    <a:solidFill>
                      <a:srgbClr val="172B3A"/>
                    </a:solidFill>
                    <a:latin typeface="+mn-lt"/>
                    <a:ea typeface="+mn-ea"/>
                    <a:cs typeface="+mn-cs"/>
                  </a:rPr>
                  <a:t>anahtarlar, SQL</a:t>
                </a:r>
              </a:p>
            </p:txBody>
          </p:sp>
          <p:sp>
            <p:nvSpPr>
              <p:cNvPr id="42" name="TextBox 42"/>
              <p:cNvSpPr txBox="1"/>
              <p:nvPr/>
            </p:nvSpPr>
            <p:spPr>
              <a:xfrm>
                <a:off x="8661654" y="3832860"/>
                <a:ext cx="13152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SELECT posts</a:t>
                </a:r>
                <a:br/>
                <a:r>
                  <a:rPr lang="tr-TR" sz="1200" dirty="0">
                    <a:solidFill>
                      <a:srgbClr val="52616B"/>
                    </a:solidFill>
                    <a:latin typeface="+mn-lt"/>
                    <a:ea typeface="+mn-ea"/>
                    <a:cs typeface="+mn-cs"/>
                  </a:rPr>
                  <a:t>WHERE user_id = ?</a:t>
                </a:r>
              </a:p>
            </p:txBody>
          </p:sp>
        </p:grpSp>
        <p:sp>
          <p:nvSpPr>
            <p:cNvPr id="44" name="Line 44"/>
            <p:cNvSpPr/>
            <p:nvPr/>
          </p:nvSpPr>
          <p:spPr>
            <a:xfrm>
              <a:off x="3752850" y="3467100"/>
              <a:ext cx="771525" cy="1"/>
            </a:xfrm>
            <a:prstGeom prst="line">
              <a:avLst/>
            </a:prstGeom>
            <a:noFill/>
            <a:ln w="23812">
              <a:solidFill>
                <a:srgbClr val="00A6A6"/>
              </a:solidFill>
              <a:tailEnd type="arrow" w="lg" len="lg"/>
            </a:ln>
          </p:spPr>
        </p:sp>
        <p:sp>
          <p:nvSpPr>
            <p:cNvPr id="45" name="Line 45"/>
            <p:cNvSpPr/>
            <p:nvPr/>
          </p:nvSpPr>
          <p:spPr>
            <a:xfrm>
              <a:off x="7667625" y="3467100"/>
              <a:ext cx="771525" cy="1"/>
            </a:xfrm>
            <a:prstGeom prst="line">
              <a:avLst/>
            </a:prstGeom>
            <a:noFill/>
            <a:ln w="23812">
              <a:solidFill>
                <a:srgbClr val="00A6A6"/>
              </a:solidFill>
              <a:tailEnd type="arrow" w="lg" len="lg"/>
            </a:ln>
          </p:spPr>
        </p:sp>
      </p:grpSp>
      <p:grpSp>
        <p:nvGrpSpPr>
          <p:cNvPr id="50" name="theory-note"/>
          <p:cNvGrpSpPr/>
          <p:nvPr/>
        </p:nvGrpSpPr>
        <p:grpSpPr>
          <a:xfrm>
            <a:off x="609600" y="4762500"/>
            <a:ext cx="10972800" cy="857250"/>
            <a:chOff x="609600" y="4762500"/>
            <a:chExt cx="10972800" cy="857250"/>
          </a:xfrm>
        </p:grpSpPr>
        <p:sp>
          <p:nvSpPr>
            <p:cNvPr id="47" name="Rectangle 47"/>
            <p:cNvSpPr/>
            <p:nvPr/>
          </p:nvSpPr>
          <p:spPr>
            <a:xfrm>
              <a:off x="609600" y="4762500"/>
              <a:ext cx="10972800" cy="857250"/>
            </a:xfrm>
            <a:prstGeom prst="roundRect">
              <a:avLst>
                <a:gd name="adj" fmla="val 8889"/>
              </a:avLst>
            </a:prstGeom>
            <a:solidFill>
              <a:srgbClr val="FFFFFF"/>
            </a:solidFill>
            <a:ln w="9525">
              <a:solidFill>
                <a:srgbClr val="B8CBD3"/>
              </a:solidFill>
            </a:ln>
          </p:spPr>
        </p:sp>
        <p:sp>
          <p:nvSpPr>
            <p:cNvPr id="48" name="TextBox 48"/>
            <p:cNvSpPr txBox="1"/>
            <p:nvPr/>
          </p:nvSpPr>
          <p:spPr>
            <a:xfrm>
              <a:off x="908304" y="4899660"/>
              <a:ext cx="479254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Kuramsal arka plan: nesne-ilişkisel empedans uyumsuzluğu</a:t>
              </a:r>
            </a:p>
          </p:txBody>
        </p:sp>
        <p:sp>
          <p:nvSpPr>
            <p:cNvPr id="49" name="TextBox 49"/>
            <p:cNvSpPr txBox="1"/>
            <p:nvPr/>
          </p:nvSpPr>
          <p:spPr>
            <a:xfrm>
              <a:off x="908304" y="5147310"/>
              <a:ext cx="60319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Fowler (2002) iki karşıt desen tanımlar: Active Record ve Data Mapper.</a:t>
              </a:r>
              <a:br/>
              <a:r>
                <a:rPr lang="tr-TR" sz="1200" dirty="0">
                  <a:solidFill>
                    <a:srgbClr val="172B3A"/>
                  </a:solidFill>
                  <a:latin typeface="+mn-lt"/>
                  <a:ea typeface="+mn-ea"/>
                  <a:cs typeface="+mn-cs"/>
                </a:rPr>
                <a:t>Prisma, şema tanımı ve üretilmiş istemciyle Data Mapper yaklaşımına yakındır.</a:t>
              </a:r>
            </a:p>
          </p:txBody>
        </p:sp>
      </p:grpSp>
      <p:sp>
        <p:nvSpPr>
          <p:cNvPr id="51" name="TextBox 5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06 / 25</a:t>
            </a:r>
          </a:p>
        </p:txBody>
      </p:sp>
    </p:spTree>
  </p:cSld>
  <p:clrMapOvr>
    <a:masterClrMapping/>
  </p:clrMapOvr>
  <p:transition xmlns:p14="http://schemas.microsoft.com/office/powerpoint/2010/main" p14:dur="400">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9718853" cy="668845"/>
            <a:chOff x="609600" y="171450"/>
            <a:chExt cx="9718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9028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Sorgu akışı: uygulama katmanlarından SQL'e</a:t>
              </a:r>
            </a:p>
          </p:txBody>
        </p:sp>
      </p:grpSp>
      <p:grpSp>
        <p:nvGrpSpPr>
          <p:cNvPr id="32" name="flow-chain"/>
          <p:cNvGrpSpPr/>
          <p:nvPr/>
        </p:nvGrpSpPr>
        <p:grpSpPr>
          <a:xfrm>
            <a:off x="609600" y="1714500"/>
            <a:ext cx="9696450" cy="1485900"/>
            <a:chOff x="609600" y="1714500"/>
            <a:chExt cx="9696450" cy="1485900"/>
          </a:xfrm>
        </p:grpSpPr>
        <p:grpSp>
          <p:nvGrpSpPr>
            <p:cNvPr id="15" name="node-service"/>
            <p:cNvGrpSpPr/>
            <p:nvPr/>
          </p:nvGrpSpPr>
          <p:grpSpPr>
            <a:xfrm>
              <a:off x="609600" y="1714500"/>
              <a:ext cx="2095500" cy="1143000"/>
              <a:chOff x="609600" y="1714500"/>
              <a:chExt cx="2095500" cy="1143000"/>
            </a:xfrm>
          </p:grpSpPr>
          <p:sp>
            <p:nvSpPr>
              <p:cNvPr id="12" name="Rectangle 12"/>
              <p:cNvSpPr/>
              <p:nvPr/>
            </p:nvSpPr>
            <p:spPr>
              <a:xfrm>
                <a:off x="609600" y="1714500"/>
                <a:ext cx="2095500" cy="1143000"/>
              </a:xfrm>
              <a:prstGeom prst="roundRect">
                <a:avLst>
                  <a:gd name="adj" fmla="val 8333"/>
                </a:avLst>
              </a:prstGeom>
              <a:solidFill>
                <a:srgbClr val="FFFFFF"/>
              </a:solidFill>
              <a:ln w="14288">
                <a:solidFill>
                  <a:srgbClr val="2E86AB"/>
                </a:solidFill>
              </a:ln>
            </p:spPr>
          </p:sp>
          <p:sp>
            <p:nvSpPr>
              <p:cNvPr id="13" name="TextBox 13"/>
              <p:cNvSpPr txBox="1"/>
              <p:nvPr/>
            </p:nvSpPr>
            <p:spPr>
              <a:xfrm>
                <a:off x="830199" y="1925479"/>
                <a:ext cx="932517" cy="555688"/>
              </a:xfrm>
              <a:prstGeom prst="rect">
                <a:avLst/>
              </a:prstGeom>
              <a:noFill/>
              <a:ln>
                <a:noFill/>
              </a:ln>
            </p:spPr>
            <p:txBody>
              <a:bodyPr wrap="none" lIns="0" tIns="0" rIns="0" bIns="0" anchor="t" anchorCtr="0">
                <a:spAutoFit/>
              </a:bodyPr>
              <a:lstStyle/>
              <a:p>
                <a:pPr algn="l">
                  <a:lnSpc>
                    <a:spcPts val="1950"/>
                  </a:lnSpc>
                </a:pPr>
                <a:r>
                  <a:rPr lang="tr-TR" sz="1580" b="1" dirty="0">
                    <a:solidFill>
                      <a:srgbClr val="12355B"/>
                    </a:solidFill>
                    <a:latin typeface="+mn-lt"/>
                    <a:ea typeface="+mn-ea"/>
                    <a:cs typeface="+mn-cs"/>
                  </a:rPr>
                  <a:t>Uygulama</a:t>
                </a:r>
                <a:br/>
                <a:r>
                  <a:rPr lang="tr-TR" sz="1580" b="1" dirty="0">
                    <a:solidFill>
                      <a:srgbClr val="12355B"/>
                    </a:solidFill>
                    <a:latin typeface="+mn-lt"/>
                    <a:ea typeface="+mn-ea"/>
                    <a:cs typeface="+mn-cs"/>
                  </a:rPr>
                  <a:t>servisi</a:t>
                </a:r>
              </a:p>
            </p:txBody>
          </p:sp>
          <p:sp>
            <p:nvSpPr>
              <p:cNvPr id="14" name="TextBox 14"/>
              <p:cNvSpPr txBox="1"/>
              <p:nvPr/>
            </p:nvSpPr>
            <p:spPr>
              <a:xfrm>
                <a:off x="832104" y="2461260"/>
                <a:ext cx="118848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İş odaklı istek</a:t>
                </a:r>
              </a:p>
            </p:txBody>
          </p:sp>
        </p:grpSp>
        <p:grpSp>
          <p:nvGrpSpPr>
            <p:cNvPr id="19" name="node-repo"/>
            <p:cNvGrpSpPr/>
            <p:nvPr/>
          </p:nvGrpSpPr>
          <p:grpSpPr>
            <a:xfrm>
              <a:off x="3143250" y="1714500"/>
              <a:ext cx="2095500" cy="1171956"/>
              <a:chOff x="3143250" y="1714500"/>
              <a:chExt cx="2095500" cy="1171956"/>
            </a:xfrm>
          </p:grpSpPr>
          <p:sp>
            <p:nvSpPr>
              <p:cNvPr id="16" name="Rectangle 16"/>
              <p:cNvSpPr/>
              <p:nvPr/>
            </p:nvSpPr>
            <p:spPr>
              <a:xfrm>
                <a:off x="3143250" y="1714500"/>
                <a:ext cx="2095500" cy="1143000"/>
              </a:xfrm>
              <a:prstGeom prst="roundRect">
                <a:avLst>
                  <a:gd name="adj" fmla="val 8333"/>
                </a:avLst>
              </a:prstGeom>
              <a:solidFill>
                <a:srgbClr val="EAF4F6"/>
              </a:solidFill>
              <a:ln w="14288">
                <a:solidFill>
                  <a:srgbClr val="00A6A6"/>
                </a:solidFill>
              </a:ln>
            </p:spPr>
          </p:sp>
          <p:sp>
            <p:nvSpPr>
              <p:cNvPr id="17" name="TextBox 17"/>
              <p:cNvSpPr txBox="1"/>
              <p:nvPr/>
            </p:nvSpPr>
            <p:spPr>
              <a:xfrm>
                <a:off x="3363849" y="1925479"/>
                <a:ext cx="1195145"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Repository</a:t>
                </a:r>
              </a:p>
            </p:txBody>
          </p:sp>
          <p:sp>
            <p:nvSpPr>
              <p:cNvPr id="18" name="TextBox 18"/>
              <p:cNvSpPr txBox="1"/>
              <p:nvPr/>
            </p:nvSpPr>
            <p:spPr>
              <a:xfrm>
                <a:off x="3365754" y="2270760"/>
                <a:ext cx="14752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Veri erişimini</a:t>
                </a:r>
                <a:br/>
                <a:r>
                  <a:rPr lang="tr-TR" sz="1200" dirty="0">
                    <a:solidFill>
                      <a:srgbClr val="52616B"/>
                    </a:solidFill>
                    <a:latin typeface="+mn-lt"/>
                    <a:ea typeface="+mn-ea"/>
                    <a:cs typeface="+mn-cs"/>
                  </a:rPr>
                  <a:t>uygulama sınırında</a:t>
                </a:r>
                <a:br/>
                <a:r>
                  <a:rPr lang="tr-TR" sz="1200" dirty="0">
                    <a:solidFill>
                      <a:srgbClr val="52616B"/>
                    </a:solidFill>
                    <a:latin typeface="+mn-lt"/>
                    <a:ea typeface="+mn-ea"/>
                    <a:cs typeface="+mn-cs"/>
                  </a:rPr>
                  <a:t>tutar</a:t>
                </a:r>
              </a:p>
            </p:txBody>
          </p:sp>
        </p:grpSp>
        <p:grpSp>
          <p:nvGrpSpPr>
            <p:cNvPr id="23" name="node-client"/>
            <p:cNvGrpSpPr/>
            <p:nvPr/>
          </p:nvGrpSpPr>
          <p:grpSpPr>
            <a:xfrm>
              <a:off x="5676900" y="1714500"/>
              <a:ext cx="2095500" cy="1143000"/>
              <a:chOff x="5676900" y="1714500"/>
              <a:chExt cx="2095500" cy="1143000"/>
            </a:xfrm>
          </p:grpSpPr>
          <p:sp>
            <p:nvSpPr>
              <p:cNvPr id="20" name="Rectangle 20"/>
              <p:cNvSpPr/>
              <p:nvPr/>
            </p:nvSpPr>
            <p:spPr>
              <a:xfrm>
                <a:off x="5676900" y="1714500"/>
                <a:ext cx="2095500" cy="1143000"/>
              </a:xfrm>
              <a:prstGeom prst="roundRect">
                <a:avLst>
                  <a:gd name="adj" fmla="val 8333"/>
                </a:avLst>
              </a:prstGeom>
              <a:solidFill>
                <a:srgbClr val="EAF4F6"/>
              </a:solidFill>
              <a:ln w="14288">
                <a:solidFill>
                  <a:srgbClr val="00A6A6"/>
                </a:solidFill>
              </a:ln>
            </p:spPr>
          </p:sp>
          <p:sp>
            <p:nvSpPr>
              <p:cNvPr id="21" name="TextBox 21"/>
              <p:cNvSpPr txBox="1"/>
              <p:nvPr/>
            </p:nvSpPr>
            <p:spPr>
              <a:xfrm>
                <a:off x="5897499" y="1925479"/>
                <a:ext cx="1447556"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Prisma Client</a:t>
                </a:r>
              </a:p>
            </p:txBody>
          </p:sp>
          <p:sp>
            <p:nvSpPr>
              <p:cNvPr id="22" name="TextBox 22"/>
              <p:cNvSpPr txBox="1"/>
              <p:nvPr/>
            </p:nvSpPr>
            <p:spPr>
              <a:xfrm>
                <a:off x="5899404" y="2270760"/>
                <a:ext cx="109423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52616B"/>
                    </a:solidFill>
                    <a:latin typeface="+mn-lt"/>
                    <a:ea typeface="+mn-ea"/>
                    <a:cs typeface="+mn-cs"/>
                  </a:rPr>
                  <a:t>Sorguyu SQL'e</a:t>
                </a:r>
                <a:br/>
                <a:r>
                  <a:rPr lang="tr-TR" sz="1200" dirty="0">
                    <a:solidFill>
                      <a:srgbClr val="52616B"/>
                    </a:solidFill>
                    <a:latin typeface="+mn-lt"/>
                    <a:ea typeface="+mn-ea"/>
                    <a:cs typeface="+mn-cs"/>
                  </a:rPr>
                  <a:t>çevirir</a:t>
                </a:r>
              </a:p>
            </p:txBody>
          </p:sp>
        </p:grpSp>
        <p:grpSp>
          <p:nvGrpSpPr>
            <p:cNvPr id="27" name="node-db"/>
            <p:cNvGrpSpPr/>
            <p:nvPr/>
          </p:nvGrpSpPr>
          <p:grpSpPr>
            <a:xfrm>
              <a:off x="8210550" y="1714500"/>
              <a:ext cx="2095500" cy="1143000"/>
              <a:chOff x="8210550" y="1714500"/>
              <a:chExt cx="2095500" cy="1143000"/>
            </a:xfrm>
          </p:grpSpPr>
          <p:sp>
            <p:nvSpPr>
              <p:cNvPr id="24" name="Rectangle 24"/>
              <p:cNvSpPr/>
              <p:nvPr/>
            </p:nvSpPr>
            <p:spPr>
              <a:xfrm>
                <a:off x="8210550" y="1714500"/>
                <a:ext cx="2095500" cy="1143000"/>
              </a:xfrm>
              <a:prstGeom prst="roundRect">
                <a:avLst>
                  <a:gd name="adj" fmla="val 8333"/>
                </a:avLst>
              </a:prstGeom>
              <a:solidFill>
                <a:srgbClr val="12355B"/>
              </a:solidFill>
              <a:ln>
                <a:noFill/>
              </a:ln>
            </p:spPr>
          </p:sp>
          <p:sp>
            <p:nvSpPr>
              <p:cNvPr id="25" name="TextBox 25"/>
              <p:cNvSpPr txBox="1"/>
              <p:nvPr/>
            </p:nvSpPr>
            <p:spPr>
              <a:xfrm>
                <a:off x="8431149" y="1925479"/>
                <a:ext cx="1195145" cy="308039"/>
              </a:xfrm>
              <a:prstGeom prst="rect">
                <a:avLst/>
              </a:prstGeom>
              <a:noFill/>
              <a:ln>
                <a:noFill/>
              </a:ln>
            </p:spPr>
            <p:txBody>
              <a:bodyPr wrap="none" lIns="0" tIns="0" rIns="0" bIns="0" anchor="t" anchorCtr="0">
                <a:spAutoFit/>
              </a:bodyPr>
              <a:lstStyle/>
              <a:p>
                <a:pPr algn="l"/>
                <a:r>
                  <a:rPr lang="tr-TR" sz="1580" b="1" dirty="0">
                    <a:solidFill>
                      <a:srgbClr val="FFFFFF"/>
                    </a:solidFill>
                    <a:latin typeface="+mn-lt"/>
                    <a:ea typeface="+mn-ea"/>
                    <a:cs typeface="+mn-cs"/>
                  </a:rPr>
                  <a:t>Veritabanı</a:t>
                </a:r>
              </a:p>
            </p:txBody>
          </p:sp>
          <p:sp>
            <p:nvSpPr>
              <p:cNvPr id="26" name="TextBox 26"/>
              <p:cNvSpPr txBox="1"/>
              <p:nvPr/>
            </p:nvSpPr>
            <p:spPr>
              <a:xfrm>
                <a:off x="8433054" y="2270760"/>
                <a:ext cx="13533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EAF4F6"/>
                    </a:solidFill>
                    <a:latin typeface="+mn-lt"/>
                    <a:ea typeface="+mn-ea"/>
                    <a:cs typeface="+mn-cs"/>
                  </a:rPr>
                  <a:t>SQL çalıştırılır,</a:t>
                </a:r>
                <a:br/>
                <a:r>
                  <a:rPr lang="tr-TR" sz="1200" dirty="0">
                    <a:solidFill>
                      <a:srgbClr val="EAF4F6"/>
                    </a:solidFill>
                    <a:latin typeface="+mn-lt"/>
                    <a:ea typeface="+mn-ea"/>
                    <a:cs typeface="+mn-cs"/>
                  </a:rPr>
                  <a:t>satırlar döner</a:t>
                </a:r>
              </a:p>
            </p:txBody>
          </p:sp>
        </p:grpSp>
        <p:sp>
          <p:nvSpPr>
            <p:cNvPr id="28" name="Line 28"/>
            <p:cNvSpPr/>
            <p:nvPr/>
          </p:nvSpPr>
          <p:spPr>
            <a:xfrm>
              <a:off x="2705100" y="2286000"/>
              <a:ext cx="438150" cy="1"/>
            </a:xfrm>
            <a:prstGeom prst="line">
              <a:avLst/>
            </a:prstGeom>
            <a:noFill/>
            <a:ln w="23812">
              <a:solidFill>
                <a:srgbClr val="00A6A6"/>
              </a:solidFill>
              <a:tailEnd type="arrow" w="lg" len="lg"/>
            </a:ln>
          </p:spPr>
        </p:sp>
        <p:sp>
          <p:nvSpPr>
            <p:cNvPr id="29" name="Line 29"/>
            <p:cNvSpPr/>
            <p:nvPr/>
          </p:nvSpPr>
          <p:spPr>
            <a:xfrm>
              <a:off x="5238750" y="2286000"/>
              <a:ext cx="438150" cy="1"/>
            </a:xfrm>
            <a:prstGeom prst="line">
              <a:avLst/>
            </a:prstGeom>
            <a:noFill/>
            <a:ln w="23812">
              <a:solidFill>
                <a:srgbClr val="00A6A6"/>
              </a:solidFill>
              <a:tailEnd type="arrow" w="lg" len="lg"/>
            </a:ln>
          </p:spPr>
        </p:sp>
        <p:sp>
          <p:nvSpPr>
            <p:cNvPr id="30" name="Line 30"/>
            <p:cNvSpPr/>
            <p:nvPr/>
          </p:nvSpPr>
          <p:spPr>
            <a:xfrm>
              <a:off x="7772400" y="2286000"/>
              <a:ext cx="438150" cy="1"/>
            </a:xfrm>
            <a:prstGeom prst="line">
              <a:avLst/>
            </a:prstGeom>
            <a:noFill/>
            <a:ln w="23812">
              <a:solidFill>
                <a:srgbClr val="00A6A6"/>
              </a:solidFill>
              <a:tailEnd type="arrow" w="lg" len="lg"/>
            </a:ln>
          </p:spPr>
        </p:sp>
        <p:sp>
          <p:nvSpPr>
            <p:cNvPr id="31" name="Freeform 31"/>
            <p:cNvSpPr/>
            <p:nvPr/>
          </p:nvSpPr>
          <p:spPr>
            <a:xfrm>
              <a:off x="2705100" y="3048000"/>
              <a:ext cx="5505450" cy="152400"/>
            </a:xfrm>
            <a:custGeom>
              <a:avLst/>
              <a:gdLst/>
              <a:ahLst/>
              <a:cxnLst/>
              <a:rect l="l" t="t" r="r" b="b"/>
              <a:pathLst>
                <a:path w="5505450" h="152400">
                  <a:moveTo>
                    <a:pt x="5505450" y="0"/>
                  </a:moveTo>
                  <a:cubicBezTo>
                    <a:pt x="3670300" y="152400"/>
                    <a:pt x="1835150" y="152400"/>
                    <a:pt x="0" y="0"/>
                  </a:cubicBezTo>
                </a:path>
              </a:pathLst>
            </a:custGeom>
            <a:noFill/>
            <a:ln w="19050">
              <a:solidFill>
                <a:srgbClr val="52616B"/>
              </a:solidFill>
              <a:custDash>
                <a:ds d="300000" sp="200000"/>
              </a:custDash>
              <a:tailEnd type="arrow" w="lg" len="lg"/>
            </a:ln>
          </p:spPr>
        </p:sp>
      </p:grpSp>
      <p:grpSp>
        <p:nvGrpSpPr>
          <p:cNvPr id="34" name="return-note"/>
          <p:cNvGrpSpPr/>
          <p:nvPr/>
        </p:nvGrpSpPr>
        <p:grpSpPr>
          <a:xfrm>
            <a:off x="3715275" y="3223260"/>
            <a:ext cx="3485100" cy="234696"/>
            <a:chOff x="3715275" y="3223260"/>
            <a:chExt cx="3485100" cy="234696"/>
          </a:xfrm>
        </p:grpSpPr>
        <p:sp>
          <p:nvSpPr>
            <p:cNvPr id="33" name="TextBox 33"/>
            <p:cNvSpPr txBox="1"/>
            <p:nvPr/>
          </p:nvSpPr>
          <p:spPr>
            <a:xfrm>
              <a:off x="3715275" y="3223260"/>
              <a:ext cx="3485100" cy="234696"/>
            </a:xfrm>
            <a:prstGeom prst="rect">
              <a:avLst/>
            </a:prstGeom>
            <a:noFill/>
            <a:ln>
              <a:noFill/>
            </a:ln>
          </p:spPr>
          <p:txBody>
            <a:bodyPr wrap="none" lIns="0" tIns="0" rIns="0" bIns="0" anchor="t" anchorCtr="0">
              <a:spAutoFit/>
            </a:bodyPr>
            <a:lstStyle/>
            <a:p>
              <a:pPr algn="ctr"/>
              <a:r>
                <a:rPr lang="tr-TR" sz="1200" dirty="0">
                  <a:solidFill>
                    <a:srgbClr val="52616B"/>
                  </a:solidFill>
                  <a:latin typeface="+mn-lt"/>
                  <a:ea typeface="+mn-ea"/>
                  <a:cs typeface="+mn-cs"/>
                </a:rPr>
                <a:t>Sonuç, TypeScript nesnesi olarak geri döner</a:t>
              </a:r>
            </a:p>
          </p:txBody>
        </p:sp>
      </p:grpSp>
      <p:grpSp>
        <p:nvGrpSpPr>
          <p:cNvPr id="39" name="key-insight"/>
          <p:cNvGrpSpPr/>
          <p:nvPr/>
        </p:nvGrpSpPr>
        <p:grpSpPr>
          <a:xfrm>
            <a:off x="609600" y="4038600"/>
            <a:ext cx="10972800" cy="914400"/>
            <a:chOff x="609600" y="4038600"/>
            <a:chExt cx="10972800" cy="914400"/>
          </a:xfrm>
        </p:grpSpPr>
        <p:sp>
          <p:nvSpPr>
            <p:cNvPr id="35" name="Rectangle 35"/>
            <p:cNvSpPr/>
            <p:nvPr/>
          </p:nvSpPr>
          <p:spPr>
            <a:xfrm>
              <a:off x="609600" y="4038600"/>
              <a:ext cx="10972800" cy="914400"/>
            </a:xfrm>
            <a:prstGeom prst="roundRect">
              <a:avLst>
                <a:gd name="adj" fmla="val 8333"/>
              </a:avLst>
            </a:prstGeom>
            <a:solidFill>
              <a:srgbClr val="EAF4F6"/>
            </a:solidFill>
            <a:ln>
              <a:noFill/>
            </a:ln>
          </p:spPr>
        </p:sp>
        <p:sp>
          <p:nvSpPr>
            <p:cNvPr id="36" name="Rectangle 36"/>
            <p:cNvSpPr/>
            <p:nvPr/>
          </p:nvSpPr>
          <p:spPr>
            <a:xfrm>
              <a:off x="609600" y="4038600"/>
              <a:ext cx="57150" cy="914400"/>
            </a:xfrm>
            <a:prstGeom prst="rect">
              <a:avLst/>
            </a:prstGeom>
            <a:solidFill>
              <a:srgbClr val="00A6A6"/>
            </a:solidFill>
            <a:ln>
              <a:noFill/>
            </a:ln>
          </p:spPr>
        </p:sp>
        <p:sp>
          <p:nvSpPr>
            <p:cNvPr id="37" name="TextBox 37"/>
            <p:cNvSpPr txBox="1"/>
            <p:nvPr/>
          </p:nvSpPr>
          <p:spPr>
            <a:xfrm>
              <a:off x="906399" y="4154329"/>
              <a:ext cx="3082902"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Katmanlar arasında daralma</a:t>
              </a:r>
            </a:p>
          </p:txBody>
        </p:sp>
        <p:sp>
          <p:nvSpPr>
            <p:cNvPr id="38" name="TextBox 38"/>
            <p:cNvSpPr txBox="1"/>
            <p:nvPr/>
          </p:nvSpPr>
          <p:spPr>
            <a:xfrm>
              <a:off x="908304" y="4461510"/>
              <a:ext cx="809701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Repository veri erişimini uygulama sınırında tutar, Prisma Client sorguyu SQL'e çevirir ve sonuç</a:t>
              </a:r>
              <a:br/>
              <a:r>
                <a:rPr lang="tr-TR" sz="1200" dirty="0">
                  <a:solidFill>
                    <a:srgbClr val="172B3A"/>
                  </a:solidFill>
                  <a:latin typeface="+mn-lt"/>
                  <a:ea typeface="+mn-ea"/>
                  <a:cs typeface="+mn-cs"/>
                </a:rPr>
                <a:t>TypeScript nesnesi olarak geri döner. Tür uyuşmazlığı çalışma anında değil, derleme aşamasında yakalanır.</a:t>
              </a:r>
            </a:p>
          </p:txBody>
        </p:sp>
      </p:grpSp>
      <p:grpSp>
        <p:nvGrpSpPr>
          <p:cNvPr id="46" name="two-cycles"/>
          <p:cNvGrpSpPr/>
          <p:nvPr/>
        </p:nvGrpSpPr>
        <p:grpSpPr>
          <a:xfrm>
            <a:off x="609600" y="5181600"/>
            <a:ext cx="10972800" cy="914400"/>
            <a:chOff x="609600" y="5181600"/>
            <a:chExt cx="10972800" cy="914400"/>
          </a:xfrm>
        </p:grpSpPr>
        <p:sp>
          <p:nvSpPr>
            <p:cNvPr id="40" name="Rectangle 40"/>
            <p:cNvSpPr/>
            <p:nvPr/>
          </p:nvSpPr>
          <p:spPr>
            <a:xfrm>
              <a:off x="609600" y="5181600"/>
              <a:ext cx="5410200" cy="914400"/>
            </a:xfrm>
            <a:prstGeom prst="roundRect">
              <a:avLst>
                <a:gd name="adj" fmla="val 8333"/>
              </a:avLst>
            </a:prstGeom>
            <a:solidFill>
              <a:srgbClr val="FFFFFF"/>
            </a:solidFill>
            <a:ln w="9525">
              <a:solidFill>
                <a:srgbClr val="B8CBD3"/>
              </a:solidFill>
            </a:ln>
          </p:spPr>
        </p:sp>
        <p:sp>
          <p:nvSpPr>
            <p:cNvPr id="41" name="TextBox 41"/>
            <p:cNvSpPr txBox="1"/>
            <p:nvPr/>
          </p:nvSpPr>
          <p:spPr>
            <a:xfrm>
              <a:off x="832104" y="5318760"/>
              <a:ext cx="324107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Migration döngüsü — "mutfağın düzeni"</a:t>
              </a:r>
            </a:p>
          </p:txBody>
        </p:sp>
        <p:sp>
          <p:nvSpPr>
            <p:cNvPr id="42" name="TextBox 42"/>
            <p:cNvSpPr txBox="1"/>
            <p:nvPr/>
          </p:nvSpPr>
          <p:spPr>
            <a:xfrm>
              <a:off x="832104" y="5566410"/>
              <a:ext cx="3821680"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Şema değişikliği sürümlenerek bir kez uygulanır.</a:t>
              </a:r>
            </a:p>
          </p:txBody>
        </p:sp>
        <p:sp>
          <p:nvSpPr>
            <p:cNvPr id="43" name="Rectangle 43"/>
            <p:cNvSpPr/>
            <p:nvPr/>
          </p:nvSpPr>
          <p:spPr>
            <a:xfrm>
              <a:off x="6172200" y="5181600"/>
              <a:ext cx="5410200" cy="914400"/>
            </a:xfrm>
            <a:prstGeom prst="roundRect">
              <a:avLst>
                <a:gd name="adj" fmla="val 8333"/>
              </a:avLst>
            </a:prstGeom>
            <a:solidFill>
              <a:srgbClr val="FFFFFF"/>
            </a:solidFill>
            <a:ln w="9525">
              <a:solidFill>
                <a:srgbClr val="B8CBD3"/>
              </a:solidFill>
            </a:ln>
          </p:spPr>
        </p:sp>
        <p:sp>
          <p:nvSpPr>
            <p:cNvPr id="44" name="TextBox 44"/>
            <p:cNvSpPr txBox="1"/>
            <p:nvPr/>
          </p:nvSpPr>
          <p:spPr>
            <a:xfrm>
              <a:off x="6394704" y="5318760"/>
              <a:ext cx="36481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Sorgu döngüsü — "o anda hazırlanan sipariş"</a:t>
              </a:r>
            </a:p>
          </p:txBody>
        </p:sp>
        <p:sp>
          <p:nvSpPr>
            <p:cNvPr id="45" name="TextBox 45"/>
            <p:cNvSpPr txBox="1"/>
            <p:nvPr/>
          </p:nvSpPr>
          <p:spPr>
            <a:xfrm>
              <a:off x="6394704" y="5566410"/>
              <a:ext cx="275570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Sorgu her istekte yeniden çalışır.</a:t>
              </a:r>
            </a:p>
          </p:txBody>
        </p:sp>
      </p:grpSp>
      <p:sp>
        <p:nvSpPr>
          <p:cNvPr id="47" name="TextBox 47"/>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07 / 25</a:t>
            </a:r>
          </a:p>
        </p:txBody>
      </p:sp>
    </p:spTree>
  </p:cSld>
  <p:clrMapOvr>
    <a:masterClrMapping/>
  </p:clrMapOvr>
  <p:transition xmlns:p14="http://schemas.microsoft.com/office/powerpoint/2010/main" p14:dur="400">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991116" cy="668845"/>
            <a:chOff x="609600" y="171450"/>
            <a:chExt cx="899111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830074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schema.prisma ile User modeli tanımlamak</a:t>
              </a:r>
            </a:p>
          </p:txBody>
        </p:sp>
      </p:grpSp>
      <p:grpSp>
        <p:nvGrpSpPr>
          <p:cNvPr id="29" name="code-block"/>
          <p:cNvGrpSpPr/>
          <p:nvPr/>
        </p:nvGrpSpPr>
        <p:grpSpPr>
          <a:xfrm>
            <a:off x="609600" y="1181100"/>
            <a:ext cx="5791200" cy="4953000"/>
            <a:chOff x="609600" y="1181100"/>
            <a:chExt cx="5791200" cy="4953000"/>
          </a:xfrm>
        </p:grpSpPr>
        <p:sp>
          <p:nvSpPr>
            <p:cNvPr id="12" name="Rectangle 12"/>
            <p:cNvSpPr/>
            <p:nvPr/>
          </p:nvSpPr>
          <p:spPr>
            <a:xfrm>
              <a:off x="609600" y="1181100"/>
              <a:ext cx="5791200" cy="4953000"/>
            </a:xfrm>
            <a:prstGeom prst="roundRect">
              <a:avLst>
                <a:gd name="adj" fmla="val 1538"/>
              </a:avLst>
            </a:prstGeom>
            <a:solidFill>
              <a:srgbClr val="0B2038"/>
            </a:solidFill>
            <a:ln>
              <a:noFill/>
            </a:ln>
          </p:spPr>
        </p:sp>
        <p:sp>
          <p:nvSpPr>
            <p:cNvPr id="13" name="TextBox 13"/>
            <p:cNvSpPr txBox="1"/>
            <p:nvPr/>
          </p:nvSpPr>
          <p:spPr>
            <a:xfrm>
              <a:off x="833247" y="1342549"/>
              <a:ext cx="131598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generator client {</a:t>
              </a:r>
            </a:p>
          </p:txBody>
        </p:sp>
        <p:sp>
          <p:nvSpPr>
            <p:cNvPr id="14" name="TextBox 14"/>
            <p:cNvSpPr txBox="1"/>
            <p:nvPr/>
          </p:nvSpPr>
          <p:spPr>
            <a:xfrm>
              <a:off x="833247" y="1533049"/>
              <a:ext cx="211415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provider = "prisma-client-js"</a:t>
              </a:r>
            </a:p>
          </p:txBody>
        </p:sp>
        <p:sp>
          <p:nvSpPr>
            <p:cNvPr id="15" name="TextBox 15"/>
            <p:cNvSpPr txBox="1"/>
            <p:nvPr/>
          </p:nvSpPr>
          <p:spPr>
            <a:xfrm>
              <a:off x="833247" y="172354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6" name="TextBox 16"/>
            <p:cNvSpPr txBox="1"/>
            <p:nvPr/>
          </p:nvSpPr>
          <p:spPr>
            <a:xfrm>
              <a:off x="833247" y="2009299"/>
              <a:ext cx="175604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datasource veriKaynagi {</a:t>
              </a:r>
            </a:p>
          </p:txBody>
        </p:sp>
        <p:sp>
          <p:nvSpPr>
            <p:cNvPr id="17" name="TextBox 17"/>
            <p:cNvSpPr txBox="1"/>
            <p:nvPr/>
          </p:nvSpPr>
          <p:spPr>
            <a:xfrm>
              <a:off x="833247" y="2199799"/>
              <a:ext cx="13885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provider = "sqlite"</a:t>
              </a:r>
            </a:p>
          </p:txBody>
        </p:sp>
        <p:sp>
          <p:nvSpPr>
            <p:cNvPr id="18" name="TextBox 18"/>
            <p:cNvSpPr txBox="1"/>
            <p:nvPr/>
          </p:nvSpPr>
          <p:spPr>
            <a:xfrm>
              <a:off x="833247" y="2390299"/>
              <a:ext cx="189035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url = env("DATABASE_URL")</a:t>
              </a:r>
            </a:p>
          </p:txBody>
        </p:sp>
        <p:sp>
          <p:nvSpPr>
            <p:cNvPr id="19" name="TextBox 19"/>
            <p:cNvSpPr txBox="1"/>
            <p:nvPr/>
          </p:nvSpPr>
          <p:spPr>
            <a:xfrm>
              <a:off x="833247" y="258079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0" name="TextBox 20"/>
            <p:cNvSpPr txBox="1"/>
            <p:nvPr/>
          </p:nvSpPr>
          <p:spPr>
            <a:xfrm>
              <a:off x="833247" y="2961799"/>
              <a:ext cx="886104"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model User {</a:t>
              </a:r>
            </a:p>
          </p:txBody>
        </p:sp>
        <p:sp>
          <p:nvSpPr>
            <p:cNvPr id="21" name="TextBox 21"/>
            <p:cNvSpPr txBox="1"/>
            <p:nvPr/>
          </p:nvSpPr>
          <p:spPr>
            <a:xfrm>
              <a:off x="833247" y="3190399"/>
              <a:ext cx="74137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id Int @id</a:t>
              </a:r>
            </a:p>
          </p:txBody>
        </p:sp>
        <p:sp>
          <p:nvSpPr>
            <p:cNvPr id="22" name="TextBox 22"/>
            <p:cNvSpPr txBox="1"/>
            <p:nvPr/>
          </p:nvSpPr>
          <p:spPr>
            <a:xfrm>
              <a:off x="1061847" y="3380899"/>
              <a:ext cx="182391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@default(autoincrement())</a:t>
              </a:r>
            </a:p>
          </p:txBody>
        </p:sp>
        <p:sp>
          <p:nvSpPr>
            <p:cNvPr id="23" name="TextBox 23"/>
            <p:cNvSpPr txBox="1"/>
            <p:nvPr/>
          </p:nvSpPr>
          <p:spPr>
            <a:xfrm>
              <a:off x="833247" y="3609499"/>
              <a:ext cx="103459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adSoyad String</a:t>
              </a:r>
            </a:p>
          </p:txBody>
        </p:sp>
        <p:sp>
          <p:nvSpPr>
            <p:cNvPr id="24" name="TextBox 24"/>
            <p:cNvSpPr txBox="1"/>
            <p:nvPr/>
          </p:nvSpPr>
          <p:spPr>
            <a:xfrm>
              <a:off x="833247" y="3838099"/>
              <a:ext cx="197827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epostaAdresi String @unique</a:t>
              </a:r>
            </a:p>
          </p:txBody>
        </p:sp>
        <p:sp>
          <p:nvSpPr>
            <p:cNvPr id="25" name="TextBox 25"/>
            <p:cNvSpPr txBox="1"/>
            <p:nvPr/>
          </p:nvSpPr>
          <p:spPr>
            <a:xfrm>
              <a:off x="833247" y="4066699"/>
              <a:ext cx="176420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olusturmaTarihi DateTime</a:t>
              </a:r>
            </a:p>
          </p:txBody>
        </p:sp>
        <p:sp>
          <p:nvSpPr>
            <p:cNvPr id="26" name="TextBox 26"/>
            <p:cNvSpPr txBox="1"/>
            <p:nvPr/>
          </p:nvSpPr>
          <p:spPr>
            <a:xfrm>
              <a:off x="1061847" y="4257199"/>
              <a:ext cx="109830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@default(now())</a:t>
              </a:r>
            </a:p>
          </p:txBody>
        </p:sp>
        <p:sp>
          <p:nvSpPr>
            <p:cNvPr id="27" name="TextBox 27"/>
            <p:cNvSpPr txBox="1"/>
            <p:nvPr/>
          </p:nvSpPr>
          <p:spPr>
            <a:xfrm>
              <a:off x="833247" y="4523899"/>
              <a:ext cx="82466"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a:t>
              </a:r>
            </a:p>
          </p:txBody>
        </p:sp>
        <p:sp>
          <p:nvSpPr>
            <p:cNvPr id="28" name="TextBox 28"/>
            <p:cNvSpPr txBox="1"/>
            <p:nvPr/>
          </p:nvSpPr>
          <p:spPr>
            <a:xfrm>
              <a:off x="833247" y="4885849"/>
              <a:ext cx="300291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Kod 8.1: Prisma şeması ile User modeli</a:t>
              </a:r>
            </a:p>
          </p:txBody>
        </p:sp>
      </p:grpSp>
      <p:grpSp>
        <p:nvGrpSpPr>
          <p:cNvPr id="34" name="explain-panel"/>
          <p:cNvGrpSpPr/>
          <p:nvPr/>
        </p:nvGrpSpPr>
        <p:grpSpPr>
          <a:xfrm>
            <a:off x="6697599" y="1258729"/>
            <a:ext cx="2803017" cy="2237327"/>
            <a:chOff x="6697599" y="1258729"/>
            <a:chExt cx="2803017" cy="2237327"/>
          </a:xfrm>
        </p:grpSpPr>
        <p:sp>
          <p:nvSpPr>
            <p:cNvPr id="30" name="TextBox 30"/>
            <p:cNvSpPr txBox="1"/>
            <p:nvPr/>
          </p:nvSpPr>
          <p:spPr>
            <a:xfrm>
              <a:off x="6697599" y="125872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sp>
          <p:nvSpPr>
            <p:cNvPr id="31" name="TextBox 31"/>
            <p:cNvSpPr txBox="1"/>
            <p:nvPr/>
          </p:nvSpPr>
          <p:spPr>
            <a:xfrm>
              <a:off x="6699504" y="1604010"/>
              <a:ext cx="2679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1. </a:t>
              </a:r>
              <a:r>
                <a:rPr lang="tr-TR" sz="1200" b="1" dirty="0">
                  <a:solidFill>
                    <a:srgbClr val="172B3A"/>
                  </a:solidFill>
                  <a:latin typeface="Consolas"/>
                  <a:ea typeface="Consolas"/>
                  <a:cs typeface="Consolas"/>
                </a:rPr>
                <a:t>datasource</a:t>
              </a:r>
              <a:r>
                <a:rPr lang="tr-TR" sz="1200" dirty="0">
                  <a:solidFill>
                    <a:srgbClr val="172B3A"/>
                  </a:solidFill>
                  <a:latin typeface="+mn-lt"/>
                  <a:ea typeface="+mn-ea"/>
                  <a:cs typeface="+mn-cs"/>
                </a:rPr>
                <a:t xml:space="preserve"> bağlantının ortam</a:t>
              </a:r>
              <a:br/>
              <a:r>
                <a:rPr lang="tr-TR" sz="1200" dirty="0">
                  <a:solidFill>
                    <a:srgbClr val="172B3A"/>
                  </a:solidFill>
                  <a:latin typeface="+mn-lt"/>
                  <a:ea typeface="+mn-ea"/>
                  <a:cs typeface="+mn-cs"/>
                </a:rPr>
                <a:t>değişkeninden okunacağını belirtir.</a:t>
              </a:r>
            </a:p>
          </p:txBody>
        </p:sp>
        <p:sp>
          <p:nvSpPr>
            <p:cNvPr id="32" name="TextBox 32"/>
            <p:cNvSpPr txBox="1"/>
            <p:nvPr/>
          </p:nvSpPr>
          <p:spPr>
            <a:xfrm>
              <a:off x="6699504" y="2137410"/>
              <a:ext cx="25267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2. </a:t>
              </a:r>
              <a:r>
                <a:rPr lang="tr-TR" sz="1200" b="1" dirty="0">
                  <a:solidFill>
                    <a:srgbClr val="172B3A"/>
                  </a:solidFill>
                  <a:latin typeface="Consolas"/>
                  <a:ea typeface="Consolas"/>
                  <a:cs typeface="Consolas"/>
                </a:rPr>
                <a:t>generator client</a:t>
              </a:r>
              <a:r>
                <a:rPr lang="tr-TR" sz="1200" dirty="0">
                  <a:solidFill>
                    <a:srgbClr val="172B3A"/>
                  </a:solidFill>
                  <a:latin typeface="+mn-lt"/>
                  <a:ea typeface="+mn-ea"/>
                  <a:cs typeface="+mn-cs"/>
                </a:rPr>
                <a:t xml:space="preserve"> şemadan tür</a:t>
              </a:r>
              <a:br/>
              <a:r>
                <a:rPr lang="tr-TR" sz="1200" dirty="0">
                  <a:solidFill>
                    <a:srgbClr val="172B3A"/>
                  </a:solidFill>
                  <a:latin typeface="+mn-lt"/>
                  <a:ea typeface="+mn-ea"/>
                  <a:cs typeface="+mn-cs"/>
                </a:rPr>
                <a:t>güvenli Prisma Client üretilmesini</a:t>
              </a:r>
              <a:br/>
              <a:r>
                <a:rPr lang="tr-TR" sz="1200" dirty="0">
                  <a:solidFill>
                    <a:srgbClr val="172B3A"/>
                  </a:solidFill>
                  <a:latin typeface="+mn-lt"/>
                  <a:ea typeface="+mn-ea"/>
                  <a:cs typeface="+mn-cs"/>
                </a:rPr>
                <a:t>sağlar.</a:t>
              </a:r>
            </a:p>
          </p:txBody>
        </p:sp>
        <p:sp>
          <p:nvSpPr>
            <p:cNvPr id="33" name="TextBox 33"/>
            <p:cNvSpPr txBox="1"/>
            <p:nvPr/>
          </p:nvSpPr>
          <p:spPr>
            <a:xfrm>
              <a:off x="6699504" y="2880360"/>
              <a:ext cx="2801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3. </a:t>
              </a:r>
              <a:r>
                <a:rPr lang="tr-TR" sz="1200" b="1" dirty="0">
                  <a:solidFill>
                    <a:srgbClr val="172B3A"/>
                  </a:solidFill>
                  <a:latin typeface="Consolas"/>
                  <a:ea typeface="Consolas"/>
                  <a:cs typeface="Consolas"/>
                </a:rPr>
                <a:t>epostaAdresi String @unique</a:t>
              </a:r>
              <a:r>
                <a:rPr lang="tr-TR" sz="1200" dirty="0">
                  <a:solidFill>
                    <a:srgbClr val="172B3A"/>
                  </a:solidFill>
                  <a:latin typeface="+mn-lt"/>
                  <a:ea typeface="+mn-ea"/>
                  <a:cs typeface="+mn-cs"/>
                </a:rPr>
                <a:t>,</a:t>
              </a:r>
              <a:br/>
              <a:r>
                <a:rPr lang="tr-TR" sz="1200" dirty="0">
                  <a:solidFill>
                    <a:srgbClr val="172B3A"/>
                  </a:solidFill>
                  <a:latin typeface="+mn-lt"/>
                  <a:ea typeface="+mn-ea"/>
                  <a:cs typeface="+mn-cs"/>
                </a:rPr>
                <a:t>e-posta alanını veritabanı düzeyinde</a:t>
              </a:r>
              <a:br/>
              <a:r>
                <a:rPr lang="tr-TR" sz="1200" dirty="0">
                  <a:solidFill>
                    <a:srgbClr val="172B3A"/>
                  </a:solidFill>
                  <a:latin typeface="+mn-lt"/>
                  <a:ea typeface="+mn-ea"/>
                  <a:cs typeface="+mn-cs"/>
                </a:rPr>
                <a:t>benzersiz kılar.</a:t>
              </a:r>
            </a:p>
          </p:txBody>
        </p:sp>
      </p:grpSp>
      <p:grpSp>
        <p:nvGrpSpPr>
          <p:cNvPr id="38" name="warning-box"/>
          <p:cNvGrpSpPr/>
          <p:nvPr/>
        </p:nvGrpSpPr>
        <p:grpSpPr>
          <a:xfrm>
            <a:off x="6705600" y="4267200"/>
            <a:ext cx="4876800" cy="914400"/>
            <a:chOff x="6705600" y="4267200"/>
            <a:chExt cx="4876800" cy="914400"/>
          </a:xfrm>
        </p:grpSpPr>
        <p:sp>
          <p:nvSpPr>
            <p:cNvPr id="35" name="Rectangle 35"/>
            <p:cNvSpPr/>
            <p:nvPr/>
          </p:nvSpPr>
          <p:spPr>
            <a:xfrm>
              <a:off x="6705600" y="4267200"/>
              <a:ext cx="4876800" cy="914400"/>
            </a:xfrm>
            <a:prstGeom prst="roundRect">
              <a:avLst>
                <a:gd name="adj" fmla="val 8333"/>
              </a:avLst>
            </a:prstGeom>
            <a:solidFill>
              <a:srgbClr val="FFFFFF"/>
            </a:solidFill>
            <a:ln w="14288">
              <a:solidFill>
                <a:srgbClr val="00A6A6"/>
              </a:solidFill>
            </a:ln>
          </p:spPr>
        </p:sp>
        <p:sp>
          <p:nvSpPr>
            <p:cNvPr id="36" name="TextBox 36"/>
            <p:cNvSpPr txBox="1"/>
            <p:nvPr/>
          </p:nvSpPr>
          <p:spPr>
            <a:xfrm>
              <a:off x="6928104" y="4404360"/>
              <a:ext cx="146025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Dikkat noktası</a:t>
              </a:r>
            </a:p>
          </p:txBody>
        </p:sp>
        <p:sp>
          <p:nvSpPr>
            <p:cNvPr id="37" name="TextBox 37"/>
            <p:cNvSpPr txBox="1"/>
            <p:nvPr/>
          </p:nvSpPr>
          <p:spPr>
            <a:xfrm>
              <a:off x="6928104" y="4652010"/>
              <a:ext cx="38755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Şema dosyası tek başına veritabanını değiştirmez;</a:t>
              </a:r>
              <a:br/>
              <a:r>
                <a:rPr lang="tr-TR" sz="1200" dirty="0">
                  <a:solidFill>
                    <a:srgbClr val="172B3A"/>
                  </a:solidFill>
                  <a:latin typeface="+mn-lt"/>
                  <a:ea typeface="+mn-ea"/>
                  <a:cs typeface="+mn-cs"/>
                </a:rPr>
                <a:t>yansıması için migration çalıştırılmalıdır.</a:t>
              </a:r>
            </a:p>
          </p:txBody>
        </p:sp>
      </p:grpSp>
      <p:grpSp>
        <p:nvGrpSpPr>
          <p:cNvPr id="40" name="model-mapping"/>
          <p:cNvGrpSpPr/>
          <p:nvPr/>
        </p:nvGrpSpPr>
        <p:grpSpPr>
          <a:xfrm>
            <a:off x="6699504" y="5509260"/>
            <a:ext cx="3981106" cy="234696"/>
            <a:chOff x="6699504" y="5509260"/>
            <a:chExt cx="3981106" cy="234696"/>
          </a:xfrm>
        </p:grpSpPr>
        <p:sp>
          <p:nvSpPr>
            <p:cNvPr id="39" name="TextBox 39"/>
            <p:cNvSpPr txBox="1"/>
            <p:nvPr/>
          </p:nvSpPr>
          <p:spPr>
            <a:xfrm>
              <a:off x="6699504" y="5509260"/>
              <a:ext cx="3981106"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Model → tablo · Alan → sütun · Model örneği → satır</a:t>
              </a:r>
            </a:p>
          </p:txBody>
        </p:sp>
      </p:grpSp>
      <p:sp>
        <p:nvSpPr>
          <p:cNvPr id="41" name="TextBox 41"/>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08 / 25</a:t>
            </a:r>
          </a:p>
        </p:txBody>
      </p:sp>
    </p:spTree>
  </p:cSld>
  <p:clrMapOvr>
    <a:masterClrMapping/>
  </p:clrMapOvr>
  <p:transition xmlns:p14="http://schemas.microsoft.com/office/powerpoint/2010/main" p14:dur="400">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773936" cy="668845"/>
            <a:chOff x="609600" y="171450"/>
            <a:chExt cx="7773936"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708356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Prisma Client ile ekleme ve listeleme</a:t>
              </a:r>
            </a:p>
          </p:txBody>
        </p:sp>
      </p:grpSp>
      <p:grpSp>
        <p:nvGrpSpPr>
          <p:cNvPr id="29" name="code-block"/>
          <p:cNvGrpSpPr/>
          <p:nvPr/>
        </p:nvGrpSpPr>
        <p:grpSpPr>
          <a:xfrm>
            <a:off x="609600" y="1181100"/>
            <a:ext cx="5791200" cy="4953000"/>
            <a:chOff x="609600" y="1181100"/>
            <a:chExt cx="5791200" cy="4953000"/>
          </a:xfrm>
        </p:grpSpPr>
        <p:sp>
          <p:nvSpPr>
            <p:cNvPr id="12" name="Rectangle 12"/>
            <p:cNvSpPr/>
            <p:nvPr/>
          </p:nvSpPr>
          <p:spPr>
            <a:xfrm>
              <a:off x="609600" y="1181100"/>
              <a:ext cx="5791200" cy="4953000"/>
            </a:xfrm>
            <a:prstGeom prst="roundRect">
              <a:avLst>
                <a:gd name="adj" fmla="val 1538"/>
              </a:avLst>
            </a:prstGeom>
            <a:solidFill>
              <a:srgbClr val="0B2038"/>
            </a:solidFill>
            <a:ln>
              <a:noFill/>
            </a:ln>
          </p:spPr>
        </p:sp>
        <p:sp>
          <p:nvSpPr>
            <p:cNvPr id="13" name="TextBox 13"/>
            <p:cNvSpPr txBox="1"/>
            <p:nvPr/>
          </p:nvSpPr>
          <p:spPr>
            <a:xfrm>
              <a:off x="833247" y="1342549"/>
              <a:ext cx="205204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import { PrismaClient } from</a:t>
              </a:r>
            </a:p>
          </p:txBody>
        </p:sp>
        <p:sp>
          <p:nvSpPr>
            <p:cNvPr id="14" name="TextBox 14"/>
            <p:cNvSpPr txBox="1"/>
            <p:nvPr/>
          </p:nvSpPr>
          <p:spPr>
            <a:xfrm>
              <a:off x="833247" y="1533049"/>
              <a:ext cx="124342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"@prisma/client";</a:t>
              </a:r>
            </a:p>
          </p:txBody>
        </p:sp>
        <p:sp>
          <p:nvSpPr>
            <p:cNvPr id="15" name="TextBox 15"/>
            <p:cNvSpPr txBox="1"/>
            <p:nvPr/>
          </p:nvSpPr>
          <p:spPr>
            <a:xfrm>
              <a:off x="833247" y="1818799"/>
              <a:ext cx="2487694"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const prisma = new PrismaClient();</a:t>
              </a:r>
            </a:p>
          </p:txBody>
        </p:sp>
        <p:sp>
          <p:nvSpPr>
            <p:cNvPr id="16" name="TextBox 16"/>
            <p:cNvSpPr txBox="1"/>
            <p:nvPr/>
          </p:nvSpPr>
          <p:spPr>
            <a:xfrm>
              <a:off x="833247" y="2161699"/>
              <a:ext cx="211933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async function anaProgram() {</a:t>
              </a:r>
            </a:p>
          </p:txBody>
        </p:sp>
        <p:sp>
          <p:nvSpPr>
            <p:cNvPr id="17" name="TextBox 17"/>
            <p:cNvSpPr txBox="1"/>
            <p:nvPr/>
          </p:nvSpPr>
          <p:spPr>
            <a:xfrm>
              <a:off x="1061847" y="2390299"/>
              <a:ext cx="283975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yeni = await prisma.user.create({</a:t>
              </a:r>
            </a:p>
          </p:txBody>
        </p:sp>
        <p:sp>
          <p:nvSpPr>
            <p:cNvPr id="18" name="TextBox 18"/>
            <p:cNvSpPr txBox="1"/>
            <p:nvPr/>
          </p:nvSpPr>
          <p:spPr>
            <a:xfrm>
              <a:off x="1290447" y="2580799"/>
              <a:ext cx="51782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data: {</a:t>
              </a:r>
            </a:p>
          </p:txBody>
        </p:sp>
        <p:sp>
          <p:nvSpPr>
            <p:cNvPr id="19" name="TextBox 19"/>
            <p:cNvSpPr txBox="1"/>
            <p:nvPr/>
          </p:nvSpPr>
          <p:spPr>
            <a:xfrm>
              <a:off x="1519047" y="2771299"/>
              <a:ext cx="176777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adSoyad: "Zeliha Demir",</a:t>
              </a:r>
            </a:p>
          </p:txBody>
        </p:sp>
        <p:sp>
          <p:nvSpPr>
            <p:cNvPr id="20" name="TextBox 20"/>
            <p:cNvSpPr txBox="1"/>
            <p:nvPr/>
          </p:nvSpPr>
          <p:spPr>
            <a:xfrm>
              <a:off x="1519047" y="2961799"/>
              <a:ext cx="175751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epostaAdresi: "ayse@..."</a:t>
              </a:r>
            </a:p>
          </p:txBody>
        </p:sp>
        <p:sp>
          <p:nvSpPr>
            <p:cNvPr id="21" name="TextBox 21"/>
            <p:cNvSpPr txBox="1"/>
            <p:nvPr/>
          </p:nvSpPr>
          <p:spPr>
            <a:xfrm>
              <a:off x="1290447" y="3152299"/>
              <a:ext cx="15502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2" name="TextBox 22"/>
            <p:cNvSpPr txBox="1"/>
            <p:nvPr/>
          </p:nvSpPr>
          <p:spPr>
            <a:xfrm>
              <a:off x="1061847" y="334279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3" name="TextBox 23"/>
            <p:cNvSpPr txBox="1"/>
            <p:nvPr/>
          </p:nvSpPr>
          <p:spPr>
            <a:xfrm>
              <a:off x="1061847" y="3647599"/>
              <a:ext cx="13885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liste = await</a:t>
              </a:r>
            </a:p>
          </p:txBody>
        </p:sp>
        <p:sp>
          <p:nvSpPr>
            <p:cNvPr id="24" name="TextBox 24"/>
            <p:cNvSpPr txBox="1"/>
            <p:nvPr/>
          </p:nvSpPr>
          <p:spPr>
            <a:xfrm>
              <a:off x="1290447" y="3838099"/>
              <a:ext cx="161125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prisma.user.findMany({</a:t>
              </a:r>
            </a:p>
          </p:txBody>
        </p:sp>
        <p:sp>
          <p:nvSpPr>
            <p:cNvPr id="25" name="TextBox 25"/>
            <p:cNvSpPr txBox="1"/>
            <p:nvPr/>
          </p:nvSpPr>
          <p:spPr>
            <a:xfrm>
              <a:off x="1519047" y="4028599"/>
              <a:ext cx="161376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orderBy: { id: "asc" }</a:t>
              </a:r>
            </a:p>
          </p:txBody>
        </p:sp>
        <p:sp>
          <p:nvSpPr>
            <p:cNvPr id="26" name="TextBox 26"/>
            <p:cNvSpPr txBox="1"/>
            <p:nvPr/>
          </p:nvSpPr>
          <p:spPr>
            <a:xfrm>
              <a:off x="1290447" y="421909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7" name="TextBox 27"/>
            <p:cNvSpPr txBox="1"/>
            <p:nvPr/>
          </p:nvSpPr>
          <p:spPr>
            <a:xfrm>
              <a:off x="833247" y="452389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8" name="TextBox 28"/>
            <p:cNvSpPr txBox="1"/>
            <p:nvPr/>
          </p:nvSpPr>
          <p:spPr>
            <a:xfrm>
              <a:off x="833247" y="4885849"/>
              <a:ext cx="328666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Kod 8.2: Client ile kullanıcı ekle/listele</a:t>
              </a:r>
            </a:p>
          </p:txBody>
        </p:sp>
      </p:grpSp>
      <p:grpSp>
        <p:nvGrpSpPr>
          <p:cNvPr id="34" name="explain-panel"/>
          <p:cNvGrpSpPr/>
          <p:nvPr/>
        </p:nvGrpSpPr>
        <p:grpSpPr>
          <a:xfrm>
            <a:off x="6697599" y="1258729"/>
            <a:ext cx="2681097" cy="1684877"/>
            <a:chOff x="6697599" y="1258729"/>
            <a:chExt cx="2681097" cy="1684877"/>
          </a:xfrm>
        </p:grpSpPr>
        <p:sp>
          <p:nvSpPr>
            <p:cNvPr id="30" name="TextBox 30"/>
            <p:cNvSpPr txBox="1"/>
            <p:nvPr/>
          </p:nvSpPr>
          <p:spPr>
            <a:xfrm>
              <a:off x="6697599" y="1258729"/>
              <a:ext cx="1641724"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Kritik satırlar</a:t>
              </a:r>
            </a:p>
          </p:txBody>
        </p:sp>
        <p:sp>
          <p:nvSpPr>
            <p:cNvPr id="31" name="TextBox 31"/>
            <p:cNvSpPr txBox="1"/>
            <p:nvPr/>
          </p:nvSpPr>
          <p:spPr>
            <a:xfrm>
              <a:off x="6699504" y="1604010"/>
              <a:ext cx="26791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1. </a:t>
              </a:r>
              <a:r>
                <a:rPr lang="tr-TR" sz="1200" b="1" dirty="0">
                  <a:solidFill>
                    <a:srgbClr val="172B3A"/>
                  </a:solidFill>
                  <a:latin typeface="Consolas"/>
                  <a:ea typeface="Consolas"/>
                  <a:cs typeface="Consolas"/>
                </a:rPr>
                <a:t>new PrismaClient()</a:t>
              </a:r>
              <a:r>
                <a:rPr lang="tr-TR" sz="1200" dirty="0">
                  <a:solidFill>
                    <a:srgbClr val="172B3A"/>
                  </a:solidFill>
                  <a:latin typeface="+mn-lt"/>
                  <a:ea typeface="+mn-ea"/>
                  <a:cs typeface="+mn-cs"/>
                </a:rPr>
                <a:t xml:space="preserve"> tür güvenli</a:t>
              </a:r>
              <a:br/>
              <a:r>
                <a:rPr lang="tr-TR" sz="1200" dirty="0">
                  <a:solidFill>
                    <a:srgbClr val="172B3A"/>
                  </a:solidFill>
                  <a:latin typeface="+mn-lt"/>
                  <a:ea typeface="+mn-ea"/>
                  <a:cs typeface="+mn-cs"/>
                </a:rPr>
                <a:t>sorgu istemcisini bir kez oluşturur.</a:t>
              </a:r>
            </a:p>
          </p:txBody>
        </p:sp>
        <p:sp>
          <p:nvSpPr>
            <p:cNvPr id="32" name="TextBox 32"/>
            <p:cNvSpPr txBox="1"/>
            <p:nvPr/>
          </p:nvSpPr>
          <p:spPr>
            <a:xfrm>
              <a:off x="6699504" y="2061210"/>
              <a:ext cx="25953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2. </a:t>
              </a:r>
              <a:r>
                <a:rPr lang="tr-TR" sz="1200" b="1" dirty="0">
                  <a:solidFill>
                    <a:srgbClr val="172B3A"/>
                  </a:solidFill>
                  <a:latin typeface="Consolas"/>
                  <a:ea typeface="Consolas"/>
                  <a:cs typeface="Consolas"/>
                </a:rPr>
                <a:t>user.create</a:t>
              </a:r>
              <a:r>
                <a:rPr lang="tr-TR" sz="1200" dirty="0">
                  <a:solidFill>
                    <a:srgbClr val="172B3A"/>
                  </a:solidFill>
                  <a:latin typeface="+mn-lt"/>
                  <a:ea typeface="+mn-ea"/>
                  <a:cs typeface="+mn-cs"/>
                </a:rPr>
                <a:t xml:space="preserve"> yeni satır ekler ve</a:t>
              </a:r>
              <a:br/>
              <a:r>
                <a:rPr lang="tr-TR" sz="1200" dirty="0">
                  <a:solidFill>
                    <a:srgbClr val="172B3A"/>
                  </a:solidFill>
                  <a:latin typeface="+mn-lt"/>
                  <a:ea typeface="+mn-ea"/>
                  <a:cs typeface="+mn-cs"/>
                </a:rPr>
                <a:t>eklenen kaydı döndürür.</a:t>
              </a:r>
            </a:p>
          </p:txBody>
        </p:sp>
        <p:sp>
          <p:nvSpPr>
            <p:cNvPr id="33" name="TextBox 33"/>
            <p:cNvSpPr txBox="1"/>
            <p:nvPr/>
          </p:nvSpPr>
          <p:spPr>
            <a:xfrm>
              <a:off x="6699504" y="2518410"/>
              <a:ext cx="2587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3. </a:t>
              </a:r>
              <a:r>
                <a:rPr lang="tr-TR" sz="1200" b="1" dirty="0">
                  <a:solidFill>
                    <a:srgbClr val="172B3A"/>
                  </a:solidFill>
                  <a:latin typeface="Consolas"/>
                  <a:ea typeface="Consolas"/>
                  <a:cs typeface="Consolas"/>
                </a:rPr>
                <a:t>findMany</a:t>
              </a:r>
              <a:r>
                <a:rPr lang="tr-TR" sz="1200" dirty="0">
                  <a:solidFill>
                    <a:srgbClr val="172B3A"/>
                  </a:solidFill>
                  <a:latin typeface="+mn-lt"/>
                  <a:ea typeface="+mn-ea"/>
                  <a:cs typeface="+mn-cs"/>
                </a:rPr>
                <a:t xml:space="preserve"> kayıtları kimliğe göre</a:t>
              </a:r>
              <a:br/>
              <a:r>
                <a:rPr lang="tr-TR" sz="1200" dirty="0">
                  <a:solidFill>
                    <a:srgbClr val="172B3A"/>
                  </a:solidFill>
                  <a:latin typeface="+mn-lt"/>
                  <a:ea typeface="+mn-ea"/>
                  <a:cs typeface="+mn-cs"/>
                </a:rPr>
                <a:t>artan sırada dizi olarak getirir.</a:t>
              </a:r>
            </a:p>
          </p:txBody>
        </p:sp>
      </p:grpSp>
      <p:grpSp>
        <p:nvGrpSpPr>
          <p:cNvPr id="38" name="warning-box"/>
          <p:cNvGrpSpPr/>
          <p:nvPr/>
        </p:nvGrpSpPr>
        <p:grpSpPr>
          <a:xfrm>
            <a:off x="6705600" y="4191000"/>
            <a:ext cx="4876800" cy="1000506"/>
            <a:chOff x="6705600" y="4191000"/>
            <a:chExt cx="4876800" cy="1000506"/>
          </a:xfrm>
        </p:grpSpPr>
        <p:sp>
          <p:nvSpPr>
            <p:cNvPr id="35" name="Rectangle 35"/>
            <p:cNvSpPr/>
            <p:nvPr/>
          </p:nvSpPr>
          <p:spPr>
            <a:xfrm>
              <a:off x="6705600" y="4191000"/>
              <a:ext cx="4876800" cy="990600"/>
            </a:xfrm>
            <a:prstGeom prst="roundRect">
              <a:avLst>
                <a:gd name="adj" fmla="val 7692"/>
              </a:avLst>
            </a:prstGeom>
            <a:solidFill>
              <a:srgbClr val="FFFFFF"/>
            </a:solidFill>
            <a:ln w="14288">
              <a:solidFill>
                <a:srgbClr val="00A6A6"/>
              </a:solidFill>
            </a:ln>
          </p:spPr>
        </p:sp>
        <p:sp>
          <p:nvSpPr>
            <p:cNvPr id="36" name="TextBox 36"/>
            <p:cNvSpPr txBox="1"/>
            <p:nvPr/>
          </p:nvSpPr>
          <p:spPr>
            <a:xfrm>
              <a:off x="6928104" y="4328160"/>
              <a:ext cx="338532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Yaygın hata: her çağrıda yeni istemci</a:t>
              </a:r>
            </a:p>
          </p:txBody>
        </p:sp>
        <p:sp>
          <p:nvSpPr>
            <p:cNvPr id="37" name="TextBox 37"/>
            <p:cNvSpPr txBox="1"/>
            <p:nvPr/>
          </p:nvSpPr>
          <p:spPr>
            <a:xfrm>
              <a:off x="6928104" y="4575810"/>
              <a:ext cx="33268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new PrismaClient()</a:t>
              </a:r>
              <a:r>
                <a:rPr lang="tr-TR" sz="1200" dirty="0">
                  <a:solidFill>
                    <a:srgbClr val="172B3A"/>
                  </a:solidFill>
                  <a:latin typeface="+mn-lt"/>
                  <a:ea typeface="+mn-ea"/>
                  <a:cs typeface="+mn-cs"/>
                </a:rPr>
                <a:t>'ı her fonksiyonda</a:t>
              </a:r>
              <a:br/>
              <a:r>
                <a:rPr lang="tr-TR" sz="1200" dirty="0">
                  <a:solidFill>
                    <a:srgbClr val="172B3A"/>
                  </a:solidFill>
                  <a:latin typeface="+mn-lt"/>
                  <a:ea typeface="+mn-ea"/>
                  <a:cs typeface="+mn-cs"/>
                </a:rPr>
                <a:t>yeniden oluşturmak bağlantıları çoğaltır;</a:t>
              </a:r>
              <a:br/>
              <a:r>
                <a:rPr lang="tr-TR" sz="1200" dirty="0">
                  <a:solidFill>
                    <a:srgbClr val="172B3A"/>
                  </a:solidFill>
                  <a:latin typeface="+mn-lt"/>
                  <a:ea typeface="+mn-ea"/>
                  <a:cs typeface="+mn-cs"/>
                </a:rPr>
                <a:t>istemci uygulama düzeyinde paylaşılmalıdır.</a:t>
              </a:r>
            </a:p>
          </p:txBody>
        </p:sp>
      </p:grpSp>
      <p:grpSp>
        <p:nvGrpSpPr>
          <p:cNvPr id="43" name="await-note"/>
          <p:cNvGrpSpPr/>
          <p:nvPr/>
        </p:nvGrpSpPr>
        <p:grpSpPr>
          <a:xfrm>
            <a:off x="6705600" y="5257800"/>
            <a:ext cx="4876800" cy="838200"/>
            <a:chOff x="6705600" y="5257800"/>
            <a:chExt cx="4876800" cy="838200"/>
          </a:xfrm>
        </p:grpSpPr>
        <p:sp>
          <p:nvSpPr>
            <p:cNvPr id="39" name="Rectangle 39"/>
            <p:cNvSpPr/>
            <p:nvPr/>
          </p:nvSpPr>
          <p:spPr>
            <a:xfrm>
              <a:off x="6705600" y="5257800"/>
              <a:ext cx="4876800" cy="838200"/>
            </a:xfrm>
            <a:prstGeom prst="roundRect">
              <a:avLst>
                <a:gd name="adj" fmla="val 9091"/>
              </a:avLst>
            </a:prstGeom>
            <a:solidFill>
              <a:srgbClr val="EAF4F6"/>
            </a:solidFill>
            <a:ln>
              <a:noFill/>
            </a:ln>
          </p:spPr>
        </p:sp>
        <p:sp>
          <p:nvSpPr>
            <p:cNvPr id="40" name="Rectangle 40"/>
            <p:cNvSpPr/>
            <p:nvPr/>
          </p:nvSpPr>
          <p:spPr>
            <a:xfrm>
              <a:off x="6705600" y="5257800"/>
              <a:ext cx="57150" cy="838200"/>
            </a:xfrm>
            <a:prstGeom prst="rect">
              <a:avLst/>
            </a:prstGeom>
            <a:solidFill>
              <a:srgbClr val="00A6A6"/>
            </a:solidFill>
            <a:ln>
              <a:noFill/>
            </a:ln>
          </p:spPr>
        </p:sp>
        <p:sp>
          <p:nvSpPr>
            <p:cNvPr id="41" name="TextBox 41"/>
            <p:cNvSpPr txBox="1"/>
            <p:nvPr/>
          </p:nvSpPr>
          <p:spPr>
            <a:xfrm>
              <a:off x="6928104" y="5375910"/>
              <a:ext cx="216342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Tüm çağrılar asenkrondur</a:t>
              </a:r>
            </a:p>
          </p:txBody>
        </p:sp>
        <p:sp>
          <p:nvSpPr>
            <p:cNvPr id="42" name="TextBox 42"/>
            <p:cNvSpPr txBox="1"/>
            <p:nvPr/>
          </p:nvSpPr>
          <p:spPr>
            <a:xfrm>
              <a:off x="6928104" y="5623560"/>
              <a:ext cx="25953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await</a:t>
              </a:r>
              <a:r>
                <a:rPr lang="tr-TR" sz="1200" dirty="0">
                  <a:solidFill>
                    <a:srgbClr val="172B3A"/>
                  </a:solidFill>
                  <a:latin typeface="+mn-lt"/>
                  <a:ea typeface="+mn-ea"/>
                  <a:cs typeface="+mn-cs"/>
                </a:rPr>
                <a:t xml:space="preserve"> atlanırsa gerçek veri yerine</a:t>
              </a:r>
              <a:br/>
              <a:r>
                <a:rPr lang="tr-TR" sz="1200" dirty="0">
                  <a:solidFill>
                    <a:srgbClr val="172B3A"/>
                  </a:solidFill>
                  <a:latin typeface="+mn-lt"/>
                  <a:ea typeface="+mn-ea"/>
                  <a:cs typeface="+mn-cs"/>
                </a:rPr>
                <a:t>bekleyen bir Promise elde edilir.</a:t>
              </a:r>
            </a:p>
          </p:txBody>
        </p:sp>
      </p:grpSp>
      <p:sp>
        <p:nvSpPr>
          <p:cNvPr id="44" name="TextBox 4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09 / 25</a:t>
            </a:r>
          </a:p>
        </p:txBody>
      </p:sp>
    </p:spTree>
  </p:cSld>
  <p:clrMapOvr>
    <a:masterClrMapping/>
  </p:clrMapOvr>
  <p:transition xmlns:p14="http://schemas.microsoft.com/office/powerpoint/2010/main" p14:dur="400">
    <p:fade/>
  </p:transition>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6166145" cy="557403"/>
            <a:chOff x="595122" y="282892"/>
            <a:chExt cx="6166145" cy="557403"/>
          </a:xfrm>
        </p:grpSpPr>
        <p:sp>
          <p:nvSpPr>
            <p:cNvPr id="4" name="TextBox 4"/>
            <p:cNvSpPr txBox="1"/>
            <p:nvPr/>
          </p:nvSpPr>
          <p:spPr>
            <a:xfrm>
              <a:off x="595122" y="282892"/>
              <a:ext cx="6166145"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Migration nedir, neden vardır?</a:t>
              </a:r>
            </a:p>
          </p:txBody>
        </p:sp>
      </p:grpSp>
      <p:grpSp>
        <p:nvGrpSpPr>
          <p:cNvPr id="10" name="def-block"/>
          <p:cNvGrpSpPr/>
          <p:nvPr/>
        </p:nvGrpSpPr>
        <p:grpSpPr>
          <a:xfrm>
            <a:off x="609600" y="1219200"/>
            <a:ext cx="10972800" cy="1028700"/>
            <a:chOff x="609600" y="1219200"/>
            <a:chExt cx="10972800" cy="1028700"/>
          </a:xfrm>
        </p:grpSpPr>
        <p:sp>
          <p:nvSpPr>
            <p:cNvPr id="6" name="Rectangle 6"/>
            <p:cNvSpPr/>
            <p:nvPr/>
          </p:nvSpPr>
          <p:spPr>
            <a:xfrm>
              <a:off x="609600" y="1219200"/>
              <a:ext cx="10972800" cy="1028700"/>
            </a:xfrm>
            <a:prstGeom prst="roundRect">
              <a:avLst>
                <a:gd name="adj" fmla="val 7407"/>
              </a:avLst>
            </a:prstGeom>
            <a:solidFill>
              <a:srgbClr val="EAF4F6"/>
            </a:solidFill>
            <a:ln>
              <a:noFill/>
            </a:ln>
          </p:spPr>
        </p:sp>
        <p:sp>
          <p:nvSpPr>
            <p:cNvPr id="7" name="Rectangle 7"/>
            <p:cNvSpPr/>
            <p:nvPr/>
          </p:nvSpPr>
          <p:spPr>
            <a:xfrm>
              <a:off x="609600" y="1219200"/>
              <a:ext cx="57150" cy="1028700"/>
            </a:xfrm>
            <a:prstGeom prst="rect">
              <a:avLst/>
            </a:prstGeom>
            <a:solidFill>
              <a:srgbClr val="00A6A6"/>
            </a:solidFill>
            <a:ln>
              <a:noFill/>
            </a:ln>
          </p:spPr>
        </p:sp>
        <p:sp>
          <p:nvSpPr>
            <p:cNvPr id="8" name="TextBox 8"/>
            <p:cNvSpPr txBox="1"/>
            <p:nvPr/>
          </p:nvSpPr>
          <p:spPr>
            <a:xfrm>
              <a:off x="906399" y="13349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9" name="TextBox 9"/>
            <p:cNvSpPr txBox="1"/>
            <p:nvPr/>
          </p:nvSpPr>
          <p:spPr>
            <a:xfrm>
              <a:off x="908304" y="1642110"/>
              <a:ext cx="748741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Migration, veritabanı şemasındaki değişiklikleri sürümlü ve tekrarlanabilir adımlar hâlinde kaydeden</a:t>
              </a:r>
              <a:br/>
              <a:r>
                <a:rPr lang="tr-TR" sz="1200" dirty="0">
                  <a:solidFill>
                    <a:srgbClr val="172B3A"/>
                  </a:solidFill>
                  <a:latin typeface="+mn-lt"/>
                  <a:ea typeface="+mn-ea"/>
                  <a:cs typeface="+mn-cs"/>
                </a:rPr>
                <a:t>dönüşümdür; proje kaynak kodunun bir parçası olarak tutulur.</a:t>
              </a:r>
            </a:p>
          </p:txBody>
        </p:sp>
      </p:grpSp>
      <p:grpSp>
        <p:nvGrpSpPr>
          <p:cNvPr id="14" name="analogy"/>
          <p:cNvGrpSpPr/>
          <p:nvPr/>
        </p:nvGrpSpPr>
        <p:grpSpPr>
          <a:xfrm>
            <a:off x="609600" y="2514600"/>
            <a:ext cx="10972800" cy="914400"/>
            <a:chOff x="609600" y="2514600"/>
            <a:chExt cx="10972800" cy="914400"/>
          </a:xfrm>
        </p:grpSpPr>
        <p:sp>
          <p:nvSpPr>
            <p:cNvPr id="11" name="Rectangle 11"/>
            <p:cNvSpPr/>
            <p:nvPr/>
          </p:nvSpPr>
          <p:spPr>
            <a:xfrm>
              <a:off x="609600" y="2514600"/>
              <a:ext cx="10972800" cy="914400"/>
            </a:xfrm>
            <a:prstGeom prst="roundRect">
              <a:avLst>
                <a:gd name="adj" fmla="val 8333"/>
              </a:avLst>
            </a:prstGeom>
            <a:solidFill>
              <a:srgbClr val="FFFFFF"/>
            </a:solidFill>
            <a:ln w="9525">
              <a:solidFill>
                <a:srgbClr val="B8CBD3"/>
              </a:solidFill>
            </a:ln>
          </p:spPr>
        </p:sp>
        <p:sp>
          <p:nvSpPr>
            <p:cNvPr id="12" name="TextBox 12"/>
            <p:cNvSpPr txBox="1"/>
            <p:nvPr/>
          </p:nvSpPr>
          <p:spPr>
            <a:xfrm>
              <a:off x="908304" y="2651760"/>
              <a:ext cx="217192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Benzetme: tadilat günlüğü</a:t>
              </a:r>
            </a:p>
          </p:txBody>
        </p:sp>
        <p:sp>
          <p:nvSpPr>
            <p:cNvPr id="13" name="TextBox 13"/>
            <p:cNvSpPr txBox="1"/>
            <p:nvPr/>
          </p:nvSpPr>
          <p:spPr>
            <a:xfrm>
              <a:off x="908304" y="2899410"/>
              <a:ext cx="755599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"İkinci kata sınıf eklendi" bilgisi yalnızca mimari çizimde kalmaz; değişikliğin hangi sırayla yapıldığı</a:t>
              </a:r>
              <a:br/>
              <a:r>
                <a:rPr lang="tr-TR" sz="1200" dirty="0">
                  <a:solidFill>
                    <a:srgbClr val="172B3A"/>
                  </a:solidFill>
                  <a:latin typeface="+mn-lt"/>
                  <a:ea typeface="+mn-ea"/>
                  <a:cs typeface="+mn-cs"/>
                </a:rPr>
                <a:t>da kaydedilir. Böylece yeni bir ortam aynı yapıya güvenilir biçimde getirilebilir.</a:t>
              </a:r>
            </a:p>
          </p:txBody>
        </p:sp>
      </p:grpSp>
      <p:grpSp>
        <p:nvGrpSpPr>
          <p:cNvPr id="21" name="why-cols"/>
          <p:cNvGrpSpPr/>
          <p:nvPr/>
        </p:nvGrpSpPr>
        <p:grpSpPr>
          <a:xfrm>
            <a:off x="609600" y="3657600"/>
            <a:ext cx="10972800" cy="2095500"/>
            <a:chOff x="609600" y="3657600"/>
            <a:chExt cx="10972800" cy="2095500"/>
          </a:xfrm>
        </p:grpSpPr>
        <p:sp>
          <p:nvSpPr>
            <p:cNvPr id="15" name="Rectangle 15"/>
            <p:cNvSpPr/>
            <p:nvPr/>
          </p:nvSpPr>
          <p:spPr>
            <a:xfrm>
              <a:off x="609600" y="3657600"/>
              <a:ext cx="5353050" cy="2095500"/>
            </a:xfrm>
            <a:prstGeom prst="roundRect">
              <a:avLst>
                <a:gd name="adj" fmla="val 3636"/>
              </a:avLst>
            </a:prstGeom>
            <a:solidFill>
              <a:srgbClr val="FFFFFF"/>
            </a:solidFill>
            <a:ln w="14288">
              <a:solidFill>
                <a:srgbClr val="2E86AB"/>
              </a:solidFill>
            </a:ln>
          </p:spPr>
        </p:sp>
        <p:sp>
          <p:nvSpPr>
            <p:cNvPr id="16" name="TextBox 16"/>
            <p:cNvSpPr txBox="1"/>
            <p:nvPr/>
          </p:nvSpPr>
          <p:spPr>
            <a:xfrm>
              <a:off x="830199" y="3773329"/>
              <a:ext cx="15649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Neden vardır?</a:t>
              </a:r>
            </a:p>
          </p:txBody>
        </p:sp>
        <p:sp>
          <p:nvSpPr>
            <p:cNvPr id="17" name="TextBox 17"/>
            <p:cNvSpPr txBox="1"/>
            <p:nvPr/>
          </p:nvSpPr>
          <p:spPr>
            <a:xfrm>
              <a:off x="832104" y="4099560"/>
              <a:ext cx="347167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Migration olmadan ekip üyeleri veritabanlarını</a:t>
              </a:r>
              <a:br/>
              <a:r>
                <a:rPr lang="tr-TR" sz="1200" dirty="0">
                  <a:solidFill>
                    <a:srgbClr val="172B3A"/>
                  </a:solidFill>
                  <a:latin typeface="+mn-lt"/>
                  <a:ea typeface="+mn-ea"/>
                  <a:cs typeface="+mn-cs"/>
                </a:rPr>
                <a:t>elle değiştirir; bir geliştiricinin ortamındaki</a:t>
              </a:r>
              <a:br/>
              <a:r>
                <a:rPr lang="tr-TR" sz="1200" dirty="0">
                  <a:solidFill>
                    <a:srgbClr val="172B3A"/>
                  </a:solidFill>
                  <a:latin typeface="+mn-lt"/>
                  <a:ea typeface="+mn-ea"/>
                  <a:cs typeface="+mn-cs"/>
                </a:rPr>
                <a:t>sütun başka bir ortamda bulunmayabilir —</a:t>
              </a:r>
              <a:br/>
              <a:r>
                <a:rPr lang="tr-TR" sz="1200" dirty="0">
                  <a:solidFill>
                    <a:srgbClr val="172B3A"/>
                  </a:solidFill>
                  <a:latin typeface="+mn-lt"/>
                  <a:ea typeface="+mn-ea"/>
                  <a:cs typeface="+mn-cs"/>
                </a:rPr>
                <a:t>"benim bilgisayarımda çalışıyor" sorunu.</a:t>
              </a:r>
              <a:br/>
              <a:r>
                <a:rPr lang="tr-TR" sz="1200" dirty="0">
                  <a:solidFill>
                    <a:srgbClr val="172B3A"/>
                  </a:solidFill>
                  <a:latin typeface="+mn-lt"/>
                  <a:ea typeface="+mn-ea"/>
                  <a:cs typeface="+mn-cs"/>
                </a:rPr>
                <a:t>Migration geçmişi şemanın zaman içindeki</a:t>
              </a:r>
              <a:br/>
              <a:r>
                <a:rPr lang="tr-TR" sz="1200" dirty="0">
                  <a:solidFill>
                    <a:srgbClr val="172B3A"/>
                  </a:solidFill>
                  <a:latin typeface="+mn-lt"/>
                  <a:ea typeface="+mn-ea"/>
                  <a:cs typeface="+mn-cs"/>
                </a:rPr>
                <a:t>yolculuğunu belgeler.</a:t>
              </a:r>
            </a:p>
          </p:txBody>
        </p:sp>
        <p:sp>
          <p:nvSpPr>
            <p:cNvPr id="18" name="Rectangle 18"/>
            <p:cNvSpPr/>
            <p:nvPr/>
          </p:nvSpPr>
          <p:spPr>
            <a:xfrm>
              <a:off x="6229350" y="3657600"/>
              <a:ext cx="5353050" cy="2095500"/>
            </a:xfrm>
            <a:prstGeom prst="roundRect">
              <a:avLst>
                <a:gd name="adj" fmla="val 3636"/>
              </a:avLst>
            </a:prstGeom>
            <a:solidFill>
              <a:srgbClr val="FFFFFF"/>
            </a:solidFill>
            <a:ln w="14288">
              <a:solidFill>
                <a:srgbClr val="2E86AB"/>
              </a:solidFill>
            </a:ln>
          </p:spPr>
        </p:sp>
        <p:sp>
          <p:nvSpPr>
            <p:cNvPr id="19" name="TextBox 19"/>
            <p:cNvSpPr txBox="1"/>
            <p:nvPr/>
          </p:nvSpPr>
          <p:spPr>
            <a:xfrm>
              <a:off x="6449949" y="3773329"/>
              <a:ext cx="2055537"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Kuramsal arka plan</a:t>
              </a:r>
            </a:p>
          </p:txBody>
        </p:sp>
        <p:sp>
          <p:nvSpPr>
            <p:cNvPr id="20" name="TextBox 20"/>
            <p:cNvSpPr txBox="1"/>
            <p:nvPr/>
          </p:nvSpPr>
          <p:spPr>
            <a:xfrm>
              <a:off x="6451854" y="4099560"/>
              <a:ext cx="3456432" cy="12824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"Şema evrimi" araştırma alanının pratik</a:t>
              </a:r>
              <a:br/>
              <a:r>
                <a:rPr lang="tr-TR" sz="1200" dirty="0">
                  <a:solidFill>
                    <a:srgbClr val="172B3A"/>
                  </a:solidFill>
                  <a:latin typeface="+mn-lt"/>
                  <a:ea typeface="+mn-ea"/>
                  <a:cs typeface="+mn-cs"/>
                </a:rPr>
                <a:t>uygulamasıdır; migration dosyalarının Git'te</a:t>
              </a:r>
              <a:br/>
              <a:r>
                <a:rPr lang="tr-TR" sz="1200" dirty="0">
                  <a:solidFill>
                    <a:srgbClr val="172B3A"/>
                  </a:solidFill>
                  <a:latin typeface="+mn-lt"/>
                  <a:ea typeface="+mn-ea"/>
                  <a:cs typeface="+mn-cs"/>
                </a:rPr>
                <a:t>sürümlenmesi, "altyapının kod olarak</a:t>
              </a:r>
              <a:br/>
              <a:r>
                <a:rPr lang="tr-TR" sz="1200" dirty="0">
                  <a:solidFill>
                    <a:srgbClr val="172B3A"/>
                  </a:solidFill>
                  <a:latin typeface="+mn-lt"/>
                  <a:ea typeface="+mn-ea"/>
                  <a:cs typeface="+mn-cs"/>
                </a:rPr>
                <a:t>tanımlanması" (IaC) felsefesinin şemaya</a:t>
              </a:r>
              <a:br/>
              <a:r>
                <a:rPr lang="tr-TR" sz="1200" dirty="0">
                  <a:solidFill>
                    <a:srgbClr val="172B3A"/>
                  </a:solidFill>
                  <a:latin typeface="+mn-lt"/>
                  <a:ea typeface="+mn-ea"/>
                  <a:cs typeface="+mn-cs"/>
                </a:rPr>
                <a:t>uygulanmasıdır — her geçmiş durum,</a:t>
              </a:r>
              <a:br/>
              <a:r>
                <a:rPr lang="tr-TR" sz="1200" dirty="0">
                  <a:solidFill>
                    <a:srgbClr val="172B3A"/>
                  </a:solidFill>
                  <a:latin typeface="+mn-lt"/>
                  <a:ea typeface="+mn-ea"/>
                  <a:cs typeface="+mn-cs"/>
                </a:rPr>
                <a:t>adımlar yeniden çalıştırılarak üretilebilir.</a:t>
              </a:r>
            </a:p>
          </p:txBody>
        </p:sp>
      </p:grpSp>
      <p:sp>
        <p:nvSpPr>
          <p:cNvPr id="22" name="TextBox 2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10 / 25</a:t>
            </a:r>
          </a:p>
        </p:txBody>
      </p:sp>
    </p:spTree>
  </p:cSld>
  <p:clrMapOvr>
    <a:masterClrMapping/>
  </p:clrMapOvr>
  <p:transition xmlns:p14="http://schemas.microsoft.com/office/powerpoint/2010/main" p14:dur="400">
    <p:fade/>
  </p:transition>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185242" cy="668845"/>
            <a:chOff x="609600" y="171450"/>
            <a:chExt cx="8185242"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92004" y="368618"/>
                <a:ext cx="206693" cy="177164"/>
                <a:chOff x="792004" y="368618"/>
                <a:chExt cx="206693" cy="177164"/>
              </a:xfrm>
            </p:grpSpPr>
            <p:sp>
              <p:nvSpPr>
                <p:cNvPr id="5" name="Freeform 5"/>
                <p:cNvSpPr/>
                <p:nvPr/>
              </p:nvSpPr>
              <p:spPr>
                <a:xfrm>
                  <a:off x="792004" y="457200"/>
                  <a:ext cx="206693" cy="9525"/>
                </a:xfrm>
                <a:custGeom>
                  <a:avLst/>
                  <a:gdLst/>
                  <a:ahLst/>
                  <a:cxnLst/>
                  <a:rect l="l" t="t" r="r" b="b"/>
                  <a:pathLst>
                    <a:path w="206693" h="9525">
                      <a:moveTo>
                        <a:pt x="0" y="0"/>
                      </a:moveTo>
                      <a:lnTo>
                        <a:pt x="206693" y="0"/>
                      </a:lnTo>
                    </a:path>
                  </a:pathLst>
                </a:custGeom>
                <a:noFill/>
                <a:ln w="24759" cap="rnd">
                  <a:solidFill>
                    <a:srgbClr val="FFFFFF"/>
                  </a:solidFill>
                  <a:round/>
                </a:ln>
              </p:spPr>
            </p:sp>
            <p:sp>
              <p:nvSpPr>
                <p:cNvPr id="6" name="Freeform 6"/>
                <p:cNvSpPr/>
                <p:nvPr/>
              </p:nvSpPr>
              <p:spPr>
                <a:xfrm>
                  <a:off x="910114" y="457200"/>
                  <a:ext cx="88582" cy="88582"/>
                </a:xfrm>
                <a:custGeom>
                  <a:avLst/>
                  <a:gdLst/>
                  <a:ahLst/>
                  <a:cxnLst/>
                  <a:rect l="l" t="t" r="r" b="b"/>
                  <a:pathLst>
                    <a:path w="88582" h="88582">
                      <a:moveTo>
                        <a:pt x="0" y="88582"/>
                      </a:moveTo>
                      <a:lnTo>
                        <a:pt x="88582" y="0"/>
                      </a:lnTo>
                    </a:path>
                  </a:pathLst>
                </a:custGeom>
                <a:noFill/>
                <a:ln w="24759" cap="rnd">
                  <a:solidFill>
                    <a:srgbClr val="FFFFFF"/>
                  </a:solidFill>
                  <a:round/>
                </a:ln>
              </p:spPr>
            </p:sp>
            <p:sp>
              <p:nvSpPr>
                <p:cNvPr id="7" name="Freeform 7"/>
                <p:cNvSpPr/>
                <p:nvPr/>
              </p:nvSpPr>
              <p:spPr>
                <a:xfrm>
                  <a:off x="910114" y="368618"/>
                  <a:ext cx="88582" cy="88582"/>
                </a:xfrm>
                <a:custGeom>
                  <a:avLst/>
                  <a:gdLst/>
                  <a:ahLst/>
                  <a:cxnLst/>
                  <a:rect l="l" t="t" r="r" b="b"/>
                  <a:pathLst>
                    <a:path w="88582" h="88582">
                      <a:moveTo>
                        <a:pt x="0" y="0"/>
                      </a:moveTo>
                      <a:lnTo>
                        <a:pt x="88582" y="88582"/>
                      </a:lnTo>
                    </a:path>
                  </a:pathLst>
                </a:custGeom>
                <a:noFill/>
                <a:ln w="24759" cap="rnd">
                  <a:solidFill>
                    <a:srgbClr val="FFFFFF"/>
                  </a:solidFill>
                  <a:round/>
                </a:ln>
              </p:spPr>
            </p:sp>
          </p:grpSp>
        </p:grpSp>
        <p:sp>
          <p:nvSpPr>
            <p:cNvPr id="10" name="TextBox 10"/>
            <p:cNvSpPr txBox="1"/>
            <p:nvPr/>
          </p:nvSpPr>
          <p:spPr>
            <a:xfrm>
              <a:off x="1299972" y="282892"/>
              <a:ext cx="74948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Migration akışı: telefon alanı ekleme</a:t>
              </a:r>
            </a:p>
          </p:txBody>
        </p:sp>
      </p:grpSp>
      <p:grpSp>
        <p:nvGrpSpPr>
          <p:cNvPr id="34" name="step-chain"/>
          <p:cNvGrpSpPr/>
          <p:nvPr/>
        </p:nvGrpSpPr>
        <p:grpSpPr>
          <a:xfrm>
            <a:off x="609600" y="1333500"/>
            <a:ext cx="10668000" cy="838200"/>
            <a:chOff x="609600" y="1333500"/>
            <a:chExt cx="10668000" cy="838200"/>
          </a:xfrm>
        </p:grpSpPr>
        <p:grpSp>
          <p:nvGrpSpPr>
            <p:cNvPr id="16" name="s1"/>
            <p:cNvGrpSpPr/>
            <p:nvPr/>
          </p:nvGrpSpPr>
          <p:grpSpPr>
            <a:xfrm>
              <a:off x="609600" y="1333500"/>
              <a:ext cx="2438400" cy="838200"/>
              <a:chOff x="609600" y="1333500"/>
              <a:chExt cx="2438400" cy="838200"/>
            </a:xfrm>
          </p:grpSpPr>
          <p:sp>
            <p:nvSpPr>
              <p:cNvPr id="12" name="Rectangle 12"/>
              <p:cNvSpPr/>
              <p:nvPr/>
            </p:nvSpPr>
            <p:spPr>
              <a:xfrm>
                <a:off x="609600" y="1333500"/>
                <a:ext cx="2438400" cy="838200"/>
              </a:xfrm>
              <a:prstGeom prst="roundRect">
                <a:avLst>
                  <a:gd name="adj" fmla="val 9091"/>
                </a:avLst>
              </a:prstGeom>
              <a:solidFill>
                <a:srgbClr val="FFFFFF"/>
              </a:solidFill>
              <a:ln w="14288">
                <a:solidFill>
                  <a:srgbClr val="2E86AB"/>
                </a:solidFill>
              </a:ln>
            </p:spPr>
          </p:sp>
          <p:sp>
            <p:nvSpPr>
              <p:cNvPr id="13" name="TextBox 13"/>
              <p:cNvSpPr txBox="1"/>
              <p:nvPr/>
            </p:nvSpPr>
            <p:spPr>
              <a:xfrm>
                <a:off x="755904" y="1432560"/>
                <a:ext cx="151135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1. Şemayı düzenle</a:t>
                </a:r>
              </a:p>
            </p:txBody>
          </p:sp>
          <p:sp>
            <p:nvSpPr>
              <p:cNvPr id="14" name="TextBox 14"/>
              <p:cNvSpPr txBox="1"/>
              <p:nvPr/>
            </p:nvSpPr>
            <p:spPr>
              <a:xfrm>
                <a:off x="757047" y="1685449"/>
                <a:ext cx="110241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telefonNumarasi</a:t>
                </a:r>
              </a:p>
            </p:txBody>
          </p:sp>
          <p:sp>
            <p:nvSpPr>
              <p:cNvPr id="15" name="TextBox 15"/>
              <p:cNvSpPr txBox="1"/>
              <p:nvPr/>
            </p:nvSpPr>
            <p:spPr>
              <a:xfrm>
                <a:off x="757047" y="1856899"/>
                <a:ext cx="52261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String?</a:t>
                </a:r>
              </a:p>
            </p:txBody>
          </p:sp>
        </p:grpSp>
        <p:grpSp>
          <p:nvGrpSpPr>
            <p:cNvPr id="21" name="s2"/>
            <p:cNvGrpSpPr/>
            <p:nvPr/>
          </p:nvGrpSpPr>
          <p:grpSpPr>
            <a:xfrm>
              <a:off x="3352800" y="1333500"/>
              <a:ext cx="2438400" cy="838200"/>
              <a:chOff x="3352800" y="1333500"/>
              <a:chExt cx="2438400" cy="838200"/>
            </a:xfrm>
          </p:grpSpPr>
          <p:sp>
            <p:nvSpPr>
              <p:cNvPr id="17" name="Rectangle 17"/>
              <p:cNvSpPr/>
              <p:nvPr/>
            </p:nvSpPr>
            <p:spPr>
              <a:xfrm>
                <a:off x="3352800" y="1333500"/>
                <a:ext cx="2438400" cy="838200"/>
              </a:xfrm>
              <a:prstGeom prst="roundRect">
                <a:avLst>
                  <a:gd name="adj" fmla="val 9091"/>
                </a:avLst>
              </a:prstGeom>
              <a:solidFill>
                <a:srgbClr val="FFFFFF"/>
              </a:solidFill>
              <a:ln w="14288">
                <a:solidFill>
                  <a:srgbClr val="2E86AB"/>
                </a:solidFill>
              </a:ln>
            </p:spPr>
          </p:sp>
          <p:sp>
            <p:nvSpPr>
              <p:cNvPr id="18" name="TextBox 18"/>
              <p:cNvSpPr txBox="1"/>
              <p:nvPr/>
            </p:nvSpPr>
            <p:spPr>
              <a:xfrm>
                <a:off x="3499104" y="1432560"/>
                <a:ext cx="146876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2. Migration üret</a:t>
                </a:r>
              </a:p>
            </p:txBody>
          </p:sp>
          <p:sp>
            <p:nvSpPr>
              <p:cNvPr id="19" name="TextBox 19"/>
              <p:cNvSpPr txBox="1"/>
              <p:nvPr/>
            </p:nvSpPr>
            <p:spPr>
              <a:xfrm>
                <a:off x="3500247" y="1685449"/>
                <a:ext cx="131598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prisma migrate dev</a:t>
                </a:r>
              </a:p>
            </p:txBody>
          </p:sp>
          <p:sp>
            <p:nvSpPr>
              <p:cNvPr id="20" name="TextBox 20"/>
              <p:cNvSpPr txBox="1"/>
              <p:nvPr/>
            </p:nvSpPr>
            <p:spPr>
              <a:xfrm>
                <a:off x="3500247" y="1856899"/>
                <a:ext cx="175135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--name kullanici_telefon</a:t>
                </a:r>
              </a:p>
            </p:txBody>
          </p:sp>
        </p:grpSp>
        <p:grpSp>
          <p:nvGrpSpPr>
            <p:cNvPr id="25" name="s3"/>
            <p:cNvGrpSpPr/>
            <p:nvPr/>
          </p:nvGrpSpPr>
          <p:grpSpPr>
            <a:xfrm>
              <a:off x="6096000" y="1333500"/>
              <a:ext cx="2438400" cy="838200"/>
              <a:chOff x="6096000" y="1333500"/>
              <a:chExt cx="2438400" cy="838200"/>
            </a:xfrm>
          </p:grpSpPr>
          <p:sp>
            <p:nvSpPr>
              <p:cNvPr id="22" name="Rectangle 22"/>
              <p:cNvSpPr/>
              <p:nvPr/>
            </p:nvSpPr>
            <p:spPr>
              <a:xfrm>
                <a:off x="6096000" y="1333500"/>
                <a:ext cx="2438400" cy="838200"/>
              </a:xfrm>
              <a:prstGeom prst="roundRect">
                <a:avLst>
                  <a:gd name="adj" fmla="val 9091"/>
                </a:avLst>
              </a:prstGeom>
              <a:solidFill>
                <a:srgbClr val="FFFFFF"/>
              </a:solidFill>
              <a:ln w="14288">
                <a:solidFill>
                  <a:srgbClr val="2E86AB"/>
                </a:solidFill>
              </a:ln>
            </p:spPr>
          </p:sp>
          <p:sp>
            <p:nvSpPr>
              <p:cNvPr id="23" name="TextBox 23"/>
              <p:cNvSpPr txBox="1"/>
              <p:nvPr/>
            </p:nvSpPr>
            <p:spPr>
              <a:xfrm>
                <a:off x="6242304" y="1432560"/>
                <a:ext cx="115508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3. Client üret</a:t>
                </a:r>
              </a:p>
            </p:txBody>
          </p:sp>
          <p:sp>
            <p:nvSpPr>
              <p:cNvPr id="24" name="TextBox 24"/>
              <p:cNvSpPr txBox="1"/>
              <p:nvPr/>
            </p:nvSpPr>
            <p:spPr>
              <a:xfrm>
                <a:off x="6243447" y="1685449"/>
                <a:ext cx="109830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prisma generate</a:t>
                </a:r>
              </a:p>
            </p:txBody>
          </p:sp>
        </p:grpSp>
        <p:grpSp>
          <p:nvGrpSpPr>
            <p:cNvPr id="30" name="s4"/>
            <p:cNvGrpSpPr/>
            <p:nvPr/>
          </p:nvGrpSpPr>
          <p:grpSpPr>
            <a:xfrm>
              <a:off x="8839200" y="1333500"/>
              <a:ext cx="2438400" cy="838200"/>
              <a:chOff x="8839200" y="1333500"/>
              <a:chExt cx="2438400" cy="838200"/>
            </a:xfrm>
          </p:grpSpPr>
          <p:sp>
            <p:nvSpPr>
              <p:cNvPr id="26" name="Rectangle 26"/>
              <p:cNvSpPr/>
              <p:nvPr/>
            </p:nvSpPr>
            <p:spPr>
              <a:xfrm>
                <a:off x="8839200" y="1333500"/>
                <a:ext cx="2438400" cy="838200"/>
              </a:xfrm>
              <a:prstGeom prst="roundRect">
                <a:avLst>
                  <a:gd name="adj" fmla="val 9091"/>
                </a:avLst>
              </a:prstGeom>
              <a:solidFill>
                <a:srgbClr val="EAF4F6"/>
              </a:solidFill>
              <a:ln w="14288">
                <a:solidFill>
                  <a:srgbClr val="00A6A6"/>
                </a:solidFill>
              </a:ln>
            </p:spPr>
          </p:sp>
          <p:sp>
            <p:nvSpPr>
              <p:cNvPr id="27" name="TextBox 27"/>
              <p:cNvSpPr txBox="1"/>
              <p:nvPr/>
            </p:nvSpPr>
            <p:spPr>
              <a:xfrm>
                <a:off x="8985504" y="1432560"/>
                <a:ext cx="158710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4. Yeni alanı kullan</a:t>
                </a:r>
              </a:p>
            </p:txBody>
          </p:sp>
          <p:sp>
            <p:nvSpPr>
              <p:cNvPr id="28" name="TextBox 28"/>
              <p:cNvSpPr txBox="1"/>
              <p:nvPr/>
            </p:nvSpPr>
            <p:spPr>
              <a:xfrm>
                <a:off x="8986647" y="1685449"/>
                <a:ext cx="117525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telefonNumarasi:</a:t>
                </a:r>
              </a:p>
            </p:txBody>
          </p:sp>
          <p:sp>
            <p:nvSpPr>
              <p:cNvPr id="29" name="TextBox 29"/>
              <p:cNvSpPr txBox="1"/>
              <p:nvPr/>
            </p:nvSpPr>
            <p:spPr>
              <a:xfrm>
                <a:off x="8986647" y="1856899"/>
                <a:ext cx="117086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"0532 000 00 00"</a:t>
                </a:r>
              </a:p>
            </p:txBody>
          </p:sp>
        </p:grpSp>
        <p:sp>
          <p:nvSpPr>
            <p:cNvPr id="31" name="Line 31"/>
            <p:cNvSpPr/>
            <p:nvPr/>
          </p:nvSpPr>
          <p:spPr>
            <a:xfrm>
              <a:off x="3048000" y="1752600"/>
              <a:ext cx="304800" cy="1"/>
            </a:xfrm>
            <a:prstGeom prst="line">
              <a:avLst/>
            </a:prstGeom>
            <a:noFill/>
            <a:ln w="23812">
              <a:solidFill>
                <a:srgbClr val="00A6A6"/>
              </a:solidFill>
              <a:tailEnd type="arrow" w="lg" len="lg"/>
            </a:ln>
          </p:spPr>
        </p:sp>
        <p:sp>
          <p:nvSpPr>
            <p:cNvPr id="32" name="Line 32"/>
            <p:cNvSpPr/>
            <p:nvPr/>
          </p:nvSpPr>
          <p:spPr>
            <a:xfrm>
              <a:off x="5791200" y="1752600"/>
              <a:ext cx="304800" cy="1"/>
            </a:xfrm>
            <a:prstGeom prst="line">
              <a:avLst/>
            </a:prstGeom>
            <a:noFill/>
            <a:ln w="23812">
              <a:solidFill>
                <a:srgbClr val="00A6A6"/>
              </a:solidFill>
              <a:tailEnd type="arrow" w="lg" len="lg"/>
            </a:ln>
          </p:spPr>
        </p:sp>
        <p:sp>
          <p:nvSpPr>
            <p:cNvPr id="33" name="Line 33"/>
            <p:cNvSpPr/>
            <p:nvPr/>
          </p:nvSpPr>
          <p:spPr>
            <a:xfrm>
              <a:off x="8534400" y="1752600"/>
              <a:ext cx="304800" cy="1"/>
            </a:xfrm>
            <a:prstGeom prst="line">
              <a:avLst/>
            </a:prstGeom>
            <a:noFill/>
            <a:ln w="23812">
              <a:solidFill>
                <a:srgbClr val="00A6A6"/>
              </a:solidFill>
              <a:tailEnd type="arrow" w="lg" len="lg"/>
            </a:ln>
          </p:spPr>
        </p:sp>
      </p:grpSp>
      <p:grpSp>
        <p:nvGrpSpPr>
          <p:cNvPr id="46" name="code-block"/>
          <p:cNvGrpSpPr/>
          <p:nvPr/>
        </p:nvGrpSpPr>
        <p:grpSpPr>
          <a:xfrm>
            <a:off x="609600" y="2552700"/>
            <a:ext cx="10972800" cy="2286000"/>
            <a:chOff x="609600" y="2552700"/>
            <a:chExt cx="10972800" cy="2286000"/>
          </a:xfrm>
        </p:grpSpPr>
        <p:sp>
          <p:nvSpPr>
            <p:cNvPr id="35" name="Rectangle 35"/>
            <p:cNvSpPr/>
            <p:nvPr/>
          </p:nvSpPr>
          <p:spPr>
            <a:xfrm>
              <a:off x="609600" y="2552700"/>
              <a:ext cx="10972800" cy="2286000"/>
            </a:xfrm>
            <a:prstGeom prst="roundRect">
              <a:avLst>
                <a:gd name="adj" fmla="val 3333"/>
              </a:avLst>
            </a:prstGeom>
            <a:solidFill>
              <a:srgbClr val="0B2038"/>
            </a:solidFill>
            <a:ln>
              <a:noFill/>
            </a:ln>
          </p:spPr>
        </p:sp>
        <p:sp>
          <p:nvSpPr>
            <p:cNvPr id="36" name="TextBox 36"/>
            <p:cNvSpPr txBox="1"/>
            <p:nvPr/>
          </p:nvSpPr>
          <p:spPr>
            <a:xfrm>
              <a:off x="833247" y="2714149"/>
              <a:ext cx="88610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model User {</a:t>
              </a:r>
            </a:p>
          </p:txBody>
        </p:sp>
        <p:sp>
          <p:nvSpPr>
            <p:cNvPr id="37" name="TextBox 37"/>
            <p:cNvSpPr txBox="1"/>
            <p:nvPr/>
          </p:nvSpPr>
          <p:spPr>
            <a:xfrm>
              <a:off x="833247" y="2904649"/>
              <a:ext cx="26275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id Int @id @default(autoincrement())</a:t>
              </a:r>
            </a:p>
          </p:txBody>
        </p:sp>
        <p:sp>
          <p:nvSpPr>
            <p:cNvPr id="38" name="TextBox 38"/>
            <p:cNvSpPr txBox="1"/>
            <p:nvPr/>
          </p:nvSpPr>
          <p:spPr>
            <a:xfrm>
              <a:off x="833247" y="3095149"/>
              <a:ext cx="103459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adSoyad String</a:t>
              </a:r>
            </a:p>
          </p:txBody>
        </p:sp>
        <p:sp>
          <p:nvSpPr>
            <p:cNvPr id="39" name="TextBox 39"/>
            <p:cNvSpPr txBox="1"/>
            <p:nvPr/>
          </p:nvSpPr>
          <p:spPr>
            <a:xfrm>
              <a:off x="833247" y="3285649"/>
              <a:ext cx="197827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epostaAdresi String @unique</a:t>
              </a:r>
            </a:p>
          </p:txBody>
        </p:sp>
        <p:sp>
          <p:nvSpPr>
            <p:cNvPr id="40" name="TextBox 40"/>
            <p:cNvSpPr txBox="1"/>
            <p:nvPr/>
          </p:nvSpPr>
          <p:spPr>
            <a:xfrm>
              <a:off x="833247" y="3476149"/>
              <a:ext cx="1687787"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telefonNumarasi String?</a:t>
              </a:r>
            </a:p>
          </p:txBody>
        </p:sp>
        <p:sp>
          <p:nvSpPr>
            <p:cNvPr id="41" name="TextBox 41"/>
            <p:cNvSpPr txBox="1"/>
            <p:nvPr/>
          </p:nvSpPr>
          <p:spPr>
            <a:xfrm>
              <a:off x="833247" y="3666649"/>
              <a:ext cx="292724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olusturmaTarihi DateTime @default(now())</a:t>
              </a:r>
            </a:p>
          </p:txBody>
        </p:sp>
        <p:sp>
          <p:nvSpPr>
            <p:cNvPr id="42" name="TextBox 42"/>
            <p:cNvSpPr txBox="1"/>
            <p:nvPr/>
          </p:nvSpPr>
          <p:spPr>
            <a:xfrm>
              <a:off x="833247" y="385714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43" name="TextBox 43"/>
            <p:cNvSpPr txBox="1"/>
            <p:nvPr/>
          </p:nvSpPr>
          <p:spPr>
            <a:xfrm>
              <a:off x="833247" y="4200049"/>
              <a:ext cx="4000716"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npx prisma migrate dev --name kullanici_telefon_alani</a:t>
              </a:r>
            </a:p>
          </p:txBody>
        </p:sp>
        <p:sp>
          <p:nvSpPr>
            <p:cNvPr id="44" name="TextBox 44"/>
            <p:cNvSpPr txBox="1"/>
            <p:nvPr/>
          </p:nvSpPr>
          <p:spPr>
            <a:xfrm>
              <a:off x="833247" y="4390549"/>
              <a:ext cx="153367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 npx prisma generate</a:t>
              </a:r>
            </a:p>
          </p:txBody>
        </p:sp>
        <p:sp>
          <p:nvSpPr>
            <p:cNvPr id="45" name="TextBox 45"/>
            <p:cNvSpPr txBox="1"/>
            <p:nvPr/>
          </p:nvSpPr>
          <p:spPr>
            <a:xfrm>
              <a:off x="833247" y="4581049"/>
              <a:ext cx="3938717"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Çıktı: Applied migration ... kullanici_telefon_alani</a:t>
              </a:r>
            </a:p>
          </p:txBody>
        </p:sp>
      </p:grpSp>
      <p:grpSp>
        <p:nvGrpSpPr>
          <p:cNvPr id="54" name="notes-row"/>
          <p:cNvGrpSpPr/>
          <p:nvPr/>
        </p:nvGrpSpPr>
        <p:grpSpPr>
          <a:xfrm>
            <a:off x="609600" y="4991100"/>
            <a:ext cx="10972800" cy="628650"/>
            <a:chOff x="609600" y="4991100"/>
            <a:chExt cx="10972800" cy="628650"/>
          </a:xfrm>
        </p:grpSpPr>
        <p:sp>
          <p:nvSpPr>
            <p:cNvPr id="47" name="Rectangle 47"/>
            <p:cNvSpPr/>
            <p:nvPr/>
          </p:nvSpPr>
          <p:spPr>
            <a:xfrm>
              <a:off x="609600" y="4991100"/>
              <a:ext cx="5353050" cy="628650"/>
            </a:xfrm>
            <a:prstGeom prst="roundRect">
              <a:avLst>
                <a:gd name="adj" fmla="val 12121"/>
              </a:avLst>
            </a:prstGeom>
            <a:solidFill>
              <a:srgbClr val="EAF4F6"/>
            </a:solidFill>
            <a:ln>
              <a:noFill/>
            </a:ln>
          </p:spPr>
        </p:sp>
        <p:sp>
          <p:nvSpPr>
            <p:cNvPr id="48" name="Rectangle 48"/>
            <p:cNvSpPr/>
            <p:nvPr/>
          </p:nvSpPr>
          <p:spPr>
            <a:xfrm>
              <a:off x="609600" y="4991100"/>
              <a:ext cx="57150" cy="628650"/>
            </a:xfrm>
            <a:prstGeom prst="rect">
              <a:avLst/>
            </a:prstGeom>
            <a:solidFill>
              <a:srgbClr val="00A6A6"/>
            </a:solidFill>
            <a:ln>
              <a:noFill/>
            </a:ln>
          </p:spPr>
        </p:sp>
        <p:sp>
          <p:nvSpPr>
            <p:cNvPr id="49" name="TextBox 49"/>
            <p:cNvSpPr txBox="1"/>
            <p:nvPr/>
          </p:nvSpPr>
          <p:spPr>
            <a:xfrm>
              <a:off x="832104" y="5109210"/>
              <a:ext cx="200079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a:t>
              </a:r>
              <a:r>
                <a:rPr lang="tr-TR" sz="1200" b="1" dirty="0">
                  <a:solidFill>
                    <a:srgbClr val="12355B"/>
                  </a:solidFill>
                  <a:latin typeface="+mn-lt"/>
                  <a:ea typeface="+mn-ea"/>
                  <a:cs typeface="+mn-cs"/>
                </a:rPr>
                <a:t xml:space="preserve"> işareti: alan opsiyonel</a:t>
              </a:r>
            </a:p>
          </p:txBody>
        </p:sp>
        <p:sp>
          <p:nvSpPr>
            <p:cNvPr id="50" name="TextBox 50"/>
            <p:cNvSpPr txBox="1"/>
            <p:nvPr/>
          </p:nvSpPr>
          <p:spPr>
            <a:xfrm>
              <a:off x="832866" y="5354002"/>
              <a:ext cx="405071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Var olan kayıtlarda değer olmadan migration uygulanabilir.</a:t>
              </a:r>
            </a:p>
          </p:txBody>
        </p:sp>
        <p:sp>
          <p:nvSpPr>
            <p:cNvPr id="51" name="Rectangle 51"/>
            <p:cNvSpPr/>
            <p:nvPr/>
          </p:nvSpPr>
          <p:spPr>
            <a:xfrm>
              <a:off x="6229350" y="4991100"/>
              <a:ext cx="5353050" cy="628650"/>
            </a:xfrm>
            <a:prstGeom prst="roundRect">
              <a:avLst>
                <a:gd name="adj" fmla="val 12121"/>
              </a:avLst>
            </a:prstGeom>
            <a:solidFill>
              <a:srgbClr val="FFFFFF"/>
            </a:solidFill>
            <a:ln w="14288">
              <a:solidFill>
                <a:srgbClr val="00A6A6"/>
              </a:solidFill>
            </a:ln>
          </p:spPr>
        </p:sp>
        <p:sp>
          <p:nvSpPr>
            <p:cNvPr id="52" name="TextBox 52"/>
            <p:cNvSpPr txBox="1"/>
            <p:nvPr/>
          </p:nvSpPr>
          <p:spPr>
            <a:xfrm>
              <a:off x="6451854" y="5109210"/>
              <a:ext cx="1318275"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dev vs deploy</a:t>
              </a:r>
            </a:p>
          </p:txBody>
        </p:sp>
        <p:sp>
          <p:nvSpPr>
            <p:cNvPr id="53" name="TextBox 53"/>
            <p:cNvSpPr txBox="1"/>
            <p:nvPr/>
          </p:nvSpPr>
          <p:spPr>
            <a:xfrm>
              <a:off x="6452616" y="5354002"/>
              <a:ext cx="4180523"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Consolas"/>
                  <a:ea typeface="Consolas"/>
                  <a:cs typeface="Consolas"/>
                </a:rPr>
                <a:t>migrate dev</a:t>
              </a:r>
              <a:r>
                <a:rPr lang="tr-TR" sz="1050" dirty="0">
                  <a:solidFill>
                    <a:srgbClr val="172B3A"/>
                  </a:solidFill>
                  <a:latin typeface="+mn-lt"/>
                  <a:ea typeface="+mn-ea"/>
                  <a:cs typeface="+mn-cs"/>
                </a:rPr>
                <a:t xml:space="preserve"> yalnızca geliştirme; üretimde </a:t>
              </a:r>
              <a:r>
                <a:rPr lang="tr-TR" sz="1050" dirty="0">
                  <a:solidFill>
                    <a:srgbClr val="172B3A"/>
                  </a:solidFill>
                  <a:latin typeface="Consolas"/>
                  <a:ea typeface="Consolas"/>
                  <a:cs typeface="Consolas"/>
                </a:rPr>
                <a:t>migrate deploy</a:t>
              </a:r>
              <a:r>
                <a:rPr lang="tr-TR" sz="1050" dirty="0">
                  <a:solidFill>
                    <a:srgbClr val="172B3A"/>
                  </a:solidFill>
                  <a:latin typeface="+mn-lt"/>
                  <a:ea typeface="+mn-ea"/>
                  <a:cs typeface="+mn-cs"/>
                </a:rPr>
                <a:t>.</a:t>
              </a:r>
            </a:p>
          </p:txBody>
        </p:sp>
      </p:grpSp>
      <p:sp>
        <p:nvSpPr>
          <p:cNvPr id="55" name="TextBox 5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11 / 25</a:t>
            </a:r>
          </a:p>
        </p:txBody>
      </p:sp>
    </p:spTree>
  </p:cSld>
  <p:clrMapOvr>
    <a:masterClrMapping/>
  </p:clrMapOvr>
  <p:transition xmlns:p14="http://schemas.microsoft.com/office/powerpoint/2010/main" p14:dur="400">
    <p:fade/>
  </p:transition>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6291774" cy="668845"/>
            <a:chOff x="609600" y="171450"/>
            <a:chExt cx="629177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560140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Migration'da yaygın hatalar</a:t>
              </a:r>
            </a:p>
          </p:txBody>
        </p:sp>
      </p:grpSp>
      <p:grpSp>
        <p:nvGrpSpPr>
          <p:cNvPr id="36" name="compare-row"/>
          <p:cNvGrpSpPr/>
          <p:nvPr/>
        </p:nvGrpSpPr>
        <p:grpSpPr>
          <a:xfrm>
            <a:off x="609600" y="1181100"/>
            <a:ext cx="10972800" cy="2857500"/>
            <a:chOff x="609600" y="1181100"/>
            <a:chExt cx="10972800" cy="2857500"/>
          </a:xfrm>
        </p:grpSpPr>
        <p:sp>
          <p:nvSpPr>
            <p:cNvPr id="12" name="Rectangle 12"/>
            <p:cNvSpPr/>
            <p:nvPr/>
          </p:nvSpPr>
          <p:spPr>
            <a:xfrm>
              <a:off x="609600" y="1181100"/>
              <a:ext cx="5353050" cy="2857500"/>
            </a:xfrm>
            <a:prstGeom prst="roundRect">
              <a:avLst>
                <a:gd name="adj" fmla="val 2667"/>
              </a:avLst>
            </a:prstGeom>
            <a:solidFill>
              <a:srgbClr val="FFFFFF"/>
            </a:solidFill>
            <a:ln w="14288">
              <a:solidFill>
                <a:srgbClr val="B8CBD3"/>
              </a:solidFill>
            </a:ln>
          </p:spPr>
        </p:sp>
        <p:sp>
          <p:nvSpPr>
            <p:cNvPr id="13" name="Rectangle 13"/>
            <p:cNvSpPr/>
            <p:nvPr/>
          </p:nvSpPr>
          <p:spPr>
            <a:xfrm>
              <a:off x="609600" y="1181100"/>
              <a:ext cx="5353050" cy="381000"/>
            </a:xfrm>
            <a:prstGeom prst="roundRect">
              <a:avLst>
                <a:gd name="adj" fmla="val 20000"/>
              </a:avLst>
            </a:prstGeom>
            <a:solidFill>
              <a:srgbClr val="EAF4F6"/>
            </a:solidFill>
            <a:ln>
              <a:noFill/>
            </a:ln>
          </p:spPr>
        </p:sp>
        <p:sp>
          <p:nvSpPr>
            <p:cNvPr id="14" name="TextBox 14"/>
            <p:cNvSpPr txBox="1"/>
            <p:nvPr/>
          </p:nvSpPr>
          <p:spPr>
            <a:xfrm>
              <a:off x="832104" y="1299210"/>
              <a:ext cx="330866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Yanlış: zorunlu alan doğrudan eklenir</a:t>
              </a:r>
            </a:p>
          </p:txBody>
        </p:sp>
        <p:grpSp>
          <p:nvGrpSpPr>
            <p:cNvPr id="20" name="Group 20"/>
            <p:cNvGrpSpPr/>
            <p:nvPr/>
          </p:nvGrpSpPr>
          <p:grpSpPr>
            <a:xfrm>
              <a:off x="833247" y="1723549"/>
              <a:ext cx="1034595" cy="952690"/>
              <a:chOff x="833247" y="1723549"/>
              <a:chExt cx="1034595" cy="952690"/>
            </a:xfrm>
          </p:grpSpPr>
          <p:sp>
            <p:nvSpPr>
              <p:cNvPr id="15" name="TextBox 15"/>
              <p:cNvSpPr txBox="1"/>
              <p:nvPr/>
            </p:nvSpPr>
            <p:spPr>
              <a:xfrm>
                <a:off x="833247" y="1723549"/>
                <a:ext cx="88610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model User {</a:t>
                </a:r>
              </a:p>
            </p:txBody>
          </p:sp>
          <p:sp>
            <p:nvSpPr>
              <p:cNvPr id="16" name="TextBox 16"/>
              <p:cNvSpPr txBox="1"/>
              <p:nvPr/>
            </p:nvSpPr>
            <p:spPr>
              <a:xfrm>
                <a:off x="833247" y="1914049"/>
                <a:ext cx="74137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id Int @id</a:t>
                </a:r>
              </a:p>
            </p:txBody>
          </p:sp>
          <p:sp>
            <p:nvSpPr>
              <p:cNvPr id="17" name="TextBox 17"/>
              <p:cNvSpPr txBox="1"/>
              <p:nvPr/>
            </p:nvSpPr>
            <p:spPr>
              <a:xfrm>
                <a:off x="833247" y="2104549"/>
                <a:ext cx="103459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adSoyad String</a:t>
                </a:r>
              </a:p>
            </p:txBody>
          </p:sp>
          <p:sp>
            <p:nvSpPr>
              <p:cNvPr id="18" name="TextBox 18"/>
              <p:cNvSpPr txBox="1"/>
              <p:nvPr/>
            </p:nvSpPr>
            <p:spPr>
              <a:xfrm>
                <a:off x="833247" y="2295049"/>
                <a:ext cx="962087" cy="190690"/>
              </a:xfrm>
              <a:prstGeom prst="rect">
                <a:avLst/>
              </a:prstGeom>
              <a:noFill/>
              <a:ln>
                <a:noFill/>
              </a:ln>
            </p:spPr>
            <p:txBody>
              <a:bodyPr wrap="none" lIns="0" tIns="0" rIns="0" bIns="0" anchor="t" anchorCtr="0">
                <a:spAutoFit/>
              </a:bodyPr>
              <a:lstStyle/>
              <a:p>
                <a:pPr algn="l"/>
                <a:r>
                  <a:rPr lang="tr-TR" sz="980" b="1" dirty="0">
                    <a:solidFill>
                      <a:srgbClr val="12355B"/>
                    </a:solidFill>
                    <a:latin typeface="Consolas"/>
                    <a:ea typeface="Consolas"/>
                    <a:cs typeface="Consolas"/>
                  </a:rPr>
                  <a:t>okulNo String</a:t>
                </a:r>
              </a:p>
            </p:txBody>
          </p:sp>
          <p:sp>
            <p:nvSpPr>
              <p:cNvPr id="19" name="TextBox 19"/>
              <p:cNvSpPr txBox="1"/>
              <p:nvPr/>
            </p:nvSpPr>
            <p:spPr>
              <a:xfrm>
                <a:off x="833247" y="2485549"/>
                <a:ext cx="824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t>
                </a:r>
              </a:p>
            </p:txBody>
          </p:sp>
        </p:grpSp>
        <p:sp>
          <p:nvSpPr>
            <p:cNvPr id="21" name="TextBox 21"/>
            <p:cNvSpPr txBox="1"/>
            <p:nvPr/>
          </p:nvSpPr>
          <p:spPr>
            <a:xfrm>
              <a:off x="832866" y="2858452"/>
              <a:ext cx="2531463"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Var olan satırların bu alanı yoktur;</a:t>
              </a:r>
            </a:p>
          </p:txBody>
        </p:sp>
        <p:sp>
          <p:nvSpPr>
            <p:cNvPr id="22" name="TextBox 22"/>
            <p:cNvSpPr txBox="1"/>
            <p:nvPr/>
          </p:nvSpPr>
          <p:spPr>
            <a:xfrm>
              <a:off x="832866" y="3048952"/>
              <a:ext cx="201078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migration başarısız olabilir.</a:t>
              </a:r>
            </a:p>
          </p:txBody>
        </p:sp>
        <p:sp>
          <p:nvSpPr>
            <p:cNvPr id="23" name="TextBox 23"/>
            <p:cNvSpPr txBox="1"/>
            <p:nvPr/>
          </p:nvSpPr>
          <p:spPr>
            <a:xfrm>
              <a:off x="832866" y="3315652"/>
              <a:ext cx="2312437"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Sorun: geçiş planı düşünülmemiş.</a:t>
              </a:r>
            </a:p>
          </p:txBody>
        </p:sp>
        <p:sp>
          <p:nvSpPr>
            <p:cNvPr id="24" name="Rectangle 24"/>
            <p:cNvSpPr/>
            <p:nvPr/>
          </p:nvSpPr>
          <p:spPr>
            <a:xfrm>
              <a:off x="6229350" y="1181100"/>
              <a:ext cx="5353050" cy="2857500"/>
            </a:xfrm>
            <a:prstGeom prst="roundRect">
              <a:avLst>
                <a:gd name="adj" fmla="val 2667"/>
              </a:avLst>
            </a:prstGeom>
            <a:solidFill>
              <a:srgbClr val="FFFFFF"/>
            </a:solidFill>
            <a:ln w="14288">
              <a:solidFill>
                <a:srgbClr val="00A6A6"/>
              </a:solidFill>
            </a:ln>
          </p:spPr>
        </p:sp>
        <p:sp>
          <p:nvSpPr>
            <p:cNvPr id="25" name="Rectangle 25"/>
            <p:cNvSpPr/>
            <p:nvPr/>
          </p:nvSpPr>
          <p:spPr>
            <a:xfrm>
              <a:off x="6229350" y="1181100"/>
              <a:ext cx="5353050" cy="381000"/>
            </a:xfrm>
            <a:prstGeom prst="roundRect">
              <a:avLst>
                <a:gd name="adj" fmla="val 20000"/>
              </a:avLst>
            </a:prstGeom>
            <a:solidFill>
              <a:srgbClr val="EAF4F6"/>
            </a:solidFill>
            <a:ln>
              <a:noFill/>
            </a:ln>
          </p:spPr>
        </p:sp>
        <p:sp>
          <p:nvSpPr>
            <p:cNvPr id="26" name="TextBox 26"/>
            <p:cNvSpPr txBox="1"/>
            <p:nvPr/>
          </p:nvSpPr>
          <p:spPr>
            <a:xfrm>
              <a:off x="6451854" y="1299210"/>
              <a:ext cx="1969331"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Doğru: aşamalı geçiş</a:t>
              </a:r>
            </a:p>
          </p:txBody>
        </p:sp>
        <p:grpSp>
          <p:nvGrpSpPr>
            <p:cNvPr id="32" name="Group 32"/>
            <p:cNvGrpSpPr/>
            <p:nvPr/>
          </p:nvGrpSpPr>
          <p:grpSpPr>
            <a:xfrm>
              <a:off x="6452997" y="1723549"/>
              <a:ext cx="1035332" cy="952690"/>
              <a:chOff x="6452997" y="1723549"/>
              <a:chExt cx="1035332" cy="952690"/>
            </a:xfrm>
          </p:grpSpPr>
          <p:sp>
            <p:nvSpPr>
              <p:cNvPr id="27" name="TextBox 27"/>
              <p:cNvSpPr txBox="1"/>
              <p:nvPr/>
            </p:nvSpPr>
            <p:spPr>
              <a:xfrm>
                <a:off x="6452997" y="1723549"/>
                <a:ext cx="88610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model User {</a:t>
                </a:r>
              </a:p>
            </p:txBody>
          </p:sp>
          <p:sp>
            <p:nvSpPr>
              <p:cNvPr id="28" name="TextBox 28"/>
              <p:cNvSpPr txBox="1"/>
              <p:nvPr/>
            </p:nvSpPr>
            <p:spPr>
              <a:xfrm>
                <a:off x="6452997" y="1914049"/>
                <a:ext cx="74137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id Int @id</a:t>
                </a:r>
              </a:p>
            </p:txBody>
          </p:sp>
          <p:sp>
            <p:nvSpPr>
              <p:cNvPr id="29" name="TextBox 29"/>
              <p:cNvSpPr txBox="1"/>
              <p:nvPr/>
            </p:nvSpPr>
            <p:spPr>
              <a:xfrm>
                <a:off x="6452997" y="2104549"/>
                <a:ext cx="103459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adSoyad String</a:t>
                </a:r>
              </a:p>
            </p:txBody>
          </p:sp>
          <p:sp>
            <p:nvSpPr>
              <p:cNvPr id="30" name="TextBox 30"/>
              <p:cNvSpPr txBox="1"/>
              <p:nvPr/>
            </p:nvSpPr>
            <p:spPr>
              <a:xfrm>
                <a:off x="6452997" y="2295049"/>
                <a:ext cx="1035332"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okulNo String?</a:t>
                </a:r>
              </a:p>
            </p:txBody>
          </p:sp>
          <p:sp>
            <p:nvSpPr>
              <p:cNvPr id="31" name="TextBox 31"/>
              <p:cNvSpPr txBox="1"/>
              <p:nvPr/>
            </p:nvSpPr>
            <p:spPr>
              <a:xfrm>
                <a:off x="6452997" y="2485549"/>
                <a:ext cx="824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t>
                </a:r>
              </a:p>
            </p:txBody>
          </p:sp>
        </p:grpSp>
        <p:sp>
          <p:nvSpPr>
            <p:cNvPr id="33" name="TextBox 33"/>
            <p:cNvSpPr txBox="1"/>
            <p:nvPr/>
          </p:nvSpPr>
          <p:spPr>
            <a:xfrm>
              <a:off x="6452616" y="2858452"/>
              <a:ext cx="265138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İlk migration alanı isteğe bağlı ekler;</a:t>
              </a:r>
            </a:p>
          </p:txBody>
        </p:sp>
        <p:sp>
          <p:nvSpPr>
            <p:cNvPr id="34" name="TextBox 34"/>
            <p:cNvSpPr txBox="1"/>
            <p:nvPr/>
          </p:nvSpPr>
          <p:spPr>
            <a:xfrm>
              <a:off x="6452616" y="3048952"/>
              <a:ext cx="222281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eski kayıtlar düzeltilir, sonraki</a:t>
              </a:r>
            </a:p>
          </p:txBody>
        </p:sp>
        <p:sp>
          <p:nvSpPr>
            <p:cNvPr id="35" name="TextBox 35"/>
            <p:cNvSpPr txBox="1"/>
            <p:nvPr/>
          </p:nvSpPr>
          <p:spPr>
            <a:xfrm>
              <a:off x="6452616" y="3239452"/>
              <a:ext cx="232882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migration alanı zorunlu yapabilir.</a:t>
              </a:r>
            </a:p>
          </p:txBody>
        </p:sp>
      </p:grpSp>
      <p:grpSp>
        <p:nvGrpSpPr>
          <p:cNvPr id="44" name="other-mistakes"/>
          <p:cNvGrpSpPr/>
          <p:nvPr/>
        </p:nvGrpSpPr>
        <p:grpSpPr>
          <a:xfrm>
            <a:off x="609600" y="4267200"/>
            <a:ext cx="10972800" cy="1600200"/>
            <a:chOff x="609600" y="4267200"/>
            <a:chExt cx="10972800" cy="1600200"/>
          </a:xfrm>
        </p:grpSpPr>
        <p:sp>
          <p:nvSpPr>
            <p:cNvPr id="37" name="Rectangle 37"/>
            <p:cNvSpPr/>
            <p:nvPr/>
          </p:nvSpPr>
          <p:spPr>
            <a:xfrm>
              <a:off x="609600" y="4267200"/>
              <a:ext cx="10972800" cy="1600200"/>
            </a:xfrm>
            <a:prstGeom prst="roundRect">
              <a:avLst>
                <a:gd name="adj" fmla="val 4762"/>
              </a:avLst>
            </a:prstGeom>
            <a:solidFill>
              <a:srgbClr val="EAF4F6"/>
            </a:solidFill>
            <a:ln>
              <a:noFill/>
            </a:ln>
          </p:spPr>
        </p:sp>
        <p:sp>
          <p:nvSpPr>
            <p:cNvPr id="38" name="Rectangle 38"/>
            <p:cNvSpPr/>
            <p:nvPr/>
          </p:nvSpPr>
          <p:spPr>
            <a:xfrm>
              <a:off x="609600" y="4267200"/>
              <a:ext cx="57150" cy="1600200"/>
            </a:xfrm>
            <a:prstGeom prst="rect">
              <a:avLst/>
            </a:prstGeom>
            <a:solidFill>
              <a:srgbClr val="00A6A6"/>
            </a:solidFill>
            <a:ln>
              <a:noFill/>
            </a:ln>
          </p:spPr>
        </p:sp>
        <p:sp>
          <p:nvSpPr>
            <p:cNvPr id="39" name="TextBox 39"/>
            <p:cNvSpPr txBox="1"/>
            <p:nvPr/>
          </p:nvSpPr>
          <p:spPr>
            <a:xfrm>
              <a:off x="906399" y="4382929"/>
              <a:ext cx="188788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Diğer sık hatalar</a:t>
              </a:r>
            </a:p>
          </p:txBody>
        </p:sp>
        <p:sp>
          <p:nvSpPr>
            <p:cNvPr id="40" name="TextBox 40"/>
            <p:cNvSpPr txBox="1"/>
            <p:nvPr/>
          </p:nvSpPr>
          <p:spPr>
            <a:xfrm>
              <a:off x="908304" y="4709160"/>
              <a:ext cx="6317652"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İkinci hata: migration dosyasını üretime uygulandıktan sonra elle değiştirmek.</a:t>
              </a:r>
            </a:p>
          </p:txBody>
        </p:sp>
        <p:sp>
          <p:nvSpPr>
            <p:cNvPr id="41" name="TextBox 41"/>
            <p:cNvSpPr txBox="1"/>
            <p:nvPr/>
          </p:nvSpPr>
          <p:spPr>
            <a:xfrm>
              <a:off x="908304" y="4975860"/>
              <a:ext cx="486208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Üçüncü hata: migration'ı sürüm kontrolüne (Git) eklememek.</a:t>
              </a:r>
            </a:p>
          </p:txBody>
        </p:sp>
        <p:sp>
          <p:nvSpPr>
            <p:cNvPr id="42" name="TextBox 42"/>
            <p:cNvSpPr txBox="1"/>
            <p:nvPr/>
          </p:nvSpPr>
          <p:spPr>
            <a:xfrm>
              <a:off x="908304" y="5242560"/>
              <a:ext cx="6552086"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Dördüncü hata: migration komutunu veri kaybı uyarılarını okumadan çalıştırmak.</a:t>
              </a:r>
            </a:p>
          </p:txBody>
        </p:sp>
        <p:sp>
          <p:nvSpPr>
            <p:cNvPr id="43" name="TextBox 43"/>
            <p:cNvSpPr txBox="1"/>
            <p:nvPr/>
          </p:nvSpPr>
          <p:spPr>
            <a:xfrm>
              <a:off x="908304" y="5509260"/>
              <a:ext cx="4378919" cy="234696"/>
            </a:xfrm>
            <a:prstGeom prst="rect">
              <a:avLst/>
            </a:prstGeom>
            <a:noFill/>
            <a:ln>
              <a:noFill/>
            </a:ln>
          </p:spPr>
          <p:txBody>
            <a:bodyPr wrap="none" lIns="0" tIns="0" rIns="0" bIns="0" anchor="t" anchorCtr="0">
              <a:spAutoFit/>
            </a:bodyPr>
            <a:lstStyle/>
            <a:p>
              <a:pPr algn="l"/>
              <a:r>
                <a:rPr lang="tr-TR" sz="1200" dirty="0">
                  <a:solidFill>
                    <a:srgbClr val="172B3A"/>
                  </a:solidFill>
                  <a:latin typeface="+mn-lt"/>
                  <a:ea typeface="+mn-ea"/>
                  <a:cs typeface="+mn-cs"/>
                </a:rPr>
                <a:t>Her şema değişikliği önce örnek veriyle test edilmelidir.</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12 / 25</a:t>
            </a:r>
          </a:p>
        </p:txBody>
      </p:sp>
    </p:spTree>
  </p:cSld>
  <p:clrMapOvr>
    <a:masterClrMapping/>
  </p:clrMapOvr>
  <p:transition xmlns:p14="http://schemas.microsoft.com/office/powerpoint/2010/main" p14:dur="400">
    <p:fade/>
  </p:transition>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5939264" cy="668845"/>
            <a:chOff x="609600" y="171450"/>
            <a:chExt cx="5939264"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5248892"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Tür güvenli CRUD sorguları</a:t>
              </a:r>
            </a:p>
          </p:txBody>
        </p:sp>
      </p:grpSp>
      <p:grpSp>
        <p:nvGrpSpPr>
          <p:cNvPr id="31" name="code-block"/>
          <p:cNvGrpSpPr/>
          <p:nvPr/>
        </p:nvGrpSpPr>
        <p:grpSpPr>
          <a:xfrm>
            <a:off x="609600" y="1181100"/>
            <a:ext cx="5791200" cy="4953000"/>
            <a:chOff x="609600" y="1181100"/>
            <a:chExt cx="5791200" cy="4953000"/>
          </a:xfrm>
        </p:grpSpPr>
        <p:sp>
          <p:nvSpPr>
            <p:cNvPr id="12" name="Rectangle 12"/>
            <p:cNvSpPr/>
            <p:nvPr/>
          </p:nvSpPr>
          <p:spPr>
            <a:xfrm>
              <a:off x="609600" y="1181100"/>
              <a:ext cx="5791200" cy="4953000"/>
            </a:xfrm>
            <a:prstGeom prst="roundRect">
              <a:avLst>
                <a:gd name="adj" fmla="val 1538"/>
              </a:avLst>
            </a:prstGeom>
            <a:solidFill>
              <a:srgbClr val="0B2038"/>
            </a:solidFill>
            <a:ln>
              <a:noFill/>
            </a:ln>
          </p:spPr>
        </p:sp>
        <p:sp>
          <p:nvSpPr>
            <p:cNvPr id="13" name="TextBox 13"/>
            <p:cNvSpPr txBox="1"/>
            <p:nvPr/>
          </p:nvSpPr>
          <p:spPr>
            <a:xfrm>
              <a:off x="833247" y="1342549"/>
              <a:ext cx="662948"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create</a:t>
              </a:r>
            </a:p>
          </p:txBody>
        </p:sp>
        <p:sp>
          <p:nvSpPr>
            <p:cNvPr id="14" name="TextBox 14"/>
            <p:cNvSpPr txBox="1"/>
            <p:nvPr/>
          </p:nvSpPr>
          <p:spPr>
            <a:xfrm>
              <a:off x="833247" y="1533049"/>
              <a:ext cx="283975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yeni = await prisma.user.create({</a:t>
              </a:r>
            </a:p>
          </p:txBody>
        </p:sp>
        <p:sp>
          <p:nvSpPr>
            <p:cNvPr id="15" name="TextBox 15"/>
            <p:cNvSpPr txBox="1"/>
            <p:nvPr/>
          </p:nvSpPr>
          <p:spPr>
            <a:xfrm>
              <a:off x="1061847" y="1723549"/>
              <a:ext cx="227034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data: { adSoyad, epostaAdresi }</a:t>
              </a:r>
            </a:p>
          </p:txBody>
        </p:sp>
        <p:sp>
          <p:nvSpPr>
            <p:cNvPr id="16" name="TextBox 16"/>
            <p:cNvSpPr txBox="1"/>
            <p:nvPr/>
          </p:nvSpPr>
          <p:spPr>
            <a:xfrm>
              <a:off x="833247" y="19140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7" name="TextBox 17"/>
            <p:cNvSpPr txBox="1"/>
            <p:nvPr/>
          </p:nvSpPr>
          <p:spPr>
            <a:xfrm>
              <a:off x="833247" y="2218849"/>
              <a:ext cx="1466977"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findMany + select</a:t>
              </a:r>
            </a:p>
          </p:txBody>
        </p:sp>
        <p:sp>
          <p:nvSpPr>
            <p:cNvPr id="18" name="TextBox 18"/>
            <p:cNvSpPr txBox="1"/>
            <p:nvPr/>
          </p:nvSpPr>
          <p:spPr>
            <a:xfrm>
              <a:off x="833247" y="2409349"/>
              <a:ext cx="306266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liste = await prisma.user.findMany({</a:t>
              </a:r>
            </a:p>
          </p:txBody>
        </p:sp>
        <p:sp>
          <p:nvSpPr>
            <p:cNvPr id="19" name="TextBox 19"/>
            <p:cNvSpPr txBox="1"/>
            <p:nvPr/>
          </p:nvSpPr>
          <p:spPr>
            <a:xfrm>
              <a:off x="1061847" y="2599849"/>
              <a:ext cx="248302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select: { id: true, adSoyad: true,</a:t>
              </a:r>
            </a:p>
          </p:txBody>
        </p:sp>
        <p:sp>
          <p:nvSpPr>
            <p:cNvPr id="20" name="TextBox 20"/>
            <p:cNvSpPr txBox="1"/>
            <p:nvPr/>
          </p:nvSpPr>
          <p:spPr>
            <a:xfrm>
              <a:off x="1290447" y="2790349"/>
              <a:ext cx="146624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epostaAdresi: true }</a:t>
              </a:r>
            </a:p>
          </p:txBody>
        </p:sp>
        <p:sp>
          <p:nvSpPr>
            <p:cNvPr id="21" name="TextBox 21"/>
            <p:cNvSpPr txBox="1"/>
            <p:nvPr/>
          </p:nvSpPr>
          <p:spPr>
            <a:xfrm>
              <a:off x="833247" y="29808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2" name="TextBox 22"/>
            <p:cNvSpPr txBox="1"/>
            <p:nvPr/>
          </p:nvSpPr>
          <p:spPr>
            <a:xfrm>
              <a:off x="833247" y="3285649"/>
              <a:ext cx="1243429"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update + where</a:t>
              </a:r>
            </a:p>
          </p:txBody>
        </p:sp>
        <p:sp>
          <p:nvSpPr>
            <p:cNvPr id="23" name="TextBox 23"/>
            <p:cNvSpPr txBox="1"/>
            <p:nvPr/>
          </p:nvSpPr>
          <p:spPr>
            <a:xfrm>
              <a:off x="833247" y="3476149"/>
              <a:ext cx="262207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g = await prisma.user.update({</a:t>
              </a:r>
            </a:p>
          </p:txBody>
        </p:sp>
        <p:sp>
          <p:nvSpPr>
            <p:cNvPr id="24" name="TextBox 24"/>
            <p:cNvSpPr txBox="1"/>
            <p:nvPr/>
          </p:nvSpPr>
          <p:spPr>
            <a:xfrm>
              <a:off x="1061847" y="3666649"/>
              <a:ext cx="167879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where: { id: yeni.id },</a:t>
              </a:r>
            </a:p>
          </p:txBody>
        </p:sp>
        <p:sp>
          <p:nvSpPr>
            <p:cNvPr id="25" name="TextBox 25"/>
            <p:cNvSpPr txBox="1"/>
            <p:nvPr/>
          </p:nvSpPr>
          <p:spPr>
            <a:xfrm>
              <a:off x="1061847" y="3857149"/>
              <a:ext cx="227425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data: { adSoyad: "... Yılmaz" }</a:t>
              </a:r>
            </a:p>
          </p:txBody>
        </p:sp>
        <p:sp>
          <p:nvSpPr>
            <p:cNvPr id="26" name="TextBox 26"/>
            <p:cNvSpPr txBox="1"/>
            <p:nvPr/>
          </p:nvSpPr>
          <p:spPr>
            <a:xfrm>
              <a:off x="833247" y="40476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7" name="TextBox 27"/>
            <p:cNvSpPr txBox="1"/>
            <p:nvPr/>
          </p:nvSpPr>
          <p:spPr>
            <a:xfrm>
              <a:off x="833247" y="4352449"/>
              <a:ext cx="1243429"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delete + where</a:t>
              </a:r>
            </a:p>
          </p:txBody>
        </p:sp>
        <p:sp>
          <p:nvSpPr>
            <p:cNvPr id="28" name="TextBox 28"/>
            <p:cNvSpPr txBox="1"/>
            <p:nvPr/>
          </p:nvSpPr>
          <p:spPr>
            <a:xfrm>
              <a:off x="833247" y="4542949"/>
              <a:ext cx="189647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await prisma.user.delete({</a:t>
              </a:r>
            </a:p>
          </p:txBody>
        </p:sp>
        <p:sp>
          <p:nvSpPr>
            <p:cNvPr id="29" name="TextBox 29"/>
            <p:cNvSpPr txBox="1"/>
            <p:nvPr/>
          </p:nvSpPr>
          <p:spPr>
            <a:xfrm>
              <a:off x="1061847" y="4733449"/>
              <a:ext cx="160623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where: { id: yeni.id }</a:t>
              </a:r>
            </a:p>
          </p:txBody>
        </p:sp>
        <p:sp>
          <p:nvSpPr>
            <p:cNvPr id="30" name="TextBox 30"/>
            <p:cNvSpPr txBox="1"/>
            <p:nvPr/>
          </p:nvSpPr>
          <p:spPr>
            <a:xfrm>
              <a:off x="833247" y="49239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grpSp>
      <p:grpSp>
        <p:nvGrpSpPr>
          <p:cNvPr id="36" name="explain-panel"/>
          <p:cNvGrpSpPr/>
          <p:nvPr/>
        </p:nvGrpSpPr>
        <p:grpSpPr>
          <a:xfrm>
            <a:off x="6697599" y="1258729"/>
            <a:ext cx="4049233" cy="1875377"/>
            <a:chOff x="6697599" y="1258729"/>
            <a:chExt cx="4049233" cy="1875377"/>
          </a:xfrm>
        </p:grpSpPr>
        <p:sp>
          <p:nvSpPr>
            <p:cNvPr id="32" name="TextBox 32"/>
            <p:cNvSpPr txBox="1"/>
            <p:nvPr/>
          </p:nvSpPr>
          <p:spPr>
            <a:xfrm>
              <a:off x="6697599" y="1258729"/>
              <a:ext cx="404923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CRUD = Create, Read, Update, Delete</a:t>
              </a:r>
            </a:p>
          </p:txBody>
        </p:sp>
        <p:sp>
          <p:nvSpPr>
            <p:cNvPr id="33" name="TextBox 33"/>
            <p:cNvSpPr txBox="1"/>
            <p:nvPr/>
          </p:nvSpPr>
          <p:spPr>
            <a:xfrm>
              <a:off x="6699504" y="1604010"/>
              <a:ext cx="26410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create</a:t>
              </a:r>
              <a:r>
                <a:rPr lang="tr-TR" sz="1200" dirty="0">
                  <a:solidFill>
                    <a:srgbClr val="172B3A"/>
                  </a:solidFill>
                  <a:latin typeface="+mn-lt"/>
                  <a:ea typeface="+mn-ea"/>
                  <a:cs typeface="+mn-cs"/>
                </a:rPr>
                <a:t xml:space="preserve"> içindeki </a:t>
              </a:r>
              <a:r>
                <a:rPr lang="tr-TR" sz="1200" dirty="0">
                  <a:solidFill>
                    <a:srgbClr val="172B3A"/>
                  </a:solidFill>
                  <a:latin typeface="Consolas"/>
                  <a:ea typeface="Consolas"/>
                  <a:cs typeface="Consolas"/>
                </a:rPr>
                <a:t>data</a:t>
              </a:r>
              <a:r>
                <a:rPr lang="tr-TR" sz="1200" dirty="0">
                  <a:solidFill>
                    <a:srgbClr val="172B3A"/>
                  </a:solidFill>
                  <a:latin typeface="+mn-lt"/>
                  <a:ea typeface="+mn-ea"/>
                  <a:cs typeface="+mn-cs"/>
                </a:rPr>
                <a:t>, oluşturulacak</a:t>
              </a:r>
              <a:br/>
              <a:r>
                <a:rPr lang="tr-TR" sz="1200" dirty="0">
                  <a:solidFill>
                    <a:srgbClr val="172B3A"/>
                  </a:solidFill>
                  <a:latin typeface="+mn-lt"/>
                  <a:ea typeface="+mn-ea"/>
                  <a:cs typeface="+mn-cs"/>
                </a:rPr>
                <a:t>satırın değerlerini taşır.</a:t>
              </a:r>
            </a:p>
          </p:txBody>
        </p:sp>
        <p:sp>
          <p:nvSpPr>
            <p:cNvPr id="34" name="TextBox 34"/>
            <p:cNvSpPr txBox="1"/>
            <p:nvPr/>
          </p:nvSpPr>
          <p:spPr>
            <a:xfrm>
              <a:off x="6699504" y="2061210"/>
              <a:ext cx="25648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select</a:t>
              </a:r>
              <a:r>
                <a:rPr lang="tr-TR" sz="1200" dirty="0">
                  <a:solidFill>
                    <a:srgbClr val="172B3A"/>
                  </a:solidFill>
                  <a:latin typeface="+mn-lt"/>
                  <a:ea typeface="+mn-ea"/>
                  <a:cs typeface="+mn-cs"/>
                </a:rPr>
                <a:t xml:space="preserve"> ile yalnızca ihtiyaç duyulan</a:t>
              </a:r>
              <a:br/>
              <a:r>
                <a:rPr lang="tr-TR" sz="1200" dirty="0">
                  <a:solidFill>
                    <a:srgbClr val="172B3A"/>
                  </a:solidFill>
                  <a:latin typeface="+mn-lt"/>
                  <a:ea typeface="+mn-ea"/>
                  <a:cs typeface="+mn-cs"/>
                </a:rPr>
                <a:t>sütunlar seçilir.</a:t>
              </a:r>
            </a:p>
          </p:txBody>
        </p:sp>
        <p:sp>
          <p:nvSpPr>
            <p:cNvPr id="35" name="TextBox 35"/>
            <p:cNvSpPr txBox="1"/>
            <p:nvPr/>
          </p:nvSpPr>
          <p:spPr>
            <a:xfrm>
              <a:off x="6699504" y="2518410"/>
              <a:ext cx="28087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update</a:t>
              </a:r>
              <a:r>
                <a:rPr lang="tr-TR" sz="1200" dirty="0">
                  <a:solidFill>
                    <a:srgbClr val="172B3A"/>
                  </a:solidFill>
                  <a:latin typeface="+mn-lt"/>
                  <a:ea typeface="+mn-ea"/>
                  <a:cs typeface="+mn-cs"/>
                </a:rPr>
                <a:t>/</a:t>
              </a:r>
              <a:r>
                <a:rPr lang="tr-TR" sz="1200" dirty="0">
                  <a:solidFill>
                    <a:srgbClr val="172B3A"/>
                  </a:solidFill>
                  <a:latin typeface="Consolas"/>
                  <a:ea typeface="Consolas"/>
                  <a:cs typeface="Consolas"/>
                </a:rPr>
                <a:t>delete</a:t>
              </a:r>
              <a:r>
                <a:rPr lang="tr-TR" sz="1200" dirty="0">
                  <a:solidFill>
                    <a:srgbClr val="172B3A"/>
                  </a:solidFill>
                  <a:latin typeface="+mn-lt"/>
                  <a:ea typeface="+mn-ea"/>
                  <a:cs typeface="+mn-cs"/>
                </a:rPr>
                <a:t>, etkilenecek kaydı</a:t>
              </a:r>
              <a:br/>
              <a:r>
                <a:rPr lang="tr-TR" sz="1200" dirty="0">
                  <a:solidFill>
                    <a:srgbClr val="172B3A"/>
                  </a:solidFill>
                  <a:latin typeface="Consolas"/>
                  <a:ea typeface="Consolas"/>
                  <a:cs typeface="Consolas"/>
                </a:rPr>
                <a:t>where</a:t>
              </a:r>
              <a:r>
                <a:rPr lang="tr-TR" sz="1200" dirty="0">
                  <a:solidFill>
                    <a:srgbClr val="172B3A"/>
                  </a:solidFill>
                  <a:latin typeface="+mn-lt"/>
                  <a:ea typeface="+mn-ea"/>
                  <a:cs typeface="+mn-cs"/>
                </a:rPr>
                <a:t xml:space="preserve"> ile belirler; birincil anahtar</a:t>
              </a:r>
              <a:br/>
              <a:r>
                <a:rPr lang="tr-TR" sz="1200" dirty="0">
                  <a:solidFill>
                    <a:srgbClr val="172B3A"/>
                  </a:solidFill>
                  <a:latin typeface="+mn-lt"/>
                  <a:ea typeface="+mn-ea"/>
                  <a:cs typeface="+mn-cs"/>
                </a:rPr>
                <a:t>üzerinden filtrelemek en güvenlisidir.</a:t>
              </a:r>
            </a:p>
          </p:txBody>
        </p:sp>
      </p:grpSp>
      <p:grpSp>
        <p:nvGrpSpPr>
          <p:cNvPr id="41" name="type-safety-note"/>
          <p:cNvGrpSpPr/>
          <p:nvPr/>
        </p:nvGrpSpPr>
        <p:grpSpPr>
          <a:xfrm>
            <a:off x="6705600" y="4191000"/>
            <a:ext cx="4876800" cy="990600"/>
            <a:chOff x="6705600" y="4191000"/>
            <a:chExt cx="4876800" cy="990600"/>
          </a:xfrm>
        </p:grpSpPr>
        <p:sp>
          <p:nvSpPr>
            <p:cNvPr id="37" name="Rectangle 37"/>
            <p:cNvSpPr/>
            <p:nvPr/>
          </p:nvSpPr>
          <p:spPr>
            <a:xfrm>
              <a:off x="6705600" y="4191000"/>
              <a:ext cx="4876800" cy="990600"/>
            </a:xfrm>
            <a:prstGeom prst="roundRect">
              <a:avLst>
                <a:gd name="adj" fmla="val 7692"/>
              </a:avLst>
            </a:prstGeom>
            <a:solidFill>
              <a:srgbClr val="EAF4F6"/>
            </a:solidFill>
            <a:ln>
              <a:noFill/>
            </a:ln>
          </p:spPr>
        </p:sp>
        <p:sp>
          <p:nvSpPr>
            <p:cNvPr id="38" name="Rectangle 38"/>
            <p:cNvSpPr/>
            <p:nvPr/>
          </p:nvSpPr>
          <p:spPr>
            <a:xfrm>
              <a:off x="6705600" y="4191000"/>
              <a:ext cx="57150" cy="990600"/>
            </a:xfrm>
            <a:prstGeom prst="rect">
              <a:avLst/>
            </a:prstGeom>
            <a:solidFill>
              <a:srgbClr val="00A6A6"/>
            </a:solidFill>
            <a:ln>
              <a:noFill/>
            </a:ln>
          </p:spPr>
        </p:sp>
        <p:sp>
          <p:nvSpPr>
            <p:cNvPr id="39" name="TextBox 39"/>
            <p:cNvSpPr txBox="1"/>
            <p:nvPr/>
          </p:nvSpPr>
          <p:spPr>
            <a:xfrm>
              <a:off x="6928104" y="4309110"/>
              <a:ext cx="1731070"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Şemadan tip türetme</a:t>
              </a:r>
            </a:p>
          </p:txBody>
        </p:sp>
        <p:sp>
          <p:nvSpPr>
            <p:cNvPr id="40" name="TextBox 40"/>
            <p:cNvSpPr txBox="1"/>
            <p:nvPr/>
          </p:nvSpPr>
          <p:spPr>
            <a:xfrm>
              <a:off x="6928104" y="4556760"/>
              <a:ext cx="25572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epostaAdres</a:t>
              </a:r>
              <a:r>
                <a:rPr lang="tr-TR" sz="1200" dirty="0">
                  <a:solidFill>
                    <a:srgbClr val="172B3A"/>
                  </a:solidFill>
                  <a:latin typeface="+mn-lt"/>
                  <a:ea typeface="+mn-ea"/>
                  <a:cs typeface="+mn-cs"/>
                </a:rPr>
                <a:t xml:space="preserve"> gibi yanlış alan adı,</a:t>
              </a:r>
              <a:br/>
              <a:r>
                <a:rPr lang="tr-TR" sz="1200" dirty="0">
                  <a:solidFill>
                    <a:srgbClr val="172B3A"/>
                  </a:solidFill>
                  <a:latin typeface="+mn-lt"/>
                  <a:ea typeface="+mn-ea"/>
                  <a:cs typeface="+mn-cs"/>
                </a:rPr>
                <a:t>uygulama çalışmadan önce derleme</a:t>
              </a:r>
              <a:br/>
              <a:r>
                <a:rPr lang="tr-TR" sz="1200" dirty="0">
                  <a:solidFill>
                    <a:srgbClr val="172B3A"/>
                  </a:solidFill>
                  <a:latin typeface="+mn-lt"/>
                  <a:ea typeface="+mn-ea"/>
                  <a:cs typeface="+mn-cs"/>
                </a:rPr>
                <a:t>hatası olarak gösterilir.</a:t>
              </a:r>
            </a:p>
          </p:txBody>
        </p:sp>
      </p:grpSp>
      <p:grpSp>
        <p:nvGrpSpPr>
          <p:cNvPr id="44" name="scope-note"/>
          <p:cNvGrpSpPr/>
          <p:nvPr/>
        </p:nvGrpSpPr>
        <p:grpSpPr>
          <a:xfrm>
            <a:off x="6699504" y="5471160"/>
            <a:ext cx="4293108" cy="444246"/>
            <a:chOff x="6699504" y="5471160"/>
            <a:chExt cx="4293108" cy="444246"/>
          </a:xfrm>
        </p:grpSpPr>
        <p:sp>
          <p:nvSpPr>
            <p:cNvPr id="42" name="TextBox 42"/>
            <p:cNvSpPr txBox="1"/>
            <p:nvPr/>
          </p:nvSpPr>
          <p:spPr>
            <a:xfrm>
              <a:off x="6699504" y="5471160"/>
              <a:ext cx="3644257"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Tür sistemi yapısal hataları yakalar; e-posta</a:t>
              </a:r>
            </a:p>
          </p:txBody>
        </p:sp>
        <p:sp>
          <p:nvSpPr>
            <p:cNvPr id="43" name="TextBox 43"/>
            <p:cNvSpPr txBox="1"/>
            <p:nvPr/>
          </p:nvSpPr>
          <p:spPr>
            <a:xfrm>
              <a:off x="6699504" y="5680710"/>
              <a:ext cx="4293108"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biçiminin geçerliliği gibi iş kurallarının yerine geçmez.</a:t>
              </a:r>
            </a:p>
          </p:txBody>
        </p:sp>
      </p:grpSp>
      <p:sp>
        <p:nvSpPr>
          <p:cNvPr id="45" name="TextBox 4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13 / 25</a:t>
            </a:r>
          </a:p>
        </p:txBody>
      </p:sp>
    </p:spTree>
  </p:cSld>
  <p:clrMapOvr>
    <a:masterClrMapping/>
  </p:clrMapOvr>
  <p:transition xmlns:p14="http://schemas.microsoft.com/office/powerpoint/2010/main" p14:dur="400">
    <p:fade/>
  </p:transition>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534447" cy="557403"/>
            <a:chOff x="595122" y="282892"/>
            <a:chExt cx="7534447" cy="557403"/>
          </a:xfrm>
        </p:grpSpPr>
        <p:sp>
          <p:nvSpPr>
            <p:cNvPr id="4" name="TextBox 4"/>
            <p:cNvSpPr txBox="1"/>
            <p:nvPr/>
          </p:nvSpPr>
          <p:spPr>
            <a:xfrm>
              <a:off x="595122" y="282892"/>
              <a:ext cx="753444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findUnique ile benzersiz alandan arama</a:t>
              </a:r>
            </a:p>
          </p:txBody>
        </p:sp>
      </p:grpSp>
      <p:grpSp>
        <p:nvGrpSpPr>
          <p:cNvPr id="17" name="code-block"/>
          <p:cNvGrpSpPr/>
          <p:nvPr/>
        </p:nvGrpSpPr>
        <p:grpSpPr>
          <a:xfrm>
            <a:off x="609600" y="1181100"/>
            <a:ext cx="5791200" cy="2857500"/>
            <a:chOff x="609600" y="1181100"/>
            <a:chExt cx="5791200" cy="2857500"/>
          </a:xfrm>
        </p:grpSpPr>
        <p:sp>
          <p:nvSpPr>
            <p:cNvPr id="6" name="Rectangle 6"/>
            <p:cNvSpPr/>
            <p:nvPr/>
          </p:nvSpPr>
          <p:spPr>
            <a:xfrm>
              <a:off x="609600" y="1181100"/>
              <a:ext cx="5791200" cy="2857500"/>
            </a:xfrm>
            <a:prstGeom prst="roundRect">
              <a:avLst>
                <a:gd name="adj" fmla="val 2667"/>
              </a:avLst>
            </a:prstGeom>
            <a:solidFill>
              <a:srgbClr val="0B2038"/>
            </a:solidFill>
            <a:ln>
              <a:noFill/>
            </a:ln>
          </p:spPr>
        </p:sp>
        <p:sp>
          <p:nvSpPr>
            <p:cNvPr id="7" name="TextBox 7"/>
            <p:cNvSpPr txBox="1"/>
            <p:nvPr/>
          </p:nvSpPr>
          <p:spPr>
            <a:xfrm>
              <a:off x="833247" y="1342549"/>
              <a:ext cx="240439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bulunan = await prisma.user</a:t>
              </a:r>
            </a:p>
          </p:txBody>
        </p:sp>
        <p:sp>
          <p:nvSpPr>
            <p:cNvPr id="8" name="TextBox 8"/>
            <p:cNvSpPr txBox="1"/>
            <p:nvPr/>
          </p:nvSpPr>
          <p:spPr>
            <a:xfrm>
              <a:off x="1061847" y="1533049"/>
              <a:ext cx="95852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.findUnique({</a:t>
              </a:r>
            </a:p>
          </p:txBody>
        </p:sp>
        <p:sp>
          <p:nvSpPr>
            <p:cNvPr id="9" name="TextBox 9"/>
            <p:cNvSpPr txBox="1"/>
            <p:nvPr/>
          </p:nvSpPr>
          <p:spPr>
            <a:xfrm>
              <a:off x="1061847" y="1723549"/>
              <a:ext cx="161154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where: { epostaAdresi:</a:t>
              </a:r>
            </a:p>
          </p:txBody>
        </p:sp>
        <p:sp>
          <p:nvSpPr>
            <p:cNvPr id="10" name="TextBox 10"/>
            <p:cNvSpPr txBox="1"/>
            <p:nvPr/>
          </p:nvSpPr>
          <p:spPr>
            <a:xfrm>
              <a:off x="1290447" y="1914049"/>
              <a:ext cx="189647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"ayse.demir@example.com" }</a:t>
              </a:r>
            </a:p>
          </p:txBody>
        </p:sp>
        <p:sp>
          <p:nvSpPr>
            <p:cNvPr id="11" name="TextBox 11"/>
            <p:cNvSpPr txBox="1"/>
            <p:nvPr/>
          </p:nvSpPr>
          <p:spPr>
            <a:xfrm>
              <a:off x="833247" y="21045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2" name="TextBox 12"/>
            <p:cNvSpPr txBox="1"/>
            <p:nvPr/>
          </p:nvSpPr>
          <p:spPr>
            <a:xfrm>
              <a:off x="833247" y="2409349"/>
              <a:ext cx="1678790"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if (bulunan === null) {</a:t>
              </a:r>
            </a:p>
          </p:txBody>
        </p:sp>
        <p:sp>
          <p:nvSpPr>
            <p:cNvPr id="13" name="TextBox 13"/>
            <p:cNvSpPr txBox="1"/>
            <p:nvPr/>
          </p:nvSpPr>
          <p:spPr>
            <a:xfrm>
              <a:off x="1061847" y="2599849"/>
              <a:ext cx="197457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console.log("Bulunamadı.");</a:t>
              </a:r>
            </a:p>
          </p:txBody>
        </p:sp>
        <p:sp>
          <p:nvSpPr>
            <p:cNvPr id="14" name="TextBox 14"/>
            <p:cNvSpPr txBox="1"/>
            <p:nvPr/>
          </p:nvSpPr>
          <p:spPr>
            <a:xfrm>
              <a:off x="1061847" y="2790349"/>
              <a:ext cx="51782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return;</a:t>
              </a:r>
            </a:p>
          </p:txBody>
        </p:sp>
        <p:sp>
          <p:nvSpPr>
            <p:cNvPr id="15" name="TextBox 15"/>
            <p:cNvSpPr txBox="1"/>
            <p:nvPr/>
          </p:nvSpPr>
          <p:spPr>
            <a:xfrm>
              <a:off x="833247" y="2980849"/>
              <a:ext cx="82466"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a:t>
              </a:r>
            </a:p>
          </p:txBody>
        </p:sp>
        <p:sp>
          <p:nvSpPr>
            <p:cNvPr id="16" name="TextBox 16"/>
            <p:cNvSpPr txBox="1"/>
            <p:nvPr/>
          </p:nvSpPr>
          <p:spPr>
            <a:xfrm>
              <a:off x="833247" y="3285649"/>
              <a:ext cx="1620131"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Kod 8.7: findUnique</a:t>
              </a:r>
            </a:p>
          </p:txBody>
        </p:sp>
      </p:grpSp>
      <p:grpSp>
        <p:nvGrpSpPr>
          <p:cNvPr id="38" name="decision-table"/>
          <p:cNvGrpSpPr/>
          <p:nvPr/>
        </p:nvGrpSpPr>
        <p:grpSpPr>
          <a:xfrm>
            <a:off x="609600" y="4229100"/>
            <a:ext cx="5791200" cy="1905000"/>
            <a:chOff x="609600" y="4229100"/>
            <a:chExt cx="5791200" cy="1905000"/>
          </a:xfrm>
        </p:grpSpPr>
        <p:sp>
          <p:nvSpPr>
            <p:cNvPr id="18" name="Rectangle 18"/>
            <p:cNvSpPr/>
            <p:nvPr/>
          </p:nvSpPr>
          <p:spPr>
            <a:xfrm>
              <a:off x="609600" y="4229100"/>
              <a:ext cx="5791200" cy="1905000"/>
            </a:xfrm>
            <a:prstGeom prst="roundRect">
              <a:avLst>
                <a:gd name="adj" fmla="val 4000"/>
              </a:avLst>
            </a:prstGeom>
            <a:solidFill>
              <a:srgbClr val="FFFFFF"/>
            </a:solidFill>
            <a:ln w="9525">
              <a:solidFill>
                <a:srgbClr val="B8CBD3"/>
              </a:solidFill>
            </a:ln>
          </p:spPr>
        </p:sp>
        <p:sp>
          <p:nvSpPr>
            <p:cNvPr id="19" name="Rectangle 19"/>
            <p:cNvSpPr/>
            <p:nvPr/>
          </p:nvSpPr>
          <p:spPr>
            <a:xfrm>
              <a:off x="609600" y="4229100"/>
              <a:ext cx="5791200" cy="342900"/>
            </a:xfrm>
            <a:prstGeom prst="rect">
              <a:avLst/>
            </a:prstGeom>
            <a:solidFill>
              <a:srgbClr val="12355B"/>
            </a:solidFill>
            <a:ln>
              <a:noFill/>
            </a:ln>
          </p:spPr>
        </p:sp>
        <p:sp>
          <p:nvSpPr>
            <p:cNvPr id="20" name="TextBox 20"/>
            <p:cNvSpPr txBox="1"/>
            <p:nvPr/>
          </p:nvSpPr>
          <p:spPr>
            <a:xfrm>
              <a:off x="832866" y="4344352"/>
              <a:ext cx="473286"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İŞLEM</a:t>
              </a:r>
            </a:p>
          </p:txBody>
        </p:sp>
        <p:sp>
          <p:nvSpPr>
            <p:cNvPr id="21" name="TextBox 21"/>
            <p:cNvSpPr txBox="1"/>
            <p:nvPr/>
          </p:nvSpPr>
          <p:spPr>
            <a:xfrm>
              <a:off x="3042666" y="4344352"/>
              <a:ext cx="559537"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YÖNTEM</a:t>
              </a:r>
            </a:p>
          </p:txBody>
        </p:sp>
        <p:sp>
          <p:nvSpPr>
            <p:cNvPr id="22" name="TextBox 22"/>
            <p:cNvSpPr txBox="1"/>
            <p:nvPr/>
          </p:nvSpPr>
          <p:spPr>
            <a:xfrm>
              <a:off x="4661916" y="4344352"/>
              <a:ext cx="355671" cy="205359"/>
            </a:xfrm>
            <a:prstGeom prst="rect">
              <a:avLst/>
            </a:prstGeom>
            <a:noFill/>
            <a:ln>
              <a:noFill/>
            </a:ln>
          </p:spPr>
          <p:txBody>
            <a:bodyPr wrap="none" lIns="0" tIns="0" rIns="0" bIns="0" anchor="t" anchorCtr="0">
              <a:spAutoFit/>
            </a:bodyPr>
            <a:lstStyle/>
            <a:p>
              <a:pPr algn="l"/>
              <a:r>
                <a:rPr lang="tr-TR" sz="1050" b="1" dirty="0">
                  <a:solidFill>
                    <a:srgbClr val="FFFFFF"/>
                  </a:solidFill>
                  <a:latin typeface="+mn-lt"/>
                  <a:ea typeface="+mn-ea"/>
                  <a:cs typeface="+mn-cs"/>
                </a:rPr>
                <a:t>FARK</a:t>
              </a:r>
            </a:p>
          </p:txBody>
        </p:sp>
        <p:sp>
          <p:nvSpPr>
            <p:cNvPr id="23" name="TextBox 23"/>
            <p:cNvSpPr txBox="1"/>
            <p:nvPr/>
          </p:nvSpPr>
          <p:spPr>
            <a:xfrm>
              <a:off x="832866" y="4668202"/>
              <a:ext cx="138633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Tek benzersiz kayıt</a:t>
              </a:r>
            </a:p>
          </p:txBody>
        </p:sp>
        <p:sp>
          <p:nvSpPr>
            <p:cNvPr id="24" name="TextBox 24"/>
            <p:cNvSpPr txBox="1"/>
            <p:nvPr/>
          </p:nvSpPr>
          <p:spPr>
            <a:xfrm>
              <a:off x="3042666" y="4668202"/>
              <a:ext cx="792499"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findUnique</a:t>
              </a:r>
            </a:p>
          </p:txBody>
        </p:sp>
        <p:sp>
          <p:nvSpPr>
            <p:cNvPr id="25" name="TextBox 25"/>
            <p:cNvSpPr txBox="1"/>
            <p:nvPr/>
          </p:nvSpPr>
          <p:spPr>
            <a:xfrm>
              <a:off x="4662297" y="4676299"/>
              <a:ext cx="1296200"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benzersiz alan ister</a:t>
              </a:r>
            </a:p>
          </p:txBody>
        </p:sp>
        <p:sp>
          <p:nvSpPr>
            <p:cNvPr id="26" name="Line 26"/>
            <p:cNvSpPr/>
            <p:nvPr/>
          </p:nvSpPr>
          <p:spPr>
            <a:xfrm>
              <a:off x="762000" y="4914900"/>
              <a:ext cx="5486400" cy="9525"/>
            </a:xfrm>
            <a:custGeom>
              <a:avLst/>
              <a:gdLst/>
              <a:ahLst/>
              <a:cxnLst/>
              <a:rect l="l" t="t" r="r" b="b"/>
              <a:pathLst>
                <a:path w="5486400" h="9525">
                  <a:moveTo>
                    <a:pt x="0" y="0"/>
                  </a:moveTo>
                  <a:lnTo>
                    <a:pt x="5486400" y="0"/>
                  </a:lnTo>
                </a:path>
              </a:pathLst>
            </a:custGeom>
            <a:noFill/>
            <a:ln w="9525">
              <a:solidFill>
                <a:srgbClr val="B8CBD3"/>
              </a:solidFill>
            </a:ln>
          </p:spPr>
        </p:sp>
        <p:sp>
          <p:nvSpPr>
            <p:cNvPr id="27" name="TextBox 27"/>
            <p:cNvSpPr txBox="1"/>
            <p:nvPr/>
          </p:nvSpPr>
          <p:spPr>
            <a:xfrm>
              <a:off x="832866" y="5011102"/>
              <a:ext cx="1478251"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Çoklu / belirsiz kayıt</a:t>
              </a:r>
            </a:p>
          </p:txBody>
        </p:sp>
        <p:sp>
          <p:nvSpPr>
            <p:cNvPr id="28" name="TextBox 28"/>
            <p:cNvSpPr txBox="1"/>
            <p:nvPr/>
          </p:nvSpPr>
          <p:spPr>
            <a:xfrm>
              <a:off x="3042666" y="5011102"/>
              <a:ext cx="714756"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findFirst</a:t>
              </a:r>
            </a:p>
          </p:txBody>
        </p:sp>
        <p:sp>
          <p:nvSpPr>
            <p:cNvPr id="29" name="TextBox 29"/>
            <p:cNvSpPr txBox="1"/>
            <p:nvPr/>
          </p:nvSpPr>
          <p:spPr>
            <a:xfrm>
              <a:off x="4662297" y="5019199"/>
              <a:ext cx="1467706"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soyada göre arama gibi</a:t>
              </a:r>
            </a:p>
          </p:txBody>
        </p:sp>
        <p:sp>
          <p:nvSpPr>
            <p:cNvPr id="30" name="Line 30"/>
            <p:cNvSpPr/>
            <p:nvPr/>
          </p:nvSpPr>
          <p:spPr>
            <a:xfrm>
              <a:off x="762000" y="5257800"/>
              <a:ext cx="5486400" cy="9525"/>
            </a:xfrm>
            <a:custGeom>
              <a:avLst/>
              <a:gdLst/>
              <a:ahLst/>
              <a:cxnLst/>
              <a:rect l="l" t="t" r="r" b="b"/>
              <a:pathLst>
                <a:path w="5486400" h="9525">
                  <a:moveTo>
                    <a:pt x="0" y="0"/>
                  </a:moveTo>
                  <a:lnTo>
                    <a:pt x="5486400" y="0"/>
                  </a:lnTo>
                </a:path>
              </a:pathLst>
            </a:custGeom>
            <a:noFill/>
            <a:ln w="9525">
              <a:solidFill>
                <a:srgbClr val="B8CBD3"/>
              </a:solidFill>
            </a:ln>
          </p:spPr>
        </p:sp>
        <p:sp>
          <p:nvSpPr>
            <p:cNvPr id="31" name="TextBox 31"/>
            <p:cNvSpPr txBox="1"/>
            <p:nvPr/>
          </p:nvSpPr>
          <p:spPr>
            <a:xfrm>
              <a:off x="832866" y="5354002"/>
              <a:ext cx="1569930"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Kısmi güncelleme çoklu</a:t>
              </a:r>
            </a:p>
          </p:txBody>
        </p:sp>
        <p:sp>
          <p:nvSpPr>
            <p:cNvPr id="32" name="TextBox 32"/>
            <p:cNvSpPr txBox="1"/>
            <p:nvPr/>
          </p:nvSpPr>
          <p:spPr>
            <a:xfrm>
              <a:off x="3042666" y="5354002"/>
              <a:ext cx="792499"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Consolas"/>
                  <a:ea typeface="Consolas"/>
                  <a:cs typeface="Consolas"/>
                </a:rPr>
                <a:t>updateMany</a:t>
              </a:r>
            </a:p>
          </p:txBody>
        </p:sp>
        <p:sp>
          <p:nvSpPr>
            <p:cNvPr id="33" name="TextBox 33"/>
            <p:cNvSpPr txBox="1"/>
            <p:nvPr/>
          </p:nvSpPr>
          <p:spPr>
            <a:xfrm>
              <a:off x="4662297" y="5362099"/>
              <a:ext cx="169198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update</a:t>
              </a:r>
              <a:r>
                <a:rPr lang="tr-TR" sz="980" dirty="0">
                  <a:solidFill>
                    <a:srgbClr val="52616B"/>
                  </a:solidFill>
                  <a:latin typeface="+mn-lt"/>
                  <a:ea typeface="+mn-ea"/>
                  <a:cs typeface="+mn-cs"/>
                </a:rPr>
                <a:t xml:space="preserve"> tek kaydı hedefler</a:t>
              </a:r>
            </a:p>
          </p:txBody>
        </p:sp>
        <p:sp>
          <p:nvSpPr>
            <p:cNvPr id="34" name="Line 34"/>
            <p:cNvSpPr/>
            <p:nvPr/>
          </p:nvSpPr>
          <p:spPr>
            <a:xfrm>
              <a:off x="762000" y="5600700"/>
              <a:ext cx="5486400" cy="9525"/>
            </a:xfrm>
            <a:custGeom>
              <a:avLst/>
              <a:gdLst/>
              <a:ahLst/>
              <a:cxnLst/>
              <a:rect l="l" t="t" r="r" b="b"/>
              <a:pathLst>
                <a:path w="5486400" h="9525">
                  <a:moveTo>
                    <a:pt x="0" y="0"/>
                  </a:moveTo>
                  <a:lnTo>
                    <a:pt x="5486400" y="0"/>
                  </a:lnTo>
                </a:path>
              </a:pathLst>
            </a:custGeom>
            <a:noFill/>
            <a:ln w="9525">
              <a:solidFill>
                <a:srgbClr val="B8CBD3"/>
              </a:solidFill>
            </a:ln>
          </p:spPr>
        </p:sp>
        <p:sp>
          <p:nvSpPr>
            <p:cNvPr id="35" name="TextBox 35"/>
            <p:cNvSpPr txBox="1"/>
            <p:nvPr/>
          </p:nvSpPr>
          <p:spPr>
            <a:xfrm>
              <a:off x="832866" y="5696902"/>
              <a:ext cx="1951744"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Silme yerine geçmiş korumak</a:t>
              </a:r>
            </a:p>
          </p:txBody>
        </p:sp>
        <p:sp>
          <p:nvSpPr>
            <p:cNvPr id="36" name="TextBox 36"/>
            <p:cNvSpPr txBox="1"/>
            <p:nvPr/>
          </p:nvSpPr>
          <p:spPr>
            <a:xfrm>
              <a:off x="3042666" y="5696902"/>
              <a:ext cx="1096375" cy="205359"/>
            </a:xfrm>
            <a:prstGeom prst="rect">
              <a:avLst/>
            </a:prstGeom>
            <a:noFill/>
            <a:ln>
              <a:noFill/>
            </a:ln>
          </p:spPr>
          <p:txBody>
            <a:bodyPr wrap="none" lIns="0" tIns="0" rIns="0" bIns="0" anchor="t" anchorCtr="0">
              <a:spAutoFit/>
            </a:bodyPr>
            <a:lstStyle/>
            <a:p>
              <a:pPr algn="l"/>
              <a:r>
                <a:rPr lang="tr-TR" sz="1050" dirty="0">
                  <a:solidFill>
                    <a:srgbClr val="12355B"/>
                  </a:solidFill>
                  <a:latin typeface="+mn-lt"/>
                  <a:ea typeface="+mn-ea"/>
                  <a:cs typeface="+mn-cs"/>
                </a:rPr>
                <a:t>Mantıksal silme</a:t>
              </a:r>
            </a:p>
          </p:txBody>
        </p:sp>
        <p:sp>
          <p:nvSpPr>
            <p:cNvPr id="37" name="TextBox 37"/>
            <p:cNvSpPr txBox="1"/>
            <p:nvPr/>
          </p:nvSpPr>
          <p:spPr>
            <a:xfrm>
              <a:off x="4662297" y="5704999"/>
              <a:ext cx="132669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silinmeTarihi</a:t>
              </a:r>
              <a:r>
                <a:rPr lang="tr-TR" sz="980" dirty="0">
                  <a:solidFill>
                    <a:srgbClr val="52616B"/>
                  </a:solidFill>
                  <a:latin typeface="+mn-lt"/>
                  <a:ea typeface="+mn-ea"/>
                  <a:cs typeface="+mn-cs"/>
                </a:rPr>
                <a:t xml:space="preserve"> alanı</a:t>
              </a:r>
            </a:p>
          </p:txBody>
        </p:sp>
      </p:grpSp>
      <p:grpSp>
        <p:nvGrpSpPr>
          <p:cNvPr id="42" name="explain-panel"/>
          <p:cNvGrpSpPr/>
          <p:nvPr/>
        </p:nvGrpSpPr>
        <p:grpSpPr>
          <a:xfrm>
            <a:off x="6697599" y="1258729"/>
            <a:ext cx="3397377" cy="1665827"/>
            <a:chOff x="6697599" y="1258729"/>
            <a:chExt cx="3397377" cy="1665827"/>
          </a:xfrm>
        </p:grpSpPr>
        <p:sp>
          <p:nvSpPr>
            <p:cNvPr id="39" name="TextBox 39"/>
            <p:cNvSpPr txBox="1"/>
            <p:nvPr/>
          </p:nvSpPr>
          <p:spPr>
            <a:xfrm>
              <a:off x="6697599" y="1258729"/>
              <a:ext cx="30493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Ne zaman tercih edilmelidir?</a:t>
              </a:r>
            </a:p>
          </p:txBody>
        </p:sp>
        <p:sp>
          <p:nvSpPr>
            <p:cNvPr id="40" name="TextBox 40"/>
            <p:cNvSpPr txBox="1"/>
            <p:nvPr/>
          </p:nvSpPr>
          <p:spPr>
            <a:xfrm>
              <a:off x="6699504" y="1604010"/>
              <a:ext cx="26791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findUnique</a:t>
              </a:r>
              <a:r>
                <a:rPr lang="tr-TR" sz="1200" dirty="0">
                  <a:solidFill>
                    <a:srgbClr val="172B3A"/>
                  </a:solidFill>
                  <a:latin typeface="+mn-lt"/>
                  <a:ea typeface="+mn-ea"/>
                  <a:cs typeface="+mn-cs"/>
                </a:rPr>
                <a:t xml:space="preserve">, </a:t>
              </a:r>
              <a:r>
                <a:rPr lang="tr-TR" sz="1200" dirty="0">
                  <a:solidFill>
                    <a:srgbClr val="172B3A"/>
                  </a:solidFill>
                  <a:latin typeface="Consolas"/>
                  <a:ea typeface="Consolas"/>
                  <a:cs typeface="Consolas"/>
                </a:rPr>
                <a:t>@id</a:t>
              </a:r>
              <a:r>
                <a:rPr lang="tr-TR" sz="1200" dirty="0">
                  <a:solidFill>
                    <a:srgbClr val="172B3A"/>
                  </a:solidFill>
                  <a:latin typeface="+mn-lt"/>
                  <a:ea typeface="+mn-ea"/>
                  <a:cs typeface="+mn-cs"/>
                </a:rPr>
                <a:t xml:space="preserve"> veya </a:t>
              </a:r>
              <a:r>
                <a:rPr lang="tr-TR" sz="1200" dirty="0">
                  <a:solidFill>
                    <a:srgbClr val="172B3A"/>
                  </a:solidFill>
                  <a:latin typeface="Consolas"/>
                  <a:ea typeface="Consolas"/>
                  <a:cs typeface="Consolas"/>
                </a:rPr>
                <a:t>@unique</a:t>
              </a:r>
              <a:r>
                <a:rPr lang="tr-TR" sz="1200" dirty="0">
                  <a:solidFill>
                    <a:srgbClr val="172B3A"/>
                  </a:solidFill>
                  <a:latin typeface="+mn-lt"/>
                  <a:ea typeface="+mn-ea"/>
                  <a:cs typeface="+mn-cs"/>
                </a:rPr>
                <a:t xml:space="preserve"> bir</a:t>
              </a:r>
              <a:br/>
              <a:r>
                <a:rPr lang="tr-TR" sz="1200" dirty="0">
                  <a:solidFill>
                    <a:srgbClr val="172B3A"/>
                  </a:solidFill>
                  <a:latin typeface="+mn-lt"/>
                  <a:ea typeface="+mn-ea"/>
                  <a:cs typeface="+mn-cs"/>
                </a:rPr>
                <a:t>alanla tek kayıt arandığında tercih</a:t>
              </a:r>
              <a:br/>
              <a:r>
                <a:rPr lang="tr-TR" sz="1200" dirty="0">
                  <a:solidFill>
                    <a:srgbClr val="172B3A"/>
                  </a:solidFill>
                  <a:latin typeface="+mn-lt"/>
                  <a:ea typeface="+mn-ea"/>
                  <a:cs typeface="+mn-cs"/>
                </a:rPr>
                <a:t>edilmelidir.</a:t>
              </a:r>
            </a:p>
          </p:txBody>
        </p:sp>
        <p:sp>
          <p:nvSpPr>
            <p:cNvPr id="41" name="TextBox 41"/>
            <p:cNvSpPr txBox="1"/>
            <p:nvPr/>
          </p:nvSpPr>
          <p:spPr>
            <a:xfrm>
              <a:off x="6699504" y="2308860"/>
              <a:ext cx="33954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select</a:t>
              </a:r>
              <a:r>
                <a:rPr lang="tr-TR" sz="1200" dirty="0">
                  <a:solidFill>
                    <a:srgbClr val="172B3A"/>
                  </a:solidFill>
                  <a:latin typeface="+mn-lt"/>
                  <a:ea typeface="+mn-ea"/>
                  <a:cs typeface="+mn-cs"/>
                </a:rPr>
                <a:t>, yalnızca ekranda veya iş</a:t>
              </a:r>
              <a:br/>
              <a:r>
                <a:rPr lang="tr-TR" sz="1200" dirty="0">
                  <a:solidFill>
                    <a:srgbClr val="172B3A"/>
                  </a:solidFill>
                  <a:latin typeface="+mn-lt"/>
                  <a:ea typeface="+mn-ea"/>
                  <a:cs typeface="+mn-cs"/>
                </a:rPr>
                <a:t>kuralında gereken alanlar için</a:t>
              </a:r>
              <a:br/>
              <a:r>
                <a:rPr lang="tr-TR" sz="1200" dirty="0">
                  <a:solidFill>
                    <a:srgbClr val="172B3A"/>
                  </a:solidFill>
                  <a:latin typeface="+mn-lt"/>
                  <a:ea typeface="+mn-ea"/>
                  <a:cs typeface="+mn-cs"/>
                </a:rPr>
                <a:t>kullanılmalıdır — veri aktarımını iyileştirir.</a:t>
              </a:r>
            </a:p>
          </p:txBody>
        </p:sp>
      </p:grpSp>
      <p:grpSp>
        <p:nvGrpSpPr>
          <p:cNvPr id="47" name="warning-box"/>
          <p:cNvGrpSpPr/>
          <p:nvPr/>
        </p:nvGrpSpPr>
        <p:grpSpPr>
          <a:xfrm>
            <a:off x="6705600" y="4267200"/>
            <a:ext cx="4876800" cy="1866900"/>
            <a:chOff x="6705600" y="4267200"/>
            <a:chExt cx="4876800" cy="1866900"/>
          </a:xfrm>
        </p:grpSpPr>
        <p:sp>
          <p:nvSpPr>
            <p:cNvPr id="43" name="Rectangle 43"/>
            <p:cNvSpPr/>
            <p:nvPr/>
          </p:nvSpPr>
          <p:spPr>
            <a:xfrm>
              <a:off x="6705600" y="4267200"/>
              <a:ext cx="4876800" cy="1866900"/>
            </a:xfrm>
            <a:prstGeom prst="roundRect">
              <a:avLst>
                <a:gd name="adj" fmla="val 4082"/>
              </a:avLst>
            </a:prstGeom>
            <a:solidFill>
              <a:srgbClr val="FFFFFF"/>
            </a:solidFill>
            <a:ln w="14288">
              <a:solidFill>
                <a:srgbClr val="00A6A6"/>
              </a:solidFill>
            </a:ln>
          </p:spPr>
        </p:sp>
        <p:sp>
          <p:nvSpPr>
            <p:cNvPr id="44" name="TextBox 44"/>
            <p:cNvSpPr txBox="1"/>
            <p:nvPr/>
          </p:nvSpPr>
          <p:spPr>
            <a:xfrm>
              <a:off x="6928104" y="4404360"/>
              <a:ext cx="1180674"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Sık hatalar</a:t>
              </a:r>
            </a:p>
          </p:txBody>
        </p:sp>
        <p:sp>
          <p:nvSpPr>
            <p:cNvPr id="45" name="TextBox 45"/>
            <p:cNvSpPr txBox="1"/>
            <p:nvPr/>
          </p:nvSpPr>
          <p:spPr>
            <a:xfrm>
              <a:off x="6928104" y="4671060"/>
              <a:ext cx="23439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null</a:t>
              </a:r>
              <a:r>
                <a:rPr lang="tr-TR" sz="1200" dirty="0">
                  <a:solidFill>
                    <a:srgbClr val="172B3A"/>
                  </a:solidFill>
                  <a:latin typeface="+mn-lt"/>
                  <a:ea typeface="+mn-ea"/>
                  <a:cs typeface="+mn-cs"/>
                </a:rPr>
                <a:t xml:space="preserve"> olabilecek sonucun alanına</a:t>
              </a:r>
              <a:br/>
              <a:r>
                <a:rPr lang="tr-TR" sz="1200" dirty="0">
                  <a:solidFill>
                    <a:srgbClr val="172B3A"/>
                  </a:solidFill>
                  <a:latin typeface="+mn-lt"/>
                  <a:ea typeface="+mn-ea"/>
                  <a:cs typeface="+mn-cs"/>
                </a:rPr>
                <a:t>doğrudan erişmek.</a:t>
              </a:r>
            </a:p>
          </p:txBody>
        </p:sp>
        <p:sp>
          <p:nvSpPr>
            <p:cNvPr id="46" name="TextBox 46"/>
            <p:cNvSpPr txBox="1"/>
            <p:nvPr/>
          </p:nvSpPr>
          <p:spPr>
            <a:xfrm>
              <a:off x="6928104" y="5185410"/>
              <a:ext cx="290779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Güncellemede yanlış/benzersiz olmayan</a:t>
              </a:r>
              <a:br/>
              <a:r>
                <a:rPr lang="tr-TR" sz="1200" dirty="0">
                  <a:solidFill>
                    <a:srgbClr val="172B3A"/>
                  </a:solidFill>
                  <a:latin typeface="Consolas"/>
                  <a:ea typeface="Consolas"/>
                  <a:cs typeface="Consolas"/>
                </a:rPr>
                <a:t>where</a:t>
              </a:r>
              <a:r>
                <a:rPr lang="tr-TR" sz="1200" dirty="0">
                  <a:solidFill>
                    <a:srgbClr val="172B3A"/>
                  </a:solidFill>
                  <a:latin typeface="+mn-lt"/>
                  <a:ea typeface="+mn-ea"/>
                  <a:cs typeface="+mn-cs"/>
                </a:rPr>
                <a:t xml:space="preserve"> koşulu kullanmak.</a:t>
              </a:r>
            </a:p>
          </p:txBody>
        </p:sp>
      </p:grpSp>
      <p:sp>
        <p:nvSpPr>
          <p:cNvPr id="48" name="TextBox 4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14 / 25</a:t>
            </a:r>
          </a:p>
        </p:txBody>
      </p:sp>
    </p:spTree>
  </p:cSld>
  <p:clrMapOvr>
    <a:masterClrMapping/>
  </p:clrMapOvr>
  <p:transition xmlns:p14="http://schemas.microsoft.com/office/powerpoint/2010/main" p14:dur="400">
    <p:fade/>
  </p:transition>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965453" cy="557403"/>
            <a:chOff x="595122" y="282892"/>
            <a:chExt cx="7965453" cy="557403"/>
          </a:xfrm>
        </p:grpSpPr>
        <p:sp>
          <p:nvSpPr>
            <p:cNvPr id="4" name="TextBox 4"/>
            <p:cNvSpPr txBox="1"/>
            <p:nvPr/>
          </p:nvSpPr>
          <p:spPr>
            <a:xfrm>
              <a:off x="595122" y="282892"/>
              <a:ext cx="7965453"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İlişkiler: User–Post bire-çok tanımlama</a:t>
              </a:r>
            </a:p>
          </p:txBody>
        </p:sp>
      </p:grpSp>
      <p:grpSp>
        <p:nvGrpSpPr>
          <p:cNvPr id="27" name="er-diagram"/>
          <p:cNvGrpSpPr/>
          <p:nvPr/>
        </p:nvGrpSpPr>
        <p:grpSpPr>
          <a:xfrm>
            <a:off x="1219200" y="1333500"/>
            <a:ext cx="9753600" cy="1714500"/>
            <a:chOff x="1219200" y="1333500"/>
            <a:chExt cx="9753600" cy="1714500"/>
          </a:xfrm>
        </p:grpSpPr>
        <p:grpSp>
          <p:nvGrpSpPr>
            <p:cNvPr id="14" name="entity-user"/>
            <p:cNvGrpSpPr/>
            <p:nvPr/>
          </p:nvGrpSpPr>
          <p:grpSpPr>
            <a:xfrm>
              <a:off x="1219200" y="1333500"/>
              <a:ext cx="3238500" cy="1714500"/>
              <a:chOff x="1219200" y="1333500"/>
              <a:chExt cx="3238500" cy="1714500"/>
            </a:xfrm>
          </p:grpSpPr>
          <p:sp>
            <p:nvSpPr>
              <p:cNvPr id="6" name="Rectangle 6"/>
              <p:cNvSpPr/>
              <p:nvPr/>
            </p:nvSpPr>
            <p:spPr>
              <a:xfrm>
                <a:off x="1219200" y="1333500"/>
                <a:ext cx="3238500" cy="1714500"/>
              </a:xfrm>
              <a:prstGeom prst="roundRect">
                <a:avLst>
                  <a:gd name="adj" fmla="val 4444"/>
                </a:avLst>
              </a:prstGeom>
              <a:solidFill>
                <a:srgbClr val="FFFFFF"/>
              </a:solidFill>
              <a:ln w="14288">
                <a:solidFill>
                  <a:srgbClr val="2E86AB"/>
                </a:solidFill>
              </a:ln>
            </p:spPr>
          </p:sp>
          <p:sp>
            <p:nvSpPr>
              <p:cNvPr id="7" name="Rectangle 7"/>
              <p:cNvSpPr/>
              <p:nvPr/>
            </p:nvSpPr>
            <p:spPr>
              <a:xfrm>
                <a:off x="1219200" y="1333500"/>
                <a:ext cx="3238500" cy="381000"/>
              </a:xfrm>
              <a:prstGeom prst="rect">
                <a:avLst/>
              </a:prstGeom>
              <a:solidFill>
                <a:srgbClr val="12355B"/>
              </a:solidFill>
              <a:ln>
                <a:noFill/>
              </a:ln>
            </p:spPr>
          </p:sp>
          <p:sp>
            <p:nvSpPr>
              <p:cNvPr id="8" name="TextBox 8"/>
              <p:cNvSpPr txBox="1"/>
              <p:nvPr/>
            </p:nvSpPr>
            <p:spPr>
              <a:xfrm>
                <a:off x="1440942" y="1435418"/>
                <a:ext cx="43946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User</a:t>
                </a:r>
              </a:p>
            </p:txBody>
          </p:sp>
          <p:sp>
            <p:nvSpPr>
              <p:cNvPr id="9" name="TextBox 9"/>
              <p:cNvSpPr txBox="1"/>
              <p:nvPr/>
            </p:nvSpPr>
            <p:spPr>
              <a:xfrm>
                <a:off x="1442085" y="1821656"/>
                <a:ext cx="847395"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id Int @id</a:t>
                </a:r>
              </a:p>
            </p:txBody>
          </p:sp>
          <p:sp>
            <p:nvSpPr>
              <p:cNvPr id="10" name="TextBox 10"/>
              <p:cNvSpPr txBox="1"/>
              <p:nvPr/>
            </p:nvSpPr>
            <p:spPr>
              <a:xfrm>
                <a:off x="1442085" y="2050256"/>
                <a:ext cx="118250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adSoyad String</a:t>
                </a:r>
              </a:p>
            </p:txBody>
          </p:sp>
          <p:sp>
            <p:nvSpPr>
              <p:cNvPr id="11" name="TextBox 11"/>
              <p:cNvSpPr txBox="1"/>
              <p:nvPr/>
            </p:nvSpPr>
            <p:spPr>
              <a:xfrm>
                <a:off x="1442085" y="2278856"/>
                <a:ext cx="2260991"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epostaAdresi String @unique</a:t>
                </a:r>
              </a:p>
            </p:txBody>
          </p:sp>
          <p:sp>
            <p:nvSpPr>
              <p:cNvPr id="12" name="TextBox 12"/>
              <p:cNvSpPr txBox="1"/>
              <p:nvPr/>
            </p:nvSpPr>
            <p:spPr>
              <a:xfrm>
                <a:off x="1442085" y="2507456"/>
                <a:ext cx="1426870"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Consolas"/>
                    <a:ea typeface="Consolas"/>
                    <a:cs typeface="Consolas"/>
                  </a:rPr>
                  <a:t>gonderiler Post[]</a:t>
                </a:r>
              </a:p>
            </p:txBody>
          </p:sp>
          <p:sp>
            <p:nvSpPr>
              <p:cNvPr id="13" name="TextBox 13"/>
              <p:cNvSpPr txBox="1"/>
              <p:nvPr/>
            </p:nvSpPr>
            <p:spPr>
              <a:xfrm>
                <a:off x="1442847" y="2752249"/>
                <a:ext cx="2034995"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(ilişkinin ters yönü, sütun yok)</a:t>
                </a:r>
              </a:p>
            </p:txBody>
          </p:sp>
        </p:grpSp>
        <p:grpSp>
          <p:nvGrpSpPr>
            <p:cNvPr id="23" name="entity-post"/>
            <p:cNvGrpSpPr/>
            <p:nvPr/>
          </p:nvGrpSpPr>
          <p:grpSpPr>
            <a:xfrm>
              <a:off x="7734300" y="1333500"/>
              <a:ext cx="3238500" cy="1714500"/>
              <a:chOff x="7734300" y="1333500"/>
              <a:chExt cx="3238500" cy="1714500"/>
            </a:xfrm>
          </p:grpSpPr>
          <p:sp>
            <p:nvSpPr>
              <p:cNvPr id="15" name="Rectangle 15"/>
              <p:cNvSpPr/>
              <p:nvPr/>
            </p:nvSpPr>
            <p:spPr>
              <a:xfrm>
                <a:off x="7734300" y="1333500"/>
                <a:ext cx="3238500" cy="1714500"/>
              </a:xfrm>
              <a:prstGeom prst="roundRect">
                <a:avLst>
                  <a:gd name="adj" fmla="val 4444"/>
                </a:avLst>
              </a:prstGeom>
              <a:solidFill>
                <a:srgbClr val="FFFFFF"/>
              </a:solidFill>
              <a:ln w="14288">
                <a:solidFill>
                  <a:srgbClr val="2E86AB"/>
                </a:solidFill>
              </a:ln>
            </p:spPr>
          </p:sp>
          <p:sp>
            <p:nvSpPr>
              <p:cNvPr id="16" name="Rectangle 16"/>
              <p:cNvSpPr/>
              <p:nvPr/>
            </p:nvSpPr>
            <p:spPr>
              <a:xfrm>
                <a:off x="7734300" y="1333500"/>
                <a:ext cx="3238500" cy="381000"/>
              </a:xfrm>
              <a:prstGeom prst="rect">
                <a:avLst/>
              </a:prstGeom>
              <a:solidFill>
                <a:srgbClr val="12355B"/>
              </a:solidFill>
              <a:ln>
                <a:noFill/>
              </a:ln>
            </p:spPr>
          </p:sp>
          <p:sp>
            <p:nvSpPr>
              <p:cNvPr id="17" name="TextBox 17"/>
              <p:cNvSpPr txBox="1"/>
              <p:nvPr/>
            </p:nvSpPr>
            <p:spPr>
              <a:xfrm>
                <a:off x="7956042" y="1435418"/>
                <a:ext cx="43946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Post</a:t>
                </a:r>
              </a:p>
            </p:txBody>
          </p:sp>
          <p:sp>
            <p:nvSpPr>
              <p:cNvPr id="18" name="TextBox 18"/>
              <p:cNvSpPr txBox="1"/>
              <p:nvPr/>
            </p:nvSpPr>
            <p:spPr>
              <a:xfrm>
                <a:off x="7957185" y="1821656"/>
                <a:ext cx="847395" cy="220028"/>
              </a:xfrm>
              <a:prstGeom prst="rect">
                <a:avLst/>
              </a:prstGeom>
              <a:noFill/>
              <a:ln>
                <a:noFill/>
              </a:ln>
            </p:spPr>
            <p:txBody>
              <a:bodyPr wrap="none" lIns="0" tIns="0" rIns="0" bIns="0" anchor="t" anchorCtr="0">
                <a:spAutoFit/>
              </a:bodyPr>
              <a:lstStyle/>
              <a:p>
                <a:pPr algn="l"/>
                <a:r>
                  <a:rPr lang="tr-TR" sz="1120" dirty="0">
                    <a:solidFill>
                      <a:srgbClr val="12355B"/>
                    </a:solidFill>
                    <a:latin typeface="Consolas"/>
                    <a:ea typeface="Consolas"/>
                    <a:cs typeface="Consolas"/>
                  </a:rPr>
                  <a:t>id Int @id</a:t>
                </a:r>
              </a:p>
            </p:txBody>
          </p:sp>
          <p:sp>
            <p:nvSpPr>
              <p:cNvPr id="19" name="TextBox 19"/>
              <p:cNvSpPr txBox="1"/>
              <p:nvPr/>
            </p:nvSpPr>
            <p:spPr>
              <a:xfrm>
                <a:off x="7957185" y="2050256"/>
                <a:ext cx="109455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baslik String</a:t>
                </a:r>
              </a:p>
            </p:txBody>
          </p:sp>
          <p:sp>
            <p:nvSpPr>
              <p:cNvPr id="20" name="TextBox 20"/>
              <p:cNvSpPr txBox="1"/>
              <p:nvPr/>
            </p:nvSpPr>
            <p:spPr>
              <a:xfrm>
                <a:off x="7957185" y="2278856"/>
                <a:ext cx="2759050"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yayindaMi Boolean @default(false)</a:t>
                </a:r>
              </a:p>
            </p:txBody>
          </p:sp>
          <p:sp>
            <p:nvSpPr>
              <p:cNvPr id="21" name="TextBox 21"/>
              <p:cNvSpPr txBox="1"/>
              <p:nvPr/>
            </p:nvSpPr>
            <p:spPr>
              <a:xfrm>
                <a:off x="7957185" y="2507456"/>
                <a:ext cx="933942" cy="220028"/>
              </a:xfrm>
              <a:prstGeom prst="rect">
                <a:avLst/>
              </a:prstGeom>
              <a:noFill/>
              <a:ln>
                <a:noFill/>
              </a:ln>
            </p:spPr>
            <p:txBody>
              <a:bodyPr wrap="none" lIns="0" tIns="0" rIns="0" bIns="0" anchor="t" anchorCtr="0">
                <a:spAutoFit/>
              </a:bodyPr>
              <a:lstStyle/>
              <a:p>
                <a:pPr algn="l"/>
                <a:r>
                  <a:rPr lang="tr-TR" sz="1120" b="1" dirty="0">
                    <a:solidFill>
                      <a:srgbClr val="00A6A6"/>
                    </a:solidFill>
                    <a:latin typeface="Consolas"/>
                    <a:ea typeface="Consolas"/>
                    <a:cs typeface="Consolas"/>
                  </a:rPr>
                  <a:t>yazarId Int</a:t>
                </a:r>
              </a:p>
            </p:txBody>
          </p:sp>
          <p:sp>
            <p:nvSpPr>
              <p:cNvPr id="22" name="TextBox 22"/>
              <p:cNvSpPr txBox="1"/>
              <p:nvPr/>
            </p:nvSpPr>
            <p:spPr>
              <a:xfrm>
                <a:off x="7957947" y="2752249"/>
                <a:ext cx="169674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mn-lt"/>
                    <a:ea typeface="+mn-ea"/>
                    <a:cs typeface="+mn-cs"/>
                  </a:rPr>
                  <a:t>yabancı anahtar → User.id</a:t>
                </a:r>
              </a:p>
            </p:txBody>
          </p:sp>
        </p:grpSp>
        <p:sp>
          <p:nvSpPr>
            <p:cNvPr id="24" name="Line 24"/>
            <p:cNvSpPr/>
            <p:nvPr/>
          </p:nvSpPr>
          <p:spPr>
            <a:xfrm>
              <a:off x="4457700" y="2190750"/>
              <a:ext cx="3276600" cy="1"/>
            </a:xfrm>
            <a:prstGeom prst="line">
              <a:avLst/>
            </a:prstGeom>
            <a:noFill/>
            <a:ln w="23812">
              <a:solidFill>
                <a:srgbClr val="00A6A6"/>
              </a:solidFill>
              <a:tailEnd type="arrow" w="lg" len="lg"/>
            </a:ln>
          </p:spPr>
        </p:sp>
        <p:sp>
          <p:nvSpPr>
            <p:cNvPr id="25" name="TextBox 25"/>
            <p:cNvSpPr txBox="1"/>
            <p:nvPr/>
          </p:nvSpPr>
          <p:spPr>
            <a:xfrm>
              <a:off x="5888279" y="1927860"/>
              <a:ext cx="415442" cy="234696"/>
            </a:xfrm>
            <a:prstGeom prst="rect">
              <a:avLst/>
            </a:prstGeom>
            <a:noFill/>
            <a:ln>
              <a:noFill/>
            </a:ln>
          </p:spPr>
          <p:txBody>
            <a:bodyPr wrap="none" lIns="0" tIns="0" rIns="0" bIns="0" anchor="t" anchorCtr="0">
              <a:spAutoFit/>
            </a:bodyPr>
            <a:lstStyle/>
            <a:p>
              <a:pPr algn="ctr"/>
              <a:r>
                <a:rPr lang="tr-TR" sz="1200" b="1" dirty="0">
                  <a:solidFill>
                    <a:srgbClr val="12355B"/>
                  </a:solidFill>
                  <a:latin typeface="+mn-lt"/>
                  <a:ea typeface="+mn-ea"/>
                  <a:cs typeface="+mn-cs"/>
                </a:rPr>
                <a:t>1 : N</a:t>
              </a:r>
            </a:p>
          </p:txBody>
        </p:sp>
        <p:sp>
          <p:nvSpPr>
            <p:cNvPr id="26" name="TextBox 26"/>
            <p:cNvSpPr txBox="1"/>
            <p:nvPr/>
          </p:nvSpPr>
          <p:spPr>
            <a:xfrm>
              <a:off x="4458801" y="2286952"/>
              <a:ext cx="3274397" cy="205359"/>
            </a:xfrm>
            <a:prstGeom prst="rect">
              <a:avLst/>
            </a:prstGeom>
            <a:noFill/>
            <a:ln>
              <a:noFill/>
            </a:ln>
          </p:spPr>
          <p:txBody>
            <a:bodyPr wrap="none" lIns="0" tIns="0" rIns="0" bIns="0" anchor="t" anchorCtr="0">
              <a:spAutoFit/>
            </a:bodyPr>
            <a:lstStyle/>
            <a:p>
              <a:pPr algn="ctr"/>
              <a:r>
                <a:rPr lang="tr-TR" sz="1050" dirty="0">
                  <a:solidFill>
                    <a:srgbClr val="52616B"/>
                  </a:solidFill>
                  <a:latin typeface="+mn-lt"/>
                  <a:ea typeface="+mn-ea"/>
                  <a:cs typeface="+mn-cs"/>
                </a:rPr>
                <a:t>@relation(fields: [yazarId], references: [id])</a:t>
              </a:r>
            </a:p>
          </p:txBody>
        </p:sp>
      </p:grpSp>
      <p:grpSp>
        <p:nvGrpSpPr>
          <p:cNvPr id="35" name="code-block"/>
          <p:cNvGrpSpPr/>
          <p:nvPr/>
        </p:nvGrpSpPr>
        <p:grpSpPr>
          <a:xfrm>
            <a:off x="609600" y="3733800"/>
            <a:ext cx="10972800" cy="1485900"/>
            <a:chOff x="609600" y="3733800"/>
            <a:chExt cx="10972800" cy="1485900"/>
          </a:xfrm>
        </p:grpSpPr>
        <p:sp>
          <p:nvSpPr>
            <p:cNvPr id="28" name="Rectangle 28"/>
            <p:cNvSpPr/>
            <p:nvPr/>
          </p:nvSpPr>
          <p:spPr>
            <a:xfrm>
              <a:off x="609600" y="3733800"/>
              <a:ext cx="10972800" cy="1485900"/>
            </a:xfrm>
            <a:prstGeom prst="roundRect">
              <a:avLst>
                <a:gd name="adj" fmla="val 5128"/>
              </a:avLst>
            </a:prstGeom>
            <a:solidFill>
              <a:srgbClr val="0B2038"/>
            </a:solidFill>
            <a:ln>
              <a:noFill/>
            </a:ln>
          </p:spPr>
        </p:sp>
        <p:sp>
          <p:nvSpPr>
            <p:cNvPr id="29" name="TextBox 29"/>
            <p:cNvSpPr txBox="1"/>
            <p:nvPr/>
          </p:nvSpPr>
          <p:spPr>
            <a:xfrm>
              <a:off x="833247" y="3876199"/>
              <a:ext cx="532478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model User { id Int @id @default(autoincrement()) ... gonderiler Post[] }</a:t>
              </a:r>
            </a:p>
          </p:txBody>
        </p:sp>
        <p:sp>
          <p:nvSpPr>
            <p:cNvPr id="30" name="TextBox 30"/>
            <p:cNvSpPr txBox="1"/>
            <p:nvPr/>
          </p:nvSpPr>
          <p:spPr>
            <a:xfrm>
              <a:off x="833247" y="4123849"/>
              <a:ext cx="886104"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model Post {</a:t>
              </a:r>
            </a:p>
          </p:txBody>
        </p:sp>
        <p:sp>
          <p:nvSpPr>
            <p:cNvPr id="31" name="TextBox 31"/>
            <p:cNvSpPr txBox="1"/>
            <p:nvPr/>
          </p:nvSpPr>
          <p:spPr>
            <a:xfrm>
              <a:off x="1061847" y="4333399"/>
              <a:ext cx="26275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id Int @id @default(autoincrement())</a:t>
              </a:r>
            </a:p>
          </p:txBody>
        </p:sp>
        <p:sp>
          <p:nvSpPr>
            <p:cNvPr id="32" name="TextBox 32"/>
            <p:cNvSpPr txBox="1"/>
            <p:nvPr/>
          </p:nvSpPr>
          <p:spPr>
            <a:xfrm>
              <a:off x="1061847" y="4542949"/>
              <a:ext cx="44553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baslik String icerik String yayindaMi Boolean @default(false)</a:t>
              </a:r>
            </a:p>
          </p:txBody>
        </p:sp>
        <p:sp>
          <p:nvSpPr>
            <p:cNvPr id="33" name="TextBox 33"/>
            <p:cNvSpPr txBox="1"/>
            <p:nvPr/>
          </p:nvSpPr>
          <p:spPr>
            <a:xfrm>
              <a:off x="1061847" y="4752499"/>
              <a:ext cx="5038358"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yazarId Int yazar User @relation(fields: [yazarId], references: [id])</a:t>
              </a:r>
            </a:p>
          </p:txBody>
        </p:sp>
        <p:sp>
          <p:nvSpPr>
            <p:cNvPr id="34" name="TextBox 34"/>
            <p:cNvSpPr txBox="1"/>
            <p:nvPr/>
          </p:nvSpPr>
          <p:spPr>
            <a:xfrm>
              <a:off x="833247" y="496204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grpSp>
      <p:grpSp>
        <p:nvGrpSpPr>
          <p:cNvPr id="37" name="analogy-note"/>
          <p:cNvGrpSpPr/>
          <p:nvPr/>
        </p:nvGrpSpPr>
        <p:grpSpPr>
          <a:xfrm>
            <a:off x="603504" y="5471160"/>
            <a:ext cx="6702552" cy="444246"/>
            <a:chOff x="603504" y="5471160"/>
            <a:chExt cx="6702552" cy="444246"/>
          </a:xfrm>
        </p:grpSpPr>
        <p:sp>
          <p:nvSpPr>
            <p:cNvPr id="36" name="TextBox 36"/>
            <p:cNvSpPr txBox="1"/>
            <p:nvPr/>
          </p:nvSpPr>
          <p:spPr>
            <a:xfrm>
              <a:off x="603504" y="5471160"/>
              <a:ext cx="670255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52616B"/>
                  </a:solidFill>
                  <a:latin typeface="+mn-lt"/>
                  <a:ea typeface="+mn-ea"/>
                  <a:cs typeface="+mn-cs"/>
                </a:rPr>
                <a:t>Kütüphane benzetmesi: her kitabın bir yazarı vardır, yazarın birden çok kitabı olabilir —</a:t>
              </a:r>
              <a:br/>
              <a:r>
                <a:rPr lang="tr-TR" sz="1200" dirty="0">
                  <a:solidFill>
                    <a:srgbClr val="52616B"/>
                  </a:solidFill>
                  <a:latin typeface="+mn-lt"/>
                  <a:ea typeface="+mn-ea"/>
                  <a:cs typeface="+mn-cs"/>
                </a:rPr>
                <a:t>kitap kartındaki yazar numarası yabancı anahtar gibidir.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15 / 25</a:t>
            </a:r>
          </a:p>
        </p:txBody>
      </p:sp>
    </p:spTree>
  </p:cSld>
  <p:clrMapOvr>
    <a:masterClrMapping/>
  </p:clrMapOvr>
  <p:transition xmlns:p14="http://schemas.microsoft.com/office/powerpoint/2010/main" p14:dur="400">
    <p:fade/>
  </p:transition>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7836367" cy="557403"/>
            <a:chOff x="595122" y="282892"/>
            <a:chExt cx="7836367" cy="557403"/>
          </a:xfrm>
        </p:grpSpPr>
        <p:sp>
          <p:nvSpPr>
            <p:cNvPr id="4" name="TextBox 4"/>
            <p:cNvSpPr txBox="1"/>
            <p:nvPr/>
          </p:nvSpPr>
          <p:spPr>
            <a:xfrm>
              <a:off x="595122" y="282892"/>
              <a:ext cx="7836367"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İlişkili veriyi include / select ile okumak</a:t>
              </a:r>
            </a:p>
          </p:txBody>
        </p:sp>
      </p:grpSp>
      <p:grpSp>
        <p:nvGrpSpPr>
          <p:cNvPr id="23" name="code-block"/>
          <p:cNvGrpSpPr/>
          <p:nvPr/>
        </p:nvGrpSpPr>
        <p:grpSpPr>
          <a:xfrm>
            <a:off x="609600" y="1181100"/>
            <a:ext cx="5791200" cy="3810000"/>
            <a:chOff x="609600" y="1181100"/>
            <a:chExt cx="5791200" cy="3810000"/>
          </a:xfrm>
        </p:grpSpPr>
        <p:sp>
          <p:nvSpPr>
            <p:cNvPr id="6" name="Rectangle 6"/>
            <p:cNvSpPr/>
            <p:nvPr/>
          </p:nvSpPr>
          <p:spPr>
            <a:xfrm>
              <a:off x="609600" y="1181100"/>
              <a:ext cx="5791200" cy="3810000"/>
            </a:xfrm>
            <a:prstGeom prst="roundRect">
              <a:avLst>
                <a:gd name="adj" fmla="val 2000"/>
              </a:avLst>
            </a:prstGeom>
            <a:solidFill>
              <a:srgbClr val="0B2038"/>
            </a:solidFill>
            <a:ln>
              <a:noFill/>
            </a:ln>
          </p:spPr>
        </p:sp>
        <p:sp>
          <p:nvSpPr>
            <p:cNvPr id="7" name="TextBox 7"/>
            <p:cNvSpPr txBox="1"/>
            <p:nvPr/>
          </p:nvSpPr>
          <p:spPr>
            <a:xfrm>
              <a:off x="833247" y="1342549"/>
              <a:ext cx="1170869"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iç içe create</a:t>
              </a:r>
            </a:p>
          </p:txBody>
        </p:sp>
        <p:sp>
          <p:nvSpPr>
            <p:cNvPr id="8" name="TextBox 8"/>
            <p:cNvSpPr txBox="1"/>
            <p:nvPr/>
          </p:nvSpPr>
          <p:spPr>
            <a:xfrm>
              <a:off x="833247" y="1533049"/>
              <a:ext cx="291231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yazar = await prisma.user.create({</a:t>
              </a:r>
            </a:p>
          </p:txBody>
        </p:sp>
        <p:sp>
          <p:nvSpPr>
            <p:cNvPr id="9" name="TextBox 9"/>
            <p:cNvSpPr txBox="1"/>
            <p:nvPr/>
          </p:nvSpPr>
          <p:spPr>
            <a:xfrm>
              <a:off x="1061847" y="1723549"/>
              <a:ext cx="219742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data: { adSoyad, epostaAdresi,</a:t>
              </a:r>
            </a:p>
          </p:txBody>
        </p:sp>
        <p:sp>
          <p:nvSpPr>
            <p:cNvPr id="10" name="TextBox 10"/>
            <p:cNvSpPr txBox="1"/>
            <p:nvPr/>
          </p:nvSpPr>
          <p:spPr>
            <a:xfrm>
              <a:off x="1290447" y="1914049"/>
              <a:ext cx="276719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gonderiler: { create: { baslik, ... }}</a:t>
              </a:r>
            </a:p>
          </p:txBody>
        </p:sp>
        <p:sp>
          <p:nvSpPr>
            <p:cNvPr id="11" name="TextBox 11"/>
            <p:cNvSpPr txBox="1"/>
            <p:nvPr/>
          </p:nvSpPr>
          <p:spPr>
            <a:xfrm>
              <a:off x="1061847" y="2104549"/>
              <a:ext cx="15502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2" name="TextBox 12"/>
            <p:cNvSpPr txBox="1"/>
            <p:nvPr/>
          </p:nvSpPr>
          <p:spPr>
            <a:xfrm>
              <a:off x="1061847" y="2295049"/>
              <a:ext cx="211415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include: { gonderiler: true }</a:t>
              </a:r>
            </a:p>
          </p:txBody>
        </p:sp>
        <p:sp>
          <p:nvSpPr>
            <p:cNvPr id="13" name="TextBox 13"/>
            <p:cNvSpPr txBox="1"/>
            <p:nvPr/>
          </p:nvSpPr>
          <p:spPr>
            <a:xfrm>
              <a:off x="833247" y="24855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4" name="TextBox 14"/>
            <p:cNvSpPr txBox="1"/>
            <p:nvPr/>
          </p:nvSpPr>
          <p:spPr>
            <a:xfrm>
              <a:off x="833247" y="2790349"/>
              <a:ext cx="1896471"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 filtreli birlikte okuma</a:t>
              </a:r>
            </a:p>
          </p:txBody>
        </p:sp>
        <p:sp>
          <p:nvSpPr>
            <p:cNvPr id="15" name="TextBox 15"/>
            <p:cNvSpPr txBox="1"/>
            <p:nvPr/>
          </p:nvSpPr>
          <p:spPr>
            <a:xfrm>
              <a:off x="833247" y="2980849"/>
              <a:ext cx="306266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liste = await prisma.user.findMany({</a:t>
              </a:r>
            </a:p>
          </p:txBody>
        </p:sp>
        <p:sp>
          <p:nvSpPr>
            <p:cNvPr id="16" name="TextBox 16"/>
            <p:cNvSpPr txBox="1"/>
            <p:nvPr/>
          </p:nvSpPr>
          <p:spPr>
            <a:xfrm>
              <a:off x="1061847" y="3171349"/>
              <a:ext cx="204159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where: { gonderiler: { some:</a:t>
              </a:r>
            </a:p>
          </p:txBody>
        </p:sp>
        <p:sp>
          <p:nvSpPr>
            <p:cNvPr id="17" name="TextBox 17"/>
            <p:cNvSpPr txBox="1"/>
            <p:nvPr/>
          </p:nvSpPr>
          <p:spPr>
            <a:xfrm>
              <a:off x="1290447" y="3361849"/>
              <a:ext cx="175893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 yayindaMi: true } } },</a:t>
              </a:r>
            </a:p>
          </p:txBody>
        </p:sp>
        <p:sp>
          <p:nvSpPr>
            <p:cNvPr id="18" name="TextBox 18"/>
            <p:cNvSpPr txBox="1"/>
            <p:nvPr/>
          </p:nvSpPr>
          <p:spPr>
            <a:xfrm>
              <a:off x="1061847" y="3552349"/>
              <a:ext cx="175714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select: { adSoyad: true,</a:t>
              </a:r>
            </a:p>
          </p:txBody>
        </p:sp>
        <p:sp>
          <p:nvSpPr>
            <p:cNvPr id="19" name="TextBox 19"/>
            <p:cNvSpPr txBox="1"/>
            <p:nvPr/>
          </p:nvSpPr>
          <p:spPr>
            <a:xfrm>
              <a:off x="1290447" y="3742849"/>
              <a:ext cx="29908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gonderiler: { where: { yayindaMi: true },</a:t>
              </a:r>
            </a:p>
          </p:txBody>
        </p:sp>
        <p:sp>
          <p:nvSpPr>
            <p:cNvPr id="20" name="TextBox 20"/>
            <p:cNvSpPr txBox="1"/>
            <p:nvPr/>
          </p:nvSpPr>
          <p:spPr>
            <a:xfrm>
              <a:off x="1519047" y="3933349"/>
              <a:ext cx="204159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select: { baslik: true } } }</a:t>
              </a:r>
            </a:p>
          </p:txBody>
        </p:sp>
        <p:sp>
          <p:nvSpPr>
            <p:cNvPr id="21" name="TextBox 21"/>
            <p:cNvSpPr txBox="1"/>
            <p:nvPr/>
          </p:nvSpPr>
          <p:spPr>
            <a:xfrm>
              <a:off x="833247" y="412384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22" name="TextBox 22"/>
            <p:cNvSpPr txBox="1"/>
            <p:nvPr/>
          </p:nvSpPr>
          <p:spPr>
            <a:xfrm>
              <a:off x="833247" y="4428649"/>
              <a:ext cx="1266703"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Kod 8.9 / 8.10</a:t>
              </a:r>
            </a:p>
          </p:txBody>
        </p:sp>
      </p:grpSp>
      <p:grpSp>
        <p:nvGrpSpPr>
          <p:cNvPr id="28" name="explain-panel"/>
          <p:cNvGrpSpPr/>
          <p:nvPr/>
        </p:nvGrpSpPr>
        <p:grpSpPr>
          <a:xfrm>
            <a:off x="6697599" y="1258729"/>
            <a:ext cx="3768023" cy="1875377"/>
            <a:chOff x="6697599" y="1258729"/>
            <a:chExt cx="3768023" cy="1875377"/>
          </a:xfrm>
        </p:grpSpPr>
        <p:sp>
          <p:nvSpPr>
            <p:cNvPr id="24" name="TextBox 24"/>
            <p:cNvSpPr txBox="1"/>
            <p:nvPr/>
          </p:nvSpPr>
          <p:spPr>
            <a:xfrm>
              <a:off x="6697599" y="1258729"/>
              <a:ext cx="3768023"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some / where iki farklı sorumluluk</a:t>
              </a:r>
            </a:p>
          </p:txBody>
        </p:sp>
        <p:sp>
          <p:nvSpPr>
            <p:cNvPr id="25" name="TextBox 25"/>
            <p:cNvSpPr txBox="1"/>
            <p:nvPr/>
          </p:nvSpPr>
          <p:spPr>
            <a:xfrm>
              <a:off x="6699504" y="1604010"/>
              <a:ext cx="258775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some</a:t>
              </a:r>
              <a:r>
                <a:rPr lang="tr-TR" sz="1200" dirty="0">
                  <a:solidFill>
                    <a:srgbClr val="172B3A"/>
                  </a:solidFill>
                  <a:latin typeface="+mn-lt"/>
                  <a:ea typeface="+mn-ea"/>
                  <a:cs typeface="+mn-cs"/>
                </a:rPr>
                <a:t>: en az bir ilişkili gönderi</a:t>
              </a:r>
              <a:br/>
              <a:r>
                <a:rPr lang="tr-TR" sz="1200" dirty="0">
                  <a:solidFill>
                    <a:srgbClr val="172B3A"/>
                  </a:solidFill>
                  <a:latin typeface="+mn-lt"/>
                  <a:ea typeface="+mn-ea"/>
                  <a:cs typeface="+mn-cs"/>
                </a:rPr>
                <a:t>koşulu karşılıyor mu (dış filtre).</a:t>
              </a:r>
            </a:p>
          </p:txBody>
        </p:sp>
        <p:sp>
          <p:nvSpPr>
            <p:cNvPr id="26" name="TextBox 26"/>
            <p:cNvSpPr txBox="1"/>
            <p:nvPr/>
          </p:nvSpPr>
          <p:spPr>
            <a:xfrm>
              <a:off x="6699504" y="2061210"/>
              <a:ext cx="20391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İçteki </a:t>
              </a:r>
              <a:r>
                <a:rPr lang="tr-TR" sz="1200" dirty="0">
                  <a:solidFill>
                    <a:srgbClr val="172B3A"/>
                  </a:solidFill>
                  <a:latin typeface="Consolas"/>
                  <a:ea typeface="Consolas"/>
                  <a:cs typeface="Consolas"/>
                </a:rPr>
                <a:t>where</a:t>
              </a:r>
              <a:r>
                <a:rPr lang="tr-TR" sz="1200" dirty="0">
                  <a:solidFill>
                    <a:srgbClr val="172B3A"/>
                  </a:solidFill>
                  <a:latin typeface="+mn-lt"/>
                  <a:ea typeface="+mn-ea"/>
                  <a:cs typeface="+mn-cs"/>
                </a:rPr>
                <a:t>: döndürülecek</a:t>
              </a:r>
              <a:br/>
              <a:r>
                <a:rPr lang="tr-TR" sz="1200" dirty="0">
                  <a:solidFill>
                    <a:srgbClr val="172B3A"/>
                  </a:solidFill>
                  <a:latin typeface="+mn-lt"/>
                  <a:ea typeface="+mn-ea"/>
                  <a:cs typeface="+mn-cs"/>
                </a:rPr>
                <a:t>gönderileri sınırlar.</a:t>
              </a:r>
            </a:p>
          </p:txBody>
        </p:sp>
        <p:sp>
          <p:nvSpPr>
            <p:cNvPr id="27" name="TextBox 27"/>
            <p:cNvSpPr txBox="1"/>
            <p:nvPr/>
          </p:nvSpPr>
          <p:spPr>
            <a:xfrm>
              <a:off x="6699504" y="2518410"/>
              <a:ext cx="265633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Dıştaki filtre hangi kullanıcıların</a:t>
              </a:r>
              <a:br/>
              <a:r>
                <a:rPr lang="tr-TR" sz="1200" dirty="0">
                  <a:solidFill>
                    <a:srgbClr val="172B3A"/>
                  </a:solidFill>
                  <a:latin typeface="+mn-lt"/>
                  <a:ea typeface="+mn-ea"/>
                  <a:cs typeface="+mn-cs"/>
                </a:rPr>
                <a:t>geleceğini, içteki hangi gönderilerin</a:t>
              </a:r>
              <a:br/>
              <a:r>
                <a:rPr lang="tr-TR" sz="1200" dirty="0">
                  <a:solidFill>
                    <a:srgbClr val="172B3A"/>
                  </a:solidFill>
                  <a:latin typeface="+mn-lt"/>
                  <a:ea typeface="+mn-ea"/>
                  <a:cs typeface="+mn-cs"/>
                </a:rPr>
                <a:t>döneceğini belirler.</a:t>
              </a:r>
            </a:p>
          </p:txBody>
        </p:sp>
      </p:grpSp>
      <p:grpSp>
        <p:nvGrpSpPr>
          <p:cNvPr id="34" name="choice-table"/>
          <p:cNvGrpSpPr/>
          <p:nvPr/>
        </p:nvGrpSpPr>
        <p:grpSpPr>
          <a:xfrm>
            <a:off x="6705600" y="3771900"/>
            <a:ext cx="4876800" cy="1219200"/>
            <a:chOff x="6705600" y="3771900"/>
            <a:chExt cx="4876800" cy="1219200"/>
          </a:xfrm>
        </p:grpSpPr>
        <p:sp>
          <p:nvSpPr>
            <p:cNvPr id="29" name="Rectangle 29"/>
            <p:cNvSpPr/>
            <p:nvPr/>
          </p:nvSpPr>
          <p:spPr>
            <a:xfrm>
              <a:off x="6705600" y="3771900"/>
              <a:ext cx="4876800" cy="1219200"/>
            </a:xfrm>
            <a:prstGeom prst="roundRect">
              <a:avLst>
                <a:gd name="adj" fmla="val 6250"/>
              </a:avLst>
            </a:prstGeom>
            <a:solidFill>
              <a:srgbClr val="FFFFFF"/>
            </a:solidFill>
            <a:ln w="9525">
              <a:solidFill>
                <a:srgbClr val="B8CBD3"/>
              </a:solidFill>
            </a:ln>
          </p:spPr>
        </p:sp>
        <p:sp>
          <p:nvSpPr>
            <p:cNvPr id="30" name="TextBox 30"/>
            <p:cNvSpPr txBox="1"/>
            <p:nvPr/>
          </p:nvSpPr>
          <p:spPr>
            <a:xfrm>
              <a:off x="6928104" y="3890010"/>
              <a:ext cx="193900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Consolas"/>
                  <a:ea typeface="Consolas"/>
                  <a:cs typeface="Consolas"/>
                </a:rPr>
                <a:t>include</a:t>
              </a:r>
              <a:r>
                <a:rPr lang="tr-TR" sz="1200" b="1" dirty="0">
                  <a:solidFill>
                    <a:srgbClr val="12355B"/>
                  </a:solidFill>
                  <a:latin typeface="+mn-lt"/>
                  <a:ea typeface="+mn-ea"/>
                  <a:cs typeface="+mn-cs"/>
                </a:rPr>
                <a:t xml:space="preserve"> vs iç içe </a:t>
              </a:r>
              <a:r>
                <a:rPr lang="tr-TR" sz="1200" b="1" dirty="0">
                  <a:solidFill>
                    <a:srgbClr val="12355B"/>
                  </a:solidFill>
                  <a:latin typeface="Consolas"/>
                  <a:ea typeface="Consolas"/>
                  <a:cs typeface="Consolas"/>
                </a:rPr>
                <a:t>select</a:t>
              </a:r>
            </a:p>
          </p:txBody>
        </p:sp>
        <p:sp>
          <p:nvSpPr>
            <p:cNvPr id="31" name="TextBox 31"/>
            <p:cNvSpPr txBox="1"/>
            <p:nvPr/>
          </p:nvSpPr>
          <p:spPr>
            <a:xfrm>
              <a:off x="6928485" y="4145756"/>
              <a:ext cx="3584783"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include</a:t>
              </a:r>
              <a:r>
                <a:rPr lang="tr-TR" sz="1120" dirty="0">
                  <a:solidFill>
                    <a:srgbClr val="172B3A"/>
                  </a:solidFill>
                  <a:latin typeface="+mn-lt"/>
                  <a:ea typeface="+mn-ea"/>
                  <a:cs typeface="+mn-cs"/>
                </a:rPr>
                <a:t>: tüm ilişkili alanlar gerektiğinde pratik.</a:t>
              </a:r>
            </a:p>
          </p:txBody>
        </p:sp>
        <p:sp>
          <p:nvSpPr>
            <p:cNvPr id="32" name="TextBox 32"/>
            <p:cNvSpPr txBox="1"/>
            <p:nvPr/>
          </p:nvSpPr>
          <p:spPr>
            <a:xfrm>
              <a:off x="6928485" y="4374356"/>
              <a:ext cx="3147822"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Consolas"/>
                  <a:ea typeface="Consolas"/>
                  <a:cs typeface="Consolas"/>
                </a:rPr>
                <a:t>select</a:t>
              </a:r>
              <a:r>
                <a:rPr lang="tr-TR" sz="1120" dirty="0">
                  <a:solidFill>
                    <a:srgbClr val="172B3A"/>
                  </a:solidFill>
                  <a:latin typeface="+mn-lt"/>
                  <a:ea typeface="+mn-ea"/>
                  <a:cs typeface="+mn-cs"/>
                </a:rPr>
                <a:t>: API yanıtında veri minimizasyonu,</a:t>
              </a:r>
            </a:p>
          </p:txBody>
        </p:sp>
        <p:sp>
          <p:nvSpPr>
            <p:cNvPr id="33" name="TextBox 33"/>
            <p:cNvSpPr txBox="1"/>
            <p:nvPr/>
          </p:nvSpPr>
          <p:spPr>
            <a:xfrm>
              <a:off x="6928485" y="4602956"/>
              <a:ext cx="3690325"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hassas alanları dışarıda bırakmak için kontrollü.</a:t>
              </a:r>
            </a:p>
          </p:txBody>
        </p:sp>
      </p:grpSp>
      <p:sp>
        <p:nvSpPr>
          <p:cNvPr id="35" name="TextBox 35"/>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16 / 25</a:t>
            </a:r>
          </a:p>
        </p:txBody>
      </p:sp>
    </p:spTree>
  </p:cSld>
  <p:clrMapOvr>
    <a:masterClrMapping/>
  </p:clrMapOvr>
  <p:transition xmlns:p14="http://schemas.microsoft.com/office/powerpoint/2010/main" p14:dur="400">
    <p:fade/>
  </p:transition>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7459213" cy="668845"/>
            <a:chOff x="609600" y="171450"/>
            <a:chExt cx="745921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77240" y="324326"/>
                <a:ext cx="236220" cy="265748"/>
                <a:chOff x="777240" y="324326"/>
                <a:chExt cx="236220" cy="265748"/>
              </a:xfrm>
            </p:grpSpPr>
            <p:sp>
              <p:nvSpPr>
                <p:cNvPr id="5" name="Freeform 5"/>
                <p:cNvSpPr/>
                <p:nvPr/>
              </p:nvSpPr>
              <p:spPr>
                <a:xfrm>
                  <a:off x="777240" y="324326"/>
                  <a:ext cx="236220" cy="88583"/>
                </a:xfrm>
                <a:custGeom>
                  <a:avLst/>
                  <a:gdLst/>
                  <a:ahLst/>
                  <a:cxnLst/>
                  <a:rect l="l" t="t" r="r" b="b"/>
                  <a:pathLst>
                    <a:path w="236220" h="88583">
                      <a:moveTo>
                        <a:pt x="0" y="44291"/>
                      </a:moveTo>
                      <a:cubicBezTo>
                        <a:pt x="0" y="68753"/>
                        <a:pt x="52880" y="88583"/>
                        <a:pt x="118110" y="88583"/>
                      </a:cubicBezTo>
                      <a:cubicBezTo>
                        <a:pt x="183340" y="88583"/>
                        <a:pt x="236220" y="68753"/>
                        <a:pt x="236220" y="44291"/>
                      </a:cubicBezTo>
                      <a:cubicBezTo>
                        <a:pt x="236220" y="19830"/>
                        <a:pt x="183340" y="0"/>
                        <a:pt x="118110" y="0"/>
                      </a:cubicBezTo>
                      <a:cubicBezTo>
                        <a:pt x="52880" y="0"/>
                        <a:pt x="0" y="19830"/>
                        <a:pt x="0" y="44291"/>
                      </a:cubicBezTo>
                    </a:path>
                  </a:pathLst>
                </a:custGeom>
                <a:noFill/>
                <a:ln w="24759" cap="rnd">
                  <a:solidFill>
                    <a:srgbClr val="FFFFFF"/>
                  </a:solidFill>
                  <a:round/>
                </a:ln>
              </p:spPr>
            </p:sp>
            <p:sp>
              <p:nvSpPr>
                <p:cNvPr id="6" name="Freeform 6"/>
                <p:cNvSpPr/>
                <p:nvPr/>
              </p:nvSpPr>
              <p:spPr>
                <a:xfrm>
                  <a:off x="777240" y="368618"/>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sp>
              <p:nvSpPr>
                <p:cNvPr id="7" name="Freeform 7"/>
                <p:cNvSpPr/>
                <p:nvPr/>
              </p:nvSpPr>
              <p:spPr>
                <a:xfrm>
                  <a:off x="777240" y="457200"/>
                  <a:ext cx="236220" cy="132874"/>
                </a:xfrm>
                <a:custGeom>
                  <a:avLst/>
                  <a:gdLst/>
                  <a:ahLst/>
                  <a:cxnLst/>
                  <a:rect l="l" t="t" r="r" b="b"/>
                  <a:pathLst>
                    <a:path w="236220" h="132874">
                      <a:moveTo>
                        <a:pt x="0" y="0"/>
                      </a:moveTo>
                      <a:lnTo>
                        <a:pt x="0" y="88582"/>
                      </a:lnTo>
                      <a:cubicBezTo>
                        <a:pt x="0" y="113044"/>
                        <a:pt x="52880" y="132874"/>
                        <a:pt x="118110" y="132874"/>
                      </a:cubicBezTo>
                      <a:cubicBezTo>
                        <a:pt x="183340" y="132874"/>
                        <a:pt x="236220" y="113044"/>
                        <a:pt x="236220" y="88582"/>
                      </a:cubicBezTo>
                      <a:lnTo>
                        <a:pt x="236220" y="0"/>
                      </a:lnTo>
                    </a:path>
                  </a:pathLst>
                </a:custGeom>
                <a:noFill/>
                <a:ln w="24759" cap="rnd">
                  <a:solidFill>
                    <a:srgbClr val="FFFFFF"/>
                  </a:solidFill>
                  <a:round/>
                </a:ln>
              </p:spPr>
            </p:sp>
          </p:grpSp>
        </p:grpSp>
        <p:sp>
          <p:nvSpPr>
            <p:cNvPr id="10" name="TextBox 10"/>
            <p:cNvSpPr txBox="1"/>
            <p:nvPr/>
          </p:nvSpPr>
          <p:spPr>
            <a:xfrm>
              <a:off x="1299972" y="282892"/>
              <a:ext cx="676884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İlişki sorgularında yaygın hatalar</a:t>
              </a:r>
            </a:p>
          </p:txBody>
        </p:sp>
      </p:grpSp>
      <p:grpSp>
        <p:nvGrpSpPr>
          <p:cNvPr id="37" name="compare-row"/>
          <p:cNvGrpSpPr/>
          <p:nvPr/>
        </p:nvGrpSpPr>
        <p:grpSpPr>
          <a:xfrm>
            <a:off x="609600" y="1181100"/>
            <a:ext cx="10972800" cy="2857500"/>
            <a:chOff x="609600" y="1181100"/>
            <a:chExt cx="10972800" cy="2857500"/>
          </a:xfrm>
        </p:grpSpPr>
        <p:sp>
          <p:nvSpPr>
            <p:cNvPr id="12" name="Rectangle 12"/>
            <p:cNvSpPr/>
            <p:nvPr/>
          </p:nvSpPr>
          <p:spPr>
            <a:xfrm>
              <a:off x="609600" y="1181100"/>
              <a:ext cx="5353050" cy="2857500"/>
            </a:xfrm>
            <a:prstGeom prst="roundRect">
              <a:avLst>
                <a:gd name="adj" fmla="val 2667"/>
              </a:avLst>
            </a:prstGeom>
            <a:solidFill>
              <a:srgbClr val="FFFFFF"/>
            </a:solidFill>
            <a:ln w="14288">
              <a:solidFill>
                <a:srgbClr val="B8CBD3"/>
              </a:solidFill>
            </a:ln>
          </p:spPr>
        </p:sp>
        <p:sp>
          <p:nvSpPr>
            <p:cNvPr id="13" name="Rectangle 13"/>
            <p:cNvSpPr/>
            <p:nvPr/>
          </p:nvSpPr>
          <p:spPr>
            <a:xfrm>
              <a:off x="609600" y="1181100"/>
              <a:ext cx="5353050" cy="381000"/>
            </a:xfrm>
            <a:prstGeom prst="roundRect">
              <a:avLst>
                <a:gd name="adj" fmla="val 20000"/>
              </a:avLst>
            </a:prstGeom>
            <a:solidFill>
              <a:srgbClr val="EAF4F6"/>
            </a:solidFill>
            <a:ln>
              <a:noFill/>
            </a:ln>
          </p:spPr>
        </p:sp>
        <p:sp>
          <p:nvSpPr>
            <p:cNvPr id="14" name="TextBox 14"/>
            <p:cNvSpPr txBox="1"/>
            <p:nvPr/>
          </p:nvSpPr>
          <p:spPr>
            <a:xfrm>
              <a:off x="832104" y="1299210"/>
              <a:ext cx="276603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Yanlış: include etmeden erişim</a:t>
              </a:r>
            </a:p>
          </p:txBody>
        </p:sp>
        <p:grpSp>
          <p:nvGrpSpPr>
            <p:cNvPr id="18" name="Group 18"/>
            <p:cNvGrpSpPr/>
            <p:nvPr/>
          </p:nvGrpSpPr>
          <p:grpSpPr>
            <a:xfrm>
              <a:off x="833247" y="1723549"/>
              <a:ext cx="2767193" cy="666940"/>
              <a:chOff x="833247" y="1723549"/>
              <a:chExt cx="2767193" cy="666940"/>
            </a:xfrm>
          </p:grpSpPr>
          <p:sp>
            <p:nvSpPr>
              <p:cNvPr id="15" name="TextBox 15"/>
              <p:cNvSpPr txBox="1"/>
              <p:nvPr/>
            </p:nvSpPr>
            <p:spPr>
              <a:xfrm>
                <a:off x="833247" y="1723549"/>
                <a:ext cx="225927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const yazar = await prisma.user</a:t>
                </a:r>
              </a:p>
            </p:txBody>
          </p:sp>
          <p:sp>
            <p:nvSpPr>
              <p:cNvPr id="16" name="TextBox 16"/>
              <p:cNvSpPr txBox="1"/>
              <p:nvPr/>
            </p:nvSpPr>
            <p:spPr>
              <a:xfrm>
                <a:off x="1061847" y="1914049"/>
                <a:ext cx="24851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.findUnique({ where: { id: 1 } });</a:t>
                </a:r>
              </a:p>
            </p:txBody>
          </p:sp>
          <p:sp>
            <p:nvSpPr>
              <p:cNvPr id="17" name="TextBox 17"/>
              <p:cNvSpPr txBox="1"/>
              <p:nvPr/>
            </p:nvSpPr>
            <p:spPr>
              <a:xfrm>
                <a:off x="833247" y="2199799"/>
                <a:ext cx="2767193" cy="190690"/>
              </a:xfrm>
              <a:prstGeom prst="rect">
                <a:avLst/>
              </a:prstGeom>
              <a:noFill/>
              <a:ln>
                <a:noFill/>
              </a:ln>
            </p:spPr>
            <p:txBody>
              <a:bodyPr wrap="none" lIns="0" tIns="0" rIns="0" bIns="0" anchor="t" anchorCtr="0">
                <a:spAutoFit/>
              </a:bodyPr>
              <a:lstStyle/>
              <a:p>
                <a:pPr algn="l"/>
                <a:r>
                  <a:rPr lang="tr-TR" sz="980" b="1" dirty="0">
                    <a:solidFill>
                      <a:srgbClr val="12355B"/>
                    </a:solidFill>
                    <a:latin typeface="Consolas"/>
                    <a:ea typeface="Consolas"/>
                    <a:cs typeface="Consolas"/>
                  </a:rPr>
                  <a:t>console.log(yazar?.gonderiler.length);</a:t>
                </a:r>
              </a:p>
            </p:txBody>
          </p:sp>
        </p:grpSp>
        <p:sp>
          <p:nvSpPr>
            <p:cNvPr id="19" name="TextBox 19"/>
            <p:cNvSpPr txBox="1"/>
            <p:nvPr/>
          </p:nvSpPr>
          <p:spPr>
            <a:xfrm>
              <a:off x="832866" y="2648902"/>
              <a:ext cx="247017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gonderiler sonuç türünde bulunmaz;</a:t>
              </a:r>
            </a:p>
          </p:txBody>
        </p:sp>
        <p:sp>
          <p:nvSpPr>
            <p:cNvPr id="20" name="TextBox 20"/>
            <p:cNvSpPr txBox="1"/>
            <p:nvPr/>
          </p:nvSpPr>
          <p:spPr>
            <a:xfrm>
              <a:off x="832866" y="2839402"/>
              <a:ext cx="257108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TypeScript alan erişimini hata sayar.</a:t>
              </a:r>
            </a:p>
          </p:txBody>
        </p:sp>
        <p:sp>
          <p:nvSpPr>
            <p:cNvPr id="21" name="TextBox 21"/>
            <p:cNvSpPr txBox="1"/>
            <p:nvPr/>
          </p:nvSpPr>
          <p:spPr>
            <a:xfrm>
              <a:off x="832866" y="3106102"/>
              <a:ext cx="224161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Sorun: ilişki açıkça istenmemiş.</a:t>
              </a:r>
            </a:p>
          </p:txBody>
        </p:sp>
        <p:sp>
          <p:nvSpPr>
            <p:cNvPr id="22" name="TextBox 22"/>
            <p:cNvSpPr txBox="1"/>
            <p:nvPr/>
          </p:nvSpPr>
          <p:spPr>
            <a:xfrm>
              <a:off x="832866" y="3372802"/>
              <a:ext cx="292764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İkinci hata: some/every/none karışması.</a:t>
              </a:r>
            </a:p>
          </p:txBody>
        </p:sp>
        <p:sp>
          <p:nvSpPr>
            <p:cNvPr id="23" name="TextBox 23"/>
            <p:cNvSpPr txBox="1"/>
            <p:nvPr/>
          </p:nvSpPr>
          <p:spPr>
            <a:xfrm>
              <a:off x="832866" y="3620452"/>
              <a:ext cx="442544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Üçüncü hata: sayfalama olmadan tüm ilişkili kayıtları yüklemek.</a:t>
              </a:r>
            </a:p>
          </p:txBody>
        </p:sp>
        <p:sp>
          <p:nvSpPr>
            <p:cNvPr id="24" name="Rectangle 24"/>
            <p:cNvSpPr/>
            <p:nvPr/>
          </p:nvSpPr>
          <p:spPr>
            <a:xfrm>
              <a:off x="6229350" y="1181100"/>
              <a:ext cx="5353050" cy="2857500"/>
            </a:xfrm>
            <a:prstGeom prst="roundRect">
              <a:avLst>
                <a:gd name="adj" fmla="val 2667"/>
              </a:avLst>
            </a:prstGeom>
            <a:solidFill>
              <a:srgbClr val="FFFFFF"/>
            </a:solidFill>
            <a:ln w="14288">
              <a:solidFill>
                <a:srgbClr val="00A6A6"/>
              </a:solidFill>
            </a:ln>
          </p:spPr>
        </p:sp>
        <p:sp>
          <p:nvSpPr>
            <p:cNvPr id="25" name="Rectangle 25"/>
            <p:cNvSpPr/>
            <p:nvPr/>
          </p:nvSpPr>
          <p:spPr>
            <a:xfrm>
              <a:off x="6229350" y="1181100"/>
              <a:ext cx="5353050" cy="381000"/>
            </a:xfrm>
            <a:prstGeom prst="roundRect">
              <a:avLst>
                <a:gd name="adj" fmla="val 20000"/>
              </a:avLst>
            </a:prstGeom>
            <a:solidFill>
              <a:srgbClr val="EAF4F6"/>
            </a:solidFill>
            <a:ln>
              <a:noFill/>
            </a:ln>
          </p:spPr>
        </p:sp>
        <p:sp>
          <p:nvSpPr>
            <p:cNvPr id="26" name="TextBox 26"/>
            <p:cNvSpPr txBox="1"/>
            <p:nvPr/>
          </p:nvSpPr>
          <p:spPr>
            <a:xfrm>
              <a:off x="6451854" y="1299210"/>
              <a:ext cx="2375729"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Doğru: ilişkiyi açıkça iste</a:t>
              </a:r>
            </a:p>
          </p:txBody>
        </p:sp>
        <p:grpSp>
          <p:nvGrpSpPr>
            <p:cNvPr id="31" name="Group 31"/>
            <p:cNvGrpSpPr/>
            <p:nvPr/>
          </p:nvGrpSpPr>
          <p:grpSpPr>
            <a:xfrm>
              <a:off x="6452997" y="1723549"/>
              <a:ext cx="3129994" cy="857440"/>
              <a:chOff x="6452997" y="1723549"/>
              <a:chExt cx="3129994" cy="857440"/>
            </a:xfrm>
          </p:grpSpPr>
          <p:sp>
            <p:nvSpPr>
              <p:cNvPr id="27" name="TextBox 27"/>
              <p:cNvSpPr txBox="1"/>
              <p:nvPr/>
            </p:nvSpPr>
            <p:spPr>
              <a:xfrm>
                <a:off x="6452997" y="1723549"/>
                <a:ext cx="225927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const yazar = await prisma.user</a:t>
                </a:r>
              </a:p>
            </p:txBody>
          </p:sp>
          <p:sp>
            <p:nvSpPr>
              <p:cNvPr id="28" name="TextBox 28"/>
              <p:cNvSpPr txBox="1"/>
              <p:nvPr/>
            </p:nvSpPr>
            <p:spPr>
              <a:xfrm>
                <a:off x="6681597" y="1914049"/>
                <a:ext cx="226676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.findUnique({ where: { id: 1 },</a:t>
                </a:r>
              </a:p>
            </p:txBody>
          </p:sp>
          <p:sp>
            <p:nvSpPr>
              <p:cNvPr id="29" name="TextBox 29"/>
              <p:cNvSpPr txBox="1"/>
              <p:nvPr/>
            </p:nvSpPr>
            <p:spPr>
              <a:xfrm>
                <a:off x="6681597" y="2104549"/>
                <a:ext cx="2404392"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include: { gonderiler: true } });</a:t>
                </a:r>
              </a:p>
            </p:txBody>
          </p:sp>
          <p:sp>
            <p:nvSpPr>
              <p:cNvPr id="30" name="TextBox 30"/>
              <p:cNvSpPr txBox="1"/>
              <p:nvPr/>
            </p:nvSpPr>
            <p:spPr>
              <a:xfrm>
                <a:off x="6452997" y="2390299"/>
                <a:ext cx="312999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console.log(yazar?.gonderiler.length ?? 0);</a:t>
                </a:r>
              </a:p>
            </p:txBody>
          </p:sp>
        </p:grpSp>
        <p:sp>
          <p:nvSpPr>
            <p:cNvPr id="32" name="TextBox 32"/>
            <p:cNvSpPr txBox="1"/>
            <p:nvPr/>
          </p:nvSpPr>
          <p:spPr>
            <a:xfrm>
              <a:off x="6452616" y="2744152"/>
              <a:ext cx="2354756"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Dördüncü hata: silme davranışını</a:t>
              </a:r>
            </a:p>
          </p:txBody>
        </p:sp>
        <p:sp>
          <p:nvSpPr>
            <p:cNvPr id="33" name="TextBox 33"/>
            <p:cNvSpPr txBox="1"/>
            <p:nvPr/>
          </p:nvSpPr>
          <p:spPr>
            <a:xfrm>
              <a:off x="6452616" y="2934652"/>
              <a:ext cx="224401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düşünmeden ilişkili kayıt silmek.</a:t>
              </a:r>
            </a:p>
          </p:txBody>
        </p:sp>
        <p:sp>
          <p:nvSpPr>
            <p:cNvPr id="34" name="TextBox 34"/>
            <p:cNvSpPr txBox="1"/>
            <p:nvPr/>
          </p:nvSpPr>
          <p:spPr>
            <a:xfrm>
              <a:off x="6452616" y="3201352"/>
              <a:ext cx="269416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Çözüm: filtre anlamlarını test etmek,</a:t>
              </a:r>
            </a:p>
          </p:txBody>
        </p:sp>
        <p:sp>
          <p:nvSpPr>
            <p:cNvPr id="35" name="TextBox 35"/>
            <p:cNvSpPr txBox="1"/>
            <p:nvPr/>
          </p:nvSpPr>
          <p:spPr>
            <a:xfrm>
              <a:off x="6452616" y="3391852"/>
              <a:ext cx="230055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veri miktarını sınırlamak, silme</a:t>
              </a:r>
            </a:p>
          </p:txBody>
        </p:sp>
        <p:sp>
          <p:nvSpPr>
            <p:cNvPr id="36" name="TextBox 36"/>
            <p:cNvSpPr txBox="1"/>
            <p:nvPr/>
          </p:nvSpPr>
          <p:spPr>
            <a:xfrm>
              <a:off x="6452616" y="3582352"/>
              <a:ext cx="2427770"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politikasını schema'da belirlemek.</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17 / 25</a:t>
            </a:r>
          </a:p>
        </p:txBody>
      </p:sp>
    </p:spTree>
  </p:cSld>
  <p:clrMapOvr>
    <a:masterClrMapping/>
  </p:clrMapOvr>
  <p:transition xmlns:p14="http://schemas.microsoft.com/office/powerpoint/2010/main" p14:dur="400">
    <p:fade/>
  </p:transition>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2" name="page-title"/>
          <p:cNvGrpSpPr/>
          <p:nvPr/>
        </p:nvGrpSpPr>
        <p:grpSpPr>
          <a:xfrm>
            <a:off x="609600" y="171450"/>
            <a:ext cx="8185242" cy="668845"/>
            <a:chOff x="609600" y="171450"/>
            <a:chExt cx="8185242" cy="668845"/>
          </a:xfrm>
        </p:grpSpPr>
        <p:grpSp>
          <p:nvGrpSpPr>
            <p:cNvPr id="10"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9" name="Group 9"/>
              <p:cNvGrpSpPr/>
              <p:nvPr/>
            </p:nvGrpSpPr>
            <p:grpSpPr>
              <a:xfrm>
                <a:off x="777240" y="339090"/>
                <a:ext cx="236220" cy="236220"/>
                <a:chOff x="777240" y="339090"/>
                <a:chExt cx="236220" cy="236220"/>
              </a:xfrm>
            </p:grpSpPr>
            <p:sp>
              <p:nvSpPr>
                <p:cNvPr id="5" name="Freeform 5"/>
                <p:cNvSpPr/>
                <p:nvPr/>
              </p:nvSpPr>
              <p:spPr>
                <a:xfrm>
                  <a:off x="777240" y="33909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6" name="Freeform 6"/>
                <p:cNvSpPr/>
                <p:nvPr/>
              </p:nvSpPr>
              <p:spPr>
                <a:xfrm>
                  <a:off x="777240" y="516255"/>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sp>
              <p:nvSpPr>
                <p:cNvPr id="7" name="Freeform 7"/>
                <p:cNvSpPr/>
                <p:nvPr/>
              </p:nvSpPr>
              <p:spPr>
                <a:xfrm>
                  <a:off x="924878" y="457200"/>
                  <a:ext cx="88582" cy="118110"/>
                </a:xfrm>
                <a:custGeom>
                  <a:avLst/>
                  <a:gdLst/>
                  <a:ahLst/>
                  <a:cxnLst/>
                  <a:rect l="l" t="t" r="r" b="b"/>
                  <a:pathLst>
                    <a:path w="88582" h="118110">
                      <a:moveTo>
                        <a:pt x="14764" y="0"/>
                      </a:moveTo>
                      <a:lnTo>
                        <a:pt x="73819" y="0"/>
                      </a:lnTo>
                      <a:cubicBezTo>
                        <a:pt x="81973" y="0"/>
                        <a:pt x="88582" y="6610"/>
                        <a:pt x="88582" y="14764"/>
                      </a:cubicBezTo>
                      <a:lnTo>
                        <a:pt x="88582" y="103346"/>
                      </a:lnTo>
                      <a:cubicBezTo>
                        <a:pt x="88582" y="111500"/>
                        <a:pt x="81973" y="118110"/>
                        <a:pt x="73819" y="118110"/>
                      </a:cubicBezTo>
                      <a:lnTo>
                        <a:pt x="14764" y="118110"/>
                      </a:lnTo>
                      <a:cubicBezTo>
                        <a:pt x="6610" y="118110"/>
                        <a:pt x="0" y="111500"/>
                        <a:pt x="0" y="103346"/>
                      </a:cubicBezTo>
                      <a:lnTo>
                        <a:pt x="0" y="14764"/>
                      </a:lnTo>
                      <a:cubicBezTo>
                        <a:pt x="0" y="6610"/>
                        <a:pt x="6610" y="0"/>
                        <a:pt x="14764" y="0"/>
                      </a:cubicBezTo>
                    </a:path>
                  </a:pathLst>
                </a:custGeom>
                <a:noFill/>
                <a:ln w="24759" cap="rnd">
                  <a:solidFill>
                    <a:srgbClr val="FFFFFF"/>
                  </a:solidFill>
                  <a:round/>
                </a:ln>
              </p:spPr>
            </p:sp>
            <p:sp>
              <p:nvSpPr>
                <p:cNvPr id="8" name="Freeform 8"/>
                <p:cNvSpPr/>
                <p:nvPr/>
              </p:nvSpPr>
              <p:spPr>
                <a:xfrm>
                  <a:off x="924878" y="339090"/>
                  <a:ext cx="88582" cy="59055"/>
                </a:xfrm>
                <a:custGeom>
                  <a:avLst/>
                  <a:gdLst/>
                  <a:ahLst/>
                  <a:cxnLst/>
                  <a:rect l="l" t="t" r="r" b="b"/>
                  <a:pathLst>
                    <a:path w="88582" h="59055">
                      <a:moveTo>
                        <a:pt x="14764" y="0"/>
                      </a:moveTo>
                      <a:lnTo>
                        <a:pt x="73819" y="0"/>
                      </a:lnTo>
                      <a:cubicBezTo>
                        <a:pt x="81973" y="0"/>
                        <a:pt x="88582" y="6610"/>
                        <a:pt x="88582" y="14764"/>
                      </a:cubicBezTo>
                      <a:lnTo>
                        <a:pt x="88582" y="44291"/>
                      </a:lnTo>
                      <a:cubicBezTo>
                        <a:pt x="88582" y="52445"/>
                        <a:pt x="81973" y="59055"/>
                        <a:pt x="73819" y="59055"/>
                      </a:cubicBezTo>
                      <a:lnTo>
                        <a:pt x="14764" y="59055"/>
                      </a:lnTo>
                      <a:cubicBezTo>
                        <a:pt x="6610" y="59055"/>
                        <a:pt x="0" y="52445"/>
                        <a:pt x="0" y="44291"/>
                      </a:cubicBezTo>
                      <a:lnTo>
                        <a:pt x="0" y="14764"/>
                      </a:lnTo>
                      <a:cubicBezTo>
                        <a:pt x="0" y="6610"/>
                        <a:pt x="6610" y="0"/>
                        <a:pt x="14764" y="0"/>
                      </a:cubicBezTo>
                    </a:path>
                  </a:pathLst>
                </a:custGeom>
                <a:noFill/>
                <a:ln w="24759" cap="rnd">
                  <a:solidFill>
                    <a:srgbClr val="FFFFFF"/>
                  </a:solidFill>
                  <a:round/>
                </a:ln>
              </p:spPr>
            </p:sp>
          </p:grpSp>
        </p:grpSp>
        <p:sp>
          <p:nvSpPr>
            <p:cNvPr id="11" name="TextBox 11"/>
            <p:cNvSpPr txBox="1"/>
            <p:nvPr/>
          </p:nvSpPr>
          <p:spPr>
            <a:xfrm>
              <a:off x="1299972" y="282892"/>
              <a:ext cx="7494870"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Repository veri erişim katmanı nedir?</a:t>
              </a:r>
            </a:p>
          </p:txBody>
        </p:sp>
      </p:grpSp>
      <p:grpSp>
        <p:nvGrpSpPr>
          <p:cNvPr id="17" name="def-block"/>
          <p:cNvGrpSpPr/>
          <p:nvPr/>
        </p:nvGrpSpPr>
        <p:grpSpPr>
          <a:xfrm>
            <a:off x="609600" y="1219200"/>
            <a:ext cx="10972800" cy="1028700"/>
            <a:chOff x="609600" y="1219200"/>
            <a:chExt cx="10972800" cy="1028700"/>
          </a:xfrm>
        </p:grpSpPr>
        <p:sp>
          <p:nvSpPr>
            <p:cNvPr id="13" name="Rectangle 13"/>
            <p:cNvSpPr/>
            <p:nvPr/>
          </p:nvSpPr>
          <p:spPr>
            <a:xfrm>
              <a:off x="609600" y="1219200"/>
              <a:ext cx="10972800" cy="1028700"/>
            </a:xfrm>
            <a:prstGeom prst="roundRect">
              <a:avLst>
                <a:gd name="adj" fmla="val 7407"/>
              </a:avLst>
            </a:prstGeom>
            <a:solidFill>
              <a:srgbClr val="EAF4F6"/>
            </a:solidFill>
            <a:ln>
              <a:noFill/>
            </a:ln>
          </p:spPr>
        </p:sp>
        <p:sp>
          <p:nvSpPr>
            <p:cNvPr id="14" name="Rectangle 14"/>
            <p:cNvSpPr/>
            <p:nvPr/>
          </p:nvSpPr>
          <p:spPr>
            <a:xfrm>
              <a:off x="609600" y="1219200"/>
              <a:ext cx="57150" cy="1028700"/>
            </a:xfrm>
            <a:prstGeom prst="rect">
              <a:avLst/>
            </a:prstGeom>
            <a:solidFill>
              <a:srgbClr val="00A6A6"/>
            </a:solidFill>
            <a:ln>
              <a:noFill/>
            </a:ln>
          </p:spPr>
        </p:sp>
        <p:sp>
          <p:nvSpPr>
            <p:cNvPr id="15" name="TextBox 15"/>
            <p:cNvSpPr txBox="1"/>
            <p:nvPr/>
          </p:nvSpPr>
          <p:spPr>
            <a:xfrm>
              <a:off x="906399" y="1334929"/>
              <a:ext cx="682298"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Tanım</a:t>
              </a:r>
            </a:p>
          </p:txBody>
        </p:sp>
        <p:sp>
          <p:nvSpPr>
            <p:cNvPr id="16" name="TextBox 16"/>
            <p:cNvSpPr txBox="1"/>
            <p:nvPr/>
          </p:nvSpPr>
          <p:spPr>
            <a:xfrm>
              <a:off x="908304" y="1642110"/>
              <a:ext cx="7464552" cy="463296"/>
            </a:xfrm>
            <a:prstGeom prst="rect">
              <a:avLst/>
            </a:prstGeom>
            <a:noFill/>
            <a:ln>
              <a:noFill/>
            </a:ln>
          </p:spPr>
          <p:txBody>
            <a:bodyPr wrap="none" lIns="0" tIns="0" rIns="0" bIns="0" anchor="t" anchorCtr="0">
              <a:spAutoFit/>
            </a:bodyPr>
            <a:lstStyle/>
            <a:p>
              <a:pPr algn="l">
                <a:lnSpc>
                  <a:spcPts val="1800"/>
                </a:lnSpc>
              </a:pPr>
              <a:r>
                <a:rPr lang="tr-TR" sz="1200" dirty="0">
                  <a:solidFill>
                    <a:srgbClr val="172B3A"/>
                  </a:solidFill>
                  <a:latin typeface="+mn-lt"/>
                  <a:ea typeface="+mn-ea"/>
                  <a:cs typeface="+mn-cs"/>
                </a:rPr>
                <a:t>Repository, veri erişim işlemlerini uygulamanın iş kurallarından ayıran tasarım katmanıdır. Servis</a:t>
              </a:r>
              <a:br/>
              <a:r>
                <a:rPr lang="tr-TR" sz="1200" dirty="0">
                  <a:solidFill>
                    <a:srgbClr val="172B3A"/>
                  </a:solidFill>
                  <a:latin typeface="+mn-lt"/>
                  <a:ea typeface="+mn-ea"/>
                  <a:cs typeface="+mn-cs"/>
                </a:rPr>
                <a:t>"yayınlanmış gönderileri getir" der; repository bunun Prisma sorgusuna nasıl dönüşeceğini bilir.</a:t>
              </a:r>
            </a:p>
          </p:txBody>
        </p:sp>
      </p:grpSp>
      <p:grpSp>
        <p:nvGrpSpPr>
          <p:cNvPr id="35" name="layered-diagram"/>
          <p:cNvGrpSpPr/>
          <p:nvPr/>
        </p:nvGrpSpPr>
        <p:grpSpPr>
          <a:xfrm>
            <a:off x="609600" y="2514600"/>
            <a:ext cx="10972800" cy="1333500"/>
            <a:chOff x="609600" y="2514600"/>
            <a:chExt cx="10972800" cy="1333500"/>
          </a:xfrm>
        </p:grpSpPr>
        <p:sp>
          <p:nvSpPr>
            <p:cNvPr id="18" name="Rectangle 18"/>
            <p:cNvSpPr/>
            <p:nvPr/>
          </p:nvSpPr>
          <p:spPr>
            <a:xfrm>
              <a:off x="609600" y="2514600"/>
              <a:ext cx="3143250" cy="1333500"/>
            </a:xfrm>
            <a:prstGeom prst="roundRect">
              <a:avLst>
                <a:gd name="adj" fmla="val 7143"/>
              </a:avLst>
            </a:prstGeom>
            <a:solidFill>
              <a:srgbClr val="FFFFFF"/>
            </a:solidFill>
            <a:ln w="14288">
              <a:solidFill>
                <a:srgbClr val="2E86AB"/>
              </a:solidFill>
            </a:ln>
          </p:spPr>
        </p:sp>
        <p:sp>
          <p:nvSpPr>
            <p:cNvPr id="19" name="TextBox 19"/>
            <p:cNvSpPr txBox="1"/>
            <p:nvPr/>
          </p:nvSpPr>
          <p:spPr>
            <a:xfrm>
              <a:off x="831342" y="2673668"/>
              <a:ext cx="1431961"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Servis katmanı</a:t>
              </a:r>
            </a:p>
          </p:txBody>
        </p:sp>
        <p:sp>
          <p:nvSpPr>
            <p:cNvPr id="20" name="TextBox 20"/>
            <p:cNvSpPr txBox="1"/>
            <p:nvPr/>
          </p:nvSpPr>
          <p:spPr>
            <a:xfrm>
              <a:off x="832485" y="2983706"/>
              <a:ext cx="2172024"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"Yetkili kullanıcıları listele"</a:t>
              </a:r>
            </a:p>
          </p:txBody>
        </p:sp>
        <p:sp>
          <p:nvSpPr>
            <p:cNvPr id="21" name="TextBox 21"/>
            <p:cNvSpPr txBox="1"/>
            <p:nvPr/>
          </p:nvSpPr>
          <p:spPr>
            <a:xfrm>
              <a:off x="832485" y="3212306"/>
              <a:ext cx="2192413"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İş odaklı, Prisma söz dizimini</a:t>
              </a:r>
            </a:p>
          </p:txBody>
        </p:sp>
        <p:sp>
          <p:nvSpPr>
            <p:cNvPr id="22" name="TextBox 22"/>
            <p:cNvSpPr txBox="1"/>
            <p:nvPr/>
          </p:nvSpPr>
          <p:spPr>
            <a:xfrm>
              <a:off x="832485" y="3440906"/>
              <a:ext cx="546679" cy="220028"/>
            </a:xfrm>
            <a:prstGeom prst="rect">
              <a:avLst/>
            </a:prstGeom>
            <a:noFill/>
            <a:ln>
              <a:noFill/>
            </a:ln>
          </p:spPr>
          <p:txBody>
            <a:bodyPr wrap="none" lIns="0" tIns="0" rIns="0" bIns="0" anchor="t" anchorCtr="0">
              <a:spAutoFit/>
            </a:bodyPr>
            <a:lstStyle/>
            <a:p>
              <a:pPr algn="l"/>
              <a:r>
                <a:rPr lang="tr-TR" sz="1120" dirty="0">
                  <a:solidFill>
                    <a:srgbClr val="52616B"/>
                  </a:solidFill>
                  <a:latin typeface="+mn-lt"/>
                  <a:ea typeface="+mn-ea"/>
                  <a:cs typeface="+mn-cs"/>
                </a:rPr>
                <a:t>bilmez.</a:t>
              </a:r>
            </a:p>
          </p:txBody>
        </p:sp>
        <p:sp>
          <p:nvSpPr>
            <p:cNvPr id="23" name="Rectangle 23"/>
            <p:cNvSpPr/>
            <p:nvPr/>
          </p:nvSpPr>
          <p:spPr>
            <a:xfrm>
              <a:off x="4524375" y="2514600"/>
              <a:ext cx="3143250" cy="1333500"/>
            </a:xfrm>
            <a:prstGeom prst="roundRect">
              <a:avLst>
                <a:gd name="adj" fmla="val 7143"/>
              </a:avLst>
            </a:prstGeom>
            <a:solidFill>
              <a:srgbClr val="EAF4F6"/>
            </a:solidFill>
            <a:ln w="14288">
              <a:solidFill>
                <a:srgbClr val="00A6A6"/>
              </a:solidFill>
            </a:ln>
          </p:spPr>
        </p:sp>
        <p:sp>
          <p:nvSpPr>
            <p:cNvPr id="24" name="TextBox 24"/>
            <p:cNvSpPr txBox="1"/>
            <p:nvPr/>
          </p:nvSpPr>
          <p:spPr>
            <a:xfrm>
              <a:off x="4746117" y="2673668"/>
              <a:ext cx="1021212" cy="264033"/>
            </a:xfrm>
            <a:prstGeom prst="rect">
              <a:avLst/>
            </a:prstGeom>
            <a:noFill/>
            <a:ln>
              <a:noFill/>
            </a:ln>
          </p:spPr>
          <p:txBody>
            <a:bodyPr wrap="none" lIns="0" tIns="0" rIns="0" bIns="0" anchor="t" anchorCtr="0">
              <a:spAutoFit/>
            </a:bodyPr>
            <a:lstStyle/>
            <a:p>
              <a:pPr algn="l"/>
              <a:r>
                <a:rPr lang="tr-TR" sz="1350" b="1" dirty="0">
                  <a:solidFill>
                    <a:srgbClr val="12355B"/>
                  </a:solidFill>
                  <a:latin typeface="+mn-lt"/>
                  <a:ea typeface="+mn-ea"/>
                  <a:cs typeface="+mn-cs"/>
                </a:rPr>
                <a:t>Repository</a:t>
              </a:r>
            </a:p>
          </p:txBody>
        </p:sp>
        <p:sp>
          <p:nvSpPr>
            <p:cNvPr id="25" name="TextBox 25"/>
            <p:cNvSpPr txBox="1"/>
            <p:nvPr/>
          </p:nvSpPr>
          <p:spPr>
            <a:xfrm>
              <a:off x="4747260" y="2983706"/>
              <a:ext cx="1657079"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epostaIleBul, olustur,</a:t>
              </a:r>
            </a:p>
          </p:txBody>
        </p:sp>
        <p:sp>
          <p:nvSpPr>
            <p:cNvPr id="26" name="TextBox 26"/>
            <p:cNvSpPr txBox="1"/>
            <p:nvPr/>
          </p:nvSpPr>
          <p:spPr>
            <a:xfrm>
              <a:off x="4747260" y="3212306"/>
              <a:ext cx="2025137"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yayinlanmisGonderileriGetir</a:t>
              </a:r>
            </a:p>
          </p:txBody>
        </p:sp>
        <p:sp>
          <p:nvSpPr>
            <p:cNvPr id="27" name="TextBox 27"/>
            <p:cNvSpPr txBox="1"/>
            <p:nvPr/>
          </p:nvSpPr>
          <p:spPr>
            <a:xfrm>
              <a:off x="4747260" y="3440906"/>
              <a:ext cx="2401204" cy="220028"/>
            </a:xfrm>
            <a:prstGeom prst="rect">
              <a:avLst/>
            </a:prstGeom>
            <a:noFill/>
            <a:ln>
              <a:noFill/>
            </a:ln>
          </p:spPr>
          <p:txBody>
            <a:bodyPr wrap="none" lIns="0" tIns="0" rIns="0" bIns="0" anchor="t" anchorCtr="0">
              <a:spAutoFit/>
            </a:bodyPr>
            <a:lstStyle/>
            <a:p>
              <a:pPr algn="l"/>
              <a:r>
                <a:rPr lang="tr-TR" sz="1120" dirty="0">
                  <a:solidFill>
                    <a:srgbClr val="172B3A"/>
                  </a:solidFill>
                  <a:latin typeface="+mn-lt"/>
                  <a:ea typeface="+mn-ea"/>
                  <a:cs typeface="+mn-cs"/>
                </a:rPr>
                <a:t>gibi uygulama-diline yakın adlar.</a:t>
              </a:r>
            </a:p>
          </p:txBody>
        </p:sp>
        <p:sp>
          <p:nvSpPr>
            <p:cNvPr id="28" name="Rectangle 28"/>
            <p:cNvSpPr/>
            <p:nvPr/>
          </p:nvSpPr>
          <p:spPr>
            <a:xfrm>
              <a:off x="8439150" y="2514600"/>
              <a:ext cx="3143250" cy="1333500"/>
            </a:xfrm>
            <a:prstGeom prst="roundRect">
              <a:avLst>
                <a:gd name="adj" fmla="val 7143"/>
              </a:avLst>
            </a:prstGeom>
            <a:solidFill>
              <a:srgbClr val="12355B"/>
            </a:solidFill>
            <a:ln>
              <a:noFill/>
            </a:ln>
          </p:spPr>
        </p:sp>
        <p:sp>
          <p:nvSpPr>
            <p:cNvPr id="29" name="TextBox 29"/>
            <p:cNvSpPr txBox="1"/>
            <p:nvPr/>
          </p:nvSpPr>
          <p:spPr>
            <a:xfrm>
              <a:off x="8660892" y="2673668"/>
              <a:ext cx="1236879" cy="264033"/>
            </a:xfrm>
            <a:prstGeom prst="rect">
              <a:avLst/>
            </a:prstGeom>
            <a:noFill/>
            <a:ln>
              <a:noFill/>
            </a:ln>
          </p:spPr>
          <p:txBody>
            <a:bodyPr wrap="none" lIns="0" tIns="0" rIns="0" bIns="0" anchor="t" anchorCtr="0">
              <a:spAutoFit/>
            </a:bodyPr>
            <a:lstStyle/>
            <a:p>
              <a:pPr algn="l"/>
              <a:r>
                <a:rPr lang="tr-TR" sz="1350" b="1" dirty="0">
                  <a:solidFill>
                    <a:srgbClr val="FFFFFF"/>
                  </a:solidFill>
                  <a:latin typeface="+mn-lt"/>
                  <a:ea typeface="+mn-ea"/>
                  <a:cs typeface="+mn-cs"/>
                </a:rPr>
                <a:t>Prisma Client</a:t>
              </a:r>
            </a:p>
          </p:txBody>
        </p:sp>
        <p:sp>
          <p:nvSpPr>
            <p:cNvPr id="30" name="TextBox 30"/>
            <p:cNvSpPr txBox="1"/>
            <p:nvPr/>
          </p:nvSpPr>
          <p:spPr>
            <a:xfrm>
              <a:off x="8662035" y="2983706"/>
              <a:ext cx="1840964"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Ham veritabanı çağrısı,</a:t>
              </a:r>
            </a:p>
          </p:txBody>
        </p:sp>
        <p:sp>
          <p:nvSpPr>
            <p:cNvPr id="31" name="TextBox 31"/>
            <p:cNvSpPr txBox="1"/>
            <p:nvPr/>
          </p:nvSpPr>
          <p:spPr>
            <a:xfrm>
              <a:off x="8662035" y="3212306"/>
              <a:ext cx="1941342"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yalnızca repository içinde</a:t>
              </a:r>
            </a:p>
          </p:txBody>
        </p:sp>
        <p:sp>
          <p:nvSpPr>
            <p:cNvPr id="32" name="TextBox 32"/>
            <p:cNvSpPr txBox="1"/>
            <p:nvPr/>
          </p:nvSpPr>
          <p:spPr>
            <a:xfrm>
              <a:off x="8662035" y="3440906"/>
              <a:ext cx="524063" cy="220028"/>
            </a:xfrm>
            <a:prstGeom prst="rect">
              <a:avLst/>
            </a:prstGeom>
            <a:noFill/>
            <a:ln>
              <a:noFill/>
            </a:ln>
          </p:spPr>
          <p:txBody>
            <a:bodyPr wrap="none" lIns="0" tIns="0" rIns="0" bIns="0" anchor="t" anchorCtr="0">
              <a:spAutoFit/>
            </a:bodyPr>
            <a:lstStyle/>
            <a:p>
              <a:pPr algn="l"/>
              <a:r>
                <a:rPr lang="tr-TR" sz="1120" dirty="0">
                  <a:solidFill>
                    <a:srgbClr val="EAF4F6"/>
                  </a:solidFill>
                  <a:latin typeface="+mn-lt"/>
                  <a:ea typeface="+mn-ea"/>
                  <a:cs typeface="+mn-cs"/>
                </a:rPr>
                <a:t>bilinir.</a:t>
              </a:r>
            </a:p>
          </p:txBody>
        </p:sp>
        <p:sp>
          <p:nvSpPr>
            <p:cNvPr id="33" name="Line 33"/>
            <p:cNvSpPr/>
            <p:nvPr/>
          </p:nvSpPr>
          <p:spPr>
            <a:xfrm>
              <a:off x="3752850" y="3181350"/>
              <a:ext cx="771525" cy="1"/>
            </a:xfrm>
            <a:prstGeom prst="line">
              <a:avLst/>
            </a:prstGeom>
            <a:noFill/>
            <a:ln w="23812">
              <a:solidFill>
                <a:srgbClr val="00A6A6"/>
              </a:solidFill>
              <a:tailEnd type="arrow" w="lg" len="lg"/>
            </a:ln>
          </p:spPr>
        </p:sp>
        <p:sp>
          <p:nvSpPr>
            <p:cNvPr id="34" name="Line 34"/>
            <p:cNvSpPr/>
            <p:nvPr/>
          </p:nvSpPr>
          <p:spPr>
            <a:xfrm>
              <a:off x="7667625" y="3181350"/>
              <a:ext cx="771525" cy="1"/>
            </a:xfrm>
            <a:prstGeom prst="line">
              <a:avLst/>
            </a:prstGeom>
            <a:noFill/>
            <a:ln w="23812">
              <a:solidFill>
                <a:srgbClr val="00A6A6"/>
              </a:solidFill>
              <a:tailEnd type="arrow" w="lg" len="lg"/>
            </a:ln>
          </p:spPr>
        </p:sp>
      </p:grpSp>
      <p:grpSp>
        <p:nvGrpSpPr>
          <p:cNvPr id="39" name="theory-note"/>
          <p:cNvGrpSpPr/>
          <p:nvPr/>
        </p:nvGrpSpPr>
        <p:grpSpPr>
          <a:xfrm>
            <a:off x="609600" y="4229100"/>
            <a:ext cx="10972800" cy="952500"/>
            <a:chOff x="609600" y="4229100"/>
            <a:chExt cx="10972800" cy="952500"/>
          </a:xfrm>
        </p:grpSpPr>
        <p:sp>
          <p:nvSpPr>
            <p:cNvPr id="36" name="Rectangle 36"/>
            <p:cNvSpPr/>
            <p:nvPr/>
          </p:nvSpPr>
          <p:spPr>
            <a:xfrm>
              <a:off x="609600" y="4229100"/>
              <a:ext cx="10972800" cy="952500"/>
            </a:xfrm>
            <a:prstGeom prst="roundRect">
              <a:avLst>
                <a:gd name="adj" fmla="val 8000"/>
              </a:avLst>
            </a:prstGeom>
            <a:solidFill>
              <a:srgbClr val="FFFFFF"/>
            </a:solidFill>
            <a:ln w="9525">
              <a:solidFill>
                <a:srgbClr val="B8CBD3"/>
              </a:solidFill>
            </a:ln>
          </p:spPr>
        </p:sp>
        <p:sp>
          <p:nvSpPr>
            <p:cNvPr id="37" name="TextBox 37"/>
            <p:cNvSpPr txBox="1"/>
            <p:nvPr/>
          </p:nvSpPr>
          <p:spPr>
            <a:xfrm>
              <a:off x="908304" y="4366260"/>
              <a:ext cx="5365857"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Kuramsal arka plan: Bağımlılığın Tersine Çevrilmesi İlkesi (DIP)</a:t>
              </a:r>
            </a:p>
          </p:txBody>
        </p:sp>
        <p:sp>
          <p:nvSpPr>
            <p:cNvPr id="38" name="TextBox 38"/>
            <p:cNvSpPr txBox="1"/>
            <p:nvPr/>
          </p:nvSpPr>
          <p:spPr>
            <a:xfrm>
              <a:off x="908304" y="4613910"/>
              <a:ext cx="71902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Fowler (2002) ve Evans (2003), Repository desenini tanımlar. Servis katmanı Prisma'nın somut</a:t>
              </a:r>
              <a:br/>
              <a:r>
                <a:rPr lang="tr-TR" sz="1200" dirty="0">
                  <a:solidFill>
                    <a:srgbClr val="172B3A"/>
                  </a:solidFill>
                  <a:latin typeface="+mn-lt"/>
                  <a:ea typeface="+mn-ea"/>
                  <a:cs typeface="+mn-cs"/>
                </a:rPr>
                <a:t>türlerine değil, repository arayüzüne bağımlı olmalıdır (Robert C. Martin, DIP).</a:t>
              </a:r>
            </a:p>
          </p:txBody>
        </p:sp>
      </p:grpSp>
      <p:grpSp>
        <p:nvGrpSpPr>
          <p:cNvPr id="41" name="analogy-note"/>
          <p:cNvGrpSpPr/>
          <p:nvPr/>
        </p:nvGrpSpPr>
        <p:grpSpPr>
          <a:xfrm>
            <a:off x="603504" y="5509260"/>
            <a:ext cx="9879821" cy="234696"/>
            <a:chOff x="603504" y="5509260"/>
            <a:chExt cx="9879821" cy="234696"/>
          </a:xfrm>
        </p:grpSpPr>
        <p:sp>
          <p:nvSpPr>
            <p:cNvPr id="40" name="TextBox 40"/>
            <p:cNvSpPr txBox="1"/>
            <p:nvPr/>
          </p:nvSpPr>
          <p:spPr>
            <a:xfrm>
              <a:off x="603504" y="5509260"/>
              <a:ext cx="9879821" cy="234696"/>
            </a:xfrm>
            <a:prstGeom prst="rect">
              <a:avLst/>
            </a:prstGeom>
            <a:noFill/>
            <a:ln>
              <a:noFill/>
            </a:ln>
          </p:spPr>
          <p:txBody>
            <a:bodyPr wrap="none" lIns="0" tIns="0" rIns="0" bIns="0" anchor="t" anchorCtr="0">
              <a:spAutoFit/>
            </a:bodyPr>
            <a:lstStyle/>
            <a:p>
              <a:pPr algn="l"/>
              <a:r>
                <a:rPr lang="tr-TR" sz="1200" dirty="0">
                  <a:solidFill>
                    <a:srgbClr val="52616B"/>
                  </a:solidFill>
                  <a:latin typeface="+mn-lt"/>
                  <a:ea typeface="+mn-ea"/>
                  <a:cs typeface="+mn-cs"/>
                </a:rPr>
                <a:t>Arşiv görevlisi benzetmesi: öğretmen depoya girmez, "öğrenci dosyasını getir" der; arşiv görevlisi nasıl bulunacağını bilir.</a:t>
              </a:r>
            </a:p>
          </p:txBody>
        </p:sp>
      </p:grpSp>
      <p:sp>
        <p:nvSpPr>
          <p:cNvPr id="42" name="TextBox 4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18 / 25</a:t>
            </a:r>
          </a:p>
        </p:txBody>
      </p:sp>
    </p:spTree>
  </p:cSld>
  <p:clrMapOvr>
    <a:masterClrMapping/>
  </p:clrMapOvr>
  <p:transition xmlns:p14="http://schemas.microsoft.com/office/powerpoint/2010/main" p14:dur="400">
    <p:fade/>
  </p:transition>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9117521" cy="557403"/>
            <a:chOff x="595122" y="282892"/>
            <a:chExt cx="9117521" cy="557403"/>
          </a:xfrm>
        </p:grpSpPr>
        <p:sp>
          <p:nvSpPr>
            <p:cNvPr id="4" name="TextBox 4"/>
            <p:cNvSpPr txBox="1"/>
            <p:nvPr/>
          </p:nvSpPr>
          <p:spPr>
            <a:xfrm>
              <a:off x="595122" y="282892"/>
              <a:ext cx="911752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KullaniciRepository sınıfı ve servis kullanımı</a:t>
              </a:r>
            </a:p>
          </p:txBody>
        </p:sp>
      </p:grpSp>
      <p:grpSp>
        <p:nvGrpSpPr>
          <p:cNvPr id="23" name="code-block"/>
          <p:cNvGrpSpPr/>
          <p:nvPr/>
        </p:nvGrpSpPr>
        <p:grpSpPr>
          <a:xfrm>
            <a:off x="609600" y="1181100"/>
            <a:ext cx="5791200" cy="4572000"/>
            <a:chOff x="609600" y="1181100"/>
            <a:chExt cx="5791200" cy="4572000"/>
          </a:xfrm>
        </p:grpSpPr>
        <p:sp>
          <p:nvSpPr>
            <p:cNvPr id="6" name="Rectangle 6"/>
            <p:cNvSpPr/>
            <p:nvPr/>
          </p:nvSpPr>
          <p:spPr>
            <a:xfrm>
              <a:off x="609600" y="1181100"/>
              <a:ext cx="5791200" cy="4572000"/>
            </a:xfrm>
            <a:prstGeom prst="roundRect">
              <a:avLst>
                <a:gd name="adj" fmla="val 1667"/>
              </a:avLst>
            </a:prstGeom>
            <a:solidFill>
              <a:srgbClr val="0B2038"/>
            </a:solidFill>
            <a:ln>
              <a:noFill/>
            </a:ln>
          </p:spPr>
        </p:sp>
        <p:sp>
          <p:nvSpPr>
            <p:cNvPr id="7" name="TextBox 7"/>
            <p:cNvSpPr txBox="1"/>
            <p:nvPr/>
          </p:nvSpPr>
          <p:spPr>
            <a:xfrm>
              <a:off x="833247" y="1342549"/>
              <a:ext cx="1978272"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class KullaniciRepository {</a:t>
              </a:r>
            </a:p>
          </p:txBody>
        </p:sp>
        <p:sp>
          <p:nvSpPr>
            <p:cNvPr id="8" name="TextBox 8"/>
            <p:cNvSpPr txBox="1"/>
            <p:nvPr/>
          </p:nvSpPr>
          <p:spPr>
            <a:xfrm>
              <a:off x="1061847" y="1533049"/>
              <a:ext cx="88062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constructor(</a:t>
              </a:r>
            </a:p>
          </p:txBody>
        </p:sp>
        <p:sp>
          <p:nvSpPr>
            <p:cNvPr id="9" name="TextBox 9"/>
            <p:cNvSpPr txBox="1"/>
            <p:nvPr/>
          </p:nvSpPr>
          <p:spPr>
            <a:xfrm>
              <a:off x="1290447" y="1723549"/>
              <a:ext cx="2703843"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private readonly prisma: PrismaClient</a:t>
              </a:r>
            </a:p>
          </p:txBody>
        </p:sp>
        <p:sp>
          <p:nvSpPr>
            <p:cNvPr id="10" name="TextBox 10"/>
            <p:cNvSpPr txBox="1"/>
            <p:nvPr/>
          </p:nvSpPr>
          <p:spPr>
            <a:xfrm>
              <a:off x="1061847" y="1914049"/>
              <a:ext cx="30014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 {}</a:t>
              </a:r>
            </a:p>
          </p:txBody>
        </p:sp>
        <p:sp>
          <p:nvSpPr>
            <p:cNvPr id="11" name="TextBox 11"/>
            <p:cNvSpPr txBox="1"/>
            <p:nvPr/>
          </p:nvSpPr>
          <p:spPr>
            <a:xfrm>
              <a:off x="1061847" y="2199799"/>
              <a:ext cx="2632270"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async epostaIleBul(eposta: string) {</a:t>
              </a:r>
            </a:p>
          </p:txBody>
        </p:sp>
        <p:sp>
          <p:nvSpPr>
            <p:cNvPr id="12" name="TextBox 12"/>
            <p:cNvSpPr txBox="1"/>
            <p:nvPr/>
          </p:nvSpPr>
          <p:spPr>
            <a:xfrm>
              <a:off x="1290447" y="2390299"/>
              <a:ext cx="2627001"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return this.prisma.user.findUnique({</a:t>
              </a:r>
            </a:p>
          </p:txBody>
        </p:sp>
        <p:sp>
          <p:nvSpPr>
            <p:cNvPr id="13" name="TextBox 13"/>
            <p:cNvSpPr txBox="1"/>
            <p:nvPr/>
          </p:nvSpPr>
          <p:spPr>
            <a:xfrm>
              <a:off x="1519047" y="2580799"/>
              <a:ext cx="226480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where: { epostaAdresi: eposta }</a:t>
              </a:r>
            </a:p>
          </p:txBody>
        </p:sp>
        <p:sp>
          <p:nvSpPr>
            <p:cNvPr id="14" name="TextBox 14"/>
            <p:cNvSpPr txBox="1"/>
            <p:nvPr/>
          </p:nvSpPr>
          <p:spPr>
            <a:xfrm>
              <a:off x="1290447" y="2771299"/>
              <a:ext cx="227587"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5" name="TextBox 15"/>
            <p:cNvSpPr txBox="1"/>
            <p:nvPr/>
          </p:nvSpPr>
          <p:spPr>
            <a:xfrm>
              <a:off x="1061847" y="296179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sp>
          <p:nvSpPr>
            <p:cNvPr id="16" name="TextBox 16"/>
            <p:cNvSpPr txBox="1"/>
            <p:nvPr/>
          </p:nvSpPr>
          <p:spPr>
            <a:xfrm>
              <a:off x="833247" y="3247549"/>
              <a:ext cx="82466"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a:t>
              </a:r>
            </a:p>
          </p:txBody>
        </p:sp>
        <p:sp>
          <p:nvSpPr>
            <p:cNvPr id="17" name="TextBox 17"/>
            <p:cNvSpPr txBox="1"/>
            <p:nvPr/>
          </p:nvSpPr>
          <p:spPr>
            <a:xfrm>
              <a:off x="833247" y="3552349"/>
              <a:ext cx="1243429"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servis katmanı</a:t>
              </a:r>
            </a:p>
          </p:txBody>
        </p:sp>
        <p:sp>
          <p:nvSpPr>
            <p:cNvPr id="18" name="TextBox 18"/>
            <p:cNvSpPr txBox="1"/>
            <p:nvPr/>
          </p:nvSpPr>
          <p:spPr>
            <a:xfrm>
              <a:off x="833247" y="3742849"/>
              <a:ext cx="3285105"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repo = new KullaniciRepository(prisma);</a:t>
              </a:r>
            </a:p>
          </p:txBody>
        </p:sp>
        <p:sp>
          <p:nvSpPr>
            <p:cNvPr id="19" name="TextBox 19"/>
            <p:cNvSpPr txBox="1"/>
            <p:nvPr/>
          </p:nvSpPr>
          <p:spPr>
            <a:xfrm>
              <a:off x="833247" y="3933349"/>
              <a:ext cx="3067888"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const k = await repo.epostaIleBul(eposta);</a:t>
              </a:r>
            </a:p>
          </p:txBody>
        </p:sp>
        <p:sp>
          <p:nvSpPr>
            <p:cNvPr id="20" name="TextBox 20"/>
            <p:cNvSpPr txBox="1"/>
            <p:nvPr/>
          </p:nvSpPr>
          <p:spPr>
            <a:xfrm>
              <a:off x="833247" y="4123849"/>
              <a:ext cx="225927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if (k === null) { ... return; }</a:t>
              </a:r>
            </a:p>
          </p:txBody>
        </p:sp>
        <p:sp>
          <p:nvSpPr>
            <p:cNvPr id="21" name="TextBox 21"/>
            <p:cNvSpPr txBox="1"/>
            <p:nvPr/>
          </p:nvSpPr>
          <p:spPr>
            <a:xfrm>
              <a:off x="833247" y="4314349"/>
              <a:ext cx="3142174"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console.log(`Hoş geldiniz, ${k.adSoyad}.`);</a:t>
              </a:r>
            </a:p>
          </p:txBody>
        </p:sp>
        <p:sp>
          <p:nvSpPr>
            <p:cNvPr id="22" name="TextBox 22"/>
            <p:cNvSpPr txBox="1"/>
            <p:nvPr/>
          </p:nvSpPr>
          <p:spPr>
            <a:xfrm>
              <a:off x="833247" y="4619149"/>
              <a:ext cx="1340632" cy="190690"/>
            </a:xfrm>
            <a:prstGeom prst="rect">
              <a:avLst/>
            </a:prstGeom>
            <a:noFill/>
            <a:ln>
              <a:noFill/>
            </a:ln>
          </p:spPr>
          <p:txBody>
            <a:bodyPr wrap="none" lIns="0" tIns="0" rIns="0" bIns="0" anchor="t" anchorCtr="0">
              <a:spAutoFit/>
            </a:bodyPr>
            <a:lstStyle/>
            <a:p>
              <a:pPr algn="l"/>
              <a:r>
                <a:rPr lang="tr-TR" sz="980" dirty="0">
                  <a:solidFill>
                    <a:srgbClr val="52616B"/>
                  </a:solidFill>
                  <a:latin typeface="Consolas"/>
                  <a:ea typeface="Consolas"/>
                  <a:cs typeface="Consolas"/>
                </a:rPr>
                <a:t>// Kod 8.11 / 8.12</a:t>
              </a:r>
            </a:p>
          </p:txBody>
        </p:sp>
      </p:grpSp>
      <p:grpSp>
        <p:nvGrpSpPr>
          <p:cNvPr id="27" name="explain-panel"/>
          <p:cNvGrpSpPr/>
          <p:nvPr/>
        </p:nvGrpSpPr>
        <p:grpSpPr>
          <a:xfrm>
            <a:off x="6697599" y="1258729"/>
            <a:ext cx="2932557" cy="1665827"/>
            <a:chOff x="6697599" y="1258729"/>
            <a:chExt cx="2932557" cy="1665827"/>
          </a:xfrm>
        </p:grpSpPr>
        <p:sp>
          <p:nvSpPr>
            <p:cNvPr id="24" name="TextBox 24"/>
            <p:cNvSpPr txBox="1"/>
            <p:nvPr/>
          </p:nvSpPr>
          <p:spPr>
            <a:xfrm>
              <a:off x="6697599" y="1258729"/>
              <a:ext cx="2490501"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Bağımlılık enjeksiyonu</a:t>
              </a:r>
            </a:p>
          </p:txBody>
        </p:sp>
        <p:sp>
          <p:nvSpPr>
            <p:cNvPr id="25" name="TextBox 25"/>
            <p:cNvSpPr txBox="1"/>
            <p:nvPr/>
          </p:nvSpPr>
          <p:spPr>
            <a:xfrm>
              <a:off x="6699504" y="1604010"/>
              <a:ext cx="29306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Constructor yoluyla </a:t>
              </a:r>
              <a:r>
                <a:rPr lang="tr-TR" sz="1200" dirty="0">
                  <a:solidFill>
                    <a:srgbClr val="172B3A"/>
                  </a:solidFill>
                  <a:latin typeface="Consolas"/>
                  <a:ea typeface="Consolas"/>
                  <a:cs typeface="Consolas"/>
                </a:rPr>
                <a:t>PrismaClient</a:t>
              </a:r>
              <a:br/>
              <a:r>
                <a:rPr lang="tr-TR" sz="1200" dirty="0">
                  <a:solidFill>
                    <a:srgbClr val="172B3A"/>
                  </a:solidFill>
                  <a:latin typeface="+mn-lt"/>
                  <a:ea typeface="+mn-ea"/>
                  <a:cs typeface="+mn-cs"/>
                </a:rPr>
                <a:t>alınır; test sırasında sahte bir nesne</a:t>
              </a:r>
              <a:br/>
              <a:r>
                <a:rPr lang="tr-TR" sz="1200" dirty="0">
                  <a:solidFill>
                    <a:srgbClr val="172B3A"/>
                  </a:solidFill>
                  <a:latin typeface="+mn-lt"/>
                  <a:ea typeface="+mn-ea"/>
                  <a:cs typeface="+mn-cs"/>
                </a:rPr>
                <a:t>vermeyi kolaylaştırır.</a:t>
              </a:r>
            </a:p>
          </p:txBody>
        </p:sp>
        <p:sp>
          <p:nvSpPr>
            <p:cNvPr id="26" name="TextBox 26"/>
            <p:cNvSpPr txBox="1"/>
            <p:nvPr/>
          </p:nvSpPr>
          <p:spPr>
            <a:xfrm>
              <a:off x="6699504" y="2308860"/>
              <a:ext cx="283159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epostaIleBul</a:t>
              </a:r>
              <a:r>
                <a:rPr lang="tr-TR" sz="1200" dirty="0">
                  <a:solidFill>
                    <a:srgbClr val="172B3A"/>
                  </a:solidFill>
                  <a:latin typeface="+mn-lt"/>
                  <a:ea typeface="+mn-ea"/>
                  <a:cs typeface="+mn-cs"/>
                </a:rPr>
                <a:t xml:space="preserve"> veritabanı ayrıntısını</a:t>
              </a:r>
              <a:br/>
              <a:r>
                <a:rPr lang="tr-TR" sz="1200" dirty="0">
                  <a:solidFill>
                    <a:srgbClr val="172B3A"/>
                  </a:solidFill>
                  <a:latin typeface="+mn-lt"/>
                  <a:ea typeface="+mn-ea"/>
                  <a:cs typeface="+mn-cs"/>
                </a:rPr>
                <a:t>çağıran koddan gizler; çağıran taraf</a:t>
              </a:r>
              <a:br/>
              <a:r>
                <a:rPr lang="tr-TR" sz="1200" dirty="0">
                  <a:solidFill>
                    <a:srgbClr val="172B3A"/>
                  </a:solidFill>
                  <a:latin typeface="+mn-lt"/>
                  <a:ea typeface="+mn-ea"/>
                  <a:cs typeface="+mn-cs"/>
                </a:rPr>
                <a:t>yalnızca kullanıcıyı aradığını bilir.</a:t>
              </a:r>
            </a:p>
          </p:txBody>
        </p:sp>
      </p:grpSp>
      <p:grpSp>
        <p:nvGrpSpPr>
          <p:cNvPr id="32" name="separation-note"/>
          <p:cNvGrpSpPr/>
          <p:nvPr/>
        </p:nvGrpSpPr>
        <p:grpSpPr>
          <a:xfrm>
            <a:off x="6705600" y="4229100"/>
            <a:ext cx="4876800" cy="1000506"/>
            <a:chOff x="6705600" y="4229100"/>
            <a:chExt cx="4876800" cy="1000506"/>
          </a:xfrm>
        </p:grpSpPr>
        <p:sp>
          <p:nvSpPr>
            <p:cNvPr id="28" name="Rectangle 28"/>
            <p:cNvSpPr/>
            <p:nvPr/>
          </p:nvSpPr>
          <p:spPr>
            <a:xfrm>
              <a:off x="6705600" y="4229100"/>
              <a:ext cx="4876800" cy="952500"/>
            </a:xfrm>
            <a:prstGeom prst="roundRect">
              <a:avLst>
                <a:gd name="adj" fmla="val 8000"/>
              </a:avLst>
            </a:prstGeom>
            <a:solidFill>
              <a:srgbClr val="EAF4F6"/>
            </a:solidFill>
            <a:ln>
              <a:noFill/>
            </a:ln>
          </p:spPr>
        </p:sp>
        <p:sp>
          <p:nvSpPr>
            <p:cNvPr id="29" name="Rectangle 29"/>
            <p:cNvSpPr/>
            <p:nvPr/>
          </p:nvSpPr>
          <p:spPr>
            <a:xfrm>
              <a:off x="6705600" y="4229100"/>
              <a:ext cx="57150" cy="952500"/>
            </a:xfrm>
            <a:prstGeom prst="rect">
              <a:avLst/>
            </a:prstGeom>
            <a:solidFill>
              <a:srgbClr val="00A6A6"/>
            </a:solidFill>
            <a:ln>
              <a:noFill/>
            </a:ln>
          </p:spPr>
        </p:sp>
        <p:sp>
          <p:nvSpPr>
            <p:cNvPr id="30" name="TextBox 30"/>
            <p:cNvSpPr txBox="1"/>
            <p:nvPr/>
          </p:nvSpPr>
          <p:spPr>
            <a:xfrm>
              <a:off x="6928104" y="4366260"/>
              <a:ext cx="1544183"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Sorumluluk ayrımı</a:t>
              </a:r>
            </a:p>
          </p:txBody>
        </p:sp>
        <p:sp>
          <p:nvSpPr>
            <p:cNvPr id="31" name="TextBox 31"/>
            <p:cNvSpPr txBox="1"/>
            <p:nvPr/>
          </p:nvSpPr>
          <p:spPr>
            <a:xfrm>
              <a:off x="6928104" y="4613910"/>
              <a:ext cx="323545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Servis iş kuralına odaklanır; Prisma</a:t>
              </a:r>
              <a:br/>
              <a:r>
                <a:rPr lang="tr-TR" sz="1200" dirty="0">
                  <a:solidFill>
                    <a:srgbClr val="172B3A"/>
                  </a:solidFill>
                  <a:latin typeface="+mn-lt"/>
                  <a:ea typeface="+mn-ea"/>
                  <a:cs typeface="+mn-cs"/>
                </a:rPr>
                <a:t>sorgusunu doğrudan yazmaz. Bu ayrım test</a:t>
              </a:r>
              <a:br/>
              <a:r>
                <a:rPr lang="tr-TR" sz="1200" dirty="0">
                  <a:solidFill>
                    <a:srgbClr val="172B3A"/>
                  </a:solidFill>
                  <a:latin typeface="+mn-lt"/>
                  <a:ea typeface="+mn-ea"/>
                  <a:cs typeface="+mn-cs"/>
                </a:rPr>
                <a:t>edilebilirliği ve okunabilirliği artırır.</a:t>
              </a:r>
            </a:p>
          </p:txBody>
        </p:sp>
      </p:grpSp>
      <p:sp>
        <p:nvSpPr>
          <p:cNvPr id="33" name="TextBox 3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19 / 25</a:t>
            </a:r>
          </a:p>
        </p:txBody>
      </p:sp>
    </p:spTree>
  </p:cSld>
  <p:clrMapOvr>
    <a:masterClrMapping/>
  </p:clrMapOvr>
  <p:transition xmlns:p14="http://schemas.microsoft.com/office/powerpoint/2010/main" p14:dur="400">
    <p:fade/>
  </p:transition>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285728" cy="668845"/>
            <a:chOff x="609600" y="171450"/>
            <a:chExt cx="8285728"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59535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Repository katmanında yaygın hatalar</a:t>
              </a:r>
            </a:p>
          </p:txBody>
        </p:sp>
      </p:grpSp>
      <p:grpSp>
        <p:nvGrpSpPr>
          <p:cNvPr id="39" name="compare-row"/>
          <p:cNvGrpSpPr/>
          <p:nvPr/>
        </p:nvGrpSpPr>
        <p:grpSpPr>
          <a:xfrm>
            <a:off x="609600" y="1181100"/>
            <a:ext cx="10972800" cy="2857500"/>
            <a:chOff x="609600" y="1181100"/>
            <a:chExt cx="10972800" cy="2857500"/>
          </a:xfrm>
        </p:grpSpPr>
        <p:sp>
          <p:nvSpPr>
            <p:cNvPr id="12" name="Rectangle 12"/>
            <p:cNvSpPr/>
            <p:nvPr/>
          </p:nvSpPr>
          <p:spPr>
            <a:xfrm>
              <a:off x="609600" y="1181100"/>
              <a:ext cx="5353050" cy="2857500"/>
            </a:xfrm>
            <a:prstGeom prst="roundRect">
              <a:avLst>
                <a:gd name="adj" fmla="val 2667"/>
              </a:avLst>
            </a:prstGeom>
            <a:solidFill>
              <a:srgbClr val="FFFFFF"/>
            </a:solidFill>
            <a:ln w="14288">
              <a:solidFill>
                <a:srgbClr val="B8CBD3"/>
              </a:solidFill>
            </a:ln>
          </p:spPr>
        </p:sp>
        <p:sp>
          <p:nvSpPr>
            <p:cNvPr id="13" name="Rectangle 13"/>
            <p:cNvSpPr/>
            <p:nvPr/>
          </p:nvSpPr>
          <p:spPr>
            <a:xfrm>
              <a:off x="609600" y="1181100"/>
              <a:ext cx="5353050" cy="381000"/>
            </a:xfrm>
            <a:prstGeom prst="roundRect">
              <a:avLst>
                <a:gd name="adj" fmla="val 20000"/>
              </a:avLst>
            </a:prstGeom>
            <a:solidFill>
              <a:srgbClr val="EAF4F6"/>
            </a:solidFill>
            <a:ln>
              <a:noFill/>
            </a:ln>
          </p:spPr>
        </p:sp>
        <p:sp>
          <p:nvSpPr>
            <p:cNvPr id="14" name="TextBox 14"/>
            <p:cNvSpPr txBox="1"/>
            <p:nvPr/>
          </p:nvSpPr>
          <p:spPr>
            <a:xfrm>
              <a:off x="832104" y="1299210"/>
              <a:ext cx="2970026"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Yanlış: iş kuralı + arayüz mesajı</a:t>
              </a:r>
            </a:p>
          </p:txBody>
        </p:sp>
        <p:grpSp>
          <p:nvGrpSpPr>
            <p:cNvPr id="20" name="Group 20"/>
            <p:cNvGrpSpPr/>
            <p:nvPr/>
          </p:nvGrpSpPr>
          <p:grpSpPr>
            <a:xfrm>
              <a:off x="833247" y="1723549"/>
              <a:ext cx="4034752" cy="952690"/>
              <a:chOff x="833247" y="1723549"/>
              <a:chExt cx="4034752" cy="952690"/>
            </a:xfrm>
          </p:grpSpPr>
          <p:sp>
            <p:nvSpPr>
              <p:cNvPr id="15" name="TextBox 15"/>
              <p:cNvSpPr txBox="1"/>
              <p:nvPr/>
            </p:nvSpPr>
            <p:spPr>
              <a:xfrm>
                <a:off x="833247" y="1723549"/>
                <a:ext cx="278611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async kullaniciBulVeMesajYaz(eposta) {</a:t>
                </a:r>
              </a:p>
            </p:txBody>
          </p:sp>
          <p:sp>
            <p:nvSpPr>
              <p:cNvPr id="16" name="TextBox 16"/>
              <p:cNvSpPr txBox="1"/>
              <p:nvPr/>
            </p:nvSpPr>
            <p:spPr>
              <a:xfrm>
                <a:off x="1061847" y="1914049"/>
                <a:ext cx="233183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const k = await this.prisma.user</a:t>
                </a:r>
              </a:p>
            </p:txBody>
          </p:sp>
          <p:sp>
            <p:nvSpPr>
              <p:cNvPr id="17" name="TextBox 17"/>
              <p:cNvSpPr txBox="1"/>
              <p:nvPr/>
            </p:nvSpPr>
            <p:spPr>
              <a:xfrm>
                <a:off x="1290447" y="2104549"/>
                <a:ext cx="357755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.findUnique({ where: { epostaAdresi: eposta } });</a:t>
                </a:r>
              </a:p>
            </p:txBody>
          </p:sp>
          <p:sp>
            <p:nvSpPr>
              <p:cNvPr id="18" name="TextBox 18"/>
              <p:cNvSpPr txBox="1"/>
              <p:nvPr/>
            </p:nvSpPr>
            <p:spPr>
              <a:xfrm>
                <a:off x="1061847" y="2295049"/>
                <a:ext cx="2925456" cy="190690"/>
              </a:xfrm>
              <a:prstGeom prst="rect">
                <a:avLst/>
              </a:prstGeom>
              <a:noFill/>
              <a:ln>
                <a:noFill/>
              </a:ln>
            </p:spPr>
            <p:txBody>
              <a:bodyPr wrap="none" lIns="0" tIns="0" rIns="0" bIns="0" anchor="t" anchorCtr="0">
                <a:spAutoFit/>
              </a:bodyPr>
              <a:lstStyle/>
              <a:p>
                <a:pPr algn="l"/>
                <a:r>
                  <a:rPr lang="tr-TR" sz="980" b="1" dirty="0">
                    <a:solidFill>
                      <a:srgbClr val="12355B"/>
                    </a:solidFill>
                    <a:latin typeface="Consolas"/>
                    <a:ea typeface="Consolas"/>
                    <a:cs typeface="Consolas"/>
                  </a:rPr>
                  <a:t>console.log(k ? "Hoş geldiniz" : "Yok");</a:t>
                </a:r>
              </a:p>
            </p:txBody>
          </p:sp>
          <p:sp>
            <p:nvSpPr>
              <p:cNvPr id="19" name="TextBox 19"/>
              <p:cNvSpPr txBox="1"/>
              <p:nvPr/>
            </p:nvSpPr>
            <p:spPr>
              <a:xfrm>
                <a:off x="833247" y="2485549"/>
                <a:ext cx="824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t>
                </a:r>
              </a:p>
            </p:txBody>
          </p:sp>
        </p:grpSp>
        <p:sp>
          <p:nvSpPr>
            <p:cNvPr id="21" name="TextBox 21"/>
            <p:cNvSpPr txBox="1"/>
            <p:nvPr/>
          </p:nvSpPr>
          <p:spPr>
            <a:xfrm>
              <a:off x="832866" y="2820352"/>
              <a:ext cx="326658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Ekran mesajı üretmek sunum katmanına aittir;</a:t>
              </a:r>
            </a:p>
          </p:txBody>
        </p:sp>
        <p:sp>
          <p:nvSpPr>
            <p:cNvPr id="22" name="TextBox 22"/>
            <p:cNvSpPr txBox="1"/>
            <p:nvPr/>
          </p:nvSpPr>
          <p:spPr>
            <a:xfrm>
              <a:off x="832866" y="3010852"/>
              <a:ext cx="419465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bu tasarım sınıfın birden çok nedenle değişmesine yol açar.</a:t>
              </a:r>
            </a:p>
          </p:txBody>
        </p:sp>
        <p:sp>
          <p:nvSpPr>
            <p:cNvPr id="23" name="TextBox 23"/>
            <p:cNvSpPr txBox="1"/>
            <p:nvPr/>
          </p:nvSpPr>
          <p:spPr>
            <a:xfrm>
              <a:off x="832866" y="3277552"/>
              <a:ext cx="358447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İkinci hata: her tablo için anlamsız genel metotlar.</a:t>
              </a:r>
            </a:p>
          </p:txBody>
        </p:sp>
        <p:sp>
          <p:nvSpPr>
            <p:cNvPr id="24" name="TextBox 24"/>
            <p:cNvSpPr txBox="1"/>
            <p:nvPr/>
          </p:nvSpPr>
          <p:spPr>
            <a:xfrm>
              <a:off x="832866" y="3525202"/>
              <a:ext cx="3188489"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Üçüncü hata: transaction gerektiren işlemleri</a:t>
              </a:r>
            </a:p>
          </p:txBody>
        </p:sp>
        <p:sp>
          <p:nvSpPr>
            <p:cNvPr id="25" name="TextBox 25"/>
            <p:cNvSpPr txBox="1"/>
            <p:nvPr/>
          </p:nvSpPr>
          <p:spPr>
            <a:xfrm>
              <a:off x="832866" y="3715702"/>
              <a:ext cx="2887161"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bağımsız repository çağrılarına bölmek.</a:t>
              </a:r>
            </a:p>
          </p:txBody>
        </p:sp>
        <p:sp>
          <p:nvSpPr>
            <p:cNvPr id="26" name="Rectangle 26"/>
            <p:cNvSpPr/>
            <p:nvPr/>
          </p:nvSpPr>
          <p:spPr>
            <a:xfrm>
              <a:off x="6229350" y="1181100"/>
              <a:ext cx="5353050" cy="2857500"/>
            </a:xfrm>
            <a:prstGeom prst="roundRect">
              <a:avLst>
                <a:gd name="adj" fmla="val 2667"/>
              </a:avLst>
            </a:prstGeom>
            <a:solidFill>
              <a:srgbClr val="FFFFFF"/>
            </a:solidFill>
            <a:ln w="14288">
              <a:solidFill>
                <a:srgbClr val="00A6A6"/>
              </a:solidFill>
            </a:ln>
          </p:spPr>
        </p:sp>
        <p:sp>
          <p:nvSpPr>
            <p:cNvPr id="27" name="Rectangle 27"/>
            <p:cNvSpPr/>
            <p:nvPr/>
          </p:nvSpPr>
          <p:spPr>
            <a:xfrm>
              <a:off x="6229350" y="1181100"/>
              <a:ext cx="5353050" cy="381000"/>
            </a:xfrm>
            <a:prstGeom prst="roundRect">
              <a:avLst>
                <a:gd name="adj" fmla="val 20000"/>
              </a:avLst>
            </a:prstGeom>
            <a:solidFill>
              <a:srgbClr val="EAF4F6"/>
            </a:solidFill>
            <a:ln>
              <a:noFill/>
            </a:ln>
          </p:spPr>
        </p:sp>
        <p:sp>
          <p:nvSpPr>
            <p:cNvPr id="28" name="TextBox 28"/>
            <p:cNvSpPr txBox="1"/>
            <p:nvPr/>
          </p:nvSpPr>
          <p:spPr>
            <a:xfrm>
              <a:off x="6451854" y="1299210"/>
              <a:ext cx="2545768"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 Doğru: yalnızca veri döndür</a:t>
              </a:r>
            </a:p>
          </p:txBody>
        </p:sp>
        <p:grpSp>
          <p:nvGrpSpPr>
            <p:cNvPr id="33" name="Group 33"/>
            <p:cNvGrpSpPr/>
            <p:nvPr/>
          </p:nvGrpSpPr>
          <p:grpSpPr>
            <a:xfrm>
              <a:off x="6452997" y="1723549"/>
              <a:ext cx="2855601" cy="762190"/>
              <a:chOff x="6452997" y="1723549"/>
              <a:chExt cx="2855601" cy="762190"/>
            </a:xfrm>
          </p:grpSpPr>
          <p:sp>
            <p:nvSpPr>
              <p:cNvPr id="29" name="TextBox 29"/>
              <p:cNvSpPr txBox="1"/>
              <p:nvPr/>
            </p:nvSpPr>
            <p:spPr>
              <a:xfrm>
                <a:off x="6452997" y="1723549"/>
                <a:ext cx="263227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async epostaIleBul(eposta: string) {</a:t>
                </a:r>
              </a:p>
            </p:txBody>
          </p:sp>
          <p:sp>
            <p:nvSpPr>
              <p:cNvPr id="30" name="TextBox 30"/>
              <p:cNvSpPr txBox="1"/>
              <p:nvPr/>
            </p:nvSpPr>
            <p:spPr>
              <a:xfrm>
                <a:off x="6681597" y="1914049"/>
                <a:ext cx="262700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return this.prisma.user.findUnique({</a:t>
                </a:r>
              </a:p>
            </p:txBody>
          </p:sp>
          <p:sp>
            <p:nvSpPr>
              <p:cNvPr id="31" name="TextBox 31"/>
              <p:cNvSpPr txBox="1"/>
              <p:nvPr/>
            </p:nvSpPr>
            <p:spPr>
              <a:xfrm>
                <a:off x="6681597" y="2104549"/>
                <a:ext cx="2555762" cy="190690"/>
              </a:xfrm>
              <a:prstGeom prst="rect">
                <a:avLst/>
              </a:prstGeom>
              <a:noFill/>
              <a:ln>
                <a:noFill/>
              </a:ln>
            </p:spPr>
            <p:txBody>
              <a:bodyPr wrap="none" lIns="0" tIns="0" rIns="0" bIns="0" anchor="t" anchorCtr="0">
                <a:spAutoFit/>
              </a:bodyPr>
              <a:lstStyle/>
              <a:p>
                <a:pPr algn="l"/>
                <a:r>
                  <a:rPr lang="tr-TR" sz="980" b="1" dirty="0">
                    <a:solidFill>
                      <a:srgbClr val="00A6A6"/>
                    </a:solidFill>
                    <a:latin typeface="Consolas"/>
                    <a:ea typeface="Consolas"/>
                    <a:cs typeface="Consolas"/>
                  </a:rPr>
                  <a:t>where: { epostaAdresi: eposta } });</a:t>
                </a:r>
              </a:p>
            </p:txBody>
          </p:sp>
          <p:sp>
            <p:nvSpPr>
              <p:cNvPr id="32" name="TextBox 32"/>
              <p:cNvSpPr txBox="1"/>
              <p:nvPr/>
            </p:nvSpPr>
            <p:spPr>
              <a:xfrm>
                <a:off x="6452997" y="2295049"/>
                <a:ext cx="824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t>
                </a:r>
              </a:p>
            </p:txBody>
          </p:sp>
        </p:grpSp>
        <p:sp>
          <p:nvSpPr>
            <p:cNvPr id="34" name="TextBox 34"/>
            <p:cNvSpPr txBox="1"/>
            <p:nvPr/>
          </p:nvSpPr>
          <p:spPr>
            <a:xfrm>
              <a:off x="6452616" y="2629852"/>
              <a:ext cx="3160178"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Repository yalnızca kullanıcıyı bulur; servis</a:t>
              </a:r>
            </a:p>
          </p:txBody>
        </p:sp>
        <p:sp>
          <p:nvSpPr>
            <p:cNvPr id="35" name="TextBox 35"/>
            <p:cNvSpPr txBox="1"/>
            <p:nvPr/>
          </p:nvSpPr>
          <p:spPr>
            <a:xfrm>
              <a:off x="6452616" y="2820352"/>
              <a:ext cx="268220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dönen sonuca göre iş kuralını uygular.</a:t>
              </a:r>
            </a:p>
          </p:txBody>
        </p:sp>
        <p:sp>
          <p:nvSpPr>
            <p:cNvPr id="36" name="TextBox 36"/>
            <p:cNvSpPr txBox="1"/>
            <p:nvPr/>
          </p:nvSpPr>
          <p:spPr>
            <a:xfrm>
              <a:off x="6452616" y="3087052"/>
              <a:ext cx="3435972"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Çözüm: yöntemleri iş gereksinimiyle adlandırmak,</a:t>
              </a:r>
            </a:p>
          </p:txBody>
        </p:sp>
        <p:sp>
          <p:nvSpPr>
            <p:cNvPr id="37" name="TextBox 37"/>
            <p:cNvSpPr txBox="1"/>
            <p:nvPr/>
          </p:nvSpPr>
          <p:spPr>
            <a:xfrm>
              <a:off x="6452616" y="3277552"/>
              <a:ext cx="2964904"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ilgili işlemleri uygun transaction sınırında</a:t>
              </a:r>
            </a:p>
          </p:txBody>
        </p:sp>
        <p:sp>
          <p:nvSpPr>
            <p:cNvPr id="38" name="TextBox 38"/>
            <p:cNvSpPr txBox="1"/>
            <p:nvPr/>
          </p:nvSpPr>
          <p:spPr>
            <a:xfrm>
              <a:off x="6452616" y="3468052"/>
              <a:ext cx="943585" cy="205359"/>
            </a:xfrm>
            <a:prstGeom prst="rect">
              <a:avLst/>
            </a:prstGeom>
            <a:noFill/>
            <a:ln>
              <a:noFill/>
            </a:ln>
          </p:spPr>
          <p:txBody>
            <a:bodyPr wrap="none" lIns="0" tIns="0" rIns="0" bIns="0" anchor="t" anchorCtr="0">
              <a:spAutoFit/>
            </a:bodyPr>
            <a:lstStyle/>
            <a:p>
              <a:pPr algn="l"/>
              <a:r>
                <a:rPr lang="tr-TR" sz="1050" dirty="0">
                  <a:solidFill>
                    <a:srgbClr val="52616B"/>
                  </a:solidFill>
                  <a:latin typeface="+mn-lt"/>
                  <a:ea typeface="+mn-ea"/>
                  <a:cs typeface="+mn-cs"/>
                </a:rPr>
                <a:t>birleştirmek.</a:t>
              </a:r>
            </a:p>
          </p:txBody>
        </p:sp>
      </p:grpSp>
      <p:sp>
        <p:nvSpPr>
          <p:cNvPr id="40" name="TextBox 40"/>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20 / 25</a:t>
            </a:r>
          </a:p>
        </p:txBody>
      </p:sp>
    </p:spTree>
  </p:cSld>
  <p:clrMapOvr>
    <a:masterClrMapping/>
  </p:clrMapOvr>
  <p:transition xmlns:p14="http://schemas.microsoft.com/office/powerpoint/2010/main" p14:dur="400">
    <p:fade/>
  </p:transition>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406791" cy="668845"/>
            <a:chOff x="609600" y="171450"/>
            <a:chExt cx="8406791"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716419"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Hata ayıklama: değişken izleme tablosu</a:t>
              </a:r>
            </a:p>
          </p:txBody>
        </p:sp>
      </p:grpSp>
      <p:grpSp>
        <p:nvGrpSpPr>
          <p:cNvPr id="18" name="bug-code"/>
          <p:cNvGrpSpPr/>
          <p:nvPr/>
        </p:nvGrpSpPr>
        <p:grpSpPr>
          <a:xfrm>
            <a:off x="609600" y="1181100"/>
            <a:ext cx="10972800" cy="1219200"/>
            <a:chOff x="609600" y="1181100"/>
            <a:chExt cx="10972800" cy="1219200"/>
          </a:xfrm>
        </p:grpSpPr>
        <p:sp>
          <p:nvSpPr>
            <p:cNvPr id="12" name="Rectangle 12"/>
            <p:cNvSpPr/>
            <p:nvPr/>
          </p:nvSpPr>
          <p:spPr>
            <a:xfrm>
              <a:off x="609600" y="1181100"/>
              <a:ext cx="10972800" cy="1219200"/>
            </a:xfrm>
            <a:prstGeom prst="roundRect">
              <a:avLst>
                <a:gd name="adj" fmla="val 6250"/>
              </a:avLst>
            </a:prstGeom>
            <a:solidFill>
              <a:srgbClr val="0B2038"/>
            </a:solidFill>
            <a:ln>
              <a:noFill/>
            </a:ln>
          </p:spPr>
        </p:sp>
        <p:sp>
          <p:nvSpPr>
            <p:cNvPr id="13" name="TextBox 13"/>
            <p:cNvSpPr txBox="1"/>
            <p:nvPr/>
          </p:nvSpPr>
          <p:spPr>
            <a:xfrm>
              <a:off x="833247" y="1323499"/>
              <a:ext cx="3575172"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async function gonderiYaz(yazarKimligi: string) {</a:t>
              </a:r>
            </a:p>
          </p:txBody>
        </p:sp>
        <p:sp>
          <p:nvSpPr>
            <p:cNvPr id="14" name="TextBox 14"/>
            <p:cNvSpPr txBox="1"/>
            <p:nvPr/>
          </p:nvSpPr>
          <p:spPr>
            <a:xfrm>
              <a:off x="1061847" y="1533049"/>
              <a:ext cx="5100853" cy="190690"/>
            </a:xfrm>
            <a:prstGeom prst="rect">
              <a:avLst/>
            </a:prstGeom>
            <a:noFill/>
            <a:ln>
              <a:noFill/>
            </a:ln>
          </p:spPr>
          <p:txBody>
            <a:bodyPr wrap="none" lIns="0" tIns="0" rIns="0" bIns="0" anchor="t" anchorCtr="0">
              <a:spAutoFit/>
            </a:bodyPr>
            <a:lstStyle/>
            <a:p>
              <a:pPr algn="l"/>
              <a:r>
                <a:rPr lang="tr-TR" sz="980" b="1" dirty="0">
                  <a:solidFill>
                    <a:srgbClr val="F2A65A"/>
                  </a:solidFill>
                  <a:latin typeface="Consolas"/>
                  <a:ea typeface="Consolas"/>
                  <a:cs typeface="Consolas"/>
                </a:rPr>
                <a:t>const yazar = prisma.user.findUnique({ where: { id: yazarKimligi } });</a:t>
              </a:r>
            </a:p>
          </p:txBody>
        </p:sp>
        <p:sp>
          <p:nvSpPr>
            <p:cNvPr id="15" name="TextBox 15"/>
            <p:cNvSpPr txBox="1"/>
            <p:nvPr/>
          </p:nvSpPr>
          <p:spPr>
            <a:xfrm>
              <a:off x="1061847" y="1742599"/>
              <a:ext cx="5887281" cy="190690"/>
            </a:xfrm>
            <a:prstGeom prst="rect">
              <a:avLst/>
            </a:prstGeom>
            <a:noFill/>
            <a:ln>
              <a:noFill/>
            </a:ln>
          </p:spPr>
          <p:txBody>
            <a:bodyPr wrap="none" lIns="0" tIns="0" rIns="0" bIns="0" anchor="t" anchorCtr="0">
              <a:spAutoFit/>
            </a:bodyPr>
            <a:lstStyle/>
            <a:p>
              <a:pPr algn="l"/>
              <a:r>
                <a:rPr lang="tr-TR" sz="980" b="1" dirty="0">
                  <a:solidFill>
                    <a:srgbClr val="F2A65A"/>
                  </a:solidFill>
                  <a:latin typeface="Consolas"/>
                  <a:ea typeface="Consolas"/>
                  <a:cs typeface="Consolas"/>
                </a:rPr>
                <a:t>const gonderi = await prisma.post.create({ data: { baslik: 42, yazar: yazar } });</a:t>
              </a:r>
            </a:p>
          </p:txBody>
        </p:sp>
        <p:sp>
          <p:nvSpPr>
            <p:cNvPr id="16" name="TextBox 16"/>
            <p:cNvSpPr txBox="1"/>
            <p:nvPr/>
          </p:nvSpPr>
          <p:spPr>
            <a:xfrm>
              <a:off x="1061847" y="1952149"/>
              <a:ext cx="2554469"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console.log(gonderi.yazar.adSoyad);</a:t>
              </a:r>
            </a:p>
          </p:txBody>
        </p:sp>
        <p:sp>
          <p:nvSpPr>
            <p:cNvPr id="17" name="TextBox 17"/>
            <p:cNvSpPr txBox="1"/>
            <p:nvPr/>
          </p:nvSpPr>
          <p:spPr>
            <a:xfrm>
              <a:off x="833247" y="2161699"/>
              <a:ext cx="82466" cy="190690"/>
            </a:xfrm>
            <a:prstGeom prst="rect">
              <a:avLst/>
            </a:prstGeom>
            <a:noFill/>
            <a:ln>
              <a:noFill/>
            </a:ln>
          </p:spPr>
          <p:txBody>
            <a:bodyPr wrap="none" lIns="0" tIns="0" rIns="0" bIns="0" anchor="t" anchorCtr="0">
              <a:spAutoFit/>
            </a:bodyPr>
            <a:lstStyle/>
            <a:p>
              <a:pPr algn="l"/>
              <a:r>
                <a:rPr lang="tr-TR" sz="980" dirty="0">
                  <a:solidFill>
                    <a:srgbClr val="EAF4F6"/>
                  </a:solidFill>
                  <a:latin typeface="Consolas"/>
                  <a:ea typeface="Consolas"/>
                  <a:cs typeface="Consolas"/>
                </a:rPr>
                <a:t>}</a:t>
              </a:r>
            </a:p>
          </p:txBody>
        </p:sp>
      </p:grpSp>
      <p:grpSp>
        <p:nvGrpSpPr>
          <p:cNvPr id="60" name="trace-table"/>
          <p:cNvGrpSpPr/>
          <p:nvPr/>
        </p:nvGrpSpPr>
        <p:grpSpPr>
          <a:xfrm>
            <a:off x="609600" y="2514600"/>
            <a:ext cx="10972800" cy="2485739"/>
            <a:chOff x="609600" y="2514600"/>
            <a:chExt cx="10972800" cy="2485739"/>
          </a:xfrm>
        </p:grpSpPr>
        <p:sp>
          <p:nvSpPr>
            <p:cNvPr id="19" name="Rectangle 19"/>
            <p:cNvSpPr/>
            <p:nvPr/>
          </p:nvSpPr>
          <p:spPr>
            <a:xfrm>
              <a:off x="609600" y="2514600"/>
              <a:ext cx="10972800" cy="342900"/>
            </a:xfrm>
            <a:prstGeom prst="rect">
              <a:avLst/>
            </a:prstGeom>
            <a:solidFill>
              <a:srgbClr val="12355B"/>
            </a:solidFill>
            <a:ln>
              <a:noFill/>
            </a:ln>
          </p:spPr>
        </p:sp>
        <p:sp>
          <p:nvSpPr>
            <p:cNvPr id="20" name="TextBox 20"/>
            <p:cNvSpPr txBox="1"/>
            <p:nvPr/>
          </p:nvSpPr>
          <p:spPr>
            <a:xfrm>
              <a:off x="757047" y="2637949"/>
              <a:ext cx="324591"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ADIM</a:t>
              </a:r>
            </a:p>
          </p:txBody>
        </p:sp>
        <p:sp>
          <p:nvSpPr>
            <p:cNvPr id="21" name="TextBox 21"/>
            <p:cNvSpPr txBox="1"/>
            <p:nvPr/>
          </p:nvSpPr>
          <p:spPr>
            <a:xfrm>
              <a:off x="1709547" y="2637949"/>
              <a:ext cx="412410"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İFADE</a:t>
              </a:r>
            </a:p>
          </p:txBody>
        </p:sp>
        <p:sp>
          <p:nvSpPr>
            <p:cNvPr id="22" name="TextBox 22"/>
            <p:cNvSpPr txBox="1"/>
            <p:nvPr/>
          </p:nvSpPr>
          <p:spPr>
            <a:xfrm>
              <a:off x="5329047" y="2637949"/>
              <a:ext cx="851505"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TİP / DURUM</a:t>
              </a:r>
            </a:p>
          </p:txBody>
        </p:sp>
        <p:sp>
          <p:nvSpPr>
            <p:cNvPr id="23" name="TextBox 23"/>
            <p:cNvSpPr txBox="1"/>
            <p:nvPr/>
          </p:nvSpPr>
          <p:spPr>
            <a:xfrm>
              <a:off x="7234047" y="2637949"/>
              <a:ext cx="697821"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DB ETKİSİ</a:t>
              </a:r>
            </a:p>
          </p:txBody>
        </p:sp>
        <p:sp>
          <p:nvSpPr>
            <p:cNvPr id="24" name="TextBox 24"/>
            <p:cNvSpPr txBox="1"/>
            <p:nvPr/>
          </p:nvSpPr>
          <p:spPr>
            <a:xfrm>
              <a:off x="9043797" y="2637949"/>
              <a:ext cx="646594" cy="190690"/>
            </a:xfrm>
            <a:prstGeom prst="rect">
              <a:avLst/>
            </a:prstGeom>
            <a:noFill/>
            <a:ln>
              <a:noFill/>
            </a:ln>
          </p:spPr>
          <p:txBody>
            <a:bodyPr wrap="none" lIns="0" tIns="0" rIns="0" bIns="0" anchor="t" anchorCtr="0">
              <a:spAutoFit/>
            </a:bodyPr>
            <a:lstStyle/>
            <a:p>
              <a:pPr algn="l"/>
              <a:r>
                <a:rPr lang="tr-TR" sz="980" b="1" dirty="0">
                  <a:solidFill>
                    <a:srgbClr val="FFFFFF"/>
                  </a:solidFill>
                  <a:latin typeface="+mn-lt"/>
                  <a:ea typeface="+mn-ea"/>
                  <a:cs typeface="+mn-cs"/>
                </a:rPr>
                <a:t>AÇIKLAMA</a:t>
              </a:r>
            </a:p>
          </p:txBody>
        </p:sp>
        <p:grpSp>
          <p:nvGrpSpPr>
            <p:cNvPr id="59" name="Group 59"/>
            <p:cNvGrpSpPr/>
            <p:nvPr/>
          </p:nvGrpSpPr>
          <p:grpSpPr>
            <a:xfrm>
              <a:off x="685800" y="2904649"/>
              <a:ext cx="10820400" cy="2095690"/>
              <a:chOff x="685800" y="2904649"/>
              <a:chExt cx="10820400" cy="2095690"/>
            </a:xfrm>
          </p:grpSpPr>
          <p:sp>
            <p:nvSpPr>
              <p:cNvPr id="25" name="TextBox 25"/>
              <p:cNvSpPr txBox="1"/>
              <p:nvPr/>
            </p:nvSpPr>
            <p:spPr>
              <a:xfrm>
                <a:off x="757047" y="2961799"/>
                <a:ext cx="70742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1 Asenkron</a:t>
                </a:r>
              </a:p>
            </p:txBody>
          </p:sp>
          <p:sp>
            <p:nvSpPr>
              <p:cNvPr id="26" name="TextBox 26"/>
              <p:cNvSpPr txBox="1"/>
              <p:nvPr/>
            </p:nvSpPr>
            <p:spPr>
              <a:xfrm>
                <a:off x="1709547" y="2961799"/>
                <a:ext cx="146658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await ... findUnique</a:t>
                </a:r>
              </a:p>
            </p:txBody>
          </p:sp>
          <p:sp>
            <p:nvSpPr>
              <p:cNvPr id="27" name="TextBox 27"/>
              <p:cNvSpPr txBox="1"/>
              <p:nvPr/>
            </p:nvSpPr>
            <p:spPr>
              <a:xfrm>
                <a:off x="5329047" y="2961799"/>
                <a:ext cx="64763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User | null</a:t>
                </a:r>
              </a:p>
            </p:txBody>
          </p:sp>
          <p:sp>
            <p:nvSpPr>
              <p:cNvPr id="28" name="TextBox 28"/>
              <p:cNvSpPr txBox="1"/>
              <p:nvPr/>
            </p:nvSpPr>
            <p:spPr>
              <a:xfrm>
                <a:off x="7234047" y="2961799"/>
                <a:ext cx="971733"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SELECT LIMIT 1</a:t>
                </a:r>
              </a:p>
            </p:txBody>
          </p:sp>
          <p:sp>
            <p:nvSpPr>
              <p:cNvPr id="29" name="TextBox 29"/>
              <p:cNvSpPr txBox="1"/>
              <p:nvPr/>
            </p:nvSpPr>
            <p:spPr>
              <a:xfrm>
                <a:off x="9043797" y="2904649"/>
                <a:ext cx="168969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await ile Promise çözüldü;</a:t>
                </a:r>
              </a:p>
            </p:txBody>
          </p:sp>
          <p:sp>
            <p:nvSpPr>
              <p:cNvPr id="30" name="TextBox 30"/>
              <p:cNvSpPr txBox="1"/>
              <p:nvPr/>
            </p:nvSpPr>
            <p:spPr>
              <a:xfrm>
                <a:off x="9043797" y="3057049"/>
                <a:ext cx="158644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gerçek kullanıcı alındı.</a:t>
                </a:r>
              </a:p>
            </p:txBody>
          </p:sp>
          <p:sp>
            <p:nvSpPr>
              <p:cNvPr id="31" name="Line 31"/>
              <p:cNvSpPr/>
              <p:nvPr/>
            </p:nvSpPr>
            <p:spPr>
              <a:xfrm>
                <a:off x="685800" y="3257550"/>
                <a:ext cx="10820400" cy="9525"/>
              </a:xfrm>
              <a:custGeom>
                <a:avLst/>
                <a:gdLst/>
                <a:ahLst/>
                <a:cxnLst/>
                <a:rect l="l" t="t" r="r" b="b"/>
                <a:pathLst>
                  <a:path w="10820400" h="9525">
                    <a:moveTo>
                      <a:pt x="0" y="0"/>
                    </a:moveTo>
                    <a:lnTo>
                      <a:pt x="10820400" y="0"/>
                    </a:lnTo>
                  </a:path>
                </a:pathLst>
              </a:custGeom>
              <a:noFill/>
              <a:ln w="9525">
                <a:solidFill>
                  <a:srgbClr val="B8CBD3"/>
                </a:solidFill>
              </a:ln>
            </p:spPr>
          </p:sp>
          <p:sp>
            <p:nvSpPr>
              <p:cNvPr id="32" name="TextBox 32"/>
              <p:cNvSpPr txBox="1"/>
              <p:nvPr/>
            </p:nvSpPr>
            <p:spPr>
              <a:xfrm>
                <a:off x="757047" y="3399949"/>
                <a:ext cx="49022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2 Guard</a:t>
                </a:r>
              </a:p>
            </p:txBody>
          </p:sp>
          <p:sp>
            <p:nvSpPr>
              <p:cNvPr id="33" name="TextBox 33"/>
              <p:cNvSpPr txBox="1"/>
              <p:nvPr/>
            </p:nvSpPr>
            <p:spPr>
              <a:xfrm>
                <a:off x="1709547" y="3399949"/>
                <a:ext cx="196903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if (yazar === null) return;</a:t>
                </a:r>
              </a:p>
            </p:txBody>
          </p:sp>
          <p:sp>
            <p:nvSpPr>
              <p:cNvPr id="34" name="TextBox 34"/>
              <p:cNvSpPr txBox="1"/>
              <p:nvPr/>
            </p:nvSpPr>
            <p:spPr>
              <a:xfrm>
                <a:off x="5329047" y="3399949"/>
                <a:ext cx="814664"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null denetimi</a:t>
                </a:r>
              </a:p>
            </p:txBody>
          </p:sp>
          <p:sp>
            <p:nvSpPr>
              <p:cNvPr id="35" name="TextBox 35"/>
              <p:cNvSpPr txBox="1"/>
              <p:nvPr/>
            </p:nvSpPr>
            <p:spPr>
              <a:xfrm>
                <a:off x="7234047" y="3399949"/>
                <a:ext cx="8246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a:t>
                </a:r>
              </a:p>
            </p:txBody>
          </p:sp>
          <p:sp>
            <p:nvSpPr>
              <p:cNvPr id="36" name="TextBox 36"/>
              <p:cNvSpPr txBox="1"/>
              <p:nvPr/>
            </p:nvSpPr>
            <p:spPr>
              <a:xfrm>
                <a:off x="9043797" y="3342799"/>
                <a:ext cx="194702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Yazar yoksa işlem durduruldu;</a:t>
                </a:r>
              </a:p>
            </p:txBody>
          </p:sp>
          <p:sp>
            <p:nvSpPr>
              <p:cNvPr id="37" name="TextBox 37"/>
              <p:cNvSpPr txBox="1"/>
              <p:nvPr/>
            </p:nvSpPr>
            <p:spPr>
              <a:xfrm>
                <a:off x="9043797" y="3495199"/>
                <a:ext cx="137730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FK hatası engellendi.</a:t>
                </a:r>
              </a:p>
            </p:txBody>
          </p:sp>
          <p:sp>
            <p:nvSpPr>
              <p:cNvPr id="38" name="Line 38"/>
              <p:cNvSpPr/>
              <p:nvPr/>
            </p:nvSpPr>
            <p:spPr>
              <a:xfrm>
                <a:off x="685800" y="3695700"/>
                <a:ext cx="10820400" cy="9525"/>
              </a:xfrm>
              <a:custGeom>
                <a:avLst/>
                <a:gdLst/>
                <a:ahLst/>
                <a:cxnLst/>
                <a:rect l="l" t="t" r="r" b="b"/>
                <a:pathLst>
                  <a:path w="10820400" h="9525">
                    <a:moveTo>
                      <a:pt x="0" y="0"/>
                    </a:moveTo>
                    <a:lnTo>
                      <a:pt x="10820400" y="0"/>
                    </a:lnTo>
                  </a:path>
                </a:pathLst>
              </a:custGeom>
              <a:noFill/>
              <a:ln w="9525">
                <a:solidFill>
                  <a:srgbClr val="B8CBD3"/>
                </a:solidFill>
              </a:ln>
            </p:spPr>
          </p:sp>
          <p:sp>
            <p:nvSpPr>
              <p:cNvPr id="39" name="TextBox 39"/>
              <p:cNvSpPr txBox="1"/>
              <p:nvPr/>
            </p:nvSpPr>
            <p:spPr>
              <a:xfrm>
                <a:off x="757047" y="3838099"/>
                <a:ext cx="46269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3 İlişki</a:t>
                </a:r>
              </a:p>
            </p:txBody>
          </p:sp>
          <p:sp>
            <p:nvSpPr>
              <p:cNvPr id="40" name="TextBox 40"/>
              <p:cNvSpPr txBox="1"/>
              <p:nvPr/>
            </p:nvSpPr>
            <p:spPr>
              <a:xfrm>
                <a:off x="1709547" y="3838099"/>
                <a:ext cx="189647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yazar: { connect: { id } }</a:t>
                </a:r>
              </a:p>
            </p:txBody>
          </p:sp>
          <p:sp>
            <p:nvSpPr>
              <p:cNvPr id="41" name="TextBox 41"/>
              <p:cNvSpPr txBox="1"/>
              <p:nvPr/>
            </p:nvSpPr>
            <p:spPr>
              <a:xfrm>
                <a:off x="5329047" y="3838099"/>
                <a:ext cx="990421"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Prisma connect</a:t>
                </a:r>
              </a:p>
            </p:txBody>
          </p:sp>
          <p:sp>
            <p:nvSpPr>
              <p:cNvPr id="42" name="TextBox 42"/>
              <p:cNvSpPr txBox="1"/>
              <p:nvPr/>
            </p:nvSpPr>
            <p:spPr>
              <a:xfrm>
                <a:off x="7234047" y="3838099"/>
                <a:ext cx="123172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Foreign Key eşleşti</a:t>
                </a:r>
              </a:p>
            </p:txBody>
          </p:sp>
          <p:sp>
            <p:nvSpPr>
              <p:cNvPr id="43" name="TextBox 43"/>
              <p:cNvSpPr txBox="1"/>
              <p:nvPr/>
            </p:nvSpPr>
            <p:spPr>
              <a:xfrm>
                <a:off x="9043797" y="3780949"/>
                <a:ext cx="189396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Nesne yerine ilişki yönergesi;</a:t>
                </a:r>
              </a:p>
            </p:txBody>
          </p:sp>
          <p:sp>
            <p:nvSpPr>
              <p:cNvPr id="44" name="TextBox 44"/>
              <p:cNvSpPr txBox="1"/>
              <p:nvPr/>
            </p:nvSpPr>
            <p:spPr>
              <a:xfrm>
                <a:off x="9043797" y="3933349"/>
                <a:ext cx="148089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tür güvenliği sağlandı.</a:t>
                </a:r>
              </a:p>
            </p:txBody>
          </p:sp>
          <p:sp>
            <p:nvSpPr>
              <p:cNvPr id="45" name="Line 45"/>
              <p:cNvSpPr/>
              <p:nvPr/>
            </p:nvSpPr>
            <p:spPr>
              <a:xfrm>
                <a:off x="685800" y="4133850"/>
                <a:ext cx="10820400" cy="9525"/>
              </a:xfrm>
              <a:custGeom>
                <a:avLst/>
                <a:gdLst/>
                <a:ahLst/>
                <a:cxnLst/>
                <a:rect l="l" t="t" r="r" b="b"/>
                <a:pathLst>
                  <a:path w="10820400" h="9525">
                    <a:moveTo>
                      <a:pt x="0" y="0"/>
                    </a:moveTo>
                    <a:lnTo>
                      <a:pt x="10820400" y="0"/>
                    </a:lnTo>
                  </a:path>
                </a:pathLst>
              </a:custGeom>
              <a:noFill/>
              <a:ln w="9525">
                <a:solidFill>
                  <a:srgbClr val="B8CBD3"/>
                </a:solidFill>
              </a:ln>
            </p:spPr>
          </p:sp>
          <p:sp>
            <p:nvSpPr>
              <p:cNvPr id="46" name="TextBox 46"/>
              <p:cNvSpPr txBox="1"/>
              <p:nvPr/>
            </p:nvSpPr>
            <p:spPr>
              <a:xfrm>
                <a:off x="757047" y="4276249"/>
                <a:ext cx="568482"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4 Include</a:t>
                </a:r>
              </a:p>
            </p:txBody>
          </p:sp>
          <p:sp>
            <p:nvSpPr>
              <p:cNvPr id="47" name="TextBox 47"/>
              <p:cNvSpPr txBox="1"/>
              <p:nvPr/>
            </p:nvSpPr>
            <p:spPr>
              <a:xfrm>
                <a:off x="1709547" y="4276249"/>
                <a:ext cx="175135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include: { yazar: true }</a:t>
                </a:r>
              </a:p>
            </p:txBody>
          </p:sp>
          <p:sp>
            <p:nvSpPr>
              <p:cNvPr id="48" name="TextBox 48"/>
              <p:cNvSpPr txBox="1"/>
              <p:nvPr/>
            </p:nvSpPr>
            <p:spPr>
              <a:xfrm>
                <a:off x="5329047" y="4276249"/>
                <a:ext cx="85822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Eager loading</a:t>
                </a:r>
              </a:p>
            </p:txBody>
          </p:sp>
          <p:sp>
            <p:nvSpPr>
              <p:cNvPr id="49" name="TextBox 49"/>
              <p:cNvSpPr txBox="1"/>
              <p:nvPr/>
            </p:nvSpPr>
            <p:spPr>
              <a:xfrm>
                <a:off x="7234047" y="4276249"/>
                <a:ext cx="105163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JOIN / alt sorgu</a:t>
                </a:r>
              </a:p>
            </p:txBody>
          </p:sp>
          <p:sp>
            <p:nvSpPr>
              <p:cNvPr id="50" name="TextBox 50"/>
              <p:cNvSpPr txBox="1"/>
              <p:nvPr/>
            </p:nvSpPr>
            <p:spPr>
              <a:xfrm>
                <a:off x="9043797" y="4219099"/>
                <a:ext cx="1893816"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Yeni gönderiyle birlikte yazar</a:t>
                </a:r>
              </a:p>
            </p:txBody>
          </p:sp>
          <p:sp>
            <p:nvSpPr>
              <p:cNvPr id="51" name="TextBox 51"/>
              <p:cNvSpPr txBox="1"/>
              <p:nvPr/>
            </p:nvSpPr>
            <p:spPr>
              <a:xfrm>
                <a:off x="9043797" y="4371499"/>
                <a:ext cx="1441320"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nesnesi de dolduruldu.</a:t>
                </a:r>
              </a:p>
            </p:txBody>
          </p:sp>
          <p:sp>
            <p:nvSpPr>
              <p:cNvPr id="52" name="Line 52"/>
              <p:cNvSpPr/>
              <p:nvPr/>
            </p:nvSpPr>
            <p:spPr>
              <a:xfrm>
                <a:off x="685800" y="4572000"/>
                <a:ext cx="10820400" cy="9525"/>
              </a:xfrm>
              <a:custGeom>
                <a:avLst/>
                <a:gdLst/>
                <a:ahLst/>
                <a:cxnLst/>
                <a:rect l="l" t="t" r="r" b="b"/>
                <a:pathLst>
                  <a:path w="10820400" h="9525">
                    <a:moveTo>
                      <a:pt x="0" y="0"/>
                    </a:moveTo>
                    <a:lnTo>
                      <a:pt x="10820400" y="0"/>
                    </a:lnTo>
                  </a:path>
                </a:pathLst>
              </a:custGeom>
              <a:noFill/>
              <a:ln w="9525">
                <a:solidFill>
                  <a:srgbClr val="B8CBD3"/>
                </a:solidFill>
              </a:ln>
            </p:spPr>
          </p:sp>
          <p:sp>
            <p:nvSpPr>
              <p:cNvPr id="53" name="TextBox 53"/>
              <p:cNvSpPr txBox="1"/>
              <p:nvPr/>
            </p:nvSpPr>
            <p:spPr>
              <a:xfrm>
                <a:off x="757047" y="4714399"/>
                <a:ext cx="52261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5 Erişim</a:t>
                </a:r>
              </a:p>
            </p:txBody>
          </p:sp>
          <p:sp>
            <p:nvSpPr>
              <p:cNvPr id="54" name="TextBox 54"/>
              <p:cNvSpPr txBox="1"/>
              <p:nvPr/>
            </p:nvSpPr>
            <p:spPr>
              <a:xfrm>
                <a:off x="1709547" y="4714399"/>
                <a:ext cx="153820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Consolas"/>
                    <a:ea typeface="Consolas"/>
                    <a:cs typeface="Consolas"/>
                  </a:rPr>
                  <a:t>gonderi.yazar.adSoyad</a:t>
                </a:r>
              </a:p>
            </p:txBody>
          </p:sp>
          <p:sp>
            <p:nvSpPr>
              <p:cNvPr id="55" name="TextBox 55"/>
              <p:cNvSpPr txBox="1"/>
              <p:nvPr/>
            </p:nvSpPr>
            <p:spPr>
              <a:xfrm>
                <a:off x="5329047" y="4714399"/>
                <a:ext cx="412285"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string</a:t>
                </a:r>
              </a:p>
            </p:txBody>
          </p:sp>
          <p:sp>
            <p:nvSpPr>
              <p:cNvPr id="56" name="TextBox 56"/>
              <p:cNvSpPr txBox="1"/>
              <p:nvPr/>
            </p:nvSpPr>
            <p:spPr>
              <a:xfrm>
                <a:off x="7234047" y="4714399"/>
                <a:ext cx="122745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Güvenli alan erişimi</a:t>
                </a:r>
              </a:p>
            </p:txBody>
          </p:sp>
          <p:sp>
            <p:nvSpPr>
              <p:cNvPr id="57" name="TextBox 57"/>
              <p:cNvSpPr txBox="1"/>
              <p:nvPr/>
            </p:nvSpPr>
            <p:spPr>
              <a:xfrm>
                <a:off x="9043797" y="4657249"/>
                <a:ext cx="1771139"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include sayesinde undefined</a:t>
                </a:r>
              </a:p>
            </p:txBody>
          </p:sp>
          <p:sp>
            <p:nvSpPr>
              <p:cNvPr id="58" name="TextBox 58"/>
              <p:cNvSpPr txBox="1"/>
              <p:nvPr/>
            </p:nvSpPr>
            <p:spPr>
              <a:xfrm>
                <a:off x="9043797" y="4809649"/>
                <a:ext cx="1065327" cy="190690"/>
              </a:xfrm>
              <a:prstGeom prst="rect">
                <a:avLst/>
              </a:prstGeom>
              <a:noFill/>
              <a:ln>
                <a:noFill/>
              </a:ln>
            </p:spPr>
            <p:txBody>
              <a:bodyPr wrap="none" lIns="0" tIns="0" rIns="0" bIns="0" anchor="t" anchorCtr="0">
                <a:spAutoFit/>
              </a:bodyPr>
              <a:lstStyle/>
              <a:p>
                <a:pPr algn="l"/>
                <a:r>
                  <a:rPr lang="tr-TR" sz="980" dirty="0">
                    <a:solidFill>
                      <a:srgbClr val="172B3A"/>
                    </a:solidFill>
                    <a:latin typeface="+mn-lt"/>
                    <a:ea typeface="+mn-ea"/>
                    <a:cs typeface="+mn-cs"/>
                  </a:rPr>
                  <a:t>çökmesi önlendi.</a:t>
                </a:r>
              </a:p>
            </p:txBody>
          </p:sp>
        </p:grpSp>
      </p:grpSp>
      <p:grpSp>
        <p:nvGrpSpPr>
          <p:cNvPr id="65" name="lab-note"/>
          <p:cNvGrpSpPr/>
          <p:nvPr/>
        </p:nvGrpSpPr>
        <p:grpSpPr>
          <a:xfrm>
            <a:off x="609600" y="5753100"/>
            <a:ext cx="10972800" cy="571500"/>
            <a:chOff x="609600" y="5753100"/>
            <a:chExt cx="10972800" cy="571500"/>
          </a:xfrm>
        </p:grpSpPr>
        <p:sp>
          <p:nvSpPr>
            <p:cNvPr id="61" name="Rectangle 61"/>
            <p:cNvSpPr/>
            <p:nvPr/>
          </p:nvSpPr>
          <p:spPr>
            <a:xfrm>
              <a:off x="609600" y="5753100"/>
              <a:ext cx="10972800" cy="571500"/>
            </a:xfrm>
            <a:prstGeom prst="roundRect">
              <a:avLst>
                <a:gd name="adj" fmla="val 13333"/>
              </a:avLst>
            </a:prstGeom>
            <a:solidFill>
              <a:srgbClr val="EAF4F6"/>
            </a:solidFill>
            <a:ln>
              <a:noFill/>
            </a:ln>
          </p:spPr>
        </p:sp>
        <p:sp>
          <p:nvSpPr>
            <p:cNvPr id="62" name="Rectangle 62"/>
            <p:cNvSpPr/>
            <p:nvPr/>
          </p:nvSpPr>
          <p:spPr>
            <a:xfrm>
              <a:off x="609600" y="5753100"/>
              <a:ext cx="57150" cy="571500"/>
            </a:xfrm>
            <a:prstGeom prst="rect">
              <a:avLst/>
            </a:prstGeom>
            <a:solidFill>
              <a:srgbClr val="00A6A6"/>
            </a:solidFill>
            <a:ln>
              <a:noFill/>
            </a:ln>
          </p:spPr>
        </p:sp>
        <p:sp>
          <p:nvSpPr>
            <p:cNvPr id="63" name="TextBox 63"/>
            <p:cNvSpPr txBox="1"/>
            <p:nvPr/>
          </p:nvSpPr>
          <p:spPr>
            <a:xfrm>
              <a:off x="908685" y="5860256"/>
              <a:ext cx="10376271" cy="220028"/>
            </a:xfrm>
            <a:prstGeom prst="rect">
              <a:avLst/>
            </a:prstGeom>
            <a:noFill/>
            <a:ln>
              <a:noFill/>
            </a:ln>
          </p:spPr>
          <p:txBody>
            <a:bodyPr wrap="none" lIns="0" tIns="0" rIns="0" bIns="0" anchor="t" anchorCtr="0">
              <a:spAutoFit/>
            </a:bodyPr>
            <a:lstStyle/>
            <a:p>
              <a:pPr algn="l"/>
              <a:r>
                <a:rPr lang="tr-TR" sz="1120" b="1" dirty="0">
                  <a:solidFill>
                    <a:srgbClr val="12355B"/>
                  </a:solidFill>
                  <a:latin typeface="+mn-lt"/>
                  <a:ea typeface="+mn-ea"/>
                  <a:cs typeface="+mn-cs"/>
                </a:rPr>
                <a:t>Laboratuvar Masası — 6 hata: tür (id), await eksikliği, tür (baslik), connect eksikliği, otomatik include yokluğu, null guard eksikliği.</a:t>
              </a:r>
            </a:p>
          </p:txBody>
        </p:sp>
        <p:sp>
          <p:nvSpPr>
            <p:cNvPr id="64" name="TextBox 64"/>
            <p:cNvSpPr txBox="1"/>
            <p:nvPr/>
          </p:nvSpPr>
          <p:spPr>
            <a:xfrm>
              <a:off x="909066" y="6077902"/>
              <a:ext cx="7733678" cy="205359"/>
            </a:xfrm>
            <a:prstGeom prst="rect">
              <a:avLst/>
            </a:prstGeom>
            <a:noFill/>
            <a:ln>
              <a:noFill/>
            </a:ln>
          </p:spPr>
          <p:txBody>
            <a:bodyPr wrap="none" lIns="0" tIns="0" rIns="0" bIns="0" anchor="t" anchorCtr="0">
              <a:spAutoFit/>
            </a:bodyPr>
            <a:lstStyle/>
            <a:p>
              <a:pPr algn="l"/>
              <a:r>
                <a:rPr lang="tr-TR" sz="1050" dirty="0">
                  <a:solidFill>
                    <a:srgbClr val="172B3A"/>
                  </a:solidFill>
                  <a:latin typeface="+mn-lt"/>
                  <a:ea typeface="+mn-ea"/>
                  <a:cs typeface="+mn-cs"/>
                </a:rPr>
                <a:t>Elif: "yazar === null ise veritabanında olmayan kullanıcıya gönderi bağlanamaz (Foreign Key Constraint ihlali)."</a:t>
              </a:r>
            </a:p>
          </p:txBody>
        </p:sp>
      </p:grpSp>
      <p:sp>
        <p:nvSpPr>
          <p:cNvPr id="66" name="TextBox 66"/>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21 / 25</a:t>
            </a:r>
          </a:p>
        </p:txBody>
      </p:sp>
    </p:spTree>
  </p:cSld>
  <p:clrMapOvr>
    <a:masterClrMapping/>
  </p:clrMapOvr>
  <p:transition xmlns:p14="http://schemas.microsoft.com/office/powerpoint/2010/main" p14:dur="400">
    <p:fade/>
  </p:transition>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11" name="page-title"/>
          <p:cNvGrpSpPr/>
          <p:nvPr/>
        </p:nvGrpSpPr>
        <p:grpSpPr>
          <a:xfrm>
            <a:off x="609600" y="171450"/>
            <a:ext cx="8527853" cy="668845"/>
            <a:chOff x="609600" y="171450"/>
            <a:chExt cx="8527853" cy="668845"/>
          </a:xfrm>
        </p:grpSpPr>
        <p:grpSp>
          <p:nvGrpSpPr>
            <p:cNvPr id="9" name="icon-badge"/>
            <p:cNvGrpSpPr/>
            <p:nvPr/>
          </p:nvGrpSpPr>
          <p:grpSpPr>
            <a:xfrm>
              <a:off x="609600" y="171450"/>
              <a:ext cx="571500" cy="571500"/>
              <a:chOff x="609600" y="171450"/>
              <a:chExt cx="571500" cy="571500"/>
            </a:xfrm>
          </p:grpSpPr>
          <p:sp>
            <p:nvSpPr>
              <p:cNvPr id="4" name="Ellipse 4"/>
              <p:cNvSpPr/>
              <p:nvPr/>
            </p:nvSpPr>
            <p:spPr>
              <a:xfrm>
                <a:off x="609600" y="171450"/>
                <a:ext cx="571500" cy="571500"/>
              </a:xfrm>
              <a:prstGeom prst="ellipse">
                <a:avLst/>
              </a:prstGeom>
              <a:solidFill>
                <a:srgbClr val="00A6A6"/>
              </a:solidFill>
              <a:ln>
                <a:noFill/>
              </a:ln>
            </p:spPr>
          </p:sp>
          <p:grpSp>
            <p:nvGrpSpPr>
              <p:cNvPr id="8" name="Group 8"/>
              <p:cNvGrpSpPr/>
              <p:nvPr/>
            </p:nvGrpSpPr>
            <p:grpSpPr>
              <a:xfrm>
                <a:off x="746456" y="319421"/>
                <a:ext cx="297777" cy="255830"/>
                <a:chOff x="746456" y="319421"/>
                <a:chExt cx="297777" cy="255830"/>
              </a:xfrm>
            </p:grpSpPr>
            <p:sp>
              <p:nvSpPr>
                <p:cNvPr id="5" name="Freeform 5"/>
                <p:cNvSpPr/>
                <p:nvPr/>
              </p:nvSpPr>
              <p:spPr>
                <a:xfrm>
                  <a:off x="895350" y="412909"/>
                  <a:ext cx="9525" cy="59055"/>
                </a:xfrm>
                <a:custGeom>
                  <a:avLst/>
                  <a:gdLst/>
                  <a:ahLst/>
                  <a:cxnLst/>
                  <a:rect l="l" t="t" r="r" b="b"/>
                  <a:pathLst>
                    <a:path w="9525" h="59055">
                      <a:moveTo>
                        <a:pt x="0" y="0"/>
                      </a:moveTo>
                      <a:lnTo>
                        <a:pt x="0" y="59055"/>
                      </a:lnTo>
                    </a:path>
                  </a:pathLst>
                </a:custGeom>
                <a:noFill/>
                <a:ln w="24759" cap="rnd">
                  <a:solidFill>
                    <a:srgbClr val="FFFFFF"/>
                  </a:solidFill>
                  <a:round/>
                </a:ln>
              </p:spPr>
            </p:sp>
            <p:sp>
              <p:nvSpPr>
                <p:cNvPr id="6" name="Freeform 6"/>
                <p:cNvSpPr/>
                <p:nvPr/>
              </p:nvSpPr>
              <p:spPr>
                <a:xfrm>
                  <a:off x="746456" y="319421"/>
                  <a:ext cx="297777" cy="255830"/>
                </a:xfrm>
                <a:custGeom>
                  <a:avLst/>
                  <a:gdLst/>
                  <a:ahLst/>
                  <a:cxnLst/>
                  <a:rect l="l" t="t" r="r" b="b"/>
                  <a:pathLst>
                    <a:path w="297777" h="255830">
                      <a:moveTo>
                        <a:pt x="124726" y="13630"/>
                      </a:moveTo>
                      <a:lnTo>
                        <a:pt x="5051" y="213443"/>
                      </a:lnTo>
                      <a:cubicBezTo>
                        <a:pt x="31" y="222137"/>
                        <a:pt x="0" y="232841"/>
                        <a:pt x="4970" y="241564"/>
                      </a:cubicBezTo>
                      <a:cubicBezTo>
                        <a:pt x="9941" y="250286"/>
                        <a:pt x="19166" y="255717"/>
                        <a:pt x="29204" y="255830"/>
                      </a:cubicBezTo>
                      <a:lnTo>
                        <a:pt x="268584" y="255830"/>
                      </a:lnTo>
                      <a:cubicBezTo>
                        <a:pt x="278618" y="255714"/>
                        <a:pt x="287838" y="250285"/>
                        <a:pt x="292807" y="241568"/>
                      </a:cubicBezTo>
                      <a:cubicBezTo>
                        <a:pt x="297777" y="232850"/>
                        <a:pt x="297750" y="222150"/>
                        <a:pt x="292737" y="213458"/>
                      </a:cubicBezTo>
                      <a:lnTo>
                        <a:pt x="173062" y="13615"/>
                      </a:lnTo>
                      <a:cubicBezTo>
                        <a:pt x="167941" y="5163"/>
                        <a:pt x="158777" y="0"/>
                        <a:pt x="148894" y="0"/>
                      </a:cubicBezTo>
                      <a:cubicBezTo>
                        <a:pt x="139011" y="0"/>
                        <a:pt x="129847" y="5163"/>
                        <a:pt x="124726" y="13615"/>
                      </a:cubicBezTo>
                    </a:path>
                  </a:pathLst>
                </a:custGeom>
                <a:noFill/>
                <a:ln w="24759" cap="rnd">
                  <a:solidFill>
                    <a:srgbClr val="FFFFFF"/>
                  </a:solidFill>
                  <a:round/>
                </a:ln>
              </p:spPr>
            </p:sp>
            <p:sp>
              <p:nvSpPr>
                <p:cNvPr id="7" name="Freeform 7"/>
                <p:cNvSpPr/>
                <p:nvPr/>
              </p:nvSpPr>
              <p:spPr>
                <a:xfrm>
                  <a:off x="895350" y="516255"/>
                  <a:ext cx="9525" cy="9525"/>
                </a:xfrm>
                <a:custGeom>
                  <a:avLst/>
                  <a:gdLst/>
                  <a:ahLst/>
                  <a:cxnLst/>
                  <a:rect l="l" t="t" r="r" b="b"/>
                  <a:pathLst>
                    <a:path w="9525" h="9525">
                      <a:moveTo>
                        <a:pt x="0" y="0"/>
                      </a:moveTo>
                      <a:lnTo>
                        <a:pt x="148" y="0"/>
                      </a:lnTo>
                    </a:path>
                  </a:pathLst>
                </a:custGeom>
                <a:noFill/>
                <a:ln w="24759" cap="rnd">
                  <a:solidFill>
                    <a:srgbClr val="FFFFFF"/>
                  </a:solidFill>
                  <a:round/>
                </a:ln>
              </p:spPr>
            </p:sp>
          </p:grpSp>
        </p:grpSp>
        <p:sp>
          <p:nvSpPr>
            <p:cNvPr id="10" name="TextBox 10"/>
            <p:cNvSpPr txBox="1"/>
            <p:nvPr/>
          </p:nvSpPr>
          <p:spPr>
            <a:xfrm>
              <a:off x="1299972" y="282892"/>
              <a:ext cx="783748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Kavram yanılgıları ve anti-pattern'lar</a:t>
              </a:r>
            </a:p>
          </p:txBody>
        </p:sp>
      </p:grpSp>
      <p:grpSp>
        <p:nvGrpSpPr>
          <p:cNvPr id="16" name="fallacy-header"/>
          <p:cNvGrpSpPr/>
          <p:nvPr/>
        </p:nvGrpSpPr>
        <p:grpSpPr>
          <a:xfrm>
            <a:off x="609600" y="1333500"/>
            <a:ext cx="10972800" cy="381000"/>
            <a:chOff x="609600" y="1333500"/>
            <a:chExt cx="10972800" cy="381000"/>
          </a:xfrm>
        </p:grpSpPr>
        <p:sp>
          <p:nvSpPr>
            <p:cNvPr id="12" name="Rectangle 12"/>
            <p:cNvSpPr/>
            <p:nvPr/>
          </p:nvSpPr>
          <p:spPr>
            <a:xfrm>
              <a:off x="609600" y="1333500"/>
              <a:ext cx="10972800" cy="381000"/>
            </a:xfrm>
            <a:prstGeom prst="rect">
              <a:avLst/>
            </a:prstGeom>
            <a:solidFill>
              <a:srgbClr val="12355B"/>
            </a:solidFill>
            <a:ln>
              <a:noFill/>
            </a:ln>
          </p:spPr>
        </p:sp>
        <p:sp>
          <p:nvSpPr>
            <p:cNvPr id="13" name="TextBox 13"/>
            <p:cNvSpPr txBox="1"/>
            <p:nvPr/>
          </p:nvSpPr>
          <p:spPr>
            <a:xfrm>
              <a:off x="755904" y="1451610"/>
              <a:ext cx="676595"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YANILGI</a:t>
              </a:r>
            </a:p>
          </p:txBody>
        </p:sp>
        <p:sp>
          <p:nvSpPr>
            <p:cNvPr id="14" name="TextBox 14"/>
            <p:cNvSpPr txBox="1"/>
            <p:nvPr/>
          </p:nvSpPr>
          <p:spPr>
            <a:xfrm>
              <a:off x="4375404" y="1451610"/>
              <a:ext cx="1376843"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TEKNİK GERÇEK</a:t>
              </a:r>
            </a:p>
          </p:txBody>
        </p:sp>
        <p:sp>
          <p:nvSpPr>
            <p:cNvPr id="15" name="TextBox 15"/>
            <p:cNvSpPr txBox="1"/>
            <p:nvPr/>
          </p:nvSpPr>
          <p:spPr>
            <a:xfrm>
              <a:off x="8185404" y="1451610"/>
              <a:ext cx="1375136" cy="234696"/>
            </a:xfrm>
            <a:prstGeom prst="rect">
              <a:avLst/>
            </a:prstGeom>
            <a:noFill/>
            <a:ln>
              <a:noFill/>
            </a:ln>
          </p:spPr>
          <p:txBody>
            <a:bodyPr wrap="none" lIns="0" tIns="0" rIns="0" bIns="0" anchor="t" anchorCtr="0">
              <a:spAutoFit/>
            </a:bodyPr>
            <a:lstStyle/>
            <a:p>
              <a:pPr algn="l"/>
              <a:r>
                <a:rPr lang="tr-TR" sz="1200" b="1" spc="75" dirty="0">
                  <a:solidFill>
                    <a:srgbClr val="FFFFFF"/>
                  </a:solidFill>
                  <a:latin typeface="+mn-lt"/>
                  <a:ea typeface="+mn-ea"/>
                  <a:cs typeface="+mn-cs"/>
                </a:rPr>
                <a:t>MİMARİ ÇÖZÜM</a:t>
              </a:r>
            </a:p>
          </p:txBody>
        </p:sp>
      </p:grpSp>
      <p:grpSp>
        <p:nvGrpSpPr>
          <p:cNvPr id="21" name="fallacy-sql"/>
          <p:cNvGrpSpPr/>
          <p:nvPr/>
        </p:nvGrpSpPr>
        <p:grpSpPr>
          <a:xfrm>
            <a:off x="609600" y="1865471"/>
            <a:ext cx="10972800" cy="1296829"/>
            <a:chOff x="609600" y="1865471"/>
            <a:chExt cx="10972800" cy="1296829"/>
          </a:xfrm>
        </p:grpSpPr>
        <p:sp>
          <p:nvSpPr>
            <p:cNvPr id="17" name="TextBox 17"/>
            <p:cNvSpPr txBox="1"/>
            <p:nvPr/>
          </p:nvSpPr>
          <p:spPr>
            <a:xfrm>
              <a:off x="754761" y="1865471"/>
              <a:ext cx="1879644" cy="1021652"/>
            </a:xfrm>
            <a:prstGeom prst="rect">
              <a:avLst/>
            </a:prstGeom>
            <a:noFill/>
            <a:ln>
              <a:noFill/>
            </a:ln>
          </p:spPr>
          <p:txBody>
            <a:bodyPr wrap="none" lIns="0" tIns="0" rIns="0" bIns="0" anchor="t" anchorCtr="0">
              <a:spAutoFit/>
            </a:bodyPr>
            <a:lstStyle/>
            <a:p>
              <a:pPr algn="l">
                <a:lnSpc>
                  <a:spcPts val="1950"/>
                </a:lnSpc>
              </a:pPr>
              <a:r>
                <a:rPr lang="tr-TR" sz="1420" b="1" dirty="0">
                  <a:solidFill>
                    <a:srgbClr val="12355B"/>
                  </a:solidFill>
                  <a:latin typeface="+mn-lt"/>
                  <a:ea typeface="+mn-ea"/>
                  <a:cs typeface="+mn-cs"/>
                </a:rPr>
                <a:t>"Prisma kullandığım</a:t>
              </a:r>
              <a:br/>
              <a:r>
                <a:rPr lang="tr-TR" sz="1420" b="1" dirty="0">
                  <a:solidFill>
                    <a:srgbClr val="12355B"/>
                  </a:solidFill>
                  <a:latin typeface="+mn-lt"/>
                  <a:ea typeface="+mn-ea"/>
                  <a:cs typeface="+mn-cs"/>
                </a:rPr>
                <a:t>için artık ilişkisel</a:t>
              </a:r>
              <a:br/>
              <a:r>
                <a:rPr lang="tr-TR" sz="1420" b="1" dirty="0">
                  <a:solidFill>
                    <a:srgbClr val="12355B"/>
                  </a:solidFill>
                  <a:latin typeface="+mn-lt"/>
                  <a:ea typeface="+mn-ea"/>
                  <a:cs typeface="+mn-cs"/>
                </a:rPr>
                <a:t>veritabanı ve SQL</a:t>
              </a:r>
              <a:br/>
              <a:r>
                <a:rPr lang="tr-TR" sz="1420" b="1" dirty="0">
                  <a:solidFill>
                    <a:srgbClr val="12355B"/>
                  </a:solidFill>
                  <a:latin typeface="+mn-lt"/>
                  <a:ea typeface="+mn-ea"/>
                  <a:cs typeface="+mn-cs"/>
                </a:rPr>
                <a:t>bilmeme gerek yok."</a:t>
              </a:r>
            </a:p>
          </p:txBody>
        </p:sp>
        <p:sp>
          <p:nvSpPr>
            <p:cNvPr id="18" name="TextBox 18"/>
            <p:cNvSpPr txBox="1"/>
            <p:nvPr/>
          </p:nvSpPr>
          <p:spPr>
            <a:xfrm>
              <a:off x="4375404" y="1889760"/>
              <a:ext cx="35173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Prisma arka planda SQL üretir. SQL mantığını</a:t>
              </a:r>
              <a:br/>
              <a:r>
                <a:rPr lang="tr-TR" sz="1200" dirty="0">
                  <a:solidFill>
                    <a:srgbClr val="172B3A"/>
                  </a:solidFill>
                  <a:latin typeface="+mn-lt"/>
                  <a:ea typeface="+mn-ea"/>
                  <a:cs typeface="+mn-cs"/>
                </a:rPr>
                <a:t>bilmeyen geliştirici, farkında olmadan yüzlerce</a:t>
              </a:r>
              <a:br/>
              <a:r>
                <a:rPr lang="tr-TR" sz="1200" dirty="0">
                  <a:solidFill>
                    <a:srgbClr val="172B3A"/>
                  </a:solidFill>
                  <a:latin typeface="+mn-lt"/>
                  <a:ea typeface="+mn-ea"/>
                  <a:cs typeface="+mn-cs"/>
                </a:rPr>
                <a:t>tekrarlı N+1 sorgusu üreterek veritabanını</a:t>
              </a:r>
              <a:br/>
              <a:r>
                <a:rPr lang="tr-TR" sz="1200" dirty="0">
                  <a:solidFill>
                    <a:srgbClr val="172B3A"/>
                  </a:solidFill>
                  <a:latin typeface="+mn-lt"/>
                  <a:ea typeface="+mn-ea"/>
                  <a:cs typeface="+mn-cs"/>
                </a:rPr>
                <a:t>felç edebilir.</a:t>
              </a:r>
            </a:p>
          </p:txBody>
        </p:sp>
        <p:sp>
          <p:nvSpPr>
            <p:cNvPr id="19" name="TextBox 19"/>
            <p:cNvSpPr txBox="1"/>
            <p:nvPr/>
          </p:nvSpPr>
          <p:spPr>
            <a:xfrm>
              <a:off x="8185404" y="1889760"/>
              <a:ext cx="279349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Consolas"/>
                  <a:ea typeface="Consolas"/>
                  <a:cs typeface="Consolas"/>
                </a:rPr>
                <a:t>prisma.$on('query')</a:t>
              </a:r>
              <a:r>
                <a:rPr lang="tr-TR" sz="1200" dirty="0">
                  <a:solidFill>
                    <a:srgbClr val="172B3A"/>
                  </a:solidFill>
                  <a:latin typeface="+mn-lt"/>
                  <a:ea typeface="+mn-ea"/>
                  <a:cs typeface="+mn-cs"/>
                </a:rPr>
                <a:t xml:space="preserve"> ile üretilen ham</a:t>
              </a:r>
              <a:br/>
              <a:r>
                <a:rPr lang="tr-TR" sz="1200" dirty="0">
                  <a:solidFill>
                    <a:srgbClr val="172B3A"/>
                  </a:solidFill>
                  <a:latin typeface="+mn-lt"/>
                  <a:ea typeface="+mn-ea"/>
                  <a:cs typeface="+mn-cs"/>
                </a:rPr>
                <a:t>SQL sorguları ve gecikme süreleri</a:t>
              </a:r>
              <a:br/>
              <a:r>
                <a:rPr lang="tr-TR" sz="1200" dirty="0">
                  <a:solidFill>
                    <a:srgbClr val="172B3A"/>
                  </a:solidFill>
                  <a:latin typeface="+mn-lt"/>
                  <a:ea typeface="+mn-ea"/>
                  <a:cs typeface="+mn-cs"/>
                </a:rPr>
                <a:t>geliştirme ortamında düzenli</a:t>
              </a:r>
              <a:br/>
              <a:r>
                <a:rPr lang="tr-TR" sz="1200" dirty="0">
                  <a:solidFill>
                    <a:srgbClr val="172B3A"/>
                  </a:solidFill>
                  <a:latin typeface="+mn-lt"/>
                  <a:ea typeface="+mn-ea"/>
                  <a:cs typeface="+mn-cs"/>
                </a:rPr>
                <a:t>izlenmelidir.</a:t>
              </a:r>
            </a:p>
          </p:txBody>
        </p:sp>
        <p:sp>
          <p:nvSpPr>
            <p:cNvPr id="20" name="Line 20"/>
            <p:cNvSpPr/>
            <p:nvPr/>
          </p:nvSpPr>
          <p:spPr>
            <a:xfrm>
              <a:off x="609600" y="31527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27" name="fallacy-dbpush"/>
          <p:cNvGrpSpPr/>
          <p:nvPr/>
        </p:nvGrpSpPr>
        <p:grpSpPr>
          <a:xfrm>
            <a:off x="609600" y="3162300"/>
            <a:ext cx="10972800" cy="1447800"/>
            <a:chOff x="609600" y="3162300"/>
            <a:chExt cx="10972800" cy="1447800"/>
          </a:xfrm>
        </p:grpSpPr>
        <p:sp>
          <p:nvSpPr>
            <p:cNvPr id="22" name="Rectangle 22"/>
            <p:cNvSpPr/>
            <p:nvPr/>
          </p:nvSpPr>
          <p:spPr>
            <a:xfrm>
              <a:off x="609600" y="3162300"/>
              <a:ext cx="10972800" cy="1447800"/>
            </a:xfrm>
            <a:prstGeom prst="rect">
              <a:avLst/>
            </a:prstGeom>
            <a:solidFill>
              <a:srgbClr val="EAF4F6"/>
            </a:solidFill>
            <a:ln>
              <a:noFill/>
            </a:ln>
          </p:spPr>
        </p:sp>
        <p:sp>
          <p:nvSpPr>
            <p:cNvPr id="23" name="TextBox 23"/>
            <p:cNvSpPr txBox="1"/>
            <p:nvPr/>
          </p:nvSpPr>
          <p:spPr>
            <a:xfrm>
              <a:off x="754761" y="3313271"/>
              <a:ext cx="1908048" cy="1021652"/>
            </a:xfrm>
            <a:prstGeom prst="rect">
              <a:avLst/>
            </a:prstGeom>
            <a:noFill/>
            <a:ln>
              <a:noFill/>
            </a:ln>
          </p:spPr>
          <p:txBody>
            <a:bodyPr wrap="none" lIns="0" tIns="0" rIns="0" bIns="0" anchor="t" anchorCtr="0">
              <a:spAutoFit/>
            </a:bodyPr>
            <a:lstStyle/>
            <a:p>
              <a:pPr algn="l">
                <a:lnSpc>
                  <a:spcPts val="1950"/>
                </a:lnSpc>
              </a:pPr>
              <a:r>
                <a:rPr lang="tr-TR" sz="1420" b="1" dirty="0">
                  <a:solidFill>
                    <a:srgbClr val="12355B"/>
                  </a:solidFill>
                  <a:latin typeface="+mn-lt"/>
                  <a:ea typeface="+mn-ea"/>
                  <a:cs typeface="+mn-cs"/>
                </a:rPr>
                <a:t>"schema.prisma'yı</a:t>
              </a:r>
              <a:br/>
              <a:r>
                <a:rPr lang="tr-TR" sz="1420" b="1" dirty="0">
                  <a:solidFill>
                    <a:srgbClr val="12355B"/>
                  </a:solidFill>
                  <a:latin typeface="+mn-lt"/>
                  <a:ea typeface="+mn-ea"/>
                  <a:cs typeface="+mn-cs"/>
                </a:rPr>
                <a:t>değiştirdikten sonra</a:t>
              </a:r>
              <a:br/>
              <a:r>
                <a:rPr lang="tr-TR" sz="1420" b="1" dirty="0">
                  <a:solidFill>
                    <a:srgbClr val="12355B"/>
                  </a:solidFill>
                  <a:latin typeface="+mn-lt"/>
                  <a:ea typeface="+mn-ea"/>
                  <a:cs typeface="+mn-cs"/>
                </a:rPr>
                <a:t>canlıda db push</a:t>
              </a:r>
              <a:br/>
              <a:r>
                <a:rPr lang="tr-TR" sz="1420" b="1" dirty="0">
                  <a:solidFill>
                    <a:srgbClr val="12355B"/>
                  </a:solidFill>
                  <a:latin typeface="+mn-lt"/>
                  <a:ea typeface="+mn-ea"/>
                  <a:cs typeface="+mn-cs"/>
                </a:rPr>
                <a:t>yeterlidir."</a:t>
              </a:r>
            </a:p>
          </p:txBody>
        </p:sp>
        <p:sp>
          <p:nvSpPr>
            <p:cNvPr id="24" name="TextBox 24"/>
            <p:cNvSpPr txBox="1"/>
            <p:nvPr/>
          </p:nvSpPr>
          <p:spPr>
            <a:xfrm>
              <a:off x="4375404" y="3337560"/>
              <a:ext cx="307543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Consolas"/>
                  <a:ea typeface="Consolas"/>
                  <a:cs typeface="Consolas"/>
                </a:rPr>
                <a:t>db push</a:t>
              </a:r>
              <a:r>
                <a:rPr lang="tr-TR" sz="1200" dirty="0">
                  <a:solidFill>
                    <a:srgbClr val="172B3A"/>
                  </a:solidFill>
                  <a:latin typeface="+mn-lt"/>
                  <a:ea typeface="+mn-ea"/>
                  <a:cs typeface="+mn-cs"/>
                </a:rPr>
                <a:t xml:space="preserve"> şemayı zorla eşitler; veri kaybı</a:t>
              </a:r>
              <a:br/>
              <a:r>
                <a:rPr lang="tr-TR" sz="1200" dirty="0">
                  <a:solidFill>
                    <a:srgbClr val="172B3A"/>
                  </a:solidFill>
                  <a:latin typeface="+mn-lt"/>
                  <a:ea typeface="+mn-ea"/>
                  <a:cs typeface="+mn-cs"/>
                </a:rPr>
                <a:t>riski taşıyan değişikliklerde kolonları</a:t>
              </a:r>
              <a:br/>
              <a:r>
                <a:rPr lang="tr-TR" sz="1200" dirty="0">
                  <a:solidFill>
                    <a:srgbClr val="172B3A"/>
                  </a:solidFill>
                  <a:latin typeface="+mn-lt"/>
                  <a:ea typeface="+mn-ea"/>
                  <a:cs typeface="+mn-cs"/>
                </a:rPr>
                <a:t>sessizce siler ve geri alınabilir migration</a:t>
              </a:r>
              <a:br/>
              <a:r>
                <a:rPr lang="tr-TR" sz="1200" dirty="0">
                  <a:solidFill>
                    <a:srgbClr val="172B3A"/>
                  </a:solidFill>
                  <a:latin typeface="+mn-lt"/>
                  <a:ea typeface="+mn-ea"/>
                  <a:cs typeface="+mn-cs"/>
                </a:rPr>
                <a:t>geçmişi tutmaz.</a:t>
              </a:r>
            </a:p>
          </p:txBody>
        </p:sp>
        <p:sp>
          <p:nvSpPr>
            <p:cNvPr id="25" name="TextBox 25"/>
            <p:cNvSpPr txBox="1"/>
            <p:nvPr/>
          </p:nvSpPr>
          <p:spPr>
            <a:xfrm>
              <a:off x="8185404" y="3337560"/>
              <a:ext cx="278587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Canlı ve ekip ortamlarında her zaman</a:t>
              </a:r>
              <a:br/>
              <a:r>
                <a:rPr lang="tr-TR" sz="1200" dirty="0">
                  <a:solidFill>
                    <a:srgbClr val="172B3A"/>
                  </a:solidFill>
                  <a:latin typeface="Consolas"/>
                  <a:ea typeface="Consolas"/>
                  <a:cs typeface="Consolas"/>
                </a:rPr>
                <a:t>migrate dev</a:t>
              </a:r>
              <a:r>
                <a:rPr lang="tr-TR" sz="1200" dirty="0">
                  <a:solidFill>
                    <a:srgbClr val="172B3A"/>
                  </a:solidFill>
                  <a:latin typeface="+mn-lt"/>
                  <a:ea typeface="+mn-ea"/>
                  <a:cs typeface="+mn-cs"/>
                </a:rPr>
                <a:t xml:space="preserve"> ile versiyonlanmış SQL</a:t>
              </a:r>
              <a:br/>
              <a:r>
                <a:rPr lang="tr-TR" sz="1200" dirty="0">
                  <a:solidFill>
                    <a:srgbClr val="172B3A"/>
                  </a:solidFill>
                  <a:latin typeface="+mn-lt"/>
                  <a:ea typeface="+mn-ea"/>
                  <a:cs typeface="+mn-cs"/>
                </a:rPr>
                <a:t xml:space="preserve">üretilmeli, </a:t>
              </a:r>
              <a:r>
                <a:rPr lang="tr-TR" sz="1200" dirty="0">
                  <a:solidFill>
                    <a:srgbClr val="172B3A"/>
                  </a:solidFill>
                  <a:latin typeface="Consolas"/>
                  <a:ea typeface="Consolas"/>
                  <a:cs typeface="Consolas"/>
                </a:rPr>
                <a:t>migrate deploy</a:t>
              </a:r>
              <a:r>
                <a:rPr lang="tr-TR" sz="1200" dirty="0">
                  <a:solidFill>
                    <a:srgbClr val="172B3A"/>
                  </a:solidFill>
                  <a:latin typeface="+mn-lt"/>
                  <a:ea typeface="+mn-ea"/>
                  <a:cs typeface="+mn-cs"/>
                </a:rPr>
                <a:t xml:space="preserve"> ile</a:t>
              </a:r>
              <a:br/>
              <a:r>
                <a:rPr lang="tr-TR" sz="1200" dirty="0">
                  <a:solidFill>
                    <a:srgbClr val="172B3A"/>
                  </a:solidFill>
                  <a:latin typeface="+mn-lt"/>
                  <a:ea typeface="+mn-ea"/>
                  <a:cs typeface="+mn-cs"/>
                </a:rPr>
                <a:t>uygulanmalıdır.</a:t>
              </a:r>
            </a:p>
          </p:txBody>
        </p:sp>
        <p:sp>
          <p:nvSpPr>
            <p:cNvPr id="26" name="Line 26"/>
            <p:cNvSpPr/>
            <p:nvPr/>
          </p:nvSpPr>
          <p:spPr>
            <a:xfrm>
              <a:off x="609600" y="4600575"/>
              <a:ext cx="10972800" cy="9525"/>
            </a:xfrm>
            <a:custGeom>
              <a:avLst/>
              <a:gdLst/>
              <a:ahLst/>
              <a:cxnLst/>
              <a:rect l="l" t="t" r="r" b="b"/>
              <a:pathLst>
                <a:path w="10972800" h="9525">
                  <a:moveTo>
                    <a:pt x="0" y="0"/>
                  </a:moveTo>
                  <a:lnTo>
                    <a:pt x="10972800" y="0"/>
                  </a:lnTo>
                </a:path>
              </a:pathLst>
            </a:custGeom>
            <a:noFill/>
            <a:ln w="9525">
              <a:solidFill>
                <a:srgbClr val="B8CBD3"/>
              </a:solidFill>
            </a:ln>
          </p:spPr>
        </p:sp>
      </p:grpSp>
      <p:grpSp>
        <p:nvGrpSpPr>
          <p:cNvPr id="31" name="fallacy-include"/>
          <p:cNvGrpSpPr/>
          <p:nvPr/>
        </p:nvGrpSpPr>
        <p:grpSpPr>
          <a:xfrm>
            <a:off x="754761" y="4761071"/>
            <a:ext cx="10201275" cy="887635"/>
            <a:chOff x="754761" y="4761071"/>
            <a:chExt cx="10201275" cy="887635"/>
          </a:xfrm>
        </p:grpSpPr>
        <p:sp>
          <p:nvSpPr>
            <p:cNvPr id="28" name="TextBox 28"/>
            <p:cNvSpPr txBox="1"/>
            <p:nvPr/>
          </p:nvSpPr>
          <p:spPr>
            <a:xfrm>
              <a:off x="754761" y="4761071"/>
              <a:ext cx="2106873" cy="774002"/>
            </a:xfrm>
            <a:prstGeom prst="rect">
              <a:avLst/>
            </a:prstGeom>
            <a:noFill/>
            <a:ln>
              <a:noFill/>
            </a:ln>
          </p:spPr>
          <p:txBody>
            <a:bodyPr wrap="none" lIns="0" tIns="0" rIns="0" bIns="0" anchor="t" anchorCtr="0">
              <a:spAutoFit/>
            </a:bodyPr>
            <a:lstStyle/>
            <a:p>
              <a:pPr algn="l">
                <a:lnSpc>
                  <a:spcPts val="1950"/>
                </a:lnSpc>
              </a:pPr>
              <a:r>
                <a:rPr lang="tr-TR" sz="1420" b="1" dirty="0">
                  <a:solidFill>
                    <a:srgbClr val="12355B"/>
                  </a:solidFill>
                  <a:latin typeface="+mn-lt"/>
                  <a:ea typeface="+mn-ea"/>
                  <a:cs typeface="+mn-cs"/>
                </a:rPr>
                <a:t>"İhtiyaç olsun olmasın</a:t>
              </a:r>
              <a:br/>
              <a:r>
                <a:rPr lang="tr-TR" sz="1420" b="1" dirty="0">
                  <a:solidFill>
                    <a:srgbClr val="12355B"/>
                  </a:solidFill>
                  <a:latin typeface="+mn-lt"/>
                  <a:ea typeface="+mn-ea"/>
                  <a:cs typeface="+mn-cs"/>
                </a:rPr>
                <a:t>tüm ilişkileri include</a:t>
              </a:r>
              <a:br/>
              <a:r>
                <a:rPr lang="tr-TR" sz="1420" b="1" dirty="0">
                  <a:solidFill>
                    <a:srgbClr val="12355B"/>
                  </a:solidFill>
                  <a:latin typeface="+mn-lt"/>
                  <a:ea typeface="+mn-ea"/>
                  <a:cs typeface="+mn-cs"/>
                </a:rPr>
                <a:t>ile çekmek pratiktir."</a:t>
              </a:r>
            </a:p>
          </p:txBody>
        </p:sp>
        <p:sp>
          <p:nvSpPr>
            <p:cNvPr id="29" name="TextBox 29"/>
            <p:cNvSpPr txBox="1"/>
            <p:nvPr/>
          </p:nvSpPr>
          <p:spPr>
            <a:xfrm>
              <a:off x="4375404" y="4785360"/>
              <a:ext cx="3121152" cy="8633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Gereksiz ilişkilerin çekilmesi devasa SQL</a:t>
              </a:r>
              <a:br/>
              <a:r>
                <a:rPr lang="tr-TR" sz="1200" dirty="0">
                  <a:solidFill>
                    <a:srgbClr val="172B3A"/>
                  </a:solidFill>
                  <a:latin typeface="+mn-lt"/>
                  <a:ea typeface="+mn-ea"/>
                  <a:cs typeface="+mn-cs"/>
                </a:rPr>
                <a:t>JOIN sorgularına ve sunucu belleğine</a:t>
              </a:r>
              <a:br/>
              <a:r>
                <a:rPr lang="tr-TR" sz="1200" dirty="0">
                  <a:solidFill>
                    <a:srgbClr val="172B3A"/>
                  </a:solidFill>
                  <a:latin typeface="+mn-lt"/>
                  <a:ea typeface="+mn-ea"/>
                  <a:cs typeface="+mn-cs"/>
                </a:rPr>
                <a:t>megabaytlarca gereksiz verinin dolmasına</a:t>
              </a:r>
              <a:br/>
              <a:r>
                <a:rPr lang="tr-TR" sz="1200" dirty="0">
                  <a:solidFill>
                    <a:srgbClr val="172B3A"/>
                  </a:solidFill>
                  <a:latin typeface="+mn-lt"/>
                  <a:ea typeface="+mn-ea"/>
                  <a:cs typeface="+mn-cs"/>
                </a:rPr>
                <a:t>yol açar.</a:t>
              </a:r>
            </a:p>
          </p:txBody>
        </p:sp>
        <p:sp>
          <p:nvSpPr>
            <p:cNvPr id="30" name="TextBox 30"/>
            <p:cNvSpPr txBox="1"/>
            <p:nvPr/>
          </p:nvSpPr>
          <p:spPr>
            <a:xfrm>
              <a:off x="8185404" y="4785360"/>
              <a:ext cx="27706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Yalnızca o uç noktada ihtiyaç duyulan</a:t>
              </a:r>
              <a:br/>
              <a:r>
                <a:rPr lang="tr-TR" sz="1200" dirty="0">
                  <a:solidFill>
                    <a:srgbClr val="172B3A"/>
                  </a:solidFill>
                  <a:latin typeface="+mn-lt"/>
                  <a:ea typeface="+mn-ea"/>
                  <a:cs typeface="+mn-cs"/>
                </a:rPr>
                <a:t xml:space="preserve">alanlar </a:t>
              </a:r>
              <a:r>
                <a:rPr lang="tr-TR" sz="1200" dirty="0">
                  <a:solidFill>
                    <a:srgbClr val="172B3A"/>
                  </a:solidFill>
                  <a:latin typeface="Consolas"/>
                  <a:ea typeface="Consolas"/>
                  <a:cs typeface="Consolas"/>
                </a:rPr>
                <a:t>select</a:t>
              </a:r>
              <a:r>
                <a:rPr lang="tr-TR" sz="1200" dirty="0">
                  <a:solidFill>
                    <a:srgbClr val="172B3A"/>
                  </a:solidFill>
                  <a:latin typeface="+mn-lt"/>
                  <a:ea typeface="+mn-ea"/>
                  <a:cs typeface="+mn-cs"/>
                </a:rPr>
                <a:t xml:space="preserve"> ve </a:t>
              </a:r>
              <a:r>
                <a:rPr lang="tr-TR" sz="1200" dirty="0">
                  <a:solidFill>
                    <a:srgbClr val="172B3A"/>
                  </a:solidFill>
                  <a:latin typeface="Consolas"/>
                  <a:ea typeface="Consolas"/>
                  <a:cs typeface="Consolas"/>
                </a:rPr>
                <a:t>include</a:t>
              </a:r>
              <a:r>
                <a:rPr lang="tr-TR" sz="1200" dirty="0">
                  <a:solidFill>
                    <a:srgbClr val="172B3A"/>
                  </a:solidFill>
                  <a:latin typeface="+mn-lt"/>
                  <a:ea typeface="+mn-ea"/>
                  <a:cs typeface="+mn-cs"/>
                </a:rPr>
                <a:t xml:space="preserve"> ile</a:t>
              </a:r>
              <a:br/>
              <a:r>
                <a:rPr lang="tr-TR" sz="1200" dirty="0">
                  <a:solidFill>
                    <a:srgbClr val="172B3A"/>
                  </a:solidFill>
                  <a:latin typeface="+mn-lt"/>
                  <a:ea typeface="+mn-ea"/>
                  <a:cs typeface="+mn-cs"/>
                </a:rPr>
                <a:t>seçici olarak çekilmelidir.</a:t>
              </a:r>
            </a:p>
          </p:txBody>
        </p:sp>
      </p:grpSp>
      <p:sp>
        <p:nvSpPr>
          <p:cNvPr id="32" name="TextBox 32"/>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22 / 25</a:t>
            </a:r>
          </a:p>
        </p:txBody>
      </p:sp>
    </p:spTree>
  </p:cSld>
  <p:clrMapOvr>
    <a:masterClrMapping/>
  </p:clrMapOvr>
  <p:transition xmlns:p14="http://schemas.microsoft.com/office/powerpoint/2010/main" p14:dur="400">
    <p:fade/>
  </p:transition>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4695046" cy="557403"/>
            <a:chOff x="595122" y="282892"/>
            <a:chExt cx="4695046" cy="557403"/>
          </a:xfrm>
        </p:grpSpPr>
        <p:sp>
          <p:nvSpPr>
            <p:cNvPr id="4" name="TextBox 4"/>
            <p:cNvSpPr txBox="1"/>
            <p:nvPr/>
          </p:nvSpPr>
          <p:spPr>
            <a:xfrm>
              <a:off x="595122" y="282892"/>
              <a:ext cx="4695046"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Uçtan uca mini uygulama</a:t>
              </a:r>
            </a:p>
          </p:txBody>
        </p:sp>
      </p:grpSp>
      <p:grpSp>
        <p:nvGrpSpPr>
          <p:cNvPr id="27" name="code-block"/>
          <p:cNvGrpSpPr/>
          <p:nvPr/>
        </p:nvGrpSpPr>
        <p:grpSpPr>
          <a:xfrm>
            <a:off x="609600" y="1181100"/>
            <a:ext cx="5791200" cy="4572000"/>
            <a:chOff x="609600" y="1181100"/>
            <a:chExt cx="5791200" cy="4572000"/>
          </a:xfrm>
        </p:grpSpPr>
        <p:sp>
          <p:nvSpPr>
            <p:cNvPr id="6" name="Rectangle 6"/>
            <p:cNvSpPr/>
            <p:nvPr/>
          </p:nvSpPr>
          <p:spPr>
            <a:xfrm>
              <a:off x="609600" y="1181100"/>
              <a:ext cx="5791200" cy="4572000"/>
            </a:xfrm>
            <a:prstGeom prst="roundRect">
              <a:avLst>
                <a:gd name="adj" fmla="val 1667"/>
              </a:avLst>
            </a:prstGeom>
            <a:solidFill>
              <a:srgbClr val="0B2038"/>
            </a:solidFill>
            <a:ln>
              <a:noFill/>
            </a:ln>
          </p:spPr>
        </p:sp>
        <p:sp>
          <p:nvSpPr>
            <p:cNvPr id="7" name="TextBox 7"/>
            <p:cNvSpPr txBox="1"/>
            <p:nvPr/>
          </p:nvSpPr>
          <p:spPr>
            <a:xfrm>
              <a:off x="833438" y="1327547"/>
              <a:ext cx="1897550" cy="183356"/>
            </a:xfrm>
            <a:prstGeom prst="rect">
              <a:avLst/>
            </a:prstGeom>
            <a:noFill/>
            <a:ln>
              <a:noFill/>
            </a:ln>
          </p:spPr>
          <p:txBody>
            <a:bodyPr wrap="none" lIns="0" tIns="0" rIns="0" bIns="0" anchor="t" anchorCtr="0">
              <a:spAutoFit/>
            </a:bodyPr>
            <a:lstStyle/>
            <a:p>
              <a:pPr algn="l"/>
              <a:r>
                <a:rPr lang="tr-TR" sz="940" b="1" dirty="0">
                  <a:solidFill>
                    <a:srgbClr val="00A6A6"/>
                  </a:solidFill>
                  <a:latin typeface="Consolas"/>
                  <a:ea typeface="Consolas"/>
                  <a:cs typeface="Consolas"/>
                </a:rPr>
                <a:t>class KullaniciRepository {</a:t>
              </a:r>
            </a:p>
          </p:txBody>
        </p:sp>
        <p:sp>
          <p:nvSpPr>
            <p:cNvPr id="8" name="TextBox 8"/>
            <p:cNvSpPr txBox="1"/>
            <p:nvPr/>
          </p:nvSpPr>
          <p:spPr>
            <a:xfrm>
              <a:off x="1062038" y="1518047"/>
              <a:ext cx="272386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constructor(private readonly prisma) {}</a:t>
              </a:r>
            </a:p>
          </p:txBody>
        </p:sp>
        <p:sp>
          <p:nvSpPr>
            <p:cNvPr id="9" name="TextBox 9"/>
            <p:cNvSpPr txBox="1"/>
            <p:nvPr/>
          </p:nvSpPr>
          <p:spPr>
            <a:xfrm>
              <a:off x="1062038" y="1784747"/>
              <a:ext cx="2249285"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async kullaniciVeGonderiOlustur(</a:t>
              </a:r>
            </a:p>
          </p:txBody>
        </p:sp>
        <p:sp>
          <p:nvSpPr>
            <p:cNvPr id="10" name="TextBox 10"/>
            <p:cNvSpPr txBox="1"/>
            <p:nvPr/>
          </p:nvSpPr>
          <p:spPr>
            <a:xfrm>
              <a:off x="1290638" y="1956197"/>
              <a:ext cx="2246764"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adSoyad, epostaAdresi, baslik) {</a:t>
              </a:r>
            </a:p>
          </p:txBody>
        </p:sp>
        <p:sp>
          <p:nvSpPr>
            <p:cNvPr id="11" name="TextBox 11"/>
            <p:cNvSpPr txBox="1"/>
            <p:nvPr/>
          </p:nvSpPr>
          <p:spPr>
            <a:xfrm>
              <a:off x="1290638" y="2127647"/>
              <a:ext cx="2793467"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return this.prisma.user.create({ data: {</a:t>
              </a:r>
            </a:p>
          </p:txBody>
        </p:sp>
        <p:sp>
          <p:nvSpPr>
            <p:cNvPr id="12" name="TextBox 12"/>
            <p:cNvSpPr txBox="1"/>
            <p:nvPr/>
          </p:nvSpPr>
          <p:spPr>
            <a:xfrm>
              <a:off x="1519238" y="2299097"/>
              <a:ext cx="1549816"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adSoyad, epostaAdresi,</a:t>
              </a:r>
            </a:p>
          </p:txBody>
        </p:sp>
        <p:sp>
          <p:nvSpPr>
            <p:cNvPr id="13" name="TextBox 13"/>
            <p:cNvSpPr txBox="1"/>
            <p:nvPr/>
          </p:nvSpPr>
          <p:spPr>
            <a:xfrm>
              <a:off x="1519238" y="2470547"/>
              <a:ext cx="272386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gonderiler: { create: { baslik, ... } }</a:t>
              </a:r>
            </a:p>
          </p:txBody>
        </p:sp>
        <p:sp>
          <p:nvSpPr>
            <p:cNvPr id="14" name="TextBox 14"/>
            <p:cNvSpPr txBox="1"/>
            <p:nvPr/>
          </p:nvSpPr>
          <p:spPr>
            <a:xfrm>
              <a:off x="1290638" y="2641997"/>
              <a:ext cx="287919"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t>
              </a:r>
            </a:p>
          </p:txBody>
        </p:sp>
        <p:sp>
          <p:nvSpPr>
            <p:cNvPr id="15" name="TextBox 15"/>
            <p:cNvSpPr txBox="1"/>
            <p:nvPr/>
          </p:nvSpPr>
          <p:spPr>
            <a:xfrm>
              <a:off x="1062038" y="2813447"/>
              <a:ext cx="79124"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t>
              </a:r>
            </a:p>
          </p:txBody>
        </p:sp>
        <p:sp>
          <p:nvSpPr>
            <p:cNvPr id="16" name="TextBox 16"/>
            <p:cNvSpPr txBox="1"/>
            <p:nvPr/>
          </p:nvSpPr>
          <p:spPr>
            <a:xfrm>
              <a:off x="1062038" y="3080147"/>
              <a:ext cx="294160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async yayinlanmisBasliklariGetir(eposta) {</a:t>
              </a:r>
            </a:p>
          </p:txBody>
        </p:sp>
        <p:sp>
          <p:nvSpPr>
            <p:cNvPr id="17" name="TextBox 17"/>
            <p:cNvSpPr txBox="1"/>
            <p:nvPr/>
          </p:nvSpPr>
          <p:spPr>
            <a:xfrm>
              <a:off x="1290638" y="3251597"/>
              <a:ext cx="223667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const k = await this.prisma.user</a:t>
              </a:r>
            </a:p>
          </p:txBody>
        </p:sp>
        <p:sp>
          <p:nvSpPr>
            <p:cNvPr id="18" name="TextBox 18"/>
            <p:cNvSpPr txBox="1"/>
            <p:nvPr/>
          </p:nvSpPr>
          <p:spPr>
            <a:xfrm>
              <a:off x="1519238" y="3423047"/>
              <a:ext cx="3222041"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.findUnique({ where: { epostaAdresi: eposta },</a:t>
              </a:r>
            </a:p>
          </p:txBody>
        </p:sp>
        <p:sp>
          <p:nvSpPr>
            <p:cNvPr id="19" name="TextBox 19"/>
            <p:cNvSpPr txBox="1"/>
            <p:nvPr/>
          </p:nvSpPr>
          <p:spPr>
            <a:xfrm>
              <a:off x="1747838" y="3594497"/>
              <a:ext cx="2097481"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select: { gonderiler: { where:</a:t>
              </a:r>
            </a:p>
          </p:txBody>
        </p:sp>
        <p:sp>
          <p:nvSpPr>
            <p:cNvPr id="20" name="TextBox 20"/>
            <p:cNvSpPr txBox="1"/>
            <p:nvPr/>
          </p:nvSpPr>
          <p:spPr>
            <a:xfrm>
              <a:off x="1976438" y="3765947"/>
              <a:ext cx="189686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 yayindaMi: true } } } });</a:t>
              </a:r>
            </a:p>
          </p:txBody>
        </p:sp>
        <p:sp>
          <p:nvSpPr>
            <p:cNvPr id="21" name="TextBox 21"/>
            <p:cNvSpPr txBox="1"/>
            <p:nvPr/>
          </p:nvSpPr>
          <p:spPr>
            <a:xfrm>
              <a:off x="1290638" y="3937397"/>
              <a:ext cx="3211058"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return k?.gonderiler.map(g =&gt; g.baslik) ?? [];</a:t>
              </a:r>
            </a:p>
          </p:txBody>
        </p:sp>
        <p:sp>
          <p:nvSpPr>
            <p:cNvPr id="22" name="TextBox 22"/>
            <p:cNvSpPr txBox="1"/>
            <p:nvPr/>
          </p:nvSpPr>
          <p:spPr>
            <a:xfrm>
              <a:off x="1062038" y="4108847"/>
              <a:ext cx="79124"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t>
              </a:r>
            </a:p>
          </p:txBody>
        </p:sp>
        <p:sp>
          <p:nvSpPr>
            <p:cNvPr id="23" name="TextBox 23"/>
            <p:cNvSpPr txBox="1"/>
            <p:nvPr/>
          </p:nvSpPr>
          <p:spPr>
            <a:xfrm>
              <a:off x="833438" y="4280297"/>
              <a:ext cx="79124" cy="183356"/>
            </a:xfrm>
            <a:prstGeom prst="rect">
              <a:avLst/>
            </a:prstGeom>
            <a:noFill/>
            <a:ln>
              <a:noFill/>
            </a:ln>
          </p:spPr>
          <p:txBody>
            <a:bodyPr wrap="none" lIns="0" tIns="0" rIns="0" bIns="0" anchor="t" anchorCtr="0">
              <a:spAutoFit/>
            </a:bodyPr>
            <a:lstStyle/>
            <a:p>
              <a:pPr algn="l"/>
              <a:r>
                <a:rPr lang="tr-TR" sz="940" dirty="0">
                  <a:solidFill>
                    <a:srgbClr val="EAF4F6"/>
                  </a:solidFill>
                  <a:latin typeface="Consolas"/>
                  <a:ea typeface="Consolas"/>
                  <a:cs typeface="Consolas"/>
                </a:rPr>
                <a:t>}</a:t>
              </a:r>
            </a:p>
          </p:txBody>
        </p:sp>
        <p:sp>
          <p:nvSpPr>
            <p:cNvPr id="24" name="TextBox 24"/>
            <p:cNvSpPr txBox="1"/>
            <p:nvPr/>
          </p:nvSpPr>
          <p:spPr>
            <a:xfrm>
              <a:off x="833438" y="4566047"/>
              <a:ext cx="2526891" cy="183356"/>
            </a:xfrm>
            <a:prstGeom prst="rect">
              <a:avLst/>
            </a:prstGeom>
            <a:noFill/>
            <a:ln>
              <a:noFill/>
            </a:ln>
          </p:spPr>
          <p:txBody>
            <a:bodyPr wrap="none" lIns="0" tIns="0" rIns="0" bIns="0" anchor="t" anchorCtr="0">
              <a:spAutoFit/>
            </a:bodyPr>
            <a:lstStyle/>
            <a:p>
              <a:pPr algn="l"/>
              <a:r>
                <a:rPr lang="tr-TR" sz="940" dirty="0">
                  <a:solidFill>
                    <a:srgbClr val="52616B"/>
                  </a:solidFill>
                  <a:latin typeface="Consolas"/>
                  <a:ea typeface="Consolas"/>
                  <a:cs typeface="Consolas"/>
                </a:rPr>
                <a:t>// Kod 8.13: Repository ile ilişkili</a:t>
              </a:r>
            </a:p>
          </p:txBody>
        </p:sp>
        <p:sp>
          <p:nvSpPr>
            <p:cNvPr id="25" name="TextBox 25"/>
            <p:cNvSpPr txBox="1"/>
            <p:nvPr/>
          </p:nvSpPr>
          <p:spPr>
            <a:xfrm>
              <a:off x="833438" y="4737497"/>
              <a:ext cx="2167080" cy="183356"/>
            </a:xfrm>
            <a:prstGeom prst="rect">
              <a:avLst/>
            </a:prstGeom>
            <a:noFill/>
            <a:ln>
              <a:noFill/>
            </a:ln>
          </p:spPr>
          <p:txBody>
            <a:bodyPr wrap="none" lIns="0" tIns="0" rIns="0" bIns="0" anchor="t" anchorCtr="0">
              <a:spAutoFit/>
            </a:bodyPr>
            <a:lstStyle/>
            <a:p>
              <a:pPr algn="l"/>
              <a:r>
                <a:rPr lang="tr-TR" sz="940" dirty="0">
                  <a:solidFill>
                    <a:srgbClr val="52616B"/>
                  </a:solidFill>
                  <a:latin typeface="Consolas"/>
                  <a:ea typeface="Consolas"/>
                  <a:cs typeface="Consolas"/>
                </a:rPr>
                <a:t>// veri erişimi (mini uygulama)</a:t>
              </a:r>
            </a:p>
          </p:txBody>
        </p:sp>
        <p:sp>
          <p:nvSpPr>
            <p:cNvPr id="26" name="TextBox 26"/>
            <p:cNvSpPr txBox="1"/>
            <p:nvPr/>
          </p:nvSpPr>
          <p:spPr>
            <a:xfrm>
              <a:off x="833438" y="4908947"/>
              <a:ext cx="2189284" cy="183356"/>
            </a:xfrm>
            <a:prstGeom prst="rect">
              <a:avLst/>
            </a:prstGeom>
            <a:noFill/>
            <a:ln>
              <a:noFill/>
            </a:ln>
          </p:spPr>
          <p:txBody>
            <a:bodyPr wrap="none" lIns="0" tIns="0" rIns="0" bIns="0" anchor="t" anchorCtr="0">
              <a:spAutoFit/>
            </a:bodyPr>
            <a:lstStyle/>
            <a:p>
              <a:pPr algn="l"/>
              <a:r>
                <a:rPr lang="tr-TR" sz="940" dirty="0">
                  <a:solidFill>
                    <a:srgbClr val="52616B"/>
                  </a:solidFill>
                  <a:latin typeface="Consolas"/>
                  <a:ea typeface="Consolas"/>
                  <a:cs typeface="Consolas"/>
                </a:rPr>
                <a:t>// Çıktı: - Veri Erişim Katmanı</a:t>
              </a:r>
            </a:p>
          </p:txBody>
        </p:sp>
      </p:grpSp>
      <p:grpSp>
        <p:nvGrpSpPr>
          <p:cNvPr id="32" name="flow-summary"/>
          <p:cNvGrpSpPr/>
          <p:nvPr/>
        </p:nvGrpSpPr>
        <p:grpSpPr>
          <a:xfrm>
            <a:off x="6697599" y="1258729"/>
            <a:ext cx="2825877" cy="1837277"/>
            <a:chOff x="6697599" y="1258729"/>
            <a:chExt cx="2825877" cy="1837277"/>
          </a:xfrm>
        </p:grpSpPr>
        <p:sp>
          <p:nvSpPr>
            <p:cNvPr id="28" name="TextBox 28"/>
            <p:cNvSpPr txBox="1"/>
            <p:nvPr/>
          </p:nvSpPr>
          <p:spPr>
            <a:xfrm>
              <a:off x="6697599" y="1258729"/>
              <a:ext cx="2446040" cy="308039"/>
            </a:xfrm>
            <a:prstGeom prst="rect">
              <a:avLst/>
            </a:prstGeom>
            <a:noFill/>
            <a:ln>
              <a:noFill/>
            </a:ln>
          </p:spPr>
          <p:txBody>
            <a:bodyPr wrap="none" lIns="0" tIns="0" rIns="0" bIns="0" anchor="t" anchorCtr="0">
              <a:spAutoFit/>
            </a:bodyPr>
            <a:lstStyle/>
            <a:p>
              <a:pPr algn="l"/>
              <a:r>
                <a:rPr lang="tr-TR" sz="1580" b="1" dirty="0">
                  <a:solidFill>
                    <a:srgbClr val="12355B"/>
                  </a:solidFill>
                  <a:latin typeface="+mn-lt"/>
                  <a:ea typeface="+mn-ea"/>
                  <a:cs typeface="+mn-cs"/>
                </a:rPr>
                <a:t>Tek akışta birleşenler</a:t>
              </a:r>
            </a:p>
          </p:txBody>
        </p:sp>
        <p:sp>
          <p:nvSpPr>
            <p:cNvPr id="29" name="TextBox 29"/>
            <p:cNvSpPr txBox="1"/>
            <p:nvPr/>
          </p:nvSpPr>
          <p:spPr>
            <a:xfrm>
              <a:off x="6699504" y="1604010"/>
              <a:ext cx="282397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Prisma Client, CRUD, ilişki, seçici veri</a:t>
              </a:r>
              <a:br/>
              <a:r>
                <a:rPr lang="tr-TR" sz="1200" dirty="0">
                  <a:solidFill>
                    <a:srgbClr val="172B3A"/>
                  </a:solidFill>
                  <a:latin typeface="+mn-lt"/>
                  <a:ea typeface="+mn-ea"/>
                  <a:cs typeface="+mn-cs"/>
                </a:rPr>
                <a:t>getirme ve repository kullanımı.</a:t>
              </a:r>
            </a:p>
          </p:txBody>
        </p:sp>
        <p:sp>
          <p:nvSpPr>
            <p:cNvPr id="30" name="TextBox 30"/>
            <p:cNvSpPr txBox="1"/>
            <p:nvPr/>
          </p:nvSpPr>
          <p:spPr>
            <a:xfrm>
              <a:off x="6699504" y="2042160"/>
              <a:ext cx="2648712" cy="4251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mn-lt"/>
                  <a:ea typeface="+mn-ea"/>
                  <a:cs typeface="+mn-cs"/>
                </a:rPr>
                <a:t xml:space="preserve">İç içe </a:t>
              </a:r>
              <a:r>
                <a:rPr lang="tr-TR" sz="1200" dirty="0">
                  <a:solidFill>
                    <a:srgbClr val="172B3A"/>
                  </a:solidFill>
                  <a:latin typeface="Consolas"/>
                  <a:ea typeface="Consolas"/>
                  <a:cs typeface="Consolas"/>
                </a:rPr>
                <a:t>create</a:t>
              </a:r>
              <a:r>
                <a:rPr lang="tr-TR" sz="1200" dirty="0">
                  <a:solidFill>
                    <a:srgbClr val="172B3A"/>
                  </a:solidFill>
                  <a:latin typeface="+mn-lt"/>
                  <a:ea typeface="+mn-ea"/>
                  <a:cs typeface="+mn-cs"/>
                </a:rPr>
                <a:t xml:space="preserve"> kullanıcı ve gönderiyi</a:t>
              </a:r>
              <a:br/>
              <a:r>
                <a:rPr lang="tr-TR" sz="1200" dirty="0">
                  <a:solidFill>
                    <a:srgbClr val="172B3A"/>
                  </a:solidFill>
                  <a:latin typeface="+mn-lt"/>
                  <a:ea typeface="+mn-ea"/>
                  <a:cs typeface="+mn-cs"/>
                </a:rPr>
                <a:t>tek Prisma çağrısında oluşturur.</a:t>
              </a:r>
            </a:p>
          </p:txBody>
        </p:sp>
        <p:sp>
          <p:nvSpPr>
            <p:cNvPr id="31" name="TextBox 31"/>
            <p:cNvSpPr txBox="1"/>
            <p:nvPr/>
          </p:nvSpPr>
          <p:spPr>
            <a:xfrm>
              <a:off x="6699504" y="2480310"/>
              <a:ext cx="242011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select</a:t>
              </a:r>
              <a:r>
                <a:rPr lang="tr-TR" sz="1200" dirty="0">
                  <a:solidFill>
                    <a:srgbClr val="172B3A"/>
                  </a:solidFill>
                  <a:latin typeface="+mn-lt"/>
                  <a:ea typeface="+mn-ea"/>
                  <a:cs typeface="+mn-cs"/>
                </a:rPr>
                <a:t xml:space="preserve"> yalnızca ihtiyaç duyulan</a:t>
              </a:r>
              <a:br/>
              <a:r>
                <a:rPr lang="tr-TR" sz="1200" dirty="0">
                  <a:solidFill>
                    <a:srgbClr val="172B3A"/>
                  </a:solidFill>
                  <a:latin typeface="+mn-lt"/>
                  <a:ea typeface="+mn-ea"/>
                  <a:cs typeface="+mn-cs"/>
                </a:rPr>
                <a:t xml:space="preserve">alanları getirir; </a:t>
              </a:r>
              <a:r>
                <a:rPr lang="tr-TR" sz="1200" dirty="0">
                  <a:solidFill>
                    <a:srgbClr val="172B3A"/>
                  </a:solidFill>
                  <a:latin typeface="Consolas"/>
                  <a:ea typeface="Consolas"/>
                  <a:cs typeface="Consolas"/>
                </a:rPr>
                <a:t>where</a:t>
              </a:r>
              <a:r>
                <a:rPr lang="tr-TR" sz="1200" dirty="0">
                  <a:solidFill>
                    <a:srgbClr val="172B3A"/>
                  </a:solidFill>
                  <a:latin typeface="+mn-lt"/>
                  <a:ea typeface="+mn-ea"/>
                  <a:cs typeface="+mn-cs"/>
                </a:rPr>
                <a:t xml:space="preserve"> ile ilişkili</a:t>
              </a:r>
              <a:br/>
              <a:r>
                <a:rPr lang="tr-TR" sz="1200" dirty="0">
                  <a:solidFill>
                    <a:srgbClr val="172B3A"/>
                  </a:solidFill>
                  <a:latin typeface="+mn-lt"/>
                  <a:ea typeface="+mn-ea"/>
                  <a:cs typeface="+mn-cs"/>
                </a:rPr>
                <a:t>kayıtlar filtrelenir.</a:t>
              </a:r>
            </a:p>
          </p:txBody>
        </p:sp>
      </p:grpSp>
      <p:grpSp>
        <p:nvGrpSpPr>
          <p:cNvPr id="37" name="dikkat-box"/>
          <p:cNvGrpSpPr/>
          <p:nvPr/>
        </p:nvGrpSpPr>
        <p:grpSpPr>
          <a:xfrm>
            <a:off x="6705600" y="4191000"/>
            <a:ext cx="4876800" cy="1000506"/>
            <a:chOff x="6705600" y="4191000"/>
            <a:chExt cx="4876800" cy="1000506"/>
          </a:xfrm>
        </p:grpSpPr>
        <p:sp>
          <p:nvSpPr>
            <p:cNvPr id="33" name="Rectangle 33"/>
            <p:cNvSpPr/>
            <p:nvPr/>
          </p:nvSpPr>
          <p:spPr>
            <a:xfrm>
              <a:off x="6705600" y="4191000"/>
              <a:ext cx="4876800" cy="990600"/>
            </a:xfrm>
            <a:prstGeom prst="roundRect">
              <a:avLst>
                <a:gd name="adj" fmla="val 7692"/>
              </a:avLst>
            </a:prstGeom>
            <a:solidFill>
              <a:srgbClr val="EAF4F6"/>
            </a:solidFill>
            <a:ln>
              <a:noFill/>
            </a:ln>
          </p:spPr>
        </p:sp>
        <p:sp>
          <p:nvSpPr>
            <p:cNvPr id="34" name="Rectangle 34"/>
            <p:cNvSpPr/>
            <p:nvPr/>
          </p:nvSpPr>
          <p:spPr>
            <a:xfrm>
              <a:off x="6705600" y="4191000"/>
              <a:ext cx="57150" cy="990600"/>
            </a:xfrm>
            <a:prstGeom prst="rect">
              <a:avLst/>
            </a:prstGeom>
            <a:solidFill>
              <a:srgbClr val="00A6A6"/>
            </a:solidFill>
            <a:ln>
              <a:noFill/>
            </a:ln>
          </p:spPr>
        </p:sp>
        <p:sp>
          <p:nvSpPr>
            <p:cNvPr id="35" name="TextBox 35"/>
            <p:cNvSpPr txBox="1"/>
            <p:nvPr/>
          </p:nvSpPr>
          <p:spPr>
            <a:xfrm>
              <a:off x="6928104" y="4328160"/>
              <a:ext cx="1238782" cy="234696"/>
            </a:xfrm>
            <a:prstGeom prst="rect">
              <a:avLst/>
            </a:prstGeom>
            <a:noFill/>
            <a:ln>
              <a:noFill/>
            </a:ln>
          </p:spPr>
          <p:txBody>
            <a:bodyPr wrap="none" lIns="0" tIns="0" rIns="0" bIns="0" anchor="t" anchorCtr="0">
              <a:spAutoFit/>
            </a:bodyPr>
            <a:lstStyle/>
            <a:p>
              <a:pPr algn="l"/>
              <a:r>
                <a:rPr lang="tr-TR" sz="1200" b="1" dirty="0">
                  <a:solidFill>
                    <a:srgbClr val="12355B"/>
                  </a:solidFill>
                  <a:latin typeface="+mn-lt"/>
                  <a:ea typeface="+mn-ea"/>
                  <a:cs typeface="+mn-cs"/>
                </a:rPr>
                <a:t>Dikkat noktası</a:t>
              </a:r>
            </a:p>
          </p:txBody>
        </p:sp>
        <p:sp>
          <p:nvSpPr>
            <p:cNvPr id="36" name="TextBox 36"/>
            <p:cNvSpPr txBox="1"/>
            <p:nvPr/>
          </p:nvSpPr>
          <p:spPr>
            <a:xfrm>
              <a:off x="6928104" y="4575810"/>
              <a:ext cx="3281172" cy="615696"/>
            </a:xfrm>
            <a:prstGeom prst="rect">
              <a:avLst/>
            </a:prstGeom>
            <a:noFill/>
            <a:ln>
              <a:noFill/>
            </a:ln>
          </p:spPr>
          <p:txBody>
            <a:bodyPr wrap="none" lIns="0" tIns="0" rIns="0" bIns="0" anchor="t" anchorCtr="0">
              <a:spAutoFit/>
            </a:bodyPr>
            <a:lstStyle/>
            <a:p>
              <a:pPr algn="l">
                <a:lnSpc>
                  <a:spcPts val="1500"/>
                </a:lnSpc>
              </a:pPr>
              <a:r>
                <a:rPr lang="tr-TR" sz="1200" dirty="0">
                  <a:solidFill>
                    <a:srgbClr val="172B3A"/>
                  </a:solidFill>
                  <a:latin typeface="Consolas"/>
                  <a:ea typeface="Consolas"/>
                  <a:cs typeface="Consolas"/>
                </a:rPr>
                <a:t>anaProgram</a:t>
              </a:r>
              <a:r>
                <a:rPr lang="tr-TR" sz="1200" dirty="0">
                  <a:solidFill>
                    <a:srgbClr val="172B3A"/>
                  </a:solidFill>
                  <a:latin typeface="+mn-lt"/>
                  <a:ea typeface="+mn-ea"/>
                  <a:cs typeface="+mn-cs"/>
                </a:rPr>
                <a:t>, Prisma'nın select/where</a:t>
              </a:r>
              <a:br/>
              <a:r>
                <a:rPr lang="tr-TR" sz="1200" dirty="0">
                  <a:solidFill>
                    <a:srgbClr val="172B3A"/>
                  </a:solidFill>
                  <a:latin typeface="+mn-lt"/>
                  <a:ea typeface="+mn-ea"/>
                  <a:cs typeface="+mn-cs"/>
                </a:rPr>
                <a:t>söz dizimini bilmeden yalnızca</a:t>
              </a:r>
              <a:br/>
              <a:r>
                <a:rPr lang="tr-TR" sz="1200" dirty="0">
                  <a:solidFill>
                    <a:srgbClr val="172B3A"/>
                  </a:solidFill>
                  <a:latin typeface="Consolas"/>
                  <a:ea typeface="Consolas"/>
                  <a:cs typeface="Consolas"/>
                </a:rPr>
                <a:t>KullaniciRepository</a:t>
              </a:r>
              <a:r>
                <a:rPr lang="tr-TR" sz="1200" dirty="0">
                  <a:solidFill>
                    <a:srgbClr val="172B3A"/>
                  </a:solidFill>
                  <a:latin typeface="+mn-lt"/>
                  <a:ea typeface="+mn-ea"/>
                  <a:cs typeface="+mn-cs"/>
                </a:rPr>
                <a:t xml:space="preserve"> metotlarını çağırır.</a:t>
              </a:r>
            </a:p>
          </p:txBody>
        </p:sp>
      </p:grpSp>
      <p:sp>
        <p:nvSpPr>
          <p:cNvPr id="38" name="TextBox 38"/>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23 / 25</a:t>
            </a:r>
          </a:p>
        </p:txBody>
      </p:sp>
    </p:spTree>
  </p:cSld>
  <p:clrMapOvr>
    <a:masterClrMapping/>
  </p:clrMapOvr>
  <p:transition xmlns:p14="http://schemas.microsoft.com/office/powerpoint/2010/main" p14:dur="400">
    <p:fade/>
  </p:transition>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grpSp>
        <p:nvGrpSpPr>
          <p:cNvPr id="5" name="page-title"/>
          <p:cNvGrpSpPr/>
          <p:nvPr/>
        </p:nvGrpSpPr>
        <p:grpSpPr>
          <a:xfrm>
            <a:off x="595122" y="282892"/>
            <a:ext cx="2257174" cy="557403"/>
            <a:chOff x="595122" y="282892"/>
            <a:chExt cx="2257174" cy="557403"/>
          </a:xfrm>
        </p:grpSpPr>
        <p:sp>
          <p:nvSpPr>
            <p:cNvPr id="4" name="TextBox 4"/>
            <p:cNvSpPr txBox="1"/>
            <p:nvPr/>
          </p:nvSpPr>
          <p:spPr>
            <a:xfrm>
              <a:off x="595122" y="282892"/>
              <a:ext cx="2257174"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Bölüm özeti</a:t>
              </a:r>
            </a:p>
          </p:txBody>
        </p:sp>
      </p:grpSp>
      <p:grpSp>
        <p:nvGrpSpPr>
          <p:cNvPr id="9" name="summary-schema"/>
          <p:cNvGrpSpPr/>
          <p:nvPr/>
        </p:nvGrpSpPr>
        <p:grpSpPr>
          <a:xfrm>
            <a:off x="609600" y="1333500"/>
            <a:ext cx="3505200" cy="1524000"/>
            <a:chOff x="609600" y="1333500"/>
            <a:chExt cx="3505200" cy="1524000"/>
          </a:xfrm>
        </p:grpSpPr>
        <p:sp>
          <p:nvSpPr>
            <p:cNvPr id="6" name="Rectangle 6"/>
            <p:cNvSpPr/>
            <p:nvPr/>
          </p:nvSpPr>
          <p:spPr>
            <a:xfrm>
              <a:off x="609600" y="1333500"/>
              <a:ext cx="3505200" cy="1524000"/>
            </a:xfrm>
            <a:prstGeom prst="roundRect">
              <a:avLst>
                <a:gd name="adj" fmla="val 6250"/>
              </a:avLst>
            </a:prstGeom>
            <a:solidFill>
              <a:srgbClr val="FFFFFF"/>
            </a:solidFill>
            <a:ln w="14288">
              <a:solidFill>
                <a:srgbClr val="B8CBD3"/>
              </a:solidFill>
            </a:ln>
          </p:spPr>
        </p:sp>
        <p:sp>
          <p:nvSpPr>
            <p:cNvPr id="7" name="TextBox 7"/>
            <p:cNvSpPr txBox="1"/>
            <p:nvPr/>
          </p:nvSpPr>
          <p:spPr>
            <a:xfrm>
              <a:off x="829056" y="1520190"/>
              <a:ext cx="1875640"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schema.prisma</a:t>
              </a:r>
            </a:p>
          </p:txBody>
        </p:sp>
        <p:sp>
          <p:nvSpPr>
            <p:cNvPr id="8" name="TextBox 8"/>
            <p:cNvSpPr txBox="1"/>
            <p:nvPr/>
          </p:nvSpPr>
          <p:spPr>
            <a:xfrm>
              <a:off x="832104" y="1908810"/>
              <a:ext cx="2465832" cy="44424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Modellerin ve ilişkilerin tanımını</a:t>
              </a:r>
              <a:br/>
              <a:r>
                <a:rPr lang="tr-TR" sz="1200" dirty="0">
                  <a:solidFill>
                    <a:srgbClr val="172B3A"/>
                  </a:solidFill>
                  <a:latin typeface="+mn-lt"/>
                  <a:ea typeface="+mn-ea"/>
                  <a:cs typeface="+mn-cs"/>
                </a:rPr>
                <a:t>içeren tek gerçeklik kaynağıdır.</a:t>
              </a:r>
            </a:p>
          </p:txBody>
        </p:sp>
      </p:grpSp>
      <p:grpSp>
        <p:nvGrpSpPr>
          <p:cNvPr id="13" name="summary-migration"/>
          <p:cNvGrpSpPr/>
          <p:nvPr/>
        </p:nvGrpSpPr>
        <p:grpSpPr>
          <a:xfrm>
            <a:off x="4343400" y="1333500"/>
            <a:ext cx="3505200" cy="1524000"/>
            <a:chOff x="4343400" y="1333500"/>
            <a:chExt cx="3505200" cy="1524000"/>
          </a:xfrm>
        </p:grpSpPr>
        <p:sp>
          <p:nvSpPr>
            <p:cNvPr id="10" name="Rectangle 10"/>
            <p:cNvSpPr/>
            <p:nvPr/>
          </p:nvSpPr>
          <p:spPr>
            <a:xfrm>
              <a:off x="4343400" y="1333500"/>
              <a:ext cx="3505200" cy="1524000"/>
            </a:xfrm>
            <a:prstGeom prst="roundRect">
              <a:avLst>
                <a:gd name="adj" fmla="val 6250"/>
              </a:avLst>
            </a:prstGeom>
            <a:solidFill>
              <a:srgbClr val="FFFFFF"/>
            </a:solidFill>
            <a:ln w="14288">
              <a:solidFill>
                <a:srgbClr val="B8CBD3"/>
              </a:solidFill>
            </a:ln>
          </p:spPr>
        </p:sp>
        <p:sp>
          <p:nvSpPr>
            <p:cNvPr id="11" name="TextBox 11"/>
            <p:cNvSpPr txBox="1"/>
            <p:nvPr/>
          </p:nvSpPr>
          <p:spPr>
            <a:xfrm>
              <a:off x="4562856" y="1520190"/>
              <a:ext cx="1208837"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Migration</a:t>
              </a:r>
            </a:p>
          </p:txBody>
        </p:sp>
        <p:sp>
          <p:nvSpPr>
            <p:cNvPr id="12" name="TextBox 12"/>
            <p:cNvSpPr txBox="1"/>
            <p:nvPr/>
          </p:nvSpPr>
          <p:spPr>
            <a:xfrm>
              <a:off x="4565904" y="1908810"/>
              <a:ext cx="21915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Kalıcı şema değişikliklerini</a:t>
              </a:r>
              <a:br/>
              <a:r>
                <a:rPr lang="tr-TR" sz="1200" dirty="0">
                  <a:solidFill>
                    <a:srgbClr val="172B3A"/>
                  </a:solidFill>
                  <a:latin typeface="+mn-lt"/>
                  <a:ea typeface="+mn-ea"/>
                  <a:cs typeface="+mn-cs"/>
                </a:rPr>
                <a:t>sürümlü biçimde veritabanına</a:t>
              </a:r>
              <a:br/>
              <a:r>
                <a:rPr lang="tr-TR" sz="1200" dirty="0">
                  <a:solidFill>
                    <a:srgbClr val="172B3A"/>
                  </a:solidFill>
                  <a:latin typeface="+mn-lt"/>
                  <a:ea typeface="+mn-ea"/>
                  <a:cs typeface="+mn-cs"/>
                </a:rPr>
                <a:t>uygular.</a:t>
              </a:r>
            </a:p>
          </p:txBody>
        </p:sp>
      </p:grpSp>
      <p:grpSp>
        <p:nvGrpSpPr>
          <p:cNvPr id="17" name="summary-crud"/>
          <p:cNvGrpSpPr/>
          <p:nvPr/>
        </p:nvGrpSpPr>
        <p:grpSpPr>
          <a:xfrm>
            <a:off x="8077200" y="1333500"/>
            <a:ext cx="3505200" cy="1524000"/>
            <a:chOff x="8077200" y="1333500"/>
            <a:chExt cx="3505200" cy="1524000"/>
          </a:xfrm>
        </p:grpSpPr>
        <p:sp>
          <p:nvSpPr>
            <p:cNvPr id="14" name="Rectangle 14"/>
            <p:cNvSpPr/>
            <p:nvPr/>
          </p:nvSpPr>
          <p:spPr>
            <a:xfrm>
              <a:off x="8077200" y="1333500"/>
              <a:ext cx="3505200" cy="1524000"/>
            </a:xfrm>
            <a:prstGeom prst="roundRect">
              <a:avLst>
                <a:gd name="adj" fmla="val 6250"/>
              </a:avLst>
            </a:prstGeom>
            <a:solidFill>
              <a:srgbClr val="FFFFFF"/>
            </a:solidFill>
            <a:ln w="14288">
              <a:solidFill>
                <a:srgbClr val="B8CBD3"/>
              </a:solidFill>
            </a:ln>
          </p:spPr>
        </p:sp>
        <p:sp>
          <p:nvSpPr>
            <p:cNvPr id="15" name="TextBox 15"/>
            <p:cNvSpPr txBox="1"/>
            <p:nvPr/>
          </p:nvSpPr>
          <p:spPr>
            <a:xfrm>
              <a:off x="8296656" y="1520190"/>
              <a:ext cx="2042975"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Tür güvenli CRUD</a:t>
              </a:r>
            </a:p>
          </p:txBody>
        </p:sp>
        <p:sp>
          <p:nvSpPr>
            <p:cNvPr id="16" name="TextBox 16"/>
            <p:cNvSpPr txBox="1"/>
            <p:nvPr/>
          </p:nvSpPr>
          <p:spPr>
            <a:xfrm>
              <a:off x="8299704" y="1908810"/>
              <a:ext cx="245059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Yanlış alan, yanlış tür ve bazı</a:t>
              </a:r>
              <a:br/>
              <a:r>
                <a:rPr lang="tr-TR" sz="1200" dirty="0">
                  <a:solidFill>
                    <a:srgbClr val="172B3A"/>
                  </a:solidFill>
                  <a:latin typeface="+mn-lt"/>
                  <a:ea typeface="+mn-ea"/>
                  <a:cs typeface="+mn-cs"/>
                </a:rPr>
                <a:t>sorgu hatalarını kod çalışmadan</a:t>
              </a:r>
              <a:br/>
              <a:r>
                <a:rPr lang="tr-TR" sz="1200" dirty="0">
                  <a:solidFill>
                    <a:srgbClr val="172B3A"/>
                  </a:solidFill>
                  <a:latin typeface="+mn-lt"/>
                  <a:ea typeface="+mn-ea"/>
                  <a:cs typeface="+mn-cs"/>
                </a:rPr>
                <a:t>önce yakalar.</a:t>
              </a:r>
            </a:p>
          </p:txBody>
        </p:sp>
      </p:grpSp>
      <p:grpSp>
        <p:nvGrpSpPr>
          <p:cNvPr id="21" name="summary-relations"/>
          <p:cNvGrpSpPr/>
          <p:nvPr/>
        </p:nvGrpSpPr>
        <p:grpSpPr>
          <a:xfrm>
            <a:off x="609600" y="3143250"/>
            <a:ext cx="3505200" cy="1524000"/>
            <a:chOff x="609600" y="3143250"/>
            <a:chExt cx="3505200" cy="1524000"/>
          </a:xfrm>
        </p:grpSpPr>
        <p:sp>
          <p:nvSpPr>
            <p:cNvPr id="18" name="Rectangle 18"/>
            <p:cNvSpPr/>
            <p:nvPr/>
          </p:nvSpPr>
          <p:spPr>
            <a:xfrm>
              <a:off x="609600" y="3143250"/>
              <a:ext cx="3505200" cy="1524000"/>
            </a:xfrm>
            <a:prstGeom prst="roundRect">
              <a:avLst>
                <a:gd name="adj" fmla="val 6250"/>
              </a:avLst>
            </a:prstGeom>
            <a:solidFill>
              <a:srgbClr val="FFFFFF"/>
            </a:solidFill>
            <a:ln w="14288">
              <a:solidFill>
                <a:srgbClr val="B8CBD3"/>
              </a:solidFill>
            </a:ln>
          </p:spPr>
        </p:sp>
        <p:sp>
          <p:nvSpPr>
            <p:cNvPr id="19" name="TextBox 19"/>
            <p:cNvSpPr txBox="1"/>
            <p:nvPr/>
          </p:nvSpPr>
          <p:spPr>
            <a:xfrm>
              <a:off x="829056" y="3329940"/>
              <a:ext cx="1029614"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İlişkiler</a:t>
              </a:r>
            </a:p>
          </p:txBody>
        </p:sp>
        <p:sp>
          <p:nvSpPr>
            <p:cNvPr id="20" name="TextBox 20"/>
            <p:cNvSpPr txBox="1"/>
            <p:nvPr/>
          </p:nvSpPr>
          <p:spPr>
            <a:xfrm>
              <a:off x="832104" y="3718560"/>
              <a:ext cx="235153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User–Post bire-çok ilişkisi;</a:t>
              </a:r>
              <a:br/>
              <a:r>
                <a:rPr lang="tr-TR" sz="1200" dirty="0">
                  <a:solidFill>
                    <a:srgbClr val="172B3A"/>
                  </a:solidFill>
                  <a:latin typeface="+mn-lt"/>
                  <a:ea typeface="+mn-ea"/>
                  <a:cs typeface="+mn-cs"/>
                </a:rPr>
                <a:t>yabancı anahtar, ilişki alanı ve</a:t>
              </a:r>
              <a:br/>
              <a:r>
                <a:rPr lang="tr-TR" sz="1200" dirty="0">
                  <a:solidFill>
                    <a:srgbClr val="172B3A"/>
                  </a:solidFill>
                  <a:latin typeface="+mn-lt"/>
                  <a:ea typeface="+mn-ea"/>
                  <a:cs typeface="+mn-cs"/>
                </a:rPr>
                <a:t>iç içe sorgularla ifade edilir.</a:t>
              </a:r>
            </a:p>
          </p:txBody>
        </p:sp>
      </p:grpSp>
      <p:grpSp>
        <p:nvGrpSpPr>
          <p:cNvPr id="25" name="summary-includeselect"/>
          <p:cNvGrpSpPr/>
          <p:nvPr/>
        </p:nvGrpSpPr>
        <p:grpSpPr>
          <a:xfrm>
            <a:off x="4343400" y="3143250"/>
            <a:ext cx="3505200" cy="1524000"/>
            <a:chOff x="4343400" y="3143250"/>
            <a:chExt cx="3505200" cy="1524000"/>
          </a:xfrm>
        </p:grpSpPr>
        <p:sp>
          <p:nvSpPr>
            <p:cNvPr id="22" name="Rectangle 22"/>
            <p:cNvSpPr/>
            <p:nvPr/>
          </p:nvSpPr>
          <p:spPr>
            <a:xfrm>
              <a:off x="4343400" y="3143250"/>
              <a:ext cx="3505200" cy="1524000"/>
            </a:xfrm>
            <a:prstGeom prst="roundRect">
              <a:avLst>
                <a:gd name="adj" fmla="val 6250"/>
              </a:avLst>
            </a:prstGeom>
            <a:solidFill>
              <a:srgbClr val="FFFFFF"/>
            </a:solidFill>
            <a:ln w="14288">
              <a:solidFill>
                <a:srgbClr val="B8CBD3"/>
              </a:solidFill>
            </a:ln>
          </p:spPr>
        </p:sp>
        <p:sp>
          <p:nvSpPr>
            <p:cNvPr id="23" name="TextBox 23"/>
            <p:cNvSpPr txBox="1"/>
            <p:nvPr/>
          </p:nvSpPr>
          <p:spPr>
            <a:xfrm>
              <a:off x="4562856" y="3329940"/>
              <a:ext cx="1939248"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include / select</a:t>
              </a:r>
            </a:p>
          </p:txBody>
        </p:sp>
        <p:sp>
          <p:nvSpPr>
            <p:cNvPr id="24" name="TextBox 24"/>
            <p:cNvSpPr txBox="1"/>
            <p:nvPr/>
          </p:nvSpPr>
          <p:spPr>
            <a:xfrm>
              <a:off x="4565904" y="3718560"/>
              <a:ext cx="232867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Seçim, getirilen veri miktarını</a:t>
              </a:r>
              <a:br/>
              <a:r>
                <a:rPr lang="tr-TR" sz="1200" dirty="0">
                  <a:solidFill>
                    <a:srgbClr val="172B3A"/>
                  </a:solidFill>
                  <a:latin typeface="+mn-lt"/>
                  <a:ea typeface="+mn-ea"/>
                  <a:cs typeface="+mn-cs"/>
                </a:rPr>
                <a:t>ve performansı doğrudan</a:t>
              </a:r>
              <a:br/>
              <a:r>
                <a:rPr lang="tr-TR" sz="1200" dirty="0">
                  <a:solidFill>
                    <a:srgbClr val="172B3A"/>
                  </a:solidFill>
                  <a:latin typeface="+mn-lt"/>
                  <a:ea typeface="+mn-ea"/>
                  <a:cs typeface="+mn-cs"/>
                </a:rPr>
                <a:t>etkiler.</a:t>
              </a:r>
            </a:p>
          </p:txBody>
        </p:sp>
      </p:grpSp>
      <p:grpSp>
        <p:nvGrpSpPr>
          <p:cNvPr id="29" name="summary-repository"/>
          <p:cNvGrpSpPr/>
          <p:nvPr/>
        </p:nvGrpSpPr>
        <p:grpSpPr>
          <a:xfrm>
            <a:off x="8077200" y="3143250"/>
            <a:ext cx="3505200" cy="1524000"/>
            <a:chOff x="8077200" y="3143250"/>
            <a:chExt cx="3505200" cy="1524000"/>
          </a:xfrm>
        </p:grpSpPr>
        <p:sp>
          <p:nvSpPr>
            <p:cNvPr id="26" name="Rectangle 26"/>
            <p:cNvSpPr/>
            <p:nvPr/>
          </p:nvSpPr>
          <p:spPr>
            <a:xfrm>
              <a:off x="8077200" y="3143250"/>
              <a:ext cx="3505200" cy="1524000"/>
            </a:xfrm>
            <a:prstGeom prst="roundRect">
              <a:avLst>
                <a:gd name="adj" fmla="val 6250"/>
              </a:avLst>
            </a:prstGeom>
            <a:solidFill>
              <a:srgbClr val="FFFFFF"/>
            </a:solidFill>
            <a:ln w="14288">
              <a:solidFill>
                <a:srgbClr val="00A6A6"/>
              </a:solidFill>
            </a:ln>
          </p:spPr>
        </p:sp>
        <p:sp>
          <p:nvSpPr>
            <p:cNvPr id="27" name="TextBox 27"/>
            <p:cNvSpPr txBox="1"/>
            <p:nvPr/>
          </p:nvSpPr>
          <p:spPr>
            <a:xfrm>
              <a:off x="8296656" y="3329940"/>
              <a:ext cx="1361616"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Repository</a:t>
              </a:r>
            </a:p>
          </p:txBody>
        </p:sp>
        <p:sp>
          <p:nvSpPr>
            <p:cNvPr id="28" name="TextBox 28"/>
            <p:cNvSpPr txBox="1"/>
            <p:nvPr/>
          </p:nvSpPr>
          <p:spPr>
            <a:xfrm>
              <a:off x="8299704" y="3718560"/>
              <a:ext cx="2039112" cy="653796"/>
            </a:xfrm>
            <a:prstGeom prst="rect">
              <a:avLst/>
            </a:prstGeom>
            <a:noFill/>
            <a:ln>
              <a:noFill/>
            </a:ln>
          </p:spPr>
          <p:txBody>
            <a:bodyPr wrap="none" lIns="0" tIns="0" rIns="0" bIns="0" anchor="t" anchorCtr="0">
              <a:spAutoFit/>
            </a:bodyPr>
            <a:lstStyle/>
            <a:p>
              <a:pPr algn="l">
                <a:lnSpc>
                  <a:spcPts val="1650"/>
                </a:lnSpc>
              </a:pPr>
              <a:r>
                <a:rPr lang="tr-TR" sz="1200" dirty="0">
                  <a:solidFill>
                    <a:srgbClr val="172B3A"/>
                  </a:solidFill>
                  <a:latin typeface="+mn-lt"/>
                  <a:ea typeface="+mn-ea"/>
                  <a:cs typeface="+mn-cs"/>
                </a:rPr>
                <a:t>Prisma çağrılarını iş</a:t>
              </a:r>
              <a:br/>
              <a:r>
                <a:rPr lang="tr-TR" sz="1200" dirty="0">
                  <a:solidFill>
                    <a:srgbClr val="172B3A"/>
                  </a:solidFill>
                  <a:latin typeface="+mn-lt"/>
                  <a:ea typeface="+mn-ea"/>
                  <a:cs typeface="+mn-cs"/>
                </a:rPr>
                <a:t>kurallarından ayırır; test</a:t>
              </a:r>
              <a:br/>
              <a:r>
                <a:rPr lang="tr-TR" sz="1200" dirty="0">
                  <a:solidFill>
                    <a:srgbClr val="172B3A"/>
                  </a:solidFill>
                  <a:latin typeface="+mn-lt"/>
                  <a:ea typeface="+mn-ea"/>
                  <a:cs typeface="+mn-cs"/>
                </a:rPr>
                <a:t>edilebilirliği artırır.</a:t>
              </a:r>
            </a:p>
          </p:txBody>
        </p:sp>
      </p:grpSp>
      <p:grpSp>
        <p:nvGrpSpPr>
          <p:cNvPr id="33" name="exam-note"/>
          <p:cNvGrpSpPr/>
          <p:nvPr/>
        </p:nvGrpSpPr>
        <p:grpSpPr>
          <a:xfrm>
            <a:off x="609600" y="5048250"/>
            <a:ext cx="10972800" cy="952500"/>
            <a:chOff x="609600" y="5048250"/>
            <a:chExt cx="10972800" cy="952500"/>
          </a:xfrm>
        </p:grpSpPr>
        <p:sp>
          <p:nvSpPr>
            <p:cNvPr id="30" name="Rectangle 30"/>
            <p:cNvSpPr/>
            <p:nvPr/>
          </p:nvSpPr>
          <p:spPr>
            <a:xfrm>
              <a:off x="609600" y="5048250"/>
              <a:ext cx="10972800" cy="952500"/>
            </a:xfrm>
            <a:prstGeom prst="roundRect">
              <a:avLst>
                <a:gd name="adj" fmla="val 8000"/>
              </a:avLst>
            </a:prstGeom>
            <a:solidFill>
              <a:srgbClr val="EAF4F6"/>
            </a:solidFill>
            <a:ln>
              <a:noFill/>
            </a:ln>
          </p:spPr>
        </p:sp>
        <p:sp>
          <p:nvSpPr>
            <p:cNvPr id="31" name="TextBox 31"/>
            <p:cNvSpPr txBox="1"/>
            <p:nvPr/>
          </p:nvSpPr>
          <p:spPr>
            <a:xfrm>
              <a:off x="905256" y="5234940"/>
              <a:ext cx="6010692" cy="352044"/>
            </a:xfrm>
            <a:prstGeom prst="rect">
              <a:avLst/>
            </a:prstGeom>
            <a:noFill/>
            <a:ln>
              <a:noFill/>
            </a:ln>
          </p:spPr>
          <p:txBody>
            <a:bodyPr wrap="none" lIns="0" tIns="0" rIns="0" bIns="0" anchor="t" anchorCtr="0">
              <a:spAutoFit/>
            </a:bodyPr>
            <a:lstStyle/>
            <a:p>
              <a:pPr algn="l"/>
              <a:r>
                <a:rPr lang="tr-TR" sz="1800" b="1" dirty="0">
                  <a:solidFill>
                    <a:srgbClr val="12355B"/>
                  </a:solidFill>
                  <a:latin typeface="+mn-lt"/>
                  <a:ea typeface="+mn-ea"/>
                  <a:cs typeface="+mn-cs"/>
                </a:rPr>
                <a:t>ORM, migration ve repository aynı şey değildir.</a:t>
              </a:r>
            </a:p>
          </p:txBody>
        </p:sp>
        <p:sp>
          <p:nvSpPr>
            <p:cNvPr id="32" name="TextBox 32"/>
            <p:cNvSpPr txBox="1"/>
            <p:nvPr/>
          </p:nvSpPr>
          <p:spPr>
            <a:xfrm>
              <a:off x="906399" y="5583079"/>
              <a:ext cx="9853736" cy="308039"/>
            </a:xfrm>
            <a:prstGeom prst="rect">
              <a:avLst/>
            </a:prstGeom>
            <a:noFill/>
            <a:ln>
              <a:noFill/>
            </a:ln>
          </p:spPr>
          <p:txBody>
            <a:bodyPr wrap="none" lIns="0" tIns="0" rIns="0" bIns="0" anchor="t" anchorCtr="0">
              <a:spAutoFit/>
            </a:bodyPr>
            <a:lstStyle/>
            <a:p>
              <a:pPr algn="l"/>
              <a:r>
                <a:rPr lang="tr-TR" sz="1580" dirty="0">
                  <a:solidFill>
                    <a:srgbClr val="52616B"/>
                  </a:solidFill>
                  <a:latin typeface="+mn-lt"/>
                  <a:ea typeface="+mn-ea"/>
                  <a:cs typeface="+mn-cs"/>
                </a:rPr>
                <a:t>ORM eşleme yaklaşımıdır; migration şemanın kaydıdır; repository ise veri erişim sınırıdır.</a:t>
              </a:r>
            </a:p>
          </p:txBody>
        </p:sp>
      </p:grpSp>
      <p:sp>
        <p:nvSpPr>
          <p:cNvPr id="34" name="TextBox 34"/>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24 / 25</a:t>
            </a:r>
          </a:p>
        </p:txBody>
      </p:sp>
    </p:spTree>
  </p:cSld>
  <p:clrMapOvr>
    <a:masterClrMapping/>
  </p:clrMapOvr>
  <p:transition xmlns:p14="http://schemas.microsoft.com/office/powerpoint/2010/main" p14:dur="400">
    <p:fade/>
  </p:transition>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7FAFC"/>
        </a:solidFill>
        <a:effectLst/>
      </p:bgPr>
    </p:bg>
    <p:spTree>
      <p:nvGrpSpPr>
        <p:cNvPr id="1" name=""/>
        <p:cNvGrpSpPr/>
        <p:nvPr/>
      </p:nvGrpSpPr>
      <p:grpSpPr>
        <a:xfrm>
          <a:off x="0" y="0"/>
          <a:ext cx="0" cy="0"/>
          <a:chOff x="0" y="0"/>
          <a:chExt cx="0" cy="0"/>
        </a:xfrm>
      </p:grpSpPr>
      <p:sp>
        <p:nvSpPr>
          <p:cNvPr id="2" name="title-band"/>
          <p:cNvSpPr/>
          <p:nvPr/>
        </p:nvSpPr>
        <p:spPr>
          <a:xfrm>
            <a:off x="0" y="0"/>
            <a:ext cx="12192000" cy="914400"/>
          </a:xfrm>
          <a:prstGeom prst="rect">
            <a:avLst/>
          </a:prstGeom>
          <a:solidFill>
            <a:srgbClr val="12355B"/>
          </a:solidFill>
          <a:ln>
            <a:noFill/>
          </a:ln>
        </p:spPr>
      </p:sp>
      <p:sp>
        <p:nvSpPr>
          <p:cNvPr id="3" name="band-rule"/>
          <p:cNvSpPr/>
          <p:nvPr/>
        </p:nvSpPr>
        <p:spPr>
          <a:xfrm>
            <a:off x="0" y="914400"/>
            <a:ext cx="12192000" cy="38100"/>
          </a:xfrm>
          <a:prstGeom prst="rect">
            <a:avLst/>
          </a:prstGeom>
          <a:solidFill>
            <a:srgbClr val="00A6A6"/>
          </a:solidFill>
          <a:ln>
            <a:noFill/>
          </a:ln>
        </p:spPr>
      </p:sp>
      <p:sp>
        <p:nvSpPr>
          <p:cNvPr id="4" name="Line 4"/>
          <p:cNvSpPr/>
          <p:nvPr/>
        </p:nvSpPr>
        <p:spPr>
          <a:xfrm>
            <a:off x="4476750" y="3810000"/>
            <a:ext cx="2190750" cy="1"/>
          </a:xfrm>
          <a:prstGeom prst="line">
            <a:avLst/>
          </a:prstGeom>
          <a:noFill/>
          <a:ln w="28575">
            <a:solidFill>
              <a:srgbClr val="00A6A6"/>
            </a:solidFill>
            <a:tailEnd type="arrow" w="lg" len="lg"/>
          </a:ln>
        </p:spPr>
      </p:sp>
      <p:grpSp>
        <p:nvGrpSpPr>
          <p:cNvPr id="6" name="page-title"/>
          <p:cNvGrpSpPr/>
          <p:nvPr/>
        </p:nvGrpSpPr>
        <p:grpSpPr>
          <a:xfrm>
            <a:off x="595122" y="282892"/>
            <a:ext cx="4150951" cy="557403"/>
            <a:chOff x="595122" y="282892"/>
            <a:chExt cx="4150951" cy="557403"/>
          </a:xfrm>
        </p:grpSpPr>
        <p:sp>
          <p:nvSpPr>
            <p:cNvPr id="5" name="TextBox 5"/>
            <p:cNvSpPr txBox="1"/>
            <p:nvPr/>
          </p:nvSpPr>
          <p:spPr>
            <a:xfrm>
              <a:off x="595122" y="282892"/>
              <a:ext cx="4150951" cy="557403"/>
            </a:xfrm>
            <a:prstGeom prst="rect">
              <a:avLst/>
            </a:prstGeom>
            <a:noFill/>
            <a:ln>
              <a:noFill/>
            </a:ln>
          </p:spPr>
          <p:txBody>
            <a:bodyPr wrap="none" lIns="0" tIns="0" rIns="0" bIns="0" anchor="t" anchorCtr="0">
              <a:spAutoFit/>
            </a:bodyPr>
            <a:lstStyle/>
            <a:p>
              <a:pPr algn="l"/>
              <a:r>
                <a:rPr lang="tr-TR" sz="2850" b="1" dirty="0">
                  <a:solidFill>
                    <a:srgbClr val="FFFFFF"/>
                  </a:solidFill>
                  <a:latin typeface="+mj-lt"/>
                  <a:ea typeface="+mj-ea"/>
                  <a:cs typeface="+mj-cs"/>
                </a:rPr>
                <a:t>Sonraki bölüme köprü</a:t>
              </a:r>
            </a:p>
          </p:txBody>
        </p:sp>
      </p:grpSp>
      <p:grpSp>
        <p:nvGrpSpPr>
          <p:cNvPr id="8" name="bridge-claim"/>
          <p:cNvGrpSpPr/>
          <p:nvPr/>
        </p:nvGrpSpPr>
        <p:grpSpPr>
          <a:xfrm>
            <a:off x="599694" y="1484948"/>
            <a:ext cx="8848535" cy="990981"/>
            <a:chOff x="599694" y="1484948"/>
            <a:chExt cx="8848535" cy="990981"/>
          </a:xfrm>
        </p:grpSpPr>
        <p:sp>
          <p:nvSpPr>
            <p:cNvPr id="7" name="TextBox 7"/>
            <p:cNvSpPr txBox="1"/>
            <p:nvPr/>
          </p:nvSpPr>
          <p:spPr>
            <a:xfrm>
              <a:off x="599694" y="1484948"/>
              <a:ext cx="8848535" cy="990981"/>
            </a:xfrm>
            <a:prstGeom prst="rect">
              <a:avLst/>
            </a:prstGeom>
            <a:noFill/>
            <a:ln>
              <a:noFill/>
            </a:ln>
          </p:spPr>
          <p:txBody>
            <a:bodyPr wrap="none" lIns="0" tIns="0" rIns="0" bIns="0" anchor="t" anchorCtr="0">
              <a:spAutoFit/>
            </a:bodyPr>
            <a:lstStyle/>
            <a:p>
              <a:pPr algn="l">
                <a:lnSpc>
                  <a:spcPts val="2400"/>
                </a:lnSpc>
              </a:pPr>
              <a:r>
                <a:rPr lang="tr-TR" sz="1950" dirty="0">
                  <a:solidFill>
                    <a:srgbClr val="172B3A"/>
                  </a:solidFill>
                  <a:latin typeface="+mn-lt"/>
                  <a:ea typeface="+mn-ea"/>
                  <a:cs typeface="+mn-cs"/>
                </a:rPr>
                <a:t>Veri erişim katmanı artık repository arkasında güvenli biçimde duruyor.</a:t>
              </a:r>
              <a:br/>
              <a:r>
                <a:rPr lang="tr-TR" sz="1950" dirty="0">
                  <a:solidFill>
                    <a:srgbClr val="172B3A"/>
                  </a:solidFill>
                  <a:latin typeface="+mn-lt"/>
                  <a:ea typeface="+mn-ea"/>
                  <a:cs typeface="+mn-cs"/>
                </a:rPr>
                <a:t>Sıradaki adım, bu veriyi HTTP isteklerine dönüştürüp dış dünyadan gelen</a:t>
              </a:r>
              <a:br/>
              <a:r>
                <a:rPr lang="tr-TR" sz="1950" dirty="0">
                  <a:solidFill>
                    <a:srgbClr val="172B3A"/>
                  </a:solidFill>
                  <a:latin typeface="+mn-lt"/>
                  <a:ea typeface="+mn-ea"/>
                  <a:cs typeface="+mn-cs"/>
                </a:rPr>
                <a:t>girdiyi doğrulamaktır.</a:t>
              </a:r>
            </a:p>
          </p:txBody>
        </p:sp>
      </p:grpSp>
      <p:grpSp>
        <p:nvGrpSpPr>
          <p:cNvPr id="14" name="bridge-now"/>
          <p:cNvGrpSpPr/>
          <p:nvPr/>
        </p:nvGrpSpPr>
        <p:grpSpPr>
          <a:xfrm>
            <a:off x="599694" y="2799398"/>
            <a:ext cx="3185160" cy="1834419"/>
            <a:chOff x="599694" y="2799398"/>
            <a:chExt cx="3185160" cy="1834419"/>
          </a:xfrm>
        </p:grpSpPr>
        <p:sp>
          <p:nvSpPr>
            <p:cNvPr id="9" name="TextBox 9"/>
            <p:cNvSpPr txBox="1"/>
            <p:nvPr/>
          </p:nvSpPr>
          <p:spPr>
            <a:xfrm>
              <a:off x="599694" y="2799398"/>
              <a:ext cx="2646140" cy="381381"/>
            </a:xfrm>
            <a:prstGeom prst="rect">
              <a:avLst/>
            </a:prstGeom>
            <a:noFill/>
            <a:ln>
              <a:noFill/>
            </a:ln>
          </p:spPr>
          <p:txBody>
            <a:bodyPr wrap="none" lIns="0" tIns="0" rIns="0" bIns="0" anchor="t" anchorCtr="0">
              <a:spAutoFit/>
            </a:bodyPr>
            <a:lstStyle/>
            <a:p>
              <a:pPr algn="l"/>
              <a:r>
                <a:rPr lang="tr-TR" sz="1950" b="1" dirty="0">
                  <a:solidFill>
                    <a:srgbClr val="12355B"/>
                  </a:solidFill>
                  <a:latin typeface="+mn-lt"/>
                  <a:ea typeface="+mn-ea"/>
                  <a:cs typeface="+mn-cs"/>
                </a:rPr>
                <a:t>Artık yapabilirsiniz</a:t>
              </a:r>
            </a:p>
          </p:txBody>
        </p:sp>
        <p:sp>
          <p:nvSpPr>
            <p:cNvPr id="10" name="Rectangle 10"/>
            <p:cNvSpPr/>
            <p:nvPr/>
          </p:nvSpPr>
          <p:spPr>
            <a:xfrm>
              <a:off x="609600" y="3333750"/>
              <a:ext cx="57150" cy="285750"/>
            </a:xfrm>
            <a:prstGeom prst="rect">
              <a:avLst/>
            </a:prstGeom>
            <a:solidFill>
              <a:srgbClr val="00A6A6"/>
            </a:solidFill>
            <a:ln>
              <a:noFill/>
            </a:ln>
          </p:spPr>
        </p:sp>
        <p:sp>
          <p:nvSpPr>
            <p:cNvPr id="11" name="TextBox 11"/>
            <p:cNvSpPr txBox="1"/>
            <p:nvPr/>
          </p:nvSpPr>
          <p:spPr>
            <a:xfrm>
              <a:off x="849249" y="3373279"/>
              <a:ext cx="2935605"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Şema tanımlayıp migration ile</a:t>
              </a:r>
              <a:br/>
              <a:r>
                <a:rPr lang="tr-TR" sz="1580" dirty="0">
                  <a:solidFill>
                    <a:srgbClr val="172B3A"/>
                  </a:solidFill>
                  <a:latin typeface="+mn-lt"/>
                  <a:ea typeface="+mn-ea"/>
                  <a:cs typeface="+mn-cs"/>
                </a:rPr>
                <a:t>veritabanına yansıtmak</a:t>
              </a:r>
            </a:p>
          </p:txBody>
        </p:sp>
        <p:sp>
          <p:nvSpPr>
            <p:cNvPr id="12" name="Rectangle 12"/>
            <p:cNvSpPr/>
            <p:nvPr/>
          </p:nvSpPr>
          <p:spPr>
            <a:xfrm>
              <a:off x="609600" y="4038600"/>
              <a:ext cx="57150" cy="285750"/>
            </a:xfrm>
            <a:prstGeom prst="rect">
              <a:avLst/>
            </a:prstGeom>
            <a:solidFill>
              <a:srgbClr val="00A6A6"/>
            </a:solidFill>
            <a:ln>
              <a:noFill/>
            </a:ln>
          </p:spPr>
        </p:sp>
        <p:sp>
          <p:nvSpPr>
            <p:cNvPr id="13" name="TextBox 13"/>
            <p:cNvSpPr txBox="1"/>
            <p:nvPr/>
          </p:nvSpPr>
          <p:spPr>
            <a:xfrm>
              <a:off x="849249" y="4078129"/>
              <a:ext cx="2755011" cy="555688"/>
            </a:xfrm>
            <a:prstGeom prst="rect">
              <a:avLst/>
            </a:prstGeom>
            <a:noFill/>
            <a:ln>
              <a:noFill/>
            </a:ln>
          </p:spPr>
          <p:txBody>
            <a:bodyPr wrap="none" lIns="0" tIns="0" rIns="0" bIns="0" anchor="t" anchorCtr="0">
              <a:spAutoFit/>
            </a:bodyPr>
            <a:lstStyle/>
            <a:p>
              <a:pPr algn="l">
                <a:lnSpc>
                  <a:spcPts val="1950"/>
                </a:lnSpc>
              </a:pPr>
              <a:r>
                <a:rPr lang="tr-TR" sz="1580" dirty="0">
                  <a:solidFill>
                    <a:srgbClr val="172B3A"/>
                  </a:solidFill>
                  <a:latin typeface="+mn-lt"/>
                  <a:ea typeface="+mn-ea"/>
                  <a:cs typeface="+mn-cs"/>
                </a:rPr>
                <a:t>İlişkili veriyi repository</a:t>
              </a:r>
              <a:br/>
              <a:r>
                <a:rPr lang="tr-TR" sz="1580" dirty="0">
                  <a:solidFill>
                    <a:srgbClr val="172B3A"/>
                  </a:solidFill>
                  <a:latin typeface="+mn-lt"/>
                  <a:ea typeface="+mn-ea"/>
                  <a:cs typeface="+mn-cs"/>
                </a:rPr>
                <a:t>katmanında sınırlandırmak</a:t>
              </a:r>
            </a:p>
          </p:txBody>
        </p:sp>
      </p:grpSp>
      <p:grpSp>
        <p:nvGrpSpPr>
          <p:cNvPr id="19" name="bridge-next"/>
          <p:cNvGrpSpPr/>
          <p:nvPr/>
        </p:nvGrpSpPr>
        <p:grpSpPr>
          <a:xfrm>
            <a:off x="7010400" y="2667000"/>
            <a:ext cx="4572000" cy="2309717"/>
            <a:chOff x="7010400" y="2667000"/>
            <a:chExt cx="4572000" cy="2309717"/>
          </a:xfrm>
        </p:grpSpPr>
        <p:sp>
          <p:nvSpPr>
            <p:cNvPr id="15" name="Rectangle 15"/>
            <p:cNvSpPr/>
            <p:nvPr/>
          </p:nvSpPr>
          <p:spPr>
            <a:xfrm>
              <a:off x="7010400" y="2667000"/>
              <a:ext cx="4572000" cy="2286000"/>
            </a:xfrm>
            <a:prstGeom prst="roundRect">
              <a:avLst>
                <a:gd name="adj" fmla="val 4167"/>
              </a:avLst>
            </a:prstGeom>
            <a:solidFill>
              <a:srgbClr val="12355B"/>
            </a:solidFill>
            <a:ln>
              <a:noFill/>
            </a:ln>
          </p:spPr>
        </p:sp>
        <p:sp>
          <p:nvSpPr>
            <p:cNvPr id="16" name="TextBox 16"/>
            <p:cNvSpPr txBox="1"/>
            <p:nvPr/>
          </p:nvSpPr>
          <p:spPr>
            <a:xfrm>
              <a:off x="7309104" y="2975610"/>
              <a:ext cx="1704564" cy="234696"/>
            </a:xfrm>
            <a:prstGeom prst="rect">
              <a:avLst/>
            </a:prstGeom>
            <a:noFill/>
            <a:ln>
              <a:noFill/>
            </a:ln>
          </p:spPr>
          <p:txBody>
            <a:bodyPr wrap="none" lIns="0" tIns="0" rIns="0" bIns="0" anchor="t" anchorCtr="0">
              <a:spAutoFit/>
            </a:bodyPr>
            <a:lstStyle/>
            <a:p>
              <a:pPr algn="l"/>
              <a:r>
                <a:rPr lang="tr-TR" sz="1200" b="1" spc="225" dirty="0">
                  <a:solidFill>
                    <a:srgbClr val="00A6A6"/>
                  </a:solidFill>
                  <a:latin typeface="+mn-lt"/>
                  <a:ea typeface="+mn-ea"/>
                  <a:cs typeface="+mn-cs"/>
                </a:rPr>
                <a:t>SONRAKİ BÖLÜM</a:t>
              </a:r>
            </a:p>
          </p:txBody>
        </p:sp>
        <p:sp>
          <p:nvSpPr>
            <p:cNvPr id="17" name="TextBox 17"/>
            <p:cNvSpPr txBox="1"/>
            <p:nvPr/>
          </p:nvSpPr>
          <p:spPr>
            <a:xfrm>
              <a:off x="7303770" y="3319462"/>
              <a:ext cx="3008233" cy="802005"/>
            </a:xfrm>
            <a:prstGeom prst="rect">
              <a:avLst/>
            </a:prstGeom>
            <a:noFill/>
            <a:ln>
              <a:noFill/>
            </a:ln>
          </p:spPr>
          <p:txBody>
            <a:bodyPr wrap="none" lIns="0" tIns="0" rIns="0" bIns="0" anchor="t" anchorCtr="0">
              <a:spAutoFit/>
            </a:bodyPr>
            <a:lstStyle/>
            <a:p>
              <a:pPr algn="l">
                <a:lnSpc>
                  <a:spcPts val="2850"/>
                </a:lnSpc>
              </a:pPr>
              <a:r>
                <a:rPr lang="tr-TR" sz="2250" b="1" dirty="0">
                  <a:solidFill>
                    <a:srgbClr val="FFFFFF"/>
                  </a:solidFill>
                  <a:latin typeface="+mn-lt"/>
                  <a:ea typeface="+mn-ea"/>
                  <a:cs typeface="+mn-cs"/>
                </a:rPr>
                <a:t>Uygulama servisleri,</a:t>
              </a:r>
              <a:br/>
              <a:r>
                <a:rPr lang="tr-TR" sz="2250" b="1" dirty="0">
                  <a:solidFill>
                    <a:srgbClr val="FFFFFF"/>
                  </a:solidFill>
                  <a:latin typeface="+mn-lt"/>
                  <a:ea typeface="+mn-ea"/>
                  <a:cs typeface="+mn-cs"/>
                </a:rPr>
                <a:t>doğrulama ve API</a:t>
              </a:r>
            </a:p>
          </p:txBody>
        </p:sp>
        <p:sp>
          <p:nvSpPr>
            <p:cNvPr id="18" name="TextBox 18"/>
            <p:cNvSpPr txBox="1"/>
            <p:nvPr/>
          </p:nvSpPr>
          <p:spPr>
            <a:xfrm>
              <a:off x="7307199" y="4135279"/>
              <a:ext cx="2995803" cy="841438"/>
            </a:xfrm>
            <a:prstGeom prst="rect">
              <a:avLst/>
            </a:prstGeom>
            <a:noFill/>
            <a:ln>
              <a:noFill/>
            </a:ln>
          </p:spPr>
          <p:txBody>
            <a:bodyPr wrap="none" lIns="0" tIns="0" rIns="0" bIns="0" anchor="t" anchorCtr="0">
              <a:spAutoFit/>
            </a:bodyPr>
            <a:lstStyle/>
            <a:p>
              <a:pPr algn="l">
                <a:lnSpc>
                  <a:spcPts val="2100"/>
                </a:lnSpc>
              </a:pPr>
              <a:r>
                <a:rPr lang="tr-TR" sz="1580" dirty="0">
                  <a:solidFill>
                    <a:srgbClr val="EAF4F6"/>
                  </a:solidFill>
                  <a:latin typeface="+mn-lt"/>
                  <a:ea typeface="+mn-ea"/>
                  <a:cs typeface="+mn-cs"/>
                </a:rPr>
                <a:t>Repository verisinin HTTP'ye</a:t>
              </a:r>
              <a:br/>
              <a:r>
                <a:rPr lang="tr-TR" sz="1580" dirty="0">
                  <a:solidFill>
                    <a:srgbClr val="EAF4F6"/>
                  </a:solidFill>
                  <a:latin typeface="+mn-lt"/>
                  <a:ea typeface="+mn-ea"/>
                  <a:cs typeface="+mn-cs"/>
                </a:rPr>
                <a:t>dönüşümünü ve hata yönetimini</a:t>
              </a:r>
              <a:br/>
              <a:r>
                <a:rPr lang="tr-TR" sz="1580" dirty="0">
                  <a:solidFill>
                    <a:srgbClr val="EAF4F6"/>
                  </a:solidFill>
                  <a:latin typeface="+mn-lt"/>
                  <a:ea typeface="+mn-ea"/>
                  <a:cs typeface="+mn-cs"/>
                </a:rPr>
                <a:t>inceleyeceksiniz.</a:t>
              </a:r>
            </a:p>
          </p:txBody>
        </p:sp>
      </p:grpSp>
      <p:grpSp>
        <p:nvGrpSpPr>
          <p:cNvPr id="22" name="bridge-closing"/>
          <p:cNvGrpSpPr/>
          <p:nvPr/>
        </p:nvGrpSpPr>
        <p:grpSpPr>
          <a:xfrm>
            <a:off x="609600" y="5429250"/>
            <a:ext cx="10972800" cy="729234"/>
            <a:chOff x="609600" y="5429250"/>
            <a:chExt cx="10972800" cy="729234"/>
          </a:xfrm>
        </p:grpSpPr>
        <p:sp>
          <p:nvSpPr>
            <p:cNvPr id="20" name="Rectangle 20"/>
            <p:cNvSpPr/>
            <p:nvPr/>
          </p:nvSpPr>
          <p:spPr>
            <a:xfrm>
              <a:off x="609600" y="5429250"/>
              <a:ext cx="10972800" cy="666750"/>
            </a:xfrm>
            <a:prstGeom prst="roundRect">
              <a:avLst>
                <a:gd name="adj" fmla="val 11429"/>
              </a:avLst>
            </a:prstGeom>
            <a:solidFill>
              <a:srgbClr val="EAF4F6"/>
            </a:solidFill>
            <a:ln>
              <a:noFill/>
            </a:ln>
          </p:spPr>
        </p:sp>
        <p:sp>
          <p:nvSpPr>
            <p:cNvPr id="21" name="TextBox 21"/>
            <p:cNvSpPr txBox="1"/>
            <p:nvPr/>
          </p:nvSpPr>
          <p:spPr>
            <a:xfrm>
              <a:off x="905256" y="5520690"/>
              <a:ext cx="6595110" cy="637794"/>
            </a:xfrm>
            <a:prstGeom prst="rect">
              <a:avLst/>
            </a:prstGeom>
            <a:noFill/>
            <a:ln>
              <a:noFill/>
            </a:ln>
          </p:spPr>
          <p:txBody>
            <a:bodyPr wrap="none" lIns="0" tIns="0" rIns="0" bIns="0" anchor="t" anchorCtr="0">
              <a:spAutoFit/>
            </a:bodyPr>
            <a:lstStyle/>
            <a:p>
              <a:pPr algn="l">
                <a:lnSpc>
                  <a:spcPts val="2250"/>
                </a:lnSpc>
              </a:pPr>
              <a:r>
                <a:rPr lang="tr-TR" sz="1800" b="1" dirty="0">
                  <a:solidFill>
                    <a:srgbClr val="12355B"/>
                  </a:solidFill>
                  <a:latin typeface="+mn-lt"/>
                  <a:ea typeface="+mn-ea"/>
                  <a:cs typeface="+mn-cs"/>
                </a:rPr>
                <a:t>Her repository metodunun döndürdüğü veriyi, hangi HTTP</a:t>
              </a:r>
              <a:br/>
              <a:r>
                <a:rPr lang="tr-TR" sz="1800" b="1" dirty="0">
                  <a:solidFill>
                    <a:srgbClr val="12355B"/>
                  </a:solidFill>
                  <a:latin typeface="+mn-lt"/>
                  <a:ea typeface="+mn-ea"/>
                  <a:cs typeface="+mn-cs"/>
                </a:rPr>
                <a:t>yanıtına dönüşeceğini şimdiden düşünün.</a:t>
              </a:r>
            </a:p>
          </p:txBody>
        </p:sp>
      </p:grpSp>
      <p:sp>
        <p:nvSpPr>
          <p:cNvPr id="23" name="TextBox 23"/>
          <p:cNvSpPr txBox="1"/>
          <p:nvPr/>
        </p:nvSpPr>
        <p:spPr>
          <a:xfrm>
            <a:off x="11035132" y="6442710"/>
            <a:ext cx="553364" cy="234696"/>
          </a:xfrm>
          <a:prstGeom prst="rect">
            <a:avLst/>
          </a:prstGeom>
          <a:noFill/>
          <a:ln>
            <a:noFill/>
          </a:ln>
        </p:spPr>
        <p:txBody>
          <a:bodyPr wrap="none" lIns="0" tIns="0" rIns="0" bIns="0" anchor="t" anchorCtr="0">
            <a:spAutoFit/>
          </a:bodyPr>
          <a:lstStyle/>
          <a:p>
            <a:pPr algn="r"/>
            <a:r>
              <a:rPr lang="tr-TR" sz="1200" dirty="0">
                <a:solidFill>
                  <a:srgbClr val="52616B"/>
                </a:solidFill>
                <a:latin typeface="+mn-lt"/>
                <a:ea typeface="+mn-ea"/>
                <a:cs typeface="+mn-cs"/>
              </a:rPr>
              <a:t>25 / 25</a:t>
            </a:r>
          </a:p>
        </p:txBody>
      </p:sp>
    </p:spTree>
  </p:cSld>
  <p:clrMapOvr>
    <a:masterClrMapping/>
  </p:clrMapOvr>
  <p:transition xmlns:p14="http://schemas.microsoft.com/office/powerpoint/2010/main" p14:dur="400">
    <p:fade/>
  </p:transition>
</p:sld>
</file>

<file path=ppt/theme/theme1.xml><?xml version="1.0" encoding="utf-8"?>
<a:theme xmlns:a="http://schemas.openxmlformats.org/drawingml/2006/main" name="b08-orm-prisma-data-access-20260915">
  <a:themeElements>
    <a:clrScheme name="b08-orm-prisma-data-access-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8-orm-prisma-data-access-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8-orm-prisma-data-access-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b08-orm-prisma-data-access-20260915">
  <a:themeElements>
    <a:clrScheme name="b08-orm-prisma-data-access-20260915">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b08-orm-prisma-data-access-20260915">
      <a:majorFont>
        <a:latin typeface="Aptos Display"/>
        <a:ea typeface="Microsoft YaHei"/>
        <a:cs typeface="Aptos Display"/>
        <a:font script="Jpan" typeface="Microsoft YaHei"/>
        <a:font script="Hang" typeface="Microsoft YaHei"/>
        <a:font script="Hans" typeface="Microsoft YaHei"/>
        <a:font script="Hant" typeface="Microsoft YaHei"/>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Microsoft YaHei"/>
        <a:cs typeface="Aptos"/>
        <a:font script="Jpan" typeface="Microsoft YaHei"/>
        <a:font script="Hang" typeface="Microsoft YaHei"/>
        <a:font script="Hans" typeface="Microsoft YaHei"/>
        <a:font script="Hant" typeface="Microsoft YaHei"/>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08-orm-prisma-data-access-20260915">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Office PowerPoint</Application>
  <PresentationFormat>On-screen Show (16:9)</PresentationFormat>
  <Paragraphs>0</Paragraphs>
  <Slides>25</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dc:language>tr-TR</dc:language>
  <cp:lastModifiedBy/>
  <cp:revision>1</cp:revision>
  <dcterms:created xsi:type="dcterms:W3CDTF">2026-09-19T21:21:50Z</dcterms:created>
  <dcterms:modified xsi:type="dcterms:W3CDTF">2026-09-19T21:21:50Z</dcterms:modified>
  <cp:category/>
  <cp:contentStatus/>
</cp:coreProperties>
</file>