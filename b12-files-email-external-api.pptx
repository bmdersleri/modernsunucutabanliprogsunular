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Modern Sunucu Tabanlı Programlama dersinin on ikinci bölümü olan "Dosya İşlemleri, E-posta ve Harici API Entegrasyonu" konusunu ele alıyor. Önceki bölümde bir API'nin kendi sınırları içinde nasıl korunacağını incelemiştik: girdi doğrulama, merkezi hata yönetimi, CORS ve rate limiting gibi konular. Ancak gerçek bir backend uygulaması yalnızca kendi sınırları içinde yaşamaz; kullanıcıdan dosya kabul eder, üçüncü taraf servislerden veri çeker ve kullanıcıya e-posta gönderir. Bu bölümde örnek alanımız yine üniversite kütüphanesi olacak: kütüphaneci bir kitabın kapak görselini yükleyecek, sistem harici bir ISBN sorgu servisinden ek veri çekecek ve öğrenciye son teslim tarihi yaklaşırken bir hatırlatma e-postası gönderilecek.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Bölümün hedefi, kütüphane API'sini kitap kapağı yükleme, harici kitap bilgisi servisi ve son teslim tarihi hatırlatma e-postası senaryolarıyla dış dünyaya açmaktır. Sayfada listelenen beş soru, bölüm boyunca cevaplanacak ana meseleleri özetliyor: multipart/form-data isteğinin JSON'dan farkı, dosya adı ve MIME türü gibi istemci beyanlarının neden güvenilmez olduğu, zaman aşımı tanımlanmadığında ne olacağı, retry'ın her hata türü için mantıklı olup olmadığı ve e-posta gönderiminin neden asenkron tasarlandığı. Bu soruları aklınızda tutarak ilerlemeniz, bölümün sonundaki kavram sorumluluk matrisini ve özet sayfasını daha anlamlı kılacaktır. Ayrıca bu bölümdeki dosya yükleme ve e-posta gönderimi altyapısı, üniversite laboratuvar yönetim sisteminin ekipman fotoğrafı saklama ve rezervasyon bildirimi gibi işlevlerinde de doğrudan kullanılabilecek.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sonunda beş somut yetkinlik kazanmış olacaksınız. İlk olarak, multipart/form-data isteğini JSON isteğinden ayırt edebilecek ve yüklenen bir dosyanın alanlarına -ad, boyut, MIME türü, ikili içerik- programatik olarak erişebileceksiniz. İkincisi, dosya yüklemede temel güvenlik kontrollerini -izin verilen tür listesi (allowlist), boyut sınırı ve güvenli dosya adı üretimi- birlikte uygulayabileceksiniz. Üçüncüsü, fetch ve AbortController kullanarak harici bir REST API çağrısına zaman aşımı ekleyebileceksiniz. Dördüncüsü, geçici hatalarda üstel geri çekilme ile sınırlı sayıda yeniden deneme yapabilecek, kalıcı hatalarda ise gereksiz retry'dan kaçınabileceksiniz. Son olarak, e-posta gönderimini asıl işlem akışından ayrıştırarak, gönderim hatasının isteğin tamamını başarısız kılmamasını sağlayabileceksiniz. Kaliteli bir çözümde dosya türü ve boyutu istemci beyanına değil sunucu tarafı kontrolüne dayanmalı, harici çağrılar asla süresiz beklemeye bırakılmamalı ve retry mantığı sonsuz döngüye girmemelidir.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kavram haritası, bölümdeki altı temel kavramın birbiriyle ilişkisini gösteriyor. Merkezde multipart/form-data dosya yükleme yer alıyor; bu, diğer dört kavramın -dosya güvenliği, harici REST API tüketimi, zaman aşımı ve üstel geri çekilme- doğrudan gerekliliğini doğuran köken kavram. Katı oklar bu türetilme ilişkisini gösteriyor. Kesikli gri oklar ise kavramlar arası tamamlayıcı ilişkileri işaret ediyor: örneğin dosya güvenliği ile zaman aşımı arasındaki bağlantı, her ikisinin de "dış girdiye güvenme" ilkesini paylaştığını; dosya güvenliği ile e-posta bildirimi arasındaki uzun ok ise, kitap kapağı başarıyla kaydedildikten sonra e-posta bildirimi tetiklenmesi akışını temsil ediyor. E-posta bildirimi altta geniş bir kutu olarak ayrı duruyor çünkü asıl akıştan bağımsız, hataya dayanıklı şekilde tasarlanan bir yan servis; diğer beş kavram gibi doğrudan dosya yüklemeden türemiyor, onunla tamamlayıcı bir ilişki içinde.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matris, bölümde incelenen altı bileşenin mimari sorumluluk sınırlarını üç soru etrafında netleştiriyor: temel görevi nedir, ne yapmaz ve olmazsa ne olur. Örneğin multipart/form-data yalnızca bir veri taşıma formatıdır; dosyaları diske kendiliğinden yazmaz, bu sorumluluk ayrı bir katmana aittir. Dosya yükleme güvenliği ise antivirüs motoru gibi içerik taramaz; yalnızca boyut, gerçek MIME türü ve dosya adı güvenliğini yönetir - bu sınırın ötesi ayrı bir savunma katmanı gerektirir. Harici API entegrasyonu karşı sunucunun her zaman ayakta olacağını garanti edemez; bu yüzden timeout ve retry ayrı kavramlar olarak tabloda yer alıyor. Timeout kendisi karşı tarafın sorununu düzeltmez, yalnızca yerel kaynakların askıda kalmasını önler. Retry mekanizması ise yalnızca geçici hatalarda devreye girmeli; kalıcı hataları (400, 401 gibi) tekrar denemek kaynak tüketiminden başka bir şey sağlamaz. E-posta servisi son satırda yer alıyor çünkü senkron bloklamaması gereken, ana akıştan bağımsız çalışması gereken bir bileşen; olmazsa tüm kullanıcı istekleri dakikalarca bekleyebilir. Bu matris, ilerleyen sayfalarda her kavramın neden ayrı ayrı ele alındığının bir özeti niteliğinde.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kuramsal temelini oluşturan "kısmi hata" (partial failure) kavramını tanıtıyor. İç bir fonksiyon çağrısı milisaniyeler içinde döner, yüksek güvenilirlik varsayılır ve sonuç ya tam başarı ya da anında istisnadır; üçüncü, belirsiz bir durum yoktur. Dış dünya çağrısı ise saniyeler sürebilir, hiç dönmeyebilir, ağ gecikmesi ve geçici kesinti olağandır ve en önemlisi "kısmi hata" riski taşır: isteğin karşı tarafa ulaşıp ulaşmadığı, işlenip işlenmediği belirsiz kalabilir - örneğin yanıt ağ üzerinde kaybolmuş olabilir. Bu belirsizlik, L. Peter Deutsch ve Sun Microsystems'teki meslektaşlarının 1994'te ortaya koyduğu "Dağıtık Hesaplamanın Sekiz Yanılgısı" listesindeki "ağ güvenilirdir", "gecikme sıfırdır" gibi varsayımların neden pratikte yanlış çıktığını açıklıyor. Bu nedenle dış dünyayla her etkileşim üç ayrı tasarım disiplini gerektiriyor: sonucun açıkça başarı veya başarısızlık olarak modellenmesi, bir üst sınırın yani timeout'un tanımlanması ve hatanın geçici mi kalıcı mı olduğunun ayırt edilmesi. Bu üç disiplin, ilerleyen sayfalarda dosya, API ve e-posta etkileşimlerinin her birine ayrı ayrı uygulanacak.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 dış dünya etkileşimleri için ortak bir sözleşme olan Sonuc&lt;T&gt; deseni tanıtılıyor. Bu TypeScript türü bir ayrık birleşim (discriminated union): ya basarili alanı true olup veri taşır, ya da basarili false olup bir hata mesajı taşır. Üç örnek fonksiyon bu deseni gösteriyor: dosyaYukle() başarıyla sonuçlanıp dosya adını döndürür; harici_apiCagir() ise zaman aşımı nedeniyle başarısız olabilir ve bunu açıkça hata alanında bildirir; eposta_gonder() ise başarılı olur ama dönüş verisi taşımaz, sadece gönderimin gerçekleştiğini bildirir. Kritik nokta şu: çağıran kod, basarili alanına bakmadan sonucu kullanamaz. TypeScript'in tür sistemi, basarili alanına göre veri veya hata alanının türünü otomatik olarak daraltır, bu da derleme zamanında hata yakalamayı mümkün kılar. Yaygın bir anti-pattern ise dış çağrının her zaman hızlı ve başarılı döneceğini varsaymak ya da başarısızlık durumunda sessizce null veya undefined döndürmektir; bu, hatanın fark edilmeden ilerlemesine ve sistemin beklenmedik bir noktada çökmesine yol açar.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Multipart/form-data, bir HTTP isteğinin gövdesini kendi başlığı ve içeriği olan parçalara (part) ayıran bir kodlama biçimidir; RFC 7578'de tanımlanır ve MIME standardının kökeni olan RFC 2045-2049'a dayanır. Anatomi diyagramında görülen örnekte, sınır (boundary) dizesiyle ayrılan iki parça var: biri "kitapKodu" adlı metin alanı, diğeri ise "dosya" adlı, dosya adı ve Content-Type başlığı taşıyan ikili içerik parçası. Peki neden JSON yetmez? JSON yalnızca metinsel -UTF-8, UTF-16 veya UTF-32- değerleri temsil eder ve ham ikili baytı doğrudan barındıramaz; bu RFC 8259'da tanımlanan JSON formatının doğal bir sınırlamasıdır. İkili veriyi JSON'a taşımak isteseydik base64 kodlaması gerekirdi, ama bunun bir bedeli var: her 3 bayt 4 karaktere genişler, yani yaklaşık yüzde 33 boyut artışı. Bu yüzden dosya yüklemede multipart/form-data tercih edilir. Node.js backend'de bu ayrıştırma genellikle multer gibi bir middleware tarafından yapılır ve sonuç, uygulamaya yapılandırılmış bir dosya nesnesi olarak sunulur - bir sonraki sayfada bu nesnenin alanlarını inceleyeceğiz.</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multer middleware'in isteği işledikten sonra dosya bilgisinin sunucu tarafında nasıl erişilebilir hale geldiğini gösteriyor. Akış şöyle işliyor: multer middleware isteği ayrıştırır, sonucu req.file nesnesine yerleştirir ve controller bu nesneye doğrudan erişebilir. YuklenenDosya arayüzü dört alan taşır: orijinalAd (istemcinin gönderdiği ad, güvenilmez), mimeTuru (istemci beyanı, yine güvenilmez), boyutBayt (sayısal boyut) ve icerik (ham ikili veriyi taşıyan Buffer nesnesi). Örnek çıktıda görüldüğü gibi, "kapak.jpg" adlı, image/jpeg türünde, 204800 baytlık bir dosya bu şekilde okunabilir hale geliyor. Burada vurgulanması gereken önemli bir nokta: bu meta veri okuma adımı, dosyanın ikili içeriğine hiç dokunmadan, sadece HTTP isteğinin başlık bilgilerini ayrıştırarak yapılır. Yani bu aşamada henüz herhangi bir güvenlik denetimi gerçekleşmemiştir - orijinalAd ve mimeTuru alanları hâlâ istemcinin beyanından ibarettir ve bir sonraki sayfada göreceğimiz güvenlik kontrolleri ayrı, bağımsız bir adım olarak uygulanmalıdır.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dosya yüklemenin iki klasik tehdit sınıfını karşılaştırıyor. Birincisi path traversal, yani dizin gezinme saldırısı: OWASP'ın klasik açık sınıfıdır. Örnekte orijinalAd alanı "../../etc/passwd.png" gibi bir değer taşıyabilir; ".." ifadesi bir üst dizini temsil ettiği için, denetlenmemiş bir ad yükleme dizininin tamamen dışına çıkabilir ve sunucudaki hassas dosyaların üzerine yazılmasına yol açabilir. Çözüm, orijinal adı hiç kullanmamak ve bunun yerine rastgele bir UUID üretmektir - saldırı yüzeyini ortadan kaldırmak, temizlemekten (sanitize) her zaman daha güvenlidir. İkinci tehdit, sahte uzantı ve MIME beyanıdır: "guvenli.jpg" adında bir dosya aslında bir kabuk (.sh) betiği olabilir, çünkü Content-Type başlığı yalnızca gönderenin beyanıdır ve sunucu bağımsız olarak doğrulamadıkça hiçbir güvence taşımaz. Bu, önceki bölümdeki "asla istemciye güvenme" ilkesinin dosya bağlamındaki karşılığıdır. Çözüm, bir allowlist ile birlikte dosyanın ilk baytlarındaki "magic number" denetimini uygulamaktır. Her iki tehdidin de sonucu aynı derece ciddi: denetlenmezse saldırgan çalıştırılabilir bir betik yükleyip uzaktan kod çalıştırma, yani RCE saldırısı düzenleyebilir.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önceki sayfada tanımlanan tehditlere karşı uygulanması gereken üç somut kontrolü sıralıyor. Birincisi tür allowlist'i: izinVerilenTurler adlı bir küme yalnızca image/jpeg ve image/png gibi belirli MIME türlerine izin verir, kümede olmayan her şey reddedilir. İkincisi boyut sınırı: azamiBoyutBayt genellikle 2 MB gibi bir üst sınır tanımlar ve bu sınırı aşan dosyalar diske hiç dokunulmadan, erken aşamada reddedilir - bu, gereksiz disk G/Ç'sini ve olası bellek taşması risklerini önler. Üçüncüsü güvenli dosya adı üretimi: guvenliDosyaAdiUret fonksiyonu randomUUID() ile tamamen yeni bir ad üretir; orijinal isimden yalnızca uzantı alınır, geri kalanı asla kullanılmaz. Sağdaki karşılaştırma bu üç kontrolün pratikte nasıl çalıştığını gösteriyor: geçerli bir dosya (kapak.jpg, image/jpeg, 204800 bayt) denetimden sorunsuz geçip güvenli bir UUID adıyla kaydedilirken; zararlı bir dosya ("../../etc/passwd.png" adında, 3 MB boyutunda) boyut sınırını aştığı için erken reddedilir ve orijinal adı hiçbir zaman kullanılmaz. Bu üç kontrol, kullanıcı girdisi kabul eden her sistemde istisnasız uygulanmalıdır.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harici REST API tüketiminin teorik temelini ve pratik bir sonucunu ele alıyor. Tanım olarak, backend'in kontrolünde olmayan üçüncü taraf bir servisten HTTP ile veri istemek ve gelen yanıtı işlemek anlamına gelir; kütüphane örneğimizde bu, ISBN'e göre kitap bilgisi çeken bir servis olacak. Roy Fielding'in 2000 tarihli REST mimari kısıtlarına göre, istemci-sunucu ayrımı ve durumsuzluk (statelessness) esastır: her istek bağımsız ve kendi kendine yeterli olmalı, çağıran taraf yalnızca sözleşmeye güvenmelidir. Bu kuram, pratikte idempotency kavramıyla birleşiyor: RFC 9110'a göre GET, PUT ve DELETE metotları idempotent'tir, yani aynı isteğin birden fazla kez gönderilmesi güvenle tekrarlanabilir ve aynı sonucu üretir. POST ise genellikle idempotent değildir; kör bir şekilde tekrarlanması aynı işlemin birden fazla kez gerçekleşmesine yol açabilir. Örneğin bir "sipariş oluştur" POST isteği zaman aşımına uğrayıp da körlemesine tekrar gönderilirse, aynı sipariş iki kez oluşabilir. Bu ayrım, ilerleyen sayfalarda göreceğimiz retry mekanizmasının hangi HTTP metotlarında güvenle uygulanabileceğini doğrudan belirliyor.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fetch ve AbortController kullanarak bir harici API çağrısına nasıl süre sınırı konulacağını gösteriyor. Akış şöyle işliyor: fetch() çağrısı controller.signal ile başlatılır, aynı anda bir setTimeout kurulur ve zamanAsimiMs süresi sonunda abort() çağrılacak şekilde ayarlanır. İki olası dal var: yanıt süresinde gelirse clearTimeout ile zamanlayıcı iptal edilir ve sonuç normal şekilde döner; süre dolup abort() tetiklenirse fetch bir AbortError fırlatır ve bu, uygulamanın kendi HariciServisHatasi türüne çevrilir. Örnek çıktıda zamanAsimiMs=1 gibi aşırı kısa bir değerle test edildiğinde "Harici servis 1 ms içinde yanıt vermedi" mesajı üretiliyor - bu, gerçek kullanımda elbette çok daha gerçekçi bir süreye (örneğin birkaç saniyeye) ayarlanmalıdır. Kritik bir uygulama detayı: zamanlayıcının temizlenmesi mutlaka bir finally bloğunda yapılmalıdır; aksi halde başarılı bir yanıt geldiğinde bile zamanlayıcı çalışmaya devam edip gereksiz yere abort() çağırabilir veya bellek sızıntısına yol açabilir. Genel kural olarak zaman aşımı süresi, çağrılan servisin tipik yanıt süresine göre belirlenmeli - ne aşırı kısa (yanlış pozitif hatalar üretir) ne de aşırı uzun (kaynakları gereksiz yere meşgul eder).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retry mekanizmasının en kritik tasarım kararını ele alıyor: hangi hatalar yeniden denenmeli, hangileri denenmemeli? Bir hata oluştuğunda, yani islem() bir istisna fırlattığında, bu istisnanın türüne göre iki farklı yola ayrılmalı. Eğer GeciciHata ise, bir süre beklenip yeniden denenmeli - zaman aşımı, 502/503/504 gibi sunucu hataları veya ağ kopması bu kategoriye girer, çünkü birkaç yüz milisaniye sonra durum değişebilir, sunucu tekrar ayağa kalkmış olabilir. Ama diğer her şey, özellikle KaliciHata sınıfına giren 400 Bad Request veya 401 Unauthorized gibi durumlar, hemen fırlatılmalı ve hiç beklenmemeli - çünkü bu hatalar isteğin kendisindeki bir sorunu gösterir, tekrar denemek aynı sonucu üretir ve yalnızca kaynak tüketir. Bu ayrım sınavda sıkça sorulan bir kavramdır: yalnızca geçici hatalar yeniden denenmelidir; kalıcı bir istemci hatası tekrar denendiğinde de aynı sonucu üretecektir, bu yüzden gereksiz bir retry döngüsü sadece gecikmeyi ve kaynak tüketimini artırır.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üstel geri çekilme (exponential backoff) desenini bir zaman çizelgesi üzerinden gösteriyor. Deneme 1 başarısız olur, 50 ms beklenir; Deneme 2 de başarısız olursa bekleme süresi ikiye katlanarak 100 ms'ye çıkar; Deneme 3 nihayet başarılı olur. Bu desenin kökeni aslında ağ mühendisliğine dayanıyor: Robert Metcalfe'nin 1970'lerde Ethernet için geliştirdiği İkili Üstel Geri Çekilme (Binary Exponential Backoff) algoritmasında, çakışma sonrası bekleme süresi her seferinde ikiye katlanır, böylece yeniden çarpışma olasılığı katlanarak azalır - aynı matematiksel mantık burada API çağrıları için kullanılıyor. Michael Nygard'ın 2007 tarihli "Release It!" kitabında tanımladığı circuit breaker (devre kesici) deseni ise bir sonraki adımı temsil ediyor: sürekli başarısız olan bir servise isteği geçici olarak tamamen durdurur; retry bu desenin bir öncül adımı sayılabilir. En kritik uyarı ise cascading failure, yani zincirleme çökme riski: sınırsız ve beklemesiz bir retry, zaten zorlanan karşı servise fiilen bir DoS (hizmet reddi) etkisi yapar ve aynı zamanda yerel soket havuzunu kilitleyerek kendi sunucunuzu da çökertebilir. Bu yüzden retry sayısı her zaman sınırlı olmalı ve her deneme arasında artan bir bekleme uygulanmalıdır.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e-posta bildirim akışının nasıl soyutlanması gerektiğini ele alıyor. Akış şu şekilde: iş mantığı katmanındaki sonTeslimHatirlatmasiGonder fonksiyonu, doğrudan bir SMTP sunucusuyla konuşmak yerine EmailService adlı bir arayüzü çağırır; bu arayüzün arkasında gerçek bir SMTP API'si veya test amaçlı SahteEmailService gibi somut bir sağlayıcı bulunur. Bu, Bağımlılığın Tersine Çevrilmesi İlkesi'nin (Dependency Inversion Principle, DIP) klasik bir uygulamasıdır: iş mantığı, hangi somut e-posta sağlayıcısının kullanıldığını bilmeden çalışır; SMTP protokolünün -RFC 5321 ve öncesindeki RFC 821'in- karmaşıklığı arayüz ardında tamamen gizlenir. SMTP, sunucular arası mesaj aktarımını düzenleyen bir IETF protokolüdür, ama backend genellikle bunu doğrudan konuşmaz; bunun yerine karmaşıklığı soyutlayan bir e-posta sağlayıcı API'si kullanılır. Sayfanın alt kısmında iki teslimat stratejisi karşılaştırılıyor: bu bölümde ele alınan best-effort yaklaşımı, bildirimi garantisiz gönderir - basit ve hızlıdır ama e-posta sessizce kaybolabilir. Daha ileri seviye bir yaklaşım olan kuyruk tabanlı teslimat ise en az bir kez teslim garantisini artırır, ama ek altyapı karmaşıklığı getirir - bu bölümün kapsamı dışında ama gerçek üretim sistemlerinde sıkça tercih edilen bir yol.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e-posta gönderim hatasının nasıl izole edilmesi gerektiğini doğru ve yanlış örneklerle karşılaştırıyor. Doğru yaklaşımda: ödünç kaydı veritabanına başarıyla yazılır, ardından emailService.gonder() çağrılır - bu başarısız olabilir - ama bu başarısızlık yalnızca loglanır, hata fırlatılmaz, çünkü kayıt yine de geçerlidir. Sonuç olarak kullanıcıya 201 Created döner ve kullanıcı işlemin tamamlandığını görür; e-posta ana iş kuralının bir parçası değildir, yalnızca ek bir bildirimdir. Yanlış yaklaşımda ise aynı akış farklı sonuçlanır: kayıt veritabanına yazılır, ama e-posta sunucusu yavaş veya kesintili olduğu için gonderildiMi false döner ve kod bunu bir hata olarak fırlatır - halbuki veritabanındaki işlem zaten tamamlanmış ve geri alınamaz durumdadır. Sonuç olarak kullanıcıya hata dönülür, oysa kayıt veritabanında geçerli haldedir; ilgisiz bir alt sistemin (e-posta sağlayıcısının) geçici sorunu, asıl işlemi geçersiz kılmış olur. Genel kural şu: hesap doğrulama gibi zorunlu adımlarda gönderim sonucu asıl akışın parçasıdır ve orada retry uygulanabilir, ama bildirim amaçlı e-postalarda başarısızlık asla ana işlemi bloklamamalıdır.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öğrencinin bulması gereken dört hatayı içeren örnek bir kod parçası sunuyor: kitapKapagiYukleHatali fonksiyonu. Birinci hata path traversal riski: dosyaAdi parametresi doğrudan dosya yoluna eklenmiş, bu yüzden "../../gizli.txt" gibi bir değer hedef dizinin tamamen dışına çıkabilir. İkinci hata boyut sınırı eksikliği: boyut parametresi hiç kontrol edilmemiş, bu yüzden 999999999 gibi aşırı büyük bir değer sorgusuzca kabul ediliyor. Üçüncü hata zaman aşımı eksikliği: fetch çağrısına ne AbortController ne de başka bir zaman aşımı mekanizması eklenmiş - eğer doğrulama servisi hiç yanıt vermezse bu çağrı sonsuza dek askıda kalabilir. Dördüncü ve belki de en sinsi hata, await eksikliği: yanit.json() bir Promise döndürür, ama bu await edilmeden doğrudan return edilmiş, yani fonksiyon aslında çözülmemiş bir Promise nesnesini geri döndürüyor, gerçek veriyi değil. Bu dört hatanın hepsi, bölümde öğrenilen ilkelerin ihlalidir. Düzeltilmiş kod, aşırı büyük dosyayı diske hiç dokunmadan erken reddeden 400 yanıtı ve orijinal adı yola hiç eklemeyen güvenli ad üretimini birlikte uygular - bir sonraki sayfada bu düzeltmelerin izleme tablosunu göreceğiz.</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izleme tablosu, önceki sayfadaki hatalı koda üç farklı girdi verildiğinde ne olacağını adım adım gösteriyor. İlk satırda girdi ("../../gizli.txt", 999MB) gibi kötü niyetli bir değer; hatalı kod bunu doğrudan "./yuklemeler/../../gizli.txt" yoluna çevirir, bu hem path traversal hem de bellek taşması riski taşır. Düzeltilmiş yürütmede ise boyutBayt &gt; azamiBoyutBayt kontrolü devreye girer ve dosya diske hiç dokunmadan 400 hatasıyla erken reddedilir. İkinci satırda meşru bir girdi ("rapor.pdf", 1.2MB); hatalı koddaki risk burada çakışma ve isim enjeksiyonu olurdu, ama düzeltilmiş kodda guvenliDosyaAdiUret fonksiyonu bunu bir UUID'ye çevirir ve dosya 201 durum koduyla güvenle kaydedilir. Üçüncü satır ise askıda kalan bir API çağrısını temsil ediyor: fetch(url) çağrısında ne timeout ne de await var; sonuç olarak soket askıda kalır ve bekleyen bir Promise ortada kalır. Düzeltilmiş kod bu satırda fetch içermez çünkü zaman aşımı deseni ayrı bir sayfada (13. sayfa) ele alınmıştı; çıktı olarak dosya için 400 hatası dönerken, API dayanıklılığı ayrı bir desende çözülür. Bu üç satırın ortak kök nedeni açık: her üçünde de dış girdiye -dosya adı, boyut, ağ yanıtı- koşulsuz güven duyulmuştur.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bölümde öğrenilen tüm ilkeleri tek bir fonksiyonda birleştiren uçtan uca bir örnek gösteriyor: kitapKapagiYukleVeBilgilendir. Bu fonksiyon dosya güvenliği, yeniden denemeli bir ISBN servisi çağrısı ve e-posta bildirimini tek bir akışta birleştiriyor. Dört aşamalı bir boru hattı olarak çalışıyor: önce dosya güvenlik denetimi yapılır, geçersizse akış 400 hatasıyla erken sonlanır; ardından randomUUID() ile güvenli bir dosya adı üretilir; sonra yenidenDeneyerekCalistir fonksiyonu aracılığıyla ISBN servisi retry mantığıyla çağrılır; son olarak sonuç ne olursa olsun bir e-posta bildirimi gönderilir ve bu adımdaki hata izole edilir, akışı etkilemez. Retry detayında görülen sahteIsbnServisiCagir fonksiyonu, öğretim amacıyla ilk çağrıda bilinçli olarak bir GeciciHata fırlatacak şekilde tasarlanmış; retry mekanizması devreye girer ve ikinci denemede başarıyla sonuçlanır - bu, üstel geri çekilmenin pratikte nasıl işe yaradığını somut olarak gösteriyor. Örnek çıktıda görüldüğü gibi, e-posta yasemin@kutuphane.mehmetakif.edu.tr adresine gönderilir ve 201 durum koduyla birlikte kaydedilen dosyanın UUID adı ve kitap başlığı bilgisi döner. Bu tek fonksiyon, bölümün tüm beş öğrenme hedefinin bir arada nasıl uygulanacağının somut kanıtı niteliğinde.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üç yaygın yanılgıyı, arkalarındaki teknik gerçeği ve doğru mimari çözümü karşılaştırıyor. Birinci yanılgı: "Dosya yükleme güvenliğinde uzantıya (.jpg, .pdf) bakmak yeterlidir." Teknik gerçek şu ki, bir saldırgan zararlı bir çalıştırılabilir betiği (.sh, .exe) "guvenli.jpg" olarak adlandırıp gönderebilir; uzantı yalnızca bir isimdir, dosyanın gerçek içeriği hakkında hiçbir güvence sağlamaz. Mimari çözüm, ilk baytlardaki sihirli sayıların (magic number) ve gerçek MIME türünün doğrulanması, ayrıca dosyaların rastgele UUID adıyla saklanmasıdır. İkinci yanılgı: "Kayıt olduğunda e-posta gönderimini await ile ana akışta bekletmek doğaldır." Teknik gerçek: e-posta sunucusu yanıt vermediğinde kullanıcının kaydı 15 saniye sürebilir ya da bağlantı koparak işlem tamamen başarısız sayılabilir. Çözüm, gönderimin ana akıştan ayrılıp asenkron bir olay ya da mesaj kuyruğu üzerinden arka planda yürütülmesidir. Üçüncü yanılgı: "API çağrısı başarısız olduğunda sonsuz döngüde anında tekrar denemek kurtarır." Teknik gerçek: bu yaklaşım zaten zorlanan karşı servise fiilen bir DoS etkisi yapar ve yerel sunucunun soket havuzunu kilitler. Çözüm, sınırlı sayıda (örneğin en fazla 3) deneme, aralarında artan bekleme süresi (exponential backoff) ve mutlaka bir timeout tanımlamaktır. Bu üç yanılgı, sınavlarda ve gerçek kod incelemelerinde en sık karşılaşılan hatalı varsayımlardır.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uçtan uca mini uygulama olan kitapKapagiYukleVeBilgilendir fonksiyonunu geliştirmeniz için üç alıştırma sunuyor. Birinci alıştırma opsiyonel ISBN zenginleştirmesi üzerine: harici ISBN servisi tüm retry denemelerinden sonra da başarısız olursa, kapak yüklemesinin yine de kaydedilmesini sağlayan bir davranış eklemeniz isteniyor - bu, dış servis dayanıklılığı ile temel işlevselliğin nasıl ayrıştırılması gerektiğini pratikte deneyimlemenizi sağlar. İkinci alıştırma dosya adı uzunluk kuralı ekliyor: mevcut dosya güvenlik denetimine, dosya adının uzunluğunu sınırlayan yeni bir kural eklemeniz gerekiyor - bu, güvenlik kontrollerinin nasıl genişletilebilir tasarlandığını gösterir. Üçüncü alıştırma ise retry mekanizmasını daha gerçekçi bir senaryoda test etmenizi istiyor: SahteEmailService yerine, gönderimi her üçüncü denemede bilinçli olarak başarısız olan bir KararsizEmailService yazıp bunu retry mekanizmasıyla birleştirmeniz gerekiyor - bu alıştırma, geçici hata simülasyonu yaparak retry mantığının gerçekten çalıştığını doğrulamanızı sağlar.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dört kritik kuralını bir kontrol listesi olarak özetliyor. Dosya konusunda: içeriğe güvenin, beyana güvenmeyin - uzantı ve MIME beyanı tek başına yeterli değildir, magic number kontrolü, allowlist ve rastgele ad üretimi birlikte uygulanmalıdır. API konusunda: her çağrının bir üst sınırı olsun - zaman aşımı olmayan bir fetch çağrısı, sunucu soketlerini süresiz işgal edebilir ve tüm sistemi tıkayabilir. Retry konusunda: yalnızca geçici hatada ve sınırlı sayıda uygulanmalı - kalıcı hataları (400, 401 gibi) tekrar denemek sorunu çözmez, yalnızca kaynak tüketir. E-posta konusunda: asıl işlemi bloklamasın - bildirim amaçlı bir e-postanın başarısızlığı, zaten tamamlanmış bir işlemi asla geçersiz kılmamalıdır. Sınav notu bu dört kuralı tek cümlede birleştiriyor: dosya güvenliği içeriğe güvenmemekle, API dayanıklılığı timeout ve seçici retry ile, e-posta akışı ise izolasyonla kurulur. Bu dört madde, bölümdeki tüm teknik detayların pratik bir özeti niteliğinde.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altı temel kavramı işledik. Multipart/form-data, ikili dosya içeriğini metin alanlarıyla birlikte, base64'ün getirdiği yüzde 33'lük maliyet olmadan taşımanın yoludur. Dosya güvenliği, tür, boyut ve adın istemci beyanına değil sunucu tarafında yeniden değerlendirilmesini gerektirir. Harici REST API tüketiminde durumsuzluk ve idempotency kavramları, bir isteğin güvenle tekrarlanıp tekrarlanamayacağını belirler. Timeout, sunucunun bir dış çağrıya süresiz beklemesini önler ve AbortController ile uygulanır. Retry ise yalnızca geçici hatalarda, üstel geri çekilme ile sınırlı sayıda uygulanmalıdır. Son olarak e-posta bildirimi, asıl iş akışını bloklamayan, hatası ayrı ele alınan bir servis olarak tasarlanmalıdır. Bu altı kavramın ortak paydası sınav notunda özetleniyor: dış dünyayla her etkileşim, başarısız olabileceği varsayılarak tasarlanmalıdır. Kendi veritabanınızdaki bir işlem neredeyse her zaman başarılı olur; ama ağ, dosya sistemi ve e-posta sunucusu gibi dış kaynaklar öyle değildir - bu fark, bu bölümün tüm tasarım kararlarının temelini oluşturur.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Backend artık dış dünyayla dosya, API ve e-posta üzerinden güvenli biçimde konuşabiliyor. Artık dosyayı güvenli biçimde yükleyip doğrulayabilir, zaman aşımı, retry ve e-posta izolasyonunu tasarlayabilirsiniz. Sıradaki adım, bu davranışı belgelemek ve doğrulamaktır: bir sonraki bölüm OpenAPI belgeleme ve otomatik testler konusuna odaklanacak. Bu bölümde tanıttığımız Sonuc&lt;T&gt; deseni, yazılacak testlerin beklenen davranışını netleştirecek bir temel görevi görecek - çünkü bir fonksiyonun başarı ve başarısızlık durumlarını açıkça modellemesi, o fonksiyon için yazılacak test senaryolarının doğal sınırlarını da çizer. Kapanış notu, bu bölümün özünü bir kez daha vurguluyor: her dış etkileşimde sonucu açıkça modelleyin, bir üst sınır tanımlayın ve hatanın geçici mi kalıcı mı olduğunu ayırt edin. Bu üç ilke, yalnızca bu bölümdeki dosya, API ve e-posta senaryolarında değil, ilerideki her türlü dış sistem entegrasyonunda geçerliliğini koruyacak.</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12-files-email-external-api-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12-files-email-external-api-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12</a:t>
              </a:r>
            </a:p>
          </p:txBody>
        </p:sp>
      </p:grpSp>
      <p:grpSp>
        <p:nvGrpSpPr>
          <p:cNvPr id="8" name="cover-title"/>
          <p:cNvGrpSpPr/>
          <p:nvPr/>
        </p:nvGrpSpPr>
        <p:grpSpPr>
          <a:xfrm>
            <a:off x="4934712" y="1802130"/>
            <a:ext cx="4045077" cy="1808988"/>
            <a:chOff x="4934712" y="1802130"/>
            <a:chExt cx="4045077" cy="1808988"/>
          </a:xfrm>
        </p:grpSpPr>
        <p:sp>
          <p:nvSpPr>
            <p:cNvPr id="7" name="TextBox 7"/>
            <p:cNvSpPr txBox="1"/>
            <p:nvPr/>
          </p:nvSpPr>
          <p:spPr>
            <a:xfrm>
              <a:off x="4934712" y="1802130"/>
              <a:ext cx="4045077" cy="1808988"/>
            </a:xfrm>
            <a:prstGeom prst="rect">
              <a:avLst/>
            </a:prstGeom>
            <a:noFill/>
            <a:ln>
              <a:noFill/>
            </a:ln>
          </p:spPr>
          <p:txBody>
            <a:bodyPr wrap="none" lIns="0" tIns="0" rIns="0" bIns="0" anchor="t" anchorCtr="0">
              <a:spAutoFit/>
            </a:bodyPr>
            <a:lstStyle/>
            <a:p>
              <a:pPr algn="l">
                <a:lnSpc>
                  <a:spcPts val="4350"/>
                </a:lnSpc>
              </a:pPr>
              <a:r>
                <a:rPr lang="tr-TR" sz="3600" b="1" dirty="0">
                  <a:solidFill>
                    <a:srgbClr val="12355B"/>
                  </a:solidFill>
                  <a:latin typeface="+mj-lt"/>
                  <a:ea typeface="+mj-ea"/>
                  <a:cs typeface="+mj-cs"/>
                </a:rPr>
                <a:t>Dosya İşlemleri,</a:t>
              </a:r>
              <a:br/>
              <a:r>
                <a:rPr lang="tr-TR" sz="3600" b="1" dirty="0">
                  <a:solidFill>
                    <a:srgbClr val="12355B"/>
                  </a:solidFill>
                  <a:latin typeface="+mj-lt"/>
                  <a:ea typeface="+mj-ea"/>
                  <a:cs typeface="+mj-cs"/>
                </a:rPr>
                <a:t>E-posta ve Harici</a:t>
              </a:r>
              <a:br/>
              <a:r>
                <a:rPr lang="tr-TR" sz="3600" b="1" dirty="0">
                  <a:solidFill>
                    <a:srgbClr val="12355B"/>
                  </a:solidFill>
                  <a:latin typeface="+mj-lt"/>
                  <a:ea typeface="+mj-ea"/>
                  <a:cs typeface="+mj-cs"/>
                </a:rPr>
                <a:t>API Entegrasyonu</a:t>
              </a:r>
            </a:p>
          </p:txBody>
        </p:sp>
      </p:grpSp>
      <p:grpSp>
        <p:nvGrpSpPr>
          <p:cNvPr id="12" name="cover-subtitle"/>
          <p:cNvGrpSpPr/>
          <p:nvPr/>
        </p:nvGrpSpPr>
        <p:grpSpPr>
          <a:xfrm>
            <a:off x="4943094" y="4229100"/>
            <a:ext cx="4648390" cy="900018"/>
            <a:chOff x="4943094" y="4229100"/>
            <a:chExt cx="4648390" cy="900018"/>
          </a:xfrm>
        </p:grpSpPr>
        <p:sp>
          <p:nvSpPr>
            <p:cNvPr id="9" name="Rectangle 9"/>
            <p:cNvSpPr/>
            <p:nvPr/>
          </p:nvSpPr>
          <p:spPr>
            <a:xfrm>
              <a:off x="4953000" y="4229100"/>
              <a:ext cx="1143000" cy="38100"/>
            </a:xfrm>
            <a:prstGeom prst="rect">
              <a:avLst/>
            </a:prstGeom>
            <a:solidFill>
              <a:srgbClr val="00A6A6"/>
            </a:solidFill>
            <a:ln>
              <a:noFill/>
            </a:ln>
          </p:spPr>
        </p:sp>
        <p:sp>
          <p:nvSpPr>
            <p:cNvPr id="10" name="TextBox 10"/>
            <p:cNvSpPr txBox="1"/>
            <p:nvPr/>
          </p:nvSpPr>
          <p:spPr>
            <a:xfrm>
              <a:off x="4943094" y="436149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82107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9" name="chapter-goal"/>
          <p:cNvGrpSpPr/>
          <p:nvPr/>
        </p:nvGrpSpPr>
        <p:grpSpPr>
          <a:xfrm>
            <a:off x="609600" y="1181100"/>
            <a:ext cx="10972800" cy="952500"/>
            <a:chOff x="609600" y="1181100"/>
            <a:chExt cx="10972800" cy="952500"/>
          </a:xfrm>
        </p:grpSpPr>
        <p:sp>
          <p:nvSpPr>
            <p:cNvPr id="6" name="Rectangle 6"/>
            <p:cNvSpPr/>
            <p:nvPr/>
          </p:nvSpPr>
          <p:spPr>
            <a:xfrm>
              <a:off x="609600" y="1181100"/>
              <a:ext cx="10972800" cy="952500"/>
            </a:xfrm>
            <a:prstGeom prst="roundRect">
              <a:avLst>
                <a:gd name="adj" fmla="val 8000"/>
              </a:avLst>
            </a:prstGeom>
            <a:solidFill>
              <a:srgbClr val="EAF4F6"/>
            </a:solidFill>
            <a:ln>
              <a:noFill/>
            </a:ln>
          </p:spPr>
        </p:sp>
        <p:sp>
          <p:nvSpPr>
            <p:cNvPr id="7" name="TextBox 7"/>
            <p:cNvSpPr txBox="1"/>
            <p:nvPr/>
          </p:nvSpPr>
          <p:spPr>
            <a:xfrm>
              <a:off x="906399" y="1315879"/>
              <a:ext cx="16744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Bölüm Hedefi</a:t>
              </a:r>
            </a:p>
          </p:txBody>
        </p:sp>
        <p:sp>
          <p:nvSpPr>
            <p:cNvPr id="8" name="TextBox 8"/>
            <p:cNvSpPr txBox="1"/>
            <p:nvPr/>
          </p:nvSpPr>
          <p:spPr>
            <a:xfrm>
              <a:off x="906399" y="1582579"/>
              <a:ext cx="7731379" cy="536638"/>
            </a:xfrm>
            <a:prstGeom prst="rect">
              <a:avLst/>
            </a:prstGeom>
            <a:noFill/>
            <a:ln>
              <a:noFill/>
            </a:ln>
          </p:spPr>
          <p:txBody>
            <a:bodyPr wrap="none" lIns="0" tIns="0" rIns="0" bIns="0" anchor="t" anchorCtr="0">
              <a:spAutoFit/>
            </a:bodyPr>
            <a:lstStyle/>
            <a:p>
              <a:pPr algn="l">
                <a:lnSpc>
                  <a:spcPts val="1800"/>
                </a:lnSpc>
              </a:pPr>
              <a:r>
                <a:rPr lang="tr-TR" sz="1580" dirty="0">
                  <a:solidFill>
                    <a:srgbClr val="172B3A"/>
                  </a:solidFill>
                  <a:latin typeface="+mn-lt"/>
                  <a:ea typeface="+mn-ea"/>
                  <a:cs typeface="+mn-cs"/>
                </a:rPr>
                <a:t>Kütüphane API'si kitap kapağı yükleme, harici kitap bilgisi servisi ve son teslim</a:t>
              </a:r>
              <a:br/>
              <a:r>
                <a:rPr lang="tr-TR" sz="1580" dirty="0">
                  <a:solidFill>
                    <a:srgbClr val="172B3A"/>
                  </a:solidFill>
                  <a:latin typeface="+mn-lt"/>
                  <a:ea typeface="+mn-ea"/>
                  <a:cs typeface="+mn-cs"/>
                </a:rPr>
                <a:t>tarihi hatırlatma e-postası senaryolarıyla dış dünyaya açılacaktır.</a:t>
              </a:r>
            </a:p>
          </p:txBody>
        </p:sp>
      </p:grpSp>
      <p:grpSp>
        <p:nvGrpSpPr>
          <p:cNvPr id="11" name="roadmap-intro"/>
          <p:cNvGrpSpPr/>
          <p:nvPr/>
        </p:nvGrpSpPr>
        <p:grpSpPr>
          <a:xfrm>
            <a:off x="601599" y="2325529"/>
            <a:ext cx="4968445" cy="308039"/>
            <a:chOff x="601599" y="2325529"/>
            <a:chExt cx="4968445" cy="308039"/>
          </a:xfrm>
        </p:grpSpPr>
        <p:sp>
          <p:nvSpPr>
            <p:cNvPr id="10" name="TextBox 10"/>
            <p:cNvSpPr txBox="1"/>
            <p:nvPr/>
          </p:nvSpPr>
          <p:spPr>
            <a:xfrm>
              <a:off x="601599" y="2325529"/>
              <a:ext cx="496844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soruları aklınızda tutun:</a:t>
              </a:r>
            </a:p>
          </p:txBody>
        </p:sp>
      </p:grpSp>
      <p:grpSp>
        <p:nvGrpSpPr>
          <p:cNvPr id="15" name="roadmap-q1"/>
          <p:cNvGrpSpPr/>
          <p:nvPr/>
        </p:nvGrpSpPr>
        <p:grpSpPr>
          <a:xfrm>
            <a:off x="609600" y="2667000"/>
            <a:ext cx="9110167" cy="443484"/>
            <a:chOff x="609600" y="2667000"/>
            <a:chExt cx="9110167" cy="443484"/>
          </a:xfrm>
        </p:grpSpPr>
        <p:sp>
          <p:nvSpPr>
            <p:cNvPr id="12" name="Ellipse 12"/>
            <p:cNvSpPr/>
            <p:nvPr/>
          </p:nvSpPr>
          <p:spPr>
            <a:xfrm>
              <a:off x="609600" y="2667000"/>
              <a:ext cx="419100" cy="419100"/>
            </a:xfrm>
            <a:prstGeom prst="ellipse">
              <a:avLst/>
            </a:prstGeom>
            <a:solidFill>
              <a:srgbClr val="12355B"/>
            </a:solidFill>
            <a:ln>
              <a:noFill/>
            </a:ln>
          </p:spPr>
        </p:sp>
        <p:sp>
          <p:nvSpPr>
            <p:cNvPr id="13" name="TextBox 13"/>
            <p:cNvSpPr txBox="1"/>
            <p:nvPr/>
          </p:nvSpPr>
          <p:spPr>
            <a:xfrm>
              <a:off x="749732" y="27827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14" name="TextBox 14"/>
            <p:cNvSpPr txBox="1"/>
            <p:nvPr/>
          </p:nvSpPr>
          <p:spPr>
            <a:xfrm>
              <a:off x="1229106" y="2758440"/>
              <a:ext cx="8490661"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Multipart/form-data isteği JSON isteğinden hangi açılardan farklıdır?</a:t>
              </a:r>
            </a:p>
          </p:txBody>
        </p:sp>
      </p:grpSp>
      <p:grpSp>
        <p:nvGrpSpPr>
          <p:cNvPr id="19" name="roadmap-q2"/>
          <p:cNvGrpSpPr/>
          <p:nvPr/>
        </p:nvGrpSpPr>
        <p:grpSpPr>
          <a:xfrm>
            <a:off x="609600" y="3390900"/>
            <a:ext cx="9972359" cy="443484"/>
            <a:chOff x="609600" y="3390900"/>
            <a:chExt cx="9972359" cy="443484"/>
          </a:xfrm>
        </p:grpSpPr>
        <p:sp>
          <p:nvSpPr>
            <p:cNvPr id="16" name="Ellipse 16"/>
            <p:cNvSpPr/>
            <p:nvPr/>
          </p:nvSpPr>
          <p:spPr>
            <a:xfrm>
              <a:off x="609600" y="3390900"/>
              <a:ext cx="419100" cy="419100"/>
            </a:xfrm>
            <a:prstGeom prst="ellipse">
              <a:avLst/>
            </a:prstGeom>
            <a:solidFill>
              <a:srgbClr val="12355B"/>
            </a:solidFill>
            <a:ln>
              <a:noFill/>
            </a:ln>
          </p:spPr>
        </p:sp>
        <p:sp>
          <p:nvSpPr>
            <p:cNvPr id="17" name="TextBox 17"/>
            <p:cNvSpPr txBox="1"/>
            <p:nvPr/>
          </p:nvSpPr>
          <p:spPr>
            <a:xfrm>
              <a:off x="749732" y="35066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18" name="TextBox 18"/>
            <p:cNvSpPr txBox="1"/>
            <p:nvPr/>
          </p:nvSpPr>
          <p:spPr>
            <a:xfrm>
              <a:off x="1229106" y="3482340"/>
              <a:ext cx="9352853"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Yüklenen dosyanın adı, uzantısı veya MIME türü neden tek başına güvenilmez?</a:t>
              </a:r>
            </a:p>
          </p:txBody>
        </p:sp>
      </p:grpSp>
      <p:grpSp>
        <p:nvGrpSpPr>
          <p:cNvPr id="23" name="roadmap-q3"/>
          <p:cNvGrpSpPr/>
          <p:nvPr/>
        </p:nvGrpSpPr>
        <p:grpSpPr>
          <a:xfrm>
            <a:off x="609600" y="4114800"/>
            <a:ext cx="8012564" cy="443484"/>
            <a:chOff x="609600" y="4114800"/>
            <a:chExt cx="8012564" cy="443484"/>
          </a:xfrm>
        </p:grpSpPr>
        <p:sp>
          <p:nvSpPr>
            <p:cNvPr id="20" name="Ellipse 20"/>
            <p:cNvSpPr/>
            <p:nvPr/>
          </p:nvSpPr>
          <p:spPr>
            <a:xfrm>
              <a:off x="609600" y="4114800"/>
              <a:ext cx="419100" cy="419100"/>
            </a:xfrm>
            <a:prstGeom prst="ellipse">
              <a:avLst/>
            </a:prstGeom>
            <a:solidFill>
              <a:srgbClr val="12355B"/>
            </a:solidFill>
            <a:ln>
              <a:noFill/>
            </a:ln>
          </p:spPr>
        </p:sp>
        <p:sp>
          <p:nvSpPr>
            <p:cNvPr id="21" name="TextBox 21"/>
            <p:cNvSpPr txBox="1"/>
            <p:nvPr/>
          </p:nvSpPr>
          <p:spPr>
            <a:xfrm>
              <a:off x="749732" y="42305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22" name="TextBox 22"/>
            <p:cNvSpPr txBox="1"/>
            <p:nvPr/>
          </p:nvSpPr>
          <p:spPr>
            <a:xfrm>
              <a:off x="1229106" y="4206240"/>
              <a:ext cx="7393058"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Bir harici API çağrısında zaman aşımı tanımlanmazsa ne olur?</a:t>
              </a:r>
            </a:p>
          </p:txBody>
        </p:sp>
      </p:grpSp>
      <p:grpSp>
        <p:nvGrpSpPr>
          <p:cNvPr id="27" name="roadmap-q4"/>
          <p:cNvGrpSpPr/>
          <p:nvPr/>
        </p:nvGrpSpPr>
        <p:grpSpPr>
          <a:xfrm>
            <a:off x="609600" y="4838700"/>
            <a:ext cx="7661474" cy="443484"/>
            <a:chOff x="609600" y="4838700"/>
            <a:chExt cx="7661474" cy="443484"/>
          </a:xfrm>
        </p:grpSpPr>
        <p:sp>
          <p:nvSpPr>
            <p:cNvPr id="24" name="Ellipse 24"/>
            <p:cNvSpPr/>
            <p:nvPr/>
          </p:nvSpPr>
          <p:spPr>
            <a:xfrm>
              <a:off x="609600" y="4838700"/>
              <a:ext cx="419100" cy="419100"/>
            </a:xfrm>
            <a:prstGeom prst="ellipse">
              <a:avLst/>
            </a:prstGeom>
            <a:solidFill>
              <a:srgbClr val="12355B"/>
            </a:solidFill>
            <a:ln>
              <a:noFill/>
            </a:ln>
          </p:spPr>
        </p:sp>
        <p:sp>
          <p:nvSpPr>
            <p:cNvPr id="25" name="TextBox 25"/>
            <p:cNvSpPr txBox="1"/>
            <p:nvPr/>
          </p:nvSpPr>
          <p:spPr>
            <a:xfrm>
              <a:off x="749732" y="49544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4</a:t>
              </a:r>
            </a:p>
          </p:txBody>
        </p:sp>
        <p:sp>
          <p:nvSpPr>
            <p:cNvPr id="26" name="TextBox 26"/>
            <p:cNvSpPr txBox="1"/>
            <p:nvPr/>
          </p:nvSpPr>
          <p:spPr>
            <a:xfrm>
              <a:off x="1229106" y="4930140"/>
              <a:ext cx="7041968"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Yeniden deneme (retry) her hata türü için mantıklı mıdır?</a:t>
              </a:r>
            </a:p>
          </p:txBody>
        </p:sp>
      </p:grpSp>
      <p:grpSp>
        <p:nvGrpSpPr>
          <p:cNvPr id="31" name="roadmap-q5"/>
          <p:cNvGrpSpPr/>
          <p:nvPr/>
        </p:nvGrpSpPr>
        <p:grpSpPr>
          <a:xfrm>
            <a:off x="609600" y="5562600"/>
            <a:ext cx="10120236" cy="443484"/>
            <a:chOff x="609600" y="5562600"/>
            <a:chExt cx="10120236" cy="443484"/>
          </a:xfrm>
        </p:grpSpPr>
        <p:sp>
          <p:nvSpPr>
            <p:cNvPr id="28" name="Ellipse 28"/>
            <p:cNvSpPr/>
            <p:nvPr/>
          </p:nvSpPr>
          <p:spPr>
            <a:xfrm>
              <a:off x="609600" y="5562600"/>
              <a:ext cx="419100" cy="419100"/>
            </a:xfrm>
            <a:prstGeom prst="ellipse">
              <a:avLst/>
            </a:prstGeom>
            <a:solidFill>
              <a:srgbClr val="12355B"/>
            </a:solidFill>
            <a:ln>
              <a:noFill/>
            </a:ln>
          </p:spPr>
        </p:sp>
        <p:sp>
          <p:nvSpPr>
            <p:cNvPr id="29" name="TextBox 29"/>
            <p:cNvSpPr txBox="1"/>
            <p:nvPr/>
          </p:nvSpPr>
          <p:spPr>
            <a:xfrm>
              <a:off x="749732" y="56783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5</a:t>
              </a:r>
            </a:p>
          </p:txBody>
        </p:sp>
        <p:sp>
          <p:nvSpPr>
            <p:cNvPr id="30" name="TextBox 30"/>
            <p:cNvSpPr txBox="1"/>
            <p:nvPr/>
          </p:nvSpPr>
          <p:spPr>
            <a:xfrm>
              <a:off x="1229106" y="5654040"/>
              <a:ext cx="9500730"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E-posta gönderimi neden genellikle asenkron, bloklamayan bir akışla tasarlanır?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520190"/>
            <a:ext cx="8538523" cy="637128"/>
            <a:chOff x="685800" y="1520190"/>
            <a:chExt cx="8538523" cy="637128"/>
          </a:xfrm>
        </p:grpSpPr>
        <p:sp>
          <p:nvSpPr>
            <p:cNvPr id="6" name="Rectangle 6"/>
            <p:cNvSpPr/>
            <p:nvPr/>
          </p:nvSpPr>
          <p:spPr>
            <a:xfrm>
              <a:off x="685800" y="1524000"/>
              <a:ext cx="57150" cy="495300"/>
            </a:xfrm>
            <a:prstGeom prst="rect">
              <a:avLst/>
            </a:prstGeom>
            <a:solidFill>
              <a:srgbClr val="00A6A6"/>
            </a:solidFill>
            <a:ln>
              <a:noFill/>
            </a:ln>
          </p:spPr>
        </p:sp>
        <p:sp>
          <p:nvSpPr>
            <p:cNvPr id="7" name="TextBox 7"/>
            <p:cNvSpPr txBox="1"/>
            <p:nvPr/>
          </p:nvSpPr>
          <p:spPr>
            <a:xfrm>
              <a:off x="981456" y="1520190"/>
              <a:ext cx="655001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Multipart/form-data isteğini JSON'dan ayırt etmek</a:t>
              </a:r>
            </a:p>
          </p:txBody>
        </p:sp>
        <p:sp>
          <p:nvSpPr>
            <p:cNvPr id="8" name="TextBox 8"/>
            <p:cNvSpPr txBox="1"/>
            <p:nvPr/>
          </p:nvSpPr>
          <p:spPr>
            <a:xfrm>
              <a:off x="982599" y="1849279"/>
              <a:ext cx="824172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dosya alanlarına (ad, boyut, MIME türü, ikili içerik) programatik erişim</a:t>
              </a:r>
            </a:p>
          </p:txBody>
        </p:sp>
      </p:grpSp>
      <p:grpSp>
        <p:nvGrpSpPr>
          <p:cNvPr id="13" name="objective-2"/>
          <p:cNvGrpSpPr/>
          <p:nvPr/>
        </p:nvGrpSpPr>
        <p:grpSpPr>
          <a:xfrm>
            <a:off x="685800" y="2510790"/>
            <a:ext cx="8476621" cy="637128"/>
            <a:chOff x="685800" y="2510790"/>
            <a:chExt cx="8476621" cy="637128"/>
          </a:xfrm>
        </p:grpSpPr>
        <p:sp>
          <p:nvSpPr>
            <p:cNvPr id="10" name="Rectangle 10"/>
            <p:cNvSpPr/>
            <p:nvPr/>
          </p:nvSpPr>
          <p:spPr>
            <a:xfrm>
              <a:off x="685800" y="2514600"/>
              <a:ext cx="57150" cy="495300"/>
            </a:xfrm>
            <a:prstGeom prst="rect">
              <a:avLst/>
            </a:prstGeom>
            <a:solidFill>
              <a:srgbClr val="00A6A6"/>
            </a:solidFill>
            <a:ln>
              <a:noFill/>
            </a:ln>
          </p:spPr>
        </p:sp>
        <p:sp>
          <p:nvSpPr>
            <p:cNvPr id="11" name="TextBox 11"/>
            <p:cNvSpPr txBox="1"/>
            <p:nvPr/>
          </p:nvSpPr>
          <p:spPr>
            <a:xfrm>
              <a:off x="981456" y="2510790"/>
              <a:ext cx="580167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Dosya yükleme güvenlik kontrollerini uygulamak</a:t>
              </a:r>
            </a:p>
          </p:txBody>
        </p:sp>
        <p:sp>
          <p:nvSpPr>
            <p:cNvPr id="12" name="TextBox 12"/>
            <p:cNvSpPr txBox="1"/>
            <p:nvPr/>
          </p:nvSpPr>
          <p:spPr>
            <a:xfrm>
              <a:off x="982599" y="2839879"/>
              <a:ext cx="817982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allowlist, boyut sınırı ve güvenli dosya adı üretimini birlikte kullanmak</a:t>
              </a:r>
            </a:p>
          </p:txBody>
        </p:sp>
      </p:grpSp>
      <p:grpSp>
        <p:nvGrpSpPr>
          <p:cNvPr id="17" name="objective-3"/>
          <p:cNvGrpSpPr/>
          <p:nvPr/>
        </p:nvGrpSpPr>
        <p:grpSpPr>
          <a:xfrm>
            <a:off x="685800" y="3501390"/>
            <a:ext cx="6714627" cy="637128"/>
            <a:chOff x="685800" y="3501390"/>
            <a:chExt cx="6714627" cy="637128"/>
          </a:xfrm>
        </p:grpSpPr>
        <p:sp>
          <p:nvSpPr>
            <p:cNvPr id="14" name="Rectangle 14"/>
            <p:cNvSpPr/>
            <p:nvPr/>
          </p:nvSpPr>
          <p:spPr>
            <a:xfrm>
              <a:off x="685800" y="3505200"/>
              <a:ext cx="57150" cy="495300"/>
            </a:xfrm>
            <a:prstGeom prst="rect">
              <a:avLst/>
            </a:prstGeom>
            <a:solidFill>
              <a:srgbClr val="00A6A6"/>
            </a:solidFill>
            <a:ln>
              <a:noFill/>
            </a:ln>
          </p:spPr>
        </p:sp>
        <p:sp>
          <p:nvSpPr>
            <p:cNvPr id="15" name="TextBox 15"/>
            <p:cNvSpPr txBox="1"/>
            <p:nvPr/>
          </p:nvSpPr>
          <p:spPr>
            <a:xfrm>
              <a:off x="981456" y="3501390"/>
              <a:ext cx="544525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Harici API çağrılarına zaman aşımı eklemek</a:t>
              </a:r>
            </a:p>
          </p:txBody>
        </p:sp>
        <p:sp>
          <p:nvSpPr>
            <p:cNvPr id="16" name="TextBox 16"/>
            <p:cNvSpPr txBox="1"/>
            <p:nvPr/>
          </p:nvSpPr>
          <p:spPr>
            <a:xfrm>
              <a:off x="982599" y="3830479"/>
              <a:ext cx="641782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fetch ve AbortController ile süre sınırlı istek kurmak</a:t>
              </a:r>
            </a:p>
          </p:txBody>
        </p:sp>
      </p:grpSp>
      <p:grpSp>
        <p:nvGrpSpPr>
          <p:cNvPr id="21" name="objective-4"/>
          <p:cNvGrpSpPr/>
          <p:nvPr/>
        </p:nvGrpSpPr>
        <p:grpSpPr>
          <a:xfrm>
            <a:off x="685800" y="4491990"/>
            <a:ext cx="7966447" cy="637128"/>
            <a:chOff x="685800" y="4491990"/>
            <a:chExt cx="7966447" cy="637128"/>
          </a:xfrm>
        </p:grpSpPr>
        <p:sp>
          <p:nvSpPr>
            <p:cNvPr id="18" name="Rectangle 18"/>
            <p:cNvSpPr/>
            <p:nvPr/>
          </p:nvSpPr>
          <p:spPr>
            <a:xfrm>
              <a:off x="685800" y="4495800"/>
              <a:ext cx="57150" cy="495300"/>
            </a:xfrm>
            <a:prstGeom prst="rect">
              <a:avLst/>
            </a:prstGeom>
            <a:solidFill>
              <a:srgbClr val="00A6A6"/>
            </a:solidFill>
            <a:ln>
              <a:noFill/>
            </a:ln>
          </p:spPr>
        </p:sp>
        <p:sp>
          <p:nvSpPr>
            <p:cNvPr id="19" name="TextBox 19"/>
            <p:cNvSpPr txBox="1"/>
            <p:nvPr/>
          </p:nvSpPr>
          <p:spPr>
            <a:xfrm>
              <a:off x="981456" y="4491990"/>
              <a:ext cx="608173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Geçici hatalarda seçici yeniden deneme uygulamak</a:t>
              </a:r>
            </a:p>
          </p:txBody>
        </p:sp>
        <p:sp>
          <p:nvSpPr>
            <p:cNvPr id="20" name="TextBox 20"/>
            <p:cNvSpPr txBox="1"/>
            <p:nvPr/>
          </p:nvSpPr>
          <p:spPr>
            <a:xfrm>
              <a:off x="982599" y="4821079"/>
              <a:ext cx="766964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üstel geri çekilme kullanmak, kalıcı hatalarda retry'dan kaçınmak</a:t>
              </a:r>
            </a:p>
          </p:txBody>
        </p:sp>
      </p:grpSp>
      <p:grpSp>
        <p:nvGrpSpPr>
          <p:cNvPr id="25" name="objective-5"/>
          <p:cNvGrpSpPr/>
          <p:nvPr/>
        </p:nvGrpSpPr>
        <p:grpSpPr>
          <a:xfrm>
            <a:off x="685800" y="5482590"/>
            <a:ext cx="8423713" cy="637128"/>
            <a:chOff x="685800" y="5482590"/>
            <a:chExt cx="8423713" cy="637128"/>
          </a:xfrm>
        </p:grpSpPr>
        <p:sp>
          <p:nvSpPr>
            <p:cNvPr id="22" name="Rectangle 22"/>
            <p:cNvSpPr/>
            <p:nvPr/>
          </p:nvSpPr>
          <p:spPr>
            <a:xfrm>
              <a:off x="685800" y="5486400"/>
              <a:ext cx="57150" cy="495300"/>
            </a:xfrm>
            <a:prstGeom prst="rect">
              <a:avLst/>
            </a:prstGeom>
            <a:solidFill>
              <a:srgbClr val="00A6A6"/>
            </a:solidFill>
            <a:ln>
              <a:noFill/>
            </a:ln>
          </p:spPr>
        </p:sp>
        <p:sp>
          <p:nvSpPr>
            <p:cNvPr id="23" name="TextBox 23"/>
            <p:cNvSpPr txBox="1"/>
            <p:nvPr/>
          </p:nvSpPr>
          <p:spPr>
            <a:xfrm>
              <a:off x="981456" y="5482590"/>
              <a:ext cx="57767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E-posta gönderimini asıl akıştan ayrıştırmak</a:t>
              </a:r>
            </a:p>
          </p:txBody>
        </p:sp>
        <p:sp>
          <p:nvSpPr>
            <p:cNvPr id="24" name="TextBox 24"/>
            <p:cNvSpPr txBox="1"/>
            <p:nvPr/>
          </p:nvSpPr>
          <p:spPr>
            <a:xfrm>
              <a:off x="982599" y="5811679"/>
              <a:ext cx="812691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gönderim hatasının isteğin tamamını başarısız kılmamasını sağlamak</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803151" cy="668845"/>
            <a:chOff x="609600" y="171450"/>
            <a:chExt cx="7803151"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71127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altı temel kavram</a:t>
              </a:r>
            </a:p>
          </p:txBody>
        </p:sp>
      </p:grpSp>
      <p:grpSp>
        <p:nvGrpSpPr>
          <p:cNvPr id="51" name="concept-map"/>
          <p:cNvGrpSpPr/>
          <p:nvPr/>
        </p:nvGrpSpPr>
        <p:grpSpPr>
          <a:xfrm>
            <a:off x="685800" y="1219200"/>
            <a:ext cx="10896600" cy="4886706"/>
            <a:chOff x="685800" y="1219200"/>
            <a:chExt cx="10896600" cy="4886706"/>
          </a:xfrm>
        </p:grpSpPr>
        <p:grpSp>
          <p:nvGrpSpPr>
            <p:cNvPr id="22" name="Group 22"/>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20" name="Line 20"/>
              <p:cNvSpPr/>
              <p:nvPr/>
            </p:nvSpPr>
            <p:spPr>
              <a:xfrm flipV="1">
                <a:off x="6477000" y="3981450"/>
                <a:ext cx="1" cy="190500"/>
              </a:xfrm>
              <a:prstGeom prst="line">
                <a:avLst/>
              </a:prstGeom>
              <a:noFill/>
              <a:ln w="19050">
                <a:solidFill>
                  <a:srgbClr val="52616B"/>
                </a:solidFill>
                <a:custDash>
                  <a:ds d="300000" sp="200000"/>
                </a:custDash>
                <a:tailEnd type="arrow" w="lg" len="lg"/>
              </a:ln>
            </p:spPr>
          </p:sp>
          <p:sp>
            <p:nvSpPr>
              <p:cNvPr id="21" name="Line 21"/>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5" name="map-hub"/>
            <p:cNvGrpSpPr/>
            <p:nvPr/>
          </p:nvGrpSpPr>
          <p:grpSpPr>
            <a:xfrm>
              <a:off x="685800" y="2381250"/>
              <a:ext cx="2381250" cy="1435417"/>
              <a:chOff x="685800" y="2381250"/>
              <a:chExt cx="2381250" cy="1435417"/>
            </a:xfrm>
          </p:grpSpPr>
          <p:sp>
            <p:nvSpPr>
              <p:cNvPr id="23" name="Rectangle 23"/>
              <p:cNvSpPr/>
              <p:nvPr/>
            </p:nvSpPr>
            <p:spPr>
              <a:xfrm>
                <a:off x="685800" y="2381250"/>
                <a:ext cx="2381250" cy="1428750"/>
              </a:xfrm>
              <a:prstGeom prst="roundRect">
                <a:avLst>
                  <a:gd name="adj" fmla="val 6667"/>
                </a:avLst>
              </a:prstGeom>
              <a:solidFill>
                <a:srgbClr val="12355B"/>
              </a:solidFill>
              <a:ln>
                <a:noFill/>
              </a:ln>
            </p:spPr>
          </p:sp>
          <p:sp>
            <p:nvSpPr>
              <p:cNvPr id="24" name="TextBox 24"/>
              <p:cNvSpPr txBox="1"/>
              <p:nvPr/>
            </p:nvSpPr>
            <p:spPr>
              <a:xfrm>
                <a:off x="941070" y="2614612"/>
                <a:ext cx="2078117" cy="1202055"/>
              </a:xfrm>
              <a:prstGeom prst="rect">
                <a:avLst/>
              </a:prstGeom>
              <a:noFill/>
              <a:ln>
                <a:noFill/>
              </a:ln>
            </p:spPr>
            <p:txBody>
              <a:bodyPr wrap="none" lIns="0" tIns="0" rIns="0" bIns="0" anchor="t" anchorCtr="0">
                <a:spAutoFit/>
              </a:bodyPr>
              <a:lstStyle/>
              <a:p>
                <a:pPr algn="l">
                  <a:lnSpc>
                    <a:spcPts val="3000"/>
                  </a:lnSpc>
                </a:pPr>
                <a:r>
                  <a:rPr lang="tr-TR" sz="2250" b="1" dirty="0">
                    <a:solidFill>
                      <a:srgbClr val="FFFFFF"/>
                    </a:solidFill>
                    <a:latin typeface="+mn-lt"/>
                    <a:ea typeface="+mn-ea"/>
                    <a:cs typeface="+mn-cs"/>
                  </a:rPr>
                  <a:t>Multipart</a:t>
                </a:r>
                <a:br/>
                <a:r>
                  <a:rPr lang="tr-TR" sz="2250" b="1" dirty="0">
                    <a:solidFill>
                      <a:srgbClr val="FFFFFF"/>
                    </a:solidFill>
                    <a:latin typeface="+mn-lt"/>
                    <a:ea typeface="+mn-ea"/>
                    <a:cs typeface="+mn-cs"/>
                  </a:rPr>
                  <a:t>/form-data</a:t>
                </a:r>
                <a:br/>
                <a:r>
                  <a:rPr lang="tr-TR" sz="2250" b="1" dirty="0">
                    <a:solidFill>
                      <a:srgbClr val="FFFFFF"/>
                    </a:solidFill>
                    <a:latin typeface="+mn-lt"/>
                    <a:ea typeface="+mn-ea"/>
                    <a:cs typeface="+mn-cs"/>
                  </a:rPr>
                  <a:t>dosya yükleme</a:t>
                </a:r>
              </a:p>
            </p:txBody>
          </p:sp>
        </p:grpSp>
        <p:grpSp>
          <p:nvGrpSpPr>
            <p:cNvPr id="29" name="map-node-security"/>
            <p:cNvGrpSpPr/>
            <p:nvPr/>
          </p:nvGrpSpPr>
          <p:grpSpPr>
            <a:xfrm>
              <a:off x="4572000" y="1219200"/>
              <a:ext cx="3810000" cy="723900"/>
              <a:chOff x="4572000" y="1219200"/>
              <a:chExt cx="3810000" cy="723900"/>
            </a:xfrm>
          </p:grpSpPr>
          <p:sp>
            <p:nvSpPr>
              <p:cNvPr id="26" name="Rectangle 26"/>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7" name="TextBox 27"/>
              <p:cNvSpPr txBox="1"/>
              <p:nvPr/>
            </p:nvSpPr>
            <p:spPr>
              <a:xfrm>
                <a:off x="4791456" y="1329690"/>
                <a:ext cx="18703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Dosya güvenliği</a:t>
                </a:r>
              </a:p>
            </p:txBody>
          </p:sp>
          <p:sp>
            <p:nvSpPr>
              <p:cNvPr id="28" name="TextBox 28"/>
              <p:cNvSpPr txBox="1"/>
              <p:nvPr/>
            </p:nvSpPr>
            <p:spPr>
              <a:xfrm>
                <a:off x="4792599" y="1601629"/>
                <a:ext cx="357872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allowlist ve magic number denetimi</a:t>
                </a:r>
              </a:p>
            </p:txBody>
          </p:sp>
        </p:grpSp>
        <p:grpSp>
          <p:nvGrpSpPr>
            <p:cNvPr id="33" name="map-node-restapi"/>
            <p:cNvGrpSpPr/>
            <p:nvPr/>
          </p:nvGrpSpPr>
          <p:grpSpPr>
            <a:xfrm>
              <a:off x="4572000" y="2209800"/>
              <a:ext cx="3810000" cy="723900"/>
              <a:chOff x="4572000" y="2209800"/>
              <a:chExt cx="3810000" cy="723900"/>
            </a:xfrm>
          </p:grpSpPr>
          <p:sp>
            <p:nvSpPr>
              <p:cNvPr id="30" name="Rectangle 30"/>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1" name="TextBox 31"/>
              <p:cNvSpPr txBox="1"/>
              <p:nvPr/>
            </p:nvSpPr>
            <p:spPr>
              <a:xfrm>
                <a:off x="4791456" y="2320290"/>
                <a:ext cx="298135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Harici REST API tüketimi</a:t>
                </a:r>
              </a:p>
            </p:txBody>
          </p:sp>
          <p:sp>
            <p:nvSpPr>
              <p:cNvPr id="32" name="TextBox 32"/>
              <p:cNvSpPr txBox="1"/>
              <p:nvPr/>
            </p:nvSpPr>
            <p:spPr>
              <a:xfrm>
                <a:off x="4792599" y="2592229"/>
                <a:ext cx="305760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kitap bilgisi servisini çağırır</a:t>
                </a:r>
              </a:p>
            </p:txBody>
          </p:sp>
        </p:grpSp>
        <p:grpSp>
          <p:nvGrpSpPr>
            <p:cNvPr id="37" name="map-node-timeout"/>
            <p:cNvGrpSpPr/>
            <p:nvPr/>
          </p:nvGrpSpPr>
          <p:grpSpPr>
            <a:xfrm>
              <a:off x="4572000" y="3200400"/>
              <a:ext cx="3865286" cy="723900"/>
              <a:chOff x="4572000" y="3200400"/>
              <a:chExt cx="3865286" cy="723900"/>
            </a:xfrm>
          </p:grpSpPr>
          <p:sp>
            <p:nvSpPr>
              <p:cNvPr id="34" name="Rectangle 34"/>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5" name="TextBox 35"/>
              <p:cNvSpPr txBox="1"/>
              <p:nvPr/>
            </p:nvSpPr>
            <p:spPr>
              <a:xfrm>
                <a:off x="4791456" y="3310890"/>
                <a:ext cx="160469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Zaman aşımı</a:t>
                </a:r>
              </a:p>
            </p:txBody>
          </p:sp>
          <p:sp>
            <p:nvSpPr>
              <p:cNvPr id="36" name="TextBox 36"/>
              <p:cNvSpPr txBox="1"/>
              <p:nvPr/>
            </p:nvSpPr>
            <p:spPr>
              <a:xfrm>
                <a:off x="4792599" y="3582829"/>
                <a:ext cx="364468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AbortController ile süreyi sınırlar</a:t>
                </a:r>
              </a:p>
            </p:txBody>
          </p:sp>
        </p:grpSp>
        <p:grpSp>
          <p:nvGrpSpPr>
            <p:cNvPr id="41" name="map-node-retry"/>
            <p:cNvGrpSpPr/>
            <p:nvPr/>
          </p:nvGrpSpPr>
          <p:grpSpPr>
            <a:xfrm>
              <a:off x="4572000" y="4191000"/>
              <a:ext cx="3810000" cy="723900"/>
              <a:chOff x="4572000" y="4191000"/>
              <a:chExt cx="3810000" cy="723900"/>
            </a:xfrm>
          </p:grpSpPr>
          <p:sp>
            <p:nvSpPr>
              <p:cNvPr id="38" name="Rectangle 38"/>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9" name="TextBox 39"/>
              <p:cNvSpPr txBox="1"/>
              <p:nvPr/>
            </p:nvSpPr>
            <p:spPr>
              <a:xfrm>
                <a:off x="4791456" y="4301490"/>
                <a:ext cx="22141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Üstel geri çekilme</a:t>
                </a:r>
              </a:p>
            </p:txBody>
          </p:sp>
          <p:sp>
            <p:nvSpPr>
              <p:cNvPr id="40" name="TextBox 40"/>
              <p:cNvSpPr txBox="1"/>
              <p:nvPr/>
            </p:nvSpPr>
            <p:spPr>
              <a:xfrm>
                <a:off x="4792599" y="4573429"/>
                <a:ext cx="351491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geçici hatada seçici yeniden dener</a:t>
                </a:r>
              </a:p>
            </p:txBody>
          </p:sp>
        </p:grpSp>
        <p:grpSp>
          <p:nvGrpSpPr>
            <p:cNvPr id="45" name="map-node-email"/>
            <p:cNvGrpSpPr/>
            <p:nvPr/>
          </p:nvGrpSpPr>
          <p:grpSpPr>
            <a:xfrm>
              <a:off x="4572000" y="5334000"/>
              <a:ext cx="7010400" cy="723900"/>
              <a:chOff x="4572000" y="5334000"/>
              <a:chExt cx="7010400" cy="723900"/>
            </a:xfrm>
          </p:grpSpPr>
          <p:sp>
            <p:nvSpPr>
              <p:cNvPr id="42" name="Rectangle 42"/>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3" name="TextBox 43"/>
              <p:cNvSpPr txBox="1"/>
              <p:nvPr/>
            </p:nvSpPr>
            <p:spPr>
              <a:xfrm>
                <a:off x="4791456" y="5444490"/>
                <a:ext cx="207419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E-posta bildirimi</a:t>
                </a:r>
              </a:p>
            </p:txBody>
          </p:sp>
          <p:sp>
            <p:nvSpPr>
              <p:cNvPr id="44" name="TextBox 44"/>
              <p:cNvSpPr txBox="1"/>
              <p:nvPr/>
            </p:nvSpPr>
            <p:spPr>
              <a:xfrm>
                <a:off x="4792599" y="5716429"/>
                <a:ext cx="564190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asıl akıştan ayrı, hataya dayanıklı şekilde gönderilir</a:t>
                </a:r>
              </a:p>
            </p:txBody>
          </p:sp>
        </p:grpSp>
        <p:grpSp>
          <p:nvGrpSpPr>
            <p:cNvPr id="50" name="map-legend"/>
            <p:cNvGrpSpPr/>
            <p:nvPr/>
          </p:nvGrpSpPr>
          <p:grpSpPr>
            <a:xfrm>
              <a:off x="685800" y="5528310"/>
              <a:ext cx="3230075" cy="577596"/>
              <a:chOff x="685800" y="5528310"/>
              <a:chExt cx="3230075" cy="577596"/>
            </a:xfrm>
          </p:grpSpPr>
          <p:sp>
            <p:nvSpPr>
              <p:cNvPr id="46" name="Line 46"/>
              <p:cNvSpPr/>
              <p:nvPr/>
            </p:nvSpPr>
            <p:spPr>
              <a:xfrm>
                <a:off x="685800" y="5600700"/>
                <a:ext cx="304800" cy="1"/>
              </a:xfrm>
              <a:prstGeom prst="line">
                <a:avLst/>
              </a:prstGeom>
              <a:noFill/>
              <a:ln w="23812">
                <a:solidFill>
                  <a:srgbClr val="00A6A6"/>
                </a:solidFill>
                <a:tailEnd type="arrow" w="lg" len="lg"/>
              </a:ln>
            </p:spPr>
          </p:sp>
          <p:sp>
            <p:nvSpPr>
              <p:cNvPr id="47" name="TextBox 47"/>
              <p:cNvSpPr txBox="1"/>
              <p:nvPr/>
            </p:nvSpPr>
            <p:spPr>
              <a:xfrm>
                <a:off x="1079754" y="5528310"/>
                <a:ext cx="283612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Dosya yüklemeden türeyen gereklilik</a:t>
                </a:r>
              </a:p>
            </p:txBody>
          </p:sp>
          <p:sp>
            <p:nvSpPr>
              <p:cNvPr id="48" name="Line 48"/>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9" name="TextBox 49"/>
              <p:cNvSpPr txBox="1"/>
              <p:nvPr/>
            </p:nvSpPr>
            <p:spPr>
              <a:xfrm>
                <a:off x="1079754" y="5871210"/>
                <a:ext cx="27715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Kavramlar arası tamamlayıcı ilişki</a:t>
                </a:r>
              </a:p>
            </p:txBody>
          </p:sp>
        </p:gr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52" name="matrix-table"/>
          <p:cNvGrpSpPr/>
          <p:nvPr/>
        </p:nvGrpSpPr>
        <p:grpSpPr>
          <a:xfrm>
            <a:off x="609600" y="1143000"/>
            <a:ext cx="10972800" cy="5286756"/>
            <a:chOff x="609600" y="1143000"/>
            <a:chExt cx="10972800" cy="5286756"/>
          </a:xfrm>
        </p:grpSpPr>
        <p:sp>
          <p:nvSpPr>
            <p:cNvPr id="13" name="Rectangle 13"/>
            <p:cNvSpPr/>
            <p:nvPr/>
          </p:nvSpPr>
          <p:spPr>
            <a:xfrm>
              <a:off x="609600" y="1143000"/>
              <a:ext cx="10972800" cy="457200"/>
            </a:xfrm>
            <a:prstGeom prst="rect">
              <a:avLst/>
            </a:prstGeom>
            <a:solidFill>
              <a:srgbClr val="12355B"/>
            </a:solidFill>
            <a:ln>
              <a:noFill/>
            </a:ln>
          </p:spPr>
        </p:sp>
        <p:sp>
          <p:nvSpPr>
            <p:cNvPr id="14" name="TextBox 14"/>
            <p:cNvSpPr txBox="1"/>
            <p:nvPr/>
          </p:nvSpPr>
          <p:spPr>
            <a:xfrm>
              <a:off x="753999" y="1258729"/>
              <a:ext cx="805047"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Kavram</a:t>
              </a:r>
            </a:p>
          </p:txBody>
        </p:sp>
        <p:sp>
          <p:nvSpPr>
            <p:cNvPr id="15" name="TextBox 15"/>
            <p:cNvSpPr txBox="1"/>
            <p:nvPr/>
          </p:nvSpPr>
          <p:spPr>
            <a:xfrm>
              <a:off x="2697099" y="1258729"/>
              <a:ext cx="1374129"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Temel görevi</a:t>
              </a:r>
            </a:p>
          </p:txBody>
        </p:sp>
        <p:sp>
          <p:nvSpPr>
            <p:cNvPr id="16" name="TextBox 16"/>
            <p:cNvSpPr txBox="1"/>
            <p:nvPr/>
          </p:nvSpPr>
          <p:spPr>
            <a:xfrm>
              <a:off x="6507099" y="1258729"/>
              <a:ext cx="1241788"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Ne yapmaz?</a:t>
              </a:r>
            </a:p>
          </p:txBody>
        </p:sp>
        <p:sp>
          <p:nvSpPr>
            <p:cNvPr id="17" name="TextBox 17"/>
            <p:cNvSpPr txBox="1"/>
            <p:nvPr/>
          </p:nvSpPr>
          <p:spPr>
            <a:xfrm>
              <a:off x="9174099" y="1258729"/>
              <a:ext cx="1855319"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Olmazsa ne olur?</a:t>
              </a:r>
            </a:p>
          </p:txBody>
        </p:sp>
        <p:sp>
          <p:nvSpPr>
            <p:cNvPr id="18" name="Line 18"/>
            <p:cNvSpPr/>
            <p:nvPr/>
          </p:nvSpPr>
          <p:spPr>
            <a:xfrm>
              <a:off x="2705100" y="1143000"/>
              <a:ext cx="9525" cy="5219700"/>
            </a:xfrm>
            <a:custGeom>
              <a:avLst/>
              <a:gdLst/>
              <a:ahLst/>
              <a:cxnLst/>
              <a:rect l="l" t="t" r="r" b="b"/>
              <a:pathLst>
                <a:path w="9525" h="5219700">
                  <a:moveTo>
                    <a:pt x="0" y="0"/>
                  </a:moveTo>
                  <a:lnTo>
                    <a:pt x="0" y="5219700"/>
                  </a:lnTo>
                </a:path>
              </a:pathLst>
            </a:custGeom>
            <a:noFill/>
            <a:ln w="9525">
              <a:solidFill>
                <a:srgbClr val="B8CBD3"/>
              </a:solidFill>
            </a:ln>
          </p:spPr>
        </p:sp>
        <p:sp>
          <p:nvSpPr>
            <p:cNvPr id="19" name="Line 19"/>
            <p:cNvSpPr/>
            <p:nvPr/>
          </p:nvSpPr>
          <p:spPr>
            <a:xfrm>
              <a:off x="6515100" y="1143000"/>
              <a:ext cx="9525" cy="5219700"/>
            </a:xfrm>
            <a:custGeom>
              <a:avLst/>
              <a:gdLst/>
              <a:ahLst/>
              <a:cxnLst/>
              <a:rect l="l" t="t" r="r" b="b"/>
              <a:pathLst>
                <a:path w="9525" h="5219700">
                  <a:moveTo>
                    <a:pt x="0" y="0"/>
                  </a:moveTo>
                  <a:lnTo>
                    <a:pt x="0" y="5219700"/>
                  </a:lnTo>
                </a:path>
              </a:pathLst>
            </a:custGeom>
            <a:noFill/>
            <a:ln w="9525">
              <a:solidFill>
                <a:srgbClr val="B8CBD3"/>
              </a:solidFill>
            </a:ln>
          </p:spPr>
        </p:sp>
        <p:sp>
          <p:nvSpPr>
            <p:cNvPr id="20" name="Line 20"/>
            <p:cNvSpPr/>
            <p:nvPr/>
          </p:nvSpPr>
          <p:spPr>
            <a:xfrm>
              <a:off x="9182100" y="1143000"/>
              <a:ext cx="9525" cy="5219700"/>
            </a:xfrm>
            <a:custGeom>
              <a:avLst/>
              <a:gdLst/>
              <a:ahLst/>
              <a:cxnLst/>
              <a:rect l="l" t="t" r="r" b="b"/>
              <a:pathLst>
                <a:path w="9525" h="5219700">
                  <a:moveTo>
                    <a:pt x="0" y="0"/>
                  </a:moveTo>
                  <a:lnTo>
                    <a:pt x="0" y="5219700"/>
                  </a:lnTo>
                </a:path>
              </a:pathLst>
            </a:custGeom>
            <a:noFill/>
            <a:ln w="9525">
              <a:solidFill>
                <a:srgbClr val="B8CBD3"/>
              </a:solidFill>
            </a:ln>
          </p:spPr>
        </p:sp>
        <p:sp>
          <p:nvSpPr>
            <p:cNvPr id="21" name="Rectangle 21"/>
            <p:cNvSpPr/>
            <p:nvPr/>
          </p:nvSpPr>
          <p:spPr>
            <a:xfrm>
              <a:off x="609600" y="1600200"/>
              <a:ext cx="10972800" cy="876300"/>
            </a:xfrm>
            <a:prstGeom prst="rect">
              <a:avLst/>
            </a:prstGeom>
            <a:solidFill>
              <a:srgbClr val="FFFFFF"/>
            </a:solidFill>
            <a:ln>
              <a:noFill/>
            </a:ln>
          </p:spPr>
        </p:sp>
        <p:sp>
          <p:nvSpPr>
            <p:cNvPr id="22" name="TextBox 22"/>
            <p:cNvSpPr txBox="1"/>
            <p:nvPr/>
          </p:nvSpPr>
          <p:spPr>
            <a:xfrm>
              <a:off x="753999" y="1696879"/>
              <a:ext cx="1111606"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Multipart/</a:t>
              </a:r>
              <a:br/>
              <a:r>
                <a:rPr lang="tr-TR" sz="1580" b="1" dirty="0">
                  <a:solidFill>
                    <a:srgbClr val="12355B"/>
                  </a:solidFill>
                  <a:latin typeface="+mn-lt"/>
                  <a:ea typeface="+mn-ea"/>
                  <a:cs typeface="+mn-cs"/>
                </a:rPr>
                <a:t>form-data</a:t>
              </a:r>
            </a:p>
          </p:txBody>
        </p:sp>
        <p:sp>
          <p:nvSpPr>
            <p:cNvPr id="23" name="TextBox 23"/>
            <p:cNvSpPr txBox="1"/>
            <p:nvPr/>
          </p:nvSpPr>
          <p:spPr>
            <a:xfrm>
              <a:off x="2699004" y="1737360"/>
              <a:ext cx="22600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İkili dosyaları metinsel form</a:t>
              </a:r>
              <a:br/>
              <a:r>
                <a:rPr lang="tr-TR" sz="1200" dirty="0">
                  <a:solidFill>
                    <a:srgbClr val="172B3A"/>
                  </a:solidFill>
                  <a:latin typeface="+mn-lt"/>
                  <a:ea typeface="+mn-ea"/>
                  <a:cs typeface="+mn-cs"/>
                </a:rPr>
                <a:t>alanlarıyla tek istekte taşır.</a:t>
              </a:r>
            </a:p>
          </p:txBody>
        </p:sp>
        <p:sp>
          <p:nvSpPr>
            <p:cNvPr id="24" name="TextBox 24"/>
            <p:cNvSpPr txBox="1"/>
            <p:nvPr/>
          </p:nvSpPr>
          <p:spPr>
            <a:xfrm>
              <a:off x="6509004" y="1737360"/>
              <a:ext cx="27630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Dosyayı diske kendiliğinden</a:t>
              </a:r>
              <a:br/>
              <a:r>
                <a:rPr lang="tr-TR" sz="1200" dirty="0">
                  <a:solidFill>
                    <a:srgbClr val="172B3A"/>
                  </a:solidFill>
                  <a:latin typeface="+mn-lt"/>
                  <a:ea typeface="+mn-ea"/>
                  <a:cs typeface="+mn-cs"/>
                </a:rPr>
                <a:t>yazmaz; yalnızca formatı tanımlar.</a:t>
              </a:r>
            </a:p>
          </p:txBody>
        </p:sp>
        <p:sp>
          <p:nvSpPr>
            <p:cNvPr id="25" name="TextBox 25"/>
            <p:cNvSpPr txBox="1"/>
            <p:nvPr/>
          </p:nvSpPr>
          <p:spPr>
            <a:xfrm>
              <a:off x="9176004" y="1699260"/>
              <a:ext cx="15666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İkili veri bozulur ya</a:t>
              </a:r>
              <a:br/>
              <a:r>
                <a:rPr lang="tr-TR" sz="1200" dirty="0">
                  <a:solidFill>
                    <a:srgbClr val="172B3A"/>
                  </a:solidFill>
                  <a:latin typeface="+mn-lt"/>
                  <a:ea typeface="+mn-ea"/>
                  <a:cs typeface="+mn-cs"/>
                </a:rPr>
                <a:t>da Base64 metni bant</a:t>
              </a:r>
              <a:br/>
              <a:r>
                <a:rPr lang="tr-TR" sz="1200" dirty="0">
                  <a:solidFill>
                    <a:srgbClr val="172B3A"/>
                  </a:solidFill>
                  <a:latin typeface="+mn-lt"/>
                  <a:ea typeface="+mn-ea"/>
                  <a:cs typeface="+mn-cs"/>
                </a:rPr>
                <a:t>genişliğini tüketir.</a:t>
              </a:r>
            </a:p>
          </p:txBody>
        </p:sp>
        <p:sp>
          <p:nvSpPr>
            <p:cNvPr id="26" name="Rectangle 26"/>
            <p:cNvSpPr/>
            <p:nvPr/>
          </p:nvSpPr>
          <p:spPr>
            <a:xfrm>
              <a:off x="609600" y="2476500"/>
              <a:ext cx="10972800" cy="876300"/>
            </a:xfrm>
            <a:prstGeom prst="rect">
              <a:avLst/>
            </a:prstGeom>
            <a:solidFill>
              <a:srgbClr val="EAF4F6"/>
            </a:solidFill>
            <a:ln>
              <a:noFill/>
            </a:ln>
          </p:spPr>
        </p:sp>
        <p:sp>
          <p:nvSpPr>
            <p:cNvPr id="27" name="TextBox 27"/>
            <p:cNvSpPr txBox="1"/>
            <p:nvPr/>
          </p:nvSpPr>
          <p:spPr>
            <a:xfrm>
              <a:off x="753999" y="2573179"/>
              <a:ext cx="1459249"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Dosya yükleme</a:t>
              </a:r>
              <a:br/>
              <a:r>
                <a:rPr lang="tr-TR" sz="1580" b="1" dirty="0">
                  <a:solidFill>
                    <a:srgbClr val="12355B"/>
                  </a:solidFill>
                  <a:latin typeface="+mn-lt"/>
                  <a:ea typeface="+mn-ea"/>
                  <a:cs typeface="+mn-cs"/>
                </a:rPr>
                <a:t>güvenliği</a:t>
              </a:r>
            </a:p>
          </p:txBody>
        </p:sp>
        <p:sp>
          <p:nvSpPr>
            <p:cNvPr id="28" name="TextBox 28"/>
            <p:cNvSpPr txBox="1"/>
            <p:nvPr/>
          </p:nvSpPr>
          <p:spPr>
            <a:xfrm>
              <a:off x="2699004" y="2613660"/>
              <a:ext cx="23972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Boyut, gerçek MIME türü, dosya</a:t>
              </a:r>
              <a:br/>
              <a:r>
                <a:rPr lang="tr-TR" sz="1200" dirty="0">
                  <a:solidFill>
                    <a:srgbClr val="172B3A"/>
                  </a:solidFill>
                  <a:latin typeface="+mn-lt"/>
                  <a:ea typeface="+mn-ea"/>
                  <a:cs typeface="+mn-cs"/>
                </a:rPr>
                <a:t>adı ve konumu yönetir.</a:t>
              </a:r>
            </a:p>
          </p:txBody>
        </p:sp>
        <p:sp>
          <p:nvSpPr>
            <p:cNvPr id="29" name="TextBox 29"/>
            <p:cNvSpPr txBox="1"/>
            <p:nvPr/>
          </p:nvSpPr>
          <p:spPr>
            <a:xfrm>
              <a:off x="6509004" y="2613660"/>
              <a:ext cx="21305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İçeriği antivirüs motoru gibi</a:t>
              </a:r>
              <a:br/>
              <a:r>
                <a:rPr lang="tr-TR" sz="1200" dirty="0">
                  <a:solidFill>
                    <a:srgbClr val="172B3A"/>
                  </a:solidFill>
                  <a:latin typeface="+mn-lt"/>
                  <a:ea typeface="+mn-ea"/>
                  <a:cs typeface="+mn-cs"/>
                </a:rPr>
                <a:t>derinlemesine taramaz.</a:t>
              </a:r>
            </a:p>
          </p:txBody>
        </p:sp>
        <p:sp>
          <p:nvSpPr>
            <p:cNvPr id="30" name="TextBox 30"/>
            <p:cNvSpPr txBox="1"/>
            <p:nvPr/>
          </p:nvSpPr>
          <p:spPr>
            <a:xfrm>
              <a:off x="9176004" y="2575560"/>
              <a:ext cx="19248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Saldırgan çalıştırılabilir</a:t>
              </a:r>
              <a:br/>
              <a:r>
                <a:rPr lang="tr-TR" sz="1200" dirty="0">
                  <a:solidFill>
                    <a:srgbClr val="172B3A"/>
                  </a:solidFill>
                  <a:latin typeface="+mn-lt"/>
                  <a:ea typeface="+mn-ea"/>
                  <a:cs typeface="+mn-cs"/>
                </a:rPr>
                <a:t>betik yükleyip uzaktan</a:t>
              </a:r>
              <a:br/>
              <a:r>
                <a:rPr lang="tr-TR" sz="1200" dirty="0">
                  <a:solidFill>
                    <a:srgbClr val="172B3A"/>
                  </a:solidFill>
                  <a:latin typeface="+mn-lt"/>
                  <a:ea typeface="+mn-ea"/>
                  <a:cs typeface="+mn-cs"/>
                </a:rPr>
                <a:t>kod çalıştırabilir (RCE).</a:t>
              </a:r>
            </a:p>
          </p:txBody>
        </p:sp>
        <p:sp>
          <p:nvSpPr>
            <p:cNvPr id="31" name="Rectangle 31"/>
            <p:cNvSpPr/>
            <p:nvPr/>
          </p:nvSpPr>
          <p:spPr>
            <a:xfrm>
              <a:off x="609600" y="3352800"/>
              <a:ext cx="10972800" cy="876300"/>
            </a:xfrm>
            <a:prstGeom prst="rect">
              <a:avLst/>
            </a:prstGeom>
            <a:solidFill>
              <a:srgbClr val="FFFFFF"/>
            </a:solidFill>
            <a:ln>
              <a:noFill/>
            </a:ln>
          </p:spPr>
        </p:sp>
        <p:sp>
          <p:nvSpPr>
            <p:cNvPr id="32" name="TextBox 32"/>
            <p:cNvSpPr txBox="1"/>
            <p:nvPr/>
          </p:nvSpPr>
          <p:spPr>
            <a:xfrm>
              <a:off x="753999" y="3449479"/>
              <a:ext cx="1406576"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Harici API</a:t>
              </a:r>
              <a:br/>
              <a:r>
                <a:rPr lang="tr-TR" sz="1580" b="1" dirty="0">
                  <a:solidFill>
                    <a:srgbClr val="12355B"/>
                  </a:solidFill>
                  <a:latin typeface="+mn-lt"/>
                  <a:ea typeface="+mn-ea"/>
                  <a:cs typeface="+mn-cs"/>
                </a:rPr>
                <a:t>entegrasyonu</a:t>
              </a:r>
            </a:p>
          </p:txBody>
        </p:sp>
        <p:sp>
          <p:nvSpPr>
            <p:cNvPr id="33" name="TextBox 33"/>
            <p:cNvSpPr txBox="1"/>
            <p:nvPr/>
          </p:nvSpPr>
          <p:spPr>
            <a:xfrm>
              <a:off x="2699004" y="3489960"/>
              <a:ext cx="22600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Üçüncü taraf servislerle HTTP</a:t>
              </a:r>
              <a:br/>
              <a:r>
                <a:rPr lang="tr-TR" sz="1200" dirty="0">
                  <a:solidFill>
                    <a:srgbClr val="172B3A"/>
                  </a:solidFill>
                  <a:latin typeface="+mn-lt"/>
                  <a:ea typeface="+mn-ea"/>
                  <a:cs typeface="+mn-cs"/>
                </a:rPr>
                <a:t>üzerinden veri iletişimi kurar.</a:t>
              </a:r>
            </a:p>
          </p:txBody>
        </p:sp>
        <p:sp>
          <p:nvSpPr>
            <p:cNvPr id="34" name="TextBox 34"/>
            <p:cNvSpPr txBox="1"/>
            <p:nvPr/>
          </p:nvSpPr>
          <p:spPr>
            <a:xfrm>
              <a:off x="6509004" y="3489960"/>
              <a:ext cx="25344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Karşı sunucunun her zaman</a:t>
              </a:r>
              <a:br/>
              <a:r>
                <a:rPr lang="tr-TR" sz="1200" dirty="0">
                  <a:solidFill>
                    <a:srgbClr val="172B3A"/>
                  </a:solidFill>
                  <a:latin typeface="+mn-lt"/>
                  <a:ea typeface="+mn-ea"/>
                  <a:cs typeface="+mn-cs"/>
                </a:rPr>
                <a:t>ayakta olacağını garanti edemez.</a:t>
              </a:r>
            </a:p>
          </p:txBody>
        </p:sp>
        <p:sp>
          <p:nvSpPr>
            <p:cNvPr id="35" name="TextBox 35"/>
            <p:cNvSpPr txBox="1"/>
            <p:nvPr/>
          </p:nvSpPr>
          <p:spPr>
            <a:xfrm>
              <a:off x="9176004" y="3451860"/>
              <a:ext cx="22829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Küçük bir dış arıza, ana</a:t>
              </a:r>
              <a:br/>
              <a:r>
                <a:rPr lang="tr-TR" sz="1200" dirty="0">
                  <a:solidFill>
                    <a:srgbClr val="172B3A"/>
                  </a:solidFill>
                  <a:latin typeface="+mn-lt"/>
                  <a:ea typeface="+mn-ea"/>
                  <a:cs typeface="+mn-cs"/>
                </a:rPr>
                <a:t>sunucuda zincirleme</a:t>
              </a:r>
              <a:br/>
              <a:r>
                <a:rPr lang="tr-TR" sz="1200" dirty="0">
                  <a:solidFill>
                    <a:srgbClr val="172B3A"/>
                  </a:solidFill>
                  <a:latin typeface="+mn-lt"/>
                  <a:ea typeface="+mn-ea"/>
                  <a:cs typeface="+mn-cs"/>
                </a:rPr>
                <a:t>çökmeye (cascading) yol açar.</a:t>
              </a:r>
            </a:p>
          </p:txBody>
        </p:sp>
        <p:sp>
          <p:nvSpPr>
            <p:cNvPr id="36" name="Rectangle 36"/>
            <p:cNvSpPr/>
            <p:nvPr/>
          </p:nvSpPr>
          <p:spPr>
            <a:xfrm>
              <a:off x="609600" y="4229100"/>
              <a:ext cx="10972800" cy="876300"/>
            </a:xfrm>
            <a:prstGeom prst="rect">
              <a:avLst/>
            </a:prstGeom>
            <a:solidFill>
              <a:srgbClr val="EAF4F6"/>
            </a:solidFill>
            <a:ln>
              <a:noFill/>
            </a:ln>
          </p:spPr>
        </p:sp>
        <p:sp>
          <p:nvSpPr>
            <p:cNvPr id="37" name="TextBox 37"/>
            <p:cNvSpPr txBox="1"/>
            <p:nvPr/>
          </p:nvSpPr>
          <p:spPr>
            <a:xfrm>
              <a:off x="753999" y="4325779"/>
              <a:ext cx="87153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Timeout</a:t>
              </a:r>
            </a:p>
          </p:txBody>
        </p:sp>
        <p:sp>
          <p:nvSpPr>
            <p:cNvPr id="38" name="TextBox 38"/>
            <p:cNvSpPr txBox="1"/>
            <p:nvPr/>
          </p:nvSpPr>
          <p:spPr>
            <a:xfrm>
              <a:off x="2699004" y="4366260"/>
              <a:ext cx="25877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Yanıt vermeyen dış çağrıyı belirli</a:t>
              </a:r>
              <a:br/>
              <a:r>
                <a:rPr lang="tr-TR" sz="1200" dirty="0">
                  <a:solidFill>
                    <a:srgbClr val="172B3A"/>
                  </a:solidFill>
                  <a:latin typeface="+mn-lt"/>
                  <a:ea typeface="+mn-ea"/>
                  <a:cs typeface="+mn-cs"/>
                </a:rPr>
                <a:t>sürede otomatik sonlandırır.</a:t>
              </a:r>
            </a:p>
          </p:txBody>
        </p:sp>
        <p:sp>
          <p:nvSpPr>
            <p:cNvPr id="39" name="TextBox 39"/>
            <p:cNvSpPr txBox="1"/>
            <p:nvPr/>
          </p:nvSpPr>
          <p:spPr>
            <a:xfrm>
              <a:off x="6509004" y="4366260"/>
              <a:ext cx="34259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Karşı tarafın sorununu düzeltmez;</a:t>
              </a:r>
              <a:br/>
              <a:r>
                <a:rPr lang="tr-TR" sz="1200" dirty="0">
                  <a:solidFill>
                    <a:srgbClr val="172B3A"/>
                  </a:solidFill>
                  <a:latin typeface="+mn-lt"/>
                  <a:ea typeface="+mn-ea"/>
                  <a:cs typeface="+mn-cs"/>
                </a:rPr>
                <a:t>yalnızca kaynakların askıda kalmasını önler.</a:t>
              </a:r>
            </a:p>
          </p:txBody>
        </p:sp>
        <p:sp>
          <p:nvSpPr>
            <p:cNvPr id="40" name="TextBox 40"/>
            <p:cNvSpPr txBox="1"/>
            <p:nvPr/>
          </p:nvSpPr>
          <p:spPr>
            <a:xfrm>
              <a:off x="9176004" y="4328160"/>
              <a:ext cx="20391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Soket havuzu dolar; sunucu</a:t>
              </a:r>
              <a:br/>
              <a:r>
                <a:rPr lang="tr-TR" sz="1200" dirty="0">
                  <a:solidFill>
                    <a:srgbClr val="172B3A"/>
                  </a:solidFill>
                  <a:latin typeface="+mn-lt"/>
                  <a:ea typeface="+mn-ea"/>
                  <a:cs typeface="+mn-cs"/>
                </a:rPr>
                <a:t>yeni isteklere yanıt</a:t>
              </a:r>
              <a:br/>
              <a:r>
                <a:rPr lang="tr-TR" sz="1200" dirty="0">
                  <a:solidFill>
                    <a:srgbClr val="172B3A"/>
                  </a:solidFill>
                  <a:latin typeface="+mn-lt"/>
                  <a:ea typeface="+mn-ea"/>
                  <a:cs typeface="+mn-cs"/>
                </a:rPr>
                <a:t>veremez hâle gelir.</a:t>
              </a:r>
            </a:p>
          </p:txBody>
        </p:sp>
        <p:sp>
          <p:nvSpPr>
            <p:cNvPr id="41" name="Rectangle 41"/>
            <p:cNvSpPr/>
            <p:nvPr/>
          </p:nvSpPr>
          <p:spPr>
            <a:xfrm>
              <a:off x="609600" y="5105400"/>
              <a:ext cx="10972800" cy="876300"/>
            </a:xfrm>
            <a:prstGeom prst="rect">
              <a:avLst/>
            </a:prstGeom>
            <a:solidFill>
              <a:srgbClr val="FFFFFF"/>
            </a:solidFill>
            <a:ln>
              <a:noFill/>
            </a:ln>
          </p:spPr>
        </p:sp>
        <p:sp>
          <p:nvSpPr>
            <p:cNvPr id="42" name="TextBox 42"/>
            <p:cNvSpPr txBox="1"/>
            <p:nvPr/>
          </p:nvSpPr>
          <p:spPr>
            <a:xfrm>
              <a:off x="753999" y="5202079"/>
              <a:ext cx="1322299" cy="536638"/>
            </a:xfrm>
            <a:prstGeom prst="rect">
              <a:avLst/>
            </a:prstGeom>
            <a:noFill/>
            <a:ln>
              <a:noFill/>
            </a:ln>
          </p:spPr>
          <p:txBody>
            <a:bodyPr wrap="none" lIns="0" tIns="0" rIns="0" bIns="0" anchor="t" anchorCtr="0">
              <a:spAutoFit/>
            </a:bodyPr>
            <a:lstStyle/>
            <a:p>
              <a:pPr algn="l">
                <a:lnSpc>
                  <a:spcPts val="1800"/>
                </a:lnSpc>
              </a:pPr>
              <a:r>
                <a:rPr lang="tr-TR" sz="1580" b="1" dirty="0">
                  <a:solidFill>
                    <a:srgbClr val="12355B"/>
                  </a:solidFill>
                  <a:latin typeface="+mn-lt"/>
                  <a:ea typeface="+mn-ea"/>
                  <a:cs typeface="+mn-cs"/>
                </a:rPr>
                <a:t>Retry</a:t>
              </a:r>
              <a:br/>
              <a:r>
                <a:rPr lang="tr-TR" sz="1580" b="1" dirty="0">
                  <a:solidFill>
                    <a:srgbClr val="12355B"/>
                  </a:solidFill>
                  <a:latin typeface="+mn-lt"/>
                  <a:ea typeface="+mn-ea"/>
                  <a:cs typeface="+mn-cs"/>
                </a:rPr>
                <a:t>mekanizması</a:t>
              </a:r>
            </a:p>
          </p:txBody>
        </p:sp>
        <p:sp>
          <p:nvSpPr>
            <p:cNvPr id="43" name="TextBox 43"/>
            <p:cNvSpPr txBox="1"/>
            <p:nvPr/>
          </p:nvSpPr>
          <p:spPr>
            <a:xfrm>
              <a:off x="2699004" y="5242560"/>
              <a:ext cx="21686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Geçici hatalarda isteği artan</a:t>
              </a:r>
              <a:br/>
              <a:r>
                <a:rPr lang="tr-TR" sz="1200" dirty="0">
                  <a:solidFill>
                    <a:srgbClr val="172B3A"/>
                  </a:solidFill>
                  <a:latin typeface="+mn-lt"/>
                  <a:ea typeface="+mn-ea"/>
                  <a:cs typeface="+mn-cs"/>
                </a:rPr>
                <a:t>beklemeyle kontrollü yineler.</a:t>
              </a:r>
            </a:p>
          </p:txBody>
        </p:sp>
        <p:sp>
          <p:nvSpPr>
            <p:cNvPr id="44" name="TextBox 44"/>
            <p:cNvSpPr txBox="1"/>
            <p:nvPr/>
          </p:nvSpPr>
          <p:spPr>
            <a:xfrm>
              <a:off x="6509004" y="5242560"/>
              <a:ext cx="25496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Kalıcı hataları (400, 401) tekrar</a:t>
              </a:r>
              <a:br/>
              <a:r>
                <a:rPr lang="tr-TR" sz="1200" dirty="0">
                  <a:solidFill>
                    <a:srgbClr val="172B3A"/>
                  </a:solidFill>
                  <a:latin typeface="+mn-lt"/>
                  <a:ea typeface="+mn-ea"/>
                  <a:cs typeface="+mn-cs"/>
                </a:rPr>
                <a:t>deneyerek kaynak tüketmez.</a:t>
              </a:r>
            </a:p>
          </p:txBody>
        </p:sp>
        <p:sp>
          <p:nvSpPr>
            <p:cNvPr id="45" name="TextBox 45"/>
            <p:cNvSpPr txBox="1"/>
            <p:nvPr/>
          </p:nvSpPr>
          <p:spPr>
            <a:xfrm>
              <a:off x="9176004" y="5204460"/>
              <a:ext cx="18638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Anlık ağ dalgalanmasında</a:t>
              </a:r>
              <a:br/>
              <a:r>
                <a:rPr lang="tr-TR" sz="1200" dirty="0">
                  <a:solidFill>
                    <a:srgbClr val="172B3A"/>
                  </a:solidFill>
                  <a:latin typeface="+mn-lt"/>
                  <a:ea typeface="+mn-ea"/>
                  <a:cs typeface="+mn-cs"/>
                </a:rPr>
                <a:t>bile işlem hemen</a:t>
              </a:r>
              <a:br/>
              <a:r>
                <a:rPr lang="tr-TR" sz="1200" dirty="0">
                  <a:solidFill>
                    <a:srgbClr val="172B3A"/>
                  </a:solidFill>
                  <a:latin typeface="+mn-lt"/>
                  <a:ea typeface="+mn-ea"/>
                  <a:cs typeface="+mn-cs"/>
                </a:rPr>
                <a:t>başarısız sayılır.</a:t>
              </a:r>
            </a:p>
          </p:txBody>
        </p:sp>
        <p:sp>
          <p:nvSpPr>
            <p:cNvPr id="46" name="Rectangle 46"/>
            <p:cNvSpPr/>
            <p:nvPr/>
          </p:nvSpPr>
          <p:spPr>
            <a:xfrm>
              <a:off x="609600" y="5981700"/>
              <a:ext cx="10972800" cy="381000"/>
            </a:xfrm>
            <a:prstGeom prst="rect">
              <a:avLst/>
            </a:prstGeom>
            <a:solidFill>
              <a:srgbClr val="EAF4F6"/>
            </a:solidFill>
            <a:ln>
              <a:noFill/>
            </a:ln>
          </p:spPr>
        </p:sp>
        <p:sp>
          <p:nvSpPr>
            <p:cNvPr id="47" name="TextBox 47"/>
            <p:cNvSpPr txBox="1"/>
            <p:nvPr/>
          </p:nvSpPr>
          <p:spPr>
            <a:xfrm>
              <a:off x="753999" y="6040279"/>
              <a:ext cx="16983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E-posta servisi</a:t>
              </a:r>
            </a:p>
          </p:txBody>
        </p:sp>
        <p:sp>
          <p:nvSpPr>
            <p:cNvPr id="48" name="TextBox 48"/>
            <p:cNvSpPr txBox="1"/>
            <p:nvPr/>
          </p:nvSpPr>
          <p:spPr>
            <a:xfrm>
              <a:off x="2699004" y="6080760"/>
              <a:ext cx="41657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Bildirim e-postalarını SMTP/API üzerinden gönderir.</a:t>
              </a:r>
            </a:p>
          </p:txBody>
        </p:sp>
        <p:sp>
          <p:nvSpPr>
            <p:cNvPr id="49" name="TextBox 49"/>
            <p:cNvSpPr txBox="1"/>
            <p:nvPr/>
          </p:nvSpPr>
          <p:spPr>
            <a:xfrm>
              <a:off x="6509004" y="6080760"/>
              <a:ext cx="385429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Ana isteği senkron bloklamaz; bağımsız çalışır.</a:t>
              </a:r>
            </a:p>
          </p:txBody>
        </p:sp>
        <p:sp>
          <p:nvSpPr>
            <p:cNvPr id="50" name="TextBox 50"/>
            <p:cNvSpPr txBox="1"/>
            <p:nvPr/>
          </p:nvSpPr>
          <p:spPr>
            <a:xfrm>
              <a:off x="9176004" y="6023610"/>
              <a:ext cx="1703832" cy="406146"/>
            </a:xfrm>
            <a:prstGeom prst="rect">
              <a:avLst/>
            </a:prstGeom>
            <a:noFill/>
            <a:ln>
              <a:noFill/>
            </a:ln>
          </p:spPr>
          <p:txBody>
            <a:bodyPr wrap="none" lIns="0" tIns="0" rIns="0" bIns="0" anchor="t" anchorCtr="0">
              <a:spAutoFit/>
            </a:bodyPr>
            <a:lstStyle/>
            <a:p>
              <a:pPr algn="l">
                <a:lnSpc>
                  <a:spcPts val="1350"/>
                </a:lnSpc>
              </a:pPr>
              <a:r>
                <a:rPr lang="tr-TR" sz="1200" dirty="0">
                  <a:solidFill>
                    <a:srgbClr val="172B3A"/>
                  </a:solidFill>
                  <a:latin typeface="+mn-lt"/>
                  <a:ea typeface="+mn-ea"/>
                  <a:cs typeface="+mn-cs"/>
                </a:rPr>
                <a:t>Tüm kullanıcı istekleri</a:t>
              </a:r>
              <a:br/>
              <a:r>
                <a:rPr lang="tr-TR" sz="1200" dirty="0">
                  <a:solidFill>
                    <a:srgbClr val="172B3A"/>
                  </a:solidFill>
                  <a:latin typeface="+mn-lt"/>
                  <a:ea typeface="+mn-ea"/>
                  <a:cs typeface="+mn-cs"/>
                </a:rPr>
                <a:t>dakikalarca bekler.</a:t>
              </a:r>
            </a:p>
          </p:txBody>
        </p:sp>
        <p:sp>
          <p:nvSpPr>
            <p:cNvPr id="51" name="Rectangle 51"/>
            <p:cNvSpPr/>
            <p:nvPr/>
          </p:nvSpPr>
          <p:spPr>
            <a:xfrm>
              <a:off x="609600" y="1143000"/>
              <a:ext cx="10972800" cy="5219700"/>
            </a:xfrm>
            <a:prstGeom prst="rect">
              <a:avLst/>
            </a:prstGeom>
            <a:noFill/>
            <a:ln w="9525">
              <a:solidFill>
                <a:srgbClr val="B8CBD3"/>
              </a:solidFill>
            </a:ln>
          </p:spPr>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198147" cy="668845"/>
            <a:chOff x="609600" y="171450"/>
            <a:chExt cx="719814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650777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Dış dünyayla iletişim: kısmi hata</a:t>
              </a:r>
            </a:p>
          </p:txBody>
        </p:sp>
      </p:grpSp>
      <p:grpSp>
        <p:nvGrpSpPr>
          <p:cNvPr id="14" name="definition-box"/>
          <p:cNvGrpSpPr/>
          <p:nvPr/>
        </p:nvGrpSpPr>
        <p:grpSpPr>
          <a:xfrm>
            <a:off x="600456" y="1234440"/>
            <a:ext cx="8955921" cy="637794"/>
            <a:chOff x="600456" y="1234440"/>
            <a:chExt cx="8955921" cy="637794"/>
          </a:xfrm>
        </p:grpSpPr>
        <p:sp>
          <p:nvSpPr>
            <p:cNvPr id="12" name="TextBox 12"/>
            <p:cNvSpPr txBox="1"/>
            <p:nvPr/>
          </p:nvSpPr>
          <p:spPr>
            <a:xfrm>
              <a:off x="600456" y="1234440"/>
              <a:ext cx="8955921"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Dış dünyayla iletişim; dosya, harici API ve e-posta sunucusu gibi backend’in</a:t>
              </a:r>
            </a:p>
          </p:txBody>
        </p:sp>
        <p:sp>
          <p:nvSpPr>
            <p:cNvPr id="13" name="TextBox 13"/>
            <p:cNvSpPr txBox="1"/>
            <p:nvPr/>
          </p:nvSpPr>
          <p:spPr>
            <a:xfrm>
              <a:off x="600456" y="1520190"/>
              <a:ext cx="6948526"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süreç sınırları dışındaki kaynaklarla etkileşimini kapsar.</a:t>
              </a:r>
            </a:p>
          </p:txBody>
        </p:sp>
      </p:grpSp>
      <p:grpSp>
        <p:nvGrpSpPr>
          <p:cNvPr id="25" name="compare-internal"/>
          <p:cNvGrpSpPr/>
          <p:nvPr/>
        </p:nvGrpSpPr>
        <p:grpSpPr>
          <a:xfrm>
            <a:off x="609600" y="2057400"/>
            <a:ext cx="5257800" cy="2095500"/>
            <a:chOff x="609600" y="2057400"/>
            <a:chExt cx="5257800" cy="2095500"/>
          </a:xfrm>
        </p:grpSpPr>
        <p:sp>
          <p:nvSpPr>
            <p:cNvPr id="15" name="Rectangle 15"/>
            <p:cNvSpPr/>
            <p:nvPr/>
          </p:nvSpPr>
          <p:spPr>
            <a:xfrm>
              <a:off x="609600" y="2057400"/>
              <a:ext cx="5257800" cy="2095500"/>
            </a:xfrm>
            <a:prstGeom prst="roundRect">
              <a:avLst>
                <a:gd name="adj" fmla="val 4545"/>
              </a:avLst>
            </a:prstGeom>
            <a:solidFill>
              <a:srgbClr val="FFFFFF"/>
            </a:solidFill>
            <a:ln w="14288">
              <a:solidFill>
                <a:srgbClr val="B8CBD3"/>
              </a:solidFill>
            </a:ln>
          </p:spPr>
        </p:sp>
        <p:sp>
          <p:nvSpPr>
            <p:cNvPr id="16" name="TextBox 16"/>
            <p:cNvSpPr txBox="1"/>
            <p:nvPr/>
          </p:nvSpPr>
          <p:spPr>
            <a:xfrm>
              <a:off x="829056" y="2205990"/>
              <a:ext cx="263441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İç fonksiyon çağrısı</a:t>
              </a:r>
            </a:p>
          </p:txBody>
        </p:sp>
        <p:sp>
          <p:nvSpPr>
            <p:cNvPr id="17" name="Rectangle 17"/>
            <p:cNvSpPr/>
            <p:nvPr/>
          </p:nvSpPr>
          <p:spPr>
            <a:xfrm>
              <a:off x="838200" y="2571750"/>
              <a:ext cx="57150" cy="285750"/>
            </a:xfrm>
            <a:prstGeom prst="rect">
              <a:avLst/>
            </a:prstGeom>
            <a:solidFill>
              <a:srgbClr val="2E86AB"/>
            </a:solidFill>
            <a:ln>
              <a:noFill/>
            </a:ln>
          </p:spPr>
        </p:sp>
        <p:sp>
          <p:nvSpPr>
            <p:cNvPr id="18" name="TextBox 18"/>
            <p:cNvSpPr txBox="1"/>
            <p:nvPr/>
          </p:nvSpPr>
          <p:spPr>
            <a:xfrm>
              <a:off x="1001649" y="2611279"/>
              <a:ext cx="262771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Milisaniyeler içinde döner</a:t>
              </a:r>
            </a:p>
          </p:txBody>
        </p:sp>
        <p:sp>
          <p:nvSpPr>
            <p:cNvPr id="19" name="Rectangle 19"/>
            <p:cNvSpPr/>
            <p:nvPr/>
          </p:nvSpPr>
          <p:spPr>
            <a:xfrm>
              <a:off x="838200" y="2971800"/>
              <a:ext cx="57150" cy="285750"/>
            </a:xfrm>
            <a:prstGeom prst="rect">
              <a:avLst/>
            </a:prstGeom>
            <a:solidFill>
              <a:srgbClr val="2E86AB"/>
            </a:solidFill>
            <a:ln>
              <a:noFill/>
            </a:ln>
          </p:spPr>
        </p:sp>
        <p:sp>
          <p:nvSpPr>
            <p:cNvPr id="20" name="TextBox 20"/>
            <p:cNvSpPr txBox="1"/>
            <p:nvPr/>
          </p:nvSpPr>
          <p:spPr>
            <a:xfrm>
              <a:off x="1001649" y="3011329"/>
              <a:ext cx="310638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Yüksek güvenilirlik varsayılır</a:t>
              </a:r>
            </a:p>
          </p:txBody>
        </p:sp>
        <p:sp>
          <p:nvSpPr>
            <p:cNvPr id="21" name="Rectangle 21"/>
            <p:cNvSpPr/>
            <p:nvPr/>
          </p:nvSpPr>
          <p:spPr>
            <a:xfrm>
              <a:off x="838200" y="3371850"/>
              <a:ext cx="57150" cy="285750"/>
            </a:xfrm>
            <a:prstGeom prst="rect">
              <a:avLst/>
            </a:prstGeom>
            <a:solidFill>
              <a:srgbClr val="2E86AB"/>
            </a:solidFill>
            <a:ln>
              <a:noFill/>
            </a:ln>
          </p:spPr>
        </p:sp>
        <p:sp>
          <p:nvSpPr>
            <p:cNvPr id="22" name="TextBox 22"/>
            <p:cNvSpPr txBox="1"/>
            <p:nvPr/>
          </p:nvSpPr>
          <p:spPr>
            <a:xfrm>
              <a:off x="1001649" y="3411379"/>
              <a:ext cx="332002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Ya tam başarı ya anında istisna</a:t>
              </a:r>
            </a:p>
          </p:txBody>
        </p:sp>
        <p:sp>
          <p:nvSpPr>
            <p:cNvPr id="23" name="Rectangle 23"/>
            <p:cNvSpPr/>
            <p:nvPr/>
          </p:nvSpPr>
          <p:spPr>
            <a:xfrm>
              <a:off x="838200" y="3771900"/>
              <a:ext cx="57150" cy="285750"/>
            </a:xfrm>
            <a:prstGeom prst="rect">
              <a:avLst/>
            </a:prstGeom>
            <a:solidFill>
              <a:srgbClr val="2E86AB"/>
            </a:solidFill>
            <a:ln>
              <a:noFill/>
            </a:ln>
          </p:spPr>
        </p:sp>
        <p:sp>
          <p:nvSpPr>
            <p:cNvPr id="24" name="TextBox 24"/>
            <p:cNvSpPr txBox="1"/>
            <p:nvPr/>
          </p:nvSpPr>
          <p:spPr>
            <a:xfrm>
              <a:off x="1001649" y="3811429"/>
              <a:ext cx="302185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Belirsiz üçüncü durum yoktur</a:t>
              </a:r>
            </a:p>
          </p:txBody>
        </p:sp>
      </p:grpSp>
      <p:grpSp>
        <p:nvGrpSpPr>
          <p:cNvPr id="36" name="compare-external"/>
          <p:cNvGrpSpPr/>
          <p:nvPr/>
        </p:nvGrpSpPr>
        <p:grpSpPr>
          <a:xfrm>
            <a:off x="6324600" y="2057400"/>
            <a:ext cx="5257800" cy="2095500"/>
            <a:chOff x="6324600" y="2057400"/>
            <a:chExt cx="5257800" cy="2095500"/>
          </a:xfrm>
        </p:grpSpPr>
        <p:sp>
          <p:nvSpPr>
            <p:cNvPr id="26" name="Rectangle 26"/>
            <p:cNvSpPr/>
            <p:nvPr/>
          </p:nvSpPr>
          <p:spPr>
            <a:xfrm>
              <a:off x="6324600" y="2057400"/>
              <a:ext cx="5257800" cy="2095500"/>
            </a:xfrm>
            <a:prstGeom prst="roundRect">
              <a:avLst>
                <a:gd name="adj" fmla="val 4545"/>
              </a:avLst>
            </a:prstGeom>
            <a:solidFill>
              <a:srgbClr val="EAF4F6"/>
            </a:solidFill>
            <a:ln w="14288">
              <a:solidFill>
                <a:srgbClr val="00A6A6"/>
              </a:solidFill>
            </a:ln>
          </p:spPr>
        </p:sp>
        <p:sp>
          <p:nvSpPr>
            <p:cNvPr id="27" name="TextBox 27"/>
            <p:cNvSpPr txBox="1"/>
            <p:nvPr/>
          </p:nvSpPr>
          <p:spPr>
            <a:xfrm>
              <a:off x="6544056" y="2205990"/>
              <a:ext cx="227850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Dış dünya çağrısı</a:t>
              </a:r>
            </a:p>
          </p:txBody>
        </p:sp>
        <p:sp>
          <p:nvSpPr>
            <p:cNvPr id="28" name="Rectangle 28"/>
            <p:cNvSpPr/>
            <p:nvPr/>
          </p:nvSpPr>
          <p:spPr>
            <a:xfrm>
              <a:off x="6553200" y="2571750"/>
              <a:ext cx="57150" cy="285750"/>
            </a:xfrm>
            <a:prstGeom prst="rect">
              <a:avLst/>
            </a:prstGeom>
            <a:solidFill>
              <a:srgbClr val="00A6A6"/>
            </a:solidFill>
            <a:ln>
              <a:noFill/>
            </a:ln>
          </p:spPr>
        </p:sp>
        <p:sp>
          <p:nvSpPr>
            <p:cNvPr id="29" name="TextBox 29"/>
            <p:cNvSpPr txBox="1"/>
            <p:nvPr/>
          </p:nvSpPr>
          <p:spPr>
            <a:xfrm>
              <a:off x="6716649" y="2611279"/>
              <a:ext cx="375528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Saniyeler sürebilir, hiç dönmeyebilir</a:t>
              </a:r>
            </a:p>
          </p:txBody>
        </p:sp>
        <p:sp>
          <p:nvSpPr>
            <p:cNvPr id="30" name="Rectangle 30"/>
            <p:cNvSpPr/>
            <p:nvPr/>
          </p:nvSpPr>
          <p:spPr>
            <a:xfrm>
              <a:off x="6553200" y="2971800"/>
              <a:ext cx="57150" cy="285750"/>
            </a:xfrm>
            <a:prstGeom prst="rect">
              <a:avLst/>
            </a:prstGeom>
            <a:solidFill>
              <a:srgbClr val="00A6A6"/>
            </a:solidFill>
            <a:ln>
              <a:noFill/>
            </a:ln>
          </p:spPr>
        </p:sp>
        <p:sp>
          <p:nvSpPr>
            <p:cNvPr id="31" name="TextBox 31"/>
            <p:cNvSpPr txBox="1"/>
            <p:nvPr/>
          </p:nvSpPr>
          <p:spPr>
            <a:xfrm>
              <a:off x="6716649" y="3011329"/>
              <a:ext cx="410643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Ağ gecikmesi ve geçici kesinti olağandır</a:t>
              </a:r>
            </a:p>
          </p:txBody>
        </p:sp>
        <p:sp>
          <p:nvSpPr>
            <p:cNvPr id="32" name="Rectangle 32"/>
            <p:cNvSpPr/>
            <p:nvPr/>
          </p:nvSpPr>
          <p:spPr>
            <a:xfrm>
              <a:off x="6553200" y="3371850"/>
              <a:ext cx="57150" cy="285750"/>
            </a:xfrm>
            <a:prstGeom prst="rect">
              <a:avLst/>
            </a:prstGeom>
            <a:solidFill>
              <a:srgbClr val="00A6A6"/>
            </a:solidFill>
            <a:ln>
              <a:noFill/>
            </a:ln>
          </p:spPr>
        </p:sp>
        <p:sp>
          <p:nvSpPr>
            <p:cNvPr id="33" name="TextBox 33"/>
            <p:cNvSpPr txBox="1"/>
            <p:nvPr/>
          </p:nvSpPr>
          <p:spPr>
            <a:xfrm>
              <a:off x="6716649" y="3411379"/>
              <a:ext cx="426642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Kısmi hata: ulaştı mı, işlendi mi belirsiz</a:t>
              </a:r>
            </a:p>
          </p:txBody>
        </p:sp>
        <p:sp>
          <p:nvSpPr>
            <p:cNvPr id="34" name="Rectangle 34"/>
            <p:cNvSpPr/>
            <p:nvPr/>
          </p:nvSpPr>
          <p:spPr>
            <a:xfrm>
              <a:off x="6553200" y="3771900"/>
              <a:ext cx="57150" cy="285750"/>
            </a:xfrm>
            <a:prstGeom prst="rect">
              <a:avLst/>
            </a:prstGeom>
            <a:solidFill>
              <a:srgbClr val="00A6A6"/>
            </a:solidFill>
            <a:ln>
              <a:noFill/>
            </a:ln>
          </p:spPr>
        </p:sp>
        <p:sp>
          <p:nvSpPr>
            <p:cNvPr id="35" name="TextBox 35"/>
            <p:cNvSpPr txBox="1"/>
            <p:nvPr/>
          </p:nvSpPr>
          <p:spPr>
            <a:xfrm>
              <a:off x="6716649" y="3811429"/>
              <a:ext cx="401075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İsteğin kaybolmuş olma ihtimali vardır</a:t>
              </a:r>
            </a:p>
          </p:txBody>
        </p:sp>
      </p:grpSp>
      <p:grpSp>
        <p:nvGrpSpPr>
          <p:cNvPr id="41" name="fallacies-note"/>
          <p:cNvGrpSpPr/>
          <p:nvPr/>
        </p:nvGrpSpPr>
        <p:grpSpPr>
          <a:xfrm>
            <a:off x="609600" y="4305300"/>
            <a:ext cx="10972800" cy="919068"/>
            <a:chOff x="609600" y="4305300"/>
            <a:chExt cx="10972800" cy="919068"/>
          </a:xfrm>
        </p:grpSpPr>
        <p:sp>
          <p:nvSpPr>
            <p:cNvPr id="37" name="Rectangle 37"/>
            <p:cNvSpPr/>
            <p:nvPr/>
          </p:nvSpPr>
          <p:spPr>
            <a:xfrm>
              <a:off x="609600" y="4305300"/>
              <a:ext cx="10972800" cy="876300"/>
            </a:xfrm>
            <a:prstGeom prst="roundRect">
              <a:avLst>
                <a:gd name="adj" fmla="val 8696"/>
              </a:avLst>
            </a:prstGeom>
            <a:solidFill>
              <a:srgbClr val="12355B"/>
            </a:solidFill>
            <a:ln>
              <a:noFill/>
            </a:ln>
          </p:spPr>
        </p:sp>
        <p:sp>
          <p:nvSpPr>
            <p:cNvPr id="38" name="TextBox 38"/>
            <p:cNvSpPr txBox="1"/>
            <p:nvPr/>
          </p:nvSpPr>
          <p:spPr>
            <a:xfrm>
              <a:off x="906399" y="4440079"/>
              <a:ext cx="5815309"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Derinlemesine — Deutsch &amp; Sun Microsystems, 1994</a:t>
              </a:r>
            </a:p>
          </p:txBody>
        </p:sp>
        <p:sp>
          <p:nvSpPr>
            <p:cNvPr id="39" name="TextBox 39"/>
            <p:cNvSpPr txBox="1"/>
            <p:nvPr/>
          </p:nvSpPr>
          <p:spPr>
            <a:xfrm>
              <a:off x="906399" y="4706779"/>
              <a:ext cx="8766602"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mn-lt"/>
                  <a:ea typeface="+mn-ea"/>
                  <a:cs typeface="+mn-cs"/>
                </a:rPr>
                <a:t>"Dağıtık Hesaplamanın Sekiz Yanılgısı": "ağ güvenilirdir", "gecikme sıfırdır" gibi</a:t>
              </a:r>
            </a:p>
          </p:txBody>
        </p:sp>
        <p:sp>
          <p:nvSpPr>
            <p:cNvPr id="40" name="TextBox 40"/>
            <p:cNvSpPr txBox="1"/>
            <p:nvPr/>
          </p:nvSpPr>
          <p:spPr>
            <a:xfrm>
              <a:off x="906399" y="4916329"/>
              <a:ext cx="5546192"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mn-lt"/>
                  <a:ea typeface="+mn-ea"/>
                  <a:cs typeface="+mn-cs"/>
                </a:rPr>
                <a:t>varsayımlar dış dünya etkileşimlerinde yanlış çıkar.</a:t>
              </a:r>
            </a:p>
          </p:txBody>
        </p:sp>
      </p:grpSp>
      <p:grpSp>
        <p:nvGrpSpPr>
          <p:cNvPr id="45" name="three-disciplines"/>
          <p:cNvGrpSpPr/>
          <p:nvPr/>
        </p:nvGrpSpPr>
        <p:grpSpPr>
          <a:xfrm>
            <a:off x="609600" y="5391150"/>
            <a:ext cx="10972800" cy="723900"/>
            <a:chOff x="609600" y="5391150"/>
            <a:chExt cx="10972800" cy="723900"/>
          </a:xfrm>
        </p:grpSpPr>
        <p:sp>
          <p:nvSpPr>
            <p:cNvPr id="42" name="Rectangle 42"/>
            <p:cNvSpPr/>
            <p:nvPr/>
          </p:nvSpPr>
          <p:spPr>
            <a:xfrm>
              <a:off x="609600" y="5391150"/>
              <a:ext cx="10972800" cy="723900"/>
            </a:xfrm>
            <a:prstGeom prst="roundRect">
              <a:avLst>
                <a:gd name="adj" fmla="val 10526"/>
              </a:avLst>
            </a:prstGeom>
            <a:solidFill>
              <a:srgbClr val="EAF4F6"/>
            </a:solidFill>
            <a:ln>
              <a:noFill/>
            </a:ln>
          </p:spPr>
        </p:sp>
        <p:sp>
          <p:nvSpPr>
            <p:cNvPr id="43" name="TextBox 43"/>
            <p:cNvSpPr txBox="1"/>
            <p:nvPr/>
          </p:nvSpPr>
          <p:spPr>
            <a:xfrm>
              <a:off x="906399" y="5506879"/>
              <a:ext cx="225637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Üç tasarım disiplini:</a:t>
              </a:r>
            </a:p>
          </p:txBody>
        </p:sp>
        <p:sp>
          <p:nvSpPr>
            <p:cNvPr id="44" name="TextBox 44"/>
            <p:cNvSpPr txBox="1"/>
            <p:nvPr/>
          </p:nvSpPr>
          <p:spPr>
            <a:xfrm>
              <a:off x="907542" y="5816918"/>
              <a:ext cx="1032461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Sonucu açıkça başarı/başarısızlık olarak modellemek · üst sınır (timeout) tanımlamak · hata türünü ayırt etmek</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289832" cy="668845"/>
            <a:chOff x="609600" y="171450"/>
            <a:chExt cx="7289832"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659946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Ortak sözleşme: Sonuc&lt;T&gt; deseni</a:t>
              </a:r>
            </a:p>
          </p:txBody>
        </p:sp>
      </p:grpSp>
      <p:grpSp>
        <p:nvGrpSpPr>
          <p:cNvPr id="16" name="type-box"/>
          <p:cNvGrpSpPr/>
          <p:nvPr/>
        </p:nvGrpSpPr>
        <p:grpSpPr>
          <a:xfrm>
            <a:off x="609600" y="1181100"/>
            <a:ext cx="10972800" cy="914400"/>
            <a:chOff x="609600" y="1181100"/>
            <a:chExt cx="10972800" cy="914400"/>
          </a:xfrm>
        </p:grpSpPr>
        <p:sp>
          <p:nvSpPr>
            <p:cNvPr id="13" name="Rectangle 13"/>
            <p:cNvSpPr/>
            <p:nvPr/>
          </p:nvSpPr>
          <p:spPr>
            <a:xfrm>
              <a:off x="609600" y="1181100"/>
              <a:ext cx="10972800" cy="914400"/>
            </a:xfrm>
            <a:prstGeom prst="roundRect">
              <a:avLst>
                <a:gd name="adj" fmla="val 8333"/>
              </a:avLst>
            </a:prstGeom>
            <a:solidFill>
              <a:srgbClr val="12355B"/>
            </a:solidFill>
            <a:ln>
              <a:noFill/>
            </a:ln>
          </p:spPr>
        </p:sp>
        <p:sp>
          <p:nvSpPr>
            <p:cNvPr id="14" name="TextBox 14"/>
            <p:cNvSpPr txBox="1"/>
            <p:nvPr/>
          </p:nvSpPr>
          <p:spPr>
            <a:xfrm>
              <a:off x="905256" y="1367790"/>
              <a:ext cx="5785104" cy="352044"/>
            </a:xfrm>
            <a:prstGeom prst="rect">
              <a:avLst/>
            </a:prstGeom>
            <a:noFill/>
            <a:ln>
              <a:noFill/>
            </a:ln>
          </p:spPr>
          <p:txBody>
            <a:bodyPr wrap="none" lIns="0" tIns="0" rIns="0" bIns="0" anchor="t" anchorCtr="0">
              <a:spAutoFit/>
            </a:bodyPr>
            <a:lstStyle/>
            <a:p>
              <a:pPr algn="l"/>
              <a:r>
                <a:rPr lang="tr-TR" sz="1800" dirty="0">
                  <a:solidFill>
                    <a:srgbClr val="00A6A6"/>
                  </a:solidFill>
                  <a:latin typeface="Consolas"/>
                  <a:ea typeface="Consolas"/>
                  <a:cs typeface="Consolas"/>
                </a:rPr>
                <a:t>type Sonuc&lt;T&gt; = { basarili: true; veri: T }</a:t>
              </a:r>
            </a:p>
          </p:txBody>
        </p:sp>
        <p:sp>
          <p:nvSpPr>
            <p:cNvPr id="15" name="TextBox 15"/>
            <p:cNvSpPr txBox="1"/>
            <p:nvPr/>
          </p:nvSpPr>
          <p:spPr>
            <a:xfrm>
              <a:off x="905256" y="1672590"/>
              <a:ext cx="4816145" cy="352044"/>
            </a:xfrm>
            <a:prstGeom prst="rect">
              <a:avLst/>
            </a:prstGeom>
            <a:noFill/>
            <a:ln>
              <a:noFill/>
            </a:ln>
          </p:spPr>
          <p:txBody>
            <a:bodyPr wrap="none" lIns="0" tIns="0" rIns="0" bIns="0" anchor="t" anchorCtr="0">
              <a:spAutoFit/>
            </a:bodyPr>
            <a:lstStyle/>
            <a:p>
              <a:pPr algn="l"/>
              <a:r>
                <a:rPr lang="tr-TR" sz="1800" dirty="0">
                  <a:solidFill>
                    <a:srgbClr val="FFFFFF"/>
                  </a:solidFill>
                  <a:latin typeface="Consolas"/>
                  <a:ea typeface="Consolas"/>
                  <a:cs typeface="Consolas"/>
                </a:rPr>
                <a:t>| { basarili: false; hata: string };</a:t>
              </a:r>
            </a:p>
          </p:txBody>
        </p:sp>
      </p:grpSp>
      <p:grpSp>
        <p:nvGrpSpPr>
          <p:cNvPr id="24" name="case-dosya"/>
          <p:cNvGrpSpPr/>
          <p:nvPr/>
        </p:nvGrpSpPr>
        <p:grpSpPr>
          <a:xfrm>
            <a:off x="609600" y="2400300"/>
            <a:ext cx="3429000" cy="1714500"/>
            <a:chOff x="609600" y="2400300"/>
            <a:chExt cx="3429000" cy="1714500"/>
          </a:xfrm>
        </p:grpSpPr>
        <p:sp>
          <p:nvSpPr>
            <p:cNvPr id="17" name="Rectangle 17"/>
            <p:cNvSpPr/>
            <p:nvPr/>
          </p:nvSpPr>
          <p:spPr>
            <a:xfrm>
              <a:off x="609600" y="2400300"/>
              <a:ext cx="3429000" cy="1714500"/>
            </a:xfrm>
            <a:prstGeom prst="roundRect">
              <a:avLst>
                <a:gd name="adj" fmla="val 5556"/>
              </a:avLst>
            </a:prstGeom>
            <a:solidFill>
              <a:srgbClr val="FFFFFF"/>
            </a:solidFill>
            <a:ln w="14288">
              <a:solidFill>
                <a:srgbClr val="2E86AB"/>
              </a:solidFill>
            </a:ln>
          </p:spPr>
        </p:sp>
        <p:sp>
          <p:nvSpPr>
            <p:cNvPr id="18" name="TextBox 18"/>
            <p:cNvSpPr txBox="1"/>
            <p:nvPr/>
          </p:nvSpPr>
          <p:spPr>
            <a:xfrm>
              <a:off x="829056" y="2548890"/>
              <a:ext cx="164307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dosyaYukle()</a:t>
              </a:r>
            </a:p>
          </p:txBody>
        </p:sp>
        <p:sp>
          <p:nvSpPr>
            <p:cNvPr id="19" name="Line 19"/>
            <p:cNvSpPr/>
            <p:nvPr/>
          </p:nvSpPr>
          <p:spPr>
            <a:xfrm>
              <a:off x="838200" y="2895600"/>
              <a:ext cx="2971800" cy="9525"/>
            </a:xfrm>
            <a:custGeom>
              <a:avLst/>
              <a:gdLst/>
              <a:ahLst/>
              <a:cxnLst/>
              <a:rect l="l" t="t" r="r" b="b"/>
              <a:pathLst>
                <a:path w="2971800" h="9525">
                  <a:moveTo>
                    <a:pt x="0" y="0"/>
                  </a:moveTo>
                  <a:lnTo>
                    <a:pt x="2971800" y="0"/>
                  </a:lnTo>
                </a:path>
              </a:pathLst>
            </a:custGeom>
            <a:noFill/>
            <a:ln w="9525">
              <a:solidFill>
                <a:srgbClr val="B8CBD3"/>
              </a:solidFill>
            </a:ln>
          </p:spPr>
        </p:sp>
        <p:sp>
          <p:nvSpPr>
            <p:cNvPr id="20" name="Ellipse 20"/>
            <p:cNvSpPr/>
            <p:nvPr/>
          </p:nvSpPr>
          <p:spPr>
            <a:xfrm>
              <a:off x="895350" y="3105150"/>
              <a:ext cx="114300" cy="114300"/>
            </a:xfrm>
            <a:prstGeom prst="ellipse">
              <a:avLst/>
            </a:prstGeom>
            <a:solidFill>
              <a:srgbClr val="2E86AB"/>
            </a:solidFill>
            <a:ln>
              <a:noFill/>
            </a:ln>
          </p:spPr>
        </p:sp>
        <p:sp>
          <p:nvSpPr>
            <p:cNvPr id="21" name="TextBox 21"/>
            <p:cNvSpPr txBox="1"/>
            <p:nvPr/>
          </p:nvSpPr>
          <p:spPr>
            <a:xfrm>
              <a:off x="1115949" y="3049429"/>
              <a:ext cx="144108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basarili: true</a:t>
              </a:r>
            </a:p>
          </p:txBody>
        </p:sp>
        <p:sp>
          <p:nvSpPr>
            <p:cNvPr id="22" name="TextBox 22"/>
            <p:cNvSpPr txBox="1"/>
            <p:nvPr/>
          </p:nvSpPr>
          <p:spPr>
            <a:xfrm>
              <a:off x="1117854" y="3337560"/>
              <a:ext cx="24908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veri: { dosyaAdi: "kapak.jpg" }</a:t>
              </a:r>
            </a:p>
          </p:txBody>
        </p:sp>
        <p:sp>
          <p:nvSpPr>
            <p:cNvPr id="23" name="TextBox 23"/>
            <p:cNvSpPr txBox="1"/>
            <p:nvPr/>
          </p:nvSpPr>
          <p:spPr>
            <a:xfrm>
              <a:off x="832104" y="3718560"/>
              <a:ext cx="242443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Yükleme başarıyla sonuçlanır.</a:t>
              </a:r>
            </a:p>
          </p:txBody>
        </p:sp>
      </p:grpSp>
      <p:grpSp>
        <p:nvGrpSpPr>
          <p:cNvPr id="32" name="case-api"/>
          <p:cNvGrpSpPr/>
          <p:nvPr/>
        </p:nvGrpSpPr>
        <p:grpSpPr>
          <a:xfrm>
            <a:off x="4381500" y="2400300"/>
            <a:ext cx="3429000" cy="1714500"/>
            <a:chOff x="4381500" y="2400300"/>
            <a:chExt cx="3429000" cy="1714500"/>
          </a:xfrm>
        </p:grpSpPr>
        <p:sp>
          <p:nvSpPr>
            <p:cNvPr id="25" name="Rectangle 25"/>
            <p:cNvSpPr/>
            <p:nvPr/>
          </p:nvSpPr>
          <p:spPr>
            <a:xfrm>
              <a:off x="4381500" y="2400300"/>
              <a:ext cx="3429000" cy="1714500"/>
            </a:xfrm>
            <a:prstGeom prst="roundRect">
              <a:avLst>
                <a:gd name="adj" fmla="val 5556"/>
              </a:avLst>
            </a:prstGeom>
            <a:solidFill>
              <a:srgbClr val="FFFFFF"/>
            </a:solidFill>
            <a:ln w="14288">
              <a:solidFill>
                <a:srgbClr val="B8CBD3"/>
              </a:solidFill>
            </a:ln>
          </p:spPr>
        </p:sp>
        <p:sp>
          <p:nvSpPr>
            <p:cNvPr id="26" name="TextBox 26"/>
            <p:cNvSpPr txBox="1"/>
            <p:nvPr/>
          </p:nvSpPr>
          <p:spPr>
            <a:xfrm>
              <a:off x="4600956" y="2548890"/>
              <a:ext cx="215138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harici_apiCagir()</a:t>
              </a:r>
            </a:p>
          </p:txBody>
        </p:sp>
        <p:sp>
          <p:nvSpPr>
            <p:cNvPr id="27" name="Line 27"/>
            <p:cNvSpPr/>
            <p:nvPr/>
          </p:nvSpPr>
          <p:spPr>
            <a:xfrm>
              <a:off x="4610100" y="2895600"/>
              <a:ext cx="2971800" cy="9525"/>
            </a:xfrm>
            <a:custGeom>
              <a:avLst/>
              <a:gdLst/>
              <a:ahLst/>
              <a:cxnLst/>
              <a:rect l="l" t="t" r="r" b="b"/>
              <a:pathLst>
                <a:path w="2971800" h="9525">
                  <a:moveTo>
                    <a:pt x="0" y="0"/>
                  </a:moveTo>
                  <a:lnTo>
                    <a:pt x="2971800" y="0"/>
                  </a:lnTo>
                </a:path>
              </a:pathLst>
            </a:custGeom>
            <a:noFill/>
            <a:ln w="9525">
              <a:solidFill>
                <a:srgbClr val="B8CBD3"/>
              </a:solidFill>
            </a:ln>
          </p:spPr>
        </p:sp>
        <p:sp>
          <p:nvSpPr>
            <p:cNvPr id="28" name="Ellipse 28"/>
            <p:cNvSpPr/>
            <p:nvPr/>
          </p:nvSpPr>
          <p:spPr>
            <a:xfrm>
              <a:off x="4667250" y="3105150"/>
              <a:ext cx="114300" cy="114300"/>
            </a:xfrm>
            <a:prstGeom prst="ellipse">
              <a:avLst/>
            </a:prstGeom>
            <a:solidFill>
              <a:srgbClr val="52616B"/>
            </a:solidFill>
            <a:ln>
              <a:noFill/>
            </a:ln>
          </p:spPr>
        </p:sp>
        <p:sp>
          <p:nvSpPr>
            <p:cNvPr id="29" name="TextBox 29"/>
            <p:cNvSpPr txBox="1"/>
            <p:nvPr/>
          </p:nvSpPr>
          <p:spPr>
            <a:xfrm>
              <a:off x="4887849" y="3049429"/>
              <a:ext cx="150489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basarili: false</a:t>
              </a:r>
            </a:p>
          </p:txBody>
        </p:sp>
        <p:sp>
          <p:nvSpPr>
            <p:cNvPr id="30" name="TextBox 30"/>
            <p:cNvSpPr txBox="1"/>
            <p:nvPr/>
          </p:nvSpPr>
          <p:spPr>
            <a:xfrm>
              <a:off x="4889754" y="3337560"/>
              <a:ext cx="17801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hata: "Zaman aşımı."</a:t>
              </a:r>
            </a:p>
          </p:txBody>
        </p:sp>
        <p:sp>
          <p:nvSpPr>
            <p:cNvPr id="31" name="TextBox 31"/>
            <p:cNvSpPr txBox="1"/>
            <p:nvPr/>
          </p:nvSpPr>
          <p:spPr>
            <a:xfrm>
              <a:off x="4604004" y="3718560"/>
              <a:ext cx="303876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Dış çağrı her zaman başarılı dönmez.</a:t>
              </a:r>
            </a:p>
          </p:txBody>
        </p:sp>
      </p:grpSp>
      <p:grpSp>
        <p:nvGrpSpPr>
          <p:cNvPr id="40" name="case-eposta"/>
          <p:cNvGrpSpPr/>
          <p:nvPr/>
        </p:nvGrpSpPr>
        <p:grpSpPr>
          <a:xfrm>
            <a:off x="8153400" y="2400300"/>
            <a:ext cx="3429000" cy="1714500"/>
            <a:chOff x="8153400" y="2400300"/>
            <a:chExt cx="3429000" cy="1714500"/>
          </a:xfrm>
        </p:grpSpPr>
        <p:sp>
          <p:nvSpPr>
            <p:cNvPr id="33" name="Rectangle 33"/>
            <p:cNvSpPr/>
            <p:nvPr/>
          </p:nvSpPr>
          <p:spPr>
            <a:xfrm>
              <a:off x="8153400" y="2400300"/>
              <a:ext cx="3429000" cy="1714500"/>
            </a:xfrm>
            <a:prstGeom prst="roundRect">
              <a:avLst>
                <a:gd name="adj" fmla="val 5556"/>
              </a:avLst>
            </a:prstGeom>
            <a:solidFill>
              <a:srgbClr val="FFFFFF"/>
            </a:solidFill>
            <a:ln w="14288">
              <a:solidFill>
                <a:srgbClr val="2E86AB"/>
              </a:solidFill>
            </a:ln>
          </p:spPr>
        </p:sp>
        <p:sp>
          <p:nvSpPr>
            <p:cNvPr id="34" name="TextBox 34"/>
            <p:cNvSpPr txBox="1"/>
            <p:nvPr/>
          </p:nvSpPr>
          <p:spPr>
            <a:xfrm>
              <a:off x="8372856" y="2548890"/>
              <a:ext cx="211735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eposta_gonder()</a:t>
              </a:r>
            </a:p>
          </p:txBody>
        </p:sp>
        <p:sp>
          <p:nvSpPr>
            <p:cNvPr id="35" name="Line 35"/>
            <p:cNvSpPr/>
            <p:nvPr/>
          </p:nvSpPr>
          <p:spPr>
            <a:xfrm>
              <a:off x="8382000" y="2895600"/>
              <a:ext cx="2971800" cy="9525"/>
            </a:xfrm>
            <a:custGeom>
              <a:avLst/>
              <a:gdLst/>
              <a:ahLst/>
              <a:cxnLst/>
              <a:rect l="l" t="t" r="r" b="b"/>
              <a:pathLst>
                <a:path w="2971800" h="9525">
                  <a:moveTo>
                    <a:pt x="0" y="0"/>
                  </a:moveTo>
                  <a:lnTo>
                    <a:pt x="2971800" y="0"/>
                  </a:lnTo>
                </a:path>
              </a:pathLst>
            </a:custGeom>
            <a:noFill/>
            <a:ln w="9525">
              <a:solidFill>
                <a:srgbClr val="B8CBD3"/>
              </a:solidFill>
            </a:ln>
          </p:spPr>
        </p:sp>
        <p:sp>
          <p:nvSpPr>
            <p:cNvPr id="36" name="Ellipse 36"/>
            <p:cNvSpPr/>
            <p:nvPr/>
          </p:nvSpPr>
          <p:spPr>
            <a:xfrm>
              <a:off x="8439150" y="3105150"/>
              <a:ext cx="114300" cy="114300"/>
            </a:xfrm>
            <a:prstGeom prst="ellipse">
              <a:avLst/>
            </a:prstGeom>
            <a:solidFill>
              <a:srgbClr val="2E86AB"/>
            </a:solidFill>
            <a:ln>
              <a:noFill/>
            </a:ln>
          </p:spPr>
        </p:sp>
        <p:sp>
          <p:nvSpPr>
            <p:cNvPr id="37" name="TextBox 37"/>
            <p:cNvSpPr txBox="1"/>
            <p:nvPr/>
          </p:nvSpPr>
          <p:spPr>
            <a:xfrm>
              <a:off x="8659749" y="3049429"/>
              <a:ext cx="144108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basarili: true</a:t>
              </a:r>
            </a:p>
          </p:txBody>
        </p:sp>
        <p:sp>
          <p:nvSpPr>
            <p:cNvPr id="38" name="TextBox 38"/>
            <p:cNvSpPr txBox="1"/>
            <p:nvPr/>
          </p:nvSpPr>
          <p:spPr>
            <a:xfrm>
              <a:off x="8661654" y="3337560"/>
              <a:ext cx="7391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veri: null</a:t>
              </a:r>
            </a:p>
          </p:txBody>
        </p:sp>
        <p:sp>
          <p:nvSpPr>
            <p:cNvPr id="39" name="TextBox 39"/>
            <p:cNvSpPr txBox="1"/>
            <p:nvPr/>
          </p:nvSpPr>
          <p:spPr>
            <a:xfrm>
              <a:off x="8375904" y="3718560"/>
              <a:ext cx="287710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Gönderim yapıldı, dönüş değeri yok.</a:t>
              </a:r>
            </a:p>
          </p:txBody>
        </p:sp>
      </p:grpSp>
      <p:grpSp>
        <p:nvGrpSpPr>
          <p:cNvPr id="44" name="key-note"/>
          <p:cNvGrpSpPr/>
          <p:nvPr/>
        </p:nvGrpSpPr>
        <p:grpSpPr>
          <a:xfrm>
            <a:off x="609600" y="4381500"/>
            <a:ext cx="10972800" cy="876300"/>
            <a:chOff x="609600" y="4381500"/>
            <a:chExt cx="10972800" cy="876300"/>
          </a:xfrm>
        </p:grpSpPr>
        <p:sp>
          <p:nvSpPr>
            <p:cNvPr id="41" name="Rectangle 41"/>
            <p:cNvSpPr/>
            <p:nvPr/>
          </p:nvSpPr>
          <p:spPr>
            <a:xfrm>
              <a:off x="609600" y="4381500"/>
              <a:ext cx="10972800" cy="876300"/>
            </a:xfrm>
            <a:prstGeom prst="roundRect">
              <a:avLst>
                <a:gd name="adj" fmla="val 8696"/>
              </a:avLst>
            </a:prstGeom>
            <a:solidFill>
              <a:srgbClr val="EAF4F6"/>
            </a:solidFill>
            <a:ln>
              <a:noFill/>
            </a:ln>
          </p:spPr>
        </p:sp>
        <p:sp>
          <p:nvSpPr>
            <p:cNvPr id="42" name="TextBox 42"/>
            <p:cNvSpPr txBox="1"/>
            <p:nvPr/>
          </p:nvSpPr>
          <p:spPr>
            <a:xfrm>
              <a:off x="906399" y="4516279"/>
              <a:ext cx="632131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Çağıran kod, sonucu basarili alanına bakmadan kullanamaz</a:t>
              </a:r>
            </a:p>
          </p:txBody>
        </p:sp>
        <p:sp>
          <p:nvSpPr>
            <p:cNvPr id="43" name="TextBox 43"/>
            <p:cNvSpPr txBox="1"/>
            <p:nvPr/>
          </p:nvSpPr>
          <p:spPr>
            <a:xfrm>
              <a:off x="906399" y="4782979"/>
              <a:ext cx="901649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TypeScript basarili alanına göre veri veya hata türünü daraltır (discriminated union).</a:t>
              </a:r>
            </a:p>
          </p:txBody>
        </p:sp>
      </p:grpSp>
      <p:grpSp>
        <p:nvGrpSpPr>
          <p:cNvPr id="47" name="anti-pattern"/>
          <p:cNvGrpSpPr/>
          <p:nvPr/>
        </p:nvGrpSpPr>
        <p:grpSpPr>
          <a:xfrm>
            <a:off x="601599" y="5525929"/>
            <a:ext cx="9861972" cy="535972"/>
            <a:chOff x="601599" y="5525929"/>
            <a:chExt cx="9861972" cy="535972"/>
          </a:xfrm>
        </p:grpSpPr>
        <p:sp>
          <p:nvSpPr>
            <p:cNvPr id="45" name="TextBox 45"/>
            <p:cNvSpPr txBox="1"/>
            <p:nvPr/>
          </p:nvSpPr>
          <p:spPr>
            <a:xfrm>
              <a:off x="601599" y="5525929"/>
              <a:ext cx="131867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a:t>
              </a:r>
            </a:p>
          </p:txBody>
        </p:sp>
        <p:sp>
          <p:nvSpPr>
            <p:cNvPr id="46" name="TextBox 46"/>
            <p:cNvSpPr txBox="1"/>
            <p:nvPr/>
          </p:nvSpPr>
          <p:spPr>
            <a:xfrm>
              <a:off x="602742" y="5797868"/>
              <a:ext cx="9860829"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Dış çağrının her zaman hızlı ve başarılı döneceğini varsaymak; sessizce null/undefined döndürmek önerilmez.</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662549" cy="557403"/>
            <a:chOff x="595122" y="282892"/>
            <a:chExt cx="5662549" cy="557403"/>
          </a:xfrm>
        </p:grpSpPr>
        <p:sp>
          <p:nvSpPr>
            <p:cNvPr id="4" name="TextBox 4"/>
            <p:cNvSpPr txBox="1"/>
            <p:nvPr/>
          </p:nvSpPr>
          <p:spPr>
            <a:xfrm>
              <a:off x="595122" y="282892"/>
              <a:ext cx="566254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Multipart/form-data yapısı</a:t>
              </a:r>
            </a:p>
          </p:txBody>
        </p:sp>
      </p:grpSp>
      <p:grpSp>
        <p:nvGrpSpPr>
          <p:cNvPr id="8" name="definition"/>
          <p:cNvGrpSpPr/>
          <p:nvPr/>
        </p:nvGrpSpPr>
        <p:grpSpPr>
          <a:xfrm>
            <a:off x="600456" y="1234440"/>
            <a:ext cx="9665526" cy="599694"/>
            <a:chOff x="600456" y="1234440"/>
            <a:chExt cx="9665526" cy="599694"/>
          </a:xfrm>
        </p:grpSpPr>
        <p:sp>
          <p:nvSpPr>
            <p:cNvPr id="6" name="TextBox 6"/>
            <p:cNvSpPr txBox="1"/>
            <p:nvPr/>
          </p:nvSpPr>
          <p:spPr>
            <a:xfrm>
              <a:off x="600456" y="1234440"/>
              <a:ext cx="9665526"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Bir HTTP isteğinin gövdesini, kendi başlığı ve içeriği olan parçalara (part) ayıran</a:t>
              </a:r>
            </a:p>
          </p:txBody>
        </p:sp>
        <p:sp>
          <p:nvSpPr>
            <p:cNvPr id="7" name="TextBox 7"/>
            <p:cNvSpPr txBox="1"/>
            <p:nvPr/>
          </p:nvSpPr>
          <p:spPr>
            <a:xfrm>
              <a:off x="600456" y="1482090"/>
              <a:ext cx="6684264"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kodlama biçimi (RFC 7578, MIME kökenli RFC 2045-2049).</a:t>
              </a:r>
            </a:p>
          </p:txBody>
        </p:sp>
      </p:grpSp>
      <p:grpSp>
        <p:nvGrpSpPr>
          <p:cNvPr id="17" name="anatomy"/>
          <p:cNvGrpSpPr/>
          <p:nvPr/>
        </p:nvGrpSpPr>
        <p:grpSpPr>
          <a:xfrm>
            <a:off x="609600" y="1905000"/>
            <a:ext cx="10972800" cy="1905000"/>
            <a:chOff x="609600" y="1905000"/>
            <a:chExt cx="10972800" cy="1905000"/>
          </a:xfrm>
        </p:grpSpPr>
        <p:sp>
          <p:nvSpPr>
            <p:cNvPr id="9" name="Rectangle 9"/>
            <p:cNvSpPr/>
            <p:nvPr/>
          </p:nvSpPr>
          <p:spPr>
            <a:xfrm>
              <a:off x="609600" y="1905000"/>
              <a:ext cx="10972800" cy="1905000"/>
            </a:xfrm>
            <a:prstGeom prst="roundRect">
              <a:avLst>
                <a:gd name="adj" fmla="val 4000"/>
              </a:avLst>
            </a:prstGeom>
            <a:solidFill>
              <a:srgbClr val="12355B"/>
            </a:solidFill>
            <a:ln>
              <a:noFill/>
            </a:ln>
          </p:spPr>
        </p:sp>
        <p:sp>
          <p:nvSpPr>
            <p:cNvPr id="10" name="TextBox 10"/>
            <p:cNvSpPr txBox="1"/>
            <p:nvPr/>
          </p:nvSpPr>
          <p:spPr>
            <a:xfrm>
              <a:off x="908304" y="2061210"/>
              <a:ext cx="63413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--sinir</a:t>
              </a:r>
            </a:p>
          </p:txBody>
        </p:sp>
        <p:sp>
          <p:nvSpPr>
            <p:cNvPr id="11" name="TextBox 11"/>
            <p:cNvSpPr txBox="1"/>
            <p:nvPr/>
          </p:nvSpPr>
          <p:spPr>
            <a:xfrm>
              <a:off x="908304" y="2308860"/>
              <a:ext cx="4295523"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Content-Disposition: form-data; name="kitapKodu"</a:t>
              </a:r>
            </a:p>
          </p:txBody>
        </p:sp>
        <p:sp>
          <p:nvSpPr>
            <p:cNvPr id="12" name="TextBox 12"/>
            <p:cNvSpPr txBox="1"/>
            <p:nvPr/>
          </p:nvSpPr>
          <p:spPr>
            <a:xfrm>
              <a:off x="908304" y="2537460"/>
              <a:ext cx="76321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JAVA-101</a:t>
              </a:r>
            </a:p>
          </p:txBody>
        </p:sp>
        <p:sp>
          <p:nvSpPr>
            <p:cNvPr id="13" name="TextBox 13"/>
            <p:cNvSpPr txBox="1"/>
            <p:nvPr/>
          </p:nvSpPr>
          <p:spPr>
            <a:xfrm>
              <a:off x="908304" y="2842260"/>
              <a:ext cx="63413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--sinir</a:t>
              </a:r>
            </a:p>
          </p:txBody>
        </p:sp>
        <p:sp>
          <p:nvSpPr>
            <p:cNvPr id="14" name="TextBox 14"/>
            <p:cNvSpPr txBox="1"/>
            <p:nvPr/>
          </p:nvSpPr>
          <p:spPr>
            <a:xfrm>
              <a:off x="908304" y="3089910"/>
              <a:ext cx="5889256"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Content-Disposition: form-data; name="dosya"; filename="kapak.jpg"</a:t>
              </a:r>
            </a:p>
          </p:txBody>
        </p:sp>
        <p:sp>
          <p:nvSpPr>
            <p:cNvPr id="15" name="TextBox 15"/>
            <p:cNvSpPr txBox="1"/>
            <p:nvPr/>
          </p:nvSpPr>
          <p:spPr>
            <a:xfrm>
              <a:off x="908304" y="3318510"/>
              <a:ext cx="2156643"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Content-Type: image/jpeg</a:t>
              </a:r>
            </a:p>
          </p:txBody>
        </p:sp>
        <p:sp>
          <p:nvSpPr>
            <p:cNvPr id="16" name="TextBox 16"/>
            <p:cNvSpPr txBox="1"/>
            <p:nvPr/>
          </p:nvSpPr>
          <p:spPr>
            <a:xfrm>
              <a:off x="908304" y="3528060"/>
              <a:ext cx="170032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(ikili bayt dizisi)</a:t>
              </a:r>
            </a:p>
          </p:txBody>
        </p:sp>
      </p:grpSp>
      <p:grpSp>
        <p:nvGrpSpPr>
          <p:cNvPr id="23" name="why-not-json"/>
          <p:cNvGrpSpPr/>
          <p:nvPr/>
        </p:nvGrpSpPr>
        <p:grpSpPr>
          <a:xfrm>
            <a:off x="609600" y="4038600"/>
            <a:ext cx="5257800" cy="1504950"/>
            <a:chOff x="609600" y="4038600"/>
            <a:chExt cx="5257800" cy="1504950"/>
          </a:xfrm>
        </p:grpSpPr>
        <p:sp>
          <p:nvSpPr>
            <p:cNvPr id="18" name="Rectangle 18"/>
            <p:cNvSpPr/>
            <p:nvPr/>
          </p:nvSpPr>
          <p:spPr>
            <a:xfrm>
              <a:off x="609600" y="4038600"/>
              <a:ext cx="5257800" cy="1504950"/>
            </a:xfrm>
            <a:prstGeom prst="roundRect">
              <a:avLst>
                <a:gd name="adj" fmla="val 6329"/>
              </a:avLst>
            </a:prstGeom>
            <a:solidFill>
              <a:srgbClr val="FFFFFF"/>
            </a:solidFill>
            <a:ln w="14288">
              <a:solidFill>
                <a:srgbClr val="B8CBD3"/>
              </a:solidFill>
            </a:ln>
          </p:spPr>
        </p:sp>
        <p:sp>
          <p:nvSpPr>
            <p:cNvPr id="19" name="TextBox 19"/>
            <p:cNvSpPr txBox="1"/>
            <p:nvPr/>
          </p:nvSpPr>
          <p:spPr>
            <a:xfrm>
              <a:off x="829056" y="4168140"/>
              <a:ext cx="254935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JSON neden yetmez?</a:t>
              </a:r>
            </a:p>
          </p:txBody>
        </p:sp>
        <p:sp>
          <p:nvSpPr>
            <p:cNvPr id="20" name="TextBox 20"/>
            <p:cNvSpPr txBox="1"/>
            <p:nvPr/>
          </p:nvSpPr>
          <p:spPr>
            <a:xfrm>
              <a:off x="830199" y="4478179"/>
              <a:ext cx="406200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JSON yalnızca metinsel (UTF-8/16/32)</a:t>
              </a:r>
            </a:p>
          </p:txBody>
        </p:sp>
        <p:sp>
          <p:nvSpPr>
            <p:cNvPr id="21" name="TextBox 21"/>
            <p:cNvSpPr txBox="1"/>
            <p:nvPr/>
          </p:nvSpPr>
          <p:spPr>
            <a:xfrm>
              <a:off x="830199" y="4725829"/>
              <a:ext cx="385523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değerleri temsil eder; ham ikili baytı</a:t>
              </a:r>
            </a:p>
          </p:txBody>
        </p:sp>
        <p:sp>
          <p:nvSpPr>
            <p:cNvPr id="22" name="TextBox 22"/>
            <p:cNvSpPr txBox="1"/>
            <p:nvPr/>
          </p:nvSpPr>
          <p:spPr>
            <a:xfrm>
              <a:off x="830199" y="4973479"/>
              <a:ext cx="378715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doğrudan barındıramaz (RFC 8259).</a:t>
              </a:r>
            </a:p>
          </p:txBody>
        </p:sp>
      </p:grpSp>
      <p:grpSp>
        <p:nvGrpSpPr>
          <p:cNvPr id="29" name="base64-cost"/>
          <p:cNvGrpSpPr/>
          <p:nvPr/>
        </p:nvGrpSpPr>
        <p:grpSpPr>
          <a:xfrm>
            <a:off x="6324600" y="4038600"/>
            <a:ext cx="5257800" cy="1504950"/>
            <a:chOff x="6324600" y="4038600"/>
            <a:chExt cx="5257800" cy="1504950"/>
          </a:xfrm>
        </p:grpSpPr>
        <p:sp>
          <p:nvSpPr>
            <p:cNvPr id="24" name="Rectangle 24"/>
            <p:cNvSpPr/>
            <p:nvPr/>
          </p:nvSpPr>
          <p:spPr>
            <a:xfrm>
              <a:off x="6324600" y="4038600"/>
              <a:ext cx="5257800" cy="1504950"/>
            </a:xfrm>
            <a:prstGeom prst="roundRect">
              <a:avLst>
                <a:gd name="adj" fmla="val 6329"/>
              </a:avLst>
            </a:prstGeom>
            <a:solidFill>
              <a:srgbClr val="EAF4F6"/>
            </a:solidFill>
            <a:ln w="14288">
              <a:solidFill>
                <a:srgbClr val="00A6A6"/>
              </a:solidFill>
            </a:ln>
          </p:spPr>
        </p:sp>
        <p:sp>
          <p:nvSpPr>
            <p:cNvPr id="25" name="TextBox 25"/>
            <p:cNvSpPr txBox="1"/>
            <p:nvPr/>
          </p:nvSpPr>
          <p:spPr>
            <a:xfrm>
              <a:off x="6544056" y="4168140"/>
              <a:ext cx="19227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Base64 maliyeti</a:t>
              </a:r>
            </a:p>
          </p:txBody>
        </p:sp>
        <p:sp>
          <p:nvSpPr>
            <p:cNvPr id="26" name="TextBox 26"/>
            <p:cNvSpPr txBox="1"/>
            <p:nvPr/>
          </p:nvSpPr>
          <p:spPr>
            <a:xfrm>
              <a:off x="6545199" y="4478179"/>
              <a:ext cx="329367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İkili veriyi JSON'a taşımak için</a:t>
              </a:r>
            </a:p>
          </p:txBody>
        </p:sp>
        <p:sp>
          <p:nvSpPr>
            <p:cNvPr id="27" name="TextBox 27"/>
            <p:cNvSpPr txBox="1"/>
            <p:nvPr/>
          </p:nvSpPr>
          <p:spPr>
            <a:xfrm>
              <a:off x="6545199" y="4725829"/>
              <a:ext cx="408919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base64 gerekir: her 3 bayt 4 karaktere</a:t>
              </a:r>
            </a:p>
          </p:txBody>
        </p:sp>
        <p:sp>
          <p:nvSpPr>
            <p:cNvPr id="28" name="TextBox 28"/>
            <p:cNvSpPr txBox="1"/>
            <p:nvPr/>
          </p:nvSpPr>
          <p:spPr>
            <a:xfrm>
              <a:off x="6545199" y="4973479"/>
              <a:ext cx="396158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genişler — yaklaşık %33 boyut artışı.</a:t>
              </a:r>
            </a:p>
          </p:txBody>
        </p:sp>
      </p:grpSp>
      <p:grpSp>
        <p:nvGrpSpPr>
          <p:cNvPr id="32" name="closing-note"/>
          <p:cNvGrpSpPr/>
          <p:nvPr/>
        </p:nvGrpSpPr>
        <p:grpSpPr>
          <a:xfrm>
            <a:off x="601599" y="5811679"/>
            <a:ext cx="9775639" cy="536639"/>
            <a:chOff x="601599" y="5811679"/>
            <a:chExt cx="9775639" cy="536639"/>
          </a:xfrm>
        </p:grpSpPr>
        <p:sp>
          <p:nvSpPr>
            <p:cNvPr id="30" name="TextBox 30"/>
            <p:cNvSpPr txBox="1"/>
            <p:nvPr/>
          </p:nvSpPr>
          <p:spPr>
            <a:xfrm>
              <a:off x="601599" y="5811679"/>
              <a:ext cx="977563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Node.js backend'de bu ayrıştırma genellikle bir middleware (ör. multer) tarafından yapılır;</a:t>
              </a:r>
            </a:p>
          </p:txBody>
        </p:sp>
        <p:sp>
          <p:nvSpPr>
            <p:cNvPr id="31" name="TextBox 31"/>
            <p:cNvSpPr txBox="1"/>
            <p:nvPr/>
          </p:nvSpPr>
          <p:spPr>
            <a:xfrm>
              <a:off x="601599" y="6040279"/>
              <a:ext cx="707762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sonuç uygulamaya yapılandırılmış bir dosya nesnesi olarak sunulur.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197696" cy="668845"/>
            <a:chOff x="609600" y="171450"/>
            <a:chExt cx="7197696"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650732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Sunucuda dosya alanlarına erişim</a:t>
              </a:r>
            </a:p>
          </p:txBody>
        </p:sp>
      </p:grpSp>
      <p:grpSp>
        <p:nvGrpSpPr>
          <p:cNvPr id="22" name="pipeline"/>
          <p:cNvGrpSpPr/>
          <p:nvPr/>
        </p:nvGrpSpPr>
        <p:grpSpPr>
          <a:xfrm>
            <a:off x="609600" y="1333500"/>
            <a:ext cx="10058400" cy="609600"/>
            <a:chOff x="609600" y="1333500"/>
            <a:chExt cx="10058400" cy="609600"/>
          </a:xfrm>
        </p:grpSpPr>
        <p:sp>
          <p:nvSpPr>
            <p:cNvPr id="14" name="Rectangle 14"/>
            <p:cNvSpPr/>
            <p:nvPr/>
          </p:nvSpPr>
          <p:spPr>
            <a:xfrm>
              <a:off x="609600" y="1333500"/>
              <a:ext cx="2667000" cy="609600"/>
            </a:xfrm>
            <a:prstGeom prst="roundRect">
              <a:avLst>
                <a:gd name="adj" fmla="val 12500"/>
              </a:avLst>
            </a:prstGeom>
            <a:solidFill>
              <a:srgbClr val="FFFFFF"/>
            </a:solidFill>
            <a:ln w="14288">
              <a:solidFill>
                <a:srgbClr val="2E86AB"/>
              </a:solidFill>
            </a:ln>
          </p:spPr>
        </p:sp>
        <p:sp>
          <p:nvSpPr>
            <p:cNvPr id="15" name="TextBox 15"/>
            <p:cNvSpPr txBox="1"/>
            <p:nvPr/>
          </p:nvSpPr>
          <p:spPr>
            <a:xfrm>
              <a:off x="935677" y="1506379"/>
              <a:ext cx="2014846"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multer middleware</a:t>
              </a:r>
            </a:p>
          </p:txBody>
        </p:sp>
        <p:sp>
          <p:nvSpPr>
            <p:cNvPr id="16" name="Line 16"/>
            <p:cNvSpPr/>
            <p:nvPr/>
          </p:nvSpPr>
          <p:spPr>
            <a:xfrm>
              <a:off x="3276600" y="1638300"/>
              <a:ext cx="1028700" cy="1"/>
            </a:xfrm>
            <a:prstGeom prst="line">
              <a:avLst/>
            </a:prstGeom>
            <a:noFill/>
            <a:ln w="23812">
              <a:solidFill>
                <a:srgbClr val="00A6A6"/>
              </a:solidFill>
              <a:tailEnd type="arrow" w="lg" len="lg"/>
            </a:ln>
          </p:spPr>
        </p:sp>
        <p:sp>
          <p:nvSpPr>
            <p:cNvPr id="17" name="Rectangle 17"/>
            <p:cNvSpPr/>
            <p:nvPr/>
          </p:nvSpPr>
          <p:spPr>
            <a:xfrm>
              <a:off x="4305300" y="1333500"/>
              <a:ext cx="2667000" cy="609600"/>
            </a:xfrm>
            <a:prstGeom prst="roundRect">
              <a:avLst>
                <a:gd name="adj" fmla="val 12500"/>
              </a:avLst>
            </a:prstGeom>
            <a:solidFill>
              <a:srgbClr val="FFFFFF"/>
            </a:solidFill>
            <a:ln w="14288">
              <a:solidFill>
                <a:srgbClr val="2E86AB"/>
              </a:solidFill>
            </a:ln>
          </p:spPr>
        </p:sp>
        <p:sp>
          <p:nvSpPr>
            <p:cNvPr id="18" name="TextBox 18"/>
            <p:cNvSpPr txBox="1"/>
            <p:nvPr/>
          </p:nvSpPr>
          <p:spPr>
            <a:xfrm>
              <a:off x="5195297" y="1506379"/>
              <a:ext cx="887007"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req.file</a:t>
              </a:r>
            </a:p>
          </p:txBody>
        </p:sp>
        <p:sp>
          <p:nvSpPr>
            <p:cNvPr id="19" name="Line 19"/>
            <p:cNvSpPr/>
            <p:nvPr/>
          </p:nvSpPr>
          <p:spPr>
            <a:xfrm>
              <a:off x="6972300" y="1638300"/>
              <a:ext cx="1028700" cy="1"/>
            </a:xfrm>
            <a:prstGeom prst="line">
              <a:avLst/>
            </a:prstGeom>
            <a:noFill/>
            <a:ln w="23812">
              <a:solidFill>
                <a:srgbClr val="00A6A6"/>
              </a:solidFill>
              <a:tailEnd type="arrow" w="lg" len="lg"/>
            </a:ln>
          </p:spPr>
        </p:sp>
        <p:sp>
          <p:nvSpPr>
            <p:cNvPr id="20" name="Rectangle 20"/>
            <p:cNvSpPr/>
            <p:nvPr/>
          </p:nvSpPr>
          <p:spPr>
            <a:xfrm>
              <a:off x="8001000" y="1333500"/>
              <a:ext cx="2667000" cy="609600"/>
            </a:xfrm>
            <a:prstGeom prst="roundRect">
              <a:avLst>
                <a:gd name="adj" fmla="val 12500"/>
              </a:avLst>
            </a:prstGeom>
            <a:solidFill>
              <a:srgbClr val="12355B"/>
            </a:solidFill>
            <a:ln>
              <a:noFill/>
            </a:ln>
          </p:spPr>
        </p:sp>
        <p:sp>
          <p:nvSpPr>
            <p:cNvPr id="21" name="TextBox 21"/>
            <p:cNvSpPr txBox="1"/>
            <p:nvPr/>
          </p:nvSpPr>
          <p:spPr>
            <a:xfrm>
              <a:off x="8768163" y="1506379"/>
              <a:ext cx="1132675"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controller</a:t>
              </a:r>
            </a:p>
          </p:txBody>
        </p:sp>
      </p:grpSp>
      <p:grpSp>
        <p:nvGrpSpPr>
          <p:cNvPr id="30" name="interface-box"/>
          <p:cNvGrpSpPr/>
          <p:nvPr/>
        </p:nvGrpSpPr>
        <p:grpSpPr>
          <a:xfrm>
            <a:off x="609600" y="2400300"/>
            <a:ext cx="10972800" cy="2095500"/>
            <a:chOff x="609600" y="2400300"/>
            <a:chExt cx="10972800" cy="2095500"/>
          </a:xfrm>
        </p:grpSpPr>
        <p:sp>
          <p:nvSpPr>
            <p:cNvPr id="23" name="Rectangle 23"/>
            <p:cNvSpPr/>
            <p:nvPr/>
          </p:nvSpPr>
          <p:spPr>
            <a:xfrm>
              <a:off x="609600" y="2400300"/>
              <a:ext cx="10972800" cy="2095500"/>
            </a:xfrm>
            <a:prstGeom prst="roundRect">
              <a:avLst>
                <a:gd name="adj" fmla="val 3636"/>
              </a:avLst>
            </a:prstGeom>
            <a:solidFill>
              <a:srgbClr val="12355B"/>
            </a:solidFill>
            <a:ln>
              <a:noFill/>
            </a:ln>
          </p:spPr>
        </p:sp>
        <p:sp>
          <p:nvSpPr>
            <p:cNvPr id="24" name="TextBox 24"/>
            <p:cNvSpPr txBox="1"/>
            <p:nvPr/>
          </p:nvSpPr>
          <p:spPr>
            <a:xfrm>
              <a:off x="906399" y="2554129"/>
              <a:ext cx="2955671" cy="308039"/>
            </a:xfrm>
            <a:prstGeom prst="rect">
              <a:avLst/>
            </a:prstGeom>
            <a:noFill/>
            <a:ln>
              <a:noFill/>
            </a:ln>
          </p:spPr>
          <p:txBody>
            <a:bodyPr wrap="none" lIns="0" tIns="0" rIns="0" bIns="0" anchor="t" anchorCtr="0">
              <a:spAutoFit/>
            </a:bodyPr>
            <a:lstStyle/>
            <a:p>
              <a:pPr algn="l"/>
              <a:r>
                <a:rPr lang="tr-TR" sz="1580" dirty="0">
                  <a:solidFill>
                    <a:srgbClr val="00A6A6"/>
                  </a:solidFill>
                  <a:latin typeface="Consolas"/>
                  <a:ea typeface="Consolas"/>
                  <a:cs typeface="Consolas"/>
                </a:rPr>
                <a:t>interface YuklenenDosya {</a:t>
              </a:r>
            </a:p>
          </p:txBody>
        </p:sp>
        <p:sp>
          <p:nvSpPr>
            <p:cNvPr id="25" name="TextBox 25"/>
            <p:cNvSpPr txBox="1"/>
            <p:nvPr/>
          </p:nvSpPr>
          <p:spPr>
            <a:xfrm>
              <a:off x="1134999" y="2839879"/>
              <a:ext cx="2246576"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Consolas"/>
                  <a:ea typeface="Consolas"/>
                  <a:cs typeface="Consolas"/>
                </a:rPr>
                <a:t>orijinalAd: string;</a:t>
              </a:r>
            </a:p>
          </p:txBody>
        </p:sp>
        <p:sp>
          <p:nvSpPr>
            <p:cNvPr id="26" name="TextBox 26"/>
            <p:cNvSpPr txBox="1"/>
            <p:nvPr/>
          </p:nvSpPr>
          <p:spPr>
            <a:xfrm>
              <a:off x="1134999" y="3125629"/>
              <a:ext cx="2012784"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Consolas"/>
                  <a:ea typeface="Consolas"/>
                  <a:cs typeface="Consolas"/>
                </a:rPr>
                <a:t>mimeTuru: string;</a:t>
              </a:r>
            </a:p>
          </p:txBody>
        </p:sp>
        <p:sp>
          <p:nvSpPr>
            <p:cNvPr id="27" name="TextBox 27"/>
            <p:cNvSpPr txBox="1"/>
            <p:nvPr/>
          </p:nvSpPr>
          <p:spPr>
            <a:xfrm>
              <a:off x="1134999" y="3411379"/>
              <a:ext cx="2129674"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Consolas"/>
                  <a:ea typeface="Consolas"/>
                  <a:cs typeface="Consolas"/>
                </a:rPr>
                <a:t>boyutBayt: number;</a:t>
              </a:r>
            </a:p>
          </p:txBody>
        </p:sp>
        <p:sp>
          <p:nvSpPr>
            <p:cNvPr id="28" name="TextBox 28"/>
            <p:cNvSpPr txBox="1"/>
            <p:nvPr/>
          </p:nvSpPr>
          <p:spPr>
            <a:xfrm>
              <a:off x="1134999" y="3697129"/>
              <a:ext cx="1779051"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Consolas"/>
                  <a:ea typeface="Consolas"/>
                  <a:cs typeface="Consolas"/>
                </a:rPr>
                <a:t>icerik: Buffer;</a:t>
              </a:r>
            </a:p>
          </p:txBody>
        </p:sp>
        <p:sp>
          <p:nvSpPr>
            <p:cNvPr id="29" name="TextBox 29"/>
            <p:cNvSpPr txBox="1"/>
            <p:nvPr/>
          </p:nvSpPr>
          <p:spPr>
            <a:xfrm>
              <a:off x="906399" y="3982879"/>
              <a:ext cx="132987" cy="308039"/>
            </a:xfrm>
            <a:prstGeom prst="rect">
              <a:avLst/>
            </a:prstGeom>
            <a:noFill/>
            <a:ln>
              <a:noFill/>
            </a:ln>
          </p:spPr>
          <p:txBody>
            <a:bodyPr wrap="none" lIns="0" tIns="0" rIns="0" bIns="0" anchor="t" anchorCtr="0">
              <a:spAutoFit/>
            </a:bodyPr>
            <a:lstStyle/>
            <a:p>
              <a:pPr algn="l"/>
              <a:r>
                <a:rPr lang="tr-TR" sz="1580" dirty="0">
                  <a:solidFill>
                    <a:srgbClr val="00A6A6"/>
                  </a:solidFill>
                  <a:latin typeface="Consolas"/>
                  <a:ea typeface="Consolas"/>
                  <a:cs typeface="Consolas"/>
                </a:rPr>
                <a:t>}</a:t>
              </a:r>
            </a:p>
          </p:txBody>
        </p:sp>
      </p:grpSp>
      <p:grpSp>
        <p:nvGrpSpPr>
          <p:cNvPr id="34" name="output-card"/>
          <p:cNvGrpSpPr/>
          <p:nvPr/>
        </p:nvGrpSpPr>
        <p:grpSpPr>
          <a:xfrm>
            <a:off x="609600" y="4724400"/>
            <a:ext cx="10972800" cy="952500"/>
            <a:chOff x="609600" y="4724400"/>
            <a:chExt cx="10972800" cy="952500"/>
          </a:xfrm>
        </p:grpSpPr>
        <p:sp>
          <p:nvSpPr>
            <p:cNvPr id="31" name="Rectangle 31"/>
            <p:cNvSpPr/>
            <p:nvPr/>
          </p:nvSpPr>
          <p:spPr>
            <a:xfrm>
              <a:off x="609600" y="4724400"/>
              <a:ext cx="10972800" cy="952500"/>
            </a:xfrm>
            <a:prstGeom prst="roundRect">
              <a:avLst>
                <a:gd name="adj" fmla="val 8000"/>
              </a:avLst>
            </a:prstGeom>
            <a:solidFill>
              <a:srgbClr val="EAF4F6"/>
            </a:solidFill>
            <a:ln>
              <a:noFill/>
            </a:ln>
          </p:spPr>
        </p:sp>
        <p:sp>
          <p:nvSpPr>
            <p:cNvPr id="32" name="TextBox 32"/>
            <p:cNvSpPr txBox="1"/>
            <p:nvPr/>
          </p:nvSpPr>
          <p:spPr>
            <a:xfrm>
              <a:off x="908304" y="4899660"/>
              <a:ext cx="458114" cy="234696"/>
            </a:xfrm>
            <a:prstGeom prst="rect">
              <a:avLst/>
            </a:prstGeom>
            <a:noFill/>
            <a:ln>
              <a:noFill/>
            </a:ln>
          </p:spPr>
          <p:txBody>
            <a:bodyPr wrap="none" lIns="0" tIns="0" rIns="0" bIns="0" anchor="t" anchorCtr="0">
              <a:spAutoFit/>
            </a:bodyPr>
            <a:lstStyle/>
            <a:p>
              <a:pPr algn="l"/>
              <a:r>
                <a:rPr lang="tr-TR" sz="1200" b="1" spc="75" dirty="0">
                  <a:solidFill>
                    <a:srgbClr val="12355B"/>
                  </a:solidFill>
                  <a:latin typeface="+mn-lt"/>
                  <a:ea typeface="+mn-ea"/>
                  <a:cs typeface="+mn-cs"/>
                </a:rPr>
                <a:t>ÇIKTI</a:t>
              </a:r>
            </a:p>
          </p:txBody>
        </p:sp>
        <p:sp>
          <p:nvSpPr>
            <p:cNvPr id="33" name="TextBox 33"/>
            <p:cNvSpPr txBox="1"/>
            <p:nvPr/>
          </p:nvSpPr>
          <p:spPr>
            <a:xfrm>
              <a:off x="906399" y="5163979"/>
              <a:ext cx="622651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Consolas"/>
                  <a:ea typeface="Consolas"/>
                  <a:cs typeface="Consolas"/>
                </a:rPr>
                <a:t>Dosya: kapak.jpg, tür: image/jpeg, boyut: 204800 bayt</a:t>
              </a:r>
            </a:p>
          </p:txBody>
        </p:sp>
      </p:grpSp>
      <p:grpSp>
        <p:nvGrpSpPr>
          <p:cNvPr id="36" name="closing-note"/>
          <p:cNvGrpSpPr/>
          <p:nvPr/>
        </p:nvGrpSpPr>
        <p:grpSpPr>
          <a:xfrm>
            <a:off x="601599" y="5945029"/>
            <a:ext cx="11094137" cy="308039"/>
            <a:chOff x="601599" y="5945029"/>
            <a:chExt cx="11094137" cy="308039"/>
          </a:xfrm>
        </p:grpSpPr>
        <p:sp>
          <p:nvSpPr>
            <p:cNvPr id="35" name="TextBox 35"/>
            <p:cNvSpPr txBox="1"/>
            <p:nvPr/>
          </p:nvSpPr>
          <p:spPr>
            <a:xfrm>
              <a:off x="601599" y="5945029"/>
              <a:ext cx="1109413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Meta veri okuma, dosyanın ikili içeriğine (icerik) dokunmadan yapılır; güvenlik denetimi ayrı bir adımdır.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6170634" cy="668845"/>
            <a:chOff x="609600" y="171450"/>
            <a:chExt cx="6170634"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548026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Dosya yükleme tehdit modeli</a:t>
              </a:r>
            </a:p>
          </p:txBody>
        </p:sp>
      </p:grpSp>
      <p:grpSp>
        <p:nvGrpSpPr>
          <p:cNvPr id="25" name="threat-traversal"/>
          <p:cNvGrpSpPr/>
          <p:nvPr/>
        </p:nvGrpSpPr>
        <p:grpSpPr>
          <a:xfrm>
            <a:off x="609600" y="1219200"/>
            <a:ext cx="5257800" cy="3076956"/>
            <a:chOff x="609600" y="1219200"/>
            <a:chExt cx="5257800" cy="3076956"/>
          </a:xfrm>
        </p:grpSpPr>
        <p:sp>
          <p:nvSpPr>
            <p:cNvPr id="14" name="Rectangle 14"/>
            <p:cNvSpPr/>
            <p:nvPr/>
          </p:nvSpPr>
          <p:spPr>
            <a:xfrm>
              <a:off x="609600" y="1219200"/>
              <a:ext cx="5257800" cy="3048000"/>
            </a:xfrm>
            <a:prstGeom prst="roundRect">
              <a:avLst>
                <a:gd name="adj" fmla="val 3125"/>
              </a:avLst>
            </a:prstGeom>
            <a:solidFill>
              <a:srgbClr val="FFFFFF"/>
            </a:solidFill>
            <a:ln w="14288">
              <a:solidFill>
                <a:srgbClr val="B8CBD3"/>
              </a:solidFill>
            </a:ln>
          </p:spPr>
        </p:sp>
        <p:sp>
          <p:nvSpPr>
            <p:cNvPr id="15" name="TextBox 15"/>
            <p:cNvSpPr txBox="1"/>
            <p:nvPr/>
          </p:nvSpPr>
          <p:spPr>
            <a:xfrm>
              <a:off x="829056" y="1367790"/>
              <a:ext cx="383065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Path traversal (dizin gezinme)</a:t>
              </a:r>
            </a:p>
          </p:txBody>
        </p:sp>
        <p:sp>
          <p:nvSpPr>
            <p:cNvPr id="16" name="Rectangle 16"/>
            <p:cNvSpPr/>
            <p:nvPr/>
          </p:nvSpPr>
          <p:spPr>
            <a:xfrm>
              <a:off x="838200" y="1752600"/>
              <a:ext cx="4800600" cy="495300"/>
            </a:xfrm>
            <a:prstGeom prst="roundRect">
              <a:avLst>
                <a:gd name="adj" fmla="val 11538"/>
              </a:avLst>
            </a:prstGeom>
            <a:solidFill>
              <a:srgbClr val="12355B"/>
            </a:solidFill>
            <a:ln>
              <a:noFill/>
            </a:ln>
          </p:spPr>
        </p:sp>
        <p:sp>
          <p:nvSpPr>
            <p:cNvPr id="17" name="TextBox 17"/>
            <p:cNvSpPr txBox="1"/>
            <p:nvPr/>
          </p:nvSpPr>
          <p:spPr>
            <a:xfrm>
              <a:off x="984504" y="1927860"/>
              <a:ext cx="3129915"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orijinalAd = "../../etc/passwd.png"</a:t>
              </a:r>
            </a:p>
          </p:txBody>
        </p:sp>
        <p:sp>
          <p:nvSpPr>
            <p:cNvPr id="18" name="TextBox 18"/>
            <p:cNvSpPr txBox="1"/>
            <p:nvPr/>
          </p:nvSpPr>
          <p:spPr>
            <a:xfrm>
              <a:off x="830199" y="2363629"/>
              <a:ext cx="446185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OWASP'ın klasik açık sınıfı: ".." bir üst</a:t>
              </a:r>
            </a:p>
          </p:txBody>
        </p:sp>
        <p:sp>
          <p:nvSpPr>
            <p:cNvPr id="19" name="TextBox 19"/>
            <p:cNvSpPr txBox="1"/>
            <p:nvPr/>
          </p:nvSpPr>
          <p:spPr>
            <a:xfrm>
              <a:off x="830199" y="2611279"/>
              <a:ext cx="388713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dizini temsil eder; denetlenmemiş ad,</a:t>
              </a:r>
            </a:p>
          </p:txBody>
        </p:sp>
        <p:sp>
          <p:nvSpPr>
            <p:cNvPr id="20" name="TextBox 20"/>
            <p:cNvSpPr txBox="1"/>
            <p:nvPr/>
          </p:nvSpPr>
          <p:spPr>
            <a:xfrm>
              <a:off x="830199" y="2858929"/>
              <a:ext cx="356808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yükleme dizininin dışına çıkabilir.</a:t>
              </a:r>
            </a:p>
          </p:txBody>
        </p:sp>
        <p:sp>
          <p:nvSpPr>
            <p:cNvPr id="21" name="Rectangle 21"/>
            <p:cNvSpPr/>
            <p:nvPr/>
          </p:nvSpPr>
          <p:spPr>
            <a:xfrm>
              <a:off x="838200" y="3295650"/>
              <a:ext cx="57150" cy="285750"/>
            </a:xfrm>
            <a:prstGeom prst="rect">
              <a:avLst/>
            </a:prstGeom>
            <a:solidFill>
              <a:srgbClr val="00A6A6"/>
            </a:solidFill>
            <a:ln>
              <a:noFill/>
            </a:ln>
          </p:spPr>
        </p:sp>
        <p:sp>
          <p:nvSpPr>
            <p:cNvPr id="22" name="TextBox 22"/>
            <p:cNvSpPr txBox="1"/>
            <p:nvPr/>
          </p:nvSpPr>
          <p:spPr>
            <a:xfrm>
              <a:off x="1001649" y="3335179"/>
              <a:ext cx="355208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Çözüm: orijinal adı hiç kullanma,</a:t>
              </a:r>
            </a:p>
          </p:txBody>
        </p:sp>
        <p:sp>
          <p:nvSpPr>
            <p:cNvPr id="23" name="TextBox 23"/>
            <p:cNvSpPr txBox="1"/>
            <p:nvPr/>
          </p:nvSpPr>
          <p:spPr>
            <a:xfrm>
              <a:off x="1001649" y="3582829"/>
              <a:ext cx="215638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rastgele UUID üret.</a:t>
              </a:r>
            </a:p>
          </p:txBody>
        </p:sp>
        <p:sp>
          <p:nvSpPr>
            <p:cNvPr id="24" name="TextBox 24"/>
            <p:cNvSpPr txBox="1"/>
            <p:nvPr/>
          </p:nvSpPr>
          <p:spPr>
            <a:xfrm>
              <a:off x="832104" y="3890010"/>
              <a:ext cx="3128772" cy="406146"/>
            </a:xfrm>
            <a:prstGeom prst="rect">
              <a:avLst/>
            </a:prstGeom>
            <a:noFill/>
            <a:ln>
              <a:noFill/>
            </a:ln>
          </p:spPr>
          <p:txBody>
            <a:bodyPr wrap="none" lIns="0" tIns="0" rIns="0" bIns="0" anchor="t" anchorCtr="0">
              <a:spAutoFit/>
            </a:bodyPr>
            <a:lstStyle/>
            <a:p>
              <a:pPr algn="l">
                <a:lnSpc>
                  <a:spcPts val="1350"/>
                </a:lnSpc>
              </a:pPr>
              <a:r>
                <a:rPr lang="tr-TR" sz="1200" dirty="0">
                  <a:solidFill>
                    <a:srgbClr val="52616B"/>
                  </a:solidFill>
                  <a:latin typeface="+mn-lt"/>
                  <a:ea typeface="+mn-ea"/>
                  <a:cs typeface="+mn-cs"/>
                </a:rPr>
                <a:t>Saldırı yüzeyini ortadan kaldırmak,</a:t>
              </a:r>
              <a:br/>
              <a:r>
                <a:rPr lang="tr-TR" sz="1200" dirty="0">
                  <a:solidFill>
                    <a:srgbClr val="52616B"/>
                  </a:solidFill>
                  <a:latin typeface="+mn-lt"/>
                  <a:ea typeface="+mn-ea"/>
                  <a:cs typeface="+mn-cs"/>
                </a:rPr>
                <a:t>temizlemekten (sanitize) daha güvenlidir.</a:t>
              </a:r>
            </a:p>
          </p:txBody>
        </p:sp>
      </p:grpSp>
      <p:grpSp>
        <p:nvGrpSpPr>
          <p:cNvPr id="37" name="threat-mime"/>
          <p:cNvGrpSpPr/>
          <p:nvPr/>
        </p:nvGrpSpPr>
        <p:grpSpPr>
          <a:xfrm>
            <a:off x="6324600" y="1219200"/>
            <a:ext cx="5257800" cy="3076956"/>
            <a:chOff x="6324600" y="1219200"/>
            <a:chExt cx="5257800" cy="3076956"/>
          </a:xfrm>
        </p:grpSpPr>
        <p:sp>
          <p:nvSpPr>
            <p:cNvPr id="26" name="Rectangle 26"/>
            <p:cNvSpPr/>
            <p:nvPr/>
          </p:nvSpPr>
          <p:spPr>
            <a:xfrm>
              <a:off x="6324600" y="1219200"/>
              <a:ext cx="5257800" cy="3048000"/>
            </a:xfrm>
            <a:prstGeom prst="roundRect">
              <a:avLst>
                <a:gd name="adj" fmla="val 3125"/>
              </a:avLst>
            </a:prstGeom>
            <a:solidFill>
              <a:srgbClr val="FFFFFF"/>
            </a:solidFill>
            <a:ln w="14288">
              <a:solidFill>
                <a:srgbClr val="B8CBD3"/>
              </a:solidFill>
            </a:ln>
          </p:spPr>
        </p:sp>
        <p:sp>
          <p:nvSpPr>
            <p:cNvPr id="27" name="TextBox 27"/>
            <p:cNvSpPr txBox="1"/>
            <p:nvPr/>
          </p:nvSpPr>
          <p:spPr>
            <a:xfrm>
              <a:off x="6544056" y="1367790"/>
              <a:ext cx="362416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Sahte uzantı ve MIME beyanı</a:t>
              </a:r>
            </a:p>
          </p:txBody>
        </p:sp>
        <p:sp>
          <p:nvSpPr>
            <p:cNvPr id="28" name="Rectangle 28"/>
            <p:cNvSpPr/>
            <p:nvPr/>
          </p:nvSpPr>
          <p:spPr>
            <a:xfrm>
              <a:off x="6553200" y="1752600"/>
              <a:ext cx="4800600" cy="495300"/>
            </a:xfrm>
            <a:prstGeom prst="roundRect">
              <a:avLst>
                <a:gd name="adj" fmla="val 11538"/>
              </a:avLst>
            </a:prstGeom>
            <a:solidFill>
              <a:srgbClr val="12355B"/>
            </a:solidFill>
            <a:ln>
              <a:noFill/>
            </a:ln>
          </p:spPr>
        </p:sp>
        <p:sp>
          <p:nvSpPr>
            <p:cNvPr id="29" name="TextBox 29"/>
            <p:cNvSpPr txBox="1"/>
            <p:nvPr/>
          </p:nvSpPr>
          <p:spPr>
            <a:xfrm>
              <a:off x="6699504" y="1927860"/>
              <a:ext cx="294421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guvenli.jpg -&gt; aslında .sh betiği</a:t>
              </a:r>
            </a:p>
          </p:txBody>
        </p:sp>
        <p:sp>
          <p:nvSpPr>
            <p:cNvPr id="30" name="TextBox 30"/>
            <p:cNvSpPr txBox="1"/>
            <p:nvPr/>
          </p:nvSpPr>
          <p:spPr>
            <a:xfrm>
              <a:off x="6545199" y="2363629"/>
              <a:ext cx="320970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Content-Type başlığı yalnızca</a:t>
              </a:r>
            </a:p>
          </p:txBody>
        </p:sp>
        <p:sp>
          <p:nvSpPr>
            <p:cNvPr id="31" name="TextBox 31"/>
            <p:cNvSpPr txBox="1"/>
            <p:nvPr/>
          </p:nvSpPr>
          <p:spPr>
            <a:xfrm>
              <a:off x="6545199" y="2611279"/>
              <a:ext cx="417427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gönderenin beyanıdır; sunucu bağımsız</a:t>
              </a:r>
            </a:p>
          </p:txBody>
        </p:sp>
        <p:sp>
          <p:nvSpPr>
            <p:cNvPr id="32" name="TextBox 32"/>
            <p:cNvSpPr txBox="1"/>
            <p:nvPr/>
          </p:nvSpPr>
          <p:spPr>
            <a:xfrm>
              <a:off x="6545199" y="2858929"/>
              <a:ext cx="356808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doğrulamadıkça güvence taşımaz.</a:t>
              </a:r>
            </a:p>
          </p:txBody>
        </p:sp>
        <p:sp>
          <p:nvSpPr>
            <p:cNvPr id="33" name="Rectangle 33"/>
            <p:cNvSpPr/>
            <p:nvPr/>
          </p:nvSpPr>
          <p:spPr>
            <a:xfrm>
              <a:off x="6553200" y="3295650"/>
              <a:ext cx="57150" cy="285750"/>
            </a:xfrm>
            <a:prstGeom prst="rect">
              <a:avLst/>
            </a:prstGeom>
            <a:solidFill>
              <a:srgbClr val="00A6A6"/>
            </a:solidFill>
            <a:ln>
              <a:noFill/>
            </a:ln>
          </p:spPr>
        </p:sp>
        <p:sp>
          <p:nvSpPr>
            <p:cNvPr id="34" name="TextBox 34"/>
            <p:cNvSpPr txBox="1"/>
            <p:nvPr/>
          </p:nvSpPr>
          <p:spPr>
            <a:xfrm>
              <a:off x="6716649" y="3335179"/>
              <a:ext cx="336241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Çözüm: allowlist + dosyanın ilk</a:t>
              </a:r>
            </a:p>
          </p:txBody>
        </p:sp>
        <p:sp>
          <p:nvSpPr>
            <p:cNvPr id="35" name="TextBox 35"/>
            <p:cNvSpPr txBox="1"/>
            <p:nvPr/>
          </p:nvSpPr>
          <p:spPr>
            <a:xfrm>
              <a:off x="6716649" y="3582829"/>
              <a:ext cx="412535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baytlarındaki magic number denetimi.</a:t>
              </a:r>
            </a:p>
          </p:txBody>
        </p:sp>
        <p:sp>
          <p:nvSpPr>
            <p:cNvPr id="36" name="TextBox 36"/>
            <p:cNvSpPr txBox="1"/>
            <p:nvPr/>
          </p:nvSpPr>
          <p:spPr>
            <a:xfrm>
              <a:off x="6547104" y="3890010"/>
              <a:ext cx="2534412" cy="406146"/>
            </a:xfrm>
            <a:prstGeom prst="rect">
              <a:avLst/>
            </a:prstGeom>
            <a:noFill/>
            <a:ln>
              <a:noFill/>
            </a:ln>
          </p:spPr>
          <p:txBody>
            <a:bodyPr wrap="none" lIns="0" tIns="0" rIns="0" bIns="0" anchor="t" anchorCtr="0">
              <a:spAutoFit/>
            </a:bodyPr>
            <a:lstStyle/>
            <a:p>
              <a:pPr algn="l">
                <a:lnSpc>
                  <a:spcPts val="1350"/>
                </a:lnSpc>
              </a:pPr>
              <a:r>
                <a:rPr lang="tr-TR" sz="1200" dirty="0">
                  <a:solidFill>
                    <a:srgbClr val="52616B"/>
                  </a:solidFill>
                  <a:latin typeface="+mn-lt"/>
                  <a:ea typeface="+mn-ea"/>
                  <a:cs typeface="+mn-cs"/>
                </a:rPr>
                <a:t>Bölüm 11'deki "asla istemciye</a:t>
              </a:r>
              <a:br/>
              <a:r>
                <a:rPr lang="tr-TR" sz="1200" dirty="0">
                  <a:solidFill>
                    <a:srgbClr val="52616B"/>
                  </a:solidFill>
                  <a:latin typeface="+mn-lt"/>
                  <a:ea typeface="+mn-ea"/>
                  <a:cs typeface="+mn-cs"/>
                </a:rPr>
                <a:t>güvenme" ilkesinin dosya bağlamı.</a:t>
              </a:r>
            </a:p>
          </p:txBody>
        </p:sp>
      </p:grpSp>
      <p:grpSp>
        <p:nvGrpSpPr>
          <p:cNvPr id="41" name="consequence-bar"/>
          <p:cNvGrpSpPr/>
          <p:nvPr/>
        </p:nvGrpSpPr>
        <p:grpSpPr>
          <a:xfrm>
            <a:off x="609600" y="4495800"/>
            <a:ext cx="10972800" cy="742950"/>
            <a:chOff x="609600" y="4495800"/>
            <a:chExt cx="10972800" cy="742950"/>
          </a:xfrm>
        </p:grpSpPr>
        <p:sp>
          <p:nvSpPr>
            <p:cNvPr id="38" name="Rectangle 38"/>
            <p:cNvSpPr/>
            <p:nvPr/>
          </p:nvSpPr>
          <p:spPr>
            <a:xfrm>
              <a:off x="609600" y="4495800"/>
              <a:ext cx="10972800" cy="742950"/>
            </a:xfrm>
            <a:prstGeom prst="roundRect">
              <a:avLst>
                <a:gd name="adj" fmla="val 10256"/>
              </a:avLst>
            </a:prstGeom>
            <a:solidFill>
              <a:srgbClr val="12355B"/>
            </a:solidFill>
            <a:ln>
              <a:noFill/>
            </a:ln>
          </p:spPr>
        </p:sp>
        <p:sp>
          <p:nvSpPr>
            <p:cNvPr id="39" name="TextBox 39"/>
            <p:cNvSpPr txBox="1"/>
            <p:nvPr/>
          </p:nvSpPr>
          <p:spPr>
            <a:xfrm>
              <a:off x="906399" y="4630579"/>
              <a:ext cx="1855319"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Olmazsa ne olur?</a:t>
              </a:r>
            </a:p>
          </p:txBody>
        </p:sp>
        <p:sp>
          <p:nvSpPr>
            <p:cNvPr id="40" name="TextBox 40"/>
            <p:cNvSpPr txBox="1"/>
            <p:nvPr/>
          </p:nvSpPr>
          <p:spPr>
            <a:xfrm>
              <a:off x="906399" y="4878229"/>
              <a:ext cx="10039829"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mn-lt"/>
                  <a:ea typeface="+mn-ea"/>
                  <a:cs typeface="+mn-cs"/>
                </a:rPr>
                <a:t>Saldırgan çalıştırılabilir betik yükleyip uzaktan kod çalıştırma (RCE) saldırısı düzenleyebilir.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439034" cy="668845"/>
            <a:chOff x="609600" y="171450"/>
            <a:chExt cx="743903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674866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Dosya yükleme güvenlik kontrolleri</a:t>
              </a:r>
            </a:p>
          </p:txBody>
        </p:sp>
      </p:grpSp>
      <p:grpSp>
        <p:nvGrpSpPr>
          <p:cNvPr id="16" name="control-1"/>
          <p:cNvGrpSpPr/>
          <p:nvPr/>
        </p:nvGrpSpPr>
        <p:grpSpPr>
          <a:xfrm>
            <a:off x="647700" y="1234440"/>
            <a:ext cx="10699795" cy="599028"/>
            <a:chOff x="647700" y="1234440"/>
            <a:chExt cx="10699795" cy="599028"/>
          </a:xfrm>
        </p:grpSpPr>
        <p:sp>
          <p:nvSpPr>
            <p:cNvPr id="12" name="Ellipse 12"/>
            <p:cNvSpPr/>
            <p:nvPr/>
          </p:nvSpPr>
          <p:spPr>
            <a:xfrm>
              <a:off x="647700" y="1295400"/>
              <a:ext cx="381000" cy="381000"/>
            </a:xfrm>
            <a:prstGeom prst="ellipse">
              <a:avLst/>
            </a:prstGeom>
            <a:solidFill>
              <a:srgbClr val="00A6A6"/>
            </a:solidFill>
            <a:ln>
              <a:noFill/>
            </a:ln>
          </p:spPr>
        </p:sp>
        <p:sp>
          <p:nvSpPr>
            <p:cNvPr id="13" name="TextBox 13"/>
            <p:cNvSpPr txBox="1"/>
            <p:nvPr/>
          </p:nvSpPr>
          <p:spPr>
            <a:xfrm>
              <a:off x="768782" y="13825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14" name="TextBox 14"/>
            <p:cNvSpPr txBox="1"/>
            <p:nvPr/>
          </p:nvSpPr>
          <p:spPr>
            <a:xfrm>
              <a:off x="1171956" y="1234440"/>
              <a:ext cx="179428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Tür allowlist'i</a:t>
              </a:r>
            </a:p>
          </p:txBody>
        </p:sp>
        <p:sp>
          <p:nvSpPr>
            <p:cNvPr id="15" name="TextBox 15"/>
            <p:cNvSpPr txBox="1"/>
            <p:nvPr/>
          </p:nvSpPr>
          <p:spPr>
            <a:xfrm>
              <a:off x="1173099" y="1525429"/>
              <a:ext cx="1017439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izinVerilenTurler = new Set(["image/jpeg", "image/png"]) — yalnızca kümedeki türlere izin verilir</a:t>
              </a:r>
            </a:p>
          </p:txBody>
        </p:sp>
      </p:grpSp>
      <p:grpSp>
        <p:nvGrpSpPr>
          <p:cNvPr id="21" name="control-2"/>
          <p:cNvGrpSpPr/>
          <p:nvPr/>
        </p:nvGrpSpPr>
        <p:grpSpPr>
          <a:xfrm>
            <a:off x="647700" y="2148840"/>
            <a:ext cx="8334233" cy="599028"/>
            <a:chOff x="647700" y="2148840"/>
            <a:chExt cx="8334233" cy="599028"/>
          </a:xfrm>
        </p:grpSpPr>
        <p:sp>
          <p:nvSpPr>
            <p:cNvPr id="17" name="Ellipse 17"/>
            <p:cNvSpPr/>
            <p:nvPr/>
          </p:nvSpPr>
          <p:spPr>
            <a:xfrm>
              <a:off x="647700" y="2209800"/>
              <a:ext cx="381000" cy="381000"/>
            </a:xfrm>
            <a:prstGeom prst="ellipse">
              <a:avLst/>
            </a:prstGeom>
            <a:solidFill>
              <a:srgbClr val="00A6A6"/>
            </a:solidFill>
            <a:ln>
              <a:noFill/>
            </a:ln>
          </p:spPr>
        </p:sp>
        <p:sp>
          <p:nvSpPr>
            <p:cNvPr id="18" name="TextBox 18"/>
            <p:cNvSpPr txBox="1"/>
            <p:nvPr/>
          </p:nvSpPr>
          <p:spPr>
            <a:xfrm>
              <a:off x="768782" y="22969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19" name="TextBox 19"/>
            <p:cNvSpPr txBox="1"/>
            <p:nvPr/>
          </p:nvSpPr>
          <p:spPr>
            <a:xfrm>
              <a:off x="1171956" y="2148840"/>
              <a:ext cx="164224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Boyut sınırı</a:t>
              </a:r>
            </a:p>
          </p:txBody>
        </p:sp>
        <p:sp>
          <p:nvSpPr>
            <p:cNvPr id="20" name="TextBox 20"/>
            <p:cNvSpPr txBox="1"/>
            <p:nvPr/>
          </p:nvSpPr>
          <p:spPr>
            <a:xfrm>
              <a:off x="1173099" y="2439829"/>
              <a:ext cx="780883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azamiBoyutBayt = 2 MB — aşan dosyalar diske dokunulmadan erken reddedilir</a:t>
              </a:r>
            </a:p>
          </p:txBody>
        </p:sp>
      </p:grpSp>
      <p:grpSp>
        <p:nvGrpSpPr>
          <p:cNvPr id="26" name="control-3"/>
          <p:cNvGrpSpPr/>
          <p:nvPr/>
        </p:nvGrpSpPr>
        <p:grpSpPr>
          <a:xfrm>
            <a:off x="647700" y="3063240"/>
            <a:ext cx="8991281" cy="599028"/>
            <a:chOff x="647700" y="3063240"/>
            <a:chExt cx="8991281" cy="599028"/>
          </a:xfrm>
        </p:grpSpPr>
        <p:sp>
          <p:nvSpPr>
            <p:cNvPr id="22" name="Ellipse 22"/>
            <p:cNvSpPr/>
            <p:nvPr/>
          </p:nvSpPr>
          <p:spPr>
            <a:xfrm>
              <a:off x="647700" y="3124200"/>
              <a:ext cx="381000" cy="381000"/>
            </a:xfrm>
            <a:prstGeom prst="ellipse">
              <a:avLst/>
            </a:prstGeom>
            <a:solidFill>
              <a:srgbClr val="00A6A6"/>
            </a:solidFill>
            <a:ln>
              <a:noFill/>
            </a:ln>
          </p:spPr>
        </p:sp>
        <p:sp>
          <p:nvSpPr>
            <p:cNvPr id="23" name="TextBox 23"/>
            <p:cNvSpPr txBox="1"/>
            <p:nvPr/>
          </p:nvSpPr>
          <p:spPr>
            <a:xfrm>
              <a:off x="768782" y="321135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24" name="TextBox 24"/>
            <p:cNvSpPr txBox="1"/>
            <p:nvPr/>
          </p:nvSpPr>
          <p:spPr>
            <a:xfrm>
              <a:off x="1171956" y="3063240"/>
              <a:ext cx="31303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Güvenli dosya adı üretimi</a:t>
              </a:r>
            </a:p>
          </p:txBody>
        </p:sp>
        <p:sp>
          <p:nvSpPr>
            <p:cNvPr id="25" name="TextBox 25"/>
            <p:cNvSpPr txBox="1"/>
            <p:nvPr/>
          </p:nvSpPr>
          <p:spPr>
            <a:xfrm>
              <a:off x="1173099" y="3354229"/>
              <a:ext cx="846588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guvenliDosyaAdiUret: randomUUID() ile yeni ad; yalnızca uzantı orijinalden alınır</a:t>
              </a:r>
            </a:p>
          </p:txBody>
        </p:sp>
      </p:grpSp>
      <p:grpSp>
        <p:nvGrpSpPr>
          <p:cNvPr id="32" name="result-valid"/>
          <p:cNvGrpSpPr/>
          <p:nvPr/>
        </p:nvGrpSpPr>
        <p:grpSpPr>
          <a:xfrm>
            <a:off x="609600" y="4038600"/>
            <a:ext cx="5257800" cy="1409700"/>
            <a:chOff x="609600" y="4038600"/>
            <a:chExt cx="5257800" cy="1409700"/>
          </a:xfrm>
        </p:grpSpPr>
        <p:sp>
          <p:nvSpPr>
            <p:cNvPr id="27" name="Rectangle 27"/>
            <p:cNvSpPr/>
            <p:nvPr/>
          </p:nvSpPr>
          <p:spPr>
            <a:xfrm>
              <a:off x="609600" y="4038600"/>
              <a:ext cx="5257800" cy="1409700"/>
            </a:xfrm>
            <a:prstGeom prst="roundRect">
              <a:avLst>
                <a:gd name="adj" fmla="val 6757"/>
              </a:avLst>
            </a:prstGeom>
            <a:solidFill>
              <a:srgbClr val="EAF4F6"/>
            </a:solidFill>
            <a:ln w="14288">
              <a:solidFill>
                <a:srgbClr val="00A6A6"/>
              </a:solidFill>
            </a:ln>
          </p:spPr>
        </p:sp>
        <p:sp>
          <p:nvSpPr>
            <p:cNvPr id="28" name="TextBox 28"/>
            <p:cNvSpPr txBox="1"/>
            <p:nvPr/>
          </p:nvSpPr>
          <p:spPr>
            <a:xfrm>
              <a:off x="832104" y="4175760"/>
              <a:ext cx="2932557"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gecerliDosya: kapak.jpg, image/jpeg,</a:t>
              </a:r>
              <a:br/>
              <a:r>
                <a:rPr lang="tr-TR" sz="1200" b="1" dirty="0">
                  <a:solidFill>
                    <a:srgbClr val="12355B"/>
                  </a:solidFill>
                  <a:latin typeface="+mn-lt"/>
                  <a:ea typeface="+mn-ea"/>
                  <a:cs typeface="+mn-cs"/>
                </a:rPr>
                <a:t>204.800 bayt</a:t>
              </a:r>
            </a:p>
          </p:txBody>
        </p:sp>
        <p:sp>
          <p:nvSpPr>
            <p:cNvPr id="29" name="TextBox 29"/>
            <p:cNvSpPr txBox="1"/>
            <p:nvPr/>
          </p:nvSpPr>
          <p:spPr>
            <a:xfrm>
              <a:off x="832104" y="4537710"/>
              <a:ext cx="28634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 gecerliMi: true, hatalar: [] }</a:t>
              </a:r>
            </a:p>
          </p:txBody>
        </p:sp>
        <p:sp>
          <p:nvSpPr>
            <p:cNvPr id="30" name="TextBox 30"/>
            <p:cNvSpPr txBox="1"/>
            <p:nvPr/>
          </p:nvSpPr>
          <p:spPr>
            <a:xfrm>
              <a:off x="832104" y="4785360"/>
              <a:ext cx="16114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-&gt; c4e493ed-...jpg</a:t>
              </a:r>
            </a:p>
          </p:txBody>
        </p:sp>
        <p:sp>
          <p:nvSpPr>
            <p:cNvPr id="31" name="TextBox 31"/>
            <p:cNvSpPr txBox="1"/>
            <p:nvPr/>
          </p:nvSpPr>
          <p:spPr>
            <a:xfrm>
              <a:off x="832104" y="5090160"/>
              <a:ext cx="33371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Denetimden geçer, güvenli adla kaydedilir.</a:t>
              </a:r>
            </a:p>
          </p:txBody>
        </p:sp>
      </p:grpSp>
      <p:grpSp>
        <p:nvGrpSpPr>
          <p:cNvPr id="38" name="result-invalid"/>
          <p:cNvGrpSpPr/>
          <p:nvPr/>
        </p:nvGrpSpPr>
        <p:grpSpPr>
          <a:xfrm>
            <a:off x="6324600" y="4038600"/>
            <a:ext cx="5257800" cy="1409700"/>
            <a:chOff x="6324600" y="4038600"/>
            <a:chExt cx="5257800" cy="1409700"/>
          </a:xfrm>
        </p:grpSpPr>
        <p:sp>
          <p:nvSpPr>
            <p:cNvPr id="33" name="Rectangle 33"/>
            <p:cNvSpPr/>
            <p:nvPr/>
          </p:nvSpPr>
          <p:spPr>
            <a:xfrm>
              <a:off x="6324600" y="4038600"/>
              <a:ext cx="5257800" cy="1409700"/>
            </a:xfrm>
            <a:prstGeom prst="roundRect">
              <a:avLst>
                <a:gd name="adj" fmla="val 6757"/>
              </a:avLst>
            </a:prstGeom>
            <a:solidFill>
              <a:srgbClr val="FFFFFF"/>
            </a:solidFill>
            <a:ln w="14288">
              <a:solidFill>
                <a:srgbClr val="B8CBD3"/>
              </a:solidFill>
            </a:ln>
          </p:spPr>
        </p:sp>
        <p:sp>
          <p:nvSpPr>
            <p:cNvPr id="34" name="TextBox 34"/>
            <p:cNvSpPr txBox="1"/>
            <p:nvPr/>
          </p:nvSpPr>
          <p:spPr>
            <a:xfrm>
              <a:off x="6545199" y="4192429"/>
              <a:ext cx="501765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zararliDosya: "../../etc/passwd.png", 3 MB</a:t>
              </a:r>
            </a:p>
          </p:txBody>
        </p:sp>
        <p:sp>
          <p:nvSpPr>
            <p:cNvPr id="35" name="TextBox 35"/>
            <p:cNvSpPr txBox="1"/>
            <p:nvPr/>
          </p:nvSpPr>
          <p:spPr>
            <a:xfrm>
              <a:off x="6547104" y="4537710"/>
              <a:ext cx="26848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 gecerliMi: false, hatalar: [</a:t>
              </a:r>
            </a:p>
          </p:txBody>
        </p:sp>
        <p:sp>
          <p:nvSpPr>
            <p:cNvPr id="36" name="TextBox 36"/>
            <p:cNvSpPr txBox="1"/>
            <p:nvPr/>
          </p:nvSpPr>
          <p:spPr>
            <a:xfrm>
              <a:off x="6547104" y="4747260"/>
              <a:ext cx="39311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'Dosya boyutu sınırı aşıldı: 3145728...' ] }</a:t>
              </a:r>
            </a:p>
          </p:txBody>
        </p:sp>
        <p:sp>
          <p:nvSpPr>
            <p:cNvPr id="37" name="TextBox 37"/>
            <p:cNvSpPr txBox="1"/>
            <p:nvPr/>
          </p:nvSpPr>
          <p:spPr>
            <a:xfrm>
              <a:off x="6547104" y="5090160"/>
              <a:ext cx="400758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Boyut aşımı yakalanır; orijinal ad hiç kullanılmaz.</a:t>
              </a:r>
            </a:p>
          </p:txBody>
        </p:sp>
      </p:grpSp>
      <p:grpSp>
        <p:nvGrpSpPr>
          <p:cNvPr id="40" name="rule-note"/>
          <p:cNvGrpSpPr/>
          <p:nvPr/>
        </p:nvGrpSpPr>
        <p:grpSpPr>
          <a:xfrm>
            <a:off x="601599" y="5754529"/>
            <a:ext cx="8530769" cy="308039"/>
            <a:chOff x="601599" y="5754529"/>
            <a:chExt cx="8530769" cy="308039"/>
          </a:xfrm>
        </p:grpSpPr>
        <p:sp>
          <p:nvSpPr>
            <p:cNvPr id="39" name="TextBox 39"/>
            <p:cNvSpPr txBox="1"/>
            <p:nvPr/>
          </p:nvSpPr>
          <p:spPr>
            <a:xfrm>
              <a:off x="601599" y="5754529"/>
              <a:ext cx="853076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Kullanıcı girdisi kabul eden her sistemde bu üç kontrol istisnasız uygulanmalıdır.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410852" cy="668845"/>
            <a:chOff x="609600" y="171450"/>
            <a:chExt cx="5410852"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472048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Harici REST API tüketimi</a:t>
              </a:r>
            </a:p>
          </p:txBody>
        </p:sp>
      </p:grpSp>
      <p:grpSp>
        <p:nvGrpSpPr>
          <p:cNvPr id="15" name="definition"/>
          <p:cNvGrpSpPr/>
          <p:nvPr/>
        </p:nvGrpSpPr>
        <p:grpSpPr>
          <a:xfrm>
            <a:off x="600456" y="1234440"/>
            <a:ext cx="9604699" cy="599694"/>
            <a:chOff x="600456" y="1234440"/>
            <a:chExt cx="9604699" cy="599694"/>
          </a:xfrm>
        </p:grpSpPr>
        <p:sp>
          <p:nvSpPr>
            <p:cNvPr id="13" name="TextBox 13"/>
            <p:cNvSpPr txBox="1"/>
            <p:nvPr/>
          </p:nvSpPr>
          <p:spPr>
            <a:xfrm>
              <a:off x="600456" y="1234440"/>
              <a:ext cx="960469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Backend'in kontrolünde olmayan üçüncü taraf bir servisten HTTP ile veri istemesi</a:t>
              </a:r>
            </a:p>
          </p:txBody>
        </p:sp>
        <p:sp>
          <p:nvSpPr>
            <p:cNvPr id="14" name="TextBox 14"/>
            <p:cNvSpPr txBox="1"/>
            <p:nvPr/>
          </p:nvSpPr>
          <p:spPr>
            <a:xfrm>
              <a:off x="600456" y="1482090"/>
              <a:ext cx="7890078"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ve gelen yanıtı işlemesi (örnek: ISBN'e göre kitap bilgisi servisi).</a:t>
              </a:r>
            </a:p>
          </p:txBody>
        </p:sp>
      </p:grpSp>
      <p:grpSp>
        <p:nvGrpSpPr>
          <p:cNvPr id="20" name="theory-box"/>
          <p:cNvGrpSpPr/>
          <p:nvPr/>
        </p:nvGrpSpPr>
        <p:grpSpPr>
          <a:xfrm>
            <a:off x="609600" y="1905000"/>
            <a:ext cx="10972800" cy="919068"/>
            <a:chOff x="609600" y="1905000"/>
            <a:chExt cx="10972800" cy="919068"/>
          </a:xfrm>
        </p:grpSpPr>
        <p:sp>
          <p:nvSpPr>
            <p:cNvPr id="16" name="Rectangle 16"/>
            <p:cNvSpPr/>
            <p:nvPr/>
          </p:nvSpPr>
          <p:spPr>
            <a:xfrm>
              <a:off x="609600" y="1905000"/>
              <a:ext cx="10972800" cy="914400"/>
            </a:xfrm>
            <a:prstGeom prst="roundRect">
              <a:avLst>
                <a:gd name="adj" fmla="val 8333"/>
              </a:avLst>
            </a:prstGeom>
            <a:solidFill>
              <a:srgbClr val="EAF4F6"/>
            </a:solidFill>
            <a:ln>
              <a:noFill/>
            </a:ln>
          </p:spPr>
        </p:sp>
        <p:sp>
          <p:nvSpPr>
            <p:cNvPr id="17" name="TextBox 17"/>
            <p:cNvSpPr txBox="1"/>
            <p:nvPr/>
          </p:nvSpPr>
          <p:spPr>
            <a:xfrm>
              <a:off x="906399" y="2020729"/>
              <a:ext cx="420228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Fielding, 2000 — REST mimari kısıtları</a:t>
              </a:r>
            </a:p>
          </p:txBody>
        </p:sp>
        <p:sp>
          <p:nvSpPr>
            <p:cNvPr id="18" name="TextBox 18"/>
            <p:cNvSpPr txBox="1"/>
            <p:nvPr/>
          </p:nvSpPr>
          <p:spPr>
            <a:xfrm>
              <a:off x="906399" y="2287429"/>
              <a:ext cx="832938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İstemci-sunucu ayrımı ve durumsuzluk (statelessness): her istek bağımsız ve</a:t>
              </a:r>
            </a:p>
          </p:txBody>
        </p:sp>
        <p:sp>
          <p:nvSpPr>
            <p:cNvPr id="19" name="TextBox 19"/>
            <p:cNvSpPr txBox="1"/>
            <p:nvPr/>
          </p:nvSpPr>
          <p:spPr>
            <a:xfrm>
              <a:off x="906399" y="2516029"/>
              <a:ext cx="721588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kendi kendine yeterlidir; çağıran taraf yalnızca sözleşmeye güvenir.</a:t>
              </a:r>
            </a:p>
          </p:txBody>
        </p:sp>
      </p:grpSp>
      <p:grpSp>
        <p:nvGrpSpPr>
          <p:cNvPr id="34" name="idempotency-table"/>
          <p:cNvGrpSpPr/>
          <p:nvPr/>
        </p:nvGrpSpPr>
        <p:grpSpPr>
          <a:xfrm>
            <a:off x="609600" y="3048000"/>
            <a:ext cx="10972800" cy="1276350"/>
            <a:chOff x="609600" y="3048000"/>
            <a:chExt cx="10972800" cy="1276350"/>
          </a:xfrm>
        </p:grpSpPr>
        <p:sp>
          <p:nvSpPr>
            <p:cNvPr id="21" name="Rectangle 21"/>
            <p:cNvSpPr/>
            <p:nvPr/>
          </p:nvSpPr>
          <p:spPr>
            <a:xfrm>
              <a:off x="609600" y="3048000"/>
              <a:ext cx="10972800" cy="457200"/>
            </a:xfrm>
            <a:prstGeom prst="rect">
              <a:avLst/>
            </a:prstGeom>
            <a:solidFill>
              <a:srgbClr val="12355B"/>
            </a:solidFill>
            <a:ln>
              <a:noFill/>
            </a:ln>
          </p:spPr>
        </p:sp>
        <p:sp>
          <p:nvSpPr>
            <p:cNvPr id="22" name="TextBox 22"/>
            <p:cNvSpPr txBox="1"/>
            <p:nvPr/>
          </p:nvSpPr>
          <p:spPr>
            <a:xfrm>
              <a:off x="906399" y="3163729"/>
              <a:ext cx="1386349"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HTTP metodu</a:t>
              </a:r>
            </a:p>
          </p:txBody>
        </p:sp>
        <p:sp>
          <p:nvSpPr>
            <p:cNvPr id="23" name="TextBox 23"/>
            <p:cNvSpPr txBox="1"/>
            <p:nvPr/>
          </p:nvSpPr>
          <p:spPr>
            <a:xfrm>
              <a:off x="4373499" y="3163729"/>
              <a:ext cx="2940505"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Idempotent mi? (RFC 9110)</a:t>
              </a:r>
            </a:p>
          </p:txBody>
        </p:sp>
        <p:sp>
          <p:nvSpPr>
            <p:cNvPr id="24" name="TextBox 24"/>
            <p:cNvSpPr txBox="1"/>
            <p:nvPr/>
          </p:nvSpPr>
          <p:spPr>
            <a:xfrm>
              <a:off x="8183499" y="3163729"/>
              <a:ext cx="3262323"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Zaman aşımı sonrası tekrar?</a:t>
              </a:r>
            </a:p>
          </p:txBody>
        </p:sp>
        <p:sp>
          <p:nvSpPr>
            <p:cNvPr id="25" name="Rectangle 25"/>
            <p:cNvSpPr/>
            <p:nvPr/>
          </p:nvSpPr>
          <p:spPr>
            <a:xfrm>
              <a:off x="609600" y="3505200"/>
              <a:ext cx="10972800" cy="409575"/>
            </a:xfrm>
            <a:prstGeom prst="rect">
              <a:avLst/>
            </a:prstGeom>
            <a:solidFill>
              <a:srgbClr val="FFFFFF"/>
            </a:solidFill>
            <a:ln>
              <a:noFill/>
            </a:ln>
          </p:spPr>
        </p:sp>
        <p:sp>
          <p:nvSpPr>
            <p:cNvPr id="26" name="TextBox 26"/>
            <p:cNvSpPr txBox="1"/>
            <p:nvPr/>
          </p:nvSpPr>
          <p:spPr>
            <a:xfrm>
              <a:off x="906399" y="3592354"/>
              <a:ext cx="188133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GET, PUT, DELETE</a:t>
              </a:r>
            </a:p>
          </p:txBody>
        </p:sp>
        <p:sp>
          <p:nvSpPr>
            <p:cNvPr id="27" name="TextBox 27"/>
            <p:cNvSpPr txBox="1"/>
            <p:nvPr/>
          </p:nvSpPr>
          <p:spPr>
            <a:xfrm>
              <a:off x="4373499" y="3592354"/>
              <a:ext cx="514291"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Evet</a:t>
              </a:r>
            </a:p>
          </p:txBody>
        </p:sp>
        <p:sp>
          <p:nvSpPr>
            <p:cNvPr id="28" name="TextBox 28"/>
            <p:cNvSpPr txBox="1"/>
            <p:nvPr/>
          </p:nvSpPr>
          <p:spPr>
            <a:xfrm>
              <a:off x="8183499" y="3592354"/>
              <a:ext cx="239370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Güvenle tekrarlanabilir</a:t>
              </a:r>
            </a:p>
          </p:txBody>
        </p:sp>
        <p:sp>
          <p:nvSpPr>
            <p:cNvPr id="29" name="Rectangle 29"/>
            <p:cNvSpPr/>
            <p:nvPr/>
          </p:nvSpPr>
          <p:spPr>
            <a:xfrm>
              <a:off x="609600" y="3914775"/>
              <a:ext cx="10972800" cy="409575"/>
            </a:xfrm>
            <a:prstGeom prst="rect">
              <a:avLst/>
            </a:prstGeom>
            <a:solidFill>
              <a:srgbClr val="EAF4F6"/>
            </a:solidFill>
            <a:ln>
              <a:noFill/>
            </a:ln>
          </p:spPr>
        </p:sp>
        <p:sp>
          <p:nvSpPr>
            <p:cNvPr id="30" name="TextBox 30"/>
            <p:cNvSpPr txBox="1"/>
            <p:nvPr/>
          </p:nvSpPr>
          <p:spPr>
            <a:xfrm>
              <a:off x="906399" y="4001929"/>
              <a:ext cx="180996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POST (genellikle)</a:t>
              </a:r>
            </a:p>
          </p:txBody>
        </p:sp>
        <p:sp>
          <p:nvSpPr>
            <p:cNvPr id="31" name="TextBox 31"/>
            <p:cNvSpPr txBox="1"/>
            <p:nvPr/>
          </p:nvSpPr>
          <p:spPr>
            <a:xfrm>
              <a:off x="4373499" y="4001929"/>
              <a:ext cx="637125" cy="308039"/>
            </a:xfrm>
            <a:prstGeom prst="rect">
              <a:avLst/>
            </a:prstGeom>
            <a:noFill/>
            <a:ln>
              <a:noFill/>
            </a:ln>
          </p:spPr>
          <p:txBody>
            <a:bodyPr wrap="none" lIns="0" tIns="0" rIns="0" bIns="0" anchor="t" anchorCtr="0">
              <a:spAutoFit/>
            </a:bodyPr>
            <a:lstStyle/>
            <a:p>
              <a:pPr algn="l"/>
              <a:r>
                <a:rPr lang="tr-TR" sz="1580" b="1" dirty="0">
                  <a:solidFill>
                    <a:srgbClr val="52616B"/>
                  </a:solidFill>
                  <a:latin typeface="+mn-lt"/>
                  <a:ea typeface="+mn-ea"/>
                  <a:cs typeface="+mn-cs"/>
                </a:rPr>
                <a:t>Hayır</a:t>
              </a:r>
            </a:p>
          </p:txBody>
        </p:sp>
        <p:sp>
          <p:nvSpPr>
            <p:cNvPr id="32" name="TextBox 32"/>
            <p:cNvSpPr txBox="1"/>
            <p:nvPr/>
          </p:nvSpPr>
          <p:spPr>
            <a:xfrm>
              <a:off x="8183499" y="4001929"/>
              <a:ext cx="305332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Kör tekrar, işlemi ikiletebilir</a:t>
              </a:r>
            </a:p>
          </p:txBody>
        </p:sp>
        <p:sp>
          <p:nvSpPr>
            <p:cNvPr id="33" name="Rectangle 33"/>
            <p:cNvSpPr/>
            <p:nvPr/>
          </p:nvSpPr>
          <p:spPr>
            <a:xfrm>
              <a:off x="609600" y="3048000"/>
              <a:ext cx="10972800" cy="1276350"/>
            </a:xfrm>
            <a:prstGeom prst="rect">
              <a:avLst/>
            </a:prstGeom>
            <a:noFill/>
            <a:ln w="9525">
              <a:solidFill>
                <a:srgbClr val="B8CBD3"/>
              </a:solidFill>
            </a:ln>
          </p:spPr>
        </p:sp>
      </p:grpSp>
      <p:grpSp>
        <p:nvGrpSpPr>
          <p:cNvPr id="38" name="closing-note"/>
          <p:cNvGrpSpPr/>
          <p:nvPr/>
        </p:nvGrpSpPr>
        <p:grpSpPr>
          <a:xfrm>
            <a:off x="609600" y="5448300"/>
            <a:ext cx="10972800" cy="723900"/>
            <a:chOff x="609600" y="5448300"/>
            <a:chExt cx="10972800" cy="723900"/>
          </a:xfrm>
        </p:grpSpPr>
        <p:sp>
          <p:nvSpPr>
            <p:cNvPr id="35" name="Rectangle 35"/>
            <p:cNvSpPr/>
            <p:nvPr/>
          </p:nvSpPr>
          <p:spPr>
            <a:xfrm>
              <a:off x="609600" y="5448300"/>
              <a:ext cx="10972800" cy="723900"/>
            </a:xfrm>
            <a:prstGeom prst="roundRect">
              <a:avLst>
                <a:gd name="adj" fmla="val 10526"/>
              </a:avLst>
            </a:prstGeom>
            <a:solidFill>
              <a:srgbClr val="12355B"/>
            </a:solidFill>
            <a:ln>
              <a:noFill/>
            </a:ln>
          </p:spPr>
        </p:sp>
        <p:sp>
          <p:nvSpPr>
            <p:cNvPr id="36" name="TextBox 36"/>
            <p:cNvSpPr txBox="1"/>
            <p:nvPr/>
          </p:nvSpPr>
          <p:spPr>
            <a:xfrm>
              <a:off x="906399" y="5564029"/>
              <a:ext cx="3576805"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Örnek: "sipariş oluştur" (POST)</a:t>
              </a:r>
            </a:p>
          </p:txBody>
        </p:sp>
        <p:sp>
          <p:nvSpPr>
            <p:cNvPr id="37" name="TextBox 37"/>
            <p:cNvSpPr txBox="1"/>
            <p:nvPr/>
          </p:nvSpPr>
          <p:spPr>
            <a:xfrm>
              <a:off x="906399" y="5811679"/>
              <a:ext cx="8977505"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mn-lt"/>
                  <a:ea typeface="+mn-ea"/>
                  <a:cs typeface="+mn-cs"/>
                </a:rPr>
                <a:t>Kör biçimde tekrarlanması, aynı işlemin birden fazla kez gerçekleşmesine yol açabilir.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642282" cy="668845"/>
            <a:chOff x="609600" y="171450"/>
            <a:chExt cx="8642282"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95191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fetch + AbortController ile zaman aşımı</a:t>
              </a:r>
            </a:p>
          </p:txBody>
        </p:sp>
      </p:grpSp>
      <p:grpSp>
        <p:nvGrpSpPr>
          <p:cNvPr id="27" name="flow"/>
          <p:cNvGrpSpPr/>
          <p:nvPr/>
        </p:nvGrpSpPr>
        <p:grpSpPr>
          <a:xfrm>
            <a:off x="609600" y="1447800"/>
            <a:ext cx="8724900" cy="2247900"/>
            <a:chOff x="609600" y="1447800"/>
            <a:chExt cx="8724900" cy="2247900"/>
          </a:xfrm>
        </p:grpSpPr>
        <p:sp>
          <p:nvSpPr>
            <p:cNvPr id="11" name="Rectangle 11"/>
            <p:cNvSpPr/>
            <p:nvPr/>
          </p:nvSpPr>
          <p:spPr>
            <a:xfrm>
              <a:off x="609600" y="1447800"/>
              <a:ext cx="2476500" cy="685800"/>
            </a:xfrm>
            <a:prstGeom prst="roundRect">
              <a:avLst>
                <a:gd name="adj" fmla="val 11111"/>
              </a:avLst>
            </a:prstGeom>
            <a:solidFill>
              <a:srgbClr val="FFFFFF"/>
            </a:solidFill>
            <a:ln w="14288">
              <a:solidFill>
                <a:srgbClr val="2E86AB"/>
              </a:solidFill>
            </a:ln>
          </p:spPr>
        </p:sp>
        <p:sp>
          <p:nvSpPr>
            <p:cNvPr id="12" name="TextBox 12"/>
            <p:cNvSpPr txBox="1"/>
            <p:nvPr/>
          </p:nvSpPr>
          <p:spPr>
            <a:xfrm>
              <a:off x="1035845" y="1563529"/>
              <a:ext cx="1624011"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fetch() başlar</a:t>
              </a:r>
            </a:p>
          </p:txBody>
        </p:sp>
        <p:sp>
          <p:nvSpPr>
            <p:cNvPr id="13" name="TextBox 13"/>
            <p:cNvSpPr txBox="1"/>
            <p:nvPr/>
          </p:nvSpPr>
          <p:spPr>
            <a:xfrm>
              <a:off x="872490" y="1813560"/>
              <a:ext cx="195072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signal: controller.signal</a:t>
              </a:r>
            </a:p>
          </p:txBody>
        </p:sp>
        <p:sp>
          <p:nvSpPr>
            <p:cNvPr id="14" name="Line 14"/>
            <p:cNvSpPr/>
            <p:nvPr/>
          </p:nvSpPr>
          <p:spPr>
            <a:xfrm>
              <a:off x="3086100" y="1790700"/>
              <a:ext cx="914400" cy="1"/>
            </a:xfrm>
            <a:prstGeom prst="line">
              <a:avLst/>
            </a:prstGeom>
            <a:noFill/>
            <a:ln w="23812">
              <a:solidFill>
                <a:srgbClr val="00A6A6"/>
              </a:solidFill>
              <a:tailEnd type="arrow" w="lg" len="lg"/>
            </a:ln>
          </p:spPr>
        </p:sp>
        <p:sp>
          <p:nvSpPr>
            <p:cNvPr id="15" name="Rectangle 15"/>
            <p:cNvSpPr/>
            <p:nvPr/>
          </p:nvSpPr>
          <p:spPr>
            <a:xfrm>
              <a:off x="4000500" y="1447800"/>
              <a:ext cx="2476500" cy="685800"/>
            </a:xfrm>
            <a:prstGeom prst="roundRect">
              <a:avLst>
                <a:gd name="adj" fmla="val 11111"/>
              </a:avLst>
            </a:prstGeom>
            <a:solidFill>
              <a:srgbClr val="12355B"/>
            </a:solidFill>
            <a:ln>
              <a:noFill/>
            </a:ln>
          </p:spPr>
        </p:sp>
        <p:sp>
          <p:nvSpPr>
            <p:cNvPr id="16" name="TextBox 16"/>
            <p:cNvSpPr txBox="1"/>
            <p:nvPr/>
          </p:nvSpPr>
          <p:spPr>
            <a:xfrm>
              <a:off x="4618717" y="1563529"/>
              <a:ext cx="1240065"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setTimeout</a:t>
              </a:r>
            </a:p>
          </p:txBody>
        </p:sp>
        <p:sp>
          <p:nvSpPr>
            <p:cNvPr id="17" name="TextBox 17"/>
            <p:cNvSpPr txBox="1"/>
            <p:nvPr/>
          </p:nvSpPr>
          <p:spPr>
            <a:xfrm>
              <a:off x="4104146" y="1813560"/>
              <a:ext cx="2269208"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zamanAsimiMs sonra abort()</a:t>
              </a:r>
            </a:p>
          </p:txBody>
        </p:sp>
        <p:sp>
          <p:nvSpPr>
            <p:cNvPr id="18" name="Line 18"/>
            <p:cNvSpPr/>
            <p:nvPr/>
          </p:nvSpPr>
          <p:spPr>
            <a:xfrm>
              <a:off x="5238750" y="2133600"/>
              <a:ext cx="9525" cy="571500"/>
            </a:xfrm>
            <a:custGeom>
              <a:avLst/>
              <a:gdLst/>
              <a:ahLst/>
              <a:cxnLst/>
              <a:rect l="l" t="t" r="r" b="b"/>
              <a:pathLst>
                <a:path w="9525" h="571500">
                  <a:moveTo>
                    <a:pt x="0" y="0"/>
                  </a:moveTo>
                  <a:lnTo>
                    <a:pt x="0" y="571500"/>
                  </a:lnTo>
                </a:path>
              </a:pathLst>
            </a:custGeom>
            <a:noFill/>
            <a:ln w="19050">
              <a:solidFill>
                <a:srgbClr val="52616B"/>
              </a:solidFill>
              <a:custDash>
                <a:ds d="300000" sp="200000"/>
              </a:custDash>
            </a:ln>
          </p:spPr>
        </p:sp>
        <p:sp>
          <p:nvSpPr>
            <p:cNvPr id="19" name="Rectangle 19"/>
            <p:cNvSpPr/>
            <p:nvPr/>
          </p:nvSpPr>
          <p:spPr>
            <a:xfrm>
              <a:off x="1714500" y="2933700"/>
              <a:ext cx="3429000" cy="762000"/>
            </a:xfrm>
            <a:prstGeom prst="roundRect">
              <a:avLst>
                <a:gd name="adj" fmla="val 10000"/>
              </a:avLst>
            </a:prstGeom>
            <a:solidFill>
              <a:srgbClr val="EAF4F6"/>
            </a:solidFill>
            <a:ln w="14288">
              <a:solidFill>
                <a:srgbClr val="00A6A6"/>
              </a:solidFill>
            </a:ln>
          </p:spPr>
        </p:sp>
        <p:sp>
          <p:nvSpPr>
            <p:cNvPr id="20" name="TextBox 20"/>
            <p:cNvSpPr txBox="1"/>
            <p:nvPr/>
          </p:nvSpPr>
          <p:spPr>
            <a:xfrm>
              <a:off x="2267399" y="3049429"/>
              <a:ext cx="2323201"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Yanıt süresinde geldi</a:t>
              </a:r>
            </a:p>
          </p:txBody>
        </p:sp>
        <p:sp>
          <p:nvSpPr>
            <p:cNvPr id="21" name="TextBox 21"/>
            <p:cNvSpPr txBox="1"/>
            <p:nvPr/>
          </p:nvSpPr>
          <p:spPr>
            <a:xfrm>
              <a:off x="1816830" y="3337560"/>
              <a:ext cx="3224341"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clearTimeout(zamanlayici) — sonuç döner</a:t>
              </a:r>
            </a:p>
          </p:txBody>
        </p:sp>
        <p:sp>
          <p:nvSpPr>
            <p:cNvPr id="22" name="Rectangle 22"/>
            <p:cNvSpPr/>
            <p:nvPr/>
          </p:nvSpPr>
          <p:spPr>
            <a:xfrm>
              <a:off x="5905500" y="2933700"/>
              <a:ext cx="3429000" cy="762000"/>
            </a:xfrm>
            <a:prstGeom prst="roundRect">
              <a:avLst>
                <a:gd name="adj" fmla="val 10000"/>
              </a:avLst>
            </a:prstGeom>
            <a:solidFill>
              <a:srgbClr val="FFFFFF"/>
            </a:solidFill>
            <a:ln w="14288">
              <a:solidFill>
                <a:srgbClr val="B8CBD3"/>
              </a:solidFill>
            </a:ln>
          </p:spPr>
        </p:sp>
        <p:sp>
          <p:nvSpPr>
            <p:cNvPr id="23" name="TextBox 23"/>
            <p:cNvSpPr txBox="1"/>
            <p:nvPr/>
          </p:nvSpPr>
          <p:spPr>
            <a:xfrm>
              <a:off x="6027841" y="3049429"/>
              <a:ext cx="3184317"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Süre doldu, abort() çağrıldı</a:t>
              </a:r>
            </a:p>
          </p:txBody>
        </p:sp>
        <p:sp>
          <p:nvSpPr>
            <p:cNvPr id="24" name="TextBox 24"/>
            <p:cNvSpPr txBox="1"/>
            <p:nvPr/>
          </p:nvSpPr>
          <p:spPr>
            <a:xfrm>
              <a:off x="6300330" y="3337560"/>
              <a:ext cx="2639339"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AbortError -&gt; HariciServisHatasi</a:t>
              </a:r>
            </a:p>
          </p:txBody>
        </p:sp>
        <p:sp>
          <p:nvSpPr>
            <p:cNvPr id="25" name="Line 25"/>
            <p:cNvSpPr/>
            <p:nvPr/>
          </p:nvSpPr>
          <p:spPr>
            <a:xfrm flipH="1">
              <a:off x="3429000" y="1790700"/>
              <a:ext cx="571500" cy="1143000"/>
            </a:xfrm>
            <a:prstGeom prst="line">
              <a:avLst/>
            </a:prstGeom>
            <a:noFill/>
            <a:ln w="19050">
              <a:solidFill>
                <a:srgbClr val="00A6A6"/>
              </a:solidFill>
              <a:tailEnd type="arrow" w="lg" len="lg"/>
            </a:ln>
          </p:spPr>
        </p:sp>
        <p:sp>
          <p:nvSpPr>
            <p:cNvPr id="26" name="Line 26"/>
            <p:cNvSpPr/>
            <p:nvPr/>
          </p:nvSpPr>
          <p:spPr>
            <a:xfrm>
              <a:off x="6477000" y="1790700"/>
              <a:ext cx="1143000" cy="1143000"/>
            </a:xfrm>
            <a:prstGeom prst="line">
              <a:avLst/>
            </a:prstGeom>
            <a:noFill/>
            <a:ln w="19050">
              <a:solidFill>
                <a:srgbClr val="52616B"/>
              </a:solidFill>
              <a:tailEnd type="arrow" w="lg" len="lg"/>
            </a:ln>
          </p:spPr>
        </p:sp>
      </p:grpSp>
      <p:grpSp>
        <p:nvGrpSpPr>
          <p:cNvPr id="31" name="output-card"/>
          <p:cNvGrpSpPr/>
          <p:nvPr/>
        </p:nvGrpSpPr>
        <p:grpSpPr>
          <a:xfrm>
            <a:off x="609600" y="3924300"/>
            <a:ext cx="10972800" cy="723900"/>
            <a:chOff x="609600" y="3924300"/>
            <a:chExt cx="10972800" cy="723900"/>
          </a:xfrm>
        </p:grpSpPr>
        <p:sp>
          <p:nvSpPr>
            <p:cNvPr id="28" name="Rectangle 28"/>
            <p:cNvSpPr/>
            <p:nvPr/>
          </p:nvSpPr>
          <p:spPr>
            <a:xfrm>
              <a:off x="609600" y="3924300"/>
              <a:ext cx="10972800" cy="723900"/>
            </a:xfrm>
            <a:prstGeom prst="roundRect">
              <a:avLst>
                <a:gd name="adj" fmla="val 10526"/>
              </a:avLst>
            </a:prstGeom>
            <a:solidFill>
              <a:srgbClr val="12355B"/>
            </a:solidFill>
            <a:ln>
              <a:noFill/>
            </a:ln>
          </p:spPr>
        </p:sp>
        <p:sp>
          <p:nvSpPr>
            <p:cNvPr id="29" name="TextBox 29"/>
            <p:cNvSpPr txBox="1"/>
            <p:nvPr/>
          </p:nvSpPr>
          <p:spPr>
            <a:xfrm>
              <a:off x="908304" y="4099560"/>
              <a:ext cx="2216590"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ÇIKTI (zamanAsimiMs=1)</a:t>
              </a:r>
            </a:p>
          </p:txBody>
        </p:sp>
        <p:sp>
          <p:nvSpPr>
            <p:cNvPr id="30" name="TextBox 30"/>
            <p:cNvSpPr txBox="1"/>
            <p:nvPr/>
          </p:nvSpPr>
          <p:spPr>
            <a:xfrm>
              <a:off x="906399" y="4325779"/>
              <a:ext cx="4703670"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Consolas"/>
                  <a:ea typeface="Consolas"/>
                  <a:cs typeface="Consolas"/>
                </a:rPr>
                <a:t>Harici servis 1 ms içinde yanıt vermedi.</a:t>
              </a:r>
            </a:p>
          </p:txBody>
        </p:sp>
      </p:grpSp>
      <p:grpSp>
        <p:nvGrpSpPr>
          <p:cNvPr id="35" name="finally-note"/>
          <p:cNvGrpSpPr/>
          <p:nvPr/>
        </p:nvGrpSpPr>
        <p:grpSpPr>
          <a:xfrm>
            <a:off x="609600" y="4838700"/>
            <a:ext cx="10972800" cy="723900"/>
            <a:chOff x="609600" y="4838700"/>
            <a:chExt cx="10972800" cy="723900"/>
          </a:xfrm>
        </p:grpSpPr>
        <p:sp>
          <p:nvSpPr>
            <p:cNvPr id="32" name="Rectangle 32"/>
            <p:cNvSpPr/>
            <p:nvPr/>
          </p:nvSpPr>
          <p:spPr>
            <a:xfrm>
              <a:off x="609600" y="4838700"/>
              <a:ext cx="10972800" cy="723900"/>
            </a:xfrm>
            <a:prstGeom prst="roundRect">
              <a:avLst>
                <a:gd name="adj" fmla="val 10526"/>
              </a:avLst>
            </a:prstGeom>
            <a:solidFill>
              <a:srgbClr val="EAF4F6"/>
            </a:solidFill>
            <a:ln>
              <a:noFill/>
            </a:ln>
          </p:spPr>
        </p:sp>
        <p:sp>
          <p:nvSpPr>
            <p:cNvPr id="33" name="TextBox 33"/>
            <p:cNvSpPr txBox="1"/>
            <p:nvPr/>
          </p:nvSpPr>
          <p:spPr>
            <a:xfrm>
              <a:off x="906399" y="4954429"/>
              <a:ext cx="407717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finally: clearTimeout(zamanlayici)</a:t>
              </a:r>
            </a:p>
          </p:txBody>
        </p:sp>
        <p:sp>
          <p:nvSpPr>
            <p:cNvPr id="34" name="TextBox 34"/>
            <p:cNvSpPr txBox="1"/>
            <p:nvPr/>
          </p:nvSpPr>
          <p:spPr>
            <a:xfrm>
              <a:off x="906399" y="5202079"/>
              <a:ext cx="972214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Zamanlayıcı temizlenmezse gereksiz abort() çağrılarına ve kaynak sızıntısına yol açabilir.</a:t>
              </a:r>
            </a:p>
          </p:txBody>
        </p:sp>
      </p:grpSp>
      <p:grpSp>
        <p:nvGrpSpPr>
          <p:cNvPr id="37" name="rule-note"/>
          <p:cNvGrpSpPr/>
          <p:nvPr/>
        </p:nvGrpSpPr>
        <p:grpSpPr>
          <a:xfrm>
            <a:off x="601599" y="5830729"/>
            <a:ext cx="9934996" cy="308039"/>
            <a:chOff x="601599" y="5830729"/>
            <a:chExt cx="9934996" cy="308039"/>
          </a:xfrm>
        </p:grpSpPr>
        <p:sp>
          <p:nvSpPr>
            <p:cNvPr id="36" name="TextBox 36"/>
            <p:cNvSpPr txBox="1"/>
            <p:nvPr/>
          </p:nvSpPr>
          <p:spPr>
            <a:xfrm>
              <a:off x="601599" y="5830729"/>
              <a:ext cx="993499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Zaman aşımı, çağrılan servisin tipik yanıt süresine göre belirlenmeli: ne çok kısa ne çok uzun.</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427380" cy="668845"/>
            <a:chOff x="609600" y="171450"/>
            <a:chExt cx="842738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73700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Retry: geçici ve kalıcı hatayı ayırmak</a:t>
              </a:r>
            </a:p>
          </p:txBody>
        </p:sp>
      </p:grpSp>
      <p:grpSp>
        <p:nvGrpSpPr>
          <p:cNvPr id="23" name="decision-flow"/>
          <p:cNvGrpSpPr/>
          <p:nvPr/>
        </p:nvGrpSpPr>
        <p:grpSpPr>
          <a:xfrm>
            <a:off x="1143000" y="1333500"/>
            <a:ext cx="9525000" cy="2095500"/>
            <a:chOff x="1143000" y="1333500"/>
            <a:chExt cx="9525000" cy="2095500"/>
          </a:xfrm>
        </p:grpSpPr>
        <p:sp>
          <p:nvSpPr>
            <p:cNvPr id="12" name="Rectangle 12"/>
            <p:cNvSpPr/>
            <p:nvPr/>
          </p:nvSpPr>
          <p:spPr>
            <a:xfrm>
              <a:off x="4000500" y="1333500"/>
              <a:ext cx="3429000" cy="685800"/>
            </a:xfrm>
            <a:prstGeom prst="roundRect">
              <a:avLst>
                <a:gd name="adj" fmla="val 11111"/>
              </a:avLst>
            </a:prstGeom>
            <a:solidFill>
              <a:srgbClr val="12355B"/>
            </a:solidFill>
            <a:ln>
              <a:noFill/>
            </a:ln>
          </p:spPr>
        </p:sp>
        <p:sp>
          <p:nvSpPr>
            <p:cNvPr id="13" name="TextBox 13"/>
            <p:cNvSpPr txBox="1"/>
            <p:nvPr/>
          </p:nvSpPr>
          <p:spPr>
            <a:xfrm>
              <a:off x="5083738" y="1468279"/>
              <a:ext cx="1262525"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Hata oluştu</a:t>
              </a:r>
            </a:p>
          </p:txBody>
        </p:sp>
        <p:sp>
          <p:nvSpPr>
            <p:cNvPr id="14" name="TextBox 14"/>
            <p:cNvSpPr txBox="1"/>
            <p:nvPr/>
          </p:nvSpPr>
          <p:spPr>
            <a:xfrm>
              <a:off x="4630598" y="1737360"/>
              <a:ext cx="2168804"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islem() bir istisna fırlattı</a:t>
              </a:r>
            </a:p>
          </p:txBody>
        </p:sp>
        <p:sp>
          <p:nvSpPr>
            <p:cNvPr id="15" name="Line 15"/>
            <p:cNvSpPr/>
            <p:nvPr/>
          </p:nvSpPr>
          <p:spPr>
            <a:xfrm flipH="1">
              <a:off x="2667000" y="2019300"/>
              <a:ext cx="2095500" cy="571500"/>
            </a:xfrm>
            <a:prstGeom prst="line">
              <a:avLst/>
            </a:prstGeom>
            <a:noFill/>
            <a:ln w="23812">
              <a:solidFill>
                <a:srgbClr val="00A6A6"/>
              </a:solidFill>
              <a:tailEnd type="arrow" w="lg" len="lg"/>
            </a:ln>
          </p:spPr>
        </p:sp>
        <p:sp>
          <p:nvSpPr>
            <p:cNvPr id="16" name="Line 16"/>
            <p:cNvSpPr/>
            <p:nvPr/>
          </p:nvSpPr>
          <p:spPr>
            <a:xfrm>
              <a:off x="6667500" y="2019300"/>
              <a:ext cx="2095500" cy="571500"/>
            </a:xfrm>
            <a:prstGeom prst="line">
              <a:avLst/>
            </a:prstGeom>
            <a:noFill/>
            <a:ln w="19050">
              <a:solidFill>
                <a:srgbClr val="52616B"/>
              </a:solidFill>
              <a:tailEnd type="arrow" w="lg" len="lg"/>
            </a:ln>
          </p:spPr>
        </p:sp>
        <p:sp>
          <p:nvSpPr>
            <p:cNvPr id="17" name="Rectangle 17"/>
            <p:cNvSpPr/>
            <p:nvPr/>
          </p:nvSpPr>
          <p:spPr>
            <a:xfrm>
              <a:off x="1143000" y="2667000"/>
              <a:ext cx="3429000" cy="762000"/>
            </a:xfrm>
            <a:prstGeom prst="roundRect">
              <a:avLst>
                <a:gd name="adj" fmla="val 10000"/>
              </a:avLst>
            </a:prstGeom>
            <a:solidFill>
              <a:srgbClr val="EAF4F6"/>
            </a:solidFill>
            <a:ln w="14288">
              <a:solidFill>
                <a:srgbClr val="00A6A6"/>
              </a:solidFill>
            </a:ln>
          </p:spPr>
        </p:sp>
        <p:sp>
          <p:nvSpPr>
            <p:cNvPr id="18" name="TextBox 18"/>
            <p:cNvSpPr txBox="1"/>
            <p:nvPr/>
          </p:nvSpPr>
          <p:spPr>
            <a:xfrm>
              <a:off x="2284842" y="2782729"/>
              <a:ext cx="1145316"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GeciciHata</a:t>
              </a:r>
            </a:p>
          </p:txBody>
        </p:sp>
        <p:sp>
          <p:nvSpPr>
            <p:cNvPr id="19" name="TextBox 19"/>
            <p:cNvSpPr txBox="1"/>
            <p:nvPr/>
          </p:nvSpPr>
          <p:spPr>
            <a:xfrm>
              <a:off x="1486357" y="3070860"/>
              <a:ext cx="2742286"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bekle(süre) ardından yeniden dene</a:t>
              </a:r>
            </a:p>
          </p:txBody>
        </p:sp>
        <p:sp>
          <p:nvSpPr>
            <p:cNvPr id="20" name="Rectangle 20"/>
            <p:cNvSpPr/>
            <p:nvPr/>
          </p:nvSpPr>
          <p:spPr>
            <a:xfrm>
              <a:off x="7239000" y="2667000"/>
              <a:ext cx="3429000" cy="762000"/>
            </a:xfrm>
            <a:prstGeom prst="roundRect">
              <a:avLst>
                <a:gd name="adj" fmla="val 10000"/>
              </a:avLst>
            </a:prstGeom>
            <a:solidFill>
              <a:srgbClr val="FFFFFF"/>
            </a:solidFill>
            <a:ln w="14288">
              <a:solidFill>
                <a:srgbClr val="B8CBD3"/>
              </a:solidFill>
            </a:ln>
          </p:spPr>
        </p:sp>
        <p:sp>
          <p:nvSpPr>
            <p:cNvPr id="21" name="TextBox 21"/>
            <p:cNvSpPr txBox="1"/>
            <p:nvPr/>
          </p:nvSpPr>
          <p:spPr>
            <a:xfrm>
              <a:off x="7996875" y="2782729"/>
              <a:ext cx="1913250"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Diğer / KaliciHata</a:t>
              </a:r>
            </a:p>
          </p:txBody>
        </p:sp>
        <p:sp>
          <p:nvSpPr>
            <p:cNvPr id="22" name="TextBox 22"/>
            <p:cNvSpPr txBox="1"/>
            <p:nvPr/>
          </p:nvSpPr>
          <p:spPr>
            <a:xfrm>
              <a:off x="7925638" y="3070860"/>
              <a:ext cx="205572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hemen fırlat, hiç bekleme</a:t>
              </a:r>
            </a:p>
          </p:txBody>
        </p:sp>
      </p:grpSp>
      <p:grpSp>
        <p:nvGrpSpPr>
          <p:cNvPr id="34" name="examples"/>
          <p:cNvGrpSpPr/>
          <p:nvPr/>
        </p:nvGrpSpPr>
        <p:grpSpPr>
          <a:xfrm>
            <a:off x="609600" y="3771900"/>
            <a:ext cx="10972800" cy="1409700"/>
            <a:chOff x="609600" y="3771900"/>
            <a:chExt cx="10972800" cy="1409700"/>
          </a:xfrm>
        </p:grpSpPr>
        <p:sp>
          <p:nvSpPr>
            <p:cNvPr id="24" name="Rectangle 24"/>
            <p:cNvSpPr/>
            <p:nvPr/>
          </p:nvSpPr>
          <p:spPr>
            <a:xfrm>
              <a:off x="609600" y="3771900"/>
              <a:ext cx="5257800" cy="1409700"/>
            </a:xfrm>
            <a:prstGeom prst="roundRect">
              <a:avLst>
                <a:gd name="adj" fmla="val 6757"/>
              </a:avLst>
            </a:prstGeom>
            <a:solidFill>
              <a:srgbClr val="EAF4F6"/>
            </a:solidFill>
            <a:ln w="14288">
              <a:solidFill>
                <a:srgbClr val="00A6A6"/>
              </a:solidFill>
            </a:ln>
          </p:spPr>
        </p:sp>
        <p:sp>
          <p:nvSpPr>
            <p:cNvPr id="25" name="TextBox 25"/>
            <p:cNvSpPr txBox="1"/>
            <p:nvPr/>
          </p:nvSpPr>
          <p:spPr>
            <a:xfrm>
              <a:off x="830199" y="3906679"/>
              <a:ext cx="250327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Geçici (retry'a değer)</a:t>
              </a:r>
            </a:p>
          </p:txBody>
        </p:sp>
        <p:sp>
          <p:nvSpPr>
            <p:cNvPr id="26" name="TextBox 26"/>
            <p:cNvSpPr txBox="1"/>
            <p:nvPr/>
          </p:nvSpPr>
          <p:spPr>
            <a:xfrm>
              <a:off x="830199" y="4173379"/>
              <a:ext cx="281813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Zaman aşımı, 502/503/504</a:t>
              </a:r>
            </a:p>
          </p:txBody>
        </p:sp>
        <p:sp>
          <p:nvSpPr>
            <p:cNvPr id="27" name="TextBox 27"/>
            <p:cNvSpPr txBox="1"/>
            <p:nvPr/>
          </p:nvSpPr>
          <p:spPr>
            <a:xfrm>
              <a:off x="830199" y="4421029"/>
              <a:ext cx="300443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sunucu hataları, ağ kopması</a:t>
              </a:r>
            </a:p>
          </p:txBody>
        </p:sp>
        <p:sp>
          <p:nvSpPr>
            <p:cNvPr id="28" name="TextBox 28"/>
            <p:cNvSpPr txBox="1"/>
            <p:nvPr/>
          </p:nvSpPr>
          <p:spPr>
            <a:xfrm>
              <a:off x="832104" y="4823460"/>
              <a:ext cx="305459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Birkaç yüz ms sonra durum değişebilir.</a:t>
              </a:r>
            </a:p>
          </p:txBody>
        </p:sp>
        <p:sp>
          <p:nvSpPr>
            <p:cNvPr id="29" name="Rectangle 29"/>
            <p:cNvSpPr/>
            <p:nvPr/>
          </p:nvSpPr>
          <p:spPr>
            <a:xfrm>
              <a:off x="6324600" y="3771900"/>
              <a:ext cx="5257800" cy="1409700"/>
            </a:xfrm>
            <a:prstGeom prst="roundRect">
              <a:avLst>
                <a:gd name="adj" fmla="val 6757"/>
              </a:avLst>
            </a:prstGeom>
            <a:solidFill>
              <a:srgbClr val="FFFFFF"/>
            </a:solidFill>
            <a:ln w="14288">
              <a:solidFill>
                <a:srgbClr val="B8CBD3"/>
              </a:solidFill>
            </a:ln>
          </p:spPr>
        </p:sp>
        <p:sp>
          <p:nvSpPr>
            <p:cNvPr id="30" name="TextBox 30"/>
            <p:cNvSpPr txBox="1"/>
            <p:nvPr/>
          </p:nvSpPr>
          <p:spPr>
            <a:xfrm>
              <a:off x="6545199" y="3906679"/>
              <a:ext cx="272684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Kalıcı (retry'a değmez)</a:t>
              </a:r>
            </a:p>
          </p:txBody>
        </p:sp>
        <p:sp>
          <p:nvSpPr>
            <p:cNvPr id="31" name="TextBox 31"/>
            <p:cNvSpPr txBox="1"/>
            <p:nvPr/>
          </p:nvSpPr>
          <p:spPr>
            <a:xfrm>
              <a:off x="6545199" y="4173379"/>
              <a:ext cx="222085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400 Bad Request, 401</a:t>
              </a:r>
            </a:p>
          </p:txBody>
        </p:sp>
        <p:sp>
          <p:nvSpPr>
            <p:cNvPr id="32" name="TextBox 32"/>
            <p:cNvSpPr txBox="1"/>
            <p:nvPr/>
          </p:nvSpPr>
          <p:spPr>
            <a:xfrm>
              <a:off x="6545199" y="4421029"/>
              <a:ext cx="137301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Unauthorized</a:t>
              </a:r>
            </a:p>
          </p:txBody>
        </p:sp>
        <p:sp>
          <p:nvSpPr>
            <p:cNvPr id="33" name="TextBox 33"/>
            <p:cNvSpPr txBox="1"/>
            <p:nvPr/>
          </p:nvSpPr>
          <p:spPr>
            <a:xfrm>
              <a:off x="6547104" y="4823460"/>
              <a:ext cx="416946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Tekrar denemek aynı sonucu üretir, kaynak tüketir.</a:t>
              </a:r>
            </a:p>
          </p:txBody>
        </p:sp>
      </p:grpSp>
      <p:grpSp>
        <p:nvGrpSpPr>
          <p:cNvPr id="38" name="exam-note"/>
          <p:cNvGrpSpPr/>
          <p:nvPr/>
        </p:nvGrpSpPr>
        <p:grpSpPr>
          <a:xfrm>
            <a:off x="609600" y="5334000"/>
            <a:ext cx="10972800" cy="723900"/>
            <a:chOff x="609600" y="5334000"/>
            <a:chExt cx="10972800" cy="723900"/>
          </a:xfrm>
        </p:grpSpPr>
        <p:sp>
          <p:nvSpPr>
            <p:cNvPr id="35" name="Rectangle 35"/>
            <p:cNvSpPr/>
            <p:nvPr/>
          </p:nvSpPr>
          <p:spPr>
            <a:xfrm>
              <a:off x="609600" y="5334000"/>
              <a:ext cx="10972800" cy="723900"/>
            </a:xfrm>
            <a:prstGeom prst="roundRect">
              <a:avLst>
                <a:gd name="adj" fmla="val 10526"/>
              </a:avLst>
            </a:prstGeom>
            <a:solidFill>
              <a:srgbClr val="12355B"/>
            </a:solidFill>
            <a:ln>
              <a:noFill/>
            </a:ln>
          </p:spPr>
        </p:sp>
        <p:sp>
          <p:nvSpPr>
            <p:cNvPr id="36" name="TextBox 36"/>
            <p:cNvSpPr txBox="1"/>
            <p:nvPr/>
          </p:nvSpPr>
          <p:spPr>
            <a:xfrm>
              <a:off x="906399" y="5468779"/>
              <a:ext cx="1497244"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Sınav Notu</a:t>
              </a:r>
            </a:p>
          </p:txBody>
        </p:sp>
        <p:sp>
          <p:nvSpPr>
            <p:cNvPr id="37" name="TextBox 37"/>
            <p:cNvSpPr txBox="1"/>
            <p:nvPr/>
          </p:nvSpPr>
          <p:spPr>
            <a:xfrm>
              <a:off x="907542" y="5740718"/>
              <a:ext cx="10169590" cy="264033"/>
            </a:xfrm>
            <a:prstGeom prst="rect">
              <a:avLst/>
            </a:prstGeom>
            <a:noFill/>
            <a:ln>
              <a:noFill/>
            </a:ln>
          </p:spPr>
          <p:txBody>
            <a:bodyPr wrap="none" lIns="0" tIns="0" rIns="0" bIns="0" anchor="t" anchorCtr="0">
              <a:spAutoFit/>
            </a:bodyPr>
            <a:lstStyle/>
            <a:p>
              <a:pPr algn="l"/>
              <a:r>
                <a:rPr lang="tr-TR" sz="1350" dirty="0">
                  <a:solidFill>
                    <a:srgbClr val="FFFFFF"/>
                  </a:solidFill>
                  <a:latin typeface="+mn-lt"/>
                  <a:ea typeface="+mn-ea"/>
                  <a:cs typeface="+mn-cs"/>
                </a:rPr>
                <a:t>Yalnızca geçici hatalar yeniden denenmelidir; kalıcı bir istemci hatası tekrar denendiğinde de aynı sonucu üretir.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554623" cy="557403"/>
            <a:chOff x="595122" y="282892"/>
            <a:chExt cx="7554623" cy="557403"/>
          </a:xfrm>
        </p:grpSpPr>
        <p:sp>
          <p:nvSpPr>
            <p:cNvPr id="4" name="TextBox 4"/>
            <p:cNvSpPr txBox="1"/>
            <p:nvPr/>
          </p:nvSpPr>
          <p:spPr>
            <a:xfrm>
              <a:off x="595122" y="282892"/>
              <a:ext cx="75546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Üstel geri çekilme ve cascading failure</a:t>
              </a:r>
            </a:p>
          </p:txBody>
        </p:sp>
      </p:grpSp>
      <p:grpSp>
        <p:nvGrpSpPr>
          <p:cNvPr id="20" name="timeline"/>
          <p:cNvGrpSpPr/>
          <p:nvPr/>
        </p:nvGrpSpPr>
        <p:grpSpPr>
          <a:xfrm>
            <a:off x="930414" y="2115979"/>
            <a:ext cx="10309086" cy="1151477"/>
            <a:chOff x="930414" y="2115979"/>
            <a:chExt cx="10309086" cy="1151477"/>
          </a:xfrm>
        </p:grpSpPr>
        <p:sp>
          <p:nvSpPr>
            <p:cNvPr id="6" name="Line 6"/>
            <p:cNvSpPr/>
            <p:nvPr/>
          </p:nvSpPr>
          <p:spPr>
            <a:xfrm>
              <a:off x="952500" y="2667000"/>
              <a:ext cx="10287000" cy="9525"/>
            </a:xfrm>
            <a:custGeom>
              <a:avLst/>
              <a:gdLst/>
              <a:ahLst/>
              <a:cxnLst/>
              <a:rect l="l" t="t" r="r" b="b"/>
              <a:pathLst>
                <a:path w="10287000" h="9525">
                  <a:moveTo>
                    <a:pt x="0" y="0"/>
                  </a:moveTo>
                  <a:lnTo>
                    <a:pt x="10287000" y="0"/>
                  </a:lnTo>
                </a:path>
              </a:pathLst>
            </a:custGeom>
            <a:noFill/>
            <a:ln w="19050">
              <a:solidFill>
                <a:srgbClr val="B8CBD3"/>
              </a:solidFill>
            </a:ln>
          </p:spPr>
        </p:sp>
        <p:sp>
          <p:nvSpPr>
            <p:cNvPr id="7" name="Ellipse 7"/>
            <p:cNvSpPr/>
            <p:nvPr/>
          </p:nvSpPr>
          <p:spPr>
            <a:xfrm>
              <a:off x="1352550" y="2590800"/>
              <a:ext cx="152400" cy="152400"/>
            </a:xfrm>
            <a:prstGeom prst="ellipse">
              <a:avLst/>
            </a:prstGeom>
            <a:solidFill>
              <a:srgbClr val="12355B"/>
            </a:solidFill>
            <a:ln>
              <a:noFill/>
            </a:ln>
          </p:spPr>
        </p:sp>
        <p:sp>
          <p:nvSpPr>
            <p:cNvPr id="8" name="TextBox 8"/>
            <p:cNvSpPr txBox="1"/>
            <p:nvPr/>
          </p:nvSpPr>
          <p:spPr>
            <a:xfrm>
              <a:off x="930414" y="2115979"/>
              <a:ext cx="996673"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Deneme 1</a:t>
              </a:r>
            </a:p>
          </p:txBody>
        </p:sp>
        <p:sp>
          <p:nvSpPr>
            <p:cNvPr id="9" name="TextBox 9"/>
            <p:cNvSpPr txBox="1"/>
            <p:nvPr/>
          </p:nvSpPr>
          <p:spPr>
            <a:xfrm>
              <a:off x="1022833" y="2804160"/>
              <a:ext cx="811835"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başarısız</a:t>
              </a:r>
            </a:p>
          </p:txBody>
        </p:sp>
        <p:sp>
          <p:nvSpPr>
            <p:cNvPr id="10" name="Line 10"/>
            <p:cNvSpPr/>
            <p:nvPr/>
          </p:nvSpPr>
          <p:spPr>
            <a:xfrm>
              <a:off x="1428750" y="2667000"/>
              <a:ext cx="2762250" cy="1"/>
            </a:xfrm>
            <a:prstGeom prst="line">
              <a:avLst/>
            </a:prstGeom>
            <a:noFill/>
            <a:ln w="38100">
              <a:solidFill>
                <a:srgbClr val="00A6A6"/>
              </a:solidFill>
              <a:tailEnd type="arrow" w="lg" len="lg"/>
            </a:ln>
          </p:spPr>
        </p:sp>
        <p:sp>
          <p:nvSpPr>
            <p:cNvPr id="11" name="TextBox 11"/>
            <p:cNvSpPr txBox="1"/>
            <p:nvPr/>
          </p:nvSpPr>
          <p:spPr>
            <a:xfrm>
              <a:off x="2254529" y="3032760"/>
              <a:ext cx="1110691"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50 ms bekleme</a:t>
              </a:r>
            </a:p>
          </p:txBody>
        </p:sp>
        <p:sp>
          <p:nvSpPr>
            <p:cNvPr id="12" name="Ellipse 12"/>
            <p:cNvSpPr/>
            <p:nvPr/>
          </p:nvSpPr>
          <p:spPr>
            <a:xfrm>
              <a:off x="4114800" y="2590800"/>
              <a:ext cx="152400" cy="152400"/>
            </a:xfrm>
            <a:prstGeom prst="ellipse">
              <a:avLst/>
            </a:prstGeom>
            <a:solidFill>
              <a:srgbClr val="12355B"/>
            </a:solidFill>
            <a:ln>
              <a:noFill/>
            </a:ln>
          </p:spPr>
        </p:sp>
        <p:sp>
          <p:nvSpPr>
            <p:cNvPr id="13" name="TextBox 13"/>
            <p:cNvSpPr txBox="1"/>
            <p:nvPr/>
          </p:nvSpPr>
          <p:spPr>
            <a:xfrm>
              <a:off x="3692664" y="2115979"/>
              <a:ext cx="996673"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Deneme 2</a:t>
              </a:r>
            </a:p>
          </p:txBody>
        </p:sp>
        <p:sp>
          <p:nvSpPr>
            <p:cNvPr id="14" name="TextBox 14"/>
            <p:cNvSpPr txBox="1"/>
            <p:nvPr/>
          </p:nvSpPr>
          <p:spPr>
            <a:xfrm>
              <a:off x="3785083" y="2804160"/>
              <a:ext cx="811835"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başarısız</a:t>
              </a:r>
            </a:p>
          </p:txBody>
        </p:sp>
        <p:sp>
          <p:nvSpPr>
            <p:cNvPr id="15" name="Line 15"/>
            <p:cNvSpPr/>
            <p:nvPr/>
          </p:nvSpPr>
          <p:spPr>
            <a:xfrm>
              <a:off x="4191000" y="2667000"/>
              <a:ext cx="4381500" cy="1"/>
            </a:xfrm>
            <a:prstGeom prst="line">
              <a:avLst/>
            </a:prstGeom>
            <a:noFill/>
            <a:ln w="38100">
              <a:solidFill>
                <a:srgbClr val="00A6A6"/>
              </a:solidFill>
              <a:tailEnd type="arrow" w="lg" len="lg"/>
            </a:ln>
          </p:spPr>
        </p:sp>
        <p:sp>
          <p:nvSpPr>
            <p:cNvPr id="16" name="TextBox 16"/>
            <p:cNvSpPr txBox="1"/>
            <p:nvPr/>
          </p:nvSpPr>
          <p:spPr>
            <a:xfrm>
              <a:off x="5580050" y="3032760"/>
              <a:ext cx="160340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100 ms bekleme (2x)</a:t>
              </a:r>
            </a:p>
          </p:txBody>
        </p:sp>
        <p:sp>
          <p:nvSpPr>
            <p:cNvPr id="17" name="Ellipse 17"/>
            <p:cNvSpPr/>
            <p:nvPr/>
          </p:nvSpPr>
          <p:spPr>
            <a:xfrm>
              <a:off x="8477250" y="2571750"/>
              <a:ext cx="190500" cy="190500"/>
            </a:xfrm>
            <a:prstGeom prst="ellipse">
              <a:avLst/>
            </a:prstGeom>
            <a:solidFill>
              <a:srgbClr val="00A6A6"/>
            </a:solidFill>
            <a:ln>
              <a:noFill/>
            </a:ln>
          </p:spPr>
        </p:sp>
        <p:sp>
          <p:nvSpPr>
            <p:cNvPr id="18" name="TextBox 18"/>
            <p:cNvSpPr txBox="1"/>
            <p:nvPr/>
          </p:nvSpPr>
          <p:spPr>
            <a:xfrm>
              <a:off x="8074164" y="2115979"/>
              <a:ext cx="996673"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Deneme 3</a:t>
              </a:r>
            </a:p>
          </p:txBody>
        </p:sp>
        <p:sp>
          <p:nvSpPr>
            <p:cNvPr id="19" name="TextBox 19"/>
            <p:cNvSpPr txBox="1"/>
            <p:nvPr/>
          </p:nvSpPr>
          <p:spPr>
            <a:xfrm>
              <a:off x="8214440" y="2804160"/>
              <a:ext cx="716120"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başarılı</a:t>
              </a:r>
            </a:p>
          </p:txBody>
        </p:sp>
      </p:grpSp>
      <p:grpSp>
        <p:nvGrpSpPr>
          <p:cNvPr id="26" name="origin-box"/>
          <p:cNvGrpSpPr/>
          <p:nvPr/>
        </p:nvGrpSpPr>
        <p:grpSpPr>
          <a:xfrm>
            <a:off x="609600" y="3276600"/>
            <a:ext cx="5257800" cy="1219200"/>
            <a:chOff x="609600" y="3276600"/>
            <a:chExt cx="5257800" cy="1219200"/>
          </a:xfrm>
        </p:grpSpPr>
        <p:sp>
          <p:nvSpPr>
            <p:cNvPr id="21" name="Rectangle 21"/>
            <p:cNvSpPr/>
            <p:nvPr/>
          </p:nvSpPr>
          <p:spPr>
            <a:xfrm>
              <a:off x="609600" y="3276600"/>
              <a:ext cx="5257800" cy="1219200"/>
            </a:xfrm>
            <a:prstGeom prst="roundRect">
              <a:avLst>
                <a:gd name="adj" fmla="val 7812"/>
              </a:avLst>
            </a:prstGeom>
            <a:solidFill>
              <a:srgbClr val="FFFFFF"/>
            </a:solidFill>
            <a:ln w="14288">
              <a:solidFill>
                <a:srgbClr val="B8CBD3"/>
              </a:solidFill>
            </a:ln>
          </p:spPr>
        </p:sp>
        <p:sp>
          <p:nvSpPr>
            <p:cNvPr id="22" name="TextBox 22"/>
            <p:cNvSpPr txBox="1"/>
            <p:nvPr/>
          </p:nvSpPr>
          <p:spPr>
            <a:xfrm>
              <a:off x="830199" y="3411379"/>
              <a:ext cx="429942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Kökeni: Ethernet (Metcalfe, 1970'ler)</a:t>
              </a:r>
            </a:p>
          </p:txBody>
        </p:sp>
        <p:sp>
          <p:nvSpPr>
            <p:cNvPr id="23" name="TextBox 23"/>
            <p:cNvSpPr txBox="1"/>
            <p:nvPr/>
          </p:nvSpPr>
          <p:spPr>
            <a:xfrm>
              <a:off x="832104" y="3718560"/>
              <a:ext cx="32558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İkili Üstel Geri Çekilme: çakışma sonrası</a:t>
              </a:r>
            </a:p>
          </p:txBody>
        </p:sp>
        <p:sp>
          <p:nvSpPr>
            <p:cNvPr id="24" name="TextBox 24"/>
            <p:cNvSpPr txBox="1"/>
            <p:nvPr/>
          </p:nvSpPr>
          <p:spPr>
            <a:xfrm>
              <a:off x="832104" y="3947160"/>
              <a:ext cx="30169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bekleme süresi ikiye katlanır; yeniden</a:t>
              </a:r>
            </a:p>
          </p:txBody>
        </p:sp>
        <p:sp>
          <p:nvSpPr>
            <p:cNvPr id="25" name="TextBox 25"/>
            <p:cNvSpPr txBox="1"/>
            <p:nvPr/>
          </p:nvSpPr>
          <p:spPr>
            <a:xfrm>
              <a:off x="832104" y="4175760"/>
              <a:ext cx="30492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çarpışma olasılığı katlanarak azalır.</a:t>
              </a:r>
            </a:p>
          </p:txBody>
        </p:sp>
      </p:grpSp>
      <p:grpSp>
        <p:nvGrpSpPr>
          <p:cNvPr id="32" name="circuit-breaker"/>
          <p:cNvGrpSpPr/>
          <p:nvPr/>
        </p:nvGrpSpPr>
        <p:grpSpPr>
          <a:xfrm>
            <a:off x="6324600" y="3276600"/>
            <a:ext cx="5257800" cy="1219200"/>
            <a:chOff x="6324600" y="3276600"/>
            <a:chExt cx="5257800" cy="1219200"/>
          </a:xfrm>
        </p:grpSpPr>
        <p:sp>
          <p:nvSpPr>
            <p:cNvPr id="27" name="Rectangle 27"/>
            <p:cNvSpPr/>
            <p:nvPr/>
          </p:nvSpPr>
          <p:spPr>
            <a:xfrm>
              <a:off x="6324600" y="3276600"/>
              <a:ext cx="5257800" cy="1219200"/>
            </a:xfrm>
            <a:prstGeom prst="roundRect">
              <a:avLst>
                <a:gd name="adj" fmla="val 7812"/>
              </a:avLst>
            </a:prstGeom>
            <a:solidFill>
              <a:srgbClr val="EAF4F6"/>
            </a:solidFill>
            <a:ln w="14288">
              <a:solidFill>
                <a:srgbClr val="00A6A6"/>
              </a:solidFill>
            </a:ln>
          </p:spPr>
        </p:sp>
        <p:sp>
          <p:nvSpPr>
            <p:cNvPr id="28" name="TextBox 28"/>
            <p:cNvSpPr txBox="1"/>
            <p:nvPr/>
          </p:nvSpPr>
          <p:spPr>
            <a:xfrm>
              <a:off x="6545199" y="3411379"/>
              <a:ext cx="344113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Circuit breaker (Nygard, 2007)</a:t>
              </a:r>
            </a:p>
          </p:txBody>
        </p:sp>
        <p:sp>
          <p:nvSpPr>
            <p:cNvPr id="29" name="TextBox 29"/>
            <p:cNvSpPr txBox="1"/>
            <p:nvPr/>
          </p:nvSpPr>
          <p:spPr>
            <a:xfrm>
              <a:off x="6547104" y="3718560"/>
              <a:ext cx="29006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Sürekli başarısız olan servise isteği</a:t>
              </a:r>
            </a:p>
          </p:txBody>
        </p:sp>
        <p:sp>
          <p:nvSpPr>
            <p:cNvPr id="30" name="TextBox 30"/>
            <p:cNvSpPr txBox="1"/>
            <p:nvPr/>
          </p:nvSpPr>
          <p:spPr>
            <a:xfrm>
              <a:off x="6547104" y="3947160"/>
              <a:ext cx="33076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geçici olarak tamamen durdurur; retry bu</a:t>
              </a:r>
            </a:p>
          </p:txBody>
        </p:sp>
        <p:sp>
          <p:nvSpPr>
            <p:cNvPr id="31" name="TextBox 31"/>
            <p:cNvSpPr txBox="1"/>
            <p:nvPr/>
          </p:nvSpPr>
          <p:spPr>
            <a:xfrm>
              <a:off x="6547104" y="4175760"/>
              <a:ext cx="27988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desenin bir öncül adımı sayılabilir.</a:t>
              </a:r>
            </a:p>
          </p:txBody>
        </p:sp>
      </p:grpSp>
      <p:grpSp>
        <p:nvGrpSpPr>
          <p:cNvPr id="37" name="cascading-note"/>
          <p:cNvGrpSpPr/>
          <p:nvPr/>
        </p:nvGrpSpPr>
        <p:grpSpPr>
          <a:xfrm>
            <a:off x="609600" y="4648200"/>
            <a:ext cx="10972800" cy="900018"/>
            <a:chOff x="609600" y="4648200"/>
            <a:chExt cx="10972800" cy="900018"/>
          </a:xfrm>
        </p:grpSpPr>
        <p:sp>
          <p:nvSpPr>
            <p:cNvPr id="33" name="Rectangle 33"/>
            <p:cNvSpPr/>
            <p:nvPr/>
          </p:nvSpPr>
          <p:spPr>
            <a:xfrm>
              <a:off x="609600" y="4648200"/>
              <a:ext cx="10972800" cy="876300"/>
            </a:xfrm>
            <a:prstGeom prst="roundRect">
              <a:avLst>
                <a:gd name="adj" fmla="val 8696"/>
              </a:avLst>
            </a:prstGeom>
            <a:solidFill>
              <a:srgbClr val="12355B"/>
            </a:solidFill>
            <a:ln>
              <a:noFill/>
            </a:ln>
          </p:spPr>
        </p:sp>
        <p:sp>
          <p:nvSpPr>
            <p:cNvPr id="34" name="TextBox 34"/>
            <p:cNvSpPr txBox="1"/>
            <p:nvPr/>
          </p:nvSpPr>
          <p:spPr>
            <a:xfrm>
              <a:off x="906399" y="4763929"/>
              <a:ext cx="4032178"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Cascading failure (zincirleme çökme)</a:t>
              </a:r>
            </a:p>
          </p:txBody>
        </p:sp>
        <p:sp>
          <p:nvSpPr>
            <p:cNvPr id="35" name="TextBox 35"/>
            <p:cNvSpPr txBox="1"/>
            <p:nvPr/>
          </p:nvSpPr>
          <p:spPr>
            <a:xfrm>
              <a:off x="906399" y="5030629"/>
              <a:ext cx="8896128"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mn-lt"/>
                  <a:ea typeface="+mn-ea"/>
                  <a:cs typeface="+mn-cs"/>
                </a:rPr>
                <a:t>Sınırsız ve beklemesiz retry, zaten zorlanan karşı servise DoS etkisi yapar ve yerel</a:t>
              </a:r>
            </a:p>
          </p:txBody>
        </p:sp>
        <p:sp>
          <p:nvSpPr>
            <p:cNvPr id="36" name="TextBox 36"/>
            <p:cNvSpPr txBox="1"/>
            <p:nvPr/>
          </p:nvSpPr>
          <p:spPr>
            <a:xfrm>
              <a:off x="906399" y="5240179"/>
              <a:ext cx="6407625"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mn-lt"/>
                  <a:ea typeface="+mn-ea"/>
                  <a:cs typeface="+mn-cs"/>
                </a:rPr>
                <a:t>soket havuzunu kilitleyerek kendi sunucunuzu da çökertebilir.</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742150" cy="668845"/>
            <a:chOff x="609600" y="171450"/>
            <a:chExt cx="7742150"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705177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E-posta bildirim akışı ve soyutlama</a:t>
              </a:r>
            </a:p>
          </p:txBody>
        </p:sp>
      </p:grpSp>
      <p:grpSp>
        <p:nvGrpSpPr>
          <p:cNvPr id="25" name="dip-flow"/>
          <p:cNvGrpSpPr/>
          <p:nvPr/>
        </p:nvGrpSpPr>
        <p:grpSpPr>
          <a:xfrm>
            <a:off x="609600" y="1371600"/>
            <a:ext cx="10972800" cy="762000"/>
            <a:chOff x="609600" y="1371600"/>
            <a:chExt cx="10972800" cy="762000"/>
          </a:xfrm>
        </p:grpSpPr>
        <p:sp>
          <p:nvSpPr>
            <p:cNvPr id="14" name="Rectangle 14"/>
            <p:cNvSpPr/>
            <p:nvPr/>
          </p:nvSpPr>
          <p:spPr>
            <a:xfrm>
              <a:off x="609600" y="1371600"/>
              <a:ext cx="3048000" cy="762000"/>
            </a:xfrm>
            <a:prstGeom prst="roundRect">
              <a:avLst>
                <a:gd name="adj" fmla="val 10000"/>
              </a:avLst>
            </a:prstGeom>
            <a:solidFill>
              <a:srgbClr val="12355B"/>
            </a:solidFill>
            <a:ln>
              <a:noFill/>
            </a:ln>
          </p:spPr>
        </p:sp>
        <p:sp>
          <p:nvSpPr>
            <p:cNvPr id="15" name="TextBox 15"/>
            <p:cNvSpPr txBox="1"/>
            <p:nvPr/>
          </p:nvSpPr>
          <p:spPr>
            <a:xfrm>
              <a:off x="1513185" y="1506379"/>
              <a:ext cx="1240831"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İş mantığı</a:t>
              </a:r>
            </a:p>
          </p:txBody>
        </p:sp>
        <p:sp>
          <p:nvSpPr>
            <p:cNvPr id="16" name="TextBox 16"/>
            <p:cNvSpPr txBox="1"/>
            <p:nvPr/>
          </p:nvSpPr>
          <p:spPr>
            <a:xfrm>
              <a:off x="989584" y="1775460"/>
              <a:ext cx="2288032"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sonTeslimHatirlatmasiGonder</a:t>
              </a:r>
            </a:p>
          </p:txBody>
        </p:sp>
        <p:sp>
          <p:nvSpPr>
            <p:cNvPr id="17" name="Line 17"/>
            <p:cNvSpPr/>
            <p:nvPr/>
          </p:nvSpPr>
          <p:spPr>
            <a:xfrm>
              <a:off x="3657600" y="1752600"/>
              <a:ext cx="838200" cy="1"/>
            </a:xfrm>
            <a:prstGeom prst="line">
              <a:avLst/>
            </a:prstGeom>
            <a:noFill/>
            <a:ln w="23812">
              <a:solidFill>
                <a:srgbClr val="00A6A6"/>
              </a:solidFill>
              <a:tailEnd type="arrow" w="lg" len="lg"/>
            </a:ln>
          </p:spPr>
        </p:sp>
        <p:sp>
          <p:nvSpPr>
            <p:cNvPr id="18" name="Rectangle 18"/>
            <p:cNvSpPr/>
            <p:nvPr/>
          </p:nvSpPr>
          <p:spPr>
            <a:xfrm>
              <a:off x="4495800" y="1371600"/>
              <a:ext cx="3200400" cy="762000"/>
            </a:xfrm>
            <a:prstGeom prst="roundRect">
              <a:avLst>
                <a:gd name="adj" fmla="val 10000"/>
              </a:avLst>
            </a:prstGeom>
            <a:solidFill>
              <a:srgbClr val="FFFFFF"/>
            </a:solidFill>
            <a:ln w="14288">
              <a:solidFill>
                <a:srgbClr val="2E86AB"/>
              </a:solidFill>
            </a:ln>
          </p:spPr>
        </p:sp>
        <p:sp>
          <p:nvSpPr>
            <p:cNvPr id="19" name="TextBox 19"/>
            <p:cNvSpPr txBox="1"/>
            <p:nvPr/>
          </p:nvSpPr>
          <p:spPr>
            <a:xfrm>
              <a:off x="4880026" y="1506379"/>
              <a:ext cx="2431948"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EmailService (arayüz)</a:t>
              </a:r>
            </a:p>
          </p:txBody>
        </p:sp>
        <p:sp>
          <p:nvSpPr>
            <p:cNvPr id="20" name="TextBox 20"/>
            <p:cNvSpPr txBox="1"/>
            <p:nvPr/>
          </p:nvSpPr>
          <p:spPr>
            <a:xfrm>
              <a:off x="5035829" y="1775460"/>
              <a:ext cx="2120341"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gonder(alici, konu, govde)</a:t>
              </a:r>
            </a:p>
          </p:txBody>
        </p:sp>
        <p:sp>
          <p:nvSpPr>
            <p:cNvPr id="21" name="Line 21"/>
            <p:cNvSpPr/>
            <p:nvPr/>
          </p:nvSpPr>
          <p:spPr>
            <a:xfrm>
              <a:off x="7696200" y="1752600"/>
              <a:ext cx="838200" cy="1"/>
            </a:xfrm>
            <a:prstGeom prst="line">
              <a:avLst/>
            </a:prstGeom>
            <a:noFill/>
            <a:ln w="23812">
              <a:solidFill>
                <a:srgbClr val="00A6A6"/>
              </a:solidFill>
              <a:tailEnd type="arrow" w="lg" len="lg"/>
            </a:ln>
          </p:spPr>
        </p:sp>
        <p:sp>
          <p:nvSpPr>
            <p:cNvPr id="22" name="Rectangle 22"/>
            <p:cNvSpPr/>
            <p:nvPr/>
          </p:nvSpPr>
          <p:spPr>
            <a:xfrm>
              <a:off x="8534400" y="1371600"/>
              <a:ext cx="3048000" cy="762000"/>
            </a:xfrm>
            <a:prstGeom prst="roundRect">
              <a:avLst>
                <a:gd name="adj" fmla="val 10000"/>
              </a:avLst>
            </a:prstGeom>
            <a:solidFill>
              <a:srgbClr val="EAF4F6"/>
            </a:solidFill>
            <a:ln w="14288">
              <a:solidFill>
                <a:srgbClr val="00A6A6"/>
              </a:solidFill>
            </a:ln>
          </p:spPr>
        </p:sp>
        <p:sp>
          <p:nvSpPr>
            <p:cNvPr id="23" name="TextBox 23"/>
            <p:cNvSpPr txBox="1"/>
            <p:nvPr/>
          </p:nvSpPr>
          <p:spPr>
            <a:xfrm>
              <a:off x="8684202" y="1506379"/>
              <a:ext cx="2748395"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Gerçek / sahte sağlayıcı</a:t>
              </a:r>
            </a:p>
          </p:txBody>
        </p:sp>
        <p:sp>
          <p:nvSpPr>
            <p:cNvPr id="24" name="TextBox 24"/>
            <p:cNvSpPr txBox="1"/>
            <p:nvPr/>
          </p:nvSpPr>
          <p:spPr>
            <a:xfrm>
              <a:off x="8915495" y="1775460"/>
              <a:ext cx="228581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SahteEmailService, SMTP API</a:t>
              </a:r>
            </a:p>
          </p:txBody>
        </p:sp>
      </p:grpSp>
      <p:grpSp>
        <p:nvGrpSpPr>
          <p:cNvPr id="30" name="dip-note"/>
          <p:cNvGrpSpPr/>
          <p:nvPr/>
        </p:nvGrpSpPr>
        <p:grpSpPr>
          <a:xfrm>
            <a:off x="609600" y="2857500"/>
            <a:ext cx="10972800" cy="900018"/>
            <a:chOff x="609600" y="2857500"/>
            <a:chExt cx="10972800" cy="900018"/>
          </a:xfrm>
        </p:grpSpPr>
        <p:sp>
          <p:nvSpPr>
            <p:cNvPr id="26" name="Rectangle 26"/>
            <p:cNvSpPr/>
            <p:nvPr/>
          </p:nvSpPr>
          <p:spPr>
            <a:xfrm>
              <a:off x="609600" y="2857500"/>
              <a:ext cx="10972800" cy="876300"/>
            </a:xfrm>
            <a:prstGeom prst="roundRect">
              <a:avLst>
                <a:gd name="adj" fmla="val 8696"/>
              </a:avLst>
            </a:prstGeom>
            <a:solidFill>
              <a:srgbClr val="EAF4F6"/>
            </a:solidFill>
            <a:ln>
              <a:noFill/>
            </a:ln>
          </p:spPr>
        </p:sp>
        <p:sp>
          <p:nvSpPr>
            <p:cNvPr id="27" name="TextBox 27"/>
            <p:cNvSpPr txBox="1"/>
            <p:nvPr/>
          </p:nvSpPr>
          <p:spPr>
            <a:xfrm>
              <a:off x="906399" y="2973229"/>
              <a:ext cx="483391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Bağımlılığın Tersine Çevrilmesi İlkesi (DIP)</a:t>
              </a:r>
            </a:p>
          </p:txBody>
        </p:sp>
        <p:sp>
          <p:nvSpPr>
            <p:cNvPr id="28" name="TextBox 28"/>
            <p:cNvSpPr txBox="1"/>
            <p:nvPr/>
          </p:nvSpPr>
          <p:spPr>
            <a:xfrm>
              <a:off x="906399" y="3239929"/>
              <a:ext cx="914465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İş mantığı, hangi somut e-posta sağlayıcısının kullanıldığını bilmeden çalışır; SMTP</a:t>
              </a:r>
            </a:p>
          </p:txBody>
        </p:sp>
        <p:sp>
          <p:nvSpPr>
            <p:cNvPr id="29" name="TextBox 29"/>
            <p:cNvSpPr txBox="1"/>
            <p:nvPr/>
          </p:nvSpPr>
          <p:spPr>
            <a:xfrm>
              <a:off x="906399" y="3449479"/>
              <a:ext cx="568981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(RFC 5321/821) karmaşıklığı arayüz ardında gizlenir.</a:t>
              </a:r>
            </a:p>
          </p:txBody>
        </p:sp>
      </p:grpSp>
      <p:grpSp>
        <p:nvGrpSpPr>
          <p:cNvPr id="33" name="smtp-note"/>
          <p:cNvGrpSpPr/>
          <p:nvPr/>
        </p:nvGrpSpPr>
        <p:grpSpPr>
          <a:xfrm>
            <a:off x="601599" y="3963829"/>
            <a:ext cx="9600983" cy="555689"/>
            <a:chOff x="601599" y="3963829"/>
            <a:chExt cx="9600983" cy="555689"/>
          </a:xfrm>
        </p:grpSpPr>
        <p:sp>
          <p:nvSpPr>
            <p:cNvPr id="31" name="TextBox 31"/>
            <p:cNvSpPr txBox="1"/>
            <p:nvPr/>
          </p:nvSpPr>
          <p:spPr>
            <a:xfrm>
              <a:off x="601599" y="3963829"/>
              <a:ext cx="960098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SMTP: sunucular arası mesaj aktarımını düzenleyen IETF protokolü; backend genellikle bunu</a:t>
              </a:r>
            </a:p>
          </p:txBody>
        </p:sp>
        <p:sp>
          <p:nvSpPr>
            <p:cNvPr id="32" name="TextBox 32"/>
            <p:cNvSpPr txBox="1"/>
            <p:nvPr/>
          </p:nvSpPr>
          <p:spPr>
            <a:xfrm>
              <a:off x="601599" y="4211479"/>
              <a:ext cx="874748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doğrudan konuşmaz, karmaşıklığı soyutlayan bir e-posta sağlayıcı API'si kullanır.</a:t>
              </a:r>
            </a:p>
          </p:txBody>
        </p:sp>
      </p:grpSp>
      <p:grpSp>
        <p:nvGrpSpPr>
          <p:cNvPr id="44" name="delivery-tradeoff"/>
          <p:cNvGrpSpPr/>
          <p:nvPr/>
        </p:nvGrpSpPr>
        <p:grpSpPr>
          <a:xfrm>
            <a:off x="609600" y="4686300"/>
            <a:ext cx="10972800" cy="1485900"/>
            <a:chOff x="609600" y="4686300"/>
            <a:chExt cx="10972800" cy="1485900"/>
          </a:xfrm>
        </p:grpSpPr>
        <p:sp>
          <p:nvSpPr>
            <p:cNvPr id="34" name="Rectangle 34"/>
            <p:cNvSpPr/>
            <p:nvPr/>
          </p:nvSpPr>
          <p:spPr>
            <a:xfrm>
              <a:off x="609600" y="4686300"/>
              <a:ext cx="5257800" cy="1485900"/>
            </a:xfrm>
            <a:prstGeom prst="roundRect">
              <a:avLst>
                <a:gd name="adj" fmla="val 6410"/>
              </a:avLst>
            </a:prstGeom>
            <a:solidFill>
              <a:srgbClr val="FFFFFF"/>
            </a:solidFill>
            <a:ln w="14288">
              <a:solidFill>
                <a:srgbClr val="B8CBD3"/>
              </a:solidFill>
            </a:ln>
          </p:spPr>
        </p:sp>
        <p:sp>
          <p:nvSpPr>
            <p:cNvPr id="35" name="TextBox 35"/>
            <p:cNvSpPr txBox="1"/>
            <p:nvPr/>
          </p:nvSpPr>
          <p:spPr>
            <a:xfrm>
              <a:off x="830199" y="4821079"/>
              <a:ext cx="28496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Best-effort (bu bölümde)</a:t>
              </a:r>
            </a:p>
          </p:txBody>
        </p:sp>
        <p:sp>
          <p:nvSpPr>
            <p:cNvPr id="36" name="TextBox 36"/>
            <p:cNvSpPr txBox="1"/>
            <p:nvPr/>
          </p:nvSpPr>
          <p:spPr>
            <a:xfrm>
              <a:off x="830199" y="5087779"/>
              <a:ext cx="310638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Bildirim garantisiz gönderilir;</a:t>
              </a:r>
            </a:p>
          </p:txBody>
        </p:sp>
        <p:sp>
          <p:nvSpPr>
            <p:cNvPr id="37" name="TextBox 37"/>
            <p:cNvSpPr txBox="1"/>
            <p:nvPr/>
          </p:nvSpPr>
          <p:spPr>
            <a:xfrm>
              <a:off x="830199" y="5335429"/>
              <a:ext cx="315332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basit ve hızlı, ancak sessizce</a:t>
              </a:r>
            </a:p>
          </p:txBody>
        </p:sp>
        <p:sp>
          <p:nvSpPr>
            <p:cNvPr id="38" name="TextBox 38"/>
            <p:cNvSpPr txBox="1"/>
            <p:nvPr/>
          </p:nvSpPr>
          <p:spPr>
            <a:xfrm>
              <a:off x="830199" y="5583079"/>
              <a:ext cx="132410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kaybolabilir.</a:t>
              </a:r>
            </a:p>
          </p:txBody>
        </p:sp>
        <p:sp>
          <p:nvSpPr>
            <p:cNvPr id="39" name="Rectangle 39"/>
            <p:cNvSpPr/>
            <p:nvPr/>
          </p:nvSpPr>
          <p:spPr>
            <a:xfrm>
              <a:off x="6324600" y="4686300"/>
              <a:ext cx="5257800" cy="1485900"/>
            </a:xfrm>
            <a:prstGeom prst="roundRect">
              <a:avLst>
                <a:gd name="adj" fmla="val 6410"/>
              </a:avLst>
            </a:prstGeom>
            <a:solidFill>
              <a:srgbClr val="EAF4F6"/>
            </a:solidFill>
            <a:ln w="14288">
              <a:solidFill>
                <a:srgbClr val="00A6A6"/>
              </a:solidFill>
            </a:ln>
          </p:spPr>
        </p:sp>
        <p:sp>
          <p:nvSpPr>
            <p:cNvPr id="40" name="TextBox 40"/>
            <p:cNvSpPr txBox="1"/>
            <p:nvPr/>
          </p:nvSpPr>
          <p:spPr>
            <a:xfrm>
              <a:off x="6545199" y="4821079"/>
              <a:ext cx="313886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Kuyruk tabanlı (ileri seviye)</a:t>
              </a:r>
            </a:p>
          </p:txBody>
        </p:sp>
        <p:sp>
          <p:nvSpPr>
            <p:cNvPr id="41" name="TextBox 41"/>
            <p:cNvSpPr txBox="1"/>
            <p:nvPr/>
          </p:nvSpPr>
          <p:spPr>
            <a:xfrm>
              <a:off x="6545199" y="5087779"/>
              <a:ext cx="304317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En az bir kez teslim garantisi</a:t>
              </a:r>
            </a:p>
          </p:txBody>
        </p:sp>
        <p:sp>
          <p:nvSpPr>
            <p:cNvPr id="42" name="TextBox 42"/>
            <p:cNvSpPr txBox="1"/>
            <p:nvPr/>
          </p:nvSpPr>
          <p:spPr>
            <a:xfrm>
              <a:off x="6545199" y="5335429"/>
              <a:ext cx="371697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artırılır; ek altyapı karmaşıklığı</a:t>
              </a:r>
            </a:p>
          </p:txBody>
        </p:sp>
        <p:sp>
          <p:nvSpPr>
            <p:cNvPr id="43" name="TextBox 43"/>
            <p:cNvSpPr txBox="1"/>
            <p:nvPr/>
          </p:nvSpPr>
          <p:spPr>
            <a:xfrm>
              <a:off x="6545199" y="5583079"/>
              <a:ext cx="84553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getirir.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8790155" cy="668845"/>
            <a:chOff x="609600" y="171450"/>
            <a:chExt cx="8790155"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809978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Doğru ve yanlış: e-posta hata izolasyonu</a:t>
              </a:r>
            </a:p>
          </p:txBody>
        </p:sp>
      </p:grpSp>
      <p:grpSp>
        <p:nvGrpSpPr>
          <p:cNvPr id="29" name="correct-panel"/>
          <p:cNvGrpSpPr/>
          <p:nvPr/>
        </p:nvGrpSpPr>
        <p:grpSpPr>
          <a:xfrm>
            <a:off x="609600" y="1181100"/>
            <a:ext cx="5257800" cy="3810000"/>
            <a:chOff x="609600" y="1181100"/>
            <a:chExt cx="5257800" cy="3810000"/>
          </a:xfrm>
        </p:grpSpPr>
        <p:sp>
          <p:nvSpPr>
            <p:cNvPr id="14" name="Rectangle 14"/>
            <p:cNvSpPr/>
            <p:nvPr/>
          </p:nvSpPr>
          <p:spPr>
            <a:xfrm>
              <a:off x="609600" y="1181100"/>
              <a:ext cx="5257800" cy="3810000"/>
            </a:xfrm>
            <a:prstGeom prst="roundRect">
              <a:avLst>
                <a:gd name="adj" fmla="val 2500"/>
              </a:avLst>
            </a:prstGeom>
            <a:solidFill>
              <a:srgbClr val="EAF4F6"/>
            </a:solidFill>
            <a:ln w="14288">
              <a:solidFill>
                <a:srgbClr val="00A6A6"/>
              </a:solidFill>
            </a:ln>
          </p:spPr>
        </p:sp>
        <p:sp>
          <p:nvSpPr>
            <p:cNvPr id="15" name="TextBox 15"/>
            <p:cNvSpPr txBox="1"/>
            <p:nvPr/>
          </p:nvSpPr>
          <p:spPr>
            <a:xfrm>
              <a:off x="829056" y="1329690"/>
              <a:ext cx="33985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 Doğru: izole edilmiş hata</a:t>
              </a:r>
            </a:p>
          </p:txBody>
        </p:sp>
        <p:sp>
          <p:nvSpPr>
            <p:cNvPr id="16" name="Rectangle 16"/>
            <p:cNvSpPr/>
            <p:nvPr/>
          </p:nvSpPr>
          <p:spPr>
            <a:xfrm>
              <a:off x="838200" y="1714500"/>
              <a:ext cx="4800600" cy="571500"/>
            </a:xfrm>
            <a:prstGeom prst="roundRect">
              <a:avLst>
                <a:gd name="adj" fmla="val 10000"/>
              </a:avLst>
            </a:prstGeom>
            <a:solidFill>
              <a:srgbClr val="FFFFFF"/>
            </a:solidFill>
            <a:ln>
              <a:noFill/>
            </a:ln>
          </p:spPr>
        </p:sp>
        <p:sp>
          <p:nvSpPr>
            <p:cNvPr id="17" name="TextBox 17"/>
            <p:cNvSpPr txBox="1"/>
            <p:nvPr/>
          </p:nvSpPr>
          <p:spPr>
            <a:xfrm>
              <a:off x="983742" y="1816418"/>
              <a:ext cx="299091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Ödünç kaydı veritabanına yazılır</a:t>
              </a:r>
            </a:p>
          </p:txBody>
        </p:sp>
        <p:sp>
          <p:nvSpPr>
            <p:cNvPr id="18" name="TextBox 18"/>
            <p:cNvSpPr txBox="1"/>
            <p:nvPr/>
          </p:nvSpPr>
          <p:spPr>
            <a:xfrm>
              <a:off x="984504" y="2042160"/>
              <a:ext cx="8602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(başarılı)</a:t>
              </a:r>
            </a:p>
          </p:txBody>
        </p:sp>
        <p:sp>
          <p:nvSpPr>
            <p:cNvPr id="19" name="Rectangle 19"/>
            <p:cNvSpPr/>
            <p:nvPr/>
          </p:nvSpPr>
          <p:spPr>
            <a:xfrm>
              <a:off x="838200" y="2438400"/>
              <a:ext cx="4800600" cy="571500"/>
            </a:xfrm>
            <a:prstGeom prst="roundRect">
              <a:avLst>
                <a:gd name="adj" fmla="val 10000"/>
              </a:avLst>
            </a:prstGeom>
            <a:solidFill>
              <a:srgbClr val="FFFFFF"/>
            </a:solidFill>
            <a:ln>
              <a:noFill/>
            </a:ln>
          </p:spPr>
        </p:sp>
        <p:sp>
          <p:nvSpPr>
            <p:cNvPr id="20" name="TextBox 20"/>
            <p:cNvSpPr txBox="1"/>
            <p:nvPr/>
          </p:nvSpPr>
          <p:spPr>
            <a:xfrm>
              <a:off x="983742" y="2540318"/>
              <a:ext cx="282766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emailService.gonder() çağrılır</a:t>
              </a:r>
            </a:p>
          </p:txBody>
        </p:sp>
        <p:sp>
          <p:nvSpPr>
            <p:cNvPr id="21" name="TextBox 21"/>
            <p:cNvSpPr txBox="1"/>
            <p:nvPr/>
          </p:nvSpPr>
          <p:spPr>
            <a:xfrm>
              <a:off x="984504" y="2766060"/>
              <a:ext cx="15872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(başarısız olabilir)</a:t>
              </a:r>
            </a:p>
          </p:txBody>
        </p:sp>
        <p:sp>
          <p:nvSpPr>
            <p:cNvPr id="22" name="Rectangle 22"/>
            <p:cNvSpPr/>
            <p:nvPr/>
          </p:nvSpPr>
          <p:spPr>
            <a:xfrm>
              <a:off x="838200" y="3162300"/>
              <a:ext cx="4800600" cy="571500"/>
            </a:xfrm>
            <a:prstGeom prst="roundRect">
              <a:avLst>
                <a:gd name="adj" fmla="val 10000"/>
              </a:avLst>
            </a:prstGeom>
            <a:solidFill>
              <a:srgbClr val="FFFFFF"/>
            </a:solidFill>
            <a:ln>
              <a:noFill/>
            </a:ln>
          </p:spPr>
        </p:sp>
        <p:sp>
          <p:nvSpPr>
            <p:cNvPr id="23" name="TextBox 23"/>
            <p:cNvSpPr txBox="1"/>
            <p:nvPr/>
          </p:nvSpPr>
          <p:spPr>
            <a:xfrm>
              <a:off x="983742" y="3264218"/>
              <a:ext cx="293649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Uyarı loglanır, hata fırlatılmaz</a:t>
              </a:r>
            </a:p>
          </p:txBody>
        </p:sp>
        <p:sp>
          <p:nvSpPr>
            <p:cNvPr id="24" name="TextBox 24"/>
            <p:cNvSpPr txBox="1"/>
            <p:nvPr/>
          </p:nvSpPr>
          <p:spPr>
            <a:xfrm>
              <a:off x="984504" y="3489960"/>
              <a:ext cx="203956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"kayıt yine de geçerlidir"</a:t>
              </a:r>
            </a:p>
          </p:txBody>
        </p:sp>
        <p:sp>
          <p:nvSpPr>
            <p:cNvPr id="25" name="TextBox 25"/>
            <p:cNvSpPr txBox="1"/>
            <p:nvPr/>
          </p:nvSpPr>
          <p:spPr>
            <a:xfrm>
              <a:off x="830199" y="3887629"/>
              <a:ext cx="213515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Sonuç: 201 Created</a:t>
              </a:r>
            </a:p>
          </p:txBody>
        </p:sp>
        <p:sp>
          <p:nvSpPr>
            <p:cNvPr id="26" name="TextBox 26"/>
            <p:cNvSpPr txBox="1"/>
            <p:nvPr/>
          </p:nvSpPr>
          <p:spPr>
            <a:xfrm>
              <a:off x="832104" y="4175760"/>
              <a:ext cx="28929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Kullanıcı işlemi tamamlanmış görür.</a:t>
              </a:r>
            </a:p>
          </p:txBody>
        </p:sp>
        <p:sp>
          <p:nvSpPr>
            <p:cNvPr id="27" name="TextBox 27"/>
            <p:cNvSpPr txBox="1"/>
            <p:nvPr/>
          </p:nvSpPr>
          <p:spPr>
            <a:xfrm>
              <a:off x="832104" y="4499610"/>
              <a:ext cx="36199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E-posta ana iş kuralının bir parçası değildir;</a:t>
              </a:r>
            </a:p>
          </p:txBody>
        </p:sp>
        <p:sp>
          <p:nvSpPr>
            <p:cNvPr id="28" name="TextBox 28"/>
            <p:cNvSpPr txBox="1"/>
            <p:nvPr/>
          </p:nvSpPr>
          <p:spPr>
            <a:xfrm>
              <a:off x="832104" y="4690110"/>
              <a:ext cx="212841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yalnızca ek bir bildirimdir.</a:t>
              </a:r>
            </a:p>
          </p:txBody>
        </p:sp>
      </p:grpSp>
      <p:grpSp>
        <p:nvGrpSpPr>
          <p:cNvPr id="45" name="wrong-panel"/>
          <p:cNvGrpSpPr/>
          <p:nvPr/>
        </p:nvGrpSpPr>
        <p:grpSpPr>
          <a:xfrm>
            <a:off x="6324600" y="1181100"/>
            <a:ext cx="5257800" cy="3810000"/>
            <a:chOff x="6324600" y="1181100"/>
            <a:chExt cx="5257800" cy="3810000"/>
          </a:xfrm>
        </p:grpSpPr>
        <p:sp>
          <p:nvSpPr>
            <p:cNvPr id="30" name="Rectangle 30"/>
            <p:cNvSpPr/>
            <p:nvPr/>
          </p:nvSpPr>
          <p:spPr>
            <a:xfrm>
              <a:off x="6324600" y="1181100"/>
              <a:ext cx="5257800" cy="3810000"/>
            </a:xfrm>
            <a:prstGeom prst="roundRect">
              <a:avLst>
                <a:gd name="adj" fmla="val 2500"/>
              </a:avLst>
            </a:prstGeom>
            <a:solidFill>
              <a:srgbClr val="FFFFFF"/>
            </a:solidFill>
            <a:ln w="14288">
              <a:solidFill>
                <a:srgbClr val="B8CBD3"/>
              </a:solidFill>
            </a:ln>
          </p:spPr>
        </p:sp>
        <p:sp>
          <p:nvSpPr>
            <p:cNvPr id="31" name="TextBox 31"/>
            <p:cNvSpPr txBox="1"/>
            <p:nvPr/>
          </p:nvSpPr>
          <p:spPr>
            <a:xfrm>
              <a:off x="6544056" y="1329690"/>
              <a:ext cx="393302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 Yanlış: bağımlı hale getirme</a:t>
              </a:r>
            </a:p>
          </p:txBody>
        </p:sp>
        <p:sp>
          <p:nvSpPr>
            <p:cNvPr id="32" name="Rectangle 32"/>
            <p:cNvSpPr/>
            <p:nvPr/>
          </p:nvSpPr>
          <p:spPr>
            <a:xfrm>
              <a:off x="6553200" y="1714500"/>
              <a:ext cx="4800600" cy="571500"/>
            </a:xfrm>
            <a:prstGeom prst="roundRect">
              <a:avLst>
                <a:gd name="adj" fmla="val 10000"/>
              </a:avLst>
            </a:prstGeom>
            <a:solidFill>
              <a:srgbClr val="EAF4F6"/>
            </a:solidFill>
            <a:ln>
              <a:noFill/>
            </a:ln>
          </p:spPr>
        </p:sp>
        <p:sp>
          <p:nvSpPr>
            <p:cNvPr id="33" name="TextBox 33"/>
            <p:cNvSpPr txBox="1"/>
            <p:nvPr/>
          </p:nvSpPr>
          <p:spPr>
            <a:xfrm>
              <a:off x="6698742" y="1816418"/>
              <a:ext cx="299091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Ödünç kaydı veritabanına yazılır</a:t>
              </a:r>
            </a:p>
          </p:txBody>
        </p:sp>
        <p:sp>
          <p:nvSpPr>
            <p:cNvPr id="34" name="TextBox 34"/>
            <p:cNvSpPr txBox="1"/>
            <p:nvPr/>
          </p:nvSpPr>
          <p:spPr>
            <a:xfrm>
              <a:off x="6699504" y="2042160"/>
              <a:ext cx="8602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(başarılı)</a:t>
              </a:r>
            </a:p>
          </p:txBody>
        </p:sp>
        <p:sp>
          <p:nvSpPr>
            <p:cNvPr id="35" name="Rectangle 35"/>
            <p:cNvSpPr/>
            <p:nvPr/>
          </p:nvSpPr>
          <p:spPr>
            <a:xfrm>
              <a:off x="6553200" y="2438400"/>
              <a:ext cx="4800600" cy="571500"/>
            </a:xfrm>
            <a:prstGeom prst="roundRect">
              <a:avLst>
                <a:gd name="adj" fmla="val 10000"/>
              </a:avLst>
            </a:prstGeom>
            <a:solidFill>
              <a:srgbClr val="EAF4F6"/>
            </a:solidFill>
            <a:ln>
              <a:noFill/>
            </a:ln>
          </p:spPr>
        </p:sp>
        <p:sp>
          <p:nvSpPr>
            <p:cNvPr id="36" name="TextBox 36"/>
            <p:cNvSpPr txBox="1"/>
            <p:nvPr/>
          </p:nvSpPr>
          <p:spPr>
            <a:xfrm>
              <a:off x="6698742" y="2540318"/>
              <a:ext cx="213639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gonderildiMi false döner</a:t>
              </a:r>
            </a:p>
          </p:txBody>
        </p:sp>
        <p:sp>
          <p:nvSpPr>
            <p:cNvPr id="37" name="TextBox 37"/>
            <p:cNvSpPr txBox="1"/>
            <p:nvPr/>
          </p:nvSpPr>
          <p:spPr>
            <a:xfrm>
              <a:off x="6699504" y="2766060"/>
              <a:ext cx="279074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(e-posta sunucusu yavaş/kesintili)</a:t>
              </a:r>
            </a:p>
          </p:txBody>
        </p:sp>
        <p:sp>
          <p:nvSpPr>
            <p:cNvPr id="38" name="Rectangle 38"/>
            <p:cNvSpPr/>
            <p:nvPr/>
          </p:nvSpPr>
          <p:spPr>
            <a:xfrm>
              <a:off x="6553200" y="3162300"/>
              <a:ext cx="4800600" cy="571500"/>
            </a:xfrm>
            <a:prstGeom prst="roundRect">
              <a:avLst>
                <a:gd name="adj" fmla="val 10000"/>
              </a:avLst>
            </a:prstGeom>
            <a:solidFill>
              <a:srgbClr val="EAF4F6"/>
            </a:solidFill>
            <a:ln>
              <a:noFill/>
            </a:ln>
          </p:spPr>
        </p:sp>
        <p:sp>
          <p:nvSpPr>
            <p:cNvPr id="39" name="TextBox 39"/>
            <p:cNvSpPr txBox="1"/>
            <p:nvPr/>
          </p:nvSpPr>
          <p:spPr>
            <a:xfrm>
              <a:off x="6698742" y="3264218"/>
              <a:ext cx="345382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throw new Error("İşlem başarısız.")</a:t>
              </a:r>
            </a:p>
          </p:txBody>
        </p:sp>
        <p:sp>
          <p:nvSpPr>
            <p:cNvPr id="40" name="TextBox 40"/>
            <p:cNvSpPr txBox="1"/>
            <p:nvPr/>
          </p:nvSpPr>
          <p:spPr>
            <a:xfrm>
              <a:off x="6699504" y="3489960"/>
              <a:ext cx="309768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zaten tamamlanmış işlem geri alınamaz</a:t>
              </a:r>
            </a:p>
          </p:txBody>
        </p:sp>
        <p:sp>
          <p:nvSpPr>
            <p:cNvPr id="41" name="TextBox 41"/>
            <p:cNvSpPr txBox="1"/>
            <p:nvPr/>
          </p:nvSpPr>
          <p:spPr>
            <a:xfrm>
              <a:off x="6545199" y="3887629"/>
              <a:ext cx="349613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Sonuç: kullanıcıya hata dönülür</a:t>
              </a:r>
            </a:p>
          </p:txBody>
        </p:sp>
        <p:sp>
          <p:nvSpPr>
            <p:cNvPr id="42" name="TextBox 42"/>
            <p:cNvSpPr txBox="1"/>
            <p:nvPr/>
          </p:nvSpPr>
          <p:spPr>
            <a:xfrm>
              <a:off x="6547104" y="4175760"/>
              <a:ext cx="329669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Kayıt veritabanında geçerli olduğu hâlde.</a:t>
              </a:r>
            </a:p>
          </p:txBody>
        </p:sp>
        <p:sp>
          <p:nvSpPr>
            <p:cNvPr id="43" name="TextBox 43"/>
            <p:cNvSpPr txBox="1"/>
            <p:nvPr/>
          </p:nvSpPr>
          <p:spPr>
            <a:xfrm>
              <a:off x="6547104" y="4499610"/>
              <a:ext cx="36119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İlgisiz bir alt sistemin (e-posta sağlayıcısı)</a:t>
              </a:r>
            </a:p>
          </p:txBody>
        </p:sp>
        <p:sp>
          <p:nvSpPr>
            <p:cNvPr id="44" name="TextBox 44"/>
            <p:cNvSpPr txBox="1"/>
            <p:nvPr/>
          </p:nvSpPr>
          <p:spPr>
            <a:xfrm>
              <a:off x="6547104" y="4690110"/>
              <a:ext cx="325114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geçici sorunu, asıl işlemi geçersiz kılar.</a:t>
              </a:r>
            </a:p>
          </p:txBody>
        </p:sp>
      </p:grpSp>
      <p:grpSp>
        <p:nvGrpSpPr>
          <p:cNvPr id="49" name="rule-note"/>
          <p:cNvGrpSpPr/>
          <p:nvPr/>
        </p:nvGrpSpPr>
        <p:grpSpPr>
          <a:xfrm>
            <a:off x="609600" y="5200650"/>
            <a:ext cx="11039756" cy="723900"/>
            <a:chOff x="609600" y="5200650"/>
            <a:chExt cx="11039756" cy="723900"/>
          </a:xfrm>
        </p:grpSpPr>
        <p:sp>
          <p:nvSpPr>
            <p:cNvPr id="46" name="Rectangle 46"/>
            <p:cNvSpPr/>
            <p:nvPr/>
          </p:nvSpPr>
          <p:spPr>
            <a:xfrm>
              <a:off x="609600" y="5200650"/>
              <a:ext cx="10972800" cy="723900"/>
            </a:xfrm>
            <a:prstGeom prst="roundRect">
              <a:avLst>
                <a:gd name="adj" fmla="val 10526"/>
              </a:avLst>
            </a:prstGeom>
            <a:solidFill>
              <a:srgbClr val="12355B"/>
            </a:solidFill>
            <a:ln>
              <a:noFill/>
            </a:ln>
          </p:spPr>
        </p:sp>
        <p:sp>
          <p:nvSpPr>
            <p:cNvPr id="47" name="TextBox 47"/>
            <p:cNvSpPr txBox="1"/>
            <p:nvPr/>
          </p:nvSpPr>
          <p:spPr>
            <a:xfrm>
              <a:off x="906399" y="5316379"/>
              <a:ext cx="580659"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Kural</a:t>
              </a:r>
            </a:p>
          </p:txBody>
        </p:sp>
        <p:sp>
          <p:nvSpPr>
            <p:cNvPr id="48" name="TextBox 48"/>
            <p:cNvSpPr txBox="1"/>
            <p:nvPr/>
          </p:nvSpPr>
          <p:spPr>
            <a:xfrm>
              <a:off x="906399" y="5564029"/>
              <a:ext cx="10742957"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mn-lt"/>
                  <a:ea typeface="+mn-ea"/>
                  <a:cs typeface="+mn-cs"/>
                </a:rPr>
                <a:t>Hesap doğrulama gibi zorunlu adımlarda gönderim sonucu asıl akışın parçasıdır ve retry uygulanabilir.</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923774" cy="668845"/>
            <a:chOff x="609600" y="171450"/>
            <a:chExt cx="792377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23340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alıştırması: senaryo</a:t>
              </a:r>
            </a:p>
          </p:txBody>
        </p:sp>
      </p:grpSp>
      <p:grpSp>
        <p:nvGrpSpPr>
          <p:cNvPr id="18" name="code-card"/>
          <p:cNvGrpSpPr/>
          <p:nvPr/>
        </p:nvGrpSpPr>
        <p:grpSpPr>
          <a:xfrm>
            <a:off x="609600" y="1181100"/>
            <a:ext cx="10972800" cy="1485900"/>
            <a:chOff x="609600" y="1181100"/>
            <a:chExt cx="10972800" cy="1485900"/>
          </a:xfrm>
        </p:grpSpPr>
        <p:sp>
          <p:nvSpPr>
            <p:cNvPr id="12" name="Rectangle 12"/>
            <p:cNvSpPr/>
            <p:nvPr/>
          </p:nvSpPr>
          <p:spPr>
            <a:xfrm>
              <a:off x="609600" y="1181100"/>
              <a:ext cx="10972800" cy="1485900"/>
            </a:xfrm>
            <a:prstGeom prst="roundRect">
              <a:avLst>
                <a:gd name="adj" fmla="val 5128"/>
              </a:avLst>
            </a:prstGeom>
            <a:solidFill>
              <a:srgbClr val="12355B"/>
            </a:solidFill>
            <a:ln>
              <a:noFill/>
            </a:ln>
          </p:spPr>
        </p:sp>
        <p:sp>
          <p:nvSpPr>
            <p:cNvPr id="13" name="TextBox 13"/>
            <p:cNvSpPr txBox="1"/>
            <p:nvPr/>
          </p:nvSpPr>
          <p:spPr>
            <a:xfrm>
              <a:off x="908304" y="1337310"/>
              <a:ext cx="643347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async function kitapKapagiYukleHatali(dosyaAdi: string, boyut: number) {</a:t>
              </a:r>
            </a:p>
          </p:txBody>
        </p:sp>
        <p:sp>
          <p:nvSpPr>
            <p:cNvPr id="14" name="TextBox 14"/>
            <p:cNvSpPr txBox="1"/>
            <p:nvPr/>
          </p:nvSpPr>
          <p:spPr>
            <a:xfrm>
              <a:off x="1136904" y="1584960"/>
              <a:ext cx="348485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const yol = `./yuklemeler/${dosyaAdi}`;</a:t>
              </a:r>
            </a:p>
          </p:txBody>
        </p:sp>
        <p:sp>
          <p:nvSpPr>
            <p:cNvPr id="15" name="TextBox 15"/>
            <p:cNvSpPr txBox="1"/>
            <p:nvPr/>
          </p:nvSpPr>
          <p:spPr>
            <a:xfrm>
              <a:off x="1136904" y="1832610"/>
              <a:ext cx="4898898"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const yanit = await fetch(`https://.../kapak-dogrula`);</a:t>
              </a:r>
            </a:p>
          </p:txBody>
        </p:sp>
        <p:sp>
          <p:nvSpPr>
            <p:cNvPr id="16" name="TextBox 16"/>
            <p:cNvSpPr txBox="1"/>
            <p:nvPr/>
          </p:nvSpPr>
          <p:spPr>
            <a:xfrm>
              <a:off x="1136904" y="2080260"/>
              <a:ext cx="347731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const veri = yanit.json(); return veri;</a:t>
              </a:r>
            </a:p>
          </p:txBody>
        </p:sp>
        <p:sp>
          <p:nvSpPr>
            <p:cNvPr id="17" name="TextBox 17"/>
            <p:cNvSpPr txBox="1"/>
            <p:nvPr/>
          </p:nvSpPr>
          <p:spPr>
            <a:xfrm>
              <a:off x="908304" y="2327910"/>
              <a:ext cx="4747854"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kitapKapagiYukleHatali("../../gizli.txt", 999999999);</a:t>
              </a:r>
            </a:p>
          </p:txBody>
        </p:sp>
      </p:grpSp>
      <p:grpSp>
        <p:nvGrpSpPr>
          <p:cNvPr id="22" name="bug-1"/>
          <p:cNvGrpSpPr/>
          <p:nvPr/>
        </p:nvGrpSpPr>
        <p:grpSpPr>
          <a:xfrm>
            <a:off x="685800" y="2839879"/>
            <a:ext cx="7596764" cy="535972"/>
            <a:chOff x="685800" y="2839879"/>
            <a:chExt cx="7596764" cy="535972"/>
          </a:xfrm>
        </p:grpSpPr>
        <p:sp>
          <p:nvSpPr>
            <p:cNvPr id="19" name="Rectangle 19"/>
            <p:cNvSpPr/>
            <p:nvPr/>
          </p:nvSpPr>
          <p:spPr>
            <a:xfrm>
              <a:off x="685800" y="2857500"/>
              <a:ext cx="57150" cy="419100"/>
            </a:xfrm>
            <a:prstGeom prst="rect">
              <a:avLst/>
            </a:prstGeom>
            <a:solidFill>
              <a:srgbClr val="00A6A6"/>
            </a:solidFill>
            <a:ln>
              <a:noFill/>
            </a:ln>
          </p:spPr>
        </p:sp>
        <p:sp>
          <p:nvSpPr>
            <p:cNvPr id="20" name="TextBox 20"/>
            <p:cNvSpPr txBox="1"/>
            <p:nvPr/>
          </p:nvSpPr>
          <p:spPr>
            <a:xfrm>
              <a:off x="982599" y="2839879"/>
              <a:ext cx="251401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 Path traversal riski</a:t>
              </a:r>
            </a:p>
          </p:txBody>
        </p:sp>
        <p:sp>
          <p:nvSpPr>
            <p:cNvPr id="21" name="TextBox 21"/>
            <p:cNvSpPr txBox="1"/>
            <p:nvPr/>
          </p:nvSpPr>
          <p:spPr>
            <a:xfrm>
              <a:off x="983742" y="3111818"/>
              <a:ext cx="7298822"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dosyaAdi doğrudan yola eklenmiş; "../../gizli.txt" hedef dizinin dışına çıkabilir.</a:t>
              </a:r>
            </a:p>
          </p:txBody>
        </p:sp>
      </p:grpSp>
      <p:grpSp>
        <p:nvGrpSpPr>
          <p:cNvPr id="26" name="bug-2"/>
          <p:cNvGrpSpPr/>
          <p:nvPr/>
        </p:nvGrpSpPr>
        <p:grpSpPr>
          <a:xfrm>
            <a:off x="685800" y="3487579"/>
            <a:ext cx="6663366" cy="535972"/>
            <a:chOff x="685800" y="3487579"/>
            <a:chExt cx="6663366" cy="535972"/>
          </a:xfrm>
        </p:grpSpPr>
        <p:sp>
          <p:nvSpPr>
            <p:cNvPr id="23" name="Rectangle 23"/>
            <p:cNvSpPr/>
            <p:nvPr/>
          </p:nvSpPr>
          <p:spPr>
            <a:xfrm>
              <a:off x="685800" y="3505200"/>
              <a:ext cx="57150" cy="419100"/>
            </a:xfrm>
            <a:prstGeom prst="rect">
              <a:avLst/>
            </a:prstGeom>
            <a:solidFill>
              <a:srgbClr val="00A6A6"/>
            </a:solidFill>
            <a:ln>
              <a:noFill/>
            </a:ln>
          </p:spPr>
        </p:sp>
        <p:sp>
          <p:nvSpPr>
            <p:cNvPr id="24" name="TextBox 24"/>
            <p:cNvSpPr txBox="1"/>
            <p:nvPr/>
          </p:nvSpPr>
          <p:spPr>
            <a:xfrm>
              <a:off x="982599" y="3487579"/>
              <a:ext cx="270360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 Boyut sınırı eksikliği</a:t>
              </a:r>
            </a:p>
          </p:txBody>
        </p:sp>
        <p:sp>
          <p:nvSpPr>
            <p:cNvPr id="25" name="TextBox 25"/>
            <p:cNvSpPr txBox="1"/>
            <p:nvPr/>
          </p:nvSpPr>
          <p:spPr>
            <a:xfrm>
              <a:off x="983742" y="3759518"/>
              <a:ext cx="6365424"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boyut hiç kontrol edilmemiş; aşırı büyük değer sorgusuzca kabul edilir.</a:t>
              </a:r>
            </a:p>
          </p:txBody>
        </p:sp>
      </p:grpSp>
      <p:grpSp>
        <p:nvGrpSpPr>
          <p:cNvPr id="30" name="bug-3"/>
          <p:cNvGrpSpPr/>
          <p:nvPr/>
        </p:nvGrpSpPr>
        <p:grpSpPr>
          <a:xfrm>
            <a:off x="685800" y="4135279"/>
            <a:ext cx="7129748" cy="535972"/>
            <a:chOff x="685800" y="4135279"/>
            <a:chExt cx="7129748" cy="535972"/>
          </a:xfrm>
        </p:grpSpPr>
        <p:sp>
          <p:nvSpPr>
            <p:cNvPr id="27" name="Rectangle 27"/>
            <p:cNvSpPr/>
            <p:nvPr/>
          </p:nvSpPr>
          <p:spPr>
            <a:xfrm>
              <a:off x="685800" y="4152900"/>
              <a:ext cx="57150" cy="419100"/>
            </a:xfrm>
            <a:prstGeom prst="rect">
              <a:avLst/>
            </a:prstGeom>
            <a:solidFill>
              <a:srgbClr val="00A6A6"/>
            </a:solidFill>
            <a:ln>
              <a:noFill/>
            </a:ln>
          </p:spPr>
        </p:sp>
        <p:sp>
          <p:nvSpPr>
            <p:cNvPr id="28" name="TextBox 28"/>
            <p:cNvSpPr txBox="1"/>
            <p:nvPr/>
          </p:nvSpPr>
          <p:spPr>
            <a:xfrm>
              <a:off x="982599" y="4135279"/>
              <a:ext cx="26704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3. Zaman aşımı eksikliği</a:t>
              </a:r>
            </a:p>
          </p:txBody>
        </p:sp>
        <p:sp>
          <p:nvSpPr>
            <p:cNvPr id="29" name="TextBox 29"/>
            <p:cNvSpPr txBox="1"/>
            <p:nvPr/>
          </p:nvSpPr>
          <p:spPr>
            <a:xfrm>
              <a:off x="983742" y="4407218"/>
              <a:ext cx="6831806"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fetch çağrısına AbortController veya herhangi bir zaman aşımı eklenmemiş.</a:t>
              </a:r>
            </a:p>
          </p:txBody>
        </p:sp>
      </p:grpSp>
      <p:grpSp>
        <p:nvGrpSpPr>
          <p:cNvPr id="34" name="bug-4"/>
          <p:cNvGrpSpPr/>
          <p:nvPr/>
        </p:nvGrpSpPr>
        <p:grpSpPr>
          <a:xfrm>
            <a:off x="685800" y="4782979"/>
            <a:ext cx="7314819" cy="535972"/>
            <a:chOff x="685800" y="4782979"/>
            <a:chExt cx="7314819" cy="535972"/>
          </a:xfrm>
        </p:grpSpPr>
        <p:sp>
          <p:nvSpPr>
            <p:cNvPr id="31" name="Rectangle 31"/>
            <p:cNvSpPr/>
            <p:nvPr/>
          </p:nvSpPr>
          <p:spPr>
            <a:xfrm>
              <a:off x="685800" y="4800600"/>
              <a:ext cx="57150" cy="419100"/>
            </a:xfrm>
            <a:prstGeom prst="rect">
              <a:avLst/>
            </a:prstGeom>
            <a:solidFill>
              <a:srgbClr val="00A6A6"/>
            </a:solidFill>
            <a:ln>
              <a:noFill/>
            </a:ln>
          </p:spPr>
        </p:sp>
        <p:sp>
          <p:nvSpPr>
            <p:cNvPr id="32" name="TextBox 32"/>
            <p:cNvSpPr txBox="1"/>
            <p:nvPr/>
          </p:nvSpPr>
          <p:spPr>
            <a:xfrm>
              <a:off x="982599" y="4782979"/>
              <a:ext cx="188084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4. await eksikliği</a:t>
              </a:r>
            </a:p>
          </p:txBody>
        </p:sp>
        <p:sp>
          <p:nvSpPr>
            <p:cNvPr id="33" name="TextBox 33"/>
            <p:cNvSpPr txBox="1"/>
            <p:nvPr/>
          </p:nvSpPr>
          <p:spPr>
            <a:xfrm>
              <a:off x="983742" y="5054918"/>
              <a:ext cx="7016877"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yanit.json() bir Promise döndürür ama await edilmemiş; veri çözülmemiş kalır.</a:t>
              </a:r>
            </a:p>
          </p:txBody>
        </p:sp>
      </p:grpSp>
      <p:grpSp>
        <p:nvGrpSpPr>
          <p:cNvPr id="38" name="fix-note"/>
          <p:cNvGrpSpPr/>
          <p:nvPr/>
        </p:nvGrpSpPr>
        <p:grpSpPr>
          <a:xfrm>
            <a:off x="609600" y="5448300"/>
            <a:ext cx="10972800" cy="647700"/>
            <a:chOff x="609600" y="5448300"/>
            <a:chExt cx="10972800" cy="647700"/>
          </a:xfrm>
        </p:grpSpPr>
        <p:sp>
          <p:nvSpPr>
            <p:cNvPr id="35" name="Rectangle 35"/>
            <p:cNvSpPr/>
            <p:nvPr/>
          </p:nvSpPr>
          <p:spPr>
            <a:xfrm>
              <a:off x="609600" y="5448300"/>
              <a:ext cx="10972800" cy="647700"/>
            </a:xfrm>
            <a:prstGeom prst="roundRect">
              <a:avLst>
                <a:gd name="adj" fmla="val 11765"/>
              </a:avLst>
            </a:prstGeom>
            <a:solidFill>
              <a:srgbClr val="EAF4F6"/>
            </a:solidFill>
            <a:ln>
              <a:noFill/>
            </a:ln>
          </p:spPr>
        </p:sp>
        <p:sp>
          <p:nvSpPr>
            <p:cNvPr id="36" name="TextBox 36"/>
            <p:cNvSpPr txBox="1"/>
            <p:nvPr/>
          </p:nvSpPr>
          <p:spPr>
            <a:xfrm>
              <a:off x="906399" y="5525929"/>
              <a:ext cx="733832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Düzeltilmiş kod: 400 (boyut sınırı) erken reddi, güvenli ad üretimi</a:t>
              </a:r>
            </a:p>
          </p:txBody>
        </p:sp>
        <p:sp>
          <p:nvSpPr>
            <p:cNvPr id="37" name="TextBox 37"/>
            <p:cNvSpPr txBox="1"/>
            <p:nvPr/>
          </p:nvSpPr>
          <p:spPr>
            <a:xfrm>
              <a:off x="907542" y="5797868"/>
              <a:ext cx="714373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Aşırı büyük dosya diske hiç dokunmadan reddedilir; orijinal ad yola hiç eklenmez.</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374666" cy="557403"/>
            <a:chOff x="595122" y="282892"/>
            <a:chExt cx="7374666" cy="557403"/>
          </a:xfrm>
        </p:grpSpPr>
        <p:sp>
          <p:nvSpPr>
            <p:cNvPr id="4" name="TextBox 4"/>
            <p:cNvSpPr txBox="1"/>
            <p:nvPr/>
          </p:nvSpPr>
          <p:spPr>
            <a:xfrm>
              <a:off x="595122" y="282892"/>
              <a:ext cx="737466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Yürütme izleme tablosu (trace table)</a:t>
              </a:r>
            </a:p>
          </p:txBody>
        </p:sp>
      </p:grpSp>
      <p:grpSp>
        <p:nvGrpSpPr>
          <p:cNvPr id="50" name="trace-table"/>
          <p:cNvGrpSpPr/>
          <p:nvPr/>
        </p:nvGrpSpPr>
        <p:grpSpPr>
          <a:xfrm>
            <a:off x="609600" y="1181100"/>
            <a:ext cx="10972800" cy="4724400"/>
            <a:chOff x="609600" y="1181100"/>
            <a:chExt cx="10972800" cy="4724400"/>
          </a:xfrm>
        </p:grpSpPr>
        <p:sp>
          <p:nvSpPr>
            <p:cNvPr id="6" name="Rectangle 6"/>
            <p:cNvSpPr/>
            <p:nvPr/>
          </p:nvSpPr>
          <p:spPr>
            <a:xfrm>
              <a:off x="609600" y="1181100"/>
              <a:ext cx="10972800" cy="533400"/>
            </a:xfrm>
            <a:prstGeom prst="rect">
              <a:avLst/>
            </a:prstGeom>
            <a:solidFill>
              <a:srgbClr val="12355B"/>
            </a:solidFill>
            <a:ln>
              <a:noFill/>
            </a:ln>
          </p:spPr>
        </p:sp>
        <p:sp>
          <p:nvSpPr>
            <p:cNvPr id="7" name="TextBox 7"/>
            <p:cNvSpPr txBox="1"/>
            <p:nvPr/>
          </p:nvSpPr>
          <p:spPr>
            <a:xfrm>
              <a:off x="755904" y="1299210"/>
              <a:ext cx="505054"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GİRDİ</a:t>
              </a:r>
            </a:p>
          </p:txBody>
        </p:sp>
        <p:sp>
          <p:nvSpPr>
            <p:cNvPr id="8" name="TextBox 8"/>
            <p:cNvSpPr txBox="1"/>
            <p:nvPr/>
          </p:nvSpPr>
          <p:spPr>
            <a:xfrm>
              <a:off x="755904" y="1489710"/>
              <a:ext cx="99761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(hatalı kod)</a:t>
              </a:r>
            </a:p>
          </p:txBody>
        </p:sp>
        <p:sp>
          <p:nvSpPr>
            <p:cNvPr id="9" name="TextBox 9"/>
            <p:cNvSpPr txBox="1"/>
            <p:nvPr/>
          </p:nvSpPr>
          <p:spPr>
            <a:xfrm>
              <a:off x="3137154" y="1299210"/>
              <a:ext cx="2037405"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HATALI SONUÇ / ZAFİYET</a:t>
              </a:r>
            </a:p>
          </p:txBody>
        </p:sp>
        <p:sp>
          <p:nvSpPr>
            <p:cNvPr id="10" name="TextBox 10"/>
            <p:cNvSpPr txBox="1"/>
            <p:nvPr/>
          </p:nvSpPr>
          <p:spPr>
            <a:xfrm>
              <a:off x="6661404" y="1299210"/>
              <a:ext cx="1911949"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DÜZELTİLMİŞ YÜRÜTME</a:t>
              </a:r>
            </a:p>
          </p:txBody>
        </p:sp>
        <p:sp>
          <p:nvSpPr>
            <p:cNvPr id="11" name="TextBox 11"/>
            <p:cNvSpPr txBox="1"/>
            <p:nvPr/>
          </p:nvSpPr>
          <p:spPr>
            <a:xfrm>
              <a:off x="9233154" y="1299210"/>
              <a:ext cx="415442"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ÇIKTI</a:t>
              </a:r>
            </a:p>
          </p:txBody>
        </p:sp>
        <p:sp>
          <p:nvSpPr>
            <p:cNvPr id="12" name="Line 12"/>
            <p:cNvSpPr/>
            <p:nvPr/>
          </p:nvSpPr>
          <p:spPr>
            <a:xfrm>
              <a:off x="3143250" y="1181100"/>
              <a:ext cx="9525" cy="4724400"/>
            </a:xfrm>
            <a:custGeom>
              <a:avLst/>
              <a:gdLst/>
              <a:ahLst/>
              <a:cxnLst/>
              <a:rect l="l" t="t" r="r" b="b"/>
              <a:pathLst>
                <a:path w="9525" h="4724400">
                  <a:moveTo>
                    <a:pt x="0" y="0"/>
                  </a:moveTo>
                  <a:lnTo>
                    <a:pt x="0" y="4724400"/>
                  </a:lnTo>
                </a:path>
              </a:pathLst>
            </a:custGeom>
            <a:noFill/>
            <a:ln w="9525">
              <a:solidFill>
                <a:srgbClr val="B8CBD3"/>
              </a:solidFill>
            </a:ln>
          </p:spPr>
        </p:sp>
        <p:sp>
          <p:nvSpPr>
            <p:cNvPr id="13" name="Line 13"/>
            <p:cNvSpPr/>
            <p:nvPr/>
          </p:nvSpPr>
          <p:spPr>
            <a:xfrm>
              <a:off x="6667500" y="1181100"/>
              <a:ext cx="9525" cy="4724400"/>
            </a:xfrm>
            <a:custGeom>
              <a:avLst/>
              <a:gdLst/>
              <a:ahLst/>
              <a:cxnLst/>
              <a:rect l="l" t="t" r="r" b="b"/>
              <a:pathLst>
                <a:path w="9525" h="4724400">
                  <a:moveTo>
                    <a:pt x="0" y="0"/>
                  </a:moveTo>
                  <a:lnTo>
                    <a:pt x="0" y="4724400"/>
                  </a:lnTo>
                </a:path>
              </a:pathLst>
            </a:custGeom>
            <a:noFill/>
            <a:ln w="9525">
              <a:solidFill>
                <a:srgbClr val="B8CBD3"/>
              </a:solidFill>
            </a:ln>
          </p:spPr>
        </p:sp>
        <p:sp>
          <p:nvSpPr>
            <p:cNvPr id="14" name="Line 14"/>
            <p:cNvSpPr/>
            <p:nvPr/>
          </p:nvSpPr>
          <p:spPr>
            <a:xfrm>
              <a:off x="9239250" y="1181100"/>
              <a:ext cx="9525" cy="4724400"/>
            </a:xfrm>
            <a:custGeom>
              <a:avLst/>
              <a:gdLst/>
              <a:ahLst/>
              <a:cxnLst/>
              <a:rect l="l" t="t" r="r" b="b"/>
              <a:pathLst>
                <a:path w="9525" h="4724400">
                  <a:moveTo>
                    <a:pt x="0" y="0"/>
                  </a:moveTo>
                  <a:lnTo>
                    <a:pt x="0" y="4724400"/>
                  </a:lnTo>
                </a:path>
              </a:pathLst>
            </a:custGeom>
            <a:noFill/>
            <a:ln w="9525">
              <a:solidFill>
                <a:srgbClr val="B8CBD3"/>
              </a:solidFill>
            </a:ln>
          </p:spPr>
        </p:sp>
        <p:sp>
          <p:nvSpPr>
            <p:cNvPr id="15" name="Rectangle 15"/>
            <p:cNvSpPr/>
            <p:nvPr/>
          </p:nvSpPr>
          <p:spPr>
            <a:xfrm>
              <a:off x="609600" y="1714500"/>
              <a:ext cx="10972800" cy="1390650"/>
            </a:xfrm>
            <a:prstGeom prst="rect">
              <a:avLst/>
            </a:prstGeom>
            <a:solidFill>
              <a:srgbClr val="FFFFFF"/>
            </a:solidFill>
            <a:ln>
              <a:noFill/>
            </a:ln>
          </p:spPr>
        </p:sp>
        <p:sp>
          <p:nvSpPr>
            <p:cNvPr id="16" name="TextBox 16"/>
            <p:cNvSpPr txBox="1"/>
            <p:nvPr/>
          </p:nvSpPr>
          <p:spPr>
            <a:xfrm>
              <a:off x="755142" y="1835468"/>
              <a:ext cx="1912868" cy="264033"/>
            </a:xfrm>
            <a:prstGeom prst="rect">
              <a:avLst/>
            </a:prstGeom>
            <a:noFill/>
            <a:ln>
              <a:noFill/>
            </a:ln>
          </p:spPr>
          <p:txBody>
            <a:bodyPr wrap="none" lIns="0" tIns="0" rIns="0" bIns="0" anchor="t" anchorCtr="0">
              <a:spAutoFit/>
            </a:bodyPr>
            <a:lstStyle/>
            <a:p>
              <a:pPr algn="l"/>
              <a:r>
                <a:rPr lang="tr-TR" sz="1350" dirty="0">
                  <a:solidFill>
                    <a:srgbClr val="12355B"/>
                  </a:solidFill>
                  <a:latin typeface="Consolas"/>
                  <a:ea typeface="Consolas"/>
                  <a:cs typeface="Consolas"/>
                </a:rPr>
                <a:t>("../../gizli.txt",</a:t>
              </a:r>
            </a:p>
          </p:txBody>
        </p:sp>
        <p:sp>
          <p:nvSpPr>
            <p:cNvPr id="17" name="TextBox 17"/>
            <p:cNvSpPr txBox="1"/>
            <p:nvPr/>
          </p:nvSpPr>
          <p:spPr>
            <a:xfrm>
              <a:off x="755142" y="2045018"/>
              <a:ext cx="647395" cy="264033"/>
            </a:xfrm>
            <a:prstGeom prst="rect">
              <a:avLst/>
            </a:prstGeom>
            <a:noFill/>
            <a:ln>
              <a:noFill/>
            </a:ln>
          </p:spPr>
          <p:txBody>
            <a:bodyPr wrap="none" lIns="0" tIns="0" rIns="0" bIns="0" anchor="t" anchorCtr="0">
              <a:spAutoFit/>
            </a:bodyPr>
            <a:lstStyle/>
            <a:p>
              <a:pPr algn="l"/>
              <a:r>
                <a:rPr lang="tr-TR" sz="1350" dirty="0">
                  <a:solidFill>
                    <a:srgbClr val="12355B"/>
                  </a:solidFill>
                  <a:latin typeface="Consolas"/>
                  <a:ea typeface="Consolas"/>
                  <a:cs typeface="Consolas"/>
                </a:rPr>
                <a:t>999MB)</a:t>
              </a:r>
            </a:p>
          </p:txBody>
        </p:sp>
        <p:sp>
          <p:nvSpPr>
            <p:cNvPr id="18" name="TextBox 18"/>
            <p:cNvSpPr txBox="1"/>
            <p:nvPr/>
          </p:nvSpPr>
          <p:spPr>
            <a:xfrm>
              <a:off x="3137154" y="1851660"/>
              <a:ext cx="23303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./yuklemeler/../../gizli.txt</a:t>
              </a:r>
            </a:p>
          </p:txBody>
        </p:sp>
        <p:sp>
          <p:nvSpPr>
            <p:cNvPr id="19" name="TextBox 19"/>
            <p:cNvSpPr txBox="1"/>
            <p:nvPr/>
          </p:nvSpPr>
          <p:spPr>
            <a:xfrm>
              <a:off x="3137154" y="2080260"/>
              <a:ext cx="19175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Path Traversal ve Bellek</a:t>
              </a:r>
            </a:p>
          </p:txBody>
        </p:sp>
        <p:sp>
          <p:nvSpPr>
            <p:cNvPr id="20" name="TextBox 20"/>
            <p:cNvSpPr txBox="1"/>
            <p:nvPr/>
          </p:nvSpPr>
          <p:spPr>
            <a:xfrm>
              <a:off x="3137154" y="2289810"/>
              <a:ext cx="10884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Taşması Riski</a:t>
              </a:r>
            </a:p>
          </p:txBody>
        </p:sp>
        <p:sp>
          <p:nvSpPr>
            <p:cNvPr id="21" name="TextBox 21"/>
            <p:cNvSpPr txBox="1"/>
            <p:nvPr/>
          </p:nvSpPr>
          <p:spPr>
            <a:xfrm>
              <a:off x="6661404" y="1851660"/>
              <a:ext cx="9956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boyutBayt &gt;</a:t>
              </a:r>
            </a:p>
          </p:txBody>
        </p:sp>
        <p:sp>
          <p:nvSpPr>
            <p:cNvPr id="22" name="TextBox 22"/>
            <p:cNvSpPr txBox="1"/>
            <p:nvPr/>
          </p:nvSpPr>
          <p:spPr>
            <a:xfrm>
              <a:off x="6661404" y="2061210"/>
              <a:ext cx="126613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azamiBoyutBayt</a:t>
              </a:r>
            </a:p>
          </p:txBody>
        </p:sp>
        <p:sp>
          <p:nvSpPr>
            <p:cNvPr id="23" name="TextBox 23"/>
            <p:cNvSpPr txBox="1"/>
            <p:nvPr/>
          </p:nvSpPr>
          <p:spPr>
            <a:xfrm>
              <a:off x="9233154" y="1851660"/>
              <a:ext cx="292067"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400</a:t>
              </a:r>
            </a:p>
          </p:txBody>
        </p:sp>
        <p:sp>
          <p:nvSpPr>
            <p:cNvPr id="24" name="TextBox 24"/>
            <p:cNvSpPr txBox="1"/>
            <p:nvPr/>
          </p:nvSpPr>
          <p:spPr>
            <a:xfrm>
              <a:off x="9233154" y="2080260"/>
              <a:ext cx="162490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Dosya boyutu sınırı</a:t>
              </a:r>
            </a:p>
          </p:txBody>
        </p:sp>
        <p:sp>
          <p:nvSpPr>
            <p:cNvPr id="25" name="TextBox 25"/>
            <p:cNvSpPr txBox="1"/>
            <p:nvPr/>
          </p:nvSpPr>
          <p:spPr>
            <a:xfrm>
              <a:off x="9233154" y="2289810"/>
              <a:ext cx="5049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aşıldı</a:t>
              </a:r>
            </a:p>
          </p:txBody>
        </p:sp>
        <p:sp>
          <p:nvSpPr>
            <p:cNvPr id="26" name="Rectangle 26"/>
            <p:cNvSpPr/>
            <p:nvPr/>
          </p:nvSpPr>
          <p:spPr>
            <a:xfrm>
              <a:off x="609600" y="3105150"/>
              <a:ext cx="10972800" cy="1390650"/>
            </a:xfrm>
            <a:prstGeom prst="rect">
              <a:avLst/>
            </a:prstGeom>
            <a:solidFill>
              <a:srgbClr val="EAF4F6"/>
            </a:solidFill>
            <a:ln>
              <a:noFill/>
            </a:ln>
          </p:spPr>
        </p:sp>
        <p:sp>
          <p:nvSpPr>
            <p:cNvPr id="27" name="TextBox 27"/>
            <p:cNvSpPr txBox="1"/>
            <p:nvPr/>
          </p:nvSpPr>
          <p:spPr>
            <a:xfrm>
              <a:off x="755142" y="3226118"/>
              <a:ext cx="1313136" cy="264033"/>
            </a:xfrm>
            <a:prstGeom prst="rect">
              <a:avLst/>
            </a:prstGeom>
            <a:noFill/>
            <a:ln>
              <a:noFill/>
            </a:ln>
          </p:spPr>
          <p:txBody>
            <a:bodyPr wrap="none" lIns="0" tIns="0" rIns="0" bIns="0" anchor="t" anchorCtr="0">
              <a:spAutoFit/>
            </a:bodyPr>
            <a:lstStyle/>
            <a:p>
              <a:pPr algn="l"/>
              <a:r>
                <a:rPr lang="tr-TR" sz="1350" dirty="0">
                  <a:solidFill>
                    <a:srgbClr val="12355B"/>
                  </a:solidFill>
                  <a:latin typeface="Consolas"/>
                  <a:ea typeface="Consolas"/>
                  <a:cs typeface="Consolas"/>
                </a:rPr>
                <a:t>("rapor.pdf",</a:t>
              </a:r>
            </a:p>
          </p:txBody>
        </p:sp>
        <p:sp>
          <p:nvSpPr>
            <p:cNvPr id="28" name="TextBox 28"/>
            <p:cNvSpPr txBox="1"/>
            <p:nvPr/>
          </p:nvSpPr>
          <p:spPr>
            <a:xfrm>
              <a:off x="755142" y="3435668"/>
              <a:ext cx="647395" cy="264033"/>
            </a:xfrm>
            <a:prstGeom prst="rect">
              <a:avLst/>
            </a:prstGeom>
            <a:noFill/>
            <a:ln>
              <a:noFill/>
            </a:ln>
          </p:spPr>
          <p:txBody>
            <a:bodyPr wrap="none" lIns="0" tIns="0" rIns="0" bIns="0" anchor="t" anchorCtr="0">
              <a:spAutoFit/>
            </a:bodyPr>
            <a:lstStyle/>
            <a:p>
              <a:pPr algn="l"/>
              <a:r>
                <a:rPr lang="tr-TR" sz="1350" dirty="0">
                  <a:solidFill>
                    <a:srgbClr val="12355B"/>
                  </a:solidFill>
                  <a:latin typeface="Consolas"/>
                  <a:ea typeface="Consolas"/>
                  <a:cs typeface="Consolas"/>
                </a:rPr>
                <a:t>1.2MB)</a:t>
              </a:r>
            </a:p>
          </p:txBody>
        </p:sp>
        <p:sp>
          <p:nvSpPr>
            <p:cNvPr id="29" name="TextBox 29"/>
            <p:cNvSpPr txBox="1"/>
            <p:nvPr/>
          </p:nvSpPr>
          <p:spPr>
            <a:xfrm>
              <a:off x="3137154" y="3242310"/>
              <a:ext cx="191841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./yuklemeler/rapor.pdf</a:t>
              </a:r>
            </a:p>
          </p:txBody>
        </p:sp>
        <p:sp>
          <p:nvSpPr>
            <p:cNvPr id="30" name="TextBox 30"/>
            <p:cNvSpPr txBox="1"/>
            <p:nvPr/>
          </p:nvSpPr>
          <p:spPr>
            <a:xfrm>
              <a:off x="3137154" y="3470910"/>
              <a:ext cx="129950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Çakışma ve İsim</a:t>
              </a:r>
            </a:p>
          </p:txBody>
        </p:sp>
        <p:sp>
          <p:nvSpPr>
            <p:cNvPr id="31" name="TextBox 31"/>
            <p:cNvSpPr txBox="1"/>
            <p:nvPr/>
          </p:nvSpPr>
          <p:spPr>
            <a:xfrm>
              <a:off x="3137154" y="3680460"/>
              <a:ext cx="13299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Enjeksiyonu Riski</a:t>
              </a:r>
            </a:p>
          </p:txBody>
        </p:sp>
        <p:sp>
          <p:nvSpPr>
            <p:cNvPr id="32" name="TextBox 32"/>
            <p:cNvSpPr txBox="1"/>
            <p:nvPr/>
          </p:nvSpPr>
          <p:spPr>
            <a:xfrm>
              <a:off x="6661404" y="3242310"/>
              <a:ext cx="17154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guvenliDosyaAdiUret</a:t>
              </a:r>
            </a:p>
          </p:txBody>
        </p:sp>
        <p:sp>
          <p:nvSpPr>
            <p:cNvPr id="33" name="TextBox 33"/>
            <p:cNvSpPr txBox="1"/>
            <p:nvPr/>
          </p:nvSpPr>
          <p:spPr>
            <a:xfrm>
              <a:off x="6661404" y="3451860"/>
              <a:ext cx="102114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Consolas"/>
                  <a:ea typeface="Consolas"/>
                  <a:cs typeface="Consolas"/>
                </a:rPr>
                <a:t>-&gt; UUID.pdf</a:t>
              </a:r>
            </a:p>
          </p:txBody>
        </p:sp>
        <p:sp>
          <p:nvSpPr>
            <p:cNvPr id="34" name="TextBox 34"/>
            <p:cNvSpPr txBox="1"/>
            <p:nvPr/>
          </p:nvSpPr>
          <p:spPr>
            <a:xfrm>
              <a:off x="9233154" y="3242310"/>
              <a:ext cx="292067"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201</a:t>
              </a:r>
            </a:p>
          </p:txBody>
        </p:sp>
        <p:sp>
          <p:nvSpPr>
            <p:cNvPr id="35" name="TextBox 35"/>
            <p:cNvSpPr txBox="1"/>
            <p:nvPr/>
          </p:nvSpPr>
          <p:spPr>
            <a:xfrm>
              <a:off x="9233154" y="3470910"/>
              <a:ext cx="12237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uuid.pdf olarak</a:t>
              </a:r>
            </a:p>
          </p:txBody>
        </p:sp>
        <p:sp>
          <p:nvSpPr>
            <p:cNvPr id="36" name="TextBox 36"/>
            <p:cNvSpPr txBox="1"/>
            <p:nvPr/>
          </p:nvSpPr>
          <p:spPr>
            <a:xfrm>
              <a:off x="9233154" y="3680460"/>
              <a:ext cx="7795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kaydedildi</a:t>
              </a:r>
            </a:p>
          </p:txBody>
        </p:sp>
        <p:sp>
          <p:nvSpPr>
            <p:cNvPr id="37" name="Rectangle 37"/>
            <p:cNvSpPr/>
            <p:nvPr/>
          </p:nvSpPr>
          <p:spPr>
            <a:xfrm>
              <a:off x="609600" y="4495800"/>
              <a:ext cx="10972800" cy="1409700"/>
            </a:xfrm>
            <a:prstGeom prst="rect">
              <a:avLst/>
            </a:prstGeom>
            <a:solidFill>
              <a:srgbClr val="FFFFFF"/>
            </a:solidFill>
            <a:ln>
              <a:noFill/>
            </a:ln>
          </p:spPr>
        </p:sp>
        <p:sp>
          <p:nvSpPr>
            <p:cNvPr id="38" name="TextBox 38"/>
            <p:cNvSpPr txBox="1"/>
            <p:nvPr/>
          </p:nvSpPr>
          <p:spPr>
            <a:xfrm>
              <a:off x="755142" y="4616768"/>
              <a:ext cx="1013270" cy="264033"/>
            </a:xfrm>
            <a:prstGeom prst="rect">
              <a:avLst/>
            </a:prstGeom>
            <a:noFill/>
            <a:ln>
              <a:noFill/>
            </a:ln>
          </p:spPr>
          <p:txBody>
            <a:bodyPr wrap="none" lIns="0" tIns="0" rIns="0" bIns="0" anchor="t" anchorCtr="0">
              <a:spAutoFit/>
            </a:bodyPr>
            <a:lstStyle/>
            <a:p>
              <a:pPr algn="l"/>
              <a:r>
                <a:rPr lang="tr-TR" sz="1350" dirty="0">
                  <a:solidFill>
                    <a:srgbClr val="12355B"/>
                  </a:solidFill>
                  <a:latin typeface="Consolas"/>
                  <a:ea typeface="Consolas"/>
                  <a:cs typeface="Consolas"/>
                </a:rPr>
                <a:t>fetch(url)</a:t>
              </a:r>
            </a:p>
          </p:txBody>
        </p:sp>
        <p:sp>
          <p:nvSpPr>
            <p:cNvPr id="39" name="TextBox 39"/>
            <p:cNvSpPr txBox="1"/>
            <p:nvPr/>
          </p:nvSpPr>
          <p:spPr>
            <a:xfrm>
              <a:off x="755142" y="4826318"/>
              <a:ext cx="1650794"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(askıda kalan API)</a:t>
              </a:r>
            </a:p>
          </p:txBody>
        </p:sp>
        <p:sp>
          <p:nvSpPr>
            <p:cNvPr id="40" name="TextBox 40"/>
            <p:cNvSpPr txBox="1"/>
            <p:nvPr/>
          </p:nvSpPr>
          <p:spPr>
            <a:xfrm>
              <a:off x="3137154" y="4632960"/>
              <a:ext cx="18295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timeout yok, await yok</a:t>
              </a:r>
            </a:p>
          </p:txBody>
        </p:sp>
        <p:sp>
          <p:nvSpPr>
            <p:cNvPr id="41" name="TextBox 41"/>
            <p:cNvSpPr txBox="1"/>
            <p:nvPr/>
          </p:nvSpPr>
          <p:spPr>
            <a:xfrm>
              <a:off x="3137154" y="4861560"/>
              <a:ext cx="19481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Soket askıda kalır; veri</a:t>
              </a:r>
            </a:p>
          </p:txBody>
        </p:sp>
        <p:sp>
          <p:nvSpPr>
            <p:cNvPr id="42" name="TextBox 42"/>
            <p:cNvSpPr txBox="1"/>
            <p:nvPr/>
          </p:nvSpPr>
          <p:spPr>
            <a:xfrm>
              <a:off x="3137154" y="5071110"/>
              <a:ext cx="18023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bekleyen Promise kalır</a:t>
              </a:r>
            </a:p>
          </p:txBody>
        </p:sp>
        <p:sp>
          <p:nvSpPr>
            <p:cNvPr id="43" name="TextBox 43"/>
            <p:cNvSpPr txBox="1"/>
            <p:nvPr/>
          </p:nvSpPr>
          <p:spPr>
            <a:xfrm>
              <a:off x="6661404" y="4632960"/>
              <a:ext cx="16729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Düzeltilmiş kod fetch</a:t>
              </a:r>
            </a:p>
          </p:txBody>
        </p:sp>
        <p:sp>
          <p:nvSpPr>
            <p:cNvPr id="44" name="TextBox 44"/>
            <p:cNvSpPr txBox="1"/>
            <p:nvPr/>
          </p:nvSpPr>
          <p:spPr>
            <a:xfrm>
              <a:off x="6661404" y="4861560"/>
              <a:ext cx="23061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içermez; zaman aşımı deseni</a:t>
              </a:r>
            </a:p>
          </p:txBody>
        </p:sp>
        <p:sp>
          <p:nvSpPr>
            <p:cNvPr id="45" name="TextBox 45"/>
            <p:cNvSpPr txBox="1"/>
            <p:nvPr/>
          </p:nvSpPr>
          <p:spPr>
            <a:xfrm>
              <a:off x="6661404" y="5071110"/>
              <a:ext cx="11835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Kod 12.4'tedir</a:t>
              </a:r>
            </a:p>
          </p:txBody>
        </p:sp>
        <p:sp>
          <p:nvSpPr>
            <p:cNvPr id="46" name="TextBox 46"/>
            <p:cNvSpPr txBox="1"/>
            <p:nvPr/>
          </p:nvSpPr>
          <p:spPr>
            <a:xfrm>
              <a:off x="9233154" y="4632960"/>
              <a:ext cx="11907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Dosya için 400;</a:t>
              </a:r>
            </a:p>
          </p:txBody>
        </p:sp>
        <p:sp>
          <p:nvSpPr>
            <p:cNvPr id="47" name="TextBox 47"/>
            <p:cNvSpPr txBox="1"/>
            <p:nvPr/>
          </p:nvSpPr>
          <p:spPr>
            <a:xfrm>
              <a:off x="9233154" y="4861560"/>
              <a:ext cx="13754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API dayanıklılığı</a:t>
              </a:r>
            </a:p>
          </p:txBody>
        </p:sp>
        <p:sp>
          <p:nvSpPr>
            <p:cNvPr id="48" name="TextBox 48"/>
            <p:cNvSpPr txBox="1"/>
            <p:nvPr/>
          </p:nvSpPr>
          <p:spPr>
            <a:xfrm>
              <a:off x="9233154" y="5071110"/>
              <a:ext cx="10379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ayrı desende</a:t>
              </a:r>
            </a:p>
          </p:txBody>
        </p:sp>
        <p:sp>
          <p:nvSpPr>
            <p:cNvPr id="49" name="Rectangle 49"/>
            <p:cNvSpPr/>
            <p:nvPr/>
          </p:nvSpPr>
          <p:spPr>
            <a:xfrm>
              <a:off x="609600" y="1181100"/>
              <a:ext cx="10972800" cy="4724400"/>
            </a:xfrm>
            <a:prstGeom prst="rect">
              <a:avLst/>
            </a:prstGeom>
            <a:noFill/>
            <a:ln w="9525">
              <a:solidFill>
                <a:srgbClr val="B8CBD3"/>
              </a:solidFill>
            </a:ln>
          </p:spPr>
        </p:sp>
      </p:grpSp>
      <p:grpSp>
        <p:nvGrpSpPr>
          <p:cNvPr id="52" name="root-cause"/>
          <p:cNvGrpSpPr/>
          <p:nvPr/>
        </p:nvGrpSpPr>
        <p:grpSpPr>
          <a:xfrm>
            <a:off x="601599" y="6116479"/>
            <a:ext cx="10520444" cy="308039"/>
            <a:chOff x="601599" y="6116479"/>
            <a:chExt cx="10520444" cy="308039"/>
          </a:xfrm>
        </p:grpSpPr>
        <p:sp>
          <p:nvSpPr>
            <p:cNvPr id="51" name="TextBox 51"/>
            <p:cNvSpPr txBox="1"/>
            <p:nvPr/>
          </p:nvSpPr>
          <p:spPr>
            <a:xfrm>
              <a:off x="601599" y="6116479"/>
              <a:ext cx="1052044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Kök neden: her üç satırda da dış girdiye (dosya adı, boyut, ağ yanıtı) koşulsuz güven duyulmuştur.</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695046" cy="557403"/>
            <a:chOff x="595122" y="282892"/>
            <a:chExt cx="4695046" cy="557403"/>
          </a:xfrm>
        </p:grpSpPr>
        <p:sp>
          <p:nvSpPr>
            <p:cNvPr id="4" name="TextBox 4"/>
            <p:cNvSpPr txBox="1"/>
            <p:nvPr/>
          </p:nvSpPr>
          <p:spPr>
            <a:xfrm>
              <a:off x="595122" y="282892"/>
              <a:ext cx="469504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a:t>
              </a:r>
            </a:p>
          </p:txBody>
        </p:sp>
      </p:grpSp>
      <p:grpSp>
        <p:nvGrpSpPr>
          <p:cNvPr id="9" name="goal-box"/>
          <p:cNvGrpSpPr/>
          <p:nvPr/>
        </p:nvGrpSpPr>
        <p:grpSpPr>
          <a:xfrm>
            <a:off x="609600" y="1181100"/>
            <a:ext cx="10972800" cy="723900"/>
            <a:chOff x="609600" y="1181100"/>
            <a:chExt cx="10972800" cy="723900"/>
          </a:xfrm>
        </p:grpSpPr>
        <p:sp>
          <p:nvSpPr>
            <p:cNvPr id="6" name="Rectangle 6"/>
            <p:cNvSpPr/>
            <p:nvPr/>
          </p:nvSpPr>
          <p:spPr>
            <a:xfrm>
              <a:off x="609600" y="1181100"/>
              <a:ext cx="10972800" cy="723900"/>
            </a:xfrm>
            <a:prstGeom prst="roundRect">
              <a:avLst>
                <a:gd name="adj" fmla="val 10526"/>
              </a:avLst>
            </a:prstGeom>
            <a:solidFill>
              <a:srgbClr val="EAF4F6"/>
            </a:solidFill>
            <a:ln>
              <a:noFill/>
            </a:ln>
          </p:spPr>
        </p:sp>
        <p:sp>
          <p:nvSpPr>
            <p:cNvPr id="7" name="TextBox 7"/>
            <p:cNvSpPr txBox="1"/>
            <p:nvPr/>
          </p:nvSpPr>
          <p:spPr>
            <a:xfrm>
              <a:off x="906399" y="1296829"/>
              <a:ext cx="819294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kitapKapagiYukleVeBilgilendir: dosya güvenliği, yeniden denemeli ISBN servisi ve</a:t>
              </a:r>
            </a:p>
          </p:txBody>
        </p:sp>
        <p:sp>
          <p:nvSpPr>
            <p:cNvPr id="8" name="TextBox 8"/>
            <p:cNvSpPr txBox="1"/>
            <p:nvPr/>
          </p:nvSpPr>
          <p:spPr>
            <a:xfrm>
              <a:off x="906399" y="1544479"/>
              <a:ext cx="434443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e-posta bildirimini tek akışta birleştirir.</a:t>
              </a:r>
            </a:p>
          </p:txBody>
        </p:sp>
      </p:grpSp>
      <p:grpSp>
        <p:nvGrpSpPr>
          <p:cNvPr id="29" name="pipeline"/>
          <p:cNvGrpSpPr/>
          <p:nvPr/>
        </p:nvGrpSpPr>
        <p:grpSpPr>
          <a:xfrm>
            <a:off x="609600" y="2095500"/>
            <a:ext cx="10629900" cy="777811"/>
            <a:chOff x="609600" y="2095500"/>
            <a:chExt cx="10629900" cy="777811"/>
          </a:xfrm>
        </p:grpSpPr>
        <p:sp>
          <p:nvSpPr>
            <p:cNvPr id="10" name="Rectangle 10"/>
            <p:cNvSpPr/>
            <p:nvPr/>
          </p:nvSpPr>
          <p:spPr>
            <a:xfrm>
              <a:off x="609600" y="2095500"/>
              <a:ext cx="2286000" cy="762000"/>
            </a:xfrm>
            <a:prstGeom prst="roundRect">
              <a:avLst>
                <a:gd name="adj" fmla="val 10000"/>
              </a:avLst>
            </a:prstGeom>
            <a:solidFill>
              <a:srgbClr val="FFFFFF"/>
            </a:solidFill>
            <a:ln w="14288">
              <a:solidFill>
                <a:srgbClr val="2E86AB"/>
              </a:solidFill>
            </a:ln>
          </p:spPr>
        </p:sp>
        <p:sp>
          <p:nvSpPr>
            <p:cNvPr id="11" name="TextBox 11"/>
            <p:cNvSpPr txBox="1"/>
            <p:nvPr/>
          </p:nvSpPr>
          <p:spPr>
            <a:xfrm>
              <a:off x="1079742" y="2254568"/>
              <a:ext cx="1345716"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Dosya güvenlik</a:t>
              </a:r>
            </a:p>
          </p:txBody>
        </p:sp>
        <p:sp>
          <p:nvSpPr>
            <p:cNvPr id="12" name="TextBox 12"/>
            <p:cNvSpPr txBox="1"/>
            <p:nvPr/>
          </p:nvSpPr>
          <p:spPr>
            <a:xfrm>
              <a:off x="1354553" y="2464118"/>
              <a:ext cx="796094"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denetimi</a:t>
              </a:r>
            </a:p>
          </p:txBody>
        </p:sp>
        <p:sp>
          <p:nvSpPr>
            <p:cNvPr id="13" name="TextBox 13"/>
            <p:cNvSpPr txBox="1"/>
            <p:nvPr/>
          </p:nvSpPr>
          <p:spPr>
            <a:xfrm>
              <a:off x="1238402" y="2667952"/>
              <a:ext cx="1028395"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geçersizse 400</a:t>
              </a:r>
            </a:p>
          </p:txBody>
        </p:sp>
        <p:sp>
          <p:nvSpPr>
            <p:cNvPr id="14" name="Line 14"/>
            <p:cNvSpPr/>
            <p:nvPr/>
          </p:nvSpPr>
          <p:spPr>
            <a:xfrm>
              <a:off x="2895600" y="2476500"/>
              <a:ext cx="495300" cy="1"/>
            </a:xfrm>
            <a:prstGeom prst="line">
              <a:avLst/>
            </a:prstGeom>
            <a:noFill/>
            <a:ln w="23812">
              <a:solidFill>
                <a:srgbClr val="00A6A6"/>
              </a:solidFill>
              <a:tailEnd type="arrow" w="lg" len="lg"/>
            </a:ln>
          </p:spPr>
        </p:sp>
        <p:sp>
          <p:nvSpPr>
            <p:cNvPr id="15" name="Rectangle 15"/>
            <p:cNvSpPr/>
            <p:nvPr/>
          </p:nvSpPr>
          <p:spPr>
            <a:xfrm>
              <a:off x="3390900" y="2095500"/>
              <a:ext cx="2286000" cy="762000"/>
            </a:xfrm>
            <a:prstGeom prst="roundRect">
              <a:avLst>
                <a:gd name="adj" fmla="val 10000"/>
              </a:avLst>
            </a:prstGeom>
            <a:solidFill>
              <a:srgbClr val="FFFFFF"/>
            </a:solidFill>
            <a:ln w="14288">
              <a:solidFill>
                <a:srgbClr val="2E86AB"/>
              </a:solidFill>
            </a:ln>
          </p:spPr>
        </p:sp>
        <p:sp>
          <p:nvSpPr>
            <p:cNvPr id="16" name="TextBox 16"/>
            <p:cNvSpPr txBox="1"/>
            <p:nvPr/>
          </p:nvSpPr>
          <p:spPr>
            <a:xfrm>
              <a:off x="4070985" y="2254568"/>
              <a:ext cx="925830"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Güvenli ad</a:t>
              </a:r>
            </a:p>
          </p:txBody>
        </p:sp>
        <p:sp>
          <p:nvSpPr>
            <p:cNvPr id="17" name="TextBox 17"/>
            <p:cNvSpPr txBox="1"/>
            <p:nvPr/>
          </p:nvSpPr>
          <p:spPr>
            <a:xfrm>
              <a:off x="4188330" y="2464118"/>
              <a:ext cx="691141"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üretimi</a:t>
              </a:r>
            </a:p>
          </p:txBody>
        </p:sp>
        <p:sp>
          <p:nvSpPr>
            <p:cNvPr id="18" name="TextBox 18"/>
            <p:cNvSpPr txBox="1"/>
            <p:nvPr/>
          </p:nvSpPr>
          <p:spPr>
            <a:xfrm>
              <a:off x="4055160" y="2667952"/>
              <a:ext cx="957480"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randomUUID()</a:t>
              </a:r>
            </a:p>
          </p:txBody>
        </p:sp>
        <p:sp>
          <p:nvSpPr>
            <p:cNvPr id="19" name="Line 19"/>
            <p:cNvSpPr/>
            <p:nvPr/>
          </p:nvSpPr>
          <p:spPr>
            <a:xfrm>
              <a:off x="5676900" y="2476500"/>
              <a:ext cx="495300" cy="1"/>
            </a:xfrm>
            <a:prstGeom prst="line">
              <a:avLst/>
            </a:prstGeom>
            <a:noFill/>
            <a:ln w="23812">
              <a:solidFill>
                <a:srgbClr val="00A6A6"/>
              </a:solidFill>
              <a:tailEnd type="arrow" w="lg" len="lg"/>
            </a:ln>
          </p:spPr>
        </p:sp>
        <p:sp>
          <p:nvSpPr>
            <p:cNvPr id="20" name="Rectangle 20"/>
            <p:cNvSpPr/>
            <p:nvPr/>
          </p:nvSpPr>
          <p:spPr>
            <a:xfrm>
              <a:off x="6172200" y="2095500"/>
              <a:ext cx="2286000" cy="762000"/>
            </a:xfrm>
            <a:prstGeom prst="roundRect">
              <a:avLst>
                <a:gd name="adj" fmla="val 10000"/>
              </a:avLst>
            </a:prstGeom>
            <a:solidFill>
              <a:srgbClr val="FFFFFF"/>
            </a:solidFill>
            <a:ln w="14288">
              <a:solidFill>
                <a:srgbClr val="2E86AB"/>
              </a:solidFill>
            </a:ln>
          </p:spPr>
        </p:sp>
        <p:sp>
          <p:nvSpPr>
            <p:cNvPr id="21" name="TextBox 21"/>
            <p:cNvSpPr txBox="1"/>
            <p:nvPr/>
          </p:nvSpPr>
          <p:spPr>
            <a:xfrm>
              <a:off x="6763037" y="2254568"/>
              <a:ext cx="1104325"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ISBN servisi</a:t>
              </a:r>
            </a:p>
          </p:txBody>
        </p:sp>
        <p:sp>
          <p:nvSpPr>
            <p:cNvPr id="22" name="TextBox 22"/>
            <p:cNvSpPr txBox="1"/>
            <p:nvPr/>
          </p:nvSpPr>
          <p:spPr>
            <a:xfrm>
              <a:off x="6802659" y="2464118"/>
              <a:ext cx="1025082"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(retry ile)</a:t>
              </a:r>
            </a:p>
          </p:txBody>
        </p:sp>
        <p:sp>
          <p:nvSpPr>
            <p:cNvPr id="23" name="TextBox 23"/>
            <p:cNvSpPr txBox="1"/>
            <p:nvPr/>
          </p:nvSpPr>
          <p:spPr>
            <a:xfrm>
              <a:off x="6443558" y="2667952"/>
              <a:ext cx="1743285"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yenidenDeneyerekCalistir</a:t>
              </a:r>
            </a:p>
          </p:txBody>
        </p:sp>
        <p:sp>
          <p:nvSpPr>
            <p:cNvPr id="24" name="Line 24"/>
            <p:cNvSpPr/>
            <p:nvPr/>
          </p:nvSpPr>
          <p:spPr>
            <a:xfrm>
              <a:off x="8458200" y="2476500"/>
              <a:ext cx="495300" cy="1"/>
            </a:xfrm>
            <a:prstGeom prst="line">
              <a:avLst/>
            </a:prstGeom>
            <a:noFill/>
            <a:ln w="23812">
              <a:solidFill>
                <a:srgbClr val="00A6A6"/>
              </a:solidFill>
              <a:tailEnd type="arrow" w="lg" len="lg"/>
            </a:ln>
          </p:spPr>
        </p:sp>
        <p:sp>
          <p:nvSpPr>
            <p:cNvPr id="25" name="Rectangle 25"/>
            <p:cNvSpPr/>
            <p:nvPr/>
          </p:nvSpPr>
          <p:spPr>
            <a:xfrm>
              <a:off x="8953500" y="2095500"/>
              <a:ext cx="2286000" cy="762000"/>
            </a:xfrm>
            <a:prstGeom prst="roundRect">
              <a:avLst>
                <a:gd name="adj" fmla="val 10000"/>
              </a:avLst>
            </a:prstGeom>
            <a:solidFill>
              <a:srgbClr val="12355B"/>
            </a:solidFill>
            <a:ln>
              <a:noFill/>
            </a:ln>
          </p:spPr>
        </p:sp>
        <p:sp>
          <p:nvSpPr>
            <p:cNvPr id="26" name="TextBox 26"/>
            <p:cNvSpPr txBox="1"/>
            <p:nvPr/>
          </p:nvSpPr>
          <p:spPr>
            <a:xfrm>
              <a:off x="9718841" y="2254568"/>
              <a:ext cx="75531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E-posta</a:t>
              </a:r>
            </a:p>
          </p:txBody>
        </p:sp>
        <p:sp>
          <p:nvSpPr>
            <p:cNvPr id="27" name="TextBox 27"/>
            <p:cNvSpPr txBox="1"/>
            <p:nvPr/>
          </p:nvSpPr>
          <p:spPr>
            <a:xfrm>
              <a:off x="9717535" y="2464118"/>
              <a:ext cx="75792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bildirimi</a:t>
              </a:r>
            </a:p>
          </p:txBody>
        </p:sp>
        <p:sp>
          <p:nvSpPr>
            <p:cNvPr id="28" name="TextBox 28"/>
            <p:cNvSpPr txBox="1"/>
            <p:nvPr/>
          </p:nvSpPr>
          <p:spPr>
            <a:xfrm>
              <a:off x="9554032" y="2667952"/>
              <a:ext cx="1084936"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hata izole edilir</a:t>
              </a:r>
            </a:p>
          </p:txBody>
        </p:sp>
      </p:grpSp>
      <p:grpSp>
        <p:nvGrpSpPr>
          <p:cNvPr id="32" name="retry-detail"/>
          <p:cNvGrpSpPr/>
          <p:nvPr/>
        </p:nvGrpSpPr>
        <p:grpSpPr>
          <a:xfrm>
            <a:off x="602742" y="4216718"/>
            <a:ext cx="7819926" cy="492633"/>
            <a:chOff x="602742" y="4216718"/>
            <a:chExt cx="7819926" cy="492633"/>
          </a:xfrm>
        </p:grpSpPr>
        <p:sp>
          <p:nvSpPr>
            <p:cNvPr id="30" name="TextBox 30"/>
            <p:cNvSpPr txBox="1"/>
            <p:nvPr/>
          </p:nvSpPr>
          <p:spPr>
            <a:xfrm>
              <a:off x="602742" y="4216718"/>
              <a:ext cx="7819926"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sahteIsbnServisiCagir ilk çağrıda bilinçli olarak GeciciHata fırlatır; retry mekanizması</a:t>
              </a:r>
            </a:p>
          </p:txBody>
        </p:sp>
        <p:sp>
          <p:nvSpPr>
            <p:cNvPr id="31" name="TextBox 31"/>
            <p:cNvSpPr txBox="1"/>
            <p:nvPr/>
          </p:nvSpPr>
          <p:spPr>
            <a:xfrm>
              <a:off x="602742" y="4445318"/>
              <a:ext cx="3121419"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2. denemede başarıyla sonuçlanır.</a:t>
              </a:r>
            </a:p>
          </p:txBody>
        </p:sp>
      </p:grpSp>
      <p:grpSp>
        <p:nvGrpSpPr>
          <p:cNvPr id="37" name="output-card"/>
          <p:cNvGrpSpPr/>
          <p:nvPr/>
        </p:nvGrpSpPr>
        <p:grpSpPr>
          <a:xfrm>
            <a:off x="609600" y="4876800"/>
            <a:ext cx="10972800" cy="1028700"/>
            <a:chOff x="609600" y="4876800"/>
            <a:chExt cx="10972800" cy="1028700"/>
          </a:xfrm>
        </p:grpSpPr>
        <p:sp>
          <p:nvSpPr>
            <p:cNvPr id="33" name="Rectangle 33"/>
            <p:cNvSpPr/>
            <p:nvPr/>
          </p:nvSpPr>
          <p:spPr>
            <a:xfrm>
              <a:off x="609600" y="4876800"/>
              <a:ext cx="10972800" cy="1028700"/>
            </a:xfrm>
            <a:prstGeom prst="roundRect">
              <a:avLst>
                <a:gd name="adj" fmla="val 7407"/>
              </a:avLst>
            </a:prstGeom>
            <a:solidFill>
              <a:srgbClr val="12355B"/>
            </a:solidFill>
            <a:ln>
              <a:noFill/>
            </a:ln>
          </p:spPr>
        </p:sp>
        <p:sp>
          <p:nvSpPr>
            <p:cNvPr id="34" name="TextBox 34"/>
            <p:cNvSpPr txBox="1"/>
            <p:nvPr/>
          </p:nvSpPr>
          <p:spPr>
            <a:xfrm>
              <a:off x="908304" y="5033010"/>
              <a:ext cx="458114"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ÇIKTI</a:t>
              </a:r>
            </a:p>
          </p:txBody>
        </p:sp>
        <p:sp>
          <p:nvSpPr>
            <p:cNvPr id="35" name="TextBox 35"/>
            <p:cNvSpPr txBox="1"/>
            <p:nvPr/>
          </p:nvSpPr>
          <p:spPr>
            <a:xfrm>
              <a:off x="908304" y="5299710"/>
              <a:ext cx="5082696"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E-posta gönderildi -&gt; yasemin@kutuphane.mehmetakif.edu.tr</a:t>
              </a:r>
            </a:p>
          </p:txBody>
        </p:sp>
        <p:sp>
          <p:nvSpPr>
            <p:cNvPr id="36" name="TextBox 36"/>
            <p:cNvSpPr txBox="1"/>
            <p:nvPr/>
          </p:nvSpPr>
          <p:spPr>
            <a:xfrm>
              <a:off x="908304" y="5547360"/>
              <a:ext cx="6877289"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 durumKodu: 201, mesaj: '(uuid).jpg kaydedildi, "Java ile Programlama"...' }</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extension"/>
          <p:cNvGrpSpPr/>
          <p:nvPr/>
        </p:nvGrpSpPr>
        <p:grpSpPr>
          <a:xfrm>
            <a:off x="609600" y="1865471"/>
            <a:ext cx="10972800" cy="1296829"/>
            <a:chOff x="609600" y="1865471"/>
            <a:chExt cx="10972800" cy="1296829"/>
          </a:xfrm>
        </p:grpSpPr>
        <p:sp>
          <p:nvSpPr>
            <p:cNvPr id="17" name="TextBox 17"/>
            <p:cNvSpPr txBox="1"/>
            <p:nvPr/>
          </p:nvSpPr>
          <p:spPr>
            <a:xfrm>
              <a:off x="754761" y="1865471"/>
              <a:ext cx="3053658" cy="735902"/>
            </a:xfrm>
            <a:prstGeom prst="rect">
              <a:avLst/>
            </a:prstGeom>
            <a:noFill/>
            <a:ln>
              <a:noFill/>
            </a:ln>
          </p:spPr>
          <p:txBody>
            <a:bodyPr wrap="none" lIns="0" tIns="0" rIns="0" bIns="0" anchor="t" anchorCtr="0">
              <a:spAutoFit/>
            </a:bodyPr>
            <a:lstStyle/>
            <a:p>
              <a:pPr algn="l">
                <a:lnSpc>
                  <a:spcPts val="1800"/>
                </a:lnSpc>
              </a:pPr>
              <a:r>
                <a:rPr lang="tr-TR" sz="1420" b="1" dirty="0">
                  <a:solidFill>
                    <a:srgbClr val="12355B"/>
                  </a:solidFill>
                  <a:latin typeface="+mn-lt"/>
                  <a:ea typeface="+mn-ea"/>
                  <a:cs typeface="+mn-cs"/>
                </a:rPr>
                <a:t>"Dosya yükleme</a:t>
              </a:r>
              <a:br/>
              <a:r>
                <a:rPr lang="tr-TR" sz="1420" b="1" dirty="0">
                  <a:solidFill>
                    <a:srgbClr val="12355B"/>
                  </a:solidFill>
                  <a:latin typeface="+mn-lt"/>
                  <a:ea typeface="+mn-ea"/>
                  <a:cs typeface="+mn-cs"/>
                </a:rPr>
                <a:t>güvenliğinde uzantıya</a:t>
              </a:r>
              <a:br/>
              <a:r>
                <a:rPr lang="tr-TR" sz="1420" b="1" dirty="0">
                  <a:solidFill>
                    <a:srgbClr val="12355B"/>
                  </a:solidFill>
                  <a:latin typeface="+mn-lt"/>
                  <a:ea typeface="+mn-ea"/>
                  <a:cs typeface="+mn-cs"/>
                </a:rPr>
                <a:t>(.jpg, .pdf) bakmak yeterlidir."</a:t>
              </a:r>
            </a:p>
          </p:txBody>
        </p:sp>
        <p:sp>
          <p:nvSpPr>
            <p:cNvPr id="18" name="TextBox 18"/>
            <p:cNvSpPr txBox="1"/>
            <p:nvPr/>
          </p:nvSpPr>
          <p:spPr>
            <a:xfrm>
              <a:off x="4375404" y="1889760"/>
              <a:ext cx="27782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Saldırgan zararlı bir çalıştırılabilir</a:t>
              </a:r>
              <a:br/>
              <a:r>
                <a:rPr lang="tr-TR" sz="1200" dirty="0">
                  <a:solidFill>
                    <a:srgbClr val="172B3A"/>
                  </a:solidFill>
                  <a:latin typeface="+mn-lt"/>
                  <a:ea typeface="+mn-ea"/>
                  <a:cs typeface="+mn-cs"/>
                </a:rPr>
                <a:t>betiği (.sh, .exe) "guvenli.jpg"</a:t>
              </a:r>
              <a:br/>
              <a:r>
                <a:rPr lang="tr-TR" sz="1200" dirty="0">
                  <a:solidFill>
                    <a:srgbClr val="172B3A"/>
                  </a:solidFill>
                  <a:latin typeface="+mn-lt"/>
                  <a:ea typeface="+mn-ea"/>
                  <a:cs typeface="+mn-cs"/>
                </a:rPr>
                <a:t>olarak adlandırıp gönderebilir;</a:t>
              </a:r>
              <a:br/>
              <a:r>
                <a:rPr lang="tr-TR" sz="1200" dirty="0">
                  <a:solidFill>
                    <a:srgbClr val="172B3A"/>
                  </a:solidFill>
                  <a:latin typeface="+mn-lt"/>
                  <a:ea typeface="+mn-ea"/>
                  <a:cs typeface="+mn-cs"/>
                </a:rPr>
                <a:t>uzantı yalnızca bir isimdir.</a:t>
              </a:r>
            </a:p>
          </p:txBody>
        </p:sp>
        <p:sp>
          <p:nvSpPr>
            <p:cNvPr id="19" name="TextBox 19"/>
            <p:cNvSpPr txBox="1"/>
            <p:nvPr/>
          </p:nvSpPr>
          <p:spPr>
            <a:xfrm>
              <a:off x="8185404" y="1889760"/>
              <a:ext cx="24201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İlk baytlardaki sihirli sayılar</a:t>
              </a:r>
              <a:br/>
              <a:r>
                <a:rPr lang="tr-TR" sz="1200" dirty="0">
                  <a:solidFill>
                    <a:srgbClr val="172B3A"/>
                  </a:solidFill>
                  <a:latin typeface="+mn-lt"/>
                  <a:ea typeface="+mn-ea"/>
                  <a:cs typeface="+mn-cs"/>
                </a:rPr>
                <a:t>(magic number) ve gerçek MIME</a:t>
              </a:r>
              <a:br/>
              <a:r>
                <a:rPr lang="tr-TR" sz="1200" dirty="0">
                  <a:solidFill>
                    <a:srgbClr val="172B3A"/>
                  </a:solidFill>
                  <a:latin typeface="+mn-lt"/>
                  <a:ea typeface="+mn-ea"/>
                  <a:cs typeface="+mn-cs"/>
                </a:rPr>
                <a:t>türü doğrulanmalı; dosyalar</a:t>
              </a:r>
              <a:br/>
              <a:r>
                <a:rPr lang="tr-TR" sz="1200" dirty="0">
                  <a:solidFill>
                    <a:srgbClr val="172B3A"/>
                  </a:solidFill>
                  <a:latin typeface="+mn-lt"/>
                  <a:ea typeface="+mn-ea"/>
                  <a:cs typeface="+mn-cs"/>
                </a:rPr>
                <a:t>rastgele UUID adıyla saklanmalı.</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await"/>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4761" y="3313271"/>
              <a:ext cx="2674944" cy="735902"/>
            </a:xfrm>
            <a:prstGeom prst="rect">
              <a:avLst/>
            </a:prstGeom>
            <a:noFill/>
            <a:ln>
              <a:noFill/>
            </a:ln>
          </p:spPr>
          <p:txBody>
            <a:bodyPr wrap="none" lIns="0" tIns="0" rIns="0" bIns="0" anchor="t" anchorCtr="0">
              <a:spAutoFit/>
            </a:bodyPr>
            <a:lstStyle/>
            <a:p>
              <a:pPr algn="l">
                <a:lnSpc>
                  <a:spcPts val="1800"/>
                </a:lnSpc>
              </a:pPr>
              <a:r>
                <a:rPr lang="tr-TR" sz="1420" b="1" dirty="0">
                  <a:solidFill>
                    <a:srgbClr val="12355B"/>
                  </a:solidFill>
                  <a:latin typeface="+mn-lt"/>
                  <a:ea typeface="+mn-ea"/>
                  <a:cs typeface="+mn-cs"/>
                </a:rPr>
                <a:t>"Kayıt olduğunda e-posta</a:t>
              </a:r>
              <a:br/>
              <a:r>
                <a:rPr lang="tr-TR" sz="1420" b="1" dirty="0">
                  <a:solidFill>
                    <a:srgbClr val="12355B"/>
                  </a:solidFill>
                  <a:latin typeface="+mn-lt"/>
                  <a:ea typeface="+mn-ea"/>
                  <a:cs typeface="+mn-cs"/>
                </a:rPr>
                <a:t>gönderimini await ile ana</a:t>
              </a:r>
              <a:br/>
              <a:r>
                <a:rPr lang="tr-TR" sz="1420" b="1" dirty="0">
                  <a:solidFill>
                    <a:srgbClr val="12355B"/>
                  </a:solidFill>
                  <a:latin typeface="+mn-lt"/>
                  <a:ea typeface="+mn-ea"/>
                  <a:cs typeface="+mn-cs"/>
                </a:rPr>
                <a:t>akışta bekletmek doğaldır."</a:t>
              </a:r>
            </a:p>
          </p:txBody>
        </p:sp>
        <p:sp>
          <p:nvSpPr>
            <p:cNvPr id="24" name="TextBox 24"/>
            <p:cNvSpPr txBox="1"/>
            <p:nvPr/>
          </p:nvSpPr>
          <p:spPr>
            <a:xfrm>
              <a:off x="4375404" y="3337560"/>
              <a:ext cx="24963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E-posta sunucusu yanıt</a:t>
              </a:r>
              <a:br/>
              <a:r>
                <a:rPr lang="tr-TR" sz="1200" dirty="0">
                  <a:solidFill>
                    <a:srgbClr val="172B3A"/>
                  </a:solidFill>
                  <a:latin typeface="+mn-lt"/>
                  <a:ea typeface="+mn-ea"/>
                  <a:cs typeface="+mn-cs"/>
                </a:rPr>
                <a:t>vermediğinde kullanıcının kaydı</a:t>
              </a:r>
              <a:br/>
              <a:r>
                <a:rPr lang="tr-TR" sz="1200" dirty="0">
                  <a:solidFill>
                    <a:srgbClr val="172B3A"/>
                  </a:solidFill>
                  <a:latin typeface="+mn-lt"/>
                  <a:ea typeface="+mn-ea"/>
                  <a:cs typeface="+mn-cs"/>
                </a:rPr>
                <a:t>15 saniye sürer veya bağlantı</a:t>
              </a:r>
              <a:br/>
              <a:r>
                <a:rPr lang="tr-TR" sz="1200" dirty="0">
                  <a:solidFill>
                    <a:srgbClr val="172B3A"/>
                  </a:solidFill>
                  <a:latin typeface="+mn-lt"/>
                  <a:ea typeface="+mn-ea"/>
                  <a:cs typeface="+mn-cs"/>
                </a:rPr>
                <a:t>koparak işlem başarısız sayılır.</a:t>
              </a:r>
            </a:p>
          </p:txBody>
        </p:sp>
        <p:sp>
          <p:nvSpPr>
            <p:cNvPr id="25" name="TextBox 25"/>
            <p:cNvSpPr txBox="1"/>
            <p:nvPr/>
          </p:nvSpPr>
          <p:spPr>
            <a:xfrm>
              <a:off x="8185404" y="3337560"/>
              <a:ext cx="25877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Gönderim ana akıştan</a:t>
              </a:r>
              <a:br/>
              <a:r>
                <a:rPr lang="tr-TR" sz="1200" dirty="0">
                  <a:solidFill>
                    <a:srgbClr val="172B3A"/>
                  </a:solidFill>
                  <a:latin typeface="+mn-lt"/>
                  <a:ea typeface="+mn-ea"/>
                  <a:cs typeface="+mn-cs"/>
                </a:rPr>
                <a:t>ayrılmalı; asenkron bir olay</a:t>
              </a:r>
              <a:br/>
              <a:r>
                <a:rPr lang="tr-TR" sz="1200" dirty="0">
                  <a:solidFill>
                    <a:srgbClr val="172B3A"/>
                  </a:solidFill>
                  <a:latin typeface="+mn-lt"/>
                  <a:ea typeface="+mn-ea"/>
                  <a:cs typeface="+mn-cs"/>
                </a:rPr>
                <a:t>fırlatarak veya mesaj kuyruğu</a:t>
              </a:r>
              <a:br/>
              <a:r>
                <a:rPr lang="tr-TR" sz="1200" dirty="0">
                  <a:solidFill>
                    <a:srgbClr val="172B3A"/>
                  </a:solidFill>
                  <a:latin typeface="+mn-lt"/>
                  <a:ea typeface="+mn-ea"/>
                  <a:cs typeface="+mn-cs"/>
                </a:rPr>
                <a:t>üzerinden arka planda yürütülmeli.</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infiniteretry"/>
          <p:cNvGrpSpPr/>
          <p:nvPr/>
        </p:nvGrpSpPr>
        <p:grpSpPr>
          <a:xfrm>
            <a:off x="754761" y="4761071"/>
            <a:ext cx="10178415" cy="887635"/>
            <a:chOff x="754761" y="4761071"/>
            <a:chExt cx="10178415" cy="887635"/>
          </a:xfrm>
        </p:grpSpPr>
        <p:sp>
          <p:nvSpPr>
            <p:cNvPr id="28" name="TextBox 28"/>
            <p:cNvSpPr txBox="1"/>
            <p:nvPr/>
          </p:nvSpPr>
          <p:spPr>
            <a:xfrm>
              <a:off x="754761" y="4761071"/>
              <a:ext cx="3243015" cy="735902"/>
            </a:xfrm>
            <a:prstGeom prst="rect">
              <a:avLst/>
            </a:prstGeom>
            <a:noFill/>
            <a:ln>
              <a:noFill/>
            </a:ln>
          </p:spPr>
          <p:txBody>
            <a:bodyPr wrap="none" lIns="0" tIns="0" rIns="0" bIns="0" anchor="t" anchorCtr="0">
              <a:spAutoFit/>
            </a:bodyPr>
            <a:lstStyle/>
            <a:p>
              <a:pPr algn="l">
                <a:lnSpc>
                  <a:spcPts val="1800"/>
                </a:lnSpc>
              </a:pPr>
              <a:r>
                <a:rPr lang="tr-TR" sz="1420" b="1" dirty="0">
                  <a:solidFill>
                    <a:srgbClr val="12355B"/>
                  </a:solidFill>
                  <a:latin typeface="+mn-lt"/>
                  <a:ea typeface="+mn-ea"/>
                  <a:cs typeface="+mn-cs"/>
                </a:rPr>
                <a:t>"API çağrısı başarısız</a:t>
              </a:r>
              <a:br/>
              <a:r>
                <a:rPr lang="tr-TR" sz="1420" b="1" dirty="0">
                  <a:solidFill>
                    <a:srgbClr val="12355B"/>
                  </a:solidFill>
                  <a:latin typeface="+mn-lt"/>
                  <a:ea typeface="+mn-ea"/>
                  <a:cs typeface="+mn-cs"/>
                </a:rPr>
                <a:t>olduğunda sonsuz döngüde</a:t>
              </a:r>
              <a:br/>
              <a:r>
                <a:rPr lang="tr-TR" sz="1420" b="1" dirty="0">
                  <a:solidFill>
                    <a:srgbClr val="12355B"/>
                  </a:solidFill>
                  <a:latin typeface="+mn-lt"/>
                  <a:ea typeface="+mn-ea"/>
                  <a:cs typeface="+mn-cs"/>
                </a:rPr>
                <a:t>anında tekrar denemek kurtarır."</a:t>
              </a:r>
            </a:p>
          </p:txBody>
        </p:sp>
        <p:sp>
          <p:nvSpPr>
            <p:cNvPr id="29" name="TextBox 29"/>
            <p:cNvSpPr txBox="1"/>
            <p:nvPr/>
          </p:nvSpPr>
          <p:spPr>
            <a:xfrm>
              <a:off x="4375404" y="4785360"/>
              <a:ext cx="22600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Bu yaklaşım zaten zorlanan</a:t>
              </a:r>
              <a:br/>
              <a:r>
                <a:rPr lang="tr-TR" sz="1200" dirty="0">
                  <a:solidFill>
                    <a:srgbClr val="172B3A"/>
                  </a:solidFill>
                  <a:latin typeface="+mn-lt"/>
                  <a:ea typeface="+mn-ea"/>
                  <a:cs typeface="+mn-cs"/>
                </a:rPr>
                <a:t>karşı servise DoS etkisi yapar</a:t>
              </a:r>
              <a:br/>
              <a:r>
                <a:rPr lang="tr-TR" sz="1200" dirty="0">
                  <a:solidFill>
                    <a:srgbClr val="172B3A"/>
                  </a:solidFill>
                  <a:latin typeface="+mn-lt"/>
                  <a:ea typeface="+mn-ea"/>
                  <a:cs typeface="+mn-cs"/>
                </a:rPr>
                <a:t>ve yerel sunucunun soket</a:t>
              </a:r>
              <a:br/>
              <a:r>
                <a:rPr lang="tr-TR" sz="1200" dirty="0">
                  <a:solidFill>
                    <a:srgbClr val="172B3A"/>
                  </a:solidFill>
                  <a:latin typeface="+mn-lt"/>
                  <a:ea typeface="+mn-ea"/>
                  <a:cs typeface="+mn-cs"/>
                </a:rPr>
                <a:t>havuzunu kilitler.</a:t>
              </a:r>
            </a:p>
          </p:txBody>
        </p:sp>
        <p:sp>
          <p:nvSpPr>
            <p:cNvPr id="30" name="TextBox 30"/>
            <p:cNvSpPr txBox="1"/>
            <p:nvPr/>
          </p:nvSpPr>
          <p:spPr>
            <a:xfrm>
              <a:off x="8185404" y="4785360"/>
              <a:ext cx="27477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Sınırlı sayıda (maks 3), aralarında</a:t>
              </a:r>
              <a:br/>
              <a:r>
                <a:rPr lang="tr-TR" sz="1200" dirty="0">
                  <a:solidFill>
                    <a:srgbClr val="172B3A"/>
                  </a:solidFill>
                  <a:latin typeface="+mn-lt"/>
                  <a:ea typeface="+mn-ea"/>
                  <a:cs typeface="+mn-cs"/>
                </a:rPr>
                <a:t>artan bekleme süresi olan</a:t>
              </a:r>
              <a:br/>
              <a:r>
                <a:rPr lang="tr-TR" sz="1200" dirty="0">
                  <a:solidFill>
                    <a:srgbClr val="172B3A"/>
                  </a:solidFill>
                  <a:latin typeface="+mn-lt"/>
                  <a:ea typeface="+mn-ea"/>
                  <a:cs typeface="+mn-cs"/>
                </a:rPr>
                <a:t>(exponential backoff) ve mutlaka</a:t>
              </a:r>
              <a:br/>
              <a:r>
                <a:rPr lang="tr-TR" sz="1200" dirty="0">
                  <a:solidFill>
                    <a:srgbClr val="172B3A"/>
                  </a:solidFill>
                  <a:latin typeface="+mn-lt"/>
                  <a:ea typeface="+mn-ea"/>
                  <a:cs typeface="+mn-cs"/>
                </a:rPr>
                <a:t>bir timeout tanımlanmalı.</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419692" cy="557403"/>
            <a:chOff x="595122" y="282892"/>
            <a:chExt cx="5419692" cy="557403"/>
          </a:xfrm>
        </p:grpSpPr>
        <p:sp>
          <p:nvSpPr>
            <p:cNvPr id="4" name="TextBox 4"/>
            <p:cNvSpPr txBox="1"/>
            <p:nvPr/>
          </p:nvSpPr>
          <p:spPr>
            <a:xfrm>
              <a:off x="595122" y="282892"/>
              <a:ext cx="541969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Programlama alıştırmaları</a:t>
              </a:r>
            </a:p>
          </p:txBody>
        </p:sp>
      </p:grpSp>
      <p:grpSp>
        <p:nvGrpSpPr>
          <p:cNvPr id="7" name="intro"/>
          <p:cNvGrpSpPr/>
          <p:nvPr/>
        </p:nvGrpSpPr>
        <p:grpSpPr>
          <a:xfrm>
            <a:off x="600456" y="1234440"/>
            <a:ext cx="9554939" cy="352044"/>
            <a:chOff x="600456" y="1234440"/>
            <a:chExt cx="9554939" cy="352044"/>
          </a:xfrm>
        </p:grpSpPr>
        <p:sp>
          <p:nvSpPr>
            <p:cNvPr id="6" name="TextBox 6"/>
            <p:cNvSpPr txBox="1"/>
            <p:nvPr/>
          </p:nvSpPr>
          <p:spPr>
            <a:xfrm>
              <a:off x="600456" y="1234440"/>
              <a:ext cx="955493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Uçtan uca mini uygulamayı (kitapKapagiYukleVeBilgilendir) şu yönlerde geliştirin:</a:t>
              </a:r>
            </a:p>
          </p:txBody>
        </p:sp>
      </p:grpSp>
      <p:grpSp>
        <p:nvGrpSpPr>
          <p:cNvPr id="14" name="exercise-1"/>
          <p:cNvGrpSpPr/>
          <p:nvPr/>
        </p:nvGrpSpPr>
        <p:grpSpPr>
          <a:xfrm>
            <a:off x="609600" y="1790700"/>
            <a:ext cx="10972800" cy="1257300"/>
            <a:chOff x="609600" y="1790700"/>
            <a:chExt cx="10972800" cy="1257300"/>
          </a:xfrm>
        </p:grpSpPr>
        <p:sp>
          <p:nvSpPr>
            <p:cNvPr id="8" name="Rectangle 8"/>
            <p:cNvSpPr/>
            <p:nvPr/>
          </p:nvSpPr>
          <p:spPr>
            <a:xfrm>
              <a:off x="609600" y="1790700"/>
              <a:ext cx="10972800" cy="1257300"/>
            </a:xfrm>
            <a:prstGeom prst="roundRect">
              <a:avLst>
                <a:gd name="adj" fmla="val 7576"/>
              </a:avLst>
            </a:prstGeom>
            <a:solidFill>
              <a:srgbClr val="FFFFFF"/>
            </a:solidFill>
            <a:ln w="14288">
              <a:solidFill>
                <a:srgbClr val="B8CBD3"/>
              </a:solidFill>
            </a:ln>
          </p:spPr>
        </p:sp>
        <p:sp>
          <p:nvSpPr>
            <p:cNvPr id="9" name="Ellipse 9"/>
            <p:cNvSpPr/>
            <p:nvPr/>
          </p:nvSpPr>
          <p:spPr>
            <a:xfrm>
              <a:off x="762000" y="1924050"/>
              <a:ext cx="381000" cy="381000"/>
            </a:xfrm>
            <a:prstGeom prst="ellipse">
              <a:avLst/>
            </a:prstGeom>
            <a:solidFill>
              <a:srgbClr val="00A6A6"/>
            </a:solidFill>
            <a:ln>
              <a:noFill/>
            </a:ln>
          </p:spPr>
        </p:sp>
        <p:sp>
          <p:nvSpPr>
            <p:cNvPr id="10" name="TextBox 10"/>
            <p:cNvSpPr txBox="1"/>
            <p:nvPr/>
          </p:nvSpPr>
          <p:spPr>
            <a:xfrm>
              <a:off x="883082" y="201120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11" name="TextBox 11"/>
            <p:cNvSpPr txBox="1"/>
            <p:nvPr/>
          </p:nvSpPr>
          <p:spPr>
            <a:xfrm>
              <a:off x="1287399" y="2020729"/>
              <a:ext cx="344381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Opsiyonel ISBN zenginleştirmesi</a:t>
              </a:r>
            </a:p>
          </p:txBody>
        </p:sp>
        <p:sp>
          <p:nvSpPr>
            <p:cNvPr id="12" name="TextBox 12"/>
            <p:cNvSpPr txBox="1"/>
            <p:nvPr/>
          </p:nvSpPr>
          <p:spPr>
            <a:xfrm>
              <a:off x="1288542" y="2330768"/>
              <a:ext cx="628632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Harici ISBN servisi tüm denemelerden sonra da başarısız olursa, kapak</a:t>
              </a:r>
            </a:p>
          </p:txBody>
        </p:sp>
        <p:sp>
          <p:nvSpPr>
            <p:cNvPr id="13" name="TextBox 13"/>
            <p:cNvSpPr txBox="1"/>
            <p:nvPr/>
          </p:nvSpPr>
          <p:spPr>
            <a:xfrm>
              <a:off x="1288542" y="2578418"/>
              <a:ext cx="582021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yüklemesinin yine de kaydedilmesini sağlayan bir davranış ekleyin.</a:t>
              </a:r>
            </a:p>
          </p:txBody>
        </p:sp>
      </p:grpSp>
      <p:grpSp>
        <p:nvGrpSpPr>
          <p:cNvPr id="21" name="exercise-2"/>
          <p:cNvGrpSpPr/>
          <p:nvPr/>
        </p:nvGrpSpPr>
        <p:grpSpPr>
          <a:xfrm>
            <a:off x="609600" y="3200400"/>
            <a:ext cx="10972800" cy="1257300"/>
            <a:chOff x="609600" y="3200400"/>
            <a:chExt cx="10972800" cy="1257300"/>
          </a:xfrm>
        </p:grpSpPr>
        <p:sp>
          <p:nvSpPr>
            <p:cNvPr id="15" name="Rectangle 15"/>
            <p:cNvSpPr/>
            <p:nvPr/>
          </p:nvSpPr>
          <p:spPr>
            <a:xfrm>
              <a:off x="609600" y="3200400"/>
              <a:ext cx="10972800" cy="1257300"/>
            </a:xfrm>
            <a:prstGeom prst="roundRect">
              <a:avLst>
                <a:gd name="adj" fmla="val 7576"/>
              </a:avLst>
            </a:prstGeom>
            <a:solidFill>
              <a:srgbClr val="FFFFFF"/>
            </a:solidFill>
            <a:ln w="14288">
              <a:solidFill>
                <a:srgbClr val="B8CBD3"/>
              </a:solidFill>
            </a:ln>
          </p:spPr>
        </p:sp>
        <p:sp>
          <p:nvSpPr>
            <p:cNvPr id="16" name="Ellipse 16"/>
            <p:cNvSpPr/>
            <p:nvPr/>
          </p:nvSpPr>
          <p:spPr>
            <a:xfrm>
              <a:off x="762000" y="3333750"/>
              <a:ext cx="381000" cy="381000"/>
            </a:xfrm>
            <a:prstGeom prst="ellipse">
              <a:avLst/>
            </a:prstGeom>
            <a:solidFill>
              <a:srgbClr val="00A6A6"/>
            </a:solidFill>
            <a:ln>
              <a:noFill/>
            </a:ln>
          </p:spPr>
        </p:sp>
        <p:sp>
          <p:nvSpPr>
            <p:cNvPr id="17" name="TextBox 17"/>
            <p:cNvSpPr txBox="1"/>
            <p:nvPr/>
          </p:nvSpPr>
          <p:spPr>
            <a:xfrm>
              <a:off x="883082" y="342090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18" name="TextBox 18"/>
            <p:cNvSpPr txBox="1"/>
            <p:nvPr/>
          </p:nvSpPr>
          <p:spPr>
            <a:xfrm>
              <a:off x="1287399" y="3430429"/>
              <a:ext cx="269204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Dosya adı uzunluk kuralı</a:t>
              </a:r>
            </a:p>
          </p:txBody>
        </p:sp>
        <p:sp>
          <p:nvSpPr>
            <p:cNvPr id="19" name="TextBox 19"/>
            <p:cNvSpPr txBox="1"/>
            <p:nvPr/>
          </p:nvSpPr>
          <p:spPr>
            <a:xfrm>
              <a:off x="1288542" y="3740468"/>
              <a:ext cx="632584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Dosya güvenlik denetimine, dosya adının uzunluğunu sınırlayan yeni bir</a:t>
              </a:r>
            </a:p>
          </p:txBody>
        </p:sp>
        <p:sp>
          <p:nvSpPr>
            <p:cNvPr id="20" name="TextBox 20"/>
            <p:cNvSpPr txBox="1"/>
            <p:nvPr/>
          </p:nvSpPr>
          <p:spPr>
            <a:xfrm>
              <a:off x="1288542" y="3988118"/>
              <a:ext cx="123135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kural ekleyin.</a:t>
              </a:r>
            </a:p>
          </p:txBody>
        </p:sp>
      </p:grpSp>
      <p:grpSp>
        <p:nvGrpSpPr>
          <p:cNvPr id="28" name="exercise-3"/>
          <p:cNvGrpSpPr/>
          <p:nvPr/>
        </p:nvGrpSpPr>
        <p:grpSpPr>
          <a:xfrm>
            <a:off x="609600" y="4610100"/>
            <a:ext cx="10972800" cy="1257300"/>
            <a:chOff x="609600" y="4610100"/>
            <a:chExt cx="10972800" cy="1257300"/>
          </a:xfrm>
        </p:grpSpPr>
        <p:sp>
          <p:nvSpPr>
            <p:cNvPr id="22" name="Rectangle 22"/>
            <p:cNvSpPr/>
            <p:nvPr/>
          </p:nvSpPr>
          <p:spPr>
            <a:xfrm>
              <a:off x="609600" y="4610100"/>
              <a:ext cx="10972800" cy="1257300"/>
            </a:xfrm>
            <a:prstGeom prst="roundRect">
              <a:avLst>
                <a:gd name="adj" fmla="val 7576"/>
              </a:avLst>
            </a:prstGeom>
            <a:solidFill>
              <a:srgbClr val="FFFFFF"/>
            </a:solidFill>
            <a:ln w="14288">
              <a:solidFill>
                <a:srgbClr val="B8CBD3"/>
              </a:solidFill>
            </a:ln>
          </p:spPr>
        </p:sp>
        <p:sp>
          <p:nvSpPr>
            <p:cNvPr id="23" name="Ellipse 23"/>
            <p:cNvSpPr/>
            <p:nvPr/>
          </p:nvSpPr>
          <p:spPr>
            <a:xfrm>
              <a:off x="762000" y="4743450"/>
              <a:ext cx="381000" cy="381000"/>
            </a:xfrm>
            <a:prstGeom prst="ellipse">
              <a:avLst/>
            </a:prstGeom>
            <a:solidFill>
              <a:srgbClr val="00A6A6"/>
            </a:solidFill>
            <a:ln>
              <a:noFill/>
            </a:ln>
          </p:spPr>
        </p:sp>
        <p:sp>
          <p:nvSpPr>
            <p:cNvPr id="24" name="TextBox 24"/>
            <p:cNvSpPr txBox="1"/>
            <p:nvPr/>
          </p:nvSpPr>
          <p:spPr>
            <a:xfrm>
              <a:off x="883082" y="4830604"/>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25" name="TextBox 25"/>
            <p:cNvSpPr txBox="1"/>
            <p:nvPr/>
          </p:nvSpPr>
          <p:spPr>
            <a:xfrm>
              <a:off x="1287399" y="4840129"/>
              <a:ext cx="330843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KararsizEmailService ve retry</a:t>
              </a:r>
            </a:p>
          </p:txBody>
        </p:sp>
        <p:sp>
          <p:nvSpPr>
            <p:cNvPr id="26" name="TextBox 26"/>
            <p:cNvSpPr txBox="1"/>
            <p:nvPr/>
          </p:nvSpPr>
          <p:spPr>
            <a:xfrm>
              <a:off x="1288542" y="5150168"/>
              <a:ext cx="609239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SahteEmailService yerine, gönderimi her üçüncü denemede başarısız</a:t>
              </a:r>
            </a:p>
          </p:txBody>
        </p:sp>
        <p:sp>
          <p:nvSpPr>
            <p:cNvPr id="27" name="TextBox 27"/>
            <p:cNvSpPr txBox="1"/>
            <p:nvPr/>
          </p:nvSpPr>
          <p:spPr>
            <a:xfrm>
              <a:off x="1288542" y="5397818"/>
              <a:ext cx="621881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olan bir KararsizEmailService yazıp retry mekanizmasıyla birleştirin.</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4799632" cy="668845"/>
            <a:chOff x="609600" y="171450"/>
            <a:chExt cx="4799632"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410926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Kritik kontrol listesi</a:t>
              </a:r>
            </a:p>
          </p:txBody>
        </p:sp>
      </p:grpSp>
      <p:grpSp>
        <p:nvGrpSpPr>
          <p:cNvPr id="13" name="check-1"/>
          <p:cNvGrpSpPr/>
          <p:nvPr/>
        </p:nvGrpSpPr>
        <p:grpSpPr>
          <a:xfrm>
            <a:off x="609600" y="1219200"/>
            <a:ext cx="10972800" cy="914400"/>
            <a:chOff x="609600" y="1219200"/>
            <a:chExt cx="10972800" cy="914400"/>
          </a:xfrm>
        </p:grpSpPr>
        <p:sp>
          <p:nvSpPr>
            <p:cNvPr id="9" name="Rectangle 9"/>
            <p:cNvSpPr/>
            <p:nvPr/>
          </p:nvSpPr>
          <p:spPr>
            <a:xfrm>
              <a:off x="609600" y="1219200"/>
              <a:ext cx="10972800" cy="914400"/>
            </a:xfrm>
            <a:prstGeom prst="roundRect">
              <a:avLst>
                <a:gd name="adj" fmla="val 10417"/>
              </a:avLst>
            </a:prstGeom>
            <a:solidFill>
              <a:srgbClr val="FFFFFF"/>
            </a:solidFill>
            <a:ln w="14288">
              <a:solidFill>
                <a:srgbClr val="B8CBD3"/>
              </a:solidFill>
            </a:ln>
          </p:spPr>
        </p:sp>
        <p:sp>
          <p:nvSpPr>
            <p:cNvPr id="10" name="Rectangle 10"/>
            <p:cNvSpPr/>
            <p:nvPr/>
          </p:nvSpPr>
          <p:spPr>
            <a:xfrm>
              <a:off x="838200" y="1447800"/>
              <a:ext cx="57150" cy="457200"/>
            </a:xfrm>
            <a:prstGeom prst="rect">
              <a:avLst/>
            </a:prstGeom>
            <a:solidFill>
              <a:srgbClr val="00A6A6"/>
            </a:solidFill>
            <a:ln>
              <a:noFill/>
            </a:ln>
          </p:spPr>
        </p:sp>
        <p:sp>
          <p:nvSpPr>
            <p:cNvPr id="11" name="TextBox 11"/>
            <p:cNvSpPr txBox="1"/>
            <p:nvPr/>
          </p:nvSpPr>
          <p:spPr>
            <a:xfrm>
              <a:off x="1058799" y="1468279"/>
              <a:ext cx="415548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Dosya: içeriğe güven, beyana güvenme</a:t>
              </a:r>
            </a:p>
          </p:txBody>
        </p:sp>
        <p:sp>
          <p:nvSpPr>
            <p:cNvPr id="12" name="TextBox 12"/>
            <p:cNvSpPr txBox="1"/>
            <p:nvPr/>
          </p:nvSpPr>
          <p:spPr>
            <a:xfrm>
              <a:off x="1059942" y="1759268"/>
              <a:ext cx="8658525"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Uzantı ve MIME beyanı yeterli değildir; magic number + allowlist + rastgele ad birlikte uygulanır.</a:t>
              </a:r>
            </a:p>
          </p:txBody>
        </p:sp>
      </p:grpSp>
      <p:grpSp>
        <p:nvGrpSpPr>
          <p:cNvPr id="18" name="check-2"/>
          <p:cNvGrpSpPr/>
          <p:nvPr/>
        </p:nvGrpSpPr>
        <p:grpSpPr>
          <a:xfrm>
            <a:off x="609600" y="2286000"/>
            <a:ext cx="10972800" cy="914400"/>
            <a:chOff x="609600" y="2286000"/>
            <a:chExt cx="10972800" cy="914400"/>
          </a:xfrm>
        </p:grpSpPr>
        <p:sp>
          <p:nvSpPr>
            <p:cNvPr id="14" name="Rectangle 14"/>
            <p:cNvSpPr/>
            <p:nvPr/>
          </p:nvSpPr>
          <p:spPr>
            <a:xfrm>
              <a:off x="609600" y="2286000"/>
              <a:ext cx="10972800" cy="914400"/>
            </a:xfrm>
            <a:prstGeom prst="roundRect">
              <a:avLst>
                <a:gd name="adj" fmla="val 10417"/>
              </a:avLst>
            </a:prstGeom>
            <a:solidFill>
              <a:srgbClr val="FFFFFF"/>
            </a:solidFill>
            <a:ln w="14288">
              <a:solidFill>
                <a:srgbClr val="B8CBD3"/>
              </a:solidFill>
            </a:ln>
          </p:spPr>
        </p:sp>
        <p:sp>
          <p:nvSpPr>
            <p:cNvPr id="15" name="Rectangle 15"/>
            <p:cNvSpPr/>
            <p:nvPr/>
          </p:nvSpPr>
          <p:spPr>
            <a:xfrm>
              <a:off x="838200" y="2514600"/>
              <a:ext cx="57150" cy="457200"/>
            </a:xfrm>
            <a:prstGeom prst="rect">
              <a:avLst/>
            </a:prstGeom>
            <a:solidFill>
              <a:srgbClr val="00A6A6"/>
            </a:solidFill>
            <a:ln>
              <a:noFill/>
            </a:ln>
          </p:spPr>
        </p:sp>
        <p:sp>
          <p:nvSpPr>
            <p:cNvPr id="16" name="TextBox 16"/>
            <p:cNvSpPr txBox="1"/>
            <p:nvPr/>
          </p:nvSpPr>
          <p:spPr>
            <a:xfrm>
              <a:off x="1058799" y="2535079"/>
              <a:ext cx="42040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API: her çağrının bir üst sınırı olsun</a:t>
              </a:r>
            </a:p>
          </p:txBody>
        </p:sp>
        <p:sp>
          <p:nvSpPr>
            <p:cNvPr id="17" name="TextBox 17"/>
            <p:cNvSpPr txBox="1"/>
            <p:nvPr/>
          </p:nvSpPr>
          <p:spPr>
            <a:xfrm>
              <a:off x="1059942" y="2826068"/>
              <a:ext cx="6516745"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Zaman aşımı olmayan bir fetch, sunucu soketlerini süresiz işgal edebilir.</a:t>
              </a:r>
            </a:p>
          </p:txBody>
        </p:sp>
      </p:grpSp>
      <p:grpSp>
        <p:nvGrpSpPr>
          <p:cNvPr id="23" name="check-3"/>
          <p:cNvGrpSpPr/>
          <p:nvPr/>
        </p:nvGrpSpPr>
        <p:grpSpPr>
          <a:xfrm>
            <a:off x="609600" y="3352800"/>
            <a:ext cx="10972800" cy="914400"/>
            <a:chOff x="609600" y="3352800"/>
            <a:chExt cx="10972800" cy="914400"/>
          </a:xfrm>
        </p:grpSpPr>
        <p:sp>
          <p:nvSpPr>
            <p:cNvPr id="19" name="Rectangle 19"/>
            <p:cNvSpPr/>
            <p:nvPr/>
          </p:nvSpPr>
          <p:spPr>
            <a:xfrm>
              <a:off x="609600" y="3352800"/>
              <a:ext cx="10972800" cy="914400"/>
            </a:xfrm>
            <a:prstGeom prst="roundRect">
              <a:avLst>
                <a:gd name="adj" fmla="val 10417"/>
              </a:avLst>
            </a:prstGeom>
            <a:solidFill>
              <a:srgbClr val="FFFFFF"/>
            </a:solidFill>
            <a:ln w="14288">
              <a:solidFill>
                <a:srgbClr val="B8CBD3"/>
              </a:solidFill>
            </a:ln>
          </p:spPr>
        </p:sp>
        <p:sp>
          <p:nvSpPr>
            <p:cNvPr id="20" name="Rectangle 20"/>
            <p:cNvSpPr/>
            <p:nvPr/>
          </p:nvSpPr>
          <p:spPr>
            <a:xfrm>
              <a:off x="838200" y="3581400"/>
              <a:ext cx="57150" cy="457200"/>
            </a:xfrm>
            <a:prstGeom prst="rect">
              <a:avLst/>
            </a:prstGeom>
            <a:solidFill>
              <a:srgbClr val="00A6A6"/>
            </a:solidFill>
            <a:ln>
              <a:noFill/>
            </a:ln>
          </p:spPr>
        </p:sp>
        <p:sp>
          <p:nvSpPr>
            <p:cNvPr id="21" name="TextBox 21"/>
            <p:cNvSpPr txBox="1"/>
            <p:nvPr/>
          </p:nvSpPr>
          <p:spPr>
            <a:xfrm>
              <a:off x="1058799" y="3601879"/>
              <a:ext cx="504851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Retry: yalnızca geçici hatada, sınırlı sayıda</a:t>
              </a:r>
            </a:p>
          </p:txBody>
        </p:sp>
        <p:sp>
          <p:nvSpPr>
            <p:cNvPr id="22" name="TextBox 22"/>
            <p:cNvSpPr txBox="1"/>
            <p:nvPr/>
          </p:nvSpPr>
          <p:spPr>
            <a:xfrm>
              <a:off x="1059942" y="3892868"/>
              <a:ext cx="7553821"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Kalıcı hataları (400, 401) tekrar denemek sorunu çözmez, yalnızca kaynak tüketir.</a:t>
              </a:r>
            </a:p>
          </p:txBody>
        </p:sp>
      </p:grpSp>
      <p:grpSp>
        <p:nvGrpSpPr>
          <p:cNvPr id="28" name="check-4"/>
          <p:cNvGrpSpPr/>
          <p:nvPr/>
        </p:nvGrpSpPr>
        <p:grpSpPr>
          <a:xfrm>
            <a:off x="609600" y="4419600"/>
            <a:ext cx="10972800" cy="914400"/>
            <a:chOff x="609600" y="4419600"/>
            <a:chExt cx="10972800" cy="914400"/>
          </a:xfrm>
        </p:grpSpPr>
        <p:sp>
          <p:nvSpPr>
            <p:cNvPr id="24" name="Rectangle 24"/>
            <p:cNvSpPr/>
            <p:nvPr/>
          </p:nvSpPr>
          <p:spPr>
            <a:xfrm>
              <a:off x="609600" y="4419600"/>
              <a:ext cx="10972800" cy="914400"/>
            </a:xfrm>
            <a:prstGeom prst="roundRect">
              <a:avLst>
                <a:gd name="adj" fmla="val 10417"/>
              </a:avLst>
            </a:prstGeom>
            <a:solidFill>
              <a:srgbClr val="EAF4F6"/>
            </a:solidFill>
            <a:ln w="14288">
              <a:solidFill>
                <a:srgbClr val="00A6A6"/>
              </a:solidFill>
            </a:ln>
          </p:spPr>
        </p:sp>
        <p:sp>
          <p:nvSpPr>
            <p:cNvPr id="25" name="Rectangle 25"/>
            <p:cNvSpPr/>
            <p:nvPr/>
          </p:nvSpPr>
          <p:spPr>
            <a:xfrm>
              <a:off x="838200" y="4648200"/>
              <a:ext cx="57150" cy="457200"/>
            </a:xfrm>
            <a:prstGeom prst="rect">
              <a:avLst/>
            </a:prstGeom>
            <a:solidFill>
              <a:srgbClr val="00A6A6"/>
            </a:solidFill>
            <a:ln>
              <a:noFill/>
            </a:ln>
          </p:spPr>
        </p:sp>
        <p:sp>
          <p:nvSpPr>
            <p:cNvPr id="26" name="TextBox 26"/>
            <p:cNvSpPr txBox="1"/>
            <p:nvPr/>
          </p:nvSpPr>
          <p:spPr>
            <a:xfrm>
              <a:off x="1058799" y="4668679"/>
              <a:ext cx="354089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E-posta: asıl işlemi bloklamasın</a:t>
              </a:r>
            </a:p>
          </p:txBody>
        </p:sp>
        <p:sp>
          <p:nvSpPr>
            <p:cNvPr id="27" name="TextBox 27"/>
            <p:cNvSpPr txBox="1"/>
            <p:nvPr/>
          </p:nvSpPr>
          <p:spPr>
            <a:xfrm>
              <a:off x="1059942" y="4959668"/>
              <a:ext cx="800700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Bildirim amaçlı e-postanın başarısızlığı, tamamlanmış bir işlemi geçersiz kılmamalıdır.</a:t>
              </a:r>
            </a:p>
          </p:txBody>
        </p:sp>
      </p:grpSp>
      <p:grpSp>
        <p:nvGrpSpPr>
          <p:cNvPr id="32" name="exam-note"/>
          <p:cNvGrpSpPr/>
          <p:nvPr/>
        </p:nvGrpSpPr>
        <p:grpSpPr>
          <a:xfrm>
            <a:off x="609600" y="5600700"/>
            <a:ext cx="11194084" cy="723900"/>
            <a:chOff x="609600" y="5600700"/>
            <a:chExt cx="11194084" cy="723900"/>
          </a:xfrm>
        </p:grpSpPr>
        <p:sp>
          <p:nvSpPr>
            <p:cNvPr id="29" name="Rectangle 29"/>
            <p:cNvSpPr/>
            <p:nvPr/>
          </p:nvSpPr>
          <p:spPr>
            <a:xfrm>
              <a:off x="609600" y="5600700"/>
              <a:ext cx="10972800" cy="723900"/>
            </a:xfrm>
            <a:prstGeom prst="roundRect">
              <a:avLst>
                <a:gd name="adj" fmla="val 10526"/>
              </a:avLst>
            </a:prstGeom>
            <a:solidFill>
              <a:srgbClr val="12355B"/>
            </a:solidFill>
            <a:ln>
              <a:noFill/>
            </a:ln>
          </p:spPr>
        </p:sp>
        <p:sp>
          <p:nvSpPr>
            <p:cNvPr id="30" name="TextBox 30"/>
            <p:cNvSpPr txBox="1"/>
            <p:nvPr/>
          </p:nvSpPr>
          <p:spPr>
            <a:xfrm>
              <a:off x="906399" y="5716429"/>
              <a:ext cx="1497244"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Sınav Notu</a:t>
              </a:r>
            </a:p>
          </p:txBody>
        </p:sp>
        <p:sp>
          <p:nvSpPr>
            <p:cNvPr id="31" name="TextBox 31"/>
            <p:cNvSpPr txBox="1"/>
            <p:nvPr/>
          </p:nvSpPr>
          <p:spPr>
            <a:xfrm>
              <a:off x="907542" y="5988368"/>
              <a:ext cx="10896142" cy="264033"/>
            </a:xfrm>
            <a:prstGeom prst="rect">
              <a:avLst/>
            </a:prstGeom>
            <a:noFill/>
            <a:ln>
              <a:noFill/>
            </a:ln>
          </p:spPr>
          <p:txBody>
            <a:bodyPr wrap="none" lIns="0" tIns="0" rIns="0" bIns="0" anchor="t" anchorCtr="0">
              <a:spAutoFit/>
            </a:bodyPr>
            <a:lstStyle/>
            <a:p>
              <a:pPr algn="l"/>
              <a:r>
                <a:rPr lang="tr-TR" sz="1350" dirty="0">
                  <a:solidFill>
                    <a:srgbClr val="FFFFFF"/>
                  </a:solidFill>
                  <a:latin typeface="+mn-lt"/>
                  <a:ea typeface="+mn-ea"/>
                  <a:cs typeface="+mn-cs"/>
                </a:rPr>
                <a:t>Dosya güvenliği içeriğe güvenmemekle, API dayanıklılığı timeout ve seçici retry ile, e-posta akışı ise izolasyonla kurulur.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multipart"/>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6604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Multipart/form-data</a:t>
              </a:r>
            </a:p>
          </p:txBody>
        </p:sp>
        <p:sp>
          <p:nvSpPr>
            <p:cNvPr id="8" name="TextBox 8"/>
            <p:cNvSpPr txBox="1"/>
            <p:nvPr/>
          </p:nvSpPr>
          <p:spPr>
            <a:xfrm>
              <a:off x="832104" y="1908810"/>
              <a:ext cx="20543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İkili dosya içeriğini metin</a:t>
              </a:r>
              <a:br/>
              <a:r>
                <a:rPr lang="tr-TR" sz="1200" dirty="0">
                  <a:solidFill>
                    <a:srgbClr val="172B3A"/>
                  </a:solidFill>
                  <a:latin typeface="+mn-lt"/>
                  <a:ea typeface="+mn-ea"/>
                  <a:cs typeface="+mn-cs"/>
                </a:rPr>
                <a:t>alanlarıyla birlikte, base64</a:t>
              </a:r>
              <a:br/>
              <a:r>
                <a:rPr lang="tr-TR" sz="1200" dirty="0">
                  <a:solidFill>
                    <a:srgbClr val="172B3A"/>
                  </a:solidFill>
                  <a:latin typeface="+mn-lt"/>
                  <a:ea typeface="+mn-ea"/>
                  <a:cs typeface="+mn-cs"/>
                </a:rPr>
                <a:t>maliyeti olmadan taşır.</a:t>
              </a:r>
            </a:p>
          </p:txBody>
        </p:sp>
      </p:grpSp>
      <p:grpSp>
        <p:nvGrpSpPr>
          <p:cNvPr id="13" name="summary-security"/>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18703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Dosya güvenliği</a:t>
              </a:r>
            </a:p>
          </p:txBody>
        </p:sp>
        <p:sp>
          <p:nvSpPr>
            <p:cNvPr id="12" name="TextBox 12"/>
            <p:cNvSpPr txBox="1"/>
            <p:nvPr/>
          </p:nvSpPr>
          <p:spPr>
            <a:xfrm>
              <a:off x="4565904" y="1908810"/>
              <a:ext cx="22981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Tür, boyut ve adın sunucu</a:t>
              </a:r>
              <a:br/>
              <a:r>
                <a:rPr lang="tr-TR" sz="1200" dirty="0">
                  <a:solidFill>
                    <a:srgbClr val="172B3A"/>
                  </a:solidFill>
                  <a:latin typeface="+mn-lt"/>
                  <a:ea typeface="+mn-ea"/>
                  <a:cs typeface="+mn-cs"/>
                </a:rPr>
                <a:t>tarafında yeniden</a:t>
              </a:r>
              <a:br/>
              <a:r>
                <a:rPr lang="tr-TR" sz="1200" dirty="0">
                  <a:solidFill>
                    <a:srgbClr val="172B3A"/>
                  </a:solidFill>
                  <a:latin typeface="+mn-lt"/>
                  <a:ea typeface="+mn-ea"/>
                  <a:cs typeface="+mn-cs"/>
                </a:rPr>
                <a:t>değerlendirilmesini gerektirir.</a:t>
              </a:r>
            </a:p>
          </p:txBody>
        </p:sp>
      </p:grpSp>
      <p:grpSp>
        <p:nvGrpSpPr>
          <p:cNvPr id="17" name="summary-restapi"/>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18613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Harici REST API</a:t>
              </a:r>
            </a:p>
          </p:txBody>
        </p:sp>
        <p:sp>
          <p:nvSpPr>
            <p:cNvPr id="16" name="TextBox 16"/>
            <p:cNvSpPr txBox="1"/>
            <p:nvPr/>
          </p:nvSpPr>
          <p:spPr>
            <a:xfrm>
              <a:off x="8299704" y="1908810"/>
              <a:ext cx="23667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Durumsuzluk ve idempotency,</a:t>
              </a:r>
              <a:br/>
              <a:r>
                <a:rPr lang="tr-TR" sz="1200" dirty="0">
                  <a:solidFill>
                    <a:srgbClr val="172B3A"/>
                  </a:solidFill>
                  <a:latin typeface="+mn-lt"/>
                  <a:ea typeface="+mn-ea"/>
                  <a:cs typeface="+mn-cs"/>
                </a:rPr>
                <a:t>isteğin güvenle tekrarlanıp</a:t>
              </a:r>
              <a:br/>
              <a:r>
                <a:rPr lang="tr-TR" sz="1200" dirty="0">
                  <a:solidFill>
                    <a:srgbClr val="172B3A"/>
                  </a:solidFill>
                  <a:latin typeface="+mn-lt"/>
                  <a:ea typeface="+mn-ea"/>
                  <a:cs typeface="+mn-cs"/>
                </a:rPr>
                <a:t>tekrarlanamayacağını belirler.</a:t>
              </a:r>
            </a:p>
          </p:txBody>
        </p:sp>
      </p:grpSp>
      <p:grpSp>
        <p:nvGrpSpPr>
          <p:cNvPr id="21" name="summary-timeout"/>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9929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Timeout</a:t>
              </a:r>
            </a:p>
          </p:txBody>
        </p:sp>
        <p:sp>
          <p:nvSpPr>
            <p:cNvPr id="20" name="TextBox 20"/>
            <p:cNvSpPr txBox="1"/>
            <p:nvPr/>
          </p:nvSpPr>
          <p:spPr>
            <a:xfrm>
              <a:off x="832104" y="3718560"/>
              <a:ext cx="22448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Sunucunun süresiz beklemesini</a:t>
              </a:r>
              <a:br/>
              <a:r>
                <a:rPr lang="tr-TR" sz="1200" dirty="0">
                  <a:solidFill>
                    <a:srgbClr val="172B3A"/>
                  </a:solidFill>
                  <a:latin typeface="+mn-lt"/>
                  <a:ea typeface="+mn-ea"/>
                  <a:cs typeface="+mn-cs"/>
                </a:rPr>
                <a:t>önler; AbortController ile</a:t>
              </a:r>
              <a:br/>
              <a:r>
                <a:rPr lang="tr-TR" sz="1200" dirty="0">
                  <a:solidFill>
                    <a:srgbClr val="172B3A"/>
                  </a:solidFill>
                  <a:latin typeface="+mn-lt"/>
                  <a:ea typeface="+mn-ea"/>
                  <a:cs typeface="+mn-cs"/>
                </a:rPr>
                <a:t>uygulanır.</a:t>
              </a:r>
            </a:p>
          </p:txBody>
        </p:sp>
      </p:grpSp>
      <p:grpSp>
        <p:nvGrpSpPr>
          <p:cNvPr id="25" name="summary-retry"/>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7258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Retry</a:t>
              </a:r>
            </a:p>
          </p:txBody>
        </p:sp>
        <p:sp>
          <p:nvSpPr>
            <p:cNvPr id="24" name="TextBox 24"/>
            <p:cNvSpPr txBox="1"/>
            <p:nvPr/>
          </p:nvSpPr>
          <p:spPr>
            <a:xfrm>
              <a:off x="4565904" y="3718560"/>
              <a:ext cx="21381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Yalnızca geçici hatalarda,</a:t>
              </a:r>
              <a:br/>
              <a:r>
                <a:rPr lang="tr-TR" sz="1200" dirty="0">
                  <a:solidFill>
                    <a:srgbClr val="172B3A"/>
                  </a:solidFill>
                  <a:latin typeface="+mn-lt"/>
                  <a:ea typeface="+mn-ea"/>
                  <a:cs typeface="+mn-cs"/>
                </a:rPr>
                <a:t>üstel geri çekilme ile sınırlı</a:t>
              </a:r>
              <a:br/>
              <a:r>
                <a:rPr lang="tr-TR" sz="1200" dirty="0">
                  <a:solidFill>
                    <a:srgbClr val="172B3A"/>
                  </a:solidFill>
                  <a:latin typeface="+mn-lt"/>
                  <a:ea typeface="+mn-ea"/>
                  <a:cs typeface="+mn-cs"/>
                </a:rPr>
                <a:t>sayıda uygulanmalıdır.</a:t>
              </a:r>
            </a:p>
          </p:txBody>
        </p:sp>
      </p:grpSp>
      <p:grpSp>
        <p:nvGrpSpPr>
          <p:cNvPr id="29" name="summary-email"/>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07419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E-posta bildirimi</a:t>
              </a:r>
            </a:p>
          </p:txBody>
        </p:sp>
        <p:sp>
          <p:nvSpPr>
            <p:cNvPr id="28" name="TextBox 28"/>
            <p:cNvSpPr txBox="1"/>
            <p:nvPr/>
          </p:nvSpPr>
          <p:spPr>
            <a:xfrm>
              <a:off x="8299704" y="3718560"/>
              <a:ext cx="23286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Asıl iş akışını bloklamayan,</a:t>
              </a:r>
              <a:br/>
              <a:r>
                <a:rPr lang="tr-TR" sz="1200" dirty="0">
                  <a:solidFill>
                    <a:srgbClr val="172B3A"/>
                  </a:solidFill>
                  <a:latin typeface="+mn-lt"/>
                  <a:ea typeface="+mn-ea"/>
                  <a:cs typeface="+mn-cs"/>
                </a:rPr>
                <a:t>hatası ayrı ele alınan bir</a:t>
              </a:r>
              <a:br/>
              <a:r>
                <a:rPr lang="tr-TR" sz="1200" dirty="0">
                  <a:solidFill>
                    <a:srgbClr val="172B3A"/>
                  </a:solidFill>
                  <a:latin typeface="+mn-lt"/>
                  <a:ea typeface="+mn-ea"/>
                  <a:cs typeface="+mn-cs"/>
                </a:rPr>
                <a:t>servis olarak tasarlanmalıdır.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1003827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Dış dünyayla her etkileşim, başarısız olabileceği varsayılarak tasarlanmalıdır.</a:t>
              </a:r>
            </a:p>
          </p:txBody>
        </p:sp>
        <p:sp>
          <p:nvSpPr>
            <p:cNvPr id="32" name="TextBox 32"/>
            <p:cNvSpPr txBox="1"/>
            <p:nvPr/>
          </p:nvSpPr>
          <p:spPr>
            <a:xfrm>
              <a:off x="906399" y="5583079"/>
              <a:ext cx="1047740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Kendi veritabanınızdaki bir işlem neredeyse her zaman başarılı olur; ağ, dosya ve e-posta ise değil.</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096185" cy="724281"/>
            <a:chOff x="599694" y="1484948"/>
            <a:chExt cx="9096185" cy="724281"/>
          </a:xfrm>
        </p:grpSpPr>
        <p:sp>
          <p:nvSpPr>
            <p:cNvPr id="7" name="TextBox 7"/>
            <p:cNvSpPr txBox="1"/>
            <p:nvPr/>
          </p:nvSpPr>
          <p:spPr>
            <a:xfrm>
              <a:off x="599694" y="1484948"/>
              <a:ext cx="9096185"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Backend artık dış dünyayla dosya, API ve e-posta üzerinden güvenli biçimde</a:t>
              </a:r>
              <a:br/>
              <a:r>
                <a:rPr lang="tr-TR" sz="1950" dirty="0">
                  <a:solidFill>
                    <a:srgbClr val="172B3A"/>
                  </a:solidFill>
                  <a:latin typeface="+mn-lt"/>
                  <a:ea typeface="+mn-ea"/>
                  <a:cs typeface="+mn-cs"/>
                </a:rPr>
                <a:t>konuşabiliyor. Sıradaki adım bu davranışı belgelemek ve doğrulamaktır.</a:t>
              </a:r>
            </a:p>
          </p:txBody>
        </p:sp>
      </p:grpSp>
      <p:grpSp>
        <p:nvGrpSpPr>
          <p:cNvPr id="14" name="bridge-now"/>
          <p:cNvGrpSpPr/>
          <p:nvPr/>
        </p:nvGrpSpPr>
        <p:grpSpPr>
          <a:xfrm>
            <a:off x="599694" y="2799398"/>
            <a:ext cx="3345688" cy="1834419"/>
            <a:chOff x="599694" y="2799398"/>
            <a:chExt cx="3345688"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29349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Dosyayı güvenli biçimde</a:t>
              </a:r>
              <a:br/>
              <a:r>
                <a:rPr lang="tr-TR" sz="1580" dirty="0">
                  <a:solidFill>
                    <a:srgbClr val="172B3A"/>
                  </a:solidFill>
                  <a:latin typeface="+mn-lt"/>
                  <a:ea typeface="+mn-ea"/>
                  <a:cs typeface="+mn-cs"/>
                </a:rPr>
                <a:t>yükleyip doğrulamak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309613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Zaman aşımı, retry ve e-posta</a:t>
              </a:r>
              <a:br/>
              <a:r>
                <a:rPr lang="tr-TR" sz="1580" dirty="0">
                  <a:solidFill>
                    <a:srgbClr val="172B3A"/>
                  </a:solidFill>
                  <a:latin typeface="+mn-lt"/>
                  <a:ea typeface="+mn-ea"/>
                  <a:cs typeface="+mn-cs"/>
                </a:rPr>
                <a:t>izolasyonunu tasarlamak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3068241"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OpenAPI belgeleme ve</a:t>
              </a:r>
              <a:br/>
              <a:r>
                <a:rPr lang="tr-TR" sz="2250" b="1" dirty="0">
                  <a:solidFill>
                    <a:srgbClr val="FFFFFF"/>
                  </a:solidFill>
                  <a:latin typeface="+mn-lt"/>
                  <a:ea typeface="+mn-ea"/>
                  <a:cs typeface="+mn-cs"/>
                </a:rPr>
                <a:t>otomatik testler</a:t>
              </a:r>
            </a:p>
          </p:txBody>
        </p:sp>
        <p:sp>
          <p:nvSpPr>
            <p:cNvPr id="18" name="TextBox 18"/>
            <p:cNvSpPr txBox="1"/>
            <p:nvPr/>
          </p:nvSpPr>
          <p:spPr>
            <a:xfrm>
              <a:off x="7307199" y="4135279"/>
              <a:ext cx="3637915"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Sonuc&lt;T&gt; deseni, yazılacak testlerin</a:t>
              </a:r>
              <a:br/>
              <a:r>
                <a:rPr lang="tr-TR" sz="1580" dirty="0">
                  <a:solidFill>
                    <a:srgbClr val="EAF4F6"/>
                  </a:solidFill>
                  <a:latin typeface="+mn-lt"/>
                  <a:ea typeface="+mn-ea"/>
                  <a:cs typeface="+mn-cs"/>
                </a:rPr>
                <a:t>beklenen davranışını netleştirecek.</a:t>
              </a:r>
            </a:p>
          </p:txBody>
        </p:sp>
      </p:grpSp>
      <p:grpSp>
        <p:nvGrpSpPr>
          <p:cNvPr id="23" name="bridge-closing"/>
          <p:cNvGrpSpPr/>
          <p:nvPr/>
        </p:nvGrpSpPr>
        <p:grpSpPr>
          <a:xfrm>
            <a:off x="609600" y="5429250"/>
            <a:ext cx="10972800" cy="709518"/>
            <a:chOff x="609600" y="5429250"/>
            <a:chExt cx="10972800" cy="709518"/>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88936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Her dış etkileşimde sonucu açıkça modelleyin, bir üst sınır tanımlayın</a:t>
              </a:r>
            </a:p>
          </p:txBody>
        </p:sp>
        <p:sp>
          <p:nvSpPr>
            <p:cNvPr id="22" name="TextBox 22"/>
            <p:cNvSpPr txBox="1"/>
            <p:nvPr/>
          </p:nvSpPr>
          <p:spPr>
            <a:xfrm>
              <a:off x="906399" y="5830729"/>
              <a:ext cx="532285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ve hatanın geçici mi kalıcı mı olduğunu ayırt edin.</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12-files-email-external-api-20260916">
  <a:themeElements>
    <a:clrScheme name="b12-files-email-external-ap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2-files-email-external-ap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2-files-email-external-ap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12-files-email-external-api-20260916">
  <a:themeElements>
    <a:clrScheme name="b12-files-email-external-ap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2-files-email-external-ap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2-files-email-external-ap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2026-09-19T21:22:02Z</dcterms:created>
  <dcterms:modified xsi:type="dcterms:W3CDTF">2026-09-19T21:22:02Z</dcterms:modified>
  <cp:category/>
  <cp:contentStatus/>
</cp:coreProperties>
</file>