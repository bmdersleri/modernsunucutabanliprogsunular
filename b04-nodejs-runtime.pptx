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JavaScript bilgimizi tarayıcı penceresinin dışına taşıyoruz. Tarayıcıda JavaScript çoğunlukla butonlara tepki verir, sayfadaki metni değiştirir veya kullanıcı girdisini doğrular; Node.js ise aynı dili terminalde, web sunucusunda, dosya işlemlerinde ve ağ iletişiminde kullanmamızı sağlar. Bölümün sonunda TypeScript kullanan küçük bir Node.js projesi kuracak, komutlarını npm ile çalıştıracak ve ortam değişkeniyle yapılandırılan temel bir HTTP sunucusu yazabileceksiniz. Bölüm boyunca bir restoran mutfağı benzetmesini aklınızda tutun: aşçı fırında pişecek yemeği fırına verir ve beklemeden başka siparişlerle ilgilenir, yemek hazır olduğunda mutfak ekibi kendisine haber verir. Node.js de bekleme gerektiren dosya, ağ veya zamanlayıcı işlerini uygun sisteme devreder ve sonuç hazır olduğunda ilgili kodu yeniden çalıştırır.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Buradaki amaç terim ezberlemek değil, küçük fakat gerçekçi bir sunucu uygulamasını kurup çalıştırabilmektir. Yedi davranışın hepsi birbirini tamamlar: runtime ile dili ayırt edemezseniz event loop tartışması havada kalır, npm ve package.json alanlarını tanımazsanız projeyi başka bir makinede aynı şekilde kuramazsınız. Başarının yalnızca sunucunun başlamasıyla ölçülmediğini özellikle vurgulayın; sunucunun istek aldığında anlamlı yanıt vermesi, portunu ortam değişkeninden okuyabilmesi ve geçersiz ayarları anlaşılır biçimde bildirmesi de değerlendirmeye girer. Sağdaki dört ölçüt bunun için var: programın çalışması, proje yapısının doğruluğu, kodun açıklanabilmesi ve yapılandırmanın güvenli yönetilmesi. Alttaki kutudaki örnek ayrımı iyi anlatır: PORT değişkeni hiç tanımlı değilken uygulamanın varsayılan portla açılması kabul edilebilir bir tasarımdır, ancak merhaba gibi geçersiz bir port değeriyle sessizce çalışmaya devam etmesi kabul edilemez. Eksik ayar ile hatalı ayar farklı şeylerdir; birincisi güvenli varsayılana düşer, ikincisi açık hata üretmelidir.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 bölümün yol haritasıdır; geri kalan sayfalar bu şemanın parçalarını tek tek açar. Node.js runtime en üstte durur çünkü diğer dört kavramın üzerinde çalıştığı temel ortam odur. Soldaki sütun yapılandırmayı taşır: npm ve package.json projenin bağımlılıklarını ve komutlarını tanımlar, process ve ortam değişkenleri ise uygulamaya çalıştığı ortamın bilgisini verir. Sağdaki sütun çalışma anını taşır: event loop bekleyen giriş çıkış işlerini sıraya alır, HTTP sunucusu da istekleri karşılayıp yanıt üretir. Ok tiplerinin ayrımı önemlidir; düz oklar runtime'ın sağladığı temel yetenekleri gösterir, kesikli oklar ise yapılandırma bilgisinin sunucu davranışını nasıl etkilediğini anlatır. Yani ortam değişkenleri sunucunun portunu ve davranışını, npm betikleri de sunucunun nasıl başlatıldığını belirler. Son olarak bu bilginin somut bir karşılığı olduğunu hatırlatın: Üniversite Laboratuvar Yönetim Sistemi'nin sunucu süreci tam olarak bu ilkelerle ayakta tutulur.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her kavramın ne yaptığı kadar ne yapmadığını da netleştirmek için hazırlandı; mimari tartışmalarda asıl yanlış anlaşılmalar sorumluluk sınırlarında doğar. Runtime satırında kritik nokta şudur: Node.js işlemci yoğun ağır hesaplamaları ana iş parçacığını bloke etmeden çalıştırma garantisi vermez, bu onun hatası değil tasarım sınırıdır. Event loop satırı da benzer biçimde okunmalı; event loop kendi başına çok çekirdekli paralelleştirme yapmaz ve senkron bir döngü tüm sunucu isteklerini dondurabilir. npm paketleri indirir ve yönetir ama indirdiği kodu çalıştırmaz, üçüncü taraf koddaki güvenlik açıklarını da otomatik düzeltmez; bu ayrım tedarik zinciri güvenliği tartışmalarının başlangıç noktasıdır. package.json yalnızca hangi paketin hangi sürümle kurulacağını bildirir, paketlerin fiziksel kaynak kodunu barındırmaz. process satırında öğrencilerin en çok şaşırdığı nokta, sürecin işletim sistemi düzeyinde yeniden başlatılmasının process nesnesinin işi olmadığıdır; bu systemd veya Docker görevidir. Ortam değişkenleri de değerin biçimini veya güvenliğini tek başına doğrulamaz, doğrulama geliştiricinin sorumluluğudur. Son sütunu atlamayın: her satırın olmazsa ne olur karşılığı, o kavramın neden var olduğunu en hızlı anlatan şeydir.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Tanımla başlayın: Node.js bir JavaScript kütüphanesi değildir, JavaScript kodunu işletim sistemi üzerinde çalıştıran açık kaynaklı bir çalışma zamanıdır. V8 motorunu kullanır ve bunun çevresine dosya sistemi, ağ, süreç yönetimi ve zamanlayıcı gibi sunucu tarafı yetenekleri ekler. Sezgisel bir benzetme yardımcı olur: JavaScript dili bir ustanın bildiği yöntemlerdir, Node.js ise bu yöntemlerin uygulanacağı terminal, ağ ve dosya araçlarını sunan atölyedir; aynı dil bilgisiyle çok farklı işler yapılabilir. İki sütunun altındaki italik satırlar sayfanın asıl fikrini taşır: tarayıcıda process tanımlı değildir, Node.js'te ise document tanımlı değildir. Bu yüzden document veya window gibi tarayıcı nesneleri Node.js'te varsayılan olarak bulunmaz. Alttaki şerit de ikisinin rakip olmadığını hatırlatır; ortak taban JavaScript dili ve V8 motorudur, fark çalıştıkları ortamdadır. Aynı projede ikisi birlikte de kullanılabilir: tarayıcı arayüzü istemciyi, Node.js sunucuyu oluşturur.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Node.js'in mimarisini ezberlenecek bir özellik listesi gibi değil, belirli bir soruna verilmiş yanıt gibi anlatın. Ryan Dahl Node.js'i iki bin dokuz yılında JSConf Avrupa'da tanıttığında temel motivasyonu, Apache gibi dönemin web sunucularının engelleyici giriş çıkış modelinin çok sayıda eşzamanlı bağlantıda iş parçacığı başına yüksek bellek maliyetine yol açmasıydı. Çözümü, Google'ın Chrome için geliştirdiği V8 motorunu sunucu tarafına taşımak ve bunu engellemeyen, olay güdümlü bir giriş çıkış modeliyle birleştirmekti. Bu, on bin eşzamanlı bağlantıyı verimli yönetme zorluğu olarak bilinen C10K problemine dönemin alternatif bir yanıtıydı. Zaman çizgisinin en soldaki durağı kuramsal temeli verir: Douglas Schmidt'in bin dokuz yüz doksan beş tarihli çalışmasında tanımladığı Reactor deseninde tek bir iş parçacığı birden fazla giriş çıkış kaynağını izler ve olay geldikçe ilgili işleyiciyi tetikler. libuv kütüphanesi bu deseni işletim sistemi düzeyinde epoll, kqueue ve IOCP ile uygular. Alttaki şeridin cümlesini net kurun: Node.js tek iş parçacıklı olsa da, giriş çıkış bekleme sürelerini bloklamadan çok sayıda eşzamanlı isteği yönetebilmesinin nedeni tam olarak budur.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ilk programın amacı basit ama kritiktir: çalışan programın kendi çalışma ortamı hakkında bilgi verebildiğini göstermek. Koda geçmeden önce projenin nasıl kurulduğunu hatırlatın; npm init eksi y komutu soru sormadan varsayılan değerlerle bir package.json oluşturur, ardından gelen kurulum komutundaki save-dev bayrağı ise bu paketlerin yalnızca geliştirme sırasında gerekli olduğunu belirtir, yani üretim bağımlılıklarına dahil edilmezler. tsx paketi ayrı bir derleme adımı olmadan TypeScript dosyalarını doğrudan çalıştırmayı sağlar. Sağdaki üç kritik satırda en sık karıştırılan nokta ikincisidir: process.cwd programın işletim sistemi düzeyinde hangi klasörden başlatıldığını döndürür, çalıştırılan dosyanın kendi konumunu değil. Dosyanın yolu üçüncü satırdaki komut satırı argümanları dizisinden gelir. Ayrıca types bölü node paketinin neden zorunlu olduğunu söyleyin: process ve os gibi Node.js yerleşik nesnelerinin TypeScript tarafından tanınması bu pakete bağlıdır, eksik olursa derleyici bu nesneleri bilmez. Dikkat kutusu bölümün ana tezini tekrar eder; process yalnızca Node.js runtime'ında bulunur, aynı kod tarayıcıda çalıştırılamaz.</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 iki şey öğretiliyor: Node.js ile birlikte gelen modüllerin varlığı ve bunları içe aktarırken kullanılan node öneki. os modülü işletim sistemi bilgisine erişim sağlar; platform fonksiyonu kodun çalıştığı anda işletim sistemi adını döndürür, örneğin win32, linux veya darwin, arch fonksiyonu ise işlemci mimarisini döndürerek platforma özgü davranışların tespitine imkan verir. node öneki üzerinde özellikle durun: bu önek, kullanılan modülün dışarıdan indirilmiş bir paket değil, doğrudan Node.js ile gelen bir modül olduğunu açıkça belirtir. Büyük projelerde bağımlılıkların kaynağını anlamayı kolaylaştırdığı için bu yazım biçimi tercih edilir. Üçüncü sütundaki içe aktarma biçimi de package.json içindeki type alanıyla ilişkilidir, o alanı iki sayfa sonra ayrıntılı göreceğiz. Alttaki dikkat satırını atlamayın: node önekli içe aktarma yalnızca Node.js'in modül çözümleyicisi tarafından desteklenir, bu nedenle tarayıcıya gönderilecek kodda kullanılmamalıdır.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bir teknoloji savunması değil, bir seçim çerçevesidir. Node.js giriş çıkış ağırlıklı işler, API sunucuları, gerçek zamanlı bildirimler, komut satırı araçları ve otomasyon görevleri için güçlü bir seçenektir; çünkü bu işlerde uygulama sürekli dosya, ağ veya veritabanı yanıtı bekler ve event loop yaklaşımı bu beklemeyi değerlendirir. Buna karşılık uzun süren, işlemciyi yoğun kullanan hesaplamalarda dikkatli olmak gerekir: büyük görüntü işleme, ağır matematiksel hesaplama veya uzun süreli sıkıştırma ana JavaScript iş parçacığını meşgul eder. Bu durumda işçi süreçleri, kuyruk sistemleri veya hesaplama için daha uygun araçlar değerlendirilmelidir. Alttaki tabloda alternatifleri rakip olarak değil farklı çalışma ortamları olarak sunun. Python okunabilirliği ve bilimsel ekosistemiyle, Java kurumsal ekosistemi ve güçlü tür sistemiyle öne çıkar, Deno ise modern güvenlik yaklaşımı ve TypeScript desteği sunar ama paket uyumluluğu Node kadar geniş olmayabilir. Kapanışta bir benzetme işe yarar: bir bisiklet ve bir kamyon aynı ulaşım ihtiyacına hizmet eder, seçimi yük miktarı ve yol koşulları belirler.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en çok yanlış anlaşılan konusunu düzeltir. Üstteki ilk hata hızlı geçilebilir: Node.js ortamında document kullanmak terminalde ReferenceError üretir, doğru yaklaşım Node.js'in sunduğu API'leri kullanmak veya DOM gerektiren kodu tarayıcı tarafına taşımaktır. Asıl mesele alttaki üç kutudur, çünkü node dosya nokta ts komutunda birbirine karıştırılan üç ayrı iş vardır. Birincisi tür silme: Node.js yirmi dört, TypeScript dosyalarındaki tür ek açıklamalarını çalıştırmadan önce siler ve kalan JavaScript'i çalıştırır, dolayısıyla çoğu dosya doğrudan çalışır ve ayrı bir tsx veya derleme adımı şart değildir. İkincisi tür denetimi: tür silme türleri kontrol etmez, yalnızca atar. Örneğin port değişkenine sayı türü verip içine metin yazarsanız Node bunu sorunsuz çalıştırır; türlerin doğruluğunu görmek için tsc noEmit çalıştırmanız gerekir. Bu yüzden Node ile çalıştı ifadesi tür güvenli anlamına gelmez. Üçüncüsü desteklenmeyen sözdizimi: tür silme yalnızca silinebilen şeyleri siler, yapıcı parametresinde tanımlanan alanlar, enum ve namespace gerçek bir dönüşüm gerektirdiği için Node bunları çalıştıramaz ve desteklenmeyen TypeScript sözdizimi hatası verir. Üçüncü bir hata olarak sürüm uyumsuzluğunu da ekleyin; node version komutuyla sürümü kontrol edin, özellikle ESM ve yeni standart kütüphane özelliklerinde sürüm farkı önemlidir.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Event loop, Node.js'in olayları ve tamamlanan asenkron işleri uygun sırayla işleyen mekanizmasıdır. Soldaki akış şemasını okurken ayrımı net kurun: senkron adım doğrudan tamamlanır, asenkron adım ise ilgili sisteme devredilir ve program bu sırada durmaz. İş bittiğinde sonuç callback kuyruğuna girer, event loop de uygun zamanda bu işi ana yürütme akışına geri verir. Sağdaki mutfak benzetmesi bunu somutlaştırır; aşçı fırının önünde dakikalarca beklemez, fırın işi bitirince sipariş panosuna hazır notu düşer ve aşçı uygun olduğunda o siparişi tamamlar. Bu modelin neden önemli olduğunu HTTP sunucusu üzerinden anlatın: bir istemcinin veritabanı veya uzak servis yanıtını beklemesi, diğer istemcilerin basit isteklerine yanıt verilmesini engellememelidir. Ağ yanıtının yüzlerce milisaniye sürdüğü bir sistemde programın bu sırada hiçbir şey yapmaması kaynak israfıdır. Alttaki ipucunu vurgulayarak kapatın: asenkronluk aynı anda her şeyi JavaScript'in yapması demek değildir, bekleme gerektiren işlerin programı gereksizce durdurmamasıdır.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Event loop'un bir turu rastgele çalışmaz, birbirini sabit sırayla izleyen aşamalardan oluşur. timers aşamasında zamanlayıcı geri çağrımları, pending aşamasında ertelenen sistem geri çağrımları, poll aşamasında yeni giriş çıkış olayları, check aşamasında setImmediate ile kaydedilenler, close aşamasında da soket kapanışı gibi olaylar işlenir. Poll kutusunun altındaki not kritik bir ayrıntıyı anlatır: kuyruk boşken döngü boşa dönmez, yeni bir olay gelene kadar orada bekler. Turun sonundaki kesikli dönüş oku döngünün yeniden başladığını gösterir; süreç ise yalnızca hiçbir aşamada bekleyen iş kalmadığında sonlanır. Alttaki karşılaştırma sınavlarda sık sorulan bir ayrımı netleştirir: setTimeout sıfır milisaniyeyle yazılsa bile timers aşamasında, setImmediate ise check aşamasında çalışır. Bu iki çağrı ana modülde yan yana yazıldığında hangisinin önce çalışacağı süreç başlangıç gecikmesine bağlı olarak değişebilir, ancak bir giriş çıkış geri çağrısının içinde yazıldıklarında setImmediate her zaman önce çalışır. Bu kural, aşamaların sırasını hatırlayan biri için doğal bir sonuçtur.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çıktının neden kodun yazılış sırasından farklı oluştuğunu gösterir. İlk console.log hemen çalışır, setTimeout çağrısı callback'i o anda çalıştırmaz ve yalnızca en az bin milisaniye sonra çalıştırılmak üzere zamanlayıcı kuyruğuna kaydeder, son console.log da senkron olduğu için hemen çalışır. Bu yüzden terminalde önce bir ve iki numaralı satırlar, en sonda üç numaralı satır görünür. Sağdaki üç adımı okurken şu cümleyi kurun: sıralama kodun yazıldığı yerden değil, senkron ve asenkron ayrımından kaynaklanır. Süre sıfır yazılsa bile callback mevcut senkron kodun tamamlanmasını bekler, çünkü zamanlayıcı geri çağrısı ancak ana çağrı yığını boşaldıktan sonra çalıştırılabilir. Alttaki kuramsal not ileri düzey bir ayrımı ekler: mikro görev kuyruğu, yani Promise geri çağrımları, her zaman makro görev kuyruğundan, yani zamanlayıcı ve giriş çıkış işlerinden önce boşaltılır. Bu sıralamayı bilmek asenkron kodun çalışma sırasını doğru tahmin edebilmenin anahtarıdır. İsterseniz modelin adını da verin: bu, işletim sisteminin iş parçacığını zorla kestiği tercihli zamanlamanın aksine, görevin kontrolü kendi isteğiyle geri verdiği işbirlikçi çoklu görev modelidir.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örnekte siparisHazirla fonksiyonu gelecekte tamamlanacak bir Promise üretir, mutfagiYonet ise async olarak işaretlendiği için içinde await kullanabilir. Çıktının sırası sayfanın asıl fikrini taşır: önce hazırlık mesajı, sonra mutfağın başka siparişleri karşıladığı mesajı, en sonda sipariş hazır mesajı görünür. Sağdaki kutunun cümlesini net kurun: await yalnızca içinde bulunduğu async fonksiyonun devamını bekletir, tüm Node.js programını kilitlemez. Bu yüzden son satırdaki mesaj, bekleyen işten önce ekrana gelir. Alttaki iki kart en sık yapılan hatayı karşılaştırır; await unutulduğunda fonksiyonun sonucu yerine bekleyen bir Promise nesnesi yazdırılır, doğru kullanımda ise await gerçek metin sonucunu alır. Üçüncü hatayı da mutlaka söyleyin: reddedilebilecek bir Promise'i try catch olmadan çağırmak. Ağ ve dosya işlemleri başarısız olabilir, bu yüzden hata yolu normal akış kadar tasarlanmalıdır.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bir tercih sıralaması değil, bağlama göre seçim rehberidir. Callback eski API'lerle uyumludur ama iç içe yapı okunabilirliği azaltabilir, Promise zincirleme ve hata yönetimini kolaylaştırır ancak yanlış kurulan bir zincirde hata yutulabilir. async await senkron görünümlü okunabilir bir akış verir, karşılığında hatalar için try catch gerektirir; uygulama düzeyi iş akışlarında genellikle en uygun seçenektir. Senkron API basit ve doğrusal kod sağlar ama bekletici giriş çıkış programı durdurur, bu yüzden yalnızca başlangıç aşaması ve küçük betikler için uygundur. Worker thread ise işlemci yükünü ayırabilir, karşılığında iletişim ve tasarım maliyeti getirir. Alttaki paragraf iki yaygın aşırılığı dengeler: küçük ve anında tamamlanan hesaplamalarda senkron kod daha okunaklı olabilir, iki sayının toplamını Promise içine sarmak gereksizdir; öte yandan çok uzun işlemci hesaplamalarında setTimeout kullanmak sorunu çözmez, çünkü hesaplama başladığında ana iş parçacığı yine meşgul olur. Asenkronluğu sadece modern göründüğü için kullanmanın kod akışını karmaşıklaştırdığını özellikle söyleyin.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sayfanın tek amacı sık karıştırılan iki şeyi ayırmaktır. npm bir paket yöneticisidir, yani bir eylem aracıdır: paket kurar, kaldırır, sürümler ve komut çalıştırır. package.json ise bir manifest dosyasıdır, yani bir bildirimdir: projenin adını, sürümünü, bağımlılıklarını ve betiklerini taşır. Okul kulübü benzetmesi bu ayrımı kalıcı kılar; npm malzeme sorumlusuna, package.json ise kulübün ihtiyaç listesi ve etkinlik takvimine benzer. Sorumlu ihtiyaçları getirir, liste ise hangi malzemelerin ve hangi görevlerin gerektiğini tanımlar. Betiklerin neden önemli olduğunu da ekleyin: bir ekip üyesinin tsx ile bir komut yazması, diğerinin farklı bir komut kullanması yerine herkes aynı npm run komutunu çalıştırabilir, böylece nasıl başlatılır bilgisi kişinin hafızasından proje dosyasına taşınır. Alttaki şeritte package-lock dosyasını tanıtın: kurulan bağımlılıkların kesin sürüm ağacını kaydeder ve farklı bilgisayarlarda daha tutarlı kurulumlar yapılmasını sağlar. Bu dosyayı bir sonraki sayfada daha ayrıntılı ele alacağız.</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İki dosyayı yan yana göstermenin nedeni, birinin projeyi diğerinin derleyiciyi tanımlamasıdır. package.json tarafında name ve version paketin kimliğidir; küçük projelerde bile dosya bir kimlik kartı işlevi görür. type alanı module olarak ayarlandığında JavaScript çıktılarının ESM yaklaşımıyla yorumlanmasına yardım eder. scripts alanındaki anahtarlar npm run gelistir ve npm run kontrol biçiminde çalıştırılır; bu alan tekrar üretilebilirliğin en pratik aracıdır. devDependencies ise geliştirme sırasında gereken araçları içerir: TypeScript derleyicisi ve tsx genellikle üretim sunucusunun çalışma anında gerekli değildir, bu yüzden geliştirme bağımlılığı olarak sınıflandırılır. tsconfig tarafında target üretilen JavaScript'in hedef dil düzeyini belirler, module ve moduleResolution alanları ise Node.js'in güncel modül davranışlarıyla uyumu sağlar. Alttaki notu bağlamıyla verin: TypeScript dört nokta yedi ile gelen node16 ve nodenext seçenekleri, ESM ile CommonJS arasındaki modül çözümleme farklarını daha doğru modellemek için eklenmiştir ve Node.js'in iki modül dünyasıyla uyumlu projeler kurmayı kolaylaştırmıştır.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Sürüm numarasının üç parçası keyfi değildir; bu yazım, Tom Preston-Werner'ın iki bin on üç yılında yayımladığı Semantic Versioning spesifikasyonuna dayanır. Patch sürümü geriye uyumlu hata düzeltmelerini, minor geriye uyumlu yeni özellikleri, major ise geriye uyumsuz değişiklikleri işaret eder. Sağdaki kutu şapka işaretinin neden güvenli sayıldığını açıklar: şapka yalnızca minor ve patch güncellemelerine izin verir, yani geriye uyumsuz major sürüm kendiliğinden gelmez. Ortadaki koyu şerit bu sözleşmenin sınırını gösterir ve yazılım mühendisliğindeki yeniden üretilebilirlik ilkesine bağlanır. SemVer aralıkları teorik olarak güvenli olsa da, farklı zamanlarda kurulum yapan iki makine farklı minor veya patch sürümleri çekebilir; kilit dosyası bağımlılık ağacının tam sürüm numaralarını dondurarak benim makinemde çalışıyordu sorununun bağımlılık kaynaklı türünü ortadan kaldırır. Bu ilkenin ileride Docker imajlarının neden belirli sürümleri sabitlediğiyle doğrudan ilişkili olduğunu da söyleyin. Alttaki üç hatayı hızlıca geçin: standart JSON yorum kabul etmez, olmayan bir betiği çağırmak eksik betik hatası verir, node_modules klasörü ise kurulum çıktısı olduğu için sürüm kontrolüne eklenmemeli ve gitignore içinde bulunmalıdır.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sayfanın ana fikri bir ayrımdır: uygulama kodu her ortamda aynı kalır, çalışma ortamı ise ortamdan ortama değişir. İş kuralları, akış ve doğrulama mantığı kodda yaşar; port, çalışma modu, servis adresi ve gizli anahtarlar ise dışarıdan gelir. process.env bu iki dünya arasındaki köprüdür. Duyuru panosu benzetmesi fikri somutlaştırır: ders kitabının her sayfasını yeniden basmak yerine bugün spor salonu kapalı bilgisi panoya asılır, kod aynı kalır ve yalnızca koşullar değişir. Bu yaklaşımın biçimsel gerekçesi Adam Wiggins'in iki bin on bir yılında yayımladığı Twelve-Factor App metodolojisinin üçüncü ilkesinde açıkça formüle edilmiştir: yapılandırma koddan kesin biçimde ayrılmalı ve ortamdan okunmalıdır. Mekanizmanın kendisi ise çok daha eskidir, POSIX standardının bir parçası olarak seksenlerden beri vardır. Kuramsal bağı da kurun: bu ayrım Parnas'ın bilgi gizleme ilkesiyle ilişkilidir, çünkü hangi veritabanına bağlanılacağı gibi sık değişen bir karar koda gömülürse her ortam değişikliği yeniden derleme ve dağıtım gerektirir. Alttaki uyarı bir sonraki sayfanın hazırlığıdır: process.env değerleri her zaman metin veya tanımsız olarak gelir, TypeScript bile çalışma anında gelen yanlış bir metni otomatik olarak güvenli sayıya dönüştürmez. Değişmeyen iş kurallarının ortam değişkeni olmaması gerektiğini de ekleyin; öğrenci numarası sekiz karakter olmalıdır gibi bir alan kuralı uygulama kodunda tanımlanmalıdır.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fonksiyon önceki sayfanın uyarısını koda çevirir. process.env.PORT ortamda tanımlı değilse tanımsız döner, iki soru işaretiyle yazılan ifade bu durumda varsayılan değeri seçer, Number metni sayıya çevirir ve ardından aralık ile tam sayı denetimi yapılır. Sağdaki üç kuralı sırayla okuyun: eksik değer güvenli varsayılana düşer, geçersiz değer açık hata fırlatır, doğrulama tek bir noktada tanımlandığı için aynı kural tüm uygulamada tekrar kullanılabilir. Eksik ile geçersiz ayrımının bölüm başındaki değerlendirme ölçütüyle aynı şey olduğunu hatırlatın. Ortadaki şerit fonksiyonun nasıl denendiğini gösterir; PowerShell'de tanımlanan değişken yalnızca açık terminal oturumunda geçerlidir, oturum kapandığında kaybolur. Alttaki üç hatayı tek tek açın: portu doğrulamadan kabul etmek, çünkü geçersiz bir metin sayıya çevrildiğinde NaN oluşur ve program çok sonra anlaşılmaz bir hata verir; sırları terminale yazdırmak, çünkü tüm ortam değişkenlerini yazdırmak masum görünse de erişim anahtarlarını kayıt altına alabilir; ve değerin zaten sayı olduğunu varsaymak, çünkü dönüşüm ve doğrulama uygulamanın sorumluluğundadır. Yerel geliştirmede nokta env dosyaları kullanılabilir ama gizli değer içeriyorlarsa sürüm kontrolüne eklenmemelidir.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Burada bir web çatısı kullanmadan, yalnızca standart kütüphaneyle çalışan bir sunucu yazıyoruz. createServer her istek geldiğinde çağrılan bir fonksiyon alır; istek nesnesinin url alanı istenen yolu taşır, writeHead durum kodunu ve başlıkları yazar, end ise yanıtı bitirir. Sağdaki şema protokolün iskeletini gösterir: her istekte yöntem, yol ve başlıklar bulunur, her yanıtta durum kodu, başlıklar ve gövde bulunur. İki yüz başarılı sonucu, dört yüz dört ise bulunamayan kaynağı belirtir. Bu yapının keyfi olmadığını söyleyin; node http modülünün istek yanıt akışı, IETF'in HTTP mesaj sözdizimini tanımladığı RFC dokuz bin yüz on iki'de biçimselleştirilen protokol yapısını doğrudan yansıtır. Servis masası benzetmesi akışı özetler: müşteri isteğini verir, servis masası isteğin türüne bakar, uygun sonucu hazırlar ve yanıtı geri gönderir. Kapanışta katman ayrımını kurun: HTTP bir sözleşmedir ve IETF tarafından tanımlanır, Express gibi çatılar ise bu sözleşmeyle çalışmayı kolaylaştıran ama sözleşmenin kendisini değiştirmeyen bir kolaylık katmanıdır. Bu yüzden bir çatıyı anlamanın ilk adımı, çatının soyutladığı çıplak protokol modelini görmektir.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Üstteki üç hata küçük görünür ama üçü de istemci tarafında somut sonuç üretir. Yanıtı bitirmemek istemciyi yükleniyor durumunda bırakır, çünkü tarayıcı isteğin bitmesini bekler. Her yol için iki yüz döndürmek istemcinin doğru davranmasını engeller; tanımlı olmayan kaynaklarda dört yüz dört kullanmak gerekir. Content-Type başlığını belirtmemek ise istemcinin veriyi doğru yorumlamasını zorlaştırır, JSON yanıtlarında uygun içerik türü ve karakter kümesi bildirilmelidir. Alttaki üç kavram yanılgısı üretim ortamına geçtiğinizde karşınıza çıkar. Birincisinde teknik gerçek şudur: senkron giriş çıkış metotları diski veya işletim sistemini beklerken Node.js'in tek ana iş parçacığını tamamen kilitler ve o sırada gelen yüzlerce kullanıcının isteği saniyelerce bekletilir; çözüm sunucu kodunda asla senkron bloklayıcı çağrı kullanmamaktır. İkincisinde terminal oturumu kapandığında sürecin sonlandığını, ayrıca yakalanmayan tek bir istisnada uygulamanın çöküp kendiliğinden yeniden başlayamadığını vurgulayın; çözüm systemd, PM2 veya Docker yeniden başlatma politikalarıdır. Üçüncüsünde gizli bilgilerin Git geçmişine kalıcı olarak yazıldığını, repoya erişen herkesin veya repo sızdırıldığında saldırganların üretim veritabanına doğrudan erişim kazandığını söyleyin; çözüm nokta env dosyasını gitignore'a eklemek, depoda yalnızca örnek şablonu tutmak ve canlı anahtarları güvenli ortam değişkenleri olarak enjekte etmektir.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alıştırmayı sınıfta birlikte çözün ve hata ayıklama sırasını hatırlatın: önce hata mesajına, sonra veri türlerine, en sonunda uygulama akışına bakılır. Soldaki kodda altı ayrı sorun var. Son satırdaki kapanış parantezi eksik olduğu için sözdizimi hatası oluşur. Ortam değişkeni doğrudan sayı türünde değildir, metin veya tanımsız türündedir, bu yüzden tür hatası vardır. Koşul içinde tek eşittir kullanılmıştır; bu atama operatörüdür, karşılaştırma için üç eşittir gerekir. Yanıtı bitirirken doğrudan nesne verilmiştir; res.end fonksiyonu ya metin ya da ikili veri bekler, nesne verilirse sunucu hata üretir, bu yüzden veri JSON.stringify ile serileştirilmeli ve uygun içerik türü başlığı eklenmelidir. Tanımlı olmayan yol için dört yüz dört yanıtı yoktur; laboratuvar tartışmasında Elif'in vurguladığı gibi bu en kritik mimari kusurdur, çünkü istek hiçbir yanıt almazsa istemcinin soketi açık kalır ve tarayıcı zaman aşımına uğrayana kadar asılı bekler. Son olarak port doğrulanmadan dinlemeye başlanmıştır. Sağ alttaki not, her HTTP isteğinin er ya da geç sonlandırılmak zorunda olduğunu hatırlatır; bu cümleyi bölümün taşınabilir kuralı olarak bırakın.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uygulama bölümdeki bütün kavramları tek bir serviste birleştirir: runtime çalıştırır, npm betiği başlatır, process ve ortam değişkeni yapılandırır, event loop bekleyen işi yönetir, HTTP modülü de istekleri karşılar. Yapıcı metotta port metni okunur, sayıya çevrilir ve aralık denetiminden geçirilir; geçersiz veya aralık dışı bir değer hata fırlatarak uygulamanın hatalı bir portla başlamasını engeller. Kitap adı da aynı biçimde ortam değişkeninden okunur ve tanımlı değilse varsayılana düşer. Sağdaki üç rota sunucunun sözleşmesini gösterir: kök yol karşılama mesajı ve kitap adını döner, durum yolu hazır bilgisiyle birlikte Node sürümünü ve çalışma dizinini döner, tanımsız yollar ise JSON biçiminde dört yüz dört döner. Yardımcı metodun neden var olduğunu da söyleyin: durum kodu ve içerik türü başlığını tek bir yerde standartlaştırır ve her rota bu metodu çağırır. Zamanlayıcı ise sunucu çalışırken bekleyen bir işin event loop aracılığıyla daha sonra tamamlandığını terminalde görünür kılar. Genişletme görevlerini ödev olarak verin ve son notu hatırlatın: bu sınıf HTTP modülünü doğrudan kullanır, bir sonraki bölümde aynı işlevsellik Express'in routing katmanıyla çok daha az kodla yeniden yazılacaktır.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 kapatırken araçları değil, her birinin çözdüğü problemi hatırlatın. Node.js runtime JavaScript kodunun tarayıcı dışında çalışmasını sağlar ve dosya sistemi, ağ ve süreç bilgisi gibi sunucu tarafı yetenekleri sunar; TypeScript ise Node.js'in yerine geçen bir runtime değil, projelerde tür güvenliği sağlayan bir geliştirme aracıdır. Event loop giriş çıkış bekleme sürelerinde uygulamanın gereksiz biçimde durmasını engeller, ancak işlemciyi uzun süre meşgul eden senkron kodun onu geciktirebileceğini unutmayın. npm paketleri ve proje komutlarını yönetir, package.json proje kimliğini, bağımlılıklarını ve betiklerini tanımlar, kilit dosyası da kurulumların daha tutarlı olmasına yardım eder. process uygulamanın çalıştığı sürece ilişkin bilgi sağlar, ortam değişkeni değerleri metin olarak geldiği için doğrulama gerektirir ve node http ile istek yolu, durum kodu, başlık ve JSON yanıtı kavramlarını uyguladık. Öğrencileri bölüm sonundaki sözlüğe, öz değerlendirme sorularına ve programlama alıştırmalarına yönlendirin; özellikle zor düzeydeki KitapSunucusu görevini yaparken bu sayfadaki dört kutuyu kontrol listesi gibi kullanabilirler. Bir sonraki bölümde aynı istek yanıt döngüsü daha gerçekçi uygulamalara dönüşecek: rotalar büyüyecek, istek verisi doğrulanacak, hata yönetimi ve modüllere ayırma devreye girecek ve veri kaynaklarıyla iletişim kurulacak.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4-nodejs-runtime-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4-nodejs-runtime-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kapak-plani"/>
          <p:cNvSpPr/>
          <p:nvPr/>
        </p:nvSpPr>
        <p:spPr>
          <a:xfrm>
            <a:off x="0" y="0"/>
            <a:ext cx="4305300" cy="6858000"/>
          </a:xfrm>
          <a:prstGeom prst="rect">
            <a:avLst/>
          </a:prstGeom>
          <a:solidFill>
            <a:srgbClr val="12355B"/>
          </a:solidFill>
          <a:ln>
            <a:noFill/>
          </a:ln>
        </p:spPr>
      </p:sp>
      <p:grpSp>
        <p:nvGrpSpPr>
          <p:cNvPr id="7" name="kapak-kimlik"/>
          <p:cNvGrpSpPr/>
          <p:nvPr/>
        </p:nvGrpSpPr>
        <p:grpSpPr>
          <a:xfrm>
            <a:off x="590550" y="1546860"/>
            <a:ext cx="3123133" cy="3196590"/>
            <a:chOff x="590550" y="1546860"/>
            <a:chExt cx="3123133" cy="3196590"/>
          </a:xfrm>
        </p:grpSpPr>
        <p:sp>
          <p:nvSpPr>
            <p:cNvPr id="3" name="TextBox 3"/>
            <p:cNvSpPr txBox="1"/>
            <p:nvPr/>
          </p:nvSpPr>
          <p:spPr>
            <a:xfrm>
              <a:off x="603504" y="1546860"/>
              <a:ext cx="311017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MODERN SUNUCU TABANLI PROGRAMLAMA</a:t>
              </a:r>
            </a:p>
          </p:txBody>
        </p:sp>
        <p:sp>
          <p:nvSpPr>
            <p:cNvPr id="4" name="Rectangle 4"/>
            <p:cNvSpPr/>
            <p:nvPr/>
          </p:nvSpPr>
          <p:spPr>
            <a:xfrm>
              <a:off x="609600" y="1905000"/>
              <a:ext cx="1143000" cy="38100"/>
            </a:xfrm>
            <a:prstGeom prst="rect">
              <a:avLst/>
            </a:prstGeom>
            <a:solidFill>
              <a:srgbClr val="00A6A6"/>
            </a:solidFill>
            <a:ln>
              <a:noFill/>
            </a:ln>
          </p:spPr>
        </p:sp>
        <p:sp>
          <p:nvSpPr>
            <p:cNvPr id="5" name="TextBox 5"/>
            <p:cNvSpPr txBox="1"/>
            <p:nvPr/>
          </p:nvSpPr>
          <p:spPr>
            <a:xfrm>
              <a:off x="590550" y="2438400"/>
              <a:ext cx="1903933" cy="2305050"/>
            </a:xfrm>
            <a:prstGeom prst="rect">
              <a:avLst/>
            </a:prstGeom>
            <a:noFill/>
            <a:ln>
              <a:noFill/>
            </a:ln>
          </p:spPr>
          <p:txBody>
            <a:bodyPr wrap="none" lIns="0" tIns="0" rIns="0" bIns="0" anchor="t" anchorCtr="0">
              <a:spAutoFit/>
            </a:bodyPr>
            <a:lstStyle/>
            <a:p>
              <a:pPr algn="l"/>
              <a:r>
                <a:rPr lang="tr-TR" sz="12000" b="1" dirty="0">
                  <a:solidFill>
                    <a:srgbClr val="00A6A6"/>
                  </a:solidFill>
                  <a:latin typeface="+mj-lt"/>
                  <a:ea typeface="+mj-ea"/>
                  <a:cs typeface="+mj-cs"/>
                </a:rPr>
                <a:t>04</a:t>
              </a:r>
            </a:p>
          </p:txBody>
        </p:sp>
        <p:sp>
          <p:nvSpPr>
            <p:cNvPr id="6" name="TextBox 6"/>
            <p:cNvSpPr txBox="1"/>
            <p:nvPr/>
          </p:nvSpPr>
          <p:spPr>
            <a:xfrm>
              <a:off x="598170" y="4062412"/>
              <a:ext cx="891289" cy="440055"/>
            </a:xfrm>
            <a:prstGeom prst="rect">
              <a:avLst/>
            </a:prstGeom>
            <a:noFill/>
            <a:ln>
              <a:noFill/>
            </a:ln>
          </p:spPr>
          <p:txBody>
            <a:bodyPr wrap="none" lIns="0" tIns="0" rIns="0" bIns="0" anchor="t" anchorCtr="0">
              <a:spAutoFit/>
            </a:bodyPr>
            <a:lstStyle/>
            <a:p>
              <a:pPr algn="l"/>
              <a:r>
                <a:rPr lang="tr-TR" sz="2250" b="1" dirty="0">
                  <a:solidFill>
                    <a:srgbClr val="FFFFFF"/>
                  </a:solidFill>
                  <a:latin typeface="+mn-lt"/>
                  <a:ea typeface="+mn-ea"/>
                  <a:cs typeface="+mn-cs"/>
                </a:rPr>
                <a:t>Bölüm</a:t>
              </a:r>
            </a:p>
          </p:txBody>
        </p:sp>
      </p:grpSp>
      <p:grpSp>
        <p:nvGrpSpPr>
          <p:cNvPr id="11" name="kapak-baslik"/>
          <p:cNvGrpSpPr/>
          <p:nvPr/>
        </p:nvGrpSpPr>
        <p:grpSpPr>
          <a:xfrm>
            <a:off x="4898136" y="2501265"/>
            <a:ext cx="4776907" cy="2475453"/>
            <a:chOff x="4898136" y="2501265"/>
            <a:chExt cx="4776907" cy="2475453"/>
          </a:xfrm>
        </p:grpSpPr>
        <p:sp>
          <p:nvSpPr>
            <p:cNvPr id="8" name="TextBox 8"/>
            <p:cNvSpPr txBox="1"/>
            <p:nvPr/>
          </p:nvSpPr>
          <p:spPr>
            <a:xfrm>
              <a:off x="4898136" y="2501265"/>
              <a:ext cx="4632103" cy="1712214"/>
            </a:xfrm>
            <a:prstGeom prst="rect">
              <a:avLst/>
            </a:prstGeom>
            <a:noFill/>
            <a:ln>
              <a:noFill/>
            </a:ln>
          </p:spPr>
          <p:txBody>
            <a:bodyPr wrap="none" lIns="0" tIns="0" rIns="0" bIns="0" anchor="t" anchorCtr="0">
              <a:spAutoFit/>
            </a:bodyPr>
            <a:lstStyle/>
            <a:p>
              <a:pPr algn="l">
                <a:lnSpc>
                  <a:spcPts val="4200"/>
                </a:lnSpc>
              </a:pPr>
              <a:r>
                <a:rPr lang="tr-TR" sz="3300" b="1" dirty="0">
                  <a:solidFill>
                    <a:srgbClr val="12355B"/>
                  </a:solidFill>
                  <a:latin typeface="+mj-lt"/>
                  <a:ea typeface="+mj-ea"/>
                  <a:cs typeface="+mj-cs"/>
                </a:rPr>
                <a:t>Node.js Runtime,</a:t>
              </a:r>
              <a:br/>
              <a:r>
                <a:rPr lang="tr-TR" sz="3300" b="1" dirty="0">
                  <a:solidFill>
                    <a:srgbClr val="12355B"/>
                  </a:solidFill>
                  <a:latin typeface="+mj-lt"/>
                  <a:ea typeface="+mj-ea"/>
                  <a:cs typeface="+mj-cs"/>
                </a:rPr>
                <a:t>npm ve Sunucu Tarafı</a:t>
              </a:r>
              <a:br/>
              <a:r>
                <a:rPr lang="tr-TR" sz="3300" b="1" dirty="0">
                  <a:solidFill>
                    <a:srgbClr val="12355B"/>
                  </a:solidFill>
                  <a:latin typeface="+mj-lt"/>
                  <a:ea typeface="+mj-ea"/>
                  <a:cs typeface="+mj-cs"/>
                </a:rPr>
                <a:t>Programlama</a:t>
              </a:r>
            </a:p>
          </p:txBody>
        </p:sp>
        <p:sp>
          <p:nvSpPr>
            <p:cNvPr id="9" name="TextBox 9"/>
            <p:cNvSpPr txBox="1"/>
            <p:nvPr/>
          </p:nvSpPr>
          <p:spPr>
            <a:xfrm>
              <a:off x="4904994" y="4266248"/>
              <a:ext cx="4770049"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Tarayıcı dışında çalışan JavaScript</a:t>
              </a:r>
            </a:p>
          </p:txBody>
        </p:sp>
        <p:sp>
          <p:nvSpPr>
            <p:cNvPr id="10" name="TextBox 10"/>
            <p:cNvSpPr txBox="1"/>
            <p:nvPr/>
          </p:nvSpPr>
          <p:spPr>
            <a:xfrm>
              <a:off x="4906899" y="4668679"/>
              <a:ext cx="323117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 · 2026</a:t>
              </a:r>
            </a:p>
          </p:txBody>
        </p:sp>
      </p:grpSp>
      <p:grpSp>
        <p:nvGrpSpPr>
          <p:cNvPr id="15" name="akis-cizgileri"/>
          <p:cNvGrpSpPr/>
          <p:nvPr/>
        </p:nvGrpSpPr>
        <p:grpSpPr>
          <a:xfrm>
            <a:off x="4914900" y="5391150"/>
            <a:ext cx="6667500" cy="638175"/>
            <a:chOff x="4914900" y="5391150"/>
            <a:chExt cx="6667500" cy="638175"/>
          </a:xfrm>
        </p:grpSpPr>
        <p:sp>
          <p:nvSpPr>
            <p:cNvPr id="12" name="Rectangle 12"/>
            <p:cNvSpPr/>
            <p:nvPr/>
          </p:nvSpPr>
          <p:spPr>
            <a:xfrm>
              <a:off x="4914900" y="5391150"/>
              <a:ext cx="6667500" cy="28575"/>
            </a:xfrm>
            <a:prstGeom prst="rect">
              <a:avLst/>
            </a:prstGeom>
            <a:gradFill>
              <a:gsLst>
                <a:gs pos="0">
                  <a:srgbClr val="00A6A6"/>
                </a:gs>
                <a:gs pos="100000">
                  <a:srgbClr val="2E86AB"/>
                </a:gs>
              </a:gsLst>
              <a:lin ang="0" scaled="1"/>
            </a:gradFill>
            <a:ln>
              <a:noFill/>
            </a:ln>
          </p:spPr>
        </p:sp>
        <p:sp>
          <p:nvSpPr>
            <p:cNvPr id="13" name="Line 13"/>
            <p:cNvSpPr/>
            <p:nvPr/>
          </p:nvSpPr>
          <p:spPr>
            <a:xfrm>
              <a:off x="4914900" y="5715000"/>
              <a:ext cx="4991100" cy="9525"/>
            </a:xfrm>
            <a:custGeom>
              <a:avLst/>
              <a:gdLst/>
              <a:ahLst/>
              <a:cxnLst/>
              <a:rect l="l" t="t" r="r" b="b"/>
              <a:pathLst>
                <a:path w="4991100" h="9525">
                  <a:moveTo>
                    <a:pt x="0" y="0"/>
                  </a:moveTo>
                  <a:lnTo>
                    <a:pt x="4991100" y="0"/>
                  </a:lnTo>
                </a:path>
              </a:pathLst>
            </a:custGeom>
            <a:noFill/>
            <a:ln w="19050">
              <a:solidFill>
                <a:srgbClr val="00A6A6">
                  <a:alpha val="70000"/>
                </a:srgbClr>
              </a:solidFill>
            </a:ln>
          </p:spPr>
        </p:sp>
        <p:sp>
          <p:nvSpPr>
            <p:cNvPr id="14" name="Line 14"/>
            <p:cNvSpPr/>
            <p:nvPr/>
          </p:nvSpPr>
          <p:spPr>
            <a:xfrm>
              <a:off x="4914900" y="6019800"/>
              <a:ext cx="3467100" cy="9525"/>
            </a:xfrm>
            <a:custGeom>
              <a:avLst/>
              <a:gdLst/>
              <a:ahLst/>
              <a:cxnLst/>
              <a:rect l="l" t="t" r="r" b="b"/>
              <a:pathLst>
                <a:path w="3467100" h="9525">
                  <a:moveTo>
                    <a:pt x="0" y="0"/>
                  </a:moveTo>
                  <a:lnTo>
                    <a:pt x="3467100" y="0"/>
                  </a:lnTo>
                </a:path>
              </a:pathLst>
            </a:custGeom>
            <a:noFill/>
            <a:ln w="9525">
              <a:solidFill>
                <a:srgbClr val="00A6A6">
                  <a:alpha val="50000"/>
                </a:srgbClr>
              </a:solidFill>
            </a:ln>
          </p:spPr>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7" name="hedef-lead"/>
          <p:cNvGrpSpPr/>
          <p:nvPr/>
        </p:nvGrpSpPr>
        <p:grpSpPr>
          <a:xfrm>
            <a:off x="600456" y="1291590"/>
            <a:ext cx="8110728" cy="675894"/>
            <a:chOff x="600456" y="1291590"/>
            <a:chExt cx="8110728" cy="675894"/>
          </a:xfrm>
        </p:grpSpPr>
        <p:sp>
          <p:nvSpPr>
            <p:cNvPr id="6" name="TextBox 6"/>
            <p:cNvSpPr txBox="1"/>
            <p:nvPr/>
          </p:nvSpPr>
          <p:spPr>
            <a:xfrm>
              <a:off x="600456" y="1291590"/>
              <a:ext cx="811072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Amaç terimleri ezberlemek değil, küçük fakat gerçekçi bir sunucu tarafı</a:t>
              </a:r>
              <a:br/>
              <a:r>
                <a:rPr lang="tr-TR" sz="1800" dirty="0">
                  <a:solidFill>
                    <a:srgbClr val="172B3A"/>
                  </a:solidFill>
                  <a:latin typeface="+mn-lt"/>
                  <a:ea typeface="+mn-ea"/>
                  <a:cs typeface="+mn-cs"/>
                </a:rPr>
                <a:t xml:space="preserve">uygulamasını </a:t>
              </a:r>
              <a:r>
                <a:rPr lang="tr-TR" sz="1800" b="1" dirty="0">
                  <a:solidFill>
                    <a:srgbClr val="12355B"/>
                  </a:solidFill>
                  <a:latin typeface="+mn-lt"/>
                  <a:ea typeface="+mn-ea"/>
                  <a:cs typeface="+mn-cs"/>
                </a:rPr>
                <a:t>kurup çalıştırabilmektir</a:t>
              </a:r>
              <a:r>
                <a:rPr lang="tr-TR" sz="1800" dirty="0">
                  <a:solidFill>
                    <a:srgbClr val="172B3A"/>
                  </a:solidFill>
                  <a:latin typeface="+mn-lt"/>
                  <a:ea typeface="+mn-ea"/>
                  <a:cs typeface="+mn-cs"/>
                </a:rPr>
                <a:t>.</a:t>
              </a:r>
            </a:p>
          </p:txBody>
        </p:sp>
      </p:grpSp>
      <p:grpSp>
        <p:nvGrpSpPr>
          <p:cNvPr id="32" name="hedefler"/>
          <p:cNvGrpSpPr/>
          <p:nvPr/>
        </p:nvGrpSpPr>
        <p:grpSpPr>
          <a:xfrm>
            <a:off x="598170" y="2195512"/>
            <a:ext cx="6277430" cy="4114706"/>
            <a:chOff x="598170" y="2195512"/>
            <a:chExt cx="6277430" cy="4114706"/>
          </a:xfrm>
        </p:grpSpPr>
        <p:sp>
          <p:nvSpPr>
            <p:cNvPr id="8" name="TextBox 8"/>
            <p:cNvSpPr txBox="1"/>
            <p:nvPr/>
          </p:nvSpPr>
          <p:spPr>
            <a:xfrm>
              <a:off x="598170" y="2195512"/>
              <a:ext cx="5057369"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Bölüm sonunda yapabilecekleriniz</a:t>
              </a:r>
            </a:p>
          </p:txBody>
        </p:sp>
        <p:grpSp>
          <p:nvGrpSpPr>
            <p:cNvPr id="23" name="hedef-numaralari"/>
            <p:cNvGrpSpPr/>
            <p:nvPr/>
          </p:nvGrpSpPr>
          <p:grpSpPr>
            <a:xfrm>
              <a:off x="647700" y="2781300"/>
              <a:ext cx="266700" cy="3496056"/>
              <a:chOff x="647700" y="2781300"/>
              <a:chExt cx="266700" cy="3496056"/>
            </a:xfrm>
          </p:grpSpPr>
          <p:sp>
            <p:nvSpPr>
              <p:cNvPr id="9" name="Ellipse 9"/>
              <p:cNvSpPr/>
              <p:nvPr/>
            </p:nvSpPr>
            <p:spPr>
              <a:xfrm>
                <a:off x="647700" y="2781300"/>
                <a:ext cx="266700" cy="266700"/>
              </a:xfrm>
              <a:prstGeom prst="ellipse">
                <a:avLst/>
              </a:prstGeom>
              <a:solidFill>
                <a:srgbClr val="00A6A6"/>
              </a:solidFill>
              <a:ln>
                <a:noFill/>
              </a:ln>
            </p:spPr>
          </p:sp>
          <p:sp>
            <p:nvSpPr>
              <p:cNvPr id="10" name="TextBox 10"/>
              <p:cNvSpPr txBox="1"/>
              <p:nvPr/>
            </p:nvSpPr>
            <p:spPr>
              <a:xfrm>
                <a:off x="730529" y="28422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1</a:t>
                </a:r>
              </a:p>
            </p:txBody>
          </p:sp>
          <p:sp>
            <p:nvSpPr>
              <p:cNvPr id="11" name="Ellipse 11"/>
              <p:cNvSpPr/>
              <p:nvPr/>
            </p:nvSpPr>
            <p:spPr>
              <a:xfrm>
                <a:off x="647700" y="3314700"/>
                <a:ext cx="266700" cy="266700"/>
              </a:xfrm>
              <a:prstGeom prst="ellipse">
                <a:avLst/>
              </a:prstGeom>
              <a:solidFill>
                <a:srgbClr val="00A6A6"/>
              </a:solidFill>
              <a:ln>
                <a:noFill/>
              </a:ln>
            </p:spPr>
          </p:sp>
          <p:sp>
            <p:nvSpPr>
              <p:cNvPr id="12" name="TextBox 12"/>
              <p:cNvSpPr txBox="1"/>
              <p:nvPr/>
            </p:nvSpPr>
            <p:spPr>
              <a:xfrm>
                <a:off x="730529" y="33756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2</a:t>
                </a:r>
              </a:p>
            </p:txBody>
          </p:sp>
          <p:sp>
            <p:nvSpPr>
              <p:cNvPr id="13" name="Ellipse 13"/>
              <p:cNvSpPr/>
              <p:nvPr/>
            </p:nvSpPr>
            <p:spPr>
              <a:xfrm>
                <a:off x="647700" y="3848100"/>
                <a:ext cx="266700" cy="266700"/>
              </a:xfrm>
              <a:prstGeom prst="ellipse">
                <a:avLst/>
              </a:prstGeom>
              <a:solidFill>
                <a:srgbClr val="00A6A6"/>
              </a:solidFill>
              <a:ln>
                <a:noFill/>
              </a:ln>
            </p:spPr>
          </p:sp>
          <p:sp>
            <p:nvSpPr>
              <p:cNvPr id="14" name="TextBox 14"/>
              <p:cNvSpPr txBox="1"/>
              <p:nvPr/>
            </p:nvSpPr>
            <p:spPr>
              <a:xfrm>
                <a:off x="730529" y="39090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3</a:t>
                </a:r>
              </a:p>
            </p:txBody>
          </p:sp>
          <p:sp>
            <p:nvSpPr>
              <p:cNvPr id="15" name="Ellipse 15"/>
              <p:cNvSpPr/>
              <p:nvPr/>
            </p:nvSpPr>
            <p:spPr>
              <a:xfrm>
                <a:off x="647700" y="4381500"/>
                <a:ext cx="266700" cy="266700"/>
              </a:xfrm>
              <a:prstGeom prst="ellipse">
                <a:avLst/>
              </a:prstGeom>
              <a:solidFill>
                <a:srgbClr val="00A6A6"/>
              </a:solidFill>
              <a:ln>
                <a:noFill/>
              </a:ln>
            </p:spPr>
          </p:sp>
          <p:sp>
            <p:nvSpPr>
              <p:cNvPr id="16" name="TextBox 16"/>
              <p:cNvSpPr txBox="1"/>
              <p:nvPr/>
            </p:nvSpPr>
            <p:spPr>
              <a:xfrm>
                <a:off x="730529" y="44424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4</a:t>
                </a:r>
              </a:p>
            </p:txBody>
          </p:sp>
          <p:sp>
            <p:nvSpPr>
              <p:cNvPr id="17" name="Ellipse 17"/>
              <p:cNvSpPr/>
              <p:nvPr/>
            </p:nvSpPr>
            <p:spPr>
              <a:xfrm>
                <a:off x="647700" y="4914900"/>
                <a:ext cx="266700" cy="266700"/>
              </a:xfrm>
              <a:prstGeom prst="ellipse">
                <a:avLst/>
              </a:prstGeom>
              <a:solidFill>
                <a:srgbClr val="00A6A6"/>
              </a:solidFill>
              <a:ln>
                <a:noFill/>
              </a:ln>
            </p:spPr>
          </p:sp>
          <p:sp>
            <p:nvSpPr>
              <p:cNvPr id="18" name="TextBox 18"/>
              <p:cNvSpPr txBox="1"/>
              <p:nvPr/>
            </p:nvSpPr>
            <p:spPr>
              <a:xfrm>
                <a:off x="730529" y="49758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5</a:t>
                </a:r>
              </a:p>
            </p:txBody>
          </p:sp>
          <p:sp>
            <p:nvSpPr>
              <p:cNvPr id="19" name="Ellipse 19"/>
              <p:cNvSpPr/>
              <p:nvPr/>
            </p:nvSpPr>
            <p:spPr>
              <a:xfrm>
                <a:off x="647700" y="5448300"/>
                <a:ext cx="266700" cy="266700"/>
              </a:xfrm>
              <a:prstGeom prst="ellipse">
                <a:avLst/>
              </a:prstGeom>
              <a:solidFill>
                <a:srgbClr val="00A6A6"/>
              </a:solidFill>
              <a:ln>
                <a:noFill/>
              </a:ln>
            </p:spPr>
          </p:sp>
          <p:sp>
            <p:nvSpPr>
              <p:cNvPr id="20" name="TextBox 20"/>
              <p:cNvSpPr txBox="1"/>
              <p:nvPr/>
            </p:nvSpPr>
            <p:spPr>
              <a:xfrm>
                <a:off x="730529" y="55092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6</a:t>
                </a:r>
              </a:p>
            </p:txBody>
          </p:sp>
          <p:sp>
            <p:nvSpPr>
              <p:cNvPr id="21" name="Ellipse 21"/>
              <p:cNvSpPr/>
              <p:nvPr/>
            </p:nvSpPr>
            <p:spPr>
              <a:xfrm>
                <a:off x="647700" y="5981700"/>
                <a:ext cx="266700" cy="266700"/>
              </a:xfrm>
              <a:prstGeom prst="ellipse">
                <a:avLst/>
              </a:prstGeom>
              <a:solidFill>
                <a:srgbClr val="00A6A6"/>
              </a:solidFill>
              <a:ln>
                <a:noFill/>
              </a:ln>
            </p:spPr>
          </p:sp>
          <p:sp>
            <p:nvSpPr>
              <p:cNvPr id="22" name="TextBox 22"/>
              <p:cNvSpPr txBox="1"/>
              <p:nvPr/>
            </p:nvSpPr>
            <p:spPr>
              <a:xfrm>
                <a:off x="730529" y="6042660"/>
                <a:ext cx="10104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7</a:t>
                </a:r>
              </a:p>
            </p:txBody>
          </p:sp>
        </p:grpSp>
        <p:grpSp>
          <p:nvGrpSpPr>
            <p:cNvPr id="31" name="hedef-metinleri"/>
            <p:cNvGrpSpPr/>
            <p:nvPr/>
          </p:nvGrpSpPr>
          <p:grpSpPr>
            <a:xfrm>
              <a:off x="1077849" y="2801779"/>
              <a:ext cx="5797751" cy="3508439"/>
              <a:chOff x="1077849" y="2801779"/>
              <a:chExt cx="5797751" cy="3508439"/>
            </a:xfrm>
          </p:grpSpPr>
          <p:sp>
            <p:nvSpPr>
              <p:cNvPr id="24" name="TextBox 24"/>
              <p:cNvSpPr txBox="1"/>
              <p:nvPr/>
            </p:nvSpPr>
            <p:spPr>
              <a:xfrm>
                <a:off x="1077849" y="2801779"/>
                <a:ext cx="57550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Runtime, dil ve tarayıcı API farkını örnekle açıklamak</a:t>
                </a:r>
              </a:p>
            </p:txBody>
          </p:sp>
          <p:sp>
            <p:nvSpPr>
              <p:cNvPr id="25" name="TextBox 25"/>
              <p:cNvSpPr txBox="1"/>
              <p:nvPr/>
            </p:nvSpPr>
            <p:spPr>
              <a:xfrm>
                <a:off x="1077849" y="3335179"/>
                <a:ext cx="542923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Event loop'un I/O beklemesindeki yararını anlatmak</a:t>
                </a:r>
              </a:p>
            </p:txBody>
          </p:sp>
          <p:sp>
            <p:nvSpPr>
              <p:cNvPr id="26" name="TextBox 26"/>
              <p:cNvSpPr txBox="1"/>
              <p:nvPr/>
            </p:nvSpPr>
            <p:spPr>
              <a:xfrm>
                <a:off x="1077849" y="3868579"/>
                <a:ext cx="575889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npm ile proje başlatmak, bağımlılık ve script yönetmek</a:t>
                </a:r>
              </a:p>
            </p:txBody>
          </p:sp>
          <p:sp>
            <p:nvSpPr>
              <p:cNvPr id="27" name="TextBox 27"/>
              <p:cNvSpPr txBox="1"/>
              <p:nvPr/>
            </p:nvSpPr>
            <p:spPr>
              <a:xfrm>
                <a:off x="1077849" y="4401979"/>
                <a:ext cx="502507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package.json alanlarını birbirinden ayırt etmek</a:t>
                </a:r>
              </a:p>
            </p:txBody>
          </p:sp>
          <p:sp>
            <p:nvSpPr>
              <p:cNvPr id="28" name="TextBox 28"/>
              <p:cNvSpPr txBox="1"/>
              <p:nvPr/>
            </p:nvSpPr>
            <p:spPr>
              <a:xfrm>
                <a:off x="1077849" y="4935379"/>
                <a:ext cx="436570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node:http ile istek-yanıt döngüsü kurmak</a:t>
                </a:r>
              </a:p>
            </p:txBody>
          </p:sp>
          <p:sp>
            <p:nvSpPr>
              <p:cNvPr id="29" name="TextBox 29"/>
              <p:cNvSpPr txBox="1"/>
              <p:nvPr/>
            </p:nvSpPr>
            <p:spPr>
              <a:xfrm>
                <a:off x="1077849" y="5468779"/>
                <a:ext cx="523777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process ile argüman, dizin ve ortam değeri okumak</a:t>
                </a:r>
              </a:p>
            </p:txBody>
          </p:sp>
          <p:sp>
            <p:nvSpPr>
              <p:cNvPr id="30" name="TextBox 30"/>
              <p:cNvSpPr txBox="1"/>
              <p:nvPr/>
            </p:nvSpPr>
            <p:spPr>
              <a:xfrm>
                <a:off x="1077849" y="6002179"/>
                <a:ext cx="579775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Eksik ayarda güvenli varsayılan veya açık hata üretmek</a:t>
                </a:r>
              </a:p>
            </p:txBody>
          </p:sp>
        </p:grpSp>
      </p:grpSp>
      <p:grpSp>
        <p:nvGrpSpPr>
          <p:cNvPr id="46" name="olcutler"/>
          <p:cNvGrpSpPr/>
          <p:nvPr/>
        </p:nvGrpSpPr>
        <p:grpSpPr>
          <a:xfrm>
            <a:off x="7620000" y="2152650"/>
            <a:ext cx="3962400" cy="2743200"/>
            <a:chOff x="7620000" y="2152650"/>
            <a:chExt cx="3962400" cy="2743200"/>
          </a:xfrm>
        </p:grpSpPr>
        <p:sp>
          <p:nvSpPr>
            <p:cNvPr id="33" name="Rectangle 33"/>
            <p:cNvSpPr/>
            <p:nvPr/>
          </p:nvSpPr>
          <p:spPr>
            <a:xfrm>
              <a:off x="7620000" y="2152650"/>
              <a:ext cx="3962400" cy="2743200"/>
            </a:xfrm>
            <a:prstGeom prst="rect">
              <a:avLst/>
            </a:prstGeom>
            <a:solidFill>
              <a:srgbClr val="EAF4F6"/>
            </a:solidFill>
            <a:ln>
              <a:noFill/>
            </a:ln>
          </p:spPr>
        </p:sp>
        <p:sp>
          <p:nvSpPr>
            <p:cNvPr id="34" name="Rectangle 34"/>
            <p:cNvSpPr/>
            <p:nvPr/>
          </p:nvSpPr>
          <p:spPr>
            <a:xfrm>
              <a:off x="7620000" y="2152650"/>
              <a:ext cx="3962400" cy="38100"/>
            </a:xfrm>
            <a:prstGeom prst="rect">
              <a:avLst/>
            </a:prstGeom>
            <a:solidFill>
              <a:srgbClr val="00A6A6"/>
            </a:solidFill>
            <a:ln>
              <a:noFill/>
            </a:ln>
          </p:spPr>
        </p:sp>
        <p:sp>
          <p:nvSpPr>
            <p:cNvPr id="35" name="TextBox 35"/>
            <p:cNvSpPr txBox="1"/>
            <p:nvPr/>
          </p:nvSpPr>
          <p:spPr>
            <a:xfrm>
              <a:off x="7913370" y="2443162"/>
              <a:ext cx="3276530"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Değerlendirme ölçütü</a:t>
              </a:r>
            </a:p>
          </p:txBody>
        </p:sp>
        <p:grpSp>
          <p:nvGrpSpPr>
            <p:cNvPr id="40" name="olcut-isaretleri"/>
            <p:cNvGrpSpPr/>
            <p:nvPr/>
          </p:nvGrpSpPr>
          <p:grpSpPr>
            <a:xfrm>
              <a:off x="7924800" y="3067050"/>
              <a:ext cx="76200" cy="1276350"/>
              <a:chOff x="7924800" y="3067050"/>
              <a:chExt cx="76200" cy="1276350"/>
            </a:xfrm>
          </p:grpSpPr>
          <p:sp>
            <p:nvSpPr>
              <p:cNvPr id="36" name="Rectangle 36"/>
              <p:cNvSpPr/>
              <p:nvPr/>
            </p:nvSpPr>
            <p:spPr>
              <a:xfrm>
                <a:off x="7924800" y="3067050"/>
                <a:ext cx="76200" cy="76200"/>
              </a:xfrm>
              <a:prstGeom prst="rect">
                <a:avLst/>
              </a:prstGeom>
              <a:solidFill>
                <a:srgbClr val="2E86AB"/>
              </a:solidFill>
              <a:ln>
                <a:noFill/>
              </a:ln>
            </p:spPr>
          </p:sp>
          <p:sp>
            <p:nvSpPr>
              <p:cNvPr id="37" name="Rectangle 37"/>
              <p:cNvSpPr/>
              <p:nvPr/>
            </p:nvSpPr>
            <p:spPr>
              <a:xfrm>
                <a:off x="7924800" y="3467100"/>
                <a:ext cx="76200" cy="76200"/>
              </a:xfrm>
              <a:prstGeom prst="rect">
                <a:avLst/>
              </a:prstGeom>
              <a:solidFill>
                <a:srgbClr val="2E86AB"/>
              </a:solidFill>
              <a:ln>
                <a:noFill/>
              </a:ln>
            </p:spPr>
          </p:sp>
          <p:sp>
            <p:nvSpPr>
              <p:cNvPr id="38" name="Rectangle 38"/>
              <p:cNvSpPr/>
              <p:nvPr/>
            </p:nvSpPr>
            <p:spPr>
              <a:xfrm>
                <a:off x="7924800" y="3867150"/>
                <a:ext cx="76200" cy="76200"/>
              </a:xfrm>
              <a:prstGeom prst="rect">
                <a:avLst/>
              </a:prstGeom>
              <a:solidFill>
                <a:srgbClr val="2E86AB"/>
              </a:solidFill>
              <a:ln>
                <a:noFill/>
              </a:ln>
            </p:spPr>
          </p:sp>
          <p:sp>
            <p:nvSpPr>
              <p:cNvPr id="39" name="Rectangle 39"/>
              <p:cNvSpPr/>
              <p:nvPr/>
            </p:nvSpPr>
            <p:spPr>
              <a:xfrm>
                <a:off x="7924800" y="4267200"/>
                <a:ext cx="76200" cy="76200"/>
              </a:xfrm>
              <a:prstGeom prst="rect">
                <a:avLst/>
              </a:prstGeom>
              <a:solidFill>
                <a:srgbClr val="2E86AB"/>
              </a:solidFill>
              <a:ln>
                <a:noFill/>
              </a:ln>
            </p:spPr>
          </p:sp>
        </p:grpSp>
        <p:grpSp>
          <p:nvGrpSpPr>
            <p:cNvPr id="45" name="olcut-metinleri"/>
            <p:cNvGrpSpPr/>
            <p:nvPr/>
          </p:nvGrpSpPr>
          <p:grpSpPr>
            <a:xfrm>
              <a:off x="8107299" y="2973229"/>
              <a:ext cx="2734596" cy="1508189"/>
              <a:chOff x="8107299" y="2973229"/>
              <a:chExt cx="2734596" cy="1508189"/>
            </a:xfrm>
          </p:grpSpPr>
          <p:sp>
            <p:nvSpPr>
              <p:cNvPr id="41" name="TextBox 41"/>
              <p:cNvSpPr txBox="1"/>
              <p:nvPr/>
            </p:nvSpPr>
            <p:spPr>
              <a:xfrm>
                <a:off x="8107299" y="2973229"/>
                <a:ext cx="222436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Programın çalışması</a:t>
                </a:r>
              </a:p>
            </p:txBody>
          </p:sp>
          <p:sp>
            <p:nvSpPr>
              <p:cNvPr id="42" name="TextBox 42"/>
              <p:cNvSpPr txBox="1"/>
              <p:nvPr/>
            </p:nvSpPr>
            <p:spPr>
              <a:xfrm>
                <a:off x="8107299" y="3373279"/>
                <a:ext cx="27345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Proje yapısının doğruluğu</a:t>
                </a:r>
              </a:p>
            </p:txBody>
          </p:sp>
          <p:sp>
            <p:nvSpPr>
              <p:cNvPr id="43" name="TextBox 43"/>
              <p:cNvSpPr txBox="1"/>
              <p:nvPr/>
            </p:nvSpPr>
            <p:spPr>
              <a:xfrm>
                <a:off x="8107299" y="3773329"/>
                <a:ext cx="225566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Kodun açıklanabilmesi</a:t>
                </a:r>
              </a:p>
            </p:txBody>
          </p:sp>
          <p:sp>
            <p:nvSpPr>
              <p:cNvPr id="44" name="TextBox 44"/>
              <p:cNvSpPr txBox="1"/>
              <p:nvPr/>
            </p:nvSpPr>
            <p:spPr>
              <a:xfrm>
                <a:off x="8107299" y="4173379"/>
                <a:ext cx="272365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Yapılandırmanın güvenliği</a:t>
                </a:r>
              </a:p>
            </p:txBody>
          </p:sp>
        </p:grpSp>
      </p:grpSp>
      <p:grpSp>
        <p:nvGrpSpPr>
          <p:cNvPr id="50" name="port-notu"/>
          <p:cNvGrpSpPr/>
          <p:nvPr/>
        </p:nvGrpSpPr>
        <p:grpSpPr>
          <a:xfrm>
            <a:off x="7620000" y="5200650"/>
            <a:ext cx="3962400" cy="1085850"/>
            <a:chOff x="7620000" y="5200650"/>
            <a:chExt cx="3962400" cy="1085850"/>
          </a:xfrm>
        </p:grpSpPr>
        <p:sp>
          <p:nvSpPr>
            <p:cNvPr id="47" name="Rectangle 47"/>
            <p:cNvSpPr/>
            <p:nvPr/>
          </p:nvSpPr>
          <p:spPr>
            <a:xfrm>
              <a:off x="7620000" y="5200650"/>
              <a:ext cx="3962400" cy="1085850"/>
            </a:xfrm>
            <a:prstGeom prst="rect">
              <a:avLst/>
            </a:prstGeom>
            <a:solidFill>
              <a:srgbClr val="FFFFFF"/>
            </a:solidFill>
            <a:ln w="9525">
              <a:solidFill>
                <a:srgbClr val="B8CBD3"/>
              </a:solidFill>
            </a:ln>
          </p:spPr>
        </p:sp>
        <p:sp>
          <p:nvSpPr>
            <p:cNvPr id="48" name="Rectangle 48"/>
            <p:cNvSpPr/>
            <p:nvPr/>
          </p:nvSpPr>
          <p:spPr>
            <a:xfrm>
              <a:off x="7620000" y="5200650"/>
              <a:ext cx="38100" cy="1085850"/>
            </a:xfrm>
            <a:prstGeom prst="rect">
              <a:avLst/>
            </a:prstGeom>
            <a:solidFill>
              <a:srgbClr val="2E86AB"/>
            </a:solidFill>
            <a:ln>
              <a:noFill/>
            </a:ln>
          </p:spPr>
        </p:sp>
        <p:sp>
          <p:nvSpPr>
            <p:cNvPr id="49" name="TextBox 49"/>
            <p:cNvSpPr txBox="1"/>
            <p:nvPr/>
          </p:nvSpPr>
          <p:spPr>
            <a:xfrm>
              <a:off x="7918704" y="5375910"/>
              <a:ext cx="29992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PORT tanımlı değilken varsayılan portla</a:t>
              </a:r>
              <a:br/>
              <a:r>
                <a:rPr lang="tr-TR" sz="1200" dirty="0">
                  <a:solidFill>
                    <a:srgbClr val="52616B"/>
                  </a:solidFill>
                  <a:latin typeface="+mn-lt"/>
                  <a:ea typeface="+mn-ea"/>
                  <a:cs typeface="+mn-cs"/>
                </a:rPr>
                <a:t>açılmak kabul edilebilir; “merhaba” gibi</a:t>
              </a:r>
              <a:br/>
              <a:r>
                <a:rPr lang="tr-TR" sz="1200" dirty="0">
                  <a:solidFill>
                    <a:srgbClr val="52616B"/>
                  </a:solidFill>
                  <a:latin typeface="+mn-lt"/>
                  <a:ea typeface="+mn-ea"/>
                  <a:cs typeface="+mn-cs"/>
                </a:rPr>
                <a:t>geçersiz bir değerle sessizce çalışmak</a:t>
              </a:r>
              <a:br/>
              <a:r>
                <a:rPr lang="tr-TR" sz="1200" dirty="0">
                  <a:solidFill>
                    <a:srgbClr val="52616B"/>
                  </a:solidFill>
                  <a:latin typeface="+mn-lt"/>
                  <a:ea typeface="+mn-ea"/>
                  <a:cs typeface="+mn-cs"/>
                </a:rPr>
                <a:t>iyi bir tasarım değildir.</a:t>
              </a:r>
            </a:p>
          </p:txBody>
        </p:sp>
      </p:grpSp>
      <p:grpSp>
        <p:nvGrpSpPr>
          <p:cNvPr id="53" name="footer"/>
          <p:cNvGrpSpPr/>
          <p:nvPr/>
        </p:nvGrpSpPr>
        <p:grpSpPr>
          <a:xfrm>
            <a:off x="603504" y="6461760"/>
            <a:ext cx="10984992" cy="234696"/>
            <a:chOff x="603504" y="6461760"/>
            <a:chExt cx="10984992" cy="234696"/>
          </a:xfrm>
        </p:grpSpPr>
        <p:sp>
          <p:nvSpPr>
            <p:cNvPr id="51" name="TextBox 51"/>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52" name="TextBox 5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89452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kavram birlikte çalışır</a:t>
              </a:r>
            </a:p>
          </p:txBody>
        </p:sp>
      </p:grpSp>
      <p:grpSp>
        <p:nvGrpSpPr>
          <p:cNvPr id="18" name="runtime-bandi"/>
          <p:cNvGrpSpPr/>
          <p:nvPr/>
        </p:nvGrpSpPr>
        <p:grpSpPr>
          <a:xfrm>
            <a:off x="609600" y="1333500"/>
            <a:ext cx="10972800" cy="914400"/>
            <a:chOff x="609600" y="1333500"/>
            <a:chExt cx="10972800" cy="914400"/>
          </a:xfrm>
        </p:grpSpPr>
        <p:sp>
          <p:nvSpPr>
            <p:cNvPr id="14" name="Rectangle 14"/>
            <p:cNvSpPr/>
            <p:nvPr/>
          </p:nvSpPr>
          <p:spPr>
            <a:xfrm>
              <a:off x="609600" y="1333500"/>
              <a:ext cx="10972800" cy="914400"/>
            </a:xfrm>
            <a:prstGeom prst="rect">
              <a:avLst/>
            </a:prstGeom>
            <a:solidFill>
              <a:srgbClr val="12355B"/>
            </a:solidFill>
            <a:ln>
              <a:noFill/>
            </a:ln>
          </p:spPr>
        </p:sp>
        <p:sp>
          <p:nvSpPr>
            <p:cNvPr id="15" name="Rectangle 15"/>
            <p:cNvSpPr/>
            <p:nvPr/>
          </p:nvSpPr>
          <p:spPr>
            <a:xfrm>
              <a:off x="609600" y="1333500"/>
              <a:ext cx="57150" cy="914400"/>
            </a:xfrm>
            <a:prstGeom prst="rect">
              <a:avLst/>
            </a:prstGeom>
            <a:solidFill>
              <a:srgbClr val="00A6A6"/>
            </a:solidFill>
            <a:ln>
              <a:noFill/>
            </a:ln>
          </p:spPr>
        </p:sp>
        <p:sp>
          <p:nvSpPr>
            <p:cNvPr id="16" name="TextBox 16"/>
            <p:cNvSpPr txBox="1"/>
            <p:nvPr/>
          </p:nvSpPr>
          <p:spPr>
            <a:xfrm>
              <a:off x="902970" y="1509712"/>
              <a:ext cx="5501941" cy="440055"/>
            </a:xfrm>
            <a:prstGeom prst="rect">
              <a:avLst/>
            </a:prstGeom>
            <a:noFill/>
            <a:ln>
              <a:noFill/>
            </a:ln>
          </p:spPr>
          <p:txBody>
            <a:bodyPr wrap="none" lIns="0" tIns="0" rIns="0" bIns="0" anchor="t" anchorCtr="0">
              <a:spAutoFit/>
            </a:bodyPr>
            <a:lstStyle/>
            <a:p>
              <a:pPr algn="l"/>
              <a:r>
                <a:rPr lang="tr-TR" sz="2250" b="1" dirty="0">
                  <a:solidFill>
                    <a:srgbClr val="FFFFFF"/>
                  </a:solidFill>
                  <a:latin typeface="+mn-lt"/>
                  <a:ea typeface="+mn-ea"/>
                  <a:cs typeface="+mn-cs"/>
                </a:rPr>
                <a:t>Node.js runtime — V8 motoru + libuv</a:t>
              </a:r>
            </a:p>
          </p:txBody>
        </p:sp>
        <p:sp>
          <p:nvSpPr>
            <p:cNvPr id="17" name="TextBox 17"/>
            <p:cNvSpPr txBox="1"/>
            <p:nvPr/>
          </p:nvSpPr>
          <p:spPr>
            <a:xfrm>
              <a:off x="908304" y="1908810"/>
              <a:ext cx="415303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Diğer dört kavramın üzerinde çalıştığı temel ortam</a:t>
              </a:r>
            </a:p>
          </p:txBody>
        </p:sp>
      </p:grpSp>
      <p:grpSp>
        <p:nvGrpSpPr>
          <p:cNvPr id="25" name="dagilim-oklari"/>
          <p:cNvGrpSpPr/>
          <p:nvPr/>
        </p:nvGrpSpPr>
        <p:grpSpPr>
          <a:xfrm>
            <a:off x="2971800" y="2286000"/>
            <a:ext cx="6248401" cy="476250"/>
            <a:chOff x="2971800" y="2286000"/>
            <a:chExt cx="6248401" cy="476250"/>
          </a:xfrm>
        </p:grpSpPr>
        <p:grpSp>
          <p:nvGrpSpPr>
            <p:cNvPr id="21" name="dagilim-cizgileri"/>
            <p:cNvGrpSpPr/>
            <p:nvPr/>
          </p:nvGrpSpPr>
          <p:grpSpPr>
            <a:xfrm>
              <a:off x="2971800" y="2286000"/>
              <a:ext cx="6248401" cy="476250"/>
              <a:chOff x="2971800" y="2286000"/>
              <a:chExt cx="6248401" cy="476250"/>
            </a:xfrm>
          </p:grpSpPr>
          <p:sp>
            <p:nvSpPr>
              <p:cNvPr id="19" name="Line 19"/>
              <p:cNvSpPr/>
              <p:nvPr/>
            </p:nvSpPr>
            <p:spPr>
              <a:xfrm>
                <a:off x="2971800" y="2286000"/>
                <a:ext cx="1" cy="476250"/>
              </a:xfrm>
              <a:prstGeom prst="line">
                <a:avLst/>
              </a:prstGeom>
              <a:noFill/>
              <a:ln w="19050">
                <a:solidFill>
                  <a:srgbClr val="00A6A6"/>
                </a:solidFill>
                <a:tailEnd type="triangle" w="lg" len="lg"/>
              </a:ln>
            </p:spPr>
          </p:sp>
          <p:sp>
            <p:nvSpPr>
              <p:cNvPr id="20" name="Line 20"/>
              <p:cNvSpPr/>
              <p:nvPr/>
            </p:nvSpPr>
            <p:spPr>
              <a:xfrm>
                <a:off x="9220200" y="2286000"/>
                <a:ext cx="1" cy="476250"/>
              </a:xfrm>
              <a:prstGeom prst="line">
                <a:avLst/>
              </a:prstGeom>
              <a:noFill/>
              <a:ln w="19050">
                <a:solidFill>
                  <a:srgbClr val="00A6A6"/>
                </a:solidFill>
                <a:tailEnd type="triangle" w="lg" len="lg"/>
              </a:ln>
            </p:spPr>
          </p:sp>
        </p:grpSp>
        <p:grpSp>
          <p:nvGrpSpPr>
            <p:cNvPr id="24" name="dagilim-etiketleri"/>
            <p:cNvGrpSpPr/>
            <p:nvPr/>
          </p:nvGrpSpPr>
          <p:grpSpPr>
            <a:xfrm>
              <a:off x="3137154" y="2461260"/>
              <a:ext cx="4679442" cy="234696"/>
              <a:chOff x="3137154" y="2461260"/>
              <a:chExt cx="4679442" cy="234696"/>
            </a:xfrm>
          </p:grpSpPr>
          <p:sp>
            <p:nvSpPr>
              <p:cNvPr id="22" name="TextBox 22"/>
              <p:cNvSpPr txBox="1"/>
              <p:nvPr/>
            </p:nvSpPr>
            <p:spPr>
              <a:xfrm>
                <a:off x="3137154" y="2461260"/>
                <a:ext cx="16518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ortamı yapılandırır</a:t>
                </a:r>
              </a:p>
            </p:txBody>
          </p:sp>
          <p:sp>
            <p:nvSpPr>
              <p:cNvPr id="23" name="TextBox 23"/>
              <p:cNvSpPr txBox="1"/>
              <p:nvPr/>
            </p:nvSpPr>
            <p:spPr>
              <a:xfrm>
                <a:off x="6592824" y="2461260"/>
                <a:ext cx="1223772"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yeteneği sağlar</a:t>
                </a:r>
              </a:p>
            </p:txBody>
          </p:sp>
        </p:grpSp>
      </p:grpSp>
      <p:grpSp>
        <p:nvGrpSpPr>
          <p:cNvPr id="35" name="yapilandirma-sutunu"/>
          <p:cNvGrpSpPr/>
          <p:nvPr/>
        </p:nvGrpSpPr>
        <p:grpSpPr>
          <a:xfrm>
            <a:off x="603504" y="2880360"/>
            <a:ext cx="4730496" cy="1920240"/>
            <a:chOff x="603504" y="2880360"/>
            <a:chExt cx="4730496" cy="1920240"/>
          </a:xfrm>
        </p:grpSpPr>
        <p:sp>
          <p:nvSpPr>
            <p:cNvPr id="26" name="TextBox 26"/>
            <p:cNvSpPr txBox="1"/>
            <p:nvPr/>
          </p:nvSpPr>
          <p:spPr>
            <a:xfrm>
              <a:off x="603504" y="2880360"/>
              <a:ext cx="10875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YAPILANDIRMA</a:t>
              </a:r>
            </a:p>
          </p:txBody>
        </p:sp>
        <p:sp>
          <p:nvSpPr>
            <p:cNvPr id="27" name="Rectangle 27"/>
            <p:cNvSpPr/>
            <p:nvPr/>
          </p:nvSpPr>
          <p:spPr>
            <a:xfrm>
              <a:off x="609600" y="3124200"/>
              <a:ext cx="4724400" cy="762000"/>
            </a:xfrm>
            <a:prstGeom prst="rect">
              <a:avLst/>
            </a:prstGeom>
            <a:solidFill>
              <a:srgbClr val="FFFFFF"/>
            </a:solidFill>
            <a:ln w="9525">
              <a:solidFill>
                <a:srgbClr val="B8CBD3"/>
              </a:solidFill>
            </a:ln>
          </p:spPr>
        </p:sp>
        <p:sp>
          <p:nvSpPr>
            <p:cNvPr id="28" name="Rectangle 28"/>
            <p:cNvSpPr/>
            <p:nvPr/>
          </p:nvSpPr>
          <p:spPr>
            <a:xfrm>
              <a:off x="609600" y="3124200"/>
              <a:ext cx="38100" cy="762000"/>
            </a:xfrm>
            <a:prstGeom prst="rect">
              <a:avLst/>
            </a:prstGeom>
            <a:solidFill>
              <a:srgbClr val="2E86AB"/>
            </a:solidFill>
            <a:ln>
              <a:noFill/>
            </a:ln>
          </p:spPr>
        </p:sp>
        <p:sp>
          <p:nvSpPr>
            <p:cNvPr id="29" name="TextBox 29"/>
            <p:cNvSpPr txBox="1"/>
            <p:nvPr/>
          </p:nvSpPr>
          <p:spPr>
            <a:xfrm>
              <a:off x="904494" y="3237548"/>
              <a:ext cx="259699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npm + package.json</a:t>
              </a:r>
            </a:p>
          </p:txBody>
        </p:sp>
        <p:sp>
          <p:nvSpPr>
            <p:cNvPr id="30" name="TextBox 30"/>
            <p:cNvSpPr txBox="1"/>
            <p:nvPr/>
          </p:nvSpPr>
          <p:spPr>
            <a:xfrm>
              <a:off x="908304" y="3585210"/>
              <a:ext cx="29897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Bağımlılıkları ve komutları tanımlar</a:t>
              </a:r>
            </a:p>
          </p:txBody>
        </p:sp>
        <p:sp>
          <p:nvSpPr>
            <p:cNvPr id="31" name="Rectangle 31"/>
            <p:cNvSpPr/>
            <p:nvPr/>
          </p:nvSpPr>
          <p:spPr>
            <a:xfrm>
              <a:off x="609600" y="4038600"/>
              <a:ext cx="4724400" cy="762000"/>
            </a:xfrm>
            <a:prstGeom prst="rect">
              <a:avLst/>
            </a:prstGeom>
            <a:solidFill>
              <a:srgbClr val="FFFFFF"/>
            </a:solidFill>
            <a:ln w="9525">
              <a:solidFill>
                <a:srgbClr val="B8CBD3"/>
              </a:solidFill>
            </a:ln>
          </p:spPr>
        </p:sp>
        <p:sp>
          <p:nvSpPr>
            <p:cNvPr id="32" name="Rectangle 32"/>
            <p:cNvSpPr/>
            <p:nvPr/>
          </p:nvSpPr>
          <p:spPr>
            <a:xfrm>
              <a:off x="609600" y="4038600"/>
              <a:ext cx="38100" cy="762000"/>
            </a:xfrm>
            <a:prstGeom prst="rect">
              <a:avLst/>
            </a:prstGeom>
            <a:solidFill>
              <a:srgbClr val="2E86AB"/>
            </a:solidFill>
            <a:ln>
              <a:noFill/>
            </a:ln>
          </p:spPr>
        </p:sp>
        <p:sp>
          <p:nvSpPr>
            <p:cNvPr id="33" name="TextBox 33"/>
            <p:cNvSpPr txBox="1"/>
            <p:nvPr/>
          </p:nvSpPr>
          <p:spPr>
            <a:xfrm>
              <a:off x="904494" y="4151948"/>
              <a:ext cx="352037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process + ortam değişkeni</a:t>
              </a:r>
            </a:p>
          </p:txBody>
        </p:sp>
        <p:sp>
          <p:nvSpPr>
            <p:cNvPr id="34" name="TextBox 34"/>
            <p:cNvSpPr txBox="1"/>
            <p:nvPr/>
          </p:nvSpPr>
          <p:spPr>
            <a:xfrm>
              <a:off x="908304" y="4499610"/>
              <a:ext cx="26584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Ortam bilgisini ve ayarları sağlar</a:t>
              </a:r>
            </a:p>
          </p:txBody>
        </p:sp>
      </p:grpSp>
      <p:grpSp>
        <p:nvGrpSpPr>
          <p:cNvPr id="38" name="yapilandirma-etkisi"/>
          <p:cNvGrpSpPr/>
          <p:nvPr/>
        </p:nvGrpSpPr>
        <p:grpSpPr>
          <a:xfrm>
            <a:off x="5353050" y="3505200"/>
            <a:ext cx="1466850" cy="971550"/>
            <a:chOff x="5353050" y="3505200"/>
            <a:chExt cx="1466850" cy="971550"/>
          </a:xfrm>
        </p:grpSpPr>
        <p:sp>
          <p:nvSpPr>
            <p:cNvPr id="36" name="Line 36"/>
            <p:cNvSpPr/>
            <p:nvPr/>
          </p:nvSpPr>
          <p:spPr>
            <a:xfrm>
              <a:off x="5353050" y="3505200"/>
              <a:ext cx="1466850" cy="800100"/>
            </a:xfrm>
            <a:prstGeom prst="line">
              <a:avLst/>
            </a:prstGeom>
            <a:noFill/>
            <a:ln w="19050">
              <a:solidFill>
                <a:srgbClr val="2E86AB"/>
              </a:solidFill>
              <a:prstDash val="lgDash"/>
              <a:tailEnd type="triangle" w="lg" len="lg"/>
            </a:ln>
          </p:spPr>
        </p:sp>
        <p:sp>
          <p:nvSpPr>
            <p:cNvPr id="37" name="Line 37"/>
            <p:cNvSpPr/>
            <p:nvPr/>
          </p:nvSpPr>
          <p:spPr>
            <a:xfrm>
              <a:off x="5353050" y="4438650"/>
              <a:ext cx="1466850" cy="38100"/>
            </a:xfrm>
            <a:prstGeom prst="line">
              <a:avLst/>
            </a:prstGeom>
            <a:noFill/>
            <a:ln w="19050">
              <a:solidFill>
                <a:srgbClr val="2E86AB"/>
              </a:solidFill>
              <a:prstDash val="lgDash"/>
              <a:tailEnd type="triangle" w="lg" len="lg"/>
            </a:ln>
          </p:spPr>
        </p:sp>
      </p:grpSp>
      <p:grpSp>
        <p:nvGrpSpPr>
          <p:cNvPr id="49" name="calisma-sutunu"/>
          <p:cNvGrpSpPr/>
          <p:nvPr/>
        </p:nvGrpSpPr>
        <p:grpSpPr>
          <a:xfrm>
            <a:off x="6851904" y="2880360"/>
            <a:ext cx="4730496" cy="1920240"/>
            <a:chOff x="6851904" y="2880360"/>
            <a:chExt cx="4730496" cy="1920240"/>
          </a:xfrm>
        </p:grpSpPr>
        <p:sp>
          <p:nvSpPr>
            <p:cNvPr id="39" name="TextBox 39"/>
            <p:cNvSpPr txBox="1"/>
            <p:nvPr/>
          </p:nvSpPr>
          <p:spPr>
            <a:xfrm>
              <a:off x="6851904" y="2880360"/>
              <a:ext cx="95097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ÇALIŞMA ANI</a:t>
              </a:r>
            </a:p>
          </p:txBody>
        </p:sp>
        <p:sp>
          <p:nvSpPr>
            <p:cNvPr id="40" name="Rectangle 40"/>
            <p:cNvSpPr/>
            <p:nvPr/>
          </p:nvSpPr>
          <p:spPr>
            <a:xfrm>
              <a:off x="6858000" y="3124200"/>
              <a:ext cx="4724400" cy="762000"/>
            </a:xfrm>
            <a:prstGeom prst="rect">
              <a:avLst/>
            </a:prstGeom>
            <a:solidFill>
              <a:srgbClr val="FFFFFF"/>
            </a:solidFill>
            <a:ln w="9525">
              <a:solidFill>
                <a:srgbClr val="B8CBD3"/>
              </a:solidFill>
            </a:ln>
          </p:spPr>
        </p:sp>
        <p:sp>
          <p:nvSpPr>
            <p:cNvPr id="41" name="Rectangle 41"/>
            <p:cNvSpPr/>
            <p:nvPr/>
          </p:nvSpPr>
          <p:spPr>
            <a:xfrm>
              <a:off x="6858000" y="3124200"/>
              <a:ext cx="38100" cy="762000"/>
            </a:xfrm>
            <a:prstGeom prst="rect">
              <a:avLst/>
            </a:prstGeom>
            <a:solidFill>
              <a:srgbClr val="00A6A6"/>
            </a:solidFill>
            <a:ln>
              <a:noFill/>
            </a:ln>
          </p:spPr>
        </p:sp>
        <p:sp>
          <p:nvSpPr>
            <p:cNvPr id="42" name="TextBox 42"/>
            <p:cNvSpPr txBox="1"/>
            <p:nvPr/>
          </p:nvSpPr>
          <p:spPr>
            <a:xfrm>
              <a:off x="7152894" y="3237548"/>
              <a:ext cx="139798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event loop</a:t>
              </a:r>
            </a:p>
          </p:txBody>
        </p:sp>
        <p:sp>
          <p:nvSpPr>
            <p:cNvPr id="43" name="TextBox 43"/>
            <p:cNvSpPr txBox="1"/>
            <p:nvPr/>
          </p:nvSpPr>
          <p:spPr>
            <a:xfrm>
              <a:off x="7156704" y="3585210"/>
              <a:ext cx="25475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Bekleyen I/O işlerini sıraya alır</a:t>
              </a:r>
            </a:p>
          </p:txBody>
        </p:sp>
        <p:sp>
          <p:nvSpPr>
            <p:cNvPr id="44" name="Line 44"/>
            <p:cNvSpPr/>
            <p:nvPr/>
          </p:nvSpPr>
          <p:spPr>
            <a:xfrm>
              <a:off x="9220200" y="3886200"/>
              <a:ext cx="1" cy="114300"/>
            </a:xfrm>
            <a:prstGeom prst="line">
              <a:avLst/>
            </a:prstGeom>
            <a:noFill/>
            <a:ln w="19050">
              <a:solidFill>
                <a:srgbClr val="00A6A6"/>
              </a:solidFill>
              <a:tailEnd type="triangle" w="lg" len="lg"/>
            </a:ln>
          </p:spPr>
        </p:sp>
        <p:sp>
          <p:nvSpPr>
            <p:cNvPr id="45" name="Rectangle 45"/>
            <p:cNvSpPr/>
            <p:nvPr/>
          </p:nvSpPr>
          <p:spPr>
            <a:xfrm>
              <a:off x="6858000" y="4038600"/>
              <a:ext cx="4724400" cy="762000"/>
            </a:xfrm>
            <a:prstGeom prst="rect">
              <a:avLst/>
            </a:prstGeom>
            <a:solidFill>
              <a:srgbClr val="FFFFFF"/>
            </a:solidFill>
            <a:ln w="9525">
              <a:solidFill>
                <a:srgbClr val="B8CBD3"/>
              </a:solidFill>
            </a:ln>
          </p:spPr>
        </p:sp>
        <p:sp>
          <p:nvSpPr>
            <p:cNvPr id="46" name="Rectangle 46"/>
            <p:cNvSpPr/>
            <p:nvPr/>
          </p:nvSpPr>
          <p:spPr>
            <a:xfrm>
              <a:off x="6858000" y="4038600"/>
              <a:ext cx="38100" cy="762000"/>
            </a:xfrm>
            <a:prstGeom prst="rect">
              <a:avLst/>
            </a:prstGeom>
            <a:solidFill>
              <a:srgbClr val="00A6A6"/>
            </a:solidFill>
            <a:ln>
              <a:noFill/>
            </a:ln>
          </p:spPr>
        </p:sp>
        <p:sp>
          <p:nvSpPr>
            <p:cNvPr id="47" name="TextBox 47"/>
            <p:cNvSpPr txBox="1"/>
            <p:nvPr/>
          </p:nvSpPr>
          <p:spPr>
            <a:xfrm>
              <a:off x="7152894" y="4151948"/>
              <a:ext cx="267968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node:http sunucusu</a:t>
              </a:r>
            </a:p>
          </p:txBody>
        </p:sp>
        <p:sp>
          <p:nvSpPr>
            <p:cNvPr id="48" name="TextBox 48"/>
            <p:cNvSpPr txBox="1"/>
            <p:nvPr/>
          </p:nvSpPr>
          <p:spPr>
            <a:xfrm>
              <a:off x="7156704" y="4499610"/>
              <a:ext cx="2577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İstekleri karşılar, yanıt üretir</a:t>
              </a:r>
            </a:p>
          </p:txBody>
        </p:sp>
      </p:grpSp>
      <p:grpSp>
        <p:nvGrpSpPr>
          <p:cNvPr id="56" name="gosterge"/>
          <p:cNvGrpSpPr/>
          <p:nvPr/>
        </p:nvGrpSpPr>
        <p:grpSpPr>
          <a:xfrm>
            <a:off x="601599" y="5143500"/>
            <a:ext cx="10980801" cy="1242917"/>
            <a:chOff x="601599" y="5143500"/>
            <a:chExt cx="10980801" cy="1242917"/>
          </a:xfrm>
        </p:grpSpPr>
        <p:sp>
          <p:nvSpPr>
            <p:cNvPr id="50" name="Line 50"/>
            <p:cNvSpPr/>
            <p:nvPr/>
          </p:nvSpPr>
          <p:spPr>
            <a:xfrm>
              <a:off x="609600" y="51435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51" name="Line 51"/>
            <p:cNvSpPr/>
            <p:nvPr/>
          </p:nvSpPr>
          <p:spPr>
            <a:xfrm>
              <a:off x="609600" y="5486400"/>
              <a:ext cx="571500" cy="1"/>
            </a:xfrm>
            <a:prstGeom prst="line">
              <a:avLst/>
            </a:prstGeom>
            <a:noFill/>
            <a:ln w="19050">
              <a:solidFill>
                <a:srgbClr val="00A6A6"/>
              </a:solidFill>
              <a:tailEnd type="triangle" w="lg" len="lg"/>
            </a:ln>
          </p:spPr>
        </p:sp>
        <p:sp>
          <p:nvSpPr>
            <p:cNvPr id="52" name="TextBox 52"/>
            <p:cNvSpPr txBox="1"/>
            <p:nvPr/>
          </p:nvSpPr>
          <p:spPr>
            <a:xfrm>
              <a:off x="1327404" y="5414010"/>
              <a:ext cx="34910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Düz ok: runtime'ın sağladığı temel yetenek</a:t>
              </a:r>
            </a:p>
          </p:txBody>
        </p:sp>
        <p:sp>
          <p:nvSpPr>
            <p:cNvPr id="53" name="Line 53"/>
            <p:cNvSpPr/>
            <p:nvPr/>
          </p:nvSpPr>
          <p:spPr>
            <a:xfrm>
              <a:off x="6096000" y="5486400"/>
              <a:ext cx="571500" cy="1"/>
            </a:xfrm>
            <a:prstGeom prst="line">
              <a:avLst/>
            </a:prstGeom>
            <a:noFill/>
            <a:ln w="19050">
              <a:solidFill>
                <a:srgbClr val="2E86AB"/>
              </a:solidFill>
              <a:prstDash val="lgDash"/>
              <a:tailEnd type="triangle" w="lg" len="lg"/>
            </a:ln>
          </p:spPr>
        </p:sp>
        <p:sp>
          <p:nvSpPr>
            <p:cNvPr id="54" name="TextBox 54"/>
            <p:cNvSpPr txBox="1"/>
            <p:nvPr/>
          </p:nvSpPr>
          <p:spPr>
            <a:xfrm>
              <a:off x="6813804" y="5414010"/>
              <a:ext cx="34662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Kesikli ok: yapılandırmanın sunucuya etkisi</a:t>
              </a:r>
            </a:p>
          </p:txBody>
        </p:sp>
        <p:sp>
          <p:nvSpPr>
            <p:cNvPr id="55" name="TextBox 55"/>
            <p:cNvSpPr txBox="1"/>
            <p:nvPr/>
          </p:nvSpPr>
          <p:spPr>
            <a:xfrm>
              <a:off x="601599" y="5830729"/>
              <a:ext cx="879788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 xml:space="preserve">Bu bölümdeki çalışma ortamı bilgisi, </a:t>
              </a:r>
              <a:r>
                <a:rPr lang="tr-TR" sz="1580" b="1" dirty="0">
                  <a:solidFill>
                    <a:srgbClr val="12355B"/>
                  </a:solidFill>
                  <a:latin typeface="+mn-lt"/>
                  <a:ea typeface="+mn-ea"/>
                  <a:cs typeface="+mn-cs"/>
                </a:rPr>
                <a:t>Üniversite Laboratuvar Yönetim Sistemi</a:t>
              </a:r>
              <a:r>
                <a:rPr lang="tr-TR" sz="1580" dirty="0">
                  <a:solidFill>
                    <a:srgbClr val="172B3A"/>
                  </a:solidFill>
                  <a:latin typeface="+mn-lt"/>
                  <a:ea typeface="+mn-ea"/>
                  <a:cs typeface="+mn-cs"/>
                </a:rPr>
                <a:t>'nin sunucu</a:t>
              </a:r>
              <a:br/>
              <a:r>
                <a:rPr lang="tr-TR" sz="1580" dirty="0">
                  <a:solidFill>
                    <a:srgbClr val="172B3A"/>
                  </a:solidFill>
                  <a:latin typeface="+mn-lt"/>
                  <a:ea typeface="+mn-ea"/>
                  <a:cs typeface="+mn-cs"/>
                </a:rPr>
                <a:t>sürecini ayakta tutar: ortam değişkeniyle yapılandırma, npm betiğiyle başlatma.</a:t>
              </a:r>
            </a:p>
          </p:txBody>
        </p:sp>
      </p:grpSp>
      <p:grpSp>
        <p:nvGrpSpPr>
          <p:cNvPr id="59" name="footer"/>
          <p:cNvGrpSpPr/>
          <p:nvPr/>
        </p:nvGrpSpPr>
        <p:grpSpPr>
          <a:xfrm>
            <a:off x="603504" y="6461760"/>
            <a:ext cx="10984992" cy="234696"/>
            <a:chOff x="603504" y="6461760"/>
            <a:chExt cx="10984992" cy="234696"/>
          </a:xfrm>
        </p:grpSpPr>
        <p:sp>
          <p:nvSpPr>
            <p:cNvPr id="57" name="TextBox 57"/>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58" name="TextBox 5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67" name="sorumluluk-matrisi"/>
          <p:cNvGrpSpPr/>
          <p:nvPr/>
        </p:nvGrpSpPr>
        <p:grpSpPr>
          <a:xfrm>
            <a:off x="603504" y="1184910"/>
            <a:ext cx="10978896" cy="5054346"/>
            <a:chOff x="603504" y="1184910"/>
            <a:chExt cx="10978896" cy="5054346"/>
          </a:xfrm>
        </p:grpSpPr>
        <p:sp>
          <p:nvSpPr>
            <p:cNvPr id="13" name="TextBox 13"/>
            <p:cNvSpPr txBox="1"/>
            <p:nvPr/>
          </p:nvSpPr>
          <p:spPr>
            <a:xfrm>
              <a:off x="603504" y="1184910"/>
              <a:ext cx="54939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kavramın görevi kadar sorumluluk sınırı da mimari bir karardır.</a:t>
              </a:r>
            </a:p>
          </p:txBody>
        </p:sp>
        <p:sp>
          <p:nvSpPr>
            <p:cNvPr id="14" name="Rectangle 14"/>
            <p:cNvSpPr/>
            <p:nvPr/>
          </p:nvSpPr>
          <p:spPr>
            <a:xfrm>
              <a:off x="609600" y="1428750"/>
              <a:ext cx="10972800" cy="304800"/>
            </a:xfrm>
            <a:prstGeom prst="rect">
              <a:avLst/>
            </a:prstGeom>
            <a:solidFill>
              <a:srgbClr val="EAF4F6"/>
            </a:solidFill>
            <a:ln>
              <a:noFill/>
            </a:ln>
          </p:spPr>
        </p:sp>
        <p:grpSp>
          <p:nvGrpSpPr>
            <p:cNvPr id="19" name="matris-basliklari"/>
            <p:cNvGrpSpPr/>
            <p:nvPr/>
          </p:nvGrpSpPr>
          <p:grpSpPr>
            <a:xfrm>
              <a:off x="717804" y="1499235"/>
              <a:ext cx="9505392" cy="234696"/>
              <a:chOff x="717804" y="1499235"/>
              <a:chExt cx="9505392" cy="234696"/>
            </a:xfrm>
          </p:grpSpPr>
          <p:sp>
            <p:nvSpPr>
              <p:cNvPr id="15" name="TextBox 15"/>
              <p:cNvSpPr txBox="1"/>
              <p:nvPr/>
            </p:nvSpPr>
            <p:spPr>
              <a:xfrm>
                <a:off x="717804" y="1499235"/>
                <a:ext cx="6114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Kavram</a:t>
                </a:r>
              </a:p>
            </p:txBody>
          </p:sp>
          <p:sp>
            <p:nvSpPr>
              <p:cNvPr id="16" name="TextBox 16"/>
              <p:cNvSpPr txBox="1"/>
              <p:nvPr/>
            </p:nvSpPr>
            <p:spPr>
              <a:xfrm>
                <a:off x="2908554" y="1499235"/>
                <a:ext cx="10436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Temel görevi</a:t>
                </a:r>
              </a:p>
            </p:txBody>
          </p:sp>
          <p:sp>
            <p:nvSpPr>
              <p:cNvPr id="17" name="TextBox 17"/>
              <p:cNvSpPr txBox="1"/>
              <p:nvPr/>
            </p:nvSpPr>
            <p:spPr>
              <a:xfrm>
                <a:off x="5956554" y="1499235"/>
                <a:ext cx="267302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yapmaz? (sorumluluk sınırı)</a:t>
                </a:r>
              </a:p>
            </p:txBody>
          </p:sp>
          <p:sp>
            <p:nvSpPr>
              <p:cNvPr id="18" name="TextBox 18"/>
              <p:cNvSpPr txBox="1"/>
              <p:nvPr/>
            </p:nvSpPr>
            <p:spPr>
              <a:xfrm>
                <a:off x="8814054" y="1499235"/>
                <a:ext cx="140914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Olmazsa ne olur?</a:t>
                </a:r>
              </a:p>
            </p:txBody>
          </p:sp>
        </p:grpSp>
        <p:grpSp>
          <p:nvGrpSpPr>
            <p:cNvPr id="27" name="satir-runtime"/>
            <p:cNvGrpSpPr/>
            <p:nvPr/>
          </p:nvGrpSpPr>
          <p:grpSpPr>
            <a:xfrm>
              <a:off x="609600" y="1771650"/>
              <a:ext cx="10972800" cy="771525"/>
              <a:chOff x="609600" y="1771650"/>
              <a:chExt cx="10972800" cy="771525"/>
            </a:xfrm>
          </p:grpSpPr>
          <p:sp>
            <p:nvSpPr>
              <p:cNvPr id="20" name="Rectangle 20"/>
              <p:cNvSpPr/>
              <p:nvPr/>
            </p:nvSpPr>
            <p:spPr>
              <a:xfrm>
                <a:off x="609600" y="1771650"/>
                <a:ext cx="95250" cy="247650"/>
              </a:xfrm>
              <a:prstGeom prst="rect">
                <a:avLst/>
              </a:prstGeom>
              <a:solidFill>
                <a:srgbClr val="12355B"/>
              </a:solidFill>
              <a:ln>
                <a:noFill/>
              </a:ln>
            </p:spPr>
          </p:sp>
          <p:sp>
            <p:nvSpPr>
              <p:cNvPr id="21" name="TextBox 21"/>
              <p:cNvSpPr txBox="1"/>
              <p:nvPr/>
            </p:nvSpPr>
            <p:spPr>
              <a:xfrm>
                <a:off x="792099" y="1811179"/>
                <a:ext cx="175065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Node.js Runtime</a:t>
                </a:r>
              </a:p>
            </p:txBody>
          </p:sp>
          <p:grpSp>
            <p:nvGrpSpPr>
              <p:cNvPr id="25" name="hucre-runtime"/>
              <p:cNvGrpSpPr/>
              <p:nvPr/>
            </p:nvGrpSpPr>
            <p:grpSpPr>
              <a:xfrm>
                <a:off x="2908554" y="1832610"/>
                <a:ext cx="8279892" cy="596646"/>
                <a:chOff x="2908554" y="1832610"/>
                <a:chExt cx="8279892" cy="596646"/>
              </a:xfrm>
            </p:grpSpPr>
            <p:sp>
              <p:nvSpPr>
                <p:cNvPr id="22" name="TextBox 22"/>
                <p:cNvSpPr txBox="1"/>
                <p:nvPr/>
              </p:nvSpPr>
              <p:spPr>
                <a:xfrm>
                  <a:off x="2908554" y="1832610"/>
                  <a:ext cx="23743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JavaScript'i tarayıcı dışında,</a:t>
                  </a:r>
                  <a:br/>
                  <a:r>
                    <a:rPr lang="tr-TR" sz="1200" dirty="0">
                      <a:solidFill>
                        <a:srgbClr val="172B3A"/>
                      </a:solidFill>
                      <a:latin typeface="+mn-lt"/>
                      <a:ea typeface="+mn-ea"/>
                      <a:cs typeface="+mn-cs"/>
                    </a:rPr>
                    <a:t>V8 ve libuv üzerinde olay</a:t>
                  </a:r>
                  <a:br/>
                  <a:r>
                    <a:rPr lang="tr-TR" sz="1200" dirty="0">
                      <a:solidFill>
                        <a:srgbClr val="172B3A"/>
                      </a:solidFill>
                      <a:latin typeface="+mn-lt"/>
                      <a:ea typeface="+mn-ea"/>
                      <a:cs typeface="+mn-cs"/>
                    </a:rPr>
                    <a:t>güdümlü çalıştırır</a:t>
                  </a:r>
                </a:p>
              </p:txBody>
            </p:sp>
            <p:sp>
              <p:nvSpPr>
                <p:cNvPr id="23" name="TextBox 23"/>
                <p:cNvSpPr txBox="1"/>
                <p:nvPr/>
              </p:nvSpPr>
              <p:spPr>
                <a:xfrm>
                  <a:off x="5956554" y="1832610"/>
                  <a:ext cx="21457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CPU-yoğun hesabı ana iş</a:t>
                  </a:r>
                  <a:br/>
                  <a:r>
                    <a:rPr lang="tr-TR" sz="1200" dirty="0">
                      <a:solidFill>
                        <a:srgbClr val="172B3A"/>
                      </a:solidFill>
                      <a:latin typeface="+mn-lt"/>
                      <a:ea typeface="+mn-ea"/>
                      <a:cs typeface="+mn-cs"/>
                    </a:rPr>
                    <a:t>parçacığını bloke etmeden</a:t>
                  </a:r>
                  <a:br/>
                  <a:r>
                    <a:rPr lang="tr-TR" sz="1200" dirty="0">
                      <a:solidFill>
                        <a:srgbClr val="172B3A"/>
                      </a:solidFill>
                      <a:latin typeface="+mn-lt"/>
                      <a:ea typeface="+mn-ea"/>
                      <a:cs typeface="+mn-cs"/>
                    </a:rPr>
                    <a:t>çalıştırma garantisi vermez</a:t>
                  </a:r>
                </a:p>
              </p:txBody>
            </p:sp>
            <p:sp>
              <p:nvSpPr>
                <p:cNvPr id="24" name="TextBox 24"/>
                <p:cNvSpPr txBox="1"/>
                <p:nvPr/>
              </p:nvSpPr>
              <p:spPr>
                <a:xfrm>
                  <a:off x="8814054" y="1832610"/>
                  <a:ext cx="23743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JavaScript yalnızca tarayıcıda</a:t>
                  </a:r>
                  <a:br/>
                  <a:r>
                    <a:rPr lang="tr-TR" sz="1200" dirty="0">
                      <a:solidFill>
                        <a:srgbClr val="172B3A"/>
                      </a:solidFill>
                      <a:latin typeface="+mn-lt"/>
                      <a:ea typeface="+mn-ea"/>
                      <a:cs typeface="+mn-cs"/>
                    </a:rPr>
                    <a:t>kalır; sunucuda başka dil ve</a:t>
                  </a:r>
                  <a:br/>
                  <a:r>
                    <a:rPr lang="tr-TR" sz="1200" dirty="0">
                      <a:solidFill>
                        <a:srgbClr val="172B3A"/>
                      </a:solidFill>
                      <a:latin typeface="+mn-lt"/>
                      <a:ea typeface="+mn-ea"/>
                      <a:cs typeface="+mn-cs"/>
                    </a:rPr>
                    <a:t>ekosisteme bağımlı kalınır</a:t>
                  </a:r>
                </a:p>
              </p:txBody>
            </p:sp>
          </p:grpSp>
          <p:sp>
            <p:nvSpPr>
              <p:cNvPr id="26" name="Line 26"/>
              <p:cNvSpPr/>
              <p:nvPr/>
            </p:nvSpPr>
            <p:spPr>
              <a:xfrm>
                <a:off x="609600" y="2533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5" name="satir-eventloop"/>
            <p:cNvGrpSpPr/>
            <p:nvPr/>
          </p:nvGrpSpPr>
          <p:grpSpPr>
            <a:xfrm>
              <a:off x="609600" y="2533650"/>
              <a:ext cx="10972800" cy="771525"/>
              <a:chOff x="609600" y="2533650"/>
              <a:chExt cx="10972800" cy="771525"/>
            </a:xfrm>
          </p:grpSpPr>
          <p:sp>
            <p:nvSpPr>
              <p:cNvPr id="28" name="Rectangle 28"/>
              <p:cNvSpPr/>
              <p:nvPr/>
            </p:nvSpPr>
            <p:spPr>
              <a:xfrm>
                <a:off x="609600" y="2533650"/>
                <a:ext cx="95250" cy="247650"/>
              </a:xfrm>
              <a:prstGeom prst="rect">
                <a:avLst/>
              </a:prstGeom>
              <a:solidFill>
                <a:srgbClr val="00A6A6"/>
              </a:solidFill>
              <a:ln>
                <a:noFill/>
              </a:ln>
            </p:spPr>
          </p:sp>
          <p:sp>
            <p:nvSpPr>
              <p:cNvPr id="29" name="TextBox 29"/>
              <p:cNvSpPr txBox="1"/>
              <p:nvPr/>
            </p:nvSpPr>
            <p:spPr>
              <a:xfrm>
                <a:off x="792099" y="2573179"/>
                <a:ext cx="11396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Event loop</a:t>
                </a:r>
              </a:p>
            </p:txBody>
          </p:sp>
          <p:grpSp>
            <p:nvGrpSpPr>
              <p:cNvPr id="33" name="hucre-eventloop"/>
              <p:cNvGrpSpPr/>
              <p:nvPr/>
            </p:nvGrpSpPr>
            <p:grpSpPr>
              <a:xfrm>
                <a:off x="2908554" y="2594610"/>
                <a:ext cx="8257032" cy="596646"/>
                <a:chOff x="2908554" y="2594610"/>
                <a:chExt cx="8257032" cy="596646"/>
              </a:xfrm>
            </p:grpSpPr>
            <p:sp>
              <p:nvSpPr>
                <p:cNvPr id="30" name="TextBox 30"/>
                <p:cNvSpPr txBox="1"/>
                <p:nvPr/>
              </p:nvSpPr>
              <p:spPr>
                <a:xfrm>
                  <a:off x="2908554" y="2594610"/>
                  <a:ext cx="22753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I/O işlerini bloke etmeden</a:t>
                  </a:r>
                  <a:br/>
                  <a:r>
                    <a:rPr lang="tr-TR" sz="1200" dirty="0">
                      <a:solidFill>
                        <a:srgbClr val="172B3A"/>
                      </a:solidFill>
                      <a:latin typeface="+mn-lt"/>
                      <a:ea typeface="+mn-ea"/>
                      <a:cs typeface="+mn-cs"/>
                    </a:rPr>
                    <a:t>kuyruğa alır; tamamlanan geri</a:t>
                  </a:r>
                  <a:br/>
                  <a:r>
                    <a:rPr lang="tr-TR" sz="1200" dirty="0">
                      <a:solidFill>
                        <a:srgbClr val="172B3A"/>
                      </a:solidFill>
                      <a:latin typeface="+mn-lt"/>
                      <a:ea typeface="+mn-ea"/>
                      <a:cs typeface="+mn-cs"/>
                    </a:rPr>
                    <a:t>çağrımları sırayla yürütür</a:t>
                  </a:r>
                </a:p>
              </p:txBody>
            </p:sp>
            <p:sp>
              <p:nvSpPr>
                <p:cNvPr id="31" name="TextBox 31"/>
                <p:cNvSpPr txBox="1"/>
                <p:nvPr/>
              </p:nvSpPr>
              <p:spPr>
                <a:xfrm>
                  <a:off x="5956554" y="2594610"/>
                  <a:ext cx="22143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Çok çekirdekli paralelleştirme</a:t>
                  </a:r>
                  <a:br/>
                  <a:r>
                    <a:rPr lang="tr-TR" sz="1200" dirty="0">
                      <a:solidFill>
                        <a:srgbClr val="172B3A"/>
                      </a:solidFill>
                      <a:latin typeface="+mn-lt"/>
                      <a:ea typeface="+mn-ea"/>
                      <a:cs typeface="+mn-cs"/>
                    </a:rPr>
                    <a:t>yapmaz; senkron uzun döngü</a:t>
                  </a:r>
                  <a:br/>
                  <a:r>
                    <a:rPr lang="tr-TR" sz="1200" dirty="0">
                      <a:solidFill>
                        <a:srgbClr val="172B3A"/>
                      </a:solidFill>
                      <a:latin typeface="+mn-lt"/>
                      <a:ea typeface="+mn-ea"/>
                      <a:cs typeface="+mn-cs"/>
                    </a:rPr>
                    <a:t>tüm istekleri dondurur</a:t>
                  </a:r>
                </a:p>
              </p:txBody>
            </p:sp>
            <p:sp>
              <p:nvSpPr>
                <p:cNvPr id="32" name="TextBox 32"/>
                <p:cNvSpPr txBox="1"/>
                <p:nvPr/>
              </p:nvSpPr>
              <p:spPr>
                <a:xfrm>
                  <a:off x="8814054" y="2594610"/>
                  <a:ext cx="23515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istek için ayrı iş parçacığı</a:t>
                  </a:r>
                  <a:br/>
                  <a:r>
                    <a:rPr lang="tr-TR" sz="1200" dirty="0">
                      <a:solidFill>
                        <a:srgbClr val="172B3A"/>
                      </a:solidFill>
                      <a:latin typeface="+mn-lt"/>
                      <a:ea typeface="+mn-ea"/>
                      <a:cs typeface="+mn-cs"/>
                    </a:rPr>
                    <a:t>gerekir; bellek maliyeti artar</a:t>
                  </a:r>
                  <a:br/>
                  <a:r>
                    <a:rPr lang="tr-TR" sz="1200" dirty="0">
                      <a:solidFill>
                        <a:srgbClr val="172B3A"/>
                      </a:solidFill>
                      <a:latin typeface="+mn-lt"/>
                      <a:ea typeface="+mn-ea"/>
                      <a:cs typeface="+mn-cs"/>
                    </a:rPr>
                    <a:t>ya da I/O anında kilitlenir</a:t>
                  </a:r>
                </a:p>
              </p:txBody>
            </p:sp>
          </p:grpSp>
          <p:sp>
            <p:nvSpPr>
              <p:cNvPr id="34" name="Line 34"/>
              <p:cNvSpPr/>
              <p:nvPr/>
            </p:nvSpPr>
            <p:spPr>
              <a:xfrm>
                <a:off x="609600" y="3295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satir-npm"/>
            <p:cNvGrpSpPr/>
            <p:nvPr/>
          </p:nvGrpSpPr>
          <p:grpSpPr>
            <a:xfrm>
              <a:off x="609600" y="3295650"/>
              <a:ext cx="10972800" cy="771525"/>
              <a:chOff x="609600" y="3295650"/>
              <a:chExt cx="10972800" cy="771525"/>
            </a:xfrm>
          </p:grpSpPr>
          <p:sp>
            <p:nvSpPr>
              <p:cNvPr id="36" name="Rectangle 36"/>
              <p:cNvSpPr/>
              <p:nvPr/>
            </p:nvSpPr>
            <p:spPr>
              <a:xfrm>
                <a:off x="609600" y="3295650"/>
                <a:ext cx="95250" cy="247650"/>
              </a:xfrm>
              <a:prstGeom prst="rect">
                <a:avLst/>
              </a:prstGeom>
              <a:solidFill>
                <a:srgbClr val="2E86AB"/>
              </a:solidFill>
              <a:ln>
                <a:noFill/>
              </a:ln>
            </p:spPr>
          </p:sp>
          <p:sp>
            <p:nvSpPr>
              <p:cNvPr id="37" name="TextBox 37"/>
              <p:cNvSpPr txBox="1"/>
              <p:nvPr/>
            </p:nvSpPr>
            <p:spPr>
              <a:xfrm>
                <a:off x="792099" y="3335179"/>
                <a:ext cx="42917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npm</a:t>
                </a:r>
              </a:p>
            </p:txBody>
          </p:sp>
          <p:grpSp>
            <p:nvGrpSpPr>
              <p:cNvPr id="41" name="hucre-npm"/>
              <p:cNvGrpSpPr/>
              <p:nvPr/>
            </p:nvGrpSpPr>
            <p:grpSpPr>
              <a:xfrm>
                <a:off x="2908554" y="3356610"/>
                <a:ext cx="7967472" cy="596646"/>
                <a:chOff x="2908554" y="3356610"/>
                <a:chExt cx="7967472" cy="596646"/>
              </a:xfrm>
            </p:grpSpPr>
            <p:sp>
              <p:nvSpPr>
                <p:cNvPr id="38" name="TextBox 38"/>
                <p:cNvSpPr txBox="1"/>
                <p:nvPr/>
              </p:nvSpPr>
              <p:spPr>
                <a:xfrm>
                  <a:off x="2908554" y="3356610"/>
                  <a:ext cx="24886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Bağımlılıkları kayıt sisteminden</a:t>
                  </a:r>
                  <a:br/>
                  <a:r>
                    <a:rPr lang="tr-TR" sz="1200" dirty="0">
                      <a:solidFill>
                        <a:srgbClr val="172B3A"/>
                      </a:solidFill>
                      <a:latin typeface="+mn-lt"/>
                      <a:ea typeface="+mn-ea"/>
                      <a:cs typeface="+mn-cs"/>
                    </a:rPr>
                    <a:t>indirir, günceller ve yerel</a:t>
                  </a:r>
                  <a:br/>
                  <a:r>
                    <a:rPr lang="tr-TR" sz="1200" dirty="0">
                      <a:solidFill>
                        <a:srgbClr val="172B3A"/>
                      </a:solidFill>
                      <a:latin typeface="+mn-lt"/>
                      <a:ea typeface="+mn-ea"/>
                      <a:cs typeface="+mn-cs"/>
                    </a:rPr>
                    <a:t>node_modules içinde yönetir</a:t>
                  </a:r>
                </a:p>
              </p:txBody>
            </p:sp>
            <p:sp>
              <p:nvSpPr>
                <p:cNvPr id="39" name="TextBox 39"/>
                <p:cNvSpPr txBox="1"/>
                <p:nvPr/>
              </p:nvSpPr>
              <p:spPr>
                <a:xfrm>
                  <a:off x="5956554" y="3356610"/>
                  <a:ext cx="22524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Paket kodunu çalıştırmaz;</a:t>
                  </a:r>
                  <a:br/>
                  <a:r>
                    <a:rPr lang="tr-TR" sz="1200" dirty="0">
                      <a:solidFill>
                        <a:srgbClr val="172B3A"/>
                      </a:solidFill>
                      <a:latin typeface="+mn-lt"/>
                      <a:ea typeface="+mn-ea"/>
                      <a:cs typeface="+mn-cs"/>
                    </a:rPr>
                    <a:t>üçüncü taraf koddaki açıkları</a:t>
                  </a:r>
                  <a:br/>
                  <a:r>
                    <a:rPr lang="tr-TR" sz="1200" dirty="0">
                      <a:solidFill>
                        <a:srgbClr val="172B3A"/>
                      </a:solidFill>
                      <a:latin typeface="+mn-lt"/>
                      <a:ea typeface="+mn-ea"/>
                      <a:cs typeface="+mn-cs"/>
                    </a:rPr>
                    <a:t>otomatik düzeltmez</a:t>
                  </a:r>
                </a:p>
              </p:txBody>
            </p:sp>
            <p:sp>
              <p:nvSpPr>
                <p:cNvPr id="40" name="TextBox 40"/>
                <p:cNvSpPr txBox="1"/>
                <p:nvPr/>
              </p:nvSpPr>
              <p:spPr>
                <a:xfrm>
                  <a:off x="8814054" y="3356610"/>
                  <a:ext cx="20619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Kütüphaneler elle indirilir;</a:t>
                  </a:r>
                  <a:br/>
                  <a:r>
                    <a:rPr lang="tr-TR" sz="1200" dirty="0">
                      <a:solidFill>
                        <a:srgbClr val="172B3A"/>
                      </a:solidFill>
                      <a:latin typeface="+mn-lt"/>
                      <a:ea typeface="+mn-ea"/>
                      <a:cs typeface="+mn-cs"/>
                    </a:rPr>
                    <a:t>bağımlılık ağacı ve sürüm</a:t>
                  </a:r>
                  <a:br/>
                  <a:r>
                    <a:rPr lang="tr-TR" sz="1200" dirty="0">
                      <a:solidFill>
                        <a:srgbClr val="172B3A"/>
                      </a:solidFill>
                      <a:latin typeface="+mn-lt"/>
                      <a:ea typeface="+mn-ea"/>
                      <a:cs typeface="+mn-cs"/>
                    </a:rPr>
                    <a:t>uyuşmazlıkları yönetilemez</a:t>
                  </a:r>
                </a:p>
              </p:txBody>
            </p:sp>
          </p:grpSp>
          <p:sp>
            <p:nvSpPr>
              <p:cNvPr id="42" name="Line 42"/>
              <p:cNvSpPr/>
              <p:nvPr/>
            </p:nvSpPr>
            <p:spPr>
              <a:xfrm>
                <a:off x="609600" y="4057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1" name="satir-manifest"/>
            <p:cNvGrpSpPr/>
            <p:nvPr/>
          </p:nvGrpSpPr>
          <p:grpSpPr>
            <a:xfrm>
              <a:off x="609600" y="4057650"/>
              <a:ext cx="10972800" cy="771525"/>
              <a:chOff x="609600" y="4057650"/>
              <a:chExt cx="10972800" cy="771525"/>
            </a:xfrm>
          </p:grpSpPr>
          <p:sp>
            <p:nvSpPr>
              <p:cNvPr id="44" name="Rectangle 44"/>
              <p:cNvSpPr/>
              <p:nvPr/>
            </p:nvSpPr>
            <p:spPr>
              <a:xfrm>
                <a:off x="609600" y="4057650"/>
                <a:ext cx="95250" cy="247650"/>
              </a:xfrm>
              <a:prstGeom prst="rect">
                <a:avLst/>
              </a:prstGeom>
              <a:solidFill>
                <a:srgbClr val="2E86AB"/>
              </a:solidFill>
              <a:ln>
                <a:noFill/>
              </a:ln>
            </p:spPr>
          </p:sp>
          <p:sp>
            <p:nvSpPr>
              <p:cNvPr id="45" name="TextBox 45"/>
              <p:cNvSpPr txBox="1"/>
              <p:nvPr/>
            </p:nvSpPr>
            <p:spPr>
              <a:xfrm>
                <a:off x="792099" y="4097179"/>
                <a:ext cx="143417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package.json</a:t>
                </a:r>
              </a:p>
            </p:txBody>
          </p:sp>
          <p:grpSp>
            <p:nvGrpSpPr>
              <p:cNvPr id="49" name="hucre-manifest"/>
              <p:cNvGrpSpPr/>
              <p:nvPr/>
            </p:nvGrpSpPr>
            <p:grpSpPr>
              <a:xfrm>
                <a:off x="2908554" y="4118610"/>
                <a:ext cx="7853172" cy="596646"/>
                <a:chOff x="2908554" y="4118610"/>
                <a:chExt cx="7853172" cy="596646"/>
              </a:xfrm>
            </p:grpSpPr>
            <p:sp>
              <p:nvSpPr>
                <p:cNvPr id="46" name="TextBox 46"/>
                <p:cNvSpPr txBox="1"/>
                <p:nvPr/>
              </p:nvSpPr>
              <p:spPr>
                <a:xfrm>
                  <a:off x="2908554" y="4118610"/>
                  <a:ext cx="24201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Meta veriyi, bağımlılık listesini</a:t>
                  </a:r>
                  <a:br/>
                  <a:r>
                    <a:rPr lang="tr-TR" sz="1200" dirty="0">
                      <a:solidFill>
                        <a:srgbClr val="172B3A"/>
                      </a:solidFill>
                      <a:latin typeface="+mn-lt"/>
                      <a:ea typeface="+mn-ea"/>
                      <a:cs typeface="+mn-cs"/>
                    </a:rPr>
                    <a:t>ve script'leri bildiren ana</a:t>
                  </a:r>
                  <a:br/>
                  <a:r>
                    <a:rPr lang="tr-TR" sz="1200" dirty="0">
                      <a:solidFill>
                        <a:srgbClr val="172B3A"/>
                      </a:solidFill>
                      <a:latin typeface="+mn-lt"/>
                      <a:ea typeface="+mn-ea"/>
                      <a:cs typeface="+mn-cs"/>
                    </a:rPr>
                    <a:t>manifest dosyasıdır</a:t>
                  </a:r>
                </a:p>
              </p:txBody>
            </p:sp>
            <p:sp>
              <p:nvSpPr>
                <p:cNvPr id="47" name="TextBox 47"/>
                <p:cNvSpPr txBox="1"/>
                <p:nvPr/>
              </p:nvSpPr>
              <p:spPr>
                <a:xfrm>
                  <a:off x="5956554" y="4118610"/>
                  <a:ext cx="21534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Paketlerin kaynak kodunu</a:t>
                  </a:r>
                  <a:br/>
                  <a:r>
                    <a:rPr lang="tr-TR" sz="1200" dirty="0">
                      <a:solidFill>
                        <a:srgbClr val="172B3A"/>
                      </a:solidFill>
                      <a:latin typeface="+mn-lt"/>
                      <a:ea typeface="+mn-ea"/>
                      <a:cs typeface="+mn-cs"/>
                    </a:rPr>
                    <a:t>barındırmaz; yalnızca neyin</a:t>
                  </a:r>
                  <a:br/>
                  <a:r>
                    <a:rPr lang="tr-TR" sz="1200" dirty="0">
                      <a:solidFill>
                        <a:srgbClr val="172B3A"/>
                      </a:solidFill>
                      <a:latin typeface="+mn-lt"/>
                      <a:ea typeface="+mn-ea"/>
                      <a:cs typeface="+mn-cs"/>
                    </a:rPr>
                    <a:t>kurulacağını bildirir</a:t>
                  </a:r>
                </a:p>
              </p:txBody>
            </p:sp>
            <p:sp>
              <p:nvSpPr>
                <p:cNvPr id="48" name="TextBox 48"/>
                <p:cNvSpPr txBox="1"/>
                <p:nvPr/>
              </p:nvSpPr>
              <p:spPr>
                <a:xfrm>
                  <a:off x="8814054" y="4118610"/>
                  <a:ext cx="19476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Proje başka makinede aynı</a:t>
                  </a:r>
                  <a:br/>
                  <a:r>
                    <a:rPr lang="tr-TR" sz="1200" dirty="0">
                      <a:solidFill>
                        <a:srgbClr val="172B3A"/>
                      </a:solidFill>
                      <a:latin typeface="+mn-lt"/>
                      <a:ea typeface="+mn-ea"/>
                      <a:cs typeface="+mn-cs"/>
                    </a:rPr>
                    <a:t>biçimde kurulamaz;</a:t>
                  </a:r>
                  <a:br/>
                  <a:r>
                    <a:rPr lang="tr-TR" sz="1200" dirty="0">
                      <a:solidFill>
                        <a:srgbClr val="172B3A"/>
                      </a:solidFill>
                      <a:latin typeface="+mn-lt"/>
                      <a:ea typeface="+mn-ea"/>
                      <a:cs typeface="+mn-cs"/>
                    </a:rPr>
                    <a:t>otomasyon dağılır</a:t>
                  </a:r>
                </a:p>
              </p:txBody>
            </p:sp>
          </p:grpSp>
          <p:sp>
            <p:nvSpPr>
              <p:cNvPr id="50" name="Line 50"/>
              <p:cNvSpPr/>
              <p:nvPr/>
            </p:nvSpPr>
            <p:spPr>
              <a:xfrm>
                <a:off x="609600" y="4819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9" name="satir-process"/>
            <p:cNvGrpSpPr/>
            <p:nvPr/>
          </p:nvGrpSpPr>
          <p:grpSpPr>
            <a:xfrm>
              <a:off x="609600" y="4819650"/>
              <a:ext cx="10972800" cy="771525"/>
              <a:chOff x="609600" y="4819650"/>
              <a:chExt cx="10972800" cy="771525"/>
            </a:xfrm>
          </p:grpSpPr>
          <p:sp>
            <p:nvSpPr>
              <p:cNvPr id="52" name="Rectangle 52"/>
              <p:cNvSpPr/>
              <p:nvPr/>
            </p:nvSpPr>
            <p:spPr>
              <a:xfrm>
                <a:off x="609600" y="4819650"/>
                <a:ext cx="95250" cy="247650"/>
              </a:xfrm>
              <a:prstGeom prst="rect">
                <a:avLst/>
              </a:prstGeom>
              <a:solidFill>
                <a:srgbClr val="52616B"/>
              </a:solidFill>
              <a:ln>
                <a:noFill/>
              </a:ln>
            </p:spPr>
          </p:sp>
          <p:sp>
            <p:nvSpPr>
              <p:cNvPr id="53" name="TextBox 53"/>
              <p:cNvSpPr txBox="1"/>
              <p:nvPr/>
            </p:nvSpPr>
            <p:spPr>
              <a:xfrm>
                <a:off x="792099" y="4859179"/>
                <a:ext cx="174684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process nesnesi</a:t>
                </a:r>
              </a:p>
            </p:txBody>
          </p:sp>
          <p:grpSp>
            <p:nvGrpSpPr>
              <p:cNvPr id="57" name="hucre-process"/>
              <p:cNvGrpSpPr/>
              <p:nvPr/>
            </p:nvGrpSpPr>
            <p:grpSpPr>
              <a:xfrm>
                <a:off x="2908554" y="4880610"/>
                <a:ext cx="7975092" cy="596646"/>
                <a:chOff x="2908554" y="4880610"/>
                <a:chExt cx="7975092" cy="596646"/>
              </a:xfrm>
            </p:grpSpPr>
            <p:sp>
              <p:nvSpPr>
                <p:cNvPr id="54" name="TextBox 54"/>
                <p:cNvSpPr txBox="1"/>
                <p:nvPr/>
              </p:nvSpPr>
              <p:spPr>
                <a:xfrm>
                  <a:off x="2908554" y="4880610"/>
                  <a:ext cx="23286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Bellek, argüman, çıkış kodu ve</a:t>
                  </a:r>
                  <a:br/>
                  <a:r>
                    <a:rPr lang="tr-TR" sz="1200" dirty="0">
                      <a:solidFill>
                        <a:srgbClr val="172B3A"/>
                      </a:solidFill>
                      <a:latin typeface="+mn-lt"/>
                      <a:ea typeface="+mn-ea"/>
                      <a:cs typeface="+mn-cs"/>
                    </a:rPr>
                    <a:t>işletim sistemi sinyalleri</a:t>
                  </a:r>
                  <a:br/>
                  <a:r>
                    <a:rPr lang="tr-TR" sz="1200" dirty="0">
                      <a:solidFill>
                        <a:srgbClr val="172B3A"/>
                      </a:solidFill>
                      <a:latin typeface="+mn-lt"/>
                      <a:ea typeface="+mn-ea"/>
                      <a:cs typeface="+mn-cs"/>
                    </a:rPr>
                    <a:t>üzerinde denetim sağlar</a:t>
                  </a:r>
                </a:p>
              </p:txBody>
            </p:sp>
            <p:sp>
              <p:nvSpPr>
                <p:cNvPr id="55" name="TextBox 55"/>
                <p:cNvSpPr txBox="1"/>
                <p:nvPr/>
              </p:nvSpPr>
              <p:spPr>
                <a:xfrm>
                  <a:off x="5956554" y="4880610"/>
                  <a:ext cx="21000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Süreci servis olarak yeniden</a:t>
                  </a:r>
                  <a:br/>
                  <a:r>
                    <a:rPr lang="tr-TR" sz="1200" dirty="0">
                      <a:solidFill>
                        <a:srgbClr val="172B3A"/>
                      </a:solidFill>
                      <a:latin typeface="+mn-lt"/>
                      <a:ea typeface="+mn-ea"/>
                      <a:cs typeface="+mn-cs"/>
                    </a:rPr>
                    <a:t>başlatmaz; bu systemd veya</a:t>
                  </a:r>
                  <a:br/>
                  <a:r>
                    <a:rPr lang="tr-TR" sz="1200" dirty="0">
                      <a:solidFill>
                        <a:srgbClr val="172B3A"/>
                      </a:solidFill>
                      <a:latin typeface="+mn-lt"/>
                      <a:ea typeface="+mn-ea"/>
                      <a:cs typeface="+mn-cs"/>
                    </a:rPr>
                    <a:t>Docker görevidir</a:t>
                  </a:r>
                </a:p>
              </p:txBody>
            </p:sp>
            <p:sp>
              <p:nvSpPr>
                <p:cNvPr id="56" name="TextBox 56"/>
                <p:cNvSpPr txBox="1"/>
                <p:nvPr/>
              </p:nvSpPr>
              <p:spPr>
                <a:xfrm>
                  <a:off x="8814054" y="4880610"/>
                  <a:ext cx="20695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Kapatma sinyali dinlenemez;</a:t>
                  </a:r>
                  <a:br/>
                  <a:r>
                    <a:rPr lang="tr-TR" sz="1200" dirty="0">
                      <a:solidFill>
                        <a:srgbClr val="172B3A"/>
                      </a:solidFill>
                      <a:latin typeface="+mn-lt"/>
                      <a:ea typeface="+mn-ea"/>
                      <a:cs typeface="+mn-cs"/>
                    </a:rPr>
                    <a:t>güvenli kapatma yapılamaz,</a:t>
                  </a:r>
                  <a:br/>
                  <a:r>
                    <a:rPr lang="tr-TR" sz="1200" dirty="0">
                      <a:solidFill>
                        <a:srgbClr val="172B3A"/>
                      </a:solidFill>
                      <a:latin typeface="+mn-lt"/>
                      <a:ea typeface="+mn-ea"/>
                      <a:cs typeface="+mn-cs"/>
                    </a:rPr>
                    <a:t>bağlantılar askıda kalır</a:t>
                  </a:r>
                </a:p>
              </p:txBody>
            </p:sp>
          </p:grpSp>
          <p:sp>
            <p:nvSpPr>
              <p:cNvPr id="58" name="Line 58"/>
              <p:cNvSpPr/>
              <p:nvPr/>
            </p:nvSpPr>
            <p:spPr>
              <a:xfrm>
                <a:off x="609600" y="5581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66" name="satir-ortam"/>
            <p:cNvGrpSpPr/>
            <p:nvPr/>
          </p:nvGrpSpPr>
          <p:grpSpPr>
            <a:xfrm>
              <a:off x="609600" y="5581650"/>
              <a:ext cx="10243566" cy="657606"/>
              <a:chOff x="609600" y="5581650"/>
              <a:chExt cx="10243566" cy="657606"/>
            </a:xfrm>
          </p:grpSpPr>
          <p:sp>
            <p:nvSpPr>
              <p:cNvPr id="60" name="Rectangle 60"/>
              <p:cNvSpPr/>
              <p:nvPr/>
            </p:nvSpPr>
            <p:spPr>
              <a:xfrm>
                <a:off x="609600" y="5581650"/>
                <a:ext cx="95250" cy="247650"/>
              </a:xfrm>
              <a:prstGeom prst="rect">
                <a:avLst/>
              </a:prstGeom>
              <a:solidFill>
                <a:srgbClr val="52616B"/>
              </a:solidFill>
              <a:ln>
                <a:noFill/>
              </a:ln>
            </p:spPr>
          </p:sp>
          <p:sp>
            <p:nvSpPr>
              <p:cNvPr id="61" name="TextBox 61"/>
              <p:cNvSpPr txBox="1"/>
              <p:nvPr/>
            </p:nvSpPr>
            <p:spPr>
              <a:xfrm>
                <a:off x="792099" y="5621179"/>
                <a:ext cx="17874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Ortam değişkeni</a:t>
                </a:r>
              </a:p>
            </p:txBody>
          </p:sp>
          <p:grpSp>
            <p:nvGrpSpPr>
              <p:cNvPr id="65" name="hucre-ortam"/>
              <p:cNvGrpSpPr/>
              <p:nvPr/>
            </p:nvGrpSpPr>
            <p:grpSpPr>
              <a:xfrm>
                <a:off x="2908554" y="5642610"/>
                <a:ext cx="7944612" cy="596646"/>
                <a:chOff x="2908554" y="5642610"/>
                <a:chExt cx="7944612" cy="596646"/>
              </a:xfrm>
            </p:grpSpPr>
            <p:sp>
              <p:nvSpPr>
                <p:cNvPr id="62" name="TextBox 62"/>
                <p:cNvSpPr txBox="1"/>
                <p:nvPr/>
              </p:nvSpPr>
              <p:spPr>
                <a:xfrm>
                  <a:off x="2908554" y="5642610"/>
                  <a:ext cx="23591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Port, şifre ve gizli anahtar gibi</a:t>
                  </a:r>
                  <a:br/>
                  <a:r>
                    <a:rPr lang="tr-TR" sz="1200" dirty="0">
                      <a:solidFill>
                        <a:srgbClr val="172B3A"/>
                      </a:solidFill>
                      <a:latin typeface="+mn-lt"/>
                      <a:ea typeface="+mn-ea"/>
                      <a:cs typeface="+mn-cs"/>
                    </a:rPr>
                    <a:t>ayarları kodun dışından</a:t>
                  </a:r>
                  <a:br/>
                  <a:r>
                    <a:rPr lang="tr-TR" sz="1200" dirty="0">
                      <a:solidFill>
                        <a:srgbClr val="172B3A"/>
                      </a:solidFill>
                      <a:latin typeface="+mn-lt"/>
                      <a:ea typeface="+mn-ea"/>
                      <a:cs typeface="+mn-cs"/>
                    </a:rPr>
                    <a:t>sisteme besler</a:t>
                  </a:r>
                </a:p>
              </p:txBody>
            </p:sp>
            <p:sp>
              <p:nvSpPr>
                <p:cNvPr id="63" name="TextBox 63"/>
                <p:cNvSpPr txBox="1"/>
                <p:nvPr/>
              </p:nvSpPr>
              <p:spPr>
                <a:xfrm>
                  <a:off x="5956554" y="5642610"/>
                  <a:ext cx="16276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Değerin biçimini veya</a:t>
                  </a:r>
                  <a:br/>
                  <a:r>
                    <a:rPr lang="tr-TR" sz="1200" dirty="0">
                      <a:solidFill>
                        <a:srgbClr val="172B3A"/>
                      </a:solidFill>
                      <a:latin typeface="+mn-lt"/>
                      <a:ea typeface="+mn-ea"/>
                      <a:cs typeface="+mn-cs"/>
                    </a:rPr>
                    <a:t>güvenliğini tek başına</a:t>
                  </a:r>
                  <a:br/>
                  <a:r>
                    <a:rPr lang="tr-TR" sz="1200" dirty="0">
                      <a:solidFill>
                        <a:srgbClr val="172B3A"/>
                      </a:solidFill>
                      <a:latin typeface="+mn-lt"/>
                      <a:ea typeface="+mn-ea"/>
                      <a:cs typeface="+mn-cs"/>
                    </a:rPr>
                    <a:t>doğrulamaz</a:t>
                  </a:r>
                </a:p>
              </p:txBody>
            </p:sp>
            <p:sp>
              <p:nvSpPr>
                <p:cNvPr id="64" name="TextBox 64"/>
                <p:cNvSpPr txBox="1"/>
                <p:nvPr/>
              </p:nvSpPr>
              <p:spPr>
                <a:xfrm>
                  <a:off x="8814054" y="5642610"/>
                  <a:ext cx="20391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Sırlar kod deposuna sızar;</a:t>
                  </a:r>
                  <a:br/>
                  <a:r>
                    <a:rPr lang="tr-TR" sz="1200" dirty="0">
                      <a:solidFill>
                        <a:srgbClr val="172B3A"/>
                      </a:solidFill>
                      <a:latin typeface="+mn-lt"/>
                      <a:ea typeface="+mn-ea"/>
                      <a:cs typeface="+mn-cs"/>
                    </a:rPr>
                    <a:t>test, geliştirme ve canlı</a:t>
                  </a:r>
                  <a:br/>
                  <a:r>
                    <a:rPr lang="tr-TR" sz="1200" dirty="0">
                      <a:solidFill>
                        <a:srgbClr val="172B3A"/>
                      </a:solidFill>
                      <a:latin typeface="+mn-lt"/>
                      <a:ea typeface="+mn-ea"/>
                      <a:cs typeface="+mn-cs"/>
                    </a:rPr>
                    <a:t>ortamlar ayrılamaz</a:t>
                  </a:r>
                </a:p>
              </p:txBody>
            </p:sp>
          </p:grpSp>
        </p:grpSp>
      </p:grpSp>
      <p:grpSp>
        <p:nvGrpSpPr>
          <p:cNvPr id="70" name="footer"/>
          <p:cNvGrpSpPr/>
          <p:nvPr/>
        </p:nvGrpSpPr>
        <p:grpSpPr>
          <a:xfrm>
            <a:off x="603504" y="6461760"/>
            <a:ext cx="10984992" cy="234696"/>
            <a:chOff x="603504" y="6461760"/>
            <a:chExt cx="10984992" cy="234696"/>
          </a:xfrm>
        </p:grpSpPr>
        <p:sp>
          <p:nvSpPr>
            <p:cNvPr id="68" name="TextBox 68"/>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69" name="TextBox 69"/>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8"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771773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Node.js runtime: aynı dil, başka ortam</a:t>
              </a:r>
            </a:p>
          </p:txBody>
        </p:sp>
      </p:grpSp>
      <p:grpSp>
        <p:nvGrpSpPr>
          <p:cNvPr id="20" name="tanim"/>
          <p:cNvGrpSpPr/>
          <p:nvPr/>
        </p:nvGrpSpPr>
        <p:grpSpPr>
          <a:xfrm>
            <a:off x="600456" y="1253490"/>
            <a:ext cx="9850946" cy="675894"/>
            <a:chOff x="600456" y="1253490"/>
            <a:chExt cx="9850946" cy="675894"/>
          </a:xfrm>
        </p:grpSpPr>
        <p:sp>
          <p:nvSpPr>
            <p:cNvPr id="19" name="TextBox 19"/>
            <p:cNvSpPr txBox="1"/>
            <p:nvPr/>
          </p:nvSpPr>
          <p:spPr>
            <a:xfrm>
              <a:off x="600456" y="1253490"/>
              <a:ext cx="9850946"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 xml:space="preserve">Node.js bir JavaScript </a:t>
              </a:r>
              <a:r>
                <a:rPr lang="tr-TR" sz="1800" b="1" dirty="0">
                  <a:solidFill>
                    <a:srgbClr val="12355B"/>
                  </a:solidFill>
                  <a:latin typeface="+mn-lt"/>
                  <a:ea typeface="+mn-ea"/>
                  <a:cs typeface="+mn-cs"/>
                </a:rPr>
                <a:t>kütüphanesi değildir</a:t>
              </a:r>
              <a:r>
                <a:rPr lang="tr-TR" sz="1800" dirty="0">
                  <a:solidFill>
                    <a:srgbClr val="172B3A"/>
                  </a:solidFill>
                  <a:latin typeface="+mn-lt"/>
                  <a:ea typeface="+mn-ea"/>
                  <a:cs typeface="+mn-cs"/>
                </a:rPr>
                <a:t>; JavaScript kodunu işletim sistemi üzerinde</a:t>
              </a:r>
              <a:br/>
              <a:r>
                <a:rPr lang="tr-TR" sz="1800" dirty="0">
                  <a:solidFill>
                    <a:srgbClr val="172B3A"/>
                  </a:solidFill>
                  <a:latin typeface="+mn-lt"/>
                  <a:ea typeface="+mn-ea"/>
                  <a:cs typeface="+mn-cs"/>
                </a:rPr>
                <a:t xml:space="preserve">çalıştıran bir </a:t>
              </a:r>
              <a:r>
                <a:rPr lang="tr-TR" sz="1800" b="1" dirty="0">
                  <a:solidFill>
                    <a:srgbClr val="12355B"/>
                  </a:solidFill>
                  <a:latin typeface="+mn-lt"/>
                  <a:ea typeface="+mn-ea"/>
                  <a:cs typeface="+mn-cs"/>
                </a:rPr>
                <a:t>çalışma zamanıdır</a:t>
              </a:r>
              <a:r>
                <a:rPr lang="tr-TR" sz="1800" dirty="0">
                  <a:solidFill>
                    <a:srgbClr val="172B3A"/>
                  </a:solidFill>
                  <a:latin typeface="+mn-lt"/>
                  <a:ea typeface="+mn-ea"/>
                  <a:cs typeface="+mn-cs"/>
                </a:rPr>
                <a:t>. V8 motorunu sunucu tarafı yeteneklerle genişletir.</a:t>
              </a:r>
            </a:p>
          </p:txBody>
        </p:sp>
      </p:grpSp>
      <p:grpSp>
        <p:nvGrpSpPr>
          <p:cNvPr id="27" name="ortam-tarayici"/>
          <p:cNvGrpSpPr/>
          <p:nvPr/>
        </p:nvGrpSpPr>
        <p:grpSpPr>
          <a:xfrm>
            <a:off x="609600" y="2133600"/>
            <a:ext cx="5257800" cy="2857500"/>
            <a:chOff x="609600" y="2133600"/>
            <a:chExt cx="5257800" cy="2857500"/>
          </a:xfrm>
        </p:grpSpPr>
        <p:sp>
          <p:nvSpPr>
            <p:cNvPr id="21" name="Rectangle 21"/>
            <p:cNvSpPr/>
            <p:nvPr/>
          </p:nvSpPr>
          <p:spPr>
            <a:xfrm>
              <a:off x="609600" y="2133600"/>
              <a:ext cx="5257800" cy="2857500"/>
            </a:xfrm>
            <a:prstGeom prst="rect">
              <a:avLst/>
            </a:prstGeom>
            <a:solidFill>
              <a:srgbClr val="FFFFFF"/>
            </a:solidFill>
            <a:ln w="9525">
              <a:solidFill>
                <a:srgbClr val="B8CBD3"/>
              </a:solidFill>
            </a:ln>
          </p:spPr>
        </p:sp>
        <p:sp>
          <p:nvSpPr>
            <p:cNvPr id="22" name="Rectangle 22"/>
            <p:cNvSpPr/>
            <p:nvPr/>
          </p:nvSpPr>
          <p:spPr>
            <a:xfrm>
              <a:off x="609600" y="2133600"/>
              <a:ext cx="5257800" cy="38100"/>
            </a:xfrm>
            <a:prstGeom prst="rect">
              <a:avLst/>
            </a:prstGeom>
            <a:solidFill>
              <a:srgbClr val="B8CBD3"/>
            </a:solidFill>
            <a:ln>
              <a:noFill/>
            </a:ln>
          </p:spPr>
        </p:sp>
        <p:sp>
          <p:nvSpPr>
            <p:cNvPr id="23" name="TextBox 23"/>
            <p:cNvSpPr txBox="1"/>
            <p:nvPr/>
          </p:nvSpPr>
          <p:spPr>
            <a:xfrm>
              <a:off x="902970" y="2347912"/>
              <a:ext cx="2641330" cy="440055"/>
            </a:xfrm>
            <a:prstGeom prst="rect">
              <a:avLst/>
            </a:prstGeom>
            <a:noFill/>
            <a:ln>
              <a:noFill/>
            </a:ln>
          </p:spPr>
          <p:txBody>
            <a:bodyPr wrap="none" lIns="0" tIns="0" rIns="0" bIns="0" anchor="t" anchorCtr="0">
              <a:spAutoFit/>
            </a:bodyPr>
            <a:lstStyle/>
            <a:p>
              <a:pPr algn="l"/>
              <a:r>
                <a:rPr lang="tr-TR" sz="2250" b="1" dirty="0">
                  <a:solidFill>
                    <a:srgbClr val="52616B"/>
                  </a:solidFill>
                  <a:latin typeface="+mn-lt"/>
                  <a:ea typeface="+mn-ea"/>
                  <a:cs typeface="+mn-cs"/>
                </a:rPr>
                <a:t>Tarayıcı ortamı</a:t>
              </a:r>
            </a:p>
          </p:txBody>
        </p:sp>
        <p:sp>
          <p:nvSpPr>
            <p:cNvPr id="24" name="TextBox 24"/>
            <p:cNvSpPr txBox="1"/>
            <p:nvPr/>
          </p:nvSpPr>
          <p:spPr>
            <a:xfrm>
              <a:off x="908304" y="2747010"/>
              <a:ext cx="22980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kullanıcı ekranına odaklanır</a:t>
              </a:r>
            </a:p>
          </p:txBody>
        </p:sp>
        <p:sp>
          <p:nvSpPr>
            <p:cNvPr id="25" name="TextBox 25"/>
            <p:cNvSpPr txBox="1"/>
            <p:nvPr/>
          </p:nvSpPr>
          <p:spPr>
            <a:xfrm>
              <a:off x="906399" y="3182779"/>
              <a:ext cx="3346958" cy="1070038"/>
            </a:xfrm>
            <a:prstGeom prst="rect">
              <a:avLst/>
            </a:prstGeom>
            <a:noFill/>
            <a:ln>
              <a:noFill/>
            </a:ln>
          </p:spPr>
          <p:txBody>
            <a:bodyPr wrap="none" lIns="0" tIns="0" rIns="0" bIns="0" anchor="t" anchorCtr="0">
              <a:spAutoFit/>
            </a:bodyPr>
            <a:lstStyle/>
            <a:p>
              <a:pPr algn="l">
                <a:lnSpc>
                  <a:spcPts val="3000"/>
                </a:lnSpc>
              </a:pPr>
              <a:r>
                <a:rPr lang="tr-TR" sz="1580" dirty="0">
                  <a:solidFill>
                    <a:srgbClr val="172B3A"/>
                  </a:solidFill>
                  <a:latin typeface="+mn-lt"/>
                  <a:ea typeface="+mn-ea"/>
                  <a:cs typeface="+mn-cs"/>
                </a:rPr>
                <a:t>document · window · DOM olayları</a:t>
              </a:r>
              <a:br/>
              <a:r>
                <a:rPr lang="tr-TR" sz="1580" dirty="0">
                  <a:solidFill>
                    <a:srgbClr val="172B3A"/>
                  </a:solidFill>
                  <a:latin typeface="+mn-lt"/>
                  <a:ea typeface="+mn-ea"/>
                  <a:cs typeface="+mn-cs"/>
                </a:rPr>
                <a:t>Sayfa etkileşimi ve görsel çıktı</a:t>
              </a:r>
              <a:br/>
              <a:r>
                <a:rPr lang="tr-TR" sz="1580" dirty="0">
                  <a:solidFill>
                    <a:srgbClr val="172B3A"/>
                  </a:solidFill>
                  <a:latin typeface="+mn-lt"/>
                  <a:ea typeface="+mn-ea"/>
                  <a:cs typeface="+mn-cs"/>
                </a:rPr>
                <a:t>Dosya ve ağ erişimi sınırlıdır</a:t>
              </a:r>
            </a:p>
          </p:txBody>
        </p:sp>
        <p:sp>
          <p:nvSpPr>
            <p:cNvPr id="26" name="TextBox 26"/>
            <p:cNvSpPr txBox="1"/>
            <p:nvPr/>
          </p:nvSpPr>
          <p:spPr>
            <a:xfrm>
              <a:off x="906399" y="4516279"/>
              <a:ext cx="3312846" cy="308039"/>
            </a:xfrm>
            <a:prstGeom prst="rect">
              <a:avLst/>
            </a:prstGeom>
            <a:noFill/>
            <a:ln>
              <a:noFill/>
            </a:ln>
          </p:spPr>
          <p:txBody>
            <a:bodyPr wrap="none" lIns="0" tIns="0" rIns="0" bIns="0" anchor="t" anchorCtr="0">
              <a:spAutoFit/>
            </a:bodyPr>
            <a:lstStyle/>
            <a:p>
              <a:pPr algn="l"/>
              <a:r>
                <a:rPr lang="tr-TR" sz="1580" i="1" dirty="0">
                  <a:solidFill>
                    <a:srgbClr val="52616B"/>
                  </a:solidFill>
                  <a:latin typeface="+mn-lt"/>
                  <a:ea typeface="+mn-ea"/>
                  <a:cs typeface="+mn-cs"/>
                </a:rPr>
                <a:t>process burada tanımlı değildir</a:t>
              </a:r>
            </a:p>
          </p:txBody>
        </p:sp>
      </p:grpSp>
      <p:grpSp>
        <p:nvGrpSpPr>
          <p:cNvPr id="34" name="ortam-node"/>
          <p:cNvGrpSpPr/>
          <p:nvPr/>
        </p:nvGrpSpPr>
        <p:grpSpPr>
          <a:xfrm>
            <a:off x="6324600" y="2133600"/>
            <a:ext cx="5257800" cy="2857500"/>
            <a:chOff x="6324600" y="2133600"/>
            <a:chExt cx="5257800" cy="2857500"/>
          </a:xfrm>
        </p:grpSpPr>
        <p:sp>
          <p:nvSpPr>
            <p:cNvPr id="28" name="Rectangle 28"/>
            <p:cNvSpPr/>
            <p:nvPr/>
          </p:nvSpPr>
          <p:spPr>
            <a:xfrm>
              <a:off x="6324600" y="2133600"/>
              <a:ext cx="5257800" cy="2857500"/>
            </a:xfrm>
            <a:prstGeom prst="rect">
              <a:avLst/>
            </a:prstGeom>
            <a:solidFill>
              <a:srgbClr val="FFFFFF"/>
            </a:solidFill>
            <a:ln w="9525">
              <a:solidFill>
                <a:srgbClr val="00A6A6"/>
              </a:solidFill>
            </a:ln>
          </p:spPr>
        </p:sp>
        <p:sp>
          <p:nvSpPr>
            <p:cNvPr id="29" name="Rectangle 29"/>
            <p:cNvSpPr/>
            <p:nvPr/>
          </p:nvSpPr>
          <p:spPr>
            <a:xfrm>
              <a:off x="6324600" y="2133600"/>
              <a:ext cx="5257800" cy="38100"/>
            </a:xfrm>
            <a:prstGeom prst="rect">
              <a:avLst/>
            </a:prstGeom>
            <a:solidFill>
              <a:srgbClr val="00A6A6"/>
            </a:solidFill>
            <a:ln>
              <a:noFill/>
            </a:ln>
          </p:spPr>
        </p:sp>
        <p:sp>
          <p:nvSpPr>
            <p:cNvPr id="30" name="TextBox 30"/>
            <p:cNvSpPr txBox="1"/>
            <p:nvPr/>
          </p:nvSpPr>
          <p:spPr>
            <a:xfrm>
              <a:off x="6617970" y="2347912"/>
              <a:ext cx="2387456"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Node.js ortamı</a:t>
              </a:r>
            </a:p>
          </p:txBody>
        </p:sp>
        <p:sp>
          <p:nvSpPr>
            <p:cNvPr id="31" name="TextBox 31"/>
            <p:cNvSpPr txBox="1"/>
            <p:nvPr/>
          </p:nvSpPr>
          <p:spPr>
            <a:xfrm>
              <a:off x="6623304" y="2747010"/>
              <a:ext cx="25645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arka plan hizmetlerine odaklanır</a:t>
              </a:r>
            </a:p>
          </p:txBody>
        </p:sp>
        <p:sp>
          <p:nvSpPr>
            <p:cNvPr id="32" name="TextBox 32"/>
            <p:cNvSpPr txBox="1"/>
            <p:nvPr/>
          </p:nvSpPr>
          <p:spPr>
            <a:xfrm>
              <a:off x="6621399" y="3182779"/>
              <a:ext cx="3276727" cy="1070038"/>
            </a:xfrm>
            <a:prstGeom prst="rect">
              <a:avLst/>
            </a:prstGeom>
            <a:noFill/>
            <a:ln>
              <a:noFill/>
            </a:ln>
          </p:spPr>
          <p:txBody>
            <a:bodyPr wrap="none" lIns="0" tIns="0" rIns="0" bIns="0" anchor="t" anchorCtr="0">
              <a:spAutoFit/>
            </a:bodyPr>
            <a:lstStyle/>
            <a:p>
              <a:pPr algn="l">
                <a:lnSpc>
                  <a:spcPts val="3000"/>
                </a:lnSpc>
              </a:pPr>
              <a:r>
                <a:rPr lang="tr-TR" sz="1580" dirty="0">
                  <a:solidFill>
                    <a:srgbClr val="172B3A"/>
                  </a:solidFill>
                  <a:latin typeface="+mn-lt"/>
                  <a:ea typeface="+mn-ea"/>
                  <a:cs typeface="+mn-cs"/>
                </a:rPr>
                <a:t>node:fs · node:http · node:os</a:t>
              </a:r>
              <a:br/>
              <a:r>
                <a:rPr lang="tr-TR" sz="1580" dirty="0">
                  <a:solidFill>
                    <a:srgbClr val="172B3A"/>
                  </a:solidFill>
                  <a:latin typeface="+mn-lt"/>
                  <a:ea typeface="+mn-ea"/>
                  <a:cs typeface="+mn-cs"/>
                </a:rPr>
                <a:t>Süreç yönetimi ve zamanlayıcılar</a:t>
              </a:r>
              <a:br/>
              <a:r>
                <a:rPr lang="tr-TR" sz="1580" dirty="0">
                  <a:solidFill>
                    <a:srgbClr val="172B3A"/>
                  </a:solidFill>
                  <a:latin typeface="+mn-lt"/>
                  <a:ea typeface="+mn-ea"/>
                  <a:cs typeface="+mn-cs"/>
                </a:rPr>
                <a:t>API, CLI aracı, otomasyon görevi</a:t>
              </a:r>
            </a:p>
          </p:txBody>
        </p:sp>
        <p:sp>
          <p:nvSpPr>
            <p:cNvPr id="33" name="TextBox 33"/>
            <p:cNvSpPr txBox="1"/>
            <p:nvPr/>
          </p:nvSpPr>
          <p:spPr>
            <a:xfrm>
              <a:off x="6621399" y="4516279"/>
              <a:ext cx="3472371" cy="308039"/>
            </a:xfrm>
            <a:prstGeom prst="rect">
              <a:avLst/>
            </a:prstGeom>
            <a:noFill/>
            <a:ln>
              <a:noFill/>
            </a:ln>
          </p:spPr>
          <p:txBody>
            <a:bodyPr wrap="none" lIns="0" tIns="0" rIns="0" bIns="0" anchor="t" anchorCtr="0">
              <a:spAutoFit/>
            </a:bodyPr>
            <a:lstStyle/>
            <a:p>
              <a:pPr algn="l"/>
              <a:r>
                <a:rPr lang="tr-TR" sz="1580" i="1" dirty="0">
                  <a:solidFill>
                    <a:srgbClr val="12355B"/>
                  </a:solidFill>
                  <a:latin typeface="+mn-lt"/>
                  <a:ea typeface="+mn-ea"/>
                  <a:cs typeface="+mn-cs"/>
                </a:rPr>
                <a:t>document burada tanımlı değildir</a:t>
              </a:r>
            </a:p>
          </p:txBody>
        </p:sp>
      </p:grpSp>
      <p:grpSp>
        <p:nvGrpSpPr>
          <p:cNvPr id="40" name="ortak-temel"/>
          <p:cNvGrpSpPr/>
          <p:nvPr/>
        </p:nvGrpSpPr>
        <p:grpSpPr>
          <a:xfrm>
            <a:off x="609600" y="5295900"/>
            <a:ext cx="10972800" cy="838200"/>
            <a:chOff x="609600" y="5295900"/>
            <a:chExt cx="10972800" cy="838200"/>
          </a:xfrm>
        </p:grpSpPr>
        <p:sp>
          <p:nvSpPr>
            <p:cNvPr id="35" name="Rectangle 35"/>
            <p:cNvSpPr/>
            <p:nvPr/>
          </p:nvSpPr>
          <p:spPr>
            <a:xfrm>
              <a:off x="609600" y="5295900"/>
              <a:ext cx="10972800" cy="838200"/>
            </a:xfrm>
            <a:prstGeom prst="rect">
              <a:avLst/>
            </a:prstGeom>
            <a:solidFill>
              <a:srgbClr val="EAF4F6"/>
            </a:solidFill>
            <a:ln>
              <a:noFill/>
            </a:ln>
          </p:spPr>
        </p:sp>
        <p:sp>
          <p:nvSpPr>
            <p:cNvPr id="36" name="Rectangle 36"/>
            <p:cNvSpPr/>
            <p:nvPr/>
          </p:nvSpPr>
          <p:spPr>
            <a:xfrm>
              <a:off x="609600" y="5295900"/>
              <a:ext cx="10972800" cy="38100"/>
            </a:xfrm>
            <a:prstGeom prst="rect">
              <a:avLst/>
            </a:prstGeom>
            <a:solidFill>
              <a:srgbClr val="00A6A6"/>
            </a:solidFill>
            <a:ln>
              <a:noFill/>
            </a:ln>
          </p:spPr>
        </p:sp>
        <p:grpSp>
          <p:nvGrpSpPr>
            <p:cNvPr id="39" name="ortak-temel-metin"/>
            <p:cNvGrpSpPr/>
            <p:nvPr/>
          </p:nvGrpSpPr>
          <p:grpSpPr>
            <a:xfrm>
              <a:off x="2727253" y="5520690"/>
              <a:ext cx="6737494" cy="566166"/>
              <a:chOff x="2727253" y="5520690"/>
              <a:chExt cx="6737494" cy="566166"/>
            </a:xfrm>
          </p:grpSpPr>
          <p:sp>
            <p:nvSpPr>
              <p:cNvPr id="37" name="TextBox 37"/>
              <p:cNvSpPr txBox="1"/>
              <p:nvPr/>
            </p:nvSpPr>
            <p:spPr>
              <a:xfrm>
                <a:off x="3467441" y="5520690"/>
                <a:ext cx="5257117"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Ortak taban: JavaScript dili ve V8 motoru</a:t>
                </a:r>
              </a:p>
            </p:txBody>
          </p:sp>
          <p:sp>
            <p:nvSpPr>
              <p:cNvPr id="38" name="TextBox 38"/>
              <p:cNvSpPr txBox="1"/>
              <p:nvPr/>
            </p:nvSpPr>
            <p:spPr>
              <a:xfrm>
                <a:off x="2727253" y="5852160"/>
                <a:ext cx="673749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Aynı dil bilgisiyle farklı işler yapılır; ikisi rakip değil, farklı çalışma ortamlarıdır.</a:t>
                </a:r>
              </a:p>
            </p:txBody>
          </p:sp>
        </p:grpSp>
      </p:grpSp>
      <p:grpSp>
        <p:nvGrpSpPr>
          <p:cNvPr id="43" name="footer"/>
          <p:cNvGrpSpPr/>
          <p:nvPr/>
        </p:nvGrpSpPr>
        <p:grpSpPr>
          <a:xfrm>
            <a:off x="603504" y="6461760"/>
            <a:ext cx="10984992" cy="234696"/>
            <a:chOff x="603504" y="6461760"/>
            <a:chExt cx="10984992" cy="234696"/>
          </a:xfrm>
        </p:grpSpPr>
        <p:sp>
          <p:nvSpPr>
            <p:cNvPr id="41" name="TextBox 41"/>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2" name="TextBox 4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848781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doğdu: C10K, Reactor deseni ve libuv</a:t>
              </a:r>
            </a:p>
          </p:txBody>
        </p:sp>
      </p:grpSp>
      <p:grpSp>
        <p:nvGrpSpPr>
          <p:cNvPr id="7" name="problem-lead"/>
          <p:cNvGrpSpPr/>
          <p:nvPr/>
        </p:nvGrpSpPr>
        <p:grpSpPr>
          <a:xfrm>
            <a:off x="600456" y="1291590"/>
            <a:ext cx="8887968" cy="675894"/>
            <a:chOff x="600456" y="1291590"/>
            <a:chExt cx="8887968" cy="675894"/>
          </a:xfrm>
        </p:grpSpPr>
        <p:sp>
          <p:nvSpPr>
            <p:cNvPr id="6" name="TextBox 6"/>
            <p:cNvSpPr txBox="1"/>
            <p:nvPr/>
          </p:nvSpPr>
          <p:spPr>
            <a:xfrm>
              <a:off x="600456" y="1291590"/>
              <a:ext cx="888796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Node.js'in mimarisi bir soruna yanıttır: her bağlantıya ayrı iş parçacığı açan</a:t>
              </a:r>
              <a:br/>
              <a:r>
                <a:rPr lang="tr-TR" sz="1800" dirty="0">
                  <a:solidFill>
                    <a:srgbClr val="172B3A"/>
                  </a:solidFill>
                  <a:latin typeface="+mn-lt"/>
                  <a:ea typeface="+mn-ea"/>
                  <a:cs typeface="+mn-cs"/>
                </a:rPr>
                <a:t xml:space="preserve">engelleyici G/Ç modeli, </a:t>
              </a:r>
              <a:r>
                <a:rPr lang="tr-TR" sz="1800" b="1" dirty="0">
                  <a:solidFill>
                    <a:srgbClr val="12355B"/>
                  </a:solidFill>
                  <a:latin typeface="+mn-lt"/>
                  <a:ea typeface="+mn-ea"/>
                  <a:cs typeface="+mn-cs"/>
                </a:rPr>
                <a:t>on bin eşzamanlı bağlantıda (C10K)</a:t>
              </a:r>
              <a:r>
                <a:rPr lang="tr-TR" sz="1800" dirty="0">
                  <a:solidFill>
                    <a:srgbClr val="172B3A"/>
                  </a:solidFill>
                  <a:latin typeface="+mn-lt"/>
                  <a:ea typeface="+mn-ea"/>
                  <a:cs typeface="+mn-cs"/>
                </a:rPr>
                <a:t xml:space="preserve"> pahalıydı.</a:t>
              </a:r>
            </a:p>
          </p:txBody>
        </p:sp>
      </p:grpSp>
      <p:grpSp>
        <p:nvGrpSpPr>
          <p:cNvPr id="24" name="zaman-cizgisi"/>
          <p:cNvGrpSpPr/>
          <p:nvPr/>
        </p:nvGrpSpPr>
        <p:grpSpPr>
          <a:xfrm>
            <a:off x="598170" y="2347912"/>
            <a:ext cx="10641330" cy="1681544"/>
            <a:chOff x="598170" y="2347912"/>
            <a:chExt cx="10641330" cy="1681544"/>
          </a:xfrm>
        </p:grpSpPr>
        <p:sp>
          <p:nvSpPr>
            <p:cNvPr id="8" name="Line 8"/>
            <p:cNvSpPr/>
            <p:nvPr/>
          </p:nvSpPr>
          <p:spPr>
            <a:xfrm>
              <a:off x="952500" y="3143250"/>
              <a:ext cx="10287000" cy="1"/>
            </a:xfrm>
            <a:prstGeom prst="line">
              <a:avLst/>
            </a:prstGeom>
            <a:noFill/>
            <a:ln w="19050">
              <a:solidFill>
                <a:srgbClr val="00A6A6"/>
              </a:solidFill>
              <a:tailEnd type="triangle" w="lg" len="lg"/>
            </a:ln>
          </p:spPr>
        </p:sp>
        <p:grpSp>
          <p:nvGrpSpPr>
            <p:cNvPr id="13" name="kilometre-reactor"/>
            <p:cNvGrpSpPr/>
            <p:nvPr/>
          </p:nvGrpSpPr>
          <p:grpSpPr>
            <a:xfrm>
              <a:off x="598170" y="2347912"/>
              <a:ext cx="2748306" cy="1681544"/>
              <a:chOff x="598170" y="2347912"/>
              <a:chExt cx="2748306" cy="1681544"/>
            </a:xfrm>
          </p:grpSpPr>
          <p:sp>
            <p:nvSpPr>
              <p:cNvPr id="9" name="Ellipse 9"/>
              <p:cNvSpPr/>
              <p:nvPr/>
            </p:nvSpPr>
            <p:spPr>
              <a:xfrm>
                <a:off x="2095500" y="3009900"/>
                <a:ext cx="266700" cy="266700"/>
              </a:xfrm>
              <a:prstGeom prst="ellipse">
                <a:avLst/>
              </a:prstGeom>
              <a:solidFill>
                <a:srgbClr val="12355B"/>
              </a:solidFill>
              <a:ln>
                <a:noFill/>
              </a:ln>
            </p:spPr>
          </p:sp>
          <p:sp>
            <p:nvSpPr>
              <p:cNvPr id="10" name="TextBox 10"/>
              <p:cNvSpPr txBox="1"/>
              <p:nvPr/>
            </p:nvSpPr>
            <p:spPr>
              <a:xfrm>
                <a:off x="598170" y="2347912"/>
                <a:ext cx="722547"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1995</a:t>
                </a:r>
              </a:p>
            </p:txBody>
          </p:sp>
          <p:sp>
            <p:nvSpPr>
              <p:cNvPr id="11" name="TextBox 11"/>
              <p:cNvSpPr txBox="1"/>
              <p:nvPr/>
            </p:nvSpPr>
            <p:spPr>
              <a:xfrm>
                <a:off x="601599" y="2706529"/>
                <a:ext cx="274487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Reactor deseni — Schmidt</a:t>
                </a:r>
              </a:p>
            </p:txBody>
          </p:sp>
          <p:sp>
            <p:nvSpPr>
              <p:cNvPr id="12" name="TextBox 12"/>
              <p:cNvSpPr txBox="1"/>
              <p:nvPr/>
            </p:nvSpPr>
            <p:spPr>
              <a:xfrm>
                <a:off x="603504" y="3432810"/>
                <a:ext cx="23439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52616B"/>
                    </a:solidFill>
                    <a:latin typeface="+mn-lt"/>
                    <a:ea typeface="+mn-ea"/>
                    <a:cs typeface="+mn-cs"/>
                  </a:rPr>
                  <a:t>Tek iş parçacığı birden çok G/Ç</a:t>
                </a:r>
                <a:br/>
                <a:r>
                  <a:rPr lang="tr-TR" sz="1200" dirty="0">
                    <a:solidFill>
                      <a:srgbClr val="52616B"/>
                    </a:solidFill>
                    <a:latin typeface="+mn-lt"/>
                    <a:ea typeface="+mn-ea"/>
                    <a:cs typeface="+mn-cs"/>
                  </a:rPr>
                  <a:t>kaynağını izler; olay geldikçe</a:t>
                </a:r>
                <a:br/>
                <a:r>
                  <a:rPr lang="tr-TR" sz="1200" dirty="0">
                    <a:solidFill>
                      <a:srgbClr val="52616B"/>
                    </a:solidFill>
                    <a:latin typeface="+mn-lt"/>
                    <a:ea typeface="+mn-ea"/>
                    <a:cs typeface="+mn-cs"/>
                  </a:rPr>
                  <a:t>ilgili işleyiciyi tetikler.</a:t>
                </a:r>
              </a:p>
            </p:txBody>
          </p:sp>
        </p:grpSp>
        <p:grpSp>
          <p:nvGrpSpPr>
            <p:cNvPr id="18" name="kilometre-node"/>
            <p:cNvGrpSpPr/>
            <p:nvPr/>
          </p:nvGrpSpPr>
          <p:grpSpPr>
            <a:xfrm>
              <a:off x="4465320" y="2347912"/>
              <a:ext cx="2379726" cy="1681544"/>
              <a:chOff x="4465320" y="2347912"/>
              <a:chExt cx="2379726" cy="1681544"/>
            </a:xfrm>
          </p:grpSpPr>
          <p:sp>
            <p:nvSpPr>
              <p:cNvPr id="14" name="Ellipse 14"/>
              <p:cNvSpPr/>
              <p:nvPr/>
            </p:nvSpPr>
            <p:spPr>
              <a:xfrm>
                <a:off x="5962650" y="3009900"/>
                <a:ext cx="266700" cy="266700"/>
              </a:xfrm>
              <a:prstGeom prst="ellipse">
                <a:avLst/>
              </a:prstGeom>
              <a:solidFill>
                <a:srgbClr val="12355B"/>
              </a:solidFill>
              <a:ln>
                <a:noFill/>
              </a:ln>
            </p:spPr>
          </p:sp>
          <p:sp>
            <p:nvSpPr>
              <p:cNvPr id="15" name="TextBox 15"/>
              <p:cNvSpPr txBox="1"/>
              <p:nvPr/>
            </p:nvSpPr>
            <p:spPr>
              <a:xfrm>
                <a:off x="4465320" y="2347912"/>
                <a:ext cx="722547"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2009</a:t>
                </a:r>
              </a:p>
            </p:txBody>
          </p:sp>
          <p:sp>
            <p:nvSpPr>
              <p:cNvPr id="16" name="TextBox 16"/>
              <p:cNvSpPr txBox="1"/>
              <p:nvPr/>
            </p:nvSpPr>
            <p:spPr>
              <a:xfrm>
                <a:off x="4468749" y="2706529"/>
                <a:ext cx="209560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Node.js — Ryan Dahl</a:t>
                </a:r>
              </a:p>
            </p:txBody>
          </p:sp>
          <p:sp>
            <p:nvSpPr>
              <p:cNvPr id="17" name="TextBox 17"/>
              <p:cNvSpPr txBox="1"/>
              <p:nvPr/>
            </p:nvSpPr>
            <p:spPr>
              <a:xfrm>
                <a:off x="4470654" y="3432810"/>
                <a:ext cx="23743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52616B"/>
                    </a:solidFill>
                    <a:latin typeface="+mn-lt"/>
                    <a:ea typeface="+mn-ea"/>
                    <a:cs typeface="+mn-cs"/>
                  </a:rPr>
                  <a:t>JSConf Avrupa'da tanıtıldı: V8</a:t>
                </a:r>
                <a:br/>
                <a:r>
                  <a:rPr lang="tr-TR" sz="1200" dirty="0">
                    <a:solidFill>
                      <a:srgbClr val="52616B"/>
                    </a:solidFill>
                    <a:latin typeface="+mn-lt"/>
                    <a:ea typeface="+mn-ea"/>
                    <a:cs typeface="+mn-cs"/>
                  </a:rPr>
                  <a:t>motoru sunucuya taşındı ve</a:t>
                </a:r>
                <a:br/>
                <a:r>
                  <a:rPr lang="tr-TR" sz="1200" dirty="0">
                    <a:solidFill>
                      <a:srgbClr val="52616B"/>
                    </a:solidFill>
                    <a:latin typeface="+mn-lt"/>
                    <a:ea typeface="+mn-ea"/>
                    <a:cs typeface="+mn-cs"/>
                  </a:rPr>
                  <a:t>engellemeyen G/Ç ile birleşti.</a:t>
                </a:r>
              </a:p>
            </p:txBody>
          </p:sp>
        </p:grpSp>
        <p:grpSp>
          <p:nvGrpSpPr>
            <p:cNvPr id="23" name="kilometre-libuv"/>
            <p:cNvGrpSpPr/>
            <p:nvPr/>
          </p:nvGrpSpPr>
          <p:grpSpPr>
            <a:xfrm>
              <a:off x="8332470" y="2347912"/>
              <a:ext cx="2387346" cy="1681544"/>
              <a:chOff x="8332470" y="2347912"/>
              <a:chExt cx="2387346" cy="1681544"/>
            </a:xfrm>
          </p:grpSpPr>
          <p:sp>
            <p:nvSpPr>
              <p:cNvPr id="19" name="Ellipse 19"/>
              <p:cNvSpPr/>
              <p:nvPr/>
            </p:nvSpPr>
            <p:spPr>
              <a:xfrm>
                <a:off x="9829800" y="3009900"/>
                <a:ext cx="266700" cy="266700"/>
              </a:xfrm>
              <a:prstGeom prst="ellipse">
                <a:avLst/>
              </a:prstGeom>
              <a:solidFill>
                <a:srgbClr val="12355B"/>
              </a:solidFill>
              <a:ln>
                <a:noFill/>
              </a:ln>
            </p:spPr>
          </p:sp>
          <p:sp>
            <p:nvSpPr>
              <p:cNvPr id="20" name="TextBox 20"/>
              <p:cNvSpPr txBox="1"/>
              <p:nvPr/>
            </p:nvSpPr>
            <p:spPr>
              <a:xfrm>
                <a:off x="8332470" y="2347912"/>
                <a:ext cx="907371"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Bugün</a:t>
                </a:r>
              </a:p>
            </p:txBody>
          </p:sp>
          <p:sp>
            <p:nvSpPr>
              <p:cNvPr id="21" name="TextBox 21"/>
              <p:cNvSpPr txBox="1"/>
              <p:nvPr/>
            </p:nvSpPr>
            <p:spPr>
              <a:xfrm>
                <a:off x="8335899" y="2706529"/>
                <a:ext cx="14900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libuv katmanı</a:t>
                </a:r>
              </a:p>
            </p:txBody>
          </p:sp>
          <p:sp>
            <p:nvSpPr>
              <p:cNvPr id="22" name="TextBox 22"/>
              <p:cNvSpPr txBox="1"/>
              <p:nvPr/>
            </p:nvSpPr>
            <p:spPr>
              <a:xfrm>
                <a:off x="8337804" y="3432810"/>
                <a:ext cx="23820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52616B"/>
                    </a:solidFill>
                    <a:latin typeface="+mn-lt"/>
                    <a:ea typeface="+mn-ea"/>
                    <a:cs typeface="+mn-cs"/>
                  </a:rPr>
                  <a:t>Deseni işletim sistemi düzeyinde</a:t>
                </a:r>
                <a:br/>
                <a:r>
                  <a:rPr lang="tr-TR" sz="1200" dirty="0">
                    <a:solidFill>
                      <a:srgbClr val="52616B"/>
                    </a:solidFill>
                    <a:latin typeface="+mn-lt"/>
                    <a:ea typeface="+mn-ea"/>
                    <a:cs typeface="+mn-cs"/>
                  </a:rPr>
                  <a:t>uygular: epoll, kqueue, IOCP.</a:t>
                </a:r>
                <a:br/>
                <a:r>
                  <a:rPr lang="tr-TR" sz="1200" dirty="0">
                    <a:solidFill>
                      <a:srgbClr val="52616B"/>
                    </a:solidFill>
                    <a:latin typeface="+mn-lt"/>
                    <a:ea typeface="+mn-ea"/>
                    <a:cs typeface="+mn-cs"/>
                  </a:rPr>
                  <a:t>Tek iş parçacığı, çok bağlantı.</a:t>
                </a:r>
              </a:p>
            </p:txBody>
          </p:sp>
        </p:grpSp>
      </p:grpSp>
      <p:grpSp>
        <p:nvGrpSpPr>
          <p:cNvPr id="29" name="kuramsal-temel"/>
          <p:cNvGrpSpPr/>
          <p:nvPr/>
        </p:nvGrpSpPr>
        <p:grpSpPr>
          <a:xfrm>
            <a:off x="609600" y="4857750"/>
            <a:ext cx="10972800" cy="1428750"/>
            <a:chOff x="609600" y="4857750"/>
            <a:chExt cx="10972800" cy="1428750"/>
          </a:xfrm>
        </p:grpSpPr>
        <p:sp>
          <p:nvSpPr>
            <p:cNvPr id="25" name="Rectangle 25"/>
            <p:cNvSpPr/>
            <p:nvPr/>
          </p:nvSpPr>
          <p:spPr>
            <a:xfrm>
              <a:off x="609600" y="4857750"/>
              <a:ext cx="10972800" cy="1428750"/>
            </a:xfrm>
            <a:prstGeom prst="rect">
              <a:avLst/>
            </a:prstGeom>
            <a:solidFill>
              <a:srgbClr val="EAF4F6"/>
            </a:solidFill>
            <a:ln>
              <a:noFill/>
            </a:ln>
          </p:spPr>
        </p:sp>
        <p:sp>
          <p:nvSpPr>
            <p:cNvPr id="26" name="Rectangle 26"/>
            <p:cNvSpPr/>
            <p:nvPr/>
          </p:nvSpPr>
          <p:spPr>
            <a:xfrm>
              <a:off x="609600" y="4857750"/>
              <a:ext cx="10972800" cy="38100"/>
            </a:xfrm>
            <a:prstGeom prst="rect">
              <a:avLst/>
            </a:prstGeom>
            <a:solidFill>
              <a:srgbClr val="00A6A6"/>
            </a:solidFill>
            <a:ln>
              <a:noFill/>
            </a:ln>
          </p:spPr>
        </p:sp>
        <p:sp>
          <p:nvSpPr>
            <p:cNvPr id="27" name="TextBox 27"/>
            <p:cNvSpPr txBox="1"/>
            <p:nvPr/>
          </p:nvSpPr>
          <p:spPr>
            <a:xfrm>
              <a:off x="902970" y="5014912"/>
              <a:ext cx="2370630"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Kuramsal temel</a:t>
              </a:r>
            </a:p>
          </p:txBody>
        </p:sp>
        <p:sp>
          <p:nvSpPr>
            <p:cNvPr id="28" name="TextBox 28"/>
            <p:cNvSpPr txBox="1"/>
            <p:nvPr/>
          </p:nvSpPr>
          <p:spPr>
            <a:xfrm>
              <a:off x="906399" y="5449729"/>
              <a:ext cx="8122666"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Node.js “tek iş parçacıklı” olsa da, G/Ç bekleme sürelerini bloklamadan çok sayıda</a:t>
              </a:r>
              <a:br/>
              <a:r>
                <a:rPr lang="tr-TR" sz="1580" dirty="0">
                  <a:solidFill>
                    <a:srgbClr val="172B3A"/>
                  </a:solidFill>
                  <a:latin typeface="+mn-lt"/>
                  <a:ea typeface="+mn-ea"/>
                  <a:cs typeface="+mn-cs"/>
                </a:rPr>
                <a:t>eşzamanlı isteği yönetebilir; çünkü libuv, Schmidt'in 1995'te tanımladığı Reactor</a:t>
              </a:r>
              <a:br/>
              <a:r>
                <a:rPr lang="tr-TR" sz="1580" dirty="0">
                  <a:solidFill>
                    <a:srgbClr val="172B3A"/>
                  </a:solidFill>
                  <a:latin typeface="+mn-lt"/>
                  <a:ea typeface="+mn-ea"/>
                  <a:cs typeface="+mn-cs"/>
                </a:rPr>
                <a:t>desenini epoll/kqueue/IOCP ile işletim sistemi düzeyinde uygular.</a:t>
              </a:r>
            </a:p>
          </p:txBody>
        </p:sp>
      </p:grpSp>
      <p:grpSp>
        <p:nvGrpSpPr>
          <p:cNvPr id="32" name="footer"/>
          <p:cNvGrpSpPr/>
          <p:nvPr/>
        </p:nvGrpSpPr>
        <p:grpSpPr>
          <a:xfrm>
            <a:off x="603504" y="6461760"/>
            <a:ext cx="10984992" cy="234696"/>
            <a:chOff x="603504" y="6461760"/>
            <a:chExt cx="10984992" cy="234696"/>
          </a:xfrm>
        </p:grpSpPr>
        <p:sp>
          <p:nvSpPr>
            <p:cNvPr id="30" name="TextBox 30"/>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1" name="TextBox 31"/>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8"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775638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İlk program: process ile runtime bilgisi</a:t>
              </a:r>
            </a:p>
          </p:txBody>
        </p:sp>
      </p:grpSp>
      <p:grpSp>
        <p:nvGrpSpPr>
          <p:cNvPr id="25" name="kod-blogu"/>
          <p:cNvGrpSpPr/>
          <p:nvPr/>
        </p:nvGrpSpPr>
        <p:grpSpPr>
          <a:xfrm>
            <a:off x="603504" y="1261110"/>
            <a:ext cx="6292596" cy="2749963"/>
            <a:chOff x="603504" y="1261110"/>
            <a:chExt cx="6292596" cy="2749963"/>
          </a:xfrm>
        </p:grpSpPr>
        <p:sp>
          <p:nvSpPr>
            <p:cNvPr id="19" name="TextBox 19"/>
            <p:cNvSpPr txBox="1"/>
            <p:nvPr/>
          </p:nvSpPr>
          <p:spPr>
            <a:xfrm>
              <a:off x="603504" y="1261110"/>
              <a:ext cx="37636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src/ilkProgram.ts · npx tsx src/ilkProgram.ts</a:t>
              </a:r>
            </a:p>
          </p:txBody>
        </p:sp>
        <p:sp>
          <p:nvSpPr>
            <p:cNvPr id="20" name="Rectangle 20"/>
            <p:cNvSpPr/>
            <p:nvPr/>
          </p:nvSpPr>
          <p:spPr>
            <a:xfrm>
              <a:off x="609600" y="1504950"/>
              <a:ext cx="6286500" cy="2457450"/>
            </a:xfrm>
            <a:prstGeom prst="rect">
              <a:avLst/>
            </a:prstGeom>
            <a:solidFill>
              <a:srgbClr val="12355B"/>
            </a:solidFill>
            <a:ln>
              <a:noFill/>
            </a:ln>
          </p:spPr>
        </p:sp>
        <p:sp>
          <p:nvSpPr>
            <p:cNvPr id="21" name="Rectangle 21"/>
            <p:cNvSpPr/>
            <p:nvPr/>
          </p:nvSpPr>
          <p:spPr>
            <a:xfrm>
              <a:off x="609600" y="1504950"/>
              <a:ext cx="38100" cy="2457450"/>
            </a:xfrm>
            <a:prstGeom prst="rect">
              <a:avLst/>
            </a:prstGeom>
            <a:solidFill>
              <a:srgbClr val="00A6A6"/>
            </a:solidFill>
            <a:ln>
              <a:noFill/>
            </a:ln>
          </p:spPr>
        </p:sp>
        <p:sp>
          <p:nvSpPr>
            <p:cNvPr id="22" name="TextBox 22"/>
            <p:cNvSpPr txBox="1"/>
            <p:nvPr/>
          </p:nvSpPr>
          <p:spPr>
            <a:xfrm>
              <a:off x="907161" y="1713071"/>
              <a:ext cx="4775454" cy="1135952"/>
            </a:xfrm>
            <a:prstGeom prst="rect">
              <a:avLst/>
            </a:prstGeom>
            <a:noFill/>
            <a:ln>
              <a:noFill/>
            </a:ln>
          </p:spPr>
          <p:txBody>
            <a:bodyPr wrap="none" lIns="0" tIns="0" rIns="0" bIns="0" anchor="t" anchorCtr="0">
              <a:spAutoFit/>
            </a:bodyPr>
            <a:lstStyle/>
            <a:p>
              <a:pPr algn="l">
                <a:lnSpc>
                  <a:spcPts val="2250"/>
                </a:lnSpc>
              </a:pPr>
              <a:r>
                <a:rPr lang="tr-TR" sz="1420" dirty="0">
                  <a:solidFill>
                    <a:srgbClr val="EAF4F6"/>
                  </a:solidFill>
                  <a:latin typeface="Consolas"/>
                  <a:ea typeface="Consolas"/>
                  <a:cs typeface="Consolas"/>
                </a:rPr>
                <a:t>// Node.js runtime bilgilerini terminalden okur.</a:t>
              </a:r>
              <a:br/>
              <a:r>
                <a:rPr lang="tr-TR" sz="1420" dirty="0">
                  <a:solidFill>
                    <a:srgbClr val="EAF4F6"/>
                  </a:solidFill>
                  <a:latin typeface="Consolas"/>
                  <a:ea typeface="Consolas"/>
                  <a:cs typeface="Consolas"/>
                </a:rPr>
                <a:t>console.log("Node.js sürümü:", process.version);</a:t>
              </a:r>
              <a:br/>
              <a:r>
                <a:rPr lang="tr-TR" sz="1420" dirty="0">
                  <a:solidFill>
                    <a:srgbClr val="EAF4F6"/>
                  </a:solidFill>
                  <a:latin typeface="Consolas"/>
                  <a:ea typeface="Consolas"/>
                  <a:cs typeface="Consolas"/>
                </a:rPr>
                <a:t>console.log("Çalışma klasörü:", process.cwd());</a:t>
              </a:r>
              <a:br/>
              <a:r>
                <a:rPr lang="tr-TR" sz="1420" dirty="0">
                  <a:solidFill>
                    <a:srgbClr val="EAF4F6"/>
                  </a:solidFill>
                  <a:latin typeface="Consolas"/>
                  <a:ea typeface="Consolas"/>
                  <a:cs typeface="Consolas"/>
                </a:rPr>
                <a:t>console.log("Program adı:", process.argv[1]);</a:t>
              </a:r>
            </a:p>
          </p:txBody>
        </p:sp>
        <p:sp>
          <p:nvSpPr>
            <p:cNvPr id="23" name="Line 23"/>
            <p:cNvSpPr/>
            <p:nvPr/>
          </p:nvSpPr>
          <p:spPr>
            <a:xfrm>
              <a:off x="914400" y="3048000"/>
              <a:ext cx="5676900" cy="9525"/>
            </a:xfrm>
            <a:custGeom>
              <a:avLst/>
              <a:gdLst/>
              <a:ahLst/>
              <a:cxnLst/>
              <a:rect l="l" t="t" r="r" b="b"/>
              <a:pathLst>
                <a:path w="5676900" h="9525">
                  <a:moveTo>
                    <a:pt x="0" y="0"/>
                  </a:moveTo>
                  <a:lnTo>
                    <a:pt x="5676900" y="0"/>
                  </a:lnTo>
                </a:path>
              </a:pathLst>
            </a:custGeom>
            <a:noFill/>
            <a:ln w="9525">
              <a:solidFill>
                <a:srgbClr val="2E86AB"/>
              </a:solidFill>
            </a:ln>
          </p:spPr>
        </p:sp>
        <p:sp>
          <p:nvSpPr>
            <p:cNvPr id="24" name="TextBox 24"/>
            <p:cNvSpPr txBox="1"/>
            <p:nvPr/>
          </p:nvSpPr>
          <p:spPr>
            <a:xfrm>
              <a:off x="907161" y="3198971"/>
              <a:ext cx="4180332" cy="812102"/>
            </a:xfrm>
            <a:prstGeom prst="rect">
              <a:avLst/>
            </a:prstGeom>
            <a:noFill/>
            <a:ln>
              <a:noFill/>
            </a:ln>
          </p:spPr>
          <p:txBody>
            <a:bodyPr wrap="none" lIns="0" tIns="0" rIns="0" bIns="0" anchor="t" anchorCtr="0">
              <a:spAutoFit/>
            </a:bodyPr>
            <a:lstStyle/>
            <a:p>
              <a:pPr algn="l">
                <a:lnSpc>
                  <a:spcPts val="2100"/>
                </a:lnSpc>
              </a:pPr>
              <a:r>
                <a:rPr lang="tr-TR" sz="1420" dirty="0">
                  <a:solidFill>
                    <a:srgbClr val="00A6A6"/>
                  </a:solidFill>
                  <a:latin typeface="Consolas"/>
                  <a:ea typeface="Consolas"/>
                  <a:cs typeface="Consolas"/>
                </a:rPr>
                <a:t>Node.js sürümü: v24.19.0</a:t>
              </a:r>
              <a:br/>
              <a:r>
                <a:rPr lang="tr-TR" sz="1420" dirty="0">
                  <a:solidFill>
                    <a:srgbClr val="EAF4F6"/>
                  </a:solidFill>
                  <a:latin typeface="Consolas"/>
                  <a:ea typeface="Consolas"/>
                  <a:cs typeface="Consolas"/>
                </a:rPr>
                <a:t>Çalışma klasörü: C:\projects\sandbox</a:t>
              </a:r>
              <a:br/>
              <a:r>
                <a:rPr lang="tr-TR" sz="1420" dirty="0">
                  <a:solidFill>
                    <a:srgbClr val="EAF4F6"/>
                  </a:solidFill>
                  <a:latin typeface="Consolas"/>
                  <a:ea typeface="Consolas"/>
                  <a:cs typeface="Consolas"/>
                </a:rPr>
                <a:t>Program adı: C:\projects\sandbox\script.ts</a:t>
              </a:r>
            </a:p>
          </p:txBody>
        </p:sp>
      </p:grpSp>
      <p:grpSp>
        <p:nvGrpSpPr>
          <p:cNvPr id="38" name="kritik-satirlar"/>
          <p:cNvGrpSpPr/>
          <p:nvPr/>
        </p:nvGrpSpPr>
        <p:grpSpPr>
          <a:xfrm>
            <a:off x="7189470" y="1204912"/>
            <a:ext cx="3366745" cy="2729294"/>
            <a:chOff x="7189470" y="1204912"/>
            <a:chExt cx="3366745" cy="2729294"/>
          </a:xfrm>
        </p:grpSpPr>
        <p:sp>
          <p:nvSpPr>
            <p:cNvPr id="26" name="TextBox 26"/>
            <p:cNvSpPr txBox="1"/>
            <p:nvPr/>
          </p:nvSpPr>
          <p:spPr>
            <a:xfrm>
              <a:off x="7189470" y="1204912"/>
              <a:ext cx="2337971"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Kritik satırlar</a:t>
              </a:r>
            </a:p>
          </p:txBody>
        </p:sp>
        <p:grpSp>
          <p:nvGrpSpPr>
            <p:cNvPr id="30" name="kritik-1"/>
            <p:cNvGrpSpPr/>
            <p:nvPr/>
          </p:nvGrpSpPr>
          <p:grpSpPr>
            <a:xfrm>
              <a:off x="7192899" y="1696879"/>
              <a:ext cx="3040313" cy="713327"/>
              <a:chOff x="7192899" y="1696879"/>
              <a:chExt cx="3040313" cy="713327"/>
            </a:xfrm>
          </p:grpSpPr>
          <p:sp>
            <p:nvSpPr>
              <p:cNvPr id="27" name="TextBox 27"/>
              <p:cNvSpPr txBox="1"/>
              <p:nvPr/>
            </p:nvSpPr>
            <p:spPr>
              <a:xfrm>
                <a:off x="7192899" y="1696879"/>
                <a:ext cx="1802679"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process.version</a:t>
                </a:r>
              </a:p>
            </p:txBody>
          </p:sp>
          <p:sp>
            <p:nvSpPr>
              <p:cNvPr id="28" name="TextBox 28"/>
              <p:cNvSpPr txBox="1"/>
              <p:nvPr/>
            </p:nvSpPr>
            <p:spPr>
              <a:xfrm>
                <a:off x="7194804" y="1985010"/>
                <a:ext cx="303840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Runtime'ın hangi sürümde çalıştığını</a:t>
                </a:r>
              </a:p>
            </p:txBody>
          </p:sp>
          <p:sp>
            <p:nvSpPr>
              <p:cNvPr id="29" name="TextBox 29"/>
              <p:cNvSpPr txBox="1"/>
              <p:nvPr/>
            </p:nvSpPr>
            <p:spPr>
              <a:xfrm>
                <a:off x="7194804" y="2175510"/>
                <a:ext cx="14095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doğrudan bildirir.</a:t>
                </a:r>
              </a:p>
            </p:txBody>
          </p:sp>
        </p:grpSp>
        <p:grpSp>
          <p:nvGrpSpPr>
            <p:cNvPr id="34" name="kritik-2"/>
            <p:cNvGrpSpPr/>
            <p:nvPr/>
          </p:nvGrpSpPr>
          <p:grpSpPr>
            <a:xfrm>
              <a:off x="7192899" y="2554129"/>
              <a:ext cx="3363316" cy="713327"/>
              <a:chOff x="7192899" y="2554129"/>
              <a:chExt cx="3363316" cy="713327"/>
            </a:xfrm>
          </p:grpSpPr>
          <p:sp>
            <p:nvSpPr>
              <p:cNvPr id="31" name="TextBox 31"/>
              <p:cNvSpPr txBox="1"/>
              <p:nvPr/>
            </p:nvSpPr>
            <p:spPr>
              <a:xfrm>
                <a:off x="7192899" y="2554129"/>
                <a:ext cx="1657511"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process.cwd()</a:t>
                </a:r>
              </a:p>
            </p:txBody>
          </p:sp>
          <p:sp>
            <p:nvSpPr>
              <p:cNvPr id="32" name="TextBox 32"/>
              <p:cNvSpPr txBox="1"/>
              <p:nvPr/>
            </p:nvSpPr>
            <p:spPr>
              <a:xfrm>
                <a:off x="7194804" y="2842260"/>
                <a:ext cx="336141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Programın başlatıldığı klasörü döndürür;</a:t>
                </a:r>
              </a:p>
            </p:txBody>
          </p:sp>
          <p:sp>
            <p:nvSpPr>
              <p:cNvPr id="33" name="TextBox 33"/>
              <p:cNvSpPr txBox="1"/>
              <p:nvPr/>
            </p:nvSpPr>
            <p:spPr>
              <a:xfrm>
                <a:off x="7194804" y="3032760"/>
                <a:ext cx="251612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dosyanın kendi konumu değildir.</a:t>
                </a:r>
              </a:p>
            </p:txBody>
          </p:sp>
        </p:grpSp>
        <p:grpSp>
          <p:nvGrpSpPr>
            <p:cNvPr id="37" name="kritik-3"/>
            <p:cNvGrpSpPr/>
            <p:nvPr/>
          </p:nvGrpSpPr>
          <p:grpSpPr>
            <a:xfrm>
              <a:off x="7192899" y="3411379"/>
              <a:ext cx="2716972" cy="522827"/>
              <a:chOff x="7192899" y="3411379"/>
              <a:chExt cx="2716972" cy="522827"/>
            </a:xfrm>
          </p:grpSpPr>
          <p:sp>
            <p:nvSpPr>
              <p:cNvPr id="35" name="TextBox 35"/>
              <p:cNvSpPr txBox="1"/>
              <p:nvPr/>
            </p:nvSpPr>
            <p:spPr>
              <a:xfrm>
                <a:off x="7192899" y="3411379"/>
                <a:ext cx="1858512"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process.argv[1]</a:t>
                </a:r>
              </a:p>
            </p:txBody>
          </p:sp>
          <p:sp>
            <p:nvSpPr>
              <p:cNvPr id="36" name="TextBox 36"/>
              <p:cNvSpPr txBox="1"/>
              <p:nvPr/>
            </p:nvSpPr>
            <p:spPr>
              <a:xfrm>
                <a:off x="7194804" y="3699510"/>
                <a:ext cx="27150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Çalıştırılan betiğin yolunu taşır.</a:t>
                </a:r>
              </a:p>
            </p:txBody>
          </p:sp>
        </p:grpSp>
      </p:grpSp>
      <p:grpSp>
        <p:nvGrpSpPr>
          <p:cNvPr id="43" name="dikkat-notu"/>
          <p:cNvGrpSpPr/>
          <p:nvPr/>
        </p:nvGrpSpPr>
        <p:grpSpPr>
          <a:xfrm>
            <a:off x="609600" y="4305300"/>
            <a:ext cx="10972800" cy="914400"/>
            <a:chOff x="609600" y="4305300"/>
            <a:chExt cx="10972800" cy="914400"/>
          </a:xfrm>
        </p:grpSpPr>
        <p:sp>
          <p:nvSpPr>
            <p:cNvPr id="39" name="Rectangle 39"/>
            <p:cNvSpPr/>
            <p:nvPr/>
          </p:nvSpPr>
          <p:spPr>
            <a:xfrm>
              <a:off x="609600" y="4305300"/>
              <a:ext cx="10972800" cy="914400"/>
            </a:xfrm>
            <a:prstGeom prst="rect">
              <a:avLst/>
            </a:prstGeom>
            <a:solidFill>
              <a:srgbClr val="FFFFFF"/>
            </a:solidFill>
            <a:ln w="9525">
              <a:solidFill>
                <a:srgbClr val="B8CBD3"/>
              </a:solidFill>
            </a:ln>
          </p:spPr>
        </p:sp>
        <p:sp>
          <p:nvSpPr>
            <p:cNvPr id="40" name="Rectangle 40"/>
            <p:cNvSpPr/>
            <p:nvPr/>
          </p:nvSpPr>
          <p:spPr>
            <a:xfrm>
              <a:off x="609600" y="4305300"/>
              <a:ext cx="57150" cy="914400"/>
            </a:xfrm>
            <a:prstGeom prst="rect">
              <a:avLst/>
            </a:prstGeom>
            <a:solidFill>
              <a:srgbClr val="2E86AB"/>
            </a:solidFill>
            <a:ln>
              <a:noFill/>
            </a:ln>
          </p:spPr>
        </p:sp>
        <p:sp>
          <p:nvSpPr>
            <p:cNvPr id="41" name="TextBox 41"/>
            <p:cNvSpPr txBox="1"/>
            <p:nvPr/>
          </p:nvSpPr>
          <p:spPr>
            <a:xfrm>
              <a:off x="944499" y="44972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Dikkat noktası</a:t>
              </a:r>
            </a:p>
          </p:txBody>
        </p:sp>
        <p:sp>
          <p:nvSpPr>
            <p:cNvPr id="42" name="TextBox 42"/>
            <p:cNvSpPr txBox="1"/>
            <p:nvPr/>
          </p:nvSpPr>
          <p:spPr>
            <a:xfrm>
              <a:off x="944499" y="4802029"/>
              <a:ext cx="931818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process yalnızca Node.js runtime'ında bulunur; aynı kod bir tarayıcıda çalıştırılamaz.</a:t>
              </a:r>
            </a:p>
          </p:txBody>
        </p:sp>
      </p:grpSp>
      <p:grpSp>
        <p:nvGrpSpPr>
          <p:cNvPr id="45" name="kurulum-notu"/>
          <p:cNvGrpSpPr/>
          <p:nvPr/>
        </p:nvGrpSpPr>
        <p:grpSpPr>
          <a:xfrm>
            <a:off x="601599" y="5430679"/>
            <a:ext cx="7126859" cy="879538"/>
            <a:chOff x="601599" y="5430679"/>
            <a:chExt cx="7126859" cy="879538"/>
          </a:xfrm>
        </p:grpSpPr>
        <p:sp>
          <p:nvSpPr>
            <p:cNvPr id="44" name="TextBox 44"/>
            <p:cNvSpPr txBox="1"/>
            <p:nvPr/>
          </p:nvSpPr>
          <p:spPr>
            <a:xfrm>
              <a:off x="601599" y="5430679"/>
              <a:ext cx="7126859"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 xml:space="preserve">Proje önce </a:t>
              </a:r>
              <a:r>
                <a:rPr lang="tr-TR" sz="1420" dirty="0">
                  <a:solidFill>
                    <a:srgbClr val="12355B"/>
                  </a:solidFill>
                  <a:latin typeface="Consolas"/>
                  <a:ea typeface="Consolas"/>
                  <a:cs typeface="Consolas"/>
                </a:rPr>
                <a:t>npm init -y</a:t>
              </a:r>
              <a:r>
                <a:rPr lang="tr-TR" sz="1580" dirty="0">
                  <a:solidFill>
                    <a:srgbClr val="172B3A"/>
                  </a:solidFill>
                  <a:latin typeface="+mn-lt"/>
                  <a:ea typeface="+mn-ea"/>
                  <a:cs typeface="+mn-cs"/>
                </a:rPr>
                <a:t xml:space="preserve"> ile başlatılır; ardından şu komut araçları kurar:</a:t>
              </a:r>
            </a:p>
            <a:p>
              <a:pPr algn="l">
                <a:lnSpc>
                  <a:spcPts val="2250"/>
                </a:lnSpc>
              </a:pPr>
              <a:r>
                <a:rPr lang="tr-TR" sz="1420" dirty="0">
                  <a:solidFill>
                    <a:srgbClr val="12355B"/>
                  </a:solidFill>
                  <a:latin typeface="Consolas"/>
                  <a:ea typeface="Consolas"/>
                  <a:cs typeface="Consolas"/>
                </a:rPr>
                <a:t>npm install --save-dev typescript tsx @types/node</a:t>
              </a:r>
            </a:p>
            <a:p>
              <a:pPr algn="l">
                <a:lnSpc>
                  <a:spcPts val="2250"/>
                </a:lnSpc>
              </a:pPr>
              <a:r>
                <a:rPr lang="tr-TR" sz="1580" dirty="0">
                  <a:solidFill>
                    <a:srgbClr val="172B3A"/>
                  </a:solidFill>
                  <a:latin typeface="+mn-lt"/>
                  <a:ea typeface="+mn-ea"/>
                  <a:cs typeface="+mn-cs"/>
                </a:rPr>
                <a:t>Bu paketler yalnızca geliştirme bağımlılığı olarak eklenir.</a:t>
              </a:r>
            </a:p>
          </p:txBody>
        </p:sp>
      </p:grpSp>
      <p:grpSp>
        <p:nvGrpSpPr>
          <p:cNvPr id="48" name="footer"/>
          <p:cNvGrpSpPr/>
          <p:nvPr/>
        </p:nvGrpSpPr>
        <p:grpSpPr>
          <a:xfrm>
            <a:off x="603504" y="6461760"/>
            <a:ext cx="10984992" cy="234696"/>
            <a:chOff x="603504" y="6461760"/>
            <a:chExt cx="10984992" cy="234696"/>
          </a:xfrm>
        </p:grpSpPr>
        <p:sp>
          <p:nvSpPr>
            <p:cNvPr id="46" name="TextBox 46"/>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7" name="TextBox 4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58501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node: önekli yerleşik modüller</a:t>
              </a:r>
            </a:p>
          </p:txBody>
        </p:sp>
      </p:grpSp>
      <p:grpSp>
        <p:nvGrpSpPr>
          <p:cNvPr id="17" name="modul-kodu"/>
          <p:cNvGrpSpPr/>
          <p:nvPr/>
        </p:nvGrpSpPr>
        <p:grpSpPr>
          <a:xfrm>
            <a:off x="603504" y="1261110"/>
            <a:ext cx="10978896" cy="2263140"/>
            <a:chOff x="603504" y="1261110"/>
            <a:chExt cx="10978896" cy="2263140"/>
          </a:xfrm>
        </p:grpSpPr>
        <p:sp>
          <p:nvSpPr>
            <p:cNvPr id="13" name="TextBox 13"/>
            <p:cNvSpPr txBox="1"/>
            <p:nvPr/>
          </p:nvSpPr>
          <p:spPr>
            <a:xfrm>
              <a:off x="603504" y="1261110"/>
              <a:ext cx="61369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src/sistemBilgisi.ts · Node.js ile gelen os modülü işletim sistemi bilgisi sağlar</a:t>
              </a:r>
            </a:p>
          </p:txBody>
        </p:sp>
        <p:sp>
          <p:nvSpPr>
            <p:cNvPr id="14" name="Rectangle 14"/>
            <p:cNvSpPr/>
            <p:nvPr/>
          </p:nvSpPr>
          <p:spPr>
            <a:xfrm>
              <a:off x="609600" y="1504950"/>
              <a:ext cx="10972800" cy="2019300"/>
            </a:xfrm>
            <a:prstGeom prst="rect">
              <a:avLst/>
            </a:prstGeom>
            <a:solidFill>
              <a:srgbClr val="12355B"/>
            </a:solidFill>
            <a:ln>
              <a:noFill/>
            </a:ln>
          </p:spPr>
        </p:sp>
        <p:sp>
          <p:nvSpPr>
            <p:cNvPr id="15" name="Rectangle 15"/>
            <p:cNvSpPr/>
            <p:nvPr/>
          </p:nvSpPr>
          <p:spPr>
            <a:xfrm>
              <a:off x="609600" y="1504950"/>
              <a:ext cx="38100" cy="2019300"/>
            </a:xfrm>
            <a:prstGeom prst="rect">
              <a:avLst/>
            </a:prstGeom>
            <a:solidFill>
              <a:srgbClr val="00A6A6"/>
            </a:solidFill>
            <a:ln>
              <a:noFill/>
            </a:ln>
          </p:spPr>
        </p:sp>
        <p:sp>
          <p:nvSpPr>
            <p:cNvPr id="16" name="TextBox 16"/>
            <p:cNvSpPr txBox="1"/>
            <p:nvPr/>
          </p:nvSpPr>
          <p:spPr>
            <a:xfrm>
              <a:off x="907161" y="1713071"/>
              <a:ext cx="5073015" cy="1497902"/>
            </a:xfrm>
            <a:prstGeom prst="rect">
              <a:avLst/>
            </a:prstGeom>
            <a:noFill/>
            <a:ln>
              <a:noFill/>
            </a:ln>
          </p:spPr>
          <p:txBody>
            <a:bodyPr wrap="none" lIns="0" tIns="0" rIns="0" bIns="0" anchor="t" anchorCtr="0">
              <a:spAutoFit/>
            </a:bodyPr>
            <a:lstStyle/>
            <a:p>
              <a:pPr algn="l">
                <a:lnSpc>
                  <a:spcPts val="2400"/>
                </a:lnSpc>
              </a:pPr>
              <a:r>
                <a:rPr lang="tr-TR" sz="1420" dirty="0">
                  <a:solidFill>
                    <a:srgbClr val="EAF4F6"/>
                  </a:solidFill>
                  <a:latin typeface="Consolas"/>
                  <a:ea typeface="Consolas"/>
                  <a:cs typeface="Consolas"/>
                </a:rPr>
                <a:t>import os from "node:os";</a:t>
              </a:r>
              <a:br/>
              <a:r>
                <a:rPr lang="tr-TR" sz="1420" dirty="0">
                  <a:solidFill>
                    <a:srgbClr val="EAF4F6"/>
                  </a:solidFill>
                  <a:latin typeface="Consolas"/>
                  <a:ea typeface="Consolas"/>
                  <a:cs typeface="Consolas"/>
                </a:rPr>
                <a:t>const isletimSistemiAdi = os.platform();</a:t>
              </a:r>
              <a:br/>
              <a:r>
                <a:rPr lang="tr-TR" sz="1420" dirty="0">
                  <a:solidFill>
                    <a:srgbClr val="EAF4F6"/>
                  </a:solidFill>
                  <a:latin typeface="Consolas"/>
                  <a:ea typeface="Consolas"/>
                  <a:cs typeface="Consolas"/>
                </a:rPr>
                <a:t>const islemciMimarisi = os.arch();</a:t>
              </a:r>
              <a:br/>
              <a:r>
                <a:rPr lang="tr-TR" sz="1420" dirty="0">
                  <a:solidFill>
                    <a:srgbClr val="EAF4F6"/>
                  </a:solidFill>
                  <a:latin typeface="Consolas"/>
                  <a:ea typeface="Consolas"/>
                  <a:cs typeface="Consolas"/>
                </a:rPr>
                <a:t>console.log("İşletim sistemi:", isletimSistemiAdi);</a:t>
              </a:r>
              <a:br/>
              <a:r>
                <a:rPr lang="tr-TR" sz="1420" dirty="0">
                  <a:solidFill>
                    <a:srgbClr val="EAF4F6"/>
                  </a:solidFill>
                  <a:latin typeface="Consolas"/>
                  <a:ea typeface="Consolas"/>
                  <a:cs typeface="Consolas"/>
                </a:rPr>
                <a:t>console.log("İşlemci mimarisi:", islemciMimarisi);</a:t>
              </a:r>
            </a:p>
          </p:txBody>
        </p:sp>
      </p:grpSp>
      <p:grpSp>
        <p:nvGrpSpPr>
          <p:cNvPr id="21" name="terminal-cikti"/>
          <p:cNvGrpSpPr/>
          <p:nvPr/>
        </p:nvGrpSpPr>
        <p:grpSpPr>
          <a:xfrm>
            <a:off x="609600" y="3848100"/>
            <a:ext cx="4953000" cy="924973"/>
            <a:chOff x="609600" y="3848100"/>
            <a:chExt cx="4953000" cy="924973"/>
          </a:xfrm>
        </p:grpSpPr>
        <p:sp>
          <p:nvSpPr>
            <p:cNvPr id="18" name="Rectangle 18"/>
            <p:cNvSpPr/>
            <p:nvPr/>
          </p:nvSpPr>
          <p:spPr>
            <a:xfrm>
              <a:off x="609600" y="3848100"/>
              <a:ext cx="4953000" cy="914400"/>
            </a:xfrm>
            <a:prstGeom prst="rect">
              <a:avLst/>
            </a:prstGeom>
            <a:solidFill>
              <a:srgbClr val="FFFFFF"/>
            </a:solidFill>
            <a:ln w="9525">
              <a:solidFill>
                <a:srgbClr val="B8CBD3"/>
              </a:solidFill>
            </a:ln>
          </p:spPr>
        </p:sp>
        <p:sp>
          <p:nvSpPr>
            <p:cNvPr id="19" name="TextBox 19"/>
            <p:cNvSpPr txBox="1"/>
            <p:nvPr/>
          </p:nvSpPr>
          <p:spPr>
            <a:xfrm>
              <a:off x="908304" y="3985260"/>
              <a:ext cx="13499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Terminal çıktısı</a:t>
              </a:r>
            </a:p>
          </p:txBody>
        </p:sp>
        <p:sp>
          <p:nvSpPr>
            <p:cNvPr id="20" name="TextBox 20"/>
            <p:cNvSpPr txBox="1"/>
            <p:nvPr/>
          </p:nvSpPr>
          <p:spPr>
            <a:xfrm>
              <a:off x="907161" y="4246721"/>
              <a:ext cx="2196592" cy="5263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Consolas"/>
                  <a:ea typeface="Consolas"/>
                  <a:cs typeface="Consolas"/>
                </a:rPr>
                <a:t>İşletim sistemi: win32</a:t>
              </a:r>
              <a:br/>
              <a:r>
                <a:rPr lang="tr-TR" sz="1420" dirty="0">
                  <a:solidFill>
                    <a:srgbClr val="172B3A"/>
                  </a:solidFill>
                  <a:latin typeface="Consolas"/>
                  <a:ea typeface="Consolas"/>
                  <a:cs typeface="Consolas"/>
                </a:rPr>
                <a:t>İşlemci mimarisi: x64</a:t>
              </a:r>
            </a:p>
          </p:txBody>
        </p:sp>
      </p:grpSp>
      <p:grpSp>
        <p:nvGrpSpPr>
          <p:cNvPr id="26" name="node-oneki"/>
          <p:cNvGrpSpPr/>
          <p:nvPr/>
        </p:nvGrpSpPr>
        <p:grpSpPr>
          <a:xfrm>
            <a:off x="5867400" y="3848100"/>
            <a:ext cx="5715000" cy="924306"/>
            <a:chOff x="5867400" y="3848100"/>
            <a:chExt cx="5715000" cy="924306"/>
          </a:xfrm>
        </p:grpSpPr>
        <p:sp>
          <p:nvSpPr>
            <p:cNvPr id="22" name="Rectangle 22"/>
            <p:cNvSpPr/>
            <p:nvPr/>
          </p:nvSpPr>
          <p:spPr>
            <a:xfrm>
              <a:off x="5867400" y="3848100"/>
              <a:ext cx="5715000" cy="914400"/>
            </a:xfrm>
            <a:prstGeom prst="rect">
              <a:avLst/>
            </a:prstGeom>
            <a:solidFill>
              <a:srgbClr val="EAF4F6"/>
            </a:solidFill>
            <a:ln>
              <a:noFill/>
            </a:ln>
          </p:spPr>
        </p:sp>
        <p:sp>
          <p:nvSpPr>
            <p:cNvPr id="23" name="Rectangle 23"/>
            <p:cNvSpPr/>
            <p:nvPr/>
          </p:nvSpPr>
          <p:spPr>
            <a:xfrm>
              <a:off x="5867400" y="3848100"/>
              <a:ext cx="57150" cy="914400"/>
            </a:xfrm>
            <a:prstGeom prst="rect">
              <a:avLst/>
            </a:prstGeom>
            <a:solidFill>
              <a:srgbClr val="00A6A6"/>
            </a:solidFill>
            <a:ln>
              <a:noFill/>
            </a:ln>
          </p:spPr>
        </p:sp>
        <p:sp>
          <p:nvSpPr>
            <p:cNvPr id="24" name="TextBox 24"/>
            <p:cNvSpPr txBox="1"/>
            <p:nvPr/>
          </p:nvSpPr>
          <p:spPr>
            <a:xfrm>
              <a:off x="6164199" y="4001929"/>
              <a:ext cx="24391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node: öneki ne söyler?</a:t>
              </a:r>
            </a:p>
          </p:txBody>
        </p:sp>
        <p:sp>
          <p:nvSpPr>
            <p:cNvPr id="25" name="TextBox 25"/>
            <p:cNvSpPr txBox="1"/>
            <p:nvPr/>
          </p:nvSpPr>
          <p:spPr>
            <a:xfrm>
              <a:off x="6166104" y="4347210"/>
              <a:ext cx="4584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Modülün npm'den indirilmediğini, doğrudan Node.js ile geldiğini</a:t>
              </a:r>
              <a:br/>
              <a:r>
                <a:rPr lang="tr-TR" sz="1200" dirty="0">
                  <a:solidFill>
                    <a:srgbClr val="172B3A"/>
                  </a:solidFill>
                  <a:latin typeface="+mn-lt"/>
                  <a:ea typeface="+mn-ea"/>
                  <a:cs typeface="+mn-cs"/>
                </a:rPr>
                <a:t>açıkça belirtir; büyük projelerde kaynağı görünür kılar.</a:t>
              </a:r>
            </a:p>
          </p:txBody>
        </p:sp>
      </p:grpSp>
      <p:grpSp>
        <p:nvGrpSpPr>
          <p:cNvPr id="36" name="kritik-satirlar"/>
          <p:cNvGrpSpPr/>
          <p:nvPr/>
        </p:nvGrpSpPr>
        <p:grpSpPr>
          <a:xfrm>
            <a:off x="601599" y="5049679"/>
            <a:ext cx="10499217" cy="713327"/>
            <a:chOff x="601599" y="5049679"/>
            <a:chExt cx="10499217" cy="713327"/>
          </a:xfrm>
        </p:grpSpPr>
        <p:grpSp>
          <p:nvGrpSpPr>
            <p:cNvPr id="29" name="kritik-platform"/>
            <p:cNvGrpSpPr/>
            <p:nvPr/>
          </p:nvGrpSpPr>
          <p:grpSpPr>
            <a:xfrm>
              <a:off x="601599" y="5049679"/>
              <a:ext cx="2871597" cy="713327"/>
              <a:chOff x="601599" y="5049679"/>
              <a:chExt cx="2871597" cy="713327"/>
            </a:xfrm>
          </p:grpSpPr>
          <p:sp>
            <p:nvSpPr>
              <p:cNvPr id="27" name="TextBox 27"/>
              <p:cNvSpPr txBox="1"/>
              <p:nvPr/>
            </p:nvSpPr>
            <p:spPr>
              <a:xfrm>
                <a:off x="601599" y="5049679"/>
                <a:ext cx="1601678"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os.platform()</a:t>
                </a:r>
              </a:p>
            </p:txBody>
          </p:sp>
          <p:sp>
            <p:nvSpPr>
              <p:cNvPr id="28" name="TextBox 28"/>
              <p:cNvSpPr txBox="1"/>
              <p:nvPr/>
            </p:nvSpPr>
            <p:spPr>
              <a:xfrm>
                <a:off x="603504" y="5337810"/>
                <a:ext cx="28696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Çalışma anındaki işletim sistemi</a:t>
                </a:r>
                <a:br/>
                <a:r>
                  <a:rPr lang="tr-TR" sz="1200" dirty="0">
                    <a:solidFill>
                      <a:srgbClr val="52616B"/>
                    </a:solidFill>
                    <a:latin typeface="+mn-lt"/>
                    <a:ea typeface="+mn-ea"/>
                    <a:cs typeface="+mn-cs"/>
                  </a:rPr>
                  <a:t>adını döndürür: win32, linux, darwin.</a:t>
                </a:r>
              </a:p>
            </p:txBody>
          </p:sp>
        </p:grpSp>
        <p:grpSp>
          <p:nvGrpSpPr>
            <p:cNvPr id="32" name="kritik-arch"/>
            <p:cNvGrpSpPr/>
            <p:nvPr/>
          </p:nvGrpSpPr>
          <p:grpSpPr>
            <a:xfrm>
              <a:off x="4335399" y="5049679"/>
              <a:ext cx="3046857" cy="713327"/>
              <a:chOff x="4335399" y="5049679"/>
              <a:chExt cx="3046857" cy="713327"/>
            </a:xfrm>
          </p:grpSpPr>
          <p:sp>
            <p:nvSpPr>
              <p:cNvPr id="30" name="TextBox 30"/>
              <p:cNvSpPr txBox="1"/>
              <p:nvPr/>
            </p:nvSpPr>
            <p:spPr>
              <a:xfrm>
                <a:off x="4335399" y="5049679"/>
                <a:ext cx="1121508"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os.arch()</a:t>
                </a:r>
              </a:p>
            </p:txBody>
          </p:sp>
          <p:sp>
            <p:nvSpPr>
              <p:cNvPr id="31" name="TextBox 31"/>
              <p:cNvSpPr txBox="1"/>
              <p:nvPr/>
            </p:nvSpPr>
            <p:spPr>
              <a:xfrm>
                <a:off x="4337304" y="5337810"/>
                <a:ext cx="30449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İşlemci mimarisini döndürür (x64);</a:t>
                </a:r>
                <a:br/>
                <a:r>
                  <a:rPr lang="tr-TR" sz="1200" dirty="0">
                    <a:solidFill>
                      <a:srgbClr val="52616B"/>
                    </a:solidFill>
                    <a:latin typeface="+mn-lt"/>
                    <a:ea typeface="+mn-ea"/>
                    <a:cs typeface="+mn-cs"/>
                  </a:rPr>
                  <a:t>platforma özgü davranışı ayırt ettirir.</a:t>
                </a:r>
              </a:p>
            </p:txBody>
          </p:sp>
        </p:grpSp>
        <p:grpSp>
          <p:nvGrpSpPr>
            <p:cNvPr id="35" name="kritik-import"/>
            <p:cNvGrpSpPr/>
            <p:nvPr/>
          </p:nvGrpSpPr>
          <p:grpSpPr>
            <a:xfrm>
              <a:off x="8069199" y="5049679"/>
              <a:ext cx="3031617" cy="713327"/>
              <a:chOff x="8069199" y="5049679"/>
              <a:chExt cx="3031617" cy="713327"/>
            </a:xfrm>
          </p:grpSpPr>
          <p:sp>
            <p:nvSpPr>
              <p:cNvPr id="33" name="TextBox 33"/>
              <p:cNvSpPr txBox="1"/>
              <p:nvPr/>
            </p:nvSpPr>
            <p:spPr>
              <a:xfrm>
                <a:off x="8069199" y="5049679"/>
                <a:ext cx="1534677"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import … from</a:t>
                </a:r>
              </a:p>
            </p:txBody>
          </p:sp>
          <p:sp>
            <p:nvSpPr>
              <p:cNvPr id="34" name="TextBox 34"/>
              <p:cNvSpPr txBox="1"/>
              <p:nvPr/>
            </p:nvSpPr>
            <p:spPr>
              <a:xfrm>
                <a:off x="8071104" y="5337810"/>
                <a:ext cx="30297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ESM biçiminde içe aktarma; package.json</a:t>
                </a:r>
                <a:br/>
                <a:r>
                  <a:rPr lang="tr-TR" sz="1200" dirty="0">
                    <a:solidFill>
                      <a:srgbClr val="52616B"/>
                    </a:solidFill>
                    <a:latin typeface="+mn-lt"/>
                    <a:ea typeface="+mn-ea"/>
                    <a:cs typeface="+mn-cs"/>
                  </a:rPr>
                  <a:t>içindeki type alanıyla uyumlu çalışır.</a:t>
                </a:r>
              </a:p>
            </p:txBody>
          </p:sp>
        </p:grpSp>
      </p:grpSp>
      <p:grpSp>
        <p:nvGrpSpPr>
          <p:cNvPr id="38" name="dikkat-notu"/>
          <p:cNvGrpSpPr/>
          <p:nvPr/>
        </p:nvGrpSpPr>
        <p:grpSpPr>
          <a:xfrm>
            <a:off x="603504" y="5871210"/>
            <a:ext cx="7235952" cy="444246"/>
            <a:chOff x="603504" y="5871210"/>
            <a:chExt cx="7235952" cy="444246"/>
          </a:xfrm>
        </p:grpSpPr>
        <p:sp>
          <p:nvSpPr>
            <p:cNvPr id="37" name="TextBox 37"/>
            <p:cNvSpPr txBox="1"/>
            <p:nvPr/>
          </p:nvSpPr>
          <p:spPr>
            <a:xfrm>
              <a:off x="603504" y="5871210"/>
              <a:ext cx="72359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Dikkat: node: önekli içe aktarma yalnızca Node.js'in modül çözümleyicisi tarafından desteklenir;</a:t>
              </a:r>
              <a:br/>
              <a:r>
                <a:rPr lang="tr-TR" sz="1200" dirty="0">
                  <a:solidFill>
                    <a:srgbClr val="52616B"/>
                  </a:solidFill>
                  <a:latin typeface="+mn-lt"/>
                  <a:ea typeface="+mn-ea"/>
                  <a:cs typeface="+mn-cs"/>
                </a:rPr>
                <a:t>bu nedenle tarayıcıya gönderilecek kodda kullanılmamalıdır.</a:t>
              </a:r>
            </a:p>
          </p:txBody>
        </p:sp>
      </p:grpSp>
      <p:grpSp>
        <p:nvGrpSpPr>
          <p:cNvPr id="41" name="footer"/>
          <p:cNvGrpSpPr/>
          <p:nvPr/>
        </p:nvGrpSpPr>
        <p:grpSpPr>
          <a:xfrm>
            <a:off x="603504" y="6461760"/>
            <a:ext cx="10984992" cy="234696"/>
            <a:chOff x="603504" y="6461760"/>
            <a:chExt cx="10984992" cy="234696"/>
          </a:xfrm>
        </p:grpSpPr>
        <p:sp>
          <p:nvSpPr>
            <p:cNvPr id="39" name="TextBox 39"/>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0" name="TextBox 40"/>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0"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65895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Node.js ne zaman doğru seçimdir?</a:t>
              </a:r>
            </a:p>
          </p:txBody>
        </p:sp>
      </p:grpSp>
      <p:grpSp>
        <p:nvGrpSpPr>
          <p:cNvPr id="15" name="uygun-isler"/>
          <p:cNvGrpSpPr/>
          <p:nvPr/>
        </p:nvGrpSpPr>
        <p:grpSpPr>
          <a:xfrm>
            <a:off x="609600" y="1200150"/>
            <a:ext cx="5334000" cy="1181100"/>
            <a:chOff x="609600" y="1200150"/>
            <a:chExt cx="5334000" cy="1181100"/>
          </a:xfrm>
        </p:grpSpPr>
        <p:sp>
          <p:nvSpPr>
            <p:cNvPr id="11" name="Rectangle 11"/>
            <p:cNvSpPr/>
            <p:nvPr/>
          </p:nvSpPr>
          <p:spPr>
            <a:xfrm>
              <a:off x="609600" y="1200150"/>
              <a:ext cx="5334000" cy="1181100"/>
            </a:xfrm>
            <a:prstGeom prst="rect">
              <a:avLst/>
            </a:prstGeom>
            <a:solidFill>
              <a:srgbClr val="FFFFFF"/>
            </a:solidFill>
            <a:ln w="9525">
              <a:solidFill>
                <a:srgbClr val="00A6A6"/>
              </a:solidFill>
            </a:ln>
          </p:spPr>
        </p:sp>
        <p:sp>
          <p:nvSpPr>
            <p:cNvPr id="12" name="Rectangle 12"/>
            <p:cNvSpPr/>
            <p:nvPr/>
          </p:nvSpPr>
          <p:spPr>
            <a:xfrm>
              <a:off x="609600" y="1200150"/>
              <a:ext cx="5334000" cy="38100"/>
            </a:xfrm>
            <a:prstGeom prst="rect">
              <a:avLst/>
            </a:prstGeom>
            <a:solidFill>
              <a:srgbClr val="00A6A6"/>
            </a:solidFill>
            <a:ln>
              <a:noFill/>
            </a:ln>
          </p:spPr>
        </p:sp>
        <p:sp>
          <p:nvSpPr>
            <p:cNvPr id="13" name="TextBox 13"/>
            <p:cNvSpPr txBox="1"/>
            <p:nvPr/>
          </p:nvSpPr>
          <p:spPr>
            <a:xfrm>
              <a:off x="904494" y="1370648"/>
              <a:ext cx="2343332"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Güçlü olduğu işler</a:t>
              </a:r>
            </a:p>
          </p:txBody>
        </p:sp>
        <p:sp>
          <p:nvSpPr>
            <p:cNvPr id="14" name="TextBox 14"/>
            <p:cNvSpPr txBox="1"/>
            <p:nvPr/>
          </p:nvSpPr>
          <p:spPr>
            <a:xfrm>
              <a:off x="906399" y="1715929"/>
              <a:ext cx="421982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I/O ağırlıklı işler, API sunucuları, gerçek</a:t>
              </a:r>
              <a:br/>
              <a:r>
                <a:rPr lang="tr-TR" sz="1580" dirty="0">
                  <a:solidFill>
                    <a:srgbClr val="172B3A"/>
                  </a:solidFill>
                  <a:latin typeface="+mn-lt"/>
                  <a:ea typeface="+mn-ea"/>
                  <a:cs typeface="+mn-cs"/>
                </a:rPr>
                <a:t>zamanlı bildirim, CLI araçları, otomasyon.</a:t>
              </a:r>
            </a:p>
          </p:txBody>
        </p:sp>
      </p:grpSp>
      <p:grpSp>
        <p:nvGrpSpPr>
          <p:cNvPr id="20" name="dikkat-isler"/>
          <p:cNvGrpSpPr/>
          <p:nvPr/>
        </p:nvGrpSpPr>
        <p:grpSpPr>
          <a:xfrm>
            <a:off x="6248400" y="1200150"/>
            <a:ext cx="5334000" cy="1181100"/>
            <a:chOff x="6248400" y="1200150"/>
            <a:chExt cx="5334000" cy="1181100"/>
          </a:xfrm>
        </p:grpSpPr>
        <p:sp>
          <p:nvSpPr>
            <p:cNvPr id="16" name="Rectangle 16"/>
            <p:cNvSpPr/>
            <p:nvPr/>
          </p:nvSpPr>
          <p:spPr>
            <a:xfrm>
              <a:off x="6248400" y="1200150"/>
              <a:ext cx="5334000" cy="1181100"/>
            </a:xfrm>
            <a:prstGeom prst="rect">
              <a:avLst/>
            </a:prstGeom>
            <a:solidFill>
              <a:srgbClr val="FFFFFF"/>
            </a:solidFill>
            <a:ln w="9525">
              <a:solidFill>
                <a:srgbClr val="B8CBD3"/>
              </a:solidFill>
            </a:ln>
          </p:spPr>
        </p:sp>
        <p:sp>
          <p:nvSpPr>
            <p:cNvPr id="17" name="Rectangle 17"/>
            <p:cNvSpPr/>
            <p:nvPr/>
          </p:nvSpPr>
          <p:spPr>
            <a:xfrm>
              <a:off x="6248400" y="1200150"/>
              <a:ext cx="5334000" cy="38100"/>
            </a:xfrm>
            <a:prstGeom prst="rect">
              <a:avLst/>
            </a:prstGeom>
            <a:solidFill>
              <a:srgbClr val="52616B"/>
            </a:solidFill>
            <a:ln>
              <a:noFill/>
            </a:ln>
          </p:spPr>
        </p:sp>
        <p:sp>
          <p:nvSpPr>
            <p:cNvPr id="18" name="TextBox 18"/>
            <p:cNvSpPr txBox="1"/>
            <p:nvPr/>
          </p:nvSpPr>
          <p:spPr>
            <a:xfrm>
              <a:off x="6543294" y="1370648"/>
              <a:ext cx="3101420" cy="381381"/>
            </a:xfrm>
            <a:prstGeom prst="rect">
              <a:avLst/>
            </a:prstGeom>
            <a:noFill/>
            <a:ln>
              <a:noFill/>
            </a:ln>
          </p:spPr>
          <p:txBody>
            <a:bodyPr wrap="none" lIns="0" tIns="0" rIns="0" bIns="0" anchor="t" anchorCtr="0">
              <a:spAutoFit/>
            </a:bodyPr>
            <a:lstStyle/>
            <a:p>
              <a:pPr algn="l"/>
              <a:r>
                <a:rPr lang="tr-TR" sz="1950" b="1" dirty="0">
                  <a:solidFill>
                    <a:srgbClr val="52616B"/>
                  </a:solidFill>
                  <a:latin typeface="+mn-lt"/>
                  <a:ea typeface="+mn-ea"/>
                  <a:cs typeface="+mn-cs"/>
                </a:rPr>
                <a:t>Dikkat gerektiren işler</a:t>
              </a:r>
            </a:p>
          </p:txBody>
        </p:sp>
        <p:sp>
          <p:nvSpPr>
            <p:cNvPr id="19" name="TextBox 19"/>
            <p:cNvSpPr txBox="1"/>
            <p:nvPr/>
          </p:nvSpPr>
          <p:spPr>
            <a:xfrm>
              <a:off x="6545199" y="1715929"/>
              <a:ext cx="437032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Büyük görüntü işleme, ağır matematik, uzun</a:t>
              </a:r>
              <a:br/>
              <a:r>
                <a:rPr lang="tr-TR" sz="1580" dirty="0">
                  <a:solidFill>
                    <a:srgbClr val="172B3A"/>
                  </a:solidFill>
                  <a:latin typeface="+mn-lt"/>
                  <a:ea typeface="+mn-ea"/>
                  <a:cs typeface="+mn-cs"/>
                </a:rPr>
                <a:t>sıkıştırma: ana iş parçacığı meşgul olur.</a:t>
              </a:r>
            </a:p>
          </p:txBody>
        </p:sp>
      </p:grpSp>
      <p:grpSp>
        <p:nvGrpSpPr>
          <p:cNvPr id="67" name="alternatifler"/>
          <p:cNvGrpSpPr/>
          <p:nvPr/>
        </p:nvGrpSpPr>
        <p:grpSpPr>
          <a:xfrm>
            <a:off x="603504" y="2708910"/>
            <a:ext cx="10978896" cy="3254121"/>
            <a:chOff x="603504" y="2708910"/>
            <a:chExt cx="10978896" cy="3254121"/>
          </a:xfrm>
        </p:grpSpPr>
        <p:sp>
          <p:nvSpPr>
            <p:cNvPr id="21" name="TextBox 21"/>
            <p:cNvSpPr txBox="1"/>
            <p:nvPr/>
          </p:nvSpPr>
          <p:spPr>
            <a:xfrm>
              <a:off x="603504" y="2708910"/>
              <a:ext cx="76021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ihtiyaca hizmet eden çalışma ortamları: seçim, yük miktarına ve yol koşullarına bağlıdır.</a:t>
              </a:r>
            </a:p>
          </p:txBody>
        </p:sp>
        <p:sp>
          <p:nvSpPr>
            <p:cNvPr id="22" name="Rectangle 22"/>
            <p:cNvSpPr/>
            <p:nvPr/>
          </p:nvSpPr>
          <p:spPr>
            <a:xfrm>
              <a:off x="609600" y="2952750"/>
              <a:ext cx="10972800" cy="304800"/>
            </a:xfrm>
            <a:prstGeom prst="rect">
              <a:avLst/>
            </a:prstGeom>
            <a:solidFill>
              <a:srgbClr val="EAF4F6"/>
            </a:solidFill>
            <a:ln>
              <a:noFill/>
            </a:ln>
          </p:spPr>
        </p:sp>
        <p:grpSp>
          <p:nvGrpSpPr>
            <p:cNvPr id="27" name="alternatif-basliklari"/>
            <p:cNvGrpSpPr/>
            <p:nvPr/>
          </p:nvGrpSpPr>
          <p:grpSpPr>
            <a:xfrm>
              <a:off x="717804" y="3023235"/>
              <a:ext cx="9426740" cy="234696"/>
              <a:chOff x="717804" y="3023235"/>
              <a:chExt cx="9426740" cy="234696"/>
            </a:xfrm>
          </p:grpSpPr>
          <p:sp>
            <p:nvSpPr>
              <p:cNvPr id="23" name="TextBox 23"/>
              <p:cNvSpPr txBox="1"/>
              <p:nvPr/>
            </p:nvSpPr>
            <p:spPr>
              <a:xfrm>
                <a:off x="717804" y="3023235"/>
                <a:ext cx="67051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Seçenek</a:t>
                </a:r>
              </a:p>
            </p:txBody>
          </p:sp>
          <p:sp>
            <p:nvSpPr>
              <p:cNvPr id="24" name="TextBox 24"/>
              <p:cNvSpPr txBox="1"/>
              <p:nvPr/>
            </p:nvSpPr>
            <p:spPr>
              <a:xfrm>
                <a:off x="3099054" y="3023235"/>
                <a:ext cx="86563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Güçlü yönü</a:t>
                </a:r>
              </a:p>
            </p:txBody>
          </p:sp>
          <p:sp>
            <p:nvSpPr>
              <p:cNvPr id="25" name="TextBox 25"/>
              <p:cNvSpPr txBox="1"/>
              <p:nvPr/>
            </p:nvSpPr>
            <p:spPr>
              <a:xfrm>
                <a:off x="5956554" y="3023235"/>
                <a:ext cx="95843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Sınırlılığı</a:t>
                </a:r>
              </a:p>
            </p:txBody>
          </p:sp>
          <p:sp>
            <p:nvSpPr>
              <p:cNvPr id="26" name="TextBox 26"/>
              <p:cNvSpPr txBox="1"/>
              <p:nvPr/>
            </p:nvSpPr>
            <p:spPr>
              <a:xfrm>
                <a:off x="8718804" y="3023235"/>
                <a:ext cx="142574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 seçilir?</a:t>
                </a:r>
              </a:p>
            </p:txBody>
          </p:sp>
        </p:grpSp>
        <p:grpSp>
          <p:nvGrpSpPr>
            <p:cNvPr id="35" name="alternatif-node"/>
            <p:cNvGrpSpPr/>
            <p:nvPr/>
          </p:nvGrpSpPr>
          <p:grpSpPr>
            <a:xfrm>
              <a:off x="609600" y="3295650"/>
              <a:ext cx="10972800" cy="561975"/>
              <a:chOff x="609600" y="3295650"/>
              <a:chExt cx="10972800" cy="561975"/>
            </a:xfrm>
          </p:grpSpPr>
          <p:sp>
            <p:nvSpPr>
              <p:cNvPr id="28" name="Rectangle 28"/>
              <p:cNvSpPr/>
              <p:nvPr/>
            </p:nvSpPr>
            <p:spPr>
              <a:xfrm>
                <a:off x="609600" y="3295650"/>
                <a:ext cx="95250" cy="228600"/>
              </a:xfrm>
              <a:prstGeom prst="rect">
                <a:avLst/>
              </a:prstGeom>
              <a:solidFill>
                <a:srgbClr val="00A6A6"/>
              </a:solidFill>
              <a:ln>
                <a:noFill/>
              </a:ln>
            </p:spPr>
          </p:sp>
          <p:sp>
            <p:nvSpPr>
              <p:cNvPr id="29" name="TextBox 29"/>
              <p:cNvSpPr txBox="1"/>
              <p:nvPr/>
            </p:nvSpPr>
            <p:spPr>
              <a:xfrm>
                <a:off x="792099" y="3316129"/>
                <a:ext cx="82759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Node.js</a:t>
                </a:r>
              </a:p>
            </p:txBody>
          </p:sp>
          <p:grpSp>
            <p:nvGrpSpPr>
              <p:cNvPr id="33" name="alternatif-node-hucre"/>
              <p:cNvGrpSpPr/>
              <p:nvPr/>
            </p:nvGrpSpPr>
            <p:grpSpPr>
              <a:xfrm>
                <a:off x="3099054" y="3337560"/>
                <a:ext cx="7445502" cy="415671"/>
                <a:chOff x="3099054" y="3337560"/>
                <a:chExt cx="7445502" cy="415671"/>
              </a:xfrm>
            </p:grpSpPr>
            <p:sp>
              <p:nvSpPr>
                <p:cNvPr id="30" name="TextBox 30"/>
                <p:cNvSpPr txBox="1"/>
                <p:nvPr/>
              </p:nvSpPr>
              <p:spPr>
                <a:xfrm>
                  <a:off x="3099054" y="3337560"/>
                  <a:ext cx="20924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JavaScript ile sunucu; güçlü</a:t>
                  </a:r>
                  <a:br/>
                  <a:r>
                    <a:rPr lang="tr-TR" sz="1200" dirty="0">
                      <a:solidFill>
                        <a:srgbClr val="172B3A"/>
                      </a:solidFill>
                      <a:latin typeface="+mn-lt"/>
                      <a:ea typeface="+mn-ea"/>
                      <a:cs typeface="+mn-cs"/>
                    </a:rPr>
                    <a:t>npm ekosistemi</a:t>
                  </a:r>
                </a:p>
              </p:txBody>
            </p:sp>
            <p:sp>
              <p:nvSpPr>
                <p:cNvPr id="31" name="TextBox 31"/>
                <p:cNvSpPr txBox="1"/>
                <p:nvPr/>
              </p:nvSpPr>
              <p:spPr>
                <a:xfrm>
                  <a:off x="5956554" y="3337560"/>
                  <a:ext cx="18714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İşlemci yoğun tek işlerde</a:t>
                  </a:r>
                  <a:br/>
                  <a:r>
                    <a:rPr lang="tr-TR" sz="1200" dirty="0">
                      <a:solidFill>
                        <a:srgbClr val="172B3A"/>
                      </a:solidFill>
                      <a:latin typeface="+mn-lt"/>
                      <a:ea typeface="+mn-ea"/>
                      <a:cs typeface="+mn-cs"/>
                    </a:rPr>
                    <a:t>dikkat gerekir</a:t>
                  </a:r>
                </a:p>
              </p:txBody>
            </p:sp>
            <p:sp>
              <p:nvSpPr>
                <p:cNvPr id="32" name="TextBox 32"/>
                <p:cNvSpPr txBox="1"/>
                <p:nvPr/>
              </p:nvSpPr>
              <p:spPr>
                <a:xfrm>
                  <a:off x="8718804" y="3337560"/>
                  <a:ext cx="18257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API, CLI, gerçek zamanlı</a:t>
                  </a:r>
                  <a:br/>
                  <a:r>
                    <a:rPr lang="tr-TR" sz="1200" dirty="0">
                      <a:solidFill>
                        <a:srgbClr val="172B3A"/>
                      </a:solidFill>
                      <a:latin typeface="+mn-lt"/>
                      <a:ea typeface="+mn-ea"/>
                      <a:cs typeface="+mn-cs"/>
                    </a:rPr>
                    <a:t>uygulama</a:t>
                  </a:r>
                </a:p>
              </p:txBody>
            </p:sp>
          </p:grpSp>
          <p:sp>
            <p:nvSpPr>
              <p:cNvPr id="34" name="Line 34"/>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alternatif-tarayici"/>
            <p:cNvGrpSpPr/>
            <p:nvPr/>
          </p:nvGrpSpPr>
          <p:grpSpPr>
            <a:xfrm>
              <a:off x="609600" y="3848100"/>
              <a:ext cx="10972800" cy="561975"/>
              <a:chOff x="609600" y="3848100"/>
              <a:chExt cx="10972800" cy="561975"/>
            </a:xfrm>
          </p:grpSpPr>
          <p:sp>
            <p:nvSpPr>
              <p:cNvPr id="36" name="Rectangle 36"/>
              <p:cNvSpPr/>
              <p:nvPr/>
            </p:nvSpPr>
            <p:spPr>
              <a:xfrm>
                <a:off x="609600" y="3848100"/>
                <a:ext cx="95250" cy="228600"/>
              </a:xfrm>
              <a:prstGeom prst="rect">
                <a:avLst/>
              </a:prstGeom>
              <a:solidFill>
                <a:srgbClr val="B8CBD3"/>
              </a:solidFill>
              <a:ln>
                <a:noFill/>
              </a:ln>
            </p:spPr>
          </p:sp>
          <p:sp>
            <p:nvSpPr>
              <p:cNvPr id="37" name="TextBox 37"/>
              <p:cNvSpPr txBox="1"/>
              <p:nvPr/>
            </p:nvSpPr>
            <p:spPr>
              <a:xfrm>
                <a:off x="792099" y="3868579"/>
                <a:ext cx="244957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Tarayıcı JavaScript'i</a:t>
                </a:r>
              </a:p>
            </p:txBody>
          </p:sp>
          <p:grpSp>
            <p:nvGrpSpPr>
              <p:cNvPr id="41" name="alternatif-tarayici-hucre"/>
              <p:cNvGrpSpPr/>
              <p:nvPr/>
            </p:nvGrpSpPr>
            <p:grpSpPr>
              <a:xfrm>
                <a:off x="3099054" y="3890010"/>
                <a:ext cx="6888632" cy="415671"/>
                <a:chOff x="3099054" y="3890010"/>
                <a:chExt cx="6888632" cy="415671"/>
              </a:xfrm>
            </p:grpSpPr>
            <p:sp>
              <p:nvSpPr>
                <p:cNvPr id="38" name="TextBox 38"/>
                <p:cNvSpPr txBox="1"/>
                <p:nvPr/>
              </p:nvSpPr>
              <p:spPr>
                <a:xfrm>
                  <a:off x="3099054" y="3890010"/>
                  <a:ext cx="18943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DOM ve kullanıcı arayüzü</a:t>
                  </a:r>
                  <a:br/>
                  <a:r>
                    <a:rPr lang="tr-TR" sz="1200" dirty="0">
                      <a:solidFill>
                        <a:srgbClr val="172B3A"/>
                      </a:solidFill>
                      <a:latin typeface="+mn-lt"/>
                      <a:ea typeface="+mn-ea"/>
                      <a:cs typeface="+mn-cs"/>
                    </a:rPr>
                    <a:t>erişimi</a:t>
                  </a:r>
                </a:p>
              </p:txBody>
            </p:sp>
            <p:sp>
              <p:nvSpPr>
                <p:cNvPr id="39" name="TextBox 39"/>
                <p:cNvSpPr txBox="1"/>
                <p:nvPr/>
              </p:nvSpPr>
              <p:spPr>
                <a:xfrm>
                  <a:off x="5956554" y="3890010"/>
                  <a:ext cx="17800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Dosya sistemi ve sunucu</a:t>
                  </a:r>
                  <a:br/>
                  <a:r>
                    <a:rPr lang="tr-TR" sz="1200" dirty="0">
                      <a:solidFill>
                        <a:srgbClr val="172B3A"/>
                      </a:solidFill>
                      <a:latin typeface="+mn-lt"/>
                      <a:ea typeface="+mn-ea"/>
                      <a:cs typeface="+mn-cs"/>
                    </a:rPr>
                    <a:t>erişimi sınırlıdır</a:t>
                  </a:r>
                </a:p>
              </p:txBody>
            </p:sp>
            <p:sp>
              <p:nvSpPr>
                <p:cNvPr id="40" name="TextBox 40"/>
                <p:cNvSpPr txBox="1"/>
                <p:nvPr/>
              </p:nvSpPr>
              <p:spPr>
                <a:xfrm>
                  <a:off x="8718804" y="3890010"/>
                  <a:ext cx="12688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Sayfa etkileşimi</a:t>
                  </a:r>
                </a:p>
              </p:txBody>
            </p:sp>
          </p:grpSp>
          <p:sp>
            <p:nvSpPr>
              <p:cNvPr id="42" name="Line 42"/>
              <p:cNvSpPr/>
              <p:nvPr/>
            </p:nvSpPr>
            <p:spPr>
              <a:xfrm>
                <a:off x="609600" y="44005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1" name="alternatif-python"/>
            <p:cNvGrpSpPr/>
            <p:nvPr/>
          </p:nvGrpSpPr>
          <p:grpSpPr>
            <a:xfrm>
              <a:off x="609600" y="4400550"/>
              <a:ext cx="10972800" cy="561975"/>
              <a:chOff x="609600" y="4400550"/>
              <a:chExt cx="10972800" cy="561975"/>
            </a:xfrm>
          </p:grpSpPr>
          <p:sp>
            <p:nvSpPr>
              <p:cNvPr id="44" name="Rectangle 44"/>
              <p:cNvSpPr/>
              <p:nvPr/>
            </p:nvSpPr>
            <p:spPr>
              <a:xfrm>
                <a:off x="609600" y="4400550"/>
                <a:ext cx="95250" cy="228600"/>
              </a:xfrm>
              <a:prstGeom prst="rect">
                <a:avLst/>
              </a:prstGeom>
              <a:solidFill>
                <a:srgbClr val="2E86AB"/>
              </a:solidFill>
              <a:ln>
                <a:noFill/>
              </a:ln>
            </p:spPr>
          </p:sp>
          <p:sp>
            <p:nvSpPr>
              <p:cNvPr id="45" name="TextBox 45"/>
              <p:cNvSpPr txBox="1"/>
              <p:nvPr/>
            </p:nvSpPr>
            <p:spPr>
              <a:xfrm>
                <a:off x="792099" y="4421029"/>
                <a:ext cx="75995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Python</a:t>
                </a:r>
              </a:p>
            </p:txBody>
          </p:sp>
          <p:grpSp>
            <p:nvGrpSpPr>
              <p:cNvPr id="49" name="alternatif-python-hucre"/>
              <p:cNvGrpSpPr/>
              <p:nvPr/>
            </p:nvGrpSpPr>
            <p:grpSpPr>
              <a:xfrm>
                <a:off x="3099054" y="4442460"/>
                <a:ext cx="7373714" cy="415671"/>
                <a:chOff x="3099054" y="4442460"/>
                <a:chExt cx="7373714" cy="415671"/>
              </a:xfrm>
            </p:grpSpPr>
            <p:sp>
              <p:nvSpPr>
                <p:cNvPr id="46" name="TextBox 46"/>
                <p:cNvSpPr txBox="1"/>
                <p:nvPr/>
              </p:nvSpPr>
              <p:spPr>
                <a:xfrm>
                  <a:off x="3099054" y="4442460"/>
                  <a:ext cx="17495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Okunabilirlik ve bilimsel</a:t>
                  </a:r>
                  <a:br/>
                  <a:r>
                    <a:rPr lang="tr-TR" sz="1200" dirty="0">
                      <a:solidFill>
                        <a:srgbClr val="172B3A"/>
                      </a:solidFill>
                      <a:latin typeface="+mn-lt"/>
                      <a:ea typeface="+mn-ea"/>
                      <a:cs typeface="+mn-cs"/>
                    </a:rPr>
                    <a:t>ekosistem</a:t>
                  </a:r>
                </a:p>
              </p:txBody>
            </p:sp>
            <p:sp>
              <p:nvSpPr>
                <p:cNvPr id="47" name="TextBox 47"/>
                <p:cNvSpPr txBox="1"/>
                <p:nvPr/>
              </p:nvSpPr>
              <p:spPr>
                <a:xfrm>
                  <a:off x="5956554" y="4442460"/>
                  <a:ext cx="15514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JavaScript ile tek dil</a:t>
                  </a:r>
                  <a:br/>
                  <a:r>
                    <a:rPr lang="tr-TR" sz="1200" dirty="0">
                      <a:solidFill>
                        <a:srgbClr val="172B3A"/>
                      </a:solidFill>
                      <a:latin typeface="+mn-lt"/>
                      <a:ea typeface="+mn-ea"/>
                      <a:cs typeface="+mn-cs"/>
                    </a:rPr>
                    <a:t>avantajı yoktur</a:t>
                  </a:r>
                </a:p>
              </p:txBody>
            </p:sp>
            <p:sp>
              <p:nvSpPr>
                <p:cNvPr id="48" name="TextBox 48"/>
                <p:cNvSpPr txBox="1"/>
                <p:nvPr/>
              </p:nvSpPr>
              <p:spPr>
                <a:xfrm>
                  <a:off x="8718804" y="4442460"/>
                  <a:ext cx="17539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bilimi, otomasyon</a:t>
                  </a:r>
                </a:p>
              </p:txBody>
            </p:sp>
          </p:grpSp>
          <p:sp>
            <p:nvSpPr>
              <p:cNvPr id="50" name="Line 50"/>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9" name="alternatif-java"/>
            <p:cNvGrpSpPr/>
            <p:nvPr/>
          </p:nvGrpSpPr>
          <p:grpSpPr>
            <a:xfrm>
              <a:off x="609600" y="4953000"/>
              <a:ext cx="10972800" cy="561975"/>
              <a:chOff x="609600" y="4953000"/>
              <a:chExt cx="10972800" cy="561975"/>
            </a:xfrm>
          </p:grpSpPr>
          <p:sp>
            <p:nvSpPr>
              <p:cNvPr id="52" name="Rectangle 52"/>
              <p:cNvSpPr/>
              <p:nvPr/>
            </p:nvSpPr>
            <p:spPr>
              <a:xfrm>
                <a:off x="609600" y="4953000"/>
                <a:ext cx="95250" cy="228600"/>
              </a:xfrm>
              <a:prstGeom prst="rect">
                <a:avLst/>
              </a:prstGeom>
              <a:solidFill>
                <a:srgbClr val="2E86AB"/>
              </a:solidFill>
              <a:ln>
                <a:noFill/>
              </a:ln>
            </p:spPr>
          </p:sp>
          <p:sp>
            <p:nvSpPr>
              <p:cNvPr id="53" name="TextBox 53"/>
              <p:cNvSpPr txBox="1"/>
              <p:nvPr/>
            </p:nvSpPr>
            <p:spPr>
              <a:xfrm>
                <a:off x="792099" y="4973479"/>
                <a:ext cx="51429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Java</a:t>
                </a:r>
              </a:p>
            </p:txBody>
          </p:sp>
          <p:grpSp>
            <p:nvGrpSpPr>
              <p:cNvPr id="57" name="alternatif-java-hucre"/>
              <p:cNvGrpSpPr/>
              <p:nvPr/>
            </p:nvGrpSpPr>
            <p:grpSpPr>
              <a:xfrm>
                <a:off x="3099054" y="4994910"/>
                <a:ext cx="7632144" cy="415671"/>
                <a:chOff x="3099054" y="4994910"/>
                <a:chExt cx="7632144" cy="415671"/>
              </a:xfrm>
            </p:grpSpPr>
            <p:sp>
              <p:nvSpPr>
                <p:cNvPr id="54" name="TextBox 54"/>
                <p:cNvSpPr txBox="1"/>
                <p:nvPr/>
              </p:nvSpPr>
              <p:spPr>
                <a:xfrm>
                  <a:off x="3099054" y="4994910"/>
                  <a:ext cx="16809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Kurumsal ekosistem ve</a:t>
                  </a:r>
                  <a:br/>
                  <a:r>
                    <a:rPr lang="tr-TR" sz="1200" dirty="0">
                      <a:solidFill>
                        <a:srgbClr val="172B3A"/>
                      </a:solidFill>
                      <a:latin typeface="+mn-lt"/>
                      <a:ea typeface="+mn-ea"/>
                      <a:cs typeface="+mn-cs"/>
                    </a:rPr>
                    <a:t>güçlü tür sistemi</a:t>
                  </a:r>
                </a:p>
              </p:txBody>
            </p:sp>
            <p:sp>
              <p:nvSpPr>
                <p:cNvPr id="55" name="TextBox 55"/>
                <p:cNvSpPr txBox="1"/>
                <p:nvPr/>
              </p:nvSpPr>
              <p:spPr>
                <a:xfrm>
                  <a:off x="5956554" y="4994910"/>
                  <a:ext cx="19400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Başlangıç yapılandırması</a:t>
                  </a:r>
                  <a:br/>
                  <a:r>
                    <a:rPr lang="tr-TR" sz="1200" dirty="0">
                      <a:solidFill>
                        <a:srgbClr val="172B3A"/>
                      </a:solidFill>
                      <a:latin typeface="+mn-lt"/>
                      <a:ea typeface="+mn-ea"/>
                      <a:cs typeface="+mn-cs"/>
                    </a:rPr>
                    <a:t>daha ağır olabilir</a:t>
                  </a:r>
                </a:p>
              </p:txBody>
            </p:sp>
            <p:sp>
              <p:nvSpPr>
                <p:cNvPr id="56" name="TextBox 56"/>
                <p:cNvSpPr txBox="1"/>
                <p:nvPr/>
              </p:nvSpPr>
              <p:spPr>
                <a:xfrm>
                  <a:off x="8718804" y="4994910"/>
                  <a:ext cx="20123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 kurumsal sistemler</a:t>
                  </a:r>
                </a:p>
              </p:txBody>
            </p:sp>
          </p:grpSp>
          <p:sp>
            <p:nvSpPr>
              <p:cNvPr id="58" name="Line 58"/>
              <p:cNvSpPr/>
              <p:nvPr/>
            </p:nvSpPr>
            <p:spPr>
              <a:xfrm>
                <a:off x="609600" y="5505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66" name="alternatif-deno"/>
            <p:cNvGrpSpPr/>
            <p:nvPr/>
          </p:nvGrpSpPr>
          <p:grpSpPr>
            <a:xfrm>
              <a:off x="609600" y="5505450"/>
              <a:ext cx="10064912" cy="457581"/>
              <a:chOff x="609600" y="5505450"/>
              <a:chExt cx="10064912" cy="457581"/>
            </a:xfrm>
          </p:grpSpPr>
          <p:sp>
            <p:nvSpPr>
              <p:cNvPr id="60" name="Rectangle 60"/>
              <p:cNvSpPr/>
              <p:nvPr/>
            </p:nvSpPr>
            <p:spPr>
              <a:xfrm>
                <a:off x="609600" y="5505450"/>
                <a:ext cx="95250" cy="228600"/>
              </a:xfrm>
              <a:prstGeom prst="rect">
                <a:avLst/>
              </a:prstGeom>
              <a:solidFill>
                <a:srgbClr val="52616B"/>
              </a:solidFill>
              <a:ln>
                <a:noFill/>
              </a:ln>
            </p:spPr>
          </p:sp>
          <p:sp>
            <p:nvSpPr>
              <p:cNvPr id="61" name="TextBox 61"/>
              <p:cNvSpPr txBox="1"/>
              <p:nvPr/>
            </p:nvSpPr>
            <p:spPr>
              <a:xfrm>
                <a:off x="792099" y="5525929"/>
                <a:ext cx="51429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Deno</a:t>
                </a:r>
              </a:p>
            </p:txBody>
          </p:sp>
          <p:grpSp>
            <p:nvGrpSpPr>
              <p:cNvPr id="65" name="alternatif-deno-hucre"/>
              <p:cNvGrpSpPr/>
              <p:nvPr/>
            </p:nvGrpSpPr>
            <p:grpSpPr>
              <a:xfrm>
                <a:off x="3099054" y="5547360"/>
                <a:ext cx="7575458" cy="415671"/>
                <a:chOff x="3099054" y="5547360"/>
                <a:chExt cx="7575458" cy="415671"/>
              </a:xfrm>
            </p:grpSpPr>
            <p:sp>
              <p:nvSpPr>
                <p:cNvPr id="62" name="TextBox 62"/>
                <p:cNvSpPr txBox="1"/>
                <p:nvPr/>
              </p:nvSpPr>
              <p:spPr>
                <a:xfrm>
                  <a:off x="3099054" y="5547360"/>
                  <a:ext cx="19781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Modern güvenlik yaklaşımı</a:t>
                  </a:r>
                  <a:br/>
                  <a:r>
                    <a:rPr lang="tr-TR" sz="1200" dirty="0">
                      <a:solidFill>
                        <a:srgbClr val="172B3A"/>
                      </a:solidFill>
                      <a:latin typeface="+mn-lt"/>
                      <a:ea typeface="+mn-ea"/>
                      <a:cs typeface="+mn-cs"/>
                    </a:rPr>
                    <a:t>ve TypeScript desteği</a:t>
                  </a:r>
                </a:p>
              </p:txBody>
            </p:sp>
            <p:sp>
              <p:nvSpPr>
                <p:cNvPr id="63" name="TextBox 63"/>
                <p:cNvSpPr txBox="1"/>
                <p:nvPr/>
              </p:nvSpPr>
              <p:spPr>
                <a:xfrm>
                  <a:off x="5956554" y="5547360"/>
                  <a:ext cx="17038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Paket uyumluluğu Node</a:t>
                  </a:r>
                  <a:br/>
                  <a:r>
                    <a:rPr lang="tr-TR" sz="1200" dirty="0">
                      <a:solidFill>
                        <a:srgbClr val="172B3A"/>
                      </a:solidFill>
                      <a:latin typeface="+mn-lt"/>
                      <a:ea typeface="+mn-ea"/>
                      <a:cs typeface="+mn-cs"/>
                    </a:rPr>
                    <a:t>kadar geniş olmayabilir</a:t>
                  </a:r>
                </a:p>
              </p:txBody>
            </p:sp>
            <p:sp>
              <p:nvSpPr>
                <p:cNvPr id="64" name="TextBox 64"/>
                <p:cNvSpPr txBox="1"/>
                <p:nvPr/>
              </p:nvSpPr>
              <p:spPr>
                <a:xfrm>
                  <a:off x="8718804" y="5547360"/>
                  <a:ext cx="19557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Deno odaklı yeni projeler</a:t>
                  </a:r>
                </a:p>
              </p:txBody>
            </p:sp>
          </p:grpSp>
        </p:grpSp>
      </p:grpSp>
      <p:grpSp>
        <p:nvGrpSpPr>
          <p:cNvPr id="70" name="footer"/>
          <p:cNvGrpSpPr/>
          <p:nvPr/>
        </p:nvGrpSpPr>
        <p:grpSpPr>
          <a:xfrm>
            <a:off x="603504" y="6461760"/>
            <a:ext cx="10984992" cy="234696"/>
            <a:chOff x="603504" y="6461760"/>
            <a:chExt cx="10984992" cy="234696"/>
          </a:xfrm>
        </p:grpSpPr>
        <p:sp>
          <p:nvSpPr>
            <p:cNvPr id="68" name="TextBox 68"/>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69" name="TextBox 69"/>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866389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Yaygın yanılgı: node dosya.ts üç ayrı iştir</a:t>
              </a:r>
            </a:p>
          </p:txBody>
        </p:sp>
      </p:grpSp>
      <p:grpSp>
        <p:nvGrpSpPr>
          <p:cNvPr id="19" name="hata-document"/>
          <p:cNvGrpSpPr/>
          <p:nvPr/>
        </p:nvGrpSpPr>
        <p:grpSpPr>
          <a:xfrm>
            <a:off x="609600" y="1200150"/>
            <a:ext cx="10972800" cy="876300"/>
            <a:chOff x="609600" y="1200150"/>
            <a:chExt cx="10972800" cy="876300"/>
          </a:xfrm>
        </p:grpSpPr>
        <p:sp>
          <p:nvSpPr>
            <p:cNvPr id="14" name="Rectangle 14"/>
            <p:cNvSpPr/>
            <p:nvPr/>
          </p:nvSpPr>
          <p:spPr>
            <a:xfrm>
              <a:off x="609600" y="1200150"/>
              <a:ext cx="10972800" cy="876300"/>
            </a:xfrm>
            <a:prstGeom prst="rect">
              <a:avLst/>
            </a:prstGeom>
            <a:solidFill>
              <a:srgbClr val="FFFFFF"/>
            </a:solidFill>
            <a:ln w="9525">
              <a:solidFill>
                <a:srgbClr val="B8CBD3"/>
              </a:solidFill>
            </a:ln>
          </p:spPr>
        </p:sp>
        <p:sp>
          <p:nvSpPr>
            <p:cNvPr id="15" name="Rectangle 15"/>
            <p:cNvSpPr/>
            <p:nvPr/>
          </p:nvSpPr>
          <p:spPr>
            <a:xfrm>
              <a:off x="609600" y="1200150"/>
              <a:ext cx="57150" cy="876300"/>
            </a:xfrm>
            <a:prstGeom prst="rect">
              <a:avLst/>
            </a:prstGeom>
            <a:solidFill>
              <a:srgbClr val="52616B"/>
            </a:solidFill>
            <a:ln>
              <a:noFill/>
            </a:ln>
          </p:spPr>
        </p:sp>
        <p:sp>
          <p:nvSpPr>
            <p:cNvPr id="16" name="TextBox 16"/>
            <p:cNvSpPr txBox="1"/>
            <p:nvPr/>
          </p:nvSpPr>
          <p:spPr>
            <a:xfrm>
              <a:off x="944499" y="1353979"/>
              <a:ext cx="62281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İlk hata: Node.js kodunda tarayıcı nesnelerini kullanmak</a:t>
              </a:r>
            </a:p>
          </p:txBody>
        </p:sp>
        <p:sp>
          <p:nvSpPr>
            <p:cNvPr id="17" name="TextBox 17"/>
            <p:cNvSpPr txBox="1"/>
            <p:nvPr/>
          </p:nvSpPr>
          <p:spPr>
            <a:xfrm>
              <a:off x="945261" y="1674971"/>
              <a:ext cx="275621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Consolas"/>
                  <a:ea typeface="Consolas"/>
                  <a:cs typeface="Consolas"/>
                </a:rPr>
                <a:t>document.title = "Sunucu";</a:t>
              </a:r>
            </a:p>
          </p:txBody>
        </p:sp>
        <p:sp>
          <p:nvSpPr>
            <p:cNvPr id="18" name="TextBox 18"/>
            <p:cNvSpPr txBox="1"/>
            <p:nvPr/>
          </p:nvSpPr>
          <p:spPr>
            <a:xfrm>
              <a:off x="4184904" y="1699260"/>
              <a:ext cx="479662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terminalde ReferenceError: document is not defined üretir.</a:t>
              </a:r>
            </a:p>
          </p:txBody>
        </p:sp>
      </p:grpSp>
      <p:grpSp>
        <p:nvGrpSpPr>
          <p:cNvPr id="42" name="uc-is"/>
          <p:cNvGrpSpPr/>
          <p:nvPr/>
        </p:nvGrpSpPr>
        <p:grpSpPr>
          <a:xfrm>
            <a:off x="603504" y="2385060"/>
            <a:ext cx="10978896" cy="2529840"/>
            <a:chOff x="603504" y="2385060"/>
            <a:chExt cx="10978896" cy="2529840"/>
          </a:xfrm>
        </p:grpSpPr>
        <p:sp>
          <p:nvSpPr>
            <p:cNvPr id="20" name="TextBox 20"/>
            <p:cNvSpPr txBox="1"/>
            <p:nvPr/>
          </p:nvSpPr>
          <p:spPr>
            <a:xfrm>
              <a:off x="603504" y="2385060"/>
              <a:ext cx="38379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Burada birbirine karıştırılan üç ayrı iş vardır:</a:t>
              </a:r>
            </a:p>
          </p:txBody>
        </p:sp>
        <p:grpSp>
          <p:nvGrpSpPr>
            <p:cNvPr id="27" name="is-tur-silme"/>
            <p:cNvGrpSpPr/>
            <p:nvPr/>
          </p:nvGrpSpPr>
          <p:grpSpPr>
            <a:xfrm>
              <a:off x="609600" y="2647950"/>
              <a:ext cx="3505200" cy="2266950"/>
              <a:chOff x="609600" y="2647950"/>
              <a:chExt cx="3505200" cy="2266950"/>
            </a:xfrm>
          </p:grpSpPr>
          <p:sp>
            <p:nvSpPr>
              <p:cNvPr id="21" name="Rectangle 21"/>
              <p:cNvSpPr/>
              <p:nvPr/>
            </p:nvSpPr>
            <p:spPr>
              <a:xfrm>
                <a:off x="609600" y="2647950"/>
                <a:ext cx="3505200" cy="2266950"/>
              </a:xfrm>
              <a:prstGeom prst="rect">
                <a:avLst/>
              </a:prstGeom>
              <a:solidFill>
                <a:srgbClr val="FFFFFF"/>
              </a:solidFill>
              <a:ln w="9525">
                <a:solidFill>
                  <a:srgbClr val="00A6A6"/>
                </a:solidFill>
              </a:ln>
            </p:spPr>
          </p:sp>
          <p:sp>
            <p:nvSpPr>
              <p:cNvPr id="22" name="Rectangle 22"/>
              <p:cNvSpPr/>
              <p:nvPr/>
            </p:nvSpPr>
            <p:spPr>
              <a:xfrm>
                <a:off x="609600" y="2647950"/>
                <a:ext cx="3505200" cy="38100"/>
              </a:xfrm>
              <a:prstGeom prst="rect">
                <a:avLst/>
              </a:prstGeom>
              <a:solidFill>
                <a:srgbClr val="00A6A6"/>
              </a:solidFill>
              <a:ln>
                <a:noFill/>
              </a:ln>
            </p:spPr>
          </p:sp>
          <p:sp>
            <p:nvSpPr>
              <p:cNvPr id="23" name="TextBox 23"/>
              <p:cNvSpPr txBox="1"/>
              <p:nvPr/>
            </p:nvSpPr>
            <p:spPr>
              <a:xfrm>
                <a:off x="906399" y="2858929"/>
                <a:ext cx="13879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 Tür silme</a:t>
                </a:r>
              </a:p>
            </p:txBody>
          </p:sp>
          <p:sp>
            <p:nvSpPr>
              <p:cNvPr id="24" name="TextBox 24"/>
              <p:cNvSpPr txBox="1"/>
              <p:nvPr/>
            </p:nvSpPr>
            <p:spPr>
              <a:xfrm>
                <a:off x="908304" y="3166110"/>
                <a:ext cx="2778252" cy="996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Node.js 24, .ts dosyalarındaki</a:t>
                </a:r>
                <a:br/>
                <a:r>
                  <a:rPr lang="tr-TR" sz="1200" dirty="0">
                    <a:solidFill>
                      <a:srgbClr val="172B3A"/>
                    </a:solidFill>
                    <a:latin typeface="+mn-lt"/>
                    <a:ea typeface="+mn-ea"/>
                    <a:cs typeface="+mn-cs"/>
                  </a:rPr>
                  <a:t>tür ek açıklamalarını çalıştırmadan</a:t>
                </a:r>
                <a:br/>
                <a:r>
                  <a:rPr lang="tr-TR" sz="1200" dirty="0">
                    <a:solidFill>
                      <a:srgbClr val="172B3A"/>
                    </a:solidFill>
                    <a:latin typeface="+mn-lt"/>
                    <a:ea typeface="+mn-ea"/>
                    <a:cs typeface="+mn-cs"/>
                  </a:rPr>
                  <a:t>önce siler ve kalan JavaScript'i</a:t>
                </a:r>
                <a:br/>
                <a:r>
                  <a:rPr lang="tr-TR" sz="1200" dirty="0">
                    <a:solidFill>
                      <a:srgbClr val="172B3A"/>
                    </a:solidFill>
                    <a:latin typeface="+mn-lt"/>
                    <a:ea typeface="+mn-ea"/>
                    <a:cs typeface="+mn-cs"/>
                  </a:rPr>
                  <a:t>çalıştırır. Ayrı bir derleme adımı</a:t>
                </a:r>
                <a:br/>
                <a:r>
                  <a:rPr lang="tr-TR" sz="1200" dirty="0">
                    <a:solidFill>
                      <a:srgbClr val="172B3A"/>
                    </a:solidFill>
                    <a:latin typeface="+mn-lt"/>
                    <a:ea typeface="+mn-ea"/>
                    <a:cs typeface="+mn-cs"/>
                  </a:rPr>
                  <a:t>çoğu dosyada şart değildir.</a:t>
                </a:r>
              </a:p>
            </p:txBody>
          </p:sp>
          <p:sp>
            <p:nvSpPr>
              <p:cNvPr id="25" name="Rectangle 25"/>
              <p:cNvSpPr/>
              <p:nvPr/>
            </p:nvSpPr>
            <p:spPr>
              <a:xfrm>
                <a:off x="914400" y="4381500"/>
                <a:ext cx="2895600" cy="342900"/>
              </a:xfrm>
              <a:prstGeom prst="rect">
                <a:avLst/>
              </a:prstGeom>
              <a:solidFill>
                <a:srgbClr val="EAF4F6"/>
              </a:solidFill>
              <a:ln>
                <a:noFill/>
              </a:ln>
            </p:spPr>
          </p:sp>
          <p:sp>
            <p:nvSpPr>
              <p:cNvPr id="26" name="TextBox 26"/>
              <p:cNvSpPr txBox="1"/>
              <p:nvPr/>
            </p:nvSpPr>
            <p:spPr>
              <a:xfrm>
                <a:off x="1059561" y="4456271"/>
                <a:ext cx="1381275"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node dosya.ts</a:t>
                </a:r>
              </a:p>
            </p:txBody>
          </p:sp>
        </p:grpSp>
        <p:grpSp>
          <p:nvGrpSpPr>
            <p:cNvPr id="34" name="is-tur-denetimi"/>
            <p:cNvGrpSpPr/>
            <p:nvPr/>
          </p:nvGrpSpPr>
          <p:grpSpPr>
            <a:xfrm>
              <a:off x="4343400" y="2647950"/>
              <a:ext cx="3505200" cy="2266950"/>
              <a:chOff x="4343400" y="2647950"/>
              <a:chExt cx="3505200" cy="2266950"/>
            </a:xfrm>
          </p:grpSpPr>
          <p:sp>
            <p:nvSpPr>
              <p:cNvPr id="28" name="Rectangle 28"/>
              <p:cNvSpPr/>
              <p:nvPr/>
            </p:nvSpPr>
            <p:spPr>
              <a:xfrm>
                <a:off x="4343400" y="2647950"/>
                <a:ext cx="3505200" cy="2266950"/>
              </a:xfrm>
              <a:prstGeom prst="rect">
                <a:avLst/>
              </a:prstGeom>
              <a:solidFill>
                <a:srgbClr val="FFFFFF"/>
              </a:solidFill>
              <a:ln w="9525">
                <a:solidFill>
                  <a:srgbClr val="2E86AB"/>
                </a:solidFill>
              </a:ln>
            </p:spPr>
          </p:sp>
          <p:sp>
            <p:nvSpPr>
              <p:cNvPr id="29" name="Rectangle 29"/>
              <p:cNvSpPr/>
              <p:nvPr/>
            </p:nvSpPr>
            <p:spPr>
              <a:xfrm>
                <a:off x="4343400" y="2647950"/>
                <a:ext cx="3505200" cy="38100"/>
              </a:xfrm>
              <a:prstGeom prst="rect">
                <a:avLst/>
              </a:prstGeom>
              <a:solidFill>
                <a:srgbClr val="2E86AB"/>
              </a:solidFill>
              <a:ln>
                <a:noFill/>
              </a:ln>
            </p:spPr>
          </p:sp>
          <p:sp>
            <p:nvSpPr>
              <p:cNvPr id="30" name="TextBox 30"/>
              <p:cNvSpPr txBox="1"/>
              <p:nvPr/>
            </p:nvSpPr>
            <p:spPr>
              <a:xfrm>
                <a:off x="4640199" y="2858929"/>
                <a:ext cx="175575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 Tür denetimi</a:t>
                </a:r>
              </a:p>
            </p:txBody>
          </p:sp>
          <p:sp>
            <p:nvSpPr>
              <p:cNvPr id="31" name="TextBox 31"/>
              <p:cNvSpPr txBox="1"/>
              <p:nvPr/>
            </p:nvSpPr>
            <p:spPr>
              <a:xfrm>
                <a:off x="4642104" y="3166110"/>
                <a:ext cx="2633472" cy="996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Tür silme türleri kontrol etmez,</a:t>
                </a:r>
                <a:br/>
                <a:r>
                  <a:rPr lang="tr-TR" sz="1200" dirty="0">
                    <a:solidFill>
                      <a:srgbClr val="172B3A"/>
                    </a:solidFill>
                    <a:latin typeface="+mn-lt"/>
                    <a:ea typeface="+mn-ea"/>
                    <a:cs typeface="+mn-cs"/>
                  </a:rPr>
                  <a:t>yalnızca atar. Yanlış tür sorunsuz</a:t>
                </a:r>
                <a:br/>
                <a:r>
                  <a:rPr lang="tr-TR" sz="1200" dirty="0">
                    <a:solidFill>
                      <a:srgbClr val="172B3A"/>
                    </a:solidFill>
                    <a:latin typeface="+mn-lt"/>
                    <a:ea typeface="+mn-ea"/>
                    <a:cs typeface="+mn-cs"/>
                  </a:rPr>
                  <a:t>çalışır. “Node ile çalıştı” ifadesi</a:t>
                </a:r>
                <a:br/>
                <a:r>
                  <a:rPr lang="tr-TR" sz="1200" dirty="0">
                    <a:solidFill>
                      <a:srgbClr val="172B3A"/>
                    </a:solidFill>
                    <a:latin typeface="+mn-lt"/>
                    <a:ea typeface="+mn-ea"/>
                    <a:cs typeface="+mn-cs"/>
                  </a:rPr>
                  <a:t>“tür güvenli” anlamına gelmez;</a:t>
                </a:r>
                <a:br/>
                <a:r>
                  <a:rPr lang="tr-TR" sz="1200" dirty="0">
                    <a:solidFill>
                      <a:srgbClr val="172B3A"/>
                    </a:solidFill>
                    <a:latin typeface="+mn-lt"/>
                    <a:ea typeface="+mn-ea"/>
                    <a:cs typeface="+mn-cs"/>
                  </a:rPr>
                  <a:t>denetim ayrı çalıştırılır.</a:t>
                </a:r>
              </a:p>
            </p:txBody>
          </p:sp>
          <p:sp>
            <p:nvSpPr>
              <p:cNvPr id="32" name="Rectangle 32"/>
              <p:cNvSpPr/>
              <p:nvPr/>
            </p:nvSpPr>
            <p:spPr>
              <a:xfrm>
                <a:off x="4648200" y="4381500"/>
                <a:ext cx="2895600" cy="342900"/>
              </a:xfrm>
              <a:prstGeom prst="rect">
                <a:avLst/>
              </a:prstGeom>
              <a:solidFill>
                <a:srgbClr val="EAF4F6"/>
              </a:solidFill>
              <a:ln>
                <a:noFill/>
              </a:ln>
            </p:spPr>
          </p:sp>
          <p:sp>
            <p:nvSpPr>
              <p:cNvPr id="33" name="TextBox 33"/>
              <p:cNvSpPr txBox="1"/>
              <p:nvPr/>
            </p:nvSpPr>
            <p:spPr>
              <a:xfrm>
                <a:off x="4793361" y="4456271"/>
                <a:ext cx="1284072"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tsc --noEmit</a:t>
                </a:r>
              </a:p>
            </p:txBody>
          </p:sp>
        </p:grpSp>
        <p:grpSp>
          <p:nvGrpSpPr>
            <p:cNvPr id="41" name="is-sozdizimi"/>
            <p:cNvGrpSpPr/>
            <p:nvPr/>
          </p:nvGrpSpPr>
          <p:grpSpPr>
            <a:xfrm>
              <a:off x="8077200" y="2647950"/>
              <a:ext cx="3505200" cy="2266950"/>
              <a:chOff x="8077200" y="2647950"/>
              <a:chExt cx="3505200" cy="2266950"/>
            </a:xfrm>
          </p:grpSpPr>
          <p:sp>
            <p:nvSpPr>
              <p:cNvPr id="35" name="Rectangle 35"/>
              <p:cNvSpPr/>
              <p:nvPr/>
            </p:nvSpPr>
            <p:spPr>
              <a:xfrm>
                <a:off x="8077200" y="2647950"/>
                <a:ext cx="3505200" cy="2266950"/>
              </a:xfrm>
              <a:prstGeom prst="rect">
                <a:avLst/>
              </a:prstGeom>
              <a:solidFill>
                <a:srgbClr val="FFFFFF"/>
              </a:solidFill>
              <a:ln w="9525">
                <a:solidFill>
                  <a:srgbClr val="52616B"/>
                </a:solidFill>
              </a:ln>
            </p:spPr>
          </p:sp>
          <p:sp>
            <p:nvSpPr>
              <p:cNvPr id="36" name="Rectangle 36"/>
              <p:cNvSpPr/>
              <p:nvPr/>
            </p:nvSpPr>
            <p:spPr>
              <a:xfrm>
                <a:off x="8077200" y="2647950"/>
                <a:ext cx="3505200" cy="38100"/>
              </a:xfrm>
              <a:prstGeom prst="rect">
                <a:avLst/>
              </a:prstGeom>
              <a:solidFill>
                <a:srgbClr val="52616B"/>
              </a:solidFill>
              <a:ln>
                <a:noFill/>
              </a:ln>
            </p:spPr>
          </p:sp>
          <p:sp>
            <p:nvSpPr>
              <p:cNvPr id="37" name="TextBox 37"/>
              <p:cNvSpPr txBox="1"/>
              <p:nvPr/>
            </p:nvSpPr>
            <p:spPr>
              <a:xfrm>
                <a:off x="8373999" y="2858929"/>
                <a:ext cx="31615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 Desteklenmeyen sözdizimi</a:t>
                </a:r>
              </a:p>
            </p:txBody>
          </p:sp>
          <p:sp>
            <p:nvSpPr>
              <p:cNvPr id="38" name="TextBox 38"/>
              <p:cNvSpPr txBox="1"/>
              <p:nvPr/>
            </p:nvSpPr>
            <p:spPr>
              <a:xfrm>
                <a:off x="8375904" y="3166110"/>
                <a:ext cx="2610612" cy="996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Yapıcı parametresinde tanımlanan</a:t>
                </a:r>
                <a:br/>
                <a:r>
                  <a:rPr lang="tr-TR" sz="1200" dirty="0">
                    <a:solidFill>
                      <a:srgbClr val="172B3A"/>
                    </a:solidFill>
                    <a:latin typeface="+mn-lt"/>
                    <a:ea typeface="+mn-ea"/>
                    <a:cs typeface="+mn-cs"/>
                  </a:rPr>
                  <a:t>alanlar, enum ve namespace gerçek</a:t>
                </a:r>
                <a:br/>
                <a:r>
                  <a:rPr lang="tr-TR" sz="1200" dirty="0">
                    <a:solidFill>
                      <a:srgbClr val="172B3A"/>
                    </a:solidFill>
                    <a:latin typeface="+mn-lt"/>
                    <a:ea typeface="+mn-ea"/>
                    <a:cs typeface="+mn-cs"/>
                  </a:rPr>
                  <a:t>bir dönüşüm gerektirir; Node</a:t>
                </a:r>
                <a:br/>
                <a:r>
                  <a:rPr lang="tr-TR" sz="1200" dirty="0">
                    <a:solidFill>
                      <a:srgbClr val="172B3A"/>
                    </a:solidFill>
                    <a:latin typeface="+mn-lt"/>
                    <a:ea typeface="+mn-ea"/>
                    <a:cs typeface="+mn-cs"/>
                  </a:rPr>
                  <a:t>bunları çalıştıramaz. Bu durumda</a:t>
                </a:r>
                <a:br/>
                <a:r>
                  <a:rPr lang="tr-TR" sz="1200" dirty="0">
                    <a:solidFill>
                      <a:srgbClr val="172B3A"/>
                    </a:solidFill>
                    <a:latin typeface="+mn-lt"/>
                    <a:ea typeface="+mn-ea"/>
                    <a:cs typeface="+mn-cs"/>
                  </a:rPr>
                  <a:t>tsx kullanın ya da önce derleyin.</a:t>
                </a:r>
              </a:p>
            </p:txBody>
          </p:sp>
          <p:sp>
            <p:nvSpPr>
              <p:cNvPr id="39" name="Rectangle 39"/>
              <p:cNvSpPr/>
              <p:nvPr/>
            </p:nvSpPr>
            <p:spPr>
              <a:xfrm>
                <a:off x="8382000" y="4381500"/>
                <a:ext cx="3048000" cy="342900"/>
              </a:xfrm>
              <a:prstGeom prst="rect">
                <a:avLst/>
              </a:prstGeom>
              <a:solidFill>
                <a:srgbClr val="EAF4F6"/>
              </a:solidFill>
              <a:ln>
                <a:noFill/>
              </a:ln>
            </p:spPr>
          </p:sp>
          <p:sp>
            <p:nvSpPr>
              <p:cNvPr id="40" name="TextBox 40"/>
              <p:cNvSpPr txBox="1"/>
              <p:nvPr/>
            </p:nvSpPr>
            <p:spPr>
              <a:xfrm>
                <a:off x="8452485" y="4488656"/>
                <a:ext cx="2902885"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ERR_UNSUPPORTED_TYPESCRIPT_SYNTAX</a:t>
                </a:r>
              </a:p>
            </p:txBody>
          </p:sp>
        </p:grpSp>
      </p:grpSp>
      <p:grpSp>
        <p:nvGrpSpPr>
          <p:cNvPr id="47" name="sonuc"/>
          <p:cNvGrpSpPr/>
          <p:nvPr/>
        </p:nvGrpSpPr>
        <p:grpSpPr>
          <a:xfrm>
            <a:off x="609600" y="5200650"/>
            <a:ext cx="10972800" cy="1085850"/>
            <a:chOff x="609600" y="5200650"/>
            <a:chExt cx="10972800" cy="1085850"/>
          </a:xfrm>
        </p:grpSpPr>
        <p:sp>
          <p:nvSpPr>
            <p:cNvPr id="43" name="Rectangle 43"/>
            <p:cNvSpPr/>
            <p:nvPr/>
          </p:nvSpPr>
          <p:spPr>
            <a:xfrm>
              <a:off x="609600" y="5200650"/>
              <a:ext cx="10972800" cy="1085850"/>
            </a:xfrm>
            <a:prstGeom prst="rect">
              <a:avLst/>
            </a:prstGeom>
            <a:solidFill>
              <a:srgbClr val="EAF4F6"/>
            </a:solidFill>
            <a:ln>
              <a:noFill/>
            </a:ln>
          </p:spPr>
        </p:sp>
        <p:sp>
          <p:nvSpPr>
            <p:cNvPr id="44" name="Rectangle 44"/>
            <p:cNvSpPr/>
            <p:nvPr/>
          </p:nvSpPr>
          <p:spPr>
            <a:xfrm>
              <a:off x="609600" y="5200650"/>
              <a:ext cx="10972800" cy="38100"/>
            </a:xfrm>
            <a:prstGeom prst="rect">
              <a:avLst/>
            </a:prstGeom>
            <a:solidFill>
              <a:srgbClr val="00A6A6"/>
            </a:solidFill>
            <a:ln>
              <a:noFill/>
            </a:ln>
          </p:spPr>
        </p:sp>
        <p:sp>
          <p:nvSpPr>
            <p:cNvPr id="45" name="TextBox 45"/>
            <p:cNvSpPr txBox="1"/>
            <p:nvPr/>
          </p:nvSpPr>
          <p:spPr>
            <a:xfrm>
              <a:off x="905256" y="5406390"/>
              <a:ext cx="908460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Kısacası: çalıştırma, tür denetimi ve derleme birbirinin yerine geçmez.</a:t>
              </a:r>
            </a:p>
          </p:txBody>
        </p:sp>
        <p:sp>
          <p:nvSpPr>
            <p:cNvPr id="46" name="TextBox 46"/>
            <p:cNvSpPr txBox="1"/>
            <p:nvPr/>
          </p:nvSpPr>
          <p:spPr>
            <a:xfrm>
              <a:off x="908304" y="5814060"/>
              <a:ext cx="894860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Üçüncü hata, Node.js sürümünün proje gereksinimiyle uyumsuz olmasıdır: node --version ile sürümü kontrol edin.</a:t>
              </a:r>
            </a:p>
          </p:txBody>
        </p:sp>
      </p:grpSp>
      <p:grpSp>
        <p:nvGrpSpPr>
          <p:cNvPr id="50" name="footer"/>
          <p:cNvGrpSpPr/>
          <p:nvPr/>
        </p:nvGrpSpPr>
        <p:grpSpPr>
          <a:xfrm>
            <a:off x="603504" y="6461760"/>
            <a:ext cx="10984992" cy="234696"/>
            <a:chOff x="603504" y="6461760"/>
            <a:chExt cx="10984992" cy="234696"/>
          </a:xfrm>
        </p:grpSpPr>
        <p:sp>
          <p:nvSpPr>
            <p:cNvPr id="48" name="TextBox 48"/>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9" name="TextBox 49"/>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8"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646789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Event loop: beklemeyi devretmek</a:t>
              </a:r>
            </a:p>
          </p:txBody>
        </p:sp>
      </p:grpSp>
      <p:grpSp>
        <p:nvGrpSpPr>
          <p:cNvPr id="20" name="tanim"/>
          <p:cNvGrpSpPr/>
          <p:nvPr/>
        </p:nvGrpSpPr>
        <p:grpSpPr>
          <a:xfrm>
            <a:off x="600456" y="1253490"/>
            <a:ext cx="9928098" cy="675894"/>
            <a:chOff x="600456" y="1253490"/>
            <a:chExt cx="9928098" cy="675894"/>
          </a:xfrm>
        </p:grpSpPr>
        <p:sp>
          <p:nvSpPr>
            <p:cNvPr id="19" name="TextBox 19"/>
            <p:cNvSpPr txBox="1"/>
            <p:nvPr/>
          </p:nvSpPr>
          <p:spPr>
            <a:xfrm>
              <a:off x="600456" y="1253490"/>
              <a:ext cx="992809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Event loop, tamamlanan asenkron işleri uygun sırayla işleyen mekanizmadır. Kodunuz ana</a:t>
              </a:r>
              <a:br/>
              <a:r>
                <a:rPr lang="tr-TR" sz="1800" dirty="0">
                  <a:solidFill>
                    <a:srgbClr val="172B3A"/>
                  </a:solidFill>
                  <a:latin typeface="+mn-lt"/>
                  <a:ea typeface="+mn-ea"/>
                  <a:cs typeface="+mn-cs"/>
                </a:rPr>
                <a:t xml:space="preserve">akışta çalışır; </a:t>
              </a:r>
              <a:r>
                <a:rPr lang="tr-TR" sz="1800" b="1" dirty="0">
                  <a:solidFill>
                    <a:srgbClr val="12355B"/>
                  </a:solidFill>
                  <a:latin typeface="+mn-lt"/>
                  <a:ea typeface="+mn-ea"/>
                  <a:cs typeface="+mn-cs"/>
                </a:rPr>
                <a:t>bekleyen işler bittiğinde</a:t>
              </a:r>
              <a:r>
                <a:rPr lang="tr-TR" sz="1800" dirty="0">
                  <a:solidFill>
                    <a:srgbClr val="172B3A"/>
                  </a:solidFill>
                  <a:latin typeface="+mn-lt"/>
                  <a:ea typeface="+mn-ea"/>
                  <a:cs typeface="+mn-cs"/>
                </a:rPr>
                <a:t xml:space="preserve"> callback veya promise devamı kuyruğa alınır.</a:t>
              </a:r>
            </a:p>
          </p:txBody>
        </p:sp>
      </p:grpSp>
      <p:grpSp>
        <p:nvGrpSpPr>
          <p:cNvPr id="43" name="akis-diyagrami"/>
          <p:cNvGrpSpPr/>
          <p:nvPr/>
        </p:nvGrpSpPr>
        <p:grpSpPr>
          <a:xfrm>
            <a:off x="609600" y="2171700"/>
            <a:ext cx="6667500" cy="3638550"/>
            <a:chOff x="609600" y="2171700"/>
            <a:chExt cx="6667500" cy="3638550"/>
          </a:xfrm>
        </p:grpSpPr>
        <p:sp>
          <p:nvSpPr>
            <p:cNvPr id="21" name="Rectangle 21"/>
            <p:cNvSpPr/>
            <p:nvPr/>
          </p:nvSpPr>
          <p:spPr>
            <a:xfrm>
              <a:off x="609600" y="2171700"/>
              <a:ext cx="6667500" cy="533400"/>
            </a:xfrm>
            <a:prstGeom prst="rect">
              <a:avLst/>
            </a:prstGeom>
            <a:solidFill>
              <a:srgbClr val="12355B"/>
            </a:solidFill>
            <a:ln>
              <a:noFill/>
            </a:ln>
          </p:spPr>
        </p:sp>
        <p:sp>
          <p:nvSpPr>
            <p:cNvPr id="22" name="TextBox 22"/>
            <p:cNvSpPr txBox="1"/>
            <p:nvPr/>
          </p:nvSpPr>
          <p:spPr>
            <a:xfrm>
              <a:off x="2297624" y="2325529"/>
              <a:ext cx="3291452"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JavaScript ana yürütme akışı</a:t>
              </a:r>
            </a:p>
          </p:txBody>
        </p:sp>
        <p:sp>
          <p:nvSpPr>
            <p:cNvPr id="23" name="Line 23"/>
            <p:cNvSpPr/>
            <p:nvPr/>
          </p:nvSpPr>
          <p:spPr>
            <a:xfrm>
              <a:off x="2190750" y="2705100"/>
              <a:ext cx="1" cy="400050"/>
            </a:xfrm>
            <a:prstGeom prst="line">
              <a:avLst/>
            </a:prstGeom>
            <a:noFill/>
            <a:ln w="19050">
              <a:solidFill>
                <a:srgbClr val="52616B"/>
              </a:solidFill>
              <a:tailEnd type="triangle" w="lg" len="lg"/>
            </a:ln>
          </p:spPr>
        </p:sp>
        <p:sp>
          <p:nvSpPr>
            <p:cNvPr id="24" name="Line 24"/>
            <p:cNvSpPr/>
            <p:nvPr/>
          </p:nvSpPr>
          <p:spPr>
            <a:xfrm>
              <a:off x="5715000" y="2705100"/>
              <a:ext cx="1" cy="400050"/>
            </a:xfrm>
            <a:prstGeom prst="line">
              <a:avLst/>
            </a:prstGeom>
            <a:noFill/>
            <a:ln w="19050">
              <a:solidFill>
                <a:srgbClr val="00A6A6"/>
              </a:solidFill>
              <a:tailEnd type="triangle" w="lg" len="lg"/>
            </a:ln>
          </p:spPr>
        </p:sp>
        <p:grpSp>
          <p:nvGrpSpPr>
            <p:cNvPr id="28" name="senkron-dal"/>
            <p:cNvGrpSpPr/>
            <p:nvPr/>
          </p:nvGrpSpPr>
          <p:grpSpPr>
            <a:xfrm>
              <a:off x="609600" y="3143250"/>
              <a:ext cx="3321284" cy="723900"/>
              <a:chOff x="609600" y="3143250"/>
              <a:chExt cx="3321284" cy="723900"/>
            </a:xfrm>
          </p:grpSpPr>
          <p:sp>
            <p:nvSpPr>
              <p:cNvPr id="25" name="Rectangle 25"/>
              <p:cNvSpPr/>
              <p:nvPr/>
            </p:nvSpPr>
            <p:spPr>
              <a:xfrm>
                <a:off x="609600" y="3143250"/>
                <a:ext cx="3162300" cy="723900"/>
              </a:xfrm>
              <a:prstGeom prst="rect">
                <a:avLst/>
              </a:prstGeom>
              <a:solidFill>
                <a:srgbClr val="FFFFFF"/>
              </a:solidFill>
              <a:ln w="9525">
                <a:solidFill>
                  <a:srgbClr val="B8CBD3"/>
                </a:solidFill>
              </a:ln>
            </p:spPr>
          </p:sp>
          <p:sp>
            <p:nvSpPr>
              <p:cNvPr id="26" name="TextBox 26"/>
              <p:cNvSpPr txBox="1"/>
              <p:nvPr/>
            </p:nvSpPr>
            <p:spPr>
              <a:xfrm>
                <a:off x="906399" y="3278029"/>
                <a:ext cx="1486371"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Senkron adım</a:t>
                </a:r>
              </a:p>
            </p:txBody>
          </p:sp>
          <p:sp>
            <p:nvSpPr>
              <p:cNvPr id="27" name="TextBox 27"/>
              <p:cNvSpPr txBox="1"/>
              <p:nvPr/>
            </p:nvSpPr>
            <p:spPr>
              <a:xfrm>
                <a:off x="908304" y="3566160"/>
                <a:ext cx="302258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Doğrudan tamamlanır, sıra beklemez.</a:t>
                </a:r>
              </a:p>
            </p:txBody>
          </p:sp>
        </p:grpSp>
        <p:grpSp>
          <p:nvGrpSpPr>
            <p:cNvPr id="40" name="asenkron-dal"/>
            <p:cNvGrpSpPr/>
            <p:nvPr/>
          </p:nvGrpSpPr>
          <p:grpSpPr>
            <a:xfrm>
              <a:off x="4114800" y="3143250"/>
              <a:ext cx="3162300" cy="2667000"/>
              <a:chOff x="4114800" y="3143250"/>
              <a:chExt cx="3162300" cy="2667000"/>
            </a:xfrm>
          </p:grpSpPr>
          <p:sp>
            <p:nvSpPr>
              <p:cNvPr id="29" name="Rectangle 29"/>
              <p:cNvSpPr/>
              <p:nvPr/>
            </p:nvSpPr>
            <p:spPr>
              <a:xfrm>
                <a:off x="4114800" y="3143250"/>
                <a:ext cx="3162300" cy="723900"/>
              </a:xfrm>
              <a:prstGeom prst="rect">
                <a:avLst/>
              </a:prstGeom>
              <a:solidFill>
                <a:srgbClr val="FFFFFF"/>
              </a:solidFill>
              <a:ln w="9525">
                <a:solidFill>
                  <a:srgbClr val="00A6A6"/>
                </a:solidFill>
              </a:ln>
            </p:spPr>
          </p:sp>
          <p:sp>
            <p:nvSpPr>
              <p:cNvPr id="30" name="TextBox 30"/>
              <p:cNvSpPr txBox="1"/>
              <p:nvPr/>
            </p:nvSpPr>
            <p:spPr>
              <a:xfrm>
                <a:off x="4411599" y="3278029"/>
                <a:ext cx="16091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Asenkron adım</a:t>
                </a:r>
              </a:p>
            </p:txBody>
          </p:sp>
          <p:sp>
            <p:nvSpPr>
              <p:cNvPr id="31" name="TextBox 31"/>
              <p:cNvSpPr txBox="1"/>
              <p:nvPr/>
            </p:nvSpPr>
            <p:spPr>
              <a:xfrm>
                <a:off x="4413504" y="3566160"/>
                <a:ext cx="25217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Dosya, ağ veya zamanlayıcı işi.</a:t>
                </a:r>
              </a:p>
            </p:txBody>
          </p:sp>
          <p:sp>
            <p:nvSpPr>
              <p:cNvPr id="32" name="Line 32"/>
              <p:cNvSpPr/>
              <p:nvPr/>
            </p:nvSpPr>
            <p:spPr>
              <a:xfrm>
                <a:off x="5715000" y="3867150"/>
                <a:ext cx="1" cy="304800"/>
              </a:xfrm>
              <a:prstGeom prst="line">
                <a:avLst/>
              </a:prstGeom>
              <a:noFill/>
              <a:ln w="19050">
                <a:solidFill>
                  <a:srgbClr val="00A6A6"/>
                </a:solidFill>
                <a:tailEnd type="triangle" w="lg" len="lg"/>
              </a:ln>
            </p:spPr>
          </p:sp>
          <p:sp>
            <p:nvSpPr>
              <p:cNvPr id="33" name="Rectangle 33"/>
              <p:cNvSpPr/>
              <p:nvPr/>
            </p:nvSpPr>
            <p:spPr>
              <a:xfrm>
                <a:off x="4114800" y="4210050"/>
                <a:ext cx="3162300" cy="628650"/>
              </a:xfrm>
              <a:prstGeom prst="rect">
                <a:avLst/>
              </a:prstGeom>
              <a:solidFill>
                <a:srgbClr val="EAF4F6"/>
              </a:solidFill>
              <a:ln>
                <a:noFill/>
              </a:ln>
            </p:spPr>
          </p:sp>
          <p:sp>
            <p:nvSpPr>
              <p:cNvPr id="34" name="TextBox 34"/>
              <p:cNvSpPr txBox="1"/>
              <p:nvPr/>
            </p:nvSpPr>
            <p:spPr>
              <a:xfrm>
                <a:off x="4411599" y="4306729"/>
                <a:ext cx="257947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İlgili sisteme devredilir</a:t>
                </a:r>
              </a:p>
            </p:txBody>
          </p:sp>
          <p:sp>
            <p:nvSpPr>
              <p:cNvPr id="35" name="TextBox 35"/>
              <p:cNvSpPr txBox="1"/>
              <p:nvPr/>
            </p:nvSpPr>
            <p:spPr>
              <a:xfrm>
                <a:off x="4413504" y="4575810"/>
                <a:ext cx="21827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Program bu sırada durmaz.</a:t>
                </a:r>
              </a:p>
            </p:txBody>
          </p:sp>
          <p:sp>
            <p:nvSpPr>
              <p:cNvPr id="36" name="Line 36"/>
              <p:cNvSpPr/>
              <p:nvPr/>
            </p:nvSpPr>
            <p:spPr>
              <a:xfrm>
                <a:off x="5715000" y="4838700"/>
                <a:ext cx="1" cy="304800"/>
              </a:xfrm>
              <a:prstGeom prst="line">
                <a:avLst/>
              </a:prstGeom>
              <a:noFill/>
              <a:ln w="19050">
                <a:solidFill>
                  <a:srgbClr val="00A6A6"/>
                </a:solidFill>
                <a:tailEnd type="triangle" w="lg" len="lg"/>
              </a:ln>
            </p:spPr>
          </p:sp>
          <p:sp>
            <p:nvSpPr>
              <p:cNvPr id="37" name="Rectangle 37"/>
              <p:cNvSpPr/>
              <p:nvPr/>
            </p:nvSpPr>
            <p:spPr>
              <a:xfrm>
                <a:off x="4114800" y="5181600"/>
                <a:ext cx="3162300" cy="628650"/>
              </a:xfrm>
              <a:prstGeom prst="rect">
                <a:avLst/>
              </a:prstGeom>
              <a:solidFill>
                <a:srgbClr val="EAF4F6"/>
              </a:solidFill>
              <a:ln>
                <a:noFill/>
              </a:ln>
            </p:spPr>
          </p:sp>
          <p:sp>
            <p:nvSpPr>
              <p:cNvPr id="38" name="TextBox 38"/>
              <p:cNvSpPr txBox="1"/>
              <p:nvPr/>
            </p:nvSpPr>
            <p:spPr>
              <a:xfrm>
                <a:off x="4411599" y="5278279"/>
                <a:ext cx="18206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Callback kuyruğu</a:t>
                </a:r>
              </a:p>
            </p:txBody>
          </p:sp>
          <p:sp>
            <p:nvSpPr>
              <p:cNvPr id="39" name="TextBox 39"/>
              <p:cNvSpPr txBox="1"/>
              <p:nvPr/>
            </p:nvSpPr>
            <p:spPr>
              <a:xfrm>
                <a:off x="4413504" y="5547360"/>
                <a:ext cx="24003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İş bitince sonuç sıraya girer.</a:t>
                </a:r>
              </a:p>
            </p:txBody>
          </p:sp>
        </p:grpSp>
        <p:sp>
          <p:nvSpPr>
            <p:cNvPr id="41" name="Line 41"/>
            <p:cNvSpPr/>
            <p:nvPr/>
          </p:nvSpPr>
          <p:spPr>
            <a:xfrm flipH="1">
              <a:off x="2286000" y="5495925"/>
              <a:ext cx="1828800" cy="1"/>
            </a:xfrm>
            <a:prstGeom prst="line">
              <a:avLst/>
            </a:prstGeom>
            <a:noFill/>
            <a:ln w="19050">
              <a:solidFill>
                <a:srgbClr val="00A6A6"/>
              </a:solidFill>
              <a:prstDash val="lgDash"/>
              <a:tailEnd type="triangle" w="lg" len="lg"/>
            </a:ln>
          </p:spPr>
        </p:sp>
        <p:sp>
          <p:nvSpPr>
            <p:cNvPr id="42" name="TextBox 42"/>
            <p:cNvSpPr txBox="1"/>
            <p:nvPr/>
          </p:nvSpPr>
          <p:spPr>
            <a:xfrm>
              <a:off x="908304" y="5318760"/>
              <a:ext cx="15819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2355B"/>
                  </a:solidFill>
                  <a:latin typeface="+mn-lt"/>
                  <a:ea typeface="+mn-ea"/>
                  <a:cs typeface="+mn-cs"/>
                </a:rPr>
                <a:t>Event loop, hazır işi</a:t>
              </a:r>
              <a:br/>
              <a:r>
                <a:rPr lang="tr-TR" sz="1200" dirty="0">
                  <a:solidFill>
                    <a:srgbClr val="12355B"/>
                  </a:solidFill>
                  <a:latin typeface="+mn-lt"/>
                  <a:ea typeface="+mn-ea"/>
                  <a:cs typeface="+mn-cs"/>
                </a:rPr>
                <a:t>ana akışa geri verir.</a:t>
              </a:r>
            </a:p>
          </p:txBody>
        </p:sp>
      </p:grpSp>
      <p:grpSp>
        <p:nvGrpSpPr>
          <p:cNvPr id="51" name="mutfak"/>
          <p:cNvGrpSpPr/>
          <p:nvPr/>
        </p:nvGrpSpPr>
        <p:grpSpPr>
          <a:xfrm>
            <a:off x="7620000" y="2095500"/>
            <a:ext cx="3962400" cy="4010406"/>
            <a:chOff x="7620000" y="2095500"/>
            <a:chExt cx="3962400" cy="4010406"/>
          </a:xfrm>
        </p:grpSpPr>
        <p:sp>
          <p:nvSpPr>
            <p:cNvPr id="44" name="Rectangle 44"/>
            <p:cNvSpPr/>
            <p:nvPr/>
          </p:nvSpPr>
          <p:spPr>
            <a:xfrm>
              <a:off x="7620000" y="2095500"/>
              <a:ext cx="3962400" cy="4000500"/>
            </a:xfrm>
            <a:prstGeom prst="rect">
              <a:avLst/>
            </a:prstGeom>
            <a:solidFill>
              <a:srgbClr val="EAF4F6"/>
            </a:solidFill>
            <a:ln>
              <a:noFill/>
            </a:ln>
          </p:spPr>
        </p:sp>
        <p:sp>
          <p:nvSpPr>
            <p:cNvPr id="45" name="Rectangle 45"/>
            <p:cNvSpPr/>
            <p:nvPr/>
          </p:nvSpPr>
          <p:spPr>
            <a:xfrm>
              <a:off x="7620000" y="2095500"/>
              <a:ext cx="3962400" cy="38100"/>
            </a:xfrm>
            <a:prstGeom prst="rect">
              <a:avLst/>
            </a:prstGeom>
            <a:solidFill>
              <a:srgbClr val="00A6A6"/>
            </a:solidFill>
            <a:ln>
              <a:noFill/>
            </a:ln>
          </p:spPr>
        </p:sp>
        <p:sp>
          <p:nvSpPr>
            <p:cNvPr id="46" name="TextBox 46"/>
            <p:cNvSpPr txBox="1"/>
            <p:nvPr/>
          </p:nvSpPr>
          <p:spPr>
            <a:xfrm>
              <a:off x="7913370" y="2290762"/>
              <a:ext cx="2975135"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Mutfak benzetmesi</a:t>
              </a:r>
            </a:p>
          </p:txBody>
        </p:sp>
        <p:sp>
          <p:nvSpPr>
            <p:cNvPr id="47" name="TextBox 47"/>
            <p:cNvSpPr txBox="1"/>
            <p:nvPr/>
          </p:nvSpPr>
          <p:spPr>
            <a:xfrm>
              <a:off x="7916799" y="2782729"/>
              <a:ext cx="278511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Aşçı, fırında pişen yemeğin</a:t>
              </a:r>
              <a:br/>
              <a:r>
                <a:rPr lang="tr-TR" sz="1580" dirty="0">
                  <a:solidFill>
                    <a:srgbClr val="172B3A"/>
                  </a:solidFill>
                  <a:latin typeface="+mn-lt"/>
                  <a:ea typeface="+mn-ea"/>
                  <a:cs typeface="+mn-cs"/>
                </a:rPr>
                <a:t>başında beklemez; yemeği</a:t>
              </a:r>
              <a:br/>
              <a:r>
                <a:rPr lang="tr-TR" sz="1580" dirty="0">
                  <a:solidFill>
                    <a:srgbClr val="172B3A"/>
                  </a:solidFill>
                  <a:latin typeface="+mn-lt"/>
                  <a:ea typeface="+mn-ea"/>
                  <a:cs typeface="+mn-cs"/>
                </a:rPr>
                <a:t>fırına verir ve başka</a:t>
              </a:r>
              <a:br/>
              <a:r>
                <a:rPr lang="tr-TR" sz="1580" dirty="0">
                  <a:solidFill>
                    <a:srgbClr val="172B3A"/>
                  </a:solidFill>
                  <a:latin typeface="+mn-lt"/>
                  <a:ea typeface="+mn-ea"/>
                  <a:cs typeface="+mn-cs"/>
                </a:rPr>
                <a:t>siparişlerle ilgilenir.</a:t>
              </a:r>
            </a:p>
          </p:txBody>
        </p:sp>
        <p:sp>
          <p:nvSpPr>
            <p:cNvPr id="48" name="TextBox 48"/>
            <p:cNvSpPr txBox="1"/>
            <p:nvPr/>
          </p:nvSpPr>
          <p:spPr>
            <a:xfrm>
              <a:off x="7916799" y="4078129"/>
              <a:ext cx="2464054"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Yemek hazır olduğunda</a:t>
              </a:r>
              <a:br/>
              <a:r>
                <a:rPr lang="tr-TR" sz="1580" dirty="0">
                  <a:solidFill>
                    <a:srgbClr val="172B3A"/>
                  </a:solidFill>
                  <a:latin typeface="+mn-lt"/>
                  <a:ea typeface="+mn-ea"/>
                  <a:cs typeface="+mn-cs"/>
                </a:rPr>
                <a:t>sipariş panosuna “hazır”</a:t>
              </a:r>
              <a:br/>
              <a:r>
                <a:rPr lang="tr-TR" sz="1580" dirty="0">
                  <a:solidFill>
                    <a:srgbClr val="172B3A"/>
                  </a:solidFill>
                  <a:latin typeface="+mn-lt"/>
                  <a:ea typeface="+mn-ea"/>
                  <a:cs typeface="+mn-cs"/>
                </a:rPr>
                <a:t>notu düşer; aşçı uygun</a:t>
              </a:r>
              <a:br/>
              <a:r>
                <a:rPr lang="tr-TR" sz="1580" dirty="0">
                  <a:solidFill>
                    <a:srgbClr val="172B3A"/>
                  </a:solidFill>
                  <a:latin typeface="+mn-lt"/>
                  <a:ea typeface="+mn-ea"/>
                  <a:cs typeface="+mn-cs"/>
                </a:rPr>
                <a:t>olduğunda onu tamamlar.</a:t>
              </a:r>
            </a:p>
          </p:txBody>
        </p:sp>
        <p:sp>
          <p:nvSpPr>
            <p:cNvPr id="49" name="Line 49"/>
            <p:cNvSpPr/>
            <p:nvPr/>
          </p:nvSpPr>
          <p:spPr>
            <a:xfrm>
              <a:off x="7924800" y="5295900"/>
              <a:ext cx="3352800" cy="9525"/>
            </a:xfrm>
            <a:custGeom>
              <a:avLst/>
              <a:gdLst/>
              <a:ahLst/>
              <a:cxnLst/>
              <a:rect l="l" t="t" r="r" b="b"/>
              <a:pathLst>
                <a:path w="3352800" h="9525">
                  <a:moveTo>
                    <a:pt x="0" y="0"/>
                  </a:moveTo>
                  <a:lnTo>
                    <a:pt x="3352800" y="0"/>
                  </a:lnTo>
                </a:path>
              </a:pathLst>
            </a:custGeom>
            <a:noFill/>
            <a:ln w="9525">
              <a:solidFill>
                <a:srgbClr val="B8CBD3"/>
              </a:solidFill>
            </a:ln>
          </p:spPr>
        </p:sp>
        <p:sp>
          <p:nvSpPr>
            <p:cNvPr id="50" name="TextBox 50"/>
            <p:cNvSpPr txBox="1"/>
            <p:nvPr/>
          </p:nvSpPr>
          <p:spPr>
            <a:xfrm>
              <a:off x="7918704" y="5452110"/>
              <a:ext cx="3090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İpucu: Asenkronluk “aynı anda her şeyi</a:t>
              </a:r>
              <a:br/>
              <a:r>
                <a:rPr lang="tr-TR" sz="1200" dirty="0">
                  <a:solidFill>
                    <a:srgbClr val="52616B"/>
                  </a:solidFill>
                  <a:latin typeface="+mn-lt"/>
                  <a:ea typeface="+mn-ea"/>
                  <a:cs typeface="+mn-cs"/>
                </a:rPr>
                <a:t>yapmak” değil; bekleme gerektiren işlerin</a:t>
              </a:r>
              <a:br/>
              <a:r>
                <a:rPr lang="tr-TR" sz="1200" dirty="0">
                  <a:solidFill>
                    <a:srgbClr val="52616B"/>
                  </a:solidFill>
                  <a:latin typeface="+mn-lt"/>
                  <a:ea typeface="+mn-ea"/>
                  <a:cs typeface="+mn-cs"/>
                </a:rPr>
                <a:t>programı gereksizce durdurmamasıdır.</a:t>
              </a:r>
            </a:p>
          </p:txBody>
        </p:sp>
      </p:grpSp>
      <p:grpSp>
        <p:nvGrpSpPr>
          <p:cNvPr id="54" name="footer"/>
          <p:cNvGrpSpPr/>
          <p:nvPr/>
        </p:nvGrpSpPr>
        <p:grpSpPr>
          <a:xfrm>
            <a:off x="603504" y="6461760"/>
            <a:ext cx="10984992" cy="234696"/>
            <a:chOff x="603504" y="6461760"/>
            <a:chExt cx="10984992" cy="234696"/>
          </a:xfrm>
        </p:grpSpPr>
        <p:sp>
          <p:nvSpPr>
            <p:cNvPr id="52" name="TextBox 52"/>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53" name="TextBox 53"/>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8"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582294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Event loop turunun aşamaları</a:t>
              </a:r>
            </a:p>
          </p:txBody>
        </p:sp>
      </p:grpSp>
      <p:grpSp>
        <p:nvGrpSpPr>
          <p:cNvPr id="20" name="tur-lead"/>
          <p:cNvGrpSpPr/>
          <p:nvPr/>
        </p:nvGrpSpPr>
        <p:grpSpPr>
          <a:xfrm>
            <a:off x="600456" y="1253490"/>
            <a:ext cx="8366760" cy="637794"/>
            <a:chOff x="600456" y="1253490"/>
            <a:chExt cx="8366760" cy="637794"/>
          </a:xfrm>
        </p:grpSpPr>
        <p:sp>
          <p:nvSpPr>
            <p:cNvPr id="19" name="TextBox 19"/>
            <p:cNvSpPr txBox="1"/>
            <p:nvPr/>
          </p:nvSpPr>
          <p:spPr>
            <a:xfrm>
              <a:off x="600456" y="1253490"/>
              <a:ext cx="8366760"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 xml:space="preserve">Bir tur, birbirini </a:t>
              </a:r>
              <a:r>
                <a:rPr lang="tr-TR" sz="1800" b="1" dirty="0">
                  <a:solidFill>
                    <a:srgbClr val="12355B"/>
                  </a:solidFill>
                  <a:latin typeface="+mn-lt"/>
                  <a:ea typeface="+mn-ea"/>
                  <a:cs typeface="+mn-cs"/>
                </a:rPr>
                <a:t>sabit sırayla</a:t>
              </a:r>
              <a:r>
                <a:rPr lang="tr-TR" sz="1800" dirty="0">
                  <a:solidFill>
                    <a:srgbClr val="172B3A"/>
                  </a:solidFill>
                  <a:latin typeface="+mn-lt"/>
                  <a:ea typeface="+mn-ea"/>
                  <a:cs typeface="+mn-cs"/>
                </a:rPr>
                <a:t xml:space="preserve"> izleyen aşamalardan oluşur; süreç yalnızca</a:t>
              </a:r>
              <a:br/>
              <a:r>
                <a:rPr lang="tr-TR" sz="1800" dirty="0">
                  <a:solidFill>
                    <a:srgbClr val="172B3A"/>
                  </a:solidFill>
                  <a:latin typeface="+mn-lt"/>
                  <a:ea typeface="+mn-ea"/>
                  <a:cs typeface="+mn-cs"/>
                </a:rPr>
                <a:t>hiçbir aşamada bekleyen iş kalmayınca sonlanır.</a:t>
              </a:r>
            </a:p>
          </p:txBody>
        </p:sp>
      </p:grpSp>
      <p:grpSp>
        <p:nvGrpSpPr>
          <p:cNvPr id="55" name="tur-asamalari"/>
          <p:cNvGrpSpPr/>
          <p:nvPr/>
        </p:nvGrpSpPr>
        <p:grpSpPr>
          <a:xfrm>
            <a:off x="609600" y="2190750"/>
            <a:ext cx="10972800" cy="1724025"/>
            <a:chOff x="609600" y="2190750"/>
            <a:chExt cx="10972800" cy="1724025"/>
          </a:xfrm>
        </p:grpSpPr>
        <p:grpSp>
          <p:nvGrpSpPr>
            <p:cNvPr id="25" name="asama-timers"/>
            <p:cNvGrpSpPr/>
            <p:nvPr/>
          </p:nvGrpSpPr>
          <p:grpSpPr>
            <a:xfrm>
              <a:off x="609600" y="2190750"/>
              <a:ext cx="1905000" cy="962406"/>
              <a:chOff x="609600" y="2190750"/>
              <a:chExt cx="1905000" cy="962406"/>
            </a:xfrm>
          </p:grpSpPr>
          <p:sp>
            <p:nvSpPr>
              <p:cNvPr id="21" name="Rectangle 21"/>
              <p:cNvSpPr/>
              <p:nvPr/>
            </p:nvSpPr>
            <p:spPr>
              <a:xfrm>
                <a:off x="609600" y="2190750"/>
                <a:ext cx="1905000" cy="952500"/>
              </a:xfrm>
              <a:prstGeom prst="rect">
                <a:avLst/>
              </a:prstGeom>
              <a:solidFill>
                <a:srgbClr val="FFFFFF"/>
              </a:solidFill>
              <a:ln w="9525">
                <a:solidFill>
                  <a:srgbClr val="00A6A6"/>
                </a:solidFill>
              </a:ln>
            </p:spPr>
          </p:sp>
          <p:sp>
            <p:nvSpPr>
              <p:cNvPr id="22" name="Rectangle 22"/>
              <p:cNvSpPr/>
              <p:nvPr/>
            </p:nvSpPr>
            <p:spPr>
              <a:xfrm>
                <a:off x="609600" y="2190750"/>
                <a:ext cx="1905000" cy="38100"/>
              </a:xfrm>
              <a:prstGeom prst="rect">
                <a:avLst/>
              </a:prstGeom>
              <a:solidFill>
                <a:srgbClr val="00A6A6"/>
              </a:solidFill>
              <a:ln>
                <a:noFill/>
              </a:ln>
            </p:spPr>
          </p:sp>
          <p:sp>
            <p:nvSpPr>
              <p:cNvPr id="23" name="TextBox 23"/>
              <p:cNvSpPr txBox="1"/>
              <p:nvPr/>
            </p:nvSpPr>
            <p:spPr>
              <a:xfrm>
                <a:off x="1191180" y="2420779"/>
                <a:ext cx="741839"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timers</a:t>
                </a:r>
              </a:p>
            </p:txBody>
          </p:sp>
          <p:sp>
            <p:nvSpPr>
              <p:cNvPr id="24" name="TextBox 24"/>
              <p:cNvSpPr txBox="1"/>
              <p:nvPr/>
            </p:nvSpPr>
            <p:spPr>
              <a:xfrm>
                <a:off x="1098804" y="2727960"/>
                <a:ext cx="92659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setTimeout,</a:t>
                </a:r>
                <a:br/>
                <a:r>
                  <a:rPr lang="tr-TR" sz="1200" dirty="0">
                    <a:solidFill>
                      <a:srgbClr val="52616B"/>
                    </a:solidFill>
                    <a:latin typeface="+mn-lt"/>
                    <a:ea typeface="+mn-ea"/>
                    <a:cs typeface="+mn-cs"/>
                  </a:rPr>
                  <a:t>setInterval</a:t>
                </a:r>
              </a:p>
            </p:txBody>
          </p:sp>
        </p:grpSp>
        <p:sp>
          <p:nvSpPr>
            <p:cNvPr id="26" name="Line 26"/>
            <p:cNvSpPr/>
            <p:nvPr/>
          </p:nvSpPr>
          <p:spPr>
            <a:xfrm>
              <a:off x="2552700" y="2667000"/>
              <a:ext cx="266700" cy="1"/>
            </a:xfrm>
            <a:prstGeom prst="line">
              <a:avLst/>
            </a:prstGeom>
            <a:noFill/>
            <a:ln w="19050">
              <a:solidFill>
                <a:srgbClr val="00A6A6"/>
              </a:solidFill>
              <a:tailEnd type="triangle" w="lg" len="lg"/>
            </a:ln>
          </p:spPr>
        </p:sp>
        <p:grpSp>
          <p:nvGrpSpPr>
            <p:cNvPr id="31" name="asama-pending"/>
            <p:cNvGrpSpPr/>
            <p:nvPr/>
          </p:nvGrpSpPr>
          <p:grpSpPr>
            <a:xfrm>
              <a:off x="2876550" y="2190750"/>
              <a:ext cx="1905000" cy="962406"/>
              <a:chOff x="2876550" y="2190750"/>
              <a:chExt cx="1905000" cy="962406"/>
            </a:xfrm>
          </p:grpSpPr>
          <p:sp>
            <p:nvSpPr>
              <p:cNvPr id="27" name="Rectangle 27"/>
              <p:cNvSpPr/>
              <p:nvPr/>
            </p:nvSpPr>
            <p:spPr>
              <a:xfrm>
                <a:off x="2876550" y="2190750"/>
                <a:ext cx="1905000" cy="952500"/>
              </a:xfrm>
              <a:prstGeom prst="rect">
                <a:avLst/>
              </a:prstGeom>
              <a:solidFill>
                <a:srgbClr val="FFFFFF"/>
              </a:solidFill>
              <a:ln w="9525">
                <a:solidFill>
                  <a:srgbClr val="B8CBD3"/>
                </a:solidFill>
              </a:ln>
            </p:spPr>
          </p:sp>
          <p:sp>
            <p:nvSpPr>
              <p:cNvPr id="28" name="Rectangle 28"/>
              <p:cNvSpPr/>
              <p:nvPr/>
            </p:nvSpPr>
            <p:spPr>
              <a:xfrm>
                <a:off x="2876550" y="2190750"/>
                <a:ext cx="1905000" cy="38100"/>
              </a:xfrm>
              <a:prstGeom prst="rect">
                <a:avLst/>
              </a:prstGeom>
              <a:solidFill>
                <a:srgbClr val="B8CBD3"/>
              </a:solidFill>
              <a:ln>
                <a:noFill/>
              </a:ln>
            </p:spPr>
          </p:sp>
          <p:sp>
            <p:nvSpPr>
              <p:cNvPr id="29" name="TextBox 29"/>
              <p:cNvSpPr txBox="1"/>
              <p:nvPr/>
            </p:nvSpPr>
            <p:spPr>
              <a:xfrm>
                <a:off x="3419047" y="2420779"/>
                <a:ext cx="820006"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pending</a:t>
                </a:r>
              </a:p>
            </p:txBody>
          </p:sp>
          <p:sp>
            <p:nvSpPr>
              <p:cNvPr id="30" name="TextBox 30"/>
              <p:cNvSpPr txBox="1"/>
              <p:nvPr/>
            </p:nvSpPr>
            <p:spPr>
              <a:xfrm>
                <a:off x="3194304" y="2727960"/>
                <a:ext cx="126949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ertelenen sistem</a:t>
                </a:r>
                <a:br/>
                <a:r>
                  <a:rPr lang="tr-TR" sz="1200" dirty="0">
                    <a:solidFill>
                      <a:srgbClr val="52616B"/>
                    </a:solidFill>
                    <a:latin typeface="+mn-lt"/>
                    <a:ea typeface="+mn-ea"/>
                    <a:cs typeface="+mn-cs"/>
                  </a:rPr>
                  <a:t>geri çağrımları</a:t>
                </a:r>
              </a:p>
            </p:txBody>
          </p:sp>
        </p:grpSp>
        <p:sp>
          <p:nvSpPr>
            <p:cNvPr id="32" name="Line 32"/>
            <p:cNvSpPr/>
            <p:nvPr/>
          </p:nvSpPr>
          <p:spPr>
            <a:xfrm>
              <a:off x="4819650" y="2667000"/>
              <a:ext cx="266700" cy="1"/>
            </a:xfrm>
            <a:prstGeom prst="line">
              <a:avLst/>
            </a:prstGeom>
            <a:noFill/>
            <a:ln w="19050">
              <a:solidFill>
                <a:srgbClr val="00A6A6"/>
              </a:solidFill>
              <a:tailEnd type="triangle" w="lg" len="lg"/>
            </a:ln>
          </p:spPr>
        </p:sp>
        <p:grpSp>
          <p:nvGrpSpPr>
            <p:cNvPr id="36" name="asama-poll"/>
            <p:cNvGrpSpPr/>
            <p:nvPr/>
          </p:nvGrpSpPr>
          <p:grpSpPr>
            <a:xfrm>
              <a:off x="5143500" y="2190750"/>
              <a:ext cx="1905000" cy="962406"/>
              <a:chOff x="5143500" y="2190750"/>
              <a:chExt cx="1905000" cy="962406"/>
            </a:xfrm>
          </p:grpSpPr>
          <p:sp>
            <p:nvSpPr>
              <p:cNvPr id="33" name="Rectangle 33"/>
              <p:cNvSpPr/>
              <p:nvPr/>
            </p:nvSpPr>
            <p:spPr>
              <a:xfrm>
                <a:off x="5143500" y="2190750"/>
                <a:ext cx="1905000" cy="952500"/>
              </a:xfrm>
              <a:prstGeom prst="rect">
                <a:avLst/>
              </a:prstGeom>
              <a:solidFill>
                <a:srgbClr val="12355B"/>
              </a:solidFill>
              <a:ln>
                <a:noFill/>
              </a:ln>
            </p:spPr>
          </p:sp>
          <p:sp>
            <p:nvSpPr>
              <p:cNvPr id="34" name="TextBox 34"/>
              <p:cNvSpPr txBox="1"/>
              <p:nvPr/>
            </p:nvSpPr>
            <p:spPr>
              <a:xfrm>
                <a:off x="5898165" y="2420779"/>
                <a:ext cx="395671"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poll</a:t>
                </a:r>
              </a:p>
            </p:txBody>
          </p:sp>
          <p:sp>
            <p:nvSpPr>
              <p:cNvPr id="35" name="TextBox 35"/>
              <p:cNvSpPr txBox="1"/>
              <p:nvPr/>
            </p:nvSpPr>
            <p:spPr>
              <a:xfrm>
                <a:off x="5388864" y="2727960"/>
                <a:ext cx="141427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EAF4F6"/>
                    </a:solidFill>
                    <a:latin typeface="+mn-lt"/>
                    <a:ea typeface="+mn-ea"/>
                    <a:cs typeface="+mn-cs"/>
                  </a:rPr>
                  <a:t>yeni G/Ç olaylarını</a:t>
                </a:r>
                <a:br/>
                <a:r>
                  <a:rPr lang="tr-TR" sz="1200" dirty="0">
                    <a:solidFill>
                      <a:srgbClr val="EAF4F6"/>
                    </a:solidFill>
                    <a:latin typeface="+mn-lt"/>
                    <a:ea typeface="+mn-ea"/>
                    <a:cs typeface="+mn-cs"/>
                  </a:rPr>
                  <a:t>toplar</a:t>
                </a:r>
              </a:p>
            </p:txBody>
          </p:sp>
        </p:grpSp>
        <p:sp>
          <p:nvSpPr>
            <p:cNvPr id="37" name="Line 37"/>
            <p:cNvSpPr/>
            <p:nvPr/>
          </p:nvSpPr>
          <p:spPr>
            <a:xfrm>
              <a:off x="7086600" y="2667000"/>
              <a:ext cx="266700" cy="1"/>
            </a:xfrm>
            <a:prstGeom prst="line">
              <a:avLst/>
            </a:prstGeom>
            <a:noFill/>
            <a:ln w="19050">
              <a:solidFill>
                <a:srgbClr val="00A6A6"/>
              </a:solidFill>
              <a:tailEnd type="triangle" w="lg" len="lg"/>
            </a:ln>
          </p:spPr>
        </p:sp>
        <p:grpSp>
          <p:nvGrpSpPr>
            <p:cNvPr id="42" name="asama-check"/>
            <p:cNvGrpSpPr/>
            <p:nvPr/>
          </p:nvGrpSpPr>
          <p:grpSpPr>
            <a:xfrm>
              <a:off x="7410450" y="2190750"/>
              <a:ext cx="1905000" cy="952500"/>
              <a:chOff x="7410450" y="2190750"/>
              <a:chExt cx="1905000" cy="952500"/>
            </a:xfrm>
          </p:grpSpPr>
          <p:sp>
            <p:nvSpPr>
              <p:cNvPr id="38" name="Rectangle 38"/>
              <p:cNvSpPr/>
              <p:nvPr/>
            </p:nvSpPr>
            <p:spPr>
              <a:xfrm>
                <a:off x="7410450" y="2190750"/>
                <a:ext cx="1905000" cy="952500"/>
              </a:xfrm>
              <a:prstGeom prst="rect">
                <a:avLst/>
              </a:prstGeom>
              <a:solidFill>
                <a:srgbClr val="FFFFFF"/>
              </a:solidFill>
              <a:ln w="9525">
                <a:solidFill>
                  <a:srgbClr val="2E86AB"/>
                </a:solidFill>
              </a:ln>
            </p:spPr>
          </p:sp>
          <p:sp>
            <p:nvSpPr>
              <p:cNvPr id="39" name="Rectangle 39"/>
              <p:cNvSpPr/>
              <p:nvPr/>
            </p:nvSpPr>
            <p:spPr>
              <a:xfrm>
                <a:off x="7410450" y="2190750"/>
                <a:ext cx="1905000" cy="38100"/>
              </a:xfrm>
              <a:prstGeom prst="rect">
                <a:avLst/>
              </a:prstGeom>
              <a:solidFill>
                <a:srgbClr val="2E86AB"/>
              </a:solidFill>
              <a:ln>
                <a:noFill/>
              </a:ln>
            </p:spPr>
          </p:sp>
          <p:sp>
            <p:nvSpPr>
              <p:cNvPr id="40" name="TextBox 40"/>
              <p:cNvSpPr txBox="1"/>
              <p:nvPr/>
            </p:nvSpPr>
            <p:spPr>
              <a:xfrm>
                <a:off x="8047864" y="2420779"/>
                <a:ext cx="630172"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check</a:t>
                </a:r>
              </a:p>
            </p:txBody>
          </p:sp>
          <p:sp>
            <p:nvSpPr>
              <p:cNvPr id="41" name="TextBox 41"/>
              <p:cNvSpPr txBox="1"/>
              <p:nvPr/>
            </p:nvSpPr>
            <p:spPr>
              <a:xfrm>
                <a:off x="7829360" y="2727960"/>
                <a:ext cx="1067181"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setImmediate</a:t>
                </a:r>
              </a:p>
            </p:txBody>
          </p:sp>
        </p:grpSp>
        <p:sp>
          <p:nvSpPr>
            <p:cNvPr id="43" name="Line 43"/>
            <p:cNvSpPr/>
            <p:nvPr/>
          </p:nvSpPr>
          <p:spPr>
            <a:xfrm>
              <a:off x="9353550" y="2667000"/>
              <a:ext cx="266700" cy="1"/>
            </a:xfrm>
            <a:prstGeom prst="line">
              <a:avLst/>
            </a:prstGeom>
            <a:noFill/>
            <a:ln w="19050">
              <a:solidFill>
                <a:srgbClr val="00A6A6"/>
              </a:solidFill>
              <a:tailEnd type="triangle" w="lg" len="lg"/>
            </a:ln>
          </p:spPr>
        </p:sp>
        <p:grpSp>
          <p:nvGrpSpPr>
            <p:cNvPr id="48" name="asama-close"/>
            <p:cNvGrpSpPr/>
            <p:nvPr/>
          </p:nvGrpSpPr>
          <p:grpSpPr>
            <a:xfrm>
              <a:off x="9677400" y="2190750"/>
              <a:ext cx="1905000" cy="962406"/>
              <a:chOff x="9677400" y="2190750"/>
              <a:chExt cx="1905000" cy="962406"/>
            </a:xfrm>
          </p:grpSpPr>
          <p:sp>
            <p:nvSpPr>
              <p:cNvPr id="44" name="Rectangle 44"/>
              <p:cNvSpPr/>
              <p:nvPr/>
            </p:nvSpPr>
            <p:spPr>
              <a:xfrm>
                <a:off x="9677400" y="2190750"/>
                <a:ext cx="1905000" cy="952500"/>
              </a:xfrm>
              <a:prstGeom prst="rect">
                <a:avLst/>
              </a:prstGeom>
              <a:solidFill>
                <a:srgbClr val="FFFFFF"/>
              </a:solidFill>
              <a:ln w="9525">
                <a:solidFill>
                  <a:srgbClr val="B8CBD3"/>
                </a:solidFill>
              </a:ln>
            </p:spPr>
          </p:sp>
          <p:sp>
            <p:nvSpPr>
              <p:cNvPr id="45" name="Rectangle 45"/>
              <p:cNvSpPr/>
              <p:nvPr/>
            </p:nvSpPr>
            <p:spPr>
              <a:xfrm>
                <a:off x="9677400" y="2190750"/>
                <a:ext cx="1905000" cy="38100"/>
              </a:xfrm>
              <a:prstGeom prst="rect">
                <a:avLst/>
              </a:prstGeom>
              <a:solidFill>
                <a:srgbClr val="B8CBD3"/>
              </a:solidFill>
              <a:ln>
                <a:noFill/>
              </a:ln>
            </p:spPr>
          </p:sp>
          <p:sp>
            <p:nvSpPr>
              <p:cNvPr id="46" name="TextBox 46"/>
              <p:cNvSpPr txBox="1"/>
              <p:nvPr/>
            </p:nvSpPr>
            <p:spPr>
              <a:xfrm>
                <a:off x="10342731" y="2420779"/>
                <a:ext cx="574338"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close</a:t>
                </a:r>
              </a:p>
            </p:txBody>
          </p:sp>
          <p:sp>
            <p:nvSpPr>
              <p:cNvPr id="47" name="TextBox 47"/>
              <p:cNvSpPr txBox="1"/>
              <p:nvPr/>
            </p:nvSpPr>
            <p:spPr>
              <a:xfrm>
                <a:off x="10010394" y="2727960"/>
                <a:ext cx="123901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kapanış olayları</a:t>
                </a:r>
                <a:br/>
                <a:r>
                  <a:rPr lang="tr-TR" sz="1200" dirty="0">
                    <a:solidFill>
                      <a:srgbClr val="52616B"/>
                    </a:solidFill>
                    <a:latin typeface="+mn-lt"/>
                    <a:ea typeface="+mn-ea"/>
                    <a:cs typeface="+mn-cs"/>
                  </a:rPr>
                  <a:t>(socket)</a:t>
                </a:r>
              </a:p>
            </p:txBody>
          </p:sp>
        </p:grpSp>
        <p:sp>
          <p:nvSpPr>
            <p:cNvPr id="49" name="Line 49"/>
            <p:cNvSpPr/>
            <p:nvPr/>
          </p:nvSpPr>
          <p:spPr>
            <a:xfrm>
              <a:off x="6096000" y="3143250"/>
              <a:ext cx="9525" cy="209550"/>
            </a:xfrm>
            <a:custGeom>
              <a:avLst/>
              <a:gdLst/>
              <a:ahLst/>
              <a:cxnLst/>
              <a:rect l="l" t="t" r="r" b="b"/>
              <a:pathLst>
                <a:path w="9525" h="209550">
                  <a:moveTo>
                    <a:pt x="0" y="0"/>
                  </a:moveTo>
                  <a:lnTo>
                    <a:pt x="0" y="209550"/>
                  </a:lnTo>
                </a:path>
              </a:pathLst>
            </a:custGeom>
            <a:noFill/>
            <a:ln w="9525">
              <a:solidFill>
                <a:srgbClr val="12355B"/>
              </a:solidFill>
            </a:ln>
          </p:spPr>
        </p:sp>
        <p:sp>
          <p:nvSpPr>
            <p:cNvPr id="50" name="TextBox 50"/>
            <p:cNvSpPr txBox="1"/>
            <p:nvPr/>
          </p:nvSpPr>
          <p:spPr>
            <a:xfrm>
              <a:off x="3106652" y="3432810"/>
              <a:ext cx="5978697"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mn-lt"/>
                  <a:ea typeface="+mn-ea"/>
                  <a:cs typeface="+mn-cs"/>
                </a:rPr>
                <a:t>Kuyruk boşken döngü boşa dönmez: yeni bir olay gelene kadar burada bekler.</a:t>
              </a:r>
            </a:p>
          </p:txBody>
        </p:sp>
        <p:grpSp>
          <p:nvGrpSpPr>
            <p:cNvPr id="54" name="tur-donusu"/>
            <p:cNvGrpSpPr/>
            <p:nvPr/>
          </p:nvGrpSpPr>
          <p:grpSpPr>
            <a:xfrm>
              <a:off x="1562100" y="3143250"/>
              <a:ext cx="9077325" cy="771525"/>
              <a:chOff x="1562100" y="3143250"/>
              <a:chExt cx="9077325" cy="771525"/>
            </a:xfrm>
          </p:grpSpPr>
          <p:sp>
            <p:nvSpPr>
              <p:cNvPr id="51" name="Line 51"/>
              <p:cNvSpPr/>
              <p:nvPr/>
            </p:nvSpPr>
            <p:spPr>
              <a:xfrm>
                <a:off x="10629900" y="3143250"/>
                <a:ext cx="9525" cy="762000"/>
              </a:xfrm>
              <a:custGeom>
                <a:avLst/>
                <a:gdLst/>
                <a:ahLst/>
                <a:cxnLst/>
                <a:rect l="l" t="t" r="r" b="b"/>
                <a:pathLst>
                  <a:path w="9525" h="762000">
                    <a:moveTo>
                      <a:pt x="0" y="0"/>
                    </a:moveTo>
                    <a:lnTo>
                      <a:pt x="0" y="762000"/>
                    </a:lnTo>
                  </a:path>
                </a:pathLst>
              </a:custGeom>
              <a:noFill/>
              <a:ln w="19050">
                <a:solidFill>
                  <a:srgbClr val="00A6A6"/>
                </a:solidFill>
                <a:prstDash val="lgDash"/>
              </a:ln>
            </p:spPr>
          </p:sp>
          <p:sp>
            <p:nvSpPr>
              <p:cNvPr id="52" name="Line 52"/>
              <p:cNvSpPr/>
              <p:nvPr/>
            </p:nvSpPr>
            <p:spPr>
              <a:xfrm>
                <a:off x="1562100" y="3905250"/>
                <a:ext cx="9067800" cy="9525"/>
              </a:xfrm>
              <a:custGeom>
                <a:avLst/>
                <a:gdLst/>
                <a:ahLst/>
                <a:cxnLst/>
                <a:rect l="l" t="t" r="r" b="b"/>
                <a:pathLst>
                  <a:path w="9067800" h="9525">
                    <a:moveTo>
                      <a:pt x="9067800" y="0"/>
                    </a:moveTo>
                    <a:lnTo>
                      <a:pt x="0" y="0"/>
                    </a:lnTo>
                  </a:path>
                </a:pathLst>
              </a:custGeom>
              <a:noFill/>
              <a:ln w="19050">
                <a:solidFill>
                  <a:srgbClr val="00A6A6"/>
                </a:solidFill>
                <a:prstDash val="lgDash"/>
              </a:ln>
            </p:spPr>
          </p:sp>
          <p:sp>
            <p:nvSpPr>
              <p:cNvPr id="53" name="Line 53"/>
              <p:cNvSpPr/>
              <p:nvPr/>
            </p:nvSpPr>
            <p:spPr>
              <a:xfrm flipV="1">
                <a:off x="1562100" y="3181350"/>
                <a:ext cx="1" cy="723900"/>
              </a:xfrm>
              <a:prstGeom prst="line">
                <a:avLst/>
              </a:prstGeom>
              <a:noFill/>
              <a:ln w="19050">
                <a:solidFill>
                  <a:srgbClr val="00A6A6"/>
                </a:solidFill>
                <a:prstDash val="lgDash"/>
                <a:tailEnd type="triangle" w="lg" len="lg"/>
              </a:ln>
            </p:spPr>
          </p:sp>
        </p:grpSp>
      </p:grpSp>
      <p:grpSp>
        <p:nvGrpSpPr>
          <p:cNvPr id="69" name="zamanlayici-karsilastirma"/>
          <p:cNvGrpSpPr/>
          <p:nvPr/>
        </p:nvGrpSpPr>
        <p:grpSpPr>
          <a:xfrm>
            <a:off x="603504" y="4476750"/>
            <a:ext cx="10978896" cy="1743456"/>
            <a:chOff x="603504" y="4476750"/>
            <a:chExt cx="10978896" cy="1743456"/>
          </a:xfrm>
        </p:grpSpPr>
        <p:grpSp>
          <p:nvGrpSpPr>
            <p:cNvPr id="61" name="karsilastirma-timeout"/>
            <p:cNvGrpSpPr/>
            <p:nvPr/>
          </p:nvGrpSpPr>
          <p:grpSpPr>
            <a:xfrm>
              <a:off x="609600" y="4476750"/>
              <a:ext cx="5334000" cy="1047750"/>
              <a:chOff x="609600" y="4476750"/>
              <a:chExt cx="5334000" cy="1047750"/>
            </a:xfrm>
          </p:grpSpPr>
          <p:sp>
            <p:nvSpPr>
              <p:cNvPr id="56" name="Rectangle 56"/>
              <p:cNvSpPr/>
              <p:nvPr/>
            </p:nvSpPr>
            <p:spPr>
              <a:xfrm>
                <a:off x="609600" y="4476750"/>
                <a:ext cx="5334000" cy="1047750"/>
              </a:xfrm>
              <a:prstGeom prst="rect">
                <a:avLst/>
              </a:prstGeom>
              <a:solidFill>
                <a:srgbClr val="FFFFFF"/>
              </a:solidFill>
              <a:ln w="9525">
                <a:solidFill>
                  <a:srgbClr val="B8CBD3"/>
                </a:solidFill>
              </a:ln>
            </p:spPr>
          </p:sp>
          <p:sp>
            <p:nvSpPr>
              <p:cNvPr id="57" name="Rectangle 57"/>
              <p:cNvSpPr/>
              <p:nvPr/>
            </p:nvSpPr>
            <p:spPr>
              <a:xfrm>
                <a:off x="609600" y="4476750"/>
                <a:ext cx="57150" cy="1047750"/>
              </a:xfrm>
              <a:prstGeom prst="rect">
                <a:avLst/>
              </a:prstGeom>
              <a:solidFill>
                <a:srgbClr val="00A6A6"/>
              </a:solidFill>
              <a:ln>
                <a:noFill/>
              </a:ln>
            </p:spPr>
          </p:sp>
          <p:sp>
            <p:nvSpPr>
              <p:cNvPr id="58" name="TextBox 58"/>
              <p:cNvSpPr txBox="1"/>
              <p:nvPr/>
            </p:nvSpPr>
            <p:spPr>
              <a:xfrm>
                <a:off x="945261" y="4665821"/>
                <a:ext cx="1810259"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setTimeout(fn, 0)</a:t>
                </a:r>
              </a:p>
            </p:txBody>
          </p:sp>
          <p:sp>
            <p:nvSpPr>
              <p:cNvPr id="59" name="TextBox 59"/>
              <p:cNvSpPr txBox="1"/>
              <p:nvPr/>
            </p:nvSpPr>
            <p:spPr>
              <a:xfrm>
                <a:off x="944499" y="4935379"/>
                <a:ext cx="2929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timers aşamasında çalışır.</a:t>
                </a:r>
              </a:p>
            </p:txBody>
          </p:sp>
          <p:sp>
            <p:nvSpPr>
              <p:cNvPr id="60" name="TextBox 60"/>
              <p:cNvSpPr txBox="1"/>
              <p:nvPr/>
            </p:nvSpPr>
            <p:spPr>
              <a:xfrm>
                <a:off x="946404" y="5223510"/>
                <a:ext cx="36361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Süre dolsa bile ana akış boşalmadan çalışmaz.</a:t>
                </a:r>
              </a:p>
            </p:txBody>
          </p:sp>
        </p:grpSp>
        <p:grpSp>
          <p:nvGrpSpPr>
            <p:cNvPr id="67" name="karsilastirma-immediate"/>
            <p:cNvGrpSpPr/>
            <p:nvPr/>
          </p:nvGrpSpPr>
          <p:grpSpPr>
            <a:xfrm>
              <a:off x="6248400" y="4476750"/>
              <a:ext cx="5334000" cy="1047750"/>
              <a:chOff x="6248400" y="4476750"/>
              <a:chExt cx="5334000" cy="1047750"/>
            </a:xfrm>
          </p:grpSpPr>
          <p:sp>
            <p:nvSpPr>
              <p:cNvPr id="62" name="Rectangle 62"/>
              <p:cNvSpPr/>
              <p:nvPr/>
            </p:nvSpPr>
            <p:spPr>
              <a:xfrm>
                <a:off x="6248400" y="4476750"/>
                <a:ext cx="5334000" cy="1047750"/>
              </a:xfrm>
              <a:prstGeom prst="rect">
                <a:avLst/>
              </a:prstGeom>
              <a:solidFill>
                <a:srgbClr val="FFFFFF"/>
              </a:solidFill>
              <a:ln w="9525">
                <a:solidFill>
                  <a:srgbClr val="B8CBD3"/>
                </a:solidFill>
              </a:ln>
            </p:spPr>
          </p:sp>
          <p:sp>
            <p:nvSpPr>
              <p:cNvPr id="63" name="Rectangle 63"/>
              <p:cNvSpPr/>
              <p:nvPr/>
            </p:nvSpPr>
            <p:spPr>
              <a:xfrm>
                <a:off x="6248400" y="4476750"/>
                <a:ext cx="57150" cy="1047750"/>
              </a:xfrm>
              <a:prstGeom prst="rect">
                <a:avLst/>
              </a:prstGeom>
              <a:solidFill>
                <a:srgbClr val="2E86AB"/>
              </a:solidFill>
              <a:ln>
                <a:noFill/>
              </a:ln>
            </p:spPr>
          </p:sp>
          <p:sp>
            <p:nvSpPr>
              <p:cNvPr id="64" name="TextBox 64"/>
              <p:cNvSpPr txBox="1"/>
              <p:nvPr/>
            </p:nvSpPr>
            <p:spPr>
              <a:xfrm>
                <a:off x="6584061" y="4665821"/>
                <a:ext cx="1703491"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setImmediate(fn)</a:t>
                </a:r>
              </a:p>
            </p:txBody>
          </p:sp>
          <p:sp>
            <p:nvSpPr>
              <p:cNvPr id="65" name="TextBox 65"/>
              <p:cNvSpPr txBox="1"/>
              <p:nvPr/>
            </p:nvSpPr>
            <p:spPr>
              <a:xfrm>
                <a:off x="6583299" y="4935379"/>
                <a:ext cx="282363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check aşamasında çalışır.</a:t>
                </a:r>
              </a:p>
            </p:txBody>
          </p:sp>
          <p:sp>
            <p:nvSpPr>
              <p:cNvPr id="66" name="TextBox 66"/>
              <p:cNvSpPr txBox="1"/>
              <p:nvPr/>
            </p:nvSpPr>
            <p:spPr>
              <a:xfrm>
                <a:off x="6585204" y="5223510"/>
                <a:ext cx="386224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Poll aşaması bittikten hemen sonra sıraya gelir.</a:t>
                </a:r>
              </a:p>
            </p:txBody>
          </p:sp>
        </p:grpSp>
        <p:sp>
          <p:nvSpPr>
            <p:cNvPr id="68" name="TextBox 68"/>
            <p:cNvSpPr txBox="1"/>
            <p:nvPr/>
          </p:nvSpPr>
          <p:spPr>
            <a:xfrm>
              <a:off x="603504" y="5775960"/>
              <a:ext cx="97429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Ana modülde hangisinin önce çalışacağı süreç başlangıç gecikmesine bağlıdır; ancak bir G/Ç geri çağrısının içinde yazıldıklarında</a:t>
              </a:r>
              <a:br/>
              <a:r>
                <a:rPr lang="tr-TR" sz="1200" dirty="0">
                  <a:solidFill>
                    <a:srgbClr val="52616B"/>
                  </a:solidFill>
                  <a:latin typeface="+mn-lt"/>
                  <a:ea typeface="+mn-ea"/>
                  <a:cs typeface="+mn-cs"/>
                </a:rPr>
                <a:t>setImmediate her zaman setTimeout'tan önce çalışır.</a:t>
              </a:r>
            </a:p>
          </p:txBody>
        </p:sp>
      </p:grpSp>
      <p:grpSp>
        <p:nvGrpSpPr>
          <p:cNvPr id="72" name="footer"/>
          <p:cNvGrpSpPr/>
          <p:nvPr/>
        </p:nvGrpSpPr>
        <p:grpSpPr>
          <a:xfrm>
            <a:off x="603504" y="6461760"/>
            <a:ext cx="10984992" cy="234696"/>
            <a:chOff x="603504" y="6461760"/>
            <a:chExt cx="10984992" cy="234696"/>
          </a:xfrm>
        </p:grpSpPr>
        <p:sp>
          <p:nvSpPr>
            <p:cNvPr id="70" name="TextBox 70"/>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71" name="TextBox 71"/>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78378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Çalışma sırası: senkron kod önce biter</a:t>
              </a:r>
            </a:p>
          </p:txBody>
        </p:sp>
      </p:grpSp>
      <p:grpSp>
        <p:nvGrpSpPr>
          <p:cNvPr id="16" name="kod"/>
          <p:cNvGrpSpPr/>
          <p:nvPr/>
        </p:nvGrpSpPr>
        <p:grpSpPr>
          <a:xfrm>
            <a:off x="603504" y="1261110"/>
            <a:ext cx="6292596" cy="2320290"/>
            <a:chOff x="603504" y="1261110"/>
            <a:chExt cx="6292596" cy="2320290"/>
          </a:xfrm>
        </p:grpSpPr>
        <p:sp>
          <p:nvSpPr>
            <p:cNvPr id="12" name="TextBox 12"/>
            <p:cNvSpPr txBox="1"/>
            <p:nvPr/>
          </p:nvSpPr>
          <p:spPr>
            <a:xfrm>
              <a:off x="603504" y="1261110"/>
              <a:ext cx="189670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src/eventLoopSirasi.ts</a:t>
              </a:r>
            </a:p>
          </p:txBody>
        </p:sp>
        <p:sp>
          <p:nvSpPr>
            <p:cNvPr id="13" name="Rectangle 13"/>
            <p:cNvSpPr/>
            <p:nvPr/>
          </p:nvSpPr>
          <p:spPr>
            <a:xfrm>
              <a:off x="609600" y="1504950"/>
              <a:ext cx="6286500" cy="2076450"/>
            </a:xfrm>
            <a:prstGeom prst="rect">
              <a:avLst/>
            </a:prstGeom>
            <a:solidFill>
              <a:srgbClr val="12355B"/>
            </a:solidFill>
            <a:ln>
              <a:noFill/>
            </a:ln>
          </p:spPr>
        </p:sp>
        <p:sp>
          <p:nvSpPr>
            <p:cNvPr id="14" name="Rectangle 14"/>
            <p:cNvSpPr/>
            <p:nvPr/>
          </p:nvSpPr>
          <p:spPr>
            <a:xfrm>
              <a:off x="609600" y="1504950"/>
              <a:ext cx="38100" cy="2076450"/>
            </a:xfrm>
            <a:prstGeom prst="rect">
              <a:avLst/>
            </a:prstGeom>
            <a:solidFill>
              <a:srgbClr val="00A6A6"/>
            </a:solidFill>
            <a:ln>
              <a:noFill/>
            </a:ln>
          </p:spPr>
        </p:sp>
        <p:sp>
          <p:nvSpPr>
            <p:cNvPr id="15" name="TextBox 15"/>
            <p:cNvSpPr txBox="1"/>
            <p:nvPr/>
          </p:nvSpPr>
          <p:spPr>
            <a:xfrm>
              <a:off x="907161" y="1655921"/>
              <a:ext cx="4477893" cy="1345502"/>
            </a:xfrm>
            <a:prstGeom prst="rect">
              <a:avLst/>
            </a:prstGeom>
            <a:noFill/>
            <a:ln>
              <a:noFill/>
            </a:ln>
          </p:spPr>
          <p:txBody>
            <a:bodyPr wrap="none" lIns="0" tIns="0" rIns="0" bIns="0" anchor="t" anchorCtr="0">
              <a:spAutoFit/>
            </a:bodyPr>
            <a:lstStyle/>
            <a:p>
              <a:pPr algn="l">
                <a:lnSpc>
                  <a:spcPts val="2100"/>
                </a:lnSpc>
              </a:pPr>
              <a:r>
                <a:rPr lang="tr-TR" sz="1420" dirty="0">
                  <a:solidFill>
                    <a:srgbClr val="EAF4F6"/>
                  </a:solidFill>
                  <a:latin typeface="Consolas"/>
                  <a:ea typeface="Consolas"/>
                  <a:cs typeface="Consolas"/>
                </a:rPr>
                <a:t>console.log("1. Sipariş alınmaya başlandı.");</a:t>
              </a:r>
              <a:br/>
              <a:r>
                <a:rPr lang="tr-TR" sz="1420" dirty="0">
                  <a:solidFill>
                    <a:srgbClr val="EAF4F6"/>
                  </a:solidFill>
                  <a:latin typeface="Consolas"/>
                  <a:ea typeface="Consolas"/>
                  <a:cs typeface="Consolas"/>
                </a:rPr>
                <a:t>setTimeout(() =&gt; {</a:t>
              </a:r>
              <a:br/>
              <a:r>
                <a:rPr lang="tr-TR" sz="1420" dirty="0">
                  <a:solidFill>
                    <a:srgbClr val="EAF4F6"/>
                  </a:solidFill>
                  <a:latin typeface="Consolas"/>
                  <a:ea typeface="Consolas"/>
                  <a:cs typeface="Consolas"/>
                </a:rPr>
                <a:t>console.log("3. Zamanlayıcı tamamlandı.");</a:t>
              </a:r>
              <a:br/>
              <a:r>
                <a:rPr lang="tr-TR" sz="1420" dirty="0">
                  <a:solidFill>
                    <a:srgbClr val="EAF4F6"/>
                  </a:solidFill>
                  <a:latin typeface="Consolas"/>
                  <a:ea typeface="Consolas"/>
                  <a:cs typeface="Consolas"/>
                </a:rPr>
                <a:t>}, 1000);</a:t>
              </a:r>
              <a:br/>
              <a:r>
                <a:rPr lang="tr-TR" sz="1420" dirty="0">
                  <a:solidFill>
                    <a:srgbClr val="EAF4F6"/>
                  </a:solidFill>
                  <a:latin typeface="Consolas"/>
                  <a:ea typeface="Consolas"/>
                  <a:cs typeface="Consolas"/>
                </a:rPr>
                <a:t>console.log("2. Başka sipariş işleniyor.");</a:t>
              </a:r>
            </a:p>
          </p:txBody>
        </p:sp>
      </p:grpSp>
      <p:grpSp>
        <p:nvGrpSpPr>
          <p:cNvPr id="20" name="cikti"/>
          <p:cNvGrpSpPr/>
          <p:nvPr/>
        </p:nvGrpSpPr>
        <p:grpSpPr>
          <a:xfrm>
            <a:off x="609600" y="3886200"/>
            <a:ext cx="6286500" cy="1257300"/>
            <a:chOff x="609600" y="3886200"/>
            <a:chExt cx="6286500" cy="1257300"/>
          </a:xfrm>
        </p:grpSpPr>
        <p:sp>
          <p:nvSpPr>
            <p:cNvPr id="17" name="Rectangle 17"/>
            <p:cNvSpPr/>
            <p:nvPr/>
          </p:nvSpPr>
          <p:spPr>
            <a:xfrm>
              <a:off x="609600" y="3886200"/>
              <a:ext cx="6286500" cy="1257300"/>
            </a:xfrm>
            <a:prstGeom prst="rect">
              <a:avLst/>
            </a:prstGeom>
            <a:solidFill>
              <a:srgbClr val="FFFFFF"/>
            </a:solidFill>
            <a:ln w="9525">
              <a:solidFill>
                <a:srgbClr val="B8CBD3"/>
              </a:solidFill>
            </a:ln>
          </p:spPr>
        </p:sp>
        <p:sp>
          <p:nvSpPr>
            <p:cNvPr id="18" name="TextBox 18"/>
            <p:cNvSpPr txBox="1"/>
            <p:nvPr/>
          </p:nvSpPr>
          <p:spPr>
            <a:xfrm>
              <a:off x="908304" y="4023360"/>
              <a:ext cx="13499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Terminal çıktısı</a:t>
              </a:r>
            </a:p>
          </p:txBody>
        </p:sp>
        <p:sp>
          <p:nvSpPr>
            <p:cNvPr id="19" name="TextBox 19"/>
            <p:cNvSpPr txBox="1"/>
            <p:nvPr/>
          </p:nvSpPr>
          <p:spPr>
            <a:xfrm>
              <a:off x="907161" y="4303871"/>
              <a:ext cx="2890901"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Consolas"/>
                  <a:ea typeface="Consolas"/>
                  <a:cs typeface="Consolas"/>
                </a:rPr>
                <a:t>1. Sipariş alınmaya başlandı.</a:t>
              </a:r>
            </a:p>
            <a:p>
              <a:pPr algn="l">
                <a:lnSpc>
                  <a:spcPts val="1950"/>
                </a:lnSpc>
              </a:pPr>
              <a:r>
                <a:rPr lang="tr-TR" sz="1420" dirty="0">
                  <a:solidFill>
                    <a:srgbClr val="172B3A"/>
                  </a:solidFill>
                  <a:latin typeface="Consolas"/>
                  <a:ea typeface="Consolas"/>
                  <a:cs typeface="Consolas"/>
                </a:rPr>
                <a:t>2. Başka sipariş işleniyor.</a:t>
              </a:r>
            </a:p>
            <a:p>
              <a:pPr algn="l">
                <a:lnSpc>
                  <a:spcPts val="1950"/>
                </a:lnSpc>
              </a:pPr>
              <a:r>
                <a:rPr lang="tr-TR" sz="1420" dirty="0">
                  <a:solidFill>
                    <a:srgbClr val="172B3A"/>
                  </a:solidFill>
                  <a:latin typeface="Consolas"/>
                  <a:ea typeface="Consolas"/>
                  <a:cs typeface="Consolas"/>
                </a:rPr>
                <a:t>3. Zamanlayıcı tamamlandı.</a:t>
              </a:r>
            </a:p>
          </p:txBody>
        </p:sp>
      </p:grpSp>
      <p:grpSp>
        <p:nvGrpSpPr>
          <p:cNvPr id="31" name="aciklama"/>
          <p:cNvGrpSpPr/>
          <p:nvPr/>
        </p:nvGrpSpPr>
        <p:grpSpPr>
          <a:xfrm>
            <a:off x="7189470" y="1204912"/>
            <a:ext cx="3096006" cy="3929444"/>
            <a:chOff x="7189470" y="1204912"/>
            <a:chExt cx="3096006" cy="3929444"/>
          </a:xfrm>
        </p:grpSpPr>
        <p:sp>
          <p:nvSpPr>
            <p:cNvPr id="21" name="TextBox 21"/>
            <p:cNvSpPr txBox="1"/>
            <p:nvPr/>
          </p:nvSpPr>
          <p:spPr>
            <a:xfrm>
              <a:off x="7189470" y="1204912"/>
              <a:ext cx="2324529"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Neden bu sıra?</a:t>
              </a:r>
            </a:p>
          </p:txBody>
        </p:sp>
        <p:grpSp>
          <p:nvGrpSpPr>
            <p:cNvPr id="24" name="aciklama-1"/>
            <p:cNvGrpSpPr/>
            <p:nvPr/>
          </p:nvGrpSpPr>
          <p:grpSpPr>
            <a:xfrm>
              <a:off x="7192899" y="1734979"/>
              <a:ext cx="2947797" cy="1113377"/>
              <a:chOff x="7192899" y="1734979"/>
              <a:chExt cx="2947797" cy="1113377"/>
            </a:xfrm>
          </p:grpSpPr>
          <p:sp>
            <p:nvSpPr>
              <p:cNvPr id="22" name="TextBox 22"/>
              <p:cNvSpPr txBox="1"/>
              <p:nvPr/>
            </p:nvSpPr>
            <p:spPr>
              <a:xfrm>
                <a:off x="7192899" y="1734979"/>
                <a:ext cx="1021092"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1 · Kayıt</a:t>
                </a:r>
              </a:p>
            </p:txBody>
          </p:sp>
          <p:sp>
            <p:nvSpPr>
              <p:cNvPr id="23" name="TextBox 23"/>
              <p:cNvSpPr txBox="1"/>
              <p:nvPr/>
            </p:nvSpPr>
            <p:spPr>
              <a:xfrm>
                <a:off x="7194804" y="2042160"/>
                <a:ext cx="2945892" cy="806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setTimeout çağrısı callback'i hemen</a:t>
                </a:r>
                <a:br/>
                <a:r>
                  <a:rPr lang="tr-TR" sz="1200" dirty="0">
                    <a:solidFill>
                      <a:srgbClr val="52616B"/>
                    </a:solidFill>
                    <a:latin typeface="+mn-lt"/>
                    <a:ea typeface="+mn-ea"/>
                    <a:cs typeface="+mn-cs"/>
                  </a:rPr>
                  <a:t>çalıştırmaz; yalnızca en az 1000 ms</a:t>
                </a:r>
                <a:br/>
                <a:r>
                  <a:rPr lang="tr-TR" sz="1200" dirty="0">
                    <a:solidFill>
                      <a:srgbClr val="52616B"/>
                    </a:solidFill>
                    <a:latin typeface="+mn-lt"/>
                    <a:ea typeface="+mn-ea"/>
                    <a:cs typeface="+mn-cs"/>
                  </a:rPr>
                  <a:t>sonra çalıştırılmak üzere zamanlayıcı</a:t>
                </a:r>
                <a:br/>
                <a:r>
                  <a:rPr lang="tr-TR" sz="1200" dirty="0">
                    <a:solidFill>
                      <a:srgbClr val="52616B"/>
                    </a:solidFill>
                    <a:latin typeface="+mn-lt"/>
                    <a:ea typeface="+mn-ea"/>
                    <a:cs typeface="+mn-cs"/>
                  </a:rPr>
                  <a:t>kuyruğuna kaydeder.</a:t>
                </a:r>
              </a:p>
            </p:txBody>
          </p:sp>
        </p:grpSp>
        <p:grpSp>
          <p:nvGrpSpPr>
            <p:cNvPr id="27" name="aciklama-2"/>
            <p:cNvGrpSpPr/>
            <p:nvPr/>
          </p:nvGrpSpPr>
          <p:grpSpPr>
            <a:xfrm>
              <a:off x="7192899" y="3068479"/>
              <a:ext cx="2810637" cy="922877"/>
              <a:chOff x="7192899" y="3068479"/>
              <a:chExt cx="2810637" cy="922877"/>
            </a:xfrm>
          </p:grpSpPr>
          <p:sp>
            <p:nvSpPr>
              <p:cNvPr id="25" name="TextBox 25"/>
              <p:cNvSpPr txBox="1"/>
              <p:nvPr/>
            </p:nvSpPr>
            <p:spPr>
              <a:xfrm>
                <a:off x="7192899" y="3068479"/>
                <a:ext cx="1823097"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2 · Senkron akış</a:t>
                </a:r>
              </a:p>
            </p:txBody>
          </p:sp>
          <p:sp>
            <p:nvSpPr>
              <p:cNvPr id="26" name="TextBox 26"/>
              <p:cNvSpPr txBox="1"/>
              <p:nvPr/>
            </p:nvSpPr>
            <p:spPr>
              <a:xfrm>
                <a:off x="7194804" y="3375660"/>
                <a:ext cx="28087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İki console.log satırı senkron olduğu</a:t>
                </a:r>
                <a:br/>
                <a:r>
                  <a:rPr lang="tr-TR" sz="1200" dirty="0">
                    <a:solidFill>
                      <a:srgbClr val="52616B"/>
                    </a:solidFill>
                    <a:latin typeface="+mn-lt"/>
                    <a:ea typeface="+mn-ea"/>
                    <a:cs typeface="+mn-cs"/>
                  </a:rPr>
                  <a:t>için, aralarında duran setTimeout'a</a:t>
                </a:r>
                <a:br/>
                <a:r>
                  <a:rPr lang="tr-TR" sz="1200" dirty="0">
                    <a:solidFill>
                      <a:srgbClr val="52616B"/>
                    </a:solidFill>
                    <a:latin typeface="+mn-lt"/>
                    <a:ea typeface="+mn-ea"/>
                    <a:cs typeface="+mn-cs"/>
                  </a:rPr>
                  <a:t>rağmen sırayla hemen çalışır.</a:t>
                </a:r>
              </a:p>
            </p:txBody>
          </p:sp>
        </p:grpSp>
        <p:grpSp>
          <p:nvGrpSpPr>
            <p:cNvPr id="30" name="aciklama-3"/>
            <p:cNvGrpSpPr/>
            <p:nvPr/>
          </p:nvGrpSpPr>
          <p:grpSpPr>
            <a:xfrm>
              <a:off x="7192899" y="4211479"/>
              <a:ext cx="3092577" cy="922877"/>
              <a:chOff x="7192899" y="4211479"/>
              <a:chExt cx="3092577" cy="922877"/>
            </a:xfrm>
          </p:grpSpPr>
          <p:sp>
            <p:nvSpPr>
              <p:cNvPr id="28" name="TextBox 28"/>
              <p:cNvSpPr txBox="1"/>
              <p:nvPr/>
            </p:nvSpPr>
            <p:spPr>
              <a:xfrm>
                <a:off x="7192899" y="4211479"/>
                <a:ext cx="1521755"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3 · Geri dönüş</a:t>
                </a:r>
              </a:p>
            </p:txBody>
          </p:sp>
          <p:sp>
            <p:nvSpPr>
              <p:cNvPr id="29" name="TextBox 29"/>
              <p:cNvSpPr txBox="1"/>
              <p:nvPr/>
            </p:nvSpPr>
            <p:spPr>
              <a:xfrm>
                <a:off x="7194804" y="4518660"/>
                <a:ext cx="30906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Zamanlayıcı callback'i, ana çağrı yığını</a:t>
                </a:r>
                <a:br/>
                <a:r>
                  <a:rPr lang="tr-TR" sz="1200" dirty="0">
                    <a:solidFill>
                      <a:srgbClr val="52616B"/>
                    </a:solidFill>
                    <a:latin typeface="+mn-lt"/>
                    <a:ea typeface="+mn-ea"/>
                    <a:cs typeface="+mn-cs"/>
                  </a:rPr>
                  <a:t>boşaldıktan ve süre dolduktan sonra</a:t>
                </a:r>
                <a:br/>
                <a:r>
                  <a:rPr lang="tr-TR" sz="1200" dirty="0">
                    <a:solidFill>
                      <a:srgbClr val="52616B"/>
                    </a:solidFill>
                    <a:latin typeface="+mn-lt"/>
                    <a:ea typeface="+mn-ea"/>
                    <a:cs typeface="+mn-cs"/>
                  </a:rPr>
                  <a:t>çalıştırılır.</a:t>
                </a:r>
              </a:p>
            </p:txBody>
          </p:sp>
        </p:grpSp>
      </p:grpSp>
      <p:grpSp>
        <p:nvGrpSpPr>
          <p:cNvPr id="36" name="kuram"/>
          <p:cNvGrpSpPr/>
          <p:nvPr/>
        </p:nvGrpSpPr>
        <p:grpSpPr>
          <a:xfrm>
            <a:off x="609600" y="5429250"/>
            <a:ext cx="10972800" cy="857250"/>
            <a:chOff x="609600" y="5429250"/>
            <a:chExt cx="10972800" cy="857250"/>
          </a:xfrm>
        </p:grpSpPr>
        <p:sp>
          <p:nvSpPr>
            <p:cNvPr id="32" name="Rectangle 32"/>
            <p:cNvSpPr/>
            <p:nvPr/>
          </p:nvSpPr>
          <p:spPr>
            <a:xfrm>
              <a:off x="609600" y="5429250"/>
              <a:ext cx="10972800" cy="857250"/>
            </a:xfrm>
            <a:prstGeom prst="rect">
              <a:avLst/>
            </a:prstGeom>
            <a:solidFill>
              <a:srgbClr val="EAF4F6"/>
            </a:solidFill>
            <a:ln>
              <a:noFill/>
            </a:ln>
          </p:spPr>
        </p:sp>
        <p:sp>
          <p:nvSpPr>
            <p:cNvPr id="33" name="Rectangle 33"/>
            <p:cNvSpPr/>
            <p:nvPr/>
          </p:nvSpPr>
          <p:spPr>
            <a:xfrm>
              <a:off x="609600" y="5429250"/>
              <a:ext cx="57150" cy="857250"/>
            </a:xfrm>
            <a:prstGeom prst="rect">
              <a:avLst/>
            </a:prstGeom>
            <a:solidFill>
              <a:srgbClr val="00A6A6"/>
            </a:solidFill>
            <a:ln>
              <a:noFill/>
            </a:ln>
          </p:spPr>
        </p:sp>
        <p:sp>
          <p:nvSpPr>
            <p:cNvPr id="34" name="TextBox 34"/>
            <p:cNvSpPr txBox="1"/>
            <p:nvPr/>
          </p:nvSpPr>
          <p:spPr>
            <a:xfrm>
              <a:off x="944499" y="5506879"/>
              <a:ext cx="700800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 xml:space="preserve">Mikro görev kuyruğu (Promise geri çağrımları) </a:t>
              </a:r>
              <a:r>
                <a:rPr lang="tr-TR" sz="1580" b="1" dirty="0">
                  <a:solidFill>
                    <a:srgbClr val="12355B"/>
                  </a:solidFill>
                  <a:latin typeface="+mn-lt"/>
                  <a:ea typeface="+mn-ea"/>
                  <a:cs typeface="+mn-cs"/>
                </a:rPr>
                <a:t>her zaman</a:t>
              </a:r>
              <a:r>
                <a:rPr lang="tr-TR" sz="1580" dirty="0">
                  <a:solidFill>
                    <a:srgbClr val="172B3A"/>
                  </a:solidFill>
                  <a:latin typeface="+mn-lt"/>
                  <a:ea typeface="+mn-ea"/>
                  <a:cs typeface="+mn-cs"/>
                </a:rPr>
                <a:t xml:space="preserve"> makro görev</a:t>
              </a:r>
              <a:br/>
              <a:r>
                <a:rPr lang="tr-TR" sz="1580" dirty="0">
                  <a:solidFill>
                    <a:srgbClr val="172B3A"/>
                  </a:solidFill>
                  <a:latin typeface="+mn-lt"/>
                  <a:ea typeface="+mn-ea"/>
                  <a:cs typeface="+mn-cs"/>
                </a:rPr>
                <a:t>kuyruğundan (timer, G/Ç) önce boşaltılır.</a:t>
              </a:r>
            </a:p>
          </p:txBody>
        </p:sp>
        <p:sp>
          <p:nvSpPr>
            <p:cNvPr id="35" name="TextBox 35"/>
            <p:cNvSpPr txBox="1"/>
            <p:nvPr/>
          </p:nvSpPr>
          <p:spPr>
            <a:xfrm>
              <a:off x="946404" y="6042660"/>
              <a:ext cx="750327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Dikkat: setTimeout(…, 0) yazılsa bile callback, mevcut senkron kodun tamamlanmasını bekler.</a:t>
              </a:r>
            </a:p>
          </p:txBody>
        </p:sp>
      </p:grpSp>
      <p:grpSp>
        <p:nvGrpSpPr>
          <p:cNvPr id="39" name="footer"/>
          <p:cNvGrpSpPr/>
          <p:nvPr/>
        </p:nvGrpSpPr>
        <p:grpSpPr>
          <a:xfrm>
            <a:off x="603504" y="6461760"/>
            <a:ext cx="10984992" cy="234696"/>
            <a:chOff x="603504" y="6461760"/>
            <a:chExt cx="10984992" cy="234696"/>
          </a:xfrm>
        </p:grpSpPr>
        <p:sp>
          <p:nvSpPr>
            <p:cNvPr id="37" name="TextBox 37"/>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8" name="TextBox 3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79651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async/await ile okunabilir asenkron akış</a:t>
              </a:r>
            </a:p>
          </p:txBody>
        </p:sp>
      </p:grpSp>
      <p:grpSp>
        <p:nvGrpSpPr>
          <p:cNvPr id="16" name="kod"/>
          <p:cNvGrpSpPr/>
          <p:nvPr/>
        </p:nvGrpSpPr>
        <p:grpSpPr>
          <a:xfrm>
            <a:off x="603504" y="1261110"/>
            <a:ext cx="6673596" cy="3035713"/>
            <a:chOff x="603504" y="1261110"/>
            <a:chExt cx="6673596" cy="3035713"/>
          </a:xfrm>
        </p:grpSpPr>
        <p:sp>
          <p:nvSpPr>
            <p:cNvPr id="12" name="TextBox 12"/>
            <p:cNvSpPr txBox="1"/>
            <p:nvPr/>
          </p:nvSpPr>
          <p:spPr>
            <a:xfrm>
              <a:off x="603504" y="1261110"/>
              <a:ext cx="17866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src/asenkronMesaj.ts</a:t>
              </a:r>
            </a:p>
          </p:txBody>
        </p:sp>
        <p:sp>
          <p:nvSpPr>
            <p:cNvPr id="13" name="Rectangle 13"/>
            <p:cNvSpPr/>
            <p:nvPr/>
          </p:nvSpPr>
          <p:spPr>
            <a:xfrm>
              <a:off x="609600" y="1504950"/>
              <a:ext cx="6667500" cy="2781300"/>
            </a:xfrm>
            <a:prstGeom prst="rect">
              <a:avLst/>
            </a:prstGeom>
            <a:solidFill>
              <a:srgbClr val="12355B"/>
            </a:solidFill>
            <a:ln>
              <a:noFill/>
            </a:ln>
          </p:spPr>
        </p:sp>
        <p:sp>
          <p:nvSpPr>
            <p:cNvPr id="14" name="Rectangle 14"/>
            <p:cNvSpPr/>
            <p:nvPr/>
          </p:nvSpPr>
          <p:spPr>
            <a:xfrm>
              <a:off x="609600" y="1504950"/>
              <a:ext cx="38100" cy="2781300"/>
            </a:xfrm>
            <a:prstGeom prst="rect">
              <a:avLst/>
            </a:prstGeom>
            <a:solidFill>
              <a:srgbClr val="00A6A6"/>
            </a:solidFill>
            <a:ln>
              <a:noFill/>
            </a:ln>
          </p:spPr>
        </p:sp>
        <p:sp>
          <p:nvSpPr>
            <p:cNvPr id="15" name="TextBox 15"/>
            <p:cNvSpPr txBox="1"/>
            <p:nvPr/>
          </p:nvSpPr>
          <p:spPr>
            <a:xfrm>
              <a:off x="907161" y="1636871"/>
              <a:ext cx="4577080" cy="2659952"/>
            </a:xfrm>
            <a:prstGeom prst="rect">
              <a:avLst/>
            </a:prstGeom>
            <a:noFill/>
            <a:ln>
              <a:noFill/>
            </a:ln>
          </p:spPr>
          <p:txBody>
            <a:bodyPr wrap="none" lIns="0" tIns="0" rIns="0" bIns="0" anchor="t" anchorCtr="0">
              <a:spAutoFit/>
            </a:bodyPr>
            <a:lstStyle/>
            <a:p>
              <a:pPr algn="l">
                <a:lnSpc>
                  <a:spcPts val="1875"/>
                </a:lnSpc>
              </a:pPr>
              <a:r>
                <a:rPr lang="tr-TR" sz="1420" dirty="0">
                  <a:solidFill>
                    <a:srgbClr val="EAF4F6"/>
                  </a:solidFill>
                  <a:latin typeface="Consolas"/>
                  <a:ea typeface="Consolas"/>
                  <a:cs typeface="Consolas"/>
                </a:rPr>
                <a:t>function siparisHazirla(): Promise&lt;string&gt; {</a:t>
              </a:r>
              <a:br/>
              <a:r>
                <a:rPr lang="tr-TR" sz="1420" dirty="0">
                  <a:solidFill>
                    <a:srgbClr val="EAF4F6"/>
                  </a:solidFill>
                  <a:latin typeface="Consolas"/>
                  <a:ea typeface="Consolas"/>
                  <a:cs typeface="Consolas"/>
                </a:rPr>
                <a:t>return new Promise((coz) =&gt; {</a:t>
              </a:r>
              <a:br/>
              <a:r>
                <a:rPr lang="tr-TR" sz="1420" dirty="0">
                  <a:solidFill>
                    <a:srgbClr val="EAF4F6"/>
                  </a:solidFill>
                  <a:latin typeface="Consolas"/>
                  <a:ea typeface="Consolas"/>
                  <a:cs typeface="Consolas"/>
                </a:rPr>
                <a:t>setTimeout(() =&gt; coz("Sipariş hazır."), 500);</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async function mutfagiYonet(): Promise&lt;void&gt; {</a:t>
              </a:r>
              <a:br/>
              <a:r>
                <a:rPr lang="tr-TR" sz="1420" dirty="0">
                  <a:solidFill>
                    <a:srgbClr val="EAF4F6"/>
                  </a:solidFill>
                  <a:latin typeface="Consolas"/>
                  <a:ea typeface="Consolas"/>
                  <a:cs typeface="Consolas"/>
                </a:rPr>
                <a:t>console.log("Hazırlık başlatıldı.");</a:t>
              </a:r>
              <a:br/>
              <a:r>
                <a:rPr lang="tr-TR" sz="1420" dirty="0">
                  <a:solidFill>
                    <a:srgbClr val="EAF4F6"/>
                  </a:solidFill>
                  <a:latin typeface="Consolas"/>
                  <a:ea typeface="Consolas"/>
                  <a:cs typeface="Consolas"/>
                </a:rPr>
                <a:t>const sonucMesaji = await siparisHazirla();</a:t>
              </a:r>
              <a:br/>
              <a:r>
                <a:rPr lang="tr-TR" sz="1420" dirty="0">
                  <a:solidFill>
                    <a:srgbClr val="EAF4F6"/>
                  </a:solidFill>
                  <a:latin typeface="Consolas"/>
                  <a:ea typeface="Consolas"/>
                  <a:cs typeface="Consolas"/>
                </a:rPr>
                <a:t>console.log(sonucMesaji);</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void mutfagiYonet();</a:t>
              </a:r>
            </a:p>
          </p:txBody>
        </p:sp>
      </p:grpSp>
      <p:grpSp>
        <p:nvGrpSpPr>
          <p:cNvPr id="20" name="cikti"/>
          <p:cNvGrpSpPr/>
          <p:nvPr/>
        </p:nvGrpSpPr>
        <p:grpSpPr>
          <a:xfrm>
            <a:off x="7581900" y="1200150"/>
            <a:ext cx="4000500" cy="1439323"/>
            <a:chOff x="7581900" y="1200150"/>
            <a:chExt cx="4000500" cy="1439323"/>
          </a:xfrm>
        </p:grpSpPr>
        <p:sp>
          <p:nvSpPr>
            <p:cNvPr id="17" name="Rectangle 17"/>
            <p:cNvSpPr/>
            <p:nvPr/>
          </p:nvSpPr>
          <p:spPr>
            <a:xfrm>
              <a:off x="7581900" y="1200150"/>
              <a:ext cx="4000500" cy="1428750"/>
            </a:xfrm>
            <a:prstGeom prst="rect">
              <a:avLst/>
            </a:prstGeom>
            <a:solidFill>
              <a:srgbClr val="FFFFFF"/>
            </a:solidFill>
            <a:ln w="9525">
              <a:solidFill>
                <a:srgbClr val="B8CBD3"/>
              </a:solidFill>
            </a:ln>
          </p:spPr>
        </p:sp>
        <p:sp>
          <p:nvSpPr>
            <p:cNvPr id="18" name="TextBox 18"/>
            <p:cNvSpPr txBox="1"/>
            <p:nvPr/>
          </p:nvSpPr>
          <p:spPr>
            <a:xfrm>
              <a:off x="7880604" y="1337310"/>
              <a:ext cx="13499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Terminal çıktısı</a:t>
              </a:r>
            </a:p>
          </p:txBody>
        </p:sp>
        <p:sp>
          <p:nvSpPr>
            <p:cNvPr id="19" name="TextBox 19"/>
            <p:cNvSpPr txBox="1"/>
            <p:nvPr/>
          </p:nvSpPr>
          <p:spPr>
            <a:xfrm>
              <a:off x="7879461" y="1617821"/>
              <a:ext cx="2394966" cy="102165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Consolas"/>
                  <a:ea typeface="Consolas"/>
                  <a:cs typeface="Consolas"/>
                </a:rPr>
                <a:t>Hazırlık başlatıldı.</a:t>
              </a:r>
              <a:br/>
              <a:r>
                <a:rPr lang="tr-TR" sz="1420" dirty="0">
                  <a:solidFill>
                    <a:srgbClr val="172B3A"/>
                  </a:solidFill>
                  <a:latin typeface="Consolas"/>
                  <a:ea typeface="Consolas"/>
                  <a:cs typeface="Consolas"/>
                </a:rPr>
                <a:t>Mutfak başka siparişleri</a:t>
              </a:r>
              <a:br/>
              <a:r>
                <a:rPr lang="tr-TR" sz="1420" dirty="0">
                  <a:solidFill>
                    <a:srgbClr val="172B3A"/>
                  </a:solidFill>
                  <a:latin typeface="Consolas"/>
                  <a:ea typeface="Consolas"/>
                  <a:cs typeface="Consolas"/>
                </a:rPr>
                <a:t>karşılıyor.</a:t>
              </a:r>
              <a:br/>
              <a:r>
                <a:rPr lang="tr-TR" sz="1420" dirty="0">
                  <a:solidFill>
                    <a:srgbClr val="172B3A"/>
                  </a:solidFill>
                  <a:latin typeface="Consolas"/>
                  <a:ea typeface="Consolas"/>
                  <a:cs typeface="Consolas"/>
                </a:rPr>
                <a:t>Sipariş hazır.</a:t>
              </a:r>
            </a:p>
          </p:txBody>
        </p:sp>
      </p:grpSp>
      <p:grpSp>
        <p:nvGrpSpPr>
          <p:cNvPr id="25" name="sira-aciklama"/>
          <p:cNvGrpSpPr/>
          <p:nvPr/>
        </p:nvGrpSpPr>
        <p:grpSpPr>
          <a:xfrm>
            <a:off x="7581900" y="2914650"/>
            <a:ext cx="4000500" cy="1143000"/>
            <a:chOff x="7581900" y="2914650"/>
            <a:chExt cx="4000500" cy="1143000"/>
          </a:xfrm>
        </p:grpSpPr>
        <p:sp>
          <p:nvSpPr>
            <p:cNvPr id="21" name="Rectangle 21"/>
            <p:cNvSpPr/>
            <p:nvPr/>
          </p:nvSpPr>
          <p:spPr>
            <a:xfrm>
              <a:off x="7581900" y="2914650"/>
              <a:ext cx="4000500" cy="1143000"/>
            </a:xfrm>
            <a:prstGeom prst="rect">
              <a:avLst/>
            </a:prstGeom>
            <a:solidFill>
              <a:srgbClr val="EAF4F6"/>
            </a:solidFill>
            <a:ln>
              <a:noFill/>
            </a:ln>
          </p:spPr>
        </p:sp>
        <p:sp>
          <p:nvSpPr>
            <p:cNvPr id="22" name="Rectangle 22"/>
            <p:cNvSpPr/>
            <p:nvPr/>
          </p:nvSpPr>
          <p:spPr>
            <a:xfrm>
              <a:off x="7581900" y="2914650"/>
              <a:ext cx="57150" cy="1143000"/>
            </a:xfrm>
            <a:prstGeom prst="rect">
              <a:avLst/>
            </a:prstGeom>
            <a:solidFill>
              <a:srgbClr val="00A6A6"/>
            </a:solidFill>
            <a:ln>
              <a:noFill/>
            </a:ln>
          </p:spPr>
        </p:sp>
        <p:sp>
          <p:nvSpPr>
            <p:cNvPr id="23" name="TextBox 23"/>
            <p:cNvSpPr txBox="1"/>
            <p:nvPr/>
          </p:nvSpPr>
          <p:spPr>
            <a:xfrm>
              <a:off x="7878699" y="3068479"/>
              <a:ext cx="218234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await neyi bekletir?</a:t>
              </a:r>
            </a:p>
          </p:txBody>
        </p:sp>
        <p:sp>
          <p:nvSpPr>
            <p:cNvPr id="24" name="TextBox 24"/>
            <p:cNvSpPr txBox="1"/>
            <p:nvPr/>
          </p:nvSpPr>
          <p:spPr>
            <a:xfrm>
              <a:off x="7880604" y="3394710"/>
              <a:ext cx="34335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mutfagiYonet fonksiyonunun</a:t>
              </a:r>
              <a:br/>
              <a:r>
                <a:rPr lang="tr-TR" sz="1200" dirty="0">
                  <a:solidFill>
                    <a:srgbClr val="172B3A"/>
                  </a:solidFill>
                  <a:latin typeface="+mn-lt"/>
                  <a:ea typeface="+mn-ea"/>
                  <a:cs typeface="+mn-cs"/>
                </a:rPr>
                <a:t>devamını bekletir; tüm Node.js programını</a:t>
              </a:r>
              <a:br/>
              <a:r>
                <a:rPr lang="tr-TR" sz="1200" dirty="0">
                  <a:solidFill>
                    <a:srgbClr val="172B3A"/>
                  </a:solidFill>
                  <a:latin typeface="+mn-lt"/>
                  <a:ea typeface="+mn-ea"/>
                  <a:cs typeface="+mn-cs"/>
                </a:rPr>
                <a:t>kilitlemez. Bu yüzden son satır önce görünür.</a:t>
              </a:r>
            </a:p>
          </p:txBody>
        </p:sp>
      </p:grpSp>
      <p:grpSp>
        <p:nvGrpSpPr>
          <p:cNvPr id="40" name="hatalar"/>
          <p:cNvGrpSpPr/>
          <p:nvPr/>
        </p:nvGrpSpPr>
        <p:grpSpPr>
          <a:xfrm>
            <a:off x="603504" y="4366260"/>
            <a:ext cx="10978896" cy="1911096"/>
            <a:chOff x="603504" y="4366260"/>
            <a:chExt cx="10978896" cy="1911096"/>
          </a:xfrm>
        </p:grpSpPr>
        <p:sp>
          <p:nvSpPr>
            <p:cNvPr id="26" name="TextBox 26"/>
            <p:cNvSpPr txBox="1"/>
            <p:nvPr/>
          </p:nvSpPr>
          <p:spPr>
            <a:xfrm>
              <a:off x="603504" y="4366260"/>
              <a:ext cx="11803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Yaygın hatalar</a:t>
              </a:r>
            </a:p>
          </p:txBody>
        </p:sp>
        <p:grpSp>
          <p:nvGrpSpPr>
            <p:cNvPr id="32" name="hata-yanlis"/>
            <p:cNvGrpSpPr/>
            <p:nvPr/>
          </p:nvGrpSpPr>
          <p:grpSpPr>
            <a:xfrm>
              <a:off x="609600" y="4629150"/>
              <a:ext cx="5334000" cy="1181100"/>
              <a:chOff x="609600" y="4629150"/>
              <a:chExt cx="5334000" cy="1181100"/>
            </a:xfrm>
          </p:grpSpPr>
          <p:sp>
            <p:nvSpPr>
              <p:cNvPr id="27" name="Rectangle 27"/>
              <p:cNvSpPr/>
              <p:nvPr/>
            </p:nvSpPr>
            <p:spPr>
              <a:xfrm>
                <a:off x="609600" y="4629150"/>
                <a:ext cx="5334000" cy="1181100"/>
              </a:xfrm>
              <a:prstGeom prst="rect">
                <a:avLst/>
              </a:prstGeom>
              <a:solidFill>
                <a:srgbClr val="FFFFFF"/>
              </a:solidFill>
              <a:ln w="9525">
                <a:solidFill>
                  <a:srgbClr val="B8CBD3"/>
                </a:solidFill>
              </a:ln>
            </p:spPr>
          </p:sp>
          <p:sp>
            <p:nvSpPr>
              <p:cNvPr id="28" name="Rectangle 28"/>
              <p:cNvSpPr/>
              <p:nvPr/>
            </p:nvSpPr>
            <p:spPr>
              <a:xfrm>
                <a:off x="609600" y="4629150"/>
                <a:ext cx="57150" cy="1181100"/>
              </a:xfrm>
              <a:prstGeom prst="rect">
                <a:avLst/>
              </a:prstGeom>
              <a:solidFill>
                <a:srgbClr val="52616B"/>
              </a:solidFill>
              <a:ln>
                <a:noFill/>
              </a:ln>
            </p:spPr>
          </p:sp>
          <p:sp>
            <p:nvSpPr>
              <p:cNvPr id="29" name="TextBox 29"/>
              <p:cNvSpPr txBox="1"/>
              <p:nvPr/>
            </p:nvSpPr>
            <p:spPr>
              <a:xfrm>
                <a:off x="944499" y="4763929"/>
                <a:ext cx="2658809"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Yanlış: await unutulmuş</a:t>
                </a:r>
              </a:p>
            </p:txBody>
          </p:sp>
          <p:sp>
            <p:nvSpPr>
              <p:cNvPr id="30" name="TextBox 30"/>
              <p:cNvSpPr txBox="1"/>
              <p:nvPr/>
            </p:nvSpPr>
            <p:spPr>
              <a:xfrm>
                <a:off x="945261" y="5065871"/>
                <a:ext cx="328145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Consolas"/>
                    <a:ea typeface="Consolas"/>
                    <a:cs typeface="Consolas"/>
                  </a:rPr>
                  <a:t>const sonuc = siparisHazirla();</a:t>
                </a:r>
              </a:p>
            </p:txBody>
          </p:sp>
          <p:sp>
            <p:nvSpPr>
              <p:cNvPr id="31" name="TextBox 31"/>
              <p:cNvSpPr txBox="1"/>
              <p:nvPr/>
            </p:nvSpPr>
            <p:spPr>
              <a:xfrm>
                <a:off x="946404" y="5375910"/>
                <a:ext cx="373972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Sonuç yerine Promise { &lt;pending&gt; } yazdırılır.</a:t>
                </a:r>
              </a:p>
            </p:txBody>
          </p:sp>
        </p:grpSp>
        <p:grpSp>
          <p:nvGrpSpPr>
            <p:cNvPr id="38" name="hata-dogru"/>
            <p:cNvGrpSpPr/>
            <p:nvPr/>
          </p:nvGrpSpPr>
          <p:grpSpPr>
            <a:xfrm>
              <a:off x="6248400" y="4629150"/>
              <a:ext cx="5334000" cy="1181100"/>
              <a:chOff x="6248400" y="4629150"/>
              <a:chExt cx="5334000" cy="1181100"/>
            </a:xfrm>
          </p:grpSpPr>
          <p:sp>
            <p:nvSpPr>
              <p:cNvPr id="33" name="Rectangle 33"/>
              <p:cNvSpPr/>
              <p:nvPr/>
            </p:nvSpPr>
            <p:spPr>
              <a:xfrm>
                <a:off x="6248400" y="4629150"/>
                <a:ext cx="5334000" cy="1181100"/>
              </a:xfrm>
              <a:prstGeom prst="rect">
                <a:avLst/>
              </a:prstGeom>
              <a:solidFill>
                <a:srgbClr val="FFFFFF"/>
              </a:solidFill>
              <a:ln w="9525">
                <a:solidFill>
                  <a:srgbClr val="00A6A6"/>
                </a:solidFill>
              </a:ln>
            </p:spPr>
          </p:sp>
          <p:sp>
            <p:nvSpPr>
              <p:cNvPr id="34" name="Rectangle 34"/>
              <p:cNvSpPr/>
              <p:nvPr/>
            </p:nvSpPr>
            <p:spPr>
              <a:xfrm>
                <a:off x="6248400" y="4629150"/>
                <a:ext cx="57150" cy="1181100"/>
              </a:xfrm>
              <a:prstGeom prst="rect">
                <a:avLst/>
              </a:prstGeom>
              <a:solidFill>
                <a:srgbClr val="00A6A6"/>
              </a:solidFill>
              <a:ln>
                <a:noFill/>
              </a:ln>
            </p:spPr>
          </p:sp>
          <p:sp>
            <p:nvSpPr>
              <p:cNvPr id="35" name="TextBox 35"/>
              <p:cNvSpPr txBox="1"/>
              <p:nvPr/>
            </p:nvSpPr>
            <p:spPr>
              <a:xfrm>
                <a:off x="6583299" y="4763929"/>
                <a:ext cx="392054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 async fonksiyon içinde await</a:t>
                </a:r>
              </a:p>
            </p:txBody>
          </p:sp>
          <p:sp>
            <p:nvSpPr>
              <p:cNvPr id="36" name="TextBox 36"/>
              <p:cNvSpPr txBox="1"/>
              <p:nvPr/>
            </p:nvSpPr>
            <p:spPr>
              <a:xfrm>
                <a:off x="6584061" y="5065871"/>
                <a:ext cx="391218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Consolas"/>
                    <a:ea typeface="Consolas"/>
                    <a:cs typeface="Consolas"/>
                  </a:rPr>
                  <a:t>const sonuc = await siparisHazirla();</a:t>
                </a:r>
              </a:p>
            </p:txBody>
          </p:sp>
          <p:sp>
            <p:nvSpPr>
              <p:cNvPr id="37" name="TextBox 37"/>
              <p:cNvSpPr txBox="1"/>
              <p:nvPr/>
            </p:nvSpPr>
            <p:spPr>
              <a:xfrm>
                <a:off x="6585204" y="5375910"/>
                <a:ext cx="342369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Gerçek metin sonucu alınır: Sipariş hazır.</a:t>
                </a:r>
              </a:p>
            </p:txBody>
          </p:sp>
        </p:grpSp>
        <p:sp>
          <p:nvSpPr>
            <p:cNvPr id="39" name="TextBox 39"/>
            <p:cNvSpPr txBox="1"/>
            <p:nvPr/>
          </p:nvSpPr>
          <p:spPr>
            <a:xfrm>
              <a:off x="603504" y="5833110"/>
              <a:ext cx="70530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Üçüncü hata: reddedilebilecek bir Promise'i try/catch olmadan çağırmak. Ağ ve dosya işlemleri</a:t>
              </a:r>
              <a:br/>
              <a:r>
                <a:rPr lang="tr-TR" sz="1200" dirty="0">
                  <a:solidFill>
                    <a:srgbClr val="52616B"/>
                  </a:solidFill>
                  <a:latin typeface="+mn-lt"/>
                  <a:ea typeface="+mn-ea"/>
                  <a:cs typeface="+mn-cs"/>
                </a:rPr>
                <a:t>başarısız olabilir; hata yolu normal akış kadar tasarlanmalıdır.</a:t>
              </a:r>
            </a:p>
          </p:txBody>
        </p:sp>
      </p:grpSp>
      <p:grpSp>
        <p:nvGrpSpPr>
          <p:cNvPr id="43" name="footer"/>
          <p:cNvGrpSpPr/>
          <p:nvPr/>
        </p:nvGrpSpPr>
        <p:grpSpPr>
          <a:xfrm>
            <a:off x="603504" y="6461760"/>
            <a:ext cx="10984992" cy="234696"/>
            <a:chOff x="603504" y="6461760"/>
            <a:chExt cx="10984992" cy="234696"/>
          </a:xfrm>
        </p:grpSpPr>
        <p:sp>
          <p:nvSpPr>
            <p:cNvPr id="41" name="TextBox 41"/>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2" name="TextBox 4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74541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Asenkron yaklaşımları karşılaştırma</a:t>
              </a:r>
            </a:p>
          </p:txBody>
        </p:sp>
      </p:grpSp>
      <p:grpSp>
        <p:nvGrpSpPr>
          <p:cNvPr id="7" name="yaklasim-lead"/>
          <p:cNvGrpSpPr/>
          <p:nvPr/>
        </p:nvGrpSpPr>
        <p:grpSpPr>
          <a:xfrm>
            <a:off x="600456" y="1291590"/>
            <a:ext cx="9562472" cy="352044"/>
            <a:chOff x="600456" y="1291590"/>
            <a:chExt cx="9562472" cy="352044"/>
          </a:xfrm>
        </p:grpSpPr>
        <p:sp>
          <p:nvSpPr>
            <p:cNvPr id="6" name="TextBox 6"/>
            <p:cNvSpPr txBox="1"/>
            <p:nvPr/>
          </p:nvSpPr>
          <p:spPr>
            <a:xfrm>
              <a:off x="600456" y="1291590"/>
              <a:ext cx="956247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 xml:space="preserve">Ağ, dosya, zamanlayıcı ve veritabanı işleri için </a:t>
              </a:r>
              <a:r>
                <a:rPr lang="tr-TR" sz="1800" b="1" dirty="0">
                  <a:solidFill>
                    <a:srgbClr val="12355B"/>
                  </a:solidFill>
                  <a:latin typeface="+mn-lt"/>
                  <a:ea typeface="+mn-ea"/>
                  <a:cs typeface="+mn-cs"/>
                </a:rPr>
                <a:t>asenkron API</a:t>
              </a:r>
              <a:r>
                <a:rPr lang="tr-TR" sz="1800" dirty="0">
                  <a:solidFill>
                    <a:srgbClr val="172B3A"/>
                  </a:solidFill>
                  <a:latin typeface="+mn-lt"/>
                  <a:ea typeface="+mn-ea"/>
                  <a:cs typeface="+mn-cs"/>
                </a:rPr>
                <a:t xml:space="preserve"> tercih edilmelidir.</a:t>
              </a:r>
            </a:p>
          </p:txBody>
        </p:sp>
      </p:grpSp>
      <p:grpSp>
        <p:nvGrpSpPr>
          <p:cNvPr id="55" name="yaklasim-tablosu"/>
          <p:cNvGrpSpPr/>
          <p:nvPr/>
        </p:nvGrpSpPr>
        <p:grpSpPr>
          <a:xfrm>
            <a:off x="601599" y="1866900"/>
            <a:ext cx="10980801" cy="4157567"/>
            <a:chOff x="601599" y="1866900"/>
            <a:chExt cx="10980801" cy="4157567"/>
          </a:xfrm>
        </p:grpSpPr>
        <p:sp>
          <p:nvSpPr>
            <p:cNvPr id="8" name="Rectangle 8"/>
            <p:cNvSpPr/>
            <p:nvPr/>
          </p:nvSpPr>
          <p:spPr>
            <a:xfrm>
              <a:off x="609600" y="1866900"/>
              <a:ext cx="10972800" cy="304800"/>
            </a:xfrm>
            <a:prstGeom prst="rect">
              <a:avLst/>
            </a:prstGeom>
            <a:solidFill>
              <a:srgbClr val="EAF4F6"/>
            </a:solidFill>
            <a:ln>
              <a:noFill/>
            </a:ln>
          </p:spPr>
        </p:sp>
        <p:grpSp>
          <p:nvGrpSpPr>
            <p:cNvPr id="13" name="yaklasim-basliklari"/>
            <p:cNvGrpSpPr/>
            <p:nvPr/>
          </p:nvGrpSpPr>
          <p:grpSpPr>
            <a:xfrm>
              <a:off x="717804" y="1937385"/>
              <a:ext cx="9326514" cy="234696"/>
              <a:chOff x="717804" y="1937385"/>
              <a:chExt cx="9326514" cy="234696"/>
            </a:xfrm>
          </p:grpSpPr>
          <p:sp>
            <p:nvSpPr>
              <p:cNvPr id="9" name="TextBox 9"/>
              <p:cNvSpPr txBox="1"/>
              <p:nvPr/>
            </p:nvSpPr>
            <p:spPr>
              <a:xfrm>
                <a:off x="717804" y="1937385"/>
                <a:ext cx="75526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Yaklaşım</a:t>
                </a:r>
              </a:p>
            </p:txBody>
          </p:sp>
          <p:sp>
            <p:nvSpPr>
              <p:cNvPr id="10" name="TextBox 10"/>
              <p:cNvSpPr txBox="1"/>
              <p:nvPr/>
            </p:nvSpPr>
            <p:spPr>
              <a:xfrm>
                <a:off x="3099054" y="1937385"/>
                <a:ext cx="7211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Avantajı</a:t>
                </a:r>
              </a:p>
            </p:txBody>
          </p:sp>
          <p:sp>
            <p:nvSpPr>
              <p:cNvPr id="11" name="TextBox 11"/>
              <p:cNvSpPr txBox="1"/>
              <p:nvPr/>
            </p:nvSpPr>
            <p:spPr>
              <a:xfrm>
                <a:off x="5956554" y="1937385"/>
                <a:ext cx="10010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Dezavantajı</a:t>
                </a:r>
              </a:p>
            </p:txBody>
          </p:sp>
          <p:sp>
            <p:nvSpPr>
              <p:cNvPr id="12" name="TextBox 12"/>
              <p:cNvSpPr txBox="1"/>
              <p:nvPr/>
            </p:nvSpPr>
            <p:spPr>
              <a:xfrm>
                <a:off x="8814054" y="1937385"/>
                <a:ext cx="12302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Uygun kullanım</a:t>
                </a:r>
              </a:p>
            </p:txBody>
          </p:sp>
        </p:grpSp>
        <p:grpSp>
          <p:nvGrpSpPr>
            <p:cNvPr id="21" name="yaklasim-callback"/>
            <p:cNvGrpSpPr/>
            <p:nvPr/>
          </p:nvGrpSpPr>
          <p:grpSpPr>
            <a:xfrm>
              <a:off x="609600" y="2209800"/>
              <a:ext cx="10972800" cy="542925"/>
              <a:chOff x="609600" y="2209800"/>
              <a:chExt cx="10972800" cy="542925"/>
            </a:xfrm>
          </p:grpSpPr>
          <p:sp>
            <p:nvSpPr>
              <p:cNvPr id="14" name="Rectangle 14"/>
              <p:cNvSpPr/>
              <p:nvPr/>
            </p:nvSpPr>
            <p:spPr>
              <a:xfrm>
                <a:off x="609600" y="2209800"/>
                <a:ext cx="95250" cy="228600"/>
              </a:xfrm>
              <a:prstGeom prst="rect">
                <a:avLst/>
              </a:prstGeom>
              <a:solidFill>
                <a:srgbClr val="B8CBD3"/>
              </a:solidFill>
              <a:ln>
                <a:noFill/>
              </a:ln>
            </p:spPr>
          </p:sp>
          <p:sp>
            <p:nvSpPr>
              <p:cNvPr id="15" name="TextBox 15"/>
              <p:cNvSpPr txBox="1"/>
              <p:nvPr/>
            </p:nvSpPr>
            <p:spPr>
              <a:xfrm>
                <a:off x="792099" y="2230279"/>
                <a:ext cx="89317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Callback</a:t>
                </a:r>
              </a:p>
            </p:txBody>
          </p:sp>
          <p:grpSp>
            <p:nvGrpSpPr>
              <p:cNvPr id="19" name="hucre-callback"/>
              <p:cNvGrpSpPr/>
              <p:nvPr/>
            </p:nvGrpSpPr>
            <p:grpSpPr>
              <a:xfrm>
                <a:off x="3099054" y="2251710"/>
                <a:ext cx="7460160" cy="415671"/>
                <a:chOff x="3099054" y="2251710"/>
                <a:chExt cx="7460160" cy="415671"/>
              </a:xfrm>
            </p:grpSpPr>
            <p:sp>
              <p:nvSpPr>
                <p:cNvPr id="16" name="TextBox 16"/>
                <p:cNvSpPr txBox="1"/>
                <p:nvPr/>
              </p:nvSpPr>
              <p:spPr>
                <a:xfrm>
                  <a:off x="3099054" y="2251710"/>
                  <a:ext cx="19144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Eski API'lerle uyumludur</a:t>
                  </a:r>
                </a:p>
              </p:txBody>
            </p:sp>
            <p:sp>
              <p:nvSpPr>
                <p:cNvPr id="17" name="TextBox 17"/>
                <p:cNvSpPr txBox="1"/>
                <p:nvPr/>
              </p:nvSpPr>
              <p:spPr>
                <a:xfrm>
                  <a:off x="5956554" y="2251710"/>
                  <a:ext cx="181051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İç içe yapı okunabilirliği</a:t>
                  </a:r>
                  <a:br/>
                  <a:r>
                    <a:rPr lang="tr-TR" sz="1200" dirty="0">
                      <a:solidFill>
                        <a:srgbClr val="172B3A"/>
                      </a:solidFill>
                      <a:latin typeface="+mn-lt"/>
                      <a:ea typeface="+mn-ea"/>
                      <a:cs typeface="+mn-cs"/>
                    </a:rPr>
                    <a:t>azaltabilir</a:t>
                  </a:r>
                </a:p>
              </p:txBody>
            </p:sp>
            <p:sp>
              <p:nvSpPr>
                <p:cNvPr id="18" name="TextBox 18"/>
                <p:cNvSpPr txBox="1"/>
                <p:nvPr/>
              </p:nvSpPr>
              <p:spPr>
                <a:xfrm>
                  <a:off x="8814054" y="2251710"/>
                  <a:ext cx="17451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olay dinleyicileri</a:t>
                  </a:r>
                </a:p>
              </p:txBody>
            </p:sp>
          </p:grpSp>
          <p:sp>
            <p:nvSpPr>
              <p:cNvPr id="20" name="Line 20"/>
              <p:cNvSpPr/>
              <p:nvPr/>
            </p:nvSpPr>
            <p:spPr>
              <a:xfrm>
                <a:off x="609600" y="2743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9" name="yaklasim-promise"/>
            <p:cNvGrpSpPr/>
            <p:nvPr/>
          </p:nvGrpSpPr>
          <p:grpSpPr>
            <a:xfrm>
              <a:off x="609600" y="2743200"/>
              <a:ext cx="10972800" cy="542925"/>
              <a:chOff x="609600" y="2743200"/>
              <a:chExt cx="10972800" cy="542925"/>
            </a:xfrm>
          </p:grpSpPr>
          <p:sp>
            <p:nvSpPr>
              <p:cNvPr id="22" name="Rectangle 22"/>
              <p:cNvSpPr/>
              <p:nvPr/>
            </p:nvSpPr>
            <p:spPr>
              <a:xfrm>
                <a:off x="609600" y="2743200"/>
                <a:ext cx="95250" cy="228600"/>
              </a:xfrm>
              <a:prstGeom prst="rect">
                <a:avLst/>
              </a:prstGeom>
              <a:solidFill>
                <a:srgbClr val="2E86AB"/>
              </a:solidFill>
              <a:ln>
                <a:noFill/>
              </a:ln>
            </p:spPr>
          </p:sp>
          <p:sp>
            <p:nvSpPr>
              <p:cNvPr id="23" name="TextBox 23"/>
              <p:cNvSpPr txBox="1"/>
              <p:nvPr/>
            </p:nvSpPr>
            <p:spPr>
              <a:xfrm>
                <a:off x="792099" y="2763679"/>
                <a:ext cx="87153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Promise</a:t>
                </a:r>
              </a:p>
            </p:txBody>
          </p:sp>
          <p:grpSp>
            <p:nvGrpSpPr>
              <p:cNvPr id="27" name="hucre-promise"/>
              <p:cNvGrpSpPr/>
              <p:nvPr/>
            </p:nvGrpSpPr>
            <p:grpSpPr>
              <a:xfrm>
                <a:off x="3099054" y="2785110"/>
                <a:ext cx="7791947" cy="415671"/>
                <a:chOff x="3099054" y="2785110"/>
                <a:chExt cx="7791947" cy="415671"/>
              </a:xfrm>
            </p:grpSpPr>
            <p:sp>
              <p:nvSpPr>
                <p:cNvPr id="24" name="TextBox 24"/>
                <p:cNvSpPr txBox="1"/>
                <p:nvPr/>
              </p:nvSpPr>
              <p:spPr>
                <a:xfrm>
                  <a:off x="3099054" y="2785110"/>
                  <a:ext cx="203149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Zincirleme ve hata yönetimi</a:t>
                  </a:r>
                  <a:br/>
                  <a:r>
                    <a:rPr lang="tr-TR" sz="1200" dirty="0">
                      <a:solidFill>
                        <a:srgbClr val="172B3A"/>
                      </a:solidFill>
                      <a:latin typeface="+mn-lt"/>
                      <a:ea typeface="+mn-ea"/>
                      <a:cs typeface="+mn-cs"/>
                    </a:rPr>
                    <a:t>kolaydır</a:t>
                  </a:r>
                </a:p>
              </p:txBody>
            </p:sp>
            <p:sp>
              <p:nvSpPr>
                <p:cNvPr id="25" name="TextBox 25"/>
                <p:cNvSpPr txBox="1"/>
                <p:nvPr/>
              </p:nvSpPr>
              <p:spPr>
                <a:xfrm>
                  <a:off x="5956554" y="2785110"/>
                  <a:ext cx="149809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Yanlış zincirde hata</a:t>
                  </a:r>
                  <a:br/>
                  <a:r>
                    <a:rPr lang="tr-TR" sz="1200" dirty="0">
                      <a:solidFill>
                        <a:srgbClr val="172B3A"/>
                      </a:solidFill>
                      <a:latin typeface="+mn-lt"/>
                      <a:ea typeface="+mn-ea"/>
                      <a:cs typeface="+mn-cs"/>
                    </a:rPr>
                    <a:t>yutulabilir</a:t>
                  </a:r>
                </a:p>
              </p:txBody>
            </p:sp>
            <p:sp>
              <p:nvSpPr>
                <p:cNvPr id="26" name="TextBox 26"/>
                <p:cNvSpPr txBox="1"/>
                <p:nvPr/>
              </p:nvSpPr>
              <p:spPr>
                <a:xfrm>
                  <a:off x="8814054" y="2785110"/>
                  <a:ext cx="20769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Asenkron servis çağrıları</a:t>
                  </a:r>
                </a:p>
              </p:txBody>
            </p:sp>
          </p:grpSp>
          <p:sp>
            <p:nvSpPr>
              <p:cNvPr id="28" name="Line 28"/>
              <p:cNvSpPr/>
              <p:nvPr/>
            </p:nvSpPr>
            <p:spPr>
              <a:xfrm>
                <a:off x="609600" y="3276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yaklasim-async"/>
            <p:cNvGrpSpPr/>
            <p:nvPr/>
          </p:nvGrpSpPr>
          <p:grpSpPr>
            <a:xfrm>
              <a:off x="609600" y="3276600"/>
              <a:ext cx="10972800" cy="542925"/>
              <a:chOff x="609600" y="3276600"/>
              <a:chExt cx="10972800" cy="542925"/>
            </a:xfrm>
          </p:grpSpPr>
          <p:sp>
            <p:nvSpPr>
              <p:cNvPr id="30" name="Rectangle 30"/>
              <p:cNvSpPr/>
              <p:nvPr/>
            </p:nvSpPr>
            <p:spPr>
              <a:xfrm>
                <a:off x="609600" y="3276600"/>
                <a:ext cx="95250" cy="228600"/>
              </a:xfrm>
              <a:prstGeom prst="rect">
                <a:avLst/>
              </a:prstGeom>
              <a:solidFill>
                <a:srgbClr val="00A6A6"/>
              </a:solidFill>
              <a:ln>
                <a:noFill/>
              </a:ln>
            </p:spPr>
          </p:sp>
          <p:sp>
            <p:nvSpPr>
              <p:cNvPr id="31" name="TextBox 31"/>
              <p:cNvSpPr txBox="1"/>
              <p:nvPr/>
            </p:nvSpPr>
            <p:spPr>
              <a:xfrm>
                <a:off x="792099" y="3297079"/>
                <a:ext cx="14900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async / await</a:t>
                </a:r>
              </a:p>
            </p:txBody>
          </p:sp>
          <p:grpSp>
            <p:nvGrpSpPr>
              <p:cNvPr id="35" name="hucre-async"/>
              <p:cNvGrpSpPr/>
              <p:nvPr/>
            </p:nvGrpSpPr>
            <p:grpSpPr>
              <a:xfrm>
                <a:off x="3099054" y="3318510"/>
                <a:ext cx="7880794" cy="415671"/>
                <a:chOff x="3099054" y="3318510"/>
                <a:chExt cx="7880794" cy="415671"/>
              </a:xfrm>
            </p:grpSpPr>
            <p:sp>
              <p:nvSpPr>
                <p:cNvPr id="32" name="TextBox 32"/>
                <p:cNvSpPr txBox="1"/>
                <p:nvPr/>
              </p:nvSpPr>
              <p:spPr>
                <a:xfrm>
                  <a:off x="3099054" y="3318510"/>
                  <a:ext cx="14752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Senkron görünümlü,</a:t>
                  </a:r>
                  <a:br/>
                  <a:r>
                    <a:rPr lang="tr-TR" sz="1200" dirty="0">
                      <a:solidFill>
                        <a:srgbClr val="172B3A"/>
                      </a:solidFill>
                      <a:latin typeface="+mn-lt"/>
                      <a:ea typeface="+mn-ea"/>
                      <a:cs typeface="+mn-cs"/>
                    </a:rPr>
                    <a:t>okunabilir akış</a:t>
                  </a:r>
                </a:p>
              </p:txBody>
            </p:sp>
            <p:sp>
              <p:nvSpPr>
                <p:cNvPr id="33" name="TextBox 33"/>
                <p:cNvSpPr txBox="1"/>
                <p:nvPr/>
              </p:nvSpPr>
              <p:spPr>
                <a:xfrm>
                  <a:off x="5956554" y="3318510"/>
                  <a:ext cx="16657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Hatalar için try/catch</a:t>
                  </a:r>
                  <a:br/>
                  <a:r>
                    <a:rPr lang="tr-TR" sz="1200" dirty="0">
                      <a:solidFill>
                        <a:srgbClr val="172B3A"/>
                      </a:solidFill>
                      <a:latin typeface="+mn-lt"/>
                      <a:ea typeface="+mn-ea"/>
                      <a:cs typeface="+mn-cs"/>
                    </a:rPr>
                    <a:t>gerekir</a:t>
                  </a:r>
                </a:p>
              </p:txBody>
            </p:sp>
            <p:sp>
              <p:nvSpPr>
                <p:cNvPr id="34" name="TextBox 34"/>
                <p:cNvSpPr txBox="1"/>
                <p:nvPr/>
              </p:nvSpPr>
              <p:spPr>
                <a:xfrm>
                  <a:off x="8814054" y="3318510"/>
                  <a:ext cx="21657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Uygulama düzeyi iş akışları</a:t>
                  </a:r>
                </a:p>
              </p:txBody>
            </p:sp>
          </p:grpSp>
          <p:sp>
            <p:nvSpPr>
              <p:cNvPr id="36" name="Line 36"/>
              <p:cNvSpPr/>
              <p:nvPr/>
            </p:nvSpPr>
            <p:spPr>
              <a:xfrm>
                <a:off x="609600" y="3810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5" name="yaklasim-senkron"/>
            <p:cNvGrpSpPr/>
            <p:nvPr/>
          </p:nvGrpSpPr>
          <p:grpSpPr>
            <a:xfrm>
              <a:off x="609600" y="3810000"/>
              <a:ext cx="10972800" cy="542925"/>
              <a:chOff x="609600" y="3810000"/>
              <a:chExt cx="10972800" cy="542925"/>
            </a:xfrm>
          </p:grpSpPr>
          <p:sp>
            <p:nvSpPr>
              <p:cNvPr id="38" name="Rectangle 38"/>
              <p:cNvSpPr/>
              <p:nvPr/>
            </p:nvSpPr>
            <p:spPr>
              <a:xfrm>
                <a:off x="609600" y="3810000"/>
                <a:ext cx="95250" cy="228600"/>
              </a:xfrm>
              <a:prstGeom prst="rect">
                <a:avLst/>
              </a:prstGeom>
              <a:solidFill>
                <a:srgbClr val="52616B"/>
              </a:solidFill>
              <a:ln>
                <a:noFill/>
              </a:ln>
            </p:spPr>
          </p:sp>
          <p:sp>
            <p:nvSpPr>
              <p:cNvPr id="39" name="TextBox 39"/>
              <p:cNvSpPr txBox="1"/>
              <p:nvPr/>
            </p:nvSpPr>
            <p:spPr>
              <a:xfrm>
                <a:off x="792099" y="3830479"/>
                <a:ext cx="128357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Senkron API</a:t>
                </a:r>
              </a:p>
            </p:txBody>
          </p:sp>
          <p:grpSp>
            <p:nvGrpSpPr>
              <p:cNvPr id="43" name="hucre-senkron"/>
              <p:cNvGrpSpPr/>
              <p:nvPr/>
            </p:nvGrpSpPr>
            <p:grpSpPr>
              <a:xfrm>
                <a:off x="3099054" y="3851910"/>
                <a:ext cx="7655052" cy="415671"/>
                <a:chOff x="3099054" y="3851910"/>
                <a:chExt cx="7655052" cy="415671"/>
              </a:xfrm>
            </p:grpSpPr>
            <p:sp>
              <p:nvSpPr>
                <p:cNvPr id="40" name="TextBox 40"/>
                <p:cNvSpPr txBox="1"/>
                <p:nvPr/>
              </p:nvSpPr>
              <p:spPr>
                <a:xfrm>
                  <a:off x="3099054" y="3851910"/>
                  <a:ext cx="16813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ve doğrusal kod</a:t>
                  </a:r>
                </a:p>
              </p:txBody>
            </p:sp>
            <p:sp>
              <p:nvSpPr>
                <p:cNvPr id="41" name="TextBox 41"/>
                <p:cNvSpPr txBox="1"/>
                <p:nvPr/>
              </p:nvSpPr>
              <p:spPr>
                <a:xfrm>
                  <a:off x="5956554" y="3851910"/>
                  <a:ext cx="168859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Bekletici I/O programı</a:t>
                  </a:r>
                  <a:br/>
                  <a:r>
                    <a:rPr lang="tr-TR" sz="1200" dirty="0">
                      <a:solidFill>
                        <a:srgbClr val="172B3A"/>
                      </a:solidFill>
                      <a:latin typeface="+mn-lt"/>
                      <a:ea typeface="+mn-ea"/>
                      <a:cs typeface="+mn-cs"/>
                    </a:rPr>
                    <a:t>durdurur</a:t>
                  </a:r>
                </a:p>
              </p:txBody>
            </p:sp>
            <p:sp>
              <p:nvSpPr>
                <p:cNvPr id="42" name="TextBox 42"/>
                <p:cNvSpPr txBox="1"/>
                <p:nvPr/>
              </p:nvSpPr>
              <p:spPr>
                <a:xfrm>
                  <a:off x="8814054" y="3851910"/>
                  <a:ext cx="19400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Başlangıç aşaması, küçük</a:t>
                  </a:r>
                  <a:br/>
                  <a:r>
                    <a:rPr lang="tr-TR" sz="1200" dirty="0">
                      <a:solidFill>
                        <a:srgbClr val="172B3A"/>
                      </a:solidFill>
                      <a:latin typeface="+mn-lt"/>
                      <a:ea typeface="+mn-ea"/>
                      <a:cs typeface="+mn-cs"/>
                    </a:rPr>
                    <a:t>betikler</a:t>
                  </a:r>
                </a:p>
              </p:txBody>
            </p:sp>
          </p:grpSp>
          <p:sp>
            <p:nvSpPr>
              <p:cNvPr id="44" name="Line 44"/>
              <p:cNvSpPr/>
              <p:nvPr/>
            </p:nvSpPr>
            <p:spPr>
              <a:xfrm>
                <a:off x="609600" y="4343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3" name="yaklasim-worker"/>
            <p:cNvGrpSpPr/>
            <p:nvPr/>
          </p:nvGrpSpPr>
          <p:grpSpPr>
            <a:xfrm>
              <a:off x="609600" y="4343400"/>
              <a:ext cx="10972800" cy="542925"/>
              <a:chOff x="609600" y="4343400"/>
              <a:chExt cx="10972800" cy="542925"/>
            </a:xfrm>
          </p:grpSpPr>
          <p:sp>
            <p:nvSpPr>
              <p:cNvPr id="46" name="Rectangle 46"/>
              <p:cNvSpPr/>
              <p:nvPr/>
            </p:nvSpPr>
            <p:spPr>
              <a:xfrm>
                <a:off x="609600" y="4343400"/>
                <a:ext cx="95250" cy="228600"/>
              </a:xfrm>
              <a:prstGeom prst="rect">
                <a:avLst/>
              </a:prstGeom>
              <a:solidFill>
                <a:srgbClr val="12355B"/>
              </a:solidFill>
              <a:ln>
                <a:noFill/>
              </a:ln>
            </p:spPr>
          </p:sp>
          <p:sp>
            <p:nvSpPr>
              <p:cNvPr id="47" name="TextBox 47"/>
              <p:cNvSpPr txBox="1"/>
              <p:nvPr/>
            </p:nvSpPr>
            <p:spPr>
              <a:xfrm>
                <a:off x="792099" y="4363879"/>
                <a:ext cx="16091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Worker thread</a:t>
                </a:r>
              </a:p>
            </p:txBody>
          </p:sp>
          <p:grpSp>
            <p:nvGrpSpPr>
              <p:cNvPr id="51" name="hucre-worker"/>
              <p:cNvGrpSpPr/>
              <p:nvPr/>
            </p:nvGrpSpPr>
            <p:grpSpPr>
              <a:xfrm>
                <a:off x="3099054" y="4385310"/>
                <a:ext cx="6927823" cy="415671"/>
                <a:chOff x="3099054" y="4385310"/>
                <a:chExt cx="6927823" cy="415671"/>
              </a:xfrm>
            </p:grpSpPr>
            <p:sp>
              <p:nvSpPr>
                <p:cNvPr id="48" name="TextBox 48"/>
                <p:cNvSpPr txBox="1"/>
                <p:nvPr/>
              </p:nvSpPr>
              <p:spPr>
                <a:xfrm>
                  <a:off x="3099054" y="4385310"/>
                  <a:ext cx="16909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CPU yükünü ayırabilir</a:t>
                  </a:r>
                </a:p>
              </p:txBody>
            </p:sp>
            <p:sp>
              <p:nvSpPr>
                <p:cNvPr id="49" name="TextBox 49"/>
                <p:cNvSpPr txBox="1"/>
                <p:nvPr/>
              </p:nvSpPr>
              <p:spPr>
                <a:xfrm>
                  <a:off x="5956554" y="4385310"/>
                  <a:ext cx="210769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İletişim ve tasarım maliyeti</a:t>
                  </a:r>
                  <a:br/>
                  <a:r>
                    <a:rPr lang="tr-TR" sz="1200" dirty="0">
                      <a:solidFill>
                        <a:srgbClr val="172B3A"/>
                      </a:solidFill>
                      <a:latin typeface="+mn-lt"/>
                      <a:ea typeface="+mn-ea"/>
                      <a:cs typeface="+mn-cs"/>
                    </a:rPr>
                    <a:t>vardır</a:t>
                  </a:r>
                </a:p>
              </p:txBody>
            </p:sp>
            <p:sp>
              <p:nvSpPr>
                <p:cNvPr id="50" name="TextBox 50"/>
                <p:cNvSpPr txBox="1"/>
                <p:nvPr/>
              </p:nvSpPr>
              <p:spPr>
                <a:xfrm>
                  <a:off x="8814054" y="4385310"/>
                  <a:ext cx="12128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Ağır hesaplama</a:t>
                  </a:r>
                </a:p>
              </p:txBody>
            </p:sp>
          </p:grpSp>
          <p:sp>
            <p:nvSpPr>
              <p:cNvPr id="52" name="Line 52"/>
              <p:cNvSpPr/>
              <p:nvPr/>
            </p:nvSpPr>
            <p:spPr>
              <a:xfrm>
                <a:off x="609600" y="4876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sp>
          <p:nvSpPr>
            <p:cNvPr id="54" name="TextBox 54"/>
            <p:cNvSpPr txBox="1"/>
            <p:nvPr/>
          </p:nvSpPr>
          <p:spPr>
            <a:xfrm>
              <a:off x="601599" y="4973479"/>
              <a:ext cx="8534019" cy="10509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Küçük ve anında tamamlanan hesaplamalarda senkron kod daha okunaklı olabilir: iki</a:t>
              </a:r>
              <a:br/>
              <a:r>
                <a:rPr lang="tr-TR" sz="1580" dirty="0">
                  <a:solidFill>
                    <a:srgbClr val="172B3A"/>
                  </a:solidFill>
                  <a:latin typeface="+mn-lt"/>
                  <a:ea typeface="+mn-ea"/>
                  <a:cs typeface="+mn-cs"/>
                </a:rPr>
                <a:t>sayının toplamını Promise içine sarmak gereksizdir. Asenkronluğu yalnızca modern</a:t>
              </a:r>
              <a:br/>
              <a:r>
                <a:rPr lang="tr-TR" sz="1580" dirty="0">
                  <a:solidFill>
                    <a:srgbClr val="172B3A"/>
                  </a:solidFill>
                  <a:latin typeface="+mn-lt"/>
                  <a:ea typeface="+mn-ea"/>
                  <a:cs typeface="+mn-cs"/>
                </a:rPr>
                <a:t>göründüğü için kullanmak akışı karmaşıklaştırır. Çok uzun CPU hesaplamalarında</a:t>
              </a:r>
              <a:br/>
              <a:r>
                <a:rPr lang="tr-TR" sz="1580" dirty="0">
                  <a:solidFill>
                    <a:srgbClr val="172B3A"/>
                  </a:solidFill>
                  <a:latin typeface="+mn-lt"/>
                  <a:ea typeface="+mn-ea"/>
                  <a:cs typeface="+mn-cs"/>
                </a:rPr>
                <a:t>setTimeout sorunu çözmez; iş parçalara bölünmeli veya worker thread kullanılmalıdır.</a:t>
              </a:r>
            </a:p>
          </p:txBody>
        </p:sp>
      </p:grpSp>
      <p:grpSp>
        <p:nvGrpSpPr>
          <p:cNvPr id="58" name="footer"/>
          <p:cNvGrpSpPr/>
          <p:nvPr/>
        </p:nvGrpSpPr>
        <p:grpSpPr>
          <a:xfrm>
            <a:off x="603504" y="6461760"/>
            <a:ext cx="10984992" cy="234696"/>
            <a:chOff x="603504" y="6461760"/>
            <a:chExt cx="10984992" cy="234696"/>
          </a:xfrm>
        </p:grpSpPr>
        <p:sp>
          <p:nvSpPr>
            <p:cNvPr id="56" name="TextBox 56"/>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57" name="TextBox 5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836795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npm ve package.json: yönetici ve manifest</a:t>
              </a:r>
            </a:p>
          </p:txBody>
        </p:sp>
      </p:grpSp>
      <p:grpSp>
        <p:nvGrpSpPr>
          <p:cNvPr id="7" name="sinav-notu"/>
          <p:cNvGrpSpPr/>
          <p:nvPr/>
        </p:nvGrpSpPr>
        <p:grpSpPr>
          <a:xfrm>
            <a:off x="603504" y="1299210"/>
            <a:ext cx="8867492" cy="234696"/>
            <a:chOff x="603504" y="1299210"/>
            <a:chExt cx="8867492" cy="234696"/>
          </a:xfrm>
        </p:grpSpPr>
        <p:sp>
          <p:nvSpPr>
            <p:cNvPr id="6" name="TextBox 6"/>
            <p:cNvSpPr txBox="1"/>
            <p:nvPr/>
          </p:nvSpPr>
          <p:spPr>
            <a:xfrm>
              <a:off x="603504" y="1299210"/>
              <a:ext cx="886749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Sınav notu: npm bir paket yöneticisidir; package.json ise projenin manifest dosyasıdır. İkisi aynı şey değildir.</a:t>
              </a:r>
            </a:p>
          </p:txBody>
        </p:sp>
      </p:grpSp>
      <p:grpSp>
        <p:nvGrpSpPr>
          <p:cNvPr id="16" name="npm-karti"/>
          <p:cNvGrpSpPr/>
          <p:nvPr/>
        </p:nvGrpSpPr>
        <p:grpSpPr>
          <a:xfrm>
            <a:off x="609600" y="1714500"/>
            <a:ext cx="5334000" cy="2381250"/>
            <a:chOff x="609600" y="1714500"/>
            <a:chExt cx="5334000" cy="2381250"/>
          </a:xfrm>
        </p:grpSpPr>
        <p:sp>
          <p:nvSpPr>
            <p:cNvPr id="8" name="Rectangle 8"/>
            <p:cNvSpPr/>
            <p:nvPr/>
          </p:nvSpPr>
          <p:spPr>
            <a:xfrm>
              <a:off x="609600" y="1714500"/>
              <a:ext cx="5334000" cy="2381250"/>
            </a:xfrm>
            <a:prstGeom prst="rect">
              <a:avLst/>
            </a:prstGeom>
            <a:solidFill>
              <a:srgbClr val="FFFFFF"/>
            </a:solidFill>
            <a:ln w="9525">
              <a:solidFill>
                <a:srgbClr val="00A6A6"/>
              </a:solidFill>
            </a:ln>
          </p:spPr>
        </p:sp>
        <p:sp>
          <p:nvSpPr>
            <p:cNvPr id="9" name="Rectangle 9"/>
            <p:cNvSpPr/>
            <p:nvPr/>
          </p:nvSpPr>
          <p:spPr>
            <a:xfrm>
              <a:off x="609600" y="1714500"/>
              <a:ext cx="5334000" cy="38100"/>
            </a:xfrm>
            <a:prstGeom prst="rect">
              <a:avLst/>
            </a:prstGeom>
            <a:solidFill>
              <a:srgbClr val="00A6A6"/>
            </a:solidFill>
            <a:ln>
              <a:noFill/>
            </a:ln>
          </p:spPr>
        </p:sp>
        <p:sp>
          <p:nvSpPr>
            <p:cNvPr id="10" name="TextBox 10"/>
            <p:cNvSpPr txBox="1"/>
            <p:nvPr/>
          </p:nvSpPr>
          <p:spPr>
            <a:xfrm>
              <a:off x="902970" y="1909762"/>
              <a:ext cx="611234"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npm</a:t>
              </a:r>
            </a:p>
          </p:txBody>
        </p:sp>
        <p:sp>
          <p:nvSpPr>
            <p:cNvPr id="11" name="TextBox 11"/>
            <p:cNvSpPr txBox="1"/>
            <p:nvPr/>
          </p:nvSpPr>
          <p:spPr>
            <a:xfrm>
              <a:off x="908304" y="2289810"/>
              <a:ext cx="29333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Paket yöneticisi — bir eylem aracıdır</a:t>
              </a:r>
            </a:p>
          </p:txBody>
        </p:sp>
        <p:sp>
          <p:nvSpPr>
            <p:cNvPr id="12" name="TextBox 12"/>
            <p:cNvSpPr txBox="1"/>
            <p:nvPr/>
          </p:nvSpPr>
          <p:spPr>
            <a:xfrm>
              <a:off x="906399" y="2630329"/>
              <a:ext cx="435025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Paket kurmayı, kaldırmayı, sürümlemeyi ve</a:t>
              </a:r>
              <a:br/>
              <a:r>
                <a:rPr lang="tr-TR" sz="1580" dirty="0">
                  <a:solidFill>
                    <a:srgbClr val="172B3A"/>
                  </a:solidFill>
                  <a:latin typeface="+mn-lt"/>
                  <a:ea typeface="+mn-ea"/>
                  <a:cs typeface="+mn-cs"/>
                </a:rPr>
                <a:t>komut çalıştırmayı sağlar.</a:t>
              </a:r>
            </a:p>
          </p:txBody>
        </p:sp>
        <p:grpSp>
          <p:nvGrpSpPr>
            <p:cNvPr id="15" name="npm-komutlari"/>
            <p:cNvGrpSpPr/>
            <p:nvPr/>
          </p:nvGrpSpPr>
          <p:grpSpPr>
            <a:xfrm>
              <a:off x="907161" y="3389471"/>
              <a:ext cx="3484039" cy="564452"/>
              <a:chOff x="907161" y="3389471"/>
              <a:chExt cx="3484039" cy="564452"/>
            </a:xfrm>
          </p:grpSpPr>
          <p:sp>
            <p:nvSpPr>
              <p:cNvPr id="13" name="TextBox 13"/>
              <p:cNvSpPr txBox="1"/>
              <p:nvPr/>
            </p:nvSpPr>
            <p:spPr>
              <a:xfrm>
                <a:off x="907161" y="3389471"/>
                <a:ext cx="3484039"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npm install --save-dev typescript</a:t>
                </a:r>
              </a:p>
            </p:txBody>
          </p:sp>
          <p:sp>
            <p:nvSpPr>
              <p:cNvPr id="14" name="TextBox 14"/>
              <p:cNvSpPr txBox="1"/>
              <p:nvPr/>
            </p:nvSpPr>
            <p:spPr>
              <a:xfrm>
                <a:off x="907161" y="3675221"/>
                <a:ext cx="1696690"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npm run gelistir</a:t>
                </a:r>
              </a:p>
            </p:txBody>
          </p:sp>
        </p:grpSp>
      </p:grpSp>
      <p:grpSp>
        <p:nvGrpSpPr>
          <p:cNvPr id="25" name="manifest-karti"/>
          <p:cNvGrpSpPr/>
          <p:nvPr/>
        </p:nvGrpSpPr>
        <p:grpSpPr>
          <a:xfrm>
            <a:off x="6248400" y="1714500"/>
            <a:ext cx="5334000" cy="2381250"/>
            <a:chOff x="6248400" y="1714500"/>
            <a:chExt cx="5334000" cy="2381250"/>
          </a:xfrm>
        </p:grpSpPr>
        <p:sp>
          <p:nvSpPr>
            <p:cNvPr id="17" name="Rectangle 17"/>
            <p:cNvSpPr/>
            <p:nvPr/>
          </p:nvSpPr>
          <p:spPr>
            <a:xfrm>
              <a:off x="6248400" y="1714500"/>
              <a:ext cx="5334000" cy="2381250"/>
            </a:xfrm>
            <a:prstGeom prst="rect">
              <a:avLst/>
            </a:prstGeom>
            <a:solidFill>
              <a:srgbClr val="FFFFFF"/>
            </a:solidFill>
            <a:ln w="9525">
              <a:solidFill>
                <a:srgbClr val="2E86AB"/>
              </a:solidFill>
            </a:ln>
          </p:spPr>
        </p:sp>
        <p:sp>
          <p:nvSpPr>
            <p:cNvPr id="18" name="Rectangle 18"/>
            <p:cNvSpPr/>
            <p:nvPr/>
          </p:nvSpPr>
          <p:spPr>
            <a:xfrm>
              <a:off x="6248400" y="1714500"/>
              <a:ext cx="5334000" cy="38100"/>
            </a:xfrm>
            <a:prstGeom prst="rect">
              <a:avLst/>
            </a:prstGeom>
            <a:solidFill>
              <a:srgbClr val="2E86AB"/>
            </a:solidFill>
            <a:ln>
              <a:noFill/>
            </a:ln>
          </p:spPr>
        </p:sp>
        <p:sp>
          <p:nvSpPr>
            <p:cNvPr id="19" name="TextBox 19"/>
            <p:cNvSpPr txBox="1"/>
            <p:nvPr/>
          </p:nvSpPr>
          <p:spPr>
            <a:xfrm>
              <a:off x="6541770" y="1909762"/>
              <a:ext cx="2042412"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package.json</a:t>
              </a:r>
            </a:p>
          </p:txBody>
        </p:sp>
        <p:sp>
          <p:nvSpPr>
            <p:cNvPr id="20" name="TextBox 20"/>
            <p:cNvSpPr txBox="1"/>
            <p:nvPr/>
          </p:nvSpPr>
          <p:spPr>
            <a:xfrm>
              <a:off x="6547104" y="2289810"/>
              <a:ext cx="26990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Manifest — bir bildirim dosyasıdır</a:t>
              </a:r>
            </a:p>
          </p:txBody>
        </p:sp>
        <p:sp>
          <p:nvSpPr>
            <p:cNvPr id="21" name="TextBox 21"/>
            <p:cNvSpPr txBox="1"/>
            <p:nvPr/>
          </p:nvSpPr>
          <p:spPr>
            <a:xfrm>
              <a:off x="6545199" y="2630329"/>
              <a:ext cx="394893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Projenin adı, sürümü, bağımlılıkları ve</a:t>
              </a:r>
              <a:br/>
              <a:r>
                <a:rPr lang="tr-TR" sz="1580" dirty="0">
                  <a:solidFill>
                    <a:srgbClr val="172B3A"/>
                  </a:solidFill>
                  <a:latin typeface="+mn-lt"/>
                  <a:ea typeface="+mn-ea"/>
                  <a:cs typeface="+mn-cs"/>
                </a:rPr>
                <a:t>script'leri gibi bilgileri taşır.</a:t>
              </a:r>
            </a:p>
          </p:txBody>
        </p:sp>
        <p:grpSp>
          <p:nvGrpSpPr>
            <p:cNvPr id="24" name="manifest-alanlari"/>
            <p:cNvGrpSpPr/>
            <p:nvPr/>
          </p:nvGrpSpPr>
          <p:grpSpPr>
            <a:xfrm>
              <a:off x="6545961" y="3389471"/>
              <a:ext cx="2327519" cy="564452"/>
              <a:chOff x="6545961" y="3389471"/>
              <a:chExt cx="2327519" cy="564452"/>
            </a:xfrm>
          </p:grpSpPr>
          <p:sp>
            <p:nvSpPr>
              <p:cNvPr id="22" name="TextBox 22"/>
              <p:cNvSpPr txBox="1"/>
              <p:nvPr/>
            </p:nvSpPr>
            <p:spPr>
              <a:xfrm>
                <a:off x="6545961" y="3389471"/>
                <a:ext cx="2222381"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name · version · type</a:t>
                </a:r>
              </a:p>
            </p:txBody>
          </p:sp>
          <p:sp>
            <p:nvSpPr>
              <p:cNvPr id="23" name="TextBox 23"/>
              <p:cNvSpPr txBox="1"/>
              <p:nvPr/>
            </p:nvSpPr>
            <p:spPr>
              <a:xfrm>
                <a:off x="6545961" y="3675221"/>
                <a:ext cx="2327519"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scripts · dependencies</a:t>
                </a:r>
              </a:p>
            </p:txBody>
          </p:sp>
        </p:grpSp>
      </p:grpSp>
      <p:grpSp>
        <p:nvGrpSpPr>
          <p:cNvPr id="29" name="kulup-analojisi"/>
          <p:cNvGrpSpPr/>
          <p:nvPr/>
        </p:nvGrpSpPr>
        <p:grpSpPr>
          <a:xfrm>
            <a:off x="609600" y="4362450"/>
            <a:ext cx="10972800" cy="952500"/>
            <a:chOff x="609600" y="4362450"/>
            <a:chExt cx="10972800" cy="952500"/>
          </a:xfrm>
        </p:grpSpPr>
        <p:sp>
          <p:nvSpPr>
            <p:cNvPr id="26" name="Rectangle 26"/>
            <p:cNvSpPr/>
            <p:nvPr/>
          </p:nvSpPr>
          <p:spPr>
            <a:xfrm>
              <a:off x="609600" y="4362450"/>
              <a:ext cx="10972800" cy="952500"/>
            </a:xfrm>
            <a:prstGeom prst="rect">
              <a:avLst/>
            </a:prstGeom>
            <a:solidFill>
              <a:srgbClr val="EAF4F6"/>
            </a:solidFill>
            <a:ln>
              <a:noFill/>
            </a:ln>
          </p:spPr>
        </p:sp>
        <p:sp>
          <p:nvSpPr>
            <p:cNvPr id="27" name="Rectangle 27"/>
            <p:cNvSpPr/>
            <p:nvPr/>
          </p:nvSpPr>
          <p:spPr>
            <a:xfrm>
              <a:off x="609600" y="4362450"/>
              <a:ext cx="57150" cy="952500"/>
            </a:xfrm>
            <a:prstGeom prst="rect">
              <a:avLst/>
            </a:prstGeom>
            <a:solidFill>
              <a:srgbClr val="00A6A6"/>
            </a:solidFill>
            <a:ln>
              <a:noFill/>
            </a:ln>
          </p:spPr>
        </p:sp>
        <p:sp>
          <p:nvSpPr>
            <p:cNvPr id="28" name="TextBox 28"/>
            <p:cNvSpPr txBox="1"/>
            <p:nvPr/>
          </p:nvSpPr>
          <p:spPr>
            <a:xfrm>
              <a:off x="944499" y="4478179"/>
              <a:ext cx="7314006"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 xml:space="preserve">Bir okul kulübünde </a:t>
              </a:r>
              <a:r>
                <a:rPr lang="tr-TR" sz="1580" b="1" dirty="0">
                  <a:solidFill>
                    <a:srgbClr val="12355B"/>
                  </a:solidFill>
                  <a:latin typeface="+mn-lt"/>
                  <a:ea typeface="+mn-ea"/>
                  <a:cs typeface="+mn-cs"/>
                </a:rPr>
                <a:t>npm malzeme sorumlusuna</a:t>
              </a:r>
              <a:r>
                <a:rPr lang="tr-TR" sz="1580" dirty="0">
                  <a:solidFill>
                    <a:srgbClr val="172B3A"/>
                  </a:solidFill>
                  <a:latin typeface="+mn-lt"/>
                  <a:ea typeface="+mn-ea"/>
                  <a:cs typeface="+mn-cs"/>
                </a:rPr>
                <a:t xml:space="preserve">, </a:t>
              </a:r>
              <a:r>
                <a:rPr lang="tr-TR" sz="1580" b="1" dirty="0">
                  <a:solidFill>
                    <a:srgbClr val="12355B"/>
                  </a:solidFill>
                  <a:latin typeface="+mn-lt"/>
                  <a:ea typeface="+mn-ea"/>
                  <a:cs typeface="+mn-cs"/>
                </a:rPr>
                <a:t>package.json ise ihtiyaç</a:t>
              </a:r>
              <a:br/>
              <a:r>
                <a:rPr lang="tr-TR" sz="1580" b="1" dirty="0">
                  <a:solidFill>
                    <a:srgbClr val="12355B"/>
                  </a:solidFill>
                  <a:latin typeface="+mn-lt"/>
                  <a:ea typeface="+mn-ea"/>
                  <a:cs typeface="+mn-cs"/>
                </a:rPr>
                <a:t>listesi ve etkinlik takvimine</a:t>
              </a:r>
              <a:r>
                <a:rPr lang="tr-TR" sz="1580" dirty="0">
                  <a:solidFill>
                    <a:srgbClr val="172B3A"/>
                  </a:solidFill>
                  <a:latin typeface="+mn-lt"/>
                  <a:ea typeface="+mn-ea"/>
                  <a:cs typeface="+mn-cs"/>
                </a:rPr>
                <a:t xml:space="preserve"> benzer. Sorumlu ihtiyaçları getirir; liste ise</a:t>
              </a:r>
              <a:br/>
              <a:r>
                <a:rPr lang="tr-TR" sz="1580" dirty="0">
                  <a:solidFill>
                    <a:srgbClr val="172B3A"/>
                  </a:solidFill>
                  <a:latin typeface="+mn-lt"/>
                  <a:ea typeface="+mn-ea"/>
                  <a:cs typeface="+mn-cs"/>
                </a:rPr>
                <a:t>hangi malzemelerin ve hangi görevlerin gerektiğini tanımlar.</a:t>
              </a:r>
            </a:p>
          </p:txBody>
        </p:sp>
      </p:grpSp>
      <p:grpSp>
        <p:nvGrpSpPr>
          <p:cNvPr id="33" name="kilit-dosyasi"/>
          <p:cNvGrpSpPr/>
          <p:nvPr/>
        </p:nvGrpSpPr>
        <p:grpSpPr>
          <a:xfrm>
            <a:off x="609600" y="5581650"/>
            <a:ext cx="10972800" cy="704850"/>
            <a:chOff x="609600" y="5581650"/>
            <a:chExt cx="10972800" cy="704850"/>
          </a:xfrm>
        </p:grpSpPr>
        <p:sp>
          <p:nvSpPr>
            <p:cNvPr id="30" name="Rectangle 30"/>
            <p:cNvSpPr/>
            <p:nvPr/>
          </p:nvSpPr>
          <p:spPr>
            <a:xfrm>
              <a:off x="609600" y="5581650"/>
              <a:ext cx="10972800" cy="704850"/>
            </a:xfrm>
            <a:prstGeom prst="rect">
              <a:avLst/>
            </a:prstGeom>
            <a:solidFill>
              <a:srgbClr val="FFFFFF"/>
            </a:solidFill>
            <a:ln w="9525">
              <a:solidFill>
                <a:srgbClr val="B8CBD3"/>
              </a:solidFill>
            </a:ln>
          </p:spPr>
        </p:sp>
        <p:sp>
          <p:nvSpPr>
            <p:cNvPr id="31" name="TextBox 31"/>
            <p:cNvSpPr txBox="1"/>
            <p:nvPr/>
          </p:nvSpPr>
          <p:spPr>
            <a:xfrm>
              <a:off x="944499" y="5716429"/>
              <a:ext cx="199251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package-lock.json</a:t>
              </a:r>
            </a:p>
          </p:txBody>
        </p:sp>
        <p:sp>
          <p:nvSpPr>
            <p:cNvPr id="32" name="TextBox 32"/>
            <p:cNvSpPr txBox="1"/>
            <p:nvPr/>
          </p:nvSpPr>
          <p:spPr>
            <a:xfrm>
              <a:off x="946404" y="6023610"/>
              <a:ext cx="949195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Kurulan bağımlılıkların kesin sürüm ağacını kaydeder; farklı bilgisayarlarda daha tutarlı kurulum yapılmasını sağlar.</a:t>
              </a:r>
            </a:p>
          </p:txBody>
        </p:sp>
      </p:grpSp>
      <p:grpSp>
        <p:nvGrpSpPr>
          <p:cNvPr id="36" name="footer"/>
          <p:cNvGrpSpPr/>
          <p:nvPr/>
        </p:nvGrpSpPr>
        <p:grpSpPr>
          <a:xfrm>
            <a:off x="603504" y="6461760"/>
            <a:ext cx="10984992" cy="234696"/>
            <a:chOff x="603504" y="6461760"/>
            <a:chExt cx="10984992" cy="234696"/>
          </a:xfrm>
        </p:grpSpPr>
        <p:sp>
          <p:nvSpPr>
            <p:cNvPr id="34" name="TextBox 34"/>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5" name="TextBox 35"/>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79449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package.json ve tsconfig.json anatomisi</a:t>
              </a:r>
            </a:p>
          </p:txBody>
        </p:sp>
      </p:grpSp>
      <p:grpSp>
        <p:nvGrpSpPr>
          <p:cNvPr id="10" name="package-json"/>
          <p:cNvGrpSpPr/>
          <p:nvPr/>
        </p:nvGrpSpPr>
        <p:grpSpPr>
          <a:xfrm>
            <a:off x="603504" y="1261110"/>
            <a:ext cx="5340096" cy="3177540"/>
            <a:chOff x="603504" y="1261110"/>
            <a:chExt cx="5340096" cy="3177540"/>
          </a:xfrm>
        </p:grpSpPr>
        <p:sp>
          <p:nvSpPr>
            <p:cNvPr id="6" name="TextBox 6"/>
            <p:cNvSpPr txBox="1"/>
            <p:nvPr/>
          </p:nvSpPr>
          <p:spPr>
            <a:xfrm>
              <a:off x="603504" y="1261110"/>
              <a:ext cx="10379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package.json</a:t>
              </a:r>
            </a:p>
          </p:txBody>
        </p:sp>
        <p:sp>
          <p:nvSpPr>
            <p:cNvPr id="7" name="Rectangle 7"/>
            <p:cNvSpPr/>
            <p:nvPr/>
          </p:nvSpPr>
          <p:spPr>
            <a:xfrm>
              <a:off x="609600" y="1504950"/>
              <a:ext cx="5334000" cy="2933700"/>
            </a:xfrm>
            <a:prstGeom prst="rect">
              <a:avLst/>
            </a:prstGeom>
            <a:solidFill>
              <a:srgbClr val="12355B"/>
            </a:solidFill>
            <a:ln>
              <a:noFill/>
            </a:ln>
          </p:spPr>
        </p:sp>
        <p:sp>
          <p:nvSpPr>
            <p:cNvPr id="8" name="Rectangle 8"/>
            <p:cNvSpPr/>
            <p:nvPr/>
          </p:nvSpPr>
          <p:spPr>
            <a:xfrm>
              <a:off x="609600" y="1504950"/>
              <a:ext cx="38100" cy="2933700"/>
            </a:xfrm>
            <a:prstGeom prst="rect">
              <a:avLst/>
            </a:prstGeom>
            <a:solidFill>
              <a:srgbClr val="00A6A6"/>
            </a:solidFill>
            <a:ln>
              <a:noFill/>
            </a:ln>
          </p:spPr>
        </p:sp>
        <p:sp>
          <p:nvSpPr>
            <p:cNvPr id="9" name="TextBox 9"/>
            <p:cNvSpPr txBox="1"/>
            <p:nvPr/>
          </p:nvSpPr>
          <p:spPr>
            <a:xfrm>
              <a:off x="907161" y="1598771"/>
              <a:ext cx="3386836" cy="2793302"/>
            </a:xfrm>
            <a:prstGeom prst="rect">
              <a:avLst/>
            </a:prstGeom>
            <a:noFill/>
            <a:ln>
              <a:noFill/>
            </a:ln>
          </p:spPr>
          <p:txBody>
            <a:bodyPr wrap="none" lIns="0" tIns="0" rIns="0" bIns="0" anchor="t" anchorCtr="0">
              <a:spAutoFit/>
            </a:bodyPr>
            <a:lstStyle/>
            <a:p>
              <a:pPr algn="l">
                <a:lnSpc>
                  <a:spcPts val="1800"/>
                </a:lnSpc>
              </a:pP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"name": "nodejs-bolum-uygulamasi",</a:t>
              </a:r>
              <a:br/>
              <a:r>
                <a:rPr lang="tr-TR" sz="1420" dirty="0">
                  <a:solidFill>
                    <a:srgbClr val="EAF4F6"/>
                  </a:solidFill>
                  <a:latin typeface="Consolas"/>
                  <a:ea typeface="Consolas"/>
                  <a:cs typeface="Consolas"/>
                </a:rPr>
                <a:t>"version": "1.0.0",</a:t>
              </a:r>
              <a:br/>
              <a:r>
                <a:rPr lang="tr-TR" sz="1420" dirty="0">
                  <a:solidFill>
                    <a:srgbClr val="EAF4F6"/>
                  </a:solidFill>
                  <a:latin typeface="Consolas"/>
                  <a:ea typeface="Consolas"/>
                  <a:cs typeface="Consolas"/>
                </a:rPr>
                <a:t>"type": "module",</a:t>
              </a:r>
              <a:br/>
              <a:r>
                <a:rPr lang="tr-TR" sz="1420" dirty="0">
                  <a:solidFill>
                    <a:srgbClr val="EAF4F6"/>
                  </a:solidFill>
                  <a:latin typeface="Consolas"/>
                  <a:ea typeface="Consolas"/>
                  <a:cs typeface="Consolas"/>
                </a:rPr>
                <a:t>"scripts": {</a:t>
              </a:r>
              <a:br/>
              <a:r>
                <a:rPr lang="tr-TR" sz="1420" dirty="0">
                  <a:solidFill>
                    <a:srgbClr val="EAF4F6"/>
                  </a:solidFill>
                  <a:latin typeface="Consolas"/>
                  <a:ea typeface="Consolas"/>
                  <a:cs typeface="Consolas"/>
                </a:rPr>
                <a:t>"gelistir": "tsx src/sunucu.ts",</a:t>
              </a:r>
              <a:br/>
              <a:r>
                <a:rPr lang="tr-TR" sz="1420" dirty="0">
                  <a:solidFill>
                    <a:srgbClr val="EAF4F6"/>
                  </a:solidFill>
                  <a:latin typeface="Consolas"/>
                  <a:ea typeface="Consolas"/>
                  <a:cs typeface="Consolas"/>
                </a:rPr>
                <a:t>"kontrol": "tsc --noEmit"</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"devDependencies": {</a:t>
              </a:r>
              <a:br/>
              <a:r>
                <a:rPr lang="tr-TR" sz="1420" dirty="0">
                  <a:solidFill>
                    <a:srgbClr val="EAF4F6"/>
                  </a:solidFill>
                  <a:latin typeface="Consolas"/>
                  <a:ea typeface="Consolas"/>
                  <a:cs typeface="Consolas"/>
                </a:rPr>
                <a:t>"@types/node": "^24.0.0",</a:t>
              </a:r>
              <a:br/>
              <a:r>
                <a:rPr lang="tr-TR" sz="1420" dirty="0">
                  <a:solidFill>
                    <a:srgbClr val="EAF4F6"/>
                  </a:solidFill>
                  <a:latin typeface="Consolas"/>
                  <a:ea typeface="Consolas"/>
                  <a:cs typeface="Consolas"/>
                </a:rPr>
                <a:t>"tsx": "^4.0.0"</a:t>
              </a:r>
              <a:br/>
              <a:r>
                <a:rPr lang="tr-TR" sz="1420" dirty="0">
                  <a:solidFill>
                    <a:srgbClr val="EAF4F6"/>
                  </a:solidFill>
                  <a:latin typeface="Consolas"/>
                  <a:ea typeface="Consolas"/>
                  <a:cs typeface="Consolas"/>
                </a:rPr>
                <a:t>}</a:t>
              </a:r>
            </a:p>
          </p:txBody>
        </p:sp>
      </p:grpSp>
      <p:grpSp>
        <p:nvGrpSpPr>
          <p:cNvPr id="15" name="tsconfig"/>
          <p:cNvGrpSpPr/>
          <p:nvPr/>
        </p:nvGrpSpPr>
        <p:grpSpPr>
          <a:xfrm>
            <a:off x="6242304" y="1261110"/>
            <a:ext cx="5340096" cy="3177540"/>
            <a:chOff x="6242304" y="1261110"/>
            <a:chExt cx="5340096" cy="3177540"/>
          </a:xfrm>
        </p:grpSpPr>
        <p:sp>
          <p:nvSpPr>
            <p:cNvPr id="11" name="TextBox 11"/>
            <p:cNvSpPr txBox="1"/>
            <p:nvPr/>
          </p:nvSpPr>
          <p:spPr>
            <a:xfrm>
              <a:off x="6242304" y="1261110"/>
              <a:ext cx="10864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tsconfig.json</a:t>
              </a:r>
            </a:p>
          </p:txBody>
        </p:sp>
        <p:sp>
          <p:nvSpPr>
            <p:cNvPr id="12" name="Rectangle 12"/>
            <p:cNvSpPr/>
            <p:nvPr/>
          </p:nvSpPr>
          <p:spPr>
            <a:xfrm>
              <a:off x="6248400" y="1504950"/>
              <a:ext cx="5334000" cy="2933700"/>
            </a:xfrm>
            <a:prstGeom prst="rect">
              <a:avLst/>
            </a:prstGeom>
            <a:solidFill>
              <a:srgbClr val="12355B"/>
            </a:solidFill>
            <a:ln>
              <a:noFill/>
            </a:ln>
          </p:spPr>
        </p:sp>
        <p:sp>
          <p:nvSpPr>
            <p:cNvPr id="13" name="Rectangle 13"/>
            <p:cNvSpPr/>
            <p:nvPr/>
          </p:nvSpPr>
          <p:spPr>
            <a:xfrm>
              <a:off x="6248400" y="1504950"/>
              <a:ext cx="38100" cy="2933700"/>
            </a:xfrm>
            <a:prstGeom prst="rect">
              <a:avLst/>
            </a:prstGeom>
            <a:solidFill>
              <a:srgbClr val="2E86AB"/>
            </a:solidFill>
            <a:ln>
              <a:noFill/>
            </a:ln>
          </p:spPr>
        </p:sp>
        <p:sp>
          <p:nvSpPr>
            <p:cNvPr id="14" name="TextBox 14"/>
            <p:cNvSpPr txBox="1"/>
            <p:nvPr/>
          </p:nvSpPr>
          <p:spPr>
            <a:xfrm>
              <a:off x="6545961" y="1598771"/>
              <a:ext cx="3089275" cy="2336102"/>
            </a:xfrm>
            <a:prstGeom prst="rect">
              <a:avLst/>
            </a:prstGeom>
            <a:noFill/>
            <a:ln>
              <a:noFill/>
            </a:ln>
          </p:spPr>
          <p:txBody>
            <a:bodyPr wrap="none" lIns="0" tIns="0" rIns="0" bIns="0" anchor="t" anchorCtr="0">
              <a:spAutoFit/>
            </a:bodyPr>
            <a:lstStyle/>
            <a:p>
              <a:pPr algn="l">
                <a:lnSpc>
                  <a:spcPts val="1800"/>
                </a:lnSpc>
              </a:pP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"compilerOptions": {</a:t>
              </a:r>
              <a:br/>
              <a:r>
                <a:rPr lang="tr-TR" sz="1420" dirty="0">
                  <a:solidFill>
                    <a:srgbClr val="EAF4F6"/>
                  </a:solidFill>
                  <a:latin typeface="Consolas"/>
                  <a:ea typeface="Consolas"/>
                  <a:cs typeface="Consolas"/>
                </a:rPr>
                <a:t>"target": "ES2022",</a:t>
              </a:r>
              <a:br/>
              <a:r>
                <a:rPr lang="tr-TR" sz="1420" dirty="0">
                  <a:solidFill>
                    <a:srgbClr val="EAF4F6"/>
                  </a:solidFill>
                  <a:latin typeface="Consolas"/>
                  <a:ea typeface="Consolas"/>
                  <a:cs typeface="Consolas"/>
                </a:rPr>
                <a:t>"module": "NodeNext",</a:t>
              </a:r>
              <a:br/>
              <a:r>
                <a:rPr lang="tr-TR" sz="1420" dirty="0">
                  <a:solidFill>
                    <a:srgbClr val="EAF4F6"/>
                  </a:solidFill>
                  <a:latin typeface="Consolas"/>
                  <a:ea typeface="Consolas"/>
                  <a:cs typeface="Consolas"/>
                </a:rPr>
                <a:t>"moduleResolution": "NodeNext",</a:t>
              </a:r>
              <a:br/>
              <a:r>
                <a:rPr lang="tr-TR" sz="1420" dirty="0">
                  <a:solidFill>
                    <a:srgbClr val="EAF4F6"/>
                  </a:solidFill>
                  <a:latin typeface="Consolas"/>
                  <a:ea typeface="Consolas"/>
                  <a:cs typeface="Consolas"/>
                </a:rPr>
                <a:t>"strict": true,</a:t>
              </a:r>
              <a:br/>
              <a:r>
                <a:rPr lang="tr-TR" sz="1420" dirty="0">
                  <a:solidFill>
                    <a:srgbClr val="EAF4F6"/>
                  </a:solidFill>
                  <a:latin typeface="Consolas"/>
                  <a:ea typeface="Consolas"/>
                  <a:cs typeface="Consolas"/>
                </a:rPr>
                <a:t>"outDir": "dist"</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"include": ["src/**/*.ts"]</a:t>
              </a:r>
              <a:br/>
              <a:r>
                <a:rPr lang="tr-TR" sz="1420" dirty="0">
                  <a:solidFill>
                    <a:srgbClr val="EAF4F6"/>
                  </a:solidFill>
                  <a:latin typeface="Consolas"/>
                  <a:ea typeface="Consolas"/>
                  <a:cs typeface="Consolas"/>
                </a:rPr>
                <a:t>}</a:t>
              </a:r>
            </a:p>
          </p:txBody>
        </p:sp>
      </p:grpSp>
      <p:grpSp>
        <p:nvGrpSpPr>
          <p:cNvPr id="28" name="alan-aciklamalari"/>
          <p:cNvGrpSpPr/>
          <p:nvPr/>
        </p:nvGrpSpPr>
        <p:grpSpPr>
          <a:xfrm>
            <a:off x="601599" y="4782979"/>
            <a:ext cx="10476357" cy="922877"/>
            <a:chOff x="601599" y="4782979"/>
            <a:chExt cx="10476357" cy="922877"/>
          </a:xfrm>
        </p:grpSpPr>
        <p:grpSp>
          <p:nvGrpSpPr>
            <p:cNvPr id="18" name="alan-kimlik"/>
            <p:cNvGrpSpPr/>
            <p:nvPr/>
          </p:nvGrpSpPr>
          <p:grpSpPr>
            <a:xfrm>
              <a:off x="601599" y="4782979"/>
              <a:ext cx="2452497" cy="922877"/>
              <a:chOff x="601599" y="4782979"/>
              <a:chExt cx="2452497" cy="922877"/>
            </a:xfrm>
          </p:grpSpPr>
          <p:sp>
            <p:nvSpPr>
              <p:cNvPr id="16" name="TextBox 16"/>
              <p:cNvSpPr txBox="1"/>
              <p:nvPr/>
            </p:nvSpPr>
            <p:spPr>
              <a:xfrm>
                <a:off x="601599" y="4782979"/>
                <a:ext cx="1612844"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name · version</a:t>
                </a:r>
              </a:p>
            </p:txBody>
          </p:sp>
          <p:sp>
            <p:nvSpPr>
              <p:cNvPr id="17" name="TextBox 17"/>
              <p:cNvSpPr txBox="1"/>
              <p:nvPr/>
            </p:nvSpPr>
            <p:spPr>
              <a:xfrm>
                <a:off x="603504" y="5090160"/>
                <a:ext cx="24505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Paketin adı ve sürümüdür; küçük</a:t>
                </a:r>
                <a:br/>
                <a:r>
                  <a:rPr lang="tr-TR" sz="1200" dirty="0">
                    <a:solidFill>
                      <a:srgbClr val="52616B"/>
                    </a:solidFill>
                    <a:latin typeface="+mn-lt"/>
                    <a:ea typeface="+mn-ea"/>
                    <a:cs typeface="+mn-cs"/>
                  </a:rPr>
                  <a:t>projelerde bile kimlik kartı</a:t>
                </a:r>
                <a:br/>
                <a:r>
                  <a:rPr lang="tr-TR" sz="1200" dirty="0">
                    <a:solidFill>
                      <a:srgbClr val="52616B"/>
                    </a:solidFill>
                    <a:latin typeface="+mn-lt"/>
                    <a:ea typeface="+mn-ea"/>
                    <a:cs typeface="+mn-cs"/>
                  </a:rPr>
                  <a:t>işlevi görür.</a:t>
                </a:r>
              </a:p>
            </p:txBody>
          </p:sp>
        </p:grpSp>
        <p:grpSp>
          <p:nvGrpSpPr>
            <p:cNvPr id="21" name="alan-type"/>
            <p:cNvGrpSpPr/>
            <p:nvPr/>
          </p:nvGrpSpPr>
          <p:grpSpPr>
            <a:xfrm>
              <a:off x="3344799" y="4782979"/>
              <a:ext cx="2574417" cy="732377"/>
              <a:chOff x="3344799" y="4782979"/>
              <a:chExt cx="2574417" cy="732377"/>
            </a:xfrm>
          </p:grpSpPr>
          <p:sp>
            <p:nvSpPr>
              <p:cNvPr id="19" name="TextBox 19"/>
              <p:cNvSpPr txBox="1"/>
              <p:nvPr/>
            </p:nvSpPr>
            <p:spPr>
              <a:xfrm>
                <a:off x="3344799" y="4782979"/>
                <a:ext cx="1668678"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type: "module"</a:t>
                </a:r>
              </a:p>
            </p:txBody>
          </p:sp>
          <p:sp>
            <p:nvSpPr>
              <p:cNvPr id="20" name="TextBox 20"/>
              <p:cNvSpPr txBox="1"/>
              <p:nvPr/>
            </p:nvSpPr>
            <p:spPr>
              <a:xfrm>
                <a:off x="3346704" y="5090160"/>
                <a:ext cx="25725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.js çıktılarının ESM yaklaşımıyla</a:t>
                </a:r>
                <a:br/>
                <a:r>
                  <a:rPr lang="tr-TR" sz="1200" dirty="0">
                    <a:solidFill>
                      <a:srgbClr val="52616B"/>
                    </a:solidFill>
                    <a:latin typeface="+mn-lt"/>
                    <a:ea typeface="+mn-ea"/>
                    <a:cs typeface="+mn-cs"/>
                  </a:rPr>
                  <a:t>yorumlanmasına yardım eder.</a:t>
                </a:r>
              </a:p>
            </p:txBody>
          </p:sp>
        </p:grpSp>
        <p:grpSp>
          <p:nvGrpSpPr>
            <p:cNvPr id="24" name="alan-scripts"/>
            <p:cNvGrpSpPr/>
            <p:nvPr/>
          </p:nvGrpSpPr>
          <p:grpSpPr>
            <a:xfrm>
              <a:off x="6087999" y="4782979"/>
              <a:ext cx="2528697" cy="922877"/>
              <a:chOff x="6087999" y="4782979"/>
              <a:chExt cx="2528697" cy="922877"/>
            </a:xfrm>
          </p:grpSpPr>
          <p:sp>
            <p:nvSpPr>
              <p:cNvPr id="22" name="TextBox 22"/>
              <p:cNvSpPr txBox="1"/>
              <p:nvPr/>
            </p:nvSpPr>
            <p:spPr>
              <a:xfrm>
                <a:off x="6087999" y="4782979"/>
                <a:ext cx="820006"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scripts</a:t>
                </a:r>
              </a:p>
            </p:txBody>
          </p:sp>
          <p:sp>
            <p:nvSpPr>
              <p:cNvPr id="23" name="TextBox 23"/>
              <p:cNvSpPr txBox="1"/>
              <p:nvPr/>
            </p:nvSpPr>
            <p:spPr>
              <a:xfrm>
                <a:off x="6089904" y="5090160"/>
                <a:ext cx="25267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npm run gelistir ve npm run</a:t>
                </a:r>
                <a:br/>
                <a:r>
                  <a:rPr lang="tr-TR" sz="1200" dirty="0">
                    <a:solidFill>
                      <a:srgbClr val="52616B"/>
                    </a:solidFill>
                    <a:latin typeface="+mn-lt"/>
                    <a:ea typeface="+mn-ea"/>
                    <a:cs typeface="+mn-cs"/>
                  </a:rPr>
                  <a:t>kontrol biçiminde çalıştırılır;</a:t>
                </a:r>
                <a:br/>
                <a:r>
                  <a:rPr lang="tr-TR" sz="1200" dirty="0">
                    <a:solidFill>
                      <a:srgbClr val="52616B"/>
                    </a:solidFill>
                    <a:latin typeface="+mn-lt"/>
                    <a:ea typeface="+mn-ea"/>
                    <a:cs typeface="+mn-cs"/>
                  </a:rPr>
                  <a:t>komutu hafızadan dosyaya taşır.</a:t>
                </a:r>
              </a:p>
            </p:txBody>
          </p:sp>
        </p:grpSp>
        <p:grpSp>
          <p:nvGrpSpPr>
            <p:cNvPr id="27" name="alan-dev"/>
            <p:cNvGrpSpPr/>
            <p:nvPr/>
          </p:nvGrpSpPr>
          <p:grpSpPr>
            <a:xfrm>
              <a:off x="8831199" y="4782979"/>
              <a:ext cx="2246757" cy="922877"/>
              <a:chOff x="8831199" y="4782979"/>
              <a:chExt cx="2246757" cy="922877"/>
            </a:xfrm>
          </p:grpSpPr>
          <p:sp>
            <p:nvSpPr>
              <p:cNvPr id="25" name="TextBox 25"/>
              <p:cNvSpPr txBox="1"/>
              <p:nvPr/>
            </p:nvSpPr>
            <p:spPr>
              <a:xfrm>
                <a:off x="8831199" y="4782979"/>
                <a:ext cx="1809421"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devDependencies</a:t>
                </a:r>
              </a:p>
            </p:txBody>
          </p:sp>
          <p:sp>
            <p:nvSpPr>
              <p:cNvPr id="26" name="TextBox 26"/>
              <p:cNvSpPr txBox="1"/>
              <p:nvPr/>
            </p:nvSpPr>
            <p:spPr>
              <a:xfrm>
                <a:off x="8833104" y="5090160"/>
                <a:ext cx="22448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Yalnızca geliştirmede gereken</a:t>
                </a:r>
                <a:br/>
                <a:r>
                  <a:rPr lang="tr-TR" sz="1200" dirty="0">
                    <a:solidFill>
                      <a:srgbClr val="52616B"/>
                    </a:solidFill>
                    <a:latin typeface="+mn-lt"/>
                    <a:ea typeface="+mn-ea"/>
                    <a:cs typeface="+mn-cs"/>
                  </a:rPr>
                  <a:t>araçlar; üretim sunucusunun</a:t>
                </a:r>
                <a:br/>
                <a:r>
                  <a:rPr lang="tr-TR" sz="1200" dirty="0">
                    <a:solidFill>
                      <a:srgbClr val="52616B"/>
                    </a:solidFill>
                    <a:latin typeface="+mn-lt"/>
                    <a:ea typeface="+mn-ea"/>
                    <a:cs typeface="+mn-cs"/>
                  </a:rPr>
                  <a:t>çalışma anında gerekmez.</a:t>
                </a:r>
              </a:p>
            </p:txBody>
          </p:sp>
        </p:grpSp>
      </p:grpSp>
      <p:grpSp>
        <p:nvGrpSpPr>
          <p:cNvPr id="30" name="nodenext-notu"/>
          <p:cNvGrpSpPr/>
          <p:nvPr/>
        </p:nvGrpSpPr>
        <p:grpSpPr>
          <a:xfrm>
            <a:off x="603504" y="5871210"/>
            <a:ext cx="6748272" cy="444246"/>
            <a:chOff x="603504" y="5871210"/>
            <a:chExt cx="6748272" cy="444246"/>
          </a:xfrm>
        </p:grpSpPr>
        <p:sp>
          <p:nvSpPr>
            <p:cNvPr id="29" name="TextBox 29"/>
            <p:cNvSpPr txBox="1"/>
            <p:nvPr/>
          </p:nvSpPr>
          <p:spPr>
            <a:xfrm>
              <a:off x="603504" y="5871210"/>
              <a:ext cx="67482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TypeScript 4.7'de tanıtılan node16 ve nodenext seçenekleri, ESM ile CommonJS arasındaki</a:t>
              </a:r>
              <a:br/>
              <a:r>
                <a:rPr lang="tr-TR" sz="1200" dirty="0">
                  <a:solidFill>
                    <a:srgbClr val="52616B"/>
                  </a:solidFill>
                  <a:latin typeface="+mn-lt"/>
                  <a:ea typeface="+mn-ea"/>
                  <a:cs typeface="+mn-cs"/>
                </a:rPr>
                <a:t>modül çözümleme farklarını daha doğru modeller.</a:t>
              </a:r>
            </a:p>
          </p:txBody>
        </p:sp>
      </p:grpSp>
      <p:grpSp>
        <p:nvGrpSpPr>
          <p:cNvPr id="33" name="footer"/>
          <p:cNvGrpSpPr/>
          <p:nvPr/>
        </p:nvGrpSpPr>
        <p:grpSpPr>
          <a:xfrm>
            <a:off x="603504" y="6461760"/>
            <a:ext cx="10984992" cy="234696"/>
            <a:chOff x="603504" y="6461760"/>
            <a:chExt cx="10984992" cy="234696"/>
          </a:xfrm>
        </p:grpSpPr>
        <p:sp>
          <p:nvSpPr>
            <p:cNvPr id="31" name="TextBox 31"/>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2" name="TextBox 3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462718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SemVer ve kilit dosyası</a:t>
              </a:r>
            </a:p>
          </p:txBody>
        </p:sp>
      </p:grpSp>
      <p:grpSp>
        <p:nvGrpSpPr>
          <p:cNvPr id="23" name="surum-anatomisi"/>
          <p:cNvGrpSpPr/>
          <p:nvPr/>
        </p:nvGrpSpPr>
        <p:grpSpPr>
          <a:xfrm>
            <a:off x="590550" y="1299210"/>
            <a:ext cx="4219840" cy="2296383"/>
            <a:chOff x="590550" y="1299210"/>
            <a:chExt cx="4219840" cy="2296383"/>
          </a:xfrm>
        </p:grpSpPr>
        <p:sp>
          <p:nvSpPr>
            <p:cNvPr id="14" name="TextBox 14"/>
            <p:cNvSpPr txBox="1"/>
            <p:nvPr/>
          </p:nvSpPr>
          <p:spPr>
            <a:xfrm>
              <a:off x="603504" y="1299210"/>
              <a:ext cx="408842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Semantic Versioning 2.0.0 (Preston-Werner, 2013)</a:t>
              </a:r>
            </a:p>
          </p:txBody>
        </p:sp>
        <p:sp>
          <p:nvSpPr>
            <p:cNvPr id="15" name="TextBox 15"/>
            <p:cNvSpPr txBox="1"/>
            <p:nvPr/>
          </p:nvSpPr>
          <p:spPr>
            <a:xfrm>
              <a:off x="590550" y="1626870"/>
              <a:ext cx="2137162" cy="1047750"/>
            </a:xfrm>
            <a:prstGeom prst="rect">
              <a:avLst/>
            </a:prstGeom>
            <a:noFill/>
            <a:ln>
              <a:noFill/>
            </a:ln>
          </p:spPr>
          <p:txBody>
            <a:bodyPr wrap="none" lIns="0" tIns="0" rIns="0" bIns="0" anchor="t" anchorCtr="0">
              <a:spAutoFit/>
            </a:bodyPr>
            <a:lstStyle/>
            <a:p>
              <a:pPr algn="l"/>
              <a:r>
                <a:rPr lang="tr-TR" sz="5400" b="1" dirty="0">
                  <a:solidFill>
                    <a:srgbClr val="12355B"/>
                  </a:solidFill>
                  <a:latin typeface="+mj-lt"/>
                  <a:ea typeface="+mj-ea"/>
                  <a:cs typeface="+mj-cs"/>
                </a:rPr>
                <a:t>1</a:t>
              </a:r>
              <a:r>
                <a:rPr lang="tr-TR" sz="5400" b="1" dirty="0">
                  <a:solidFill>
                    <a:srgbClr val="B8CBD3"/>
                  </a:solidFill>
                  <a:latin typeface="+mj-lt"/>
                  <a:ea typeface="+mj-ea"/>
                  <a:cs typeface="+mj-cs"/>
                </a:rPr>
                <a:t>.</a:t>
              </a:r>
              <a:r>
                <a:rPr lang="tr-TR" sz="5400" b="1" dirty="0">
                  <a:solidFill>
                    <a:srgbClr val="00A6A6"/>
                  </a:solidFill>
                  <a:latin typeface="+mj-lt"/>
                  <a:ea typeface="+mj-ea"/>
                  <a:cs typeface="+mj-cs"/>
                </a:rPr>
                <a:t>2</a:t>
              </a:r>
              <a:r>
                <a:rPr lang="tr-TR" sz="5400" b="1" dirty="0">
                  <a:solidFill>
                    <a:srgbClr val="B8CBD3"/>
                  </a:solidFill>
                  <a:latin typeface="+mj-lt"/>
                  <a:ea typeface="+mj-ea"/>
                  <a:cs typeface="+mj-cs"/>
                </a:rPr>
                <a:t>.</a:t>
              </a:r>
              <a:r>
                <a:rPr lang="tr-TR" sz="5400" b="1" dirty="0">
                  <a:solidFill>
                    <a:srgbClr val="2E86AB"/>
                  </a:solidFill>
                  <a:latin typeface="+mj-lt"/>
                  <a:ea typeface="+mj-ea"/>
                  <a:cs typeface="+mj-cs"/>
                </a:rPr>
                <a:t>3</a:t>
              </a:r>
            </a:p>
          </p:txBody>
        </p:sp>
        <p:grpSp>
          <p:nvGrpSpPr>
            <p:cNvPr id="22" name="surum-lejandi"/>
            <p:cNvGrpSpPr/>
            <p:nvPr/>
          </p:nvGrpSpPr>
          <p:grpSpPr>
            <a:xfrm>
              <a:off x="609600" y="2525554"/>
              <a:ext cx="4200790" cy="1070039"/>
              <a:chOff x="609600" y="2525554"/>
              <a:chExt cx="4200790" cy="1070039"/>
            </a:xfrm>
          </p:grpSpPr>
          <p:sp>
            <p:nvSpPr>
              <p:cNvPr id="16" name="Rectangle 16"/>
              <p:cNvSpPr/>
              <p:nvPr/>
            </p:nvSpPr>
            <p:spPr>
              <a:xfrm>
                <a:off x="609600" y="2590800"/>
                <a:ext cx="114300" cy="114300"/>
              </a:xfrm>
              <a:prstGeom prst="rect">
                <a:avLst/>
              </a:prstGeom>
              <a:solidFill>
                <a:srgbClr val="12355B"/>
              </a:solidFill>
              <a:ln>
                <a:noFill/>
              </a:ln>
            </p:spPr>
          </p:sp>
          <p:sp>
            <p:nvSpPr>
              <p:cNvPr id="17" name="TextBox 17"/>
              <p:cNvSpPr txBox="1"/>
              <p:nvPr/>
            </p:nvSpPr>
            <p:spPr>
              <a:xfrm>
                <a:off x="830199" y="2525554"/>
                <a:ext cx="3458545" cy="308039"/>
              </a:xfrm>
              <a:prstGeom prst="rect">
                <a:avLst/>
              </a:prstGeom>
              <a:noFill/>
              <a:ln>
                <a:noFill/>
              </a:ln>
            </p:spPr>
            <p:txBody>
              <a:bodyPr wrap="none" lIns="0" tIns="0" rIns="0" bIns="0" anchor="t" anchorCtr="0">
                <a:spAutoFit/>
              </a:bodyPr>
              <a:lstStyle/>
              <a:p>
                <a:pPr algn="l"/>
                <a:r>
                  <a:rPr lang="tr-TR" sz="1580" b="1" dirty="0">
                    <a:solidFill>
                      <a:srgbClr val="172B3A"/>
                    </a:solidFill>
                    <a:latin typeface="+mn-lt"/>
                    <a:ea typeface="+mn-ea"/>
                    <a:cs typeface="+mn-cs"/>
                  </a:rPr>
                  <a:t>major</a:t>
                </a:r>
                <a:r>
                  <a:rPr lang="tr-TR" sz="1580" dirty="0">
                    <a:solidFill>
                      <a:srgbClr val="172B3A"/>
                    </a:solidFill>
                    <a:latin typeface="+mn-lt"/>
                    <a:ea typeface="+mn-ea"/>
                    <a:cs typeface="+mn-cs"/>
                  </a:rPr>
                  <a:t xml:space="preserve"> — geriye uyumsuz değişiklik</a:t>
                </a:r>
              </a:p>
            </p:txBody>
          </p:sp>
          <p:sp>
            <p:nvSpPr>
              <p:cNvPr id="18" name="Rectangle 18"/>
              <p:cNvSpPr/>
              <p:nvPr/>
            </p:nvSpPr>
            <p:spPr>
              <a:xfrm>
                <a:off x="609600" y="2971800"/>
                <a:ext cx="114300" cy="114300"/>
              </a:xfrm>
              <a:prstGeom prst="rect">
                <a:avLst/>
              </a:prstGeom>
              <a:solidFill>
                <a:srgbClr val="00A6A6"/>
              </a:solidFill>
              <a:ln>
                <a:noFill/>
              </a:ln>
            </p:spPr>
          </p:sp>
          <p:sp>
            <p:nvSpPr>
              <p:cNvPr id="19" name="TextBox 19"/>
              <p:cNvSpPr txBox="1"/>
              <p:nvPr/>
            </p:nvSpPr>
            <p:spPr>
              <a:xfrm>
                <a:off x="830199" y="2906554"/>
                <a:ext cx="3469180" cy="308039"/>
              </a:xfrm>
              <a:prstGeom prst="rect">
                <a:avLst/>
              </a:prstGeom>
              <a:noFill/>
              <a:ln>
                <a:noFill/>
              </a:ln>
            </p:spPr>
            <p:txBody>
              <a:bodyPr wrap="none" lIns="0" tIns="0" rIns="0" bIns="0" anchor="t" anchorCtr="0">
                <a:spAutoFit/>
              </a:bodyPr>
              <a:lstStyle/>
              <a:p>
                <a:pPr algn="l"/>
                <a:r>
                  <a:rPr lang="tr-TR" sz="1580" b="1" dirty="0">
                    <a:solidFill>
                      <a:srgbClr val="172B3A"/>
                    </a:solidFill>
                    <a:latin typeface="+mn-lt"/>
                    <a:ea typeface="+mn-ea"/>
                    <a:cs typeface="+mn-cs"/>
                  </a:rPr>
                  <a:t>minor</a:t>
                </a:r>
                <a:r>
                  <a:rPr lang="tr-TR" sz="1580" dirty="0">
                    <a:solidFill>
                      <a:srgbClr val="172B3A"/>
                    </a:solidFill>
                    <a:latin typeface="+mn-lt"/>
                    <a:ea typeface="+mn-ea"/>
                    <a:cs typeface="+mn-cs"/>
                  </a:rPr>
                  <a:t xml:space="preserve"> — geriye uyumlu yeni özellik</a:t>
                </a:r>
              </a:p>
            </p:txBody>
          </p:sp>
          <p:sp>
            <p:nvSpPr>
              <p:cNvPr id="20" name="Rectangle 20"/>
              <p:cNvSpPr/>
              <p:nvPr/>
            </p:nvSpPr>
            <p:spPr>
              <a:xfrm>
                <a:off x="609600" y="3352800"/>
                <a:ext cx="114300" cy="114300"/>
              </a:xfrm>
              <a:prstGeom prst="rect">
                <a:avLst/>
              </a:prstGeom>
              <a:solidFill>
                <a:srgbClr val="2E86AB"/>
              </a:solidFill>
              <a:ln>
                <a:noFill/>
              </a:ln>
            </p:spPr>
          </p:sp>
          <p:sp>
            <p:nvSpPr>
              <p:cNvPr id="21" name="TextBox 21"/>
              <p:cNvSpPr txBox="1"/>
              <p:nvPr/>
            </p:nvSpPr>
            <p:spPr>
              <a:xfrm>
                <a:off x="830199" y="3287554"/>
                <a:ext cx="3980191" cy="308039"/>
              </a:xfrm>
              <a:prstGeom prst="rect">
                <a:avLst/>
              </a:prstGeom>
              <a:noFill/>
              <a:ln>
                <a:noFill/>
              </a:ln>
            </p:spPr>
            <p:txBody>
              <a:bodyPr wrap="none" lIns="0" tIns="0" rIns="0" bIns="0" anchor="t" anchorCtr="0">
                <a:spAutoFit/>
              </a:bodyPr>
              <a:lstStyle/>
              <a:p>
                <a:pPr algn="l"/>
                <a:r>
                  <a:rPr lang="tr-TR" sz="1580" b="1" dirty="0">
                    <a:solidFill>
                      <a:srgbClr val="172B3A"/>
                    </a:solidFill>
                    <a:latin typeface="+mn-lt"/>
                    <a:ea typeface="+mn-ea"/>
                    <a:cs typeface="+mn-cs"/>
                  </a:rPr>
                  <a:t>patch</a:t>
                </a:r>
                <a:r>
                  <a:rPr lang="tr-TR" sz="1580" dirty="0">
                    <a:solidFill>
                      <a:srgbClr val="172B3A"/>
                    </a:solidFill>
                    <a:latin typeface="+mn-lt"/>
                    <a:ea typeface="+mn-ea"/>
                    <a:cs typeface="+mn-cs"/>
                  </a:rPr>
                  <a:t xml:space="preserve"> — geriye uyumlu hata düzeltmesi</a:t>
                </a:r>
              </a:p>
            </p:txBody>
          </p:sp>
        </p:grpSp>
      </p:grpSp>
      <p:grpSp>
        <p:nvGrpSpPr>
          <p:cNvPr id="29" name="caret-araligi"/>
          <p:cNvGrpSpPr/>
          <p:nvPr/>
        </p:nvGrpSpPr>
        <p:grpSpPr>
          <a:xfrm>
            <a:off x="7581900" y="1504950"/>
            <a:ext cx="4000500" cy="2105406"/>
            <a:chOff x="7581900" y="1504950"/>
            <a:chExt cx="4000500" cy="2105406"/>
          </a:xfrm>
        </p:grpSpPr>
        <p:sp>
          <p:nvSpPr>
            <p:cNvPr id="24" name="Rectangle 24"/>
            <p:cNvSpPr/>
            <p:nvPr/>
          </p:nvSpPr>
          <p:spPr>
            <a:xfrm>
              <a:off x="7581900" y="1504950"/>
              <a:ext cx="4000500" cy="2076450"/>
            </a:xfrm>
            <a:prstGeom prst="rect">
              <a:avLst/>
            </a:prstGeom>
            <a:solidFill>
              <a:srgbClr val="EAF4F6"/>
            </a:solidFill>
            <a:ln>
              <a:noFill/>
            </a:ln>
          </p:spPr>
        </p:sp>
        <p:sp>
          <p:nvSpPr>
            <p:cNvPr id="25" name="Rectangle 25"/>
            <p:cNvSpPr/>
            <p:nvPr/>
          </p:nvSpPr>
          <p:spPr>
            <a:xfrm>
              <a:off x="7581900" y="1504950"/>
              <a:ext cx="4000500" cy="38100"/>
            </a:xfrm>
            <a:prstGeom prst="rect">
              <a:avLst/>
            </a:prstGeom>
            <a:solidFill>
              <a:srgbClr val="00A6A6"/>
            </a:solidFill>
            <a:ln>
              <a:noFill/>
            </a:ln>
          </p:spPr>
        </p:sp>
        <p:sp>
          <p:nvSpPr>
            <p:cNvPr id="26" name="TextBox 26"/>
            <p:cNvSpPr txBox="1"/>
            <p:nvPr/>
          </p:nvSpPr>
          <p:spPr>
            <a:xfrm>
              <a:off x="7879461" y="1789271"/>
              <a:ext cx="1591551"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"tsx": "^4.0.0"</a:t>
              </a:r>
            </a:p>
          </p:txBody>
        </p:sp>
        <p:sp>
          <p:nvSpPr>
            <p:cNvPr id="27" name="TextBox 27"/>
            <p:cNvSpPr txBox="1"/>
            <p:nvPr/>
          </p:nvSpPr>
          <p:spPr>
            <a:xfrm>
              <a:off x="7878699" y="2192179"/>
              <a:ext cx="26928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“güvenli” sayılır?</a:t>
              </a:r>
            </a:p>
          </p:txBody>
        </p:sp>
        <p:sp>
          <p:nvSpPr>
            <p:cNvPr id="28" name="TextBox 28"/>
            <p:cNvSpPr txBox="1"/>
            <p:nvPr/>
          </p:nvSpPr>
          <p:spPr>
            <a:xfrm>
              <a:off x="7880604" y="2537460"/>
              <a:ext cx="280111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Şapka işareti yalnızca minor ve patch</a:t>
              </a:r>
              <a:br/>
              <a:r>
                <a:rPr lang="tr-TR" sz="1200" dirty="0">
                  <a:solidFill>
                    <a:srgbClr val="172B3A"/>
                  </a:solidFill>
                  <a:latin typeface="+mn-lt"/>
                  <a:ea typeface="+mn-ea"/>
                  <a:cs typeface="+mn-cs"/>
                </a:rPr>
                <a:t>güncellemelerine izin verir; geriye</a:t>
              </a:r>
              <a:br/>
              <a:r>
                <a:rPr lang="tr-TR" sz="1200" dirty="0">
                  <a:solidFill>
                    <a:srgbClr val="172B3A"/>
                  </a:solidFill>
                  <a:latin typeface="+mn-lt"/>
                  <a:ea typeface="+mn-ea"/>
                  <a:cs typeface="+mn-cs"/>
                </a:rPr>
                <a:t>uyumsuz major sürüm kendiliğinden</a:t>
              </a:r>
              <a:br/>
              <a:r>
                <a:rPr lang="tr-TR" sz="1200" dirty="0">
                  <a:solidFill>
                    <a:srgbClr val="172B3A"/>
                  </a:solidFill>
                  <a:latin typeface="+mn-lt"/>
                  <a:ea typeface="+mn-ea"/>
                  <a:cs typeface="+mn-cs"/>
                </a:rPr>
                <a:t>gelmez. Bu, sürüm aralığı yazmanın</a:t>
              </a:r>
              <a:br/>
              <a:r>
                <a:rPr lang="tr-TR" sz="1200" dirty="0">
                  <a:solidFill>
                    <a:srgbClr val="172B3A"/>
                  </a:solidFill>
                  <a:latin typeface="+mn-lt"/>
                  <a:ea typeface="+mn-ea"/>
                  <a:cs typeface="+mn-cs"/>
                </a:rPr>
                <a:t>biçimsel temelidir.</a:t>
              </a:r>
            </a:p>
          </p:txBody>
        </p:sp>
      </p:grpSp>
      <p:grpSp>
        <p:nvGrpSpPr>
          <p:cNvPr id="34" name="kilit-ilkesi"/>
          <p:cNvGrpSpPr/>
          <p:nvPr/>
        </p:nvGrpSpPr>
        <p:grpSpPr>
          <a:xfrm>
            <a:off x="609600" y="3867150"/>
            <a:ext cx="10972800" cy="1390650"/>
            <a:chOff x="609600" y="3867150"/>
            <a:chExt cx="10972800" cy="1390650"/>
          </a:xfrm>
        </p:grpSpPr>
        <p:sp>
          <p:nvSpPr>
            <p:cNvPr id="30" name="Rectangle 30"/>
            <p:cNvSpPr/>
            <p:nvPr/>
          </p:nvSpPr>
          <p:spPr>
            <a:xfrm>
              <a:off x="609600" y="3867150"/>
              <a:ext cx="10972800" cy="1390650"/>
            </a:xfrm>
            <a:prstGeom prst="rect">
              <a:avLst/>
            </a:prstGeom>
            <a:solidFill>
              <a:srgbClr val="12355B"/>
            </a:solidFill>
            <a:ln>
              <a:noFill/>
            </a:ln>
          </p:spPr>
        </p:sp>
        <p:sp>
          <p:nvSpPr>
            <p:cNvPr id="31" name="Rectangle 31"/>
            <p:cNvSpPr/>
            <p:nvPr/>
          </p:nvSpPr>
          <p:spPr>
            <a:xfrm>
              <a:off x="609600" y="3867150"/>
              <a:ext cx="57150" cy="1390650"/>
            </a:xfrm>
            <a:prstGeom prst="rect">
              <a:avLst/>
            </a:prstGeom>
            <a:solidFill>
              <a:srgbClr val="00A6A6"/>
            </a:solidFill>
            <a:ln>
              <a:noFill/>
            </a:ln>
          </p:spPr>
        </p:sp>
        <p:sp>
          <p:nvSpPr>
            <p:cNvPr id="32" name="TextBox 32"/>
            <p:cNvSpPr txBox="1"/>
            <p:nvPr/>
          </p:nvSpPr>
          <p:spPr>
            <a:xfrm>
              <a:off x="941070" y="4005262"/>
              <a:ext cx="4245406" cy="440055"/>
            </a:xfrm>
            <a:prstGeom prst="rect">
              <a:avLst/>
            </a:prstGeom>
            <a:noFill/>
            <a:ln>
              <a:noFill/>
            </a:ln>
          </p:spPr>
          <p:txBody>
            <a:bodyPr wrap="none" lIns="0" tIns="0" rIns="0" bIns="0" anchor="t" anchorCtr="0">
              <a:spAutoFit/>
            </a:bodyPr>
            <a:lstStyle/>
            <a:p>
              <a:pPr algn="l"/>
              <a:r>
                <a:rPr lang="tr-TR" sz="2250" b="1" dirty="0">
                  <a:solidFill>
                    <a:srgbClr val="FFFFFF"/>
                  </a:solidFill>
                  <a:latin typeface="+mn-lt"/>
                  <a:ea typeface="+mn-ea"/>
                  <a:cs typeface="+mn-cs"/>
                </a:rPr>
                <a:t>Yeniden üretilebilirlik ilkesi</a:t>
              </a:r>
            </a:p>
          </p:txBody>
        </p:sp>
        <p:sp>
          <p:nvSpPr>
            <p:cNvPr id="33" name="TextBox 33"/>
            <p:cNvSpPr txBox="1"/>
            <p:nvPr/>
          </p:nvSpPr>
          <p:spPr>
            <a:xfrm>
              <a:off x="944499" y="4421029"/>
              <a:ext cx="7962138"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EAF4F6"/>
                  </a:solidFill>
                  <a:latin typeface="+mn-lt"/>
                  <a:ea typeface="+mn-ea"/>
                  <a:cs typeface="+mn-cs"/>
                </a:rPr>
                <a:t>SemVer aralıkları teorik olarak güvenli olsa da, farklı zamanlarda kurulum yapan</a:t>
              </a:r>
              <a:br/>
              <a:r>
                <a:rPr lang="tr-TR" sz="1580" dirty="0">
                  <a:solidFill>
                    <a:srgbClr val="EAF4F6"/>
                  </a:solidFill>
                  <a:latin typeface="+mn-lt"/>
                  <a:ea typeface="+mn-ea"/>
                  <a:cs typeface="+mn-cs"/>
                </a:rPr>
                <a:t>iki makine farklı minor/patch sürümleri çekebilir. package-lock.json, bağımlılık</a:t>
              </a:r>
              <a:br/>
              <a:r>
                <a:rPr lang="tr-TR" sz="1580" dirty="0">
                  <a:solidFill>
                    <a:srgbClr val="EAF4F6"/>
                  </a:solidFill>
                  <a:latin typeface="+mn-lt"/>
                  <a:ea typeface="+mn-ea"/>
                  <a:cs typeface="+mn-cs"/>
                </a:rPr>
                <a:t>ağacının tam sürümlerini dondurarak bunu engeller.</a:t>
              </a:r>
            </a:p>
          </p:txBody>
        </p:sp>
      </p:grpSp>
      <p:grpSp>
        <p:nvGrpSpPr>
          <p:cNvPr id="45" name="npm-hatalari"/>
          <p:cNvGrpSpPr/>
          <p:nvPr/>
        </p:nvGrpSpPr>
        <p:grpSpPr>
          <a:xfrm>
            <a:off x="601599" y="5414010"/>
            <a:ext cx="10844787" cy="901446"/>
            <a:chOff x="601599" y="5414010"/>
            <a:chExt cx="10844787" cy="901446"/>
          </a:xfrm>
        </p:grpSpPr>
        <p:sp>
          <p:nvSpPr>
            <p:cNvPr id="35" name="TextBox 35"/>
            <p:cNvSpPr txBox="1"/>
            <p:nvPr/>
          </p:nvSpPr>
          <p:spPr>
            <a:xfrm>
              <a:off x="603504" y="5414010"/>
              <a:ext cx="265343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npm ile çalışırken üç yaygın hata</a:t>
              </a:r>
            </a:p>
          </p:txBody>
        </p:sp>
        <p:grpSp>
          <p:nvGrpSpPr>
            <p:cNvPr id="38" name="npm-hata-json"/>
            <p:cNvGrpSpPr/>
            <p:nvPr/>
          </p:nvGrpSpPr>
          <p:grpSpPr>
            <a:xfrm>
              <a:off x="601599" y="5678329"/>
              <a:ext cx="2597277" cy="637127"/>
              <a:chOff x="601599" y="5678329"/>
              <a:chExt cx="2597277" cy="637127"/>
            </a:xfrm>
          </p:grpSpPr>
          <p:sp>
            <p:nvSpPr>
              <p:cNvPr id="36" name="TextBox 36"/>
              <p:cNvSpPr txBox="1"/>
              <p:nvPr/>
            </p:nvSpPr>
            <p:spPr>
              <a:xfrm>
                <a:off x="601599" y="5678329"/>
                <a:ext cx="2471455"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JSON'a yorum eklemek</a:t>
                </a:r>
              </a:p>
            </p:txBody>
          </p:sp>
          <p:sp>
            <p:nvSpPr>
              <p:cNvPr id="37" name="TextBox 37"/>
              <p:cNvSpPr txBox="1"/>
              <p:nvPr/>
            </p:nvSpPr>
            <p:spPr>
              <a:xfrm>
                <a:off x="603504" y="5909310"/>
                <a:ext cx="2595372" cy="406146"/>
              </a:xfrm>
              <a:prstGeom prst="rect">
                <a:avLst/>
              </a:prstGeom>
              <a:noFill/>
              <a:ln>
                <a:noFill/>
              </a:ln>
            </p:spPr>
            <p:txBody>
              <a:bodyPr wrap="none" lIns="0" tIns="0" rIns="0" bIns="0" anchor="t" anchorCtr="0">
                <a:spAutoFit/>
              </a:bodyPr>
              <a:lstStyle/>
              <a:p>
                <a:pPr algn="l">
                  <a:lnSpc>
                    <a:spcPts val="1350"/>
                  </a:lnSpc>
                </a:pPr>
                <a:r>
                  <a:rPr lang="tr-TR" sz="1200" dirty="0">
                    <a:solidFill>
                      <a:srgbClr val="52616B"/>
                    </a:solidFill>
                    <a:latin typeface="+mn-lt"/>
                    <a:ea typeface="+mn-ea"/>
                    <a:cs typeface="+mn-cs"/>
                  </a:rPr>
                  <a:t>Standart JSON yorum kabul etmez;</a:t>
                </a:r>
                <a:br/>
                <a:r>
                  <a:rPr lang="tr-TR" sz="1200" dirty="0">
                    <a:solidFill>
                      <a:srgbClr val="52616B"/>
                    </a:solidFill>
                    <a:latin typeface="+mn-lt"/>
                    <a:ea typeface="+mn-ea"/>
                    <a:cs typeface="+mn-cs"/>
                  </a:rPr>
                  <a:t>dosya geçersiz hâle gelir.</a:t>
                </a:r>
              </a:p>
            </p:txBody>
          </p:sp>
        </p:grpSp>
        <p:grpSp>
          <p:nvGrpSpPr>
            <p:cNvPr id="41" name="npm-hata-script"/>
            <p:cNvGrpSpPr/>
            <p:nvPr/>
          </p:nvGrpSpPr>
          <p:grpSpPr>
            <a:xfrm>
              <a:off x="4335399" y="5678329"/>
              <a:ext cx="2949212" cy="637127"/>
              <a:chOff x="4335399" y="5678329"/>
              <a:chExt cx="2949212" cy="637127"/>
            </a:xfrm>
          </p:grpSpPr>
          <p:sp>
            <p:nvSpPr>
              <p:cNvPr id="39" name="TextBox 39"/>
              <p:cNvSpPr txBox="1"/>
              <p:nvPr/>
            </p:nvSpPr>
            <p:spPr>
              <a:xfrm>
                <a:off x="4335399" y="5678329"/>
                <a:ext cx="2949212"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Olmayan script'i çağırmak</a:t>
                </a:r>
              </a:p>
            </p:txBody>
          </p:sp>
          <p:sp>
            <p:nvSpPr>
              <p:cNvPr id="40" name="TextBox 40"/>
              <p:cNvSpPr txBox="1"/>
              <p:nvPr/>
            </p:nvSpPr>
            <p:spPr>
              <a:xfrm>
                <a:off x="4337304" y="5909310"/>
                <a:ext cx="2915412" cy="406146"/>
              </a:xfrm>
              <a:prstGeom prst="rect">
                <a:avLst/>
              </a:prstGeom>
              <a:noFill/>
              <a:ln>
                <a:noFill/>
              </a:ln>
            </p:spPr>
            <p:txBody>
              <a:bodyPr wrap="none" lIns="0" tIns="0" rIns="0" bIns="0" anchor="t" anchorCtr="0">
                <a:spAutoFit/>
              </a:bodyPr>
              <a:lstStyle/>
              <a:p>
                <a:pPr algn="l">
                  <a:lnSpc>
                    <a:spcPts val="1350"/>
                  </a:lnSpc>
                </a:pPr>
                <a:r>
                  <a:rPr lang="tr-TR" sz="1200" dirty="0">
                    <a:solidFill>
                      <a:srgbClr val="52616B"/>
                    </a:solidFill>
                    <a:latin typeface="+mn-lt"/>
                    <a:ea typeface="+mn-ea"/>
                    <a:cs typeface="+mn-cs"/>
                  </a:rPr>
                  <a:t>npm run baslat, package.json'da yoksa</a:t>
                </a:r>
                <a:br/>
                <a:r>
                  <a:rPr lang="tr-TR" sz="1200" dirty="0">
                    <a:solidFill>
                      <a:srgbClr val="52616B"/>
                    </a:solidFill>
                    <a:latin typeface="+mn-lt"/>
                    <a:ea typeface="+mn-ea"/>
                    <a:cs typeface="+mn-cs"/>
                  </a:rPr>
                  <a:t>Missing script hatası verir.</a:t>
                </a:r>
              </a:p>
            </p:txBody>
          </p:sp>
        </p:grpSp>
        <p:grpSp>
          <p:nvGrpSpPr>
            <p:cNvPr id="44" name="npm-hata-modules"/>
            <p:cNvGrpSpPr/>
            <p:nvPr/>
          </p:nvGrpSpPr>
          <p:grpSpPr>
            <a:xfrm>
              <a:off x="8069199" y="5678329"/>
              <a:ext cx="3377187" cy="637127"/>
              <a:chOff x="8069199" y="5678329"/>
              <a:chExt cx="3377187" cy="637127"/>
            </a:xfrm>
          </p:grpSpPr>
          <p:sp>
            <p:nvSpPr>
              <p:cNvPr id="42" name="TextBox 42"/>
              <p:cNvSpPr txBox="1"/>
              <p:nvPr/>
            </p:nvSpPr>
            <p:spPr>
              <a:xfrm>
                <a:off x="8069199" y="5678329"/>
                <a:ext cx="3377187"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node_modules'ü depoya koymak</a:t>
                </a:r>
              </a:p>
            </p:txBody>
          </p:sp>
          <p:sp>
            <p:nvSpPr>
              <p:cNvPr id="43" name="TextBox 43"/>
              <p:cNvSpPr txBox="1"/>
              <p:nvPr/>
            </p:nvSpPr>
            <p:spPr>
              <a:xfrm>
                <a:off x="8071104" y="5909310"/>
                <a:ext cx="2336292" cy="406146"/>
              </a:xfrm>
              <a:prstGeom prst="rect">
                <a:avLst/>
              </a:prstGeom>
              <a:noFill/>
              <a:ln>
                <a:noFill/>
              </a:ln>
            </p:spPr>
            <p:txBody>
              <a:bodyPr wrap="none" lIns="0" tIns="0" rIns="0" bIns="0" anchor="t" anchorCtr="0">
                <a:spAutoFit/>
              </a:bodyPr>
              <a:lstStyle/>
              <a:p>
                <a:pPr algn="l">
                  <a:lnSpc>
                    <a:spcPts val="1350"/>
                  </a:lnSpc>
                </a:pPr>
                <a:r>
                  <a:rPr lang="tr-TR" sz="1200" dirty="0">
                    <a:solidFill>
                      <a:srgbClr val="52616B"/>
                    </a:solidFill>
                    <a:latin typeface="+mn-lt"/>
                    <a:ea typeface="+mn-ea"/>
                    <a:cs typeface="+mn-cs"/>
                  </a:rPr>
                  <a:t>O klasör kurulum çıktısıdır;</a:t>
                </a:r>
                <a:br/>
                <a:r>
                  <a:rPr lang="tr-TR" sz="1200" dirty="0">
                    <a:solidFill>
                      <a:srgbClr val="52616B"/>
                    </a:solidFill>
                    <a:latin typeface="+mn-lt"/>
                    <a:ea typeface="+mn-ea"/>
                    <a:cs typeface="+mn-cs"/>
                  </a:rPr>
                  <a:t>.gitignore içinde bulunmalıdır.</a:t>
                </a:r>
              </a:p>
            </p:txBody>
          </p:sp>
        </p:grpSp>
      </p:grpSp>
      <p:grpSp>
        <p:nvGrpSpPr>
          <p:cNvPr id="48" name="footer"/>
          <p:cNvGrpSpPr/>
          <p:nvPr/>
        </p:nvGrpSpPr>
        <p:grpSpPr>
          <a:xfrm>
            <a:off x="603504" y="6461760"/>
            <a:ext cx="10984992" cy="234696"/>
            <a:chOff x="603504" y="6461760"/>
            <a:chExt cx="10984992" cy="234696"/>
          </a:xfrm>
        </p:grpSpPr>
        <p:sp>
          <p:nvSpPr>
            <p:cNvPr id="46" name="TextBox 46"/>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7" name="TextBox 4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787825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Ortam değişkeni: ayarı koddan ayırmak</a:t>
              </a:r>
            </a:p>
          </p:txBody>
        </p:sp>
      </p:grpSp>
      <p:grpSp>
        <p:nvGrpSpPr>
          <p:cNvPr id="26" name="ayrim"/>
          <p:cNvGrpSpPr/>
          <p:nvPr/>
        </p:nvGrpSpPr>
        <p:grpSpPr>
          <a:xfrm>
            <a:off x="609600" y="1390650"/>
            <a:ext cx="10972800" cy="2619756"/>
            <a:chOff x="609600" y="1390650"/>
            <a:chExt cx="10972800" cy="2619756"/>
          </a:xfrm>
        </p:grpSpPr>
        <p:grpSp>
          <p:nvGrpSpPr>
            <p:cNvPr id="13" name="kod-alani"/>
            <p:cNvGrpSpPr/>
            <p:nvPr/>
          </p:nvGrpSpPr>
          <p:grpSpPr>
            <a:xfrm>
              <a:off x="609600" y="1390650"/>
              <a:ext cx="5105400" cy="2619756"/>
              <a:chOff x="609600" y="1390650"/>
              <a:chExt cx="5105400" cy="2619756"/>
            </a:xfrm>
          </p:grpSpPr>
          <p:sp>
            <p:nvSpPr>
              <p:cNvPr id="6" name="Rectangle 6"/>
              <p:cNvSpPr/>
              <p:nvPr/>
            </p:nvSpPr>
            <p:spPr>
              <a:xfrm>
                <a:off x="609600" y="1390650"/>
                <a:ext cx="5105400" cy="2590800"/>
              </a:xfrm>
              <a:prstGeom prst="rect">
                <a:avLst/>
              </a:prstGeom>
              <a:solidFill>
                <a:srgbClr val="FFFFFF"/>
              </a:solidFill>
              <a:ln w="9525">
                <a:solidFill>
                  <a:srgbClr val="B8CBD3"/>
                </a:solidFill>
              </a:ln>
            </p:spPr>
          </p:sp>
          <p:sp>
            <p:nvSpPr>
              <p:cNvPr id="7" name="Rectangle 7"/>
              <p:cNvSpPr/>
              <p:nvPr/>
            </p:nvSpPr>
            <p:spPr>
              <a:xfrm>
                <a:off x="609600" y="1390650"/>
                <a:ext cx="5105400" cy="38100"/>
              </a:xfrm>
              <a:prstGeom prst="rect">
                <a:avLst/>
              </a:prstGeom>
              <a:solidFill>
                <a:srgbClr val="52616B"/>
              </a:solidFill>
              <a:ln>
                <a:noFill/>
              </a:ln>
            </p:spPr>
          </p:sp>
          <p:sp>
            <p:nvSpPr>
              <p:cNvPr id="8" name="TextBox 8"/>
              <p:cNvSpPr txBox="1"/>
              <p:nvPr/>
            </p:nvSpPr>
            <p:spPr>
              <a:xfrm>
                <a:off x="902970" y="1585912"/>
                <a:ext cx="2211709" cy="440055"/>
              </a:xfrm>
              <a:prstGeom prst="rect">
                <a:avLst/>
              </a:prstGeom>
              <a:noFill/>
              <a:ln>
                <a:noFill/>
              </a:ln>
            </p:spPr>
            <p:txBody>
              <a:bodyPr wrap="none" lIns="0" tIns="0" rIns="0" bIns="0" anchor="t" anchorCtr="0">
                <a:spAutoFit/>
              </a:bodyPr>
              <a:lstStyle/>
              <a:p>
                <a:pPr algn="l"/>
                <a:r>
                  <a:rPr lang="tr-TR" sz="2250" b="1" dirty="0">
                    <a:solidFill>
                      <a:srgbClr val="52616B"/>
                    </a:solidFill>
                    <a:latin typeface="+mn-lt"/>
                    <a:ea typeface="+mn-ea"/>
                    <a:cs typeface="+mn-cs"/>
                  </a:rPr>
                  <a:t>Uygulama kodu</a:t>
                </a:r>
              </a:p>
            </p:txBody>
          </p:sp>
          <p:sp>
            <p:nvSpPr>
              <p:cNvPr id="9" name="TextBox 9"/>
              <p:cNvSpPr txBox="1"/>
              <p:nvPr/>
            </p:nvSpPr>
            <p:spPr>
              <a:xfrm>
                <a:off x="908304" y="1985010"/>
                <a:ext cx="338599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Sürümlenen, her ortamda aynı kalan kısım</a:t>
                </a:r>
              </a:p>
            </p:txBody>
          </p:sp>
          <p:sp>
            <p:nvSpPr>
              <p:cNvPr id="10" name="TextBox 10"/>
              <p:cNvSpPr txBox="1"/>
              <p:nvPr/>
            </p:nvSpPr>
            <p:spPr>
              <a:xfrm>
                <a:off x="906399" y="2363629"/>
                <a:ext cx="3126232"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İş kuralları, akış ve doğrulama</a:t>
                </a:r>
                <a:br/>
                <a:r>
                  <a:rPr lang="tr-TR" sz="1580" dirty="0">
                    <a:solidFill>
                      <a:srgbClr val="172B3A"/>
                    </a:solidFill>
                    <a:latin typeface="+mn-lt"/>
                    <a:ea typeface="+mn-ea"/>
                    <a:cs typeface="+mn-cs"/>
                  </a:rPr>
                  <a:t>mantığı burada yaşar.</a:t>
                </a:r>
              </a:p>
            </p:txBody>
          </p:sp>
          <p:sp>
            <p:nvSpPr>
              <p:cNvPr id="11" name="Line 11"/>
              <p:cNvSpPr/>
              <p:nvPr/>
            </p:nvSpPr>
            <p:spPr>
              <a:xfrm>
                <a:off x="914400" y="3048000"/>
                <a:ext cx="4495800" cy="9525"/>
              </a:xfrm>
              <a:custGeom>
                <a:avLst/>
                <a:gdLst/>
                <a:ahLst/>
                <a:cxnLst/>
                <a:rect l="l" t="t" r="r" b="b"/>
                <a:pathLst>
                  <a:path w="4495800" h="9525">
                    <a:moveTo>
                      <a:pt x="0" y="0"/>
                    </a:moveTo>
                    <a:lnTo>
                      <a:pt x="4495800" y="0"/>
                    </a:lnTo>
                  </a:path>
                </a:pathLst>
              </a:custGeom>
              <a:noFill/>
              <a:ln w="9525">
                <a:solidFill>
                  <a:srgbClr val="B8CBD3"/>
                </a:solidFill>
              </a:ln>
            </p:spPr>
          </p:sp>
          <p:sp>
            <p:nvSpPr>
              <p:cNvPr id="12" name="TextBox 12"/>
              <p:cNvSpPr txBox="1"/>
              <p:nvPr/>
            </p:nvSpPr>
            <p:spPr>
              <a:xfrm>
                <a:off x="908304" y="3147060"/>
                <a:ext cx="29611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Değişmeyen iş kuralları ortam değişkeni</a:t>
                </a:r>
                <a:br/>
                <a:r>
                  <a:rPr lang="tr-TR" sz="1200" dirty="0">
                    <a:solidFill>
                      <a:srgbClr val="52616B"/>
                    </a:solidFill>
                    <a:latin typeface="+mn-lt"/>
                    <a:ea typeface="+mn-ea"/>
                    <a:cs typeface="+mn-cs"/>
                  </a:rPr>
                  <a:t>olmamalıdır: “öğrenci numarası sekiz</a:t>
                </a:r>
                <a:br/>
                <a:r>
                  <a:rPr lang="tr-TR" sz="1200" dirty="0">
                    <a:solidFill>
                      <a:srgbClr val="52616B"/>
                    </a:solidFill>
                    <a:latin typeface="+mn-lt"/>
                    <a:ea typeface="+mn-ea"/>
                    <a:cs typeface="+mn-cs"/>
                  </a:rPr>
                  <a:t>karakter olmalıdır” gibi bir alan kuralı</a:t>
                </a:r>
                <a:br/>
                <a:r>
                  <a:rPr lang="tr-TR" sz="1200" dirty="0">
                    <a:solidFill>
                      <a:srgbClr val="52616B"/>
                    </a:solidFill>
                    <a:latin typeface="+mn-lt"/>
                    <a:ea typeface="+mn-ea"/>
                    <a:cs typeface="+mn-cs"/>
                  </a:rPr>
                  <a:t>kodda açıkça tanımlanır.</a:t>
                </a:r>
              </a:p>
            </p:txBody>
          </p:sp>
        </p:grpSp>
        <p:grpSp>
          <p:nvGrpSpPr>
            <p:cNvPr id="23" name="ortam-alani"/>
            <p:cNvGrpSpPr/>
            <p:nvPr/>
          </p:nvGrpSpPr>
          <p:grpSpPr>
            <a:xfrm>
              <a:off x="6477000" y="1390650"/>
              <a:ext cx="5105400" cy="2590800"/>
              <a:chOff x="6477000" y="1390650"/>
              <a:chExt cx="5105400" cy="2590800"/>
            </a:xfrm>
          </p:grpSpPr>
          <p:sp>
            <p:nvSpPr>
              <p:cNvPr id="14" name="Rectangle 14"/>
              <p:cNvSpPr/>
              <p:nvPr/>
            </p:nvSpPr>
            <p:spPr>
              <a:xfrm>
                <a:off x="6477000" y="1390650"/>
                <a:ext cx="5105400" cy="2590800"/>
              </a:xfrm>
              <a:prstGeom prst="rect">
                <a:avLst/>
              </a:prstGeom>
              <a:solidFill>
                <a:srgbClr val="FFFFFF"/>
              </a:solidFill>
              <a:ln w="9525">
                <a:solidFill>
                  <a:srgbClr val="00A6A6"/>
                </a:solidFill>
              </a:ln>
            </p:spPr>
          </p:sp>
          <p:sp>
            <p:nvSpPr>
              <p:cNvPr id="15" name="Rectangle 15"/>
              <p:cNvSpPr/>
              <p:nvPr/>
            </p:nvSpPr>
            <p:spPr>
              <a:xfrm>
                <a:off x="6477000" y="1390650"/>
                <a:ext cx="5105400" cy="38100"/>
              </a:xfrm>
              <a:prstGeom prst="rect">
                <a:avLst/>
              </a:prstGeom>
              <a:solidFill>
                <a:srgbClr val="00A6A6"/>
              </a:solidFill>
              <a:ln>
                <a:noFill/>
              </a:ln>
            </p:spPr>
          </p:sp>
          <p:sp>
            <p:nvSpPr>
              <p:cNvPr id="16" name="TextBox 16"/>
              <p:cNvSpPr txBox="1"/>
              <p:nvPr/>
            </p:nvSpPr>
            <p:spPr>
              <a:xfrm>
                <a:off x="6770370" y="1585912"/>
                <a:ext cx="2450486"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Çalışma ortamı</a:t>
                </a:r>
              </a:p>
            </p:txBody>
          </p:sp>
          <p:sp>
            <p:nvSpPr>
              <p:cNvPr id="17" name="TextBox 17"/>
              <p:cNvSpPr txBox="1"/>
              <p:nvPr/>
            </p:nvSpPr>
            <p:spPr>
              <a:xfrm>
                <a:off x="6775704" y="1985010"/>
                <a:ext cx="25620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Ortamdan ortama değişen kısım</a:t>
                </a:r>
              </a:p>
            </p:txBody>
          </p:sp>
          <p:sp>
            <p:nvSpPr>
              <p:cNvPr id="18" name="TextBox 18"/>
              <p:cNvSpPr txBox="1"/>
              <p:nvPr/>
            </p:nvSpPr>
            <p:spPr>
              <a:xfrm>
                <a:off x="6773799" y="2363629"/>
                <a:ext cx="3387090"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Port, çalışma modu, servis adresi</a:t>
                </a:r>
                <a:br/>
                <a:r>
                  <a:rPr lang="tr-TR" sz="1580" dirty="0">
                    <a:solidFill>
                      <a:srgbClr val="172B3A"/>
                    </a:solidFill>
                    <a:latin typeface="+mn-lt"/>
                    <a:ea typeface="+mn-ea"/>
                    <a:cs typeface="+mn-cs"/>
                  </a:rPr>
                  <a:t>ve gizli anahtarlar.</a:t>
                </a:r>
              </a:p>
            </p:txBody>
          </p:sp>
          <p:sp>
            <p:nvSpPr>
              <p:cNvPr id="19" name="Line 19"/>
              <p:cNvSpPr/>
              <p:nvPr/>
            </p:nvSpPr>
            <p:spPr>
              <a:xfrm>
                <a:off x="6781800" y="3048000"/>
                <a:ext cx="4495800" cy="9525"/>
              </a:xfrm>
              <a:custGeom>
                <a:avLst/>
                <a:gdLst/>
                <a:ahLst/>
                <a:cxnLst/>
                <a:rect l="l" t="t" r="r" b="b"/>
                <a:pathLst>
                  <a:path w="4495800" h="9525">
                    <a:moveTo>
                      <a:pt x="0" y="0"/>
                    </a:moveTo>
                    <a:lnTo>
                      <a:pt x="4495800" y="0"/>
                    </a:lnTo>
                  </a:path>
                </a:pathLst>
              </a:custGeom>
              <a:noFill/>
              <a:ln w="9525">
                <a:solidFill>
                  <a:srgbClr val="B8CBD3"/>
                </a:solidFill>
              </a:ln>
            </p:spPr>
          </p:sp>
          <p:grpSp>
            <p:nvGrpSpPr>
              <p:cNvPr id="22" name="ortam-ornekleri"/>
              <p:cNvGrpSpPr/>
              <p:nvPr/>
            </p:nvGrpSpPr>
            <p:grpSpPr>
              <a:xfrm>
                <a:off x="6774561" y="3198971"/>
                <a:ext cx="2504355" cy="545402"/>
                <a:chOff x="6774561" y="3198971"/>
                <a:chExt cx="2504355" cy="545402"/>
              </a:xfrm>
            </p:grpSpPr>
            <p:sp>
              <p:nvSpPr>
                <p:cNvPr id="20" name="TextBox 20"/>
                <p:cNvSpPr txBox="1"/>
                <p:nvPr/>
              </p:nvSpPr>
              <p:spPr>
                <a:xfrm>
                  <a:off x="6774561" y="3198971"/>
                  <a:ext cx="1014283"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PORT=4000</a:t>
                  </a:r>
                </a:p>
              </p:txBody>
            </p:sp>
            <p:sp>
              <p:nvSpPr>
                <p:cNvPr id="21" name="TextBox 21"/>
                <p:cNvSpPr txBox="1"/>
                <p:nvPr/>
              </p:nvSpPr>
              <p:spPr>
                <a:xfrm>
                  <a:off x="6774561" y="3465671"/>
                  <a:ext cx="2504355"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CALISMA_MODU=gelistirme</a:t>
                  </a:r>
                </a:p>
              </p:txBody>
            </p:sp>
          </p:grpSp>
        </p:grpSp>
        <p:sp>
          <p:nvSpPr>
            <p:cNvPr id="24" name="Line 24"/>
            <p:cNvSpPr/>
            <p:nvPr/>
          </p:nvSpPr>
          <p:spPr>
            <a:xfrm flipH="1">
              <a:off x="5753100" y="2686050"/>
              <a:ext cx="685800" cy="1"/>
            </a:xfrm>
            <a:prstGeom prst="line">
              <a:avLst/>
            </a:prstGeom>
            <a:noFill/>
            <a:ln w="19050">
              <a:solidFill>
                <a:srgbClr val="2E86AB"/>
              </a:solidFill>
              <a:prstDash val="lgDash"/>
              <a:tailEnd type="triangle" w="lg" len="lg"/>
            </a:ln>
          </p:spPr>
        </p:sp>
        <p:sp>
          <p:nvSpPr>
            <p:cNvPr id="25" name="TextBox 25"/>
            <p:cNvSpPr txBox="1"/>
            <p:nvPr/>
          </p:nvSpPr>
          <p:spPr>
            <a:xfrm>
              <a:off x="5601233" y="2404110"/>
              <a:ext cx="989533" cy="234696"/>
            </a:xfrm>
            <a:prstGeom prst="rect">
              <a:avLst/>
            </a:prstGeom>
            <a:noFill/>
            <a:ln>
              <a:noFill/>
            </a:ln>
          </p:spPr>
          <p:txBody>
            <a:bodyPr wrap="none" lIns="0" tIns="0" rIns="0" bIns="0" anchor="t" anchorCtr="0">
              <a:spAutoFit/>
            </a:bodyPr>
            <a:lstStyle/>
            <a:p>
              <a:pPr algn="ctr"/>
              <a:r>
                <a:rPr lang="tr-TR" sz="1200" dirty="0">
                  <a:solidFill>
                    <a:srgbClr val="2E86AB"/>
                  </a:solidFill>
                  <a:latin typeface="Consolas"/>
                  <a:ea typeface="Consolas"/>
                  <a:cs typeface="Consolas"/>
                </a:rPr>
                <a:t>process.env</a:t>
              </a:r>
            </a:p>
          </p:txBody>
        </p:sp>
      </p:grpSp>
      <p:grpSp>
        <p:nvGrpSpPr>
          <p:cNvPr id="31" name="pano-analojisi"/>
          <p:cNvGrpSpPr/>
          <p:nvPr/>
        </p:nvGrpSpPr>
        <p:grpSpPr>
          <a:xfrm>
            <a:off x="609600" y="4267200"/>
            <a:ext cx="5334000" cy="1200150"/>
            <a:chOff x="609600" y="4267200"/>
            <a:chExt cx="5334000" cy="1200150"/>
          </a:xfrm>
        </p:grpSpPr>
        <p:sp>
          <p:nvSpPr>
            <p:cNvPr id="27" name="Rectangle 27"/>
            <p:cNvSpPr/>
            <p:nvPr/>
          </p:nvSpPr>
          <p:spPr>
            <a:xfrm>
              <a:off x="609600" y="4267200"/>
              <a:ext cx="5334000" cy="1200150"/>
            </a:xfrm>
            <a:prstGeom prst="rect">
              <a:avLst/>
            </a:prstGeom>
            <a:solidFill>
              <a:srgbClr val="EAF4F6"/>
            </a:solidFill>
            <a:ln>
              <a:noFill/>
            </a:ln>
          </p:spPr>
        </p:sp>
        <p:sp>
          <p:nvSpPr>
            <p:cNvPr id="28" name="Rectangle 28"/>
            <p:cNvSpPr/>
            <p:nvPr/>
          </p:nvSpPr>
          <p:spPr>
            <a:xfrm>
              <a:off x="609600" y="4267200"/>
              <a:ext cx="57150" cy="1200150"/>
            </a:xfrm>
            <a:prstGeom prst="rect">
              <a:avLst/>
            </a:prstGeom>
            <a:solidFill>
              <a:srgbClr val="00A6A6"/>
            </a:solidFill>
            <a:ln>
              <a:noFill/>
            </a:ln>
          </p:spPr>
        </p:sp>
        <p:sp>
          <p:nvSpPr>
            <p:cNvPr id="29" name="TextBox 29"/>
            <p:cNvSpPr txBox="1"/>
            <p:nvPr/>
          </p:nvSpPr>
          <p:spPr>
            <a:xfrm>
              <a:off x="944499" y="4421029"/>
              <a:ext cx="28484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Duyuru panosu benzetmesi</a:t>
              </a:r>
            </a:p>
          </p:txBody>
        </p:sp>
        <p:sp>
          <p:nvSpPr>
            <p:cNvPr id="30" name="TextBox 30"/>
            <p:cNvSpPr txBox="1"/>
            <p:nvPr/>
          </p:nvSpPr>
          <p:spPr>
            <a:xfrm>
              <a:off x="946404" y="4747260"/>
              <a:ext cx="3890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Ders kitabının her sayfasını yeniden basmak yerine</a:t>
              </a:r>
              <a:br/>
              <a:r>
                <a:rPr lang="tr-TR" sz="1200" dirty="0">
                  <a:solidFill>
                    <a:srgbClr val="172B3A"/>
                  </a:solidFill>
                  <a:latin typeface="+mn-lt"/>
                  <a:ea typeface="+mn-ea"/>
                  <a:cs typeface="+mn-cs"/>
                </a:rPr>
                <a:t>“bugün spor salonu kapalı” bilgisi panoya asılır.</a:t>
              </a:r>
              <a:br/>
              <a:r>
                <a:rPr lang="tr-TR" sz="1200" dirty="0">
                  <a:solidFill>
                    <a:srgbClr val="172B3A"/>
                  </a:solidFill>
                  <a:latin typeface="+mn-lt"/>
                  <a:ea typeface="+mn-ea"/>
                  <a:cs typeface="+mn-cs"/>
                </a:rPr>
                <a:t>Kod aynı kalır; çalışma ortamı koşulları değişir.</a:t>
              </a:r>
            </a:p>
          </p:txBody>
        </p:sp>
      </p:grpSp>
      <p:grpSp>
        <p:nvGrpSpPr>
          <p:cNvPr id="36" name="oniki-faktor"/>
          <p:cNvGrpSpPr/>
          <p:nvPr/>
        </p:nvGrpSpPr>
        <p:grpSpPr>
          <a:xfrm>
            <a:off x="6248400" y="4267200"/>
            <a:ext cx="5334000" cy="1200150"/>
            <a:chOff x="6248400" y="4267200"/>
            <a:chExt cx="5334000" cy="1200150"/>
          </a:xfrm>
        </p:grpSpPr>
        <p:sp>
          <p:nvSpPr>
            <p:cNvPr id="32" name="Rectangle 32"/>
            <p:cNvSpPr/>
            <p:nvPr/>
          </p:nvSpPr>
          <p:spPr>
            <a:xfrm>
              <a:off x="6248400" y="4267200"/>
              <a:ext cx="5334000" cy="1200150"/>
            </a:xfrm>
            <a:prstGeom prst="rect">
              <a:avLst/>
            </a:prstGeom>
            <a:solidFill>
              <a:srgbClr val="EAF4F6"/>
            </a:solidFill>
            <a:ln>
              <a:noFill/>
            </a:ln>
          </p:spPr>
        </p:sp>
        <p:sp>
          <p:nvSpPr>
            <p:cNvPr id="33" name="Rectangle 33"/>
            <p:cNvSpPr/>
            <p:nvPr/>
          </p:nvSpPr>
          <p:spPr>
            <a:xfrm>
              <a:off x="6248400" y="4267200"/>
              <a:ext cx="57150" cy="1200150"/>
            </a:xfrm>
            <a:prstGeom prst="rect">
              <a:avLst/>
            </a:prstGeom>
            <a:solidFill>
              <a:srgbClr val="2E86AB"/>
            </a:solidFill>
            <a:ln>
              <a:noFill/>
            </a:ln>
          </p:spPr>
        </p:sp>
        <p:sp>
          <p:nvSpPr>
            <p:cNvPr id="34" name="TextBox 34"/>
            <p:cNvSpPr txBox="1"/>
            <p:nvPr/>
          </p:nvSpPr>
          <p:spPr>
            <a:xfrm>
              <a:off x="6583299" y="4421029"/>
              <a:ext cx="343374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Twelve-Factor App, üçüncü ilke</a:t>
              </a:r>
            </a:p>
          </p:txBody>
        </p:sp>
        <p:sp>
          <p:nvSpPr>
            <p:cNvPr id="35" name="TextBox 35"/>
            <p:cNvSpPr txBox="1"/>
            <p:nvPr/>
          </p:nvSpPr>
          <p:spPr>
            <a:xfrm>
              <a:off x="6585204" y="4747260"/>
              <a:ext cx="37917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Wiggins (2011): yapılandırma koddan kesin biçimde</a:t>
              </a:r>
              <a:br/>
              <a:r>
                <a:rPr lang="tr-TR" sz="1200" dirty="0">
                  <a:solidFill>
                    <a:srgbClr val="172B3A"/>
                  </a:solidFill>
                  <a:latin typeface="+mn-lt"/>
                  <a:ea typeface="+mn-ea"/>
                  <a:cs typeface="+mn-cs"/>
                </a:rPr>
                <a:t>ayrılmalı ve ortamdan okunmalıdır; böylece aynı</a:t>
              </a:r>
              <a:br/>
              <a:r>
                <a:rPr lang="tr-TR" sz="1200" dirty="0">
                  <a:solidFill>
                    <a:srgbClr val="172B3A"/>
                  </a:solidFill>
                  <a:latin typeface="+mn-lt"/>
                  <a:ea typeface="+mn-ea"/>
                  <a:cs typeface="+mn-cs"/>
                </a:rPr>
                <a:t>paketlenmiş yapı farklı ortamlarda çalışabilir.</a:t>
              </a:r>
            </a:p>
          </p:txBody>
        </p:sp>
      </p:grpSp>
      <p:grpSp>
        <p:nvGrpSpPr>
          <p:cNvPr id="40" name="tur-uyarisi"/>
          <p:cNvGrpSpPr/>
          <p:nvPr/>
        </p:nvGrpSpPr>
        <p:grpSpPr>
          <a:xfrm>
            <a:off x="609600" y="5715000"/>
            <a:ext cx="10972800" cy="614267"/>
            <a:chOff x="609600" y="5715000"/>
            <a:chExt cx="10972800" cy="614267"/>
          </a:xfrm>
        </p:grpSpPr>
        <p:sp>
          <p:nvSpPr>
            <p:cNvPr id="37" name="Rectangle 37"/>
            <p:cNvSpPr/>
            <p:nvPr/>
          </p:nvSpPr>
          <p:spPr>
            <a:xfrm>
              <a:off x="609600" y="5715000"/>
              <a:ext cx="10972800" cy="571500"/>
            </a:xfrm>
            <a:prstGeom prst="rect">
              <a:avLst/>
            </a:prstGeom>
            <a:solidFill>
              <a:srgbClr val="FFFFFF"/>
            </a:solidFill>
            <a:ln w="9525">
              <a:solidFill>
                <a:srgbClr val="B8CBD3"/>
              </a:solidFill>
            </a:ln>
          </p:spPr>
        </p:sp>
        <p:sp>
          <p:nvSpPr>
            <p:cNvPr id="38" name="Rectangle 38"/>
            <p:cNvSpPr/>
            <p:nvPr/>
          </p:nvSpPr>
          <p:spPr>
            <a:xfrm>
              <a:off x="609600" y="5715000"/>
              <a:ext cx="57150" cy="571500"/>
            </a:xfrm>
            <a:prstGeom prst="rect">
              <a:avLst/>
            </a:prstGeom>
            <a:solidFill>
              <a:srgbClr val="52616B"/>
            </a:solidFill>
            <a:ln>
              <a:noFill/>
            </a:ln>
          </p:spPr>
        </p:sp>
        <p:sp>
          <p:nvSpPr>
            <p:cNvPr id="39" name="TextBox 39"/>
            <p:cNvSpPr txBox="1"/>
            <p:nvPr/>
          </p:nvSpPr>
          <p:spPr>
            <a:xfrm>
              <a:off x="944499" y="5792629"/>
              <a:ext cx="7691247" cy="536638"/>
            </a:xfrm>
            <a:prstGeom prst="rect">
              <a:avLst/>
            </a:prstGeom>
            <a:noFill/>
            <a:ln>
              <a:noFill/>
            </a:ln>
          </p:spPr>
          <p:txBody>
            <a:bodyPr wrap="none" lIns="0" tIns="0" rIns="0" bIns="0" anchor="t" anchorCtr="0">
              <a:spAutoFit/>
            </a:bodyPr>
            <a:lstStyle/>
            <a:p>
              <a:pPr algn="l">
                <a:lnSpc>
                  <a:spcPts val="1800"/>
                </a:lnSpc>
              </a:pPr>
              <a:r>
                <a:rPr lang="tr-TR" sz="1580" dirty="0">
                  <a:solidFill>
                    <a:srgbClr val="172B3A"/>
                  </a:solidFill>
                  <a:latin typeface="+mn-lt"/>
                  <a:ea typeface="+mn-ea"/>
                  <a:cs typeface="+mn-cs"/>
                </a:rPr>
                <a:t xml:space="preserve">Dikkat: process.env değerleri </a:t>
              </a:r>
              <a:r>
                <a:rPr lang="tr-TR" sz="1580" b="1" dirty="0">
                  <a:solidFill>
                    <a:srgbClr val="12355B"/>
                  </a:solidFill>
                  <a:latin typeface="+mn-lt"/>
                  <a:ea typeface="+mn-ea"/>
                  <a:cs typeface="+mn-cs"/>
                </a:rPr>
                <a:t>metin veya undefined</a:t>
              </a:r>
              <a:r>
                <a:rPr lang="tr-TR" sz="1580" dirty="0">
                  <a:solidFill>
                    <a:srgbClr val="172B3A"/>
                  </a:solidFill>
                  <a:latin typeface="+mn-lt"/>
                  <a:ea typeface="+mn-ea"/>
                  <a:cs typeface="+mn-cs"/>
                </a:rPr>
                <a:t xml:space="preserve"> olarak gelir;</a:t>
              </a:r>
              <a:br/>
              <a:r>
                <a:rPr lang="tr-TR" sz="1580" dirty="0">
                  <a:solidFill>
                    <a:srgbClr val="172B3A"/>
                  </a:solidFill>
                  <a:latin typeface="+mn-lt"/>
                  <a:ea typeface="+mn-ea"/>
                  <a:cs typeface="+mn-cs"/>
                </a:rPr>
                <a:t>TypeScript bile çalışma anında gelen yanlış bir metni güvenli sayıya çevirmez.</a:t>
              </a:r>
            </a:p>
          </p:txBody>
        </p:sp>
      </p:grpSp>
      <p:grpSp>
        <p:nvGrpSpPr>
          <p:cNvPr id="43" name="footer"/>
          <p:cNvGrpSpPr/>
          <p:nvPr/>
        </p:nvGrpSpPr>
        <p:grpSpPr>
          <a:xfrm>
            <a:off x="603504" y="6461760"/>
            <a:ext cx="10984992" cy="234696"/>
            <a:chOff x="603504" y="6461760"/>
            <a:chExt cx="10984992" cy="234696"/>
          </a:xfrm>
        </p:grpSpPr>
        <p:sp>
          <p:nvSpPr>
            <p:cNvPr id="41" name="TextBox 41"/>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2" name="TextBox 4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8"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36696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Güvenli port okuma ve doğrulama</a:t>
              </a:r>
            </a:p>
          </p:txBody>
        </p:sp>
      </p:grpSp>
      <p:grpSp>
        <p:nvGrpSpPr>
          <p:cNvPr id="13" name="kod"/>
          <p:cNvGrpSpPr/>
          <p:nvPr/>
        </p:nvGrpSpPr>
        <p:grpSpPr>
          <a:xfrm>
            <a:off x="603504" y="1261110"/>
            <a:ext cx="6673596" cy="2796540"/>
            <a:chOff x="603504" y="1261110"/>
            <a:chExt cx="6673596" cy="2796540"/>
          </a:xfrm>
        </p:grpSpPr>
        <p:sp>
          <p:nvSpPr>
            <p:cNvPr id="9" name="TextBox 9"/>
            <p:cNvSpPr txBox="1"/>
            <p:nvPr/>
          </p:nvSpPr>
          <p:spPr>
            <a:xfrm>
              <a:off x="603504" y="1261110"/>
              <a:ext cx="498774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src/yapilandirma.ts — merkezi doğrulama tek yerde tanımlanır</a:t>
              </a:r>
            </a:p>
          </p:txBody>
        </p:sp>
        <p:sp>
          <p:nvSpPr>
            <p:cNvPr id="10" name="Rectangle 10"/>
            <p:cNvSpPr/>
            <p:nvPr/>
          </p:nvSpPr>
          <p:spPr>
            <a:xfrm>
              <a:off x="609600" y="1504950"/>
              <a:ext cx="6667500" cy="2552700"/>
            </a:xfrm>
            <a:prstGeom prst="rect">
              <a:avLst/>
            </a:prstGeom>
            <a:solidFill>
              <a:srgbClr val="12355B"/>
            </a:solidFill>
            <a:ln>
              <a:noFill/>
            </a:ln>
          </p:spPr>
        </p:sp>
        <p:sp>
          <p:nvSpPr>
            <p:cNvPr id="11" name="Rectangle 11"/>
            <p:cNvSpPr/>
            <p:nvPr/>
          </p:nvSpPr>
          <p:spPr>
            <a:xfrm>
              <a:off x="609600" y="1504950"/>
              <a:ext cx="38100" cy="2552700"/>
            </a:xfrm>
            <a:prstGeom prst="rect">
              <a:avLst/>
            </a:prstGeom>
            <a:solidFill>
              <a:srgbClr val="00A6A6"/>
            </a:solidFill>
            <a:ln>
              <a:noFill/>
            </a:ln>
          </p:spPr>
        </p:sp>
        <p:sp>
          <p:nvSpPr>
            <p:cNvPr id="12" name="TextBox 12"/>
            <p:cNvSpPr txBox="1"/>
            <p:nvPr/>
          </p:nvSpPr>
          <p:spPr>
            <a:xfrm>
              <a:off x="907161" y="1674971"/>
              <a:ext cx="4874641" cy="2145602"/>
            </a:xfrm>
            <a:prstGeom prst="rect">
              <a:avLst/>
            </a:prstGeom>
            <a:noFill/>
            <a:ln>
              <a:noFill/>
            </a:ln>
          </p:spPr>
          <p:txBody>
            <a:bodyPr wrap="none" lIns="0" tIns="0" rIns="0" bIns="0" anchor="t" anchorCtr="0">
              <a:spAutoFit/>
            </a:bodyPr>
            <a:lstStyle/>
            <a:p>
              <a:pPr algn="l">
                <a:lnSpc>
                  <a:spcPts val="2100"/>
                </a:lnSpc>
              </a:pPr>
              <a:r>
                <a:rPr lang="tr-TR" sz="1420" dirty="0">
                  <a:solidFill>
                    <a:srgbClr val="EAF4F6"/>
                  </a:solidFill>
                  <a:latin typeface="Consolas"/>
                  <a:ea typeface="Consolas"/>
                  <a:cs typeface="Consolas"/>
                </a:rPr>
                <a:t>export function portOku(): number {</a:t>
              </a:r>
              <a:br/>
              <a:r>
                <a:rPr lang="tr-TR" sz="1420" dirty="0">
                  <a:solidFill>
                    <a:srgbClr val="EAF4F6"/>
                  </a:solidFill>
                  <a:latin typeface="Consolas"/>
                  <a:ea typeface="Consolas"/>
                  <a:cs typeface="Consolas"/>
                </a:rPr>
                <a:t>const portMetni = process.env.PORT;</a:t>
              </a:r>
              <a:br/>
              <a:r>
                <a:rPr lang="tr-TR" sz="1420" dirty="0">
                  <a:solidFill>
                    <a:srgbClr val="EAF4F6"/>
                  </a:solidFill>
                  <a:latin typeface="Consolas"/>
                  <a:ea typeface="Consolas"/>
                  <a:cs typeface="Consolas"/>
                </a:rPr>
                <a:t>const portNumarasi = Number(portMetni ?? "3000");</a:t>
              </a:r>
              <a:br/>
              <a:r>
                <a:rPr lang="tr-TR" sz="1420" dirty="0">
                  <a:solidFill>
                    <a:srgbClr val="EAF4F6"/>
                  </a:solidFill>
                  <a:latin typeface="Consolas"/>
                  <a:ea typeface="Consolas"/>
                  <a:cs typeface="Consolas"/>
                </a:rPr>
                <a:t>if (!Number.isInteger(portNumarasi) ||</a:t>
              </a:r>
              <a:br/>
              <a:r>
                <a:rPr lang="tr-TR" sz="1420" dirty="0">
                  <a:solidFill>
                    <a:srgbClr val="EAF4F6"/>
                  </a:solidFill>
                  <a:latin typeface="Consolas"/>
                  <a:ea typeface="Consolas"/>
                  <a:cs typeface="Consolas"/>
                </a:rPr>
                <a:t>portNumarasi &lt; 1 || portNumarasi &gt; 65535) {</a:t>
              </a:r>
              <a:br/>
              <a:r>
                <a:rPr lang="tr-TR" sz="1420" dirty="0">
                  <a:solidFill>
                    <a:srgbClr val="EAF4F6"/>
                  </a:solidFill>
                  <a:latin typeface="Consolas"/>
                  <a:ea typeface="Consolas"/>
                  <a:cs typeface="Consolas"/>
                </a:rPr>
                <a:t>throw new Error("PORT 1-65535 arasında olmalı.");</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return portNumarasi;</a:t>
              </a:r>
            </a:p>
          </p:txBody>
        </p:sp>
      </p:grpSp>
      <p:grpSp>
        <p:nvGrpSpPr>
          <p:cNvPr id="27" name="kurallar"/>
          <p:cNvGrpSpPr/>
          <p:nvPr/>
        </p:nvGrpSpPr>
        <p:grpSpPr>
          <a:xfrm>
            <a:off x="7570470" y="1204912"/>
            <a:ext cx="4011930" cy="2833688"/>
            <a:chOff x="7570470" y="1204912"/>
            <a:chExt cx="4011930" cy="2833688"/>
          </a:xfrm>
        </p:grpSpPr>
        <p:sp>
          <p:nvSpPr>
            <p:cNvPr id="14" name="TextBox 14"/>
            <p:cNvSpPr txBox="1"/>
            <p:nvPr/>
          </p:nvSpPr>
          <p:spPr>
            <a:xfrm>
              <a:off x="7570470" y="1204912"/>
              <a:ext cx="1273245"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Üç kural</a:t>
              </a:r>
            </a:p>
          </p:txBody>
        </p:sp>
        <p:grpSp>
          <p:nvGrpSpPr>
            <p:cNvPr id="18" name="kural-varsayilan"/>
            <p:cNvGrpSpPr/>
            <p:nvPr/>
          </p:nvGrpSpPr>
          <p:grpSpPr>
            <a:xfrm>
              <a:off x="7581900" y="1714500"/>
              <a:ext cx="4000500" cy="685800"/>
              <a:chOff x="7581900" y="1714500"/>
              <a:chExt cx="4000500" cy="685800"/>
            </a:xfrm>
          </p:grpSpPr>
          <p:sp>
            <p:nvSpPr>
              <p:cNvPr id="15" name="Rectangle 15"/>
              <p:cNvSpPr/>
              <p:nvPr/>
            </p:nvSpPr>
            <p:spPr>
              <a:xfrm>
                <a:off x="7581900" y="1714500"/>
                <a:ext cx="4000500" cy="685800"/>
              </a:xfrm>
              <a:prstGeom prst="rect">
                <a:avLst/>
              </a:prstGeom>
              <a:solidFill>
                <a:srgbClr val="EAF4F6"/>
              </a:solidFill>
              <a:ln>
                <a:noFill/>
              </a:ln>
            </p:spPr>
          </p:sp>
          <p:sp>
            <p:nvSpPr>
              <p:cNvPr id="16" name="TextBox 16"/>
              <p:cNvSpPr txBox="1"/>
              <p:nvPr/>
            </p:nvSpPr>
            <p:spPr>
              <a:xfrm>
                <a:off x="7802499" y="1830229"/>
                <a:ext cx="12625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Eksik değer</a:t>
                </a:r>
              </a:p>
            </p:txBody>
          </p:sp>
          <p:sp>
            <p:nvSpPr>
              <p:cNvPr id="17" name="TextBox 17"/>
              <p:cNvSpPr txBox="1"/>
              <p:nvPr/>
            </p:nvSpPr>
            <p:spPr>
              <a:xfrm>
                <a:off x="7804404" y="2118360"/>
                <a:ext cx="261945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Güvenli varsayılana düşer: 3000.</a:t>
                </a:r>
              </a:p>
            </p:txBody>
          </p:sp>
        </p:grpSp>
        <p:grpSp>
          <p:nvGrpSpPr>
            <p:cNvPr id="22" name="kural-gecersiz"/>
            <p:cNvGrpSpPr/>
            <p:nvPr/>
          </p:nvGrpSpPr>
          <p:grpSpPr>
            <a:xfrm>
              <a:off x="7581900" y="2533650"/>
              <a:ext cx="4000500" cy="685800"/>
              <a:chOff x="7581900" y="2533650"/>
              <a:chExt cx="4000500" cy="685800"/>
            </a:xfrm>
          </p:grpSpPr>
          <p:sp>
            <p:nvSpPr>
              <p:cNvPr id="19" name="Rectangle 19"/>
              <p:cNvSpPr/>
              <p:nvPr/>
            </p:nvSpPr>
            <p:spPr>
              <a:xfrm>
                <a:off x="7581900" y="2533650"/>
                <a:ext cx="4000500" cy="685800"/>
              </a:xfrm>
              <a:prstGeom prst="rect">
                <a:avLst/>
              </a:prstGeom>
              <a:solidFill>
                <a:srgbClr val="EAF4F6"/>
              </a:solidFill>
              <a:ln>
                <a:noFill/>
              </a:ln>
            </p:spPr>
          </p:sp>
          <p:sp>
            <p:nvSpPr>
              <p:cNvPr id="20" name="TextBox 20"/>
              <p:cNvSpPr txBox="1"/>
              <p:nvPr/>
            </p:nvSpPr>
            <p:spPr>
              <a:xfrm>
                <a:off x="7802499" y="26493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Geçersiz değer</a:t>
                </a:r>
              </a:p>
            </p:txBody>
          </p:sp>
          <p:sp>
            <p:nvSpPr>
              <p:cNvPr id="21" name="TextBox 21"/>
              <p:cNvSpPr txBox="1"/>
              <p:nvPr/>
            </p:nvSpPr>
            <p:spPr>
              <a:xfrm>
                <a:off x="7804404" y="2937510"/>
                <a:ext cx="21581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Açık hata mesajı fırlatır.</a:t>
                </a:r>
              </a:p>
            </p:txBody>
          </p:sp>
        </p:grpSp>
        <p:grpSp>
          <p:nvGrpSpPr>
            <p:cNvPr id="26" name="kural-merkez"/>
            <p:cNvGrpSpPr/>
            <p:nvPr/>
          </p:nvGrpSpPr>
          <p:grpSpPr>
            <a:xfrm>
              <a:off x="7581900" y="3352800"/>
              <a:ext cx="4000500" cy="685800"/>
              <a:chOff x="7581900" y="3352800"/>
              <a:chExt cx="4000500" cy="685800"/>
            </a:xfrm>
          </p:grpSpPr>
          <p:sp>
            <p:nvSpPr>
              <p:cNvPr id="23" name="Rectangle 23"/>
              <p:cNvSpPr/>
              <p:nvPr/>
            </p:nvSpPr>
            <p:spPr>
              <a:xfrm>
                <a:off x="7581900" y="3352800"/>
                <a:ext cx="4000500" cy="685800"/>
              </a:xfrm>
              <a:prstGeom prst="rect">
                <a:avLst/>
              </a:prstGeom>
              <a:solidFill>
                <a:srgbClr val="EAF4F6"/>
              </a:solidFill>
              <a:ln>
                <a:noFill/>
              </a:ln>
            </p:spPr>
          </p:sp>
          <p:sp>
            <p:nvSpPr>
              <p:cNvPr id="24" name="TextBox 24"/>
              <p:cNvSpPr txBox="1"/>
              <p:nvPr/>
            </p:nvSpPr>
            <p:spPr>
              <a:xfrm>
                <a:off x="7802499" y="3468529"/>
                <a:ext cx="10731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Tek nokta</a:t>
                </a:r>
              </a:p>
            </p:txBody>
          </p:sp>
          <p:sp>
            <p:nvSpPr>
              <p:cNvPr id="25" name="TextBox 25"/>
              <p:cNvSpPr txBox="1"/>
              <p:nvPr/>
            </p:nvSpPr>
            <p:spPr>
              <a:xfrm>
                <a:off x="7804404" y="3756660"/>
                <a:ext cx="300604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kural tüm uygulamada kullanılır.</a:t>
                </a:r>
              </a:p>
            </p:txBody>
          </p:sp>
        </p:grpSp>
      </p:grpSp>
      <p:grpSp>
        <p:nvGrpSpPr>
          <p:cNvPr id="34" name="powershell"/>
          <p:cNvGrpSpPr/>
          <p:nvPr/>
        </p:nvGrpSpPr>
        <p:grpSpPr>
          <a:xfrm>
            <a:off x="609600" y="4343400"/>
            <a:ext cx="10972800" cy="952500"/>
            <a:chOff x="609600" y="4343400"/>
            <a:chExt cx="10972800" cy="952500"/>
          </a:xfrm>
        </p:grpSpPr>
        <p:sp>
          <p:nvSpPr>
            <p:cNvPr id="28" name="Rectangle 28"/>
            <p:cNvSpPr/>
            <p:nvPr/>
          </p:nvSpPr>
          <p:spPr>
            <a:xfrm>
              <a:off x="609600" y="4343400"/>
              <a:ext cx="10972800" cy="952500"/>
            </a:xfrm>
            <a:prstGeom prst="rect">
              <a:avLst/>
            </a:prstGeom>
            <a:solidFill>
              <a:srgbClr val="FFFFFF"/>
            </a:solidFill>
            <a:ln w="9525">
              <a:solidFill>
                <a:srgbClr val="B8CBD3"/>
              </a:solidFill>
            </a:ln>
          </p:spPr>
        </p:sp>
        <p:sp>
          <p:nvSpPr>
            <p:cNvPr id="29" name="Rectangle 29"/>
            <p:cNvSpPr/>
            <p:nvPr/>
          </p:nvSpPr>
          <p:spPr>
            <a:xfrm>
              <a:off x="609600" y="4343400"/>
              <a:ext cx="57150" cy="952500"/>
            </a:xfrm>
            <a:prstGeom prst="rect">
              <a:avLst/>
            </a:prstGeom>
            <a:solidFill>
              <a:srgbClr val="2E86AB"/>
            </a:solidFill>
            <a:ln>
              <a:noFill/>
            </a:ln>
          </p:spPr>
        </p:sp>
        <p:sp>
          <p:nvSpPr>
            <p:cNvPr id="30" name="TextBox 30"/>
            <p:cNvSpPr txBox="1"/>
            <p:nvPr/>
          </p:nvSpPr>
          <p:spPr>
            <a:xfrm>
              <a:off x="944499" y="4478179"/>
              <a:ext cx="501045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PowerShell oturumunda geçici ortam değişkeni</a:t>
              </a:r>
            </a:p>
          </p:txBody>
        </p:sp>
        <p:sp>
          <p:nvSpPr>
            <p:cNvPr id="31" name="TextBox 31"/>
            <p:cNvSpPr txBox="1"/>
            <p:nvPr/>
          </p:nvSpPr>
          <p:spPr>
            <a:xfrm>
              <a:off x="945261" y="4818221"/>
              <a:ext cx="196817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Consolas"/>
                  <a:ea typeface="Consolas"/>
                  <a:cs typeface="Consolas"/>
                </a:rPr>
                <a:t>$env:PORT = "4000"</a:t>
              </a:r>
            </a:p>
          </p:txBody>
        </p:sp>
        <p:sp>
          <p:nvSpPr>
            <p:cNvPr id="32" name="TextBox 32"/>
            <p:cNvSpPr txBox="1"/>
            <p:nvPr/>
          </p:nvSpPr>
          <p:spPr>
            <a:xfrm>
              <a:off x="3421761" y="4818221"/>
              <a:ext cx="169669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Consolas"/>
                  <a:ea typeface="Consolas"/>
                  <a:cs typeface="Consolas"/>
                </a:rPr>
                <a:t>npm run gelistir</a:t>
              </a:r>
            </a:p>
          </p:txBody>
        </p:sp>
        <p:sp>
          <p:nvSpPr>
            <p:cNvPr id="33" name="TextBox 33"/>
            <p:cNvSpPr txBox="1"/>
            <p:nvPr/>
          </p:nvSpPr>
          <p:spPr>
            <a:xfrm>
              <a:off x="6089904" y="4842510"/>
              <a:ext cx="41284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PORT yalnızca açık terminal oturumunda geçerlidir.</a:t>
              </a:r>
            </a:p>
          </p:txBody>
        </p:sp>
      </p:grpSp>
      <p:grpSp>
        <p:nvGrpSpPr>
          <p:cNvPr id="45" name="hatalar"/>
          <p:cNvGrpSpPr/>
          <p:nvPr/>
        </p:nvGrpSpPr>
        <p:grpSpPr>
          <a:xfrm>
            <a:off x="601599" y="5547360"/>
            <a:ext cx="10774434" cy="768096"/>
            <a:chOff x="601599" y="5547360"/>
            <a:chExt cx="10774434" cy="768096"/>
          </a:xfrm>
        </p:grpSpPr>
        <p:sp>
          <p:nvSpPr>
            <p:cNvPr id="35" name="TextBox 35"/>
            <p:cNvSpPr txBox="1"/>
            <p:nvPr/>
          </p:nvSpPr>
          <p:spPr>
            <a:xfrm>
              <a:off x="603504" y="5547360"/>
              <a:ext cx="11803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Yaygın hatalar</a:t>
              </a:r>
            </a:p>
          </p:txBody>
        </p:sp>
        <p:grpSp>
          <p:nvGrpSpPr>
            <p:cNvPr id="38" name="hata-dogrulamasiz"/>
            <p:cNvGrpSpPr/>
            <p:nvPr/>
          </p:nvGrpSpPr>
          <p:grpSpPr>
            <a:xfrm>
              <a:off x="601599" y="5792629"/>
              <a:ext cx="4330346" cy="522827"/>
              <a:chOff x="601599" y="5792629"/>
              <a:chExt cx="4330346" cy="522827"/>
            </a:xfrm>
          </p:grpSpPr>
          <p:sp>
            <p:nvSpPr>
              <p:cNvPr id="36" name="TextBox 36"/>
              <p:cNvSpPr txBox="1"/>
              <p:nvPr/>
            </p:nvSpPr>
            <p:spPr>
              <a:xfrm>
                <a:off x="601599" y="5792629"/>
                <a:ext cx="2837258"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Doğrulamadan kabul etmek</a:t>
                </a:r>
              </a:p>
            </p:txBody>
          </p:sp>
          <p:sp>
            <p:nvSpPr>
              <p:cNvPr id="37" name="TextBox 37"/>
              <p:cNvSpPr txBox="1"/>
              <p:nvPr/>
            </p:nvSpPr>
            <p:spPr>
              <a:xfrm>
                <a:off x="603504" y="6080760"/>
                <a:ext cx="43284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Number(process.env.PORT) değeri “abc” ise NaN olur.</a:t>
                </a:r>
              </a:p>
            </p:txBody>
          </p:sp>
        </p:grpSp>
        <p:grpSp>
          <p:nvGrpSpPr>
            <p:cNvPr id="41" name="hata-sir"/>
            <p:cNvGrpSpPr/>
            <p:nvPr/>
          </p:nvGrpSpPr>
          <p:grpSpPr>
            <a:xfrm>
              <a:off x="4335399" y="5792629"/>
              <a:ext cx="4133469" cy="522827"/>
              <a:chOff x="4335399" y="5792629"/>
              <a:chExt cx="4133469" cy="522827"/>
            </a:xfrm>
          </p:grpSpPr>
          <p:sp>
            <p:nvSpPr>
              <p:cNvPr id="39" name="TextBox 39"/>
              <p:cNvSpPr txBox="1"/>
              <p:nvPr/>
            </p:nvSpPr>
            <p:spPr>
              <a:xfrm>
                <a:off x="4335399" y="5792629"/>
                <a:ext cx="2044330"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Sırları yazdırmak</a:t>
                </a:r>
              </a:p>
            </p:txBody>
          </p:sp>
          <p:sp>
            <p:nvSpPr>
              <p:cNvPr id="40" name="TextBox 40"/>
              <p:cNvSpPr txBox="1"/>
              <p:nvPr/>
            </p:nvSpPr>
            <p:spPr>
              <a:xfrm>
                <a:off x="4337304" y="6080760"/>
                <a:ext cx="41315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console.log(process.env) anahtarları kaydedebilir.</a:t>
                </a:r>
              </a:p>
            </p:txBody>
          </p:sp>
        </p:grpSp>
        <p:grpSp>
          <p:nvGrpSpPr>
            <p:cNvPr id="44" name="hata-tur"/>
            <p:cNvGrpSpPr/>
            <p:nvPr/>
          </p:nvGrpSpPr>
          <p:grpSpPr>
            <a:xfrm>
              <a:off x="8069199" y="5792629"/>
              <a:ext cx="3306834" cy="522827"/>
              <a:chOff x="8069199" y="5792629"/>
              <a:chExt cx="3306834" cy="522827"/>
            </a:xfrm>
          </p:grpSpPr>
          <p:sp>
            <p:nvSpPr>
              <p:cNvPr id="42" name="TextBox 42"/>
              <p:cNvSpPr txBox="1"/>
              <p:nvPr/>
            </p:nvSpPr>
            <p:spPr>
              <a:xfrm>
                <a:off x="8069199" y="5792629"/>
                <a:ext cx="1363594"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Sayı sanmak</a:t>
                </a:r>
              </a:p>
            </p:txBody>
          </p:sp>
          <p:sp>
            <p:nvSpPr>
              <p:cNvPr id="43" name="TextBox 43"/>
              <p:cNvSpPr txBox="1"/>
              <p:nvPr/>
            </p:nvSpPr>
            <p:spPr>
              <a:xfrm>
                <a:off x="8071104" y="6080760"/>
                <a:ext cx="330492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Dönüşüm ve doğrulama uygulamanın işidir.</a:t>
                </a:r>
              </a:p>
            </p:txBody>
          </p:sp>
        </p:grpSp>
      </p:grpSp>
      <p:grpSp>
        <p:nvGrpSpPr>
          <p:cNvPr id="48" name="footer"/>
          <p:cNvGrpSpPr/>
          <p:nvPr/>
        </p:nvGrpSpPr>
        <p:grpSpPr>
          <a:xfrm>
            <a:off x="603504" y="6461760"/>
            <a:ext cx="10984992" cy="234696"/>
            <a:chOff x="603504" y="6461760"/>
            <a:chExt cx="10984992" cy="234696"/>
          </a:xfrm>
        </p:grpSpPr>
        <p:sp>
          <p:nvSpPr>
            <p:cNvPr id="46" name="TextBox 46"/>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47" name="TextBox 4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673641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node:http ile istek-yanıt döngüsü</a:t>
              </a:r>
            </a:p>
          </p:txBody>
        </p:sp>
      </p:grpSp>
      <p:grpSp>
        <p:nvGrpSpPr>
          <p:cNvPr id="10" name="kod"/>
          <p:cNvGrpSpPr/>
          <p:nvPr/>
        </p:nvGrpSpPr>
        <p:grpSpPr>
          <a:xfrm>
            <a:off x="603504" y="1261110"/>
            <a:ext cx="6292596" cy="3939540"/>
            <a:chOff x="603504" y="1261110"/>
            <a:chExt cx="6292596" cy="3939540"/>
          </a:xfrm>
        </p:grpSpPr>
        <p:sp>
          <p:nvSpPr>
            <p:cNvPr id="6" name="TextBox 6"/>
            <p:cNvSpPr txBox="1"/>
            <p:nvPr/>
          </p:nvSpPr>
          <p:spPr>
            <a:xfrm>
              <a:off x="603504" y="1261110"/>
              <a:ext cx="46161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src/sunucu.ts — çatısız, yalnızca standart kütüphaneyle</a:t>
              </a:r>
            </a:p>
          </p:txBody>
        </p:sp>
        <p:sp>
          <p:nvSpPr>
            <p:cNvPr id="7" name="Rectangle 7"/>
            <p:cNvSpPr/>
            <p:nvPr/>
          </p:nvSpPr>
          <p:spPr>
            <a:xfrm>
              <a:off x="609600" y="1504950"/>
              <a:ext cx="6286500" cy="3695700"/>
            </a:xfrm>
            <a:prstGeom prst="rect">
              <a:avLst/>
            </a:prstGeom>
            <a:solidFill>
              <a:srgbClr val="12355B"/>
            </a:solidFill>
            <a:ln>
              <a:noFill/>
            </a:ln>
          </p:spPr>
        </p:sp>
        <p:sp>
          <p:nvSpPr>
            <p:cNvPr id="8" name="Rectangle 8"/>
            <p:cNvSpPr/>
            <p:nvPr/>
          </p:nvSpPr>
          <p:spPr>
            <a:xfrm>
              <a:off x="609600" y="1504950"/>
              <a:ext cx="38100" cy="3695700"/>
            </a:xfrm>
            <a:prstGeom prst="rect">
              <a:avLst/>
            </a:prstGeom>
            <a:solidFill>
              <a:srgbClr val="00A6A6"/>
            </a:solidFill>
            <a:ln>
              <a:noFill/>
            </a:ln>
          </p:spPr>
        </p:sp>
        <p:sp>
          <p:nvSpPr>
            <p:cNvPr id="9" name="TextBox 9"/>
            <p:cNvSpPr txBox="1"/>
            <p:nvPr/>
          </p:nvSpPr>
          <p:spPr>
            <a:xfrm>
              <a:off x="907923" y="1653064"/>
              <a:ext cx="5466842" cy="3221164"/>
            </a:xfrm>
            <a:prstGeom prst="rect">
              <a:avLst/>
            </a:prstGeom>
            <a:noFill/>
            <a:ln>
              <a:noFill/>
            </a:ln>
          </p:spPr>
          <p:txBody>
            <a:bodyPr wrap="none" lIns="0" tIns="0" rIns="0" bIns="0" anchor="t" anchorCtr="0">
              <a:spAutoFit/>
            </a:bodyPr>
            <a:lstStyle/>
            <a:p>
              <a:pPr algn="l">
                <a:lnSpc>
                  <a:spcPts val="1800"/>
                </a:lnSpc>
              </a:pPr>
              <a:r>
                <a:rPr lang="tr-TR" sz="1280" dirty="0">
                  <a:solidFill>
                    <a:srgbClr val="EAF4F6"/>
                  </a:solidFill>
                  <a:latin typeface="Consolas"/>
                  <a:ea typeface="Consolas"/>
                  <a:cs typeface="Consolas"/>
                </a:rPr>
                <a:t>import http from "node:http";</a:t>
              </a:r>
              <a:br/>
              <a:r>
                <a:rPr lang="tr-TR" sz="1280" dirty="0">
                  <a:solidFill>
                    <a:srgbClr val="EAF4F6"/>
                  </a:solidFill>
                  <a:latin typeface="Consolas"/>
                  <a:ea typeface="Consolas"/>
                  <a:cs typeface="Consolas"/>
                </a:rPr>
                <a:t>import { portOku } from "./yapilandirma.js";</a:t>
              </a:r>
              <a:br/>
              <a:r>
                <a:rPr lang="tr-TR" sz="1280" dirty="0">
                  <a:solidFill>
                    <a:srgbClr val="EAF4F6"/>
                  </a:solidFill>
                  <a:latin typeface="Consolas"/>
                  <a:ea typeface="Consolas"/>
                  <a:cs typeface="Consolas"/>
                </a:rPr>
                <a:t>const uygulamaPortu = portOku();</a:t>
              </a:r>
              <a:br/>
              <a:r>
                <a:rPr lang="tr-TR" sz="1280" dirty="0">
                  <a:solidFill>
                    <a:srgbClr val="EAF4F6"/>
                  </a:solidFill>
                  <a:latin typeface="Consolas"/>
                  <a:ea typeface="Consolas"/>
                  <a:cs typeface="Consolas"/>
                </a:rPr>
                <a:t>const sunucu = http.createServer((istek, yanit) =&gt; {</a:t>
              </a:r>
              <a:br/>
              <a:r>
                <a:rPr lang="tr-TR" sz="1280" dirty="0">
                  <a:solidFill>
                    <a:srgbClr val="EAF4F6"/>
                  </a:solidFill>
                  <a:latin typeface="Consolas"/>
                  <a:ea typeface="Consolas"/>
                  <a:cs typeface="Consolas"/>
                </a:rPr>
                <a:t>const istekYolu = istek.url ?? "/";</a:t>
              </a:r>
              <a:br/>
              <a:r>
                <a:rPr lang="tr-TR" sz="1280" dirty="0">
                  <a:solidFill>
                    <a:srgbClr val="EAF4F6"/>
                  </a:solidFill>
                  <a:latin typeface="Consolas"/>
                  <a:ea typeface="Consolas"/>
                  <a:cs typeface="Consolas"/>
                </a:rPr>
                <a:t>if (istekYolu === "/durum") {</a:t>
              </a:r>
              <a:br/>
              <a:r>
                <a:rPr lang="tr-TR" sz="1280" dirty="0">
                  <a:solidFill>
                    <a:srgbClr val="EAF4F6"/>
                  </a:solidFill>
                  <a:latin typeface="Consolas"/>
                  <a:ea typeface="Consolas"/>
                  <a:cs typeface="Consolas"/>
                </a:rPr>
                <a:t>yanit.writeHead(200, {</a:t>
              </a:r>
              <a:br/>
              <a:r>
                <a:rPr lang="tr-TR" sz="1280" dirty="0">
                  <a:solidFill>
                    <a:srgbClr val="EAF4F6"/>
                  </a:solidFill>
                  <a:latin typeface="Consolas"/>
                  <a:ea typeface="Consolas"/>
                  <a:cs typeface="Consolas"/>
                </a:rPr>
                <a:t>"Content-Type": "application/json; charset=utf-8" });</a:t>
              </a:r>
              <a:br/>
              <a:r>
                <a:rPr lang="tr-TR" sz="1280" dirty="0">
                  <a:solidFill>
                    <a:srgbClr val="EAF4F6"/>
                  </a:solidFill>
                  <a:latin typeface="Consolas"/>
                  <a:ea typeface="Consolas"/>
                  <a:cs typeface="Consolas"/>
                </a:rPr>
                <a:t>yanit.end(JSON.stringify({ durum: "çalışıyor" }));</a:t>
              </a:r>
              <a:br/>
              <a:r>
                <a:rPr lang="tr-TR" sz="1280" dirty="0">
                  <a:solidFill>
                    <a:srgbClr val="EAF4F6"/>
                  </a:solidFill>
                  <a:latin typeface="Consolas"/>
                  <a:ea typeface="Consolas"/>
                  <a:cs typeface="Consolas"/>
                </a:rPr>
                <a:t>return;</a:t>
              </a:r>
              <a:br/>
              <a:r>
                <a:rPr lang="tr-TR" sz="1280" dirty="0">
                  <a:solidFill>
                    <a:srgbClr val="EAF4F6"/>
                  </a:solidFill>
                  <a:latin typeface="Consolas"/>
                  <a:ea typeface="Consolas"/>
                  <a:cs typeface="Consolas"/>
                </a:rPr>
                <a:t>}</a:t>
              </a:r>
              <a:br/>
              <a:r>
                <a:rPr lang="tr-TR" sz="1280" dirty="0">
                  <a:solidFill>
                    <a:srgbClr val="EAF4F6"/>
                  </a:solidFill>
                  <a:latin typeface="Consolas"/>
                  <a:ea typeface="Consolas"/>
                  <a:cs typeface="Consolas"/>
                </a:rPr>
                <a:t>yanit.writeHead(404, { "Content-Type": "application/json" });</a:t>
              </a:r>
              <a:br/>
              <a:r>
                <a:rPr lang="tr-TR" sz="1280" dirty="0">
                  <a:solidFill>
                    <a:srgbClr val="EAF4F6"/>
                  </a:solidFill>
                  <a:latin typeface="Consolas"/>
                  <a:ea typeface="Consolas"/>
                  <a:cs typeface="Consolas"/>
                </a:rPr>
                <a:t>yanit.end(JSON.stringify({ hata: "Bulunamadı." }));</a:t>
              </a:r>
              <a:br/>
              <a:r>
                <a:rPr lang="tr-TR" sz="1280" dirty="0">
                  <a:solidFill>
                    <a:srgbClr val="EAF4F6"/>
                  </a:solidFill>
                  <a:latin typeface="Consolas"/>
                  <a:ea typeface="Consolas"/>
                  <a:cs typeface="Consolas"/>
                </a:rPr>
                <a:t>});</a:t>
              </a:r>
            </a:p>
          </p:txBody>
        </p:sp>
      </p:grpSp>
      <p:grpSp>
        <p:nvGrpSpPr>
          <p:cNvPr id="27" name="istek-yanit"/>
          <p:cNvGrpSpPr/>
          <p:nvPr/>
        </p:nvGrpSpPr>
        <p:grpSpPr>
          <a:xfrm>
            <a:off x="7200900" y="1390650"/>
            <a:ext cx="4381500" cy="3819906"/>
            <a:chOff x="7200900" y="1390650"/>
            <a:chExt cx="4381500" cy="3819906"/>
          </a:xfrm>
        </p:grpSpPr>
        <p:grpSp>
          <p:nvGrpSpPr>
            <p:cNvPr id="15" name="istek-kutusu"/>
            <p:cNvGrpSpPr/>
            <p:nvPr/>
          </p:nvGrpSpPr>
          <p:grpSpPr>
            <a:xfrm>
              <a:off x="7200900" y="1390650"/>
              <a:ext cx="4381500" cy="1114806"/>
              <a:chOff x="7200900" y="1390650"/>
              <a:chExt cx="4381500" cy="1114806"/>
            </a:xfrm>
          </p:grpSpPr>
          <p:sp>
            <p:nvSpPr>
              <p:cNvPr id="11" name="Rectangle 11"/>
              <p:cNvSpPr/>
              <p:nvPr/>
            </p:nvSpPr>
            <p:spPr>
              <a:xfrm>
                <a:off x="7200900" y="1390650"/>
                <a:ext cx="4381500" cy="1104900"/>
              </a:xfrm>
              <a:prstGeom prst="rect">
                <a:avLst/>
              </a:prstGeom>
              <a:solidFill>
                <a:srgbClr val="FFFFFF"/>
              </a:solidFill>
              <a:ln w="9525">
                <a:solidFill>
                  <a:srgbClr val="2E86AB"/>
                </a:solidFill>
              </a:ln>
            </p:spPr>
          </p:sp>
          <p:sp>
            <p:nvSpPr>
              <p:cNvPr id="12" name="Rectangle 12"/>
              <p:cNvSpPr/>
              <p:nvPr/>
            </p:nvSpPr>
            <p:spPr>
              <a:xfrm>
                <a:off x="7200900" y="1390650"/>
                <a:ext cx="4381500" cy="38100"/>
              </a:xfrm>
              <a:prstGeom prst="rect">
                <a:avLst/>
              </a:prstGeom>
              <a:solidFill>
                <a:srgbClr val="2E86AB"/>
              </a:solidFill>
              <a:ln>
                <a:noFill/>
              </a:ln>
            </p:spPr>
          </p:sp>
          <p:sp>
            <p:nvSpPr>
              <p:cNvPr id="13" name="TextBox 13"/>
              <p:cNvSpPr txBox="1"/>
              <p:nvPr/>
            </p:nvSpPr>
            <p:spPr>
              <a:xfrm>
                <a:off x="7495794" y="1523048"/>
                <a:ext cx="78638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İstek</a:t>
                </a:r>
              </a:p>
            </p:txBody>
          </p:sp>
          <p:sp>
            <p:nvSpPr>
              <p:cNvPr id="14" name="TextBox 14"/>
              <p:cNvSpPr txBox="1"/>
              <p:nvPr/>
            </p:nvSpPr>
            <p:spPr>
              <a:xfrm>
                <a:off x="7499604" y="1889760"/>
                <a:ext cx="14676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Yöntem: GET · POST</a:t>
                </a:r>
                <a:br/>
                <a:r>
                  <a:rPr lang="tr-TR" sz="1200" dirty="0">
                    <a:solidFill>
                      <a:srgbClr val="52616B"/>
                    </a:solidFill>
                    <a:latin typeface="+mn-lt"/>
                    <a:ea typeface="+mn-ea"/>
                    <a:cs typeface="+mn-cs"/>
                  </a:rPr>
                  <a:t>Yol: / · /durum</a:t>
                </a:r>
                <a:br/>
                <a:r>
                  <a:rPr lang="tr-TR" sz="1200" dirty="0">
                    <a:solidFill>
                      <a:srgbClr val="52616B"/>
                    </a:solidFill>
                    <a:latin typeface="+mn-lt"/>
                    <a:ea typeface="+mn-ea"/>
                    <a:cs typeface="+mn-cs"/>
                  </a:rPr>
                  <a:t>Başlıklar</a:t>
                </a:r>
              </a:p>
            </p:txBody>
          </p:sp>
        </p:grpSp>
        <p:sp>
          <p:nvSpPr>
            <p:cNvPr id="16" name="Line 16"/>
            <p:cNvSpPr/>
            <p:nvPr/>
          </p:nvSpPr>
          <p:spPr>
            <a:xfrm>
              <a:off x="9391650" y="2495550"/>
              <a:ext cx="1" cy="285750"/>
            </a:xfrm>
            <a:prstGeom prst="line">
              <a:avLst/>
            </a:prstGeom>
            <a:noFill/>
            <a:ln w="19050">
              <a:solidFill>
                <a:srgbClr val="00A6A6"/>
              </a:solidFill>
              <a:tailEnd type="triangle" w="lg" len="lg"/>
            </a:ln>
          </p:spPr>
        </p:sp>
        <p:grpSp>
          <p:nvGrpSpPr>
            <p:cNvPr id="20" name="sunucu-kutusu"/>
            <p:cNvGrpSpPr/>
            <p:nvPr/>
          </p:nvGrpSpPr>
          <p:grpSpPr>
            <a:xfrm>
              <a:off x="7200900" y="2819400"/>
              <a:ext cx="4381500" cy="952500"/>
              <a:chOff x="7200900" y="2819400"/>
              <a:chExt cx="4381500" cy="952500"/>
            </a:xfrm>
          </p:grpSpPr>
          <p:sp>
            <p:nvSpPr>
              <p:cNvPr id="17" name="Rectangle 17"/>
              <p:cNvSpPr/>
              <p:nvPr/>
            </p:nvSpPr>
            <p:spPr>
              <a:xfrm>
                <a:off x="7200900" y="2819400"/>
                <a:ext cx="4381500" cy="952500"/>
              </a:xfrm>
              <a:prstGeom prst="rect">
                <a:avLst/>
              </a:prstGeom>
              <a:solidFill>
                <a:srgbClr val="12355B"/>
              </a:solidFill>
              <a:ln>
                <a:noFill/>
              </a:ln>
            </p:spPr>
          </p:sp>
          <p:sp>
            <p:nvSpPr>
              <p:cNvPr id="18" name="TextBox 18"/>
              <p:cNvSpPr txBox="1"/>
              <p:nvPr/>
            </p:nvSpPr>
            <p:spPr>
              <a:xfrm>
                <a:off x="7495794" y="2951798"/>
                <a:ext cx="937987" cy="381381"/>
              </a:xfrm>
              <a:prstGeom prst="rect">
                <a:avLst/>
              </a:prstGeom>
              <a:noFill/>
              <a:ln>
                <a:noFill/>
              </a:ln>
            </p:spPr>
            <p:txBody>
              <a:bodyPr wrap="none" lIns="0" tIns="0" rIns="0" bIns="0" anchor="t" anchorCtr="0">
                <a:spAutoFit/>
              </a:bodyPr>
              <a:lstStyle/>
              <a:p>
                <a:pPr algn="l"/>
                <a:r>
                  <a:rPr lang="tr-TR" sz="1950" b="1" dirty="0">
                    <a:solidFill>
                      <a:srgbClr val="FFFFFF"/>
                    </a:solidFill>
                    <a:latin typeface="+mn-lt"/>
                    <a:ea typeface="+mn-ea"/>
                    <a:cs typeface="+mn-cs"/>
                  </a:rPr>
                  <a:t>Sunucu</a:t>
                </a:r>
              </a:p>
            </p:txBody>
          </p:sp>
          <p:sp>
            <p:nvSpPr>
              <p:cNvPr id="19" name="TextBox 19"/>
              <p:cNvSpPr txBox="1"/>
              <p:nvPr/>
            </p:nvSpPr>
            <p:spPr>
              <a:xfrm>
                <a:off x="7499604" y="3318510"/>
                <a:ext cx="2496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EAF4F6"/>
                    </a:solidFill>
                    <a:latin typeface="+mn-lt"/>
                    <a:ea typeface="+mn-ea"/>
                    <a:cs typeface="+mn-cs"/>
                  </a:rPr>
                  <a:t>İstek yoluna ve yöntemine bakar,</a:t>
                </a:r>
                <a:br/>
                <a:r>
                  <a:rPr lang="tr-TR" sz="1200" dirty="0">
                    <a:solidFill>
                      <a:srgbClr val="EAF4F6"/>
                    </a:solidFill>
                    <a:latin typeface="+mn-lt"/>
                    <a:ea typeface="+mn-ea"/>
                    <a:cs typeface="+mn-cs"/>
                  </a:rPr>
                  <a:t>uygun yanıtı hazırlar.</a:t>
                </a:r>
              </a:p>
            </p:txBody>
          </p:sp>
        </p:grpSp>
        <p:sp>
          <p:nvSpPr>
            <p:cNvPr id="21" name="Line 21"/>
            <p:cNvSpPr/>
            <p:nvPr/>
          </p:nvSpPr>
          <p:spPr>
            <a:xfrm>
              <a:off x="9391650" y="3771900"/>
              <a:ext cx="1" cy="285750"/>
            </a:xfrm>
            <a:prstGeom prst="line">
              <a:avLst/>
            </a:prstGeom>
            <a:noFill/>
            <a:ln w="19050">
              <a:solidFill>
                <a:srgbClr val="00A6A6"/>
              </a:solidFill>
              <a:tailEnd type="triangle" w="lg" len="lg"/>
            </a:ln>
          </p:spPr>
        </p:sp>
        <p:grpSp>
          <p:nvGrpSpPr>
            <p:cNvPr id="26" name="yanit-kutusu"/>
            <p:cNvGrpSpPr/>
            <p:nvPr/>
          </p:nvGrpSpPr>
          <p:grpSpPr>
            <a:xfrm>
              <a:off x="7200900" y="4095750"/>
              <a:ext cx="4381500" cy="1114806"/>
              <a:chOff x="7200900" y="4095750"/>
              <a:chExt cx="4381500" cy="1114806"/>
            </a:xfrm>
          </p:grpSpPr>
          <p:sp>
            <p:nvSpPr>
              <p:cNvPr id="22" name="Rectangle 22"/>
              <p:cNvSpPr/>
              <p:nvPr/>
            </p:nvSpPr>
            <p:spPr>
              <a:xfrm>
                <a:off x="7200900" y="4095750"/>
                <a:ext cx="4381500" cy="1104900"/>
              </a:xfrm>
              <a:prstGeom prst="rect">
                <a:avLst/>
              </a:prstGeom>
              <a:solidFill>
                <a:srgbClr val="FFFFFF"/>
              </a:solidFill>
              <a:ln w="9525">
                <a:solidFill>
                  <a:srgbClr val="00A6A6"/>
                </a:solidFill>
              </a:ln>
            </p:spPr>
          </p:sp>
          <p:sp>
            <p:nvSpPr>
              <p:cNvPr id="23" name="Rectangle 23"/>
              <p:cNvSpPr/>
              <p:nvPr/>
            </p:nvSpPr>
            <p:spPr>
              <a:xfrm>
                <a:off x="7200900" y="4095750"/>
                <a:ext cx="4381500" cy="38100"/>
              </a:xfrm>
              <a:prstGeom prst="rect">
                <a:avLst/>
              </a:prstGeom>
              <a:solidFill>
                <a:srgbClr val="00A6A6"/>
              </a:solidFill>
              <a:ln>
                <a:noFill/>
              </a:ln>
            </p:spPr>
          </p:sp>
          <p:sp>
            <p:nvSpPr>
              <p:cNvPr id="24" name="TextBox 24"/>
              <p:cNvSpPr txBox="1"/>
              <p:nvPr/>
            </p:nvSpPr>
            <p:spPr>
              <a:xfrm>
                <a:off x="7495794" y="4228148"/>
                <a:ext cx="78638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Yanıt</a:t>
                </a:r>
              </a:p>
            </p:txBody>
          </p:sp>
          <p:sp>
            <p:nvSpPr>
              <p:cNvPr id="25" name="TextBox 25"/>
              <p:cNvSpPr txBox="1"/>
              <p:nvPr/>
            </p:nvSpPr>
            <p:spPr>
              <a:xfrm>
                <a:off x="7499604" y="4594860"/>
                <a:ext cx="32049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Durum kodu: 200 başarılı · 404 bulunamadı</a:t>
                </a:r>
                <a:br/>
                <a:r>
                  <a:rPr lang="tr-TR" sz="1200" dirty="0">
                    <a:solidFill>
                      <a:srgbClr val="52616B"/>
                    </a:solidFill>
                    <a:latin typeface="+mn-lt"/>
                    <a:ea typeface="+mn-ea"/>
                    <a:cs typeface="+mn-cs"/>
                  </a:rPr>
                  <a:t>Başlıklar: Content-Type</a:t>
                </a:r>
                <a:br/>
                <a:r>
                  <a:rPr lang="tr-TR" sz="1200" dirty="0">
                    <a:solidFill>
                      <a:srgbClr val="52616B"/>
                    </a:solidFill>
                    <a:latin typeface="+mn-lt"/>
                    <a:ea typeface="+mn-ea"/>
                    <a:cs typeface="+mn-cs"/>
                  </a:rPr>
                  <a:t>Gövde: JSON metni</a:t>
                </a:r>
              </a:p>
            </p:txBody>
          </p:sp>
        </p:grpSp>
      </p:grpSp>
      <p:grpSp>
        <p:nvGrpSpPr>
          <p:cNvPr id="32" name="analoji"/>
          <p:cNvGrpSpPr/>
          <p:nvPr/>
        </p:nvGrpSpPr>
        <p:grpSpPr>
          <a:xfrm>
            <a:off x="609600" y="5372100"/>
            <a:ext cx="10972800" cy="924306"/>
            <a:chOff x="609600" y="5372100"/>
            <a:chExt cx="10972800" cy="924306"/>
          </a:xfrm>
        </p:grpSpPr>
        <p:sp>
          <p:nvSpPr>
            <p:cNvPr id="28" name="Rectangle 28"/>
            <p:cNvSpPr/>
            <p:nvPr/>
          </p:nvSpPr>
          <p:spPr>
            <a:xfrm>
              <a:off x="609600" y="5372100"/>
              <a:ext cx="10972800" cy="914400"/>
            </a:xfrm>
            <a:prstGeom prst="rect">
              <a:avLst/>
            </a:prstGeom>
            <a:solidFill>
              <a:srgbClr val="EAF4F6"/>
            </a:solidFill>
            <a:ln>
              <a:noFill/>
            </a:ln>
          </p:spPr>
        </p:sp>
        <p:sp>
          <p:nvSpPr>
            <p:cNvPr id="29" name="Rectangle 29"/>
            <p:cNvSpPr/>
            <p:nvPr/>
          </p:nvSpPr>
          <p:spPr>
            <a:xfrm>
              <a:off x="609600" y="5372100"/>
              <a:ext cx="57150" cy="914400"/>
            </a:xfrm>
            <a:prstGeom prst="rect">
              <a:avLst/>
            </a:prstGeom>
            <a:solidFill>
              <a:srgbClr val="00A6A6"/>
            </a:solidFill>
            <a:ln>
              <a:noFill/>
            </a:ln>
          </p:spPr>
        </p:sp>
        <p:sp>
          <p:nvSpPr>
            <p:cNvPr id="30" name="TextBox 30"/>
            <p:cNvSpPr txBox="1"/>
            <p:nvPr/>
          </p:nvSpPr>
          <p:spPr>
            <a:xfrm>
              <a:off x="944499" y="5506879"/>
              <a:ext cx="775094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 xml:space="preserve">Tarayıcı müşteriye, HTTP sunucusu ise </a:t>
              </a:r>
              <a:r>
                <a:rPr lang="tr-TR" sz="1580" b="1" dirty="0">
                  <a:solidFill>
                    <a:srgbClr val="12355B"/>
                  </a:solidFill>
                  <a:latin typeface="+mn-lt"/>
                  <a:ea typeface="+mn-ea"/>
                  <a:cs typeface="+mn-cs"/>
                </a:rPr>
                <a:t>servis masasına</a:t>
              </a:r>
              <a:r>
                <a:rPr lang="tr-TR" sz="1580" dirty="0">
                  <a:solidFill>
                    <a:srgbClr val="172B3A"/>
                  </a:solidFill>
                  <a:latin typeface="+mn-lt"/>
                  <a:ea typeface="+mn-ea"/>
                  <a:cs typeface="+mn-cs"/>
                </a:rPr>
                <a:t xml:space="preserve"> benzer: istek alınır,</a:t>
              </a:r>
              <a:br/>
              <a:r>
                <a:rPr lang="tr-TR" sz="1580" dirty="0">
                  <a:solidFill>
                    <a:srgbClr val="172B3A"/>
                  </a:solidFill>
                  <a:latin typeface="+mn-lt"/>
                  <a:ea typeface="+mn-ea"/>
                  <a:cs typeface="+mn-cs"/>
                </a:rPr>
                <a:t>türüne bakılır, uygun sonuç hazırlanır ve geri gönderilir.</a:t>
              </a:r>
            </a:p>
          </p:txBody>
        </p:sp>
        <p:sp>
          <p:nvSpPr>
            <p:cNvPr id="31" name="TextBox 31"/>
            <p:cNvSpPr txBox="1"/>
            <p:nvPr/>
          </p:nvSpPr>
          <p:spPr>
            <a:xfrm>
              <a:off x="946404" y="6061710"/>
              <a:ext cx="959419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Yerleşik node:http modülü, Express gibi çatıların üzerine inşa edildiği temel katmandır; çatılar sözleşmeyi değiştirmez.</a:t>
              </a:r>
            </a:p>
          </p:txBody>
        </p:sp>
      </p:grpSp>
      <p:grpSp>
        <p:nvGrpSpPr>
          <p:cNvPr id="35" name="footer"/>
          <p:cNvGrpSpPr/>
          <p:nvPr/>
        </p:nvGrpSpPr>
        <p:grpSpPr>
          <a:xfrm>
            <a:off x="603504" y="6461760"/>
            <a:ext cx="10984992" cy="234696"/>
            <a:chOff x="603504" y="6461760"/>
            <a:chExt cx="10984992" cy="234696"/>
          </a:xfrm>
        </p:grpSpPr>
        <p:sp>
          <p:nvSpPr>
            <p:cNvPr id="33" name="TextBox 33"/>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4" name="TextBox 34"/>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50830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HTTP ve üretim ortamı tuzakları</a:t>
              </a:r>
            </a:p>
          </p:txBody>
        </p:sp>
      </p:grpSp>
      <p:grpSp>
        <p:nvGrpSpPr>
          <p:cNvPr id="28" name="http-hatalari"/>
          <p:cNvGrpSpPr/>
          <p:nvPr/>
        </p:nvGrpSpPr>
        <p:grpSpPr>
          <a:xfrm>
            <a:off x="603504" y="1223010"/>
            <a:ext cx="10978896" cy="1358646"/>
            <a:chOff x="603504" y="1223010"/>
            <a:chExt cx="10978896" cy="1358646"/>
          </a:xfrm>
        </p:grpSpPr>
        <p:sp>
          <p:nvSpPr>
            <p:cNvPr id="12" name="TextBox 12"/>
            <p:cNvSpPr txBox="1"/>
            <p:nvPr/>
          </p:nvSpPr>
          <p:spPr>
            <a:xfrm>
              <a:off x="603504" y="1223010"/>
              <a:ext cx="16068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Önce üç HTTP hatası</a:t>
              </a:r>
            </a:p>
          </p:txBody>
        </p:sp>
        <p:grpSp>
          <p:nvGrpSpPr>
            <p:cNvPr id="17" name="http-hata-end"/>
            <p:cNvGrpSpPr/>
            <p:nvPr/>
          </p:nvGrpSpPr>
          <p:grpSpPr>
            <a:xfrm>
              <a:off x="609600" y="1485900"/>
              <a:ext cx="3505200" cy="1095756"/>
              <a:chOff x="609600" y="1485900"/>
              <a:chExt cx="3505200" cy="1095756"/>
            </a:xfrm>
          </p:grpSpPr>
          <p:sp>
            <p:nvSpPr>
              <p:cNvPr id="13" name="Rectangle 13"/>
              <p:cNvSpPr/>
              <p:nvPr/>
            </p:nvSpPr>
            <p:spPr>
              <a:xfrm>
                <a:off x="609600" y="1485900"/>
                <a:ext cx="3505200" cy="1047750"/>
              </a:xfrm>
              <a:prstGeom prst="rect">
                <a:avLst/>
              </a:prstGeom>
              <a:solidFill>
                <a:srgbClr val="FFFFFF"/>
              </a:solidFill>
              <a:ln w="9525">
                <a:solidFill>
                  <a:srgbClr val="B8CBD3"/>
                </a:solidFill>
              </a:ln>
            </p:spPr>
          </p:sp>
          <p:sp>
            <p:nvSpPr>
              <p:cNvPr id="14" name="Rectangle 14"/>
              <p:cNvSpPr/>
              <p:nvPr/>
            </p:nvSpPr>
            <p:spPr>
              <a:xfrm>
                <a:off x="609600" y="1485900"/>
                <a:ext cx="57150" cy="1047750"/>
              </a:xfrm>
              <a:prstGeom prst="rect">
                <a:avLst/>
              </a:prstGeom>
              <a:solidFill>
                <a:srgbClr val="52616B"/>
              </a:solidFill>
              <a:ln>
                <a:noFill/>
              </a:ln>
            </p:spPr>
          </p:sp>
          <p:sp>
            <p:nvSpPr>
              <p:cNvPr id="15" name="TextBox 15"/>
              <p:cNvSpPr txBox="1"/>
              <p:nvPr/>
            </p:nvSpPr>
            <p:spPr>
              <a:xfrm>
                <a:off x="907161" y="1655921"/>
                <a:ext cx="1591551"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yanit.end() yok</a:t>
                </a:r>
              </a:p>
            </p:txBody>
          </p:sp>
          <p:sp>
            <p:nvSpPr>
              <p:cNvPr id="16" name="TextBox 16"/>
              <p:cNvSpPr txBox="1"/>
              <p:nvPr/>
            </p:nvSpPr>
            <p:spPr>
              <a:xfrm>
                <a:off x="908304" y="1965960"/>
                <a:ext cx="24658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Başlık yazılır ama yanıt</a:t>
                </a:r>
                <a:br/>
                <a:r>
                  <a:rPr lang="tr-TR" sz="1200" dirty="0">
                    <a:solidFill>
                      <a:srgbClr val="52616B"/>
                    </a:solidFill>
                    <a:latin typeface="+mn-lt"/>
                    <a:ea typeface="+mn-ea"/>
                    <a:cs typeface="+mn-cs"/>
                  </a:rPr>
                  <a:t>tamamlanmaz; istemci yükleniyor</a:t>
                </a:r>
                <a:br/>
                <a:r>
                  <a:rPr lang="tr-TR" sz="1200" dirty="0">
                    <a:solidFill>
                      <a:srgbClr val="52616B"/>
                    </a:solidFill>
                    <a:latin typeface="+mn-lt"/>
                    <a:ea typeface="+mn-ea"/>
                    <a:cs typeface="+mn-cs"/>
                  </a:rPr>
                  <a:t>durumunda kalır.</a:t>
                </a:r>
              </a:p>
            </p:txBody>
          </p:sp>
        </p:grpSp>
        <p:grpSp>
          <p:nvGrpSpPr>
            <p:cNvPr id="22" name="http-hata-200"/>
            <p:cNvGrpSpPr/>
            <p:nvPr/>
          </p:nvGrpSpPr>
          <p:grpSpPr>
            <a:xfrm>
              <a:off x="4343400" y="1485900"/>
              <a:ext cx="3505200" cy="1095756"/>
              <a:chOff x="4343400" y="1485900"/>
              <a:chExt cx="3505200" cy="1095756"/>
            </a:xfrm>
          </p:grpSpPr>
          <p:sp>
            <p:nvSpPr>
              <p:cNvPr id="18" name="Rectangle 18"/>
              <p:cNvSpPr/>
              <p:nvPr/>
            </p:nvSpPr>
            <p:spPr>
              <a:xfrm>
                <a:off x="4343400" y="1485900"/>
                <a:ext cx="3505200" cy="1047750"/>
              </a:xfrm>
              <a:prstGeom prst="rect">
                <a:avLst/>
              </a:prstGeom>
              <a:solidFill>
                <a:srgbClr val="FFFFFF"/>
              </a:solidFill>
              <a:ln w="9525">
                <a:solidFill>
                  <a:srgbClr val="B8CBD3"/>
                </a:solidFill>
              </a:ln>
            </p:spPr>
          </p:sp>
          <p:sp>
            <p:nvSpPr>
              <p:cNvPr id="19" name="Rectangle 19"/>
              <p:cNvSpPr/>
              <p:nvPr/>
            </p:nvSpPr>
            <p:spPr>
              <a:xfrm>
                <a:off x="4343400" y="1485900"/>
                <a:ext cx="57150" cy="1047750"/>
              </a:xfrm>
              <a:prstGeom prst="rect">
                <a:avLst/>
              </a:prstGeom>
              <a:solidFill>
                <a:srgbClr val="52616B"/>
              </a:solidFill>
              <a:ln>
                <a:noFill/>
              </a:ln>
            </p:spPr>
          </p:sp>
          <p:sp>
            <p:nvSpPr>
              <p:cNvPr id="20" name="TextBox 20"/>
              <p:cNvSpPr txBox="1"/>
              <p:nvPr/>
            </p:nvSpPr>
            <p:spPr>
              <a:xfrm>
                <a:off x="4640961" y="1655921"/>
                <a:ext cx="1381275"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her yolda 200</a:t>
                </a:r>
              </a:p>
            </p:txBody>
          </p:sp>
          <p:sp>
            <p:nvSpPr>
              <p:cNvPr id="21" name="TextBox 21"/>
              <p:cNvSpPr txBox="1"/>
              <p:nvPr/>
            </p:nvSpPr>
            <p:spPr>
              <a:xfrm>
                <a:off x="4642104" y="1965960"/>
                <a:ext cx="22296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Tanımlı olmayan kaynakta 404</a:t>
                </a:r>
                <a:br/>
                <a:r>
                  <a:rPr lang="tr-TR" sz="1200" dirty="0">
                    <a:solidFill>
                      <a:srgbClr val="52616B"/>
                    </a:solidFill>
                    <a:latin typeface="+mn-lt"/>
                    <a:ea typeface="+mn-ea"/>
                    <a:cs typeface="+mn-cs"/>
                  </a:rPr>
                  <a:t>kullanmak istemcinin doğru</a:t>
                </a:r>
                <a:br/>
                <a:r>
                  <a:rPr lang="tr-TR" sz="1200" dirty="0">
                    <a:solidFill>
                      <a:srgbClr val="52616B"/>
                    </a:solidFill>
                    <a:latin typeface="+mn-lt"/>
                    <a:ea typeface="+mn-ea"/>
                    <a:cs typeface="+mn-cs"/>
                  </a:rPr>
                  <a:t>davranmasını sağlar.</a:t>
                </a:r>
              </a:p>
            </p:txBody>
          </p:sp>
        </p:grpSp>
        <p:grpSp>
          <p:nvGrpSpPr>
            <p:cNvPr id="27" name="http-hata-content"/>
            <p:cNvGrpSpPr/>
            <p:nvPr/>
          </p:nvGrpSpPr>
          <p:grpSpPr>
            <a:xfrm>
              <a:off x="8077200" y="1485900"/>
              <a:ext cx="3505200" cy="1095756"/>
              <a:chOff x="8077200" y="1485900"/>
              <a:chExt cx="3505200" cy="1095756"/>
            </a:xfrm>
          </p:grpSpPr>
          <p:sp>
            <p:nvSpPr>
              <p:cNvPr id="23" name="Rectangle 23"/>
              <p:cNvSpPr/>
              <p:nvPr/>
            </p:nvSpPr>
            <p:spPr>
              <a:xfrm>
                <a:off x="8077200" y="1485900"/>
                <a:ext cx="3505200" cy="1047750"/>
              </a:xfrm>
              <a:prstGeom prst="rect">
                <a:avLst/>
              </a:prstGeom>
              <a:solidFill>
                <a:srgbClr val="FFFFFF"/>
              </a:solidFill>
              <a:ln w="9525">
                <a:solidFill>
                  <a:srgbClr val="B8CBD3"/>
                </a:solidFill>
              </a:ln>
            </p:spPr>
          </p:sp>
          <p:sp>
            <p:nvSpPr>
              <p:cNvPr id="24" name="Rectangle 24"/>
              <p:cNvSpPr/>
              <p:nvPr/>
            </p:nvSpPr>
            <p:spPr>
              <a:xfrm>
                <a:off x="8077200" y="1485900"/>
                <a:ext cx="57150" cy="1047750"/>
              </a:xfrm>
              <a:prstGeom prst="rect">
                <a:avLst/>
              </a:prstGeom>
              <a:solidFill>
                <a:srgbClr val="52616B"/>
              </a:solidFill>
              <a:ln>
                <a:noFill/>
              </a:ln>
            </p:spPr>
          </p:sp>
          <p:sp>
            <p:nvSpPr>
              <p:cNvPr id="25" name="TextBox 25"/>
              <p:cNvSpPr txBox="1"/>
              <p:nvPr/>
            </p:nvSpPr>
            <p:spPr>
              <a:xfrm>
                <a:off x="8374761" y="1655921"/>
                <a:ext cx="1710292"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Content-Type yok</a:t>
                </a:r>
              </a:p>
            </p:txBody>
          </p:sp>
          <p:sp>
            <p:nvSpPr>
              <p:cNvPr id="26" name="TextBox 26"/>
              <p:cNvSpPr txBox="1"/>
              <p:nvPr/>
            </p:nvSpPr>
            <p:spPr>
              <a:xfrm>
                <a:off x="8375904" y="1965960"/>
                <a:ext cx="2420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JSON yanıtlarında</a:t>
                </a:r>
                <a:br/>
                <a:r>
                  <a:rPr lang="tr-TR" sz="1200" dirty="0">
                    <a:solidFill>
                      <a:srgbClr val="52616B"/>
                    </a:solidFill>
                    <a:latin typeface="+mn-lt"/>
                    <a:ea typeface="+mn-ea"/>
                    <a:cs typeface="+mn-cs"/>
                  </a:rPr>
                  <a:t>application/json; charset=utf-8</a:t>
                </a:r>
                <a:br/>
                <a:r>
                  <a:rPr lang="tr-TR" sz="1200" dirty="0">
                    <a:solidFill>
                      <a:srgbClr val="52616B"/>
                    </a:solidFill>
                    <a:latin typeface="+mn-lt"/>
                    <a:ea typeface="+mn-ea"/>
                    <a:cs typeface="+mn-cs"/>
                  </a:rPr>
                  <a:t>bildirilmelidir.</a:t>
                </a:r>
              </a:p>
            </p:txBody>
          </p:sp>
        </p:grpSp>
      </p:grpSp>
      <p:grpSp>
        <p:nvGrpSpPr>
          <p:cNvPr id="48" name="antipattern"/>
          <p:cNvGrpSpPr/>
          <p:nvPr/>
        </p:nvGrpSpPr>
        <p:grpSpPr>
          <a:xfrm>
            <a:off x="603504" y="2804160"/>
            <a:ext cx="10978896" cy="3463290"/>
            <a:chOff x="603504" y="2804160"/>
            <a:chExt cx="10978896" cy="3463290"/>
          </a:xfrm>
        </p:grpSpPr>
        <p:sp>
          <p:nvSpPr>
            <p:cNvPr id="29" name="TextBox 29"/>
            <p:cNvSpPr txBox="1"/>
            <p:nvPr/>
          </p:nvSpPr>
          <p:spPr>
            <a:xfrm>
              <a:off x="603504" y="2804160"/>
              <a:ext cx="60347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Sonra üç kavram yanılgısı: küçük bir dikkatsizlik tüm sunucuyu kilitleyebilir</a:t>
              </a:r>
            </a:p>
          </p:txBody>
        </p:sp>
        <p:grpSp>
          <p:nvGrpSpPr>
            <p:cNvPr id="35" name="antipattern-senkron"/>
            <p:cNvGrpSpPr/>
            <p:nvPr/>
          </p:nvGrpSpPr>
          <p:grpSpPr>
            <a:xfrm>
              <a:off x="609600" y="3067050"/>
              <a:ext cx="10972800" cy="990600"/>
              <a:chOff x="609600" y="3067050"/>
              <a:chExt cx="10972800" cy="990600"/>
            </a:xfrm>
          </p:grpSpPr>
          <p:sp>
            <p:nvSpPr>
              <p:cNvPr id="30" name="Rectangle 30"/>
              <p:cNvSpPr/>
              <p:nvPr/>
            </p:nvSpPr>
            <p:spPr>
              <a:xfrm>
                <a:off x="609600" y="3067050"/>
                <a:ext cx="10972800" cy="990600"/>
              </a:xfrm>
              <a:prstGeom prst="rect">
                <a:avLst/>
              </a:prstGeom>
              <a:solidFill>
                <a:srgbClr val="FFFFFF"/>
              </a:solidFill>
              <a:ln w="9525">
                <a:solidFill>
                  <a:srgbClr val="B8CBD3"/>
                </a:solidFill>
              </a:ln>
            </p:spPr>
          </p:sp>
          <p:sp>
            <p:nvSpPr>
              <p:cNvPr id="31" name="Rectangle 31"/>
              <p:cNvSpPr/>
              <p:nvPr/>
            </p:nvSpPr>
            <p:spPr>
              <a:xfrm>
                <a:off x="609600" y="3067050"/>
                <a:ext cx="57150" cy="990600"/>
              </a:xfrm>
              <a:prstGeom prst="rect">
                <a:avLst/>
              </a:prstGeom>
              <a:solidFill>
                <a:srgbClr val="2E86AB"/>
              </a:solidFill>
              <a:ln>
                <a:noFill/>
              </a:ln>
            </p:spPr>
          </p:sp>
          <p:sp>
            <p:nvSpPr>
              <p:cNvPr id="32" name="TextBox 32"/>
              <p:cNvSpPr txBox="1"/>
              <p:nvPr/>
            </p:nvSpPr>
            <p:spPr>
              <a:xfrm>
                <a:off x="944499" y="3182779"/>
                <a:ext cx="75354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“fs.readFileSync kullanmak pratiktir, performans farkı yaratmaz.”</a:t>
                </a:r>
              </a:p>
            </p:txBody>
          </p:sp>
          <p:sp>
            <p:nvSpPr>
              <p:cNvPr id="33" name="TextBox 33"/>
              <p:cNvSpPr txBox="1"/>
              <p:nvPr/>
            </p:nvSpPr>
            <p:spPr>
              <a:xfrm>
                <a:off x="946404" y="3489960"/>
                <a:ext cx="92174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Teknik gerçek: Senkron I/O, diski beklerken tek ana iş parçacığını kilitler; o sırada gelen yüzlerce istek bekletilir.</a:t>
                </a:r>
              </a:p>
            </p:txBody>
          </p:sp>
          <p:sp>
            <p:nvSpPr>
              <p:cNvPr id="34" name="TextBox 34"/>
              <p:cNvSpPr txBox="1"/>
              <p:nvPr/>
            </p:nvSpPr>
            <p:spPr>
              <a:xfrm>
                <a:off x="946404" y="3737610"/>
                <a:ext cx="989634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Mimari çözüm: Sunucu kodunda asla senkron bloklayıcı I/O çağrılmamalı; fs.promises ve asenkron metotlar kullanılmalıdır.</a:t>
                </a:r>
              </a:p>
            </p:txBody>
          </p:sp>
        </p:grpSp>
        <p:grpSp>
          <p:nvGrpSpPr>
            <p:cNvPr id="41" name="antipattern-surec"/>
            <p:cNvGrpSpPr/>
            <p:nvPr/>
          </p:nvGrpSpPr>
          <p:grpSpPr>
            <a:xfrm>
              <a:off x="609600" y="4171950"/>
              <a:ext cx="10972800" cy="990600"/>
              <a:chOff x="609600" y="4171950"/>
              <a:chExt cx="10972800" cy="990600"/>
            </a:xfrm>
          </p:grpSpPr>
          <p:sp>
            <p:nvSpPr>
              <p:cNvPr id="36" name="Rectangle 36"/>
              <p:cNvSpPr/>
              <p:nvPr/>
            </p:nvSpPr>
            <p:spPr>
              <a:xfrm>
                <a:off x="609600" y="4171950"/>
                <a:ext cx="10972800" cy="990600"/>
              </a:xfrm>
              <a:prstGeom prst="rect">
                <a:avLst/>
              </a:prstGeom>
              <a:solidFill>
                <a:srgbClr val="FFFFFF"/>
              </a:solidFill>
              <a:ln w="9525">
                <a:solidFill>
                  <a:srgbClr val="B8CBD3"/>
                </a:solidFill>
              </a:ln>
            </p:spPr>
          </p:sp>
          <p:sp>
            <p:nvSpPr>
              <p:cNvPr id="37" name="Rectangle 37"/>
              <p:cNvSpPr/>
              <p:nvPr/>
            </p:nvSpPr>
            <p:spPr>
              <a:xfrm>
                <a:off x="609600" y="4171950"/>
                <a:ext cx="57150" cy="990600"/>
              </a:xfrm>
              <a:prstGeom prst="rect">
                <a:avLst/>
              </a:prstGeom>
              <a:solidFill>
                <a:srgbClr val="2E86AB"/>
              </a:solidFill>
              <a:ln>
                <a:noFill/>
              </a:ln>
            </p:spPr>
          </p:sp>
          <p:sp>
            <p:nvSpPr>
              <p:cNvPr id="38" name="TextBox 38"/>
              <p:cNvSpPr txBox="1"/>
              <p:nvPr/>
            </p:nvSpPr>
            <p:spPr>
              <a:xfrm>
                <a:off x="944499" y="4287679"/>
                <a:ext cx="603486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“node app.js ile başlatmak canlı ortam için yeterlidir.”</a:t>
                </a:r>
              </a:p>
            </p:txBody>
          </p:sp>
          <p:sp>
            <p:nvSpPr>
              <p:cNvPr id="39" name="TextBox 39"/>
              <p:cNvSpPr txBox="1"/>
              <p:nvPr/>
            </p:nvSpPr>
            <p:spPr>
              <a:xfrm>
                <a:off x="946404" y="4594860"/>
                <a:ext cx="85444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Teknik gerçek: Terminal oturumu kapanınca süreç sonlanır; yakalanmayan tek bir istisnada uygulama çöker.</a:t>
                </a:r>
              </a:p>
            </p:txBody>
          </p:sp>
          <p:sp>
            <p:nvSpPr>
              <p:cNvPr id="40" name="TextBox 40"/>
              <p:cNvSpPr txBox="1"/>
              <p:nvPr/>
            </p:nvSpPr>
            <p:spPr>
              <a:xfrm>
                <a:off x="946404" y="4842510"/>
                <a:ext cx="95956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Mimari çözüm: Üretimde systemd, PM2 veya Docker restart politikaları (restart: unless-stopped) yapılandırılmalıdır.</a:t>
                </a:r>
              </a:p>
            </p:txBody>
          </p:sp>
        </p:grpSp>
        <p:grpSp>
          <p:nvGrpSpPr>
            <p:cNvPr id="47" name="antipattern-sir"/>
            <p:cNvGrpSpPr/>
            <p:nvPr/>
          </p:nvGrpSpPr>
          <p:grpSpPr>
            <a:xfrm>
              <a:off x="609600" y="5276850"/>
              <a:ext cx="10972800" cy="990600"/>
              <a:chOff x="609600" y="5276850"/>
              <a:chExt cx="10972800" cy="990600"/>
            </a:xfrm>
          </p:grpSpPr>
          <p:sp>
            <p:nvSpPr>
              <p:cNvPr id="42" name="Rectangle 42"/>
              <p:cNvSpPr/>
              <p:nvPr/>
            </p:nvSpPr>
            <p:spPr>
              <a:xfrm>
                <a:off x="609600" y="5276850"/>
                <a:ext cx="10972800" cy="990600"/>
              </a:xfrm>
              <a:prstGeom prst="rect">
                <a:avLst/>
              </a:prstGeom>
              <a:solidFill>
                <a:srgbClr val="FFFFFF"/>
              </a:solidFill>
              <a:ln w="9525">
                <a:solidFill>
                  <a:srgbClr val="B8CBD3"/>
                </a:solidFill>
              </a:ln>
            </p:spPr>
          </p:sp>
          <p:sp>
            <p:nvSpPr>
              <p:cNvPr id="43" name="Rectangle 43"/>
              <p:cNvSpPr/>
              <p:nvPr/>
            </p:nvSpPr>
            <p:spPr>
              <a:xfrm>
                <a:off x="609600" y="5276850"/>
                <a:ext cx="57150" cy="990600"/>
              </a:xfrm>
              <a:prstGeom prst="rect">
                <a:avLst/>
              </a:prstGeom>
              <a:solidFill>
                <a:srgbClr val="2E86AB"/>
              </a:solidFill>
              <a:ln>
                <a:noFill/>
              </a:ln>
            </p:spPr>
          </p:sp>
          <p:sp>
            <p:nvSpPr>
              <p:cNvPr id="44" name="TextBox 44"/>
              <p:cNvSpPr txBox="1"/>
              <p:nvPr/>
            </p:nvSpPr>
            <p:spPr>
              <a:xfrm>
                <a:off x="944499" y="5392579"/>
                <a:ext cx="793802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“Parolaları .env'e yazıp bu dosyayı Git deposuna göndermek uygundur.”</a:t>
                </a:r>
              </a:p>
            </p:txBody>
          </p:sp>
          <p:sp>
            <p:nvSpPr>
              <p:cNvPr id="45" name="TextBox 45"/>
              <p:cNvSpPr txBox="1"/>
              <p:nvPr/>
            </p:nvSpPr>
            <p:spPr>
              <a:xfrm>
                <a:off x="946404" y="5699760"/>
                <a:ext cx="87105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Teknik gerçek: Gizli bilgiler Git geçmişine kalıcı yazılır; repoya erişen herkes üretim veritabanına erişebilir.</a:t>
                </a:r>
              </a:p>
            </p:txBody>
          </p:sp>
          <p:sp>
            <p:nvSpPr>
              <p:cNvPr id="46" name="TextBox 46"/>
              <p:cNvSpPr txBox="1"/>
              <p:nvPr/>
            </p:nvSpPr>
            <p:spPr>
              <a:xfrm>
                <a:off x="946404" y="5947410"/>
                <a:ext cx="99930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Mimari çözüm: .env .gitignore'a eklenmeli; depoda yalnızca .env.example tutulmalı, anahtarlar ortamdan enjekte edilmelidir.</a:t>
                </a:r>
              </a:p>
            </p:txBody>
          </p:sp>
        </p:grpSp>
      </p:grpSp>
      <p:grpSp>
        <p:nvGrpSpPr>
          <p:cNvPr id="51" name="footer"/>
          <p:cNvGrpSpPr/>
          <p:nvPr/>
        </p:nvGrpSpPr>
        <p:grpSpPr>
          <a:xfrm>
            <a:off x="603504" y="6461760"/>
            <a:ext cx="10984992" cy="234696"/>
            <a:chOff x="603504" y="6461760"/>
            <a:chExt cx="10984992" cy="234696"/>
          </a:xfrm>
        </p:grpSpPr>
        <p:sp>
          <p:nvSpPr>
            <p:cNvPr id="49" name="TextBox 49"/>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50" name="TextBox 50"/>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50825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altı hatayı bulun</a:t>
              </a:r>
            </a:p>
          </p:txBody>
        </p:sp>
      </p:grpSp>
      <p:grpSp>
        <p:nvGrpSpPr>
          <p:cNvPr id="16" name="hatali-kod"/>
          <p:cNvGrpSpPr/>
          <p:nvPr/>
        </p:nvGrpSpPr>
        <p:grpSpPr>
          <a:xfrm>
            <a:off x="603504" y="1261110"/>
            <a:ext cx="6292596" cy="3082290"/>
            <a:chOff x="603504" y="1261110"/>
            <a:chExt cx="6292596" cy="3082290"/>
          </a:xfrm>
        </p:grpSpPr>
        <p:sp>
          <p:nvSpPr>
            <p:cNvPr id="12" name="TextBox 12"/>
            <p:cNvSpPr txBox="1"/>
            <p:nvPr/>
          </p:nvSpPr>
          <p:spPr>
            <a:xfrm>
              <a:off x="603504" y="1261110"/>
              <a:ext cx="44167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SunucuAyiklama.ts — bu kod bu hâliyle güvenilir çalışmaz</a:t>
              </a:r>
            </a:p>
          </p:txBody>
        </p:sp>
        <p:sp>
          <p:nvSpPr>
            <p:cNvPr id="13" name="Rectangle 13"/>
            <p:cNvSpPr/>
            <p:nvPr/>
          </p:nvSpPr>
          <p:spPr>
            <a:xfrm>
              <a:off x="609600" y="1504950"/>
              <a:ext cx="6286500" cy="2838450"/>
            </a:xfrm>
            <a:prstGeom prst="rect">
              <a:avLst/>
            </a:prstGeom>
            <a:solidFill>
              <a:srgbClr val="12355B"/>
            </a:solidFill>
            <a:ln>
              <a:noFill/>
            </a:ln>
          </p:spPr>
        </p:sp>
        <p:sp>
          <p:nvSpPr>
            <p:cNvPr id="14" name="Rectangle 14"/>
            <p:cNvSpPr/>
            <p:nvPr/>
          </p:nvSpPr>
          <p:spPr>
            <a:xfrm>
              <a:off x="609600" y="1504950"/>
              <a:ext cx="38100" cy="2838450"/>
            </a:xfrm>
            <a:prstGeom prst="rect">
              <a:avLst/>
            </a:prstGeom>
            <a:solidFill>
              <a:srgbClr val="52616B"/>
            </a:solidFill>
            <a:ln>
              <a:noFill/>
            </a:ln>
          </p:spPr>
        </p:sp>
        <p:sp>
          <p:nvSpPr>
            <p:cNvPr id="15" name="TextBox 15"/>
            <p:cNvSpPr txBox="1"/>
            <p:nvPr/>
          </p:nvSpPr>
          <p:spPr>
            <a:xfrm>
              <a:off x="907161" y="1636871"/>
              <a:ext cx="5172202" cy="2507552"/>
            </a:xfrm>
            <a:prstGeom prst="rect">
              <a:avLst/>
            </a:prstGeom>
            <a:noFill/>
            <a:ln>
              <a:noFill/>
            </a:ln>
          </p:spPr>
          <p:txBody>
            <a:bodyPr wrap="none" lIns="0" tIns="0" rIns="0" bIns="0" anchor="t" anchorCtr="0">
              <a:spAutoFit/>
            </a:bodyPr>
            <a:lstStyle/>
            <a:p>
              <a:pPr algn="l">
                <a:lnSpc>
                  <a:spcPts val="1950"/>
                </a:lnSpc>
              </a:pPr>
              <a:r>
                <a:rPr lang="tr-TR" sz="1420" dirty="0">
                  <a:solidFill>
                    <a:srgbClr val="EAF4F6"/>
                  </a:solidFill>
                  <a:latin typeface="Consolas"/>
                  <a:ea typeface="Consolas"/>
                  <a:cs typeface="Consolas"/>
                </a:rPr>
                <a:t>import http from "node:http"</a:t>
              </a:r>
              <a:br/>
              <a:r>
                <a:rPr lang="tr-TR" sz="1420" dirty="0">
                  <a:solidFill>
                    <a:srgbClr val="EAF4F6"/>
                  </a:solidFill>
                  <a:latin typeface="Consolas"/>
                  <a:ea typeface="Consolas"/>
                  <a:cs typeface="Consolas"/>
                </a:rPr>
                <a:t>const uygulamaPortu: number = process.env.PORT</a:t>
              </a:r>
              <a:br/>
              <a:r>
                <a:rPr lang="tr-TR" sz="1420" dirty="0">
                  <a:solidFill>
                    <a:srgbClr val="EAF4F6"/>
                  </a:solidFill>
                  <a:latin typeface="Consolas"/>
                  <a:ea typeface="Consolas"/>
                  <a:cs typeface="Consolas"/>
                </a:rPr>
                <a:t>const sunucu = http.createServer((istek, yanit) =&gt; {</a:t>
              </a:r>
              <a:br/>
              <a:r>
                <a:rPr lang="tr-TR" sz="1420" dirty="0">
                  <a:solidFill>
                    <a:srgbClr val="EAF4F6"/>
                  </a:solidFill>
                  <a:latin typeface="Consolas"/>
                  <a:ea typeface="Consolas"/>
                  <a:cs typeface="Consolas"/>
                </a:rPr>
                <a:t>if (istek.url = "/durum") {</a:t>
              </a:r>
              <a:br/>
              <a:r>
                <a:rPr lang="tr-TR" sz="1420" dirty="0">
                  <a:solidFill>
                    <a:srgbClr val="EAF4F6"/>
                  </a:solidFill>
                  <a:latin typeface="Consolas"/>
                  <a:ea typeface="Consolas"/>
                  <a:cs typeface="Consolas"/>
                </a:rPr>
                <a:t>yanit.writeHead(200, {</a:t>
              </a:r>
              <a:br/>
              <a:r>
                <a:rPr lang="tr-TR" sz="1420" dirty="0">
                  <a:solidFill>
                    <a:srgbClr val="EAF4F6"/>
                  </a:solidFill>
                  <a:latin typeface="Consolas"/>
                  <a:ea typeface="Consolas"/>
                  <a:cs typeface="Consolas"/>
                </a:rPr>
                <a:t>"Content-Type": "application/json" })</a:t>
              </a:r>
              <a:br/>
              <a:r>
                <a:rPr lang="tr-TR" sz="1420" dirty="0">
                  <a:solidFill>
                    <a:srgbClr val="EAF4F6"/>
                  </a:solidFill>
                  <a:latin typeface="Consolas"/>
                  <a:ea typeface="Consolas"/>
                  <a:cs typeface="Consolas"/>
                </a:rPr>
                <a:t>yanit.end({ durum: "hazır" })</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a:t>
              </a:r>
              <a:br/>
              <a:r>
                <a:rPr lang="tr-TR" sz="1420" dirty="0">
                  <a:solidFill>
                    <a:srgbClr val="EAF4F6"/>
                  </a:solidFill>
                  <a:latin typeface="Consolas"/>
                  <a:ea typeface="Consolas"/>
                  <a:cs typeface="Consolas"/>
                </a:rPr>
                <a:t>console.log("Sunucu başladı"</a:t>
              </a:r>
            </a:p>
          </p:txBody>
        </p:sp>
      </p:grpSp>
      <p:grpSp>
        <p:nvGrpSpPr>
          <p:cNvPr id="25" name="hata-listesi"/>
          <p:cNvGrpSpPr/>
          <p:nvPr/>
        </p:nvGrpSpPr>
        <p:grpSpPr>
          <a:xfrm>
            <a:off x="7189470" y="1204912"/>
            <a:ext cx="2966466" cy="3157919"/>
            <a:chOff x="7189470" y="1204912"/>
            <a:chExt cx="2966466" cy="3157919"/>
          </a:xfrm>
        </p:grpSpPr>
        <p:sp>
          <p:nvSpPr>
            <p:cNvPr id="17" name="TextBox 17"/>
            <p:cNvSpPr txBox="1"/>
            <p:nvPr/>
          </p:nvSpPr>
          <p:spPr>
            <a:xfrm>
              <a:off x="7189470" y="1204912"/>
              <a:ext cx="1448151"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Altı hata</a:t>
              </a:r>
            </a:p>
          </p:txBody>
        </p:sp>
        <p:grpSp>
          <p:nvGrpSpPr>
            <p:cNvPr id="24" name="hata-maddeleri"/>
            <p:cNvGrpSpPr/>
            <p:nvPr/>
          </p:nvGrpSpPr>
          <p:grpSpPr>
            <a:xfrm>
              <a:off x="7194804" y="1699260"/>
              <a:ext cx="2961132" cy="2663571"/>
              <a:chOff x="7194804" y="1699260"/>
              <a:chExt cx="2961132" cy="2663571"/>
            </a:xfrm>
          </p:grpSpPr>
          <p:sp>
            <p:nvSpPr>
              <p:cNvPr id="18" name="TextBox 18"/>
              <p:cNvSpPr txBox="1"/>
              <p:nvPr/>
            </p:nvSpPr>
            <p:spPr>
              <a:xfrm>
                <a:off x="7194804" y="1699260"/>
                <a:ext cx="2638425"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1 · Sözdizimi:</a:t>
                </a:r>
                <a:r>
                  <a:rPr lang="tr-TR" sz="1200" dirty="0">
                    <a:solidFill>
                      <a:srgbClr val="52616B"/>
                    </a:solidFill>
                    <a:latin typeface="+mn-lt"/>
                    <a:ea typeface="+mn-ea"/>
                    <a:cs typeface="+mn-cs"/>
                  </a:rPr>
                  <a:t xml:space="preserve"> son satırda kapanış</a:t>
                </a:r>
                <a:br/>
                <a:r>
                  <a:rPr lang="tr-TR" sz="1200" dirty="0">
                    <a:solidFill>
                      <a:srgbClr val="52616B"/>
                    </a:solidFill>
                    <a:latin typeface="+mn-lt"/>
                    <a:ea typeface="+mn-ea"/>
                    <a:cs typeface="+mn-cs"/>
                  </a:rPr>
                  <a:t>parantezi eksiktir.</a:t>
                </a:r>
              </a:p>
            </p:txBody>
          </p:sp>
          <p:sp>
            <p:nvSpPr>
              <p:cNvPr id="19" name="TextBox 19"/>
              <p:cNvSpPr txBox="1"/>
              <p:nvPr/>
            </p:nvSpPr>
            <p:spPr>
              <a:xfrm>
                <a:off x="7194804" y="2146935"/>
                <a:ext cx="2801112"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2 · Tür:</a:t>
                </a:r>
                <a:r>
                  <a:rPr lang="tr-TR" sz="1200" dirty="0">
                    <a:solidFill>
                      <a:srgbClr val="52616B"/>
                    </a:solidFill>
                    <a:latin typeface="+mn-lt"/>
                    <a:ea typeface="+mn-ea"/>
                    <a:cs typeface="+mn-cs"/>
                  </a:rPr>
                  <a:t xml:space="preserve"> process.env.PORT doğrudan</a:t>
                </a:r>
                <a:br/>
                <a:r>
                  <a:rPr lang="tr-TR" sz="1200" dirty="0">
                    <a:solidFill>
                      <a:srgbClr val="52616B"/>
                    </a:solidFill>
                    <a:latin typeface="+mn-lt"/>
                    <a:ea typeface="+mn-ea"/>
                    <a:cs typeface="+mn-cs"/>
                  </a:rPr>
                  <a:t>number değil, string | undefined'dır.</a:t>
                </a:r>
              </a:p>
            </p:txBody>
          </p:sp>
          <p:sp>
            <p:nvSpPr>
              <p:cNvPr id="20" name="TextBox 20"/>
              <p:cNvSpPr txBox="1"/>
              <p:nvPr/>
            </p:nvSpPr>
            <p:spPr>
              <a:xfrm>
                <a:off x="7194804" y="2594610"/>
                <a:ext cx="2961132"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3 · Mantık:</a:t>
                </a:r>
                <a:r>
                  <a:rPr lang="tr-TR" sz="1200" dirty="0">
                    <a:solidFill>
                      <a:srgbClr val="52616B"/>
                    </a:solidFill>
                    <a:latin typeface="+mn-lt"/>
                    <a:ea typeface="+mn-ea"/>
                    <a:cs typeface="+mn-cs"/>
                  </a:rPr>
                  <a:t xml:space="preserve"> = atama operatörüdür;</a:t>
                </a:r>
                <a:br/>
                <a:r>
                  <a:rPr lang="tr-TR" sz="1200" dirty="0">
                    <a:solidFill>
                      <a:srgbClr val="52616B"/>
                    </a:solidFill>
                    <a:latin typeface="+mn-lt"/>
                    <a:ea typeface="+mn-ea"/>
                    <a:cs typeface="+mn-cs"/>
                  </a:rPr>
                  <a:t>karşılaştırma için === kullanılmalıdır.</a:t>
                </a:r>
              </a:p>
            </p:txBody>
          </p:sp>
          <p:sp>
            <p:nvSpPr>
              <p:cNvPr id="21" name="TextBox 21"/>
              <p:cNvSpPr txBox="1"/>
              <p:nvPr/>
            </p:nvSpPr>
            <p:spPr>
              <a:xfrm>
                <a:off x="7194804" y="3042285"/>
                <a:ext cx="2692146"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4 · HTTP veri:</a:t>
                </a:r>
                <a:r>
                  <a:rPr lang="tr-TR" sz="1200" dirty="0">
                    <a:solidFill>
                      <a:srgbClr val="52616B"/>
                    </a:solidFill>
                    <a:latin typeface="+mn-lt"/>
                    <a:ea typeface="+mn-ea"/>
                    <a:cs typeface="+mn-cs"/>
                  </a:rPr>
                  <a:t xml:space="preserve"> end nesneyi doğrudan</a:t>
                </a:r>
                <a:br/>
                <a:r>
                  <a:rPr lang="tr-TR" sz="1200" dirty="0">
                    <a:solidFill>
                      <a:srgbClr val="52616B"/>
                    </a:solidFill>
                    <a:latin typeface="+mn-lt"/>
                    <a:ea typeface="+mn-ea"/>
                    <a:cs typeface="+mn-cs"/>
                  </a:rPr>
                  <a:t>güvenli JSON olarak göndermez.</a:t>
                </a:r>
              </a:p>
            </p:txBody>
          </p:sp>
          <p:sp>
            <p:nvSpPr>
              <p:cNvPr id="22" name="TextBox 22"/>
              <p:cNvSpPr txBox="1"/>
              <p:nvPr/>
            </p:nvSpPr>
            <p:spPr>
              <a:xfrm>
                <a:off x="7194804" y="3489960"/>
                <a:ext cx="2745867"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5 · Mantık:</a:t>
                </a:r>
                <a:r>
                  <a:rPr lang="tr-TR" sz="1200" dirty="0">
                    <a:solidFill>
                      <a:srgbClr val="52616B"/>
                    </a:solidFill>
                    <a:latin typeface="+mn-lt"/>
                    <a:ea typeface="+mn-ea"/>
                    <a:cs typeface="+mn-cs"/>
                  </a:rPr>
                  <a:t xml:space="preserve"> tanımlı olmayan yol için</a:t>
                </a:r>
                <a:br/>
                <a:r>
                  <a:rPr lang="tr-TR" sz="1200" dirty="0">
                    <a:solidFill>
                      <a:srgbClr val="52616B"/>
                    </a:solidFill>
                    <a:latin typeface="+mn-lt"/>
                    <a:ea typeface="+mn-ea"/>
                    <a:cs typeface="+mn-cs"/>
                  </a:rPr>
                  <a:t>404 yanıtı yoktur.</a:t>
                </a:r>
              </a:p>
            </p:txBody>
          </p:sp>
          <p:sp>
            <p:nvSpPr>
              <p:cNvPr id="23" name="TextBox 23"/>
              <p:cNvSpPr txBox="1"/>
              <p:nvPr/>
            </p:nvSpPr>
            <p:spPr>
              <a:xfrm>
                <a:off x="7194804" y="3937635"/>
                <a:ext cx="2929128"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6 · Yapılandırma:</a:t>
                </a:r>
                <a:r>
                  <a:rPr lang="tr-TR" sz="1200" dirty="0">
                    <a:solidFill>
                      <a:srgbClr val="52616B"/>
                    </a:solidFill>
                    <a:latin typeface="+mn-lt"/>
                    <a:ea typeface="+mn-ea"/>
                    <a:cs typeface="+mn-cs"/>
                  </a:rPr>
                  <a:t xml:space="preserve"> port doğrulanmadan</a:t>
                </a:r>
                <a:br/>
                <a:r>
                  <a:rPr lang="tr-TR" sz="1200" dirty="0">
                    <a:solidFill>
                      <a:srgbClr val="52616B"/>
                    </a:solidFill>
                    <a:latin typeface="+mn-lt"/>
                    <a:ea typeface="+mn-ea"/>
                    <a:cs typeface="+mn-cs"/>
                  </a:rPr>
                  <a:t>dinlemeye başlanır.</a:t>
                </a:r>
              </a:p>
            </p:txBody>
          </p:sp>
        </p:grpSp>
      </p:grpSp>
      <p:grpSp>
        <p:nvGrpSpPr>
          <p:cNvPr id="30" name="duzeltme"/>
          <p:cNvGrpSpPr/>
          <p:nvPr/>
        </p:nvGrpSpPr>
        <p:grpSpPr>
          <a:xfrm>
            <a:off x="609600" y="4629150"/>
            <a:ext cx="6286500" cy="1657350"/>
            <a:chOff x="609600" y="4629150"/>
            <a:chExt cx="6286500" cy="1657350"/>
          </a:xfrm>
        </p:grpSpPr>
        <p:sp>
          <p:nvSpPr>
            <p:cNvPr id="26" name="Rectangle 26"/>
            <p:cNvSpPr/>
            <p:nvPr/>
          </p:nvSpPr>
          <p:spPr>
            <a:xfrm>
              <a:off x="609600" y="4629150"/>
              <a:ext cx="6286500" cy="1657350"/>
            </a:xfrm>
            <a:prstGeom prst="rect">
              <a:avLst/>
            </a:prstGeom>
            <a:solidFill>
              <a:srgbClr val="FFFFFF"/>
            </a:solidFill>
            <a:ln w="9525">
              <a:solidFill>
                <a:srgbClr val="00A6A6"/>
              </a:solidFill>
            </a:ln>
          </p:spPr>
        </p:sp>
        <p:sp>
          <p:nvSpPr>
            <p:cNvPr id="27" name="Rectangle 27"/>
            <p:cNvSpPr/>
            <p:nvPr/>
          </p:nvSpPr>
          <p:spPr>
            <a:xfrm>
              <a:off x="609600" y="4629150"/>
              <a:ext cx="6286500" cy="38100"/>
            </a:xfrm>
            <a:prstGeom prst="rect">
              <a:avLst/>
            </a:prstGeom>
            <a:solidFill>
              <a:srgbClr val="00A6A6"/>
            </a:solidFill>
            <a:ln>
              <a:noFill/>
            </a:ln>
          </p:spPr>
        </p:sp>
        <p:sp>
          <p:nvSpPr>
            <p:cNvPr id="28" name="TextBox 28"/>
            <p:cNvSpPr txBox="1"/>
            <p:nvPr/>
          </p:nvSpPr>
          <p:spPr>
            <a:xfrm>
              <a:off x="906399" y="4802029"/>
              <a:ext cx="311592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Düzeltilmiş anahtar satırlar</a:t>
              </a:r>
            </a:p>
          </p:txBody>
        </p:sp>
        <p:sp>
          <p:nvSpPr>
            <p:cNvPr id="29" name="TextBox 29"/>
            <p:cNvSpPr txBox="1"/>
            <p:nvPr/>
          </p:nvSpPr>
          <p:spPr>
            <a:xfrm>
              <a:off x="907923" y="5158264"/>
              <a:ext cx="5466842" cy="992315"/>
            </a:xfrm>
            <a:prstGeom prst="rect">
              <a:avLst/>
            </a:prstGeom>
            <a:noFill/>
            <a:ln>
              <a:noFill/>
            </a:ln>
          </p:spPr>
          <p:txBody>
            <a:bodyPr wrap="none" lIns="0" tIns="0" rIns="0" bIns="0" anchor="t" anchorCtr="0">
              <a:spAutoFit/>
            </a:bodyPr>
            <a:lstStyle/>
            <a:p>
              <a:pPr algn="l">
                <a:lnSpc>
                  <a:spcPts val="1950"/>
                </a:lnSpc>
              </a:pPr>
              <a:r>
                <a:rPr lang="tr-TR" sz="1280" dirty="0">
                  <a:solidFill>
                    <a:srgbClr val="172B3A"/>
                  </a:solidFill>
                  <a:latin typeface="Consolas"/>
                  <a:ea typeface="Consolas"/>
                  <a:cs typeface="Consolas"/>
                </a:rPr>
                <a:t>const uygulamaPortu = Number(process.env.PORT ?? "3000");</a:t>
              </a:r>
              <a:br/>
              <a:r>
                <a:rPr lang="tr-TR" sz="1280" dirty="0">
                  <a:solidFill>
                    <a:srgbClr val="172B3A"/>
                  </a:solidFill>
                  <a:latin typeface="Consolas"/>
                  <a:ea typeface="Consolas"/>
                  <a:cs typeface="Consolas"/>
                </a:rPr>
                <a:t>if (istek.url === "/durum") { … }</a:t>
              </a:r>
              <a:br/>
              <a:r>
                <a:rPr lang="tr-TR" sz="1280" dirty="0">
                  <a:solidFill>
                    <a:srgbClr val="172B3A"/>
                  </a:solidFill>
                  <a:latin typeface="Consolas"/>
                  <a:ea typeface="Consolas"/>
                  <a:cs typeface="Consolas"/>
                </a:rPr>
                <a:t>yanit.end(JSON.stringify({ durum: "hazır" }));</a:t>
              </a:r>
              <a:br/>
              <a:r>
                <a:rPr lang="tr-TR" sz="1280" dirty="0">
                  <a:solidFill>
                    <a:srgbClr val="172B3A"/>
                  </a:solidFill>
                  <a:latin typeface="Consolas"/>
                  <a:ea typeface="Consolas"/>
                  <a:cs typeface="Consolas"/>
                </a:rPr>
                <a:t>yanit.writeHead(404, { "Content-Type": "application/json" });</a:t>
              </a:r>
            </a:p>
          </p:txBody>
        </p:sp>
      </p:grpSp>
      <p:grpSp>
        <p:nvGrpSpPr>
          <p:cNvPr id="36" name="laboratuvar"/>
          <p:cNvGrpSpPr/>
          <p:nvPr/>
        </p:nvGrpSpPr>
        <p:grpSpPr>
          <a:xfrm>
            <a:off x="7200900" y="4629150"/>
            <a:ext cx="4381500" cy="1686306"/>
            <a:chOff x="7200900" y="4629150"/>
            <a:chExt cx="4381500" cy="1686306"/>
          </a:xfrm>
        </p:grpSpPr>
        <p:sp>
          <p:nvSpPr>
            <p:cNvPr id="31" name="Rectangle 31"/>
            <p:cNvSpPr/>
            <p:nvPr/>
          </p:nvSpPr>
          <p:spPr>
            <a:xfrm>
              <a:off x="7200900" y="4629150"/>
              <a:ext cx="4381500" cy="1657350"/>
            </a:xfrm>
            <a:prstGeom prst="rect">
              <a:avLst/>
            </a:prstGeom>
            <a:solidFill>
              <a:srgbClr val="EAF4F6"/>
            </a:solidFill>
            <a:ln>
              <a:noFill/>
            </a:ln>
          </p:spPr>
        </p:sp>
        <p:sp>
          <p:nvSpPr>
            <p:cNvPr id="32" name="Rectangle 32"/>
            <p:cNvSpPr/>
            <p:nvPr/>
          </p:nvSpPr>
          <p:spPr>
            <a:xfrm>
              <a:off x="7200900" y="4629150"/>
              <a:ext cx="57150" cy="1657350"/>
            </a:xfrm>
            <a:prstGeom prst="rect">
              <a:avLst/>
            </a:prstGeom>
            <a:solidFill>
              <a:srgbClr val="00A6A6"/>
            </a:solidFill>
            <a:ln>
              <a:noFill/>
            </a:ln>
          </p:spPr>
        </p:sp>
        <p:sp>
          <p:nvSpPr>
            <p:cNvPr id="33" name="TextBox 33"/>
            <p:cNvSpPr txBox="1"/>
            <p:nvPr/>
          </p:nvSpPr>
          <p:spPr>
            <a:xfrm>
              <a:off x="7497699" y="4802029"/>
              <a:ext cx="193271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Laboratuvar notu</a:t>
              </a:r>
            </a:p>
          </p:txBody>
        </p:sp>
        <p:sp>
          <p:nvSpPr>
            <p:cNvPr id="34" name="TextBox 34"/>
            <p:cNvSpPr txBox="1"/>
            <p:nvPr/>
          </p:nvSpPr>
          <p:spPr>
            <a:xfrm>
              <a:off x="7499604" y="5147310"/>
              <a:ext cx="33192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res.end() ya bir string ya da Buffer bekler;</a:t>
              </a:r>
              <a:br/>
              <a:r>
                <a:rPr lang="tr-TR" sz="1200" dirty="0">
                  <a:solidFill>
                    <a:srgbClr val="172B3A"/>
                  </a:solidFill>
                  <a:latin typeface="+mn-lt"/>
                  <a:ea typeface="+mn-ea"/>
                  <a:cs typeface="+mn-cs"/>
                </a:rPr>
                <a:t>nesne verilirse sunucu hata üretir.</a:t>
              </a:r>
            </a:p>
          </p:txBody>
        </p:sp>
        <p:sp>
          <p:nvSpPr>
            <p:cNvPr id="35" name="TextBox 35"/>
            <p:cNvSpPr txBox="1"/>
            <p:nvPr/>
          </p:nvSpPr>
          <p:spPr>
            <a:xfrm>
              <a:off x="7499604" y="5661660"/>
              <a:ext cx="32735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En kritik mimari kusur 404'ün olmamasıydı:</a:t>
              </a:r>
              <a:br/>
              <a:r>
                <a:rPr lang="tr-TR" sz="1200" dirty="0">
                  <a:solidFill>
                    <a:srgbClr val="172B3A"/>
                  </a:solidFill>
                  <a:latin typeface="+mn-lt"/>
                  <a:ea typeface="+mn-ea"/>
                  <a:cs typeface="+mn-cs"/>
                </a:rPr>
                <a:t>her HTTP isteği er ya da geç sonlandırılmak</a:t>
              </a:r>
              <a:br/>
              <a:r>
                <a:rPr lang="tr-TR" sz="1200" dirty="0">
                  <a:solidFill>
                    <a:srgbClr val="172B3A"/>
                  </a:solidFill>
                  <a:latin typeface="+mn-lt"/>
                  <a:ea typeface="+mn-ea"/>
                  <a:cs typeface="+mn-cs"/>
                </a:rPr>
                <a:t>zorundadır, yoksa istemci askıda kalır.</a:t>
              </a:r>
            </a:p>
          </p:txBody>
        </p:sp>
      </p:grpSp>
      <p:grpSp>
        <p:nvGrpSpPr>
          <p:cNvPr id="39" name="footer"/>
          <p:cNvGrpSpPr/>
          <p:nvPr/>
        </p:nvGrpSpPr>
        <p:grpSpPr>
          <a:xfrm>
            <a:off x="603504" y="6461760"/>
            <a:ext cx="10984992" cy="234696"/>
            <a:chOff x="603504" y="6461760"/>
            <a:chExt cx="10984992" cy="234696"/>
          </a:xfrm>
        </p:grpSpPr>
        <p:sp>
          <p:nvSpPr>
            <p:cNvPr id="37" name="TextBox 37"/>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8" name="TextBox 3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469504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a:t>
              </a:r>
            </a:p>
          </p:txBody>
        </p:sp>
      </p:grpSp>
      <p:grpSp>
        <p:nvGrpSpPr>
          <p:cNvPr id="10" name="kod"/>
          <p:cNvGrpSpPr/>
          <p:nvPr/>
        </p:nvGrpSpPr>
        <p:grpSpPr>
          <a:xfrm>
            <a:off x="603504" y="1261110"/>
            <a:ext cx="6673596" cy="4130040"/>
            <a:chOff x="603504" y="1261110"/>
            <a:chExt cx="6673596" cy="4130040"/>
          </a:xfrm>
        </p:grpSpPr>
        <p:sp>
          <p:nvSpPr>
            <p:cNvPr id="6" name="TextBox 6"/>
            <p:cNvSpPr txBox="1"/>
            <p:nvPr/>
          </p:nvSpPr>
          <p:spPr>
            <a:xfrm>
              <a:off x="603504" y="1261110"/>
              <a:ext cx="61189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ChapterMiniApp.ts — runtime, npm, event loop, process ve HTTP tek serviste</a:t>
              </a:r>
            </a:p>
          </p:txBody>
        </p:sp>
        <p:sp>
          <p:nvSpPr>
            <p:cNvPr id="7" name="Rectangle 7"/>
            <p:cNvSpPr/>
            <p:nvPr/>
          </p:nvSpPr>
          <p:spPr>
            <a:xfrm>
              <a:off x="609600" y="1504950"/>
              <a:ext cx="6667500" cy="3886200"/>
            </a:xfrm>
            <a:prstGeom prst="rect">
              <a:avLst/>
            </a:prstGeom>
            <a:solidFill>
              <a:srgbClr val="12355B"/>
            </a:solidFill>
            <a:ln>
              <a:noFill/>
            </a:ln>
          </p:spPr>
        </p:sp>
        <p:sp>
          <p:nvSpPr>
            <p:cNvPr id="8" name="Rectangle 8"/>
            <p:cNvSpPr/>
            <p:nvPr/>
          </p:nvSpPr>
          <p:spPr>
            <a:xfrm>
              <a:off x="609600" y="1504950"/>
              <a:ext cx="38100" cy="3886200"/>
            </a:xfrm>
            <a:prstGeom prst="rect">
              <a:avLst/>
            </a:prstGeom>
            <a:solidFill>
              <a:srgbClr val="00A6A6"/>
            </a:solidFill>
            <a:ln>
              <a:noFill/>
            </a:ln>
          </p:spPr>
        </p:sp>
        <p:sp>
          <p:nvSpPr>
            <p:cNvPr id="9" name="TextBox 9"/>
            <p:cNvSpPr txBox="1"/>
            <p:nvPr/>
          </p:nvSpPr>
          <p:spPr>
            <a:xfrm>
              <a:off x="907923" y="1653064"/>
              <a:ext cx="4840986" cy="3221164"/>
            </a:xfrm>
            <a:prstGeom prst="rect">
              <a:avLst/>
            </a:prstGeom>
            <a:noFill/>
            <a:ln>
              <a:noFill/>
            </a:ln>
          </p:spPr>
          <p:txBody>
            <a:bodyPr wrap="none" lIns="0" tIns="0" rIns="0" bIns="0" anchor="t" anchorCtr="0">
              <a:spAutoFit/>
            </a:bodyPr>
            <a:lstStyle/>
            <a:p>
              <a:pPr algn="l">
                <a:lnSpc>
                  <a:spcPts val="1950"/>
                </a:lnSpc>
              </a:pPr>
              <a:r>
                <a:rPr lang="tr-TR" sz="1280" dirty="0">
                  <a:solidFill>
                    <a:srgbClr val="EAF4F6"/>
                  </a:solidFill>
                  <a:latin typeface="Consolas"/>
                  <a:ea typeface="Consolas"/>
                  <a:cs typeface="Consolas"/>
                </a:rPr>
                <a:t>class BolumDurumUygulamasi {</a:t>
              </a:r>
              <a:br/>
              <a:r>
                <a:rPr lang="tr-TR" sz="1280" dirty="0">
                  <a:solidFill>
                    <a:srgbClr val="EAF4F6"/>
                  </a:solidFill>
                  <a:latin typeface="Consolas"/>
                  <a:ea typeface="Consolas"/>
                  <a:cs typeface="Consolas"/>
                </a:rPr>
                <a:t>private readonly uygulamaPortu: number;</a:t>
              </a:r>
              <a:br/>
              <a:r>
                <a:rPr lang="tr-TR" sz="1280" dirty="0">
                  <a:solidFill>
                    <a:srgbClr val="EAF4F6"/>
                  </a:solidFill>
                  <a:latin typeface="Consolas"/>
                  <a:ea typeface="Consolas"/>
                  <a:cs typeface="Consolas"/>
                </a:rPr>
                <a:t>private readonly kitapAdi: string;</a:t>
              </a:r>
              <a:br/>
              <a:r>
                <a:rPr lang="tr-TR" sz="1280" dirty="0">
                  <a:solidFill>
                    <a:srgbClr val="EAF4F6"/>
                  </a:solidFill>
                  <a:latin typeface="Consolas"/>
                  <a:ea typeface="Consolas"/>
                  <a:cs typeface="Consolas"/>
                </a:rPr>
                <a:t>public constructor() {</a:t>
              </a:r>
              <a:br/>
              <a:r>
                <a:rPr lang="tr-TR" sz="1280" dirty="0">
                  <a:solidFill>
                    <a:srgbClr val="EAF4F6"/>
                  </a:solidFill>
                  <a:latin typeface="Consolas"/>
                  <a:ea typeface="Consolas"/>
                  <a:cs typeface="Consolas"/>
                </a:rPr>
                <a:t>const portMetni = process.env.PORT ?? "3000";</a:t>
              </a:r>
              <a:br/>
              <a:r>
                <a:rPr lang="tr-TR" sz="1280" dirty="0">
                  <a:solidFill>
                    <a:srgbClr val="EAF4F6"/>
                  </a:solidFill>
                  <a:latin typeface="Consolas"/>
                  <a:ea typeface="Consolas"/>
                  <a:cs typeface="Consolas"/>
                </a:rPr>
                <a:t>const portNumarasi = Number(portMetni);</a:t>
              </a:r>
              <a:br/>
              <a:r>
                <a:rPr lang="tr-TR" sz="1280" dirty="0">
                  <a:solidFill>
                    <a:srgbClr val="EAF4F6"/>
                  </a:solidFill>
                  <a:latin typeface="Consolas"/>
                  <a:ea typeface="Consolas"/>
                  <a:cs typeface="Consolas"/>
                </a:rPr>
                <a:t>if (!Number.isInteger(portNumarasi)) {</a:t>
              </a:r>
              <a:br/>
              <a:r>
                <a:rPr lang="tr-TR" sz="1280" dirty="0">
                  <a:solidFill>
                    <a:srgbClr val="EAF4F6"/>
                  </a:solidFill>
                  <a:latin typeface="Consolas"/>
                  <a:ea typeface="Consolas"/>
                  <a:cs typeface="Consolas"/>
                </a:rPr>
                <a:t>throw new Error("PORT 1-65535 aralığında olmalı.");</a:t>
              </a:r>
              <a:br/>
              <a:r>
                <a:rPr lang="tr-TR" sz="1280" dirty="0">
                  <a:solidFill>
                    <a:srgbClr val="EAF4F6"/>
                  </a:solidFill>
                  <a:latin typeface="Consolas"/>
                  <a:ea typeface="Consolas"/>
                  <a:cs typeface="Consolas"/>
                </a:rPr>
                <a:t>}</a:t>
              </a:r>
              <a:br/>
              <a:r>
                <a:rPr lang="tr-TR" sz="1280" dirty="0">
                  <a:solidFill>
                    <a:srgbClr val="EAF4F6"/>
                  </a:solidFill>
                  <a:latin typeface="Consolas"/>
                  <a:ea typeface="Consolas"/>
                  <a:cs typeface="Consolas"/>
                </a:rPr>
                <a:t>this.uygulamaPortu = portNumarasi;</a:t>
              </a:r>
              <a:br/>
              <a:r>
                <a:rPr lang="tr-TR" sz="1280" dirty="0">
                  <a:solidFill>
                    <a:srgbClr val="EAF4F6"/>
                  </a:solidFill>
                  <a:latin typeface="Consolas"/>
                  <a:ea typeface="Consolas"/>
                  <a:cs typeface="Consolas"/>
                </a:rPr>
                <a:t>this.kitapAdi = process.env.KITAP_ADI ?? "Varsayılan";</a:t>
              </a:r>
              <a:br/>
              <a:r>
                <a:rPr lang="tr-TR" sz="1280" dirty="0">
                  <a:solidFill>
                    <a:srgbClr val="EAF4F6"/>
                  </a:solidFill>
                  <a:latin typeface="Consolas"/>
                  <a:ea typeface="Consolas"/>
                  <a:cs typeface="Consolas"/>
                </a:rPr>
                <a:t>}</a:t>
              </a:r>
              <a:br/>
              <a:r>
                <a:rPr lang="tr-TR" sz="1280" dirty="0">
                  <a:solidFill>
                    <a:srgbClr val="EAF4F6"/>
                  </a:solidFill>
                  <a:latin typeface="Consolas"/>
                  <a:ea typeface="Consolas"/>
                  <a:cs typeface="Consolas"/>
                </a:rPr>
                <a:t>public baslat(): void { /* createServer + listen */ }</a:t>
              </a:r>
            </a:p>
          </p:txBody>
        </p:sp>
      </p:grpSp>
      <p:grpSp>
        <p:nvGrpSpPr>
          <p:cNvPr id="24" name="rotalar"/>
          <p:cNvGrpSpPr/>
          <p:nvPr/>
        </p:nvGrpSpPr>
        <p:grpSpPr>
          <a:xfrm>
            <a:off x="7570470" y="1204912"/>
            <a:ext cx="4011930" cy="1957388"/>
            <a:chOff x="7570470" y="1204912"/>
            <a:chExt cx="4011930" cy="1957388"/>
          </a:xfrm>
        </p:grpSpPr>
        <p:sp>
          <p:nvSpPr>
            <p:cNvPr id="11" name="TextBox 11"/>
            <p:cNvSpPr txBox="1"/>
            <p:nvPr/>
          </p:nvSpPr>
          <p:spPr>
            <a:xfrm>
              <a:off x="7570470" y="1204912"/>
              <a:ext cx="1177061"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Rotalar</a:t>
              </a:r>
            </a:p>
          </p:txBody>
        </p:sp>
        <p:grpSp>
          <p:nvGrpSpPr>
            <p:cNvPr id="15" name="rota-kok"/>
            <p:cNvGrpSpPr/>
            <p:nvPr/>
          </p:nvGrpSpPr>
          <p:grpSpPr>
            <a:xfrm>
              <a:off x="7581900" y="1657350"/>
              <a:ext cx="4000500" cy="438150"/>
              <a:chOff x="7581900" y="1657350"/>
              <a:chExt cx="4000500" cy="438150"/>
            </a:xfrm>
          </p:grpSpPr>
          <p:sp>
            <p:nvSpPr>
              <p:cNvPr id="12" name="Rectangle 12"/>
              <p:cNvSpPr/>
              <p:nvPr/>
            </p:nvSpPr>
            <p:spPr>
              <a:xfrm>
                <a:off x="7581900" y="1657350"/>
                <a:ext cx="4000500" cy="438150"/>
              </a:xfrm>
              <a:prstGeom prst="rect">
                <a:avLst/>
              </a:prstGeom>
              <a:solidFill>
                <a:srgbClr val="EAF4F6"/>
              </a:solidFill>
              <a:ln>
                <a:noFill/>
              </a:ln>
            </p:spPr>
          </p:sp>
          <p:sp>
            <p:nvSpPr>
              <p:cNvPr id="13" name="TextBox 13"/>
              <p:cNvSpPr txBox="1"/>
              <p:nvPr/>
            </p:nvSpPr>
            <p:spPr>
              <a:xfrm>
                <a:off x="7765161" y="1789271"/>
                <a:ext cx="569925"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GET /</a:t>
                </a:r>
              </a:p>
            </p:txBody>
          </p:sp>
          <p:sp>
            <p:nvSpPr>
              <p:cNvPr id="14" name="TextBox 14"/>
              <p:cNvSpPr txBox="1"/>
              <p:nvPr/>
            </p:nvSpPr>
            <p:spPr>
              <a:xfrm>
                <a:off x="8756904" y="1813560"/>
                <a:ext cx="189418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200 · mesaj ve kitap adı</a:t>
                </a:r>
              </a:p>
            </p:txBody>
          </p:sp>
        </p:grpSp>
        <p:grpSp>
          <p:nvGrpSpPr>
            <p:cNvPr id="19" name="rota-durum"/>
            <p:cNvGrpSpPr/>
            <p:nvPr/>
          </p:nvGrpSpPr>
          <p:grpSpPr>
            <a:xfrm>
              <a:off x="7581900" y="2190750"/>
              <a:ext cx="4000500" cy="438150"/>
              <a:chOff x="7581900" y="2190750"/>
              <a:chExt cx="4000500" cy="438150"/>
            </a:xfrm>
          </p:grpSpPr>
          <p:sp>
            <p:nvSpPr>
              <p:cNvPr id="16" name="Rectangle 16"/>
              <p:cNvSpPr/>
              <p:nvPr/>
            </p:nvSpPr>
            <p:spPr>
              <a:xfrm>
                <a:off x="7581900" y="2190750"/>
                <a:ext cx="4000500" cy="438150"/>
              </a:xfrm>
              <a:prstGeom prst="rect">
                <a:avLst/>
              </a:prstGeom>
              <a:solidFill>
                <a:srgbClr val="EAF4F6"/>
              </a:solidFill>
              <a:ln>
                <a:noFill/>
              </a:ln>
            </p:spPr>
          </p:sp>
          <p:sp>
            <p:nvSpPr>
              <p:cNvPr id="17" name="TextBox 17"/>
              <p:cNvSpPr txBox="1"/>
              <p:nvPr/>
            </p:nvSpPr>
            <p:spPr>
              <a:xfrm>
                <a:off x="7765161" y="2322671"/>
                <a:ext cx="1088177"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GET /durum</a:t>
                </a:r>
              </a:p>
            </p:txBody>
          </p:sp>
          <p:sp>
            <p:nvSpPr>
              <p:cNvPr id="18" name="TextBox 18"/>
              <p:cNvSpPr txBox="1"/>
              <p:nvPr/>
            </p:nvSpPr>
            <p:spPr>
              <a:xfrm>
                <a:off x="9137904" y="2346960"/>
                <a:ext cx="15791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200 · sürüm ve dizin</a:t>
                </a:r>
              </a:p>
            </p:txBody>
          </p:sp>
        </p:grpSp>
        <p:grpSp>
          <p:nvGrpSpPr>
            <p:cNvPr id="23" name="rota-404"/>
            <p:cNvGrpSpPr/>
            <p:nvPr/>
          </p:nvGrpSpPr>
          <p:grpSpPr>
            <a:xfrm>
              <a:off x="7581900" y="2724150"/>
              <a:ext cx="4000500" cy="438150"/>
              <a:chOff x="7581900" y="2724150"/>
              <a:chExt cx="4000500" cy="438150"/>
            </a:xfrm>
          </p:grpSpPr>
          <p:sp>
            <p:nvSpPr>
              <p:cNvPr id="20" name="Rectangle 20"/>
              <p:cNvSpPr/>
              <p:nvPr/>
            </p:nvSpPr>
            <p:spPr>
              <a:xfrm>
                <a:off x="7581900" y="2724150"/>
                <a:ext cx="4000500" cy="438150"/>
              </a:xfrm>
              <a:prstGeom prst="rect">
                <a:avLst/>
              </a:prstGeom>
              <a:solidFill>
                <a:srgbClr val="EAF4F6"/>
              </a:solidFill>
              <a:ln>
                <a:noFill/>
              </a:ln>
            </p:spPr>
          </p:sp>
          <p:sp>
            <p:nvSpPr>
              <p:cNvPr id="21" name="TextBox 21"/>
              <p:cNvSpPr txBox="1"/>
              <p:nvPr/>
            </p:nvSpPr>
            <p:spPr>
              <a:xfrm>
                <a:off x="7765161" y="2856071"/>
                <a:ext cx="540169" cy="278702"/>
              </a:xfrm>
              <a:prstGeom prst="rect">
                <a:avLst/>
              </a:prstGeom>
              <a:noFill/>
              <a:ln>
                <a:noFill/>
              </a:ln>
            </p:spPr>
            <p:txBody>
              <a:bodyPr wrap="none" lIns="0" tIns="0" rIns="0" bIns="0" anchor="t" anchorCtr="0">
                <a:spAutoFit/>
              </a:bodyPr>
              <a:lstStyle/>
              <a:p>
                <a:pPr algn="l"/>
                <a:r>
                  <a:rPr lang="tr-TR" sz="1420" dirty="0">
                    <a:solidFill>
                      <a:srgbClr val="12355B"/>
                    </a:solidFill>
                    <a:latin typeface="Consolas"/>
                    <a:ea typeface="Consolas"/>
                    <a:cs typeface="Consolas"/>
                  </a:rPr>
                  <a:t>diğer</a:t>
                </a:r>
              </a:p>
            </p:txBody>
          </p:sp>
          <p:sp>
            <p:nvSpPr>
              <p:cNvPr id="22" name="TextBox 22"/>
              <p:cNvSpPr txBox="1"/>
              <p:nvPr/>
            </p:nvSpPr>
            <p:spPr>
              <a:xfrm>
                <a:off x="8756904" y="2880360"/>
                <a:ext cx="192648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404 · kaynak bulunamadı</a:t>
                </a:r>
              </a:p>
            </p:txBody>
          </p:sp>
        </p:grpSp>
      </p:grpSp>
      <p:grpSp>
        <p:nvGrpSpPr>
          <p:cNvPr id="31" name="genisletme"/>
          <p:cNvGrpSpPr/>
          <p:nvPr/>
        </p:nvGrpSpPr>
        <p:grpSpPr>
          <a:xfrm>
            <a:off x="7581900" y="3390900"/>
            <a:ext cx="4000500" cy="2010156"/>
            <a:chOff x="7581900" y="3390900"/>
            <a:chExt cx="4000500" cy="2010156"/>
          </a:xfrm>
        </p:grpSpPr>
        <p:sp>
          <p:nvSpPr>
            <p:cNvPr id="25" name="Rectangle 25"/>
            <p:cNvSpPr/>
            <p:nvPr/>
          </p:nvSpPr>
          <p:spPr>
            <a:xfrm>
              <a:off x="7581900" y="3390900"/>
              <a:ext cx="4000500" cy="2000250"/>
            </a:xfrm>
            <a:prstGeom prst="rect">
              <a:avLst/>
            </a:prstGeom>
            <a:solidFill>
              <a:srgbClr val="FFFFFF"/>
            </a:solidFill>
            <a:ln w="9525">
              <a:solidFill>
                <a:srgbClr val="B8CBD3"/>
              </a:solidFill>
            </a:ln>
          </p:spPr>
        </p:sp>
        <p:sp>
          <p:nvSpPr>
            <p:cNvPr id="26" name="Rectangle 26"/>
            <p:cNvSpPr/>
            <p:nvPr/>
          </p:nvSpPr>
          <p:spPr>
            <a:xfrm>
              <a:off x="7581900" y="3390900"/>
              <a:ext cx="57150" cy="2000250"/>
            </a:xfrm>
            <a:prstGeom prst="rect">
              <a:avLst/>
            </a:prstGeom>
            <a:solidFill>
              <a:srgbClr val="2E86AB"/>
            </a:solidFill>
            <a:ln>
              <a:noFill/>
            </a:ln>
          </p:spPr>
        </p:sp>
        <p:sp>
          <p:nvSpPr>
            <p:cNvPr id="27" name="TextBox 27"/>
            <p:cNvSpPr txBox="1"/>
            <p:nvPr/>
          </p:nvSpPr>
          <p:spPr>
            <a:xfrm>
              <a:off x="7878699" y="3544729"/>
              <a:ext cx="24908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programı genişletin</a:t>
              </a:r>
            </a:p>
          </p:txBody>
        </p:sp>
        <p:sp>
          <p:nvSpPr>
            <p:cNvPr id="28" name="TextBox 28"/>
            <p:cNvSpPr txBox="1"/>
            <p:nvPr/>
          </p:nvSpPr>
          <p:spPr>
            <a:xfrm>
              <a:off x="7880604" y="3890010"/>
              <a:ext cx="30601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1 · /bolumler yoluna örnek bölüm listesini</a:t>
              </a:r>
              <a:br/>
              <a:r>
                <a:rPr lang="tr-TR" sz="1200" dirty="0">
                  <a:solidFill>
                    <a:srgbClr val="52616B"/>
                  </a:solidFill>
                  <a:latin typeface="+mn-lt"/>
                  <a:ea typeface="+mn-ea"/>
                  <a:cs typeface="+mn-cs"/>
                </a:rPr>
                <a:t>JSON dizisi olarak döndüren rota ekleyin.</a:t>
              </a:r>
            </a:p>
          </p:txBody>
        </p:sp>
        <p:sp>
          <p:nvSpPr>
            <p:cNvPr id="29" name="TextBox 29"/>
            <p:cNvSpPr txBox="1"/>
            <p:nvPr/>
          </p:nvSpPr>
          <p:spPr>
            <a:xfrm>
              <a:off x="7880604" y="4423410"/>
              <a:ext cx="28925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2 · CALISMA_MODU=gelistirme iken daha</a:t>
              </a:r>
              <a:br/>
              <a:r>
                <a:rPr lang="tr-TR" sz="1200" dirty="0">
                  <a:solidFill>
                    <a:srgbClr val="52616B"/>
                  </a:solidFill>
                  <a:latin typeface="+mn-lt"/>
                  <a:ea typeface="+mn-ea"/>
                  <a:cs typeface="+mn-cs"/>
                </a:rPr>
                <a:t>ayrıntılı terminal günlüğü yazdırın.</a:t>
              </a:r>
            </a:p>
          </p:txBody>
        </p:sp>
        <p:sp>
          <p:nvSpPr>
            <p:cNvPr id="30" name="TextBox 30"/>
            <p:cNvSpPr txBox="1"/>
            <p:nvPr/>
          </p:nvSpPr>
          <p:spPr>
            <a:xfrm>
              <a:off x="7880604" y="4956810"/>
              <a:ext cx="28696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3 · Yalnızca GET isteklerine izin verin;</a:t>
              </a:r>
              <a:br/>
              <a:r>
                <a:rPr lang="tr-TR" sz="1200" dirty="0">
                  <a:solidFill>
                    <a:srgbClr val="52616B"/>
                  </a:solidFill>
                  <a:latin typeface="+mn-lt"/>
                  <a:ea typeface="+mn-ea"/>
                  <a:cs typeface="+mn-cs"/>
                </a:rPr>
                <a:t>diğerlerine 405 döndürün.</a:t>
              </a:r>
            </a:p>
          </p:txBody>
        </p:sp>
      </p:grpSp>
      <p:grpSp>
        <p:nvGrpSpPr>
          <p:cNvPr id="36" name="event-loop-notu"/>
          <p:cNvGrpSpPr/>
          <p:nvPr/>
        </p:nvGrpSpPr>
        <p:grpSpPr>
          <a:xfrm>
            <a:off x="609600" y="5505450"/>
            <a:ext cx="10972800" cy="810006"/>
            <a:chOff x="609600" y="5505450"/>
            <a:chExt cx="10972800" cy="810006"/>
          </a:xfrm>
        </p:grpSpPr>
        <p:sp>
          <p:nvSpPr>
            <p:cNvPr id="32" name="Rectangle 32"/>
            <p:cNvSpPr/>
            <p:nvPr/>
          </p:nvSpPr>
          <p:spPr>
            <a:xfrm>
              <a:off x="609600" y="5505450"/>
              <a:ext cx="10972800" cy="781050"/>
            </a:xfrm>
            <a:prstGeom prst="rect">
              <a:avLst/>
            </a:prstGeom>
            <a:solidFill>
              <a:srgbClr val="EAF4F6"/>
            </a:solidFill>
            <a:ln>
              <a:noFill/>
            </a:ln>
          </p:spPr>
        </p:sp>
        <p:sp>
          <p:nvSpPr>
            <p:cNvPr id="33" name="Rectangle 33"/>
            <p:cNvSpPr/>
            <p:nvPr/>
          </p:nvSpPr>
          <p:spPr>
            <a:xfrm>
              <a:off x="609600" y="5505450"/>
              <a:ext cx="57150" cy="781050"/>
            </a:xfrm>
            <a:prstGeom prst="rect">
              <a:avLst/>
            </a:prstGeom>
            <a:solidFill>
              <a:srgbClr val="00A6A6"/>
            </a:solidFill>
            <a:ln>
              <a:noFill/>
            </a:ln>
          </p:spPr>
        </p:sp>
        <p:sp>
          <p:nvSpPr>
            <p:cNvPr id="34" name="TextBox 34"/>
            <p:cNvSpPr txBox="1"/>
            <p:nvPr/>
          </p:nvSpPr>
          <p:spPr>
            <a:xfrm>
              <a:off x="946404" y="5623560"/>
              <a:ext cx="90962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setTimeout, sunucu çalışırken bekleyen bir işin event loop aracılığıyla daha sonra tamamlandığını görünür kılar.</a:t>
              </a:r>
            </a:p>
          </p:txBody>
        </p:sp>
        <p:sp>
          <p:nvSpPr>
            <p:cNvPr id="35" name="TextBox 35"/>
            <p:cNvSpPr txBox="1"/>
            <p:nvPr/>
          </p:nvSpPr>
          <p:spPr>
            <a:xfrm>
              <a:off x="946404" y="5871210"/>
              <a:ext cx="78455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Dikkat: bu sınıf http modülünü doğrudan kullanır; bir sonraki bölümde aynı işlevsellik Express'in routing</a:t>
              </a:r>
              <a:br/>
              <a:r>
                <a:rPr lang="tr-TR" sz="1200" dirty="0">
                  <a:solidFill>
                    <a:srgbClr val="52616B"/>
                  </a:solidFill>
                  <a:latin typeface="+mn-lt"/>
                  <a:ea typeface="+mn-ea"/>
                  <a:cs typeface="+mn-cs"/>
                </a:rPr>
                <a:t>katmanıyla çok daha az kodla yeniden yazılacaktır.</a:t>
              </a:r>
            </a:p>
          </p:txBody>
        </p:sp>
      </p:grpSp>
      <p:grpSp>
        <p:nvGrpSpPr>
          <p:cNvPr id="39" name="footer"/>
          <p:cNvGrpSpPr/>
          <p:nvPr/>
        </p:nvGrpSpPr>
        <p:grpSpPr>
          <a:xfrm>
            <a:off x="603504" y="6461760"/>
            <a:ext cx="10984992" cy="234696"/>
            <a:chOff x="603504" y="6461760"/>
            <a:chExt cx="10984992" cy="234696"/>
          </a:xfrm>
        </p:grpSpPr>
        <p:sp>
          <p:nvSpPr>
            <p:cNvPr id="37" name="TextBox 37"/>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8" name="TextBox 3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57225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Özet ve sonraki bölüme köprü</a:t>
              </a:r>
            </a:p>
          </p:txBody>
        </p:sp>
      </p:grpSp>
      <p:grpSp>
        <p:nvGrpSpPr>
          <p:cNvPr id="27" name="ozet"/>
          <p:cNvGrpSpPr/>
          <p:nvPr/>
        </p:nvGrpSpPr>
        <p:grpSpPr>
          <a:xfrm>
            <a:off x="603504" y="1223010"/>
            <a:ext cx="10978896" cy="2586990"/>
            <a:chOff x="603504" y="1223010"/>
            <a:chExt cx="10978896" cy="2586990"/>
          </a:xfrm>
        </p:grpSpPr>
        <p:sp>
          <p:nvSpPr>
            <p:cNvPr id="6" name="TextBox 6"/>
            <p:cNvSpPr txBox="1"/>
            <p:nvPr/>
          </p:nvSpPr>
          <p:spPr>
            <a:xfrm>
              <a:off x="603504" y="1223010"/>
              <a:ext cx="214222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Dört kavram, dört problem</a:t>
              </a:r>
            </a:p>
          </p:txBody>
        </p:sp>
        <p:grpSp>
          <p:nvGrpSpPr>
            <p:cNvPr id="11" name="ozet-runtime"/>
            <p:cNvGrpSpPr/>
            <p:nvPr/>
          </p:nvGrpSpPr>
          <p:grpSpPr>
            <a:xfrm>
              <a:off x="609600" y="1485900"/>
              <a:ext cx="2571750" cy="2324100"/>
              <a:chOff x="609600" y="1485900"/>
              <a:chExt cx="2571750" cy="2324100"/>
            </a:xfrm>
          </p:grpSpPr>
          <p:sp>
            <p:nvSpPr>
              <p:cNvPr id="7" name="Rectangle 7"/>
              <p:cNvSpPr/>
              <p:nvPr/>
            </p:nvSpPr>
            <p:spPr>
              <a:xfrm>
                <a:off x="609600" y="1485900"/>
                <a:ext cx="2571750" cy="2324100"/>
              </a:xfrm>
              <a:prstGeom prst="rect">
                <a:avLst/>
              </a:prstGeom>
              <a:solidFill>
                <a:srgbClr val="FFFFFF"/>
              </a:solidFill>
              <a:ln w="9525">
                <a:solidFill>
                  <a:srgbClr val="B8CBD3"/>
                </a:solidFill>
              </a:ln>
            </p:spPr>
          </p:sp>
          <p:sp>
            <p:nvSpPr>
              <p:cNvPr id="8" name="Rectangle 8"/>
              <p:cNvSpPr/>
              <p:nvPr/>
            </p:nvSpPr>
            <p:spPr>
              <a:xfrm>
                <a:off x="609600" y="1485900"/>
                <a:ext cx="2571750" cy="38100"/>
              </a:xfrm>
              <a:prstGeom prst="rect">
                <a:avLst/>
              </a:prstGeom>
              <a:solidFill>
                <a:srgbClr val="12355B"/>
              </a:solidFill>
              <a:ln>
                <a:noFill/>
              </a:ln>
            </p:spPr>
          </p:sp>
          <p:sp>
            <p:nvSpPr>
              <p:cNvPr id="9" name="TextBox 9"/>
              <p:cNvSpPr txBox="1"/>
              <p:nvPr/>
            </p:nvSpPr>
            <p:spPr>
              <a:xfrm>
                <a:off x="849249" y="1696879"/>
                <a:ext cx="87153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Runtime</a:t>
                </a:r>
              </a:p>
            </p:txBody>
          </p:sp>
          <p:sp>
            <p:nvSpPr>
              <p:cNvPr id="10" name="TextBox 10"/>
              <p:cNvSpPr txBox="1"/>
              <p:nvPr/>
            </p:nvSpPr>
            <p:spPr>
              <a:xfrm>
                <a:off x="851154" y="2042160"/>
                <a:ext cx="2077212" cy="14919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JavaScript'i tarayıcı</a:t>
                </a:r>
                <a:br/>
                <a:r>
                  <a:rPr lang="tr-TR" sz="1200" dirty="0">
                    <a:solidFill>
                      <a:srgbClr val="52616B"/>
                    </a:solidFill>
                    <a:latin typeface="+mn-lt"/>
                    <a:ea typeface="+mn-ea"/>
                    <a:cs typeface="+mn-cs"/>
                  </a:rPr>
                  <a:t>dışında çalıştırır; dosya,</a:t>
                </a:r>
                <a:br/>
                <a:r>
                  <a:rPr lang="tr-TR" sz="1200" dirty="0">
                    <a:solidFill>
                      <a:srgbClr val="52616B"/>
                    </a:solidFill>
                    <a:latin typeface="+mn-lt"/>
                    <a:ea typeface="+mn-ea"/>
                    <a:cs typeface="+mn-cs"/>
                  </a:rPr>
                  <a:t>ağ ve süreç yeteneği</a:t>
                </a:r>
                <a:br/>
                <a:r>
                  <a:rPr lang="tr-TR" sz="1200" dirty="0">
                    <a:solidFill>
                      <a:srgbClr val="52616B"/>
                    </a:solidFill>
                    <a:latin typeface="+mn-lt"/>
                    <a:ea typeface="+mn-ea"/>
                    <a:cs typeface="+mn-cs"/>
                  </a:rPr>
                  <a:t>sunar. TypeScript onun</a:t>
                </a:r>
                <a:br/>
                <a:r>
                  <a:rPr lang="tr-TR" sz="1200" dirty="0">
                    <a:solidFill>
                      <a:srgbClr val="52616B"/>
                    </a:solidFill>
                    <a:latin typeface="+mn-lt"/>
                    <a:ea typeface="+mn-ea"/>
                    <a:cs typeface="+mn-cs"/>
                  </a:rPr>
                  <a:t>yerine geçen bir runtime</a:t>
                </a:r>
                <a:br/>
                <a:r>
                  <a:rPr lang="tr-TR" sz="1200" dirty="0">
                    <a:solidFill>
                      <a:srgbClr val="52616B"/>
                    </a:solidFill>
                    <a:latin typeface="+mn-lt"/>
                    <a:ea typeface="+mn-ea"/>
                    <a:cs typeface="+mn-cs"/>
                  </a:rPr>
                  <a:t>değil, tür güvenliği</a:t>
                </a:r>
                <a:br/>
                <a:r>
                  <a:rPr lang="tr-TR" sz="1200" dirty="0">
                    <a:solidFill>
                      <a:srgbClr val="52616B"/>
                    </a:solidFill>
                    <a:latin typeface="+mn-lt"/>
                    <a:ea typeface="+mn-ea"/>
                    <a:cs typeface="+mn-cs"/>
                  </a:rPr>
                  <a:t>sağlayan bir araçtır.</a:t>
                </a:r>
              </a:p>
            </p:txBody>
          </p:sp>
        </p:grpSp>
        <p:grpSp>
          <p:nvGrpSpPr>
            <p:cNvPr id="16" name="ozet-eventloop"/>
            <p:cNvGrpSpPr/>
            <p:nvPr/>
          </p:nvGrpSpPr>
          <p:grpSpPr>
            <a:xfrm>
              <a:off x="3409950" y="1485900"/>
              <a:ext cx="2571750" cy="2324100"/>
              <a:chOff x="3409950" y="1485900"/>
              <a:chExt cx="2571750" cy="2324100"/>
            </a:xfrm>
          </p:grpSpPr>
          <p:sp>
            <p:nvSpPr>
              <p:cNvPr id="12" name="Rectangle 12"/>
              <p:cNvSpPr/>
              <p:nvPr/>
            </p:nvSpPr>
            <p:spPr>
              <a:xfrm>
                <a:off x="3409950" y="1485900"/>
                <a:ext cx="2571750" cy="2324100"/>
              </a:xfrm>
              <a:prstGeom prst="rect">
                <a:avLst/>
              </a:prstGeom>
              <a:solidFill>
                <a:srgbClr val="FFFFFF"/>
              </a:solidFill>
              <a:ln w="9525">
                <a:solidFill>
                  <a:srgbClr val="B8CBD3"/>
                </a:solidFill>
              </a:ln>
            </p:spPr>
          </p:sp>
          <p:sp>
            <p:nvSpPr>
              <p:cNvPr id="13" name="Rectangle 13"/>
              <p:cNvSpPr/>
              <p:nvPr/>
            </p:nvSpPr>
            <p:spPr>
              <a:xfrm>
                <a:off x="3409950" y="1485900"/>
                <a:ext cx="2571750" cy="38100"/>
              </a:xfrm>
              <a:prstGeom prst="rect">
                <a:avLst/>
              </a:prstGeom>
              <a:solidFill>
                <a:srgbClr val="00A6A6"/>
              </a:solidFill>
              <a:ln>
                <a:noFill/>
              </a:ln>
            </p:spPr>
          </p:sp>
          <p:sp>
            <p:nvSpPr>
              <p:cNvPr id="14" name="TextBox 14"/>
              <p:cNvSpPr txBox="1"/>
              <p:nvPr/>
            </p:nvSpPr>
            <p:spPr>
              <a:xfrm>
                <a:off x="3649599" y="1696879"/>
                <a:ext cx="11396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Event loop</a:t>
                </a:r>
              </a:p>
            </p:txBody>
          </p:sp>
          <p:sp>
            <p:nvSpPr>
              <p:cNvPr id="15" name="TextBox 15"/>
              <p:cNvSpPr txBox="1"/>
              <p:nvPr/>
            </p:nvSpPr>
            <p:spPr>
              <a:xfrm>
                <a:off x="3651504" y="2042160"/>
                <a:ext cx="1901952" cy="12824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I/O bekleme sürelerinde</a:t>
                </a:r>
                <a:br/>
                <a:r>
                  <a:rPr lang="tr-TR" sz="1200" dirty="0">
                    <a:solidFill>
                      <a:srgbClr val="52616B"/>
                    </a:solidFill>
                    <a:latin typeface="+mn-lt"/>
                    <a:ea typeface="+mn-ea"/>
                    <a:cs typeface="+mn-cs"/>
                  </a:rPr>
                  <a:t>uygulamanın gereksiz</a:t>
                </a:r>
                <a:br/>
                <a:r>
                  <a:rPr lang="tr-TR" sz="1200" dirty="0">
                    <a:solidFill>
                      <a:srgbClr val="52616B"/>
                    </a:solidFill>
                    <a:latin typeface="+mn-lt"/>
                    <a:ea typeface="+mn-ea"/>
                    <a:cs typeface="+mn-cs"/>
                  </a:rPr>
                  <a:t>biçimde durmasını</a:t>
                </a:r>
                <a:br/>
                <a:r>
                  <a:rPr lang="tr-TR" sz="1200" dirty="0">
                    <a:solidFill>
                      <a:srgbClr val="52616B"/>
                    </a:solidFill>
                    <a:latin typeface="+mn-lt"/>
                    <a:ea typeface="+mn-ea"/>
                    <a:cs typeface="+mn-cs"/>
                  </a:rPr>
                  <a:t>engeller. CPU'yu uzun</a:t>
                </a:r>
                <a:br/>
                <a:r>
                  <a:rPr lang="tr-TR" sz="1200" dirty="0">
                    <a:solidFill>
                      <a:srgbClr val="52616B"/>
                    </a:solidFill>
                    <a:latin typeface="+mn-lt"/>
                    <a:ea typeface="+mn-ea"/>
                    <a:cs typeface="+mn-cs"/>
                  </a:rPr>
                  <a:t>süre meşgul eden senkron</a:t>
                </a:r>
                <a:br/>
                <a:r>
                  <a:rPr lang="tr-TR" sz="1200" dirty="0">
                    <a:solidFill>
                      <a:srgbClr val="52616B"/>
                    </a:solidFill>
                    <a:latin typeface="+mn-lt"/>
                    <a:ea typeface="+mn-ea"/>
                    <a:cs typeface="+mn-cs"/>
                  </a:rPr>
                  <a:t>kod ise onu geciktirir.</a:t>
                </a:r>
              </a:p>
            </p:txBody>
          </p:sp>
        </p:grpSp>
        <p:grpSp>
          <p:nvGrpSpPr>
            <p:cNvPr id="21" name="ozet-npm"/>
            <p:cNvGrpSpPr/>
            <p:nvPr/>
          </p:nvGrpSpPr>
          <p:grpSpPr>
            <a:xfrm>
              <a:off x="6210300" y="1485900"/>
              <a:ext cx="2571750" cy="2324100"/>
              <a:chOff x="6210300" y="1485900"/>
              <a:chExt cx="2571750" cy="2324100"/>
            </a:xfrm>
          </p:grpSpPr>
          <p:sp>
            <p:nvSpPr>
              <p:cNvPr id="17" name="Rectangle 17"/>
              <p:cNvSpPr/>
              <p:nvPr/>
            </p:nvSpPr>
            <p:spPr>
              <a:xfrm>
                <a:off x="6210300" y="1485900"/>
                <a:ext cx="2571750" cy="2324100"/>
              </a:xfrm>
              <a:prstGeom prst="rect">
                <a:avLst/>
              </a:prstGeom>
              <a:solidFill>
                <a:srgbClr val="FFFFFF"/>
              </a:solidFill>
              <a:ln w="9525">
                <a:solidFill>
                  <a:srgbClr val="B8CBD3"/>
                </a:solidFill>
              </a:ln>
            </p:spPr>
          </p:sp>
          <p:sp>
            <p:nvSpPr>
              <p:cNvPr id="18" name="Rectangle 18"/>
              <p:cNvSpPr/>
              <p:nvPr/>
            </p:nvSpPr>
            <p:spPr>
              <a:xfrm>
                <a:off x="6210300" y="1485900"/>
                <a:ext cx="2571750" cy="38100"/>
              </a:xfrm>
              <a:prstGeom prst="rect">
                <a:avLst/>
              </a:prstGeom>
              <a:solidFill>
                <a:srgbClr val="2E86AB"/>
              </a:solidFill>
              <a:ln>
                <a:noFill/>
              </a:ln>
            </p:spPr>
          </p:sp>
          <p:sp>
            <p:nvSpPr>
              <p:cNvPr id="19" name="TextBox 19"/>
              <p:cNvSpPr txBox="1"/>
              <p:nvPr/>
            </p:nvSpPr>
            <p:spPr>
              <a:xfrm>
                <a:off x="6449949" y="1696879"/>
                <a:ext cx="210418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npm · package.json</a:t>
                </a:r>
              </a:p>
            </p:txBody>
          </p:sp>
          <p:sp>
            <p:nvSpPr>
              <p:cNvPr id="20" name="TextBox 20"/>
              <p:cNvSpPr txBox="1"/>
              <p:nvPr/>
            </p:nvSpPr>
            <p:spPr>
              <a:xfrm>
                <a:off x="6451854" y="2042160"/>
                <a:ext cx="1658112" cy="14919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npm paketleri ve proje</a:t>
                </a:r>
                <a:br/>
                <a:r>
                  <a:rPr lang="tr-TR" sz="1200" dirty="0">
                    <a:solidFill>
                      <a:srgbClr val="52616B"/>
                    </a:solidFill>
                    <a:latin typeface="+mn-lt"/>
                    <a:ea typeface="+mn-ea"/>
                    <a:cs typeface="+mn-cs"/>
                  </a:rPr>
                  <a:t>komutlarını yönetir;</a:t>
                </a:r>
                <a:br/>
                <a:r>
                  <a:rPr lang="tr-TR" sz="1200" dirty="0">
                    <a:solidFill>
                      <a:srgbClr val="52616B"/>
                    </a:solidFill>
                    <a:latin typeface="+mn-lt"/>
                    <a:ea typeface="+mn-ea"/>
                    <a:cs typeface="+mn-cs"/>
                  </a:rPr>
                  <a:t>package.json kimliği,</a:t>
                </a:r>
                <a:br/>
                <a:r>
                  <a:rPr lang="tr-TR" sz="1200" dirty="0">
                    <a:solidFill>
                      <a:srgbClr val="52616B"/>
                    </a:solidFill>
                    <a:latin typeface="+mn-lt"/>
                    <a:ea typeface="+mn-ea"/>
                    <a:cs typeface="+mn-cs"/>
                  </a:rPr>
                  <a:t>bağımlılıkları ve</a:t>
                </a:r>
                <a:br/>
                <a:r>
                  <a:rPr lang="tr-TR" sz="1200" dirty="0">
                    <a:solidFill>
                      <a:srgbClr val="52616B"/>
                    </a:solidFill>
                    <a:latin typeface="+mn-lt"/>
                    <a:ea typeface="+mn-ea"/>
                    <a:cs typeface="+mn-cs"/>
                  </a:rPr>
                  <a:t>script'leri tanımlar;</a:t>
                </a:r>
                <a:br/>
                <a:r>
                  <a:rPr lang="tr-TR" sz="1200" dirty="0">
                    <a:solidFill>
                      <a:srgbClr val="52616B"/>
                    </a:solidFill>
                    <a:latin typeface="+mn-lt"/>
                    <a:ea typeface="+mn-ea"/>
                    <a:cs typeface="+mn-cs"/>
                  </a:rPr>
                  <a:t>kilit dosyası kurulumu</a:t>
                </a:r>
                <a:br/>
                <a:r>
                  <a:rPr lang="tr-TR" sz="1200" dirty="0">
                    <a:solidFill>
                      <a:srgbClr val="52616B"/>
                    </a:solidFill>
                    <a:latin typeface="+mn-lt"/>
                    <a:ea typeface="+mn-ea"/>
                    <a:cs typeface="+mn-cs"/>
                  </a:rPr>
                  <a:t>tutarlı kılar.</a:t>
                </a:r>
              </a:p>
            </p:txBody>
          </p:sp>
        </p:grpSp>
        <p:grpSp>
          <p:nvGrpSpPr>
            <p:cNvPr id="26" name="ozet-process"/>
            <p:cNvGrpSpPr/>
            <p:nvPr/>
          </p:nvGrpSpPr>
          <p:grpSpPr>
            <a:xfrm>
              <a:off x="9010650" y="1485900"/>
              <a:ext cx="2571750" cy="2324100"/>
              <a:chOff x="9010650" y="1485900"/>
              <a:chExt cx="2571750" cy="2324100"/>
            </a:xfrm>
          </p:grpSpPr>
          <p:sp>
            <p:nvSpPr>
              <p:cNvPr id="22" name="Rectangle 22"/>
              <p:cNvSpPr/>
              <p:nvPr/>
            </p:nvSpPr>
            <p:spPr>
              <a:xfrm>
                <a:off x="9010650" y="1485900"/>
                <a:ext cx="2571750" cy="2324100"/>
              </a:xfrm>
              <a:prstGeom prst="rect">
                <a:avLst/>
              </a:prstGeom>
              <a:solidFill>
                <a:srgbClr val="FFFFFF"/>
              </a:solidFill>
              <a:ln w="9525">
                <a:solidFill>
                  <a:srgbClr val="B8CBD3"/>
                </a:solidFill>
              </a:ln>
            </p:spPr>
          </p:sp>
          <p:sp>
            <p:nvSpPr>
              <p:cNvPr id="23" name="Rectangle 23"/>
              <p:cNvSpPr/>
              <p:nvPr/>
            </p:nvSpPr>
            <p:spPr>
              <a:xfrm>
                <a:off x="9010650" y="1485900"/>
                <a:ext cx="2571750" cy="38100"/>
              </a:xfrm>
              <a:prstGeom prst="rect">
                <a:avLst/>
              </a:prstGeom>
              <a:solidFill>
                <a:srgbClr val="52616B"/>
              </a:solidFill>
              <a:ln>
                <a:noFill/>
              </a:ln>
            </p:spPr>
          </p:sp>
          <p:sp>
            <p:nvSpPr>
              <p:cNvPr id="24" name="TextBox 24"/>
              <p:cNvSpPr txBox="1"/>
              <p:nvPr/>
            </p:nvSpPr>
            <p:spPr>
              <a:xfrm>
                <a:off x="9250299" y="1696879"/>
                <a:ext cx="224934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process · env · http</a:t>
                </a:r>
              </a:p>
            </p:txBody>
          </p:sp>
          <p:sp>
            <p:nvSpPr>
              <p:cNvPr id="25" name="TextBox 25"/>
              <p:cNvSpPr txBox="1"/>
              <p:nvPr/>
            </p:nvSpPr>
            <p:spPr>
              <a:xfrm>
                <a:off x="9252204" y="2042160"/>
                <a:ext cx="1909572" cy="14919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process süreç bilgisi</a:t>
                </a:r>
                <a:br/>
                <a:r>
                  <a:rPr lang="tr-TR" sz="1200" dirty="0">
                    <a:solidFill>
                      <a:srgbClr val="52616B"/>
                    </a:solidFill>
                    <a:latin typeface="+mn-lt"/>
                    <a:ea typeface="+mn-ea"/>
                    <a:cs typeface="+mn-cs"/>
                  </a:rPr>
                  <a:t>verir; ortam değişkenleri</a:t>
                </a:r>
                <a:br/>
                <a:r>
                  <a:rPr lang="tr-TR" sz="1200" dirty="0">
                    <a:solidFill>
                      <a:srgbClr val="52616B"/>
                    </a:solidFill>
                    <a:latin typeface="+mn-lt"/>
                    <a:ea typeface="+mn-ea"/>
                    <a:cs typeface="+mn-cs"/>
                  </a:rPr>
                  <a:t>metin geldiği için</a:t>
                </a:r>
                <a:br/>
                <a:r>
                  <a:rPr lang="tr-TR" sz="1200" dirty="0">
                    <a:solidFill>
                      <a:srgbClr val="52616B"/>
                    </a:solidFill>
                    <a:latin typeface="+mn-lt"/>
                    <a:ea typeface="+mn-ea"/>
                    <a:cs typeface="+mn-cs"/>
                  </a:rPr>
                  <a:t>doğrulanmalıdır.</a:t>
                </a:r>
                <a:br/>
                <a:r>
                  <a:rPr lang="tr-TR" sz="1200" dirty="0">
                    <a:solidFill>
                      <a:srgbClr val="52616B"/>
                    </a:solidFill>
                    <a:latin typeface="+mn-lt"/>
                    <a:ea typeface="+mn-ea"/>
                    <a:cs typeface="+mn-cs"/>
                  </a:rPr>
                  <a:t>node:http ile yol, durum</a:t>
                </a:r>
                <a:br/>
                <a:r>
                  <a:rPr lang="tr-TR" sz="1200" dirty="0">
                    <a:solidFill>
                      <a:srgbClr val="52616B"/>
                    </a:solidFill>
                    <a:latin typeface="+mn-lt"/>
                    <a:ea typeface="+mn-ea"/>
                    <a:cs typeface="+mn-cs"/>
                  </a:rPr>
                  <a:t>kodu ve JSON yanıtı</a:t>
                </a:r>
                <a:br/>
                <a:r>
                  <a:rPr lang="tr-TR" sz="1200" dirty="0">
                    <a:solidFill>
                      <a:srgbClr val="52616B"/>
                    </a:solidFill>
                    <a:latin typeface="+mn-lt"/>
                    <a:ea typeface="+mn-ea"/>
                    <a:cs typeface="+mn-cs"/>
                  </a:rPr>
                  <a:t>uygulandı.</a:t>
                </a:r>
              </a:p>
            </p:txBody>
          </p:sp>
        </p:grpSp>
      </p:grpSp>
      <p:grpSp>
        <p:nvGrpSpPr>
          <p:cNvPr id="32" name="kapanis-mesaji"/>
          <p:cNvGrpSpPr/>
          <p:nvPr/>
        </p:nvGrpSpPr>
        <p:grpSpPr>
          <a:xfrm>
            <a:off x="609600" y="4095750"/>
            <a:ext cx="10972800" cy="914400"/>
            <a:chOff x="609600" y="4095750"/>
            <a:chExt cx="10972800" cy="914400"/>
          </a:xfrm>
        </p:grpSpPr>
        <p:sp>
          <p:nvSpPr>
            <p:cNvPr id="28" name="Rectangle 28"/>
            <p:cNvSpPr/>
            <p:nvPr/>
          </p:nvSpPr>
          <p:spPr>
            <a:xfrm>
              <a:off x="609600" y="4095750"/>
              <a:ext cx="10972800" cy="914400"/>
            </a:xfrm>
            <a:prstGeom prst="rect">
              <a:avLst/>
            </a:prstGeom>
            <a:solidFill>
              <a:srgbClr val="EAF4F6"/>
            </a:solidFill>
            <a:ln>
              <a:noFill/>
            </a:ln>
          </p:spPr>
        </p:sp>
        <p:sp>
          <p:nvSpPr>
            <p:cNvPr id="29" name="Rectangle 29"/>
            <p:cNvSpPr/>
            <p:nvPr/>
          </p:nvSpPr>
          <p:spPr>
            <a:xfrm>
              <a:off x="609600" y="4095750"/>
              <a:ext cx="10972800" cy="38100"/>
            </a:xfrm>
            <a:prstGeom prst="rect">
              <a:avLst/>
            </a:prstGeom>
            <a:gradFill>
              <a:gsLst>
                <a:gs pos="0">
                  <a:srgbClr val="00A6A6"/>
                </a:gs>
                <a:gs pos="100000">
                  <a:srgbClr val="2E86AB"/>
                </a:gs>
              </a:gsLst>
              <a:lin ang="0" scaled="1"/>
            </a:gradFill>
            <a:ln>
              <a:noFill/>
            </a:ln>
          </p:spPr>
        </p:sp>
        <p:sp>
          <p:nvSpPr>
            <p:cNvPr id="30" name="TextBox 30"/>
            <p:cNvSpPr txBox="1"/>
            <p:nvPr/>
          </p:nvSpPr>
          <p:spPr>
            <a:xfrm>
              <a:off x="905256" y="4301490"/>
              <a:ext cx="84862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Araçları ezberlemek yerine her birinin çözdüğü problemi hatırlayın.</a:t>
              </a:r>
            </a:p>
          </p:txBody>
        </p:sp>
        <p:sp>
          <p:nvSpPr>
            <p:cNvPr id="31" name="TextBox 31"/>
            <p:cNvSpPr txBox="1"/>
            <p:nvPr/>
          </p:nvSpPr>
          <p:spPr>
            <a:xfrm>
              <a:off x="906399" y="4630579"/>
              <a:ext cx="1020097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Runtime çalıştırır · event loop beklemeyi yönetir · npm düzenler · ortam değişkeni yapılandırır.</a:t>
              </a:r>
            </a:p>
          </p:txBody>
        </p:sp>
      </p:grpSp>
      <p:grpSp>
        <p:nvGrpSpPr>
          <p:cNvPr id="37" name="kopru"/>
          <p:cNvGrpSpPr/>
          <p:nvPr/>
        </p:nvGrpSpPr>
        <p:grpSpPr>
          <a:xfrm>
            <a:off x="603504" y="5433060"/>
            <a:ext cx="9803381" cy="839058"/>
            <a:chOff x="603504" y="5433060"/>
            <a:chExt cx="9803381" cy="839058"/>
          </a:xfrm>
        </p:grpSpPr>
        <p:sp>
          <p:nvSpPr>
            <p:cNvPr id="33" name="TextBox 33"/>
            <p:cNvSpPr txBox="1"/>
            <p:nvPr/>
          </p:nvSpPr>
          <p:spPr>
            <a:xfrm>
              <a:off x="603504" y="5433060"/>
              <a:ext cx="125821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SONRAKİ BÖLÜM</a:t>
              </a:r>
            </a:p>
          </p:txBody>
        </p:sp>
        <p:sp>
          <p:nvSpPr>
            <p:cNvPr id="34" name="Line 34"/>
            <p:cNvSpPr/>
            <p:nvPr/>
          </p:nvSpPr>
          <p:spPr>
            <a:xfrm>
              <a:off x="609600" y="5715000"/>
              <a:ext cx="1104900" cy="1"/>
            </a:xfrm>
            <a:prstGeom prst="line">
              <a:avLst/>
            </a:prstGeom>
            <a:noFill/>
            <a:ln w="19050">
              <a:solidFill>
                <a:srgbClr val="2E86AB"/>
              </a:solidFill>
              <a:tailEnd type="triangle" w="lg" len="lg"/>
            </a:ln>
          </p:spPr>
        </p:sp>
        <p:sp>
          <p:nvSpPr>
            <p:cNvPr id="35" name="TextBox 35"/>
            <p:cNvSpPr txBox="1"/>
            <p:nvPr/>
          </p:nvSpPr>
          <p:spPr>
            <a:xfrm>
              <a:off x="1895856" y="5596890"/>
              <a:ext cx="759620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Rotalar, istek doğrulama, hata yönetimi ve modüllere ayırma</a:t>
              </a:r>
            </a:p>
          </p:txBody>
        </p:sp>
        <p:sp>
          <p:nvSpPr>
            <p:cNvPr id="36" name="TextBox 36"/>
            <p:cNvSpPr txBox="1"/>
            <p:nvPr/>
          </p:nvSpPr>
          <p:spPr>
            <a:xfrm>
              <a:off x="1896999" y="5964079"/>
              <a:ext cx="850988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Aynı istek-yanıt döngüsü, daha düzenli ve gerçekçi uygulama yapılarına dönüşür.</a:t>
              </a:r>
            </a:p>
          </p:txBody>
        </p:sp>
      </p:grpSp>
      <p:grpSp>
        <p:nvGrpSpPr>
          <p:cNvPr id="40" name="footer"/>
          <p:cNvGrpSpPr/>
          <p:nvPr/>
        </p:nvGrpSpPr>
        <p:grpSpPr>
          <a:xfrm>
            <a:off x="603504" y="6461760"/>
            <a:ext cx="10984992" cy="234696"/>
            <a:chOff x="603504" y="6461760"/>
            <a:chExt cx="10984992" cy="234696"/>
          </a:xfrm>
        </p:grpSpPr>
        <p:sp>
          <p:nvSpPr>
            <p:cNvPr id="38" name="TextBox 38"/>
            <p:cNvSpPr txBox="1"/>
            <p:nvPr/>
          </p:nvSpPr>
          <p:spPr>
            <a:xfrm>
              <a:off x="603504" y="6461760"/>
              <a:ext cx="41600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Node.js Runtime, npm ve Sunucu Tarafı Programlama</a:t>
              </a:r>
            </a:p>
          </p:txBody>
        </p:sp>
        <p:sp>
          <p:nvSpPr>
            <p:cNvPr id="39" name="TextBox 39"/>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4-nodejs-runtime-20260915">
  <a:themeElements>
    <a:clrScheme name="b04-nodejs-runtime-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4-nodejs-runtime-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4-nodejs-runtime-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4-nodejs-runtime-20260915">
  <a:themeElements>
    <a:clrScheme name="b04-nodejs-runtime-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4-nodejs-runtime-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4-nodejs-runtime-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2026-09-19T21:21:57Z</dcterms:created>
  <dcterms:modified xsi:type="dcterms:W3CDTF">2026-09-19T21:21:57Z</dcterms:modified>
  <cp:category/>
  <cp:contentStatus/>
</cp:coreProperties>
</file>