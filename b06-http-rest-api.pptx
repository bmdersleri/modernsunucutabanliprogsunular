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  <Relationship Id="rId3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ders programının altıncı bölümü olan "HTTP ve RESTful API Tasarımı"nı açıyor ve modern sunucu tabanlı programlamanın kaynak odaklı iletişim katmanını ele alıyor. Önceki bölümlerde TypeScript'in tip sistemiyle kurulan güvence, bu bölümde dış dünyaya, yani istemci ile sunucu arasındaki HTTP protokolüne taşınıyor. Bölüm boyunca kaynakları doğru adlandırmak, HTTP metotlarını ve durum kodlarını doğru seçmek, JSON yanıt sözleşmesi kurmak ve sayfalama ile filtreleme uygulamak aynı örnek — bir laboratuvar ekipman rezervasyon sistemi — üzerinde birleştirilecek.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öğrencilerin zihninde beş temel soruyu konumlandırarak başlıyor: kaynakların nasıl adlandırılacağı, hangi HTTP metodunun hangi işleme karşılık geldiği, durum kodlarının ne anlattığı, büyük listelerin nasıl yönetileceği ve yaygın hataların neler olduğu. Bu sorular, bölümün ilerleyen sayfalarında sırasıyla teori, kod örneği ve yaygın hata üçlüsü şeklinde işlenecek. Sayfadaki kavram etiketleri — kaynak, metot, durum kodu, sözleşme — bölümün kelime dağarcığını önceden tanıtarak sonraki sayfalarda bu terimlerin tekrar tekrar karşılaşılacağını işaret ediyor. Bölüm hedefi net: öğrenci, bir REST API'nin isteği nasıl karşılayıp hangi durum koduyla yanıt vereceğini öngörebilmelidir.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beş öğrenme hedefi, bölüm sonundaki değerlendirme rubriğiyle doğrudan eşleşiyor; her hedefin yanındaki ölçüt, öğrencinin kendi kendine sınanabileceği somut bir davranışı tanımlıyor. Hedefler sırasıyla kaynak adlandırma kurallarına uyma, CRUD işlemlerini doğru HTTP metoduna eşleme, durum kodu ve JSON gövdesini tutarlı kurma, sayfalama/filtreleme mantığını uygulama ve yaygın hataları tanıyıp düzeltme becerisini kapsıyor. Bu hedefler, bölümün laboratuvar çalışmasında yazılacak LaboratuvarApi sınıfının değerlendirileceği kriterlerin doğrudan kaynağıdır; dolayısıyla öğrenci bu sayfayı bir kontrol listesi gibi kullanabilir.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"kaynak tasarımı" kararının bölümün geri kalan her kararının kökeninde durduğunu gösteriyor: CRUD işlemlerinin HTTP metoduna eşlenmesi, durum kodu üretimi ve JSON yanıt şablonu, hepsi kaynak tasarımından doğrudan türüyor. Katı çizgiler bu doğrudan türeyen ilişkileri, kesikli çizgiler ise sözleşmeye yakınsayan, yani daha dolaylı etkileşen ilişkileri temsil ediyor — örneğin listeleme uç noktaları hem kaynak tasarımına hem sayfalama/filtre kararına bağlıdır. Haritanın en altındaki geniş "API sözleşmesi" kutusu, durum kodu, JSON şablonu ve sayfalama kararlarının aslında tek bir sözleşmede birleştiğini vurguluyor; bu, bölümün örtük tezidir: dağınık kararlar değil, tutarlı bir sözleşme tasarlanmalıdır.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bölümde geçen yedi temel kavramı — kaynak, HTTP metodu, durum kodu, JSON sözleşmesi, sayfalama, filtreleme ve API sözleşmesi — her birinin üstlendiği asıl görev ve o görev yerine getirilmezse ortaya çıkacak sınır ihlaliyle birlikte özetliyor. Amaç, öğrencinin her kavramı izole bir kural değil, birbirine bağımlı bir sorumluluk zinciri olarak görmesini sağlamak; örneğin durum kodu yanlış seçilirse JSON sözleşmesi ne kadar tutarlı olursa olsun istemci yine de yanlış davranış sergileyecektir. Bu matris, bölümün ilerleyen sayfalarında her kavramın ayrı ayrı derinlemesine işleneceğinin bir ön haritasıdır.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REST, kaynakları URL'ler ve standart HTTP davranışları üzerinden yöneten bir mimari yaklaşımdır; kaynak, uygulamada kimliği olan ve hakkında işlem yapılabilen bir varlıktır — ekipman, öğrenci veya rezervasyon gibi. Sayfa, Roy Fielding'in 2000 yılındaki doktora tezinde tanımladığı altı mimari kısıtı listeliyor: istemci-sunucu ayrımı, durumsuzluk, önbelleklenebilirlik, katmanlı sistem, isteğe bağlı kod-üzerine-talep ve en önemlisi tek biçimli arayüz. Tek biçimli arayüz kısıtı vurgulanıyor çünkü bu bölümün pratik odağı tam olarak kaynakların tanımlanması ve adlandırılmasıdır; diğer beş kısıt daha çok mimari arka plandır. REST'in var olma nedeni, farklı istemcilerin (tarayıcı, mobil, masaüstü) aynı sunucuyla ortak kurallara göre iletişim kurabilmesidir; bu olmadan her proje kendi fiillerini uydurur — /cihazGetir, /rezervasyon_ekle, /silCihaz gibi — ve bu da öğrenmeyi ve bakımı zorlaştırır. Kütüphane benzetmesi bunu somutlaştırır: "kitabı listele" için kataloğa gidilir, ayrı bir kapı aranmaz; /kitaplar kaynaktır, POST ise niyeti bildirir.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Kaynak adlandırmada üç kural öne çıkıyor: URI'ler çoğul ve küçük harfle, kelimeler arasında tire ile yazılır (örneğin /api/ekipmanlar, /api/ekipman değil); yol asla fiil içermez, eylem HTTP metoduyla ifade edilir; ve iç içe kaynaklar sahiplik hiyerarşisini yansıtır (örneğin bir öğrencinin rezervasyonları /api/ogrenciler/{id}/rezervasyonlar şeklinde ifade edilebilir). Sağdaki KOD 6.1 örneği, koleksiyonYolu ve tekilYol adlı iki yardımcı fonksiyonun bu kuralları kod düzeyinde nasıl garanti altına aldığını gösteriyor: kaynağın adı ve kimliği ayrı parametreler olarak alınır, böylece yol string'i elle yazılırken oluşabilecek tutarsızlıklar (tekil/çoğul karışıklığı, fiil sızması) önlenir. Bu fonksiyonların amacı, projede onlarca endpoint tanımlanırken adlandırma kuralının merkezi bir noktadan zorunlu kılınmasıdır; "ne zaman kullanılır" sorusunun cevabı, her yeni kaynak eklendiğinde bu yardımcı fonksiyonların çağrılmasıdır, elle yol string'i yazılmamalıdır.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Sistemdeki üç ana kaynak — ekipmanlar, öğrenciler ve rezervasyonlar — kendi koleksiyon ve tekil uç noktalarıyla temsil ediliyor; rezervasyonlar kaynağı vurgulanmış çünkü onay ve iptal gibi ek durum geçişleri barındırıyor. Kapalılık ilkesi, her okun istemcinin tahmin edebileceği bir endpoint'e karşılık gelmesi gerektiğini, yani API yüzeyinde "gizli" veya belgelenmemiş bir yol bulunmaması gerektiğini vurguluyor. Sayfanın alt kısmı, yol parametresi ile sorgu parametresi arasındaki kritik ayrımı işliyor: yol parametresi (/api/ekipmanlar/12) kaynağı tekilleştiren bilgidir ve önbellek anahtarının kendisidir, sorgu parametresi (?durum=musait) ise görünümü biçimlendiren bilgidir ve önbellek anahtarının bir varyantını üretir. Bu ayrım aynı zamanda GET'in safe ve idempotent olduğunu, PUT ve DELETE'in idempotent ama safe olmadığını, POST'un ise ne safe ne idempotent olduğunu hatırlatıyor; karıştırılırsa önbellekleme davranışı bozulur.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CRUD, Create, Read, Update, Delete işlemlerinin kısaltmasıdır ve genel eşleşme şöyledir: POST oluşturma, GET okuma, PATCH/PUT güncelleme, DELETE silme yapar — tıpkı bir restoranda garsonun söylediği fiilin mutfağın yapacağı işlemi belirlemesi gibi. RFC 9110 (IETF, 2022), HTTP/1.1'in resmî semantiğini tanımlar ve metotları iki eksende sınıflandırır: safe (sunucu durumunu değiştirmez) ve idempotent (tekrar tekrar çağrıldığında aynı sonucu üretir). GET hem safe hem idempotenttir; PUT ve DELETE idempotenttir ama safe değildir, yani durum değiştirirler fakat tekrarı aynı sonucu verir; POST ise ne safe ne idempotenttir, her çağrı yeni bir kaynak oluşturabilir. PATCH için ayrıca RFC 5789 (IETF, 2014) geçerlidir. Bu ayrımın pratik önemi büyüktür: DELETE /api/ekipmanlar/12 isteği ağ hatası nedeniyle tekrar gönderilse bile hedef zaten silinmiş kalır, yani idempotentlik sayesinde tekrar deneme güvenlidir; buna karşın silme işlemini GET ile yapmak tehlikelidir çünkü tarayıcı önbellekleri, ön yükleme bağlantıları ve botlar istenmeyen şekilde bu isteği tetikleyebilir.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Tablo, beş HTTP metodunun tipik işlevini, güçlü yanını ve taşıdığı riski karşılaştırıyor: GET listeleme ve görüntüleme için güvenlidir ama yanlış kullanılırsa yan etki riski taşır; POST yeni kaynak oluşturur, esnektir ama yanlışlıkla tekrar gönderilirse yinelenen kayıt riski doğurur; PATCH kısmi güncelleme yapar, verimlidir ama hangi alanların değiştiğini netleştirmezse belirsizlik yaratır; PUT tüm kaynağı değiştirir, öngörülebilirdir ama eksik alan gönderilirse veri kaybına yol açabilir; DELETE kaynağı kaldırır, idempotenttir ama geri alınamaz olduğu için dikkatli tasarlanmalıdır. Alttaki koyu not, bu tablonun KOD 6.2'deki fonksiyon eşlemesiyle birebir örtüştüğünü, yani teorik tablo ile kodun aynı kararları yansıttığını hatırlatıyor.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Durum kodları beş sınıfa ayrılır: 1xx bilgilendirme, 2xx başarı (200, 201, 204 gibi), 3xx yönlendirme, 4xx istemci hatası (400, 404 gibi) ve 5xx sunucu hatası (500 gibi); bu bölümde en sık kullanılan sınıflar 2xx ve 4xx'tir. Katmanlı hata bildirim modeli, durum kodunun protokol seviyesinde makine tarafından (proxy, önbellek, izleme araçları) anlaşılabilir bir sinyal olduğunu, JSON gövdesinin ise uygulama seviyesinde istemci tarafından yorumlanacak ayrıntıyı taşıdığını ayırt ediyor. Buradaki kritik kural şudur: yanıt gövdesinde "işlem tamamlandı" yazsa bile durum kodu 500 dönüyorsa istemci bunu başarı saymamalıdır — yalnızca metne değil, koda bakılmalıdır. JSON gövdesi tarafında 201 yeni kaynak oluşturulduğunu, 204 silme işleminin başarılı olduğunu ve gövde olmadığını, 404 kaynağın bulunamadığını, 400 ise istemcinin geçersiz veri gönderdiğini bildirir.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Sol taraftaki kod kartı, TypeScript'te BasariliYanit&lt;T&gt; ve HataliYanit adlı iki ayrık union tipini tanımlıyor; bu, Bölüm 5'te işlenen ayrık union kavramının API sözleşmesine uygulanmış hâlidir ve istemcinin yanıtın başarılı mı hatalı mı olduğunu tip güvenli biçimde ayırt etmesini sağlar. Dikkat callout'u, bu iki tipin projede her endpoint için tutarlı biçimde kullanılması gerektiğini, aksi hâlde istemci tarafında hata yönetiminin öngörülemez hâle geleceğini vurguluyor. Sağdaki tablo, altı farklı senaryoda (başarılı oluşturma, başarılı listeleme, bulunamayan kaynak, geçersiz girdi, sunucu hatası, başarılı silme) hangi durum kodunun ve hangi yanıt tipinin kullanılacağını somutlaştırıyor. Alt kısımdaki not, bu sözleşmenin TypeScript'in strict mode'u (Bölüm 5) ile birlikte çalıştığını, yani yanıt tipinin yanlış kullanılması hâlinde derleme zamanında hata alınacağını hatırlatıyor.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Sekans diyagramı, istemci, rota katmanı ve servis katmanı arasındaki isteği iki senaryo üzerinden gösteriyor. Birinci senaryoda istemci bir kaynağı ister, rota katmanı isteği servis katmanına iletir, servis katmanı kaynağı bulur ve 200 OK ile geri döner — katı çizgiler isteği, kesikli çizgiler yanıtı temsil eder. İkinci senaryoda servis katmanı kaynağı bulamaz, null döner ve rota katmanı bunu 404'e çevirir; buradaki kritik mimari nokta, "bulunamadı" kararının servis katmanında verilip rota katmanında HTTP durum koduna çevrilmesidir — servis katmanı HTTP'den habersiz kalmalıdır, böylece aynı servis fonksiyonu ileride farklı bir protokol (örneğin CLI) tarafından da yeniden kullanılabilir. Bu katman ayrımı, Bölüm 7'de PostgreSQL'e geçildiğinde de korunacak; yalnızca servis katmanının içindeki veri kaynağı değişecek, rota katmanı ve HTTP sözleşmesi aynı kalacaktır.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yaygın hata sıralanıyor. Birincisi, kaynak bulunamadığında 200 OK dönüp gövdede "bulunamadı" yazmaktır; bu, istemci kütüphanelerinin (Axios, Fetch) başarı tespitini durum koduna göre yapması nedeniyle hatanın başarı sanılmasına yol açar. İkincisi, her hatayı ayrım gözetmeksizin 500 ile dönmektir; bu, istemci hatası (400/404) ile sunucu hatası (500) arasındaki anlamı kaybettirir ve istemcinin kendi hatasını düzeltme fırsatını ortadan kaldırır. Üçüncüsü, farklı endpoint'lerde aynı bilgi için farklı JSON alan adları kullanmaktır (örneğin bir yerde "hata", başka yerde "mesaj"); bu tutarsızlık istemci tarafında ayrı ayrı işleme mantığı gerektirir. Sınav notu, bu üç hatanın sınavlarda "bu kod parçası neden yanlış çalışıyor" tarzı sorularda sıkça karşılaşılan senaryolar olduğunu hatırlatıyor.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Pagination, büyük koleksiyonları küçük ve kontrollü parçalar hâlinde sunarken filtreleme yalnızca ihtiyaç duyulan kayıtları seçer; örnek istek /api/ekipmanlar?sayfa=2&amp;sayfaBoyutu=10&amp;durum=musait&amp;arama=mikro şeklindedir. Offset pagination, bu bölümde kullanılan sayfa/sayfaBoyutu yaklaşımıdır ve doğrudan SQL'in OFFSET/LIMIT yan tümcelerine dayanır; kullanıcı için anlaşılırdır ("sayfa 8'e git" denebilir) ama büyük sayfa numaralarında veritabanı atlanan tüm satırları taramak zorunda kalır, bu yüzden performans doğrusal olarak bozulur — bölümde öğrencilere açıklanabilirliği yüksek olduğu için tercih edilir. Keyset (cursor) pagination ise sayfa numarası yerine önceki sayfanın son kaydının anahtar değerini gönderir, böylece veritabanı doğrudan indeks üzerinden ilerler; Facebook ve Twitter/X gibi büyük ölçekli, sürekli değişen akışlarda tercih edilir ama kullanıcı doğrudan "sayfa 8"e atlayamaz ve kararlı bir sıralama gerektirir. Bu karşılaştırma, öğrencinin ileride farklı ölçekteki sistemlerde hangi yaklaşımı seçeceğine dair bir karar çerçevesi sunuyor.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6.4, ekipmanlariSayfala fonksiyonunun filtreleme ve sayfalama mantığını birlikte nasıl uyguladığını gösteriyor: önce koleksiyon arama ve durum kriterlerine göre filtrelenir, sonra (sayfa - 1) * sayfaBoyutu formülüyle başlangıç indeksi hesaplanır ve slice ile o dilim alınır; son olarak veri, sayfa, sayfaBoyutu, toplamKayit ve toplamSayfa alanlarını içeren bir metadata nesnesiyle birlikte döner. Dikkat callout'u kritik bir sıralama kuralını vurguluyor: filtreleme sayfalamadan önce uygulanmalıdır, aksi hâlde toplamKayit ve toplamSayfa değerleri filtrelenmemiş tüm koleksiyona göre yanlış hesaplanır — bu, kodun doğru çalışıyormuş gibi görünüp yanlış sonuç ürettiği sinsi hatalardan biridir. Sağdaki metadata panelinde sayfa ve sayfaBoyutu alanlarının istemcinin hangi dilimde olduğunu bildirdiği, toplamKayit ve toplamSayfa alanlarının ise "sonraki sayfa var mı?" sorusunu yanıtlayarak arayüzdeki ileri/geri düğmesini etkin veya pasif yapmakta kullanıldığı açıklanıyor. Örnek çağrı, "mikro" araması ve "musait" durum filtresiyle iki eşleşen kaydın (Mikroskop, Mikropipet) tek sayfada döndüğünü somutlaştırıyor.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yaygın sayfalama hatası ele alınıyor. Birincisi, sayfa numarasının sözleşmede açıkça belirtilmeden sıfırdan mı yoksa birden mi başladığının belirsiz bırakılmasıdır; sözleşme birden başlayan sayfa numarası tanımlıyorsa baslangicIndeksi = (sayfa - 1) * sayfaBoyutu formülüyle sayfa=1 için başlangıç indeksi doğru şekilde 0 çıkar, ama bu varsayım belgelenmezse istemci sayfa=1 gönderdiğinde aslında ikinci sayfayı görebilir. İkincisi, sayfaBoyutu parametresi için üst sınır konmamasıdır; istemci sayfaBoyutu=1000000 gibi aşırı bir değer gönderirse sunucu performansı ciddi şekilde bozulabilir, bu yüzden belgelenmiş bir üst sınır (örneğin en fazla 100) zorunlu kılınmalıdır. Üçüncüsü, filtre sonucunda hiç kayıt bulunamadığında 404 dönmektir; oysa koleksiyon kaynağının kendisi vardır, yalnızca eşleşen kayıt yoktur — 404 yalnızca var olmayan tekil bir kaynak için kullanılmalı, boş filtre sonucu için 200 ve boş dizi döndürülmelidir. API sözleşmesi notu, sunucu sayfaBoyutu beklerken istemci limit gibi farklı bir parametre adı gönderirse sistemin teknik olarak çalışan ama yanlış sonuç üreten bir duruma düşeceğini hatırlatıyor.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kavram yanılgısı ele alınıyor. Birincisi, tüm işlemleri POST ile yapıp URL'ye fiil yazmanın (/ekipmanSil gibi) RESTful olduğu yanılgısıdır; bu aslında REST değil RPC modelidir, çünkü REST kaynak odaklıdır — kaynağın adı isim soylu olmalı (/api/ekipmanlar) ve eylem HTTP metoduyla (DELETE/PUT/PATCH) ifade edilmelidir. İkincisi, hata durumunda dahi gövdede {basarili:false} yazıp 200 OK dönmenin doğru olduğu yanılgısıdır; oysa tarayıcılar, önbellek vekilleri ve istemci kütüphaneleri (Axios/Fetch) başarıyı durum koduna göre anlar, 200 dönülürse hata yanıtı başarılı sanılıp yanlışlıkla önbelleğe alınabilir — hatalarda semantik durum kodları (400, 401, 404, 409) kullanılmalıdır; 401/403 ayrımı Bölüm 10'da ayrıca işlenecek. Üçüncüsü, tüm kayıtları tek bir GET isteğinde sınırsız döndürmekte sakınca olmadığı yanılgısıdır; 50.000 kayıt olduğunda tüm veriyi belleğe yükleyip devasa bir JSON üretmek sunucuda bellek taşması (OOM) çökmesine ve ağ tıkanmasına yol açar, bu yüzden listeleme uç noktalarında varsayılan limit ve zorunlu sayfalama uygulanmalıdır.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alıştırmada incelenen hatalı satır, if (ekipman.durum = "rezerve") { return { durumKodu: 200, ... }; } şeklindedir ve içinde beş farklı hata iç içe geçmiştir: karşılaştırma operatörü (===) yerine atama operatörü (=) kullanılmıştır, kontrol edilmesi gereken "müsaitlik" durumu değil yanlışlıkla "rezerve" durumu kontrol edilmiştir, fonksiyonun dönüş tipi string olarak bildirilmişken aslında bir nesne döndürülmüştür, yeni bir kaynak oluşturulduğu hâlde 201 yerine 200 durum kodu kullanılmıştır ve "kaynak bulunamadı" ile "kaynak uygun değil" durumları birbirine karıştırılmıştır. Karar izleme tablosu, doğru akışın nasıl olması gerektiğini dört adımda gösteriyor: önce !ekipman kontrolüyle erken çıkış yapılıp 404 dönülür, sonra durum !== "musait" kontrolüyle iş kuralı ihlali 400 olarak bildirilir, ardından yalnızca tüm kontroller geçtikten sonra ekipman.durum = "rezerve" ataması yapılır ve son olarak yeni rezervasyon kaydı doğru şekilde 201 Created ile döner. Laboratuvar tartışmasında ayrıca ekipman parametresinin undefined gelebileceği, bu yüzden ekipman: Ekipman | undefined şeklinde tiplenip !ekipman durumunda 404, uygunsuzluk durumunda ise 400 veya 409 dönülmesi gerektiği tartışılıyor — bu, hata ayıklarken önce HTTP anlamının, sonra TypeScript türünün, en son iş mantığının kontrol edilmesi gerektiğini gösteren bir örnek.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API kalitesini bozan üç kaynak tanımlanıyor: yanlış durum kodu istemcinin hata veya başarıyı yanlış yorumlamasına, önbellek ve günlük kayıtlarının bozulmasına yol açar; sızdıran hata gövdesi, stack trace, sorgu metni veya iç yol bilgisi gibi ayrıntıları istemciye döndürerek saldırgana sistem hakkında bir harita verir; doğrulanmamış girdi ise gövde veya parametrelerin tür ve sınır kontrolünden geçmeden işlenmesi sonucu beklenmeyen durum kodlarına yol açar. İki güvenlik ilkesi vurgulanıyor: hata mesajları kimlik bilgisi varlığına dair ipucu vermemeli — "e-posta yok" ile "şifre yanlış" mesajları ayırt edilmemeli, aksi hâlde saldırgan kayıtlı hesapları listeleyebilir; ayrıca liste ve toplu uç noktalarında dönebilecek azami kayıt sayısı sabitlenmelidir, bu ilke sayfaBoyutu üst sınırıyla doğrudan bağlantılıdır. Günlükleme disiplini üç seviyeyi ayırt ediyor: başarılı işlemler info, istemci hataları (4xx) warn, sunucu hataları (5xx) ise error seviyesinde ve stack trace ile birlikte kaydedilmelidir; her log satırının bir hataKodu taşıması, istemciye dönen yanıt ile sunucu günlüğündeki kaydın aynı olayı tekilleştirilmiş bir kimlikle eşleştirmesini sağlar. OWASP API Security Top 10 listesi, hatalı yetkilendirme, aşırı veri ifşası ve hız sınırlama eksikliğini en üst sıralarda sayar; bu konuların ayrıntılı kontrol listesi ileride güvenlik odaklı bir bölümde işlenecektir.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LaboratuvarApi sınıfı, bölümde öğrenilen tüm tasarım kararlarını tek bir sözleşme altında toplayan uçtan uca mini bir uygulamadır ve olustur, getir, listele, guncelle metotlarını içerir; her metot önce 400/404 kontrollerini sırasıyla uygular, en sonunda 200 veya 201 ile başarıyı bildirir. Altı endpoint tanımlanıyor: GET /api/ekipmanlar sayfalanmış ve filtrelenmiş listeyi 200 ile döner; GET /api/ekipmanlar/:id tekil kaynağı görüntüler ve bulunamazsa 404 döner; POST /api/ekipmanlar yeni bir ekipman kaydı oluşturur, başarılıysa 201, geçersiz girdide 400 döner; PATCH /api/ekipmanlar/:id kısmi güncelleme (örneğin durum alanı) yapar; DELETE /api/rezervasyonlar/:id bir rezervasyonu iptal eder ve başarılıysa 204 döner; GET /api/ekipmanlar?durum=musait ise filtrelenmiş bir uygunluk sorgusu örneğidir. Bu tablo, bölümün başından beri ayrı ayrı işlenen kaynak adlandırma, metot seçimi, durum kodu ve sayfalama kararlarının gerçek bir API yüzeyinde nasıl bir araya geldiğini gösteriyor; bu mini proje aynı zamanda Bölüm 7'de veritabanına taşınacak sözleşmenin donmuş hâlidir.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Rubrik dört ölçüt üzerinden üç seviyede değerlendirme yapıyor. Kaynak modelleme ölçütünde gelişmekte seviyesi URI'lerde fiil kullanımı veya tekil/çoğul karışıklığı gösterirken, yeterli seviye çoğul-küçük harf-tire kuralına uyar, güçlü seviye ayrıca hiyerarşi ve sahiplik ilişkisini de doğru kurar. Metot seçimi ölçütünde gelişmekte seviyesinde GET yan etki yaratırken, yeterli seviye CRUD-HTTP eşlemesini doğru uygular, güçlü seviye PUT/PATCH farkını ve idempotentliği de gözetir. Sözleşme tutarlılığı ölçütünde gelişmekte seviyesinde JSON alan adları endpoint'ler arasında tutarsızken, yeterli seviye BasariliYanit/HataliYanit şablonunu tutarlı uygular, güçlü seviye sayfalama metadata'sını da sözleşmeye dahil eder. Savunma ve güvenlik ölçütünde gelişmekte seviyesinde girdi doğrulanmadan işlenirken, yeterli seviye 400/404 senaryolarını ayrı ayrı ele alır, güçlü seviye hata gövdesini sızıntısız tutar ve günlükleme seviyelerini doğru uygular. Puanlama eşiği, dört ölçütün toplamında 10 ve üzeri puan alınmasının bölümün öğrenme hedeflerinin karşılandığını gösterdiğini belirtiyor; bu eşik, bölüm sonundaki öz değerlendirme sorularında da referans alınıyor.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boyunca altı temel kazanım pekiştirildi. Kaynak modelleme, URI'lerin çoğul isim olması, fiil içermemesi ve hiyerarşinin sahiplik ilişkisini yansıtması gerektiğini öğretti. CRUD-HTTP eşlemesi, GET/POST/PUT/PATCH/DELETE metotlarının her birinin güvenlik (safe) ve idempotentlik anlamı taşıdığını gösterdi. Durum kodu sözleşmesi, 2xx/4xx/5xx sınıflarının BasariliYanit/HataliYanit şablonuyla birlikte nasıl çalıştığını ortaya koydu. Sayfalama ve filtreleme, büyük koleksiyonların sayfa/sayfaBoyutu metadata'sıyla kontrollü şekilde sunulması gerektiğini gösterdi. Hata ayıklama disiplini, karar izleme tablosu yöntemiyle koşul, tür ve durum kodu hatalarının sistematik biçimde nasıl ayrıştırılacağını öğretti. Güvenlik farkındalığı ise hata gövdesinin bilgi sızdırmaması ve günlükleme seviyelerinin olayı izlenebilir kılması gerektiğini vurguladı. Sonuç olarak RESTful API tasarımı yalnızca doğru çalışan kodu değil, öngörülebilir bir sözleşmeyi hedefler: her uç nokta, isteyene ne döneceğini önceden söyleyebilmelidir.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 sonunda rezervasyon modülünün altı endpoint'i, durum kodları ve hata sözleşmesiyle birlikte donduruldu; bu dondurma kararı iyi API tasarımının ödülüdür, çünkü istemci tarafı veritabanı seçimi bitmeden yazılmaya başlanabilir. Öğrenciler artık kaynak, metot ve durum kodu sözleşmesi tasarlayabiliyor, sayfalama ve hata gövdesini güvenle kurabiliyor. Sıradaki bölüm PostgreSQL ile kalıcı veriyi ele alacak: şu ana kadar bellek içinde tutulan listeler, veritabanı tablolarına taşınacak. Kritik olan şu ki, istemcinin gördüğü URL'ler ve durum kodları değişmeyecek; yalnızca bu sözleşmenin arkasındaki veri kaynağı bellekten veritabanına geçecek — bu da bölümün ana tezini bir kez daha doğruluyor: iyi bir API sözleşmesi, depolama kararından bağımsız yaşayabilir.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6-http-rest-api-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6-http-rest-api-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06</a:t>
              </a:r>
            </a:p>
          </p:txBody>
        </p:sp>
      </p:grpSp>
      <p:grpSp>
        <p:nvGrpSpPr>
          <p:cNvPr id="8" name="cover-title"/>
          <p:cNvGrpSpPr/>
          <p:nvPr/>
        </p:nvGrpSpPr>
        <p:grpSpPr>
          <a:xfrm>
            <a:off x="4933950" y="1769745"/>
            <a:ext cx="2794444" cy="1981200"/>
            <a:chOff x="4933950" y="1769745"/>
            <a:chExt cx="2794444" cy="1981200"/>
          </a:xfrm>
        </p:grpSpPr>
        <p:sp>
          <p:nvSpPr>
            <p:cNvPr id="7" name="TextBox 7"/>
            <p:cNvSpPr txBox="1"/>
            <p:nvPr/>
          </p:nvSpPr>
          <p:spPr>
            <a:xfrm>
              <a:off x="4933950" y="1769745"/>
              <a:ext cx="2794444"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HTTP ve</a:t>
              </a:r>
              <a:br/>
              <a:r>
                <a:rPr lang="tr-TR" sz="3900" b="1" dirty="0">
                  <a:solidFill>
                    <a:srgbClr val="12355B"/>
                  </a:solidFill>
                  <a:latin typeface="+mj-lt"/>
                  <a:ea typeface="+mj-ea"/>
                  <a:cs typeface="+mj-cs"/>
                </a:rPr>
                <a:t>RESTful API</a:t>
              </a:r>
              <a:br/>
              <a:r>
                <a:rPr lang="tr-TR" sz="3900" b="1" dirty="0">
                  <a:solidFill>
                    <a:srgbClr val="12355B"/>
                  </a:solidFill>
                  <a:latin typeface="+mj-lt"/>
                  <a:ea typeface="+mj-ea"/>
                  <a:cs typeface="+mj-cs"/>
                </a:rPr>
                <a:t>Tasarımı</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intro-line"/>
          <p:cNvGrpSpPr/>
          <p:nvPr/>
        </p:nvGrpSpPr>
        <p:grpSpPr>
          <a:xfrm>
            <a:off x="601599" y="1163479"/>
            <a:ext cx="4968445" cy="308039"/>
            <a:chOff x="601599" y="1163479"/>
            <a:chExt cx="4968445" cy="308039"/>
          </a:xfrm>
        </p:grpSpPr>
        <p:sp>
          <p:nvSpPr>
            <p:cNvPr id="6" name="TextBox 6"/>
            <p:cNvSpPr txBox="1"/>
            <p:nvPr/>
          </p:nvSpPr>
          <p:spPr>
            <a:xfrm>
              <a:off x="601599" y="1163479"/>
              <a:ext cx="496844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soruları aklınızda tutun:</a:t>
              </a:r>
            </a:p>
          </p:txBody>
        </p:sp>
      </p:grpSp>
      <p:grpSp>
        <p:nvGrpSpPr>
          <p:cNvPr id="11" name="question-1"/>
          <p:cNvGrpSpPr/>
          <p:nvPr/>
        </p:nvGrpSpPr>
        <p:grpSpPr>
          <a:xfrm>
            <a:off x="666750" y="1562100"/>
            <a:ext cx="9905865" cy="366618"/>
            <a:chOff x="666750" y="1562100"/>
            <a:chExt cx="9905865" cy="366618"/>
          </a:xfrm>
        </p:grpSpPr>
        <p:sp>
          <p:nvSpPr>
            <p:cNvPr id="8" name="Ellipse 8"/>
            <p:cNvSpPr/>
            <p:nvPr/>
          </p:nvSpPr>
          <p:spPr>
            <a:xfrm>
              <a:off x="666750" y="1562100"/>
              <a:ext cx="342900" cy="342900"/>
            </a:xfrm>
            <a:prstGeom prst="ellipse">
              <a:avLst/>
            </a:prstGeom>
            <a:solidFill>
              <a:srgbClr val="12355B"/>
            </a:solidFill>
            <a:ln>
              <a:noFill/>
            </a:ln>
          </p:spPr>
        </p:sp>
        <p:sp>
          <p:nvSpPr>
            <p:cNvPr id="9" name="TextBox 9"/>
            <p:cNvSpPr txBox="1"/>
            <p:nvPr/>
          </p:nvSpPr>
          <p:spPr>
            <a:xfrm>
              <a:off x="778865" y="16449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54049" y="1620679"/>
              <a:ext cx="941856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laboratuvar yönetim sistemindeki varlıkları REST kaynaklarına nasıl dönüştürebilirim?</a:t>
              </a:r>
            </a:p>
          </p:txBody>
        </p:sp>
      </p:grpSp>
      <p:grpSp>
        <p:nvGrpSpPr>
          <p:cNvPr id="15" name="question-2"/>
          <p:cNvGrpSpPr/>
          <p:nvPr/>
        </p:nvGrpSpPr>
        <p:grpSpPr>
          <a:xfrm>
            <a:off x="666750" y="2171700"/>
            <a:ext cx="9796610" cy="366618"/>
            <a:chOff x="666750" y="2171700"/>
            <a:chExt cx="9796610" cy="366618"/>
          </a:xfrm>
        </p:grpSpPr>
        <p:sp>
          <p:nvSpPr>
            <p:cNvPr id="12" name="Ellipse 12"/>
            <p:cNvSpPr/>
            <p:nvPr/>
          </p:nvSpPr>
          <p:spPr>
            <a:xfrm>
              <a:off x="666750" y="2171700"/>
              <a:ext cx="342900" cy="342900"/>
            </a:xfrm>
            <a:prstGeom prst="ellipse">
              <a:avLst/>
            </a:prstGeom>
            <a:solidFill>
              <a:srgbClr val="12355B"/>
            </a:solidFill>
            <a:ln>
              <a:noFill/>
            </a:ln>
          </p:spPr>
        </p:sp>
        <p:sp>
          <p:nvSpPr>
            <p:cNvPr id="13" name="TextBox 13"/>
            <p:cNvSpPr txBox="1"/>
            <p:nvPr/>
          </p:nvSpPr>
          <p:spPr>
            <a:xfrm>
              <a:off x="778865" y="22545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54049" y="2230279"/>
              <a:ext cx="930931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CRUD işlemleri için POST, GET, PATCH, PUT ve DELETE metotlarından hangisini seçmeliyim?</a:t>
              </a:r>
            </a:p>
          </p:txBody>
        </p:sp>
      </p:grpSp>
      <p:grpSp>
        <p:nvGrpSpPr>
          <p:cNvPr id="19" name="question-3"/>
          <p:cNvGrpSpPr/>
          <p:nvPr/>
        </p:nvGrpSpPr>
        <p:grpSpPr>
          <a:xfrm>
            <a:off x="666750" y="2781300"/>
            <a:ext cx="9078218" cy="366618"/>
            <a:chOff x="666750" y="2781300"/>
            <a:chExt cx="9078218" cy="366618"/>
          </a:xfrm>
        </p:grpSpPr>
        <p:sp>
          <p:nvSpPr>
            <p:cNvPr id="16" name="Ellipse 16"/>
            <p:cNvSpPr/>
            <p:nvPr/>
          </p:nvSpPr>
          <p:spPr>
            <a:xfrm>
              <a:off x="666750" y="2781300"/>
              <a:ext cx="342900" cy="342900"/>
            </a:xfrm>
            <a:prstGeom prst="ellipse">
              <a:avLst/>
            </a:prstGeom>
            <a:solidFill>
              <a:srgbClr val="12355B"/>
            </a:solidFill>
            <a:ln>
              <a:noFill/>
            </a:ln>
          </p:spPr>
        </p:sp>
        <p:sp>
          <p:nvSpPr>
            <p:cNvPr id="17" name="TextBox 17"/>
            <p:cNvSpPr txBox="1"/>
            <p:nvPr/>
          </p:nvSpPr>
          <p:spPr>
            <a:xfrm>
              <a:off x="778865" y="28641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54049" y="2839879"/>
              <a:ext cx="859091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İstemcinin sonucu doğru yorumlaması için hangi HTTP durum kodunu kullanmalıyım?</a:t>
              </a:r>
            </a:p>
          </p:txBody>
        </p:sp>
      </p:grpSp>
      <p:grpSp>
        <p:nvGrpSpPr>
          <p:cNvPr id="23" name="question-4"/>
          <p:cNvGrpSpPr/>
          <p:nvPr/>
        </p:nvGrpSpPr>
        <p:grpSpPr>
          <a:xfrm>
            <a:off x="666750" y="3390900"/>
            <a:ext cx="8504685" cy="366618"/>
            <a:chOff x="666750" y="3390900"/>
            <a:chExt cx="8504685" cy="366618"/>
          </a:xfrm>
        </p:grpSpPr>
        <p:sp>
          <p:nvSpPr>
            <p:cNvPr id="20" name="Ellipse 20"/>
            <p:cNvSpPr/>
            <p:nvPr/>
          </p:nvSpPr>
          <p:spPr>
            <a:xfrm>
              <a:off x="666750" y="3390900"/>
              <a:ext cx="342900" cy="342900"/>
            </a:xfrm>
            <a:prstGeom prst="ellipse">
              <a:avLst/>
            </a:prstGeom>
            <a:solidFill>
              <a:srgbClr val="12355B"/>
            </a:solidFill>
            <a:ln>
              <a:noFill/>
            </a:ln>
          </p:spPr>
        </p:sp>
        <p:sp>
          <p:nvSpPr>
            <p:cNvPr id="21" name="TextBox 21"/>
            <p:cNvSpPr txBox="1"/>
            <p:nvPr/>
          </p:nvSpPr>
          <p:spPr>
            <a:xfrm>
              <a:off x="778865" y="34737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54049" y="3449479"/>
              <a:ext cx="801738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Başarı ve hata yanıtlarını neden ortak bir JSON sözleşmesinde sunmalıyım?</a:t>
              </a:r>
            </a:p>
          </p:txBody>
        </p:sp>
      </p:grpSp>
      <p:grpSp>
        <p:nvGrpSpPr>
          <p:cNvPr id="27" name="question-5"/>
          <p:cNvGrpSpPr/>
          <p:nvPr/>
        </p:nvGrpSpPr>
        <p:grpSpPr>
          <a:xfrm>
            <a:off x="666750" y="4000500"/>
            <a:ext cx="8188342" cy="366618"/>
            <a:chOff x="666750" y="4000500"/>
            <a:chExt cx="8188342" cy="366618"/>
          </a:xfrm>
        </p:grpSpPr>
        <p:sp>
          <p:nvSpPr>
            <p:cNvPr id="24" name="Ellipse 24"/>
            <p:cNvSpPr/>
            <p:nvPr/>
          </p:nvSpPr>
          <p:spPr>
            <a:xfrm>
              <a:off x="666750" y="4000500"/>
              <a:ext cx="342900" cy="342900"/>
            </a:xfrm>
            <a:prstGeom prst="ellipse">
              <a:avLst/>
            </a:prstGeom>
            <a:solidFill>
              <a:srgbClr val="12355B"/>
            </a:solidFill>
            <a:ln>
              <a:noFill/>
            </a:ln>
          </p:spPr>
        </p:sp>
        <p:sp>
          <p:nvSpPr>
            <p:cNvPr id="25" name="TextBox 25"/>
            <p:cNvSpPr txBox="1"/>
            <p:nvPr/>
          </p:nvSpPr>
          <p:spPr>
            <a:xfrm>
              <a:off x="778865" y="4083368"/>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54049" y="4059079"/>
              <a:ext cx="7701043"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Büyük bir ekipman listesini sayfalama ve filtreleme ile nasıl yönetebilirim?</a:t>
              </a:r>
            </a:p>
          </p:txBody>
        </p:sp>
      </p:grpSp>
      <p:grpSp>
        <p:nvGrpSpPr>
          <p:cNvPr id="31" name="chapter-goal"/>
          <p:cNvGrpSpPr/>
          <p:nvPr/>
        </p:nvGrpSpPr>
        <p:grpSpPr>
          <a:xfrm>
            <a:off x="609600" y="4705350"/>
            <a:ext cx="10972800" cy="762000"/>
            <a:chOff x="609600" y="4705350"/>
            <a:chExt cx="10972800" cy="762000"/>
          </a:xfrm>
        </p:grpSpPr>
        <p:sp>
          <p:nvSpPr>
            <p:cNvPr id="28" name="Rectangle 28"/>
            <p:cNvSpPr/>
            <p:nvPr/>
          </p:nvSpPr>
          <p:spPr>
            <a:xfrm>
              <a:off x="609600" y="4705350"/>
              <a:ext cx="10972800" cy="762000"/>
            </a:xfrm>
            <a:prstGeom prst="roundRect">
              <a:avLst>
                <a:gd name="adj" fmla="val 10000"/>
              </a:avLst>
            </a:prstGeom>
            <a:solidFill>
              <a:srgbClr val="EAF4F6"/>
            </a:solidFill>
            <a:ln>
              <a:noFill/>
            </a:ln>
          </p:spPr>
        </p:sp>
        <p:sp>
          <p:nvSpPr>
            <p:cNvPr id="29" name="TextBox 29"/>
            <p:cNvSpPr txBox="1"/>
            <p:nvPr/>
          </p:nvSpPr>
          <p:spPr>
            <a:xfrm>
              <a:off x="905256" y="4834890"/>
              <a:ext cx="19076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 Bölüm Hedefi</a:t>
              </a:r>
            </a:p>
          </p:txBody>
        </p:sp>
        <p:sp>
          <p:nvSpPr>
            <p:cNvPr id="30" name="TextBox 30"/>
            <p:cNvSpPr txBox="1"/>
            <p:nvPr/>
          </p:nvSpPr>
          <p:spPr>
            <a:xfrm>
              <a:off x="907542" y="5169218"/>
              <a:ext cx="916343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HTTP temellerini kullanarak tutarlı, tahmin edilebilir ve istemci dostu RESTful API'ler tasarlayabilmek.</a:t>
              </a:r>
            </a:p>
          </p:txBody>
        </p:sp>
      </p:grpSp>
      <p:grpSp>
        <p:nvGrpSpPr>
          <p:cNvPr id="40" name="concept-chips"/>
          <p:cNvGrpSpPr/>
          <p:nvPr/>
        </p:nvGrpSpPr>
        <p:grpSpPr>
          <a:xfrm>
            <a:off x="609600" y="5715000"/>
            <a:ext cx="10972800" cy="381000"/>
            <a:chOff x="609600" y="5715000"/>
            <a:chExt cx="10972800" cy="381000"/>
          </a:xfrm>
        </p:grpSpPr>
        <p:sp>
          <p:nvSpPr>
            <p:cNvPr id="32" name="Rectangle 32"/>
            <p:cNvSpPr/>
            <p:nvPr/>
          </p:nvSpPr>
          <p:spPr>
            <a:xfrm>
              <a:off x="609600" y="5715000"/>
              <a:ext cx="2571750" cy="381000"/>
            </a:xfrm>
            <a:prstGeom prst="roundRect">
              <a:avLst>
                <a:gd name="adj" fmla="val 50000"/>
              </a:avLst>
            </a:prstGeom>
            <a:solidFill>
              <a:srgbClr val="FFFFFF"/>
            </a:solidFill>
            <a:ln w="14288">
              <a:solidFill>
                <a:srgbClr val="2E86AB"/>
              </a:solidFill>
            </a:ln>
          </p:spPr>
        </p:sp>
        <p:sp>
          <p:nvSpPr>
            <p:cNvPr id="33" name="TextBox 33"/>
            <p:cNvSpPr txBox="1"/>
            <p:nvPr/>
          </p:nvSpPr>
          <p:spPr>
            <a:xfrm>
              <a:off x="967248" y="5831681"/>
              <a:ext cx="1856453"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REST ve kaynak tasarımı</a:t>
              </a:r>
            </a:p>
          </p:txBody>
        </p:sp>
        <p:sp>
          <p:nvSpPr>
            <p:cNvPr id="34" name="Rectangle 34"/>
            <p:cNvSpPr/>
            <p:nvPr/>
          </p:nvSpPr>
          <p:spPr>
            <a:xfrm>
              <a:off x="3314700" y="5715000"/>
              <a:ext cx="2762250" cy="381000"/>
            </a:xfrm>
            <a:prstGeom prst="roundRect">
              <a:avLst>
                <a:gd name="adj" fmla="val 50000"/>
              </a:avLst>
            </a:prstGeom>
            <a:solidFill>
              <a:srgbClr val="FFFFFF"/>
            </a:solidFill>
            <a:ln w="14288">
              <a:solidFill>
                <a:srgbClr val="2E86AB"/>
              </a:solidFill>
            </a:ln>
          </p:spPr>
        </p:sp>
        <p:sp>
          <p:nvSpPr>
            <p:cNvPr id="35" name="TextBox 35"/>
            <p:cNvSpPr txBox="1"/>
            <p:nvPr/>
          </p:nvSpPr>
          <p:spPr>
            <a:xfrm>
              <a:off x="3815092" y="5831681"/>
              <a:ext cx="1761466"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CRUD ile HTTP metotları</a:t>
              </a:r>
            </a:p>
          </p:txBody>
        </p:sp>
        <p:sp>
          <p:nvSpPr>
            <p:cNvPr id="36" name="Rectangle 36"/>
            <p:cNvSpPr/>
            <p:nvPr/>
          </p:nvSpPr>
          <p:spPr>
            <a:xfrm>
              <a:off x="6210300" y="5715000"/>
              <a:ext cx="3048000" cy="381000"/>
            </a:xfrm>
            <a:prstGeom prst="roundRect">
              <a:avLst>
                <a:gd name="adj" fmla="val 50000"/>
              </a:avLst>
            </a:prstGeom>
            <a:solidFill>
              <a:srgbClr val="FFFFFF"/>
            </a:solidFill>
            <a:ln w="14288">
              <a:solidFill>
                <a:srgbClr val="2E86AB"/>
              </a:solidFill>
            </a:ln>
          </p:spPr>
        </p:sp>
        <p:sp>
          <p:nvSpPr>
            <p:cNvPr id="37" name="TextBox 37"/>
            <p:cNvSpPr txBox="1"/>
            <p:nvPr/>
          </p:nvSpPr>
          <p:spPr>
            <a:xfrm>
              <a:off x="6475931" y="5831681"/>
              <a:ext cx="2516739"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Durum kodları ve JSON sözleşmesi</a:t>
              </a:r>
            </a:p>
          </p:txBody>
        </p:sp>
        <p:sp>
          <p:nvSpPr>
            <p:cNvPr id="38" name="Rectangle 38"/>
            <p:cNvSpPr/>
            <p:nvPr/>
          </p:nvSpPr>
          <p:spPr>
            <a:xfrm>
              <a:off x="9391650" y="5715000"/>
              <a:ext cx="2190750" cy="381000"/>
            </a:xfrm>
            <a:prstGeom prst="roundRect">
              <a:avLst>
                <a:gd name="adj" fmla="val 50000"/>
              </a:avLst>
            </a:prstGeom>
            <a:solidFill>
              <a:srgbClr val="FFFFFF"/>
            </a:solidFill>
            <a:ln w="14288">
              <a:solidFill>
                <a:srgbClr val="2E86AB"/>
              </a:solidFill>
            </a:ln>
          </p:spPr>
        </p:sp>
        <p:sp>
          <p:nvSpPr>
            <p:cNvPr id="39" name="TextBox 39"/>
            <p:cNvSpPr txBox="1"/>
            <p:nvPr/>
          </p:nvSpPr>
          <p:spPr>
            <a:xfrm>
              <a:off x="9649580" y="5831681"/>
              <a:ext cx="1674889"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Sayfalama ve contract</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257300"/>
            <a:ext cx="7912254" cy="620173"/>
            <a:chOff x="685800" y="1257300"/>
            <a:chExt cx="7912254" cy="620173"/>
          </a:xfrm>
        </p:grpSpPr>
        <p:sp>
          <p:nvSpPr>
            <p:cNvPr id="6" name="Rectangle 6"/>
            <p:cNvSpPr/>
            <p:nvPr/>
          </p:nvSpPr>
          <p:spPr>
            <a:xfrm>
              <a:off x="685800" y="1257300"/>
              <a:ext cx="57150" cy="571500"/>
            </a:xfrm>
            <a:prstGeom prst="rect">
              <a:avLst/>
            </a:prstGeom>
            <a:solidFill>
              <a:srgbClr val="00A6A6"/>
            </a:solidFill>
            <a:ln>
              <a:noFill/>
            </a:ln>
          </p:spPr>
        </p:sp>
        <p:sp>
          <p:nvSpPr>
            <p:cNvPr id="7" name="TextBox 7"/>
            <p:cNvSpPr txBox="1"/>
            <p:nvPr/>
          </p:nvSpPr>
          <p:spPr>
            <a:xfrm>
              <a:off x="981837" y="1280636"/>
              <a:ext cx="7616217" cy="337376"/>
            </a:xfrm>
            <a:prstGeom prst="rect">
              <a:avLst/>
            </a:prstGeom>
            <a:noFill/>
            <a:ln>
              <a:noFill/>
            </a:ln>
          </p:spPr>
          <p:txBody>
            <a:bodyPr wrap="none" lIns="0" tIns="0" rIns="0" bIns="0" anchor="t" anchorCtr="0">
              <a:spAutoFit/>
            </a:bodyPr>
            <a:lstStyle/>
            <a:p>
              <a:pPr algn="l"/>
              <a:r>
                <a:rPr lang="tr-TR" sz="1720" b="1" dirty="0">
                  <a:solidFill>
                    <a:srgbClr val="12355B"/>
                  </a:solidFill>
                  <a:latin typeface="+mn-lt"/>
                  <a:ea typeface="+mn-ea"/>
                  <a:cs typeface="+mn-cs"/>
                </a:rPr>
                <a:t>Bir alan problemini çoğul, kimlikli REST kaynaklarına ayırabilmek</a:t>
              </a:r>
            </a:p>
          </p:txBody>
        </p:sp>
        <p:sp>
          <p:nvSpPr>
            <p:cNvPr id="8" name="TextBox 8"/>
            <p:cNvSpPr txBox="1"/>
            <p:nvPr/>
          </p:nvSpPr>
          <p:spPr>
            <a:xfrm>
              <a:off x="983361" y="1598771"/>
              <a:ext cx="7600206"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Ölçüt: en az üç kaynağı çoğul isimlendirme ve kimlikli yol kuralına uygun çıkarmak</a:t>
              </a:r>
            </a:p>
          </p:txBody>
        </p:sp>
      </p:grpSp>
      <p:grpSp>
        <p:nvGrpSpPr>
          <p:cNvPr id="13" name="objective-2"/>
          <p:cNvGrpSpPr/>
          <p:nvPr/>
        </p:nvGrpSpPr>
        <p:grpSpPr>
          <a:xfrm>
            <a:off x="685800" y="2114550"/>
            <a:ext cx="7970497" cy="620173"/>
            <a:chOff x="685800" y="2114550"/>
            <a:chExt cx="7970497" cy="620173"/>
          </a:xfrm>
        </p:grpSpPr>
        <p:sp>
          <p:nvSpPr>
            <p:cNvPr id="10" name="Rectangle 10"/>
            <p:cNvSpPr/>
            <p:nvPr/>
          </p:nvSpPr>
          <p:spPr>
            <a:xfrm>
              <a:off x="685800" y="2114550"/>
              <a:ext cx="57150" cy="571500"/>
            </a:xfrm>
            <a:prstGeom prst="rect">
              <a:avLst/>
            </a:prstGeom>
            <a:solidFill>
              <a:srgbClr val="00A6A6"/>
            </a:solidFill>
            <a:ln>
              <a:noFill/>
            </a:ln>
          </p:spPr>
        </p:sp>
        <p:sp>
          <p:nvSpPr>
            <p:cNvPr id="11" name="TextBox 11"/>
            <p:cNvSpPr txBox="1"/>
            <p:nvPr/>
          </p:nvSpPr>
          <p:spPr>
            <a:xfrm>
              <a:off x="981837" y="2137886"/>
              <a:ext cx="7674460" cy="337376"/>
            </a:xfrm>
            <a:prstGeom prst="rect">
              <a:avLst/>
            </a:prstGeom>
            <a:noFill/>
            <a:ln>
              <a:noFill/>
            </a:ln>
          </p:spPr>
          <p:txBody>
            <a:bodyPr wrap="none" lIns="0" tIns="0" rIns="0" bIns="0" anchor="t" anchorCtr="0">
              <a:spAutoFit/>
            </a:bodyPr>
            <a:lstStyle/>
            <a:p>
              <a:pPr algn="l"/>
              <a:r>
                <a:rPr lang="tr-TR" sz="1720" b="1" dirty="0">
                  <a:solidFill>
                    <a:srgbClr val="12355B"/>
                  </a:solidFill>
                  <a:latin typeface="+mn-lt"/>
                  <a:ea typeface="+mn-ea"/>
                  <a:cs typeface="+mn-cs"/>
                </a:rPr>
                <a:t>CRUD işlemlerini HTTP metotlarıyla gerekçeli biçimde eşleştirmek</a:t>
              </a:r>
            </a:p>
          </p:txBody>
        </p:sp>
        <p:sp>
          <p:nvSpPr>
            <p:cNvPr id="12" name="TextBox 12"/>
            <p:cNvSpPr txBox="1"/>
            <p:nvPr/>
          </p:nvSpPr>
          <p:spPr>
            <a:xfrm>
              <a:off x="983361" y="2456021"/>
              <a:ext cx="6919630"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Ölçüt: POST, GET, PATCH, PUT, DELETE seçimini bir cümleyle savunabilmek</a:t>
              </a:r>
            </a:p>
          </p:txBody>
        </p:sp>
      </p:grpSp>
      <p:grpSp>
        <p:nvGrpSpPr>
          <p:cNvPr id="17" name="objective-3"/>
          <p:cNvGrpSpPr/>
          <p:nvPr/>
        </p:nvGrpSpPr>
        <p:grpSpPr>
          <a:xfrm>
            <a:off x="685800" y="2971800"/>
            <a:ext cx="7537035" cy="620173"/>
            <a:chOff x="685800" y="2971800"/>
            <a:chExt cx="7537035" cy="620173"/>
          </a:xfrm>
        </p:grpSpPr>
        <p:sp>
          <p:nvSpPr>
            <p:cNvPr id="14" name="Rectangle 14"/>
            <p:cNvSpPr/>
            <p:nvPr/>
          </p:nvSpPr>
          <p:spPr>
            <a:xfrm>
              <a:off x="685800" y="2971800"/>
              <a:ext cx="57150" cy="571500"/>
            </a:xfrm>
            <a:prstGeom prst="rect">
              <a:avLst/>
            </a:prstGeom>
            <a:solidFill>
              <a:srgbClr val="00A6A6"/>
            </a:solidFill>
            <a:ln>
              <a:noFill/>
            </a:ln>
          </p:spPr>
        </p:sp>
        <p:sp>
          <p:nvSpPr>
            <p:cNvPr id="15" name="TextBox 15"/>
            <p:cNvSpPr txBox="1"/>
            <p:nvPr/>
          </p:nvSpPr>
          <p:spPr>
            <a:xfrm>
              <a:off x="981837" y="2995136"/>
              <a:ext cx="6720102" cy="337376"/>
            </a:xfrm>
            <a:prstGeom prst="rect">
              <a:avLst/>
            </a:prstGeom>
            <a:noFill/>
            <a:ln>
              <a:noFill/>
            </a:ln>
          </p:spPr>
          <p:txBody>
            <a:bodyPr wrap="none" lIns="0" tIns="0" rIns="0" bIns="0" anchor="t" anchorCtr="0">
              <a:spAutoFit/>
            </a:bodyPr>
            <a:lstStyle/>
            <a:p>
              <a:pPr algn="l"/>
              <a:r>
                <a:rPr lang="tr-TR" sz="1720" b="1" dirty="0">
                  <a:solidFill>
                    <a:srgbClr val="12355B"/>
                  </a:solidFill>
                  <a:latin typeface="+mn-lt"/>
                  <a:ea typeface="+mn-ea"/>
                  <a:cs typeface="+mn-cs"/>
                </a:rPr>
                <a:t>Başarı ve hata için ortak bir JSON gövde şablonu kurmak</a:t>
              </a:r>
            </a:p>
          </p:txBody>
        </p:sp>
        <p:sp>
          <p:nvSpPr>
            <p:cNvPr id="16" name="TextBox 16"/>
            <p:cNvSpPr txBox="1"/>
            <p:nvPr/>
          </p:nvSpPr>
          <p:spPr>
            <a:xfrm>
              <a:off x="983361" y="3313271"/>
              <a:ext cx="7239474"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Ölçüt: şablonu 200, 201, 204, 400 ve 404 kodlarıyla tutarlı biçimde kullanmak</a:t>
              </a:r>
            </a:p>
          </p:txBody>
        </p:sp>
      </p:grpSp>
      <p:grpSp>
        <p:nvGrpSpPr>
          <p:cNvPr id="21" name="objective-4"/>
          <p:cNvGrpSpPr/>
          <p:nvPr/>
        </p:nvGrpSpPr>
        <p:grpSpPr>
          <a:xfrm>
            <a:off x="685800" y="3829050"/>
            <a:ext cx="8812204" cy="620173"/>
            <a:chOff x="685800" y="3829050"/>
            <a:chExt cx="8812204" cy="620173"/>
          </a:xfrm>
        </p:grpSpPr>
        <p:sp>
          <p:nvSpPr>
            <p:cNvPr id="18" name="Rectangle 18"/>
            <p:cNvSpPr/>
            <p:nvPr/>
          </p:nvSpPr>
          <p:spPr>
            <a:xfrm>
              <a:off x="685800" y="3829050"/>
              <a:ext cx="57150" cy="571500"/>
            </a:xfrm>
            <a:prstGeom prst="rect">
              <a:avLst/>
            </a:prstGeom>
            <a:solidFill>
              <a:srgbClr val="00A6A6"/>
            </a:solidFill>
            <a:ln>
              <a:noFill/>
            </a:ln>
          </p:spPr>
        </p:sp>
        <p:sp>
          <p:nvSpPr>
            <p:cNvPr id="19" name="TextBox 19"/>
            <p:cNvSpPr txBox="1"/>
            <p:nvPr/>
          </p:nvSpPr>
          <p:spPr>
            <a:xfrm>
              <a:off x="981837" y="3852386"/>
              <a:ext cx="5568400" cy="337376"/>
            </a:xfrm>
            <a:prstGeom prst="rect">
              <a:avLst/>
            </a:prstGeom>
            <a:noFill/>
            <a:ln>
              <a:noFill/>
            </a:ln>
          </p:spPr>
          <p:txBody>
            <a:bodyPr wrap="none" lIns="0" tIns="0" rIns="0" bIns="0" anchor="t" anchorCtr="0">
              <a:spAutoFit/>
            </a:bodyPr>
            <a:lstStyle/>
            <a:p>
              <a:pPr algn="l"/>
              <a:r>
                <a:rPr lang="tr-TR" sz="1720" b="1" dirty="0">
                  <a:solidFill>
                    <a:srgbClr val="12355B"/>
                  </a:solidFill>
                  <a:latin typeface="+mn-lt"/>
                  <a:ea typeface="+mn-ea"/>
                  <a:cs typeface="+mn-cs"/>
                </a:rPr>
                <a:t>Sayfalama ve filtreleme sözleşmesi tasarlamak</a:t>
              </a:r>
            </a:p>
          </p:txBody>
        </p:sp>
        <p:sp>
          <p:nvSpPr>
            <p:cNvPr id="20" name="TextBox 20"/>
            <p:cNvSpPr txBox="1"/>
            <p:nvPr/>
          </p:nvSpPr>
          <p:spPr>
            <a:xfrm>
              <a:off x="983361" y="4170521"/>
              <a:ext cx="8514643"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Ölçüt: en az yüz kayıtlı koleksiyon için sayfa, sayfaBoyutu ve filtre parametreleri kurmak</a:t>
              </a:r>
            </a:p>
          </p:txBody>
        </p:sp>
      </p:grpSp>
      <p:grpSp>
        <p:nvGrpSpPr>
          <p:cNvPr id="25" name="objective-5"/>
          <p:cNvGrpSpPr/>
          <p:nvPr/>
        </p:nvGrpSpPr>
        <p:grpSpPr>
          <a:xfrm>
            <a:off x="685800" y="4686300"/>
            <a:ext cx="8368515" cy="620173"/>
            <a:chOff x="685800" y="4686300"/>
            <a:chExt cx="8368515" cy="620173"/>
          </a:xfrm>
        </p:grpSpPr>
        <p:sp>
          <p:nvSpPr>
            <p:cNvPr id="22" name="Rectangle 22"/>
            <p:cNvSpPr/>
            <p:nvPr/>
          </p:nvSpPr>
          <p:spPr>
            <a:xfrm>
              <a:off x="685800" y="4686300"/>
              <a:ext cx="57150" cy="571500"/>
            </a:xfrm>
            <a:prstGeom prst="rect">
              <a:avLst/>
            </a:prstGeom>
            <a:solidFill>
              <a:srgbClr val="00A6A6"/>
            </a:solidFill>
            <a:ln>
              <a:noFill/>
            </a:ln>
          </p:spPr>
        </p:sp>
        <p:sp>
          <p:nvSpPr>
            <p:cNvPr id="23" name="TextBox 23"/>
            <p:cNvSpPr txBox="1"/>
            <p:nvPr/>
          </p:nvSpPr>
          <p:spPr>
            <a:xfrm>
              <a:off x="981837" y="4709636"/>
              <a:ext cx="8072478" cy="337376"/>
            </a:xfrm>
            <a:prstGeom prst="rect">
              <a:avLst/>
            </a:prstGeom>
            <a:noFill/>
            <a:ln>
              <a:noFill/>
            </a:ln>
          </p:spPr>
          <p:txBody>
            <a:bodyPr wrap="none" lIns="0" tIns="0" rIns="0" bIns="0" anchor="t" anchorCtr="0">
              <a:spAutoFit/>
            </a:bodyPr>
            <a:lstStyle/>
            <a:p>
              <a:pPr algn="l"/>
              <a:r>
                <a:rPr lang="tr-TR" sz="1720" b="1" dirty="0">
                  <a:solidFill>
                    <a:srgbClr val="12355B"/>
                  </a:solidFill>
                  <a:latin typeface="+mn-lt"/>
                  <a:ea typeface="+mn-ea"/>
                  <a:cs typeface="+mn-cs"/>
                </a:rPr>
                <a:t>Ön bilgi: Express rota tanımı ve TypeScript arayüz/birleşim türleri</a:t>
              </a:r>
            </a:p>
          </p:txBody>
        </p:sp>
        <p:sp>
          <p:nvSpPr>
            <p:cNvPr id="24" name="TextBox 24"/>
            <p:cNvSpPr txBox="1"/>
            <p:nvPr/>
          </p:nvSpPr>
          <p:spPr>
            <a:xfrm>
              <a:off x="983361" y="5027771"/>
              <a:ext cx="7047126" cy="278702"/>
            </a:xfrm>
            <a:prstGeom prst="rect">
              <a:avLst/>
            </a:prstGeom>
            <a:noFill/>
            <a:ln>
              <a:noFill/>
            </a:ln>
          </p:spPr>
          <p:txBody>
            <a:bodyPr wrap="none" lIns="0" tIns="0" rIns="0" bIns="0" anchor="t" anchorCtr="0">
              <a:spAutoFit/>
            </a:bodyPr>
            <a:lstStyle/>
            <a:p>
              <a:pPr algn="l"/>
              <a:r>
                <a:rPr lang="tr-TR" sz="1420" dirty="0">
                  <a:solidFill>
                    <a:srgbClr val="52616B"/>
                  </a:solidFill>
                  <a:latin typeface="+mn-lt"/>
                  <a:ea typeface="+mn-ea"/>
                  <a:cs typeface="+mn-cs"/>
                </a:rPr>
                <a:t>Başarı ölçütü: ezber değil tasarım kararı — “neden 404, neden metadata?”</a:t>
              </a:r>
            </a:p>
          </p:txBody>
        </p:sp>
      </p:grpSp>
      <p:grpSp>
        <p:nvGrpSpPr>
          <p:cNvPr id="29" name="tip-callout"/>
          <p:cNvGrpSpPr/>
          <p:nvPr/>
        </p:nvGrpSpPr>
        <p:grpSpPr>
          <a:xfrm>
            <a:off x="609600" y="5600700"/>
            <a:ext cx="10972800" cy="628650"/>
            <a:chOff x="609600" y="5600700"/>
            <a:chExt cx="10972800" cy="628650"/>
          </a:xfrm>
        </p:grpSpPr>
        <p:sp>
          <p:nvSpPr>
            <p:cNvPr id="26" name="Rectangle 26"/>
            <p:cNvSpPr/>
            <p:nvPr/>
          </p:nvSpPr>
          <p:spPr>
            <a:xfrm>
              <a:off x="609600" y="5600700"/>
              <a:ext cx="10972800" cy="628650"/>
            </a:xfrm>
            <a:prstGeom prst="roundRect">
              <a:avLst>
                <a:gd name="adj" fmla="val 12121"/>
              </a:avLst>
            </a:prstGeom>
            <a:solidFill>
              <a:srgbClr val="EAF4F6"/>
            </a:solidFill>
            <a:ln>
              <a:noFill/>
            </a:ln>
          </p:spPr>
        </p:sp>
        <p:sp>
          <p:nvSpPr>
            <p:cNvPr id="27" name="TextBox 27"/>
            <p:cNvSpPr txBox="1"/>
            <p:nvPr/>
          </p:nvSpPr>
          <p:spPr>
            <a:xfrm>
              <a:off x="907923" y="5710714"/>
              <a:ext cx="75401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 İpucu</a:t>
              </a:r>
            </a:p>
          </p:txBody>
        </p:sp>
        <p:sp>
          <p:nvSpPr>
            <p:cNvPr id="28" name="TextBox 28"/>
            <p:cNvSpPr txBox="1"/>
            <p:nvPr/>
          </p:nvSpPr>
          <p:spPr>
            <a:xfrm>
              <a:off x="908304" y="5947410"/>
              <a:ext cx="90178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API tasarımında “çalışıyor” olmak yeterli değildir; istemcinin her olası sonucu güvenle yorumlayabilmesi gerekir.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588384" cy="668845"/>
            <a:chOff x="609600" y="171450"/>
            <a:chExt cx="858838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8980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kaynaktan sözleşmeye</a:t>
              </a:r>
            </a:p>
          </p:txBody>
        </p:sp>
      </p:grpSp>
      <p:grpSp>
        <p:nvGrpSpPr>
          <p:cNvPr id="49" name="concept-map"/>
          <p:cNvGrpSpPr/>
          <p:nvPr/>
        </p:nvGrpSpPr>
        <p:grpSpPr>
          <a:xfrm>
            <a:off x="685800" y="1219200"/>
            <a:ext cx="10896600" cy="4886706"/>
            <a:chOff x="685800" y="1219200"/>
            <a:chExt cx="10896600" cy="4886706"/>
          </a:xfrm>
        </p:grpSpPr>
        <p:grpSp>
          <p:nvGrpSpPr>
            <p:cNvPr id="20" name="Group 20"/>
            <p:cNvGrpSpPr/>
            <p:nvPr/>
          </p:nvGrpSpPr>
          <p:grpSpPr>
            <a:xfrm>
              <a:off x="3143250" y="1581150"/>
              <a:ext cx="5238751" cy="3086100"/>
              <a:chOff x="3143250" y="1581150"/>
              <a:chExt cx="5238751" cy="3086100"/>
            </a:xfrm>
          </p:grpSpPr>
          <p:sp>
            <p:nvSpPr>
              <p:cNvPr id="13" name="Line 13"/>
              <p:cNvSpPr/>
              <p:nvPr/>
            </p:nvSpPr>
            <p:spPr>
              <a:xfrm flipV="1">
                <a:off x="3143250" y="1581150"/>
                <a:ext cx="1352550" cy="1181100"/>
              </a:xfrm>
              <a:prstGeom prst="line">
                <a:avLst/>
              </a:prstGeom>
              <a:noFill/>
              <a:ln w="23812">
                <a:solidFill>
                  <a:srgbClr val="00A6A6"/>
                </a:solidFill>
                <a:tailEnd type="arrow" w="lg" len="lg"/>
              </a:ln>
            </p:spPr>
          </p:sp>
          <p:sp>
            <p:nvSpPr>
              <p:cNvPr id="14" name="Line 14"/>
              <p:cNvSpPr/>
              <p:nvPr/>
            </p:nvSpPr>
            <p:spPr>
              <a:xfrm>
                <a:off x="3143250" y="2762250"/>
                <a:ext cx="1352550" cy="1543050"/>
              </a:xfrm>
              <a:prstGeom prst="line">
                <a:avLst/>
              </a:prstGeom>
              <a:noFill/>
              <a:ln w="19050">
                <a:solidFill>
                  <a:srgbClr val="52616B"/>
                </a:solidFill>
                <a:custDash>
                  <a:ds d="300000" sp="200000"/>
                </a:custDash>
                <a:tailEnd type="arrow" w="lg" len="lg"/>
              </a:ln>
            </p:spPr>
          </p:sp>
          <p:sp>
            <p:nvSpPr>
              <p:cNvPr id="15" name="Line 15"/>
              <p:cNvSpPr/>
              <p:nvPr/>
            </p:nvSpPr>
            <p:spPr>
              <a:xfrm>
                <a:off x="8382000" y="1714500"/>
                <a:ext cx="1" cy="381000"/>
              </a:xfrm>
              <a:prstGeom prst="line">
                <a:avLst/>
              </a:prstGeom>
              <a:noFill/>
              <a:ln w="23812">
                <a:solidFill>
                  <a:srgbClr val="00A6A6"/>
                </a:solidFill>
                <a:tailEnd type="arrow" w="lg" len="lg"/>
              </a:ln>
            </p:spPr>
          </p:sp>
          <p:sp>
            <p:nvSpPr>
              <p:cNvPr id="16" name="Line 16"/>
              <p:cNvSpPr/>
              <p:nvPr/>
            </p:nvSpPr>
            <p:spPr>
              <a:xfrm>
                <a:off x="6667500" y="1714500"/>
                <a:ext cx="1" cy="381000"/>
              </a:xfrm>
              <a:prstGeom prst="line">
                <a:avLst/>
              </a:prstGeom>
              <a:noFill/>
              <a:ln w="23812">
                <a:solidFill>
                  <a:srgbClr val="00A6A6"/>
                </a:solidFill>
                <a:tailEnd type="arrow" w="lg" len="lg"/>
              </a:ln>
            </p:spPr>
          </p:sp>
          <p:sp>
            <p:nvSpPr>
              <p:cNvPr id="17" name="Line 17"/>
              <p:cNvSpPr/>
              <p:nvPr/>
            </p:nvSpPr>
            <p:spPr>
              <a:xfrm>
                <a:off x="6667500" y="2838450"/>
                <a:ext cx="1" cy="304800"/>
              </a:xfrm>
              <a:prstGeom prst="line">
                <a:avLst/>
              </a:prstGeom>
              <a:noFill/>
              <a:ln w="19050">
                <a:solidFill>
                  <a:srgbClr val="52616B"/>
                </a:solidFill>
                <a:custDash>
                  <a:ds d="300000" sp="200000"/>
                </a:custDash>
                <a:tailEnd type="arrow" w="lg" len="lg"/>
              </a:ln>
            </p:spPr>
          </p:sp>
          <p:sp>
            <p:nvSpPr>
              <p:cNvPr id="18" name="Line 18"/>
              <p:cNvSpPr/>
              <p:nvPr/>
            </p:nvSpPr>
            <p:spPr>
              <a:xfrm>
                <a:off x="8382000" y="2838450"/>
                <a:ext cx="1" cy="304800"/>
              </a:xfrm>
              <a:prstGeom prst="line">
                <a:avLst/>
              </a:prstGeom>
              <a:noFill/>
              <a:ln w="19050">
                <a:solidFill>
                  <a:srgbClr val="52616B"/>
                </a:solidFill>
                <a:custDash>
                  <a:ds d="300000" sp="200000"/>
                </a:custDash>
                <a:tailEnd type="arrow" w="lg" len="lg"/>
              </a:ln>
            </p:spPr>
          </p:sp>
          <p:sp>
            <p:nvSpPr>
              <p:cNvPr id="19" name="Line 19"/>
              <p:cNvSpPr/>
              <p:nvPr/>
            </p:nvSpPr>
            <p:spPr>
              <a:xfrm flipV="1">
                <a:off x="5905500" y="3905250"/>
                <a:ext cx="762000" cy="762000"/>
              </a:xfrm>
              <a:prstGeom prst="line">
                <a:avLst/>
              </a:prstGeom>
              <a:noFill/>
              <a:ln w="19050">
                <a:solidFill>
                  <a:srgbClr val="52616B"/>
                </a:solidFill>
                <a:custDash>
                  <a:ds d="300000" sp="200000"/>
                </a:custDash>
                <a:tailEnd type="arrow" w="lg" len="lg"/>
              </a:ln>
            </p:spPr>
          </p:sp>
        </p:grpSp>
        <p:grpSp>
          <p:nvGrpSpPr>
            <p:cNvPr id="23" name="map-hub"/>
            <p:cNvGrpSpPr/>
            <p:nvPr/>
          </p:nvGrpSpPr>
          <p:grpSpPr>
            <a:xfrm>
              <a:off x="685800" y="2047875"/>
              <a:ext cx="2381250" cy="1428750"/>
              <a:chOff x="685800" y="2047875"/>
              <a:chExt cx="2381250" cy="1428750"/>
            </a:xfrm>
          </p:grpSpPr>
          <p:sp>
            <p:nvSpPr>
              <p:cNvPr id="21" name="Rectangle 21"/>
              <p:cNvSpPr/>
              <p:nvPr/>
            </p:nvSpPr>
            <p:spPr>
              <a:xfrm>
                <a:off x="685800" y="2047875"/>
                <a:ext cx="2381250" cy="1428750"/>
              </a:xfrm>
              <a:prstGeom prst="roundRect">
                <a:avLst>
                  <a:gd name="adj" fmla="val 6667"/>
                </a:avLst>
              </a:prstGeom>
              <a:solidFill>
                <a:srgbClr val="12355B"/>
              </a:solidFill>
              <a:ln>
                <a:noFill/>
              </a:ln>
            </p:spPr>
          </p:sp>
          <p:sp>
            <p:nvSpPr>
              <p:cNvPr id="22" name="TextBox 22"/>
              <p:cNvSpPr txBox="1"/>
              <p:nvPr/>
            </p:nvSpPr>
            <p:spPr>
              <a:xfrm>
                <a:off x="942213" y="2353151"/>
                <a:ext cx="1259662" cy="738950"/>
              </a:xfrm>
              <a:prstGeom prst="rect">
                <a:avLst/>
              </a:prstGeom>
              <a:noFill/>
              <a:ln>
                <a:noFill/>
              </a:ln>
            </p:spPr>
            <p:txBody>
              <a:bodyPr wrap="none" lIns="0" tIns="0" rIns="0" bIns="0" anchor="t" anchorCtr="0">
                <a:spAutoFit/>
              </a:bodyPr>
              <a:lstStyle/>
              <a:p>
                <a:pPr algn="l">
                  <a:lnSpc>
                    <a:spcPts val="2700"/>
                  </a:lnSpc>
                </a:pPr>
                <a:r>
                  <a:rPr lang="tr-TR" sz="2020" b="1" dirty="0">
                    <a:solidFill>
                      <a:srgbClr val="FFFFFF"/>
                    </a:solidFill>
                    <a:latin typeface="+mn-lt"/>
                    <a:ea typeface="+mn-ea"/>
                    <a:cs typeface="+mn-cs"/>
                  </a:rPr>
                  <a:t>Kaynak</a:t>
                </a:r>
                <a:br/>
                <a:r>
                  <a:rPr lang="tr-TR" sz="2020" b="1" dirty="0">
                    <a:solidFill>
                      <a:srgbClr val="FFFFFF"/>
                    </a:solidFill>
                    <a:latin typeface="+mn-lt"/>
                    <a:ea typeface="+mn-ea"/>
                    <a:cs typeface="+mn-cs"/>
                  </a:rPr>
                  <a:t>tasarımı</a:t>
                </a:r>
              </a:p>
            </p:txBody>
          </p:sp>
        </p:grpSp>
        <p:grpSp>
          <p:nvGrpSpPr>
            <p:cNvPr id="27" name="map-node-crud"/>
            <p:cNvGrpSpPr/>
            <p:nvPr/>
          </p:nvGrpSpPr>
          <p:grpSpPr>
            <a:xfrm>
              <a:off x="4572000" y="1219200"/>
              <a:ext cx="3810000" cy="723900"/>
              <a:chOff x="4572000" y="1219200"/>
              <a:chExt cx="3810000" cy="723900"/>
            </a:xfrm>
          </p:grpSpPr>
          <p:sp>
            <p:nvSpPr>
              <p:cNvPr id="24" name="Rectangle 24"/>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5" name="TextBox 25"/>
              <p:cNvSpPr txBox="1"/>
              <p:nvPr/>
            </p:nvSpPr>
            <p:spPr>
              <a:xfrm>
                <a:off x="4792218" y="1345882"/>
                <a:ext cx="226799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CRUD → HTTP metodu</a:t>
                </a:r>
              </a:p>
            </p:txBody>
          </p:sp>
          <p:sp>
            <p:nvSpPr>
              <p:cNvPr id="26" name="TextBox 26"/>
              <p:cNvSpPr txBox="1"/>
              <p:nvPr/>
            </p:nvSpPr>
            <p:spPr>
              <a:xfrm>
                <a:off x="4794123" y="1634014"/>
                <a:ext cx="2683815"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her işlem tek bir metoda eşlenir</a:t>
                </a:r>
              </a:p>
            </p:txBody>
          </p:sp>
        </p:grpSp>
        <p:grpSp>
          <p:nvGrpSpPr>
            <p:cNvPr id="31" name="map-node-status"/>
            <p:cNvGrpSpPr/>
            <p:nvPr/>
          </p:nvGrpSpPr>
          <p:grpSpPr>
            <a:xfrm>
              <a:off x="5867400" y="2095500"/>
              <a:ext cx="1600200" cy="742950"/>
              <a:chOff x="5867400" y="2095500"/>
              <a:chExt cx="1600200" cy="742950"/>
            </a:xfrm>
          </p:grpSpPr>
          <p:sp>
            <p:nvSpPr>
              <p:cNvPr id="28" name="Rectangle 28"/>
              <p:cNvSpPr/>
              <p:nvPr/>
            </p:nvSpPr>
            <p:spPr>
              <a:xfrm>
                <a:off x="5867400" y="2095500"/>
                <a:ext cx="1600200" cy="742950"/>
              </a:xfrm>
              <a:prstGeom prst="roundRect">
                <a:avLst>
                  <a:gd name="adj" fmla="val 12821"/>
                </a:avLst>
              </a:prstGeom>
              <a:solidFill>
                <a:srgbClr val="FFFFFF"/>
              </a:solidFill>
              <a:ln w="14288">
                <a:solidFill>
                  <a:srgbClr val="2E86AB"/>
                </a:solidFill>
              </a:ln>
            </p:spPr>
          </p:sp>
          <p:sp>
            <p:nvSpPr>
              <p:cNvPr id="29" name="TextBox 29"/>
              <p:cNvSpPr txBox="1"/>
              <p:nvPr/>
            </p:nvSpPr>
            <p:spPr>
              <a:xfrm>
                <a:off x="6012942" y="2254568"/>
                <a:ext cx="107986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HTTP durum</a:t>
                </a:r>
              </a:p>
            </p:txBody>
          </p:sp>
          <p:sp>
            <p:nvSpPr>
              <p:cNvPr id="30" name="TextBox 30"/>
              <p:cNvSpPr txBox="1"/>
              <p:nvPr/>
            </p:nvSpPr>
            <p:spPr>
              <a:xfrm>
                <a:off x="6013704" y="2518410"/>
                <a:ext cx="9087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kodu üretir</a:t>
                </a:r>
              </a:p>
            </p:txBody>
          </p:sp>
        </p:grpSp>
        <p:grpSp>
          <p:nvGrpSpPr>
            <p:cNvPr id="35" name="map-node-json"/>
            <p:cNvGrpSpPr/>
            <p:nvPr/>
          </p:nvGrpSpPr>
          <p:grpSpPr>
            <a:xfrm>
              <a:off x="7581900" y="2095500"/>
              <a:ext cx="1600200" cy="742950"/>
              <a:chOff x="7581900" y="2095500"/>
              <a:chExt cx="1600200" cy="742950"/>
            </a:xfrm>
          </p:grpSpPr>
          <p:sp>
            <p:nvSpPr>
              <p:cNvPr id="32" name="Rectangle 32"/>
              <p:cNvSpPr/>
              <p:nvPr/>
            </p:nvSpPr>
            <p:spPr>
              <a:xfrm>
                <a:off x="7581900" y="2095500"/>
                <a:ext cx="1600200" cy="742950"/>
              </a:xfrm>
              <a:prstGeom prst="roundRect">
                <a:avLst>
                  <a:gd name="adj" fmla="val 12821"/>
                </a:avLst>
              </a:prstGeom>
              <a:solidFill>
                <a:srgbClr val="FFFFFF"/>
              </a:solidFill>
              <a:ln w="14288">
                <a:solidFill>
                  <a:srgbClr val="2E86AB"/>
                </a:solidFill>
              </a:ln>
            </p:spPr>
          </p:sp>
          <p:sp>
            <p:nvSpPr>
              <p:cNvPr id="33" name="TextBox 33"/>
              <p:cNvSpPr txBox="1"/>
              <p:nvPr/>
            </p:nvSpPr>
            <p:spPr>
              <a:xfrm>
                <a:off x="7727442" y="2254568"/>
                <a:ext cx="107986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JSON yanıt</a:t>
                </a:r>
              </a:p>
            </p:txBody>
          </p:sp>
          <p:sp>
            <p:nvSpPr>
              <p:cNvPr id="34" name="TextBox 34"/>
              <p:cNvSpPr txBox="1"/>
              <p:nvPr/>
            </p:nvSpPr>
            <p:spPr>
              <a:xfrm>
                <a:off x="7728204" y="2518410"/>
                <a:ext cx="113492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şablonu üretir</a:t>
                </a:r>
              </a:p>
            </p:txBody>
          </p:sp>
        </p:grpSp>
        <p:grpSp>
          <p:nvGrpSpPr>
            <p:cNvPr id="39" name="map-node-listing"/>
            <p:cNvGrpSpPr/>
            <p:nvPr/>
          </p:nvGrpSpPr>
          <p:grpSpPr>
            <a:xfrm>
              <a:off x="4572000" y="3943350"/>
              <a:ext cx="3810000" cy="723900"/>
              <a:chOff x="4572000" y="3943350"/>
              <a:chExt cx="3810000" cy="723900"/>
            </a:xfrm>
          </p:grpSpPr>
          <p:sp>
            <p:nvSpPr>
              <p:cNvPr id="36" name="Rectangle 36"/>
              <p:cNvSpPr/>
              <p:nvPr/>
            </p:nvSpPr>
            <p:spPr>
              <a:xfrm>
                <a:off x="4572000" y="3943350"/>
                <a:ext cx="3810000" cy="723900"/>
              </a:xfrm>
              <a:prstGeom prst="roundRect">
                <a:avLst>
                  <a:gd name="adj" fmla="val 13158"/>
                </a:avLst>
              </a:prstGeom>
              <a:solidFill>
                <a:srgbClr val="FFFFFF"/>
              </a:solidFill>
              <a:ln w="14288">
                <a:solidFill>
                  <a:srgbClr val="2E86AB"/>
                </a:solidFill>
              </a:ln>
            </p:spPr>
          </p:sp>
          <p:sp>
            <p:nvSpPr>
              <p:cNvPr id="37" name="TextBox 37"/>
              <p:cNvSpPr txBox="1"/>
              <p:nvPr/>
            </p:nvSpPr>
            <p:spPr>
              <a:xfrm>
                <a:off x="4792218" y="4070032"/>
                <a:ext cx="260124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Listeleme uç noktaları</a:t>
                </a:r>
              </a:p>
            </p:txBody>
          </p:sp>
          <p:sp>
            <p:nvSpPr>
              <p:cNvPr id="38" name="TextBox 38"/>
              <p:cNvSpPr txBox="1"/>
              <p:nvPr/>
            </p:nvSpPr>
            <p:spPr>
              <a:xfrm>
                <a:off x="4794123" y="4358164"/>
                <a:ext cx="3011211"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ayrıca sayfalama/filtreye bağlıdır</a:t>
                </a:r>
              </a:p>
            </p:txBody>
          </p:sp>
        </p:grpSp>
        <p:grpSp>
          <p:nvGrpSpPr>
            <p:cNvPr id="43" name="map-node-contract"/>
            <p:cNvGrpSpPr/>
            <p:nvPr/>
          </p:nvGrpSpPr>
          <p:grpSpPr>
            <a:xfrm>
              <a:off x="4572000" y="5334000"/>
              <a:ext cx="7010400" cy="723900"/>
              <a:chOff x="4572000" y="5334000"/>
              <a:chExt cx="7010400" cy="723900"/>
            </a:xfrm>
          </p:grpSpPr>
          <p:sp>
            <p:nvSpPr>
              <p:cNvPr id="40" name="Rectangle 40"/>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1" name="TextBox 41"/>
              <p:cNvSpPr txBox="1"/>
              <p:nvPr/>
            </p:nvSpPr>
            <p:spPr>
              <a:xfrm>
                <a:off x="4792218" y="5460682"/>
                <a:ext cx="164706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API sözleşmesi</a:t>
                </a:r>
              </a:p>
            </p:txBody>
          </p:sp>
          <p:sp>
            <p:nvSpPr>
              <p:cNvPr id="42" name="TextBox 42"/>
              <p:cNvSpPr txBox="1"/>
              <p:nvPr/>
            </p:nvSpPr>
            <p:spPr>
              <a:xfrm>
                <a:off x="4794123" y="5748814"/>
                <a:ext cx="5076416"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durum kodu, JSON şablonu ve sayfalama tek kararda birleşir</a:t>
                </a:r>
              </a:p>
            </p:txBody>
          </p:sp>
        </p:grpSp>
        <p:grpSp>
          <p:nvGrpSpPr>
            <p:cNvPr id="48" name="map-legend"/>
            <p:cNvGrpSpPr/>
            <p:nvPr/>
          </p:nvGrpSpPr>
          <p:grpSpPr>
            <a:xfrm>
              <a:off x="685800" y="5528310"/>
              <a:ext cx="4013943" cy="577596"/>
              <a:chOff x="685800" y="5528310"/>
              <a:chExt cx="4013943" cy="577596"/>
            </a:xfrm>
          </p:grpSpPr>
          <p:sp>
            <p:nvSpPr>
              <p:cNvPr id="44" name="Line 44"/>
              <p:cNvSpPr/>
              <p:nvPr/>
            </p:nvSpPr>
            <p:spPr>
              <a:xfrm>
                <a:off x="685800" y="5600700"/>
                <a:ext cx="304800" cy="1"/>
              </a:xfrm>
              <a:prstGeom prst="line">
                <a:avLst/>
              </a:prstGeom>
              <a:noFill/>
              <a:ln w="23812">
                <a:solidFill>
                  <a:srgbClr val="00A6A6"/>
                </a:solidFill>
                <a:tailEnd type="arrow" w="lg" len="lg"/>
              </a:ln>
            </p:spPr>
          </p:sp>
          <p:sp>
            <p:nvSpPr>
              <p:cNvPr id="45" name="TextBox 45"/>
              <p:cNvSpPr txBox="1"/>
              <p:nvPr/>
            </p:nvSpPr>
            <p:spPr>
              <a:xfrm>
                <a:off x="1079754" y="5528310"/>
                <a:ext cx="361998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Kaynak tasarımından doğrudan türeyen karar</a:t>
                </a:r>
              </a:p>
            </p:txBody>
          </p:sp>
          <p:sp>
            <p:nvSpPr>
              <p:cNvPr id="46" name="Line 46"/>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7" name="TextBox 47"/>
              <p:cNvSpPr txBox="1"/>
              <p:nvPr/>
            </p:nvSpPr>
            <p:spPr>
              <a:xfrm>
                <a:off x="1079754" y="5871210"/>
                <a:ext cx="283612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Sözleşme kararına yakınsayan ilişki</a:t>
                </a:r>
              </a:p>
            </p:txBody>
          </p:sp>
        </p:gr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7" name="matrix-header"/>
          <p:cNvGrpSpPr/>
          <p:nvPr/>
        </p:nvGrpSpPr>
        <p:grpSpPr>
          <a:xfrm>
            <a:off x="609600" y="1104900"/>
            <a:ext cx="10972800" cy="323850"/>
            <a:chOff x="609600" y="1104900"/>
            <a:chExt cx="10972800" cy="323850"/>
          </a:xfrm>
        </p:grpSpPr>
        <p:sp>
          <p:nvSpPr>
            <p:cNvPr id="13" name="Rectangle 13"/>
            <p:cNvSpPr/>
            <p:nvPr/>
          </p:nvSpPr>
          <p:spPr>
            <a:xfrm>
              <a:off x="609600" y="1104900"/>
              <a:ext cx="10972800" cy="323850"/>
            </a:xfrm>
            <a:prstGeom prst="rect">
              <a:avLst/>
            </a:prstGeom>
            <a:solidFill>
              <a:srgbClr val="12355B"/>
            </a:solidFill>
            <a:ln>
              <a:noFill/>
            </a:ln>
          </p:spPr>
        </p:sp>
        <p:sp>
          <p:nvSpPr>
            <p:cNvPr id="14" name="TextBox 14"/>
            <p:cNvSpPr txBox="1"/>
            <p:nvPr/>
          </p:nvSpPr>
          <p:spPr>
            <a:xfrm>
              <a:off x="756285" y="1193006"/>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KAVRAM</a:t>
              </a:r>
            </a:p>
          </p:txBody>
        </p:sp>
        <p:sp>
          <p:nvSpPr>
            <p:cNvPr id="15" name="TextBox 15"/>
            <p:cNvSpPr txBox="1"/>
            <p:nvPr/>
          </p:nvSpPr>
          <p:spPr>
            <a:xfrm>
              <a:off x="2508885" y="1193006"/>
              <a:ext cx="122442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TEMEL GÖREVİ</a:t>
              </a:r>
            </a:p>
          </p:txBody>
        </p:sp>
        <p:sp>
          <p:nvSpPr>
            <p:cNvPr id="16" name="TextBox 16"/>
            <p:cNvSpPr txBox="1"/>
            <p:nvPr/>
          </p:nvSpPr>
          <p:spPr>
            <a:xfrm>
              <a:off x="6661785" y="1193006"/>
              <a:ext cx="2314267"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SINIR / OLMAZSA NE OLUR?</a:t>
              </a:r>
            </a:p>
          </p:txBody>
        </p:sp>
      </p:grpSp>
      <p:grpSp>
        <p:nvGrpSpPr>
          <p:cNvPr id="46" name="matrix-rows"/>
          <p:cNvGrpSpPr/>
          <p:nvPr/>
        </p:nvGrpSpPr>
        <p:grpSpPr>
          <a:xfrm>
            <a:off x="609600" y="1428750"/>
            <a:ext cx="10972800" cy="4467225"/>
            <a:chOff x="609600" y="1428750"/>
            <a:chExt cx="10972800" cy="4467225"/>
          </a:xfrm>
        </p:grpSpPr>
        <p:sp>
          <p:nvSpPr>
            <p:cNvPr id="18" name="Rectangle 18"/>
            <p:cNvSpPr/>
            <p:nvPr/>
          </p:nvSpPr>
          <p:spPr>
            <a:xfrm>
              <a:off x="609600" y="1428750"/>
              <a:ext cx="10972800" cy="638175"/>
            </a:xfrm>
            <a:prstGeom prst="rect">
              <a:avLst/>
            </a:prstGeom>
            <a:solidFill>
              <a:srgbClr val="FFFFFF"/>
            </a:solidFill>
            <a:ln>
              <a:noFill/>
            </a:ln>
          </p:spPr>
        </p:sp>
        <p:sp>
          <p:nvSpPr>
            <p:cNvPr id="19" name="TextBox 19"/>
            <p:cNvSpPr txBox="1"/>
            <p:nvPr/>
          </p:nvSpPr>
          <p:spPr>
            <a:xfrm>
              <a:off x="755904" y="1527810"/>
              <a:ext cx="114941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REST Mimarisi</a:t>
              </a:r>
            </a:p>
          </p:txBody>
        </p:sp>
        <p:sp>
          <p:nvSpPr>
            <p:cNvPr id="20" name="TextBox 20"/>
            <p:cNvSpPr txBox="1"/>
            <p:nvPr/>
          </p:nvSpPr>
          <p:spPr>
            <a:xfrm>
              <a:off x="2509266" y="1544002"/>
              <a:ext cx="2624328"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Durumsuzluk, tek biçimli arayüz, kaynak</a:t>
              </a:r>
              <a:br/>
              <a:r>
                <a:rPr lang="tr-TR" sz="1050" dirty="0">
                  <a:solidFill>
                    <a:srgbClr val="172B3A"/>
                  </a:solidFill>
                  <a:latin typeface="+mn-lt"/>
                  <a:ea typeface="+mn-ea"/>
                  <a:cs typeface="+mn-cs"/>
                </a:rPr>
                <a:t>yönlendirme disiplini.</a:t>
              </a:r>
            </a:p>
          </p:txBody>
        </p:sp>
        <p:sp>
          <p:nvSpPr>
            <p:cNvPr id="21" name="TextBox 21"/>
            <p:cNvSpPr txBox="1"/>
            <p:nvPr/>
          </p:nvSpPr>
          <p:spPr>
            <a:xfrm>
              <a:off x="6662166" y="1544002"/>
              <a:ext cx="275101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DB değildir, dil dikte etmez; olmazsa uçlar</a:t>
              </a:r>
              <a:br/>
              <a:r>
                <a:rPr lang="tr-TR" sz="1050" dirty="0">
                  <a:solidFill>
                    <a:srgbClr val="172B3A"/>
                  </a:solidFill>
                  <a:latin typeface="+mn-lt"/>
                  <a:ea typeface="+mn-ea"/>
                  <a:cs typeface="+mn-cs"/>
                </a:rPr>
                <a:t>RPC benzeri kuralsız eylemlere döner.</a:t>
              </a:r>
            </a:p>
          </p:txBody>
        </p:sp>
        <p:sp>
          <p:nvSpPr>
            <p:cNvPr id="22" name="Rectangle 22"/>
            <p:cNvSpPr/>
            <p:nvPr/>
          </p:nvSpPr>
          <p:spPr>
            <a:xfrm>
              <a:off x="609600" y="2066925"/>
              <a:ext cx="10972800" cy="638175"/>
            </a:xfrm>
            <a:prstGeom prst="rect">
              <a:avLst/>
            </a:prstGeom>
            <a:solidFill>
              <a:srgbClr val="EAF4F6"/>
            </a:solidFill>
            <a:ln>
              <a:noFill/>
            </a:ln>
          </p:spPr>
        </p:sp>
        <p:sp>
          <p:nvSpPr>
            <p:cNvPr id="23" name="TextBox 23"/>
            <p:cNvSpPr txBox="1"/>
            <p:nvPr/>
          </p:nvSpPr>
          <p:spPr>
            <a:xfrm>
              <a:off x="755904" y="2165985"/>
              <a:ext cx="120805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CRUD İşlemleri</a:t>
              </a:r>
            </a:p>
          </p:txBody>
        </p:sp>
        <p:sp>
          <p:nvSpPr>
            <p:cNvPr id="24" name="TextBox 24"/>
            <p:cNvSpPr txBox="1"/>
            <p:nvPr/>
          </p:nvSpPr>
          <p:spPr>
            <a:xfrm>
              <a:off x="2509266" y="2182178"/>
              <a:ext cx="336442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Kaynağın yaşam döngüsündeki dört temel</a:t>
              </a:r>
              <a:br/>
              <a:r>
                <a:rPr lang="tr-TR" sz="1050" dirty="0">
                  <a:solidFill>
                    <a:srgbClr val="172B3A"/>
                  </a:solidFill>
                  <a:latin typeface="+mn-lt"/>
                  <a:ea typeface="+mn-ea"/>
                  <a:cs typeface="+mn-cs"/>
                </a:rPr>
                <a:t>eylemi (Create, Read, Update, Delete) temsil eder.</a:t>
              </a:r>
            </a:p>
          </p:txBody>
        </p:sp>
        <p:sp>
          <p:nvSpPr>
            <p:cNvPr id="25" name="TextBox 25"/>
            <p:cNvSpPr txBox="1"/>
            <p:nvPr/>
          </p:nvSpPr>
          <p:spPr>
            <a:xfrm>
              <a:off x="6662166" y="2182178"/>
              <a:ext cx="305771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HTTP'ye özgü değildir; olmazsa hangi uç</a:t>
              </a:r>
              <a:br/>
              <a:r>
                <a:rPr lang="tr-TR" sz="1050" dirty="0">
                  <a:solidFill>
                    <a:srgbClr val="172B3A"/>
                  </a:solidFill>
                  <a:latin typeface="+mn-lt"/>
                  <a:ea typeface="+mn-ea"/>
                  <a:cs typeface="+mn-cs"/>
                </a:rPr>
                <a:t>noktanın ne amaçla tasarlandığı öngörülemez.</a:t>
              </a:r>
            </a:p>
          </p:txBody>
        </p:sp>
        <p:sp>
          <p:nvSpPr>
            <p:cNvPr id="26" name="Rectangle 26"/>
            <p:cNvSpPr/>
            <p:nvPr/>
          </p:nvSpPr>
          <p:spPr>
            <a:xfrm>
              <a:off x="609600" y="2705100"/>
              <a:ext cx="10972800" cy="638175"/>
            </a:xfrm>
            <a:prstGeom prst="rect">
              <a:avLst/>
            </a:prstGeom>
            <a:solidFill>
              <a:srgbClr val="FFFFFF"/>
            </a:solidFill>
            <a:ln>
              <a:noFill/>
            </a:ln>
          </p:spPr>
        </p:sp>
        <p:sp>
          <p:nvSpPr>
            <p:cNvPr id="27" name="TextBox 27"/>
            <p:cNvSpPr txBox="1"/>
            <p:nvPr/>
          </p:nvSpPr>
          <p:spPr>
            <a:xfrm>
              <a:off x="755904" y="2804160"/>
              <a:ext cx="129471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HTTP Metotları</a:t>
              </a:r>
            </a:p>
          </p:txBody>
        </p:sp>
        <p:sp>
          <p:nvSpPr>
            <p:cNvPr id="28" name="TextBox 28"/>
            <p:cNvSpPr txBox="1"/>
            <p:nvPr/>
          </p:nvSpPr>
          <p:spPr>
            <a:xfrm>
              <a:off x="2509266" y="2820352"/>
              <a:ext cx="216427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Hedef kaynak üzerindeki niyeti ve</a:t>
              </a:r>
              <a:br/>
              <a:r>
                <a:rPr lang="tr-TR" sz="1050" dirty="0">
                  <a:solidFill>
                    <a:srgbClr val="172B3A"/>
                  </a:solidFill>
                  <a:latin typeface="+mn-lt"/>
                  <a:ea typeface="+mn-ea"/>
                  <a:cs typeface="+mn-cs"/>
                </a:rPr>
                <a:t>idempotency durumunu belirtir.</a:t>
              </a:r>
            </a:p>
          </p:txBody>
        </p:sp>
        <p:sp>
          <p:nvSpPr>
            <p:cNvPr id="29" name="TextBox 29"/>
            <p:cNvSpPr txBox="1"/>
            <p:nvPr/>
          </p:nvSpPr>
          <p:spPr>
            <a:xfrm>
              <a:off x="6662166" y="2820352"/>
              <a:ext cx="301104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Yetkilendirmeyi denetlemez; olmazsa okuma ve</a:t>
              </a:r>
              <a:br/>
              <a:r>
                <a:rPr lang="tr-TR" sz="1050" dirty="0">
                  <a:solidFill>
                    <a:srgbClr val="172B3A"/>
                  </a:solidFill>
                  <a:latin typeface="+mn-lt"/>
                  <a:ea typeface="+mn-ea"/>
                  <a:cs typeface="+mn-cs"/>
                </a:rPr>
                <a:t>yazma işlemleri karışır, önbellekleme çöker.</a:t>
              </a:r>
            </a:p>
          </p:txBody>
        </p:sp>
        <p:sp>
          <p:nvSpPr>
            <p:cNvPr id="30" name="Rectangle 30"/>
            <p:cNvSpPr/>
            <p:nvPr/>
          </p:nvSpPr>
          <p:spPr>
            <a:xfrm>
              <a:off x="609600" y="3343275"/>
              <a:ext cx="10972800" cy="638175"/>
            </a:xfrm>
            <a:prstGeom prst="rect">
              <a:avLst/>
            </a:prstGeom>
            <a:solidFill>
              <a:srgbClr val="EAF4F6"/>
            </a:solidFill>
            <a:ln>
              <a:noFill/>
            </a:ln>
          </p:spPr>
        </p:sp>
        <p:sp>
          <p:nvSpPr>
            <p:cNvPr id="31" name="TextBox 31"/>
            <p:cNvSpPr txBox="1"/>
            <p:nvPr/>
          </p:nvSpPr>
          <p:spPr>
            <a:xfrm>
              <a:off x="755904" y="3442335"/>
              <a:ext cx="163181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HTTP Durum Kodları</a:t>
              </a:r>
            </a:p>
          </p:txBody>
        </p:sp>
        <p:sp>
          <p:nvSpPr>
            <p:cNvPr id="32" name="TextBox 32"/>
            <p:cNvSpPr txBox="1"/>
            <p:nvPr/>
          </p:nvSpPr>
          <p:spPr>
            <a:xfrm>
              <a:off x="2509266" y="3458528"/>
              <a:ext cx="2671000"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Sonucu 5 kategoride (1xx–5xx) evrensel,</a:t>
              </a:r>
              <a:br/>
              <a:r>
                <a:rPr lang="tr-TR" sz="1050" dirty="0">
                  <a:solidFill>
                    <a:srgbClr val="172B3A"/>
                  </a:solidFill>
                  <a:latin typeface="+mn-lt"/>
                  <a:ea typeface="+mn-ea"/>
                  <a:cs typeface="+mn-cs"/>
                </a:rPr>
                <a:t>makine okunabilir sayılarla bildirir.</a:t>
              </a:r>
            </a:p>
          </p:txBody>
        </p:sp>
        <p:sp>
          <p:nvSpPr>
            <p:cNvPr id="33" name="TextBox 33"/>
            <p:cNvSpPr txBox="1"/>
            <p:nvPr/>
          </p:nvSpPr>
          <p:spPr>
            <a:xfrm>
              <a:off x="6662166" y="3458528"/>
              <a:ext cx="3104388"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Girdi hatasını kendi başına düzeltmez; olmazsa</a:t>
              </a:r>
              <a:br/>
              <a:r>
                <a:rPr lang="tr-TR" sz="1050" dirty="0">
                  <a:solidFill>
                    <a:srgbClr val="172B3A"/>
                  </a:solidFill>
                  <a:latin typeface="+mn-lt"/>
                  <a:ea typeface="+mn-ea"/>
                  <a:cs typeface="+mn-cs"/>
                </a:rPr>
                <a:t>4xx/5xx ayrımı yapılamaz.</a:t>
              </a:r>
            </a:p>
          </p:txBody>
        </p:sp>
        <p:sp>
          <p:nvSpPr>
            <p:cNvPr id="34" name="Rectangle 34"/>
            <p:cNvSpPr/>
            <p:nvPr/>
          </p:nvSpPr>
          <p:spPr>
            <a:xfrm>
              <a:off x="609600" y="3981450"/>
              <a:ext cx="10972800" cy="638175"/>
            </a:xfrm>
            <a:prstGeom prst="rect">
              <a:avLst/>
            </a:prstGeom>
            <a:solidFill>
              <a:srgbClr val="FFFFFF"/>
            </a:solidFill>
            <a:ln>
              <a:noFill/>
            </a:ln>
          </p:spPr>
        </p:sp>
        <p:sp>
          <p:nvSpPr>
            <p:cNvPr id="35" name="TextBox 35"/>
            <p:cNvSpPr txBox="1"/>
            <p:nvPr/>
          </p:nvSpPr>
          <p:spPr>
            <a:xfrm>
              <a:off x="755904" y="4080510"/>
              <a:ext cx="118659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JSON Formatı</a:t>
              </a:r>
            </a:p>
          </p:txBody>
        </p:sp>
        <p:sp>
          <p:nvSpPr>
            <p:cNvPr id="36" name="TextBox 36"/>
            <p:cNvSpPr txBox="1"/>
            <p:nvPr/>
          </p:nvSpPr>
          <p:spPr>
            <a:xfrm>
              <a:off x="2509266" y="4096702"/>
              <a:ext cx="247764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Hafif, metin tabanlı, dilden bağımsız</a:t>
              </a:r>
              <a:br/>
              <a:r>
                <a:rPr lang="tr-TR" sz="1050" dirty="0">
                  <a:solidFill>
                    <a:srgbClr val="172B3A"/>
                  </a:solidFill>
                  <a:latin typeface="+mn-lt"/>
                  <a:ea typeface="+mn-ea"/>
                  <a:cs typeface="+mn-cs"/>
                </a:rPr>
                <a:t>veri taşıma biçimi.</a:t>
              </a:r>
            </a:p>
          </p:txBody>
        </p:sp>
        <p:sp>
          <p:nvSpPr>
            <p:cNvPr id="37" name="TextBox 37"/>
            <p:cNvSpPr txBox="1"/>
            <p:nvPr/>
          </p:nvSpPr>
          <p:spPr>
            <a:xfrm>
              <a:off x="6662166" y="4096702"/>
              <a:ext cx="3284411"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Şema doğrulaması yapmaz; olmazsa diller</a:t>
              </a:r>
              <a:br/>
              <a:r>
                <a:rPr lang="tr-TR" sz="1050" dirty="0">
                  <a:solidFill>
                    <a:srgbClr val="172B3A"/>
                  </a:solidFill>
                  <a:latin typeface="+mn-lt"/>
                  <a:ea typeface="+mn-ea"/>
                  <a:cs typeface="+mn-cs"/>
                </a:rPr>
                <a:t>arası veri alışverişinde format karmaşası doğar.</a:t>
              </a:r>
            </a:p>
          </p:txBody>
        </p:sp>
        <p:sp>
          <p:nvSpPr>
            <p:cNvPr id="38" name="Rectangle 38"/>
            <p:cNvSpPr/>
            <p:nvPr/>
          </p:nvSpPr>
          <p:spPr>
            <a:xfrm>
              <a:off x="609600" y="4619625"/>
              <a:ext cx="10972800" cy="638175"/>
            </a:xfrm>
            <a:prstGeom prst="rect">
              <a:avLst/>
            </a:prstGeom>
            <a:solidFill>
              <a:srgbClr val="EAF4F6"/>
            </a:solidFill>
            <a:ln>
              <a:noFill/>
            </a:ln>
          </p:spPr>
        </p:sp>
        <p:sp>
          <p:nvSpPr>
            <p:cNvPr id="39" name="TextBox 39"/>
            <p:cNvSpPr txBox="1"/>
            <p:nvPr/>
          </p:nvSpPr>
          <p:spPr>
            <a:xfrm>
              <a:off x="755904" y="4718685"/>
              <a:ext cx="84856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Sayfalama</a:t>
              </a:r>
            </a:p>
          </p:txBody>
        </p:sp>
        <p:sp>
          <p:nvSpPr>
            <p:cNvPr id="40" name="TextBox 40"/>
            <p:cNvSpPr txBox="1"/>
            <p:nvPr/>
          </p:nvSpPr>
          <p:spPr>
            <a:xfrm>
              <a:off x="2509266" y="4734878"/>
              <a:ext cx="2350960"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Büyük veri kümelerini limit/ofset ile</a:t>
              </a:r>
              <a:br/>
              <a:r>
                <a:rPr lang="tr-TR" sz="1050" dirty="0">
                  <a:solidFill>
                    <a:srgbClr val="172B3A"/>
                  </a:solidFill>
                  <a:latin typeface="+mn-lt"/>
                  <a:ea typeface="+mn-ea"/>
                  <a:cs typeface="+mn-cs"/>
                </a:rPr>
                <a:t>parçalayarak bant genişliğini korur.</a:t>
              </a:r>
            </a:p>
          </p:txBody>
        </p:sp>
        <p:sp>
          <p:nvSpPr>
            <p:cNvPr id="41" name="TextBox 41"/>
            <p:cNvSpPr txBox="1"/>
            <p:nvPr/>
          </p:nvSpPr>
          <p:spPr>
            <a:xfrm>
              <a:off x="6662166" y="4734878"/>
              <a:ext cx="263766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Veriyi kendiliğinden filtrelemez; olmazsa</a:t>
              </a:r>
              <a:br/>
              <a:r>
                <a:rPr lang="tr-TR" sz="1050" dirty="0">
                  <a:solidFill>
                    <a:srgbClr val="172B3A"/>
                  </a:solidFill>
                  <a:latin typeface="+mn-lt"/>
                  <a:ea typeface="+mn-ea"/>
                  <a:cs typeface="+mn-cs"/>
                </a:rPr>
                <a:t>sunucuda OOM çökmesi riski doğar.</a:t>
              </a:r>
            </a:p>
          </p:txBody>
        </p:sp>
        <p:sp>
          <p:nvSpPr>
            <p:cNvPr id="42" name="Rectangle 42"/>
            <p:cNvSpPr/>
            <p:nvPr/>
          </p:nvSpPr>
          <p:spPr>
            <a:xfrm>
              <a:off x="609600" y="5257800"/>
              <a:ext cx="10972800" cy="638175"/>
            </a:xfrm>
            <a:prstGeom prst="rect">
              <a:avLst/>
            </a:prstGeom>
            <a:solidFill>
              <a:srgbClr val="FFFFFF"/>
            </a:solidFill>
            <a:ln>
              <a:noFill/>
            </a:ln>
          </p:spPr>
        </p:sp>
        <p:sp>
          <p:nvSpPr>
            <p:cNvPr id="43" name="TextBox 43"/>
            <p:cNvSpPr txBox="1"/>
            <p:nvPr/>
          </p:nvSpPr>
          <p:spPr>
            <a:xfrm>
              <a:off x="755904" y="5356860"/>
              <a:ext cx="120296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API Sözleşmesi</a:t>
              </a:r>
            </a:p>
          </p:txBody>
        </p:sp>
        <p:sp>
          <p:nvSpPr>
            <p:cNvPr id="44" name="TextBox 44"/>
            <p:cNvSpPr txBox="1"/>
            <p:nvPr/>
          </p:nvSpPr>
          <p:spPr>
            <a:xfrm>
              <a:off x="2509266" y="5373052"/>
              <a:ext cx="2310956"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Uç nokta, alan ve hata şablonlarını</a:t>
              </a:r>
              <a:br/>
              <a:r>
                <a:rPr lang="tr-TR" sz="1050" dirty="0">
                  <a:solidFill>
                    <a:srgbClr val="172B3A"/>
                  </a:solidFill>
                  <a:latin typeface="+mn-lt"/>
                  <a:ea typeface="+mn-ea"/>
                  <a:cs typeface="+mn-cs"/>
                </a:rPr>
                <a:t>bağlayıcı kurala bağlar.</a:t>
              </a:r>
            </a:p>
          </p:txBody>
        </p:sp>
        <p:sp>
          <p:nvSpPr>
            <p:cNvPr id="45" name="TextBox 45"/>
            <p:cNvSpPr txBox="1"/>
            <p:nvPr/>
          </p:nvSpPr>
          <p:spPr>
            <a:xfrm>
              <a:off x="6662166" y="5373052"/>
              <a:ext cx="3171063" cy="376809"/>
            </a:xfrm>
            <a:prstGeom prst="rect">
              <a:avLst/>
            </a:prstGeom>
            <a:noFill/>
            <a:ln>
              <a:noFill/>
            </a:ln>
          </p:spPr>
          <p:txBody>
            <a:bodyPr wrap="none" lIns="0" tIns="0" rIns="0" bIns="0" anchor="t" anchorCtr="0">
              <a:spAutoFit/>
            </a:bodyPr>
            <a:lstStyle/>
            <a:p>
              <a:pPr algn="l">
                <a:lnSpc>
                  <a:spcPts val="1350"/>
                </a:lnSpc>
              </a:pPr>
              <a:r>
                <a:rPr lang="tr-TR" sz="1050" dirty="0">
                  <a:solidFill>
                    <a:srgbClr val="172B3A"/>
                  </a:solidFill>
                  <a:latin typeface="+mn-lt"/>
                  <a:ea typeface="+mn-ea"/>
                  <a:cs typeface="+mn-cs"/>
                </a:rPr>
                <a:t>Kodun doğru çalıştığını garanti etmez; olmazsa</a:t>
              </a:r>
              <a:br/>
              <a:r>
                <a:rPr lang="tr-TR" sz="1050" dirty="0">
                  <a:solidFill>
                    <a:srgbClr val="172B3A"/>
                  </a:solidFill>
                  <a:latin typeface="+mn-lt"/>
                  <a:ea typeface="+mn-ea"/>
                  <a:cs typeface="+mn-cs"/>
                </a:rPr>
                <a:t>en küçük değişiklik diğer sistemleri bozar.</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958628" cy="557403"/>
            <a:chOff x="595122" y="282892"/>
            <a:chExt cx="4958628" cy="557403"/>
          </a:xfrm>
        </p:grpSpPr>
        <p:sp>
          <p:nvSpPr>
            <p:cNvPr id="4" name="TextBox 4"/>
            <p:cNvSpPr txBox="1"/>
            <p:nvPr/>
          </p:nvSpPr>
          <p:spPr>
            <a:xfrm>
              <a:off x="595122" y="282892"/>
              <a:ext cx="495862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REST ve kaynak tasarımı</a:t>
              </a:r>
            </a:p>
          </p:txBody>
        </p:sp>
      </p:grpSp>
      <p:grpSp>
        <p:nvGrpSpPr>
          <p:cNvPr id="10" name="definition-box"/>
          <p:cNvGrpSpPr/>
          <p:nvPr/>
        </p:nvGrpSpPr>
        <p:grpSpPr>
          <a:xfrm>
            <a:off x="609600" y="1104900"/>
            <a:ext cx="10972800" cy="829056"/>
            <a:chOff x="609600" y="1104900"/>
            <a:chExt cx="10972800" cy="829056"/>
          </a:xfrm>
        </p:grpSpPr>
        <p:sp>
          <p:nvSpPr>
            <p:cNvPr id="6" name="Rectangle 6"/>
            <p:cNvSpPr/>
            <p:nvPr/>
          </p:nvSpPr>
          <p:spPr>
            <a:xfrm>
              <a:off x="609600" y="1104900"/>
              <a:ext cx="10972800" cy="800100"/>
            </a:xfrm>
            <a:prstGeom prst="roundRect">
              <a:avLst>
                <a:gd name="adj" fmla="val 9524"/>
              </a:avLst>
            </a:prstGeom>
            <a:solidFill>
              <a:srgbClr val="EAF4F6"/>
            </a:solidFill>
            <a:ln>
              <a:noFill/>
            </a:ln>
          </p:spPr>
        </p:sp>
        <p:sp>
          <p:nvSpPr>
            <p:cNvPr id="7" name="TextBox 7"/>
            <p:cNvSpPr txBox="1"/>
            <p:nvPr/>
          </p:nvSpPr>
          <p:spPr>
            <a:xfrm>
              <a:off x="907923" y="1253014"/>
              <a:ext cx="55273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Tanım</a:t>
              </a:r>
            </a:p>
          </p:txBody>
        </p:sp>
        <p:sp>
          <p:nvSpPr>
            <p:cNvPr id="8" name="TextBox 8"/>
            <p:cNvSpPr txBox="1"/>
            <p:nvPr/>
          </p:nvSpPr>
          <p:spPr>
            <a:xfrm>
              <a:off x="907542" y="1492568"/>
              <a:ext cx="861351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REST, kaynakları URL'ler ve standart HTTP davranışları üzerinden yöneten mimari yaklaşımdır.</a:t>
              </a:r>
            </a:p>
          </p:txBody>
        </p:sp>
        <p:sp>
          <p:nvSpPr>
            <p:cNvPr id="9" name="TextBox 9"/>
            <p:cNvSpPr txBox="1"/>
            <p:nvPr/>
          </p:nvSpPr>
          <p:spPr>
            <a:xfrm>
              <a:off x="908304" y="1699260"/>
              <a:ext cx="793331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Kaynak: uygulamada kimliği olan, hakkında işlem yapılabilen varlık — ekipman, öğrenci, rezervasyon.</a:t>
              </a:r>
            </a:p>
          </p:txBody>
        </p:sp>
      </p:grpSp>
      <p:grpSp>
        <p:nvGrpSpPr>
          <p:cNvPr id="24" name="constraints-panel"/>
          <p:cNvGrpSpPr/>
          <p:nvPr/>
        </p:nvGrpSpPr>
        <p:grpSpPr>
          <a:xfrm>
            <a:off x="601599" y="1944529"/>
            <a:ext cx="5265801" cy="3122771"/>
            <a:chOff x="601599" y="1944529"/>
            <a:chExt cx="5265801" cy="3122771"/>
          </a:xfrm>
        </p:grpSpPr>
        <p:sp>
          <p:nvSpPr>
            <p:cNvPr id="11" name="TextBox 11"/>
            <p:cNvSpPr txBox="1"/>
            <p:nvPr/>
          </p:nvSpPr>
          <p:spPr>
            <a:xfrm>
              <a:off x="601599" y="1944529"/>
              <a:ext cx="404477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Fielding'in altı mimari kısıtı (2000)</a:t>
              </a:r>
            </a:p>
          </p:txBody>
        </p:sp>
        <p:sp>
          <p:nvSpPr>
            <p:cNvPr id="12" name="Rectangle 12"/>
            <p:cNvSpPr/>
            <p:nvPr/>
          </p:nvSpPr>
          <p:spPr>
            <a:xfrm>
              <a:off x="609600" y="2286000"/>
              <a:ext cx="5257800" cy="400050"/>
            </a:xfrm>
            <a:prstGeom prst="roundRect">
              <a:avLst>
                <a:gd name="adj" fmla="val 14286"/>
              </a:avLst>
            </a:prstGeom>
            <a:solidFill>
              <a:srgbClr val="FFFFFF"/>
            </a:solidFill>
            <a:ln w="9525">
              <a:solidFill>
                <a:srgbClr val="B8CBD3"/>
              </a:solidFill>
            </a:ln>
          </p:spPr>
        </p:sp>
        <p:sp>
          <p:nvSpPr>
            <p:cNvPr id="13" name="TextBox 13"/>
            <p:cNvSpPr txBox="1"/>
            <p:nvPr/>
          </p:nvSpPr>
          <p:spPr>
            <a:xfrm>
              <a:off x="755904" y="2404110"/>
              <a:ext cx="209421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İstemci–sunucu ayrımı</a:t>
              </a:r>
            </a:p>
          </p:txBody>
        </p:sp>
        <p:sp>
          <p:nvSpPr>
            <p:cNvPr id="14" name="Rectangle 14"/>
            <p:cNvSpPr/>
            <p:nvPr/>
          </p:nvSpPr>
          <p:spPr>
            <a:xfrm>
              <a:off x="609600" y="2762250"/>
              <a:ext cx="5257800" cy="400050"/>
            </a:xfrm>
            <a:prstGeom prst="roundRect">
              <a:avLst>
                <a:gd name="adj" fmla="val 14286"/>
              </a:avLst>
            </a:prstGeom>
            <a:solidFill>
              <a:srgbClr val="FFFFFF"/>
            </a:solidFill>
            <a:ln w="9525">
              <a:solidFill>
                <a:srgbClr val="B8CBD3"/>
              </a:solidFill>
            </a:ln>
          </p:spPr>
        </p:sp>
        <p:sp>
          <p:nvSpPr>
            <p:cNvPr id="15" name="TextBox 15"/>
            <p:cNvSpPr txBox="1"/>
            <p:nvPr/>
          </p:nvSpPr>
          <p:spPr>
            <a:xfrm>
              <a:off x="755904" y="2880360"/>
              <a:ext cx="25544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Durumsuzluk (statelessness)</a:t>
              </a:r>
            </a:p>
          </p:txBody>
        </p:sp>
        <p:sp>
          <p:nvSpPr>
            <p:cNvPr id="16" name="Rectangle 16"/>
            <p:cNvSpPr/>
            <p:nvPr/>
          </p:nvSpPr>
          <p:spPr>
            <a:xfrm>
              <a:off x="609600" y="3238500"/>
              <a:ext cx="5257800" cy="400050"/>
            </a:xfrm>
            <a:prstGeom prst="roundRect">
              <a:avLst>
                <a:gd name="adj" fmla="val 14286"/>
              </a:avLst>
            </a:prstGeom>
            <a:solidFill>
              <a:srgbClr val="FFFFFF"/>
            </a:solidFill>
            <a:ln w="9525">
              <a:solidFill>
                <a:srgbClr val="B8CBD3"/>
              </a:solidFill>
            </a:ln>
          </p:spPr>
        </p:sp>
        <p:sp>
          <p:nvSpPr>
            <p:cNvPr id="17" name="TextBox 17"/>
            <p:cNvSpPr txBox="1"/>
            <p:nvPr/>
          </p:nvSpPr>
          <p:spPr>
            <a:xfrm>
              <a:off x="755904" y="3356610"/>
              <a:ext cx="16970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Önbelleklenebilirlik</a:t>
              </a:r>
            </a:p>
          </p:txBody>
        </p:sp>
        <p:sp>
          <p:nvSpPr>
            <p:cNvPr id="18" name="Rectangle 18"/>
            <p:cNvSpPr/>
            <p:nvPr/>
          </p:nvSpPr>
          <p:spPr>
            <a:xfrm>
              <a:off x="609600" y="3714750"/>
              <a:ext cx="5257800" cy="400050"/>
            </a:xfrm>
            <a:prstGeom prst="roundRect">
              <a:avLst>
                <a:gd name="adj" fmla="val 14286"/>
              </a:avLst>
            </a:prstGeom>
            <a:solidFill>
              <a:srgbClr val="FFFFFF"/>
            </a:solidFill>
            <a:ln w="9525">
              <a:solidFill>
                <a:srgbClr val="B8CBD3"/>
              </a:solidFill>
            </a:ln>
          </p:spPr>
        </p:sp>
        <p:sp>
          <p:nvSpPr>
            <p:cNvPr id="19" name="TextBox 19"/>
            <p:cNvSpPr txBox="1"/>
            <p:nvPr/>
          </p:nvSpPr>
          <p:spPr>
            <a:xfrm>
              <a:off x="755904" y="3832860"/>
              <a:ext cx="152062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4. Katmanlı sistem</a:t>
              </a:r>
            </a:p>
          </p:txBody>
        </p:sp>
        <p:sp>
          <p:nvSpPr>
            <p:cNvPr id="20" name="Rectangle 20"/>
            <p:cNvSpPr/>
            <p:nvPr/>
          </p:nvSpPr>
          <p:spPr>
            <a:xfrm>
              <a:off x="609600" y="4191000"/>
              <a:ext cx="5257800" cy="400050"/>
            </a:xfrm>
            <a:prstGeom prst="roundRect">
              <a:avLst>
                <a:gd name="adj" fmla="val 14286"/>
              </a:avLst>
            </a:prstGeom>
            <a:solidFill>
              <a:srgbClr val="FFFFFF"/>
            </a:solidFill>
            <a:ln w="9525">
              <a:solidFill>
                <a:srgbClr val="B8CBD3"/>
              </a:solidFill>
            </a:ln>
          </p:spPr>
        </p:sp>
        <p:sp>
          <p:nvSpPr>
            <p:cNvPr id="21" name="TextBox 21"/>
            <p:cNvSpPr txBox="1"/>
            <p:nvPr/>
          </p:nvSpPr>
          <p:spPr>
            <a:xfrm>
              <a:off x="755904" y="4309110"/>
              <a:ext cx="27077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5. İsteğe bağlı kod-üzerine-talep</a:t>
              </a:r>
            </a:p>
          </p:txBody>
        </p:sp>
        <p:sp>
          <p:nvSpPr>
            <p:cNvPr id="22" name="Rectangle 22"/>
            <p:cNvSpPr/>
            <p:nvPr/>
          </p:nvSpPr>
          <p:spPr>
            <a:xfrm>
              <a:off x="609600" y="4667250"/>
              <a:ext cx="5257800" cy="400050"/>
            </a:xfrm>
            <a:prstGeom prst="roundRect">
              <a:avLst>
                <a:gd name="adj" fmla="val 14286"/>
              </a:avLst>
            </a:prstGeom>
            <a:solidFill>
              <a:srgbClr val="EAF4F6"/>
            </a:solidFill>
            <a:ln w="14288">
              <a:solidFill>
                <a:srgbClr val="00A6A6"/>
              </a:solidFill>
            </a:ln>
          </p:spPr>
        </p:sp>
        <p:sp>
          <p:nvSpPr>
            <p:cNvPr id="23" name="TextBox 23"/>
            <p:cNvSpPr txBox="1"/>
            <p:nvPr/>
          </p:nvSpPr>
          <p:spPr>
            <a:xfrm>
              <a:off x="755904" y="4785360"/>
              <a:ext cx="413147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6. Tek biçimli arayüz (kaynakların tanımlanması)</a:t>
              </a:r>
            </a:p>
          </p:txBody>
        </p:sp>
      </p:grpSp>
      <p:grpSp>
        <p:nvGrpSpPr>
          <p:cNvPr id="31" name="why-panel"/>
          <p:cNvGrpSpPr/>
          <p:nvPr/>
        </p:nvGrpSpPr>
        <p:grpSpPr>
          <a:xfrm>
            <a:off x="6164199" y="1944529"/>
            <a:ext cx="5418201" cy="3122771"/>
            <a:chOff x="6164199" y="1944529"/>
            <a:chExt cx="5418201" cy="3122771"/>
          </a:xfrm>
        </p:grpSpPr>
        <p:sp>
          <p:nvSpPr>
            <p:cNvPr id="25" name="TextBox 25"/>
            <p:cNvSpPr txBox="1"/>
            <p:nvPr/>
          </p:nvSpPr>
          <p:spPr>
            <a:xfrm>
              <a:off x="6164199" y="19445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26" name="TextBox 26"/>
            <p:cNvSpPr txBox="1"/>
            <p:nvPr/>
          </p:nvSpPr>
          <p:spPr>
            <a:xfrm>
              <a:off x="6165723" y="2300764"/>
              <a:ext cx="3865626" cy="7065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Farklı istemcilerin (tarayıcı, mobil, masaüstü)</a:t>
              </a:r>
              <a:br/>
              <a:r>
                <a:rPr lang="tr-TR" sz="1280" dirty="0">
                  <a:solidFill>
                    <a:srgbClr val="172B3A"/>
                  </a:solidFill>
                  <a:latin typeface="+mn-lt"/>
                  <a:ea typeface="+mn-ea"/>
                  <a:cs typeface="+mn-cs"/>
                </a:rPr>
                <a:t>aynı sunucuyla ortak kurallara göre</a:t>
              </a:r>
              <a:br/>
              <a:r>
                <a:rPr lang="tr-TR" sz="1280" dirty="0">
                  <a:solidFill>
                    <a:srgbClr val="172B3A"/>
                  </a:solidFill>
                  <a:latin typeface="+mn-lt"/>
                  <a:ea typeface="+mn-ea"/>
                  <a:cs typeface="+mn-cs"/>
                </a:rPr>
                <a:t>iletişim kurmasını sağlar.</a:t>
              </a:r>
            </a:p>
          </p:txBody>
        </p:sp>
        <p:sp>
          <p:nvSpPr>
            <p:cNvPr id="27" name="TextBox 27"/>
            <p:cNvSpPr txBox="1"/>
            <p:nvPr/>
          </p:nvSpPr>
          <p:spPr>
            <a:xfrm>
              <a:off x="6165723" y="3119914"/>
              <a:ext cx="3386074" cy="7065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REST olmadan her proje kendi fiillerini</a:t>
              </a:r>
              <a:br/>
              <a:r>
                <a:rPr lang="tr-TR" sz="1280" dirty="0">
                  <a:solidFill>
                    <a:srgbClr val="172B3A"/>
                  </a:solidFill>
                  <a:latin typeface="+mn-lt"/>
                  <a:ea typeface="+mn-ea"/>
                  <a:cs typeface="+mn-cs"/>
                </a:rPr>
                <a:t>uydurur: /cihazGetir, /rezervasyon_ekle,</a:t>
              </a:r>
              <a:br/>
              <a:r>
                <a:rPr lang="tr-TR" sz="1280" dirty="0">
                  <a:solidFill>
                    <a:srgbClr val="172B3A"/>
                  </a:solidFill>
                  <a:latin typeface="+mn-lt"/>
                  <a:ea typeface="+mn-ea"/>
                  <a:cs typeface="+mn-cs"/>
                </a:rPr>
                <a:t>/silCihaz — öğrenmesi ve bakımı zorlaşır.</a:t>
              </a:r>
            </a:p>
          </p:txBody>
        </p:sp>
        <p:sp>
          <p:nvSpPr>
            <p:cNvPr id="28" name="Rectangle 28"/>
            <p:cNvSpPr/>
            <p:nvPr/>
          </p:nvSpPr>
          <p:spPr>
            <a:xfrm>
              <a:off x="6172200" y="4191000"/>
              <a:ext cx="5410200" cy="876300"/>
            </a:xfrm>
            <a:prstGeom prst="roundRect">
              <a:avLst>
                <a:gd name="adj" fmla="val 8696"/>
              </a:avLst>
            </a:prstGeom>
            <a:solidFill>
              <a:srgbClr val="12355B"/>
            </a:solidFill>
            <a:ln>
              <a:noFill/>
            </a:ln>
          </p:spPr>
        </p:sp>
        <p:sp>
          <p:nvSpPr>
            <p:cNvPr id="29" name="TextBox 29"/>
            <p:cNvSpPr txBox="1"/>
            <p:nvPr/>
          </p:nvSpPr>
          <p:spPr>
            <a:xfrm>
              <a:off x="6394704" y="4347210"/>
              <a:ext cx="1832546"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Kütüphane benzetmesi</a:t>
              </a:r>
            </a:p>
          </p:txBody>
        </p:sp>
        <p:sp>
          <p:nvSpPr>
            <p:cNvPr id="30" name="TextBox 30"/>
            <p:cNvSpPr txBox="1"/>
            <p:nvPr/>
          </p:nvSpPr>
          <p:spPr>
            <a:xfrm>
              <a:off x="6395085" y="4602956"/>
              <a:ext cx="365988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EAF4F6"/>
                  </a:solidFill>
                  <a:latin typeface="+mn-lt"/>
                  <a:ea typeface="+mn-ea"/>
                  <a:cs typeface="+mn-cs"/>
                </a:rPr>
                <a:t>“Kitabı listele” için kataloğa gidersiniz, ayrı bir</a:t>
              </a:r>
              <a:br/>
              <a:r>
                <a:rPr lang="tr-TR" sz="1120" dirty="0">
                  <a:solidFill>
                    <a:srgbClr val="EAF4F6"/>
                  </a:solidFill>
                  <a:latin typeface="+mn-lt"/>
                  <a:ea typeface="+mn-ea"/>
                  <a:cs typeface="+mn-cs"/>
                </a:rPr>
                <a:t>kapı aramazsınız: /kitaplar kaynak, POST niyettir.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600878" cy="557403"/>
            <a:chOff x="595122" y="282892"/>
            <a:chExt cx="5600878" cy="557403"/>
          </a:xfrm>
        </p:grpSpPr>
        <p:sp>
          <p:nvSpPr>
            <p:cNvPr id="4" name="TextBox 4"/>
            <p:cNvSpPr txBox="1"/>
            <p:nvPr/>
          </p:nvSpPr>
          <p:spPr>
            <a:xfrm>
              <a:off x="595122" y="282892"/>
              <a:ext cx="560087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Kaynak adlandırma kuralları</a:t>
              </a:r>
            </a:p>
          </p:txBody>
        </p:sp>
      </p:grpSp>
      <p:grpSp>
        <p:nvGrpSpPr>
          <p:cNvPr id="21" name="rules-panel"/>
          <p:cNvGrpSpPr/>
          <p:nvPr/>
        </p:nvGrpSpPr>
        <p:grpSpPr>
          <a:xfrm>
            <a:off x="609600" y="1143000"/>
            <a:ext cx="5443571" cy="3600450"/>
            <a:chOff x="609600" y="1143000"/>
            <a:chExt cx="5443571" cy="3600450"/>
          </a:xfrm>
        </p:grpSpPr>
        <p:sp>
          <p:nvSpPr>
            <p:cNvPr id="6" name="Rectangle 6"/>
            <p:cNvSpPr/>
            <p:nvPr/>
          </p:nvSpPr>
          <p:spPr>
            <a:xfrm>
              <a:off x="609600" y="1143000"/>
              <a:ext cx="5257800" cy="895350"/>
            </a:xfrm>
            <a:prstGeom prst="roundRect">
              <a:avLst>
                <a:gd name="adj" fmla="val 8511"/>
              </a:avLst>
            </a:prstGeom>
            <a:solidFill>
              <a:srgbClr val="FFFFFF"/>
            </a:solidFill>
            <a:ln w="14288">
              <a:solidFill>
                <a:srgbClr val="B8CBD3"/>
              </a:solidFill>
            </a:ln>
          </p:spPr>
        </p:sp>
        <p:sp>
          <p:nvSpPr>
            <p:cNvPr id="7" name="TextBox 7"/>
            <p:cNvSpPr txBox="1"/>
            <p:nvPr/>
          </p:nvSpPr>
          <p:spPr>
            <a:xfrm>
              <a:off x="831342" y="1283018"/>
              <a:ext cx="24620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Koleksiyon adları çoğuldur</a:t>
              </a:r>
            </a:p>
          </p:txBody>
        </p:sp>
        <p:sp>
          <p:nvSpPr>
            <p:cNvPr id="8" name="TextBox 8"/>
            <p:cNvSpPr txBox="1"/>
            <p:nvPr/>
          </p:nvSpPr>
          <p:spPr>
            <a:xfrm>
              <a:off x="832485" y="1554956"/>
              <a:ext cx="52206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/api/ekipman değil /api/ekipmanlar — çünkü çoğul, kümeyi çağrıştırır.</a:t>
              </a:r>
            </a:p>
          </p:txBody>
        </p:sp>
        <p:sp>
          <p:nvSpPr>
            <p:cNvPr id="9" name="TextBox 9"/>
            <p:cNvSpPr txBox="1"/>
            <p:nvPr/>
          </p:nvSpPr>
          <p:spPr>
            <a:xfrm>
              <a:off x="832485" y="1764506"/>
              <a:ext cx="405715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Küçük harf, sözcükler tire ile ayrılır (taşınabilirlik).</a:t>
              </a:r>
            </a:p>
          </p:txBody>
        </p:sp>
        <p:sp>
          <p:nvSpPr>
            <p:cNvPr id="10" name="Rectangle 10"/>
            <p:cNvSpPr/>
            <p:nvPr/>
          </p:nvSpPr>
          <p:spPr>
            <a:xfrm>
              <a:off x="609600" y="2152650"/>
              <a:ext cx="5257800" cy="895350"/>
            </a:xfrm>
            <a:prstGeom prst="roundRect">
              <a:avLst>
                <a:gd name="adj" fmla="val 8511"/>
              </a:avLst>
            </a:prstGeom>
            <a:solidFill>
              <a:srgbClr val="FFFFFF"/>
            </a:solidFill>
            <a:ln w="14288">
              <a:solidFill>
                <a:srgbClr val="B8CBD3"/>
              </a:solidFill>
            </a:ln>
          </p:spPr>
        </p:sp>
        <p:sp>
          <p:nvSpPr>
            <p:cNvPr id="11" name="TextBox 11"/>
            <p:cNvSpPr txBox="1"/>
            <p:nvPr/>
          </p:nvSpPr>
          <p:spPr>
            <a:xfrm>
              <a:off x="831342" y="2292668"/>
              <a:ext cx="187979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Yollara fiil konulmaz</a:t>
              </a:r>
            </a:p>
          </p:txBody>
        </p:sp>
        <p:sp>
          <p:nvSpPr>
            <p:cNvPr id="12" name="TextBox 12"/>
            <p:cNvSpPr txBox="1"/>
            <p:nvPr/>
          </p:nvSpPr>
          <p:spPr>
            <a:xfrm>
              <a:off x="832485" y="2564606"/>
              <a:ext cx="433265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GET /api/ekipmanlar/12 — işin ne olduğu metodun görevidir,</a:t>
              </a:r>
            </a:p>
          </p:txBody>
        </p:sp>
        <p:sp>
          <p:nvSpPr>
            <p:cNvPr id="13" name="TextBox 13"/>
            <p:cNvSpPr txBox="1"/>
            <p:nvPr/>
          </p:nvSpPr>
          <p:spPr>
            <a:xfrm>
              <a:off x="832485" y="2774156"/>
              <a:ext cx="10216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adresin değil.</a:t>
              </a:r>
            </a:p>
          </p:txBody>
        </p:sp>
        <p:sp>
          <p:nvSpPr>
            <p:cNvPr id="14" name="Rectangle 14"/>
            <p:cNvSpPr/>
            <p:nvPr/>
          </p:nvSpPr>
          <p:spPr>
            <a:xfrm>
              <a:off x="609600" y="3162300"/>
              <a:ext cx="5257800" cy="895350"/>
            </a:xfrm>
            <a:prstGeom prst="roundRect">
              <a:avLst>
                <a:gd name="adj" fmla="val 8511"/>
              </a:avLst>
            </a:prstGeom>
            <a:solidFill>
              <a:srgbClr val="FFFFFF"/>
            </a:solidFill>
            <a:ln w="14288">
              <a:solidFill>
                <a:srgbClr val="B8CBD3"/>
              </a:solidFill>
            </a:ln>
          </p:spPr>
        </p:sp>
        <p:sp>
          <p:nvSpPr>
            <p:cNvPr id="15" name="TextBox 15"/>
            <p:cNvSpPr txBox="1"/>
            <p:nvPr/>
          </p:nvSpPr>
          <p:spPr>
            <a:xfrm>
              <a:off x="831342" y="3302318"/>
              <a:ext cx="333942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Hiyerarşi sahiplik ilişkisini yansıtır</a:t>
              </a:r>
            </a:p>
          </p:txBody>
        </p:sp>
        <p:sp>
          <p:nvSpPr>
            <p:cNvPr id="16" name="TextBox 16"/>
            <p:cNvSpPr txBox="1"/>
            <p:nvPr/>
          </p:nvSpPr>
          <p:spPr>
            <a:xfrm>
              <a:off x="832485" y="3574256"/>
              <a:ext cx="426326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/api/rezervasyonlar/7 tekil adresi yeterlidir; derin iç içe</a:t>
              </a:r>
            </a:p>
          </p:txBody>
        </p:sp>
        <p:sp>
          <p:nvSpPr>
            <p:cNvPr id="17" name="TextBox 17"/>
            <p:cNvSpPr txBox="1"/>
            <p:nvPr/>
          </p:nvSpPr>
          <p:spPr>
            <a:xfrm>
              <a:off x="832485" y="3783806"/>
              <a:ext cx="412757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yollar yalnızca sahiplik sorgunun parçasıysa kullanılır.</a:t>
              </a:r>
            </a:p>
          </p:txBody>
        </p:sp>
        <p:sp>
          <p:nvSpPr>
            <p:cNvPr id="18" name="Rectangle 18"/>
            <p:cNvSpPr/>
            <p:nvPr/>
          </p:nvSpPr>
          <p:spPr>
            <a:xfrm>
              <a:off x="609600" y="4171950"/>
              <a:ext cx="5257800" cy="571500"/>
            </a:xfrm>
            <a:prstGeom prst="roundRect">
              <a:avLst>
                <a:gd name="adj" fmla="val 13333"/>
              </a:avLst>
            </a:prstGeom>
            <a:solidFill>
              <a:srgbClr val="EAF4F6"/>
            </a:solidFill>
            <a:ln>
              <a:noFill/>
            </a:ln>
          </p:spPr>
        </p:sp>
        <p:sp>
          <p:nvSpPr>
            <p:cNvPr id="19" name="TextBox 19"/>
            <p:cNvSpPr txBox="1"/>
            <p:nvPr/>
          </p:nvSpPr>
          <p:spPr>
            <a:xfrm>
              <a:off x="832866" y="4287202"/>
              <a:ext cx="127771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Dikkat noktası</a:t>
              </a:r>
            </a:p>
          </p:txBody>
        </p:sp>
        <p:sp>
          <p:nvSpPr>
            <p:cNvPr id="20" name="TextBox 20"/>
            <p:cNvSpPr txBox="1"/>
            <p:nvPr/>
          </p:nvSpPr>
          <p:spPr>
            <a:xfrm>
              <a:off x="832866" y="4496752"/>
              <a:ext cx="454576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Fiil URL'ye değil metoda taşınır; adres neyin sorulduğunu söyler.</a:t>
              </a:r>
            </a:p>
          </p:txBody>
        </p:sp>
      </p:grpSp>
      <p:grpSp>
        <p:nvGrpSpPr>
          <p:cNvPr id="36" name="code-card"/>
          <p:cNvGrpSpPr/>
          <p:nvPr/>
        </p:nvGrpSpPr>
        <p:grpSpPr>
          <a:xfrm>
            <a:off x="6172200" y="1143000"/>
            <a:ext cx="5410200" cy="4686300"/>
            <a:chOff x="6172200" y="1143000"/>
            <a:chExt cx="5410200" cy="4686300"/>
          </a:xfrm>
        </p:grpSpPr>
        <p:sp>
          <p:nvSpPr>
            <p:cNvPr id="22" name="Rectangle 22"/>
            <p:cNvSpPr/>
            <p:nvPr/>
          </p:nvSpPr>
          <p:spPr>
            <a:xfrm>
              <a:off x="6172200" y="1143000"/>
              <a:ext cx="5410200" cy="1905000"/>
            </a:xfrm>
            <a:prstGeom prst="roundRect">
              <a:avLst>
                <a:gd name="adj" fmla="val 4000"/>
              </a:avLst>
            </a:prstGeom>
            <a:solidFill>
              <a:srgbClr val="12355B"/>
            </a:solidFill>
            <a:ln>
              <a:noFill/>
            </a:ln>
          </p:spPr>
        </p:sp>
        <p:sp>
          <p:nvSpPr>
            <p:cNvPr id="23" name="TextBox 23"/>
            <p:cNvSpPr txBox="1"/>
            <p:nvPr/>
          </p:nvSpPr>
          <p:spPr>
            <a:xfrm>
              <a:off x="6395466" y="1315402"/>
              <a:ext cx="3127751" cy="205359"/>
            </a:xfrm>
            <a:prstGeom prst="rect">
              <a:avLst/>
            </a:prstGeom>
            <a:noFill/>
            <a:ln>
              <a:noFill/>
            </a:ln>
          </p:spPr>
          <p:txBody>
            <a:bodyPr wrap="none" lIns="0" tIns="0" rIns="0" bIns="0" anchor="t" anchorCtr="0">
              <a:spAutoFit/>
            </a:bodyPr>
            <a:lstStyle/>
            <a:p>
              <a:pPr algn="l"/>
              <a:r>
                <a:rPr lang="tr-TR" sz="1050" b="1" spc="75" dirty="0">
                  <a:solidFill>
                    <a:srgbClr val="00A6A6"/>
                  </a:solidFill>
                  <a:latin typeface="+mn-lt"/>
                  <a:ea typeface="+mn-ea"/>
                  <a:cs typeface="+mn-cs"/>
                </a:rPr>
                <a:t>KOD 6.1 · YOL KURUCU FONKSİYONLAR</a:t>
              </a:r>
            </a:p>
          </p:txBody>
        </p:sp>
        <p:sp>
          <p:nvSpPr>
            <p:cNvPr id="24" name="TextBox 24"/>
            <p:cNvSpPr txBox="1"/>
            <p:nvPr/>
          </p:nvSpPr>
          <p:spPr>
            <a:xfrm>
              <a:off x="6395085" y="1612106"/>
              <a:ext cx="3531870" cy="42957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Consolas"/>
                  <a:ea typeface="Consolas"/>
                  <a:cs typeface="Consolas"/>
                </a:rPr>
                <a:t>type Koleksiyon = "ekipmanlar" | "ogrenciler"</a:t>
              </a:r>
              <a:br/>
              <a:r>
                <a:rPr lang="tr-TR" sz="1120" dirty="0">
                  <a:solidFill>
                    <a:srgbClr val="EAF4F6"/>
                  </a:solidFill>
                  <a:latin typeface="Consolas"/>
                  <a:ea typeface="Consolas"/>
                  <a:cs typeface="Consolas"/>
                </a:rPr>
                <a:t>| "rezervasyonlar";</a:t>
              </a:r>
            </a:p>
          </p:txBody>
        </p:sp>
        <p:sp>
          <p:nvSpPr>
            <p:cNvPr id="25" name="TextBox 25"/>
            <p:cNvSpPr txBox="1"/>
            <p:nvPr/>
          </p:nvSpPr>
          <p:spPr>
            <a:xfrm>
              <a:off x="6395085" y="2107406"/>
              <a:ext cx="3531870"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EAF4F6"/>
                  </a:solidFill>
                  <a:latin typeface="Consolas"/>
                  <a:ea typeface="Consolas"/>
                  <a:cs typeface="Consolas"/>
                </a:rPr>
                <a:t>function koleksiyonYolu(kaynak: Koleksiyon) {</a:t>
              </a:r>
              <a:br/>
              <a:r>
                <a:rPr lang="tr-TR" sz="1120" dirty="0">
                  <a:solidFill>
                    <a:srgbClr val="EAF4F6"/>
                  </a:solidFill>
                  <a:latin typeface="Consolas"/>
                  <a:ea typeface="Consolas"/>
                  <a:cs typeface="Consolas"/>
                </a:rPr>
                <a:t>return `/api/${kaynak}`;</a:t>
              </a:r>
              <a:br/>
              <a:r>
                <a:rPr lang="tr-TR" sz="1120" dirty="0">
                  <a:solidFill>
                    <a:srgbClr val="EAF4F6"/>
                  </a:solidFill>
                  <a:latin typeface="Consolas"/>
                  <a:ea typeface="Consolas"/>
                  <a:cs typeface="Consolas"/>
                </a:rPr>
                <a:t>}</a:t>
              </a:r>
            </a:p>
          </p:txBody>
        </p:sp>
        <p:sp>
          <p:nvSpPr>
            <p:cNvPr id="26" name="TextBox 26"/>
            <p:cNvSpPr txBox="1"/>
            <p:nvPr/>
          </p:nvSpPr>
          <p:spPr>
            <a:xfrm>
              <a:off x="6395466" y="2782252"/>
              <a:ext cx="1410043"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 /api/ekipmanlar</a:t>
              </a:r>
            </a:p>
          </p:txBody>
        </p:sp>
        <p:sp>
          <p:nvSpPr>
            <p:cNvPr id="27" name="Rectangle 27"/>
            <p:cNvSpPr/>
            <p:nvPr/>
          </p:nvSpPr>
          <p:spPr>
            <a:xfrm>
              <a:off x="6172200" y="3200400"/>
              <a:ext cx="5410200" cy="1905000"/>
            </a:xfrm>
            <a:prstGeom prst="roundRect">
              <a:avLst>
                <a:gd name="adj" fmla="val 4000"/>
              </a:avLst>
            </a:prstGeom>
            <a:solidFill>
              <a:srgbClr val="FFFFFF"/>
            </a:solidFill>
            <a:ln w="14288">
              <a:solidFill>
                <a:srgbClr val="2E86AB"/>
              </a:solidFill>
            </a:ln>
          </p:spPr>
        </p:sp>
        <p:sp>
          <p:nvSpPr>
            <p:cNvPr id="28" name="TextBox 28"/>
            <p:cNvSpPr txBox="1"/>
            <p:nvPr/>
          </p:nvSpPr>
          <p:spPr>
            <a:xfrm>
              <a:off x="6394704" y="3356610"/>
              <a:ext cx="103568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Kodun amacı</a:t>
              </a:r>
            </a:p>
          </p:txBody>
        </p:sp>
        <p:sp>
          <p:nvSpPr>
            <p:cNvPr id="29" name="TextBox 29"/>
            <p:cNvSpPr txBox="1"/>
            <p:nvPr/>
          </p:nvSpPr>
          <p:spPr>
            <a:xfrm>
              <a:off x="6395085" y="3612356"/>
              <a:ext cx="3311398" cy="639128"/>
            </a:xfrm>
            <a:prstGeom prst="rect">
              <a:avLst/>
            </a:prstGeom>
            <a:noFill/>
            <a:ln>
              <a:noFill/>
            </a:ln>
          </p:spPr>
          <p:txBody>
            <a:bodyPr wrap="none" lIns="0" tIns="0" rIns="0" bIns="0" anchor="t" anchorCtr="0">
              <a:spAutoFit/>
            </a:bodyPr>
            <a:lstStyle/>
            <a:p>
              <a:pPr algn="l">
                <a:lnSpc>
                  <a:spcPts val="1650"/>
                </a:lnSpc>
              </a:pPr>
              <a:r>
                <a:rPr lang="tr-TR" sz="1120" dirty="0">
                  <a:solidFill>
                    <a:srgbClr val="172B3A"/>
                  </a:solidFill>
                  <a:latin typeface="+mn-lt"/>
                  <a:ea typeface="+mn-ea"/>
                  <a:cs typeface="+mn-cs"/>
                </a:rPr>
                <a:t>Koleksiyon URL'si ile tekil kaynak URL'sinin aynı</a:t>
              </a:r>
              <a:br/>
              <a:r>
                <a:rPr lang="tr-TR" sz="1120" dirty="0">
                  <a:solidFill>
                    <a:srgbClr val="172B3A"/>
                  </a:solidFill>
                  <a:latin typeface="+mn-lt"/>
                  <a:ea typeface="+mn-ea"/>
                  <a:cs typeface="+mn-cs"/>
                </a:rPr>
                <a:t>temel yoldan nasıl türetildiğini göstermek; ad</a:t>
              </a:r>
              <a:br/>
              <a:r>
                <a:rPr lang="tr-TR" sz="1120" dirty="0">
                  <a:solidFill>
                    <a:srgbClr val="172B3A"/>
                  </a:solidFill>
                  <a:latin typeface="+mn-lt"/>
                  <a:ea typeface="+mn-ea"/>
                  <a:cs typeface="+mn-cs"/>
                </a:rPr>
                <a:t>listede yoksa derleyici hata verir.</a:t>
              </a:r>
            </a:p>
          </p:txBody>
        </p:sp>
        <p:sp>
          <p:nvSpPr>
            <p:cNvPr id="30" name="TextBox 30"/>
            <p:cNvSpPr txBox="1"/>
            <p:nvPr/>
          </p:nvSpPr>
          <p:spPr>
            <a:xfrm>
              <a:off x="6395085" y="4355306"/>
              <a:ext cx="538792"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Kaynak</a:t>
              </a:r>
            </a:p>
          </p:txBody>
        </p:sp>
        <p:sp>
          <p:nvSpPr>
            <p:cNvPr id="31" name="TextBox 31"/>
            <p:cNvSpPr txBox="1"/>
            <p:nvPr/>
          </p:nvSpPr>
          <p:spPr>
            <a:xfrm>
              <a:off x="6395085" y="4583906"/>
              <a:ext cx="31979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Path kimlikle tekilleşir: /api/ekipmanlar/12</a:t>
              </a:r>
            </a:p>
          </p:txBody>
        </p:sp>
        <p:sp>
          <p:nvSpPr>
            <p:cNvPr id="32" name="TextBox 32"/>
            <p:cNvSpPr txBox="1"/>
            <p:nvPr/>
          </p:nvSpPr>
          <p:spPr>
            <a:xfrm>
              <a:off x="6395085" y="4774406"/>
              <a:ext cx="33209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 ekipmanlar koleksiyonunun 12 kimlikli üyesi.</a:t>
              </a:r>
            </a:p>
          </p:txBody>
        </p:sp>
        <p:sp>
          <p:nvSpPr>
            <p:cNvPr id="33" name="Rectangle 33"/>
            <p:cNvSpPr/>
            <p:nvPr/>
          </p:nvSpPr>
          <p:spPr>
            <a:xfrm>
              <a:off x="6172200" y="5257800"/>
              <a:ext cx="5410200" cy="571500"/>
            </a:xfrm>
            <a:prstGeom prst="roundRect">
              <a:avLst>
                <a:gd name="adj" fmla="val 13333"/>
              </a:avLst>
            </a:prstGeom>
            <a:solidFill>
              <a:srgbClr val="EAF4F6"/>
            </a:solidFill>
            <a:ln>
              <a:noFill/>
            </a:ln>
          </p:spPr>
        </p:sp>
        <p:sp>
          <p:nvSpPr>
            <p:cNvPr id="34" name="TextBox 34"/>
            <p:cNvSpPr txBox="1"/>
            <p:nvPr/>
          </p:nvSpPr>
          <p:spPr>
            <a:xfrm>
              <a:off x="6395466" y="5373052"/>
              <a:ext cx="743800"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Ne zaman?</a:t>
              </a:r>
            </a:p>
          </p:txBody>
        </p:sp>
        <p:sp>
          <p:nvSpPr>
            <p:cNvPr id="35" name="TextBox 35"/>
            <p:cNvSpPr txBox="1"/>
            <p:nvPr/>
          </p:nvSpPr>
          <p:spPr>
            <a:xfrm>
              <a:off x="6395466" y="5582602"/>
              <a:ext cx="449324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Varlık bağımsız kimliğe sahipse REST kaynağı olarak tasarlanır.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26968" cy="668845"/>
            <a:chOff x="609600" y="171450"/>
            <a:chExt cx="842696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773659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Kaynak hiyerarşisi ve yol/sorgu ayrımı</a:t>
              </a:r>
            </a:p>
          </p:txBody>
        </p:sp>
      </p:grpSp>
      <p:grpSp>
        <p:nvGrpSpPr>
          <p:cNvPr id="24" name="resource-hierarchy"/>
          <p:cNvGrpSpPr/>
          <p:nvPr/>
        </p:nvGrpSpPr>
        <p:grpSpPr>
          <a:xfrm>
            <a:off x="609600" y="1123950"/>
            <a:ext cx="10972800" cy="1143000"/>
            <a:chOff x="609600" y="1123950"/>
            <a:chExt cx="10972800" cy="1143000"/>
          </a:xfrm>
        </p:grpSpPr>
        <p:sp>
          <p:nvSpPr>
            <p:cNvPr id="12" name="Rectangle 12"/>
            <p:cNvSpPr/>
            <p:nvPr/>
          </p:nvSpPr>
          <p:spPr>
            <a:xfrm>
              <a:off x="609600" y="1123950"/>
              <a:ext cx="3429000" cy="1143000"/>
            </a:xfrm>
            <a:prstGeom prst="roundRect">
              <a:avLst>
                <a:gd name="adj" fmla="val 8333"/>
              </a:avLst>
            </a:prstGeom>
            <a:solidFill>
              <a:srgbClr val="FFFFFF"/>
            </a:solidFill>
            <a:ln w="14288">
              <a:solidFill>
                <a:srgbClr val="2E86AB"/>
              </a:solidFill>
            </a:ln>
          </p:spPr>
        </p:sp>
        <p:sp>
          <p:nvSpPr>
            <p:cNvPr id="13" name="TextBox 13"/>
            <p:cNvSpPr txBox="1"/>
            <p:nvPr/>
          </p:nvSpPr>
          <p:spPr>
            <a:xfrm>
              <a:off x="830580" y="1266825"/>
              <a:ext cx="164784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/api/ekipmanlar</a:t>
              </a:r>
            </a:p>
          </p:txBody>
        </p:sp>
        <p:sp>
          <p:nvSpPr>
            <p:cNvPr id="14" name="TextBox 14"/>
            <p:cNvSpPr txBox="1"/>
            <p:nvPr/>
          </p:nvSpPr>
          <p:spPr>
            <a:xfrm>
              <a:off x="832485" y="1554956"/>
              <a:ext cx="180458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GET liste · POST oluştur</a:t>
              </a:r>
            </a:p>
          </p:txBody>
        </p:sp>
        <p:sp>
          <p:nvSpPr>
            <p:cNvPr id="15" name="TextBox 15"/>
            <p:cNvSpPr txBox="1"/>
            <p:nvPr/>
          </p:nvSpPr>
          <p:spPr>
            <a:xfrm>
              <a:off x="832485" y="1764506"/>
              <a:ext cx="20290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/{id}: GET, PATCH, DELETE</a:t>
              </a:r>
            </a:p>
          </p:txBody>
        </p:sp>
        <p:sp>
          <p:nvSpPr>
            <p:cNvPr id="16" name="Rectangle 16"/>
            <p:cNvSpPr/>
            <p:nvPr/>
          </p:nvSpPr>
          <p:spPr>
            <a:xfrm>
              <a:off x="4248150" y="1123950"/>
              <a:ext cx="3429000" cy="1143000"/>
            </a:xfrm>
            <a:prstGeom prst="roundRect">
              <a:avLst>
                <a:gd name="adj" fmla="val 8333"/>
              </a:avLst>
            </a:prstGeom>
            <a:solidFill>
              <a:srgbClr val="FFFFFF"/>
            </a:solidFill>
            <a:ln w="14288">
              <a:solidFill>
                <a:srgbClr val="2E86AB"/>
              </a:solidFill>
            </a:ln>
          </p:spPr>
        </p:sp>
        <p:sp>
          <p:nvSpPr>
            <p:cNvPr id="17" name="TextBox 17"/>
            <p:cNvSpPr txBox="1"/>
            <p:nvPr/>
          </p:nvSpPr>
          <p:spPr>
            <a:xfrm>
              <a:off x="4469130" y="1266825"/>
              <a:ext cx="160543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/api/ogrenciler</a:t>
              </a:r>
            </a:p>
          </p:txBody>
        </p:sp>
        <p:sp>
          <p:nvSpPr>
            <p:cNvPr id="18" name="TextBox 18"/>
            <p:cNvSpPr txBox="1"/>
            <p:nvPr/>
          </p:nvSpPr>
          <p:spPr>
            <a:xfrm>
              <a:off x="4471035" y="1554956"/>
              <a:ext cx="180458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GET liste · POST oluştur</a:t>
              </a:r>
            </a:p>
          </p:txBody>
        </p:sp>
        <p:sp>
          <p:nvSpPr>
            <p:cNvPr id="19" name="TextBox 19"/>
            <p:cNvSpPr txBox="1"/>
            <p:nvPr/>
          </p:nvSpPr>
          <p:spPr>
            <a:xfrm>
              <a:off x="4471035" y="1764506"/>
              <a:ext cx="202901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/{id}: GET, PATCH, DELETE</a:t>
              </a:r>
            </a:p>
          </p:txBody>
        </p:sp>
        <p:sp>
          <p:nvSpPr>
            <p:cNvPr id="20" name="Rectangle 20"/>
            <p:cNvSpPr/>
            <p:nvPr/>
          </p:nvSpPr>
          <p:spPr>
            <a:xfrm>
              <a:off x="7886700" y="1123950"/>
              <a:ext cx="3695700" cy="1143000"/>
            </a:xfrm>
            <a:prstGeom prst="roundRect">
              <a:avLst>
                <a:gd name="adj" fmla="val 8333"/>
              </a:avLst>
            </a:prstGeom>
            <a:solidFill>
              <a:srgbClr val="EAF4F6"/>
            </a:solidFill>
            <a:ln w="14288">
              <a:solidFill>
                <a:srgbClr val="00A6A6"/>
              </a:solidFill>
            </a:ln>
          </p:spPr>
        </p:sp>
        <p:sp>
          <p:nvSpPr>
            <p:cNvPr id="21" name="TextBox 21"/>
            <p:cNvSpPr txBox="1"/>
            <p:nvPr/>
          </p:nvSpPr>
          <p:spPr>
            <a:xfrm>
              <a:off x="8107680" y="1266825"/>
              <a:ext cx="212490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/api/rezervasyonlar</a:t>
              </a:r>
            </a:p>
          </p:txBody>
        </p:sp>
        <p:sp>
          <p:nvSpPr>
            <p:cNvPr id="22" name="TextBox 22"/>
            <p:cNvSpPr txBox="1"/>
            <p:nvPr/>
          </p:nvSpPr>
          <p:spPr>
            <a:xfrm>
              <a:off x="8109585" y="1554956"/>
              <a:ext cx="222608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POST oluştur · GET liste/tekil</a:t>
              </a:r>
            </a:p>
          </p:txBody>
        </p:sp>
        <p:sp>
          <p:nvSpPr>
            <p:cNvPr id="23" name="TextBox 23"/>
            <p:cNvSpPr txBox="1"/>
            <p:nvPr/>
          </p:nvSpPr>
          <p:spPr>
            <a:xfrm>
              <a:off x="8109585" y="1764506"/>
              <a:ext cx="255601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/{id}: PATCH onayla · DELETE iptal</a:t>
              </a:r>
            </a:p>
          </p:txBody>
        </p:sp>
      </p:grpSp>
      <p:grpSp>
        <p:nvGrpSpPr>
          <p:cNvPr id="26" name="closure-note"/>
          <p:cNvGrpSpPr/>
          <p:nvPr/>
        </p:nvGrpSpPr>
        <p:grpSpPr>
          <a:xfrm>
            <a:off x="603123" y="2453164"/>
            <a:ext cx="9469986" cy="249364"/>
            <a:chOff x="603123" y="2453164"/>
            <a:chExt cx="9469986" cy="249364"/>
          </a:xfrm>
        </p:grpSpPr>
        <p:sp>
          <p:nvSpPr>
            <p:cNvPr id="25" name="TextBox 25"/>
            <p:cNvSpPr txBox="1"/>
            <p:nvPr/>
          </p:nvSpPr>
          <p:spPr>
            <a:xfrm>
              <a:off x="603123" y="2453164"/>
              <a:ext cx="9469986"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Kapalılık ilkesi: her ok istemcinin tahmin edebileceği bir endpoint'e karşılık gelir; ok yoksa endpoint de yoktur.</a:t>
              </a:r>
            </a:p>
          </p:txBody>
        </p:sp>
      </p:grpSp>
      <p:grpSp>
        <p:nvGrpSpPr>
          <p:cNvPr id="45" name="path-vs-query"/>
          <p:cNvGrpSpPr/>
          <p:nvPr/>
        </p:nvGrpSpPr>
        <p:grpSpPr>
          <a:xfrm>
            <a:off x="609600" y="2914650"/>
            <a:ext cx="10972800" cy="2667000"/>
            <a:chOff x="609600" y="2914650"/>
            <a:chExt cx="10972800" cy="2667000"/>
          </a:xfrm>
        </p:grpSpPr>
        <p:sp>
          <p:nvSpPr>
            <p:cNvPr id="27" name="Rectangle 27"/>
            <p:cNvSpPr/>
            <p:nvPr/>
          </p:nvSpPr>
          <p:spPr>
            <a:xfrm>
              <a:off x="609600" y="2914650"/>
              <a:ext cx="5257800" cy="2667000"/>
            </a:xfrm>
            <a:prstGeom prst="roundRect">
              <a:avLst>
                <a:gd name="adj" fmla="val 3571"/>
              </a:avLst>
            </a:prstGeom>
            <a:solidFill>
              <a:srgbClr val="FFFFFF"/>
            </a:solidFill>
            <a:ln w="14288">
              <a:solidFill>
                <a:srgbClr val="B8CBD3"/>
              </a:solidFill>
            </a:ln>
          </p:spPr>
        </p:sp>
        <p:sp>
          <p:nvSpPr>
            <p:cNvPr id="28" name="TextBox 28"/>
            <p:cNvSpPr txBox="1"/>
            <p:nvPr/>
          </p:nvSpPr>
          <p:spPr>
            <a:xfrm>
              <a:off x="830199" y="3068479"/>
              <a:ext cx="174263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Yol parametresi</a:t>
              </a:r>
            </a:p>
          </p:txBody>
        </p:sp>
        <p:sp>
          <p:nvSpPr>
            <p:cNvPr id="29" name="TextBox 29"/>
            <p:cNvSpPr txBox="1"/>
            <p:nvPr/>
          </p:nvSpPr>
          <p:spPr>
            <a:xfrm>
              <a:off x="831342" y="3397568"/>
              <a:ext cx="1812912"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/api/ekipmanlar/12</a:t>
              </a:r>
            </a:p>
          </p:txBody>
        </p:sp>
        <p:sp>
          <p:nvSpPr>
            <p:cNvPr id="30" name="TextBox 30"/>
            <p:cNvSpPr txBox="1"/>
            <p:nvPr/>
          </p:nvSpPr>
          <p:spPr>
            <a:xfrm>
              <a:off x="832104" y="3718560"/>
              <a:ext cx="31673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Kaynağı tekilleştiren bilgi — “ekipmanlar</a:t>
              </a:r>
            </a:p>
          </p:txBody>
        </p:sp>
        <p:sp>
          <p:nvSpPr>
            <p:cNvPr id="31" name="TextBox 31"/>
            <p:cNvSpPr txBox="1"/>
            <p:nvPr/>
          </p:nvSpPr>
          <p:spPr>
            <a:xfrm>
              <a:off x="832104" y="3947160"/>
              <a:ext cx="29361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koleksiyonunun kimliği 12 olan üyesi.”</a:t>
              </a:r>
            </a:p>
          </p:txBody>
        </p:sp>
        <p:sp>
          <p:nvSpPr>
            <p:cNvPr id="32" name="TextBox 32"/>
            <p:cNvSpPr txBox="1"/>
            <p:nvPr/>
          </p:nvSpPr>
          <p:spPr>
            <a:xfrm>
              <a:off x="832104" y="4251960"/>
              <a:ext cx="29413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Yol, önbellek anahtarının kendisidir.</a:t>
              </a:r>
            </a:p>
          </p:txBody>
        </p:sp>
        <p:sp>
          <p:nvSpPr>
            <p:cNvPr id="33" name="TextBox 33"/>
            <p:cNvSpPr txBox="1"/>
            <p:nvPr/>
          </p:nvSpPr>
          <p:spPr>
            <a:xfrm>
              <a:off x="832485" y="4641056"/>
              <a:ext cx="265026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GET çağrısı safe ve idempotenttir;</a:t>
              </a:r>
            </a:p>
          </p:txBody>
        </p:sp>
        <p:sp>
          <p:nvSpPr>
            <p:cNvPr id="34" name="TextBox 34"/>
            <p:cNvSpPr txBox="1"/>
            <p:nvPr/>
          </p:nvSpPr>
          <p:spPr>
            <a:xfrm>
              <a:off x="832485" y="4850606"/>
              <a:ext cx="215996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sunucuda durum değiştirmez.</a:t>
              </a:r>
            </a:p>
          </p:txBody>
        </p:sp>
        <p:sp>
          <p:nvSpPr>
            <p:cNvPr id="35" name="TextBox 35"/>
            <p:cNvSpPr txBox="1"/>
            <p:nvPr/>
          </p:nvSpPr>
          <p:spPr>
            <a:xfrm>
              <a:off x="832485" y="5193506"/>
              <a:ext cx="467533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Tekrar denenebilir — ağ hatası sonrası güvenle yeniden istenir.</a:t>
              </a:r>
            </a:p>
          </p:txBody>
        </p:sp>
        <p:sp>
          <p:nvSpPr>
            <p:cNvPr id="36" name="Rectangle 36"/>
            <p:cNvSpPr/>
            <p:nvPr/>
          </p:nvSpPr>
          <p:spPr>
            <a:xfrm>
              <a:off x="6172200" y="2914650"/>
              <a:ext cx="5410200" cy="2667000"/>
            </a:xfrm>
            <a:prstGeom prst="roundRect">
              <a:avLst>
                <a:gd name="adj" fmla="val 3571"/>
              </a:avLst>
            </a:prstGeom>
            <a:solidFill>
              <a:srgbClr val="FFFFFF"/>
            </a:solidFill>
            <a:ln w="14288">
              <a:solidFill>
                <a:srgbClr val="B8CBD3"/>
              </a:solidFill>
            </a:ln>
          </p:spPr>
        </p:sp>
        <p:sp>
          <p:nvSpPr>
            <p:cNvPr id="37" name="TextBox 37"/>
            <p:cNvSpPr txBox="1"/>
            <p:nvPr/>
          </p:nvSpPr>
          <p:spPr>
            <a:xfrm>
              <a:off x="6392799" y="3068479"/>
              <a:ext cx="20443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Sorgu parametresi</a:t>
              </a:r>
            </a:p>
          </p:txBody>
        </p:sp>
        <p:sp>
          <p:nvSpPr>
            <p:cNvPr id="38" name="TextBox 38"/>
            <p:cNvSpPr txBox="1"/>
            <p:nvPr/>
          </p:nvSpPr>
          <p:spPr>
            <a:xfrm>
              <a:off x="6393942" y="3397568"/>
              <a:ext cx="2812466"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/api/ekipmanlar?durum=musait</a:t>
              </a:r>
            </a:p>
          </p:txBody>
        </p:sp>
        <p:sp>
          <p:nvSpPr>
            <p:cNvPr id="39" name="TextBox 39"/>
            <p:cNvSpPr txBox="1"/>
            <p:nvPr/>
          </p:nvSpPr>
          <p:spPr>
            <a:xfrm>
              <a:off x="6394704" y="3718560"/>
              <a:ext cx="29252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Görünümü biçimlendiren bilgi — sayfa,</a:t>
              </a:r>
            </a:p>
          </p:txBody>
        </p:sp>
        <p:sp>
          <p:nvSpPr>
            <p:cNvPr id="40" name="TextBox 40"/>
            <p:cNvSpPr txBox="1"/>
            <p:nvPr/>
          </p:nvSpPr>
          <p:spPr>
            <a:xfrm>
              <a:off x="6394704" y="3947160"/>
              <a:ext cx="171648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filtre, sıralama gibi.</a:t>
              </a:r>
            </a:p>
          </p:txBody>
        </p:sp>
        <p:sp>
          <p:nvSpPr>
            <p:cNvPr id="41" name="TextBox 41"/>
            <p:cNvSpPr txBox="1"/>
            <p:nvPr/>
          </p:nvSpPr>
          <p:spPr>
            <a:xfrm>
              <a:off x="6394704" y="4251960"/>
              <a:ext cx="38219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Sorgu, önbellek anahtarının varyantını üretir.</a:t>
              </a:r>
            </a:p>
          </p:txBody>
        </p:sp>
        <p:sp>
          <p:nvSpPr>
            <p:cNvPr id="42" name="TextBox 42"/>
            <p:cNvSpPr txBox="1"/>
            <p:nvPr/>
          </p:nvSpPr>
          <p:spPr>
            <a:xfrm>
              <a:off x="6395085" y="4641056"/>
              <a:ext cx="355508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PUT ve DELETE idempotenttir (durum değiştirir,</a:t>
              </a:r>
            </a:p>
          </p:txBody>
        </p:sp>
        <p:sp>
          <p:nvSpPr>
            <p:cNvPr id="43" name="TextBox 43"/>
            <p:cNvSpPr txBox="1"/>
            <p:nvPr/>
          </p:nvSpPr>
          <p:spPr>
            <a:xfrm>
              <a:off x="6395085" y="4850606"/>
              <a:ext cx="448827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tekrarı aynı sonucu verir); POST ne safe ne idempotenttir.</a:t>
              </a:r>
            </a:p>
          </p:txBody>
        </p:sp>
        <p:sp>
          <p:nvSpPr>
            <p:cNvPr id="44" name="TextBox 44"/>
            <p:cNvSpPr txBox="1"/>
            <p:nvPr/>
          </p:nvSpPr>
          <p:spPr>
            <a:xfrm>
              <a:off x="6395085" y="5193506"/>
              <a:ext cx="355940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Karıştırılırsa önbellekleme davranışı bozulur.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689659" cy="557403"/>
            <a:chOff x="595122" y="282892"/>
            <a:chExt cx="4689659" cy="557403"/>
          </a:xfrm>
        </p:grpSpPr>
        <p:sp>
          <p:nvSpPr>
            <p:cNvPr id="4" name="TextBox 4"/>
            <p:cNvSpPr txBox="1"/>
            <p:nvPr/>
          </p:nvSpPr>
          <p:spPr>
            <a:xfrm>
              <a:off x="595122" y="282892"/>
              <a:ext cx="468965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CRUD ve HTTP metotları</a:t>
              </a:r>
            </a:p>
          </p:txBody>
        </p:sp>
      </p:grpSp>
      <p:grpSp>
        <p:nvGrpSpPr>
          <p:cNvPr id="10" name="definition-box"/>
          <p:cNvGrpSpPr/>
          <p:nvPr/>
        </p:nvGrpSpPr>
        <p:grpSpPr>
          <a:xfrm>
            <a:off x="609600" y="1104900"/>
            <a:ext cx="10972800" cy="829056"/>
            <a:chOff x="609600" y="1104900"/>
            <a:chExt cx="10972800" cy="829056"/>
          </a:xfrm>
        </p:grpSpPr>
        <p:sp>
          <p:nvSpPr>
            <p:cNvPr id="6" name="Rectangle 6"/>
            <p:cNvSpPr/>
            <p:nvPr/>
          </p:nvSpPr>
          <p:spPr>
            <a:xfrm>
              <a:off x="609600" y="1104900"/>
              <a:ext cx="10972800" cy="800100"/>
            </a:xfrm>
            <a:prstGeom prst="roundRect">
              <a:avLst>
                <a:gd name="adj" fmla="val 9524"/>
              </a:avLst>
            </a:prstGeom>
            <a:solidFill>
              <a:srgbClr val="EAF4F6"/>
            </a:solidFill>
            <a:ln>
              <a:noFill/>
            </a:ln>
          </p:spPr>
        </p:sp>
        <p:sp>
          <p:nvSpPr>
            <p:cNvPr id="7" name="TextBox 7"/>
            <p:cNvSpPr txBox="1"/>
            <p:nvPr/>
          </p:nvSpPr>
          <p:spPr>
            <a:xfrm>
              <a:off x="907923" y="1253014"/>
              <a:ext cx="55273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Tanım</a:t>
              </a:r>
            </a:p>
          </p:txBody>
        </p:sp>
        <p:sp>
          <p:nvSpPr>
            <p:cNvPr id="8" name="TextBox 8"/>
            <p:cNvSpPr txBox="1"/>
            <p:nvPr/>
          </p:nvSpPr>
          <p:spPr>
            <a:xfrm>
              <a:off x="907542" y="1492568"/>
              <a:ext cx="7477821"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CRUD = Create, Read, Update, Delete. Genel eşleşme: POST–oluşturma, GET–okuma,</a:t>
              </a:r>
            </a:p>
          </p:txBody>
        </p:sp>
        <p:sp>
          <p:nvSpPr>
            <p:cNvPr id="9" name="TextBox 9"/>
            <p:cNvSpPr txBox="1"/>
            <p:nvPr/>
          </p:nvSpPr>
          <p:spPr>
            <a:xfrm>
              <a:off x="908304" y="1699260"/>
              <a:ext cx="879340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PATCH/PUT–güncelleme, DELETE–silme. Restoran benzetmesi: garsonun fiili, mutfağın yapacağı işlemi belirler.</a:t>
              </a:r>
            </a:p>
          </p:txBody>
        </p:sp>
      </p:grpSp>
      <p:grpSp>
        <p:nvGrpSpPr>
          <p:cNvPr id="24" name="theory-panel"/>
          <p:cNvGrpSpPr/>
          <p:nvPr/>
        </p:nvGrpSpPr>
        <p:grpSpPr>
          <a:xfrm>
            <a:off x="601599" y="1944529"/>
            <a:ext cx="5265801" cy="3411855"/>
            <a:chOff x="601599" y="1944529"/>
            <a:chExt cx="5265801" cy="3411855"/>
          </a:xfrm>
        </p:grpSpPr>
        <p:sp>
          <p:nvSpPr>
            <p:cNvPr id="11" name="TextBox 11"/>
            <p:cNvSpPr txBox="1"/>
            <p:nvPr/>
          </p:nvSpPr>
          <p:spPr>
            <a:xfrm>
              <a:off x="601599" y="1944529"/>
              <a:ext cx="324949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RFC 9110: safe ve idempotent</a:t>
              </a:r>
            </a:p>
          </p:txBody>
        </p:sp>
        <p:sp>
          <p:nvSpPr>
            <p:cNvPr id="12" name="Rectangle 12"/>
            <p:cNvSpPr/>
            <p:nvPr/>
          </p:nvSpPr>
          <p:spPr>
            <a:xfrm>
              <a:off x="609600" y="2286000"/>
              <a:ext cx="5257800" cy="781050"/>
            </a:xfrm>
            <a:prstGeom prst="roundRect">
              <a:avLst>
                <a:gd name="adj" fmla="val 9756"/>
              </a:avLst>
            </a:prstGeom>
            <a:solidFill>
              <a:srgbClr val="FFFFFF"/>
            </a:solidFill>
            <a:ln w="14288">
              <a:solidFill>
                <a:srgbClr val="2E86AB"/>
              </a:solidFill>
            </a:ln>
          </p:spPr>
        </p:sp>
        <p:sp>
          <p:nvSpPr>
            <p:cNvPr id="13" name="TextBox 13"/>
            <p:cNvSpPr txBox="1"/>
            <p:nvPr/>
          </p:nvSpPr>
          <p:spPr>
            <a:xfrm>
              <a:off x="831723" y="2415064"/>
              <a:ext cx="328385"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GET</a:t>
              </a:r>
            </a:p>
          </p:txBody>
        </p:sp>
        <p:sp>
          <p:nvSpPr>
            <p:cNvPr id="14" name="TextBox 14"/>
            <p:cNvSpPr txBox="1"/>
            <p:nvPr/>
          </p:nvSpPr>
          <p:spPr>
            <a:xfrm>
              <a:off x="832485" y="2659856"/>
              <a:ext cx="49470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Hem safe hem idempotent — tekrar denenebilir, durum değiştirmez.</a:t>
              </a:r>
            </a:p>
          </p:txBody>
        </p:sp>
        <p:sp>
          <p:nvSpPr>
            <p:cNvPr id="15" name="TextBox 15"/>
            <p:cNvSpPr txBox="1"/>
            <p:nvPr/>
          </p:nvSpPr>
          <p:spPr>
            <a:xfrm>
              <a:off x="832485" y="2850356"/>
              <a:ext cx="455727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safe: yalnızca okur, idempotent: tekrarı aynı sonucu verir.</a:t>
              </a:r>
            </a:p>
          </p:txBody>
        </p:sp>
        <p:sp>
          <p:nvSpPr>
            <p:cNvPr id="16" name="Rectangle 16"/>
            <p:cNvSpPr/>
            <p:nvPr/>
          </p:nvSpPr>
          <p:spPr>
            <a:xfrm>
              <a:off x="609600" y="3162300"/>
              <a:ext cx="5257800" cy="800100"/>
            </a:xfrm>
            <a:prstGeom prst="roundRect">
              <a:avLst>
                <a:gd name="adj" fmla="val 9524"/>
              </a:avLst>
            </a:prstGeom>
            <a:solidFill>
              <a:srgbClr val="FFFFFF"/>
            </a:solidFill>
            <a:ln w="14288">
              <a:solidFill>
                <a:srgbClr val="2E86AB"/>
              </a:solidFill>
            </a:ln>
          </p:spPr>
        </p:sp>
        <p:sp>
          <p:nvSpPr>
            <p:cNvPr id="17" name="TextBox 17"/>
            <p:cNvSpPr txBox="1"/>
            <p:nvPr/>
          </p:nvSpPr>
          <p:spPr>
            <a:xfrm>
              <a:off x="831723" y="3291364"/>
              <a:ext cx="1271856"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PUT ve DELETE</a:t>
              </a:r>
            </a:p>
          </p:txBody>
        </p:sp>
        <p:sp>
          <p:nvSpPr>
            <p:cNvPr id="18" name="TextBox 18"/>
            <p:cNvSpPr txBox="1"/>
            <p:nvPr/>
          </p:nvSpPr>
          <p:spPr>
            <a:xfrm>
              <a:off x="832485" y="3536156"/>
              <a:ext cx="278511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İdempotenttir ama safe değildir: durum</a:t>
              </a:r>
              <a:br/>
              <a:r>
                <a:rPr lang="tr-TR" sz="1120" dirty="0">
                  <a:solidFill>
                    <a:srgbClr val="172B3A"/>
                  </a:solidFill>
                  <a:latin typeface="+mn-lt"/>
                  <a:ea typeface="+mn-ea"/>
                  <a:cs typeface="+mn-cs"/>
                </a:rPr>
                <a:t>değiştirir, tekrarı aynı sonucu verir.</a:t>
              </a:r>
            </a:p>
          </p:txBody>
        </p:sp>
        <p:sp>
          <p:nvSpPr>
            <p:cNvPr id="19" name="Rectangle 19"/>
            <p:cNvSpPr/>
            <p:nvPr/>
          </p:nvSpPr>
          <p:spPr>
            <a:xfrm>
              <a:off x="609600" y="4076700"/>
              <a:ext cx="5257800" cy="666750"/>
            </a:xfrm>
            <a:prstGeom prst="roundRect">
              <a:avLst>
                <a:gd name="adj" fmla="val 11429"/>
              </a:avLst>
            </a:prstGeom>
            <a:solidFill>
              <a:srgbClr val="FFFFFF"/>
            </a:solidFill>
            <a:ln w="14288">
              <a:solidFill>
                <a:srgbClr val="2E86AB"/>
              </a:solidFill>
            </a:ln>
          </p:spPr>
        </p:sp>
        <p:sp>
          <p:nvSpPr>
            <p:cNvPr id="20" name="TextBox 20"/>
            <p:cNvSpPr txBox="1"/>
            <p:nvPr/>
          </p:nvSpPr>
          <p:spPr>
            <a:xfrm>
              <a:off x="831723" y="4205764"/>
              <a:ext cx="471763"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POST</a:t>
              </a:r>
            </a:p>
          </p:txBody>
        </p:sp>
        <p:sp>
          <p:nvSpPr>
            <p:cNvPr id="21" name="TextBox 21"/>
            <p:cNvSpPr txBox="1"/>
            <p:nvPr/>
          </p:nvSpPr>
          <p:spPr>
            <a:xfrm>
              <a:off x="832485" y="4450556"/>
              <a:ext cx="445686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Ne safe ne idempotent — her çağrı yeni kaynak oluşturabilir.</a:t>
              </a:r>
            </a:p>
          </p:txBody>
        </p:sp>
        <p:sp>
          <p:nvSpPr>
            <p:cNvPr id="22" name="TextBox 22"/>
            <p:cNvSpPr txBox="1"/>
            <p:nvPr/>
          </p:nvSpPr>
          <p:spPr>
            <a:xfrm>
              <a:off x="603885" y="4926806"/>
              <a:ext cx="447969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Kaynak: RFC 9110 (IETF, 2022) — HTTP/1.1 resmî semantiği;</a:t>
              </a:r>
            </a:p>
          </p:txBody>
        </p:sp>
        <p:sp>
          <p:nvSpPr>
            <p:cNvPr id="23" name="TextBox 23"/>
            <p:cNvSpPr txBox="1"/>
            <p:nvPr/>
          </p:nvSpPr>
          <p:spPr>
            <a:xfrm>
              <a:off x="603885" y="5136356"/>
              <a:ext cx="3830005"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PATCH için ayrıca RFC 5789 (IETF, 2014) geçerlidir.</a:t>
              </a:r>
            </a:p>
          </p:txBody>
        </p:sp>
      </p:grpSp>
      <p:grpSp>
        <p:nvGrpSpPr>
          <p:cNvPr id="32" name="why-panel"/>
          <p:cNvGrpSpPr/>
          <p:nvPr/>
        </p:nvGrpSpPr>
        <p:grpSpPr>
          <a:xfrm>
            <a:off x="6164199" y="1944529"/>
            <a:ext cx="5418201" cy="3484721"/>
            <a:chOff x="6164199" y="1944529"/>
            <a:chExt cx="5418201" cy="3484721"/>
          </a:xfrm>
        </p:grpSpPr>
        <p:sp>
          <p:nvSpPr>
            <p:cNvPr id="25" name="TextBox 25"/>
            <p:cNvSpPr txBox="1"/>
            <p:nvPr/>
          </p:nvSpPr>
          <p:spPr>
            <a:xfrm>
              <a:off x="6164199" y="19445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26" name="TextBox 26"/>
            <p:cNvSpPr txBox="1"/>
            <p:nvPr/>
          </p:nvSpPr>
          <p:spPr>
            <a:xfrm>
              <a:off x="6165723" y="2300764"/>
              <a:ext cx="3296666"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CRUD, veri yönetimini ortak bir sözlüğe</a:t>
              </a:r>
              <a:br/>
              <a:r>
                <a:rPr lang="tr-TR" sz="1280" dirty="0">
                  <a:solidFill>
                    <a:srgbClr val="172B3A"/>
                  </a:solidFill>
                  <a:latin typeface="+mn-lt"/>
                  <a:ea typeface="+mn-ea"/>
                  <a:cs typeface="+mn-cs"/>
                </a:rPr>
                <a:t>bağlar: GET /api/ekipmanlar görüldüğünde</a:t>
              </a:r>
              <a:br/>
              <a:r>
                <a:rPr lang="tr-TR" sz="1280" dirty="0">
                  <a:solidFill>
                    <a:srgbClr val="172B3A"/>
                  </a:solidFill>
                  <a:latin typeface="+mn-lt"/>
                  <a:ea typeface="+mn-ea"/>
                  <a:cs typeface="+mn-cs"/>
                </a:rPr>
                <a:t>amacın listeleme olduğu büyük ölçüde</a:t>
              </a:r>
              <a:br/>
              <a:r>
                <a:rPr lang="tr-TR" sz="1280" dirty="0">
                  <a:solidFill>
                    <a:srgbClr val="172B3A"/>
                  </a:solidFill>
                  <a:latin typeface="+mn-lt"/>
                  <a:ea typeface="+mn-ea"/>
                  <a:cs typeface="+mn-cs"/>
                </a:rPr>
                <a:t>anlaşılır.</a:t>
              </a:r>
            </a:p>
          </p:txBody>
        </p:sp>
        <p:sp>
          <p:nvSpPr>
            <p:cNvPr id="27" name="TextBox 27"/>
            <p:cNvSpPr txBox="1"/>
            <p:nvPr/>
          </p:nvSpPr>
          <p:spPr>
            <a:xfrm>
              <a:off x="6165723" y="3367564"/>
              <a:ext cx="3394202" cy="935165"/>
            </a:xfrm>
            <a:prstGeom prst="rect">
              <a:avLst/>
            </a:prstGeom>
            <a:noFill/>
            <a:ln>
              <a:noFill/>
            </a:ln>
          </p:spPr>
          <p:txBody>
            <a:bodyPr wrap="none" lIns="0" tIns="0" rIns="0" bIns="0" anchor="t" anchorCtr="0">
              <a:spAutoFit/>
            </a:bodyPr>
            <a:lstStyle/>
            <a:p>
              <a:pPr algn="l">
                <a:lnSpc>
                  <a:spcPts val="1800"/>
                </a:lnSpc>
              </a:pPr>
              <a:r>
                <a:rPr lang="tr-TR" sz="1280" dirty="0">
                  <a:solidFill>
                    <a:srgbClr val="172B3A"/>
                  </a:solidFill>
                  <a:latin typeface="+mn-lt"/>
                  <a:ea typeface="+mn-ea"/>
                  <a:cs typeface="+mn-cs"/>
                </a:rPr>
                <a:t>Silme işlemini GET ile yapmak hem</a:t>
              </a:r>
              <a:br/>
              <a:r>
                <a:rPr lang="tr-TR" sz="1280" dirty="0">
                  <a:solidFill>
                    <a:srgbClr val="172B3A"/>
                  </a:solidFill>
                  <a:latin typeface="+mn-lt"/>
                  <a:ea typeface="+mn-ea"/>
                  <a:cs typeface="+mn-cs"/>
                </a:rPr>
                <a:t>tehlikelidir hem de tarayıcı önbellekleri,</a:t>
              </a:r>
              <a:br/>
              <a:r>
                <a:rPr lang="tr-TR" sz="1280" dirty="0">
                  <a:solidFill>
                    <a:srgbClr val="172B3A"/>
                  </a:solidFill>
                  <a:latin typeface="+mn-lt"/>
                  <a:ea typeface="+mn-ea"/>
                  <a:cs typeface="+mn-cs"/>
                </a:rPr>
                <a:t>bağlantılar ve botlar nedeniyle istenmeyen</a:t>
              </a:r>
              <a:br/>
              <a:r>
                <a:rPr lang="tr-TR" sz="1280" dirty="0">
                  <a:solidFill>
                    <a:srgbClr val="172B3A"/>
                  </a:solidFill>
                  <a:latin typeface="+mn-lt"/>
                  <a:ea typeface="+mn-ea"/>
                  <a:cs typeface="+mn-cs"/>
                </a:rPr>
                <a:t>sonuçlar doğurabilir.</a:t>
              </a:r>
            </a:p>
          </p:txBody>
        </p:sp>
        <p:sp>
          <p:nvSpPr>
            <p:cNvPr id="28" name="Rectangle 28"/>
            <p:cNvSpPr/>
            <p:nvPr/>
          </p:nvSpPr>
          <p:spPr>
            <a:xfrm>
              <a:off x="6172200" y="4572000"/>
              <a:ext cx="5410200" cy="857250"/>
            </a:xfrm>
            <a:prstGeom prst="roundRect">
              <a:avLst>
                <a:gd name="adj" fmla="val 8889"/>
              </a:avLst>
            </a:prstGeom>
            <a:solidFill>
              <a:srgbClr val="12355B"/>
            </a:solidFill>
            <a:ln>
              <a:noFill/>
            </a:ln>
          </p:spPr>
        </p:sp>
        <p:sp>
          <p:nvSpPr>
            <p:cNvPr id="29" name="TextBox 29"/>
            <p:cNvSpPr txBox="1"/>
            <p:nvPr/>
          </p:nvSpPr>
          <p:spPr>
            <a:xfrm>
              <a:off x="6394704" y="4728210"/>
              <a:ext cx="48393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Örnek</a:t>
              </a:r>
            </a:p>
          </p:txBody>
        </p:sp>
        <p:sp>
          <p:nvSpPr>
            <p:cNvPr id="30" name="TextBox 30"/>
            <p:cNvSpPr txBox="1"/>
            <p:nvPr/>
          </p:nvSpPr>
          <p:spPr>
            <a:xfrm>
              <a:off x="6395085" y="4964906"/>
              <a:ext cx="308281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DELETE /api/ekipmanlar/12 tekrar tekrar</a:t>
              </a:r>
            </a:p>
          </p:txBody>
        </p:sp>
        <p:sp>
          <p:nvSpPr>
            <p:cNvPr id="31" name="TextBox 31"/>
            <p:cNvSpPr txBox="1"/>
            <p:nvPr/>
          </p:nvSpPr>
          <p:spPr>
            <a:xfrm>
              <a:off x="6395085" y="5155406"/>
              <a:ext cx="3562167"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gönderilse de hedef silinmiş kalır (idempotent).</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057799" cy="557403"/>
            <a:chOff x="595122" y="282892"/>
            <a:chExt cx="5057799" cy="557403"/>
          </a:xfrm>
        </p:grpSpPr>
        <p:sp>
          <p:nvSpPr>
            <p:cNvPr id="4" name="TextBox 4"/>
            <p:cNvSpPr txBox="1"/>
            <p:nvPr/>
          </p:nvSpPr>
          <p:spPr>
            <a:xfrm>
              <a:off x="595122" y="282892"/>
              <a:ext cx="50577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HTTP metot seçim tablosu</a:t>
              </a:r>
            </a:p>
          </p:txBody>
        </p:sp>
      </p:grpSp>
      <p:grpSp>
        <p:nvGrpSpPr>
          <p:cNvPr id="37" name="method-table"/>
          <p:cNvGrpSpPr/>
          <p:nvPr/>
        </p:nvGrpSpPr>
        <p:grpSpPr>
          <a:xfrm>
            <a:off x="609600" y="1104900"/>
            <a:ext cx="10972800" cy="2828925"/>
            <a:chOff x="609600" y="1104900"/>
            <a:chExt cx="10972800" cy="2828925"/>
          </a:xfrm>
        </p:grpSpPr>
        <p:sp>
          <p:nvSpPr>
            <p:cNvPr id="6" name="Rectangle 6"/>
            <p:cNvSpPr/>
            <p:nvPr/>
          </p:nvSpPr>
          <p:spPr>
            <a:xfrm>
              <a:off x="609600" y="1104900"/>
              <a:ext cx="10972800" cy="342900"/>
            </a:xfrm>
            <a:prstGeom prst="rect">
              <a:avLst/>
            </a:prstGeom>
            <a:solidFill>
              <a:srgbClr val="12355B"/>
            </a:solidFill>
            <a:ln>
              <a:noFill/>
            </a:ln>
          </p:spPr>
        </p:sp>
        <p:sp>
          <p:nvSpPr>
            <p:cNvPr id="7" name="TextBox 7"/>
            <p:cNvSpPr txBox="1"/>
            <p:nvPr/>
          </p:nvSpPr>
          <p:spPr>
            <a:xfrm>
              <a:off x="832485" y="1212056"/>
              <a:ext cx="581016"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METOT</a:t>
              </a:r>
            </a:p>
          </p:txBody>
        </p:sp>
        <p:sp>
          <p:nvSpPr>
            <p:cNvPr id="8" name="TextBox 8"/>
            <p:cNvSpPr txBox="1"/>
            <p:nvPr/>
          </p:nvSpPr>
          <p:spPr>
            <a:xfrm>
              <a:off x="2185035" y="1212056"/>
              <a:ext cx="1121755"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TİPİK İŞLEM</a:t>
              </a:r>
            </a:p>
          </p:txBody>
        </p:sp>
        <p:sp>
          <p:nvSpPr>
            <p:cNvPr id="9" name="TextBox 9"/>
            <p:cNvSpPr txBox="1"/>
            <p:nvPr/>
          </p:nvSpPr>
          <p:spPr>
            <a:xfrm>
              <a:off x="4185285" y="1212056"/>
              <a:ext cx="943813"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GÜÇLÜ YANI</a:t>
              </a:r>
            </a:p>
          </p:txBody>
        </p:sp>
        <p:sp>
          <p:nvSpPr>
            <p:cNvPr id="10" name="TextBox 10"/>
            <p:cNvSpPr txBox="1"/>
            <p:nvPr/>
          </p:nvSpPr>
          <p:spPr>
            <a:xfrm>
              <a:off x="7423785" y="1212056"/>
              <a:ext cx="137352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RİSK VEYA SINIR</a:t>
              </a:r>
            </a:p>
          </p:txBody>
        </p:sp>
        <p:sp>
          <p:nvSpPr>
            <p:cNvPr id="11" name="Rectangle 11"/>
            <p:cNvSpPr/>
            <p:nvPr/>
          </p:nvSpPr>
          <p:spPr>
            <a:xfrm>
              <a:off x="609600" y="1447800"/>
              <a:ext cx="10972800" cy="495300"/>
            </a:xfrm>
            <a:prstGeom prst="rect">
              <a:avLst/>
            </a:prstGeom>
            <a:solidFill>
              <a:srgbClr val="FFFFFF"/>
            </a:solidFill>
            <a:ln>
              <a:noFill/>
            </a:ln>
          </p:spPr>
        </p:sp>
        <p:sp>
          <p:nvSpPr>
            <p:cNvPr id="12" name="TextBox 12"/>
            <p:cNvSpPr txBox="1"/>
            <p:nvPr/>
          </p:nvSpPr>
          <p:spPr>
            <a:xfrm>
              <a:off x="830961" y="1598771"/>
              <a:ext cx="36441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GET</a:t>
              </a:r>
            </a:p>
          </p:txBody>
        </p:sp>
        <p:sp>
          <p:nvSpPr>
            <p:cNvPr id="13" name="TextBox 13"/>
            <p:cNvSpPr txBox="1"/>
            <p:nvPr/>
          </p:nvSpPr>
          <p:spPr>
            <a:xfrm>
              <a:off x="2184654" y="1623060"/>
              <a:ext cx="5268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Okuma</a:t>
              </a:r>
            </a:p>
          </p:txBody>
        </p:sp>
        <p:sp>
          <p:nvSpPr>
            <p:cNvPr id="14" name="TextBox 14"/>
            <p:cNvSpPr txBox="1"/>
            <p:nvPr/>
          </p:nvSpPr>
          <p:spPr>
            <a:xfrm>
              <a:off x="4184904" y="1623060"/>
              <a:ext cx="21006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Güvenli ve önbelleklenebilir</a:t>
              </a:r>
            </a:p>
          </p:txBody>
        </p:sp>
        <p:sp>
          <p:nvSpPr>
            <p:cNvPr id="15" name="TextBox 15"/>
            <p:cNvSpPr txBox="1"/>
            <p:nvPr/>
          </p:nvSpPr>
          <p:spPr>
            <a:xfrm>
              <a:off x="7423404" y="1623060"/>
              <a:ext cx="17534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 değiştirmemelidir</a:t>
              </a:r>
            </a:p>
          </p:txBody>
        </p:sp>
        <p:sp>
          <p:nvSpPr>
            <p:cNvPr id="16" name="Rectangle 16"/>
            <p:cNvSpPr/>
            <p:nvPr/>
          </p:nvSpPr>
          <p:spPr>
            <a:xfrm>
              <a:off x="609600" y="1943100"/>
              <a:ext cx="10972800" cy="495300"/>
            </a:xfrm>
            <a:prstGeom prst="rect">
              <a:avLst/>
            </a:prstGeom>
            <a:solidFill>
              <a:srgbClr val="EAF4F6"/>
            </a:solidFill>
            <a:ln>
              <a:noFill/>
            </a:ln>
          </p:spPr>
        </p:sp>
        <p:sp>
          <p:nvSpPr>
            <p:cNvPr id="17" name="TextBox 17"/>
            <p:cNvSpPr txBox="1"/>
            <p:nvPr/>
          </p:nvSpPr>
          <p:spPr>
            <a:xfrm>
              <a:off x="830961" y="2094071"/>
              <a:ext cx="52347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POST</a:t>
              </a:r>
            </a:p>
          </p:txBody>
        </p:sp>
        <p:sp>
          <p:nvSpPr>
            <p:cNvPr id="18" name="TextBox 18"/>
            <p:cNvSpPr txBox="1"/>
            <p:nvPr/>
          </p:nvSpPr>
          <p:spPr>
            <a:xfrm>
              <a:off x="2184654" y="2118360"/>
              <a:ext cx="8412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Oluşturma</a:t>
              </a:r>
            </a:p>
          </p:txBody>
        </p:sp>
        <p:sp>
          <p:nvSpPr>
            <p:cNvPr id="19" name="TextBox 19"/>
            <p:cNvSpPr txBox="1"/>
            <p:nvPr/>
          </p:nvSpPr>
          <p:spPr>
            <a:xfrm>
              <a:off x="4184904" y="2118360"/>
              <a:ext cx="26990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kaynak üretmek için uygundur</a:t>
              </a:r>
            </a:p>
          </p:txBody>
        </p:sp>
        <p:sp>
          <p:nvSpPr>
            <p:cNvPr id="20" name="TextBox 20"/>
            <p:cNvSpPr txBox="1"/>
            <p:nvPr/>
          </p:nvSpPr>
          <p:spPr>
            <a:xfrm>
              <a:off x="7423404" y="2118360"/>
              <a:ext cx="267460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Tekrar çağrı yeni kayıt oluşabilir</a:t>
              </a:r>
            </a:p>
          </p:txBody>
        </p:sp>
        <p:sp>
          <p:nvSpPr>
            <p:cNvPr id="21" name="Rectangle 21"/>
            <p:cNvSpPr/>
            <p:nvPr/>
          </p:nvSpPr>
          <p:spPr>
            <a:xfrm>
              <a:off x="609600" y="2438400"/>
              <a:ext cx="10972800" cy="495300"/>
            </a:xfrm>
            <a:prstGeom prst="rect">
              <a:avLst/>
            </a:prstGeom>
            <a:solidFill>
              <a:srgbClr val="FFFFFF"/>
            </a:solidFill>
            <a:ln>
              <a:noFill/>
            </a:ln>
          </p:spPr>
        </p:sp>
        <p:sp>
          <p:nvSpPr>
            <p:cNvPr id="22" name="TextBox 22"/>
            <p:cNvSpPr txBox="1"/>
            <p:nvPr/>
          </p:nvSpPr>
          <p:spPr>
            <a:xfrm>
              <a:off x="830961" y="2589371"/>
              <a:ext cx="597698"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PATCH</a:t>
              </a:r>
            </a:p>
          </p:txBody>
        </p:sp>
        <p:sp>
          <p:nvSpPr>
            <p:cNvPr id="23" name="TextBox 23"/>
            <p:cNvSpPr txBox="1"/>
            <p:nvPr/>
          </p:nvSpPr>
          <p:spPr>
            <a:xfrm>
              <a:off x="2184654" y="2613660"/>
              <a:ext cx="13418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Kısmi güncelleme</a:t>
              </a:r>
            </a:p>
          </p:txBody>
        </p:sp>
        <p:sp>
          <p:nvSpPr>
            <p:cNvPr id="24" name="TextBox 24"/>
            <p:cNvSpPr txBox="1"/>
            <p:nvPr/>
          </p:nvSpPr>
          <p:spPr>
            <a:xfrm>
              <a:off x="4184904" y="2613660"/>
              <a:ext cx="10513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 veri taşır</a:t>
              </a:r>
            </a:p>
          </p:txBody>
        </p:sp>
        <p:sp>
          <p:nvSpPr>
            <p:cNvPr id="25" name="TextBox 25"/>
            <p:cNvSpPr txBox="1"/>
            <p:nvPr/>
          </p:nvSpPr>
          <p:spPr>
            <a:xfrm>
              <a:off x="7423404" y="2613660"/>
              <a:ext cx="252084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Alanların anlamı belgelenmelidir</a:t>
              </a:r>
            </a:p>
          </p:txBody>
        </p:sp>
        <p:sp>
          <p:nvSpPr>
            <p:cNvPr id="26" name="Rectangle 26"/>
            <p:cNvSpPr/>
            <p:nvPr/>
          </p:nvSpPr>
          <p:spPr>
            <a:xfrm>
              <a:off x="609600" y="2933700"/>
              <a:ext cx="10972800" cy="495300"/>
            </a:xfrm>
            <a:prstGeom prst="rect">
              <a:avLst/>
            </a:prstGeom>
            <a:solidFill>
              <a:srgbClr val="EAF4F6"/>
            </a:solidFill>
            <a:ln>
              <a:noFill/>
            </a:ln>
          </p:spPr>
        </p:sp>
        <p:sp>
          <p:nvSpPr>
            <p:cNvPr id="27" name="TextBox 27"/>
            <p:cNvSpPr txBox="1"/>
            <p:nvPr/>
          </p:nvSpPr>
          <p:spPr>
            <a:xfrm>
              <a:off x="830961" y="3084671"/>
              <a:ext cx="36441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PUT</a:t>
              </a:r>
            </a:p>
          </p:txBody>
        </p:sp>
        <p:sp>
          <p:nvSpPr>
            <p:cNvPr id="28" name="TextBox 28"/>
            <p:cNvSpPr txBox="1"/>
            <p:nvPr/>
          </p:nvSpPr>
          <p:spPr>
            <a:xfrm>
              <a:off x="2184654" y="3108960"/>
              <a:ext cx="120471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Tam değiştirme</a:t>
              </a:r>
            </a:p>
          </p:txBody>
        </p:sp>
        <p:sp>
          <p:nvSpPr>
            <p:cNvPr id="29" name="TextBox 29"/>
            <p:cNvSpPr txBox="1"/>
            <p:nvPr/>
          </p:nvSpPr>
          <p:spPr>
            <a:xfrm>
              <a:off x="4184904" y="3108960"/>
              <a:ext cx="29735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Kaynağın bütün temsilini açıkça verir</a:t>
              </a:r>
            </a:p>
          </p:txBody>
        </p:sp>
        <p:sp>
          <p:nvSpPr>
            <p:cNvPr id="30" name="TextBox 30"/>
            <p:cNvSpPr txBox="1"/>
            <p:nvPr/>
          </p:nvSpPr>
          <p:spPr>
            <a:xfrm>
              <a:off x="7423404" y="3108960"/>
              <a:ext cx="269828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Eksik alanlar yanlışlıkla silinebilir</a:t>
              </a:r>
            </a:p>
          </p:txBody>
        </p:sp>
        <p:sp>
          <p:nvSpPr>
            <p:cNvPr id="31" name="Rectangle 31"/>
            <p:cNvSpPr/>
            <p:nvPr/>
          </p:nvSpPr>
          <p:spPr>
            <a:xfrm>
              <a:off x="609600" y="3429000"/>
              <a:ext cx="10972800" cy="495300"/>
            </a:xfrm>
            <a:prstGeom prst="rect">
              <a:avLst/>
            </a:prstGeom>
            <a:solidFill>
              <a:srgbClr val="FFFFFF"/>
            </a:solidFill>
            <a:ln>
              <a:noFill/>
            </a:ln>
          </p:spPr>
        </p:sp>
        <p:sp>
          <p:nvSpPr>
            <p:cNvPr id="32" name="TextBox 32"/>
            <p:cNvSpPr txBox="1"/>
            <p:nvPr/>
          </p:nvSpPr>
          <p:spPr>
            <a:xfrm>
              <a:off x="830961" y="3579971"/>
              <a:ext cx="71434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DELETE</a:t>
              </a:r>
            </a:p>
          </p:txBody>
        </p:sp>
        <p:sp>
          <p:nvSpPr>
            <p:cNvPr id="33" name="TextBox 33"/>
            <p:cNvSpPr txBox="1"/>
            <p:nvPr/>
          </p:nvSpPr>
          <p:spPr>
            <a:xfrm>
              <a:off x="2184654" y="3604260"/>
              <a:ext cx="41245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Silme</a:t>
              </a:r>
            </a:p>
          </p:txBody>
        </p:sp>
        <p:sp>
          <p:nvSpPr>
            <p:cNvPr id="34" name="TextBox 34"/>
            <p:cNvSpPr txBox="1"/>
            <p:nvPr/>
          </p:nvSpPr>
          <p:spPr>
            <a:xfrm>
              <a:off x="4184904" y="3604260"/>
              <a:ext cx="10103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Niyeti nettir</a:t>
              </a:r>
            </a:p>
          </p:txBody>
        </p:sp>
        <p:sp>
          <p:nvSpPr>
            <p:cNvPr id="35" name="TextBox 35"/>
            <p:cNvSpPr txBox="1"/>
            <p:nvPr/>
          </p:nvSpPr>
          <p:spPr>
            <a:xfrm>
              <a:off x="7423404" y="3604260"/>
              <a:ext cx="35148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Tekrar çağrılma davranışı tanımlanmalıdır</a:t>
              </a:r>
            </a:p>
          </p:txBody>
        </p:sp>
        <p:sp>
          <p:nvSpPr>
            <p:cNvPr id="36" name="Line 36"/>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3" name="mapping-note"/>
          <p:cNvGrpSpPr/>
          <p:nvPr/>
        </p:nvGrpSpPr>
        <p:grpSpPr>
          <a:xfrm>
            <a:off x="609600" y="4305300"/>
            <a:ext cx="10972800" cy="1238250"/>
            <a:chOff x="609600" y="4305300"/>
            <a:chExt cx="10972800" cy="1238250"/>
          </a:xfrm>
        </p:grpSpPr>
        <p:sp>
          <p:nvSpPr>
            <p:cNvPr id="38" name="Rectangle 38"/>
            <p:cNvSpPr/>
            <p:nvPr/>
          </p:nvSpPr>
          <p:spPr>
            <a:xfrm>
              <a:off x="609600" y="4305300"/>
              <a:ext cx="10972800" cy="1238250"/>
            </a:xfrm>
            <a:prstGeom prst="roundRect">
              <a:avLst>
                <a:gd name="adj" fmla="val 6154"/>
              </a:avLst>
            </a:prstGeom>
            <a:solidFill>
              <a:srgbClr val="12355B"/>
            </a:solidFill>
            <a:ln>
              <a:noFill/>
            </a:ln>
          </p:spPr>
        </p:sp>
        <p:sp>
          <p:nvSpPr>
            <p:cNvPr id="39" name="TextBox 39"/>
            <p:cNvSpPr txBox="1"/>
            <p:nvPr/>
          </p:nvSpPr>
          <p:spPr>
            <a:xfrm>
              <a:off x="908304" y="4480560"/>
              <a:ext cx="1477815"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Kod 6.2 karşılığı</a:t>
              </a:r>
            </a:p>
          </p:txBody>
        </p:sp>
        <p:sp>
          <p:nvSpPr>
            <p:cNvPr id="40" name="TextBox 40"/>
            <p:cNvSpPr txBox="1"/>
            <p:nvPr/>
          </p:nvSpPr>
          <p:spPr>
            <a:xfrm>
              <a:off x="908304" y="4747260"/>
              <a:ext cx="772125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ekipmanOlustur → POST /api/ekipmanlar (201) · ekipmanGetir → GET /api/ekipmanlar/:kimlik (200)</a:t>
              </a:r>
            </a:p>
          </p:txBody>
        </p:sp>
        <p:sp>
          <p:nvSpPr>
            <p:cNvPr id="41" name="TextBox 41"/>
            <p:cNvSpPr txBox="1"/>
            <p:nvPr/>
          </p:nvSpPr>
          <p:spPr>
            <a:xfrm>
              <a:off x="908304" y="4994910"/>
              <a:ext cx="796077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ekipmanGuncelle yalnızca durum alanını değiştirir → PATCH (PUT değil, çünkü tam güncelleme yapmaz)</a:t>
              </a:r>
            </a:p>
          </p:txBody>
        </p:sp>
        <p:sp>
          <p:nvSpPr>
            <p:cNvPr id="42" name="TextBox 42"/>
            <p:cNvSpPr txBox="1"/>
            <p:nvPr/>
          </p:nvSpPr>
          <p:spPr>
            <a:xfrm>
              <a:off x="908304" y="5242560"/>
              <a:ext cx="539782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ekipmanSil → filter ile kaydı çıkarır, boolean başarı döner → DELETE</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570116" cy="557403"/>
            <a:chOff x="595122" y="282892"/>
            <a:chExt cx="7570116" cy="557403"/>
          </a:xfrm>
        </p:grpSpPr>
        <p:sp>
          <p:nvSpPr>
            <p:cNvPr id="4" name="TextBox 4"/>
            <p:cNvSpPr txBox="1"/>
            <p:nvPr/>
          </p:nvSpPr>
          <p:spPr>
            <a:xfrm>
              <a:off x="595122" y="282892"/>
              <a:ext cx="757011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HTTP durum kodları ve JSON yanıtları</a:t>
              </a:r>
            </a:p>
          </p:txBody>
        </p:sp>
      </p:grpSp>
      <p:grpSp>
        <p:nvGrpSpPr>
          <p:cNvPr id="24" name="status-classes"/>
          <p:cNvGrpSpPr/>
          <p:nvPr/>
        </p:nvGrpSpPr>
        <p:grpSpPr>
          <a:xfrm>
            <a:off x="609600" y="1123950"/>
            <a:ext cx="10972800" cy="1238250"/>
            <a:chOff x="609600" y="1123950"/>
            <a:chExt cx="10972800" cy="1238250"/>
          </a:xfrm>
        </p:grpSpPr>
        <p:sp>
          <p:nvSpPr>
            <p:cNvPr id="6" name="Rectangle 6"/>
            <p:cNvSpPr/>
            <p:nvPr/>
          </p:nvSpPr>
          <p:spPr>
            <a:xfrm>
              <a:off x="609600" y="1123950"/>
              <a:ext cx="2057400" cy="1238250"/>
            </a:xfrm>
            <a:prstGeom prst="roundRect">
              <a:avLst>
                <a:gd name="adj" fmla="val 6154"/>
              </a:avLst>
            </a:prstGeom>
            <a:solidFill>
              <a:srgbClr val="FFFFFF"/>
            </a:solidFill>
            <a:ln w="14288">
              <a:solidFill>
                <a:srgbClr val="B8CBD3"/>
              </a:solidFill>
            </a:ln>
          </p:spPr>
        </p:sp>
        <p:sp>
          <p:nvSpPr>
            <p:cNvPr id="7" name="TextBox 7"/>
            <p:cNvSpPr txBox="1"/>
            <p:nvPr/>
          </p:nvSpPr>
          <p:spPr>
            <a:xfrm>
              <a:off x="1400996" y="1313498"/>
              <a:ext cx="474609" cy="381381"/>
            </a:xfrm>
            <a:prstGeom prst="rect">
              <a:avLst/>
            </a:prstGeom>
            <a:noFill/>
            <a:ln>
              <a:noFill/>
            </a:ln>
          </p:spPr>
          <p:txBody>
            <a:bodyPr wrap="none" lIns="0" tIns="0" rIns="0" bIns="0" anchor="t" anchorCtr="0">
              <a:spAutoFit/>
            </a:bodyPr>
            <a:lstStyle/>
            <a:p>
              <a:pPr algn="ctr"/>
              <a:r>
                <a:rPr lang="tr-TR" sz="1950" b="1" dirty="0">
                  <a:solidFill>
                    <a:srgbClr val="52616B"/>
                  </a:solidFill>
                  <a:latin typeface="+mn-lt"/>
                  <a:ea typeface="+mn-ea"/>
                  <a:cs typeface="+mn-cs"/>
                </a:rPr>
                <a:t>1xx</a:t>
              </a:r>
            </a:p>
          </p:txBody>
        </p:sp>
        <p:sp>
          <p:nvSpPr>
            <p:cNvPr id="8" name="TextBox 8"/>
            <p:cNvSpPr txBox="1"/>
            <p:nvPr/>
          </p:nvSpPr>
          <p:spPr>
            <a:xfrm>
              <a:off x="1199968" y="1658302"/>
              <a:ext cx="876663"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Bilgilendirme</a:t>
              </a:r>
            </a:p>
          </p:txBody>
        </p:sp>
        <p:sp>
          <p:nvSpPr>
            <p:cNvPr id="9" name="Rectangle 9"/>
            <p:cNvSpPr/>
            <p:nvPr/>
          </p:nvSpPr>
          <p:spPr>
            <a:xfrm>
              <a:off x="2819400" y="1123950"/>
              <a:ext cx="2057400" cy="1238250"/>
            </a:xfrm>
            <a:prstGeom prst="roundRect">
              <a:avLst>
                <a:gd name="adj" fmla="val 6154"/>
              </a:avLst>
            </a:prstGeom>
            <a:solidFill>
              <a:srgbClr val="EAF4F6"/>
            </a:solidFill>
            <a:ln w="14288">
              <a:solidFill>
                <a:srgbClr val="00A6A6"/>
              </a:solidFill>
            </a:ln>
          </p:spPr>
        </p:sp>
        <p:sp>
          <p:nvSpPr>
            <p:cNvPr id="10" name="TextBox 10"/>
            <p:cNvSpPr txBox="1"/>
            <p:nvPr/>
          </p:nvSpPr>
          <p:spPr>
            <a:xfrm>
              <a:off x="3610796" y="1313498"/>
              <a:ext cx="474609"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2xx</a:t>
              </a:r>
            </a:p>
          </p:txBody>
        </p:sp>
        <p:sp>
          <p:nvSpPr>
            <p:cNvPr id="11" name="TextBox 11"/>
            <p:cNvSpPr txBox="1"/>
            <p:nvPr/>
          </p:nvSpPr>
          <p:spPr>
            <a:xfrm>
              <a:off x="3607337" y="1658302"/>
              <a:ext cx="481527"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Başarı</a:t>
              </a:r>
            </a:p>
          </p:txBody>
        </p:sp>
        <p:sp>
          <p:nvSpPr>
            <p:cNvPr id="12" name="TextBox 12"/>
            <p:cNvSpPr txBox="1"/>
            <p:nvPr/>
          </p:nvSpPr>
          <p:spPr>
            <a:xfrm>
              <a:off x="3404140" y="1864995"/>
              <a:ext cx="887920"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200 · 201 · 204</a:t>
              </a:r>
            </a:p>
          </p:txBody>
        </p:sp>
        <p:sp>
          <p:nvSpPr>
            <p:cNvPr id="13" name="Rectangle 13"/>
            <p:cNvSpPr/>
            <p:nvPr/>
          </p:nvSpPr>
          <p:spPr>
            <a:xfrm>
              <a:off x="5029200" y="1123950"/>
              <a:ext cx="2057400" cy="1238250"/>
            </a:xfrm>
            <a:prstGeom prst="roundRect">
              <a:avLst>
                <a:gd name="adj" fmla="val 6154"/>
              </a:avLst>
            </a:prstGeom>
            <a:solidFill>
              <a:srgbClr val="FFFFFF"/>
            </a:solidFill>
            <a:ln w="14288">
              <a:solidFill>
                <a:srgbClr val="B8CBD3"/>
              </a:solidFill>
            </a:ln>
          </p:spPr>
        </p:sp>
        <p:sp>
          <p:nvSpPr>
            <p:cNvPr id="14" name="TextBox 14"/>
            <p:cNvSpPr txBox="1"/>
            <p:nvPr/>
          </p:nvSpPr>
          <p:spPr>
            <a:xfrm>
              <a:off x="5820596" y="1313498"/>
              <a:ext cx="474609" cy="381381"/>
            </a:xfrm>
            <a:prstGeom prst="rect">
              <a:avLst/>
            </a:prstGeom>
            <a:noFill/>
            <a:ln>
              <a:noFill/>
            </a:ln>
          </p:spPr>
          <p:txBody>
            <a:bodyPr wrap="none" lIns="0" tIns="0" rIns="0" bIns="0" anchor="t" anchorCtr="0">
              <a:spAutoFit/>
            </a:bodyPr>
            <a:lstStyle/>
            <a:p>
              <a:pPr algn="ctr"/>
              <a:r>
                <a:rPr lang="tr-TR" sz="1950" b="1" dirty="0">
                  <a:solidFill>
                    <a:srgbClr val="52616B"/>
                  </a:solidFill>
                  <a:latin typeface="+mn-lt"/>
                  <a:ea typeface="+mn-ea"/>
                  <a:cs typeface="+mn-cs"/>
                </a:rPr>
                <a:t>3xx</a:t>
              </a:r>
            </a:p>
          </p:txBody>
        </p:sp>
        <p:sp>
          <p:nvSpPr>
            <p:cNvPr id="15" name="TextBox 15"/>
            <p:cNvSpPr txBox="1"/>
            <p:nvPr/>
          </p:nvSpPr>
          <p:spPr>
            <a:xfrm>
              <a:off x="5644091" y="1658302"/>
              <a:ext cx="827619"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Yönlendirme</a:t>
              </a:r>
            </a:p>
          </p:txBody>
        </p:sp>
        <p:sp>
          <p:nvSpPr>
            <p:cNvPr id="16" name="Rectangle 16"/>
            <p:cNvSpPr/>
            <p:nvPr/>
          </p:nvSpPr>
          <p:spPr>
            <a:xfrm>
              <a:off x="7239000" y="1123950"/>
              <a:ext cx="2057400" cy="1238250"/>
            </a:xfrm>
            <a:prstGeom prst="roundRect">
              <a:avLst>
                <a:gd name="adj" fmla="val 6154"/>
              </a:avLst>
            </a:prstGeom>
            <a:solidFill>
              <a:srgbClr val="EAF4F6"/>
            </a:solidFill>
            <a:ln w="14288">
              <a:solidFill>
                <a:srgbClr val="00A6A6"/>
              </a:solidFill>
            </a:ln>
          </p:spPr>
        </p:sp>
        <p:sp>
          <p:nvSpPr>
            <p:cNvPr id="17" name="TextBox 17"/>
            <p:cNvSpPr txBox="1"/>
            <p:nvPr/>
          </p:nvSpPr>
          <p:spPr>
            <a:xfrm>
              <a:off x="8030396" y="1313498"/>
              <a:ext cx="474609"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4xx</a:t>
              </a:r>
            </a:p>
          </p:txBody>
        </p:sp>
        <p:sp>
          <p:nvSpPr>
            <p:cNvPr id="18" name="TextBox 18"/>
            <p:cNvSpPr txBox="1"/>
            <p:nvPr/>
          </p:nvSpPr>
          <p:spPr>
            <a:xfrm>
              <a:off x="7737090" y="1658302"/>
              <a:ext cx="1061220"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İstemci hatası</a:t>
              </a:r>
            </a:p>
          </p:txBody>
        </p:sp>
        <p:sp>
          <p:nvSpPr>
            <p:cNvPr id="19" name="TextBox 19"/>
            <p:cNvSpPr txBox="1"/>
            <p:nvPr/>
          </p:nvSpPr>
          <p:spPr>
            <a:xfrm>
              <a:off x="7993361" y="1864995"/>
              <a:ext cx="548678"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400 · 404</a:t>
              </a:r>
            </a:p>
          </p:txBody>
        </p:sp>
        <p:sp>
          <p:nvSpPr>
            <p:cNvPr id="20" name="Rectangle 20"/>
            <p:cNvSpPr/>
            <p:nvPr/>
          </p:nvSpPr>
          <p:spPr>
            <a:xfrm>
              <a:off x="9448800" y="1123950"/>
              <a:ext cx="2133600" cy="1238250"/>
            </a:xfrm>
            <a:prstGeom prst="roundRect">
              <a:avLst>
                <a:gd name="adj" fmla="val 6154"/>
              </a:avLst>
            </a:prstGeom>
            <a:solidFill>
              <a:srgbClr val="EAF4F6"/>
            </a:solidFill>
            <a:ln w="14288">
              <a:solidFill>
                <a:srgbClr val="00A6A6"/>
              </a:solidFill>
            </a:ln>
          </p:spPr>
        </p:sp>
        <p:sp>
          <p:nvSpPr>
            <p:cNvPr id="21" name="TextBox 21"/>
            <p:cNvSpPr txBox="1"/>
            <p:nvPr/>
          </p:nvSpPr>
          <p:spPr>
            <a:xfrm>
              <a:off x="10278296" y="1313498"/>
              <a:ext cx="474609"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5xx</a:t>
              </a:r>
            </a:p>
          </p:txBody>
        </p:sp>
        <p:sp>
          <p:nvSpPr>
            <p:cNvPr id="22" name="TextBox 22"/>
            <p:cNvSpPr txBox="1"/>
            <p:nvPr/>
          </p:nvSpPr>
          <p:spPr>
            <a:xfrm>
              <a:off x="10020305" y="1658302"/>
              <a:ext cx="990590" cy="205359"/>
            </a:xfrm>
            <a:prstGeom prst="rect">
              <a:avLst/>
            </a:prstGeom>
            <a:noFill/>
            <a:ln>
              <a:noFill/>
            </a:ln>
          </p:spPr>
          <p:txBody>
            <a:bodyPr wrap="none" lIns="0" tIns="0" rIns="0" bIns="0" anchor="t" anchorCtr="0">
              <a:spAutoFit/>
            </a:bodyPr>
            <a:lstStyle/>
            <a:p>
              <a:pPr algn="ctr"/>
              <a:r>
                <a:rPr lang="tr-TR" sz="1050" dirty="0">
                  <a:solidFill>
                    <a:srgbClr val="172B3A"/>
                  </a:solidFill>
                  <a:latin typeface="+mn-lt"/>
                  <a:ea typeface="+mn-ea"/>
                  <a:cs typeface="+mn-cs"/>
                </a:rPr>
                <a:t>Sunucu hatası</a:t>
              </a:r>
            </a:p>
          </p:txBody>
        </p:sp>
        <p:sp>
          <p:nvSpPr>
            <p:cNvPr id="23" name="TextBox 23"/>
            <p:cNvSpPr txBox="1"/>
            <p:nvPr/>
          </p:nvSpPr>
          <p:spPr>
            <a:xfrm>
              <a:off x="10410882" y="1864995"/>
              <a:ext cx="209436" cy="176212"/>
            </a:xfrm>
            <a:prstGeom prst="rect">
              <a:avLst/>
            </a:prstGeom>
            <a:noFill/>
            <a:ln>
              <a:noFill/>
            </a:ln>
          </p:spPr>
          <p:txBody>
            <a:bodyPr wrap="none" lIns="0" tIns="0" rIns="0" bIns="0" anchor="t" anchorCtr="0">
              <a:spAutoFit/>
            </a:bodyPr>
            <a:lstStyle/>
            <a:p>
              <a:pPr algn="ctr"/>
              <a:r>
                <a:rPr lang="tr-TR" sz="900" dirty="0">
                  <a:solidFill>
                    <a:srgbClr val="52616B"/>
                  </a:solidFill>
                  <a:latin typeface="+mn-lt"/>
                  <a:ea typeface="+mn-ea"/>
                  <a:cs typeface="+mn-cs"/>
                </a:rPr>
                <a:t>500</a:t>
              </a:r>
            </a:p>
          </p:txBody>
        </p:sp>
      </p:grpSp>
      <p:grpSp>
        <p:nvGrpSpPr>
          <p:cNvPr id="40" name="layered-model"/>
          <p:cNvGrpSpPr/>
          <p:nvPr/>
        </p:nvGrpSpPr>
        <p:grpSpPr>
          <a:xfrm>
            <a:off x="601599" y="2554129"/>
            <a:ext cx="10980801" cy="1960721"/>
            <a:chOff x="601599" y="2554129"/>
            <a:chExt cx="10980801" cy="1960721"/>
          </a:xfrm>
        </p:grpSpPr>
        <p:sp>
          <p:nvSpPr>
            <p:cNvPr id="25" name="TextBox 25"/>
            <p:cNvSpPr txBox="1"/>
            <p:nvPr/>
          </p:nvSpPr>
          <p:spPr>
            <a:xfrm>
              <a:off x="601599" y="2554129"/>
              <a:ext cx="316068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Katmanlı hata bildirim modeli</a:t>
              </a:r>
            </a:p>
          </p:txBody>
        </p:sp>
        <p:sp>
          <p:nvSpPr>
            <p:cNvPr id="26" name="Rectangle 26"/>
            <p:cNvSpPr/>
            <p:nvPr/>
          </p:nvSpPr>
          <p:spPr>
            <a:xfrm>
              <a:off x="609600" y="2895600"/>
              <a:ext cx="5257800" cy="1619250"/>
            </a:xfrm>
            <a:prstGeom prst="roundRect">
              <a:avLst>
                <a:gd name="adj" fmla="val 4706"/>
              </a:avLst>
            </a:prstGeom>
            <a:solidFill>
              <a:srgbClr val="FFFFFF"/>
            </a:solidFill>
            <a:ln w="14288">
              <a:solidFill>
                <a:srgbClr val="2E86AB"/>
              </a:solidFill>
            </a:ln>
          </p:spPr>
        </p:sp>
        <p:sp>
          <p:nvSpPr>
            <p:cNvPr id="27" name="TextBox 27"/>
            <p:cNvSpPr txBox="1"/>
            <p:nvPr/>
          </p:nvSpPr>
          <p:spPr>
            <a:xfrm>
              <a:off x="831723" y="3043714"/>
              <a:ext cx="100522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Durum kodu</a:t>
              </a:r>
            </a:p>
          </p:txBody>
        </p:sp>
        <p:sp>
          <p:nvSpPr>
            <p:cNvPr id="28" name="TextBox 28"/>
            <p:cNvSpPr txBox="1"/>
            <p:nvPr/>
          </p:nvSpPr>
          <p:spPr>
            <a:xfrm>
              <a:off x="832485" y="3307556"/>
              <a:ext cx="293363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Protokol seviyesinde makine tarafından</a:t>
              </a:r>
            </a:p>
          </p:txBody>
        </p:sp>
        <p:sp>
          <p:nvSpPr>
            <p:cNvPr id="29" name="TextBox 29"/>
            <p:cNvSpPr txBox="1"/>
            <p:nvPr/>
          </p:nvSpPr>
          <p:spPr>
            <a:xfrm>
              <a:off x="832485" y="3517106"/>
              <a:ext cx="337369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(proxy, önbellek, izleme) anlaşılabilir sinyal.</a:t>
              </a:r>
            </a:p>
          </p:txBody>
        </p:sp>
        <p:sp>
          <p:nvSpPr>
            <p:cNvPr id="30" name="TextBox 30"/>
            <p:cNvSpPr txBox="1"/>
            <p:nvPr/>
          </p:nvSpPr>
          <p:spPr>
            <a:xfrm>
              <a:off x="832485" y="3821906"/>
              <a:ext cx="333415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“İşlem tamamlandı” yazsa bile 500 dönüyorsa</a:t>
              </a:r>
            </a:p>
          </p:txBody>
        </p:sp>
        <p:sp>
          <p:nvSpPr>
            <p:cNvPr id="31" name="TextBox 31"/>
            <p:cNvSpPr txBox="1"/>
            <p:nvPr/>
          </p:nvSpPr>
          <p:spPr>
            <a:xfrm>
              <a:off x="832485" y="4031456"/>
              <a:ext cx="261228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istemci bunu başarı saymamalıdır.</a:t>
              </a:r>
            </a:p>
          </p:txBody>
        </p:sp>
        <p:sp>
          <p:nvSpPr>
            <p:cNvPr id="32" name="TextBox 32"/>
            <p:cNvSpPr txBox="1"/>
            <p:nvPr/>
          </p:nvSpPr>
          <p:spPr>
            <a:xfrm>
              <a:off x="832485" y="4241006"/>
              <a:ext cx="313042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Kural: yalnızca metne güvenme, koda bak.</a:t>
              </a:r>
            </a:p>
          </p:txBody>
        </p:sp>
        <p:sp>
          <p:nvSpPr>
            <p:cNvPr id="33" name="Rectangle 33"/>
            <p:cNvSpPr/>
            <p:nvPr/>
          </p:nvSpPr>
          <p:spPr>
            <a:xfrm>
              <a:off x="6172200" y="2895600"/>
              <a:ext cx="5410200" cy="1619250"/>
            </a:xfrm>
            <a:prstGeom prst="roundRect">
              <a:avLst>
                <a:gd name="adj" fmla="val 4706"/>
              </a:avLst>
            </a:prstGeom>
            <a:solidFill>
              <a:srgbClr val="FFFFFF"/>
            </a:solidFill>
            <a:ln w="14288">
              <a:solidFill>
                <a:srgbClr val="2E86AB"/>
              </a:solidFill>
            </a:ln>
          </p:spPr>
        </p:sp>
        <p:sp>
          <p:nvSpPr>
            <p:cNvPr id="34" name="TextBox 34"/>
            <p:cNvSpPr txBox="1"/>
            <p:nvPr/>
          </p:nvSpPr>
          <p:spPr>
            <a:xfrm>
              <a:off x="6394323" y="3043714"/>
              <a:ext cx="117627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JSON gövdesi</a:t>
              </a:r>
            </a:p>
          </p:txBody>
        </p:sp>
        <p:sp>
          <p:nvSpPr>
            <p:cNvPr id="35" name="TextBox 35"/>
            <p:cNvSpPr txBox="1"/>
            <p:nvPr/>
          </p:nvSpPr>
          <p:spPr>
            <a:xfrm>
              <a:off x="6395085" y="3307556"/>
              <a:ext cx="300900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Uygulama seviyesinde istemci tarafından</a:t>
              </a:r>
            </a:p>
          </p:txBody>
        </p:sp>
        <p:sp>
          <p:nvSpPr>
            <p:cNvPr id="36" name="TextBox 36"/>
            <p:cNvSpPr txBox="1"/>
            <p:nvPr/>
          </p:nvSpPr>
          <p:spPr>
            <a:xfrm>
              <a:off x="6395085" y="3517106"/>
              <a:ext cx="233335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yorumlanacak ayrıntıyı taşır.</a:t>
              </a:r>
            </a:p>
          </p:txBody>
        </p:sp>
        <p:sp>
          <p:nvSpPr>
            <p:cNvPr id="37" name="TextBox 37"/>
            <p:cNvSpPr txBox="1"/>
            <p:nvPr/>
          </p:nvSpPr>
          <p:spPr>
            <a:xfrm>
              <a:off x="6395085" y="3821906"/>
              <a:ext cx="302691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201: yeni kaynak oluşturuldu · 204: silme</a:t>
              </a:r>
            </a:p>
          </p:txBody>
        </p:sp>
        <p:sp>
          <p:nvSpPr>
            <p:cNvPr id="38" name="TextBox 38"/>
            <p:cNvSpPr txBox="1"/>
            <p:nvPr/>
          </p:nvSpPr>
          <p:spPr>
            <a:xfrm>
              <a:off x="6395085" y="4031456"/>
              <a:ext cx="281583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başarılı, gövde yok · 404: kaynak yok</a:t>
              </a:r>
            </a:p>
          </p:txBody>
        </p:sp>
        <p:sp>
          <p:nvSpPr>
            <p:cNvPr id="39" name="TextBox 39"/>
            <p:cNvSpPr txBox="1"/>
            <p:nvPr/>
          </p:nvSpPr>
          <p:spPr>
            <a:xfrm>
              <a:off x="6395085" y="4241006"/>
              <a:ext cx="268767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400: istemci geçersiz veri gönderdi.</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520390" cy="668845"/>
            <a:chOff x="609600" y="171450"/>
            <a:chExt cx="8520390"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83001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Durum kodu ve JSON birleşim sözleşmesi</a:t>
              </a:r>
            </a:p>
          </p:txBody>
        </p:sp>
      </p:grpSp>
      <p:grpSp>
        <p:nvGrpSpPr>
          <p:cNvPr id="23" name="code-card"/>
          <p:cNvGrpSpPr/>
          <p:nvPr/>
        </p:nvGrpSpPr>
        <p:grpSpPr>
          <a:xfrm>
            <a:off x="609600" y="1123950"/>
            <a:ext cx="5257800" cy="3524250"/>
            <a:chOff x="609600" y="1123950"/>
            <a:chExt cx="5257800" cy="3524250"/>
          </a:xfrm>
        </p:grpSpPr>
        <p:sp>
          <p:nvSpPr>
            <p:cNvPr id="13" name="Rectangle 13"/>
            <p:cNvSpPr/>
            <p:nvPr/>
          </p:nvSpPr>
          <p:spPr>
            <a:xfrm>
              <a:off x="609600" y="1123950"/>
              <a:ext cx="5257800" cy="2552700"/>
            </a:xfrm>
            <a:prstGeom prst="roundRect">
              <a:avLst>
                <a:gd name="adj" fmla="val 2985"/>
              </a:avLst>
            </a:prstGeom>
            <a:solidFill>
              <a:srgbClr val="12355B"/>
            </a:solidFill>
            <a:ln>
              <a:noFill/>
            </a:ln>
          </p:spPr>
        </p:sp>
        <p:sp>
          <p:nvSpPr>
            <p:cNvPr id="14" name="TextBox 14"/>
            <p:cNvSpPr txBox="1"/>
            <p:nvPr/>
          </p:nvSpPr>
          <p:spPr>
            <a:xfrm>
              <a:off x="832866" y="1296352"/>
              <a:ext cx="2968104" cy="205359"/>
            </a:xfrm>
            <a:prstGeom prst="rect">
              <a:avLst/>
            </a:prstGeom>
            <a:noFill/>
            <a:ln>
              <a:noFill/>
            </a:ln>
          </p:spPr>
          <p:txBody>
            <a:bodyPr wrap="none" lIns="0" tIns="0" rIns="0" bIns="0" anchor="t" anchorCtr="0">
              <a:spAutoFit/>
            </a:bodyPr>
            <a:lstStyle/>
            <a:p>
              <a:pPr algn="l"/>
              <a:r>
                <a:rPr lang="tr-TR" sz="1050" b="1" spc="75" dirty="0">
                  <a:solidFill>
                    <a:srgbClr val="00A6A6"/>
                  </a:solidFill>
                  <a:latin typeface="+mn-lt"/>
                  <a:ea typeface="+mn-ea"/>
                  <a:cs typeface="+mn-cs"/>
                </a:rPr>
                <a:t>KOD 6.3 · BAŞARI/HATA SÖZLEŞMESİ</a:t>
              </a:r>
            </a:p>
          </p:txBody>
        </p:sp>
        <p:sp>
          <p:nvSpPr>
            <p:cNvPr id="15" name="TextBox 15"/>
            <p:cNvSpPr txBox="1"/>
            <p:nvPr/>
          </p:nvSpPr>
          <p:spPr>
            <a:xfrm>
              <a:off x="832866" y="1582102"/>
              <a:ext cx="2871026"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type BasariliYanit&lt;T&gt; = {</a:t>
              </a:r>
              <a:br/>
              <a:r>
                <a:rPr lang="tr-TR" sz="1050" dirty="0">
                  <a:solidFill>
                    <a:srgbClr val="EAF4F6"/>
                  </a:solidFill>
                  <a:latin typeface="Consolas"/>
                  <a:ea typeface="Consolas"/>
                  <a:cs typeface="Consolas"/>
                </a:rPr>
                <a:t>basarili: true; veri: T; mesaj: string;</a:t>
              </a:r>
              <a:br/>
              <a:r>
                <a:rPr lang="tr-TR" sz="1050" dirty="0">
                  <a:solidFill>
                    <a:srgbClr val="EAF4F6"/>
                  </a:solidFill>
                  <a:latin typeface="Consolas"/>
                  <a:ea typeface="Consolas"/>
                  <a:cs typeface="Consolas"/>
                </a:rPr>
                <a:t>};</a:t>
              </a:r>
            </a:p>
          </p:txBody>
        </p:sp>
        <p:sp>
          <p:nvSpPr>
            <p:cNvPr id="16" name="TextBox 16"/>
            <p:cNvSpPr txBox="1"/>
            <p:nvPr/>
          </p:nvSpPr>
          <p:spPr>
            <a:xfrm>
              <a:off x="832866" y="2325052"/>
              <a:ext cx="3604451"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type HataliYanit = {</a:t>
              </a:r>
              <a:br/>
              <a:r>
                <a:rPr lang="tr-TR" sz="1050" dirty="0">
                  <a:solidFill>
                    <a:srgbClr val="EAF4F6"/>
                  </a:solidFill>
                  <a:latin typeface="Consolas"/>
                  <a:ea typeface="Consolas"/>
                  <a:cs typeface="Consolas"/>
                </a:rPr>
                <a:t>basarili: false; hataKodu: string; mesaj: string;</a:t>
              </a:r>
              <a:br/>
              <a:r>
                <a:rPr lang="tr-TR" sz="1050" dirty="0">
                  <a:solidFill>
                    <a:srgbClr val="EAF4F6"/>
                  </a:solidFill>
                  <a:latin typeface="Consolas"/>
                  <a:ea typeface="Consolas"/>
                  <a:cs typeface="Consolas"/>
                </a:rPr>
                <a:t>};</a:t>
              </a:r>
            </a:p>
          </p:txBody>
        </p:sp>
        <p:sp>
          <p:nvSpPr>
            <p:cNvPr id="17" name="TextBox 17"/>
            <p:cNvSpPr txBox="1"/>
            <p:nvPr/>
          </p:nvSpPr>
          <p:spPr>
            <a:xfrm>
              <a:off x="832866" y="3087052"/>
              <a:ext cx="3048565"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if (apiYaniti.basarili) { veri okunur }</a:t>
              </a:r>
            </a:p>
          </p:txBody>
        </p:sp>
        <p:sp>
          <p:nvSpPr>
            <p:cNvPr id="18" name="TextBox 18"/>
            <p:cNvSpPr txBox="1"/>
            <p:nvPr/>
          </p:nvSpPr>
          <p:spPr>
            <a:xfrm>
              <a:off x="832866" y="3296602"/>
              <a:ext cx="1882369" cy="205359"/>
            </a:xfrm>
            <a:prstGeom prst="rect">
              <a:avLst/>
            </a:prstGeom>
            <a:noFill/>
            <a:ln>
              <a:noFill/>
            </a:ln>
          </p:spPr>
          <p:txBody>
            <a:bodyPr wrap="none" lIns="0" tIns="0" rIns="0" bIns="0" anchor="t" anchorCtr="0">
              <a:spAutoFit/>
            </a:bodyPr>
            <a:lstStyle/>
            <a:p>
              <a:pPr algn="l"/>
              <a:r>
                <a:rPr lang="tr-TR" sz="1050" dirty="0">
                  <a:solidFill>
                    <a:srgbClr val="00A6A6"/>
                  </a:solidFill>
                  <a:latin typeface="Consolas"/>
                  <a:ea typeface="Consolas"/>
                  <a:cs typeface="Consolas"/>
                </a:rPr>
                <a:t>else { hataKodu okunur }</a:t>
              </a:r>
            </a:p>
          </p:txBody>
        </p:sp>
        <p:sp>
          <p:nvSpPr>
            <p:cNvPr id="19" name="Rectangle 19"/>
            <p:cNvSpPr/>
            <p:nvPr/>
          </p:nvSpPr>
          <p:spPr>
            <a:xfrm>
              <a:off x="609600" y="3790950"/>
              <a:ext cx="5257800" cy="857250"/>
            </a:xfrm>
            <a:prstGeom prst="roundRect">
              <a:avLst>
                <a:gd name="adj" fmla="val 8889"/>
              </a:avLst>
            </a:prstGeom>
            <a:solidFill>
              <a:srgbClr val="EAF4F6"/>
            </a:solidFill>
            <a:ln>
              <a:noFill/>
            </a:ln>
          </p:spPr>
        </p:sp>
        <p:sp>
          <p:nvSpPr>
            <p:cNvPr id="20" name="TextBox 20"/>
            <p:cNvSpPr txBox="1"/>
            <p:nvPr/>
          </p:nvSpPr>
          <p:spPr>
            <a:xfrm>
              <a:off x="832866" y="3925252"/>
              <a:ext cx="127771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Dikkat noktası</a:t>
              </a:r>
            </a:p>
          </p:txBody>
        </p:sp>
        <p:sp>
          <p:nvSpPr>
            <p:cNvPr id="21" name="TextBox 21"/>
            <p:cNvSpPr txBox="1"/>
            <p:nvPr/>
          </p:nvSpPr>
          <p:spPr>
            <a:xfrm>
              <a:off x="832866" y="4153852"/>
              <a:ext cx="398712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Ayrım basarili alanının literal true/false tipine dayanır;</a:t>
              </a:r>
            </a:p>
          </p:txBody>
        </p:sp>
        <p:sp>
          <p:nvSpPr>
            <p:cNvPr id="22" name="TextBox 22"/>
            <p:cNvSpPr txBox="1"/>
            <p:nvPr/>
          </p:nvSpPr>
          <p:spPr>
            <a:xfrm>
              <a:off x="832866" y="4344352"/>
              <a:ext cx="351082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boolean'a genelleştirilirse TypeScript daraltamaz.</a:t>
              </a:r>
            </a:p>
          </p:txBody>
        </p:sp>
      </p:grpSp>
      <p:grpSp>
        <p:nvGrpSpPr>
          <p:cNvPr id="53" name="status-scenarios"/>
          <p:cNvGrpSpPr/>
          <p:nvPr/>
        </p:nvGrpSpPr>
        <p:grpSpPr>
          <a:xfrm>
            <a:off x="6164961" y="1179671"/>
            <a:ext cx="5417439" cy="3906679"/>
            <a:chOff x="6164961" y="1179671"/>
            <a:chExt cx="5417439" cy="3906679"/>
          </a:xfrm>
        </p:grpSpPr>
        <p:sp>
          <p:nvSpPr>
            <p:cNvPr id="24" name="TextBox 24"/>
            <p:cNvSpPr txBox="1"/>
            <p:nvPr/>
          </p:nvSpPr>
          <p:spPr>
            <a:xfrm>
              <a:off x="6164961" y="1179671"/>
              <a:ext cx="2807910"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Durum · Uygun kod · Gerekçe</a:t>
              </a:r>
            </a:p>
          </p:txBody>
        </p:sp>
        <p:sp>
          <p:nvSpPr>
            <p:cNvPr id="25" name="Rectangle 25"/>
            <p:cNvSpPr/>
            <p:nvPr/>
          </p:nvSpPr>
          <p:spPr>
            <a:xfrm>
              <a:off x="6172200" y="1447800"/>
              <a:ext cx="5410200" cy="438150"/>
            </a:xfrm>
            <a:prstGeom prst="rect">
              <a:avLst/>
            </a:prstGeom>
            <a:solidFill>
              <a:srgbClr val="FFFFFF"/>
            </a:solidFill>
            <a:ln w="9525">
              <a:solidFill>
                <a:srgbClr val="B8CBD3"/>
              </a:solidFill>
            </a:ln>
          </p:spPr>
        </p:sp>
        <p:sp>
          <p:nvSpPr>
            <p:cNvPr id="26" name="TextBox 26"/>
            <p:cNvSpPr txBox="1"/>
            <p:nvPr/>
          </p:nvSpPr>
          <p:spPr>
            <a:xfrm>
              <a:off x="6318885" y="1593056"/>
              <a:ext cx="85296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Liste döndü</a:t>
              </a:r>
            </a:p>
          </p:txBody>
        </p:sp>
        <p:sp>
          <p:nvSpPr>
            <p:cNvPr id="27" name="TextBox 27"/>
            <p:cNvSpPr txBox="1"/>
            <p:nvPr/>
          </p:nvSpPr>
          <p:spPr>
            <a:xfrm>
              <a:off x="8757285" y="159305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200</a:t>
              </a:r>
            </a:p>
          </p:txBody>
        </p:sp>
        <p:sp>
          <p:nvSpPr>
            <p:cNvPr id="28" name="TextBox 28"/>
            <p:cNvSpPr txBox="1"/>
            <p:nvPr/>
          </p:nvSpPr>
          <p:spPr>
            <a:xfrm>
              <a:off x="9329547" y="1609249"/>
              <a:ext cx="139265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Kaynak oluşturulmadı</a:t>
              </a:r>
            </a:p>
          </p:txBody>
        </p:sp>
        <p:sp>
          <p:nvSpPr>
            <p:cNvPr id="29" name="Rectangle 29"/>
            <p:cNvSpPr/>
            <p:nvPr/>
          </p:nvSpPr>
          <p:spPr>
            <a:xfrm>
              <a:off x="6172200" y="1885950"/>
              <a:ext cx="5410200" cy="438150"/>
            </a:xfrm>
            <a:prstGeom prst="rect">
              <a:avLst/>
            </a:prstGeom>
            <a:solidFill>
              <a:srgbClr val="EAF4F6"/>
            </a:solidFill>
            <a:ln>
              <a:noFill/>
            </a:ln>
          </p:spPr>
        </p:sp>
        <p:sp>
          <p:nvSpPr>
            <p:cNvPr id="30" name="TextBox 30"/>
            <p:cNvSpPr txBox="1"/>
            <p:nvPr/>
          </p:nvSpPr>
          <p:spPr>
            <a:xfrm>
              <a:off x="6318885" y="2031206"/>
              <a:ext cx="1433428"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Rezervasyon oluştu</a:t>
              </a:r>
            </a:p>
          </p:txBody>
        </p:sp>
        <p:sp>
          <p:nvSpPr>
            <p:cNvPr id="31" name="TextBox 31"/>
            <p:cNvSpPr txBox="1"/>
            <p:nvPr/>
          </p:nvSpPr>
          <p:spPr>
            <a:xfrm>
              <a:off x="8757285" y="203120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201</a:t>
              </a:r>
            </a:p>
          </p:txBody>
        </p:sp>
        <p:sp>
          <p:nvSpPr>
            <p:cNvPr id="32" name="TextBox 32"/>
            <p:cNvSpPr txBox="1"/>
            <p:nvPr/>
          </p:nvSpPr>
          <p:spPr>
            <a:xfrm>
              <a:off x="9329547" y="2047399"/>
              <a:ext cx="166985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Oluşturma anlamı gerekir</a:t>
              </a:r>
            </a:p>
          </p:txBody>
        </p:sp>
        <p:sp>
          <p:nvSpPr>
            <p:cNvPr id="33" name="Rectangle 33"/>
            <p:cNvSpPr/>
            <p:nvPr/>
          </p:nvSpPr>
          <p:spPr>
            <a:xfrm>
              <a:off x="6172200" y="2324100"/>
              <a:ext cx="5410200" cy="438150"/>
            </a:xfrm>
            <a:prstGeom prst="rect">
              <a:avLst/>
            </a:prstGeom>
            <a:solidFill>
              <a:srgbClr val="FFFFFF"/>
            </a:solidFill>
            <a:ln w="9525">
              <a:solidFill>
                <a:srgbClr val="B8CBD3"/>
              </a:solidFill>
            </a:ln>
          </p:spPr>
        </p:sp>
        <p:sp>
          <p:nvSpPr>
            <p:cNvPr id="34" name="TextBox 34"/>
            <p:cNvSpPr txBox="1"/>
            <p:nvPr/>
          </p:nvSpPr>
          <p:spPr>
            <a:xfrm>
              <a:off x="6318885" y="2469356"/>
              <a:ext cx="128271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Silindi, gövde yok</a:t>
              </a:r>
            </a:p>
          </p:txBody>
        </p:sp>
        <p:sp>
          <p:nvSpPr>
            <p:cNvPr id="35" name="TextBox 35"/>
            <p:cNvSpPr txBox="1"/>
            <p:nvPr/>
          </p:nvSpPr>
          <p:spPr>
            <a:xfrm>
              <a:off x="8757285" y="246935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204</a:t>
              </a:r>
            </a:p>
          </p:txBody>
        </p:sp>
        <p:sp>
          <p:nvSpPr>
            <p:cNvPr id="36" name="TextBox 36"/>
            <p:cNvSpPr txBox="1"/>
            <p:nvPr/>
          </p:nvSpPr>
          <p:spPr>
            <a:xfrm>
              <a:off x="9329547" y="2485549"/>
              <a:ext cx="126132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Başarı, ek veri yok</a:t>
              </a:r>
            </a:p>
          </p:txBody>
        </p:sp>
        <p:sp>
          <p:nvSpPr>
            <p:cNvPr id="37" name="Rectangle 37"/>
            <p:cNvSpPr/>
            <p:nvPr/>
          </p:nvSpPr>
          <p:spPr>
            <a:xfrm>
              <a:off x="6172200" y="2762250"/>
              <a:ext cx="5410200" cy="438150"/>
            </a:xfrm>
            <a:prstGeom prst="rect">
              <a:avLst/>
            </a:prstGeom>
            <a:solidFill>
              <a:srgbClr val="EAF4F6"/>
            </a:solidFill>
            <a:ln>
              <a:noFill/>
            </a:ln>
          </p:spPr>
        </p:sp>
        <p:sp>
          <p:nvSpPr>
            <p:cNvPr id="38" name="TextBox 38"/>
            <p:cNvSpPr txBox="1"/>
            <p:nvPr/>
          </p:nvSpPr>
          <p:spPr>
            <a:xfrm>
              <a:off x="6318885" y="2907506"/>
              <a:ext cx="139560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İsim boş gönderildi</a:t>
              </a:r>
            </a:p>
          </p:txBody>
        </p:sp>
        <p:sp>
          <p:nvSpPr>
            <p:cNvPr id="39" name="TextBox 39"/>
            <p:cNvSpPr txBox="1"/>
            <p:nvPr/>
          </p:nvSpPr>
          <p:spPr>
            <a:xfrm>
              <a:off x="8757285" y="290750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400</a:t>
              </a:r>
            </a:p>
          </p:txBody>
        </p:sp>
        <p:sp>
          <p:nvSpPr>
            <p:cNvPr id="40" name="TextBox 40"/>
            <p:cNvSpPr txBox="1"/>
            <p:nvPr/>
          </p:nvSpPr>
          <p:spPr>
            <a:xfrm>
              <a:off x="9329547" y="2923699"/>
              <a:ext cx="143875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Hata istemci verisinde</a:t>
              </a:r>
            </a:p>
          </p:txBody>
        </p:sp>
        <p:sp>
          <p:nvSpPr>
            <p:cNvPr id="41" name="Rectangle 41"/>
            <p:cNvSpPr/>
            <p:nvPr/>
          </p:nvSpPr>
          <p:spPr>
            <a:xfrm>
              <a:off x="6172200" y="3200400"/>
              <a:ext cx="5410200" cy="438150"/>
            </a:xfrm>
            <a:prstGeom prst="rect">
              <a:avLst/>
            </a:prstGeom>
            <a:solidFill>
              <a:srgbClr val="FFFFFF"/>
            </a:solidFill>
            <a:ln w="9525">
              <a:solidFill>
                <a:srgbClr val="B8CBD3"/>
              </a:solidFill>
            </a:ln>
          </p:spPr>
        </p:sp>
        <p:sp>
          <p:nvSpPr>
            <p:cNvPr id="42" name="TextBox 42"/>
            <p:cNvSpPr txBox="1"/>
            <p:nvPr/>
          </p:nvSpPr>
          <p:spPr>
            <a:xfrm>
              <a:off x="6318885" y="3345656"/>
              <a:ext cx="129754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Kimlik bulunamadı</a:t>
              </a:r>
            </a:p>
          </p:txBody>
        </p:sp>
        <p:sp>
          <p:nvSpPr>
            <p:cNvPr id="43" name="TextBox 43"/>
            <p:cNvSpPr txBox="1"/>
            <p:nvPr/>
          </p:nvSpPr>
          <p:spPr>
            <a:xfrm>
              <a:off x="8757285" y="334565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404</a:t>
              </a:r>
            </a:p>
          </p:txBody>
        </p:sp>
        <p:sp>
          <p:nvSpPr>
            <p:cNvPr id="44" name="TextBox 44"/>
            <p:cNvSpPr txBox="1"/>
            <p:nvPr/>
          </p:nvSpPr>
          <p:spPr>
            <a:xfrm>
              <a:off x="9329547" y="3361849"/>
              <a:ext cx="1214694"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İstenen temsil yok</a:t>
              </a:r>
            </a:p>
          </p:txBody>
        </p:sp>
        <p:sp>
          <p:nvSpPr>
            <p:cNvPr id="45" name="Rectangle 45"/>
            <p:cNvSpPr/>
            <p:nvPr/>
          </p:nvSpPr>
          <p:spPr>
            <a:xfrm>
              <a:off x="6172200" y="3638550"/>
              <a:ext cx="5410200" cy="438150"/>
            </a:xfrm>
            <a:prstGeom prst="rect">
              <a:avLst/>
            </a:prstGeom>
            <a:solidFill>
              <a:srgbClr val="EAF4F6"/>
            </a:solidFill>
            <a:ln>
              <a:noFill/>
            </a:ln>
          </p:spPr>
        </p:sp>
        <p:sp>
          <p:nvSpPr>
            <p:cNvPr id="46" name="TextBox 46"/>
            <p:cNvSpPr txBox="1"/>
            <p:nvPr/>
          </p:nvSpPr>
          <p:spPr>
            <a:xfrm>
              <a:off x="6318885" y="3783806"/>
              <a:ext cx="148368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DB bağlantısı koptu</a:t>
              </a:r>
            </a:p>
          </p:txBody>
        </p:sp>
        <p:sp>
          <p:nvSpPr>
            <p:cNvPr id="47" name="TextBox 47"/>
            <p:cNvSpPr txBox="1"/>
            <p:nvPr/>
          </p:nvSpPr>
          <p:spPr>
            <a:xfrm>
              <a:off x="8757285" y="378380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500</a:t>
              </a:r>
            </a:p>
          </p:txBody>
        </p:sp>
        <p:sp>
          <p:nvSpPr>
            <p:cNvPr id="48" name="TextBox 48"/>
            <p:cNvSpPr txBox="1"/>
            <p:nvPr/>
          </p:nvSpPr>
          <p:spPr>
            <a:xfrm>
              <a:off x="9329547" y="3799999"/>
              <a:ext cx="136641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Sunucu taraflı sorun</a:t>
              </a:r>
            </a:p>
          </p:txBody>
        </p:sp>
        <p:sp>
          <p:nvSpPr>
            <p:cNvPr id="49" name="Rectangle 49"/>
            <p:cNvSpPr/>
            <p:nvPr/>
          </p:nvSpPr>
          <p:spPr>
            <a:xfrm>
              <a:off x="6172200" y="4229100"/>
              <a:ext cx="5410200" cy="857250"/>
            </a:xfrm>
            <a:prstGeom prst="roundRect">
              <a:avLst>
                <a:gd name="adj" fmla="val 8889"/>
              </a:avLst>
            </a:prstGeom>
            <a:solidFill>
              <a:srgbClr val="12355B"/>
            </a:solidFill>
            <a:ln>
              <a:noFill/>
            </a:ln>
          </p:spPr>
        </p:sp>
        <p:sp>
          <p:nvSpPr>
            <p:cNvPr id="50" name="TextBox 50"/>
            <p:cNvSpPr txBox="1"/>
            <p:nvPr/>
          </p:nvSpPr>
          <p:spPr>
            <a:xfrm>
              <a:off x="6318885" y="4355306"/>
              <a:ext cx="1612483"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TypeScript 1.4 / 1.8</a:t>
              </a:r>
            </a:p>
          </p:txBody>
        </p:sp>
        <p:sp>
          <p:nvSpPr>
            <p:cNvPr id="51" name="TextBox 51"/>
            <p:cNvSpPr txBox="1"/>
            <p:nvPr/>
          </p:nvSpPr>
          <p:spPr>
            <a:xfrm>
              <a:off x="6319266" y="4592002"/>
              <a:ext cx="3345981"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Union type (1.4) ve koşula göre daraltma (1.8),</a:t>
              </a:r>
            </a:p>
          </p:txBody>
        </p:sp>
        <p:sp>
          <p:nvSpPr>
            <p:cNvPr id="52" name="TextBox 52"/>
            <p:cNvSpPr txBox="1"/>
            <p:nvPr/>
          </p:nvSpPr>
          <p:spPr>
            <a:xfrm>
              <a:off x="6319266" y="4782502"/>
              <a:ext cx="3714064"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istemcinin başarı/hatayı güvenle ayırmasını sağlar.</a:t>
              </a:r>
            </a:p>
          </p:txBody>
        </p:sp>
      </p:grpSp>
      <p:sp>
        <p:nvSpPr>
          <p:cNvPr id="54" name="TextBox 5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6835798" cy="668845"/>
            <a:chOff x="609600" y="171450"/>
            <a:chExt cx="6835798"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61454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Rota ile servis katmanı ayrımı</a:t>
              </a:r>
            </a:p>
          </p:txBody>
        </p:sp>
      </p:grpSp>
      <p:grpSp>
        <p:nvGrpSpPr>
          <p:cNvPr id="43" name="sequence-diagram"/>
          <p:cNvGrpSpPr/>
          <p:nvPr/>
        </p:nvGrpSpPr>
        <p:grpSpPr>
          <a:xfrm>
            <a:off x="1333500" y="1219200"/>
            <a:ext cx="9525000" cy="3581400"/>
            <a:chOff x="1333500" y="1219200"/>
            <a:chExt cx="9525000" cy="3581400"/>
          </a:xfrm>
        </p:grpSpPr>
        <p:sp>
          <p:nvSpPr>
            <p:cNvPr id="13" name="Rectangle 13"/>
            <p:cNvSpPr/>
            <p:nvPr/>
          </p:nvSpPr>
          <p:spPr>
            <a:xfrm>
              <a:off x="1333500" y="1219200"/>
              <a:ext cx="1905000" cy="381000"/>
            </a:xfrm>
            <a:prstGeom prst="roundRect">
              <a:avLst>
                <a:gd name="adj" fmla="val 15000"/>
              </a:avLst>
            </a:prstGeom>
            <a:solidFill>
              <a:srgbClr val="12355B"/>
            </a:solidFill>
            <a:ln>
              <a:noFill/>
            </a:ln>
          </p:spPr>
        </p:sp>
        <p:sp>
          <p:nvSpPr>
            <p:cNvPr id="14" name="TextBox 14"/>
            <p:cNvSpPr txBox="1"/>
            <p:nvPr/>
          </p:nvSpPr>
          <p:spPr>
            <a:xfrm>
              <a:off x="1932978" y="1329214"/>
              <a:ext cx="706045"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İstemci</a:t>
              </a:r>
            </a:p>
          </p:txBody>
        </p:sp>
        <p:sp>
          <p:nvSpPr>
            <p:cNvPr id="15" name="Rectangle 15"/>
            <p:cNvSpPr/>
            <p:nvPr/>
          </p:nvSpPr>
          <p:spPr>
            <a:xfrm>
              <a:off x="5143500" y="1219200"/>
              <a:ext cx="1905000" cy="381000"/>
            </a:xfrm>
            <a:prstGeom prst="roundRect">
              <a:avLst>
                <a:gd name="adj" fmla="val 15000"/>
              </a:avLst>
            </a:prstGeom>
            <a:solidFill>
              <a:srgbClr val="12355B"/>
            </a:solidFill>
            <a:ln>
              <a:noFill/>
            </a:ln>
          </p:spPr>
        </p:sp>
        <p:sp>
          <p:nvSpPr>
            <p:cNvPr id="16" name="TextBox 16"/>
            <p:cNvSpPr txBox="1"/>
            <p:nvPr/>
          </p:nvSpPr>
          <p:spPr>
            <a:xfrm>
              <a:off x="5493930" y="1329214"/>
              <a:ext cx="1204139"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Rota katmanı</a:t>
              </a:r>
            </a:p>
          </p:txBody>
        </p:sp>
        <p:sp>
          <p:nvSpPr>
            <p:cNvPr id="17" name="Rectangle 17"/>
            <p:cNvSpPr/>
            <p:nvPr/>
          </p:nvSpPr>
          <p:spPr>
            <a:xfrm>
              <a:off x="8953500" y="1219200"/>
              <a:ext cx="1905000" cy="381000"/>
            </a:xfrm>
            <a:prstGeom prst="roundRect">
              <a:avLst>
                <a:gd name="adj" fmla="val 15000"/>
              </a:avLst>
            </a:prstGeom>
            <a:solidFill>
              <a:srgbClr val="12355B"/>
            </a:solidFill>
            <a:ln>
              <a:noFill/>
            </a:ln>
          </p:spPr>
        </p:sp>
        <p:sp>
          <p:nvSpPr>
            <p:cNvPr id="18" name="TextBox 18"/>
            <p:cNvSpPr txBox="1"/>
            <p:nvPr/>
          </p:nvSpPr>
          <p:spPr>
            <a:xfrm>
              <a:off x="9227170" y="1329214"/>
              <a:ext cx="1357660" cy="249364"/>
            </a:xfrm>
            <a:prstGeom prst="rect">
              <a:avLst/>
            </a:prstGeom>
            <a:noFill/>
            <a:ln>
              <a:noFill/>
            </a:ln>
          </p:spPr>
          <p:txBody>
            <a:bodyPr wrap="none" lIns="0" tIns="0" rIns="0" bIns="0" anchor="t" anchorCtr="0">
              <a:spAutoFit/>
            </a:bodyPr>
            <a:lstStyle/>
            <a:p>
              <a:pPr algn="ctr"/>
              <a:r>
                <a:rPr lang="tr-TR" sz="1280" b="1" dirty="0">
                  <a:solidFill>
                    <a:srgbClr val="FFFFFF"/>
                  </a:solidFill>
                  <a:latin typeface="+mn-lt"/>
                  <a:ea typeface="+mn-ea"/>
                  <a:cs typeface="+mn-cs"/>
                </a:rPr>
                <a:t>Servis katmanı</a:t>
              </a:r>
            </a:p>
          </p:txBody>
        </p:sp>
        <p:sp>
          <p:nvSpPr>
            <p:cNvPr id="19" name="Line 19"/>
            <p:cNvSpPr/>
            <p:nvPr/>
          </p:nvSpPr>
          <p:spPr>
            <a:xfrm>
              <a:off x="2286000" y="1600200"/>
              <a:ext cx="9525" cy="2876550"/>
            </a:xfrm>
            <a:custGeom>
              <a:avLst/>
              <a:gdLst/>
              <a:ahLst/>
              <a:cxnLst/>
              <a:rect l="l" t="t" r="r" b="b"/>
              <a:pathLst>
                <a:path w="9525" h="2876550">
                  <a:moveTo>
                    <a:pt x="0" y="0"/>
                  </a:moveTo>
                  <a:lnTo>
                    <a:pt x="0" y="2876550"/>
                  </a:lnTo>
                </a:path>
              </a:pathLst>
            </a:custGeom>
            <a:noFill/>
            <a:ln w="14288">
              <a:solidFill>
                <a:srgbClr val="B8CBD3"/>
              </a:solidFill>
            </a:ln>
          </p:spPr>
        </p:sp>
        <p:sp>
          <p:nvSpPr>
            <p:cNvPr id="20" name="Line 20"/>
            <p:cNvSpPr/>
            <p:nvPr/>
          </p:nvSpPr>
          <p:spPr>
            <a:xfrm>
              <a:off x="6096000" y="1600200"/>
              <a:ext cx="9525" cy="2876550"/>
            </a:xfrm>
            <a:custGeom>
              <a:avLst/>
              <a:gdLst/>
              <a:ahLst/>
              <a:cxnLst/>
              <a:rect l="l" t="t" r="r" b="b"/>
              <a:pathLst>
                <a:path w="9525" h="2876550">
                  <a:moveTo>
                    <a:pt x="0" y="0"/>
                  </a:moveTo>
                  <a:lnTo>
                    <a:pt x="0" y="2876550"/>
                  </a:lnTo>
                </a:path>
              </a:pathLst>
            </a:custGeom>
            <a:noFill/>
            <a:ln w="14288">
              <a:solidFill>
                <a:srgbClr val="B8CBD3"/>
              </a:solidFill>
            </a:ln>
          </p:spPr>
        </p:sp>
        <p:sp>
          <p:nvSpPr>
            <p:cNvPr id="21" name="Line 21"/>
            <p:cNvSpPr/>
            <p:nvPr/>
          </p:nvSpPr>
          <p:spPr>
            <a:xfrm>
              <a:off x="9906000" y="1600200"/>
              <a:ext cx="9525" cy="2876550"/>
            </a:xfrm>
            <a:custGeom>
              <a:avLst/>
              <a:gdLst/>
              <a:ahLst/>
              <a:cxnLst/>
              <a:rect l="l" t="t" r="r" b="b"/>
              <a:pathLst>
                <a:path w="9525" h="2876550">
                  <a:moveTo>
                    <a:pt x="0" y="0"/>
                  </a:moveTo>
                  <a:lnTo>
                    <a:pt x="0" y="2876550"/>
                  </a:lnTo>
                </a:path>
              </a:pathLst>
            </a:custGeom>
            <a:noFill/>
            <a:ln w="14288">
              <a:solidFill>
                <a:srgbClr val="B8CBD3"/>
              </a:solidFill>
            </a:ln>
          </p:spPr>
        </p:sp>
        <p:sp>
          <p:nvSpPr>
            <p:cNvPr id="22" name="TextBox 22"/>
            <p:cNvSpPr txBox="1"/>
            <p:nvPr/>
          </p:nvSpPr>
          <p:spPr>
            <a:xfrm>
              <a:off x="5119494" y="1753552"/>
              <a:ext cx="1953012"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Senaryo 1 — kaynak bulundu</a:t>
              </a:r>
            </a:p>
          </p:txBody>
        </p:sp>
        <p:sp>
          <p:nvSpPr>
            <p:cNvPr id="23" name="Line 23"/>
            <p:cNvSpPr/>
            <p:nvPr/>
          </p:nvSpPr>
          <p:spPr>
            <a:xfrm>
              <a:off x="2286000" y="2000250"/>
              <a:ext cx="3733800" cy="1"/>
            </a:xfrm>
            <a:prstGeom prst="line">
              <a:avLst/>
            </a:prstGeom>
            <a:noFill/>
            <a:ln w="19050">
              <a:solidFill>
                <a:srgbClr val="12355B"/>
              </a:solidFill>
              <a:tailEnd type="arrow" w="lg" len="lg"/>
            </a:ln>
          </p:spPr>
        </p:sp>
        <p:sp>
          <p:nvSpPr>
            <p:cNvPr id="24" name="TextBox 24"/>
            <p:cNvSpPr txBox="1"/>
            <p:nvPr/>
          </p:nvSpPr>
          <p:spPr>
            <a:xfrm>
              <a:off x="2376297" y="1837849"/>
              <a:ext cx="144318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GET /api/ekipmanlar/1</a:t>
              </a:r>
            </a:p>
          </p:txBody>
        </p:sp>
        <p:sp>
          <p:nvSpPr>
            <p:cNvPr id="25" name="Line 25"/>
            <p:cNvSpPr/>
            <p:nvPr/>
          </p:nvSpPr>
          <p:spPr>
            <a:xfrm>
              <a:off x="6096000" y="2228850"/>
              <a:ext cx="3733800" cy="1"/>
            </a:xfrm>
            <a:prstGeom prst="line">
              <a:avLst/>
            </a:prstGeom>
            <a:noFill/>
            <a:ln w="19050">
              <a:solidFill>
                <a:srgbClr val="12355B"/>
              </a:solidFill>
              <a:tailEnd type="arrow" w="lg" len="lg"/>
            </a:ln>
          </p:spPr>
        </p:sp>
        <p:sp>
          <p:nvSpPr>
            <p:cNvPr id="26" name="TextBox 26"/>
            <p:cNvSpPr txBox="1"/>
            <p:nvPr/>
          </p:nvSpPr>
          <p:spPr>
            <a:xfrm>
              <a:off x="6186297" y="2066449"/>
              <a:ext cx="106367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ekipmanGetir(1)</a:t>
              </a:r>
            </a:p>
          </p:txBody>
        </p:sp>
        <p:sp>
          <p:nvSpPr>
            <p:cNvPr id="27" name="Line 27"/>
            <p:cNvSpPr/>
            <p:nvPr/>
          </p:nvSpPr>
          <p:spPr>
            <a:xfrm flipH="1">
              <a:off x="6172200" y="2457450"/>
              <a:ext cx="3733800" cy="1"/>
            </a:xfrm>
            <a:prstGeom prst="line">
              <a:avLst/>
            </a:prstGeom>
            <a:noFill/>
            <a:ln w="19050">
              <a:solidFill>
                <a:srgbClr val="00A6A6"/>
              </a:solidFill>
              <a:custDash>
                <a:ds d="300000" sp="200000"/>
              </a:custDash>
              <a:tailEnd type="arrow" w="lg" len="lg"/>
            </a:ln>
          </p:spPr>
        </p:sp>
        <p:sp>
          <p:nvSpPr>
            <p:cNvPr id="28" name="TextBox 28"/>
            <p:cNvSpPr txBox="1"/>
            <p:nvPr/>
          </p:nvSpPr>
          <p:spPr>
            <a:xfrm>
              <a:off x="6853047" y="2295049"/>
              <a:ext cx="102985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Ekipman nesnesi</a:t>
              </a:r>
            </a:p>
          </p:txBody>
        </p:sp>
        <p:sp>
          <p:nvSpPr>
            <p:cNvPr id="29" name="Line 29"/>
            <p:cNvSpPr/>
            <p:nvPr/>
          </p:nvSpPr>
          <p:spPr>
            <a:xfrm flipH="1">
              <a:off x="2362200" y="2686050"/>
              <a:ext cx="3733800" cy="1"/>
            </a:xfrm>
            <a:prstGeom prst="line">
              <a:avLst/>
            </a:prstGeom>
            <a:noFill/>
            <a:ln w="19050">
              <a:solidFill>
                <a:srgbClr val="00A6A6"/>
              </a:solidFill>
              <a:custDash>
                <a:ds d="300000" sp="200000"/>
              </a:custDash>
              <a:tailEnd type="arrow" w="lg" len="lg"/>
            </a:ln>
          </p:spPr>
        </p:sp>
        <p:sp>
          <p:nvSpPr>
            <p:cNvPr id="30" name="TextBox 30"/>
            <p:cNvSpPr txBox="1"/>
            <p:nvPr/>
          </p:nvSpPr>
          <p:spPr>
            <a:xfrm>
              <a:off x="2662047" y="2523649"/>
              <a:ext cx="1005188" cy="190690"/>
            </a:xfrm>
            <a:prstGeom prst="rect">
              <a:avLst/>
            </a:prstGeom>
            <a:noFill/>
            <a:ln>
              <a:noFill/>
            </a:ln>
          </p:spPr>
          <p:txBody>
            <a:bodyPr wrap="none" lIns="0" tIns="0" rIns="0" bIns="0" anchor="t" anchorCtr="0">
              <a:spAutoFit/>
            </a:bodyPr>
            <a:lstStyle/>
            <a:p>
              <a:pPr algn="l"/>
              <a:r>
                <a:rPr lang="tr-TR" sz="980" b="1" dirty="0">
                  <a:solidFill>
                    <a:srgbClr val="12355B"/>
                  </a:solidFill>
                  <a:latin typeface="+mn-lt"/>
                  <a:ea typeface="+mn-ea"/>
                  <a:cs typeface="+mn-cs"/>
                </a:rPr>
                <a:t>200 OK + JSON</a:t>
              </a:r>
            </a:p>
          </p:txBody>
        </p:sp>
        <p:sp>
          <p:nvSpPr>
            <p:cNvPr id="31" name="TextBox 31"/>
            <p:cNvSpPr txBox="1"/>
            <p:nvPr/>
          </p:nvSpPr>
          <p:spPr>
            <a:xfrm>
              <a:off x="4982227" y="3029902"/>
              <a:ext cx="2227547" cy="205359"/>
            </a:xfrm>
            <a:prstGeom prst="rect">
              <a:avLst/>
            </a:prstGeom>
            <a:noFill/>
            <a:ln>
              <a:noFill/>
            </a:ln>
          </p:spPr>
          <p:txBody>
            <a:bodyPr wrap="none" lIns="0" tIns="0" rIns="0" bIns="0" anchor="t" anchorCtr="0">
              <a:spAutoFit/>
            </a:bodyPr>
            <a:lstStyle/>
            <a:p>
              <a:pPr algn="ctr"/>
              <a:r>
                <a:rPr lang="tr-TR" sz="1050" b="1" dirty="0">
                  <a:solidFill>
                    <a:srgbClr val="12355B"/>
                  </a:solidFill>
                  <a:latin typeface="+mn-lt"/>
                  <a:ea typeface="+mn-ea"/>
                  <a:cs typeface="+mn-cs"/>
                </a:rPr>
                <a:t>Senaryo 2 — kaynak bulunamadı</a:t>
              </a:r>
            </a:p>
          </p:txBody>
        </p:sp>
        <p:sp>
          <p:nvSpPr>
            <p:cNvPr id="32" name="Line 32"/>
            <p:cNvSpPr/>
            <p:nvPr/>
          </p:nvSpPr>
          <p:spPr>
            <a:xfrm>
              <a:off x="2286000" y="3276600"/>
              <a:ext cx="3733800" cy="1"/>
            </a:xfrm>
            <a:prstGeom prst="line">
              <a:avLst/>
            </a:prstGeom>
            <a:noFill/>
            <a:ln w="19050">
              <a:solidFill>
                <a:srgbClr val="12355B"/>
              </a:solidFill>
              <a:tailEnd type="arrow" w="lg" len="lg"/>
            </a:ln>
          </p:spPr>
        </p:sp>
        <p:sp>
          <p:nvSpPr>
            <p:cNvPr id="33" name="TextBox 33"/>
            <p:cNvSpPr txBox="1"/>
            <p:nvPr/>
          </p:nvSpPr>
          <p:spPr>
            <a:xfrm>
              <a:off x="2376297" y="3114199"/>
              <a:ext cx="151651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GET /api/ekipmanlar/99</a:t>
              </a:r>
            </a:p>
          </p:txBody>
        </p:sp>
        <p:sp>
          <p:nvSpPr>
            <p:cNvPr id="34" name="Line 34"/>
            <p:cNvSpPr/>
            <p:nvPr/>
          </p:nvSpPr>
          <p:spPr>
            <a:xfrm>
              <a:off x="6096000" y="3505200"/>
              <a:ext cx="3733800" cy="1"/>
            </a:xfrm>
            <a:prstGeom prst="line">
              <a:avLst/>
            </a:prstGeom>
            <a:noFill/>
            <a:ln w="19050">
              <a:solidFill>
                <a:srgbClr val="12355B"/>
              </a:solidFill>
              <a:tailEnd type="arrow" w="lg" len="lg"/>
            </a:ln>
          </p:spPr>
        </p:sp>
        <p:sp>
          <p:nvSpPr>
            <p:cNvPr id="35" name="TextBox 35"/>
            <p:cNvSpPr txBox="1"/>
            <p:nvPr/>
          </p:nvSpPr>
          <p:spPr>
            <a:xfrm>
              <a:off x="6186297" y="3342799"/>
              <a:ext cx="113658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ekipmanGetir(99)</a:t>
              </a:r>
            </a:p>
          </p:txBody>
        </p:sp>
        <p:sp>
          <p:nvSpPr>
            <p:cNvPr id="36" name="Line 36"/>
            <p:cNvSpPr/>
            <p:nvPr/>
          </p:nvSpPr>
          <p:spPr>
            <a:xfrm flipH="1">
              <a:off x="6172200" y="3733800"/>
              <a:ext cx="3733800" cy="1"/>
            </a:xfrm>
            <a:prstGeom prst="line">
              <a:avLst/>
            </a:prstGeom>
            <a:noFill/>
            <a:ln w="19050">
              <a:solidFill>
                <a:srgbClr val="00A6A6"/>
              </a:solidFill>
              <a:custDash>
                <a:ds d="300000" sp="200000"/>
              </a:custDash>
              <a:tailEnd type="arrow" w="lg" len="lg"/>
            </a:ln>
          </p:spPr>
        </p:sp>
        <p:sp>
          <p:nvSpPr>
            <p:cNvPr id="37" name="TextBox 37"/>
            <p:cNvSpPr txBox="1"/>
            <p:nvPr/>
          </p:nvSpPr>
          <p:spPr>
            <a:xfrm>
              <a:off x="7138797" y="3571399"/>
              <a:ext cx="234183"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null</a:t>
              </a:r>
            </a:p>
          </p:txBody>
        </p:sp>
        <p:sp>
          <p:nvSpPr>
            <p:cNvPr id="38" name="Line 38"/>
            <p:cNvSpPr/>
            <p:nvPr/>
          </p:nvSpPr>
          <p:spPr>
            <a:xfrm flipH="1">
              <a:off x="2362200" y="3962400"/>
              <a:ext cx="3733800" cy="1"/>
            </a:xfrm>
            <a:prstGeom prst="line">
              <a:avLst/>
            </a:prstGeom>
            <a:noFill/>
            <a:ln w="19050">
              <a:solidFill>
                <a:srgbClr val="00A6A6"/>
              </a:solidFill>
              <a:custDash>
                <a:ds d="300000" sp="200000"/>
              </a:custDash>
              <a:tailEnd type="arrow" w="lg" len="lg"/>
            </a:ln>
          </p:spPr>
        </p:sp>
        <p:sp>
          <p:nvSpPr>
            <p:cNvPr id="39" name="TextBox 39"/>
            <p:cNvSpPr txBox="1"/>
            <p:nvPr/>
          </p:nvSpPr>
          <p:spPr>
            <a:xfrm>
              <a:off x="2662047" y="3799999"/>
              <a:ext cx="944126" cy="190690"/>
            </a:xfrm>
            <a:prstGeom prst="rect">
              <a:avLst/>
            </a:prstGeom>
            <a:noFill/>
            <a:ln>
              <a:noFill/>
            </a:ln>
          </p:spPr>
          <p:txBody>
            <a:bodyPr wrap="none" lIns="0" tIns="0" rIns="0" bIns="0" anchor="t" anchorCtr="0">
              <a:spAutoFit/>
            </a:bodyPr>
            <a:lstStyle/>
            <a:p>
              <a:pPr algn="l"/>
              <a:r>
                <a:rPr lang="tr-TR" sz="980" b="1" dirty="0">
                  <a:solidFill>
                    <a:srgbClr val="12355B"/>
                  </a:solidFill>
                  <a:latin typeface="+mn-lt"/>
                  <a:ea typeface="+mn-ea"/>
                  <a:cs typeface="+mn-cs"/>
                </a:rPr>
                <a:t>404 Not Found</a:t>
              </a:r>
            </a:p>
          </p:txBody>
        </p:sp>
        <p:sp>
          <p:nvSpPr>
            <p:cNvPr id="40" name="Rectangle 40"/>
            <p:cNvSpPr/>
            <p:nvPr/>
          </p:nvSpPr>
          <p:spPr>
            <a:xfrm>
              <a:off x="1333500" y="4229100"/>
              <a:ext cx="9525000" cy="571500"/>
            </a:xfrm>
            <a:prstGeom prst="roundRect">
              <a:avLst>
                <a:gd name="adj" fmla="val 13333"/>
              </a:avLst>
            </a:prstGeom>
            <a:solidFill>
              <a:srgbClr val="EAF4F6"/>
            </a:solidFill>
            <a:ln>
              <a:noFill/>
            </a:ln>
          </p:spPr>
        </p:sp>
        <p:sp>
          <p:nvSpPr>
            <p:cNvPr id="41" name="TextBox 41"/>
            <p:cNvSpPr txBox="1"/>
            <p:nvPr/>
          </p:nvSpPr>
          <p:spPr>
            <a:xfrm>
              <a:off x="1556385" y="4336256"/>
              <a:ext cx="721367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Durum kodu her zaman rota katmanında üretilir; servis katmanı yalnızca null döndürür. Bu ayrım</a:t>
              </a:r>
            </a:p>
          </p:txBody>
        </p:sp>
        <p:sp>
          <p:nvSpPr>
            <p:cNvPr id="42" name="TextBox 42"/>
            <p:cNvSpPr txBox="1"/>
            <p:nvPr/>
          </p:nvSpPr>
          <p:spPr>
            <a:xfrm>
              <a:off x="1556385" y="4526756"/>
              <a:ext cx="671844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korunduğunda aynı servis HTTP dışı bir arayüzden (kuyruk tüketicisi, CLI) de çağrılabilir.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608561" cy="668845"/>
            <a:chOff x="609600" y="171450"/>
            <a:chExt cx="8608561"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91818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Durum kodu ve sözleşme yaygın hataları</a:t>
              </a:r>
            </a:p>
          </p:txBody>
        </p:sp>
      </p:grpSp>
      <p:grpSp>
        <p:nvGrpSpPr>
          <p:cNvPr id="20" name="mistake-1"/>
          <p:cNvGrpSpPr/>
          <p:nvPr/>
        </p:nvGrpSpPr>
        <p:grpSpPr>
          <a:xfrm>
            <a:off x="609600" y="1143000"/>
            <a:ext cx="10972800" cy="1238250"/>
            <a:chOff x="609600" y="1143000"/>
            <a:chExt cx="10972800" cy="1238250"/>
          </a:xfrm>
        </p:grpSpPr>
        <p:sp>
          <p:nvSpPr>
            <p:cNvPr id="13" name="Rectangle 13"/>
            <p:cNvSpPr/>
            <p:nvPr/>
          </p:nvSpPr>
          <p:spPr>
            <a:xfrm>
              <a:off x="609600" y="1143000"/>
              <a:ext cx="10972800" cy="1238250"/>
            </a:xfrm>
            <a:prstGeom prst="roundRect">
              <a:avLst>
                <a:gd name="adj" fmla="val 6154"/>
              </a:avLst>
            </a:prstGeom>
            <a:solidFill>
              <a:srgbClr val="FFFFFF"/>
            </a:solidFill>
            <a:ln w="14288">
              <a:solidFill>
                <a:srgbClr val="B8CBD3"/>
              </a:solidFill>
            </a:ln>
          </p:spPr>
        </p:sp>
        <p:sp>
          <p:nvSpPr>
            <p:cNvPr id="14" name="Ellipse 14"/>
            <p:cNvSpPr/>
            <p:nvPr/>
          </p:nvSpPr>
          <p:spPr>
            <a:xfrm>
              <a:off x="762000" y="1333500"/>
              <a:ext cx="381000" cy="381000"/>
            </a:xfrm>
            <a:prstGeom prst="ellipse">
              <a:avLst/>
            </a:prstGeom>
            <a:solidFill>
              <a:srgbClr val="12355B"/>
            </a:solidFill>
            <a:ln>
              <a:noFill/>
            </a:ln>
          </p:spPr>
        </p:sp>
        <p:sp>
          <p:nvSpPr>
            <p:cNvPr id="15" name="TextBox 15"/>
            <p:cNvSpPr txBox="1"/>
            <p:nvPr/>
          </p:nvSpPr>
          <p:spPr>
            <a:xfrm>
              <a:off x="893165" y="14449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6" name="TextBox 16"/>
            <p:cNvSpPr txBox="1"/>
            <p:nvPr/>
          </p:nvSpPr>
          <p:spPr>
            <a:xfrm>
              <a:off x="1288161" y="1293971"/>
              <a:ext cx="350424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Bulunamayan kaynak için 200 dönmek</a:t>
              </a:r>
            </a:p>
          </p:txBody>
        </p:sp>
        <p:sp>
          <p:nvSpPr>
            <p:cNvPr id="17" name="TextBox 17"/>
            <p:cNvSpPr txBox="1"/>
            <p:nvPr/>
          </p:nvSpPr>
          <p:spPr>
            <a:xfrm>
              <a:off x="1289685" y="1593056"/>
              <a:ext cx="453059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const yanlisDurumKodu = 200; → const dogruDurumKodu = 404;</a:t>
              </a:r>
            </a:p>
          </p:txBody>
        </p:sp>
        <p:sp>
          <p:nvSpPr>
            <p:cNvPr id="18" name="TextBox 18"/>
            <p:cNvSpPr txBox="1"/>
            <p:nvPr/>
          </p:nvSpPr>
          <p:spPr>
            <a:xfrm>
              <a:off x="1290066" y="1829752"/>
              <a:ext cx="551424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İstemci boş gövdeyi geçerli veri sanabilir; 404 "böyle bir kaynak yok" demektir.</a:t>
              </a:r>
            </a:p>
          </p:txBody>
        </p:sp>
        <p:sp>
          <p:nvSpPr>
            <p:cNvPr id="19" name="TextBox 19"/>
            <p:cNvSpPr txBox="1"/>
            <p:nvPr/>
          </p:nvSpPr>
          <p:spPr>
            <a:xfrm>
              <a:off x="1290066" y="2039302"/>
              <a:ext cx="76116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Çıktı: 404</a:t>
              </a:r>
            </a:p>
          </p:txBody>
        </p:sp>
      </p:grpSp>
      <p:grpSp>
        <p:nvGrpSpPr>
          <p:cNvPr id="28" name="mistake-2"/>
          <p:cNvGrpSpPr/>
          <p:nvPr/>
        </p:nvGrpSpPr>
        <p:grpSpPr>
          <a:xfrm>
            <a:off x="609600" y="2514600"/>
            <a:ext cx="10972800" cy="1238250"/>
            <a:chOff x="609600" y="2514600"/>
            <a:chExt cx="10972800" cy="1238250"/>
          </a:xfrm>
        </p:grpSpPr>
        <p:sp>
          <p:nvSpPr>
            <p:cNvPr id="21" name="Rectangle 21"/>
            <p:cNvSpPr/>
            <p:nvPr/>
          </p:nvSpPr>
          <p:spPr>
            <a:xfrm>
              <a:off x="609600" y="2514600"/>
              <a:ext cx="10972800" cy="1238250"/>
            </a:xfrm>
            <a:prstGeom prst="roundRect">
              <a:avLst>
                <a:gd name="adj" fmla="val 6154"/>
              </a:avLst>
            </a:prstGeom>
            <a:solidFill>
              <a:srgbClr val="FFFFFF"/>
            </a:solidFill>
            <a:ln w="14288">
              <a:solidFill>
                <a:srgbClr val="B8CBD3"/>
              </a:solidFill>
            </a:ln>
          </p:spPr>
        </p:sp>
        <p:sp>
          <p:nvSpPr>
            <p:cNvPr id="22" name="Ellipse 22"/>
            <p:cNvSpPr/>
            <p:nvPr/>
          </p:nvSpPr>
          <p:spPr>
            <a:xfrm>
              <a:off x="762000" y="2705100"/>
              <a:ext cx="381000" cy="381000"/>
            </a:xfrm>
            <a:prstGeom prst="ellipse">
              <a:avLst/>
            </a:prstGeom>
            <a:solidFill>
              <a:srgbClr val="12355B"/>
            </a:solidFill>
            <a:ln>
              <a:noFill/>
            </a:ln>
          </p:spPr>
        </p:sp>
        <p:sp>
          <p:nvSpPr>
            <p:cNvPr id="23" name="TextBox 23"/>
            <p:cNvSpPr txBox="1"/>
            <p:nvPr/>
          </p:nvSpPr>
          <p:spPr>
            <a:xfrm>
              <a:off x="893165" y="28165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24" name="TextBox 24"/>
            <p:cNvSpPr txBox="1"/>
            <p:nvPr/>
          </p:nvSpPr>
          <p:spPr>
            <a:xfrm>
              <a:off x="1288161" y="2665571"/>
              <a:ext cx="2902551"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Her hatayı 500 olarak dönmek</a:t>
              </a:r>
            </a:p>
          </p:txBody>
        </p:sp>
        <p:sp>
          <p:nvSpPr>
            <p:cNvPr id="25" name="TextBox 25"/>
            <p:cNvSpPr txBox="1"/>
            <p:nvPr/>
          </p:nvSpPr>
          <p:spPr>
            <a:xfrm>
              <a:off x="1289685" y="2964656"/>
              <a:ext cx="454010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Boş ekipman adı istemci doğrulama hatasıdır; 400 olmalıdır.</a:t>
              </a:r>
            </a:p>
          </p:txBody>
        </p:sp>
        <p:sp>
          <p:nvSpPr>
            <p:cNvPr id="26" name="TextBox 26"/>
            <p:cNvSpPr txBox="1"/>
            <p:nvPr/>
          </p:nvSpPr>
          <p:spPr>
            <a:xfrm>
              <a:off x="1290066" y="3220402"/>
              <a:ext cx="577072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400 "isteğin biçimi yanlış" der, 500 "sorun bende, isteği değiştirmen çözmez" der —</a:t>
              </a:r>
            </a:p>
          </p:txBody>
        </p:sp>
        <p:sp>
          <p:nvSpPr>
            <p:cNvPr id="27" name="TextBox 27"/>
            <p:cNvSpPr txBox="1"/>
            <p:nvPr/>
          </p:nvSpPr>
          <p:spPr>
            <a:xfrm>
              <a:off x="1290066" y="3410902"/>
              <a:ext cx="461164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bu ayrım karışırsa istemci yeniden deneme kararını yanlış verir.</a:t>
              </a:r>
            </a:p>
          </p:txBody>
        </p:sp>
      </p:grpSp>
      <p:grpSp>
        <p:nvGrpSpPr>
          <p:cNvPr id="35" name="mistake-3"/>
          <p:cNvGrpSpPr/>
          <p:nvPr/>
        </p:nvGrpSpPr>
        <p:grpSpPr>
          <a:xfrm>
            <a:off x="609600" y="3886200"/>
            <a:ext cx="10972800" cy="1238250"/>
            <a:chOff x="609600" y="3886200"/>
            <a:chExt cx="10972800" cy="1238250"/>
          </a:xfrm>
        </p:grpSpPr>
        <p:sp>
          <p:nvSpPr>
            <p:cNvPr id="29" name="Rectangle 29"/>
            <p:cNvSpPr/>
            <p:nvPr/>
          </p:nvSpPr>
          <p:spPr>
            <a:xfrm>
              <a:off x="609600" y="3886200"/>
              <a:ext cx="10972800" cy="1238250"/>
            </a:xfrm>
            <a:prstGeom prst="roundRect">
              <a:avLst>
                <a:gd name="adj" fmla="val 6154"/>
              </a:avLst>
            </a:prstGeom>
            <a:solidFill>
              <a:srgbClr val="FFFFFF"/>
            </a:solidFill>
            <a:ln w="14288">
              <a:solidFill>
                <a:srgbClr val="B8CBD3"/>
              </a:solidFill>
            </a:ln>
          </p:spPr>
        </p:sp>
        <p:sp>
          <p:nvSpPr>
            <p:cNvPr id="30" name="Ellipse 30"/>
            <p:cNvSpPr/>
            <p:nvPr/>
          </p:nvSpPr>
          <p:spPr>
            <a:xfrm>
              <a:off x="762000" y="4076700"/>
              <a:ext cx="381000" cy="381000"/>
            </a:xfrm>
            <a:prstGeom prst="ellipse">
              <a:avLst/>
            </a:prstGeom>
            <a:solidFill>
              <a:srgbClr val="12355B"/>
            </a:solidFill>
            <a:ln>
              <a:noFill/>
            </a:ln>
          </p:spPr>
        </p:sp>
        <p:sp>
          <p:nvSpPr>
            <p:cNvPr id="31" name="TextBox 31"/>
            <p:cNvSpPr txBox="1"/>
            <p:nvPr/>
          </p:nvSpPr>
          <p:spPr>
            <a:xfrm>
              <a:off x="893165" y="41881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32" name="TextBox 32"/>
            <p:cNvSpPr txBox="1"/>
            <p:nvPr/>
          </p:nvSpPr>
          <p:spPr>
            <a:xfrm>
              <a:off x="1288161" y="4037171"/>
              <a:ext cx="453703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Başarı/hata gövdelerinde rastgele alan adları</a:t>
              </a:r>
            </a:p>
          </p:txBody>
        </p:sp>
        <p:sp>
          <p:nvSpPr>
            <p:cNvPr id="33" name="TextBox 33"/>
            <p:cNvSpPr txBox="1"/>
            <p:nvPr/>
          </p:nvSpPr>
          <p:spPr>
            <a:xfrm>
              <a:off x="1289685" y="4336256"/>
              <a:ext cx="519308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Bir yanıtta data, diğerinde sonuc, üçüncüsünde hataMesaji kullanmak.</a:t>
              </a:r>
            </a:p>
          </p:txBody>
        </p:sp>
        <p:sp>
          <p:nvSpPr>
            <p:cNvPr id="34" name="TextBox 34"/>
            <p:cNvSpPr txBox="1"/>
            <p:nvPr/>
          </p:nvSpPr>
          <p:spPr>
            <a:xfrm>
              <a:off x="1290066" y="4592002"/>
              <a:ext cx="632456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İstemci kodunu karmaşıklaştırır; ortak sözleşme (basarili/veri/hataKodu) korunmalıdır.</a:t>
              </a:r>
            </a:p>
          </p:txBody>
        </p:sp>
      </p:grpSp>
      <p:grpSp>
        <p:nvGrpSpPr>
          <p:cNvPr id="39" name="exam-note"/>
          <p:cNvGrpSpPr/>
          <p:nvPr/>
        </p:nvGrpSpPr>
        <p:grpSpPr>
          <a:xfrm>
            <a:off x="609600" y="5295900"/>
            <a:ext cx="10972800" cy="666750"/>
            <a:chOff x="609600" y="5295900"/>
            <a:chExt cx="10972800" cy="666750"/>
          </a:xfrm>
        </p:grpSpPr>
        <p:sp>
          <p:nvSpPr>
            <p:cNvPr id="36" name="Rectangle 36"/>
            <p:cNvSpPr/>
            <p:nvPr/>
          </p:nvSpPr>
          <p:spPr>
            <a:xfrm>
              <a:off x="609600" y="5295900"/>
              <a:ext cx="10972800" cy="666750"/>
            </a:xfrm>
            <a:prstGeom prst="roundRect">
              <a:avLst>
                <a:gd name="adj" fmla="val 11429"/>
              </a:avLst>
            </a:prstGeom>
            <a:solidFill>
              <a:srgbClr val="EAF4F6"/>
            </a:solidFill>
            <a:ln>
              <a:noFill/>
            </a:ln>
          </p:spPr>
        </p:sp>
        <p:sp>
          <p:nvSpPr>
            <p:cNvPr id="37" name="TextBox 37"/>
            <p:cNvSpPr txBox="1"/>
            <p:nvPr/>
          </p:nvSpPr>
          <p:spPr>
            <a:xfrm>
              <a:off x="908304" y="5433060"/>
              <a:ext cx="113718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Sınav Notu</a:t>
              </a:r>
            </a:p>
          </p:txBody>
        </p:sp>
        <p:sp>
          <p:nvSpPr>
            <p:cNvPr id="38" name="TextBox 38"/>
            <p:cNvSpPr txBox="1"/>
            <p:nvPr/>
          </p:nvSpPr>
          <p:spPr>
            <a:xfrm>
              <a:off x="908304" y="5661660"/>
              <a:ext cx="82561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Yanıt gövdesi başarılı görünse bile yanlış durum kodu, istemcinin yanlış işlem yapmasına neden olabilir.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587626" cy="557403"/>
            <a:chOff x="595122" y="282892"/>
            <a:chExt cx="6587626" cy="557403"/>
          </a:xfrm>
        </p:grpSpPr>
        <p:sp>
          <p:nvSpPr>
            <p:cNvPr id="4" name="TextBox 4"/>
            <p:cNvSpPr txBox="1"/>
            <p:nvPr/>
          </p:nvSpPr>
          <p:spPr>
            <a:xfrm>
              <a:off x="595122" y="282892"/>
              <a:ext cx="658762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Sayfalama ve filtreleme temelleri</a:t>
              </a:r>
            </a:p>
          </p:txBody>
        </p:sp>
      </p:grpSp>
      <p:grpSp>
        <p:nvGrpSpPr>
          <p:cNvPr id="10" name="definition-box"/>
          <p:cNvGrpSpPr/>
          <p:nvPr/>
        </p:nvGrpSpPr>
        <p:grpSpPr>
          <a:xfrm>
            <a:off x="609600" y="1104900"/>
            <a:ext cx="10972800" cy="829056"/>
            <a:chOff x="609600" y="1104900"/>
            <a:chExt cx="10972800" cy="829056"/>
          </a:xfrm>
        </p:grpSpPr>
        <p:sp>
          <p:nvSpPr>
            <p:cNvPr id="6" name="Rectangle 6"/>
            <p:cNvSpPr/>
            <p:nvPr/>
          </p:nvSpPr>
          <p:spPr>
            <a:xfrm>
              <a:off x="609600" y="1104900"/>
              <a:ext cx="10972800" cy="800100"/>
            </a:xfrm>
            <a:prstGeom prst="roundRect">
              <a:avLst>
                <a:gd name="adj" fmla="val 9524"/>
              </a:avLst>
            </a:prstGeom>
            <a:solidFill>
              <a:srgbClr val="EAF4F6"/>
            </a:solidFill>
            <a:ln>
              <a:noFill/>
            </a:ln>
          </p:spPr>
        </p:sp>
        <p:sp>
          <p:nvSpPr>
            <p:cNvPr id="7" name="TextBox 7"/>
            <p:cNvSpPr txBox="1"/>
            <p:nvPr/>
          </p:nvSpPr>
          <p:spPr>
            <a:xfrm>
              <a:off x="907923" y="1253014"/>
              <a:ext cx="552738"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Tanım</a:t>
              </a:r>
            </a:p>
          </p:txBody>
        </p:sp>
        <p:sp>
          <p:nvSpPr>
            <p:cNvPr id="8" name="TextBox 8"/>
            <p:cNvSpPr txBox="1"/>
            <p:nvPr/>
          </p:nvSpPr>
          <p:spPr>
            <a:xfrm>
              <a:off x="907542" y="1492568"/>
              <a:ext cx="820668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Pagination büyük koleksiyonları küçük, kontrollü parçalar hâlinde sunar; filtreleme yalnızca</a:t>
              </a:r>
            </a:p>
          </p:txBody>
        </p:sp>
        <p:sp>
          <p:nvSpPr>
            <p:cNvPr id="9" name="TextBox 9"/>
            <p:cNvSpPr txBox="1"/>
            <p:nvPr/>
          </p:nvSpPr>
          <p:spPr>
            <a:xfrm>
              <a:off x="908304" y="1699260"/>
              <a:ext cx="873129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ihtiyaç duyulan kayıtları ister. Örnek: /api/ekipmanlar?sayfa=2&amp;sayfaBoyutu=10&amp;durum=musait&amp;arama=mikro</a:t>
              </a:r>
            </a:p>
          </p:txBody>
        </p:sp>
      </p:grpSp>
      <p:grpSp>
        <p:nvGrpSpPr>
          <p:cNvPr id="23" name="offset-card"/>
          <p:cNvGrpSpPr/>
          <p:nvPr/>
        </p:nvGrpSpPr>
        <p:grpSpPr>
          <a:xfrm>
            <a:off x="609600" y="2095500"/>
            <a:ext cx="5257800" cy="3238500"/>
            <a:chOff x="609600" y="2095500"/>
            <a:chExt cx="5257800" cy="3238500"/>
          </a:xfrm>
        </p:grpSpPr>
        <p:sp>
          <p:nvSpPr>
            <p:cNvPr id="11" name="Rectangle 11"/>
            <p:cNvSpPr/>
            <p:nvPr/>
          </p:nvSpPr>
          <p:spPr>
            <a:xfrm>
              <a:off x="609600" y="2095500"/>
              <a:ext cx="5257800" cy="3238500"/>
            </a:xfrm>
            <a:prstGeom prst="roundRect">
              <a:avLst>
                <a:gd name="adj" fmla="val 2941"/>
              </a:avLst>
            </a:prstGeom>
            <a:solidFill>
              <a:srgbClr val="FFFFFF"/>
            </a:solidFill>
            <a:ln w="14288">
              <a:solidFill>
                <a:srgbClr val="2E86AB"/>
              </a:solidFill>
            </a:ln>
          </p:spPr>
        </p:sp>
        <p:sp>
          <p:nvSpPr>
            <p:cNvPr id="12" name="TextBox 12"/>
            <p:cNvSpPr txBox="1"/>
            <p:nvPr/>
          </p:nvSpPr>
          <p:spPr>
            <a:xfrm>
              <a:off x="830199" y="2249329"/>
              <a:ext cx="198829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Offset pagination</a:t>
              </a:r>
            </a:p>
          </p:txBody>
        </p:sp>
        <p:sp>
          <p:nvSpPr>
            <p:cNvPr id="13" name="TextBox 13"/>
            <p:cNvSpPr txBox="1"/>
            <p:nvPr/>
          </p:nvSpPr>
          <p:spPr>
            <a:xfrm>
              <a:off x="832104" y="2575560"/>
              <a:ext cx="32373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bölümde kullanılan sayfa/sayfaBoyutu</a:t>
              </a:r>
            </a:p>
          </p:txBody>
        </p:sp>
        <p:sp>
          <p:nvSpPr>
            <p:cNvPr id="14" name="TextBox 14"/>
            <p:cNvSpPr txBox="1"/>
            <p:nvPr/>
          </p:nvSpPr>
          <p:spPr>
            <a:xfrm>
              <a:off x="832104" y="2785110"/>
              <a:ext cx="29607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yaklaşımı; SQL'in OFFSET/LIMIT yan</a:t>
              </a:r>
            </a:p>
          </p:txBody>
        </p:sp>
        <p:sp>
          <p:nvSpPr>
            <p:cNvPr id="15" name="TextBox 15"/>
            <p:cNvSpPr txBox="1"/>
            <p:nvPr/>
          </p:nvSpPr>
          <p:spPr>
            <a:xfrm>
              <a:off x="832104" y="2994660"/>
              <a:ext cx="24595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tümcelerine doğrudan dayanır.</a:t>
              </a:r>
            </a:p>
          </p:txBody>
        </p:sp>
        <p:sp>
          <p:nvSpPr>
            <p:cNvPr id="16" name="TextBox 16"/>
            <p:cNvSpPr txBox="1"/>
            <p:nvPr/>
          </p:nvSpPr>
          <p:spPr>
            <a:xfrm>
              <a:off x="832104" y="3318510"/>
              <a:ext cx="35316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Kullanıcı için anlaşılırdır: "sayfa 8'e git."</a:t>
              </a:r>
            </a:p>
          </p:txBody>
        </p:sp>
        <p:sp>
          <p:nvSpPr>
            <p:cNvPr id="17" name="TextBox 17"/>
            <p:cNvSpPr txBox="1"/>
            <p:nvPr/>
          </p:nvSpPr>
          <p:spPr>
            <a:xfrm>
              <a:off x="832485" y="3669506"/>
              <a:ext cx="284329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Büyük sayfa numaralarında veritabanı</a:t>
              </a:r>
            </a:p>
          </p:txBody>
        </p:sp>
        <p:sp>
          <p:nvSpPr>
            <p:cNvPr id="18" name="TextBox 18"/>
            <p:cNvSpPr txBox="1"/>
            <p:nvPr/>
          </p:nvSpPr>
          <p:spPr>
            <a:xfrm>
              <a:off x="832485" y="3879056"/>
              <a:ext cx="291383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atlanan tüm satırları taramak zorunda</a:t>
              </a:r>
            </a:p>
          </p:txBody>
        </p:sp>
        <p:sp>
          <p:nvSpPr>
            <p:cNvPr id="19" name="TextBox 19"/>
            <p:cNvSpPr txBox="1"/>
            <p:nvPr/>
          </p:nvSpPr>
          <p:spPr>
            <a:xfrm>
              <a:off x="832485" y="4088606"/>
              <a:ext cx="271783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kalır; performans doğrusal bozulur.</a:t>
              </a:r>
            </a:p>
          </p:txBody>
        </p:sp>
        <p:sp>
          <p:nvSpPr>
            <p:cNvPr id="20" name="Rectangle 20"/>
            <p:cNvSpPr/>
            <p:nvPr/>
          </p:nvSpPr>
          <p:spPr>
            <a:xfrm>
              <a:off x="838200" y="4476750"/>
              <a:ext cx="4800600" cy="628650"/>
            </a:xfrm>
            <a:prstGeom prst="roundRect">
              <a:avLst>
                <a:gd name="adj" fmla="val 9091"/>
              </a:avLst>
            </a:prstGeom>
            <a:solidFill>
              <a:srgbClr val="EAF4F6"/>
            </a:solidFill>
            <a:ln>
              <a:noFill/>
            </a:ln>
          </p:spPr>
        </p:sp>
        <p:sp>
          <p:nvSpPr>
            <p:cNvPr id="21" name="TextBox 21"/>
            <p:cNvSpPr txBox="1"/>
            <p:nvPr/>
          </p:nvSpPr>
          <p:spPr>
            <a:xfrm>
              <a:off x="984885" y="4583906"/>
              <a:ext cx="182106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Bu bölümde tercih edilir</a:t>
              </a:r>
            </a:p>
          </p:txBody>
        </p:sp>
        <p:sp>
          <p:nvSpPr>
            <p:cNvPr id="22" name="TextBox 22"/>
            <p:cNvSpPr txBox="1"/>
            <p:nvPr/>
          </p:nvSpPr>
          <p:spPr>
            <a:xfrm>
              <a:off x="985266" y="4801552"/>
              <a:ext cx="290538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Öğrenciler için açıklanabilirliği yüksektir.</a:t>
              </a:r>
            </a:p>
          </p:txBody>
        </p:sp>
      </p:grpSp>
      <p:grpSp>
        <p:nvGrpSpPr>
          <p:cNvPr id="36" name="keyset-card"/>
          <p:cNvGrpSpPr/>
          <p:nvPr/>
        </p:nvGrpSpPr>
        <p:grpSpPr>
          <a:xfrm>
            <a:off x="6172200" y="2095500"/>
            <a:ext cx="5410200" cy="3238500"/>
            <a:chOff x="6172200" y="2095500"/>
            <a:chExt cx="5410200" cy="3238500"/>
          </a:xfrm>
        </p:grpSpPr>
        <p:sp>
          <p:nvSpPr>
            <p:cNvPr id="24" name="Rectangle 24"/>
            <p:cNvSpPr/>
            <p:nvPr/>
          </p:nvSpPr>
          <p:spPr>
            <a:xfrm>
              <a:off x="6172200" y="2095500"/>
              <a:ext cx="5410200" cy="3238500"/>
            </a:xfrm>
            <a:prstGeom prst="roundRect">
              <a:avLst>
                <a:gd name="adj" fmla="val 2941"/>
              </a:avLst>
            </a:prstGeom>
            <a:solidFill>
              <a:srgbClr val="FFFFFF"/>
            </a:solidFill>
            <a:ln w="14288">
              <a:solidFill>
                <a:srgbClr val="B8CBD3"/>
              </a:solidFill>
            </a:ln>
          </p:spPr>
        </p:sp>
        <p:sp>
          <p:nvSpPr>
            <p:cNvPr id="25" name="TextBox 25"/>
            <p:cNvSpPr txBox="1"/>
            <p:nvPr/>
          </p:nvSpPr>
          <p:spPr>
            <a:xfrm>
              <a:off x="6392799" y="2249329"/>
              <a:ext cx="299399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Keyset (cursor) pagination</a:t>
              </a:r>
            </a:p>
          </p:txBody>
        </p:sp>
        <p:sp>
          <p:nvSpPr>
            <p:cNvPr id="26" name="TextBox 26"/>
            <p:cNvSpPr txBox="1"/>
            <p:nvPr/>
          </p:nvSpPr>
          <p:spPr>
            <a:xfrm>
              <a:off x="6394704" y="2575560"/>
              <a:ext cx="309488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Sayfa numarası yerine önceki sayfanın</a:t>
              </a:r>
            </a:p>
          </p:txBody>
        </p:sp>
        <p:sp>
          <p:nvSpPr>
            <p:cNvPr id="27" name="TextBox 27"/>
            <p:cNvSpPr txBox="1"/>
            <p:nvPr/>
          </p:nvSpPr>
          <p:spPr>
            <a:xfrm>
              <a:off x="6394704" y="2785110"/>
              <a:ext cx="315422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son kaydının anahtar değeri gönderilir;</a:t>
              </a:r>
            </a:p>
          </p:txBody>
        </p:sp>
        <p:sp>
          <p:nvSpPr>
            <p:cNvPr id="28" name="TextBox 28"/>
            <p:cNvSpPr txBox="1"/>
            <p:nvPr/>
          </p:nvSpPr>
          <p:spPr>
            <a:xfrm>
              <a:off x="6394704" y="2994660"/>
              <a:ext cx="36065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veritabanı doğrudan indeks üzerinden ilerler.</a:t>
              </a:r>
            </a:p>
          </p:txBody>
        </p:sp>
        <p:sp>
          <p:nvSpPr>
            <p:cNvPr id="29" name="TextBox 29"/>
            <p:cNvSpPr txBox="1"/>
            <p:nvPr/>
          </p:nvSpPr>
          <p:spPr>
            <a:xfrm>
              <a:off x="6394704" y="3318510"/>
              <a:ext cx="31269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 ölçekli, sürekli değişen akışlarda</a:t>
              </a:r>
            </a:p>
          </p:txBody>
        </p:sp>
        <p:sp>
          <p:nvSpPr>
            <p:cNvPr id="30" name="TextBox 30"/>
            <p:cNvSpPr txBox="1"/>
            <p:nvPr/>
          </p:nvSpPr>
          <p:spPr>
            <a:xfrm>
              <a:off x="6394704" y="3528060"/>
              <a:ext cx="29376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(Facebook, Twitter/X) tercih edilir.</a:t>
              </a:r>
            </a:p>
          </p:txBody>
        </p:sp>
        <p:sp>
          <p:nvSpPr>
            <p:cNvPr id="31" name="TextBox 31"/>
            <p:cNvSpPr txBox="1"/>
            <p:nvPr/>
          </p:nvSpPr>
          <p:spPr>
            <a:xfrm>
              <a:off x="6395085" y="3860006"/>
              <a:ext cx="310022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Kullanıcı doğrudan "sayfa 8"e atlayamaz;</a:t>
              </a:r>
            </a:p>
          </p:txBody>
        </p:sp>
        <p:sp>
          <p:nvSpPr>
            <p:cNvPr id="32" name="TextBox 32"/>
            <p:cNvSpPr txBox="1"/>
            <p:nvPr/>
          </p:nvSpPr>
          <p:spPr>
            <a:xfrm>
              <a:off x="6395085" y="4069556"/>
              <a:ext cx="213734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kararlı sıralama gerektirir.</a:t>
              </a:r>
            </a:p>
          </p:txBody>
        </p:sp>
        <p:sp>
          <p:nvSpPr>
            <p:cNvPr id="33" name="Rectangle 33"/>
            <p:cNvSpPr/>
            <p:nvPr/>
          </p:nvSpPr>
          <p:spPr>
            <a:xfrm>
              <a:off x="6400800" y="4476750"/>
              <a:ext cx="4800600" cy="628650"/>
            </a:xfrm>
            <a:prstGeom prst="roundRect">
              <a:avLst>
                <a:gd name="adj" fmla="val 9091"/>
              </a:avLst>
            </a:prstGeom>
            <a:solidFill>
              <a:srgbClr val="F7FAFC"/>
            </a:solidFill>
            <a:ln>
              <a:noFill/>
            </a:ln>
          </p:spPr>
        </p:sp>
        <p:sp>
          <p:nvSpPr>
            <p:cNvPr id="34" name="TextBox 34"/>
            <p:cNvSpPr txBox="1"/>
            <p:nvPr/>
          </p:nvSpPr>
          <p:spPr>
            <a:xfrm>
              <a:off x="6547485" y="4583906"/>
              <a:ext cx="1512470"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İleri düzey senaryo</a:t>
              </a:r>
            </a:p>
          </p:txBody>
        </p:sp>
        <p:sp>
          <p:nvSpPr>
            <p:cNvPr id="35" name="TextBox 35"/>
            <p:cNvSpPr txBox="1"/>
            <p:nvPr/>
          </p:nvSpPr>
          <p:spPr>
            <a:xfrm>
              <a:off x="6547866" y="4801552"/>
              <a:ext cx="325950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Zaman sıralı, sık değişen büyük veri kümeleri.</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24</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447225" cy="557403"/>
            <a:chOff x="595122" y="282892"/>
            <a:chExt cx="6447225" cy="557403"/>
          </a:xfrm>
        </p:grpSpPr>
        <p:sp>
          <p:nvSpPr>
            <p:cNvPr id="4" name="TextBox 4"/>
            <p:cNvSpPr txBox="1"/>
            <p:nvPr/>
          </p:nvSpPr>
          <p:spPr>
            <a:xfrm>
              <a:off x="595122" y="282892"/>
              <a:ext cx="64472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Filtreleme ve sayfalama mantığı</a:t>
              </a:r>
            </a:p>
          </p:txBody>
        </p:sp>
      </p:grpSp>
      <p:grpSp>
        <p:nvGrpSpPr>
          <p:cNvPr id="16" name="code-card"/>
          <p:cNvGrpSpPr/>
          <p:nvPr/>
        </p:nvGrpSpPr>
        <p:grpSpPr>
          <a:xfrm>
            <a:off x="609600" y="1123950"/>
            <a:ext cx="6286500" cy="4572000"/>
            <a:chOff x="609600" y="1123950"/>
            <a:chExt cx="6286500" cy="4572000"/>
          </a:xfrm>
        </p:grpSpPr>
        <p:sp>
          <p:nvSpPr>
            <p:cNvPr id="6" name="Rectangle 6"/>
            <p:cNvSpPr/>
            <p:nvPr/>
          </p:nvSpPr>
          <p:spPr>
            <a:xfrm>
              <a:off x="609600" y="1123950"/>
              <a:ext cx="6286500" cy="3390900"/>
            </a:xfrm>
            <a:prstGeom prst="roundRect">
              <a:avLst>
                <a:gd name="adj" fmla="val 2247"/>
              </a:avLst>
            </a:prstGeom>
            <a:solidFill>
              <a:srgbClr val="12355B"/>
            </a:solidFill>
            <a:ln>
              <a:noFill/>
            </a:ln>
          </p:spPr>
        </p:sp>
        <p:sp>
          <p:nvSpPr>
            <p:cNvPr id="7" name="TextBox 7"/>
            <p:cNvSpPr txBox="1"/>
            <p:nvPr/>
          </p:nvSpPr>
          <p:spPr>
            <a:xfrm>
              <a:off x="832866" y="1296352"/>
              <a:ext cx="2077326" cy="205359"/>
            </a:xfrm>
            <a:prstGeom prst="rect">
              <a:avLst/>
            </a:prstGeom>
            <a:noFill/>
            <a:ln>
              <a:noFill/>
            </a:ln>
          </p:spPr>
          <p:txBody>
            <a:bodyPr wrap="none" lIns="0" tIns="0" rIns="0" bIns="0" anchor="t" anchorCtr="0">
              <a:spAutoFit/>
            </a:bodyPr>
            <a:lstStyle/>
            <a:p>
              <a:pPr algn="l"/>
              <a:r>
                <a:rPr lang="tr-TR" sz="1050" b="1" spc="75" dirty="0">
                  <a:solidFill>
                    <a:srgbClr val="00A6A6"/>
                  </a:solidFill>
                  <a:latin typeface="+mn-lt"/>
                  <a:ea typeface="+mn-ea"/>
                  <a:cs typeface="+mn-cs"/>
                </a:rPr>
                <a:t>KOD 6.4 · SAYFALAMA.TS</a:t>
              </a:r>
            </a:p>
          </p:txBody>
        </p:sp>
        <p:sp>
          <p:nvSpPr>
            <p:cNvPr id="8" name="TextBox 8"/>
            <p:cNvSpPr txBox="1"/>
            <p:nvPr/>
          </p:nvSpPr>
          <p:spPr>
            <a:xfrm>
              <a:off x="832866" y="1582102"/>
              <a:ext cx="4704588"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function ekipmanlariSayfala(sayfa, sayfaBoyutu, arama, durum?) {</a:t>
              </a:r>
              <a:br/>
              <a:r>
                <a:rPr lang="tr-TR" sz="1050" dirty="0">
                  <a:solidFill>
                    <a:srgbClr val="EAF4F6"/>
                  </a:solidFill>
                  <a:latin typeface="Consolas"/>
                  <a:ea typeface="Consolas"/>
                  <a:cs typeface="Consolas"/>
                </a:rPr>
                <a:t>const filtrelenmis = ekipmanListesi.filter(e =&gt;</a:t>
              </a:r>
              <a:br/>
              <a:r>
                <a:rPr lang="tr-TR" sz="1050" dirty="0">
                  <a:solidFill>
                    <a:srgbClr val="EAF4F6"/>
                  </a:solidFill>
                  <a:latin typeface="Consolas"/>
                  <a:ea typeface="Consolas"/>
                  <a:cs typeface="Consolas"/>
                </a:rPr>
                <a:t>adUyuyor(e, arama) &amp;&amp; (!durum || e.durum === durum));</a:t>
              </a:r>
            </a:p>
          </p:txBody>
        </p:sp>
        <p:sp>
          <p:nvSpPr>
            <p:cNvPr id="9" name="TextBox 9"/>
            <p:cNvSpPr txBox="1"/>
            <p:nvPr/>
          </p:nvSpPr>
          <p:spPr>
            <a:xfrm>
              <a:off x="832866" y="2401252"/>
              <a:ext cx="3237738"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const baslangic = (sayfa - 1) * sayfaBoyutu;</a:t>
              </a:r>
              <a:br/>
              <a:r>
                <a:rPr lang="tr-TR" sz="1050" dirty="0">
                  <a:solidFill>
                    <a:srgbClr val="EAF4F6"/>
                  </a:solidFill>
                  <a:latin typeface="Consolas"/>
                  <a:ea typeface="Consolas"/>
                  <a:cs typeface="Consolas"/>
                </a:rPr>
                <a:t>const veri = filtrelenmis.slice(baslangic,</a:t>
              </a:r>
              <a:br/>
              <a:r>
                <a:rPr lang="tr-TR" sz="1050" dirty="0">
                  <a:solidFill>
                    <a:srgbClr val="EAF4F6"/>
                  </a:solidFill>
                  <a:latin typeface="Consolas"/>
                  <a:ea typeface="Consolas"/>
                  <a:cs typeface="Consolas"/>
                </a:rPr>
                <a:t>baslangic + sayfaBoyutu);</a:t>
              </a:r>
            </a:p>
          </p:txBody>
        </p:sp>
        <p:sp>
          <p:nvSpPr>
            <p:cNvPr id="10" name="TextBox 10"/>
            <p:cNvSpPr txBox="1"/>
            <p:nvPr/>
          </p:nvSpPr>
          <p:spPr>
            <a:xfrm>
              <a:off x="832866" y="3163252"/>
              <a:ext cx="3604451" cy="586359"/>
            </a:xfrm>
            <a:prstGeom prst="rect">
              <a:avLst/>
            </a:prstGeom>
            <a:noFill/>
            <a:ln>
              <a:noFill/>
            </a:ln>
          </p:spPr>
          <p:txBody>
            <a:bodyPr wrap="none" lIns="0" tIns="0" rIns="0" bIns="0" anchor="t" anchorCtr="0">
              <a:spAutoFit/>
            </a:bodyPr>
            <a:lstStyle/>
            <a:p>
              <a:pPr algn="l">
                <a:lnSpc>
                  <a:spcPts val="1500"/>
                </a:lnSpc>
              </a:pPr>
              <a:r>
                <a:rPr lang="tr-TR" sz="1050" dirty="0">
                  <a:solidFill>
                    <a:srgbClr val="EAF4F6"/>
                  </a:solidFill>
                  <a:latin typeface="Consolas"/>
                  <a:ea typeface="Consolas"/>
                  <a:cs typeface="Consolas"/>
                </a:rPr>
                <a:t>return { basarili: true, veri, metadata: {</a:t>
              </a:r>
              <a:br/>
              <a:r>
                <a:rPr lang="tr-TR" sz="1050" dirty="0">
                  <a:solidFill>
                    <a:srgbClr val="EAF4F6"/>
                  </a:solidFill>
                  <a:latin typeface="Consolas"/>
                  <a:ea typeface="Consolas"/>
                  <a:cs typeface="Consolas"/>
                </a:rPr>
                <a:t>sayfa, sayfaBoyutu, toplamKayit, toplamSayfa } };</a:t>
              </a:r>
              <a:br/>
              <a:r>
                <a:rPr lang="tr-TR" sz="1050" dirty="0">
                  <a:solidFill>
                    <a:srgbClr val="EAF4F6"/>
                  </a:solidFill>
                  <a:latin typeface="Consolas"/>
                  <a:ea typeface="Consolas"/>
                  <a:cs typeface="Consolas"/>
                </a:rPr>
                <a:t>}</a:t>
              </a:r>
            </a:p>
          </p:txBody>
        </p:sp>
        <p:sp>
          <p:nvSpPr>
            <p:cNvPr id="11" name="Rectangle 11"/>
            <p:cNvSpPr/>
            <p:nvPr/>
          </p:nvSpPr>
          <p:spPr>
            <a:xfrm>
              <a:off x="609600" y="4667250"/>
              <a:ext cx="6286500" cy="1028700"/>
            </a:xfrm>
            <a:prstGeom prst="roundRect">
              <a:avLst>
                <a:gd name="adj" fmla="val 7407"/>
              </a:avLst>
            </a:prstGeom>
            <a:solidFill>
              <a:srgbClr val="EAF4F6"/>
            </a:solidFill>
            <a:ln>
              <a:noFill/>
            </a:ln>
          </p:spPr>
        </p:sp>
        <p:sp>
          <p:nvSpPr>
            <p:cNvPr id="12" name="TextBox 12"/>
            <p:cNvSpPr txBox="1"/>
            <p:nvPr/>
          </p:nvSpPr>
          <p:spPr>
            <a:xfrm>
              <a:off x="832866" y="4801552"/>
              <a:ext cx="127771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 Dikkat noktası</a:t>
              </a:r>
            </a:p>
          </p:txBody>
        </p:sp>
        <p:sp>
          <p:nvSpPr>
            <p:cNvPr id="13" name="TextBox 13"/>
            <p:cNvSpPr txBox="1"/>
            <p:nvPr/>
          </p:nvSpPr>
          <p:spPr>
            <a:xfrm>
              <a:off x="832866" y="5030152"/>
              <a:ext cx="485399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Filtreleme, sayfalamadan önce uygulanmalıdır; aksi hâlde toplamKayit</a:t>
              </a:r>
            </a:p>
          </p:txBody>
        </p:sp>
        <p:sp>
          <p:nvSpPr>
            <p:cNvPr id="14" name="TextBox 14"/>
            <p:cNvSpPr txBox="1"/>
            <p:nvPr/>
          </p:nvSpPr>
          <p:spPr>
            <a:xfrm>
              <a:off x="832866" y="5220652"/>
              <a:ext cx="473624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ve toplamSayfa değerleri filtrelenmemiş tüm koleksiyona göre yanlış</a:t>
              </a:r>
            </a:p>
          </p:txBody>
        </p:sp>
        <p:sp>
          <p:nvSpPr>
            <p:cNvPr id="15" name="TextBox 15"/>
            <p:cNvSpPr txBox="1"/>
            <p:nvPr/>
          </p:nvSpPr>
          <p:spPr>
            <a:xfrm>
              <a:off x="832866" y="5411152"/>
              <a:ext cx="83050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hesaplanır.</a:t>
              </a:r>
            </a:p>
          </p:txBody>
        </p:sp>
      </p:grpSp>
      <p:grpSp>
        <p:nvGrpSpPr>
          <p:cNvPr id="31" name="metadata-panel"/>
          <p:cNvGrpSpPr/>
          <p:nvPr/>
        </p:nvGrpSpPr>
        <p:grpSpPr>
          <a:xfrm>
            <a:off x="7117461" y="1179671"/>
            <a:ext cx="4464939" cy="3411379"/>
            <a:chOff x="7117461" y="1179671"/>
            <a:chExt cx="4464939" cy="3411379"/>
          </a:xfrm>
        </p:grpSpPr>
        <p:sp>
          <p:nvSpPr>
            <p:cNvPr id="17" name="TextBox 17"/>
            <p:cNvSpPr txBox="1"/>
            <p:nvPr/>
          </p:nvSpPr>
          <p:spPr>
            <a:xfrm>
              <a:off x="7117461" y="1179671"/>
              <a:ext cx="1888203"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Yanıt metadata'sı</a:t>
              </a:r>
            </a:p>
          </p:txBody>
        </p:sp>
        <p:sp>
          <p:nvSpPr>
            <p:cNvPr id="18" name="Rectangle 18"/>
            <p:cNvSpPr/>
            <p:nvPr/>
          </p:nvSpPr>
          <p:spPr>
            <a:xfrm>
              <a:off x="7124700" y="1447800"/>
              <a:ext cx="4457700" cy="857250"/>
            </a:xfrm>
            <a:prstGeom prst="roundRect">
              <a:avLst>
                <a:gd name="adj" fmla="val 8889"/>
              </a:avLst>
            </a:prstGeom>
            <a:solidFill>
              <a:srgbClr val="FFFFFF"/>
            </a:solidFill>
            <a:ln w="14288">
              <a:solidFill>
                <a:srgbClr val="2E86AB"/>
              </a:solidFill>
            </a:ln>
          </p:spPr>
        </p:sp>
        <p:sp>
          <p:nvSpPr>
            <p:cNvPr id="19" name="TextBox 19"/>
            <p:cNvSpPr txBox="1"/>
            <p:nvPr/>
          </p:nvSpPr>
          <p:spPr>
            <a:xfrm>
              <a:off x="7309104" y="1565910"/>
              <a:ext cx="170589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sayfa · sayfaBoyutu</a:t>
              </a:r>
            </a:p>
          </p:txBody>
        </p:sp>
        <p:sp>
          <p:nvSpPr>
            <p:cNvPr id="20" name="TextBox 20"/>
            <p:cNvSpPr txBox="1"/>
            <p:nvPr/>
          </p:nvSpPr>
          <p:spPr>
            <a:xfrm>
              <a:off x="7309866" y="1810702"/>
              <a:ext cx="288436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İstemcinin hangi dilimde olduğunu bildirir.</a:t>
              </a:r>
            </a:p>
          </p:txBody>
        </p:sp>
        <p:sp>
          <p:nvSpPr>
            <p:cNvPr id="21" name="TextBox 21"/>
            <p:cNvSpPr txBox="1"/>
            <p:nvPr/>
          </p:nvSpPr>
          <p:spPr>
            <a:xfrm>
              <a:off x="7309866" y="2020252"/>
              <a:ext cx="212156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Sayfa numarası birden başlar.</a:t>
              </a:r>
            </a:p>
          </p:txBody>
        </p:sp>
        <p:sp>
          <p:nvSpPr>
            <p:cNvPr id="22" name="Rectangle 22"/>
            <p:cNvSpPr/>
            <p:nvPr/>
          </p:nvSpPr>
          <p:spPr>
            <a:xfrm>
              <a:off x="7124700" y="2400300"/>
              <a:ext cx="4457700" cy="857250"/>
            </a:xfrm>
            <a:prstGeom prst="roundRect">
              <a:avLst>
                <a:gd name="adj" fmla="val 8889"/>
              </a:avLst>
            </a:prstGeom>
            <a:solidFill>
              <a:srgbClr val="FFFFFF"/>
            </a:solidFill>
            <a:ln w="14288">
              <a:solidFill>
                <a:srgbClr val="2E86AB"/>
              </a:solidFill>
            </a:ln>
          </p:spPr>
        </p:sp>
        <p:sp>
          <p:nvSpPr>
            <p:cNvPr id="23" name="TextBox 23"/>
            <p:cNvSpPr txBox="1"/>
            <p:nvPr/>
          </p:nvSpPr>
          <p:spPr>
            <a:xfrm>
              <a:off x="7309104" y="2518410"/>
              <a:ext cx="221156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toplamKayit · toplamSayfa</a:t>
              </a:r>
            </a:p>
          </p:txBody>
        </p:sp>
        <p:sp>
          <p:nvSpPr>
            <p:cNvPr id="24" name="TextBox 24"/>
            <p:cNvSpPr txBox="1"/>
            <p:nvPr/>
          </p:nvSpPr>
          <p:spPr>
            <a:xfrm>
              <a:off x="7309866" y="2763202"/>
              <a:ext cx="306200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"Sonraki sayfa var mı?" sorusunu yanıtlar;</a:t>
              </a:r>
            </a:p>
          </p:txBody>
        </p:sp>
        <p:sp>
          <p:nvSpPr>
            <p:cNvPr id="25" name="TextBox 25"/>
            <p:cNvSpPr txBox="1"/>
            <p:nvPr/>
          </p:nvSpPr>
          <p:spPr>
            <a:xfrm>
              <a:off x="7309866" y="2972752"/>
              <a:ext cx="251258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arayüz düğmesini etkin/pasif yapar.</a:t>
              </a:r>
            </a:p>
          </p:txBody>
        </p:sp>
        <p:sp>
          <p:nvSpPr>
            <p:cNvPr id="26" name="Rectangle 26"/>
            <p:cNvSpPr/>
            <p:nvPr/>
          </p:nvSpPr>
          <p:spPr>
            <a:xfrm>
              <a:off x="7124700" y="3352800"/>
              <a:ext cx="4457700" cy="1238250"/>
            </a:xfrm>
            <a:prstGeom prst="roundRect">
              <a:avLst>
                <a:gd name="adj" fmla="val 6154"/>
              </a:avLst>
            </a:prstGeom>
            <a:solidFill>
              <a:srgbClr val="12355B"/>
            </a:solidFill>
            <a:ln>
              <a:noFill/>
            </a:ln>
          </p:spPr>
        </p:sp>
        <p:sp>
          <p:nvSpPr>
            <p:cNvPr id="27" name="TextBox 27"/>
            <p:cNvSpPr txBox="1"/>
            <p:nvPr/>
          </p:nvSpPr>
          <p:spPr>
            <a:xfrm>
              <a:off x="7309485" y="3498056"/>
              <a:ext cx="934844"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Örnek çağrı</a:t>
              </a:r>
            </a:p>
          </p:txBody>
        </p:sp>
        <p:sp>
          <p:nvSpPr>
            <p:cNvPr id="28" name="TextBox 28"/>
            <p:cNvSpPr txBox="1"/>
            <p:nvPr/>
          </p:nvSpPr>
          <p:spPr>
            <a:xfrm>
              <a:off x="7310247" y="3761899"/>
              <a:ext cx="313608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ekipmanlariSayfala(1, 2, "mikro", "musait")</a:t>
              </a:r>
            </a:p>
          </p:txBody>
        </p:sp>
        <p:sp>
          <p:nvSpPr>
            <p:cNvPr id="29" name="TextBox 29"/>
            <p:cNvSpPr txBox="1"/>
            <p:nvPr/>
          </p:nvSpPr>
          <p:spPr>
            <a:xfrm>
              <a:off x="7310247" y="3990499"/>
              <a:ext cx="209136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 veri: [Mikroskop, Mikropipet]</a:t>
              </a:r>
            </a:p>
          </p:txBody>
        </p:sp>
        <p:sp>
          <p:nvSpPr>
            <p:cNvPr id="30" name="TextBox 30"/>
            <p:cNvSpPr txBox="1"/>
            <p:nvPr/>
          </p:nvSpPr>
          <p:spPr>
            <a:xfrm>
              <a:off x="7310247" y="4180999"/>
              <a:ext cx="216476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 toplamKayit: 2, toplamSayfa: 1</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24</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507284" cy="668845"/>
            <a:chOff x="609600" y="171450"/>
            <a:chExt cx="8507284"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8169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Sayfalama sözleşmesi ve yaygın hatalar</a:t>
              </a:r>
            </a:p>
          </p:txBody>
        </p:sp>
      </p:grpSp>
      <p:grpSp>
        <p:nvGrpSpPr>
          <p:cNvPr id="20" name="mistake-1"/>
          <p:cNvGrpSpPr/>
          <p:nvPr/>
        </p:nvGrpSpPr>
        <p:grpSpPr>
          <a:xfrm>
            <a:off x="609600" y="1143000"/>
            <a:ext cx="10972800" cy="1333500"/>
            <a:chOff x="609600" y="1143000"/>
            <a:chExt cx="10972800" cy="1333500"/>
          </a:xfrm>
        </p:grpSpPr>
        <p:sp>
          <p:nvSpPr>
            <p:cNvPr id="13" name="Rectangle 13"/>
            <p:cNvSpPr/>
            <p:nvPr/>
          </p:nvSpPr>
          <p:spPr>
            <a:xfrm>
              <a:off x="609600" y="1143000"/>
              <a:ext cx="10972800" cy="1333500"/>
            </a:xfrm>
            <a:prstGeom prst="roundRect">
              <a:avLst>
                <a:gd name="adj" fmla="val 5714"/>
              </a:avLst>
            </a:prstGeom>
            <a:solidFill>
              <a:srgbClr val="FFFFFF"/>
            </a:solidFill>
            <a:ln w="14288">
              <a:solidFill>
                <a:srgbClr val="B8CBD3"/>
              </a:solidFill>
            </a:ln>
          </p:spPr>
        </p:sp>
        <p:sp>
          <p:nvSpPr>
            <p:cNvPr id="14" name="Ellipse 14"/>
            <p:cNvSpPr/>
            <p:nvPr/>
          </p:nvSpPr>
          <p:spPr>
            <a:xfrm>
              <a:off x="762000" y="1371600"/>
              <a:ext cx="381000" cy="381000"/>
            </a:xfrm>
            <a:prstGeom prst="ellipse">
              <a:avLst/>
            </a:prstGeom>
            <a:solidFill>
              <a:srgbClr val="12355B"/>
            </a:solidFill>
            <a:ln>
              <a:noFill/>
            </a:ln>
          </p:spPr>
        </p:sp>
        <p:sp>
          <p:nvSpPr>
            <p:cNvPr id="15" name="TextBox 15"/>
            <p:cNvSpPr txBox="1"/>
            <p:nvPr/>
          </p:nvSpPr>
          <p:spPr>
            <a:xfrm>
              <a:off x="893165" y="14830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6" name="TextBox 16"/>
            <p:cNvSpPr txBox="1"/>
            <p:nvPr/>
          </p:nvSpPr>
          <p:spPr>
            <a:xfrm>
              <a:off x="1288161" y="1332071"/>
              <a:ext cx="6072726"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Sayfa numarasını sıfırdan başlatıp sözleşmede açıklamamak</a:t>
              </a:r>
            </a:p>
          </p:txBody>
        </p:sp>
        <p:sp>
          <p:nvSpPr>
            <p:cNvPr id="17" name="TextBox 17"/>
            <p:cNvSpPr txBox="1"/>
            <p:nvPr/>
          </p:nvSpPr>
          <p:spPr>
            <a:xfrm>
              <a:off x="1289685" y="1650206"/>
              <a:ext cx="370283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İstemci sayfa=1 gönderince ikinci sayfa dönebilir.</a:t>
              </a:r>
            </a:p>
          </p:txBody>
        </p:sp>
        <p:sp>
          <p:nvSpPr>
            <p:cNvPr id="18" name="TextBox 18"/>
            <p:cNvSpPr txBox="1"/>
            <p:nvPr/>
          </p:nvSpPr>
          <p:spPr>
            <a:xfrm>
              <a:off x="1290066" y="1886902"/>
              <a:ext cx="695254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Sözleşme birden başlayan sayfa numarası tanımlar: baslangicIndeksi = (sayfa − 1) × sayfaBoyutu → 0</a:t>
              </a:r>
            </a:p>
          </p:txBody>
        </p:sp>
        <p:sp>
          <p:nvSpPr>
            <p:cNvPr id="19" name="TextBox 19"/>
            <p:cNvSpPr txBox="1"/>
            <p:nvPr/>
          </p:nvSpPr>
          <p:spPr>
            <a:xfrm>
              <a:off x="1290066" y="2115502"/>
              <a:ext cx="182483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Çıktı: başlangıç indeksi 0</a:t>
              </a:r>
            </a:p>
          </p:txBody>
        </p:sp>
      </p:grpSp>
      <p:grpSp>
        <p:nvGrpSpPr>
          <p:cNvPr id="27" name="mistake-2"/>
          <p:cNvGrpSpPr/>
          <p:nvPr/>
        </p:nvGrpSpPr>
        <p:grpSpPr>
          <a:xfrm>
            <a:off x="609600" y="2609850"/>
            <a:ext cx="10972800" cy="1238250"/>
            <a:chOff x="609600" y="2609850"/>
            <a:chExt cx="10972800" cy="1238250"/>
          </a:xfrm>
        </p:grpSpPr>
        <p:sp>
          <p:nvSpPr>
            <p:cNvPr id="21" name="Rectangle 21"/>
            <p:cNvSpPr/>
            <p:nvPr/>
          </p:nvSpPr>
          <p:spPr>
            <a:xfrm>
              <a:off x="609600" y="2609850"/>
              <a:ext cx="10972800" cy="1238250"/>
            </a:xfrm>
            <a:prstGeom prst="roundRect">
              <a:avLst>
                <a:gd name="adj" fmla="val 6154"/>
              </a:avLst>
            </a:prstGeom>
            <a:solidFill>
              <a:srgbClr val="FFFFFF"/>
            </a:solidFill>
            <a:ln w="14288">
              <a:solidFill>
                <a:srgbClr val="B8CBD3"/>
              </a:solidFill>
            </a:ln>
          </p:spPr>
        </p:sp>
        <p:sp>
          <p:nvSpPr>
            <p:cNvPr id="22" name="Ellipse 22"/>
            <p:cNvSpPr/>
            <p:nvPr/>
          </p:nvSpPr>
          <p:spPr>
            <a:xfrm>
              <a:off x="762000" y="2800350"/>
              <a:ext cx="381000" cy="381000"/>
            </a:xfrm>
            <a:prstGeom prst="ellipse">
              <a:avLst/>
            </a:prstGeom>
            <a:solidFill>
              <a:srgbClr val="12355B"/>
            </a:solidFill>
            <a:ln>
              <a:noFill/>
            </a:ln>
          </p:spPr>
        </p:sp>
        <p:sp>
          <p:nvSpPr>
            <p:cNvPr id="23" name="TextBox 23"/>
            <p:cNvSpPr txBox="1"/>
            <p:nvPr/>
          </p:nvSpPr>
          <p:spPr>
            <a:xfrm>
              <a:off x="893165" y="29117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24" name="TextBox 24"/>
            <p:cNvSpPr txBox="1"/>
            <p:nvPr/>
          </p:nvSpPr>
          <p:spPr>
            <a:xfrm>
              <a:off x="1288161" y="2760821"/>
              <a:ext cx="366416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sayfaBoyutu için üst sınır koymamak</a:t>
              </a:r>
            </a:p>
          </p:txBody>
        </p:sp>
        <p:sp>
          <p:nvSpPr>
            <p:cNvPr id="25" name="TextBox 25"/>
            <p:cNvSpPr txBox="1"/>
            <p:nvPr/>
          </p:nvSpPr>
          <p:spPr>
            <a:xfrm>
              <a:off x="1289685" y="3059906"/>
              <a:ext cx="530715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İstemci sayfaBoyutu=1000000 gönderirse performans sorunu oluşabilir.</a:t>
              </a:r>
            </a:p>
          </p:txBody>
        </p:sp>
        <p:sp>
          <p:nvSpPr>
            <p:cNvPr id="26" name="TextBox 26"/>
            <p:cNvSpPr txBox="1"/>
            <p:nvPr/>
          </p:nvSpPr>
          <p:spPr>
            <a:xfrm>
              <a:off x="1290066" y="3315652"/>
              <a:ext cx="445392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En fazla 100 gibi belgelenmiş bir üst sınır zorunlu kılınmalıdır.</a:t>
              </a:r>
            </a:p>
          </p:txBody>
        </p:sp>
      </p:grpSp>
      <p:grpSp>
        <p:nvGrpSpPr>
          <p:cNvPr id="34" name="mistake-3"/>
          <p:cNvGrpSpPr/>
          <p:nvPr/>
        </p:nvGrpSpPr>
        <p:grpSpPr>
          <a:xfrm>
            <a:off x="609600" y="3981450"/>
            <a:ext cx="10972800" cy="1238250"/>
            <a:chOff x="609600" y="3981450"/>
            <a:chExt cx="10972800" cy="1238250"/>
          </a:xfrm>
        </p:grpSpPr>
        <p:sp>
          <p:nvSpPr>
            <p:cNvPr id="28" name="Rectangle 28"/>
            <p:cNvSpPr/>
            <p:nvPr/>
          </p:nvSpPr>
          <p:spPr>
            <a:xfrm>
              <a:off x="609600" y="3981450"/>
              <a:ext cx="10972800" cy="1238250"/>
            </a:xfrm>
            <a:prstGeom prst="roundRect">
              <a:avLst>
                <a:gd name="adj" fmla="val 6154"/>
              </a:avLst>
            </a:prstGeom>
            <a:solidFill>
              <a:srgbClr val="FFFFFF"/>
            </a:solidFill>
            <a:ln w="14288">
              <a:solidFill>
                <a:srgbClr val="B8CBD3"/>
              </a:solidFill>
            </a:ln>
          </p:spPr>
        </p:sp>
        <p:sp>
          <p:nvSpPr>
            <p:cNvPr id="29" name="Ellipse 29"/>
            <p:cNvSpPr/>
            <p:nvPr/>
          </p:nvSpPr>
          <p:spPr>
            <a:xfrm>
              <a:off x="762000" y="4171950"/>
              <a:ext cx="381000" cy="381000"/>
            </a:xfrm>
            <a:prstGeom prst="ellipse">
              <a:avLst/>
            </a:prstGeom>
            <a:solidFill>
              <a:srgbClr val="12355B"/>
            </a:solidFill>
            <a:ln>
              <a:noFill/>
            </a:ln>
          </p:spPr>
        </p:sp>
        <p:sp>
          <p:nvSpPr>
            <p:cNvPr id="30" name="TextBox 30"/>
            <p:cNvSpPr txBox="1"/>
            <p:nvPr/>
          </p:nvSpPr>
          <p:spPr>
            <a:xfrm>
              <a:off x="893165" y="42833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31" name="TextBox 31"/>
            <p:cNvSpPr txBox="1"/>
            <p:nvPr/>
          </p:nvSpPr>
          <p:spPr>
            <a:xfrm>
              <a:off x="1288161" y="4132421"/>
              <a:ext cx="510971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Filtre sonucunda kayıt bulunamadığında 404 dönmek</a:t>
              </a:r>
            </a:p>
          </p:txBody>
        </p:sp>
        <p:sp>
          <p:nvSpPr>
            <p:cNvPr id="32" name="TextBox 32"/>
            <p:cNvSpPr txBox="1"/>
            <p:nvPr/>
          </p:nvSpPr>
          <p:spPr>
            <a:xfrm>
              <a:off x="1289685" y="4431506"/>
              <a:ext cx="493937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Koleksiyon endpoint'i için çoğunlukla 200 ve boş dizi daha doğrudur.</a:t>
              </a:r>
            </a:p>
          </p:txBody>
        </p:sp>
        <p:sp>
          <p:nvSpPr>
            <p:cNvPr id="33" name="TextBox 33"/>
            <p:cNvSpPr txBox="1"/>
            <p:nvPr/>
          </p:nvSpPr>
          <p:spPr>
            <a:xfrm>
              <a:off x="1290066" y="4687252"/>
              <a:ext cx="732338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Kaynak koleksiyonu vardır, yalnızca eşleşen kayıt yoktur — 404 yalnızca var olmayan tekil kaynak içindir.</a:t>
              </a:r>
            </a:p>
          </p:txBody>
        </p:sp>
      </p:grpSp>
      <p:grpSp>
        <p:nvGrpSpPr>
          <p:cNvPr id="38" name="contract-note"/>
          <p:cNvGrpSpPr/>
          <p:nvPr/>
        </p:nvGrpSpPr>
        <p:grpSpPr>
          <a:xfrm>
            <a:off x="609600" y="5391150"/>
            <a:ext cx="10972800" cy="571500"/>
            <a:chOff x="609600" y="5391150"/>
            <a:chExt cx="10972800" cy="571500"/>
          </a:xfrm>
        </p:grpSpPr>
        <p:sp>
          <p:nvSpPr>
            <p:cNvPr id="35" name="Rectangle 35"/>
            <p:cNvSpPr/>
            <p:nvPr/>
          </p:nvSpPr>
          <p:spPr>
            <a:xfrm>
              <a:off x="609600" y="5391150"/>
              <a:ext cx="10972800" cy="571500"/>
            </a:xfrm>
            <a:prstGeom prst="roundRect">
              <a:avLst>
                <a:gd name="adj" fmla="val 13333"/>
              </a:avLst>
            </a:prstGeom>
            <a:solidFill>
              <a:srgbClr val="EAF4F6"/>
            </a:solidFill>
            <a:ln>
              <a:noFill/>
            </a:ln>
          </p:spPr>
        </p:sp>
        <p:sp>
          <p:nvSpPr>
            <p:cNvPr id="36" name="TextBox 36"/>
            <p:cNvSpPr txBox="1"/>
            <p:nvPr/>
          </p:nvSpPr>
          <p:spPr>
            <a:xfrm>
              <a:off x="908304" y="5509260"/>
              <a:ext cx="119786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API sözleşmesi</a:t>
              </a:r>
            </a:p>
          </p:txBody>
        </p:sp>
        <p:sp>
          <p:nvSpPr>
            <p:cNvPr id="37" name="TextBox 37"/>
            <p:cNvSpPr txBox="1"/>
            <p:nvPr/>
          </p:nvSpPr>
          <p:spPr>
            <a:xfrm>
              <a:off x="908685" y="5726906"/>
              <a:ext cx="828371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Sunucu sayfaBoyutu beklerken istemci limit gönderirse teknik çalışan ama yanlış sonuç üreten bir sistem doğar.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rpc"/>
          <p:cNvGrpSpPr/>
          <p:nvPr/>
        </p:nvGrpSpPr>
        <p:grpSpPr>
          <a:xfrm>
            <a:off x="609600" y="1857375"/>
            <a:ext cx="10972800" cy="1304925"/>
            <a:chOff x="609600" y="1857375"/>
            <a:chExt cx="10972800" cy="1304925"/>
          </a:xfrm>
        </p:grpSpPr>
        <p:sp>
          <p:nvSpPr>
            <p:cNvPr id="17" name="TextBox 17"/>
            <p:cNvSpPr txBox="1"/>
            <p:nvPr/>
          </p:nvSpPr>
          <p:spPr>
            <a:xfrm>
              <a:off x="754380" y="1857375"/>
              <a:ext cx="2775585"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"Tüm işlemleri POST ile</a:t>
              </a:r>
              <a:br/>
              <a:r>
                <a:rPr lang="tr-TR" sz="1500" b="1" dirty="0">
                  <a:solidFill>
                    <a:srgbClr val="12355B"/>
                  </a:solidFill>
                  <a:latin typeface="+mn-lt"/>
                  <a:ea typeface="+mn-ea"/>
                  <a:cs typeface="+mn-cs"/>
                </a:rPr>
                <a:t>yapıp URL'ye fiil yazmak</a:t>
              </a:r>
              <a:br/>
              <a:r>
                <a:rPr lang="tr-TR" sz="1500" b="1" dirty="0">
                  <a:solidFill>
                    <a:srgbClr val="12355B"/>
                  </a:solidFill>
                  <a:latin typeface="+mn-lt"/>
                  <a:ea typeface="+mn-ea"/>
                  <a:cs typeface="+mn-cs"/>
                </a:rPr>
                <a:t>(/ekipmanSil) RESTful'dur."</a:t>
              </a:r>
            </a:p>
          </p:txBody>
        </p:sp>
        <p:sp>
          <p:nvSpPr>
            <p:cNvPr id="18" name="TextBox 18"/>
            <p:cNvSpPr txBox="1"/>
            <p:nvPr/>
          </p:nvSpPr>
          <p:spPr>
            <a:xfrm>
              <a:off x="4375404" y="1889760"/>
              <a:ext cx="32583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Bu yaklaşım REST değil, RPC modelidir.</a:t>
              </a:r>
              <a:br/>
              <a:r>
                <a:rPr lang="tr-TR" sz="1200" dirty="0">
                  <a:solidFill>
                    <a:srgbClr val="172B3A"/>
                  </a:solidFill>
                  <a:latin typeface="+mn-lt"/>
                  <a:ea typeface="+mn-ea"/>
                  <a:cs typeface="+mn-cs"/>
                </a:rPr>
                <a:t>REST kaynak odaklıdır; kaynağın adı isim</a:t>
              </a:r>
              <a:br/>
              <a:r>
                <a:rPr lang="tr-TR" sz="1200" dirty="0">
                  <a:solidFill>
                    <a:srgbClr val="172B3A"/>
                  </a:solidFill>
                  <a:latin typeface="+mn-lt"/>
                  <a:ea typeface="+mn-ea"/>
                  <a:cs typeface="+mn-cs"/>
                </a:rPr>
                <a:t>soylu olmalı (/api/ekipmanlar), eylem HTTP</a:t>
              </a:r>
              <a:br/>
              <a:r>
                <a:rPr lang="tr-TR" sz="1200" dirty="0">
                  <a:solidFill>
                    <a:srgbClr val="172B3A"/>
                  </a:solidFill>
                  <a:latin typeface="+mn-lt"/>
                  <a:ea typeface="+mn-ea"/>
                  <a:cs typeface="+mn-cs"/>
                </a:rPr>
                <a:t>metoduyla (DELETE/PUT/PATCH) ifade edilir.</a:t>
              </a:r>
            </a:p>
          </p:txBody>
        </p:sp>
        <p:sp>
          <p:nvSpPr>
            <p:cNvPr id="19" name="TextBox 19"/>
            <p:cNvSpPr txBox="1"/>
            <p:nvPr/>
          </p:nvSpPr>
          <p:spPr>
            <a:xfrm>
              <a:off x="8185404" y="1889760"/>
              <a:ext cx="2884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URI'lerde eylem fiilleri kullanılmamalı;</a:t>
              </a:r>
              <a:br/>
              <a:r>
                <a:rPr lang="tr-TR" sz="1200" dirty="0">
                  <a:solidFill>
                    <a:srgbClr val="172B3A"/>
                  </a:solidFill>
                  <a:latin typeface="+mn-lt"/>
                  <a:ea typeface="+mn-ea"/>
                  <a:cs typeface="+mn-cs"/>
                </a:rPr>
                <a:t>semantik HTTP fiilleri ve standart</a:t>
              </a:r>
              <a:br/>
              <a:r>
                <a:rPr lang="tr-TR" sz="1200" dirty="0">
                  <a:solidFill>
                    <a:srgbClr val="172B3A"/>
                  </a:solidFill>
                  <a:latin typeface="+mn-lt"/>
                  <a:ea typeface="+mn-ea"/>
                  <a:cs typeface="+mn-cs"/>
                </a:rPr>
                <a:t>kaynak yolları tercih edilmelidir.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200-hata"/>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380" y="3305175"/>
              <a:ext cx="2585561"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"Hata durumunda dahi</a:t>
              </a:r>
              <a:br/>
              <a:r>
                <a:rPr lang="tr-TR" sz="1500" b="1" dirty="0">
                  <a:solidFill>
                    <a:srgbClr val="12355B"/>
                  </a:solidFill>
                  <a:latin typeface="+mn-lt"/>
                  <a:ea typeface="+mn-ea"/>
                  <a:cs typeface="+mn-cs"/>
                </a:rPr>
                <a:t>{basarili:false} yazıp</a:t>
              </a:r>
              <a:br/>
              <a:r>
                <a:rPr lang="tr-TR" sz="1500" b="1" dirty="0">
                  <a:solidFill>
                    <a:srgbClr val="12355B"/>
                  </a:solidFill>
                  <a:latin typeface="+mn-lt"/>
                  <a:ea typeface="+mn-ea"/>
                  <a:cs typeface="+mn-cs"/>
                </a:rPr>
                <a:t>200 OK dönmek doğrudur."</a:t>
              </a:r>
            </a:p>
          </p:txBody>
        </p:sp>
        <p:sp>
          <p:nvSpPr>
            <p:cNvPr id="24" name="TextBox 24"/>
            <p:cNvSpPr txBox="1"/>
            <p:nvPr/>
          </p:nvSpPr>
          <p:spPr>
            <a:xfrm>
              <a:off x="4375404" y="3337560"/>
              <a:ext cx="33954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Tarayıcılar, önbellek vekilleri ve istemci</a:t>
              </a:r>
              <a:br/>
              <a:r>
                <a:rPr lang="tr-TR" sz="1200" dirty="0">
                  <a:solidFill>
                    <a:srgbClr val="172B3A"/>
                  </a:solidFill>
                  <a:latin typeface="+mn-lt"/>
                  <a:ea typeface="+mn-ea"/>
                  <a:cs typeface="+mn-cs"/>
                </a:rPr>
                <a:t>kütüphaneleri (Axios/Fetch) başarıyı durum</a:t>
              </a:r>
              <a:br/>
              <a:r>
                <a:rPr lang="tr-TR" sz="1200" dirty="0">
                  <a:solidFill>
                    <a:srgbClr val="172B3A"/>
                  </a:solidFill>
                  <a:latin typeface="+mn-lt"/>
                  <a:ea typeface="+mn-ea"/>
                  <a:cs typeface="+mn-cs"/>
                </a:rPr>
                <a:t>koduna göre anlar. 200 dönülürse hata yanıtı</a:t>
              </a:r>
              <a:br/>
              <a:r>
                <a:rPr lang="tr-TR" sz="1200" dirty="0">
                  <a:solidFill>
                    <a:srgbClr val="172B3A"/>
                  </a:solidFill>
                  <a:latin typeface="+mn-lt"/>
                  <a:ea typeface="+mn-ea"/>
                  <a:cs typeface="+mn-cs"/>
                </a:rPr>
                <a:t>başarılı sanılıp önbelleğe alınabilir.</a:t>
              </a:r>
            </a:p>
          </p:txBody>
        </p:sp>
        <p:sp>
          <p:nvSpPr>
            <p:cNvPr id="25" name="TextBox 25"/>
            <p:cNvSpPr txBox="1"/>
            <p:nvPr/>
          </p:nvSpPr>
          <p:spPr>
            <a:xfrm>
              <a:off x="8185404" y="3337560"/>
              <a:ext cx="28392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Hatalarda semantik durum kodları</a:t>
              </a:r>
              <a:br/>
              <a:r>
                <a:rPr lang="tr-TR" sz="1200" dirty="0">
                  <a:solidFill>
                    <a:srgbClr val="172B3A"/>
                  </a:solidFill>
                  <a:latin typeface="+mn-lt"/>
                  <a:ea typeface="+mn-ea"/>
                  <a:cs typeface="+mn-cs"/>
                </a:rPr>
                <a:t>kullanılmalıdır (400, 401, 404, 409).</a:t>
              </a:r>
              <a:br/>
              <a:r>
                <a:rPr lang="tr-TR" sz="1200" dirty="0">
                  <a:solidFill>
                    <a:srgbClr val="172B3A"/>
                  </a:solidFill>
                  <a:latin typeface="+mn-lt"/>
                  <a:ea typeface="+mn-ea"/>
                  <a:cs typeface="+mn-cs"/>
                </a:rPr>
                <a:t>401/403 ayrımı Bölüm 10'da işlenir.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unbounded"/>
          <p:cNvGrpSpPr/>
          <p:nvPr/>
        </p:nvGrpSpPr>
        <p:grpSpPr>
          <a:xfrm>
            <a:off x="754380" y="4752975"/>
            <a:ext cx="10239756" cy="788670"/>
            <a:chOff x="754380" y="4752975"/>
            <a:chExt cx="10239756" cy="788670"/>
          </a:xfrm>
        </p:grpSpPr>
        <p:sp>
          <p:nvSpPr>
            <p:cNvPr id="28" name="TextBox 28"/>
            <p:cNvSpPr txBox="1"/>
            <p:nvPr/>
          </p:nvSpPr>
          <p:spPr>
            <a:xfrm>
              <a:off x="754380" y="4752975"/>
              <a:ext cx="2825591"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"Tüm kayıtları tek bir GET</a:t>
              </a:r>
              <a:br/>
              <a:r>
                <a:rPr lang="tr-TR" sz="1500" b="1" dirty="0">
                  <a:solidFill>
                    <a:srgbClr val="12355B"/>
                  </a:solidFill>
                  <a:latin typeface="+mn-lt"/>
                  <a:ea typeface="+mn-ea"/>
                  <a:cs typeface="+mn-cs"/>
                </a:rPr>
                <a:t>isteğinde sınırsız dönmekte</a:t>
              </a:r>
              <a:br/>
              <a:r>
                <a:rPr lang="tr-TR" sz="1500" b="1" dirty="0">
                  <a:solidFill>
                    <a:srgbClr val="12355B"/>
                  </a:solidFill>
                  <a:latin typeface="+mn-lt"/>
                  <a:ea typeface="+mn-ea"/>
                  <a:cs typeface="+mn-cs"/>
                </a:rPr>
                <a:t>sakınca yoktur."</a:t>
              </a:r>
            </a:p>
          </p:txBody>
        </p:sp>
        <p:sp>
          <p:nvSpPr>
            <p:cNvPr id="29" name="TextBox 29"/>
            <p:cNvSpPr txBox="1"/>
            <p:nvPr/>
          </p:nvSpPr>
          <p:spPr>
            <a:xfrm>
              <a:off x="4375404" y="4785360"/>
              <a:ext cx="32964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50.000 kayıt olduğunda tüm veriyi belleğe</a:t>
              </a:r>
              <a:br/>
              <a:r>
                <a:rPr lang="tr-TR" sz="1200" dirty="0">
                  <a:solidFill>
                    <a:srgbClr val="172B3A"/>
                  </a:solidFill>
                  <a:latin typeface="+mn-lt"/>
                  <a:ea typeface="+mn-ea"/>
                  <a:cs typeface="+mn-cs"/>
                </a:rPr>
                <a:t>yükleyip devasa JSON üretmek sunucuda</a:t>
              </a:r>
              <a:br/>
              <a:r>
                <a:rPr lang="tr-TR" sz="1200" dirty="0">
                  <a:solidFill>
                    <a:srgbClr val="172B3A"/>
                  </a:solidFill>
                  <a:latin typeface="+mn-lt"/>
                  <a:ea typeface="+mn-ea"/>
                  <a:cs typeface="+mn-cs"/>
                </a:rPr>
                <a:t>OOM çökmesine ve ağ tıkanmasına yol açar.</a:t>
              </a:r>
            </a:p>
          </p:txBody>
        </p:sp>
        <p:sp>
          <p:nvSpPr>
            <p:cNvPr id="30" name="TextBox 30"/>
            <p:cNvSpPr txBox="1"/>
            <p:nvPr/>
          </p:nvSpPr>
          <p:spPr>
            <a:xfrm>
              <a:off x="8185404" y="4785360"/>
              <a:ext cx="28087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Listeleme uç noktalarında varsayılan</a:t>
              </a:r>
              <a:br/>
              <a:r>
                <a:rPr lang="tr-TR" sz="1200" dirty="0">
                  <a:solidFill>
                    <a:srgbClr val="172B3A"/>
                  </a:solidFill>
                  <a:latin typeface="+mn-lt"/>
                  <a:ea typeface="+mn-ea"/>
                  <a:cs typeface="+mn-cs"/>
                </a:rPr>
                <a:t>limit ve ofset (veya imleç) ile zorunlu</a:t>
              </a:r>
              <a:br/>
              <a:r>
                <a:rPr lang="tr-TR" sz="1200" dirty="0">
                  <a:solidFill>
                    <a:srgbClr val="172B3A"/>
                  </a:solidFill>
                  <a:latin typeface="+mn-lt"/>
                  <a:ea typeface="+mn-ea"/>
                  <a:cs typeface="+mn-cs"/>
                </a:rPr>
                <a:t>sayfalama uygulanmalıdır.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06791" cy="668845"/>
            <a:chOff x="609600" y="171450"/>
            <a:chExt cx="840679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71641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 kod analizi</a:t>
              </a:r>
            </a:p>
          </p:txBody>
        </p:sp>
      </p:grpSp>
      <p:grpSp>
        <p:nvGrpSpPr>
          <p:cNvPr id="16" name="bug-summary"/>
          <p:cNvGrpSpPr/>
          <p:nvPr/>
        </p:nvGrpSpPr>
        <p:grpSpPr>
          <a:xfrm>
            <a:off x="609600" y="1123950"/>
            <a:ext cx="10972800" cy="914400"/>
            <a:chOff x="609600" y="1123950"/>
            <a:chExt cx="10972800" cy="914400"/>
          </a:xfrm>
        </p:grpSpPr>
        <p:sp>
          <p:nvSpPr>
            <p:cNvPr id="12" name="Rectangle 12"/>
            <p:cNvSpPr/>
            <p:nvPr/>
          </p:nvSpPr>
          <p:spPr>
            <a:xfrm>
              <a:off x="609600" y="1123950"/>
              <a:ext cx="10972800" cy="914400"/>
            </a:xfrm>
            <a:prstGeom prst="roundRect">
              <a:avLst>
                <a:gd name="adj" fmla="val 8333"/>
              </a:avLst>
            </a:prstGeom>
            <a:solidFill>
              <a:srgbClr val="12355B"/>
            </a:solidFill>
            <a:ln>
              <a:noFill/>
            </a:ln>
          </p:spPr>
        </p:sp>
        <p:sp>
          <p:nvSpPr>
            <p:cNvPr id="13" name="TextBox 13"/>
            <p:cNvSpPr txBox="1"/>
            <p:nvPr/>
          </p:nvSpPr>
          <p:spPr>
            <a:xfrm>
              <a:off x="832485" y="1269206"/>
              <a:ext cx="6454424"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Hatalı satır: if (ekipman.durum = "rezerve") { return { durumKodu: 200, ... }; }</a:t>
              </a:r>
            </a:p>
          </p:txBody>
        </p:sp>
        <p:sp>
          <p:nvSpPr>
            <p:cNvPr id="14" name="TextBox 14"/>
            <p:cNvSpPr txBox="1"/>
            <p:nvPr/>
          </p:nvSpPr>
          <p:spPr>
            <a:xfrm>
              <a:off x="832866" y="1524952"/>
              <a:ext cx="6327486"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Beş hata iç içe: (1) = atama ≠ === karşılaştırma (2) müsaitlik değil rezerve kontrol edilmiş</a:t>
              </a:r>
            </a:p>
          </p:txBody>
        </p:sp>
        <p:sp>
          <p:nvSpPr>
            <p:cNvPr id="15" name="TextBox 15"/>
            <p:cNvSpPr txBox="1"/>
            <p:nvPr/>
          </p:nvSpPr>
          <p:spPr>
            <a:xfrm>
              <a:off x="832866" y="1734502"/>
              <a:ext cx="7106488"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(3) string dönüş tipi ihlali (4) yeni kaynak için 200 ≠ 201 (5) bulunamama ile uygunsuzluk aynı hata değil</a:t>
              </a:r>
            </a:p>
          </p:txBody>
        </p:sp>
      </p:grpSp>
      <p:grpSp>
        <p:nvGrpSpPr>
          <p:cNvPr id="42" name="trace-table"/>
          <p:cNvGrpSpPr/>
          <p:nvPr/>
        </p:nvGrpSpPr>
        <p:grpSpPr>
          <a:xfrm>
            <a:off x="609600" y="2190750"/>
            <a:ext cx="10972800" cy="2266950"/>
            <a:chOff x="609600" y="2190750"/>
            <a:chExt cx="10972800" cy="2266950"/>
          </a:xfrm>
        </p:grpSpPr>
        <p:sp>
          <p:nvSpPr>
            <p:cNvPr id="17" name="Rectangle 17"/>
            <p:cNvSpPr/>
            <p:nvPr/>
          </p:nvSpPr>
          <p:spPr>
            <a:xfrm>
              <a:off x="609600" y="2190750"/>
              <a:ext cx="10972800" cy="361950"/>
            </a:xfrm>
            <a:prstGeom prst="rect">
              <a:avLst/>
            </a:prstGeom>
            <a:solidFill>
              <a:srgbClr val="12355B"/>
            </a:solidFill>
            <a:ln>
              <a:noFill/>
            </a:ln>
          </p:spPr>
        </p:sp>
        <p:sp>
          <p:nvSpPr>
            <p:cNvPr id="18" name="TextBox 18"/>
            <p:cNvSpPr txBox="1"/>
            <p:nvPr/>
          </p:nvSpPr>
          <p:spPr>
            <a:xfrm>
              <a:off x="756666" y="2306002"/>
              <a:ext cx="37983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ADIM</a:t>
              </a:r>
            </a:p>
          </p:txBody>
        </p:sp>
        <p:sp>
          <p:nvSpPr>
            <p:cNvPr id="19" name="TextBox 19"/>
            <p:cNvSpPr txBox="1"/>
            <p:nvPr/>
          </p:nvSpPr>
          <p:spPr>
            <a:xfrm>
              <a:off x="2090166" y="2306002"/>
              <a:ext cx="48459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İFADE</a:t>
              </a:r>
            </a:p>
          </p:txBody>
        </p:sp>
        <p:sp>
          <p:nvSpPr>
            <p:cNvPr id="20" name="TextBox 20"/>
            <p:cNvSpPr txBox="1"/>
            <p:nvPr/>
          </p:nvSpPr>
          <p:spPr>
            <a:xfrm>
              <a:off x="5900166" y="2306002"/>
              <a:ext cx="992711"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DURUM KODU</a:t>
              </a:r>
            </a:p>
          </p:txBody>
        </p:sp>
        <p:sp>
          <p:nvSpPr>
            <p:cNvPr id="21" name="TextBox 21"/>
            <p:cNvSpPr txBox="1"/>
            <p:nvPr/>
          </p:nvSpPr>
          <p:spPr>
            <a:xfrm>
              <a:off x="7805166" y="2306002"/>
              <a:ext cx="76750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AÇIKLAMA</a:t>
              </a:r>
            </a:p>
          </p:txBody>
        </p:sp>
        <p:sp>
          <p:nvSpPr>
            <p:cNvPr id="22" name="Rectangle 22"/>
            <p:cNvSpPr/>
            <p:nvPr/>
          </p:nvSpPr>
          <p:spPr>
            <a:xfrm>
              <a:off x="609600" y="2552700"/>
              <a:ext cx="10972800" cy="476250"/>
            </a:xfrm>
            <a:prstGeom prst="rect">
              <a:avLst/>
            </a:prstGeom>
            <a:solidFill>
              <a:srgbClr val="FFFFFF"/>
            </a:solidFill>
            <a:ln>
              <a:noFill/>
            </a:ln>
          </p:spPr>
        </p:sp>
        <p:sp>
          <p:nvSpPr>
            <p:cNvPr id="23" name="TextBox 23"/>
            <p:cNvSpPr txBox="1"/>
            <p:nvPr/>
          </p:nvSpPr>
          <p:spPr>
            <a:xfrm>
              <a:off x="756285" y="2717006"/>
              <a:ext cx="98245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1. Varlık yok</a:t>
              </a:r>
            </a:p>
          </p:txBody>
        </p:sp>
        <p:sp>
          <p:nvSpPr>
            <p:cNvPr id="24" name="TextBox 24"/>
            <p:cNvSpPr txBox="1"/>
            <p:nvPr/>
          </p:nvSpPr>
          <p:spPr>
            <a:xfrm>
              <a:off x="2090547" y="2733199"/>
              <a:ext cx="953188"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if (!ekipman)</a:t>
              </a:r>
            </a:p>
          </p:txBody>
        </p:sp>
        <p:sp>
          <p:nvSpPr>
            <p:cNvPr id="25" name="TextBox 25"/>
            <p:cNvSpPr txBox="1"/>
            <p:nvPr/>
          </p:nvSpPr>
          <p:spPr>
            <a:xfrm>
              <a:off x="5899785" y="271700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404</a:t>
              </a:r>
            </a:p>
          </p:txBody>
        </p:sp>
        <p:sp>
          <p:nvSpPr>
            <p:cNvPr id="26" name="TextBox 26"/>
            <p:cNvSpPr txBox="1"/>
            <p:nvPr/>
          </p:nvSpPr>
          <p:spPr>
            <a:xfrm>
              <a:off x="7805547" y="2733199"/>
              <a:ext cx="254739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Erken çıkış (guard clause) ile sonlandı</a:t>
              </a:r>
            </a:p>
          </p:txBody>
        </p:sp>
        <p:sp>
          <p:nvSpPr>
            <p:cNvPr id="27" name="Rectangle 27"/>
            <p:cNvSpPr/>
            <p:nvPr/>
          </p:nvSpPr>
          <p:spPr>
            <a:xfrm>
              <a:off x="609600" y="3028950"/>
              <a:ext cx="10972800" cy="476250"/>
            </a:xfrm>
            <a:prstGeom prst="rect">
              <a:avLst/>
            </a:prstGeom>
            <a:solidFill>
              <a:srgbClr val="EAF4F6"/>
            </a:solidFill>
            <a:ln>
              <a:noFill/>
            </a:ln>
          </p:spPr>
        </p:sp>
        <p:sp>
          <p:nvSpPr>
            <p:cNvPr id="28" name="TextBox 28"/>
            <p:cNvSpPr txBox="1"/>
            <p:nvPr/>
          </p:nvSpPr>
          <p:spPr>
            <a:xfrm>
              <a:off x="756285" y="3193256"/>
              <a:ext cx="138188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2. Uygunsuz durum</a:t>
              </a:r>
            </a:p>
          </p:txBody>
        </p:sp>
        <p:sp>
          <p:nvSpPr>
            <p:cNvPr id="29" name="TextBox 29"/>
            <p:cNvSpPr txBox="1"/>
            <p:nvPr/>
          </p:nvSpPr>
          <p:spPr>
            <a:xfrm>
              <a:off x="2090547" y="3209449"/>
              <a:ext cx="167879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if (durum !== "musait")</a:t>
              </a:r>
            </a:p>
          </p:txBody>
        </p:sp>
        <p:sp>
          <p:nvSpPr>
            <p:cNvPr id="30" name="TextBox 30"/>
            <p:cNvSpPr txBox="1"/>
            <p:nvPr/>
          </p:nvSpPr>
          <p:spPr>
            <a:xfrm>
              <a:off x="5899785" y="319325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400</a:t>
              </a:r>
            </a:p>
          </p:txBody>
        </p:sp>
        <p:sp>
          <p:nvSpPr>
            <p:cNvPr id="31" name="TextBox 31"/>
            <p:cNvSpPr txBox="1"/>
            <p:nvPr/>
          </p:nvSpPr>
          <p:spPr>
            <a:xfrm>
              <a:off x="7805547" y="3209449"/>
              <a:ext cx="151081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İş kuralı ihlali bildirildi</a:t>
              </a:r>
            </a:p>
          </p:txBody>
        </p:sp>
        <p:sp>
          <p:nvSpPr>
            <p:cNvPr id="32" name="Rectangle 32"/>
            <p:cNvSpPr/>
            <p:nvPr/>
          </p:nvSpPr>
          <p:spPr>
            <a:xfrm>
              <a:off x="609600" y="3505200"/>
              <a:ext cx="10972800" cy="476250"/>
            </a:xfrm>
            <a:prstGeom prst="rect">
              <a:avLst/>
            </a:prstGeom>
            <a:solidFill>
              <a:srgbClr val="FFFFFF"/>
            </a:solidFill>
            <a:ln>
              <a:noFill/>
            </a:ln>
          </p:spPr>
        </p:sp>
        <p:sp>
          <p:nvSpPr>
            <p:cNvPr id="33" name="TextBox 33"/>
            <p:cNvSpPr txBox="1"/>
            <p:nvPr/>
          </p:nvSpPr>
          <p:spPr>
            <a:xfrm>
              <a:off x="756285" y="3669506"/>
              <a:ext cx="1133476"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3. Doğru atama</a:t>
              </a:r>
            </a:p>
          </p:txBody>
        </p:sp>
        <p:sp>
          <p:nvSpPr>
            <p:cNvPr id="34" name="TextBox 34"/>
            <p:cNvSpPr txBox="1"/>
            <p:nvPr/>
          </p:nvSpPr>
          <p:spPr>
            <a:xfrm>
              <a:off x="2090547" y="3685699"/>
              <a:ext cx="182391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ekipman.durum = "rezerve"</a:t>
              </a:r>
            </a:p>
          </p:txBody>
        </p:sp>
        <p:sp>
          <p:nvSpPr>
            <p:cNvPr id="35" name="TextBox 35"/>
            <p:cNvSpPr txBox="1"/>
            <p:nvPr/>
          </p:nvSpPr>
          <p:spPr>
            <a:xfrm>
              <a:off x="5899785" y="3669506"/>
              <a:ext cx="9435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t>
              </a:r>
            </a:p>
          </p:txBody>
        </p:sp>
        <p:sp>
          <p:nvSpPr>
            <p:cNvPr id="36" name="TextBox 36"/>
            <p:cNvSpPr txBox="1"/>
            <p:nvPr/>
          </p:nvSpPr>
          <p:spPr>
            <a:xfrm>
              <a:off x="7805547" y="3685699"/>
              <a:ext cx="260647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Yalnızca tüm kontroller geçtikten sonra</a:t>
              </a:r>
            </a:p>
          </p:txBody>
        </p:sp>
        <p:sp>
          <p:nvSpPr>
            <p:cNvPr id="37" name="Rectangle 37"/>
            <p:cNvSpPr/>
            <p:nvPr/>
          </p:nvSpPr>
          <p:spPr>
            <a:xfrm>
              <a:off x="609600" y="3981450"/>
              <a:ext cx="10972800" cy="476250"/>
            </a:xfrm>
            <a:prstGeom prst="rect">
              <a:avLst/>
            </a:prstGeom>
            <a:solidFill>
              <a:srgbClr val="EAF4F6"/>
            </a:solidFill>
            <a:ln>
              <a:noFill/>
            </a:ln>
          </p:spPr>
        </p:sp>
        <p:sp>
          <p:nvSpPr>
            <p:cNvPr id="38" name="TextBox 38"/>
            <p:cNvSpPr txBox="1"/>
            <p:nvPr/>
          </p:nvSpPr>
          <p:spPr>
            <a:xfrm>
              <a:off x="756285" y="4145756"/>
              <a:ext cx="139659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4. Başarılı kaynak</a:t>
              </a:r>
            </a:p>
          </p:txBody>
        </p:sp>
        <p:sp>
          <p:nvSpPr>
            <p:cNvPr id="39" name="TextBox 39"/>
            <p:cNvSpPr txBox="1"/>
            <p:nvPr/>
          </p:nvSpPr>
          <p:spPr>
            <a:xfrm>
              <a:off x="2090547" y="4161949"/>
              <a:ext cx="219492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return { durumKodu: 201, ... }</a:t>
              </a:r>
            </a:p>
          </p:txBody>
        </p:sp>
        <p:sp>
          <p:nvSpPr>
            <p:cNvPr id="40" name="TextBox 40"/>
            <p:cNvSpPr txBox="1"/>
            <p:nvPr/>
          </p:nvSpPr>
          <p:spPr>
            <a:xfrm>
              <a:off x="5899785" y="4145756"/>
              <a:ext cx="27264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201</a:t>
              </a:r>
            </a:p>
          </p:txBody>
        </p:sp>
        <p:sp>
          <p:nvSpPr>
            <p:cNvPr id="41" name="TextBox 41"/>
            <p:cNvSpPr txBox="1"/>
            <p:nvPr/>
          </p:nvSpPr>
          <p:spPr>
            <a:xfrm>
              <a:off x="7805547" y="4161949"/>
              <a:ext cx="268576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Yeni rezervasyon kaydı doğru kodla döndü</a:t>
              </a:r>
            </a:p>
          </p:txBody>
        </p:sp>
      </p:grpSp>
      <p:grpSp>
        <p:nvGrpSpPr>
          <p:cNvPr id="46" name="attention-note"/>
          <p:cNvGrpSpPr/>
          <p:nvPr/>
        </p:nvGrpSpPr>
        <p:grpSpPr>
          <a:xfrm>
            <a:off x="609600" y="4667250"/>
            <a:ext cx="10972800" cy="666750"/>
            <a:chOff x="609600" y="4667250"/>
            <a:chExt cx="10972800" cy="666750"/>
          </a:xfrm>
        </p:grpSpPr>
        <p:sp>
          <p:nvSpPr>
            <p:cNvPr id="43" name="Rectangle 43"/>
            <p:cNvSpPr/>
            <p:nvPr/>
          </p:nvSpPr>
          <p:spPr>
            <a:xfrm>
              <a:off x="609600" y="4667250"/>
              <a:ext cx="10972800" cy="666750"/>
            </a:xfrm>
            <a:prstGeom prst="roundRect">
              <a:avLst>
                <a:gd name="adj" fmla="val 11429"/>
              </a:avLst>
            </a:prstGeom>
            <a:solidFill>
              <a:srgbClr val="EAF4F6"/>
            </a:solidFill>
            <a:ln>
              <a:noFill/>
            </a:ln>
          </p:spPr>
        </p:sp>
        <p:sp>
          <p:nvSpPr>
            <p:cNvPr id="44" name="TextBox 44"/>
            <p:cNvSpPr txBox="1"/>
            <p:nvPr/>
          </p:nvSpPr>
          <p:spPr>
            <a:xfrm>
              <a:off x="908304" y="4785360"/>
              <a:ext cx="75700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Dikkat</a:t>
              </a:r>
            </a:p>
          </p:txBody>
        </p:sp>
        <p:sp>
          <p:nvSpPr>
            <p:cNvPr id="45" name="TextBox 45"/>
            <p:cNvSpPr txBox="1"/>
            <p:nvPr/>
          </p:nvSpPr>
          <p:spPr>
            <a:xfrm>
              <a:off x="908304" y="5013960"/>
              <a:ext cx="77001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Hata ayıklarken önce HTTP anlamını, sonra TypeScript türünü, en son iş mantığını kontrol edin.</a:t>
              </a:r>
            </a:p>
          </p:txBody>
        </p:sp>
      </p:grpSp>
      <p:grpSp>
        <p:nvGrpSpPr>
          <p:cNvPr id="49" name="discussion-note"/>
          <p:cNvGrpSpPr/>
          <p:nvPr/>
        </p:nvGrpSpPr>
        <p:grpSpPr>
          <a:xfrm>
            <a:off x="603885" y="5593556"/>
            <a:ext cx="7889662" cy="429578"/>
            <a:chOff x="603885" y="5593556"/>
            <a:chExt cx="7889662" cy="429578"/>
          </a:xfrm>
        </p:grpSpPr>
        <p:sp>
          <p:nvSpPr>
            <p:cNvPr id="47" name="TextBox 47"/>
            <p:cNvSpPr txBox="1"/>
            <p:nvPr/>
          </p:nvSpPr>
          <p:spPr>
            <a:xfrm>
              <a:off x="603885" y="5593556"/>
              <a:ext cx="7889662"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Laboratuvar tartışması (Bahar): ekipman parametresi undefined gelebilirdi; ekipman: Ekipman | undefined</a:t>
              </a:r>
            </a:p>
          </p:txBody>
        </p:sp>
        <p:sp>
          <p:nvSpPr>
            <p:cNvPr id="48" name="TextBox 48"/>
            <p:cNvSpPr txBox="1"/>
            <p:nvPr/>
          </p:nvSpPr>
          <p:spPr>
            <a:xfrm>
              <a:off x="603885" y="5803106"/>
              <a:ext cx="5778551"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tanımlayıp !ekipman durumunda 404, uygunsuzlukta 400/409 dönmek gerekirdi.</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725983" cy="668845"/>
            <a:chOff x="609600" y="171450"/>
            <a:chExt cx="572598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09562"/>
                <a:ext cx="206693" cy="280512"/>
                <a:chOff x="792004" y="309562"/>
                <a:chExt cx="206693" cy="280512"/>
              </a:xfrm>
            </p:grpSpPr>
            <p:sp>
              <p:nvSpPr>
                <p:cNvPr id="5" name="Freeform 5"/>
                <p:cNvSpPr/>
                <p:nvPr/>
              </p:nvSpPr>
              <p:spPr>
                <a:xfrm>
                  <a:off x="792004" y="442436"/>
                  <a:ext cx="206693" cy="147638"/>
                </a:xfrm>
                <a:custGeom>
                  <a:avLst/>
                  <a:gdLst/>
                  <a:ahLst/>
                  <a:cxnLst/>
                  <a:rect l="l" t="t" r="r" b="b"/>
                  <a:pathLst>
                    <a:path w="206693" h="147638">
                      <a:moveTo>
                        <a:pt x="0" y="29527"/>
                      </a:moveTo>
                      <a:cubicBezTo>
                        <a:pt x="0" y="13220"/>
                        <a:pt x="13220" y="0"/>
                        <a:pt x="29527" y="0"/>
                      </a:cubicBezTo>
                      <a:lnTo>
                        <a:pt x="177165" y="0"/>
                      </a:lnTo>
                      <a:cubicBezTo>
                        <a:pt x="193473" y="0"/>
                        <a:pt x="206693" y="13220"/>
                        <a:pt x="206693" y="29527"/>
                      </a:cubicBezTo>
                      <a:lnTo>
                        <a:pt x="206693" y="118110"/>
                      </a:lnTo>
                      <a:cubicBezTo>
                        <a:pt x="206693" y="134418"/>
                        <a:pt x="193473" y="147638"/>
                        <a:pt x="177165" y="147638"/>
                      </a:cubicBezTo>
                      <a:lnTo>
                        <a:pt x="29527" y="147638"/>
                      </a:lnTo>
                      <a:cubicBezTo>
                        <a:pt x="13220" y="147638"/>
                        <a:pt x="0" y="134418"/>
                        <a:pt x="0" y="118110"/>
                      </a:cubicBezTo>
                      <a:lnTo>
                        <a:pt x="0" y="29527"/>
                      </a:lnTo>
                    </a:path>
                  </a:pathLst>
                </a:custGeom>
                <a:noFill/>
                <a:ln w="24759" cap="rnd">
                  <a:solidFill>
                    <a:srgbClr val="FFFFFF"/>
                  </a:solidFill>
                  <a:round/>
                </a:ln>
              </p:spPr>
            </p:sp>
            <p:sp>
              <p:nvSpPr>
                <p:cNvPr id="6" name="Freeform 6"/>
                <p:cNvSpPr/>
                <p:nvPr/>
              </p:nvSpPr>
              <p:spPr>
                <a:xfrm>
                  <a:off x="880586" y="501491"/>
                  <a:ext cx="29528" cy="29528"/>
                </a:xfrm>
                <a:custGeom>
                  <a:avLst/>
                  <a:gdLst/>
                  <a:ahLst/>
                  <a:cxnLst/>
                  <a:rect l="l" t="t" r="r" b="b"/>
                  <a:pathLst>
                    <a:path w="29528" h="29528">
                      <a:moveTo>
                        <a:pt x="0" y="14764"/>
                      </a:moveTo>
                      <a:cubicBezTo>
                        <a:pt x="0" y="22918"/>
                        <a:pt x="6610" y="29528"/>
                        <a:pt x="14764" y="29528"/>
                      </a:cubicBezTo>
                      <a:cubicBezTo>
                        <a:pt x="22918" y="29528"/>
                        <a:pt x="29528" y="22918"/>
                        <a:pt x="29528" y="14764"/>
                      </a:cubicBezTo>
                      <a:cubicBezTo>
                        <a:pt x="29528" y="6610"/>
                        <a:pt x="22918" y="0"/>
                        <a:pt x="14764" y="0"/>
                      </a:cubicBezTo>
                      <a:cubicBezTo>
                        <a:pt x="6610" y="0"/>
                        <a:pt x="0" y="6610"/>
                        <a:pt x="0" y="14764"/>
                      </a:cubicBezTo>
                    </a:path>
                  </a:pathLst>
                </a:custGeom>
                <a:noFill/>
                <a:ln w="24759" cap="rnd">
                  <a:solidFill>
                    <a:srgbClr val="FFFFFF"/>
                  </a:solidFill>
                  <a:round/>
                </a:ln>
              </p:spPr>
            </p:sp>
            <p:sp>
              <p:nvSpPr>
                <p:cNvPr id="7" name="Freeform 7"/>
                <p:cNvSpPr/>
                <p:nvPr/>
              </p:nvSpPr>
              <p:spPr>
                <a:xfrm>
                  <a:off x="836295" y="309562"/>
                  <a:ext cx="118110" cy="132874"/>
                </a:xfrm>
                <a:custGeom>
                  <a:avLst/>
                  <a:gdLst/>
                  <a:ahLst/>
                  <a:cxnLst/>
                  <a:rect l="l" t="t" r="r" b="b"/>
                  <a:pathLst>
                    <a:path w="118110" h="132874">
                      <a:moveTo>
                        <a:pt x="0" y="132874"/>
                      </a:moveTo>
                      <a:lnTo>
                        <a:pt x="0" y="59055"/>
                      </a:lnTo>
                      <a:cubicBezTo>
                        <a:pt x="0" y="26440"/>
                        <a:pt x="26440" y="0"/>
                        <a:pt x="59055" y="0"/>
                      </a:cubicBezTo>
                      <a:cubicBezTo>
                        <a:pt x="91670" y="0"/>
                        <a:pt x="118110" y="26440"/>
                        <a:pt x="118110" y="59055"/>
                      </a:cubicBezTo>
                    </a:path>
                  </a:pathLst>
                </a:custGeom>
                <a:noFill/>
                <a:ln w="24759" cap="rnd">
                  <a:solidFill>
                    <a:srgbClr val="FFFFFF"/>
                  </a:solidFill>
                  <a:round/>
                </a:ln>
              </p:spPr>
            </p:sp>
          </p:grpSp>
        </p:grpSp>
        <p:sp>
          <p:nvSpPr>
            <p:cNvPr id="10" name="TextBox 10"/>
            <p:cNvSpPr txBox="1"/>
            <p:nvPr/>
          </p:nvSpPr>
          <p:spPr>
            <a:xfrm>
              <a:off x="1299972" y="282892"/>
              <a:ext cx="503561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Güvenlik ve kalite disiplini</a:t>
              </a:r>
            </a:p>
          </p:txBody>
        </p:sp>
      </p:grpSp>
      <p:sp>
        <p:nvSpPr>
          <p:cNvPr id="12" name="TextBox 12"/>
          <p:cNvSpPr txBox="1"/>
          <p:nvPr/>
        </p:nvSpPr>
        <p:spPr>
          <a:xfrm>
            <a:off x="601980" y="1171575"/>
            <a:ext cx="3056351"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API kalitesini bozan üç kaynak</a:t>
            </a:r>
          </a:p>
        </p:txBody>
      </p:sp>
      <p:grpSp>
        <p:nvGrpSpPr>
          <p:cNvPr id="28" name="risk-cards"/>
          <p:cNvGrpSpPr/>
          <p:nvPr/>
        </p:nvGrpSpPr>
        <p:grpSpPr>
          <a:xfrm>
            <a:off x="609600" y="1485900"/>
            <a:ext cx="10972800" cy="1238250"/>
            <a:chOff x="609600" y="1485900"/>
            <a:chExt cx="10972800" cy="1238250"/>
          </a:xfrm>
        </p:grpSpPr>
        <p:sp>
          <p:nvSpPr>
            <p:cNvPr id="13" name="Rectangle 13"/>
            <p:cNvSpPr/>
            <p:nvPr/>
          </p:nvSpPr>
          <p:spPr>
            <a:xfrm>
              <a:off x="609600" y="1485900"/>
              <a:ext cx="3505200" cy="1238250"/>
            </a:xfrm>
            <a:prstGeom prst="roundRect">
              <a:avLst>
                <a:gd name="adj" fmla="val 6154"/>
              </a:avLst>
            </a:prstGeom>
            <a:solidFill>
              <a:srgbClr val="FFFFFF"/>
            </a:solidFill>
            <a:ln w="14288">
              <a:solidFill>
                <a:srgbClr val="B8CBD3"/>
              </a:solidFill>
            </a:ln>
          </p:spPr>
        </p:sp>
        <p:sp>
          <p:nvSpPr>
            <p:cNvPr id="14" name="TextBox 14"/>
            <p:cNvSpPr txBox="1"/>
            <p:nvPr/>
          </p:nvSpPr>
          <p:spPr>
            <a:xfrm>
              <a:off x="831723" y="1653064"/>
              <a:ext cx="1611140"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Yanlış durum kodu</a:t>
              </a:r>
            </a:p>
          </p:txBody>
        </p:sp>
        <p:sp>
          <p:nvSpPr>
            <p:cNvPr id="15" name="TextBox 15"/>
            <p:cNvSpPr txBox="1"/>
            <p:nvPr/>
          </p:nvSpPr>
          <p:spPr>
            <a:xfrm>
              <a:off x="832866" y="1925002"/>
              <a:ext cx="207906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İstemci hata/başarıyı yanlış</a:t>
              </a:r>
            </a:p>
          </p:txBody>
        </p:sp>
        <p:sp>
          <p:nvSpPr>
            <p:cNvPr id="16" name="TextBox 16"/>
            <p:cNvSpPr txBox="1"/>
            <p:nvPr/>
          </p:nvSpPr>
          <p:spPr>
            <a:xfrm>
              <a:off x="832866" y="2115502"/>
              <a:ext cx="220160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yorumlar; önbellek/log bozulur.</a:t>
              </a:r>
            </a:p>
          </p:txBody>
        </p:sp>
        <p:sp>
          <p:nvSpPr>
            <p:cNvPr id="17" name="TextBox 17"/>
            <p:cNvSpPr txBox="1"/>
            <p:nvPr/>
          </p:nvSpPr>
          <p:spPr>
            <a:xfrm>
              <a:off x="833247" y="2371249"/>
              <a:ext cx="205981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Örn: bulunamayan kayıt için 200</a:t>
              </a:r>
            </a:p>
          </p:txBody>
        </p:sp>
        <p:sp>
          <p:nvSpPr>
            <p:cNvPr id="18" name="Rectangle 18"/>
            <p:cNvSpPr/>
            <p:nvPr/>
          </p:nvSpPr>
          <p:spPr>
            <a:xfrm>
              <a:off x="4343400" y="1485900"/>
              <a:ext cx="3505200" cy="1238250"/>
            </a:xfrm>
            <a:prstGeom prst="roundRect">
              <a:avLst>
                <a:gd name="adj" fmla="val 6154"/>
              </a:avLst>
            </a:prstGeom>
            <a:solidFill>
              <a:srgbClr val="FFFFFF"/>
            </a:solidFill>
            <a:ln w="14288">
              <a:solidFill>
                <a:srgbClr val="B8CBD3"/>
              </a:solidFill>
            </a:ln>
          </p:spPr>
        </p:sp>
        <p:sp>
          <p:nvSpPr>
            <p:cNvPr id="19" name="TextBox 19"/>
            <p:cNvSpPr txBox="1"/>
            <p:nvPr/>
          </p:nvSpPr>
          <p:spPr>
            <a:xfrm>
              <a:off x="4565523" y="1653064"/>
              <a:ext cx="197281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Sızdıran hata gövdesi</a:t>
              </a:r>
            </a:p>
          </p:txBody>
        </p:sp>
        <p:sp>
          <p:nvSpPr>
            <p:cNvPr id="20" name="TextBox 20"/>
            <p:cNvSpPr txBox="1"/>
            <p:nvPr/>
          </p:nvSpPr>
          <p:spPr>
            <a:xfrm>
              <a:off x="4566666" y="1925002"/>
              <a:ext cx="228429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Stack trace, sorgu metni veya iç</a:t>
              </a:r>
            </a:p>
          </p:txBody>
        </p:sp>
        <p:sp>
          <p:nvSpPr>
            <p:cNvPr id="21" name="TextBox 21"/>
            <p:cNvSpPr txBox="1"/>
            <p:nvPr/>
          </p:nvSpPr>
          <p:spPr>
            <a:xfrm>
              <a:off x="4566666" y="2115502"/>
              <a:ext cx="1862366"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yol bilgisi istemciye döner.</a:t>
              </a:r>
            </a:p>
          </p:txBody>
        </p:sp>
        <p:sp>
          <p:nvSpPr>
            <p:cNvPr id="22" name="TextBox 22"/>
            <p:cNvSpPr txBox="1"/>
            <p:nvPr/>
          </p:nvSpPr>
          <p:spPr>
            <a:xfrm>
              <a:off x="4567047" y="2371249"/>
              <a:ext cx="213147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Saldırgana sistem haritası verir</a:t>
              </a:r>
            </a:p>
          </p:txBody>
        </p:sp>
        <p:sp>
          <p:nvSpPr>
            <p:cNvPr id="23" name="Rectangle 23"/>
            <p:cNvSpPr/>
            <p:nvPr/>
          </p:nvSpPr>
          <p:spPr>
            <a:xfrm>
              <a:off x="8077200" y="1485900"/>
              <a:ext cx="3505200" cy="1238250"/>
            </a:xfrm>
            <a:prstGeom prst="roundRect">
              <a:avLst>
                <a:gd name="adj" fmla="val 6154"/>
              </a:avLst>
            </a:prstGeom>
            <a:solidFill>
              <a:srgbClr val="FFFFFF"/>
            </a:solidFill>
            <a:ln w="14288">
              <a:solidFill>
                <a:srgbClr val="B8CBD3"/>
              </a:solidFill>
            </a:ln>
          </p:spPr>
        </p:sp>
        <p:sp>
          <p:nvSpPr>
            <p:cNvPr id="24" name="TextBox 24"/>
            <p:cNvSpPr txBox="1"/>
            <p:nvPr/>
          </p:nvSpPr>
          <p:spPr>
            <a:xfrm>
              <a:off x="8299323" y="1653064"/>
              <a:ext cx="1800712"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Doğrulanmamış girdi</a:t>
              </a:r>
            </a:p>
          </p:txBody>
        </p:sp>
        <p:sp>
          <p:nvSpPr>
            <p:cNvPr id="25" name="TextBox 25"/>
            <p:cNvSpPr txBox="1"/>
            <p:nvPr/>
          </p:nvSpPr>
          <p:spPr>
            <a:xfrm>
              <a:off x="8300466" y="1925002"/>
              <a:ext cx="231243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Gövde/parametreler tür ve sınır</a:t>
              </a:r>
            </a:p>
          </p:txBody>
        </p:sp>
        <p:sp>
          <p:nvSpPr>
            <p:cNvPr id="26" name="TextBox 26"/>
            <p:cNvSpPr txBox="1"/>
            <p:nvPr/>
          </p:nvSpPr>
          <p:spPr>
            <a:xfrm>
              <a:off x="8300466" y="2115502"/>
              <a:ext cx="215920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kontrolünden geçmeden işlenir.</a:t>
              </a:r>
            </a:p>
          </p:txBody>
        </p:sp>
        <p:sp>
          <p:nvSpPr>
            <p:cNvPr id="27" name="TextBox 27"/>
            <p:cNvSpPr txBox="1"/>
            <p:nvPr/>
          </p:nvSpPr>
          <p:spPr>
            <a:xfrm>
              <a:off x="8300847" y="2371249"/>
              <a:ext cx="229656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Beklenmeyen durum kodları doğurur</a:t>
              </a:r>
            </a:p>
          </p:txBody>
        </p:sp>
      </p:grpSp>
      <p:grpSp>
        <p:nvGrpSpPr>
          <p:cNvPr id="38" name="security-principles"/>
          <p:cNvGrpSpPr/>
          <p:nvPr/>
        </p:nvGrpSpPr>
        <p:grpSpPr>
          <a:xfrm>
            <a:off x="601980" y="2981325"/>
            <a:ext cx="5265420" cy="1914525"/>
            <a:chOff x="601980" y="2981325"/>
            <a:chExt cx="5265420" cy="1914525"/>
          </a:xfrm>
        </p:grpSpPr>
        <p:sp>
          <p:nvSpPr>
            <p:cNvPr id="29" name="TextBox 29"/>
            <p:cNvSpPr txBox="1"/>
            <p:nvPr/>
          </p:nvSpPr>
          <p:spPr>
            <a:xfrm>
              <a:off x="601980" y="2981325"/>
              <a:ext cx="181282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İki güvenlik ilkesi</a:t>
              </a:r>
            </a:p>
          </p:txBody>
        </p:sp>
        <p:sp>
          <p:nvSpPr>
            <p:cNvPr id="30" name="Rectangle 30"/>
            <p:cNvSpPr/>
            <p:nvPr/>
          </p:nvSpPr>
          <p:spPr>
            <a:xfrm>
              <a:off x="609600" y="3257550"/>
              <a:ext cx="5257800" cy="762000"/>
            </a:xfrm>
            <a:prstGeom prst="roundRect">
              <a:avLst>
                <a:gd name="adj" fmla="val 10000"/>
              </a:avLst>
            </a:prstGeom>
            <a:solidFill>
              <a:srgbClr val="EAF4F6"/>
            </a:solidFill>
            <a:ln>
              <a:noFill/>
            </a:ln>
          </p:spPr>
        </p:sp>
        <p:sp>
          <p:nvSpPr>
            <p:cNvPr id="31" name="TextBox 31"/>
            <p:cNvSpPr txBox="1"/>
            <p:nvPr/>
          </p:nvSpPr>
          <p:spPr>
            <a:xfrm>
              <a:off x="794385" y="3383756"/>
              <a:ext cx="2113828"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Kimlik bilgisi ipucu vermeme</a:t>
              </a:r>
            </a:p>
          </p:txBody>
        </p:sp>
        <p:sp>
          <p:nvSpPr>
            <p:cNvPr id="32" name="TextBox 32"/>
            <p:cNvSpPr txBox="1"/>
            <p:nvPr/>
          </p:nvSpPr>
          <p:spPr>
            <a:xfrm>
              <a:off x="794766" y="3601402"/>
              <a:ext cx="431291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Hata mesajı "e-posta yok" ile "şifre yanlış"ı ayırt etmemeli.</a:t>
              </a:r>
            </a:p>
          </p:txBody>
        </p:sp>
        <p:sp>
          <p:nvSpPr>
            <p:cNvPr id="33" name="TextBox 33"/>
            <p:cNvSpPr txBox="1"/>
            <p:nvPr/>
          </p:nvSpPr>
          <p:spPr>
            <a:xfrm>
              <a:off x="794766" y="3772852"/>
              <a:ext cx="364767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Aksi hâlde saldırgan kayıtlı hesapları listeleyebilir.</a:t>
              </a:r>
            </a:p>
          </p:txBody>
        </p:sp>
        <p:sp>
          <p:nvSpPr>
            <p:cNvPr id="34" name="Rectangle 34"/>
            <p:cNvSpPr/>
            <p:nvPr/>
          </p:nvSpPr>
          <p:spPr>
            <a:xfrm>
              <a:off x="609600" y="4133850"/>
              <a:ext cx="5257800" cy="762000"/>
            </a:xfrm>
            <a:prstGeom prst="roundRect">
              <a:avLst>
                <a:gd name="adj" fmla="val 10000"/>
              </a:avLst>
            </a:prstGeom>
            <a:solidFill>
              <a:srgbClr val="EAF4F6"/>
            </a:solidFill>
            <a:ln>
              <a:noFill/>
            </a:ln>
          </p:spPr>
        </p:sp>
        <p:sp>
          <p:nvSpPr>
            <p:cNvPr id="35" name="TextBox 35"/>
            <p:cNvSpPr txBox="1"/>
            <p:nvPr/>
          </p:nvSpPr>
          <p:spPr>
            <a:xfrm>
              <a:off x="794385" y="4260056"/>
              <a:ext cx="2169787"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Toplu uç nokta kayıt sınırı</a:t>
              </a:r>
            </a:p>
          </p:txBody>
        </p:sp>
        <p:sp>
          <p:nvSpPr>
            <p:cNvPr id="36" name="TextBox 36"/>
            <p:cNvSpPr txBox="1"/>
            <p:nvPr/>
          </p:nvSpPr>
          <p:spPr>
            <a:xfrm>
              <a:off x="794766" y="4477702"/>
              <a:ext cx="3188489"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Liste/toplu uç noktalarında dönebilecek azami</a:t>
              </a:r>
            </a:p>
          </p:txBody>
        </p:sp>
        <p:sp>
          <p:nvSpPr>
            <p:cNvPr id="37" name="TextBox 37"/>
            <p:cNvSpPr txBox="1"/>
            <p:nvPr/>
          </p:nvSpPr>
          <p:spPr>
            <a:xfrm>
              <a:off x="794766" y="4649152"/>
              <a:ext cx="4241945"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kayıt sayısı sabitlenmelidir (bkz. sayfaBoyutu üst sınırı).</a:t>
              </a:r>
            </a:p>
          </p:txBody>
        </p:sp>
      </p:grpSp>
      <p:grpSp>
        <p:nvGrpSpPr>
          <p:cNvPr id="47" name="logging-panel"/>
          <p:cNvGrpSpPr/>
          <p:nvPr/>
        </p:nvGrpSpPr>
        <p:grpSpPr>
          <a:xfrm>
            <a:off x="6172200" y="2914650"/>
            <a:ext cx="5410200" cy="1981200"/>
            <a:chOff x="6172200" y="2914650"/>
            <a:chExt cx="5410200" cy="1981200"/>
          </a:xfrm>
        </p:grpSpPr>
        <p:sp>
          <p:nvSpPr>
            <p:cNvPr id="39" name="Rectangle 39"/>
            <p:cNvSpPr/>
            <p:nvPr/>
          </p:nvSpPr>
          <p:spPr>
            <a:xfrm>
              <a:off x="6172200" y="2914650"/>
              <a:ext cx="5410200" cy="1981200"/>
            </a:xfrm>
            <a:prstGeom prst="roundRect">
              <a:avLst>
                <a:gd name="adj" fmla="val 3846"/>
              </a:avLst>
            </a:prstGeom>
            <a:solidFill>
              <a:srgbClr val="12355B"/>
            </a:solidFill>
            <a:ln>
              <a:noFill/>
            </a:ln>
          </p:spPr>
        </p:sp>
        <p:sp>
          <p:nvSpPr>
            <p:cNvPr id="40" name="TextBox 40"/>
            <p:cNvSpPr txBox="1"/>
            <p:nvPr/>
          </p:nvSpPr>
          <p:spPr>
            <a:xfrm>
              <a:off x="6394323" y="3062764"/>
              <a:ext cx="2542412" cy="249364"/>
            </a:xfrm>
            <a:prstGeom prst="rect">
              <a:avLst/>
            </a:prstGeom>
            <a:noFill/>
            <a:ln>
              <a:noFill/>
            </a:ln>
          </p:spPr>
          <p:txBody>
            <a:bodyPr wrap="none" lIns="0" tIns="0" rIns="0" bIns="0" anchor="t" anchorCtr="0">
              <a:spAutoFit/>
            </a:bodyPr>
            <a:lstStyle/>
            <a:p>
              <a:pPr algn="l"/>
              <a:r>
                <a:rPr lang="tr-TR" sz="1280" b="1" dirty="0">
                  <a:solidFill>
                    <a:srgbClr val="00A6A6"/>
                  </a:solidFill>
                  <a:latin typeface="+mn-lt"/>
                  <a:ea typeface="+mn-ea"/>
                  <a:cs typeface="+mn-cs"/>
                </a:rPr>
                <a:t>Günlükleme (logging) disiplini</a:t>
              </a:r>
            </a:p>
          </p:txBody>
        </p:sp>
        <p:sp>
          <p:nvSpPr>
            <p:cNvPr id="41" name="TextBox 41"/>
            <p:cNvSpPr txBox="1"/>
            <p:nvPr/>
          </p:nvSpPr>
          <p:spPr>
            <a:xfrm>
              <a:off x="6395466" y="3372802"/>
              <a:ext cx="202239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Başarılı işlem → info seviyesi</a:t>
              </a:r>
            </a:p>
          </p:txBody>
        </p:sp>
        <p:sp>
          <p:nvSpPr>
            <p:cNvPr id="42" name="TextBox 42"/>
            <p:cNvSpPr txBox="1"/>
            <p:nvPr/>
          </p:nvSpPr>
          <p:spPr>
            <a:xfrm>
              <a:off x="6395466" y="3601402"/>
              <a:ext cx="2588649"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İstemci hatası (4xx) → warn seviyesi</a:t>
              </a:r>
            </a:p>
          </p:txBody>
        </p:sp>
        <p:sp>
          <p:nvSpPr>
            <p:cNvPr id="43" name="TextBox 43"/>
            <p:cNvSpPr txBox="1"/>
            <p:nvPr/>
          </p:nvSpPr>
          <p:spPr>
            <a:xfrm>
              <a:off x="6395466" y="3830002"/>
              <a:ext cx="2956507"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Sunucu hatası (5xx) → error + stack trace</a:t>
              </a:r>
            </a:p>
          </p:txBody>
        </p:sp>
        <p:sp>
          <p:nvSpPr>
            <p:cNvPr id="44" name="TextBox 44"/>
            <p:cNvSpPr txBox="1"/>
            <p:nvPr/>
          </p:nvSpPr>
          <p:spPr>
            <a:xfrm>
              <a:off x="6395847" y="4142899"/>
              <a:ext cx="298050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Her log satırı bir hataKodu taşımalı; böylece</a:t>
              </a:r>
            </a:p>
          </p:txBody>
        </p:sp>
        <p:sp>
          <p:nvSpPr>
            <p:cNvPr id="45" name="TextBox 45"/>
            <p:cNvSpPr txBox="1"/>
            <p:nvPr/>
          </p:nvSpPr>
          <p:spPr>
            <a:xfrm>
              <a:off x="6395847" y="4333399"/>
              <a:ext cx="283315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istemci yanıtı ile sunucu günlüğü aynı olayı</a:t>
              </a:r>
            </a:p>
          </p:txBody>
        </p:sp>
        <p:sp>
          <p:nvSpPr>
            <p:cNvPr id="46" name="TextBox 46"/>
            <p:cNvSpPr txBox="1"/>
            <p:nvPr/>
          </p:nvSpPr>
          <p:spPr>
            <a:xfrm>
              <a:off x="6395847" y="4523899"/>
              <a:ext cx="266824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mn-lt"/>
                  <a:ea typeface="+mn-ea"/>
                  <a:cs typeface="+mn-cs"/>
                </a:rPr>
                <a:t>tekilleştirilmiş bir kimlikle eşleştirebilir.</a:t>
              </a:r>
            </a:p>
          </p:txBody>
        </p:sp>
      </p:grpSp>
      <p:grpSp>
        <p:nvGrpSpPr>
          <p:cNvPr id="51" name="owasp-note"/>
          <p:cNvGrpSpPr/>
          <p:nvPr/>
        </p:nvGrpSpPr>
        <p:grpSpPr>
          <a:xfrm>
            <a:off x="609600" y="5124450"/>
            <a:ext cx="10972800" cy="628650"/>
            <a:chOff x="609600" y="5124450"/>
            <a:chExt cx="10972800" cy="628650"/>
          </a:xfrm>
        </p:grpSpPr>
        <p:sp>
          <p:nvSpPr>
            <p:cNvPr id="48" name="Rectangle 48"/>
            <p:cNvSpPr/>
            <p:nvPr/>
          </p:nvSpPr>
          <p:spPr>
            <a:xfrm>
              <a:off x="609600" y="5124450"/>
              <a:ext cx="10972800" cy="628650"/>
            </a:xfrm>
            <a:prstGeom prst="roundRect">
              <a:avLst>
                <a:gd name="adj" fmla="val 12121"/>
              </a:avLst>
            </a:prstGeom>
            <a:solidFill>
              <a:srgbClr val="EAF4F6"/>
            </a:solidFill>
            <a:ln>
              <a:noFill/>
            </a:ln>
          </p:spPr>
        </p:sp>
        <p:sp>
          <p:nvSpPr>
            <p:cNvPr id="49" name="TextBox 49"/>
            <p:cNvSpPr txBox="1"/>
            <p:nvPr/>
          </p:nvSpPr>
          <p:spPr>
            <a:xfrm>
              <a:off x="908304" y="5242560"/>
              <a:ext cx="98587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Referans</a:t>
              </a:r>
            </a:p>
          </p:txBody>
        </p:sp>
        <p:sp>
          <p:nvSpPr>
            <p:cNvPr id="50" name="TextBox 50"/>
            <p:cNvSpPr txBox="1"/>
            <p:nvPr/>
          </p:nvSpPr>
          <p:spPr>
            <a:xfrm>
              <a:off x="908685" y="5479256"/>
              <a:ext cx="851322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OWASP API Security Top 10 — hatalı yetkilendirme, aşırı veri ifşası ve hız sınırlama eksikliği listenin başındadır.</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065474" cy="557403"/>
            <a:chOff x="595122" y="282892"/>
            <a:chExt cx="8065474" cy="557403"/>
          </a:xfrm>
        </p:grpSpPr>
        <p:sp>
          <p:nvSpPr>
            <p:cNvPr id="4" name="TextBox 4"/>
            <p:cNvSpPr txBox="1"/>
            <p:nvPr/>
          </p:nvSpPr>
          <p:spPr>
            <a:xfrm>
              <a:off x="595122" y="282892"/>
              <a:ext cx="80654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 LaboratuvarApi</a:t>
              </a:r>
            </a:p>
          </p:txBody>
        </p:sp>
      </p:grpSp>
      <p:grpSp>
        <p:nvGrpSpPr>
          <p:cNvPr id="8" name="intro-note"/>
          <p:cNvGrpSpPr/>
          <p:nvPr/>
        </p:nvGrpSpPr>
        <p:grpSpPr>
          <a:xfrm>
            <a:off x="609600" y="1104900"/>
            <a:ext cx="10972800" cy="571500"/>
            <a:chOff x="609600" y="1104900"/>
            <a:chExt cx="10972800" cy="571500"/>
          </a:xfrm>
        </p:grpSpPr>
        <p:sp>
          <p:nvSpPr>
            <p:cNvPr id="6" name="Rectangle 6"/>
            <p:cNvSpPr/>
            <p:nvPr/>
          </p:nvSpPr>
          <p:spPr>
            <a:xfrm>
              <a:off x="609600" y="1104900"/>
              <a:ext cx="10972800" cy="571500"/>
            </a:xfrm>
            <a:prstGeom prst="roundRect">
              <a:avLst>
                <a:gd name="adj" fmla="val 13333"/>
              </a:avLst>
            </a:prstGeom>
            <a:solidFill>
              <a:srgbClr val="EAF4F6"/>
            </a:solidFill>
            <a:ln>
              <a:noFill/>
            </a:ln>
          </p:spPr>
        </p:sp>
        <p:sp>
          <p:nvSpPr>
            <p:cNvPr id="7" name="TextBox 7"/>
            <p:cNvSpPr txBox="1"/>
            <p:nvPr/>
          </p:nvSpPr>
          <p:spPr>
            <a:xfrm>
              <a:off x="908304" y="1318260"/>
              <a:ext cx="86575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LaboratuvarApi sınıfı; oluşturma, okuma, listeleme ve güncelleme metotlarını tek sözleşme altında toplar.</a:t>
              </a:r>
            </a:p>
          </p:txBody>
        </p:sp>
      </p:grpSp>
      <p:grpSp>
        <p:nvGrpSpPr>
          <p:cNvPr id="37" name="endpoint-table"/>
          <p:cNvGrpSpPr/>
          <p:nvPr/>
        </p:nvGrpSpPr>
        <p:grpSpPr>
          <a:xfrm>
            <a:off x="609600" y="1828800"/>
            <a:ext cx="10972800" cy="2990850"/>
            <a:chOff x="609600" y="1828800"/>
            <a:chExt cx="10972800" cy="2990850"/>
          </a:xfrm>
        </p:grpSpPr>
        <p:sp>
          <p:nvSpPr>
            <p:cNvPr id="9" name="Rectangle 9"/>
            <p:cNvSpPr/>
            <p:nvPr/>
          </p:nvSpPr>
          <p:spPr>
            <a:xfrm>
              <a:off x="609600" y="1828800"/>
              <a:ext cx="10972800" cy="361950"/>
            </a:xfrm>
            <a:prstGeom prst="rect">
              <a:avLst/>
            </a:prstGeom>
            <a:solidFill>
              <a:srgbClr val="12355B"/>
            </a:solidFill>
            <a:ln>
              <a:noFill/>
            </a:ln>
          </p:spPr>
        </p:sp>
        <p:sp>
          <p:nvSpPr>
            <p:cNvPr id="10" name="TextBox 10"/>
            <p:cNvSpPr txBox="1"/>
            <p:nvPr/>
          </p:nvSpPr>
          <p:spPr>
            <a:xfrm>
              <a:off x="756666" y="1944052"/>
              <a:ext cx="108178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METOT + YOL</a:t>
              </a:r>
            </a:p>
          </p:txBody>
        </p:sp>
        <p:sp>
          <p:nvSpPr>
            <p:cNvPr id="11" name="TextBox 11"/>
            <p:cNvSpPr txBox="1"/>
            <p:nvPr/>
          </p:nvSpPr>
          <p:spPr>
            <a:xfrm>
              <a:off x="3995166" y="1944052"/>
              <a:ext cx="48459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İŞLEV</a:t>
              </a:r>
            </a:p>
          </p:txBody>
        </p:sp>
        <p:sp>
          <p:nvSpPr>
            <p:cNvPr id="12" name="TextBox 12"/>
            <p:cNvSpPr txBox="1"/>
            <p:nvPr/>
          </p:nvSpPr>
          <p:spPr>
            <a:xfrm>
              <a:off x="8948166" y="1944052"/>
              <a:ext cx="992711"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DURUM KODU</a:t>
              </a:r>
            </a:p>
          </p:txBody>
        </p:sp>
        <p:sp>
          <p:nvSpPr>
            <p:cNvPr id="13" name="Rectangle 13"/>
            <p:cNvSpPr/>
            <p:nvPr/>
          </p:nvSpPr>
          <p:spPr>
            <a:xfrm>
              <a:off x="609600" y="2190750"/>
              <a:ext cx="10972800" cy="438150"/>
            </a:xfrm>
            <a:prstGeom prst="rect">
              <a:avLst/>
            </a:prstGeom>
            <a:solidFill>
              <a:srgbClr val="FFFFFF"/>
            </a:solidFill>
            <a:ln>
              <a:noFill/>
            </a:ln>
          </p:spPr>
        </p:sp>
        <p:sp>
          <p:nvSpPr>
            <p:cNvPr id="14" name="TextBox 14"/>
            <p:cNvSpPr txBox="1"/>
            <p:nvPr/>
          </p:nvSpPr>
          <p:spPr>
            <a:xfrm>
              <a:off x="756666" y="2344102"/>
              <a:ext cx="1503463"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GET /api/ekipmanlar</a:t>
              </a:r>
            </a:p>
          </p:txBody>
        </p:sp>
        <p:sp>
          <p:nvSpPr>
            <p:cNvPr id="15" name="TextBox 15"/>
            <p:cNvSpPr txBox="1"/>
            <p:nvPr/>
          </p:nvSpPr>
          <p:spPr>
            <a:xfrm>
              <a:off x="3995166" y="2344102"/>
              <a:ext cx="2163547"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Sayfalanmış, filtrelenmiş liste</a:t>
              </a:r>
            </a:p>
          </p:txBody>
        </p:sp>
        <p:sp>
          <p:nvSpPr>
            <p:cNvPr id="16" name="TextBox 16"/>
            <p:cNvSpPr txBox="1"/>
            <p:nvPr/>
          </p:nvSpPr>
          <p:spPr>
            <a:xfrm>
              <a:off x="8948166" y="2344102"/>
              <a:ext cx="25555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200</a:t>
              </a:r>
            </a:p>
          </p:txBody>
        </p:sp>
        <p:sp>
          <p:nvSpPr>
            <p:cNvPr id="17" name="Rectangle 17"/>
            <p:cNvSpPr/>
            <p:nvPr/>
          </p:nvSpPr>
          <p:spPr>
            <a:xfrm>
              <a:off x="609600" y="2628900"/>
              <a:ext cx="10972800" cy="438150"/>
            </a:xfrm>
            <a:prstGeom prst="rect">
              <a:avLst/>
            </a:prstGeom>
            <a:solidFill>
              <a:srgbClr val="EAF4F6"/>
            </a:solidFill>
            <a:ln>
              <a:noFill/>
            </a:ln>
          </p:spPr>
        </p:sp>
        <p:sp>
          <p:nvSpPr>
            <p:cNvPr id="18" name="TextBox 18"/>
            <p:cNvSpPr txBox="1"/>
            <p:nvPr/>
          </p:nvSpPr>
          <p:spPr>
            <a:xfrm>
              <a:off x="756666" y="2782252"/>
              <a:ext cx="1815627"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GET /api/ekipmanlar/:id</a:t>
              </a:r>
            </a:p>
          </p:txBody>
        </p:sp>
        <p:sp>
          <p:nvSpPr>
            <p:cNvPr id="19" name="TextBox 19"/>
            <p:cNvSpPr txBox="1"/>
            <p:nvPr/>
          </p:nvSpPr>
          <p:spPr>
            <a:xfrm>
              <a:off x="3995166" y="2782252"/>
              <a:ext cx="173250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Tekil kaynak görüntüleme</a:t>
              </a:r>
            </a:p>
          </p:txBody>
        </p:sp>
        <p:sp>
          <p:nvSpPr>
            <p:cNvPr id="20" name="TextBox 20"/>
            <p:cNvSpPr txBox="1"/>
            <p:nvPr/>
          </p:nvSpPr>
          <p:spPr>
            <a:xfrm>
              <a:off x="8948166" y="2782252"/>
              <a:ext cx="671131"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200 / 404</a:t>
              </a:r>
            </a:p>
          </p:txBody>
        </p:sp>
        <p:sp>
          <p:nvSpPr>
            <p:cNvPr id="21" name="Rectangle 21"/>
            <p:cNvSpPr/>
            <p:nvPr/>
          </p:nvSpPr>
          <p:spPr>
            <a:xfrm>
              <a:off x="609600" y="3067050"/>
              <a:ext cx="10972800" cy="438150"/>
            </a:xfrm>
            <a:prstGeom prst="rect">
              <a:avLst/>
            </a:prstGeom>
            <a:solidFill>
              <a:srgbClr val="FFFFFF"/>
            </a:solidFill>
            <a:ln>
              <a:noFill/>
            </a:ln>
          </p:spPr>
        </p:sp>
        <p:sp>
          <p:nvSpPr>
            <p:cNvPr id="22" name="TextBox 22"/>
            <p:cNvSpPr txBox="1"/>
            <p:nvPr/>
          </p:nvSpPr>
          <p:spPr>
            <a:xfrm>
              <a:off x="756666" y="3220402"/>
              <a:ext cx="1586237"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POST /api/ekipmanlar</a:t>
              </a:r>
            </a:p>
          </p:txBody>
        </p:sp>
        <p:sp>
          <p:nvSpPr>
            <p:cNvPr id="23" name="TextBox 23"/>
            <p:cNvSpPr txBox="1"/>
            <p:nvPr/>
          </p:nvSpPr>
          <p:spPr>
            <a:xfrm>
              <a:off x="3995166" y="3220402"/>
              <a:ext cx="203656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Yeni ekipman kaydı oluşturma</a:t>
              </a:r>
            </a:p>
          </p:txBody>
        </p:sp>
        <p:sp>
          <p:nvSpPr>
            <p:cNvPr id="24" name="TextBox 24"/>
            <p:cNvSpPr txBox="1"/>
            <p:nvPr/>
          </p:nvSpPr>
          <p:spPr>
            <a:xfrm>
              <a:off x="8948166" y="3220402"/>
              <a:ext cx="671131"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201 / 400</a:t>
              </a:r>
            </a:p>
          </p:txBody>
        </p:sp>
        <p:sp>
          <p:nvSpPr>
            <p:cNvPr id="25" name="Rectangle 25"/>
            <p:cNvSpPr/>
            <p:nvPr/>
          </p:nvSpPr>
          <p:spPr>
            <a:xfrm>
              <a:off x="609600" y="3505200"/>
              <a:ext cx="10972800" cy="438150"/>
            </a:xfrm>
            <a:prstGeom prst="rect">
              <a:avLst/>
            </a:prstGeom>
            <a:solidFill>
              <a:srgbClr val="EAF4F6"/>
            </a:solidFill>
            <a:ln>
              <a:noFill/>
            </a:ln>
          </p:spPr>
        </p:sp>
        <p:sp>
          <p:nvSpPr>
            <p:cNvPr id="26" name="TextBox 26"/>
            <p:cNvSpPr txBox="1"/>
            <p:nvPr/>
          </p:nvSpPr>
          <p:spPr>
            <a:xfrm>
              <a:off x="756666" y="3658552"/>
              <a:ext cx="1981748"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PATCH /api/ekipmanlar/:id</a:t>
              </a:r>
            </a:p>
          </p:txBody>
        </p:sp>
        <p:sp>
          <p:nvSpPr>
            <p:cNvPr id="27" name="TextBox 27"/>
            <p:cNvSpPr txBox="1"/>
            <p:nvPr/>
          </p:nvSpPr>
          <p:spPr>
            <a:xfrm>
              <a:off x="3995166" y="3658552"/>
              <a:ext cx="206553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Kısmi güncelleme (ör. durum)</a:t>
              </a:r>
            </a:p>
          </p:txBody>
        </p:sp>
        <p:sp>
          <p:nvSpPr>
            <p:cNvPr id="28" name="TextBox 28"/>
            <p:cNvSpPr txBox="1"/>
            <p:nvPr/>
          </p:nvSpPr>
          <p:spPr>
            <a:xfrm>
              <a:off x="8948166" y="3658552"/>
              <a:ext cx="671131"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200 / 404</a:t>
              </a:r>
            </a:p>
          </p:txBody>
        </p:sp>
        <p:sp>
          <p:nvSpPr>
            <p:cNvPr id="29" name="Rectangle 29"/>
            <p:cNvSpPr/>
            <p:nvPr/>
          </p:nvSpPr>
          <p:spPr>
            <a:xfrm>
              <a:off x="609600" y="3943350"/>
              <a:ext cx="10972800" cy="438150"/>
            </a:xfrm>
            <a:prstGeom prst="rect">
              <a:avLst/>
            </a:prstGeom>
            <a:solidFill>
              <a:srgbClr val="FFFFFF"/>
            </a:solidFill>
            <a:ln>
              <a:noFill/>
            </a:ln>
          </p:spPr>
        </p:sp>
        <p:sp>
          <p:nvSpPr>
            <p:cNvPr id="30" name="TextBox 30"/>
            <p:cNvSpPr txBox="1"/>
            <p:nvPr/>
          </p:nvSpPr>
          <p:spPr>
            <a:xfrm>
              <a:off x="756666" y="4096702"/>
              <a:ext cx="2374643"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DELETE /api/rezervasyonlar/:id</a:t>
              </a:r>
            </a:p>
          </p:txBody>
        </p:sp>
        <p:sp>
          <p:nvSpPr>
            <p:cNvPr id="31" name="TextBox 31"/>
            <p:cNvSpPr txBox="1"/>
            <p:nvPr/>
          </p:nvSpPr>
          <p:spPr>
            <a:xfrm>
              <a:off x="3995166" y="4096702"/>
              <a:ext cx="127288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Rezervasyon iptali</a:t>
              </a:r>
            </a:p>
          </p:txBody>
        </p:sp>
        <p:sp>
          <p:nvSpPr>
            <p:cNvPr id="32" name="TextBox 32"/>
            <p:cNvSpPr txBox="1"/>
            <p:nvPr/>
          </p:nvSpPr>
          <p:spPr>
            <a:xfrm>
              <a:off x="8948166" y="4096702"/>
              <a:ext cx="671131"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204 / 404</a:t>
              </a:r>
            </a:p>
          </p:txBody>
        </p:sp>
        <p:sp>
          <p:nvSpPr>
            <p:cNvPr id="33" name="Rectangle 33"/>
            <p:cNvSpPr/>
            <p:nvPr/>
          </p:nvSpPr>
          <p:spPr>
            <a:xfrm>
              <a:off x="609600" y="4381500"/>
              <a:ext cx="10972800" cy="438150"/>
            </a:xfrm>
            <a:prstGeom prst="rect">
              <a:avLst/>
            </a:prstGeom>
            <a:solidFill>
              <a:srgbClr val="EAF4F6"/>
            </a:solidFill>
            <a:ln>
              <a:noFill/>
            </a:ln>
          </p:spPr>
        </p:sp>
        <p:sp>
          <p:nvSpPr>
            <p:cNvPr id="34" name="TextBox 34"/>
            <p:cNvSpPr txBox="1"/>
            <p:nvPr/>
          </p:nvSpPr>
          <p:spPr>
            <a:xfrm>
              <a:off x="756666" y="4534852"/>
              <a:ext cx="2514092"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GET /api/ekipmanlar?durum=musait</a:t>
              </a:r>
            </a:p>
          </p:txBody>
        </p:sp>
        <p:sp>
          <p:nvSpPr>
            <p:cNvPr id="35" name="TextBox 35"/>
            <p:cNvSpPr txBox="1"/>
            <p:nvPr/>
          </p:nvSpPr>
          <p:spPr>
            <a:xfrm>
              <a:off x="3995166" y="4534852"/>
              <a:ext cx="205039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Filtrelenmiş uygunluk sorgusu</a:t>
              </a:r>
            </a:p>
          </p:txBody>
        </p:sp>
        <p:sp>
          <p:nvSpPr>
            <p:cNvPr id="36" name="TextBox 36"/>
            <p:cNvSpPr txBox="1"/>
            <p:nvPr/>
          </p:nvSpPr>
          <p:spPr>
            <a:xfrm>
              <a:off x="8948166" y="4534852"/>
              <a:ext cx="255559" cy="205359"/>
            </a:xfrm>
            <a:prstGeom prst="rect">
              <a:avLst/>
            </a:prstGeom>
            <a:noFill/>
            <a:ln>
              <a:noFill/>
            </a:ln>
          </p:spPr>
          <p:txBody>
            <a:bodyPr wrap="none" lIns="0" tIns="0" rIns="0" bIns="0" anchor="t" anchorCtr="0">
              <a:spAutoFit/>
            </a:bodyPr>
            <a:lstStyle/>
            <a:p>
              <a:pPr algn="l"/>
              <a:r>
                <a:rPr lang="tr-TR" sz="1050" b="1" dirty="0">
                  <a:solidFill>
                    <a:srgbClr val="12355B"/>
                  </a:solidFill>
                  <a:latin typeface="+mn-lt"/>
                  <a:ea typeface="+mn-ea"/>
                  <a:cs typeface="+mn-cs"/>
                </a:rPr>
                <a:t>200</a:t>
              </a:r>
            </a:p>
          </p:txBody>
        </p:sp>
      </p:grpSp>
      <p:grpSp>
        <p:nvGrpSpPr>
          <p:cNvPr id="41" name="class-summary"/>
          <p:cNvGrpSpPr/>
          <p:nvPr/>
        </p:nvGrpSpPr>
        <p:grpSpPr>
          <a:xfrm>
            <a:off x="609600" y="5048250"/>
            <a:ext cx="10972800" cy="666750"/>
            <a:chOff x="609600" y="5048250"/>
            <a:chExt cx="10972800" cy="666750"/>
          </a:xfrm>
        </p:grpSpPr>
        <p:sp>
          <p:nvSpPr>
            <p:cNvPr id="38" name="Rectangle 38"/>
            <p:cNvSpPr/>
            <p:nvPr/>
          </p:nvSpPr>
          <p:spPr>
            <a:xfrm>
              <a:off x="609600" y="5048250"/>
              <a:ext cx="10972800" cy="666750"/>
            </a:xfrm>
            <a:prstGeom prst="roundRect">
              <a:avLst>
                <a:gd name="adj" fmla="val 11429"/>
              </a:avLst>
            </a:prstGeom>
            <a:solidFill>
              <a:srgbClr val="12355B"/>
            </a:solidFill>
            <a:ln>
              <a:noFill/>
            </a:ln>
          </p:spPr>
        </p:sp>
        <p:sp>
          <p:nvSpPr>
            <p:cNvPr id="39" name="TextBox 39"/>
            <p:cNvSpPr txBox="1"/>
            <p:nvPr/>
          </p:nvSpPr>
          <p:spPr>
            <a:xfrm>
              <a:off x="909066" y="5182552"/>
              <a:ext cx="1321372" cy="205359"/>
            </a:xfrm>
            <a:prstGeom prst="rect">
              <a:avLst/>
            </a:prstGeom>
            <a:noFill/>
            <a:ln>
              <a:noFill/>
            </a:ln>
          </p:spPr>
          <p:txBody>
            <a:bodyPr wrap="none" lIns="0" tIns="0" rIns="0" bIns="0" anchor="t" anchorCtr="0">
              <a:spAutoFit/>
            </a:bodyPr>
            <a:lstStyle/>
            <a:p>
              <a:pPr algn="l"/>
              <a:r>
                <a:rPr lang="tr-TR" sz="1050" b="1" dirty="0">
                  <a:solidFill>
                    <a:srgbClr val="00A6A6"/>
                  </a:solidFill>
                  <a:latin typeface="+mn-lt"/>
                  <a:ea typeface="+mn-ea"/>
                  <a:cs typeface="+mn-cs"/>
                </a:rPr>
                <a:t>Sınıf sorumluluğu</a:t>
              </a:r>
            </a:p>
          </p:txBody>
        </p:sp>
        <p:sp>
          <p:nvSpPr>
            <p:cNvPr id="40" name="TextBox 40"/>
            <p:cNvSpPr txBox="1"/>
            <p:nvPr/>
          </p:nvSpPr>
          <p:spPr>
            <a:xfrm>
              <a:off x="909066" y="5411152"/>
              <a:ext cx="8830970" cy="205359"/>
            </a:xfrm>
            <a:prstGeom prst="rect">
              <a:avLst/>
            </a:prstGeom>
            <a:noFill/>
            <a:ln>
              <a:noFill/>
            </a:ln>
          </p:spPr>
          <p:txBody>
            <a:bodyPr wrap="none" lIns="0" tIns="0" rIns="0" bIns="0" anchor="t" anchorCtr="0">
              <a:spAutoFit/>
            </a:bodyPr>
            <a:lstStyle/>
            <a:p>
              <a:pPr algn="l"/>
              <a:r>
                <a:rPr lang="tr-TR" sz="1050" dirty="0">
                  <a:solidFill>
                    <a:srgbClr val="EAF4F6"/>
                  </a:solidFill>
                  <a:latin typeface="+mn-lt"/>
                  <a:ea typeface="+mn-ea"/>
                  <a:cs typeface="+mn-cs"/>
                </a:rPr>
                <a:t>olustur/getir/listele/guncelle metotları; her biri 400/404 kontrollerini sırasıyla uygular, en son 200/201 ile başarıyı bildirir.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270856" cy="557403"/>
            <a:chOff x="595122" y="282892"/>
            <a:chExt cx="4270856" cy="557403"/>
          </a:xfrm>
        </p:grpSpPr>
        <p:sp>
          <p:nvSpPr>
            <p:cNvPr id="4" name="TextBox 4"/>
            <p:cNvSpPr txBox="1"/>
            <p:nvPr/>
          </p:nvSpPr>
          <p:spPr>
            <a:xfrm>
              <a:off x="595122" y="282892"/>
              <a:ext cx="42708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Değerlendirme rubriği</a:t>
              </a:r>
            </a:p>
          </p:txBody>
        </p:sp>
      </p:grpSp>
      <p:grpSp>
        <p:nvGrpSpPr>
          <p:cNvPr id="31" name="rubric-table"/>
          <p:cNvGrpSpPr/>
          <p:nvPr/>
        </p:nvGrpSpPr>
        <p:grpSpPr>
          <a:xfrm>
            <a:off x="609600" y="1143000"/>
            <a:ext cx="10972800" cy="3810000"/>
            <a:chOff x="609600" y="1143000"/>
            <a:chExt cx="10972800" cy="3810000"/>
          </a:xfrm>
        </p:grpSpPr>
        <p:sp>
          <p:nvSpPr>
            <p:cNvPr id="6" name="Rectangle 6"/>
            <p:cNvSpPr/>
            <p:nvPr/>
          </p:nvSpPr>
          <p:spPr>
            <a:xfrm>
              <a:off x="609600" y="1143000"/>
              <a:ext cx="10972800" cy="381000"/>
            </a:xfrm>
            <a:prstGeom prst="rect">
              <a:avLst/>
            </a:prstGeom>
            <a:solidFill>
              <a:srgbClr val="12355B"/>
            </a:solidFill>
            <a:ln>
              <a:noFill/>
            </a:ln>
          </p:spPr>
        </p:sp>
        <p:sp>
          <p:nvSpPr>
            <p:cNvPr id="7" name="TextBox 7"/>
            <p:cNvSpPr txBox="1"/>
            <p:nvPr/>
          </p:nvSpPr>
          <p:spPr>
            <a:xfrm>
              <a:off x="756666" y="1277302"/>
              <a:ext cx="48459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ÖLÇÜT</a:t>
              </a:r>
            </a:p>
          </p:txBody>
        </p:sp>
        <p:sp>
          <p:nvSpPr>
            <p:cNvPr id="8" name="TextBox 8"/>
            <p:cNvSpPr txBox="1"/>
            <p:nvPr/>
          </p:nvSpPr>
          <p:spPr>
            <a:xfrm>
              <a:off x="3804666" y="1277302"/>
              <a:ext cx="1000552"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GELİŞMEKTE</a:t>
              </a:r>
            </a:p>
          </p:txBody>
        </p:sp>
        <p:sp>
          <p:nvSpPr>
            <p:cNvPr id="9" name="TextBox 9"/>
            <p:cNvSpPr txBox="1"/>
            <p:nvPr/>
          </p:nvSpPr>
          <p:spPr>
            <a:xfrm>
              <a:off x="6395466" y="1277302"/>
              <a:ext cx="678431"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YETERLİ</a:t>
              </a:r>
            </a:p>
          </p:txBody>
        </p:sp>
        <p:sp>
          <p:nvSpPr>
            <p:cNvPr id="10" name="TextBox 10"/>
            <p:cNvSpPr txBox="1"/>
            <p:nvPr/>
          </p:nvSpPr>
          <p:spPr>
            <a:xfrm>
              <a:off x="8986266" y="1277302"/>
              <a:ext cx="484594"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GÜÇLÜ</a:t>
              </a:r>
            </a:p>
          </p:txBody>
        </p:sp>
        <p:sp>
          <p:nvSpPr>
            <p:cNvPr id="11" name="Rectangle 11"/>
            <p:cNvSpPr/>
            <p:nvPr/>
          </p:nvSpPr>
          <p:spPr>
            <a:xfrm>
              <a:off x="609600" y="1524000"/>
              <a:ext cx="10972800" cy="857250"/>
            </a:xfrm>
            <a:prstGeom prst="rect">
              <a:avLst/>
            </a:prstGeom>
            <a:solidFill>
              <a:srgbClr val="FFFFFF"/>
            </a:solidFill>
            <a:ln>
              <a:noFill/>
            </a:ln>
          </p:spPr>
        </p:sp>
        <p:sp>
          <p:nvSpPr>
            <p:cNvPr id="12" name="TextBox 12"/>
            <p:cNvSpPr txBox="1"/>
            <p:nvPr/>
          </p:nvSpPr>
          <p:spPr>
            <a:xfrm>
              <a:off x="755904" y="1699260"/>
              <a:ext cx="788289"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Kaynak</a:t>
              </a:r>
              <a:br/>
              <a:r>
                <a:rPr lang="tr-TR" sz="1200" b="1" dirty="0">
                  <a:solidFill>
                    <a:srgbClr val="12355B"/>
                  </a:solidFill>
                  <a:latin typeface="+mn-lt"/>
                  <a:ea typeface="+mn-ea"/>
                  <a:cs typeface="+mn-cs"/>
                </a:rPr>
                <a:t>modelleme</a:t>
              </a:r>
            </a:p>
          </p:txBody>
        </p:sp>
        <p:sp>
          <p:nvSpPr>
            <p:cNvPr id="13" name="TextBox 13"/>
            <p:cNvSpPr txBox="1"/>
            <p:nvPr/>
          </p:nvSpPr>
          <p:spPr>
            <a:xfrm>
              <a:off x="3805047" y="1761649"/>
              <a:ext cx="1186053"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URI'lerde fiil veya</a:t>
              </a:r>
              <a:br/>
              <a:r>
                <a:rPr lang="tr-TR" sz="980" dirty="0">
                  <a:solidFill>
                    <a:srgbClr val="52616B"/>
                  </a:solidFill>
                  <a:latin typeface="+mn-lt"/>
                  <a:ea typeface="+mn-ea"/>
                  <a:cs typeface="+mn-cs"/>
                </a:rPr>
                <a:t>tekil/çoğul karışık</a:t>
              </a:r>
            </a:p>
          </p:txBody>
        </p:sp>
        <p:sp>
          <p:nvSpPr>
            <p:cNvPr id="14" name="TextBox 14"/>
            <p:cNvSpPr txBox="1"/>
            <p:nvPr/>
          </p:nvSpPr>
          <p:spPr>
            <a:xfrm>
              <a:off x="6395847" y="1761649"/>
              <a:ext cx="1148715"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Çoğul, küçük harf,</a:t>
              </a:r>
              <a:br/>
              <a:r>
                <a:rPr lang="tr-TR" sz="980" dirty="0">
                  <a:solidFill>
                    <a:srgbClr val="52616B"/>
                  </a:solidFill>
                  <a:latin typeface="+mn-lt"/>
                  <a:ea typeface="+mn-ea"/>
                  <a:cs typeface="+mn-cs"/>
                </a:rPr>
                <a:t>tire kuralına uyar</a:t>
              </a:r>
            </a:p>
          </p:txBody>
        </p:sp>
        <p:sp>
          <p:nvSpPr>
            <p:cNvPr id="15" name="TextBox 15"/>
            <p:cNvSpPr txBox="1"/>
            <p:nvPr/>
          </p:nvSpPr>
          <p:spPr>
            <a:xfrm>
              <a:off x="8986647" y="1761649"/>
              <a:ext cx="1534541"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Hiyerarşi ve sahiplik</a:t>
              </a:r>
              <a:br/>
              <a:r>
                <a:rPr lang="tr-TR" sz="980" dirty="0">
                  <a:solidFill>
                    <a:srgbClr val="52616B"/>
                  </a:solidFill>
                  <a:latin typeface="+mn-lt"/>
                  <a:ea typeface="+mn-ea"/>
                  <a:cs typeface="+mn-cs"/>
                </a:rPr>
                <a:t>ilişkisi de doğru kurulmuş</a:t>
              </a:r>
            </a:p>
          </p:txBody>
        </p:sp>
        <p:sp>
          <p:nvSpPr>
            <p:cNvPr id="16" name="Rectangle 16"/>
            <p:cNvSpPr/>
            <p:nvPr/>
          </p:nvSpPr>
          <p:spPr>
            <a:xfrm>
              <a:off x="609600" y="2381250"/>
              <a:ext cx="10972800" cy="857250"/>
            </a:xfrm>
            <a:prstGeom prst="rect">
              <a:avLst/>
            </a:prstGeom>
            <a:solidFill>
              <a:srgbClr val="EAF4F6"/>
            </a:solidFill>
            <a:ln>
              <a:noFill/>
            </a:ln>
          </p:spPr>
        </p:sp>
        <p:sp>
          <p:nvSpPr>
            <p:cNvPr id="17" name="TextBox 17"/>
            <p:cNvSpPr txBox="1"/>
            <p:nvPr/>
          </p:nvSpPr>
          <p:spPr>
            <a:xfrm>
              <a:off x="755904" y="2556510"/>
              <a:ext cx="492252"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Metot</a:t>
              </a:r>
              <a:br/>
              <a:r>
                <a:rPr lang="tr-TR" sz="1200" b="1" dirty="0">
                  <a:solidFill>
                    <a:srgbClr val="12355B"/>
                  </a:solidFill>
                  <a:latin typeface="+mn-lt"/>
                  <a:ea typeface="+mn-ea"/>
                  <a:cs typeface="+mn-cs"/>
                </a:rPr>
                <a:t>seçimi</a:t>
              </a:r>
            </a:p>
          </p:txBody>
        </p:sp>
        <p:sp>
          <p:nvSpPr>
            <p:cNvPr id="18" name="TextBox 18"/>
            <p:cNvSpPr txBox="1"/>
            <p:nvPr/>
          </p:nvSpPr>
          <p:spPr>
            <a:xfrm>
              <a:off x="3805047" y="2618899"/>
              <a:ext cx="737997"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GET yan etki</a:t>
              </a:r>
              <a:br/>
              <a:r>
                <a:rPr lang="tr-TR" sz="980" dirty="0">
                  <a:solidFill>
                    <a:srgbClr val="52616B"/>
                  </a:solidFill>
                  <a:latin typeface="+mn-lt"/>
                  <a:ea typeface="+mn-ea"/>
                  <a:cs typeface="+mn-cs"/>
                </a:rPr>
                <a:t>yaratıyor</a:t>
              </a:r>
            </a:p>
          </p:txBody>
        </p:sp>
        <p:sp>
          <p:nvSpPr>
            <p:cNvPr id="19" name="TextBox 19"/>
            <p:cNvSpPr txBox="1"/>
            <p:nvPr/>
          </p:nvSpPr>
          <p:spPr>
            <a:xfrm>
              <a:off x="6395847" y="2618899"/>
              <a:ext cx="1173607"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CRUD-HTTP eşlemesi</a:t>
              </a:r>
              <a:br/>
              <a:r>
                <a:rPr lang="tr-TR" sz="980" dirty="0">
                  <a:solidFill>
                    <a:srgbClr val="52616B"/>
                  </a:solidFill>
                  <a:latin typeface="+mn-lt"/>
                  <a:ea typeface="+mn-ea"/>
                  <a:cs typeface="+mn-cs"/>
                </a:rPr>
                <a:t>doğru uygulanmış</a:t>
              </a:r>
            </a:p>
          </p:txBody>
        </p:sp>
        <p:sp>
          <p:nvSpPr>
            <p:cNvPr id="20" name="TextBox 20"/>
            <p:cNvSpPr txBox="1"/>
            <p:nvPr/>
          </p:nvSpPr>
          <p:spPr>
            <a:xfrm>
              <a:off x="8986647" y="2618899"/>
              <a:ext cx="1484757"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PUT/PATCH farkı ve</a:t>
              </a:r>
              <a:br/>
              <a:r>
                <a:rPr lang="tr-TR" sz="980" dirty="0">
                  <a:solidFill>
                    <a:srgbClr val="52616B"/>
                  </a:solidFill>
                  <a:latin typeface="+mn-lt"/>
                  <a:ea typeface="+mn-ea"/>
                  <a:cs typeface="+mn-cs"/>
                </a:rPr>
                <a:t>idempotentlik gözetilmiş</a:t>
              </a:r>
            </a:p>
          </p:txBody>
        </p:sp>
        <p:sp>
          <p:nvSpPr>
            <p:cNvPr id="21" name="Rectangle 21"/>
            <p:cNvSpPr/>
            <p:nvPr/>
          </p:nvSpPr>
          <p:spPr>
            <a:xfrm>
              <a:off x="609600" y="3238500"/>
              <a:ext cx="10972800" cy="857250"/>
            </a:xfrm>
            <a:prstGeom prst="rect">
              <a:avLst/>
            </a:prstGeom>
            <a:solidFill>
              <a:srgbClr val="FFFFFF"/>
            </a:solidFill>
            <a:ln>
              <a:noFill/>
            </a:ln>
          </p:spPr>
        </p:sp>
        <p:sp>
          <p:nvSpPr>
            <p:cNvPr id="22" name="TextBox 22"/>
            <p:cNvSpPr txBox="1"/>
            <p:nvPr/>
          </p:nvSpPr>
          <p:spPr>
            <a:xfrm>
              <a:off x="755904" y="3413760"/>
              <a:ext cx="900303"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Sözleşme</a:t>
              </a:r>
              <a:br/>
              <a:r>
                <a:rPr lang="tr-TR" sz="1200" b="1" dirty="0">
                  <a:solidFill>
                    <a:srgbClr val="12355B"/>
                  </a:solidFill>
                  <a:latin typeface="+mn-lt"/>
                  <a:ea typeface="+mn-ea"/>
                  <a:cs typeface="+mn-cs"/>
                </a:rPr>
                <a:t>tutarlılığı</a:t>
              </a:r>
            </a:p>
          </p:txBody>
        </p:sp>
        <p:sp>
          <p:nvSpPr>
            <p:cNvPr id="23" name="TextBox 23"/>
            <p:cNvSpPr txBox="1"/>
            <p:nvPr/>
          </p:nvSpPr>
          <p:spPr>
            <a:xfrm>
              <a:off x="3805047" y="3476149"/>
              <a:ext cx="1733677"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JSON alan adları</a:t>
              </a:r>
              <a:br/>
              <a:r>
                <a:rPr lang="tr-TR" sz="980" dirty="0">
                  <a:solidFill>
                    <a:srgbClr val="52616B"/>
                  </a:solidFill>
                  <a:latin typeface="+mn-lt"/>
                  <a:ea typeface="+mn-ea"/>
                  <a:cs typeface="+mn-cs"/>
                </a:rPr>
                <a:t>endpoint'ler arası tutarsız</a:t>
              </a:r>
            </a:p>
          </p:txBody>
        </p:sp>
        <p:sp>
          <p:nvSpPr>
            <p:cNvPr id="24" name="TextBox 24"/>
            <p:cNvSpPr txBox="1"/>
            <p:nvPr/>
          </p:nvSpPr>
          <p:spPr>
            <a:xfrm>
              <a:off x="6395847" y="3476149"/>
              <a:ext cx="1659001"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BasariliYanit/HataliYanit</a:t>
              </a:r>
              <a:br/>
              <a:r>
                <a:rPr lang="tr-TR" sz="980" dirty="0">
                  <a:solidFill>
                    <a:srgbClr val="52616B"/>
                  </a:solidFill>
                  <a:latin typeface="+mn-lt"/>
                  <a:ea typeface="+mn-ea"/>
                  <a:cs typeface="+mn-cs"/>
                </a:rPr>
                <a:t>şablonu tutarlı uygulanmış</a:t>
              </a:r>
            </a:p>
          </p:txBody>
        </p:sp>
        <p:sp>
          <p:nvSpPr>
            <p:cNvPr id="25" name="TextBox 25"/>
            <p:cNvSpPr txBox="1"/>
            <p:nvPr/>
          </p:nvSpPr>
          <p:spPr>
            <a:xfrm>
              <a:off x="8986647" y="3476149"/>
              <a:ext cx="1627886"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Sayfalama metadata'sı</a:t>
              </a:r>
              <a:br/>
              <a:r>
                <a:rPr lang="tr-TR" sz="980" dirty="0">
                  <a:solidFill>
                    <a:srgbClr val="52616B"/>
                  </a:solidFill>
                  <a:latin typeface="+mn-lt"/>
                  <a:ea typeface="+mn-ea"/>
                  <a:cs typeface="+mn-cs"/>
                </a:rPr>
                <a:t>da sözleşmeye dahil edilmiş</a:t>
              </a:r>
            </a:p>
          </p:txBody>
        </p:sp>
        <p:sp>
          <p:nvSpPr>
            <p:cNvPr id="26" name="Rectangle 26"/>
            <p:cNvSpPr/>
            <p:nvPr/>
          </p:nvSpPr>
          <p:spPr>
            <a:xfrm>
              <a:off x="609600" y="4095750"/>
              <a:ext cx="10972800" cy="857250"/>
            </a:xfrm>
            <a:prstGeom prst="rect">
              <a:avLst/>
            </a:prstGeom>
            <a:solidFill>
              <a:srgbClr val="EAF4F6"/>
            </a:solidFill>
            <a:ln>
              <a:noFill/>
            </a:ln>
          </p:spPr>
        </p:sp>
        <p:sp>
          <p:nvSpPr>
            <p:cNvPr id="27" name="TextBox 27"/>
            <p:cNvSpPr txBox="1"/>
            <p:nvPr/>
          </p:nvSpPr>
          <p:spPr>
            <a:xfrm>
              <a:off x="755904" y="4271010"/>
              <a:ext cx="884301"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Savunma ve</a:t>
              </a:r>
              <a:br/>
              <a:r>
                <a:rPr lang="tr-TR" sz="1200" b="1" dirty="0">
                  <a:solidFill>
                    <a:srgbClr val="12355B"/>
                  </a:solidFill>
                  <a:latin typeface="+mn-lt"/>
                  <a:ea typeface="+mn-ea"/>
                  <a:cs typeface="+mn-cs"/>
                </a:rPr>
                <a:t>güvenlik</a:t>
              </a:r>
            </a:p>
          </p:txBody>
        </p:sp>
        <p:sp>
          <p:nvSpPr>
            <p:cNvPr id="28" name="TextBox 28"/>
            <p:cNvSpPr txBox="1"/>
            <p:nvPr/>
          </p:nvSpPr>
          <p:spPr>
            <a:xfrm>
              <a:off x="3805047" y="4333399"/>
              <a:ext cx="1210945"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Girdi doğrulanmadan</a:t>
              </a:r>
              <a:br/>
              <a:r>
                <a:rPr lang="tr-TR" sz="980" dirty="0">
                  <a:solidFill>
                    <a:srgbClr val="52616B"/>
                  </a:solidFill>
                  <a:latin typeface="+mn-lt"/>
                  <a:ea typeface="+mn-ea"/>
                  <a:cs typeface="+mn-cs"/>
                </a:rPr>
                <a:t>işleniyor</a:t>
              </a:r>
            </a:p>
          </p:txBody>
        </p:sp>
        <p:sp>
          <p:nvSpPr>
            <p:cNvPr id="29" name="TextBox 29"/>
            <p:cNvSpPr txBox="1"/>
            <p:nvPr/>
          </p:nvSpPr>
          <p:spPr>
            <a:xfrm>
              <a:off x="6395847" y="4333399"/>
              <a:ext cx="1316736"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400/404 senaryoları</a:t>
              </a:r>
              <a:br/>
              <a:r>
                <a:rPr lang="tr-TR" sz="980" dirty="0">
                  <a:solidFill>
                    <a:srgbClr val="52616B"/>
                  </a:solidFill>
                  <a:latin typeface="+mn-lt"/>
                  <a:ea typeface="+mn-ea"/>
                  <a:cs typeface="+mn-cs"/>
                </a:rPr>
                <a:t>ayrı ayrı ele alınmış</a:t>
              </a:r>
            </a:p>
          </p:txBody>
        </p:sp>
        <p:sp>
          <p:nvSpPr>
            <p:cNvPr id="30" name="TextBox 30"/>
            <p:cNvSpPr txBox="1"/>
            <p:nvPr/>
          </p:nvSpPr>
          <p:spPr>
            <a:xfrm>
              <a:off x="8986647" y="4333399"/>
              <a:ext cx="1665224" cy="362141"/>
            </a:xfrm>
            <a:prstGeom prst="rect">
              <a:avLst/>
            </a:prstGeom>
            <a:noFill/>
            <a:ln>
              <a:noFill/>
            </a:ln>
          </p:spPr>
          <p:txBody>
            <a:bodyPr wrap="none" lIns="0" tIns="0" rIns="0" bIns="0" anchor="t" anchorCtr="0">
              <a:spAutoFit/>
            </a:bodyPr>
            <a:lstStyle/>
            <a:p>
              <a:pPr algn="l">
                <a:lnSpc>
                  <a:spcPts val="1350"/>
                </a:lnSpc>
              </a:pPr>
              <a:r>
                <a:rPr lang="tr-TR" sz="980" dirty="0">
                  <a:solidFill>
                    <a:srgbClr val="52616B"/>
                  </a:solidFill>
                  <a:latin typeface="+mn-lt"/>
                  <a:ea typeface="+mn-ea"/>
                  <a:cs typeface="+mn-cs"/>
                </a:rPr>
                <a:t>Hata gövdesi sızıntısız,</a:t>
              </a:r>
              <a:br/>
              <a:r>
                <a:rPr lang="tr-TR" sz="980" dirty="0">
                  <a:solidFill>
                    <a:srgbClr val="52616B"/>
                  </a:solidFill>
                  <a:latin typeface="+mn-lt"/>
                  <a:ea typeface="+mn-ea"/>
                  <a:cs typeface="+mn-cs"/>
                </a:rPr>
                <a:t>günlükleme seviyeleri doğru</a:t>
              </a:r>
            </a:p>
          </p:txBody>
        </p:sp>
      </p:grpSp>
      <p:grpSp>
        <p:nvGrpSpPr>
          <p:cNvPr id="35" name="score-note"/>
          <p:cNvGrpSpPr/>
          <p:nvPr/>
        </p:nvGrpSpPr>
        <p:grpSpPr>
          <a:xfrm>
            <a:off x="609600" y="5334000"/>
            <a:ext cx="10972800" cy="628650"/>
            <a:chOff x="609600" y="5334000"/>
            <a:chExt cx="10972800" cy="628650"/>
          </a:xfrm>
        </p:grpSpPr>
        <p:sp>
          <p:nvSpPr>
            <p:cNvPr id="32" name="Rectangle 32"/>
            <p:cNvSpPr/>
            <p:nvPr/>
          </p:nvSpPr>
          <p:spPr>
            <a:xfrm>
              <a:off x="609600" y="5334000"/>
              <a:ext cx="10972800" cy="628650"/>
            </a:xfrm>
            <a:prstGeom prst="roundRect">
              <a:avLst>
                <a:gd name="adj" fmla="val 12121"/>
              </a:avLst>
            </a:prstGeom>
            <a:solidFill>
              <a:srgbClr val="12355B"/>
            </a:solidFill>
            <a:ln>
              <a:noFill/>
            </a:ln>
          </p:spPr>
        </p:sp>
        <p:sp>
          <p:nvSpPr>
            <p:cNvPr id="33" name="TextBox 33"/>
            <p:cNvSpPr txBox="1"/>
            <p:nvPr/>
          </p:nvSpPr>
          <p:spPr>
            <a:xfrm>
              <a:off x="908685" y="5479256"/>
              <a:ext cx="1108547"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mn-lt"/>
                  <a:ea typeface="+mn-ea"/>
                  <a:cs typeface="+mn-cs"/>
                </a:rPr>
                <a:t>Puanlama eşiği</a:t>
              </a:r>
            </a:p>
          </p:txBody>
        </p:sp>
        <p:sp>
          <p:nvSpPr>
            <p:cNvPr id="34" name="TextBox 34"/>
            <p:cNvSpPr txBox="1"/>
            <p:nvPr/>
          </p:nvSpPr>
          <p:spPr>
            <a:xfrm>
              <a:off x="908685" y="5707856"/>
              <a:ext cx="7231090"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Dört ölçütün toplamında 10 ve üzeri puan, bölümün öğrenme hedeflerinin karşılandığını gösterir.</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kaynak"/>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17635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Kaynak modelleme</a:t>
              </a:r>
            </a:p>
          </p:txBody>
        </p:sp>
        <p:sp>
          <p:nvSpPr>
            <p:cNvPr id="8" name="TextBox 8"/>
            <p:cNvSpPr txBox="1"/>
            <p:nvPr/>
          </p:nvSpPr>
          <p:spPr>
            <a:xfrm>
              <a:off x="832104" y="1908810"/>
              <a:ext cx="2001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URI'ler çoğul isimdir, fiil</a:t>
              </a:r>
              <a:br/>
              <a:r>
                <a:rPr lang="tr-TR" sz="1200" dirty="0">
                  <a:solidFill>
                    <a:srgbClr val="172B3A"/>
                  </a:solidFill>
                  <a:latin typeface="+mn-lt"/>
                  <a:ea typeface="+mn-ea"/>
                  <a:cs typeface="+mn-cs"/>
                </a:rPr>
                <a:t>içermez; hiyerarşi sahiplik</a:t>
              </a:r>
              <a:br/>
              <a:r>
                <a:rPr lang="tr-TR" sz="1200" dirty="0">
                  <a:solidFill>
                    <a:srgbClr val="172B3A"/>
                  </a:solidFill>
                  <a:latin typeface="+mn-lt"/>
                  <a:ea typeface="+mn-ea"/>
                  <a:cs typeface="+mn-cs"/>
                </a:rPr>
                <a:t>ilişkisini yansıtır.</a:t>
              </a:r>
            </a:p>
          </p:txBody>
        </p:sp>
      </p:grpSp>
      <p:grpSp>
        <p:nvGrpSpPr>
          <p:cNvPr id="13" name="summary-crud"/>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24645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CRUD-HTTP eşlemesi</a:t>
              </a:r>
            </a:p>
          </p:txBody>
        </p:sp>
        <p:sp>
          <p:nvSpPr>
            <p:cNvPr id="12" name="TextBox 12"/>
            <p:cNvSpPr txBox="1"/>
            <p:nvPr/>
          </p:nvSpPr>
          <p:spPr>
            <a:xfrm>
              <a:off x="4565904" y="1908810"/>
              <a:ext cx="24734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GET/POST/PUT/PATCH/DELETE</a:t>
              </a:r>
              <a:br/>
              <a:r>
                <a:rPr lang="tr-TR" sz="1200" dirty="0">
                  <a:solidFill>
                    <a:srgbClr val="172B3A"/>
                  </a:solidFill>
                  <a:latin typeface="+mn-lt"/>
                  <a:ea typeface="+mn-ea"/>
                  <a:cs typeface="+mn-cs"/>
                </a:rPr>
                <a:t>her biri güvenlik ve idempotentlik</a:t>
              </a:r>
              <a:br/>
              <a:r>
                <a:rPr lang="tr-TR" sz="1200" dirty="0">
                  <a:solidFill>
                    <a:srgbClr val="172B3A"/>
                  </a:solidFill>
                  <a:latin typeface="+mn-lt"/>
                  <a:ea typeface="+mn-ea"/>
                  <a:cs typeface="+mn-cs"/>
                </a:rPr>
                <a:t>anlamı taşır.</a:t>
              </a:r>
            </a:p>
          </p:txBody>
        </p:sp>
      </p:grpSp>
      <p:grpSp>
        <p:nvGrpSpPr>
          <p:cNvPr id="17" name="summary-status"/>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812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Durum kodu sözleşmesi</a:t>
              </a:r>
            </a:p>
          </p:txBody>
        </p:sp>
        <p:sp>
          <p:nvSpPr>
            <p:cNvPr id="16" name="TextBox 16"/>
            <p:cNvSpPr txBox="1"/>
            <p:nvPr/>
          </p:nvSpPr>
          <p:spPr>
            <a:xfrm>
              <a:off x="8299704" y="1908810"/>
              <a:ext cx="19171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2xx/4xx/5xx sınıfları ile</a:t>
              </a:r>
              <a:br/>
              <a:r>
                <a:rPr lang="tr-TR" sz="1200" dirty="0">
                  <a:solidFill>
                    <a:srgbClr val="172B3A"/>
                  </a:solidFill>
                  <a:latin typeface="+mn-lt"/>
                  <a:ea typeface="+mn-ea"/>
                  <a:cs typeface="+mn-cs"/>
                </a:rPr>
                <a:t>BasariliYanit/HataliYanit</a:t>
              </a:r>
              <a:br/>
              <a:r>
                <a:rPr lang="tr-TR" sz="1200" dirty="0">
                  <a:solidFill>
                    <a:srgbClr val="172B3A"/>
                  </a:solidFill>
                  <a:latin typeface="+mn-lt"/>
                  <a:ea typeface="+mn-ea"/>
                  <a:cs typeface="+mn-cs"/>
                </a:rPr>
                <a:t>şablonu birlikte çalışır.</a:t>
              </a:r>
            </a:p>
          </p:txBody>
        </p:sp>
      </p:grpSp>
      <p:grpSp>
        <p:nvGrpSpPr>
          <p:cNvPr id="21" name="summary-pagination"/>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29648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Sayfalama ve filtreleme</a:t>
              </a:r>
            </a:p>
          </p:txBody>
        </p:sp>
        <p:sp>
          <p:nvSpPr>
            <p:cNvPr id="20" name="TextBox 20"/>
            <p:cNvSpPr txBox="1"/>
            <p:nvPr/>
          </p:nvSpPr>
          <p:spPr>
            <a:xfrm>
              <a:off x="832104" y="3718560"/>
              <a:ext cx="21457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Büyük koleksiyonlar sayfa/</a:t>
              </a:r>
              <a:br/>
              <a:r>
                <a:rPr lang="tr-TR" sz="1200" dirty="0">
                  <a:solidFill>
                    <a:srgbClr val="172B3A"/>
                  </a:solidFill>
                  <a:latin typeface="+mn-lt"/>
                  <a:ea typeface="+mn-ea"/>
                  <a:cs typeface="+mn-cs"/>
                </a:rPr>
                <a:t>sayfaBoyutu metadata'sıyla</a:t>
              </a:r>
              <a:br/>
              <a:r>
                <a:rPr lang="tr-TR" sz="1200" dirty="0">
                  <a:solidFill>
                    <a:srgbClr val="172B3A"/>
                  </a:solidFill>
                  <a:latin typeface="+mn-lt"/>
                  <a:ea typeface="+mn-ea"/>
                  <a:cs typeface="+mn-cs"/>
                </a:rPr>
                <a:t>kontrollü sunulur.</a:t>
              </a:r>
            </a:p>
          </p:txBody>
        </p:sp>
      </p:grpSp>
      <p:grpSp>
        <p:nvGrpSpPr>
          <p:cNvPr id="25" name="summary-debugging"/>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78631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ayıklama disiplini</a:t>
              </a:r>
            </a:p>
          </p:txBody>
        </p:sp>
        <p:sp>
          <p:nvSpPr>
            <p:cNvPr id="24" name="TextBox 24"/>
            <p:cNvSpPr txBox="1"/>
            <p:nvPr/>
          </p:nvSpPr>
          <p:spPr>
            <a:xfrm>
              <a:off x="4565904" y="3718560"/>
              <a:ext cx="18638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Karar izleme tablosu ile</a:t>
              </a:r>
              <a:br/>
              <a:r>
                <a:rPr lang="tr-TR" sz="1200" dirty="0">
                  <a:solidFill>
                    <a:srgbClr val="172B3A"/>
                  </a:solidFill>
                  <a:latin typeface="+mn-lt"/>
                  <a:ea typeface="+mn-ea"/>
                  <a:cs typeface="+mn-cs"/>
                </a:rPr>
                <a:t>koşul, tür ve durum kodu</a:t>
              </a:r>
              <a:br/>
              <a:r>
                <a:rPr lang="tr-TR" sz="1200" dirty="0">
                  <a:solidFill>
                    <a:srgbClr val="172B3A"/>
                  </a:solidFill>
                  <a:latin typeface="+mn-lt"/>
                  <a:ea typeface="+mn-ea"/>
                  <a:cs typeface="+mn-cs"/>
                </a:rPr>
                <a:t>hataları ayrıştırılır.</a:t>
              </a:r>
            </a:p>
          </p:txBody>
        </p:sp>
      </p:grpSp>
      <p:grpSp>
        <p:nvGrpSpPr>
          <p:cNvPr id="29" name="summary-security"/>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271014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Güvenlik farkındalığı</a:t>
              </a:r>
            </a:p>
          </p:txBody>
        </p:sp>
        <p:sp>
          <p:nvSpPr>
            <p:cNvPr id="28" name="TextBox 28"/>
            <p:cNvSpPr txBox="1"/>
            <p:nvPr/>
          </p:nvSpPr>
          <p:spPr>
            <a:xfrm>
              <a:off x="8299704" y="3718560"/>
              <a:ext cx="22067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Hata gövdesi bilgi sızdırmaz;</a:t>
              </a:r>
              <a:br/>
              <a:r>
                <a:rPr lang="tr-TR" sz="1200" dirty="0">
                  <a:solidFill>
                    <a:srgbClr val="172B3A"/>
                  </a:solidFill>
                  <a:latin typeface="+mn-lt"/>
                  <a:ea typeface="+mn-ea"/>
                  <a:cs typeface="+mn-cs"/>
                </a:rPr>
                <a:t>günlükleme seviyeleri olayı</a:t>
              </a:r>
              <a:br/>
              <a:r>
                <a:rPr lang="tr-TR" sz="1200" dirty="0">
                  <a:solidFill>
                    <a:srgbClr val="172B3A"/>
                  </a:solidFill>
                  <a:latin typeface="+mn-lt"/>
                  <a:ea typeface="+mn-ea"/>
                  <a:cs typeface="+mn-cs"/>
                </a:rPr>
                <a:t>izlenebilir kılar.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103171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RESTful API tasarımı, doğru çalışan kodu değil, öngörülebilir sözleşmeyi hedefler.</a:t>
              </a:r>
            </a:p>
          </p:txBody>
        </p:sp>
        <p:sp>
          <p:nvSpPr>
            <p:cNvPr id="32" name="TextBox 32"/>
            <p:cNvSpPr txBox="1"/>
            <p:nvPr/>
          </p:nvSpPr>
          <p:spPr>
            <a:xfrm>
              <a:off x="906399" y="5583079"/>
              <a:ext cx="658466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Her uç nokta, isteyene ne döneceğini önceden söyleyebilmelidir.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888664" cy="724281"/>
            <a:chOff x="599694" y="1484948"/>
            <a:chExt cx="9888664" cy="724281"/>
          </a:xfrm>
        </p:grpSpPr>
        <p:sp>
          <p:nvSpPr>
            <p:cNvPr id="7" name="TextBox 7"/>
            <p:cNvSpPr txBox="1"/>
            <p:nvPr/>
          </p:nvSpPr>
          <p:spPr>
            <a:xfrm>
              <a:off x="599694" y="1484948"/>
              <a:ext cx="9888664"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Rezervasyon modülünün altı endpoint'i, durum kodları ve hata sözleşmesiyle</a:t>
              </a:r>
              <a:br/>
              <a:r>
                <a:rPr lang="tr-TR" sz="1950" dirty="0">
                  <a:solidFill>
                    <a:srgbClr val="172B3A"/>
                  </a:solidFill>
                  <a:latin typeface="+mn-lt"/>
                  <a:ea typeface="+mn-ea"/>
                  <a:cs typeface="+mn-cs"/>
                </a:rPr>
                <a:t>birlikte donduruldu. İyi bir API sözleşmesi, depolama kararından bağımsız yaşar.</a:t>
              </a:r>
            </a:p>
          </p:txBody>
        </p:sp>
      </p:grpSp>
      <p:grpSp>
        <p:nvGrpSpPr>
          <p:cNvPr id="14" name="bridge-now"/>
          <p:cNvGrpSpPr/>
          <p:nvPr/>
        </p:nvGrpSpPr>
        <p:grpSpPr>
          <a:xfrm>
            <a:off x="599694" y="2799398"/>
            <a:ext cx="2964434" cy="1834419"/>
            <a:chOff x="599694" y="2799398"/>
            <a:chExt cx="2964434"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71487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Kaynak, metot ve durum</a:t>
              </a:r>
              <a:br/>
              <a:r>
                <a:rPr lang="tr-TR" sz="1580" dirty="0">
                  <a:solidFill>
                    <a:srgbClr val="172B3A"/>
                  </a:solidFill>
                  <a:latin typeface="+mn-lt"/>
                  <a:ea typeface="+mn-ea"/>
                  <a:cs typeface="+mn-cs"/>
                </a:rPr>
                <a:t>kodu sözleşmesi tasarlamak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45402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Sayfalama ve hata</a:t>
              </a:r>
              <a:br/>
              <a:r>
                <a:rPr lang="tr-TR" sz="1580" dirty="0">
                  <a:solidFill>
                    <a:srgbClr val="172B3A"/>
                  </a:solidFill>
                  <a:latin typeface="+mn-lt"/>
                  <a:ea typeface="+mn-ea"/>
                  <a:cs typeface="+mn-cs"/>
                </a:rPr>
                <a:t>gövdesini güvenle kurmak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168128"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PostgreSQL ile</a:t>
              </a:r>
              <a:br/>
              <a:r>
                <a:rPr lang="tr-TR" sz="2250" b="1" dirty="0">
                  <a:solidFill>
                    <a:srgbClr val="FFFFFF"/>
                  </a:solidFill>
                  <a:latin typeface="+mn-lt"/>
                  <a:ea typeface="+mn-ea"/>
                  <a:cs typeface="+mn-cs"/>
                </a:rPr>
                <a:t>kalıcı veri</a:t>
              </a:r>
            </a:p>
          </p:txBody>
        </p:sp>
        <p:sp>
          <p:nvSpPr>
            <p:cNvPr id="18" name="TextBox 18"/>
            <p:cNvSpPr txBox="1"/>
            <p:nvPr/>
          </p:nvSpPr>
          <p:spPr>
            <a:xfrm>
              <a:off x="7307199" y="4135279"/>
              <a:ext cx="2775077"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Bellek içi listeler veritabanı</a:t>
              </a:r>
              <a:br/>
              <a:r>
                <a:rPr lang="tr-TR" sz="1580" dirty="0">
                  <a:solidFill>
                    <a:srgbClr val="EAF4F6"/>
                  </a:solidFill>
                  <a:latin typeface="+mn-lt"/>
                  <a:ea typeface="+mn-ea"/>
                  <a:cs typeface="+mn-cs"/>
                </a:rPr>
                <a:t>tablolarına taşınacak.</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8083296"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İstemcinin gördüğü URL'ler ve durum kodları değişmeyecek;</a:t>
              </a:r>
              <a:br/>
              <a:r>
                <a:rPr lang="tr-TR" sz="1800" b="1" dirty="0">
                  <a:solidFill>
                    <a:srgbClr val="12355B"/>
                  </a:solidFill>
                  <a:latin typeface="+mn-lt"/>
                  <a:ea typeface="+mn-ea"/>
                  <a:cs typeface="+mn-cs"/>
                </a:rPr>
                <a:t>yalnızca arkalarındaki veri kaynağı bellekten veritabanına geçecek.</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6-http-rest-api-20260915">
  <a:themeElements>
    <a:clrScheme name="b06-http-rest-api-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6-http-rest-api-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6-http-rest-api-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6-http-rest-api-20260915">
  <a:themeElements>
    <a:clrScheme name="b06-http-rest-api-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6-http-rest-api-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6-http-rest-api-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2026-09-19T21:22:06Z</dcterms:created>
  <dcterms:modified xsi:type="dcterms:W3CDTF">2026-09-19T21:22:06Z</dcterms:modified>
  <cp:category/>
  <cp:contentStatus/>
</cp:coreProperties>
</file>