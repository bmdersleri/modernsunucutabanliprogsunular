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bir backend uygulamasının dış dünyayla temas ettiği her noktayı güvenli hâle getirmeyi ele alıyor: gelen veriyi doğrulamak, hataları tutarlı biçimde yönetmek, tarayıcı kökenlerini denetlemek, istek hacmini sınırlamak ve gizli bilgileri koddan ayrı tutmak. Bu beş konu birbirinden bağımsız görünse de aslında aynı ilkeye dayanır: sunucu, kendisine ulaşan hiçbir girdiye veya isteğe koşulsuz güvenmemelidir. Bölüm boyunca her kavram önce teorik kökeniyle, sonra gerçekçi bir kod örneğiyle, ardından yaygın hatalarla birlikte işlenecek. Ders, Prof. Dr. İsmail Kırbaş'ın Modern Sunucu Tabanlı Programlama dersi kapsamında hazırlanmıştır.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Buradaki altı soru, bölümün sonunda tam olarak yanıtlayabilmeniz beklenen kritik sorulardır ve her biri bir sonraki alt başlığa karşılık gelir. İlk soru neden istemciden gelen hiçbir veriye doğrudan güvenilemeyeceğini sorar; bunun basit cevabı, istemci tarafı kodunun her zaman değiştirilebilir veya tamamen atlanabilir olmasıdır. İkinci ve üçüncü sorular sırasıyla merkezi hata yönetiminin route bazlı try/catch'e göre üstünlüğünü ve CORS'un tarayıcıyı hangi tehditten koruduğunu sorguluyor. Kalan sorular rate limiting'in login uç noktalarını hangi saldırıdan koruduğunu, secret'ların neden koda yazılmaması gerektiğini ve bu beş katmanın OWASP API Security kategorileriyle nasıl örtüştüğünü kapsıyor; bu son soru, bölümü sektörel bir güvenlik standardına bağlayarak konunun akademik bir alıştırma değil, gerçek dünyadaki denetim kriterleriyle örtüşen bir pratik olduğunu vurguluyor.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Beş öğrenme hedefi, bölümün teorik kapsamını somut, ölçülebilir becerilere indirgiyor. İlk hedef girdi doğrulamayı harici bir kütüphaneye ihtiyaç duymadan yazabilmeyi hedefliyor; bu, tip sisteminin çalışma zamanında kaybolduğunu (type erasure) anlamayı gerektiriyor. İkinci hedef merkezi hata middleware'i kurmayı, üçüncü hedef ise CORS'un hangi tehdide karşı koruma sağladığını açıklayıp bir allowlist kurabilmeyi kapsıyor — bu üçüncü hedefteki "koruduğu tehdidi açıklamak" ifadesi önemlidir çünkü CORS'un CSRF'i engellemediği yanılgısı bölümün ilerleyen sayfalarında ayrıca ele alınacaktır. Dördüncü ve beşinci hedefler rate limiting stratejisi seçmeyi ve secret'ları ortam değişkenleriyle güvenli biçimde yönetmeyi kapsıyor; her hedefin yanındaki "Ölçüt" satırı, o hedefe ulaşıldığını nasıl test edebileceğinizi somutlaştırıyor.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harita, gelen bir isteğin sunucuya ulaştığında hangi sırayla katmanlardan geçtiğini gösteriyor: önce CORS kararı, sonra rate limiting kontrolü, ardından girdi doğrulama — bunların hepsi düz oklarla istek akışının parçası olarak bağlanmış. Kesikli oklar ise merkezi hata yönetiminin bu üç katmandan herhangi birinde oluşan hatayı nasıl yakaladığını gösteriyor; hata yönetimi bir "akış adımı" değil, diğer katmanların üzerine kurulu bir güvenlik ağıdır. En altta ayrı biçimde vurgulanan secrets yönetimi ise bu dört katmanın hiçbirine dahil olmayan, ama hepsinin çalışması için gerekli olan temel bir katmandır — örneğin CORS'un izin verdiği kökenler veya rate limiting sınırları, uygulama açılışında yüklenen yapılandırma değerlerine dayanabilir. Bu görsel hiyerarşi, bölümün ilerleyen sayfalarında her katmanın neden bu sırayla ve neden bu şekilde ayrıldığının gerekçesini oluşturuyor.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matris, beş güvenlik katmanının her birinin OWASP API Security kategorisiyle eşleşen tek, net bir sorumluluğu olduğunu gösteriyor. Girdi doğrulama ve CORS politikası, sırasıyla "kötü biçimlendirilmiş girdi" ve "yetkisiz köken erişimi" gibi farklı tehdit sınıflarına karşı çalışır; bu ayrım önemlidir çünkü bir katmanın diğerinin işini üstlenmesi beklenmemelidir — CORS asla girdi doğrulamasının, girdi doğrulama da asla rate limiting'in yerini tutmaz. Merkezi hata yönetimi ve sır yönetimi ise diğer dört katmanın "en altında" çalışan, kesme noktası (hata middleware) ve temel yapılandırma sağlayıcısı rolündedir. Tablonun sıkıştırılmış satır yüksekliği, altı satırın tek sayfada karşılaştırmalı biçimde görülebilmesini sağlıyor; bu, dersin ilerleyen bölümlerinde her satırın kendi başına bir alt başlık olarak genişletileceğinin bir önizlemesidir.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Katmanlı savunma (defense in depth) kavramı, NSA'nın 1990'ların sonunda yayımladığı rehberden bu yana, tek bir güvenlik önleminin asla yeterli olmadığı fikrine dayanır — bir katman aşılsa bile arkasındaki katman saldırıyı durdurmalıdır. Saldırı yüzeyi kavramı ise bu fikri somutlaştırır: bir backend'in beş bağımsız giriş noktası (API uç noktaları, kimlik doğrulama akışı, üçüncü taraf entegrasyonları, dosya/veri girişleri ve yapılandırma/secret'lar) olduğu düşünüldüğünde, her birinin ayrı ayrı güvenceye alınması gerektiği açıktır. Alttaki derinlemesine notta vurgulanan nokta, bu bölümün ele aldığı beş konunun rastgele seçilmiş teknikler değil, tam da bu beş saldırı yüzeyine karşılık gelen sistematik bir savunma seti olduğudur. Bu çerçeve, ilerleyen sayfalarda her katmanın neden ayrı ayrı ve neden bu sırayla işlendiğinin kavramsal temelini oluşturur.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bir isteğin katmanlar arasında nasıl "sırayla" işlendiğini soyut bir Katman tipi ve katmandanGecir fonksiyonuyla gösteriyor; sira dizisi, gerçek bir Express uygulamasında middleware'lerin app.use() ile eklenme sırasını temsil ediyor. gelenIstek nesnesi yalnızca cors, rateLimit ve validation katmanlarını içerdiği için döngü authentication katmanında durur ve break ile sonraki katmanlar hiç çalıştırılmaz — bu, bir katmanın reddettiği isteğin bir sonraki katmana asla ulaşmaması gerektiğinin somut kanıtıdır. Katman sırasının rastgele olmadığına dikkat edin: ucuz ve hızlı kontroller (CORS, rate limiting) en dışta, CPU açısından maliyetli kontroller (kimlik doğrulama gibi) daha içeride yer alır; böylece geçersiz veya kötü niyetli bir istek, sunucunun pahalı işlem yapmasından önce reddedilir. Bu sıralama mantığı, bölümün sonundaki uçtan uca örnekte tam olarak uygulanacaktır.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Manuel middleware yazmak öğrenme açısından değerlidir ama üretimde genellikle helmet, cors ve express-rate-limit gibi test edilmiş paketlerin birlikte kullanılması tercih edilir; büyük ölçekli sistemlerde ise bu sorumluluklar tamamen bir API Gateway katmanına devredilebilir. Pentest ve WAF (Web Application Firewall) çözümleri ise bu yaklaşımların hiçbirinin yerini almaz, onları tamamlayan bir dış doğrulama katmanıdır. Sayfanın altındaki yaygın hatalar kısmı iki kritik uyarı içeriyor: yalnızca kimlik doğrulamaya odaklanıp diğer katmanları atlamak ve tüm güvenlik mantığını tek, devasa bir fonksiyona sıkıştırmak. İkinci hata özellikle önemlidir çünkü kod tekrar kullanılabilirliğini ve test edilebilirliğini ortadan kaldırır — her katmanın ayrı bir fonksiyon veya middleware olarak yazılması, hem okunabilirlik hem de birim test yazabilme açısından zorunludur.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Type erasure, yani TypeScript gibi dillerdeki arayüz ve tip tanımlarının derleme sonrası tamamen silinmesi, bu konunun teorik temelini oluşturur: çalışma zamanında yürütülen kod yalnızca ham JavaScript'tir ve gelen JSON verisinin tanımladığınız arayüze uyduğuna dair hiçbir garanti yoktur. Bu yüzden "asla istemciye güvenme" ilkesi yalnızca bir güvenlik sloganı değil, doğrudan bu teknik gerçeklikten doğan bir zorunluluktur. İpucu kutusunda vurgulanan nokta, tip güvenliğinin yalnızca geliştirici deneyimini iyileştiren bir araç olduğu, ağdan gelen veriyi güvenceye almadığıdır. Bir sonraki sayfadaki kod örneği, bu ilkeyi harici bir doğrulama kütüphanesi kullanmadan nasıl uygulayabileceğinizi gösterecek.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kayitIstegiDogrula fonksiyonu, gelen veriyi önce object olup olmadığı açısından kontrol ediyor; bu adım atlanırsa veri.parola gibi bir erişim, veri aslında null veya bir dizi olduğunda çalışma zamanı hatasına yol açar. Fonksiyon ilk hatada durmuyor — her alan için ayrı bir koşul çalıştırılıyor ve tüm hatalar hatalar dizisinde birikiyor; bu tasarım tercihi kullanıcı deneyimi açısından önemlidir çünkü kullanıcı tek bir hatayı düzeltip tekrar denemek yerine, tüm sorunlu alanları tek seferde görebilir. Dönen DogrulamaSonucu nesnesi, gecerliMi alanı ile hatalar dizisini net bir sözleşme hâlinde ayırıyor; bu, çağıran kodun sonucu nasıl yorumlayacağını belirsizlikten kurtarıyor. Bu basit örnek harici bağımlılık gerektirmez, ama gerçek projelerde zod veya class-validator gibi kütüphaneler aynı mantığı çok daha az kod ve daha iyi hata mesajlarıyla sağlar.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Manuel tür koruyucu yazmak (bir önceki sayfadaki gibi) bağımlılık gerektirmez ama büyüdükçe bakımı zorlaşır; zod gibi şema tabanlı kütüphaneler ise hem çalışma zamanı doğrulaması hem de TypeScript tipini tek bir tanımdan türetme imkânı sunar. class-validator, dekoratör tabanlı bir yaklaşımla nesne yönelimli kod tabanlarına daha doğal uyar. Tablodaki en kritik satır, istemci tarafı doğrulamanın "tek başına yetersiz" olarak işaretlenmesidir — bu, bölümün en sık tekrarlanan mesajlarından biridir çünkü istemci kodu her zaman atlanabilir. Alttaki kayitOlGuvensiz örneği, e-posta alanının hiç kontrol edilmeden veritabanına yazıldığı bir senaryoyu gösteriyor; bu tür bir eksiklik, yalnızca kirli veri değil, enjeksiyon saldırılarına açık bir kapı da anlamına gelir.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Chain of Responsibility deseni — Gamma, Helm, Johnson ve Vlissides'ın 1994 tarihli klasik kitabından — bir isteğin birbirine bağlı işleyicilerden geçtiği ve hata durumunda özel bir işleyiciye yönlendirildiği fikrine dayanır; Express'in dört parametreli (err, req, res, next) hata middleware imzası doğrudan bu desenin bir izidir. AppError ile "bilinçli" hata ile beklenmeyen istisna arasındaki ayrım, hangi hata mesajının istemciye güvenle gösterilebileceğine karar vermenin teorik temelidir. Derinlemesine notta belirtildiği gibi, bu yaklaşımın asıl kazancı her route'un kendi hata biçimini icat etmesini önlemesidir — tutarlı bir yanıt sözleşmesi, hem istemci kodunu hem de dokümantasyonu basitleştirir. İzleyen kod örneği, bu ayrımın TypeScript'te somut olarak nasıl uygulandığını gösterecek.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AppError sınıfı, bir HTTP durum koduyla (durumKodu) eşleşen ve mesajı istemciye güvenle gösterilebilecek "bilinçli" hataları temsil eder. merkeziHataIsleyici fonksiyonu bu ayrımı uyguluyor: hata bir AppError ise durum kodu ve mesajı doğrudan döndürülüyor, değilse ayrıntı yalnızca console.error ile sunucu tarafında loglanıyor ve istemciye genel bir "Sunucuda beklenmeyen hata" mesajı gönderiliyor. Yorum satırındaki örnek — kitapBul("SILINMIS") çağrısının bilinçli olarak bir TypeError fırlatması — bunun neden önemli olduğunu gösteriyor: bu hatanın gerçek mesajı (örneğin bir veritabanı sorgu detayı) istemciye asla gösterilmemelidir. Bu ayrım hem güvenlik (iç ayrıntı sızdırmama) hem de hata ayıklama (sunucu tarafında tam bilgi tutma) açısından aynı anda fayda sağlar; bu iki hedef genellikle birbiriyle çelişiyormuş gibi görünse de, AppError deseni ikisini bir arada mümkün kılıyor.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AppError ve middleware yaklaşımı tutarlı ve tek noktadan yönetilebilir olduğu için çoğu web uygulaması için önerilir, ancak her beklenen hatanın açıkça AppError olarak fırlatılmasını gerektirir — bu disiplin eksikse fayda azalır. Route bazlı try/catch basit görünse de kod tekrarına ve tutarsız yanıt biçimlerine yol açar; tablo bunu "küçük ölçek dışında önerilmez" diye açıkça işaretliyor. Result/Either deseni hata akışını tip sisteminde görünür kılar ama ekipten fonksiyonel programlamaya aşinalık ve ek soyutlama kabul etmesini bekler. Alttaki iki yaygın hata özellikle kritik: beklenmeyen bir hatanın (hata as Error).message değerinin doğrudan istemciye döndürülmesi iç yapı bilgisi sızdırır, hata middleware'inin route tanımlarından önce eklenmesi ise middleware'in hiçbir hatayı yakalamamasına yol açar çünkü Express'te dört parametreli middleware'ler tüm route'lardan sonra tanımlanmalıdır.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Same-Origin Policy, 1995'te Netscape Navigator'da JavaScript'in ortaya çıkışıyla birlikte gelen ve bir sayfanın betiğinin yalnızca kendi kökeninden (protokol, alan adı ve port üçlüsü) veri okuyabilmesini sağlayan tarayıcı güvenlik modelinin temelidir. CORS bu politikayı kaldırmaz; sunucunun açıkça izin verdiği kökenler için kontrollü biçimde gevşetir — bu yüzden bir "sunucu güvenlik duvarı" değil, tarayıcının ne zaman engelleme yapacağını belirleyen bir tarayıcı protokolüdür. Bunun pratik sonucu, curl gibi tarayıcı olmayan istemcilerin CORS başlıklarını tamamen görmezden gelmesidir; yani CORS, API'yi doğrudan komut satırından çağıran bir saldırgana karşı hiçbir koruma sağlamaz. Bu ayrım, bir sonraki sayfada CORS ile CSRF'in neden karıştırılmaması gerektiğinin de temelini oluşturuyor.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CORS ve CSRF farklı tehditlere karşı çalışır: CORS yabancı bir kökenin sunucudan gelen yanıtı okumasını engellerken, CSRF koruması (token veya SameSite çerez niteliği gibi mekanizmalarla) yabancı bir kökenin sunucuya istek gönderttirmesini engeller. Bu ayrım kritik çünkü kötü niyetli bir sitedeki form veya fetch isteği yine de tarayıcı tarafından sunucuya gönderilir ve oturum çerezi bu isteğe otomatik olarak eklenir — sunucu isteği normal şekilde işler. Bir para transferi senaryosunda saldırganın yanıtı okumaya zaten ihtiyacı yoktur; tek istediği işlemin gerçekleşmesidir, bu yüzden CORS bu saldırıyı hiç engellemez. Bu nedenle CORS'u "CSRF koruması" olarak görmek, bölümdeki en kritik yanılgılardan biridir ve gerçek bir güvenlik açığına dönüşebilir.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corsKararıVer fonksiyonu, gelen Origin başlığını sabit bir izinliKokenler dizisine karşı kontrol ederek her istek için ayrı bir karar üretir; yanıt başlığı sabit bir "*" değeri değil, doğrudan gelen kökenin kendisi yansıtılarak oluşturulur. Kimlik bilgisi izni (kimlikBilgisiIzni) yalnızca köken allowlist'teyse verilir — bu, bir önceki tanım sayfasında bahsedilen "sunucu güvenlik duvarı değildir" ilkesinin kod düzeyinde karşılığıdır. Dikkat noktasında vurgulanan teknik kısıtlama önemlidir: Access-Control-Allow-Origin: * ile Access-Control-Allow-Credentials: true birlikte kullanılamaz, tarayıcılar bu kombinasyonu reddeder; bu da wildcard kullanmanın kimlik bilgili isteklerde zaten teknik olarak mümkün olmadığını gösterir. Allowlist tabanlı bu yaklaşım, joker karakterli bir yapılandırmanın oluşturacağı güvenlik açığını daha en baştan, mimari düzeyde ortadan kaldırıyor.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Token bucket ve leaky bucket algoritmaları, her istemciye belirli bir hızda dolan bir "jeton kovası" atayarak veya istekleri sabit bir hızda "sızdırarak" ani istek patlamalarını yumuşatan iki klasik yaklaşımdır. Rate limiting'in gerekliliği somut bir tehdide dayanır: kaba kuvvet (brute-force) parola denemeleri, otomatikleştirilmiş kazıma saldırıları ve tek bir istemcinin sunucu kaynaklarını tüketerek diğer kullanıcıları etkilemesi. Derinlemesine notta belirtildiği gibi, en basit yöntem olan sabit pencere algoritması pencere sınırında iki katı isteğe izin verebilir — örneğin bir dakikalık pencerenin son saniyesinde 100 istek ve yeni pencerenin ilk saniyesinde bir 100 istek daha gelebilir; kayan pencere yaklaşımı bu zayıflığı azaltır. Bir sonraki sayfa, bu sabit pencere yaklaşımının basit ama öğretici bir uygulamasını gösterecek.</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SabitPencereRateLimiter sınıfı, her istemci için bir Map üzerinde adet ve pencereBaslangic bilgisini tutarak sabit pencere algoritmasını bellek içinde uyguluyor; 60 saniyelik pencere dolduğunda sayaç sıfırlanıp yeniden başlatılıyor, sınır (örnekte 100) aşıldığında ise false dönülüyor ve çağıran kodun bunu bir 429 Too Many Requests yanıtına çevirmesi bekleniyor. Dikkat noktası burada özellikle önemlidir: bellek içi bir Map, çok sunuculu (multi-instance) bir dağıtımda paylaşılmaz — her sunucu kendi sayacını tutar, bu da gerçek sınırın hedeflenenin kat kat üzerine çıkmasına yol açabilir. Bu yüzden production ortamında Redis gibi paylaşımlı bir depo üzerine kurulu express-rate-limit gibi hazır çözümler tercih edilmelidir. Bu örnek, kavramı öğretmek için yeterli olsa da, gerçek bir dağıtık sistemde doğrudan kullanılmamalıdır.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Twelve-Factor App ilkeleri, 2011'de Heroku mühendislerince yayımlanmış ve yapılandırmanın koddan kesin biçimde ayrılıp ortam değişkenlerinde tutulmasını savunur; böylece aynı kod tabanı, hangi ortama (geliştirme, test, production) dağıtıldığından bağımsız olarak çalışabilir. Fail-fast prensibi ise bu ilkenin doğal bir uzantısıdır: zorunlu bir secret eksikse uygulama isteklere yanıt vermeye çalışmadan, başlangıçta hemen çökmelidir — aksi hâlde eksik yapılandırma production'da sessizce hatalı davranışa veya güvenlik açığına dönüşebilir. İpucu kutusunda vurgulanan pratik kural, .env dosyalarının asla sürüm kontrolüne eklenmemesi, .gitignore'da tutulması ve yalnızca alan adlarını içeren bir .env.example şablonunun paylaşılmasıdır. Bir sonraki sayfa, bu fail-fast prensibinin kod düzeyinde nasıl uygulandığını gösterecek.</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zorunluSecretlariYukle fonksiyonu, ZORUNLU_ANAHTARLAR listesindeki her bir ortam değişkeninin var olup olmadığını uygulama başlatılmadan önce kontrol ediyor; eksik anahtar varsa hangi anahtarın eksik olduğunu açıkça belirten bir hata fırlatıp uygulamayı hiç başlatmıyor. Bu kontrolün sunucu açılışında, ilk isteği karşılamadan önce çalışması kritiktir — böylece eksik bir veritabanı bağlantı dizesi veya API anahtarı, gece yarısı canlı ortamda beklenmedik bir çökmeye değil, dağıtım anında hemen fark edilen bir hataya dönüşür. Dikkat noktasında belirtilen risk ise farklı bir konudur: console.log(ayarlar) gibi tüm yapılandırma nesnesini loglamak, secret'ların log dosyalarına sızmasına yol açar; bu yüzden yalnızca maskelenmiş değerler (örneğin son birkaç karakter dışında yıldızlanmış) loglanmalıdır. Fail-fast kontrolü ile log maskeleme birlikte düşünüldüğünde, secret yönetiminin yalnızca "nereye yazılacağı" değil, "nasıl açığa çıkmaması gerektiği" sorusunu da kapsadığı görülür.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loginIsteginiIsle, bölümde tek tek öğrenilen beş savunma katmanını gerçekçi bir giriş uç noktasında birleştiriyor: istek önce corsKararıVer ile köken kontrolünden, sonra rate limiting ile istek hacmi kontrolünden, ardından girdi doğrulamadan ve son olarak kimlik doğrulamadan geçiyor; her adımda oluşan hata AppError olarak fırlatılıyor ve merkeziHataIsleyici tek, tutarlı bir yanıt üretiyor. Diyagramdaki sıralama rastgele değildir: CORS ve rate limiting gibi ucuz kontroller, parola karşılaştırma gibi CPU maliyetli işlemlerden önce çalıştırılır — aksi hâlde reddedilecek istekler bile sunucu kaynağını tüketir ve rate limiting'in kaba kuvvet saldırılarına karşı sağladığı korumanın etkisi zayıflar. Her katmanın kendi sorumluluğuna baktığını ve hiçbirinin diğerinin işini üstlenmediğini görmek önemlidir; örneğin rate limiting girdinin biçimini kontrol etmez, girdi doğrulama da kökeni kontrol etmez. Bu tek uç nokta, aslında bölümün başındaki kavram haritasında gösterilen akışın birebir kod karşılığıdır.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İlk yanılgı, CORS hatası alındığında Access-Control-Allow-Origin başlığına joker (*) değeri koymanın "sorunu çözdüğünü" düşünmektir; oysa bu değer kimlik bilgili isteklerle birlikte hiç kullanılamaz ve hangi kökenin erişebileceğine dair her türlü kontrolü tamamen ortadan kaldırır — doğru çözüm, gelen Origin'i sabit bir allowlist'e karşı kontrol edip yalnızca izinliyse yansıtmaktır. İkinci yanılgı, formda istemci tarafı doğrulaması olduğu için sunucuda tekrar kontrol etmeye gerek olmadığını düşünmektir; istemci kodu tarayıcı geliştirici araçlarından değiştirilebilir veya tamamen atlanıp API'ye doğrudan curl ile istek gönderilebilir, bu yüzden girdi doğrulama her zaman sunucu tarafında tekrarlanmalıdır. Üçüncü yanılgı, hata ayıklamayı kolaylaştırmak için tam hata mesajını veya yığın izini istemciye döndürmenin "yardımcı" olacağını düşünmektir; oysa bu, dosya yolları ve kütüphane isimleri gibi saldırganın işine yarayacak iç bilgileri ifşa eder. Her üç yanılgı da aynı kökten geliyor: geliştiricinin kendi rahatlığı için aldığı bir kısayolun, güvenlik sorumluluğunu istemeden başka bir tarafa (saldırgana) devretmesi.</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Bölümün beş katmanı — girdi doğrulama, merkezi hata yönetimi, CORS, rate limiting ve secrets yönetimi — her biri kendi bağımsız tehdit sınıfına karşılık geliyor ve bu beşli OWASP API Security Top 10'daki başlıca kategorilerle örtüşüyor. Girdi doğrulama istemciye asla güvenmeme ilkesini uygularken, merkezi hata yönetimi AppError ile beklenen ve beklenmeyen hataları ayırarak iç ayrıntı sızıntısını önlüyor. CORS allowlist tabanlı köken kontrolü sağlıyor ama CSRF'e karşı hiçbir koruma sunmuyor, rate limiting kaba kuvvet ve aşırı yük saldırılarını 429 yanıtlarıyla sınırlıyor, secrets yönetimi ise ortam değişkenleri ve fail-fast prensibiyle eksik yapılandırmayı en baştan yakalıyor. Kapanış mesajı bölümün özünü taşıyor: güvenli backend tek bir büyük önlem değil, birbirinden bağımsız katmanların birlikte çalışmasıdır ve bir katmanın atlanması diğerlerinin varlığını anlamsız kılabilir.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gelen istekleri doğrulamayı, hataları merkezi biçimde yönetmeyi ve sınırları (köken, istek hacmi, yapılandırma) korumayı öğrendiniz; bir sonraki bölüm bu savunma katmanlarını backend'in dış dünyayla kurduğu daha karmaşık alışverişlere — dosya yükleme, e-posta gönderimi ve üçüncü taraf API entegrasyonları — taşıyacak. Bu geçiş rastgele değildir: dosya yükleme da aslında bir girdi doğrulama problemidir (dosya türü, boyutu, içeriği), e-posta ve üçüncü taraf API çağrıları ise kendi başlarına yeni bir "saldırı yüzeyi" oluşturur ve bu bölümde öğrenilen katmanlı savunma mantığıyla ele alınmalıdır. Kapanış mesajı bunu genel bir kurala dönüştürüyor: her yeni entegrasyonda gelen veriyi doğrulayın, hataları merkezi olarak yönetin ve erişimi allowlist ile sınırlayın — bu üç adım, bu bölümde öğrendiğiniz beş katmanın özünü tek bir cümlede özetliyor. Böylece bölüm, kendi içinde tamamlanmış bir konu olmaktan çıkıp, kitabın geri kalanında tekrar tekrar uygulanacak bir güvenlik disiplinine dönüşüyor.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11-secure-backend-2026091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11-secure-backend-2026091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7" name="cover-icon"/>
          <p:cNvGrpSpPr/>
          <p:nvPr/>
        </p:nvGrpSpPr>
        <p:grpSpPr>
          <a:xfrm>
            <a:off x="1028700" y="1283970"/>
            <a:ext cx="320040" cy="434340"/>
            <a:chOff x="1028700" y="1283970"/>
            <a:chExt cx="320040" cy="434340"/>
          </a:xfrm>
        </p:grpSpPr>
        <p:sp>
          <p:nvSpPr>
            <p:cNvPr id="4" name="Freeform 4"/>
            <p:cNvSpPr/>
            <p:nvPr/>
          </p:nvSpPr>
          <p:spPr>
            <a:xfrm>
              <a:off x="1028700" y="1489710"/>
              <a:ext cx="320040" cy="228600"/>
            </a:xfrm>
            <a:custGeom>
              <a:avLst/>
              <a:gdLst/>
              <a:ahLst/>
              <a:cxnLst/>
              <a:rect l="l" t="t" r="r" b="b"/>
              <a:pathLst>
                <a:path w="320040" h="228600">
                  <a:moveTo>
                    <a:pt x="0" y="45720"/>
                  </a:moveTo>
                  <a:cubicBezTo>
                    <a:pt x="0" y="20470"/>
                    <a:pt x="20470" y="0"/>
                    <a:pt x="45720" y="0"/>
                  </a:cubicBezTo>
                  <a:lnTo>
                    <a:pt x="274320" y="0"/>
                  </a:lnTo>
                  <a:cubicBezTo>
                    <a:pt x="299570" y="0"/>
                    <a:pt x="320040" y="20470"/>
                    <a:pt x="320040" y="45720"/>
                  </a:cubicBezTo>
                  <a:lnTo>
                    <a:pt x="320040" y="182880"/>
                  </a:lnTo>
                  <a:cubicBezTo>
                    <a:pt x="320040" y="208130"/>
                    <a:pt x="299570" y="228600"/>
                    <a:pt x="274320" y="228600"/>
                  </a:cubicBezTo>
                  <a:lnTo>
                    <a:pt x="45720" y="228600"/>
                  </a:lnTo>
                  <a:cubicBezTo>
                    <a:pt x="20470" y="228600"/>
                    <a:pt x="0" y="208130"/>
                    <a:pt x="0" y="182880"/>
                  </a:cubicBezTo>
                  <a:lnTo>
                    <a:pt x="0" y="45720"/>
                  </a:lnTo>
                </a:path>
              </a:pathLst>
            </a:custGeom>
            <a:noFill/>
            <a:ln w="22860" cap="rnd">
              <a:solidFill>
                <a:srgbClr val="00A6A6"/>
              </a:solidFill>
              <a:round/>
            </a:ln>
          </p:spPr>
        </p:sp>
        <p:sp>
          <p:nvSpPr>
            <p:cNvPr id="5" name="Freeform 5"/>
            <p:cNvSpPr/>
            <p:nvPr/>
          </p:nvSpPr>
          <p:spPr>
            <a:xfrm>
              <a:off x="1165860" y="1581150"/>
              <a:ext cx="45720" cy="45720"/>
            </a:xfrm>
            <a:custGeom>
              <a:avLst/>
              <a:gdLst/>
              <a:ahLst/>
              <a:cxnLst/>
              <a:rect l="l" t="t" r="r" b="b"/>
              <a:pathLst>
                <a:path w="45720" h="45720">
                  <a:moveTo>
                    <a:pt x="0" y="22860"/>
                  </a:moveTo>
                  <a:cubicBezTo>
                    <a:pt x="0" y="35485"/>
                    <a:pt x="10235" y="45720"/>
                    <a:pt x="22860" y="45720"/>
                  </a:cubicBezTo>
                  <a:cubicBezTo>
                    <a:pt x="35485" y="45720"/>
                    <a:pt x="45720" y="35485"/>
                    <a:pt x="45720" y="22860"/>
                  </a:cubicBezTo>
                  <a:cubicBezTo>
                    <a:pt x="45720" y="10235"/>
                    <a:pt x="35485" y="0"/>
                    <a:pt x="22860" y="0"/>
                  </a:cubicBezTo>
                  <a:cubicBezTo>
                    <a:pt x="10235" y="0"/>
                    <a:pt x="0" y="10235"/>
                    <a:pt x="0" y="22860"/>
                  </a:cubicBezTo>
                </a:path>
              </a:pathLst>
            </a:custGeom>
            <a:noFill/>
            <a:ln w="22860" cap="rnd">
              <a:solidFill>
                <a:srgbClr val="00A6A6"/>
              </a:solidFill>
              <a:round/>
            </a:ln>
          </p:spPr>
        </p:sp>
        <p:sp>
          <p:nvSpPr>
            <p:cNvPr id="6" name="Freeform 6"/>
            <p:cNvSpPr/>
            <p:nvPr/>
          </p:nvSpPr>
          <p:spPr>
            <a:xfrm>
              <a:off x="1097280" y="1283970"/>
              <a:ext cx="182880" cy="205740"/>
            </a:xfrm>
            <a:custGeom>
              <a:avLst/>
              <a:gdLst/>
              <a:ahLst/>
              <a:cxnLst/>
              <a:rect l="l" t="t" r="r" b="b"/>
              <a:pathLst>
                <a:path w="182880" h="205740">
                  <a:moveTo>
                    <a:pt x="0" y="205740"/>
                  </a:moveTo>
                  <a:lnTo>
                    <a:pt x="0" y="91440"/>
                  </a:lnTo>
                  <a:cubicBezTo>
                    <a:pt x="0" y="40939"/>
                    <a:pt x="40939" y="0"/>
                    <a:pt x="91440" y="0"/>
                  </a:cubicBezTo>
                  <a:cubicBezTo>
                    <a:pt x="141941" y="0"/>
                    <a:pt x="182880" y="40939"/>
                    <a:pt x="182880" y="91440"/>
                  </a:cubicBezTo>
                </a:path>
              </a:pathLst>
            </a:custGeom>
            <a:noFill/>
            <a:ln w="22860" cap="rnd">
              <a:solidFill>
                <a:srgbClr val="00A6A6"/>
              </a:solidFill>
              <a:round/>
            </a:ln>
          </p:spPr>
        </p:sp>
      </p:grpSp>
      <p:grpSp>
        <p:nvGrpSpPr>
          <p:cNvPr id="10" name="cover-chapter"/>
          <p:cNvGrpSpPr/>
          <p:nvPr/>
        </p:nvGrpSpPr>
        <p:grpSpPr>
          <a:xfrm>
            <a:off x="666750" y="2251710"/>
            <a:ext cx="1787319" cy="2410777"/>
            <a:chOff x="666750" y="2251710"/>
            <a:chExt cx="1787319" cy="2410777"/>
          </a:xfrm>
        </p:grpSpPr>
        <p:sp>
          <p:nvSpPr>
            <p:cNvPr id="8" name="TextBox 8"/>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9" name="TextBox 9"/>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11</a:t>
              </a:r>
            </a:p>
          </p:txBody>
        </p:sp>
      </p:grpSp>
      <p:grpSp>
        <p:nvGrpSpPr>
          <p:cNvPr id="12" name="cover-title"/>
          <p:cNvGrpSpPr/>
          <p:nvPr/>
        </p:nvGrpSpPr>
        <p:grpSpPr>
          <a:xfrm>
            <a:off x="4933950" y="1579245"/>
            <a:ext cx="5758815" cy="1981200"/>
            <a:chOff x="4933950" y="1579245"/>
            <a:chExt cx="5758815" cy="1981200"/>
          </a:xfrm>
        </p:grpSpPr>
        <p:sp>
          <p:nvSpPr>
            <p:cNvPr id="11" name="TextBox 11"/>
            <p:cNvSpPr txBox="1"/>
            <p:nvPr/>
          </p:nvSpPr>
          <p:spPr>
            <a:xfrm>
              <a:off x="4933950" y="1579245"/>
              <a:ext cx="5758815" cy="1981200"/>
            </a:xfrm>
            <a:prstGeom prst="rect">
              <a:avLst/>
            </a:prstGeom>
            <a:noFill/>
            <a:ln>
              <a:noFill/>
            </a:ln>
          </p:spPr>
          <p:txBody>
            <a:bodyPr wrap="none" lIns="0" tIns="0" rIns="0" bIns="0" anchor="t" anchorCtr="0">
              <a:spAutoFit/>
            </a:bodyPr>
            <a:lstStyle/>
            <a:p>
              <a:pPr algn="l">
                <a:lnSpc>
                  <a:spcPts val="4800"/>
                </a:lnSpc>
              </a:pPr>
              <a:r>
                <a:rPr lang="tr-TR" sz="3900" b="1" dirty="0">
                  <a:solidFill>
                    <a:srgbClr val="12355B"/>
                  </a:solidFill>
                  <a:latin typeface="+mj-lt"/>
                  <a:ea typeface="+mj-ea"/>
                  <a:cs typeface="+mj-cs"/>
                </a:rPr>
                <a:t>Güvenli Backend:</a:t>
              </a:r>
              <a:br/>
              <a:r>
                <a:rPr lang="tr-TR" sz="3900" b="1" dirty="0">
                  <a:solidFill>
                    <a:srgbClr val="12355B"/>
                  </a:solidFill>
                  <a:latin typeface="+mj-lt"/>
                  <a:ea typeface="+mj-ea"/>
                  <a:cs typeface="+mj-cs"/>
                </a:rPr>
                <a:t>Validation, Middleware</a:t>
              </a:r>
              <a:br/>
              <a:r>
                <a:rPr lang="tr-TR" sz="3900" b="1" dirty="0">
                  <a:solidFill>
                    <a:srgbClr val="12355B"/>
                  </a:solidFill>
                  <a:latin typeface="+mj-lt"/>
                  <a:ea typeface="+mj-ea"/>
                  <a:cs typeface="+mj-cs"/>
                </a:rPr>
                <a:t>ve Hata Yönetimi</a:t>
              </a:r>
            </a:p>
          </p:txBody>
        </p:sp>
      </p:grpSp>
      <p:grpSp>
        <p:nvGrpSpPr>
          <p:cNvPr id="16" name="cover-subtitle"/>
          <p:cNvGrpSpPr/>
          <p:nvPr/>
        </p:nvGrpSpPr>
        <p:grpSpPr>
          <a:xfrm>
            <a:off x="4943094" y="4095750"/>
            <a:ext cx="4648390" cy="900018"/>
            <a:chOff x="4943094" y="4095750"/>
            <a:chExt cx="4648390" cy="900018"/>
          </a:xfrm>
        </p:grpSpPr>
        <p:sp>
          <p:nvSpPr>
            <p:cNvPr id="13" name="Rectangle 13"/>
            <p:cNvSpPr/>
            <p:nvPr/>
          </p:nvSpPr>
          <p:spPr>
            <a:xfrm>
              <a:off x="4953000" y="4095750"/>
              <a:ext cx="1143000" cy="38100"/>
            </a:xfrm>
            <a:prstGeom prst="rect">
              <a:avLst/>
            </a:prstGeom>
            <a:solidFill>
              <a:srgbClr val="00A6A6"/>
            </a:solidFill>
            <a:ln>
              <a:noFill/>
            </a:ln>
          </p:spPr>
        </p:sp>
        <p:sp>
          <p:nvSpPr>
            <p:cNvPr id="14" name="TextBox 14"/>
            <p:cNvSpPr txBox="1"/>
            <p:nvPr/>
          </p:nvSpPr>
          <p:spPr>
            <a:xfrm>
              <a:off x="4943094" y="422814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5" name="TextBox 15"/>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8" name="cover-meta"/>
          <p:cNvGrpSpPr/>
          <p:nvPr/>
        </p:nvGrpSpPr>
        <p:grpSpPr>
          <a:xfrm>
            <a:off x="4946904" y="6233160"/>
            <a:ext cx="4973434" cy="234696"/>
            <a:chOff x="4946904" y="6233160"/>
            <a:chExt cx="4973434" cy="234696"/>
          </a:xfrm>
        </p:grpSpPr>
        <p:sp>
          <p:nvSpPr>
            <p:cNvPr id="17" name="TextBox 17"/>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intro"/>
          <p:cNvGrpSpPr/>
          <p:nvPr/>
        </p:nvGrpSpPr>
        <p:grpSpPr>
          <a:xfrm>
            <a:off x="601599" y="1277779"/>
            <a:ext cx="4968445" cy="308039"/>
            <a:chOff x="601599" y="1277779"/>
            <a:chExt cx="4968445" cy="308039"/>
          </a:xfrm>
        </p:grpSpPr>
        <p:sp>
          <p:nvSpPr>
            <p:cNvPr id="6" name="TextBox 6"/>
            <p:cNvSpPr txBox="1"/>
            <p:nvPr/>
          </p:nvSpPr>
          <p:spPr>
            <a:xfrm>
              <a:off x="601599" y="1277779"/>
              <a:ext cx="496844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soruları aklınızda tutun:</a:t>
              </a:r>
            </a:p>
          </p:txBody>
        </p:sp>
      </p:grpSp>
      <p:grpSp>
        <p:nvGrpSpPr>
          <p:cNvPr id="11" name="road-q1"/>
          <p:cNvGrpSpPr/>
          <p:nvPr/>
        </p:nvGrpSpPr>
        <p:grpSpPr>
          <a:xfrm>
            <a:off x="609600" y="1790700"/>
            <a:ext cx="7886346" cy="366618"/>
            <a:chOff x="609600" y="1790700"/>
            <a:chExt cx="7886346" cy="366618"/>
          </a:xfrm>
        </p:grpSpPr>
        <p:sp>
          <p:nvSpPr>
            <p:cNvPr id="8" name="Rectangle 8"/>
            <p:cNvSpPr/>
            <p:nvPr/>
          </p:nvSpPr>
          <p:spPr>
            <a:xfrm>
              <a:off x="609600" y="1790700"/>
              <a:ext cx="342900" cy="342900"/>
            </a:xfrm>
            <a:prstGeom prst="roundRect">
              <a:avLst>
                <a:gd name="adj" fmla="val 50000"/>
              </a:avLst>
            </a:prstGeom>
            <a:solidFill>
              <a:srgbClr val="00A6A6"/>
            </a:solidFill>
            <a:ln>
              <a:noFill/>
            </a:ln>
          </p:spPr>
        </p:sp>
        <p:sp>
          <p:nvSpPr>
            <p:cNvPr id="9" name="TextBox 9"/>
            <p:cNvSpPr txBox="1"/>
            <p:nvPr/>
          </p:nvSpPr>
          <p:spPr>
            <a:xfrm>
              <a:off x="721715" y="18735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0" name="TextBox 10"/>
            <p:cNvSpPr txBox="1"/>
            <p:nvPr/>
          </p:nvSpPr>
          <p:spPr>
            <a:xfrm>
              <a:off x="1134999" y="1849279"/>
              <a:ext cx="736094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İstemciden gelen veriye neden hiçbir zaman doğrudan güvenilmemelidir?</a:t>
              </a:r>
            </a:p>
          </p:txBody>
        </p:sp>
      </p:grpSp>
      <p:grpSp>
        <p:nvGrpSpPr>
          <p:cNvPr id="15" name="road-q2"/>
          <p:cNvGrpSpPr/>
          <p:nvPr/>
        </p:nvGrpSpPr>
        <p:grpSpPr>
          <a:xfrm>
            <a:off x="609600" y="2514600"/>
            <a:ext cx="9354717" cy="366618"/>
            <a:chOff x="609600" y="2514600"/>
            <a:chExt cx="9354717" cy="366618"/>
          </a:xfrm>
        </p:grpSpPr>
        <p:sp>
          <p:nvSpPr>
            <p:cNvPr id="12" name="Rectangle 12"/>
            <p:cNvSpPr/>
            <p:nvPr/>
          </p:nvSpPr>
          <p:spPr>
            <a:xfrm>
              <a:off x="609600" y="2514600"/>
              <a:ext cx="342900" cy="342900"/>
            </a:xfrm>
            <a:prstGeom prst="roundRect">
              <a:avLst>
                <a:gd name="adj" fmla="val 50000"/>
              </a:avLst>
            </a:prstGeom>
            <a:solidFill>
              <a:srgbClr val="00A6A6"/>
            </a:solidFill>
            <a:ln>
              <a:noFill/>
            </a:ln>
          </p:spPr>
        </p:sp>
        <p:sp>
          <p:nvSpPr>
            <p:cNvPr id="13" name="TextBox 13"/>
            <p:cNvSpPr txBox="1"/>
            <p:nvPr/>
          </p:nvSpPr>
          <p:spPr>
            <a:xfrm>
              <a:off x="721715" y="25974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14" name="TextBox 14"/>
            <p:cNvSpPr txBox="1"/>
            <p:nvPr/>
          </p:nvSpPr>
          <p:spPr>
            <a:xfrm>
              <a:off x="1134999" y="2573179"/>
              <a:ext cx="882931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Merkezi bir hata yönetimi, her route'a ayrı try/catch yazmaya göre ne kazandırır?</a:t>
              </a:r>
            </a:p>
          </p:txBody>
        </p:sp>
      </p:grpSp>
      <p:grpSp>
        <p:nvGrpSpPr>
          <p:cNvPr id="19" name="road-q3"/>
          <p:cNvGrpSpPr/>
          <p:nvPr/>
        </p:nvGrpSpPr>
        <p:grpSpPr>
          <a:xfrm>
            <a:off x="609600" y="3238500"/>
            <a:ext cx="9641566" cy="366618"/>
            <a:chOff x="609600" y="3238500"/>
            <a:chExt cx="9641566" cy="366618"/>
          </a:xfrm>
        </p:grpSpPr>
        <p:sp>
          <p:nvSpPr>
            <p:cNvPr id="16" name="Rectangle 16"/>
            <p:cNvSpPr/>
            <p:nvPr/>
          </p:nvSpPr>
          <p:spPr>
            <a:xfrm>
              <a:off x="609600" y="3238500"/>
              <a:ext cx="342900" cy="342900"/>
            </a:xfrm>
            <a:prstGeom prst="roundRect">
              <a:avLst>
                <a:gd name="adj" fmla="val 50000"/>
              </a:avLst>
            </a:prstGeom>
            <a:solidFill>
              <a:srgbClr val="00A6A6"/>
            </a:solidFill>
            <a:ln>
              <a:noFill/>
            </a:ln>
          </p:spPr>
        </p:sp>
        <p:sp>
          <p:nvSpPr>
            <p:cNvPr id="17" name="TextBox 17"/>
            <p:cNvSpPr txBox="1"/>
            <p:nvPr/>
          </p:nvSpPr>
          <p:spPr>
            <a:xfrm>
              <a:off x="721715" y="33213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18" name="TextBox 18"/>
            <p:cNvSpPr txBox="1"/>
            <p:nvPr/>
          </p:nvSpPr>
          <p:spPr>
            <a:xfrm>
              <a:off x="1134999" y="3297079"/>
              <a:ext cx="911616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CORS, tarayıcıyı hangi tehdide karşı korur ve sunucu tarafında nasıl yapılandırılır?</a:t>
              </a:r>
            </a:p>
          </p:txBody>
        </p:sp>
      </p:grpSp>
      <p:grpSp>
        <p:nvGrpSpPr>
          <p:cNvPr id="23" name="road-q4"/>
          <p:cNvGrpSpPr/>
          <p:nvPr/>
        </p:nvGrpSpPr>
        <p:grpSpPr>
          <a:xfrm>
            <a:off x="609600" y="3962400"/>
            <a:ext cx="7652383" cy="366618"/>
            <a:chOff x="609600" y="3962400"/>
            <a:chExt cx="7652383" cy="366618"/>
          </a:xfrm>
        </p:grpSpPr>
        <p:sp>
          <p:nvSpPr>
            <p:cNvPr id="20" name="Rectangle 20"/>
            <p:cNvSpPr/>
            <p:nvPr/>
          </p:nvSpPr>
          <p:spPr>
            <a:xfrm>
              <a:off x="609600" y="3962400"/>
              <a:ext cx="342900" cy="342900"/>
            </a:xfrm>
            <a:prstGeom prst="roundRect">
              <a:avLst>
                <a:gd name="adj" fmla="val 50000"/>
              </a:avLst>
            </a:prstGeom>
            <a:solidFill>
              <a:srgbClr val="00A6A6"/>
            </a:solidFill>
            <a:ln>
              <a:noFill/>
            </a:ln>
          </p:spPr>
        </p:sp>
        <p:sp>
          <p:nvSpPr>
            <p:cNvPr id="21" name="TextBox 21"/>
            <p:cNvSpPr txBox="1"/>
            <p:nvPr/>
          </p:nvSpPr>
          <p:spPr>
            <a:xfrm>
              <a:off x="721715" y="40452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22" name="TextBox 22"/>
            <p:cNvSpPr txBox="1"/>
            <p:nvPr/>
          </p:nvSpPr>
          <p:spPr>
            <a:xfrm>
              <a:off x="1134999" y="4020979"/>
              <a:ext cx="712698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Rate limiting olmadan bir login endpoint'i hangi saldırıya açık kalır?</a:t>
              </a:r>
            </a:p>
          </p:txBody>
        </p:sp>
      </p:grpSp>
      <p:grpSp>
        <p:nvGrpSpPr>
          <p:cNvPr id="27" name="road-q5"/>
          <p:cNvGrpSpPr/>
          <p:nvPr/>
        </p:nvGrpSpPr>
        <p:grpSpPr>
          <a:xfrm>
            <a:off x="609600" y="4686300"/>
            <a:ext cx="7195499" cy="366618"/>
            <a:chOff x="609600" y="4686300"/>
            <a:chExt cx="7195499" cy="366618"/>
          </a:xfrm>
        </p:grpSpPr>
        <p:sp>
          <p:nvSpPr>
            <p:cNvPr id="24" name="Rectangle 24"/>
            <p:cNvSpPr/>
            <p:nvPr/>
          </p:nvSpPr>
          <p:spPr>
            <a:xfrm>
              <a:off x="609600" y="4686300"/>
              <a:ext cx="342900" cy="342900"/>
            </a:xfrm>
            <a:prstGeom prst="roundRect">
              <a:avLst>
                <a:gd name="adj" fmla="val 50000"/>
              </a:avLst>
            </a:prstGeom>
            <a:solidFill>
              <a:srgbClr val="00A6A6"/>
            </a:solidFill>
            <a:ln>
              <a:noFill/>
            </a:ln>
          </p:spPr>
        </p:sp>
        <p:sp>
          <p:nvSpPr>
            <p:cNvPr id="25" name="TextBox 25"/>
            <p:cNvSpPr txBox="1"/>
            <p:nvPr/>
          </p:nvSpPr>
          <p:spPr>
            <a:xfrm>
              <a:off x="721715" y="47691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5</a:t>
              </a:r>
            </a:p>
          </p:txBody>
        </p:sp>
        <p:sp>
          <p:nvSpPr>
            <p:cNvPr id="26" name="TextBox 26"/>
            <p:cNvSpPr txBox="1"/>
            <p:nvPr/>
          </p:nvSpPr>
          <p:spPr>
            <a:xfrm>
              <a:off x="1134999" y="4744879"/>
              <a:ext cx="667010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secret (gizli anahtar) kaynak koduna neden yazılmamalıdır?</a:t>
              </a:r>
            </a:p>
          </p:txBody>
        </p:sp>
      </p:grpSp>
      <p:grpSp>
        <p:nvGrpSpPr>
          <p:cNvPr id="31" name="road-q6"/>
          <p:cNvGrpSpPr/>
          <p:nvPr/>
        </p:nvGrpSpPr>
        <p:grpSpPr>
          <a:xfrm>
            <a:off x="609600" y="5410200"/>
            <a:ext cx="8078248" cy="366618"/>
            <a:chOff x="609600" y="5410200"/>
            <a:chExt cx="8078248" cy="366618"/>
          </a:xfrm>
        </p:grpSpPr>
        <p:sp>
          <p:nvSpPr>
            <p:cNvPr id="28" name="Rectangle 28"/>
            <p:cNvSpPr/>
            <p:nvPr/>
          </p:nvSpPr>
          <p:spPr>
            <a:xfrm>
              <a:off x="609600" y="5410200"/>
              <a:ext cx="342900" cy="342900"/>
            </a:xfrm>
            <a:prstGeom prst="roundRect">
              <a:avLst>
                <a:gd name="adj" fmla="val 50000"/>
              </a:avLst>
            </a:prstGeom>
            <a:solidFill>
              <a:srgbClr val="00A6A6"/>
            </a:solidFill>
            <a:ln>
              <a:noFill/>
            </a:ln>
          </p:spPr>
        </p:sp>
        <p:sp>
          <p:nvSpPr>
            <p:cNvPr id="29" name="TextBox 29"/>
            <p:cNvSpPr txBox="1"/>
            <p:nvPr/>
          </p:nvSpPr>
          <p:spPr>
            <a:xfrm>
              <a:off x="721715" y="54930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6</a:t>
              </a:r>
            </a:p>
          </p:txBody>
        </p:sp>
        <p:sp>
          <p:nvSpPr>
            <p:cNvPr id="30" name="TextBox 30"/>
            <p:cNvSpPr txBox="1"/>
            <p:nvPr/>
          </p:nvSpPr>
          <p:spPr>
            <a:xfrm>
              <a:off x="1134999" y="5468779"/>
              <a:ext cx="755284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OWASP API Security kategorileri bu bölümdeki denetimlerle nasıl eşleşir?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520190"/>
            <a:ext cx="7977459" cy="637128"/>
            <a:chOff x="685800" y="1520190"/>
            <a:chExt cx="7977459" cy="637128"/>
          </a:xfrm>
        </p:grpSpPr>
        <p:sp>
          <p:nvSpPr>
            <p:cNvPr id="6" name="Rectangle 6"/>
            <p:cNvSpPr/>
            <p:nvPr/>
          </p:nvSpPr>
          <p:spPr>
            <a:xfrm>
              <a:off x="685800" y="1524000"/>
              <a:ext cx="57150" cy="495300"/>
            </a:xfrm>
            <a:prstGeom prst="rect">
              <a:avLst/>
            </a:prstGeom>
            <a:solidFill>
              <a:srgbClr val="00A6A6"/>
            </a:solidFill>
            <a:ln>
              <a:noFill/>
            </a:ln>
          </p:spPr>
        </p:sp>
        <p:sp>
          <p:nvSpPr>
            <p:cNvPr id="7" name="TextBox 7"/>
            <p:cNvSpPr txBox="1"/>
            <p:nvPr/>
          </p:nvSpPr>
          <p:spPr>
            <a:xfrm>
              <a:off x="981456" y="1520190"/>
              <a:ext cx="464650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API girdilerini bir şema ile doğrulamak</a:t>
              </a:r>
            </a:p>
          </p:txBody>
        </p:sp>
        <p:sp>
          <p:nvSpPr>
            <p:cNvPr id="8" name="TextBox 8"/>
            <p:cNvSpPr txBox="1"/>
            <p:nvPr/>
          </p:nvSpPr>
          <p:spPr>
            <a:xfrm>
              <a:off x="982599" y="1849279"/>
              <a:ext cx="768066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şema dışı ya da eksik alanları anlamlı bir 400 yanıtıyla reddetmek</a:t>
              </a:r>
            </a:p>
          </p:txBody>
        </p:sp>
      </p:grpSp>
      <p:grpSp>
        <p:nvGrpSpPr>
          <p:cNvPr id="13" name="objective-2"/>
          <p:cNvGrpSpPr/>
          <p:nvPr/>
        </p:nvGrpSpPr>
        <p:grpSpPr>
          <a:xfrm>
            <a:off x="685800" y="2510790"/>
            <a:ext cx="7970328" cy="637128"/>
            <a:chOff x="685800" y="2510790"/>
            <a:chExt cx="7970328" cy="637128"/>
          </a:xfrm>
        </p:grpSpPr>
        <p:sp>
          <p:nvSpPr>
            <p:cNvPr id="10" name="Rectangle 10"/>
            <p:cNvSpPr/>
            <p:nvPr/>
          </p:nvSpPr>
          <p:spPr>
            <a:xfrm>
              <a:off x="685800" y="2514600"/>
              <a:ext cx="57150" cy="495300"/>
            </a:xfrm>
            <a:prstGeom prst="rect">
              <a:avLst/>
            </a:prstGeom>
            <a:solidFill>
              <a:srgbClr val="00A6A6"/>
            </a:solidFill>
            <a:ln>
              <a:noFill/>
            </a:ln>
          </p:spPr>
        </p:sp>
        <p:sp>
          <p:nvSpPr>
            <p:cNvPr id="11" name="TextBox 11"/>
            <p:cNvSpPr txBox="1"/>
            <p:nvPr/>
          </p:nvSpPr>
          <p:spPr>
            <a:xfrm>
              <a:off x="981456" y="2510790"/>
              <a:ext cx="631102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Merkezi bir hata yönetimi middleware'i tasarlamak</a:t>
              </a:r>
            </a:p>
          </p:txBody>
        </p:sp>
        <p:sp>
          <p:nvSpPr>
            <p:cNvPr id="12" name="TextBox 12"/>
            <p:cNvSpPr txBox="1"/>
            <p:nvPr/>
          </p:nvSpPr>
          <p:spPr>
            <a:xfrm>
              <a:off x="982599" y="2839879"/>
              <a:ext cx="767352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beklenen (AppError) hataları beklenmeyen hatalardan ayırt etmek</a:t>
              </a:r>
            </a:p>
          </p:txBody>
        </p:sp>
      </p:grpSp>
      <p:grpSp>
        <p:nvGrpSpPr>
          <p:cNvPr id="17" name="objective-3"/>
          <p:cNvGrpSpPr/>
          <p:nvPr/>
        </p:nvGrpSpPr>
        <p:grpSpPr>
          <a:xfrm>
            <a:off x="685800" y="3501390"/>
            <a:ext cx="7280610" cy="637128"/>
            <a:chOff x="685800" y="3501390"/>
            <a:chExt cx="7280610" cy="637128"/>
          </a:xfrm>
        </p:grpSpPr>
        <p:sp>
          <p:nvSpPr>
            <p:cNvPr id="14" name="Rectangle 14"/>
            <p:cNvSpPr/>
            <p:nvPr/>
          </p:nvSpPr>
          <p:spPr>
            <a:xfrm>
              <a:off x="685800" y="3505200"/>
              <a:ext cx="57150" cy="495300"/>
            </a:xfrm>
            <a:prstGeom prst="rect">
              <a:avLst/>
            </a:prstGeom>
            <a:solidFill>
              <a:srgbClr val="00A6A6"/>
            </a:solidFill>
            <a:ln>
              <a:noFill/>
            </a:ln>
          </p:spPr>
        </p:sp>
        <p:sp>
          <p:nvSpPr>
            <p:cNvPr id="15" name="TextBox 15"/>
            <p:cNvSpPr txBox="1"/>
            <p:nvPr/>
          </p:nvSpPr>
          <p:spPr>
            <a:xfrm>
              <a:off x="981456" y="3501390"/>
              <a:ext cx="698495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CORS'un koruduğu tehdidi açıklamak ve allowlist kurmak</a:t>
              </a:r>
            </a:p>
          </p:txBody>
        </p:sp>
        <p:sp>
          <p:nvSpPr>
            <p:cNvPr id="16" name="TextBox 16"/>
            <p:cNvSpPr txBox="1"/>
            <p:nvPr/>
          </p:nvSpPr>
          <p:spPr>
            <a:xfrm>
              <a:off x="982599" y="3830479"/>
              <a:ext cx="661635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izin verilen kökenleri (origin) bir allowlist ile sınırlamak</a:t>
              </a:r>
            </a:p>
          </p:txBody>
        </p:sp>
      </p:grpSp>
      <p:grpSp>
        <p:nvGrpSpPr>
          <p:cNvPr id="21" name="objective-4"/>
          <p:cNvGrpSpPr/>
          <p:nvPr/>
        </p:nvGrpSpPr>
        <p:grpSpPr>
          <a:xfrm>
            <a:off x="685800" y="4491990"/>
            <a:ext cx="7445192" cy="637128"/>
            <a:chOff x="685800" y="4491990"/>
            <a:chExt cx="7445192" cy="637128"/>
          </a:xfrm>
        </p:grpSpPr>
        <p:sp>
          <p:nvSpPr>
            <p:cNvPr id="18" name="Rectangle 18"/>
            <p:cNvSpPr/>
            <p:nvPr/>
          </p:nvSpPr>
          <p:spPr>
            <a:xfrm>
              <a:off x="685800" y="4495800"/>
              <a:ext cx="57150" cy="495300"/>
            </a:xfrm>
            <a:prstGeom prst="rect">
              <a:avLst/>
            </a:prstGeom>
            <a:solidFill>
              <a:srgbClr val="00A6A6"/>
            </a:solidFill>
            <a:ln>
              <a:noFill/>
            </a:ln>
          </p:spPr>
        </p:sp>
        <p:sp>
          <p:nvSpPr>
            <p:cNvPr id="19" name="TextBox 19"/>
            <p:cNvSpPr txBox="1"/>
            <p:nvPr/>
          </p:nvSpPr>
          <p:spPr>
            <a:xfrm>
              <a:off x="981456" y="4491990"/>
              <a:ext cx="511470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Rate limiting ile aşırı isteği yavaşlatmak</a:t>
              </a:r>
            </a:p>
          </p:txBody>
        </p:sp>
        <p:sp>
          <p:nvSpPr>
            <p:cNvPr id="20" name="TextBox 20"/>
            <p:cNvSpPr txBox="1"/>
            <p:nvPr/>
          </p:nvSpPr>
          <p:spPr>
            <a:xfrm>
              <a:off x="982599" y="4821079"/>
              <a:ext cx="714839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bir endpoint'in zaman aralığındaki istek sayısını sınırlamak</a:t>
              </a:r>
            </a:p>
          </p:txBody>
        </p:sp>
      </p:grpSp>
      <p:grpSp>
        <p:nvGrpSpPr>
          <p:cNvPr id="25" name="objective-5"/>
          <p:cNvGrpSpPr/>
          <p:nvPr/>
        </p:nvGrpSpPr>
        <p:grpSpPr>
          <a:xfrm>
            <a:off x="685800" y="5482590"/>
            <a:ext cx="8912813" cy="637128"/>
            <a:chOff x="685800" y="5482590"/>
            <a:chExt cx="8912813" cy="637128"/>
          </a:xfrm>
        </p:grpSpPr>
        <p:sp>
          <p:nvSpPr>
            <p:cNvPr id="22" name="Rectangle 22"/>
            <p:cNvSpPr/>
            <p:nvPr/>
          </p:nvSpPr>
          <p:spPr>
            <a:xfrm>
              <a:off x="685800" y="5486400"/>
              <a:ext cx="57150" cy="495300"/>
            </a:xfrm>
            <a:prstGeom prst="rect">
              <a:avLst/>
            </a:prstGeom>
            <a:solidFill>
              <a:srgbClr val="00A6A6"/>
            </a:solidFill>
            <a:ln>
              <a:noFill/>
            </a:ln>
          </p:spPr>
        </p:sp>
        <p:sp>
          <p:nvSpPr>
            <p:cNvPr id="23" name="TextBox 23"/>
            <p:cNvSpPr txBox="1"/>
            <p:nvPr/>
          </p:nvSpPr>
          <p:spPr>
            <a:xfrm>
              <a:off x="981456" y="5482590"/>
              <a:ext cx="810481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Secret'ları ortam değişkenlerine taşımak ve fail fast uygulamak</a:t>
              </a:r>
            </a:p>
          </p:txBody>
        </p:sp>
        <p:sp>
          <p:nvSpPr>
            <p:cNvPr id="24" name="TextBox 24"/>
            <p:cNvSpPr txBox="1"/>
            <p:nvPr/>
          </p:nvSpPr>
          <p:spPr>
            <a:xfrm>
              <a:off x="982599" y="5811679"/>
              <a:ext cx="861601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zorunlu bir secret eksikse uygulamayı erken ve anlaşılır biçimde durdurmak</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9293358" cy="668845"/>
            <a:chOff x="609600" y="171450"/>
            <a:chExt cx="9293358"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860298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bir isteğin savunma hattı</a:t>
              </a:r>
            </a:p>
          </p:txBody>
        </p:sp>
      </p:grpSp>
      <p:grpSp>
        <p:nvGrpSpPr>
          <p:cNvPr id="50" name="concept-map"/>
          <p:cNvGrpSpPr/>
          <p:nvPr/>
        </p:nvGrpSpPr>
        <p:grpSpPr>
          <a:xfrm>
            <a:off x="685800" y="1219200"/>
            <a:ext cx="10896600" cy="4886706"/>
            <a:chOff x="685800" y="1219200"/>
            <a:chExt cx="10896600" cy="4886706"/>
          </a:xfrm>
        </p:grpSpPr>
        <p:grpSp>
          <p:nvGrpSpPr>
            <p:cNvPr id="21" name="Group 21"/>
            <p:cNvGrpSpPr/>
            <p:nvPr/>
          </p:nvGrpSpPr>
          <p:grpSpPr>
            <a:xfrm>
              <a:off x="1943100" y="1581150"/>
              <a:ext cx="9010650" cy="3752850"/>
              <a:chOff x="1943100" y="1581150"/>
              <a:chExt cx="9010650" cy="3752850"/>
            </a:xfrm>
          </p:grpSpPr>
          <p:sp>
            <p:nvSpPr>
              <p:cNvPr id="14" name="Line 14"/>
              <p:cNvSpPr/>
              <p:nvPr/>
            </p:nvSpPr>
            <p:spPr>
              <a:xfrm flipV="1">
                <a:off x="1943100" y="1581150"/>
                <a:ext cx="2552700" cy="1514475"/>
              </a:xfrm>
              <a:prstGeom prst="line">
                <a:avLst/>
              </a:prstGeom>
              <a:noFill/>
              <a:ln w="23812">
                <a:solidFill>
                  <a:srgbClr val="00A6A6"/>
                </a:solidFill>
                <a:tailEnd type="arrow" w="lg" len="lg"/>
              </a:ln>
            </p:spPr>
          </p:sp>
          <p:sp>
            <p:nvSpPr>
              <p:cNvPr id="15" name="Line 15"/>
              <p:cNvSpPr/>
              <p:nvPr/>
            </p:nvSpPr>
            <p:spPr>
              <a:xfrm flipV="1">
                <a:off x="1943100" y="2571750"/>
                <a:ext cx="2552700" cy="523875"/>
              </a:xfrm>
              <a:prstGeom prst="line">
                <a:avLst/>
              </a:prstGeom>
              <a:noFill/>
              <a:ln w="23812">
                <a:solidFill>
                  <a:srgbClr val="00A6A6"/>
                </a:solidFill>
                <a:tailEnd type="arrow" w="lg" len="lg"/>
              </a:ln>
            </p:spPr>
          </p:sp>
          <p:sp>
            <p:nvSpPr>
              <p:cNvPr id="16" name="Line 16"/>
              <p:cNvSpPr/>
              <p:nvPr/>
            </p:nvSpPr>
            <p:spPr>
              <a:xfrm>
                <a:off x="1943100" y="3095625"/>
                <a:ext cx="2552700" cy="466725"/>
              </a:xfrm>
              <a:prstGeom prst="line">
                <a:avLst/>
              </a:prstGeom>
              <a:noFill/>
              <a:ln w="23812">
                <a:solidFill>
                  <a:srgbClr val="00A6A6"/>
                </a:solidFill>
                <a:tailEnd type="arrow" w="lg" len="lg"/>
              </a:ln>
            </p:spPr>
          </p:sp>
          <p:sp>
            <p:nvSpPr>
              <p:cNvPr id="17" name="Line 17"/>
              <p:cNvSpPr/>
              <p:nvPr/>
            </p:nvSpPr>
            <p:spPr>
              <a:xfrm>
                <a:off x="4572000" y="1952625"/>
                <a:ext cx="6381750" cy="790575"/>
              </a:xfrm>
              <a:prstGeom prst="line">
                <a:avLst/>
              </a:prstGeom>
              <a:noFill/>
              <a:ln w="19050">
                <a:solidFill>
                  <a:srgbClr val="52616B"/>
                </a:solidFill>
                <a:custDash>
                  <a:ds d="300000" sp="200000"/>
                </a:custDash>
                <a:tailEnd type="arrow" w="lg" len="lg"/>
              </a:ln>
            </p:spPr>
          </p:sp>
          <p:sp>
            <p:nvSpPr>
              <p:cNvPr id="18" name="Line 18"/>
              <p:cNvSpPr/>
              <p:nvPr/>
            </p:nvSpPr>
            <p:spPr>
              <a:xfrm>
                <a:off x="4572000" y="2943225"/>
                <a:ext cx="6381750" cy="76200"/>
              </a:xfrm>
              <a:prstGeom prst="line">
                <a:avLst/>
              </a:prstGeom>
              <a:noFill/>
              <a:ln w="19050">
                <a:solidFill>
                  <a:srgbClr val="52616B"/>
                </a:solidFill>
                <a:custDash>
                  <a:ds d="300000" sp="200000"/>
                </a:custDash>
                <a:tailEnd type="arrow" w="lg" len="lg"/>
              </a:ln>
            </p:spPr>
          </p:sp>
          <p:sp>
            <p:nvSpPr>
              <p:cNvPr id="19" name="Line 19"/>
              <p:cNvSpPr/>
              <p:nvPr/>
            </p:nvSpPr>
            <p:spPr>
              <a:xfrm flipV="1">
                <a:off x="4572000" y="3295650"/>
                <a:ext cx="6381750" cy="638175"/>
              </a:xfrm>
              <a:prstGeom prst="line">
                <a:avLst/>
              </a:prstGeom>
              <a:noFill/>
              <a:ln w="19050">
                <a:solidFill>
                  <a:srgbClr val="52616B"/>
                </a:solidFill>
                <a:custDash>
                  <a:ds d="300000" sp="200000"/>
                </a:custDash>
                <a:tailEnd type="arrow" w="lg" len="lg"/>
              </a:ln>
            </p:spPr>
          </p:sp>
          <p:sp>
            <p:nvSpPr>
              <p:cNvPr id="20" name="Line 20"/>
              <p:cNvSpPr/>
              <p:nvPr/>
            </p:nvSpPr>
            <p:spPr>
              <a:xfrm>
                <a:off x="10096500" y="2647950"/>
                <a:ext cx="1" cy="2686050"/>
              </a:xfrm>
              <a:prstGeom prst="line">
                <a:avLst/>
              </a:prstGeom>
              <a:noFill/>
              <a:ln w="19050">
                <a:solidFill>
                  <a:srgbClr val="52616B"/>
                </a:solidFill>
                <a:custDash>
                  <a:ds d="300000" sp="200000"/>
                </a:custDash>
                <a:tailEnd type="arrow" w="lg" len="lg"/>
              </a:ln>
            </p:spPr>
          </p:sp>
        </p:grpSp>
        <p:grpSp>
          <p:nvGrpSpPr>
            <p:cNvPr id="24" name="map-hub"/>
            <p:cNvGrpSpPr/>
            <p:nvPr/>
          </p:nvGrpSpPr>
          <p:grpSpPr>
            <a:xfrm>
              <a:off x="685800" y="2381250"/>
              <a:ext cx="2286000" cy="1428750"/>
              <a:chOff x="685800" y="2381250"/>
              <a:chExt cx="2286000" cy="1428750"/>
            </a:xfrm>
          </p:grpSpPr>
          <p:sp>
            <p:nvSpPr>
              <p:cNvPr id="22" name="Rectangle 22"/>
              <p:cNvSpPr/>
              <p:nvPr/>
            </p:nvSpPr>
            <p:spPr>
              <a:xfrm>
                <a:off x="685800" y="2381250"/>
                <a:ext cx="2286000" cy="1428750"/>
              </a:xfrm>
              <a:prstGeom prst="roundRect">
                <a:avLst>
                  <a:gd name="adj" fmla="val 6667"/>
                </a:avLst>
              </a:prstGeom>
              <a:solidFill>
                <a:srgbClr val="12355B"/>
              </a:solidFill>
              <a:ln>
                <a:noFill/>
              </a:ln>
            </p:spPr>
          </p:sp>
          <p:sp>
            <p:nvSpPr>
              <p:cNvPr id="23" name="TextBox 23"/>
              <p:cNvSpPr txBox="1"/>
              <p:nvPr/>
            </p:nvSpPr>
            <p:spPr>
              <a:xfrm>
                <a:off x="942594" y="2646998"/>
                <a:ext cx="1033939" cy="1029081"/>
              </a:xfrm>
              <a:prstGeom prst="rect">
                <a:avLst/>
              </a:prstGeom>
              <a:noFill/>
              <a:ln>
                <a:noFill/>
              </a:ln>
            </p:spPr>
            <p:txBody>
              <a:bodyPr wrap="none" lIns="0" tIns="0" rIns="0" bIns="0" anchor="t" anchorCtr="0">
                <a:spAutoFit/>
              </a:bodyPr>
              <a:lstStyle/>
              <a:p>
                <a:pPr algn="l">
                  <a:lnSpc>
                    <a:spcPts val="2550"/>
                  </a:lnSpc>
                </a:pPr>
                <a:r>
                  <a:rPr lang="tr-TR" sz="1950" b="1" dirty="0">
                    <a:solidFill>
                      <a:srgbClr val="FFFFFF"/>
                    </a:solidFill>
                    <a:latin typeface="+mn-lt"/>
                    <a:ea typeface="+mn-ea"/>
                    <a:cs typeface="+mn-cs"/>
                  </a:rPr>
                  <a:t>Gelen</a:t>
                </a:r>
                <a:br/>
                <a:r>
                  <a:rPr lang="tr-TR" sz="1950" b="1" dirty="0">
                    <a:solidFill>
                      <a:srgbClr val="FFFFFF"/>
                    </a:solidFill>
                    <a:latin typeface="+mn-lt"/>
                    <a:ea typeface="+mn-ea"/>
                    <a:cs typeface="+mn-cs"/>
                  </a:rPr>
                  <a:t>istek</a:t>
                </a:r>
                <a:br/>
                <a:r>
                  <a:rPr lang="tr-TR" sz="1950" b="1" dirty="0">
                    <a:solidFill>
                      <a:srgbClr val="FFFFFF"/>
                    </a:solidFill>
                    <a:latin typeface="+mn-lt"/>
                    <a:ea typeface="+mn-ea"/>
                    <a:cs typeface="+mn-cs"/>
                  </a:rPr>
                  <a:t>(client)</a:t>
                </a:r>
              </a:p>
            </p:txBody>
          </p:sp>
        </p:grpSp>
        <p:grpSp>
          <p:nvGrpSpPr>
            <p:cNvPr id="28" name="map-node-cors"/>
            <p:cNvGrpSpPr/>
            <p:nvPr/>
          </p:nvGrpSpPr>
          <p:grpSpPr>
            <a:xfrm>
              <a:off x="4572000" y="1219200"/>
              <a:ext cx="3810000" cy="723900"/>
              <a:chOff x="4572000" y="1219200"/>
              <a:chExt cx="3810000" cy="723900"/>
            </a:xfrm>
          </p:grpSpPr>
          <p:sp>
            <p:nvSpPr>
              <p:cNvPr id="25" name="Rectangle 25"/>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6" name="TextBox 26"/>
              <p:cNvSpPr txBox="1"/>
              <p:nvPr/>
            </p:nvSpPr>
            <p:spPr>
              <a:xfrm>
                <a:off x="4791456" y="1329690"/>
                <a:ext cx="66348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CORS</a:t>
                </a:r>
              </a:p>
            </p:txBody>
          </p:sp>
          <p:sp>
            <p:nvSpPr>
              <p:cNvPr id="27" name="TextBox 27"/>
              <p:cNvSpPr txBox="1"/>
              <p:nvPr/>
            </p:nvSpPr>
            <p:spPr>
              <a:xfrm>
                <a:off x="4792599" y="1601629"/>
                <a:ext cx="301506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tarayıcı kaynağını denetler</a:t>
                </a:r>
              </a:p>
            </p:txBody>
          </p:sp>
        </p:grpSp>
        <p:grpSp>
          <p:nvGrpSpPr>
            <p:cNvPr id="32" name="map-node-ratelimit"/>
            <p:cNvGrpSpPr/>
            <p:nvPr/>
          </p:nvGrpSpPr>
          <p:grpSpPr>
            <a:xfrm>
              <a:off x="4572000" y="2209800"/>
              <a:ext cx="3810000" cy="723900"/>
              <a:chOff x="4572000" y="2209800"/>
              <a:chExt cx="3810000" cy="723900"/>
            </a:xfrm>
          </p:grpSpPr>
          <p:sp>
            <p:nvSpPr>
              <p:cNvPr id="29" name="Rectangle 29"/>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0" name="TextBox 30"/>
              <p:cNvSpPr txBox="1"/>
              <p:nvPr/>
            </p:nvSpPr>
            <p:spPr>
              <a:xfrm>
                <a:off x="4791456" y="2320290"/>
                <a:ext cx="157764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Rate limiting</a:t>
                </a:r>
              </a:p>
            </p:txBody>
          </p:sp>
          <p:sp>
            <p:nvSpPr>
              <p:cNvPr id="31" name="TextBox 31"/>
              <p:cNvSpPr txBox="1"/>
              <p:nvPr/>
            </p:nvSpPr>
            <p:spPr>
              <a:xfrm>
                <a:off x="4792599" y="2592229"/>
                <a:ext cx="255776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istek sıklığını sınırlar</a:t>
                </a:r>
              </a:p>
            </p:txBody>
          </p:sp>
        </p:grpSp>
        <p:grpSp>
          <p:nvGrpSpPr>
            <p:cNvPr id="36" name="map-node-validation"/>
            <p:cNvGrpSpPr/>
            <p:nvPr/>
          </p:nvGrpSpPr>
          <p:grpSpPr>
            <a:xfrm>
              <a:off x="4572000" y="3200400"/>
              <a:ext cx="3810000" cy="723900"/>
              <a:chOff x="4572000" y="3200400"/>
              <a:chExt cx="3810000" cy="723900"/>
            </a:xfrm>
          </p:grpSpPr>
          <p:sp>
            <p:nvSpPr>
              <p:cNvPr id="33" name="Rectangle 33"/>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4" name="TextBox 34"/>
              <p:cNvSpPr txBox="1"/>
              <p:nvPr/>
            </p:nvSpPr>
            <p:spPr>
              <a:xfrm>
                <a:off x="4791456" y="3310890"/>
                <a:ext cx="192146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Girdi doğrulama</a:t>
                </a:r>
              </a:p>
            </p:txBody>
          </p:sp>
          <p:sp>
            <p:nvSpPr>
              <p:cNvPr id="35" name="TextBox 35"/>
              <p:cNvSpPr txBox="1"/>
              <p:nvPr/>
            </p:nvSpPr>
            <p:spPr>
              <a:xfrm>
                <a:off x="4792599" y="3582829"/>
                <a:ext cx="344046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biçim ve tür kurallarını denetler</a:t>
                </a:r>
              </a:p>
            </p:txBody>
          </p:sp>
        </p:grpSp>
        <p:grpSp>
          <p:nvGrpSpPr>
            <p:cNvPr id="40" name="map-node-error"/>
            <p:cNvGrpSpPr/>
            <p:nvPr/>
          </p:nvGrpSpPr>
          <p:grpSpPr>
            <a:xfrm>
              <a:off x="4572000" y="4191000"/>
              <a:ext cx="7010400" cy="723900"/>
              <a:chOff x="4572000" y="4191000"/>
              <a:chExt cx="7010400" cy="723900"/>
            </a:xfrm>
          </p:grpSpPr>
          <p:sp>
            <p:nvSpPr>
              <p:cNvPr id="37" name="Rectangle 37"/>
              <p:cNvSpPr/>
              <p:nvPr/>
            </p:nvSpPr>
            <p:spPr>
              <a:xfrm>
                <a:off x="4572000" y="4191000"/>
                <a:ext cx="7010400" cy="723900"/>
              </a:xfrm>
              <a:prstGeom prst="roundRect">
                <a:avLst>
                  <a:gd name="adj" fmla="val 13158"/>
                </a:avLst>
              </a:prstGeom>
              <a:solidFill>
                <a:srgbClr val="FFFFFF"/>
              </a:solidFill>
              <a:ln w="14288">
                <a:solidFill>
                  <a:srgbClr val="2E86AB"/>
                </a:solidFill>
              </a:ln>
            </p:spPr>
          </p:sp>
          <p:sp>
            <p:nvSpPr>
              <p:cNvPr id="38" name="TextBox 38"/>
              <p:cNvSpPr txBox="1"/>
              <p:nvPr/>
            </p:nvSpPr>
            <p:spPr>
              <a:xfrm>
                <a:off x="4791456" y="4301490"/>
                <a:ext cx="274881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Merkezi hata yönetimi</a:t>
                </a:r>
              </a:p>
            </p:txBody>
          </p:sp>
          <p:sp>
            <p:nvSpPr>
              <p:cNvPr id="39" name="TextBox 39"/>
              <p:cNvSpPr txBox="1"/>
              <p:nvPr/>
            </p:nvSpPr>
            <p:spPr>
              <a:xfrm>
                <a:off x="4792599" y="4573429"/>
                <a:ext cx="641826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tüm katmanların hatasını tek noktada tutarlı yanıta çevirir</a:t>
                </a:r>
              </a:p>
            </p:txBody>
          </p:sp>
        </p:grpSp>
        <p:grpSp>
          <p:nvGrpSpPr>
            <p:cNvPr id="44" name="map-node-secrets"/>
            <p:cNvGrpSpPr/>
            <p:nvPr/>
          </p:nvGrpSpPr>
          <p:grpSpPr>
            <a:xfrm>
              <a:off x="4572000" y="5334000"/>
              <a:ext cx="7010400" cy="723900"/>
              <a:chOff x="4572000" y="5334000"/>
              <a:chExt cx="7010400" cy="723900"/>
            </a:xfrm>
          </p:grpSpPr>
          <p:sp>
            <p:nvSpPr>
              <p:cNvPr id="41" name="Rectangle 41"/>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2" name="TextBox 42"/>
              <p:cNvSpPr txBox="1"/>
              <p:nvPr/>
            </p:nvSpPr>
            <p:spPr>
              <a:xfrm>
                <a:off x="4791456" y="5444490"/>
                <a:ext cx="212527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Secrets yönetimi</a:t>
                </a:r>
              </a:p>
            </p:txBody>
          </p:sp>
          <p:sp>
            <p:nvSpPr>
              <p:cNvPr id="43" name="TextBox 43"/>
              <p:cNvSpPr txBox="1"/>
              <p:nvPr/>
            </p:nvSpPr>
            <p:spPr>
              <a:xfrm>
                <a:off x="4792599" y="5716429"/>
                <a:ext cx="606730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diğer tüm katmanların güvenilir çalışması için temel koşul</a:t>
                </a:r>
              </a:p>
            </p:txBody>
          </p:sp>
        </p:grpSp>
        <p:grpSp>
          <p:nvGrpSpPr>
            <p:cNvPr id="49" name="map-legend"/>
            <p:cNvGrpSpPr/>
            <p:nvPr/>
          </p:nvGrpSpPr>
          <p:grpSpPr>
            <a:xfrm>
              <a:off x="685800" y="5528310"/>
              <a:ext cx="4070295" cy="577596"/>
              <a:chOff x="685800" y="5528310"/>
              <a:chExt cx="4070295" cy="577596"/>
            </a:xfrm>
          </p:grpSpPr>
          <p:sp>
            <p:nvSpPr>
              <p:cNvPr id="45" name="Line 45"/>
              <p:cNvSpPr/>
              <p:nvPr/>
            </p:nvSpPr>
            <p:spPr>
              <a:xfrm>
                <a:off x="685800" y="5600700"/>
                <a:ext cx="304800" cy="1"/>
              </a:xfrm>
              <a:prstGeom prst="line">
                <a:avLst/>
              </a:prstGeom>
              <a:noFill/>
              <a:ln w="23812">
                <a:solidFill>
                  <a:srgbClr val="00A6A6"/>
                </a:solidFill>
                <a:tailEnd type="arrow" w="lg" len="lg"/>
              </a:ln>
            </p:spPr>
          </p:sp>
          <p:sp>
            <p:nvSpPr>
              <p:cNvPr id="46" name="TextBox 46"/>
              <p:cNvSpPr txBox="1"/>
              <p:nvPr/>
            </p:nvSpPr>
            <p:spPr>
              <a:xfrm>
                <a:off x="1079754" y="5528310"/>
                <a:ext cx="133315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İsteğin ilerleyişi</a:t>
                </a:r>
              </a:p>
            </p:txBody>
          </p:sp>
          <p:sp>
            <p:nvSpPr>
              <p:cNvPr id="47" name="Line 47"/>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8" name="TextBox 48"/>
              <p:cNvSpPr txBox="1"/>
              <p:nvPr/>
            </p:nvSpPr>
            <p:spPr>
              <a:xfrm>
                <a:off x="1079754" y="5871210"/>
                <a:ext cx="36763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Secrets'ın diğer katmanları güvenilir kılması</a:t>
                </a:r>
              </a:p>
            </p:txBody>
          </p:sp>
        </p:gr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5908695" cy="668845"/>
            <a:chOff x="609600" y="171450"/>
            <a:chExt cx="590869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2183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a:t>
              </a:r>
            </a:p>
          </p:txBody>
        </p:sp>
      </p:grpSp>
      <p:grpSp>
        <p:nvGrpSpPr>
          <p:cNvPr id="18" name="matrix-header"/>
          <p:cNvGrpSpPr/>
          <p:nvPr/>
        </p:nvGrpSpPr>
        <p:grpSpPr>
          <a:xfrm>
            <a:off x="609600" y="1104900"/>
            <a:ext cx="10972800" cy="304800"/>
            <a:chOff x="609600" y="1104900"/>
            <a:chExt cx="10972800" cy="304800"/>
          </a:xfrm>
        </p:grpSpPr>
        <p:sp>
          <p:nvSpPr>
            <p:cNvPr id="13" name="Rectangle 13"/>
            <p:cNvSpPr/>
            <p:nvPr/>
          </p:nvSpPr>
          <p:spPr>
            <a:xfrm>
              <a:off x="609600" y="1104900"/>
              <a:ext cx="10972800" cy="304800"/>
            </a:xfrm>
            <a:prstGeom prst="rect">
              <a:avLst/>
            </a:prstGeom>
            <a:solidFill>
              <a:srgbClr val="12355B"/>
            </a:solidFill>
            <a:ln>
              <a:noFill/>
            </a:ln>
          </p:spPr>
        </p:sp>
        <p:sp>
          <p:nvSpPr>
            <p:cNvPr id="14" name="TextBox 14"/>
            <p:cNvSpPr txBox="1"/>
            <p:nvPr/>
          </p:nvSpPr>
          <p:spPr>
            <a:xfrm>
              <a:off x="757047" y="1199674"/>
              <a:ext cx="575523" cy="190690"/>
            </a:xfrm>
            <a:prstGeom prst="rect">
              <a:avLst/>
            </a:prstGeom>
            <a:noFill/>
            <a:ln>
              <a:noFill/>
            </a:ln>
          </p:spPr>
          <p:txBody>
            <a:bodyPr wrap="none" lIns="0" tIns="0" rIns="0" bIns="0" anchor="t" anchorCtr="0">
              <a:spAutoFit/>
            </a:bodyPr>
            <a:lstStyle/>
            <a:p>
              <a:pPr algn="l"/>
              <a:r>
                <a:rPr lang="tr-TR" sz="980" b="1" spc="75" dirty="0">
                  <a:solidFill>
                    <a:srgbClr val="FFFFFF"/>
                  </a:solidFill>
                  <a:latin typeface="+mn-lt"/>
                  <a:ea typeface="+mn-ea"/>
                  <a:cs typeface="+mn-cs"/>
                </a:rPr>
                <a:t>KAVRAM</a:t>
              </a:r>
            </a:p>
          </p:txBody>
        </p:sp>
        <p:sp>
          <p:nvSpPr>
            <p:cNvPr id="15" name="TextBox 15"/>
            <p:cNvSpPr txBox="1"/>
            <p:nvPr/>
          </p:nvSpPr>
          <p:spPr>
            <a:xfrm>
              <a:off x="2281047" y="1199674"/>
              <a:ext cx="1085944" cy="190690"/>
            </a:xfrm>
            <a:prstGeom prst="rect">
              <a:avLst/>
            </a:prstGeom>
            <a:noFill/>
            <a:ln>
              <a:noFill/>
            </a:ln>
          </p:spPr>
          <p:txBody>
            <a:bodyPr wrap="none" lIns="0" tIns="0" rIns="0" bIns="0" anchor="t" anchorCtr="0">
              <a:spAutoFit/>
            </a:bodyPr>
            <a:lstStyle/>
            <a:p>
              <a:pPr algn="l"/>
              <a:r>
                <a:rPr lang="tr-TR" sz="980" b="1" spc="75" dirty="0">
                  <a:solidFill>
                    <a:srgbClr val="FFFFFF"/>
                  </a:solidFill>
                  <a:latin typeface="+mn-lt"/>
                  <a:ea typeface="+mn-ea"/>
                  <a:cs typeface="+mn-cs"/>
                </a:rPr>
                <a:t>TEMEL GÖREVİ</a:t>
              </a:r>
            </a:p>
          </p:txBody>
        </p:sp>
        <p:sp>
          <p:nvSpPr>
            <p:cNvPr id="16" name="TextBox 16"/>
            <p:cNvSpPr txBox="1"/>
            <p:nvPr/>
          </p:nvSpPr>
          <p:spPr>
            <a:xfrm>
              <a:off x="5329047" y="1199674"/>
              <a:ext cx="903607" cy="190690"/>
            </a:xfrm>
            <a:prstGeom prst="rect">
              <a:avLst/>
            </a:prstGeom>
            <a:noFill/>
            <a:ln>
              <a:noFill/>
            </a:ln>
          </p:spPr>
          <p:txBody>
            <a:bodyPr wrap="none" lIns="0" tIns="0" rIns="0" bIns="0" anchor="t" anchorCtr="0">
              <a:spAutoFit/>
            </a:bodyPr>
            <a:lstStyle/>
            <a:p>
              <a:pPr algn="l"/>
              <a:r>
                <a:rPr lang="tr-TR" sz="980" b="1" spc="75" dirty="0">
                  <a:solidFill>
                    <a:srgbClr val="FFFFFF"/>
                  </a:solidFill>
                  <a:latin typeface="+mn-lt"/>
                  <a:ea typeface="+mn-ea"/>
                  <a:cs typeface="+mn-cs"/>
                </a:rPr>
                <a:t>NE YAPMAZ?</a:t>
              </a:r>
            </a:p>
          </p:txBody>
        </p:sp>
        <p:sp>
          <p:nvSpPr>
            <p:cNvPr id="17" name="TextBox 17"/>
            <p:cNvSpPr txBox="1"/>
            <p:nvPr/>
          </p:nvSpPr>
          <p:spPr>
            <a:xfrm>
              <a:off x="8377047" y="1199674"/>
              <a:ext cx="1472574" cy="190690"/>
            </a:xfrm>
            <a:prstGeom prst="rect">
              <a:avLst/>
            </a:prstGeom>
            <a:noFill/>
            <a:ln>
              <a:noFill/>
            </a:ln>
          </p:spPr>
          <p:txBody>
            <a:bodyPr wrap="none" lIns="0" tIns="0" rIns="0" bIns="0" anchor="t" anchorCtr="0">
              <a:spAutoFit/>
            </a:bodyPr>
            <a:lstStyle/>
            <a:p>
              <a:pPr algn="l"/>
              <a:r>
                <a:rPr lang="tr-TR" sz="980" b="1" spc="75" dirty="0">
                  <a:solidFill>
                    <a:srgbClr val="FFFFFF"/>
                  </a:solidFill>
                  <a:latin typeface="+mn-lt"/>
                  <a:ea typeface="+mn-ea"/>
                  <a:cs typeface="+mn-cs"/>
                </a:rPr>
                <a:t>OLMAZSA NE OLUR?</a:t>
              </a:r>
            </a:p>
          </p:txBody>
        </p:sp>
      </p:grpSp>
      <p:grpSp>
        <p:nvGrpSpPr>
          <p:cNvPr id="24" name="row-validation"/>
          <p:cNvGrpSpPr/>
          <p:nvPr/>
        </p:nvGrpSpPr>
        <p:grpSpPr>
          <a:xfrm>
            <a:off x="609600" y="1501854"/>
            <a:ext cx="10972800" cy="641271"/>
            <a:chOff x="609600" y="1501854"/>
            <a:chExt cx="10972800" cy="641271"/>
          </a:xfrm>
        </p:grpSpPr>
        <p:sp>
          <p:nvSpPr>
            <p:cNvPr id="19" name="TextBox 19"/>
            <p:cNvSpPr txBox="1"/>
            <p:nvPr/>
          </p:nvSpPr>
          <p:spPr>
            <a:xfrm>
              <a:off x="756285" y="1535906"/>
              <a:ext cx="743255" cy="391478"/>
            </a:xfrm>
            <a:prstGeom prst="rect">
              <a:avLst/>
            </a:prstGeom>
            <a:noFill/>
            <a:ln>
              <a:noFill/>
            </a:ln>
          </p:spPr>
          <p:txBody>
            <a:bodyPr wrap="none" lIns="0" tIns="0" rIns="0" bIns="0" anchor="t" anchorCtr="0">
              <a:spAutoFit/>
            </a:bodyPr>
            <a:lstStyle/>
            <a:p>
              <a:pPr algn="l">
                <a:lnSpc>
                  <a:spcPts val="1350"/>
                </a:lnSpc>
              </a:pPr>
              <a:r>
                <a:rPr lang="tr-TR" sz="1120" b="1" dirty="0">
                  <a:solidFill>
                    <a:srgbClr val="12355B"/>
                  </a:solidFill>
                  <a:latin typeface="+mn-lt"/>
                  <a:ea typeface="+mn-ea"/>
                  <a:cs typeface="+mn-cs"/>
                </a:rPr>
                <a:t>Girdi</a:t>
              </a:r>
              <a:br/>
              <a:r>
                <a:rPr lang="tr-TR" sz="1120" b="1" dirty="0">
                  <a:solidFill>
                    <a:srgbClr val="12355B"/>
                  </a:solidFill>
                  <a:latin typeface="+mn-lt"/>
                  <a:ea typeface="+mn-ea"/>
                  <a:cs typeface="+mn-cs"/>
                </a:rPr>
                <a:t>Doğrulama</a:t>
              </a:r>
            </a:p>
          </p:txBody>
        </p:sp>
        <p:sp>
          <p:nvSpPr>
            <p:cNvPr id="20" name="TextBox 20"/>
            <p:cNvSpPr txBox="1"/>
            <p:nvPr/>
          </p:nvSpPr>
          <p:spPr>
            <a:xfrm>
              <a:off x="2280476" y="1501854"/>
              <a:ext cx="2191322"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Gövde, başlık ve parametrelerin</a:t>
              </a:r>
              <a:br/>
              <a:r>
                <a:rPr lang="tr-TR" sz="1090" dirty="0">
                  <a:solidFill>
                    <a:srgbClr val="172B3A"/>
                  </a:solidFill>
                  <a:latin typeface="+mn-lt"/>
                  <a:ea typeface="+mn-ea"/>
                  <a:cs typeface="+mn-cs"/>
                </a:rPr>
                <a:t>beklenen tip ve şemaya</a:t>
              </a:r>
              <a:br/>
              <a:r>
                <a:rPr lang="tr-TR" sz="1090" dirty="0">
                  <a:solidFill>
                    <a:srgbClr val="172B3A"/>
                  </a:solidFill>
                  <a:latin typeface="+mn-lt"/>
                  <a:ea typeface="+mn-ea"/>
                  <a:cs typeface="+mn-cs"/>
                </a:rPr>
                <a:t>uygunluğunu denetler.</a:t>
              </a:r>
            </a:p>
          </p:txBody>
        </p:sp>
        <p:sp>
          <p:nvSpPr>
            <p:cNvPr id="21" name="TextBox 21"/>
            <p:cNvSpPr txBox="1"/>
            <p:nvPr/>
          </p:nvSpPr>
          <p:spPr>
            <a:xfrm>
              <a:off x="5328476" y="1501854"/>
              <a:ext cx="2184400"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İş mantığı yetkilendirmesi veya</a:t>
              </a:r>
              <a:br/>
              <a:r>
                <a:rPr lang="tr-TR" sz="1090" dirty="0">
                  <a:solidFill>
                    <a:srgbClr val="172B3A"/>
                  </a:solidFill>
                  <a:latin typeface="+mn-lt"/>
                  <a:ea typeface="+mn-ea"/>
                  <a:cs typeface="+mn-cs"/>
                </a:rPr>
                <a:t>veritabanı tutarlılık kontrolü</a:t>
              </a:r>
              <a:br/>
              <a:r>
                <a:rPr lang="tr-TR" sz="1090" dirty="0">
                  <a:solidFill>
                    <a:srgbClr val="172B3A"/>
                  </a:solidFill>
                  <a:latin typeface="+mn-lt"/>
                  <a:ea typeface="+mn-ea"/>
                  <a:cs typeface="+mn-cs"/>
                </a:rPr>
                <a:t>yapmaz.</a:t>
              </a:r>
            </a:p>
          </p:txBody>
        </p:sp>
        <p:sp>
          <p:nvSpPr>
            <p:cNvPr id="22" name="TextBox 22"/>
            <p:cNvSpPr txBox="1"/>
            <p:nvPr/>
          </p:nvSpPr>
          <p:spPr>
            <a:xfrm>
              <a:off x="8376476" y="1501854"/>
              <a:ext cx="2198243"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SQL Injection, XSS ve kontrolsüz</a:t>
              </a:r>
              <a:br/>
              <a:r>
                <a:rPr lang="tr-TR" sz="1090" dirty="0">
                  <a:solidFill>
                    <a:srgbClr val="172B3A"/>
                  </a:solidFill>
                  <a:latin typeface="+mn-lt"/>
                  <a:ea typeface="+mn-ea"/>
                  <a:cs typeface="+mn-cs"/>
                </a:rPr>
                <a:t>veri bozulmaları doğar; sunucu</a:t>
              </a:r>
              <a:br/>
              <a:r>
                <a:rPr lang="tr-TR" sz="1090" dirty="0">
                  <a:solidFill>
                    <a:srgbClr val="172B3A"/>
                  </a:solidFill>
                  <a:latin typeface="+mn-lt"/>
                  <a:ea typeface="+mn-ea"/>
                  <a:cs typeface="+mn-cs"/>
                </a:rPr>
                <a:t>aniden çökebilir.</a:t>
              </a:r>
            </a:p>
          </p:txBody>
        </p:sp>
        <p:sp>
          <p:nvSpPr>
            <p:cNvPr id="23" name="Line 23"/>
            <p:cNvSpPr/>
            <p:nvPr/>
          </p:nvSpPr>
          <p:spPr>
            <a:xfrm>
              <a:off x="609600" y="21336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row-error"/>
          <p:cNvGrpSpPr/>
          <p:nvPr/>
        </p:nvGrpSpPr>
        <p:grpSpPr>
          <a:xfrm>
            <a:off x="609600" y="2133600"/>
            <a:ext cx="10972800" cy="733425"/>
            <a:chOff x="609600" y="2133600"/>
            <a:chExt cx="10972800" cy="733425"/>
          </a:xfrm>
        </p:grpSpPr>
        <p:sp>
          <p:nvSpPr>
            <p:cNvPr id="25" name="Rectangle 25"/>
            <p:cNvSpPr/>
            <p:nvPr/>
          </p:nvSpPr>
          <p:spPr>
            <a:xfrm>
              <a:off x="609600" y="2133600"/>
              <a:ext cx="10972800" cy="723900"/>
            </a:xfrm>
            <a:prstGeom prst="rect">
              <a:avLst/>
            </a:prstGeom>
            <a:solidFill>
              <a:srgbClr val="EAF4F6"/>
            </a:solidFill>
            <a:ln>
              <a:noFill/>
            </a:ln>
          </p:spPr>
        </p:sp>
        <p:sp>
          <p:nvSpPr>
            <p:cNvPr id="26" name="TextBox 26"/>
            <p:cNvSpPr txBox="1"/>
            <p:nvPr/>
          </p:nvSpPr>
          <p:spPr>
            <a:xfrm>
              <a:off x="756285" y="2259806"/>
              <a:ext cx="952348" cy="391478"/>
            </a:xfrm>
            <a:prstGeom prst="rect">
              <a:avLst/>
            </a:prstGeom>
            <a:noFill/>
            <a:ln>
              <a:noFill/>
            </a:ln>
          </p:spPr>
          <p:txBody>
            <a:bodyPr wrap="none" lIns="0" tIns="0" rIns="0" bIns="0" anchor="t" anchorCtr="0">
              <a:spAutoFit/>
            </a:bodyPr>
            <a:lstStyle/>
            <a:p>
              <a:pPr algn="l">
                <a:lnSpc>
                  <a:spcPts val="1350"/>
                </a:lnSpc>
              </a:pPr>
              <a:r>
                <a:rPr lang="tr-TR" sz="1120" b="1" dirty="0">
                  <a:solidFill>
                    <a:srgbClr val="12355B"/>
                  </a:solidFill>
                  <a:latin typeface="+mn-lt"/>
                  <a:ea typeface="+mn-ea"/>
                  <a:cs typeface="+mn-cs"/>
                </a:rPr>
                <a:t>Merkezi Hata</a:t>
              </a:r>
              <a:br/>
              <a:r>
                <a:rPr lang="tr-TR" sz="1120" b="1" dirty="0">
                  <a:solidFill>
                    <a:srgbClr val="12355B"/>
                  </a:solidFill>
                  <a:latin typeface="+mn-lt"/>
                  <a:ea typeface="+mn-ea"/>
                  <a:cs typeface="+mn-cs"/>
                </a:rPr>
                <a:t>Yönetimi</a:t>
              </a:r>
            </a:p>
          </p:txBody>
        </p:sp>
        <p:sp>
          <p:nvSpPr>
            <p:cNvPr id="27" name="TextBox 27"/>
            <p:cNvSpPr txBox="1"/>
            <p:nvPr/>
          </p:nvSpPr>
          <p:spPr>
            <a:xfrm>
              <a:off x="2280476" y="2225754"/>
              <a:ext cx="2073656"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Tüm hataları tek noktada</a:t>
              </a:r>
              <a:br/>
              <a:r>
                <a:rPr lang="tr-TR" sz="1090" dirty="0">
                  <a:solidFill>
                    <a:srgbClr val="172B3A"/>
                  </a:solidFill>
                  <a:latin typeface="+mn-lt"/>
                  <a:ea typeface="+mn-ea"/>
                  <a:cs typeface="+mn-cs"/>
                </a:rPr>
                <a:t>yakalayıp tutarlı JSON yanıtı</a:t>
              </a:r>
              <a:br/>
              <a:r>
                <a:rPr lang="tr-TR" sz="1090" dirty="0">
                  <a:solidFill>
                    <a:srgbClr val="172B3A"/>
                  </a:solidFill>
                  <a:latin typeface="+mn-lt"/>
                  <a:ea typeface="+mn-ea"/>
                  <a:cs typeface="+mn-cs"/>
                </a:rPr>
                <a:t>üretir.</a:t>
              </a:r>
            </a:p>
          </p:txBody>
        </p:sp>
        <p:sp>
          <p:nvSpPr>
            <p:cNvPr id="28" name="TextBox 28"/>
            <p:cNvSpPr txBox="1"/>
            <p:nvPr/>
          </p:nvSpPr>
          <p:spPr>
            <a:xfrm>
              <a:off x="5328476" y="2225754"/>
              <a:ext cx="1914462"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Hatanın oluşmasını önceden</a:t>
              </a:r>
              <a:br/>
              <a:r>
                <a:rPr lang="tr-TR" sz="1090" dirty="0">
                  <a:solidFill>
                    <a:srgbClr val="172B3A"/>
                  </a:solidFill>
                  <a:latin typeface="+mn-lt"/>
                  <a:ea typeface="+mn-ea"/>
                  <a:cs typeface="+mn-cs"/>
                </a:rPr>
                <a:t>engellemez; oluşan hatayı</a:t>
              </a:r>
              <a:br/>
              <a:r>
                <a:rPr lang="tr-TR" sz="1090" dirty="0">
                  <a:solidFill>
                    <a:srgbClr val="172B3A"/>
                  </a:solidFill>
                  <a:latin typeface="+mn-lt"/>
                  <a:ea typeface="+mn-ea"/>
                  <a:cs typeface="+mn-cs"/>
                </a:rPr>
                <a:t>güvenli biçimde sunar.</a:t>
              </a:r>
            </a:p>
          </p:txBody>
        </p:sp>
        <p:sp>
          <p:nvSpPr>
            <p:cNvPr id="29" name="TextBox 29"/>
            <p:cNvSpPr txBox="1"/>
            <p:nvPr/>
          </p:nvSpPr>
          <p:spPr>
            <a:xfrm>
              <a:off x="8376476" y="2225754"/>
              <a:ext cx="1997520"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Stack trace istemciye sızar;</a:t>
              </a:r>
              <a:br/>
              <a:r>
                <a:rPr lang="tr-TR" sz="1090" dirty="0">
                  <a:solidFill>
                    <a:srgbClr val="172B3A"/>
                  </a:solidFill>
                  <a:latin typeface="+mn-lt"/>
                  <a:ea typeface="+mn-ea"/>
                  <a:cs typeface="+mn-cs"/>
                </a:rPr>
                <a:t>yanıtlar tutarsız ve</a:t>
              </a:r>
              <a:br/>
              <a:r>
                <a:rPr lang="tr-TR" sz="1090" dirty="0">
                  <a:solidFill>
                    <a:srgbClr val="172B3A"/>
                  </a:solidFill>
                  <a:latin typeface="+mn-lt"/>
                  <a:ea typeface="+mn-ea"/>
                  <a:cs typeface="+mn-cs"/>
                </a:rPr>
                <a:t>öngörülemez olur.</a:t>
              </a:r>
            </a:p>
          </p:txBody>
        </p:sp>
        <p:sp>
          <p:nvSpPr>
            <p:cNvPr id="30" name="Line 30"/>
            <p:cNvSpPr/>
            <p:nvPr/>
          </p:nvSpPr>
          <p:spPr>
            <a:xfrm>
              <a:off x="609600" y="2857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row-cors"/>
          <p:cNvGrpSpPr/>
          <p:nvPr/>
        </p:nvGrpSpPr>
        <p:grpSpPr>
          <a:xfrm>
            <a:off x="609600" y="2949654"/>
            <a:ext cx="10972800" cy="641271"/>
            <a:chOff x="609600" y="2949654"/>
            <a:chExt cx="10972800" cy="641271"/>
          </a:xfrm>
        </p:grpSpPr>
        <p:sp>
          <p:nvSpPr>
            <p:cNvPr id="32" name="TextBox 32"/>
            <p:cNvSpPr txBox="1"/>
            <p:nvPr/>
          </p:nvSpPr>
          <p:spPr>
            <a:xfrm>
              <a:off x="756285" y="2983706"/>
              <a:ext cx="720852" cy="391478"/>
            </a:xfrm>
            <a:prstGeom prst="rect">
              <a:avLst/>
            </a:prstGeom>
            <a:noFill/>
            <a:ln>
              <a:noFill/>
            </a:ln>
          </p:spPr>
          <p:txBody>
            <a:bodyPr wrap="none" lIns="0" tIns="0" rIns="0" bIns="0" anchor="t" anchorCtr="0">
              <a:spAutoFit/>
            </a:bodyPr>
            <a:lstStyle/>
            <a:p>
              <a:pPr algn="l">
                <a:lnSpc>
                  <a:spcPts val="1350"/>
                </a:lnSpc>
              </a:pPr>
              <a:r>
                <a:rPr lang="tr-TR" sz="1120" b="1" dirty="0">
                  <a:solidFill>
                    <a:srgbClr val="12355B"/>
                  </a:solidFill>
                  <a:latin typeface="+mn-lt"/>
                  <a:ea typeface="+mn-ea"/>
                  <a:cs typeface="+mn-cs"/>
                </a:rPr>
                <a:t>CORS</a:t>
              </a:r>
              <a:br/>
              <a:r>
                <a:rPr lang="tr-TR" sz="1120" b="1" dirty="0">
                  <a:solidFill>
                    <a:srgbClr val="12355B"/>
                  </a:solidFill>
                  <a:latin typeface="+mn-lt"/>
                  <a:ea typeface="+mn-ea"/>
                  <a:cs typeface="+mn-cs"/>
                </a:rPr>
                <a:t>Politikası</a:t>
              </a:r>
            </a:p>
          </p:txBody>
        </p:sp>
        <p:sp>
          <p:nvSpPr>
            <p:cNvPr id="33" name="TextBox 33"/>
            <p:cNvSpPr txBox="1"/>
            <p:nvPr/>
          </p:nvSpPr>
          <p:spPr>
            <a:xfrm>
              <a:off x="2280476" y="2949654"/>
              <a:ext cx="2315908"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Farklı kökenlerden gelen tarayıcı</a:t>
              </a:r>
              <a:br/>
              <a:r>
                <a:rPr lang="tr-TR" sz="1090" dirty="0">
                  <a:solidFill>
                    <a:srgbClr val="172B3A"/>
                  </a:solidFill>
                  <a:latin typeface="+mn-lt"/>
                  <a:ea typeface="+mn-ea"/>
                  <a:cs typeface="+mn-cs"/>
                </a:rPr>
                <a:t>isteklerinin erişim kurallarını</a:t>
              </a:r>
              <a:br/>
              <a:r>
                <a:rPr lang="tr-TR" sz="1090" dirty="0">
                  <a:solidFill>
                    <a:srgbClr val="172B3A"/>
                  </a:solidFill>
                  <a:latin typeface="+mn-lt"/>
                  <a:ea typeface="+mn-ea"/>
                  <a:cs typeface="+mn-cs"/>
                </a:rPr>
                <a:t>HTTP başlıklarıyla belirler.</a:t>
              </a:r>
            </a:p>
          </p:txBody>
        </p:sp>
        <p:sp>
          <p:nvSpPr>
            <p:cNvPr id="34" name="TextBox 34"/>
            <p:cNvSpPr txBox="1"/>
            <p:nvPr/>
          </p:nvSpPr>
          <p:spPr>
            <a:xfrm>
              <a:off x="5328476" y="2949654"/>
              <a:ext cx="1706816"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Sunucudan sunucuya veya</a:t>
              </a:r>
              <a:br/>
              <a:r>
                <a:rPr lang="tr-TR" sz="1090" dirty="0">
                  <a:solidFill>
                    <a:srgbClr val="172B3A"/>
                  </a:solidFill>
                  <a:latin typeface="+mn-lt"/>
                  <a:ea typeface="+mn-ea"/>
                  <a:cs typeface="+mn-cs"/>
                </a:rPr>
                <a:t>cURL ile yapılan doğrudan</a:t>
              </a:r>
              <a:br/>
              <a:r>
                <a:rPr lang="tr-TR" sz="1090" dirty="0">
                  <a:solidFill>
                    <a:srgbClr val="172B3A"/>
                  </a:solidFill>
                  <a:latin typeface="+mn-lt"/>
                  <a:ea typeface="+mn-ea"/>
                  <a:cs typeface="+mn-cs"/>
                </a:rPr>
                <a:t>istekleri engellemez.</a:t>
              </a:r>
            </a:p>
          </p:txBody>
        </p:sp>
        <p:sp>
          <p:nvSpPr>
            <p:cNvPr id="35" name="TextBox 35"/>
            <p:cNvSpPr txBox="1"/>
            <p:nvPr/>
          </p:nvSpPr>
          <p:spPr>
            <a:xfrm>
              <a:off x="8376476" y="2949654"/>
              <a:ext cx="2177478"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Kötü niyetli siteler kullanıcının</a:t>
              </a:r>
              <a:br/>
              <a:r>
                <a:rPr lang="tr-TR" sz="1090" dirty="0">
                  <a:solidFill>
                    <a:srgbClr val="172B3A"/>
                  </a:solidFill>
                  <a:latin typeface="+mn-lt"/>
                  <a:ea typeface="+mn-ea"/>
                  <a:cs typeface="+mn-cs"/>
                </a:rPr>
                <a:t>oturumunu kullanarak yetkisiz</a:t>
              </a:r>
              <a:br/>
              <a:r>
                <a:rPr lang="tr-TR" sz="1090" dirty="0">
                  <a:solidFill>
                    <a:srgbClr val="172B3A"/>
                  </a:solidFill>
                  <a:latin typeface="+mn-lt"/>
                  <a:ea typeface="+mn-ea"/>
                  <a:cs typeface="+mn-cs"/>
                </a:rPr>
                <a:t>istek gönderebilir.</a:t>
              </a:r>
            </a:p>
          </p:txBody>
        </p:sp>
        <p:sp>
          <p:nvSpPr>
            <p:cNvPr id="36" name="Line 36"/>
            <p:cNvSpPr/>
            <p:nvPr/>
          </p:nvSpPr>
          <p:spPr>
            <a:xfrm>
              <a:off x="609600" y="35814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4" name="row-ratelimit"/>
          <p:cNvGrpSpPr/>
          <p:nvPr/>
        </p:nvGrpSpPr>
        <p:grpSpPr>
          <a:xfrm>
            <a:off x="609600" y="3581400"/>
            <a:ext cx="10972800" cy="733425"/>
            <a:chOff x="609600" y="3581400"/>
            <a:chExt cx="10972800" cy="733425"/>
          </a:xfrm>
        </p:grpSpPr>
        <p:sp>
          <p:nvSpPr>
            <p:cNvPr id="38" name="Rectangle 38"/>
            <p:cNvSpPr/>
            <p:nvPr/>
          </p:nvSpPr>
          <p:spPr>
            <a:xfrm>
              <a:off x="609600" y="3581400"/>
              <a:ext cx="10972800" cy="723900"/>
            </a:xfrm>
            <a:prstGeom prst="rect">
              <a:avLst/>
            </a:prstGeom>
            <a:solidFill>
              <a:srgbClr val="EAF4F6"/>
            </a:solidFill>
            <a:ln>
              <a:noFill/>
            </a:ln>
          </p:spPr>
        </p:sp>
        <p:sp>
          <p:nvSpPr>
            <p:cNvPr id="39" name="TextBox 39"/>
            <p:cNvSpPr txBox="1"/>
            <p:nvPr/>
          </p:nvSpPr>
          <p:spPr>
            <a:xfrm>
              <a:off x="756285" y="3707606"/>
              <a:ext cx="1026202"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Rate Limiting</a:t>
              </a:r>
            </a:p>
          </p:txBody>
        </p:sp>
        <p:sp>
          <p:nvSpPr>
            <p:cNvPr id="40" name="TextBox 40"/>
            <p:cNvSpPr txBox="1"/>
            <p:nvPr/>
          </p:nvSpPr>
          <p:spPr>
            <a:xfrm>
              <a:off x="2280476" y="3673554"/>
              <a:ext cx="2059813"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Bir IP/kullanıcıdan gelebilecek</a:t>
              </a:r>
              <a:br/>
              <a:r>
                <a:rPr lang="tr-TR" sz="1090" dirty="0">
                  <a:solidFill>
                    <a:srgbClr val="172B3A"/>
                  </a:solidFill>
                  <a:latin typeface="+mn-lt"/>
                  <a:ea typeface="+mn-ea"/>
                  <a:cs typeface="+mn-cs"/>
                </a:rPr>
                <a:t>maksimum istek sayısını</a:t>
              </a:r>
              <a:br/>
              <a:r>
                <a:rPr lang="tr-TR" sz="1090" dirty="0">
                  <a:solidFill>
                    <a:srgbClr val="172B3A"/>
                  </a:solidFill>
                  <a:latin typeface="+mn-lt"/>
                  <a:ea typeface="+mn-ea"/>
                  <a:cs typeface="+mn-cs"/>
                </a:rPr>
                <a:t>sınırlar.</a:t>
              </a:r>
            </a:p>
          </p:txBody>
        </p:sp>
        <p:sp>
          <p:nvSpPr>
            <p:cNvPr id="41" name="TextBox 41"/>
            <p:cNvSpPr txBox="1"/>
            <p:nvPr/>
          </p:nvSpPr>
          <p:spPr>
            <a:xfrm>
              <a:off x="5328476" y="3673554"/>
              <a:ext cx="1949069" cy="38414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Yetkilendirme yapmaz; aşırı</a:t>
              </a:r>
              <a:br/>
              <a:r>
                <a:rPr lang="tr-TR" sz="1090" dirty="0">
                  <a:solidFill>
                    <a:srgbClr val="172B3A"/>
                  </a:solidFill>
                  <a:latin typeface="+mn-lt"/>
                  <a:ea typeface="+mn-ea"/>
                  <a:cs typeface="+mn-cs"/>
                </a:rPr>
                <a:t>trafiği 429 ile keser.</a:t>
              </a:r>
            </a:p>
          </p:txBody>
        </p:sp>
        <p:sp>
          <p:nvSpPr>
            <p:cNvPr id="42" name="TextBox 42"/>
            <p:cNvSpPr txBox="1"/>
            <p:nvPr/>
          </p:nvSpPr>
          <p:spPr>
            <a:xfrm>
              <a:off x="8376476" y="3673554"/>
              <a:ext cx="2039049"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Kaba kuvvet denemeleri ve DoS</a:t>
              </a:r>
              <a:br/>
              <a:r>
                <a:rPr lang="tr-TR" sz="1090" dirty="0">
                  <a:solidFill>
                    <a:srgbClr val="172B3A"/>
                  </a:solidFill>
                  <a:latin typeface="+mn-lt"/>
                  <a:ea typeface="+mn-ea"/>
                  <a:cs typeface="+mn-cs"/>
                </a:rPr>
                <a:t>saldırıları sunucuyu</a:t>
              </a:r>
              <a:br/>
              <a:r>
                <a:rPr lang="tr-TR" sz="1090" dirty="0">
                  <a:solidFill>
                    <a:srgbClr val="172B3A"/>
                  </a:solidFill>
                  <a:latin typeface="+mn-lt"/>
                  <a:ea typeface="+mn-ea"/>
                  <a:cs typeface="+mn-cs"/>
                </a:rPr>
                <a:t>erişilemez hale getirir.</a:t>
              </a:r>
            </a:p>
          </p:txBody>
        </p:sp>
        <p:sp>
          <p:nvSpPr>
            <p:cNvPr id="43" name="Line 43"/>
            <p:cNvSpPr/>
            <p:nvPr/>
          </p:nvSpPr>
          <p:spPr>
            <a:xfrm>
              <a:off x="609600" y="4305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0" name="row-secrets"/>
          <p:cNvGrpSpPr/>
          <p:nvPr/>
        </p:nvGrpSpPr>
        <p:grpSpPr>
          <a:xfrm>
            <a:off x="609600" y="4397454"/>
            <a:ext cx="10972800" cy="641271"/>
            <a:chOff x="609600" y="4397454"/>
            <a:chExt cx="10972800" cy="641271"/>
          </a:xfrm>
        </p:grpSpPr>
        <p:sp>
          <p:nvSpPr>
            <p:cNvPr id="45" name="TextBox 45"/>
            <p:cNvSpPr txBox="1"/>
            <p:nvPr/>
          </p:nvSpPr>
          <p:spPr>
            <a:xfrm>
              <a:off x="756285" y="4431506"/>
              <a:ext cx="915010" cy="391478"/>
            </a:xfrm>
            <a:prstGeom prst="rect">
              <a:avLst/>
            </a:prstGeom>
            <a:noFill/>
            <a:ln>
              <a:noFill/>
            </a:ln>
          </p:spPr>
          <p:txBody>
            <a:bodyPr wrap="none" lIns="0" tIns="0" rIns="0" bIns="0" anchor="t" anchorCtr="0">
              <a:spAutoFit/>
            </a:bodyPr>
            <a:lstStyle/>
            <a:p>
              <a:pPr algn="l">
                <a:lnSpc>
                  <a:spcPts val="1350"/>
                </a:lnSpc>
              </a:pPr>
              <a:r>
                <a:rPr lang="tr-TR" sz="1120" b="1" dirty="0">
                  <a:solidFill>
                    <a:srgbClr val="12355B"/>
                  </a:solidFill>
                  <a:latin typeface="+mn-lt"/>
                  <a:ea typeface="+mn-ea"/>
                  <a:cs typeface="+mn-cs"/>
                </a:rPr>
                <a:t>Sır Yönetimi</a:t>
              </a:r>
              <a:br/>
              <a:r>
                <a:rPr lang="tr-TR" sz="1120" b="1" dirty="0">
                  <a:solidFill>
                    <a:srgbClr val="12355B"/>
                  </a:solidFill>
                  <a:latin typeface="+mn-lt"/>
                  <a:ea typeface="+mn-ea"/>
                  <a:cs typeface="+mn-cs"/>
                </a:rPr>
                <a:t>(Secrets)</a:t>
              </a:r>
            </a:p>
          </p:txBody>
        </p:sp>
        <p:sp>
          <p:nvSpPr>
            <p:cNvPr id="46" name="TextBox 46"/>
            <p:cNvSpPr txBox="1"/>
            <p:nvPr/>
          </p:nvSpPr>
          <p:spPr>
            <a:xfrm>
              <a:off x="2280476" y="4397454"/>
              <a:ext cx="2198243"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DB şifreleri, JWT anahtarları ve</a:t>
              </a:r>
              <a:br/>
              <a:r>
                <a:rPr lang="tr-TR" sz="1090" dirty="0">
                  <a:solidFill>
                    <a:srgbClr val="172B3A"/>
                  </a:solidFill>
                  <a:latin typeface="+mn-lt"/>
                  <a:ea typeface="+mn-ea"/>
                  <a:cs typeface="+mn-cs"/>
                </a:rPr>
                <a:t>API anahtarlarını ortam</a:t>
              </a:r>
              <a:br/>
              <a:r>
                <a:rPr lang="tr-TR" sz="1090" dirty="0">
                  <a:solidFill>
                    <a:srgbClr val="172B3A"/>
                  </a:solidFill>
                  <a:latin typeface="+mn-lt"/>
                  <a:ea typeface="+mn-ea"/>
                  <a:cs typeface="+mn-cs"/>
                </a:rPr>
                <a:t>değişkenlerinde saklar.</a:t>
              </a:r>
            </a:p>
          </p:txBody>
        </p:sp>
        <p:sp>
          <p:nvSpPr>
            <p:cNvPr id="47" name="TextBox 47"/>
            <p:cNvSpPr txBox="1"/>
            <p:nvPr/>
          </p:nvSpPr>
          <p:spPr>
            <a:xfrm>
              <a:off x="5328476" y="4397454"/>
              <a:ext cx="1976755" cy="38414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Anahtarların kod içinde nasıl</a:t>
              </a:r>
              <a:br/>
              <a:r>
                <a:rPr lang="tr-TR" sz="1090" dirty="0">
                  <a:solidFill>
                    <a:srgbClr val="172B3A"/>
                  </a:solidFill>
                  <a:latin typeface="+mn-lt"/>
                  <a:ea typeface="+mn-ea"/>
                  <a:cs typeface="+mn-cs"/>
                </a:rPr>
                <a:t>kullanıldığını denetlemez.</a:t>
              </a:r>
            </a:p>
          </p:txBody>
        </p:sp>
        <p:sp>
          <p:nvSpPr>
            <p:cNvPr id="48" name="TextBox 48"/>
            <p:cNvSpPr txBox="1"/>
            <p:nvPr/>
          </p:nvSpPr>
          <p:spPr>
            <a:xfrm>
              <a:off x="8376476" y="4397454"/>
              <a:ext cx="2191322"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Üretim parolaları depoya sızar;</a:t>
              </a:r>
              <a:br/>
              <a:r>
                <a:rPr lang="tr-TR" sz="1090" dirty="0">
                  <a:solidFill>
                    <a:srgbClr val="172B3A"/>
                  </a:solidFill>
                  <a:latin typeface="+mn-lt"/>
                  <a:ea typeface="+mn-ea"/>
                  <a:cs typeface="+mn-cs"/>
                </a:rPr>
                <a:t>tüm altyapı tek hamlede ele</a:t>
              </a:r>
              <a:br/>
              <a:r>
                <a:rPr lang="tr-TR" sz="1090" dirty="0">
                  <a:solidFill>
                    <a:srgbClr val="172B3A"/>
                  </a:solidFill>
                  <a:latin typeface="+mn-lt"/>
                  <a:ea typeface="+mn-ea"/>
                  <a:cs typeface="+mn-cs"/>
                </a:rPr>
                <a:t>geçirilir.</a:t>
              </a:r>
            </a:p>
          </p:txBody>
        </p:sp>
        <p:sp>
          <p:nvSpPr>
            <p:cNvPr id="49" name="Line 49"/>
            <p:cNvSpPr/>
            <p:nvPr/>
          </p:nvSpPr>
          <p:spPr>
            <a:xfrm>
              <a:off x="609600" y="50292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6" name="row-owasp"/>
          <p:cNvGrpSpPr/>
          <p:nvPr/>
        </p:nvGrpSpPr>
        <p:grpSpPr>
          <a:xfrm>
            <a:off x="609600" y="5029200"/>
            <a:ext cx="10972800" cy="723900"/>
            <a:chOff x="609600" y="5029200"/>
            <a:chExt cx="10972800" cy="723900"/>
          </a:xfrm>
        </p:grpSpPr>
        <p:sp>
          <p:nvSpPr>
            <p:cNvPr id="51" name="Rectangle 51"/>
            <p:cNvSpPr/>
            <p:nvPr/>
          </p:nvSpPr>
          <p:spPr>
            <a:xfrm>
              <a:off x="609600" y="5029200"/>
              <a:ext cx="10972800" cy="723900"/>
            </a:xfrm>
            <a:prstGeom prst="rect">
              <a:avLst/>
            </a:prstGeom>
            <a:solidFill>
              <a:srgbClr val="EAF4F6"/>
            </a:solidFill>
            <a:ln>
              <a:noFill/>
            </a:ln>
          </p:spPr>
        </p:sp>
        <p:sp>
          <p:nvSpPr>
            <p:cNvPr id="52" name="TextBox 52"/>
            <p:cNvSpPr txBox="1"/>
            <p:nvPr/>
          </p:nvSpPr>
          <p:spPr>
            <a:xfrm>
              <a:off x="756285" y="5155406"/>
              <a:ext cx="735787" cy="391478"/>
            </a:xfrm>
            <a:prstGeom prst="rect">
              <a:avLst/>
            </a:prstGeom>
            <a:noFill/>
            <a:ln>
              <a:noFill/>
            </a:ln>
          </p:spPr>
          <p:txBody>
            <a:bodyPr wrap="none" lIns="0" tIns="0" rIns="0" bIns="0" anchor="t" anchorCtr="0">
              <a:spAutoFit/>
            </a:bodyPr>
            <a:lstStyle/>
            <a:p>
              <a:pPr algn="l">
                <a:lnSpc>
                  <a:spcPts val="1350"/>
                </a:lnSpc>
              </a:pPr>
              <a:r>
                <a:rPr lang="tr-TR" sz="1120" b="1" dirty="0">
                  <a:solidFill>
                    <a:srgbClr val="12355B"/>
                  </a:solidFill>
                  <a:latin typeface="+mn-lt"/>
                  <a:ea typeface="+mn-ea"/>
                  <a:cs typeface="+mn-cs"/>
                </a:rPr>
                <a:t>OWASP API</a:t>
              </a:r>
              <a:br/>
              <a:r>
                <a:rPr lang="tr-TR" sz="1120" b="1" dirty="0">
                  <a:solidFill>
                    <a:srgbClr val="12355B"/>
                  </a:solidFill>
                  <a:latin typeface="+mn-lt"/>
                  <a:ea typeface="+mn-ea"/>
                  <a:cs typeface="+mn-cs"/>
                </a:rPr>
                <a:t>Güvenliği</a:t>
              </a:r>
            </a:p>
          </p:txBody>
        </p:sp>
        <p:sp>
          <p:nvSpPr>
            <p:cNvPr id="53" name="TextBox 53"/>
            <p:cNvSpPr txBox="1"/>
            <p:nvPr/>
          </p:nvSpPr>
          <p:spPr>
            <a:xfrm>
              <a:off x="2280476" y="5121354"/>
              <a:ext cx="1942148"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API'lere yönelik en yaygın 10</a:t>
              </a:r>
              <a:br/>
              <a:r>
                <a:rPr lang="tr-TR" sz="1090" dirty="0">
                  <a:solidFill>
                    <a:srgbClr val="172B3A"/>
                  </a:solidFill>
                  <a:latin typeface="+mn-lt"/>
                  <a:ea typeface="+mn-ea"/>
                  <a:cs typeface="+mn-cs"/>
                </a:rPr>
                <a:t>güvenlik açığını önlemeye</a:t>
              </a:r>
              <a:br/>
              <a:r>
                <a:rPr lang="tr-TR" sz="1090" dirty="0">
                  <a:solidFill>
                    <a:srgbClr val="172B3A"/>
                  </a:solidFill>
                  <a:latin typeface="+mn-lt"/>
                  <a:ea typeface="+mn-ea"/>
                  <a:cs typeface="+mn-cs"/>
                </a:rPr>
                <a:t>odaklanan kılavuzdur.</a:t>
              </a:r>
            </a:p>
          </p:txBody>
        </p:sp>
        <p:sp>
          <p:nvSpPr>
            <p:cNvPr id="54" name="TextBox 54"/>
            <p:cNvSpPr txBox="1"/>
            <p:nvPr/>
          </p:nvSpPr>
          <p:spPr>
            <a:xfrm>
              <a:off x="5328476" y="5121354"/>
              <a:ext cx="2059813"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Tek bir kütüphane değildir; bir</a:t>
              </a:r>
              <a:br/>
              <a:r>
                <a:rPr lang="tr-TR" sz="1090" dirty="0">
                  <a:solidFill>
                    <a:srgbClr val="172B3A"/>
                  </a:solidFill>
                  <a:latin typeface="+mn-lt"/>
                  <a:ea typeface="+mn-ea"/>
                  <a:cs typeface="+mn-cs"/>
                </a:rPr>
                <a:t>tasarım ve kodlama</a:t>
              </a:r>
              <a:br/>
              <a:r>
                <a:rPr lang="tr-TR" sz="1090" dirty="0">
                  <a:solidFill>
                    <a:srgbClr val="172B3A"/>
                  </a:solidFill>
                  <a:latin typeface="+mn-lt"/>
                  <a:ea typeface="+mn-ea"/>
                  <a:cs typeface="+mn-cs"/>
                </a:rPr>
                <a:t>disiplinidir.</a:t>
              </a:r>
            </a:p>
          </p:txBody>
        </p:sp>
        <p:sp>
          <p:nvSpPr>
            <p:cNvPr id="55" name="TextBox 55"/>
            <p:cNvSpPr txBox="1"/>
            <p:nvPr/>
          </p:nvSpPr>
          <p:spPr>
            <a:xfrm>
              <a:off x="8376476" y="5121354"/>
              <a:ext cx="2232850" cy="555593"/>
            </a:xfrm>
            <a:prstGeom prst="rect">
              <a:avLst/>
            </a:prstGeom>
            <a:noFill/>
            <a:ln>
              <a:noFill/>
            </a:ln>
          </p:spPr>
          <p:txBody>
            <a:bodyPr wrap="none" lIns="0" tIns="0" rIns="0" bIns="0" anchor="t" anchorCtr="0">
              <a:spAutoFit/>
            </a:bodyPr>
            <a:lstStyle/>
            <a:p>
              <a:pPr algn="l">
                <a:lnSpc>
                  <a:spcPts val="1350"/>
                </a:lnSpc>
              </a:pPr>
              <a:r>
                <a:rPr lang="tr-TR" sz="1090" dirty="0">
                  <a:solidFill>
                    <a:srgbClr val="172B3A"/>
                  </a:solidFill>
                  <a:latin typeface="+mn-lt"/>
                  <a:ea typeface="+mn-ea"/>
                  <a:cs typeface="+mn-cs"/>
                </a:rPr>
                <a:t>Geliştirici bariz yetki ve veri</a:t>
              </a:r>
              <a:br/>
              <a:r>
                <a:rPr lang="tr-TR" sz="1090" dirty="0">
                  <a:solidFill>
                    <a:srgbClr val="172B3A"/>
                  </a:solidFill>
                  <a:latin typeface="+mn-lt"/>
                  <a:ea typeface="+mn-ea"/>
                  <a:cs typeface="+mn-cs"/>
                </a:rPr>
                <a:t>sızıntısı açıklarından habersiz</a:t>
              </a:r>
              <a:br/>
              <a:r>
                <a:rPr lang="tr-TR" sz="1090" dirty="0">
                  <a:solidFill>
                    <a:srgbClr val="172B3A"/>
                  </a:solidFill>
                  <a:latin typeface="+mn-lt"/>
                  <a:ea typeface="+mn-ea"/>
                  <a:cs typeface="+mn-cs"/>
                </a:rPr>
                <a:t>kalır.</a:t>
              </a:r>
            </a:p>
          </p:txBody>
        </p:sp>
      </p:grpSp>
      <p:sp>
        <p:nvSpPr>
          <p:cNvPr id="57" name="TextBox 5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6553696" cy="668845"/>
            <a:chOff x="609600" y="171450"/>
            <a:chExt cx="6553696"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39090"/>
                <a:ext cx="265748" cy="236220"/>
                <a:chOff x="762476" y="339090"/>
                <a:chExt cx="265748" cy="236220"/>
              </a:xfrm>
            </p:grpSpPr>
            <p:sp>
              <p:nvSpPr>
                <p:cNvPr id="5" name="Freeform 5"/>
                <p:cNvSpPr/>
                <p:nvPr/>
              </p:nvSpPr>
              <p:spPr>
                <a:xfrm>
                  <a:off x="762476" y="339090"/>
                  <a:ext cx="265748" cy="118110"/>
                </a:xfrm>
                <a:custGeom>
                  <a:avLst/>
                  <a:gdLst/>
                  <a:ahLst/>
                  <a:cxnLst/>
                  <a:rect l="l" t="t" r="r" b="b"/>
                  <a:pathLst>
                    <a:path w="265748" h="118110">
                      <a:moveTo>
                        <a:pt x="0" y="44291"/>
                      </a:moveTo>
                      <a:cubicBezTo>
                        <a:pt x="0" y="19830"/>
                        <a:pt x="19830" y="0"/>
                        <a:pt x="44291" y="0"/>
                      </a:cubicBezTo>
                      <a:lnTo>
                        <a:pt x="221456" y="0"/>
                      </a:lnTo>
                      <a:cubicBezTo>
                        <a:pt x="245918" y="0"/>
                        <a:pt x="265748" y="19830"/>
                        <a:pt x="265748" y="44291"/>
                      </a:cubicBezTo>
                      <a:lnTo>
                        <a:pt x="265748" y="73819"/>
                      </a:lnTo>
                      <a:cubicBezTo>
                        <a:pt x="265748" y="98280"/>
                        <a:pt x="245918" y="118110"/>
                        <a:pt x="221456" y="118110"/>
                      </a:cubicBezTo>
                      <a:lnTo>
                        <a:pt x="44291" y="118110"/>
                      </a:lnTo>
                      <a:cubicBezTo>
                        <a:pt x="19830" y="118110"/>
                        <a:pt x="0" y="98280"/>
                        <a:pt x="0" y="73819"/>
                      </a:cubicBezTo>
                      <a:lnTo>
                        <a:pt x="0" y="44291"/>
                      </a:lnTo>
                    </a:path>
                  </a:pathLst>
                </a:custGeom>
                <a:noFill/>
                <a:ln w="24759" cap="rnd">
                  <a:solidFill>
                    <a:srgbClr val="FFFFFF"/>
                  </a:solidFill>
                  <a:round/>
                </a:ln>
              </p:spPr>
            </p:sp>
            <p:sp>
              <p:nvSpPr>
                <p:cNvPr id="6" name="Freeform 6"/>
                <p:cNvSpPr/>
                <p:nvPr/>
              </p:nvSpPr>
              <p:spPr>
                <a:xfrm>
                  <a:off x="762476" y="457200"/>
                  <a:ext cx="265748" cy="118110"/>
                </a:xfrm>
                <a:custGeom>
                  <a:avLst/>
                  <a:gdLst/>
                  <a:ahLst/>
                  <a:cxnLst/>
                  <a:rect l="l" t="t" r="r" b="b"/>
                  <a:pathLst>
                    <a:path w="265748" h="118110">
                      <a:moveTo>
                        <a:pt x="0" y="44291"/>
                      </a:moveTo>
                      <a:cubicBezTo>
                        <a:pt x="0" y="19830"/>
                        <a:pt x="19830" y="0"/>
                        <a:pt x="44291" y="0"/>
                      </a:cubicBezTo>
                      <a:lnTo>
                        <a:pt x="221456" y="0"/>
                      </a:lnTo>
                      <a:cubicBezTo>
                        <a:pt x="245918" y="0"/>
                        <a:pt x="265748" y="19830"/>
                        <a:pt x="265748" y="44291"/>
                      </a:cubicBezTo>
                      <a:lnTo>
                        <a:pt x="265748" y="73819"/>
                      </a:lnTo>
                      <a:cubicBezTo>
                        <a:pt x="265748" y="98280"/>
                        <a:pt x="245918" y="118110"/>
                        <a:pt x="221456" y="118110"/>
                      </a:cubicBezTo>
                      <a:lnTo>
                        <a:pt x="44291" y="118110"/>
                      </a:lnTo>
                      <a:cubicBezTo>
                        <a:pt x="19830" y="118110"/>
                        <a:pt x="0" y="98280"/>
                        <a:pt x="0" y="73819"/>
                      </a:cubicBezTo>
                      <a:lnTo>
                        <a:pt x="0" y="44291"/>
                      </a:lnTo>
                    </a:path>
                  </a:pathLst>
                </a:custGeom>
                <a:noFill/>
                <a:ln w="24759" cap="rnd">
                  <a:solidFill>
                    <a:srgbClr val="FFFFFF"/>
                  </a:solidFill>
                  <a:round/>
                </a:ln>
              </p:spPr>
            </p:sp>
            <p:sp>
              <p:nvSpPr>
                <p:cNvPr id="7" name="Freeform 7"/>
                <p:cNvSpPr/>
                <p:nvPr/>
              </p:nvSpPr>
              <p:spPr>
                <a:xfrm>
                  <a:off x="821531" y="398145"/>
                  <a:ext cx="9525" cy="9525"/>
                </a:xfrm>
                <a:custGeom>
                  <a:avLst/>
                  <a:gdLst/>
                  <a:ahLst/>
                  <a:cxnLst/>
                  <a:rect l="l" t="t" r="r" b="b"/>
                  <a:pathLst>
                    <a:path w="9525" h="9525">
                      <a:moveTo>
                        <a:pt x="0" y="0"/>
                      </a:moveTo>
                      <a:lnTo>
                        <a:pt x="0" y="148"/>
                      </a:lnTo>
                    </a:path>
                  </a:pathLst>
                </a:custGeom>
                <a:noFill/>
                <a:ln w="24759" cap="rnd">
                  <a:solidFill>
                    <a:srgbClr val="FFFFFF"/>
                  </a:solidFill>
                  <a:round/>
                </a:ln>
              </p:spPr>
            </p:sp>
            <p:sp>
              <p:nvSpPr>
                <p:cNvPr id="8" name="Freeform 8"/>
                <p:cNvSpPr/>
                <p:nvPr/>
              </p:nvSpPr>
              <p:spPr>
                <a:xfrm>
                  <a:off x="821531" y="516255"/>
                  <a:ext cx="9525" cy="9525"/>
                </a:xfrm>
                <a:custGeom>
                  <a:avLst/>
                  <a:gdLst/>
                  <a:ahLst/>
                  <a:cxnLst/>
                  <a:rect l="l" t="t" r="r" b="b"/>
                  <a:pathLst>
                    <a:path w="9525" h="9525">
                      <a:moveTo>
                        <a:pt x="0" y="0"/>
                      </a:moveTo>
                      <a:lnTo>
                        <a:pt x="0" y="148"/>
                      </a:lnTo>
                    </a:path>
                  </a:pathLst>
                </a:custGeom>
                <a:noFill/>
                <a:ln w="24759" cap="rnd">
                  <a:solidFill>
                    <a:srgbClr val="FFFFFF"/>
                  </a:solidFill>
                  <a:round/>
                </a:ln>
              </p:spPr>
            </p:sp>
          </p:grpSp>
        </p:grpSp>
        <p:sp>
          <p:nvSpPr>
            <p:cNvPr id="11" name="TextBox 11"/>
            <p:cNvSpPr txBox="1"/>
            <p:nvPr/>
          </p:nvSpPr>
          <p:spPr>
            <a:xfrm>
              <a:off x="1299972" y="282892"/>
              <a:ext cx="586332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Güvenli backend'e genel bakış</a:t>
              </a:r>
            </a:p>
          </p:txBody>
        </p:sp>
      </p:grpSp>
      <p:grpSp>
        <p:nvGrpSpPr>
          <p:cNvPr id="16" name="definition-box"/>
          <p:cNvGrpSpPr/>
          <p:nvPr/>
        </p:nvGrpSpPr>
        <p:grpSpPr>
          <a:xfrm>
            <a:off x="609600" y="1219200"/>
            <a:ext cx="10972800" cy="937451"/>
            <a:chOff x="609600" y="1219200"/>
            <a:chExt cx="10972800" cy="937451"/>
          </a:xfrm>
        </p:grpSpPr>
        <p:sp>
          <p:nvSpPr>
            <p:cNvPr id="13" name="Rectangle 13"/>
            <p:cNvSpPr/>
            <p:nvPr/>
          </p:nvSpPr>
          <p:spPr>
            <a:xfrm>
              <a:off x="609600" y="1219200"/>
              <a:ext cx="10972800" cy="914400"/>
            </a:xfrm>
            <a:prstGeom prst="roundRect">
              <a:avLst>
                <a:gd name="adj" fmla="val 8333"/>
              </a:avLst>
            </a:prstGeom>
            <a:solidFill>
              <a:srgbClr val="EAF4F6"/>
            </a:solidFill>
            <a:ln>
              <a:noFill/>
            </a:ln>
          </p:spPr>
        </p:sp>
        <p:sp>
          <p:nvSpPr>
            <p:cNvPr id="14" name="TextBox 14"/>
            <p:cNvSpPr txBox="1"/>
            <p:nvPr/>
          </p:nvSpPr>
          <p:spPr>
            <a:xfrm>
              <a:off x="906399" y="13539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5" name="TextBox 15"/>
            <p:cNvSpPr txBox="1"/>
            <p:nvPr/>
          </p:nvSpPr>
          <p:spPr>
            <a:xfrm>
              <a:off x="907542" y="1664018"/>
              <a:ext cx="9700641"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Güvenli bir backend, tek bir denetime değil, birbirini tamamlayan çok katmanlı bir savunmaya</a:t>
              </a:r>
              <a:br/>
              <a:r>
                <a:rPr lang="tr-TR" sz="1350" dirty="0">
                  <a:solidFill>
                    <a:srgbClr val="172B3A"/>
                  </a:solidFill>
                  <a:latin typeface="+mn-lt"/>
                  <a:ea typeface="+mn-ea"/>
                  <a:cs typeface="+mn-cs"/>
                </a:rPr>
                <a:t>dayanır: doğrulama kötü veriyi erken reddeder, hata yönetimi tutarlılık sağlar, CORS ve rate limiting sınır çizer.</a:t>
              </a:r>
            </a:p>
          </p:txBody>
        </p:sp>
      </p:grpSp>
      <p:grpSp>
        <p:nvGrpSpPr>
          <p:cNvPr id="24" name="col-defense"/>
          <p:cNvGrpSpPr/>
          <p:nvPr/>
        </p:nvGrpSpPr>
        <p:grpSpPr>
          <a:xfrm>
            <a:off x="609600" y="2362200"/>
            <a:ext cx="5257800" cy="2857500"/>
            <a:chOff x="609600" y="2362200"/>
            <a:chExt cx="5257800" cy="2857500"/>
          </a:xfrm>
        </p:grpSpPr>
        <p:sp>
          <p:nvSpPr>
            <p:cNvPr id="17" name="Rectangle 17"/>
            <p:cNvSpPr/>
            <p:nvPr/>
          </p:nvSpPr>
          <p:spPr>
            <a:xfrm>
              <a:off x="609600" y="2362200"/>
              <a:ext cx="5257800" cy="2857500"/>
            </a:xfrm>
            <a:prstGeom prst="roundRect">
              <a:avLst>
                <a:gd name="adj" fmla="val 3333"/>
              </a:avLst>
            </a:prstGeom>
            <a:solidFill>
              <a:srgbClr val="FFFFFF"/>
            </a:solidFill>
            <a:ln w="14288">
              <a:solidFill>
                <a:srgbClr val="B8CBD3"/>
              </a:solidFill>
            </a:ln>
          </p:spPr>
        </p:sp>
        <p:grpSp>
          <p:nvGrpSpPr>
            <p:cNvPr id="21" name="icon-shield"/>
            <p:cNvGrpSpPr/>
            <p:nvPr/>
          </p:nvGrpSpPr>
          <p:grpSpPr>
            <a:xfrm>
              <a:off x="1009650" y="2667000"/>
              <a:ext cx="266700" cy="361950"/>
              <a:chOff x="1009650" y="2667000"/>
              <a:chExt cx="266700" cy="361950"/>
            </a:xfrm>
          </p:grpSpPr>
          <p:sp>
            <p:nvSpPr>
              <p:cNvPr id="18" name="Freeform 18"/>
              <p:cNvSpPr/>
              <p:nvPr/>
            </p:nvSpPr>
            <p:spPr>
              <a:xfrm>
                <a:off x="1009650" y="2838450"/>
                <a:ext cx="266700" cy="190500"/>
              </a:xfrm>
              <a:custGeom>
                <a:avLst/>
                <a:gdLst/>
                <a:ahLst/>
                <a:cxnLst/>
                <a:rect l="l" t="t" r="r" b="b"/>
                <a:pathLst>
                  <a:path w="266700" h="190500">
                    <a:moveTo>
                      <a:pt x="0" y="38100"/>
                    </a:moveTo>
                    <a:cubicBezTo>
                      <a:pt x="0" y="17058"/>
                      <a:pt x="17058" y="0"/>
                      <a:pt x="38100" y="0"/>
                    </a:cubicBezTo>
                    <a:lnTo>
                      <a:pt x="228600" y="0"/>
                    </a:lnTo>
                    <a:cubicBezTo>
                      <a:pt x="249642" y="0"/>
                      <a:pt x="266700" y="17058"/>
                      <a:pt x="266700" y="38100"/>
                    </a:cubicBezTo>
                    <a:lnTo>
                      <a:pt x="266700" y="152400"/>
                    </a:lnTo>
                    <a:cubicBezTo>
                      <a:pt x="266700" y="173442"/>
                      <a:pt x="249642" y="190500"/>
                      <a:pt x="228600" y="190500"/>
                    </a:cubicBezTo>
                    <a:lnTo>
                      <a:pt x="38100" y="190500"/>
                    </a:lnTo>
                    <a:cubicBezTo>
                      <a:pt x="17058" y="190500"/>
                      <a:pt x="0" y="173442"/>
                      <a:pt x="0" y="152400"/>
                    </a:cubicBezTo>
                    <a:lnTo>
                      <a:pt x="0" y="38100"/>
                    </a:lnTo>
                  </a:path>
                </a:pathLst>
              </a:custGeom>
              <a:noFill/>
              <a:ln w="19050" cap="rnd">
                <a:solidFill>
                  <a:srgbClr val="12355B"/>
                </a:solidFill>
                <a:round/>
              </a:ln>
            </p:spPr>
          </p:sp>
          <p:sp>
            <p:nvSpPr>
              <p:cNvPr id="19" name="Freeform 19"/>
              <p:cNvSpPr/>
              <p:nvPr/>
            </p:nvSpPr>
            <p:spPr>
              <a:xfrm>
                <a:off x="1123950" y="291465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cap="rnd">
                <a:solidFill>
                  <a:srgbClr val="12355B"/>
                </a:solidFill>
                <a:round/>
              </a:ln>
            </p:spPr>
          </p:sp>
          <p:sp>
            <p:nvSpPr>
              <p:cNvPr id="20" name="Freeform 20"/>
              <p:cNvSpPr/>
              <p:nvPr/>
            </p:nvSpPr>
            <p:spPr>
              <a:xfrm>
                <a:off x="1066800" y="2667000"/>
                <a:ext cx="152400" cy="171450"/>
              </a:xfrm>
              <a:custGeom>
                <a:avLst/>
                <a:gdLst/>
                <a:ahLst/>
                <a:cxnLst/>
                <a:rect l="l" t="t" r="r" b="b"/>
                <a:pathLst>
                  <a:path w="152400" h="171450">
                    <a:moveTo>
                      <a:pt x="0" y="171450"/>
                    </a:moveTo>
                    <a:lnTo>
                      <a:pt x="0" y="76200"/>
                    </a:lnTo>
                    <a:cubicBezTo>
                      <a:pt x="0" y="34116"/>
                      <a:pt x="34116" y="0"/>
                      <a:pt x="76200" y="0"/>
                    </a:cubicBezTo>
                    <a:cubicBezTo>
                      <a:pt x="118284" y="0"/>
                      <a:pt x="152400" y="34116"/>
                      <a:pt x="152400" y="76200"/>
                    </a:cubicBezTo>
                  </a:path>
                </a:pathLst>
              </a:custGeom>
              <a:noFill/>
              <a:ln w="19050" cap="rnd">
                <a:solidFill>
                  <a:srgbClr val="12355B"/>
                </a:solidFill>
                <a:round/>
              </a:ln>
            </p:spPr>
          </p:sp>
        </p:grpSp>
        <p:sp>
          <p:nvSpPr>
            <p:cNvPr id="22" name="TextBox 22"/>
            <p:cNvSpPr txBox="1"/>
            <p:nvPr/>
          </p:nvSpPr>
          <p:spPr>
            <a:xfrm>
              <a:off x="1514856" y="2625090"/>
              <a:ext cx="224019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Katmanlı savunma</a:t>
              </a:r>
            </a:p>
          </p:txBody>
        </p:sp>
        <p:sp>
          <p:nvSpPr>
            <p:cNvPr id="23" name="TextBox 23"/>
            <p:cNvSpPr txBox="1"/>
            <p:nvPr/>
          </p:nvSpPr>
          <p:spPr>
            <a:xfrm>
              <a:off x="907542" y="3245168"/>
              <a:ext cx="2868358" cy="15022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NSA'nın 1990'ların sonundaki</a:t>
              </a:r>
              <a:br/>
              <a:r>
                <a:rPr lang="tr-TR" sz="1350" dirty="0">
                  <a:solidFill>
                    <a:srgbClr val="172B3A"/>
                  </a:solidFill>
                  <a:latin typeface="+mn-lt"/>
                  <a:ea typeface="+mn-ea"/>
                  <a:cs typeface="+mn-cs"/>
                </a:rPr>
                <a:t>"Defense in Depth" rehberinden</a:t>
              </a:r>
              <a:br/>
              <a:r>
                <a:rPr lang="tr-TR" sz="1350" dirty="0">
                  <a:solidFill>
                    <a:srgbClr val="172B3A"/>
                  </a:solidFill>
                  <a:latin typeface="+mn-lt"/>
                  <a:ea typeface="+mn-ea"/>
                  <a:cs typeface="+mn-cs"/>
                </a:rPr>
                <a:t>gelir: tek bir denetimin başarısız</a:t>
              </a:r>
              <a:br/>
              <a:r>
                <a:rPr lang="tr-TR" sz="1350" dirty="0">
                  <a:solidFill>
                    <a:srgbClr val="172B3A"/>
                  </a:solidFill>
                  <a:latin typeface="+mn-lt"/>
                  <a:ea typeface="+mn-ea"/>
                  <a:cs typeface="+mn-cs"/>
                </a:rPr>
                <a:t>olması sistemi tamamen açık</a:t>
              </a:r>
              <a:br/>
              <a:r>
                <a:rPr lang="tr-TR" sz="1350" dirty="0">
                  <a:solidFill>
                    <a:srgbClr val="172B3A"/>
                  </a:solidFill>
                  <a:latin typeface="+mn-lt"/>
                  <a:ea typeface="+mn-ea"/>
                  <a:cs typeface="+mn-cs"/>
                </a:rPr>
                <a:t>bırakmamalıdır; her katman</a:t>
              </a:r>
              <a:br/>
              <a:r>
                <a:rPr lang="tr-TR" sz="1350" dirty="0">
                  <a:solidFill>
                    <a:srgbClr val="172B3A"/>
                  </a:solidFill>
                  <a:latin typeface="+mn-lt"/>
                  <a:ea typeface="+mn-ea"/>
                  <a:cs typeface="+mn-cs"/>
                </a:rPr>
                <a:t>diğerinin olası açığını kapatır.</a:t>
              </a:r>
            </a:p>
          </p:txBody>
        </p:sp>
      </p:grpSp>
      <p:grpSp>
        <p:nvGrpSpPr>
          <p:cNvPr id="34" name="col-surface"/>
          <p:cNvGrpSpPr/>
          <p:nvPr/>
        </p:nvGrpSpPr>
        <p:grpSpPr>
          <a:xfrm>
            <a:off x="6324600" y="2362200"/>
            <a:ext cx="5257800" cy="2857500"/>
            <a:chOff x="6324600" y="2362200"/>
            <a:chExt cx="5257800" cy="2857500"/>
          </a:xfrm>
        </p:grpSpPr>
        <p:sp>
          <p:nvSpPr>
            <p:cNvPr id="25" name="Rectangle 25"/>
            <p:cNvSpPr/>
            <p:nvPr/>
          </p:nvSpPr>
          <p:spPr>
            <a:xfrm>
              <a:off x="6324600" y="2362200"/>
              <a:ext cx="5257800" cy="2857500"/>
            </a:xfrm>
            <a:prstGeom prst="roundRect">
              <a:avLst>
                <a:gd name="adj" fmla="val 3333"/>
              </a:avLst>
            </a:prstGeom>
            <a:solidFill>
              <a:srgbClr val="FFFFFF"/>
            </a:solidFill>
            <a:ln w="14288">
              <a:solidFill>
                <a:srgbClr val="2E86AB"/>
              </a:solidFill>
            </a:ln>
          </p:spPr>
        </p:sp>
        <p:grpSp>
          <p:nvGrpSpPr>
            <p:cNvPr id="31" name="icon-world"/>
            <p:cNvGrpSpPr/>
            <p:nvPr/>
          </p:nvGrpSpPr>
          <p:grpSpPr>
            <a:xfrm>
              <a:off x="6686550" y="2686050"/>
              <a:ext cx="342900" cy="342900"/>
              <a:chOff x="6686550" y="2686050"/>
              <a:chExt cx="342900" cy="342900"/>
            </a:xfrm>
          </p:grpSpPr>
          <p:sp>
            <p:nvSpPr>
              <p:cNvPr id="26" name="Freeform 26"/>
              <p:cNvSpPr/>
              <p:nvPr/>
            </p:nvSpPr>
            <p:spPr>
              <a:xfrm>
                <a:off x="6686550" y="2686050"/>
                <a:ext cx="342900" cy="342900"/>
              </a:xfrm>
              <a:custGeom>
                <a:avLst/>
                <a:gdLst/>
                <a:ahLst/>
                <a:cxnLst/>
                <a:rect l="l" t="t" r="r" b="b"/>
                <a:pathLst>
                  <a:path w="342900" h="342900">
                    <a:moveTo>
                      <a:pt x="0" y="171450"/>
                    </a:moveTo>
                    <a:cubicBezTo>
                      <a:pt x="0" y="266139"/>
                      <a:pt x="76761" y="342900"/>
                      <a:pt x="171450" y="342900"/>
                    </a:cubicBezTo>
                    <a:cubicBezTo>
                      <a:pt x="266139" y="342900"/>
                      <a:pt x="342900" y="266139"/>
                      <a:pt x="342900" y="171450"/>
                    </a:cubicBezTo>
                    <a:cubicBezTo>
                      <a:pt x="342900" y="76761"/>
                      <a:pt x="266139" y="0"/>
                      <a:pt x="171450" y="0"/>
                    </a:cubicBezTo>
                    <a:cubicBezTo>
                      <a:pt x="76761" y="0"/>
                      <a:pt x="0" y="76761"/>
                      <a:pt x="0" y="171450"/>
                    </a:cubicBezTo>
                  </a:path>
                </a:pathLst>
              </a:custGeom>
              <a:noFill/>
              <a:ln w="19050" cap="rnd">
                <a:solidFill>
                  <a:srgbClr val="00A6A6"/>
                </a:solidFill>
                <a:round/>
              </a:ln>
            </p:spPr>
          </p:sp>
          <p:sp>
            <p:nvSpPr>
              <p:cNvPr id="27" name="Freeform 27"/>
              <p:cNvSpPr/>
              <p:nvPr/>
            </p:nvSpPr>
            <p:spPr>
              <a:xfrm>
                <a:off x="6697980" y="2800350"/>
                <a:ext cx="320040" cy="9525"/>
              </a:xfrm>
              <a:custGeom>
                <a:avLst/>
                <a:gdLst/>
                <a:ahLst/>
                <a:cxnLst/>
                <a:rect l="l" t="t" r="r" b="b"/>
                <a:pathLst>
                  <a:path w="320040" h="9525">
                    <a:moveTo>
                      <a:pt x="0" y="0"/>
                    </a:moveTo>
                    <a:lnTo>
                      <a:pt x="320040" y="0"/>
                    </a:lnTo>
                  </a:path>
                </a:pathLst>
              </a:custGeom>
              <a:noFill/>
              <a:ln w="19050" cap="rnd">
                <a:solidFill>
                  <a:srgbClr val="00A6A6"/>
                </a:solidFill>
                <a:round/>
              </a:ln>
            </p:spPr>
          </p:sp>
          <p:sp>
            <p:nvSpPr>
              <p:cNvPr id="28" name="Freeform 28"/>
              <p:cNvSpPr/>
              <p:nvPr/>
            </p:nvSpPr>
            <p:spPr>
              <a:xfrm>
                <a:off x="6697980" y="2914650"/>
                <a:ext cx="320040" cy="9525"/>
              </a:xfrm>
              <a:custGeom>
                <a:avLst/>
                <a:gdLst/>
                <a:ahLst/>
                <a:cxnLst/>
                <a:rect l="l" t="t" r="r" b="b"/>
                <a:pathLst>
                  <a:path w="320040" h="9525">
                    <a:moveTo>
                      <a:pt x="0" y="0"/>
                    </a:moveTo>
                    <a:lnTo>
                      <a:pt x="320040" y="0"/>
                    </a:lnTo>
                  </a:path>
                </a:pathLst>
              </a:custGeom>
              <a:noFill/>
              <a:ln w="19050" cap="rnd">
                <a:solidFill>
                  <a:srgbClr val="00A6A6"/>
                </a:solidFill>
                <a:round/>
              </a:ln>
            </p:spPr>
          </p:sp>
          <p:sp>
            <p:nvSpPr>
              <p:cNvPr id="29" name="Freeform 29"/>
              <p:cNvSpPr/>
              <p:nvPr/>
            </p:nvSpPr>
            <p:spPr>
              <a:xfrm>
                <a:off x="6782999" y="2686050"/>
                <a:ext cx="65476" cy="342900"/>
              </a:xfrm>
              <a:custGeom>
                <a:avLst/>
                <a:gdLst/>
                <a:ahLst/>
                <a:cxnLst/>
                <a:rect l="l" t="t" r="r" b="b"/>
                <a:pathLst>
                  <a:path w="65476" h="342900">
                    <a:moveTo>
                      <a:pt x="65476" y="0"/>
                    </a:moveTo>
                    <a:cubicBezTo>
                      <a:pt x="0" y="104923"/>
                      <a:pt x="0" y="237977"/>
                      <a:pt x="65476" y="342900"/>
                    </a:cubicBezTo>
                  </a:path>
                </a:pathLst>
              </a:custGeom>
              <a:noFill/>
              <a:ln w="19050" cap="rnd">
                <a:solidFill>
                  <a:srgbClr val="00A6A6"/>
                </a:solidFill>
                <a:round/>
              </a:ln>
            </p:spPr>
          </p:sp>
          <p:sp>
            <p:nvSpPr>
              <p:cNvPr id="30" name="Freeform 30"/>
              <p:cNvSpPr/>
              <p:nvPr/>
            </p:nvSpPr>
            <p:spPr>
              <a:xfrm>
                <a:off x="6867525" y="2686050"/>
                <a:ext cx="65476" cy="342900"/>
              </a:xfrm>
              <a:custGeom>
                <a:avLst/>
                <a:gdLst/>
                <a:ahLst/>
                <a:cxnLst/>
                <a:rect l="l" t="t" r="r" b="b"/>
                <a:pathLst>
                  <a:path w="65476" h="342900">
                    <a:moveTo>
                      <a:pt x="0" y="0"/>
                    </a:moveTo>
                    <a:cubicBezTo>
                      <a:pt x="65476" y="104923"/>
                      <a:pt x="65476" y="237977"/>
                      <a:pt x="0" y="342900"/>
                    </a:cubicBezTo>
                  </a:path>
                </a:pathLst>
              </a:custGeom>
              <a:noFill/>
              <a:ln w="19050" cap="rnd">
                <a:solidFill>
                  <a:srgbClr val="00A6A6"/>
                </a:solidFill>
                <a:round/>
              </a:ln>
            </p:spPr>
          </p:sp>
        </p:grpSp>
        <p:sp>
          <p:nvSpPr>
            <p:cNvPr id="32" name="TextBox 32"/>
            <p:cNvSpPr txBox="1"/>
            <p:nvPr/>
          </p:nvSpPr>
          <p:spPr>
            <a:xfrm>
              <a:off x="7229856" y="2625090"/>
              <a:ext cx="404706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Saldırı yüzeyi (attack surface)</a:t>
              </a:r>
            </a:p>
          </p:txBody>
        </p:sp>
        <p:sp>
          <p:nvSpPr>
            <p:cNvPr id="33" name="TextBox 33"/>
            <p:cNvSpPr txBox="1"/>
            <p:nvPr/>
          </p:nvSpPr>
          <p:spPr>
            <a:xfrm>
              <a:off x="6622542" y="3245168"/>
              <a:ext cx="3185541" cy="15022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Sistemin dışarıdan etkileşime açık</a:t>
              </a:r>
              <a:br/>
              <a:r>
                <a:rPr lang="tr-TR" sz="1350" dirty="0">
                  <a:solidFill>
                    <a:srgbClr val="172B3A"/>
                  </a:solidFill>
                  <a:latin typeface="+mn-lt"/>
                  <a:ea typeface="+mn-ea"/>
                  <a:cs typeface="+mn-cs"/>
                </a:rPr>
                <a:t>toplam nokta kümesidir. Girdi, kimlik,</a:t>
              </a:r>
              <a:br/>
              <a:r>
                <a:rPr lang="tr-TR" sz="1350" dirty="0">
                  <a:solidFill>
                    <a:srgbClr val="172B3A"/>
                  </a:solidFill>
                  <a:latin typeface="+mn-lt"/>
                  <a:ea typeface="+mn-ea"/>
                  <a:cs typeface="+mn-cs"/>
                </a:rPr>
                <a:t>köken, istek sıklığı ve gizli bilgi,</a:t>
              </a:r>
              <a:br/>
              <a:r>
                <a:rPr lang="tr-TR" sz="1350" dirty="0">
                  <a:solidFill>
                    <a:srgbClr val="172B3A"/>
                  </a:solidFill>
                  <a:latin typeface="+mn-lt"/>
                  <a:ea typeface="+mn-ea"/>
                  <a:cs typeface="+mn-cs"/>
                </a:rPr>
                <a:t>birbirinden bağımsız beş ayrı yüzey</a:t>
              </a:r>
              <a:br/>
              <a:r>
                <a:rPr lang="tr-TR" sz="1350" dirty="0">
                  <a:solidFill>
                    <a:srgbClr val="172B3A"/>
                  </a:solidFill>
                  <a:latin typeface="+mn-lt"/>
                  <a:ea typeface="+mn-ea"/>
                  <a:cs typeface="+mn-cs"/>
                </a:rPr>
                <a:t>oluşturur; her biri kendi kuramsal</a:t>
              </a:r>
              <a:br/>
              <a:r>
                <a:rPr lang="tr-TR" sz="1350" dirty="0">
                  <a:solidFill>
                    <a:srgbClr val="172B3A"/>
                  </a:solidFill>
                  <a:latin typeface="+mn-lt"/>
                  <a:ea typeface="+mn-ea"/>
                  <a:cs typeface="+mn-cs"/>
                </a:rPr>
                <a:t>çerçevesiyle ayrı ele alınır.</a:t>
              </a:r>
            </a:p>
          </p:txBody>
        </p:sp>
      </p:grpSp>
      <p:grpSp>
        <p:nvGrpSpPr>
          <p:cNvPr id="38" name="depth-note"/>
          <p:cNvGrpSpPr/>
          <p:nvPr/>
        </p:nvGrpSpPr>
        <p:grpSpPr>
          <a:xfrm>
            <a:off x="609600" y="5429250"/>
            <a:ext cx="10972800" cy="670751"/>
            <a:chOff x="609600" y="5429250"/>
            <a:chExt cx="10972800" cy="670751"/>
          </a:xfrm>
        </p:grpSpPr>
        <p:sp>
          <p:nvSpPr>
            <p:cNvPr id="35" name="Rectangle 35"/>
            <p:cNvSpPr/>
            <p:nvPr/>
          </p:nvSpPr>
          <p:spPr>
            <a:xfrm>
              <a:off x="609600" y="5429250"/>
              <a:ext cx="10972800" cy="666750"/>
            </a:xfrm>
            <a:prstGeom prst="roundRect">
              <a:avLst>
                <a:gd name="adj" fmla="val 11429"/>
              </a:avLst>
            </a:prstGeom>
            <a:solidFill>
              <a:srgbClr val="12355B"/>
            </a:solidFill>
            <a:ln>
              <a:noFill/>
            </a:ln>
          </p:spPr>
        </p:sp>
        <p:sp>
          <p:nvSpPr>
            <p:cNvPr id="36" name="TextBox 36"/>
            <p:cNvSpPr txBox="1"/>
            <p:nvPr/>
          </p:nvSpPr>
          <p:spPr>
            <a:xfrm>
              <a:off x="906399" y="5544979"/>
              <a:ext cx="1788027"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Derinlemesine</a:t>
              </a:r>
            </a:p>
          </p:txBody>
        </p:sp>
        <p:sp>
          <p:nvSpPr>
            <p:cNvPr id="37" name="TextBox 37"/>
            <p:cNvSpPr txBox="1"/>
            <p:nvPr/>
          </p:nvSpPr>
          <p:spPr>
            <a:xfrm>
              <a:off x="907542" y="5835968"/>
              <a:ext cx="714365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Tek bir güvenlik denetimi yeterli değildir; her katman diğerinin açığını kapatır.</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53904" y="309562"/>
                <a:ext cx="206693" cy="280512"/>
                <a:chOff x="753904" y="309562"/>
                <a:chExt cx="206693" cy="280512"/>
              </a:xfrm>
            </p:grpSpPr>
            <p:sp>
              <p:nvSpPr>
                <p:cNvPr id="5" name="Freeform 5"/>
                <p:cNvSpPr/>
                <p:nvPr/>
              </p:nvSpPr>
              <p:spPr>
                <a:xfrm>
                  <a:off x="7539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424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7981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63396" y="315278"/>
              <a:ext cx="9134830" cy="498729"/>
            </a:xfrm>
            <a:prstGeom prst="rect">
              <a:avLst/>
            </a:prstGeom>
            <a:noFill/>
            <a:ln>
              <a:noFill/>
            </a:ln>
          </p:spPr>
          <p:txBody>
            <a:bodyPr wrap="none" lIns="0" tIns="0" rIns="0" bIns="0" anchor="t" anchorCtr="0">
              <a:spAutoFit/>
            </a:bodyPr>
            <a:lstStyle/>
            <a:p>
              <a:pPr algn="l"/>
              <a:r>
                <a:rPr lang="tr-TR" sz="2550" b="1" dirty="0">
                  <a:solidFill>
                    <a:srgbClr val="F7FAFC"/>
                  </a:solidFill>
                  <a:latin typeface="+mj-lt"/>
                  <a:ea typeface="+mj-ea"/>
                  <a:cs typeface="+mj-cs"/>
                </a:rPr>
                <a:t>Kod 11.1 · Güvenlik katmanlarının sırayla işlenmesi</a:t>
              </a:r>
            </a:p>
          </p:txBody>
        </p:sp>
      </p:grpSp>
      <p:grpSp>
        <p:nvGrpSpPr>
          <p:cNvPr id="30" name="code-panel"/>
          <p:cNvGrpSpPr/>
          <p:nvPr/>
        </p:nvGrpSpPr>
        <p:grpSpPr>
          <a:xfrm>
            <a:off x="571500" y="1295400"/>
            <a:ext cx="6477000" cy="4337542"/>
            <a:chOff x="571500" y="1295400"/>
            <a:chExt cx="6477000" cy="4337542"/>
          </a:xfrm>
        </p:grpSpPr>
        <p:sp>
          <p:nvSpPr>
            <p:cNvPr id="12" name="Rectangle 12"/>
            <p:cNvSpPr/>
            <p:nvPr/>
          </p:nvSpPr>
          <p:spPr>
            <a:xfrm>
              <a:off x="571500" y="1295400"/>
              <a:ext cx="6477000" cy="3905250"/>
            </a:xfrm>
            <a:prstGeom prst="rect">
              <a:avLst/>
            </a:prstGeom>
            <a:solidFill>
              <a:srgbClr val="12355B"/>
            </a:solidFill>
            <a:ln>
              <a:noFill/>
            </a:ln>
          </p:spPr>
        </p:sp>
        <p:sp>
          <p:nvSpPr>
            <p:cNvPr id="13" name="TextBox 13"/>
            <p:cNvSpPr txBox="1"/>
            <p:nvPr/>
          </p:nvSpPr>
          <p:spPr>
            <a:xfrm>
              <a:off x="793814" y="1504712"/>
              <a:ext cx="3334032"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type Katman = "cors" | "rateLimit" |</a:t>
              </a:r>
            </a:p>
          </p:txBody>
        </p:sp>
        <p:sp>
          <p:nvSpPr>
            <p:cNvPr id="14" name="TextBox 14"/>
            <p:cNvSpPr txBox="1"/>
            <p:nvPr/>
          </p:nvSpPr>
          <p:spPr>
            <a:xfrm>
              <a:off x="1031938" y="1723787"/>
              <a:ext cx="3042331"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"validation" | "authentication" |</a:t>
              </a:r>
            </a:p>
          </p:txBody>
        </p:sp>
        <p:sp>
          <p:nvSpPr>
            <p:cNvPr id="15" name="TextBox 15"/>
            <p:cNvSpPr txBox="1"/>
            <p:nvPr/>
          </p:nvSpPr>
          <p:spPr>
            <a:xfrm>
              <a:off x="1031938" y="1942862"/>
              <a:ext cx="2399655"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"authorization" | "route";</a:t>
              </a:r>
            </a:p>
          </p:txBody>
        </p:sp>
        <p:sp>
          <p:nvSpPr>
            <p:cNvPr id="16" name="TextBox 16"/>
            <p:cNvSpPr txBox="1"/>
            <p:nvPr/>
          </p:nvSpPr>
          <p:spPr>
            <a:xfrm>
              <a:off x="793814" y="2257187"/>
              <a:ext cx="2772672"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function katmandanGecir(istek:</a:t>
              </a:r>
            </a:p>
          </p:txBody>
        </p:sp>
        <p:sp>
          <p:nvSpPr>
            <p:cNvPr id="17" name="TextBox 17"/>
            <p:cNvSpPr txBox="1"/>
            <p:nvPr/>
          </p:nvSpPr>
          <p:spPr>
            <a:xfrm>
              <a:off x="1031938" y="2476262"/>
              <a:ext cx="3427054"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 katmanlar: Katman[] }, k: Katman) {</a:t>
              </a:r>
            </a:p>
          </p:txBody>
        </p:sp>
        <p:sp>
          <p:nvSpPr>
            <p:cNvPr id="18" name="TextBox 18"/>
            <p:cNvSpPr txBox="1"/>
            <p:nvPr/>
          </p:nvSpPr>
          <p:spPr>
            <a:xfrm>
              <a:off x="1031938" y="2695337"/>
              <a:ext cx="3225952"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return istek.katmanlar.includes(k);</a:t>
              </a:r>
            </a:p>
          </p:txBody>
        </p:sp>
        <p:sp>
          <p:nvSpPr>
            <p:cNvPr id="19" name="TextBox 19"/>
            <p:cNvSpPr txBox="1"/>
            <p:nvPr/>
          </p:nvSpPr>
          <p:spPr>
            <a:xfrm>
              <a:off x="793814" y="2914412"/>
              <a:ext cx="104384"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a:t>
              </a:r>
            </a:p>
          </p:txBody>
        </p:sp>
        <p:sp>
          <p:nvSpPr>
            <p:cNvPr id="20" name="TextBox 20"/>
            <p:cNvSpPr txBox="1"/>
            <p:nvPr/>
          </p:nvSpPr>
          <p:spPr>
            <a:xfrm>
              <a:off x="793814" y="3228737"/>
              <a:ext cx="2865422"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const gelenIstek = { katmanlar:</a:t>
              </a:r>
            </a:p>
          </p:txBody>
        </p:sp>
        <p:sp>
          <p:nvSpPr>
            <p:cNvPr id="21" name="TextBox 21"/>
            <p:cNvSpPr txBox="1"/>
            <p:nvPr/>
          </p:nvSpPr>
          <p:spPr>
            <a:xfrm>
              <a:off x="1031938" y="3447812"/>
              <a:ext cx="3509971"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["cors", "rateLimit", "validation"] };</a:t>
              </a:r>
            </a:p>
          </p:txBody>
        </p:sp>
        <p:sp>
          <p:nvSpPr>
            <p:cNvPr id="22" name="TextBox 22"/>
            <p:cNvSpPr txBox="1"/>
            <p:nvPr/>
          </p:nvSpPr>
          <p:spPr>
            <a:xfrm>
              <a:off x="793814" y="3762137"/>
              <a:ext cx="2124222"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for (const k of sira) {</a:t>
              </a:r>
            </a:p>
          </p:txBody>
        </p:sp>
        <p:sp>
          <p:nvSpPr>
            <p:cNvPr id="23" name="TextBox 23"/>
            <p:cNvSpPr txBox="1"/>
            <p:nvPr/>
          </p:nvSpPr>
          <p:spPr>
            <a:xfrm>
              <a:off x="1031938" y="3981212"/>
              <a:ext cx="3423817"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if (!katmandanGecir(gelenIstek, k)) {</a:t>
              </a:r>
            </a:p>
          </p:txBody>
        </p:sp>
        <p:sp>
          <p:nvSpPr>
            <p:cNvPr id="24" name="TextBox 24"/>
            <p:cNvSpPr txBox="1"/>
            <p:nvPr/>
          </p:nvSpPr>
          <p:spPr>
            <a:xfrm>
              <a:off x="1270064" y="4200287"/>
              <a:ext cx="2766898"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console.log(`'${k}' katmaninda</a:t>
              </a:r>
            </a:p>
          </p:txBody>
        </p:sp>
        <p:sp>
          <p:nvSpPr>
            <p:cNvPr id="25" name="TextBox 25"/>
            <p:cNvSpPr txBox="1"/>
            <p:nvPr/>
          </p:nvSpPr>
          <p:spPr>
            <a:xfrm>
              <a:off x="1422464" y="4419362"/>
              <a:ext cx="1940601"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reddedildi.`); break;</a:t>
              </a:r>
            </a:p>
          </p:txBody>
        </p:sp>
        <p:sp>
          <p:nvSpPr>
            <p:cNvPr id="26" name="TextBox 26"/>
            <p:cNvSpPr txBox="1"/>
            <p:nvPr/>
          </p:nvSpPr>
          <p:spPr>
            <a:xfrm>
              <a:off x="1031938" y="4638437"/>
              <a:ext cx="104384"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a:t>
              </a:r>
            </a:p>
          </p:txBody>
        </p:sp>
        <p:sp>
          <p:nvSpPr>
            <p:cNvPr id="27" name="TextBox 27"/>
            <p:cNvSpPr txBox="1"/>
            <p:nvPr/>
          </p:nvSpPr>
          <p:spPr>
            <a:xfrm>
              <a:off x="793814" y="4857512"/>
              <a:ext cx="104384" cy="242030"/>
            </a:xfrm>
            <a:prstGeom prst="rect">
              <a:avLst/>
            </a:prstGeom>
            <a:noFill/>
            <a:ln>
              <a:noFill/>
            </a:ln>
          </p:spPr>
          <p:txBody>
            <a:bodyPr wrap="none" lIns="0" tIns="0" rIns="0" bIns="0" anchor="t" anchorCtr="0">
              <a:spAutoFit/>
            </a:bodyPr>
            <a:lstStyle/>
            <a:p>
              <a:pPr algn="l"/>
              <a:r>
                <a:rPr lang="tr-TR" sz="1240" dirty="0">
                  <a:solidFill>
                    <a:srgbClr val="EAF4F6"/>
                  </a:solidFill>
                  <a:latin typeface="Consolas"/>
                  <a:ea typeface="Consolas"/>
                  <a:cs typeface="Consolas"/>
                </a:rPr>
                <a:t>}</a:t>
              </a:r>
            </a:p>
          </p:txBody>
        </p:sp>
        <p:sp>
          <p:nvSpPr>
            <p:cNvPr id="28" name="TextBox 28"/>
            <p:cNvSpPr txBox="1"/>
            <p:nvPr/>
          </p:nvSpPr>
          <p:spPr>
            <a:xfrm>
              <a:off x="793814" y="5171837"/>
              <a:ext cx="3416441" cy="242030"/>
            </a:xfrm>
            <a:prstGeom prst="rect">
              <a:avLst/>
            </a:prstGeom>
            <a:noFill/>
            <a:ln>
              <a:noFill/>
            </a:ln>
          </p:spPr>
          <p:txBody>
            <a:bodyPr wrap="none" lIns="0" tIns="0" rIns="0" bIns="0" anchor="t" anchorCtr="0">
              <a:spAutoFit/>
            </a:bodyPr>
            <a:lstStyle/>
            <a:p>
              <a:pPr algn="l"/>
              <a:r>
                <a:rPr lang="tr-TR" sz="1240" dirty="0">
                  <a:solidFill>
                    <a:srgbClr val="00A6A6"/>
                  </a:solidFill>
                  <a:latin typeface="Consolas"/>
                  <a:ea typeface="Consolas"/>
                  <a:cs typeface="Consolas"/>
                </a:rPr>
                <a:t>// cors, rateLimit, validation geçti;</a:t>
              </a:r>
            </a:p>
          </p:txBody>
        </p:sp>
        <p:sp>
          <p:nvSpPr>
            <p:cNvPr id="29" name="TextBox 29"/>
            <p:cNvSpPr txBox="1"/>
            <p:nvPr/>
          </p:nvSpPr>
          <p:spPr>
            <a:xfrm>
              <a:off x="793814" y="5390912"/>
              <a:ext cx="3225952" cy="242030"/>
            </a:xfrm>
            <a:prstGeom prst="rect">
              <a:avLst/>
            </a:prstGeom>
            <a:noFill/>
            <a:ln>
              <a:noFill/>
            </a:ln>
          </p:spPr>
          <p:txBody>
            <a:bodyPr wrap="none" lIns="0" tIns="0" rIns="0" bIns="0" anchor="t" anchorCtr="0">
              <a:spAutoFit/>
            </a:bodyPr>
            <a:lstStyle/>
            <a:p>
              <a:pPr algn="l"/>
              <a:r>
                <a:rPr lang="tr-TR" sz="1240" dirty="0">
                  <a:solidFill>
                    <a:srgbClr val="00A6A6"/>
                  </a:solidFill>
                  <a:latin typeface="Consolas"/>
                  <a:ea typeface="Consolas"/>
                  <a:cs typeface="Consolas"/>
                </a:rPr>
                <a:t>// authentication katmanında durdu.</a:t>
              </a:r>
            </a:p>
          </p:txBody>
        </p:sp>
      </p:grpSp>
      <p:grpSp>
        <p:nvGrpSpPr>
          <p:cNvPr id="33" name="code-purpose"/>
          <p:cNvGrpSpPr/>
          <p:nvPr/>
        </p:nvGrpSpPr>
        <p:grpSpPr>
          <a:xfrm>
            <a:off x="7267956" y="1482090"/>
            <a:ext cx="3064129" cy="1119283"/>
            <a:chOff x="7267956" y="1482090"/>
            <a:chExt cx="3064129" cy="1119283"/>
          </a:xfrm>
        </p:grpSpPr>
        <p:sp>
          <p:nvSpPr>
            <p:cNvPr id="31" name="TextBox 31"/>
            <p:cNvSpPr txBox="1"/>
            <p:nvPr/>
          </p:nvSpPr>
          <p:spPr>
            <a:xfrm>
              <a:off x="7267956" y="1482090"/>
              <a:ext cx="155352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Kodun amacı</a:t>
              </a:r>
            </a:p>
          </p:txBody>
        </p:sp>
        <p:sp>
          <p:nvSpPr>
            <p:cNvPr id="32" name="TextBox 32"/>
            <p:cNvSpPr txBox="1"/>
            <p:nvPr/>
          </p:nvSpPr>
          <p:spPr>
            <a:xfrm>
              <a:off x="7269861" y="1827371"/>
              <a:ext cx="3062224" cy="77400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Bir isteğin CORS, rate limiting,</a:t>
              </a:r>
              <a:br/>
              <a:r>
                <a:rPr lang="tr-TR" sz="1420" dirty="0">
                  <a:solidFill>
                    <a:srgbClr val="172B3A"/>
                  </a:solidFill>
                  <a:latin typeface="+mn-lt"/>
                  <a:ea typeface="+mn-ea"/>
                  <a:cs typeface="+mn-cs"/>
                </a:rPr>
                <a:t>validation gibi katmanlardan</a:t>
              </a:r>
              <a:br/>
              <a:r>
                <a:rPr lang="tr-TR" sz="1420" dirty="0">
                  <a:solidFill>
                    <a:srgbClr val="172B3A"/>
                  </a:solidFill>
                  <a:latin typeface="+mn-lt"/>
                  <a:ea typeface="+mn-ea"/>
                  <a:cs typeface="+mn-cs"/>
                </a:rPr>
                <a:t>sırayla nasıl geçtiğini göstermek.</a:t>
              </a:r>
            </a:p>
          </p:txBody>
        </p:sp>
      </p:grpSp>
      <p:grpSp>
        <p:nvGrpSpPr>
          <p:cNvPr id="37" name="code-critical"/>
          <p:cNvGrpSpPr/>
          <p:nvPr/>
        </p:nvGrpSpPr>
        <p:grpSpPr>
          <a:xfrm>
            <a:off x="7267956" y="2777490"/>
            <a:ext cx="3581400" cy="1328166"/>
            <a:chOff x="7267956" y="2777490"/>
            <a:chExt cx="3581400" cy="1328166"/>
          </a:xfrm>
        </p:grpSpPr>
        <p:sp>
          <p:nvSpPr>
            <p:cNvPr id="34" name="TextBox 34"/>
            <p:cNvSpPr txBox="1"/>
            <p:nvPr/>
          </p:nvSpPr>
          <p:spPr>
            <a:xfrm>
              <a:off x="7267956" y="2777490"/>
              <a:ext cx="18703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Kritik satırlar</a:t>
              </a:r>
            </a:p>
          </p:txBody>
        </p:sp>
        <p:sp>
          <p:nvSpPr>
            <p:cNvPr id="35" name="TextBox 35"/>
            <p:cNvSpPr txBox="1"/>
            <p:nvPr/>
          </p:nvSpPr>
          <p:spPr>
            <a:xfrm>
              <a:off x="7271004" y="3128010"/>
              <a:ext cx="32125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 sira dizisi, middleware'lerin gerçek</a:t>
              </a:r>
              <a:br/>
              <a:r>
                <a:rPr lang="tr-TR" sz="1200" dirty="0">
                  <a:solidFill>
                    <a:srgbClr val="172B3A"/>
                  </a:solidFill>
                  <a:latin typeface="+mn-lt"/>
                  <a:ea typeface="+mn-ea"/>
                  <a:cs typeface="+mn-cs"/>
                </a:rPr>
                <a:t>uygulamadaki ekleniş sırasını temsil eder.</a:t>
              </a:r>
            </a:p>
          </p:txBody>
        </p:sp>
        <p:sp>
          <p:nvSpPr>
            <p:cNvPr id="36" name="TextBox 36"/>
            <p:cNvSpPr txBox="1"/>
            <p:nvPr/>
          </p:nvSpPr>
          <p:spPr>
            <a:xfrm>
              <a:off x="7271004" y="3661410"/>
              <a:ext cx="35783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 break, bir katman false döndüğü anda</a:t>
              </a:r>
              <a:br/>
              <a:r>
                <a:rPr lang="tr-TR" sz="1200" dirty="0">
                  <a:solidFill>
                    <a:srgbClr val="172B3A"/>
                  </a:solidFill>
                  <a:latin typeface="+mn-lt"/>
                  <a:ea typeface="+mn-ea"/>
                  <a:cs typeface="+mn-cs"/>
                </a:rPr>
                <a:t>döngüyü durdurur; sonraki katmanlar çalışmaz.</a:t>
              </a:r>
            </a:p>
          </p:txBody>
        </p:sp>
      </p:grpSp>
      <p:grpSp>
        <p:nvGrpSpPr>
          <p:cNvPr id="41" name="code-caution"/>
          <p:cNvGrpSpPr/>
          <p:nvPr/>
        </p:nvGrpSpPr>
        <p:grpSpPr>
          <a:xfrm>
            <a:off x="7277100" y="4552950"/>
            <a:ext cx="3396996" cy="1000506"/>
            <a:chOff x="7277100" y="4552950"/>
            <a:chExt cx="3396996" cy="1000506"/>
          </a:xfrm>
        </p:grpSpPr>
        <p:sp>
          <p:nvSpPr>
            <p:cNvPr id="38" name="Rectangle 38"/>
            <p:cNvSpPr/>
            <p:nvPr/>
          </p:nvSpPr>
          <p:spPr>
            <a:xfrm>
              <a:off x="7277100" y="4552950"/>
              <a:ext cx="57150" cy="819150"/>
            </a:xfrm>
            <a:prstGeom prst="rect">
              <a:avLst/>
            </a:prstGeom>
            <a:solidFill>
              <a:srgbClr val="2E86AB"/>
            </a:solidFill>
            <a:ln>
              <a:noFill/>
            </a:ln>
          </p:spPr>
        </p:sp>
        <p:sp>
          <p:nvSpPr>
            <p:cNvPr id="39" name="TextBox 39"/>
            <p:cNvSpPr txBox="1"/>
            <p:nvPr/>
          </p:nvSpPr>
          <p:spPr>
            <a:xfrm>
              <a:off x="7499604" y="465201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 noktası</a:t>
              </a:r>
            </a:p>
          </p:txBody>
        </p:sp>
        <p:sp>
          <p:nvSpPr>
            <p:cNvPr id="40" name="TextBox 40"/>
            <p:cNvSpPr txBox="1"/>
            <p:nvPr/>
          </p:nvSpPr>
          <p:spPr>
            <a:xfrm>
              <a:off x="7499604" y="4899660"/>
              <a:ext cx="31744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Katman sırası rastgele değildir; ucuz</a:t>
              </a:r>
              <a:br/>
              <a:r>
                <a:rPr lang="tr-TR" sz="1200" dirty="0">
                  <a:solidFill>
                    <a:srgbClr val="52616B"/>
                  </a:solidFill>
                  <a:latin typeface="+mn-lt"/>
                  <a:ea typeface="+mn-ea"/>
                  <a:cs typeface="+mn-cs"/>
                </a:rPr>
                <a:t>kontroller (CORS, rate limiting) en dışta,</a:t>
              </a:r>
              <a:br/>
              <a:r>
                <a:rPr lang="tr-TR" sz="1200" dirty="0">
                  <a:solidFill>
                    <a:srgbClr val="52616B"/>
                  </a:solidFill>
                  <a:latin typeface="+mn-lt"/>
                  <a:ea typeface="+mn-ea"/>
                  <a:cs typeface="+mn-cs"/>
                </a:rPr>
                <a:t>maliyetli kontroller içeride yapılır.</a:t>
              </a:r>
            </a:p>
          </p:txBody>
        </p:sp>
      </p:grpSp>
      <p:grpSp>
        <p:nvGrpSpPr>
          <p:cNvPr id="43" name="code-takeaway"/>
          <p:cNvGrpSpPr/>
          <p:nvPr/>
        </p:nvGrpSpPr>
        <p:grpSpPr>
          <a:xfrm>
            <a:off x="564261" y="5694521"/>
            <a:ext cx="7381367" cy="526352"/>
            <a:chOff x="564261" y="5694521"/>
            <a:chExt cx="7381367" cy="526352"/>
          </a:xfrm>
        </p:grpSpPr>
        <p:sp>
          <p:nvSpPr>
            <p:cNvPr id="42" name="TextBox 42"/>
            <p:cNvSpPr txBox="1"/>
            <p:nvPr/>
          </p:nvSpPr>
          <p:spPr>
            <a:xfrm>
              <a:off x="564261" y="5694521"/>
              <a:ext cx="7381367" cy="52635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gelenIstek yalnızca cors, rateLimit ve validation içerdiği için döngü authentication</a:t>
              </a:r>
              <a:br/>
              <a:r>
                <a:rPr lang="tr-TR" sz="1420" dirty="0">
                  <a:solidFill>
                    <a:srgbClr val="172B3A"/>
                  </a:solidFill>
                  <a:latin typeface="+mn-lt"/>
                  <a:ea typeface="+mn-ea"/>
                  <a:cs typeface="+mn-cs"/>
                </a:rPr>
                <a:t>katmanında durur; bir katman isteği reddettiğinde sonraki katmanlar hiç çalışmaz.</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9091616" cy="668845"/>
            <a:chOff x="609600" y="171450"/>
            <a:chExt cx="9091616"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840124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Savunma katmanlarını kurma yaklaşımları</a:t>
              </a:r>
            </a:p>
          </p:txBody>
        </p:sp>
      </p:grpSp>
      <p:grpSp>
        <p:nvGrpSpPr>
          <p:cNvPr id="18" name="alt-header"/>
          <p:cNvGrpSpPr/>
          <p:nvPr/>
        </p:nvGrpSpPr>
        <p:grpSpPr>
          <a:xfrm>
            <a:off x="609600" y="1257300"/>
            <a:ext cx="10972800" cy="342900"/>
            <a:chOff x="609600" y="1257300"/>
            <a:chExt cx="10972800" cy="342900"/>
          </a:xfrm>
        </p:grpSpPr>
        <p:sp>
          <p:nvSpPr>
            <p:cNvPr id="13" name="Rectangle 13"/>
            <p:cNvSpPr/>
            <p:nvPr/>
          </p:nvSpPr>
          <p:spPr>
            <a:xfrm>
              <a:off x="609600" y="1257300"/>
              <a:ext cx="10972800" cy="342900"/>
            </a:xfrm>
            <a:prstGeom prst="rect">
              <a:avLst/>
            </a:prstGeom>
            <a:solidFill>
              <a:srgbClr val="12355B"/>
            </a:solidFill>
            <a:ln>
              <a:noFill/>
            </a:ln>
          </p:spPr>
        </p:sp>
        <p:sp>
          <p:nvSpPr>
            <p:cNvPr id="14" name="TextBox 14"/>
            <p:cNvSpPr txBox="1"/>
            <p:nvPr/>
          </p:nvSpPr>
          <p:spPr>
            <a:xfrm>
              <a:off x="756666" y="1363028"/>
              <a:ext cx="767509"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YAKLAŞIM</a:t>
              </a:r>
            </a:p>
          </p:txBody>
        </p:sp>
        <p:sp>
          <p:nvSpPr>
            <p:cNvPr id="15" name="TextBox 15"/>
            <p:cNvSpPr txBox="1"/>
            <p:nvPr/>
          </p:nvSpPr>
          <p:spPr>
            <a:xfrm>
              <a:off x="2852166" y="1363028"/>
              <a:ext cx="736145"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AVANTAJI</a:t>
              </a:r>
            </a:p>
          </p:txBody>
        </p:sp>
        <p:sp>
          <p:nvSpPr>
            <p:cNvPr id="16" name="TextBox 16"/>
            <p:cNvSpPr txBox="1"/>
            <p:nvPr/>
          </p:nvSpPr>
          <p:spPr>
            <a:xfrm>
              <a:off x="5862066" y="1363028"/>
              <a:ext cx="1026902"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DEZAVANTAJI</a:t>
              </a:r>
            </a:p>
          </p:txBody>
        </p:sp>
        <p:sp>
          <p:nvSpPr>
            <p:cNvPr id="17" name="TextBox 17"/>
            <p:cNvSpPr txBox="1"/>
            <p:nvPr/>
          </p:nvSpPr>
          <p:spPr>
            <a:xfrm>
              <a:off x="8871966" y="1363028"/>
              <a:ext cx="130981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UYGUN KULLANIM</a:t>
              </a:r>
            </a:p>
          </p:txBody>
        </p:sp>
      </p:grpSp>
      <p:grpSp>
        <p:nvGrpSpPr>
          <p:cNvPr id="24" name="row-manual"/>
          <p:cNvGrpSpPr/>
          <p:nvPr/>
        </p:nvGrpSpPr>
        <p:grpSpPr>
          <a:xfrm>
            <a:off x="609600" y="1699260"/>
            <a:ext cx="10972800" cy="539115"/>
            <a:chOff x="609600" y="1699260"/>
            <a:chExt cx="10972800" cy="539115"/>
          </a:xfrm>
        </p:grpSpPr>
        <p:sp>
          <p:nvSpPr>
            <p:cNvPr id="19" name="TextBox 19"/>
            <p:cNvSpPr txBox="1"/>
            <p:nvPr/>
          </p:nvSpPr>
          <p:spPr>
            <a:xfrm>
              <a:off x="755142" y="1721168"/>
              <a:ext cx="985838" cy="454533"/>
            </a:xfrm>
            <a:prstGeom prst="rect">
              <a:avLst/>
            </a:prstGeom>
            <a:noFill/>
            <a:ln>
              <a:noFill/>
            </a:ln>
          </p:spPr>
          <p:txBody>
            <a:bodyPr wrap="none" lIns="0" tIns="0" rIns="0" bIns="0" anchor="t" anchorCtr="0">
              <a:spAutoFit/>
            </a:bodyPr>
            <a:lstStyle/>
            <a:p>
              <a:pPr algn="l">
                <a:lnSpc>
                  <a:spcPts val="1500"/>
                </a:lnSpc>
              </a:pPr>
              <a:r>
                <a:rPr lang="tr-TR" sz="1350" b="1" dirty="0">
                  <a:solidFill>
                    <a:srgbClr val="12355B"/>
                  </a:solidFill>
                  <a:latin typeface="+mn-lt"/>
                  <a:ea typeface="+mn-ea"/>
                  <a:cs typeface="+mn-cs"/>
                </a:rPr>
                <a:t>Manuel</a:t>
              </a:r>
              <a:br/>
              <a:r>
                <a:rPr lang="tr-TR" sz="1350" b="1" dirty="0">
                  <a:solidFill>
                    <a:srgbClr val="12355B"/>
                  </a:solidFill>
                  <a:latin typeface="+mn-lt"/>
                  <a:ea typeface="+mn-ea"/>
                  <a:cs typeface="+mn-cs"/>
                </a:rPr>
                <a:t>middleware</a:t>
              </a:r>
            </a:p>
          </p:txBody>
        </p:sp>
        <p:sp>
          <p:nvSpPr>
            <p:cNvPr id="20" name="TextBox 20"/>
            <p:cNvSpPr txBox="1"/>
            <p:nvPr/>
          </p:nvSpPr>
          <p:spPr>
            <a:xfrm>
              <a:off x="2851404" y="1699260"/>
              <a:ext cx="14828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Tam kontrol sağlar,</a:t>
              </a:r>
              <a:br/>
              <a:r>
                <a:rPr lang="tr-TR" sz="1200" dirty="0">
                  <a:solidFill>
                    <a:srgbClr val="172B3A"/>
                  </a:solidFill>
                  <a:latin typeface="+mn-lt"/>
                  <a:ea typeface="+mn-ea"/>
                  <a:cs typeface="+mn-cs"/>
                </a:rPr>
                <a:t>bağımlılık azdır</a:t>
              </a:r>
            </a:p>
          </p:txBody>
        </p:sp>
        <p:sp>
          <p:nvSpPr>
            <p:cNvPr id="21" name="TextBox 21"/>
            <p:cNvSpPr txBox="1"/>
            <p:nvPr/>
          </p:nvSpPr>
          <p:spPr>
            <a:xfrm>
              <a:off x="5861304" y="1699260"/>
              <a:ext cx="19857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Her katmanı doğru sırayla</a:t>
              </a:r>
              <a:br/>
              <a:r>
                <a:rPr lang="tr-TR" sz="1200" dirty="0">
                  <a:solidFill>
                    <a:srgbClr val="172B3A"/>
                  </a:solidFill>
                  <a:latin typeface="+mn-lt"/>
                  <a:ea typeface="+mn-ea"/>
                  <a:cs typeface="+mn-cs"/>
                </a:rPr>
                <a:t>kurmak geliştiriciye kalır</a:t>
              </a:r>
            </a:p>
          </p:txBody>
        </p:sp>
        <p:sp>
          <p:nvSpPr>
            <p:cNvPr id="22" name="TextBox 22"/>
            <p:cNvSpPr txBox="1"/>
            <p:nvPr/>
          </p:nvSpPr>
          <p:spPr>
            <a:xfrm>
              <a:off x="8871204" y="1699260"/>
              <a:ext cx="15438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Küçük ve orta ölçekli</a:t>
              </a:r>
              <a:br/>
              <a:r>
                <a:rPr lang="tr-TR" sz="1200" dirty="0">
                  <a:solidFill>
                    <a:srgbClr val="172B3A"/>
                  </a:solidFill>
                  <a:latin typeface="+mn-lt"/>
                  <a:ea typeface="+mn-ea"/>
                  <a:cs typeface="+mn-cs"/>
                </a:rPr>
                <a:t>API'ler</a:t>
              </a:r>
            </a:p>
          </p:txBody>
        </p:sp>
        <p:sp>
          <p:nvSpPr>
            <p:cNvPr id="23" name="Line 23"/>
            <p:cNvSpPr/>
            <p:nvPr/>
          </p:nvSpPr>
          <p:spPr>
            <a:xfrm>
              <a:off x="609600" y="22288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row-framework"/>
          <p:cNvGrpSpPr/>
          <p:nvPr/>
        </p:nvGrpSpPr>
        <p:grpSpPr>
          <a:xfrm>
            <a:off x="609600" y="2228850"/>
            <a:ext cx="10972800" cy="638175"/>
            <a:chOff x="609600" y="2228850"/>
            <a:chExt cx="10972800" cy="638175"/>
          </a:xfrm>
        </p:grpSpPr>
        <p:sp>
          <p:nvSpPr>
            <p:cNvPr id="25" name="Rectangle 25"/>
            <p:cNvSpPr/>
            <p:nvPr/>
          </p:nvSpPr>
          <p:spPr>
            <a:xfrm>
              <a:off x="609600" y="2228850"/>
              <a:ext cx="10972800" cy="628650"/>
            </a:xfrm>
            <a:prstGeom prst="rect">
              <a:avLst/>
            </a:prstGeom>
            <a:solidFill>
              <a:srgbClr val="EAF4F6"/>
            </a:solidFill>
            <a:ln>
              <a:noFill/>
            </a:ln>
          </p:spPr>
        </p:sp>
        <p:sp>
          <p:nvSpPr>
            <p:cNvPr id="26" name="TextBox 26"/>
            <p:cNvSpPr txBox="1"/>
            <p:nvPr/>
          </p:nvSpPr>
          <p:spPr>
            <a:xfrm>
              <a:off x="755142" y="2349818"/>
              <a:ext cx="1246870" cy="454533"/>
            </a:xfrm>
            <a:prstGeom prst="rect">
              <a:avLst/>
            </a:prstGeom>
            <a:noFill/>
            <a:ln>
              <a:noFill/>
            </a:ln>
          </p:spPr>
          <p:txBody>
            <a:bodyPr wrap="none" lIns="0" tIns="0" rIns="0" bIns="0" anchor="t" anchorCtr="0">
              <a:spAutoFit/>
            </a:bodyPr>
            <a:lstStyle/>
            <a:p>
              <a:pPr algn="l">
                <a:lnSpc>
                  <a:spcPts val="1500"/>
                </a:lnSpc>
              </a:pPr>
              <a:r>
                <a:rPr lang="tr-TR" sz="1350" b="1" dirty="0">
                  <a:solidFill>
                    <a:srgbClr val="12355B"/>
                  </a:solidFill>
                  <a:latin typeface="+mn-lt"/>
                  <a:ea typeface="+mn-ea"/>
                  <a:cs typeface="+mn-cs"/>
                </a:rPr>
                <a:t>helmet, cors,</a:t>
              </a:r>
              <a:br/>
              <a:r>
                <a:rPr lang="tr-TR" sz="1350" b="1" dirty="0">
                  <a:solidFill>
                    <a:srgbClr val="12355B"/>
                  </a:solidFill>
                  <a:latin typeface="+mn-lt"/>
                  <a:ea typeface="+mn-ea"/>
                  <a:cs typeface="+mn-cs"/>
                </a:rPr>
                <a:t>rate-limit</a:t>
              </a:r>
            </a:p>
          </p:txBody>
        </p:sp>
        <p:sp>
          <p:nvSpPr>
            <p:cNvPr id="27" name="TextBox 27"/>
            <p:cNvSpPr txBox="1"/>
            <p:nvPr/>
          </p:nvSpPr>
          <p:spPr>
            <a:xfrm>
              <a:off x="2851404" y="2327910"/>
              <a:ext cx="15590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Test edilmiş, bakımı</a:t>
              </a:r>
              <a:br/>
              <a:r>
                <a:rPr lang="tr-TR" sz="1200" dirty="0">
                  <a:solidFill>
                    <a:srgbClr val="172B3A"/>
                  </a:solidFill>
                  <a:latin typeface="+mn-lt"/>
                  <a:ea typeface="+mn-ea"/>
                  <a:cs typeface="+mn-cs"/>
                </a:rPr>
                <a:t>kolaydır</a:t>
              </a:r>
            </a:p>
          </p:txBody>
        </p:sp>
        <p:sp>
          <p:nvSpPr>
            <p:cNvPr id="28" name="TextBox 28"/>
            <p:cNvSpPr txBox="1"/>
            <p:nvPr/>
          </p:nvSpPr>
          <p:spPr>
            <a:xfrm>
              <a:off x="5861304" y="2327910"/>
              <a:ext cx="19095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Ek bağımlılık ve versiyon</a:t>
              </a:r>
              <a:br/>
              <a:r>
                <a:rPr lang="tr-TR" sz="1200" dirty="0">
                  <a:solidFill>
                    <a:srgbClr val="172B3A"/>
                  </a:solidFill>
                  <a:latin typeface="+mn-lt"/>
                  <a:ea typeface="+mn-ea"/>
                  <a:cs typeface="+mn-cs"/>
                </a:rPr>
                <a:t>takibi gerektirir</a:t>
              </a:r>
            </a:p>
          </p:txBody>
        </p:sp>
        <p:sp>
          <p:nvSpPr>
            <p:cNvPr id="29" name="TextBox 29"/>
            <p:cNvSpPr txBox="1"/>
            <p:nvPr/>
          </p:nvSpPr>
          <p:spPr>
            <a:xfrm>
              <a:off x="8871204" y="2327910"/>
              <a:ext cx="8884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Çoğu üretim</a:t>
              </a:r>
              <a:br/>
              <a:r>
                <a:rPr lang="tr-TR" sz="1200" dirty="0">
                  <a:solidFill>
                    <a:srgbClr val="172B3A"/>
                  </a:solidFill>
                  <a:latin typeface="+mn-lt"/>
                  <a:ea typeface="+mn-ea"/>
                  <a:cs typeface="+mn-cs"/>
                </a:rPr>
                <a:t>uygulaması</a:t>
              </a:r>
            </a:p>
          </p:txBody>
        </p:sp>
        <p:sp>
          <p:nvSpPr>
            <p:cNvPr id="30" name="Line 30"/>
            <p:cNvSpPr/>
            <p:nvPr/>
          </p:nvSpPr>
          <p:spPr>
            <a:xfrm>
              <a:off x="609600" y="2857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row-gateway"/>
          <p:cNvGrpSpPr/>
          <p:nvPr/>
        </p:nvGrpSpPr>
        <p:grpSpPr>
          <a:xfrm>
            <a:off x="609600" y="2956560"/>
            <a:ext cx="10972800" cy="539115"/>
            <a:chOff x="609600" y="2956560"/>
            <a:chExt cx="10972800" cy="539115"/>
          </a:xfrm>
        </p:grpSpPr>
        <p:sp>
          <p:nvSpPr>
            <p:cNvPr id="32" name="TextBox 32"/>
            <p:cNvSpPr txBox="1"/>
            <p:nvPr/>
          </p:nvSpPr>
          <p:spPr>
            <a:xfrm>
              <a:off x="755142" y="2978468"/>
              <a:ext cx="1135796"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API Gateway</a:t>
              </a:r>
            </a:p>
          </p:txBody>
        </p:sp>
        <p:sp>
          <p:nvSpPr>
            <p:cNvPr id="33" name="TextBox 33"/>
            <p:cNvSpPr txBox="1"/>
            <p:nvPr/>
          </p:nvSpPr>
          <p:spPr>
            <a:xfrm>
              <a:off x="2851404" y="2956560"/>
              <a:ext cx="18105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Denetimleri uygulamadan</a:t>
              </a:r>
              <a:br/>
              <a:r>
                <a:rPr lang="tr-TR" sz="1200" dirty="0">
                  <a:solidFill>
                    <a:srgbClr val="172B3A"/>
                  </a:solidFill>
                  <a:latin typeface="+mn-lt"/>
                  <a:ea typeface="+mn-ea"/>
                  <a:cs typeface="+mn-cs"/>
                </a:rPr>
                <a:t>ayırır</a:t>
              </a:r>
            </a:p>
          </p:txBody>
        </p:sp>
        <p:sp>
          <p:nvSpPr>
            <p:cNvPr id="34" name="TextBox 34"/>
            <p:cNvSpPr txBox="1"/>
            <p:nvPr/>
          </p:nvSpPr>
          <p:spPr>
            <a:xfrm>
              <a:off x="5861304" y="2956560"/>
              <a:ext cx="19171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Ek altyapı ve operasyonel</a:t>
              </a:r>
              <a:br/>
              <a:r>
                <a:rPr lang="tr-TR" sz="1200" dirty="0">
                  <a:solidFill>
                    <a:srgbClr val="172B3A"/>
                  </a:solidFill>
                  <a:latin typeface="+mn-lt"/>
                  <a:ea typeface="+mn-ea"/>
                  <a:cs typeface="+mn-cs"/>
                </a:rPr>
                <a:t>maliyet getirir</a:t>
              </a:r>
            </a:p>
          </p:txBody>
        </p:sp>
        <p:sp>
          <p:nvSpPr>
            <p:cNvPr id="35" name="TextBox 35"/>
            <p:cNvSpPr txBox="1"/>
            <p:nvPr/>
          </p:nvSpPr>
          <p:spPr>
            <a:xfrm>
              <a:off x="8871204" y="2956560"/>
              <a:ext cx="12771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Çok mikroservisli</a:t>
              </a:r>
              <a:br/>
              <a:r>
                <a:rPr lang="tr-TR" sz="1200" dirty="0">
                  <a:solidFill>
                    <a:srgbClr val="172B3A"/>
                  </a:solidFill>
                  <a:latin typeface="+mn-lt"/>
                  <a:ea typeface="+mn-ea"/>
                  <a:cs typeface="+mn-cs"/>
                </a:rPr>
                <a:t>sistemler</a:t>
              </a:r>
            </a:p>
          </p:txBody>
        </p:sp>
        <p:sp>
          <p:nvSpPr>
            <p:cNvPr id="36" name="Line 36"/>
            <p:cNvSpPr/>
            <p:nvPr/>
          </p:nvSpPr>
          <p:spPr>
            <a:xfrm>
              <a:off x="609600" y="34861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3" name="row-pentest"/>
          <p:cNvGrpSpPr/>
          <p:nvPr/>
        </p:nvGrpSpPr>
        <p:grpSpPr>
          <a:xfrm>
            <a:off x="609600" y="3486150"/>
            <a:ext cx="10972800" cy="628650"/>
            <a:chOff x="609600" y="3486150"/>
            <a:chExt cx="10972800" cy="628650"/>
          </a:xfrm>
        </p:grpSpPr>
        <p:sp>
          <p:nvSpPr>
            <p:cNvPr id="38" name="Rectangle 38"/>
            <p:cNvSpPr/>
            <p:nvPr/>
          </p:nvSpPr>
          <p:spPr>
            <a:xfrm>
              <a:off x="609600" y="3486150"/>
              <a:ext cx="10972800" cy="628650"/>
            </a:xfrm>
            <a:prstGeom prst="rect">
              <a:avLst/>
            </a:prstGeom>
            <a:solidFill>
              <a:srgbClr val="EAF4F6"/>
            </a:solidFill>
            <a:ln>
              <a:noFill/>
            </a:ln>
          </p:spPr>
        </p:sp>
        <p:sp>
          <p:nvSpPr>
            <p:cNvPr id="39" name="TextBox 39"/>
            <p:cNvSpPr txBox="1"/>
            <p:nvPr/>
          </p:nvSpPr>
          <p:spPr>
            <a:xfrm>
              <a:off x="755142" y="3607118"/>
              <a:ext cx="135045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Pentest / WAF</a:t>
              </a:r>
            </a:p>
          </p:txBody>
        </p:sp>
        <p:sp>
          <p:nvSpPr>
            <p:cNvPr id="40" name="TextBox 40"/>
            <p:cNvSpPr txBox="1"/>
            <p:nvPr/>
          </p:nvSpPr>
          <p:spPr>
            <a:xfrm>
              <a:off x="2851404" y="3585210"/>
              <a:ext cx="22067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Gerçek saldırı senaryolarını</a:t>
              </a:r>
              <a:br/>
              <a:r>
                <a:rPr lang="tr-TR" sz="1200" dirty="0">
                  <a:solidFill>
                    <a:srgbClr val="172B3A"/>
                  </a:solidFill>
                  <a:latin typeface="+mn-lt"/>
                  <a:ea typeface="+mn-ea"/>
                  <a:cs typeface="+mn-cs"/>
                </a:rPr>
                <a:t>test eder</a:t>
              </a:r>
            </a:p>
          </p:txBody>
        </p:sp>
        <p:sp>
          <p:nvSpPr>
            <p:cNvPr id="41" name="TextBox 41"/>
            <p:cNvSpPr txBox="1"/>
            <p:nvPr/>
          </p:nvSpPr>
          <p:spPr>
            <a:xfrm>
              <a:off x="5861304" y="3585210"/>
              <a:ext cx="23134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Kurulum ve uzmanlık maliyeti</a:t>
              </a:r>
              <a:br/>
              <a:r>
                <a:rPr lang="tr-TR" sz="1200" dirty="0">
                  <a:solidFill>
                    <a:srgbClr val="172B3A"/>
                  </a:solidFill>
                  <a:latin typeface="+mn-lt"/>
                  <a:ea typeface="+mn-ea"/>
                  <a:cs typeface="+mn-cs"/>
                </a:rPr>
                <a:t>yüksektir; bölüm kapsamı dışı</a:t>
              </a:r>
            </a:p>
          </p:txBody>
        </p:sp>
        <p:sp>
          <p:nvSpPr>
            <p:cNvPr id="42" name="TextBox 42"/>
            <p:cNvSpPr txBox="1"/>
            <p:nvPr/>
          </p:nvSpPr>
          <p:spPr>
            <a:xfrm>
              <a:off x="8871204" y="3585210"/>
              <a:ext cx="18257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Kurumsal, olgun güvenlik</a:t>
              </a:r>
              <a:br/>
              <a:r>
                <a:rPr lang="tr-TR" sz="1200" dirty="0">
                  <a:solidFill>
                    <a:srgbClr val="172B3A"/>
                  </a:solidFill>
                  <a:latin typeface="+mn-lt"/>
                  <a:ea typeface="+mn-ea"/>
                  <a:cs typeface="+mn-cs"/>
                </a:rPr>
                <a:t>programları</a:t>
              </a:r>
            </a:p>
          </p:txBody>
        </p:sp>
      </p:grpSp>
      <p:grpSp>
        <p:nvGrpSpPr>
          <p:cNvPr id="48" name="common-mistake"/>
          <p:cNvGrpSpPr/>
          <p:nvPr/>
        </p:nvGrpSpPr>
        <p:grpSpPr>
          <a:xfrm>
            <a:off x="609600" y="4400550"/>
            <a:ext cx="9621205" cy="1504950"/>
            <a:chOff x="609600" y="4400550"/>
            <a:chExt cx="9621205" cy="1504950"/>
          </a:xfrm>
        </p:grpSpPr>
        <p:sp>
          <p:nvSpPr>
            <p:cNvPr id="44" name="Rectangle 44"/>
            <p:cNvSpPr/>
            <p:nvPr/>
          </p:nvSpPr>
          <p:spPr>
            <a:xfrm>
              <a:off x="609600" y="4400550"/>
              <a:ext cx="57150" cy="1504950"/>
            </a:xfrm>
            <a:prstGeom prst="rect">
              <a:avLst/>
            </a:prstGeom>
            <a:solidFill>
              <a:srgbClr val="2E86AB"/>
            </a:solidFill>
            <a:ln>
              <a:noFill/>
            </a:ln>
          </p:spPr>
        </p:sp>
        <p:sp>
          <p:nvSpPr>
            <p:cNvPr id="45" name="TextBox 45"/>
            <p:cNvSpPr txBox="1"/>
            <p:nvPr/>
          </p:nvSpPr>
          <p:spPr>
            <a:xfrm>
              <a:off x="905256" y="4511040"/>
              <a:ext cx="636197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Yaygın hata: sadece authentication yeterli sanmak</a:t>
              </a:r>
            </a:p>
          </p:txBody>
        </p:sp>
        <p:sp>
          <p:nvSpPr>
            <p:cNvPr id="46" name="TextBox 46"/>
            <p:cNvSpPr txBox="1"/>
            <p:nvPr/>
          </p:nvSpPr>
          <p:spPr>
            <a:xfrm>
              <a:off x="907161" y="4875371"/>
              <a:ext cx="8003540" cy="52635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Yalnızca authentication kurup validation ve rate limiting'i atlanabilir görmek, "kimliği</a:t>
              </a:r>
              <a:br/>
              <a:r>
                <a:rPr lang="tr-TR" sz="1420" dirty="0">
                  <a:solidFill>
                    <a:srgbClr val="172B3A"/>
                  </a:solidFill>
                  <a:latin typeface="+mn-lt"/>
                  <a:ea typeface="+mn-ea"/>
                  <a:cs typeface="+mn-cs"/>
                </a:rPr>
                <a:t>doğrulanmış ama kötü niyetli veya hatalı istek" senaryosunu tamamen korumasız bırakır.</a:t>
              </a:r>
            </a:p>
          </p:txBody>
        </p:sp>
        <p:sp>
          <p:nvSpPr>
            <p:cNvPr id="47" name="TextBox 47"/>
            <p:cNvSpPr txBox="1"/>
            <p:nvPr/>
          </p:nvSpPr>
          <p:spPr>
            <a:xfrm>
              <a:off x="908304" y="5471160"/>
              <a:ext cx="932250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İkinci hata: tüm denetimleri tek bir dev fonksiyonda toplamak — bu, hangi denetimin çalıştığını izlemeyi zorlaştırır.</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6211014" cy="668845"/>
            <a:chOff x="609600" y="171450"/>
            <a:chExt cx="6211014"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552064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Girdi doğrulama (validation)</a:t>
              </a:r>
            </a:p>
          </p:txBody>
        </p:sp>
      </p:grpSp>
      <p:grpSp>
        <p:nvGrpSpPr>
          <p:cNvPr id="12" name="definition-box"/>
          <p:cNvGrpSpPr/>
          <p:nvPr/>
        </p:nvGrpSpPr>
        <p:grpSpPr>
          <a:xfrm>
            <a:off x="609600" y="1219200"/>
            <a:ext cx="10972800" cy="937451"/>
            <a:chOff x="609600" y="1219200"/>
            <a:chExt cx="10972800" cy="937451"/>
          </a:xfrm>
        </p:grpSpPr>
        <p:sp>
          <p:nvSpPr>
            <p:cNvPr id="9" name="Rectangle 9"/>
            <p:cNvSpPr/>
            <p:nvPr/>
          </p:nvSpPr>
          <p:spPr>
            <a:xfrm>
              <a:off x="609600" y="1219200"/>
              <a:ext cx="10972800" cy="914400"/>
            </a:xfrm>
            <a:prstGeom prst="roundRect">
              <a:avLst>
                <a:gd name="adj" fmla="val 8333"/>
              </a:avLst>
            </a:prstGeom>
            <a:solidFill>
              <a:srgbClr val="EAF4F6"/>
            </a:solidFill>
            <a:ln>
              <a:noFill/>
            </a:ln>
          </p:spPr>
        </p:sp>
        <p:sp>
          <p:nvSpPr>
            <p:cNvPr id="10" name="TextBox 10"/>
            <p:cNvSpPr txBox="1"/>
            <p:nvPr/>
          </p:nvSpPr>
          <p:spPr>
            <a:xfrm>
              <a:off x="906399" y="13539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1" name="TextBox 11"/>
            <p:cNvSpPr txBox="1"/>
            <p:nvPr/>
          </p:nvSpPr>
          <p:spPr>
            <a:xfrm>
              <a:off x="907542" y="1664018"/>
              <a:ext cx="7583234"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Bir isteğin gövdesinin, sorgu parametrelerinin veya başlıklarının beklenen biçime, türe ve</a:t>
              </a:r>
              <a:br/>
              <a:r>
                <a:rPr lang="tr-TR" sz="1350" dirty="0">
                  <a:solidFill>
                    <a:srgbClr val="172B3A"/>
                  </a:solidFill>
                  <a:latin typeface="+mn-lt"/>
                  <a:ea typeface="+mn-ea"/>
                  <a:cs typeface="+mn-cs"/>
                </a:rPr>
                <a:t>kurallara uyup uymadığını çalışma zamanında kontrol etme işlemidir.</a:t>
              </a:r>
            </a:p>
          </p:txBody>
        </p:sp>
      </p:grpSp>
      <p:grpSp>
        <p:nvGrpSpPr>
          <p:cNvPr id="16" name="col-erasure"/>
          <p:cNvGrpSpPr/>
          <p:nvPr/>
        </p:nvGrpSpPr>
        <p:grpSpPr>
          <a:xfrm>
            <a:off x="609600" y="2362200"/>
            <a:ext cx="5257800" cy="2857500"/>
            <a:chOff x="609600" y="2362200"/>
            <a:chExt cx="5257800" cy="2857500"/>
          </a:xfrm>
        </p:grpSpPr>
        <p:sp>
          <p:nvSpPr>
            <p:cNvPr id="13" name="Rectangle 13"/>
            <p:cNvSpPr/>
            <p:nvPr/>
          </p:nvSpPr>
          <p:spPr>
            <a:xfrm>
              <a:off x="609600" y="2362200"/>
              <a:ext cx="5257800" cy="2857500"/>
            </a:xfrm>
            <a:prstGeom prst="roundRect">
              <a:avLst>
                <a:gd name="adj" fmla="val 3333"/>
              </a:avLst>
            </a:prstGeom>
            <a:solidFill>
              <a:srgbClr val="FFFFFF"/>
            </a:solidFill>
            <a:ln w="14288">
              <a:solidFill>
                <a:srgbClr val="B8CBD3"/>
              </a:solidFill>
            </a:ln>
          </p:spPr>
        </p:sp>
        <p:sp>
          <p:nvSpPr>
            <p:cNvPr id="14" name="TextBox 14"/>
            <p:cNvSpPr txBox="1"/>
            <p:nvPr/>
          </p:nvSpPr>
          <p:spPr>
            <a:xfrm>
              <a:off x="905256" y="2567940"/>
              <a:ext cx="305504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Type erasure (tip silme)</a:t>
              </a:r>
            </a:p>
          </p:txBody>
        </p:sp>
        <p:sp>
          <p:nvSpPr>
            <p:cNvPr id="15" name="TextBox 15"/>
            <p:cNvSpPr txBox="1"/>
            <p:nvPr/>
          </p:nvSpPr>
          <p:spPr>
            <a:xfrm>
              <a:off x="907542" y="2997518"/>
              <a:ext cx="3108388" cy="17499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TypeScript türleri JavaScript'e</a:t>
              </a:r>
              <a:br/>
              <a:r>
                <a:rPr lang="tr-TR" sz="1350" dirty="0">
                  <a:solidFill>
                    <a:srgbClr val="172B3A"/>
                  </a:solidFill>
                  <a:latin typeface="+mn-lt"/>
                  <a:ea typeface="+mn-ea"/>
                  <a:cs typeface="+mn-cs"/>
                </a:rPr>
                <a:t>derlenirken tamamen silinir, çalışma</a:t>
              </a:r>
              <a:br/>
              <a:r>
                <a:rPr lang="tr-TR" sz="1350" dirty="0">
                  <a:solidFill>
                    <a:srgbClr val="172B3A"/>
                  </a:solidFill>
                  <a:latin typeface="+mn-lt"/>
                  <a:ea typeface="+mn-ea"/>
                  <a:cs typeface="+mn-cs"/>
                </a:rPr>
                <a:t>zamanında hiçbir iz bırakmaz. Bir</a:t>
              </a:r>
              <a:br/>
              <a:r>
                <a:rPr lang="tr-TR" sz="1350" dirty="0">
                  <a:solidFill>
                    <a:srgbClr val="172B3A"/>
                  </a:solidFill>
                  <a:latin typeface="+mn-lt"/>
                  <a:ea typeface="+mn-ea"/>
                  <a:cs typeface="+mn-cs"/>
                </a:rPr>
                <a:t>interface, yalnızca geliştiricinin</a:t>
              </a:r>
              <a:br/>
              <a:r>
                <a:rPr lang="tr-TR" sz="1350" dirty="0">
                  <a:solidFill>
                    <a:srgbClr val="172B3A"/>
                  </a:solidFill>
                  <a:latin typeface="+mn-lt"/>
                  <a:ea typeface="+mn-ea"/>
                  <a:cs typeface="+mn-cs"/>
                </a:rPr>
                <a:t>derleme anındaki niyetini ifade eder;</a:t>
              </a:r>
              <a:br/>
              <a:r>
                <a:rPr lang="tr-TR" sz="1350" dirty="0">
                  <a:solidFill>
                    <a:srgbClr val="172B3A"/>
                  </a:solidFill>
                  <a:latin typeface="+mn-lt"/>
                  <a:ea typeface="+mn-ea"/>
                  <a:cs typeface="+mn-cs"/>
                </a:rPr>
                <a:t>ağdan gelen ham JSON bu niyete</a:t>
              </a:r>
              <a:br/>
              <a:r>
                <a:rPr lang="tr-TR" sz="1350" dirty="0">
                  <a:solidFill>
                    <a:srgbClr val="172B3A"/>
                  </a:solidFill>
                  <a:latin typeface="+mn-lt"/>
                  <a:ea typeface="+mn-ea"/>
                  <a:cs typeface="+mn-cs"/>
                </a:rPr>
                <a:t>uyduğunu garanti etmez.</a:t>
              </a:r>
            </a:p>
          </p:txBody>
        </p:sp>
      </p:grpSp>
      <p:grpSp>
        <p:nvGrpSpPr>
          <p:cNvPr id="20" name="col-trust"/>
          <p:cNvGrpSpPr/>
          <p:nvPr/>
        </p:nvGrpSpPr>
        <p:grpSpPr>
          <a:xfrm>
            <a:off x="6324600" y="2362200"/>
            <a:ext cx="5257800" cy="2857500"/>
            <a:chOff x="6324600" y="2362200"/>
            <a:chExt cx="5257800" cy="2857500"/>
          </a:xfrm>
        </p:grpSpPr>
        <p:sp>
          <p:nvSpPr>
            <p:cNvPr id="17" name="Rectangle 17"/>
            <p:cNvSpPr/>
            <p:nvPr/>
          </p:nvSpPr>
          <p:spPr>
            <a:xfrm>
              <a:off x="6324600" y="2362200"/>
              <a:ext cx="5257800" cy="2857500"/>
            </a:xfrm>
            <a:prstGeom prst="roundRect">
              <a:avLst>
                <a:gd name="adj" fmla="val 3333"/>
              </a:avLst>
            </a:prstGeom>
            <a:solidFill>
              <a:srgbClr val="FFFFFF"/>
            </a:solidFill>
            <a:ln w="14288">
              <a:solidFill>
                <a:srgbClr val="2E86AB"/>
              </a:solidFill>
            </a:ln>
          </p:spPr>
        </p:sp>
        <p:sp>
          <p:nvSpPr>
            <p:cNvPr id="18" name="TextBox 18"/>
            <p:cNvSpPr txBox="1"/>
            <p:nvPr/>
          </p:nvSpPr>
          <p:spPr>
            <a:xfrm>
              <a:off x="6620256" y="2567940"/>
              <a:ext cx="283860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"Asla istemciye güven"</a:t>
              </a:r>
            </a:p>
          </p:txBody>
        </p:sp>
        <p:sp>
          <p:nvSpPr>
            <p:cNvPr id="19" name="TextBox 19"/>
            <p:cNvSpPr txBox="1"/>
            <p:nvPr/>
          </p:nvSpPr>
          <p:spPr>
            <a:xfrm>
              <a:off x="6622542" y="2997518"/>
              <a:ext cx="2928366" cy="17499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OWASP Top 10'un neredeyse tüm</a:t>
              </a:r>
              <a:br/>
              <a:r>
                <a:rPr lang="tr-TR" sz="1350" dirty="0">
                  <a:solidFill>
                    <a:srgbClr val="172B3A"/>
                  </a:solidFill>
                  <a:latin typeface="+mn-lt"/>
                  <a:ea typeface="+mn-ea"/>
                  <a:cs typeface="+mn-cs"/>
                </a:rPr>
                <a:t>sürümlerinde en üstte yer alan</a:t>
              </a:r>
              <a:br/>
              <a:r>
                <a:rPr lang="tr-TR" sz="1350" dirty="0">
                  <a:solidFill>
                    <a:srgbClr val="172B3A"/>
                  </a:solidFill>
                  <a:latin typeface="+mn-lt"/>
                  <a:ea typeface="+mn-ea"/>
                  <a:cs typeface="+mn-cs"/>
                </a:rPr>
                <a:t>enjeksiyon (injection) riskinin</a:t>
              </a:r>
              <a:br/>
              <a:r>
                <a:rPr lang="tr-TR" sz="1350" dirty="0">
                  <a:solidFill>
                    <a:srgbClr val="172B3A"/>
                  </a:solidFill>
                  <a:latin typeface="+mn-lt"/>
                  <a:ea typeface="+mn-ea"/>
                  <a:cs typeface="+mn-cs"/>
                </a:rPr>
                <a:t>doğrudan panzehiridir. Girdinin</a:t>
              </a:r>
              <a:br/>
              <a:r>
                <a:rPr lang="tr-TR" sz="1350" dirty="0">
                  <a:solidFill>
                    <a:srgbClr val="172B3A"/>
                  </a:solidFill>
                  <a:latin typeface="+mn-lt"/>
                  <a:ea typeface="+mn-ea"/>
                  <a:cs typeface="+mn-cs"/>
                </a:rPr>
                <a:t>sınırda doğrulanması, sapmaların</a:t>
              </a:r>
              <a:br/>
              <a:r>
                <a:rPr lang="tr-TR" sz="1350" dirty="0">
                  <a:solidFill>
                    <a:srgbClr val="172B3A"/>
                  </a:solidFill>
                  <a:latin typeface="+mn-lt"/>
                  <a:ea typeface="+mn-ea"/>
                  <a:cs typeface="+mn-cs"/>
                </a:rPr>
                <a:t>sistemin geri kalanına hiç</a:t>
              </a:r>
              <a:br/>
              <a:r>
                <a:rPr lang="tr-TR" sz="1350" dirty="0">
                  <a:solidFill>
                    <a:srgbClr val="172B3A"/>
                  </a:solidFill>
                  <a:latin typeface="+mn-lt"/>
                  <a:ea typeface="+mn-ea"/>
                  <a:cs typeface="+mn-cs"/>
                </a:rPr>
                <a:t>ulaşmamasını sağlar.</a:t>
              </a:r>
            </a:p>
          </p:txBody>
        </p:sp>
      </p:grpSp>
      <p:grpSp>
        <p:nvGrpSpPr>
          <p:cNvPr id="24" name="tip-note"/>
          <p:cNvGrpSpPr/>
          <p:nvPr/>
        </p:nvGrpSpPr>
        <p:grpSpPr>
          <a:xfrm>
            <a:off x="609600" y="5257800"/>
            <a:ext cx="10972800" cy="876300"/>
            <a:chOff x="609600" y="5257800"/>
            <a:chExt cx="10972800" cy="876300"/>
          </a:xfrm>
        </p:grpSpPr>
        <p:sp>
          <p:nvSpPr>
            <p:cNvPr id="21" name="Rectangle 21"/>
            <p:cNvSpPr/>
            <p:nvPr/>
          </p:nvSpPr>
          <p:spPr>
            <a:xfrm>
              <a:off x="609600" y="5257800"/>
              <a:ext cx="10972800" cy="876300"/>
            </a:xfrm>
            <a:prstGeom prst="roundRect">
              <a:avLst>
                <a:gd name="adj" fmla="val 8696"/>
              </a:avLst>
            </a:prstGeom>
            <a:solidFill>
              <a:srgbClr val="12355B"/>
            </a:solidFill>
            <a:ln>
              <a:noFill/>
            </a:ln>
          </p:spPr>
        </p:sp>
        <p:sp>
          <p:nvSpPr>
            <p:cNvPr id="22" name="TextBox 22"/>
            <p:cNvSpPr txBox="1"/>
            <p:nvPr/>
          </p:nvSpPr>
          <p:spPr>
            <a:xfrm>
              <a:off x="906399" y="5373529"/>
              <a:ext cx="930747"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İpucu</a:t>
              </a:r>
            </a:p>
          </p:txBody>
        </p:sp>
        <p:sp>
          <p:nvSpPr>
            <p:cNvPr id="23" name="TextBox 23"/>
            <p:cNvSpPr txBox="1"/>
            <p:nvPr/>
          </p:nvSpPr>
          <p:spPr>
            <a:xfrm>
              <a:off x="907542" y="5645468"/>
              <a:ext cx="6991731" cy="473583"/>
            </a:xfrm>
            <a:prstGeom prst="rect">
              <a:avLst/>
            </a:prstGeom>
            <a:noFill/>
            <a:ln>
              <a:noFill/>
            </a:ln>
          </p:spPr>
          <p:txBody>
            <a:bodyPr wrap="none" lIns="0" tIns="0" rIns="0" bIns="0" anchor="t" anchorCtr="0">
              <a:spAutoFit/>
            </a:bodyPr>
            <a:lstStyle/>
            <a:p>
              <a:pPr algn="l">
                <a:lnSpc>
                  <a:spcPts val="1650"/>
                </a:lnSpc>
              </a:pPr>
              <a:r>
                <a:rPr lang="tr-TR" sz="1350" dirty="0">
                  <a:solidFill>
                    <a:srgbClr val="EAF4F6"/>
                  </a:solidFill>
                  <a:latin typeface="+mn-lt"/>
                  <a:ea typeface="+mn-ea"/>
                  <a:cs typeface="+mn-cs"/>
                </a:rPr>
                <a:t>TypeScript türleri yalnızca derleme zamanında geçerlidir; ağdan gelen veri çalışma</a:t>
              </a:r>
              <a:br/>
              <a:r>
                <a:rPr lang="tr-TR" sz="1350" dirty="0">
                  <a:solidFill>
                    <a:srgbClr val="EAF4F6"/>
                  </a:solidFill>
                  <a:latin typeface="+mn-lt"/>
                  <a:ea typeface="+mn-ea"/>
                  <a:cs typeface="+mn-cs"/>
                </a:rPr>
                <a:t>zamanında mutlaka doğrulanmalıdır.</a:t>
              </a:r>
            </a:p>
          </p:txBody>
        </p:sp>
      </p:grpSp>
      <p:sp>
        <p:nvSpPr>
          <p:cNvPr id="25" name="TextBox 2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8"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6"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sp>
            <p:nvSpPr>
              <p:cNvPr id="5" name="Freeform 5"/>
              <p:cNvSpPr/>
              <p:nvPr/>
            </p:nvSpPr>
            <p:spPr>
              <a:xfrm>
                <a:off x="7539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63396" y="315278"/>
              <a:ext cx="8342214" cy="498729"/>
            </a:xfrm>
            <a:prstGeom prst="rect">
              <a:avLst/>
            </a:prstGeom>
            <a:noFill/>
            <a:ln>
              <a:noFill/>
            </a:ln>
          </p:spPr>
          <p:txBody>
            <a:bodyPr wrap="none" lIns="0" tIns="0" rIns="0" bIns="0" anchor="t" anchorCtr="0">
              <a:spAutoFit/>
            </a:bodyPr>
            <a:lstStyle/>
            <a:p>
              <a:pPr algn="l"/>
              <a:r>
                <a:rPr lang="tr-TR" sz="2550" b="1" dirty="0">
                  <a:solidFill>
                    <a:srgbClr val="F7FAFC"/>
                  </a:solidFill>
                  <a:latin typeface="+mj-lt"/>
                  <a:ea typeface="+mj-ea"/>
                  <a:cs typeface="+mj-cs"/>
                </a:rPr>
                <a:t>Kod 11.2 · Harici bağımlılıksız girdi doğrulama</a:t>
              </a:r>
            </a:p>
          </p:txBody>
        </p:sp>
      </p:grpSp>
      <p:grpSp>
        <p:nvGrpSpPr>
          <p:cNvPr id="28" name="code-panel"/>
          <p:cNvGrpSpPr/>
          <p:nvPr/>
        </p:nvGrpSpPr>
        <p:grpSpPr>
          <a:xfrm>
            <a:off x="571500" y="1295400"/>
            <a:ext cx="6477000" cy="3969020"/>
            <a:chOff x="571500" y="1295400"/>
            <a:chExt cx="6477000" cy="3969020"/>
          </a:xfrm>
        </p:grpSpPr>
        <p:sp>
          <p:nvSpPr>
            <p:cNvPr id="9" name="Rectangle 9"/>
            <p:cNvSpPr/>
            <p:nvPr/>
          </p:nvSpPr>
          <p:spPr>
            <a:xfrm>
              <a:off x="571500" y="1295400"/>
              <a:ext cx="6477000" cy="3905250"/>
            </a:xfrm>
            <a:prstGeom prst="rect">
              <a:avLst/>
            </a:prstGeom>
            <a:solidFill>
              <a:srgbClr val="12355B"/>
            </a:solidFill>
            <a:ln>
              <a:noFill/>
            </a:ln>
          </p:spPr>
        </p:sp>
        <p:sp>
          <p:nvSpPr>
            <p:cNvPr id="10" name="TextBox 10"/>
            <p:cNvSpPr txBox="1"/>
            <p:nvPr/>
          </p:nvSpPr>
          <p:spPr>
            <a:xfrm>
              <a:off x="794194" y="1474708"/>
              <a:ext cx="3630126"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function kayitIstegiDogrula(veri: unknown)</a:t>
              </a:r>
            </a:p>
          </p:txBody>
        </p:sp>
        <p:sp>
          <p:nvSpPr>
            <p:cNvPr id="11" name="TextBox 11"/>
            <p:cNvSpPr txBox="1"/>
            <p:nvPr/>
          </p:nvSpPr>
          <p:spPr>
            <a:xfrm>
              <a:off x="1032320" y="1684258"/>
              <a:ext cx="1655991"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 DogrulamaSonucu {</a:t>
              </a:r>
            </a:p>
          </p:txBody>
        </p:sp>
        <p:sp>
          <p:nvSpPr>
            <p:cNvPr id="12" name="TextBox 12"/>
            <p:cNvSpPr txBox="1"/>
            <p:nvPr/>
          </p:nvSpPr>
          <p:spPr>
            <a:xfrm>
              <a:off x="1032320" y="1893808"/>
              <a:ext cx="2502550"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const hatalar: string[] = [];</a:t>
              </a:r>
            </a:p>
          </p:txBody>
        </p:sp>
        <p:sp>
          <p:nvSpPr>
            <p:cNvPr id="13" name="TextBox 13"/>
            <p:cNvSpPr txBox="1"/>
            <p:nvPr/>
          </p:nvSpPr>
          <p:spPr>
            <a:xfrm>
              <a:off x="1032320" y="2103358"/>
              <a:ext cx="2674325"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if (typeof veri !== "object" ||</a:t>
              </a:r>
            </a:p>
          </p:txBody>
        </p:sp>
        <p:sp>
          <p:nvSpPr>
            <p:cNvPr id="14" name="TextBox 14"/>
            <p:cNvSpPr txBox="1"/>
            <p:nvPr/>
          </p:nvSpPr>
          <p:spPr>
            <a:xfrm>
              <a:off x="1270444" y="2312908"/>
              <a:ext cx="1386012"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veri === null) {</a:t>
              </a:r>
            </a:p>
          </p:txBody>
        </p:sp>
        <p:sp>
          <p:nvSpPr>
            <p:cNvPr id="15" name="TextBox 15"/>
            <p:cNvSpPr txBox="1"/>
            <p:nvPr/>
          </p:nvSpPr>
          <p:spPr>
            <a:xfrm>
              <a:off x="1518094" y="2522458"/>
              <a:ext cx="2251208"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return { gecerliMi: false,</a:t>
              </a:r>
            </a:p>
          </p:txBody>
        </p:sp>
        <p:sp>
          <p:nvSpPr>
            <p:cNvPr id="16" name="TextBox 16"/>
            <p:cNvSpPr txBox="1"/>
            <p:nvPr/>
          </p:nvSpPr>
          <p:spPr>
            <a:xfrm>
              <a:off x="1756220" y="2732008"/>
              <a:ext cx="2416663"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hatalar: ["nesne olmalı"] };</a:t>
              </a:r>
            </a:p>
          </p:txBody>
        </p:sp>
        <p:sp>
          <p:nvSpPr>
            <p:cNvPr id="17" name="TextBox 17"/>
            <p:cNvSpPr txBox="1"/>
            <p:nvPr/>
          </p:nvSpPr>
          <p:spPr>
            <a:xfrm>
              <a:off x="1032320" y="294155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18" name="TextBox 18"/>
            <p:cNvSpPr txBox="1"/>
            <p:nvPr/>
          </p:nvSpPr>
          <p:spPr>
            <a:xfrm>
              <a:off x="1032320" y="3151108"/>
              <a:ext cx="3110014"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const kayit = veri as Record&lt;string,</a:t>
              </a:r>
            </a:p>
          </p:txBody>
        </p:sp>
        <p:sp>
          <p:nvSpPr>
            <p:cNvPr id="19" name="TextBox 19"/>
            <p:cNvSpPr txBox="1"/>
            <p:nvPr/>
          </p:nvSpPr>
          <p:spPr>
            <a:xfrm>
              <a:off x="1270444" y="3360658"/>
              <a:ext cx="7847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unknown&gt;;</a:t>
              </a:r>
            </a:p>
          </p:txBody>
        </p:sp>
        <p:sp>
          <p:nvSpPr>
            <p:cNvPr id="20" name="TextBox 20"/>
            <p:cNvSpPr txBox="1"/>
            <p:nvPr/>
          </p:nvSpPr>
          <p:spPr>
            <a:xfrm>
              <a:off x="1032320" y="3570208"/>
              <a:ext cx="3361426"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if (typeof kayit.parola !== "string" ||</a:t>
              </a:r>
            </a:p>
          </p:txBody>
        </p:sp>
        <p:sp>
          <p:nvSpPr>
            <p:cNvPr id="21" name="TextBox 21"/>
            <p:cNvSpPr txBox="1"/>
            <p:nvPr/>
          </p:nvSpPr>
          <p:spPr>
            <a:xfrm>
              <a:off x="1270444" y="3779758"/>
              <a:ext cx="2244888"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kayit.parola.length &lt; 8) {</a:t>
              </a:r>
            </a:p>
          </p:txBody>
        </p:sp>
        <p:sp>
          <p:nvSpPr>
            <p:cNvPr id="22" name="TextBox 22"/>
            <p:cNvSpPr txBox="1"/>
            <p:nvPr/>
          </p:nvSpPr>
          <p:spPr>
            <a:xfrm>
              <a:off x="1270444" y="3989308"/>
              <a:ext cx="2416663"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hatalar.push("parola en az 8</a:t>
              </a:r>
            </a:p>
          </p:txBody>
        </p:sp>
        <p:sp>
          <p:nvSpPr>
            <p:cNvPr id="23" name="TextBox 23"/>
            <p:cNvSpPr txBox="1"/>
            <p:nvPr/>
          </p:nvSpPr>
          <p:spPr>
            <a:xfrm>
              <a:off x="1518094" y="4198858"/>
              <a:ext cx="1643675"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karakter olmalı.");</a:t>
              </a:r>
            </a:p>
          </p:txBody>
        </p:sp>
        <p:sp>
          <p:nvSpPr>
            <p:cNvPr id="24" name="TextBox 24"/>
            <p:cNvSpPr txBox="1"/>
            <p:nvPr/>
          </p:nvSpPr>
          <p:spPr>
            <a:xfrm>
              <a:off x="1032320" y="440840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25" name="TextBox 25"/>
            <p:cNvSpPr txBox="1"/>
            <p:nvPr/>
          </p:nvSpPr>
          <p:spPr>
            <a:xfrm>
              <a:off x="1032320" y="4617958"/>
              <a:ext cx="2937891"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return { gecerliMi: hatalar.length</a:t>
              </a:r>
            </a:p>
          </p:txBody>
        </p:sp>
        <p:sp>
          <p:nvSpPr>
            <p:cNvPr id="26" name="TextBox 26"/>
            <p:cNvSpPr txBox="1"/>
            <p:nvPr/>
          </p:nvSpPr>
          <p:spPr>
            <a:xfrm>
              <a:off x="1270444" y="4827508"/>
              <a:ext cx="1471900"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 0, hatalar };</a:t>
              </a:r>
            </a:p>
          </p:txBody>
        </p:sp>
        <p:sp>
          <p:nvSpPr>
            <p:cNvPr id="27" name="TextBox 27"/>
            <p:cNvSpPr txBox="1"/>
            <p:nvPr/>
          </p:nvSpPr>
          <p:spPr>
            <a:xfrm>
              <a:off x="794194" y="503705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grpSp>
      <p:grpSp>
        <p:nvGrpSpPr>
          <p:cNvPr id="31" name="code-purpose"/>
          <p:cNvGrpSpPr/>
          <p:nvPr/>
        </p:nvGrpSpPr>
        <p:grpSpPr>
          <a:xfrm>
            <a:off x="7267956" y="1482090"/>
            <a:ext cx="3307588" cy="1119283"/>
            <a:chOff x="7267956" y="1482090"/>
            <a:chExt cx="3307588" cy="1119283"/>
          </a:xfrm>
        </p:grpSpPr>
        <p:sp>
          <p:nvSpPr>
            <p:cNvPr id="29" name="TextBox 29"/>
            <p:cNvSpPr txBox="1"/>
            <p:nvPr/>
          </p:nvSpPr>
          <p:spPr>
            <a:xfrm>
              <a:off x="7267956" y="1482090"/>
              <a:ext cx="155352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Kodun amacı</a:t>
              </a:r>
            </a:p>
          </p:txBody>
        </p:sp>
        <p:sp>
          <p:nvSpPr>
            <p:cNvPr id="30" name="TextBox 30"/>
            <p:cNvSpPr txBox="1"/>
            <p:nvPr/>
          </p:nvSpPr>
          <p:spPr>
            <a:xfrm>
              <a:off x="7269861" y="1827371"/>
              <a:ext cx="3305683" cy="77400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Bir kayıt isteğinin alan tiplerini,</a:t>
              </a:r>
              <a:br/>
              <a:r>
                <a:rPr lang="tr-TR" sz="1420" dirty="0">
                  <a:solidFill>
                    <a:srgbClr val="172B3A"/>
                  </a:solidFill>
                  <a:latin typeface="+mn-lt"/>
                  <a:ea typeface="+mn-ea"/>
                  <a:cs typeface="+mn-cs"/>
                </a:rPr>
                <a:t>uzunluklarını ve izin verilen</a:t>
              </a:r>
              <a:br/>
              <a:r>
                <a:rPr lang="tr-TR" sz="1420" dirty="0">
                  <a:solidFill>
                    <a:srgbClr val="172B3A"/>
                  </a:solidFill>
                  <a:latin typeface="+mn-lt"/>
                  <a:ea typeface="+mn-ea"/>
                  <a:cs typeface="+mn-cs"/>
                </a:rPr>
                <a:t>değerlerini kütüphanesiz doğrulamak.</a:t>
              </a:r>
            </a:p>
          </p:txBody>
        </p:sp>
      </p:grpSp>
      <p:grpSp>
        <p:nvGrpSpPr>
          <p:cNvPr id="35" name="code-critical"/>
          <p:cNvGrpSpPr/>
          <p:nvPr/>
        </p:nvGrpSpPr>
        <p:grpSpPr>
          <a:xfrm>
            <a:off x="7267956" y="2777490"/>
            <a:ext cx="2926080" cy="1328166"/>
            <a:chOff x="7267956" y="2777490"/>
            <a:chExt cx="2926080" cy="1328166"/>
          </a:xfrm>
        </p:grpSpPr>
        <p:sp>
          <p:nvSpPr>
            <p:cNvPr id="32" name="TextBox 32"/>
            <p:cNvSpPr txBox="1"/>
            <p:nvPr/>
          </p:nvSpPr>
          <p:spPr>
            <a:xfrm>
              <a:off x="7267956" y="2777490"/>
              <a:ext cx="18703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Kritik satırlar</a:t>
              </a:r>
            </a:p>
          </p:txBody>
        </p:sp>
        <p:sp>
          <p:nvSpPr>
            <p:cNvPr id="33" name="TextBox 33"/>
            <p:cNvSpPr txBox="1"/>
            <p:nvPr/>
          </p:nvSpPr>
          <p:spPr>
            <a:xfrm>
              <a:off x="7271004" y="3128010"/>
              <a:ext cx="28696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 Her alan için ayrı bir koşul çalışır;</a:t>
              </a:r>
              <a:br/>
              <a:r>
                <a:rPr lang="tr-TR" sz="1200" dirty="0">
                  <a:solidFill>
                    <a:srgbClr val="172B3A"/>
                  </a:solidFill>
                  <a:latin typeface="+mn-lt"/>
                  <a:ea typeface="+mn-ea"/>
                  <a:cs typeface="+mn-cs"/>
                </a:rPr>
                <a:t>hatalar hatalar dizisinde birikir.</a:t>
              </a:r>
            </a:p>
          </p:txBody>
        </p:sp>
        <p:sp>
          <p:nvSpPr>
            <p:cNvPr id="34" name="TextBox 34"/>
            <p:cNvSpPr txBox="1"/>
            <p:nvPr/>
          </p:nvSpPr>
          <p:spPr>
            <a:xfrm>
              <a:off x="7271004" y="3661410"/>
              <a:ext cx="29230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 İlk hatada durulmaz — çağıran taraf</a:t>
              </a:r>
              <a:br/>
              <a:r>
                <a:rPr lang="tr-TR" sz="1200" dirty="0">
                  <a:solidFill>
                    <a:srgbClr val="172B3A"/>
                  </a:solidFill>
                  <a:latin typeface="+mn-lt"/>
                  <a:ea typeface="+mn-ea"/>
                  <a:cs typeface="+mn-cs"/>
                </a:rPr>
                <a:t>tüm hataları tek seferde görebilir.</a:t>
              </a:r>
            </a:p>
          </p:txBody>
        </p:sp>
      </p:grpSp>
      <p:grpSp>
        <p:nvGrpSpPr>
          <p:cNvPr id="39" name="code-caution"/>
          <p:cNvGrpSpPr/>
          <p:nvPr/>
        </p:nvGrpSpPr>
        <p:grpSpPr>
          <a:xfrm>
            <a:off x="7277100" y="4552950"/>
            <a:ext cx="3290316" cy="1000506"/>
            <a:chOff x="7277100" y="4552950"/>
            <a:chExt cx="3290316" cy="1000506"/>
          </a:xfrm>
        </p:grpSpPr>
        <p:sp>
          <p:nvSpPr>
            <p:cNvPr id="36" name="Rectangle 36"/>
            <p:cNvSpPr/>
            <p:nvPr/>
          </p:nvSpPr>
          <p:spPr>
            <a:xfrm>
              <a:off x="7277100" y="4552950"/>
              <a:ext cx="57150" cy="819150"/>
            </a:xfrm>
            <a:prstGeom prst="rect">
              <a:avLst/>
            </a:prstGeom>
            <a:solidFill>
              <a:srgbClr val="2E86AB"/>
            </a:solidFill>
            <a:ln>
              <a:noFill/>
            </a:ln>
          </p:spPr>
        </p:sp>
        <p:sp>
          <p:nvSpPr>
            <p:cNvPr id="37" name="TextBox 37"/>
            <p:cNvSpPr txBox="1"/>
            <p:nvPr/>
          </p:nvSpPr>
          <p:spPr>
            <a:xfrm>
              <a:off x="7499604" y="465201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 noktası</a:t>
              </a:r>
            </a:p>
          </p:txBody>
        </p:sp>
        <p:sp>
          <p:nvSpPr>
            <p:cNvPr id="38" name="TextBox 38"/>
            <p:cNvSpPr txBox="1"/>
            <p:nvPr/>
          </p:nvSpPr>
          <p:spPr>
            <a:xfrm>
              <a:off x="7499604" y="4899660"/>
              <a:ext cx="30678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Fonksiyon önce object olup olmadığını</a:t>
              </a:r>
              <a:br/>
              <a:r>
                <a:rPr lang="tr-TR" sz="1200" dirty="0">
                  <a:solidFill>
                    <a:srgbClr val="52616B"/>
                  </a:solidFill>
                  <a:latin typeface="+mn-lt"/>
                  <a:ea typeface="+mn-ea"/>
                  <a:cs typeface="+mn-cs"/>
                </a:rPr>
                <a:t>kontrol eder; aksi hâlde veri.alan erişimi</a:t>
              </a:r>
              <a:br/>
              <a:r>
                <a:rPr lang="tr-TR" sz="1200" dirty="0">
                  <a:solidFill>
                    <a:srgbClr val="52616B"/>
                  </a:solidFill>
                  <a:latin typeface="+mn-lt"/>
                  <a:ea typeface="+mn-ea"/>
                  <a:cs typeface="+mn-cs"/>
                </a:rPr>
                <a:t>çalışma zamanı hatasına yol açar.</a:t>
              </a:r>
            </a:p>
          </p:txBody>
        </p:sp>
      </p:grpSp>
      <p:grpSp>
        <p:nvGrpSpPr>
          <p:cNvPr id="41" name="code-takeaway"/>
          <p:cNvGrpSpPr/>
          <p:nvPr/>
        </p:nvGrpSpPr>
        <p:grpSpPr>
          <a:xfrm>
            <a:off x="564261" y="5694521"/>
            <a:ext cx="8346186" cy="526352"/>
            <a:chOff x="564261" y="5694521"/>
            <a:chExt cx="8346186" cy="526352"/>
          </a:xfrm>
        </p:grpSpPr>
        <p:sp>
          <p:nvSpPr>
            <p:cNvPr id="40" name="TextBox 40"/>
            <p:cNvSpPr txBox="1"/>
            <p:nvPr/>
          </p:nvSpPr>
          <p:spPr>
            <a:xfrm>
              <a:off x="564261" y="5694521"/>
              <a:ext cx="8346186" cy="52635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Geçerli girdi → { gecerliMi: true, hatalar: [] }; geçersiz girdi → gecerliMi: false ve tüm</a:t>
              </a:r>
              <a:br/>
              <a:r>
                <a:rPr lang="tr-TR" sz="1420" dirty="0">
                  <a:solidFill>
                    <a:srgbClr val="172B3A"/>
                  </a:solidFill>
                  <a:latin typeface="+mn-lt"/>
                  <a:ea typeface="+mn-ea"/>
                  <a:cs typeface="+mn-cs"/>
                </a:rPr>
                <a:t>alan hatalarını içeren bir liste — istemci hangi alanı düzeltmesi gerektiğini tek yanıtta görür.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325699" cy="668845"/>
            <a:chOff x="609600" y="171450"/>
            <a:chExt cx="8325699"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63532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Validation yaklaşımları ve yaygın hata</a:t>
              </a:r>
            </a:p>
          </p:txBody>
        </p:sp>
      </p:grpSp>
      <p:grpSp>
        <p:nvGrpSpPr>
          <p:cNvPr id="17" name="alt-header"/>
          <p:cNvGrpSpPr/>
          <p:nvPr/>
        </p:nvGrpSpPr>
        <p:grpSpPr>
          <a:xfrm>
            <a:off x="609600" y="1257300"/>
            <a:ext cx="10972800" cy="342900"/>
            <a:chOff x="609600" y="1257300"/>
            <a:chExt cx="10972800" cy="342900"/>
          </a:xfrm>
        </p:grpSpPr>
        <p:sp>
          <p:nvSpPr>
            <p:cNvPr id="12" name="Rectangle 12"/>
            <p:cNvSpPr/>
            <p:nvPr/>
          </p:nvSpPr>
          <p:spPr>
            <a:xfrm>
              <a:off x="609600" y="1257300"/>
              <a:ext cx="10972800" cy="342900"/>
            </a:xfrm>
            <a:prstGeom prst="rect">
              <a:avLst/>
            </a:prstGeom>
            <a:solidFill>
              <a:srgbClr val="12355B"/>
            </a:solidFill>
            <a:ln>
              <a:noFill/>
            </a:ln>
          </p:spPr>
        </p:sp>
        <p:sp>
          <p:nvSpPr>
            <p:cNvPr id="13" name="TextBox 13"/>
            <p:cNvSpPr txBox="1"/>
            <p:nvPr/>
          </p:nvSpPr>
          <p:spPr>
            <a:xfrm>
              <a:off x="756666" y="1363028"/>
              <a:ext cx="767509"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YAKLAŞIM</a:t>
              </a:r>
            </a:p>
          </p:txBody>
        </p:sp>
        <p:sp>
          <p:nvSpPr>
            <p:cNvPr id="14" name="TextBox 14"/>
            <p:cNvSpPr txBox="1"/>
            <p:nvPr/>
          </p:nvSpPr>
          <p:spPr>
            <a:xfrm>
              <a:off x="2852166" y="1363028"/>
              <a:ext cx="736145"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AVANTAJI</a:t>
              </a:r>
            </a:p>
          </p:txBody>
        </p:sp>
        <p:sp>
          <p:nvSpPr>
            <p:cNvPr id="15" name="TextBox 15"/>
            <p:cNvSpPr txBox="1"/>
            <p:nvPr/>
          </p:nvSpPr>
          <p:spPr>
            <a:xfrm>
              <a:off x="5862066" y="1363028"/>
              <a:ext cx="1026902"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DEZAVANTAJI</a:t>
              </a:r>
            </a:p>
          </p:txBody>
        </p:sp>
        <p:sp>
          <p:nvSpPr>
            <p:cNvPr id="16" name="TextBox 16"/>
            <p:cNvSpPr txBox="1"/>
            <p:nvPr/>
          </p:nvSpPr>
          <p:spPr>
            <a:xfrm>
              <a:off x="8871966" y="1363028"/>
              <a:ext cx="130981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UYGUN KULLANIM</a:t>
              </a:r>
            </a:p>
          </p:txBody>
        </p:sp>
      </p:grpSp>
      <p:grpSp>
        <p:nvGrpSpPr>
          <p:cNvPr id="23" name="row-manual"/>
          <p:cNvGrpSpPr/>
          <p:nvPr/>
        </p:nvGrpSpPr>
        <p:grpSpPr>
          <a:xfrm>
            <a:off x="609600" y="1699260"/>
            <a:ext cx="10972800" cy="539115"/>
            <a:chOff x="609600" y="1699260"/>
            <a:chExt cx="10972800" cy="539115"/>
          </a:xfrm>
        </p:grpSpPr>
        <p:sp>
          <p:nvSpPr>
            <p:cNvPr id="18" name="TextBox 18"/>
            <p:cNvSpPr txBox="1"/>
            <p:nvPr/>
          </p:nvSpPr>
          <p:spPr>
            <a:xfrm>
              <a:off x="755142" y="1721168"/>
              <a:ext cx="949833" cy="454533"/>
            </a:xfrm>
            <a:prstGeom prst="rect">
              <a:avLst/>
            </a:prstGeom>
            <a:noFill/>
            <a:ln>
              <a:noFill/>
            </a:ln>
          </p:spPr>
          <p:txBody>
            <a:bodyPr wrap="none" lIns="0" tIns="0" rIns="0" bIns="0" anchor="t" anchorCtr="0">
              <a:spAutoFit/>
            </a:bodyPr>
            <a:lstStyle/>
            <a:p>
              <a:pPr algn="l">
                <a:lnSpc>
                  <a:spcPts val="1500"/>
                </a:lnSpc>
              </a:pPr>
              <a:r>
                <a:rPr lang="tr-TR" sz="1350" b="1" dirty="0">
                  <a:solidFill>
                    <a:srgbClr val="12355B"/>
                  </a:solidFill>
                  <a:latin typeface="+mn-lt"/>
                  <a:ea typeface="+mn-ea"/>
                  <a:cs typeface="+mn-cs"/>
                </a:rPr>
                <a:t>Manuel tür</a:t>
              </a:r>
              <a:br/>
              <a:r>
                <a:rPr lang="tr-TR" sz="1350" b="1" dirty="0">
                  <a:solidFill>
                    <a:srgbClr val="12355B"/>
                  </a:solidFill>
                  <a:latin typeface="+mn-lt"/>
                  <a:ea typeface="+mn-ea"/>
                  <a:cs typeface="+mn-cs"/>
                </a:rPr>
                <a:t>koruyucu</a:t>
              </a:r>
            </a:p>
          </p:txBody>
        </p:sp>
        <p:sp>
          <p:nvSpPr>
            <p:cNvPr id="19" name="TextBox 19"/>
            <p:cNvSpPr txBox="1"/>
            <p:nvPr/>
          </p:nvSpPr>
          <p:spPr>
            <a:xfrm>
              <a:off x="2851404" y="1737360"/>
              <a:ext cx="10180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Ek bağımlılık</a:t>
              </a:r>
              <a:br/>
              <a:r>
                <a:rPr lang="tr-TR" sz="1200" dirty="0">
                  <a:solidFill>
                    <a:srgbClr val="172B3A"/>
                  </a:solidFill>
                  <a:latin typeface="+mn-lt"/>
                  <a:ea typeface="+mn-ea"/>
                  <a:cs typeface="+mn-cs"/>
                </a:rPr>
                <a:t>gerektirmez</a:t>
              </a:r>
            </a:p>
          </p:txBody>
        </p:sp>
        <p:sp>
          <p:nvSpPr>
            <p:cNvPr id="20" name="TextBox 20"/>
            <p:cNvSpPr txBox="1"/>
            <p:nvPr/>
          </p:nvSpPr>
          <p:spPr>
            <a:xfrm>
              <a:off x="5861304" y="1699260"/>
              <a:ext cx="18028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Karmaşık şemalarda kod</a:t>
              </a:r>
              <a:br/>
              <a:r>
                <a:rPr lang="tr-TR" sz="1200" dirty="0">
                  <a:solidFill>
                    <a:srgbClr val="172B3A"/>
                  </a:solidFill>
                  <a:latin typeface="+mn-lt"/>
                  <a:ea typeface="+mn-ea"/>
                  <a:cs typeface="+mn-cs"/>
                </a:rPr>
                <a:t>uzar ve tekrar eder</a:t>
              </a:r>
            </a:p>
          </p:txBody>
        </p:sp>
        <p:sp>
          <p:nvSpPr>
            <p:cNvPr id="21" name="TextBox 21"/>
            <p:cNvSpPr txBox="1"/>
            <p:nvPr/>
          </p:nvSpPr>
          <p:spPr>
            <a:xfrm>
              <a:off x="8871204" y="1699260"/>
              <a:ext cx="12009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Küçük, az alanlı</a:t>
              </a:r>
              <a:br/>
              <a:r>
                <a:rPr lang="tr-TR" sz="1200" dirty="0">
                  <a:solidFill>
                    <a:srgbClr val="172B3A"/>
                  </a:solidFill>
                  <a:latin typeface="+mn-lt"/>
                  <a:ea typeface="+mn-ea"/>
                  <a:cs typeface="+mn-cs"/>
                </a:rPr>
                <a:t>istekler</a:t>
              </a:r>
            </a:p>
          </p:txBody>
        </p:sp>
        <p:sp>
          <p:nvSpPr>
            <p:cNvPr id="22" name="Line 22"/>
            <p:cNvSpPr/>
            <p:nvPr/>
          </p:nvSpPr>
          <p:spPr>
            <a:xfrm>
              <a:off x="609600" y="22288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0" name="row-zod"/>
          <p:cNvGrpSpPr/>
          <p:nvPr/>
        </p:nvGrpSpPr>
        <p:grpSpPr>
          <a:xfrm>
            <a:off x="609600" y="2228850"/>
            <a:ext cx="10972800" cy="638175"/>
            <a:chOff x="609600" y="2228850"/>
            <a:chExt cx="10972800" cy="638175"/>
          </a:xfrm>
        </p:grpSpPr>
        <p:sp>
          <p:nvSpPr>
            <p:cNvPr id="24" name="Rectangle 24"/>
            <p:cNvSpPr/>
            <p:nvPr/>
          </p:nvSpPr>
          <p:spPr>
            <a:xfrm>
              <a:off x="609600" y="2228850"/>
              <a:ext cx="10972800" cy="628650"/>
            </a:xfrm>
            <a:prstGeom prst="rect">
              <a:avLst/>
            </a:prstGeom>
            <a:solidFill>
              <a:srgbClr val="EAF4F6"/>
            </a:solidFill>
            <a:ln>
              <a:noFill/>
            </a:ln>
          </p:spPr>
        </p:sp>
        <p:sp>
          <p:nvSpPr>
            <p:cNvPr id="25" name="TextBox 25"/>
            <p:cNvSpPr txBox="1"/>
            <p:nvPr/>
          </p:nvSpPr>
          <p:spPr>
            <a:xfrm>
              <a:off x="755142" y="2406968"/>
              <a:ext cx="32857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zod</a:t>
              </a:r>
            </a:p>
          </p:txBody>
        </p:sp>
        <p:sp>
          <p:nvSpPr>
            <p:cNvPr id="26" name="TextBox 26"/>
            <p:cNvSpPr txBox="1"/>
            <p:nvPr/>
          </p:nvSpPr>
          <p:spPr>
            <a:xfrm>
              <a:off x="2851404" y="2366010"/>
              <a:ext cx="19781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Bildirimsel şema, otomatik</a:t>
              </a:r>
              <a:br/>
              <a:r>
                <a:rPr lang="tr-TR" sz="1200" dirty="0">
                  <a:solidFill>
                    <a:srgbClr val="172B3A"/>
                  </a:solidFill>
                  <a:latin typeface="+mn-lt"/>
                  <a:ea typeface="+mn-ea"/>
                  <a:cs typeface="+mn-cs"/>
                </a:rPr>
                <a:t>tür çıkarımı sağlar</a:t>
              </a:r>
            </a:p>
          </p:txBody>
        </p:sp>
        <p:sp>
          <p:nvSpPr>
            <p:cNvPr id="27" name="TextBox 27"/>
            <p:cNvSpPr txBox="1"/>
            <p:nvPr/>
          </p:nvSpPr>
          <p:spPr>
            <a:xfrm>
              <a:off x="5861304" y="2423160"/>
              <a:ext cx="153576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Ek bağımlılık ekler</a:t>
              </a:r>
            </a:p>
          </p:txBody>
        </p:sp>
        <p:sp>
          <p:nvSpPr>
            <p:cNvPr id="28" name="TextBox 28"/>
            <p:cNvSpPr txBox="1"/>
            <p:nvPr/>
          </p:nvSpPr>
          <p:spPr>
            <a:xfrm>
              <a:off x="8871204" y="2366010"/>
              <a:ext cx="15742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Orta ve büyük ölçekli</a:t>
              </a:r>
              <a:br/>
              <a:r>
                <a:rPr lang="tr-TR" sz="1200" dirty="0">
                  <a:solidFill>
                    <a:srgbClr val="172B3A"/>
                  </a:solidFill>
                  <a:latin typeface="+mn-lt"/>
                  <a:ea typeface="+mn-ea"/>
                  <a:cs typeface="+mn-cs"/>
                </a:rPr>
                <a:t>TypeScript projeleri</a:t>
              </a:r>
            </a:p>
          </p:txBody>
        </p:sp>
        <p:sp>
          <p:nvSpPr>
            <p:cNvPr id="29" name="Line 29"/>
            <p:cNvSpPr/>
            <p:nvPr/>
          </p:nvSpPr>
          <p:spPr>
            <a:xfrm>
              <a:off x="609600" y="2857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6" name="row-classvalidator"/>
          <p:cNvGrpSpPr/>
          <p:nvPr/>
        </p:nvGrpSpPr>
        <p:grpSpPr>
          <a:xfrm>
            <a:off x="609600" y="2994660"/>
            <a:ext cx="10972800" cy="501015"/>
            <a:chOff x="609600" y="2994660"/>
            <a:chExt cx="10972800" cy="501015"/>
          </a:xfrm>
        </p:grpSpPr>
        <p:sp>
          <p:nvSpPr>
            <p:cNvPr id="31" name="TextBox 31"/>
            <p:cNvSpPr txBox="1"/>
            <p:nvPr/>
          </p:nvSpPr>
          <p:spPr>
            <a:xfrm>
              <a:off x="755142" y="3035618"/>
              <a:ext cx="144489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class-validator</a:t>
              </a:r>
            </a:p>
          </p:txBody>
        </p:sp>
        <p:sp>
          <p:nvSpPr>
            <p:cNvPr id="32" name="TextBox 32"/>
            <p:cNvSpPr txBox="1"/>
            <p:nvPr/>
          </p:nvSpPr>
          <p:spPr>
            <a:xfrm>
              <a:off x="2851404" y="2994660"/>
              <a:ext cx="19933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Decorator tabanlı, NestJS</a:t>
              </a:r>
              <a:br/>
              <a:r>
                <a:rPr lang="tr-TR" sz="1200" dirty="0">
                  <a:solidFill>
                    <a:srgbClr val="172B3A"/>
                  </a:solidFill>
                  <a:latin typeface="+mn-lt"/>
                  <a:ea typeface="+mn-ea"/>
                  <a:cs typeface="+mn-cs"/>
                </a:rPr>
                <a:t>ile iyi entegre olur</a:t>
              </a:r>
            </a:p>
          </p:txBody>
        </p:sp>
        <p:sp>
          <p:nvSpPr>
            <p:cNvPr id="33" name="TextBox 33"/>
            <p:cNvSpPr txBox="1"/>
            <p:nvPr/>
          </p:nvSpPr>
          <p:spPr>
            <a:xfrm>
              <a:off x="5861304" y="2994660"/>
              <a:ext cx="13609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Decorator desteği</a:t>
              </a:r>
              <a:br/>
              <a:r>
                <a:rPr lang="tr-TR" sz="1200" dirty="0">
                  <a:solidFill>
                    <a:srgbClr val="172B3A"/>
                  </a:solidFill>
                  <a:latin typeface="+mn-lt"/>
                  <a:ea typeface="+mn-ea"/>
                  <a:cs typeface="+mn-cs"/>
                </a:rPr>
                <a:t>gerektirir</a:t>
              </a:r>
            </a:p>
          </p:txBody>
        </p:sp>
        <p:sp>
          <p:nvSpPr>
            <p:cNvPr id="34" name="TextBox 34"/>
            <p:cNvSpPr txBox="1"/>
            <p:nvPr/>
          </p:nvSpPr>
          <p:spPr>
            <a:xfrm>
              <a:off x="8871204" y="3051810"/>
              <a:ext cx="186868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NestJS tabanlı projeler</a:t>
              </a:r>
            </a:p>
          </p:txBody>
        </p:sp>
        <p:sp>
          <p:nvSpPr>
            <p:cNvPr id="35" name="Line 35"/>
            <p:cNvSpPr/>
            <p:nvPr/>
          </p:nvSpPr>
          <p:spPr>
            <a:xfrm>
              <a:off x="609600" y="34861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2" name="row-clientonly"/>
          <p:cNvGrpSpPr/>
          <p:nvPr/>
        </p:nvGrpSpPr>
        <p:grpSpPr>
          <a:xfrm>
            <a:off x="609600" y="3486150"/>
            <a:ext cx="10972800" cy="632651"/>
            <a:chOff x="609600" y="3486150"/>
            <a:chExt cx="10972800" cy="632651"/>
          </a:xfrm>
        </p:grpSpPr>
        <p:sp>
          <p:nvSpPr>
            <p:cNvPr id="37" name="Rectangle 37"/>
            <p:cNvSpPr/>
            <p:nvPr/>
          </p:nvSpPr>
          <p:spPr>
            <a:xfrm>
              <a:off x="609600" y="3486150"/>
              <a:ext cx="10972800" cy="628650"/>
            </a:xfrm>
            <a:prstGeom prst="rect">
              <a:avLst/>
            </a:prstGeom>
            <a:solidFill>
              <a:srgbClr val="EAF4F6"/>
            </a:solidFill>
            <a:ln>
              <a:noFill/>
            </a:ln>
          </p:spPr>
        </p:sp>
        <p:sp>
          <p:nvSpPr>
            <p:cNvPr id="38" name="TextBox 38"/>
            <p:cNvSpPr txBox="1"/>
            <p:nvPr/>
          </p:nvSpPr>
          <p:spPr>
            <a:xfrm>
              <a:off x="755142" y="3664268"/>
              <a:ext cx="1345882" cy="454533"/>
            </a:xfrm>
            <a:prstGeom prst="rect">
              <a:avLst/>
            </a:prstGeom>
            <a:noFill/>
            <a:ln>
              <a:noFill/>
            </a:ln>
          </p:spPr>
          <p:txBody>
            <a:bodyPr wrap="none" lIns="0" tIns="0" rIns="0" bIns="0" anchor="t" anchorCtr="0">
              <a:spAutoFit/>
            </a:bodyPr>
            <a:lstStyle/>
            <a:p>
              <a:pPr algn="l">
                <a:lnSpc>
                  <a:spcPts val="1500"/>
                </a:lnSpc>
              </a:pPr>
              <a:r>
                <a:rPr lang="tr-TR" sz="1350" b="1" dirty="0">
                  <a:solidFill>
                    <a:srgbClr val="12355B"/>
                  </a:solidFill>
                  <a:latin typeface="+mn-lt"/>
                  <a:ea typeface="+mn-ea"/>
                  <a:cs typeface="+mn-cs"/>
                </a:rPr>
                <a:t>İstemci tarafı</a:t>
              </a:r>
              <a:br/>
              <a:r>
                <a:rPr lang="tr-TR" sz="1350" b="1" dirty="0">
                  <a:solidFill>
                    <a:srgbClr val="12355B"/>
                  </a:solidFill>
                  <a:latin typeface="+mn-lt"/>
                  <a:ea typeface="+mn-ea"/>
                  <a:cs typeface="+mn-cs"/>
                </a:rPr>
                <a:t>(yalnızca)</a:t>
              </a:r>
            </a:p>
          </p:txBody>
        </p:sp>
        <p:sp>
          <p:nvSpPr>
            <p:cNvPr id="39" name="TextBox 39"/>
            <p:cNvSpPr txBox="1"/>
            <p:nvPr/>
          </p:nvSpPr>
          <p:spPr>
            <a:xfrm>
              <a:off x="2851404" y="3623310"/>
              <a:ext cx="14904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Kullanıcı deneyimini</a:t>
              </a:r>
              <a:br/>
              <a:r>
                <a:rPr lang="tr-TR" sz="1200" dirty="0">
                  <a:solidFill>
                    <a:srgbClr val="172B3A"/>
                  </a:solidFill>
                  <a:latin typeface="+mn-lt"/>
                  <a:ea typeface="+mn-ea"/>
                  <a:cs typeface="+mn-cs"/>
                </a:rPr>
                <a:t>hızlandırır</a:t>
              </a:r>
            </a:p>
          </p:txBody>
        </p:sp>
        <p:sp>
          <p:nvSpPr>
            <p:cNvPr id="40" name="TextBox 40"/>
            <p:cNvSpPr txBox="1"/>
            <p:nvPr/>
          </p:nvSpPr>
          <p:spPr>
            <a:xfrm>
              <a:off x="5861304" y="3623310"/>
              <a:ext cx="22143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Sunucu tarafında atlanabilir,</a:t>
              </a:r>
              <a:br/>
              <a:r>
                <a:rPr lang="tr-TR" sz="1200" dirty="0">
                  <a:solidFill>
                    <a:srgbClr val="172B3A"/>
                  </a:solidFill>
                  <a:latin typeface="+mn-lt"/>
                  <a:ea typeface="+mn-ea"/>
                  <a:cs typeface="+mn-cs"/>
                </a:rPr>
                <a:t>tek başına güvenli değildir</a:t>
              </a:r>
            </a:p>
          </p:txBody>
        </p:sp>
        <p:sp>
          <p:nvSpPr>
            <p:cNvPr id="41" name="TextBox 41"/>
            <p:cNvSpPr txBox="1"/>
            <p:nvPr/>
          </p:nvSpPr>
          <p:spPr>
            <a:xfrm>
              <a:off x="8871204" y="3680460"/>
              <a:ext cx="166299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Tek başına yetersiz</a:t>
              </a:r>
            </a:p>
          </p:txBody>
        </p:sp>
      </p:grpSp>
      <p:grpSp>
        <p:nvGrpSpPr>
          <p:cNvPr id="47" name="common-mistake"/>
          <p:cNvGrpSpPr/>
          <p:nvPr/>
        </p:nvGrpSpPr>
        <p:grpSpPr>
          <a:xfrm>
            <a:off x="609600" y="4400550"/>
            <a:ext cx="9013444" cy="1504950"/>
            <a:chOff x="609600" y="4400550"/>
            <a:chExt cx="9013444" cy="1504950"/>
          </a:xfrm>
        </p:grpSpPr>
        <p:sp>
          <p:nvSpPr>
            <p:cNvPr id="43" name="Rectangle 43"/>
            <p:cNvSpPr/>
            <p:nvPr/>
          </p:nvSpPr>
          <p:spPr>
            <a:xfrm>
              <a:off x="609600" y="4400550"/>
              <a:ext cx="57150" cy="1504950"/>
            </a:xfrm>
            <a:prstGeom prst="rect">
              <a:avLst/>
            </a:prstGeom>
            <a:solidFill>
              <a:srgbClr val="2E86AB"/>
            </a:solidFill>
            <a:ln>
              <a:noFill/>
            </a:ln>
          </p:spPr>
        </p:sp>
        <p:sp>
          <p:nvSpPr>
            <p:cNvPr id="44" name="TextBox 44"/>
            <p:cNvSpPr txBox="1"/>
            <p:nvPr/>
          </p:nvSpPr>
          <p:spPr>
            <a:xfrm>
              <a:off x="905256" y="4511040"/>
              <a:ext cx="571330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Yaygın hata: yalnızca tarayıcıda doğrulamak</a:t>
              </a:r>
            </a:p>
          </p:txBody>
        </p:sp>
        <p:sp>
          <p:nvSpPr>
            <p:cNvPr id="45" name="TextBox 45"/>
            <p:cNvSpPr txBox="1"/>
            <p:nvPr/>
          </p:nvSpPr>
          <p:spPr>
            <a:xfrm>
              <a:off x="908304" y="4899660"/>
              <a:ext cx="84963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function kayitOlGuvensiz(istek: KayitIstegi) { console.log(istek.kullaniciAdi.toUpperCase()); }</a:t>
              </a:r>
            </a:p>
          </p:txBody>
        </p:sp>
        <p:sp>
          <p:nvSpPr>
            <p:cNvPr id="46" name="TextBox 46"/>
            <p:cNvSpPr txBox="1"/>
            <p:nvPr/>
          </p:nvSpPr>
          <p:spPr>
            <a:xfrm>
              <a:off x="907161" y="5237321"/>
              <a:ext cx="8715883" cy="526352"/>
            </a:xfrm>
            <a:prstGeom prst="rect">
              <a:avLst/>
            </a:prstGeom>
            <a:noFill/>
            <a:ln>
              <a:noFill/>
            </a:ln>
          </p:spPr>
          <p:txBody>
            <a:bodyPr wrap="none" lIns="0" tIns="0" rIns="0" bIns="0" anchor="t" anchorCtr="0">
              <a:spAutoFit/>
            </a:bodyPr>
            <a:lstStyle/>
            <a:p>
              <a:pPr algn="l">
                <a:lnSpc>
                  <a:spcPts val="1950"/>
                </a:lnSpc>
              </a:pPr>
              <a:r>
                <a:rPr lang="tr-TR" sz="1420" dirty="0">
                  <a:solidFill>
                    <a:srgbClr val="52616B"/>
                  </a:solidFill>
                  <a:latin typeface="+mn-lt"/>
                  <a:ea typeface="+mn-ea"/>
                  <a:cs typeface="+mn-cs"/>
                </a:rPr>
                <a:t>Bir saldırgan tarayıcıyı atlayarak doğrudan API'ye istek gönderebilir; sunucu tarafı doğrulaması</a:t>
              </a:r>
              <a:br/>
              <a:r>
                <a:rPr lang="tr-TR" sz="1420" dirty="0">
                  <a:solidFill>
                    <a:srgbClr val="52616B"/>
                  </a:solidFill>
                  <a:latin typeface="+mn-lt"/>
                  <a:ea typeface="+mn-ea"/>
                  <a:cs typeface="+mn-cs"/>
                </a:rPr>
                <a:t>yoksa eksik veya bozuk veri doğrudan servis ve repository katmanına ilerler.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011685" cy="668845"/>
            <a:chOff x="609600" y="171450"/>
            <a:chExt cx="9011685"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832131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Merkezi hata yönetimi (error middleware)</a:t>
              </a:r>
            </a:p>
          </p:txBody>
        </p:sp>
      </p:grpSp>
      <p:grpSp>
        <p:nvGrpSpPr>
          <p:cNvPr id="15" name="definition-box"/>
          <p:cNvGrpSpPr/>
          <p:nvPr/>
        </p:nvGrpSpPr>
        <p:grpSpPr>
          <a:xfrm>
            <a:off x="609600" y="1219200"/>
            <a:ext cx="10972800" cy="937451"/>
            <a:chOff x="609600" y="1219200"/>
            <a:chExt cx="10972800" cy="937451"/>
          </a:xfrm>
        </p:grpSpPr>
        <p:sp>
          <p:nvSpPr>
            <p:cNvPr id="12" name="Rectangle 12"/>
            <p:cNvSpPr/>
            <p:nvPr/>
          </p:nvSpPr>
          <p:spPr>
            <a:xfrm>
              <a:off x="609600" y="1219200"/>
              <a:ext cx="10972800" cy="914400"/>
            </a:xfrm>
            <a:prstGeom prst="roundRect">
              <a:avLst>
                <a:gd name="adj" fmla="val 8333"/>
              </a:avLst>
            </a:prstGeom>
            <a:solidFill>
              <a:srgbClr val="EAF4F6"/>
            </a:solidFill>
            <a:ln>
              <a:noFill/>
            </a:ln>
          </p:spPr>
        </p:sp>
        <p:sp>
          <p:nvSpPr>
            <p:cNvPr id="13" name="TextBox 13"/>
            <p:cNvSpPr txBox="1"/>
            <p:nvPr/>
          </p:nvSpPr>
          <p:spPr>
            <a:xfrm>
              <a:off x="906399" y="13539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4" name="TextBox 14"/>
            <p:cNvSpPr txBox="1"/>
            <p:nvPr/>
          </p:nvSpPr>
          <p:spPr>
            <a:xfrm>
              <a:off x="907542" y="1664018"/>
              <a:ext cx="8200454"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Uygulamadaki tüm hataların tek bir middleware üzerinden yakalanıp tutarlı bir HTTP yanıtına</a:t>
              </a:r>
              <a:br/>
              <a:r>
                <a:rPr lang="tr-TR" sz="1350" dirty="0">
                  <a:solidFill>
                    <a:srgbClr val="172B3A"/>
                  </a:solidFill>
                  <a:latin typeface="+mn-lt"/>
                  <a:ea typeface="+mn-ea"/>
                  <a:cs typeface="+mn-cs"/>
                </a:rPr>
                <a:t>dönüştürülmesi yaklaşımıdır; AppError sınıfı HTTP durum kodunu ve gösterilebilir mesajı taşır.</a:t>
              </a:r>
            </a:p>
          </p:txBody>
        </p:sp>
      </p:grpSp>
      <p:grpSp>
        <p:nvGrpSpPr>
          <p:cNvPr id="19" name="col-chain"/>
          <p:cNvGrpSpPr/>
          <p:nvPr/>
        </p:nvGrpSpPr>
        <p:grpSpPr>
          <a:xfrm>
            <a:off x="609600" y="2362200"/>
            <a:ext cx="5257800" cy="2857500"/>
            <a:chOff x="609600" y="2362200"/>
            <a:chExt cx="5257800" cy="2857500"/>
          </a:xfrm>
        </p:grpSpPr>
        <p:sp>
          <p:nvSpPr>
            <p:cNvPr id="16" name="Rectangle 16"/>
            <p:cNvSpPr/>
            <p:nvPr/>
          </p:nvSpPr>
          <p:spPr>
            <a:xfrm>
              <a:off x="609600" y="2362200"/>
              <a:ext cx="5257800" cy="2857500"/>
            </a:xfrm>
            <a:prstGeom prst="roundRect">
              <a:avLst>
                <a:gd name="adj" fmla="val 3333"/>
              </a:avLst>
            </a:prstGeom>
            <a:solidFill>
              <a:srgbClr val="FFFFFF"/>
            </a:solidFill>
            <a:ln w="14288">
              <a:solidFill>
                <a:srgbClr val="B8CBD3"/>
              </a:solidFill>
            </a:ln>
          </p:spPr>
        </p:sp>
        <p:sp>
          <p:nvSpPr>
            <p:cNvPr id="17" name="TextBox 17"/>
            <p:cNvSpPr txBox="1"/>
            <p:nvPr/>
          </p:nvSpPr>
          <p:spPr>
            <a:xfrm>
              <a:off x="905256" y="2567940"/>
              <a:ext cx="280654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Chain of Responsibility</a:t>
              </a:r>
            </a:p>
          </p:txBody>
        </p:sp>
        <p:sp>
          <p:nvSpPr>
            <p:cNvPr id="18" name="TextBox 18"/>
            <p:cNvSpPr txBox="1"/>
            <p:nvPr/>
          </p:nvSpPr>
          <p:spPr>
            <a:xfrm>
              <a:off x="907542" y="2997518"/>
              <a:ext cx="3331274" cy="17499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Gamma, Helm, Johnson, Vlissides</a:t>
              </a:r>
            </a:p>
            <a:p>
              <a:pPr algn="l">
                <a:lnSpc>
                  <a:spcPts val="1950"/>
                </a:lnSpc>
              </a:pPr>
              <a:r>
                <a:rPr lang="tr-TR" sz="1350" dirty="0">
                  <a:solidFill>
                    <a:srgbClr val="172B3A"/>
                  </a:solidFill>
                  <a:latin typeface="+mn-lt"/>
                  <a:ea typeface="+mn-ea"/>
                  <a:cs typeface="+mn-cs"/>
                </a:rPr>
                <a:t>(1994). Bir istek, her biri isteği işleyip</a:t>
              </a:r>
              <a:br/>
              <a:r>
                <a:rPr lang="tr-TR" sz="1350" dirty="0">
                  <a:solidFill>
                    <a:srgbClr val="172B3A"/>
                  </a:solidFill>
                  <a:latin typeface="+mn-lt"/>
                  <a:ea typeface="+mn-ea"/>
                  <a:cs typeface="+mn-cs"/>
                </a:rPr>
                <a:t>bir sonrakine ileten işleyicilerden</a:t>
              </a:r>
              <a:br/>
              <a:r>
                <a:rPr lang="tr-TR" sz="1350" dirty="0">
                  <a:solidFill>
                    <a:srgbClr val="172B3A"/>
                  </a:solidFill>
                  <a:latin typeface="+mn-lt"/>
                  <a:ea typeface="+mn-ea"/>
                  <a:cs typeface="+mn-cs"/>
                </a:rPr>
                <a:t>geçer. Hata durumunda zincir, özel bir</a:t>
              </a:r>
              <a:br/>
              <a:r>
                <a:rPr lang="tr-TR" sz="1350" dirty="0">
                  <a:solidFill>
                    <a:srgbClr val="172B3A"/>
                  </a:solidFill>
                  <a:latin typeface="+mn-lt"/>
                  <a:ea typeface="+mn-ea"/>
                  <a:cs typeface="+mn-cs"/>
                </a:rPr>
                <a:t>"hata işleyicisi" düğümüne yönlenir.</a:t>
              </a:r>
              <a:br/>
              <a:r>
                <a:rPr lang="tr-TR" sz="1350" dirty="0">
                  <a:solidFill>
                    <a:srgbClr val="172B3A"/>
                  </a:solidFill>
                  <a:latin typeface="+mn-lt"/>
                  <a:ea typeface="+mn-ea"/>
                  <a:cs typeface="+mn-cs"/>
                </a:rPr>
                <a:t>Express'in dört parametreli (err, req,</a:t>
              </a:r>
              <a:br/>
              <a:r>
                <a:rPr lang="tr-TR" sz="1350" dirty="0">
                  <a:solidFill>
                    <a:srgbClr val="172B3A"/>
                  </a:solidFill>
                  <a:latin typeface="+mn-lt"/>
                  <a:ea typeface="+mn-ea"/>
                  <a:cs typeface="+mn-cs"/>
                </a:rPr>
                <a:t>res, next) imzası bu desenin izidir.</a:t>
              </a:r>
            </a:p>
          </p:txBody>
        </p:sp>
      </p:grpSp>
      <p:grpSp>
        <p:nvGrpSpPr>
          <p:cNvPr id="23" name="col-distinction"/>
          <p:cNvGrpSpPr/>
          <p:nvPr/>
        </p:nvGrpSpPr>
        <p:grpSpPr>
          <a:xfrm>
            <a:off x="6324600" y="2362200"/>
            <a:ext cx="5257800" cy="2857500"/>
            <a:chOff x="6324600" y="2362200"/>
            <a:chExt cx="5257800" cy="2857500"/>
          </a:xfrm>
        </p:grpSpPr>
        <p:sp>
          <p:nvSpPr>
            <p:cNvPr id="20" name="Rectangle 20"/>
            <p:cNvSpPr/>
            <p:nvPr/>
          </p:nvSpPr>
          <p:spPr>
            <a:xfrm>
              <a:off x="6324600" y="2362200"/>
              <a:ext cx="5257800" cy="2857500"/>
            </a:xfrm>
            <a:prstGeom prst="roundRect">
              <a:avLst>
                <a:gd name="adj" fmla="val 3333"/>
              </a:avLst>
            </a:prstGeom>
            <a:solidFill>
              <a:srgbClr val="FFFFFF"/>
            </a:solidFill>
            <a:ln w="14288">
              <a:solidFill>
                <a:srgbClr val="2E86AB"/>
              </a:solidFill>
            </a:ln>
          </p:spPr>
        </p:sp>
        <p:sp>
          <p:nvSpPr>
            <p:cNvPr id="21" name="TextBox 21"/>
            <p:cNvSpPr txBox="1"/>
            <p:nvPr/>
          </p:nvSpPr>
          <p:spPr>
            <a:xfrm>
              <a:off x="6620256" y="2567940"/>
              <a:ext cx="326699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AppError / istisna ayrımı</a:t>
              </a:r>
            </a:p>
          </p:txBody>
        </p:sp>
        <p:sp>
          <p:nvSpPr>
            <p:cNvPr id="22" name="TextBox 22"/>
            <p:cNvSpPr txBox="1"/>
            <p:nvPr/>
          </p:nvSpPr>
          <p:spPr>
            <a:xfrm>
              <a:off x="6622542" y="2997518"/>
              <a:ext cx="3262694" cy="17499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Beklenen (AppError) ile beklenmeyen</a:t>
              </a:r>
              <a:br/>
              <a:r>
                <a:rPr lang="tr-TR" sz="1350" dirty="0">
                  <a:solidFill>
                    <a:srgbClr val="172B3A"/>
                  </a:solidFill>
                  <a:latin typeface="+mn-lt"/>
                  <a:ea typeface="+mn-ea"/>
                  <a:cs typeface="+mn-cs"/>
                </a:rPr>
                <a:t>hataların ayrılması, "kontrollü hata"</a:t>
              </a:r>
              <a:br/>
              <a:r>
                <a:rPr lang="tr-TR" sz="1350" dirty="0">
                  <a:solidFill>
                    <a:srgbClr val="172B3A"/>
                  </a:solidFill>
                  <a:latin typeface="+mn-lt"/>
                  <a:ea typeface="+mn-ea"/>
                  <a:cs typeface="+mn-cs"/>
                </a:rPr>
                <a:t>ile "istisna" arasındaki klasik ayrıma</a:t>
              </a:r>
              <a:br/>
              <a:r>
                <a:rPr lang="tr-TR" sz="1350" dirty="0">
                  <a:solidFill>
                    <a:srgbClr val="172B3A"/>
                  </a:solidFill>
                  <a:latin typeface="+mn-lt"/>
                  <a:ea typeface="+mn-ea"/>
                  <a:cs typeface="+mn-cs"/>
                </a:rPr>
                <a:t>dayanır. Bu, hangi hatanın istemciye</a:t>
              </a:r>
              <a:br/>
              <a:r>
                <a:rPr lang="tr-TR" sz="1350" dirty="0">
                  <a:solidFill>
                    <a:srgbClr val="172B3A"/>
                  </a:solidFill>
                  <a:latin typeface="+mn-lt"/>
                  <a:ea typeface="+mn-ea"/>
                  <a:cs typeface="+mn-cs"/>
                </a:rPr>
                <a:t>güvenle gösterilebileceğine (kontrollü)</a:t>
              </a:r>
              <a:br/>
              <a:r>
                <a:rPr lang="tr-TR" sz="1350" dirty="0">
                  <a:solidFill>
                    <a:srgbClr val="172B3A"/>
                  </a:solidFill>
                  <a:latin typeface="+mn-lt"/>
                  <a:ea typeface="+mn-ea"/>
                  <a:cs typeface="+mn-cs"/>
                </a:rPr>
                <a:t>karar vermenin teorik temelidir —</a:t>
              </a:r>
              <a:br/>
              <a:r>
                <a:rPr lang="tr-TR" sz="1350" dirty="0">
                  <a:solidFill>
                    <a:srgbClr val="172B3A"/>
                  </a:solidFill>
                  <a:latin typeface="+mn-lt"/>
                  <a:ea typeface="+mn-ea"/>
                  <a:cs typeface="+mn-cs"/>
                </a:rPr>
                <a:t>bilgi ifşasını sınırlamanın gerekçesi.</a:t>
              </a:r>
            </a:p>
          </p:txBody>
        </p:sp>
      </p:grpSp>
      <p:grpSp>
        <p:nvGrpSpPr>
          <p:cNvPr id="27" name="deep-note"/>
          <p:cNvGrpSpPr/>
          <p:nvPr/>
        </p:nvGrpSpPr>
        <p:grpSpPr>
          <a:xfrm>
            <a:off x="609600" y="5257800"/>
            <a:ext cx="10972800" cy="876300"/>
            <a:chOff x="609600" y="5257800"/>
            <a:chExt cx="10972800" cy="876300"/>
          </a:xfrm>
        </p:grpSpPr>
        <p:sp>
          <p:nvSpPr>
            <p:cNvPr id="24" name="Rectangle 24"/>
            <p:cNvSpPr/>
            <p:nvPr/>
          </p:nvSpPr>
          <p:spPr>
            <a:xfrm>
              <a:off x="609600" y="5257800"/>
              <a:ext cx="10972800" cy="876300"/>
            </a:xfrm>
            <a:prstGeom prst="roundRect">
              <a:avLst>
                <a:gd name="adj" fmla="val 8696"/>
              </a:avLst>
            </a:prstGeom>
            <a:solidFill>
              <a:srgbClr val="12355B"/>
            </a:solidFill>
            <a:ln>
              <a:noFill/>
            </a:ln>
          </p:spPr>
        </p:sp>
        <p:sp>
          <p:nvSpPr>
            <p:cNvPr id="25" name="TextBox 25"/>
            <p:cNvSpPr txBox="1"/>
            <p:nvPr/>
          </p:nvSpPr>
          <p:spPr>
            <a:xfrm>
              <a:off x="906399" y="5373529"/>
              <a:ext cx="1788027"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Derinlemesine</a:t>
              </a:r>
            </a:p>
          </p:txBody>
        </p:sp>
        <p:sp>
          <p:nvSpPr>
            <p:cNvPr id="26" name="TextBox 26"/>
            <p:cNvSpPr txBox="1"/>
            <p:nvPr/>
          </p:nvSpPr>
          <p:spPr>
            <a:xfrm>
              <a:off x="907542" y="5645468"/>
              <a:ext cx="6520244" cy="473583"/>
            </a:xfrm>
            <a:prstGeom prst="rect">
              <a:avLst/>
            </a:prstGeom>
            <a:noFill/>
            <a:ln>
              <a:noFill/>
            </a:ln>
          </p:spPr>
          <p:txBody>
            <a:bodyPr wrap="none" lIns="0" tIns="0" rIns="0" bIns="0" anchor="t" anchorCtr="0">
              <a:spAutoFit/>
            </a:bodyPr>
            <a:lstStyle/>
            <a:p>
              <a:pPr algn="l">
                <a:lnSpc>
                  <a:spcPts val="1650"/>
                </a:lnSpc>
              </a:pPr>
              <a:r>
                <a:rPr lang="tr-TR" sz="1350" dirty="0">
                  <a:solidFill>
                    <a:srgbClr val="EAF4F6"/>
                  </a:solidFill>
                  <a:latin typeface="+mn-lt"/>
                  <a:ea typeface="+mn-ea"/>
                  <a:cs typeface="+mn-cs"/>
                </a:rPr>
                <a:t>Merkezi hata yönetimi, her route'un kendi hata biçimini icat etmesini önler ve</a:t>
              </a:r>
              <a:br/>
              <a:r>
                <a:rPr lang="tr-TR" sz="1350" dirty="0">
                  <a:solidFill>
                    <a:srgbClr val="EAF4F6"/>
                  </a:solidFill>
                  <a:latin typeface="+mn-lt"/>
                  <a:ea typeface="+mn-ea"/>
                  <a:cs typeface="+mn-cs"/>
                </a:rPr>
                <a:t>istemciye her zaman tutarlı bir yanıt sözleşmesi sunar.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08356" y="319421"/>
                <a:ext cx="297777" cy="255830"/>
                <a:chOff x="708356" y="319421"/>
                <a:chExt cx="297777" cy="255830"/>
              </a:xfrm>
            </p:grpSpPr>
            <p:sp>
              <p:nvSpPr>
                <p:cNvPr id="5" name="Freeform 5"/>
                <p:cNvSpPr/>
                <p:nvPr/>
              </p:nvSpPr>
              <p:spPr>
                <a:xfrm>
                  <a:off x="8572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083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572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63396" y="315278"/>
              <a:ext cx="7836048" cy="498729"/>
            </a:xfrm>
            <a:prstGeom prst="rect">
              <a:avLst/>
            </a:prstGeom>
            <a:noFill/>
            <a:ln>
              <a:noFill/>
            </a:ln>
          </p:spPr>
          <p:txBody>
            <a:bodyPr wrap="none" lIns="0" tIns="0" rIns="0" bIns="0" anchor="t" anchorCtr="0">
              <a:spAutoFit/>
            </a:bodyPr>
            <a:lstStyle/>
            <a:p>
              <a:pPr algn="l"/>
              <a:r>
                <a:rPr lang="tr-TR" sz="2550" b="1" dirty="0">
                  <a:solidFill>
                    <a:srgbClr val="F7FAFC"/>
                  </a:solidFill>
                  <a:latin typeface="+mj-lt"/>
                  <a:ea typeface="+mj-ea"/>
                  <a:cs typeface="+mj-cs"/>
                </a:rPr>
                <a:t>Kod 11.3 · AppError ile merkezi hata ayrımı</a:t>
              </a:r>
            </a:p>
          </p:txBody>
        </p:sp>
      </p:grpSp>
      <p:grpSp>
        <p:nvGrpSpPr>
          <p:cNvPr id="31" name="code-panel"/>
          <p:cNvGrpSpPr/>
          <p:nvPr/>
        </p:nvGrpSpPr>
        <p:grpSpPr>
          <a:xfrm>
            <a:off x="571500" y="1295400"/>
            <a:ext cx="6477000" cy="4121420"/>
            <a:chOff x="571500" y="1295400"/>
            <a:chExt cx="6477000" cy="4121420"/>
          </a:xfrm>
        </p:grpSpPr>
        <p:sp>
          <p:nvSpPr>
            <p:cNvPr id="12" name="Rectangle 12"/>
            <p:cNvSpPr/>
            <p:nvPr/>
          </p:nvSpPr>
          <p:spPr>
            <a:xfrm>
              <a:off x="571500" y="1295400"/>
              <a:ext cx="6477000" cy="3905250"/>
            </a:xfrm>
            <a:prstGeom prst="rect">
              <a:avLst/>
            </a:prstGeom>
            <a:solidFill>
              <a:srgbClr val="12355B"/>
            </a:solidFill>
            <a:ln>
              <a:noFill/>
            </a:ln>
          </p:spPr>
        </p:sp>
        <p:sp>
          <p:nvSpPr>
            <p:cNvPr id="13" name="TextBox 13"/>
            <p:cNvSpPr txBox="1"/>
            <p:nvPr/>
          </p:nvSpPr>
          <p:spPr>
            <a:xfrm>
              <a:off x="794194" y="1474708"/>
              <a:ext cx="260593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class AppError extends Error {</a:t>
              </a:r>
            </a:p>
          </p:txBody>
        </p:sp>
        <p:sp>
          <p:nvSpPr>
            <p:cNvPr id="14" name="TextBox 14"/>
            <p:cNvSpPr txBox="1"/>
            <p:nvPr/>
          </p:nvSpPr>
          <p:spPr>
            <a:xfrm>
              <a:off x="1032320" y="1684258"/>
              <a:ext cx="2330775"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constructor(public readonly</a:t>
              </a:r>
            </a:p>
          </p:txBody>
        </p:sp>
        <p:sp>
          <p:nvSpPr>
            <p:cNvPr id="15" name="TextBox 15"/>
            <p:cNvSpPr txBox="1"/>
            <p:nvPr/>
          </p:nvSpPr>
          <p:spPr>
            <a:xfrm>
              <a:off x="1270444" y="1893808"/>
              <a:ext cx="3196075"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durumKodu: number, message: string) {</a:t>
              </a:r>
            </a:p>
          </p:txBody>
        </p:sp>
        <p:sp>
          <p:nvSpPr>
            <p:cNvPr id="16" name="TextBox 16"/>
            <p:cNvSpPr txBox="1"/>
            <p:nvPr/>
          </p:nvSpPr>
          <p:spPr>
            <a:xfrm>
              <a:off x="1270444" y="2103358"/>
              <a:ext cx="1300124"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super(message);</a:t>
              </a:r>
            </a:p>
          </p:txBody>
        </p:sp>
        <p:sp>
          <p:nvSpPr>
            <p:cNvPr id="17" name="TextBox 17"/>
            <p:cNvSpPr txBox="1"/>
            <p:nvPr/>
          </p:nvSpPr>
          <p:spPr>
            <a:xfrm>
              <a:off x="1032320" y="231290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18" name="TextBox 18"/>
            <p:cNvSpPr txBox="1"/>
            <p:nvPr/>
          </p:nvSpPr>
          <p:spPr>
            <a:xfrm>
              <a:off x="794194" y="252245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19" name="TextBox 19"/>
            <p:cNvSpPr txBox="1"/>
            <p:nvPr/>
          </p:nvSpPr>
          <p:spPr>
            <a:xfrm>
              <a:off x="794194" y="2808208"/>
              <a:ext cx="371597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function merkeziHataIsleyici(hata: unknown)</a:t>
              </a:r>
            </a:p>
          </p:txBody>
        </p:sp>
        <p:sp>
          <p:nvSpPr>
            <p:cNvPr id="20" name="TextBox 20"/>
            <p:cNvSpPr txBox="1"/>
            <p:nvPr/>
          </p:nvSpPr>
          <p:spPr>
            <a:xfrm>
              <a:off x="1032320" y="3017758"/>
              <a:ext cx="122784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 HataYaniti {</a:t>
              </a:r>
            </a:p>
          </p:txBody>
        </p:sp>
        <p:sp>
          <p:nvSpPr>
            <p:cNvPr id="21" name="TextBox 21"/>
            <p:cNvSpPr txBox="1"/>
            <p:nvPr/>
          </p:nvSpPr>
          <p:spPr>
            <a:xfrm>
              <a:off x="1032320" y="3227308"/>
              <a:ext cx="2686884"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if (hata instanceof AppError) {</a:t>
              </a:r>
            </a:p>
          </p:txBody>
        </p:sp>
        <p:sp>
          <p:nvSpPr>
            <p:cNvPr id="22" name="TextBox 22"/>
            <p:cNvSpPr txBox="1"/>
            <p:nvPr/>
          </p:nvSpPr>
          <p:spPr>
            <a:xfrm>
              <a:off x="1270444" y="3436858"/>
              <a:ext cx="3030030"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return { durumKodu: hata.durumKodu,</a:t>
              </a:r>
            </a:p>
          </p:txBody>
        </p:sp>
        <p:sp>
          <p:nvSpPr>
            <p:cNvPr id="23" name="TextBox 23"/>
            <p:cNvSpPr txBox="1"/>
            <p:nvPr/>
          </p:nvSpPr>
          <p:spPr>
            <a:xfrm>
              <a:off x="1518094" y="3646408"/>
              <a:ext cx="1901337"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mesaj: hata.message };</a:t>
              </a:r>
            </a:p>
          </p:txBody>
        </p:sp>
        <p:sp>
          <p:nvSpPr>
            <p:cNvPr id="24" name="TextBox 24"/>
            <p:cNvSpPr txBox="1"/>
            <p:nvPr/>
          </p:nvSpPr>
          <p:spPr>
            <a:xfrm>
              <a:off x="1032320" y="385595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25" name="TextBox 25"/>
            <p:cNvSpPr txBox="1"/>
            <p:nvPr/>
          </p:nvSpPr>
          <p:spPr>
            <a:xfrm>
              <a:off x="1032320" y="4065508"/>
              <a:ext cx="3539631"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console.error("Beklenmeyen hata:", hata);</a:t>
              </a:r>
            </a:p>
          </p:txBody>
        </p:sp>
        <p:sp>
          <p:nvSpPr>
            <p:cNvPr id="26" name="TextBox 26"/>
            <p:cNvSpPr txBox="1"/>
            <p:nvPr/>
          </p:nvSpPr>
          <p:spPr>
            <a:xfrm>
              <a:off x="1032320" y="4275058"/>
              <a:ext cx="2681861"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return { durumKodu: 500, mesaj:</a:t>
              </a:r>
            </a:p>
          </p:txBody>
        </p:sp>
        <p:sp>
          <p:nvSpPr>
            <p:cNvPr id="27" name="TextBox 27"/>
            <p:cNvSpPr txBox="1"/>
            <p:nvPr/>
          </p:nvSpPr>
          <p:spPr>
            <a:xfrm>
              <a:off x="1270444" y="4484608"/>
              <a:ext cx="2680878"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"Sunucuda beklenmeyen hata." };</a:t>
              </a:r>
            </a:p>
          </p:txBody>
        </p:sp>
        <p:sp>
          <p:nvSpPr>
            <p:cNvPr id="28" name="TextBox 28"/>
            <p:cNvSpPr txBox="1"/>
            <p:nvPr/>
          </p:nvSpPr>
          <p:spPr>
            <a:xfrm>
              <a:off x="794194" y="469415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29" name="TextBox 29"/>
            <p:cNvSpPr txBox="1"/>
            <p:nvPr/>
          </p:nvSpPr>
          <p:spPr>
            <a:xfrm>
              <a:off x="794194" y="4979908"/>
              <a:ext cx="3377913" cy="227362"/>
            </a:xfrm>
            <a:prstGeom prst="rect">
              <a:avLst/>
            </a:prstGeom>
            <a:noFill/>
            <a:ln>
              <a:noFill/>
            </a:ln>
          </p:spPr>
          <p:txBody>
            <a:bodyPr wrap="none" lIns="0" tIns="0" rIns="0" bIns="0" anchor="t" anchorCtr="0">
              <a:spAutoFit/>
            </a:bodyPr>
            <a:lstStyle/>
            <a:p>
              <a:pPr algn="l"/>
              <a:r>
                <a:rPr lang="tr-TR" sz="1160" dirty="0">
                  <a:solidFill>
                    <a:srgbClr val="00A6A6"/>
                  </a:solidFill>
                  <a:latin typeface="Consolas"/>
                  <a:ea typeface="Consolas"/>
                  <a:cs typeface="Consolas"/>
                </a:rPr>
                <a:t>// { durumKodu: 400, mesaj: 'Kitap kodu</a:t>
              </a:r>
            </a:p>
          </p:txBody>
        </p:sp>
        <p:sp>
          <p:nvSpPr>
            <p:cNvPr id="30" name="TextBox 30"/>
            <p:cNvSpPr txBox="1"/>
            <p:nvPr/>
          </p:nvSpPr>
          <p:spPr>
            <a:xfrm>
              <a:off x="794194" y="5189458"/>
              <a:ext cx="3716590" cy="227362"/>
            </a:xfrm>
            <a:prstGeom prst="rect">
              <a:avLst/>
            </a:prstGeom>
            <a:noFill/>
            <a:ln>
              <a:noFill/>
            </a:ln>
          </p:spPr>
          <p:txBody>
            <a:bodyPr wrap="none" lIns="0" tIns="0" rIns="0" bIns="0" anchor="t" anchorCtr="0">
              <a:spAutoFit/>
            </a:bodyPr>
            <a:lstStyle/>
            <a:p>
              <a:pPr algn="l"/>
              <a:r>
                <a:rPr lang="tr-TR" sz="1160" dirty="0">
                  <a:solidFill>
                    <a:srgbClr val="00A6A6"/>
                  </a:solidFill>
                  <a:latin typeface="Consolas"/>
                  <a:ea typeface="Consolas"/>
                  <a:cs typeface="Consolas"/>
                </a:rPr>
                <a:t>// boş olamaz.' } / { durumKodu: 500, ... }</a:t>
              </a:r>
            </a:p>
          </p:txBody>
        </p:sp>
      </p:grpSp>
      <p:grpSp>
        <p:nvGrpSpPr>
          <p:cNvPr id="34" name="code-purpose"/>
          <p:cNvGrpSpPr/>
          <p:nvPr/>
        </p:nvGrpSpPr>
        <p:grpSpPr>
          <a:xfrm>
            <a:off x="7267956" y="1482090"/>
            <a:ext cx="3307588" cy="1119283"/>
            <a:chOff x="7267956" y="1482090"/>
            <a:chExt cx="3307588" cy="1119283"/>
          </a:xfrm>
        </p:grpSpPr>
        <p:sp>
          <p:nvSpPr>
            <p:cNvPr id="32" name="TextBox 32"/>
            <p:cNvSpPr txBox="1"/>
            <p:nvPr/>
          </p:nvSpPr>
          <p:spPr>
            <a:xfrm>
              <a:off x="7267956" y="1482090"/>
              <a:ext cx="155352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Kodun amacı</a:t>
              </a:r>
            </a:p>
          </p:txBody>
        </p:sp>
        <p:sp>
          <p:nvSpPr>
            <p:cNvPr id="33" name="TextBox 33"/>
            <p:cNvSpPr txBox="1"/>
            <p:nvPr/>
          </p:nvSpPr>
          <p:spPr>
            <a:xfrm>
              <a:off x="7269861" y="1827371"/>
              <a:ext cx="3305683" cy="77400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Beklenen (AppError) ve beklenmeyen</a:t>
              </a:r>
              <a:br/>
              <a:r>
                <a:rPr lang="tr-TR" sz="1420" dirty="0">
                  <a:solidFill>
                    <a:srgbClr val="172B3A"/>
                  </a:solidFill>
                  <a:latin typeface="+mn-lt"/>
                  <a:ea typeface="+mn-ea"/>
                  <a:cs typeface="+mn-cs"/>
                </a:rPr>
                <a:t>hataların farklı ele alınmasını, iç</a:t>
              </a:r>
              <a:br/>
              <a:r>
                <a:rPr lang="tr-TR" sz="1420" dirty="0">
                  <a:solidFill>
                    <a:srgbClr val="172B3A"/>
                  </a:solidFill>
                  <a:latin typeface="+mn-lt"/>
                  <a:ea typeface="+mn-ea"/>
                  <a:cs typeface="+mn-cs"/>
                </a:rPr>
                <a:t>ayrıntının sızmamasını göstermek.</a:t>
              </a:r>
            </a:p>
          </p:txBody>
        </p:sp>
      </p:grpSp>
      <p:grpSp>
        <p:nvGrpSpPr>
          <p:cNvPr id="38" name="code-critical"/>
          <p:cNvGrpSpPr/>
          <p:nvPr/>
        </p:nvGrpSpPr>
        <p:grpSpPr>
          <a:xfrm>
            <a:off x="7267956" y="2777490"/>
            <a:ext cx="3048000" cy="1328166"/>
            <a:chOff x="7267956" y="2777490"/>
            <a:chExt cx="3048000" cy="1328166"/>
          </a:xfrm>
        </p:grpSpPr>
        <p:sp>
          <p:nvSpPr>
            <p:cNvPr id="35" name="TextBox 35"/>
            <p:cNvSpPr txBox="1"/>
            <p:nvPr/>
          </p:nvSpPr>
          <p:spPr>
            <a:xfrm>
              <a:off x="7267956" y="2777490"/>
              <a:ext cx="18703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Kritik satırlar</a:t>
              </a:r>
            </a:p>
          </p:txBody>
        </p:sp>
        <p:sp>
          <p:nvSpPr>
            <p:cNvPr id="36" name="TextBox 36"/>
            <p:cNvSpPr txBox="1"/>
            <p:nvPr/>
          </p:nvSpPr>
          <p:spPr>
            <a:xfrm>
              <a:off x="7271004" y="3128010"/>
              <a:ext cx="30449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 AppError, HTTP durum koduyla eşleşen</a:t>
              </a:r>
              <a:br/>
              <a:r>
                <a:rPr lang="tr-TR" sz="1200" dirty="0">
                  <a:solidFill>
                    <a:srgbClr val="172B3A"/>
                  </a:solidFill>
                  <a:latin typeface="+mn-lt"/>
                  <a:ea typeface="+mn-ea"/>
                  <a:cs typeface="+mn-cs"/>
                </a:rPr>
                <a:t>bilinçli hatayı temsil eder.</a:t>
              </a:r>
            </a:p>
          </p:txBody>
        </p:sp>
        <p:sp>
          <p:nvSpPr>
            <p:cNvPr id="37" name="TextBox 37"/>
            <p:cNvSpPr txBox="1"/>
            <p:nvPr/>
          </p:nvSpPr>
          <p:spPr>
            <a:xfrm>
              <a:off x="7271004" y="3661410"/>
              <a:ext cx="27630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 AppError değilse ayrıntı yalnızca</a:t>
              </a:r>
              <a:br/>
              <a:r>
                <a:rPr lang="tr-TR" sz="1200" dirty="0">
                  <a:solidFill>
                    <a:srgbClr val="172B3A"/>
                  </a:solidFill>
                  <a:latin typeface="+mn-lt"/>
                  <a:ea typeface="+mn-ea"/>
                  <a:cs typeface="+mn-cs"/>
                </a:rPr>
                <a:t>console.error ile sunucuda loglanır.</a:t>
              </a:r>
            </a:p>
          </p:txBody>
        </p:sp>
      </p:grpSp>
      <p:grpSp>
        <p:nvGrpSpPr>
          <p:cNvPr id="42" name="code-caution"/>
          <p:cNvGrpSpPr/>
          <p:nvPr/>
        </p:nvGrpSpPr>
        <p:grpSpPr>
          <a:xfrm>
            <a:off x="7277100" y="4552950"/>
            <a:ext cx="3595116" cy="1000506"/>
            <a:chOff x="7277100" y="4552950"/>
            <a:chExt cx="3595116" cy="1000506"/>
          </a:xfrm>
        </p:grpSpPr>
        <p:sp>
          <p:nvSpPr>
            <p:cNvPr id="39" name="Rectangle 39"/>
            <p:cNvSpPr/>
            <p:nvPr/>
          </p:nvSpPr>
          <p:spPr>
            <a:xfrm>
              <a:off x="7277100" y="4552950"/>
              <a:ext cx="57150" cy="819150"/>
            </a:xfrm>
            <a:prstGeom prst="rect">
              <a:avLst/>
            </a:prstGeom>
            <a:solidFill>
              <a:srgbClr val="2E86AB"/>
            </a:solidFill>
            <a:ln>
              <a:noFill/>
            </a:ln>
          </p:spPr>
        </p:sp>
        <p:sp>
          <p:nvSpPr>
            <p:cNvPr id="40" name="TextBox 40"/>
            <p:cNvSpPr txBox="1"/>
            <p:nvPr/>
          </p:nvSpPr>
          <p:spPr>
            <a:xfrm>
              <a:off x="7499604" y="465201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 noktası</a:t>
              </a:r>
            </a:p>
          </p:txBody>
        </p:sp>
        <p:sp>
          <p:nvSpPr>
            <p:cNvPr id="41" name="TextBox 41"/>
            <p:cNvSpPr txBox="1"/>
            <p:nvPr/>
          </p:nvSpPr>
          <p:spPr>
            <a:xfrm>
              <a:off x="7499604" y="4899660"/>
              <a:ext cx="33726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kitapBul("SILINMIS") bilinçli olarak bir</a:t>
              </a:r>
              <a:br/>
              <a:r>
                <a:rPr lang="tr-TR" sz="1200" dirty="0">
                  <a:solidFill>
                    <a:srgbClr val="52616B"/>
                  </a:solidFill>
                  <a:latin typeface="+mn-lt"/>
                  <a:ea typeface="+mn-ea"/>
                  <a:cs typeface="+mn-cs"/>
                </a:rPr>
                <a:t>TypeError fırlatır; gerçek mesajı istemciye</a:t>
              </a:r>
              <a:br/>
              <a:r>
                <a:rPr lang="tr-TR" sz="1200" dirty="0">
                  <a:solidFill>
                    <a:srgbClr val="52616B"/>
                  </a:solidFill>
                  <a:latin typeface="+mn-lt"/>
                  <a:ea typeface="+mn-ea"/>
                  <a:cs typeface="+mn-cs"/>
                </a:rPr>
                <a:t>asla gösterilmemelidir.</a:t>
              </a:r>
            </a:p>
          </p:txBody>
        </p:sp>
      </p:grpSp>
      <p:grpSp>
        <p:nvGrpSpPr>
          <p:cNvPr id="44" name="code-takeaway"/>
          <p:cNvGrpSpPr/>
          <p:nvPr/>
        </p:nvGrpSpPr>
        <p:grpSpPr>
          <a:xfrm>
            <a:off x="564261" y="5694521"/>
            <a:ext cx="8436356" cy="526352"/>
            <a:chOff x="564261" y="5694521"/>
            <a:chExt cx="8436356" cy="526352"/>
          </a:xfrm>
        </p:grpSpPr>
        <p:sp>
          <p:nvSpPr>
            <p:cNvPr id="43" name="TextBox 43"/>
            <p:cNvSpPr txBox="1"/>
            <p:nvPr/>
          </p:nvSpPr>
          <p:spPr>
            <a:xfrm>
              <a:off x="564261" y="5694521"/>
              <a:ext cx="8436356" cy="52635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Bu ayrım hem güvenlik (ayrıntı sızdırmama) hem de hata ayıklama (sunucu tarafında tam bilgi</a:t>
              </a:r>
              <a:br/>
              <a:r>
                <a:rPr lang="tr-TR" sz="1420" dirty="0">
                  <a:solidFill>
                    <a:srgbClr val="172B3A"/>
                  </a:solidFill>
                  <a:latin typeface="+mn-lt"/>
                  <a:ea typeface="+mn-ea"/>
                  <a:cs typeface="+mn-cs"/>
                </a:rPr>
                <a:t>tutma) açısından önemlidir.</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635242" cy="668845"/>
            <a:chOff x="609600" y="171450"/>
            <a:chExt cx="963524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894487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Hata yönetimi yaklaşımları ve yaygın hatalar</a:t>
              </a:r>
            </a:p>
          </p:txBody>
        </p:sp>
      </p:grpSp>
      <p:grpSp>
        <p:nvGrpSpPr>
          <p:cNvPr id="17" name="alt-header"/>
          <p:cNvGrpSpPr/>
          <p:nvPr/>
        </p:nvGrpSpPr>
        <p:grpSpPr>
          <a:xfrm>
            <a:off x="609600" y="1257300"/>
            <a:ext cx="10972800" cy="342900"/>
            <a:chOff x="609600" y="1257300"/>
            <a:chExt cx="10972800" cy="342900"/>
          </a:xfrm>
        </p:grpSpPr>
        <p:sp>
          <p:nvSpPr>
            <p:cNvPr id="12" name="Rectangle 12"/>
            <p:cNvSpPr/>
            <p:nvPr/>
          </p:nvSpPr>
          <p:spPr>
            <a:xfrm>
              <a:off x="609600" y="1257300"/>
              <a:ext cx="10972800" cy="342900"/>
            </a:xfrm>
            <a:prstGeom prst="rect">
              <a:avLst/>
            </a:prstGeom>
            <a:solidFill>
              <a:srgbClr val="12355B"/>
            </a:solidFill>
            <a:ln>
              <a:noFill/>
            </a:ln>
          </p:spPr>
        </p:sp>
        <p:sp>
          <p:nvSpPr>
            <p:cNvPr id="13" name="TextBox 13"/>
            <p:cNvSpPr txBox="1"/>
            <p:nvPr/>
          </p:nvSpPr>
          <p:spPr>
            <a:xfrm>
              <a:off x="756666" y="1363028"/>
              <a:ext cx="767509"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YAKLAŞIM</a:t>
              </a:r>
            </a:p>
          </p:txBody>
        </p:sp>
        <p:sp>
          <p:nvSpPr>
            <p:cNvPr id="14" name="TextBox 14"/>
            <p:cNvSpPr txBox="1"/>
            <p:nvPr/>
          </p:nvSpPr>
          <p:spPr>
            <a:xfrm>
              <a:off x="2852166" y="1363028"/>
              <a:ext cx="736145"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AVANTAJI</a:t>
              </a:r>
            </a:p>
          </p:txBody>
        </p:sp>
        <p:sp>
          <p:nvSpPr>
            <p:cNvPr id="15" name="TextBox 15"/>
            <p:cNvSpPr txBox="1"/>
            <p:nvPr/>
          </p:nvSpPr>
          <p:spPr>
            <a:xfrm>
              <a:off x="5862066" y="1363028"/>
              <a:ext cx="1026902"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DEZAVANTAJI</a:t>
              </a:r>
            </a:p>
          </p:txBody>
        </p:sp>
        <p:sp>
          <p:nvSpPr>
            <p:cNvPr id="16" name="TextBox 16"/>
            <p:cNvSpPr txBox="1"/>
            <p:nvPr/>
          </p:nvSpPr>
          <p:spPr>
            <a:xfrm>
              <a:off x="8871966" y="1363028"/>
              <a:ext cx="130981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UYGUN KULLANIM</a:t>
              </a:r>
            </a:p>
          </p:txBody>
        </p:sp>
      </p:grpSp>
      <p:grpSp>
        <p:nvGrpSpPr>
          <p:cNvPr id="23" name="row-appError"/>
          <p:cNvGrpSpPr/>
          <p:nvPr/>
        </p:nvGrpSpPr>
        <p:grpSpPr>
          <a:xfrm>
            <a:off x="609600" y="1699260"/>
            <a:ext cx="10972800" cy="539115"/>
            <a:chOff x="609600" y="1699260"/>
            <a:chExt cx="10972800" cy="539115"/>
          </a:xfrm>
        </p:grpSpPr>
        <p:sp>
          <p:nvSpPr>
            <p:cNvPr id="18" name="TextBox 18"/>
            <p:cNvSpPr txBox="1"/>
            <p:nvPr/>
          </p:nvSpPr>
          <p:spPr>
            <a:xfrm>
              <a:off x="755142" y="1721168"/>
              <a:ext cx="985838" cy="454533"/>
            </a:xfrm>
            <a:prstGeom prst="rect">
              <a:avLst/>
            </a:prstGeom>
            <a:noFill/>
            <a:ln>
              <a:noFill/>
            </a:ln>
          </p:spPr>
          <p:txBody>
            <a:bodyPr wrap="none" lIns="0" tIns="0" rIns="0" bIns="0" anchor="t" anchorCtr="0">
              <a:spAutoFit/>
            </a:bodyPr>
            <a:lstStyle/>
            <a:p>
              <a:pPr algn="l">
                <a:lnSpc>
                  <a:spcPts val="1500"/>
                </a:lnSpc>
              </a:pPr>
              <a:r>
                <a:rPr lang="tr-TR" sz="1350" b="1" dirty="0">
                  <a:solidFill>
                    <a:srgbClr val="12355B"/>
                  </a:solidFill>
                  <a:latin typeface="+mn-lt"/>
                  <a:ea typeface="+mn-ea"/>
                  <a:cs typeface="+mn-cs"/>
                </a:rPr>
                <a:t>AppError +</a:t>
              </a:r>
              <a:br/>
              <a:r>
                <a:rPr lang="tr-TR" sz="1350" b="1" dirty="0">
                  <a:solidFill>
                    <a:srgbClr val="12355B"/>
                  </a:solidFill>
                  <a:latin typeface="+mn-lt"/>
                  <a:ea typeface="+mn-ea"/>
                  <a:cs typeface="+mn-cs"/>
                </a:rPr>
                <a:t>middleware</a:t>
              </a:r>
            </a:p>
          </p:txBody>
        </p:sp>
        <p:sp>
          <p:nvSpPr>
            <p:cNvPr id="19" name="TextBox 19"/>
            <p:cNvSpPr txBox="1"/>
            <p:nvPr/>
          </p:nvSpPr>
          <p:spPr>
            <a:xfrm>
              <a:off x="2851404" y="1737360"/>
              <a:ext cx="16581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Tutarlı, tek noktadan</a:t>
              </a:r>
              <a:br/>
              <a:r>
                <a:rPr lang="tr-TR" sz="1200" dirty="0">
                  <a:solidFill>
                    <a:srgbClr val="172B3A"/>
                  </a:solidFill>
                  <a:latin typeface="+mn-lt"/>
                  <a:ea typeface="+mn-ea"/>
                  <a:cs typeface="+mn-cs"/>
                </a:rPr>
                <a:t>yönetilir</a:t>
              </a:r>
            </a:p>
          </p:txBody>
        </p:sp>
        <p:sp>
          <p:nvSpPr>
            <p:cNvPr id="20" name="TextBox 20"/>
            <p:cNvSpPr txBox="1"/>
            <p:nvPr/>
          </p:nvSpPr>
          <p:spPr>
            <a:xfrm>
              <a:off x="5861304" y="1699260"/>
              <a:ext cx="22905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Her beklenen hatanın AppError</a:t>
              </a:r>
              <a:br/>
              <a:r>
                <a:rPr lang="tr-TR" sz="1200" dirty="0">
                  <a:solidFill>
                    <a:srgbClr val="172B3A"/>
                  </a:solidFill>
                  <a:latin typeface="+mn-lt"/>
                  <a:ea typeface="+mn-ea"/>
                  <a:cs typeface="+mn-cs"/>
                </a:rPr>
                <a:t>olarak fırlatılması gerekir</a:t>
              </a:r>
            </a:p>
          </p:txBody>
        </p:sp>
        <p:sp>
          <p:nvSpPr>
            <p:cNvPr id="21" name="TextBox 21"/>
            <p:cNvSpPr txBox="1"/>
            <p:nvPr/>
          </p:nvSpPr>
          <p:spPr>
            <a:xfrm>
              <a:off x="8871204" y="1794510"/>
              <a:ext cx="164921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Çoğu web uygulaması</a:t>
              </a:r>
            </a:p>
          </p:txBody>
        </p:sp>
        <p:sp>
          <p:nvSpPr>
            <p:cNvPr id="22" name="Line 22"/>
            <p:cNvSpPr/>
            <p:nvPr/>
          </p:nvSpPr>
          <p:spPr>
            <a:xfrm>
              <a:off x="609600" y="22288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0" name="row-trycatch"/>
          <p:cNvGrpSpPr/>
          <p:nvPr/>
        </p:nvGrpSpPr>
        <p:grpSpPr>
          <a:xfrm>
            <a:off x="609600" y="2228850"/>
            <a:ext cx="10972800" cy="638175"/>
            <a:chOff x="609600" y="2228850"/>
            <a:chExt cx="10972800" cy="638175"/>
          </a:xfrm>
        </p:grpSpPr>
        <p:sp>
          <p:nvSpPr>
            <p:cNvPr id="24" name="Rectangle 24"/>
            <p:cNvSpPr/>
            <p:nvPr/>
          </p:nvSpPr>
          <p:spPr>
            <a:xfrm>
              <a:off x="609600" y="2228850"/>
              <a:ext cx="10972800" cy="628650"/>
            </a:xfrm>
            <a:prstGeom prst="rect">
              <a:avLst/>
            </a:prstGeom>
            <a:solidFill>
              <a:srgbClr val="EAF4F6"/>
            </a:solidFill>
            <a:ln>
              <a:noFill/>
            </a:ln>
          </p:spPr>
        </p:sp>
        <p:sp>
          <p:nvSpPr>
            <p:cNvPr id="25" name="TextBox 25"/>
            <p:cNvSpPr txBox="1"/>
            <p:nvPr/>
          </p:nvSpPr>
          <p:spPr>
            <a:xfrm>
              <a:off x="755142" y="2406968"/>
              <a:ext cx="1012841" cy="454533"/>
            </a:xfrm>
            <a:prstGeom prst="rect">
              <a:avLst/>
            </a:prstGeom>
            <a:noFill/>
            <a:ln>
              <a:noFill/>
            </a:ln>
          </p:spPr>
          <p:txBody>
            <a:bodyPr wrap="none" lIns="0" tIns="0" rIns="0" bIns="0" anchor="t" anchorCtr="0">
              <a:spAutoFit/>
            </a:bodyPr>
            <a:lstStyle/>
            <a:p>
              <a:pPr algn="l">
                <a:lnSpc>
                  <a:spcPts val="1500"/>
                </a:lnSpc>
              </a:pPr>
              <a:r>
                <a:rPr lang="tr-TR" sz="1350" b="1" dirty="0">
                  <a:solidFill>
                    <a:srgbClr val="12355B"/>
                  </a:solidFill>
                  <a:latin typeface="+mn-lt"/>
                  <a:ea typeface="+mn-ea"/>
                  <a:cs typeface="+mn-cs"/>
                </a:rPr>
                <a:t>Route bazlı</a:t>
              </a:r>
              <a:br/>
              <a:r>
                <a:rPr lang="tr-TR" sz="1350" b="1" dirty="0">
                  <a:solidFill>
                    <a:srgbClr val="12355B"/>
                  </a:solidFill>
                  <a:latin typeface="+mn-lt"/>
                  <a:ea typeface="+mn-ea"/>
                  <a:cs typeface="+mn-cs"/>
                </a:rPr>
                <a:t>try/catch</a:t>
              </a:r>
            </a:p>
          </p:txBody>
        </p:sp>
        <p:sp>
          <p:nvSpPr>
            <p:cNvPr id="26" name="TextBox 26"/>
            <p:cNvSpPr txBox="1"/>
            <p:nvPr/>
          </p:nvSpPr>
          <p:spPr>
            <a:xfrm>
              <a:off x="2851404" y="2423160"/>
              <a:ext cx="109152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Basit görünür</a:t>
              </a:r>
            </a:p>
          </p:txBody>
        </p:sp>
        <p:sp>
          <p:nvSpPr>
            <p:cNvPr id="27" name="TextBox 27"/>
            <p:cNvSpPr txBox="1"/>
            <p:nvPr/>
          </p:nvSpPr>
          <p:spPr>
            <a:xfrm>
              <a:off x="5861304" y="2366010"/>
              <a:ext cx="21610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Kod tekrarı, tutarsız yanıt</a:t>
              </a:r>
              <a:br/>
              <a:r>
                <a:rPr lang="tr-TR" sz="1200" dirty="0">
                  <a:solidFill>
                    <a:srgbClr val="172B3A"/>
                  </a:solidFill>
                  <a:latin typeface="+mn-lt"/>
                  <a:ea typeface="+mn-ea"/>
                  <a:cs typeface="+mn-cs"/>
                </a:rPr>
                <a:t>biçimi riski</a:t>
              </a:r>
            </a:p>
          </p:txBody>
        </p:sp>
        <p:sp>
          <p:nvSpPr>
            <p:cNvPr id="28" name="TextBox 28"/>
            <p:cNvSpPr txBox="1"/>
            <p:nvPr/>
          </p:nvSpPr>
          <p:spPr>
            <a:xfrm>
              <a:off x="8871204" y="2366010"/>
              <a:ext cx="1564386"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Küçük ölçek dışında</a:t>
              </a:r>
              <a:br/>
              <a:r>
                <a:rPr lang="tr-TR" sz="1200" b="1" dirty="0">
                  <a:solidFill>
                    <a:srgbClr val="12355B"/>
                  </a:solidFill>
                  <a:latin typeface="+mn-lt"/>
                  <a:ea typeface="+mn-ea"/>
                  <a:cs typeface="+mn-cs"/>
                </a:rPr>
                <a:t>önerilmez</a:t>
              </a:r>
            </a:p>
          </p:txBody>
        </p:sp>
        <p:sp>
          <p:nvSpPr>
            <p:cNvPr id="29" name="Line 29"/>
            <p:cNvSpPr/>
            <p:nvPr/>
          </p:nvSpPr>
          <p:spPr>
            <a:xfrm>
              <a:off x="609600" y="2857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5" name="row-result"/>
          <p:cNvGrpSpPr/>
          <p:nvPr/>
        </p:nvGrpSpPr>
        <p:grpSpPr>
          <a:xfrm>
            <a:off x="755142" y="2937510"/>
            <a:ext cx="9964674" cy="425196"/>
            <a:chOff x="755142" y="2937510"/>
            <a:chExt cx="9964674" cy="425196"/>
          </a:xfrm>
        </p:grpSpPr>
        <p:sp>
          <p:nvSpPr>
            <p:cNvPr id="31" name="TextBox 31"/>
            <p:cNvSpPr txBox="1"/>
            <p:nvPr/>
          </p:nvSpPr>
          <p:spPr>
            <a:xfrm>
              <a:off x="755142" y="2978468"/>
              <a:ext cx="141024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Result / Either</a:t>
              </a:r>
            </a:p>
          </p:txBody>
        </p:sp>
        <p:sp>
          <p:nvSpPr>
            <p:cNvPr id="32" name="TextBox 32"/>
            <p:cNvSpPr txBox="1"/>
            <p:nvPr/>
          </p:nvSpPr>
          <p:spPr>
            <a:xfrm>
              <a:off x="2851404" y="2937510"/>
              <a:ext cx="20772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Hata akışını tip sisteminde</a:t>
              </a:r>
              <a:br/>
              <a:r>
                <a:rPr lang="tr-TR" sz="1200" dirty="0">
                  <a:solidFill>
                    <a:srgbClr val="172B3A"/>
                  </a:solidFill>
                  <a:latin typeface="+mn-lt"/>
                  <a:ea typeface="+mn-ea"/>
                  <a:cs typeface="+mn-cs"/>
                </a:rPr>
                <a:t>görünür kılar</a:t>
              </a:r>
            </a:p>
          </p:txBody>
        </p:sp>
        <p:sp>
          <p:nvSpPr>
            <p:cNvPr id="33" name="TextBox 33"/>
            <p:cNvSpPr txBox="1"/>
            <p:nvPr/>
          </p:nvSpPr>
          <p:spPr>
            <a:xfrm>
              <a:off x="5861304" y="2937510"/>
              <a:ext cx="16276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Ekip alışkanlığı ve ek</a:t>
              </a:r>
              <a:br/>
              <a:r>
                <a:rPr lang="tr-TR" sz="1200" dirty="0">
                  <a:solidFill>
                    <a:srgbClr val="172B3A"/>
                  </a:solidFill>
                  <a:latin typeface="+mn-lt"/>
                  <a:ea typeface="+mn-ea"/>
                  <a:cs typeface="+mn-cs"/>
                </a:rPr>
                <a:t>soyutlama gerektirir</a:t>
              </a:r>
            </a:p>
          </p:txBody>
        </p:sp>
        <p:sp>
          <p:nvSpPr>
            <p:cNvPr id="34" name="TextBox 34"/>
            <p:cNvSpPr txBox="1"/>
            <p:nvPr/>
          </p:nvSpPr>
          <p:spPr>
            <a:xfrm>
              <a:off x="8871204" y="2937510"/>
              <a:ext cx="18486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Fonksiyonel programlama</a:t>
              </a:r>
              <a:br/>
              <a:r>
                <a:rPr lang="tr-TR" sz="1200" dirty="0">
                  <a:solidFill>
                    <a:srgbClr val="172B3A"/>
                  </a:solidFill>
                  <a:latin typeface="+mn-lt"/>
                  <a:ea typeface="+mn-ea"/>
                  <a:cs typeface="+mn-cs"/>
                </a:rPr>
                <a:t>ağırlıklı ekipler</a:t>
              </a:r>
            </a:p>
          </p:txBody>
        </p:sp>
      </p:grpSp>
      <p:grpSp>
        <p:nvGrpSpPr>
          <p:cNvPr id="41" name="common-mistake"/>
          <p:cNvGrpSpPr/>
          <p:nvPr/>
        </p:nvGrpSpPr>
        <p:grpSpPr>
          <a:xfrm>
            <a:off x="609600" y="3733800"/>
            <a:ext cx="8232648" cy="2171700"/>
            <a:chOff x="609600" y="3733800"/>
            <a:chExt cx="8232648" cy="2171700"/>
          </a:xfrm>
        </p:grpSpPr>
        <p:sp>
          <p:nvSpPr>
            <p:cNvPr id="36" name="Rectangle 36"/>
            <p:cNvSpPr/>
            <p:nvPr/>
          </p:nvSpPr>
          <p:spPr>
            <a:xfrm>
              <a:off x="609600" y="3733800"/>
              <a:ext cx="57150" cy="2171700"/>
            </a:xfrm>
            <a:prstGeom prst="rect">
              <a:avLst/>
            </a:prstGeom>
            <a:solidFill>
              <a:srgbClr val="2E86AB"/>
            </a:solidFill>
            <a:ln>
              <a:noFill/>
            </a:ln>
          </p:spPr>
        </p:sp>
        <p:sp>
          <p:nvSpPr>
            <p:cNvPr id="37" name="TextBox 37"/>
            <p:cNvSpPr txBox="1"/>
            <p:nvPr/>
          </p:nvSpPr>
          <p:spPr>
            <a:xfrm>
              <a:off x="905256" y="3844290"/>
              <a:ext cx="18581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Yaygın hatalar</a:t>
              </a:r>
            </a:p>
          </p:txBody>
        </p:sp>
        <p:sp>
          <p:nvSpPr>
            <p:cNvPr id="38" name="TextBox 38"/>
            <p:cNvSpPr txBox="1"/>
            <p:nvPr/>
          </p:nvSpPr>
          <p:spPr>
            <a:xfrm>
              <a:off x="908304" y="4232910"/>
              <a:ext cx="69575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return { durumKodu: 500, mesaj: (hata as Error).message }; // iç ayrıntı sızar</a:t>
              </a:r>
            </a:p>
          </p:txBody>
        </p:sp>
        <p:sp>
          <p:nvSpPr>
            <p:cNvPr id="39" name="TextBox 39"/>
            <p:cNvSpPr txBox="1"/>
            <p:nvPr/>
          </p:nvSpPr>
          <p:spPr>
            <a:xfrm>
              <a:off x="907542" y="4559618"/>
              <a:ext cx="7231761"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52616B"/>
                  </a:solidFill>
                  <a:latin typeface="+mn-lt"/>
                  <a:ea typeface="+mn-ea"/>
                  <a:cs typeface="+mn-cs"/>
                </a:rPr>
                <a:t>1. Beklenmeyen hatanın mesajını doğrudan istemciye döndürmek — saldırgana sistemin</a:t>
              </a:r>
              <a:br/>
              <a:r>
                <a:rPr lang="tr-TR" sz="1350" dirty="0">
                  <a:solidFill>
                    <a:srgbClr val="52616B"/>
                  </a:solidFill>
                  <a:latin typeface="+mn-lt"/>
                  <a:ea typeface="+mn-ea"/>
                  <a:cs typeface="+mn-cs"/>
                </a:rPr>
                <a:t>iç yapısı hakkında bilgi verir.</a:t>
              </a:r>
            </a:p>
          </p:txBody>
        </p:sp>
        <p:sp>
          <p:nvSpPr>
            <p:cNvPr id="40" name="TextBox 40"/>
            <p:cNvSpPr txBox="1"/>
            <p:nvPr/>
          </p:nvSpPr>
          <p:spPr>
            <a:xfrm>
              <a:off x="907542" y="5112068"/>
              <a:ext cx="7934706"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52616B"/>
                  </a:solidFill>
                  <a:latin typeface="+mn-lt"/>
                  <a:ea typeface="+mn-ea"/>
                  <a:cs typeface="+mn-cs"/>
                </a:rPr>
                <a:t>2. Hata middleware'ini route tanımlarından önce eklemek — dört parametreli (err, req, res,</a:t>
              </a:r>
              <a:br/>
              <a:r>
                <a:rPr lang="tr-TR" sz="1350" dirty="0">
                  <a:solidFill>
                    <a:srgbClr val="52616B"/>
                  </a:solidFill>
                  <a:latin typeface="+mn-lt"/>
                  <a:ea typeface="+mn-ea"/>
                  <a:cs typeface="+mn-cs"/>
                </a:rPr>
                <a:t>next) middleware, tüm route'lardan sonra tanımlanmalıdır, aksi hâlde hataları yakalayamaz.</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366340" cy="668845"/>
            <a:chOff x="609600" y="171450"/>
            <a:chExt cx="836634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767596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CORS (Cross-Origin Resource Sharing)</a:t>
              </a:r>
            </a:p>
          </p:txBody>
        </p:sp>
      </p:grpSp>
      <p:grpSp>
        <p:nvGrpSpPr>
          <p:cNvPr id="15" name="definition-box"/>
          <p:cNvGrpSpPr/>
          <p:nvPr/>
        </p:nvGrpSpPr>
        <p:grpSpPr>
          <a:xfrm>
            <a:off x="609600" y="1219200"/>
            <a:ext cx="10972800" cy="937451"/>
            <a:chOff x="609600" y="1219200"/>
            <a:chExt cx="10972800" cy="937451"/>
          </a:xfrm>
        </p:grpSpPr>
        <p:sp>
          <p:nvSpPr>
            <p:cNvPr id="12" name="Rectangle 12"/>
            <p:cNvSpPr/>
            <p:nvPr/>
          </p:nvSpPr>
          <p:spPr>
            <a:xfrm>
              <a:off x="609600" y="1219200"/>
              <a:ext cx="10972800" cy="914400"/>
            </a:xfrm>
            <a:prstGeom prst="roundRect">
              <a:avLst>
                <a:gd name="adj" fmla="val 8333"/>
              </a:avLst>
            </a:prstGeom>
            <a:solidFill>
              <a:srgbClr val="EAF4F6"/>
            </a:solidFill>
            <a:ln>
              <a:noFill/>
            </a:ln>
          </p:spPr>
        </p:sp>
        <p:sp>
          <p:nvSpPr>
            <p:cNvPr id="13" name="TextBox 13"/>
            <p:cNvSpPr txBox="1"/>
            <p:nvPr/>
          </p:nvSpPr>
          <p:spPr>
            <a:xfrm>
              <a:off x="906399" y="13539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4" name="TextBox 14"/>
            <p:cNvSpPr txBox="1"/>
            <p:nvPr/>
          </p:nvSpPr>
          <p:spPr>
            <a:xfrm>
              <a:off x="907542" y="1664018"/>
              <a:ext cx="8046148"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Bir web sayfasının çalıştığı kökenden farklı bir kökene tarayıcı üzerinden istek göndermesini</a:t>
              </a:r>
              <a:br/>
              <a:r>
                <a:rPr lang="tr-TR" sz="1350" dirty="0">
                  <a:solidFill>
                    <a:srgbClr val="172B3A"/>
                  </a:solidFill>
                  <a:latin typeface="+mn-lt"/>
                  <a:ea typeface="+mn-ea"/>
                  <a:cs typeface="+mn-cs"/>
                </a:rPr>
                <a:t>denetleyen mekanizmadır; sunucu izin verdiği kökenleri Access-Control-Allow-Origin ile bildirir.</a:t>
              </a:r>
            </a:p>
          </p:txBody>
        </p:sp>
      </p:grpSp>
      <p:grpSp>
        <p:nvGrpSpPr>
          <p:cNvPr id="19" name="col-sop"/>
          <p:cNvGrpSpPr/>
          <p:nvPr/>
        </p:nvGrpSpPr>
        <p:grpSpPr>
          <a:xfrm>
            <a:off x="609600" y="2362200"/>
            <a:ext cx="5257800" cy="2857500"/>
            <a:chOff x="609600" y="2362200"/>
            <a:chExt cx="5257800" cy="2857500"/>
          </a:xfrm>
        </p:grpSpPr>
        <p:sp>
          <p:nvSpPr>
            <p:cNvPr id="16" name="Rectangle 16"/>
            <p:cNvSpPr/>
            <p:nvPr/>
          </p:nvSpPr>
          <p:spPr>
            <a:xfrm>
              <a:off x="609600" y="2362200"/>
              <a:ext cx="5257800" cy="2857500"/>
            </a:xfrm>
            <a:prstGeom prst="roundRect">
              <a:avLst>
                <a:gd name="adj" fmla="val 3333"/>
              </a:avLst>
            </a:prstGeom>
            <a:solidFill>
              <a:srgbClr val="FFFFFF"/>
            </a:solidFill>
            <a:ln w="14288">
              <a:solidFill>
                <a:srgbClr val="B8CBD3"/>
              </a:solidFill>
            </a:ln>
          </p:spPr>
        </p:sp>
        <p:sp>
          <p:nvSpPr>
            <p:cNvPr id="17" name="TextBox 17"/>
            <p:cNvSpPr txBox="1"/>
            <p:nvPr/>
          </p:nvSpPr>
          <p:spPr>
            <a:xfrm>
              <a:off x="905256" y="2567940"/>
              <a:ext cx="234533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Same-Origin Policy</a:t>
              </a:r>
            </a:p>
          </p:txBody>
        </p:sp>
        <p:sp>
          <p:nvSpPr>
            <p:cNvPr id="18" name="TextBox 18"/>
            <p:cNvSpPr txBox="1"/>
            <p:nvPr/>
          </p:nvSpPr>
          <p:spPr>
            <a:xfrm>
              <a:off x="907542" y="2997518"/>
              <a:ext cx="3108389" cy="17499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1995'te Netscape Navigator'da</a:t>
              </a:r>
              <a:br/>
              <a:r>
                <a:rPr lang="tr-TR" sz="1350" dirty="0">
                  <a:solidFill>
                    <a:srgbClr val="172B3A"/>
                  </a:solidFill>
                  <a:latin typeface="+mn-lt"/>
                  <a:ea typeface="+mn-ea"/>
                  <a:cs typeface="+mn-cs"/>
                </a:rPr>
                <a:t>JavaScript ile ortaya çıkan tarayıcı</a:t>
              </a:r>
              <a:br/>
              <a:r>
                <a:rPr lang="tr-TR" sz="1350" dirty="0">
                  <a:solidFill>
                    <a:srgbClr val="172B3A"/>
                  </a:solidFill>
                  <a:latin typeface="+mn-lt"/>
                  <a:ea typeface="+mn-ea"/>
                  <a:cs typeface="+mn-cs"/>
                </a:rPr>
                <a:t>güvenlik modelinin temel taşıdır: bir</a:t>
              </a:r>
              <a:br/>
              <a:r>
                <a:rPr lang="tr-TR" sz="1350" dirty="0">
                  <a:solidFill>
                    <a:srgbClr val="172B3A"/>
                  </a:solidFill>
                  <a:latin typeface="+mn-lt"/>
                  <a:ea typeface="+mn-ea"/>
                  <a:cs typeface="+mn-cs"/>
                </a:rPr>
                <a:t>sayfanın betiği yalnızca kendi</a:t>
              </a:r>
              <a:br/>
              <a:r>
                <a:rPr lang="tr-TR" sz="1350" dirty="0">
                  <a:solidFill>
                    <a:srgbClr val="172B3A"/>
                  </a:solidFill>
                  <a:latin typeface="+mn-lt"/>
                  <a:ea typeface="+mn-ea"/>
                  <a:cs typeface="+mn-cs"/>
                </a:rPr>
                <a:t>kökeninden (protokol+alan adı+port)</a:t>
              </a:r>
              <a:br/>
              <a:r>
                <a:rPr lang="tr-TR" sz="1350" dirty="0">
                  <a:solidFill>
                    <a:srgbClr val="172B3A"/>
                  </a:solidFill>
                  <a:latin typeface="+mn-lt"/>
                  <a:ea typeface="+mn-ea"/>
                  <a:cs typeface="+mn-cs"/>
                </a:rPr>
                <a:t>veri okuyabilir, farklı bir kökenin</a:t>
              </a:r>
              <a:br/>
              <a:r>
                <a:rPr lang="tr-TR" sz="1350" dirty="0">
                  <a:solidFill>
                    <a:srgbClr val="172B3A"/>
                  </a:solidFill>
                  <a:latin typeface="+mn-lt"/>
                  <a:ea typeface="+mn-ea"/>
                  <a:cs typeface="+mn-cs"/>
                </a:rPr>
                <a:t>verisini okuyamaz.</a:t>
              </a:r>
            </a:p>
          </p:txBody>
        </p:sp>
      </p:grpSp>
      <p:grpSp>
        <p:nvGrpSpPr>
          <p:cNvPr id="23" name="col-not-firewall"/>
          <p:cNvGrpSpPr/>
          <p:nvPr/>
        </p:nvGrpSpPr>
        <p:grpSpPr>
          <a:xfrm>
            <a:off x="6324600" y="2362200"/>
            <a:ext cx="5257800" cy="2857500"/>
            <a:chOff x="6324600" y="2362200"/>
            <a:chExt cx="5257800" cy="2857500"/>
          </a:xfrm>
        </p:grpSpPr>
        <p:sp>
          <p:nvSpPr>
            <p:cNvPr id="20" name="Rectangle 20"/>
            <p:cNvSpPr/>
            <p:nvPr/>
          </p:nvSpPr>
          <p:spPr>
            <a:xfrm>
              <a:off x="6324600" y="2362200"/>
              <a:ext cx="5257800" cy="2857500"/>
            </a:xfrm>
            <a:prstGeom prst="roundRect">
              <a:avLst>
                <a:gd name="adj" fmla="val 3333"/>
              </a:avLst>
            </a:prstGeom>
            <a:solidFill>
              <a:srgbClr val="FFFFFF"/>
            </a:solidFill>
            <a:ln w="14288">
              <a:solidFill>
                <a:srgbClr val="2E86AB"/>
              </a:solidFill>
            </a:ln>
          </p:spPr>
        </p:sp>
        <p:sp>
          <p:nvSpPr>
            <p:cNvPr id="21" name="TextBox 21"/>
            <p:cNvSpPr txBox="1"/>
            <p:nvPr/>
          </p:nvSpPr>
          <p:spPr>
            <a:xfrm>
              <a:off x="6620256" y="2567940"/>
              <a:ext cx="28377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Tarayıcı protokolüdür</a:t>
              </a:r>
            </a:p>
          </p:txBody>
        </p:sp>
        <p:sp>
          <p:nvSpPr>
            <p:cNvPr id="22" name="TextBox 22"/>
            <p:cNvSpPr txBox="1"/>
            <p:nvPr/>
          </p:nvSpPr>
          <p:spPr>
            <a:xfrm>
              <a:off x="6622542" y="2997518"/>
              <a:ext cx="2928366" cy="17499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CORS, Same-Origin Policy'yi</a:t>
              </a:r>
              <a:br/>
              <a:r>
                <a:rPr lang="tr-TR" sz="1350" dirty="0">
                  <a:solidFill>
                    <a:srgbClr val="172B3A"/>
                  </a:solidFill>
                  <a:latin typeface="+mn-lt"/>
                  <a:ea typeface="+mn-ea"/>
                  <a:cs typeface="+mn-cs"/>
                </a:rPr>
                <a:t>kaldırmaz; sunucunun açıkça izin</a:t>
              </a:r>
              <a:br/>
              <a:r>
                <a:rPr lang="tr-TR" sz="1350" dirty="0">
                  <a:solidFill>
                    <a:srgbClr val="172B3A"/>
                  </a:solidFill>
                  <a:latin typeface="+mn-lt"/>
                  <a:ea typeface="+mn-ea"/>
                  <a:cs typeface="+mn-cs"/>
                </a:rPr>
                <a:t>verdiği (allowlist) kökenler için</a:t>
              </a:r>
              <a:br/>
              <a:r>
                <a:rPr lang="tr-TR" sz="1350" dirty="0">
                  <a:solidFill>
                    <a:srgbClr val="172B3A"/>
                  </a:solidFill>
                  <a:latin typeface="+mn-lt"/>
                  <a:ea typeface="+mn-ea"/>
                  <a:cs typeface="+mn-cs"/>
                </a:rPr>
                <a:t>kontrollü biçimde gevşetir. Bir</a:t>
              </a:r>
              <a:br/>
              <a:r>
                <a:rPr lang="tr-TR" sz="1350" dirty="0">
                  <a:solidFill>
                    <a:srgbClr val="172B3A"/>
                  </a:solidFill>
                  <a:latin typeface="+mn-lt"/>
                  <a:ea typeface="+mn-ea"/>
                  <a:cs typeface="+mn-cs"/>
                </a:rPr>
                <a:t>"sunucu güvenlik duvarı" değildir —</a:t>
              </a:r>
              <a:br/>
              <a:r>
                <a:rPr lang="tr-TR" sz="1350" dirty="0">
                  <a:solidFill>
                    <a:srgbClr val="172B3A"/>
                  </a:solidFill>
                  <a:latin typeface="+mn-lt"/>
                  <a:ea typeface="+mn-ea"/>
                  <a:cs typeface="+mn-cs"/>
                </a:rPr>
                <a:t>curl gibi araçlar CORS başlıklarını</a:t>
              </a:r>
              <a:br/>
              <a:r>
                <a:rPr lang="tr-TR" sz="1350" dirty="0">
                  <a:solidFill>
                    <a:srgbClr val="172B3A"/>
                  </a:solidFill>
                  <a:latin typeface="+mn-lt"/>
                  <a:ea typeface="+mn-ea"/>
                  <a:cs typeface="+mn-cs"/>
                </a:rPr>
                <a:t>hiç dikkate almaz.</a:t>
              </a:r>
            </a:p>
          </p:txBody>
        </p:sp>
      </p:grpSp>
      <p:grpSp>
        <p:nvGrpSpPr>
          <p:cNvPr id="27" name="tip-note"/>
          <p:cNvGrpSpPr/>
          <p:nvPr/>
        </p:nvGrpSpPr>
        <p:grpSpPr>
          <a:xfrm>
            <a:off x="609600" y="5257800"/>
            <a:ext cx="10972800" cy="876300"/>
            <a:chOff x="609600" y="5257800"/>
            <a:chExt cx="10972800" cy="876300"/>
          </a:xfrm>
        </p:grpSpPr>
        <p:sp>
          <p:nvSpPr>
            <p:cNvPr id="24" name="Rectangle 24"/>
            <p:cNvSpPr/>
            <p:nvPr/>
          </p:nvSpPr>
          <p:spPr>
            <a:xfrm>
              <a:off x="609600" y="5257800"/>
              <a:ext cx="10972800" cy="876300"/>
            </a:xfrm>
            <a:prstGeom prst="roundRect">
              <a:avLst>
                <a:gd name="adj" fmla="val 8696"/>
              </a:avLst>
            </a:prstGeom>
            <a:solidFill>
              <a:srgbClr val="12355B"/>
            </a:solidFill>
            <a:ln>
              <a:noFill/>
            </a:ln>
          </p:spPr>
        </p:sp>
        <p:sp>
          <p:nvSpPr>
            <p:cNvPr id="25" name="TextBox 25"/>
            <p:cNvSpPr txBox="1"/>
            <p:nvPr/>
          </p:nvSpPr>
          <p:spPr>
            <a:xfrm>
              <a:off x="906399" y="5373529"/>
              <a:ext cx="930747"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İpucu</a:t>
              </a:r>
            </a:p>
          </p:txBody>
        </p:sp>
        <p:sp>
          <p:nvSpPr>
            <p:cNvPr id="26" name="TextBox 26"/>
            <p:cNvSpPr txBox="1"/>
            <p:nvPr/>
          </p:nvSpPr>
          <p:spPr>
            <a:xfrm>
              <a:off x="907542" y="5645468"/>
              <a:ext cx="6683121" cy="473583"/>
            </a:xfrm>
            <a:prstGeom prst="rect">
              <a:avLst/>
            </a:prstGeom>
            <a:noFill/>
            <a:ln>
              <a:noFill/>
            </a:ln>
          </p:spPr>
          <p:txBody>
            <a:bodyPr wrap="none" lIns="0" tIns="0" rIns="0" bIns="0" anchor="t" anchorCtr="0">
              <a:spAutoFit/>
            </a:bodyPr>
            <a:lstStyle/>
            <a:p>
              <a:pPr algn="l">
                <a:lnSpc>
                  <a:spcPts val="1650"/>
                </a:lnSpc>
              </a:pPr>
              <a:r>
                <a:rPr lang="tr-TR" sz="1350" dirty="0">
                  <a:solidFill>
                    <a:srgbClr val="EAF4F6"/>
                  </a:solidFill>
                  <a:latin typeface="+mn-lt"/>
                  <a:ea typeface="+mn-ea"/>
                  <a:cs typeface="+mn-cs"/>
                </a:rPr>
                <a:t>CORS bir sunucu güvenlik duvarı değildir; tarayıcının farklı bir kökenden gelen</a:t>
              </a:r>
              <a:br/>
              <a:r>
                <a:rPr lang="tr-TR" sz="1350" dirty="0">
                  <a:solidFill>
                    <a:srgbClr val="EAF4F6"/>
                  </a:solidFill>
                  <a:latin typeface="+mn-lt"/>
                  <a:ea typeface="+mn-ea"/>
                  <a:cs typeface="+mn-cs"/>
                </a:rPr>
                <a:t>isteği ne zaman engelleyeceğini belirleyen bir tarayıcı politikasıdır.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252556" cy="668845"/>
            <a:chOff x="609600" y="171450"/>
            <a:chExt cx="725255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656218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CORS ile CSRF'i karıştırmayınız</a:t>
              </a:r>
            </a:p>
          </p:txBody>
        </p:sp>
      </p:grpSp>
      <p:grpSp>
        <p:nvGrpSpPr>
          <p:cNvPr id="15" name="matrix-header"/>
          <p:cNvGrpSpPr/>
          <p:nvPr/>
        </p:nvGrpSpPr>
        <p:grpSpPr>
          <a:xfrm>
            <a:off x="609600" y="1257300"/>
            <a:ext cx="10972800" cy="381000"/>
            <a:chOff x="609600" y="1257300"/>
            <a:chExt cx="10972800" cy="381000"/>
          </a:xfrm>
        </p:grpSpPr>
        <p:sp>
          <p:nvSpPr>
            <p:cNvPr id="12" name="Rectangle 12"/>
            <p:cNvSpPr/>
            <p:nvPr/>
          </p:nvSpPr>
          <p:spPr>
            <a:xfrm>
              <a:off x="609600" y="1257300"/>
              <a:ext cx="10972800" cy="381000"/>
            </a:xfrm>
            <a:prstGeom prst="rect">
              <a:avLst/>
            </a:prstGeom>
            <a:solidFill>
              <a:srgbClr val="12355B"/>
            </a:solidFill>
            <a:ln>
              <a:noFill/>
            </a:ln>
          </p:spPr>
        </p:sp>
        <p:sp>
          <p:nvSpPr>
            <p:cNvPr id="13" name="TextBox 13"/>
            <p:cNvSpPr txBox="1"/>
            <p:nvPr/>
          </p:nvSpPr>
          <p:spPr>
            <a:xfrm>
              <a:off x="3613785" y="1383506"/>
              <a:ext cx="2450391"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CORS / SAME-ORIGIN POLICY</a:t>
              </a:r>
            </a:p>
          </p:txBody>
        </p:sp>
        <p:sp>
          <p:nvSpPr>
            <p:cNvPr id="14" name="TextBox 14"/>
            <p:cNvSpPr txBox="1"/>
            <p:nvPr/>
          </p:nvSpPr>
          <p:spPr>
            <a:xfrm>
              <a:off x="8185785" y="1383506"/>
              <a:ext cx="131872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CSRF KORUMASI</a:t>
              </a:r>
            </a:p>
          </p:txBody>
        </p:sp>
      </p:grpSp>
      <p:grpSp>
        <p:nvGrpSpPr>
          <p:cNvPr id="20" name="row-blocks"/>
          <p:cNvGrpSpPr/>
          <p:nvPr/>
        </p:nvGrpSpPr>
        <p:grpSpPr>
          <a:xfrm>
            <a:off x="609600" y="1835468"/>
            <a:ext cx="10972800" cy="669607"/>
            <a:chOff x="609600" y="1835468"/>
            <a:chExt cx="10972800" cy="669607"/>
          </a:xfrm>
        </p:grpSpPr>
        <p:sp>
          <p:nvSpPr>
            <p:cNvPr id="16" name="TextBox 16"/>
            <p:cNvSpPr txBox="1"/>
            <p:nvPr/>
          </p:nvSpPr>
          <p:spPr>
            <a:xfrm>
              <a:off x="755142" y="1835468"/>
              <a:ext cx="922830" cy="473583"/>
            </a:xfrm>
            <a:prstGeom prst="rect">
              <a:avLst/>
            </a:prstGeom>
            <a:noFill/>
            <a:ln>
              <a:noFill/>
            </a:ln>
          </p:spPr>
          <p:txBody>
            <a:bodyPr wrap="none" lIns="0" tIns="0" rIns="0" bIns="0" anchor="t" anchorCtr="0">
              <a:spAutoFit/>
            </a:bodyPr>
            <a:lstStyle/>
            <a:p>
              <a:pPr algn="l">
                <a:lnSpc>
                  <a:spcPts val="1650"/>
                </a:lnSpc>
              </a:pPr>
              <a:r>
                <a:rPr lang="tr-TR" sz="1350" b="1" dirty="0">
                  <a:solidFill>
                    <a:srgbClr val="12355B"/>
                  </a:solidFill>
                  <a:latin typeface="+mn-lt"/>
                  <a:ea typeface="+mn-ea"/>
                  <a:cs typeface="+mn-cs"/>
                </a:rPr>
                <a:t>Engellediği</a:t>
              </a:r>
              <a:br/>
              <a:r>
                <a:rPr lang="tr-TR" sz="1350" b="1" dirty="0">
                  <a:solidFill>
                    <a:srgbClr val="12355B"/>
                  </a:solidFill>
                  <a:latin typeface="+mn-lt"/>
                  <a:ea typeface="+mn-ea"/>
                  <a:cs typeface="+mn-cs"/>
                </a:rPr>
                <a:t>şey</a:t>
              </a:r>
            </a:p>
          </p:txBody>
        </p:sp>
        <p:sp>
          <p:nvSpPr>
            <p:cNvPr id="17" name="TextBox 17"/>
            <p:cNvSpPr txBox="1"/>
            <p:nvPr/>
          </p:nvSpPr>
          <p:spPr>
            <a:xfrm>
              <a:off x="3612261" y="1865471"/>
              <a:ext cx="3021988"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Yabancı kökenin yanıtı okuması</a:t>
              </a:r>
            </a:p>
          </p:txBody>
        </p:sp>
        <p:sp>
          <p:nvSpPr>
            <p:cNvPr id="18" name="TextBox 18"/>
            <p:cNvSpPr txBox="1"/>
            <p:nvPr/>
          </p:nvSpPr>
          <p:spPr>
            <a:xfrm>
              <a:off x="8184261" y="1865471"/>
              <a:ext cx="1917065" cy="507302"/>
            </a:xfrm>
            <a:prstGeom prst="rect">
              <a:avLst/>
            </a:prstGeom>
            <a:noFill/>
            <a:ln>
              <a:noFill/>
            </a:ln>
          </p:spPr>
          <p:txBody>
            <a:bodyPr wrap="none" lIns="0" tIns="0" rIns="0" bIns="0" anchor="t" anchorCtr="0">
              <a:spAutoFit/>
            </a:bodyPr>
            <a:lstStyle/>
            <a:p>
              <a:pPr algn="l">
                <a:lnSpc>
                  <a:spcPts val="1800"/>
                </a:lnSpc>
              </a:pPr>
              <a:r>
                <a:rPr lang="tr-TR" sz="1420" dirty="0">
                  <a:solidFill>
                    <a:srgbClr val="172B3A"/>
                  </a:solidFill>
                  <a:latin typeface="+mn-lt"/>
                  <a:ea typeface="+mn-ea"/>
                  <a:cs typeface="+mn-cs"/>
                </a:rPr>
                <a:t>Yabancı kökenin istek</a:t>
              </a:r>
              <a:br/>
              <a:r>
                <a:rPr lang="tr-TR" sz="1420" dirty="0">
                  <a:solidFill>
                    <a:srgbClr val="172B3A"/>
                  </a:solidFill>
                  <a:latin typeface="+mn-lt"/>
                  <a:ea typeface="+mn-ea"/>
                  <a:cs typeface="+mn-cs"/>
                </a:rPr>
                <a:t>gönderttirmesi</a:t>
              </a:r>
            </a:p>
          </p:txBody>
        </p:sp>
        <p:sp>
          <p:nvSpPr>
            <p:cNvPr id="19" name="Line 19"/>
            <p:cNvSpPr/>
            <p:nvPr/>
          </p:nvSpPr>
          <p:spPr>
            <a:xfrm>
              <a:off x="609600" y="24955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6" name="row-threat"/>
          <p:cNvGrpSpPr/>
          <p:nvPr/>
        </p:nvGrpSpPr>
        <p:grpSpPr>
          <a:xfrm>
            <a:off x="609600" y="2495550"/>
            <a:ext cx="10972800" cy="866775"/>
            <a:chOff x="609600" y="2495550"/>
            <a:chExt cx="10972800" cy="866775"/>
          </a:xfrm>
        </p:grpSpPr>
        <p:sp>
          <p:nvSpPr>
            <p:cNvPr id="21" name="Rectangle 21"/>
            <p:cNvSpPr/>
            <p:nvPr/>
          </p:nvSpPr>
          <p:spPr>
            <a:xfrm>
              <a:off x="609600" y="2495550"/>
              <a:ext cx="10972800" cy="857250"/>
            </a:xfrm>
            <a:prstGeom prst="rect">
              <a:avLst/>
            </a:prstGeom>
            <a:solidFill>
              <a:srgbClr val="EAF4F6"/>
            </a:solidFill>
            <a:ln>
              <a:noFill/>
            </a:ln>
          </p:spPr>
        </p:sp>
        <p:sp>
          <p:nvSpPr>
            <p:cNvPr id="22" name="TextBox 22"/>
            <p:cNvSpPr txBox="1"/>
            <p:nvPr/>
          </p:nvSpPr>
          <p:spPr>
            <a:xfrm>
              <a:off x="755142" y="2692718"/>
              <a:ext cx="60121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Tehdit</a:t>
              </a:r>
            </a:p>
          </p:txBody>
        </p:sp>
        <p:sp>
          <p:nvSpPr>
            <p:cNvPr id="23" name="TextBox 23"/>
            <p:cNvSpPr txBox="1"/>
            <p:nvPr/>
          </p:nvSpPr>
          <p:spPr>
            <a:xfrm>
              <a:off x="3612261" y="2722721"/>
              <a:ext cx="1330103"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Veri sızdırma</a:t>
              </a:r>
            </a:p>
          </p:txBody>
        </p:sp>
        <p:sp>
          <p:nvSpPr>
            <p:cNvPr id="24" name="TextBox 24"/>
            <p:cNvSpPr txBox="1"/>
            <p:nvPr/>
          </p:nvSpPr>
          <p:spPr>
            <a:xfrm>
              <a:off x="8184261" y="2722721"/>
              <a:ext cx="2656459" cy="52635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İstemsiz durum değiştirme</a:t>
              </a:r>
              <a:br/>
              <a:r>
                <a:rPr lang="tr-TR" sz="1420" dirty="0">
                  <a:solidFill>
                    <a:srgbClr val="172B3A"/>
                  </a:solidFill>
                  <a:latin typeface="+mn-lt"/>
                  <a:ea typeface="+mn-ea"/>
                  <a:cs typeface="+mn-cs"/>
                </a:rPr>
                <a:t>(para transferi, kayıt silme)</a:t>
              </a:r>
            </a:p>
          </p:txBody>
        </p:sp>
        <p:sp>
          <p:nvSpPr>
            <p:cNvPr id="25" name="Line 25"/>
            <p:cNvSpPr/>
            <p:nvPr/>
          </p:nvSpPr>
          <p:spPr>
            <a:xfrm>
              <a:off x="609600" y="33528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0" name="row-agent"/>
          <p:cNvGrpSpPr/>
          <p:nvPr/>
        </p:nvGrpSpPr>
        <p:grpSpPr>
          <a:xfrm>
            <a:off x="755142" y="3694271"/>
            <a:ext cx="9445371" cy="526352"/>
            <a:chOff x="755142" y="3694271"/>
            <a:chExt cx="9445371" cy="526352"/>
          </a:xfrm>
        </p:grpSpPr>
        <p:sp>
          <p:nvSpPr>
            <p:cNvPr id="27" name="TextBox 27"/>
            <p:cNvSpPr txBox="1"/>
            <p:nvPr/>
          </p:nvSpPr>
          <p:spPr>
            <a:xfrm>
              <a:off x="755142" y="3702368"/>
              <a:ext cx="54442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Aracı</a:t>
              </a:r>
            </a:p>
          </p:txBody>
        </p:sp>
        <p:sp>
          <p:nvSpPr>
            <p:cNvPr id="28" name="TextBox 28"/>
            <p:cNvSpPr txBox="1"/>
            <p:nvPr/>
          </p:nvSpPr>
          <p:spPr>
            <a:xfrm>
              <a:off x="3612261" y="3732371"/>
              <a:ext cx="3461241"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Access-Control-Allow-Origin başlığı</a:t>
              </a:r>
            </a:p>
          </p:txBody>
        </p:sp>
        <p:sp>
          <p:nvSpPr>
            <p:cNvPr id="29" name="TextBox 29"/>
            <p:cNvSpPr txBox="1"/>
            <p:nvPr/>
          </p:nvSpPr>
          <p:spPr>
            <a:xfrm>
              <a:off x="8184261" y="3694271"/>
              <a:ext cx="2016252" cy="52635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CSRF token,</a:t>
              </a:r>
              <a:br/>
              <a:r>
                <a:rPr lang="tr-TR" sz="1420" dirty="0">
                  <a:solidFill>
                    <a:srgbClr val="172B3A"/>
                  </a:solidFill>
                  <a:latin typeface="+mn-lt"/>
                  <a:ea typeface="+mn-ea"/>
                  <a:cs typeface="+mn-cs"/>
                </a:rPr>
                <a:t>SameSite çerez niteliği</a:t>
              </a:r>
            </a:p>
          </p:txBody>
        </p:sp>
      </p:grpSp>
      <p:grpSp>
        <p:nvGrpSpPr>
          <p:cNvPr id="34" name="key-point"/>
          <p:cNvGrpSpPr/>
          <p:nvPr/>
        </p:nvGrpSpPr>
        <p:grpSpPr>
          <a:xfrm>
            <a:off x="609600" y="4476750"/>
            <a:ext cx="10972800" cy="1619250"/>
            <a:chOff x="609600" y="4476750"/>
            <a:chExt cx="10972800" cy="1619250"/>
          </a:xfrm>
        </p:grpSpPr>
        <p:sp>
          <p:nvSpPr>
            <p:cNvPr id="31" name="Rectangle 31"/>
            <p:cNvSpPr/>
            <p:nvPr/>
          </p:nvSpPr>
          <p:spPr>
            <a:xfrm>
              <a:off x="609600" y="4476750"/>
              <a:ext cx="10972800" cy="1619250"/>
            </a:xfrm>
            <a:prstGeom prst="roundRect">
              <a:avLst>
                <a:gd name="adj" fmla="val 4706"/>
              </a:avLst>
            </a:prstGeom>
            <a:solidFill>
              <a:srgbClr val="12355B"/>
            </a:solidFill>
            <a:ln>
              <a:noFill/>
            </a:ln>
          </p:spPr>
        </p:sp>
        <p:sp>
          <p:nvSpPr>
            <p:cNvPr id="32" name="TextBox 32"/>
            <p:cNvSpPr txBox="1"/>
            <p:nvPr/>
          </p:nvSpPr>
          <p:spPr>
            <a:xfrm>
              <a:off x="906018" y="4622482"/>
              <a:ext cx="4535227" cy="322707"/>
            </a:xfrm>
            <a:prstGeom prst="rect">
              <a:avLst/>
            </a:prstGeom>
            <a:noFill/>
            <a:ln>
              <a:noFill/>
            </a:ln>
          </p:spPr>
          <p:txBody>
            <a:bodyPr wrap="none" lIns="0" tIns="0" rIns="0" bIns="0" anchor="t" anchorCtr="0">
              <a:spAutoFit/>
            </a:bodyPr>
            <a:lstStyle/>
            <a:p>
              <a:pPr algn="l"/>
              <a:r>
                <a:rPr lang="tr-TR" sz="1650" b="1" dirty="0">
                  <a:solidFill>
                    <a:srgbClr val="00A6A6"/>
                  </a:solidFill>
                  <a:latin typeface="+mn-lt"/>
                  <a:ea typeface="+mn-ea"/>
                  <a:cs typeface="+mn-cs"/>
                </a:rPr>
                <a:t>Kritik nokta: CORS, CSRF'i engellemez.</a:t>
              </a:r>
            </a:p>
          </p:txBody>
        </p:sp>
        <p:sp>
          <p:nvSpPr>
            <p:cNvPr id="33" name="TextBox 33"/>
            <p:cNvSpPr txBox="1"/>
            <p:nvPr/>
          </p:nvSpPr>
          <p:spPr>
            <a:xfrm>
              <a:off x="907542" y="4978718"/>
              <a:ext cx="7771829" cy="759333"/>
            </a:xfrm>
            <a:prstGeom prst="rect">
              <a:avLst/>
            </a:prstGeom>
            <a:noFill/>
            <a:ln>
              <a:noFill/>
            </a:ln>
          </p:spPr>
          <p:txBody>
            <a:bodyPr wrap="none" lIns="0" tIns="0" rIns="0" bIns="0" anchor="t" anchorCtr="0">
              <a:spAutoFit/>
            </a:bodyPr>
            <a:lstStyle/>
            <a:p>
              <a:pPr algn="l">
                <a:lnSpc>
                  <a:spcPts val="1950"/>
                </a:lnSpc>
              </a:pPr>
              <a:r>
                <a:rPr lang="tr-TR" sz="1350" dirty="0">
                  <a:solidFill>
                    <a:srgbClr val="EAF4F6"/>
                  </a:solidFill>
                  <a:latin typeface="+mn-lt"/>
                  <a:ea typeface="+mn-ea"/>
                  <a:cs typeface="+mn-cs"/>
                </a:rPr>
                <a:t>Kötü niyetli bir sitedeki form ya da fetch isteği tarayıcı tarafından sunucuya gönderilir ve</a:t>
              </a:r>
              <a:br/>
              <a:r>
                <a:rPr lang="tr-TR" sz="1350" dirty="0">
                  <a:solidFill>
                    <a:srgbClr val="EAF4F6"/>
                  </a:solidFill>
                  <a:latin typeface="+mn-lt"/>
                  <a:ea typeface="+mn-ea"/>
                  <a:cs typeface="+mn-cs"/>
                </a:rPr>
                <a:t>oturum çerezi bu isteğe eklenir; sunucu isteği işler. CORS yalnızca saldırganın yanıtı</a:t>
              </a:r>
              <a:br/>
              <a:r>
                <a:rPr lang="tr-TR" sz="1350" dirty="0">
                  <a:solidFill>
                    <a:srgbClr val="EAF4F6"/>
                  </a:solidFill>
                  <a:latin typeface="+mn-lt"/>
                  <a:ea typeface="+mn-ea"/>
                  <a:cs typeface="+mn-cs"/>
                </a:rPr>
                <a:t>okumasını engeller — para transferi gibi bir işlemde saldırganın buna zaten ihtiyacı yoktur.</a:t>
              </a:r>
            </a:p>
          </p:txBody>
        </p:sp>
      </p:grpSp>
      <p:sp>
        <p:nvSpPr>
          <p:cNvPr id="35" name="TextBox 3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53904" y="309562"/>
                <a:ext cx="206693" cy="280512"/>
                <a:chOff x="753904" y="309562"/>
                <a:chExt cx="206693" cy="280512"/>
              </a:xfrm>
            </p:grpSpPr>
            <p:sp>
              <p:nvSpPr>
                <p:cNvPr id="5" name="Freeform 5"/>
                <p:cNvSpPr/>
                <p:nvPr/>
              </p:nvSpPr>
              <p:spPr>
                <a:xfrm>
                  <a:off x="7539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424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7981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63396" y="315278"/>
              <a:ext cx="7095743" cy="498729"/>
            </a:xfrm>
            <a:prstGeom prst="rect">
              <a:avLst/>
            </a:prstGeom>
            <a:noFill/>
            <a:ln>
              <a:noFill/>
            </a:ln>
          </p:spPr>
          <p:txBody>
            <a:bodyPr wrap="none" lIns="0" tIns="0" rIns="0" bIns="0" anchor="t" anchorCtr="0">
              <a:spAutoFit/>
            </a:bodyPr>
            <a:lstStyle/>
            <a:p>
              <a:pPr algn="l"/>
              <a:r>
                <a:rPr lang="tr-TR" sz="2550" b="1" dirty="0">
                  <a:solidFill>
                    <a:srgbClr val="F7FAFC"/>
                  </a:solidFill>
                  <a:latin typeface="+mj-lt"/>
                  <a:ea typeface="+mj-ea"/>
                  <a:cs typeface="+mj-cs"/>
                </a:rPr>
                <a:t>Kod 11.4 · corsKararıVer ile kaynak izni</a:t>
              </a:r>
            </a:p>
          </p:txBody>
        </p:sp>
      </p:grpSp>
      <p:grpSp>
        <p:nvGrpSpPr>
          <p:cNvPr id="30" name="code-panel"/>
          <p:cNvGrpSpPr/>
          <p:nvPr/>
        </p:nvGrpSpPr>
        <p:grpSpPr>
          <a:xfrm>
            <a:off x="571500" y="1295400"/>
            <a:ext cx="6477000" cy="3911870"/>
            <a:chOff x="571500" y="1295400"/>
            <a:chExt cx="6477000" cy="3911870"/>
          </a:xfrm>
        </p:grpSpPr>
        <p:sp>
          <p:nvSpPr>
            <p:cNvPr id="12" name="Rectangle 12"/>
            <p:cNvSpPr/>
            <p:nvPr/>
          </p:nvSpPr>
          <p:spPr>
            <a:xfrm>
              <a:off x="571500" y="1295400"/>
              <a:ext cx="6477000" cy="3905250"/>
            </a:xfrm>
            <a:prstGeom prst="rect">
              <a:avLst/>
            </a:prstGeom>
            <a:solidFill>
              <a:srgbClr val="12355B"/>
            </a:solidFill>
            <a:ln>
              <a:noFill/>
            </a:ln>
          </p:spPr>
        </p:sp>
        <p:sp>
          <p:nvSpPr>
            <p:cNvPr id="13" name="TextBox 13"/>
            <p:cNvSpPr txBox="1"/>
            <p:nvPr/>
          </p:nvSpPr>
          <p:spPr>
            <a:xfrm>
              <a:off x="794194" y="1474708"/>
              <a:ext cx="2079253"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const izinliKokenler = [</a:t>
              </a:r>
            </a:p>
          </p:txBody>
        </p:sp>
        <p:sp>
          <p:nvSpPr>
            <p:cNvPr id="14" name="TextBox 14"/>
            <p:cNvSpPr txBox="1"/>
            <p:nvPr/>
          </p:nvSpPr>
          <p:spPr>
            <a:xfrm>
              <a:off x="1032320" y="1684258"/>
              <a:ext cx="2674325"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"https://kitaplik.example.com",</a:t>
              </a:r>
            </a:p>
          </p:txBody>
        </p:sp>
        <p:sp>
          <p:nvSpPr>
            <p:cNvPr id="15" name="TextBox 15"/>
            <p:cNvSpPr txBox="1"/>
            <p:nvPr/>
          </p:nvSpPr>
          <p:spPr>
            <a:xfrm>
              <a:off x="1032320" y="1893808"/>
              <a:ext cx="3189651"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"https://admin.kitaplik.example.com",</a:t>
              </a:r>
            </a:p>
          </p:txBody>
        </p:sp>
        <p:sp>
          <p:nvSpPr>
            <p:cNvPr id="16" name="TextBox 16"/>
            <p:cNvSpPr txBox="1"/>
            <p:nvPr/>
          </p:nvSpPr>
          <p:spPr>
            <a:xfrm>
              <a:off x="794194" y="2103358"/>
              <a:ext cx="183586"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17" name="TextBox 17"/>
            <p:cNvSpPr txBox="1"/>
            <p:nvPr/>
          </p:nvSpPr>
          <p:spPr>
            <a:xfrm>
              <a:off x="794194" y="2389108"/>
              <a:ext cx="3721926"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function corsKararıVer(gelenKoken?: string)</a:t>
              </a:r>
            </a:p>
          </p:txBody>
        </p:sp>
        <p:sp>
          <p:nvSpPr>
            <p:cNvPr id="18" name="TextBox 18"/>
            <p:cNvSpPr txBox="1"/>
            <p:nvPr/>
          </p:nvSpPr>
          <p:spPr>
            <a:xfrm>
              <a:off x="1032320" y="2598658"/>
              <a:ext cx="122784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 CorsKarari {</a:t>
              </a:r>
            </a:p>
          </p:txBody>
        </p:sp>
        <p:sp>
          <p:nvSpPr>
            <p:cNvPr id="19" name="TextBox 19"/>
            <p:cNvSpPr txBox="1"/>
            <p:nvPr/>
          </p:nvSpPr>
          <p:spPr>
            <a:xfrm>
              <a:off x="1032320" y="2808208"/>
              <a:ext cx="3718913"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if (!gelenKoken) return { izinVer: false };</a:t>
              </a:r>
            </a:p>
          </p:txBody>
        </p:sp>
        <p:sp>
          <p:nvSpPr>
            <p:cNvPr id="20" name="TextBox 20"/>
            <p:cNvSpPr txBox="1"/>
            <p:nvPr/>
          </p:nvSpPr>
          <p:spPr>
            <a:xfrm>
              <a:off x="1032320" y="3017758"/>
              <a:ext cx="1214237"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const izinli =</a:t>
              </a:r>
            </a:p>
          </p:txBody>
        </p:sp>
        <p:sp>
          <p:nvSpPr>
            <p:cNvPr id="21" name="TextBox 21"/>
            <p:cNvSpPr txBox="1"/>
            <p:nvPr/>
          </p:nvSpPr>
          <p:spPr>
            <a:xfrm>
              <a:off x="1270444" y="3227308"/>
              <a:ext cx="3114702"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izinliKokenler.includes(gelenKoken);</a:t>
              </a:r>
            </a:p>
          </p:txBody>
        </p:sp>
        <p:sp>
          <p:nvSpPr>
            <p:cNvPr id="22" name="TextBox 22"/>
            <p:cNvSpPr txBox="1"/>
            <p:nvPr/>
          </p:nvSpPr>
          <p:spPr>
            <a:xfrm>
              <a:off x="1032320" y="3436858"/>
              <a:ext cx="698911"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return {</a:t>
              </a:r>
            </a:p>
          </p:txBody>
        </p:sp>
        <p:sp>
          <p:nvSpPr>
            <p:cNvPr id="23" name="TextBox 23"/>
            <p:cNvSpPr txBox="1"/>
            <p:nvPr/>
          </p:nvSpPr>
          <p:spPr>
            <a:xfrm>
              <a:off x="1270444" y="3646408"/>
              <a:ext cx="1391995"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izinVer: izinli,</a:t>
              </a:r>
            </a:p>
          </p:txBody>
        </p:sp>
        <p:sp>
          <p:nvSpPr>
            <p:cNvPr id="24" name="TextBox 24"/>
            <p:cNvSpPr txBox="1"/>
            <p:nvPr/>
          </p:nvSpPr>
          <p:spPr>
            <a:xfrm>
              <a:off x="1270444" y="3855958"/>
              <a:ext cx="3453586"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baslik: izinli ? gelenKoken : undefined,</a:t>
              </a:r>
            </a:p>
          </p:txBody>
        </p:sp>
        <p:sp>
          <p:nvSpPr>
            <p:cNvPr id="25" name="TextBox 25"/>
            <p:cNvSpPr txBox="1"/>
            <p:nvPr/>
          </p:nvSpPr>
          <p:spPr>
            <a:xfrm>
              <a:off x="1270444" y="4065508"/>
              <a:ext cx="225587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kimlikBilgisiIzni: izinli,</a:t>
              </a:r>
            </a:p>
          </p:txBody>
        </p:sp>
        <p:sp>
          <p:nvSpPr>
            <p:cNvPr id="26" name="TextBox 26"/>
            <p:cNvSpPr txBox="1"/>
            <p:nvPr/>
          </p:nvSpPr>
          <p:spPr>
            <a:xfrm>
              <a:off x="1032320" y="4275058"/>
              <a:ext cx="183586"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27" name="TextBox 27"/>
            <p:cNvSpPr txBox="1"/>
            <p:nvPr/>
          </p:nvSpPr>
          <p:spPr>
            <a:xfrm>
              <a:off x="794194" y="448460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28" name="TextBox 28"/>
            <p:cNvSpPr txBox="1"/>
            <p:nvPr/>
          </p:nvSpPr>
          <p:spPr>
            <a:xfrm>
              <a:off x="794194" y="4770358"/>
              <a:ext cx="3539845" cy="227362"/>
            </a:xfrm>
            <a:prstGeom prst="rect">
              <a:avLst/>
            </a:prstGeom>
            <a:noFill/>
            <a:ln>
              <a:noFill/>
            </a:ln>
          </p:spPr>
          <p:txBody>
            <a:bodyPr wrap="none" lIns="0" tIns="0" rIns="0" bIns="0" anchor="t" anchorCtr="0">
              <a:spAutoFit/>
            </a:bodyPr>
            <a:lstStyle/>
            <a:p>
              <a:pPr algn="l"/>
              <a:r>
                <a:rPr lang="tr-TR" sz="1160" dirty="0">
                  <a:solidFill>
                    <a:srgbClr val="00A6A6"/>
                  </a:solidFill>
                  <a:latin typeface="Consolas"/>
                  <a:ea typeface="Consolas"/>
                  <a:cs typeface="Consolas"/>
                </a:rPr>
                <a:t>// gelenKoken="https://sahte.example.com"</a:t>
              </a:r>
            </a:p>
          </p:txBody>
        </p:sp>
        <p:sp>
          <p:nvSpPr>
            <p:cNvPr id="29" name="TextBox 29"/>
            <p:cNvSpPr txBox="1"/>
            <p:nvPr/>
          </p:nvSpPr>
          <p:spPr>
            <a:xfrm>
              <a:off x="794194" y="4979908"/>
              <a:ext cx="2082836" cy="227362"/>
            </a:xfrm>
            <a:prstGeom prst="rect">
              <a:avLst/>
            </a:prstGeom>
            <a:noFill/>
            <a:ln>
              <a:noFill/>
            </a:ln>
          </p:spPr>
          <p:txBody>
            <a:bodyPr wrap="none" lIns="0" tIns="0" rIns="0" bIns="0" anchor="t" anchorCtr="0">
              <a:spAutoFit/>
            </a:bodyPr>
            <a:lstStyle/>
            <a:p>
              <a:pPr algn="l"/>
              <a:r>
                <a:rPr lang="tr-TR" sz="1160" dirty="0">
                  <a:solidFill>
                    <a:srgbClr val="00A6A6"/>
                  </a:solidFill>
                  <a:latin typeface="Consolas"/>
                  <a:ea typeface="Consolas"/>
                  <a:cs typeface="Consolas"/>
                </a:rPr>
                <a:t>// -&gt; { izinVer: false }</a:t>
              </a:r>
            </a:p>
          </p:txBody>
        </p:sp>
      </p:grpSp>
      <p:grpSp>
        <p:nvGrpSpPr>
          <p:cNvPr id="33" name="code-purpose"/>
          <p:cNvGrpSpPr/>
          <p:nvPr/>
        </p:nvGrpSpPr>
        <p:grpSpPr>
          <a:xfrm>
            <a:off x="7267956" y="1482090"/>
            <a:ext cx="3551047" cy="1119283"/>
            <a:chOff x="7267956" y="1482090"/>
            <a:chExt cx="3551047" cy="1119283"/>
          </a:xfrm>
        </p:grpSpPr>
        <p:sp>
          <p:nvSpPr>
            <p:cNvPr id="31" name="TextBox 31"/>
            <p:cNvSpPr txBox="1"/>
            <p:nvPr/>
          </p:nvSpPr>
          <p:spPr>
            <a:xfrm>
              <a:off x="7267956" y="1482090"/>
              <a:ext cx="155352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Kodun amacı</a:t>
              </a:r>
            </a:p>
          </p:txBody>
        </p:sp>
        <p:sp>
          <p:nvSpPr>
            <p:cNvPr id="32" name="TextBox 32"/>
            <p:cNvSpPr txBox="1"/>
            <p:nvPr/>
          </p:nvSpPr>
          <p:spPr>
            <a:xfrm>
              <a:off x="7269861" y="1827371"/>
              <a:ext cx="3549142" cy="77400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Gelen Origin başlığını sabit bir</a:t>
              </a:r>
              <a:br/>
              <a:r>
                <a:rPr lang="tr-TR" sz="1420" dirty="0">
                  <a:solidFill>
                    <a:srgbClr val="172B3A"/>
                  </a:solidFill>
                  <a:latin typeface="+mn-lt"/>
                  <a:ea typeface="+mn-ea"/>
                  <a:cs typeface="+mn-cs"/>
                </a:rPr>
                <a:t>allowlist'e karşı kontrol ederek her</a:t>
              </a:r>
              <a:br/>
              <a:r>
                <a:rPr lang="tr-TR" sz="1420" dirty="0">
                  <a:solidFill>
                    <a:srgbClr val="172B3A"/>
                  </a:solidFill>
                  <a:latin typeface="+mn-lt"/>
                  <a:ea typeface="+mn-ea"/>
                  <a:cs typeface="+mn-cs"/>
                </a:rPr>
                <a:t>isteğe güvenli bir CORS kararı üretmek.</a:t>
              </a:r>
            </a:p>
          </p:txBody>
        </p:sp>
      </p:grpSp>
      <p:grpSp>
        <p:nvGrpSpPr>
          <p:cNvPr id="37" name="code-critical"/>
          <p:cNvGrpSpPr/>
          <p:nvPr/>
        </p:nvGrpSpPr>
        <p:grpSpPr>
          <a:xfrm>
            <a:off x="7267956" y="2777490"/>
            <a:ext cx="2865120" cy="1328166"/>
            <a:chOff x="7267956" y="2777490"/>
            <a:chExt cx="2865120" cy="1328166"/>
          </a:xfrm>
        </p:grpSpPr>
        <p:sp>
          <p:nvSpPr>
            <p:cNvPr id="34" name="TextBox 34"/>
            <p:cNvSpPr txBox="1"/>
            <p:nvPr/>
          </p:nvSpPr>
          <p:spPr>
            <a:xfrm>
              <a:off x="7267956" y="2777490"/>
              <a:ext cx="18703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Kritik satırlar</a:t>
              </a:r>
            </a:p>
          </p:txBody>
        </p:sp>
        <p:sp>
          <p:nvSpPr>
            <p:cNvPr id="35" name="TextBox 35"/>
            <p:cNvSpPr txBox="1"/>
            <p:nvPr/>
          </p:nvSpPr>
          <p:spPr>
            <a:xfrm>
              <a:off x="7271004" y="3128010"/>
              <a:ext cx="28620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 Yanıt başlığı gelen kökenin kendisi</a:t>
              </a:r>
              <a:br/>
              <a:r>
                <a:rPr lang="tr-TR" sz="1200" dirty="0">
                  <a:solidFill>
                    <a:srgbClr val="172B3A"/>
                  </a:solidFill>
                  <a:latin typeface="+mn-lt"/>
                  <a:ea typeface="+mn-ea"/>
                  <a:cs typeface="+mn-cs"/>
                </a:rPr>
                <a:t>yansıtılarak üretilir, sabit "*" değil.</a:t>
              </a:r>
            </a:p>
          </p:txBody>
        </p:sp>
        <p:sp>
          <p:nvSpPr>
            <p:cNvPr id="36" name="TextBox 36"/>
            <p:cNvSpPr txBox="1"/>
            <p:nvPr/>
          </p:nvSpPr>
          <p:spPr>
            <a:xfrm>
              <a:off x="7271004" y="3661410"/>
              <a:ext cx="25725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 Kimlik bilgisi izni yalnızca köken</a:t>
              </a:r>
              <a:br/>
              <a:r>
                <a:rPr lang="tr-TR" sz="1200" dirty="0">
                  <a:solidFill>
                    <a:srgbClr val="172B3A"/>
                  </a:solidFill>
                  <a:latin typeface="+mn-lt"/>
                  <a:ea typeface="+mn-ea"/>
                  <a:cs typeface="+mn-cs"/>
                </a:rPr>
                <a:t>allowlist'teyse verilir.</a:t>
              </a:r>
            </a:p>
          </p:txBody>
        </p:sp>
      </p:grpSp>
      <p:grpSp>
        <p:nvGrpSpPr>
          <p:cNvPr id="41" name="code-caution"/>
          <p:cNvGrpSpPr/>
          <p:nvPr/>
        </p:nvGrpSpPr>
        <p:grpSpPr>
          <a:xfrm>
            <a:off x="7277100" y="4552950"/>
            <a:ext cx="3953256" cy="1000506"/>
            <a:chOff x="7277100" y="4552950"/>
            <a:chExt cx="3953256" cy="1000506"/>
          </a:xfrm>
        </p:grpSpPr>
        <p:sp>
          <p:nvSpPr>
            <p:cNvPr id="38" name="Rectangle 38"/>
            <p:cNvSpPr/>
            <p:nvPr/>
          </p:nvSpPr>
          <p:spPr>
            <a:xfrm>
              <a:off x="7277100" y="4552950"/>
              <a:ext cx="57150" cy="819150"/>
            </a:xfrm>
            <a:prstGeom prst="rect">
              <a:avLst/>
            </a:prstGeom>
            <a:solidFill>
              <a:srgbClr val="2E86AB"/>
            </a:solidFill>
            <a:ln>
              <a:noFill/>
            </a:ln>
          </p:spPr>
        </p:sp>
        <p:sp>
          <p:nvSpPr>
            <p:cNvPr id="39" name="TextBox 39"/>
            <p:cNvSpPr txBox="1"/>
            <p:nvPr/>
          </p:nvSpPr>
          <p:spPr>
            <a:xfrm>
              <a:off x="7499604" y="465201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 noktası</a:t>
              </a:r>
            </a:p>
          </p:txBody>
        </p:sp>
        <p:sp>
          <p:nvSpPr>
            <p:cNvPr id="40" name="TextBox 40"/>
            <p:cNvSpPr txBox="1"/>
            <p:nvPr/>
          </p:nvSpPr>
          <p:spPr>
            <a:xfrm>
              <a:off x="7499604" y="4899660"/>
              <a:ext cx="37307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Access-Control-Allow-Origin: * ile</a:t>
              </a:r>
              <a:br/>
              <a:r>
                <a:rPr lang="tr-TR" sz="1200" dirty="0">
                  <a:solidFill>
                    <a:srgbClr val="52616B"/>
                  </a:solidFill>
                  <a:latin typeface="+mn-lt"/>
                  <a:ea typeface="+mn-ea"/>
                  <a:cs typeface="+mn-cs"/>
                </a:rPr>
                <a:t>Access-Control-Allow-Credentials: true</a:t>
              </a:r>
              <a:br/>
              <a:r>
                <a:rPr lang="tr-TR" sz="1200" dirty="0">
                  <a:solidFill>
                    <a:srgbClr val="52616B"/>
                  </a:solidFill>
                  <a:latin typeface="+mn-lt"/>
                  <a:ea typeface="+mn-ea"/>
                  <a:cs typeface="+mn-cs"/>
                </a:rPr>
                <a:t>birlikte kullanılamaz; tarayıcılar bunu reddeder.</a:t>
              </a:r>
            </a:p>
          </p:txBody>
        </p:sp>
      </p:grpSp>
      <p:grpSp>
        <p:nvGrpSpPr>
          <p:cNvPr id="43" name="code-takeaway"/>
          <p:cNvGrpSpPr/>
          <p:nvPr/>
        </p:nvGrpSpPr>
        <p:grpSpPr>
          <a:xfrm>
            <a:off x="564261" y="5694521"/>
            <a:ext cx="8228965" cy="526352"/>
            <a:chOff x="564261" y="5694521"/>
            <a:chExt cx="8228965" cy="526352"/>
          </a:xfrm>
        </p:grpSpPr>
        <p:sp>
          <p:nvSpPr>
            <p:cNvPr id="42" name="TextBox 42"/>
            <p:cNvSpPr txBox="1"/>
            <p:nvPr/>
          </p:nvSpPr>
          <p:spPr>
            <a:xfrm>
              <a:off x="564261" y="5694521"/>
              <a:ext cx="8228965" cy="52635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Allowlist tabanlı karar, jokerli (wildcard) bir CORS yapılandırmasının kimlik bilgili isteklerle</a:t>
              </a:r>
              <a:br/>
              <a:r>
                <a:rPr lang="tr-TR" sz="1420" dirty="0">
                  <a:solidFill>
                    <a:srgbClr val="172B3A"/>
                  </a:solidFill>
                  <a:latin typeface="+mn-lt"/>
                  <a:ea typeface="+mn-ea"/>
                  <a:cs typeface="+mn-cs"/>
                </a:rPr>
                <a:t>birleştiğinde oluşturacağı güvenlik açığını en baştan ortadan kaldırır.</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855984" cy="668845"/>
            <a:chOff x="609600" y="171450"/>
            <a:chExt cx="685598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616561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Rate limiting (istek sınırlama)</a:t>
              </a:r>
            </a:p>
          </p:txBody>
        </p:sp>
      </p:grpSp>
      <p:grpSp>
        <p:nvGrpSpPr>
          <p:cNvPr id="15" name="definition-box"/>
          <p:cNvGrpSpPr/>
          <p:nvPr/>
        </p:nvGrpSpPr>
        <p:grpSpPr>
          <a:xfrm>
            <a:off x="609600" y="1219200"/>
            <a:ext cx="10972800" cy="937451"/>
            <a:chOff x="609600" y="1219200"/>
            <a:chExt cx="10972800" cy="937451"/>
          </a:xfrm>
        </p:grpSpPr>
        <p:sp>
          <p:nvSpPr>
            <p:cNvPr id="12" name="Rectangle 12"/>
            <p:cNvSpPr/>
            <p:nvPr/>
          </p:nvSpPr>
          <p:spPr>
            <a:xfrm>
              <a:off x="609600" y="1219200"/>
              <a:ext cx="10972800" cy="914400"/>
            </a:xfrm>
            <a:prstGeom prst="roundRect">
              <a:avLst>
                <a:gd name="adj" fmla="val 8333"/>
              </a:avLst>
            </a:prstGeom>
            <a:solidFill>
              <a:srgbClr val="EAF4F6"/>
            </a:solidFill>
            <a:ln>
              <a:noFill/>
            </a:ln>
          </p:spPr>
        </p:sp>
        <p:sp>
          <p:nvSpPr>
            <p:cNvPr id="13" name="TextBox 13"/>
            <p:cNvSpPr txBox="1"/>
            <p:nvPr/>
          </p:nvSpPr>
          <p:spPr>
            <a:xfrm>
              <a:off x="906399" y="13539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4" name="TextBox 14"/>
            <p:cNvSpPr txBox="1"/>
            <p:nvPr/>
          </p:nvSpPr>
          <p:spPr>
            <a:xfrm>
              <a:off x="907542" y="1664018"/>
              <a:ext cx="8560498"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Bir istemcinin belirli bir zaman penceresinde gönderebileceği istek sayısını sınırlayan mekanizmadır;</a:t>
              </a:r>
              <a:br/>
              <a:r>
                <a:rPr lang="tr-TR" sz="1350" dirty="0">
                  <a:solidFill>
                    <a:srgbClr val="172B3A"/>
                  </a:solidFill>
                  <a:latin typeface="+mn-lt"/>
                  <a:ea typeface="+mn-ea"/>
                  <a:cs typeface="+mn-cs"/>
                </a:rPr>
                <a:t>sınır aşıldığında sunucu 429 Too Many Requests yanıtı döner.</a:t>
              </a:r>
            </a:p>
          </p:txBody>
        </p:sp>
      </p:grpSp>
      <p:grpSp>
        <p:nvGrpSpPr>
          <p:cNvPr id="19" name="col-bucket"/>
          <p:cNvGrpSpPr/>
          <p:nvPr/>
        </p:nvGrpSpPr>
        <p:grpSpPr>
          <a:xfrm>
            <a:off x="609600" y="2362200"/>
            <a:ext cx="5257800" cy="2857500"/>
            <a:chOff x="609600" y="2362200"/>
            <a:chExt cx="5257800" cy="2857500"/>
          </a:xfrm>
        </p:grpSpPr>
        <p:sp>
          <p:nvSpPr>
            <p:cNvPr id="16" name="Rectangle 16"/>
            <p:cNvSpPr/>
            <p:nvPr/>
          </p:nvSpPr>
          <p:spPr>
            <a:xfrm>
              <a:off x="609600" y="2362200"/>
              <a:ext cx="5257800" cy="2857500"/>
            </a:xfrm>
            <a:prstGeom prst="roundRect">
              <a:avLst>
                <a:gd name="adj" fmla="val 3333"/>
              </a:avLst>
            </a:prstGeom>
            <a:solidFill>
              <a:srgbClr val="FFFFFF"/>
            </a:solidFill>
            <a:ln w="14288">
              <a:solidFill>
                <a:srgbClr val="B8CBD3"/>
              </a:solidFill>
            </a:ln>
          </p:spPr>
        </p:sp>
        <p:sp>
          <p:nvSpPr>
            <p:cNvPr id="17" name="TextBox 17"/>
            <p:cNvSpPr txBox="1"/>
            <p:nvPr/>
          </p:nvSpPr>
          <p:spPr>
            <a:xfrm>
              <a:off x="905256" y="2567940"/>
              <a:ext cx="357843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Token Bucket / Leaky Bucket</a:t>
              </a:r>
            </a:p>
          </p:txBody>
        </p:sp>
        <p:sp>
          <p:nvSpPr>
            <p:cNvPr id="18" name="TextBox 18"/>
            <p:cNvSpPr txBox="1"/>
            <p:nvPr/>
          </p:nvSpPr>
          <p:spPr>
            <a:xfrm>
              <a:off x="907542" y="2997518"/>
              <a:ext cx="3211258" cy="15022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Her istemciye belirli hızda dolan bir</a:t>
              </a:r>
              <a:br/>
              <a:r>
                <a:rPr lang="tr-TR" sz="1350" dirty="0">
                  <a:solidFill>
                    <a:srgbClr val="172B3A"/>
                  </a:solidFill>
                  <a:latin typeface="+mn-lt"/>
                  <a:ea typeface="+mn-ea"/>
                  <a:cs typeface="+mn-cs"/>
                </a:rPr>
                <a:t>"jeton kovası" atanır; her istek bir</a:t>
              </a:r>
              <a:br/>
              <a:r>
                <a:rPr lang="tr-TR" sz="1350" dirty="0">
                  <a:solidFill>
                    <a:srgbClr val="172B3A"/>
                  </a:solidFill>
                  <a:latin typeface="+mn-lt"/>
                  <a:ea typeface="+mn-ea"/>
                  <a:cs typeface="+mn-cs"/>
                </a:rPr>
                <a:t>jeton tüketir, kova boşaldığında</a:t>
              </a:r>
              <a:br/>
              <a:r>
                <a:rPr lang="tr-TR" sz="1350" dirty="0">
                  <a:solidFill>
                    <a:srgbClr val="172B3A"/>
                  </a:solidFill>
                  <a:latin typeface="+mn-lt"/>
                  <a:ea typeface="+mn-ea"/>
                  <a:cs typeface="+mn-cs"/>
                </a:rPr>
                <a:t>istekler reddedilir. Leaky bucket ise</a:t>
              </a:r>
              <a:br/>
              <a:r>
                <a:rPr lang="tr-TR" sz="1350" dirty="0">
                  <a:solidFill>
                    <a:srgbClr val="172B3A"/>
                  </a:solidFill>
                  <a:latin typeface="+mn-lt"/>
                  <a:ea typeface="+mn-ea"/>
                  <a:cs typeface="+mn-cs"/>
                </a:rPr>
                <a:t>istekleri sabit bir hızda "sızdırarak"</a:t>
              </a:r>
              <a:br/>
              <a:r>
                <a:rPr lang="tr-TR" sz="1350" dirty="0">
                  <a:solidFill>
                    <a:srgbClr val="172B3A"/>
                  </a:solidFill>
                  <a:latin typeface="+mn-lt"/>
                  <a:ea typeface="+mn-ea"/>
                  <a:cs typeface="+mn-cs"/>
                </a:rPr>
                <a:t>işler ve ani patlamaları yumuşatır.</a:t>
              </a:r>
            </a:p>
          </p:txBody>
        </p:sp>
      </p:grpSp>
      <p:grpSp>
        <p:nvGrpSpPr>
          <p:cNvPr id="23" name="col-why"/>
          <p:cNvGrpSpPr/>
          <p:nvPr/>
        </p:nvGrpSpPr>
        <p:grpSpPr>
          <a:xfrm>
            <a:off x="6324600" y="2362200"/>
            <a:ext cx="5257800" cy="2857500"/>
            <a:chOff x="6324600" y="2362200"/>
            <a:chExt cx="5257800" cy="2857500"/>
          </a:xfrm>
        </p:grpSpPr>
        <p:sp>
          <p:nvSpPr>
            <p:cNvPr id="20" name="Rectangle 20"/>
            <p:cNvSpPr/>
            <p:nvPr/>
          </p:nvSpPr>
          <p:spPr>
            <a:xfrm>
              <a:off x="6324600" y="2362200"/>
              <a:ext cx="5257800" cy="2857500"/>
            </a:xfrm>
            <a:prstGeom prst="roundRect">
              <a:avLst>
                <a:gd name="adj" fmla="val 3333"/>
              </a:avLst>
            </a:prstGeom>
            <a:solidFill>
              <a:srgbClr val="FFFFFF"/>
            </a:solidFill>
            <a:ln w="14288">
              <a:solidFill>
                <a:srgbClr val="2E86AB"/>
              </a:solidFill>
            </a:ln>
          </p:spPr>
        </p:sp>
        <p:sp>
          <p:nvSpPr>
            <p:cNvPr id="21" name="TextBox 21"/>
            <p:cNvSpPr txBox="1"/>
            <p:nvPr/>
          </p:nvSpPr>
          <p:spPr>
            <a:xfrm>
              <a:off x="6620256" y="2567940"/>
              <a:ext cx="215081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gereklidir?</a:t>
              </a:r>
            </a:p>
          </p:txBody>
        </p:sp>
        <p:sp>
          <p:nvSpPr>
            <p:cNvPr id="22" name="TextBox 22"/>
            <p:cNvSpPr txBox="1"/>
            <p:nvPr/>
          </p:nvSpPr>
          <p:spPr>
            <a:xfrm>
              <a:off x="6622542" y="2997518"/>
              <a:ext cx="3331274" cy="15022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Kaba kuvvet (brute-force) parola</a:t>
              </a:r>
              <a:br/>
              <a:r>
                <a:rPr lang="tr-TR" sz="1350" dirty="0">
                  <a:solidFill>
                    <a:srgbClr val="172B3A"/>
                  </a:solidFill>
                  <a:latin typeface="+mn-lt"/>
                  <a:ea typeface="+mn-ea"/>
                  <a:cs typeface="+mn-cs"/>
                </a:rPr>
                <a:t>denemelerini, otomatikleştirilmiş</a:t>
              </a:r>
              <a:br/>
              <a:r>
                <a:rPr lang="tr-TR" sz="1350" dirty="0">
                  <a:solidFill>
                    <a:srgbClr val="172B3A"/>
                  </a:solidFill>
                  <a:latin typeface="+mn-lt"/>
                  <a:ea typeface="+mn-ea"/>
                  <a:cs typeface="+mn-cs"/>
                </a:rPr>
                <a:t>kazıma (scraping) saldırılarını ve tek</a:t>
              </a:r>
              <a:br/>
              <a:r>
                <a:rPr lang="tr-TR" sz="1350" dirty="0">
                  <a:solidFill>
                    <a:srgbClr val="172B3A"/>
                  </a:solidFill>
                  <a:latin typeface="+mn-lt"/>
                  <a:ea typeface="+mn-ea"/>
                  <a:cs typeface="+mn-cs"/>
                </a:rPr>
                <a:t>bir istemcinin sunucu kaynaklarını</a:t>
              </a:r>
              <a:br/>
              <a:r>
                <a:rPr lang="tr-TR" sz="1350" dirty="0">
                  <a:solidFill>
                    <a:srgbClr val="172B3A"/>
                  </a:solidFill>
                  <a:latin typeface="+mn-lt"/>
                  <a:ea typeface="+mn-ea"/>
                  <a:cs typeface="+mn-cs"/>
                </a:rPr>
                <a:t>tüketerek diğer kullanıcıları</a:t>
              </a:r>
              <a:br/>
              <a:r>
                <a:rPr lang="tr-TR" sz="1350" dirty="0">
                  <a:solidFill>
                    <a:srgbClr val="172B3A"/>
                  </a:solidFill>
                  <a:latin typeface="+mn-lt"/>
                  <a:ea typeface="+mn-ea"/>
                  <a:cs typeface="+mn-cs"/>
                </a:rPr>
                <a:t>etkilemesini önler.</a:t>
              </a:r>
            </a:p>
          </p:txBody>
        </p:sp>
      </p:grpSp>
      <p:grpSp>
        <p:nvGrpSpPr>
          <p:cNvPr id="27" name="deep-note"/>
          <p:cNvGrpSpPr/>
          <p:nvPr/>
        </p:nvGrpSpPr>
        <p:grpSpPr>
          <a:xfrm>
            <a:off x="609600" y="5257800"/>
            <a:ext cx="10972800" cy="876300"/>
            <a:chOff x="609600" y="5257800"/>
            <a:chExt cx="10972800" cy="876300"/>
          </a:xfrm>
        </p:grpSpPr>
        <p:sp>
          <p:nvSpPr>
            <p:cNvPr id="24" name="Rectangle 24"/>
            <p:cNvSpPr/>
            <p:nvPr/>
          </p:nvSpPr>
          <p:spPr>
            <a:xfrm>
              <a:off x="609600" y="5257800"/>
              <a:ext cx="10972800" cy="876300"/>
            </a:xfrm>
            <a:prstGeom prst="roundRect">
              <a:avLst>
                <a:gd name="adj" fmla="val 8696"/>
              </a:avLst>
            </a:prstGeom>
            <a:solidFill>
              <a:srgbClr val="12355B"/>
            </a:solidFill>
            <a:ln>
              <a:noFill/>
            </a:ln>
          </p:spPr>
        </p:sp>
        <p:sp>
          <p:nvSpPr>
            <p:cNvPr id="25" name="TextBox 25"/>
            <p:cNvSpPr txBox="1"/>
            <p:nvPr/>
          </p:nvSpPr>
          <p:spPr>
            <a:xfrm>
              <a:off x="906399" y="5373529"/>
              <a:ext cx="1788027"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Derinlemesine</a:t>
              </a:r>
            </a:p>
          </p:txBody>
        </p:sp>
        <p:sp>
          <p:nvSpPr>
            <p:cNvPr id="26" name="TextBox 26"/>
            <p:cNvSpPr txBox="1"/>
            <p:nvPr/>
          </p:nvSpPr>
          <p:spPr>
            <a:xfrm>
              <a:off x="907542" y="5645468"/>
              <a:ext cx="6605969" cy="473583"/>
            </a:xfrm>
            <a:prstGeom prst="rect">
              <a:avLst/>
            </a:prstGeom>
            <a:noFill/>
            <a:ln>
              <a:noFill/>
            </a:ln>
          </p:spPr>
          <p:txBody>
            <a:bodyPr wrap="none" lIns="0" tIns="0" rIns="0" bIns="0" anchor="t" anchorCtr="0">
              <a:spAutoFit/>
            </a:bodyPr>
            <a:lstStyle/>
            <a:p>
              <a:pPr algn="l">
                <a:lnSpc>
                  <a:spcPts val="1650"/>
                </a:lnSpc>
              </a:pPr>
              <a:r>
                <a:rPr lang="tr-TR" sz="1350" dirty="0">
                  <a:solidFill>
                    <a:srgbClr val="EAF4F6"/>
                  </a:solidFill>
                  <a:latin typeface="+mn-lt"/>
                  <a:ea typeface="+mn-ea"/>
                  <a:cs typeface="+mn-cs"/>
                </a:rPr>
                <a:t>Sabit pencere (fixed window) algoritması basittir fakat pencere sınırında iki</a:t>
              </a:r>
              <a:br/>
              <a:r>
                <a:rPr lang="tr-TR" sz="1350" dirty="0">
                  <a:solidFill>
                    <a:srgbClr val="EAF4F6"/>
                  </a:solidFill>
                  <a:latin typeface="+mn-lt"/>
                  <a:ea typeface="+mn-ea"/>
                  <a:cs typeface="+mn-cs"/>
                </a:rPr>
                <a:t>katı isteğe izin verebilir; kayan pencere bu sorunu azaltır.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24376" y="339090"/>
                <a:ext cx="265748" cy="236220"/>
                <a:chOff x="724376" y="339090"/>
                <a:chExt cx="265748" cy="236220"/>
              </a:xfrm>
            </p:grpSpPr>
            <p:sp>
              <p:nvSpPr>
                <p:cNvPr id="5" name="Freeform 5"/>
                <p:cNvSpPr/>
                <p:nvPr/>
              </p:nvSpPr>
              <p:spPr>
                <a:xfrm>
                  <a:off x="7243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310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277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63396" y="315278"/>
              <a:ext cx="6365922" cy="498729"/>
            </a:xfrm>
            <a:prstGeom prst="rect">
              <a:avLst/>
            </a:prstGeom>
            <a:noFill/>
            <a:ln>
              <a:noFill/>
            </a:ln>
          </p:spPr>
          <p:txBody>
            <a:bodyPr wrap="none" lIns="0" tIns="0" rIns="0" bIns="0" anchor="t" anchorCtr="0">
              <a:spAutoFit/>
            </a:bodyPr>
            <a:lstStyle/>
            <a:p>
              <a:pPr algn="l"/>
              <a:r>
                <a:rPr lang="tr-TR" sz="2550" b="1" dirty="0">
                  <a:solidFill>
                    <a:srgbClr val="F7FAFC"/>
                  </a:solidFill>
                  <a:latin typeface="+mj-lt"/>
                  <a:ea typeface="+mj-ea"/>
                  <a:cs typeface="+mj-cs"/>
                </a:rPr>
                <a:t>Kod 11.5 · SabitPencereRateLimiter</a:t>
              </a:r>
            </a:p>
          </p:txBody>
        </p:sp>
      </p:grpSp>
      <p:grpSp>
        <p:nvGrpSpPr>
          <p:cNvPr id="31" name="code-panel"/>
          <p:cNvGrpSpPr/>
          <p:nvPr/>
        </p:nvGrpSpPr>
        <p:grpSpPr>
          <a:xfrm>
            <a:off x="571500" y="1295400"/>
            <a:ext cx="6477000" cy="4045220"/>
            <a:chOff x="571500" y="1295400"/>
            <a:chExt cx="6477000" cy="4045220"/>
          </a:xfrm>
        </p:grpSpPr>
        <p:sp>
          <p:nvSpPr>
            <p:cNvPr id="12" name="Rectangle 12"/>
            <p:cNvSpPr/>
            <p:nvPr/>
          </p:nvSpPr>
          <p:spPr>
            <a:xfrm>
              <a:off x="571500" y="1295400"/>
              <a:ext cx="6477000" cy="3905250"/>
            </a:xfrm>
            <a:prstGeom prst="rect">
              <a:avLst/>
            </a:prstGeom>
            <a:solidFill>
              <a:srgbClr val="12355B"/>
            </a:solidFill>
            <a:ln>
              <a:noFill/>
            </a:ln>
          </p:spPr>
        </p:sp>
        <p:sp>
          <p:nvSpPr>
            <p:cNvPr id="13" name="TextBox 13"/>
            <p:cNvSpPr txBox="1"/>
            <p:nvPr/>
          </p:nvSpPr>
          <p:spPr>
            <a:xfrm>
              <a:off x="794194" y="1474708"/>
              <a:ext cx="2695855"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class SabitPencereRateLimiter {</a:t>
              </a:r>
            </a:p>
          </p:txBody>
        </p:sp>
        <p:sp>
          <p:nvSpPr>
            <p:cNvPr id="14" name="TextBox 14"/>
            <p:cNvSpPr txBox="1"/>
            <p:nvPr/>
          </p:nvSpPr>
          <p:spPr>
            <a:xfrm>
              <a:off x="1032320" y="1684258"/>
              <a:ext cx="2938110"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private sayaclar = new Map&lt;string,</a:t>
              </a:r>
            </a:p>
          </p:txBody>
        </p:sp>
        <p:sp>
          <p:nvSpPr>
            <p:cNvPr id="15" name="TextBox 15"/>
            <p:cNvSpPr txBox="1"/>
            <p:nvPr/>
          </p:nvSpPr>
          <p:spPr>
            <a:xfrm>
              <a:off x="1270444" y="1893808"/>
              <a:ext cx="2852271"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 adet: number; pencereBaslangic:</a:t>
              </a:r>
            </a:p>
          </p:txBody>
        </p:sp>
        <p:sp>
          <p:nvSpPr>
            <p:cNvPr id="16" name="TextBox 16"/>
            <p:cNvSpPr txBox="1"/>
            <p:nvPr/>
          </p:nvSpPr>
          <p:spPr>
            <a:xfrm>
              <a:off x="1270444" y="2103358"/>
              <a:ext cx="1042462"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number }&gt;();</a:t>
              </a:r>
            </a:p>
          </p:txBody>
        </p:sp>
        <p:sp>
          <p:nvSpPr>
            <p:cNvPr id="17" name="TextBox 17"/>
            <p:cNvSpPr txBox="1"/>
            <p:nvPr/>
          </p:nvSpPr>
          <p:spPr>
            <a:xfrm>
              <a:off x="794194" y="2389108"/>
              <a:ext cx="3202056"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izinVer(istemciId: string): boolean {</a:t>
              </a:r>
            </a:p>
          </p:txBody>
        </p:sp>
        <p:sp>
          <p:nvSpPr>
            <p:cNvPr id="18" name="TextBox 18"/>
            <p:cNvSpPr txBox="1"/>
            <p:nvPr/>
          </p:nvSpPr>
          <p:spPr>
            <a:xfrm>
              <a:off x="1032320" y="2598658"/>
              <a:ext cx="216614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const simdi = Date.now();</a:t>
              </a:r>
            </a:p>
          </p:txBody>
        </p:sp>
        <p:sp>
          <p:nvSpPr>
            <p:cNvPr id="19" name="TextBox 19"/>
            <p:cNvSpPr txBox="1"/>
            <p:nvPr/>
          </p:nvSpPr>
          <p:spPr>
            <a:xfrm>
              <a:off x="1032320" y="2808208"/>
              <a:ext cx="3711125"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const kayit = this.sayaclar.get(istemciId);</a:t>
              </a:r>
            </a:p>
          </p:txBody>
        </p:sp>
        <p:sp>
          <p:nvSpPr>
            <p:cNvPr id="20" name="TextBox 20"/>
            <p:cNvSpPr txBox="1"/>
            <p:nvPr/>
          </p:nvSpPr>
          <p:spPr>
            <a:xfrm>
              <a:off x="1032320" y="3017758"/>
              <a:ext cx="112834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if (!kayit ||</a:t>
              </a:r>
            </a:p>
          </p:txBody>
        </p:sp>
        <p:sp>
          <p:nvSpPr>
            <p:cNvPr id="21" name="TextBox 21"/>
            <p:cNvSpPr txBox="1"/>
            <p:nvPr/>
          </p:nvSpPr>
          <p:spPr>
            <a:xfrm>
              <a:off x="1270444" y="3227308"/>
              <a:ext cx="3626942"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simdi - kayit.pencereBaslangic &gt; 60_000) {</a:t>
              </a:r>
            </a:p>
          </p:txBody>
        </p:sp>
        <p:sp>
          <p:nvSpPr>
            <p:cNvPr id="22" name="TextBox 22"/>
            <p:cNvSpPr txBox="1"/>
            <p:nvPr/>
          </p:nvSpPr>
          <p:spPr>
            <a:xfrm>
              <a:off x="1270444" y="3436858"/>
              <a:ext cx="2422335"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this.sayaclar.set(istemciId,</a:t>
              </a:r>
            </a:p>
          </p:txBody>
        </p:sp>
        <p:sp>
          <p:nvSpPr>
            <p:cNvPr id="23" name="TextBox 23"/>
            <p:cNvSpPr txBox="1"/>
            <p:nvPr/>
          </p:nvSpPr>
          <p:spPr>
            <a:xfrm>
              <a:off x="1518094" y="3646408"/>
              <a:ext cx="3282928"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 adet: 1, pencereBaslangic: simdi });</a:t>
              </a:r>
            </a:p>
          </p:txBody>
        </p:sp>
        <p:sp>
          <p:nvSpPr>
            <p:cNvPr id="24" name="TextBox 24"/>
            <p:cNvSpPr txBox="1"/>
            <p:nvPr/>
          </p:nvSpPr>
          <p:spPr>
            <a:xfrm>
              <a:off x="1270444" y="3855958"/>
              <a:ext cx="1042462"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return true;</a:t>
              </a:r>
            </a:p>
          </p:txBody>
        </p:sp>
        <p:sp>
          <p:nvSpPr>
            <p:cNvPr id="25" name="TextBox 25"/>
            <p:cNvSpPr txBox="1"/>
            <p:nvPr/>
          </p:nvSpPr>
          <p:spPr>
            <a:xfrm>
              <a:off x="1032320" y="406550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26" name="TextBox 26"/>
            <p:cNvSpPr txBox="1"/>
            <p:nvPr/>
          </p:nvSpPr>
          <p:spPr>
            <a:xfrm>
              <a:off x="1032320" y="4275058"/>
              <a:ext cx="3103763"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if (kayit.adet &gt;= 100) return false;</a:t>
              </a:r>
            </a:p>
          </p:txBody>
        </p:sp>
        <p:sp>
          <p:nvSpPr>
            <p:cNvPr id="27" name="TextBox 27"/>
            <p:cNvSpPr txBox="1"/>
            <p:nvPr/>
          </p:nvSpPr>
          <p:spPr>
            <a:xfrm>
              <a:off x="1032320" y="4484608"/>
              <a:ext cx="112834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kayit.adet++;</a:t>
              </a:r>
            </a:p>
          </p:txBody>
        </p:sp>
        <p:sp>
          <p:nvSpPr>
            <p:cNvPr id="28" name="TextBox 28"/>
            <p:cNvSpPr txBox="1"/>
            <p:nvPr/>
          </p:nvSpPr>
          <p:spPr>
            <a:xfrm>
              <a:off x="1032320" y="4694158"/>
              <a:ext cx="1042462"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return true;</a:t>
              </a:r>
            </a:p>
          </p:txBody>
        </p:sp>
        <p:sp>
          <p:nvSpPr>
            <p:cNvPr id="29" name="TextBox 29"/>
            <p:cNvSpPr txBox="1"/>
            <p:nvPr/>
          </p:nvSpPr>
          <p:spPr>
            <a:xfrm>
              <a:off x="794194" y="490370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30" name="TextBox 30"/>
            <p:cNvSpPr txBox="1"/>
            <p:nvPr/>
          </p:nvSpPr>
          <p:spPr>
            <a:xfrm>
              <a:off x="794194" y="511325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grpSp>
      <p:grpSp>
        <p:nvGrpSpPr>
          <p:cNvPr id="34" name="code-purpose"/>
          <p:cNvGrpSpPr/>
          <p:nvPr/>
        </p:nvGrpSpPr>
        <p:grpSpPr>
          <a:xfrm>
            <a:off x="7267956" y="1482090"/>
            <a:ext cx="3262503" cy="1119283"/>
            <a:chOff x="7267956" y="1482090"/>
            <a:chExt cx="3262503" cy="1119283"/>
          </a:xfrm>
        </p:grpSpPr>
        <p:sp>
          <p:nvSpPr>
            <p:cNvPr id="32" name="TextBox 32"/>
            <p:cNvSpPr txBox="1"/>
            <p:nvPr/>
          </p:nvSpPr>
          <p:spPr>
            <a:xfrm>
              <a:off x="7267956" y="1482090"/>
              <a:ext cx="155352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Kodun amacı</a:t>
              </a:r>
            </a:p>
          </p:txBody>
        </p:sp>
        <p:sp>
          <p:nvSpPr>
            <p:cNvPr id="33" name="TextBox 33"/>
            <p:cNvSpPr txBox="1"/>
            <p:nvPr/>
          </p:nvSpPr>
          <p:spPr>
            <a:xfrm>
              <a:off x="7269861" y="1827371"/>
              <a:ext cx="3260598" cy="77400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Sabit pencere algoritmasının bellek</a:t>
              </a:r>
              <a:br/>
              <a:r>
                <a:rPr lang="tr-TR" sz="1420" dirty="0">
                  <a:solidFill>
                    <a:srgbClr val="172B3A"/>
                  </a:solidFill>
                  <a:latin typeface="+mn-lt"/>
                  <a:ea typeface="+mn-ea"/>
                  <a:cs typeface="+mn-cs"/>
                </a:rPr>
                <a:t>içinde, istemci başına sayaç tutarak</a:t>
              </a:r>
              <a:br/>
              <a:r>
                <a:rPr lang="tr-TR" sz="1420" dirty="0">
                  <a:solidFill>
                    <a:srgbClr val="172B3A"/>
                  </a:solidFill>
                  <a:latin typeface="+mn-lt"/>
                  <a:ea typeface="+mn-ea"/>
                  <a:cs typeface="+mn-cs"/>
                </a:rPr>
                <a:t>nasıl uygulanabileceğini göstermek.</a:t>
              </a:r>
            </a:p>
          </p:txBody>
        </p:sp>
      </p:grpSp>
      <p:grpSp>
        <p:nvGrpSpPr>
          <p:cNvPr id="38" name="code-critical"/>
          <p:cNvGrpSpPr/>
          <p:nvPr/>
        </p:nvGrpSpPr>
        <p:grpSpPr>
          <a:xfrm>
            <a:off x="7267956" y="2777490"/>
            <a:ext cx="2636520" cy="1328166"/>
            <a:chOff x="7267956" y="2777490"/>
            <a:chExt cx="2636520" cy="1328166"/>
          </a:xfrm>
        </p:grpSpPr>
        <p:sp>
          <p:nvSpPr>
            <p:cNvPr id="35" name="TextBox 35"/>
            <p:cNvSpPr txBox="1"/>
            <p:nvPr/>
          </p:nvSpPr>
          <p:spPr>
            <a:xfrm>
              <a:off x="7267956" y="2777490"/>
              <a:ext cx="18703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Kritik satırlar</a:t>
              </a:r>
            </a:p>
          </p:txBody>
        </p:sp>
        <p:sp>
          <p:nvSpPr>
            <p:cNvPr id="36" name="TextBox 36"/>
            <p:cNvSpPr txBox="1"/>
            <p:nvPr/>
          </p:nvSpPr>
          <p:spPr>
            <a:xfrm>
              <a:off x="7271004" y="3128010"/>
              <a:ext cx="26334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 Pencere süresi dolduğunda sayaç</a:t>
              </a:r>
              <a:br/>
              <a:r>
                <a:rPr lang="tr-TR" sz="1200" dirty="0">
                  <a:solidFill>
                    <a:srgbClr val="172B3A"/>
                  </a:solidFill>
                  <a:latin typeface="+mn-lt"/>
                  <a:ea typeface="+mn-ea"/>
                  <a:cs typeface="+mn-cs"/>
                </a:rPr>
                <a:t>sıfırlanıp yeniden başlatılır.</a:t>
              </a:r>
            </a:p>
          </p:txBody>
        </p:sp>
        <p:sp>
          <p:nvSpPr>
            <p:cNvPr id="37" name="TextBox 37"/>
            <p:cNvSpPr txBox="1"/>
            <p:nvPr/>
          </p:nvSpPr>
          <p:spPr>
            <a:xfrm>
              <a:off x="7271004" y="3661410"/>
              <a:ext cx="24658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 Sınır (100) aşıldığında false</a:t>
              </a:r>
              <a:br/>
              <a:r>
                <a:rPr lang="tr-TR" sz="1200" dirty="0">
                  <a:solidFill>
                    <a:srgbClr val="172B3A"/>
                  </a:solidFill>
                  <a:latin typeface="+mn-lt"/>
                  <a:ea typeface="+mn-ea"/>
                  <a:cs typeface="+mn-cs"/>
                </a:rPr>
                <a:t>döner — çağıran 429 üretmelidir.</a:t>
              </a:r>
            </a:p>
          </p:txBody>
        </p:sp>
      </p:grpSp>
      <p:grpSp>
        <p:nvGrpSpPr>
          <p:cNvPr id="42" name="code-caution"/>
          <p:cNvGrpSpPr/>
          <p:nvPr/>
        </p:nvGrpSpPr>
        <p:grpSpPr>
          <a:xfrm>
            <a:off x="7277100" y="4552950"/>
            <a:ext cx="3572256" cy="1000506"/>
            <a:chOff x="7277100" y="4552950"/>
            <a:chExt cx="3572256" cy="1000506"/>
          </a:xfrm>
        </p:grpSpPr>
        <p:sp>
          <p:nvSpPr>
            <p:cNvPr id="39" name="Rectangle 39"/>
            <p:cNvSpPr/>
            <p:nvPr/>
          </p:nvSpPr>
          <p:spPr>
            <a:xfrm>
              <a:off x="7277100" y="4552950"/>
              <a:ext cx="57150" cy="819150"/>
            </a:xfrm>
            <a:prstGeom prst="rect">
              <a:avLst/>
            </a:prstGeom>
            <a:solidFill>
              <a:srgbClr val="2E86AB"/>
            </a:solidFill>
            <a:ln>
              <a:noFill/>
            </a:ln>
          </p:spPr>
        </p:sp>
        <p:sp>
          <p:nvSpPr>
            <p:cNvPr id="40" name="TextBox 40"/>
            <p:cNvSpPr txBox="1"/>
            <p:nvPr/>
          </p:nvSpPr>
          <p:spPr>
            <a:xfrm>
              <a:off x="7499604" y="465201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 noktası</a:t>
              </a:r>
            </a:p>
          </p:txBody>
        </p:sp>
        <p:sp>
          <p:nvSpPr>
            <p:cNvPr id="41" name="TextBox 41"/>
            <p:cNvSpPr txBox="1"/>
            <p:nvPr/>
          </p:nvSpPr>
          <p:spPr>
            <a:xfrm>
              <a:off x="7499604" y="4899660"/>
              <a:ext cx="33497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Bellek içi Map, çok sunuculu (multi-instance)</a:t>
              </a:r>
              <a:br/>
              <a:r>
                <a:rPr lang="tr-TR" sz="1200" dirty="0">
                  <a:solidFill>
                    <a:srgbClr val="52616B"/>
                  </a:solidFill>
                  <a:latin typeface="+mn-lt"/>
                  <a:ea typeface="+mn-ea"/>
                  <a:cs typeface="+mn-cs"/>
                </a:rPr>
                <a:t>dağıtımda paylaşılmaz; üretimde Redis gibi</a:t>
              </a:r>
              <a:br/>
              <a:r>
                <a:rPr lang="tr-TR" sz="1200" dirty="0">
                  <a:solidFill>
                    <a:srgbClr val="52616B"/>
                  </a:solidFill>
                  <a:latin typeface="+mn-lt"/>
                  <a:ea typeface="+mn-ea"/>
                  <a:cs typeface="+mn-cs"/>
                </a:rPr>
                <a:t>paylaşımlı bir depo gerekir.</a:t>
              </a:r>
            </a:p>
          </p:txBody>
        </p:sp>
      </p:grpSp>
      <p:grpSp>
        <p:nvGrpSpPr>
          <p:cNvPr id="44" name="code-takeaway"/>
          <p:cNvGrpSpPr/>
          <p:nvPr/>
        </p:nvGrpSpPr>
        <p:grpSpPr>
          <a:xfrm>
            <a:off x="564261" y="5694521"/>
            <a:ext cx="8355203" cy="526352"/>
            <a:chOff x="564261" y="5694521"/>
            <a:chExt cx="8355203" cy="526352"/>
          </a:xfrm>
        </p:grpSpPr>
        <p:sp>
          <p:nvSpPr>
            <p:cNvPr id="43" name="TextBox 43"/>
            <p:cNvSpPr txBox="1"/>
            <p:nvPr/>
          </p:nvSpPr>
          <p:spPr>
            <a:xfrm>
              <a:off x="564261" y="5694521"/>
              <a:ext cx="8355203" cy="52635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Kavramı öğrenmek için bellek içi uygulama yeterlidir; production'da express-rate-limit + Redis</a:t>
              </a:r>
              <a:br/>
              <a:r>
                <a:rPr lang="tr-TR" sz="1420" dirty="0">
                  <a:solidFill>
                    <a:srgbClr val="172B3A"/>
                  </a:solidFill>
                  <a:latin typeface="+mn-lt"/>
                  <a:ea typeface="+mn-ea"/>
                  <a:cs typeface="+mn-cs"/>
                </a:rPr>
                <a:t>gibi hazır ve dağıtık çözümler tercih edilmelidir.</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5285852" cy="668845"/>
            <a:chOff x="609600" y="171450"/>
            <a:chExt cx="528585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459548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Secrets (sır) yönetimi</a:t>
              </a:r>
            </a:p>
          </p:txBody>
        </p:sp>
      </p:grpSp>
      <p:grpSp>
        <p:nvGrpSpPr>
          <p:cNvPr id="15" name="definition-box"/>
          <p:cNvGrpSpPr/>
          <p:nvPr/>
        </p:nvGrpSpPr>
        <p:grpSpPr>
          <a:xfrm>
            <a:off x="609600" y="1219200"/>
            <a:ext cx="10972800" cy="937451"/>
            <a:chOff x="609600" y="1219200"/>
            <a:chExt cx="10972800" cy="937451"/>
          </a:xfrm>
        </p:grpSpPr>
        <p:sp>
          <p:nvSpPr>
            <p:cNvPr id="12" name="Rectangle 12"/>
            <p:cNvSpPr/>
            <p:nvPr/>
          </p:nvSpPr>
          <p:spPr>
            <a:xfrm>
              <a:off x="609600" y="1219200"/>
              <a:ext cx="10972800" cy="914400"/>
            </a:xfrm>
            <a:prstGeom prst="roundRect">
              <a:avLst>
                <a:gd name="adj" fmla="val 8333"/>
              </a:avLst>
            </a:prstGeom>
            <a:solidFill>
              <a:srgbClr val="EAF4F6"/>
            </a:solidFill>
            <a:ln>
              <a:noFill/>
            </a:ln>
          </p:spPr>
        </p:sp>
        <p:sp>
          <p:nvSpPr>
            <p:cNvPr id="13" name="TextBox 13"/>
            <p:cNvSpPr txBox="1"/>
            <p:nvPr/>
          </p:nvSpPr>
          <p:spPr>
            <a:xfrm>
              <a:off x="906399" y="13539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4" name="TextBox 14"/>
            <p:cNvSpPr txBox="1"/>
            <p:nvPr/>
          </p:nvSpPr>
          <p:spPr>
            <a:xfrm>
              <a:off x="907542" y="1664018"/>
              <a:ext cx="8226171"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API anahtarı, veritabanı şifresi, imzalama anahtarı gibi hassas yapılandırma değerlerinin kaynak</a:t>
              </a:r>
              <a:br/>
              <a:r>
                <a:rPr lang="tr-TR" sz="1350" dirty="0">
                  <a:solidFill>
                    <a:srgbClr val="172B3A"/>
                  </a:solidFill>
                  <a:latin typeface="+mn-lt"/>
                  <a:ea typeface="+mn-ea"/>
                  <a:cs typeface="+mn-cs"/>
                </a:rPr>
                <a:t>koduna yazılmadan, ortam değişkenleri üzerinden güvenli biçimde uygulamaya sağlanmasıdır.</a:t>
              </a:r>
            </a:p>
          </p:txBody>
        </p:sp>
      </p:grpSp>
      <p:grpSp>
        <p:nvGrpSpPr>
          <p:cNvPr id="19" name="col-12factor"/>
          <p:cNvGrpSpPr/>
          <p:nvPr/>
        </p:nvGrpSpPr>
        <p:grpSpPr>
          <a:xfrm>
            <a:off x="609600" y="2362200"/>
            <a:ext cx="5257800" cy="2857500"/>
            <a:chOff x="609600" y="2362200"/>
            <a:chExt cx="5257800" cy="2857500"/>
          </a:xfrm>
        </p:grpSpPr>
        <p:sp>
          <p:nvSpPr>
            <p:cNvPr id="16" name="Rectangle 16"/>
            <p:cNvSpPr/>
            <p:nvPr/>
          </p:nvSpPr>
          <p:spPr>
            <a:xfrm>
              <a:off x="609600" y="2362200"/>
              <a:ext cx="5257800" cy="2857500"/>
            </a:xfrm>
            <a:prstGeom prst="roundRect">
              <a:avLst>
                <a:gd name="adj" fmla="val 3333"/>
              </a:avLst>
            </a:prstGeom>
            <a:solidFill>
              <a:srgbClr val="FFFFFF"/>
            </a:solidFill>
            <a:ln w="14288">
              <a:solidFill>
                <a:srgbClr val="B8CBD3"/>
              </a:solidFill>
            </a:ln>
          </p:spPr>
        </p:sp>
        <p:sp>
          <p:nvSpPr>
            <p:cNvPr id="17" name="TextBox 17"/>
            <p:cNvSpPr txBox="1"/>
            <p:nvPr/>
          </p:nvSpPr>
          <p:spPr>
            <a:xfrm>
              <a:off x="905256" y="2567940"/>
              <a:ext cx="234696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Twelve-Factor App</a:t>
              </a:r>
            </a:p>
          </p:txBody>
        </p:sp>
        <p:sp>
          <p:nvSpPr>
            <p:cNvPr id="18" name="TextBox 18"/>
            <p:cNvSpPr txBox="1"/>
            <p:nvPr/>
          </p:nvSpPr>
          <p:spPr>
            <a:xfrm>
              <a:off x="907542" y="2997518"/>
              <a:ext cx="3751326" cy="15022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Heroku mühendislerinin 2011'de</a:t>
              </a:r>
              <a:br/>
              <a:r>
                <a:rPr lang="tr-TR" sz="1350" dirty="0">
                  <a:solidFill>
                    <a:srgbClr val="172B3A"/>
                  </a:solidFill>
                  <a:latin typeface="+mn-lt"/>
                  <a:ea typeface="+mn-ea"/>
                  <a:cs typeface="+mn-cs"/>
                </a:rPr>
                <a:t>yayınladığı ilkeler kümesi, yapılandırmanın</a:t>
              </a:r>
              <a:br/>
              <a:r>
                <a:rPr lang="tr-TR" sz="1350" dirty="0">
                  <a:solidFill>
                    <a:srgbClr val="172B3A"/>
                  </a:solidFill>
                  <a:latin typeface="+mn-lt"/>
                  <a:ea typeface="+mn-ea"/>
                  <a:cs typeface="+mn-cs"/>
                </a:rPr>
                <a:t>koddan kesin biçimde ayrılıp ortam</a:t>
              </a:r>
              <a:br/>
              <a:r>
                <a:rPr lang="tr-TR" sz="1350" dirty="0">
                  <a:solidFill>
                    <a:srgbClr val="172B3A"/>
                  </a:solidFill>
                  <a:latin typeface="+mn-lt"/>
                  <a:ea typeface="+mn-ea"/>
                  <a:cs typeface="+mn-cs"/>
                </a:rPr>
                <a:t>değişkenlerinde tutulmasını savunur —</a:t>
              </a:r>
              <a:br/>
              <a:r>
                <a:rPr lang="tr-TR" sz="1350" dirty="0">
                  <a:solidFill>
                    <a:srgbClr val="172B3A"/>
                  </a:solidFill>
                  <a:latin typeface="+mn-lt"/>
                  <a:ea typeface="+mn-ea"/>
                  <a:cs typeface="+mn-cs"/>
                </a:rPr>
                <a:t>böylece kod tabanı hangi ortama</a:t>
              </a:r>
              <a:br/>
              <a:r>
                <a:rPr lang="tr-TR" sz="1350" dirty="0">
                  <a:solidFill>
                    <a:srgbClr val="172B3A"/>
                  </a:solidFill>
                  <a:latin typeface="+mn-lt"/>
                  <a:ea typeface="+mn-ea"/>
                  <a:cs typeface="+mn-cs"/>
                </a:rPr>
                <a:t>dağıtıldığından bağımsız kalır.</a:t>
              </a:r>
            </a:p>
          </p:txBody>
        </p:sp>
      </p:grpSp>
      <p:grpSp>
        <p:nvGrpSpPr>
          <p:cNvPr id="23" name="col-failfast"/>
          <p:cNvGrpSpPr/>
          <p:nvPr/>
        </p:nvGrpSpPr>
        <p:grpSpPr>
          <a:xfrm>
            <a:off x="6324600" y="2362200"/>
            <a:ext cx="5257800" cy="2857500"/>
            <a:chOff x="6324600" y="2362200"/>
            <a:chExt cx="5257800" cy="2857500"/>
          </a:xfrm>
        </p:grpSpPr>
        <p:sp>
          <p:nvSpPr>
            <p:cNvPr id="20" name="Rectangle 20"/>
            <p:cNvSpPr/>
            <p:nvPr/>
          </p:nvSpPr>
          <p:spPr>
            <a:xfrm>
              <a:off x="6324600" y="2362200"/>
              <a:ext cx="5257800" cy="2857500"/>
            </a:xfrm>
            <a:prstGeom prst="roundRect">
              <a:avLst>
                <a:gd name="adj" fmla="val 3333"/>
              </a:avLst>
            </a:prstGeom>
            <a:solidFill>
              <a:srgbClr val="FFFFFF"/>
            </a:solidFill>
            <a:ln w="14288">
              <a:solidFill>
                <a:srgbClr val="2E86AB"/>
              </a:solidFill>
            </a:ln>
          </p:spPr>
        </p:sp>
        <p:sp>
          <p:nvSpPr>
            <p:cNvPr id="21" name="TextBox 21"/>
            <p:cNvSpPr txBox="1"/>
            <p:nvPr/>
          </p:nvSpPr>
          <p:spPr>
            <a:xfrm>
              <a:off x="6620256" y="2567940"/>
              <a:ext cx="222690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Fail-fast prensibi</a:t>
              </a:r>
            </a:p>
          </p:txBody>
        </p:sp>
        <p:sp>
          <p:nvSpPr>
            <p:cNvPr id="22" name="TextBox 22"/>
            <p:cNvSpPr txBox="1"/>
            <p:nvPr/>
          </p:nvSpPr>
          <p:spPr>
            <a:xfrm>
              <a:off x="6622542" y="2997518"/>
              <a:ext cx="3348418" cy="15022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Zorunlu bir secret eksikse uygulama</a:t>
              </a:r>
              <a:br/>
              <a:r>
                <a:rPr lang="tr-TR" sz="1350" dirty="0">
                  <a:solidFill>
                    <a:srgbClr val="172B3A"/>
                  </a:solidFill>
                  <a:latin typeface="+mn-lt"/>
                  <a:ea typeface="+mn-ea"/>
                  <a:cs typeface="+mn-cs"/>
                </a:rPr>
                <a:t>isteğe yanıt vermeye çalışmadan,</a:t>
              </a:r>
              <a:br/>
              <a:r>
                <a:rPr lang="tr-TR" sz="1350" dirty="0">
                  <a:solidFill>
                    <a:srgbClr val="172B3A"/>
                  </a:solidFill>
                  <a:latin typeface="+mn-lt"/>
                  <a:ea typeface="+mn-ea"/>
                  <a:cs typeface="+mn-cs"/>
                </a:rPr>
                <a:t>başlangıçta hemen çökmelidir. Aksi</a:t>
              </a:r>
              <a:br/>
              <a:r>
                <a:rPr lang="tr-TR" sz="1350" dirty="0">
                  <a:solidFill>
                    <a:srgbClr val="172B3A"/>
                  </a:solidFill>
                  <a:latin typeface="+mn-lt"/>
                  <a:ea typeface="+mn-ea"/>
                  <a:cs typeface="+mn-cs"/>
                </a:rPr>
                <a:t>hâlde eksik yapılandırma production'da</a:t>
              </a:r>
              <a:br/>
              <a:r>
                <a:rPr lang="tr-TR" sz="1350" dirty="0">
                  <a:solidFill>
                    <a:srgbClr val="172B3A"/>
                  </a:solidFill>
                  <a:latin typeface="+mn-lt"/>
                  <a:ea typeface="+mn-ea"/>
                  <a:cs typeface="+mn-cs"/>
                </a:rPr>
                <a:t>sessizce hatalı davranışa veya güvenlik</a:t>
              </a:r>
              <a:br/>
              <a:r>
                <a:rPr lang="tr-TR" sz="1350" dirty="0">
                  <a:solidFill>
                    <a:srgbClr val="172B3A"/>
                  </a:solidFill>
                  <a:latin typeface="+mn-lt"/>
                  <a:ea typeface="+mn-ea"/>
                  <a:cs typeface="+mn-cs"/>
                </a:rPr>
                <a:t>açığına dönüşebilir.</a:t>
              </a:r>
            </a:p>
          </p:txBody>
        </p:sp>
      </p:grpSp>
      <p:grpSp>
        <p:nvGrpSpPr>
          <p:cNvPr id="27" name="tip-note"/>
          <p:cNvGrpSpPr/>
          <p:nvPr/>
        </p:nvGrpSpPr>
        <p:grpSpPr>
          <a:xfrm>
            <a:off x="609600" y="5257800"/>
            <a:ext cx="10972800" cy="876300"/>
            <a:chOff x="609600" y="5257800"/>
            <a:chExt cx="10972800" cy="876300"/>
          </a:xfrm>
        </p:grpSpPr>
        <p:sp>
          <p:nvSpPr>
            <p:cNvPr id="24" name="Rectangle 24"/>
            <p:cNvSpPr/>
            <p:nvPr/>
          </p:nvSpPr>
          <p:spPr>
            <a:xfrm>
              <a:off x="609600" y="5257800"/>
              <a:ext cx="10972800" cy="876300"/>
            </a:xfrm>
            <a:prstGeom prst="roundRect">
              <a:avLst>
                <a:gd name="adj" fmla="val 8696"/>
              </a:avLst>
            </a:prstGeom>
            <a:solidFill>
              <a:srgbClr val="12355B"/>
            </a:solidFill>
            <a:ln>
              <a:noFill/>
            </a:ln>
          </p:spPr>
        </p:sp>
        <p:sp>
          <p:nvSpPr>
            <p:cNvPr id="25" name="TextBox 25"/>
            <p:cNvSpPr txBox="1"/>
            <p:nvPr/>
          </p:nvSpPr>
          <p:spPr>
            <a:xfrm>
              <a:off x="906399" y="5373529"/>
              <a:ext cx="930747"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İpucu</a:t>
              </a:r>
            </a:p>
          </p:txBody>
        </p:sp>
        <p:sp>
          <p:nvSpPr>
            <p:cNvPr id="26" name="TextBox 26"/>
            <p:cNvSpPr txBox="1"/>
            <p:nvPr/>
          </p:nvSpPr>
          <p:spPr>
            <a:xfrm>
              <a:off x="907542" y="5645468"/>
              <a:ext cx="6597396" cy="473583"/>
            </a:xfrm>
            <a:prstGeom prst="rect">
              <a:avLst/>
            </a:prstGeom>
            <a:noFill/>
            <a:ln>
              <a:noFill/>
            </a:ln>
          </p:spPr>
          <p:txBody>
            <a:bodyPr wrap="none" lIns="0" tIns="0" rIns="0" bIns="0" anchor="t" anchorCtr="0">
              <a:spAutoFit/>
            </a:bodyPr>
            <a:lstStyle/>
            <a:p>
              <a:pPr algn="l">
                <a:lnSpc>
                  <a:spcPts val="1650"/>
                </a:lnSpc>
              </a:pPr>
              <a:r>
                <a:rPr lang="tr-TR" sz="1350" dirty="0">
                  <a:solidFill>
                    <a:srgbClr val="EAF4F6"/>
                  </a:solidFill>
                  <a:latin typeface="+mn-lt"/>
                  <a:ea typeface="+mn-ea"/>
                  <a:cs typeface="+mn-cs"/>
                </a:rPr>
                <a:t>.env dosyaları asla sürüm kontrolüne eklenmemeli; .gitignore'da yer almalı ve</a:t>
              </a:r>
              <a:br/>
              <a:r>
                <a:rPr lang="tr-TR" sz="1350" dirty="0">
                  <a:solidFill>
                    <a:srgbClr val="EAF4F6"/>
                  </a:solidFill>
                  <a:latin typeface="+mn-lt"/>
                  <a:ea typeface="+mn-ea"/>
                  <a:cs typeface="+mn-cs"/>
                </a:rPr>
                <a:t>yalnızca .env.example şablonu paylaşılmalıdır.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24376" y="339090"/>
                <a:ext cx="265748" cy="236220"/>
                <a:chOff x="724376" y="339090"/>
                <a:chExt cx="265748" cy="236220"/>
              </a:xfrm>
            </p:grpSpPr>
            <p:sp>
              <p:nvSpPr>
                <p:cNvPr id="5" name="Freeform 5"/>
                <p:cNvSpPr/>
                <p:nvPr/>
              </p:nvSpPr>
              <p:spPr>
                <a:xfrm>
                  <a:off x="7243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310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277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63396" y="315278"/>
              <a:ext cx="5977359" cy="498729"/>
            </a:xfrm>
            <a:prstGeom prst="rect">
              <a:avLst/>
            </a:prstGeom>
            <a:noFill/>
            <a:ln>
              <a:noFill/>
            </a:ln>
          </p:spPr>
          <p:txBody>
            <a:bodyPr wrap="none" lIns="0" tIns="0" rIns="0" bIns="0" anchor="t" anchorCtr="0">
              <a:spAutoFit/>
            </a:bodyPr>
            <a:lstStyle/>
            <a:p>
              <a:pPr algn="l"/>
              <a:r>
                <a:rPr lang="tr-TR" sz="2550" b="1" dirty="0">
                  <a:solidFill>
                    <a:srgbClr val="F7FAFC"/>
                  </a:solidFill>
                  <a:latin typeface="+mj-lt"/>
                  <a:ea typeface="+mj-ea"/>
                  <a:cs typeface="+mj-cs"/>
                </a:rPr>
                <a:t>Kod 11.6 · zorunluSecretlariYukle</a:t>
              </a:r>
            </a:p>
          </p:txBody>
        </p:sp>
      </p:grpSp>
      <p:grpSp>
        <p:nvGrpSpPr>
          <p:cNvPr id="31" name="code-panel"/>
          <p:cNvGrpSpPr/>
          <p:nvPr/>
        </p:nvGrpSpPr>
        <p:grpSpPr>
          <a:xfrm>
            <a:off x="571500" y="1295400"/>
            <a:ext cx="6477000" cy="4045220"/>
            <a:chOff x="571500" y="1295400"/>
            <a:chExt cx="6477000" cy="4045220"/>
          </a:xfrm>
        </p:grpSpPr>
        <p:sp>
          <p:nvSpPr>
            <p:cNvPr id="12" name="Rectangle 12"/>
            <p:cNvSpPr/>
            <p:nvPr/>
          </p:nvSpPr>
          <p:spPr>
            <a:xfrm>
              <a:off x="571500" y="1295400"/>
              <a:ext cx="6477000" cy="3905250"/>
            </a:xfrm>
            <a:prstGeom prst="rect">
              <a:avLst/>
            </a:prstGeom>
            <a:solidFill>
              <a:srgbClr val="12355B"/>
            </a:solidFill>
            <a:ln>
              <a:noFill/>
            </a:ln>
          </p:spPr>
        </p:sp>
        <p:sp>
          <p:nvSpPr>
            <p:cNvPr id="13" name="TextBox 13"/>
            <p:cNvSpPr txBox="1"/>
            <p:nvPr/>
          </p:nvSpPr>
          <p:spPr>
            <a:xfrm>
              <a:off x="794194" y="1474708"/>
              <a:ext cx="252184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const ZORUNLU_ANAHTARLAR = [</a:t>
              </a:r>
            </a:p>
          </p:txBody>
        </p:sp>
        <p:sp>
          <p:nvSpPr>
            <p:cNvPr id="14" name="TextBox 14"/>
            <p:cNvSpPr txBox="1"/>
            <p:nvPr/>
          </p:nvSpPr>
          <p:spPr>
            <a:xfrm>
              <a:off x="1032320" y="1684258"/>
              <a:ext cx="3460278"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"VERITABANI_URL", "JWT_GIZLI_ANAHTAR",</a:t>
              </a:r>
            </a:p>
          </p:txBody>
        </p:sp>
        <p:sp>
          <p:nvSpPr>
            <p:cNvPr id="15" name="TextBox 15"/>
            <p:cNvSpPr txBox="1"/>
            <p:nvPr/>
          </p:nvSpPr>
          <p:spPr>
            <a:xfrm>
              <a:off x="1032320" y="1893808"/>
              <a:ext cx="1917543"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"ODEME_API_ANAHTARI",</a:t>
              </a:r>
            </a:p>
          </p:txBody>
        </p:sp>
        <p:sp>
          <p:nvSpPr>
            <p:cNvPr id="16" name="TextBox 16"/>
            <p:cNvSpPr txBox="1"/>
            <p:nvPr/>
          </p:nvSpPr>
          <p:spPr>
            <a:xfrm>
              <a:off x="794194" y="2103358"/>
              <a:ext cx="956574"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 as const;</a:t>
              </a:r>
            </a:p>
          </p:txBody>
        </p:sp>
        <p:sp>
          <p:nvSpPr>
            <p:cNvPr id="17" name="TextBox 17"/>
            <p:cNvSpPr txBox="1"/>
            <p:nvPr/>
          </p:nvSpPr>
          <p:spPr>
            <a:xfrm>
              <a:off x="794194" y="2389108"/>
              <a:ext cx="2856796"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function zorunluSecretlariYukle()</a:t>
              </a:r>
            </a:p>
          </p:txBody>
        </p:sp>
        <p:sp>
          <p:nvSpPr>
            <p:cNvPr id="18" name="TextBox 18"/>
            <p:cNvSpPr txBox="1"/>
            <p:nvPr/>
          </p:nvSpPr>
          <p:spPr>
            <a:xfrm>
              <a:off x="1032320" y="2598658"/>
              <a:ext cx="964214"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 Ayarlar {</a:t>
              </a:r>
            </a:p>
          </p:txBody>
        </p:sp>
        <p:sp>
          <p:nvSpPr>
            <p:cNvPr id="19" name="TextBox 19"/>
            <p:cNvSpPr txBox="1"/>
            <p:nvPr/>
          </p:nvSpPr>
          <p:spPr>
            <a:xfrm>
              <a:off x="1032320" y="2808208"/>
              <a:ext cx="2588438"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const eksikler: string[] = [];</a:t>
              </a:r>
            </a:p>
          </p:txBody>
        </p:sp>
        <p:sp>
          <p:nvSpPr>
            <p:cNvPr id="20" name="TextBox 20"/>
            <p:cNvSpPr txBox="1"/>
            <p:nvPr/>
          </p:nvSpPr>
          <p:spPr>
            <a:xfrm>
              <a:off x="1032320" y="3017758"/>
              <a:ext cx="3809500"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for (const anahtar of ZORUNLU_ANAHTARLAR) {</a:t>
              </a:r>
            </a:p>
          </p:txBody>
        </p:sp>
        <p:sp>
          <p:nvSpPr>
            <p:cNvPr id="21" name="TextBox 21"/>
            <p:cNvSpPr txBox="1"/>
            <p:nvPr/>
          </p:nvSpPr>
          <p:spPr>
            <a:xfrm>
              <a:off x="1270444" y="3227308"/>
              <a:ext cx="2416663"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if (!process.env[anahtar]) {</a:t>
              </a:r>
            </a:p>
          </p:txBody>
        </p:sp>
        <p:sp>
          <p:nvSpPr>
            <p:cNvPr id="22" name="TextBox 22"/>
            <p:cNvSpPr txBox="1"/>
            <p:nvPr/>
          </p:nvSpPr>
          <p:spPr>
            <a:xfrm>
              <a:off x="1518094" y="3436858"/>
              <a:ext cx="1987225"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eksikler.push(anahtar);</a:t>
              </a:r>
            </a:p>
          </p:txBody>
        </p:sp>
        <p:sp>
          <p:nvSpPr>
            <p:cNvPr id="23" name="TextBox 23"/>
            <p:cNvSpPr txBox="1"/>
            <p:nvPr/>
          </p:nvSpPr>
          <p:spPr>
            <a:xfrm>
              <a:off x="1270444" y="364640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24" name="TextBox 24"/>
            <p:cNvSpPr txBox="1"/>
            <p:nvPr/>
          </p:nvSpPr>
          <p:spPr>
            <a:xfrm>
              <a:off x="1032320" y="385595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25" name="TextBox 25"/>
            <p:cNvSpPr txBox="1"/>
            <p:nvPr/>
          </p:nvSpPr>
          <p:spPr>
            <a:xfrm>
              <a:off x="1032320" y="4065508"/>
              <a:ext cx="2244888"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if (eksikler.length &gt; 0) {</a:t>
              </a:r>
            </a:p>
          </p:txBody>
        </p:sp>
        <p:sp>
          <p:nvSpPr>
            <p:cNvPr id="26" name="TextBox 26"/>
            <p:cNvSpPr txBox="1"/>
            <p:nvPr/>
          </p:nvSpPr>
          <p:spPr>
            <a:xfrm>
              <a:off x="1270444" y="4275058"/>
              <a:ext cx="1391995"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throw new Error(</a:t>
              </a:r>
            </a:p>
          </p:txBody>
        </p:sp>
        <p:sp>
          <p:nvSpPr>
            <p:cNvPr id="27" name="TextBox 27"/>
            <p:cNvSpPr txBox="1"/>
            <p:nvPr/>
          </p:nvSpPr>
          <p:spPr>
            <a:xfrm>
              <a:off x="1518094" y="4484608"/>
              <a:ext cx="3455768"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`Eksik secret: ${eksikler.join(", ")}`);</a:t>
              </a:r>
            </a:p>
          </p:txBody>
        </p:sp>
        <p:sp>
          <p:nvSpPr>
            <p:cNvPr id="28" name="TextBox 28"/>
            <p:cNvSpPr txBox="1"/>
            <p:nvPr/>
          </p:nvSpPr>
          <p:spPr>
            <a:xfrm>
              <a:off x="1032320" y="469415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sp>
          <p:nvSpPr>
            <p:cNvPr id="29" name="TextBox 29"/>
            <p:cNvSpPr txBox="1"/>
            <p:nvPr/>
          </p:nvSpPr>
          <p:spPr>
            <a:xfrm>
              <a:off x="1032320" y="4903708"/>
              <a:ext cx="3539063"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return process.env as unknown as Ayarlar;</a:t>
              </a:r>
            </a:p>
          </p:txBody>
        </p:sp>
        <p:sp>
          <p:nvSpPr>
            <p:cNvPr id="30" name="TextBox 30"/>
            <p:cNvSpPr txBox="1"/>
            <p:nvPr/>
          </p:nvSpPr>
          <p:spPr>
            <a:xfrm>
              <a:off x="794194" y="5113258"/>
              <a:ext cx="97699" cy="227362"/>
            </a:xfrm>
            <a:prstGeom prst="rect">
              <a:avLst/>
            </a:prstGeom>
            <a:noFill/>
            <a:ln>
              <a:noFill/>
            </a:ln>
          </p:spPr>
          <p:txBody>
            <a:bodyPr wrap="none" lIns="0" tIns="0" rIns="0" bIns="0" anchor="t" anchorCtr="0">
              <a:spAutoFit/>
            </a:bodyPr>
            <a:lstStyle/>
            <a:p>
              <a:pPr algn="l"/>
              <a:r>
                <a:rPr lang="tr-TR" sz="1160" dirty="0">
                  <a:solidFill>
                    <a:srgbClr val="EAF4F6"/>
                  </a:solidFill>
                  <a:latin typeface="Consolas"/>
                  <a:ea typeface="Consolas"/>
                  <a:cs typeface="Consolas"/>
                </a:rPr>
                <a:t>}</a:t>
              </a:r>
            </a:p>
          </p:txBody>
        </p:sp>
      </p:grpSp>
      <p:grpSp>
        <p:nvGrpSpPr>
          <p:cNvPr id="34" name="code-purpose"/>
          <p:cNvGrpSpPr/>
          <p:nvPr/>
        </p:nvGrpSpPr>
        <p:grpSpPr>
          <a:xfrm>
            <a:off x="7267956" y="1482090"/>
            <a:ext cx="3704336" cy="1119283"/>
            <a:chOff x="7267956" y="1482090"/>
            <a:chExt cx="3704336" cy="1119283"/>
          </a:xfrm>
        </p:grpSpPr>
        <p:sp>
          <p:nvSpPr>
            <p:cNvPr id="32" name="TextBox 32"/>
            <p:cNvSpPr txBox="1"/>
            <p:nvPr/>
          </p:nvSpPr>
          <p:spPr>
            <a:xfrm>
              <a:off x="7267956" y="1482090"/>
              <a:ext cx="155352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Kodun amacı</a:t>
              </a:r>
            </a:p>
          </p:txBody>
        </p:sp>
        <p:sp>
          <p:nvSpPr>
            <p:cNvPr id="33" name="TextBox 33"/>
            <p:cNvSpPr txBox="1"/>
            <p:nvPr/>
          </p:nvSpPr>
          <p:spPr>
            <a:xfrm>
              <a:off x="7269861" y="1827371"/>
              <a:ext cx="3702431" cy="77400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Uygulama açılışında zorunlu secret'ların</a:t>
              </a:r>
              <a:br/>
              <a:r>
                <a:rPr lang="tr-TR" sz="1420" dirty="0">
                  <a:solidFill>
                    <a:srgbClr val="172B3A"/>
                  </a:solidFill>
                  <a:latin typeface="+mn-lt"/>
                  <a:ea typeface="+mn-ea"/>
                  <a:cs typeface="+mn-cs"/>
                </a:rPr>
                <a:t>var olduğunu doğrulamak; eksikse</a:t>
              </a:r>
              <a:br/>
              <a:r>
                <a:rPr lang="tr-TR" sz="1420" dirty="0">
                  <a:solidFill>
                    <a:srgbClr val="172B3A"/>
                  </a:solidFill>
                  <a:latin typeface="+mn-lt"/>
                  <a:ea typeface="+mn-ea"/>
                  <a:cs typeface="+mn-cs"/>
                </a:rPr>
                <a:t>uygulamayı fail-fast olarak durdurmak.</a:t>
              </a:r>
            </a:p>
          </p:txBody>
        </p:sp>
      </p:grpSp>
      <p:grpSp>
        <p:nvGrpSpPr>
          <p:cNvPr id="38" name="code-critical"/>
          <p:cNvGrpSpPr/>
          <p:nvPr/>
        </p:nvGrpSpPr>
        <p:grpSpPr>
          <a:xfrm>
            <a:off x="7267956" y="2777490"/>
            <a:ext cx="2964180" cy="1328166"/>
            <a:chOff x="7267956" y="2777490"/>
            <a:chExt cx="2964180" cy="1328166"/>
          </a:xfrm>
        </p:grpSpPr>
        <p:sp>
          <p:nvSpPr>
            <p:cNvPr id="35" name="TextBox 35"/>
            <p:cNvSpPr txBox="1"/>
            <p:nvPr/>
          </p:nvSpPr>
          <p:spPr>
            <a:xfrm>
              <a:off x="7267956" y="2777490"/>
              <a:ext cx="18703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Kritik satırlar</a:t>
              </a:r>
            </a:p>
          </p:txBody>
        </p:sp>
        <p:sp>
          <p:nvSpPr>
            <p:cNvPr id="36" name="TextBox 36"/>
            <p:cNvSpPr txBox="1"/>
            <p:nvPr/>
          </p:nvSpPr>
          <p:spPr>
            <a:xfrm>
              <a:off x="7271004" y="3128010"/>
              <a:ext cx="29611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 Kontrol, sunucu başlatılmadan önce,</a:t>
              </a:r>
              <a:br/>
              <a:r>
                <a:rPr lang="tr-TR" sz="1200" dirty="0">
                  <a:solidFill>
                    <a:srgbClr val="172B3A"/>
                  </a:solidFill>
                  <a:latin typeface="+mn-lt"/>
                  <a:ea typeface="+mn-ea"/>
                  <a:cs typeface="+mn-cs"/>
                </a:rPr>
                <a:t>uygulama açılışında çalışır.</a:t>
              </a:r>
            </a:p>
          </p:txBody>
        </p:sp>
        <p:sp>
          <p:nvSpPr>
            <p:cNvPr id="37" name="TextBox 37"/>
            <p:cNvSpPr txBox="1"/>
            <p:nvPr/>
          </p:nvSpPr>
          <p:spPr>
            <a:xfrm>
              <a:off x="7271004" y="3661410"/>
              <a:ext cx="23286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 Hata mesajı hangi anahtarın</a:t>
              </a:r>
              <a:br/>
              <a:r>
                <a:rPr lang="tr-TR" sz="1200" dirty="0">
                  <a:solidFill>
                    <a:srgbClr val="172B3A"/>
                  </a:solidFill>
                  <a:latin typeface="+mn-lt"/>
                  <a:ea typeface="+mn-ea"/>
                  <a:cs typeface="+mn-cs"/>
                </a:rPr>
                <a:t>eksik olduğunu açıkça belirtir.</a:t>
              </a:r>
            </a:p>
          </p:txBody>
        </p:sp>
      </p:grpSp>
      <p:grpSp>
        <p:nvGrpSpPr>
          <p:cNvPr id="42" name="code-caution"/>
          <p:cNvGrpSpPr/>
          <p:nvPr/>
        </p:nvGrpSpPr>
        <p:grpSpPr>
          <a:xfrm>
            <a:off x="7277100" y="4552950"/>
            <a:ext cx="3831336" cy="1000506"/>
            <a:chOff x="7277100" y="4552950"/>
            <a:chExt cx="3831336" cy="1000506"/>
          </a:xfrm>
        </p:grpSpPr>
        <p:sp>
          <p:nvSpPr>
            <p:cNvPr id="39" name="Rectangle 39"/>
            <p:cNvSpPr/>
            <p:nvPr/>
          </p:nvSpPr>
          <p:spPr>
            <a:xfrm>
              <a:off x="7277100" y="4552950"/>
              <a:ext cx="57150" cy="819150"/>
            </a:xfrm>
            <a:prstGeom prst="rect">
              <a:avLst/>
            </a:prstGeom>
            <a:solidFill>
              <a:srgbClr val="2E86AB"/>
            </a:solidFill>
            <a:ln>
              <a:noFill/>
            </a:ln>
          </p:spPr>
        </p:sp>
        <p:sp>
          <p:nvSpPr>
            <p:cNvPr id="40" name="TextBox 40"/>
            <p:cNvSpPr txBox="1"/>
            <p:nvPr/>
          </p:nvSpPr>
          <p:spPr>
            <a:xfrm>
              <a:off x="7499604" y="465201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 noktası</a:t>
              </a:r>
            </a:p>
          </p:txBody>
        </p:sp>
        <p:sp>
          <p:nvSpPr>
            <p:cNvPr id="41" name="TextBox 41"/>
            <p:cNvSpPr txBox="1"/>
            <p:nvPr/>
          </p:nvSpPr>
          <p:spPr>
            <a:xfrm>
              <a:off x="7499604" y="4899660"/>
              <a:ext cx="36088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console.log(ayarlar) gibi tam settings nesnesini</a:t>
              </a:r>
              <a:br/>
              <a:r>
                <a:rPr lang="tr-TR" sz="1200" dirty="0">
                  <a:solidFill>
                    <a:srgbClr val="52616B"/>
                  </a:solidFill>
                  <a:latin typeface="+mn-lt"/>
                  <a:ea typeface="+mn-ea"/>
                  <a:cs typeface="+mn-cs"/>
                </a:rPr>
                <a:t>loglamak secret'ları log dosyalarına sızdırır;</a:t>
              </a:r>
              <a:br/>
              <a:r>
                <a:rPr lang="tr-TR" sz="1200" dirty="0">
                  <a:solidFill>
                    <a:srgbClr val="52616B"/>
                  </a:solidFill>
                  <a:latin typeface="+mn-lt"/>
                  <a:ea typeface="+mn-ea"/>
                  <a:cs typeface="+mn-cs"/>
                </a:rPr>
                <a:t>yalnızca maskelenmiş değerler loglanmalıdır.</a:t>
              </a:r>
            </a:p>
          </p:txBody>
        </p:sp>
      </p:grpSp>
      <p:grpSp>
        <p:nvGrpSpPr>
          <p:cNvPr id="44" name="code-takeaway"/>
          <p:cNvGrpSpPr/>
          <p:nvPr/>
        </p:nvGrpSpPr>
        <p:grpSpPr>
          <a:xfrm>
            <a:off x="564261" y="5694521"/>
            <a:ext cx="8598662" cy="526352"/>
            <a:chOff x="564261" y="5694521"/>
            <a:chExt cx="8598662" cy="526352"/>
          </a:xfrm>
        </p:grpSpPr>
        <p:sp>
          <p:nvSpPr>
            <p:cNvPr id="43" name="TextBox 43"/>
            <p:cNvSpPr txBox="1"/>
            <p:nvPr/>
          </p:nvSpPr>
          <p:spPr>
            <a:xfrm>
              <a:off x="564261" y="5694521"/>
              <a:ext cx="8598662" cy="52635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Fail-fast kontrolü, eksik yapılandırmanın production'da sessizce hatalı davranışa dönüşmesini,</a:t>
              </a:r>
              <a:br/>
              <a:r>
                <a:rPr lang="tr-TR" sz="1420" dirty="0">
                  <a:solidFill>
                    <a:srgbClr val="172B3A"/>
                  </a:solidFill>
                  <a:latin typeface="+mn-lt"/>
                  <a:ea typeface="+mn-ea"/>
                  <a:cs typeface="+mn-cs"/>
                </a:rPr>
                <a:t>sorunun geliştirici masasında değil canlı ortamda fark edilmesini önler.</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9325325" cy="668845"/>
            <a:chOff x="609600" y="171450"/>
            <a:chExt cx="9325325"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863495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11.7 · loginIsteginiIsle — uçtan uca akış</a:t>
              </a:r>
            </a:p>
          </p:txBody>
        </p:sp>
      </p:grpSp>
      <p:grpSp>
        <p:nvGrpSpPr>
          <p:cNvPr id="43" name="flow-diagram"/>
          <p:cNvGrpSpPr/>
          <p:nvPr/>
        </p:nvGrpSpPr>
        <p:grpSpPr>
          <a:xfrm>
            <a:off x="609600" y="1219200"/>
            <a:ext cx="10972800" cy="1562100"/>
            <a:chOff x="609600" y="1219200"/>
            <a:chExt cx="10972800" cy="1562100"/>
          </a:xfrm>
        </p:grpSpPr>
        <p:sp>
          <p:nvSpPr>
            <p:cNvPr id="14" name="Rectangle 14"/>
            <p:cNvSpPr/>
            <p:nvPr/>
          </p:nvSpPr>
          <p:spPr>
            <a:xfrm>
              <a:off x="609600" y="1219200"/>
              <a:ext cx="1562100" cy="762000"/>
            </a:xfrm>
            <a:prstGeom prst="roundRect">
              <a:avLst>
                <a:gd name="adj" fmla="val 10000"/>
              </a:avLst>
            </a:prstGeom>
            <a:solidFill>
              <a:srgbClr val="FFFFFF"/>
            </a:solidFill>
            <a:ln w="14288">
              <a:solidFill>
                <a:srgbClr val="B8CBD3"/>
              </a:solidFill>
            </a:ln>
          </p:spPr>
        </p:sp>
        <p:sp>
          <p:nvSpPr>
            <p:cNvPr id="15" name="TextBox 15"/>
            <p:cNvSpPr txBox="1"/>
            <p:nvPr/>
          </p:nvSpPr>
          <p:spPr>
            <a:xfrm>
              <a:off x="1037628" y="1424464"/>
              <a:ext cx="706045" cy="249364"/>
            </a:xfrm>
            <a:prstGeom prst="rect">
              <a:avLst/>
            </a:prstGeom>
            <a:noFill/>
            <a:ln>
              <a:noFill/>
            </a:ln>
          </p:spPr>
          <p:txBody>
            <a:bodyPr wrap="none" lIns="0" tIns="0" rIns="0" bIns="0" anchor="t" anchorCtr="0">
              <a:spAutoFit/>
            </a:bodyPr>
            <a:lstStyle/>
            <a:p>
              <a:pPr algn="ctr"/>
              <a:r>
                <a:rPr lang="tr-TR" sz="1280" b="1" dirty="0">
                  <a:solidFill>
                    <a:srgbClr val="12355B"/>
                  </a:solidFill>
                  <a:latin typeface="+mn-lt"/>
                  <a:ea typeface="+mn-ea"/>
                  <a:cs typeface="+mn-cs"/>
                </a:rPr>
                <a:t>İstemci</a:t>
              </a:r>
            </a:p>
          </p:txBody>
        </p:sp>
        <p:sp>
          <p:nvSpPr>
            <p:cNvPr id="16" name="TextBox 16"/>
            <p:cNvSpPr txBox="1"/>
            <p:nvPr/>
          </p:nvSpPr>
          <p:spPr>
            <a:xfrm>
              <a:off x="986822" y="1658302"/>
              <a:ext cx="807657"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POST /login</a:t>
              </a:r>
            </a:p>
          </p:txBody>
        </p:sp>
        <p:sp>
          <p:nvSpPr>
            <p:cNvPr id="17" name="Line 17"/>
            <p:cNvSpPr/>
            <p:nvPr/>
          </p:nvSpPr>
          <p:spPr>
            <a:xfrm>
              <a:off x="2171700" y="1600200"/>
              <a:ext cx="419100" cy="1"/>
            </a:xfrm>
            <a:prstGeom prst="line">
              <a:avLst/>
            </a:prstGeom>
            <a:noFill/>
            <a:ln w="23812">
              <a:solidFill>
                <a:srgbClr val="00A6A6"/>
              </a:solidFill>
              <a:tailEnd type="arrow" w="lg" len="lg"/>
            </a:ln>
          </p:spPr>
        </p:sp>
        <p:sp>
          <p:nvSpPr>
            <p:cNvPr id="18" name="Rectangle 18"/>
            <p:cNvSpPr/>
            <p:nvPr/>
          </p:nvSpPr>
          <p:spPr>
            <a:xfrm>
              <a:off x="2590800" y="1219200"/>
              <a:ext cx="1562100" cy="762000"/>
            </a:xfrm>
            <a:prstGeom prst="roundRect">
              <a:avLst>
                <a:gd name="adj" fmla="val 10000"/>
              </a:avLst>
            </a:prstGeom>
            <a:solidFill>
              <a:srgbClr val="FFFFFF"/>
            </a:solidFill>
            <a:ln w="14288">
              <a:solidFill>
                <a:srgbClr val="2E86AB"/>
              </a:solidFill>
            </a:ln>
          </p:spPr>
        </p:sp>
        <p:sp>
          <p:nvSpPr>
            <p:cNvPr id="19" name="TextBox 19"/>
            <p:cNvSpPr txBox="1"/>
            <p:nvPr/>
          </p:nvSpPr>
          <p:spPr>
            <a:xfrm>
              <a:off x="3025231" y="1394460"/>
              <a:ext cx="693237"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1. CORS</a:t>
              </a:r>
            </a:p>
          </p:txBody>
        </p:sp>
        <p:sp>
          <p:nvSpPr>
            <p:cNvPr id="20" name="TextBox 20"/>
            <p:cNvSpPr txBox="1"/>
            <p:nvPr/>
          </p:nvSpPr>
          <p:spPr>
            <a:xfrm>
              <a:off x="2891149" y="1628299"/>
              <a:ext cx="961403"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corsKararıVer</a:t>
              </a:r>
            </a:p>
          </p:txBody>
        </p:sp>
        <p:sp>
          <p:nvSpPr>
            <p:cNvPr id="21" name="Line 21"/>
            <p:cNvSpPr/>
            <p:nvPr/>
          </p:nvSpPr>
          <p:spPr>
            <a:xfrm>
              <a:off x="4152900" y="1600200"/>
              <a:ext cx="419100" cy="1"/>
            </a:xfrm>
            <a:prstGeom prst="line">
              <a:avLst/>
            </a:prstGeom>
            <a:noFill/>
            <a:ln w="23812">
              <a:solidFill>
                <a:srgbClr val="00A6A6"/>
              </a:solidFill>
              <a:tailEnd type="arrow" w="lg" len="lg"/>
            </a:ln>
          </p:spPr>
        </p:sp>
        <p:sp>
          <p:nvSpPr>
            <p:cNvPr id="22" name="Rectangle 22"/>
            <p:cNvSpPr/>
            <p:nvPr/>
          </p:nvSpPr>
          <p:spPr>
            <a:xfrm>
              <a:off x="4572000" y="1219200"/>
              <a:ext cx="1562100" cy="762000"/>
            </a:xfrm>
            <a:prstGeom prst="roundRect">
              <a:avLst>
                <a:gd name="adj" fmla="val 10000"/>
              </a:avLst>
            </a:prstGeom>
            <a:solidFill>
              <a:srgbClr val="FFFFFF"/>
            </a:solidFill>
            <a:ln w="14288">
              <a:solidFill>
                <a:srgbClr val="2E86AB"/>
              </a:solidFill>
            </a:ln>
          </p:spPr>
        </p:sp>
        <p:sp>
          <p:nvSpPr>
            <p:cNvPr id="23" name="TextBox 23"/>
            <p:cNvSpPr txBox="1"/>
            <p:nvPr/>
          </p:nvSpPr>
          <p:spPr>
            <a:xfrm>
              <a:off x="4826356" y="1394460"/>
              <a:ext cx="1053389"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2. Rate limit</a:t>
              </a:r>
            </a:p>
          </p:txBody>
        </p:sp>
        <p:sp>
          <p:nvSpPr>
            <p:cNvPr id="24" name="TextBox 24"/>
            <p:cNvSpPr txBox="1"/>
            <p:nvPr/>
          </p:nvSpPr>
          <p:spPr>
            <a:xfrm>
              <a:off x="5125331" y="1628299"/>
              <a:ext cx="455437"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izinVer</a:t>
              </a:r>
            </a:p>
          </p:txBody>
        </p:sp>
        <p:sp>
          <p:nvSpPr>
            <p:cNvPr id="25" name="Line 25"/>
            <p:cNvSpPr/>
            <p:nvPr/>
          </p:nvSpPr>
          <p:spPr>
            <a:xfrm>
              <a:off x="6134100" y="1600200"/>
              <a:ext cx="419100" cy="1"/>
            </a:xfrm>
            <a:prstGeom prst="line">
              <a:avLst/>
            </a:prstGeom>
            <a:noFill/>
            <a:ln w="23812">
              <a:solidFill>
                <a:srgbClr val="00A6A6"/>
              </a:solidFill>
              <a:tailEnd type="arrow" w="lg" len="lg"/>
            </a:ln>
          </p:spPr>
        </p:sp>
        <p:sp>
          <p:nvSpPr>
            <p:cNvPr id="26" name="Rectangle 26"/>
            <p:cNvSpPr/>
            <p:nvPr/>
          </p:nvSpPr>
          <p:spPr>
            <a:xfrm>
              <a:off x="6553200" y="1219200"/>
              <a:ext cx="1562100" cy="762000"/>
            </a:xfrm>
            <a:prstGeom prst="roundRect">
              <a:avLst>
                <a:gd name="adj" fmla="val 10000"/>
              </a:avLst>
            </a:prstGeom>
            <a:solidFill>
              <a:srgbClr val="FFFFFF"/>
            </a:solidFill>
            <a:ln w="14288">
              <a:solidFill>
                <a:srgbClr val="2E86AB"/>
              </a:solidFill>
            </a:ln>
          </p:spPr>
        </p:sp>
        <p:sp>
          <p:nvSpPr>
            <p:cNvPr id="27" name="TextBox 27"/>
            <p:cNvSpPr txBox="1"/>
            <p:nvPr/>
          </p:nvSpPr>
          <p:spPr>
            <a:xfrm>
              <a:off x="6803616" y="1394460"/>
              <a:ext cx="1061267"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3. Validation</a:t>
              </a:r>
            </a:p>
          </p:txBody>
        </p:sp>
        <p:sp>
          <p:nvSpPr>
            <p:cNvPr id="28" name="TextBox 28"/>
            <p:cNvSpPr txBox="1"/>
            <p:nvPr/>
          </p:nvSpPr>
          <p:spPr>
            <a:xfrm>
              <a:off x="6755122" y="1628299"/>
              <a:ext cx="1158257"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girisIstegiDogrula</a:t>
              </a:r>
            </a:p>
          </p:txBody>
        </p:sp>
        <p:sp>
          <p:nvSpPr>
            <p:cNvPr id="29" name="Line 29"/>
            <p:cNvSpPr/>
            <p:nvPr/>
          </p:nvSpPr>
          <p:spPr>
            <a:xfrm>
              <a:off x="8115300" y="1600200"/>
              <a:ext cx="419100" cy="1"/>
            </a:xfrm>
            <a:prstGeom prst="line">
              <a:avLst/>
            </a:prstGeom>
            <a:noFill/>
            <a:ln w="23812">
              <a:solidFill>
                <a:srgbClr val="00A6A6"/>
              </a:solidFill>
              <a:tailEnd type="arrow" w="lg" len="lg"/>
            </a:ln>
          </p:spPr>
        </p:sp>
        <p:sp>
          <p:nvSpPr>
            <p:cNvPr id="30" name="Rectangle 30"/>
            <p:cNvSpPr/>
            <p:nvPr/>
          </p:nvSpPr>
          <p:spPr>
            <a:xfrm>
              <a:off x="8534400" y="1219200"/>
              <a:ext cx="1562100" cy="762000"/>
            </a:xfrm>
            <a:prstGeom prst="roundRect">
              <a:avLst>
                <a:gd name="adj" fmla="val 10000"/>
              </a:avLst>
            </a:prstGeom>
            <a:solidFill>
              <a:srgbClr val="FFFFFF"/>
            </a:solidFill>
            <a:ln w="14288">
              <a:solidFill>
                <a:srgbClr val="2E86AB"/>
              </a:solidFill>
            </a:ln>
          </p:spPr>
        </p:sp>
        <p:sp>
          <p:nvSpPr>
            <p:cNvPr id="31" name="TextBox 31"/>
            <p:cNvSpPr txBox="1"/>
            <p:nvPr/>
          </p:nvSpPr>
          <p:spPr>
            <a:xfrm>
              <a:off x="8954070" y="1394460"/>
              <a:ext cx="722761"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4. Kimlik</a:t>
              </a:r>
            </a:p>
          </p:txBody>
        </p:sp>
        <p:sp>
          <p:nvSpPr>
            <p:cNvPr id="32" name="TextBox 32"/>
            <p:cNvSpPr txBox="1"/>
            <p:nvPr/>
          </p:nvSpPr>
          <p:spPr>
            <a:xfrm>
              <a:off x="8757865" y="1628299"/>
              <a:ext cx="1115169"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parolaKarsilastir</a:t>
              </a:r>
            </a:p>
          </p:txBody>
        </p:sp>
        <p:sp>
          <p:nvSpPr>
            <p:cNvPr id="33" name="Line 33"/>
            <p:cNvSpPr/>
            <p:nvPr/>
          </p:nvSpPr>
          <p:spPr>
            <a:xfrm>
              <a:off x="10096500" y="1600200"/>
              <a:ext cx="419100" cy="1"/>
            </a:xfrm>
            <a:prstGeom prst="line">
              <a:avLst/>
            </a:prstGeom>
            <a:noFill/>
            <a:ln w="23812">
              <a:solidFill>
                <a:srgbClr val="00A6A6"/>
              </a:solidFill>
              <a:tailEnd type="arrow" w="lg" len="lg"/>
            </a:ln>
          </p:spPr>
        </p:sp>
        <p:sp>
          <p:nvSpPr>
            <p:cNvPr id="34" name="Rectangle 34"/>
            <p:cNvSpPr/>
            <p:nvPr/>
          </p:nvSpPr>
          <p:spPr>
            <a:xfrm>
              <a:off x="10020300" y="1219200"/>
              <a:ext cx="1562100" cy="762000"/>
            </a:xfrm>
            <a:prstGeom prst="roundRect">
              <a:avLst>
                <a:gd name="adj" fmla="val 10000"/>
              </a:avLst>
            </a:prstGeom>
            <a:solidFill>
              <a:srgbClr val="12355B"/>
            </a:solidFill>
            <a:ln>
              <a:noFill/>
            </a:ln>
          </p:spPr>
        </p:sp>
        <p:sp>
          <p:nvSpPr>
            <p:cNvPr id="35" name="TextBox 35"/>
            <p:cNvSpPr txBox="1"/>
            <p:nvPr/>
          </p:nvSpPr>
          <p:spPr>
            <a:xfrm>
              <a:off x="10439306" y="1394460"/>
              <a:ext cx="724089"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5. Yanıt</a:t>
              </a:r>
            </a:p>
          </p:txBody>
        </p:sp>
        <p:sp>
          <p:nvSpPr>
            <p:cNvPr id="36" name="TextBox 36"/>
            <p:cNvSpPr txBox="1"/>
            <p:nvPr/>
          </p:nvSpPr>
          <p:spPr>
            <a:xfrm>
              <a:off x="10314737" y="1628299"/>
              <a:ext cx="973226" cy="190690"/>
            </a:xfrm>
            <a:prstGeom prst="rect">
              <a:avLst/>
            </a:prstGeom>
            <a:noFill/>
            <a:ln>
              <a:noFill/>
            </a:ln>
          </p:spPr>
          <p:txBody>
            <a:bodyPr wrap="none" lIns="0" tIns="0" rIns="0" bIns="0" anchor="t" anchorCtr="0">
              <a:spAutoFit/>
            </a:bodyPr>
            <a:lstStyle/>
            <a:p>
              <a:pPr algn="ctr"/>
              <a:r>
                <a:rPr lang="tr-TR" sz="980" dirty="0">
                  <a:solidFill>
                    <a:srgbClr val="EAF4F6"/>
                  </a:solidFill>
                  <a:latin typeface="+mn-lt"/>
                  <a:ea typeface="+mn-ea"/>
                  <a:cs typeface="+mn-cs"/>
                </a:rPr>
                <a:t>200 / AppError</a:t>
              </a:r>
            </a:p>
          </p:txBody>
        </p:sp>
        <p:sp>
          <p:nvSpPr>
            <p:cNvPr id="37" name="Line 37"/>
            <p:cNvSpPr/>
            <p:nvPr/>
          </p:nvSpPr>
          <p:spPr>
            <a:xfrm>
              <a:off x="3371850" y="1981200"/>
              <a:ext cx="1" cy="381000"/>
            </a:xfrm>
            <a:prstGeom prst="line">
              <a:avLst/>
            </a:prstGeom>
            <a:noFill/>
            <a:ln w="14288">
              <a:solidFill>
                <a:srgbClr val="B8CBD3"/>
              </a:solidFill>
              <a:prstDash val="dash"/>
              <a:tailEnd type="arrow" w="lg" len="lg"/>
            </a:ln>
          </p:spPr>
        </p:sp>
        <p:sp>
          <p:nvSpPr>
            <p:cNvPr id="38" name="Line 38"/>
            <p:cNvSpPr/>
            <p:nvPr/>
          </p:nvSpPr>
          <p:spPr>
            <a:xfrm>
              <a:off x="5353050" y="1981200"/>
              <a:ext cx="1" cy="381000"/>
            </a:xfrm>
            <a:prstGeom prst="line">
              <a:avLst/>
            </a:prstGeom>
            <a:noFill/>
            <a:ln w="14288">
              <a:solidFill>
                <a:srgbClr val="B8CBD3"/>
              </a:solidFill>
              <a:prstDash val="dash"/>
              <a:tailEnd type="arrow" w="lg" len="lg"/>
            </a:ln>
          </p:spPr>
        </p:sp>
        <p:sp>
          <p:nvSpPr>
            <p:cNvPr id="39" name="Line 39"/>
            <p:cNvSpPr/>
            <p:nvPr/>
          </p:nvSpPr>
          <p:spPr>
            <a:xfrm>
              <a:off x="7334250" y="1981200"/>
              <a:ext cx="1" cy="381000"/>
            </a:xfrm>
            <a:prstGeom prst="line">
              <a:avLst/>
            </a:prstGeom>
            <a:noFill/>
            <a:ln w="14288">
              <a:solidFill>
                <a:srgbClr val="B8CBD3"/>
              </a:solidFill>
              <a:prstDash val="dash"/>
              <a:tailEnd type="arrow" w="lg" len="lg"/>
            </a:ln>
          </p:spPr>
        </p:sp>
        <p:sp>
          <p:nvSpPr>
            <p:cNvPr id="40" name="Line 40"/>
            <p:cNvSpPr/>
            <p:nvPr/>
          </p:nvSpPr>
          <p:spPr>
            <a:xfrm>
              <a:off x="9315450" y="1981200"/>
              <a:ext cx="1" cy="381000"/>
            </a:xfrm>
            <a:prstGeom prst="line">
              <a:avLst/>
            </a:prstGeom>
            <a:noFill/>
            <a:ln w="14288">
              <a:solidFill>
                <a:srgbClr val="B8CBD3"/>
              </a:solidFill>
              <a:prstDash val="dash"/>
              <a:tailEnd type="arrow" w="lg" len="lg"/>
            </a:ln>
          </p:spPr>
        </p:sp>
        <p:sp>
          <p:nvSpPr>
            <p:cNvPr id="41" name="Rectangle 41"/>
            <p:cNvSpPr/>
            <p:nvPr/>
          </p:nvSpPr>
          <p:spPr>
            <a:xfrm>
              <a:off x="2590800" y="2362200"/>
              <a:ext cx="8991600" cy="419100"/>
            </a:xfrm>
            <a:prstGeom prst="roundRect">
              <a:avLst>
                <a:gd name="adj" fmla="val 13636"/>
              </a:avLst>
            </a:prstGeom>
            <a:solidFill>
              <a:srgbClr val="EAF4F6"/>
            </a:solidFill>
            <a:ln>
              <a:noFill/>
            </a:ln>
          </p:spPr>
        </p:sp>
        <p:sp>
          <p:nvSpPr>
            <p:cNvPr id="42" name="TextBox 42"/>
            <p:cNvSpPr txBox="1"/>
            <p:nvPr/>
          </p:nvSpPr>
          <p:spPr>
            <a:xfrm>
              <a:off x="3804135" y="2507456"/>
              <a:ext cx="6564930" cy="220028"/>
            </a:xfrm>
            <a:prstGeom prst="rect">
              <a:avLst/>
            </a:prstGeom>
            <a:noFill/>
            <a:ln>
              <a:noFill/>
            </a:ln>
          </p:spPr>
          <p:txBody>
            <a:bodyPr wrap="none" lIns="0" tIns="0" rIns="0" bIns="0" anchor="t" anchorCtr="0">
              <a:spAutoFit/>
            </a:bodyPr>
            <a:lstStyle/>
            <a:p>
              <a:pPr algn="ctr"/>
              <a:r>
                <a:rPr lang="tr-TR" sz="1120" dirty="0">
                  <a:solidFill>
                    <a:srgbClr val="172B3A"/>
                  </a:solidFill>
                  <a:latin typeface="+mn-lt"/>
                  <a:ea typeface="+mn-ea"/>
                  <a:cs typeface="+mn-cs"/>
                </a:rPr>
                <a:t>Her adımda hata → AppError fırlatılır → merkeziHataIsleyici tek bir tutarlı yanıt üretir</a:t>
              </a:r>
            </a:p>
          </p:txBody>
        </p:sp>
      </p:grpSp>
      <p:grpSp>
        <p:nvGrpSpPr>
          <p:cNvPr id="46" name="purpose-note"/>
          <p:cNvGrpSpPr/>
          <p:nvPr/>
        </p:nvGrpSpPr>
        <p:grpSpPr>
          <a:xfrm>
            <a:off x="601599" y="3182779"/>
            <a:ext cx="8450199" cy="1069372"/>
            <a:chOff x="601599" y="3182779"/>
            <a:chExt cx="8450199" cy="1069372"/>
          </a:xfrm>
        </p:grpSpPr>
        <p:sp>
          <p:nvSpPr>
            <p:cNvPr id="44" name="TextBox 44"/>
            <p:cNvSpPr txBox="1"/>
            <p:nvPr/>
          </p:nvSpPr>
          <p:spPr>
            <a:xfrm>
              <a:off x="601599" y="3182779"/>
              <a:ext cx="136359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Kodun amacı</a:t>
              </a:r>
            </a:p>
          </p:txBody>
        </p:sp>
        <p:sp>
          <p:nvSpPr>
            <p:cNvPr id="45" name="TextBox 45"/>
            <p:cNvSpPr txBox="1"/>
            <p:nvPr/>
          </p:nvSpPr>
          <p:spPr>
            <a:xfrm>
              <a:off x="602742" y="3492818"/>
              <a:ext cx="8449056" cy="7593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loginIsteginiIsle, bu bölümde öğrenilen beş savunma katmanını (CORS, rate limiting, girdi</a:t>
              </a:r>
              <a:br/>
              <a:r>
                <a:rPr lang="tr-TR" sz="1350" dirty="0">
                  <a:solidFill>
                    <a:srgbClr val="172B3A"/>
                  </a:solidFill>
                  <a:latin typeface="+mn-lt"/>
                  <a:ea typeface="+mn-ea"/>
                  <a:cs typeface="+mn-cs"/>
                </a:rPr>
                <a:t>doğrulama, merkezi hata yönetimi, secrets ile yapılandırılan kimlik doğrulama) tek bir gerçekçi</a:t>
              </a:r>
              <a:br/>
              <a:r>
                <a:rPr lang="tr-TR" sz="1350" dirty="0">
                  <a:solidFill>
                    <a:srgbClr val="172B3A"/>
                  </a:solidFill>
                  <a:latin typeface="+mn-lt"/>
                  <a:ea typeface="+mn-ea"/>
                  <a:cs typeface="+mn-cs"/>
                </a:rPr>
                <a:t>giriş uç noktasında birleştirir; her katman kendi sorumluluğuna bakar, hiçbiri diğerinin işini yapmaz.</a:t>
              </a:r>
            </a:p>
          </p:txBody>
        </p:sp>
      </p:grpSp>
      <p:grpSp>
        <p:nvGrpSpPr>
          <p:cNvPr id="50" name="caution-note"/>
          <p:cNvGrpSpPr/>
          <p:nvPr/>
        </p:nvGrpSpPr>
        <p:grpSpPr>
          <a:xfrm>
            <a:off x="609600" y="4476750"/>
            <a:ext cx="10972800" cy="1619250"/>
            <a:chOff x="609600" y="4476750"/>
            <a:chExt cx="10972800" cy="1619250"/>
          </a:xfrm>
        </p:grpSpPr>
        <p:sp>
          <p:nvSpPr>
            <p:cNvPr id="47" name="Rectangle 47"/>
            <p:cNvSpPr/>
            <p:nvPr/>
          </p:nvSpPr>
          <p:spPr>
            <a:xfrm>
              <a:off x="609600" y="4476750"/>
              <a:ext cx="10972800" cy="1619250"/>
            </a:xfrm>
            <a:prstGeom prst="roundRect">
              <a:avLst>
                <a:gd name="adj" fmla="val 4706"/>
              </a:avLst>
            </a:prstGeom>
            <a:solidFill>
              <a:srgbClr val="12355B"/>
            </a:solidFill>
            <a:ln>
              <a:noFill/>
            </a:ln>
          </p:spPr>
        </p:sp>
        <p:sp>
          <p:nvSpPr>
            <p:cNvPr id="48" name="TextBox 48"/>
            <p:cNvSpPr txBox="1"/>
            <p:nvPr/>
          </p:nvSpPr>
          <p:spPr>
            <a:xfrm>
              <a:off x="906018" y="4622482"/>
              <a:ext cx="1703326" cy="322707"/>
            </a:xfrm>
            <a:prstGeom prst="rect">
              <a:avLst/>
            </a:prstGeom>
            <a:noFill/>
            <a:ln>
              <a:noFill/>
            </a:ln>
          </p:spPr>
          <p:txBody>
            <a:bodyPr wrap="none" lIns="0" tIns="0" rIns="0" bIns="0" anchor="t" anchorCtr="0">
              <a:spAutoFit/>
            </a:bodyPr>
            <a:lstStyle/>
            <a:p>
              <a:pPr algn="l"/>
              <a:r>
                <a:rPr lang="tr-TR" sz="1650" b="1" dirty="0">
                  <a:solidFill>
                    <a:srgbClr val="00A6A6"/>
                  </a:solidFill>
                  <a:latin typeface="+mn-lt"/>
                  <a:ea typeface="+mn-ea"/>
                  <a:cs typeface="+mn-cs"/>
                </a:rPr>
                <a:t>Dikkat noktası</a:t>
              </a:r>
            </a:p>
          </p:txBody>
        </p:sp>
        <p:sp>
          <p:nvSpPr>
            <p:cNvPr id="49" name="TextBox 49"/>
            <p:cNvSpPr txBox="1"/>
            <p:nvPr/>
          </p:nvSpPr>
          <p:spPr>
            <a:xfrm>
              <a:off x="907542" y="4978718"/>
              <a:ext cx="8851964" cy="759333"/>
            </a:xfrm>
            <a:prstGeom prst="rect">
              <a:avLst/>
            </a:prstGeom>
            <a:noFill/>
            <a:ln>
              <a:noFill/>
            </a:ln>
          </p:spPr>
          <p:txBody>
            <a:bodyPr wrap="none" lIns="0" tIns="0" rIns="0" bIns="0" anchor="t" anchorCtr="0">
              <a:spAutoFit/>
            </a:bodyPr>
            <a:lstStyle/>
            <a:p>
              <a:pPr algn="l">
                <a:lnSpc>
                  <a:spcPts val="1950"/>
                </a:lnSpc>
              </a:pPr>
              <a:r>
                <a:rPr lang="tr-TR" sz="1350" dirty="0">
                  <a:solidFill>
                    <a:srgbClr val="EAF4F6"/>
                  </a:solidFill>
                  <a:latin typeface="+mn-lt"/>
                  <a:ea typeface="+mn-ea"/>
                  <a:cs typeface="+mn-cs"/>
                </a:rPr>
                <a:t>Katmanların sırası önemlidir: CORS ve rate limiting, ağır kimlik doğrulama işlemlerinden (parola</a:t>
              </a:r>
              <a:br/>
              <a:r>
                <a:rPr lang="tr-TR" sz="1350" dirty="0">
                  <a:solidFill>
                    <a:srgbClr val="EAF4F6"/>
                  </a:solidFill>
                  <a:latin typeface="+mn-lt"/>
                  <a:ea typeface="+mn-ea"/>
                  <a:cs typeface="+mn-cs"/>
                </a:rPr>
                <a:t>karşılaştırma gibi CPU maliyetli işlemler) önce çalıştırılmalıdır — aksi hâlde reddedilecek istekler bile</a:t>
              </a:r>
              <a:br/>
              <a:r>
                <a:rPr lang="tr-TR" sz="1350" dirty="0">
                  <a:solidFill>
                    <a:srgbClr val="EAF4F6"/>
                  </a:solidFill>
                  <a:latin typeface="+mn-lt"/>
                  <a:ea typeface="+mn-ea"/>
                  <a:cs typeface="+mn-cs"/>
                </a:rPr>
                <a:t>sunucu kaynağını tüketir ve rate limiting'in kaba kuvvet saldırılarına karşı sağladığı koruma zayıflar.</a:t>
              </a:r>
            </a:p>
          </p:txBody>
        </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cors-wildcard"/>
          <p:cNvGrpSpPr/>
          <p:nvPr/>
        </p:nvGrpSpPr>
        <p:grpSpPr>
          <a:xfrm>
            <a:off x="609600" y="1849279"/>
            <a:ext cx="10972800" cy="1313021"/>
            <a:chOff x="609600" y="1849279"/>
            <a:chExt cx="10972800" cy="1313021"/>
          </a:xfrm>
        </p:grpSpPr>
        <p:sp>
          <p:nvSpPr>
            <p:cNvPr id="17" name="TextBox 17"/>
            <p:cNvSpPr txBox="1"/>
            <p:nvPr/>
          </p:nvSpPr>
          <p:spPr>
            <a:xfrm>
              <a:off x="753999" y="1849279"/>
              <a:ext cx="3081585"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"CORS hatası aldım;</a:t>
              </a:r>
              <a:br/>
              <a:r>
                <a:rPr lang="tr-TR" sz="1580" b="1" dirty="0">
                  <a:solidFill>
                    <a:srgbClr val="12355B"/>
                  </a:solidFill>
                  <a:latin typeface="+mn-lt"/>
                  <a:ea typeface="+mn-ea"/>
                  <a:cs typeface="+mn-cs"/>
                </a:rPr>
                <a:t>Access-Control-Allow-Origin:</a:t>
              </a:r>
            </a:p>
            <a:p>
              <a:pPr algn="l">
                <a:lnSpc>
                  <a:spcPts val="1950"/>
                </a:lnSpc>
              </a:pPr>
              <a:r>
                <a:rPr lang="tr-TR" sz="1580" b="1" dirty="0">
                  <a:solidFill>
                    <a:srgbClr val="12355B"/>
                  </a:solidFill>
                  <a:latin typeface="+mn-lt"/>
                  <a:ea typeface="+mn-ea"/>
                  <a:cs typeface="+mn-cs"/>
                </a:rPr>
                <a:t>* koyunca sorun çözülür."</a:t>
              </a:r>
            </a:p>
          </p:txBody>
        </p:sp>
        <p:sp>
          <p:nvSpPr>
            <p:cNvPr id="18" name="TextBox 18"/>
            <p:cNvSpPr txBox="1"/>
            <p:nvPr/>
          </p:nvSpPr>
          <p:spPr>
            <a:xfrm>
              <a:off x="4375404" y="1889760"/>
              <a:ext cx="32887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Joker (*) değeri kimlik bilgili (credentialed)</a:t>
              </a:r>
              <a:br/>
              <a:r>
                <a:rPr lang="tr-TR" sz="1200" dirty="0">
                  <a:solidFill>
                    <a:srgbClr val="172B3A"/>
                  </a:solidFill>
                  <a:latin typeface="+mn-lt"/>
                  <a:ea typeface="+mn-ea"/>
                  <a:cs typeface="+mn-cs"/>
                </a:rPr>
                <a:t>isteklerle birlikte kullanılamaz ve hangi</a:t>
              </a:r>
              <a:br/>
              <a:r>
                <a:rPr lang="tr-TR" sz="1200" dirty="0">
                  <a:solidFill>
                    <a:srgbClr val="172B3A"/>
                  </a:solidFill>
                  <a:latin typeface="+mn-lt"/>
                  <a:ea typeface="+mn-ea"/>
                  <a:cs typeface="+mn-cs"/>
                </a:rPr>
                <a:t>kökenin erişebileceğine dair her türlü</a:t>
              </a:r>
              <a:br/>
              <a:r>
                <a:rPr lang="tr-TR" sz="1200" dirty="0">
                  <a:solidFill>
                    <a:srgbClr val="172B3A"/>
                  </a:solidFill>
                  <a:latin typeface="+mn-lt"/>
                  <a:ea typeface="+mn-ea"/>
                  <a:cs typeface="+mn-cs"/>
                </a:rPr>
                <a:t>kontrolü ortadan kaldırır.</a:t>
              </a:r>
            </a:p>
          </p:txBody>
        </p:sp>
        <p:sp>
          <p:nvSpPr>
            <p:cNvPr id="19" name="TextBox 19"/>
            <p:cNvSpPr txBox="1"/>
            <p:nvPr/>
          </p:nvSpPr>
          <p:spPr>
            <a:xfrm>
              <a:off x="8185404" y="1889760"/>
              <a:ext cx="28773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Sabit bir allowlist tanımlanmalı; gelen</a:t>
              </a:r>
              <a:br/>
              <a:r>
                <a:rPr lang="tr-TR" sz="1200" dirty="0">
                  <a:solidFill>
                    <a:srgbClr val="172B3A"/>
                  </a:solidFill>
                  <a:latin typeface="+mn-lt"/>
                  <a:ea typeface="+mn-ea"/>
                  <a:cs typeface="+mn-cs"/>
                </a:rPr>
                <a:t>Origin başlığı bu listeye karşı</a:t>
              </a:r>
              <a:br/>
              <a:r>
                <a:rPr lang="tr-TR" sz="1200" dirty="0">
                  <a:solidFill>
                    <a:srgbClr val="172B3A"/>
                  </a:solidFill>
                  <a:latin typeface="+mn-lt"/>
                  <a:ea typeface="+mn-ea"/>
                  <a:cs typeface="+mn-cs"/>
                </a:rPr>
                <a:t>kontrol edilip yalnızca izinliyse</a:t>
              </a:r>
              <a:br/>
              <a:r>
                <a:rPr lang="tr-TR" sz="1200" dirty="0">
                  <a:solidFill>
                    <a:srgbClr val="172B3A"/>
                  </a:solidFill>
                  <a:latin typeface="+mn-lt"/>
                  <a:ea typeface="+mn-ea"/>
                  <a:cs typeface="+mn-cs"/>
                </a:rPr>
                <a:t>yansıtılmalıdır.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client-validation"/>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860358"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"Formda zaten doğrulama</a:t>
              </a:r>
              <a:br/>
              <a:r>
                <a:rPr lang="tr-TR" sz="1580" b="1" dirty="0">
                  <a:solidFill>
                    <a:srgbClr val="12355B"/>
                  </a:solidFill>
                  <a:latin typeface="+mn-lt"/>
                  <a:ea typeface="+mn-ea"/>
                  <a:cs typeface="+mn-cs"/>
                </a:rPr>
                <a:t>var; sunucuda tekrar</a:t>
              </a:r>
              <a:br/>
              <a:r>
                <a:rPr lang="tr-TR" sz="1580" b="1" dirty="0">
                  <a:solidFill>
                    <a:srgbClr val="12355B"/>
                  </a:solidFill>
                  <a:latin typeface="+mn-lt"/>
                  <a:ea typeface="+mn-ea"/>
                  <a:cs typeface="+mn-cs"/>
                </a:rPr>
                <a:t>kontrol etmeye gerek yok."</a:t>
              </a:r>
            </a:p>
          </p:txBody>
        </p:sp>
        <p:sp>
          <p:nvSpPr>
            <p:cNvPr id="24" name="TextBox 24"/>
            <p:cNvSpPr txBox="1"/>
            <p:nvPr/>
          </p:nvSpPr>
          <p:spPr>
            <a:xfrm>
              <a:off x="4375404" y="3337560"/>
              <a:ext cx="31744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İstemci tarafı kodu, tarayıcı geliştirici</a:t>
              </a:r>
              <a:br/>
              <a:r>
                <a:rPr lang="tr-TR" sz="1200" dirty="0">
                  <a:solidFill>
                    <a:srgbClr val="172B3A"/>
                  </a:solidFill>
                  <a:latin typeface="+mn-lt"/>
                  <a:ea typeface="+mn-ea"/>
                  <a:cs typeface="+mn-cs"/>
                </a:rPr>
                <a:t>araçlarından değiştirilebilir veya tamamen</a:t>
              </a:r>
              <a:br/>
              <a:r>
                <a:rPr lang="tr-TR" sz="1200" dirty="0">
                  <a:solidFill>
                    <a:srgbClr val="172B3A"/>
                  </a:solidFill>
                  <a:latin typeface="+mn-lt"/>
                  <a:ea typeface="+mn-ea"/>
                  <a:cs typeface="+mn-cs"/>
                </a:rPr>
                <a:t>atlanıp API'ye doğrudan curl/Postman ile</a:t>
              </a:r>
              <a:br/>
              <a:r>
                <a:rPr lang="tr-TR" sz="1200" dirty="0">
                  <a:solidFill>
                    <a:srgbClr val="172B3A"/>
                  </a:solidFill>
                  <a:latin typeface="+mn-lt"/>
                  <a:ea typeface="+mn-ea"/>
                  <a:cs typeface="+mn-cs"/>
                </a:rPr>
                <a:t>istek gönderilebilir.</a:t>
              </a:r>
            </a:p>
          </p:txBody>
        </p:sp>
        <p:sp>
          <p:nvSpPr>
            <p:cNvPr id="25" name="TextBox 25"/>
            <p:cNvSpPr txBox="1"/>
            <p:nvPr/>
          </p:nvSpPr>
          <p:spPr>
            <a:xfrm>
              <a:off x="8185404" y="3337560"/>
              <a:ext cx="27782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Girdi doğrulama her zaman sunucu</a:t>
              </a:r>
              <a:br/>
              <a:r>
                <a:rPr lang="tr-TR" sz="1200" dirty="0">
                  <a:solidFill>
                    <a:srgbClr val="172B3A"/>
                  </a:solidFill>
                  <a:latin typeface="+mn-lt"/>
                  <a:ea typeface="+mn-ea"/>
                  <a:cs typeface="+mn-cs"/>
                </a:rPr>
                <a:t>tarafında tekrarlanmalıdır; istemci</a:t>
              </a:r>
              <a:br/>
              <a:r>
                <a:rPr lang="tr-TR" sz="1200" dirty="0">
                  <a:solidFill>
                    <a:srgbClr val="172B3A"/>
                  </a:solidFill>
                  <a:latin typeface="+mn-lt"/>
                  <a:ea typeface="+mn-ea"/>
                  <a:cs typeface="+mn-cs"/>
                </a:rPr>
                <a:t>doğrulaması yalnızca kullanıcı</a:t>
              </a:r>
              <a:br/>
              <a:r>
                <a:rPr lang="tr-TR" sz="1200" dirty="0">
                  <a:solidFill>
                    <a:srgbClr val="172B3A"/>
                  </a:solidFill>
                  <a:latin typeface="+mn-lt"/>
                  <a:ea typeface="+mn-ea"/>
                  <a:cs typeface="+mn-cs"/>
                </a:rPr>
                <a:t>deneyimini iyileştirmek içindir.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stacktrace"/>
          <p:cNvGrpSpPr/>
          <p:nvPr/>
        </p:nvGrpSpPr>
        <p:grpSpPr>
          <a:xfrm>
            <a:off x="753999" y="4744879"/>
            <a:ext cx="10354437" cy="903827"/>
            <a:chOff x="753999" y="4744879"/>
            <a:chExt cx="10354437" cy="903827"/>
          </a:xfrm>
        </p:grpSpPr>
        <p:sp>
          <p:nvSpPr>
            <p:cNvPr id="28" name="TextBox 28"/>
            <p:cNvSpPr txBox="1"/>
            <p:nvPr/>
          </p:nvSpPr>
          <p:spPr>
            <a:xfrm>
              <a:off x="753999" y="4744879"/>
              <a:ext cx="3366021"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"Hata ayıklamayı</a:t>
              </a:r>
              <a:br/>
              <a:r>
                <a:rPr lang="tr-TR" sz="1580" b="1" dirty="0">
                  <a:solidFill>
                    <a:srgbClr val="12355B"/>
                  </a:solidFill>
                  <a:latin typeface="+mn-lt"/>
                  <a:ea typeface="+mn-ea"/>
                  <a:cs typeface="+mn-cs"/>
                </a:rPr>
                <a:t>kolaylaştırmak için tam hata</a:t>
              </a:r>
              <a:br/>
              <a:r>
                <a:rPr lang="tr-TR" sz="1580" b="1" dirty="0">
                  <a:solidFill>
                    <a:srgbClr val="12355B"/>
                  </a:solidFill>
                  <a:latin typeface="+mn-lt"/>
                  <a:ea typeface="+mn-ea"/>
                  <a:cs typeface="+mn-cs"/>
                </a:rPr>
                <a:t>mesajını istemciye döndürelim."</a:t>
              </a:r>
            </a:p>
          </p:txBody>
        </p:sp>
        <p:sp>
          <p:nvSpPr>
            <p:cNvPr id="29" name="TextBox 29"/>
            <p:cNvSpPr txBox="1"/>
            <p:nvPr/>
          </p:nvSpPr>
          <p:spPr>
            <a:xfrm>
              <a:off x="4375404" y="4785360"/>
              <a:ext cx="34640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Yığın izi (stack trace) veya ham hata mesajı,</a:t>
              </a:r>
              <a:br/>
              <a:r>
                <a:rPr lang="tr-TR" sz="1200" dirty="0">
                  <a:solidFill>
                    <a:srgbClr val="172B3A"/>
                  </a:solidFill>
                  <a:latin typeface="+mn-lt"/>
                  <a:ea typeface="+mn-ea"/>
                  <a:cs typeface="+mn-cs"/>
                </a:rPr>
                <a:t>dosya yolları, kullanılan kütüphaneler ve</a:t>
              </a:r>
              <a:br/>
              <a:r>
                <a:rPr lang="tr-TR" sz="1200" dirty="0">
                  <a:solidFill>
                    <a:srgbClr val="172B3A"/>
                  </a:solidFill>
                  <a:latin typeface="+mn-lt"/>
                  <a:ea typeface="+mn-ea"/>
                  <a:cs typeface="+mn-cs"/>
                </a:rPr>
                <a:t>sorgu yapısı gibi saldırganın işine yarayacak</a:t>
              </a:r>
              <a:br/>
              <a:r>
                <a:rPr lang="tr-TR" sz="1200" dirty="0">
                  <a:solidFill>
                    <a:srgbClr val="172B3A"/>
                  </a:solidFill>
                  <a:latin typeface="+mn-lt"/>
                  <a:ea typeface="+mn-ea"/>
                  <a:cs typeface="+mn-cs"/>
                </a:rPr>
                <a:t>iç bilgileri ifşa eder.</a:t>
              </a:r>
            </a:p>
          </p:txBody>
        </p:sp>
        <p:sp>
          <p:nvSpPr>
            <p:cNvPr id="30" name="TextBox 30"/>
            <p:cNvSpPr txBox="1"/>
            <p:nvPr/>
          </p:nvSpPr>
          <p:spPr>
            <a:xfrm>
              <a:off x="8185404" y="4785360"/>
              <a:ext cx="29230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Beklenmeyen hatalar sunucu tarafında</a:t>
              </a:r>
              <a:br/>
              <a:r>
                <a:rPr lang="tr-TR" sz="1200" dirty="0">
                  <a:solidFill>
                    <a:srgbClr val="172B3A"/>
                  </a:solidFill>
                  <a:latin typeface="+mn-lt"/>
                  <a:ea typeface="+mn-ea"/>
                  <a:cs typeface="+mn-cs"/>
                </a:rPr>
                <a:t>console.error ile loglanmalı; istemciye</a:t>
              </a:r>
              <a:br/>
              <a:r>
                <a:rPr lang="tr-TR" sz="1200" dirty="0">
                  <a:solidFill>
                    <a:srgbClr val="172B3A"/>
                  </a:solidFill>
                  <a:latin typeface="+mn-lt"/>
                  <a:ea typeface="+mn-ea"/>
                  <a:cs typeface="+mn-cs"/>
                </a:rPr>
                <a:t>yalnızca genel, güvenli bir mesaj ve</a:t>
              </a:r>
              <a:br/>
              <a:r>
                <a:rPr lang="tr-TR" sz="1200" dirty="0">
                  <a:solidFill>
                    <a:srgbClr val="172B3A"/>
                  </a:solidFill>
                  <a:latin typeface="+mn-lt"/>
                  <a:ea typeface="+mn-ea"/>
                  <a:cs typeface="+mn-cs"/>
                </a:rPr>
                <a:t>durum kodu döndürülmelidir.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validation"/>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92146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Girdi doğrulama</a:t>
              </a:r>
            </a:p>
          </p:txBody>
        </p:sp>
        <p:sp>
          <p:nvSpPr>
            <p:cNvPr id="8" name="TextBox 8"/>
            <p:cNvSpPr txBox="1"/>
            <p:nvPr/>
          </p:nvSpPr>
          <p:spPr>
            <a:xfrm>
              <a:off x="832104" y="1908810"/>
              <a:ext cx="22448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İstemciye asla güvenilmez;</a:t>
              </a:r>
              <a:br/>
              <a:r>
                <a:rPr lang="tr-TR" sz="1200" dirty="0">
                  <a:solidFill>
                    <a:srgbClr val="172B3A"/>
                  </a:solidFill>
                  <a:latin typeface="+mn-lt"/>
                  <a:ea typeface="+mn-ea"/>
                  <a:cs typeface="+mn-cs"/>
                </a:rPr>
                <a:t>her istek gövdesi sunucu</a:t>
              </a:r>
              <a:br/>
              <a:r>
                <a:rPr lang="tr-TR" sz="1200" dirty="0">
                  <a:solidFill>
                    <a:srgbClr val="172B3A"/>
                  </a:solidFill>
                  <a:latin typeface="+mn-lt"/>
                  <a:ea typeface="+mn-ea"/>
                  <a:cs typeface="+mn-cs"/>
                </a:rPr>
                <a:t>tarafında tekrar doğrulanır.</a:t>
              </a:r>
            </a:p>
          </p:txBody>
        </p:sp>
      </p:grpSp>
      <p:grpSp>
        <p:nvGrpSpPr>
          <p:cNvPr id="13" name="summary-errors"/>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274881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Merkezi hata yönetimi</a:t>
              </a:r>
            </a:p>
          </p:txBody>
        </p:sp>
        <p:sp>
          <p:nvSpPr>
            <p:cNvPr id="12" name="TextBox 12"/>
            <p:cNvSpPr txBox="1"/>
            <p:nvPr/>
          </p:nvSpPr>
          <p:spPr>
            <a:xfrm>
              <a:off x="4565904" y="1908810"/>
              <a:ext cx="21991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AppError ile beklenen ve</a:t>
              </a:r>
              <a:br/>
              <a:r>
                <a:rPr lang="tr-TR" sz="1200" dirty="0">
                  <a:solidFill>
                    <a:srgbClr val="172B3A"/>
                  </a:solidFill>
                  <a:latin typeface="+mn-lt"/>
                  <a:ea typeface="+mn-ea"/>
                  <a:cs typeface="+mn-cs"/>
                </a:rPr>
                <a:t>beklenmeyen hatalar ayrılır,</a:t>
              </a:r>
              <a:br/>
              <a:r>
                <a:rPr lang="tr-TR" sz="1200" dirty="0">
                  <a:solidFill>
                    <a:srgbClr val="172B3A"/>
                  </a:solidFill>
                  <a:latin typeface="+mn-lt"/>
                  <a:ea typeface="+mn-ea"/>
                  <a:cs typeface="+mn-cs"/>
                </a:rPr>
                <a:t>iç ayrıntı sızmaz.</a:t>
              </a:r>
            </a:p>
          </p:txBody>
        </p:sp>
      </p:grpSp>
      <p:grpSp>
        <p:nvGrpSpPr>
          <p:cNvPr id="17" name="summary-cors"/>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66348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CORS</a:t>
              </a:r>
            </a:p>
          </p:txBody>
        </p:sp>
        <p:sp>
          <p:nvSpPr>
            <p:cNvPr id="16" name="TextBox 16"/>
            <p:cNvSpPr txBox="1"/>
            <p:nvPr/>
          </p:nvSpPr>
          <p:spPr>
            <a:xfrm>
              <a:off x="8299704" y="1908810"/>
              <a:ext cx="17419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Allowlist tabanlı köken</a:t>
              </a:r>
              <a:br/>
              <a:r>
                <a:rPr lang="tr-TR" sz="1200" dirty="0">
                  <a:solidFill>
                    <a:srgbClr val="172B3A"/>
                  </a:solidFill>
                  <a:latin typeface="+mn-lt"/>
                  <a:ea typeface="+mn-ea"/>
                  <a:cs typeface="+mn-cs"/>
                </a:rPr>
                <a:t>kontrolü; CSRF'e karşı</a:t>
              </a:r>
              <a:br/>
              <a:r>
                <a:rPr lang="tr-TR" sz="1200" dirty="0">
                  <a:solidFill>
                    <a:srgbClr val="172B3A"/>
                  </a:solidFill>
                  <a:latin typeface="+mn-lt"/>
                  <a:ea typeface="+mn-ea"/>
                  <a:cs typeface="+mn-cs"/>
                </a:rPr>
                <a:t>koruma sağlamaz.</a:t>
              </a:r>
            </a:p>
          </p:txBody>
        </p:sp>
      </p:grpSp>
      <p:grpSp>
        <p:nvGrpSpPr>
          <p:cNvPr id="21" name="summary-ratelimit"/>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157764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Rate limiting</a:t>
              </a:r>
            </a:p>
          </p:txBody>
        </p:sp>
        <p:sp>
          <p:nvSpPr>
            <p:cNvPr id="20" name="TextBox 20"/>
            <p:cNvSpPr txBox="1"/>
            <p:nvPr/>
          </p:nvSpPr>
          <p:spPr>
            <a:xfrm>
              <a:off x="832104" y="3718560"/>
              <a:ext cx="20010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Kaba kuvvet ve aşırı istek</a:t>
              </a:r>
              <a:br/>
              <a:r>
                <a:rPr lang="tr-TR" sz="1200" dirty="0">
                  <a:solidFill>
                    <a:srgbClr val="172B3A"/>
                  </a:solidFill>
                  <a:latin typeface="+mn-lt"/>
                  <a:ea typeface="+mn-ea"/>
                  <a:cs typeface="+mn-cs"/>
                </a:rPr>
                <a:t>yükünü sınırlar; 429 ile</a:t>
              </a:r>
              <a:br/>
              <a:r>
                <a:rPr lang="tr-TR" sz="1200" dirty="0">
                  <a:solidFill>
                    <a:srgbClr val="172B3A"/>
                  </a:solidFill>
                  <a:latin typeface="+mn-lt"/>
                  <a:ea typeface="+mn-ea"/>
                  <a:cs typeface="+mn-cs"/>
                </a:rPr>
                <a:t>geri bildirim verir.</a:t>
              </a:r>
            </a:p>
          </p:txBody>
        </p:sp>
      </p:grpSp>
      <p:grpSp>
        <p:nvGrpSpPr>
          <p:cNvPr id="25" name="summary-secrets"/>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212527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Secrets yönetimi</a:t>
              </a:r>
            </a:p>
          </p:txBody>
        </p:sp>
        <p:sp>
          <p:nvSpPr>
            <p:cNvPr id="24" name="TextBox 24"/>
            <p:cNvSpPr txBox="1"/>
            <p:nvPr/>
          </p:nvSpPr>
          <p:spPr>
            <a:xfrm>
              <a:off x="4565904" y="3718560"/>
              <a:ext cx="24429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Ortam değişkenleriyle sağlanır,</a:t>
              </a:r>
              <a:br/>
              <a:r>
                <a:rPr lang="tr-TR" sz="1200" dirty="0">
                  <a:solidFill>
                    <a:srgbClr val="172B3A"/>
                  </a:solidFill>
                  <a:latin typeface="+mn-lt"/>
                  <a:ea typeface="+mn-ea"/>
                  <a:cs typeface="+mn-cs"/>
                </a:rPr>
                <a:t>fail-fast ile eksiklik başlangıçta</a:t>
              </a:r>
              <a:br/>
              <a:r>
                <a:rPr lang="tr-TR" sz="1200" dirty="0">
                  <a:solidFill>
                    <a:srgbClr val="172B3A"/>
                  </a:solidFill>
                  <a:latin typeface="+mn-lt"/>
                  <a:ea typeface="+mn-ea"/>
                  <a:cs typeface="+mn-cs"/>
                </a:rPr>
                <a:t>yakalanır.</a:t>
              </a:r>
            </a:p>
          </p:txBody>
        </p:sp>
      </p:grpSp>
      <p:grpSp>
        <p:nvGrpSpPr>
          <p:cNvPr id="29" name="summary-owasp"/>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12084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OWASP eşleşmesi</a:t>
              </a:r>
            </a:p>
          </p:txBody>
        </p:sp>
        <p:sp>
          <p:nvSpPr>
            <p:cNvPr id="28" name="TextBox 28"/>
            <p:cNvSpPr txBox="1"/>
            <p:nvPr/>
          </p:nvSpPr>
          <p:spPr>
            <a:xfrm>
              <a:off x="8299704" y="3718560"/>
              <a:ext cx="21305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Beş katman, OWASP API</a:t>
              </a:r>
              <a:br/>
              <a:r>
                <a:rPr lang="tr-TR" sz="1200" dirty="0">
                  <a:solidFill>
                    <a:srgbClr val="172B3A"/>
                  </a:solidFill>
                  <a:latin typeface="+mn-lt"/>
                  <a:ea typeface="+mn-ea"/>
                  <a:cs typeface="+mn-cs"/>
                </a:rPr>
                <a:t>Security Top 10'daki başlıca</a:t>
              </a:r>
              <a:br/>
              <a:r>
                <a:rPr lang="tr-TR" sz="1200" dirty="0">
                  <a:solidFill>
                    <a:srgbClr val="172B3A"/>
                  </a:solidFill>
                  <a:latin typeface="+mn-lt"/>
                  <a:ea typeface="+mn-ea"/>
                  <a:cs typeface="+mn-cs"/>
                </a:rPr>
                <a:t>kategorilere karşılık gelir.</a:t>
              </a:r>
            </a:p>
          </p:txBody>
        </p:sp>
      </p:grpSp>
      <p:grpSp>
        <p:nvGrpSpPr>
          <p:cNvPr id="33" name="exam-note"/>
          <p:cNvGrpSpPr/>
          <p:nvPr/>
        </p:nvGrpSpPr>
        <p:grpSpPr>
          <a:xfrm>
            <a:off x="609600" y="4972050"/>
            <a:ext cx="10972800" cy="1028700"/>
            <a:chOff x="609600" y="4972050"/>
            <a:chExt cx="10972800" cy="1028700"/>
          </a:xfrm>
        </p:grpSpPr>
        <p:sp>
          <p:nvSpPr>
            <p:cNvPr id="30" name="Rectangle 30"/>
            <p:cNvSpPr/>
            <p:nvPr/>
          </p:nvSpPr>
          <p:spPr>
            <a:xfrm>
              <a:off x="609600" y="4972050"/>
              <a:ext cx="10972800" cy="1028700"/>
            </a:xfrm>
            <a:prstGeom prst="roundRect">
              <a:avLst>
                <a:gd name="adj" fmla="val 7407"/>
              </a:avLst>
            </a:prstGeom>
            <a:solidFill>
              <a:srgbClr val="EAF4F6"/>
            </a:solidFill>
            <a:ln>
              <a:noFill/>
            </a:ln>
          </p:spPr>
        </p:sp>
        <p:sp>
          <p:nvSpPr>
            <p:cNvPr id="31" name="TextBox 31"/>
            <p:cNvSpPr txBox="1"/>
            <p:nvPr/>
          </p:nvSpPr>
          <p:spPr>
            <a:xfrm>
              <a:off x="905256" y="5101590"/>
              <a:ext cx="6199061"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Güvenli backend, tek bir büyük önlem değil, bağımsız</a:t>
              </a:r>
              <a:br/>
              <a:r>
                <a:rPr lang="tr-TR" sz="1800" b="1" dirty="0">
                  <a:solidFill>
                    <a:srgbClr val="12355B"/>
                  </a:solidFill>
                  <a:latin typeface="+mn-lt"/>
                  <a:ea typeface="+mn-ea"/>
                  <a:cs typeface="+mn-cs"/>
                </a:rPr>
                <a:t>katmanların birlikte çalışmasıdır.</a:t>
              </a:r>
            </a:p>
          </p:txBody>
        </p:sp>
        <p:sp>
          <p:nvSpPr>
            <p:cNvPr id="32" name="TextBox 32"/>
            <p:cNvSpPr txBox="1"/>
            <p:nvPr/>
          </p:nvSpPr>
          <p:spPr>
            <a:xfrm>
              <a:off x="906399" y="5659279"/>
              <a:ext cx="691419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Bir katmanın atlanması, diğerlerinin varlığını anlamsız kılabilir.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370648"/>
            <a:ext cx="8638032" cy="1067181"/>
            <a:chOff x="599694" y="1370648"/>
            <a:chExt cx="8638032" cy="1067181"/>
          </a:xfrm>
        </p:grpSpPr>
        <p:sp>
          <p:nvSpPr>
            <p:cNvPr id="7" name="TextBox 7"/>
            <p:cNvSpPr txBox="1"/>
            <p:nvPr/>
          </p:nvSpPr>
          <p:spPr>
            <a:xfrm>
              <a:off x="599694" y="1370648"/>
              <a:ext cx="8638032" cy="10671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Gelen istekleri doğrulamayı, hataları yönetmeyi ve sınırları korumayı</a:t>
              </a:r>
              <a:br/>
              <a:r>
                <a:rPr lang="tr-TR" sz="1950" dirty="0">
                  <a:solidFill>
                    <a:srgbClr val="172B3A"/>
                  </a:solidFill>
                  <a:latin typeface="+mn-lt"/>
                  <a:ea typeface="+mn-ea"/>
                  <a:cs typeface="+mn-cs"/>
                </a:rPr>
                <a:t>öğrendiniz. Sıradaki adım, backend'in dış dünyayla veri, dosya ve</a:t>
              </a:r>
              <a:br/>
              <a:r>
                <a:rPr lang="tr-TR" sz="1950" dirty="0">
                  <a:solidFill>
                    <a:srgbClr val="172B3A"/>
                  </a:solidFill>
                  <a:latin typeface="+mn-lt"/>
                  <a:ea typeface="+mn-ea"/>
                  <a:cs typeface="+mn-cs"/>
                </a:rPr>
                <a:t>servis alışverişini güvenle kurmaktır.</a:t>
              </a:r>
            </a:p>
          </p:txBody>
        </p:sp>
      </p:grpSp>
      <p:grpSp>
        <p:nvGrpSpPr>
          <p:cNvPr id="14" name="bridge-now"/>
          <p:cNvGrpSpPr/>
          <p:nvPr/>
        </p:nvGrpSpPr>
        <p:grpSpPr>
          <a:xfrm>
            <a:off x="599694" y="2799398"/>
            <a:ext cx="3255391" cy="1834419"/>
            <a:chOff x="599694" y="2799398"/>
            <a:chExt cx="3255391"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614549"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Girdi doğrulama ve merkezi</a:t>
              </a:r>
              <a:br/>
              <a:r>
                <a:rPr lang="tr-TR" sz="1580" dirty="0">
                  <a:solidFill>
                    <a:srgbClr val="172B3A"/>
                  </a:solidFill>
                  <a:latin typeface="+mn-lt"/>
                  <a:ea typeface="+mn-ea"/>
                  <a:cs typeface="+mn-cs"/>
                </a:rPr>
                <a:t>hata yönetimi kurmak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300583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CORS, rate limiting ve secrets</a:t>
              </a:r>
              <a:br/>
              <a:r>
                <a:rPr lang="tr-TR" sz="1580" dirty="0">
                  <a:solidFill>
                    <a:srgbClr val="172B3A"/>
                  </a:solidFill>
                  <a:latin typeface="+mn-lt"/>
                  <a:ea typeface="+mn-ea"/>
                  <a:cs typeface="+mn-cs"/>
                </a:rPr>
                <a:t>yönetimini uygulamak</a:t>
              </a:r>
            </a:p>
          </p:txBody>
        </p:sp>
      </p:grpSp>
      <p:grpSp>
        <p:nvGrpSpPr>
          <p:cNvPr id="19" name="bridge-next"/>
          <p:cNvGrpSpPr/>
          <p:nvPr/>
        </p:nvGrpSpPr>
        <p:grpSpPr>
          <a:xfrm>
            <a:off x="7010400" y="2667000"/>
            <a:ext cx="4572000" cy="2309717"/>
            <a:chOff x="7010400" y="2667000"/>
            <a:chExt cx="4572000" cy="2309717"/>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3488293"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Dosya yükleme, e-posta</a:t>
              </a:r>
              <a:br/>
              <a:r>
                <a:rPr lang="tr-TR" sz="2250" b="1" dirty="0">
                  <a:solidFill>
                    <a:srgbClr val="FFFFFF"/>
                  </a:solidFill>
                  <a:latin typeface="+mn-lt"/>
                  <a:ea typeface="+mn-ea"/>
                  <a:cs typeface="+mn-cs"/>
                </a:rPr>
                <a:t>ve üçüncü taraf API'ler</a:t>
              </a:r>
            </a:p>
          </p:txBody>
        </p:sp>
        <p:sp>
          <p:nvSpPr>
            <p:cNvPr id="18" name="TextBox 18"/>
            <p:cNvSpPr txBox="1"/>
            <p:nvPr/>
          </p:nvSpPr>
          <p:spPr>
            <a:xfrm>
              <a:off x="7307199" y="4135279"/>
              <a:ext cx="3306826"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Bu bölümün savunma katmanlarını</a:t>
              </a:r>
              <a:br/>
              <a:r>
                <a:rPr lang="tr-TR" sz="1580" dirty="0">
                  <a:solidFill>
                    <a:srgbClr val="EAF4F6"/>
                  </a:solidFill>
                  <a:latin typeface="+mn-lt"/>
                  <a:ea typeface="+mn-ea"/>
                  <a:cs typeface="+mn-cs"/>
                </a:rPr>
                <a:t>dış servis entegrasyonlarına</a:t>
              </a:r>
              <a:br/>
              <a:r>
                <a:rPr lang="tr-TR" sz="1580" dirty="0">
                  <a:solidFill>
                    <a:srgbClr val="EAF4F6"/>
                  </a:solidFill>
                  <a:latin typeface="+mn-lt"/>
                  <a:ea typeface="+mn-ea"/>
                  <a:cs typeface="+mn-cs"/>
                </a:rPr>
                <a:t>taşıyacaksınız.</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9883521"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Her yeni entegrasyonda: gelen veriyi doğrulayın, hataları merkezi olarak yönetin ve</a:t>
              </a:r>
              <a:br/>
              <a:r>
                <a:rPr lang="tr-TR" sz="1800" b="1" dirty="0">
                  <a:solidFill>
                    <a:srgbClr val="12355B"/>
                  </a:solidFill>
                  <a:latin typeface="+mn-lt"/>
                  <a:ea typeface="+mn-ea"/>
                  <a:cs typeface="+mn-cs"/>
                </a:rPr>
                <a:t>erişimi allowlist ile sınırlayın.</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11-secure-backend-20260915">
  <a:themeElements>
    <a:clrScheme name="b11-secure-backend-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1-secure-backend-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1-secure-backend-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11-secure-backend-20260915">
  <a:themeElements>
    <a:clrScheme name="b11-secure-backend-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1-secure-backend-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1-secure-backend-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2026-09-19T21:22:33Z</dcterms:created>
  <dcterms:modified xsi:type="dcterms:W3CDTF">2026-09-19T21:22:33Z</dcterms:modified>
  <cp:category/>
  <cp:contentStatus/>
</cp:coreProperties>
</file>