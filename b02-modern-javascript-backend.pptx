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JavaScript tarayıcıdaki küçük etkileşimler için yaygınlaştı; bugün ise Node.js gibi çalışma zamanları sayesinde sunucu tarafında da güçlü biçimde kullanılıyor. Backend geliştiricisi için JavaScript bilmek; HTTP isteği almak, veri tabanına bağlanmak, dış servislerden bilgi çekmek ve sonucu güvenli biçimde döndürmek demektir. Örneklerde TypeScript kullanacağız, ancak ele alınan sözdiziminin büyük kısmı ECMAScript standardına dayanır. Bölümün sonunda her backend kodunun yanıtlaması gereken üç soruya döneceğiz: veri nereden geliyor, hangi iş kuralından geçiyor ve hata olursa ne oluyor. Bu yapılar Üniversite Laboratuvar Yönetim Sistemi’nde de kullanılacak; laboratuvar listesi destructuring ile ayrıştırılacak, rezervasyon kayıtları Promise zinciriyle işlenecek.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Başarıyı kavramları saymakla değil, bir akışta doğru kararı gerekçelendirebilmekle ölçeceğiz. Modüller konusunda veri erişimi ile iş kuralını aynı dosyaya koymanın maliyetini açıklayabilmeniz beklenir; bu maliyetin mimari karşılığı Bölüm 9’daki controller-service-repository ayrımıdır. Promise için pending, fulfilled ve rejected arasındaki geçişin tek yönlü olduğunu bilmek gerekir; bu geçişlerin çalışma zamanında hangi sırayla yürütüldüğünü Bölüm 4’teki event loop aşamaları açıklar. async/await hedefinde, await unutulduğunda değişkenin neden sonuç yerine Promise tuttuğunu görebilmelisiniz. Veri ayrıştırmada undefined denetimini ayrıştırma anında yapmanın sonraki hataları nasıl önlediğini, hata yönetiminde ise metin fırlatmak yerine Error türeyen sınıflar kullanmanın ve finally ile kaynak temizlemenin gerekçesini savunabilmelisiniz.</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Harita, bölümdeki kavramların tek bir backend isteğini işlerken nasıl birlikte çalıştığını özetliyor. ES modülleri tüm akışı saran yapısal çerçevedir; her adım bir sorumluluk dosyasında yaşar. İstek geldiğinde destructuring gövdeden gereken alanları ayıklar, async/await asenkron adımları okunur bir sırayla yürütür ve bu sözdiziminin temelinde Promise vardır. Hata yönetimi tek bir adıma ait değildir, akışın her noktasında devrededir. Kesikli oklar dolaylı destek ilişkilerini gösterir: destructuring sırasında oluşan biçim hataları hata yönetimine akar, TypeScript’in tür denetimi ise destructuring’i güvenli kılar. En altta dil zemini olarak ES2025+ sözdizimi ve TypeScript bulunur.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sınırlar kavram karmaşasını önlemek için önemlidir, çünkü her kavramın yokluğu farklı bir sorun doğurur. Modern sözdizimi olmasaydı eski ES5 kalıplarına bağlı kalır, nesne ve asenkron işlemleri hantal biçimde yazardık. Modüller olmasaydı tüm fonksiyonlar küresel alana yığılır, isim çakışmaları ve yönetilemez bir spagetti mimari oluşurdu. Promise olmasaydı callback cehennemi doğar, asenkron hataları zincirleyip üst katmana taşımak neredeyse imkânsızlaşırdı. async/await olmadan iç içe then ve catch blokları okunurluğu ve hata ayıklama verimini düşürür. Destructuring olmadan obj.alan.altAlan tekrarları artar. Yakalanmayan bir istisna, yani uncaughtException ya da unhandledRejection, ise Node.js sürecini anında sonlandırır.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ECMAScript, JavaScript dilinin kurallarını tanımlayan standarttır; JavaScript bu standardın yaygın uygulamasıdır; TypeScript ise JavaScript’e tür sistemi ekleyen bir üst kümedir. Standart olmasaydı her JavaScript motoru dili farklı yorumlayabilir, bir sunucuda çalışan kod başka bir ortamda çalışmayabilirdi. TypeScript’teki string, number ya da interface gibi yapılar geliştiriciye yardımcı olur ancak derlenen JavaScript çıktısında genellikle bulunmaz. Kademeli tipleme yaklaşımı, tamamen dinamik diller ile Java ya da C# gibi tamamen statik diller arasında bir ödünleşimdir. Benzetmeyle söylersek trafik kuralları ortak standardı sağlar, sürüş destek sistemi ise yanlış şeride girme riskini azaltır; kod tabanı büyüdükçe bu destek daha değerli hâle gelir.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JavaScript 1995’te Brendan Eich tarafından Netscape’te yaklaşık on günde tasarlandı; Ecma International onu 1997’de ECMA-262 standardıyla biçimsel hâle getirdi, böylece farklı tarayıcı üreticileri dili tutarlı uygulayabildi. 2006’da Siek ve Taha kademeli tipleme fikrini ortaya koydu. 2009’da Node.js CommonJS modül sistemini benimsedi. 2012’de Promises/A+ spesifikasyonu tüm uygulamalarda tutarlı bir then davranışı güvenceye aldı; aynı yıl C# 5.0 async ve await sözdizimini endüstride yaygınlaştırdı. ES2015, yani ES6, dile sınıf, modül, let ve const, ok fonksiyonu ve Promise ekleyerek JavaScript’i backend geliştirmede ciddiye alınır kıldı. ES2017 async/await’i dile getirdi; güncel başvuru ise ECMA-262’nin 16. baskısı olan ECMAScript 2025’tir.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örnek API’den gelen kullanıcı kayıtlarını filtreleyip yalnızca aktif kullanıcıların özet metnini üretiyor. filter aktif olmayan kaydı eler, map kalan her kaydı yeni bir metne dönüştürür; iki işlem de kaynak diziyi değiştirmez, bu yüzden sipariş, ürün ya da log kayıtlarında yan etkisiz dönüşüm için uygundur. kullanici.adres?.sehir ifadesi önce adres alanının varlığını denetler, yoksa hata vermek yerine undefined üretir; ardından ?? yalnızca null ya da undefined için “Şehir bilgisi yok” varsayılanını seçer. readonly kimlik, veri tabanı birincil anahtarı gibi değişmemesi gereken bir alanın yanlışlıkla değiştirilmesini derleme zamanında engeller. Bir uyarı: çok uzun zincirler yerine kritik iş kurallarını anlamlı değişkenlere bölmek çoğu zaman daha okunurdur.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İlk tuzak || ile ?? arasındaki farkı göz ardı etmektir. Puan değeri 0 olduğunda || işleci 0’ı “falsy” saydığı için 100 döndürür ve geçerli bir değer kaybolur; ?? ise yalnızca null ya da undefined durumunda varsayılanı seçer ve 0’ı korur. Aynı sorun boş metin gibi geçerli değerlerde de ortaya çıkar. Optional chaining için de benzer bir dikkat gerekir: isteğe bağlı alanlarda dayanıklılık sağlar, ama ödeme tutarı gibi zorunlu bir veride sessizce devam etmek yerine doğrulama hatası üretilmelidir. İkinci tuzak const ile tanımlanmış nesnenin tamamen değişmez olduğunu sanmaktır; const yalnızca yeniden atamayı engeller. Alanları korumak gerekiyorsa readonly, Object.freeze ya da değişmez veri yaklaşımı kullanılır. let yalnızca gerçekten yeniden atanacak değerler içindir; var ise fonksiyon kapsamı nedeniyle hataya açıktır.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Modül, belirli bir sorumluluğu taşıyan ve dışarıya açıkça aktarılan kod birimidir; export bir değeri dışarı açar, import başka bir modülün değerini kullanıma alır. David Parnas 1972 tarihli makalesinde modüllere ayırmanın ölçütünün işlem akışı değil, değişme olasılığı yüksek kararların gizlenmesi olduğunu savundu: modül yalnızca gerekli arayüzü açar, iç ayrıntıyı saklar. JavaScript’te bu fikir önce Node.js’in CommonJS sistemiyle, ardından ECMAScript 2015’in import/export sözdizimiyle karşılık buldu. İki sistemin temel farkı çözümleme zamanıdır: CommonJS modülleri çalışma zamanında dinamik çözer, ES Modules ise derleme ya da paketleme aşamasında statik çözülebilir. Bu yüzden tree-shaking gibi optimizasyonlar yalnızca ES Modules ile güvenle yapılabilir.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dosyalık bu örnek katmanlı mimarinin en küçük hâlidir. kullanici-verisi.ts yalnızca veri modelinden ve kullaniciBul fonksiyonundan sorumludur; find eşleşme bulamazsa undefined döndürür ve bu sözleşme çağıran modülde doğrulanmak zorundadır. kullanici-servisi.ts bu değerleri named import ile alır, önce varlığı sonra aktifliği denetler ve iki durum için ayrı hata fırlatır. uygulama.ts ise yalnızca servisi çağırır, kullanıcının nereden bulunduğunu bilmez. Restoranda garsonun depoda ürün sayımı yapmaması gibi, giriş modülünün de veri tabanı ayrıntısını bilmemesi gerekir. Sık yapılan hatalar arasında export edilmeyen bir değeri import etmeye çalışmak ve modüller arasında döngüsel bağımlılık kurmak vardır; ortak yapıları üçüncü bir modüle taşımak daha güvenlidir. Named export büyük projelerde bağımlılıkları daha görünür kılar, default export ise tek baskın değer taşıyan dosyalarda anlamlıdır.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Promise, henüz tamamlanmamış bir asenkron işlemin gelecekteki sonucunu temsil eden nesnedir. Başlangıçta pending durumundadır; işlem başarılı olursa fulfilled, teknik bir hata olursa rejected olur ve bir kez sonuçlandıktan sonra durum bir daha değişmez. Bu değişmezlik, aynı sonucun birden fazla then çağrısına tutarlı biçimde dağıtılmasını sağlayan kuramsal temeldir. Örnekte “kullanıcı bulunamadı” durumu teknik hata olarak değil, union type ile modellenmiş bir iş sonucu olarak döner; veri tabanı bağlantısının kopması ise reddetme ile ele alınır. then başarılı sonucu, catch reddedilen Promise’i işler; finally sonuç ne olursa olsun çalışır ve bağlantı kapatma ya da ölçüm kaydı için uygundur. İki yaygın hata catch eklemeyi unutmak ve then içinde return yazmamaktır.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async/await, Promise tabanlı kodu sıralı görünen bir biçimde yazmayı sağlayan sözdizimidir; async olarak tanımlanan her fonksiyon otomatik olarak Promise döndürür. await bir Promise’in sonucunu beklerken yalnızca ilgili fonksiyonun akışını askıya alır ve kontrolü gönüllü olarak çalışma zamanına devreder; bu sırada event loop başka istekleri işler. Kökeni Melvin Conway’in 1963’te tanımladığı koroutin kavramıdır; C# 5.0 bu fikri 2012’de yaygınlaştırdı. Bu işbirlikçi çoklu görev modeli, iki await arasındaki senkron kodun neden kesintisiz çalıştığını da açıklar. Ancak await yeni bir thread açmaz: CPU yoğun bir döngü ya da senkron dosya işlemi event loop’u yine meşgul eder. Hata yönetimi try/catch ile aynı bölgede toplanır; bunun Express’teki karşılığı Bölüm 11’deki merkezi hata middleware’idir.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örnekte önce siparisGetir çağrılır, çünkü müşteri kimliği ve ürün kodu sipariş bilgisinden gelir; bu adım diğerlerinden önce tamamlanmak zorundadır. Sipariş geldikten sonra müşteri ve stok sorguları birbirinden bağımsızdır, bu yüzden Promise.all ile birlikte başlatılır ve ikisi de tamamlanınca sonuçlar dizi olarak döner. Destructuring bu sonuçları doğrudan musteri ve stokDurumu değişkenlerine bağlar. Mutfak benzetmesiyle, çorbanın kaynamasını beklerken salata hazırlamak gibidir. Eşzamanlı yürütmede toplam süre en yavaş çağrıya yaklaşır; art arda beklemede ise süreler toplanır. Bağımsız işlemleri sırayla await etmek gereksiz gecikme yaratır.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Karar iki soruyla verilir. Bir işlemin sonucu sonraki adımın girdisiyse sıralı await zorunludur; kullanıcı kimliği alınmadan ayrıntısına ulaşılamaması buna örnektir. İşlemler bağımsızsa ikinci soru hata politikasıdır: sorgulardan birinin hatası tüm sonucu geçersiz kılıyorsa Promise.all uygundur, çünkü ilk reddedilen çağrıda tümünü başarısız sayar. Kısmi başarının kabul edildiği raporlama senaryolarında her sonucun durumunu veren Promise.allSettled daha doğrudur. Sıkı bir hız sınırı olan dış serviste art arda yürütme ani yük bindirmediği için tercih edilebilir. Kısa bir dönüşümde .then kullanmak da tamamen geçerlidir; ölçüt, hata akışının açıkça görünmesidir. Yaygın hatalar arasında async olmayan fonksiyonda await kullanmak, çağrı noktasında catch koymamak ve then içinde return unutmak yer alır.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Destructuring, nesne ya da dizi içindeki değerleri kısa ve anlamlı değişkenlere ayırır; nesnede alan adına, dizide sıraya göre çalışır ve kaynak nesneyi değiştirmez. musteriKimlik: kimlik ifadesi alanı yeni bir adla alır. teslimatAdresi için verilen varsayılan yalnızca değer undefined ise kullanılır; kaynakta boş metin varsa korunur. [ilkUrun, ...digerUrunler] ilk ürünü ayırıp kalanları yeni diziye aktarır, ...ekAlanlar ise seçilmeyen alanları toplar; bu ek alanların neden saklandığı açık olmalıdır. Kavramsal kökeni fonksiyonel dillerdeki örüntü eşleştirmedir, ancak JavaScript yalnızca biçim ayrıştırmayı alır. Backend’deki değeri arayüz daralmasıdır: fonksiyon büyük istek nesnesine değil, gerektiği alanlara bağımlı olur ve bu, Ian Holland’ın 1987’deki en az bilgi ilkesiyle örtüşür. TypeScript 2.1 ile bu sözdizimi tür çıkarımıyla rahatça kullanılır hâle geldi.</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Dört dikkat noktası öne çıkıyor. Varsayılan değer yalnızca undefined için devreye girer; tema alanı null geldiğinde null kalır, bu yüzden null da ele alınacaksa ?? kullanılır. Yeniden adlandırmada doğru biçim solda kaynak alan, sağda yeni addır; ters yazmak var olmayan bir alanı arar. Dizi ayrıştırma sıraya bağımlıdır; sıra sözleşmenin parçası değilse ya da sonuç çoksa nesne döndürmek kodu yanlış sıraya bağımlı olmaktan kurtarır. Son olarak ayrıştırılan ana nesne null ya da undefined ise destructuring doğrudan TypeError fırlatır; varsayılan boş nesne ya da optional chaining ile savunmacı yazılmalıdır. Unutmayın, destructuring gelen verinin tipini veya doğruluğunu denetlemez; şema doğrulamasının yerine geçmez. Nesnenin tamamı başka bir katmana iletilecekse ayrıştırmak zorunlu da değildir.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Hata yönetimi, sorunları yakalama, sınıflandırma, kaydetme ve istemciye güvenli yanıt verme yaklaşımıdır. Hastane triyajında olduğu gibi basit bir doğrulama hatası ile bağlantı kopması aynı öncelikte ele alınmaz. TypeScript’te catch değeri unknown kabul edilir, çünkü JavaScript’te metin ya da sayı da fırlatılabilir; instanceof denetimi önce özel KaynakBulunamadiHatasi sınıfını, sonra genel Error’ı ayırır. Bu ayrım, HTTP katmanına geçildiğinde 404 ve 500 yanıtlarını üretmeyi kolaylaştırır. İstemciye yalnızca düzeltebileceği bilgi gider; ayrıntı zaman damgası ve istek kimliğiyle günlüğe yazılır. Her küçük fonksiyonda geniş try/catch kullanmak doğru değildir; hata onu gerçekten yorumlayabilen katmanda yakalanmalıdır. Kuramsal olarak bu sınıflandırma, hata modları ve etkileri analizi olan FMEA ile ilişkilidir.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Modern sözdizimi kolaylık sağlar, ama arka plandaki mantık kavranmazsa ciddi çalışma zamanı krizleri doğar. Birinci yanılgı async/await’in yeni thread açtığıdır; oysa Node.js ve V8 tek iş parçacıklıdır ve ağır bir matematiksel döngü tüm sunucunun istek karşılamasını durdurur, bu yüzden hesap Worker Threads’e ya da harici bir kuyruğa devredilmelidir. İkinci yanılgı try/catch’in callback içindeki hatayı yakaladığıdır; setTimeout ya da eventEmitter.on içinde fırlatılan hata aynı çağrı yığınında olmadığı için yakalanamaz ve süreci çökertir. Çözüm, akışı Promise tabanlı yazıp her Promise’i await etmek ya da catch ile sarmalamaktır. Üçüncü yanılgı destructuring’in undefined’a karşı güvence verdiğidir; ana nesne yoksa TypeError alırız.</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derlenmez ve güvenli hata işlemez; altı hatayı sırayla düşünelim. await, async olmayan bir fonksiyonda kullanılmış ve TS1308 hatası üretmiş. Fonksiyon void dönüyor, oysa asenkron çalışması için Promise&lt;void&gt; dönmeli; bu yüzden sondaki .catch çağrısı da geçersiz. Koşulda eşitlik yerine atama yapılmış; bu, aktif olmayan kullanıcıyı bile aktif sayarak iş kuralını atlatan bir güvenlik sorunudur. toUpperCase parantezsiz yazıldığı için çağrılmamış. Laboratuvar tartışmasında Bahar’ın vurguladığı gibi en tehlikelisi düz metin fırlatmaktır: çağrı yığını kaybolur ve catch içinde hata.message undefined döner. Düzeltilmiş kod ELIF yazdırır; Türkçe noktalı İ için toLocaleUpperCase('tr') gerekir. finally eklenseydi veri tabanı bağlantısını kapatmak iyi bir temizlik adımı olurdu.</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Mini uygulama bölümün tüm kavramlarını tek akışta birleştiriyor. Musteri ve Siparis arayüzleri veri sözleşmesini tanımlar; VeriDeposu veri erişiminden, SiparisServisi iş kurallarından, main ise uygulama akışından sorumludur. Servis müşteri ve sipariş sorgularını Promise.all ile eşzamanlı başlatır, pasif müşteride hata fırlatır, ardından destructuring ile adı ve e-postayı, siparişin ilk ürününü ve kalanlarını ayırır; e-posta yoksa varsayılan değer kullanılır. main içinde özel hata sınıfı genel Error’dan ayrı yakalanır, finally ise her durumda isteğin tamamlandığını yazar. Programı genişletmek için VeriDeposu’nu ayrı modüle taşıyıp setTimeout ile gecikme ekleyebilir, siparişe fiyat, indirim ve KDV servisi ekleyebilir ya da ayrıntıları istemciye vermeden zaman damgasıyla günlükleyen bir GunlukServisi yazabilirsiniz.</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Bölümü üç soruyla toparlayalım. Verinin nereden geldiği sorusunu modüller yanıtlar: export ve import bağımlılıkları görünür kılar, destructuring gerekeni ayıklar, optional chaining ve nullish coalescing eksik alanları güvenle karşılar. Hangi iş kuralından geçildiği sorusunu servis katmanı ile Promise ve async/await yanıtlar; Promise pending, fulfilled ve rejected durumlarıyla gelecekteki sonucu temsil eder, bağımlı adımlar sırayla, bağımsızlar Promise.all ile yürür. Hata olursa ne olacağı sorusunu özel hata sınıfları, unknown ve type guard yanıtlar; istemciye güvenli mesaj, günlüğe ayrıntı gider, finally temizliği üstlenir. ECMAScript, JavaScript ve TypeScript kavramlarını birbirinin yerine kullanmamaya dikkat edin; aralarındaki ilişki sık sorulan bir konudur.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Bir sonraki bölümde bu temelleri TypeScript tür sistemiyle güçlendireceğiz. Arayüzler, tür daraltma, generics ve derleme zamanı denetimleri üzerinde çalışırken burada yazdığınız servis, Promise ve hata yönetimi kodunu doğrudan kullanacaksınız; örneğin unknown hata değerini güvenli bir türe daraltmak ya da Promise&lt;T&gt; ile servis sözleşmeleri yazmak. Özellikle modüler düşünme alışkanlığı kritik olacak: HTTP rotası isteği karşılar, servis katmanı iş kuralını uygular, veri erişim katmanı veriyi alır. Böylece büyüyen uygulama okunabilir, test edilebilir ve sürdürülebilir kalır. Hazırlık için alıştırmalardaki modüler ürün servisini ve hata kodlu API yanıtı görevini denemenizi öneririm.</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02-modern-javascript-backend-20260914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02-modern-javascript-backend-20260914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9" name="cover-field"/>
          <p:cNvGrpSpPr/>
          <p:nvPr/>
        </p:nvGrpSpPr>
        <p:grpSpPr>
          <a:xfrm>
            <a:off x="0" y="0"/>
            <a:ext cx="6096000" cy="6858000"/>
            <a:chOff x="0" y="0"/>
            <a:chExt cx="6096000" cy="6858000"/>
          </a:xfrm>
        </p:grpSpPr>
        <p:sp>
          <p:nvSpPr>
            <p:cNvPr id="2" name="Rectangle 2"/>
            <p:cNvSpPr/>
            <p:nvPr/>
          </p:nvSpPr>
          <p:spPr>
            <a:xfrm>
              <a:off x="0" y="0"/>
              <a:ext cx="6096000" cy="6858000"/>
            </a:xfrm>
            <a:prstGeom prst="rect">
              <a:avLst/>
            </a:prstGeom>
            <a:gradFill>
              <a:gsLst>
                <a:gs pos="0">
                  <a:srgbClr val="12355B"/>
                </a:gs>
                <a:gs pos="100000">
                  <a:srgbClr val="0C2743"/>
                </a:gs>
              </a:gsLst>
              <a:lin ang="5400000" scaled="1"/>
            </a:gradFill>
            <a:ln>
              <a:noFill/>
            </a:ln>
          </p:spPr>
        </p:sp>
        <p:sp>
          <p:nvSpPr>
            <p:cNvPr id="3" name="Rectangle 3"/>
            <p:cNvSpPr/>
            <p:nvPr/>
          </p:nvSpPr>
          <p:spPr>
            <a:xfrm>
              <a:off x="0" y="0"/>
              <a:ext cx="6096000" cy="114300"/>
            </a:xfrm>
            <a:prstGeom prst="rect">
              <a:avLst/>
            </a:prstGeom>
            <a:solidFill>
              <a:srgbClr val="00A6A6"/>
            </a:solidFill>
            <a:ln>
              <a:noFill/>
            </a:ln>
          </p:spPr>
        </p:sp>
        <p:sp>
          <p:nvSpPr>
            <p:cNvPr id="4" name="TextBox 4"/>
            <p:cNvSpPr txBox="1"/>
            <p:nvPr/>
          </p:nvSpPr>
          <p:spPr>
            <a:xfrm>
              <a:off x="598170" y="1185862"/>
              <a:ext cx="1484643"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BÖLÜM 02</a:t>
              </a:r>
            </a:p>
          </p:txBody>
        </p:sp>
        <p:sp>
          <p:nvSpPr>
            <p:cNvPr id="5" name="TextBox 5"/>
            <p:cNvSpPr txBox="1"/>
            <p:nvPr/>
          </p:nvSpPr>
          <p:spPr>
            <a:xfrm>
              <a:off x="590550" y="1864995"/>
              <a:ext cx="4744688" cy="1943100"/>
            </a:xfrm>
            <a:prstGeom prst="rect">
              <a:avLst/>
            </a:prstGeom>
            <a:noFill/>
            <a:ln>
              <a:noFill/>
            </a:ln>
          </p:spPr>
          <p:txBody>
            <a:bodyPr wrap="none" lIns="0" tIns="0" rIns="0" bIns="0" anchor="t" anchorCtr="0">
              <a:spAutoFit/>
            </a:bodyPr>
            <a:lstStyle/>
            <a:p>
              <a:pPr algn="l">
                <a:lnSpc>
                  <a:spcPts val="4650"/>
                </a:lnSpc>
              </a:pPr>
              <a:r>
                <a:rPr lang="tr-TR" sz="3900" b="1" dirty="0">
                  <a:solidFill>
                    <a:srgbClr val="F7FAFC"/>
                  </a:solidFill>
                  <a:latin typeface="+mj-lt"/>
                  <a:ea typeface="+mj-ea"/>
                  <a:cs typeface="+mj-cs"/>
                </a:rPr>
                <a:t>Backend için</a:t>
              </a:r>
              <a:br/>
              <a:r>
                <a:rPr lang="tr-TR" sz="3900" b="1" dirty="0">
                  <a:solidFill>
                    <a:srgbClr val="F7FAFC"/>
                  </a:solidFill>
                  <a:latin typeface="+mj-lt"/>
                  <a:ea typeface="+mj-ea"/>
                  <a:cs typeface="+mj-cs"/>
                </a:rPr>
                <a:t>Modern JavaScript</a:t>
              </a:r>
              <a:br/>
              <a:r>
                <a:rPr lang="tr-TR" sz="3900" b="1" dirty="0">
                  <a:solidFill>
                    <a:srgbClr val="F7FAFC"/>
                  </a:solidFill>
                  <a:latin typeface="+mj-lt"/>
                  <a:ea typeface="+mj-ea"/>
                  <a:cs typeface="+mj-cs"/>
                </a:rPr>
                <a:t>Temelleri</a:t>
              </a:r>
            </a:p>
          </p:txBody>
        </p:sp>
        <p:sp>
          <p:nvSpPr>
            <p:cNvPr id="6" name="TextBox 6"/>
            <p:cNvSpPr txBox="1"/>
            <p:nvPr/>
          </p:nvSpPr>
          <p:spPr>
            <a:xfrm>
              <a:off x="601599" y="3925729"/>
              <a:ext cx="4199763" cy="593788"/>
            </a:xfrm>
            <a:prstGeom prst="rect">
              <a:avLst/>
            </a:prstGeom>
            <a:noFill/>
            <a:ln>
              <a:noFill/>
            </a:ln>
          </p:spPr>
          <p:txBody>
            <a:bodyPr wrap="none" lIns="0" tIns="0" rIns="0" bIns="0" anchor="t" anchorCtr="0">
              <a:spAutoFit/>
            </a:bodyPr>
            <a:lstStyle/>
            <a:p>
              <a:pPr algn="l">
                <a:lnSpc>
                  <a:spcPts val="2250"/>
                </a:lnSpc>
              </a:pPr>
              <a:r>
                <a:rPr lang="tr-TR" sz="1580" dirty="0">
                  <a:solidFill>
                    <a:srgbClr val="EAF4F6"/>
                  </a:solidFill>
                  <a:latin typeface="+mn-lt"/>
                  <a:ea typeface="+mn-ea"/>
                  <a:cs typeface="+mn-cs"/>
                </a:rPr>
                <a:t>ES2025+, modüller, Promise, async/await,</a:t>
              </a:r>
              <a:br/>
              <a:r>
                <a:rPr lang="tr-TR" sz="1580" dirty="0">
                  <a:solidFill>
                    <a:srgbClr val="EAF4F6"/>
                  </a:solidFill>
                  <a:latin typeface="+mn-lt"/>
                  <a:ea typeface="+mn-ea"/>
                  <a:cs typeface="+mn-cs"/>
                </a:rPr>
                <a:t>destructuring ve güvenli hata yönetimi</a:t>
              </a:r>
            </a:p>
          </p:txBody>
        </p:sp>
        <p:sp>
          <p:nvSpPr>
            <p:cNvPr id="7" name="TextBox 7"/>
            <p:cNvSpPr txBox="1"/>
            <p:nvPr/>
          </p:nvSpPr>
          <p:spPr>
            <a:xfrm>
              <a:off x="599694" y="4666298"/>
              <a:ext cx="4648390" cy="381381"/>
            </a:xfrm>
            <a:prstGeom prst="rect">
              <a:avLst/>
            </a:prstGeom>
            <a:noFill/>
            <a:ln>
              <a:noFill/>
            </a:ln>
          </p:spPr>
          <p:txBody>
            <a:bodyPr wrap="none" lIns="0" tIns="0" rIns="0" bIns="0" anchor="t" anchorCtr="0">
              <a:spAutoFit/>
            </a:bodyPr>
            <a:lstStyle/>
            <a:p>
              <a:pPr algn="l"/>
              <a:r>
                <a:rPr lang="tr-TR" sz="1950" dirty="0">
                  <a:solidFill>
                    <a:srgbClr val="F7FAFC"/>
                  </a:solidFill>
                  <a:latin typeface="+mn-lt"/>
                  <a:ea typeface="+mn-ea"/>
                  <a:cs typeface="+mn-cs"/>
                </a:rPr>
                <a:t>Modern Sunucu Tabanlı Programlama</a:t>
              </a:r>
            </a:p>
          </p:txBody>
        </p:sp>
        <p:sp>
          <p:nvSpPr>
            <p:cNvPr id="8" name="TextBox 8"/>
            <p:cNvSpPr txBox="1"/>
            <p:nvPr/>
          </p:nvSpPr>
          <p:spPr>
            <a:xfrm>
              <a:off x="603504" y="6233160"/>
              <a:ext cx="2454097" cy="234696"/>
            </a:xfrm>
            <a:prstGeom prst="rect">
              <a:avLst/>
            </a:prstGeom>
            <a:noFill/>
            <a:ln>
              <a:noFill/>
            </a:ln>
          </p:spPr>
          <p:txBody>
            <a:bodyPr wrap="none" lIns="0" tIns="0" rIns="0" bIns="0" anchor="t" anchorCtr="0">
              <a:spAutoFit/>
            </a:bodyPr>
            <a:lstStyle/>
            <a:p>
              <a:pPr algn="l"/>
              <a:r>
                <a:rPr lang="tr-TR" sz="1200" dirty="0">
                  <a:solidFill>
                    <a:srgbClr val="B8CBD3"/>
                  </a:solidFill>
                  <a:latin typeface="+mn-lt"/>
                  <a:ea typeface="+mn-ea"/>
                  <a:cs typeface="+mn-cs"/>
                </a:rPr>
                <a:t>Prof. Dr. İsmail KIRBAŞ · 2026</a:t>
              </a:r>
            </a:p>
          </p:txBody>
        </p:sp>
      </p:grpSp>
      <p:grpSp>
        <p:nvGrpSpPr>
          <p:cNvPr id="24" name="hook"/>
          <p:cNvGrpSpPr/>
          <p:nvPr/>
        </p:nvGrpSpPr>
        <p:grpSpPr>
          <a:xfrm>
            <a:off x="6656070" y="1490662"/>
            <a:ext cx="4489529" cy="4381406"/>
            <a:chOff x="6656070" y="1490662"/>
            <a:chExt cx="4489529" cy="4381406"/>
          </a:xfrm>
        </p:grpSpPr>
        <p:sp>
          <p:nvSpPr>
            <p:cNvPr id="10" name="TextBox 10"/>
            <p:cNvSpPr txBox="1"/>
            <p:nvPr/>
          </p:nvSpPr>
          <p:spPr>
            <a:xfrm>
              <a:off x="6656070" y="1490662"/>
              <a:ext cx="3908346" cy="821055"/>
            </a:xfrm>
            <a:prstGeom prst="rect">
              <a:avLst/>
            </a:prstGeom>
            <a:noFill/>
            <a:ln>
              <a:noFill/>
            </a:ln>
          </p:spPr>
          <p:txBody>
            <a:bodyPr wrap="none" lIns="0" tIns="0" rIns="0" bIns="0" anchor="t" anchorCtr="0">
              <a:spAutoFit/>
            </a:bodyPr>
            <a:lstStyle/>
            <a:p>
              <a:pPr algn="l">
                <a:lnSpc>
                  <a:spcPts val="3000"/>
                </a:lnSpc>
              </a:pPr>
              <a:r>
                <a:rPr lang="tr-TR" sz="2250" b="1" dirty="0">
                  <a:solidFill>
                    <a:srgbClr val="12355B"/>
                  </a:solidFill>
                  <a:latin typeface="+mn-lt"/>
                  <a:ea typeface="+mn-ea"/>
                  <a:cs typeface="+mn-cs"/>
                </a:rPr>
                <a:t>Her backend isteği</a:t>
              </a:r>
              <a:br/>
              <a:r>
                <a:rPr lang="tr-TR" sz="2250" b="1" dirty="0">
                  <a:solidFill>
                    <a:srgbClr val="00A6A6"/>
                  </a:solidFill>
                  <a:latin typeface="+mn-lt"/>
                  <a:ea typeface="+mn-ea"/>
                  <a:cs typeface="+mn-cs"/>
                </a:rPr>
                <a:t>üç soruyu yanıtlamalıdır.</a:t>
              </a:r>
            </a:p>
          </p:txBody>
        </p:sp>
        <p:sp>
          <p:nvSpPr>
            <p:cNvPr id="11" name="Line 11"/>
            <p:cNvSpPr/>
            <p:nvPr/>
          </p:nvSpPr>
          <p:spPr>
            <a:xfrm>
              <a:off x="6896100" y="2857500"/>
              <a:ext cx="9525" cy="2476500"/>
            </a:xfrm>
            <a:custGeom>
              <a:avLst/>
              <a:gdLst/>
              <a:ahLst/>
              <a:cxnLst/>
              <a:rect l="l" t="t" r="r" b="b"/>
              <a:pathLst>
                <a:path w="9525" h="2476500">
                  <a:moveTo>
                    <a:pt x="0" y="0"/>
                  </a:moveTo>
                  <a:lnTo>
                    <a:pt x="0" y="2476500"/>
                  </a:lnTo>
                </a:path>
              </a:pathLst>
            </a:custGeom>
            <a:noFill/>
            <a:ln w="38100">
              <a:solidFill>
                <a:srgbClr val="00A6A6"/>
              </a:solidFill>
            </a:ln>
          </p:spPr>
        </p:sp>
        <p:grpSp>
          <p:nvGrpSpPr>
            <p:cNvPr id="15" name="Group 15"/>
            <p:cNvGrpSpPr/>
            <p:nvPr/>
          </p:nvGrpSpPr>
          <p:grpSpPr>
            <a:xfrm>
              <a:off x="6762750" y="2724150"/>
              <a:ext cx="266700" cy="2743200"/>
              <a:chOff x="6762750" y="2724150"/>
              <a:chExt cx="266700" cy="2743200"/>
            </a:xfrm>
          </p:grpSpPr>
          <p:sp>
            <p:nvSpPr>
              <p:cNvPr id="12" name="Ellipse 12"/>
              <p:cNvSpPr/>
              <p:nvPr/>
            </p:nvSpPr>
            <p:spPr>
              <a:xfrm>
                <a:off x="6762750" y="2724150"/>
                <a:ext cx="266700" cy="266700"/>
              </a:xfrm>
              <a:prstGeom prst="ellipse">
                <a:avLst/>
              </a:prstGeom>
              <a:solidFill>
                <a:srgbClr val="F7FAFC"/>
              </a:solidFill>
              <a:ln w="38100">
                <a:solidFill>
                  <a:srgbClr val="00A6A6"/>
                </a:solidFill>
              </a:ln>
            </p:spPr>
          </p:sp>
          <p:sp>
            <p:nvSpPr>
              <p:cNvPr id="13" name="Ellipse 13"/>
              <p:cNvSpPr/>
              <p:nvPr/>
            </p:nvSpPr>
            <p:spPr>
              <a:xfrm>
                <a:off x="6762750" y="3962400"/>
                <a:ext cx="266700" cy="266700"/>
              </a:xfrm>
              <a:prstGeom prst="ellipse">
                <a:avLst/>
              </a:prstGeom>
              <a:solidFill>
                <a:srgbClr val="F7FAFC"/>
              </a:solidFill>
              <a:ln w="38100">
                <a:solidFill>
                  <a:srgbClr val="00A6A6"/>
                </a:solidFill>
              </a:ln>
            </p:spPr>
          </p:sp>
          <p:sp>
            <p:nvSpPr>
              <p:cNvPr id="14" name="Ellipse 14"/>
              <p:cNvSpPr/>
              <p:nvPr/>
            </p:nvSpPr>
            <p:spPr>
              <a:xfrm>
                <a:off x="6762750" y="5200650"/>
                <a:ext cx="266700" cy="266700"/>
              </a:xfrm>
              <a:prstGeom prst="ellipse">
                <a:avLst/>
              </a:prstGeom>
              <a:solidFill>
                <a:srgbClr val="F7FAFC"/>
              </a:solidFill>
              <a:ln w="38100">
                <a:solidFill>
                  <a:srgbClr val="00A6A6"/>
                </a:solidFill>
              </a:ln>
            </p:spPr>
          </p:sp>
        </p:grpSp>
        <p:grpSp>
          <p:nvGrpSpPr>
            <p:cNvPr id="19" name="Group 19"/>
            <p:cNvGrpSpPr/>
            <p:nvPr/>
          </p:nvGrpSpPr>
          <p:grpSpPr>
            <a:xfrm>
              <a:off x="7267956" y="2739390"/>
              <a:ext cx="3499473" cy="2828544"/>
              <a:chOff x="7267956" y="2739390"/>
              <a:chExt cx="3499473" cy="2828544"/>
            </a:xfrm>
          </p:grpSpPr>
          <p:sp>
            <p:nvSpPr>
              <p:cNvPr id="16" name="TextBox 16"/>
              <p:cNvSpPr txBox="1"/>
              <p:nvPr/>
            </p:nvSpPr>
            <p:spPr>
              <a:xfrm>
                <a:off x="7267956" y="2739390"/>
                <a:ext cx="26471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 nereden geliyor?</a:t>
                </a:r>
              </a:p>
            </p:txBody>
          </p:sp>
          <p:sp>
            <p:nvSpPr>
              <p:cNvPr id="17" name="TextBox 17"/>
              <p:cNvSpPr txBox="1"/>
              <p:nvPr/>
            </p:nvSpPr>
            <p:spPr>
              <a:xfrm>
                <a:off x="7267956" y="3977640"/>
                <a:ext cx="34994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Hangi iş kuralından geçiyor?</a:t>
                </a:r>
              </a:p>
            </p:txBody>
          </p:sp>
          <p:sp>
            <p:nvSpPr>
              <p:cNvPr id="18" name="TextBox 18"/>
              <p:cNvSpPr txBox="1"/>
              <p:nvPr/>
            </p:nvSpPr>
            <p:spPr>
              <a:xfrm>
                <a:off x="7267956" y="5215890"/>
                <a:ext cx="278755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Hata olursa ne oluyor?</a:t>
                </a:r>
              </a:p>
            </p:txBody>
          </p:sp>
        </p:grpSp>
        <p:grpSp>
          <p:nvGrpSpPr>
            <p:cNvPr id="23" name="Group 23"/>
            <p:cNvGrpSpPr/>
            <p:nvPr/>
          </p:nvGrpSpPr>
          <p:grpSpPr>
            <a:xfrm>
              <a:off x="7269099" y="3087529"/>
              <a:ext cx="3876500" cy="2784539"/>
              <a:chOff x="7269099" y="3087529"/>
              <a:chExt cx="3876500" cy="2784539"/>
            </a:xfrm>
          </p:grpSpPr>
          <p:sp>
            <p:nvSpPr>
              <p:cNvPr id="20" name="TextBox 20"/>
              <p:cNvSpPr txBox="1"/>
              <p:nvPr/>
            </p:nvSpPr>
            <p:spPr>
              <a:xfrm>
                <a:off x="7269099" y="3087529"/>
                <a:ext cx="2600302" cy="308039"/>
              </a:xfrm>
              <a:prstGeom prst="rect">
                <a:avLst/>
              </a:prstGeom>
              <a:noFill/>
              <a:ln>
                <a:noFill/>
              </a:ln>
            </p:spPr>
            <p:txBody>
              <a:bodyPr wrap="none" lIns="0" tIns="0" rIns="0" bIns="0" anchor="t" anchorCtr="0">
                <a:spAutoFit/>
              </a:bodyPr>
              <a:lstStyle/>
              <a:p>
                <a:pPr algn="l"/>
                <a:r>
                  <a:rPr lang="tr-TR" sz="1580" dirty="0">
                    <a:solidFill>
                      <a:srgbClr val="2E86AB"/>
                    </a:solidFill>
                    <a:latin typeface="+mn-lt"/>
                    <a:ea typeface="+mn-ea"/>
                    <a:cs typeface="+mn-cs"/>
                  </a:rPr>
                  <a:t>modüller · destructuring</a:t>
                </a:r>
              </a:p>
            </p:txBody>
          </p:sp>
          <p:sp>
            <p:nvSpPr>
              <p:cNvPr id="21" name="TextBox 21"/>
              <p:cNvSpPr txBox="1"/>
              <p:nvPr/>
            </p:nvSpPr>
            <p:spPr>
              <a:xfrm>
                <a:off x="7269099" y="4325779"/>
                <a:ext cx="2352818" cy="308039"/>
              </a:xfrm>
              <a:prstGeom prst="rect">
                <a:avLst/>
              </a:prstGeom>
              <a:noFill/>
              <a:ln>
                <a:noFill/>
              </a:ln>
            </p:spPr>
            <p:txBody>
              <a:bodyPr wrap="none" lIns="0" tIns="0" rIns="0" bIns="0" anchor="t" anchorCtr="0">
                <a:spAutoFit/>
              </a:bodyPr>
              <a:lstStyle/>
              <a:p>
                <a:pPr algn="l"/>
                <a:r>
                  <a:rPr lang="tr-TR" sz="1580" dirty="0">
                    <a:solidFill>
                      <a:srgbClr val="2E86AB"/>
                    </a:solidFill>
                    <a:latin typeface="+mn-lt"/>
                    <a:ea typeface="+mn-ea"/>
                    <a:cs typeface="+mn-cs"/>
                  </a:rPr>
                  <a:t>Promise · async/await</a:t>
                </a:r>
              </a:p>
            </p:txBody>
          </p:sp>
          <p:sp>
            <p:nvSpPr>
              <p:cNvPr id="22" name="TextBox 22"/>
              <p:cNvSpPr txBox="1"/>
              <p:nvPr/>
            </p:nvSpPr>
            <p:spPr>
              <a:xfrm>
                <a:off x="7269099" y="5564029"/>
                <a:ext cx="3876500" cy="308039"/>
              </a:xfrm>
              <a:prstGeom prst="rect">
                <a:avLst/>
              </a:prstGeom>
              <a:noFill/>
              <a:ln>
                <a:noFill/>
              </a:ln>
            </p:spPr>
            <p:txBody>
              <a:bodyPr wrap="none" lIns="0" tIns="0" rIns="0" bIns="0" anchor="t" anchorCtr="0">
                <a:spAutoFit/>
              </a:bodyPr>
              <a:lstStyle/>
              <a:p>
                <a:pPr algn="l"/>
                <a:r>
                  <a:rPr lang="tr-TR" sz="1580" dirty="0">
                    <a:solidFill>
                      <a:srgbClr val="2E86AB"/>
                    </a:solidFill>
                    <a:latin typeface="+mn-lt"/>
                    <a:ea typeface="+mn-ea"/>
                    <a:cs typeface="+mn-cs"/>
                  </a:rPr>
                  <a:t>try / catch / finally · hata sınıfları</a:t>
                </a:r>
              </a:p>
            </p:txBody>
          </p:sp>
        </p:gr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7413763"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Öğrenme hedefleri ve başarı ölçütleri</a:t>
              </a:r>
            </a:p>
          </p:txBody>
        </p:sp>
      </p:grpSp>
      <p:grpSp>
        <p:nvGrpSpPr>
          <p:cNvPr id="19" name="goal-spine"/>
          <p:cNvGrpSpPr/>
          <p:nvPr/>
        </p:nvGrpSpPr>
        <p:grpSpPr>
          <a:xfrm>
            <a:off x="666750" y="1333500"/>
            <a:ext cx="381000" cy="4595718"/>
            <a:chOff x="666750" y="1333500"/>
            <a:chExt cx="381000" cy="4595718"/>
          </a:xfrm>
        </p:grpSpPr>
        <p:sp>
          <p:nvSpPr>
            <p:cNvPr id="6" name="Line 6"/>
            <p:cNvSpPr/>
            <p:nvPr/>
          </p:nvSpPr>
          <p:spPr>
            <a:xfrm>
              <a:off x="857250" y="1524000"/>
              <a:ext cx="9525" cy="4191000"/>
            </a:xfrm>
            <a:custGeom>
              <a:avLst/>
              <a:gdLst/>
              <a:ahLst/>
              <a:cxnLst/>
              <a:rect l="l" t="t" r="r" b="b"/>
              <a:pathLst>
                <a:path w="9525" h="4191000">
                  <a:moveTo>
                    <a:pt x="0" y="0"/>
                  </a:moveTo>
                  <a:lnTo>
                    <a:pt x="0" y="4191000"/>
                  </a:lnTo>
                </a:path>
              </a:pathLst>
            </a:custGeom>
            <a:noFill/>
            <a:ln w="28575">
              <a:solidFill>
                <a:srgbClr val="00A6A6"/>
              </a:solidFill>
            </a:ln>
          </p:spPr>
        </p:sp>
        <p:grpSp>
          <p:nvGrpSpPr>
            <p:cNvPr id="12" name="Group 12"/>
            <p:cNvGrpSpPr/>
            <p:nvPr/>
          </p:nvGrpSpPr>
          <p:grpSpPr>
            <a:xfrm>
              <a:off x="666750" y="1333500"/>
              <a:ext cx="381000" cy="4572000"/>
              <a:chOff x="666750" y="1333500"/>
              <a:chExt cx="381000" cy="4572000"/>
            </a:xfrm>
          </p:grpSpPr>
          <p:sp>
            <p:nvSpPr>
              <p:cNvPr id="7" name="Ellipse 7"/>
              <p:cNvSpPr/>
              <p:nvPr/>
            </p:nvSpPr>
            <p:spPr>
              <a:xfrm>
                <a:off x="666750" y="1333500"/>
                <a:ext cx="381000" cy="381000"/>
              </a:xfrm>
              <a:prstGeom prst="ellipse">
                <a:avLst/>
              </a:prstGeom>
              <a:solidFill>
                <a:srgbClr val="12355B"/>
              </a:solidFill>
              <a:ln>
                <a:noFill/>
              </a:ln>
            </p:spPr>
          </p:sp>
          <p:sp>
            <p:nvSpPr>
              <p:cNvPr id="8" name="Ellipse 8"/>
              <p:cNvSpPr/>
              <p:nvPr/>
            </p:nvSpPr>
            <p:spPr>
              <a:xfrm>
                <a:off x="666750" y="2381250"/>
                <a:ext cx="381000" cy="381000"/>
              </a:xfrm>
              <a:prstGeom prst="ellipse">
                <a:avLst/>
              </a:prstGeom>
              <a:solidFill>
                <a:srgbClr val="12355B"/>
              </a:solidFill>
              <a:ln>
                <a:noFill/>
              </a:ln>
            </p:spPr>
          </p:sp>
          <p:sp>
            <p:nvSpPr>
              <p:cNvPr id="9" name="Ellipse 9"/>
              <p:cNvSpPr/>
              <p:nvPr/>
            </p:nvSpPr>
            <p:spPr>
              <a:xfrm>
                <a:off x="666750" y="3429000"/>
                <a:ext cx="381000" cy="381000"/>
              </a:xfrm>
              <a:prstGeom prst="ellipse">
                <a:avLst/>
              </a:prstGeom>
              <a:solidFill>
                <a:srgbClr val="12355B"/>
              </a:solidFill>
              <a:ln>
                <a:noFill/>
              </a:ln>
            </p:spPr>
          </p:sp>
          <p:sp>
            <p:nvSpPr>
              <p:cNvPr id="10" name="Ellipse 10"/>
              <p:cNvSpPr/>
              <p:nvPr/>
            </p:nvSpPr>
            <p:spPr>
              <a:xfrm>
                <a:off x="666750" y="4476750"/>
                <a:ext cx="381000" cy="381000"/>
              </a:xfrm>
              <a:prstGeom prst="ellipse">
                <a:avLst/>
              </a:prstGeom>
              <a:solidFill>
                <a:srgbClr val="12355B"/>
              </a:solidFill>
              <a:ln>
                <a:noFill/>
              </a:ln>
            </p:spPr>
          </p:sp>
          <p:sp>
            <p:nvSpPr>
              <p:cNvPr id="11" name="Ellipse 11"/>
              <p:cNvSpPr/>
              <p:nvPr/>
            </p:nvSpPr>
            <p:spPr>
              <a:xfrm>
                <a:off x="666750" y="5524500"/>
                <a:ext cx="381000" cy="381000"/>
              </a:xfrm>
              <a:prstGeom prst="ellipse">
                <a:avLst/>
              </a:prstGeom>
              <a:solidFill>
                <a:srgbClr val="12355B"/>
              </a:solidFill>
              <a:ln>
                <a:noFill/>
              </a:ln>
            </p:spPr>
          </p:sp>
        </p:grpSp>
        <p:grpSp>
          <p:nvGrpSpPr>
            <p:cNvPr id="18" name="Group 18"/>
            <p:cNvGrpSpPr/>
            <p:nvPr/>
          </p:nvGrpSpPr>
          <p:grpSpPr>
            <a:xfrm>
              <a:off x="787832" y="1430179"/>
              <a:ext cx="138836" cy="4499039"/>
              <a:chOff x="787832" y="1430179"/>
              <a:chExt cx="138836" cy="4499039"/>
            </a:xfrm>
          </p:grpSpPr>
          <p:sp>
            <p:nvSpPr>
              <p:cNvPr id="13" name="TextBox 13"/>
              <p:cNvSpPr txBox="1"/>
              <p:nvPr/>
            </p:nvSpPr>
            <p:spPr>
              <a:xfrm>
                <a:off x="787832" y="1430179"/>
                <a:ext cx="138836" cy="308039"/>
              </a:xfrm>
              <a:prstGeom prst="rect">
                <a:avLst/>
              </a:prstGeom>
              <a:noFill/>
              <a:ln>
                <a:noFill/>
              </a:ln>
            </p:spPr>
            <p:txBody>
              <a:bodyPr wrap="none" lIns="0" tIns="0" rIns="0" bIns="0" anchor="t" anchorCtr="0">
                <a:spAutoFit/>
              </a:bodyPr>
              <a:lstStyle/>
              <a:p>
                <a:pPr algn="ctr"/>
                <a:r>
                  <a:rPr lang="tr-TR" sz="1580" b="1" dirty="0">
                    <a:solidFill>
                      <a:srgbClr val="F7FAFC"/>
                    </a:solidFill>
                    <a:latin typeface="+mn-lt"/>
                    <a:ea typeface="+mn-ea"/>
                    <a:cs typeface="+mn-cs"/>
                  </a:rPr>
                  <a:t>1</a:t>
                </a:r>
              </a:p>
            </p:txBody>
          </p:sp>
          <p:sp>
            <p:nvSpPr>
              <p:cNvPr id="14" name="TextBox 14"/>
              <p:cNvSpPr txBox="1"/>
              <p:nvPr/>
            </p:nvSpPr>
            <p:spPr>
              <a:xfrm>
                <a:off x="787832" y="2477929"/>
                <a:ext cx="138836" cy="308039"/>
              </a:xfrm>
              <a:prstGeom prst="rect">
                <a:avLst/>
              </a:prstGeom>
              <a:noFill/>
              <a:ln>
                <a:noFill/>
              </a:ln>
            </p:spPr>
            <p:txBody>
              <a:bodyPr wrap="none" lIns="0" tIns="0" rIns="0" bIns="0" anchor="t" anchorCtr="0">
                <a:spAutoFit/>
              </a:bodyPr>
              <a:lstStyle/>
              <a:p>
                <a:pPr algn="ctr"/>
                <a:r>
                  <a:rPr lang="tr-TR" sz="1580" b="1" dirty="0">
                    <a:solidFill>
                      <a:srgbClr val="F7FAFC"/>
                    </a:solidFill>
                    <a:latin typeface="+mn-lt"/>
                    <a:ea typeface="+mn-ea"/>
                    <a:cs typeface="+mn-cs"/>
                  </a:rPr>
                  <a:t>2</a:t>
                </a:r>
              </a:p>
            </p:txBody>
          </p:sp>
          <p:sp>
            <p:nvSpPr>
              <p:cNvPr id="15" name="TextBox 15"/>
              <p:cNvSpPr txBox="1"/>
              <p:nvPr/>
            </p:nvSpPr>
            <p:spPr>
              <a:xfrm>
                <a:off x="787832" y="3525679"/>
                <a:ext cx="138836" cy="308039"/>
              </a:xfrm>
              <a:prstGeom prst="rect">
                <a:avLst/>
              </a:prstGeom>
              <a:noFill/>
              <a:ln>
                <a:noFill/>
              </a:ln>
            </p:spPr>
            <p:txBody>
              <a:bodyPr wrap="none" lIns="0" tIns="0" rIns="0" bIns="0" anchor="t" anchorCtr="0">
                <a:spAutoFit/>
              </a:bodyPr>
              <a:lstStyle/>
              <a:p>
                <a:pPr algn="ctr"/>
                <a:r>
                  <a:rPr lang="tr-TR" sz="1580" b="1" dirty="0">
                    <a:solidFill>
                      <a:srgbClr val="F7FAFC"/>
                    </a:solidFill>
                    <a:latin typeface="+mn-lt"/>
                    <a:ea typeface="+mn-ea"/>
                    <a:cs typeface="+mn-cs"/>
                  </a:rPr>
                  <a:t>3</a:t>
                </a:r>
              </a:p>
            </p:txBody>
          </p:sp>
          <p:sp>
            <p:nvSpPr>
              <p:cNvPr id="16" name="TextBox 16"/>
              <p:cNvSpPr txBox="1"/>
              <p:nvPr/>
            </p:nvSpPr>
            <p:spPr>
              <a:xfrm>
                <a:off x="787832" y="4573429"/>
                <a:ext cx="138836" cy="308039"/>
              </a:xfrm>
              <a:prstGeom prst="rect">
                <a:avLst/>
              </a:prstGeom>
              <a:noFill/>
              <a:ln>
                <a:noFill/>
              </a:ln>
            </p:spPr>
            <p:txBody>
              <a:bodyPr wrap="none" lIns="0" tIns="0" rIns="0" bIns="0" anchor="t" anchorCtr="0">
                <a:spAutoFit/>
              </a:bodyPr>
              <a:lstStyle/>
              <a:p>
                <a:pPr algn="ctr"/>
                <a:r>
                  <a:rPr lang="tr-TR" sz="1580" b="1" dirty="0">
                    <a:solidFill>
                      <a:srgbClr val="F7FAFC"/>
                    </a:solidFill>
                    <a:latin typeface="+mn-lt"/>
                    <a:ea typeface="+mn-ea"/>
                    <a:cs typeface="+mn-cs"/>
                  </a:rPr>
                  <a:t>4</a:t>
                </a:r>
              </a:p>
            </p:txBody>
          </p:sp>
          <p:sp>
            <p:nvSpPr>
              <p:cNvPr id="17" name="TextBox 17"/>
              <p:cNvSpPr txBox="1"/>
              <p:nvPr/>
            </p:nvSpPr>
            <p:spPr>
              <a:xfrm>
                <a:off x="787832" y="5621179"/>
                <a:ext cx="138836" cy="308039"/>
              </a:xfrm>
              <a:prstGeom prst="rect">
                <a:avLst/>
              </a:prstGeom>
              <a:noFill/>
              <a:ln>
                <a:noFill/>
              </a:ln>
            </p:spPr>
            <p:txBody>
              <a:bodyPr wrap="none" lIns="0" tIns="0" rIns="0" bIns="0" anchor="t" anchorCtr="0">
                <a:spAutoFit/>
              </a:bodyPr>
              <a:lstStyle/>
              <a:p>
                <a:pPr algn="ctr"/>
                <a:r>
                  <a:rPr lang="tr-TR" sz="1580" b="1" dirty="0">
                    <a:solidFill>
                      <a:srgbClr val="F7FAFC"/>
                    </a:solidFill>
                    <a:latin typeface="+mn-lt"/>
                    <a:ea typeface="+mn-ea"/>
                    <a:cs typeface="+mn-cs"/>
                  </a:rPr>
                  <a:t>5</a:t>
                </a:r>
              </a:p>
            </p:txBody>
          </p:sp>
        </p:grpSp>
      </p:grpSp>
      <p:grpSp>
        <p:nvGrpSpPr>
          <p:cNvPr id="22" name="goal-1"/>
          <p:cNvGrpSpPr/>
          <p:nvPr/>
        </p:nvGrpSpPr>
        <p:grpSpPr>
          <a:xfrm>
            <a:off x="1324356" y="1348740"/>
            <a:ext cx="7973667" cy="656178"/>
            <a:chOff x="1324356" y="1348740"/>
            <a:chExt cx="7973667" cy="656178"/>
          </a:xfrm>
        </p:grpSpPr>
        <p:sp>
          <p:nvSpPr>
            <p:cNvPr id="20" name="TextBox 20"/>
            <p:cNvSpPr txBox="1"/>
            <p:nvPr/>
          </p:nvSpPr>
          <p:spPr>
            <a:xfrm>
              <a:off x="1324356" y="1348740"/>
              <a:ext cx="421158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Sorumlulukları modüllere ayırmak</a:t>
              </a:r>
            </a:p>
          </p:txBody>
        </p:sp>
        <p:sp>
          <p:nvSpPr>
            <p:cNvPr id="21" name="TextBox 21"/>
            <p:cNvSpPr txBox="1"/>
            <p:nvPr/>
          </p:nvSpPr>
          <p:spPr>
            <a:xfrm>
              <a:off x="1325499" y="1696879"/>
              <a:ext cx="7972524"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 xml:space="preserve">Ölçüt: </a:t>
              </a:r>
              <a:r>
                <a:rPr lang="tr-TR" sz="1580" dirty="0">
                  <a:solidFill>
                    <a:srgbClr val="172B3A"/>
                  </a:solidFill>
                  <a:latin typeface="+mn-lt"/>
                  <a:ea typeface="+mn-ea"/>
                  <a:cs typeface="+mn-cs"/>
                </a:rPr>
                <a:t>verilen bir modül grafiğinde yanlış yönlü bağımlılığı işaretleyebilmek</a:t>
              </a:r>
            </a:p>
          </p:txBody>
        </p:sp>
      </p:grpSp>
      <p:grpSp>
        <p:nvGrpSpPr>
          <p:cNvPr id="25" name="goal-2"/>
          <p:cNvGrpSpPr/>
          <p:nvPr/>
        </p:nvGrpSpPr>
        <p:grpSpPr>
          <a:xfrm>
            <a:off x="1324356" y="2396490"/>
            <a:ext cx="9650236" cy="656178"/>
            <a:chOff x="1324356" y="2396490"/>
            <a:chExt cx="9650236" cy="656178"/>
          </a:xfrm>
        </p:grpSpPr>
        <p:sp>
          <p:nvSpPr>
            <p:cNvPr id="23" name="TextBox 23"/>
            <p:cNvSpPr txBox="1"/>
            <p:nvPr/>
          </p:nvSpPr>
          <p:spPr>
            <a:xfrm>
              <a:off x="1324356" y="2396490"/>
              <a:ext cx="661674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Promise’in ne olduğunu ve ne olmadığını ayırt etmek</a:t>
              </a:r>
            </a:p>
          </p:txBody>
        </p:sp>
        <p:sp>
          <p:nvSpPr>
            <p:cNvPr id="24" name="TextBox 24"/>
            <p:cNvSpPr txBox="1"/>
            <p:nvPr/>
          </p:nvSpPr>
          <p:spPr>
            <a:xfrm>
              <a:off x="1325499" y="2744629"/>
              <a:ext cx="9649093"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 xml:space="preserve">Ölçüt: </a:t>
              </a:r>
              <a:r>
                <a:rPr lang="tr-TR" sz="1580" dirty="0">
                  <a:solidFill>
                    <a:srgbClr val="172B3A"/>
                  </a:solidFill>
                  <a:latin typeface="+mn-lt"/>
                  <a:ea typeface="+mn-ea"/>
                  <a:cs typeface="+mn-cs"/>
                </a:rPr>
                <a:t>bağımsız sorgular için Promise.all, bağımlılar için sıralı yürütme kararı verebilmek</a:t>
              </a:r>
            </a:p>
          </p:txBody>
        </p:sp>
      </p:grpSp>
      <p:grpSp>
        <p:nvGrpSpPr>
          <p:cNvPr id="28" name="goal-3"/>
          <p:cNvGrpSpPr/>
          <p:nvPr/>
        </p:nvGrpSpPr>
        <p:grpSpPr>
          <a:xfrm>
            <a:off x="1324356" y="3444240"/>
            <a:ext cx="8590496" cy="656178"/>
            <a:chOff x="1324356" y="3444240"/>
            <a:chExt cx="8590496" cy="656178"/>
          </a:xfrm>
        </p:grpSpPr>
        <p:sp>
          <p:nvSpPr>
            <p:cNvPr id="26" name="TextBox 26"/>
            <p:cNvSpPr txBox="1"/>
            <p:nvPr/>
          </p:nvSpPr>
          <p:spPr>
            <a:xfrm>
              <a:off x="1324356" y="3444240"/>
              <a:ext cx="599743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async/await ile okunabilir asenkron akış yazmak</a:t>
              </a:r>
            </a:p>
          </p:txBody>
        </p:sp>
        <p:sp>
          <p:nvSpPr>
            <p:cNvPr id="27" name="TextBox 27"/>
            <p:cNvSpPr txBox="1"/>
            <p:nvPr/>
          </p:nvSpPr>
          <p:spPr>
            <a:xfrm>
              <a:off x="1325499" y="3792379"/>
              <a:ext cx="8589353"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 xml:space="preserve">Ölçüt: </a:t>
              </a:r>
              <a:r>
                <a:rPr lang="tr-TR" sz="1580" dirty="0">
                  <a:solidFill>
                    <a:srgbClr val="172B3A"/>
                  </a:solidFill>
                  <a:latin typeface="+mn-lt"/>
                  <a:ea typeface="+mn-ea"/>
                  <a:cs typeface="+mn-cs"/>
                </a:rPr>
                <a:t>unutulmuş await hatasını hazır bir kod parçasında fark edip düzeltebilmek</a:t>
              </a:r>
            </a:p>
          </p:txBody>
        </p:sp>
      </p:grpSp>
      <p:grpSp>
        <p:nvGrpSpPr>
          <p:cNvPr id="31" name="goal-4"/>
          <p:cNvGrpSpPr/>
          <p:nvPr/>
        </p:nvGrpSpPr>
        <p:grpSpPr>
          <a:xfrm>
            <a:off x="1324356" y="4491990"/>
            <a:ext cx="9632724" cy="656178"/>
            <a:chOff x="1324356" y="4491990"/>
            <a:chExt cx="9632724" cy="656178"/>
          </a:xfrm>
        </p:grpSpPr>
        <p:sp>
          <p:nvSpPr>
            <p:cNvPr id="29" name="TextBox 29"/>
            <p:cNvSpPr txBox="1"/>
            <p:nvPr/>
          </p:nvSpPr>
          <p:spPr>
            <a:xfrm>
              <a:off x="1324356" y="4491990"/>
              <a:ext cx="339746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Veriyi güvenle ayrıştırmak</a:t>
              </a:r>
            </a:p>
          </p:txBody>
        </p:sp>
        <p:sp>
          <p:nvSpPr>
            <p:cNvPr id="30" name="TextBox 30"/>
            <p:cNvSpPr txBox="1"/>
            <p:nvPr/>
          </p:nvSpPr>
          <p:spPr>
            <a:xfrm>
              <a:off x="1325499" y="4840129"/>
              <a:ext cx="9631581"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 xml:space="preserve">Ölçüt: </a:t>
              </a:r>
              <a:r>
                <a:rPr lang="tr-TR" sz="1580" dirty="0">
                  <a:solidFill>
                    <a:srgbClr val="172B3A"/>
                  </a:solidFill>
                  <a:latin typeface="+mn-lt"/>
                  <a:ea typeface="+mn-ea"/>
                  <a:cs typeface="+mn-cs"/>
                </a:rPr>
                <a:t>eksik alanlı bir istek gövdesini destructuring ve varsayılan değerle çökmeden işlemek</a:t>
              </a:r>
            </a:p>
          </p:txBody>
        </p:sp>
      </p:grpSp>
      <p:grpSp>
        <p:nvGrpSpPr>
          <p:cNvPr id="34" name="goal-5"/>
          <p:cNvGrpSpPr/>
          <p:nvPr/>
        </p:nvGrpSpPr>
        <p:grpSpPr>
          <a:xfrm>
            <a:off x="1324356" y="5539740"/>
            <a:ext cx="7994937" cy="656178"/>
            <a:chOff x="1324356" y="5539740"/>
            <a:chExt cx="7994937" cy="656178"/>
          </a:xfrm>
        </p:grpSpPr>
        <p:sp>
          <p:nvSpPr>
            <p:cNvPr id="32" name="TextBox 32"/>
            <p:cNvSpPr txBox="1"/>
            <p:nvPr/>
          </p:nvSpPr>
          <p:spPr>
            <a:xfrm>
              <a:off x="1324356" y="5539740"/>
              <a:ext cx="619657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Hata yönetimini bir tasarım kararı olarak görmek</a:t>
              </a:r>
            </a:p>
          </p:txBody>
        </p:sp>
        <p:sp>
          <p:nvSpPr>
            <p:cNvPr id="33" name="TextBox 33"/>
            <p:cNvSpPr txBox="1"/>
            <p:nvPr/>
          </p:nvSpPr>
          <p:spPr>
            <a:xfrm>
              <a:off x="1325499" y="5887879"/>
              <a:ext cx="7993794" cy="308039"/>
            </a:xfrm>
            <a:prstGeom prst="rect">
              <a:avLst/>
            </a:prstGeom>
            <a:noFill/>
            <a:ln>
              <a:noFill/>
            </a:ln>
          </p:spPr>
          <p:txBody>
            <a:bodyPr wrap="none" lIns="0" tIns="0" rIns="0" bIns="0" anchor="t" anchorCtr="0">
              <a:spAutoFit/>
            </a:bodyPr>
            <a:lstStyle/>
            <a:p>
              <a:pPr algn="l"/>
              <a:r>
                <a:rPr lang="tr-TR" sz="1580" b="1" dirty="0">
                  <a:solidFill>
                    <a:srgbClr val="2E86AB"/>
                  </a:solidFill>
                  <a:latin typeface="+mn-lt"/>
                  <a:ea typeface="+mn-ea"/>
                  <a:cs typeface="+mn-cs"/>
                </a:rPr>
                <a:t xml:space="preserve">Ölçüt: </a:t>
              </a:r>
              <a:r>
                <a:rPr lang="tr-TR" sz="1580" dirty="0">
                  <a:solidFill>
                    <a:srgbClr val="172B3A"/>
                  </a:solidFill>
                  <a:latin typeface="+mn-lt"/>
                  <a:ea typeface="+mn-ea"/>
                  <a:cs typeface="+mn-cs"/>
                </a:rPr>
                <a:t>hatanın hangi katmanda yakalanması gerektiğini gerekçelendirebilmek</a:t>
              </a:r>
            </a:p>
          </p:txBody>
        </p:sp>
      </p:grpSp>
      <p:grpSp>
        <p:nvGrpSpPr>
          <p:cNvPr id="37" name="footer"/>
          <p:cNvGrpSpPr/>
          <p:nvPr/>
        </p:nvGrpSpPr>
        <p:grpSpPr>
          <a:xfrm>
            <a:off x="565404" y="6404610"/>
            <a:ext cx="11061192" cy="234696"/>
            <a:chOff x="565404" y="6404610"/>
            <a:chExt cx="11061192" cy="234696"/>
          </a:xfrm>
        </p:grpSpPr>
        <p:sp>
          <p:nvSpPr>
            <p:cNvPr id="35" name="TextBox 35"/>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36" name="TextBox 36"/>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3"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11"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10" name="Group 10"/>
              <p:cNvGrpSpPr/>
              <p:nvPr/>
            </p:nvGrpSpPr>
            <p:grpSpPr>
              <a:xfrm>
                <a:off x="724376" y="324326"/>
                <a:ext cx="265748" cy="265748"/>
                <a:chOff x="724376" y="324326"/>
                <a:chExt cx="265748" cy="265748"/>
              </a:xfrm>
            </p:grpSpPr>
            <p:sp>
              <p:nvSpPr>
                <p:cNvPr id="5" name="Freeform 5"/>
                <p:cNvSpPr/>
                <p:nvPr/>
              </p:nvSpPr>
              <p:spPr>
                <a:xfrm>
                  <a:off x="7243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332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332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7991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8646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61872" y="282892"/>
              <a:ext cx="7534825"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Kavram haritası: bir isteğin yolculuğu</a:t>
              </a:r>
            </a:p>
          </p:txBody>
        </p:sp>
      </p:grpSp>
      <p:grpSp>
        <p:nvGrpSpPr>
          <p:cNvPr id="46" name="module-field"/>
          <p:cNvGrpSpPr/>
          <p:nvPr/>
        </p:nvGrpSpPr>
        <p:grpSpPr>
          <a:xfrm>
            <a:off x="571500" y="1238250"/>
            <a:ext cx="11049000" cy="3771900"/>
            <a:chOff x="571500" y="1238250"/>
            <a:chExt cx="11049000" cy="3771900"/>
          </a:xfrm>
        </p:grpSpPr>
        <p:sp>
          <p:nvSpPr>
            <p:cNvPr id="14" name="Rectangle 14"/>
            <p:cNvSpPr/>
            <p:nvPr/>
          </p:nvSpPr>
          <p:spPr>
            <a:xfrm>
              <a:off x="571500" y="1238250"/>
              <a:ext cx="11049000" cy="3771900"/>
            </a:xfrm>
            <a:prstGeom prst="roundRect">
              <a:avLst>
                <a:gd name="adj" fmla="val 1010"/>
              </a:avLst>
            </a:prstGeom>
            <a:noFill/>
            <a:ln w="19050">
              <a:solidFill>
                <a:srgbClr val="12355B"/>
              </a:solidFill>
            </a:ln>
          </p:spPr>
        </p:sp>
        <p:sp>
          <p:nvSpPr>
            <p:cNvPr id="15" name="TextBox 15"/>
            <p:cNvSpPr txBox="1"/>
            <p:nvPr/>
          </p:nvSpPr>
          <p:spPr>
            <a:xfrm>
              <a:off x="792099" y="1411129"/>
              <a:ext cx="700636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ES Modülleri · tüm akışı sorumluluk dosyalarına ayıran çerçeve</a:t>
              </a:r>
            </a:p>
          </p:txBody>
        </p:sp>
        <p:grpSp>
          <p:nvGrpSpPr>
            <p:cNvPr id="19" name="Group 19"/>
            <p:cNvGrpSpPr/>
            <p:nvPr/>
          </p:nvGrpSpPr>
          <p:grpSpPr>
            <a:xfrm>
              <a:off x="2190750" y="2333625"/>
              <a:ext cx="7200900" cy="1"/>
              <a:chOff x="2190750" y="2333625"/>
              <a:chExt cx="7200900" cy="1"/>
            </a:xfrm>
          </p:grpSpPr>
          <p:sp>
            <p:nvSpPr>
              <p:cNvPr id="16" name="Line 16"/>
              <p:cNvSpPr/>
              <p:nvPr/>
            </p:nvSpPr>
            <p:spPr>
              <a:xfrm>
                <a:off x="2190750" y="2333625"/>
                <a:ext cx="533400" cy="1"/>
              </a:xfrm>
              <a:prstGeom prst="line">
                <a:avLst/>
              </a:prstGeom>
              <a:noFill/>
              <a:ln w="28575">
                <a:solidFill>
                  <a:srgbClr val="00A6A6"/>
                </a:solidFill>
                <a:tailEnd type="triangle" w="lg" len="lg"/>
              </a:ln>
            </p:spPr>
          </p:sp>
          <p:sp>
            <p:nvSpPr>
              <p:cNvPr id="17" name="Line 17"/>
              <p:cNvSpPr/>
              <p:nvPr/>
            </p:nvSpPr>
            <p:spPr>
              <a:xfrm>
                <a:off x="5429250" y="2333625"/>
                <a:ext cx="628650" cy="1"/>
              </a:xfrm>
              <a:prstGeom prst="line">
                <a:avLst/>
              </a:prstGeom>
              <a:noFill/>
              <a:ln w="28575">
                <a:solidFill>
                  <a:srgbClr val="00A6A6"/>
                </a:solidFill>
                <a:tailEnd type="triangle" w="lg" len="lg"/>
              </a:ln>
            </p:spPr>
          </p:sp>
          <p:sp>
            <p:nvSpPr>
              <p:cNvPr id="18" name="Line 18"/>
              <p:cNvSpPr/>
              <p:nvPr/>
            </p:nvSpPr>
            <p:spPr>
              <a:xfrm>
                <a:off x="8763000" y="2333625"/>
                <a:ext cx="628650" cy="1"/>
              </a:xfrm>
              <a:prstGeom prst="line">
                <a:avLst/>
              </a:prstGeom>
              <a:noFill/>
              <a:ln w="28575">
                <a:solidFill>
                  <a:srgbClr val="00A6A6"/>
                </a:solidFill>
                <a:tailEnd type="triangle" w="lg" len="lg"/>
              </a:ln>
            </p:spPr>
          </p:sp>
        </p:grpSp>
        <p:sp>
          <p:nvSpPr>
            <p:cNvPr id="20" name="Line 20"/>
            <p:cNvSpPr/>
            <p:nvPr/>
          </p:nvSpPr>
          <p:spPr>
            <a:xfrm flipV="1">
              <a:off x="7429500" y="2819400"/>
              <a:ext cx="1" cy="419100"/>
            </a:xfrm>
            <a:prstGeom prst="line">
              <a:avLst/>
            </a:prstGeom>
            <a:noFill/>
            <a:ln w="28575">
              <a:solidFill>
                <a:srgbClr val="12355B"/>
              </a:solidFill>
              <a:tailEnd type="triangle" w="lg" len="lg"/>
            </a:ln>
          </p:spPr>
        </p:sp>
        <p:grpSp>
          <p:nvGrpSpPr>
            <p:cNvPr id="23" name="Group 23"/>
            <p:cNvGrpSpPr/>
            <p:nvPr/>
          </p:nvGrpSpPr>
          <p:grpSpPr>
            <a:xfrm>
              <a:off x="3143250" y="2762250"/>
              <a:ext cx="1619251" cy="2228850"/>
              <a:chOff x="3143250" y="2762250"/>
              <a:chExt cx="1619251" cy="2228850"/>
            </a:xfrm>
          </p:grpSpPr>
          <p:sp>
            <p:nvSpPr>
              <p:cNvPr id="21" name="Line 21"/>
              <p:cNvSpPr/>
              <p:nvPr/>
            </p:nvSpPr>
            <p:spPr>
              <a:xfrm>
                <a:off x="4762500" y="2762250"/>
                <a:ext cx="1" cy="1390650"/>
              </a:xfrm>
              <a:prstGeom prst="line">
                <a:avLst/>
              </a:prstGeom>
              <a:noFill/>
              <a:ln w="19050">
                <a:solidFill>
                  <a:srgbClr val="52616B"/>
                </a:solidFill>
                <a:prstDash val="lgDash"/>
                <a:tailEnd type="triangle" w="lg" len="lg"/>
              </a:ln>
            </p:spPr>
          </p:sp>
          <p:sp>
            <p:nvSpPr>
              <p:cNvPr id="22" name="Line 22"/>
              <p:cNvSpPr/>
              <p:nvPr/>
            </p:nvSpPr>
            <p:spPr>
              <a:xfrm flipV="1">
                <a:off x="3143250" y="2819400"/>
                <a:ext cx="1" cy="2171700"/>
              </a:xfrm>
              <a:prstGeom prst="line">
                <a:avLst/>
              </a:prstGeom>
              <a:noFill/>
              <a:ln w="19050">
                <a:solidFill>
                  <a:srgbClr val="52616B"/>
                </a:solidFill>
                <a:prstDash val="lgDash"/>
                <a:tailEnd type="triangle" w="lg" len="lg"/>
              </a:ln>
            </p:spPr>
          </p:sp>
        </p:grpSp>
        <p:grpSp>
          <p:nvGrpSpPr>
            <p:cNvPr id="27" name="Group 27"/>
            <p:cNvGrpSpPr/>
            <p:nvPr/>
          </p:nvGrpSpPr>
          <p:grpSpPr>
            <a:xfrm>
              <a:off x="857250" y="1905000"/>
              <a:ext cx="10477500" cy="857250"/>
              <a:chOff x="857250" y="1905000"/>
              <a:chExt cx="10477500" cy="857250"/>
            </a:xfrm>
          </p:grpSpPr>
          <p:sp>
            <p:nvSpPr>
              <p:cNvPr id="24" name="Rectangle 24"/>
              <p:cNvSpPr/>
              <p:nvPr/>
            </p:nvSpPr>
            <p:spPr>
              <a:xfrm>
                <a:off x="857250" y="2000250"/>
                <a:ext cx="1333500" cy="666750"/>
              </a:xfrm>
              <a:prstGeom prst="roundRect">
                <a:avLst>
                  <a:gd name="adj" fmla="val 50000"/>
                </a:avLst>
              </a:prstGeom>
              <a:solidFill>
                <a:srgbClr val="FFFFFF"/>
              </a:solidFill>
              <a:ln w="19050">
                <a:solidFill>
                  <a:srgbClr val="2E86AB"/>
                </a:solidFill>
              </a:ln>
            </p:spPr>
          </p:sp>
          <p:sp>
            <p:nvSpPr>
              <p:cNvPr id="25" name="Rectangle 25"/>
              <p:cNvSpPr/>
              <p:nvPr/>
            </p:nvSpPr>
            <p:spPr>
              <a:xfrm>
                <a:off x="2762250" y="1905000"/>
                <a:ext cx="2667000" cy="857250"/>
              </a:xfrm>
              <a:prstGeom prst="roundRect">
                <a:avLst>
                  <a:gd name="adj" fmla="val 8889"/>
                </a:avLst>
              </a:prstGeom>
              <a:solidFill>
                <a:srgbClr val="FFFFFF"/>
              </a:solidFill>
              <a:ln w="19050">
                <a:solidFill>
                  <a:srgbClr val="2E86AB"/>
                </a:solidFill>
              </a:ln>
            </p:spPr>
          </p:sp>
          <p:sp>
            <p:nvSpPr>
              <p:cNvPr id="26" name="Rectangle 26"/>
              <p:cNvSpPr/>
              <p:nvPr/>
            </p:nvSpPr>
            <p:spPr>
              <a:xfrm>
                <a:off x="9429750" y="2000250"/>
                <a:ext cx="1905000" cy="666750"/>
              </a:xfrm>
              <a:prstGeom prst="roundRect">
                <a:avLst>
                  <a:gd name="adj" fmla="val 50000"/>
                </a:avLst>
              </a:prstGeom>
              <a:solidFill>
                <a:srgbClr val="FFFFFF"/>
              </a:solidFill>
              <a:ln w="19050">
                <a:solidFill>
                  <a:srgbClr val="2E86AB"/>
                </a:solidFill>
              </a:ln>
            </p:spPr>
          </p:sp>
        </p:grpSp>
        <p:sp>
          <p:nvSpPr>
            <p:cNvPr id="28" name="Rectangle 28"/>
            <p:cNvSpPr/>
            <p:nvPr/>
          </p:nvSpPr>
          <p:spPr>
            <a:xfrm>
              <a:off x="6096000" y="1905000"/>
              <a:ext cx="2667000" cy="857250"/>
            </a:xfrm>
            <a:prstGeom prst="roundRect">
              <a:avLst>
                <a:gd name="adj" fmla="val 8889"/>
              </a:avLst>
            </a:prstGeom>
            <a:solidFill>
              <a:srgbClr val="12355B"/>
            </a:solidFill>
            <a:ln>
              <a:noFill/>
            </a:ln>
          </p:spPr>
        </p:sp>
        <p:sp>
          <p:nvSpPr>
            <p:cNvPr id="29" name="Rectangle 29"/>
            <p:cNvSpPr/>
            <p:nvPr/>
          </p:nvSpPr>
          <p:spPr>
            <a:xfrm>
              <a:off x="6096000" y="3238500"/>
              <a:ext cx="2667000" cy="685800"/>
            </a:xfrm>
            <a:prstGeom prst="roundRect">
              <a:avLst>
                <a:gd name="adj" fmla="val 11111"/>
              </a:avLst>
            </a:prstGeom>
            <a:solidFill>
              <a:srgbClr val="EAF4F6"/>
            </a:solidFill>
            <a:ln w="19050">
              <a:solidFill>
                <a:srgbClr val="2E86AB"/>
              </a:solidFill>
            </a:ln>
          </p:spPr>
        </p:sp>
        <p:sp>
          <p:nvSpPr>
            <p:cNvPr id="30" name="Rectangle 30"/>
            <p:cNvSpPr/>
            <p:nvPr/>
          </p:nvSpPr>
          <p:spPr>
            <a:xfrm>
              <a:off x="857250" y="4191000"/>
              <a:ext cx="10477500" cy="571500"/>
            </a:xfrm>
            <a:prstGeom prst="roundRect">
              <a:avLst>
                <a:gd name="adj" fmla="val 6667"/>
              </a:avLst>
            </a:prstGeom>
            <a:solidFill>
              <a:srgbClr val="EAF4F6"/>
            </a:solidFill>
            <a:ln>
              <a:noFill/>
            </a:ln>
          </p:spPr>
        </p:sp>
        <p:grpSp>
          <p:nvGrpSpPr>
            <p:cNvPr id="35" name="Group 35"/>
            <p:cNvGrpSpPr/>
            <p:nvPr/>
          </p:nvGrpSpPr>
          <p:grpSpPr>
            <a:xfrm>
              <a:off x="1161052" y="2053590"/>
              <a:ext cx="9584146" cy="1647444"/>
              <a:chOff x="1161052" y="2053590"/>
              <a:chExt cx="9584146" cy="1647444"/>
            </a:xfrm>
          </p:grpSpPr>
          <p:sp>
            <p:nvSpPr>
              <p:cNvPr id="31" name="TextBox 31"/>
              <p:cNvSpPr txBox="1"/>
              <p:nvPr/>
            </p:nvSpPr>
            <p:spPr>
              <a:xfrm>
                <a:off x="1161052" y="2215515"/>
                <a:ext cx="725896"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İstek</a:t>
                </a:r>
              </a:p>
            </p:txBody>
          </p:sp>
          <p:sp>
            <p:nvSpPr>
              <p:cNvPr id="32" name="TextBox 32"/>
              <p:cNvSpPr txBox="1"/>
              <p:nvPr/>
            </p:nvSpPr>
            <p:spPr>
              <a:xfrm>
                <a:off x="3204994" y="2053590"/>
                <a:ext cx="1781511"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Destructuring</a:t>
                </a:r>
              </a:p>
            </p:txBody>
          </p:sp>
          <p:sp>
            <p:nvSpPr>
              <p:cNvPr id="33" name="TextBox 33"/>
              <p:cNvSpPr txBox="1"/>
              <p:nvPr/>
            </p:nvSpPr>
            <p:spPr>
              <a:xfrm>
                <a:off x="10019302" y="2215515"/>
                <a:ext cx="725896"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Yanıt</a:t>
                </a:r>
              </a:p>
            </p:txBody>
          </p:sp>
          <p:sp>
            <p:nvSpPr>
              <p:cNvPr id="34" name="TextBox 34"/>
              <p:cNvSpPr txBox="1"/>
              <p:nvPr/>
            </p:nvSpPr>
            <p:spPr>
              <a:xfrm>
                <a:off x="6933027" y="3348990"/>
                <a:ext cx="992947"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Promise</a:t>
                </a:r>
              </a:p>
            </p:txBody>
          </p:sp>
        </p:grpSp>
        <p:sp>
          <p:nvSpPr>
            <p:cNvPr id="36" name="TextBox 36"/>
            <p:cNvSpPr txBox="1"/>
            <p:nvPr/>
          </p:nvSpPr>
          <p:spPr>
            <a:xfrm>
              <a:off x="6580731" y="2053590"/>
              <a:ext cx="1697538" cy="352044"/>
            </a:xfrm>
            <a:prstGeom prst="rect">
              <a:avLst/>
            </a:prstGeom>
            <a:noFill/>
            <a:ln>
              <a:noFill/>
            </a:ln>
          </p:spPr>
          <p:txBody>
            <a:bodyPr wrap="none" lIns="0" tIns="0" rIns="0" bIns="0" anchor="t" anchorCtr="0">
              <a:spAutoFit/>
            </a:bodyPr>
            <a:lstStyle/>
            <a:p>
              <a:pPr algn="ctr"/>
              <a:r>
                <a:rPr lang="tr-TR" sz="1800" b="1" dirty="0">
                  <a:solidFill>
                    <a:srgbClr val="F7FAFC"/>
                  </a:solidFill>
                  <a:latin typeface="+mn-lt"/>
                  <a:ea typeface="+mn-ea"/>
                  <a:cs typeface="+mn-cs"/>
                </a:rPr>
                <a:t>async / await</a:t>
              </a:r>
            </a:p>
          </p:txBody>
        </p:sp>
        <p:grpSp>
          <p:nvGrpSpPr>
            <p:cNvPr id="40" name="Group 40"/>
            <p:cNvGrpSpPr/>
            <p:nvPr/>
          </p:nvGrpSpPr>
          <p:grpSpPr>
            <a:xfrm>
              <a:off x="3088061" y="2382679"/>
              <a:ext cx="5466113" cy="1546289"/>
              <a:chOff x="3088061" y="2382679"/>
              <a:chExt cx="5466113" cy="1546289"/>
            </a:xfrm>
          </p:grpSpPr>
          <p:sp>
            <p:nvSpPr>
              <p:cNvPr id="37" name="TextBox 37"/>
              <p:cNvSpPr txBox="1"/>
              <p:nvPr/>
            </p:nvSpPr>
            <p:spPr>
              <a:xfrm>
                <a:off x="3088061" y="2382679"/>
                <a:ext cx="2015378" cy="308039"/>
              </a:xfrm>
              <a:prstGeom prst="rect">
                <a:avLst/>
              </a:prstGeom>
              <a:noFill/>
              <a:ln>
                <a:noFill/>
              </a:ln>
            </p:spPr>
            <p:txBody>
              <a:bodyPr wrap="none" lIns="0" tIns="0" rIns="0" bIns="0" anchor="t" anchorCtr="0">
                <a:spAutoFit/>
              </a:bodyPr>
              <a:lstStyle/>
              <a:p>
                <a:pPr algn="ctr"/>
                <a:r>
                  <a:rPr lang="tr-TR" sz="1580" dirty="0">
                    <a:solidFill>
                      <a:srgbClr val="172B3A"/>
                    </a:solidFill>
                    <a:latin typeface="+mn-lt"/>
                    <a:ea typeface="+mn-ea"/>
                    <a:cs typeface="+mn-cs"/>
                  </a:rPr>
                  <a:t>gövdeyi ayrıştırır</a:t>
                </a:r>
              </a:p>
            </p:txBody>
          </p:sp>
          <p:sp>
            <p:nvSpPr>
              <p:cNvPr id="38" name="TextBox 38"/>
              <p:cNvSpPr txBox="1"/>
              <p:nvPr/>
            </p:nvSpPr>
            <p:spPr>
              <a:xfrm>
                <a:off x="6304826" y="2382679"/>
                <a:ext cx="2249348" cy="308039"/>
              </a:xfrm>
              <a:prstGeom prst="rect">
                <a:avLst/>
              </a:prstGeom>
              <a:noFill/>
              <a:ln>
                <a:noFill/>
              </a:ln>
            </p:spPr>
            <p:txBody>
              <a:bodyPr wrap="none" lIns="0" tIns="0" rIns="0" bIns="0" anchor="t" anchorCtr="0">
                <a:spAutoFit/>
              </a:bodyPr>
              <a:lstStyle/>
              <a:p>
                <a:pPr algn="ctr"/>
                <a:r>
                  <a:rPr lang="tr-TR" sz="1580" dirty="0">
                    <a:solidFill>
                      <a:srgbClr val="EAF4F6"/>
                    </a:solidFill>
                    <a:latin typeface="+mn-lt"/>
                    <a:ea typeface="+mn-ea"/>
                    <a:cs typeface="+mn-cs"/>
                  </a:rPr>
                  <a:t>okunur asenkron akış</a:t>
                </a:r>
              </a:p>
            </p:txBody>
          </p:sp>
          <p:sp>
            <p:nvSpPr>
              <p:cNvPr id="39" name="TextBox 39"/>
              <p:cNvSpPr txBox="1"/>
              <p:nvPr/>
            </p:nvSpPr>
            <p:spPr>
              <a:xfrm>
                <a:off x="6506891" y="3620929"/>
                <a:ext cx="1845219" cy="308039"/>
              </a:xfrm>
              <a:prstGeom prst="rect">
                <a:avLst/>
              </a:prstGeom>
              <a:noFill/>
              <a:ln>
                <a:noFill/>
              </a:ln>
            </p:spPr>
            <p:txBody>
              <a:bodyPr wrap="none" lIns="0" tIns="0" rIns="0" bIns="0" anchor="t" anchorCtr="0">
                <a:spAutoFit/>
              </a:bodyPr>
              <a:lstStyle/>
              <a:p>
                <a:pPr algn="ctr"/>
                <a:r>
                  <a:rPr lang="tr-TR" sz="1580" dirty="0">
                    <a:solidFill>
                      <a:srgbClr val="172B3A"/>
                    </a:solidFill>
                    <a:latin typeface="+mn-lt"/>
                    <a:ea typeface="+mn-ea"/>
                    <a:cs typeface="+mn-cs"/>
                  </a:rPr>
                  <a:t>gelecekteki sonuç</a:t>
                </a:r>
              </a:p>
            </p:txBody>
          </p:sp>
        </p:grpSp>
        <p:sp>
          <p:nvSpPr>
            <p:cNvPr id="41" name="TextBox 41"/>
            <p:cNvSpPr txBox="1"/>
            <p:nvPr/>
          </p:nvSpPr>
          <p:spPr>
            <a:xfrm>
              <a:off x="1077849" y="4382929"/>
              <a:ext cx="82529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xml:space="preserve">Hata yönetimi · </a:t>
              </a:r>
              <a:r>
                <a:rPr lang="tr-TR" sz="1580" dirty="0">
                  <a:solidFill>
                    <a:srgbClr val="172B3A"/>
                  </a:solidFill>
                  <a:latin typeface="+mn-lt"/>
                  <a:ea typeface="+mn-ea"/>
                  <a:cs typeface="+mn-cs"/>
                </a:rPr>
                <a:t>her adımda devrede: try / catch / finally, özel hata sınıfları</a:t>
              </a:r>
            </a:p>
          </p:txBody>
        </p:sp>
        <p:grpSp>
          <p:nvGrpSpPr>
            <p:cNvPr id="45" name="Group 45"/>
            <p:cNvGrpSpPr/>
            <p:nvPr/>
          </p:nvGrpSpPr>
          <p:grpSpPr>
            <a:xfrm>
              <a:off x="3251454" y="2956560"/>
              <a:ext cx="5028286" cy="1053846"/>
              <a:chOff x="3251454" y="2956560"/>
              <a:chExt cx="5028286" cy="1053846"/>
            </a:xfrm>
          </p:grpSpPr>
          <p:sp>
            <p:nvSpPr>
              <p:cNvPr id="42" name="TextBox 42"/>
              <p:cNvSpPr txBox="1"/>
              <p:nvPr/>
            </p:nvSpPr>
            <p:spPr>
              <a:xfrm>
                <a:off x="7556754" y="2956560"/>
                <a:ext cx="72298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temelidir</a:t>
                </a:r>
              </a:p>
            </p:txBody>
          </p:sp>
          <p:sp>
            <p:nvSpPr>
              <p:cNvPr id="43" name="TextBox 43"/>
              <p:cNvSpPr txBox="1"/>
              <p:nvPr/>
            </p:nvSpPr>
            <p:spPr>
              <a:xfrm>
                <a:off x="4870704" y="3413760"/>
                <a:ext cx="11268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biçim hataları</a:t>
                </a:r>
              </a:p>
            </p:txBody>
          </p:sp>
          <p:sp>
            <p:nvSpPr>
              <p:cNvPr id="44" name="TextBox 44"/>
              <p:cNvSpPr txBox="1"/>
              <p:nvPr/>
            </p:nvSpPr>
            <p:spPr>
              <a:xfrm>
                <a:off x="3251454" y="3775710"/>
                <a:ext cx="100568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tür güvenliği</a:t>
                </a:r>
              </a:p>
            </p:txBody>
          </p:sp>
        </p:grpSp>
      </p:grpSp>
      <p:grpSp>
        <p:nvGrpSpPr>
          <p:cNvPr id="53" name="language-base"/>
          <p:cNvGrpSpPr/>
          <p:nvPr/>
        </p:nvGrpSpPr>
        <p:grpSpPr>
          <a:xfrm>
            <a:off x="565404" y="5181600"/>
            <a:ext cx="11055096" cy="1076706"/>
            <a:chOff x="565404" y="5181600"/>
            <a:chExt cx="11055096" cy="1076706"/>
          </a:xfrm>
        </p:grpSpPr>
        <p:sp>
          <p:nvSpPr>
            <p:cNvPr id="47" name="Rectangle 47"/>
            <p:cNvSpPr/>
            <p:nvPr/>
          </p:nvSpPr>
          <p:spPr>
            <a:xfrm>
              <a:off x="571500" y="5181600"/>
              <a:ext cx="5429250" cy="762000"/>
            </a:xfrm>
            <a:prstGeom prst="rect">
              <a:avLst/>
            </a:prstGeom>
            <a:solidFill>
              <a:srgbClr val="12355B"/>
            </a:solidFill>
            <a:ln>
              <a:noFill/>
            </a:ln>
          </p:spPr>
        </p:sp>
        <p:sp>
          <p:nvSpPr>
            <p:cNvPr id="48" name="Rectangle 48"/>
            <p:cNvSpPr/>
            <p:nvPr/>
          </p:nvSpPr>
          <p:spPr>
            <a:xfrm>
              <a:off x="6191250" y="5181600"/>
              <a:ext cx="5429250" cy="762000"/>
            </a:xfrm>
            <a:prstGeom prst="rect">
              <a:avLst/>
            </a:prstGeom>
            <a:solidFill>
              <a:srgbClr val="12355B"/>
            </a:solidFill>
            <a:ln>
              <a:noFill/>
            </a:ln>
          </p:spPr>
        </p:sp>
        <p:sp>
          <p:nvSpPr>
            <p:cNvPr id="49" name="TextBox 49"/>
            <p:cNvSpPr txBox="1"/>
            <p:nvPr/>
          </p:nvSpPr>
          <p:spPr>
            <a:xfrm>
              <a:off x="790956" y="5311140"/>
              <a:ext cx="4580941" cy="352044"/>
            </a:xfrm>
            <a:prstGeom prst="rect">
              <a:avLst/>
            </a:prstGeom>
            <a:noFill/>
            <a:ln>
              <a:noFill/>
            </a:ln>
          </p:spPr>
          <p:txBody>
            <a:bodyPr wrap="none" lIns="0" tIns="0" rIns="0" bIns="0" anchor="t" anchorCtr="0">
              <a:spAutoFit/>
            </a:bodyPr>
            <a:lstStyle/>
            <a:p>
              <a:pPr algn="l"/>
              <a:r>
                <a:rPr lang="tr-TR" sz="1800" b="1" dirty="0">
                  <a:solidFill>
                    <a:srgbClr val="F7FAFC"/>
                  </a:solidFill>
                  <a:latin typeface="+mn-lt"/>
                  <a:ea typeface="+mn-ea"/>
                  <a:cs typeface="+mn-cs"/>
                </a:rPr>
                <a:t>TypeScript</a:t>
              </a:r>
              <a:r>
                <a:rPr lang="tr-TR" sz="1580" dirty="0">
                  <a:solidFill>
                    <a:srgbClr val="EAF4F6"/>
                  </a:solidFill>
                  <a:latin typeface="+mn-lt"/>
                  <a:ea typeface="+mn-ea"/>
                  <a:cs typeface="+mn-cs"/>
                </a:rPr>
                <a:t xml:space="preserve"> · derleme zamanı tür denetimi</a:t>
              </a:r>
            </a:p>
          </p:txBody>
        </p:sp>
        <p:sp>
          <p:nvSpPr>
            <p:cNvPr id="50" name="TextBox 50"/>
            <p:cNvSpPr txBox="1"/>
            <p:nvPr/>
          </p:nvSpPr>
          <p:spPr>
            <a:xfrm>
              <a:off x="6410706" y="5311140"/>
              <a:ext cx="3595058" cy="352044"/>
            </a:xfrm>
            <a:prstGeom prst="rect">
              <a:avLst/>
            </a:prstGeom>
            <a:noFill/>
            <a:ln>
              <a:noFill/>
            </a:ln>
          </p:spPr>
          <p:txBody>
            <a:bodyPr wrap="none" lIns="0" tIns="0" rIns="0" bIns="0" anchor="t" anchorCtr="0">
              <a:spAutoFit/>
            </a:bodyPr>
            <a:lstStyle/>
            <a:p>
              <a:pPr algn="l"/>
              <a:r>
                <a:rPr lang="tr-TR" sz="1800" b="1" dirty="0">
                  <a:solidFill>
                    <a:srgbClr val="F7FAFC"/>
                  </a:solidFill>
                  <a:latin typeface="+mn-lt"/>
                  <a:ea typeface="+mn-ea"/>
                  <a:cs typeface="+mn-cs"/>
                </a:rPr>
                <a:t>ES2025+</a:t>
              </a:r>
              <a:r>
                <a:rPr lang="tr-TR" sz="1580" dirty="0">
                  <a:solidFill>
                    <a:srgbClr val="EAF4F6"/>
                  </a:solidFill>
                  <a:latin typeface="+mn-lt"/>
                  <a:ea typeface="+mn-ea"/>
                  <a:cs typeface="+mn-cs"/>
                </a:rPr>
                <a:t xml:space="preserve"> · ?. ?? map filter const</a:t>
              </a:r>
            </a:p>
          </p:txBody>
        </p:sp>
        <p:sp>
          <p:nvSpPr>
            <p:cNvPr id="51" name="TextBox 51"/>
            <p:cNvSpPr txBox="1"/>
            <p:nvPr/>
          </p:nvSpPr>
          <p:spPr>
            <a:xfrm>
              <a:off x="794004" y="5680710"/>
              <a:ext cx="4608119" cy="234696"/>
            </a:xfrm>
            <a:prstGeom prst="rect">
              <a:avLst/>
            </a:prstGeom>
            <a:noFill/>
            <a:ln>
              <a:noFill/>
            </a:ln>
          </p:spPr>
          <p:txBody>
            <a:bodyPr wrap="none" lIns="0" tIns="0" rIns="0" bIns="0" anchor="t" anchorCtr="0">
              <a:spAutoFit/>
            </a:bodyPr>
            <a:lstStyle/>
            <a:p>
              <a:pPr algn="l"/>
              <a:r>
                <a:rPr lang="tr-TR" sz="1200" dirty="0">
                  <a:solidFill>
                    <a:srgbClr val="B8CBD3"/>
                  </a:solidFill>
                  <a:latin typeface="+mn-lt"/>
                  <a:ea typeface="+mn-ea"/>
                  <a:cs typeface="+mn-cs"/>
                </a:rPr>
                <a:t>dil zemini: tüm kavramlar bu iki katmanın üzerinde çalışır</a:t>
              </a:r>
            </a:p>
          </p:txBody>
        </p:sp>
        <p:sp>
          <p:nvSpPr>
            <p:cNvPr id="52" name="TextBox 52"/>
            <p:cNvSpPr txBox="1"/>
            <p:nvPr/>
          </p:nvSpPr>
          <p:spPr>
            <a:xfrm>
              <a:off x="565404" y="6023610"/>
              <a:ext cx="519243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Düz ok: doğrudan mümkün kılar · Kesikli ok: dolaylı destek ilişkisi</a:t>
              </a:r>
            </a:p>
          </p:txBody>
        </p:sp>
      </p:grpSp>
      <p:grpSp>
        <p:nvGrpSpPr>
          <p:cNvPr id="56" name="footer"/>
          <p:cNvGrpSpPr/>
          <p:nvPr/>
        </p:nvGrpSpPr>
        <p:grpSpPr>
          <a:xfrm>
            <a:off x="565404" y="6404610"/>
            <a:ext cx="11061192" cy="234696"/>
            <a:chOff x="565404" y="6404610"/>
            <a:chExt cx="11061192" cy="234696"/>
          </a:xfrm>
        </p:grpSpPr>
        <p:sp>
          <p:nvSpPr>
            <p:cNvPr id="54" name="TextBox 54"/>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55" name="TextBox 55"/>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8260394"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Her kavramın görevi ve sorumluluk sınırı</a:t>
              </a:r>
            </a:p>
          </p:txBody>
        </p:sp>
      </p:grpSp>
      <p:grpSp>
        <p:nvGrpSpPr>
          <p:cNvPr id="8" name="column-heads"/>
          <p:cNvGrpSpPr/>
          <p:nvPr/>
        </p:nvGrpSpPr>
        <p:grpSpPr>
          <a:xfrm>
            <a:off x="2889504" y="1184910"/>
            <a:ext cx="7248030" cy="234696"/>
            <a:chOff x="2889504" y="1184910"/>
            <a:chExt cx="7248030" cy="234696"/>
          </a:xfrm>
        </p:grpSpPr>
        <p:sp>
          <p:nvSpPr>
            <p:cNvPr id="6" name="TextBox 6"/>
            <p:cNvSpPr txBox="1"/>
            <p:nvPr/>
          </p:nvSpPr>
          <p:spPr>
            <a:xfrm>
              <a:off x="2889504" y="1184910"/>
              <a:ext cx="2188251"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TEMEL GÖREVİ · ne yapar?</a:t>
              </a:r>
            </a:p>
          </p:txBody>
        </p:sp>
        <p:sp>
          <p:nvSpPr>
            <p:cNvPr id="7" name="TextBox 7"/>
            <p:cNvSpPr txBox="1"/>
            <p:nvPr/>
          </p:nvSpPr>
          <p:spPr>
            <a:xfrm>
              <a:off x="7423404" y="1184910"/>
              <a:ext cx="2714130" cy="234696"/>
            </a:xfrm>
            <a:prstGeom prst="rect">
              <a:avLst/>
            </a:prstGeom>
            <a:noFill/>
            <a:ln>
              <a:noFill/>
            </a:ln>
          </p:spPr>
          <p:txBody>
            <a:bodyPr wrap="none" lIns="0" tIns="0" rIns="0" bIns="0" anchor="t" anchorCtr="0">
              <a:spAutoFit/>
            </a:bodyPr>
            <a:lstStyle/>
            <a:p>
              <a:pPr algn="l"/>
              <a:r>
                <a:rPr lang="tr-TR" sz="1200" b="1" dirty="0">
                  <a:solidFill>
                    <a:srgbClr val="52616B"/>
                  </a:solidFill>
                  <a:latin typeface="+mn-lt"/>
                  <a:ea typeface="+mn-ea"/>
                  <a:cs typeface="+mn-cs"/>
                </a:rPr>
                <a:t>SORUMLULUK SINIRI · ne yapmaz?</a:t>
              </a:r>
            </a:p>
          </p:txBody>
        </p:sp>
      </p:grpSp>
      <p:grpSp>
        <p:nvGrpSpPr>
          <p:cNvPr id="45" name="boundary-rows"/>
          <p:cNvGrpSpPr/>
          <p:nvPr/>
        </p:nvGrpSpPr>
        <p:grpSpPr>
          <a:xfrm>
            <a:off x="571500" y="1485900"/>
            <a:ext cx="10608310" cy="4686300"/>
            <a:chOff x="571500" y="1485900"/>
            <a:chExt cx="10608310" cy="4686300"/>
          </a:xfrm>
        </p:grpSpPr>
        <p:sp>
          <p:nvSpPr>
            <p:cNvPr id="9" name="Line 9"/>
            <p:cNvSpPr/>
            <p:nvPr/>
          </p:nvSpPr>
          <p:spPr>
            <a:xfrm>
              <a:off x="7258050" y="1485900"/>
              <a:ext cx="9525" cy="4686300"/>
            </a:xfrm>
            <a:custGeom>
              <a:avLst/>
              <a:gdLst/>
              <a:ahLst/>
              <a:cxnLst/>
              <a:rect l="l" t="t" r="r" b="b"/>
              <a:pathLst>
                <a:path w="9525" h="4686300">
                  <a:moveTo>
                    <a:pt x="0" y="0"/>
                  </a:moveTo>
                  <a:lnTo>
                    <a:pt x="0" y="4686300"/>
                  </a:lnTo>
                </a:path>
              </a:pathLst>
            </a:custGeom>
            <a:noFill/>
            <a:ln w="19050">
              <a:solidFill>
                <a:srgbClr val="B8CBD3"/>
              </a:solidFill>
            </a:ln>
          </p:spPr>
        </p:sp>
        <p:grpSp>
          <p:nvGrpSpPr>
            <p:cNvPr id="16" name="Group 16"/>
            <p:cNvGrpSpPr/>
            <p:nvPr/>
          </p:nvGrpSpPr>
          <p:grpSpPr>
            <a:xfrm>
              <a:off x="571500" y="1504950"/>
              <a:ext cx="2095500" cy="4552950"/>
              <a:chOff x="571500" y="1504950"/>
              <a:chExt cx="2095500" cy="4552950"/>
            </a:xfrm>
          </p:grpSpPr>
          <p:sp>
            <p:nvSpPr>
              <p:cNvPr id="10" name="Rectangle 10"/>
              <p:cNvSpPr/>
              <p:nvPr/>
            </p:nvSpPr>
            <p:spPr>
              <a:xfrm>
                <a:off x="571500" y="1504950"/>
                <a:ext cx="2095500" cy="647700"/>
              </a:xfrm>
              <a:prstGeom prst="rect">
                <a:avLst/>
              </a:prstGeom>
              <a:solidFill>
                <a:srgbClr val="12355B"/>
              </a:solidFill>
              <a:ln>
                <a:noFill/>
              </a:ln>
            </p:spPr>
          </p:sp>
          <p:sp>
            <p:nvSpPr>
              <p:cNvPr id="11" name="Rectangle 11"/>
              <p:cNvSpPr/>
              <p:nvPr/>
            </p:nvSpPr>
            <p:spPr>
              <a:xfrm>
                <a:off x="571500" y="2286000"/>
                <a:ext cx="2095500" cy="647700"/>
              </a:xfrm>
              <a:prstGeom prst="rect">
                <a:avLst/>
              </a:prstGeom>
              <a:solidFill>
                <a:srgbClr val="12355B"/>
              </a:solidFill>
              <a:ln>
                <a:noFill/>
              </a:ln>
            </p:spPr>
          </p:sp>
          <p:sp>
            <p:nvSpPr>
              <p:cNvPr id="12" name="Rectangle 12"/>
              <p:cNvSpPr/>
              <p:nvPr/>
            </p:nvSpPr>
            <p:spPr>
              <a:xfrm>
                <a:off x="571500" y="3067050"/>
                <a:ext cx="2095500" cy="647700"/>
              </a:xfrm>
              <a:prstGeom prst="rect">
                <a:avLst/>
              </a:prstGeom>
              <a:solidFill>
                <a:srgbClr val="12355B"/>
              </a:solidFill>
              <a:ln>
                <a:noFill/>
              </a:ln>
            </p:spPr>
          </p:sp>
          <p:sp>
            <p:nvSpPr>
              <p:cNvPr id="13" name="Rectangle 13"/>
              <p:cNvSpPr/>
              <p:nvPr/>
            </p:nvSpPr>
            <p:spPr>
              <a:xfrm>
                <a:off x="571500" y="3848100"/>
                <a:ext cx="2095500" cy="647700"/>
              </a:xfrm>
              <a:prstGeom prst="rect">
                <a:avLst/>
              </a:prstGeom>
              <a:solidFill>
                <a:srgbClr val="12355B"/>
              </a:solidFill>
              <a:ln>
                <a:noFill/>
              </a:ln>
            </p:spPr>
          </p:sp>
          <p:sp>
            <p:nvSpPr>
              <p:cNvPr id="14" name="Rectangle 14"/>
              <p:cNvSpPr/>
              <p:nvPr/>
            </p:nvSpPr>
            <p:spPr>
              <a:xfrm>
                <a:off x="571500" y="4629150"/>
                <a:ext cx="2095500" cy="647700"/>
              </a:xfrm>
              <a:prstGeom prst="rect">
                <a:avLst/>
              </a:prstGeom>
              <a:solidFill>
                <a:srgbClr val="12355B"/>
              </a:solidFill>
              <a:ln>
                <a:noFill/>
              </a:ln>
            </p:spPr>
          </p:sp>
          <p:sp>
            <p:nvSpPr>
              <p:cNvPr id="15" name="Rectangle 15"/>
              <p:cNvSpPr/>
              <p:nvPr/>
            </p:nvSpPr>
            <p:spPr>
              <a:xfrm>
                <a:off x="571500" y="5410200"/>
                <a:ext cx="2095500" cy="647700"/>
              </a:xfrm>
              <a:prstGeom prst="rect">
                <a:avLst/>
              </a:prstGeom>
              <a:solidFill>
                <a:srgbClr val="12355B"/>
              </a:solidFill>
              <a:ln>
                <a:noFill/>
              </a:ln>
            </p:spPr>
          </p:sp>
        </p:grpSp>
        <p:grpSp>
          <p:nvGrpSpPr>
            <p:cNvPr id="23" name="Group 23"/>
            <p:cNvGrpSpPr/>
            <p:nvPr/>
          </p:nvGrpSpPr>
          <p:grpSpPr>
            <a:xfrm>
              <a:off x="2667000" y="1504950"/>
              <a:ext cx="57150" cy="4552950"/>
              <a:chOff x="2667000" y="1504950"/>
              <a:chExt cx="57150" cy="4552950"/>
            </a:xfrm>
          </p:grpSpPr>
          <p:sp>
            <p:nvSpPr>
              <p:cNvPr id="17" name="Rectangle 17"/>
              <p:cNvSpPr/>
              <p:nvPr/>
            </p:nvSpPr>
            <p:spPr>
              <a:xfrm>
                <a:off x="2667000" y="1504950"/>
                <a:ext cx="57150" cy="647700"/>
              </a:xfrm>
              <a:prstGeom prst="rect">
                <a:avLst/>
              </a:prstGeom>
              <a:solidFill>
                <a:srgbClr val="00A6A6"/>
              </a:solidFill>
              <a:ln>
                <a:noFill/>
              </a:ln>
            </p:spPr>
          </p:sp>
          <p:sp>
            <p:nvSpPr>
              <p:cNvPr id="18" name="Rectangle 18"/>
              <p:cNvSpPr/>
              <p:nvPr/>
            </p:nvSpPr>
            <p:spPr>
              <a:xfrm>
                <a:off x="2667000" y="2286000"/>
                <a:ext cx="57150" cy="647700"/>
              </a:xfrm>
              <a:prstGeom prst="rect">
                <a:avLst/>
              </a:prstGeom>
              <a:solidFill>
                <a:srgbClr val="00A6A6"/>
              </a:solidFill>
              <a:ln>
                <a:noFill/>
              </a:ln>
            </p:spPr>
          </p:sp>
          <p:sp>
            <p:nvSpPr>
              <p:cNvPr id="19" name="Rectangle 19"/>
              <p:cNvSpPr/>
              <p:nvPr/>
            </p:nvSpPr>
            <p:spPr>
              <a:xfrm>
                <a:off x="2667000" y="3067050"/>
                <a:ext cx="57150" cy="647700"/>
              </a:xfrm>
              <a:prstGeom prst="rect">
                <a:avLst/>
              </a:prstGeom>
              <a:solidFill>
                <a:srgbClr val="00A6A6"/>
              </a:solidFill>
              <a:ln>
                <a:noFill/>
              </a:ln>
            </p:spPr>
          </p:sp>
          <p:sp>
            <p:nvSpPr>
              <p:cNvPr id="20" name="Rectangle 20"/>
              <p:cNvSpPr/>
              <p:nvPr/>
            </p:nvSpPr>
            <p:spPr>
              <a:xfrm>
                <a:off x="2667000" y="3848100"/>
                <a:ext cx="57150" cy="647700"/>
              </a:xfrm>
              <a:prstGeom prst="rect">
                <a:avLst/>
              </a:prstGeom>
              <a:solidFill>
                <a:srgbClr val="00A6A6"/>
              </a:solidFill>
              <a:ln>
                <a:noFill/>
              </a:ln>
            </p:spPr>
          </p:sp>
          <p:sp>
            <p:nvSpPr>
              <p:cNvPr id="21" name="Rectangle 21"/>
              <p:cNvSpPr/>
              <p:nvPr/>
            </p:nvSpPr>
            <p:spPr>
              <a:xfrm>
                <a:off x="2667000" y="4629150"/>
                <a:ext cx="57150" cy="647700"/>
              </a:xfrm>
              <a:prstGeom prst="rect">
                <a:avLst/>
              </a:prstGeom>
              <a:solidFill>
                <a:srgbClr val="00A6A6"/>
              </a:solidFill>
              <a:ln>
                <a:noFill/>
              </a:ln>
            </p:spPr>
          </p:sp>
          <p:sp>
            <p:nvSpPr>
              <p:cNvPr id="22" name="Rectangle 22"/>
              <p:cNvSpPr/>
              <p:nvPr/>
            </p:nvSpPr>
            <p:spPr>
              <a:xfrm>
                <a:off x="2667000" y="5410200"/>
                <a:ext cx="57150" cy="647700"/>
              </a:xfrm>
              <a:prstGeom prst="rect">
                <a:avLst/>
              </a:prstGeom>
              <a:solidFill>
                <a:srgbClr val="00A6A6"/>
              </a:solidFill>
              <a:ln>
                <a:noFill/>
              </a:ln>
            </p:spPr>
          </p:sp>
        </p:grpSp>
        <p:grpSp>
          <p:nvGrpSpPr>
            <p:cNvPr id="30" name="Group 30"/>
            <p:cNvGrpSpPr/>
            <p:nvPr/>
          </p:nvGrpSpPr>
          <p:grpSpPr>
            <a:xfrm>
              <a:off x="752856" y="1710690"/>
              <a:ext cx="1781511" cy="4257294"/>
              <a:chOff x="752856" y="1710690"/>
              <a:chExt cx="1781511" cy="4257294"/>
            </a:xfrm>
          </p:grpSpPr>
          <p:sp>
            <p:nvSpPr>
              <p:cNvPr id="24" name="TextBox 24"/>
              <p:cNvSpPr txBox="1"/>
              <p:nvPr/>
            </p:nvSpPr>
            <p:spPr>
              <a:xfrm>
                <a:off x="752856" y="1710690"/>
                <a:ext cx="1053297" cy="352044"/>
              </a:xfrm>
              <a:prstGeom prst="rect">
                <a:avLst/>
              </a:prstGeom>
              <a:noFill/>
              <a:ln>
                <a:noFill/>
              </a:ln>
            </p:spPr>
            <p:txBody>
              <a:bodyPr wrap="none" lIns="0" tIns="0" rIns="0" bIns="0" anchor="t" anchorCtr="0">
                <a:spAutoFit/>
              </a:bodyPr>
              <a:lstStyle/>
              <a:p>
                <a:pPr algn="l"/>
                <a:r>
                  <a:rPr lang="tr-TR" sz="1800" b="1" dirty="0">
                    <a:solidFill>
                      <a:srgbClr val="F7FAFC"/>
                    </a:solidFill>
                    <a:latin typeface="+mn-lt"/>
                    <a:ea typeface="+mn-ea"/>
                    <a:cs typeface="+mn-cs"/>
                  </a:rPr>
                  <a:t>ES2025+</a:t>
                </a:r>
              </a:p>
            </p:txBody>
          </p:sp>
          <p:sp>
            <p:nvSpPr>
              <p:cNvPr id="25" name="TextBox 25"/>
              <p:cNvSpPr txBox="1"/>
              <p:nvPr/>
            </p:nvSpPr>
            <p:spPr>
              <a:xfrm>
                <a:off x="752856" y="2491740"/>
                <a:ext cx="1516773" cy="352044"/>
              </a:xfrm>
              <a:prstGeom prst="rect">
                <a:avLst/>
              </a:prstGeom>
              <a:noFill/>
              <a:ln>
                <a:noFill/>
              </a:ln>
            </p:spPr>
            <p:txBody>
              <a:bodyPr wrap="none" lIns="0" tIns="0" rIns="0" bIns="0" anchor="t" anchorCtr="0">
                <a:spAutoFit/>
              </a:bodyPr>
              <a:lstStyle/>
              <a:p>
                <a:pPr algn="l"/>
                <a:r>
                  <a:rPr lang="tr-TR" sz="1800" b="1" dirty="0">
                    <a:solidFill>
                      <a:srgbClr val="F7FAFC"/>
                    </a:solidFill>
                    <a:latin typeface="+mn-lt"/>
                    <a:ea typeface="+mn-ea"/>
                    <a:cs typeface="+mn-cs"/>
                  </a:rPr>
                  <a:t>ES Modülleri</a:t>
                </a:r>
              </a:p>
            </p:txBody>
          </p:sp>
          <p:sp>
            <p:nvSpPr>
              <p:cNvPr id="26" name="TextBox 26"/>
              <p:cNvSpPr txBox="1"/>
              <p:nvPr/>
            </p:nvSpPr>
            <p:spPr>
              <a:xfrm>
                <a:off x="752856" y="3272790"/>
                <a:ext cx="992947" cy="352044"/>
              </a:xfrm>
              <a:prstGeom prst="rect">
                <a:avLst/>
              </a:prstGeom>
              <a:noFill/>
              <a:ln>
                <a:noFill/>
              </a:ln>
            </p:spPr>
            <p:txBody>
              <a:bodyPr wrap="none" lIns="0" tIns="0" rIns="0" bIns="0" anchor="t" anchorCtr="0">
                <a:spAutoFit/>
              </a:bodyPr>
              <a:lstStyle/>
              <a:p>
                <a:pPr algn="l"/>
                <a:r>
                  <a:rPr lang="tr-TR" sz="1800" b="1" dirty="0">
                    <a:solidFill>
                      <a:srgbClr val="F7FAFC"/>
                    </a:solidFill>
                    <a:latin typeface="+mn-lt"/>
                    <a:ea typeface="+mn-ea"/>
                    <a:cs typeface="+mn-cs"/>
                  </a:rPr>
                  <a:t>Promise</a:t>
                </a:r>
              </a:p>
            </p:txBody>
          </p:sp>
          <p:sp>
            <p:nvSpPr>
              <p:cNvPr id="27" name="TextBox 27"/>
              <p:cNvSpPr txBox="1"/>
              <p:nvPr/>
            </p:nvSpPr>
            <p:spPr>
              <a:xfrm>
                <a:off x="752856" y="4053840"/>
                <a:ext cx="1697538" cy="352044"/>
              </a:xfrm>
              <a:prstGeom prst="rect">
                <a:avLst/>
              </a:prstGeom>
              <a:noFill/>
              <a:ln>
                <a:noFill/>
              </a:ln>
            </p:spPr>
            <p:txBody>
              <a:bodyPr wrap="none" lIns="0" tIns="0" rIns="0" bIns="0" anchor="t" anchorCtr="0">
                <a:spAutoFit/>
              </a:bodyPr>
              <a:lstStyle/>
              <a:p>
                <a:pPr algn="l"/>
                <a:r>
                  <a:rPr lang="tr-TR" sz="1800" b="1" dirty="0">
                    <a:solidFill>
                      <a:srgbClr val="F7FAFC"/>
                    </a:solidFill>
                    <a:latin typeface="+mn-lt"/>
                    <a:ea typeface="+mn-ea"/>
                    <a:cs typeface="+mn-cs"/>
                  </a:rPr>
                  <a:t>async / await</a:t>
                </a:r>
              </a:p>
            </p:txBody>
          </p:sp>
          <p:sp>
            <p:nvSpPr>
              <p:cNvPr id="28" name="TextBox 28"/>
              <p:cNvSpPr txBox="1"/>
              <p:nvPr/>
            </p:nvSpPr>
            <p:spPr>
              <a:xfrm>
                <a:off x="752856" y="4834890"/>
                <a:ext cx="1781511" cy="352044"/>
              </a:xfrm>
              <a:prstGeom prst="rect">
                <a:avLst/>
              </a:prstGeom>
              <a:noFill/>
              <a:ln>
                <a:noFill/>
              </a:ln>
            </p:spPr>
            <p:txBody>
              <a:bodyPr wrap="none" lIns="0" tIns="0" rIns="0" bIns="0" anchor="t" anchorCtr="0">
                <a:spAutoFit/>
              </a:bodyPr>
              <a:lstStyle/>
              <a:p>
                <a:pPr algn="l"/>
                <a:r>
                  <a:rPr lang="tr-TR" sz="1800" b="1" dirty="0">
                    <a:solidFill>
                      <a:srgbClr val="F7FAFC"/>
                    </a:solidFill>
                    <a:latin typeface="+mn-lt"/>
                    <a:ea typeface="+mn-ea"/>
                    <a:cs typeface="+mn-cs"/>
                  </a:rPr>
                  <a:t>Destructuring</a:t>
                </a:r>
              </a:p>
            </p:txBody>
          </p:sp>
          <p:sp>
            <p:nvSpPr>
              <p:cNvPr id="29" name="TextBox 29"/>
              <p:cNvSpPr txBox="1"/>
              <p:nvPr/>
            </p:nvSpPr>
            <p:spPr>
              <a:xfrm>
                <a:off x="752856" y="5615940"/>
                <a:ext cx="1705459" cy="352044"/>
              </a:xfrm>
              <a:prstGeom prst="rect">
                <a:avLst/>
              </a:prstGeom>
              <a:noFill/>
              <a:ln>
                <a:noFill/>
              </a:ln>
            </p:spPr>
            <p:txBody>
              <a:bodyPr wrap="none" lIns="0" tIns="0" rIns="0" bIns="0" anchor="t" anchorCtr="0">
                <a:spAutoFit/>
              </a:bodyPr>
              <a:lstStyle/>
              <a:p>
                <a:pPr algn="l"/>
                <a:r>
                  <a:rPr lang="tr-TR" sz="1800" b="1" dirty="0">
                    <a:solidFill>
                      <a:srgbClr val="F7FAFC"/>
                    </a:solidFill>
                    <a:latin typeface="+mn-lt"/>
                    <a:ea typeface="+mn-ea"/>
                    <a:cs typeface="+mn-cs"/>
                  </a:rPr>
                  <a:t>Hata yönetimi</a:t>
                </a:r>
              </a:p>
            </p:txBody>
          </p:sp>
        </p:grpSp>
        <p:grpSp>
          <p:nvGrpSpPr>
            <p:cNvPr id="37" name="Group 37"/>
            <p:cNvGrpSpPr/>
            <p:nvPr/>
          </p:nvGrpSpPr>
          <p:grpSpPr>
            <a:xfrm>
              <a:off x="2887599" y="1601629"/>
              <a:ext cx="3567684" cy="4479988"/>
              <a:chOff x="2887599" y="1601629"/>
              <a:chExt cx="3567684" cy="4479988"/>
            </a:xfrm>
          </p:grpSpPr>
          <p:sp>
            <p:nvSpPr>
              <p:cNvPr id="31" name="TextBox 31"/>
              <p:cNvSpPr txBox="1"/>
              <p:nvPr/>
            </p:nvSpPr>
            <p:spPr>
              <a:xfrm>
                <a:off x="2887599" y="1601629"/>
                <a:ext cx="3306826"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Güncel sözdizimi: ?. ?? map filter</a:t>
                </a:r>
                <a:br/>
                <a:r>
                  <a:rPr lang="tr-TR" sz="1580" dirty="0">
                    <a:solidFill>
                      <a:srgbClr val="172B3A"/>
                    </a:solidFill>
                    <a:latin typeface="+mn-lt"/>
                    <a:ea typeface="+mn-ea"/>
                    <a:cs typeface="+mn-cs"/>
                  </a:rPr>
                  <a:t>Veri işlemeyi kısa ve okunur kılar</a:t>
                </a:r>
              </a:p>
            </p:txBody>
          </p:sp>
          <p:sp>
            <p:nvSpPr>
              <p:cNvPr id="32" name="TextBox 32"/>
              <p:cNvSpPr txBox="1"/>
              <p:nvPr/>
            </p:nvSpPr>
            <p:spPr>
              <a:xfrm>
                <a:off x="2887599" y="2382679"/>
                <a:ext cx="3567684"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Kodu kapsüllenmiş dosyalara ayırır;</a:t>
                </a:r>
                <a:br/>
                <a:r>
                  <a:rPr lang="tr-TR" sz="1580" dirty="0">
                    <a:solidFill>
                      <a:srgbClr val="172B3A"/>
                    </a:solidFill>
                    <a:latin typeface="+mn-lt"/>
                    <a:ea typeface="+mn-ea"/>
                    <a:cs typeface="+mn-cs"/>
                  </a:rPr>
                  <a:t>bağımlılık grafiğini açık tanımlar</a:t>
                </a:r>
              </a:p>
            </p:txBody>
          </p:sp>
          <p:sp>
            <p:nvSpPr>
              <p:cNvPr id="33" name="TextBox 33"/>
              <p:cNvSpPr txBox="1"/>
              <p:nvPr/>
            </p:nvSpPr>
            <p:spPr>
              <a:xfrm>
                <a:off x="2887599" y="3163729"/>
                <a:ext cx="2945638"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Gelecekteki sonucun durumunu</a:t>
                </a:r>
                <a:br/>
                <a:r>
                  <a:rPr lang="tr-TR" sz="1580" dirty="0">
                    <a:solidFill>
                      <a:srgbClr val="172B3A"/>
                    </a:solidFill>
                    <a:latin typeface="+mn-lt"/>
                    <a:ea typeface="+mn-ea"/>
                    <a:cs typeface="+mn-cs"/>
                  </a:rPr>
                  <a:t>nesne olarak temsil eder</a:t>
                </a:r>
              </a:p>
            </p:txBody>
          </p:sp>
          <p:sp>
            <p:nvSpPr>
              <p:cNvPr id="34" name="TextBox 34"/>
              <p:cNvSpPr txBox="1"/>
              <p:nvPr/>
            </p:nvSpPr>
            <p:spPr>
              <a:xfrm>
                <a:off x="2887599" y="3944779"/>
                <a:ext cx="3447288"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Promise akışını doğrusal, senkron</a:t>
                </a:r>
                <a:br/>
                <a:r>
                  <a:rPr lang="tr-TR" sz="1580" dirty="0">
                    <a:solidFill>
                      <a:srgbClr val="172B3A"/>
                    </a:solidFill>
                    <a:latin typeface="+mn-lt"/>
                    <a:ea typeface="+mn-ea"/>
                    <a:cs typeface="+mn-cs"/>
                  </a:rPr>
                  <a:t>kod gibi okunur biçimde yazdırır</a:t>
                </a:r>
              </a:p>
            </p:txBody>
          </p:sp>
          <p:sp>
            <p:nvSpPr>
              <p:cNvPr id="35" name="TextBox 35"/>
              <p:cNvSpPr txBox="1"/>
              <p:nvPr/>
            </p:nvSpPr>
            <p:spPr>
              <a:xfrm>
                <a:off x="2887599" y="4725829"/>
                <a:ext cx="2755011"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Gerekli alanları tek satırda</a:t>
                </a:r>
                <a:br/>
                <a:r>
                  <a:rPr lang="tr-TR" sz="1580" dirty="0">
                    <a:solidFill>
                      <a:srgbClr val="172B3A"/>
                    </a:solidFill>
                    <a:latin typeface="+mn-lt"/>
                    <a:ea typeface="+mn-ea"/>
                    <a:cs typeface="+mn-cs"/>
                  </a:rPr>
                  <a:t>yerel değişkenlere ayıklar</a:t>
                </a:r>
              </a:p>
            </p:txBody>
          </p:sp>
          <p:sp>
            <p:nvSpPr>
              <p:cNvPr id="36" name="TextBox 36"/>
              <p:cNvSpPr txBox="1"/>
              <p:nvPr/>
            </p:nvSpPr>
            <p:spPr>
              <a:xfrm>
                <a:off x="2887599" y="5506879"/>
                <a:ext cx="3397123"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try / catch / finally ile istisnaları</a:t>
                </a:r>
                <a:br/>
                <a:r>
                  <a:rPr lang="tr-TR" sz="1580" dirty="0">
                    <a:solidFill>
                      <a:srgbClr val="172B3A"/>
                    </a:solidFill>
                    <a:latin typeface="+mn-lt"/>
                    <a:ea typeface="+mn-ea"/>
                    <a:cs typeface="+mn-cs"/>
                  </a:rPr>
                  <a:t>yakalar, sürecin çökmesini önler</a:t>
                </a:r>
              </a:p>
            </p:txBody>
          </p:sp>
        </p:grpSp>
        <p:grpSp>
          <p:nvGrpSpPr>
            <p:cNvPr id="44" name="Group 44"/>
            <p:cNvGrpSpPr/>
            <p:nvPr/>
          </p:nvGrpSpPr>
          <p:grpSpPr>
            <a:xfrm>
              <a:off x="7421499" y="1601629"/>
              <a:ext cx="3758311" cy="4479988"/>
              <a:chOff x="7421499" y="1601629"/>
              <a:chExt cx="3758311" cy="4479988"/>
            </a:xfrm>
          </p:grpSpPr>
          <p:sp>
            <p:nvSpPr>
              <p:cNvPr id="38" name="TextBox 38"/>
              <p:cNvSpPr txBox="1"/>
              <p:nvPr/>
            </p:nvSpPr>
            <p:spPr>
              <a:xfrm>
                <a:off x="7421499" y="1601629"/>
                <a:ext cx="331685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Statik tip denetimi yapmaz; tür</a:t>
                </a:r>
                <a:br/>
                <a:r>
                  <a:rPr lang="tr-TR" sz="1580" dirty="0">
                    <a:solidFill>
                      <a:srgbClr val="172B3A"/>
                    </a:solidFill>
                    <a:latin typeface="+mn-lt"/>
                    <a:ea typeface="+mn-ea"/>
                    <a:cs typeface="+mn-cs"/>
                  </a:rPr>
                  <a:t>uyuşmazlığını önceden yakalamaz</a:t>
                </a:r>
              </a:p>
            </p:txBody>
          </p:sp>
          <p:sp>
            <p:nvSpPr>
              <p:cNvPr id="39" name="TextBox 39"/>
              <p:cNvSpPr txBox="1"/>
              <p:nvPr/>
            </p:nvSpPr>
            <p:spPr>
              <a:xfrm>
                <a:off x="7421499" y="2382679"/>
                <a:ext cx="351751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Paket indirmez, sürüm çözümlemez;</a:t>
                </a:r>
                <a:br/>
                <a:r>
                  <a:rPr lang="tr-TR" sz="1580" dirty="0">
                    <a:solidFill>
                      <a:srgbClr val="172B3A"/>
                    </a:solidFill>
                    <a:latin typeface="+mn-lt"/>
                    <a:ea typeface="+mn-ea"/>
                    <a:cs typeface="+mn-cs"/>
                  </a:rPr>
                  <a:t>bu, paket yöneticisinin görevidir</a:t>
                </a:r>
              </a:p>
            </p:txBody>
          </p:sp>
          <p:sp>
            <p:nvSpPr>
              <p:cNvPr id="40" name="TextBox 40"/>
              <p:cNvSpPr txBox="1"/>
              <p:nvPr/>
            </p:nvSpPr>
            <p:spPr>
              <a:xfrm>
                <a:off x="7421499" y="3163729"/>
                <a:ext cx="3497453"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Kodu senkron yapmaz; tek iş</a:t>
                </a:r>
                <a:br/>
                <a:r>
                  <a:rPr lang="tr-TR" sz="1580" dirty="0">
                    <a:solidFill>
                      <a:srgbClr val="172B3A"/>
                    </a:solidFill>
                    <a:latin typeface="+mn-lt"/>
                    <a:ea typeface="+mn-ea"/>
                    <a:cs typeface="+mn-cs"/>
                  </a:rPr>
                  <a:t>parçacığını çekirdeklere dağıtmaz</a:t>
                </a:r>
              </a:p>
            </p:txBody>
          </p:sp>
          <p:sp>
            <p:nvSpPr>
              <p:cNvPr id="41" name="TextBox 41"/>
              <p:cNvSpPr txBox="1"/>
              <p:nvPr/>
            </p:nvSpPr>
            <p:spPr>
              <a:xfrm>
                <a:off x="7421499" y="3944779"/>
                <a:ext cx="3296793"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Yeni thread açmaz; CPU yoğun işin</a:t>
                </a:r>
                <a:br/>
                <a:r>
                  <a:rPr lang="tr-TR" sz="1580" dirty="0">
                    <a:solidFill>
                      <a:srgbClr val="172B3A"/>
                    </a:solidFill>
                    <a:latin typeface="+mn-lt"/>
                    <a:ea typeface="+mn-ea"/>
                    <a:cs typeface="+mn-cs"/>
                  </a:rPr>
                  <a:t>event loop’u tıkamasını önlemez</a:t>
                </a:r>
              </a:p>
            </p:txBody>
          </p:sp>
          <p:sp>
            <p:nvSpPr>
              <p:cNvPr id="42" name="TextBox 42"/>
              <p:cNvSpPr txBox="1"/>
              <p:nvPr/>
            </p:nvSpPr>
            <p:spPr>
              <a:xfrm>
                <a:off x="7421499" y="4725829"/>
                <a:ext cx="3557651"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Tip ya da şema doğrulaması yapmaz;</a:t>
                </a:r>
                <a:br/>
                <a:r>
                  <a:rPr lang="tr-TR" sz="1580" dirty="0">
                    <a:solidFill>
                      <a:srgbClr val="172B3A"/>
                    </a:solidFill>
                    <a:latin typeface="+mn-lt"/>
                    <a:ea typeface="+mn-ea"/>
                    <a:cs typeface="+mn-cs"/>
                  </a:rPr>
                  <a:t>validation katmanının yerini tutmaz</a:t>
                </a:r>
              </a:p>
            </p:txBody>
          </p:sp>
          <p:sp>
            <p:nvSpPr>
              <p:cNvPr id="43" name="TextBox 43"/>
              <p:cNvSpPr txBox="1"/>
              <p:nvPr/>
            </p:nvSpPr>
            <p:spPr>
              <a:xfrm>
                <a:off x="7421499" y="5506879"/>
                <a:ext cx="3758311"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Mantık hatasını onarmaz; uygun HTTP</a:t>
                </a:r>
                <a:br/>
                <a:r>
                  <a:rPr lang="tr-TR" sz="1580" dirty="0">
                    <a:solidFill>
                      <a:srgbClr val="172B3A"/>
                    </a:solidFill>
                    <a:latin typeface="+mn-lt"/>
                    <a:ea typeface="+mn-ea"/>
                    <a:cs typeface="+mn-cs"/>
                  </a:rPr>
                  <a:t>durum kodunu kendiliğinden seçmez</a:t>
                </a:r>
              </a:p>
            </p:txBody>
          </p:sp>
        </p:grpSp>
      </p:grpSp>
      <p:grpSp>
        <p:nvGrpSpPr>
          <p:cNvPr id="48" name="footer"/>
          <p:cNvGrpSpPr/>
          <p:nvPr/>
        </p:nvGrpSpPr>
        <p:grpSpPr>
          <a:xfrm>
            <a:off x="565404" y="6404610"/>
            <a:ext cx="11061192" cy="234696"/>
            <a:chOff x="565404" y="6404610"/>
            <a:chExt cx="11061192" cy="234696"/>
          </a:xfrm>
        </p:grpSpPr>
        <p:sp>
          <p:nvSpPr>
            <p:cNvPr id="46" name="TextBox 46"/>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47" name="TextBox 47"/>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24376" y="339090"/>
                <a:ext cx="265748" cy="236220"/>
                <a:chOff x="724376" y="339090"/>
                <a:chExt cx="265748" cy="236220"/>
              </a:xfrm>
            </p:grpSpPr>
            <p:sp>
              <p:nvSpPr>
                <p:cNvPr id="5" name="Freeform 5"/>
                <p:cNvSpPr/>
                <p:nvPr/>
              </p:nvSpPr>
              <p:spPr>
                <a:xfrm>
                  <a:off x="7243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310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277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61872" y="282892"/>
              <a:ext cx="8984139"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ECMAScript, JavaScript ve TypeScript ilişkisi</a:t>
              </a:r>
            </a:p>
          </p:txBody>
        </p:sp>
      </p:grpSp>
      <p:grpSp>
        <p:nvGrpSpPr>
          <p:cNvPr id="33" name="standard-chain"/>
          <p:cNvGrpSpPr/>
          <p:nvPr/>
        </p:nvGrpSpPr>
        <p:grpSpPr>
          <a:xfrm>
            <a:off x="563499" y="1295400"/>
            <a:ext cx="7056501" cy="3033618"/>
            <a:chOff x="563499" y="1295400"/>
            <a:chExt cx="7056501" cy="3033618"/>
          </a:xfrm>
        </p:grpSpPr>
        <p:sp>
          <p:nvSpPr>
            <p:cNvPr id="12" name="Rectangle 12"/>
            <p:cNvSpPr/>
            <p:nvPr/>
          </p:nvSpPr>
          <p:spPr>
            <a:xfrm>
              <a:off x="571500" y="1295400"/>
              <a:ext cx="7048500" cy="876300"/>
            </a:xfrm>
            <a:prstGeom prst="rect">
              <a:avLst/>
            </a:prstGeom>
            <a:solidFill>
              <a:srgbClr val="EAF4F6"/>
            </a:solidFill>
            <a:ln>
              <a:noFill/>
            </a:ln>
          </p:spPr>
        </p:sp>
        <p:sp>
          <p:nvSpPr>
            <p:cNvPr id="13" name="Rectangle 13"/>
            <p:cNvSpPr/>
            <p:nvPr/>
          </p:nvSpPr>
          <p:spPr>
            <a:xfrm>
              <a:off x="571500" y="1295400"/>
              <a:ext cx="57150" cy="876300"/>
            </a:xfrm>
            <a:prstGeom prst="rect">
              <a:avLst/>
            </a:prstGeom>
            <a:solidFill>
              <a:srgbClr val="12355B"/>
            </a:solidFill>
            <a:ln>
              <a:noFill/>
            </a:ln>
          </p:spPr>
        </p:sp>
        <p:sp>
          <p:nvSpPr>
            <p:cNvPr id="14" name="TextBox 14"/>
            <p:cNvSpPr txBox="1"/>
            <p:nvPr/>
          </p:nvSpPr>
          <p:spPr>
            <a:xfrm>
              <a:off x="810006" y="1443990"/>
              <a:ext cx="466185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ECMAScript · ECMA-262 dil standardı</a:t>
              </a:r>
            </a:p>
          </p:txBody>
        </p:sp>
        <p:sp>
          <p:nvSpPr>
            <p:cNvPr id="15" name="TextBox 15"/>
            <p:cNvSpPr txBox="1"/>
            <p:nvPr/>
          </p:nvSpPr>
          <p:spPr>
            <a:xfrm>
              <a:off x="811149" y="1792129"/>
              <a:ext cx="60901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Dilin ortak davranışını tanımlar; ES2025 güncel sürümdür</a:t>
              </a:r>
            </a:p>
          </p:txBody>
        </p:sp>
        <p:sp>
          <p:nvSpPr>
            <p:cNvPr id="16" name="Line 16"/>
            <p:cNvSpPr/>
            <p:nvPr/>
          </p:nvSpPr>
          <p:spPr>
            <a:xfrm>
              <a:off x="4143375" y="2171700"/>
              <a:ext cx="9525" cy="590550"/>
            </a:xfrm>
            <a:custGeom>
              <a:avLst/>
              <a:gdLst/>
              <a:ahLst/>
              <a:cxnLst/>
              <a:rect l="l" t="t" r="r" b="b"/>
              <a:pathLst>
                <a:path w="9525" h="590550">
                  <a:moveTo>
                    <a:pt x="0" y="0"/>
                  </a:moveTo>
                  <a:lnTo>
                    <a:pt x="0" y="590550"/>
                  </a:lnTo>
                </a:path>
              </a:pathLst>
            </a:custGeom>
            <a:noFill/>
            <a:ln w="19050">
              <a:solidFill>
                <a:srgbClr val="12355B"/>
              </a:solidFill>
            </a:ln>
          </p:spPr>
        </p:sp>
        <p:sp>
          <p:nvSpPr>
            <p:cNvPr id="17" name="TextBox 17"/>
            <p:cNvSpPr txBox="1"/>
            <p:nvPr/>
          </p:nvSpPr>
          <p:spPr>
            <a:xfrm>
              <a:off x="4261104" y="2404110"/>
              <a:ext cx="59375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uygular</a:t>
              </a:r>
            </a:p>
          </p:txBody>
        </p:sp>
        <p:grpSp>
          <p:nvGrpSpPr>
            <p:cNvPr id="20" name="Group 20"/>
            <p:cNvGrpSpPr/>
            <p:nvPr/>
          </p:nvGrpSpPr>
          <p:grpSpPr>
            <a:xfrm>
              <a:off x="2571750" y="3286125"/>
              <a:ext cx="2914650" cy="1"/>
              <a:chOff x="2571750" y="3286125"/>
              <a:chExt cx="2914650" cy="1"/>
            </a:xfrm>
          </p:grpSpPr>
          <p:sp>
            <p:nvSpPr>
              <p:cNvPr id="18" name="Line 18"/>
              <p:cNvSpPr/>
              <p:nvPr/>
            </p:nvSpPr>
            <p:spPr>
              <a:xfrm>
                <a:off x="2571750" y="3286125"/>
                <a:ext cx="438150" cy="1"/>
              </a:xfrm>
              <a:prstGeom prst="line">
                <a:avLst/>
              </a:prstGeom>
              <a:noFill/>
              <a:ln w="28575">
                <a:solidFill>
                  <a:srgbClr val="00A6A6"/>
                </a:solidFill>
                <a:tailEnd type="triangle" w="lg" len="lg"/>
              </a:ln>
            </p:spPr>
          </p:sp>
          <p:sp>
            <p:nvSpPr>
              <p:cNvPr id="19" name="Line 19"/>
              <p:cNvSpPr/>
              <p:nvPr/>
            </p:nvSpPr>
            <p:spPr>
              <a:xfrm>
                <a:off x="5048250" y="3286125"/>
                <a:ext cx="438150" cy="1"/>
              </a:xfrm>
              <a:prstGeom prst="line">
                <a:avLst/>
              </a:prstGeom>
              <a:noFill/>
              <a:ln w="28575">
                <a:solidFill>
                  <a:srgbClr val="00A6A6"/>
                </a:solidFill>
                <a:tailEnd type="triangle" w="lg" len="lg"/>
              </a:ln>
            </p:spPr>
          </p:sp>
        </p:grpSp>
        <p:sp>
          <p:nvSpPr>
            <p:cNvPr id="21" name="Rectangle 21"/>
            <p:cNvSpPr/>
            <p:nvPr/>
          </p:nvSpPr>
          <p:spPr>
            <a:xfrm>
              <a:off x="571500" y="2762250"/>
              <a:ext cx="2000250" cy="1047750"/>
            </a:xfrm>
            <a:prstGeom prst="roundRect">
              <a:avLst>
                <a:gd name="adj" fmla="val 7273"/>
              </a:avLst>
            </a:prstGeom>
            <a:solidFill>
              <a:srgbClr val="FFFFFF"/>
            </a:solidFill>
            <a:ln w="19050">
              <a:solidFill>
                <a:srgbClr val="2E86AB"/>
              </a:solidFill>
            </a:ln>
          </p:spPr>
        </p:sp>
        <p:sp>
          <p:nvSpPr>
            <p:cNvPr id="22" name="Rectangle 22"/>
            <p:cNvSpPr/>
            <p:nvPr/>
          </p:nvSpPr>
          <p:spPr>
            <a:xfrm>
              <a:off x="3048000" y="2762250"/>
              <a:ext cx="2000250" cy="1047750"/>
            </a:xfrm>
            <a:prstGeom prst="roundRect">
              <a:avLst>
                <a:gd name="adj" fmla="val 7273"/>
              </a:avLst>
            </a:prstGeom>
            <a:solidFill>
              <a:srgbClr val="12355B"/>
            </a:solidFill>
            <a:ln>
              <a:noFill/>
            </a:ln>
          </p:spPr>
        </p:sp>
        <p:sp>
          <p:nvSpPr>
            <p:cNvPr id="23" name="Rectangle 23"/>
            <p:cNvSpPr/>
            <p:nvPr/>
          </p:nvSpPr>
          <p:spPr>
            <a:xfrm>
              <a:off x="5524500" y="2762250"/>
              <a:ext cx="2095500" cy="1047750"/>
            </a:xfrm>
            <a:prstGeom prst="roundRect">
              <a:avLst>
                <a:gd name="adj" fmla="val 7273"/>
              </a:avLst>
            </a:prstGeom>
            <a:solidFill>
              <a:srgbClr val="FFFFFF"/>
            </a:solidFill>
            <a:ln w="19050">
              <a:solidFill>
                <a:srgbClr val="2E86AB"/>
              </a:solidFill>
            </a:ln>
          </p:spPr>
        </p:sp>
        <p:grpSp>
          <p:nvGrpSpPr>
            <p:cNvPr id="27" name="Group 27"/>
            <p:cNvGrpSpPr/>
            <p:nvPr/>
          </p:nvGrpSpPr>
          <p:grpSpPr>
            <a:xfrm>
              <a:off x="887037" y="2967990"/>
              <a:ext cx="6665407" cy="352044"/>
              <a:chOff x="887037" y="2967990"/>
              <a:chExt cx="6665407" cy="352044"/>
            </a:xfrm>
          </p:grpSpPr>
          <p:sp>
            <p:nvSpPr>
              <p:cNvPr id="24" name="TextBox 24"/>
              <p:cNvSpPr txBox="1"/>
              <p:nvPr/>
            </p:nvSpPr>
            <p:spPr>
              <a:xfrm>
                <a:off x="887037" y="2967990"/>
                <a:ext cx="1369177"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TypeScript</a:t>
                </a:r>
              </a:p>
            </p:txBody>
          </p:sp>
          <p:sp>
            <p:nvSpPr>
              <p:cNvPr id="25" name="TextBox 25"/>
              <p:cNvSpPr txBox="1"/>
              <p:nvPr/>
            </p:nvSpPr>
            <p:spPr>
              <a:xfrm>
                <a:off x="3363537" y="2967990"/>
                <a:ext cx="1369177" cy="352044"/>
              </a:xfrm>
              <a:prstGeom prst="rect">
                <a:avLst/>
              </a:prstGeom>
              <a:noFill/>
              <a:ln>
                <a:noFill/>
              </a:ln>
            </p:spPr>
            <p:txBody>
              <a:bodyPr wrap="none" lIns="0" tIns="0" rIns="0" bIns="0" anchor="t" anchorCtr="0">
                <a:spAutoFit/>
              </a:bodyPr>
              <a:lstStyle/>
              <a:p>
                <a:pPr algn="ctr"/>
                <a:r>
                  <a:rPr lang="tr-TR" sz="1800" b="1" dirty="0">
                    <a:solidFill>
                      <a:srgbClr val="F7FAFC"/>
                    </a:solidFill>
                    <a:latin typeface="+mn-lt"/>
                    <a:ea typeface="+mn-ea"/>
                    <a:cs typeface="+mn-cs"/>
                  </a:rPr>
                  <a:t>JavaScript</a:t>
                </a:r>
              </a:p>
            </p:txBody>
          </p:sp>
          <p:sp>
            <p:nvSpPr>
              <p:cNvPr id="26" name="TextBox 26"/>
              <p:cNvSpPr txBox="1"/>
              <p:nvPr/>
            </p:nvSpPr>
            <p:spPr>
              <a:xfrm>
                <a:off x="5592055" y="2967990"/>
                <a:ext cx="1960389"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Çalışma zamanı</a:t>
                </a:r>
              </a:p>
            </p:txBody>
          </p:sp>
        </p:grpSp>
        <p:grpSp>
          <p:nvGrpSpPr>
            <p:cNvPr id="31" name="Group 31"/>
            <p:cNvGrpSpPr/>
            <p:nvPr/>
          </p:nvGrpSpPr>
          <p:grpSpPr>
            <a:xfrm>
              <a:off x="700786" y="3316129"/>
              <a:ext cx="6601841" cy="555688"/>
              <a:chOff x="700786" y="3316129"/>
              <a:chExt cx="6601841" cy="555688"/>
            </a:xfrm>
          </p:grpSpPr>
          <p:sp>
            <p:nvSpPr>
              <p:cNvPr id="28" name="TextBox 28"/>
              <p:cNvSpPr txBox="1"/>
              <p:nvPr/>
            </p:nvSpPr>
            <p:spPr>
              <a:xfrm>
                <a:off x="700786" y="3316129"/>
                <a:ext cx="1741678" cy="555688"/>
              </a:xfrm>
              <a:prstGeom prst="rect">
                <a:avLst/>
              </a:prstGeom>
              <a:noFill/>
              <a:ln>
                <a:noFill/>
              </a:ln>
            </p:spPr>
            <p:txBody>
              <a:bodyPr wrap="none" lIns="0" tIns="0" rIns="0" bIns="0" anchor="t" anchorCtr="0">
                <a:spAutoFit/>
              </a:bodyPr>
              <a:lstStyle/>
              <a:p>
                <a:pPr algn="ctr">
                  <a:lnSpc>
                    <a:spcPts val="1950"/>
                  </a:lnSpc>
                </a:pPr>
                <a:r>
                  <a:rPr lang="tr-TR" sz="1580" dirty="0">
                    <a:solidFill>
                      <a:srgbClr val="172B3A"/>
                    </a:solidFill>
                    <a:latin typeface="+mn-lt"/>
                    <a:ea typeface="+mn-ea"/>
                    <a:cs typeface="+mn-cs"/>
                  </a:rPr>
                  <a:t>tür açıklamaları</a:t>
                </a:r>
                <a:br/>
                <a:r>
                  <a:rPr lang="tr-TR" sz="1580" dirty="0">
                    <a:solidFill>
                      <a:srgbClr val="172B3A"/>
                    </a:solidFill>
                    <a:latin typeface="+mn-lt"/>
                    <a:ea typeface="+mn-ea"/>
                    <a:cs typeface="+mn-cs"/>
                  </a:rPr>
                  <a:t>interface, string</a:t>
                </a:r>
              </a:p>
            </p:txBody>
          </p:sp>
          <p:sp>
            <p:nvSpPr>
              <p:cNvPr id="29" name="TextBox 29"/>
              <p:cNvSpPr txBox="1"/>
              <p:nvPr/>
            </p:nvSpPr>
            <p:spPr>
              <a:xfrm>
                <a:off x="3132138" y="3316129"/>
                <a:ext cx="1831975" cy="555688"/>
              </a:xfrm>
              <a:prstGeom prst="rect">
                <a:avLst/>
              </a:prstGeom>
              <a:noFill/>
              <a:ln>
                <a:noFill/>
              </a:ln>
            </p:spPr>
            <p:txBody>
              <a:bodyPr wrap="none" lIns="0" tIns="0" rIns="0" bIns="0" anchor="t" anchorCtr="0">
                <a:spAutoFit/>
              </a:bodyPr>
              <a:lstStyle/>
              <a:p>
                <a:pPr algn="ctr">
                  <a:lnSpc>
                    <a:spcPts val="1950"/>
                  </a:lnSpc>
                </a:pPr>
                <a:r>
                  <a:rPr lang="tr-TR" sz="1580" dirty="0">
                    <a:solidFill>
                      <a:srgbClr val="EAF4F6"/>
                    </a:solidFill>
                    <a:latin typeface="+mn-lt"/>
                    <a:ea typeface="+mn-ea"/>
                    <a:cs typeface="+mn-cs"/>
                  </a:rPr>
                  <a:t>standardın</a:t>
                </a:r>
                <a:br/>
                <a:r>
                  <a:rPr lang="tr-TR" sz="1580" dirty="0">
                    <a:solidFill>
                      <a:srgbClr val="EAF4F6"/>
                    </a:solidFill>
                    <a:latin typeface="+mn-lt"/>
                    <a:ea typeface="+mn-ea"/>
                    <a:cs typeface="+mn-cs"/>
                  </a:rPr>
                  <a:t>yaygın uygulaması</a:t>
                </a:r>
              </a:p>
            </p:txBody>
          </p:sp>
          <p:sp>
            <p:nvSpPr>
              <p:cNvPr id="30" name="TextBox 30"/>
              <p:cNvSpPr txBox="1"/>
              <p:nvPr/>
            </p:nvSpPr>
            <p:spPr>
              <a:xfrm>
                <a:off x="5841873" y="3316129"/>
                <a:ext cx="1460754" cy="555688"/>
              </a:xfrm>
              <a:prstGeom prst="rect">
                <a:avLst/>
              </a:prstGeom>
              <a:noFill/>
              <a:ln>
                <a:noFill/>
              </a:ln>
            </p:spPr>
            <p:txBody>
              <a:bodyPr wrap="none" lIns="0" tIns="0" rIns="0" bIns="0" anchor="t" anchorCtr="0">
                <a:spAutoFit/>
              </a:bodyPr>
              <a:lstStyle/>
              <a:p>
                <a:pPr algn="ctr">
                  <a:lnSpc>
                    <a:spcPts val="1950"/>
                  </a:lnSpc>
                </a:pPr>
                <a:r>
                  <a:rPr lang="tr-TR" sz="1580" dirty="0">
                    <a:solidFill>
                      <a:srgbClr val="172B3A"/>
                    </a:solidFill>
                    <a:latin typeface="+mn-lt"/>
                    <a:ea typeface="+mn-ea"/>
                    <a:cs typeface="+mn-cs"/>
                  </a:rPr>
                  <a:t>Node.js</a:t>
                </a:r>
                <a:br/>
                <a:r>
                  <a:rPr lang="tr-TR" sz="1580" dirty="0">
                    <a:solidFill>
                      <a:srgbClr val="172B3A"/>
                    </a:solidFill>
                    <a:latin typeface="+mn-lt"/>
                    <a:ea typeface="+mn-ea"/>
                    <a:cs typeface="+mn-cs"/>
                  </a:rPr>
                  <a:t>ya da tarayıcı</a:t>
                </a:r>
              </a:p>
            </p:txBody>
          </p:sp>
        </p:grpSp>
        <p:sp>
          <p:nvSpPr>
            <p:cNvPr id="32" name="TextBox 32"/>
            <p:cNvSpPr txBox="1"/>
            <p:nvPr/>
          </p:nvSpPr>
          <p:spPr>
            <a:xfrm>
              <a:off x="563499" y="4020979"/>
              <a:ext cx="625075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TypeScript derlenir; çıktıda tür bilgisi genellikle bulunmaz.</a:t>
              </a:r>
            </a:p>
          </p:txBody>
        </p:sp>
      </p:grpSp>
      <p:grpSp>
        <p:nvGrpSpPr>
          <p:cNvPr id="37" name="gradual-typing"/>
          <p:cNvGrpSpPr/>
          <p:nvPr/>
        </p:nvGrpSpPr>
        <p:grpSpPr>
          <a:xfrm>
            <a:off x="571500" y="4591050"/>
            <a:ext cx="5813933" cy="1428750"/>
            <a:chOff x="571500" y="4591050"/>
            <a:chExt cx="5813933" cy="1428750"/>
          </a:xfrm>
        </p:grpSpPr>
        <p:sp>
          <p:nvSpPr>
            <p:cNvPr id="34" name="Rectangle 34"/>
            <p:cNvSpPr/>
            <p:nvPr/>
          </p:nvSpPr>
          <p:spPr>
            <a:xfrm>
              <a:off x="571500" y="4591050"/>
              <a:ext cx="57150" cy="1428750"/>
            </a:xfrm>
            <a:prstGeom prst="rect">
              <a:avLst/>
            </a:prstGeom>
            <a:solidFill>
              <a:srgbClr val="00A6A6"/>
            </a:solidFill>
            <a:ln>
              <a:noFill/>
            </a:ln>
          </p:spPr>
        </p:sp>
        <p:sp>
          <p:nvSpPr>
            <p:cNvPr id="35" name="TextBox 35"/>
            <p:cNvSpPr txBox="1"/>
            <p:nvPr/>
          </p:nvSpPr>
          <p:spPr>
            <a:xfrm>
              <a:off x="810006" y="4682490"/>
              <a:ext cx="46932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Kademeli tipleme (Siek ve Taha, 2006)</a:t>
              </a:r>
            </a:p>
          </p:txBody>
        </p:sp>
        <p:sp>
          <p:nvSpPr>
            <p:cNvPr id="36" name="TextBox 36"/>
            <p:cNvSpPr txBox="1"/>
            <p:nvPr/>
          </p:nvSpPr>
          <p:spPr>
            <a:xfrm>
              <a:off x="811149" y="5049679"/>
              <a:ext cx="5574284" cy="87953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Dinamik doğa korunur; statik denetim ölçülü eklenir.</a:t>
              </a:r>
              <a:br/>
              <a:r>
                <a:rPr lang="tr-TR" sz="1580" dirty="0">
                  <a:solidFill>
                    <a:srgbClr val="172B3A"/>
                  </a:solidFill>
                  <a:latin typeface="+mn-lt"/>
                  <a:ea typeface="+mn-ea"/>
                  <a:cs typeface="+mn-cs"/>
                </a:rPr>
                <a:t>Kod tabanı büyüdükçe ödünleşim TypeScript lehine kayar:</a:t>
              </a:r>
              <a:br/>
              <a:r>
                <a:rPr lang="tr-TR" sz="1580" dirty="0">
                  <a:solidFill>
                    <a:srgbClr val="172B3A"/>
                  </a:solidFill>
                  <a:latin typeface="+mn-lt"/>
                  <a:ea typeface="+mn-ea"/>
                  <a:cs typeface="+mn-cs"/>
                </a:rPr>
                <a:t>veri biçimi hataları çalıştırmadan önce yakalanır.</a:t>
              </a:r>
            </a:p>
          </p:txBody>
        </p:sp>
      </p:grpSp>
      <p:grpSp>
        <p:nvGrpSpPr>
          <p:cNvPr id="49" name="analogy"/>
          <p:cNvGrpSpPr/>
          <p:nvPr/>
        </p:nvGrpSpPr>
        <p:grpSpPr>
          <a:xfrm>
            <a:off x="8096250" y="1295400"/>
            <a:ext cx="3524250" cy="4724400"/>
            <a:chOff x="8096250" y="1295400"/>
            <a:chExt cx="3524250" cy="4724400"/>
          </a:xfrm>
        </p:grpSpPr>
        <p:sp>
          <p:nvSpPr>
            <p:cNvPr id="38" name="Rectangle 38"/>
            <p:cNvSpPr/>
            <p:nvPr/>
          </p:nvSpPr>
          <p:spPr>
            <a:xfrm>
              <a:off x="8096250" y="1295400"/>
              <a:ext cx="3524250" cy="4724400"/>
            </a:xfrm>
            <a:prstGeom prst="rect">
              <a:avLst/>
            </a:prstGeom>
            <a:solidFill>
              <a:srgbClr val="EAF4F6"/>
            </a:solidFill>
            <a:ln>
              <a:noFill/>
            </a:ln>
          </p:spPr>
        </p:sp>
        <p:sp>
          <p:nvSpPr>
            <p:cNvPr id="39" name="TextBox 39"/>
            <p:cNvSpPr txBox="1"/>
            <p:nvPr/>
          </p:nvSpPr>
          <p:spPr>
            <a:xfrm>
              <a:off x="8315706" y="1482090"/>
              <a:ext cx="324513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Günlük hayattan benzetme</a:t>
              </a:r>
            </a:p>
          </p:txBody>
        </p:sp>
        <p:sp>
          <p:nvSpPr>
            <p:cNvPr id="40" name="Line 40"/>
            <p:cNvSpPr/>
            <p:nvPr/>
          </p:nvSpPr>
          <p:spPr>
            <a:xfrm>
              <a:off x="8324850" y="1866900"/>
              <a:ext cx="3067050" cy="9525"/>
            </a:xfrm>
            <a:custGeom>
              <a:avLst/>
              <a:gdLst/>
              <a:ahLst/>
              <a:cxnLst/>
              <a:rect l="l" t="t" r="r" b="b"/>
              <a:pathLst>
                <a:path w="3067050" h="9525">
                  <a:moveTo>
                    <a:pt x="0" y="0"/>
                  </a:moveTo>
                  <a:lnTo>
                    <a:pt x="3067050" y="0"/>
                  </a:lnTo>
                </a:path>
              </a:pathLst>
            </a:custGeom>
            <a:noFill/>
            <a:ln w="19050">
              <a:solidFill>
                <a:srgbClr val="B8CBD3"/>
              </a:solidFill>
            </a:ln>
          </p:spPr>
        </p:sp>
        <p:grpSp>
          <p:nvGrpSpPr>
            <p:cNvPr id="44" name="Group 44"/>
            <p:cNvGrpSpPr/>
            <p:nvPr/>
          </p:nvGrpSpPr>
          <p:grpSpPr>
            <a:xfrm>
              <a:off x="8316849" y="2115979"/>
              <a:ext cx="1267624" cy="2975039"/>
              <a:chOff x="8316849" y="2115979"/>
              <a:chExt cx="1267624" cy="2975039"/>
            </a:xfrm>
          </p:grpSpPr>
          <p:sp>
            <p:nvSpPr>
              <p:cNvPr id="41" name="TextBox 41"/>
              <p:cNvSpPr txBox="1"/>
              <p:nvPr/>
            </p:nvSpPr>
            <p:spPr>
              <a:xfrm>
                <a:off x="8316849" y="2115979"/>
                <a:ext cx="1267624"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ECMAScript</a:t>
                </a:r>
              </a:p>
            </p:txBody>
          </p:sp>
          <p:sp>
            <p:nvSpPr>
              <p:cNvPr id="42" name="TextBox 42"/>
              <p:cNvSpPr txBox="1"/>
              <p:nvPr/>
            </p:nvSpPr>
            <p:spPr>
              <a:xfrm>
                <a:off x="8316849" y="3449479"/>
                <a:ext cx="1201782"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JavaScript</a:t>
                </a:r>
              </a:p>
            </p:txBody>
          </p:sp>
          <p:sp>
            <p:nvSpPr>
              <p:cNvPr id="43" name="TextBox 43"/>
              <p:cNvSpPr txBox="1"/>
              <p:nvPr/>
            </p:nvSpPr>
            <p:spPr>
              <a:xfrm>
                <a:off x="8316849" y="4782979"/>
                <a:ext cx="1201782"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TypeScript</a:t>
                </a:r>
              </a:p>
            </p:txBody>
          </p:sp>
        </p:grpSp>
        <p:grpSp>
          <p:nvGrpSpPr>
            <p:cNvPr id="48" name="Group 48"/>
            <p:cNvGrpSpPr/>
            <p:nvPr/>
          </p:nvGrpSpPr>
          <p:grpSpPr>
            <a:xfrm>
              <a:off x="8316849" y="2420779"/>
              <a:ext cx="2845308" cy="3241738"/>
              <a:chOff x="8316849" y="2420779"/>
              <a:chExt cx="2845308" cy="3241738"/>
            </a:xfrm>
          </p:grpSpPr>
          <p:sp>
            <p:nvSpPr>
              <p:cNvPr id="45" name="TextBox 45"/>
              <p:cNvSpPr txBox="1"/>
              <p:nvPr/>
            </p:nvSpPr>
            <p:spPr>
              <a:xfrm>
                <a:off x="8316849" y="2420779"/>
                <a:ext cx="2634615"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trafik kuralları kitabı:</a:t>
                </a:r>
                <a:br/>
                <a:r>
                  <a:rPr lang="tr-TR" sz="1580" dirty="0">
                    <a:solidFill>
                      <a:srgbClr val="172B3A"/>
                    </a:solidFill>
                    <a:latin typeface="+mn-lt"/>
                    <a:ea typeface="+mn-ea"/>
                    <a:cs typeface="+mn-cs"/>
                  </a:rPr>
                  <a:t>herkes için ortak standart</a:t>
                </a:r>
              </a:p>
            </p:txBody>
          </p:sp>
          <p:sp>
            <p:nvSpPr>
              <p:cNvPr id="46" name="TextBox 46"/>
              <p:cNvSpPr txBox="1"/>
              <p:nvPr/>
            </p:nvSpPr>
            <p:spPr>
              <a:xfrm>
                <a:off x="8316849" y="3754279"/>
                <a:ext cx="2353691"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kurallara göre üretilmiş</a:t>
                </a:r>
                <a:br/>
                <a:r>
                  <a:rPr lang="tr-TR" sz="1580" dirty="0">
                    <a:solidFill>
                      <a:srgbClr val="172B3A"/>
                    </a:solidFill>
                    <a:latin typeface="+mn-lt"/>
                    <a:ea typeface="+mn-ea"/>
                    <a:cs typeface="+mn-cs"/>
                  </a:rPr>
                  <a:t>otomobil</a:t>
                </a:r>
              </a:p>
            </p:txBody>
          </p:sp>
          <p:sp>
            <p:nvSpPr>
              <p:cNvPr id="47" name="TextBox 47"/>
              <p:cNvSpPr txBox="1"/>
              <p:nvPr/>
            </p:nvSpPr>
            <p:spPr>
              <a:xfrm>
                <a:off x="8316849" y="5087779"/>
                <a:ext cx="2845308"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sürüş destek sistemi: yanlış</a:t>
                </a:r>
                <a:br/>
                <a:r>
                  <a:rPr lang="tr-TR" sz="1580" dirty="0">
                    <a:solidFill>
                      <a:srgbClr val="172B3A"/>
                    </a:solidFill>
                    <a:latin typeface="+mn-lt"/>
                    <a:ea typeface="+mn-ea"/>
                    <a:cs typeface="+mn-cs"/>
                  </a:rPr>
                  <a:t>şeride girme riskini azaltır</a:t>
                </a:r>
              </a:p>
            </p:txBody>
          </p:sp>
        </p:grpSp>
      </p:grpSp>
      <p:grpSp>
        <p:nvGrpSpPr>
          <p:cNvPr id="52" name="footer"/>
          <p:cNvGrpSpPr/>
          <p:nvPr/>
        </p:nvGrpSpPr>
        <p:grpSpPr>
          <a:xfrm>
            <a:off x="565404" y="6404610"/>
            <a:ext cx="11061192" cy="234696"/>
            <a:chOff x="565404" y="6404610"/>
            <a:chExt cx="11061192" cy="234696"/>
          </a:xfrm>
        </p:grpSpPr>
        <p:sp>
          <p:nvSpPr>
            <p:cNvPr id="50" name="TextBox 50"/>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51" name="TextBox 51"/>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7816193"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Kuramsal arka plan: fikirlerin dile girişi</a:t>
              </a:r>
            </a:p>
          </p:txBody>
        </p:sp>
      </p:grpSp>
      <p:grpSp>
        <p:nvGrpSpPr>
          <p:cNvPr id="52" name="timeline"/>
          <p:cNvGrpSpPr/>
          <p:nvPr/>
        </p:nvGrpSpPr>
        <p:grpSpPr>
          <a:xfrm>
            <a:off x="762000" y="1909762"/>
            <a:ext cx="10668000" cy="3543206"/>
            <a:chOff x="762000" y="1909762"/>
            <a:chExt cx="10668000" cy="3543206"/>
          </a:xfrm>
        </p:grpSpPr>
        <p:sp>
          <p:nvSpPr>
            <p:cNvPr id="6" name="Line 6"/>
            <p:cNvSpPr/>
            <p:nvPr/>
          </p:nvSpPr>
          <p:spPr>
            <a:xfrm>
              <a:off x="762000" y="3619500"/>
              <a:ext cx="10668000" cy="9525"/>
            </a:xfrm>
            <a:custGeom>
              <a:avLst/>
              <a:gdLst/>
              <a:ahLst/>
              <a:cxnLst/>
              <a:rect l="l" t="t" r="r" b="b"/>
              <a:pathLst>
                <a:path w="10668000" h="9525">
                  <a:moveTo>
                    <a:pt x="0" y="0"/>
                  </a:moveTo>
                  <a:lnTo>
                    <a:pt x="10668000" y="0"/>
                  </a:lnTo>
                </a:path>
              </a:pathLst>
            </a:custGeom>
            <a:noFill/>
            <a:ln w="38100">
              <a:solidFill>
                <a:srgbClr val="00A6A6"/>
              </a:solidFill>
            </a:ln>
          </p:spPr>
        </p:sp>
        <p:grpSp>
          <p:nvGrpSpPr>
            <p:cNvPr id="15" name="Group 15"/>
            <p:cNvGrpSpPr/>
            <p:nvPr/>
          </p:nvGrpSpPr>
          <p:grpSpPr>
            <a:xfrm>
              <a:off x="1714500" y="2971800"/>
              <a:ext cx="8677275" cy="1314450"/>
              <a:chOff x="1714500" y="2971800"/>
              <a:chExt cx="8677275" cy="1314450"/>
            </a:xfrm>
          </p:grpSpPr>
          <p:sp>
            <p:nvSpPr>
              <p:cNvPr id="7" name="Line 7"/>
              <p:cNvSpPr/>
              <p:nvPr/>
            </p:nvSpPr>
            <p:spPr>
              <a:xfrm>
                <a:off x="1714500" y="2971800"/>
                <a:ext cx="9525" cy="514350"/>
              </a:xfrm>
              <a:custGeom>
                <a:avLst/>
                <a:gdLst/>
                <a:ahLst/>
                <a:cxnLst/>
                <a:rect l="l" t="t" r="r" b="b"/>
                <a:pathLst>
                  <a:path w="9525" h="514350">
                    <a:moveTo>
                      <a:pt x="0" y="0"/>
                    </a:moveTo>
                    <a:lnTo>
                      <a:pt x="0" y="514350"/>
                    </a:lnTo>
                  </a:path>
                </a:pathLst>
              </a:custGeom>
              <a:noFill/>
              <a:ln w="19050">
                <a:solidFill>
                  <a:srgbClr val="B8CBD3"/>
                </a:solidFill>
              </a:ln>
            </p:spPr>
          </p:sp>
          <p:sp>
            <p:nvSpPr>
              <p:cNvPr id="8" name="Line 8"/>
              <p:cNvSpPr/>
              <p:nvPr/>
            </p:nvSpPr>
            <p:spPr>
              <a:xfrm>
                <a:off x="4191000" y="2971800"/>
                <a:ext cx="9525" cy="514350"/>
              </a:xfrm>
              <a:custGeom>
                <a:avLst/>
                <a:gdLst/>
                <a:ahLst/>
                <a:cxnLst/>
                <a:rect l="l" t="t" r="r" b="b"/>
                <a:pathLst>
                  <a:path w="9525" h="514350">
                    <a:moveTo>
                      <a:pt x="0" y="0"/>
                    </a:moveTo>
                    <a:lnTo>
                      <a:pt x="0" y="514350"/>
                    </a:lnTo>
                  </a:path>
                </a:pathLst>
              </a:custGeom>
              <a:noFill/>
              <a:ln w="19050">
                <a:solidFill>
                  <a:srgbClr val="B8CBD3"/>
                </a:solidFill>
              </a:ln>
            </p:spPr>
          </p:sp>
          <p:sp>
            <p:nvSpPr>
              <p:cNvPr id="9" name="Line 9"/>
              <p:cNvSpPr/>
              <p:nvPr/>
            </p:nvSpPr>
            <p:spPr>
              <a:xfrm>
                <a:off x="6667500" y="2971800"/>
                <a:ext cx="9525" cy="514350"/>
              </a:xfrm>
              <a:custGeom>
                <a:avLst/>
                <a:gdLst/>
                <a:ahLst/>
                <a:cxnLst/>
                <a:rect l="l" t="t" r="r" b="b"/>
                <a:pathLst>
                  <a:path w="9525" h="514350">
                    <a:moveTo>
                      <a:pt x="0" y="0"/>
                    </a:moveTo>
                    <a:lnTo>
                      <a:pt x="0" y="514350"/>
                    </a:lnTo>
                  </a:path>
                </a:pathLst>
              </a:custGeom>
              <a:noFill/>
              <a:ln w="19050">
                <a:solidFill>
                  <a:srgbClr val="B8CBD3"/>
                </a:solidFill>
              </a:ln>
            </p:spPr>
          </p:sp>
          <p:sp>
            <p:nvSpPr>
              <p:cNvPr id="10" name="Line 10"/>
              <p:cNvSpPr/>
              <p:nvPr/>
            </p:nvSpPr>
            <p:spPr>
              <a:xfrm>
                <a:off x="9144000" y="2971800"/>
                <a:ext cx="9525" cy="514350"/>
              </a:xfrm>
              <a:custGeom>
                <a:avLst/>
                <a:gdLst/>
                <a:ahLst/>
                <a:cxnLst/>
                <a:rect l="l" t="t" r="r" b="b"/>
                <a:pathLst>
                  <a:path w="9525" h="514350">
                    <a:moveTo>
                      <a:pt x="0" y="0"/>
                    </a:moveTo>
                    <a:lnTo>
                      <a:pt x="0" y="514350"/>
                    </a:lnTo>
                  </a:path>
                </a:pathLst>
              </a:custGeom>
              <a:noFill/>
              <a:ln w="19050">
                <a:solidFill>
                  <a:srgbClr val="B8CBD3"/>
                </a:solidFill>
              </a:ln>
            </p:spPr>
          </p:sp>
          <p:sp>
            <p:nvSpPr>
              <p:cNvPr id="11" name="Line 11"/>
              <p:cNvSpPr/>
              <p:nvPr/>
            </p:nvSpPr>
            <p:spPr>
              <a:xfrm>
                <a:off x="2952750" y="3752850"/>
                <a:ext cx="9525" cy="533400"/>
              </a:xfrm>
              <a:custGeom>
                <a:avLst/>
                <a:gdLst/>
                <a:ahLst/>
                <a:cxnLst/>
                <a:rect l="l" t="t" r="r" b="b"/>
                <a:pathLst>
                  <a:path w="9525" h="533400">
                    <a:moveTo>
                      <a:pt x="0" y="0"/>
                    </a:moveTo>
                    <a:lnTo>
                      <a:pt x="0" y="533400"/>
                    </a:lnTo>
                  </a:path>
                </a:pathLst>
              </a:custGeom>
              <a:noFill/>
              <a:ln w="19050">
                <a:solidFill>
                  <a:srgbClr val="B8CBD3"/>
                </a:solidFill>
              </a:ln>
            </p:spPr>
          </p:sp>
          <p:sp>
            <p:nvSpPr>
              <p:cNvPr id="12" name="Line 12"/>
              <p:cNvSpPr/>
              <p:nvPr/>
            </p:nvSpPr>
            <p:spPr>
              <a:xfrm>
                <a:off x="5429250" y="3752850"/>
                <a:ext cx="9525" cy="533400"/>
              </a:xfrm>
              <a:custGeom>
                <a:avLst/>
                <a:gdLst/>
                <a:ahLst/>
                <a:cxnLst/>
                <a:rect l="l" t="t" r="r" b="b"/>
                <a:pathLst>
                  <a:path w="9525" h="533400">
                    <a:moveTo>
                      <a:pt x="0" y="0"/>
                    </a:moveTo>
                    <a:lnTo>
                      <a:pt x="0" y="533400"/>
                    </a:lnTo>
                  </a:path>
                </a:pathLst>
              </a:custGeom>
              <a:noFill/>
              <a:ln w="19050">
                <a:solidFill>
                  <a:srgbClr val="B8CBD3"/>
                </a:solidFill>
              </a:ln>
            </p:spPr>
          </p:sp>
          <p:sp>
            <p:nvSpPr>
              <p:cNvPr id="13" name="Line 13"/>
              <p:cNvSpPr/>
              <p:nvPr/>
            </p:nvSpPr>
            <p:spPr>
              <a:xfrm>
                <a:off x="7905750" y="3752850"/>
                <a:ext cx="9525" cy="533400"/>
              </a:xfrm>
              <a:custGeom>
                <a:avLst/>
                <a:gdLst/>
                <a:ahLst/>
                <a:cxnLst/>
                <a:rect l="l" t="t" r="r" b="b"/>
                <a:pathLst>
                  <a:path w="9525" h="533400">
                    <a:moveTo>
                      <a:pt x="0" y="0"/>
                    </a:moveTo>
                    <a:lnTo>
                      <a:pt x="0" y="533400"/>
                    </a:lnTo>
                  </a:path>
                </a:pathLst>
              </a:custGeom>
              <a:noFill/>
              <a:ln w="19050">
                <a:solidFill>
                  <a:srgbClr val="B8CBD3"/>
                </a:solidFill>
              </a:ln>
            </p:spPr>
          </p:sp>
          <p:sp>
            <p:nvSpPr>
              <p:cNvPr id="14" name="Line 14"/>
              <p:cNvSpPr/>
              <p:nvPr/>
            </p:nvSpPr>
            <p:spPr>
              <a:xfrm>
                <a:off x="10382250" y="3752850"/>
                <a:ext cx="9525" cy="533400"/>
              </a:xfrm>
              <a:custGeom>
                <a:avLst/>
                <a:gdLst/>
                <a:ahLst/>
                <a:cxnLst/>
                <a:rect l="l" t="t" r="r" b="b"/>
                <a:pathLst>
                  <a:path w="9525" h="533400">
                    <a:moveTo>
                      <a:pt x="0" y="0"/>
                    </a:moveTo>
                    <a:lnTo>
                      <a:pt x="0" y="533400"/>
                    </a:lnTo>
                  </a:path>
                </a:pathLst>
              </a:custGeom>
              <a:noFill/>
              <a:ln w="19050">
                <a:solidFill>
                  <a:srgbClr val="B8CBD3"/>
                </a:solidFill>
              </a:ln>
            </p:spPr>
          </p:sp>
        </p:grpSp>
        <p:grpSp>
          <p:nvGrpSpPr>
            <p:cNvPr id="23" name="Group 23"/>
            <p:cNvGrpSpPr/>
            <p:nvPr/>
          </p:nvGrpSpPr>
          <p:grpSpPr>
            <a:xfrm>
              <a:off x="1609725" y="3514725"/>
              <a:ext cx="8877300" cy="209550"/>
              <a:chOff x="1609725" y="3514725"/>
              <a:chExt cx="8877300" cy="209550"/>
            </a:xfrm>
          </p:grpSpPr>
          <p:sp>
            <p:nvSpPr>
              <p:cNvPr id="16" name="Ellipse 16"/>
              <p:cNvSpPr/>
              <p:nvPr/>
            </p:nvSpPr>
            <p:spPr>
              <a:xfrm>
                <a:off x="1609725" y="3514725"/>
                <a:ext cx="209550" cy="209550"/>
              </a:xfrm>
              <a:prstGeom prst="ellipse">
                <a:avLst/>
              </a:prstGeom>
              <a:solidFill>
                <a:srgbClr val="F7FAFC"/>
              </a:solidFill>
              <a:ln w="28575">
                <a:solidFill>
                  <a:srgbClr val="12355B"/>
                </a:solidFill>
              </a:ln>
            </p:spPr>
          </p:sp>
          <p:sp>
            <p:nvSpPr>
              <p:cNvPr id="17" name="Ellipse 17"/>
              <p:cNvSpPr/>
              <p:nvPr/>
            </p:nvSpPr>
            <p:spPr>
              <a:xfrm>
                <a:off x="2847975" y="3514725"/>
                <a:ext cx="209550" cy="209550"/>
              </a:xfrm>
              <a:prstGeom prst="ellipse">
                <a:avLst/>
              </a:prstGeom>
              <a:solidFill>
                <a:srgbClr val="F7FAFC"/>
              </a:solidFill>
              <a:ln w="28575">
                <a:solidFill>
                  <a:srgbClr val="12355B"/>
                </a:solidFill>
              </a:ln>
            </p:spPr>
          </p:sp>
          <p:sp>
            <p:nvSpPr>
              <p:cNvPr id="18" name="Ellipse 18"/>
              <p:cNvSpPr/>
              <p:nvPr/>
            </p:nvSpPr>
            <p:spPr>
              <a:xfrm>
                <a:off x="4086225" y="3514725"/>
                <a:ext cx="209550" cy="209550"/>
              </a:xfrm>
              <a:prstGeom prst="ellipse">
                <a:avLst/>
              </a:prstGeom>
              <a:solidFill>
                <a:srgbClr val="F7FAFC"/>
              </a:solidFill>
              <a:ln w="28575">
                <a:solidFill>
                  <a:srgbClr val="12355B"/>
                </a:solidFill>
              </a:ln>
            </p:spPr>
          </p:sp>
          <p:sp>
            <p:nvSpPr>
              <p:cNvPr id="19" name="Ellipse 19"/>
              <p:cNvSpPr/>
              <p:nvPr/>
            </p:nvSpPr>
            <p:spPr>
              <a:xfrm>
                <a:off x="5324475" y="3514725"/>
                <a:ext cx="209550" cy="209550"/>
              </a:xfrm>
              <a:prstGeom prst="ellipse">
                <a:avLst/>
              </a:prstGeom>
              <a:solidFill>
                <a:srgbClr val="F7FAFC"/>
              </a:solidFill>
              <a:ln w="28575">
                <a:solidFill>
                  <a:srgbClr val="12355B"/>
                </a:solidFill>
              </a:ln>
            </p:spPr>
          </p:sp>
          <p:sp>
            <p:nvSpPr>
              <p:cNvPr id="20" name="Ellipse 20"/>
              <p:cNvSpPr/>
              <p:nvPr/>
            </p:nvSpPr>
            <p:spPr>
              <a:xfrm>
                <a:off x="6562725" y="3514725"/>
                <a:ext cx="209550" cy="209550"/>
              </a:xfrm>
              <a:prstGeom prst="ellipse">
                <a:avLst/>
              </a:prstGeom>
              <a:solidFill>
                <a:srgbClr val="F7FAFC"/>
              </a:solidFill>
              <a:ln w="28575">
                <a:solidFill>
                  <a:srgbClr val="12355B"/>
                </a:solidFill>
              </a:ln>
            </p:spPr>
          </p:sp>
          <p:sp>
            <p:nvSpPr>
              <p:cNvPr id="21" name="Ellipse 21"/>
              <p:cNvSpPr/>
              <p:nvPr/>
            </p:nvSpPr>
            <p:spPr>
              <a:xfrm>
                <a:off x="9039225" y="3514725"/>
                <a:ext cx="209550" cy="209550"/>
              </a:xfrm>
              <a:prstGeom prst="ellipse">
                <a:avLst/>
              </a:prstGeom>
              <a:solidFill>
                <a:srgbClr val="F7FAFC"/>
              </a:solidFill>
              <a:ln w="28575">
                <a:solidFill>
                  <a:srgbClr val="12355B"/>
                </a:solidFill>
              </a:ln>
            </p:spPr>
          </p:sp>
          <p:sp>
            <p:nvSpPr>
              <p:cNvPr id="22" name="Ellipse 22"/>
              <p:cNvSpPr/>
              <p:nvPr/>
            </p:nvSpPr>
            <p:spPr>
              <a:xfrm>
                <a:off x="10277475" y="3514725"/>
                <a:ext cx="209550" cy="209550"/>
              </a:xfrm>
              <a:prstGeom prst="ellipse">
                <a:avLst/>
              </a:prstGeom>
              <a:solidFill>
                <a:srgbClr val="F7FAFC"/>
              </a:solidFill>
              <a:ln w="28575">
                <a:solidFill>
                  <a:srgbClr val="12355B"/>
                </a:solidFill>
              </a:ln>
            </p:spPr>
          </p:sp>
        </p:grpSp>
        <p:sp>
          <p:nvSpPr>
            <p:cNvPr id="24" name="Ellipse 24"/>
            <p:cNvSpPr/>
            <p:nvPr/>
          </p:nvSpPr>
          <p:spPr>
            <a:xfrm>
              <a:off x="7753350" y="3467100"/>
              <a:ext cx="304800" cy="304800"/>
            </a:xfrm>
            <a:prstGeom prst="ellipse">
              <a:avLst/>
            </a:prstGeom>
            <a:solidFill>
              <a:srgbClr val="00A6A6"/>
            </a:solidFill>
            <a:ln>
              <a:noFill/>
            </a:ln>
          </p:spPr>
        </p:sp>
        <p:grpSp>
          <p:nvGrpSpPr>
            <p:cNvPr id="32" name="Group 32"/>
            <p:cNvGrpSpPr/>
            <p:nvPr/>
          </p:nvGrpSpPr>
          <p:grpSpPr>
            <a:xfrm>
              <a:off x="1353226" y="1909762"/>
              <a:ext cx="9390297" cy="2973705"/>
              <a:chOff x="1353226" y="1909762"/>
              <a:chExt cx="9390297" cy="2973705"/>
            </a:xfrm>
          </p:grpSpPr>
          <p:sp>
            <p:nvSpPr>
              <p:cNvPr id="25" name="TextBox 25"/>
              <p:cNvSpPr txBox="1"/>
              <p:nvPr/>
            </p:nvSpPr>
            <p:spPr>
              <a:xfrm>
                <a:off x="1353226" y="1909762"/>
                <a:ext cx="722547" cy="440055"/>
              </a:xfrm>
              <a:prstGeom prst="rect">
                <a:avLst/>
              </a:prstGeom>
              <a:noFill/>
              <a:ln>
                <a:noFill/>
              </a:ln>
            </p:spPr>
            <p:txBody>
              <a:bodyPr wrap="none" lIns="0" tIns="0" rIns="0" bIns="0" anchor="t" anchorCtr="0">
                <a:spAutoFit/>
              </a:bodyPr>
              <a:lstStyle/>
              <a:p>
                <a:pPr algn="ctr"/>
                <a:r>
                  <a:rPr lang="tr-TR" sz="2250" b="1" dirty="0">
                    <a:solidFill>
                      <a:srgbClr val="12355B"/>
                    </a:solidFill>
                    <a:latin typeface="+mn-lt"/>
                    <a:ea typeface="+mn-ea"/>
                    <a:cs typeface="+mn-cs"/>
                  </a:rPr>
                  <a:t>1995</a:t>
                </a:r>
              </a:p>
            </p:txBody>
          </p:sp>
          <p:sp>
            <p:nvSpPr>
              <p:cNvPr id="26" name="TextBox 26"/>
              <p:cNvSpPr txBox="1"/>
              <p:nvPr/>
            </p:nvSpPr>
            <p:spPr>
              <a:xfrm>
                <a:off x="3829726" y="1909762"/>
                <a:ext cx="722547" cy="440055"/>
              </a:xfrm>
              <a:prstGeom prst="rect">
                <a:avLst/>
              </a:prstGeom>
              <a:noFill/>
              <a:ln>
                <a:noFill/>
              </a:ln>
            </p:spPr>
            <p:txBody>
              <a:bodyPr wrap="none" lIns="0" tIns="0" rIns="0" bIns="0" anchor="t" anchorCtr="0">
                <a:spAutoFit/>
              </a:bodyPr>
              <a:lstStyle/>
              <a:p>
                <a:pPr algn="ctr"/>
                <a:r>
                  <a:rPr lang="tr-TR" sz="2250" b="1" dirty="0">
                    <a:solidFill>
                      <a:srgbClr val="12355B"/>
                    </a:solidFill>
                    <a:latin typeface="+mn-lt"/>
                    <a:ea typeface="+mn-ea"/>
                    <a:cs typeface="+mn-cs"/>
                  </a:rPr>
                  <a:t>2006</a:t>
                </a:r>
              </a:p>
            </p:txBody>
          </p:sp>
          <p:sp>
            <p:nvSpPr>
              <p:cNvPr id="27" name="TextBox 27"/>
              <p:cNvSpPr txBox="1"/>
              <p:nvPr/>
            </p:nvSpPr>
            <p:spPr>
              <a:xfrm>
                <a:off x="6306226" y="1909762"/>
                <a:ext cx="722547" cy="440055"/>
              </a:xfrm>
              <a:prstGeom prst="rect">
                <a:avLst/>
              </a:prstGeom>
              <a:noFill/>
              <a:ln>
                <a:noFill/>
              </a:ln>
            </p:spPr>
            <p:txBody>
              <a:bodyPr wrap="none" lIns="0" tIns="0" rIns="0" bIns="0" anchor="t" anchorCtr="0">
                <a:spAutoFit/>
              </a:bodyPr>
              <a:lstStyle/>
              <a:p>
                <a:pPr algn="ctr"/>
                <a:r>
                  <a:rPr lang="tr-TR" sz="2250" b="1" dirty="0">
                    <a:solidFill>
                      <a:srgbClr val="12355B"/>
                    </a:solidFill>
                    <a:latin typeface="+mn-lt"/>
                    <a:ea typeface="+mn-ea"/>
                    <a:cs typeface="+mn-cs"/>
                  </a:rPr>
                  <a:t>2012</a:t>
                </a:r>
              </a:p>
            </p:txBody>
          </p:sp>
          <p:sp>
            <p:nvSpPr>
              <p:cNvPr id="28" name="TextBox 28"/>
              <p:cNvSpPr txBox="1"/>
              <p:nvPr/>
            </p:nvSpPr>
            <p:spPr>
              <a:xfrm>
                <a:off x="8782726" y="1909762"/>
                <a:ext cx="722547" cy="440055"/>
              </a:xfrm>
              <a:prstGeom prst="rect">
                <a:avLst/>
              </a:prstGeom>
              <a:noFill/>
              <a:ln>
                <a:noFill/>
              </a:ln>
            </p:spPr>
            <p:txBody>
              <a:bodyPr wrap="none" lIns="0" tIns="0" rIns="0" bIns="0" anchor="t" anchorCtr="0">
                <a:spAutoFit/>
              </a:bodyPr>
              <a:lstStyle/>
              <a:p>
                <a:pPr algn="ctr"/>
                <a:r>
                  <a:rPr lang="tr-TR" sz="2250" b="1" dirty="0">
                    <a:solidFill>
                      <a:srgbClr val="12355B"/>
                    </a:solidFill>
                    <a:latin typeface="+mn-lt"/>
                    <a:ea typeface="+mn-ea"/>
                    <a:cs typeface="+mn-cs"/>
                  </a:rPr>
                  <a:t>2017</a:t>
                </a:r>
              </a:p>
            </p:txBody>
          </p:sp>
          <p:sp>
            <p:nvSpPr>
              <p:cNvPr id="29" name="TextBox 29"/>
              <p:cNvSpPr txBox="1"/>
              <p:nvPr/>
            </p:nvSpPr>
            <p:spPr>
              <a:xfrm>
                <a:off x="2591476" y="4443412"/>
                <a:ext cx="722547" cy="440055"/>
              </a:xfrm>
              <a:prstGeom prst="rect">
                <a:avLst/>
              </a:prstGeom>
              <a:noFill/>
              <a:ln>
                <a:noFill/>
              </a:ln>
            </p:spPr>
            <p:txBody>
              <a:bodyPr wrap="none" lIns="0" tIns="0" rIns="0" bIns="0" anchor="t" anchorCtr="0">
                <a:spAutoFit/>
              </a:bodyPr>
              <a:lstStyle/>
              <a:p>
                <a:pPr algn="ctr"/>
                <a:r>
                  <a:rPr lang="tr-TR" sz="2250" b="1" dirty="0">
                    <a:solidFill>
                      <a:srgbClr val="12355B"/>
                    </a:solidFill>
                    <a:latin typeface="+mn-lt"/>
                    <a:ea typeface="+mn-ea"/>
                    <a:cs typeface="+mn-cs"/>
                  </a:rPr>
                  <a:t>1997</a:t>
                </a:r>
              </a:p>
            </p:txBody>
          </p:sp>
          <p:sp>
            <p:nvSpPr>
              <p:cNvPr id="30" name="TextBox 30"/>
              <p:cNvSpPr txBox="1"/>
              <p:nvPr/>
            </p:nvSpPr>
            <p:spPr>
              <a:xfrm>
                <a:off x="5067976" y="4443412"/>
                <a:ext cx="722547" cy="440055"/>
              </a:xfrm>
              <a:prstGeom prst="rect">
                <a:avLst/>
              </a:prstGeom>
              <a:noFill/>
              <a:ln>
                <a:noFill/>
              </a:ln>
            </p:spPr>
            <p:txBody>
              <a:bodyPr wrap="none" lIns="0" tIns="0" rIns="0" bIns="0" anchor="t" anchorCtr="0">
                <a:spAutoFit/>
              </a:bodyPr>
              <a:lstStyle/>
              <a:p>
                <a:pPr algn="ctr"/>
                <a:r>
                  <a:rPr lang="tr-TR" sz="2250" b="1" dirty="0">
                    <a:solidFill>
                      <a:srgbClr val="12355B"/>
                    </a:solidFill>
                    <a:latin typeface="+mn-lt"/>
                    <a:ea typeface="+mn-ea"/>
                    <a:cs typeface="+mn-cs"/>
                  </a:rPr>
                  <a:t>2009</a:t>
                </a:r>
              </a:p>
            </p:txBody>
          </p:sp>
          <p:sp>
            <p:nvSpPr>
              <p:cNvPr id="31" name="TextBox 31"/>
              <p:cNvSpPr txBox="1"/>
              <p:nvPr/>
            </p:nvSpPr>
            <p:spPr>
              <a:xfrm>
                <a:off x="10020976" y="4443412"/>
                <a:ext cx="722547" cy="440055"/>
              </a:xfrm>
              <a:prstGeom prst="rect">
                <a:avLst/>
              </a:prstGeom>
              <a:noFill/>
              <a:ln>
                <a:noFill/>
              </a:ln>
            </p:spPr>
            <p:txBody>
              <a:bodyPr wrap="none" lIns="0" tIns="0" rIns="0" bIns="0" anchor="t" anchorCtr="0">
                <a:spAutoFit/>
              </a:bodyPr>
              <a:lstStyle/>
              <a:p>
                <a:pPr algn="ctr"/>
                <a:r>
                  <a:rPr lang="tr-TR" sz="2250" b="1" dirty="0">
                    <a:solidFill>
                      <a:srgbClr val="12355B"/>
                    </a:solidFill>
                    <a:latin typeface="+mn-lt"/>
                    <a:ea typeface="+mn-ea"/>
                    <a:cs typeface="+mn-cs"/>
                  </a:rPr>
                  <a:t>2025</a:t>
                </a:r>
              </a:p>
            </p:txBody>
          </p:sp>
        </p:grpSp>
        <p:sp>
          <p:nvSpPr>
            <p:cNvPr id="33" name="TextBox 33"/>
            <p:cNvSpPr txBox="1"/>
            <p:nvPr/>
          </p:nvSpPr>
          <p:spPr>
            <a:xfrm>
              <a:off x="7544476" y="4443412"/>
              <a:ext cx="722547" cy="440055"/>
            </a:xfrm>
            <a:prstGeom prst="rect">
              <a:avLst/>
            </a:prstGeom>
            <a:noFill/>
            <a:ln>
              <a:noFill/>
            </a:ln>
          </p:spPr>
          <p:txBody>
            <a:bodyPr wrap="none" lIns="0" tIns="0" rIns="0" bIns="0" anchor="t" anchorCtr="0">
              <a:spAutoFit/>
            </a:bodyPr>
            <a:lstStyle/>
            <a:p>
              <a:pPr algn="ctr"/>
              <a:r>
                <a:rPr lang="tr-TR" sz="2250" b="1" dirty="0">
                  <a:solidFill>
                    <a:srgbClr val="00A6A6"/>
                  </a:solidFill>
                  <a:latin typeface="+mn-lt"/>
                  <a:ea typeface="+mn-ea"/>
                  <a:cs typeface="+mn-cs"/>
                </a:rPr>
                <a:t>2015</a:t>
              </a:r>
            </a:p>
          </p:txBody>
        </p:sp>
        <p:grpSp>
          <p:nvGrpSpPr>
            <p:cNvPr id="42" name="Group 42"/>
            <p:cNvGrpSpPr/>
            <p:nvPr/>
          </p:nvGrpSpPr>
          <p:grpSpPr>
            <a:xfrm>
              <a:off x="772665" y="2325529"/>
              <a:ext cx="10006946" cy="2841689"/>
              <a:chOff x="772665" y="2325529"/>
              <a:chExt cx="10006946" cy="2841689"/>
            </a:xfrm>
          </p:grpSpPr>
          <p:sp>
            <p:nvSpPr>
              <p:cNvPr id="34" name="TextBox 34"/>
              <p:cNvSpPr txBox="1"/>
              <p:nvPr/>
            </p:nvSpPr>
            <p:spPr>
              <a:xfrm>
                <a:off x="772665" y="2325529"/>
                <a:ext cx="1883669" cy="308039"/>
              </a:xfrm>
              <a:prstGeom prst="rect">
                <a:avLst/>
              </a:prstGeom>
              <a:noFill/>
              <a:ln>
                <a:noFill/>
              </a:ln>
            </p:spPr>
            <p:txBody>
              <a:bodyPr wrap="none" lIns="0" tIns="0" rIns="0" bIns="0" anchor="t" anchorCtr="0">
                <a:spAutoFit/>
              </a:bodyPr>
              <a:lstStyle/>
              <a:p>
                <a:pPr algn="ctr"/>
                <a:r>
                  <a:rPr lang="tr-TR" sz="1580" b="1" dirty="0">
                    <a:solidFill>
                      <a:srgbClr val="172B3A"/>
                    </a:solidFill>
                    <a:latin typeface="+mn-lt"/>
                    <a:ea typeface="+mn-ea"/>
                    <a:cs typeface="+mn-cs"/>
                  </a:rPr>
                  <a:t>JavaScript doğar</a:t>
                </a:r>
              </a:p>
            </p:txBody>
          </p:sp>
          <p:sp>
            <p:nvSpPr>
              <p:cNvPr id="35" name="TextBox 35"/>
              <p:cNvSpPr txBox="1"/>
              <p:nvPr/>
            </p:nvSpPr>
            <p:spPr>
              <a:xfrm>
                <a:off x="3291894" y="2325529"/>
                <a:ext cx="1798212" cy="308039"/>
              </a:xfrm>
              <a:prstGeom prst="rect">
                <a:avLst/>
              </a:prstGeom>
              <a:noFill/>
              <a:ln>
                <a:noFill/>
              </a:ln>
            </p:spPr>
            <p:txBody>
              <a:bodyPr wrap="none" lIns="0" tIns="0" rIns="0" bIns="0" anchor="t" anchorCtr="0">
                <a:spAutoFit/>
              </a:bodyPr>
              <a:lstStyle/>
              <a:p>
                <a:pPr algn="ctr"/>
                <a:r>
                  <a:rPr lang="tr-TR" sz="1580" b="1" dirty="0">
                    <a:solidFill>
                      <a:srgbClr val="172B3A"/>
                    </a:solidFill>
                    <a:latin typeface="+mn-lt"/>
                    <a:ea typeface="+mn-ea"/>
                    <a:cs typeface="+mn-cs"/>
                  </a:rPr>
                  <a:t>Kademeli tipleme</a:t>
                </a:r>
              </a:p>
            </p:txBody>
          </p:sp>
          <p:sp>
            <p:nvSpPr>
              <p:cNvPr id="36" name="TextBox 36"/>
              <p:cNvSpPr txBox="1"/>
              <p:nvPr/>
            </p:nvSpPr>
            <p:spPr>
              <a:xfrm>
                <a:off x="5981068" y="2325529"/>
                <a:ext cx="1372865" cy="308039"/>
              </a:xfrm>
              <a:prstGeom prst="rect">
                <a:avLst/>
              </a:prstGeom>
              <a:noFill/>
              <a:ln>
                <a:noFill/>
              </a:ln>
            </p:spPr>
            <p:txBody>
              <a:bodyPr wrap="none" lIns="0" tIns="0" rIns="0" bIns="0" anchor="t" anchorCtr="0">
                <a:spAutoFit/>
              </a:bodyPr>
              <a:lstStyle/>
              <a:p>
                <a:pPr algn="ctr"/>
                <a:r>
                  <a:rPr lang="tr-TR" sz="1580" b="1" dirty="0">
                    <a:solidFill>
                      <a:srgbClr val="172B3A"/>
                    </a:solidFill>
                    <a:latin typeface="+mn-lt"/>
                    <a:ea typeface="+mn-ea"/>
                    <a:cs typeface="+mn-cs"/>
                  </a:rPr>
                  <a:t>Promises/A+</a:t>
                </a:r>
              </a:p>
            </p:txBody>
          </p:sp>
          <p:sp>
            <p:nvSpPr>
              <p:cNvPr id="37" name="TextBox 37"/>
              <p:cNvSpPr txBox="1"/>
              <p:nvPr/>
            </p:nvSpPr>
            <p:spPr>
              <a:xfrm>
                <a:off x="8746638" y="2325529"/>
                <a:ext cx="794723" cy="308039"/>
              </a:xfrm>
              <a:prstGeom prst="rect">
                <a:avLst/>
              </a:prstGeom>
              <a:noFill/>
              <a:ln>
                <a:noFill/>
              </a:ln>
            </p:spPr>
            <p:txBody>
              <a:bodyPr wrap="none" lIns="0" tIns="0" rIns="0" bIns="0" anchor="t" anchorCtr="0">
                <a:spAutoFit/>
              </a:bodyPr>
              <a:lstStyle/>
              <a:p>
                <a:pPr algn="ctr"/>
                <a:r>
                  <a:rPr lang="tr-TR" sz="1580" b="1" dirty="0">
                    <a:solidFill>
                      <a:srgbClr val="172B3A"/>
                    </a:solidFill>
                    <a:latin typeface="+mn-lt"/>
                    <a:ea typeface="+mn-ea"/>
                    <a:cs typeface="+mn-cs"/>
                  </a:rPr>
                  <a:t>ES2017</a:t>
                </a:r>
              </a:p>
            </p:txBody>
          </p:sp>
          <p:sp>
            <p:nvSpPr>
              <p:cNvPr id="38" name="TextBox 38"/>
              <p:cNvSpPr txBox="1"/>
              <p:nvPr/>
            </p:nvSpPr>
            <p:spPr>
              <a:xfrm>
                <a:off x="2402004" y="4859179"/>
                <a:ext cx="1101492" cy="308039"/>
              </a:xfrm>
              <a:prstGeom prst="rect">
                <a:avLst/>
              </a:prstGeom>
              <a:noFill/>
              <a:ln>
                <a:noFill/>
              </a:ln>
            </p:spPr>
            <p:txBody>
              <a:bodyPr wrap="none" lIns="0" tIns="0" rIns="0" bIns="0" anchor="t" anchorCtr="0">
                <a:spAutoFit/>
              </a:bodyPr>
              <a:lstStyle/>
              <a:p>
                <a:pPr algn="ctr"/>
                <a:r>
                  <a:rPr lang="tr-TR" sz="1580" b="1" dirty="0">
                    <a:solidFill>
                      <a:srgbClr val="172B3A"/>
                    </a:solidFill>
                    <a:latin typeface="+mn-lt"/>
                    <a:ea typeface="+mn-ea"/>
                    <a:cs typeface="+mn-cs"/>
                  </a:rPr>
                  <a:t>ECMA-262</a:t>
                </a:r>
              </a:p>
            </p:txBody>
          </p:sp>
          <p:sp>
            <p:nvSpPr>
              <p:cNvPr id="39" name="TextBox 39"/>
              <p:cNvSpPr txBox="1"/>
              <p:nvPr/>
            </p:nvSpPr>
            <p:spPr>
              <a:xfrm>
                <a:off x="4873869" y="4859179"/>
                <a:ext cx="1110763" cy="308039"/>
              </a:xfrm>
              <a:prstGeom prst="rect">
                <a:avLst/>
              </a:prstGeom>
              <a:noFill/>
              <a:ln>
                <a:noFill/>
              </a:ln>
            </p:spPr>
            <p:txBody>
              <a:bodyPr wrap="none" lIns="0" tIns="0" rIns="0" bIns="0" anchor="t" anchorCtr="0">
                <a:spAutoFit/>
              </a:bodyPr>
              <a:lstStyle/>
              <a:p>
                <a:pPr algn="ctr"/>
                <a:r>
                  <a:rPr lang="tr-TR" sz="1580" b="1" dirty="0">
                    <a:solidFill>
                      <a:srgbClr val="172B3A"/>
                    </a:solidFill>
                    <a:latin typeface="+mn-lt"/>
                    <a:ea typeface="+mn-ea"/>
                    <a:cs typeface="+mn-cs"/>
                  </a:rPr>
                  <a:t>CommonJS</a:t>
                </a:r>
              </a:p>
            </p:txBody>
          </p:sp>
          <p:sp>
            <p:nvSpPr>
              <p:cNvPr id="40" name="TextBox 40"/>
              <p:cNvSpPr txBox="1"/>
              <p:nvPr/>
            </p:nvSpPr>
            <p:spPr>
              <a:xfrm>
                <a:off x="7148525" y="4859179"/>
                <a:ext cx="1514451" cy="308039"/>
              </a:xfrm>
              <a:prstGeom prst="rect">
                <a:avLst/>
              </a:prstGeom>
              <a:noFill/>
              <a:ln>
                <a:noFill/>
              </a:ln>
            </p:spPr>
            <p:txBody>
              <a:bodyPr wrap="none" lIns="0" tIns="0" rIns="0" bIns="0" anchor="t" anchorCtr="0">
                <a:spAutoFit/>
              </a:bodyPr>
              <a:lstStyle/>
              <a:p>
                <a:pPr algn="ctr"/>
                <a:r>
                  <a:rPr lang="tr-TR" sz="1580" b="1" dirty="0">
                    <a:solidFill>
                      <a:srgbClr val="172B3A"/>
                    </a:solidFill>
                    <a:latin typeface="+mn-lt"/>
                    <a:ea typeface="+mn-ea"/>
                    <a:cs typeface="+mn-cs"/>
                  </a:rPr>
                  <a:t>ES6 (ES2015)</a:t>
                </a:r>
              </a:p>
            </p:txBody>
          </p:sp>
          <p:sp>
            <p:nvSpPr>
              <p:cNvPr id="41" name="TextBox 41"/>
              <p:cNvSpPr txBox="1"/>
              <p:nvPr/>
            </p:nvSpPr>
            <p:spPr>
              <a:xfrm>
                <a:off x="9984888" y="4859179"/>
                <a:ext cx="794723" cy="308039"/>
              </a:xfrm>
              <a:prstGeom prst="rect">
                <a:avLst/>
              </a:prstGeom>
              <a:noFill/>
              <a:ln>
                <a:noFill/>
              </a:ln>
            </p:spPr>
            <p:txBody>
              <a:bodyPr wrap="none" lIns="0" tIns="0" rIns="0" bIns="0" anchor="t" anchorCtr="0">
                <a:spAutoFit/>
              </a:bodyPr>
              <a:lstStyle/>
              <a:p>
                <a:pPr algn="ctr"/>
                <a:r>
                  <a:rPr lang="tr-TR" sz="1580" b="1" dirty="0">
                    <a:solidFill>
                      <a:srgbClr val="172B3A"/>
                    </a:solidFill>
                    <a:latin typeface="+mn-lt"/>
                    <a:ea typeface="+mn-ea"/>
                    <a:cs typeface="+mn-cs"/>
                  </a:rPr>
                  <a:t>ES2025</a:t>
                </a:r>
              </a:p>
            </p:txBody>
          </p:sp>
        </p:grpSp>
        <p:grpSp>
          <p:nvGrpSpPr>
            <p:cNvPr id="51" name="Group 51"/>
            <p:cNvGrpSpPr/>
            <p:nvPr/>
          </p:nvGrpSpPr>
          <p:grpSpPr>
            <a:xfrm>
              <a:off x="933557" y="2611279"/>
              <a:ext cx="9956538" cy="2841689"/>
              <a:chOff x="933557" y="2611279"/>
              <a:chExt cx="9956538" cy="2841689"/>
            </a:xfrm>
          </p:grpSpPr>
          <p:sp>
            <p:nvSpPr>
              <p:cNvPr id="43" name="TextBox 43"/>
              <p:cNvSpPr txBox="1"/>
              <p:nvPr/>
            </p:nvSpPr>
            <p:spPr>
              <a:xfrm>
                <a:off x="933557" y="2611279"/>
                <a:ext cx="1561887"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Eich, Netscape</a:t>
                </a:r>
              </a:p>
            </p:txBody>
          </p:sp>
          <p:sp>
            <p:nvSpPr>
              <p:cNvPr id="44" name="TextBox 44"/>
              <p:cNvSpPr txBox="1"/>
              <p:nvPr/>
            </p:nvSpPr>
            <p:spPr>
              <a:xfrm>
                <a:off x="3553810" y="2611279"/>
                <a:ext cx="1274381"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Siek ve Taha</a:t>
                </a:r>
              </a:p>
            </p:txBody>
          </p:sp>
          <p:sp>
            <p:nvSpPr>
              <p:cNvPr id="45" name="TextBox 45"/>
              <p:cNvSpPr txBox="1"/>
              <p:nvPr/>
            </p:nvSpPr>
            <p:spPr>
              <a:xfrm>
                <a:off x="6004645" y="2611279"/>
                <a:ext cx="1325710"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C# 5.0 async</a:t>
                </a:r>
              </a:p>
            </p:txBody>
          </p:sp>
          <p:sp>
            <p:nvSpPr>
              <p:cNvPr id="46" name="TextBox 46"/>
              <p:cNvSpPr txBox="1"/>
              <p:nvPr/>
            </p:nvSpPr>
            <p:spPr>
              <a:xfrm>
                <a:off x="8497900" y="2611279"/>
                <a:ext cx="1292200"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async/await</a:t>
                </a:r>
              </a:p>
            </p:txBody>
          </p:sp>
          <p:sp>
            <p:nvSpPr>
              <p:cNvPr id="47" name="TextBox 47"/>
              <p:cNvSpPr txBox="1"/>
              <p:nvPr/>
            </p:nvSpPr>
            <p:spPr>
              <a:xfrm>
                <a:off x="2322603" y="5144929"/>
                <a:ext cx="1260295"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ilk standart</a:t>
                </a:r>
              </a:p>
            </p:txBody>
          </p:sp>
          <p:sp>
            <p:nvSpPr>
              <p:cNvPr id="48" name="TextBox 48"/>
              <p:cNvSpPr txBox="1"/>
              <p:nvPr/>
            </p:nvSpPr>
            <p:spPr>
              <a:xfrm>
                <a:off x="4620153" y="5144929"/>
                <a:ext cx="1618195"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Node.js require</a:t>
                </a:r>
              </a:p>
            </p:txBody>
          </p:sp>
          <p:sp>
            <p:nvSpPr>
              <p:cNvPr id="49" name="TextBox 49"/>
              <p:cNvSpPr txBox="1"/>
              <p:nvPr/>
            </p:nvSpPr>
            <p:spPr>
              <a:xfrm>
                <a:off x="7112391" y="5144929"/>
                <a:ext cx="1586718"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modül, Promise</a:t>
                </a:r>
              </a:p>
            </p:txBody>
          </p:sp>
          <p:sp>
            <p:nvSpPr>
              <p:cNvPr id="50" name="TextBox 50"/>
              <p:cNvSpPr txBox="1"/>
              <p:nvPr/>
            </p:nvSpPr>
            <p:spPr>
              <a:xfrm>
                <a:off x="9874405" y="5144929"/>
                <a:ext cx="1015690"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16. baskı</a:t>
                </a:r>
              </a:p>
            </p:txBody>
          </p:sp>
        </p:grpSp>
      </p:grpSp>
      <p:grpSp>
        <p:nvGrpSpPr>
          <p:cNvPr id="55" name="takeaway"/>
          <p:cNvGrpSpPr/>
          <p:nvPr/>
        </p:nvGrpSpPr>
        <p:grpSpPr>
          <a:xfrm>
            <a:off x="571500" y="5715000"/>
            <a:ext cx="11049000" cy="495300"/>
            <a:chOff x="571500" y="5715000"/>
            <a:chExt cx="11049000" cy="495300"/>
          </a:xfrm>
        </p:grpSpPr>
        <p:sp>
          <p:nvSpPr>
            <p:cNvPr id="53" name="Rectangle 53"/>
            <p:cNvSpPr/>
            <p:nvPr/>
          </p:nvSpPr>
          <p:spPr>
            <a:xfrm>
              <a:off x="571500" y="5715000"/>
              <a:ext cx="11049000" cy="495300"/>
            </a:xfrm>
            <a:prstGeom prst="rect">
              <a:avLst/>
            </a:prstGeom>
            <a:solidFill>
              <a:srgbClr val="EAF4F6"/>
            </a:solidFill>
            <a:ln>
              <a:noFill/>
            </a:ln>
          </p:spPr>
        </p:sp>
        <p:sp>
          <p:nvSpPr>
            <p:cNvPr id="54" name="TextBox 54"/>
            <p:cNvSpPr txBox="1"/>
            <p:nvPr/>
          </p:nvSpPr>
          <p:spPr>
            <a:xfrm>
              <a:off x="792099" y="5868829"/>
              <a:ext cx="639838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xml:space="preserve">Dönüm noktası: </a:t>
              </a:r>
              <a:r>
                <a:rPr lang="tr-TR" sz="1580" dirty="0">
                  <a:solidFill>
                    <a:srgbClr val="172B3A"/>
                  </a:solidFill>
                  <a:latin typeface="+mn-lt"/>
                  <a:ea typeface="+mn-ea"/>
                  <a:cs typeface="+mn-cs"/>
                </a:rPr>
                <a:t>ES2015, dili backend için ciddiye alınır kıldı</a:t>
              </a:r>
            </a:p>
          </p:txBody>
        </p:sp>
      </p:grpSp>
      <p:grpSp>
        <p:nvGrpSpPr>
          <p:cNvPr id="58" name="footer"/>
          <p:cNvGrpSpPr/>
          <p:nvPr/>
        </p:nvGrpSpPr>
        <p:grpSpPr>
          <a:xfrm>
            <a:off x="565404" y="6404610"/>
            <a:ext cx="11061192" cy="234696"/>
            <a:chOff x="565404" y="6404610"/>
            <a:chExt cx="11061192" cy="234696"/>
          </a:xfrm>
        </p:grpSpPr>
        <p:sp>
          <p:nvSpPr>
            <p:cNvPr id="56" name="TextBox 56"/>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57" name="TextBox 57"/>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9045402"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Modern sözdizimiyle yan etkisiz veri dönüşümü</a:t>
              </a:r>
            </a:p>
          </p:txBody>
        </p:sp>
      </p:grpSp>
      <p:grpSp>
        <p:nvGrpSpPr>
          <p:cNvPr id="21" name="pipeline"/>
          <p:cNvGrpSpPr/>
          <p:nvPr/>
        </p:nvGrpSpPr>
        <p:grpSpPr>
          <a:xfrm>
            <a:off x="571500" y="1276350"/>
            <a:ext cx="11049000" cy="800100"/>
            <a:chOff x="571500" y="1276350"/>
            <a:chExt cx="11049000" cy="800100"/>
          </a:xfrm>
        </p:grpSpPr>
        <p:grpSp>
          <p:nvGrpSpPr>
            <p:cNvPr id="8" name="Group 8"/>
            <p:cNvGrpSpPr/>
            <p:nvPr/>
          </p:nvGrpSpPr>
          <p:grpSpPr>
            <a:xfrm>
              <a:off x="3810000" y="1676400"/>
              <a:ext cx="4305300" cy="1"/>
              <a:chOff x="3810000" y="1676400"/>
              <a:chExt cx="4305300" cy="1"/>
            </a:xfrm>
          </p:grpSpPr>
          <p:sp>
            <p:nvSpPr>
              <p:cNvPr id="6" name="Line 6"/>
              <p:cNvSpPr/>
              <p:nvPr/>
            </p:nvSpPr>
            <p:spPr>
              <a:xfrm>
                <a:off x="3810000" y="1676400"/>
                <a:ext cx="495300" cy="1"/>
              </a:xfrm>
              <a:prstGeom prst="line">
                <a:avLst/>
              </a:prstGeom>
              <a:noFill/>
              <a:ln w="28575">
                <a:solidFill>
                  <a:srgbClr val="00A6A6"/>
                </a:solidFill>
                <a:tailEnd type="triangle" w="lg" len="lg"/>
              </a:ln>
            </p:spPr>
          </p:sp>
          <p:sp>
            <p:nvSpPr>
              <p:cNvPr id="7" name="Line 7"/>
              <p:cNvSpPr/>
              <p:nvPr/>
            </p:nvSpPr>
            <p:spPr>
              <a:xfrm>
                <a:off x="7620000" y="1676400"/>
                <a:ext cx="495300" cy="1"/>
              </a:xfrm>
              <a:prstGeom prst="line">
                <a:avLst/>
              </a:prstGeom>
              <a:noFill/>
              <a:ln w="28575">
                <a:solidFill>
                  <a:srgbClr val="00A6A6"/>
                </a:solidFill>
                <a:tailEnd type="triangle" w="lg" len="lg"/>
              </a:ln>
            </p:spPr>
          </p:sp>
        </p:grpSp>
        <p:grpSp>
          <p:nvGrpSpPr>
            <p:cNvPr id="11" name="Group 11"/>
            <p:cNvGrpSpPr/>
            <p:nvPr/>
          </p:nvGrpSpPr>
          <p:grpSpPr>
            <a:xfrm>
              <a:off x="571500" y="1276350"/>
              <a:ext cx="7048500" cy="800100"/>
              <a:chOff x="571500" y="1276350"/>
              <a:chExt cx="7048500" cy="800100"/>
            </a:xfrm>
          </p:grpSpPr>
          <p:sp>
            <p:nvSpPr>
              <p:cNvPr id="9" name="Rectangle 9"/>
              <p:cNvSpPr/>
              <p:nvPr/>
            </p:nvSpPr>
            <p:spPr>
              <a:xfrm>
                <a:off x="571500" y="1276350"/>
                <a:ext cx="3238500" cy="800100"/>
              </a:xfrm>
              <a:prstGeom prst="rect">
                <a:avLst/>
              </a:prstGeom>
              <a:solidFill>
                <a:srgbClr val="EAF4F6"/>
              </a:solidFill>
              <a:ln w="19050">
                <a:solidFill>
                  <a:srgbClr val="2E86AB"/>
                </a:solidFill>
              </a:ln>
            </p:spPr>
          </p:sp>
          <p:sp>
            <p:nvSpPr>
              <p:cNvPr id="10" name="Rectangle 10"/>
              <p:cNvSpPr/>
              <p:nvPr/>
            </p:nvSpPr>
            <p:spPr>
              <a:xfrm>
                <a:off x="4381500" y="1276350"/>
                <a:ext cx="3238500" cy="800100"/>
              </a:xfrm>
              <a:prstGeom prst="rect">
                <a:avLst/>
              </a:prstGeom>
              <a:solidFill>
                <a:srgbClr val="EAF4F6"/>
              </a:solidFill>
              <a:ln w="19050">
                <a:solidFill>
                  <a:srgbClr val="2E86AB"/>
                </a:solidFill>
              </a:ln>
            </p:spPr>
          </p:sp>
        </p:grpSp>
        <p:sp>
          <p:nvSpPr>
            <p:cNvPr id="12" name="Rectangle 12"/>
            <p:cNvSpPr/>
            <p:nvPr/>
          </p:nvSpPr>
          <p:spPr>
            <a:xfrm>
              <a:off x="8191500" y="1276350"/>
              <a:ext cx="3429000" cy="800100"/>
            </a:xfrm>
            <a:prstGeom prst="rect">
              <a:avLst/>
            </a:prstGeom>
            <a:solidFill>
              <a:srgbClr val="12355B"/>
            </a:solidFill>
            <a:ln>
              <a:noFill/>
            </a:ln>
          </p:spPr>
        </p:sp>
        <p:grpSp>
          <p:nvGrpSpPr>
            <p:cNvPr id="15" name="Group 15"/>
            <p:cNvGrpSpPr/>
            <p:nvPr/>
          </p:nvGrpSpPr>
          <p:grpSpPr>
            <a:xfrm>
              <a:off x="752856" y="1405890"/>
              <a:ext cx="4540697" cy="352044"/>
              <a:chOff x="752856" y="1405890"/>
              <a:chExt cx="4540697" cy="352044"/>
            </a:xfrm>
          </p:grpSpPr>
          <p:sp>
            <p:nvSpPr>
              <p:cNvPr id="13" name="TextBox 13"/>
              <p:cNvSpPr txBox="1"/>
              <p:nvPr/>
            </p:nvSpPr>
            <p:spPr>
              <a:xfrm>
                <a:off x="752856" y="1405890"/>
                <a:ext cx="188221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kullaniciListesi</a:t>
                </a:r>
              </a:p>
            </p:txBody>
          </p:sp>
          <p:sp>
            <p:nvSpPr>
              <p:cNvPr id="14" name="TextBox 14"/>
              <p:cNvSpPr txBox="1"/>
              <p:nvPr/>
            </p:nvSpPr>
            <p:spPr>
              <a:xfrm>
                <a:off x="4562856" y="1405890"/>
                <a:ext cx="73069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filter</a:t>
                </a:r>
              </a:p>
            </p:txBody>
          </p:sp>
        </p:grpSp>
        <p:sp>
          <p:nvSpPr>
            <p:cNvPr id="16" name="TextBox 16"/>
            <p:cNvSpPr txBox="1"/>
            <p:nvPr/>
          </p:nvSpPr>
          <p:spPr>
            <a:xfrm>
              <a:off x="8372856" y="1405890"/>
              <a:ext cx="488987" cy="352044"/>
            </a:xfrm>
            <a:prstGeom prst="rect">
              <a:avLst/>
            </a:prstGeom>
            <a:noFill/>
            <a:ln>
              <a:noFill/>
            </a:ln>
          </p:spPr>
          <p:txBody>
            <a:bodyPr wrap="none" lIns="0" tIns="0" rIns="0" bIns="0" anchor="t" anchorCtr="0">
              <a:spAutoFit/>
            </a:bodyPr>
            <a:lstStyle/>
            <a:p>
              <a:pPr algn="l"/>
              <a:r>
                <a:rPr lang="tr-TR" sz="1800" b="1" dirty="0">
                  <a:solidFill>
                    <a:srgbClr val="F7FAFC"/>
                  </a:solidFill>
                  <a:latin typeface="+mn-lt"/>
                  <a:ea typeface="+mn-ea"/>
                  <a:cs typeface="+mn-cs"/>
                </a:rPr>
                <a:t>map</a:t>
              </a:r>
            </a:p>
          </p:txBody>
        </p:sp>
        <p:grpSp>
          <p:nvGrpSpPr>
            <p:cNvPr id="19" name="Group 19"/>
            <p:cNvGrpSpPr/>
            <p:nvPr/>
          </p:nvGrpSpPr>
          <p:grpSpPr>
            <a:xfrm>
              <a:off x="753999" y="1734979"/>
              <a:ext cx="6129659" cy="308039"/>
              <a:chOff x="753999" y="1734979"/>
              <a:chExt cx="6129659" cy="308039"/>
            </a:xfrm>
          </p:grpSpPr>
          <p:sp>
            <p:nvSpPr>
              <p:cNvPr id="17" name="TextBox 17"/>
              <p:cNvSpPr txBox="1"/>
              <p:nvPr/>
            </p:nvSpPr>
            <p:spPr>
              <a:xfrm>
                <a:off x="753999" y="1734979"/>
                <a:ext cx="191966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3 kayıt, biri pasif</a:t>
                </a:r>
              </a:p>
            </p:txBody>
          </p:sp>
          <p:sp>
            <p:nvSpPr>
              <p:cNvPr id="18" name="TextBox 18"/>
              <p:cNvSpPr txBox="1"/>
              <p:nvPr/>
            </p:nvSpPr>
            <p:spPr>
              <a:xfrm>
                <a:off x="4563999" y="1734979"/>
                <a:ext cx="231965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aktifMi olanları tutar</a:t>
                </a:r>
              </a:p>
            </p:txBody>
          </p:sp>
        </p:grpSp>
        <p:sp>
          <p:nvSpPr>
            <p:cNvPr id="20" name="TextBox 20"/>
            <p:cNvSpPr txBox="1"/>
            <p:nvPr/>
          </p:nvSpPr>
          <p:spPr>
            <a:xfrm>
              <a:off x="8373999" y="1734979"/>
              <a:ext cx="3195861" cy="308039"/>
            </a:xfrm>
            <a:prstGeom prst="rect">
              <a:avLst/>
            </a:prstGeom>
            <a:noFill/>
            <a:ln>
              <a:noFill/>
            </a:ln>
          </p:spPr>
          <p:txBody>
            <a:bodyPr wrap="none" lIns="0" tIns="0" rIns="0" bIns="0" anchor="t" anchorCtr="0">
              <a:spAutoFit/>
            </a:bodyPr>
            <a:lstStyle/>
            <a:p>
              <a:pPr algn="l"/>
              <a:r>
                <a:rPr lang="tr-TR" sz="1580" dirty="0">
                  <a:solidFill>
                    <a:srgbClr val="EAF4F6"/>
                  </a:solidFill>
                  <a:latin typeface="+mn-lt"/>
                  <a:ea typeface="+mn-ea"/>
                  <a:cs typeface="+mn-cs"/>
                </a:rPr>
                <a:t>her kaydı özet metnine çevirir</a:t>
              </a:r>
            </a:p>
          </p:txBody>
        </p:sp>
      </p:grpSp>
      <p:grpSp>
        <p:nvGrpSpPr>
          <p:cNvPr id="33" name="code"/>
          <p:cNvGrpSpPr/>
          <p:nvPr/>
        </p:nvGrpSpPr>
        <p:grpSpPr>
          <a:xfrm>
            <a:off x="563499" y="2381250"/>
            <a:ext cx="7247001" cy="3624168"/>
            <a:chOff x="563499" y="2381250"/>
            <a:chExt cx="7247001" cy="3624168"/>
          </a:xfrm>
        </p:grpSpPr>
        <p:sp>
          <p:nvSpPr>
            <p:cNvPr id="22" name="Rectangle 22"/>
            <p:cNvSpPr/>
            <p:nvPr/>
          </p:nvSpPr>
          <p:spPr>
            <a:xfrm>
              <a:off x="571500" y="2381250"/>
              <a:ext cx="7239000" cy="3143250"/>
            </a:xfrm>
            <a:prstGeom prst="rect">
              <a:avLst/>
            </a:prstGeom>
            <a:solidFill>
              <a:srgbClr val="EAF4F6"/>
            </a:solidFill>
            <a:ln>
              <a:noFill/>
            </a:ln>
          </p:spPr>
        </p:sp>
        <p:sp>
          <p:nvSpPr>
            <p:cNvPr id="23" name="Rectangle 23"/>
            <p:cNvSpPr/>
            <p:nvPr/>
          </p:nvSpPr>
          <p:spPr>
            <a:xfrm>
              <a:off x="571500" y="2381250"/>
              <a:ext cx="57150" cy="3143250"/>
            </a:xfrm>
            <a:prstGeom prst="rect">
              <a:avLst/>
            </a:prstGeom>
            <a:solidFill>
              <a:srgbClr val="12355B"/>
            </a:solidFill>
            <a:ln>
              <a:noFill/>
            </a:ln>
          </p:spPr>
        </p:sp>
        <p:grpSp>
          <p:nvGrpSpPr>
            <p:cNvPr id="31" name="Group 31"/>
            <p:cNvGrpSpPr/>
            <p:nvPr/>
          </p:nvGrpSpPr>
          <p:grpSpPr>
            <a:xfrm>
              <a:off x="830580" y="2619375"/>
              <a:ext cx="6345746" cy="2350770"/>
              <a:chOff x="830580" y="2619375"/>
              <a:chExt cx="6345746" cy="2350770"/>
            </a:xfrm>
          </p:grpSpPr>
          <p:sp>
            <p:nvSpPr>
              <p:cNvPr id="24" name="TextBox 24"/>
              <p:cNvSpPr txBox="1"/>
              <p:nvPr/>
            </p:nvSpPr>
            <p:spPr>
              <a:xfrm>
                <a:off x="830580" y="2619375"/>
                <a:ext cx="5255744"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const aktifKullaniciOzetleri = kullaniciListesi</a:t>
                </a:r>
              </a:p>
            </p:txBody>
          </p:sp>
          <p:sp>
            <p:nvSpPr>
              <p:cNvPr id="25" name="TextBox 25"/>
              <p:cNvSpPr txBox="1"/>
              <p:nvPr/>
            </p:nvSpPr>
            <p:spPr>
              <a:xfrm>
                <a:off x="830580" y="2962275"/>
                <a:ext cx="4577076"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.filter((kullanici) =&gt; kullanici.aktifMi)</a:t>
                </a:r>
              </a:p>
            </p:txBody>
          </p:sp>
          <p:sp>
            <p:nvSpPr>
              <p:cNvPr id="26" name="TextBox 26"/>
              <p:cNvSpPr txBox="1"/>
              <p:nvPr/>
            </p:nvSpPr>
            <p:spPr>
              <a:xfrm>
                <a:off x="830580" y="3305175"/>
                <a:ext cx="2347532"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.map((kullanici) =&gt; {</a:t>
                </a:r>
              </a:p>
            </p:txBody>
          </p:sp>
          <p:sp>
            <p:nvSpPr>
              <p:cNvPr id="27" name="TextBox 27"/>
              <p:cNvSpPr txBox="1"/>
              <p:nvPr/>
            </p:nvSpPr>
            <p:spPr>
              <a:xfrm>
                <a:off x="830580" y="3648075"/>
                <a:ext cx="1459040"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const sehir =</a:t>
                </a:r>
              </a:p>
            </p:txBody>
          </p:sp>
          <p:sp>
            <p:nvSpPr>
              <p:cNvPr id="28" name="TextBox 28"/>
              <p:cNvSpPr txBox="1"/>
              <p:nvPr/>
            </p:nvSpPr>
            <p:spPr>
              <a:xfrm>
                <a:off x="830580" y="3990975"/>
                <a:ext cx="5132870"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kullanici.adres</a:t>
                </a:r>
                <a:r>
                  <a:rPr lang="tr-TR" sz="1500" b="1" dirty="0">
                    <a:solidFill>
                      <a:srgbClr val="00A6A6"/>
                    </a:solidFill>
                    <a:latin typeface="Consolas"/>
                    <a:ea typeface="Consolas"/>
                    <a:cs typeface="Consolas"/>
                  </a:rPr>
                  <a:t>?.</a:t>
                </a:r>
                <a:r>
                  <a:rPr lang="tr-TR" sz="1500" dirty="0">
                    <a:solidFill>
                      <a:srgbClr val="172B3A"/>
                    </a:solidFill>
                    <a:latin typeface="Consolas"/>
                    <a:ea typeface="Consolas"/>
                    <a:cs typeface="Consolas"/>
                  </a:rPr>
                  <a:t xml:space="preserve">sehir </a:t>
                </a:r>
                <a:r>
                  <a:rPr lang="tr-TR" sz="1500" b="1" dirty="0">
                    <a:solidFill>
                      <a:srgbClr val="00A6A6"/>
                    </a:solidFill>
                    <a:latin typeface="Consolas"/>
                    <a:ea typeface="Consolas"/>
                    <a:cs typeface="Consolas"/>
                  </a:rPr>
                  <a:t>??</a:t>
                </a:r>
                <a:r>
                  <a:rPr lang="tr-TR" sz="1500" dirty="0">
                    <a:solidFill>
                      <a:srgbClr val="172B3A"/>
                    </a:solidFill>
                    <a:latin typeface="Consolas"/>
                    <a:ea typeface="Consolas"/>
                    <a:cs typeface="Consolas"/>
                  </a:rPr>
                  <a:t xml:space="preserve"> "Şehir bilgisi yok";</a:t>
                </a:r>
              </a:p>
            </p:txBody>
          </p:sp>
          <p:sp>
            <p:nvSpPr>
              <p:cNvPr id="29" name="TextBox 29"/>
              <p:cNvSpPr txBox="1"/>
              <p:nvPr/>
            </p:nvSpPr>
            <p:spPr>
              <a:xfrm>
                <a:off x="830580" y="4333875"/>
                <a:ext cx="6345746"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return `${kullanici.kimlik}: ${kullanici.ad} - ${sehir}`;</a:t>
                </a:r>
              </a:p>
            </p:txBody>
          </p:sp>
          <p:sp>
            <p:nvSpPr>
              <p:cNvPr id="30" name="TextBox 30"/>
              <p:cNvSpPr txBox="1"/>
              <p:nvPr/>
            </p:nvSpPr>
            <p:spPr>
              <a:xfrm>
                <a:off x="830580" y="4676775"/>
                <a:ext cx="348425"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a:t>
                </a:r>
              </a:p>
            </p:txBody>
          </p:sp>
        </p:grpSp>
        <p:sp>
          <p:nvSpPr>
            <p:cNvPr id="32" name="TextBox 32"/>
            <p:cNvSpPr txBox="1"/>
            <p:nvPr/>
          </p:nvSpPr>
          <p:spPr>
            <a:xfrm>
              <a:off x="563499" y="5697379"/>
              <a:ext cx="5479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Kod 2.1 · readonly kimlik derleme zamanında korunur</a:t>
              </a:r>
            </a:p>
          </p:txBody>
        </p:sp>
      </p:grpSp>
      <p:grpSp>
        <p:nvGrpSpPr>
          <p:cNvPr id="43" name="output-points"/>
          <p:cNvGrpSpPr/>
          <p:nvPr/>
        </p:nvGrpSpPr>
        <p:grpSpPr>
          <a:xfrm>
            <a:off x="8088249" y="2381250"/>
            <a:ext cx="3532251" cy="3395567"/>
            <a:chOff x="8088249" y="2381250"/>
            <a:chExt cx="3532251" cy="3395567"/>
          </a:xfrm>
        </p:grpSpPr>
        <p:sp>
          <p:nvSpPr>
            <p:cNvPr id="34" name="Rectangle 34"/>
            <p:cNvSpPr/>
            <p:nvPr/>
          </p:nvSpPr>
          <p:spPr>
            <a:xfrm>
              <a:off x="8096250" y="2381250"/>
              <a:ext cx="3524250" cy="1047750"/>
            </a:xfrm>
            <a:prstGeom prst="rect">
              <a:avLst/>
            </a:prstGeom>
            <a:solidFill>
              <a:srgbClr val="12355B"/>
            </a:solidFill>
            <a:ln>
              <a:noFill/>
            </a:ln>
          </p:spPr>
        </p:sp>
        <p:sp>
          <p:nvSpPr>
            <p:cNvPr id="35" name="TextBox 35"/>
            <p:cNvSpPr txBox="1"/>
            <p:nvPr/>
          </p:nvSpPr>
          <p:spPr>
            <a:xfrm>
              <a:off x="8299704" y="2556510"/>
              <a:ext cx="415442"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ÇIKTI</a:t>
              </a:r>
            </a:p>
          </p:txBody>
        </p:sp>
        <p:grpSp>
          <p:nvGrpSpPr>
            <p:cNvPr id="38" name="Group 38"/>
            <p:cNvGrpSpPr/>
            <p:nvPr/>
          </p:nvGrpSpPr>
          <p:grpSpPr>
            <a:xfrm>
              <a:off x="8298180" y="2828925"/>
              <a:ext cx="3142564" cy="579120"/>
              <a:chOff x="8298180" y="2828925"/>
              <a:chExt cx="3142564" cy="579120"/>
            </a:xfrm>
          </p:grpSpPr>
          <p:sp>
            <p:nvSpPr>
              <p:cNvPr id="36" name="TextBox 36"/>
              <p:cNvSpPr txBox="1"/>
              <p:nvPr/>
            </p:nvSpPr>
            <p:spPr>
              <a:xfrm>
                <a:off x="8298180" y="2828925"/>
                <a:ext cx="2033206" cy="293370"/>
              </a:xfrm>
              <a:prstGeom prst="rect">
                <a:avLst/>
              </a:prstGeom>
              <a:noFill/>
              <a:ln>
                <a:noFill/>
              </a:ln>
            </p:spPr>
            <p:txBody>
              <a:bodyPr wrap="none" lIns="0" tIns="0" rIns="0" bIns="0" anchor="t" anchorCtr="0">
                <a:spAutoFit/>
              </a:bodyPr>
              <a:lstStyle/>
              <a:p>
                <a:pPr algn="l"/>
                <a:r>
                  <a:rPr lang="tr-TR" sz="1500" dirty="0">
                    <a:solidFill>
                      <a:srgbClr val="F7FAFC"/>
                    </a:solidFill>
                    <a:latin typeface="Consolas"/>
                    <a:ea typeface="Consolas"/>
                    <a:cs typeface="Consolas"/>
                  </a:rPr>
                  <a:t>1: Zeliha - Ankara</a:t>
                </a:r>
              </a:p>
            </p:txBody>
          </p:sp>
          <p:sp>
            <p:nvSpPr>
              <p:cNvPr id="37" name="TextBox 37"/>
              <p:cNvSpPr txBox="1"/>
              <p:nvPr/>
            </p:nvSpPr>
            <p:spPr>
              <a:xfrm>
                <a:off x="8298180" y="3114675"/>
                <a:ext cx="3142564" cy="293370"/>
              </a:xfrm>
              <a:prstGeom prst="rect">
                <a:avLst/>
              </a:prstGeom>
              <a:noFill/>
              <a:ln>
                <a:noFill/>
              </a:ln>
            </p:spPr>
            <p:txBody>
              <a:bodyPr wrap="none" lIns="0" tIns="0" rIns="0" bIns="0" anchor="t" anchorCtr="0">
                <a:spAutoFit/>
              </a:bodyPr>
              <a:lstStyle/>
              <a:p>
                <a:pPr algn="l"/>
                <a:r>
                  <a:rPr lang="tr-TR" sz="1500" dirty="0">
                    <a:solidFill>
                      <a:srgbClr val="F7FAFC"/>
                    </a:solidFill>
                    <a:latin typeface="Consolas"/>
                    <a:ea typeface="Consolas"/>
                    <a:cs typeface="Consolas"/>
                  </a:rPr>
                  <a:t>3: Bahar - Şehir bilgisi yok</a:t>
                </a:r>
              </a:p>
            </p:txBody>
          </p:sp>
        </p:grpSp>
        <p:grpSp>
          <p:nvGrpSpPr>
            <p:cNvPr id="42" name="Group 42"/>
            <p:cNvGrpSpPr/>
            <p:nvPr/>
          </p:nvGrpSpPr>
          <p:grpSpPr>
            <a:xfrm>
              <a:off x="8088249" y="3678079"/>
              <a:ext cx="2474087" cy="2098738"/>
              <a:chOff x="8088249" y="3678079"/>
              <a:chExt cx="2474087" cy="2098738"/>
            </a:xfrm>
          </p:grpSpPr>
          <p:sp>
            <p:nvSpPr>
              <p:cNvPr id="39" name="TextBox 39"/>
              <p:cNvSpPr txBox="1"/>
              <p:nvPr/>
            </p:nvSpPr>
            <p:spPr>
              <a:xfrm>
                <a:off x="8088249" y="3678079"/>
                <a:ext cx="2303526" cy="574738"/>
              </a:xfrm>
              <a:prstGeom prst="rect">
                <a:avLst/>
              </a:prstGeom>
              <a:noFill/>
              <a:ln>
                <a:noFill/>
              </a:ln>
            </p:spPr>
            <p:txBody>
              <a:bodyPr wrap="none" lIns="0" tIns="0" rIns="0" bIns="0" anchor="t" anchorCtr="0">
                <a:spAutoFit/>
              </a:bodyPr>
              <a:lstStyle/>
              <a:p>
                <a:pPr algn="l">
                  <a:lnSpc>
                    <a:spcPts val="2100"/>
                  </a:lnSpc>
                </a:pPr>
                <a:r>
                  <a:rPr lang="tr-TR" sz="1580" b="1" dirty="0">
                    <a:solidFill>
                      <a:srgbClr val="00A6A6"/>
                    </a:solidFill>
                    <a:latin typeface="+mn-lt"/>
                    <a:ea typeface="+mn-ea"/>
                    <a:cs typeface="+mn-cs"/>
                  </a:rPr>
                  <a:t xml:space="preserve">?. </a:t>
                </a:r>
                <a:r>
                  <a:rPr lang="tr-TR" sz="1580" dirty="0">
                    <a:solidFill>
                      <a:srgbClr val="172B3A"/>
                    </a:solidFill>
                    <a:latin typeface="+mn-lt"/>
                    <a:ea typeface="+mn-ea"/>
                    <a:cs typeface="+mn-cs"/>
                  </a:rPr>
                  <a:t>adres yoksa hata</a:t>
                </a:r>
                <a:br/>
                <a:r>
                  <a:rPr lang="tr-TR" sz="1580" dirty="0">
                    <a:solidFill>
                      <a:srgbClr val="172B3A"/>
                    </a:solidFill>
                    <a:latin typeface="+mn-lt"/>
                    <a:ea typeface="+mn-ea"/>
                    <a:cs typeface="+mn-cs"/>
                  </a:rPr>
                  <a:t>yerine undefined üretir</a:t>
                </a:r>
              </a:p>
            </p:txBody>
          </p:sp>
          <p:sp>
            <p:nvSpPr>
              <p:cNvPr id="40" name="TextBox 40"/>
              <p:cNvSpPr txBox="1"/>
              <p:nvPr/>
            </p:nvSpPr>
            <p:spPr>
              <a:xfrm>
                <a:off x="8088249" y="4440079"/>
                <a:ext cx="2474087" cy="574738"/>
              </a:xfrm>
              <a:prstGeom prst="rect">
                <a:avLst/>
              </a:prstGeom>
              <a:noFill/>
              <a:ln>
                <a:noFill/>
              </a:ln>
            </p:spPr>
            <p:txBody>
              <a:bodyPr wrap="none" lIns="0" tIns="0" rIns="0" bIns="0" anchor="t" anchorCtr="0">
                <a:spAutoFit/>
              </a:bodyPr>
              <a:lstStyle/>
              <a:p>
                <a:pPr algn="l">
                  <a:lnSpc>
                    <a:spcPts val="2100"/>
                  </a:lnSpc>
                </a:pPr>
                <a:r>
                  <a:rPr lang="tr-TR" sz="1580" b="1" dirty="0">
                    <a:solidFill>
                      <a:srgbClr val="00A6A6"/>
                    </a:solidFill>
                    <a:latin typeface="+mn-lt"/>
                    <a:ea typeface="+mn-ea"/>
                    <a:cs typeface="+mn-cs"/>
                  </a:rPr>
                  <a:t xml:space="preserve">?? </a:t>
                </a:r>
                <a:r>
                  <a:rPr lang="tr-TR" sz="1580" dirty="0">
                    <a:solidFill>
                      <a:srgbClr val="172B3A"/>
                    </a:solidFill>
                    <a:latin typeface="+mn-lt"/>
                    <a:ea typeface="+mn-ea"/>
                    <a:cs typeface="+mn-cs"/>
                  </a:rPr>
                  <a:t>yalnızca null ya da</a:t>
                </a:r>
                <a:br/>
                <a:r>
                  <a:rPr lang="tr-TR" sz="1580" dirty="0">
                    <a:solidFill>
                      <a:srgbClr val="172B3A"/>
                    </a:solidFill>
                    <a:latin typeface="+mn-lt"/>
                    <a:ea typeface="+mn-ea"/>
                    <a:cs typeface="+mn-cs"/>
                  </a:rPr>
                  <a:t>undefined için varsayılan</a:t>
                </a:r>
              </a:p>
            </p:txBody>
          </p:sp>
          <p:sp>
            <p:nvSpPr>
              <p:cNvPr id="41" name="TextBox 41"/>
              <p:cNvSpPr txBox="1"/>
              <p:nvPr/>
            </p:nvSpPr>
            <p:spPr>
              <a:xfrm>
                <a:off x="8088249" y="5202079"/>
                <a:ext cx="1963407" cy="574738"/>
              </a:xfrm>
              <a:prstGeom prst="rect">
                <a:avLst/>
              </a:prstGeom>
              <a:noFill/>
              <a:ln>
                <a:noFill/>
              </a:ln>
            </p:spPr>
            <p:txBody>
              <a:bodyPr wrap="none" lIns="0" tIns="0" rIns="0" bIns="0" anchor="t" anchorCtr="0">
                <a:spAutoFit/>
              </a:bodyPr>
              <a:lstStyle/>
              <a:p>
                <a:pPr algn="l">
                  <a:lnSpc>
                    <a:spcPts val="2100"/>
                  </a:lnSpc>
                </a:pPr>
                <a:r>
                  <a:rPr lang="tr-TR" sz="1580" b="1" dirty="0">
                    <a:solidFill>
                      <a:srgbClr val="00A6A6"/>
                    </a:solidFill>
                    <a:latin typeface="+mn-lt"/>
                    <a:ea typeface="+mn-ea"/>
                    <a:cs typeface="+mn-cs"/>
                  </a:rPr>
                  <a:t xml:space="preserve">filter + map </a:t>
                </a:r>
                <a:r>
                  <a:rPr lang="tr-TR" sz="1580" dirty="0">
                    <a:solidFill>
                      <a:srgbClr val="172B3A"/>
                    </a:solidFill>
                    <a:latin typeface="+mn-lt"/>
                    <a:ea typeface="+mn-ea"/>
                    <a:cs typeface="+mn-cs"/>
                  </a:rPr>
                  <a:t>kaynak</a:t>
                </a:r>
                <a:br/>
                <a:r>
                  <a:rPr lang="tr-TR" sz="1580" dirty="0">
                    <a:solidFill>
                      <a:srgbClr val="172B3A"/>
                    </a:solidFill>
                    <a:latin typeface="+mn-lt"/>
                    <a:ea typeface="+mn-ea"/>
                    <a:cs typeface="+mn-cs"/>
                  </a:rPr>
                  <a:t>diziyi değiştirmez</a:t>
                </a:r>
              </a:p>
            </p:txBody>
          </p:sp>
        </p:grpSp>
      </p:grpSp>
      <p:grpSp>
        <p:nvGrpSpPr>
          <p:cNvPr id="46" name="footer"/>
          <p:cNvGrpSpPr/>
          <p:nvPr/>
        </p:nvGrpSpPr>
        <p:grpSpPr>
          <a:xfrm>
            <a:off x="565404" y="6404610"/>
            <a:ext cx="11061192" cy="234696"/>
            <a:chOff x="565404" y="6404610"/>
            <a:chExt cx="11061192" cy="234696"/>
          </a:xfrm>
        </p:grpSpPr>
        <p:sp>
          <p:nvSpPr>
            <p:cNvPr id="44" name="TextBox 44"/>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45" name="TextBox 45"/>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08356" y="319421"/>
                <a:ext cx="297777" cy="255830"/>
                <a:chOff x="708356" y="319421"/>
                <a:chExt cx="297777" cy="255830"/>
              </a:xfrm>
            </p:grpSpPr>
            <p:sp>
              <p:nvSpPr>
                <p:cNvPr id="5" name="Freeform 5"/>
                <p:cNvSpPr/>
                <p:nvPr/>
              </p:nvSpPr>
              <p:spPr>
                <a:xfrm>
                  <a:off x="8572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083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572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61872" y="282892"/>
              <a:ext cx="8927043"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İki sık tuzak: || yerine ?? ve const yanılgısı</a:t>
              </a:r>
            </a:p>
          </p:txBody>
        </p:sp>
      </p:grpSp>
      <p:grpSp>
        <p:nvGrpSpPr>
          <p:cNvPr id="30" name="nullish-contrast"/>
          <p:cNvGrpSpPr/>
          <p:nvPr/>
        </p:nvGrpSpPr>
        <p:grpSpPr>
          <a:xfrm>
            <a:off x="562356" y="1196340"/>
            <a:ext cx="5447284" cy="5037677"/>
            <a:chOff x="562356" y="1196340"/>
            <a:chExt cx="5447284" cy="5037677"/>
          </a:xfrm>
        </p:grpSpPr>
        <p:sp>
          <p:nvSpPr>
            <p:cNvPr id="12" name="TextBox 12"/>
            <p:cNvSpPr txBox="1"/>
            <p:nvPr/>
          </p:nvSpPr>
          <p:spPr>
            <a:xfrm>
              <a:off x="562356" y="1196340"/>
              <a:ext cx="38971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Varsayılan değer: || mi, ?? mı?</a:t>
              </a:r>
            </a:p>
          </p:txBody>
        </p:sp>
        <p:sp>
          <p:nvSpPr>
            <p:cNvPr id="13" name="Rectangle 13"/>
            <p:cNvSpPr/>
            <p:nvPr/>
          </p:nvSpPr>
          <p:spPr>
            <a:xfrm>
              <a:off x="571500" y="1581150"/>
              <a:ext cx="5334000" cy="533400"/>
            </a:xfrm>
            <a:prstGeom prst="rect">
              <a:avLst/>
            </a:prstGeom>
            <a:solidFill>
              <a:srgbClr val="12355B"/>
            </a:solidFill>
            <a:ln>
              <a:noFill/>
            </a:ln>
          </p:spPr>
        </p:sp>
        <p:sp>
          <p:nvSpPr>
            <p:cNvPr id="14" name="TextBox 14"/>
            <p:cNvSpPr txBox="1"/>
            <p:nvPr/>
          </p:nvSpPr>
          <p:spPr>
            <a:xfrm>
              <a:off x="2060334" y="1762125"/>
              <a:ext cx="2356333" cy="293370"/>
            </a:xfrm>
            <a:prstGeom prst="rect">
              <a:avLst/>
            </a:prstGeom>
            <a:noFill/>
            <a:ln>
              <a:noFill/>
            </a:ln>
          </p:spPr>
          <p:txBody>
            <a:bodyPr wrap="none" lIns="0" tIns="0" rIns="0" bIns="0" anchor="t" anchorCtr="0">
              <a:spAutoFit/>
            </a:bodyPr>
            <a:lstStyle/>
            <a:p>
              <a:pPr algn="ctr"/>
              <a:r>
                <a:rPr lang="tr-TR" sz="1500" dirty="0">
                  <a:solidFill>
                    <a:srgbClr val="F7FAFC"/>
                  </a:solidFill>
                  <a:latin typeface="Consolas"/>
                  <a:ea typeface="Consolas"/>
                  <a:cs typeface="Consolas"/>
                </a:rPr>
                <a:t>const puanDegeri = 0;</a:t>
              </a:r>
            </a:p>
          </p:txBody>
        </p:sp>
        <p:sp>
          <p:nvSpPr>
            <p:cNvPr id="15" name="Line 15"/>
            <p:cNvSpPr/>
            <p:nvPr/>
          </p:nvSpPr>
          <p:spPr>
            <a:xfrm flipH="1">
              <a:off x="1809750" y="2114550"/>
              <a:ext cx="857250" cy="571500"/>
            </a:xfrm>
            <a:prstGeom prst="line">
              <a:avLst/>
            </a:prstGeom>
            <a:noFill/>
            <a:ln w="28575">
              <a:solidFill>
                <a:srgbClr val="52616B"/>
              </a:solidFill>
              <a:tailEnd type="triangle" w="lg" len="lg"/>
            </a:ln>
          </p:spPr>
        </p:sp>
        <p:sp>
          <p:nvSpPr>
            <p:cNvPr id="16" name="Line 16"/>
            <p:cNvSpPr/>
            <p:nvPr/>
          </p:nvSpPr>
          <p:spPr>
            <a:xfrm>
              <a:off x="3810000" y="2114550"/>
              <a:ext cx="857250" cy="571500"/>
            </a:xfrm>
            <a:prstGeom prst="line">
              <a:avLst/>
            </a:prstGeom>
            <a:noFill/>
            <a:ln w="28575">
              <a:solidFill>
                <a:srgbClr val="00A6A6"/>
              </a:solidFill>
              <a:tailEnd type="triangle" w="lg" len="lg"/>
            </a:ln>
          </p:spPr>
        </p:sp>
        <p:sp>
          <p:nvSpPr>
            <p:cNvPr id="17" name="Rectangle 17"/>
            <p:cNvSpPr/>
            <p:nvPr/>
          </p:nvSpPr>
          <p:spPr>
            <a:xfrm>
              <a:off x="571500" y="2762250"/>
              <a:ext cx="2476500" cy="1524000"/>
            </a:xfrm>
            <a:prstGeom prst="roundRect">
              <a:avLst>
                <a:gd name="adj" fmla="val 5000"/>
              </a:avLst>
            </a:prstGeom>
            <a:solidFill>
              <a:srgbClr val="FFFFFF"/>
            </a:solidFill>
            <a:ln w="19050">
              <a:solidFill>
                <a:srgbClr val="52616B"/>
              </a:solidFill>
            </a:ln>
          </p:spPr>
        </p:sp>
        <p:sp>
          <p:nvSpPr>
            <p:cNvPr id="18" name="Rectangle 18"/>
            <p:cNvSpPr/>
            <p:nvPr/>
          </p:nvSpPr>
          <p:spPr>
            <a:xfrm>
              <a:off x="3429000" y="2762250"/>
              <a:ext cx="2476500" cy="1524000"/>
            </a:xfrm>
            <a:prstGeom prst="roundRect">
              <a:avLst>
                <a:gd name="adj" fmla="val 5000"/>
              </a:avLst>
            </a:prstGeom>
            <a:solidFill>
              <a:srgbClr val="FFFFFF"/>
            </a:solidFill>
            <a:ln w="28575">
              <a:solidFill>
                <a:srgbClr val="00A6A6"/>
              </a:solidFill>
            </a:ln>
          </p:spPr>
        </p:sp>
        <p:grpSp>
          <p:nvGrpSpPr>
            <p:cNvPr id="21" name="Group 21"/>
            <p:cNvGrpSpPr/>
            <p:nvPr/>
          </p:nvGrpSpPr>
          <p:grpSpPr>
            <a:xfrm>
              <a:off x="852764" y="2962275"/>
              <a:ext cx="4771473" cy="293370"/>
              <a:chOff x="852764" y="2962275"/>
              <a:chExt cx="4771473" cy="293370"/>
            </a:xfrm>
          </p:grpSpPr>
          <p:sp>
            <p:nvSpPr>
              <p:cNvPr id="19" name="TextBox 19"/>
              <p:cNvSpPr txBox="1"/>
              <p:nvPr/>
            </p:nvSpPr>
            <p:spPr>
              <a:xfrm>
                <a:off x="852764" y="2962275"/>
                <a:ext cx="1913973" cy="293370"/>
              </a:xfrm>
              <a:prstGeom prst="rect">
                <a:avLst/>
              </a:prstGeom>
              <a:noFill/>
              <a:ln>
                <a:noFill/>
              </a:ln>
            </p:spPr>
            <p:txBody>
              <a:bodyPr wrap="none" lIns="0" tIns="0" rIns="0" bIns="0" anchor="t" anchorCtr="0">
                <a:spAutoFit/>
              </a:bodyPr>
              <a:lstStyle/>
              <a:p>
                <a:pPr algn="ctr"/>
                <a:r>
                  <a:rPr lang="tr-TR" sz="1500" dirty="0">
                    <a:solidFill>
                      <a:srgbClr val="172B3A"/>
                    </a:solidFill>
                    <a:latin typeface="Consolas"/>
                    <a:ea typeface="Consolas"/>
                    <a:cs typeface="Consolas"/>
                  </a:rPr>
                  <a:t>puanDegeri || 100</a:t>
                </a:r>
              </a:p>
            </p:txBody>
          </p:sp>
          <p:sp>
            <p:nvSpPr>
              <p:cNvPr id="20" name="TextBox 20"/>
              <p:cNvSpPr txBox="1"/>
              <p:nvPr/>
            </p:nvSpPr>
            <p:spPr>
              <a:xfrm>
                <a:off x="3710264" y="2962275"/>
                <a:ext cx="1913973" cy="293370"/>
              </a:xfrm>
              <a:prstGeom prst="rect">
                <a:avLst/>
              </a:prstGeom>
              <a:noFill/>
              <a:ln>
                <a:noFill/>
              </a:ln>
            </p:spPr>
            <p:txBody>
              <a:bodyPr wrap="none" lIns="0" tIns="0" rIns="0" bIns="0" anchor="t" anchorCtr="0">
                <a:spAutoFit/>
              </a:bodyPr>
              <a:lstStyle/>
              <a:p>
                <a:pPr algn="ctr"/>
                <a:r>
                  <a:rPr lang="tr-TR" sz="1500" dirty="0">
                    <a:solidFill>
                      <a:srgbClr val="172B3A"/>
                    </a:solidFill>
                    <a:latin typeface="Consolas"/>
                    <a:ea typeface="Consolas"/>
                    <a:cs typeface="Consolas"/>
                  </a:rPr>
                  <a:t>puanDegeri ?? 100</a:t>
                </a:r>
              </a:p>
            </p:txBody>
          </p:sp>
        </p:grpSp>
        <p:sp>
          <p:nvSpPr>
            <p:cNvPr id="22" name="TextBox 22"/>
            <p:cNvSpPr txBox="1"/>
            <p:nvPr/>
          </p:nvSpPr>
          <p:spPr>
            <a:xfrm>
              <a:off x="1400770" y="3357562"/>
              <a:ext cx="817959" cy="440055"/>
            </a:xfrm>
            <a:prstGeom prst="rect">
              <a:avLst/>
            </a:prstGeom>
            <a:noFill/>
            <a:ln>
              <a:noFill/>
            </a:ln>
          </p:spPr>
          <p:txBody>
            <a:bodyPr wrap="none" lIns="0" tIns="0" rIns="0" bIns="0" anchor="t" anchorCtr="0">
              <a:spAutoFit/>
            </a:bodyPr>
            <a:lstStyle/>
            <a:p>
              <a:pPr algn="ctr"/>
              <a:r>
                <a:rPr lang="tr-TR" sz="2250" b="1" dirty="0">
                  <a:solidFill>
                    <a:srgbClr val="52616B"/>
                  </a:solidFill>
                  <a:latin typeface="+mn-lt"/>
                  <a:ea typeface="+mn-ea"/>
                  <a:cs typeface="+mn-cs"/>
                </a:rPr>
                <a:t>→ 100</a:t>
              </a:r>
            </a:p>
          </p:txBody>
        </p:sp>
        <p:sp>
          <p:nvSpPr>
            <p:cNvPr id="23" name="TextBox 23"/>
            <p:cNvSpPr txBox="1"/>
            <p:nvPr/>
          </p:nvSpPr>
          <p:spPr>
            <a:xfrm>
              <a:off x="4433192" y="3357562"/>
              <a:ext cx="468116" cy="440055"/>
            </a:xfrm>
            <a:prstGeom prst="rect">
              <a:avLst/>
            </a:prstGeom>
            <a:noFill/>
            <a:ln>
              <a:noFill/>
            </a:ln>
          </p:spPr>
          <p:txBody>
            <a:bodyPr wrap="none" lIns="0" tIns="0" rIns="0" bIns="0" anchor="t" anchorCtr="0">
              <a:spAutoFit/>
            </a:bodyPr>
            <a:lstStyle/>
            <a:p>
              <a:pPr algn="ctr"/>
              <a:r>
                <a:rPr lang="tr-TR" sz="2250" b="1" dirty="0">
                  <a:solidFill>
                    <a:srgbClr val="00A6A6"/>
                  </a:solidFill>
                  <a:latin typeface="+mn-lt"/>
                  <a:ea typeface="+mn-ea"/>
                  <a:cs typeface="+mn-cs"/>
                </a:rPr>
                <a:t>→ 0</a:t>
              </a:r>
            </a:p>
          </p:txBody>
        </p:sp>
        <p:grpSp>
          <p:nvGrpSpPr>
            <p:cNvPr id="26" name="Group 26"/>
            <p:cNvGrpSpPr/>
            <p:nvPr/>
          </p:nvGrpSpPr>
          <p:grpSpPr>
            <a:xfrm>
              <a:off x="713168" y="3773329"/>
              <a:ext cx="5296472" cy="555688"/>
              <a:chOff x="713168" y="3773329"/>
              <a:chExt cx="5296472" cy="555688"/>
            </a:xfrm>
          </p:grpSpPr>
          <p:sp>
            <p:nvSpPr>
              <p:cNvPr id="24" name="TextBox 24"/>
              <p:cNvSpPr txBox="1"/>
              <p:nvPr/>
            </p:nvSpPr>
            <p:spPr>
              <a:xfrm>
                <a:off x="713168" y="3773329"/>
                <a:ext cx="2193163" cy="555688"/>
              </a:xfrm>
              <a:prstGeom prst="rect">
                <a:avLst/>
              </a:prstGeom>
              <a:noFill/>
              <a:ln>
                <a:noFill/>
              </a:ln>
            </p:spPr>
            <p:txBody>
              <a:bodyPr wrap="none" lIns="0" tIns="0" rIns="0" bIns="0" anchor="t" anchorCtr="0">
                <a:spAutoFit/>
              </a:bodyPr>
              <a:lstStyle/>
              <a:p>
                <a:pPr algn="ctr">
                  <a:lnSpc>
                    <a:spcPts val="1950"/>
                  </a:lnSpc>
                </a:pPr>
                <a:r>
                  <a:rPr lang="tr-TR" sz="1580" dirty="0">
                    <a:solidFill>
                      <a:srgbClr val="172B3A"/>
                    </a:solidFill>
                    <a:latin typeface="+mn-lt"/>
                    <a:ea typeface="+mn-ea"/>
                    <a:cs typeface="+mn-cs"/>
                  </a:rPr>
                  <a:t>0 “falsy” sayılır,</a:t>
                </a:r>
                <a:br/>
                <a:r>
                  <a:rPr lang="tr-TR" sz="1580" dirty="0">
                    <a:solidFill>
                      <a:srgbClr val="172B3A"/>
                    </a:solidFill>
                    <a:latin typeface="+mn-lt"/>
                    <a:ea typeface="+mn-ea"/>
                    <a:cs typeface="+mn-cs"/>
                  </a:rPr>
                  <a:t>geçerli değer kaybolur</a:t>
                </a:r>
              </a:p>
            </p:txBody>
          </p:sp>
          <p:sp>
            <p:nvSpPr>
              <p:cNvPr id="25" name="TextBox 25"/>
              <p:cNvSpPr txBox="1"/>
              <p:nvPr/>
            </p:nvSpPr>
            <p:spPr>
              <a:xfrm>
                <a:off x="3324860" y="3773329"/>
                <a:ext cx="2684780" cy="555688"/>
              </a:xfrm>
              <a:prstGeom prst="rect">
                <a:avLst/>
              </a:prstGeom>
              <a:noFill/>
              <a:ln>
                <a:noFill/>
              </a:ln>
            </p:spPr>
            <p:txBody>
              <a:bodyPr wrap="none" lIns="0" tIns="0" rIns="0" bIns="0" anchor="t" anchorCtr="0">
                <a:spAutoFit/>
              </a:bodyPr>
              <a:lstStyle/>
              <a:p>
                <a:pPr algn="ctr">
                  <a:lnSpc>
                    <a:spcPts val="1950"/>
                  </a:lnSpc>
                </a:pPr>
                <a:r>
                  <a:rPr lang="tr-TR" sz="1580" dirty="0">
                    <a:solidFill>
                      <a:srgbClr val="172B3A"/>
                    </a:solidFill>
                    <a:latin typeface="+mn-lt"/>
                    <a:ea typeface="+mn-ea"/>
                    <a:cs typeface="+mn-cs"/>
                  </a:rPr>
                  <a:t>yalnızca null ve</a:t>
                </a:r>
                <a:br/>
                <a:r>
                  <a:rPr lang="tr-TR" sz="1580" dirty="0">
                    <a:solidFill>
                      <a:srgbClr val="172B3A"/>
                    </a:solidFill>
                    <a:latin typeface="+mn-lt"/>
                    <a:ea typeface="+mn-ea"/>
                    <a:cs typeface="+mn-cs"/>
                  </a:rPr>
                  <a:t>undefined’da devreye girer</a:t>
                </a:r>
              </a:p>
            </p:txBody>
          </p:sp>
        </p:grpSp>
        <p:sp>
          <p:nvSpPr>
            <p:cNvPr id="27" name="Rectangle 27"/>
            <p:cNvSpPr/>
            <p:nvPr/>
          </p:nvSpPr>
          <p:spPr>
            <a:xfrm>
              <a:off x="571500" y="4629150"/>
              <a:ext cx="57150" cy="1428750"/>
            </a:xfrm>
            <a:prstGeom prst="rect">
              <a:avLst/>
            </a:prstGeom>
            <a:solidFill>
              <a:srgbClr val="00A6A6"/>
            </a:solidFill>
            <a:ln>
              <a:noFill/>
            </a:ln>
          </p:spPr>
        </p:sp>
        <p:sp>
          <p:nvSpPr>
            <p:cNvPr id="28" name="TextBox 28"/>
            <p:cNvSpPr txBox="1"/>
            <p:nvPr/>
          </p:nvSpPr>
          <p:spPr>
            <a:xfrm>
              <a:off x="810006" y="4701540"/>
              <a:ext cx="201557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 için de dikkat</a:t>
              </a:r>
            </a:p>
          </p:txBody>
        </p:sp>
        <p:sp>
          <p:nvSpPr>
            <p:cNvPr id="29" name="TextBox 29"/>
            <p:cNvSpPr txBox="1"/>
            <p:nvPr/>
          </p:nvSpPr>
          <p:spPr>
            <a:xfrm>
              <a:off x="811149" y="5068729"/>
              <a:ext cx="4259961" cy="116528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İsteğe bağlı alanda ?. dayanıklılık sağlar.</a:t>
              </a:r>
              <a:br/>
              <a:r>
                <a:rPr lang="tr-TR" sz="1580" dirty="0">
                  <a:solidFill>
                    <a:srgbClr val="172B3A"/>
                  </a:solidFill>
                  <a:latin typeface="+mn-lt"/>
                  <a:ea typeface="+mn-ea"/>
                  <a:cs typeface="+mn-cs"/>
                </a:rPr>
                <a:t>Ödeme tutarı gibi zorunlu bir alanda ise</a:t>
              </a:r>
              <a:br/>
              <a:r>
                <a:rPr lang="tr-TR" sz="1580" dirty="0">
                  <a:solidFill>
                    <a:srgbClr val="172B3A"/>
                  </a:solidFill>
                  <a:latin typeface="+mn-lt"/>
                  <a:ea typeface="+mn-ea"/>
                  <a:cs typeface="+mn-cs"/>
                </a:rPr>
                <a:t>sessizce devam etmek yerine doğrulama</a:t>
              </a:r>
              <a:br/>
              <a:r>
                <a:rPr lang="tr-TR" sz="1580" dirty="0">
                  <a:solidFill>
                    <a:srgbClr val="172B3A"/>
                  </a:solidFill>
                  <a:latin typeface="+mn-lt"/>
                  <a:ea typeface="+mn-ea"/>
                  <a:cs typeface="+mn-cs"/>
                </a:rPr>
                <a:t>hatası üretmek gerekir.</a:t>
              </a:r>
            </a:p>
          </p:txBody>
        </p:sp>
      </p:grpSp>
      <p:grpSp>
        <p:nvGrpSpPr>
          <p:cNvPr id="50" name="const-myth"/>
          <p:cNvGrpSpPr/>
          <p:nvPr/>
        </p:nvGrpSpPr>
        <p:grpSpPr>
          <a:xfrm>
            <a:off x="6277356" y="1196340"/>
            <a:ext cx="5343144" cy="4694777"/>
            <a:chOff x="6277356" y="1196340"/>
            <a:chExt cx="5343144" cy="4694777"/>
          </a:xfrm>
        </p:grpSpPr>
        <p:sp>
          <p:nvSpPr>
            <p:cNvPr id="31" name="TextBox 31"/>
            <p:cNvSpPr txBox="1"/>
            <p:nvPr/>
          </p:nvSpPr>
          <p:spPr>
            <a:xfrm>
              <a:off x="6277356" y="1196340"/>
              <a:ext cx="309691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const nesneyi dondurmaz</a:t>
              </a:r>
            </a:p>
          </p:txBody>
        </p:sp>
        <p:sp>
          <p:nvSpPr>
            <p:cNvPr id="32" name="Rectangle 32"/>
            <p:cNvSpPr/>
            <p:nvPr/>
          </p:nvSpPr>
          <p:spPr>
            <a:xfrm>
              <a:off x="6286500" y="1581150"/>
              <a:ext cx="5334000" cy="1428750"/>
            </a:xfrm>
            <a:prstGeom prst="rect">
              <a:avLst/>
            </a:prstGeom>
            <a:solidFill>
              <a:srgbClr val="EAF4F6"/>
            </a:solidFill>
            <a:ln>
              <a:noFill/>
            </a:ln>
          </p:spPr>
        </p:sp>
        <p:grpSp>
          <p:nvGrpSpPr>
            <p:cNvPr id="36" name="Group 36"/>
            <p:cNvGrpSpPr/>
            <p:nvPr/>
          </p:nvGrpSpPr>
          <p:grpSpPr>
            <a:xfrm>
              <a:off x="6507480" y="1838325"/>
              <a:ext cx="3124962" cy="1055370"/>
              <a:chOff x="6507480" y="1838325"/>
              <a:chExt cx="3124962" cy="1055370"/>
            </a:xfrm>
          </p:grpSpPr>
          <p:sp>
            <p:nvSpPr>
              <p:cNvPr id="33" name="TextBox 33"/>
              <p:cNvSpPr txBox="1"/>
              <p:nvPr/>
            </p:nvSpPr>
            <p:spPr>
              <a:xfrm>
                <a:off x="6507480" y="1838325"/>
                <a:ext cx="3124962"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const ayar = { port: 3000 };</a:t>
                </a:r>
              </a:p>
            </p:txBody>
          </p:sp>
          <p:sp>
            <p:nvSpPr>
              <p:cNvPr id="34" name="TextBox 34"/>
              <p:cNvSpPr txBox="1"/>
              <p:nvPr/>
            </p:nvSpPr>
            <p:spPr>
              <a:xfrm>
                <a:off x="6507480" y="2219325"/>
                <a:ext cx="3013900"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ayar.port = 8080;</a:t>
                </a:r>
                <a:r>
                  <a:rPr lang="tr-TR" sz="1500" dirty="0">
                    <a:solidFill>
                      <a:srgbClr val="2E86AB"/>
                    </a:solidFill>
                    <a:latin typeface="Consolas"/>
                    <a:ea typeface="Consolas"/>
                    <a:cs typeface="Consolas"/>
                  </a:rPr>
                  <a:t xml:space="preserve"> // izinli</a:t>
                </a:r>
              </a:p>
            </p:txBody>
          </p:sp>
          <p:sp>
            <p:nvSpPr>
              <p:cNvPr id="35" name="TextBox 35"/>
              <p:cNvSpPr txBox="1"/>
              <p:nvPr/>
            </p:nvSpPr>
            <p:spPr>
              <a:xfrm>
                <a:off x="6507480" y="2600325"/>
                <a:ext cx="3124962"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ayar = { port: 80 };</a:t>
                </a:r>
                <a:r>
                  <a:rPr lang="tr-TR" sz="1500" dirty="0">
                    <a:solidFill>
                      <a:srgbClr val="52616B"/>
                    </a:solidFill>
                    <a:latin typeface="Consolas"/>
                    <a:ea typeface="Consolas"/>
                    <a:cs typeface="Consolas"/>
                  </a:rPr>
                  <a:t xml:space="preserve"> // hata</a:t>
                </a:r>
              </a:p>
            </p:txBody>
          </p:sp>
        </p:grpSp>
        <p:sp>
          <p:nvSpPr>
            <p:cNvPr id="37" name="TextBox 37"/>
            <p:cNvSpPr txBox="1"/>
            <p:nvPr/>
          </p:nvSpPr>
          <p:spPr>
            <a:xfrm>
              <a:off x="6278499" y="3182779"/>
              <a:ext cx="502895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Alanları korumak için: readonly · Object.freeze</a:t>
              </a:r>
            </a:p>
          </p:txBody>
        </p:sp>
        <p:grpSp>
          <p:nvGrpSpPr>
            <p:cNvPr id="41" name="Group 41"/>
            <p:cNvGrpSpPr/>
            <p:nvPr/>
          </p:nvGrpSpPr>
          <p:grpSpPr>
            <a:xfrm>
              <a:off x="6286500" y="3543300"/>
              <a:ext cx="5334000" cy="1647825"/>
              <a:chOff x="6286500" y="3543300"/>
              <a:chExt cx="5334000" cy="1647825"/>
            </a:xfrm>
          </p:grpSpPr>
          <p:sp>
            <p:nvSpPr>
              <p:cNvPr id="38" name="Line 38"/>
              <p:cNvSpPr/>
              <p:nvPr/>
            </p:nvSpPr>
            <p:spPr>
              <a:xfrm>
                <a:off x="6286500" y="3543300"/>
                <a:ext cx="5334000" cy="9525"/>
              </a:xfrm>
              <a:custGeom>
                <a:avLst/>
                <a:gdLst/>
                <a:ahLst/>
                <a:cxnLst/>
                <a:rect l="l" t="t" r="r" b="b"/>
                <a:pathLst>
                  <a:path w="5334000" h="9525">
                    <a:moveTo>
                      <a:pt x="0" y="0"/>
                    </a:moveTo>
                    <a:lnTo>
                      <a:pt x="5334000" y="0"/>
                    </a:lnTo>
                  </a:path>
                </a:pathLst>
              </a:custGeom>
              <a:noFill/>
              <a:ln w="19050">
                <a:solidFill>
                  <a:srgbClr val="B8CBD3"/>
                </a:solidFill>
              </a:ln>
            </p:spPr>
          </p:sp>
          <p:sp>
            <p:nvSpPr>
              <p:cNvPr id="39" name="Line 39"/>
              <p:cNvSpPr/>
              <p:nvPr/>
            </p:nvSpPr>
            <p:spPr>
              <a:xfrm>
                <a:off x="6286500" y="4362450"/>
                <a:ext cx="5334000" cy="9525"/>
              </a:xfrm>
              <a:custGeom>
                <a:avLst/>
                <a:gdLst/>
                <a:ahLst/>
                <a:cxnLst/>
                <a:rect l="l" t="t" r="r" b="b"/>
                <a:pathLst>
                  <a:path w="5334000" h="9525">
                    <a:moveTo>
                      <a:pt x="0" y="0"/>
                    </a:moveTo>
                    <a:lnTo>
                      <a:pt x="5334000" y="0"/>
                    </a:lnTo>
                  </a:path>
                </a:pathLst>
              </a:custGeom>
              <a:noFill/>
              <a:ln w="19050">
                <a:solidFill>
                  <a:srgbClr val="B8CBD3"/>
                </a:solidFill>
              </a:ln>
            </p:spPr>
          </p:sp>
          <p:sp>
            <p:nvSpPr>
              <p:cNvPr id="40" name="Line 40"/>
              <p:cNvSpPr/>
              <p:nvPr/>
            </p:nvSpPr>
            <p:spPr>
              <a:xfrm>
                <a:off x="6286500" y="5181600"/>
                <a:ext cx="5334000" cy="9525"/>
              </a:xfrm>
              <a:custGeom>
                <a:avLst/>
                <a:gdLst/>
                <a:ahLst/>
                <a:cxnLst/>
                <a:rect l="l" t="t" r="r" b="b"/>
                <a:pathLst>
                  <a:path w="5334000" h="9525">
                    <a:moveTo>
                      <a:pt x="0" y="0"/>
                    </a:moveTo>
                    <a:lnTo>
                      <a:pt x="5334000" y="0"/>
                    </a:lnTo>
                  </a:path>
                </a:pathLst>
              </a:custGeom>
              <a:noFill/>
              <a:ln w="19050">
                <a:solidFill>
                  <a:srgbClr val="B8CBD3"/>
                </a:solidFill>
              </a:ln>
            </p:spPr>
          </p:sp>
        </p:grpSp>
        <p:grpSp>
          <p:nvGrpSpPr>
            <p:cNvPr id="45" name="Group 45"/>
            <p:cNvGrpSpPr/>
            <p:nvPr/>
          </p:nvGrpSpPr>
          <p:grpSpPr>
            <a:xfrm>
              <a:off x="6391656" y="3749040"/>
              <a:ext cx="684657" cy="1990344"/>
              <a:chOff x="6391656" y="3749040"/>
              <a:chExt cx="684657" cy="1990344"/>
            </a:xfrm>
          </p:grpSpPr>
          <p:sp>
            <p:nvSpPr>
              <p:cNvPr id="42" name="TextBox 42"/>
              <p:cNvSpPr txBox="1"/>
              <p:nvPr/>
            </p:nvSpPr>
            <p:spPr>
              <a:xfrm>
                <a:off x="6391656" y="3749040"/>
                <a:ext cx="684657" cy="352044"/>
              </a:xfrm>
              <a:prstGeom prst="rect">
                <a:avLst/>
              </a:prstGeom>
              <a:noFill/>
              <a:ln>
                <a:noFill/>
              </a:ln>
            </p:spPr>
            <p:txBody>
              <a:bodyPr wrap="none" lIns="0" tIns="0" rIns="0" bIns="0" anchor="t" anchorCtr="0">
                <a:spAutoFit/>
              </a:bodyPr>
              <a:lstStyle/>
              <a:p>
                <a:pPr algn="l"/>
                <a:r>
                  <a:rPr lang="tr-TR" sz="1800" b="1" dirty="0">
                    <a:solidFill>
                      <a:srgbClr val="00A6A6"/>
                    </a:solidFill>
                    <a:latin typeface="Consolas"/>
                    <a:ea typeface="Consolas"/>
                    <a:cs typeface="Consolas"/>
                  </a:rPr>
                  <a:t>const</a:t>
                </a:r>
              </a:p>
            </p:txBody>
          </p:sp>
          <p:sp>
            <p:nvSpPr>
              <p:cNvPr id="43" name="TextBox 43"/>
              <p:cNvSpPr txBox="1"/>
              <p:nvPr/>
            </p:nvSpPr>
            <p:spPr>
              <a:xfrm>
                <a:off x="6391656" y="4568190"/>
                <a:ext cx="41810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Consolas"/>
                    <a:ea typeface="Consolas"/>
                    <a:cs typeface="Consolas"/>
                  </a:rPr>
                  <a:t>let</a:t>
                </a:r>
              </a:p>
            </p:txBody>
          </p:sp>
          <p:sp>
            <p:nvSpPr>
              <p:cNvPr id="44" name="TextBox 44"/>
              <p:cNvSpPr txBox="1"/>
              <p:nvPr/>
            </p:nvSpPr>
            <p:spPr>
              <a:xfrm>
                <a:off x="6391656" y="5387340"/>
                <a:ext cx="418109" cy="352044"/>
              </a:xfrm>
              <a:prstGeom prst="rect">
                <a:avLst/>
              </a:prstGeom>
              <a:noFill/>
              <a:ln>
                <a:noFill/>
              </a:ln>
            </p:spPr>
            <p:txBody>
              <a:bodyPr wrap="none" lIns="0" tIns="0" rIns="0" bIns="0" anchor="t" anchorCtr="0">
                <a:spAutoFit/>
              </a:bodyPr>
              <a:lstStyle/>
              <a:p>
                <a:pPr algn="l"/>
                <a:r>
                  <a:rPr lang="tr-TR" sz="1800" b="1" dirty="0">
                    <a:solidFill>
                      <a:srgbClr val="52616B"/>
                    </a:solidFill>
                    <a:latin typeface="Consolas"/>
                    <a:ea typeface="Consolas"/>
                    <a:cs typeface="Consolas"/>
                  </a:rPr>
                  <a:t>var</a:t>
                </a:r>
              </a:p>
            </p:txBody>
          </p:sp>
        </p:grpSp>
        <p:grpSp>
          <p:nvGrpSpPr>
            <p:cNvPr id="49" name="Group 49"/>
            <p:cNvGrpSpPr/>
            <p:nvPr/>
          </p:nvGrpSpPr>
          <p:grpSpPr>
            <a:xfrm>
              <a:off x="7421499" y="3678079"/>
              <a:ext cx="3286760" cy="2213038"/>
              <a:chOff x="7421499" y="3678079"/>
              <a:chExt cx="3286760" cy="2213038"/>
            </a:xfrm>
          </p:grpSpPr>
          <p:sp>
            <p:nvSpPr>
              <p:cNvPr id="46" name="TextBox 46"/>
              <p:cNvSpPr txBox="1"/>
              <p:nvPr/>
            </p:nvSpPr>
            <p:spPr>
              <a:xfrm>
                <a:off x="7421499" y="3678079"/>
                <a:ext cx="321652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Varsayılan seçim; yeniden atama</a:t>
                </a:r>
                <a:br/>
                <a:r>
                  <a:rPr lang="tr-TR" sz="1580" dirty="0">
                    <a:solidFill>
                      <a:srgbClr val="172B3A"/>
                    </a:solidFill>
                    <a:latin typeface="+mn-lt"/>
                    <a:ea typeface="+mn-ea"/>
                    <a:cs typeface="+mn-cs"/>
                  </a:rPr>
                  <a:t>engellenir, alanlar değişebilir</a:t>
                </a:r>
              </a:p>
            </p:txBody>
          </p:sp>
          <p:sp>
            <p:nvSpPr>
              <p:cNvPr id="47" name="TextBox 47"/>
              <p:cNvSpPr txBox="1"/>
              <p:nvPr/>
            </p:nvSpPr>
            <p:spPr>
              <a:xfrm>
                <a:off x="7421499" y="4497229"/>
                <a:ext cx="311619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Sayaç, geçici durum; gerçekten</a:t>
                </a:r>
                <a:br/>
                <a:r>
                  <a:rPr lang="tr-TR" sz="1580" dirty="0">
                    <a:solidFill>
                      <a:srgbClr val="172B3A"/>
                    </a:solidFill>
                    <a:latin typeface="+mn-lt"/>
                    <a:ea typeface="+mn-ea"/>
                    <a:cs typeface="+mn-cs"/>
                  </a:rPr>
                  <a:t>yeniden atanacak değerler</a:t>
                </a:r>
              </a:p>
            </p:txBody>
          </p:sp>
          <p:sp>
            <p:nvSpPr>
              <p:cNvPr id="48" name="TextBox 48"/>
              <p:cNvSpPr txBox="1"/>
              <p:nvPr/>
            </p:nvSpPr>
            <p:spPr>
              <a:xfrm>
                <a:off x="7421499" y="5316379"/>
                <a:ext cx="3286760"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Fonksiyon kapsamı; yalnızca eski</a:t>
                </a:r>
                <a:br/>
                <a:r>
                  <a:rPr lang="tr-TR" sz="1580" dirty="0">
                    <a:solidFill>
                      <a:srgbClr val="172B3A"/>
                    </a:solidFill>
                    <a:latin typeface="+mn-lt"/>
                    <a:ea typeface="+mn-ea"/>
                    <a:cs typeface="+mn-cs"/>
                  </a:rPr>
                  <a:t>kod tabanları, hata riski yüksek</a:t>
                </a:r>
              </a:p>
            </p:txBody>
          </p:sp>
        </p:grpSp>
      </p:grpSp>
      <p:grpSp>
        <p:nvGrpSpPr>
          <p:cNvPr id="53" name="footer"/>
          <p:cNvGrpSpPr/>
          <p:nvPr/>
        </p:nvGrpSpPr>
        <p:grpSpPr>
          <a:xfrm>
            <a:off x="565404" y="6404610"/>
            <a:ext cx="11061192" cy="234696"/>
            <a:chOff x="565404" y="6404610"/>
            <a:chExt cx="11061192" cy="234696"/>
          </a:xfrm>
        </p:grpSpPr>
        <p:sp>
          <p:nvSpPr>
            <p:cNvPr id="51" name="TextBox 51"/>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52" name="TextBox 52"/>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10"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9" name="Group 9"/>
              <p:cNvGrpSpPr/>
              <p:nvPr/>
            </p:nvGrpSpPr>
            <p:grpSpPr>
              <a:xfrm>
                <a:off x="739140" y="324326"/>
                <a:ext cx="236220" cy="265748"/>
                <a:chOff x="739140" y="324326"/>
                <a:chExt cx="236220" cy="265748"/>
              </a:xfrm>
            </p:grpSpPr>
            <p:sp>
              <p:nvSpPr>
                <p:cNvPr id="5" name="Freeform 5"/>
                <p:cNvSpPr/>
                <p:nvPr/>
              </p:nvSpPr>
              <p:spPr>
                <a:xfrm>
                  <a:off x="7391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572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572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391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61872" y="282892"/>
              <a:ext cx="8179328"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Modül: değişecek kararları gizleyen birim</a:t>
              </a:r>
            </a:p>
          </p:txBody>
        </p:sp>
      </p:grpSp>
      <p:grpSp>
        <p:nvGrpSpPr>
          <p:cNvPr id="23" name="parnas-module"/>
          <p:cNvGrpSpPr/>
          <p:nvPr/>
        </p:nvGrpSpPr>
        <p:grpSpPr>
          <a:xfrm>
            <a:off x="563499" y="1318260"/>
            <a:ext cx="5151501" cy="3925157"/>
            <a:chOff x="563499" y="1318260"/>
            <a:chExt cx="5151501" cy="3925157"/>
          </a:xfrm>
        </p:grpSpPr>
        <p:sp>
          <p:nvSpPr>
            <p:cNvPr id="13" name="TextBox 13"/>
            <p:cNvSpPr txBox="1"/>
            <p:nvPr/>
          </p:nvSpPr>
          <p:spPr>
            <a:xfrm>
              <a:off x="565404" y="1318260"/>
              <a:ext cx="94107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başka modül</a:t>
              </a:r>
            </a:p>
          </p:txBody>
        </p:sp>
        <p:sp>
          <p:nvSpPr>
            <p:cNvPr id="14" name="Line 14"/>
            <p:cNvSpPr/>
            <p:nvPr/>
          </p:nvSpPr>
          <p:spPr>
            <a:xfrm>
              <a:off x="1428750" y="1619250"/>
              <a:ext cx="1" cy="381000"/>
            </a:xfrm>
            <a:prstGeom prst="line">
              <a:avLst/>
            </a:prstGeom>
            <a:noFill/>
            <a:ln w="28575">
              <a:solidFill>
                <a:srgbClr val="00A6A6"/>
              </a:solidFill>
              <a:tailEnd type="triangle" w="lg" len="lg"/>
            </a:ln>
          </p:spPr>
        </p:sp>
        <p:sp>
          <p:nvSpPr>
            <p:cNvPr id="15" name="TextBox 15"/>
            <p:cNvSpPr txBox="1"/>
            <p:nvPr/>
          </p:nvSpPr>
          <p:spPr>
            <a:xfrm>
              <a:off x="1556004" y="1737360"/>
              <a:ext cx="53721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import</a:t>
              </a:r>
            </a:p>
          </p:txBody>
        </p:sp>
        <p:sp>
          <p:nvSpPr>
            <p:cNvPr id="16" name="Rectangle 16"/>
            <p:cNvSpPr/>
            <p:nvPr/>
          </p:nvSpPr>
          <p:spPr>
            <a:xfrm>
              <a:off x="571500" y="2038350"/>
              <a:ext cx="5143500" cy="2381250"/>
            </a:xfrm>
            <a:prstGeom prst="rect">
              <a:avLst/>
            </a:prstGeom>
            <a:solidFill>
              <a:srgbClr val="FFFFFF"/>
            </a:solidFill>
            <a:ln w="19050">
              <a:solidFill>
                <a:srgbClr val="12355B"/>
              </a:solidFill>
            </a:ln>
          </p:spPr>
        </p:sp>
        <p:sp>
          <p:nvSpPr>
            <p:cNvPr id="17" name="Rectangle 17"/>
            <p:cNvSpPr/>
            <p:nvPr/>
          </p:nvSpPr>
          <p:spPr>
            <a:xfrm>
              <a:off x="571500" y="2038350"/>
              <a:ext cx="5143500" cy="609600"/>
            </a:xfrm>
            <a:prstGeom prst="rect">
              <a:avLst/>
            </a:prstGeom>
            <a:solidFill>
              <a:srgbClr val="EAF4F6"/>
            </a:solidFill>
            <a:ln w="19050">
              <a:solidFill>
                <a:srgbClr val="12355B"/>
              </a:solidFill>
            </a:ln>
          </p:spPr>
        </p:sp>
        <p:sp>
          <p:nvSpPr>
            <p:cNvPr id="18" name="TextBox 18"/>
            <p:cNvSpPr txBox="1"/>
            <p:nvPr/>
          </p:nvSpPr>
          <p:spPr>
            <a:xfrm>
              <a:off x="790956" y="2225040"/>
              <a:ext cx="347856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export · dışa açılan arayüz</a:t>
              </a:r>
            </a:p>
          </p:txBody>
        </p:sp>
        <p:sp>
          <p:nvSpPr>
            <p:cNvPr id="19" name="Rectangle 19"/>
            <p:cNvSpPr/>
            <p:nvPr/>
          </p:nvSpPr>
          <p:spPr>
            <a:xfrm>
              <a:off x="857250" y="2876550"/>
              <a:ext cx="4572000" cy="1295400"/>
            </a:xfrm>
            <a:prstGeom prst="rect">
              <a:avLst/>
            </a:prstGeom>
            <a:noFill/>
            <a:ln w="19050">
              <a:solidFill>
                <a:srgbClr val="B8CBD3"/>
              </a:solidFill>
              <a:prstDash val="lgDash"/>
            </a:ln>
          </p:spPr>
        </p:sp>
        <p:sp>
          <p:nvSpPr>
            <p:cNvPr id="20" name="TextBox 20"/>
            <p:cNvSpPr txBox="1"/>
            <p:nvPr/>
          </p:nvSpPr>
          <p:spPr>
            <a:xfrm>
              <a:off x="1077849" y="3068479"/>
              <a:ext cx="2673684" cy="308039"/>
            </a:xfrm>
            <a:prstGeom prst="rect">
              <a:avLst/>
            </a:prstGeom>
            <a:noFill/>
            <a:ln>
              <a:noFill/>
            </a:ln>
          </p:spPr>
          <p:txBody>
            <a:bodyPr wrap="none" lIns="0" tIns="0" rIns="0" bIns="0" anchor="t" anchorCtr="0">
              <a:spAutoFit/>
            </a:bodyPr>
            <a:lstStyle/>
            <a:p>
              <a:pPr algn="l"/>
              <a:r>
                <a:rPr lang="tr-TR" sz="1580" b="1" dirty="0">
                  <a:solidFill>
                    <a:srgbClr val="52616B"/>
                  </a:solidFill>
                  <a:latin typeface="+mn-lt"/>
                  <a:ea typeface="+mn-ea"/>
                  <a:cs typeface="+mn-cs"/>
                </a:rPr>
                <a:t>gizli uygulama ayrıntısı</a:t>
              </a:r>
            </a:p>
          </p:txBody>
        </p:sp>
        <p:sp>
          <p:nvSpPr>
            <p:cNvPr id="21" name="TextBox 21"/>
            <p:cNvSpPr txBox="1"/>
            <p:nvPr/>
          </p:nvSpPr>
          <p:spPr>
            <a:xfrm>
              <a:off x="1077849" y="3392329"/>
              <a:ext cx="361784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veri kaynağı, algoritma, yardımcı</a:t>
              </a:r>
              <a:br/>
              <a:r>
                <a:rPr lang="tr-TR" sz="1580" dirty="0">
                  <a:solidFill>
                    <a:srgbClr val="52616B"/>
                  </a:solidFill>
                  <a:latin typeface="+mn-lt"/>
                  <a:ea typeface="+mn-ea"/>
                  <a:cs typeface="+mn-cs"/>
                </a:rPr>
                <a:t>değerler: değişirse dışarı yansımaz</a:t>
              </a:r>
            </a:p>
          </p:txBody>
        </p:sp>
        <p:sp>
          <p:nvSpPr>
            <p:cNvPr id="22" name="TextBox 22"/>
            <p:cNvSpPr txBox="1"/>
            <p:nvPr/>
          </p:nvSpPr>
          <p:spPr>
            <a:xfrm>
              <a:off x="563499" y="4649629"/>
              <a:ext cx="5012436" cy="593788"/>
            </a:xfrm>
            <a:prstGeom prst="rect">
              <a:avLst/>
            </a:prstGeom>
            <a:noFill/>
            <a:ln>
              <a:noFill/>
            </a:ln>
          </p:spPr>
          <p:txBody>
            <a:bodyPr wrap="none" lIns="0" tIns="0" rIns="0" bIns="0" anchor="t" anchorCtr="0">
              <a:spAutoFit/>
            </a:bodyPr>
            <a:lstStyle/>
            <a:p>
              <a:pPr algn="l">
                <a:lnSpc>
                  <a:spcPts val="2250"/>
                </a:lnSpc>
              </a:pPr>
              <a:r>
                <a:rPr lang="tr-TR" sz="1580" b="1" dirty="0">
                  <a:solidFill>
                    <a:srgbClr val="12355B"/>
                  </a:solidFill>
                  <a:latin typeface="+mn-lt"/>
                  <a:ea typeface="+mn-ea"/>
                  <a:cs typeface="+mn-cs"/>
                </a:rPr>
                <a:t xml:space="preserve">Parnas (1972): </a:t>
              </a:r>
              <a:r>
                <a:rPr lang="tr-TR" sz="1580" dirty="0">
                  <a:solidFill>
                    <a:srgbClr val="172B3A"/>
                  </a:solidFill>
                  <a:latin typeface="+mn-lt"/>
                  <a:ea typeface="+mn-ea"/>
                  <a:cs typeface="+mn-cs"/>
                </a:rPr>
                <a:t>ayırma ölçütü işlem akışı değil,</a:t>
              </a:r>
              <a:br/>
              <a:r>
                <a:rPr lang="tr-TR" sz="1580" dirty="0">
                  <a:solidFill>
                    <a:srgbClr val="172B3A"/>
                  </a:solidFill>
                  <a:latin typeface="+mn-lt"/>
                  <a:ea typeface="+mn-ea"/>
                  <a:cs typeface="+mn-cs"/>
                </a:rPr>
                <a:t>değişme olasılığı yüksek kararların gizlenmesidir.</a:t>
              </a:r>
            </a:p>
          </p:txBody>
        </p:sp>
      </p:grpSp>
      <p:grpSp>
        <p:nvGrpSpPr>
          <p:cNvPr id="48" name="cjs-esm"/>
          <p:cNvGrpSpPr/>
          <p:nvPr/>
        </p:nvGrpSpPr>
        <p:grpSpPr>
          <a:xfrm>
            <a:off x="6278499" y="1238250"/>
            <a:ext cx="5342001" cy="4157568"/>
            <a:chOff x="6278499" y="1238250"/>
            <a:chExt cx="5342001" cy="4157568"/>
          </a:xfrm>
        </p:grpSpPr>
        <p:sp>
          <p:nvSpPr>
            <p:cNvPr id="24" name="Rectangle 24"/>
            <p:cNvSpPr/>
            <p:nvPr/>
          </p:nvSpPr>
          <p:spPr>
            <a:xfrm>
              <a:off x="6286500" y="1238250"/>
              <a:ext cx="2571750" cy="533400"/>
            </a:xfrm>
            <a:prstGeom prst="rect">
              <a:avLst/>
            </a:prstGeom>
            <a:solidFill>
              <a:srgbClr val="52616B"/>
            </a:solidFill>
            <a:ln>
              <a:noFill/>
            </a:ln>
          </p:spPr>
        </p:sp>
        <p:sp>
          <p:nvSpPr>
            <p:cNvPr id="25" name="Rectangle 25"/>
            <p:cNvSpPr/>
            <p:nvPr/>
          </p:nvSpPr>
          <p:spPr>
            <a:xfrm>
              <a:off x="9048750" y="1238250"/>
              <a:ext cx="2571750" cy="533400"/>
            </a:xfrm>
            <a:prstGeom prst="rect">
              <a:avLst/>
            </a:prstGeom>
            <a:solidFill>
              <a:srgbClr val="12355B"/>
            </a:solidFill>
            <a:ln>
              <a:noFill/>
            </a:ln>
          </p:spPr>
        </p:sp>
        <p:grpSp>
          <p:nvGrpSpPr>
            <p:cNvPr id="28" name="Group 28"/>
            <p:cNvGrpSpPr/>
            <p:nvPr/>
          </p:nvGrpSpPr>
          <p:grpSpPr>
            <a:xfrm>
              <a:off x="6939633" y="1386840"/>
              <a:ext cx="4078140" cy="352044"/>
              <a:chOff x="6939633" y="1386840"/>
              <a:chExt cx="4078140" cy="352044"/>
            </a:xfrm>
          </p:grpSpPr>
          <p:sp>
            <p:nvSpPr>
              <p:cNvPr id="26" name="TextBox 26"/>
              <p:cNvSpPr txBox="1"/>
              <p:nvPr/>
            </p:nvSpPr>
            <p:spPr>
              <a:xfrm>
                <a:off x="6939633" y="1386840"/>
                <a:ext cx="1265484" cy="352044"/>
              </a:xfrm>
              <a:prstGeom prst="rect">
                <a:avLst/>
              </a:prstGeom>
              <a:noFill/>
              <a:ln>
                <a:noFill/>
              </a:ln>
            </p:spPr>
            <p:txBody>
              <a:bodyPr wrap="none" lIns="0" tIns="0" rIns="0" bIns="0" anchor="t" anchorCtr="0">
                <a:spAutoFit/>
              </a:bodyPr>
              <a:lstStyle/>
              <a:p>
                <a:pPr algn="ctr"/>
                <a:r>
                  <a:rPr lang="tr-TR" sz="1800" b="1" dirty="0">
                    <a:solidFill>
                      <a:srgbClr val="F7FAFC"/>
                    </a:solidFill>
                    <a:latin typeface="+mn-lt"/>
                    <a:ea typeface="+mn-ea"/>
                    <a:cs typeface="+mn-cs"/>
                  </a:rPr>
                  <a:t>CommonJS</a:t>
                </a:r>
              </a:p>
            </p:txBody>
          </p:sp>
          <p:sp>
            <p:nvSpPr>
              <p:cNvPr id="27" name="TextBox 27"/>
              <p:cNvSpPr txBox="1"/>
              <p:nvPr/>
            </p:nvSpPr>
            <p:spPr>
              <a:xfrm>
                <a:off x="9651477" y="1386840"/>
                <a:ext cx="1366296" cy="352044"/>
              </a:xfrm>
              <a:prstGeom prst="rect">
                <a:avLst/>
              </a:prstGeom>
              <a:noFill/>
              <a:ln>
                <a:noFill/>
              </a:ln>
            </p:spPr>
            <p:txBody>
              <a:bodyPr wrap="none" lIns="0" tIns="0" rIns="0" bIns="0" anchor="t" anchorCtr="0">
                <a:spAutoFit/>
              </a:bodyPr>
              <a:lstStyle/>
              <a:p>
                <a:pPr algn="ctr"/>
                <a:r>
                  <a:rPr lang="tr-TR" sz="1800" b="1" dirty="0">
                    <a:solidFill>
                      <a:srgbClr val="F7FAFC"/>
                    </a:solidFill>
                    <a:latin typeface="+mn-lt"/>
                    <a:ea typeface="+mn-ea"/>
                    <a:cs typeface="+mn-cs"/>
                  </a:rPr>
                  <a:t>ES Modules</a:t>
                </a:r>
              </a:p>
            </p:txBody>
          </p:sp>
        </p:grpSp>
        <p:grpSp>
          <p:nvGrpSpPr>
            <p:cNvPr id="32" name="Group 32"/>
            <p:cNvGrpSpPr/>
            <p:nvPr/>
          </p:nvGrpSpPr>
          <p:grpSpPr>
            <a:xfrm>
              <a:off x="6280404" y="1965960"/>
              <a:ext cx="971032" cy="2330196"/>
              <a:chOff x="6280404" y="1965960"/>
              <a:chExt cx="971032" cy="2330196"/>
            </a:xfrm>
          </p:grpSpPr>
          <p:sp>
            <p:nvSpPr>
              <p:cNvPr id="29" name="TextBox 29"/>
              <p:cNvSpPr txBox="1"/>
              <p:nvPr/>
            </p:nvSpPr>
            <p:spPr>
              <a:xfrm>
                <a:off x="6280404" y="1965960"/>
                <a:ext cx="935187"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SÖZDİZİMİ</a:t>
                </a:r>
              </a:p>
            </p:txBody>
          </p:sp>
          <p:sp>
            <p:nvSpPr>
              <p:cNvPr id="30" name="TextBox 30"/>
              <p:cNvSpPr txBox="1"/>
              <p:nvPr/>
            </p:nvSpPr>
            <p:spPr>
              <a:xfrm>
                <a:off x="6280404" y="2956560"/>
                <a:ext cx="971032"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ÇÖZÜMLEME</a:t>
                </a:r>
              </a:p>
            </p:txBody>
          </p:sp>
          <p:sp>
            <p:nvSpPr>
              <p:cNvPr id="31" name="TextBox 31"/>
              <p:cNvSpPr txBox="1"/>
              <p:nvPr/>
            </p:nvSpPr>
            <p:spPr>
              <a:xfrm>
                <a:off x="6280404" y="4061460"/>
                <a:ext cx="505054"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KÖKEN</a:t>
                </a:r>
              </a:p>
            </p:txBody>
          </p:sp>
        </p:grpSp>
        <p:grpSp>
          <p:nvGrpSpPr>
            <p:cNvPr id="36" name="Group 36"/>
            <p:cNvGrpSpPr/>
            <p:nvPr/>
          </p:nvGrpSpPr>
          <p:grpSpPr>
            <a:xfrm>
              <a:off x="6286500" y="1943100"/>
              <a:ext cx="5334000" cy="3390900"/>
              <a:chOff x="6286500" y="1943100"/>
              <a:chExt cx="5334000" cy="3390900"/>
            </a:xfrm>
          </p:grpSpPr>
          <p:sp>
            <p:nvSpPr>
              <p:cNvPr id="33" name="Line 33"/>
              <p:cNvSpPr/>
              <p:nvPr/>
            </p:nvSpPr>
            <p:spPr>
              <a:xfrm>
                <a:off x="6286500" y="2838450"/>
                <a:ext cx="5334000" cy="9525"/>
              </a:xfrm>
              <a:custGeom>
                <a:avLst/>
                <a:gdLst/>
                <a:ahLst/>
                <a:cxnLst/>
                <a:rect l="l" t="t" r="r" b="b"/>
                <a:pathLst>
                  <a:path w="5334000" h="9525">
                    <a:moveTo>
                      <a:pt x="0" y="0"/>
                    </a:moveTo>
                    <a:lnTo>
                      <a:pt x="5334000" y="0"/>
                    </a:lnTo>
                  </a:path>
                </a:pathLst>
              </a:custGeom>
              <a:noFill/>
              <a:ln w="19050">
                <a:solidFill>
                  <a:srgbClr val="B8CBD3"/>
                </a:solidFill>
              </a:ln>
            </p:spPr>
          </p:sp>
          <p:sp>
            <p:nvSpPr>
              <p:cNvPr id="34" name="Line 34"/>
              <p:cNvSpPr/>
              <p:nvPr/>
            </p:nvSpPr>
            <p:spPr>
              <a:xfrm>
                <a:off x="6286500" y="3943350"/>
                <a:ext cx="5334000" cy="9525"/>
              </a:xfrm>
              <a:custGeom>
                <a:avLst/>
                <a:gdLst/>
                <a:ahLst/>
                <a:cxnLst/>
                <a:rect l="l" t="t" r="r" b="b"/>
                <a:pathLst>
                  <a:path w="5334000" h="9525">
                    <a:moveTo>
                      <a:pt x="0" y="0"/>
                    </a:moveTo>
                    <a:lnTo>
                      <a:pt x="5334000" y="0"/>
                    </a:lnTo>
                  </a:path>
                </a:pathLst>
              </a:custGeom>
              <a:noFill/>
              <a:ln w="19050">
                <a:solidFill>
                  <a:srgbClr val="B8CBD3"/>
                </a:solidFill>
              </a:ln>
            </p:spPr>
          </p:sp>
          <p:sp>
            <p:nvSpPr>
              <p:cNvPr id="35" name="Line 35"/>
              <p:cNvSpPr/>
              <p:nvPr/>
            </p:nvSpPr>
            <p:spPr>
              <a:xfrm>
                <a:off x="8953500" y="1943100"/>
                <a:ext cx="9525" cy="3390900"/>
              </a:xfrm>
              <a:custGeom>
                <a:avLst/>
                <a:gdLst/>
                <a:ahLst/>
                <a:cxnLst/>
                <a:rect l="l" t="t" r="r" b="b"/>
                <a:pathLst>
                  <a:path w="9525" h="3390900">
                    <a:moveTo>
                      <a:pt x="0" y="0"/>
                    </a:moveTo>
                    <a:lnTo>
                      <a:pt x="0" y="3390900"/>
                    </a:lnTo>
                  </a:path>
                </a:pathLst>
              </a:custGeom>
              <a:noFill/>
              <a:ln w="19050">
                <a:solidFill>
                  <a:srgbClr val="B8CBD3"/>
                </a:solidFill>
              </a:ln>
            </p:spPr>
          </p:sp>
        </p:grpSp>
        <p:grpSp>
          <p:nvGrpSpPr>
            <p:cNvPr id="41" name="Group 41"/>
            <p:cNvGrpSpPr/>
            <p:nvPr/>
          </p:nvGrpSpPr>
          <p:grpSpPr>
            <a:xfrm>
              <a:off x="6278880" y="2238375"/>
              <a:ext cx="3501009" cy="560070"/>
              <a:chOff x="6278880" y="2238375"/>
              <a:chExt cx="3501009" cy="560070"/>
            </a:xfrm>
          </p:grpSpPr>
          <p:sp>
            <p:nvSpPr>
              <p:cNvPr id="37" name="TextBox 37"/>
              <p:cNvSpPr txBox="1"/>
              <p:nvPr/>
            </p:nvSpPr>
            <p:spPr>
              <a:xfrm>
                <a:off x="6278880" y="2238375"/>
                <a:ext cx="792670"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require</a:t>
                </a:r>
              </a:p>
            </p:txBody>
          </p:sp>
          <p:sp>
            <p:nvSpPr>
              <p:cNvPr id="38" name="TextBox 38"/>
              <p:cNvSpPr txBox="1"/>
              <p:nvPr/>
            </p:nvSpPr>
            <p:spPr>
              <a:xfrm>
                <a:off x="6278880" y="2505075"/>
                <a:ext cx="1570101"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module.exports</a:t>
                </a:r>
              </a:p>
            </p:txBody>
          </p:sp>
          <p:sp>
            <p:nvSpPr>
              <p:cNvPr id="39" name="TextBox 39"/>
              <p:cNvSpPr txBox="1"/>
              <p:nvPr/>
            </p:nvSpPr>
            <p:spPr>
              <a:xfrm>
                <a:off x="9098280" y="2238375"/>
                <a:ext cx="681609"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import</a:t>
                </a:r>
              </a:p>
            </p:txBody>
          </p:sp>
          <p:sp>
            <p:nvSpPr>
              <p:cNvPr id="40" name="TextBox 40"/>
              <p:cNvSpPr txBox="1"/>
              <p:nvPr/>
            </p:nvSpPr>
            <p:spPr>
              <a:xfrm>
                <a:off x="9098280" y="2505075"/>
                <a:ext cx="681609"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export</a:t>
                </a:r>
              </a:p>
            </p:txBody>
          </p:sp>
        </p:grpSp>
        <p:grpSp>
          <p:nvGrpSpPr>
            <p:cNvPr id="46" name="Group 46"/>
            <p:cNvGrpSpPr/>
            <p:nvPr/>
          </p:nvGrpSpPr>
          <p:grpSpPr>
            <a:xfrm>
              <a:off x="6278499" y="3220879"/>
              <a:ext cx="5163058" cy="1679638"/>
              <a:chOff x="6278499" y="3220879"/>
              <a:chExt cx="5163058" cy="1679638"/>
            </a:xfrm>
          </p:grpSpPr>
          <p:sp>
            <p:nvSpPr>
              <p:cNvPr id="42" name="TextBox 42"/>
              <p:cNvSpPr txBox="1"/>
              <p:nvPr/>
            </p:nvSpPr>
            <p:spPr>
              <a:xfrm>
                <a:off x="6278499" y="3220879"/>
                <a:ext cx="1982470"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çalışma zamanında,</a:t>
                </a:r>
                <a:br/>
                <a:r>
                  <a:rPr lang="tr-TR" sz="1580" dirty="0">
                    <a:solidFill>
                      <a:srgbClr val="172B3A"/>
                    </a:solidFill>
                    <a:latin typeface="+mn-lt"/>
                    <a:ea typeface="+mn-ea"/>
                    <a:cs typeface="+mn-cs"/>
                  </a:rPr>
                  <a:t>dinamik çözülür</a:t>
                </a:r>
              </a:p>
            </p:txBody>
          </p:sp>
          <p:sp>
            <p:nvSpPr>
              <p:cNvPr id="43" name="TextBox 43"/>
              <p:cNvSpPr txBox="1"/>
              <p:nvPr/>
            </p:nvSpPr>
            <p:spPr>
              <a:xfrm>
                <a:off x="9097899" y="3220879"/>
                <a:ext cx="2343658"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statik çözülür: derleme</a:t>
                </a:r>
                <a:br/>
                <a:r>
                  <a:rPr lang="tr-TR" sz="1580" dirty="0">
                    <a:solidFill>
                      <a:srgbClr val="172B3A"/>
                    </a:solidFill>
                    <a:latin typeface="+mn-lt"/>
                    <a:ea typeface="+mn-ea"/>
                    <a:cs typeface="+mn-cs"/>
                  </a:rPr>
                  <a:t>ya da paketleme anında</a:t>
                </a:r>
              </a:p>
            </p:txBody>
          </p:sp>
          <p:sp>
            <p:nvSpPr>
              <p:cNvPr id="44" name="TextBox 44"/>
              <p:cNvSpPr txBox="1"/>
              <p:nvPr/>
            </p:nvSpPr>
            <p:spPr>
              <a:xfrm>
                <a:off x="6278499" y="4325779"/>
                <a:ext cx="161124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Node.js, 2009</a:t>
                </a:r>
                <a:br/>
                <a:r>
                  <a:rPr lang="tr-TR" sz="1580" dirty="0">
                    <a:solidFill>
                      <a:srgbClr val="172B3A"/>
                    </a:solidFill>
                    <a:latin typeface="+mn-lt"/>
                    <a:ea typeface="+mn-ea"/>
                    <a:cs typeface="+mn-cs"/>
                  </a:rPr>
                  <a:t>senkron yükleme</a:t>
                </a:r>
              </a:p>
            </p:txBody>
          </p:sp>
          <p:sp>
            <p:nvSpPr>
              <p:cNvPr id="45" name="TextBox 45"/>
              <p:cNvSpPr txBox="1"/>
              <p:nvPr/>
            </p:nvSpPr>
            <p:spPr>
              <a:xfrm>
                <a:off x="9097899" y="4325779"/>
                <a:ext cx="2183130"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ECMAScript 2015</a:t>
                </a:r>
                <a:br/>
                <a:r>
                  <a:rPr lang="tr-TR" sz="1580" dirty="0">
                    <a:solidFill>
                      <a:srgbClr val="172B3A"/>
                    </a:solidFill>
                    <a:latin typeface="+mn-lt"/>
                    <a:ea typeface="+mn-ea"/>
                    <a:cs typeface="+mn-cs"/>
                  </a:rPr>
                  <a:t>tarayıcıda da çalışır</a:t>
                </a:r>
              </a:p>
            </p:txBody>
          </p:sp>
        </p:grpSp>
        <p:sp>
          <p:nvSpPr>
            <p:cNvPr id="47" name="TextBox 47"/>
            <p:cNvSpPr txBox="1"/>
            <p:nvPr/>
          </p:nvSpPr>
          <p:spPr>
            <a:xfrm>
              <a:off x="9097899" y="5087779"/>
              <a:ext cx="2249348"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tree-shaking güvenli</a:t>
              </a:r>
            </a:p>
          </p:txBody>
        </p:sp>
      </p:grpSp>
      <p:grpSp>
        <p:nvGrpSpPr>
          <p:cNvPr id="51" name="why-modules"/>
          <p:cNvGrpSpPr/>
          <p:nvPr/>
        </p:nvGrpSpPr>
        <p:grpSpPr>
          <a:xfrm>
            <a:off x="571500" y="5676900"/>
            <a:ext cx="11049000" cy="514350"/>
            <a:chOff x="571500" y="5676900"/>
            <a:chExt cx="11049000" cy="514350"/>
          </a:xfrm>
        </p:grpSpPr>
        <p:sp>
          <p:nvSpPr>
            <p:cNvPr id="49" name="Rectangle 49"/>
            <p:cNvSpPr/>
            <p:nvPr/>
          </p:nvSpPr>
          <p:spPr>
            <a:xfrm>
              <a:off x="571500" y="5676900"/>
              <a:ext cx="11049000" cy="514350"/>
            </a:xfrm>
            <a:prstGeom prst="rect">
              <a:avLst/>
            </a:prstGeom>
            <a:solidFill>
              <a:srgbClr val="EAF4F6"/>
            </a:solidFill>
            <a:ln>
              <a:noFill/>
            </a:ln>
          </p:spPr>
        </p:sp>
        <p:sp>
          <p:nvSpPr>
            <p:cNvPr id="50" name="TextBox 50"/>
            <p:cNvSpPr txBox="1"/>
            <p:nvPr/>
          </p:nvSpPr>
          <p:spPr>
            <a:xfrm>
              <a:off x="792099" y="5840254"/>
              <a:ext cx="966308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xml:space="preserve">Neden? </a:t>
              </a:r>
              <a:r>
                <a:rPr lang="tr-TR" sz="1580" dirty="0">
                  <a:solidFill>
                    <a:srgbClr val="172B3A"/>
                  </a:solidFill>
                  <a:latin typeface="+mn-lt"/>
                  <a:ea typeface="+mn-ea"/>
                  <a:cs typeface="+mn-cs"/>
                </a:rPr>
                <a:t>Export edilmeyen değer dışarıdan görünmez; global kirlilik ve isim çakışması azalır.</a:t>
              </a:r>
            </a:p>
          </p:txBody>
        </p:sp>
      </p:grpSp>
      <p:grpSp>
        <p:nvGrpSpPr>
          <p:cNvPr id="54" name="footer"/>
          <p:cNvGrpSpPr/>
          <p:nvPr/>
        </p:nvGrpSpPr>
        <p:grpSpPr>
          <a:xfrm>
            <a:off x="565404" y="6404610"/>
            <a:ext cx="11061192" cy="234696"/>
            <a:chOff x="565404" y="6404610"/>
            <a:chExt cx="11061192" cy="234696"/>
          </a:xfrm>
        </p:grpSpPr>
        <p:sp>
          <p:nvSpPr>
            <p:cNvPr id="52" name="TextBox 52"/>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53" name="TextBox 53"/>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2"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10"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9" name="Group 9"/>
              <p:cNvGrpSpPr/>
              <p:nvPr/>
            </p:nvGrpSpPr>
            <p:grpSpPr>
              <a:xfrm>
                <a:off x="739140" y="324326"/>
                <a:ext cx="236220" cy="265748"/>
                <a:chOff x="739140" y="324326"/>
                <a:chExt cx="236220" cy="265748"/>
              </a:xfrm>
            </p:grpSpPr>
            <p:sp>
              <p:nvSpPr>
                <p:cNvPr id="5" name="Freeform 5"/>
                <p:cNvSpPr/>
                <p:nvPr/>
              </p:nvSpPr>
              <p:spPr>
                <a:xfrm>
                  <a:off x="7391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572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572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391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61872" y="282892"/>
              <a:ext cx="9025900"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Katmanlı modüller: bağımlılık tek yönde akar</a:t>
              </a:r>
            </a:p>
          </p:txBody>
        </p:sp>
      </p:grpSp>
      <p:grpSp>
        <p:nvGrpSpPr>
          <p:cNvPr id="46" name="layer-chain"/>
          <p:cNvGrpSpPr/>
          <p:nvPr/>
        </p:nvGrpSpPr>
        <p:grpSpPr>
          <a:xfrm>
            <a:off x="571500" y="1257300"/>
            <a:ext cx="11049000" cy="3395568"/>
            <a:chOff x="571500" y="1257300"/>
            <a:chExt cx="11049000" cy="3395568"/>
          </a:xfrm>
        </p:grpSpPr>
        <p:sp>
          <p:nvSpPr>
            <p:cNvPr id="13" name="Freeform 13"/>
            <p:cNvSpPr/>
            <p:nvPr/>
          </p:nvSpPr>
          <p:spPr>
            <a:xfrm>
              <a:off x="2190750" y="1390650"/>
              <a:ext cx="7810500" cy="381000"/>
            </a:xfrm>
            <a:custGeom>
              <a:avLst/>
              <a:gdLst/>
              <a:ahLst/>
              <a:cxnLst/>
              <a:rect l="l" t="t" r="r" b="b"/>
              <a:pathLst>
                <a:path w="7810500" h="381000">
                  <a:moveTo>
                    <a:pt x="0" y="381000"/>
                  </a:moveTo>
                  <a:lnTo>
                    <a:pt x="0" y="0"/>
                  </a:lnTo>
                  <a:lnTo>
                    <a:pt x="7810500" y="0"/>
                  </a:lnTo>
                  <a:lnTo>
                    <a:pt x="7810500" y="323850"/>
                  </a:lnTo>
                </a:path>
              </a:pathLst>
            </a:custGeom>
            <a:noFill/>
            <a:ln w="19050">
              <a:solidFill>
                <a:srgbClr val="52616B"/>
              </a:solidFill>
              <a:prstDash val="lgDash"/>
              <a:tailEnd type="triangle" w="lg" len="lg"/>
            </a:ln>
          </p:spPr>
        </p:sp>
        <p:sp>
          <p:nvSpPr>
            <p:cNvPr id="14" name="Rectangle 14"/>
            <p:cNvSpPr/>
            <p:nvPr/>
          </p:nvSpPr>
          <p:spPr>
            <a:xfrm>
              <a:off x="3429000" y="1257300"/>
              <a:ext cx="5334000" cy="266700"/>
            </a:xfrm>
            <a:prstGeom prst="rect">
              <a:avLst/>
            </a:prstGeom>
            <a:solidFill>
              <a:srgbClr val="F7FAFC"/>
            </a:solidFill>
            <a:ln>
              <a:noFill/>
            </a:ln>
          </p:spPr>
        </p:sp>
        <p:sp>
          <p:nvSpPr>
            <p:cNvPr id="15" name="TextBox 15"/>
            <p:cNvSpPr txBox="1"/>
            <p:nvPr/>
          </p:nvSpPr>
          <p:spPr>
            <a:xfrm>
              <a:off x="4058690" y="1318260"/>
              <a:ext cx="4074620" cy="234696"/>
            </a:xfrm>
            <a:prstGeom prst="rect">
              <a:avLst/>
            </a:prstGeom>
            <a:noFill/>
            <a:ln>
              <a:noFill/>
            </a:ln>
          </p:spPr>
          <p:txBody>
            <a:bodyPr wrap="none" lIns="0" tIns="0" rIns="0" bIns="0" anchor="t" anchorCtr="0">
              <a:spAutoFit/>
            </a:bodyPr>
            <a:lstStyle/>
            <a:p>
              <a:pPr algn="ctr"/>
              <a:r>
                <a:rPr lang="tr-TR" sz="1200" b="1" dirty="0">
                  <a:solidFill>
                    <a:srgbClr val="52616B"/>
                  </a:solidFill>
                  <a:latin typeface="+mn-lt"/>
                  <a:ea typeface="+mn-ea"/>
                  <a:cs typeface="+mn-cs"/>
                </a:rPr>
                <a:t>✗ giriş modülü veri deposuna doğrudan bağlanmaz</a:t>
              </a:r>
            </a:p>
          </p:txBody>
        </p:sp>
        <p:grpSp>
          <p:nvGrpSpPr>
            <p:cNvPr id="18" name="Group 18"/>
            <p:cNvGrpSpPr/>
            <p:nvPr/>
          </p:nvGrpSpPr>
          <p:grpSpPr>
            <a:xfrm>
              <a:off x="3810000" y="2381250"/>
              <a:ext cx="4533900" cy="1"/>
              <a:chOff x="3810000" y="2381250"/>
              <a:chExt cx="4533900" cy="1"/>
            </a:xfrm>
          </p:grpSpPr>
          <p:sp>
            <p:nvSpPr>
              <p:cNvPr id="16" name="Line 16"/>
              <p:cNvSpPr/>
              <p:nvPr/>
            </p:nvSpPr>
            <p:spPr>
              <a:xfrm>
                <a:off x="3810000" y="2381250"/>
                <a:ext cx="628650" cy="1"/>
              </a:xfrm>
              <a:prstGeom prst="line">
                <a:avLst/>
              </a:prstGeom>
              <a:noFill/>
              <a:ln w="28575">
                <a:solidFill>
                  <a:srgbClr val="00A6A6"/>
                </a:solidFill>
                <a:tailEnd type="triangle" w="lg" len="lg"/>
              </a:ln>
            </p:spPr>
          </p:sp>
          <p:sp>
            <p:nvSpPr>
              <p:cNvPr id="17" name="Line 17"/>
              <p:cNvSpPr/>
              <p:nvPr/>
            </p:nvSpPr>
            <p:spPr>
              <a:xfrm>
                <a:off x="7715250" y="2381250"/>
                <a:ext cx="628650" cy="1"/>
              </a:xfrm>
              <a:prstGeom prst="line">
                <a:avLst/>
              </a:prstGeom>
              <a:noFill/>
              <a:ln w="28575">
                <a:solidFill>
                  <a:srgbClr val="00A6A6"/>
                </a:solidFill>
                <a:tailEnd type="triangle" w="lg" len="lg"/>
              </a:ln>
            </p:spPr>
          </p:sp>
        </p:grpSp>
        <p:grpSp>
          <p:nvGrpSpPr>
            <p:cNvPr id="21" name="Group 21"/>
            <p:cNvGrpSpPr/>
            <p:nvPr/>
          </p:nvGrpSpPr>
          <p:grpSpPr>
            <a:xfrm>
              <a:off x="3855720" y="2137410"/>
              <a:ext cx="4442460" cy="234696"/>
              <a:chOff x="3855720" y="2137410"/>
              <a:chExt cx="4442460" cy="234696"/>
            </a:xfrm>
          </p:grpSpPr>
          <p:sp>
            <p:nvSpPr>
              <p:cNvPr id="19" name="TextBox 19"/>
              <p:cNvSpPr txBox="1"/>
              <p:nvPr/>
            </p:nvSpPr>
            <p:spPr>
              <a:xfrm>
                <a:off x="3855720" y="2137410"/>
                <a:ext cx="537210" cy="234696"/>
              </a:xfrm>
              <a:prstGeom prst="rect">
                <a:avLst/>
              </a:prstGeom>
              <a:noFill/>
              <a:ln>
                <a:noFill/>
              </a:ln>
            </p:spPr>
            <p:txBody>
              <a:bodyPr wrap="none" lIns="0" tIns="0" rIns="0" bIns="0" anchor="t" anchorCtr="0">
                <a:spAutoFit/>
              </a:bodyPr>
              <a:lstStyle/>
              <a:p>
                <a:pPr algn="ctr"/>
                <a:r>
                  <a:rPr lang="tr-TR" sz="1200" dirty="0">
                    <a:solidFill>
                      <a:srgbClr val="00A6A6"/>
                    </a:solidFill>
                    <a:latin typeface="+mn-lt"/>
                    <a:ea typeface="+mn-ea"/>
                    <a:cs typeface="+mn-cs"/>
                  </a:rPr>
                  <a:t>import</a:t>
                </a:r>
              </a:p>
            </p:txBody>
          </p:sp>
          <p:sp>
            <p:nvSpPr>
              <p:cNvPr id="20" name="TextBox 20"/>
              <p:cNvSpPr txBox="1"/>
              <p:nvPr/>
            </p:nvSpPr>
            <p:spPr>
              <a:xfrm>
                <a:off x="7760970" y="2137410"/>
                <a:ext cx="537210" cy="234696"/>
              </a:xfrm>
              <a:prstGeom prst="rect">
                <a:avLst/>
              </a:prstGeom>
              <a:noFill/>
              <a:ln>
                <a:noFill/>
              </a:ln>
            </p:spPr>
            <p:txBody>
              <a:bodyPr wrap="none" lIns="0" tIns="0" rIns="0" bIns="0" anchor="t" anchorCtr="0">
                <a:spAutoFit/>
              </a:bodyPr>
              <a:lstStyle/>
              <a:p>
                <a:pPr algn="ctr"/>
                <a:r>
                  <a:rPr lang="tr-TR" sz="1200" dirty="0">
                    <a:solidFill>
                      <a:srgbClr val="00A6A6"/>
                    </a:solidFill>
                    <a:latin typeface="+mn-lt"/>
                    <a:ea typeface="+mn-ea"/>
                    <a:cs typeface="+mn-cs"/>
                  </a:rPr>
                  <a:t>import</a:t>
                </a:r>
              </a:p>
            </p:txBody>
          </p:sp>
        </p:grpSp>
        <p:grpSp>
          <p:nvGrpSpPr>
            <p:cNvPr id="25" name="Group 25"/>
            <p:cNvGrpSpPr/>
            <p:nvPr/>
          </p:nvGrpSpPr>
          <p:grpSpPr>
            <a:xfrm>
              <a:off x="571500" y="1809750"/>
              <a:ext cx="11049000" cy="2286000"/>
              <a:chOff x="571500" y="1809750"/>
              <a:chExt cx="11049000" cy="2286000"/>
            </a:xfrm>
          </p:grpSpPr>
          <p:sp>
            <p:nvSpPr>
              <p:cNvPr id="22" name="Rectangle 22"/>
              <p:cNvSpPr/>
              <p:nvPr/>
            </p:nvSpPr>
            <p:spPr>
              <a:xfrm>
                <a:off x="571500" y="1809750"/>
                <a:ext cx="3238500" cy="2286000"/>
              </a:xfrm>
              <a:prstGeom prst="rect">
                <a:avLst/>
              </a:prstGeom>
              <a:solidFill>
                <a:srgbClr val="FFFFFF"/>
              </a:solidFill>
              <a:ln w="19050">
                <a:solidFill>
                  <a:srgbClr val="2E86AB"/>
                </a:solidFill>
              </a:ln>
            </p:spPr>
          </p:sp>
          <p:sp>
            <p:nvSpPr>
              <p:cNvPr id="23" name="Rectangle 23"/>
              <p:cNvSpPr/>
              <p:nvPr/>
            </p:nvSpPr>
            <p:spPr>
              <a:xfrm>
                <a:off x="4476750" y="1809750"/>
                <a:ext cx="3238500" cy="2286000"/>
              </a:xfrm>
              <a:prstGeom prst="rect">
                <a:avLst/>
              </a:prstGeom>
              <a:solidFill>
                <a:srgbClr val="FFFFFF"/>
              </a:solidFill>
              <a:ln w="19050">
                <a:solidFill>
                  <a:srgbClr val="2E86AB"/>
                </a:solidFill>
              </a:ln>
            </p:spPr>
          </p:sp>
          <p:sp>
            <p:nvSpPr>
              <p:cNvPr id="24" name="Rectangle 24"/>
              <p:cNvSpPr/>
              <p:nvPr/>
            </p:nvSpPr>
            <p:spPr>
              <a:xfrm>
                <a:off x="8382000" y="1809750"/>
                <a:ext cx="3238500" cy="2286000"/>
              </a:xfrm>
              <a:prstGeom prst="rect">
                <a:avLst/>
              </a:prstGeom>
              <a:solidFill>
                <a:srgbClr val="FFFFFF"/>
              </a:solidFill>
              <a:ln w="19050">
                <a:solidFill>
                  <a:srgbClr val="2E86AB"/>
                </a:solidFill>
              </a:ln>
            </p:spPr>
          </p:sp>
        </p:grpSp>
        <p:grpSp>
          <p:nvGrpSpPr>
            <p:cNvPr id="29" name="Group 29"/>
            <p:cNvGrpSpPr/>
            <p:nvPr/>
          </p:nvGrpSpPr>
          <p:grpSpPr>
            <a:xfrm>
              <a:off x="571500" y="1809750"/>
              <a:ext cx="11049000" cy="533400"/>
              <a:chOff x="571500" y="1809750"/>
              <a:chExt cx="11049000" cy="533400"/>
            </a:xfrm>
          </p:grpSpPr>
          <p:sp>
            <p:nvSpPr>
              <p:cNvPr id="26" name="Rectangle 26"/>
              <p:cNvSpPr/>
              <p:nvPr/>
            </p:nvSpPr>
            <p:spPr>
              <a:xfrm>
                <a:off x="571500" y="1809750"/>
                <a:ext cx="3238500" cy="533400"/>
              </a:xfrm>
              <a:prstGeom prst="rect">
                <a:avLst/>
              </a:prstGeom>
              <a:solidFill>
                <a:srgbClr val="12355B"/>
              </a:solidFill>
              <a:ln>
                <a:noFill/>
              </a:ln>
            </p:spPr>
          </p:sp>
          <p:sp>
            <p:nvSpPr>
              <p:cNvPr id="27" name="Rectangle 27"/>
              <p:cNvSpPr/>
              <p:nvPr/>
            </p:nvSpPr>
            <p:spPr>
              <a:xfrm>
                <a:off x="4476750" y="1809750"/>
                <a:ext cx="3238500" cy="533400"/>
              </a:xfrm>
              <a:prstGeom prst="rect">
                <a:avLst/>
              </a:prstGeom>
              <a:solidFill>
                <a:srgbClr val="12355B"/>
              </a:solidFill>
              <a:ln>
                <a:noFill/>
              </a:ln>
            </p:spPr>
          </p:sp>
          <p:sp>
            <p:nvSpPr>
              <p:cNvPr id="28" name="Rectangle 28"/>
              <p:cNvSpPr/>
              <p:nvPr/>
            </p:nvSpPr>
            <p:spPr>
              <a:xfrm>
                <a:off x="8382000" y="1809750"/>
                <a:ext cx="3238500" cy="533400"/>
              </a:xfrm>
              <a:prstGeom prst="rect">
                <a:avLst/>
              </a:prstGeom>
              <a:solidFill>
                <a:srgbClr val="12355B"/>
              </a:solidFill>
              <a:ln>
                <a:noFill/>
              </a:ln>
            </p:spPr>
          </p:sp>
        </p:grpSp>
        <p:grpSp>
          <p:nvGrpSpPr>
            <p:cNvPr id="33" name="Group 33"/>
            <p:cNvGrpSpPr/>
            <p:nvPr/>
          </p:nvGrpSpPr>
          <p:grpSpPr>
            <a:xfrm>
              <a:off x="754380" y="1981200"/>
              <a:ext cx="9935908" cy="293370"/>
              <a:chOff x="754380" y="1981200"/>
              <a:chExt cx="9935908" cy="293370"/>
            </a:xfrm>
          </p:grpSpPr>
          <p:sp>
            <p:nvSpPr>
              <p:cNvPr id="30" name="TextBox 30"/>
              <p:cNvSpPr txBox="1"/>
              <p:nvPr/>
            </p:nvSpPr>
            <p:spPr>
              <a:xfrm>
                <a:off x="754380" y="1981200"/>
                <a:ext cx="1236917" cy="293370"/>
              </a:xfrm>
              <a:prstGeom prst="rect">
                <a:avLst/>
              </a:prstGeom>
              <a:noFill/>
              <a:ln>
                <a:noFill/>
              </a:ln>
            </p:spPr>
            <p:txBody>
              <a:bodyPr wrap="none" lIns="0" tIns="0" rIns="0" bIns="0" anchor="t" anchorCtr="0">
                <a:spAutoFit/>
              </a:bodyPr>
              <a:lstStyle/>
              <a:p>
                <a:pPr algn="l"/>
                <a:r>
                  <a:rPr lang="tr-TR" sz="1500" b="1" dirty="0">
                    <a:solidFill>
                      <a:srgbClr val="F7FAFC"/>
                    </a:solidFill>
                    <a:latin typeface="Consolas"/>
                    <a:ea typeface="Consolas"/>
                    <a:cs typeface="Consolas"/>
                  </a:rPr>
                  <a:t>uygulama.ts</a:t>
                </a:r>
              </a:p>
            </p:txBody>
          </p:sp>
          <p:sp>
            <p:nvSpPr>
              <p:cNvPr id="31" name="TextBox 31"/>
              <p:cNvSpPr txBox="1"/>
              <p:nvPr/>
            </p:nvSpPr>
            <p:spPr>
              <a:xfrm>
                <a:off x="4659630" y="1981200"/>
                <a:ext cx="2236470" cy="293370"/>
              </a:xfrm>
              <a:prstGeom prst="rect">
                <a:avLst/>
              </a:prstGeom>
              <a:noFill/>
              <a:ln>
                <a:noFill/>
              </a:ln>
            </p:spPr>
            <p:txBody>
              <a:bodyPr wrap="none" lIns="0" tIns="0" rIns="0" bIns="0" anchor="t" anchorCtr="0">
                <a:spAutoFit/>
              </a:bodyPr>
              <a:lstStyle/>
              <a:p>
                <a:pPr algn="l"/>
                <a:r>
                  <a:rPr lang="tr-TR" sz="1500" b="1" dirty="0">
                    <a:solidFill>
                      <a:srgbClr val="F7FAFC"/>
                    </a:solidFill>
                    <a:latin typeface="Consolas"/>
                    <a:ea typeface="Consolas"/>
                    <a:cs typeface="Consolas"/>
                  </a:rPr>
                  <a:t>kullanici-servisi.ts</a:t>
                </a:r>
              </a:p>
            </p:txBody>
          </p:sp>
          <p:sp>
            <p:nvSpPr>
              <p:cNvPr id="32" name="TextBox 32"/>
              <p:cNvSpPr txBox="1"/>
              <p:nvPr/>
            </p:nvSpPr>
            <p:spPr>
              <a:xfrm>
                <a:off x="8564880" y="1981200"/>
                <a:ext cx="2125408" cy="293370"/>
              </a:xfrm>
              <a:prstGeom prst="rect">
                <a:avLst/>
              </a:prstGeom>
              <a:noFill/>
              <a:ln>
                <a:noFill/>
              </a:ln>
            </p:spPr>
            <p:txBody>
              <a:bodyPr wrap="none" lIns="0" tIns="0" rIns="0" bIns="0" anchor="t" anchorCtr="0">
                <a:spAutoFit/>
              </a:bodyPr>
              <a:lstStyle/>
              <a:p>
                <a:pPr algn="l"/>
                <a:r>
                  <a:rPr lang="tr-TR" sz="1500" b="1" dirty="0">
                    <a:solidFill>
                      <a:srgbClr val="F7FAFC"/>
                    </a:solidFill>
                    <a:latin typeface="Consolas"/>
                    <a:ea typeface="Consolas"/>
                    <a:cs typeface="Consolas"/>
                  </a:rPr>
                  <a:t>kullanici-verisi.ts</a:t>
                </a:r>
              </a:p>
            </p:txBody>
          </p:sp>
        </p:grpSp>
        <p:grpSp>
          <p:nvGrpSpPr>
            <p:cNvPr id="37" name="Group 37"/>
            <p:cNvGrpSpPr/>
            <p:nvPr/>
          </p:nvGrpSpPr>
          <p:grpSpPr>
            <a:xfrm>
              <a:off x="755904" y="2499360"/>
              <a:ext cx="8996599" cy="234696"/>
              <a:chOff x="755904" y="2499360"/>
              <a:chExt cx="8996599" cy="234696"/>
            </a:xfrm>
          </p:grpSpPr>
          <p:sp>
            <p:nvSpPr>
              <p:cNvPr id="34" name="TextBox 34"/>
              <p:cNvSpPr txBox="1"/>
              <p:nvPr/>
            </p:nvSpPr>
            <p:spPr>
              <a:xfrm>
                <a:off x="755904" y="2499360"/>
                <a:ext cx="1239865"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GİRİŞ NOKTASI</a:t>
                </a:r>
              </a:p>
            </p:txBody>
          </p:sp>
          <p:sp>
            <p:nvSpPr>
              <p:cNvPr id="35" name="TextBox 35"/>
              <p:cNvSpPr txBox="1"/>
              <p:nvPr/>
            </p:nvSpPr>
            <p:spPr>
              <a:xfrm>
                <a:off x="4661154" y="2499360"/>
                <a:ext cx="1607271"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SERVİS · İŞ KURALI</a:t>
                </a:r>
              </a:p>
            </p:txBody>
          </p:sp>
          <p:sp>
            <p:nvSpPr>
              <p:cNvPr id="36" name="TextBox 36"/>
              <p:cNvSpPr txBox="1"/>
              <p:nvPr/>
            </p:nvSpPr>
            <p:spPr>
              <a:xfrm>
                <a:off x="8566404" y="2499360"/>
                <a:ext cx="1186099"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VERİ ERİŞİMİ</a:t>
                </a:r>
              </a:p>
            </p:txBody>
          </p:sp>
        </p:grpSp>
        <p:grpSp>
          <p:nvGrpSpPr>
            <p:cNvPr id="41" name="Group 41"/>
            <p:cNvGrpSpPr/>
            <p:nvPr/>
          </p:nvGrpSpPr>
          <p:grpSpPr>
            <a:xfrm>
              <a:off x="753999" y="2801779"/>
              <a:ext cx="9732772" cy="1165288"/>
              <a:chOff x="753999" y="2801779"/>
              <a:chExt cx="9732772" cy="1165288"/>
            </a:xfrm>
          </p:grpSpPr>
          <p:sp>
            <p:nvSpPr>
              <p:cNvPr id="38" name="TextBox 38"/>
              <p:cNvSpPr txBox="1"/>
              <p:nvPr/>
            </p:nvSpPr>
            <p:spPr>
              <a:xfrm>
                <a:off x="753999" y="2801779"/>
                <a:ext cx="2082800" cy="116528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Servisi çağırır; veri</a:t>
                </a:r>
                <a:br/>
                <a:r>
                  <a:rPr lang="tr-TR" sz="1580" dirty="0">
                    <a:solidFill>
                      <a:srgbClr val="172B3A"/>
                    </a:solidFill>
                    <a:latin typeface="+mn-lt"/>
                    <a:ea typeface="+mn-ea"/>
                    <a:cs typeface="+mn-cs"/>
                  </a:rPr>
                  <a:t>kaynağını bilmez</a:t>
                </a:r>
                <a:br/>
                <a:r>
                  <a:rPr lang="tr-TR" sz="1580" dirty="0">
                    <a:solidFill>
                      <a:srgbClr val="172B3A"/>
                    </a:solidFill>
                    <a:latin typeface="+mn-lt"/>
                    <a:ea typeface="+mn-ea"/>
                    <a:cs typeface="+mn-cs"/>
                  </a:rPr>
                  <a:t>try/catch ile hatayı</a:t>
                </a:r>
                <a:br/>
                <a:r>
                  <a:rPr lang="tr-TR" sz="1580" dirty="0">
                    <a:solidFill>
                      <a:srgbClr val="172B3A"/>
                    </a:solidFill>
                    <a:latin typeface="+mn-lt"/>
                    <a:ea typeface="+mn-ea"/>
                    <a:cs typeface="+mn-cs"/>
                  </a:rPr>
                  <a:t>yakalar</a:t>
                </a:r>
              </a:p>
            </p:txBody>
          </p:sp>
          <p:sp>
            <p:nvSpPr>
              <p:cNvPr id="39" name="TextBox 39"/>
              <p:cNvSpPr txBox="1"/>
              <p:nvPr/>
            </p:nvSpPr>
            <p:spPr>
              <a:xfrm>
                <a:off x="4659249" y="2801779"/>
                <a:ext cx="2393823" cy="116528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Varlık ve aktiflik</a:t>
                </a:r>
                <a:br/>
                <a:r>
                  <a:rPr lang="tr-TR" sz="1580" dirty="0">
                    <a:solidFill>
                      <a:srgbClr val="172B3A"/>
                    </a:solidFill>
                    <a:latin typeface="+mn-lt"/>
                    <a:ea typeface="+mn-ea"/>
                    <a:cs typeface="+mn-cs"/>
                  </a:rPr>
                  <a:t>denetimi yapar</a:t>
                </a:r>
                <a:br/>
                <a:r>
                  <a:rPr lang="tr-TR" sz="1580" dirty="0">
                    <a:solidFill>
                      <a:srgbClr val="172B3A"/>
                    </a:solidFill>
                    <a:latin typeface="+mn-lt"/>
                    <a:ea typeface="+mn-ea"/>
                    <a:cs typeface="+mn-cs"/>
                  </a:rPr>
                  <a:t>“bulunamadı” ve “pasif”</a:t>
                </a:r>
                <a:br/>
                <a:r>
                  <a:rPr lang="tr-TR" sz="1580" dirty="0">
                    <a:solidFill>
                      <a:srgbClr val="172B3A"/>
                    </a:solidFill>
                    <a:latin typeface="+mn-lt"/>
                    <a:ea typeface="+mn-ea"/>
                    <a:cs typeface="+mn-cs"/>
                  </a:rPr>
                  <a:t>için ayrı throw</a:t>
                </a:r>
              </a:p>
            </p:txBody>
          </p:sp>
          <p:sp>
            <p:nvSpPr>
              <p:cNvPr id="40" name="TextBox 40"/>
              <p:cNvSpPr txBox="1"/>
              <p:nvPr/>
            </p:nvSpPr>
            <p:spPr>
              <a:xfrm>
                <a:off x="8564499" y="2801779"/>
                <a:ext cx="1922272" cy="116528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Kullanici arayüzü ve</a:t>
                </a:r>
                <a:br/>
                <a:r>
                  <a:rPr lang="tr-TR" sz="1580" dirty="0">
                    <a:solidFill>
                      <a:srgbClr val="172B3A"/>
                    </a:solidFill>
                    <a:latin typeface="+mn-lt"/>
                    <a:ea typeface="+mn-ea"/>
                    <a:cs typeface="+mn-cs"/>
                  </a:rPr>
                  <a:t>kullaniciBul export</a:t>
                </a:r>
                <a:br/>
                <a:r>
                  <a:rPr lang="tr-TR" sz="1580" dirty="0">
                    <a:solidFill>
                      <a:srgbClr val="172B3A"/>
                    </a:solidFill>
                    <a:latin typeface="+mn-lt"/>
                    <a:ea typeface="+mn-ea"/>
                    <a:cs typeface="+mn-cs"/>
                  </a:rPr>
                  <a:t>eşleşme yoksa</a:t>
                </a:r>
                <a:br/>
                <a:r>
                  <a:rPr lang="tr-TR" sz="1580" dirty="0">
                    <a:solidFill>
                      <a:srgbClr val="172B3A"/>
                    </a:solidFill>
                    <a:latin typeface="+mn-lt"/>
                    <a:ea typeface="+mn-ea"/>
                    <a:cs typeface="+mn-cs"/>
                  </a:rPr>
                  <a:t>undefined döner</a:t>
                </a:r>
              </a:p>
            </p:txBody>
          </p:sp>
        </p:grpSp>
        <p:grpSp>
          <p:nvGrpSpPr>
            <p:cNvPr id="45" name="Group 45"/>
            <p:cNvGrpSpPr/>
            <p:nvPr/>
          </p:nvGrpSpPr>
          <p:grpSpPr>
            <a:xfrm>
              <a:off x="1078567" y="4344829"/>
              <a:ext cx="10428743" cy="308039"/>
              <a:chOff x="1078567" y="4344829"/>
              <a:chExt cx="10428743" cy="308039"/>
            </a:xfrm>
          </p:grpSpPr>
          <p:sp>
            <p:nvSpPr>
              <p:cNvPr id="42" name="TextBox 42"/>
              <p:cNvSpPr txBox="1"/>
              <p:nvPr/>
            </p:nvSpPr>
            <p:spPr>
              <a:xfrm>
                <a:off x="1078567" y="4344829"/>
                <a:ext cx="2224366" cy="308039"/>
              </a:xfrm>
              <a:prstGeom prst="rect">
                <a:avLst/>
              </a:prstGeom>
              <a:noFill/>
              <a:ln>
                <a:noFill/>
              </a:ln>
            </p:spPr>
            <p:txBody>
              <a:bodyPr wrap="none" lIns="0" tIns="0" rIns="0" bIns="0" anchor="t" anchorCtr="0">
                <a:spAutoFit/>
              </a:bodyPr>
              <a:lstStyle/>
              <a:p>
                <a:pPr algn="ctr"/>
                <a:r>
                  <a:rPr lang="tr-TR" sz="1580" i="1" dirty="0">
                    <a:solidFill>
                      <a:srgbClr val="52616B"/>
                    </a:solidFill>
                    <a:latin typeface="+mn-lt"/>
                    <a:ea typeface="+mn-ea"/>
                    <a:cs typeface="+mn-cs"/>
                  </a:rPr>
                  <a:t>Garson · siparişi alır</a:t>
                </a:r>
              </a:p>
            </p:txBody>
          </p:sp>
          <p:sp>
            <p:nvSpPr>
              <p:cNvPr id="43" name="TextBox 43"/>
              <p:cNvSpPr txBox="1"/>
              <p:nvPr/>
            </p:nvSpPr>
            <p:spPr>
              <a:xfrm>
                <a:off x="4988949" y="4344829"/>
                <a:ext cx="2214102" cy="308039"/>
              </a:xfrm>
              <a:prstGeom prst="rect">
                <a:avLst/>
              </a:prstGeom>
              <a:noFill/>
              <a:ln>
                <a:noFill/>
              </a:ln>
            </p:spPr>
            <p:txBody>
              <a:bodyPr wrap="none" lIns="0" tIns="0" rIns="0" bIns="0" anchor="t" anchorCtr="0">
                <a:spAutoFit/>
              </a:bodyPr>
              <a:lstStyle/>
              <a:p>
                <a:pPr algn="ctr"/>
                <a:r>
                  <a:rPr lang="tr-TR" sz="1580" i="1" dirty="0">
                    <a:solidFill>
                      <a:srgbClr val="52616B"/>
                    </a:solidFill>
                    <a:latin typeface="+mn-lt"/>
                    <a:ea typeface="+mn-ea"/>
                    <a:cs typeface="+mn-cs"/>
                  </a:rPr>
                  <a:t>Aşçı · kuralı uygular</a:t>
                </a:r>
              </a:p>
            </p:txBody>
          </p:sp>
          <p:sp>
            <p:nvSpPr>
              <p:cNvPr id="44" name="TextBox 44"/>
              <p:cNvSpPr txBox="1"/>
              <p:nvPr/>
            </p:nvSpPr>
            <p:spPr>
              <a:xfrm>
                <a:off x="8495190" y="4344829"/>
                <a:ext cx="3012120" cy="308039"/>
              </a:xfrm>
              <a:prstGeom prst="rect">
                <a:avLst/>
              </a:prstGeom>
              <a:noFill/>
              <a:ln>
                <a:noFill/>
              </a:ln>
            </p:spPr>
            <p:txBody>
              <a:bodyPr wrap="none" lIns="0" tIns="0" rIns="0" bIns="0" anchor="t" anchorCtr="0">
                <a:spAutoFit/>
              </a:bodyPr>
              <a:lstStyle/>
              <a:p>
                <a:pPr algn="ctr"/>
                <a:r>
                  <a:rPr lang="tr-TR" sz="1580" i="1" dirty="0">
                    <a:solidFill>
                      <a:srgbClr val="52616B"/>
                    </a:solidFill>
                    <a:latin typeface="+mn-lt"/>
                    <a:ea typeface="+mn-ea"/>
                    <a:cs typeface="+mn-cs"/>
                  </a:rPr>
                  <a:t>Mutfak deposu · ürünü tutar</a:t>
                </a:r>
              </a:p>
            </p:txBody>
          </p:sp>
        </p:grpSp>
      </p:grpSp>
      <p:grpSp>
        <p:nvGrpSpPr>
          <p:cNvPr id="50" name="change-note"/>
          <p:cNvGrpSpPr/>
          <p:nvPr/>
        </p:nvGrpSpPr>
        <p:grpSpPr>
          <a:xfrm>
            <a:off x="571500" y="5238750"/>
            <a:ext cx="4379214" cy="976217"/>
            <a:chOff x="571500" y="5238750"/>
            <a:chExt cx="4379214" cy="976217"/>
          </a:xfrm>
        </p:grpSpPr>
        <p:sp>
          <p:nvSpPr>
            <p:cNvPr id="47" name="Rectangle 47"/>
            <p:cNvSpPr/>
            <p:nvPr/>
          </p:nvSpPr>
          <p:spPr>
            <a:xfrm>
              <a:off x="571500" y="5238750"/>
              <a:ext cx="57150" cy="914400"/>
            </a:xfrm>
            <a:prstGeom prst="rect">
              <a:avLst/>
            </a:prstGeom>
            <a:solidFill>
              <a:srgbClr val="00A6A6"/>
            </a:solidFill>
            <a:ln>
              <a:noFill/>
            </a:ln>
          </p:spPr>
        </p:sp>
        <p:sp>
          <p:nvSpPr>
            <p:cNvPr id="48" name="TextBox 48"/>
            <p:cNvSpPr txBox="1"/>
            <p:nvPr/>
          </p:nvSpPr>
          <p:spPr>
            <a:xfrm>
              <a:off x="810006" y="5311140"/>
              <a:ext cx="319411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Değişim tek dosyada kalır</a:t>
              </a:r>
            </a:p>
          </p:txBody>
        </p:sp>
        <p:sp>
          <p:nvSpPr>
            <p:cNvPr id="49" name="TextBox 49"/>
            <p:cNvSpPr txBox="1"/>
            <p:nvPr/>
          </p:nvSpPr>
          <p:spPr>
            <a:xfrm>
              <a:off x="811149" y="5640229"/>
              <a:ext cx="4139565"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Veri kaynağı diziden veritabanına geçerse</a:t>
              </a:r>
              <a:br/>
              <a:r>
                <a:rPr lang="tr-TR" sz="1580" dirty="0">
                  <a:solidFill>
                    <a:srgbClr val="172B3A"/>
                  </a:solidFill>
                  <a:latin typeface="+mn-lt"/>
                  <a:ea typeface="+mn-ea"/>
                  <a:cs typeface="+mn-cs"/>
                </a:rPr>
                <a:t>yalnızca kullanici-verisi.ts güncellenir</a:t>
              </a:r>
            </a:p>
          </p:txBody>
        </p:sp>
      </p:grpSp>
      <p:grpSp>
        <p:nvGrpSpPr>
          <p:cNvPr id="54" name="extension-note"/>
          <p:cNvGrpSpPr/>
          <p:nvPr/>
        </p:nvGrpSpPr>
        <p:grpSpPr>
          <a:xfrm>
            <a:off x="6286500" y="5238750"/>
            <a:ext cx="4509643" cy="976217"/>
            <a:chOff x="6286500" y="5238750"/>
            <a:chExt cx="4509643" cy="976217"/>
          </a:xfrm>
        </p:grpSpPr>
        <p:sp>
          <p:nvSpPr>
            <p:cNvPr id="51" name="Rectangle 51"/>
            <p:cNvSpPr/>
            <p:nvPr/>
          </p:nvSpPr>
          <p:spPr>
            <a:xfrm>
              <a:off x="6286500" y="5238750"/>
              <a:ext cx="57150" cy="914400"/>
            </a:xfrm>
            <a:prstGeom prst="rect">
              <a:avLst/>
            </a:prstGeom>
            <a:solidFill>
              <a:srgbClr val="52616B"/>
            </a:solidFill>
            <a:ln>
              <a:noFill/>
            </a:ln>
          </p:spPr>
        </p:sp>
        <p:sp>
          <p:nvSpPr>
            <p:cNvPr id="52" name="TextBox 52"/>
            <p:cNvSpPr txBox="1"/>
            <p:nvPr/>
          </p:nvSpPr>
          <p:spPr>
            <a:xfrm>
              <a:off x="6525006" y="5311140"/>
              <a:ext cx="28297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.js uzantısıyla import</a:t>
              </a:r>
            </a:p>
          </p:txBody>
        </p:sp>
        <p:sp>
          <p:nvSpPr>
            <p:cNvPr id="53" name="TextBox 53"/>
            <p:cNvSpPr txBox="1"/>
            <p:nvPr/>
          </p:nvSpPr>
          <p:spPr>
            <a:xfrm>
              <a:off x="6526149" y="5640229"/>
              <a:ext cx="4269994"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Kaynak .ts olsa da Node.js ESM çözümlemesi</a:t>
              </a:r>
              <a:br/>
              <a:r>
                <a:rPr lang="tr-TR" sz="1580" dirty="0">
                  <a:solidFill>
                    <a:srgbClr val="172B3A"/>
                  </a:solidFill>
                  <a:latin typeface="+mn-lt"/>
                  <a:ea typeface="+mn-ea"/>
                  <a:cs typeface="+mn-cs"/>
                </a:rPr>
                <a:t>derlenmiş çıktının uzantısını bekler</a:t>
              </a:r>
            </a:p>
          </p:txBody>
        </p:sp>
      </p:grpSp>
      <p:grpSp>
        <p:nvGrpSpPr>
          <p:cNvPr id="57" name="footer"/>
          <p:cNvGrpSpPr/>
          <p:nvPr/>
        </p:nvGrpSpPr>
        <p:grpSpPr>
          <a:xfrm>
            <a:off x="565404" y="6404610"/>
            <a:ext cx="11061192" cy="234696"/>
            <a:chOff x="565404" y="6404610"/>
            <a:chExt cx="11061192" cy="234696"/>
          </a:xfrm>
        </p:grpSpPr>
        <p:sp>
          <p:nvSpPr>
            <p:cNvPr id="55" name="TextBox 55"/>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56" name="TextBox 56"/>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9166760"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Promise: gelecekteki sonucu temsil eden nesne</a:t>
              </a:r>
            </a:p>
          </p:txBody>
        </p:sp>
      </p:grpSp>
      <p:grpSp>
        <p:nvGrpSpPr>
          <p:cNvPr id="24" name="state-machine"/>
          <p:cNvGrpSpPr/>
          <p:nvPr/>
        </p:nvGrpSpPr>
        <p:grpSpPr>
          <a:xfrm>
            <a:off x="562356" y="1253490"/>
            <a:ext cx="5724144" cy="3837527"/>
            <a:chOff x="562356" y="1253490"/>
            <a:chExt cx="5724144" cy="3837527"/>
          </a:xfrm>
        </p:grpSpPr>
        <p:sp>
          <p:nvSpPr>
            <p:cNvPr id="6" name="TextBox 6"/>
            <p:cNvSpPr txBox="1"/>
            <p:nvPr/>
          </p:nvSpPr>
          <p:spPr>
            <a:xfrm>
              <a:off x="562356" y="1253490"/>
              <a:ext cx="310521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Tek yönlü durum makinesi</a:t>
              </a:r>
            </a:p>
          </p:txBody>
        </p:sp>
        <p:sp>
          <p:nvSpPr>
            <p:cNvPr id="7" name="Line 7"/>
            <p:cNvSpPr/>
            <p:nvPr/>
          </p:nvSpPr>
          <p:spPr>
            <a:xfrm flipV="1">
              <a:off x="2476500" y="1962150"/>
              <a:ext cx="1466850" cy="762000"/>
            </a:xfrm>
            <a:prstGeom prst="line">
              <a:avLst/>
            </a:prstGeom>
            <a:noFill/>
            <a:ln w="28575">
              <a:solidFill>
                <a:srgbClr val="00A6A6"/>
              </a:solidFill>
              <a:tailEnd type="triangle" w="lg" len="lg"/>
            </a:ln>
          </p:spPr>
        </p:sp>
        <p:sp>
          <p:nvSpPr>
            <p:cNvPr id="8" name="Line 8"/>
            <p:cNvSpPr/>
            <p:nvPr/>
          </p:nvSpPr>
          <p:spPr>
            <a:xfrm>
              <a:off x="2476500" y="2990850"/>
              <a:ext cx="1466850" cy="762000"/>
            </a:xfrm>
            <a:prstGeom prst="line">
              <a:avLst/>
            </a:prstGeom>
            <a:noFill/>
            <a:ln w="28575">
              <a:solidFill>
                <a:srgbClr val="52616B"/>
              </a:solidFill>
              <a:tailEnd type="triangle" w="lg" len="lg"/>
            </a:ln>
          </p:spPr>
        </p:sp>
        <p:sp>
          <p:nvSpPr>
            <p:cNvPr id="9" name="Rectangle 9"/>
            <p:cNvSpPr/>
            <p:nvPr/>
          </p:nvSpPr>
          <p:spPr>
            <a:xfrm>
              <a:off x="571500" y="2381250"/>
              <a:ext cx="1905000" cy="952500"/>
            </a:xfrm>
            <a:prstGeom prst="roundRect">
              <a:avLst>
                <a:gd name="adj" fmla="val 50000"/>
              </a:avLst>
            </a:prstGeom>
            <a:solidFill>
              <a:srgbClr val="12355B"/>
            </a:solidFill>
            <a:ln>
              <a:noFill/>
            </a:ln>
          </p:spPr>
        </p:sp>
        <p:sp>
          <p:nvSpPr>
            <p:cNvPr id="10" name="Rectangle 10"/>
            <p:cNvSpPr/>
            <p:nvPr/>
          </p:nvSpPr>
          <p:spPr>
            <a:xfrm>
              <a:off x="4000500" y="1524000"/>
              <a:ext cx="2286000" cy="857250"/>
            </a:xfrm>
            <a:prstGeom prst="rect">
              <a:avLst/>
            </a:prstGeom>
            <a:solidFill>
              <a:srgbClr val="FFFFFF"/>
            </a:solidFill>
            <a:ln w="28575">
              <a:solidFill>
                <a:srgbClr val="00A6A6"/>
              </a:solidFill>
            </a:ln>
          </p:spPr>
        </p:sp>
        <p:sp>
          <p:nvSpPr>
            <p:cNvPr id="11" name="Rectangle 11"/>
            <p:cNvSpPr/>
            <p:nvPr/>
          </p:nvSpPr>
          <p:spPr>
            <a:xfrm>
              <a:off x="4000500" y="3333750"/>
              <a:ext cx="2286000" cy="857250"/>
            </a:xfrm>
            <a:prstGeom prst="rect">
              <a:avLst/>
            </a:prstGeom>
            <a:solidFill>
              <a:srgbClr val="FFFFFF"/>
            </a:solidFill>
            <a:ln w="28575">
              <a:solidFill>
                <a:srgbClr val="52616B"/>
              </a:solidFill>
            </a:ln>
          </p:spPr>
        </p:sp>
        <p:sp>
          <p:nvSpPr>
            <p:cNvPr id="12" name="TextBox 12"/>
            <p:cNvSpPr txBox="1"/>
            <p:nvPr/>
          </p:nvSpPr>
          <p:spPr>
            <a:xfrm>
              <a:off x="1056879" y="2625090"/>
              <a:ext cx="934242" cy="352044"/>
            </a:xfrm>
            <a:prstGeom prst="rect">
              <a:avLst/>
            </a:prstGeom>
            <a:noFill/>
            <a:ln>
              <a:noFill/>
            </a:ln>
          </p:spPr>
          <p:txBody>
            <a:bodyPr wrap="none" lIns="0" tIns="0" rIns="0" bIns="0" anchor="t" anchorCtr="0">
              <a:spAutoFit/>
            </a:bodyPr>
            <a:lstStyle/>
            <a:p>
              <a:pPr algn="ctr"/>
              <a:r>
                <a:rPr lang="tr-TR" sz="1800" b="1" dirty="0">
                  <a:solidFill>
                    <a:srgbClr val="F7FAFC"/>
                  </a:solidFill>
                  <a:latin typeface="+mn-lt"/>
                  <a:ea typeface="+mn-ea"/>
                  <a:cs typeface="+mn-cs"/>
                </a:rPr>
                <a:t>pending</a:t>
              </a:r>
            </a:p>
          </p:txBody>
        </p:sp>
        <p:sp>
          <p:nvSpPr>
            <p:cNvPr id="13" name="TextBox 13"/>
            <p:cNvSpPr txBox="1"/>
            <p:nvPr/>
          </p:nvSpPr>
          <p:spPr>
            <a:xfrm>
              <a:off x="891921" y="2975610"/>
              <a:ext cx="1264158"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henüz sonuç yok</a:t>
              </a:r>
            </a:p>
          </p:txBody>
        </p:sp>
        <p:grpSp>
          <p:nvGrpSpPr>
            <p:cNvPr id="16" name="Group 16"/>
            <p:cNvGrpSpPr/>
            <p:nvPr/>
          </p:nvGrpSpPr>
          <p:grpSpPr>
            <a:xfrm>
              <a:off x="4606410" y="1710690"/>
              <a:ext cx="1074180" cy="2161794"/>
              <a:chOff x="4606410" y="1710690"/>
              <a:chExt cx="1074180" cy="2161794"/>
            </a:xfrm>
          </p:grpSpPr>
          <p:sp>
            <p:nvSpPr>
              <p:cNvPr id="14" name="TextBox 14"/>
              <p:cNvSpPr txBox="1"/>
              <p:nvPr/>
            </p:nvSpPr>
            <p:spPr>
              <a:xfrm>
                <a:off x="4631853" y="1710690"/>
                <a:ext cx="1023294" cy="352044"/>
              </a:xfrm>
              <a:prstGeom prst="rect">
                <a:avLst/>
              </a:prstGeom>
              <a:noFill/>
              <a:ln>
                <a:noFill/>
              </a:ln>
            </p:spPr>
            <p:txBody>
              <a:bodyPr wrap="none" lIns="0" tIns="0" rIns="0" bIns="0" anchor="t" anchorCtr="0">
                <a:spAutoFit/>
              </a:bodyPr>
              <a:lstStyle/>
              <a:p>
                <a:pPr algn="ctr"/>
                <a:r>
                  <a:rPr lang="tr-TR" sz="1800" b="1" dirty="0">
                    <a:solidFill>
                      <a:srgbClr val="00A6A6"/>
                    </a:solidFill>
                    <a:latin typeface="+mn-lt"/>
                    <a:ea typeface="+mn-ea"/>
                    <a:cs typeface="+mn-cs"/>
                  </a:rPr>
                  <a:t>fulfilled</a:t>
                </a:r>
              </a:p>
            </p:txBody>
          </p:sp>
          <p:sp>
            <p:nvSpPr>
              <p:cNvPr id="15" name="TextBox 15"/>
              <p:cNvSpPr txBox="1"/>
              <p:nvPr/>
            </p:nvSpPr>
            <p:spPr>
              <a:xfrm>
                <a:off x="4606410" y="3520440"/>
                <a:ext cx="1074180" cy="352044"/>
              </a:xfrm>
              <a:prstGeom prst="rect">
                <a:avLst/>
              </a:prstGeom>
              <a:noFill/>
              <a:ln>
                <a:noFill/>
              </a:ln>
            </p:spPr>
            <p:txBody>
              <a:bodyPr wrap="none" lIns="0" tIns="0" rIns="0" bIns="0" anchor="t" anchorCtr="0">
                <a:spAutoFit/>
              </a:bodyPr>
              <a:lstStyle/>
              <a:p>
                <a:pPr algn="ctr"/>
                <a:r>
                  <a:rPr lang="tr-TR" sz="1800" b="1" dirty="0">
                    <a:solidFill>
                      <a:srgbClr val="52616B"/>
                    </a:solidFill>
                    <a:latin typeface="+mn-lt"/>
                    <a:ea typeface="+mn-ea"/>
                    <a:cs typeface="+mn-cs"/>
                  </a:rPr>
                  <a:t>rejected</a:t>
                </a:r>
              </a:p>
            </p:txBody>
          </p:sp>
        </p:grpSp>
        <p:grpSp>
          <p:nvGrpSpPr>
            <p:cNvPr id="19" name="Group 19"/>
            <p:cNvGrpSpPr/>
            <p:nvPr/>
          </p:nvGrpSpPr>
          <p:grpSpPr>
            <a:xfrm>
              <a:off x="4422955" y="2020729"/>
              <a:ext cx="1441089" cy="2117789"/>
              <a:chOff x="4422955" y="2020729"/>
              <a:chExt cx="1441089" cy="2117789"/>
            </a:xfrm>
          </p:grpSpPr>
          <p:sp>
            <p:nvSpPr>
              <p:cNvPr id="17" name="TextBox 17"/>
              <p:cNvSpPr txBox="1"/>
              <p:nvPr/>
            </p:nvSpPr>
            <p:spPr>
              <a:xfrm>
                <a:off x="4422955" y="2020729"/>
                <a:ext cx="1441089" cy="308039"/>
              </a:xfrm>
              <a:prstGeom prst="rect">
                <a:avLst/>
              </a:prstGeom>
              <a:noFill/>
              <a:ln>
                <a:noFill/>
              </a:ln>
            </p:spPr>
            <p:txBody>
              <a:bodyPr wrap="none" lIns="0" tIns="0" rIns="0" bIns="0" anchor="t" anchorCtr="0">
                <a:spAutoFit/>
              </a:bodyPr>
              <a:lstStyle/>
              <a:p>
                <a:pPr algn="ctr"/>
                <a:r>
                  <a:rPr lang="tr-TR" sz="1580" dirty="0">
                    <a:solidFill>
                      <a:srgbClr val="172B3A"/>
                    </a:solidFill>
                    <a:latin typeface="+mn-lt"/>
                    <a:ea typeface="+mn-ea"/>
                    <a:cs typeface="+mn-cs"/>
                  </a:rPr>
                  <a:t>değer üretildi</a:t>
                </a:r>
              </a:p>
            </p:txBody>
          </p:sp>
          <p:sp>
            <p:nvSpPr>
              <p:cNvPr id="18" name="TextBox 18"/>
              <p:cNvSpPr txBox="1"/>
              <p:nvPr/>
            </p:nvSpPr>
            <p:spPr>
              <a:xfrm>
                <a:off x="4545258" y="3830479"/>
                <a:ext cx="1196485" cy="308039"/>
              </a:xfrm>
              <a:prstGeom prst="rect">
                <a:avLst/>
              </a:prstGeom>
              <a:noFill/>
              <a:ln>
                <a:noFill/>
              </a:ln>
            </p:spPr>
            <p:txBody>
              <a:bodyPr wrap="none" lIns="0" tIns="0" rIns="0" bIns="0" anchor="t" anchorCtr="0">
                <a:spAutoFit/>
              </a:bodyPr>
              <a:lstStyle/>
              <a:p>
                <a:pPr algn="ctr"/>
                <a:r>
                  <a:rPr lang="tr-TR" sz="1580" dirty="0">
                    <a:solidFill>
                      <a:srgbClr val="172B3A"/>
                    </a:solidFill>
                    <a:latin typeface="+mn-lt"/>
                    <a:ea typeface="+mn-ea"/>
                    <a:cs typeface="+mn-cs"/>
                  </a:rPr>
                  <a:t>teknik hata</a:t>
                </a:r>
              </a:p>
            </p:txBody>
          </p:sp>
        </p:grpSp>
        <p:grpSp>
          <p:nvGrpSpPr>
            <p:cNvPr id="22" name="Group 22"/>
            <p:cNvGrpSpPr/>
            <p:nvPr/>
          </p:nvGrpSpPr>
          <p:grpSpPr>
            <a:xfrm>
              <a:off x="2259330" y="1990725"/>
              <a:ext cx="1236917" cy="1855470"/>
              <a:chOff x="2259330" y="1990725"/>
              <a:chExt cx="1236917" cy="1855470"/>
            </a:xfrm>
          </p:grpSpPr>
          <p:sp>
            <p:nvSpPr>
              <p:cNvPr id="20" name="TextBox 20"/>
              <p:cNvSpPr txBox="1"/>
              <p:nvPr/>
            </p:nvSpPr>
            <p:spPr>
              <a:xfrm>
                <a:off x="2316480" y="1990725"/>
                <a:ext cx="903732" cy="293370"/>
              </a:xfrm>
              <a:prstGeom prst="rect">
                <a:avLst/>
              </a:prstGeom>
              <a:noFill/>
              <a:ln>
                <a:noFill/>
              </a:ln>
            </p:spPr>
            <p:txBody>
              <a:bodyPr wrap="none" lIns="0" tIns="0" rIns="0" bIns="0" anchor="t" anchorCtr="0">
                <a:spAutoFit/>
              </a:bodyPr>
              <a:lstStyle/>
              <a:p>
                <a:pPr algn="l"/>
                <a:r>
                  <a:rPr lang="tr-TR" sz="1500" dirty="0">
                    <a:solidFill>
                      <a:srgbClr val="00A6A6"/>
                    </a:solidFill>
                    <a:latin typeface="Consolas"/>
                    <a:ea typeface="Consolas"/>
                    <a:cs typeface="Consolas"/>
                  </a:rPr>
                  <a:t>coz(...)</a:t>
                </a:r>
              </a:p>
            </p:txBody>
          </p:sp>
          <p:sp>
            <p:nvSpPr>
              <p:cNvPr id="21" name="TextBox 21"/>
              <p:cNvSpPr txBox="1"/>
              <p:nvPr/>
            </p:nvSpPr>
            <p:spPr>
              <a:xfrm>
                <a:off x="2259330" y="3552825"/>
                <a:ext cx="1236917"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Consolas"/>
                    <a:ea typeface="Consolas"/>
                    <a:cs typeface="Consolas"/>
                  </a:rPr>
                  <a:t>reddet(...)</a:t>
                </a:r>
              </a:p>
            </p:txBody>
          </p:sp>
        </p:grpSp>
        <p:sp>
          <p:nvSpPr>
            <p:cNvPr id="23" name="TextBox 23"/>
            <p:cNvSpPr txBox="1"/>
            <p:nvPr/>
          </p:nvSpPr>
          <p:spPr>
            <a:xfrm>
              <a:off x="563499" y="4497229"/>
              <a:ext cx="4751578" cy="59378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Bir kez sonuçlanan Promise durum değiştirmez;</a:t>
              </a:r>
              <a:br/>
              <a:r>
                <a:rPr lang="tr-TR" sz="1580" dirty="0">
                  <a:solidFill>
                    <a:srgbClr val="172B3A"/>
                  </a:solidFill>
                  <a:latin typeface="+mn-lt"/>
                  <a:ea typeface="+mn-ea"/>
                  <a:cs typeface="+mn-cs"/>
                </a:rPr>
                <a:t>aynı sonuç birden çok then’e tutarlı dağıtılır.</a:t>
              </a:r>
            </a:p>
          </p:txBody>
        </p:sp>
      </p:grpSp>
      <p:grpSp>
        <p:nvGrpSpPr>
          <p:cNvPr id="38" name="result-vs-error"/>
          <p:cNvGrpSpPr/>
          <p:nvPr/>
        </p:nvGrpSpPr>
        <p:grpSpPr>
          <a:xfrm>
            <a:off x="6848856" y="1253490"/>
            <a:ext cx="4771644" cy="3970878"/>
            <a:chOff x="6848856" y="1253490"/>
            <a:chExt cx="4771644" cy="3970878"/>
          </a:xfrm>
        </p:grpSpPr>
        <p:sp>
          <p:nvSpPr>
            <p:cNvPr id="25" name="TextBox 25"/>
            <p:cNvSpPr txBox="1"/>
            <p:nvPr/>
          </p:nvSpPr>
          <p:spPr>
            <a:xfrm>
              <a:off x="6848856" y="1253490"/>
              <a:ext cx="292793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İş sonucu ≠ teknik hata</a:t>
              </a:r>
            </a:p>
          </p:txBody>
        </p:sp>
        <p:sp>
          <p:nvSpPr>
            <p:cNvPr id="26" name="Rectangle 26"/>
            <p:cNvSpPr/>
            <p:nvPr/>
          </p:nvSpPr>
          <p:spPr>
            <a:xfrm>
              <a:off x="6858000" y="1638300"/>
              <a:ext cx="4762500" cy="1619250"/>
            </a:xfrm>
            <a:prstGeom prst="rect">
              <a:avLst/>
            </a:prstGeom>
            <a:solidFill>
              <a:srgbClr val="EAF4F6"/>
            </a:solidFill>
            <a:ln>
              <a:noFill/>
            </a:ln>
          </p:spPr>
        </p:sp>
        <p:sp>
          <p:nvSpPr>
            <p:cNvPr id="27" name="TextBox 27"/>
            <p:cNvSpPr txBox="1"/>
            <p:nvPr/>
          </p:nvSpPr>
          <p:spPr>
            <a:xfrm>
              <a:off x="7042404" y="1775460"/>
              <a:ext cx="3006349"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BEKLENEN SONUÇ · union type ile çöz</a:t>
              </a:r>
            </a:p>
          </p:txBody>
        </p:sp>
        <p:grpSp>
          <p:nvGrpSpPr>
            <p:cNvPr id="31" name="Group 31"/>
            <p:cNvGrpSpPr/>
            <p:nvPr/>
          </p:nvGrpSpPr>
          <p:grpSpPr>
            <a:xfrm>
              <a:off x="7040880" y="2085975"/>
              <a:ext cx="3458147" cy="902970"/>
              <a:chOff x="7040880" y="2085975"/>
              <a:chExt cx="3458147" cy="902970"/>
            </a:xfrm>
          </p:grpSpPr>
          <p:sp>
            <p:nvSpPr>
              <p:cNvPr id="28" name="TextBox 28"/>
              <p:cNvSpPr txBox="1"/>
              <p:nvPr/>
            </p:nvSpPr>
            <p:spPr>
              <a:xfrm>
                <a:off x="7040880" y="2085975"/>
                <a:ext cx="2473151"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type KullaniciSonucu =</a:t>
                </a:r>
              </a:p>
            </p:txBody>
          </p:sp>
          <p:sp>
            <p:nvSpPr>
              <p:cNvPr id="29" name="TextBox 29"/>
              <p:cNvSpPr txBox="1"/>
              <p:nvPr/>
            </p:nvSpPr>
            <p:spPr>
              <a:xfrm>
                <a:off x="7040880" y="2390775"/>
                <a:ext cx="3458147"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 { basarili: true; kullanici }</a:t>
                </a:r>
              </a:p>
            </p:txBody>
          </p:sp>
          <p:sp>
            <p:nvSpPr>
              <p:cNvPr id="30" name="TextBox 30"/>
              <p:cNvSpPr txBox="1"/>
              <p:nvPr/>
            </p:nvSpPr>
            <p:spPr>
              <a:xfrm>
                <a:off x="7040880" y="2695575"/>
                <a:ext cx="3236024"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 { basarili: false; mesaj };</a:t>
                </a:r>
              </a:p>
            </p:txBody>
          </p:sp>
        </p:grpSp>
        <p:sp>
          <p:nvSpPr>
            <p:cNvPr id="32" name="TextBox 32"/>
            <p:cNvSpPr txBox="1"/>
            <p:nvPr/>
          </p:nvSpPr>
          <p:spPr>
            <a:xfrm>
              <a:off x="7042404" y="3013710"/>
              <a:ext cx="34504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“Kullanıcı bulunamadı” normal bir sonuçtur</a:t>
              </a:r>
            </a:p>
          </p:txBody>
        </p:sp>
        <p:sp>
          <p:nvSpPr>
            <p:cNvPr id="33" name="Rectangle 33"/>
            <p:cNvSpPr/>
            <p:nvPr/>
          </p:nvSpPr>
          <p:spPr>
            <a:xfrm>
              <a:off x="6858000" y="3448050"/>
              <a:ext cx="4762500" cy="1238250"/>
            </a:xfrm>
            <a:prstGeom prst="rect">
              <a:avLst/>
            </a:prstGeom>
            <a:solidFill>
              <a:srgbClr val="FFFFFF"/>
            </a:solidFill>
            <a:ln w="19050">
              <a:solidFill>
                <a:srgbClr val="52616B"/>
              </a:solidFill>
            </a:ln>
          </p:spPr>
        </p:sp>
        <p:sp>
          <p:nvSpPr>
            <p:cNvPr id="34" name="TextBox 34"/>
            <p:cNvSpPr txBox="1"/>
            <p:nvPr/>
          </p:nvSpPr>
          <p:spPr>
            <a:xfrm>
              <a:off x="7042404" y="3585210"/>
              <a:ext cx="4093292" cy="234696"/>
            </a:xfrm>
            <a:prstGeom prst="rect">
              <a:avLst/>
            </a:prstGeom>
            <a:noFill/>
            <a:ln>
              <a:noFill/>
            </a:ln>
          </p:spPr>
          <p:txBody>
            <a:bodyPr wrap="none" lIns="0" tIns="0" rIns="0" bIns="0" anchor="t" anchorCtr="0">
              <a:spAutoFit/>
            </a:bodyPr>
            <a:lstStyle/>
            <a:p>
              <a:pPr algn="l"/>
              <a:r>
                <a:rPr lang="tr-TR" sz="1200" b="1" dirty="0">
                  <a:solidFill>
                    <a:srgbClr val="52616B"/>
                  </a:solidFill>
                  <a:latin typeface="+mn-lt"/>
                  <a:ea typeface="+mn-ea"/>
                  <a:cs typeface="+mn-cs"/>
                </a:rPr>
                <a:t>BEKLENMEYEN SORUN · reject et, catch ile yakala</a:t>
              </a:r>
            </a:p>
          </p:txBody>
        </p:sp>
        <p:sp>
          <p:nvSpPr>
            <p:cNvPr id="35" name="TextBox 35"/>
            <p:cNvSpPr txBox="1"/>
            <p:nvPr/>
          </p:nvSpPr>
          <p:spPr>
            <a:xfrm>
              <a:off x="7040880" y="3895725"/>
              <a:ext cx="2691493"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reddet(new Error("..."))</a:t>
              </a:r>
            </a:p>
          </p:txBody>
        </p:sp>
        <p:sp>
          <p:nvSpPr>
            <p:cNvPr id="36" name="TextBox 36"/>
            <p:cNvSpPr txBox="1"/>
            <p:nvPr/>
          </p:nvSpPr>
          <p:spPr>
            <a:xfrm>
              <a:off x="7040499" y="4287679"/>
              <a:ext cx="342607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Bağlantı kopması, negatif kimlik</a:t>
              </a:r>
            </a:p>
          </p:txBody>
        </p:sp>
        <p:sp>
          <p:nvSpPr>
            <p:cNvPr id="37" name="TextBox 37"/>
            <p:cNvSpPr txBox="1"/>
            <p:nvPr/>
          </p:nvSpPr>
          <p:spPr>
            <a:xfrm>
              <a:off x="6849999" y="4916329"/>
              <a:ext cx="413120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xml:space="preserve">then </a:t>
              </a:r>
              <a:r>
                <a:rPr lang="tr-TR" sz="1580" dirty="0">
                  <a:solidFill>
                    <a:srgbClr val="172B3A"/>
                  </a:solidFill>
                  <a:latin typeface="+mn-lt"/>
                  <a:ea typeface="+mn-ea"/>
                  <a:cs typeface="+mn-cs"/>
                </a:rPr>
                <a:t xml:space="preserve">başarı · </a:t>
              </a:r>
              <a:r>
                <a:rPr lang="tr-TR" sz="1580" b="1" dirty="0">
                  <a:solidFill>
                    <a:srgbClr val="12355B"/>
                  </a:solidFill>
                  <a:latin typeface="+mn-lt"/>
                  <a:ea typeface="+mn-ea"/>
                  <a:cs typeface="+mn-cs"/>
                </a:rPr>
                <a:t xml:space="preserve">catch </a:t>
              </a:r>
              <a:r>
                <a:rPr lang="tr-TR" sz="1580" dirty="0">
                  <a:solidFill>
                    <a:srgbClr val="172B3A"/>
                  </a:solidFill>
                  <a:latin typeface="+mn-lt"/>
                  <a:ea typeface="+mn-ea"/>
                  <a:cs typeface="+mn-cs"/>
                </a:rPr>
                <a:t xml:space="preserve">ret · </a:t>
              </a:r>
              <a:r>
                <a:rPr lang="tr-TR" sz="1580" b="1" dirty="0">
                  <a:solidFill>
                    <a:srgbClr val="12355B"/>
                  </a:solidFill>
                  <a:latin typeface="+mn-lt"/>
                  <a:ea typeface="+mn-ea"/>
                  <a:cs typeface="+mn-cs"/>
                </a:rPr>
                <a:t xml:space="preserve">finally </a:t>
              </a:r>
              <a:r>
                <a:rPr lang="tr-TR" sz="1580" dirty="0">
                  <a:solidFill>
                    <a:srgbClr val="172B3A"/>
                  </a:solidFill>
                  <a:latin typeface="+mn-lt"/>
                  <a:ea typeface="+mn-ea"/>
                  <a:cs typeface="+mn-cs"/>
                </a:rPr>
                <a:t>daima</a:t>
              </a:r>
            </a:p>
          </p:txBody>
        </p:sp>
      </p:grpSp>
      <p:grpSp>
        <p:nvGrpSpPr>
          <p:cNvPr id="41" name="analogy"/>
          <p:cNvGrpSpPr/>
          <p:nvPr/>
        </p:nvGrpSpPr>
        <p:grpSpPr>
          <a:xfrm>
            <a:off x="571500" y="5524500"/>
            <a:ext cx="11049000" cy="647700"/>
            <a:chOff x="571500" y="5524500"/>
            <a:chExt cx="11049000" cy="647700"/>
          </a:xfrm>
        </p:grpSpPr>
        <p:sp>
          <p:nvSpPr>
            <p:cNvPr id="39" name="Rectangle 39"/>
            <p:cNvSpPr/>
            <p:nvPr/>
          </p:nvSpPr>
          <p:spPr>
            <a:xfrm>
              <a:off x="571500" y="5524500"/>
              <a:ext cx="11049000" cy="647700"/>
            </a:xfrm>
            <a:prstGeom prst="rect">
              <a:avLst/>
            </a:prstGeom>
            <a:solidFill>
              <a:srgbClr val="EAF4F6"/>
            </a:solidFill>
            <a:ln>
              <a:noFill/>
            </a:ln>
          </p:spPr>
        </p:sp>
        <p:sp>
          <p:nvSpPr>
            <p:cNvPr id="40" name="TextBox 40"/>
            <p:cNvSpPr txBox="1"/>
            <p:nvPr/>
          </p:nvSpPr>
          <p:spPr>
            <a:xfrm>
              <a:off x="792099" y="5754529"/>
              <a:ext cx="1074718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xml:space="preserve">Kargo takip numarası: </a:t>
              </a:r>
              <a:r>
                <a:rPr lang="tr-TR" sz="1580" dirty="0">
                  <a:solidFill>
                    <a:srgbClr val="172B3A"/>
                  </a:solidFill>
                  <a:latin typeface="+mn-lt"/>
                  <a:ea typeface="+mn-ea"/>
                  <a:cs typeface="+mn-cs"/>
                </a:rPr>
                <a:t>paket henüz gelmedi, ama numara teslimatın gelecekteki sonucunu temsil eder.</a:t>
              </a:r>
            </a:p>
          </p:txBody>
        </p:sp>
      </p:grpSp>
      <p:grpSp>
        <p:nvGrpSpPr>
          <p:cNvPr id="44" name="footer"/>
          <p:cNvGrpSpPr/>
          <p:nvPr/>
        </p:nvGrpSpPr>
        <p:grpSpPr>
          <a:xfrm>
            <a:off x="565404" y="6404610"/>
            <a:ext cx="11061192" cy="234696"/>
            <a:chOff x="565404" y="6404610"/>
            <a:chExt cx="11061192" cy="234696"/>
          </a:xfrm>
        </p:grpSpPr>
        <p:sp>
          <p:nvSpPr>
            <p:cNvPr id="42" name="TextBox 42"/>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43" name="TextBox 43"/>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8065820"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await bekler, ama uygulamayı durdurmaz</a:t>
              </a:r>
            </a:p>
          </p:txBody>
        </p:sp>
      </p:grpSp>
      <p:grpSp>
        <p:nvGrpSpPr>
          <p:cNvPr id="35" name="lanes"/>
          <p:cNvGrpSpPr/>
          <p:nvPr/>
        </p:nvGrpSpPr>
        <p:grpSpPr>
          <a:xfrm>
            <a:off x="563499" y="1299210"/>
            <a:ext cx="7056501" cy="3906107"/>
            <a:chOff x="563499" y="1299210"/>
            <a:chExt cx="7056501" cy="3906107"/>
          </a:xfrm>
        </p:grpSpPr>
        <p:grpSp>
          <p:nvGrpSpPr>
            <p:cNvPr id="8" name="Group 8"/>
            <p:cNvGrpSpPr/>
            <p:nvPr/>
          </p:nvGrpSpPr>
          <p:grpSpPr>
            <a:xfrm>
              <a:off x="565404" y="1299210"/>
              <a:ext cx="1929872" cy="2139696"/>
              <a:chOff x="565404" y="1299210"/>
              <a:chExt cx="1929872" cy="2139696"/>
            </a:xfrm>
          </p:grpSpPr>
          <p:sp>
            <p:nvSpPr>
              <p:cNvPr id="6" name="TextBox 6"/>
              <p:cNvSpPr txBox="1"/>
              <p:nvPr/>
            </p:nvSpPr>
            <p:spPr>
              <a:xfrm>
                <a:off x="565404" y="1299210"/>
                <a:ext cx="1517660" cy="234696"/>
              </a:xfrm>
              <a:prstGeom prst="rect">
                <a:avLst/>
              </a:prstGeom>
              <a:noFill/>
              <a:ln>
                <a:noFill/>
              </a:ln>
            </p:spPr>
            <p:txBody>
              <a:bodyPr wrap="none" lIns="0" tIns="0" rIns="0" bIns="0" anchor="t" anchorCtr="0">
                <a:spAutoFit/>
              </a:bodyPr>
              <a:lstStyle/>
              <a:p>
                <a:pPr algn="l"/>
                <a:r>
                  <a:rPr lang="tr-TR" sz="1200" b="1" dirty="0">
                    <a:solidFill>
                      <a:srgbClr val="52616B"/>
                    </a:solidFill>
                    <a:latin typeface="+mn-lt"/>
                    <a:ea typeface="+mn-ea"/>
                    <a:cs typeface="+mn-cs"/>
                  </a:rPr>
                  <a:t>ASYNC FONKSİYON</a:t>
                </a:r>
              </a:p>
            </p:txBody>
          </p:sp>
          <p:sp>
            <p:nvSpPr>
              <p:cNvPr id="7" name="TextBox 7"/>
              <p:cNvSpPr txBox="1"/>
              <p:nvPr/>
            </p:nvSpPr>
            <p:spPr>
              <a:xfrm>
                <a:off x="565404" y="3204210"/>
                <a:ext cx="1929872" cy="234696"/>
              </a:xfrm>
              <a:prstGeom prst="rect">
                <a:avLst/>
              </a:prstGeom>
              <a:noFill/>
              <a:ln>
                <a:noFill/>
              </a:ln>
            </p:spPr>
            <p:txBody>
              <a:bodyPr wrap="none" lIns="0" tIns="0" rIns="0" bIns="0" anchor="t" anchorCtr="0">
                <a:spAutoFit/>
              </a:bodyPr>
              <a:lstStyle/>
              <a:p>
                <a:pPr algn="l"/>
                <a:r>
                  <a:rPr lang="tr-TR" sz="1200" b="1" dirty="0">
                    <a:solidFill>
                      <a:srgbClr val="52616B"/>
                    </a:solidFill>
                    <a:latin typeface="+mn-lt"/>
                    <a:ea typeface="+mn-ea"/>
                    <a:cs typeface="+mn-cs"/>
                  </a:rPr>
                  <a:t>EVENT LOOP · ANA AKIŞ</a:t>
                </a:r>
              </a:p>
            </p:txBody>
          </p:sp>
        </p:grpSp>
        <p:sp>
          <p:nvSpPr>
            <p:cNvPr id="9" name="Line 9"/>
            <p:cNvSpPr/>
            <p:nvPr/>
          </p:nvSpPr>
          <p:spPr>
            <a:xfrm>
              <a:off x="571500" y="2000250"/>
              <a:ext cx="7048500" cy="9525"/>
            </a:xfrm>
            <a:custGeom>
              <a:avLst/>
              <a:gdLst/>
              <a:ahLst/>
              <a:cxnLst/>
              <a:rect l="l" t="t" r="r" b="b"/>
              <a:pathLst>
                <a:path w="7048500" h="9525">
                  <a:moveTo>
                    <a:pt x="0" y="0"/>
                  </a:moveTo>
                  <a:lnTo>
                    <a:pt x="7048500" y="0"/>
                  </a:lnTo>
                </a:path>
              </a:pathLst>
            </a:custGeom>
            <a:noFill/>
            <a:ln w="19050">
              <a:solidFill>
                <a:srgbClr val="B8CBD3"/>
              </a:solidFill>
            </a:ln>
          </p:spPr>
        </p:sp>
        <p:sp>
          <p:nvSpPr>
            <p:cNvPr id="10" name="Line 10"/>
            <p:cNvSpPr/>
            <p:nvPr/>
          </p:nvSpPr>
          <p:spPr>
            <a:xfrm>
              <a:off x="571500" y="3905250"/>
              <a:ext cx="7048500" cy="9525"/>
            </a:xfrm>
            <a:custGeom>
              <a:avLst/>
              <a:gdLst/>
              <a:ahLst/>
              <a:cxnLst/>
              <a:rect l="l" t="t" r="r" b="b"/>
              <a:pathLst>
                <a:path w="7048500" h="9525">
                  <a:moveTo>
                    <a:pt x="0" y="0"/>
                  </a:moveTo>
                  <a:lnTo>
                    <a:pt x="7048500" y="0"/>
                  </a:lnTo>
                </a:path>
              </a:pathLst>
            </a:custGeom>
            <a:noFill/>
            <a:ln w="19050">
              <a:solidFill>
                <a:srgbClr val="B8CBD3"/>
              </a:solidFill>
            </a:ln>
          </p:spPr>
        </p:sp>
        <p:sp>
          <p:nvSpPr>
            <p:cNvPr id="11" name="Rectangle 11"/>
            <p:cNvSpPr/>
            <p:nvPr/>
          </p:nvSpPr>
          <p:spPr>
            <a:xfrm>
              <a:off x="571500" y="1619250"/>
              <a:ext cx="1905000" cy="762000"/>
            </a:xfrm>
            <a:prstGeom prst="rect">
              <a:avLst/>
            </a:prstGeom>
            <a:solidFill>
              <a:srgbClr val="12355B"/>
            </a:solidFill>
            <a:ln>
              <a:noFill/>
            </a:ln>
          </p:spPr>
        </p:sp>
        <p:sp>
          <p:nvSpPr>
            <p:cNvPr id="12" name="Rectangle 12"/>
            <p:cNvSpPr/>
            <p:nvPr/>
          </p:nvSpPr>
          <p:spPr>
            <a:xfrm>
              <a:off x="2476500" y="1619250"/>
              <a:ext cx="2857500" cy="762000"/>
            </a:xfrm>
            <a:prstGeom prst="rect">
              <a:avLst/>
            </a:prstGeom>
            <a:noFill/>
            <a:ln w="19050">
              <a:solidFill>
                <a:srgbClr val="12355B"/>
              </a:solidFill>
              <a:prstDash val="lgDash"/>
            </a:ln>
          </p:spPr>
        </p:sp>
        <p:sp>
          <p:nvSpPr>
            <p:cNvPr id="13" name="Rectangle 13"/>
            <p:cNvSpPr/>
            <p:nvPr/>
          </p:nvSpPr>
          <p:spPr>
            <a:xfrm>
              <a:off x="5334000" y="1619250"/>
              <a:ext cx="2286000" cy="762000"/>
            </a:xfrm>
            <a:prstGeom prst="rect">
              <a:avLst/>
            </a:prstGeom>
            <a:solidFill>
              <a:srgbClr val="12355B"/>
            </a:solidFill>
            <a:ln>
              <a:noFill/>
            </a:ln>
          </p:spPr>
        </p:sp>
        <p:grpSp>
          <p:nvGrpSpPr>
            <p:cNvPr id="16" name="Group 16"/>
            <p:cNvGrpSpPr/>
            <p:nvPr/>
          </p:nvGrpSpPr>
          <p:grpSpPr>
            <a:xfrm>
              <a:off x="1113997" y="1906429"/>
              <a:ext cx="6175009" cy="308039"/>
              <a:chOff x="1113997" y="1906429"/>
              <a:chExt cx="6175009" cy="308039"/>
            </a:xfrm>
          </p:grpSpPr>
          <p:sp>
            <p:nvSpPr>
              <p:cNvPr id="14" name="TextBox 14"/>
              <p:cNvSpPr txBox="1"/>
              <p:nvPr/>
            </p:nvSpPr>
            <p:spPr>
              <a:xfrm>
                <a:off x="1113997" y="1906429"/>
                <a:ext cx="820006" cy="308039"/>
              </a:xfrm>
              <a:prstGeom prst="rect">
                <a:avLst/>
              </a:prstGeom>
              <a:noFill/>
              <a:ln>
                <a:noFill/>
              </a:ln>
            </p:spPr>
            <p:txBody>
              <a:bodyPr wrap="none" lIns="0" tIns="0" rIns="0" bIns="0" anchor="t" anchorCtr="0">
                <a:spAutoFit/>
              </a:bodyPr>
              <a:lstStyle/>
              <a:p>
                <a:pPr algn="ctr"/>
                <a:r>
                  <a:rPr lang="tr-TR" sz="1580" b="1" dirty="0">
                    <a:solidFill>
                      <a:srgbClr val="F7FAFC"/>
                    </a:solidFill>
                    <a:latin typeface="+mn-lt"/>
                    <a:ea typeface="+mn-ea"/>
                    <a:cs typeface="+mn-cs"/>
                  </a:rPr>
                  <a:t>çalışır</a:t>
                </a:r>
              </a:p>
            </p:txBody>
          </p:sp>
          <p:sp>
            <p:nvSpPr>
              <p:cNvPr id="15" name="TextBox 15"/>
              <p:cNvSpPr txBox="1"/>
              <p:nvPr/>
            </p:nvSpPr>
            <p:spPr>
              <a:xfrm>
                <a:off x="5664995" y="1906429"/>
                <a:ext cx="1624011" cy="308039"/>
              </a:xfrm>
              <a:prstGeom prst="rect">
                <a:avLst/>
              </a:prstGeom>
              <a:noFill/>
              <a:ln>
                <a:noFill/>
              </a:ln>
            </p:spPr>
            <p:txBody>
              <a:bodyPr wrap="none" lIns="0" tIns="0" rIns="0" bIns="0" anchor="t" anchorCtr="0">
                <a:spAutoFit/>
              </a:bodyPr>
              <a:lstStyle/>
              <a:p>
                <a:pPr algn="ctr"/>
                <a:r>
                  <a:rPr lang="tr-TR" sz="1580" b="1" dirty="0">
                    <a:solidFill>
                      <a:srgbClr val="F7FAFC"/>
                    </a:solidFill>
                    <a:latin typeface="+mn-lt"/>
                    <a:ea typeface="+mn-ea"/>
                    <a:cs typeface="+mn-cs"/>
                  </a:rPr>
                  <a:t>kaldığı yerden</a:t>
                </a:r>
              </a:p>
            </p:txBody>
          </p:sp>
        </p:grpSp>
        <p:sp>
          <p:nvSpPr>
            <p:cNvPr id="17" name="TextBox 17"/>
            <p:cNvSpPr txBox="1"/>
            <p:nvPr/>
          </p:nvSpPr>
          <p:spPr>
            <a:xfrm>
              <a:off x="3175730" y="1800225"/>
              <a:ext cx="1459040" cy="293370"/>
            </a:xfrm>
            <a:prstGeom prst="rect">
              <a:avLst/>
            </a:prstGeom>
            <a:noFill/>
            <a:ln>
              <a:noFill/>
            </a:ln>
          </p:spPr>
          <p:txBody>
            <a:bodyPr wrap="none" lIns="0" tIns="0" rIns="0" bIns="0" anchor="t" anchorCtr="0">
              <a:spAutoFit/>
            </a:bodyPr>
            <a:lstStyle/>
            <a:p>
              <a:pPr algn="ctr"/>
              <a:r>
                <a:rPr lang="tr-TR" sz="1500" b="1" dirty="0">
                  <a:solidFill>
                    <a:srgbClr val="12355B"/>
                  </a:solidFill>
                  <a:latin typeface="Consolas"/>
                  <a:ea typeface="Consolas"/>
                  <a:cs typeface="Consolas"/>
                </a:rPr>
                <a:t>await sorgu()</a:t>
              </a:r>
            </a:p>
          </p:txBody>
        </p:sp>
        <p:sp>
          <p:nvSpPr>
            <p:cNvPr id="18" name="TextBox 18"/>
            <p:cNvSpPr txBox="1"/>
            <p:nvPr/>
          </p:nvSpPr>
          <p:spPr>
            <a:xfrm>
              <a:off x="2824886" y="2118360"/>
              <a:ext cx="2160727"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askıda · kontrolü devreder</a:t>
              </a:r>
            </a:p>
          </p:txBody>
        </p:sp>
        <p:grpSp>
          <p:nvGrpSpPr>
            <p:cNvPr id="21" name="Group 21"/>
            <p:cNvGrpSpPr/>
            <p:nvPr/>
          </p:nvGrpSpPr>
          <p:grpSpPr>
            <a:xfrm>
              <a:off x="2571750" y="2419350"/>
              <a:ext cx="2667001" cy="1066800"/>
              <a:chOff x="2571750" y="2419350"/>
              <a:chExt cx="2667001" cy="1066800"/>
            </a:xfrm>
          </p:grpSpPr>
          <p:sp>
            <p:nvSpPr>
              <p:cNvPr id="19" name="Line 19"/>
              <p:cNvSpPr/>
              <p:nvPr/>
            </p:nvSpPr>
            <p:spPr>
              <a:xfrm>
                <a:off x="2571750" y="2419350"/>
                <a:ext cx="1" cy="1047750"/>
              </a:xfrm>
              <a:prstGeom prst="line">
                <a:avLst/>
              </a:prstGeom>
              <a:noFill/>
              <a:ln w="28575">
                <a:solidFill>
                  <a:srgbClr val="00A6A6"/>
                </a:solidFill>
                <a:tailEnd type="triangle" w="lg" len="lg"/>
              </a:ln>
            </p:spPr>
          </p:sp>
          <p:sp>
            <p:nvSpPr>
              <p:cNvPr id="20" name="Line 20"/>
              <p:cNvSpPr/>
              <p:nvPr/>
            </p:nvSpPr>
            <p:spPr>
              <a:xfrm flipV="1">
                <a:off x="5238750" y="2438400"/>
                <a:ext cx="1" cy="1047750"/>
              </a:xfrm>
              <a:prstGeom prst="line">
                <a:avLst/>
              </a:prstGeom>
              <a:noFill/>
              <a:ln w="28575">
                <a:solidFill>
                  <a:srgbClr val="00A6A6"/>
                </a:solidFill>
                <a:tailEnd type="triangle" w="lg" len="lg"/>
              </a:ln>
            </p:spPr>
          </p:sp>
        </p:grpSp>
        <p:grpSp>
          <p:nvGrpSpPr>
            <p:cNvPr id="24" name="Group 24"/>
            <p:cNvGrpSpPr/>
            <p:nvPr/>
          </p:nvGrpSpPr>
          <p:grpSpPr>
            <a:xfrm>
              <a:off x="2679954" y="2727960"/>
              <a:ext cx="2930347" cy="520446"/>
              <a:chOff x="2679954" y="2727960"/>
              <a:chExt cx="2930347" cy="520446"/>
            </a:xfrm>
          </p:grpSpPr>
          <p:sp>
            <p:nvSpPr>
              <p:cNvPr id="22" name="TextBox 22"/>
              <p:cNvSpPr txBox="1"/>
              <p:nvPr/>
            </p:nvSpPr>
            <p:spPr>
              <a:xfrm>
                <a:off x="2679954" y="2727960"/>
                <a:ext cx="37566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yield</a:t>
                </a:r>
              </a:p>
            </p:txBody>
          </p:sp>
          <p:sp>
            <p:nvSpPr>
              <p:cNvPr id="23" name="TextBox 23"/>
              <p:cNvSpPr txBox="1"/>
              <p:nvPr/>
            </p:nvSpPr>
            <p:spPr>
              <a:xfrm>
                <a:off x="4661154" y="3013710"/>
                <a:ext cx="949147"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sonuç hazır</a:t>
                </a:r>
              </a:p>
            </p:txBody>
          </p:sp>
        </p:grpSp>
        <p:grpSp>
          <p:nvGrpSpPr>
            <p:cNvPr id="27" name="Group 27"/>
            <p:cNvGrpSpPr/>
            <p:nvPr/>
          </p:nvGrpSpPr>
          <p:grpSpPr>
            <a:xfrm>
              <a:off x="2762250" y="3524250"/>
              <a:ext cx="2381250" cy="762000"/>
              <a:chOff x="2762250" y="3524250"/>
              <a:chExt cx="2381250" cy="762000"/>
            </a:xfrm>
          </p:grpSpPr>
          <p:sp>
            <p:nvSpPr>
              <p:cNvPr id="25" name="Rectangle 25"/>
              <p:cNvSpPr/>
              <p:nvPr/>
            </p:nvSpPr>
            <p:spPr>
              <a:xfrm>
                <a:off x="2762250" y="3524250"/>
                <a:ext cx="1143000" cy="762000"/>
              </a:xfrm>
              <a:prstGeom prst="rect">
                <a:avLst/>
              </a:prstGeom>
              <a:solidFill>
                <a:srgbClr val="EAF4F6"/>
              </a:solidFill>
              <a:ln w="19050">
                <a:solidFill>
                  <a:srgbClr val="2E86AB"/>
                </a:solidFill>
              </a:ln>
            </p:spPr>
          </p:sp>
          <p:sp>
            <p:nvSpPr>
              <p:cNvPr id="26" name="Rectangle 26"/>
              <p:cNvSpPr/>
              <p:nvPr/>
            </p:nvSpPr>
            <p:spPr>
              <a:xfrm>
                <a:off x="4000500" y="3524250"/>
                <a:ext cx="1143000" cy="762000"/>
              </a:xfrm>
              <a:prstGeom prst="rect">
                <a:avLst/>
              </a:prstGeom>
              <a:solidFill>
                <a:srgbClr val="EAF4F6"/>
              </a:solidFill>
              <a:ln w="19050">
                <a:solidFill>
                  <a:srgbClr val="2E86AB"/>
                </a:solidFill>
              </a:ln>
            </p:spPr>
          </p:sp>
        </p:grpSp>
        <p:grpSp>
          <p:nvGrpSpPr>
            <p:cNvPr id="30" name="Group 30"/>
            <p:cNvGrpSpPr/>
            <p:nvPr/>
          </p:nvGrpSpPr>
          <p:grpSpPr>
            <a:xfrm>
              <a:off x="2966116" y="3697129"/>
              <a:ext cx="1973518" cy="308039"/>
              <a:chOff x="2966116" y="3697129"/>
              <a:chExt cx="1973518" cy="308039"/>
            </a:xfrm>
          </p:grpSpPr>
          <p:sp>
            <p:nvSpPr>
              <p:cNvPr id="28" name="TextBox 28"/>
              <p:cNvSpPr txBox="1"/>
              <p:nvPr/>
            </p:nvSpPr>
            <p:spPr>
              <a:xfrm>
                <a:off x="2966116" y="3697129"/>
                <a:ext cx="735268" cy="308039"/>
              </a:xfrm>
              <a:prstGeom prst="rect">
                <a:avLst/>
              </a:prstGeom>
              <a:noFill/>
              <a:ln>
                <a:noFill/>
              </a:ln>
            </p:spPr>
            <p:txBody>
              <a:bodyPr wrap="none" lIns="0" tIns="0" rIns="0" bIns="0" anchor="t" anchorCtr="0">
                <a:spAutoFit/>
              </a:bodyPr>
              <a:lstStyle/>
              <a:p>
                <a:pPr algn="ctr"/>
                <a:r>
                  <a:rPr lang="tr-TR" sz="1580" dirty="0">
                    <a:solidFill>
                      <a:srgbClr val="172B3A"/>
                    </a:solidFill>
                    <a:latin typeface="+mn-lt"/>
                    <a:ea typeface="+mn-ea"/>
                    <a:cs typeface="+mn-cs"/>
                  </a:rPr>
                  <a:t>istek A</a:t>
                </a:r>
              </a:p>
            </p:txBody>
          </p:sp>
          <p:sp>
            <p:nvSpPr>
              <p:cNvPr id="29" name="TextBox 29"/>
              <p:cNvSpPr txBox="1"/>
              <p:nvPr/>
            </p:nvSpPr>
            <p:spPr>
              <a:xfrm>
                <a:off x="4204366" y="3697129"/>
                <a:ext cx="735268" cy="308039"/>
              </a:xfrm>
              <a:prstGeom prst="rect">
                <a:avLst/>
              </a:prstGeom>
              <a:noFill/>
              <a:ln>
                <a:noFill/>
              </a:ln>
            </p:spPr>
            <p:txBody>
              <a:bodyPr wrap="none" lIns="0" tIns="0" rIns="0" bIns="0" anchor="t" anchorCtr="0">
                <a:spAutoFit/>
              </a:bodyPr>
              <a:lstStyle/>
              <a:p>
                <a:pPr algn="ctr"/>
                <a:r>
                  <a:rPr lang="tr-TR" sz="1580" dirty="0">
                    <a:solidFill>
                      <a:srgbClr val="172B3A"/>
                    </a:solidFill>
                    <a:latin typeface="+mn-lt"/>
                    <a:ea typeface="+mn-ea"/>
                    <a:cs typeface="+mn-cs"/>
                  </a:rPr>
                  <a:t>istek B</a:t>
                </a:r>
              </a:p>
            </p:txBody>
          </p:sp>
        </p:grpSp>
        <p:grpSp>
          <p:nvGrpSpPr>
            <p:cNvPr id="33" name="Group 33"/>
            <p:cNvGrpSpPr/>
            <p:nvPr/>
          </p:nvGrpSpPr>
          <p:grpSpPr>
            <a:xfrm>
              <a:off x="3077261" y="3985260"/>
              <a:ext cx="1751228" cy="234696"/>
              <a:chOff x="3077261" y="3985260"/>
              <a:chExt cx="1751228" cy="234696"/>
            </a:xfrm>
          </p:grpSpPr>
          <p:sp>
            <p:nvSpPr>
              <p:cNvPr id="31" name="TextBox 31"/>
              <p:cNvSpPr txBox="1"/>
              <p:nvPr/>
            </p:nvSpPr>
            <p:spPr>
              <a:xfrm>
                <a:off x="3077261" y="3985260"/>
                <a:ext cx="51297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işlenir</a:t>
                </a:r>
              </a:p>
            </p:txBody>
          </p:sp>
          <p:sp>
            <p:nvSpPr>
              <p:cNvPr id="32" name="TextBox 32"/>
              <p:cNvSpPr txBox="1"/>
              <p:nvPr/>
            </p:nvSpPr>
            <p:spPr>
              <a:xfrm>
                <a:off x="4315511" y="3985260"/>
                <a:ext cx="51297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işlenir</a:t>
                </a:r>
              </a:p>
            </p:txBody>
          </p:sp>
        </p:grpSp>
        <p:sp>
          <p:nvSpPr>
            <p:cNvPr id="34" name="TextBox 34"/>
            <p:cNvSpPr txBox="1"/>
            <p:nvPr/>
          </p:nvSpPr>
          <p:spPr>
            <a:xfrm>
              <a:off x="563499" y="4611529"/>
              <a:ext cx="6075934" cy="59378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İki await arasındaki senkron kod kesintisiz (atomik) çalışır:</a:t>
              </a:r>
              <a:br/>
              <a:r>
                <a:rPr lang="tr-TR" sz="1580" dirty="0">
                  <a:solidFill>
                    <a:srgbClr val="172B3A"/>
                  </a:solidFill>
                  <a:latin typeface="+mn-lt"/>
                  <a:ea typeface="+mn-ea"/>
                  <a:cs typeface="+mn-cs"/>
                </a:rPr>
                <a:t>işbirlikçi çoklu görev, zorla kesme yok.</a:t>
              </a:r>
            </a:p>
          </p:txBody>
        </p:sp>
      </p:grpSp>
      <p:grpSp>
        <p:nvGrpSpPr>
          <p:cNvPr id="42" name="rules"/>
          <p:cNvGrpSpPr/>
          <p:nvPr/>
        </p:nvGrpSpPr>
        <p:grpSpPr>
          <a:xfrm>
            <a:off x="8096250" y="1238250"/>
            <a:ext cx="2703703" cy="3810000"/>
            <a:chOff x="8096250" y="1238250"/>
            <a:chExt cx="2703703" cy="3810000"/>
          </a:xfrm>
        </p:grpSpPr>
        <p:sp>
          <p:nvSpPr>
            <p:cNvPr id="36" name="Rectangle 36"/>
            <p:cNvSpPr/>
            <p:nvPr/>
          </p:nvSpPr>
          <p:spPr>
            <a:xfrm>
              <a:off x="8096250" y="1238250"/>
              <a:ext cx="57150" cy="3810000"/>
            </a:xfrm>
            <a:prstGeom prst="rect">
              <a:avLst/>
            </a:prstGeom>
            <a:solidFill>
              <a:srgbClr val="00A6A6"/>
            </a:solidFill>
            <a:ln>
              <a:noFill/>
            </a:ln>
          </p:spPr>
        </p:sp>
        <p:grpSp>
          <p:nvGrpSpPr>
            <p:cNvPr id="41" name="Group 41"/>
            <p:cNvGrpSpPr/>
            <p:nvPr/>
          </p:nvGrpSpPr>
          <p:grpSpPr>
            <a:xfrm>
              <a:off x="8335899" y="1353979"/>
              <a:ext cx="2464054" cy="3527489"/>
              <a:chOff x="8335899" y="1353979"/>
              <a:chExt cx="2464054" cy="3527489"/>
            </a:xfrm>
          </p:grpSpPr>
          <p:sp>
            <p:nvSpPr>
              <p:cNvPr id="37" name="TextBox 37"/>
              <p:cNvSpPr txBox="1"/>
              <p:nvPr/>
            </p:nvSpPr>
            <p:spPr>
              <a:xfrm>
                <a:off x="8335899" y="1353979"/>
                <a:ext cx="2373757" cy="574738"/>
              </a:xfrm>
              <a:prstGeom prst="rect">
                <a:avLst/>
              </a:prstGeom>
              <a:noFill/>
              <a:ln>
                <a:noFill/>
              </a:ln>
            </p:spPr>
            <p:txBody>
              <a:bodyPr wrap="none" lIns="0" tIns="0" rIns="0" bIns="0" anchor="t" anchorCtr="0">
                <a:spAutoFit/>
              </a:bodyPr>
              <a:lstStyle/>
              <a:p>
                <a:pPr algn="l">
                  <a:lnSpc>
                    <a:spcPts val="2100"/>
                  </a:lnSpc>
                </a:pPr>
                <a:r>
                  <a:rPr lang="tr-TR" sz="1580" b="1" dirty="0">
                    <a:solidFill>
                      <a:srgbClr val="12355B"/>
                    </a:solidFill>
                    <a:latin typeface="+mn-lt"/>
                    <a:ea typeface="+mn-ea"/>
                    <a:cs typeface="+mn-cs"/>
                  </a:rPr>
                  <a:t xml:space="preserve">async </a:t>
                </a:r>
                <a:r>
                  <a:rPr lang="tr-TR" sz="1580" dirty="0">
                    <a:solidFill>
                      <a:srgbClr val="172B3A"/>
                    </a:solidFill>
                    <a:latin typeface="+mn-lt"/>
                    <a:ea typeface="+mn-ea"/>
                    <a:cs typeface="+mn-cs"/>
                  </a:rPr>
                  <a:t>fonksiyon her</a:t>
                </a:r>
                <a:br/>
                <a:r>
                  <a:rPr lang="tr-TR" sz="1580" dirty="0">
                    <a:solidFill>
                      <a:srgbClr val="172B3A"/>
                    </a:solidFill>
                    <a:latin typeface="+mn-lt"/>
                    <a:ea typeface="+mn-ea"/>
                    <a:cs typeface="+mn-cs"/>
                  </a:rPr>
                  <a:t>zaman Promise döndürür</a:t>
                </a:r>
              </a:p>
            </p:txBody>
          </p:sp>
          <p:sp>
            <p:nvSpPr>
              <p:cNvPr id="38" name="TextBox 38"/>
              <p:cNvSpPr txBox="1"/>
              <p:nvPr/>
            </p:nvSpPr>
            <p:spPr>
              <a:xfrm>
                <a:off x="8335899" y="2287429"/>
                <a:ext cx="2092833" cy="841438"/>
              </a:xfrm>
              <a:prstGeom prst="rect">
                <a:avLst/>
              </a:prstGeom>
              <a:noFill/>
              <a:ln>
                <a:noFill/>
              </a:ln>
            </p:spPr>
            <p:txBody>
              <a:bodyPr wrap="none" lIns="0" tIns="0" rIns="0" bIns="0" anchor="t" anchorCtr="0">
                <a:spAutoFit/>
              </a:bodyPr>
              <a:lstStyle/>
              <a:p>
                <a:pPr algn="l">
                  <a:lnSpc>
                    <a:spcPts val="2100"/>
                  </a:lnSpc>
                </a:pPr>
                <a:r>
                  <a:rPr lang="tr-TR" sz="1580" b="1" dirty="0">
                    <a:solidFill>
                      <a:srgbClr val="12355B"/>
                    </a:solidFill>
                    <a:latin typeface="+mn-lt"/>
                    <a:ea typeface="+mn-ea"/>
                    <a:cs typeface="+mn-cs"/>
                  </a:rPr>
                  <a:t xml:space="preserve">await </a:t>
                </a:r>
                <a:r>
                  <a:rPr lang="tr-TR" sz="1580" dirty="0">
                    <a:solidFill>
                      <a:srgbClr val="172B3A"/>
                    </a:solidFill>
                    <a:latin typeface="+mn-lt"/>
                    <a:ea typeface="+mn-ea"/>
                    <a:cs typeface="+mn-cs"/>
                  </a:rPr>
                  <a:t>yalnızca async</a:t>
                </a:r>
                <a:br/>
                <a:r>
                  <a:rPr lang="tr-TR" sz="1580" dirty="0">
                    <a:solidFill>
                      <a:srgbClr val="172B3A"/>
                    </a:solidFill>
                    <a:latin typeface="+mn-lt"/>
                    <a:ea typeface="+mn-ea"/>
                    <a:cs typeface="+mn-cs"/>
                  </a:rPr>
                  <a:t>içinde ya da modülün</a:t>
                </a:r>
                <a:br/>
                <a:r>
                  <a:rPr lang="tr-TR" sz="1580" dirty="0">
                    <a:solidFill>
                      <a:srgbClr val="172B3A"/>
                    </a:solidFill>
                    <a:latin typeface="+mn-lt"/>
                    <a:ea typeface="+mn-ea"/>
                    <a:cs typeface="+mn-cs"/>
                  </a:rPr>
                  <a:t>en üst düzeyinde</a:t>
                </a:r>
              </a:p>
            </p:txBody>
          </p:sp>
          <p:sp>
            <p:nvSpPr>
              <p:cNvPr id="39" name="TextBox 39"/>
              <p:cNvSpPr txBox="1"/>
              <p:nvPr/>
            </p:nvSpPr>
            <p:spPr>
              <a:xfrm>
                <a:off x="8335899" y="3487579"/>
                <a:ext cx="2464054" cy="841438"/>
              </a:xfrm>
              <a:prstGeom prst="rect">
                <a:avLst/>
              </a:prstGeom>
              <a:noFill/>
              <a:ln>
                <a:noFill/>
              </a:ln>
            </p:spPr>
            <p:txBody>
              <a:bodyPr wrap="none" lIns="0" tIns="0" rIns="0" bIns="0" anchor="t" anchorCtr="0">
                <a:spAutoFit/>
              </a:bodyPr>
              <a:lstStyle/>
              <a:p>
                <a:pPr algn="l">
                  <a:lnSpc>
                    <a:spcPts val="2100"/>
                  </a:lnSpc>
                </a:pPr>
                <a:r>
                  <a:rPr lang="tr-TR" sz="1580" b="1" dirty="0">
                    <a:solidFill>
                      <a:srgbClr val="12355B"/>
                    </a:solidFill>
                    <a:latin typeface="+mn-lt"/>
                    <a:ea typeface="+mn-ea"/>
                    <a:cs typeface="+mn-cs"/>
                  </a:rPr>
                  <a:t xml:space="preserve">Thread açmaz: </a:t>
                </a:r>
                <a:r>
                  <a:rPr lang="tr-TR" sz="1580" dirty="0">
                    <a:solidFill>
                      <a:srgbClr val="172B3A"/>
                    </a:solidFill>
                    <a:latin typeface="+mn-lt"/>
                    <a:ea typeface="+mn-ea"/>
                    <a:cs typeface="+mn-cs"/>
                  </a:rPr>
                  <a:t>CPU</a:t>
                </a:r>
                <a:br/>
                <a:r>
                  <a:rPr lang="tr-TR" sz="1580" dirty="0">
                    <a:solidFill>
                      <a:srgbClr val="172B3A"/>
                    </a:solidFill>
                    <a:latin typeface="+mn-lt"/>
                    <a:ea typeface="+mn-ea"/>
                    <a:cs typeface="+mn-cs"/>
                  </a:rPr>
                  <a:t>yoğun döngü event loop’u</a:t>
                </a:r>
                <a:br/>
                <a:r>
                  <a:rPr lang="tr-TR" sz="1580" dirty="0">
                    <a:solidFill>
                      <a:srgbClr val="172B3A"/>
                    </a:solidFill>
                    <a:latin typeface="+mn-lt"/>
                    <a:ea typeface="+mn-ea"/>
                    <a:cs typeface="+mn-cs"/>
                  </a:rPr>
                  <a:t>yine meşgul eder</a:t>
                </a:r>
              </a:p>
            </p:txBody>
          </p:sp>
          <p:sp>
            <p:nvSpPr>
              <p:cNvPr id="40" name="TextBox 40"/>
              <p:cNvSpPr txBox="1"/>
              <p:nvPr/>
            </p:nvSpPr>
            <p:spPr>
              <a:xfrm>
                <a:off x="8335899" y="4573429"/>
                <a:ext cx="238651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Kökeni: koroutin, 1963</a:t>
                </a:r>
              </a:p>
            </p:txBody>
          </p:sp>
        </p:grpSp>
      </p:grpSp>
      <p:grpSp>
        <p:nvGrpSpPr>
          <p:cNvPr id="45" name="analogy"/>
          <p:cNvGrpSpPr/>
          <p:nvPr/>
        </p:nvGrpSpPr>
        <p:grpSpPr>
          <a:xfrm>
            <a:off x="571500" y="5410200"/>
            <a:ext cx="11049000" cy="762000"/>
            <a:chOff x="571500" y="5410200"/>
            <a:chExt cx="11049000" cy="762000"/>
          </a:xfrm>
        </p:grpSpPr>
        <p:sp>
          <p:nvSpPr>
            <p:cNvPr id="43" name="Rectangle 43"/>
            <p:cNvSpPr/>
            <p:nvPr/>
          </p:nvSpPr>
          <p:spPr>
            <a:xfrm>
              <a:off x="571500" y="5410200"/>
              <a:ext cx="11049000" cy="762000"/>
            </a:xfrm>
            <a:prstGeom prst="rect">
              <a:avLst/>
            </a:prstGeom>
            <a:solidFill>
              <a:srgbClr val="EAF4F6"/>
            </a:solidFill>
            <a:ln>
              <a:noFill/>
            </a:ln>
          </p:spPr>
        </p:sp>
        <p:sp>
          <p:nvSpPr>
            <p:cNvPr id="44" name="TextBox 44"/>
            <p:cNvSpPr txBox="1"/>
            <p:nvPr/>
          </p:nvSpPr>
          <p:spPr>
            <a:xfrm>
              <a:off x="792099" y="5544979"/>
              <a:ext cx="8894705" cy="593788"/>
            </a:xfrm>
            <a:prstGeom prst="rect">
              <a:avLst/>
            </a:prstGeom>
            <a:noFill/>
            <a:ln>
              <a:noFill/>
            </a:ln>
          </p:spPr>
          <p:txBody>
            <a:bodyPr wrap="none" lIns="0" tIns="0" rIns="0" bIns="0" anchor="t" anchorCtr="0">
              <a:spAutoFit/>
            </a:bodyPr>
            <a:lstStyle/>
            <a:p>
              <a:pPr algn="l">
                <a:lnSpc>
                  <a:spcPts val="2250"/>
                </a:lnSpc>
              </a:pPr>
              <a:r>
                <a:rPr lang="tr-TR" sz="1580" b="1" dirty="0">
                  <a:solidFill>
                    <a:srgbClr val="12355B"/>
                  </a:solidFill>
                  <a:latin typeface="+mn-lt"/>
                  <a:ea typeface="+mn-ea"/>
                  <a:cs typeface="+mn-cs"/>
                </a:rPr>
                <a:t xml:space="preserve">Banka şubesi: </a:t>
              </a:r>
              <a:r>
                <a:rPr lang="tr-TR" sz="1580" dirty="0">
                  <a:solidFill>
                    <a:srgbClr val="172B3A"/>
                  </a:solidFill>
                  <a:latin typeface="+mn-lt"/>
                  <a:ea typeface="+mn-ea"/>
                  <a:cs typeface="+mn-cs"/>
                </a:rPr>
                <a:t>görevli kredi kontrolünü beklerken bankayı kilitlemez; diğer işlemler sürer.</a:t>
              </a:r>
              <a:br/>
              <a:r>
                <a:rPr lang="tr-TR" sz="1580" dirty="0">
                  <a:solidFill>
                    <a:srgbClr val="172B3A"/>
                  </a:solidFill>
                  <a:latin typeface="+mn-lt"/>
                  <a:ea typeface="+mn-ea"/>
                  <a:cs typeface="+mn-cs"/>
                </a:rPr>
                <a:t>await, yalnızca o işlem sırasının bir sonraki satıra geçmesini erteler.</a:t>
              </a:r>
            </a:p>
          </p:txBody>
        </p:sp>
      </p:grpSp>
      <p:grpSp>
        <p:nvGrpSpPr>
          <p:cNvPr id="48" name="footer"/>
          <p:cNvGrpSpPr/>
          <p:nvPr/>
        </p:nvGrpSpPr>
        <p:grpSpPr>
          <a:xfrm>
            <a:off x="565404" y="6404610"/>
            <a:ext cx="11061192" cy="234696"/>
            <a:chOff x="565404" y="6404610"/>
            <a:chExt cx="11061192" cy="234696"/>
          </a:xfrm>
        </p:grpSpPr>
        <p:sp>
          <p:nvSpPr>
            <p:cNvPr id="46" name="TextBox 46"/>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47" name="TextBox 47"/>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53904" y="368618"/>
                <a:ext cx="206693" cy="177164"/>
                <a:chOff x="753904" y="368618"/>
                <a:chExt cx="206693" cy="177164"/>
              </a:xfrm>
            </p:grpSpPr>
            <p:sp>
              <p:nvSpPr>
                <p:cNvPr id="5" name="Freeform 5"/>
                <p:cNvSpPr/>
                <p:nvPr/>
              </p:nvSpPr>
              <p:spPr>
                <a:xfrm>
                  <a:off x="7539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8720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8720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61872" y="282892"/>
              <a:ext cx="8582449"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Bağımlı adım sırayla, bağımsızlar birlikte</a:t>
              </a:r>
            </a:p>
          </p:txBody>
        </p:sp>
      </p:grpSp>
      <p:grpSp>
        <p:nvGrpSpPr>
          <p:cNvPr id="23" name="sequential"/>
          <p:cNvGrpSpPr/>
          <p:nvPr/>
        </p:nvGrpSpPr>
        <p:grpSpPr>
          <a:xfrm>
            <a:off x="562356" y="1215390"/>
            <a:ext cx="10879490" cy="1456278"/>
            <a:chOff x="562356" y="1215390"/>
            <a:chExt cx="10879490" cy="1456278"/>
          </a:xfrm>
        </p:grpSpPr>
        <p:sp>
          <p:nvSpPr>
            <p:cNvPr id="12" name="TextBox 12"/>
            <p:cNvSpPr txBox="1"/>
            <p:nvPr/>
          </p:nvSpPr>
          <p:spPr>
            <a:xfrm>
              <a:off x="562356" y="1215390"/>
              <a:ext cx="5726279" cy="352044"/>
            </a:xfrm>
            <a:prstGeom prst="rect">
              <a:avLst/>
            </a:prstGeom>
            <a:noFill/>
            <a:ln>
              <a:noFill/>
            </a:ln>
          </p:spPr>
          <p:txBody>
            <a:bodyPr wrap="none" lIns="0" tIns="0" rIns="0" bIns="0" anchor="t" anchorCtr="0">
              <a:spAutoFit/>
            </a:bodyPr>
            <a:lstStyle/>
            <a:p>
              <a:pPr algn="l"/>
              <a:r>
                <a:rPr lang="tr-TR" sz="1800" b="1" dirty="0">
                  <a:solidFill>
                    <a:srgbClr val="52616B"/>
                  </a:solidFill>
                  <a:latin typeface="+mn-lt"/>
                  <a:ea typeface="+mn-ea"/>
                  <a:cs typeface="+mn-cs"/>
                </a:rPr>
                <a:t>Art arda await · bağımsız işler boşuna bekler</a:t>
              </a:r>
            </a:p>
          </p:txBody>
        </p:sp>
        <p:grpSp>
          <p:nvGrpSpPr>
            <p:cNvPr id="16" name="Group 16"/>
            <p:cNvGrpSpPr/>
            <p:nvPr/>
          </p:nvGrpSpPr>
          <p:grpSpPr>
            <a:xfrm>
              <a:off x="571500" y="1600200"/>
              <a:ext cx="8572500" cy="571500"/>
              <a:chOff x="571500" y="1600200"/>
              <a:chExt cx="8572500" cy="571500"/>
            </a:xfrm>
          </p:grpSpPr>
          <p:sp>
            <p:nvSpPr>
              <p:cNvPr id="13" name="Rectangle 13"/>
              <p:cNvSpPr/>
              <p:nvPr/>
            </p:nvSpPr>
            <p:spPr>
              <a:xfrm>
                <a:off x="571500" y="1600200"/>
                <a:ext cx="2857500" cy="571500"/>
              </a:xfrm>
              <a:prstGeom prst="rect">
                <a:avLst/>
              </a:prstGeom>
              <a:solidFill>
                <a:srgbClr val="EAF4F6"/>
              </a:solidFill>
              <a:ln w="19050">
                <a:solidFill>
                  <a:srgbClr val="52616B"/>
                </a:solidFill>
              </a:ln>
            </p:spPr>
          </p:sp>
          <p:sp>
            <p:nvSpPr>
              <p:cNvPr id="14" name="Rectangle 14"/>
              <p:cNvSpPr/>
              <p:nvPr/>
            </p:nvSpPr>
            <p:spPr>
              <a:xfrm>
                <a:off x="3429000" y="1600200"/>
                <a:ext cx="2857500" cy="571500"/>
              </a:xfrm>
              <a:prstGeom prst="rect">
                <a:avLst/>
              </a:prstGeom>
              <a:solidFill>
                <a:srgbClr val="EAF4F6"/>
              </a:solidFill>
              <a:ln w="19050">
                <a:solidFill>
                  <a:srgbClr val="52616B"/>
                </a:solidFill>
              </a:ln>
            </p:spPr>
          </p:sp>
          <p:sp>
            <p:nvSpPr>
              <p:cNvPr id="15" name="Rectangle 15"/>
              <p:cNvSpPr/>
              <p:nvPr/>
            </p:nvSpPr>
            <p:spPr>
              <a:xfrm>
                <a:off x="6286500" y="1600200"/>
                <a:ext cx="2857500" cy="571500"/>
              </a:xfrm>
              <a:prstGeom prst="rect">
                <a:avLst/>
              </a:prstGeom>
              <a:solidFill>
                <a:srgbClr val="EAF4F6"/>
              </a:solidFill>
              <a:ln w="19050">
                <a:solidFill>
                  <a:srgbClr val="52616B"/>
                </a:solidFill>
              </a:ln>
            </p:spPr>
          </p:sp>
        </p:grpSp>
        <p:grpSp>
          <p:nvGrpSpPr>
            <p:cNvPr id="20" name="Group 20"/>
            <p:cNvGrpSpPr/>
            <p:nvPr/>
          </p:nvGrpSpPr>
          <p:grpSpPr>
            <a:xfrm>
              <a:off x="1211532" y="1790700"/>
              <a:ext cx="7126018" cy="293370"/>
              <a:chOff x="1211532" y="1790700"/>
              <a:chExt cx="7126018" cy="293370"/>
            </a:xfrm>
          </p:grpSpPr>
          <p:sp>
            <p:nvSpPr>
              <p:cNvPr id="17" name="TextBox 17"/>
              <p:cNvSpPr txBox="1"/>
              <p:nvPr/>
            </p:nvSpPr>
            <p:spPr>
              <a:xfrm>
                <a:off x="1211532" y="1790700"/>
                <a:ext cx="1577435" cy="293370"/>
              </a:xfrm>
              <a:prstGeom prst="rect">
                <a:avLst/>
              </a:prstGeom>
              <a:noFill/>
              <a:ln>
                <a:noFill/>
              </a:ln>
            </p:spPr>
            <p:txBody>
              <a:bodyPr wrap="none" lIns="0" tIns="0" rIns="0" bIns="0" anchor="t" anchorCtr="0">
                <a:spAutoFit/>
              </a:bodyPr>
              <a:lstStyle/>
              <a:p>
                <a:pPr algn="ctr"/>
                <a:r>
                  <a:rPr lang="tr-TR" sz="1500" dirty="0">
                    <a:solidFill>
                      <a:srgbClr val="172B3A"/>
                    </a:solidFill>
                    <a:latin typeface="Consolas"/>
                    <a:ea typeface="Consolas"/>
                    <a:cs typeface="Consolas"/>
                  </a:rPr>
                  <a:t>siparisGetir()</a:t>
                </a:r>
              </a:p>
            </p:txBody>
          </p:sp>
          <p:sp>
            <p:nvSpPr>
              <p:cNvPr id="18" name="TextBox 18"/>
              <p:cNvSpPr txBox="1"/>
              <p:nvPr/>
            </p:nvSpPr>
            <p:spPr>
              <a:xfrm>
                <a:off x="4069032" y="1790700"/>
                <a:ext cx="1577435" cy="293370"/>
              </a:xfrm>
              <a:prstGeom prst="rect">
                <a:avLst/>
              </a:prstGeom>
              <a:noFill/>
              <a:ln>
                <a:noFill/>
              </a:ln>
            </p:spPr>
            <p:txBody>
              <a:bodyPr wrap="none" lIns="0" tIns="0" rIns="0" bIns="0" anchor="t" anchorCtr="0">
                <a:spAutoFit/>
              </a:bodyPr>
              <a:lstStyle/>
              <a:p>
                <a:pPr algn="ctr"/>
                <a:r>
                  <a:rPr lang="tr-TR" sz="1500" dirty="0">
                    <a:solidFill>
                      <a:srgbClr val="172B3A"/>
                    </a:solidFill>
                    <a:latin typeface="Consolas"/>
                    <a:ea typeface="Consolas"/>
                    <a:cs typeface="Consolas"/>
                  </a:rPr>
                  <a:t>musteriGetir()</a:t>
                </a:r>
              </a:p>
            </p:txBody>
          </p:sp>
          <p:sp>
            <p:nvSpPr>
              <p:cNvPr id="19" name="TextBox 19"/>
              <p:cNvSpPr txBox="1"/>
              <p:nvPr/>
            </p:nvSpPr>
            <p:spPr>
              <a:xfrm>
                <a:off x="7092950" y="1790700"/>
                <a:ext cx="1244600" cy="293370"/>
              </a:xfrm>
              <a:prstGeom prst="rect">
                <a:avLst/>
              </a:prstGeom>
              <a:noFill/>
              <a:ln>
                <a:noFill/>
              </a:ln>
            </p:spPr>
            <p:txBody>
              <a:bodyPr wrap="none" lIns="0" tIns="0" rIns="0" bIns="0" anchor="t" anchorCtr="0">
                <a:spAutoFit/>
              </a:bodyPr>
              <a:lstStyle/>
              <a:p>
                <a:pPr algn="ctr"/>
                <a:r>
                  <a:rPr lang="tr-TR" sz="1500" dirty="0">
                    <a:solidFill>
                      <a:srgbClr val="172B3A"/>
                    </a:solidFill>
                    <a:latin typeface="Consolas"/>
                    <a:ea typeface="Consolas"/>
                    <a:cs typeface="Consolas"/>
                  </a:rPr>
                  <a:t>stokGetir()</a:t>
                </a:r>
              </a:p>
            </p:txBody>
          </p:sp>
        </p:grpSp>
        <p:sp>
          <p:nvSpPr>
            <p:cNvPr id="21" name="TextBox 21"/>
            <p:cNvSpPr txBox="1"/>
            <p:nvPr/>
          </p:nvSpPr>
          <p:spPr>
            <a:xfrm>
              <a:off x="9326499" y="1792129"/>
              <a:ext cx="2115347" cy="308039"/>
            </a:xfrm>
            <a:prstGeom prst="rect">
              <a:avLst/>
            </a:prstGeom>
            <a:noFill/>
            <a:ln>
              <a:noFill/>
            </a:ln>
          </p:spPr>
          <p:txBody>
            <a:bodyPr wrap="none" lIns="0" tIns="0" rIns="0" bIns="0" anchor="t" anchorCtr="0">
              <a:spAutoFit/>
            </a:bodyPr>
            <a:lstStyle/>
            <a:p>
              <a:pPr algn="l"/>
              <a:r>
                <a:rPr lang="tr-TR" sz="1580" b="1" dirty="0">
                  <a:solidFill>
                    <a:srgbClr val="52616B"/>
                  </a:solidFill>
                  <a:latin typeface="+mn-lt"/>
                  <a:ea typeface="+mn-ea"/>
                  <a:cs typeface="+mn-cs"/>
                </a:rPr>
                <a:t>≈ sürelerin toplamı</a:t>
              </a:r>
            </a:p>
          </p:txBody>
        </p:sp>
        <p:sp>
          <p:nvSpPr>
            <p:cNvPr id="22" name="TextBox 22"/>
            <p:cNvSpPr txBox="1"/>
            <p:nvPr/>
          </p:nvSpPr>
          <p:spPr>
            <a:xfrm>
              <a:off x="563499" y="2363629"/>
              <a:ext cx="730125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await islemA(); await islemB(); → A ve B bağımsızsa gereksiz gecikme</a:t>
              </a:r>
            </a:p>
          </p:txBody>
        </p:sp>
      </p:grpSp>
      <p:grpSp>
        <p:nvGrpSpPr>
          <p:cNvPr id="37" name="parallel"/>
          <p:cNvGrpSpPr/>
          <p:nvPr/>
        </p:nvGrpSpPr>
        <p:grpSpPr>
          <a:xfrm>
            <a:off x="562356" y="3025140"/>
            <a:ext cx="8589391" cy="2123028"/>
            <a:chOff x="562356" y="3025140"/>
            <a:chExt cx="8589391" cy="2123028"/>
          </a:xfrm>
        </p:grpSpPr>
        <p:sp>
          <p:nvSpPr>
            <p:cNvPr id="24" name="TextBox 24"/>
            <p:cNvSpPr txBox="1"/>
            <p:nvPr/>
          </p:nvSpPr>
          <p:spPr>
            <a:xfrm>
              <a:off x="562356" y="3025140"/>
              <a:ext cx="4717499" cy="352044"/>
            </a:xfrm>
            <a:prstGeom prst="rect">
              <a:avLst/>
            </a:prstGeom>
            <a:noFill/>
            <a:ln>
              <a:noFill/>
            </a:ln>
          </p:spPr>
          <p:txBody>
            <a:bodyPr wrap="none" lIns="0" tIns="0" rIns="0" bIns="0" anchor="t" anchorCtr="0">
              <a:spAutoFit/>
            </a:bodyPr>
            <a:lstStyle/>
            <a:p>
              <a:pPr algn="l"/>
              <a:r>
                <a:rPr lang="tr-TR" sz="1800" b="1" dirty="0">
                  <a:solidFill>
                    <a:srgbClr val="00A6A6"/>
                  </a:solidFill>
                  <a:latin typeface="+mn-lt"/>
                  <a:ea typeface="+mn-ea"/>
                  <a:cs typeface="+mn-cs"/>
                </a:rPr>
                <a:t>Önce bağımlı adım, sonra Promise.all</a:t>
              </a:r>
            </a:p>
          </p:txBody>
        </p:sp>
        <p:sp>
          <p:nvSpPr>
            <p:cNvPr id="25" name="Rectangle 25"/>
            <p:cNvSpPr/>
            <p:nvPr/>
          </p:nvSpPr>
          <p:spPr>
            <a:xfrm>
              <a:off x="571500" y="3429000"/>
              <a:ext cx="2857500" cy="1238250"/>
            </a:xfrm>
            <a:prstGeom prst="rect">
              <a:avLst/>
            </a:prstGeom>
            <a:solidFill>
              <a:srgbClr val="12355B"/>
            </a:solidFill>
            <a:ln>
              <a:noFill/>
            </a:ln>
          </p:spPr>
        </p:sp>
        <p:grpSp>
          <p:nvGrpSpPr>
            <p:cNvPr id="28" name="Group 28"/>
            <p:cNvGrpSpPr/>
            <p:nvPr/>
          </p:nvGrpSpPr>
          <p:grpSpPr>
            <a:xfrm>
              <a:off x="3429000" y="3429000"/>
              <a:ext cx="2857500" cy="1238250"/>
              <a:chOff x="3429000" y="3429000"/>
              <a:chExt cx="2857500" cy="1238250"/>
            </a:xfrm>
          </p:grpSpPr>
          <p:sp>
            <p:nvSpPr>
              <p:cNvPr id="26" name="Rectangle 26"/>
              <p:cNvSpPr/>
              <p:nvPr/>
            </p:nvSpPr>
            <p:spPr>
              <a:xfrm>
                <a:off x="3429000" y="3429000"/>
                <a:ext cx="2857500" cy="571500"/>
              </a:xfrm>
              <a:prstGeom prst="rect">
                <a:avLst/>
              </a:prstGeom>
              <a:solidFill>
                <a:srgbClr val="FFFFFF"/>
              </a:solidFill>
              <a:ln w="28575">
                <a:solidFill>
                  <a:srgbClr val="00A6A6"/>
                </a:solidFill>
              </a:ln>
            </p:spPr>
          </p:sp>
          <p:sp>
            <p:nvSpPr>
              <p:cNvPr id="27" name="Rectangle 27"/>
              <p:cNvSpPr/>
              <p:nvPr/>
            </p:nvSpPr>
            <p:spPr>
              <a:xfrm>
                <a:off x="3429000" y="4095750"/>
                <a:ext cx="2857500" cy="571500"/>
              </a:xfrm>
              <a:prstGeom prst="rect">
                <a:avLst/>
              </a:prstGeom>
              <a:solidFill>
                <a:srgbClr val="FFFFFF"/>
              </a:solidFill>
              <a:ln w="28575">
                <a:solidFill>
                  <a:srgbClr val="00A6A6"/>
                </a:solidFill>
              </a:ln>
            </p:spPr>
          </p:sp>
        </p:grpSp>
        <p:sp>
          <p:nvSpPr>
            <p:cNvPr id="29" name="TextBox 29"/>
            <p:cNvSpPr txBox="1"/>
            <p:nvPr/>
          </p:nvSpPr>
          <p:spPr>
            <a:xfrm>
              <a:off x="1211532" y="3838575"/>
              <a:ext cx="1577435" cy="293370"/>
            </a:xfrm>
            <a:prstGeom prst="rect">
              <a:avLst/>
            </a:prstGeom>
            <a:noFill/>
            <a:ln>
              <a:noFill/>
            </a:ln>
          </p:spPr>
          <p:txBody>
            <a:bodyPr wrap="none" lIns="0" tIns="0" rIns="0" bIns="0" anchor="t" anchorCtr="0">
              <a:spAutoFit/>
            </a:bodyPr>
            <a:lstStyle/>
            <a:p>
              <a:pPr algn="ctr"/>
              <a:r>
                <a:rPr lang="tr-TR" sz="1500" dirty="0">
                  <a:solidFill>
                    <a:srgbClr val="F7FAFC"/>
                  </a:solidFill>
                  <a:latin typeface="Consolas"/>
                  <a:ea typeface="Consolas"/>
                  <a:cs typeface="Consolas"/>
                </a:rPr>
                <a:t>siparisGetir()</a:t>
              </a:r>
            </a:p>
          </p:txBody>
        </p:sp>
        <p:sp>
          <p:nvSpPr>
            <p:cNvPr id="30" name="TextBox 30"/>
            <p:cNvSpPr txBox="1"/>
            <p:nvPr/>
          </p:nvSpPr>
          <p:spPr>
            <a:xfrm>
              <a:off x="899693" y="4175760"/>
              <a:ext cx="2201113"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müşteri kimliği ve ürün kodu</a:t>
              </a:r>
            </a:p>
          </p:txBody>
        </p:sp>
        <p:grpSp>
          <p:nvGrpSpPr>
            <p:cNvPr id="33" name="Group 33"/>
            <p:cNvGrpSpPr/>
            <p:nvPr/>
          </p:nvGrpSpPr>
          <p:grpSpPr>
            <a:xfrm>
              <a:off x="4069032" y="3619500"/>
              <a:ext cx="1577435" cy="960120"/>
              <a:chOff x="4069032" y="3619500"/>
              <a:chExt cx="1577435" cy="960120"/>
            </a:xfrm>
          </p:grpSpPr>
          <p:sp>
            <p:nvSpPr>
              <p:cNvPr id="31" name="TextBox 31"/>
              <p:cNvSpPr txBox="1"/>
              <p:nvPr/>
            </p:nvSpPr>
            <p:spPr>
              <a:xfrm>
                <a:off x="4069032" y="3619500"/>
                <a:ext cx="1577435" cy="293370"/>
              </a:xfrm>
              <a:prstGeom prst="rect">
                <a:avLst/>
              </a:prstGeom>
              <a:noFill/>
              <a:ln>
                <a:noFill/>
              </a:ln>
            </p:spPr>
            <p:txBody>
              <a:bodyPr wrap="none" lIns="0" tIns="0" rIns="0" bIns="0" anchor="t" anchorCtr="0">
                <a:spAutoFit/>
              </a:bodyPr>
              <a:lstStyle/>
              <a:p>
                <a:pPr algn="ctr"/>
                <a:r>
                  <a:rPr lang="tr-TR" sz="1500" dirty="0">
                    <a:solidFill>
                      <a:srgbClr val="172B3A"/>
                    </a:solidFill>
                    <a:latin typeface="Consolas"/>
                    <a:ea typeface="Consolas"/>
                    <a:cs typeface="Consolas"/>
                  </a:rPr>
                  <a:t>musteriGetir()</a:t>
                </a:r>
              </a:p>
            </p:txBody>
          </p:sp>
          <p:sp>
            <p:nvSpPr>
              <p:cNvPr id="32" name="TextBox 32"/>
              <p:cNvSpPr txBox="1"/>
              <p:nvPr/>
            </p:nvSpPr>
            <p:spPr>
              <a:xfrm>
                <a:off x="4235450" y="4286250"/>
                <a:ext cx="1244600" cy="293370"/>
              </a:xfrm>
              <a:prstGeom prst="rect">
                <a:avLst/>
              </a:prstGeom>
              <a:noFill/>
              <a:ln>
                <a:noFill/>
              </a:ln>
            </p:spPr>
            <p:txBody>
              <a:bodyPr wrap="none" lIns="0" tIns="0" rIns="0" bIns="0" anchor="t" anchorCtr="0">
                <a:spAutoFit/>
              </a:bodyPr>
              <a:lstStyle/>
              <a:p>
                <a:pPr algn="ctr"/>
                <a:r>
                  <a:rPr lang="tr-TR" sz="1500" dirty="0">
                    <a:solidFill>
                      <a:srgbClr val="172B3A"/>
                    </a:solidFill>
                    <a:latin typeface="Consolas"/>
                    <a:ea typeface="Consolas"/>
                    <a:cs typeface="Consolas"/>
                  </a:rPr>
                  <a:t>stokGetir()</a:t>
                </a:r>
              </a:p>
            </p:txBody>
          </p:sp>
        </p:grpSp>
        <p:sp>
          <p:nvSpPr>
            <p:cNvPr id="34" name="TextBox 34"/>
            <p:cNvSpPr txBox="1"/>
            <p:nvPr/>
          </p:nvSpPr>
          <p:spPr>
            <a:xfrm>
              <a:off x="6507099" y="3792379"/>
              <a:ext cx="2495016"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en yavaş çağrı kadar</a:t>
              </a:r>
            </a:p>
          </p:txBody>
        </p:sp>
        <p:sp>
          <p:nvSpPr>
            <p:cNvPr id="35" name="TextBox 35"/>
            <p:cNvSpPr txBox="1"/>
            <p:nvPr/>
          </p:nvSpPr>
          <p:spPr>
            <a:xfrm>
              <a:off x="6507099" y="4097179"/>
              <a:ext cx="2644648"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iki Promise birlikte başlar,</a:t>
              </a:r>
              <a:br/>
              <a:r>
                <a:rPr lang="tr-TR" sz="1580" dirty="0">
                  <a:solidFill>
                    <a:srgbClr val="172B3A"/>
                  </a:solidFill>
                  <a:latin typeface="+mn-lt"/>
                  <a:ea typeface="+mn-ea"/>
                  <a:cs typeface="+mn-cs"/>
                </a:rPr>
                <a:t>sonuçlar dizi olarak döner</a:t>
              </a:r>
            </a:p>
          </p:txBody>
        </p:sp>
        <p:sp>
          <p:nvSpPr>
            <p:cNvPr id="36" name="TextBox 36"/>
            <p:cNvSpPr txBox="1"/>
            <p:nvPr/>
          </p:nvSpPr>
          <p:spPr>
            <a:xfrm>
              <a:off x="563499" y="4840129"/>
              <a:ext cx="574436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Destructuring sonuçları doğrudan değişkenlere bağlar.</a:t>
              </a:r>
            </a:p>
          </p:txBody>
        </p:sp>
      </p:grpSp>
      <p:grpSp>
        <p:nvGrpSpPr>
          <p:cNvPr id="44" name="code"/>
          <p:cNvGrpSpPr/>
          <p:nvPr/>
        </p:nvGrpSpPr>
        <p:grpSpPr>
          <a:xfrm>
            <a:off x="571500" y="5238750"/>
            <a:ext cx="11049000" cy="952500"/>
            <a:chOff x="571500" y="5238750"/>
            <a:chExt cx="11049000" cy="952500"/>
          </a:xfrm>
        </p:grpSpPr>
        <p:sp>
          <p:nvSpPr>
            <p:cNvPr id="38" name="Rectangle 38"/>
            <p:cNvSpPr/>
            <p:nvPr/>
          </p:nvSpPr>
          <p:spPr>
            <a:xfrm>
              <a:off x="571500" y="5238750"/>
              <a:ext cx="11049000" cy="952500"/>
            </a:xfrm>
            <a:prstGeom prst="rect">
              <a:avLst/>
            </a:prstGeom>
            <a:solidFill>
              <a:srgbClr val="EAF4F6"/>
            </a:solidFill>
            <a:ln>
              <a:noFill/>
            </a:ln>
          </p:spPr>
        </p:sp>
        <p:sp>
          <p:nvSpPr>
            <p:cNvPr id="39" name="Rectangle 39"/>
            <p:cNvSpPr/>
            <p:nvPr/>
          </p:nvSpPr>
          <p:spPr>
            <a:xfrm>
              <a:off x="571500" y="5238750"/>
              <a:ext cx="57150" cy="952500"/>
            </a:xfrm>
            <a:prstGeom prst="rect">
              <a:avLst/>
            </a:prstGeom>
            <a:solidFill>
              <a:srgbClr val="00A6A6"/>
            </a:solidFill>
            <a:ln>
              <a:noFill/>
            </a:ln>
          </p:spPr>
        </p:sp>
        <p:grpSp>
          <p:nvGrpSpPr>
            <p:cNvPr id="43" name="Group 43"/>
            <p:cNvGrpSpPr/>
            <p:nvPr/>
          </p:nvGrpSpPr>
          <p:grpSpPr>
            <a:xfrm>
              <a:off x="830580" y="5343525"/>
              <a:ext cx="7486446" cy="826770"/>
              <a:chOff x="830580" y="5343525"/>
              <a:chExt cx="7486446" cy="826770"/>
            </a:xfrm>
          </p:grpSpPr>
          <p:sp>
            <p:nvSpPr>
              <p:cNvPr id="40" name="TextBox 40"/>
              <p:cNvSpPr txBox="1"/>
              <p:nvPr/>
            </p:nvSpPr>
            <p:spPr>
              <a:xfrm>
                <a:off x="830580" y="5343525"/>
                <a:ext cx="4132536"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const siparis = await siparisGetir();</a:t>
                </a:r>
              </a:p>
            </p:txBody>
          </p:sp>
          <p:sp>
            <p:nvSpPr>
              <p:cNvPr id="41" name="TextBox 41"/>
              <p:cNvSpPr txBox="1"/>
              <p:nvPr/>
            </p:nvSpPr>
            <p:spPr>
              <a:xfrm>
                <a:off x="830580" y="5610225"/>
                <a:ext cx="5473904"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const [musteri, stokDurumu] = await Promise.all([</a:t>
                </a:r>
              </a:p>
            </p:txBody>
          </p:sp>
          <p:sp>
            <p:nvSpPr>
              <p:cNvPr id="42" name="TextBox 42"/>
              <p:cNvSpPr txBox="1"/>
              <p:nvPr/>
            </p:nvSpPr>
            <p:spPr>
              <a:xfrm>
                <a:off x="830580" y="5876925"/>
                <a:ext cx="7486446"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musteriGetir(siparis.musteriKimlik), stokGetir(siparis.urunKodu)]);</a:t>
                </a:r>
              </a:p>
            </p:txBody>
          </p:sp>
        </p:grpSp>
      </p:grpSp>
      <p:grpSp>
        <p:nvGrpSpPr>
          <p:cNvPr id="47" name="footer"/>
          <p:cNvGrpSpPr/>
          <p:nvPr/>
        </p:nvGrpSpPr>
        <p:grpSpPr>
          <a:xfrm>
            <a:off x="565404" y="6404610"/>
            <a:ext cx="11061192" cy="234696"/>
            <a:chOff x="565404" y="6404610"/>
            <a:chExt cx="11061192" cy="234696"/>
          </a:xfrm>
        </p:grpSpPr>
        <p:sp>
          <p:nvSpPr>
            <p:cNvPr id="45" name="TextBox 45"/>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46" name="TextBox 46"/>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53904" y="368618"/>
                <a:ext cx="206693" cy="177164"/>
                <a:chOff x="753904" y="368618"/>
                <a:chExt cx="206693" cy="177164"/>
              </a:xfrm>
            </p:grpSpPr>
            <p:sp>
              <p:nvSpPr>
                <p:cNvPr id="5" name="Freeform 5"/>
                <p:cNvSpPr/>
                <p:nvPr/>
              </p:nvSpPr>
              <p:spPr>
                <a:xfrm>
                  <a:off x="7539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8720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8720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61872" y="282892"/>
              <a:ext cx="7756773"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Asenkron akış seçimi: iki soruluk karar</a:t>
              </a:r>
            </a:p>
          </p:txBody>
        </p:sp>
      </p:grpSp>
      <p:grpSp>
        <p:nvGrpSpPr>
          <p:cNvPr id="44" name="decision"/>
          <p:cNvGrpSpPr/>
          <p:nvPr/>
        </p:nvGrpSpPr>
        <p:grpSpPr>
          <a:xfrm>
            <a:off x="571500" y="1295400"/>
            <a:ext cx="11049000" cy="2438400"/>
            <a:chOff x="571500" y="1295400"/>
            <a:chExt cx="11049000" cy="2438400"/>
          </a:xfrm>
        </p:grpSpPr>
        <p:grpSp>
          <p:nvGrpSpPr>
            <p:cNvPr id="16" name="Group 16"/>
            <p:cNvGrpSpPr/>
            <p:nvPr/>
          </p:nvGrpSpPr>
          <p:grpSpPr>
            <a:xfrm>
              <a:off x="1809750" y="1676400"/>
              <a:ext cx="7810500" cy="1085850"/>
              <a:chOff x="1809750" y="1676400"/>
              <a:chExt cx="7810500" cy="1085850"/>
            </a:xfrm>
          </p:grpSpPr>
          <p:sp>
            <p:nvSpPr>
              <p:cNvPr id="12" name="Line 12"/>
              <p:cNvSpPr/>
              <p:nvPr/>
            </p:nvSpPr>
            <p:spPr>
              <a:xfrm>
                <a:off x="1809750" y="2057400"/>
                <a:ext cx="1" cy="704850"/>
              </a:xfrm>
              <a:prstGeom prst="line">
                <a:avLst/>
              </a:prstGeom>
              <a:noFill/>
              <a:ln w="28575">
                <a:solidFill>
                  <a:srgbClr val="00A6A6"/>
                </a:solidFill>
                <a:tailEnd type="triangle" w="lg" len="lg"/>
              </a:ln>
            </p:spPr>
          </p:sp>
          <p:sp>
            <p:nvSpPr>
              <p:cNvPr id="13" name="Line 13"/>
              <p:cNvSpPr/>
              <p:nvPr/>
            </p:nvSpPr>
            <p:spPr>
              <a:xfrm>
                <a:off x="4572000" y="1676400"/>
                <a:ext cx="704850" cy="1"/>
              </a:xfrm>
              <a:prstGeom prst="line">
                <a:avLst/>
              </a:prstGeom>
              <a:noFill/>
              <a:ln w="28575">
                <a:solidFill>
                  <a:srgbClr val="00A6A6"/>
                </a:solidFill>
                <a:tailEnd type="triangle" w="lg" len="lg"/>
              </a:ln>
            </p:spPr>
          </p:sp>
          <p:sp>
            <p:nvSpPr>
              <p:cNvPr id="14" name="Line 14"/>
              <p:cNvSpPr/>
              <p:nvPr/>
            </p:nvSpPr>
            <p:spPr>
              <a:xfrm>
                <a:off x="6572250" y="2057400"/>
                <a:ext cx="1" cy="704850"/>
              </a:xfrm>
              <a:prstGeom prst="line">
                <a:avLst/>
              </a:prstGeom>
              <a:noFill/>
              <a:ln w="28575">
                <a:solidFill>
                  <a:srgbClr val="00A6A6"/>
                </a:solidFill>
                <a:tailEnd type="triangle" w="lg" len="lg"/>
              </a:ln>
            </p:spPr>
          </p:sp>
          <p:sp>
            <p:nvSpPr>
              <p:cNvPr id="15" name="Line 15"/>
              <p:cNvSpPr/>
              <p:nvPr/>
            </p:nvSpPr>
            <p:spPr>
              <a:xfrm>
                <a:off x="8953500" y="2057400"/>
                <a:ext cx="666750" cy="704850"/>
              </a:xfrm>
              <a:prstGeom prst="line">
                <a:avLst/>
              </a:prstGeom>
              <a:noFill/>
              <a:ln w="28575">
                <a:solidFill>
                  <a:srgbClr val="00A6A6"/>
                </a:solidFill>
                <a:tailEnd type="triangle" w="lg" len="lg"/>
              </a:ln>
            </p:spPr>
          </p:sp>
        </p:grpSp>
        <p:grpSp>
          <p:nvGrpSpPr>
            <p:cNvPr id="21" name="Group 21"/>
            <p:cNvGrpSpPr/>
            <p:nvPr/>
          </p:nvGrpSpPr>
          <p:grpSpPr>
            <a:xfrm>
              <a:off x="1917954" y="1451610"/>
              <a:ext cx="7946250" cy="1130046"/>
              <a:chOff x="1917954" y="1451610"/>
              <a:chExt cx="7946250" cy="1130046"/>
            </a:xfrm>
          </p:grpSpPr>
          <p:sp>
            <p:nvSpPr>
              <p:cNvPr id="17" name="TextBox 17"/>
              <p:cNvSpPr txBox="1"/>
              <p:nvPr/>
            </p:nvSpPr>
            <p:spPr>
              <a:xfrm>
                <a:off x="1917954" y="2346960"/>
                <a:ext cx="385359"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evet</a:t>
                </a:r>
              </a:p>
            </p:txBody>
          </p:sp>
          <p:sp>
            <p:nvSpPr>
              <p:cNvPr id="18" name="TextBox 18"/>
              <p:cNvSpPr txBox="1"/>
              <p:nvPr/>
            </p:nvSpPr>
            <p:spPr>
              <a:xfrm>
                <a:off x="4718304" y="1451610"/>
                <a:ext cx="478650"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hayır</a:t>
                </a:r>
              </a:p>
            </p:txBody>
          </p:sp>
          <p:sp>
            <p:nvSpPr>
              <p:cNvPr id="19" name="TextBox 19"/>
              <p:cNvSpPr txBox="1"/>
              <p:nvPr/>
            </p:nvSpPr>
            <p:spPr>
              <a:xfrm>
                <a:off x="6680454" y="2346960"/>
                <a:ext cx="385359"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evet</a:t>
                </a:r>
              </a:p>
            </p:txBody>
          </p:sp>
          <p:sp>
            <p:nvSpPr>
              <p:cNvPr id="20" name="TextBox 20"/>
              <p:cNvSpPr txBox="1"/>
              <p:nvPr/>
            </p:nvSpPr>
            <p:spPr>
              <a:xfrm>
                <a:off x="9385554" y="2194560"/>
                <a:ext cx="478650"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hayır</a:t>
                </a:r>
              </a:p>
            </p:txBody>
          </p:sp>
        </p:grpSp>
        <p:sp>
          <p:nvSpPr>
            <p:cNvPr id="22" name="Rectangle 22"/>
            <p:cNvSpPr/>
            <p:nvPr/>
          </p:nvSpPr>
          <p:spPr>
            <a:xfrm>
              <a:off x="571500" y="1295400"/>
              <a:ext cx="4000500" cy="762000"/>
            </a:xfrm>
            <a:prstGeom prst="rect">
              <a:avLst/>
            </a:prstGeom>
            <a:solidFill>
              <a:srgbClr val="12355B"/>
            </a:solidFill>
            <a:ln>
              <a:noFill/>
            </a:ln>
          </p:spPr>
        </p:sp>
        <p:sp>
          <p:nvSpPr>
            <p:cNvPr id="23" name="Rectangle 23"/>
            <p:cNvSpPr/>
            <p:nvPr/>
          </p:nvSpPr>
          <p:spPr>
            <a:xfrm>
              <a:off x="5334000" y="1295400"/>
              <a:ext cx="4191000" cy="762000"/>
            </a:xfrm>
            <a:prstGeom prst="rect">
              <a:avLst/>
            </a:prstGeom>
            <a:solidFill>
              <a:srgbClr val="12355B"/>
            </a:solidFill>
            <a:ln>
              <a:noFill/>
            </a:ln>
          </p:spPr>
        </p:sp>
        <p:grpSp>
          <p:nvGrpSpPr>
            <p:cNvPr id="28" name="Group 28"/>
            <p:cNvGrpSpPr/>
            <p:nvPr/>
          </p:nvGrpSpPr>
          <p:grpSpPr>
            <a:xfrm>
              <a:off x="753999" y="1449229"/>
              <a:ext cx="7614851" cy="574739"/>
              <a:chOff x="753999" y="1449229"/>
              <a:chExt cx="7614851" cy="574739"/>
            </a:xfrm>
          </p:grpSpPr>
          <p:sp>
            <p:nvSpPr>
              <p:cNvPr id="24" name="TextBox 24"/>
              <p:cNvSpPr txBox="1"/>
              <p:nvPr/>
            </p:nvSpPr>
            <p:spPr>
              <a:xfrm>
                <a:off x="753999" y="1449229"/>
                <a:ext cx="2424001" cy="308039"/>
              </a:xfrm>
              <a:prstGeom prst="rect">
                <a:avLst/>
              </a:prstGeom>
              <a:noFill/>
              <a:ln>
                <a:noFill/>
              </a:ln>
            </p:spPr>
            <p:txBody>
              <a:bodyPr wrap="none" lIns="0" tIns="0" rIns="0" bIns="0" anchor="t" anchorCtr="0">
                <a:spAutoFit/>
              </a:bodyPr>
              <a:lstStyle/>
              <a:p>
                <a:pPr algn="l"/>
                <a:r>
                  <a:rPr lang="tr-TR" sz="1580" b="1" dirty="0">
                    <a:solidFill>
                      <a:srgbClr val="F7FAFC"/>
                    </a:solidFill>
                    <a:latin typeface="+mn-lt"/>
                    <a:ea typeface="+mn-ea"/>
                    <a:cs typeface="+mn-cs"/>
                  </a:rPr>
                  <a:t>İkinci adım ilk adımın</a:t>
                </a:r>
              </a:p>
            </p:txBody>
          </p:sp>
          <p:sp>
            <p:nvSpPr>
              <p:cNvPr id="25" name="TextBox 25"/>
              <p:cNvSpPr txBox="1"/>
              <p:nvPr/>
            </p:nvSpPr>
            <p:spPr>
              <a:xfrm>
                <a:off x="753999" y="1715929"/>
                <a:ext cx="2104180" cy="308039"/>
              </a:xfrm>
              <a:prstGeom prst="rect">
                <a:avLst/>
              </a:prstGeom>
              <a:noFill/>
              <a:ln>
                <a:noFill/>
              </a:ln>
            </p:spPr>
            <p:txBody>
              <a:bodyPr wrap="none" lIns="0" tIns="0" rIns="0" bIns="0" anchor="t" anchorCtr="0">
                <a:spAutoFit/>
              </a:bodyPr>
              <a:lstStyle/>
              <a:p>
                <a:pPr algn="l"/>
                <a:r>
                  <a:rPr lang="tr-TR" sz="1580" b="1" dirty="0">
                    <a:solidFill>
                      <a:srgbClr val="F7FAFC"/>
                    </a:solidFill>
                    <a:latin typeface="+mn-lt"/>
                    <a:ea typeface="+mn-ea"/>
                    <a:cs typeface="+mn-cs"/>
                  </a:rPr>
                  <a:t>sonucuna bağlı mı?</a:t>
                </a:r>
              </a:p>
            </p:txBody>
          </p:sp>
          <p:sp>
            <p:nvSpPr>
              <p:cNvPr id="26" name="TextBox 26"/>
              <p:cNvSpPr txBox="1"/>
              <p:nvPr/>
            </p:nvSpPr>
            <p:spPr>
              <a:xfrm>
                <a:off x="5516499" y="1449229"/>
                <a:ext cx="2670007" cy="308039"/>
              </a:xfrm>
              <a:prstGeom prst="rect">
                <a:avLst/>
              </a:prstGeom>
              <a:noFill/>
              <a:ln>
                <a:noFill/>
              </a:ln>
            </p:spPr>
            <p:txBody>
              <a:bodyPr wrap="none" lIns="0" tIns="0" rIns="0" bIns="0" anchor="t" anchorCtr="0">
                <a:spAutoFit/>
              </a:bodyPr>
              <a:lstStyle/>
              <a:p>
                <a:pPr algn="l"/>
                <a:r>
                  <a:rPr lang="tr-TR" sz="1580" b="1" dirty="0">
                    <a:solidFill>
                      <a:srgbClr val="F7FAFC"/>
                    </a:solidFill>
                    <a:latin typeface="+mn-lt"/>
                    <a:ea typeface="+mn-ea"/>
                    <a:cs typeface="+mn-cs"/>
                  </a:rPr>
                  <a:t>Bir çağrının hatası tüm</a:t>
                </a:r>
              </a:p>
            </p:txBody>
          </p:sp>
          <p:sp>
            <p:nvSpPr>
              <p:cNvPr id="27" name="TextBox 27"/>
              <p:cNvSpPr txBox="1"/>
              <p:nvPr/>
            </p:nvSpPr>
            <p:spPr>
              <a:xfrm>
                <a:off x="5516499" y="1715929"/>
                <a:ext cx="2852351" cy="308039"/>
              </a:xfrm>
              <a:prstGeom prst="rect">
                <a:avLst/>
              </a:prstGeom>
              <a:noFill/>
              <a:ln>
                <a:noFill/>
              </a:ln>
            </p:spPr>
            <p:txBody>
              <a:bodyPr wrap="none" lIns="0" tIns="0" rIns="0" bIns="0" anchor="t" anchorCtr="0">
                <a:spAutoFit/>
              </a:bodyPr>
              <a:lstStyle/>
              <a:p>
                <a:pPr algn="l"/>
                <a:r>
                  <a:rPr lang="tr-TR" sz="1580" b="1" dirty="0">
                    <a:solidFill>
                      <a:srgbClr val="F7FAFC"/>
                    </a:solidFill>
                    <a:latin typeface="+mn-lt"/>
                    <a:ea typeface="+mn-ea"/>
                    <a:cs typeface="+mn-cs"/>
                  </a:rPr>
                  <a:t>sonucu geçersiz kılar mı?</a:t>
                </a:r>
              </a:p>
            </p:txBody>
          </p:sp>
        </p:grpSp>
        <p:grpSp>
          <p:nvGrpSpPr>
            <p:cNvPr id="32" name="Group 32"/>
            <p:cNvGrpSpPr/>
            <p:nvPr/>
          </p:nvGrpSpPr>
          <p:grpSpPr>
            <a:xfrm>
              <a:off x="571500" y="2819400"/>
              <a:ext cx="11049000" cy="914400"/>
              <a:chOff x="571500" y="2819400"/>
              <a:chExt cx="11049000" cy="914400"/>
            </a:xfrm>
          </p:grpSpPr>
          <p:sp>
            <p:nvSpPr>
              <p:cNvPr id="29" name="Rectangle 29"/>
              <p:cNvSpPr/>
              <p:nvPr/>
            </p:nvSpPr>
            <p:spPr>
              <a:xfrm>
                <a:off x="571500" y="2819400"/>
                <a:ext cx="2857500" cy="914400"/>
              </a:xfrm>
              <a:prstGeom prst="rect">
                <a:avLst/>
              </a:prstGeom>
              <a:solidFill>
                <a:srgbClr val="FFFFFF"/>
              </a:solidFill>
              <a:ln w="19050">
                <a:solidFill>
                  <a:srgbClr val="2E86AB"/>
                </a:solidFill>
              </a:ln>
            </p:spPr>
          </p:sp>
          <p:sp>
            <p:nvSpPr>
              <p:cNvPr id="30" name="Rectangle 30"/>
              <p:cNvSpPr/>
              <p:nvPr/>
            </p:nvSpPr>
            <p:spPr>
              <a:xfrm>
                <a:off x="5334000" y="2819400"/>
                <a:ext cx="2476500" cy="914400"/>
              </a:xfrm>
              <a:prstGeom prst="rect">
                <a:avLst/>
              </a:prstGeom>
              <a:solidFill>
                <a:srgbClr val="FFFFFF"/>
              </a:solidFill>
              <a:ln w="19050">
                <a:solidFill>
                  <a:srgbClr val="2E86AB"/>
                </a:solidFill>
              </a:ln>
            </p:spPr>
          </p:sp>
          <p:sp>
            <p:nvSpPr>
              <p:cNvPr id="31" name="Rectangle 31"/>
              <p:cNvSpPr/>
              <p:nvPr/>
            </p:nvSpPr>
            <p:spPr>
              <a:xfrm>
                <a:off x="8191500" y="2819400"/>
                <a:ext cx="3429000" cy="914400"/>
              </a:xfrm>
              <a:prstGeom prst="rect">
                <a:avLst/>
              </a:prstGeom>
              <a:solidFill>
                <a:srgbClr val="FFFFFF"/>
              </a:solidFill>
              <a:ln w="19050">
                <a:solidFill>
                  <a:srgbClr val="2E86AB"/>
                </a:solidFill>
              </a:ln>
            </p:spPr>
          </p:sp>
        </p:grpSp>
        <p:grpSp>
          <p:nvGrpSpPr>
            <p:cNvPr id="36" name="Group 36"/>
            <p:cNvGrpSpPr/>
            <p:nvPr/>
          </p:nvGrpSpPr>
          <p:grpSpPr>
            <a:xfrm>
              <a:off x="754380" y="2981325"/>
              <a:ext cx="9647660" cy="293370"/>
              <a:chOff x="754380" y="2981325"/>
              <a:chExt cx="9647660" cy="293370"/>
            </a:xfrm>
          </p:grpSpPr>
          <p:sp>
            <p:nvSpPr>
              <p:cNvPr id="33" name="TextBox 33"/>
              <p:cNvSpPr txBox="1"/>
              <p:nvPr/>
            </p:nvSpPr>
            <p:spPr>
              <a:xfrm>
                <a:off x="754380" y="2981325"/>
                <a:ext cx="1354836"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Consolas"/>
                    <a:ea typeface="Consolas"/>
                    <a:cs typeface="Consolas"/>
                  </a:rPr>
                  <a:t>Sıralı await</a:t>
                </a:r>
              </a:p>
            </p:txBody>
          </p:sp>
          <p:sp>
            <p:nvSpPr>
              <p:cNvPr id="34" name="TextBox 34"/>
              <p:cNvSpPr txBox="1"/>
              <p:nvPr/>
            </p:nvSpPr>
            <p:spPr>
              <a:xfrm>
                <a:off x="5516880" y="2981325"/>
                <a:ext cx="1243832"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Consolas"/>
                    <a:ea typeface="Consolas"/>
                    <a:cs typeface="Consolas"/>
                  </a:rPr>
                  <a:t>Promise.all</a:t>
                </a:r>
              </a:p>
            </p:txBody>
          </p:sp>
          <p:sp>
            <p:nvSpPr>
              <p:cNvPr id="35" name="TextBox 35"/>
              <p:cNvSpPr txBox="1"/>
              <p:nvPr/>
            </p:nvSpPr>
            <p:spPr>
              <a:xfrm>
                <a:off x="8374380" y="2981325"/>
                <a:ext cx="2027660"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Consolas"/>
                    <a:ea typeface="Consolas"/>
                    <a:cs typeface="Consolas"/>
                  </a:rPr>
                  <a:t>Promise.allSettled</a:t>
                </a:r>
              </a:p>
            </p:txBody>
          </p:sp>
        </p:grpSp>
        <p:grpSp>
          <p:nvGrpSpPr>
            <p:cNvPr id="40" name="Group 40"/>
            <p:cNvGrpSpPr/>
            <p:nvPr/>
          </p:nvGrpSpPr>
          <p:grpSpPr>
            <a:xfrm>
              <a:off x="753999" y="3316129"/>
              <a:ext cx="10082047" cy="308039"/>
              <a:chOff x="753999" y="3316129"/>
              <a:chExt cx="10082047" cy="308039"/>
            </a:xfrm>
          </p:grpSpPr>
          <p:sp>
            <p:nvSpPr>
              <p:cNvPr id="37" name="TextBox 37"/>
              <p:cNvSpPr txBox="1"/>
              <p:nvPr/>
            </p:nvSpPr>
            <p:spPr>
              <a:xfrm>
                <a:off x="753999" y="3316129"/>
                <a:ext cx="212172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mantıksal sıra açık</a:t>
                </a:r>
              </a:p>
            </p:txBody>
          </p:sp>
          <p:sp>
            <p:nvSpPr>
              <p:cNvPr id="38" name="TextBox 38"/>
              <p:cNvSpPr txBox="1"/>
              <p:nvPr/>
            </p:nvSpPr>
            <p:spPr>
              <a:xfrm>
                <a:off x="5516499" y="3316129"/>
                <a:ext cx="248331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ilk ret tümünü reddeder</a:t>
                </a:r>
              </a:p>
            </p:txBody>
          </p:sp>
          <p:sp>
            <p:nvSpPr>
              <p:cNvPr id="39" name="TextBox 39"/>
              <p:cNvSpPr txBox="1"/>
              <p:nvPr/>
            </p:nvSpPr>
            <p:spPr>
              <a:xfrm>
                <a:off x="8373999" y="3316129"/>
                <a:ext cx="246204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kısmi sonuç: raporlama</a:t>
                </a:r>
              </a:p>
            </p:txBody>
          </p:sp>
        </p:grpSp>
        <p:sp>
          <p:nvSpPr>
            <p:cNvPr id="41" name="TextBox 41"/>
            <p:cNvSpPr txBox="1"/>
            <p:nvPr/>
          </p:nvSpPr>
          <p:spPr>
            <a:xfrm>
              <a:off x="9803130" y="1362075"/>
              <a:ext cx="792670" cy="293370"/>
            </a:xfrm>
            <a:prstGeom prst="rect">
              <a:avLst/>
            </a:prstGeom>
            <a:noFill/>
            <a:ln>
              <a:noFill/>
            </a:ln>
          </p:spPr>
          <p:txBody>
            <a:bodyPr wrap="none" lIns="0" tIns="0" rIns="0" bIns="0" anchor="t" anchorCtr="0">
              <a:spAutoFit/>
            </a:bodyPr>
            <a:lstStyle/>
            <a:p>
              <a:pPr algn="l"/>
              <a:r>
                <a:rPr lang="tr-TR" sz="1500" b="1" dirty="0">
                  <a:solidFill>
                    <a:srgbClr val="52616B"/>
                  </a:solidFill>
                  <a:latin typeface="Consolas"/>
                  <a:ea typeface="Consolas"/>
                  <a:cs typeface="Consolas"/>
                </a:rPr>
                <a:t>.then()</a:t>
              </a:r>
            </a:p>
          </p:txBody>
        </p:sp>
        <p:sp>
          <p:nvSpPr>
            <p:cNvPr id="42" name="TextBox 42"/>
            <p:cNvSpPr txBox="1"/>
            <p:nvPr/>
          </p:nvSpPr>
          <p:spPr>
            <a:xfrm>
              <a:off x="9804654" y="1680210"/>
              <a:ext cx="147416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kısa dönüşümlerde</a:t>
              </a:r>
            </a:p>
          </p:txBody>
        </p:sp>
        <p:sp>
          <p:nvSpPr>
            <p:cNvPr id="43" name="TextBox 43"/>
            <p:cNvSpPr txBox="1"/>
            <p:nvPr/>
          </p:nvSpPr>
          <p:spPr>
            <a:xfrm>
              <a:off x="9804654" y="1870710"/>
              <a:ext cx="128839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tamamen geçerli</a:t>
              </a:r>
            </a:p>
          </p:txBody>
        </p:sp>
      </p:grpSp>
      <p:grpSp>
        <p:nvGrpSpPr>
          <p:cNvPr id="55" name="pitfalls"/>
          <p:cNvGrpSpPr/>
          <p:nvPr/>
        </p:nvGrpSpPr>
        <p:grpSpPr>
          <a:xfrm>
            <a:off x="560070" y="4000500"/>
            <a:ext cx="11060430" cy="1490567"/>
            <a:chOff x="560070" y="4000500"/>
            <a:chExt cx="11060430" cy="1490567"/>
          </a:xfrm>
        </p:grpSpPr>
        <p:sp>
          <p:nvSpPr>
            <p:cNvPr id="45" name="Line 45"/>
            <p:cNvSpPr/>
            <p:nvPr/>
          </p:nvSpPr>
          <p:spPr>
            <a:xfrm>
              <a:off x="571500" y="4000500"/>
              <a:ext cx="11049000" cy="9525"/>
            </a:xfrm>
            <a:custGeom>
              <a:avLst/>
              <a:gdLst/>
              <a:ahLst/>
              <a:cxnLst/>
              <a:rect l="l" t="t" r="r" b="b"/>
              <a:pathLst>
                <a:path w="11049000" h="9525">
                  <a:moveTo>
                    <a:pt x="0" y="0"/>
                  </a:moveTo>
                  <a:lnTo>
                    <a:pt x="11049000" y="0"/>
                  </a:lnTo>
                </a:path>
              </a:pathLst>
            </a:custGeom>
            <a:noFill/>
            <a:ln w="19050">
              <a:solidFill>
                <a:srgbClr val="B8CBD3"/>
              </a:solidFill>
            </a:ln>
          </p:spPr>
        </p:sp>
        <p:sp>
          <p:nvSpPr>
            <p:cNvPr id="46" name="TextBox 46"/>
            <p:cNvSpPr txBox="1"/>
            <p:nvPr/>
          </p:nvSpPr>
          <p:spPr>
            <a:xfrm>
              <a:off x="562356" y="4168140"/>
              <a:ext cx="18581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Yaygın hatalar</a:t>
              </a:r>
            </a:p>
          </p:txBody>
        </p:sp>
        <p:grpSp>
          <p:nvGrpSpPr>
            <p:cNvPr id="50" name="Group 50"/>
            <p:cNvGrpSpPr/>
            <p:nvPr/>
          </p:nvGrpSpPr>
          <p:grpSpPr>
            <a:xfrm>
              <a:off x="560070" y="4633912"/>
              <a:ext cx="7627282" cy="440055"/>
              <a:chOff x="560070" y="4633912"/>
              <a:chExt cx="7627282" cy="440055"/>
            </a:xfrm>
          </p:grpSpPr>
          <p:sp>
            <p:nvSpPr>
              <p:cNvPr id="47" name="TextBox 47"/>
              <p:cNvSpPr txBox="1"/>
              <p:nvPr/>
            </p:nvSpPr>
            <p:spPr>
              <a:xfrm>
                <a:off x="560070" y="463391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1</a:t>
                </a:r>
              </a:p>
            </p:txBody>
          </p:sp>
          <p:sp>
            <p:nvSpPr>
              <p:cNvPr id="48" name="TextBox 48"/>
              <p:cNvSpPr txBox="1"/>
              <p:nvPr/>
            </p:nvSpPr>
            <p:spPr>
              <a:xfrm>
                <a:off x="4274820" y="463391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2</a:t>
                </a:r>
              </a:p>
            </p:txBody>
          </p:sp>
          <p:sp>
            <p:nvSpPr>
              <p:cNvPr id="49" name="TextBox 49"/>
              <p:cNvSpPr txBox="1"/>
              <p:nvPr/>
            </p:nvSpPr>
            <p:spPr>
              <a:xfrm>
                <a:off x="7989570" y="4633912"/>
                <a:ext cx="197782"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3</a:t>
                </a:r>
              </a:p>
            </p:txBody>
          </p:sp>
        </p:grpSp>
        <p:grpSp>
          <p:nvGrpSpPr>
            <p:cNvPr id="54" name="Group 54"/>
            <p:cNvGrpSpPr/>
            <p:nvPr/>
          </p:nvGrpSpPr>
          <p:grpSpPr>
            <a:xfrm>
              <a:off x="906399" y="4649629"/>
              <a:ext cx="9823323" cy="841438"/>
              <a:chOff x="906399" y="4649629"/>
              <a:chExt cx="9823323" cy="841438"/>
            </a:xfrm>
          </p:grpSpPr>
          <p:sp>
            <p:nvSpPr>
              <p:cNvPr id="51" name="TextBox 51"/>
              <p:cNvSpPr txBox="1"/>
              <p:nvPr/>
            </p:nvSpPr>
            <p:spPr>
              <a:xfrm>
                <a:off x="906399" y="4649629"/>
                <a:ext cx="2283460"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await’i async olmayan</a:t>
                </a:r>
                <a:br/>
                <a:r>
                  <a:rPr lang="tr-TR" sz="1580" dirty="0">
                    <a:solidFill>
                      <a:srgbClr val="172B3A"/>
                    </a:solidFill>
                    <a:latin typeface="+mn-lt"/>
                    <a:ea typeface="+mn-ea"/>
                    <a:cs typeface="+mn-cs"/>
                  </a:rPr>
                  <a:t>fonksiyonda kullanmak:</a:t>
                </a:r>
                <a:br/>
                <a:r>
                  <a:rPr lang="tr-TR" sz="1580" dirty="0">
                    <a:solidFill>
                      <a:srgbClr val="172B3A"/>
                    </a:solidFill>
                    <a:latin typeface="+mn-lt"/>
                    <a:ea typeface="+mn-ea"/>
                    <a:cs typeface="+mn-cs"/>
                  </a:rPr>
                  <a:t>TS1308 derleme hatası</a:t>
                </a:r>
              </a:p>
            </p:txBody>
          </p:sp>
          <p:sp>
            <p:nvSpPr>
              <p:cNvPr id="52" name="TextBox 52"/>
              <p:cNvSpPr txBox="1"/>
              <p:nvPr/>
            </p:nvSpPr>
            <p:spPr>
              <a:xfrm>
                <a:off x="4621149" y="4649629"/>
                <a:ext cx="2624582"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Çağrı noktasında catch</a:t>
                </a:r>
                <a:br/>
                <a:r>
                  <a:rPr lang="tr-TR" sz="1580" dirty="0">
                    <a:solidFill>
                      <a:srgbClr val="172B3A"/>
                    </a:solidFill>
                    <a:latin typeface="+mn-lt"/>
                    <a:ea typeface="+mn-ea"/>
                    <a:cs typeface="+mn-cs"/>
                  </a:rPr>
                  <a:t>yok: her asenkron sınırda</a:t>
                </a:r>
                <a:br/>
                <a:r>
                  <a:rPr lang="tr-TR" sz="1580" dirty="0">
                    <a:solidFill>
                      <a:srgbClr val="172B3A"/>
                    </a:solidFill>
                    <a:latin typeface="+mn-lt"/>
                    <a:ea typeface="+mn-ea"/>
                    <a:cs typeface="+mn-cs"/>
                  </a:rPr>
                  <a:t>hata stratejisi gerekir</a:t>
                </a:r>
              </a:p>
            </p:txBody>
          </p:sp>
          <p:sp>
            <p:nvSpPr>
              <p:cNvPr id="53" name="TextBox 53"/>
              <p:cNvSpPr txBox="1"/>
              <p:nvPr/>
            </p:nvSpPr>
            <p:spPr>
              <a:xfrm>
                <a:off x="8335899" y="4649629"/>
                <a:ext cx="2393823"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then içinde return</a:t>
                </a:r>
                <a:br/>
                <a:r>
                  <a:rPr lang="tr-TR" sz="1580" dirty="0">
                    <a:solidFill>
                      <a:srgbClr val="172B3A"/>
                    </a:solidFill>
                    <a:latin typeface="+mn-lt"/>
                    <a:ea typeface="+mn-ea"/>
                    <a:cs typeface="+mn-cs"/>
                  </a:rPr>
                  <a:t>unutulursa sonraki adım</a:t>
                </a:r>
                <a:br/>
                <a:r>
                  <a:rPr lang="tr-TR" sz="1580" dirty="0">
                    <a:solidFill>
                      <a:srgbClr val="172B3A"/>
                    </a:solidFill>
                    <a:latin typeface="+mn-lt"/>
                    <a:ea typeface="+mn-ea"/>
                    <a:cs typeface="+mn-cs"/>
                  </a:rPr>
                  <a:t>undefined alır</a:t>
                </a:r>
              </a:p>
            </p:txBody>
          </p:sp>
        </p:grpSp>
      </p:grpSp>
      <p:grpSp>
        <p:nvGrpSpPr>
          <p:cNvPr id="58" name="footer"/>
          <p:cNvGrpSpPr/>
          <p:nvPr/>
        </p:nvGrpSpPr>
        <p:grpSpPr>
          <a:xfrm>
            <a:off x="565404" y="6404610"/>
            <a:ext cx="11061192" cy="234696"/>
            <a:chOff x="565404" y="6404610"/>
            <a:chExt cx="11061192" cy="234696"/>
          </a:xfrm>
        </p:grpSpPr>
        <p:sp>
          <p:nvSpPr>
            <p:cNvPr id="56" name="TextBox 56"/>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57" name="TextBox 57"/>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8723313"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Destructuring: istek gövdesini ayrıştırmak</a:t>
              </a:r>
            </a:p>
          </p:txBody>
        </p:sp>
      </p:grpSp>
      <p:grpSp>
        <p:nvGrpSpPr>
          <p:cNvPr id="37" name="field-mapping"/>
          <p:cNvGrpSpPr/>
          <p:nvPr/>
        </p:nvGrpSpPr>
        <p:grpSpPr>
          <a:xfrm>
            <a:off x="565404" y="1203960"/>
            <a:ext cx="9329574" cy="3501390"/>
            <a:chOff x="565404" y="1203960"/>
            <a:chExt cx="9329574" cy="3501390"/>
          </a:xfrm>
        </p:grpSpPr>
        <p:grpSp>
          <p:nvGrpSpPr>
            <p:cNvPr id="8" name="Group 8"/>
            <p:cNvGrpSpPr/>
            <p:nvPr/>
          </p:nvGrpSpPr>
          <p:grpSpPr>
            <a:xfrm>
              <a:off x="565404" y="1203960"/>
              <a:ext cx="7167616" cy="234696"/>
              <a:chOff x="565404" y="1203960"/>
              <a:chExt cx="7167616" cy="234696"/>
            </a:xfrm>
          </p:grpSpPr>
          <p:sp>
            <p:nvSpPr>
              <p:cNvPr id="6" name="TextBox 6"/>
              <p:cNvSpPr txBox="1"/>
              <p:nvPr/>
            </p:nvSpPr>
            <p:spPr>
              <a:xfrm>
                <a:off x="565404" y="1203960"/>
                <a:ext cx="2682990" cy="234696"/>
              </a:xfrm>
              <a:prstGeom prst="rect">
                <a:avLst/>
              </a:prstGeom>
              <a:noFill/>
              <a:ln>
                <a:noFill/>
              </a:ln>
            </p:spPr>
            <p:txBody>
              <a:bodyPr wrap="none" lIns="0" tIns="0" rIns="0" bIns="0" anchor="t" anchorCtr="0">
                <a:spAutoFit/>
              </a:bodyPr>
              <a:lstStyle/>
              <a:p>
                <a:pPr algn="l"/>
                <a:r>
                  <a:rPr lang="tr-TR" sz="1200" b="1" dirty="0">
                    <a:solidFill>
                      <a:srgbClr val="52616B"/>
                    </a:solidFill>
                    <a:latin typeface="+mn-lt"/>
                    <a:ea typeface="+mn-ea"/>
                    <a:cs typeface="+mn-cs"/>
                  </a:rPr>
                  <a:t>KAYNAK · istekVerisi (değişmez)</a:t>
                </a:r>
              </a:p>
            </p:txBody>
          </p:sp>
          <p:sp>
            <p:nvSpPr>
              <p:cNvPr id="7" name="TextBox 7"/>
              <p:cNvSpPr txBox="1"/>
              <p:nvPr/>
            </p:nvSpPr>
            <p:spPr>
              <a:xfrm>
                <a:off x="6089904" y="1203960"/>
                <a:ext cx="1643116"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YEREL DEĞİŞKENLER</a:t>
                </a:r>
              </a:p>
            </p:txBody>
          </p:sp>
        </p:grpSp>
        <p:sp>
          <p:nvSpPr>
            <p:cNvPr id="9" name="Rectangle 9"/>
            <p:cNvSpPr/>
            <p:nvPr/>
          </p:nvSpPr>
          <p:spPr>
            <a:xfrm>
              <a:off x="571500" y="1466850"/>
              <a:ext cx="4286250" cy="3238500"/>
            </a:xfrm>
            <a:prstGeom prst="rect">
              <a:avLst/>
            </a:prstGeom>
            <a:solidFill>
              <a:srgbClr val="EAF4F6"/>
            </a:solidFill>
            <a:ln>
              <a:noFill/>
            </a:ln>
          </p:spPr>
        </p:sp>
        <p:grpSp>
          <p:nvGrpSpPr>
            <p:cNvPr id="16" name="Group 16"/>
            <p:cNvGrpSpPr/>
            <p:nvPr/>
          </p:nvGrpSpPr>
          <p:grpSpPr>
            <a:xfrm>
              <a:off x="754380" y="1704975"/>
              <a:ext cx="2984564" cy="2960370"/>
              <a:chOff x="754380" y="1704975"/>
              <a:chExt cx="2984564" cy="2960370"/>
            </a:xfrm>
          </p:grpSpPr>
          <p:sp>
            <p:nvSpPr>
              <p:cNvPr id="10" name="TextBox 10"/>
              <p:cNvSpPr txBox="1"/>
              <p:nvPr/>
            </p:nvSpPr>
            <p:spPr>
              <a:xfrm>
                <a:off x="754380" y="1704975"/>
                <a:ext cx="1911506"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musteriKimlik: 42</a:t>
                </a:r>
              </a:p>
            </p:txBody>
          </p:sp>
          <p:sp>
            <p:nvSpPr>
              <p:cNvPr id="11" name="TextBox 11"/>
              <p:cNvSpPr txBox="1"/>
              <p:nvPr/>
            </p:nvSpPr>
            <p:spPr>
              <a:xfrm>
                <a:off x="754380" y="2371725"/>
                <a:ext cx="1910919"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Consolas"/>
                    <a:ea typeface="Consolas"/>
                    <a:cs typeface="Consolas"/>
                  </a:rPr>
                  <a:t>teslimatAdresi: —</a:t>
                </a:r>
              </a:p>
            </p:txBody>
          </p:sp>
          <p:sp>
            <p:nvSpPr>
              <p:cNvPr id="12" name="TextBox 12"/>
              <p:cNvSpPr txBox="1"/>
              <p:nvPr/>
            </p:nvSpPr>
            <p:spPr>
              <a:xfrm>
                <a:off x="754380" y="3038475"/>
                <a:ext cx="2737295"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urunKodlari: ["KITAP-1",</a:t>
                </a:r>
              </a:p>
            </p:txBody>
          </p:sp>
          <p:sp>
            <p:nvSpPr>
              <p:cNvPr id="13" name="TextBox 13"/>
              <p:cNvSpPr txBox="1"/>
              <p:nvPr/>
            </p:nvSpPr>
            <p:spPr>
              <a:xfrm>
                <a:off x="754380" y="3286125"/>
                <a:ext cx="1188720"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"KALEM-2"]</a:t>
                </a:r>
              </a:p>
            </p:txBody>
          </p:sp>
          <p:sp>
            <p:nvSpPr>
              <p:cNvPr id="14" name="TextBox 14"/>
              <p:cNvSpPr txBox="1"/>
              <p:nvPr/>
            </p:nvSpPr>
            <p:spPr>
              <a:xfrm>
                <a:off x="754380" y="3705225"/>
                <a:ext cx="1125855"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Consolas"/>
                    <a:ea typeface="Consolas"/>
                    <a:cs typeface="Consolas"/>
                  </a:rPr>
                  <a:t>oncelik: —</a:t>
                </a:r>
              </a:p>
            </p:txBody>
          </p:sp>
          <p:sp>
            <p:nvSpPr>
              <p:cNvPr id="15" name="TextBox 15"/>
              <p:cNvSpPr txBox="1"/>
              <p:nvPr/>
            </p:nvSpPr>
            <p:spPr>
              <a:xfrm>
                <a:off x="754380" y="4371975"/>
                <a:ext cx="2984564"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kampanyaKodu: "GELENEKSEL"</a:t>
                </a:r>
              </a:p>
            </p:txBody>
          </p:sp>
        </p:grpSp>
        <p:grpSp>
          <p:nvGrpSpPr>
            <p:cNvPr id="22" name="Group 22"/>
            <p:cNvGrpSpPr/>
            <p:nvPr/>
          </p:nvGrpSpPr>
          <p:grpSpPr>
            <a:xfrm>
              <a:off x="4857750" y="1809750"/>
              <a:ext cx="1143000" cy="2667001"/>
              <a:chOff x="4857750" y="1809750"/>
              <a:chExt cx="1143000" cy="2667001"/>
            </a:xfrm>
          </p:grpSpPr>
          <p:sp>
            <p:nvSpPr>
              <p:cNvPr id="17" name="Line 17"/>
              <p:cNvSpPr/>
              <p:nvPr/>
            </p:nvSpPr>
            <p:spPr>
              <a:xfrm>
                <a:off x="4857750" y="1809750"/>
                <a:ext cx="1143000" cy="1"/>
              </a:xfrm>
              <a:prstGeom prst="line">
                <a:avLst/>
              </a:prstGeom>
              <a:noFill/>
              <a:ln w="19050">
                <a:solidFill>
                  <a:srgbClr val="00A6A6"/>
                </a:solidFill>
                <a:tailEnd type="triangle" w="lg" len="lg"/>
              </a:ln>
            </p:spPr>
          </p:sp>
          <p:sp>
            <p:nvSpPr>
              <p:cNvPr id="18" name="Line 18"/>
              <p:cNvSpPr/>
              <p:nvPr/>
            </p:nvSpPr>
            <p:spPr>
              <a:xfrm>
                <a:off x="4857750" y="2476500"/>
                <a:ext cx="1143000" cy="1"/>
              </a:xfrm>
              <a:prstGeom prst="line">
                <a:avLst/>
              </a:prstGeom>
              <a:noFill/>
              <a:ln w="19050">
                <a:solidFill>
                  <a:srgbClr val="00A6A6"/>
                </a:solidFill>
                <a:tailEnd type="triangle" w="lg" len="lg"/>
              </a:ln>
            </p:spPr>
          </p:sp>
          <p:sp>
            <p:nvSpPr>
              <p:cNvPr id="19" name="Line 19"/>
              <p:cNvSpPr/>
              <p:nvPr/>
            </p:nvSpPr>
            <p:spPr>
              <a:xfrm>
                <a:off x="4857750" y="3238500"/>
                <a:ext cx="1143000" cy="1"/>
              </a:xfrm>
              <a:prstGeom prst="line">
                <a:avLst/>
              </a:prstGeom>
              <a:noFill/>
              <a:ln w="19050">
                <a:solidFill>
                  <a:srgbClr val="00A6A6"/>
                </a:solidFill>
                <a:tailEnd type="triangle" w="lg" len="lg"/>
              </a:ln>
            </p:spPr>
          </p:sp>
          <p:sp>
            <p:nvSpPr>
              <p:cNvPr id="20" name="Line 20"/>
              <p:cNvSpPr/>
              <p:nvPr/>
            </p:nvSpPr>
            <p:spPr>
              <a:xfrm>
                <a:off x="4857750" y="3810000"/>
                <a:ext cx="1143000" cy="1"/>
              </a:xfrm>
              <a:prstGeom prst="line">
                <a:avLst/>
              </a:prstGeom>
              <a:noFill/>
              <a:ln w="19050">
                <a:solidFill>
                  <a:srgbClr val="00A6A6"/>
                </a:solidFill>
                <a:tailEnd type="triangle" w="lg" len="lg"/>
              </a:ln>
            </p:spPr>
          </p:sp>
          <p:sp>
            <p:nvSpPr>
              <p:cNvPr id="21" name="Line 21"/>
              <p:cNvSpPr/>
              <p:nvPr/>
            </p:nvSpPr>
            <p:spPr>
              <a:xfrm>
                <a:off x="4857750" y="4476750"/>
                <a:ext cx="1143000" cy="1"/>
              </a:xfrm>
              <a:prstGeom prst="line">
                <a:avLst/>
              </a:prstGeom>
              <a:noFill/>
              <a:ln w="19050">
                <a:solidFill>
                  <a:srgbClr val="00A6A6"/>
                </a:solidFill>
                <a:tailEnd type="triangle" w="lg" len="lg"/>
              </a:ln>
            </p:spPr>
          </p:sp>
        </p:grpSp>
        <p:grpSp>
          <p:nvGrpSpPr>
            <p:cNvPr id="28" name="Group 28"/>
            <p:cNvGrpSpPr/>
            <p:nvPr/>
          </p:nvGrpSpPr>
          <p:grpSpPr>
            <a:xfrm>
              <a:off x="4999101" y="1584960"/>
              <a:ext cx="860298" cy="2901696"/>
              <a:chOff x="4999101" y="1584960"/>
              <a:chExt cx="860298" cy="2901696"/>
            </a:xfrm>
          </p:grpSpPr>
          <p:sp>
            <p:nvSpPr>
              <p:cNvPr id="23" name="TextBox 23"/>
              <p:cNvSpPr txBox="1"/>
              <p:nvPr/>
            </p:nvSpPr>
            <p:spPr>
              <a:xfrm>
                <a:off x="5152568" y="1584960"/>
                <a:ext cx="553364" cy="234696"/>
              </a:xfrm>
              <a:prstGeom prst="rect">
                <a:avLst/>
              </a:prstGeom>
              <a:noFill/>
              <a:ln>
                <a:noFill/>
              </a:ln>
            </p:spPr>
            <p:txBody>
              <a:bodyPr wrap="none" lIns="0" tIns="0" rIns="0" bIns="0" anchor="t" anchorCtr="0">
                <a:spAutoFit/>
              </a:bodyPr>
              <a:lstStyle/>
              <a:p>
                <a:pPr algn="ctr"/>
                <a:r>
                  <a:rPr lang="tr-TR" sz="1200" dirty="0">
                    <a:solidFill>
                      <a:srgbClr val="2E86AB"/>
                    </a:solidFill>
                    <a:latin typeface="+mn-lt"/>
                    <a:ea typeface="+mn-ea"/>
                    <a:cs typeface="+mn-cs"/>
                  </a:rPr>
                  <a:t>yeni ad</a:t>
                </a:r>
              </a:p>
            </p:txBody>
          </p:sp>
          <p:sp>
            <p:nvSpPr>
              <p:cNvPr id="24" name="TextBox 24"/>
              <p:cNvSpPr txBox="1"/>
              <p:nvPr/>
            </p:nvSpPr>
            <p:spPr>
              <a:xfrm>
                <a:off x="4999101" y="2251710"/>
                <a:ext cx="860298" cy="234696"/>
              </a:xfrm>
              <a:prstGeom prst="rect">
                <a:avLst/>
              </a:prstGeom>
              <a:noFill/>
              <a:ln>
                <a:noFill/>
              </a:ln>
            </p:spPr>
            <p:txBody>
              <a:bodyPr wrap="none" lIns="0" tIns="0" rIns="0" bIns="0" anchor="t" anchorCtr="0">
                <a:spAutoFit/>
              </a:bodyPr>
              <a:lstStyle/>
              <a:p>
                <a:pPr algn="ctr"/>
                <a:r>
                  <a:rPr lang="tr-TR" sz="1200" dirty="0">
                    <a:solidFill>
                      <a:srgbClr val="2E86AB"/>
                    </a:solidFill>
                    <a:latin typeface="+mn-lt"/>
                    <a:ea typeface="+mn-ea"/>
                    <a:cs typeface="+mn-cs"/>
                  </a:rPr>
                  <a:t>varsayılan</a:t>
                </a:r>
              </a:p>
            </p:txBody>
          </p:sp>
          <p:sp>
            <p:nvSpPr>
              <p:cNvPr id="25" name="TextBox 25"/>
              <p:cNvSpPr txBox="1"/>
              <p:nvPr/>
            </p:nvSpPr>
            <p:spPr>
              <a:xfrm>
                <a:off x="5015255" y="3013710"/>
                <a:ext cx="827989" cy="234696"/>
              </a:xfrm>
              <a:prstGeom prst="rect">
                <a:avLst/>
              </a:prstGeom>
              <a:noFill/>
              <a:ln>
                <a:noFill/>
              </a:ln>
            </p:spPr>
            <p:txBody>
              <a:bodyPr wrap="none" lIns="0" tIns="0" rIns="0" bIns="0" anchor="t" anchorCtr="0">
                <a:spAutoFit/>
              </a:bodyPr>
              <a:lstStyle/>
              <a:p>
                <a:pPr algn="ctr"/>
                <a:r>
                  <a:rPr lang="tr-TR" sz="1200" dirty="0">
                    <a:solidFill>
                      <a:srgbClr val="2E86AB"/>
                    </a:solidFill>
                    <a:latin typeface="+mn-lt"/>
                    <a:ea typeface="+mn-ea"/>
                    <a:cs typeface="+mn-cs"/>
                  </a:rPr>
                  <a:t>dizi + rest</a:t>
                </a:r>
              </a:p>
            </p:txBody>
          </p:sp>
          <p:sp>
            <p:nvSpPr>
              <p:cNvPr id="26" name="TextBox 26"/>
              <p:cNvSpPr txBox="1"/>
              <p:nvPr/>
            </p:nvSpPr>
            <p:spPr>
              <a:xfrm>
                <a:off x="4999101" y="3585210"/>
                <a:ext cx="860298" cy="234696"/>
              </a:xfrm>
              <a:prstGeom prst="rect">
                <a:avLst/>
              </a:prstGeom>
              <a:noFill/>
              <a:ln>
                <a:noFill/>
              </a:ln>
            </p:spPr>
            <p:txBody>
              <a:bodyPr wrap="none" lIns="0" tIns="0" rIns="0" bIns="0" anchor="t" anchorCtr="0">
                <a:spAutoFit/>
              </a:bodyPr>
              <a:lstStyle/>
              <a:p>
                <a:pPr algn="ctr"/>
                <a:r>
                  <a:rPr lang="tr-TR" sz="1200" dirty="0">
                    <a:solidFill>
                      <a:srgbClr val="2E86AB"/>
                    </a:solidFill>
                    <a:latin typeface="+mn-lt"/>
                    <a:ea typeface="+mn-ea"/>
                    <a:cs typeface="+mn-cs"/>
                  </a:rPr>
                  <a:t>varsayılan</a:t>
                </a:r>
              </a:p>
            </p:txBody>
          </p:sp>
          <p:sp>
            <p:nvSpPr>
              <p:cNvPr id="27" name="TextBox 27"/>
              <p:cNvSpPr txBox="1"/>
              <p:nvPr/>
            </p:nvSpPr>
            <p:spPr>
              <a:xfrm>
                <a:off x="5245456" y="4251960"/>
                <a:ext cx="367589" cy="234696"/>
              </a:xfrm>
              <a:prstGeom prst="rect">
                <a:avLst/>
              </a:prstGeom>
              <a:noFill/>
              <a:ln>
                <a:noFill/>
              </a:ln>
            </p:spPr>
            <p:txBody>
              <a:bodyPr wrap="none" lIns="0" tIns="0" rIns="0" bIns="0" anchor="t" anchorCtr="0">
                <a:spAutoFit/>
              </a:bodyPr>
              <a:lstStyle/>
              <a:p>
                <a:pPr algn="ctr"/>
                <a:r>
                  <a:rPr lang="tr-TR" sz="1200" dirty="0">
                    <a:solidFill>
                      <a:srgbClr val="2E86AB"/>
                    </a:solidFill>
                    <a:latin typeface="+mn-lt"/>
                    <a:ea typeface="+mn-ea"/>
                    <a:cs typeface="+mn-cs"/>
                  </a:rPr>
                  <a:t>rest</a:t>
                </a:r>
              </a:p>
            </p:txBody>
          </p:sp>
        </p:grpSp>
        <p:grpSp>
          <p:nvGrpSpPr>
            <p:cNvPr id="36" name="Group 36"/>
            <p:cNvGrpSpPr/>
            <p:nvPr/>
          </p:nvGrpSpPr>
          <p:grpSpPr>
            <a:xfrm>
              <a:off x="6088380" y="1704975"/>
              <a:ext cx="3806598" cy="2960370"/>
              <a:chOff x="6088380" y="1704975"/>
              <a:chExt cx="3806598" cy="2960370"/>
            </a:xfrm>
          </p:grpSpPr>
          <p:sp>
            <p:nvSpPr>
              <p:cNvPr id="29" name="TextBox 29"/>
              <p:cNvSpPr txBox="1"/>
              <p:nvPr/>
            </p:nvSpPr>
            <p:spPr>
              <a:xfrm>
                <a:off x="6088380" y="1704975"/>
                <a:ext cx="1236917"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kimlik = 42</a:t>
                </a:r>
              </a:p>
            </p:txBody>
          </p:sp>
          <p:sp>
            <p:nvSpPr>
              <p:cNvPr id="30" name="TextBox 30"/>
              <p:cNvSpPr txBox="1"/>
              <p:nvPr/>
            </p:nvSpPr>
            <p:spPr>
              <a:xfrm>
                <a:off x="6088380" y="2371725"/>
                <a:ext cx="3806598"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teslimatAdresi = "Adres daha sonra</a:t>
                </a:r>
              </a:p>
            </p:txBody>
          </p:sp>
          <p:sp>
            <p:nvSpPr>
              <p:cNvPr id="31" name="TextBox 31"/>
              <p:cNvSpPr txBox="1"/>
              <p:nvPr/>
            </p:nvSpPr>
            <p:spPr>
              <a:xfrm>
                <a:off x="6088380" y="2600325"/>
                <a:ext cx="1459040"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doğrulanacak"</a:t>
                </a:r>
              </a:p>
            </p:txBody>
          </p:sp>
          <p:sp>
            <p:nvSpPr>
              <p:cNvPr id="32" name="TextBox 32"/>
              <p:cNvSpPr txBox="1"/>
              <p:nvPr/>
            </p:nvSpPr>
            <p:spPr>
              <a:xfrm>
                <a:off x="6088380" y="3038475"/>
                <a:ext cx="2185130"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ilkUrun = "KITAP-1"</a:t>
                </a:r>
              </a:p>
            </p:txBody>
          </p:sp>
          <p:sp>
            <p:nvSpPr>
              <p:cNvPr id="33" name="TextBox 33"/>
              <p:cNvSpPr txBox="1"/>
              <p:nvPr/>
            </p:nvSpPr>
            <p:spPr>
              <a:xfrm>
                <a:off x="6088380" y="3286125"/>
                <a:ext cx="2960527"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digerUrunler = ["KALEM-2"]</a:t>
                </a:r>
              </a:p>
            </p:txBody>
          </p:sp>
          <p:sp>
            <p:nvSpPr>
              <p:cNvPr id="34" name="TextBox 34"/>
              <p:cNvSpPr txBox="1"/>
              <p:nvPr/>
            </p:nvSpPr>
            <p:spPr>
              <a:xfrm>
                <a:off x="6088380" y="3705225"/>
                <a:ext cx="2014347"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oncelik = "normal"</a:t>
                </a:r>
              </a:p>
            </p:txBody>
          </p:sp>
          <p:sp>
            <p:nvSpPr>
              <p:cNvPr id="35" name="TextBox 35"/>
              <p:cNvSpPr txBox="1"/>
              <p:nvPr/>
            </p:nvSpPr>
            <p:spPr>
              <a:xfrm>
                <a:off x="6088380" y="4371975"/>
                <a:ext cx="3141726"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ekAlanlar = { kampanyaKodu }</a:t>
                </a:r>
              </a:p>
            </p:txBody>
          </p:sp>
        </p:grpSp>
      </p:grpSp>
      <p:grpSp>
        <p:nvGrpSpPr>
          <p:cNvPr id="44" name="principles"/>
          <p:cNvGrpSpPr/>
          <p:nvPr/>
        </p:nvGrpSpPr>
        <p:grpSpPr>
          <a:xfrm>
            <a:off x="571500" y="5048250"/>
            <a:ext cx="9943719" cy="1104900"/>
            <a:chOff x="571500" y="5048250"/>
            <a:chExt cx="9943719" cy="1104900"/>
          </a:xfrm>
        </p:grpSpPr>
        <p:sp>
          <p:nvSpPr>
            <p:cNvPr id="38" name="Rectangle 38"/>
            <p:cNvSpPr/>
            <p:nvPr/>
          </p:nvSpPr>
          <p:spPr>
            <a:xfrm>
              <a:off x="571500" y="5048250"/>
              <a:ext cx="57150" cy="1104900"/>
            </a:xfrm>
            <a:prstGeom prst="rect">
              <a:avLst/>
            </a:prstGeom>
            <a:solidFill>
              <a:srgbClr val="00A6A6"/>
            </a:solidFill>
            <a:ln>
              <a:noFill/>
            </a:ln>
          </p:spPr>
        </p:sp>
        <p:sp>
          <p:nvSpPr>
            <p:cNvPr id="39" name="TextBox 39"/>
            <p:cNvSpPr txBox="1"/>
            <p:nvPr/>
          </p:nvSpPr>
          <p:spPr>
            <a:xfrm>
              <a:off x="810006" y="5139690"/>
              <a:ext cx="218911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Arayüz daralması</a:t>
              </a:r>
            </a:p>
          </p:txBody>
        </p:sp>
        <p:sp>
          <p:nvSpPr>
            <p:cNvPr id="40" name="TextBox 40"/>
            <p:cNvSpPr txBox="1"/>
            <p:nvPr/>
          </p:nvSpPr>
          <p:spPr>
            <a:xfrm>
              <a:off x="811149" y="5487829"/>
              <a:ext cx="472147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Fonksiyon nesnenin tamamına değil, yalnızca</a:t>
              </a:r>
              <a:br/>
              <a:r>
                <a:rPr lang="tr-TR" sz="1580" dirty="0">
                  <a:solidFill>
                    <a:srgbClr val="172B3A"/>
                  </a:solidFill>
                  <a:latin typeface="+mn-lt"/>
                  <a:ea typeface="+mn-ea"/>
                  <a:cs typeface="+mn-cs"/>
                </a:rPr>
                <a:t>gereken alanlara bağımlı olur (Demeter, 1987).</a:t>
              </a:r>
            </a:p>
          </p:txBody>
        </p:sp>
        <p:sp>
          <p:nvSpPr>
            <p:cNvPr id="41" name="Rectangle 41"/>
            <p:cNvSpPr/>
            <p:nvPr/>
          </p:nvSpPr>
          <p:spPr>
            <a:xfrm>
              <a:off x="6286500" y="5048250"/>
              <a:ext cx="57150" cy="1104900"/>
            </a:xfrm>
            <a:prstGeom prst="rect">
              <a:avLst/>
            </a:prstGeom>
            <a:solidFill>
              <a:srgbClr val="52616B"/>
            </a:solidFill>
            <a:ln>
              <a:noFill/>
            </a:ln>
          </p:spPr>
        </p:sp>
        <p:sp>
          <p:nvSpPr>
            <p:cNvPr id="42" name="TextBox 42"/>
            <p:cNvSpPr txBox="1"/>
            <p:nvPr/>
          </p:nvSpPr>
          <p:spPr>
            <a:xfrm>
              <a:off x="6525006" y="5139690"/>
              <a:ext cx="325788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Kökeni: örüntü eşleştirme</a:t>
              </a:r>
            </a:p>
          </p:txBody>
        </p:sp>
        <p:sp>
          <p:nvSpPr>
            <p:cNvPr id="43" name="TextBox 43"/>
            <p:cNvSpPr txBox="1"/>
            <p:nvPr/>
          </p:nvSpPr>
          <p:spPr>
            <a:xfrm>
              <a:off x="6526149" y="5487829"/>
              <a:ext cx="3989070"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ML, Haskell, Erlang fikrinin nesne ve dizi</a:t>
              </a:r>
              <a:br/>
              <a:r>
                <a:rPr lang="tr-TR" sz="1580" dirty="0">
                  <a:solidFill>
                    <a:srgbClr val="172B3A"/>
                  </a:solidFill>
                  <a:latin typeface="+mn-lt"/>
                  <a:ea typeface="+mn-ea"/>
                  <a:cs typeface="+mn-cs"/>
                </a:rPr>
                <a:t>biçimiyle sınırlı alt kümesi (ES2015).</a:t>
              </a:r>
            </a:p>
          </p:txBody>
        </p:sp>
      </p:grpSp>
      <p:grpSp>
        <p:nvGrpSpPr>
          <p:cNvPr id="47" name="footer"/>
          <p:cNvGrpSpPr/>
          <p:nvPr/>
        </p:nvGrpSpPr>
        <p:grpSpPr>
          <a:xfrm>
            <a:off x="565404" y="6404610"/>
            <a:ext cx="11061192" cy="234696"/>
            <a:chOff x="565404" y="6404610"/>
            <a:chExt cx="11061192" cy="234696"/>
          </a:xfrm>
        </p:grpSpPr>
        <p:sp>
          <p:nvSpPr>
            <p:cNvPr id="45" name="TextBox 45"/>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46" name="TextBox 46"/>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08356" y="319421"/>
                <a:ext cx="297777" cy="255830"/>
                <a:chOff x="708356" y="319421"/>
                <a:chExt cx="297777" cy="255830"/>
              </a:xfrm>
            </p:grpSpPr>
            <p:sp>
              <p:nvSpPr>
                <p:cNvPr id="5" name="Freeform 5"/>
                <p:cNvSpPr/>
                <p:nvPr/>
              </p:nvSpPr>
              <p:spPr>
                <a:xfrm>
                  <a:off x="8572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083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572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61872" y="282892"/>
              <a:ext cx="7515049"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Destructuring’de dört dikkat noktası</a:t>
              </a:r>
            </a:p>
          </p:txBody>
        </p:sp>
      </p:grpSp>
      <p:grpSp>
        <p:nvGrpSpPr>
          <p:cNvPr id="20" name="pitfall-default"/>
          <p:cNvGrpSpPr/>
          <p:nvPr/>
        </p:nvGrpSpPr>
        <p:grpSpPr>
          <a:xfrm>
            <a:off x="571500" y="1238250"/>
            <a:ext cx="5334000" cy="2324100"/>
            <a:chOff x="571500" y="1238250"/>
            <a:chExt cx="5334000" cy="2324100"/>
          </a:xfrm>
        </p:grpSpPr>
        <p:sp>
          <p:nvSpPr>
            <p:cNvPr id="12" name="Rectangle 12"/>
            <p:cNvSpPr/>
            <p:nvPr/>
          </p:nvSpPr>
          <p:spPr>
            <a:xfrm>
              <a:off x="571500" y="1238250"/>
              <a:ext cx="5334000" cy="2324100"/>
            </a:xfrm>
            <a:prstGeom prst="rect">
              <a:avLst/>
            </a:prstGeom>
            <a:solidFill>
              <a:srgbClr val="FFFFFF"/>
            </a:solidFill>
            <a:ln w="19050">
              <a:solidFill>
                <a:srgbClr val="B8CBD3"/>
              </a:solidFill>
            </a:ln>
          </p:spPr>
        </p:sp>
        <p:sp>
          <p:nvSpPr>
            <p:cNvPr id="13" name="Rectangle 13"/>
            <p:cNvSpPr/>
            <p:nvPr/>
          </p:nvSpPr>
          <p:spPr>
            <a:xfrm>
              <a:off x="571500" y="1238250"/>
              <a:ext cx="57150" cy="2324100"/>
            </a:xfrm>
            <a:prstGeom prst="rect">
              <a:avLst/>
            </a:prstGeom>
            <a:solidFill>
              <a:srgbClr val="00A6A6"/>
            </a:solidFill>
            <a:ln>
              <a:noFill/>
            </a:ln>
          </p:spPr>
        </p:sp>
        <p:sp>
          <p:nvSpPr>
            <p:cNvPr id="14" name="TextBox 14"/>
            <p:cNvSpPr txBox="1"/>
            <p:nvPr/>
          </p:nvSpPr>
          <p:spPr>
            <a:xfrm>
              <a:off x="810006" y="1405890"/>
              <a:ext cx="427505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Varsayılan yalnızca undefined için</a:t>
              </a:r>
            </a:p>
          </p:txBody>
        </p:sp>
        <p:grpSp>
          <p:nvGrpSpPr>
            <p:cNvPr id="18" name="Group 18"/>
            <p:cNvGrpSpPr/>
            <p:nvPr/>
          </p:nvGrpSpPr>
          <p:grpSpPr>
            <a:xfrm>
              <a:off x="811530" y="1838325"/>
              <a:ext cx="4134629" cy="864870"/>
              <a:chOff x="811530" y="1838325"/>
              <a:chExt cx="4134629" cy="864870"/>
            </a:xfrm>
          </p:grpSpPr>
          <p:sp>
            <p:nvSpPr>
              <p:cNvPr id="15" name="TextBox 15"/>
              <p:cNvSpPr txBox="1"/>
              <p:nvPr/>
            </p:nvSpPr>
            <p:spPr>
              <a:xfrm>
                <a:off x="811530" y="1838325"/>
                <a:ext cx="4134629"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const { tema = "açık" } = ayarVerisi;</a:t>
                </a:r>
              </a:p>
            </p:txBody>
          </p:sp>
          <p:sp>
            <p:nvSpPr>
              <p:cNvPr id="16" name="TextBox 16"/>
              <p:cNvSpPr txBox="1"/>
              <p:nvPr/>
            </p:nvSpPr>
            <p:spPr>
              <a:xfrm>
                <a:off x="811530" y="2124075"/>
                <a:ext cx="2902839"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Consolas"/>
                    <a:ea typeface="Consolas"/>
                    <a:cs typeface="Consolas"/>
                  </a:rPr>
                  <a:t>// tema: null → null kalır</a:t>
                </a:r>
              </a:p>
            </p:txBody>
          </p:sp>
          <p:sp>
            <p:nvSpPr>
              <p:cNvPr id="17" name="TextBox 17"/>
              <p:cNvSpPr txBox="1"/>
              <p:nvPr/>
            </p:nvSpPr>
            <p:spPr>
              <a:xfrm>
                <a:off x="811530" y="2409825"/>
                <a:ext cx="3911560"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const guvenliTema = tema ?? "açık";</a:t>
                </a:r>
              </a:p>
            </p:txBody>
          </p:sp>
        </p:grpSp>
        <p:sp>
          <p:nvSpPr>
            <p:cNvPr id="19" name="TextBox 19"/>
            <p:cNvSpPr txBox="1"/>
            <p:nvPr/>
          </p:nvSpPr>
          <p:spPr>
            <a:xfrm>
              <a:off x="811149" y="2858929"/>
              <a:ext cx="3838575"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null da ele alınacaksa ?? kullanılır;</a:t>
              </a:r>
              <a:br/>
              <a:r>
                <a:rPr lang="tr-TR" sz="1580" dirty="0">
                  <a:solidFill>
                    <a:srgbClr val="172B3A"/>
                  </a:solidFill>
                  <a:latin typeface="+mn-lt"/>
                  <a:ea typeface="+mn-ea"/>
                  <a:cs typeface="+mn-cs"/>
                </a:rPr>
                <a:t>0 ve boş metin varsayılanı tetiklemez.</a:t>
              </a:r>
            </a:p>
          </p:txBody>
        </p:sp>
      </p:grpSp>
      <p:grpSp>
        <p:nvGrpSpPr>
          <p:cNvPr id="28" name="pitfall-rename"/>
          <p:cNvGrpSpPr/>
          <p:nvPr/>
        </p:nvGrpSpPr>
        <p:grpSpPr>
          <a:xfrm>
            <a:off x="6286500" y="1238250"/>
            <a:ext cx="5334000" cy="2324100"/>
            <a:chOff x="6286500" y="1238250"/>
            <a:chExt cx="5334000" cy="2324100"/>
          </a:xfrm>
        </p:grpSpPr>
        <p:sp>
          <p:nvSpPr>
            <p:cNvPr id="21" name="Rectangle 21"/>
            <p:cNvSpPr/>
            <p:nvPr/>
          </p:nvSpPr>
          <p:spPr>
            <a:xfrm>
              <a:off x="6286500" y="1238250"/>
              <a:ext cx="5334000" cy="2324100"/>
            </a:xfrm>
            <a:prstGeom prst="rect">
              <a:avLst/>
            </a:prstGeom>
            <a:solidFill>
              <a:srgbClr val="FFFFFF"/>
            </a:solidFill>
            <a:ln w="19050">
              <a:solidFill>
                <a:srgbClr val="B8CBD3"/>
              </a:solidFill>
            </a:ln>
          </p:spPr>
        </p:sp>
        <p:sp>
          <p:nvSpPr>
            <p:cNvPr id="22" name="Rectangle 22"/>
            <p:cNvSpPr/>
            <p:nvPr/>
          </p:nvSpPr>
          <p:spPr>
            <a:xfrm>
              <a:off x="6286500" y="1238250"/>
              <a:ext cx="57150" cy="2324100"/>
            </a:xfrm>
            <a:prstGeom prst="rect">
              <a:avLst/>
            </a:prstGeom>
            <a:solidFill>
              <a:srgbClr val="00A6A6"/>
            </a:solidFill>
            <a:ln>
              <a:noFill/>
            </a:ln>
          </p:spPr>
        </p:sp>
        <p:sp>
          <p:nvSpPr>
            <p:cNvPr id="23" name="TextBox 23"/>
            <p:cNvSpPr txBox="1"/>
            <p:nvPr/>
          </p:nvSpPr>
          <p:spPr>
            <a:xfrm>
              <a:off x="6525006" y="1405890"/>
              <a:ext cx="346121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Yeniden adlandırmanın yönü</a:t>
              </a:r>
            </a:p>
          </p:txBody>
        </p:sp>
        <p:grpSp>
          <p:nvGrpSpPr>
            <p:cNvPr id="26" name="Group 26"/>
            <p:cNvGrpSpPr/>
            <p:nvPr/>
          </p:nvGrpSpPr>
          <p:grpSpPr>
            <a:xfrm>
              <a:off x="6526530" y="1838325"/>
              <a:ext cx="4355395" cy="579120"/>
              <a:chOff x="6526530" y="1838325"/>
              <a:chExt cx="4355395" cy="579120"/>
            </a:xfrm>
          </p:grpSpPr>
          <p:sp>
            <p:nvSpPr>
              <p:cNvPr id="24" name="TextBox 24"/>
              <p:cNvSpPr txBox="1"/>
              <p:nvPr/>
            </p:nvSpPr>
            <p:spPr>
              <a:xfrm>
                <a:off x="6526530" y="1838325"/>
                <a:ext cx="2475881"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 kaynakAlan: yeniAd }</a:t>
                </a:r>
              </a:p>
            </p:txBody>
          </p:sp>
          <p:sp>
            <p:nvSpPr>
              <p:cNvPr id="25" name="TextBox 25"/>
              <p:cNvSpPr txBox="1"/>
              <p:nvPr/>
            </p:nvSpPr>
            <p:spPr>
              <a:xfrm>
                <a:off x="6526530" y="2124075"/>
                <a:ext cx="4355395"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Consolas"/>
                    <a:ea typeface="Consolas"/>
                    <a:cs typeface="Consolas"/>
                  </a:rPr>
                  <a:t>const { ad: kullaniciAdi } = kullanici;</a:t>
                </a:r>
              </a:p>
            </p:txBody>
          </p:sp>
        </p:grpSp>
        <p:sp>
          <p:nvSpPr>
            <p:cNvPr id="27" name="TextBox 27"/>
            <p:cNvSpPr txBox="1"/>
            <p:nvPr/>
          </p:nvSpPr>
          <p:spPr>
            <a:xfrm>
              <a:off x="6526149" y="2592229"/>
              <a:ext cx="3868674"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Solda kaynak alan, sağda yeni değişken;</a:t>
              </a:r>
              <a:br/>
              <a:r>
                <a:rPr lang="tr-TR" sz="1580" dirty="0">
                  <a:solidFill>
                    <a:srgbClr val="172B3A"/>
                  </a:solidFill>
                  <a:latin typeface="+mn-lt"/>
                  <a:ea typeface="+mn-ea"/>
                  <a:cs typeface="+mn-cs"/>
                </a:rPr>
                <a:t>ters yazım yanlış alanı arar. Kaynak</a:t>
              </a:r>
              <a:br/>
              <a:r>
                <a:rPr lang="tr-TR" sz="1580" dirty="0">
                  <a:solidFill>
                    <a:srgbClr val="172B3A"/>
                  </a:solidFill>
                  <a:latin typeface="+mn-lt"/>
                  <a:ea typeface="+mn-ea"/>
                  <a:cs typeface="+mn-cs"/>
                </a:rPr>
                <a:t>nesne değişmez.</a:t>
              </a:r>
            </a:p>
          </p:txBody>
        </p:sp>
      </p:grpSp>
      <p:grpSp>
        <p:nvGrpSpPr>
          <p:cNvPr id="34" name="pitfall-order"/>
          <p:cNvGrpSpPr/>
          <p:nvPr/>
        </p:nvGrpSpPr>
        <p:grpSpPr>
          <a:xfrm>
            <a:off x="571500" y="3810000"/>
            <a:ext cx="5334000" cy="2362200"/>
            <a:chOff x="571500" y="3810000"/>
            <a:chExt cx="5334000" cy="2362200"/>
          </a:xfrm>
        </p:grpSpPr>
        <p:sp>
          <p:nvSpPr>
            <p:cNvPr id="29" name="Rectangle 29"/>
            <p:cNvSpPr/>
            <p:nvPr/>
          </p:nvSpPr>
          <p:spPr>
            <a:xfrm>
              <a:off x="571500" y="3810000"/>
              <a:ext cx="5334000" cy="2362200"/>
            </a:xfrm>
            <a:prstGeom prst="rect">
              <a:avLst/>
            </a:prstGeom>
            <a:solidFill>
              <a:srgbClr val="FFFFFF"/>
            </a:solidFill>
            <a:ln w="19050">
              <a:solidFill>
                <a:srgbClr val="B8CBD3"/>
              </a:solidFill>
            </a:ln>
          </p:spPr>
        </p:sp>
        <p:sp>
          <p:nvSpPr>
            <p:cNvPr id="30" name="Rectangle 30"/>
            <p:cNvSpPr/>
            <p:nvPr/>
          </p:nvSpPr>
          <p:spPr>
            <a:xfrm>
              <a:off x="571500" y="3810000"/>
              <a:ext cx="57150" cy="2362200"/>
            </a:xfrm>
            <a:prstGeom prst="rect">
              <a:avLst/>
            </a:prstGeom>
            <a:solidFill>
              <a:srgbClr val="52616B"/>
            </a:solidFill>
            <a:ln>
              <a:noFill/>
            </a:ln>
          </p:spPr>
        </p:sp>
        <p:sp>
          <p:nvSpPr>
            <p:cNvPr id="31" name="TextBox 31"/>
            <p:cNvSpPr txBox="1"/>
            <p:nvPr/>
          </p:nvSpPr>
          <p:spPr>
            <a:xfrm>
              <a:off x="810006" y="3977640"/>
              <a:ext cx="304183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Dizi sırası sözleşme mi?</a:t>
              </a:r>
            </a:p>
          </p:txBody>
        </p:sp>
        <p:sp>
          <p:nvSpPr>
            <p:cNvPr id="32" name="TextBox 32"/>
            <p:cNvSpPr txBox="1"/>
            <p:nvPr/>
          </p:nvSpPr>
          <p:spPr>
            <a:xfrm>
              <a:off x="811530" y="4410075"/>
              <a:ext cx="3585972"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const [ilkUrun, ...digerUrunler]</a:t>
              </a:r>
            </a:p>
          </p:txBody>
        </p:sp>
        <p:sp>
          <p:nvSpPr>
            <p:cNvPr id="33" name="TextBox 33"/>
            <p:cNvSpPr txBox="1"/>
            <p:nvPr/>
          </p:nvSpPr>
          <p:spPr>
            <a:xfrm>
              <a:off x="811149" y="4821079"/>
              <a:ext cx="4049268"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Dizi ayrıştırma sıraya bağımlıdır. Sıra</a:t>
              </a:r>
              <a:br/>
              <a:r>
                <a:rPr lang="tr-TR" sz="1580" dirty="0">
                  <a:solidFill>
                    <a:srgbClr val="172B3A"/>
                  </a:solidFill>
                  <a:latin typeface="+mn-lt"/>
                  <a:ea typeface="+mn-ea"/>
                  <a:cs typeface="+mn-cs"/>
                </a:rPr>
                <a:t>garanti değilse ya da sonuç çoksa nesne</a:t>
              </a:r>
              <a:br/>
              <a:r>
                <a:rPr lang="tr-TR" sz="1580" dirty="0">
                  <a:solidFill>
                    <a:srgbClr val="172B3A"/>
                  </a:solidFill>
                  <a:latin typeface="+mn-lt"/>
                  <a:ea typeface="+mn-ea"/>
                  <a:cs typeface="+mn-cs"/>
                </a:rPr>
                <a:t>döndürmek daha güvenlidir.</a:t>
              </a:r>
            </a:p>
          </p:txBody>
        </p:sp>
      </p:grpSp>
      <p:grpSp>
        <p:nvGrpSpPr>
          <p:cNvPr id="42" name="pitfall-null-source"/>
          <p:cNvGrpSpPr/>
          <p:nvPr/>
        </p:nvGrpSpPr>
        <p:grpSpPr>
          <a:xfrm>
            <a:off x="6286500" y="3810000"/>
            <a:ext cx="5334000" cy="2362200"/>
            <a:chOff x="6286500" y="3810000"/>
            <a:chExt cx="5334000" cy="2362200"/>
          </a:xfrm>
        </p:grpSpPr>
        <p:sp>
          <p:nvSpPr>
            <p:cNvPr id="35" name="Rectangle 35"/>
            <p:cNvSpPr/>
            <p:nvPr/>
          </p:nvSpPr>
          <p:spPr>
            <a:xfrm>
              <a:off x="6286500" y="3810000"/>
              <a:ext cx="5334000" cy="2362200"/>
            </a:xfrm>
            <a:prstGeom prst="rect">
              <a:avLst/>
            </a:prstGeom>
            <a:solidFill>
              <a:srgbClr val="FFFFFF"/>
            </a:solidFill>
            <a:ln w="19050">
              <a:solidFill>
                <a:srgbClr val="B8CBD3"/>
              </a:solidFill>
            </a:ln>
          </p:spPr>
        </p:sp>
        <p:sp>
          <p:nvSpPr>
            <p:cNvPr id="36" name="Rectangle 36"/>
            <p:cNvSpPr/>
            <p:nvPr/>
          </p:nvSpPr>
          <p:spPr>
            <a:xfrm>
              <a:off x="6286500" y="3810000"/>
              <a:ext cx="57150" cy="2362200"/>
            </a:xfrm>
            <a:prstGeom prst="rect">
              <a:avLst/>
            </a:prstGeom>
            <a:solidFill>
              <a:srgbClr val="52616B"/>
            </a:solidFill>
            <a:ln>
              <a:noFill/>
            </a:ln>
          </p:spPr>
        </p:sp>
        <p:sp>
          <p:nvSpPr>
            <p:cNvPr id="37" name="TextBox 37"/>
            <p:cNvSpPr txBox="1"/>
            <p:nvPr/>
          </p:nvSpPr>
          <p:spPr>
            <a:xfrm>
              <a:off x="6525006" y="3977640"/>
              <a:ext cx="351585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Ana nesne null ise TypeError</a:t>
              </a:r>
            </a:p>
          </p:txBody>
        </p:sp>
        <p:grpSp>
          <p:nvGrpSpPr>
            <p:cNvPr id="40" name="Group 40"/>
            <p:cNvGrpSpPr/>
            <p:nvPr/>
          </p:nvGrpSpPr>
          <p:grpSpPr>
            <a:xfrm>
              <a:off x="6526530" y="4410075"/>
              <a:ext cx="3132003" cy="598170"/>
              <a:chOff x="6526530" y="4410075"/>
              <a:chExt cx="3132003" cy="598170"/>
            </a:xfrm>
          </p:grpSpPr>
          <p:sp>
            <p:nvSpPr>
              <p:cNvPr id="38" name="TextBox 38"/>
              <p:cNvSpPr txBox="1"/>
              <p:nvPr/>
            </p:nvSpPr>
            <p:spPr>
              <a:xfrm>
                <a:off x="6526530" y="4410075"/>
                <a:ext cx="3132003"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Consolas"/>
                    <a:ea typeface="Consolas"/>
                    <a:cs typeface="Consolas"/>
                  </a:rPr>
                  <a:t>Cannot destructure property…</a:t>
                </a:r>
              </a:p>
            </p:txBody>
          </p:sp>
          <p:sp>
            <p:nvSpPr>
              <p:cNvPr id="39" name="TextBox 39"/>
              <p:cNvSpPr txBox="1"/>
              <p:nvPr/>
            </p:nvSpPr>
            <p:spPr>
              <a:xfrm>
                <a:off x="6526530" y="4714875"/>
                <a:ext cx="2902839"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const { ad } = veri || {};</a:t>
                </a:r>
              </a:p>
            </p:txBody>
          </p:sp>
        </p:grpSp>
        <p:sp>
          <p:nvSpPr>
            <p:cNvPr id="41" name="TextBox 41"/>
            <p:cNvSpPr txBox="1"/>
            <p:nvPr/>
          </p:nvSpPr>
          <p:spPr>
            <a:xfrm>
              <a:off x="6526149" y="5144929"/>
              <a:ext cx="3969004"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Varsayılan boş nesne ya da ?. ile</a:t>
              </a:r>
              <a:br/>
              <a:r>
                <a:rPr lang="tr-TR" sz="1580" dirty="0">
                  <a:solidFill>
                    <a:srgbClr val="172B3A"/>
                  </a:solidFill>
                  <a:latin typeface="+mn-lt"/>
                  <a:ea typeface="+mn-ea"/>
                  <a:cs typeface="+mn-cs"/>
                </a:rPr>
                <a:t>savunmacı kodlama; destructuring şema</a:t>
              </a:r>
              <a:br/>
              <a:r>
                <a:rPr lang="tr-TR" sz="1580" dirty="0">
                  <a:solidFill>
                    <a:srgbClr val="172B3A"/>
                  </a:solidFill>
                  <a:latin typeface="+mn-lt"/>
                  <a:ea typeface="+mn-ea"/>
                  <a:cs typeface="+mn-cs"/>
                </a:rPr>
                <a:t>doğrulamasının yerini tutmaz.</a:t>
              </a:r>
            </a:p>
          </p:txBody>
        </p:sp>
      </p:grpSp>
      <p:grpSp>
        <p:nvGrpSpPr>
          <p:cNvPr id="45" name="footer"/>
          <p:cNvGrpSpPr/>
          <p:nvPr/>
        </p:nvGrpSpPr>
        <p:grpSpPr>
          <a:xfrm>
            <a:off x="565404" y="6404610"/>
            <a:ext cx="11061192" cy="234696"/>
            <a:chOff x="565404" y="6404610"/>
            <a:chExt cx="11061192" cy="234696"/>
          </a:xfrm>
        </p:grpSpPr>
        <p:sp>
          <p:nvSpPr>
            <p:cNvPr id="43" name="TextBox 43"/>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44" name="TextBox 44"/>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08356" y="319421"/>
                <a:ext cx="297777" cy="255830"/>
                <a:chOff x="708356" y="319421"/>
                <a:chExt cx="297777" cy="255830"/>
              </a:xfrm>
            </p:grpSpPr>
            <p:sp>
              <p:nvSpPr>
                <p:cNvPr id="5" name="Freeform 5"/>
                <p:cNvSpPr/>
                <p:nvPr/>
              </p:nvSpPr>
              <p:spPr>
                <a:xfrm>
                  <a:off x="8572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083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572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61872" y="282892"/>
              <a:ext cx="7857264"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Güvenli hata yönetimi: önce sınıflandır</a:t>
              </a:r>
            </a:p>
          </p:txBody>
        </p:sp>
      </p:grpSp>
      <p:grpSp>
        <p:nvGrpSpPr>
          <p:cNvPr id="34" name="triage"/>
          <p:cNvGrpSpPr/>
          <p:nvPr/>
        </p:nvGrpSpPr>
        <p:grpSpPr>
          <a:xfrm>
            <a:off x="571500" y="1238250"/>
            <a:ext cx="6286500" cy="3962400"/>
            <a:chOff x="571500" y="1238250"/>
            <a:chExt cx="6286500" cy="3962400"/>
          </a:xfrm>
        </p:grpSpPr>
        <p:sp>
          <p:nvSpPr>
            <p:cNvPr id="12" name="Rectangle 12"/>
            <p:cNvSpPr/>
            <p:nvPr/>
          </p:nvSpPr>
          <p:spPr>
            <a:xfrm>
              <a:off x="571500" y="1238250"/>
              <a:ext cx="2857500" cy="609600"/>
            </a:xfrm>
            <a:prstGeom prst="rect">
              <a:avLst/>
            </a:prstGeom>
            <a:solidFill>
              <a:srgbClr val="12355B"/>
            </a:solidFill>
            <a:ln>
              <a:noFill/>
            </a:ln>
          </p:spPr>
        </p:sp>
        <p:sp>
          <p:nvSpPr>
            <p:cNvPr id="13" name="TextBox 13"/>
            <p:cNvSpPr txBox="1"/>
            <p:nvPr/>
          </p:nvSpPr>
          <p:spPr>
            <a:xfrm>
              <a:off x="826484" y="1457325"/>
              <a:ext cx="2347532" cy="293370"/>
            </a:xfrm>
            <a:prstGeom prst="rect">
              <a:avLst/>
            </a:prstGeom>
            <a:noFill/>
            <a:ln>
              <a:noFill/>
            </a:ln>
          </p:spPr>
          <p:txBody>
            <a:bodyPr wrap="none" lIns="0" tIns="0" rIns="0" bIns="0" anchor="t" anchorCtr="0">
              <a:spAutoFit/>
            </a:bodyPr>
            <a:lstStyle/>
            <a:p>
              <a:pPr algn="ctr"/>
              <a:r>
                <a:rPr lang="tr-TR" sz="1500" dirty="0">
                  <a:solidFill>
                    <a:srgbClr val="F7FAFC"/>
                  </a:solidFill>
                  <a:latin typeface="Consolas"/>
                  <a:ea typeface="Consolas"/>
                  <a:cs typeface="Consolas"/>
                </a:rPr>
                <a:t>catch (hata: unknown)</a:t>
              </a:r>
            </a:p>
          </p:txBody>
        </p:sp>
        <p:sp>
          <p:nvSpPr>
            <p:cNvPr id="14" name="Line 14"/>
            <p:cNvSpPr/>
            <p:nvPr/>
          </p:nvSpPr>
          <p:spPr>
            <a:xfrm>
              <a:off x="1143000" y="1847850"/>
              <a:ext cx="9525" cy="3200400"/>
            </a:xfrm>
            <a:custGeom>
              <a:avLst/>
              <a:gdLst/>
              <a:ahLst/>
              <a:cxnLst/>
              <a:rect l="l" t="t" r="r" b="b"/>
              <a:pathLst>
                <a:path w="9525" h="3200400">
                  <a:moveTo>
                    <a:pt x="0" y="0"/>
                  </a:moveTo>
                  <a:lnTo>
                    <a:pt x="0" y="3200400"/>
                  </a:lnTo>
                </a:path>
              </a:pathLst>
            </a:custGeom>
            <a:noFill/>
            <a:ln w="28575">
              <a:solidFill>
                <a:srgbClr val="00A6A6"/>
              </a:solidFill>
            </a:ln>
          </p:spPr>
        </p:sp>
        <p:grpSp>
          <p:nvGrpSpPr>
            <p:cNvPr id="18" name="Group 18"/>
            <p:cNvGrpSpPr/>
            <p:nvPr/>
          </p:nvGrpSpPr>
          <p:grpSpPr>
            <a:xfrm>
              <a:off x="1143000" y="2495550"/>
              <a:ext cx="514350" cy="2286001"/>
              <a:chOff x="1143000" y="2495550"/>
              <a:chExt cx="514350" cy="2286001"/>
            </a:xfrm>
          </p:grpSpPr>
          <p:sp>
            <p:nvSpPr>
              <p:cNvPr id="15" name="Line 15"/>
              <p:cNvSpPr/>
              <p:nvPr/>
            </p:nvSpPr>
            <p:spPr>
              <a:xfrm>
                <a:off x="1143000" y="2495550"/>
                <a:ext cx="514350" cy="1"/>
              </a:xfrm>
              <a:prstGeom prst="line">
                <a:avLst/>
              </a:prstGeom>
              <a:noFill/>
              <a:ln w="28575">
                <a:solidFill>
                  <a:srgbClr val="00A6A6"/>
                </a:solidFill>
                <a:tailEnd type="triangle" w="lg" len="lg"/>
              </a:ln>
            </p:spPr>
          </p:sp>
          <p:sp>
            <p:nvSpPr>
              <p:cNvPr id="16" name="Line 16"/>
              <p:cNvSpPr/>
              <p:nvPr/>
            </p:nvSpPr>
            <p:spPr>
              <a:xfrm>
                <a:off x="1143000" y="3638550"/>
                <a:ext cx="514350" cy="1"/>
              </a:xfrm>
              <a:prstGeom prst="line">
                <a:avLst/>
              </a:prstGeom>
              <a:noFill/>
              <a:ln w="28575">
                <a:solidFill>
                  <a:srgbClr val="00A6A6"/>
                </a:solidFill>
                <a:tailEnd type="triangle" w="lg" len="lg"/>
              </a:ln>
            </p:spPr>
          </p:sp>
          <p:sp>
            <p:nvSpPr>
              <p:cNvPr id="17" name="Line 17"/>
              <p:cNvSpPr/>
              <p:nvPr/>
            </p:nvSpPr>
            <p:spPr>
              <a:xfrm>
                <a:off x="1143000" y="4781550"/>
                <a:ext cx="514350" cy="1"/>
              </a:xfrm>
              <a:prstGeom prst="line">
                <a:avLst/>
              </a:prstGeom>
              <a:noFill/>
              <a:ln w="28575">
                <a:solidFill>
                  <a:srgbClr val="00A6A6"/>
                </a:solidFill>
                <a:tailEnd type="triangle" w="lg" len="lg"/>
              </a:ln>
            </p:spPr>
          </p:sp>
        </p:grpSp>
        <p:grpSp>
          <p:nvGrpSpPr>
            <p:cNvPr id="22" name="Group 22"/>
            <p:cNvGrpSpPr/>
            <p:nvPr/>
          </p:nvGrpSpPr>
          <p:grpSpPr>
            <a:xfrm>
              <a:off x="1714500" y="2114550"/>
              <a:ext cx="5143500" cy="3086100"/>
              <a:chOff x="1714500" y="2114550"/>
              <a:chExt cx="5143500" cy="3086100"/>
            </a:xfrm>
          </p:grpSpPr>
          <p:sp>
            <p:nvSpPr>
              <p:cNvPr id="19" name="Rectangle 19"/>
              <p:cNvSpPr/>
              <p:nvPr/>
            </p:nvSpPr>
            <p:spPr>
              <a:xfrm>
                <a:off x="1714500" y="2114550"/>
                <a:ext cx="5143500" cy="914400"/>
              </a:xfrm>
              <a:prstGeom prst="rect">
                <a:avLst/>
              </a:prstGeom>
              <a:solidFill>
                <a:srgbClr val="FFFFFF"/>
              </a:solidFill>
              <a:ln w="19050">
                <a:solidFill>
                  <a:srgbClr val="2E86AB"/>
                </a:solidFill>
              </a:ln>
            </p:spPr>
          </p:sp>
          <p:sp>
            <p:nvSpPr>
              <p:cNvPr id="20" name="Rectangle 20"/>
              <p:cNvSpPr/>
              <p:nvPr/>
            </p:nvSpPr>
            <p:spPr>
              <a:xfrm>
                <a:off x="1714500" y="3257550"/>
                <a:ext cx="5143500" cy="914400"/>
              </a:xfrm>
              <a:prstGeom prst="rect">
                <a:avLst/>
              </a:prstGeom>
              <a:solidFill>
                <a:srgbClr val="FFFFFF"/>
              </a:solidFill>
              <a:ln w="19050">
                <a:solidFill>
                  <a:srgbClr val="2E86AB"/>
                </a:solidFill>
              </a:ln>
            </p:spPr>
          </p:sp>
          <p:sp>
            <p:nvSpPr>
              <p:cNvPr id="21" name="Rectangle 21"/>
              <p:cNvSpPr/>
              <p:nvPr/>
            </p:nvSpPr>
            <p:spPr>
              <a:xfrm>
                <a:off x="1714500" y="4400550"/>
                <a:ext cx="5143500" cy="800100"/>
              </a:xfrm>
              <a:prstGeom prst="rect">
                <a:avLst/>
              </a:prstGeom>
              <a:solidFill>
                <a:srgbClr val="FFFFFF"/>
              </a:solidFill>
              <a:ln w="19050">
                <a:solidFill>
                  <a:srgbClr val="2E86AB"/>
                </a:solidFill>
              </a:ln>
            </p:spPr>
          </p:sp>
        </p:grpSp>
        <p:grpSp>
          <p:nvGrpSpPr>
            <p:cNvPr id="26" name="Group 26"/>
            <p:cNvGrpSpPr/>
            <p:nvPr/>
          </p:nvGrpSpPr>
          <p:grpSpPr>
            <a:xfrm>
              <a:off x="1897380" y="2257425"/>
              <a:ext cx="3699718" cy="2579370"/>
              <a:chOff x="1897380" y="2257425"/>
              <a:chExt cx="3699718" cy="2579370"/>
            </a:xfrm>
          </p:grpSpPr>
          <p:sp>
            <p:nvSpPr>
              <p:cNvPr id="23" name="TextBox 23"/>
              <p:cNvSpPr txBox="1"/>
              <p:nvPr/>
            </p:nvSpPr>
            <p:spPr>
              <a:xfrm>
                <a:off x="1897380" y="2257425"/>
                <a:ext cx="369971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Consolas"/>
                    <a:ea typeface="Consolas"/>
                    <a:cs typeface="Consolas"/>
                  </a:rPr>
                  <a:t>instanceof KaynakBulunamadiHatasi</a:t>
                </a:r>
              </a:p>
            </p:txBody>
          </p:sp>
          <p:sp>
            <p:nvSpPr>
              <p:cNvPr id="24" name="TextBox 24"/>
              <p:cNvSpPr txBox="1"/>
              <p:nvPr/>
            </p:nvSpPr>
            <p:spPr>
              <a:xfrm>
                <a:off x="1897380" y="3400425"/>
                <a:ext cx="1798930"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Consolas"/>
                    <a:ea typeface="Consolas"/>
                    <a:cs typeface="Consolas"/>
                  </a:rPr>
                  <a:t>instanceof Error</a:t>
                </a:r>
              </a:p>
            </p:txBody>
          </p:sp>
          <p:sp>
            <p:nvSpPr>
              <p:cNvPr id="25" name="TextBox 25"/>
              <p:cNvSpPr txBox="1"/>
              <p:nvPr/>
            </p:nvSpPr>
            <p:spPr>
              <a:xfrm>
                <a:off x="1897380" y="4543425"/>
                <a:ext cx="1681162"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Consolas"/>
                    <a:ea typeface="Consolas"/>
                    <a:cs typeface="Consolas"/>
                  </a:rPr>
                  <a:t>diğer her değer</a:t>
                </a:r>
              </a:p>
            </p:txBody>
          </p:sp>
        </p:grpSp>
        <p:grpSp>
          <p:nvGrpSpPr>
            <p:cNvPr id="30" name="Group 30"/>
            <p:cNvGrpSpPr/>
            <p:nvPr/>
          </p:nvGrpSpPr>
          <p:grpSpPr>
            <a:xfrm>
              <a:off x="1896999" y="2554129"/>
              <a:ext cx="4500783" cy="2594039"/>
              <a:chOff x="1896999" y="2554129"/>
              <a:chExt cx="4500783" cy="2594039"/>
            </a:xfrm>
          </p:grpSpPr>
          <p:sp>
            <p:nvSpPr>
              <p:cNvPr id="27" name="TextBox 27"/>
              <p:cNvSpPr txBox="1"/>
              <p:nvPr/>
            </p:nvSpPr>
            <p:spPr>
              <a:xfrm>
                <a:off x="1896999" y="2554129"/>
                <a:ext cx="325666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“Rapor için kayıt bulunamadı.”</a:t>
                </a:r>
              </a:p>
            </p:txBody>
          </p:sp>
          <p:sp>
            <p:nvSpPr>
              <p:cNvPr id="28" name="TextBox 28"/>
              <p:cNvSpPr txBox="1"/>
              <p:nvPr/>
            </p:nvSpPr>
            <p:spPr>
              <a:xfrm>
                <a:off x="1896999" y="3697129"/>
                <a:ext cx="450078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“İşlem sırasında teknik bir sorun oluştu.”</a:t>
                </a:r>
              </a:p>
            </p:txBody>
          </p:sp>
          <p:sp>
            <p:nvSpPr>
              <p:cNvPr id="29" name="TextBox 29"/>
              <p:cNvSpPr txBox="1"/>
              <p:nvPr/>
            </p:nvSpPr>
            <p:spPr>
              <a:xfrm>
                <a:off x="1896999" y="4840129"/>
                <a:ext cx="315006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“Bilinmeyen bir sorun oluştu.”</a:t>
                </a:r>
              </a:p>
            </p:txBody>
          </p:sp>
        </p:grpSp>
        <p:grpSp>
          <p:nvGrpSpPr>
            <p:cNvPr id="33" name="Group 33"/>
            <p:cNvGrpSpPr/>
            <p:nvPr/>
          </p:nvGrpSpPr>
          <p:grpSpPr>
            <a:xfrm>
              <a:off x="1898904" y="2804160"/>
              <a:ext cx="2531285" cy="1377696"/>
              <a:chOff x="1898904" y="2804160"/>
              <a:chExt cx="2531285" cy="1377696"/>
            </a:xfrm>
          </p:grpSpPr>
          <p:sp>
            <p:nvSpPr>
              <p:cNvPr id="31" name="TextBox 31"/>
              <p:cNvSpPr txBox="1"/>
              <p:nvPr/>
            </p:nvSpPr>
            <p:spPr>
              <a:xfrm>
                <a:off x="1898904" y="2804160"/>
                <a:ext cx="2217798"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beklenen · ileride HTTP 404</a:t>
                </a:r>
              </a:p>
            </p:txBody>
          </p:sp>
          <p:sp>
            <p:nvSpPr>
              <p:cNvPr id="32" name="TextBox 32"/>
              <p:cNvSpPr txBox="1"/>
              <p:nvPr/>
            </p:nvSpPr>
            <p:spPr>
              <a:xfrm>
                <a:off x="1898904" y="3947160"/>
                <a:ext cx="2531285"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beklenmeyen · ileride HTTP 500</a:t>
                </a:r>
              </a:p>
            </p:txBody>
          </p:sp>
        </p:grpSp>
      </p:grpSp>
      <p:grpSp>
        <p:nvGrpSpPr>
          <p:cNvPr id="42" name="client-vs-log"/>
          <p:cNvGrpSpPr/>
          <p:nvPr/>
        </p:nvGrpSpPr>
        <p:grpSpPr>
          <a:xfrm>
            <a:off x="7229856" y="1253490"/>
            <a:ext cx="4390644" cy="3566160"/>
            <a:chOff x="7229856" y="1253490"/>
            <a:chExt cx="4390644" cy="3566160"/>
          </a:xfrm>
        </p:grpSpPr>
        <p:sp>
          <p:nvSpPr>
            <p:cNvPr id="35" name="TextBox 35"/>
            <p:cNvSpPr txBox="1"/>
            <p:nvPr/>
          </p:nvSpPr>
          <p:spPr>
            <a:xfrm>
              <a:off x="7229856" y="1253490"/>
              <a:ext cx="287464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Gözlemlenebilirlik ilkesi</a:t>
              </a:r>
            </a:p>
          </p:txBody>
        </p:sp>
        <p:sp>
          <p:nvSpPr>
            <p:cNvPr id="36" name="Rectangle 36"/>
            <p:cNvSpPr/>
            <p:nvPr/>
          </p:nvSpPr>
          <p:spPr>
            <a:xfrm>
              <a:off x="7239000" y="1638300"/>
              <a:ext cx="4381500" cy="1619250"/>
            </a:xfrm>
            <a:prstGeom prst="rect">
              <a:avLst/>
            </a:prstGeom>
            <a:solidFill>
              <a:srgbClr val="EAF4F6"/>
            </a:solidFill>
            <a:ln>
              <a:noFill/>
            </a:ln>
          </p:spPr>
        </p:sp>
        <p:sp>
          <p:nvSpPr>
            <p:cNvPr id="37" name="TextBox 37"/>
            <p:cNvSpPr txBox="1"/>
            <p:nvPr/>
          </p:nvSpPr>
          <p:spPr>
            <a:xfrm>
              <a:off x="7423404" y="1813560"/>
              <a:ext cx="935187"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İSTEMCİYE</a:t>
              </a:r>
            </a:p>
          </p:txBody>
        </p:sp>
        <p:sp>
          <p:nvSpPr>
            <p:cNvPr id="38" name="TextBox 38"/>
            <p:cNvSpPr txBox="1"/>
            <p:nvPr/>
          </p:nvSpPr>
          <p:spPr>
            <a:xfrm>
              <a:off x="7421499" y="2077879"/>
              <a:ext cx="3808476"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Kullanıcının düzeltebileceği bilgi.</a:t>
              </a:r>
              <a:br/>
              <a:r>
                <a:rPr lang="tr-TR" sz="1580" dirty="0">
                  <a:solidFill>
                    <a:srgbClr val="52616B"/>
                  </a:solidFill>
                  <a:latin typeface="+mn-lt"/>
                  <a:ea typeface="+mn-ea"/>
                  <a:cs typeface="+mn-cs"/>
                </a:rPr>
                <a:t>Asla: yığın izi, veritabanı ayrıntısı,</a:t>
              </a:r>
              <a:br/>
              <a:r>
                <a:rPr lang="tr-TR" sz="1580" dirty="0">
                  <a:solidFill>
                    <a:srgbClr val="52616B"/>
                  </a:solidFill>
                  <a:latin typeface="+mn-lt"/>
                  <a:ea typeface="+mn-ea"/>
                  <a:cs typeface="+mn-cs"/>
                </a:rPr>
                <a:t>erişim belirteci, iç ağ adresi</a:t>
              </a:r>
            </a:p>
          </p:txBody>
        </p:sp>
        <p:sp>
          <p:nvSpPr>
            <p:cNvPr id="39" name="Rectangle 39"/>
            <p:cNvSpPr/>
            <p:nvPr/>
          </p:nvSpPr>
          <p:spPr>
            <a:xfrm>
              <a:off x="7239000" y="3390900"/>
              <a:ext cx="4381500" cy="1428750"/>
            </a:xfrm>
            <a:prstGeom prst="rect">
              <a:avLst/>
            </a:prstGeom>
            <a:solidFill>
              <a:srgbClr val="12355B"/>
            </a:solidFill>
            <a:ln>
              <a:noFill/>
            </a:ln>
          </p:spPr>
        </p:sp>
        <p:sp>
          <p:nvSpPr>
            <p:cNvPr id="40" name="TextBox 40"/>
            <p:cNvSpPr txBox="1"/>
            <p:nvPr/>
          </p:nvSpPr>
          <p:spPr>
            <a:xfrm>
              <a:off x="7423404" y="3566160"/>
              <a:ext cx="1544544"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SUNUCU GÜNLÜĞÜNE</a:t>
              </a:r>
            </a:p>
          </p:txBody>
        </p:sp>
        <p:sp>
          <p:nvSpPr>
            <p:cNvPr id="41" name="TextBox 41"/>
            <p:cNvSpPr txBox="1"/>
            <p:nvPr/>
          </p:nvSpPr>
          <p:spPr>
            <a:xfrm>
              <a:off x="7421499" y="3830479"/>
              <a:ext cx="2885440"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F7FAFC"/>
                  </a:solidFill>
                  <a:latin typeface="+mn-lt"/>
                  <a:ea typeface="+mn-ea"/>
                  <a:cs typeface="+mn-cs"/>
                </a:rPr>
                <a:t>zaman damgası, güvenli istek</a:t>
              </a:r>
              <a:br/>
              <a:r>
                <a:rPr lang="tr-TR" sz="1580" dirty="0">
                  <a:solidFill>
                    <a:srgbClr val="F7FAFC"/>
                  </a:solidFill>
                  <a:latin typeface="+mn-lt"/>
                  <a:ea typeface="+mn-ea"/>
                  <a:cs typeface="+mn-cs"/>
                </a:rPr>
                <a:t>kimliği, hata türü ve işlem</a:t>
              </a:r>
              <a:br/>
              <a:r>
                <a:rPr lang="tr-TR" sz="1580" dirty="0">
                  <a:solidFill>
                    <a:srgbClr val="F7FAFC"/>
                  </a:solidFill>
                  <a:latin typeface="+mn-lt"/>
                  <a:ea typeface="+mn-ea"/>
                  <a:cs typeface="+mn-cs"/>
                </a:rPr>
                <a:t>bağlamı</a:t>
              </a:r>
            </a:p>
          </p:txBody>
        </p:sp>
      </p:grpSp>
      <p:grpSp>
        <p:nvGrpSpPr>
          <p:cNvPr id="45" name="finally-note"/>
          <p:cNvGrpSpPr/>
          <p:nvPr/>
        </p:nvGrpSpPr>
        <p:grpSpPr>
          <a:xfrm>
            <a:off x="571500" y="5429250"/>
            <a:ext cx="11049000" cy="742950"/>
            <a:chOff x="571500" y="5429250"/>
            <a:chExt cx="11049000" cy="742950"/>
          </a:xfrm>
        </p:grpSpPr>
        <p:sp>
          <p:nvSpPr>
            <p:cNvPr id="43" name="Rectangle 43"/>
            <p:cNvSpPr/>
            <p:nvPr/>
          </p:nvSpPr>
          <p:spPr>
            <a:xfrm>
              <a:off x="571500" y="5429250"/>
              <a:ext cx="11049000" cy="742950"/>
            </a:xfrm>
            <a:prstGeom prst="rect">
              <a:avLst/>
            </a:prstGeom>
            <a:solidFill>
              <a:srgbClr val="EAF4F6"/>
            </a:solidFill>
            <a:ln>
              <a:noFill/>
            </a:ln>
          </p:spPr>
        </p:sp>
        <p:sp>
          <p:nvSpPr>
            <p:cNvPr id="44" name="TextBox 44"/>
            <p:cNvSpPr txBox="1"/>
            <p:nvPr/>
          </p:nvSpPr>
          <p:spPr>
            <a:xfrm>
              <a:off x="792099" y="5564029"/>
              <a:ext cx="8818956" cy="593788"/>
            </a:xfrm>
            <a:prstGeom prst="rect">
              <a:avLst/>
            </a:prstGeom>
            <a:noFill/>
            <a:ln>
              <a:noFill/>
            </a:ln>
          </p:spPr>
          <p:txBody>
            <a:bodyPr wrap="none" lIns="0" tIns="0" rIns="0" bIns="0" anchor="t" anchorCtr="0">
              <a:spAutoFit/>
            </a:bodyPr>
            <a:lstStyle/>
            <a:p>
              <a:pPr algn="l">
                <a:lnSpc>
                  <a:spcPts val="2250"/>
                </a:lnSpc>
              </a:pPr>
              <a:r>
                <a:rPr lang="tr-TR" sz="1580" b="1" dirty="0">
                  <a:solidFill>
                    <a:srgbClr val="12355B"/>
                  </a:solidFill>
                  <a:latin typeface="+mn-lt"/>
                  <a:ea typeface="+mn-ea"/>
                  <a:cs typeface="+mn-cs"/>
                </a:rPr>
                <a:t xml:space="preserve">finally </a:t>
              </a:r>
              <a:r>
                <a:rPr lang="tr-TR" sz="1580" dirty="0">
                  <a:solidFill>
                    <a:srgbClr val="172B3A"/>
                  </a:solidFill>
                  <a:latin typeface="+mn-lt"/>
                  <a:ea typeface="+mn-ea"/>
                  <a:cs typeface="+mn-cs"/>
                </a:rPr>
                <a:t>başarıda da hatada da çalışır: bağlantıyı kapat, ölçümü bitir, geçici dosyayı sil.</a:t>
              </a:r>
              <a:br/>
              <a:r>
                <a:rPr lang="tr-TR" sz="1580" dirty="0">
                  <a:solidFill>
                    <a:srgbClr val="172B3A"/>
                  </a:solidFill>
                  <a:latin typeface="+mn-lt"/>
                  <a:ea typeface="+mn-ea"/>
                  <a:cs typeface="+mn-cs"/>
                </a:rPr>
                <a:t>Ama finally içinde yeni hata üretmek asıl hatayı gizleyebilir.</a:t>
              </a:r>
            </a:p>
          </p:txBody>
        </p:sp>
      </p:grpSp>
      <p:grpSp>
        <p:nvGrpSpPr>
          <p:cNvPr id="48" name="footer"/>
          <p:cNvGrpSpPr/>
          <p:nvPr/>
        </p:nvGrpSpPr>
        <p:grpSpPr>
          <a:xfrm>
            <a:off x="565404" y="6404610"/>
            <a:ext cx="11061192" cy="234696"/>
            <a:chOff x="565404" y="6404610"/>
            <a:chExt cx="11061192" cy="234696"/>
          </a:xfrm>
        </p:grpSpPr>
        <p:sp>
          <p:nvSpPr>
            <p:cNvPr id="46" name="TextBox 46"/>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47" name="TextBox 47"/>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08356" y="319421"/>
                <a:ext cx="297777" cy="255830"/>
                <a:chOff x="708356" y="319421"/>
                <a:chExt cx="297777" cy="255830"/>
              </a:xfrm>
            </p:grpSpPr>
            <p:sp>
              <p:nvSpPr>
                <p:cNvPr id="5" name="Freeform 5"/>
                <p:cNvSpPr/>
                <p:nvPr/>
              </p:nvSpPr>
              <p:spPr>
                <a:xfrm>
                  <a:off x="8572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083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572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61872" y="282892"/>
              <a:ext cx="7998496"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Üç kavram yanılgısı ve mimari çözümleri</a:t>
              </a:r>
            </a:p>
          </p:txBody>
        </p:sp>
      </p:grpSp>
      <p:grpSp>
        <p:nvGrpSpPr>
          <p:cNvPr id="15" name="column-heads"/>
          <p:cNvGrpSpPr/>
          <p:nvPr/>
        </p:nvGrpSpPr>
        <p:grpSpPr>
          <a:xfrm>
            <a:off x="565404" y="1184910"/>
            <a:ext cx="9068288" cy="234696"/>
            <a:chOff x="565404" y="1184910"/>
            <a:chExt cx="9068288" cy="234696"/>
          </a:xfrm>
        </p:grpSpPr>
        <p:sp>
          <p:nvSpPr>
            <p:cNvPr id="12" name="TextBox 12"/>
            <p:cNvSpPr txBox="1"/>
            <p:nvPr/>
          </p:nvSpPr>
          <p:spPr>
            <a:xfrm>
              <a:off x="565404" y="1184910"/>
              <a:ext cx="612587" cy="234696"/>
            </a:xfrm>
            <a:prstGeom prst="rect">
              <a:avLst/>
            </a:prstGeom>
            <a:noFill/>
            <a:ln>
              <a:noFill/>
            </a:ln>
          </p:spPr>
          <p:txBody>
            <a:bodyPr wrap="none" lIns="0" tIns="0" rIns="0" bIns="0" anchor="t" anchorCtr="0">
              <a:spAutoFit/>
            </a:bodyPr>
            <a:lstStyle/>
            <a:p>
              <a:pPr algn="l"/>
              <a:r>
                <a:rPr lang="tr-TR" sz="1200" b="1" dirty="0">
                  <a:solidFill>
                    <a:srgbClr val="52616B"/>
                  </a:solidFill>
                  <a:latin typeface="+mn-lt"/>
                  <a:ea typeface="+mn-ea"/>
                  <a:cs typeface="+mn-cs"/>
                </a:rPr>
                <a:t>YANILGI</a:t>
              </a:r>
            </a:p>
          </p:txBody>
        </p:sp>
        <p:sp>
          <p:nvSpPr>
            <p:cNvPr id="13" name="TextBox 13"/>
            <p:cNvSpPr txBox="1"/>
            <p:nvPr/>
          </p:nvSpPr>
          <p:spPr>
            <a:xfrm>
              <a:off x="4375404" y="1184910"/>
              <a:ext cx="124882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TEKNİK GERÇEK</a:t>
              </a:r>
            </a:p>
          </p:txBody>
        </p:sp>
        <p:sp>
          <p:nvSpPr>
            <p:cNvPr id="14" name="TextBox 14"/>
            <p:cNvSpPr txBox="1"/>
            <p:nvPr/>
          </p:nvSpPr>
          <p:spPr>
            <a:xfrm>
              <a:off x="8375904" y="1184910"/>
              <a:ext cx="1257788"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MİMARİ ÇÖZÜM</a:t>
              </a:r>
            </a:p>
          </p:txBody>
        </p:sp>
      </p:grpSp>
      <p:grpSp>
        <p:nvGrpSpPr>
          <p:cNvPr id="25" name="myth-thread"/>
          <p:cNvGrpSpPr/>
          <p:nvPr/>
        </p:nvGrpSpPr>
        <p:grpSpPr>
          <a:xfrm>
            <a:off x="571500" y="1524000"/>
            <a:ext cx="11049000" cy="1390650"/>
            <a:chOff x="571500" y="1524000"/>
            <a:chExt cx="11049000" cy="1390650"/>
          </a:xfrm>
        </p:grpSpPr>
        <p:sp>
          <p:nvSpPr>
            <p:cNvPr id="16" name="Rectangle 16"/>
            <p:cNvSpPr/>
            <p:nvPr/>
          </p:nvSpPr>
          <p:spPr>
            <a:xfrm>
              <a:off x="571500" y="1524000"/>
              <a:ext cx="3429000" cy="1390650"/>
            </a:xfrm>
            <a:prstGeom prst="rect">
              <a:avLst/>
            </a:prstGeom>
            <a:solidFill>
              <a:srgbClr val="EAF4F6"/>
            </a:solidFill>
            <a:ln>
              <a:noFill/>
            </a:ln>
          </p:spPr>
        </p:sp>
        <p:grpSp>
          <p:nvGrpSpPr>
            <p:cNvPr id="19" name="Group 19"/>
            <p:cNvGrpSpPr/>
            <p:nvPr/>
          </p:nvGrpSpPr>
          <p:grpSpPr>
            <a:xfrm>
              <a:off x="4038600" y="2219325"/>
              <a:ext cx="4267200" cy="1"/>
              <a:chOff x="4038600" y="2219325"/>
              <a:chExt cx="4267200" cy="1"/>
            </a:xfrm>
          </p:grpSpPr>
          <p:sp>
            <p:nvSpPr>
              <p:cNvPr id="17" name="Line 17"/>
              <p:cNvSpPr/>
              <p:nvPr/>
            </p:nvSpPr>
            <p:spPr>
              <a:xfrm>
                <a:off x="4038600" y="2219325"/>
                <a:ext cx="266700" cy="1"/>
              </a:xfrm>
              <a:prstGeom prst="line">
                <a:avLst/>
              </a:prstGeom>
              <a:noFill/>
              <a:ln w="28575">
                <a:solidFill>
                  <a:srgbClr val="00A6A6"/>
                </a:solidFill>
                <a:tailEnd type="triangle" w="lg" len="lg"/>
              </a:ln>
            </p:spPr>
          </p:sp>
          <p:sp>
            <p:nvSpPr>
              <p:cNvPr id="18" name="Line 18"/>
              <p:cNvSpPr/>
              <p:nvPr/>
            </p:nvSpPr>
            <p:spPr>
              <a:xfrm>
                <a:off x="8039100" y="2219325"/>
                <a:ext cx="266700" cy="1"/>
              </a:xfrm>
              <a:prstGeom prst="line">
                <a:avLst/>
              </a:prstGeom>
              <a:noFill/>
              <a:ln w="28575">
                <a:solidFill>
                  <a:srgbClr val="00A6A6"/>
                </a:solidFill>
                <a:tailEnd type="triangle" w="lg" len="lg"/>
              </a:ln>
            </p:spPr>
          </p:sp>
        </p:grpSp>
        <p:sp>
          <p:nvSpPr>
            <p:cNvPr id="20" name="Rectangle 20"/>
            <p:cNvSpPr/>
            <p:nvPr/>
          </p:nvSpPr>
          <p:spPr>
            <a:xfrm>
              <a:off x="8382000" y="1524000"/>
              <a:ext cx="3238500" cy="1390650"/>
            </a:xfrm>
            <a:prstGeom prst="rect">
              <a:avLst/>
            </a:prstGeom>
            <a:solidFill>
              <a:srgbClr val="12355B"/>
            </a:solidFill>
            <a:ln>
              <a:noFill/>
            </a:ln>
          </p:spPr>
        </p:sp>
        <p:grpSp>
          <p:nvGrpSpPr>
            <p:cNvPr id="24" name="Group 24"/>
            <p:cNvGrpSpPr/>
            <p:nvPr/>
          </p:nvGrpSpPr>
          <p:grpSpPr>
            <a:xfrm>
              <a:off x="753999" y="1715929"/>
              <a:ext cx="10585577" cy="1108138"/>
              <a:chOff x="753999" y="1715929"/>
              <a:chExt cx="10585577" cy="1108138"/>
            </a:xfrm>
          </p:grpSpPr>
          <p:sp>
            <p:nvSpPr>
              <p:cNvPr id="21" name="TextBox 21"/>
              <p:cNvSpPr txBox="1"/>
              <p:nvPr/>
            </p:nvSpPr>
            <p:spPr>
              <a:xfrm>
                <a:off x="753999" y="1715929"/>
                <a:ext cx="2504186"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“async/await arka planda</a:t>
                </a:r>
                <a:br/>
                <a:r>
                  <a:rPr lang="tr-TR" sz="1580" dirty="0">
                    <a:solidFill>
                      <a:srgbClr val="52616B"/>
                    </a:solidFill>
                    <a:latin typeface="+mn-lt"/>
                    <a:ea typeface="+mn-ea"/>
                    <a:cs typeface="+mn-cs"/>
                  </a:rPr>
                  <a:t>yeni thread açar, çok</a:t>
                </a:r>
                <a:br/>
                <a:r>
                  <a:rPr lang="tr-TR" sz="1580" dirty="0">
                    <a:solidFill>
                      <a:srgbClr val="52616B"/>
                    </a:solidFill>
                    <a:latin typeface="+mn-lt"/>
                    <a:ea typeface="+mn-ea"/>
                    <a:cs typeface="+mn-cs"/>
                  </a:rPr>
                  <a:t>çekirdekte çalışır.”</a:t>
                </a:r>
              </a:p>
            </p:txBody>
          </p:sp>
          <p:sp>
            <p:nvSpPr>
              <p:cNvPr id="22" name="TextBox 22"/>
              <p:cNvSpPr txBox="1"/>
              <p:nvPr/>
            </p:nvSpPr>
            <p:spPr>
              <a:xfrm>
                <a:off x="4373499" y="1715929"/>
                <a:ext cx="3246628"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Node.js/V8 tek iş parçacıklıdır;</a:t>
                </a:r>
                <a:br/>
                <a:r>
                  <a:rPr lang="tr-TR" sz="1580" dirty="0">
                    <a:solidFill>
                      <a:srgbClr val="172B3A"/>
                    </a:solidFill>
                    <a:latin typeface="+mn-lt"/>
                    <a:ea typeface="+mn-ea"/>
                    <a:cs typeface="+mn-cs"/>
                  </a:rPr>
                  <a:t>await yalnızca I/O’yu bekler.</a:t>
                </a:r>
                <a:br/>
                <a:r>
                  <a:rPr lang="tr-TR" sz="1580" dirty="0">
                    <a:solidFill>
                      <a:srgbClr val="172B3A"/>
                    </a:solidFill>
                    <a:latin typeface="+mn-lt"/>
                    <a:ea typeface="+mn-ea"/>
                    <a:cs typeface="+mn-cs"/>
                  </a:rPr>
                  <a:t>Ağır CPU döngüsü tüm isteklerin</a:t>
                </a:r>
                <a:br/>
                <a:r>
                  <a:rPr lang="tr-TR" sz="1580" dirty="0">
                    <a:solidFill>
                      <a:srgbClr val="172B3A"/>
                    </a:solidFill>
                    <a:latin typeface="+mn-lt"/>
                    <a:ea typeface="+mn-ea"/>
                    <a:cs typeface="+mn-cs"/>
                  </a:rPr>
                  <a:t>karşılanmasını durdurur.</a:t>
                </a:r>
              </a:p>
            </p:txBody>
          </p:sp>
          <p:sp>
            <p:nvSpPr>
              <p:cNvPr id="23" name="TextBox 23"/>
              <p:cNvSpPr txBox="1"/>
              <p:nvPr/>
            </p:nvSpPr>
            <p:spPr>
              <a:xfrm>
                <a:off x="8564499" y="1715929"/>
                <a:ext cx="2775077"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F7FAFC"/>
                    </a:solidFill>
                    <a:latin typeface="+mn-lt"/>
                    <a:ea typeface="+mn-ea"/>
                    <a:cs typeface="+mn-cs"/>
                  </a:rPr>
                  <a:t>Ağır hesabı event loop’tan</a:t>
                </a:r>
                <a:br/>
                <a:r>
                  <a:rPr lang="tr-TR" sz="1580" dirty="0">
                    <a:solidFill>
                      <a:srgbClr val="F7FAFC"/>
                    </a:solidFill>
                    <a:latin typeface="+mn-lt"/>
                    <a:ea typeface="+mn-ea"/>
                    <a:cs typeface="+mn-cs"/>
                  </a:rPr>
                  <a:t>uzaklaştır: Worker Threads</a:t>
                </a:r>
                <a:br/>
                <a:r>
                  <a:rPr lang="tr-TR" sz="1580" dirty="0">
                    <a:solidFill>
                      <a:srgbClr val="F7FAFC"/>
                    </a:solidFill>
                    <a:latin typeface="+mn-lt"/>
                    <a:ea typeface="+mn-ea"/>
                    <a:cs typeface="+mn-cs"/>
                  </a:rPr>
                  <a:t>ya da harici kuyruk servisi</a:t>
                </a:r>
              </a:p>
            </p:txBody>
          </p:sp>
        </p:grpSp>
      </p:grpSp>
      <p:grpSp>
        <p:nvGrpSpPr>
          <p:cNvPr id="35" name="myth-callback"/>
          <p:cNvGrpSpPr/>
          <p:nvPr/>
        </p:nvGrpSpPr>
        <p:grpSpPr>
          <a:xfrm>
            <a:off x="571500" y="3143250"/>
            <a:ext cx="11049000" cy="1390650"/>
            <a:chOff x="571500" y="3143250"/>
            <a:chExt cx="11049000" cy="1390650"/>
          </a:xfrm>
        </p:grpSpPr>
        <p:sp>
          <p:nvSpPr>
            <p:cNvPr id="26" name="Rectangle 26"/>
            <p:cNvSpPr/>
            <p:nvPr/>
          </p:nvSpPr>
          <p:spPr>
            <a:xfrm>
              <a:off x="571500" y="3143250"/>
              <a:ext cx="3429000" cy="1390650"/>
            </a:xfrm>
            <a:prstGeom prst="rect">
              <a:avLst/>
            </a:prstGeom>
            <a:solidFill>
              <a:srgbClr val="EAF4F6"/>
            </a:solidFill>
            <a:ln>
              <a:noFill/>
            </a:ln>
          </p:spPr>
        </p:sp>
        <p:grpSp>
          <p:nvGrpSpPr>
            <p:cNvPr id="29" name="Group 29"/>
            <p:cNvGrpSpPr/>
            <p:nvPr/>
          </p:nvGrpSpPr>
          <p:grpSpPr>
            <a:xfrm>
              <a:off x="4038600" y="3838575"/>
              <a:ext cx="4267200" cy="1"/>
              <a:chOff x="4038600" y="3838575"/>
              <a:chExt cx="4267200" cy="1"/>
            </a:xfrm>
          </p:grpSpPr>
          <p:sp>
            <p:nvSpPr>
              <p:cNvPr id="27" name="Line 27"/>
              <p:cNvSpPr/>
              <p:nvPr/>
            </p:nvSpPr>
            <p:spPr>
              <a:xfrm>
                <a:off x="4038600" y="3838575"/>
                <a:ext cx="266700" cy="1"/>
              </a:xfrm>
              <a:prstGeom prst="line">
                <a:avLst/>
              </a:prstGeom>
              <a:noFill/>
              <a:ln w="28575">
                <a:solidFill>
                  <a:srgbClr val="00A6A6"/>
                </a:solidFill>
                <a:tailEnd type="triangle" w="lg" len="lg"/>
              </a:ln>
            </p:spPr>
          </p:sp>
          <p:sp>
            <p:nvSpPr>
              <p:cNvPr id="28" name="Line 28"/>
              <p:cNvSpPr/>
              <p:nvPr/>
            </p:nvSpPr>
            <p:spPr>
              <a:xfrm>
                <a:off x="8039100" y="3838575"/>
                <a:ext cx="266700" cy="1"/>
              </a:xfrm>
              <a:prstGeom prst="line">
                <a:avLst/>
              </a:prstGeom>
              <a:noFill/>
              <a:ln w="28575">
                <a:solidFill>
                  <a:srgbClr val="00A6A6"/>
                </a:solidFill>
                <a:tailEnd type="triangle" w="lg" len="lg"/>
              </a:ln>
            </p:spPr>
          </p:sp>
        </p:grpSp>
        <p:sp>
          <p:nvSpPr>
            <p:cNvPr id="30" name="Rectangle 30"/>
            <p:cNvSpPr/>
            <p:nvPr/>
          </p:nvSpPr>
          <p:spPr>
            <a:xfrm>
              <a:off x="8382000" y="3143250"/>
              <a:ext cx="3238500" cy="1390650"/>
            </a:xfrm>
            <a:prstGeom prst="rect">
              <a:avLst/>
            </a:prstGeom>
            <a:solidFill>
              <a:srgbClr val="12355B"/>
            </a:solidFill>
            <a:ln>
              <a:noFill/>
            </a:ln>
          </p:spPr>
        </p:sp>
        <p:grpSp>
          <p:nvGrpSpPr>
            <p:cNvPr id="34" name="Group 34"/>
            <p:cNvGrpSpPr/>
            <p:nvPr/>
          </p:nvGrpSpPr>
          <p:grpSpPr>
            <a:xfrm>
              <a:off x="753999" y="3335179"/>
              <a:ext cx="10595610" cy="1108138"/>
              <a:chOff x="753999" y="3335179"/>
              <a:chExt cx="10595610" cy="1108138"/>
            </a:xfrm>
          </p:grpSpPr>
          <p:sp>
            <p:nvSpPr>
              <p:cNvPr id="31" name="TextBox 31"/>
              <p:cNvSpPr txBox="1"/>
              <p:nvPr/>
            </p:nvSpPr>
            <p:spPr>
              <a:xfrm>
                <a:off x="753999" y="3335179"/>
                <a:ext cx="2363724"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“try/catch, callback</a:t>
                </a:r>
                <a:br/>
                <a:r>
                  <a:rPr lang="tr-TR" sz="1580" dirty="0">
                    <a:solidFill>
                      <a:srgbClr val="52616B"/>
                    </a:solidFill>
                    <a:latin typeface="+mn-lt"/>
                    <a:ea typeface="+mn-ea"/>
                    <a:cs typeface="+mn-cs"/>
                  </a:rPr>
                  <a:t>içinde fırlatılan hatayı</a:t>
                </a:r>
                <a:br/>
                <a:r>
                  <a:rPr lang="tr-TR" sz="1580" dirty="0">
                    <a:solidFill>
                      <a:srgbClr val="52616B"/>
                    </a:solidFill>
                    <a:latin typeface="+mn-lt"/>
                    <a:ea typeface="+mn-ea"/>
                    <a:cs typeface="+mn-cs"/>
                  </a:rPr>
                  <a:t>da yakalar.”</a:t>
                </a:r>
              </a:p>
            </p:txBody>
          </p:sp>
          <p:sp>
            <p:nvSpPr>
              <p:cNvPr id="32" name="TextBox 32"/>
              <p:cNvSpPr txBox="1"/>
              <p:nvPr/>
            </p:nvSpPr>
            <p:spPr>
              <a:xfrm>
                <a:off x="4373499" y="3335179"/>
                <a:ext cx="3346958"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try/catch aynı çağrı yığınını ve</a:t>
                </a:r>
                <a:br/>
                <a:r>
                  <a:rPr lang="tr-TR" sz="1580" dirty="0">
                    <a:solidFill>
                      <a:srgbClr val="172B3A"/>
                    </a:solidFill>
                    <a:latin typeface="+mn-lt"/>
                    <a:ea typeface="+mn-ea"/>
                    <a:cs typeface="+mn-cs"/>
                  </a:rPr>
                  <a:t>await edilen Promise’i yakalar;</a:t>
                </a:r>
                <a:br/>
                <a:r>
                  <a:rPr lang="tr-TR" sz="1580" dirty="0">
                    <a:solidFill>
                      <a:srgbClr val="172B3A"/>
                    </a:solidFill>
                    <a:latin typeface="+mn-lt"/>
                    <a:ea typeface="+mn-ea"/>
                    <a:cs typeface="+mn-cs"/>
                  </a:rPr>
                  <a:t>setTimeout içindeki hata</a:t>
                </a:r>
                <a:br/>
                <a:r>
                  <a:rPr lang="tr-TR" sz="1580" dirty="0">
                    <a:solidFill>
                      <a:srgbClr val="172B3A"/>
                    </a:solidFill>
                    <a:latin typeface="+mn-lt"/>
                    <a:ea typeface="+mn-ea"/>
                    <a:cs typeface="+mn-cs"/>
                  </a:rPr>
                  <a:t>yakalanmaz, süreç çöker.</a:t>
                </a:r>
              </a:p>
            </p:txBody>
          </p:sp>
          <p:sp>
            <p:nvSpPr>
              <p:cNvPr id="33" name="TextBox 33"/>
              <p:cNvSpPr txBox="1"/>
              <p:nvPr/>
            </p:nvSpPr>
            <p:spPr>
              <a:xfrm>
                <a:off x="8564499" y="3335179"/>
                <a:ext cx="2785110"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F7FAFC"/>
                    </a:solidFill>
                    <a:latin typeface="+mn-lt"/>
                    <a:ea typeface="+mn-ea"/>
                    <a:cs typeface="+mn-cs"/>
                  </a:rPr>
                  <a:t>Akışı Promise tabanlı yaz;</a:t>
                </a:r>
                <a:br/>
                <a:r>
                  <a:rPr lang="tr-TR" sz="1580" dirty="0">
                    <a:solidFill>
                      <a:srgbClr val="F7FAFC"/>
                    </a:solidFill>
                    <a:latin typeface="+mn-lt"/>
                    <a:ea typeface="+mn-ea"/>
                    <a:cs typeface="+mn-cs"/>
                  </a:rPr>
                  <a:t>her Promise’i await et ya da</a:t>
                </a:r>
                <a:br/>
                <a:r>
                  <a:rPr lang="tr-TR" sz="1580" dirty="0">
                    <a:solidFill>
                      <a:srgbClr val="F7FAFC"/>
                    </a:solidFill>
                    <a:latin typeface="+mn-lt"/>
                    <a:ea typeface="+mn-ea"/>
                    <a:cs typeface="+mn-cs"/>
                  </a:rPr>
                  <a:t>.catch() ile sarmala</a:t>
                </a:r>
              </a:p>
            </p:txBody>
          </p:sp>
        </p:grpSp>
      </p:grpSp>
      <p:grpSp>
        <p:nvGrpSpPr>
          <p:cNvPr id="45" name="myth-destructuring"/>
          <p:cNvGrpSpPr/>
          <p:nvPr/>
        </p:nvGrpSpPr>
        <p:grpSpPr>
          <a:xfrm>
            <a:off x="571500" y="4762500"/>
            <a:ext cx="11049000" cy="1390650"/>
            <a:chOff x="571500" y="4762500"/>
            <a:chExt cx="11049000" cy="1390650"/>
          </a:xfrm>
        </p:grpSpPr>
        <p:sp>
          <p:nvSpPr>
            <p:cNvPr id="36" name="Rectangle 36"/>
            <p:cNvSpPr/>
            <p:nvPr/>
          </p:nvSpPr>
          <p:spPr>
            <a:xfrm>
              <a:off x="571500" y="4762500"/>
              <a:ext cx="3429000" cy="1390650"/>
            </a:xfrm>
            <a:prstGeom prst="rect">
              <a:avLst/>
            </a:prstGeom>
            <a:solidFill>
              <a:srgbClr val="EAF4F6"/>
            </a:solidFill>
            <a:ln>
              <a:noFill/>
            </a:ln>
          </p:spPr>
        </p:sp>
        <p:grpSp>
          <p:nvGrpSpPr>
            <p:cNvPr id="39" name="Group 39"/>
            <p:cNvGrpSpPr/>
            <p:nvPr/>
          </p:nvGrpSpPr>
          <p:grpSpPr>
            <a:xfrm>
              <a:off x="4038600" y="5457825"/>
              <a:ext cx="4267200" cy="1"/>
              <a:chOff x="4038600" y="5457825"/>
              <a:chExt cx="4267200" cy="1"/>
            </a:xfrm>
          </p:grpSpPr>
          <p:sp>
            <p:nvSpPr>
              <p:cNvPr id="37" name="Line 37"/>
              <p:cNvSpPr/>
              <p:nvPr/>
            </p:nvSpPr>
            <p:spPr>
              <a:xfrm>
                <a:off x="4038600" y="5457825"/>
                <a:ext cx="266700" cy="1"/>
              </a:xfrm>
              <a:prstGeom prst="line">
                <a:avLst/>
              </a:prstGeom>
              <a:noFill/>
              <a:ln w="28575">
                <a:solidFill>
                  <a:srgbClr val="00A6A6"/>
                </a:solidFill>
                <a:tailEnd type="triangle" w="lg" len="lg"/>
              </a:ln>
            </p:spPr>
          </p:sp>
          <p:sp>
            <p:nvSpPr>
              <p:cNvPr id="38" name="Line 38"/>
              <p:cNvSpPr/>
              <p:nvPr/>
            </p:nvSpPr>
            <p:spPr>
              <a:xfrm>
                <a:off x="8039100" y="5457825"/>
                <a:ext cx="266700" cy="1"/>
              </a:xfrm>
              <a:prstGeom prst="line">
                <a:avLst/>
              </a:prstGeom>
              <a:noFill/>
              <a:ln w="28575">
                <a:solidFill>
                  <a:srgbClr val="00A6A6"/>
                </a:solidFill>
                <a:tailEnd type="triangle" w="lg" len="lg"/>
              </a:ln>
            </p:spPr>
          </p:sp>
        </p:grpSp>
        <p:sp>
          <p:nvSpPr>
            <p:cNvPr id="40" name="Rectangle 40"/>
            <p:cNvSpPr/>
            <p:nvPr/>
          </p:nvSpPr>
          <p:spPr>
            <a:xfrm>
              <a:off x="8382000" y="4762500"/>
              <a:ext cx="3238500" cy="1390650"/>
            </a:xfrm>
            <a:prstGeom prst="rect">
              <a:avLst/>
            </a:prstGeom>
            <a:solidFill>
              <a:srgbClr val="12355B"/>
            </a:solidFill>
            <a:ln>
              <a:noFill/>
            </a:ln>
          </p:spPr>
        </p:sp>
        <p:grpSp>
          <p:nvGrpSpPr>
            <p:cNvPr id="44" name="Group 44"/>
            <p:cNvGrpSpPr/>
            <p:nvPr/>
          </p:nvGrpSpPr>
          <p:grpSpPr>
            <a:xfrm>
              <a:off x="753999" y="4954429"/>
              <a:ext cx="9813036" cy="841438"/>
              <a:chOff x="753999" y="4954429"/>
              <a:chExt cx="9813036" cy="841438"/>
            </a:xfrm>
          </p:grpSpPr>
          <p:sp>
            <p:nvSpPr>
              <p:cNvPr id="41" name="TextBox 41"/>
              <p:cNvSpPr txBox="1"/>
              <p:nvPr/>
            </p:nvSpPr>
            <p:spPr>
              <a:xfrm>
                <a:off x="753999" y="4954429"/>
                <a:ext cx="2524252"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“Destructuring edilen</a:t>
                </a:r>
                <a:br/>
                <a:r>
                  <a:rPr lang="tr-TR" sz="1580" dirty="0">
                    <a:solidFill>
                      <a:srgbClr val="52616B"/>
                    </a:solidFill>
                    <a:latin typeface="+mn-lt"/>
                    <a:ea typeface="+mn-ea"/>
                    <a:cs typeface="+mn-cs"/>
                  </a:rPr>
                  <a:t>alanlar undefined’a karşı</a:t>
                </a:r>
                <a:br/>
                <a:r>
                  <a:rPr lang="tr-TR" sz="1580" dirty="0">
                    <a:solidFill>
                      <a:srgbClr val="52616B"/>
                    </a:solidFill>
                    <a:latin typeface="+mn-lt"/>
                    <a:ea typeface="+mn-ea"/>
                    <a:cs typeface="+mn-cs"/>
                  </a:rPr>
                  <a:t>otomatik güvencelidir.”</a:t>
                </a:r>
              </a:p>
            </p:txBody>
          </p:sp>
          <p:sp>
            <p:nvSpPr>
              <p:cNvPr id="42" name="TextBox 42"/>
              <p:cNvSpPr txBox="1"/>
              <p:nvPr/>
            </p:nvSpPr>
            <p:spPr>
              <a:xfrm>
                <a:off x="4373499" y="4954429"/>
                <a:ext cx="2925572"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Ana nesne null ya da undefined</a:t>
                </a:r>
                <a:br/>
                <a:r>
                  <a:rPr lang="tr-TR" sz="1580" dirty="0">
                    <a:solidFill>
                      <a:srgbClr val="172B3A"/>
                    </a:solidFill>
                    <a:latin typeface="+mn-lt"/>
                    <a:ea typeface="+mn-ea"/>
                    <a:cs typeface="+mn-cs"/>
                  </a:rPr>
                  <a:t>ise destructuring doğrudan</a:t>
                </a:r>
                <a:br/>
                <a:r>
                  <a:rPr lang="tr-TR" sz="1580" dirty="0">
                    <a:solidFill>
                      <a:srgbClr val="172B3A"/>
                    </a:solidFill>
                    <a:latin typeface="+mn-lt"/>
                    <a:ea typeface="+mn-ea"/>
                    <a:cs typeface="+mn-cs"/>
                  </a:rPr>
                  <a:t>TypeError fırlatır.</a:t>
                </a:r>
              </a:p>
            </p:txBody>
          </p:sp>
          <p:sp>
            <p:nvSpPr>
              <p:cNvPr id="43" name="TextBox 43"/>
              <p:cNvSpPr txBox="1"/>
              <p:nvPr/>
            </p:nvSpPr>
            <p:spPr>
              <a:xfrm>
                <a:off x="8564499" y="4954429"/>
                <a:ext cx="2002536"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F7FAFC"/>
                    </a:solidFill>
                    <a:latin typeface="+mn-lt"/>
                    <a:ea typeface="+mn-ea"/>
                    <a:cs typeface="+mn-cs"/>
                  </a:rPr>
                  <a:t>Savunmacı kodlama:</a:t>
                </a:r>
                <a:br/>
                <a:r>
                  <a:rPr lang="tr-TR" sz="1580" dirty="0">
                    <a:solidFill>
                      <a:srgbClr val="F7FAFC"/>
                    </a:solidFill>
                    <a:latin typeface="+mn-lt"/>
                    <a:ea typeface="+mn-ea"/>
                    <a:cs typeface="+mn-cs"/>
                  </a:rPr>
                  <a:t>veri || {} ya da ?. ile</a:t>
                </a:r>
                <a:br/>
                <a:r>
                  <a:rPr lang="tr-TR" sz="1580" dirty="0">
                    <a:solidFill>
                      <a:srgbClr val="F7FAFC"/>
                    </a:solidFill>
                    <a:latin typeface="+mn-lt"/>
                    <a:ea typeface="+mn-ea"/>
                    <a:cs typeface="+mn-cs"/>
                  </a:rPr>
                  <a:t>boş nesne güvencesi</a:t>
                </a:r>
              </a:p>
            </p:txBody>
          </p:sp>
        </p:grpSp>
      </p:grpSp>
      <p:grpSp>
        <p:nvGrpSpPr>
          <p:cNvPr id="48" name="footer"/>
          <p:cNvGrpSpPr/>
          <p:nvPr/>
        </p:nvGrpSpPr>
        <p:grpSpPr>
          <a:xfrm>
            <a:off x="565404" y="6404610"/>
            <a:ext cx="11061192" cy="234696"/>
            <a:chOff x="565404" y="6404610"/>
            <a:chExt cx="11061192" cy="234696"/>
          </a:xfrm>
        </p:grpSpPr>
        <p:sp>
          <p:nvSpPr>
            <p:cNvPr id="46" name="TextBox 46"/>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47" name="TextBox 47"/>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08356" y="319421"/>
                <a:ext cx="297777" cy="255830"/>
                <a:chOff x="708356" y="319421"/>
                <a:chExt cx="297777" cy="255830"/>
              </a:xfrm>
            </p:grpSpPr>
            <p:sp>
              <p:nvSpPr>
                <p:cNvPr id="5" name="Freeform 5"/>
                <p:cNvSpPr/>
                <p:nvPr/>
              </p:nvSpPr>
              <p:spPr>
                <a:xfrm>
                  <a:off x="8572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083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572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61872" y="282892"/>
              <a:ext cx="9046073"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Hata ayıklama alıştırması: altı hatayı bulun</a:t>
              </a:r>
            </a:p>
          </p:txBody>
        </p:sp>
      </p:grpSp>
      <p:grpSp>
        <p:nvGrpSpPr>
          <p:cNvPr id="40" name="buggy-code"/>
          <p:cNvGrpSpPr/>
          <p:nvPr/>
        </p:nvGrpSpPr>
        <p:grpSpPr>
          <a:xfrm>
            <a:off x="571500" y="1200150"/>
            <a:ext cx="6096000" cy="4152900"/>
            <a:chOff x="571500" y="1200150"/>
            <a:chExt cx="6096000" cy="4152900"/>
          </a:xfrm>
        </p:grpSpPr>
        <p:sp>
          <p:nvSpPr>
            <p:cNvPr id="12" name="Rectangle 12"/>
            <p:cNvSpPr/>
            <p:nvPr/>
          </p:nvSpPr>
          <p:spPr>
            <a:xfrm>
              <a:off x="571500" y="1200150"/>
              <a:ext cx="6096000" cy="4152900"/>
            </a:xfrm>
            <a:prstGeom prst="rect">
              <a:avLst/>
            </a:prstGeom>
            <a:solidFill>
              <a:srgbClr val="EAF4F6"/>
            </a:solidFill>
            <a:ln>
              <a:noFill/>
            </a:ln>
          </p:spPr>
        </p:sp>
        <p:sp>
          <p:nvSpPr>
            <p:cNvPr id="13" name="Rectangle 13"/>
            <p:cNvSpPr/>
            <p:nvPr/>
          </p:nvSpPr>
          <p:spPr>
            <a:xfrm>
              <a:off x="571500" y="1200150"/>
              <a:ext cx="57150" cy="4152900"/>
            </a:xfrm>
            <a:prstGeom prst="rect">
              <a:avLst/>
            </a:prstGeom>
            <a:solidFill>
              <a:srgbClr val="52616B"/>
            </a:solidFill>
            <a:ln>
              <a:noFill/>
            </a:ln>
          </p:spPr>
        </p:sp>
        <p:sp>
          <p:nvSpPr>
            <p:cNvPr id="14" name="TextBox 14"/>
            <p:cNvSpPr txBox="1"/>
            <p:nvPr/>
          </p:nvSpPr>
          <p:spPr>
            <a:xfrm>
              <a:off x="794004" y="1356360"/>
              <a:ext cx="2398577" cy="234696"/>
            </a:xfrm>
            <a:prstGeom prst="rect">
              <a:avLst/>
            </a:prstGeom>
            <a:noFill/>
            <a:ln>
              <a:noFill/>
            </a:ln>
          </p:spPr>
          <p:txBody>
            <a:bodyPr wrap="none" lIns="0" tIns="0" rIns="0" bIns="0" anchor="t" anchorCtr="0">
              <a:spAutoFit/>
            </a:bodyPr>
            <a:lstStyle/>
            <a:p>
              <a:pPr algn="l"/>
              <a:r>
                <a:rPr lang="tr-TR" sz="1200" b="1" dirty="0">
                  <a:solidFill>
                    <a:srgbClr val="52616B"/>
                  </a:solidFill>
                  <a:latin typeface="+mn-lt"/>
                  <a:ea typeface="+mn-ea"/>
                  <a:cs typeface="+mn-cs"/>
                </a:rPr>
                <a:t>HataAyiklama.ts · derlenmez</a:t>
              </a:r>
            </a:p>
          </p:txBody>
        </p:sp>
        <p:grpSp>
          <p:nvGrpSpPr>
            <p:cNvPr id="25" name="Group 25"/>
            <p:cNvGrpSpPr/>
            <p:nvPr/>
          </p:nvGrpSpPr>
          <p:grpSpPr>
            <a:xfrm>
              <a:off x="792480" y="1704975"/>
              <a:ext cx="4576572" cy="3379470"/>
              <a:chOff x="792480" y="1704975"/>
              <a:chExt cx="4576572" cy="3379470"/>
            </a:xfrm>
          </p:grpSpPr>
          <p:sp>
            <p:nvSpPr>
              <p:cNvPr id="15" name="TextBox 15"/>
              <p:cNvSpPr txBox="1"/>
              <p:nvPr/>
            </p:nvSpPr>
            <p:spPr>
              <a:xfrm>
                <a:off x="792480" y="1704975"/>
                <a:ext cx="3799247"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function kullaniciYazdir(): void {</a:t>
                </a:r>
              </a:p>
            </p:txBody>
          </p:sp>
          <p:sp>
            <p:nvSpPr>
              <p:cNvPr id="16" name="TextBox 16"/>
              <p:cNvSpPr txBox="1"/>
              <p:nvPr/>
            </p:nvSpPr>
            <p:spPr>
              <a:xfrm>
                <a:off x="792480" y="2047875"/>
                <a:ext cx="4576572"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const kullanici = await kullaniciGetir();</a:t>
                </a:r>
              </a:p>
            </p:txBody>
          </p:sp>
          <p:sp>
            <p:nvSpPr>
              <p:cNvPr id="17" name="TextBox 17"/>
              <p:cNvSpPr txBox="1"/>
              <p:nvPr/>
            </p:nvSpPr>
            <p:spPr>
              <a:xfrm>
                <a:off x="792480" y="2390775"/>
                <a:ext cx="3467005"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if (kullanici.aktifMi = true) {</a:t>
                </a:r>
              </a:p>
            </p:txBody>
          </p:sp>
          <p:sp>
            <p:nvSpPr>
              <p:cNvPr id="18" name="TextBox 18"/>
              <p:cNvSpPr txBox="1"/>
              <p:nvPr/>
            </p:nvSpPr>
            <p:spPr>
              <a:xfrm>
                <a:off x="792480" y="2733675"/>
                <a:ext cx="4250507"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console.log(kullanici.ad.toUpperCase);</a:t>
                </a:r>
              </a:p>
            </p:txBody>
          </p:sp>
          <p:sp>
            <p:nvSpPr>
              <p:cNvPr id="19" name="TextBox 19"/>
              <p:cNvSpPr txBox="1"/>
              <p:nvPr/>
            </p:nvSpPr>
            <p:spPr>
              <a:xfrm>
                <a:off x="792480" y="3076575"/>
                <a:ext cx="903732"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 else {</a:t>
                </a:r>
              </a:p>
            </p:txBody>
          </p:sp>
          <p:sp>
            <p:nvSpPr>
              <p:cNvPr id="20" name="TextBox 20"/>
              <p:cNvSpPr txBox="1"/>
              <p:nvPr/>
            </p:nvSpPr>
            <p:spPr>
              <a:xfrm>
                <a:off x="792480" y="3419475"/>
                <a:ext cx="3354943"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throw "Kullanıcı aktif değil";</a:t>
                </a:r>
              </a:p>
            </p:txBody>
          </p:sp>
          <p:sp>
            <p:nvSpPr>
              <p:cNvPr id="21" name="TextBox 21"/>
              <p:cNvSpPr txBox="1"/>
              <p:nvPr/>
            </p:nvSpPr>
            <p:spPr>
              <a:xfrm>
                <a:off x="792480" y="3762375"/>
                <a:ext cx="126302"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a:t>
                </a:r>
              </a:p>
            </p:txBody>
          </p:sp>
          <p:sp>
            <p:nvSpPr>
              <p:cNvPr id="22" name="TextBox 22"/>
              <p:cNvSpPr txBox="1"/>
              <p:nvPr/>
            </p:nvSpPr>
            <p:spPr>
              <a:xfrm>
                <a:off x="792480" y="4105275"/>
                <a:ext cx="126302"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a:t>
                </a:r>
              </a:p>
            </p:txBody>
          </p:sp>
          <p:sp>
            <p:nvSpPr>
              <p:cNvPr id="23" name="TextBox 23"/>
              <p:cNvSpPr txBox="1"/>
              <p:nvPr/>
            </p:nvSpPr>
            <p:spPr>
              <a:xfrm>
                <a:off x="792480" y="4448175"/>
                <a:ext cx="3688913"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kullaniciYazdir().catch((hata) =&gt;</a:t>
                </a:r>
              </a:p>
            </p:txBody>
          </p:sp>
          <p:sp>
            <p:nvSpPr>
              <p:cNvPr id="24" name="TextBox 24"/>
              <p:cNvSpPr txBox="1"/>
              <p:nvPr/>
            </p:nvSpPr>
            <p:spPr>
              <a:xfrm>
                <a:off x="792480" y="4791075"/>
                <a:ext cx="3013900"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Consolas"/>
                    <a:ea typeface="Consolas"/>
                    <a:cs typeface="Consolas"/>
                  </a:rPr>
                  <a:t>console.log(hata.message));</a:t>
                </a:r>
              </a:p>
            </p:txBody>
          </p:sp>
        </p:grpSp>
        <p:grpSp>
          <p:nvGrpSpPr>
            <p:cNvPr id="32" name="Group 32"/>
            <p:cNvGrpSpPr/>
            <p:nvPr/>
          </p:nvGrpSpPr>
          <p:grpSpPr>
            <a:xfrm>
              <a:off x="6229350" y="1676400"/>
              <a:ext cx="266700" cy="3009900"/>
              <a:chOff x="6229350" y="1676400"/>
              <a:chExt cx="266700" cy="3009900"/>
            </a:xfrm>
          </p:grpSpPr>
          <p:sp>
            <p:nvSpPr>
              <p:cNvPr id="26" name="Ellipse 26"/>
              <p:cNvSpPr/>
              <p:nvPr/>
            </p:nvSpPr>
            <p:spPr>
              <a:xfrm>
                <a:off x="6229350" y="1676400"/>
                <a:ext cx="266700" cy="266700"/>
              </a:xfrm>
              <a:prstGeom prst="ellipse">
                <a:avLst/>
              </a:prstGeom>
              <a:solidFill>
                <a:srgbClr val="00A6A6"/>
              </a:solidFill>
              <a:ln>
                <a:noFill/>
              </a:ln>
            </p:spPr>
          </p:sp>
          <p:sp>
            <p:nvSpPr>
              <p:cNvPr id="27" name="Ellipse 27"/>
              <p:cNvSpPr/>
              <p:nvPr/>
            </p:nvSpPr>
            <p:spPr>
              <a:xfrm>
                <a:off x="6229350" y="2019300"/>
                <a:ext cx="266700" cy="266700"/>
              </a:xfrm>
              <a:prstGeom prst="ellipse">
                <a:avLst/>
              </a:prstGeom>
              <a:solidFill>
                <a:srgbClr val="00A6A6"/>
              </a:solidFill>
              <a:ln>
                <a:noFill/>
              </a:ln>
            </p:spPr>
          </p:sp>
          <p:sp>
            <p:nvSpPr>
              <p:cNvPr id="28" name="Ellipse 28"/>
              <p:cNvSpPr/>
              <p:nvPr/>
            </p:nvSpPr>
            <p:spPr>
              <a:xfrm>
                <a:off x="6229350" y="2362200"/>
                <a:ext cx="266700" cy="266700"/>
              </a:xfrm>
              <a:prstGeom prst="ellipse">
                <a:avLst/>
              </a:prstGeom>
              <a:solidFill>
                <a:srgbClr val="00A6A6"/>
              </a:solidFill>
              <a:ln>
                <a:noFill/>
              </a:ln>
            </p:spPr>
          </p:sp>
          <p:sp>
            <p:nvSpPr>
              <p:cNvPr id="29" name="Ellipse 29"/>
              <p:cNvSpPr/>
              <p:nvPr/>
            </p:nvSpPr>
            <p:spPr>
              <a:xfrm>
                <a:off x="6229350" y="2705100"/>
                <a:ext cx="266700" cy="266700"/>
              </a:xfrm>
              <a:prstGeom prst="ellipse">
                <a:avLst/>
              </a:prstGeom>
              <a:solidFill>
                <a:srgbClr val="00A6A6"/>
              </a:solidFill>
              <a:ln>
                <a:noFill/>
              </a:ln>
            </p:spPr>
          </p:sp>
          <p:sp>
            <p:nvSpPr>
              <p:cNvPr id="30" name="Ellipse 30"/>
              <p:cNvSpPr/>
              <p:nvPr/>
            </p:nvSpPr>
            <p:spPr>
              <a:xfrm>
                <a:off x="6229350" y="3390900"/>
                <a:ext cx="266700" cy="266700"/>
              </a:xfrm>
              <a:prstGeom prst="ellipse">
                <a:avLst/>
              </a:prstGeom>
              <a:solidFill>
                <a:srgbClr val="00A6A6"/>
              </a:solidFill>
              <a:ln>
                <a:noFill/>
              </a:ln>
            </p:spPr>
          </p:sp>
          <p:sp>
            <p:nvSpPr>
              <p:cNvPr id="31" name="Ellipse 31"/>
              <p:cNvSpPr/>
              <p:nvPr/>
            </p:nvSpPr>
            <p:spPr>
              <a:xfrm>
                <a:off x="6229350" y="4419600"/>
                <a:ext cx="266700" cy="266700"/>
              </a:xfrm>
              <a:prstGeom prst="ellipse">
                <a:avLst/>
              </a:prstGeom>
              <a:solidFill>
                <a:srgbClr val="00A6A6"/>
              </a:solidFill>
              <a:ln>
                <a:noFill/>
              </a:ln>
            </p:spPr>
          </p:sp>
        </p:grpSp>
        <p:grpSp>
          <p:nvGrpSpPr>
            <p:cNvPr id="39" name="Group 39"/>
            <p:cNvGrpSpPr/>
            <p:nvPr/>
          </p:nvGrpSpPr>
          <p:grpSpPr>
            <a:xfrm>
              <a:off x="6309958" y="1737360"/>
              <a:ext cx="105484" cy="2977896"/>
              <a:chOff x="6309958" y="1737360"/>
              <a:chExt cx="105484" cy="2977896"/>
            </a:xfrm>
          </p:grpSpPr>
          <p:sp>
            <p:nvSpPr>
              <p:cNvPr id="33" name="TextBox 33"/>
              <p:cNvSpPr txBox="1"/>
              <p:nvPr/>
            </p:nvSpPr>
            <p:spPr>
              <a:xfrm>
                <a:off x="6309958" y="1737360"/>
                <a:ext cx="105484" cy="234696"/>
              </a:xfrm>
              <a:prstGeom prst="rect">
                <a:avLst/>
              </a:prstGeom>
              <a:noFill/>
              <a:ln>
                <a:noFill/>
              </a:ln>
            </p:spPr>
            <p:txBody>
              <a:bodyPr wrap="none" lIns="0" tIns="0" rIns="0" bIns="0" anchor="t" anchorCtr="0">
                <a:spAutoFit/>
              </a:bodyPr>
              <a:lstStyle/>
              <a:p>
                <a:pPr algn="ctr"/>
                <a:r>
                  <a:rPr lang="tr-TR" sz="1200" b="1" dirty="0">
                    <a:solidFill>
                      <a:srgbClr val="F7FAFC"/>
                    </a:solidFill>
                    <a:latin typeface="+mn-lt"/>
                    <a:ea typeface="+mn-ea"/>
                    <a:cs typeface="+mn-cs"/>
                  </a:rPr>
                  <a:t>2</a:t>
                </a:r>
              </a:p>
            </p:txBody>
          </p:sp>
          <p:sp>
            <p:nvSpPr>
              <p:cNvPr id="34" name="TextBox 34"/>
              <p:cNvSpPr txBox="1"/>
              <p:nvPr/>
            </p:nvSpPr>
            <p:spPr>
              <a:xfrm>
                <a:off x="6309958" y="2080260"/>
                <a:ext cx="105484" cy="234696"/>
              </a:xfrm>
              <a:prstGeom prst="rect">
                <a:avLst/>
              </a:prstGeom>
              <a:noFill/>
              <a:ln>
                <a:noFill/>
              </a:ln>
            </p:spPr>
            <p:txBody>
              <a:bodyPr wrap="none" lIns="0" tIns="0" rIns="0" bIns="0" anchor="t" anchorCtr="0">
                <a:spAutoFit/>
              </a:bodyPr>
              <a:lstStyle/>
              <a:p>
                <a:pPr algn="ctr"/>
                <a:r>
                  <a:rPr lang="tr-TR" sz="1200" b="1" dirty="0">
                    <a:solidFill>
                      <a:srgbClr val="F7FAFC"/>
                    </a:solidFill>
                    <a:latin typeface="+mn-lt"/>
                    <a:ea typeface="+mn-ea"/>
                    <a:cs typeface="+mn-cs"/>
                  </a:rPr>
                  <a:t>1</a:t>
                </a:r>
              </a:p>
            </p:txBody>
          </p:sp>
          <p:sp>
            <p:nvSpPr>
              <p:cNvPr id="35" name="TextBox 35"/>
              <p:cNvSpPr txBox="1"/>
              <p:nvPr/>
            </p:nvSpPr>
            <p:spPr>
              <a:xfrm>
                <a:off x="6309958" y="2423160"/>
                <a:ext cx="105484" cy="234696"/>
              </a:xfrm>
              <a:prstGeom prst="rect">
                <a:avLst/>
              </a:prstGeom>
              <a:noFill/>
              <a:ln>
                <a:noFill/>
              </a:ln>
            </p:spPr>
            <p:txBody>
              <a:bodyPr wrap="none" lIns="0" tIns="0" rIns="0" bIns="0" anchor="t" anchorCtr="0">
                <a:spAutoFit/>
              </a:bodyPr>
              <a:lstStyle/>
              <a:p>
                <a:pPr algn="ctr"/>
                <a:r>
                  <a:rPr lang="tr-TR" sz="1200" b="1" dirty="0">
                    <a:solidFill>
                      <a:srgbClr val="F7FAFC"/>
                    </a:solidFill>
                    <a:latin typeface="+mn-lt"/>
                    <a:ea typeface="+mn-ea"/>
                    <a:cs typeface="+mn-cs"/>
                  </a:rPr>
                  <a:t>3</a:t>
                </a:r>
              </a:p>
            </p:txBody>
          </p:sp>
          <p:sp>
            <p:nvSpPr>
              <p:cNvPr id="36" name="TextBox 36"/>
              <p:cNvSpPr txBox="1"/>
              <p:nvPr/>
            </p:nvSpPr>
            <p:spPr>
              <a:xfrm>
                <a:off x="6309958" y="2766060"/>
                <a:ext cx="105484" cy="234696"/>
              </a:xfrm>
              <a:prstGeom prst="rect">
                <a:avLst/>
              </a:prstGeom>
              <a:noFill/>
              <a:ln>
                <a:noFill/>
              </a:ln>
            </p:spPr>
            <p:txBody>
              <a:bodyPr wrap="none" lIns="0" tIns="0" rIns="0" bIns="0" anchor="t" anchorCtr="0">
                <a:spAutoFit/>
              </a:bodyPr>
              <a:lstStyle/>
              <a:p>
                <a:pPr algn="ctr"/>
                <a:r>
                  <a:rPr lang="tr-TR" sz="1200" b="1" dirty="0">
                    <a:solidFill>
                      <a:srgbClr val="F7FAFC"/>
                    </a:solidFill>
                    <a:latin typeface="+mn-lt"/>
                    <a:ea typeface="+mn-ea"/>
                    <a:cs typeface="+mn-cs"/>
                  </a:rPr>
                  <a:t>4</a:t>
                </a:r>
              </a:p>
            </p:txBody>
          </p:sp>
          <p:sp>
            <p:nvSpPr>
              <p:cNvPr id="37" name="TextBox 37"/>
              <p:cNvSpPr txBox="1"/>
              <p:nvPr/>
            </p:nvSpPr>
            <p:spPr>
              <a:xfrm>
                <a:off x="6309958" y="3451860"/>
                <a:ext cx="105484" cy="234696"/>
              </a:xfrm>
              <a:prstGeom prst="rect">
                <a:avLst/>
              </a:prstGeom>
              <a:noFill/>
              <a:ln>
                <a:noFill/>
              </a:ln>
            </p:spPr>
            <p:txBody>
              <a:bodyPr wrap="none" lIns="0" tIns="0" rIns="0" bIns="0" anchor="t" anchorCtr="0">
                <a:spAutoFit/>
              </a:bodyPr>
              <a:lstStyle/>
              <a:p>
                <a:pPr algn="ctr"/>
                <a:r>
                  <a:rPr lang="tr-TR" sz="1200" b="1" dirty="0">
                    <a:solidFill>
                      <a:srgbClr val="F7FAFC"/>
                    </a:solidFill>
                    <a:latin typeface="+mn-lt"/>
                    <a:ea typeface="+mn-ea"/>
                    <a:cs typeface="+mn-cs"/>
                  </a:rPr>
                  <a:t>5</a:t>
                </a:r>
              </a:p>
            </p:txBody>
          </p:sp>
          <p:sp>
            <p:nvSpPr>
              <p:cNvPr id="38" name="TextBox 38"/>
              <p:cNvSpPr txBox="1"/>
              <p:nvPr/>
            </p:nvSpPr>
            <p:spPr>
              <a:xfrm>
                <a:off x="6309958" y="4480560"/>
                <a:ext cx="105484" cy="234696"/>
              </a:xfrm>
              <a:prstGeom prst="rect">
                <a:avLst/>
              </a:prstGeom>
              <a:noFill/>
              <a:ln>
                <a:noFill/>
              </a:ln>
            </p:spPr>
            <p:txBody>
              <a:bodyPr wrap="none" lIns="0" tIns="0" rIns="0" bIns="0" anchor="t" anchorCtr="0">
                <a:spAutoFit/>
              </a:bodyPr>
              <a:lstStyle/>
              <a:p>
                <a:pPr algn="ctr"/>
                <a:r>
                  <a:rPr lang="tr-TR" sz="1200" b="1" dirty="0">
                    <a:solidFill>
                      <a:srgbClr val="F7FAFC"/>
                    </a:solidFill>
                    <a:latin typeface="+mn-lt"/>
                    <a:ea typeface="+mn-ea"/>
                    <a:cs typeface="+mn-cs"/>
                  </a:rPr>
                  <a:t>6</a:t>
                </a:r>
              </a:p>
            </p:txBody>
          </p:sp>
        </p:grpSp>
      </p:grpSp>
      <p:grpSp>
        <p:nvGrpSpPr>
          <p:cNvPr id="55" name="error-list"/>
          <p:cNvGrpSpPr/>
          <p:nvPr/>
        </p:nvGrpSpPr>
        <p:grpSpPr>
          <a:xfrm>
            <a:off x="7040499" y="1353979"/>
            <a:ext cx="3712972" cy="4003738"/>
            <a:chOff x="7040499" y="1353979"/>
            <a:chExt cx="3712972" cy="4003738"/>
          </a:xfrm>
        </p:grpSpPr>
        <p:grpSp>
          <p:nvGrpSpPr>
            <p:cNvPr id="47" name="Group 47"/>
            <p:cNvGrpSpPr/>
            <p:nvPr/>
          </p:nvGrpSpPr>
          <p:grpSpPr>
            <a:xfrm>
              <a:off x="7040499" y="1353979"/>
              <a:ext cx="138836" cy="3737039"/>
              <a:chOff x="7040499" y="1353979"/>
              <a:chExt cx="138836" cy="3737039"/>
            </a:xfrm>
          </p:grpSpPr>
          <p:sp>
            <p:nvSpPr>
              <p:cNvPr id="41" name="TextBox 41"/>
              <p:cNvSpPr txBox="1"/>
              <p:nvPr/>
            </p:nvSpPr>
            <p:spPr>
              <a:xfrm>
                <a:off x="7040499" y="1353979"/>
                <a:ext cx="138836"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1</a:t>
                </a:r>
              </a:p>
            </p:txBody>
          </p:sp>
          <p:sp>
            <p:nvSpPr>
              <p:cNvPr id="42" name="TextBox 42"/>
              <p:cNvSpPr txBox="1"/>
              <p:nvPr/>
            </p:nvSpPr>
            <p:spPr>
              <a:xfrm>
                <a:off x="7040499" y="2039779"/>
                <a:ext cx="138836"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2</a:t>
                </a:r>
              </a:p>
            </p:txBody>
          </p:sp>
          <p:sp>
            <p:nvSpPr>
              <p:cNvPr id="43" name="TextBox 43"/>
              <p:cNvSpPr txBox="1"/>
              <p:nvPr/>
            </p:nvSpPr>
            <p:spPr>
              <a:xfrm>
                <a:off x="7040499" y="2725579"/>
                <a:ext cx="138836"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3</a:t>
                </a:r>
              </a:p>
            </p:txBody>
          </p:sp>
          <p:sp>
            <p:nvSpPr>
              <p:cNvPr id="44" name="TextBox 44"/>
              <p:cNvSpPr txBox="1"/>
              <p:nvPr/>
            </p:nvSpPr>
            <p:spPr>
              <a:xfrm>
                <a:off x="7040499" y="3411379"/>
                <a:ext cx="138836"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4</a:t>
                </a:r>
              </a:p>
            </p:txBody>
          </p:sp>
          <p:sp>
            <p:nvSpPr>
              <p:cNvPr id="45" name="TextBox 45"/>
              <p:cNvSpPr txBox="1"/>
              <p:nvPr/>
            </p:nvSpPr>
            <p:spPr>
              <a:xfrm>
                <a:off x="7040499" y="4097179"/>
                <a:ext cx="138836"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5</a:t>
                </a:r>
              </a:p>
            </p:txBody>
          </p:sp>
          <p:sp>
            <p:nvSpPr>
              <p:cNvPr id="46" name="TextBox 46"/>
              <p:cNvSpPr txBox="1"/>
              <p:nvPr/>
            </p:nvSpPr>
            <p:spPr>
              <a:xfrm>
                <a:off x="7040499" y="4782979"/>
                <a:ext cx="138836"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6</a:t>
                </a:r>
              </a:p>
            </p:txBody>
          </p:sp>
        </p:grpSp>
        <p:grpSp>
          <p:nvGrpSpPr>
            <p:cNvPr id="54" name="Group 54"/>
            <p:cNvGrpSpPr/>
            <p:nvPr/>
          </p:nvGrpSpPr>
          <p:grpSpPr>
            <a:xfrm>
              <a:off x="7326249" y="1353979"/>
              <a:ext cx="3427222" cy="4003738"/>
              <a:chOff x="7326249" y="1353979"/>
              <a:chExt cx="3427222" cy="4003738"/>
            </a:xfrm>
          </p:grpSpPr>
          <p:sp>
            <p:nvSpPr>
              <p:cNvPr id="48" name="TextBox 48"/>
              <p:cNvSpPr txBox="1"/>
              <p:nvPr/>
            </p:nvSpPr>
            <p:spPr>
              <a:xfrm>
                <a:off x="7326249" y="1353979"/>
                <a:ext cx="3326892"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await, async olmayan fonksiyonda</a:t>
                </a:r>
                <a:br/>
                <a:r>
                  <a:rPr lang="tr-TR" sz="1580" dirty="0">
                    <a:solidFill>
                      <a:srgbClr val="52616B"/>
                    </a:solidFill>
                    <a:latin typeface="+mn-lt"/>
                    <a:ea typeface="+mn-ea"/>
                    <a:cs typeface="+mn-cs"/>
                  </a:rPr>
                  <a:t>bağlam hatası · TS1308</a:t>
                </a:r>
              </a:p>
            </p:txBody>
          </p:sp>
          <p:sp>
            <p:nvSpPr>
              <p:cNvPr id="49" name="TextBox 49"/>
              <p:cNvSpPr txBox="1"/>
              <p:nvPr/>
            </p:nvSpPr>
            <p:spPr>
              <a:xfrm>
                <a:off x="7326249" y="2039779"/>
                <a:ext cx="3076067"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Dönüş türü void; asenkron akış</a:t>
                </a:r>
                <a:br/>
                <a:r>
                  <a:rPr lang="tr-TR" sz="1580" dirty="0">
                    <a:solidFill>
                      <a:srgbClr val="52616B"/>
                    </a:solidFill>
                    <a:latin typeface="+mn-lt"/>
                    <a:ea typeface="+mn-ea"/>
                    <a:cs typeface="+mn-cs"/>
                  </a:rPr>
                  <a:t>Promise&lt;void&gt; gerektirir</a:t>
                </a:r>
              </a:p>
            </p:txBody>
          </p:sp>
          <p:sp>
            <p:nvSpPr>
              <p:cNvPr id="50" name="TextBox 50"/>
              <p:cNvSpPr txBox="1"/>
              <p:nvPr/>
            </p:nvSpPr>
            <p:spPr>
              <a:xfrm>
                <a:off x="7326249" y="2725579"/>
                <a:ext cx="2835275"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Koşulda = atama yapılmış</a:t>
                </a:r>
                <a:br/>
                <a:r>
                  <a:rPr lang="tr-TR" sz="1580" dirty="0">
                    <a:solidFill>
                      <a:srgbClr val="52616B"/>
                    </a:solidFill>
                    <a:latin typeface="+mn-lt"/>
                    <a:ea typeface="+mn-ea"/>
                    <a:cs typeface="+mn-cs"/>
                  </a:rPr>
                  <a:t>=== karşılaştırması gerekir</a:t>
                </a:r>
              </a:p>
            </p:txBody>
          </p:sp>
          <p:sp>
            <p:nvSpPr>
              <p:cNvPr id="51" name="TextBox 51"/>
              <p:cNvSpPr txBox="1"/>
              <p:nvPr/>
            </p:nvSpPr>
            <p:spPr>
              <a:xfrm>
                <a:off x="7326249" y="3411379"/>
                <a:ext cx="2534285"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toUpperCase çağrılmamış</a:t>
                </a:r>
                <a:br/>
                <a:r>
                  <a:rPr lang="tr-TR" sz="1580" dirty="0">
                    <a:solidFill>
                      <a:srgbClr val="52616B"/>
                    </a:solidFill>
                    <a:latin typeface="+mn-lt"/>
                    <a:ea typeface="+mn-ea"/>
                    <a:cs typeface="+mn-cs"/>
                  </a:rPr>
                  <a:t>parantez eksik</a:t>
                </a:r>
              </a:p>
            </p:txBody>
          </p:sp>
          <p:sp>
            <p:nvSpPr>
              <p:cNvPr id="52" name="TextBox 52"/>
              <p:cNvSpPr txBox="1"/>
              <p:nvPr/>
            </p:nvSpPr>
            <p:spPr>
              <a:xfrm>
                <a:off x="7326249" y="4097179"/>
                <a:ext cx="3427222"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Metin fırlatılmış</a:t>
                </a:r>
                <a:br/>
                <a:r>
                  <a:rPr lang="tr-TR" sz="1580" dirty="0">
                    <a:solidFill>
                      <a:srgbClr val="52616B"/>
                    </a:solidFill>
                    <a:latin typeface="+mn-lt"/>
                    <a:ea typeface="+mn-ea"/>
                    <a:cs typeface="+mn-cs"/>
                  </a:rPr>
                  <a:t>throw new Error(...) kullanılmalı</a:t>
                </a:r>
              </a:p>
            </p:txBody>
          </p:sp>
          <p:sp>
            <p:nvSpPr>
              <p:cNvPr id="53" name="TextBox 53"/>
              <p:cNvSpPr txBox="1"/>
              <p:nvPr/>
            </p:nvSpPr>
            <p:spPr>
              <a:xfrm>
                <a:off x="7326249" y="4782979"/>
                <a:ext cx="2674747"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void üzerinde .catch()</a:t>
                </a:r>
                <a:br/>
                <a:r>
                  <a:rPr lang="tr-TR" sz="1580" dirty="0">
                    <a:solidFill>
                      <a:srgbClr val="52616B"/>
                    </a:solidFill>
                    <a:latin typeface="+mn-lt"/>
                    <a:ea typeface="+mn-ea"/>
                    <a:cs typeface="+mn-cs"/>
                  </a:rPr>
                  <a:t>hata unknown kabul edilmeli</a:t>
                </a:r>
              </a:p>
            </p:txBody>
          </p:sp>
        </p:grpSp>
      </p:grpSp>
      <p:grpSp>
        <p:nvGrpSpPr>
          <p:cNvPr id="59" name="fix"/>
          <p:cNvGrpSpPr/>
          <p:nvPr/>
        </p:nvGrpSpPr>
        <p:grpSpPr>
          <a:xfrm>
            <a:off x="571500" y="5562600"/>
            <a:ext cx="11049000" cy="647700"/>
            <a:chOff x="571500" y="5562600"/>
            <a:chExt cx="11049000" cy="647700"/>
          </a:xfrm>
        </p:grpSpPr>
        <p:sp>
          <p:nvSpPr>
            <p:cNvPr id="56" name="Rectangle 56"/>
            <p:cNvSpPr/>
            <p:nvPr/>
          </p:nvSpPr>
          <p:spPr>
            <a:xfrm>
              <a:off x="571500" y="5562600"/>
              <a:ext cx="11049000" cy="647700"/>
            </a:xfrm>
            <a:prstGeom prst="rect">
              <a:avLst/>
            </a:prstGeom>
            <a:solidFill>
              <a:srgbClr val="12355B"/>
            </a:solidFill>
            <a:ln>
              <a:noFill/>
            </a:ln>
          </p:spPr>
        </p:sp>
        <p:sp>
          <p:nvSpPr>
            <p:cNvPr id="57" name="TextBox 57"/>
            <p:cNvSpPr txBox="1"/>
            <p:nvPr/>
          </p:nvSpPr>
          <p:spPr>
            <a:xfrm>
              <a:off x="792099" y="5678329"/>
              <a:ext cx="9387855"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xml:space="preserve">Düzeltme: </a:t>
              </a:r>
              <a:r>
                <a:rPr lang="tr-TR" sz="1580" dirty="0">
                  <a:solidFill>
                    <a:srgbClr val="F7FAFC"/>
                  </a:solidFill>
                  <a:latin typeface="+mn-lt"/>
                  <a:ea typeface="+mn-ea"/>
                  <a:cs typeface="+mn-cs"/>
                </a:rPr>
                <a:t>async … : Promise&lt;void&gt; · aktifMi === true · toUpperCase() · throw new Error</a:t>
              </a:r>
            </a:p>
          </p:txBody>
        </p:sp>
        <p:sp>
          <p:nvSpPr>
            <p:cNvPr id="58" name="TextBox 58"/>
            <p:cNvSpPr txBox="1"/>
            <p:nvPr/>
          </p:nvSpPr>
          <p:spPr>
            <a:xfrm>
              <a:off x="794004" y="5966460"/>
              <a:ext cx="545722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Çıktı: ELIF · Türkçe noktalı İ için toLocaleUpperCase('tr') gerekir</a:t>
              </a:r>
            </a:p>
          </p:txBody>
        </p:sp>
      </p:grpSp>
      <p:grpSp>
        <p:nvGrpSpPr>
          <p:cNvPr id="62" name="footer"/>
          <p:cNvGrpSpPr/>
          <p:nvPr/>
        </p:nvGrpSpPr>
        <p:grpSpPr>
          <a:xfrm>
            <a:off x="565404" y="6404610"/>
            <a:ext cx="11061192" cy="234696"/>
            <a:chOff x="565404" y="6404610"/>
            <a:chExt cx="11061192" cy="234696"/>
          </a:xfrm>
        </p:grpSpPr>
        <p:sp>
          <p:nvSpPr>
            <p:cNvPr id="60" name="TextBox 60"/>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61" name="TextBox 61"/>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7515049"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Uçtan uca mini uygulama: sipariş özeti</a:t>
              </a:r>
            </a:p>
          </p:txBody>
        </p:sp>
      </p:grpSp>
      <p:grpSp>
        <p:nvGrpSpPr>
          <p:cNvPr id="29" name="architecture"/>
          <p:cNvGrpSpPr/>
          <p:nvPr/>
        </p:nvGrpSpPr>
        <p:grpSpPr>
          <a:xfrm>
            <a:off x="571500" y="1238250"/>
            <a:ext cx="11049000" cy="3581400"/>
            <a:chOff x="571500" y="1238250"/>
            <a:chExt cx="11049000" cy="3581400"/>
          </a:xfrm>
        </p:grpSpPr>
        <p:grpSp>
          <p:nvGrpSpPr>
            <p:cNvPr id="8" name="Group 8"/>
            <p:cNvGrpSpPr/>
            <p:nvPr/>
          </p:nvGrpSpPr>
          <p:grpSpPr>
            <a:xfrm>
              <a:off x="3238500" y="1905000"/>
              <a:ext cx="5657850" cy="1"/>
              <a:chOff x="3238500" y="1905000"/>
              <a:chExt cx="5657850" cy="1"/>
            </a:xfrm>
          </p:grpSpPr>
          <p:sp>
            <p:nvSpPr>
              <p:cNvPr id="6" name="Line 6"/>
              <p:cNvSpPr/>
              <p:nvPr/>
            </p:nvSpPr>
            <p:spPr>
              <a:xfrm>
                <a:off x="3238500" y="1905000"/>
                <a:ext cx="514350" cy="1"/>
              </a:xfrm>
              <a:prstGeom prst="line">
                <a:avLst/>
              </a:prstGeom>
              <a:noFill/>
              <a:ln w="28575">
                <a:solidFill>
                  <a:srgbClr val="00A6A6"/>
                </a:solidFill>
                <a:tailEnd type="triangle" w="lg" len="lg"/>
              </a:ln>
            </p:spPr>
          </p:sp>
          <p:sp>
            <p:nvSpPr>
              <p:cNvPr id="7" name="Line 7"/>
              <p:cNvSpPr/>
              <p:nvPr/>
            </p:nvSpPr>
            <p:spPr>
              <a:xfrm>
                <a:off x="8382000" y="1905000"/>
                <a:ext cx="514350" cy="1"/>
              </a:xfrm>
              <a:prstGeom prst="line">
                <a:avLst/>
              </a:prstGeom>
              <a:noFill/>
              <a:ln w="28575">
                <a:solidFill>
                  <a:srgbClr val="00A6A6"/>
                </a:solidFill>
                <a:tailEnd type="triangle" w="lg" len="lg"/>
              </a:ln>
            </p:spPr>
          </p:sp>
        </p:grpSp>
        <p:grpSp>
          <p:nvGrpSpPr>
            <p:cNvPr id="12" name="Group 12"/>
            <p:cNvGrpSpPr/>
            <p:nvPr/>
          </p:nvGrpSpPr>
          <p:grpSpPr>
            <a:xfrm>
              <a:off x="571500" y="1238250"/>
              <a:ext cx="11049000" cy="3581400"/>
              <a:chOff x="571500" y="1238250"/>
              <a:chExt cx="11049000" cy="3581400"/>
            </a:xfrm>
          </p:grpSpPr>
          <p:sp>
            <p:nvSpPr>
              <p:cNvPr id="9" name="Rectangle 9"/>
              <p:cNvSpPr/>
              <p:nvPr/>
            </p:nvSpPr>
            <p:spPr>
              <a:xfrm>
                <a:off x="571500" y="1238250"/>
                <a:ext cx="2667000" cy="3581400"/>
              </a:xfrm>
              <a:prstGeom prst="rect">
                <a:avLst/>
              </a:prstGeom>
              <a:solidFill>
                <a:srgbClr val="FFFFFF"/>
              </a:solidFill>
              <a:ln w="19050">
                <a:solidFill>
                  <a:srgbClr val="2E86AB"/>
                </a:solidFill>
              </a:ln>
            </p:spPr>
          </p:sp>
          <p:sp>
            <p:nvSpPr>
              <p:cNvPr id="10" name="Rectangle 10"/>
              <p:cNvSpPr/>
              <p:nvPr/>
            </p:nvSpPr>
            <p:spPr>
              <a:xfrm>
                <a:off x="3810000" y="1238250"/>
                <a:ext cx="4572000" cy="3581400"/>
              </a:xfrm>
              <a:prstGeom prst="rect">
                <a:avLst/>
              </a:prstGeom>
              <a:solidFill>
                <a:srgbClr val="FFFFFF"/>
              </a:solidFill>
              <a:ln w="19050">
                <a:solidFill>
                  <a:srgbClr val="2E86AB"/>
                </a:solidFill>
              </a:ln>
            </p:spPr>
          </p:sp>
          <p:sp>
            <p:nvSpPr>
              <p:cNvPr id="11" name="Rectangle 11"/>
              <p:cNvSpPr/>
              <p:nvPr/>
            </p:nvSpPr>
            <p:spPr>
              <a:xfrm>
                <a:off x="8953500" y="1238250"/>
                <a:ext cx="2667000" cy="3581400"/>
              </a:xfrm>
              <a:prstGeom prst="rect">
                <a:avLst/>
              </a:prstGeom>
              <a:solidFill>
                <a:srgbClr val="FFFFFF"/>
              </a:solidFill>
              <a:ln w="19050">
                <a:solidFill>
                  <a:srgbClr val="2E86AB"/>
                </a:solidFill>
              </a:ln>
            </p:spPr>
          </p:sp>
        </p:grpSp>
        <p:grpSp>
          <p:nvGrpSpPr>
            <p:cNvPr id="16" name="Group 16"/>
            <p:cNvGrpSpPr/>
            <p:nvPr/>
          </p:nvGrpSpPr>
          <p:grpSpPr>
            <a:xfrm>
              <a:off x="571500" y="1238250"/>
              <a:ext cx="11049000" cy="495300"/>
              <a:chOff x="571500" y="1238250"/>
              <a:chExt cx="11049000" cy="495300"/>
            </a:xfrm>
          </p:grpSpPr>
          <p:sp>
            <p:nvSpPr>
              <p:cNvPr id="13" name="Rectangle 13"/>
              <p:cNvSpPr/>
              <p:nvPr/>
            </p:nvSpPr>
            <p:spPr>
              <a:xfrm>
                <a:off x="571500" y="1238250"/>
                <a:ext cx="2667000" cy="495300"/>
              </a:xfrm>
              <a:prstGeom prst="rect">
                <a:avLst/>
              </a:prstGeom>
              <a:solidFill>
                <a:srgbClr val="12355B"/>
              </a:solidFill>
              <a:ln>
                <a:noFill/>
              </a:ln>
            </p:spPr>
          </p:sp>
          <p:sp>
            <p:nvSpPr>
              <p:cNvPr id="14" name="Rectangle 14"/>
              <p:cNvSpPr/>
              <p:nvPr/>
            </p:nvSpPr>
            <p:spPr>
              <a:xfrm>
                <a:off x="3810000" y="1238250"/>
                <a:ext cx="4572000" cy="495300"/>
              </a:xfrm>
              <a:prstGeom prst="rect">
                <a:avLst/>
              </a:prstGeom>
              <a:solidFill>
                <a:srgbClr val="12355B"/>
              </a:solidFill>
              <a:ln>
                <a:noFill/>
              </a:ln>
            </p:spPr>
          </p:sp>
          <p:sp>
            <p:nvSpPr>
              <p:cNvPr id="15" name="Rectangle 15"/>
              <p:cNvSpPr/>
              <p:nvPr/>
            </p:nvSpPr>
            <p:spPr>
              <a:xfrm>
                <a:off x="8953500" y="1238250"/>
                <a:ext cx="2667000" cy="495300"/>
              </a:xfrm>
              <a:prstGeom prst="rect">
                <a:avLst/>
              </a:prstGeom>
              <a:solidFill>
                <a:srgbClr val="12355B"/>
              </a:solidFill>
              <a:ln>
                <a:noFill/>
              </a:ln>
            </p:spPr>
          </p:sp>
        </p:grpSp>
        <p:grpSp>
          <p:nvGrpSpPr>
            <p:cNvPr id="20" name="Group 20"/>
            <p:cNvGrpSpPr/>
            <p:nvPr/>
          </p:nvGrpSpPr>
          <p:grpSpPr>
            <a:xfrm>
              <a:off x="754380" y="1390650"/>
              <a:ext cx="9520428" cy="293370"/>
              <a:chOff x="754380" y="1390650"/>
              <a:chExt cx="9520428" cy="293370"/>
            </a:xfrm>
          </p:grpSpPr>
          <p:sp>
            <p:nvSpPr>
              <p:cNvPr id="17" name="TextBox 17"/>
              <p:cNvSpPr txBox="1"/>
              <p:nvPr/>
            </p:nvSpPr>
            <p:spPr>
              <a:xfrm>
                <a:off x="754380" y="1390650"/>
                <a:ext cx="681609" cy="293370"/>
              </a:xfrm>
              <a:prstGeom prst="rect">
                <a:avLst/>
              </a:prstGeom>
              <a:noFill/>
              <a:ln>
                <a:noFill/>
              </a:ln>
            </p:spPr>
            <p:txBody>
              <a:bodyPr wrap="none" lIns="0" tIns="0" rIns="0" bIns="0" anchor="t" anchorCtr="0">
                <a:spAutoFit/>
              </a:bodyPr>
              <a:lstStyle/>
              <a:p>
                <a:pPr algn="l"/>
                <a:r>
                  <a:rPr lang="tr-TR" sz="1500" b="1" dirty="0">
                    <a:solidFill>
                      <a:srgbClr val="F7FAFC"/>
                    </a:solidFill>
                    <a:latin typeface="Consolas"/>
                    <a:ea typeface="Consolas"/>
                    <a:cs typeface="Consolas"/>
                  </a:rPr>
                  <a:t>main()</a:t>
                </a:r>
              </a:p>
            </p:txBody>
          </p:sp>
          <p:sp>
            <p:nvSpPr>
              <p:cNvPr id="18" name="TextBox 18"/>
              <p:cNvSpPr txBox="1"/>
              <p:nvPr/>
            </p:nvSpPr>
            <p:spPr>
              <a:xfrm>
                <a:off x="3992880" y="1390650"/>
                <a:ext cx="1582674" cy="293370"/>
              </a:xfrm>
              <a:prstGeom prst="rect">
                <a:avLst/>
              </a:prstGeom>
              <a:noFill/>
              <a:ln>
                <a:noFill/>
              </a:ln>
            </p:spPr>
            <p:txBody>
              <a:bodyPr wrap="none" lIns="0" tIns="0" rIns="0" bIns="0" anchor="t" anchorCtr="0">
                <a:spAutoFit/>
              </a:bodyPr>
              <a:lstStyle/>
              <a:p>
                <a:pPr algn="l"/>
                <a:r>
                  <a:rPr lang="tr-TR" sz="1500" b="1" dirty="0">
                    <a:solidFill>
                      <a:srgbClr val="F7FAFC"/>
                    </a:solidFill>
                    <a:latin typeface="Consolas"/>
                    <a:ea typeface="Consolas"/>
                    <a:cs typeface="Consolas"/>
                  </a:rPr>
                  <a:t>SiparisServisi</a:t>
                </a:r>
              </a:p>
            </p:txBody>
          </p:sp>
          <p:sp>
            <p:nvSpPr>
              <p:cNvPr id="19" name="TextBox 19"/>
              <p:cNvSpPr txBox="1"/>
              <p:nvPr/>
            </p:nvSpPr>
            <p:spPr>
              <a:xfrm>
                <a:off x="9136380" y="1390650"/>
                <a:ext cx="1138428" cy="293370"/>
              </a:xfrm>
              <a:prstGeom prst="rect">
                <a:avLst/>
              </a:prstGeom>
              <a:noFill/>
              <a:ln>
                <a:noFill/>
              </a:ln>
            </p:spPr>
            <p:txBody>
              <a:bodyPr wrap="none" lIns="0" tIns="0" rIns="0" bIns="0" anchor="t" anchorCtr="0">
                <a:spAutoFit/>
              </a:bodyPr>
              <a:lstStyle/>
              <a:p>
                <a:pPr algn="l"/>
                <a:r>
                  <a:rPr lang="tr-TR" sz="1500" b="1" dirty="0">
                    <a:solidFill>
                      <a:srgbClr val="F7FAFC"/>
                    </a:solidFill>
                    <a:latin typeface="Consolas"/>
                    <a:ea typeface="Consolas"/>
                    <a:cs typeface="Consolas"/>
                  </a:rPr>
                  <a:t>VeriDeposu</a:t>
                </a:r>
              </a:p>
            </p:txBody>
          </p:sp>
        </p:grpSp>
        <p:grpSp>
          <p:nvGrpSpPr>
            <p:cNvPr id="24" name="Group 24"/>
            <p:cNvGrpSpPr/>
            <p:nvPr/>
          </p:nvGrpSpPr>
          <p:grpSpPr>
            <a:xfrm>
              <a:off x="755904" y="1870710"/>
              <a:ext cx="9568099" cy="234696"/>
              <a:chOff x="755904" y="1870710"/>
              <a:chExt cx="9568099" cy="234696"/>
            </a:xfrm>
          </p:grpSpPr>
          <p:sp>
            <p:nvSpPr>
              <p:cNvPr id="21" name="TextBox 21"/>
              <p:cNvSpPr txBox="1"/>
              <p:nvPr/>
            </p:nvSpPr>
            <p:spPr>
              <a:xfrm>
                <a:off x="755904" y="1870710"/>
                <a:ext cx="1293632"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UYGULAMA AKIŞI</a:t>
                </a:r>
              </a:p>
            </p:txBody>
          </p:sp>
          <p:sp>
            <p:nvSpPr>
              <p:cNvPr id="22" name="TextBox 22"/>
              <p:cNvSpPr txBox="1"/>
              <p:nvPr/>
            </p:nvSpPr>
            <p:spPr>
              <a:xfrm>
                <a:off x="3994404" y="1870710"/>
                <a:ext cx="809732"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İŞ KURALI</a:t>
                </a:r>
              </a:p>
            </p:txBody>
          </p:sp>
          <p:sp>
            <p:nvSpPr>
              <p:cNvPr id="23" name="TextBox 23"/>
              <p:cNvSpPr txBox="1"/>
              <p:nvPr/>
            </p:nvSpPr>
            <p:spPr>
              <a:xfrm>
                <a:off x="9137904" y="1870710"/>
                <a:ext cx="1186099"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VERİ ERİŞİMİ</a:t>
                </a:r>
              </a:p>
            </p:txBody>
          </p:sp>
        </p:grpSp>
        <p:grpSp>
          <p:nvGrpSpPr>
            <p:cNvPr id="28" name="Group 28"/>
            <p:cNvGrpSpPr/>
            <p:nvPr/>
          </p:nvGrpSpPr>
          <p:grpSpPr>
            <a:xfrm>
              <a:off x="753999" y="2173129"/>
              <a:ext cx="10715625" cy="1870138"/>
              <a:chOff x="753999" y="2173129"/>
              <a:chExt cx="10715625" cy="1870138"/>
            </a:xfrm>
          </p:grpSpPr>
          <p:sp>
            <p:nvSpPr>
              <p:cNvPr id="25" name="TextBox 25"/>
              <p:cNvSpPr txBox="1"/>
              <p:nvPr/>
            </p:nvSpPr>
            <p:spPr>
              <a:xfrm>
                <a:off x="753999" y="2173129"/>
                <a:ext cx="1992503" cy="1679638"/>
              </a:xfrm>
              <a:prstGeom prst="rect">
                <a:avLst/>
              </a:prstGeom>
              <a:noFill/>
              <a:ln>
                <a:noFill/>
              </a:ln>
            </p:spPr>
            <p:txBody>
              <a:bodyPr wrap="none" lIns="0" tIns="0" rIns="0" bIns="0" anchor="t" anchorCtr="0">
                <a:spAutoFit/>
              </a:bodyPr>
              <a:lstStyle/>
              <a:p>
                <a:pPr algn="l">
                  <a:lnSpc>
                    <a:spcPts val="2100"/>
                  </a:lnSpc>
                </a:pPr>
                <a:r>
                  <a:rPr lang="tr-TR" sz="1580" b="1" dirty="0">
                    <a:solidFill>
                      <a:srgbClr val="172B3A"/>
                    </a:solidFill>
                    <a:latin typeface="+mn-lt"/>
                    <a:ea typeface="+mn-ea"/>
                    <a:cs typeface="+mn-cs"/>
                  </a:rPr>
                  <a:t xml:space="preserve">try: </a:t>
                </a:r>
                <a:r>
                  <a:rPr lang="tr-TR" sz="1580" dirty="0">
                    <a:solidFill>
                      <a:srgbClr val="172B3A"/>
                    </a:solidFill>
                    <a:latin typeface="+mn-lt"/>
                    <a:ea typeface="+mn-ea"/>
                    <a:cs typeface="+mn-cs"/>
                  </a:rPr>
                  <a:t>özet iste</a:t>
                </a:r>
              </a:p>
              <a:p>
                <a:pPr algn="l">
                  <a:lnSpc>
                    <a:spcPts val="2100"/>
                  </a:lnSpc>
                  <a:spcBef>
                    <a:spcPts val="150"/>
                  </a:spcBef>
                </a:pPr>
                <a:r>
                  <a:rPr lang="tr-TR" sz="1580" b="1" dirty="0">
                    <a:solidFill>
                      <a:srgbClr val="172B3A"/>
                    </a:solidFill>
                    <a:latin typeface="+mn-lt"/>
                    <a:ea typeface="+mn-ea"/>
                    <a:cs typeface="+mn-cs"/>
                  </a:rPr>
                  <a:t xml:space="preserve">catch: </a:t>
                </a:r>
                <a:r>
                  <a:rPr lang="tr-TR" sz="1580" dirty="0">
                    <a:solidFill>
                      <a:srgbClr val="172B3A"/>
                    </a:solidFill>
                    <a:latin typeface="+mn-lt"/>
                    <a:ea typeface="+mn-ea"/>
                    <a:cs typeface="+mn-cs"/>
                  </a:rPr>
                  <a:t>sınıfa göre</a:t>
                </a:r>
                <a:br/>
                <a:r>
                  <a:rPr lang="tr-TR" sz="1580" dirty="0">
                    <a:solidFill>
                      <a:srgbClr val="172B3A"/>
                    </a:solidFill>
                    <a:latin typeface="+mn-lt"/>
                    <a:ea typeface="+mn-ea"/>
                    <a:cs typeface="+mn-cs"/>
                  </a:rPr>
                  <a:t>İstek hatası (404)</a:t>
                </a:r>
                <a:br/>
                <a:r>
                  <a:rPr lang="tr-TR" sz="1580" dirty="0">
                    <a:solidFill>
                      <a:srgbClr val="172B3A"/>
                    </a:solidFill>
                    <a:latin typeface="+mn-lt"/>
                    <a:ea typeface="+mn-ea"/>
                    <a:cs typeface="+mn-cs"/>
                  </a:rPr>
                  <a:t>İşlem hatası (500)</a:t>
                </a:r>
              </a:p>
              <a:p>
                <a:pPr algn="l">
                  <a:lnSpc>
                    <a:spcPts val="2100"/>
                  </a:lnSpc>
                  <a:spcBef>
                    <a:spcPts val="150"/>
                  </a:spcBef>
                </a:pPr>
                <a:r>
                  <a:rPr lang="tr-TR" sz="1580" b="1" dirty="0">
                    <a:solidFill>
                      <a:srgbClr val="172B3A"/>
                    </a:solidFill>
                    <a:latin typeface="+mn-lt"/>
                    <a:ea typeface="+mn-ea"/>
                    <a:cs typeface="+mn-cs"/>
                  </a:rPr>
                  <a:t xml:space="preserve">finally: </a:t>
                </a:r>
                <a:r>
                  <a:rPr lang="tr-TR" sz="1580" dirty="0">
                    <a:solidFill>
                      <a:srgbClr val="172B3A"/>
                    </a:solidFill>
                    <a:latin typeface="+mn-lt"/>
                    <a:ea typeface="+mn-ea"/>
                    <a:cs typeface="+mn-cs"/>
                  </a:rPr>
                  <a:t>“Sipariş</a:t>
                </a:r>
                <a:br/>
                <a:r>
                  <a:rPr lang="tr-TR" sz="1580" dirty="0">
                    <a:solidFill>
                      <a:srgbClr val="172B3A"/>
                    </a:solidFill>
                    <a:latin typeface="+mn-lt"/>
                    <a:ea typeface="+mn-ea"/>
                    <a:cs typeface="+mn-cs"/>
                  </a:rPr>
                  <a:t>isteği tamamlandı.”</a:t>
                </a:r>
              </a:p>
            </p:txBody>
          </p:sp>
          <p:sp>
            <p:nvSpPr>
              <p:cNvPr id="26" name="TextBox 26"/>
              <p:cNvSpPr txBox="1"/>
              <p:nvPr/>
            </p:nvSpPr>
            <p:spPr>
              <a:xfrm>
                <a:off x="3992499" y="2173129"/>
                <a:ext cx="3467354" cy="1870138"/>
              </a:xfrm>
              <a:prstGeom prst="rect">
                <a:avLst/>
              </a:prstGeom>
              <a:noFill/>
              <a:ln>
                <a:noFill/>
              </a:ln>
            </p:spPr>
            <p:txBody>
              <a:bodyPr wrap="none" lIns="0" tIns="0" rIns="0" bIns="0" anchor="t" anchorCtr="0">
                <a:spAutoFit/>
              </a:bodyPr>
              <a:lstStyle/>
              <a:p>
                <a:pPr algn="l">
                  <a:lnSpc>
                    <a:spcPts val="2100"/>
                  </a:lnSpc>
                </a:pPr>
                <a:r>
                  <a:rPr lang="tr-TR" sz="1580" b="1" dirty="0">
                    <a:solidFill>
                      <a:srgbClr val="00A6A6"/>
                    </a:solidFill>
                    <a:latin typeface="+mn-lt"/>
                    <a:ea typeface="+mn-ea"/>
                    <a:cs typeface="+mn-cs"/>
                  </a:rPr>
                  <a:t xml:space="preserve">1 </a:t>
                </a:r>
                <a:r>
                  <a:rPr lang="tr-TR" sz="1580" dirty="0">
                    <a:solidFill>
                      <a:srgbClr val="172B3A"/>
                    </a:solidFill>
                    <a:latin typeface="+mn-lt"/>
                    <a:ea typeface="+mn-ea"/>
                    <a:cs typeface="+mn-cs"/>
                  </a:rPr>
                  <a:t>Promise.all: müşteri ve sipariş</a:t>
                </a:r>
                <a:br/>
                <a:r>
                  <a:rPr lang="tr-TR" sz="1580" dirty="0">
                    <a:solidFill>
                      <a:srgbClr val="172B3A"/>
                    </a:solidFill>
                    <a:latin typeface="+mn-lt"/>
                    <a:ea typeface="+mn-ea"/>
                    <a:cs typeface="+mn-cs"/>
                  </a:rPr>
                  <a:t>sorguları eşzamanlı başlar</a:t>
                </a:r>
              </a:p>
              <a:p>
                <a:pPr algn="l">
                  <a:lnSpc>
                    <a:spcPts val="2100"/>
                  </a:lnSpc>
                  <a:spcBef>
                    <a:spcPts val="600"/>
                  </a:spcBef>
                </a:pPr>
                <a:r>
                  <a:rPr lang="tr-TR" sz="1580" b="1" dirty="0">
                    <a:solidFill>
                      <a:srgbClr val="00A6A6"/>
                    </a:solidFill>
                    <a:latin typeface="+mn-lt"/>
                    <a:ea typeface="+mn-ea"/>
                    <a:cs typeface="+mn-cs"/>
                  </a:rPr>
                  <a:t xml:space="preserve">2 </a:t>
                </a:r>
                <a:r>
                  <a:rPr lang="tr-TR" sz="1580" dirty="0">
                    <a:solidFill>
                      <a:srgbClr val="172B3A"/>
                    </a:solidFill>
                    <a:latin typeface="+mn-lt"/>
                    <a:ea typeface="+mn-ea"/>
                    <a:cs typeface="+mn-cs"/>
                  </a:rPr>
                  <a:t>Pasif müşteride throw new Error</a:t>
                </a:r>
              </a:p>
              <a:p>
                <a:pPr algn="l">
                  <a:lnSpc>
                    <a:spcPts val="2100"/>
                  </a:lnSpc>
                  <a:spcBef>
                    <a:spcPts val="600"/>
                  </a:spcBef>
                </a:pPr>
                <a:r>
                  <a:rPr lang="tr-TR" sz="1580" b="1" dirty="0">
                    <a:solidFill>
                      <a:srgbClr val="00A6A6"/>
                    </a:solidFill>
                    <a:latin typeface="+mn-lt"/>
                    <a:ea typeface="+mn-ea"/>
                    <a:cs typeface="+mn-cs"/>
                  </a:rPr>
                  <a:t xml:space="preserve">3 </a:t>
                </a:r>
                <a:r>
                  <a:rPr lang="tr-TR" sz="1580" dirty="0">
                    <a:solidFill>
                      <a:srgbClr val="172B3A"/>
                    </a:solidFill>
                    <a:latin typeface="+mn-lt"/>
                    <a:ea typeface="+mn-ea"/>
                    <a:cs typeface="+mn-cs"/>
                  </a:rPr>
                  <a:t>Destructuring: ad → musteriAdi,</a:t>
                </a:r>
                <a:br/>
                <a:r>
                  <a:rPr lang="tr-TR" sz="1580" dirty="0">
                    <a:solidFill>
                      <a:srgbClr val="172B3A"/>
                    </a:solidFill>
                    <a:latin typeface="+mn-lt"/>
                    <a:ea typeface="+mn-ea"/>
                    <a:cs typeface="+mn-cs"/>
                  </a:rPr>
                  <a:t>eposta varsayılanı, [ilkUrun, ...]</a:t>
                </a:r>
              </a:p>
              <a:p>
                <a:pPr algn="l">
                  <a:lnSpc>
                    <a:spcPts val="2100"/>
                  </a:lnSpc>
                  <a:spcBef>
                    <a:spcPts val="600"/>
                  </a:spcBef>
                </a:pPr>
                <a:r>
                  <a:rPr lang="tr-TR" sz="1580" b="1" dirty="0">
                    <a:solidFill>
                      <a:srgbClr val="00A6A6"/>
                    </a:solidFill>
                    <a:latin typeface="+mn-lt"/>
                    <a:ea typeface="+mn-ea"/>
                    <a:cs typeface="+mn-cs"/>
                  </a:rPr>
                  <a:t xml:space="preserve">4 </a:t>
                </a:r>
                <a:r>
                  <a:rPr lang="tr-TR" sz="1580" dirty="0">
                    <a:solidFill>
                      <a:srgbClr val="172B3A"/>
                    </a:solidFill>
                    <a:latin typeface="+mn-lt"/>
                    <a:ea typeface="+mn-ea"/>
                    <a:cs typeface="+mn-cs"/>
                  </a:rPr>
                  <a:t>Özet metni döndürülür</a:t>
                </a:r>
              </a:p>
            </p:txBody>
          </p:sp>
          <p:sp>
            <p:nvSpPr>
              <p:cNvPr id="27" name="TextBox 27"/>
              <p:cNvSpPr txBox="1"/>
              <p:nvPr/>
            </p:nvSpPr>
            <p:spPr>
              <a:xfrm>
                <a:off x="9135999" y="2173129"/>
                <a:ext cx="2333625" cy="1489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musteriGetir(kimlik)</a:t>
                </a:r>
                <a:br/>
                <a:r>
                  <a:rPr lang="tr-TR" sz="1580" dirty="0">
                    <a:solidFill>
                      <a:srgbClr val="52616B"/>
                    </a:solidFill>
                    <a:latin typeface="+mn-lt"/>
                    <a:ea typeface="+mn-ea"/>
                    <a:cs typeface="+mn-cs"/>
                  </a:rPr>
                  <a:t>yoksa throw</a:t>
                </a:r>
                <a:br/>
                <a:r>
                  <a:rPr lang="tr-TR" sz="1580" dirty="0">
                    <a:solidFill>
                      <a:srgbClr val="52616B"/>
                    </a:solidFill>
                    <a:latin typeface="+mn-lt"/>
                    <a:ea typeface="+mn-ea"/>
                    <a:cs typeface="+mn-cs"/>
                  </a:rPr>
                  <a:t>KaynakBulunamadiHatasi</a:t>
                </a:r>
              </a:p>
              <a:p>
                <a:pPr algn="l">
                  <a:lnSpc>
                    <a:spcPts val="2100"/>
                  </a:lnSpc>
                  <a:spcBef>
                    <a:spcPts val="900"/>
                  </a:spcBef>
                </a:pPr>
                <a:r>
                  <a:rPr lang="tr-TR" sz="1580" dirty="0">
                    <a:solidFill>
                      <a:srgbClr val="172B3A"/>
                    </a:solidFill>
                    <a:latin typeface="+mn-lt"/>
                    <a:ea typeface="+mn-ea"/>
                    <a:cs typeface="+mn-cs"/>
                  </a:rPr>
                  <a:t>siparisGetir(kimlik)</a:t>
                </a:r>
                <a:br/>
                <a:r>
                  <a:rPr lang="tr-TR" sz="1580" dirty="0">
                    <a:solidFill>
                      <a:srgbClr val="52616B"/>
                    </a:solidFill>
                    <a:latin typeface="+mn-lt"/>
                    <a:ea typeface="+mn-ea"/>
                    <a:cs typeface="+mn-cs"/>
                  </a:rPr>
                  <a:t>readonly Siparis döner</a:t>
                </a:r>
              </a:p>
            </p:txBody>
          </p:sp>
        </p:grpSp>
      </p:grpSp>
      <p:grpSp>
        <p:nvGrpSpPr>
          <p:cNvPr id="33" name="output"/>
          <p:cNvGrpSpPr/>
          <p:nvPr/>
        </p:nvGrpSpPr>
        <p:grpSpPr>
          <a:xfrm>
            <a:off x="563499" y="5067300"/>
            <a:ext cx="11057001" cy="1128618"/>
            <a:chOff x="563499" y="5067300"/>
            <a:chExt cx="11057001" cy="1128618"/>
          </a:xfrm>
        </p:grpSpPr>
        <p:sp>
          <p:nvSpPr>
            <p:cNvPr id="30" name="Rectangle 30"/>
            <p:cNvSpPr/>
            <p:nvPr/>
          </p:nvSpPr>
          <p:spPr>
            <a:xfrm>
              <a:off x="571500" y="5067300"/>
              <a:ext cx="11049000" cy="609600"/>
            </a:xfrm>
            <a:prstGeom prst="rect">
              <a:avLst/>
            </a:prstGeom>
            <a:solidFill>
              <a:srgbClr val="12355B"/>
            </a:solidFill>
            <a:ln>
              <a:noFill/>
            </a:ln>
          </p:spPr>
        </p:sp>
        <p:sp>
          <p:nvSpPr>
            <p:cNvPr id="31" name="TextBox 31"/>
            <p:cNvSpPr txBox="1"/>
            <p:nvPr/>
          </p:nvSpPr>
          <p:spPr>
            <a:xfrm>
              <a:off x="792480" y="5286375"/>
              <a:ext cx="7861391" cy="293370"/>
            </a:xfrm>
            <a:prstGeom prst="rect">
              <a:avLst/>
            </a:prstGeom>
            <a:noFill/>
            <a:ln>
              <a:noFill/>
            </a:ln>
          </p:spPr>
          <p:txBody>
            <a:bodyPr wrap="none" lIns="0" tIns="0" rIns="0" bIns="0" anchor="t" anchorCtr="0">
              <a:spAutoFit/>
            </a:bodyPr>
            <a:lstStyle/>
            <a:p>
              <a:pPr algn="l"/>
              <a:r>
                <a:rPr lang="tr-TR" sz="1500" dirty="0">
                  <a:solidFill>
                    <a:srgbClr val="F7FAFC"/>
                  </a:solidFill>
                  <a:latin typeface="Consolas"/>
                  <a:ea typeface="Consolas"/>
                  <a:cs typeface="Consolas"/>
                </a:rPr>
                <a:t>Yasemin (yasemin@ornek.com) için SIP-2025-01: Java Kitabı, Not Defteri</a:t>
              </a:r>
            </a:p>
          </p:txBody>
        </p:sp>
        <p:sp>
          <p:nvSpPr>
            <p:cNvPr id="32" name="TextBox 32"/>
            <p:cNvSpPr txBox="1"/>
            <p:nvPr/>
          </p:nvSpPr>
          <p:spPr>
            <a:xfrm>
              <a:off x="563499" y="5887879"/>
              <a:ext cx="1051988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Gerçek projede her sınıf ve arayüz ayrı modüle bölünür; burada birlikte görmek için tek dosyadadır.</a:t>
              </a:r>
            </a:p>
          </p:txBody>
        </p:sp>
      </p:grpSp>
      <p:grpSp>
        <p:nvGrpSpPr>
          <p:cNvPr id="36" name="footer"/>
          <p:cNvGrpSpPr/>
          <p:nvPr/>
        </p:nvGrpSpPr>
        <p:grpSpPr>
          <a:xfrm>
            <a:off x="565404" y="6404610"/>
            <a:ext cx="11061192" cy="234696"/>
            <a:chOff x="565404" y="6404610"/>
            <a:chExt cx="11061192" cy="234696"/>
          </a:xfrm>
        </p:grpSpPr>
        <p:sp>
          <p:nvSpPr>
            <p:cNvPr id="34" name="TextBox 34"/>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35" name="TextBox 35"/>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5"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sp>
          <p:nvSpPr>
            <p:cNvPr id="4" name="TextBox 4"/>
            <p:cNvSpPr txBox="1"/>
            <p:nvPr/>
          </p:nvSpPr>
          <p:spPr>
            <a:xfrm>
              <a:off x="557022" y="282892"/>
              <a:ext cx="6710644"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Bölüm özeti: üç soru, altı kavram</a:t>
              </a:r>
            </a:p>
          </p:txBody>
        </p:sp>
      </p:grpSp>
      <p:grpSp>
        <p:nvGrpSpPr>
          <p:cNvPr id="10" name="takeaway"/>
          <p:cNvGrpSpPr/>
          <p:nvPr/>
        </p:nvGrpSpPr>
        <p:grpSpPr>
          <a:xfrm>
            <a:off x="571500" y="1295400"/>
            <a:ext cx="3810000" cy="4191000"/>
            <a:chOff x="571500" y="1295400"/>
            <a:chExt cx="3810000" cy="4191000"/>
          </a:xfrm>
        </p:grpSpPr>
        <p:sp>
          <p:nvSpPr>
            <p:cNvPr id="6" name="Rectangle 6"/>
            <p:cNvSpPr/>
            <p:nvPr/>
          </p:nvSpPr>
          <p:spPr>
            <a:xfrm>
              <a:off x="571500" y="1295400"/>
              <a:ext cx="3810000" cy="4191000"/>
            </a:xfrm>
            <a:prstGeom prst="rect">
              <a:avLst/>
            </a:prstGeom>
            <a:solidFill>
              <a:srgbClr val="EAF4F6"/>
            </a:solidFill>
            <a:ln>
              <a:noFill/>
            </a:ln>
          </p:spPr>
        </p:sp>
        <p:sp>
          <p:nvSpPr>
            <p:cNvPr id="7" name="Rectangle 7"/>
            <p:cNvSpPr/>
            <p:nvPr/>
          </p:nvSpPr>
          <p:spPr>
            <a:xfrm>
              <a:off x="571500" y="1295400"/>
              <a:ext cx="3810000" cy="76200"/>
            </a:xfrm>
            <a:prstGeom prst="rect">
              <a:avLst/>
            </a:prstGeom>
            <a:solidFill>
              <a:srgbClr val="00A6A6"/>
            </a:solidFill>
            <a:ln>
              <a:noFill/>
            </a:ln>
          </p:spPr>
        </p:sp>
        <p:sp>
          <p:nvSpPr>
            <p:cNvPr id="8" name="TextBox 8"/>
            <p:cNvSpPr txBox="1"/>
            <p:nvPr/>
          </p:nvSpPr>
          <p:spPr>
            <a:xfrm>
              <a:off x="826770" y="1719262"/>
              <a:ext cx="2693194" cy="1583055"/>
            </a:xfrm>
            <a:prstGeom prst="rect">
              <a:avLst/>
            </a:prstGeom>
            <a:noFill/>
            <a:ln>
              <a:noFill/>
            </a:ln>
          </p:spPr>
          <p:txBody>
            <a:bodyPr wrap="none" lIns="0" tIns="0" rIns="0" bIns="0" anchor="t" anchorCtr="0">
              <a:spAutoFit/>
            </a:bodyPr>
            <a:lstStyle/>
            <a:p>
              <a:pPr algn="l">
                <a:lnSpc>
                  <a:spcPts val="3000"/>
                </a:lnSpc>
              </a:pPr>
              <a:r>
                <a:rPr lang="tr-TR" sz="2250" b="1" dirty="0">
                  <a:solidFill>
                    <a:srgbClr val="12355B"/>
                  </a:solidFill>
                  <a:latin typeface="+mn-lt"/>
                  <a:ea typeface="+mn-ea"/>
                  <a:cs typeface="+mn-cs"/>
                </a:rPr>
                <a:t>En iyi backend</a:t>
              </a:r>
              <a:br/>
              <a:r>
                <a:rPr lang="tr-TR" sz="2250" b="1" dirty="0">
                  <a:solidFill>
                    <a:srgbClr val="12355B"/>
                  </a:solidFill>
                  <a:latin typeface="+mn-lt"/>
                  <a:ea typeface="+mn-ea"/>
                  <a:cs typeface="+mn-cs"/>
                </a:rPr>
                <a:t>tasarımı bu üç</a:t>
              </a:r>
              <a:br/>
              <a:r>
                <a:rPr lang="tr-TR" sz="2250" b="1" dirty="0">
                  <a:solidFill>
                    <a:srgbClr val="12355B"/>
                  </a:solidFill>
                  <a:latin typeface="+mn-lt"/>
                  <a:ea typeface="+mn-ea"/>
                  <a:cs typeface="+mn-cs"/>
                </a:rPr>
                <a:t>soruyu kolayca</a:t>
              </a:r>
              <a:br/>
              <a:r>
                <a:rPr lang="tr-TR" sz="2250" b="1" dirty="0">
                  <a:solidFill>
                    <a:srgbClr val="00A6A6"/>
                  </a:solidFill>
                  <a:latin typeface="+mn-lt"/>
                  <a:ea typeface="+mn-ea"/>
                  <a:cs typeface="+mn-cs"/>
                </a:rPr>
                <a:t>yanıtlayabilendir.</a:t>
              </a:r>
            </a:p>
          </p:txBody>
        </p:sp>
        <p:sp>
          <p:nvSpPr>
            <p:cNvPr id="9" name="TextBox 9"/>
            <p:cNvSpPr txBox="1"/>
            <p:nvPr/>
          </p:nvSpPr>
          <p:spPr>
            <a:xfrm>
              <a:off x="830199" y="3830479"/>
              <a:ext cx="3226562"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Kavramların tamamı modern</a:t>
              </a:r>
              <a:br/>
              <a:r>
                <a:rPr lang="tr-TR" sz="1580" dirty="0">
                  <a:solidFill>
                    <a:srgbClr val="172B3A"/>
                  </a:solidFill>
                  <a:latin typeface="+mn-lt"/>
                  <a:ea typeface="+mn-ea"/>
                  <a:cs typeface="+mn-cs"/>
                </a:rPr>
                <a:t>Node.js backend uygulamalarının</a:t>
              </a:r>
              <a:br/>
              <a:r>
                <a:rPr lang="tr-TR" sz="1580" dirty="0">
                  <a:solidFill>
                    <a:srgbClr val="172B3A"/>
                  </a:solidFill>
                  <a:latin typeface="+mn-lt"/>
                  <a:ea typeface="+mn-ea"/>
                  <a:cs typeface="+mn-cs"/>
                </a:rPr>
                <a:t>temel yapı taşlarıdır.</a:t>
              </a:r>
            </a:p>
          </p:txBody>
        </p:sp>
      </p:grpSp>
      <p:grpSp>
        <p:nvGrpSpPr>
          <p:cNvPr id="24" name="answers"/>
          <p:cNvGrpSpPr/>
          <p:nvPr/>
        </p:nvGrpSpPr>
        <p:grpSpPr>
          <a:xfrm>
            <a:off x="4857750" y="1485900"/>
            <a:ext cx="5548884" cy="4290917"/>
            <a:chOff x="4857750" y="1485900"/>
            <a:chExt cx="5548884" cy="4290917"/>
          </a:xfrm>
        </p:grpSpPr>
        <p:sp>
          <p:nvSpPr>
            <p:cNvPr id="11" name="Line 11"/>
            <p:cNvSpPr/>
            <p:nvPr/>
          </p:nvSpPr>
          <p:spPr>
            <a:xfrm>
              <a:off x="4991100" y="1619250"/>
              <a:ext cx="9525" cy="3333750"/>
            </a:xfrm>
            <a:custGeom>
              <a:avLst/>
              <a:gdLst/>
              <a:ahLst/>
              <a:cxnLst/>
              <a:rect l="l" t="t" r="r" b="b"/>
              <a:pathLst>
                <a:path w="9525" h="3333750">
                  <a:moveTo>
                    <a:pt x="0" y="0"/>
                  </a:moveTo>
                  <a:lnTo>
                    <a:pt x="0" y="3333750"/>
                  </a:lnTo>
                </a:path>
              </a:pathLst>
            </a:custGeom>
            <a:noFill/>
            <a:ln w="38100">
              <a:solidFill>
                <a:srgbClr val="00A6A6"/>
              </a:solidFill>
            </a:ln>
          </p:spPr>
        </p:sp>
        <p:grpSp>
          <p:nvGrpSpPr>
            <p:cNvPr id="15" name="Group 15"/>
            <p:cNvGrpSpPr/>
            <p:nvPr/>
          </p:nvGrpSpPr>
          <p:grpSpPr>
            <a:xfrm>
              <a:off x="4857750" y="1485900"/>
              <a:ext cx="266700" cy="3600450"/>
              <a:chOff x="4857750" y="1485900"/>
              <a:chExt cx="266700" cy="3600450"/>
            </a:xfrm>
          </p:grpSpPr>
          <p:sp>
            <p:nvSpPr>
              <p:cNvPr id="12" name="Ellipse 12"/>
              <p:cNvSpPr/>
              <p:nvPr/>
            </p:nvSpPr>
            <p:spPr>
              <a:xfrm>
                <a:off x="4857750" y="1485900"/>
                <a:ext cx="266700" cy="266700"/>
              </a:xfrm>
              <a:prstGeom prst="ellipse">
                <a:avLst/>
              </a:prstGeom>
              <a:solidFill>
                <a:srgbClr val="F7FAFC"/>
              </a:solidFill>
              <a:ln w="38100">
                <a:solidFill>
                  <a:srgbClr val="00A6A6"/>
                </a:solidFill>
              </a:ln>
            </p:spPr>
          </p:sp>
          <p:sp>
            <p:nvSpPr>
              <p:cNvPr id="13" name="Ellipse 13"/>
              <p:cNvSpPr/>
              <p:nvPr/>
            </p:nvSpPr>
            <p:spPr>
              <a:xfrm>
                <a:off x="4857750" y="3152775"/>
                <a:ext cx="266700" cy="266700"/>
              </a:xfrm>
              <a:prstGeom prst="ellipse">
                <a:avLst/>
              </a:prstGeom>
              <a:solidFill>
                <a:srgbClr val="F7FAFC"/>
              </a:solidFill>
              <a:ln w="38100">
                <a:solidFill>
                  <a:srgbClr val="00A6A6"/>
                </a:solidFill>
              </a:ln>
            </p:spPr>
          </p:sp>
          <p:sp>
            <p:nvSpPr>
              <p:cNvPr id="14" name="Ellipse 14"/>
              <p:cNvSpPr/>
              <p:nvPr/>
            </p:nvSpPr>
            <p:spPr>
              <a:xfrm>
                <a:off x="4857750" y="4819650"/>
                <a:ext cx="266700" cy="266700"/>
              </a:xfrm>
              <a:prstGeom prst="ellipse">
                <a:avLst/>
              </a:prstGeom>
              <a:solidFill>
                <a:srgbClr val="F7FAFC"/>
              </a:solidFill>
              <a:ln w="38100">
                <a:solidFill>
                  <a:srgbClr val="00A6A6"/>
                </a:solidFill>
              </a:ln>
            </p:spPr>
          </p:sp>
        </p:grpSp>
        <p:grpSp>
          <p:nvGrpSpPr>
            <p:cNvPr id="19" name="Group 19"/>
            <p:cNvGrpSpPr/>
            <p:nvPr/>
          </p:nvGrpSpPr>
          <p:grpSpPr>
            <a:xfrm>
              <a:off x="5362956" y="1501140"/>
              <a:ext cx="3499473" cy="3685794"/>
              <a:chOff x="5362956" y="1501140"/>
              <a:chExt cx="3499473" cy="3685794"/>
            </a:xfrm>
          </p:grpSpPr>
          <p:sp>
            <p:nvSpPr>
              <p:cNvPr id="16" name="TextBox 16"/>
              <p:cNvSpPr txBox="1"/>
              <p:nvPr/>
            </p:nvSpPr>
            <p:spPr>
              <a:xfrm>
                <a:off x="5362956" y="1501140"/>
                <a:ext cx="26471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 nereden geliyor?</a:t>
                </a:r>
              </a:p>
            </p:txBody>
          </p:sp>
          <p:sp>
            <p:nvSpPr>
              <p:cNvPr id="17" name="TextBox 17"/>
              <p:cNvSpPr txBox="1"/>
              <p:nvPr/>
            </p:nvSpPr>
            <p:spPr>
              <a:xfrm>
                <a:off x="5362956" y="3168015"/>
                <a:ext cx="34994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Hangi iş kuralından geçiyor?</a:t>
                </a:r>
              </a:p>
            </p:txBody>
          </p:sp>
          <p:sp>
            <p:nvSpPr>
              <p:cNvPr id="18" name="TextBox 18"/>
              <p:cNvSpPr txBox="1"/>
              <p:nvPr/>
            </p:nvSpPr>
            <p:spPr>
              <a:xfrm>
                <a:off x="5362956" y="4834890"/>
                <a:ext cx="278755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Hata olursa ne oluyor?</a:t>
                </a:r>
              </a:p>
            </p:txBody>
          </p:sp>
        </p:grpSp>
        <p:grpSp>
          <p:nvGrpSpPr>
            <p:cNvPr id="23" name="Group 23"/>
            <p:cNvGrpSpPr/>
            <p:nvPr/>
          </p:nvGrpSpPr>
          <p:grpSpPr>
            <a:xfrm>
              <a:off x="5364099" y="1868329"/>
              <a:ext cx="5042535" cy="3908488"/>
              <a:chOff x="5364099" y="1868329"/>
              <a:chExt cx="5042535" cy="3908488"/>
            </a:xfrm>
          </p:grpSpPr>
          <p:sp>
            <p:nvSpPr>
              <p:cNvPr id="20" name="TextBox 20"/>
              <p:cNvSpPr txBox="1"/>
              <p:nvPr/>
            </p:nvSpPr>
            <p:spPr>
              <a:xfrm>
                <a:off x="5364099" y="1868329"/>
                <a:ext cx="4711446"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Modüller veri erişimini ayırır; destructuring</a:t>
                </a:r>
                <a:br/>
                <a:r>
                  <a:rPr lang="tr-TR" sz="1580" dirty="0">
                    <a:solidFill>
                      <a:srgbClr val="172B3A"/>
                    </a:solidFill>
                    <a:latin typeface="+mn-lt"/>
                    <a:ea typeface="+mn-ea"/>
                    <a:cs typeface="+mn-cs"/>
                  </a:rPr>
                  <a:t>gerekeni ayıklar, ?. ve ?? eksik alanı karşılar.</a:t>
                </a:r>
              </a:p>
            </p:txBody>
          </p:sp>
          <p:sp>
            <p:nvSpPr>
              <p:cNvPr id="21" name="TextBox 21"/>
              <p:cNvSpPr txBox="1"/>
              <p:nvPr/>
            </p:nvSpPr>
            <p:spPr>
              <a:xfrm>
                <a:off x="5364099" y="3535204"/>
                <a:ext cx="4340225"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Servis kuralı uygular; bağımlı adım sırayla</a:t>
                </a:r>
                <a:br/>
                <a:r>
                  <a:rPr lang="tr-TR" sz="1580" dirty="0">
                    <a:solidFill>
                      <a:srgbClr val="172B3A"/>
                    </a:solidFill>
                    <a:latin typeface="+mn-lt"/>
                    <a:ea typeface="+mn-ea"/>
                    <a:cs typeface="+mn-cs"/>
                  </a:rPr>
                  <a:t>await, bağımsızlar Promise.all ile yürür.</a:t>
                </a:r>
              </a:p>
            </p:txBody>
          </p:sp>
          <p:sp>
            <p:nvSpPr>
              <p:cNvPr id="22" name="TextBox 22"/>
              <p:cNvSpPr txBox="1"/>
              <p:nvPr/>
            </p:nvSpPr>
            <p:spPr>
              <a:xfrm>
                <a:off x="5364099" y="5202079"/>
                <a:ext cx="5042535"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Özel hata sınıfı ve unknown type guard; istemciye</a:t>
                </a:r>
                <a:br/>
                <a:r>
                  <a:rPr lang="tr-TR" sz="1580" dirty="0">
                    <a:solidFill>
                      <a:srgbClr val="172B3A"/>
                    </a:solidFill>
                    <a:latin typeface="+mn-lt"/>
                    <a:ea typeface="+mn-ea"/>
                    <a:cs typeface="+mn-cs"/>
                  </a:rPr>
                  <a:t>güvenli mesaj, günlüğe ayrıntı, finally ile temizlik.</a:t>
                </a:r>
              </a:p>
            </p:txBody>
          </p:sp>
        </p:grpSp>
      </p:grpSp>
      <p:grpSp>
        <p:nvGrpSpPr>
          <p:cNvPr id="27" name="footer"/>
          <p:cNvGrpSpPr/>
          <p:nvPr/>
        </p:nvGrpSpPr>
        <p:grpSpPr>
          <a:xfrm>
            <a:off x="565404" y="6404610"/>
            <a:ext cx="11061192" cy="234696"/>
            <a:chOff x="565404" y="6404610"/>
            <a:chExt cx="11061192" cy="234696"/>
          </a:xfrm>
        </p:grpSpPr>
        <p:sp>
          <p:nvSpPr>
            <p:cNvPr id="25" name="TextBox 25"/>
            <p:cNvSpPr txBox="1"/>
            <p:nvPr/>
          </p:nvSpPr>
          <p:spPr>
            <a:xfrm>
              <a:off x="565404" y="6404610"/>
              <a:ext cx="40190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2 · Backend için Modern JavaScript Temelleri</a:t>
              </a:r>
            </a:p>
          </p:txBody>
        </p:sp>
        <p:sp>
          <p:nvSpPr>
            <p:cNvPr id="26" name="TextBox 26"/>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8" name="bridge-field"/>
          <p:cNvGrpSpPr/>
          <p:nvPr/>
        </p:nvGrpSpPr>
        <p:grpSpPr>
          <a:xfrm>
            <a:off x="0" y="0"/>
            <a:ext cx="4953000" cy="6858000"/>
            <a:chOff x="0" y="0"/>
            <a:chExt cx="4953000" cy="6858000"/>
          </a:xfrm>
        </p:grpSpPr>
        <p:sp>
          <p:nvSpPr>
            <p:cNvPr id="2" name="Rectangle 2"/>
            <p:cNvSpPr/>
            <p:nvPr/>
          </p:nvSpPr>
          <p:spPr>
            <a:xfrm>
              <a:off x="0" y="0"/>
              <a:ext cx="4953000" cy="6858000"/>
            </a:xfrm>
            <a:prstGeom prst="rect">
              <a:avLst/>
            </a:prstGeom>
            <a:gradFill>
              <a:gsLst>
                <a:gs pos="0">
                  <a:srgbClr val="12355B"/>
                </a:gs>
                <a:gs pos="100000">
                  <a:srgbClr val="0C2743"/>
                </a:gs>
              </a:gsLst>
              <a:lin ang="5400000" scaled="1"/>
            </a:gradFill>
            <a:ln>
              <a:noFill/>
            </a:ln>
          </p:spPr>
        </p:sp>
        <p:sp>
          <p:nvSpPr>
            <p:cNvPr id="3" name="Rectangle 3"/>
            <p:cNvSpPr/>
            <p:nvPr/>
          </p:nvSpPr>
          <p:spPr>
            <a:xfrm>
              <a:off x="0" y="0"/>
              <a:ext cx="4953000" cy="114300"/>
            </a:xfrm>
            <a:prstGeom prst="rect">
              <a:avLst/>
            </a:prstGeom>
            <a:solidFill>
              <a:srgbClr val="00A6A6"/>
            </a:solidFill>
            <a:ln>
              <a:noFill/>
            </a:ln>
          </p:spPr>
        </p:sp>
        <p:sp>
          <p:nvSpPr>
            <p:cNvPr id="4" name="TextBox 4"/>
            <p:cNvSpPr txBox="1"/>
            <p:nvPr/>
          </p:nvSpPr>
          <p:spPr>
            <a:xfrm>
              <a:off x="560070" y="1185862"/>
              <a:ext cx="2509571"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SIRADAKİ BÖLÜM</a:t>
              </a:r>
            </a:p>
          </p:txBody>
        </p:sp>
        <p:sp>
          <p:nvSpPr>
            <p:cNvPr id="5" name="TextBox 5"/>
            <p:cNvSpPr txBox="1"/>
            <p:nvPr/>
          </p:nvSpPr>
          <p:spPr>
            <a:xfrm>
              <a:off x="557022" y="1883092"/>
              <a:ext cx="3810429" cy="1471803"/>
            </a:xfrm>
            <a:prstGeom prst="rect">
              <a:avLst/>
            </a:prstGeom>
            <a:noFill/>
            <a:ln>
              <a:noFill/>
            </a:ln>
          </p:spPr>
          <p:txBody>
            <a:bodyPr wrap="none" lIns="0" tIns="0" rIns="0" bIns="0" anchor="t" anchorCtr="0">
              <a:spAutoFit/>
            </a:bodyPr>
            <a:lstStyle/>
            <a:p>
              <a:pPr algn="l">
                <a:lnSpc>
                  <a:spcPts val="3600"/>
                </a:lnSpc>
              </a:pPr>
              <a:r>
                <a:rPr lang="tr-TR" sz="2850" b="1" dirty="0">
                  <a:solidFill>
                    <a:srgbClr val="F7FAFC"/>
                  </a:solidFill>
                  <a:latin typeface="+mj-lt"/>
                  <a:ea typeface="+mj-ea"/>
                  <a:cs typeface="+mj-cs"/>
                </a:rPr>
                <a:t>Temelleri TypeScript</a:t>
              </a:r>
              <a:br/>
              <a:r>
                <a:rPr lang="tr-TR" sz="2850" b="1" dirty="0">
                  <a:solidFill>
                    <a:srgbClr val="F7FAFC"/>
                  </a:solidFill>
                  <a:latin typeface="+mj-lt"/>
                  <a:ea typeface="+mj-ea"/>
                  <a:cs typeface="+mj-cs"/>
                </a:rPr>
                <a:t>tür sistemiyle</a:t>
              </a:r>
              <a:br/>
              <a:r>
                <a:rPr lang="tr-TR" sz="2850" b="1" dirty="0">
                  <a:solidFill>
                    <a:srgbClr val="F7FAFC"/>
                  </a:solidFill>
                  <a:latin typeface="+mj-lt"/>
                  <a:ea typeface="+mj-ea"/>
                  <a:cs typeface="+mj-cs"/>
                </a:rPr>
                <a:t>güçlendirmek</a:t>
              </a:r>
            </a:p>
          </p:txBody>
        </p:sp>
        <p:sp>
          <p:nvSpPr>
            <p:cNvPr id="6" name="TextBox 6"/>
            <p:cNvSpPr txBox="1"/>
            <p:nvPr/>
          </p:nvSpPr>
          <p:spPr>
            <a:xfrm>
              <a:off x="563499" y="3830479"/>
              <a:ext cx="3728212" cy="879538"/>
            </a:xfrm>
            <a:prstGeom prst="rect">
              <a:avLst/>
            </a:prstGeom>
            <a:noFill/>
            <a:ln>
              <a:noFill/>
            </a:ln>
          </p:spPr>
          <p:txBody>
            <a:bodyPr wrap="none" lIns="0" tIns="0" rIns="0" bIns="0" anchor="t" anchorCtr="0">
              <a:spAutoFit/>
            </a:bodyPr>
            <a:lstStyle/>
            <a:p>
              <a:pPr algn="l">
                <a:lnSpc>
                  <a:spcPts val="2250"/>
                </a:lnSpc>
              </a:pPr>
              <a:r>
                <a:rPr lang="tr-TR" sz="1580" dirty="0">
                  <a:solidFill>
                    <a:srgbClr val="EAF4F6"/>
                  </a:solidFill>
                  <a:latin typeface="+mn-lt"/>
                  <a:ea typeface="+mn-ea"/>
                  <a:cs typeface="+mn-cs"/>
                </a:rPr>
                <a:t>Burada yazdığınız servis, Promise ve</a:t>
              </a:r>
              <a:br/>
              <a:r>
                <a:rPr lang="tr-TR" sz="1580" dirty="0">
                  <a:solidFill>
                    <a:srgbClr val="EAF4F6"/>
                  </a:solidFill>
                  <a:latin typeface="+mn-lt"/>
                  <a:ea typeface="+mn-ea"/>
                  <a:cs typeface="+mn-cs"/>
                </a:rPr>
                <a:t>hata yönetimi kodu doğrudan</a:t>
              </a:r>
              <a:br/>
              <a:r>
                <a:rPr lang="tr-TR" sz="1580" dirty="0">
                  <a:solidFill>
                    <a:srgbClr val="EAF4F6"/>
                  </a:solidFill>
                  <a:latin typeface="+mn-lt"/>
                  <a:ea typeface="+mn-ea"/>
                  <a:cs typeface="+mn-cs"/>
                </a:rPr>
                <a:t>yeniden kullanılacak.</a:t>
              </a:r>
            </a:p>
          </p:txBody>
        </p:sp>
        <p:sp>
          <p:nvSpPr>
            <p:cNvPr id="7" name="TextBox 7"/>
            <p:cNvSpPr txBox="1"/>
            <p:nvPr/>
          </p:nvSpPr>
          <p:spPr>
            <a:xfrm>
              <a:off x="565404" y="6233160"/>
              <a:ext cx="4019093" cy="234696"/>
            </a:xfrm>
            <a:prstGeom prst="rect">
              <a:avLst/>
            </a:prstGeom>
            <a:noFill/>
            <a:ln>
              <a:noFill/>
            </a:ln>
          </p:spPr>
          <p:txBody>
            <a:bodyPr wrap="none" lIns="0" tIns="0" rIns="0" bIns="0" anchor="t" anchorCtr="0">
              <a:spAutoFit/>
            </a:bodyPr>
            <a:lstStyle/>
            <a:p>
              <a:pPr algn="l"/>
              <a:r>
                <a:rPr lang="tr-TR" sz="1200" dirty="0">
                  <a:solidFill>
                    <a:srgbClr val="B8CBD3"/>
                  </a:solidFill>
                  <a:latin typeface="+mn-lt"/>
                  <a:ea typeface="+mn-ea"/>
                  <a:cs typeface="+mn-cs"/>
                </a:rPr>
                <a:t>Bölüm 2 · Backend için Modern JavaScript Temelleri</a:t>
              </a:r>
            </a:p>
          </p:txBody>
        </p:sp>
      </p:grpSp>
      <p:grpSp>
        <p:nvGrpSpPr>
          <p:cNvPr id="25" name="next-topics"/>
          <p:cNvGrpSpPr/>
          <p:nvPr/>
        </p:nvGrpSpPr>
        <p:grpSpPr>
          <a:xfrm>
            <a:off x="5515356" y="1329690"/>
            <a:ext cx="5914644" cy="2499360"/>
            <a:chOff x="5515356" y="1329690"/>
            <a:chExt cx="5914644" cy="2499360"/>
          </a:xfrm>
        </p:grpSpPr>
        <p:sp>
          <p:nvSpPr>
            <p:cNvPr id="9" name="TextBox 9"/>
            <p:cNvSpPr txBox="1"/>
            <p:nvPr/>
          </p:nvSpPr>
          <p:spPr>
            <a:xfrm>
              <a:off x="5515356" y="1329690"/>
              <a:ext cx="382973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Sonraki bölümde çalışılacaklar</a:t>
              </a:r>
            </a:p>
          </p:txBody>
        </p:sp>
        <p:grpSp>
          <p:nvGrpSpPr>
            <p:cNvPr id="14" name="Group 14"/>
            <p:cNvGrpSpPr/>
            <p:nvPr/>
          </p:nvGrpSpPr>
          <p:grpSpPr>
            <a:xfrm>
              <a:off x="5524500" y="1771650"/>
              <a:ext cx="5905500" cy="2057400"/>
              <a:chOff x="5524500" y="1771650"/>
              <a:chExt cx="5905500" cy="2057400"/>
            </a:xfrm>
          </p:grpSpPr>
          <p:sp>
            <p:nvSpPr>
              <p:cNvPr id="10" name="Rectangle 10"/>
              <p:cNvSpPr/>
              <p:nvPr/>
            </p:nvSpPr>
            <p:spPr>
              <a:xfrm>
                <a:off x="5524500" y="1771650"/>
                <a:ext cx="2857500" cy="952500"/>
              </a:xfrm>
              <a:prstGeom prst="rect">
                <a:avLst/>
              </a:prstGeom>
              <a:solidFill>
                <a:srgbClr val="FFFFFF"/>
              </a:solidFill>
              <a:ln w="19050">
                <a:solidFill>
                  <a:srgbClr val="2E86AB"/>
                </a:solidFill>
              </a:ln>
            </p:spPr>
          </p:sp>
          <p:sp>
            <p:nvSpPr>
              <p:cNvPr id="11" name="Rectangle 11"/>
              <p:cNvSpPr/>
              <p:nvPr/>
            </p:nvSpPr>
            <p:spPr>
              <a:xfrm>
                <a:off x="8572500" y="1771650"/>
                <a:ext cx="2857500" cy="952500"/>
              </a:xfrm>
              <a:prstGeom prst="rect">
                <a:avLst/>
              </a:prstGeom>
              <a:solidFill>
                <a:srgbClr val="FFFFFF"/>
              </a:solidFill>
              <a:ln w="19050">
                <a:solidFill>
                  <a:srgbClr val="2E86AB"/>
                </a:solidFill>
              </a:ln>
            </p:spPr>
          </p:sp>
          <p:sp>
            <p:nvSpPr>
              <p:cNvPr id="12" name="Rectangle 12"/>
              <p:cNvSpPr/>
              <p:nvPr/>
            </p:nvSpPr>
            <p:spPr>
              <a:xfrm>
                <a:off x="5524500" y="2876550"/>
                <a:ext cx="2857500" cy="952500"/>
              </a:xfrm>
              <a:prstGeom prst="rect">
                <a:avLst/>
              </a:prstGeom>
              <a:solidFill>
                <a:srgbClr val="FFFFFF"/>
              </a:solidFill>
              <a:ln w="19050">
                <a:solidFill>
                  <a:srgbClr val="2E86AB"/>
                </a:solidFill>
              </a:ln>
            </p:spPr>
          </p:sp>
          <p:sp>
            <p:nvSpPr>
              <p:cNvPr id="13" name="Rectangle 13"/>
              <p:cNvSpPr/>
              <p:nvPr/>
            </p:nvSpPr>
            <p:spPr>
              <a:xfrm>
                <a:off x="8572500" y="2876550"/>
                <a:ext cx="2857500" cy="952500"/>
              </a:xfrm>
              <a:prstGeom prst="rect">
                <a:avLst/>
              </a:prstGeom>
              <a:solidFill>
                <a:srgbClr val="FFFFFF"/>
              </a:solidFill>
              <a:ln w="19050">
                <a:solidFill>
                  <a:srgbClr val="2E86AB"/>
                </a:solidFill>
              </a:ln>
            </p:spPr>
          </p:sp>
        </p:grpSp>
        <p:grpSp>
          <p:nvGrpSpPr>
            <p:cNvPr id="19" name="Group 19"/>
            <p:cNvGrpSpPr/>
            <p:nvPr/>
          </p:nvGrpSpPr>
          <p:grpSpPr>
            <a:xfrm>
              <a:off x="5705856" y="1958340"/>
              <a:ext cx="5160502" cy="1456944"/>
              <a:chOff x="5705856" y="1958340"/>
              <a:chExt cx="5160502" cy="1456944"/>
            </a:xfrm>
          </p:grpSpPr>
          <p:sp>
            <p:nvSpPr>
              <p:cNvPr id="15" name="TextBox 15"/>
              <p:cNvSpPr txBox="1"/>
              <p:nvPr/>
            </p:nvSpPr>
            <p:spPr>
              <a:xfrm>
                <a:off x="5705856" y="1958340"/>
                <a:ext cx="122163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Arayüzler</a:t>
                </a:r>
              </a:p>
            </p:txBody>
          </p:sp>
          <p:sp>
            <p:nvSpPr>
              <p:cNvPr id="16" name="TextBox 16"/>
              <p:cNvSpPr txBox="1"/>
              <p:nvPr/>
            </p:nvSpPr>
            <p:spPr>
              <a:xfrm>
                <a:off x="8753856" y="1958340"/>
                <a:ext cx="162945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Tür daraltma</a:t>
                </a:r>
              </a:p>
            </p:txBody>
          </p:sp>
          <p:sp>
            <p:nvSpPr>
              <p:cNvPr id="17" name="TextBox 17"/>
              <p:cNvSpPr txBox="1"/>
              <p:nvPr/>
            </p:nvSpPr>
            <p:spPr>
              <a:xfrm>
                <a:off x="5705856" y="3063240"/>
                <a:ext cx="10816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Generics</a:t>
                </a:r>
              </a:p>
            </p:txBody>
          </p:sp>
          <p:sp>
            <p:nvSpPr>
              <p:cNvPr id="18" name="TextBox 18"/>
              <p:cNvSpPr txBox="1"/>
              <p:nvPr/>
            </p:nvSpPr>
            <p:spPr>
              <a:xfrm>
                <a:off x="8753856" y="3063240"/>
                <a:ext cx="211250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Derleme denetimi</a:t>
                </a:r>
              </a:p>
            </p:txBody>
          </p:sp>
        </p:grpSp>
        <p:grpSp>
          <p:nvGrpSpPr>
            <p:cNvPr id="24" name="Group 24"/>
            <p:cNvGrpSpPr/>
            <p:nvPr/>
          </p:nvGrpSpPr>
          <p:grpSpPr>
            <a:xfrm>
              <a:off x="5706999" y="2325529"/>
              <a:ext cx="5701477" cy="1412939"/>
              <a:chOff x="5706999" y="2325529"/>
              <a:chExt cx="5701477" cy="1412939"/>
            </a:xfrm>
          </p:grpSpPr>
          <p:sp>
            <p:nvSpPr>
              <p:cNvPr id="20" name="TextBox 20"/>
              <p:cNvSpPr txBox="1"/>
              <p:nvPr/>
            </p:nvSpPr>
            <p:spPr>
              <a:xfrm>
                <a:off x="5706999" y="2325529"/>
                <a:ext cx="178140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veri sözleşmeleri</a:t>
                </a:r>
              </a:p>
            </p:txBody>
          </p:sp>
          <p:sp>
            <p:nvSpPr>
              <p:cNvPr id="21" name="TextBox 21"/>
              <p:cNvSpPr txBox="1"/>
              <p:nvPr/>
            </p:nvSpPr>
            <p:spPr>
              <a:xfrm>
                <a:off x="8754999" y="2325529"/>
                <a:ext cx="224934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unknown → güvenli tür</a:t>
                </a:r>
              </a:p>
            </p:txBody>
          </p:sp>
          <p:sp>
            <p:nvSpPr>
              <p:cNvPr id="22" name="TextBox 22"/>
              <p:cNvSpPr txBox="1"/>
              <p:nvPr/>
            </p:nvSpPr>
            <p:spPr>
              <a:xfrm>
                <a:off x="5706999" y="3430429"/>
                <a:ext cx="249801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Promise&lt;T&gt; ve servisler</a:t>
                </a:r>
              </a:p>
            </p:txBody>
          </p:sp>
          <p:sp>
            <p:nvSpPr>
              <p:cNvPr id="23" name="TextBox 23"/>
              <p:cNvSpPr txBox="1"/>
              <p:nvPr/>
            </p:nvSpPr>
            <p:spPr>
              <a:xfrm>
                <a:off x="8754999" y="3430429"/>
                <a:ext cx="265347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hatayı çalıştırmadan bul</a:t>
                </a:r>
              </a:p>
            </p:txBody>
          </p:sp>
        </p:grpSp>
      </p:grpSp>
      <p:grpSp>
        <p:nvGrpSpPr>
          <p:cNvPr id="43" name="layer-habit"/>
          <p:cNvGrpSpPr/>
          <p:nvPr/>
        </p:nvGrpSpPr>
        <p:grpSpPr>
          <a:xfrm>
            <a:off x="5515356" y="4339590"/>
            <a:ext cx="6105144" cy="1799178"/>
            <a:chOff x="5515356" y="4339590"/>
            <a:chExt cx="6105144" cy="1799178"/>
          </a:xfrm>
        </p:grpSpPr>
        <p:sp>
          <p:nvSpPr>
            <p:cNvPr id="26" name="TextBox 26"/>
            <p:cNvSpPr txBox="1"/>
            <p:nvPr/>
          </p:nvSpPr>
          <p:spPr>
            <a:xfrm>
              <a:off x="5515356" y="4339590"/>
              <a:ext cx="49245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Taşınacak alışkanlık: modüler düşünme</a:t>
              </a:r>
            </a:p>
          </p:txBody>
        </p:sp>
        <p:grpSp>
          <p:nvGrpSpPr>
            <p:cNvPr id="29" name="Group 29"/>
            <p:cNvGrpSpPr/>
            <p:nvPr/>
          </p:nvGrpSpPr>
          <p:grpSpPr>
            <a:xfrm>
              <a:off x="7429500" y="5200650"/>
              <a:ext cx="2419350" cy="1"/>
              <a:chOff x="7429500" y="5200650"/>
              <a:chExt cx="2419350" cy="1"/>
            </a:xfrm>
          </p:grpSpPr>
          <p:sp>
            <p:nvSpPr>
              <p:cNvPr id="27" name="Line 27"/>
              <p:cNvSpPr/>
              <p:nvPr/>
            </p:nvSpPr>
            <p:spPr>
              <a:xfrm>
                <a:off x="7429500" y="5200650"/>
                <a:ext cx="323850" cy="1"/>
              </a:xfrm>
              <a:prstGeom prst="line">
                <a:avLst/>
              </a:prstGeom>
              <a:noFill/>
              <a:ln w="28575">
                <a:solidFill>
                  <a:srgbClr val="00A6A6"/>
                </a:solidFill>
                <a:tailEnd type="triangle" w="lg" len="lg"/>
              </a:ln>
            </p:spPr>
          </p:sp>
          <p:sp>
            <p:nvSpPr>
              <p:cNvPr id="28" name="Line 28"/>
              <p:cNvSpPr/>
              <p:nvPr/>
            </p:nvSpPr>
            <p:spPr>
              <a:xfrm>
                <a:off x="9525000" y="5200650"/>
                <a:ext cx="323850" cy="1"/>
              </a:xfrm>
              <a:prstGeom prst="line">
                <a:avLst/>
              </a:prstGeom>
              <a:noFill/>
              <a:ln w="28575">
                <a:solidFill>
                  <a:srgbClr val="00A6A6"/>
                </a:solidFill>
                <a:tailEnd type="triangle" w="lg" len="lg"/>
              </a:ln>
            </p:spPr>
          </p:sp>
        </p:grpSp>
        <p:grpSp>
          <p:nvGrpSpPr>
            <p:cNvPr id="33" name="Group 33"/>
            <p:cNvGrpSpPr/>
            <p:nvPr/>
          </p:nvGrpSpPr>
          <p:grpSpPr>
            <a:xfrm>
              <a:off x="5524500" y="4819650"/>
              <a:ext cx="6096000" cy="762000"/>
              <a:chOff x="5524500" y="4819650"/>
              <a:chExt cx="6096000" cy="762000"/>
            </a:xfrm>
          </p:grpSpPr>
          <p:sp>
            <p:nvSpPr>
              <p:cNvPr id="30" name="Rectangle 30"/>
              <p:cNvSpPr/>
              <p:nvPr/>
            </p:nvSpPr>
            <p:spPr>
              <a:xfrm>
                <a:off x="5524500" y="4819650"/>
                <a:ext cx="1905000" cy="762000"/>
              </a:xfrm>
              <a:prstGeom prst="rect">
                <a:avLst/>
              </a:prstGeom>
              <a:solidFill>
                <a:srgbClr val="12355B"/>
              </a:solidFill>
              <a:ln>
                <a:noFill/>
              </a:ln>
            </p:spPr>
          </p:sp>
          <p:sp>
            <p:nvSpPr>
              <p:cNvPr id="31" name="Rectangle 31"/>
              <p:cNvSpPr/>
              <p:nvPr/>
            </p:nvSpPr>
            <p:spPr>
              <a:xfrm>
                <a:off x="7810500" y="4819650"/>
                <a:ext cx="1714500" cy="762000"/>
              </a:xfrm>
              <a:prstGeom prst="rect">
                <a:avLst/>
              </a:prstGeom>
              <a:solidFill>
                <a:srgbClr val="12355B"/>
              </a:solidFill>
              <a:ln>
                <a:noFill/>
              </a:ln>
            </p:spPr>
          </p:sp>
          <p:sp>
            <p:nvSpPr>
              <p:cNvPr id="32" name="Rectangle 32"/>
              <p:cNvSpPr/>
              <p:nvPr/>
            </p:nvSpPr>
            <p:spPr>
              <a:xfrm>
                <a:off x="9906000" y="4819650"/>
                <a:ext cx="1714500" cy="762000"/>
              </a:xfrm>
              <a:prstGeom prst="rect">
                <a:avLst/>
              </a:prstGeom>
              <a:solidFill>
                <a:srgbClr val="12355B"/>
              </a:solidFill>
              <a:ln>
                <a:noFill/>
              </a:ln>
            </p:spPr>
          </p:sp>
        </p:grpSp>
        <p:grpSp>
          <p:nvGrpSpPr>
            <p:cNvPr id="37" name="Group 37"/>
            <p:cNvGrpSpPr/>
            <p:nvPr/>
          </p:nvGrpSpPr>
          <p:grpSpPr>
            <a:xfrm>
              <a:off x="5806664" y="4973479"/>
              <a:ext cx="5587529" cy="308039"/>
              <a:chOff x="5806664" y="4973479"/>
              <a:chExt cx="5587529" cy="308039"/>
            </a:xfrm>
          </p:grpSpPr>
          <p:sp>
            <p:nvSpPr>
              <p:cNvPr id="34" name="TextBox 34"/>
              <p:cNvSpPr txBox="1"/>
              <p:nvPr/>
            </p:nvSpPr>
            <p:spPr>
              <a:xfrm>
                <a:off x="5806664" y="4973479"/>
                <a:ext cx="1340671" cy="308039"/>
              </a:xfrm>
              <a:prstGeom prst="rect">
                <a:avLst/>
              </a:prstGeom>
              <a:noFill/>
              <a:ln>
                <a:noFill/>
              </a:ln>
            </p:spPr>
            <p:txBody>
              <a:bodyPr wrap="none" lIns="0" tIns="0" rIns="0" bIns="0" anchor="t" anchorCtr="0">
                <a:spAutoFit/>
              </a:bodyPr>
              <a:lstStyle/>
              <a:p>
                <a:pPr algn="ctr"/>
                <a:r>
                  <a:rPr lang="tr-TR" sz="1580" b="1" dirty="0">
                    <a:solidFill>
                      <a:srgbClr val="F7FAFC"/>
                    </a:solidFill>
                    <a:latin typeface="+mn-lt"/>
                    <a:ea typeface="+mn-ea"/>
                    <a:cs typeface="+mn-cs"/>
                  </a:rPr>
                  <a:t>HTTP rotası</a:t>
                </a:r>
              </a:p>
            </p:txBody>
          </p:sp>
          <p:sp>
            <p:nvSpPr>
              <p:cNvPr id="35" name="TextBox 35"/>
              <p:cNvSpPr txBox="1"/>
              <p:nvPr/>
            </p:nvSpPr>
            <p:spPr>
              <a:xfrm>
                <a:off x="8315951" y="4973479"/>
                <a:ext cx="703599" cy="308039"/>
              </a:xfrm>
              <a:prstGeom prst="rect">
                <a:avLst/>
              </a:prstGeom>
              <a:noFill/>
              <a:ln>
                <a:noFill/>
              </a:ln>
            </p:spPr>
            <p:txBody>
              <a:bodyPr wrap="none" lIns="0" tIns="0" rIns="0" bIns="0" anchor="t" anchorCtr="0">
                <a:spAutoFit/>
              </a:bodyPr>
              <a:lstStyle/>
              <a:p>
                <a:pPr algn="ctr"/>
                <a:r>
                  <a:rPr lang="tr-TR" sz="1580" b="1" dirty="0">
                    <a:solidFill>
                      <a:srgbClr val="F7FAFC"/>
                    </a:solidFill>
                    <a:latin typeface="+mn-lt"/>
                    <a:ea typeface="+mn-ea"/>
                    <a:cs typeface="+mn-cs"/>
                  </a:rPr>
                  <a:t>Servis</a:t>
                </a:r>
              </a:p>
            </p:txBody>
          </p:sp>
          <p:sp>
            <p:nvSpPr>
              <p:cNvPr id="36" name="TextBox 36"/>
              <p:cNvSpPr txBox="1"/>
              <p:nvPr/>
            </p:nvSpPr>
            <p:spPr>
              <a:xfrm>
                <a:off x="10132306" y="4973479"/>
                <a:ext cx="1261887" cy="308039"/>
              </a:xfrm>
              <a:prstGeom prst="rect">
                <a:avLst/>
              </a:prstGeom>
              <a:noFill/>
              <a:ln>
                <a:noFill/>
              </a:ln>
            </p:spPr>
            <p:txBody>
              <a:bodyPr wrap="none" lIns="0" tIns="0" rIns="0" bIns="0" anchor="t" anchorCtr="0">
                <a:spAutoFit/>
              </a:bodyPr>
              <a:lstStyle/>
              <a:p>
                <a:pPr algn="ctr"/>
                <a:r>
                  <a:rPr lang="tr-TR" sz="1580" b="1" dirty="0">
                    <a:solidFill>
                      <a:srgbClr val="F7FAFC"/>
                    </a:solidFill>
                    <a:latin typeface="+mn-lt"/>
                    <a:ea typeface="+mn-ea"/>
                    <a:cs typeface="+mn-cs"/>
                  </a:rPr>
                  <a:t>Veri erişimi</a:t>
                </a:r>
              </a:p>
            </p:txBody>
          </p:sp>
        </p:grpSp>
        <p:grpSp>
          <p:nvGrpSpPr>
            <p:cNvPr id="41" name="Group 41"/>
            <p:cNvGrpSpPr/>
            <p:nvPr/>
          </p:nvGrpSpPr>
          <p:grpSpPr>
            <a:xfrm>
              <a:off x="5885307" y="5261610"/>
              <a:ext cx="5291937" cy="234696"/>
              <a:chOff x="5885307" y="5261610"/>
              <a:chExt cx="5291937" cy="234696"/>
            </a:xfrm>
          </p:grpSpPr>
          <p:sp>
            <p:nvSpPr>
              <p:cNvPr id="38" name="TextBox 38"/>
              <p:cNvSpPr txBox="1"/>
              <p:nvPr/>
            </p:nvSpPr>
            <p:spPr>
              <a:xfrm>
                <a:off x="5885307" y="5261610"/>
                <a:ext cx="1183386"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isteği karşılar</a:t>
                </a:r>
              </a:p>
            </p:txBody>
          </p:sp>
          <p:sp>
            <p:nvSpPr>
              <p:cNvPr id="39" name="TextBox 39"/>
              <p:cNvSpPr txBox="1"/>
              <p:nvPr/>
            </p:nvSpPr>
            <p:spPr>
              <a:xfrm>
                <a:off x="8100289" y="5261610"/>
                <a:ext cx="1134923"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kuralı uygular</a:t>
                </a:r>
              </a:p>
            </p:txBody>
          </p:sp>
          <p:sp>
            <p:nvSpPr>
              <p:cNvPr id="40" name="TextBox 40"/>
              <p:cNvSpPr txBox="1"/>
              <p:nvPr/>
            </p:nvSpPr>
            <p:spPr>
              <a:xfrm>
                <a:off x="10349255" y="5261610"/>
                <a:ext cx="827989"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veriyi alır</a:t>
                </a:r>
              </a:p>
            </p:txBody>
          </p:sp>
        </p:grpSp>
        <p:sp>
          <p:nvSpPr>
            <p:cNvPr id="42" name="TextBox 42"/>
            <p:cNvSpPr txBox="1"/>
            <p:nvPr/>
          </p:nvSpPr>
          <p:spPr>
            <a:xfrm>
              <a:off x="5516499" y="5830729"/>
              <a:ext cx="510637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Büyüyen uygulama okunur ve test edilebilir kalır.</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02-modern-javascript-backend-20260914">
  <a:themeElements>
    <a:clrScheme name="b02-modern-javascript-backend-2026091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2-modern-javascript-backend-20260914">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2-modern-javascript-backend-2026091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02-modern-javascript-backend-20260914">
  <a:themeElements>
    <a:clrScheme name="b02-modern-javascript-backend-2026091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2-modern-javascript-backend-20260914">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2-modern-javascript-backend-2026091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2026-09-19T21:22:40Z</dcterms:created>
  <dcterms:modified xsi:type="dcterms:W3CDTF">2026-09-19T21:22:40Z</dcterms:modified>
  <cp:category/>
  <cp:contentStatus/>
</cp:coreProperties>
</file>