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30"/>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2000" cy="6858000" type="screen16x9"/>
  <p:notesSz cx="6858000" cy="9144000"/>
  <p:defaultText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  <Relationship Id="rId30"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tr-TR"/>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tr-TR"/>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tr-TR"/>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tr-TR"/>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tr-TR"/>
          </a:p>
        </p:txBody>
      </p:sp>
    </p:spTree>
  </p:cSld>
  <p:clrMap bg1="lt1" tx1="dk1" bg2="lt2" tx2="dk2" accent1="accent1" accent2="accent2" accent3="accent3" accent4="accent4" accent5="accent5" accent6="accent6" hlink="hlink" folHlink="folHlink"/>
  <p:hf/>
  <p:notesStyle>
    <a:lvl1pPr marL="0" algn="l">
      <a:defRPr sz="1200" lang="tr-TR"/>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 kitabın giriş bölümüdür ve bütün kitabın üzerine kurulacağı mimari çerçeveyi verir. Açılışta öğrencilere şunu hatırlatmakta yarar var: web uygulamaları ilk bakışta tek parça görünür, kullanıcı bir düğmeye tıklar ve ekranda bir sonuç görür; oysa bu deneyimin arkasında istemci, ağ, güvenlik katmanı, API, iş kuralları ve veri kaynağı gibi farklı sorumluluklar bulunur. Kitap boyunca iki ayrı uygulama alanı kullanılacağını da burada söyleyin: kavramlar tanıdık bir üniversite kütüphanesi API’si üzerinden anlatılır, proje alanı ise Üniversite Laboratuvar Yönetim Sistemi’dir. Bu ayrımın pedagojik gerekçesi aktarımdır; bir kavramı öğrendiğini gösteren şey onu öğrenildiği örnekte tekrarlayabilmek değil, yeni bir problemde kullanabilmektir. Son olarak sürüm tabanını anın: örnekler Node.js 24 LTS, TypeScript 5.9, Express 5 ve PostgreSQL 17 üzerine yazılmıştır ve bir örnek beklenenden farklı davrandığında ilk bakılacak yer çoğu zaman kurulu sürümdür.</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beş soru, bölümün değerlendirme çerçevesidir; öğrencilerden bölüm boyunca bu soruları akıllarında tutmalarını isteyin. Sorular rastgele seçilmemiştir: ilk ikisi sorumluluk dağılımı ile akışı, üçüncüsü sık karıştırılan backend ve API ayrımını, dördüncüsü güvenlik gerekçesini, beşincisi ise üretim ortamına geçerken ortaya çıkan ters vekil kararını hedefler. Sağdaki bölüm hedefi, bu soruların toplu karşılığıdır ve bölüm sonunda öğrencinin üç şeyi yapabilmesi beklenir: bileşenleri tanımlamak, TypeScript ile basit istek-yanıt akışları kurmak ve reverse proxy kararlarını yorumlamak. Bu hedefin “tanımlayabilme” değil “yorumlayabilme” düzeyinde yazıldığını vurgulayın; ezber değil gerekçelendirme beklenmektedir.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bölümdeki öğrenme çıktıları yalnızca kavram tanımını hatırlama düzeyinde ele alınmaz; öğrencinin istemci ve sunucu rollerini gerekçelendirmesi, bir HTTP isteğinin katmanlar arasındaki yolunu izleyebilmesi ve basit bir API sözleşmesinde beklenen yanıtı denetleyebilmesi beklenir. Ölçütlerin her biri gözlemlenebilir bir davranışa bağlanmıştır, çünkü bölüm içindeki kod örnekleri, hata ayıklama etkinliği ve mini uygulama birlikte bir değerlendirme kanıtı oluşturur. Bir çalışmanın yeterli sayılabilmesi için öğrencinin seçtiği durum kodunu, yaptığı veri doğrulamasını ve ilgili katmanın sorumluluğunu gerekçesiyle açıklaması gerekir. İkinci hedefi anlatırken “HTTPS kullanıyoruz, o hâlde güvendeyiz” cümlesinin neden hatalı olduğunu sınıfa sordurmak iyi bir ısınma sorusudur; bu hatayı gösterebilmek başlı başına bir başarı ölçütüdür.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harita, bir önceki akış şemasından farklı bir iş yapar: orada sıralama, burada sorumluluk ve bağımlılık gösterilir. Düz oklar bir kavramın diğerine hizmet ettiği temel bağımlılığı, kesikli ok ise dolaylı ama önemli bir ilişkiyi belirtir; API sözleşmesi backend’in dışa açık yüzünü tanımlar, reverse proxy ise istemci ile backend arasındaki güvenlik ve yönlendirme sorumluluğunu üstlenir. Kaynak bölümdeki sorumluluk matrisinden birkaç sınırı sözlü olarak ekleyebilirsiniz: istemci-sunucu ayrımı sunucu iş mantığını istemcide çalıştırmaz, HTTP taşınan verinin iş açısından geçerliliğini denetlemez, API kendi başına veri saklamaz ve reverse proxy alan odaklı iş mantığını çalıştırmaz. Her kavramın “olmazsa ne olur” karşılığını da sorun; örneğin reverse proxy olmazsa backend sunucuları doğrudan internete açılır ve port taramalarına karşı korunmasız kalır. Bu sorumluluğun Nginx ile somut yapılandırması Bölüm 15’te ele alınacaktır.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şemanın asıl mesajı, kullanıcının eyleminin doğrudan veritabanına gitmemesidir; her katman bir sonraki katmana kontrollü ve tanımlı bir sorumluluk devreder. Akışı somutlaştırmak için öğrenci bilgi sistemi senaryosunu kullanın: öğrenci tarayıcıda “notlarımı göster” düğmesine basar, tarayıcı isteği hazırlar, ters vekil isteği doğru uygulamaya yönlendirir, backend öğrencinin kimliğini denetler ve notları bulur, veri katmanı ise kalıcı veriyi sağlar. Kesikli dönüş yolu, yanıtın aynı zinciri geriye doğru izlediğini ve her adımda durum kodu, başlık ve içerik taşıdığını gösterir. Bu bölümdeki katman ayrımının Üniversite Laboratuvar Yönetim Sistemi’ne yansıması şudur: tarayıcı istemci, Express API sunucu, PostgreSQL veri katmanı ve Nginx ters vekil rollerini üstlenir. Öğrencilerden bir senaryo verildiğinde her adımın hangi katmanda gerçekleştiğini işaretlemelerini istemek, birinci öğrenme hedefinin doğrudan ölçümüdür.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İstemci-sunucu mimarisi, bir bileşenin hizmet talep ettiği, diğerinin ise bu talebi işleyerek sonuç ürettiği iletişim modelidir; istek-yanıt ise bu mimarinin iletişim biçimidir. Yanıtın her zaman başarılı veri taşımak zorunda olmadığını belirtin: sorunun nedenini bildiren bir hata sonucu da geçerli bir yanıttır. Restoran benzetmesini kullanırken benzetmenin sınırını da söyleyin; müşteri doğrudan mutfağa girip yemeği hazırlamaz, çünkü sorumluluklar ayrılmıştır, ama gerçek sistemde garson yerine ağ ve protokol vardır. Aynı mantık kütüphane örneğinde de görülür: okuyucu kitabın yerini talep eder, görevli katalog sistemini kullanır ve sonucu verir; okuyucunun katalog veritabanını doğrudan değiştirmesine izin verilmez. Rol asimetrisi kavramı önemlidir, çünkü dağıtık sistemler teorisinde istemci girişimi başlatan, sunucu ise talebi karşılayan taraftır.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 modelin havadan inmediğini göstermek içindir. 1980’lerde Xerox PARC ve Unix ortamlarındaki dağıtık hesaplama deneyimleriyle iş istasyonları ile dosya ve veritabanı sunucuları ağ üzerinden ayrışmış, kişisel bilgisayarlar işlem gücü kazandıkça her şeyi tek merkezi ana bilgisayarda çalıştırma modelinden uzaklaşılmıştır. İstek-yanıt döngüsünün biçimsel temeli ise Birrell ve Nelson’ın 1984 tarihli “Implementing Remote Procedure Calls” çalışmasına kadar götürülebilir; fikir, bir bilgisayardaki bir işlemin ağ üzerinden başka bir bilgisayardaki bir işlevi yerel bir fonksiyon çağrısıymış gibi tetiklemesidir. HTTP tabanlı iletişim bu fikrin metin tabanlı ve durum bilgisi taşımayan bir uygulamasıdır; bölümün ilerleyen kısmında göreceğimiz metotlar ve durum kodları, bu genel modelin somut bir protokol sözleşmesine dönüşmüş hâlidir. Bu sayfa kısa tutulmalıdır; amaç tarih anlatmak değil, öğrencinin bugünkü kararları bir gelenek içinde görmesini sağlamaktır.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Ayrımın ilk gerekçesi ekonomiktir: aynı backend hizmeti web sitesi, mobil uygulama ve masaüstü uygulaması tarafından kullanılabilir, böylece aynı kurallar üç farklı yerde tekrar yazılmaz ve veri erişimi merkezîleşir. İkinci gerekçe güvenliktir; bu ayrım olmadan kritik iş kuralları kullanıcı arayüzünde saklanmak zorunda kalırdı ve bir öğrencinin notunu değiştirme yetkisi yalnızca tarayıcı kodunda kontrol edilseydi kötü niyetli biri bu kontrolü aşabilirdi. Üçüncü gerekçe tarihseldir: ilk web sayfaları çoğunlukla durağan belgelerden oluşuyordu, zamanla alışveriş, bankacılık, eğitim ve sosyal medya gibi etkileşimli uygulamalar yaygınlaştı ve bu değişim istemci-sunucu ayrımını modern web mimarisinin temel ilkelerinden biri hâline getirdi. Backend ayrıca hata yönetimini de standartlaştırır; geçersiz not, bulunamayan öğrenci ve beklenmeyen sistem hatası farklı biçimde ele alınabilir, bu da kullanıcıya daha anlaşılır mesaj, geliştiriciye daha izlenebilir davranış sağlar.</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örnek gerçek ağ bağlantısı yerine sınıflar kullanır; amaç isteğin hangi aşamalardan geçtiğini ağ gecikmesi olmadan göstermektir. Istek türü istemcinin sunucuya hangi bilgiyi gönderdiğini, Yanit türü ise sunucunun her durumda aynı temel yapıyla dönmesini tanımlar: başarı durumu ve açıklayıcı mesaj. OgrenciSunucusu sınıfı sunucu rolündedir ve bilgiGetir metodu gelen öğrenci numarasını denetler; TarayiciIstemcisi ise kullanıcı arayüzünü temsil eder ve yalnızca yanıtın başarılı olup olmadığına bakarak farklı metin gösterir. Çıktıdaki iki satır iki ayrı senaryodan gelir: ilk çağrı geçerli bir öğrenci numarası ile, ikinci çağrı bilinmeyen bir numara ile yapılır. Öğrencilere burada asıl öğrenilen şeyin sözleşme fikri olduğunu söyleyin; gerçek bir sistemde bu iletişim HTTP üzerinden gerçekleşir ve sınıflar arası doğrudan çağrı yalnızca bir sadeleştirmedir.</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İstemci-sunucu modeli, birden fazla kullanıcının aynı hizmete eriştiği sistemlerde tercih edilir; öğrenci otomasyonu, e-ticaret sitesi, hastane randevu sistemi ve mobil bankacılık uygulaması bu modele uygundur. Buna karşılık tek kullanıcılı, internete ihtiyaç duymayan küçük bir hesap makinesi programında ayrı bir sunucu kurmak gereksiz olabilir; karar veri paylaşımı, kullanıcı yetkileri veya merkezi güncelleme ihtiyacı ortaya çıktığında değişir. Tablodaki dört seçeneği karşılaştırırken sınırlılık sütununa özellikle dikkat çekin: eşler arası yapıda yönetim ve güvenlik zorlaşır, sunucusuz işlevlerde platform bağımlılığı oluşabilir. En önemli nokta sayfanın altındaki cümledir: istemci-sunucu modeli “uygulamayı tek dosyada yazmak” seçeneğinin alternatifi değildir, uygulamanın sorumluluklarını dağıtma biçimidir; sunucusuz mimaride bile istemci bir bulut işlevine istek gönderdiği için istek-yanıt ilişkisi devam eder. İstemci tarafının hızlı görsel geri bildirim için uygun olduğunu, ancak yetki denetimi, fiyat hesaplama ve kayıt işleminin sunucuda tekrar yapılması gerektiğini de ekleyin.</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HTTP, web üzerindeki istemci-sunucu iletişiminin kurallarını tanımlar; bir istekte metot, adres, başlıklar ve isteğe bağlı gövde bulunur, sunucu ise durum kodu, başlıklar ve içerik taşıyan bir yanıt üretir. Protokolün biçimsel tanımı, IETF’in HTTP semantiğini ve mesaj sözdizimini ayrı belgelerde standartlaştırdığı RFC 9110 ve RFC 9112 belgelerinde yer alır. Alttaki kapsam notu, dersin en sık yanlış anlaşılan noktasını düzeltir: durumsuzluk, protokol semantiğinin her isteği tek başına yorumlanabilir kabul etmesi anlamına gelir, taşıma katmanındaki TCP bağlantısının her istekten sonra mutlaka kapanacağı anlamına gelmez. Kalıcı bağlantılar, HTTP/2 çoklaması veya sunucu tarafındaki oturum mekanizmaları verimliliği etkileyebilir; buna karşılık kimlik, sepet veya iş akışı gibi uygulama durumu çerez, belirteç, sunucu oturumu ya da veritabanı gibi açık bir mekanizmayla tasarlanmalıdır. Bu ayrım, “HTTP durumsuzdur” önermesinin yanlış biçimde “uygulamalar durum tutamaz” şeklinde yorumlanmasını önler. HTTP’nin bir diğer değeri birlikte çalışabilirliktir: istemci TypeScript, backend Java, veri analizi aracı Python ile yazılmış olabilir ve ortak standartlar sayesinde birlikte çalışırlar.</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HTTPS, HTTP’nin TLS ile şifrelenmiş sürümüdür ve üç şeyi hedefler: gizlilik, bütünlük ve sunucu kimliğinin doğrulanması. TLS’in kökeni Netscape’in 1994’te tanıttığı SSL protokolüne uzanır; protokol IETF tarafından standartlaştırılarak TLS adını almış ve en güncel sürümü TLS 1.3, RFC 8446 ile 2018’de tanımlanmıştır. TLS 1.3, önceki sürümlere kıyasla el sıkışma adımlarını azaltarak hem güvenliği hem de bağlantı kurma hızını iyileştirmiştir. Sayfanın ikinci yarısı en az birincisi kadar önemlidir: HTTPS uygulama içindeki yetkilendirme veya girdi doğrulama açıklarını kapatmaz. Buna somut bir örnek verin; HTTPS kullanırken uygulama günlüklerine parola veya erişim belirteci yazmak yaygın bir hatadır, çünkü şifreli bağlantı sunucudaki güvensiz günlükleri korumaz. Üretim ortamında kullanıcı verisi taşıyan uygulamalarda HTTPS zorunludur, modern tarayıcı özelliklerinin çoğu da güvenli bağlam bekler; sertifika ve TLS ayarlarının sunucuda nasıl kurulduğu Bölüm 15’te gösterilecektir.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API, programların birbirleriyle hangi adreslerden, hangi veri biçimleriyle ve hangi kurallarla konuşacağını belirleyen sözleşmedir; uç nokta ise API içindeki belirli bir işlem adresidir. Postane benzetmesi yararlıdır: HTTP zarfın gönderim kurallarıdır, HTTPS zarfın mühürlü ve göndericisi doğrulanmış biçimidir, API sözleşmesi ise postanenin hangi formu kabul edeceğini belirleyen kurallardır. Bu kavramın mimari çerçevesi Roy Fielding’in 2000 tarihli doktora tezinde tanımladığı REST stiline dayanır: kaynakların URI ile adreslenmesi, sınırlı bir eylem kümesiyle işlem görmesi ve durum bilgisinin temsillerin kendisinde taşınması. Durum kodlarını anlatırken ayrımı net tutun: 200 başarılı yanıttır, 400 istemcinin gönderdiği veri geçersiz olduğunda, 401 kimlik doğrulama eksik veya geçersiz olduğunda, 404 ise istenen kaynak bulunamadığında döner. Sözleşme küçük bir prototipte kısa olabilir, ancak sistem büyüdükçe uç nokta, alan, hata biçimi ve sürümleme açıkça belgelenmelidir; sözleşmenin REST ilkeleriyle tasarımı Bölüm 6’da, makine tarafından okunabilir biçimde belgelenmesi Bölüm 13’te incelenecektir.</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örneğin amacı, API’nin döneceği yanıtın olası tüm biçimlerini derleme zamanında güvence altına almaktır. HttpMetodu yalnızca “GET” veya “POST” değerlerini kabul eden bir union type’tır; böylece “GEt” gibi hatalı bir değer TypeScript tarafından erkenden yakalanır. BasariliYanit ile HataliYanit farklı yapılardır ve basarili alanının true ya da false olması, TypeScript’in hangi alanların kullanılabileceğini ayırt etmesine yardım eder: başarılı yanıtta veri, hatalı yanıtta hataMesaji bulunur. Çalışan örnekte ilk istek geçerli bir GET isteğidir ve 200 döner, ikinci istek POST kullandığı için iş kuralına uymaz ve 400 döner. Dikkat noktası şudur: durumKodu alanı literal type olarak tanımlandığından 500 gibi bir sayı atanmaya çalışılırsa derleme hatası alınır, yani gerçek HTTP durum kodu disiplini TypeScript seviyesinde zorunlu kılınmış olur. TypeScript’in 2012’de Microsoft tarafından, JavaScript projelerine statik tür denetimi eklemek amacıyla tanıtıldığını ve interface ile union type’ın büyük backend kod tabanlarında API sözleşmelerini görünür kıldığını da hatırlatabilirsiniz.</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Backend’in “istemciye güvenmeme” ilkesi, güvenlik mühendisliğindeki güven sınırı kavramına dayanır: bir sistemin hangi bileşenlerinin denetim dışında ve dolayısıyla güvenilmez sayılacağını belirleyen çizgi. İstemci tarafı kod her zaman son kullanıcının kontrolünde çalıştığından bu sınırın dışında kabul edilir; OWASP’ın sunucu tarafı doğrulama zorunluluğu önerisi de doğrudan bu çizginin sonucudur. İş kuralı, bir kurumun alan bilgisini yazılıma dönüştüren kuraldır; “bir öğrenci aynı derse iki kez kayıt olamaz” veya “not 0 ile 100 arasında olmalıdır” ifadeleri iş kuralıdır ve kullanıcı arayüzünden bağımsız olarak backend’de korunmalıdır. Banka gişesi analojisi işe yarar: gişe görevlisi talebi alır ama transfer için bakiye, kimlik ve limit denetimi yapar; backend de sadece isteği iletmez, işlemin geçerli olup olmadığını değerlendirir. İş kurallarının backend’de merkezileştirilmesi, Parnas’ın 1972 tarihli bilgi gizleme ilkesinin bir uygulamasıdır; kural tek bir yerde tutulursa değiştiğinde yalnızca o nokta güncellenir, iki katmanda tekrarlanırsa tek doğruluk kaynağı ilkesi ihlal edilir ve tutarsızlık riski yapısal olarak artar. Yalnızca görsel durumla ilgili kararların frontend’de uygun olduğunu ekleyin; bir düğmenin yüklenirken pasif görünmesi backend kuralı değildir, ama işleme izin verilip verilmeyeceği backend tarafından belirlenir.</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örnek, iş kuralı doğrulamasının backend’de tek bir giriş noktasında toplanmasını gösterir. notKaydet metodu iki doğrulama uygular: öğrenci numarası boş olamaz ve not değeri 0 ile 100 arasında olmalıdır; her durumda aynı IslemSonucu türünü döndürmesi, çağıran katmanın sonucu tutarlı biçimde ele almasını sağlar. private notKayitlari alanı kayıtların yalnızca sınıfın metotları aracılığıyla değişmesini sağlar ve buna kapsülleme denir. Ancak burada kritik bir uyarı vardır: TypeScript’in private belirleyicisi yalnızca derleme zamanında geçerlidir, derleyici türleri sildiğinde geriye sıradan bir JavaScript alanı kalır ve çalışma zamanında alan hâlâ oradadır, erişilebilir ve JSON çıktısına yazılabilir. Yani private, dikkatsiz kullanımı önleyen bir tasarım aracıdır, kötü niyetli kullanımı önleyen bir koruma değildir; gerçek çalışma zamanı gizliliği isteniyorsa JavaScript’in diyez ile başlayan özel alanları kullanılmalıdır. Bu ayrım bölümün mesajını değiştirmez: güvence private’tan değil, isteğin backend’deki doğrulama metodundan geçmek zorunda olmasından gelir, çünkü istemci bu süreci hiç çalıştırmadan sunucuya doğrudan istek gönderebilir. Ayrıca notGetir metodunun sayı ya da tanımsız döndürmesi, kayıt bulunamadığında istemcinin bu olasılığı denetlemesi gerektiğini açıkça ifade eder.</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Reverse proxy, istemciden gelen HTTP isteklerini karşılayan ve bunları uygun backend hizmetine ileten ara sunucudur; istemci çoğu zaman uygulama sunucusunun adresini bilmez, yalnızca ters vekilin alan adına erişir. Sınav notunu yüksek sesle okuyun: bu bileşen istemci adına internete çıkan bir proxy değildir, forward proxy istemci adına dışarı çıkarken reverse proxy sunucu adına gelen trafiği karşılar; bu ayrım 1990’ların sonunda web trafiği ölçeklendikçe endüstri pratiğinde netleşmiştir. Apartman güvenliği analojisi rolü iyi anlatır: ziyaretçi doğrudan her dairenin kapısına gitmez, güvenlik görevlisi kim olduğunu ve nereye gideceğini değerlendirir, ama daire içindeki işi yapmaz. Yönlendirme yoluna göre yapılabilir; /api/ogrenciler isteği öğrenci API’sine, /api/odeme isteği ödeme servisine, kök yol ise statik frontend dosyalarına gidebilir. Yük dengeleme, dağıtık sistemlerdeki yatay ölçeklendirme stratejisinin bir bileşenidir: tek bir güçlü sunucuyu büyütmek yerine aynı işi yapan çok sayıda küçük sunucu arasında istek paylaştırılır. TLS sonlandırmanın ters vekilde yapılması ise şifre çözme maliyetini uygulama sunucularından ayırıp tek noktada yönetme kararının mimari sonucudur.</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akış, kod örneğindeki karar sırasını görselleştirir ve sayfanın asıl öğretisi sıradır. Kimlik doğrulama denetimi route eşleşmesinden önce yapılır; sıralama değişseydi yetkisiz bir istek yanlışlıkla bir backend servisine ulaşabilirdi. Gerçek ortamda bu yönlendirme Nginx, Caddy veya bir bulut ağ geçidi yapılandırmasında bulunur; örnekteki sözlük yapısı yalnızca aynı mantığın TypeScript’teki karşılığıdır. Tanınmayan her yol için açıkça 404 üretilmesi bilinçli bir karardır: bilinmeyen yolu varsayılan olarak API’ye göndermek beklenmeyen uç noktaları açığa çıkarabilir, bu yüzden yalnızca izin verilen yollar backend’e gitmelidir. Sık yapılan diğer iki hatayı da ekleyin: yalnızca API yollarını koruyup yönetim uç noktalarını açık bırakmak ve istemciden gelen Host ya da yönlendirme başlıklarına körü körüne güvenmek. Her sonucun kayıt altına alınabileceğini ve istemciye standartlaştırılmış bir yanıt döndürülebileceğini de vurgulayın; reverse proxy iş kuralını çalıştırmaz, isteği güvenlik ve yol bilgisine göre uygun hedefe ulaştırır.</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Backend mimarisinde en maliyetli hatalar sözdizimi düzeyinde değil, mimari bileşenlerin sorumluluk sınırlarının yanlış kurgulanmasında ortaya çıkar. Birinci yanılgıda teknik gerçek şudur: tarayıcıdaki JavaScript kodları geliştirici araçları üzerinden değiştirilebilir ve cURL veya Postman ile doğrudan sunucuya sahte HTTP istekleri iletilebilir, bu yüzden sıfır güven ilkesi benimsenmeli ve tüm yetki, veri doğrulama ve iş kuralları istisnasız sunucuda yürütülmelidir. İkinci yanılgıda mesele performanstır: Node.js tek iş parçacıklı bir I/O motorudur ve ağır SSL/TLS el sıkışma hesaplamaları, Slowloris gibi yavaş istemci saldırıları ve statik dosya dağıtımı doğrudan event loop’u bloke eder; çözüm, önüne Nginx gibi hafif ve yüksek performanslı bir ters vekil koyup TLS sonlandırma, IP tabanlı istek sınırlama ve tamponlamayı ona devretmektir. Üçüncü yanılgıda ise standart HTTP’nin durum bilgisi taşımadığı hatırlatılır: istemci istek atar, sunucu yanıt döner ve işlem tamamlanır, sunucu istemciye kendiliğinden bir HTTP yanıtı itemez; sürekli açık kanal veya sunucu taraflı anlık itme gerekiyorsa WebSocket ya da Server-Sent Events kullanılmalıdır.</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alıştırmada tür, sözdizimi ve mantık hataları istek-yanıt bağlamında birlikte tanınır. Hatanın kaynağı sekizinci satırdaki ifadedir: eşitlik denetimi yerine tek eşittir kullanıldığında ifade önce yetkiliMi alanını true yapar, ardından üretilen true değeri koşula girer; yani yetkisiz kullanıcı bir anda yetkili kılınır ve if gövdesi çalışır. Sınıfta bunu bir laboratuvar tartışması gibi kurgulayabilirsiniz: öğrenci yetkisiz olduğu hâlde konsolda öğrenci verisinin görünmesi şaşırtıcıdır ve şaşkınlık, izleme tablosuyla adım adım çözülür. İkinci hata türsel olandır; fonksiyonun dönüş türü string olarak bildirilmişken nesne döndürülmüştür ve fonksiyonun tüm yollarında bir değer dönmemektedir, strict mode etkin olsaydı veya derleyici çalıştırılsaydı bu uyuşmazlık derleme anında yakalanırdı. Dördüncü hata tasarımsaldır: hata yanıtı başarılı yanıtla aynı sözleşmede modellenmemiştir, düzeltilmiş sürümde her iki yol da aynı GuvenliYanit türünü döndürür. Buradan çıkan ilke savunma derinliğidir; hem TypeScript derleyicisinin tip denetiminden yararlanmalı hem de çalışma zamanında iş kuralını ve yetkiyi sunucuda garantiye almalıyız.</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program, bölümde öğrenilen istemci, ters vekil, API ve backend zincirinin tamamını tek bir çalışan akışta birleştirir. TarayiciIstemcisi isteği oluşturur, TersVekil kimlik doğrulamasını denetler, yetkili istek NotApi’ye ulaşır, NotApi yoldan öğrenci numarasını ayrıştırıp NotBackendServisi’ne devreder ve her katman yalnızca kendi sorumluluğuna bakar; hiçbir katman bir öncekinin işini tekrar yapmaz. Üç senaryoyu tek tek yorumlayın: yetkili istek tüm katmanlardan geçip 200 ile notu döndürür, yetkisiz istek ters vekilde 401 ile durur ve API’ye hiç ulaşmaz, bilinmeyen numara ise backend’e kadar gider ve orada 404 üretilir. Yetkili olmadığında isteğin API’ye hiç ulaşmaması, bir önceki sayfadaki sıralama kararının somut sonucudur. Dikkat noktası olarak şunu ekleyin: yetkiliMi alanı bu örnekte doğrudan parametre olarak verilmiştir, gerçek bir sistemde bu bilgi bir kimlik doğrulama jetonundan türetilir ve sabit bir boolean olarak geçirilmez. Programı genişletmek isteyen öğrencilere üç öneri verebilirsiniz: yetkili öğretmenin not kaydetmesi için POST desteği eklemek, kullanıcı rolünü union type ile modellemek ve ters vekile tarih, yol ve durum kodu tutan bir günlük mekanizması eklemek.</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dört madde, bölümün sınavda ve projede karşılığı olan çekirdeğidir. İstemci kullanıcı etkileşimini yönetir, backend ise iş kurallarını, doğrulamayı ve veri erişimini güvenilir biçimde yürütür; HTTP istek ve yanıtların ortak iletişim kurallarını belirlerken HTTPS bu iletişimi şifreleyerek gizlilik, bütünlük ve sunucu kimliği doğrulaması sağlar. API ile backend’in aynı şey olmadığını tekrar vurgulayın: API bir sözleşme ve arayüzdür, backend ise bu sözleşmeyi uygulayan sistemin kendisidir. Reverse proxy, dış dünyadan gelen isteği uygun backend veya statik içerik hizmetine yönlendirir ve bu yapı merkezi güvenlik, TLS yönetimi, günlükleme ve ölçeklenme için önemlidir. Öğrencileri bölüm sonundaki öz değerlendirme sorularına ve programlama alıştırmalarına yönlendirin; özellikle bir ekibin uygulamayı doğrudan 3000 numaralı portta mı yoksa bir ters vekil arkasında mı yayımlayacağını tartıştığı açık uçlu soru, bu bölümün bütün kavramlarını tek bir kararda birleştirir.</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bölümde istemci-sunucu mimarisini, HTTP ve HTTPS iletişimini, API sözleşmesini, backend iş kurallarını, istek-yanıt akışını ve reverse proxy yönlendirmesini gördük; ayrıca TypeScript türlerinin, özellikle interface ve union type kullanımının backend kodunda belirsizliği nasıl azalttığını izledik. Bir sonraki bölümde mimarinin üzerine kurulacağı dilin kendisine ineceğiz: modern JavaScript ve TypeScript sözdiziminin backend bağlamında kullanımı, eşzamanlı çalışan işlemlerin Promise ve async/await ile yönetilmesi, hataların çağrı zinciri boyunca kaybolmadan taşınması ve kodun servis, veri erişimi ve uygulama girişi olarak ayrı modüllere bölünmesi. Buradaki not servisi sınıfının tek bir dosyada ve eşzamansız bir işlem içermeden yazılabilmesinin bir basitleştirme olduğunu açıkça söyleyin; gerçek backend’de not kaydı bir veritabanı çağrısıdır ve beklemeyi yönetmek gerekir. Uç nokta tasarımı, HTTP metotlarının doğru seçimi ve hata yanıtlarının standartlaştırılması ise Bölüm 5 ve Bölüm 6’da ayrıntılı olarak ele alınacaktır.</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b01-modern-backend-web-mimarisi-20260915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tr-TR" smtClean="0"/>
              <a:t>1/27/13</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F6DA9-008F-8B48-92A6-B652298478BF}" type="slidenum">
              <a:rPr lang="tr-TR" smtClean="0"/>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b01-modern-backend-web-mimarisi-20260915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tr-TR">
                <a:solidFill>
                  <a:schemeClr val="tx1">
                    <a:tint val="75000"/>
                  </a:schemeClr>
                </a:solidFill>
              </a:defRPr>
            </a:lvl1pPr>
          </a:lstStyle>
          <a:p>
            <a:fld id="{5BCAD085-E8A6-8845-BD4E-CB4CCA059FC4}" type="datetimeFigureOut">
              <a:rPr lang="tr-TR" smtClean="0"/>
              <a:t>1/27/13</a:t>
            </a:fld>
            <a:endParaRPr lang="tr-T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tr-TR">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tr-TR">
                <a:solidFill>
                  <a:schemeClr val="tx1">
                    <a:tint val="75000"/>
                  </a:schemeClr>
                </a:solidFill>
              </a:defRPr>
            </a:lvl1pPr>
          </a:lstStyle>
          <a:p>
            <a:fld id="{C1FF6DA9-008F-8B48-92A6-B652298478BF}" type="slidenum">
              <a:rPr lang="tr-TR" smtClean="0"/>
              <a:t>‹#›</a:t>
            </a:fld>
            <a:endParaRPr lang="tr-TR"/>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tr-TR">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tr-TR">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tr-TR">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tr-TR">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9pPr>
    </p:bodyStyle>
    <p:other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9" name="cover-plane"/>
          <p:cNvGrpSpPr/>
          <p:nvPr/>
        </p:nvGrpSpPr>
        <p:grpSpPr>
          <a:xfrm>
            <a:off x="0" y="0"/>
            <a:ext cx="4248150" cy="6858000"/>
            <a:chOff x="0" y="0"/>
            <a:chExt cx="4248150" cy="6858000"/>
          </a:xfrm>
        </p:grpSpPr>
        <p:sp>
          <p:nvSpPr>
            <p:cNvPr id="2" name="Rectangle 2"/>
            <p:cNvSpPr/>
            <p:nvPr/>
          </p:nvSpPr>
          <p:spPr>
            <a:xfrm>
              <a:off x="0" y="0"/>
              <a:ext cx="4191000" cy="6858000"/>
            </a:xfrm>
            <a:prstGeom prst="rect">
              <a:avLst/>
            </a:prstGeom>
            <a:solidFill>
              <a:srgbClr val="12355B"/>
            </a:solidFill>
            <a:ln>
              <a:noFill/>
            </a:ln>
          </p:spPr>
        </p:sp>
        <p:sp>
          <p:nvSpPr>
            <p:cNvPr id="3" name="Rectangle 3"/>
            <p:cNvSpPr/>
            <p:nvPr/>
          </p:nvSpPr>
          <p:spPr>
            <a:xfrm>
              <a:off x="4191000" y="0"/>
              <a:ext cx="57150" cy="6858000"/>
            </a:xfrm>
            <a:prstGeom prst="rect">
              <a:avLst/>
            </a:prstGeom>
            <a:solidFill>
              <a:srgbClr val="00A6A6"/>
            </a:solidFill>
            <a:ln>
              <a:noFill/>
            </a:ln>
          </p:spPr>
        </p:sp>
        <p:sp>
          <p:nvSpPr>
            <p:cNvPr id="4" name="TextBox 4"/>
            <p:cNvSpPr txBox="1"/>
            <p:nvPr/>
          </p:nvSpPr>
          <p:spPr>
            <a:xfrm>
              <a:off x="603504" y="1089660"/>
              <a:ext cx="515722" cy="234696"/>
            </a:xfrm>
            <a:prstGeom prst="rect">
              <a:avLst/>
            </a:prstGeom>
            <a:noFill/>
            <a:ln>
              <a:noFill/>
            </a:ln>
          </p:spPr>
          <p:txBody>
            <a:bodyPr wrap="none" lIns="0" tIns="0" rIns="0" bIns="0" anchor="t" anchorCtr="0">
              <a:spAutoFit/>
            </a:bodyPr>
            <a:lstStyle/>
            <a:p>
              <a:pPr algn="l"/>
              <a:r>
                <a:rPr lang="tr-TR" sz="1200" dirty="0">
                  <a:solidFill>
                    <a:srgbClr val="B8CBD3"/>
                  </a:solidFill>
                  <a:latin typeface="+mn-lt"/>
                  <a:ea typeface="+mn-ea"/>
                  <a:cs typeface="+mn-cs"/>
                </a:rPr>
                <a:t>BÖLÜM</a:t>
              </a:r>
            </a:p>
          </p:txBody>
        </p:sp>
        <p:sp>
          <p:nvSpPr>
            <p:cNvPr id="5" name="TextBox 5"/>
            <p:cNvSpPr txBox="1"/>
            <p:nvPr/>
          </p:nvSpPr>
          <p:spPr>
            <a:xfrm>
              <a:off x="590550" y="1429702"/>
              <a:ext cx="667819" cy="790575"/>
            </a:xfrm>
            <a:prstGeom prst="rect">
              <a:avLst/>
            </a:prstGeom>
            <a:noFill/>
            <a:ln>
              <a:noFill/>
            </a:ln>
          </p:spPr>
          <p:txBody>
            <a:bodyPr wrap="none" lIns="0" tIns="0" rIns="0" bIns="0" anchor="t" anchorCtr="0">
              <a:spAutoFit/>
            </a:bodyPr>
            <a:lstStyle/>
            <a:p>
              <a:pPr algn="l"/>
              <a:r>
                <a:rPr lang="tr-TR" sz="4050" b="1" dirty="0">
                  <a:solidFill>
                    <a:srgbClr val="00A6A6"/>
                  </a:solidFill>
                  <a:latin typeface="+mj-lt"/>
                  <a:ea typeface="+mj-ea"/>
                  <a:cs typeface="+mj-cs"/>
                </a:rPr>
                <a:t>01</a:t>
              </a:r>
            </a:p>
          </p:txBody>
        </p:sp>
        <p:sp>
          <p:nvSpPr>
            <p:cNvPr id="6" name="Line 6"/>
            <p:cNvSpPr/>
            <p:nvPr/>
          </p:nvSpPr>
          <p:spPr>
            <a:xfrm>
              <a:off x="609600" y="2247900"/>
              <a:ext cx="1143000" cy="9525"/>
            </a:xfrm>
            <a:custGeom>
              <a:avLst/>
              <a:gdLst/>
              <a:ahLst/>
              <a:cxnLst/>
              <a:rect l="l" t="t" r="r" b="b"/>
              <a:pathLst>
                <a:path w="1143000" h="9525">
                  <a:moveTo>
                    <a:pt x="0" y="0"/>
                  </a:moveTo>
                  <a:lnTo>
                    <a:pt x="1143000" y="0"/>
                  </a:lnTo>
                </a:path>
              </a:pathLst>
            </a:custGeom>
            <a:noFill/>
            <a:ln w="28575">
              <a:solidFill>
                <a:srgbClr val="2E86AB"/>
              </a:solidFill>
            </a:ln>
          </p:spPr>
        </p:sp>
        <p:sp>
          <p:nvSpPr>
            <p:cNvPr id="7" name="TextBox 7"/>
            <p:cNvSpPr txBox="1"/>
            <p:nvPr/>
          </p:nvSpPr>
          <p:spPr>
            <a:xfrm>
              <a:off x="601599" y="5735479"/>
              <a:ext cx="2223262" cy="593788"/>
            </a:xfrm>
            <a:prstGeom prst="rect">
              <a:avLst/>
            </a:prstGeom>
            <a:noFill/>
            <a:ln>
              <a:noFill/>
            </a:ln>
          </p:spPr>
          <p:txBody>
            <a:bodyPr wrap="none" lIns="0" tIns="0" rIns="0" bIns="0" anchor="t" anchorCtr="0">
              <a:spAutoFit/>
            </a:bodyPr>
            <a:lstStyle/>
            <a:p>
              <a:pPr algn="l">
                <a:lnSpc>
                  <a:spcPts val="2250"/>
                </a:lnSpc>
              </a:pPr>
              <a:r>
                <a:rPr lang="tr-TR" sz="1580" dirty="0">
                  <a:solidFill>
                    <a:srgbClr val="EAF4F6"/>
                  </a:solidFill>
                  <a:latin typeface="+mn-lt"/>
                  <a:ea typeface="+mn-ea"/>
                  <a:cs typeface="+mn-cs"/>
                </a:rPr>
                <a:t>Modern Sunucu Tabanlı</a:t>
              </a:r>
              <a:br/>
              <a:r>
                <a:rPr lang="tr-TR" sz="1580" dirty="0">
                  <a:solidFill>
                    <a:srgbClr val="EAF4F6"/>
                  </a:solidFill>
                  <a:latin typeface="+mn-lt"/>
                  <a:ea typeface="+mn-ea"/>
                  <a:cs typeface="+mn-cs"/>
                </a:rPr>
                <a:t>Programlama</a:t>
              </a:r>
            </a:p>
          </p:txBody>
        </p:sp>
        <p:sp>
          <p:nvSpPr>
            <p:cNvPr id="8" name="TextBox 8"/>
            <p:cNvSpPr txBox="1"/>
            <p:nvPr/>
          </p:nvSpPr>
          <p:spPr>
            <a:xfrm>
              <a:off x="603504" y="6233160"/>
              <a:ext cx="367589" cy="234696"/>
            </a:xfrm>
            <a:prstGeom prst="rect">
              <a:avLst/>
            </a:prstGeom>
            <a:noFill/>
            <a:ln>
              <a:noFill/>
            </a:ln>
          </p:spPr>
          <p:txBody>
            <a:bodyPr wrap="none" lIns="0" tIns="0" rIns="0" bIns="0" anchor="t" anchorCtr="0">
              <a:spAutoFit/>
            </a:bodyPr>
            <a:lstStyle/>
            <a:p>
              <a:pPr algn="l"/>
              <a:r>
                <a:rPr lang="tr-TR" sz="1200" dirty="0">
                  <a:solidFill>
                    <a:srgbClr val="B8CBD3"/>
                  </a:solidFill>
                  <a:latin typeface="+mn-lt"/>
                  <a:ea typeface="+mn-ea"/>
                  <a:cs typeface="+mn-cs"/>
                </a:rPr>
                <a:t>2026</a:t>
              </a:r>
            </a:p>
          </p:txBody>
        </p:sp>
      </p:grpSp>
      <p:grpSp>
        <p:nvGrpSpPr>
          <p:cNvPr id="15" name="cover-title"/>
          <p:cNvGrpSpPr/>
          <p:nvPr/>
        </p:nvGrpSpPr>
        <p:grpSpPr>
          <a:xfrm>
            <a:off x="4743450" y="1658302"/>
            <a:ext cx="5357765" cy="4575716"/>
            <a:chOff x="4743450" y="1658302"/>
            <a:chExt cx="5357765" cy="4575716"/>
          </a:xfrm>
        </p:grpSpPr>
        <p:sp>
          <p:nvSpPr>
            <p:cNvPr id="10" name="TextBox 10"/>
            <p:cNvSpPr txBox="1"/>
            <p:nvPr/>
          </p:nvSpPr>
          <p:spPr>
            <a:xfrm>
              <a:off x="4743450" y="1658302"/>
              <a:ext cx="5357765" cy="2085975"/>
            </a:xfrm>
            <a:prstGeom prst="rect">
              <a:avLst/>
            </a:prstGeom>
            <a:noFill/>
            <a:ln>
              <a:noFill/>
            </a:ln>
          </p:spPr>
          <p:txBody>
            <a:bodyPr wrap="none" lIns="0" tIns="0" rIns="0" bIns="0" anchor="t" anchorCtr="0">
              <a:spAutoFit/>
            </a:bodyPr>
            <a:lstStyle/>
            <a:p>
              <a:pPr algn="l">
                <a:lnSpc>
                  <a:spcPts val="5100"/>
                </a:lnSpc>
              </a:pPr>
              <a:r>
                <a:rPr lang="tr-TR" sz="4050" b="1" dirty="0">
                  <a:solidFill>
                    <a:srgbClr val="12355B"/>
                  </a:solidFill>
                  <a:latin typeface="+mj-lt"/>
                  <a:ea typeface="+mj-ea"/>
                  <a:cs typeface="+mj-cs"/>
                </a:rPr>
                <a:t>Modern Backend</a:t>
              </a:r>
              <a:br/>
              <a:r>
                <a:rPr lang="tr-TR" sz="4050" b="1" dirty="0">
                  <a:solidFill>
                    <a:srgbClr val="12355B"/>
                  </a:solidFill>
                  <a:latin typeface="+mj-lt"/>
                  <a:ea typeface="+mj-ea"/>
                  <a:cs typeface="+mj-cs"/>
                </a:rPr>
                <a:t>Programlamaya Giriş</a:t>
              </a:r>
              <a:br/>
              <a:r>
                <a:rPr lang="tr-TR" sz="4050" b="1" dirty="0">
                  <a:solidFill>
                    <a:srgbClr val="12355B"/>
                  </a:solidFill>
                  <a:latin typeface="+mj-lt"/>
                  <a:ea typeface="+mj-ea"/>
                  <a:cs typeface="+mj-cs"/>
                </a:rPr>
                <a:t>ve Web Mimarisi</a:t>
              </a:r>
            </a:p>
          </p:txBody>
        </p:sp>
        <p:sp>
          <p:nvSpPr>
            <p:cNvPr id="11" name="Rectangle 11"/>
            <p:cNvSpPr/>
            <p:nvPr/>
          </p:nvSpPr>
          <p:spPr>
            <a:xfrm>
              <a:off x="4762500" y="3771900"/>
              <a:ext cx="1143000" cy="57150"/>
            </a:xfrm>
            <a:prstGeom prst="rect">
              <a:avLst/>
            </a:prstGeom>
            <a:solidFill>
              <a:srgbClr val="00A6A6"/>
            </a:solidFill>
            <a:ln>
              <a:noFill/>
            </a:ln>
          </p:spPr>
        </p:sp>
        <p:sp>
          <p:nvSpPr>
            <p:cNvPr id="12" name="TextBox 12"/>
            <p:cNvSpPr txBox="1"/>
            <p:nvPr/>
          </p:nvSpPr>
          <p:spPr>
            <a:xfrm>
              <a:off x="4752594" y="4094798"/>
              <a:ext cx="4346514" cy="381381"/>
            </a:xfrm>
            <a:prstGeom prst="rect">
              <a:avLst/>
            </a:prstGeom>
            <a:noFill/>
            <a:ln>
              <a:noFill/>
            </a:ln>
          </p:spPr>
          <p:txBody>
            <a:bodyPr wrap="none" lIns="0" tIns="0" rIns="0" bIns="0" anchor="t" anchorCtr="0">
              <a:spAutoFit/>
            </a:bodyPr>
            <a:lstStyle/>
            <a:p>
              <a:pPr algn="l"/>
              <a:r>
                <a:rPr lang="tr-TR" sz="1950" dirty="0">
                  <a:solidFill>
                    <a:srgbClr val="2E86AB"/>
                  </a:solidFill>
                  <a:latin typeface="+mn-lt"/>
                  <a:ea typeface="+mn-ea"/>
                  <a:cs typeface="+mn-cs"/>
                </a:rPr>
                <a:t>Çok katmanlı web mimarisine giriş</a:t>
              </a:r>
            </a:p>
          </p:txBody>
        </p:sp>
        <p:sp>
          <p:nvSpPr>
            <p:cNvPr id="13" name="TextBox 13"/>
            <p:cNvSpPr txBox="1"/>
            <p:nvPr/>
          </p:nvSpPr>
          <p:spPr>
            <a:xfrm>
              <a:off x="4753356" y="4758690"/>
              <a:ext cx="4647438" cy="675894"/>
            </a:xfrm>
            <a:prstGeom prst="rect">
              <a:avLst/>
            </a:prstGeom>
            <a:noFill/>
            <a:ln>
              <a:noFill/>
            </a:ln>
          </p:spPr>
          <p:txBody>
            <a:bodyPr wrap="none" lIns="0" tIns="0" rIns="0" bIns="0" anchor="t" anchorCtr="0">
              <a:spAutoFit/>
            </a:bodyPr>
            <a:lstStyle/>
            <a:p>
              <a:pPr algn="l">
                <a:lnSpc>
                  <a:spcPts val="2550"/>
                </a:lnSpc>
              </a:pPr>
              <a:r>
                <a:rPr lang="tr-TR" sz="1800" dirty="0">
                  <a:solidFill>
                    <a:srgbClr val="172B3A"/>
                  </a:solidFill>
                  <a:latin typeface="+mn-lt"/>
                  <a:ea typeface="+mn-ea"/>
                  <a:cs typeface="+mn-cs"/>
                </a:rPr>
                <a:t>Kullanıcının tek bir tıklaması, altı ayrı</a:t>
              </a:r>
              <a:br/>
              <a:r>
                <a:rPr lang="tr-TR" sz="1800" dirty="0">
                  <a:solidFill>
                    <a:srgbClr val="172B3A"/>
                  </a:solidFill>
                  <a:latin typeface="+mn-lt"/>
                  <a:ea typeface="+mn-ea"/>
                  <a:cs typeface="+mn-cs"/>
                </a:rPr>
                <a:t>sorumluluk katmanından geçer.</a:t>
              </a:r>
            </a:p>
          </p:txBody>
        </p:sp>
        <p:sp>
          <p:nvSpPr>
            <p:cNvPr id="14" name="TextBox 14"/>
            <p:cNvSpPr txBox="1"/>
            <p:nvPr/>
          </p:nvSpPr>
          <p:spPr>
            <a:xfrm>
              <a:off x="4754499" y="5925979"/>
              <a:ext cx="249846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Prof. Dr. İsmail KIRBAŞ</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5" name="title"/>
          <p:cNvGrpSpPr/>
          <p:nvPr/>
        </p:nvGrpSpPr>
        <p:grpSpPr>
          <a:xfrm>
            <a:off x="0" y="0"/>
            <a:ext cx="12192000" cy="952500"/>
            <a:chOff x="0" y="0"/>
            <a:chExt cx="12192000" cy="952500"/>
          </a:xfrm>
        </p:grpSpPr>
        <p:sp>
          <p:nvSpPr>
            <p:cNvPr id="2" name="Rectangle 2"/>
            <p:cNvSpPr/>
            <p:nvPr/>
          </p:nvSpPr>
          <p:spPr>
            <a:xfrm>
              <a:off x="0" y="0"/>
              <a:ext cx="12192000" cy="914400"/>
            </a:xfrm>
            <a:prstGeom prst="rect">
              <a:avLst/>
            </a:prstGeom>
            <a:solidFill>
              <a:srgbClr val="12355B"/>
            </a:solidFill>
            <a:ln>
              <a:noFill/>
            </a:ln>
          </p:spPr>
        </p:sp>
        <p:sp>
          <p:nvSpPr>
            <p:cNvPr id="3" name="Rectangle 3"/>
            <p:cNvSpPr/>
            <p:nvPr/>
          </p:nvSpPr>
          <p:spPr>
            <a:xfrm>
              <a:off x="0" y="914400"/>
              <a:ext cx="12192000" cy="38100"/>
            </a:xfrm>
            <a:prstGeom prst="rect">
              <a:avLst/>
            </a:prstGeom>
            <a:solidFill>
              <a:srgbClr val="00A6A6"/>
            </a:solidFill>
            <a:ln>
              <a:noFill/>
            </a:ln>
          </p:spPr>
        </p:sp>
        <p:sp>
          <p:nvSpPr>
            <p:cNvPr id="4" name="TextBox 4"/>
            <p:cNvSpPr txBox="1"/>
            <p:nvPr/>
          </p:nvSpPr>
          <p:spPr>
            <a:xfrm>
              <a:off x="557022" y="282892"/>
              <a:ext cx="9650201" cy="557403"/>
            </a:xfrm>
            <a:prstGeom prst="rect">
              <a:avLst/>
            </a:prstGeom>
            <a:noFill/>
            <a:ln>
              <a:noFill/>
            </a:ln>
          </p:spPr>
          <p:txBody>
            <a:bodyPr wrap="none" lIns="0" tIns="0" rIns="0" bIns="0" anchor="t" anchorCtr="0">
              <a:spAutoFit/>
            </a:bodyPr>
            <a:lstStyle/>
            <a:p>
              <a:pPr algn="l"/>
              <a:r>
                <a:rPr lang="tr-TR" sz="2850" b="1" dirty="0">
                  <a:solidFill>
                    <a:srgbClr val="F7FAFC"/>
                  </a:solidFill>
                  <a:latin typeface="+mj-lt"/>
                  <a:ea typeface="+mj-ea"/>
                  <a:cs typeface="+mj-cs"/>
                </a:rPr>
                <a:t>Bölüm yol haritası: aklınızda tutulacak beş soru</a:t>
              </a:r>
            </a:p>
          </p:txBody>
        </p:sp>
      </p:grpSp>
      <p:grpSp>
        <p:nvGrpSpPr>
          <p:cNvPr id="8" name="question-1"/>
          <p:cNvGrpSpPr/>
          <p:nvPr/>
        </p:nvGrpSpPr>
        <p:grpSpPr>
          <a:xfrm>
            <a:off x="560070" y="1528762"/>
            <a:ext cx="5148834" cy="705422"/>
            <a:chOff x="560070" y="1528762"/>
            <a:chExt cx="5148834" cy="705422"/>
          </a:xfrm>
        </p:grpSpPr>
        <p:sp>
          <p:nvSpPr>
            <p:cNvPr id="6" name="TextBox 6"/>
            <p:cNvSpPr txBox="1"/>
            <p:nvPr/>
          </p:nvSpPr>
          <p:spPr>
            <a:xfrm>
              <a:off x="560070" y="1528762"/>
              <a:ext cx="197782" cy="440055"/>
            </a:xfrm>
            <a:prstGeom prst="rect">
              <a:avLst/>
            </a:prstGeom>
            <a:noFill/>
            <a:ln>
              <a:noFill/>
            </a:ln>
          </p:spPr>
          <p:txBody>
            <a:bodyPr wrap="none" lIns="0" tIns="0" rIns="0" bIns="0" anchor="t" anchorCtr="0">
              <a:spAutoFit/>
            </a:bodyPr>
            <a:lstStyle/>
            <a:p>
              <a:pPr algn="l"/>
              <a:r>
                <a:rPr lang="tr-TR" sz="2250" b="1" dirty="0">
                  <a:solidFill>
                    <a:srgbClr val="00A6A6"/>
                  </a:solidFill>
                  <a:latin typeface="+mn-lt"/>
                  <a:ea typeface="+mn-ea"/>
                  <a:cs typeface="+mn-cs"/>
                </a:rPr>
                <a:t>1</a:t>
              </a:r>
            </a:p>
          </p:txBody>
        </p:sp>
        <p:sp>
          <p:nvSpPr>
            <p:cNvPr id="7" name="TextBox 7"/>
            <p:cNvSpPr txBox="1"/>
            <p:nvPr/>
          </p:nvSpPr>
          <p:spPr>
            <a:xfrm>
              <a:off x="1095756" y="1558290"/>
              <a:ext cx="4613148" cy="675894"/>
            </a:xfrm>
            <a:prstGeom prst="rect">
              <a:avLst/>
            </a:prstGeom>
            <a:noFill/>
            <a:ln>
              <a:noFill/>
            </a:ln>
          </p:spPr>
          <p:txBody>
            <a:bodyPr wrap="none" lIns="0" tIns="0" rIns="0" bIns="0" anchor="t" anchorCtr="0">
              <a:spAutoFit/>
            </a:bodyPr>
            <a:lstStyle/>
            <a:p>
              <a:pPr algn="l">
                <a:lnSpc>
                  <a:spcPts val="2550"/>
                </a:lnSpc>
              </a:pPr>
              <a:r>
                <a:rPr lang="tr-TR" sz="1800" dirty="0">
                  <a:solidFill>
                    <a:srgbClr val="172B3A"/>
                  </a:solidFill>
                  <a:latin typeface="+mn-lt"/>
                  <a:ea typeface="+mn-ea"/>
                  <a:cs typeface="+mn-cs"/>
                </a:rPr>
                <a:t>İstemci ile sunucu bir web uygulamasında</a:t>
              </a:r>
              <a:br/>
              <a:r>
                <a:rPr lang="tr-TR" sz="1800" dirty="0">
                  <a:solidFill>
                    <a:srgbClr val="172B3A"/>
                  </a:solidFill>
                  <a:latin typeface="+mn-lt"/>
                  <a:ea typeface="+mn-ea"/>
                  <a:cs typeface="+mn-cs"/>
                </a:rPr>
                <a:t>hangi sorumlulukları paylaşır?</a:t>
              </a:r>
            </a:p>
          </p:txBody>
        </p:sp>
      </p:grpSp>
      <p:grpSp>
        <p:nvGrpSpPr>
          <p:cNvPr id="12" name="question-2"/>
          <p:cNvGrpSpPr/>
          <p:nvPr/>
        </p:nvGrpSpPr>
        <p:grpSpPr>
          <a:xfrm>
            <a:off x="560070" y="2362200"/>
            <a:ext cx="6107430" cy="843534"/>
            <a:chOff x="560070" y="2362200"/>
            <a:chExt cx="6107430" cy="843534"/>
          </a:xfrm>
        </p:grpSpPr>
        <p:sp>
          <p:nvSpPr>
            <p:cNvPr id="9" name="Line 9"/>
            <p:cNvSpPr/>
            <p:nvPr/>
          </p:nvSpPr>
          <p:spPr>
            <a:xfrm>
              <a:off x="571500" y="2362200"/>
              <a:ext cx="6096000" cy="9525"/>
            </a:xfrm>
            <a:custGeom>
              <a:avLst/>
              <a:gdLst/>
              <a:ahLst/>
              <a:cxnLst/>
              <a:rect l="l" t="t" r="r" b="b"/>
              <a:pathLst>
                <a:path w="6096000" h="9525">
                  <a:moveTo>
                    <a:pt x="0" y="0"/>
                  </a:moveTo>
                  <a:lnTo>
                    <a:pt x="6096000" y="0"/>
                  </a:lnTo>
                </a:path>
              </a:pathLst>
            </a:custGeom>
            <a:noFill/>
            <a:ln w="9525">
              <a:solidFill>
                <a:srgbClr val="B8CBD3"/>
              </a:solidFill>
            </a:ln>
          </p:spPr>
        </p:sp>
        <p:sp>
          <p:nvSpPr>
            <p:cNvPr id="10" name="TextBox 10"/>
            <p:cNvSpPr txBox="1"/>
            <p:nvPr/>
          </p:nvSpPr>
          <p:spPr>
            <a:xfrm>
              <a:off x="560070" y="2500312"/>
              <a:ext cx="197782" cy="440055"/>
            </a:xfrm>
            <a:prstGeom prst="rect">
              <a:avLst/>
            </a:prstGeom>
            <a:noFill/>
            <a:ln>
              <a:noFill/>
            </a:ln>
          </p:spPr>
          <p:txBody>
            <a:bodyPr wrap="none" lIns="0" tIns="0" rIns="0" bIns="0" anchor="t" anchorCtr="0">
              <a:spAutoFit/>
            </a:bodyPr>
            <a:lstStyle/>
            <a:p>
              <a:pPr algn="l"/>
              <a:r>
                <a:rPr lang="tr-TR" sz="2250" b="1" dirty="0">
                  <a:solidFill>
                    <a:srgbClr val="00A6A6"/>
                  </a:solidFill>
                  <a:latin typeface="+mn-lt"/>
                  <a:ea typeface="+mn-ea"/>
                  <a:cs typeface="+mn-cs"/>
                </a:rPr>
                <a:t>2</a:t>
              </a:r>
            </a:p>
          </p:txBody>
        </p:sp>
        <p:sp>
          <p:nvSpPr>
            <p:cNvPr id="11" name="TextBox 11"/>
            <p:cNvSpPr txBox="1"/>
            <p:nvPr/>
          </p:nvSpPr>
          <p:spPr>
            <a:xfrm>
              <a:off x="1095756" y="2529840"/>
              <a:ext cx="4910328" cy="675894"/>
            </a:xfrm>
            <a:prstGeom prst="rect">
              <a:avLst/>
            </a:prstGeom>
            <a:noFill/>
            <a:ln>
              <a:noFill/>
            </a:ln>
          </p:spPr>
          <p:txBody>
            <a:bodyPr wrap="none" lIns="0" tIns="0" rIns="0" bIns="0" anchor="t" anchorCtr="0">
              <a:spAutoFit/>
            </a:bodyPr>
            <a:lstStyle/>
            <a:p>
              <a:pPr algn="l">
                <a:lnSpc>
                  <a:spcPts val="2550"/>
                </a:lnSpc>
              </a:pPr>
              <a:r>
                <a:rPr lang="tr-TR" sz="1800" dirty="0">
                  <a:solidFill>
                    <a:srgbClr val="172B3A"/>
                  </a:solidFill>
                  <a:latin typeface="+mn-lt"/>
                  <a:ea typeface="+mn-ea"/>
                  <a:cs typeface="+mn-cs"/>
                </a:rPr>
                <a:t>Bir HTTP isteği, kullanıcı eyleminden yanıta</a:t>
              </a:r>
              <a:br/>
              <a:r>
                <a:rPr lang="tr-TR" sz="1800" dirty="0">
                  <a:solidFill>
                    <a:srgbClr val="172B3A"/>
                  </a:solidFill>
                  <a:latin typeface="+mn-lt"/>
                  <a:ea typeface="+mn-ea"/>
                  <a:cs typeface="+mn-cs"/>
                </a:rPr>
                <a:t>kadar hangi aşamalardan geçer?</a:t>
              </a:r>
            </a:p>
          </p:txBody>
        </p:sp>
      </p:grpSp>
      <p:grpSp>
        <p:nvGrpSpPr>
          <p:cNvPr id="16" name="question-3"/>
          <p:cNvGrpSpPr/>
          <p:nvPr/>
        </p:nvGrpSpPr>
        <p:grpSpPr>
          <a:xfrm>
            <a:off x="560070" y="3333750"/>
            <a:ext cx="6107430" cy="843534"/>
            <a:chOff x="560070" y="3333750"/>
            <a:chExt cx="6107430" cy="843534"/>
          </a:xfrm>
        </p:grpSpPr>
        <p:sp>
          <p:nvSpPr>
            <p:cNvPr id="13" name="Line 13"/>
            <p:cNvSpPr/>
            <p:nvPr/>
          </p:nvSpPr>
          <p:spPr>
            <a:xfrm>
              <a:off x="571500" y="3333750"/>
              <a:ext cx="6096000" cy="9525"/>
            </a:xfrm>
            <a:custGeom>
              <a:avLst/>
              <a:gdLst/>
              <a:ahLst/>
              <a:cxnLst/>
              <a:rect l="l" t="t" r="r" b="b"/>
              <a:pathLst>
                <a:path w="6096000" h="9525">
                  <a:moveTo>
                    <a:pt x="0" y="0"/>
                  </a:moveTo>
                  <a:lnTo>
                    <a:pt x="6096000" y="0"/>
                  </a:lnTo>
                </a:path>
              </a:pathLst>
            </a:custGeom>
            <a:noFill/>
            <a:ln w="9525">
              <a:solidFill>
                <a:srgbClr val="B8CBD3"/>
              </a:solidFill>
            </a:ln>
          </p:spPr>
        </p:sp>
        <p:sp>
          <p:nvSpPr>
            <p:cNvPr id="14" name="TextBox 14"/>
            <p:cNvSpPr txBox="1"/>
            <p:nvPr/>
          </p:nvSpPr>
          <p:spPr>
            <a:xfrm>
              <a:off x="560070" y="3471862"/>
              <a:ext cx="197782" cy="440055"/>
            </a:xfrm>
            <a:prstGeom prst="rect">
              <a:avLst/>
            </a:prstGeom>
            <a:noFill/>
            <a:ln>
              <a:noFill/>
            </a:ln>
          </p:spPr>
          <p:txBody>
            <a:bodyPr wrap="none" lIns="0" tIns="0" rIns="0" bIns="0" anchor="t" anchorCtr="0">
              <a:spAutoFit/>
            </a:bodyPr>
            <a:lstStyle/>
            <a:p>
              <a:pPr algn="l"/>
              <a:r>
                <a:rPr lang="tr-TR" sz="2250" b="1" dirty="0">
                  <a:solidFill>
                    <a:srgbClr val="00A6A6"/>
                  </a:solidFill>
                  <a:latin typeface="+mn-lt"/>
                  <a:ea typeface="+mn-ea"/>
                  <a:cs typeface="+mn-cs"/>
                </a:rPr>
                <a:t>3</a:t>
              </a:r>
            </a:p>
          </p:txBody>
        </p:sp>
        <p:sp>
          <p:nvSpPr>
            <p:cNvPr id="15" name="TextBox 15"/>
            <p:cNvSpPr txBox="1"/>
            <p:nvPr/>
          </p:nvSpPr>
          <p:spPr>
            <a:xfrm>
              <a:off x="1095756" y="3501390"/>
              <a:ext cx="4213098" cy="675894"/>
            </a:xfrm>
            <a:prstGeom prst="rect">
              <a:avLst/>
            </a:prstGeom>
            <a:noFill/>
            <a:ln>
              <a:noFill/>
            </a:ln>
          </p:spPr>
          <p:txBody>
            <a:bodyPr wrap="none" lIns="0" tIns="0" rIns="0" bIns="0" anchor="t" anchorCtr="0">
              <a:spAutoFit/>
            </a:bodyPr>
            <a:lstStyle/>
            <a:p>
              <a:pPr algn="l">
                <a:lnSpc>
                  <a:spcPts val="2550"/>
                </a:lnSpc>
              </a:pPr>
              <a:r>
                <a:rPr lang="tr-TR" sz="1800" dirty="0">
                  <a:solidFill>
                    <a:srgbClr val="172B3A"/>
                  </a:solidFill>
                  <a:latin typeface="+mn-lt"/>
                  <a:ea typeface="+mn-ea"/>
                  <a:cs typeface="+mn-cs"/>
                </a:rPr>
                <a:t>Backend ile API kavramları birbirinden</a:t>
              </a:r>
              <a:br/>
              <a:r>
                <a:rPr lang="tr-TR" sz="1800" dirty="0">
                  <a:solidFill>
                    <a:srgbClr val="172B3A"/>
                  </a:solidFill>
                  <a:latin typeface="+mn-lt"/>
                  <a:ea typeface="+mn-ea"/>
                  <a:cs typeface="+mn-cs"/>
                </a:rPr>
                <a:t>nasıl ayrılır?</a:t>
              </a:r>
            </a:p>
          </p:txBody>
        </p:sp>
      </p:grpSp>
      <p:grpSp>
        <p:nvGrpSpPr>
          <p:cNvPr id="20" name="question-4"/>
          <p:cNvGrpSpPr/>
          <p:nvPr/>
        </p:nvGrpSpPr>
        <p:grpSpPr>
          <a:xfrm>
            <a:off x="560070" y="4305300"/>
            <a:ext cx="6107430" cy="843534"/>
            <a:chOff x="560070" y="4305300"/>
            <a:chExt cx="6107430" cy="843534"/>
          </a:xfrm>
        </p:grpSpPr>
        <p:sp>
          <p:nvSpPr>
            <p:cNvPr id="17" name="Line 17"/>
            <p:cNvSpPr/>
            <p:nvPr/>
          </p:nvSpPr>
          <p:spPr>
            <a:xfrm>
              <a:off x="571500" y="4305300"/>
              <a:ext cx="6096000" cy="9525"/>
            </a:xfrm>
            <a:custGeom>
              <a:avLst/>
              <a:gdLst/>
              <a:ahLst/>
              <a:cxnLst/>
              <a:rect l="l" t="t" r="r" b="b"/>
              <a:pathLst>
                <a:path w="6096000" h="9525">
                  <a:moveTo>
                    <a:pt x="0" y="0"/>
                  </a:moveTo>
                  <a:lnTo>
                    <a:pt x="6096000" y="0"/>
                  </a:lnTo>
                </a:path>
              </a:pathLst>
            </a:custGeom>
            <a:noFill/>
            <a:ln w="9525">
              <a:solidFill>
                <a:srgbClr val="B8CBD3"/>
              </a:solidFill>
            </a:ln>
          </p:spPr>
        </p:sp>
        <p:sp>
          <p:nvSpPr>
            <p:cNvPr id="18" name="TextBox 18"/>
            <p:cNvSpPr txBox="1"/>
            <p:nvPr/>
          </p:nvSpPr>
          <p:spPr>
            <a:xfrm>
              <a:off x="560070" y="4443412"/>
              <a:ext cx="197782" cy="440055"/>
            </a:xfrm>
            <a:prstGeom prst="rect">
              <a:avLst/>
            </a:prstGeom>
            <a:noFill/>
            <a:ln>
              <a:noFill/>
            </a:ln>
          </p:spPr>
          <p:txBody>
            <a:bodyPr wrap="none" lIns="0" tIns="0" rIns="0" bIns="0" anchor="t" anchorCtr="0">
              <a:spAutoFit/>
            </a:bodyPr>
            <a:lstStyle/>
            <a:p>
              <a:pPr algn="l"/>
              <a:r>
                <a:rPr lang="tr-TR" sz="2250" b="1" dirty="0">
                  <a:solidFill>
                    <a:srgbClr val="00A6A6"/>
                  </a:solidFill>
                  <a:latin typeface="+mn-lt"/>
                  <a:ea typeface="+mn-ea"/>
                  <a:cs typeface="+mn-cs"/>
                </a:rPr>
                <a:t>4</a:t>
              </a:r>
            </a:p>
          </p:txBody>
        </p:sp>
        <p:sp>
          <p:nvSpPr>
            <p:cNvPr id="19" name="TextBox 19"/>
            <p:cNvSpPr txBox="1"/>
            <p:nvPr/>
          </p:nvSpPr>
          <p:spPr>
            <a:xfrm>
              <a:off x="1095756" y="4472940"/>
              <a:ext cx="4475988" cy="675894"/>
            </a:xfrm>
            <a:prstGeom prst="rect">
              <a:avLst/>
            </a:prstGeom>
            <a:noFill/>
            <a:ln>
              <a:noFill/>
            </a:ln>
          </p:spPr>
          <p:txBody>
            <a:bodyPr wrap="none" lIns="0" tIns="0" rIns="0" bIns="0" anchor="t" anchorCtr="0">
              <a:spAutoFit/>
            </a:bodyPr>
            <a:lstStyle/>
            <a:p>
              <a:pPr algn="l">
                <a:lnSpc>
                  <a:spcPts val="2550"/>
                </a:lnSpc>
              </a:pPr>
              <a:r>
                <a:rPr lang="tr-TR" sz="1800" dirty="0">
                  <a:solidFill>
                    <a:srgbClr val="172B3A"/>
                  </a:solidFill>
                  <a:latin typeface="+mn-lt"/>
                  <a:ea typeface="+mn-ea"/>
                  <a:cs typeface="+mn-cs"/>
                </a:rPr>
                <a:t>HTTPS, HTTP iletişimindeki hangi güvenlik</a:t>
              </a:r>
              <a:br/>
              <a:r>
                <a:rPr lang="tr-TR" sz="1800" dirty="0">
                  <a:solidFill>
                    <a:srgbClr val="172B3A"/>
                  </a:solidFill>
                  <a:latin typeface="+mn-lt"/>
                  <a:ea typeface="+mn-ea"/>
                  <a:cs typeface="+mn-cs"/>
                </a:rPr>
                <a:t>sorunlarını çözer?</a:t>
              </a:r>
            </a:p>
          </p:txBody>
        </p:sp>
      </p:grpSp>
      <p:grpSp>
        <p:nvGrpSpPr>
          <p:cNvPr id="24" name="question-5"/>
          <p:cNvGrpSpPr/>
          <p:nvPr/>
        </p:nvGrpSpPr>
        <p:grpSpPr>
          <a:xfrm>
            <a:off x="560070" y="5276850"/>
            <a:ext cx="6107430" cy="843534"/>
            <a:chOff x="560070" y="5276850"/>
            <a:chExt cx="6107430" cy="843534"/>
          </a:xfrm>
        </p:grpSpPr>
        <p:sp>
          <p:nvSpPr>
            <p:cNvPr id="21" name="Line 21"/>
            <p:cNvSpPr/>
            <p:nvPr/>
          </p:nvSpPr>
          <p:spPr>
            <a:xfrm>
              <a:off x="571500" y="5276850"/>
              <a:ext cx="6096000" cy="9525"/>
            </a:xfrm>
            <a:custGeom>
              <a:avLst/>
              <a:gdLst/>
              <a:ahLst/>
              <a:cxnLst/>
              <a:rect l="l" t="t" r="r" b="b"/>
              <a:pathLst>
                <a:path w="6096000" h="9525">
                  <a:moveTo>
                    <a:pt x="0" y="0"/>
                  </a:moveTo>
                  <a:lnTo>
                    <a:pt x="6096000" y="0"/>
                  </a:lnTo>
                </a:path>
              </a:pathLst>
            </a:custGeom>
            <a:noFill/>
            <a:ln w="9525">
              <a:solidFill>
                <a:srgbClr val="B8CBD3"/>
              </a:solidFill>
            </a:ln>
          </p:spPr>
        </p:sp>
        <p:sp>
          <p:nvSpPr>
            <p:cNvPr id="22" name="TextBox 22"/>
            <p:cNvSpPr txBox="1"/>
            <p:nvPr/>
          </p:nvSpPr>
          <p:spPr>
            <a:xfrm>
              <a:off x="560070" y="5414962"/>
              <a:ext cx="197782" cy="440055"/>
            </a:xfrm>
            <a:prstGeom prst="rect">
              <a:avLst/>
            </a:prstGeom>
            <a:noFill/>
            <a:ln>
              <a:noFill/>
            </a:ln>
          </p:spPr>
          <p:txBody>
            <a:bodyPr wrap="none" lIns="0" tIns="0" rIns="0" bIns="0" anchor="t" anchorCtr="0">
              <a:spAutoFit/>
            </a:bodyPr>
            <a:lstStyle/>
            <a:p>
              <a:pPr algn="l"/>
              <a:r>
                <a:rPr lang="tr-TR" sz="2250" b="1" dirty="0">
                  <a:solidFill>
                    <a:srgbClr val="00A6A6"/>
                  </a:solidFill>
                  <a:latin typeface="+mn-lt"/>
                  <a:ea typeface="+mn-ea"/>
                  <a:cs typeface="+mn-cs"/>
                </a:rPr>
                <a:t>5</a:t>
              </a:r>
            </a:p>
          </p:txBody>
        </p:sp>
        <p:sp>
          <p:nvSpPr>
            <p:cNvPr id="23" name="TextBox 23"/>
            <p:cNvSpPr txBox="1"/>
            <p:nvPr/>
          </p:nvSpPr>
          <p:spPr>
            <a:xfrm>
              <a:off x="1095756" y="5444490"/>
              <a:ext cx="4933188" cy="675894"/>
            </a:xfrm>
            <a:prstGeom prst="rect">
              <a:avLst/>
            </a:prstGeom>
            <a:noFill/>
            <a:ln>
              <a:noFill/>
            </a:ln>
          </p:spPr>
          <p:txBody>
            <a:bodyPr wrap="none" lIns="0" tIns="0" rIns="0" bIns="0" anchor="t" anchorCtr="0">
              <a:spAutoFit/>
            </a:bodyPr>
            <a:lstStyle/>
            <a:p>
              <a:pPr algn="l">
                <a:lnSpc>
                  <a:spcPts val="2550"/>
                </a:lnSpc>
              </a:pPr>
              <a:r>
                <a:rPr lang="tr-TR" sz="1800" dirty="0">
                  <a:solidFill>
                    <a:srgbClr val="172B3A"/>
                  </a:solidFill>
                  <a:latin typeface="+mn-lt"/>
                  <a:ea typeface="+mn-ea"/>
                  <a:cs typeface="+mn-cs"/>
                </a:rPr>
                <a:t>Reverse proxy neden backend uygulamasının</a:t>
              </a:r>
              <a:br/>
              <a:r>
                <a:rPr lang="tr-TR" sz="1800" dirty="0">
                  <a:solidFill>
                    <a:srgbClr val="172B3A"/>
                  </a:solidFill>
                  <a:latin typeface="+mn-lt"/>
                  <a:ea typeface="+mn-ea"/>
                  <a:cs typeface="+mn-cs"/>
                </a:rPr>
                <a:t>önünde konumlandırılır?</a:t>
              </a:r>
            </a:p>
          </p:txBody>
        </p:sp>
      </p:grpSp>
      <p:grpSp>
        <p:nvGrpSpPr>
          <p:cNvPr id="29" name="chapter-goal"/>
          <p:cNvGrpSpPr/>
          <p:nvPr/>
        </p:nvGrpSpPr>
        <p:grpSpPr>
          <a:xfrm>
            <a:off x="7048500" y="1295400"/>
            <a:ext cx="4572000" cy="3429000"/>
            <a:chOff x="7048500" y="1295400"/>
            <a:chExt cx="4572000" cy="3429000"/>
          </a:xfrm>
        </p:grpSpPr>
        <p:sp>
          <p:nvSpPr>
            <p:cNvPr id="25" name="Rectangle 25"/>
            <p:cNvSpPr/>
            <p:nvPr/>
          </p:nvSpPr>
          <p:spPr>
            <a:xfrm>
              <a:off x="7048500" y="1295400"/>
              <a:ext cx="4572000" cy="3429000"/>
            </a:xfrm>
            <a:prstGeom prst="rect">
              <a:avLst/>
            </a:prstGeom>
            <a:solidFill>
              <a:srgbClr val="EAF4F6"/>
            </a:solidFill>
            <a:ln>
              <a:noFill/>
            </a:ln>
          </p:spPr>
        </p:sp>
        <p:sp>
          <p:nvSpPr>
            <p:cNvPr id="26" name="Rectangle 26"/>
            <p:cNvSpPr/>
            <p:nvPr/>
          </p:nvSpPr>
          <p:spPr>
            <a:xfrm>
              <a:off x="7048500" y="1295400"/>
              <a:ext cx="57150" cy="3429000"/>
            </a:xfrm>
            <a:prstGeom prst="rect">
              <a:avLst/>
            </a:prstGeom>
            <a:solidFill>
              <a:srgbClr val="00A6A6"/>
            </a:solidFill>
            <a:ln>
              <a:noFill/>
            </a:ln>
          </p:spPr>
        </p:sp>
        <p:sp>
          <p:nvSpPr>
            <p:cNvPr id="27" name="TextBox 27"/>
            <p:cNvSpPr txBox="1"/>
            <p:nvPr/>
          </p:nvSpPr>
          <p:spPr>
            <a:xfrm>
              <a:off x="7343394" y="1618298"/>
              <a:ext cx="1695981"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Bölüm hedefi</a:t>
              </a:r>
            </a:p>
          </p:txBody>
        </p:sp>
        <p:sp>
          <p:nvSpPr>
            <p:cNvPr id="28" name="TextBox 28"/>
            <p:cNvSpPr txBox="1"/>
            <p:nvPr/>
          </p:nvSpPr>
          <p:spPr>
            <a:xfrm>
              <a:off x="7344156" y="2167890"/>
              <a:ext cx="3664458" cy="2295144"/>
            </a:xfrm>
            <a:prstGeom prst="rect">
              <a:avLst/>
            </a:prstGeom>
            <a:noFill/>
            <a:ln>
              <a:noFill/>
            </a:ln>
          </p:spPr>
          <p:txBody>
            <a:bodyPr wrap="none" lIns="0" tIns="0" rIns="0" bIns="0" anchor="t" anchorCtr="0">
              <a:spAutoFit/>
            </a:bodyPr>
            <a:lstStyle/>
            <a:p>
              <a:pPr algn="l">
                <a:lnSpc>
                  <a:spcPts val="2550"/>
                </a:lnSpc>
              </a:pPr>
              <a:r>
                <a:rPr lang="tr-TR" sz="1800" dirty="0">
                  <a:solidFill>
                    <a:srgbClr val="172B3A"/>
                  </a:solidFill>
                  <a:latin typeface="+mn-lt"/>
                  <a:ea typeface="+mn-ea"/>
                  <a:cs typeface="+mn-cs"/>
                </a:rPr>
                <a:t>Bu bölümün sonunda çok katmanlı</a:t>
              </a:r>
              <a:br/>
              <a:r>
                <a:rPr lang="tr-TR" sz="1800" dirty="0">
                  <a:solidFill>
                    <a:srgbClr val="172B3A"/>
                  </a:solidFill>
                  <a:latin typeface="+mn-lt"/>
                  <a:ea typeface="+mn-ea"/>
                  <a:cs typeface="+mn-cs"/>
                </a:rPr>
                <a:t>bir web uygulamasının temel</a:t>
              </a:r>
              <a:br/>
              <a:r>
                <a:rPr lang="tr-TR" sz="1800" dirty="0">
                  <a:solidFill>
                    <a:srgbClr val="172B3A"/>
                  </a:solidFill>
                  <a:latin typeface="+mn-lt"/>
                  <a:ea typeface="+mn-ea"/>
                  <a:cs typeface="+mn-cs"/>
                </a:rPr>
                <a:t>bileşenlerini tanımlayabilecek,</a:t>
              </a:r>
              <a:br/>
              <a:r>
                <a:rPr lang="tr-TR" sz="1800" dirty="0">
                  <a:solidFill>
                    <a:srgbClr val="172B3A"/>
                  </a:solidFill>
                  <a:latin typeface="+mn-lt"/>
                  <a:ea typeface="+mn-ea"/>
                  <a:cs typeface="+mn-cs"/>
                </a:rPr>
                <a:t>TypeScript ile basit istek-yanıt</a:t>
              </a:r>
              <a:br/>
              <a:r>
                <a:rPr lang="tr-TR" sz="1800" dirty="0">
                  <a:solidFill>
                    <a:srgbClr val="172B3A"/>
                  </a:solidFill>
                  <a:latin typeface="+mn-lt"/>
                  <a:ea typeface="+mn-ea"/>
                  <a:cs typeface="+mn-cs"/>
                </a:rPr>
                <a:t>akışları kurabilecek ve reverse</a:t>
              </a:r>
              <a:br/>
              <a:r>
                <a:rPr lang="tr-TR" sz="1800" dirty="0">
                  <a:solidFill>
                    <a:srgbClr val="172B3A"/>
                  </a:solidFill>
                  <a:latin typeface="+mn-lt"/>
                  <a:ea typeface="+mn-ea"/>
                  <a:cs typeface="+mn-cs"/>
                </a:rPr>
                <a:t>proxy kararlarını</a:t>
              </a:r>
              <a:br/>
              <a:r>
                <a:rPr lang="tr-TR" sz="1800" dirty="0">
                  <a:solidFill>
                    <a:srgbClr val="172B3A"/>
                  </a:solidFill>
                  <a:latin typeface="+mn-lt"/>
                  <a:ea typeface="+mn-ea"/>
                  <a:cs typeface="+mn-cs"/>
                </a:rPr>
                <a:t>yorumlayabileceksiniz.</a:t>
              </a:r>
            </a:p>
          </p:txBody>
        </p:sp>
      </p:grpSp>
      <p:grpSp>
        <p:nvGrpSpPr>
          <p:cNvPr id="32" name="footer"/>
          <p:cNvGrpSpPr/>
          <p:nvPr/>
        </p:nvGrpSpPr>
        <p:grpSpPr>
          <a:xfrm>
            <a:off x="565404" y="6404610"/>
            <a:ext cx="11061192" cy="234696"/>
            <a:chOff x="565404" y="6404610"/>
            <a:chExt cx="11061192" cy="234696"/>
          </a:xfrm>
        </p:grpSpPr>
        <p:sp>
          <p:nvSpPr>
            <p:cNvPr id="30" name="TextBox 30"/>
            <p:cNvSpPr txBox="1"/>
            <p:nvPr/>
          </p:nvSpPr>
          <p:spPr>
            <a:xfrm>
              <a:off x="565404" y="6404610"/>
              <a:ext cx="496284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Bölüm 1 · Modern Backend Programlamaya Giriş ve Web Mimarisi</a:t>
              </a:r>
            </a:p>
          </p:txBody>
        </p:sp>
        <p:sp>
          <p:nvSpPr>
            <p:cNvPr id="31" name="TextBox 31"/>
            <p:cNvSpPr txBox="1"/>
            <p:nvPr/>
          </p:nvSpPr>
          <p:spPr>
            <a:xfrm>
              <a:off x="11436706" y="640461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02</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5" name="title"/>
          <p:cNvGrpSpPr/>
          <p:nvPr/>
        </p:nvGrpSpPr>
        <p:grpSpPr>
          <a:xfrm>
            <a:off x="0" y="0"/>
            <a:ext cx="12192000" cy="952500"/>
            <a:chOff x="0" y="0"/>
            <a:chExt cx="12192000" cy="952500"/>
          </a:xfrm>
        </p:grpSpPr>
        <p:sp>
          <p:nvSpPr>
            <p:cNvPr id="2" name="Rectangle 2"/>
            <p:cNvSpPr/>
            <p:nvPr/>
          </p:nvSpPr>
          <p:spPr>
            <a:xfrm>
              <a:off x="0" y="0"/>
              <a:ext cx="12192000" cy="914400"/>
            </a:xfrm>
            <a:prstGeom prst="rect">
              <a:avLst/>
            </a:prstGeom>
            <a:solidFill>
              <a:srgbClr val="12355B"/>
            </a:solidFill>
            <a:ln>
              <a:noFill/>
            </a:ln>
          </p:spPr>
        </p:sp>
        <p:sp>
          <p:nvSpPr>
            <p:cNvPr id="3" name="Rectangle 3"/>
            <p:cNvSpPr/>
            <p:nvPr/>
          </p:nvSpPr>
          <p:spPr>
            <a:xfrm>
              <a:off x="0" y="914400"/>
              <a:ext cx="12192000" cy="38100"/>
            </a:xfrm>
            <a:prstGeom prst="rect">
              <a:avLst/>
            </a:prstGeom>
            <a:solidFill>
              <a:srgbClr val="00A6A6"/>
            </a:solidFill>
            <a:ln>
              <a:noFill/>
            </a:ln>
          </p:spPr>
        </p:sp>
        <p:sp>
          <p:nvSpPr>
            <p:cNvPr id="4" name="TextBox 4"/>
            <p:cNvSpPr txBox="1"/>
            <p:nvPr/>
          </p:nvSpPr>
          <p:spPr>
            <a:xfrm>
              <a:off x="557022" y="282892"/>
              <a:ext cx="7413763" cy="557403"/>
            </a:xfrm>
            <a:prstGeom prst="rect">
              <a:avLst/>
            </a:prstGeom>
            <a:noFill/>
            <a:ln>
              <a:noFill/>
            </a:ln>
          </p:spPr>
          <p:txBody>
            <a:bodyPr wrap="none" lIns="0" tIns="0" rIns="0" bIns="0" anchor="t" anchorCtr="0">
              <a:spAutoFit/>
            </a:bodyPr>
            <a:lstStyle/>
            <a:p>
              <a:pPr algn="l"/>
              <a:r>
                <a:rPr lang="tr-TR" sz="2850" b="1" dirty="0">
                  <a:solidFill>
                    <a:srgbClr val="F7FAFC"/>
                  </a:solidFill>
                  <a:latin typeface="+mj-lt"/>
                  <a:ea typeface="+mj-ea"/>
                  <a:cs typeface="+mj-cs"/>
                </a:rPr>
                <a:t>Öğrenme hedefleri ve başarı ölçütleri</a:t>
              </a:r>
            </a:p>
          </p:txBody>
        </p:sp>
      </p:grpSp>
      <p:grpSp>
        <p:nvGrpSpPr>
          <p:cNvPr id="9" name="objective-1"/>
          <p:cNvGrpSpPr/>
          <p:nvPr/>
        </p:nvGrpSpPr>
        <p:grpSpPr>
          <a:xfrm>
            <a:off x="560070" y="1414462"/>
            <a:ext cx="10397062" cy="704756"/>
            <a:chOff x="560070" y="1414462"/>
            <a:chExt cx="10397062" cy="704756"/>
          </a:xfrm>
        </p:grpSpPr>
        <p:sp>
          <p:nvSpPr>
            <p:cNvPr id="6" name="TextBox 6"/>
            <p:cNvSpPr txBox="1"/>
            <p:nvPr/>
          </p:nvSpPr>
          <p:spPr>
            <a:xfrm>
              <a:off x="560070" y="1414462"/>
              <a:ext cx="197782" cy="440055"/>
            </a:xfrm>
            <a:prstGeom prst="rect">
              <a:avLst/>
            </a:prstGeom>
            <a:noFill/>
            <a:ln>
              <a:noFill/>
            </a:ln>
          </p:spPr>
          <p:txBody>
            <a:bodyPr wrap="none" lIns="0" tIns="0" rIns="0" bIns="0" anchor="t" anchorCtr="0">
              <a:spAutoFit/>
            </a:bodyPr>
            <a:lstStyle/>
            <a:p>
              <a:pPr algn="l"/>
              <a:r>
                <a:rPr lang="tr-TR" sz="2250" b="1" dirty="0">
                  <a:solidFill>
                    <a:srgbClr val="00A6A6"/>
                  </a:solidFill>
                  <a:latin typeface="+mn-lt"/>
                  <a:ea typeface="+mn-ea"/>
                  <a:cs typeface="+mn-cs"/>
                </a:rPr>
                <a:t>1</a:t>
              </a:r>
            </a:p>
          </p:txBody>
        </p:sp>
        <p:sp>
          <p:nvSpPr>
            <p:cNvPr id="7" name="TextBox 7"/>
            <p:cNvSpPr txBox="1"/>
            <p:nvPr/>
          </p:nvSpPr>
          <p:spPr>
            <a:xfrm>
              <a:off x="1095756" y="1463040"/>
              <a:ext cx="601823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Sorumlulukların katmanlara dağılımını tanımak</a:t>
              </a:r>
            </a:p>
          </p:txBody>
        </p:sp>
        <p:sp>
          <p:nvSpPr>
            <p:cNvPr id="8" name="TextBox 8"/>
            <p:cNvSpPr txBox="1"/>
            <p:nvPr/>
          </p:nvSpPr>
          <p:spPr>
            <a:xfrm>
              <a:off x="1096899" y="1811179"/>
              <a:ext cx="9860233"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verilen bir senaryoda her adımın hangi katmanda gerçekleştiğini yanlışsız işaretlemek.</a:t>
              </a:r>
            </a:p>
          </p:txBody>
        </p:sp>
      </p:grpSp>
      <p:grpSp>
        <p:nvGrpSpPr>
          <p:cNvPr id="14" name="objective-2"/>
          <p:cNvGrpSpPr/>
          <p:nvPr/>
        </p:nvGrpSpPr>
        <p:grpSpPr>
          <a:xfrm>
            <a:off x="560070" y="2305050"/>
            <a:ext cx="11060430" cy="785718"/>
            <a:chOff x="560070" y="2305050"/>
            <a:chExt cx="11060430" cy="785718"/>
          </a:xfrm>
        </p:grpSpPr>
        <p:sp>
          <p:nvSpPr>
            <p:cNvPr id="10" name="Line 10"/>
            <p:cNvSpPr/>
            <p:nvPr/>
          </p:nvSpPr>
          <p:spPr>
            <a:xfrm>
              <a:off x="571500" y="2305050"/>
              <a:ext cx="11049000" cy="9525"/>
            </a:xfrm>
            <a:custGeom>
              <a:avLst/>
              <a:gdLst/>
              <a:ahLst/>
              <a:cxnLst/>
              <a:rect l="l" t="t" r="r" b="b"/>
              <a:pathLst>
                <a:path w="11049000" h="9525">
                  <a:moveTo>
                    <a:pt x="0" y="0"/>
                  </a:moveTo>
                  <a:lnTo>
                    <a:pt x="11049000" y="0"/>
                  </a:lnTo>
                </a:path>
              </a:pathLst>
            </a:custGeom>
            <a:noFill/>
            <a:ln w="9525">
              <a:solidFill>
                <a:srgbClr val="B8CBD3"/>
              </a:solidFill>
            </a:ln>
          </p:spPr>
        </p:sp>
        <p:sp>
          <p:nvSpPr>
            <p:cNvPr id="11" name="TextBox 11"/>
            <p:cNvSpPr txBox="1"/>
            <p:nvPr/>
          </p:nvSpPr>
          <p:spPr>
            <a:xfrm>
              <a:off x="560070" y="2386012"/>
              <a:ext cx="197782" cy="440055"/>
            </a:xfrm>
            <a:prstGeom prst="rect">
              <a:avLst/>
            </a:prstGeom>
            <a:noFill/>
            <a:ln>
              <a:noFill/>
            </a:ln>
          </p:spPr>
          <p:txBody>
            <a:bodyPr wrap="none" lIns="0" tIns="0" rIns="0" bIns="0" anchor="t" anchorCtr="0">
              <a:spAutoFit/>
            </a:bodyPr>
            <a:lstStyle/>
            <a:p>
              <a:pPr algn="l"/>
              <a:r>
                <a:rPr lang="tr-TR" sz="2250" b="1" dirty="0">
                  <a:solidFill>
                    <a:srgbClr val="00A6A6"/>
                  </a:solidFill>
                  <a:latin typeface="+mn-lt"/>
                  <a:ea typeface="+mn-ea"/>
                  <a:cs typeface="+mn-cs"/>
                </a:rPr>
                <a:t>2</a:t>
              </a:r>
            </a:p>
          </p:txBody>
        </p:sp>
        <p:sp>
          <p:nvSpPr>
            <p:cNvPr id="12" name="TextBox 12"/>
            <p:cNvSpPr txBox="1"/>
            <p:nvPr/>
          </p:nvSpPr>
          <p:spPr>
            <a:xfrm>
              <a:off x="1095756" y="2434590"/>
              <a:ext cx="708645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HTTP ile HTTPS farkını güvenlik gerekçeleriyle açıklamak</a:t>
              </a:r>
            </a:p>
          </p:txBody>
        </p:sp>
        <p:sp>
          <p:nvSpPr>
            <p:cNvPr id="13" name="TextBox 13"/>
            <p:cNvSpPr txBox="1"/>
            <p:nvPr/>
          </p:nvSpPr>
          <p:spPr>
            <a:xfrm>
              <a:off x="1096899" y="2782729"/>
              <a:ext cx="8736860"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“HTTPS kullanıyoruz, o hâlde güvendeyiz” iddiasındaki hatayı gösterebilmek.</a:t>
              </a:r>
            </a:p>
          </p:txBody>
        </p:sp>
      </p:grpSp>
      <p:grpSp>
        <p:nvGrpSpPr>
          <p:cNvPr id="19" name="objective-3"/>
          <p:cNvGrpSpPr/>
          <p:nvPr/>
        </p:nvGrpSpPr>
        <p:grpSpPr>
          <a:xfrm>
            <a:off x="560070" y="3276600"/>
            <a:ext cx="11060430" cy="785718"/>
            <a:chOff x="560070" y="3276600"/>
            <a:chExt cx="11060430" cy="785718"/>
          </a:xfrm>
        </p:grpSpPr>
        <p:sp>
          <p:nvSpPr>
            <p:cNvPr id="15" name="Line 15"/>
            <p:cNvSpPr/>
            <p:nvPr/>
          </p:nvSpPr>
          <p:spPr>
            <a:xfrm>
              <a:off x="571500" y="3276600"/>
              <a:ext cx="11049000" cy="9525"/>
            </a:xfrm>
            <a:custGeom>
              <a:avLst/>
              <a:gdLst/>
              <a:ahLst/>
              <a:cxnLst/>
              <a:rect l="l" t="t" r="r" b="b"/>
              <a:pathLst>
                <a:path w="11049000" h="9525">
                  <a:moveTo>
                    <a:pt x="0" y="0"/>
                  </a:moveTo>
                  <a:lnTo>
                    <a:pt x="11049000" y="0"/>
                  </a:lnTo>
                </a:path>
              </a:pathLst>
            </a:custGeom>
            <a:noFill/>
            <a:ln w="9525">
              <a:solidFill>
                <a:srgbClr val="B8CBD3"/>
              </a:solidFill>
            </a:ln>
          </p:spPr>
        </p:sp>
        <p:sp>
          <p:nvSpPr>
            <p:cNvPr id="16" name="TextBox 16"/>
            <p:cNvSpPr txBox="1"/>
            <p:nvPr/>
          </p:nvSpPr>
          <p:spPr>
            <a:xfrm>
              <a:off x="560070" y="3357562"/>
              <a:ext cx="197782" cy="440055"/>
            </a:xfrm>
            <a:prstGeom prst="rect">
              <a:avLst/>
            </a:prstGeom>
            <a:noFill/>
            <a:ln>
              <a:noFill/>
            </a:ln>
          </p:spPr>
          <p:txBody>
            <a:bodyPr wrap="none" lIns="0" tIns="0" rIns="0" bIns="0" anchor="t" anchorCtr="0">
              <a:spAutoFit/>
            </a:bodyPr>
            <a:lstStyle/>
            <a:p>
              <a:pPr algn="l"/>
              <a:r>
                <a:rPr lang="tr-TR" sz="2250" b="1" dirty="0">
                  <a:solidFill>
                    <a:srgbClr val="00A6A6"/>
                  </a:solidFill>
                  <a:latin typeface="+mn-lt"/>
                  <a:ea typeface="+mn-ea"/>
                  <a:cs typeface="+mn-cs"/>
                </a:rPr>
                <a:t>3</a:t>
              </a:r>
            </a:p>
          </p:txBody>
        </p:sp>
        <p:sp>
          <p:nvSpPr>
            <p:cNvPr id="17" name="TextBox 17"/>
            <p:cNvSpPr txBox="1"/>
            <p:nvPr/>
          </p:nvSpPr>
          <p:spPr>
            <a:xfrm>
              <a:off x="1095756" y="3406140"/>
              <a:ext cx="618164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Bir uç nokta için API sözleşmesini tanımlayabilmek</a:t>
              </a:r>
            </a:p>
          </p:txBody>
        </p:sp>
        <p:sp>
          <p:nvSpPr>
            <p:cNvPr id="18" name="TextBox 18"/>
            <p:cNvSpPr txBox="1"/>
            <p:nvPr/>
          </p:nvSpPr>
          <p:spPr>
            <a:xfrm>
              <a:off x="1096899" y="3754279"/>
              <a:ext cx="9349648"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aynı sözleşmeyi okuyan iki geliştiricinin uyumlu istemci ve sunucu kodu yazabilmesi.</a:t>
              </a:r>
            </a:p>
          </p:txBody>
        </p:sp>
      </p:grpSp>
      <p:grpSp>
        <p:nvGrpSpPr>
          <p:cNvPr id="24" name="objective-4"/>
          <p:cNvGrpSpPr/>
          <p:nvPr/>
        </p:nvGrpSpPr>
        <p:grpSpPr>
          <a:xfrm>
            <a:off x="560070" y="4248150"/>
            <a:ext cx="11060430" cy="785718"/>
            <a:chOff x="560070" y="4248150"/>
            <a:chExt cx="11060430" cy="785718"/>
          </a:xfrm>
        </p:grpSpPr>
        <p:sp>
          <p:nvSpPr>
            <p:cNvPr id="20" name="Line 20"/>
            <p:cNvSpPr/>
            <p:nvPr/>
          </p:nvSpPr>
          <p:spPr>
            <a:xfrm>
              <a:off x="571500" y="4248150"/>
              <a:ext cx="11049000" cy="9525"/>
            </a:xfrm>
            <a:custGeom>
              <a:avLst/>
              <a:gdLst/>
              <a:ahLst/>
              <a:cxnLst/>
              <a:rect l="l" t="t" r="r" b="b"/>
              <a:pathLst>
                <a:path w="11049000" h="9525">
                  <a:moveTo>
                    <a:pt x="0" y="0"/>
                  </a:moveTo>
                  <a:lnTo>
                    <a:pt x="11049000" y="0"/>
                  </a:lnTo>
                </a:path>
              </a:pathLst>
            </a:custGeom>
            <a:noFill/>
            <a:ln w="9525">
              <a:solidFill>
                <a:srgbClr val="B8CBD3"/>
              </a:solidFill>
            </a:ln>
          </p:spPr>
        </p:sp>
        <p:sp>
          <p:nvSpPr>
            <p:cNvPr id="21" name="TextBox 21"/>
            <p:cNvSpPr txBox="1"/>
            <p:nvPr/>
          </p:nvSpPr>
          <p:spPr>
            <a:xfrm>
              <a:off x="560070" y="4329112"/>
              <a:ext cx="197782" cy="440055"/>
            </a:xfrm>
            <a:prstGeom prst="rect">
              <a:avLst/>
            </a:prstGeom>
            <a:noFill/>
            <a:ln>
              <a:noFill/>
            </a:ln>
          </p:spPr>
          <p:txBody>
            <a:bodyPr wrap="none" lIns="0" tIns="0" rIns="0" bIns="0" anchor="t" anchorCtr="0">
              <a:spAutoFit/>
            </a:bodyPr>
            <a:lstStyle/>
            <a:p>
              <a:pPr algn="l"/>
              <a:r>
                <a:rPr lang="tr-TR" sz="2250" b="1" dirty="0">
                  <a:solidFill>
                    <a:srgbClr val="00A6A6"/>
                  </a:solidFill>
                  <a:latin typeface="+mn-lt"/>
                  <a:ea typeface="+mn-ea"/>
                  <a:cs typeface="+mn-cs"/>
                </a:rPr>
                <a:t>4</a:t>
              </a:r>
            </a:p>
          </p:txBody>
        </p:sp>
        <p:sp>
          <p:nvSpPr>
            <p:cNvPr id="22" name="TextBox 22"/>
            <p:cNvSpPr txBox="1"/>
            <p:nvPr/>
          </p:nvSpPr>
          <p:spPr>
            <a:xfrm>
              <a:off x="1095756" y="4377690"/>
              <a:ext cx="774824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İş kurallarının neden istemciye devredilemeyeceğini kavramak</a:t>
              </a:r>
            </a:p>
          </p:txBody>
        </p:sp>
        <p:sp>
          <p:nvSpPr>
            <p:cNvPr id="23" name="TextBox 23"/>
            <p:cNvSpPr txBox="1"/>
            <p:nvPr/>
          </p:nvSpPr>
          <p:spPr>
            <a:xfrm>
              <a:off x="1096899" y="4725829"/>
              <a:ext cx="9307441"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verilen bir kod parçasında doğrulamanın yanlış katmanda yapıldığını fark etmek.</a:t>
              </a:r>
            </a:p>
          </p:txBody>
        </p:sp>
      </p:grpSp>
      <p:grpSp>
        <p:nvGrpSpPr>
          <p:cNvPr id="29" name="objective-5"/>
          <p:cNvGrpSpPr/>
          <p:nvPr/>
        </p:nvGrpSpPr>
        <p:grpSpPr>
          <a:xfrm>
            <a:off x="560070" y="5219700"/>
            <a:ext cx="11060430" cy="785718"/>
            <a:chOff x="560070" y="5219700"/>
            <a:chExt cx="11060430" cy="785718"/>
          </a:xfrm>
        </p:grpSpPr>
        <p:sp>
          <p:nvSpPr>
            <p:cNvPr id="25" name="Line 25"/>
            <p:cNvSpPr/>
            <p:nvPr/>
          </p:nvSpPr>
          <p:spPr>
            <a:xfrm>
              <a:off x="571500" y="5219700"/>
              <a:ext cx="11049000" cy="9525"/>
            </a:xfrm>
            <a:custGeom>
              <a:avLst/>
              <a:gdLst/>
              <a:ahLst/>
              <a:cxnLst/>
              <a:rect l="l" t="t" r="r" b="b"/>
              <a:pathLst>
                <a:path w="11049000" h="9525">
                  <a:moveTo>
                    <a:pt x="0" y="0"/>
                  </a:moveTo>
                  <a:lnTo>
                    <a:pt x="11049000" y="0"/>
                  </a:lnTo>
                </a:path>
              </a:pathLst>
            </a:custGeom>
            <a:noFill/>
            <a:ln w="9525">
              <a:solidFill>
                <a:srgbClr val="B8CBD3"/>
              </a:solidFill>
            </a:ln>
          </p:spPr>
        </p:sp>
        <p:sp>
          <p:nvSpPr>
            <p:cNvPr id="26" name="TextBox 26"/>
            <p:cNvSpPr txBox="1"/>
            <p:nvPr/>
          </p:nvSpPr>
          <p:spPr>
            <a:xfrm>
              <a:off x="560070" y="5300662"/>
              <a:ext cx="197782" cy="440055"/>
            </a:xfrm>
            <a:prstGeom prst="rect">
              <a:avLst/>
            </a:prstGeom>
            <a:noFill/>
            <a:ln>
              <a:noFill/>
            </a:ln>
          </p:spPr>
          <p:txBody>
            <a:bodyPr wrap="none" lIns="0" tIns="0" rIns="0" bIns="0" anchor="t" anchorCtr="0">
              <a:spAutoFit/>
            </a:bodyPr>
            <a:lstStyle/>
            <a:p>
              <a:pPr algn="l"/>
              <a:r>
                <a:rPr lang="tr-TR" sz="2250" b="1" dirty="0">
                  <a:solidFill>
                    <a:srgbClr val="00A6A6"/>
                  </a:solidFill>
                  <a:latin typeface="+mn-lt"/>
                  <a:ea typeface="+mn-ea"/>
                  <a:cs typeface="+mn-cs"/>
                </a:rPr>
                <a:t>5</a:t>
              </a:r>
            </a:p>
          </p:txBody>
        </p:sp>
        <p:sp>
          <p:nvSpPr>
            <p:cNvPr id="27" name="TextBox 27"/>
            <p:cNvSpPr txBox="1"/>
            <p:nvPr/>
          </p:nvSpPr>
          <p:spPr>
            <a:xfrm>
              <a:off x="1095756" y="5349240"/>
              <a:ext cx="493699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Ters vekil sunucunun rolünü yorumlamak</a:t>
              </a:r>
            </a:p>
          </p:txBody>
        </p:sp>
        <p:sp>
          <p:nvSpPr>
            <p:cNvPr id="28" name="TextBox 28"/>
            <p:cNvSpPr txBox="1"/>
            <p:nvPr/>
          </p:nvSpPr>
          <p:spPr>
            <a:xfrm>
              <a:off x="1096899" y="5697379"/>
              <a:ext cx="9382084"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tek alan adı altında çok servisin yayımlanmasını ve TLS sonlandırmayı açıklamak.</a:t>
              </a:r>
            </a:p>
          </p:txBody>
        </p:sp>
      </p:grpSp>
      <p:grpSp>
        <p:nvGrpSpPr>
          <p:cNvPr id="32" name="footer"/>
          <p:cNvGrpSpPr/>
          <p:nvPr/>
        </p:nvGrpSpPr>
        <p:grpSpPr>
          <a:xfrm>
            <a:off x="565404" y="6404610"/>
            <a:ext cx="11061192" cy="234696"/>
            <a:chOff x="565404" y="6404610"/>
            <a:chExt cx="11061192" cy="234696"/>
          </a:xfrm>
        </p:grpSpPr>
        <p:sp>
          <p:nvSpPr>
            <p:cNvPr id="30" name="TextBox 30"/>
            <p:cNvSpPr txBox="1"/>
            <p:nvPr/>
          </p:nvSpPr>
          <p:spPr>
            <a:xfrm>
              <a:off x="565404" y="6404610"/>
              <a:ext cx="496284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Bölüm 1 · Modern Backend Programlamaya Giriş ve Web Mimarisi</a:t>
              </a:r>
            </a:p>
          </p:txBody>
        </p:sp>
        <p:sp>
          <p:nvSpPr>
            <p:cNvPr id="31" name="TextBox 31"/>
            <p:cNvSpPr txBox="1"/>
            <p:nvPr/>
          </p:nvSpPr>
          <p:spPr>
            <a:xfrm>
              <a:off x="11436706" y="640461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03</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3" name="title"/>
          <p:cNvGrpSpPr/>
          <p:nvPr/>
        </p:nvGrpSpPr>
        <p:grpSpPr>
          <a:xfrm>
            <a:off x="0" y="0"/>
            <a:ext cx="12745270" cy="952500"/>
            <a:chOff x="0" y="0"/>
            <a:chExt cx="12745270" cy="952500"/>
          </a:xfrm>
        </p:grpSpPr>
        <p:sp>
          <p:nvSpPr>
            <p:cNvPr id="2" name="Rectangle 2"/>
            <p:cNvSpPr/>
            <p:nvPr/>
          </p:nvSpPr>
          <p:spPr>
            <a:xfrm>
              <a:off x="0" y="0"/>
              <a:ext cx="12192000" cy="914400"/>
            </a:xfrm>
            <a:prstGeom prst="rect">
              <a:avLst/>
            </a:prstGeom>
            <a:solidFill>
              <a:srgbClr val="12355B"/>
            </a:solidFill>
            <a:ln>
              <a:noFill/>
            </a:ln>
          </p:spPr>
        </p:sp>
        <p:sp>
          <p:nvSpPr>
            <p:cNvPr id="3" name="Rectangle 3"/>
            <p:cNvSpPr/>
            <p:nvPr/>
          </p:nvSpPr>
          <p:spPr>
            <a:xfrm>
              <a:off x="0" y="914400"/>
              <a:ext cx="12192000" cy="38100"/>
            </a:xfrm>
            <a:prstGeom prst="rect">
              <a:avLst/>
            </a:prstGeom>
            <a:solidFill>
              <a:srgbClr val="00A6A6"/>
            </a:solidFill>
            <a:ln>
              <a:noFill/>
            </a:ln>
          </p:spPr>
        </p:sp>
        <p:grpSp>
          <p:nvGrpSpPr>
            <p:cNvPr id="11" name="icon-badge"/>
            <p:cNvGrpSpPr/>
            <p:nvPr/>
          </p:nvGrpSpPr>
          <p:grpSpPr>
            <a:xfrm>
              <a:off x="571500" y="171450"/>
              <a:ext cx="571500" cy="571500"/>
              <a:chOff x="571500" y="171450"/>
              <a:chExt cx="571500" cy="571500"/>
            </a:xfrm>
          </p:grpSpPr>
          <p:sp>
            <p:nvSpPr>
              <p:cNvPr id="4" name="Ellipse 4"/>
              <p:cNvSpPr/>
              <p:nvPr/>
            </p:nvSpPr>
            <p:spPr>
              <a:xfrm>
                <a:off x="571500" y="171450"/>
                <a:ext cx="571500" cy="571500"/>
              </a:xfrm>
              <a:prstGeom prst="ellipse">
                <a:avLst/>
              </a:prstGeom>
              <a:solidFill>
                <a:srgbClr val="00A6A6"/>
              </a:solidFill>
              <a:ln>
                <a:noFill/>
              </a:ln>
            </p:spPr>
          </p:sp>
          <p:grpSp>
            <p:nvGrpSpPr>
              <p:cNvPr id="10" name="Group 10"/>
              <p:cNvGrpSpPr/>
              <p:nvPr/>
            </p:nvGrpSpPr>
            <p:grpSpPr>
              <a:xfrm>
                <a:off x="724376" y="324326"/>
                <a:ext cx="265748" cy="265748"/>
                <a:chOff x="724376" y="324326"/>
                <a:chExt cx="265748" cy="265748"/>
              </a:xfrm>
            </p:grpSpPr>
            <p:sp>
              <p:nvSpPr>
                <p:cNvPr id="5" name="Freeform 5"/>
                <p:cNvSpPr/>
                <p:nvPr/>
              </p:nvSpPr>
              <p:spPr>
                <a:xfrm>
                  <a:off x="724376" y="324326"/>
                  <a:ext cx="265748" cy="265748"/>
                </a:xfrm>
                <a:custGeom>
                  <a:avLst/>
                  <a:gdLst/>
                  <a:ahLst/>
                  <a:cxnLst/>
                  <a:rect l="l" t="t" r="r" b="b"/>
                  <a:pathLst>
                    <a:path w="265748" h="265748">
                      <a:moveTo>
                        <a:pt x="0" y="132874"/>
                      </a:moveTo>
                      <a:cubicBezTo>
                        <a:pt x="0" y="206258"/>
                        <a:pt x="59490" y="265748"/>
                        <a:pt x="132874" y="265748"/>
                      </a:cubicBezTo>
                      <a:cubicBezTo>
                        <a:pt x="206258" y="265748"/>
                        <a:pt x="265748" y="206258"/>
                        <a:pt x="265748" y="132874"/>
                      </a:cubicBezTo>
                      <a:cubicBezTo>
                        <a:pt x="265748" y="59490"/>
                        <a:pt x="206258" y="0"/>
                        <a:pt x="132874" y="0"/>
                      </a:cubicBezTo>
                      <a:cubicBezTo>
                        <a:pt x="59490" y="0"/>
                        <a:pt x="0" y="59490"/>
                        <a:pt x="0" y="132874"/>
                      </a:cubicBezTo>
                    </a:path>
                  </a:pathLst>
                </a:custGeom>
                <a:noFill/>
                <a:ln w="24759" cap="rnd">
                  <a:solidFill>
                    <a:srgbClr val="FFFFFF"/>
                  </a:solidFill>
                  <a:round/>
                </a:ln>
              </p:spPr>
            </p:sp>
            <p:sp>
              <p:nvSpPr>
                <p:cNvPr id="6" name="Freeform 6"/>
                <p:cNvSpPr/>
                <p:nvPr/>
              </p:nvSpPr>
              <p:spPr>
                <a:xfrm>
                  <a:off x="733234" y="412909"/>
                  <a:ext cx="248031" cy="9525"/>
                </a:xfrm>
                <a:custGeom>
                  <a:avLst/>
                  <a:gdLst/>
                  <a:ahLst/>
                  <a:cxnLst/>
                  <a:rect l="l" t="t" r="r" b="b"/>
                  <a:pathLst>
                    <a:path w="248031" h="9525">
                      <a:moveTo>
                        <a:pt x="0" y="0"/>
                      </a:moveTo>
                      <a:lnTo>
                        <a:pt x="248031" y="0"/>
                      </a:lnTo>
                    </a:path>
                  </a:pathLst>
                </a:custGeom>
                <a:noFill/>
                <a:ln w="24759" cap="rnd">
                  <a:solidFill>
                    <a:srgbClr val="FFFFFF"/>
                  </a:solidFill>
                  <a:round/>
                </a:ln>
              </p:spPr>
            </p:sp>
            <p:sp>
              <p:nvSpPr>
                <p:cNvPr id="7" name="Freeform 7"/>
                <p:cNvSpPr/>
                <p:nvPr/>
              </p:nvSpPr>
              <p:spPr>
                <a:xfrm>
                  <a:off x="733234" y="501491"/>
                  <a:ext cx="248031" cy="9525"/>
                </a:xfrm>
                <a:custGeom>
                  <a:avLst/>
                  <a:gdLst/>
                  <a:ahLst/>
                  <a:cxnLst/>
                  <a:rect l="l" t="t" r="r" b="b"/>
                  <a:pathLst>
                    <a:path w="248031" h="9525">
                      <a:moveTo>
                        <a:pt x="0" y="0"/>
                      </a:moveTo>
                      <a:lnTo>
                        <a:pt x="248031" y="0"/>
                      </a:lnTo>
                    </a:path>
                  </a:pathLst>
                </a:custGeom>
                <a:noFill/>
                <a:ln w="24759" cap="rnd">
                  <a:solidFill>
                    <a:srgbClr val="FFFFFF"/>
                  </a:solidFill>
                  <a:round/>
                </a:ln>
              </p:spPr>
            </p:sp>
            <p:sp>
              <p:nvSpPr>
                <p:cNvPr id="8" name="Freeform 8"/>
                <p:cNvSpPr/>
                <p:nvPr/>
              </p:nvSpPr>
              <p:spPr>
                <a:xfrm>
                  <a:off x="799124" y="324326"/>
                  <a:ext cx="50744" cy="265748"/>
                </a:xfrm>
                <a:custGeom>
                  <a:avLst/>
                  <a:gdLst/>
                  <a:ahLst/>
                  <a:cxnLst/>
                  <a:rect l="l" t="t" r="r" b="b"/>
                  <a:pathLst>
                    <a:path w="50744" h="265748">
                      <a:moveTo>
                        <a:pt x="50744" y="0"/>
                      </a:moveTo>
                      <a:cubicBezTo>
                        <a:pt x="0" y="81315"/>
                        <a:pt x="0" y="184432"/>
                        <a:pt x="50744" y="265748"/>
                      </a:cubicBezTo>
                    </a:path>
                  </a:pathLst>
                </a:custGeom>
                <a:noFill/>
                <a:ln w="24759" cap="rnd">
                  <a:solidFill>
                    <a:srgbClr val="FFFFFF"/>
                  </a:solidFill>
                  <a:round/>
                </a:ln>
              </p:spPr>
            </p:sp>
            <p:sp>
              <p:nvSpPr>
                <p:cNvPr id="9" name="Freeform 9"/>
                <p:cNvSpPr/>
                <p:nvPr/>
              </p:nvSpPr>
              <p:spPr>
                <a:xfrm>
                  <a:off x="864632" y="324326"/>
                  <a:ext cx="50744" cy="265748"/>
                </a:xfrm>
                <a:custGeom>
                  <a:avLst/>
                  <a:gdLst/>
                  <a:ahLst/>
                  <a:cxnLst/>
                  <a:rect l="l" t="t" r="r" b="b"/>
                  <a:pathLst>
                    <a:path w="50744" h="265748">
                      <a:moveTo>
                        <a:pt x="0" y="0"/>
                      </a:moveTo>
                      <a:cubicBezTo>
                        <a:pt x="50744" y="81315"/>
                        <a:pt x="50744" y="184432"/>
                        <a:pt x="0" y="265748"/>
                      </a:cubicBezTo>
                    </a:path>
                  </a:pathLst>
                </a:custGeom>
                <a:noFill/>
                <a:ln w="24759" cap="rnd">
                  <a:solidFill>
                    <a:srgbClr val="FFFFFF"/>
                  </a:solidFill>
                  <a:round/>
                </a:ln>
              </p:spPr>
            </p:sp>
          </p:grpSp>
        </p:grpSp>
        <p:sp>
          <p:nvSpPr>
            <p:cNvPr id="12" name="TextBox 12"/>
            <p:cNvSpPr txBox="1"/>
            <p:nvPr/>
          </p:nvSpPr>
          <p:spPr>
            <a:xfrm>
              <a:off x="1261872" y="282892"/>
              <a:ext cx="11483398" cy="557403"/>
            </a:xfrm>
            <a:prstGeom prst="rect">
              <a:avLst/>
            </a:prstGeom>
            <a:noFill/>
            <a:ln>
              <a:noFill/>
            </a:ln>
          </p:spPr>
          <p:txBody>
            <a:bodyPr wrap="none" lIns="0" tIns="0" rIns="0" bIns="0" anchor="t" anchorCtr="0">
              <a:spAutoFit/>
            </a:bodyPr>
            <a:lstStyle/>
            <a:p>
              <a:pPr algn="l"/>
              <a:r>
                <a:rPr lang="tr-TR" sz="2850" b="1" dirty="0">
                  <a:solidFill>
                    <a:srgbClr val="F7FAFC"/>
                  </a:solidFill>
                  <a:latin typeface="+mj-lt"/>
                  <a:ea typeface="+mj-ea"/>
                  <a:cs typeface="+mj-cs"/>
                </a:rPr>
                <a:t>Kavram haritası: dört kavram hangi sorumluluğu üstlenir?</a:t>
              </a:r>
            </a:p>
          </p:txBody>
        </p:sp>
      </p:grpSp>
      <p:grpSp>
        <p:nvGrpSpPr>
          <p:cNvPr id="47" name="concept-map"/>
          <p:cNvGrpSpPr/>
          <p:nvPr/>
        </p:nvGrpSpPr>
        <p:grpSpPr>
          <a:xfrm>
            <a:off x="660654" y="1524000"/>
            <a:ext cx="10483596" cy="4105656"/>
            <a:chOff x="660654" y="1524000"/>
            <a:chExt cx="10483596" cy="4105656"/>
          </a:xfrm>
        </p:grpSpPr>
        <p:grpSp>
          <p:nvGrpSpPr>
            <p:cNvPr id="17" name="node-istemci-sunucu"/>
            <p:cNvGrpSpPr/>
            <p:nvPr/>
          </p:nvGrpSpPr>
          <p:grpSpPr>
            <a:xfrm>
              <a:off x="666750" y="1524000"/>
              <a:ext cx="2857500" cy="1047750"/>
              <a:chOff x="666750" y="1524000"/>
              <a:chExt cx="2857500" cy="1047750"/>
            </a:xfrm>
          </p:grpSpPr>
          <p:sp>
            <p:nvSpPr>
              <p:cNvPr id="14" name="Rectangle 14"/>
              <p:cNvSpPr/>
              <p:nvPr/>
            </p:nvSpPr>
            <p:spPr>
              <a:xfrm>
                <a:off x="666750" y="1524000"/>
                <a:ext cx="2857500" cy="1047750"/>
              </a:xfrm>
              <a:prstGeom prst="rect">
                <a:avLst/>
              </a:prstGeom>
              <a:solidFill>
                <a:srgbClr val="FFFFFF"/>
              </a:solidFill>
              <a:ln w="19050">
                <a:solidFill>
                  <a:srgbClr val="2E86AB"/>
                </a:solidFill>
              </a:ln>
            </p:spPr>
          </p:sp>
          <p:sp>
            <p:nvSpPr>
              <p:cNvPr id="15" name="TextBox 15"/>
              <p:cNvSpPr txBox="1"/>
              <p:nvPr/>
            </p:nvSpPr>
            <p:spPr>
              <a:xfrm>
                <a:off x="689192" y="1748790"/>
                <a:ext cx="2812616" cy="352044"/>
              </a:xfrm>
              <a:prstGeom prst="rect">
                <a:avLst/>
              </a:prstGeom>
              <a:noFill/>
              <a:ln>
                <a:noFill/>
              </a:ln>
            </p:spPr>
            <p:txBody>
              <a:bodyPr wrap="none" lIns="0" tIns="0" rIns="0" bIns="0" anchor="t" anchorCtr="0">
                <a:spAutoFit/>
              </a:bodyPr>
              <a:lstStyle/>
              <a:p>
                <a:pPr algn="ctr"/>
                <a:r>
                  <a:rPr lang="tr-TR" sz="1800" b="1" dirty="0">
                    <a:solidFill>
                      <a:srgbClr val="12355B"/>
                    </a:solidFill>
                    <a:latin typeface="+mn-lt"/>
                    <a:ea typeface="+mn-ea"/>
                    <a:cs typeface="+mn-cs"/>
                  </a:rPr>
                  <a:t>İstemci–sunucu modeli</a:t>
                </a:r>
              </a:p>
            </p:txBody>
          </p:sp>
          <p:sp>
            <p:nvSpPr>
              <p:cNvPr id="16" name="TextBox 16"/>
              <p:cNvSpPr txBox="1"/>
              <p:nvPr/>
            </p:nvSpPr>
            <p:spPr>
              <a:xfrm>
                <a:off x="800666" y="2077879"/>
                <a:ext cx="2589667" cy="308039"/>
              </a:xfrm>
              <a:prstGeom prst="rect">
                <a:avLst/>
              </a:prstGeom>
              <a:noFill/>
              <a:ln>
                <a:noFill/>
              </a:ln>
            </p:spPr>
            <p:txBody>
              <a:bodyPr wrap="none" lIns="0" tIns="0" rIns="0" bIns="0" anchor="t" anchorCtr="0">
                <a:spAutoFit/>
              </a:bodyPr>
              <a:lstStyle/>
              <a:p>
                <a:pPr algn="ctr"/>
                <a:r>
                  <a:rPr lang="tr-TR" sz="1580" dirty="0">
                    <a:solidFill>
                      <a:srgbClr val="52616B"/>
                    </a:solidFill>
                    <a:latin typeface="+mn-lt"/>
                    <a:ea typeface="+mn-ea"/>
                    <a:cs typeface="+mn-cs"/>
                  </a:rPr>
                  <a:t>rol ve sorumluluk ayrımı</a:t>
                </a:r>
              </a:p>
            </p:txBody>
          </p:sp>
        </p:grpSp>
        <p:grpSp>
          <p:nvGrpSpPr>
            <p:cNvPr id="21" name="node-http"/>
            <p:cNvGrpSpPr/>
            <p:nvPr/>
          </p:nvGrpSpPr>
          <p:grpSpPr>
            <a:xfrm>
              <a:off x="4467094" y="1524000"/>
              <a:ext cx="2876812" cy="1047750"/>
              <a:chOff x="4467094" y="1524000"/>
              <a:chExt cx="2876812" cy="1047750"/>
            </a:xfrm>
          </p:grpSpPr>
          <p:sp>
            <p:nvSpPr>
              <p:cNvPr id="18" name="Rectangle 18"/>
              <p:cNvSpPr/>
              <p:nvPr/>
            </p:nvSpPr>
            <p:spPr>
              <a:xfrm>
                <a:off x="4476750" y="1524000"/>
                <a:ext cx="2857500" cy="1047750"/>
              </a:xfrm>
              <a:prstGeom prst="rect">
                <a:avLst/>
              </a:prstGeom>
              <a:solidFill>
                <a:srgbClr val="FFFFFF"/>
              </a:solidFill>
              <a:ln w="19050">
                <a:solidFill>
                  <a:srgbClr val="2E86AB"/>
                </a:solidFill>
              </a:ln>
            </p:spPr>
          </p:sp>
          <p:sp>
            <p:nvSpPr>
              <p:cNvPr id="19" name="TextBox 19"/>
              <p:cNvSpPr txBox="1"/>
              <p:nvPr/>
            </p:nvSpPr>
            <p:spPr>
              <a:xfrm>
                <a:off x="5076414" y="1748790"/>
                <a:ext cx="1658173" cy="352044"/>
              </a:xfrm>
              <a:prstGeom prst="rect">
                <a:avLst/>
              </a:prstGeom>
              <a:noFill/>
              <a:ln>
                <a:noFill/>
              </a:ln>
            </p:spPr>
            <p:txBody>
              <a:bodyPr wrap="none" lIns="0" tIns="0" rIns="0" bIns="0" anchor="t" anchorCtr="0">
                <a:spAutoFit/>
              </a:bodyPr>
              <a:lstStyle/>
              <a:p>
                <a:pPr algn="ctr"/>
                <a:r>
                  <a:rPr lang="tr-TR" sz="1800" b="1" dirty="0">
                    <a:solidFill>
                      <a:srgbClr val="12355B"/>
                    </a:solidFill>
                    <a:latin typeface="+mn-lt"/>
                    <a:ea typeface="+mn-ea"/>
                    <a:cs typeface="+mn-cs"/>
                  </a:rPr>
                  <a:t>HTTP · HTTPS</a:t>
                </a:r>
              </a:p>
            </p:txBody>
          </p:sp>
          <p:sp>
            <p:nvSpPr>
              <p:cNvPr id="20" name="TextBox 20"/>
              <p:cNvSpPr txBox="1"/>
              <p:nvPr/>
            </p:nvSpPr>
            <p:spPr>
              <a:xfrm>
                <a:off x="4467094" y="2077879"/>
                <a:ext cx="2876812" cy="308039"/>
              </a:xfrm>
              <a:prstGeom prst="rect">
                <a:avLst/>
              </a:prstGeom>
              <a:noFill/>
              <a:ln>
                <a:noFill/>
              </a:ln>
            </p:spPr>
            <p:txBody>
              <a:bodyPr wrap="none" lIns="0" tIns="0" rIns="0" bIns="0" anchor="t" anchorCtr="0">
                <a:spAutoFit/>
              </a:bodyPr>
              <a:lstStyle/>
              <a:p>
                <a:pPr algn="ctr"/>
                <a:r>
                  <a:rPr lang="tr-TR" sz="1580" dirty="0">
                    <a:solidFill>
                      <a:srgbClr val="52616B"/>
                    </a:solidFill>
                    <a:latin typeface="+mn-lt"/>
                    <a:ea typeface="+mn-ea"/>
                    <a:cs typeface="+mn-cs"/>
                  </a:rPr>
                  <a:t>taşıma ve güvenlik katmanı</a:t>
                </a:r>
              </a:p>
            </p:txBody>
          </p:sp>
        </p:grpSp>
        <p:grpSp>
          <p:nvGrpSpPr>
            <p:cNvPr id="25" name="node-api"/>
            <p:cNvGrpSpPr/>
            <p:nvPr/>
          </p:nvGrpSpPr>
          <p:grpSpPr>
            <a:xfrm>
              <a:off x="8286750" y="1524000"/>
              <a:ext cx="2857500" cy="1047750"/>
              <a:chOff x="8286750" y="1524000"/>
              <a:chExt cx="2857500" cy="1047750"/>
            </a:xfrm>
          </p:grpSpPr>
          <p:sp>
            <p:nvSpPr>
              <p:cNvPr id="22" name="Rectangle 22"/>
              <p:cNvSpPr/>
              <p:nvPr/>
            </p:nvSpPr>
            <p:spPr>
              <a:xfrm>
                <a:off x="8286750" y="1524000"/>
                <a:ext cx="2857500" cy="1047750"/>
              </a:xfrm>
              <a:prstGeom prst="rect">
                <a:avLst/>
              </a:prstGeom>
              <a:solidFill>
                <a:srgbClr val="FFFFFF"/>
              </a:solidFill>
              <a:ln w="19050">
                <a:solidFill>
                  <a:srgbClr val="2E86AB"/>
                </a:solidFill>
              </a:ln>
            </p:spPr>
          </p:sp>
          <p:sp>
            <p:nvSpPr>
              <p:cNvPr id="23" name="TextBox 23"/>
              <p:cNvSpPr txBox="1"/>
              <p:nvPr/>
            </p:nvSpPr>
            <p:spPr>
              <a:xfrm>
                <a:off x="8817100" y="1748790"/>
                <a:ext cx="1796800" cy="352044"/>
              </a:xfrm>
              <a:prstGeom prst="rect">
                <a:avLst/>
              </a:prstGeom>
              <a:noFill/>
              <a:ln>
                <a:noFill/>
              </a:ln>
            </p:spPr>
            <p:txBody>
              <a:bodyPr wrap="none" lIns="0" tIns="0" rIns="0" bIns="0" anchor="t" anchorCtr="0">
                <a:spAutoFit/>
              </a:bodyPr>
              <a:lstStyle/>
              <a:p>
                <a:pPr algn="ctr"/>
                <a:r>
                  <a:rPr lang="tr-TR" sz="1800" b="1" dirty="0">
                    <a:solidFill>
                      <a:srgbClr val="12355B"/>
                    </a:solidFill>
                    <a:latin typeface="+mn-lt"/>
                    <a:ea typeface="+mn-ea"/>
                    <a:cs typeface="+mn-cs"/>
                  </a:rPr>
                  <a:t>API sözleşmesi</a:t>
                </a:r>
              </a:p>
            </p:txBody>
          </p:sp>
          <p:sp>
            <p:nvSpPr>
              <p:cNvPr id="24" name="TextBox 24"/>
              <p:cNvSpPr txBox="1"/>
              <p:nvPr/>
            </p:nvSpPr>
            <p:spPr>
              <a:xfrm>
                <a:off x="8447254" y="2077879"/>
                <a:ext cx="2536492" cy="308039"/>
              </a:xfrm>
              <a:prstGeom prst="rect">
                <a:avLst/>
              </a:prstGeom>
              <a:noFill/>
              <a:ln>
                <a:noFill/>
              </a:ln>
            </p:spPr>
            <p:txBody>
              <a:bodyPr wrap="none" lIns="0" tIns="0" rIns="0" bIns="0" anchor="t" anchorCtr="0">
                <a:spAutoFit/>
              </a:bodyPr>
              <a:lstStyle/>
              <a:p>
                <a:pPr algn="ctr"/>
                <a:r>
                  <a:rPr lang="tr-TR" sz="1580" dirty="0">
                    <a:solidFill>
                      <a:srgbClr val="52616B"/>
                    </a:solidFill>
                    <a:latin typeface="+mn-lt"/>
                    <a:ea typeface="+mn-ea"/>
                    <a:cs typeface="+mn-cs"/>
                  </a:rPr>
                  <a:t>dışa açık yüzü tanımlar</a:t>
                </a:r>
              </a:p>
            </p:txBody>
          </p:sp>
        </p:grpSp>
        <p:grpSp>
          <p:nvGrpSpPr>
            <p:cNvPr id="30" name="node-reverse-proxy"/>
            <p:cNvGrpSpPr/>
            <p:nvPr/>
          </p:nvGrpSpPr>
          <p:grpSpPr>
            <a:xfrm>
              <a:off x="4476750" y="4000500"/>
              <a:ext cx="2857500" cy="1047750"/>
              <a:chOff x="4476750" y="4000500"/>
              <a:chExt cx="2857500" cy="1047750"/>
            </a:xfrm>
          </p:grpSpPr>
          <p:sp>
            <p:nvSpPr>
              <p:cNvPr id="26" name="Rectangle 26"/>
              <p:cNvSpPr/>
              <p:nvPr/>
            </p:nvSpPr>
            <p:spPr>
              <a:xfrm>
                <a:off x="4476750" y="4000500"/>
                <a:ext cx="2857500" cy="1047750"/>
              </a:xfrm>
              <a:prstGeom prst="rect">
                <a:avLst/>
              </a:prstGeom>
              <a:solidFill>
                <a:srgbClr val="EAF4F6"/>
              </a:solidFill>
              <a:ln>
                <a:noFill/>
              </a:ln>
            </p:spPr>
          </p:sp>
          <p:sp>
            <p:nvSpPr>
              <p:cNvPr id="27" name="Rectangle 27"/>
              <p:cNvSpPr/>
              <p:nvPr/>
            </p:nvSpPr>
            <p:spPr>
              <a:xfrm>
                <a:off x="4476750" y="4000500"/>
                <a:ext cx="57150" cy="1047750"/>
              </a:xfrm>
              <a:prstGeom prst="rect">
                <a:avLst/>
              </a:prstGeom>
              <a:solidFill>
                <a:srgbClr val="00A6A6"/>
              </a:solidFill>
              <a:ln>
                <a:noFill/>
              </a:ln>
            </p:spPr>
          </p:sp>
          <p:sp>
            <p:nvSpPr>
              <p:cNvPr id="28" name="TextBox 28"/>
              <p:cNvSpPr txBox="1"/>
              <p:nvPr/>
            </p:nvSpPr>
            <p:spPr>
              <a:xfrm>
                <a:off x="5014426" y="4225290"/>
                <a:ext cx="1782148" cy="352044"/>
              </a:xfrm>
              <a:prstGeom prst="rect">
                <a:avLst/>
              </a:prstGeom>
              <a:noFill/>
              <a:ln>
                <a:noFill/>
              </a:ln>
            </p:spPr>
            <p:txBody>
              <a:bodyPr wrap="none" lIns="0" tIns="0" rIns="0" bIns="0" anchor="t" anchorCtr="0">
                <a:spAutoFit/>
              </a:bodyPr>
              <a:lstStyle/>
              <a:p>
                <a:pPr algn="ctr"/>
                <a:r>
                  <a:rPr lang="tr-TR" sz="1800" b="1" dirty="0">
                    <a:solidFill>
                      <a:srgbClr val="12355B"/>
                    </a:solidFill>
                    <a:latin typeface="+mn-lt"/>
                    <a:ea typeface="+mn-ea"/>
                    <a:cs typeface="+mn-cs"/>
                  </a:rPr>
                  <a:t>Reverse proxy</a:t>
                </a:r>
              </a:p>
            </p:txBody>
          </p:sp>
          <p:sp>
            <p:nvSpPr>
              <p:cNvPr id="29" name="TextBox 29"/>
              <p:cNvSpPr txBox="1"/>
              <p:nvPr/>
            </p:nvSpPr>
            <p:spPr>
              <a:xfrm>
                <a:off x="5009478" y="4554379"/>
                <a:ext cx="1792044" cy="308039"/>
              </a:xfrm>
              <a:prstGeom prst="rect">
                <a:avLst/>
              </a:prstGeom>
              <a:noFill/>
              <a:ln>
                <a:noFill/>
              </a:ln>
            </p:spPr>
            <p:txBody>
              <a:bodyPr wrap="none" lIns="0" tIns="0" rIns="0" bIns="0" anchor="t" anchorCtr="0">
                <a:spAutoFit/>
              </a:bodyPr>
              <a:lstStyle/>
              <a:p>
                <a:pPr algn="ctr"/>
                <a:r>
                  <a:rPr lang="tr-TR" sz="1580" dirty="0">
                    <a:solidFill>
                      <a:srgbClr val="52616B"/>
                    </a:solidFill>
                    <a:latin typeface="+mn-lt"/>
                    <a:ea typeface="+mn-ea"/>
                    <a:cs typeface="+mn-cs"/>
                  </a:rPr>
                  <a:t>tek giriş noktası</a:t>
                </a:r>
              </a:p>
            </p:txBody>
          </p:sp>
        </p:grpSp>
        <p:grpSp>
          <p:nvGrpSpPr>
            <p:cNvPr id="34" name="node-backend"/>
            <p:cNvGrpSpPr/>
            <p:nvPr/>
          </p:nvGrpSpPr>
          <p:grpSpPr>
            <a:xfrm>
              <a:off x="8286750" y="4000500"/>
              <a:ext cx="2857500" cy="1047750"/>
              <a:chOff x="8286750" y="4000500"/>
              <a:chExt cx="2857500" cy="1047750"/>
            </a:xfrm>
          </p:grpSpPr>
          <p:sp>
            <p:nvSpPr>
              <p:cNvPr id="31" name="Rectangle 31"/>
              <p:cNvSpPr/>
              <p:nvPr/>
            </p:nvSpPr>
            <p:spPr>
              <a:xfrm>
                <a:off x="8286750" y="4000500"/>
                <a:ext cx="2857500" cy="1047750"/>
              </a:xfrm>
              <a:prstGeom prst="rect">
                <a:avLst/>
              </a:prstGeom>
              <a:solidFill>
                <a:srgbClr val="12355B"/>
              </a:solidFill>
              <a:ln>
                <a:noFill/>
              </a:ln>
            </p:spPr>
          </p:sp>
          <p:sp>
            <p:nvSpPr>
              <p:cNvPr id="32" name="TextBox 32"/>
              <p:cNvSpPr txBox="1"/>
              <p:nvPr/>
            </p:nvSpPr>
            <p:spPr>
              <a:xfrm>
                <a:off x="9212614" y="4225290"/>
                <a:ext cx="1005771" cy="352044"/>
              </a:xfrm>
              <a:prstGeom prst="rect">
                <a:avLst/>
              </a:prstGeom>
              <a:noFill/>
              <a:ln>
                <a:noFill/>
              </a:ln>
            </p:spPr>
            <p:txBody>
              <a:bodyPr wrap="none" lIns="0" tIns="0" rIns="0" bIns="0" anchor="t" anchorCtr="0">
                <a:spAutoFit/>
              </a:bodyPr>
              <a:lstStyle/>
              <a:p>
                <a:pPr algn="ctr"/>
                <a:r>
                  <a:rPr lang="tr-TR" sz="1800" b="1" dirty="0">
                    <a:solidFill>
                      <a:srgbClr val="F7FAFC"/>
                    </a:solidFill>
                    <a:latin typeface="+mn-lt"/>
                    <a:ea typeface="+mn-ea"/>
                    <a:cs typeface="+mn-cs"/>
                  </a:rPr>
                  <a:t>Backend</a:t>
                </a:r>
              </a:p>
            </p:txBody>
          </p:sp>
          <p:sp>
            <p:nvSpPr>
              <p:cNvPr id="33" name="TextBox 33"/>
              <p:cNvSpPr txBox="1"/>
              <p:nvPr/>
            </p:nvSpPr>
            <p:spPr>
              <a:xfrm>
                <a:off x="8665271" y="4554379"/>
                <a:ext cx="2100458" cy="308039"/>
              </a:xfrm>
              <a:prstGeom prst="rect">
                <a:avLst/>
              </a:prstGeom>
              <a:noFill/>
              <a:ln>
                <a:noFill/>
              </a:ln>
            </p:spPr>
            <p:txBody>
              <a:bodyPr wrap="none" lIns="0" tIns="0" rIns="0" bIns="0" anchor="t" anchorCtr="0">
                <a:spAutoFit/>
              </a:bodyPr>
              <a:lstStyle/>
              <a:p>
                <a:pPr algn="ctr"/>
                <a:r>
                  <a:rPr lang="tr-TR" sz="1580" dirty="0">
                    <a:solidFill>
                      <a:srgbClr val="EAF4F6"/>
                    </a:solidFill>
                    <a:latin typeface="+mn-lt"/>
                    <a:ea typeface="+mn-ea"/>
                    <a:cs typeface="+mn-cs"/>
                  </a:rPr>
                  <a:t>iş kuralları ve yetki</a:t>
                </a:r>
              </a:p>
            </p:txBody>
          </p:sp>
        </p:grpSp>
        <p:grpSp>
          <p:nvGrpSpPr>
            <p:cNvPr id="45" name="map-edges"/>
            <p:cNvGrpSpPr/>
            <p:nvPr/>
          </p:nvGrpSpPr>
          <p:grpSpPr>
            <a:xfrm>
              <a:off x="2095500" y="1775460"/>
              <a:ext cx="8360054" cy="2748916"/>
              <a:chOff x="2095500" y="1775460"/>
              <a:chExt cx="8360054" cy="2748916"/>
            </a:xfrm>
          </p:grpSpPr>
          <p:sp>
            <p:nvSpPr>
              <p:cNvPr id="35" name="Line 35"/>
              <p:cNvSpPr/>
              <p:nvPr/>
            </p:nvSpPr>
            <p:spPr>
              <a:xfrm>
                <a:off x="3581400" y="2047875"/>
                <a:ext cx="819150" cy="1"/>
              </a:xfrm>
              <a:prstGeom prst="line">
                <a:avLst/>
              </a:prstGeom>
              <a:noFill/>
              <a:ln w="28575">
                <a:solidFill>
                  <a:srgbClr val="00A6A6"/>
                </a:solidFill>
                <a:tailEnd type="triangle" w="lg" len="lg"/>
              </a:ln>
            </p:spPr>
          </p:sp>
          <p:sp>
            <p:nvSpPr>
              <p:cNvPr id="36" name="Line 36"/>
              <p:cNvSpPr/>
              <p:nvPr/>
            </p:nvSpPr>
            <p:spPr>
              <a:xfrm>
                <a:off x="7391400" y="2047875"/>
                <a:ext cx="819150" cy="1"/>
              </a:xfrm>
              <a:prstGeom prst="line">
                <a:avLst/>
              </a:prstGeom>
              <a:noFill/>
              <a:ln w="28575">
                <a:solidFill>
                  <a:srgbClr val="00A6A6"/>
                </a:solidFill>
                <a:tailEnd type="triangle" w="lg" len="lg"/>
              </a:ln>
            </p:spPr>
          </p:sp>
          <p:sp>
            <p:nvSpPr>
              <p:cNvPr id="37" name="Line 37"/>
              <p:cNvSpPr/>
              <p:nvPr/>
            </p:nvSpPr>
            <p:spPr>
              <a:xfrm>
                <a:off x="9715500" y="2628900"/>
                <a:ext cx="1" cy="1295400"/>
              </a:xfrm>
              <a:prstGeom prst="line">
                <a:avLst/>
              </a:prstGeom>
              <a:noFill/>
              <a:ln w="28575">
                <a:solidFill>
                  <a:srgbClr val="00A6A6"/>
                </a:solidFill>
                <a:tailEnd type="triangle" w="lg" len="lg"/>
              </a:ln>
            </p:spPr>
          </p:sp>
          <p:sp>
            <p:nvSpPr>
              <p:cNvPr id="38" name="Line 38"/>
              <p:cNvSpPr/>
              <p:nvPr/>
            </p:nvSpPr>
            <p:spPr>
              <a:xfrm>
                <a:off x="7391400" y="4524375"/>
                <a:ext cx="819150" cy="1"/>
              </a:xfrm>
              <a:prstGeom prst="line">
                <a:avLst/>
              </a:prstGeom>
              <a:noFill/>
              <a:ln w="28575">
                <a:solidFill>
                  <a:srgbClr val="00A6A6"/>
                </a:solidFill>
                <a:tailEnd type="triangle" w="lg" len="lg"/>
              </a:ln>
            </p:spPr>
          </p:sp>
          <p:sp>
            <p:nvSpPr>
              <p:cNvPr id="39" name="Line 39"/>
              <p:cNvSpPr/>
              <p:nvPr/>
            </p:nvSpPr>
            <p:spPr>
              <a:xfrm>
                <a:off x="2095500" y="2628900"/>
                <a:ext cx="3238500" cy="1295400"/>
              </a:xfrm>
              <a:prstGeom prst="line">
                <a:avLst/>
              </a:prstGeom>
              <a:noFill/>
              <a:ln w="19050">
                <a:solidFill>
                  <a:srgbClr val="52616B"/>
                </a:solidFill>
                <a:custDash>
                  <a:ds d="300000" sp="250000"/>
                </a:custDash>
                <a:tailEnd type="triangle" w="lg" len="lg"/>
              </a:ln>
            </p:spPr>
          </p:sp>
          <p:sp>
            <p:nvSpPr>
              <p:cNvPr id="40" name="TextBox 40"/>
              <p:cNvSpPr txBox="1"/>
              <p:nvPr/>
            </p:nvSpPr>
            <p:spPr>
              <a:xfrm>
                <a:off x="3762756" y="1775460"/>
                <a:ext cx="456438"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taşır</a:t>
                </a:r>
              </a:p>
            </p:txBody>
          </p:sp>
          <p:sp>
            <p:nvSpPr>
              <p:cNvPr id="41" name="TextBox 41"/>
              <p:cNvSpPr txBox="1"/>
              <p:nvPr/>
            </p:nvSpPr>
            <p:spPr>
              <a:xfrm>
                <a:off x="7302170" y="1775460"/>
                <a:ext cx="997610"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biçimlendirir</a:t>
                </a:r>
              </a:p>
            </p:txBody>
          </p:sp>
          <p:sp>
            <p:nvSpPr>
              <p:cNvPr id="42" name="TextBox 42"/>
              <p:cNvSpPr txBox="1"/>
              <p:nvPr/>
            </p:nvSpPr>
            <p:spPr>
              <a:xfrm>
                <a:off x="9861804" y="3223260"/>
                <a:ext cx="59375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uygular</a:t>
                </a:r>
              </a:p>
            </p:txBody>
          </p:sp>
          <p:sp>
            <p:nvSpPr>
              <p:cNvPr id="43" name="TextBox 43"/>
              <p:cNvSpPr txBox="1"/>
              <p:nvPr/>
            </p:nvSpPr>
            <p:spPr>
              <a:xfrm>
                <a:off x="7366787" y="4251960"/>
                <a:ext cx="868375"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yönlendirir</a:t>
                </a:r>
              </a:p>
            </p:txBody>
          </p:sp>
          <p:sp>
            <p:nvSpPr>
              <p:cNvPr id="44" name="TextBox 44"/>
              <p:cNvSpPr txBox="1"/>
              <p:nvPr/>
            </p:nvSpPr>
            <p:spPr>
              <a:xfrm>
                <a:off x="2851404" y="3375660"/>
                <a:ext cx="144185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istemciyi karşılar</a:t>
                </a:r>
              </a:p>
            </p:txBody>
          </p:sp>
        </p:grpSp>
        <p:sp>
          <p:nvSpPr>
            <p:cNvPr id="46" name="TextBox 46"/>
            <p:cNvSpPr txBox="1"/>
            <p:nvPr/>
          </p:nvSpPr>
          <p:spPr>
            <a:xfrm>
              <a:off x="660654" y="5394960"/>
              <a:ext cx="768803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Düz ok: bir kavramın diğerine hizmet ettiği temel bağımlılık · Kesikli ok: dolaylı ama önemli ilişki</a:t>
              </a:r>
            </a:p>
          </p:txBody>
        </p:sp>
      </p:grpSp>
      <p:grpSp>
        <p:nvGrpSpPr>
          <p:cNvPr id="50" name="footer"/>
          <p:cNvGrpSpPr/>
          <p:nvPr/>
        </p:nvGrpSpPr>
        <p:grpSpPr>
          <a:xfrm>
            <a:off x="565404" y="6404610"/>
            <a:ext cx="11061192" cy="234696"/>
            <a:chOff x="565404" y="6404610"/>
            <a:chExt cx="11061192" cy="234696"/>
          </a:xfrm>
        </p:grpSpPr>
        <p:sp>
          <p:nvSpPr>
            <p:cNvPr id="48" name="TextBox 48"/>
            <p:cNvSpPr txBox="1"/>
            <p:nvPr/>
          </p:nvSpPr>
          <p:spPr>
            <a:xfrm>
              <a:off x="565404" y="6404610"/>
              <a:ext cx="496284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Bölüm 1 · Modern Backend Programlamaya Giriş ve Web Mimarisi</a:t>
              </a:r>
            </a:p>
          </p:txBody>
        </p:sp>
        <p:sp>
          <p:nvSpPr>
            <p:cNvPr id="49" name="TextBox 49"/>
            <p:cNvSpPr txBox="1"/>
            <p:nvPr/>
          </p:nvSpPr>
          <p:spPr>
            <a:xfrm>
              <a:off x="11436706" y="640461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04</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5" name="title"/>
          <p:cNvGrpSpPr/>
          <p:nvPr/>
        </p:nvGrpSpPr>
        <p:grpSpPr>
          <a:xfrm>
            <a:off x="0" y="0"/>
            <a:ext cx="12192000" cy="952500"/>
            <a:chOff x="0" y="0"/>
            <a:chExt cx="12192000" cy="952500"/>
          </a:xfrm>
        </p:grpSpPr>
        <p:sp>
          <p:nvSpPr>
            <p:cNvPr id="2" name="Rectangle 2"/>
            <p:cNvSpPr/>
            <p:nvPr/>
          </p:nvSpPr>
          <p:spPr>
            <a:xfrm>
              <a:off x="0" y="0"/>
              <a:ext cx="12192000" cy="914400"/>
            </a:xfrm>
            <a:prstGeom prst="rect">
              <a:avLst/>
            </a:prstGeom>
            <a:solidFill>
              <a:srgbClr val="12355B"/>
            </a:solidFill>
            <a:ln>
              <a:noFill/>
            </a:ln>
          </p:spPr>
        </p:sp>
        <p:sp>
          <p:nvSpPr>
            <p:cNvPr id="3" name="Rectangle 3"/>
            <p:cNvSpPr/>
            <p:nvPr/>
          </p:nvSpPr>
          <p:spPr>
            <a:xfrm>
              <a:off x="0" y="914400"/>
              <a:ext cx="12192000" cy="38100"/>
            </a:xfrm>
            <a:prstGeom prst="rect">
              <a:avLst/>
            </a:prstGeom>
            <a:solidFill>
              <a:srgbClr val="00A6A6"/>
            </a:solidFill>
            <a:ln>
              <a:noFill/>
            </a:ln>
          </p:spPr>
        </p:sp>
        <p:sp>
          <p:nvSpPr>
            <p:cNvPr id="4" name="TextBox 4"/>
            <p:cNvSpPr txBox="1"/>
            <p:nvPr/>
          </p:nvSpPr>
          <p:spPr>
            <a:xfrm>
              <a:off x="557022" y="282892"/>
              <a:ext cx="6265142" cy="557403"/>
            </a:xfrm>
            <a:prstGeom prst="rect">
              <a:avLst/>
            </a:prstGeom>
            <a:noFill/>
            <a:ln>
              <a:noFill/>
            </a:ln>
          </p:spPr>
          <p:txBody>
            <a:bodyPr wrap="none" lIns="0" tIns="0" rIns="0" bIns="0" anchor="t" anchorCtr="0">
              <a:spAutoFit/>
            </a:bodyPr>
            <a:lstStyle/>
            <a:p>
              <a:pPr algn="l"/>
              <a:r>
                <a:rPr lang="tr-TR" sz="2850" b="1" dirty="0">
                  <a:solidFill>
                    <a:srgbClr val="F7FAFC"/>
                  </a:solidFill>
                  <a:latin typeface="+mj-lt"/>
                  <a:ea typeface="+mj-ea"/>
                  <a:cs typeface="+mj-cs"/>
                </a:rPr>
                <a:t>Bir isteğin uçtan uca izlediği yol</a:t>
              </a:r>
            </a:p>
          </p:txBody>
        </p:sp>
      </p:grpSp>
      <p:grpSp>
        <p:nvGrpSpPr>
          <p:cNvPr id="43" name="request-flow"/>
          <p:cNvGrpSpPr/>
          <p:nvPr/>
        </p:nvGrpSpPr>
        <p:grpSpPr>
          <a:xfrm>
            <a:off x="565404" y="1394460"/>
            <a:ext cx="11055096" cy="2363058"/>
            <a:chOff x="565404" y="1394460"/>
            <a:chExt cx="11055096" cy="2363058"/>
          </a:xfrm>
        </p:grpSpPr>
        <p:sp>
          <p:nvSpPr>
            <p:cNvPr id="6" name="TextBox 6"/>
            <p:cNvSpPr txBox="1"/>
            <p:nvPr/>
          </p:nvSpPr>
          <p:spPr>
            <a:xfrm>
              <a:off x="565404" y="1394460"/>
              <a:ext cx="481584"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mn-lt"/>
                  <a:ea typeface="+mn-ea"/>
                  <a:cs typeface="+mn-cs"/>
                </a:rPr>
                <a:t>İSTEK</a:t>
              </a:r>
            </a:p>
          </p:txBody>
        </p:sp>
        <p:grpSp>
          <p:nvGrpSpPr>
            <p:cNvPr id="11" name="stage-tarayici"/>
            <p:cNvGrpSpPr/>
            <p:nvPr/>
          </p:nvGrpSpPr>
          <p:grpSpPr>
            <a:xfrm>
              <a:off x="571500" y="1714500"/>
              <a:ext cx="1905000" cy="1238250"/>
              <a:chOff x="571500" y="1714500"/>
              <a:chExt cx="1905000" cy="1238250"/>
            </a:xfrm>
          </p:grpSpPr>
          <p:sp>
            <p:nvSpPr>
              <p:cNvPr id="7" name="Rectangle 7"/>
              <p:cNvSpPr/>
              <p:nvPr/>
            </p:nvSpPr>
            <p:spPr>
              <a:xfrm>
                <a:off x="571500" y="1714500"/>
                <a:ext cx="1905000" cy="1238250"/>
              </a:xfrm>
              <a:prstGeom prst="rect">
                <a:avLst/>
              </a:prstGeom>
              <a:solidFill>
                <a:srgbClr val="FFFFFF"/>
              </a:solidFill>
              <a:ln w="19050">
                <a:solidFill>
                  <a:srgbClr val="2E86AB"/>
                </a:solidFill>
              </a:ln>
            </p:spPr>
          </p:sp>
          <p:sp>
            <p:nvSpPr>
              <p:cNvPr id="8" name="TextBox 8"/>
              <p:cNvSpPr txBox="1"/>
              <p:nvPr/>
            </p:nvSpPr>
            <p:spPr>
              <a:xfrm>
                <a:off x="951146" y="1977390"/>
                <a:ext cx="1145709" cy="352044"/>
              </a:xfrm>
              <a:prstGeom prst="rect">
                <a:avLst/>
              </a:prstGeom>
              <a:noFill/>
              <a:ln>
                <a:noFill/>
              </a:ln>
            </p:spPr>
            <p:txBody>
              <a:bodyPr wrap="none" lIns="0" tIns="0" rIns="0" bIns="0" anchor="t" anchorCtr="0">
                <a:spAutoFit/>
              </a:bodyPr>
              <a:lstStyle/>
              <a:p>
                <a:pPr algn="ctr"/>
                <a:r>
                  <a:rPr lang="tr-TR" sz="1800" b="1" dirty="0">
                    <a:solidFill>
                      <a:srgbClr val="12355B"/>
                    </a:solidFill>
                    <a:latin typeface="+mn-lt"/>
                    <a:ea typeface="+mn-ea"/>
                    <a:cs typeface="+mn-cs"/>
                  </a:rPr>
                  <a:t>Tarayıcı</a:t>
                </a:r>
              </a:p>
            </p:txBody>
          </p:sp>
          <p:sp>
            <p:nvSpPr>
              <p:cNvPr id="9" name="TextBox 9"/>
              <p:cNvSpPr txBox="1"/>
              <p:nvPr/>
            </p:nvSpPr>
            <p:spPr>
              <a:xfrm>
                <a:off x="744963" y="2287429"/>
                <a:ext cx="1558074" cy="308039"/>
              </a:xfrm>
              <a:prstGeom prst="rect">
                <a:avLst/>
              </a:prstGeom>
              <a:noFill/>
              <a:ln>
                <a:noFill/>
              </a:ln>
            </p:spPr>
            <p:txBody>
              <a:bodyPr wrap="none" lIns="0" tIns="0" rIns="0" bIns="0" anchor="t" anchorCtr="0">
                <a:spAutoFit/>
              </a:bodyPr>
              <a:lstStyle/>
              <a:p>
                <a:pPr algn="ctr"/>
                <a:r>
                  <a:rPr lang="tr-TR" sz="1580" dirty="0">
                    <a:solidFill>
                      <a:srgbClr val="52616B"/>
                    </a:solidFill>
                    <a:latin typeface="+mn-lt"/>
                    <a:ea typeface="+mn-ea"/>
                    <a:cs typeface="+mn-cs"/>
                  </a:rPr>
                  <a:t>isteği hazırlar</a:t>
                </a:r>
              </a:p>
            </p:txBody>
          </p:sp>
          <p:sp>
            <p:nvSpPr>
              <p:cNvPr id="10" name="TextBox 10"/>
              <p:cNvSpPr txBox="1"/>
              <p:nvPr/>
            </p:nvSpPr>
            <p:spPr>
              <a:xfrm>
                <a:off x="925758" y="2554129"/>
                <a:ext cx="1196485" cy="308039"/>
              </a:xfrm>
              <a:prstGeom prst="rect">
                <a:avLst/>
              </a:prstGeom>
              <a:noFill/>
              <a:ln>
                <a:noFill/>
              </a:ln>
            </p:spPr>
            <p:txBody>
              <a:bodyPr wrap="none" lIns="0" tIns="0" rIns="0" bIns="0" anchor="t" anchorCtr="0">
                <a:spAutoFit/>
              </a:bodyPr>
              <a:lstStyle/>
              <a:p>
                <a:pPr algn="ctr"/>
                <a:r>
                  <a:rPr lang="tr-TR" sz="1580" dirty="0">
                    <a:solidFill>
                      <a:srgbClr val="52616B"/>
                    </a:solidFill>
                    <a:latin typeface="+mn-lt"/>
                    <a:ea typeface="+mn-ea"/>
                    <a:cs typeface="+mn-cs"/>
                  </a:rPr>
                  <a:t>ve gönderir</a:t>
                </a:r>
              </a:p>
            </p:txBody>
          </p:sp>
        </p:grpSp>
        <p:grpSp>
          <p:nvGrpSpPr>
            <p:cNvPr id="17" name="stage-ters-vekil"/>
            <p:cNvGrpSpPr/>
            <p:nvPr/>
          </p:nvGrpSpPr>
          <p:grpSpPr>
            <a:xfrm>
              <a:off x="2857500" y="1714500"/>
              <a:ext cx="1905000" cy="1238250"/>
              <a:chOff x="2857500" y="1714500"/>
              <a:chExt cx="1905000" cy="1238250"/>
            </a:xfrm>
          </p:grpSpPr>
          <p:sp>
            <p:nvSpPr>
              <p:cNvPr id="12" name="Rectangle 12"/>
              <p:cNvSpPr/>
              <p:nvPr/>
            </p:nvSpPr>
            <p:spPr>
              <a:xfrm>
                <a:off x="2857500" y="1714500"/>
                <a:ext cx="1905000" cy="1238250"/>
              </a:xfrm>
              <a:prstGeom prst="rect">
                <a:avLst/>
              </a:prstGeom>
              <a:solidFill>
                <a:srgbClr val="EAF4F6"/>
              </a:solidFill>
              <a:ln>
                <a:noFill/>
              </a:ln>
            </p:spPr>
          </p:sp>
          <p:sp>
            <p:nvSpPr>
              <p:cNvPr id="13" name="Rectangle 13"/>
              <p:cNvSpPr/>
              <p:nvPr/>
            </p:nvSpPr>
            <p:spPr>
              <a:xfrm>
                <a:off x="2857500" y="1714500"/>
                <a:ext cx="57150" cy="1238250"/>
              </a:xfrm>
              <a:prstGeom prst="rect">
                <a:avLst/>
              </a:prstGeom>
              <a:solidFill>
                <a:srgbClr val="00A6A6"/>
              </a:solidFill>
              <a:ln>
                <a:noFill/>
              </a:ln>
            </p:spPr>
          </p:sp>
          <p:sp>
            <p:nvSpPr>
              <p:cNvPr id="14" name="TextBox 14"/>
              <p:cNvSpPr txBox="1"/>
              <p:nvPr/>
            </p:nvSpPr>
            <p:spPr>
              <a:xfrm>
                <a:off x="3192780" y="1977390"/>
                <a:ext cx="1234440" cy="352044"/>
              </a:xfrm>
              <a:prstGeom prst="rect">
                <a:avLst/>
              </a:prstGeom>
              <a:noFill/>
              <a:ln>
                <a:noFill/>
              </a:ln>
            </p:spPr>
            <p:txBody>
              <a:bodyPr wrap="none" lIns="0" tIns="0" rIns="0" bIns="0" anchor="t" anchorCtr="0">
                <a:spAutoFit/>
              </a:bodyPr>
              <a:lstStyle/>
              <a:p>
                <a:pPr algn="ctr"/>
                <a:r>
                  <a:rPr lang="tr-TR" sz="1800" b="1" dirty="0">
                    <a:solidFill>
                      <a:srgbClr val="12355B"/>
                    </a:solidFill>
                    <a:latin typeface="+mn-lt"/>
                    <a:ea typeface="+mn-ea"/>
                    <a:cs typeface="+mn-cs"/>
                  </a:rPr>
                  <a:t>Ters vekil</a:t>
                </a:r>
              </a:p>
            </p:txBody>
          </p:sp>
          <p:sp>
            <p:nvSpPr>
              <p:cNvPr id="15" name="TextBox 15"/>
              <p:cNvSpPr txBox="1"/>
              <p:nvPr/>
            </p:nvSpPr>
            <p:spPr>
              <a:xfrm>
                <a:off x="2908589" y="2287429"/>
                <a:ext cx="1802822" cy="308039"/>
              </a:xfrm>
              <a:prstGeom prst="rect">
                <a:avLst/>
              </a:prstGeom>
              <a:noFill/>
              <a:ln>
                <a:noFill/>
              </a:ln>
            </p:spPr>
            <p:txBody>
              <a:bodyPr wrap="none" lIns="0" tIns="0" rIns="0" bIns="0" anchor="t" anchorCtr="0">
                <a:spAutoFit/>
              </a:bodyPr>
              <a:lstStyle/>
              <a:p>
                <a:pPr algn="ctr"/>
                <a:r>
                  <a:rPr lang="tr-TR" sz="1580" dirty="0">
                    <a:solidFill>
                      <a:srgbClr val="52616B"/>
                    </a:solidFill>
                    <a:latin typeface="+mn-lt"/>
                    <a:ea typeface="+mn-ea"/>
                    <a:cs typeface="+mn-cs"/>
                  </a:rPr>
                  <a:t>TLS sonlandırır,</a:t>
                </a:r>
              </a:p>
            </p:txBody>
          </p:sp>
          <p:sp>
            <p:nvSpPr>
              <p:cNvPr id="16" name="TextBox 16"/>
              <p:cNvSpPr txBox="1"/>
              <p:nvPr/>
            </p:nvSpPr>
            <p:spPr>
              <a:xfrm>
                <a:off x="3238345" y="2554129"/>
                <a:ext cx="1143310" cy="308039"/>
              </a:xfrm>
              <a:prstGeom prst="rect">
                <a:avLst/>
              </a:prstGeom>
              <a:noFill/>
              <a:ln>
                <a:noFill/>
              </a:ln>
            </p:spPr>
            <p:txBody>
              <a:bodyPr wrap="none" lIns="0" tIns="0" rIns="0" bIns="0" anchor="t" anchorCtr="0">
                <a:spAutoFit/>
              </a:bodyPr>
              <a:lstStyle/>
              <a:p>
                <a:pPr algn="ctr"/>
                <a:r>
                  <a:rPr lang="tr-TR" sz="1580" dirty="0">
                    <a:solidFill>
                      <a:srgbClr val="52616B"/>
                    </a:solidFill>
                    <a:latin typeface="+mn-lt"/>
                    <a:ea typeface="+mn-ea"/>
                    <a:cs typeface="+mn-cs"/>
                  </a:rPr>
                  <a:t>yönlendirir</a:t>
                </a:r>
              </a:p>
            </p:txBody>
          </p:sp>
        </p:grpSp>
        <p:grpSp>
          <p:nvGrpSpPr>
            <p:cNvPr id="22" name="stage-api"/>
            <p:cNvGrpSpPr/>
            <p:nvPr/>
          </p:nvGrpSpPr>
          <p:grpSpPr>
            <a:xfrm>
              <a:off x="5143500" y="1714500"/>
              <a:ext cx="1905000" cy="1238250"/>
              <a:chOff x="5143500" y="1714500"/>
              <a:chExt cx="1905000" cy="1238250"/>
            </a:xfrm>
          </p:grpSpPr>
          <p:sp>
            <p:nvSpPr>
              <p:cNvPr id="18" name="Rectangle 18"/>
              <p:cNvSpPr/>
              <p:nvPr/>
            </p:nvSpPr>
            <p:spPr>
              <a:xfrm>
                <a:off x="5143500" y="1714500"/>
                <a:ext cx="1905000" cy="1238250"/>
              </a:xfrm>
              <a:prstGeom prst="rect">
                <a:avLst/>
              </a:prstGeom>
              <a:solidFill>
                <a:srgbClr val="FFFFFF"/>
              </a:solidFill>
              <a:ln w="19050">
                <a:solidFill>
                  <a:srgbClr val="2E86AB"/>
                </a:solidFill>
              </a:ln>
            </p:spPr>
          </p:sp>
          <p:sp>
            <p:nvSpPr>
              <p:cNvPr id="19" name="TextBox 19"/>
              <p:cNvSpPr txBox="1"/>
              <p:nvPr/>
            </p:nvSpPr>
            <p:spPr>
              <a:xfrm>
                <a:off x="5342943" y="1977390"/>
                <a:ext cx="1506114" cy="352044"/>
              </a:xfrm>
              <a:prstGeom prst="rect">
                <a:avLst/>
              </a:prstGeom>
              <a:noFill/>
              <a:ln>
                <a:noFill/>
              </a:ln>
            </p:spPr>
            <p:txBody>
              <a:bodyPr wrap="none" lIns="0" tIns="0" rIns="0" bIns="0" anchor="t" anchorCtr="0">
                <a:spAutoFit/>
              </a:bodyPr>
              <a:lstStyle/>
              <a:p>
                <a:pPr algn="ctr"/>
                <a:r>
                  <a:rPr lang="tr-TR" sz="1800" b="1" dirty="0">
                    <a:solidFill>
                      <a:srgbClr val="12355B"/>
                    </a:solidFill>
                    <a:latin typeface="+mn-lt"/>
                    <a:ea typeface="+mn-ea"/>
                    <a:cs typeface="+mn-cs"/>
                  </a:rPr>
                  <a:t>API katmanı</a:t>
                </a:r>
              </a:p>
            </p:txBody>
          </p:sp>
          <p:sp>
            <p:nvSpPr>
              <p:cNvPr id="20" name="TextBox 20"/>
              <p:cNvSpPr txBox="1"/>
              <p:nvPr/>
            </p:nvSpPr>
            <p:spPr>
              <a:xfrm>
                <a:off x="5534980" y="2287429"/>
                <a:ext cx="1122040" cy="308039"/>
              </a:xfrm>
              <a:prstGeom prst="rect">
                <a:avLst/>
              </a:prstGeom>
              <a:noFill/>
              <a:ln>
                <a:noFill/>
              </a:ln>
            </p:spPr>
            <p:txBody>
              <a:bodyPr wrap="none" lIns="0" tIns="0" rIns="0" bIns="0" anchor="t" anchorCtr="0">
                <a:spAutoFit/>
              </a:bodyPr>
              <a:lstStyle/>
              <a:p>
                <a:pPr algn="ctr"/>
                <a:r>
                  <a:rPr lang="tr-TR" sz="1580" dirty="0">
                    <a:solidFill>
                      <a:srgbClr val="52616B"/>
                    </a:solidFill>
                    <a:latin typeface="+mn-lt"/>
                    <a:ea typeface="+mn-ea"/>
                    <a:cs typeface="+mn-cs"/>
                  </a:rPr>
                  <a:t>sözleşmeyi</a:t>
                </a:r>
              </a:p>
            </p:txBody>
          </p:sp>
          <p:sp>
            <p:nvSpPr>
              <p:cNvPr id="21" name="TextBox 21"/>
              <p:cNvSpPr txBox="1"/>
              <p:nvPr/>
            </p:nvSpPr>
            <p:spPr>
              <a:xfrm>
                <a:off x="5646647" y="2554129"/>
                <a:ext cx="898705" cy="308039"/>
              </a:xfrm>
              <a:prstGeom prst="rect">
                <a:avLst/>
              </a:prstGeom>
              <a:noFill/>
              <a:ln>
                <a:noFill/>
              </a:ln>
            </p:spPr>
            <p:txBody>
              <a:bodyPr wrap="none" lIns="0" tIns="0" rIns="0" bIns="0" anchor="t" anchorCtr="0">
                <a:spAutoFit/>
              </a:bodyPr>
              <a:lstStyle/>
              <a:p>
                <a:pPr algn="ctr"/>
                <a:r>
                  <a:rPr lang="tr-TR" sz="1580" dirty="0">
                    <a:solidFill>
                      <a:srgbClr val="52616B"/>
                    </a:solidFill>
                    <a:latin typeface="+mn-lt"/>
                    <a:ea typeface="+mn-ea"/>
                    <a:cs typeface="+mn-cs"/>
                  </a:rPr>
                  <a:t>denetler</a:t>
                </a:r>
              </a:p>
            </p:txBody>
          </p:sp>
        </p:grpSp>
        <p:grpSp>
          <p:nvGrpSpPr>
            <p:cNvPr id="27" name="stage-backend"/>
            <p:cNvGrpSpPr/>
            <p:nvPr/>
          </p:nvGrpSpPr>
          <p:grpSpPr>
            <a:xfrm>
              <a:off x="7429500" y="1714500"/>
              <a:ext cx="1905000" cy="1238250"/>
              <a:chOff x="7429500" y="1714500"/>
              <a:chExt cx="1905000" cy="1238250"/>
            </a:xfrm>
          </p:grpSpPr>
          <p:sp>
            <p:nvSpPr>
              <p:cNvPr id="23" name="Rectangle 23"/>
              <p:cNvSpPr/>
              <p:nvPr/>
            </p:nvSpPr>
            <p:spPr>
              <a:xfrm>
                <a:off x="7429500" y="1714500"/>
                <a:ext cx="1905000" cy="1238250"/>
              </a:xfrm>
              <a:prstGeom prst="rect">
                <a:avLst/>
              </a:prstGeom>
              <a:solidFill>
                <a:srgbClr val="12355B"/>
              </a:solidFill>
              <a:ln>
                <a:noFill/>
              </a:ln>
            </p:spPr>
          </p:sp>
          <p:sp>
            <p:nvSpPr>
              <p:cNvPr id="24" name="TextBox 24"/>
              <p:cNvSpPr txBox="1"/>
              <p:nvPr/>
            </p:nvSpPr>
            <p:spPr>
              <a:xfrm>
                <a:off x="7879114" y="1977390"/>
                <a:ext cx="1005771" cy="352044"/>
              </a:xfrm>
              <a:prstGeom prst="rect">
                <a:avLst/>
              </a:prstGeom>
              <a:noFill/>
              <a:ln>
                <a:noFill/>
              </a:ln>
            </p:spPr>
            <p:txBody>
              <a:bodyPr wrap="none" lIns="0" tIns="0" rIns="0" bIns="0" anchor="t" anchorCtr="0">
                <a:spAutoFit/>
              </a:bodyPr>
              <a:lstStyle/>
              <a:p>
                <a:pPr algn="ctr"/>
                <a:r>
                  <a:rPr lang="tr-TR" sz="1800" b="1" dirty="0">
                    <a:solidFill>
                      <a:srgbClr val="F7FAFC"/>
                    </a:solidFill>
                    <a:latin typeface="+mn-lt"/>
                    <a:ea typeface="+mn-ea"/>
                    <a:cs typeface="+mn-cs"/>
                  </a:rPr>
                  <a:t>Backend</a:t>
                </a:r>
              </a:p>
            </p:txBody>
          </p:sp>
          <p:sp>
            <p:nvSpPr>
              <p:cNvPr id="25" name="TextBox 25"/>
              <p:cNvSpPr txBox="1"/>
              <p:nvPr/>
            </p:nvSpPr>
            <p:spPr>
              <a:xfrm>
                <a:off x="7661455" y="2287429"/>
                <a:ext cx="1441089" cy="308039"/>
              </a:xfrm>
              <a:prstGeom prst="rect">
                <a:avLst/>
              </a:prstGeom>
              <a:noFill/>
              <a:ln>
                <a:noFill/>
              </a:ln>
            </p:spPr>
            <p:txBody>
              <a:bodyPr wrap="none" lIns="0" tIns="0" rIns="0" bIns="0" anchor="t" anchorCtr="0">
                <a:spAutoFit/>
              </a:bodyPr>
              <a:lstStyle/>
              <a:p>
                <a:pPr algn="ctr"/>
                <a:r>
                  <a:rPr lang="tr-TR" sz="1580" dirty="0">
                    <a:solidFill>
                      <a:srgbClr val="EAF4F6"/>
                    </a:solidFill>
                    <a:latin typeface="+mn-lt"/>
                    <a:ea typeface="+mn-ea"/>
                    <a:cs typeface="+mn-cs"/>
                  </a:rPr>
                  <a:t>iş kuralını ve</a:t>
                </a:r>
              </a:p>
            </p:txBody>
          </p:sp>
          <p:sp>
            <p:nvSpPr>
              <p:cNvPr id="26" name="TextBox 26"/>
              <p:cNvSpPr txBox="1"/>
              <p:nvPr/>
            </p:nvSpPr>
            <p:spPr>
              <a:xfrm>
                <a:off x="7602963" y="2554129"/>
                <a:ext cx="1558074" cy="308039"/>
              </a:xfrm>
              <a:prstGeom prst="rect">
                <a:avLst/>
              </a:prstGeom>
              <a:noFill/>
              <a:ln>
                <a:noFill/>
              </a:ln>
            </p:spPr>
            <p:txBody>
              <a:bodyPr wrap="none" lIns="0" tIns="0" rIns="0" bIns="0" anchor="t" anchorCtr="0">
                <a:spAutoFit/>
              </a:bodyPr>
              <a:lstStyle/>
              <a:p>
                <a:pPr algn="ctr"/>
                <a:r>
                  <a:rPr lang="tr-TR" sz="1580" dirty="0">
                    <a:solidFill>
                      <a:srgbClr val="EAF4F6"/>
                    </a:solidFill>
                    <a:latin typeface="+mn-lt"/>
                    <a:ea typeface="+mn-ea"/>
                    <a:cs typeface="+mn-cs"/>
                  </a:rPr>
                  <a:t>yetkiyi uygular</a:t>
                </a:r>
              </a:p>
            </p:txBody>
          </p:sp>
        </p:grpSp>
        <p:grpSp>
          <p:nvGrpSpPr>
            <p:cNvPr id="32" name="stage-veritabani"/>
            <p:cNvGrpSpPr/>
            <p:nvPr/>
          </p:nvGrpSpPr>
          <p:grpSpPr>
            <a:xfrm>
              <a:off x="9715500" y="1714500"/>
              <a:ext cx="1905000" cy="1238250"/>
              <a:chOff x="9715500" y="1714500"/>
              <a:chExt cx="1905000" cy="1238250"/>
            </a:xfrm>
          </p:grpSpPr>
          <p:sp>
            <p:nvSpPr>
              <p:cNvPr id="28" name="Rectangle 28"/>
              <p:cNvSpPr/>
              <p:nvPr/>
            </p:nvSpPr>
            <p:spPr>
              <a:xfrm>
                <a:off x="9715500" y="1714500"/>
                <a:ext cx="1905000" cy="1238250"/>
              </a:xfrm>
              <a:prstGeom prst="rect">
                <a:avLst/>
              </a:prstGeom>
              <a:solidFill>
                <a:srgbClr val="FFFFFF"/>
              </a:solidFill>
              <a:ln w="19050">
                <a:solidFill>
                  <a:srgbClr val="2E86AB"/>
                </a:solidFill>
              </a:ln>
            </p:spPr>
          </p:sp>
          <p:sp>
            <p:nvSpPr>
              <p:cNvPr id="29" name="TextBox 29"/>
              <p:cNvSpPr txBox="1"/>
              <p:nvPr/>
            </p:nvSpPr>
            <p:spPr>
              <a:xfrm>
                <a:off x="9987192" y="1977390"/>
                <a:ext cx="1361616" cy="352044"/>
              </a:xfrm>
              <a:prstGeom prst="rect">
                <a:avLst/>
              </a:prstGeom>
              <a:noFill/>
              <a:ln>
                <a:noFill/>
              </a:ln>
            </p:spPr>
            <p:txBody>
              <a:bodyPr wrap="none" lIns="0" tIns="0" rIns="0" bIns="0" anchor="t" anchorCtr="0">
                <a:spAutoFit/>
              </a:bodyPr>
              <a:lstStyle/>
              <a:p>
                <a:pPr algn="ctr"/>
                <a:r>
                  <a:rPr lang="tr-TR" sz="1800" b="1" dirty="0">
                    <a:solidFill>
                      <a:srgbClr val="12355B"/>
                    </a:solidFill>
                    <a:latin typeface="+mn-lt"/>
                    <a:ea typeface="+mn-ea"/>
                    <a:cs typeface="+mn-cs"/>
                  </a:rPr>
                  <a:t>Veritabanı</a:t>
                </a:r>
              </a:p>
            </p:txBody>
          </p:sp>
          <p:sp>
            <p:nvSpPr>
              <p:cNvPr id="30" name="TextBox 30"/>
              <p:cNvSpPr txBox="1"/>
              <p:nvPr/>
            </p:nvSpPr>
            <p:spPr>
              <a:xfrm>
                <a:off x="10005948" y="2287429"/>
                <a:ext cx="1324105" cy="308039"/>
              </a:xfrm>
              <a:prstGeom prst="rect">
                <a:avLst/>
              </a:prstGeom>
              <a:noFill/>
              <a:ln>
                <a:noFill/>
              </a:ln>
            </p:spPr>
            <p:txBody>
              <a:bodyPr wrap="none" lIns="0" tIns="0" rIns="0" bIns="0" anchor="t" anchorCtr="0">
                <a:spAutoFit/>
              </a:bodyPr>
              <a:lstStyle/>
              <a:p>
                <a:pPr algn="ctr"/>
                <a:r>
                  <a:rPr lang="tr-TR" sz="1580" dirty="0">
                    <a:solidFill>
                      <a:srgbClr val="52616B"/>
                    </a:solidFill>
                    <a:latin typeface="+mn-lt"/>
                    <a:ea typeface="+mn-ea"/>
                    <a:cs typeface="+mn-cs"/>
                  </a:rPr>
                  <a:t>kalıcı veriyi</a:t>
                </a:r>
              </a:p>
            </p:txBody>
          </p:sp>
          <p:sp>
            <p:nvSpPr>
              <p:cNvPr id="31" name="TextBox 31"/>
              <p:cNvSpPr txBox="1"/>
              <p:nvPr/>
            </p:nvSpPr>
            <p:spPr>
              <a:xfrm>
                <a:off x="10335632" y="2554129"/>
                <a:ext cx="664736" cy="308039"/>
              </a:xfrm>
              <a:prstGeom prst="rect">
                <a:avLst/>
              </a:prstGeom>
              <a:noFill/>
              <a:ln>
                <a:noFill/>
              </a:ln>
            </p:spPr>
            <p:txBody>
              <a:bodyPr wrap="none" lIns="0" tIns="0" rIns="0" bIns="0" anchor="t" anchorCtr="0">
                <a:spAutoFit/>
              </a:bodyPr>
              <a:lstStyle/>
              <a:p>
                <a:pPr algn="ctr"/>
                <a:r>
                  <a:rPr lang="tr-TR" sz="1580" dirty="0">
                    <a:solidFill>
                      <a:srgbClr val="52616B"/>
                    </a:solidFill>
                    <a:latin typeface="+mn-lt"/>
                    <a:ea typeface="+mn-ea"/>
                    <a:cs typeface="+mn-cs"/>
                  </a:rPr>
                  <a:t>saklar</a:t>
                </a:r>
              </a:p>
            </p:txBody>
          </p:sp>
        </p:grpSp>
        <p:grpSp>
          <p:nvGrpSpPr>
            <p:cNvPr id="37" name="flow-edges"/>
            <p:cNvGrpSpPr/>
            <p:nvPr/>
          </p:nvGrpSpPr>
          <p:grpSpPr>
            <a:xfrm>
              <a:off x="2533650" y="2333625"/>
              <a:ext cx="7105650" cy="1"/>
              <a:chOff x="2533650" y="2333625"/>
              <a:chExt cx="7105650" cy="1"/>
            </a:xfrm>
          </p:grpSpPr>
          <p:sp>
            <p:nvSpPr>
              <p:cNvPr id="33" name="Line 33"/>
              <p:cNvSpPr/>
              <p:nvPr/>
            </p:nvSpPr>
            <p:spPr>
              <a:xfrm>
                <a:off x="2533650" y="2333625"/>
                <a:ext cx="247650" cy="1"/>
              </a:xfrm>
              <a:prstGeom prst="line">
                <a:avLst/>
              </a:prstGeom>
              <a:noFill/>
              <a:ln w="28575">
                <a:solidFill>
                  <a:srgbClr val="00A6A6"/>
                </a:solidFill>
                <a:tailEnd type="triangle" w="lg" len="lg"/>
              </a:ln>
            </p:spPr>
          </p:sp>
          <p:sp>
            <p:nvSpPr>
              <p:cNvPr id="34" name="Line 34"/>
              <p:cNvSpPr/>
              <p:nvPr/>
            </p:nvSpPr>
            <p:spPr>
              <a:xfrm>
                <a:off x="4819650" y="2333625"/>
                <a:ext cx="247650" cy="1"/>
              </a:xfrm>
              <a:prstGeom prst="line">
                <a:avLst/>
              </a:prstGeom>
              <a:noFill/>
              <a:ln w="28575">
                <a:solidFill>
                  <a:srgbClr val="00A6A6"/>
                </a:solidFill>
                <a:tailEnd type="triangle" w="lg" len="lg"/>
              </a:ln>
            </p:spPr>
          </p:sp>
          <p:sp>
            <p:nvSpPr>
              <p:cNvPr id="35" name="Line 35"/>
              <p:cNvSpPr/>
              <p:nvPr/>
            </p:nvSpPr>
            <p:spPr>
              <a:xfrm>
                <a:off x="7105650" y="2333625"/>
                <a:ext cx="247650" cy="1"/>
              </a:xfrm>
              <a:prstGeom prst="line">
                <a:avLst/>
              </a:prstGeom>
              <a:noFill/>
              <a:ln w="28575">
                <a:solidFill>
                  <a:srgbClr val="00A6A6"/>
                </a:solidFill>
                <a:tailEnd type="triangle" w="lg" len="lg"/>
              </a:ln>
            </p:spPr>
          </p:sp>
          <p:sp>
            <p:nvSpPr>
              <p:cNvPr id="36" name="Line 36"/>
              <p:cNvSpPr/>
              <p:nvPr/>
            </p:nvSpPr>
            <p:spPr>
              <a:xfrm>
                <a:off x="9391650" y="2333625"/>
                <a:ext cx="247650" cy="1"/>
              </a:xfrm>
              <a:prstGeom prst="line">
                <a:avLst/>
              </a:prstGeom>
              <a:noFill/>
              <a:ln w="28575">
                <a:solidFill>
                  <a:srgbClr val="00A6A6"/>
                </a:solidFill>
                <a:tailEnd type="triangle" w="lg" len="lg"/>
              </a:ln>
            </p:spPr>
          </p:sp>
        </p:grpSp>
        <p:grpSp>
          <p:nvGrpSpPr>
            <p:cNvPr id="41" name="return-path"/>
            <p:cNvGrpSpPr/>
            <p:nvPr/>
          </p:nvGrpSpPr>
          <p:grpSpPr>
            <a:xfrm>
              <a:off x="1524000" y="2952750"/>
              <a:ext cx="9153525" cy="781051"/>
              <a:chOff x="1524000" y="2952750"/>
              <a:chExt cx="9153525" cy="781051"/>
            </a:xfrm>
          </p:grpSpPr>
          <p:sp>
            <p:nvSpPr>
              <p:cNvPr id="38" name="Line 38"/>
              <p:cNvSpPr/>
              <p:nvPr/>
            </p:nvSpPr>
            <p:spPr>
              <a:xfrm>
                <a:off x="10668000" y="2952750"/>
                <a:ext cx="9525" cy="781050"/>
              </a:xfrm>
              <a:custGeom>
                <a:avLst/>
                <a:gdLst/>
                <a:ahLst/>
                <a:cxnLst/>
                <a:rect l="l" t="t" r="r" b="b"/>
                <a:pathLst>
                  <a:path w="9525" h="781050">
                    <a:moveTo>
                      <a:pt x="0" y="0"/>
                    </a:moveTo>
                    <a:lnTo>
                      <a:pt x="0" y="781050"/>
                    </a:lnTo>
                  </a:path>
                </a:pathLst>
              </a:custGeom>
              <a:noFill/>
              <a:ln w="19050">
                <a:solidFill>
                  <a:srgbClr val="12355B"/>
                </a:solidFill>
                <a:prstDash val="lgDash"/>
              </a:ln>
            </p:spPr>
          </p:sp>
          <p:sp>
            <p:nvSpPr>
              <p:cNvPr id="39" name="Line 39"/>
              <p:cNvSpPr/>
              <p:nvPr/>
            </p:nvSpPr>
            <p:spPr>
              <a:xfrm flipH="1">
                <a:off x="1600200" y="3733800"/>
                <a:ext cx="9067800" cy="1"/>
              </a:xfrm>
              <a:prstGeom prst="line">
                <a:avLst/>
              </a:prstGeom>
              <a:noFill/>
              <a:ln w="19050">
                <a:solidFill>
                  <a:srgbClr val="12355B"/>
                </a:solidFill>
                <a:prstDash val="lgDash"/>
                <a:tailEnd type="triangle" w="lg" len="lg"/>
              </a:ln>
            </p:spPr>
          </p:sp>
          <p:sp>
            <p:nvSpPr>
              <p:cNvPr id="40" name="Line 40"/>
              <p:cNvSpPr/>
              <p:nvPr/>
            </p:nvSpPr>
            <p:spPr>
              <a:xfrm flipV="1">
                <a:off x="1524000" y="3009900"/>
                <a:ext cx="1" cy="723900"/>
              </a:xfrm>
              <a:prstGeom prst="line">
                <a:avLst/>
              </a:prstGeom>
              <a:noFill/>
              <a:ln w="19050">
                <a:solidFill>
                  <a:srgbClr val="12355B"/>
                </a:solidFill>
                <a:prstDash val="lgDash"/>
                <a:tailEnd type="triangle" w="lg" len="lg"/>
              </a:ln>
            </p:spPr>
          </p:sp>
        </p:grpSp>
        <p:sp>
          <p:nvSpPr>
            <p:cNvPr id="42" name="TextBox 42"/>
            <p:cNvSpPr txBox="1"/>
            <p:nvPr/>
          </p:nvSpPr>
          <p:spPr>
            <a:xfrm>
              <a:off x="2893893" y="3449479"/>
              <a:ext cx="6404214" cy="308039"/>
            </a:xfrm>
            <a:prstGeom prst="rect">
              <a:avLst/>
            </a:prstGeom>
            <a:noFill/>
            <a:ln>
              <a:noFill/>
            </a:ln>
          </p:spPr>
          <p:txBody>
            <a:bodyPr wrap="none" lIns="0" tIns="0" rIns="0" bIns="0" anchor="t" anchorCtr="0">
              <a:spAutoFit/>
            </a:bodyPr>
            <a:lstStyle/>
            <a:p>
              <a:pPr algn="ctr"/>
              <a:r>
                <a:rPr lang="tr-TR" sz="1580" dirty="0">
                  <a:solidFill>
                    <a:srgbClr val="12355B"/>
                  </a:solidFill>
                  <a:latin typeface="+mn-lt"/>
                  <a:ea typeface="+mn-ea"/>
                  <a:cs typeface="+mn-cs"/>
                </a:rPr>
                <a:t>Yanıt: durum kodu, başlıklar ve içerik aynı yoldan geri döner</a:t>
              </a:r>
            </a:p>
          </p:txBody>
        </p:sp>
      </p:grpSp>
      <p:grpSp>
        <p:nvGrpSpPr>
          <p:cNvPr id="48" name="layer-takeaway"/>
          <p:cNvGrpSpPr/>
          <p:nvPr/>
        </p:nvGrpSpPr>
        <p:grpSpPr>
          <a:xfrm>
            <a:off x="571500" y="4381500"/>
            <a:ext cx="11049000" cy="1428750"/>
            <a:chOff x="571500" y="4381500"/>
            <a:chExt cx="11049000" cy="1428750"/>
          </a:xfrm>
        </p:grpSpPr>
        <p:sp>
          <p:nvSpPr>
            <p:cNvPr id="44" name="Rectangle 44"/>
            <p:cNvSpPr/>
            <p:nvPr/>
          </p:nvSpPr>
          <p:spPr>
            <a:xfrm>
              <a:off x="571500" y="4381500"/>
              <a:ext cx="11049000" cy="1428750"/>
            </a:xfrm>
            <a:prstGeom prst="rect">
              <a:avLst/>
            </a:prstGeom>
            <a:solidFill>
              <a:srgbClr val="EAF4F6"/>
            </a:solidFill>
            <a:ln>
              <a:noFill/>
            </a:ln>
          </p:spPr>
        </p:sp>
        <p:sp>
          <p:nvSpPr>
            <p:cNvPr id="45" name="Rectangle 45"/>
            <p:cNvSpPr/>
            <p:nvPr/>
          </p:nvSpPr>
          <p:spPr>
            <a:xfrm>
              <a:off x="571500" y="4381500"/>
              <a:ext cx="57150" cy="1428750"/>
            </a:xfrm>
            <a:prstGeom prst="rect">
              <a:avLst/>
            </a:prstGeom>
            <a:solidFill>
              <a:srgbClr val="00A6A6"/>
            </a:solidFill>
            <a:ln>
              <a:noFill/>
            </a:ln>
          </p:spPr>
        </p:sp>
        <p:sp>
          <p:nvSpPr>
            <p:cNvPr id="46" name="TextBox 46"/>
            <p:cNvSpPr txBox="1"/>
            <p:nvPr/>
          </p:nvSpPr>
          <p:spPr>
            <a:xfrm>
              <a:off x="867156" y="4644390"/>
              <a:ext cx="9413748" cy="675894"/>
            </a:xfrm>
            <a:prstGeom prst="rect">
              <a:avLst/>
            </a:prstGeom>
            <a:noFill/>
            <a:ln>
              <a:noFill/>
            </a:ln>
          </p:spPr>
          <p:txBody>
            <a:bodyPr wrap="none" lIns="0" tIns="0" rIns="0" bIns="0" anchor="t" anchorCtr="0">
              <a:spAutoFit/>
            </a:bodyPr>
            <a:lstStyle/>
            <a:p>
              <a:pPr algn="l">
                <a:lnSpc>
                  <a:spcPts val="2550"/>
                </a:lnSpc>
              </a:pPr>
              <a:r>
                <a:rPr lang="tr-TR" sz="1800" dirty="0">
                  <a:solidFill>
                    <a:srgbClr val="172B3A"/>
                  </a:solidFill>
                  <a:latin typeface="+mn-lt"/>
                  <a:ea typeface="+mn-ea"/>
                  <a:cs typeface="+mn-cs"/>
                </a:rPr>
                <a:t>Kullanıcının eylemi doğrudan veritabanına gitmez: her katman, bir sonraki katmana</a:t>
              </a:r>
              <a:br/>
              <a:r>
                <a:rPr lang="tr-TR" sz="1800" dirty="0">
                  <a:solidFill>
                    <a:srgbClr val="172B3A"/>
                  </a:solidFill>
                  <a:latin typeface="+mn-lt"/>
                  <a:ea typeface="+mn-ea"/>
                  <a:cs typeface="+mn-cs"/>
                </a:rPr>
                <a:t>kontrollü ve tanımlı bir sorumluluk devreder.</a:t>
              </a:r>
            </a:p>
          </p:txBody>
        </p:sp>
        <p:sp>
          <p:nvSpPr>
            <p:cNvPr id="47" name="TextBox 47"/>
            <p:cNvSpPr txBox="1"/>
            <p:nvPr/>
          </p:nvSpPr>
          <p:spPr>
            <a:xfrm>
              <a:off x="868299" y="5411629"/>
              <a:ext cx="9284339"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Laboratuvar Yönetim Sistemi’nde bu zincir: tarayıcı · Nginx · Express API · PostgreSQL</a:t>
              </a:r>
            </a:p>
          </p:txBody>
        </p:sp>
      </p:grpSp>
      <p:grpSp>
        <p:nvGrpSpPr>
          <p:cNvPr id="51" name="footer"/>
          <p:cNvGrpSpPr/>
          <p:nvPr/>
        </p:nvGrpSpPr>
        <p:grpSpPr>
          <a:xfrm>
            <a:off x="565404" y="6404610"/>
            <a:ext cx="11061192" cy="234696"/>
            <a:chOff x="565404" y="6404610"/>
            <a:chExt cx="11061192" cy="234696"/>
          </a:xfrm>
        </p:grpSpPr>
        <p:sp>
          <p:nvSpPr>
            <p:cNvPr id="49" name="TextBox 49"/>
            <p:cNvSpPr txBox="1"/>
            <p:nvPr/>
          </p:nvSpPr>
          <p:spPr>
            <a:xfrm>
              <a:off x="565404" y="6404610"/>
              <a:ext cx="496284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Bölüm 1 · Modern Backend Programlamaya Giriş ve Web Mimarisi</a:t>
              </a:r>
            </a:p>
          </p:txBody>
        </p:sp>
        <p:sp>
          <p:nvSpPr>
            <p:cNvPr id="50" name="TextBox 50"/>
            <p:cNvSpPr txBox="1"/>
            <p:nvPr/>
          </p:nvSpPr>
          <p:spPr>
            <a:xfrm>
              <a:off x="11436706" y="640461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05</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2" name="title"/>
          <p:cNvGrpSpPr/>
          <p:nvPr/>
        </p:nvGrpSpPr>
        <p:grpSpPr>
          <a:xfrm>
            <a:off x="0" y="0"/>
            <a:ext cx="12192000" cy="952500"/>
            <a:chOff x="0" y="0"/>
            <a:chExt cx="12192000" cy="952500"/>
          </a:xfrm>
        </p:grpSpPr>
        <p:sp>
          <p:nvSpPr>
            <p:cNvPr id="2" name="Rectangle 2"/>
            <p:cNvSpPr/>
            <p:nvPr/>
          </p:nvSpPr>
          <p:spPr>
            <a:xfrm>
              <a:off x="0" y="0"/>
              <a:ext cx="12192000" cy="914400"/>
            </a:xfrm>
            <a:prstGeom prst="rect">
              <a:avLst/>
            </a:prstGeom>
            <a:solidFill>
              <a:srgbClr val="12355B"/>
            </a:solidFill>
            <a:ln>
              <a:noFill/>
            </a:ln>
          </p:spPr>
        </p:sp>
        <p:sp>
          <p:nvSpPr>
            <p:cNvPr id="3" name="Rectangle 3"/>
            <p:cNvSpPr/>
            <p:nvPr/>
          </p:nvSpPr>
          <p:spPr>
            <a:xfrm>
              <a:off x="0" y="914400"/>
              <a:ext cx="12192000" cy="38100"/>
            </a:xfrm>
            <a:prstGeom prst="rect">
              <a:avLst/>
            </a:prstGeom>
            <a:solidFill>
              <a:srgbClr val="00A6A6"/>
            </a:solidFill>
            <a:ln>
              <a:noFill/>
            </a:ln>
          </p:spPr>
        </p:sp>
        <p:grpSp>
          <p:nvGrpSpPr>
            <p:cNvPr id="10" name="icon-badge"/>
            <p:cNvGrpSpPr/>
            <p:nvPr/>
          </p:nvGrpSpPr>
          <p:grpSpPr>
            <a:xfrm>
              <a:off x="571500" y="171450"/>
              <a:ext cx="571500" cy="571500"/>
              <a:chOff x="571500" y="171450"/>
              <a:chExt cx="571500" cy="571500"/>
            </a:xfrm>
          </p:grpSpPr>
          <p:sp>
            <p:nvSpPr>
              <p:cNvPr id="4" name="Ellipse 4"/>
              <p:cNvSpPr/>
              <p:nvPr/>
            </p:nvSpPr>
            <p:spPr>
              <a:xfrm>
                <a:off x="571500" y="171450"/>
                <a:ext cx="571500" cy="571500"/>
              </a:xfrm>
              <a:prstGeom prst="ellipse">
                <a:avLst/>
              </a:prstGeom>
              <a:solidFill>
                <a:srgbClr val="00A6A6"/>
              </a:solidFill>
              <a:ln>
                <a:noFill/>
              </a:ln>
            </p:spPr>
          </p:sp>
          <p:grpSp>
            <p:nvGrpSpPr>
              <p:cNvPr id="9" name="Group 9"/>
              <p:cNvGrpSpPr/>
              <p:nvPr/>
            </p:nvGrpSpPr>
            <p:grpSpPr>
              <a:xfrm>
                <a:off x="724376" y="339090"/>
                <a:ext cx="265748" cy="236220"/>
                <a:chOff x="724376" y="339090"/>
                <a:chExt cx="265748" cy="236220"/>
              </a:xfrm>
            </p:grpSpPr>
            <p:sp>
              <p:nvSpPr>
                <p:cNvPr id="5" name="Freeform 5"/>
                <p:cNvSpPr/>
                <p:nvPr/>
              </p:nvSpPr>
              <p:spPr>
                <a:xfrm>
                  <a:off x="724376" y="339090"/>
                  <a:ext cx="265748" cy="118110"/>
                </a:xfrm>
                <a:custGeom>
                  <a:avLst/>
                  <a:gdLst/>
                  <a:ahLst/>
                  <a:cxnLst/>
                  <a:rect l="l" t="t" r="r" b="b"/>
                  <a:pathLst>
                    <a:path w="265748" h="118110">
                      <a:moveTo>
                        <a:pt x="0" y="44291"/>
                      </a:moveTo>
                      <a:cubicBezTo>
                        <a:pt x="0" y="19830"/>
                        <a:pt x="19830" y="0"/>
                        <a:pt x="44291" y="0"/>
                      </a:cubicBezTo>
                      <a:lnTo>
                        <a:pt x="221456" y="0"/>
                      </a:lnTo>
                      <a:cubicBezTo>
                        <a:pt x="245918" y="0"/>
                        <a:pt x="265748" y="19830"/>
                        <a:pt x="265748" y="44291"/>
                      </a:cubicBezTo>
                      <a:lnTo>
                        <a:pt x="265748" y="73819"/>
                      </a:lnTo>
                      <a:cubicBezTo>
                        <a:pt x="265748" y="98280"/>
                        <a:pt x="245918" y="118110"/>
                        <a:pt x="221456" y="118110"/>
                      </a:cubicBezTo>
                      <a:lnTo>
                        <a:pt x="44291" y="118110"/>
                      </a:lnTo>
                      <a:cubicBezTo>
                        <a:pt x="19830" y="118110"/>
                        <a:pt x="0" y="98280"/>
                        <a:pt x="0" y="73819"/>
                      </a:cubicBezTo>
                      <a:lnTo>
                        <a:pt x="0" y="44291"/>
                      </a:lnTo>
                    </a:path>
                  </a:pathLst>
                </a:custGeom>
                <a:noFill/>
                <a:ln w="24759" cap="rnd">
                  <a:solidFill>
                    <a:srgbClr val="FFFFFF"/>
                  </a:solidFill>
                  <a:round/>
                </a:ln>
              </p:spPr>
            </p:sp>
            <p:sp>
              <p:nvSpPr>
                <p:cNvPr id="6" name="Freeform 6"/>
                <p:cNvSpPr/>
                <p:nvPr/>
              </p:nvSpPr>
              <p:spPr>
                <a:xfrm>
                  <a:off x="724376" y="457200"/>
                  <a:ext cx="265748" cy="118110"/>
                </a:xfrm>
                <a:custGeom>
                  <a:avLst/>
                  <a:gdLst/>
                  <a:ahLst/>
                  <a:cxnLst/>
                  <a:rect l="l" t="t" r="r" b="b"/>
                  <a:pathLst>
                    <a:path w="265748" h="118110">
                      <a:moveTo>
                        <a:pt x="0" y="44291"/>
                      </a:moveTo>
                      <a:cubicBezTo>
                        <a:pt x="0" y="19830"/>
                        <a:pt x="19830" y="0"/>
                        <a:pt x="44291" y="0"/>
                      </a:cubicBezTo>
                      <a:lnTo>
                        <a:pt x="221456" y="0"/>
                      </a:lnTo>
                      <a:cubicBezTo>
                        <a:pt x="245918" y="0"/>
                        <a:pt x="265748" y="19830"/>
                        <a:pt x="265748" y="44291"/>
                      </a:cubicBezTo>
                      <a:lnTo>
                        <a:pt x="265748" y="73819"/>
                      </a:lnTo>
                      <a:cubicBezTo>
                        <a:pt x="265748" y="98280"/>
                        <a:pt x="245918" y="118110"/>
                        <a:pt x="221456" y="118110"/>
                      </a:cubicBezTo>
                      <a:lnTo>
                        <a:pt x="44291" y="118110"/>
                      </a:lnTo>
                      <a:cubicBezTo>
                        <a:pt x="19830" y="118110"/>
                        <a:pt x="0" y="98280"/>
                        <a:pt x="0" y="73819"/>
                      </a:cubicBezTo>
                      <a:lnTo>
                        <a:pt x="0" y="44291"/>
                      </a:lnTo>
                    </a:path>
                  </a:pathLst>
                </a:custGeom>
                <a:noFill/>
                <a:ln w="24759" cap="rnd">
                  <a:solidFill>
                    <a:srgbClr val="FFFFFF"/>
                  </a:solidFill>
                  <a:round/>
                </a:ln>
              </p:spPr>
            </p:sp>
            <p:sp>
              <p:nvSpPr>
                <p:cNvPr id="7" name="Freeform 7"/>
                <p:cNvSpPr/>
                <p:nvPr/>
              </p:nvSpPr>
              <p:spPr>
                <a:xfrm>
                  <a:off x="783431" y="398145"/>
                  <a:ext cx="9525" cy="9525"/>
                </a:xfrm>
                <a:custGeom>
                  <a:avLst/>
                  <a:gdLst/>
                  <a:ahLst/>
                  <a:cxnLst/>
                  <a:rect l="l" t="t" r="r" b="b"/>
                  <a:pathLst>
                    <a:path w="9525" h="9525">
                      <a:moveTo>
                        <a:pt x="0" y="0"/>
                      </a:moveTo>
                      <a:lnTo>
                        <a:pt x="0" y="148"/>
                      </a:lnTo>
                    </a:path>
                  </a:pathLst>
                </a:custGeom>
                <a:noFill/>
                <a:ln w="24759" cap="rnd">
                  <a:solidFill>
                    <a:srgbClr val="FFFFFF"/>
                  </a:solidFill>
                  <a:round/>
                </a:ln>
              </p:spPr>
            </p:sp>
            <p:sp>
              <p:nvSpPr>
                <p:cNvPr id="8" name="Freeform 8"/>
                <p:cNvSpPr/>
                <p:nvPr/>
              </p:nvSpPr>
              <p:spPr>
                <a:xfrm>
                  <a:off x="783431" y="516255"/>
                  <a:ext cx="9525" cy="9525"/>
                </a:xfrm>
                <a:custGeom>
                  <a:avLst/>
                  <a:gdLst/>
                  <a:ahLst/>
                  <a:cxnLst/>
                  <a:rect l="l" t="t" r="r" b="b"/>
                  <a:pathLst>
                    <a:path w="9525" h="9525">
                      <a:moveTo>
                        <a:pt x="0" y="0"/>
                      </a:moveTo>
                      <a:lnTo>
                        <a:pt x="0" y="148"/>
                      </a:lnTo>
                    </a:path>
                  </a:pathLst>
                </a:custGeom>
                <a:noFill/>
                <a:ln w="24759" cap="rnd">
                  <a:solidFill>
                    <a:srgbClr val="FFFFFF"/>
                  </a:solidFill>
                  <a:round/>
                </a:ln>
              </p:spPr>
            </p:sp>
          </p:grpSp>
        </p:grpSp>
        <p:sp>
          <p:nvSpPr>
            <p:cNvPr id="11" name="TextBox 11"/>
            <p:cNvSpPr txBox="1"/>
            <p:nvPr/>
          </p:nvSpPr>
          <p:spPr>
            <a:xfrm>
              <a:off x="1261872" y="282892"/>
              <a:ext cx="7475116" cy="557403"/>
            </a:xfrm>
            <a:prstGeom prst="rect">
              <a:avLst/>
            </a:prstGeom>
            <a:noFill/>
            <a:ln>
              <a:noFill/>
            </a:ln>
          </p:spPr>
          <p:txBody>
            <a:bodyPr wrap="none" lIns="0" tIns="0" rIns="0" bIns="0" anchor="t" anchorCtr="0">
              <a:spAutoFit/>
            </a:bodyPr>
            <a:lstStyle/>
            <a:p>
              <a:pPr algn="l"/>
              <a:r>
                <a:rPr lang="tr-TR" sz="2850" b="1" dirty="0">
                  <a:solidFill>
                    <a:srgbClr val="F7FAFC"/>
                  </a:solidFill>
                  <a:latin typeface="+mj-lt"/>
                  <a:ea typeface="+mj-ea"/>
                  <a:cs typeface="+mj-cs"/>
                </a:rPr>
                <a:t>İstemci–sunucu ve istek-yanıt modeli</a:t>
              </a:r>
            </a:p>
          </p:txBody>
        </p:sp>
      </p:grpSp>
      <p:grpSp>
        <p:nvGrpSpPr>
          <p:cNvPr id="22" name="definition"/>
          <p:cNvGrpSpPr/>
          <p:nvPr/>
        </p:nvGrpSpPr>
        <p:grpSpPr>
          <a:xfrm>
            <a:off x="562356" y="1394460"/>
            <a:ext cx="5533644" cy="4725257"/>
            <a:chOff x="562356" y="1394460"/>
            <a:chExt cx="5533644" cy="4725257"/>
          </a:xfrm>
        </p:grpSpPr>
        <p:sp>
          <p:nvSpPr>
            <p:cNvPr id="13" name="TextBox 13"/>
            <p:cNvSpPr txBox="1"/>
            <p:nvPr/>
          </p:nvSpPr>
          <p:spPr>
            <a:xfrm>
              <a:off x="565404" y="1394460"/>
              <a:ext cx="473050"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mn-lt"/>
                  <a:ea typeface="+mn-ea"/>
                  <a:cs typeface="+mn-cs"/>
                </a:rPr>
                <a:t>TANIM</a:t>
              </a:r>
            </a:p>
          </p:txBody>
        </p:sp>
        <p:sp>
          <p:nvSpPr>
            <p:cNvPr id="14" name="TextBox 14"/>
            <p:cNvSpPr txBox="1"/>
            <p:nvPr/>
          </p:nvSpPr>
          <p:spPr>
            <a:xfrm>
              <a:off x="562356" y="1710690"/>
              <a:ext cx="4304538" cy="1323594"/>
            </a:xfrm>
            <a:prstGeom prst="rect">
              <a:avLst/>
            </a:prstGeom>
            <a:noFill/>
            <a:ln>
              <a:noFill/>
            </a:ln>
          </p:spPr>
          <p:txBody>
            <a:bodyPr wrap="none" lIns="0" tIns="0" rIns="0" bIns="0" anchor="t" anchorCtr="0">
              <a:spAutoFit/>
            </a:bodyPr>
            <a:lstStyle/>
            <a:p>
              <a:pPr algn="l">
                <a:lnSpc>
                  <a:spcPts val="2550"/>
                </a:lnSpc>
              </a:pPr>
              <a:r>
                <a:rPr lang="tr-TR" sz="1800" dirty="0">
                  <a:solidFill>
                    <a:srgbClr val="172B3A"/>
                  </a:solidFill>
                  <a:latin typeface="+mn-lt"/>
                  <a:ea typeface="+mn-ea"/>
                  <a:cs typeface="+mn-cs"/>
                </a:rPr>
                <a:t>İstemci–sunucu mimarisi, bir bileşenin</a:t>
              </a:r>
              <a:br/>
              <a:r>
                <a:rPr lang="tr-TR" sz="1800" dirty="0">
                  <a:solidFill>
                    <a:srgbClr val="172B3A"/>
                  </a:solidFill>
                  <a:latin typeface="+mn-lt"/>
                  <a:ea typeface="+mn-ea"/>
                  <a:cs typeface="+mn-cs"/>
                </a:rPr>
                <a:t>hizmet talep ettiği, diğer bileşenin bu</a:t>
              </a:r>
              <a:br/>
              <a:r>
                <a:rPr lang="tr-TR" sz="1800" dirty="0">
                  <a:solidFill>
                    <a:srgbClr val="172B3A"/>
                  </a:solidFill>
                  <a:latin typeface="+mn-lt"/>
                  <a:ea typeface="+mn-ea"/>
                  <a:cs typeface="+mn-cs"/>
                </a:rPr>
                <a:t>talebi işleyerek sonuç ürettiği iletişim</a:t>
              </a:r>
              <a:br/>
              <a:r>
                <a:rPr lang="tr-TR" sz="1800" dirty="0">
                  <a:solidFill>
                    <a:srgbClr val="172B3A"/>
                  </a:solidFill>
                  <a:latin typeface="+mn-lt"/>
                  <a:ea typeface="+mn-ea"/>
                  <a:cs typeface="+mn-cs"/>
                </a:rPr>
                <a:t>modelidir.</a:t>
              </a:r>
            </a:p>
          </p:txBody>
        </p:sp>
        <p:sp>
          <p:nvSpPr>
            <p:cNvPr id="15" name="Line 15"/>
            <p:cNvSpPr/>
            <p:nvPr/>
          </p:nvSpPr>
          <p:spPr>
            <a:xfrm>
              <a:off x="571500" y="3181350"/>
              <a:ext cx="5524500" cy="9525"/>
            </a:xfrm>
            <a:custGeom>
              <a:avLst/>
              <a:gdLst/>
              <a:ahLst/>
              <a:cxnLst/>
              <a:rect l="l" t="t" r="r" b="b"/>
              <a:pathLst>
                <a:path w="5524500" h="9525">
                  <a:moveTo>
                    <a:pt x="0" y="0"/>
                  </a:moveTo>
                  <a:lnTo>
                    <a:pt x="5524500" y="0"/>
                  </a:lnTo>
                </a:path>
              </a:pathLst>
            </a:custGeom>
            <a:noFill/>
            <a:ln w="9525">
              <a:solidFill>
                <a:srgbClr val="B8CBD3"/>
              </a:solidFill>
            </a:ln>
          </p:spPr>
        </p:sp>
        <p:sp>
          <p:nvSpPr>
            <p:cNvPr id="16" name="TextBox 16"/>
            <p:cNvSpPr txBox="1"/>
            <p:nvPr/>
          </p:nvSpPr>
          <p:spPr>
            <a:xfrm>
              <a:off x="562356" y="3425190"/>
              <a:ext cx="99294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İstemci</a:t>
              </a:r>
            </a:p>
          </p:txBody>
        </p:sp>
        <p:sp>
          <p:nvSpPr>
            <p:cNvPr id="17" name="TextBox 17"/>
            <p:cNvSpPr txBox="1"/>
            <p:nvPr/>
          </p:nvSpPr>
          <p:spPr>
            <a:xfrm>
              <a:off x="563499" y="3754279"/>
              <a:ext cx="5461112"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tarayıcı, mobil uygulama veya başka bir programdır</a:t>
              </a:r>
            </a:p>
          </p:txBody>
        </p:sp>
        <p:sp>
          <p:nvSpPr>
            <p:cNvPr id="18" name="TextBox 18"/>
            <p:cNvSpPr txBox="1"/>
            <p:nvPr/>
          </p:nvSpPr>
          <p:spPr>
            <a:xfrm>
              <a:off x="562356" y="4282440"/>
              <a:ext cx="865834"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Sunucu</a:t>
              </a:r>
            </a:p>
          </p:txBody>
        </p:sp>
        <p:sp>
          <p:nvSpPr>
            <p:cNvPr id="19" name="TextBox 19"/>
            <p:cNvSpPr txBox="1"/>
            <p:nvPr/>
          </p:nvSpPr>
          <p:spPr>
            <a:xfrm>
              <a:off x="563499" y="4611529"/>
              <a:ext cx="4099433"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52616B"/>
                  </a:solidFill>
                  <a:latin typeface="+mn-lt"/>
                  <a:ea typeface="+mn-ea"/>
                  <a:cs typeface="+mn-cs"/>
                </a:rPr>
                <a:t>isteği karşılar, iş kuralını çalıştırır ve</a:t>
              </a:r>
              <a:br/>
              <a:r>
                <a:rPr lang="tr-TR" sz="1580" dirty="0">
                  <a:solidFill>
                    <a:srgbClr val="52616B"/>
                  </a:solidFill>
                  <a:latin typeface="+mn-lt"/>
                  <a:ea typeface="+mn-ea"/>
                  <a:cs typeface="+mn-cs"/>
                </a:rPr>
                <a:t>veri kaynağına erişir</a:t>
              </a:r>
            </a:p>
          </p:txBody>
        </p:sp>
        <p:sp>
          <p:nvSpPr>
            <p:cNvPr id="20" name="Rectangle 20"/>
            <p:cNvSpPr/>
            <p:nvPr/>
          </p:nvSpPr>
          <p:spPr>
            <a:xfrm>
              <a:off x="571500" y="5429250"/>
              <a:ext cx="57150" cy="628650"/>
            </a:xfrm>
            <a:prstGeom prst="rect">
              <a:avLst/>
            </a:prstGeom>
            <a:solidFill>
              <a:srgbClr val="00A6A6"/>
            </a:solidFill>
            <a:ln>
              <a:noFill/>
            </a:ln>
          </p:spPr>
        </p:sp>
        <p:sp>
          <p:nvSpPr>
            <p:cNvPr id="21" name="TextBox 21"/>
            <p:cNvSpPr txBox="1"/>
            <p:nvPr/>
          </p:nvSpPr>
          <p:spPr>
            <a:xfrm>
              <a:off x="792099" y="5544979"/>
              <a:ext cx="4019169"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Rol asimetrisi: istemci girişimi başlatır,</a:t>
              </a:r>
              <a:br/>
              <a:r>
                <a:rPr lang="tr-TR" sz="1580" dirty="0">
                  <a:solidFill>
                    <a:srgbClr val="172B3A"/>
                  </a:solidFill>
                  <a:latin typeface="+mn-lt"/>
                  <a:ea typeface="+mn-ea"/>
                  <a:cs typeface="+mn-cs"/>
                </a:rPr>
                <a:t>sunucu talebi karşılayan tarafta kalır.</a:t>
              </a:r>
            </a:p>
          </p:txBody>
        </p:sp>
      </p:grpSp>
      <p:grpSp>
        <p:nvGrpSpPr>
          <p:cNvPr id="41" name="restoran-benzetmesi"/>
          <p:cNvGrpSpPr/>
          <p:nvPr/>
        </p:nvGrpSpPr>
        <p:grpSpPr>
          <a:xfrm>
            <a:off x="6667500" y="1524000"/>
            <a:ext cx="4953000" cy="4381500"/>
            <a:chOff x="6667500" y="1524000"/>
            <a:chExt cx="4953000" cy="4381500"/>
          </a:xfrm>
        </p:grpSpPr>
        <p:sp>
          <p:nvSpPr>
            <p:cNvPr id="23" name="Rectangle 23"/>
            <p:cNvSpPr/>
            <p:nvPr/>
          </p:nvSpPr>
          <p:spPr>
            <a:xfrm>
              <a:off x="6667500" y="1524000"/>
              <a:ext cx="4953000" cy="4381500"/>
            </a:xfrm>
            <a:prstGeom prst="rect">
              <a:avLst/>
            </a:prstGeom>
            <a:solidFill>
              <a:srgbClr val="EAF4F6"/>
            </a:solidFill>
            <a:ln>
              <a:noFill/>
            </a:ln>
          </p:spPr>
        </p:sp>
        <p:sp>
          <p:nvSpPr>
            <p:cNvPr id="24" name="TextBox 24"/>
            <p:cNvSpPr txBox="1"/>
            <p:nvPr/>
          </p:nvSpPr>
          <p:spPr>
            <a:xfrm>
              <a:off x="6962394" y="1694498"/>
              <a:ext cx="3515559"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Günlük hayattan benzetme</a:t>
              </a:r>
            </a:p>
          </p:txBody>
        </p:sp>
        <p:sp>
          <p:nvSpPr>
            <p:cNvPr id="25" name="Line 25"/>
            <p:cNvSpPr/>
            <p:nvPr/>
          </p:nvSpPr>
          <p:spPr>
            <a:xfrm>
              <a:off x="6972300" y="2095500"/>
              <a:ext cx="4343400" cy="9525"/>
            </a:xfrm>
            <a:custGeom>
              <a:avLst/>
              <a:gdLst/>
              <a:ahLst/>
              <a:cxnLst/>
              <a:rect l="l" t="t" r="r" b="b"/>
              <a:pathLst>
                <a:path w="4343400" h="9525">
                  <a:moveTo>
                    <a:pt x="0" y="0"/>
                  </a:moveTo>
                  <a:lnTo>
                    <a:pt x="4343400" y="0"/>
                  </a:lnTo>
                </a:path>
              </a:pathLst>
            </a:custGeom>
            <a:noFill/>
            <a:ln w="19050">
              <a:solidFill>
                <a:srgbClr val="B8CBD3"/>
              </a:solidFill>
            </a:ln>
          </p:spPr>
        </p:sp>
        <p:grpSp>
          <p:nvGrpSpPr>
            <p:cNvPr id="34" name="analogy-rows"/>
            <p:cNvGrpSpPr/>
            <p:nvPr/>
          </p:nvGrpSpPr>
          <p:grpSpPr>
            <a:xfrm>
              <a:off x="6963156" y="2396490"/>
              <a:ext cx="4061612" cy="2180844"/>
              <a:chOff x="6963156" y="2396490"/>
              <a:chExt cx="4061612" cy="2180844"/>
            </a:xfrm>
          </p:grpSpPr>
          <p:sp>
            <p:nvSpPr>
              <p:cNvPr id="26" name="TextBox 26"/>
              <p:cNvSpPr txBox="1"/>
              <p:nvPr/>
            </p:nvSpPr>
            <p:spPr>
              <a:xfrm>
                <a:off x="6963156" y="2396490"/>
                <a:ext cx="946535"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Müşteri</a:t>
                </a:r>
              </a:p>
            </p:txBody>
          </p:sp>
          <p:sp>
            <p:nvSpPr>
              <p:cNvPr id="27" name="TextBox 27"/>
              <p:cNvSpPr txBox="1"/>
              <p:nvPr/>
            </p:nvSpPr>
            <p:spPr>
              <a:xfrm>
                <a:off x="9611106" y="2396490"/>
                <a:ext cx="99294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İstemci</a:t>
                </a:r>
              </a:p>
            </p:txBody>
          </p:sp>
          <p:sp>
            <p:nvSpPr>
              <p:cNvPr id="28" name="TextBox 28"/>
              <p:cNvSpPr txBox="1"/>
              <p:nvPr/>
            </p:nvSpPr>
            <p:spPr>
              <a:xfrm>
                <a:off x="6963156" y="3006090"/>
                <a:ext cx="825475"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Garson</a:t>
                </a:r>
              </a:p>
            </p:txBody>
          </p:sp>
          <p:sp>
            <p:nvSpPr>
              <p:cNvPr id="29" name="TextBox 29"/>
              <p:cNvSpPr txBox="1"/>
              <p:nvPr/>
            </p:nvSpPr>
            <p:spPr>
              <a:xfrm>
                <a:off x="9611106" y="3006090"/>
                <a:ext cx="141366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Ağ katmanı</a:t>
                </a:r>
              </a:p>
            </p:txBody>
          </p:sp>
          <p:sp>
            <p:nvSpPr>
              <p:cNvPr id="30" name="TextBox 30"/>
              <p:cNvSpPr txBox="1"/>
              <p:nvPr/>
            </p:nvSpPr>
            <p:spPr>
              <a:xfrm>
                <a:off x="6963156" y="3615690"/>
                <a:ext cx="874395"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Mutfak</a:t>
                </a:r>
              </a:p>
            </p:txBody>
          </p:sp>
          <p:sp>
            <p:nvSpPr>
              <p:cNvPr id="31" name="TextBox 31"/>
              <p:cNvSpPr txBox="1"/>
              <p:nvPr/>
            </p:nvSpPr>
            <p:spPr>
              <a:xfrm>
                <a:off x="9611106" y="3615690"/>
                <a:ext cx="865834"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Sunucu</a:t>
                </a:r>
              </a:p>
            </p:txBody>
          </p:sp>
          <p:sp>
            <p:nvSpPr>
              <p:cNvPr id="32" name="TextBox 32"/>
              <p:cNvSpPr txBox="1"/>
              <p:nvPr/>
            </p:nvSpPr>
            <p:spPr>
              <a:xfrm>
                <a:off x="6963156" y="4225290"/>
                <a:ext cx="741213"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Yemek</a:t>
                </a:r>
              </a:p>
            </p:txBody>
          </p:sp>
          <p:sp>
            <p:nvSpPr>
              <p:cNvPr id="33" name="TextBox 33"/>
              <p:cNvSpPr txBox="1"/>
              <p:nvPr/>
            </p:nvSpPr>
            <p:spPr>
              <a:xfrm>
                <a:off x="9611106" y="4225290"/>
                <a:ext cx="72589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Yanıt</a:t>
                </a:r>
              </a:p>
            </p:txBody>
          </p:sp>
        </p:grpSp>
        <p:grpSp>
          <p:nvGrpSpPr>
            <p:cNvPr id="39" name="analogy-arrows"/>
            <p:cNvGrpSpPr/>
            <p:nvPr/>
          </p:nvGrpSpPr>
          <p:grpSpPr>
            <a:xfrm>
              <a:off x="8858250" y="2514600"/>
              <a:ext cx="571500" cy="1828801"/>
              <a:chOff x="8858250" y="2514600"/>
              <a:chExt cx="571500" cy="1828801"/>
            </a:xfrm>
          </p:grpSpPr>
          <p:sp>
            <p:nvSpPr>
              <p:cNvPr id="35" name="Line 35"/>
              <p:cNvSpPr/>
              <p:nvPr/>
            </p:nvSpPr>
            <p:spPr>
              <a:xfrm>
                <a:off x="8858250" y="2514600"/>
                <a:ext cx="571500" cy="1"/>
              </a:xfrm>
              <a:prstGeom prst="line">
                <a:avLst/>
              </a:prstGeom>
              <a:noFill/>
              <a:ln w="28575">
                <a:solidFill>
                  <a:srgbClr val="00A6A6"/>
                </a:solidFill>
                <a:tailEnd type="triangle" w="lg" len="lg"/>
              </a:ln>
            </p:spPr>
          </p:sp>
          <p:sp>
            <p:nvSpPr>
              <p:cNvPr id="36" name="Line 36"/>
              <p:cNvSpPr/>
              <p:nvPr/>
            </p:nvSpPr>
            <p:spPr>
              <a:xfrm>
                <a:off x="8858250" y="3124200"/>
                <a:ext cx="571500" cy="1"/>
              </a:xfrm>
              <a:prstGeom prst="line">
                <a:avLst/>
              </a:prstGeom>
              <a:noFill/>
              <a:ln w="28575">
                <a:solidFill>
                  <a:srgbClr val="00A6A6"/>
                </a:solidFill>
                <a:tailEnd type="triangle" w="lg" len="lg"/>
              </a:ln>
            </p:spPr>
          </p:sp>
          <p:sp>
            <p:nvSpPr>
              <p:cNvPr id="37" name="Line 37"/>
              <p:cNvSpPr/>
              <p:nvPr/>
            </p:nvSpPr>
            <p:spPr>
              <a:xfrm>
                <a:off x="8858250" y="3733800"/>
                <a:ext cx="571500" cy="1"/>
              </a:xfrm>
              <a:prstGeom prst="line">
                <a:avLst/>
              </a:prstGeom>
              <a:noFill/>
              <a:ln w="28575">
                <a:solidFill>
                  <a:srgbClr val="00A6A6"/>
                </a:solidFill>
                <a:tailEnd type="triangle" w="lg" len="lg"/>
              </a:ln>
            </p:spPr>
          </p:sp>
          <p:sp>
            <p:nvSpPr>
              <p:cNvPr id="38" name="Line 38"/>
              <p:cNvSpPr/>
              <p:nvPr/>
            </p:nvSpPr>
            <p:spPr>
              <a:xfrm>
                <a:off x="8858250" y="4343400"/>
                <a:ext cx="571500" cy="1"/>
              </a:xfrm>
              <a:prstGeom prst="line">
                <a:avLst/>
              </a:prstGeom>
              <a:noFill/>
              <a:ln w="28575">
                <a:solidFill>
                  <a:srgbClr val="00A6A6"/>
                </a:solidFill>
                <a:tailEnd type="triangle" w="lg" len="lg"/>
              </a:ln>
            </p:spPr>
          </p:sp>
        </p:grpSp>
        <p:sp>
          <p:nvSpPr>
            <p:cNvPr id="40" name="TextBox 40"/>
            <p:cNvSpPr txBox="1"/>
            <p:nvPr/>
          </p:nvSpPr>
          <p:spPr>
            <a:xfrm>
              <a:off x="6964299" y="4973479"/>
              <a:ext cx="3316859" cy="841438"/>
            </a:xfrm>
            <a:prstGeom prst="rect">
              <a:avLst/>
            </a:prstGeom>
            <a:noFill/>
            <a:ln>
              <a:noFill/>
            </a:ln>
          </p:spPr>
          <p:txBody>
            <a:bodyPr wrap="none" lIns="0" tIns="0" rIns="0" bIns="0" anchor="t" anchorCtr="0">
              <a:spAutoFit/>
            </a:bodyPr>
            <a:lstStyle/>
            <a:p>
              <a:pPr algn="l">
                <a:lnSpc>
                  <a:spcPts val="2100"/>
                </a:lnSpc>
              </a:pPr>
              <a:r>
                <a:rPr lang="tr-TR" sz="1580" dirty="0">
                  <a:solidFill>
                    <a:srgbClr val="52616B"/>
                  </a:solidFill>
                  <a:latin typeface="+mn-lt"/>
                  <a:ea typeface="+mn-ea"/>
                  <a:cs typeface="+mn-cs"/>
                </a:rPr>
                <a:t>Müşteri doğrudan mutfağa girip</a:t>
              </a:r>
              <a:br/>
              <a:r>
                <a:rPr lang="tr-TR" sz="1580" dirty="0">
                  <a:solidFill>
                    <a:srgbClr val="52616B"/>
                  </a:solidFill>
                  <a:latin typeface="+mn-lt"/>
                  <a:ea typeface="+mn-ea"/>
                  <a:cs typeface="+mn-cs"/>
                </a:rPr>
                <a:t>yemeği hazırlamaz; sorumluluklar</a:t>
              </a:r>
              <a:br/>
              <a:r>
                <a:rPr lang="tr-TR" sz="1580" dirty="0">
                  <a:solidFill>
                    <a:srgbClr val="52616B"/>
                  </a:solidFill>
                  <a:latin typeface="+mn-lt"/>
                  <a:ea typeface="+mn-ea"/>
                  <a:cs typeface="+mn-cs"/>
                </a:rPr>
                <a:t>ayrılmıştır.</a:t>
              </a:r>
            </a:p>
          </p:txBody>
        </p:sp>
      </p:grpSp>
      <p:grpSp>
        <p:nvGrpSpPr>
          <p:cNvPr id="44" name="footer"/>
          <p:cNvGrpSpPr/>
          <p:nvPr/>
        </p:nvGrpSpPr>
        <p:grpSpPr>
          <a:xfrm>
            <a:off x="565404" y="6404610"/>
            <a:ext cx="11061192" cy="234696"/>
            <a:chOff x="565404" y="6404610"/>
            <a:chExt cx="11061192" cy="234696"/>
          </a:xfrm>
        </p:grpSpPr>
        <p:sp>
          <p:nvSpPr>
            <p:cNvPr id="42" name="TextBox 42"/>
            <p:cNvSpPr txBox="1"/>
            <p:nvPr/>
          </p:nvSpPr>
          <p:spPr>
            <a:xfrm>
              <a:off x="565404" y="6404610"/>
              <a:ext cx="496284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Bölüm 1 · Modern Backend Programlamaya Giriş ve Web Mimarisi</a:t>
              </a:r>
            </a:p>
          </p:txBody>
        </p:sp>
        <p:sp>
          <p:nvSpPr>
            <p:cNvPr id="43" name="TextBox 43"/>
            <p:cNvSpPr txBox="1"/>
            <p:nvPr/>
          </p:nvSpPr>
          <p:spPr>
            <a:xfrm>
              <a:off x="11436706" y="640461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06</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5" name="title"/>
          <p:cNvGrpSpPr/>
          <p:nvPr/>
        </p:nvGrpSpPr>
        <p:grpSpPr>
          <a:xfrm>
            <a:off x="0" y="0"/>
            <a:ext cx="12192000" cy="952500"/>
            <a:chOff x="0" y="0"/>
            <a:chExt cx="12192000" cy="952500"/>
          </a:xfrm>
        </p:grpSpPr>
        <p:sp>
          <p:nvSpPr>
            <p:cNvPr id="2" name="Rectangle 2"/>
            <p:cNvSpPr/>
            <p:nvPr/>
          </p:nvSpPr>
          <p:spPr>
            <a:xfrm>
              <a:off x="0" y="0"/>
              <a:ext cx="12192000" cy="914400"/>
            </a:xfrm>
            <a:prstGeom prst="rect">
              <a:avLst/>
            </a:prstGeom>
            <a:solidFill>
              <a:srgbClr val="12355B"/>
            </a:solidFill>
            <a:ln>
              <a:noFill/>
            </a:ln>
          </p:spPr>
        </p:sp>
        <p:sp>
          <p:nvSpPr>
            <p:cNvPr id="3" name="Rectangle 3"/>
            <p:cNvSpPr/>
            <p:nvPr/>
          </p:nvSpPr>
          <p:spPr>
            <a:xfrm>
              <a:off x="0" y="914400"/>
              <a:ext cx="12192000" cy="38100"/>
            </a:xfrm>
            <a:prstGeom prst="rect">
              <a:avLst/>
            </a:prstGeom>
            <a:solidFill>
              <a:srgbClr val="00A6A6"/>
            </a:solidFill>
            <a:ln>
              <a:noFill/>
            </a:ln>
          </p:spPr>
        </p:sp>
        <p:sp>
          <p:nvSpPr>
            <p:cNvPr id="4" name="TextBox 4"/>
            <p:cNvSpPr txBox="1"/>
            <p:nvPr/>
          </p:nvSpPr>
          <p:spPr>
            <a:xfrm>
              <a:off x="557022" y="282892"/>
              <a:ext cx="6830234" cy="557403"/>
            </a:xfrm>
            <a:prstGeom prst="rect">
              <a:avLst/>
            </a:prstGeom>
            <a:noFill/>
            <a:ln>
              <a:noFill/>
            </a:ln>
          </p:spPr>
          <p:txBody>
            <a:bodyPr wrap="none" lIns="0" tIns="0" rIns="0" bIns="0" anchor="t" anchorCtr="0">
              <a:spAutoFit/>
            </a:bodyPr>
            <a:lstStyle/>
            <a:p>
              <a:pPr algn="l"/>
              <a:r>
                <a:rPr lang="tr-TR" sz="2850" b="1" dirty="0">
                  <a:solidFill>
                    <a:srgbClr val="F7FAFC"/>
                  </a:solidFill>
                  <a:latin typeface="+mj-lt"/>
                  <a:ea typeface="+mj-ea"/>
                  <a:cs typeface="+mj-cs"/>
                </a:rPr>
                <a:t>Kuramsal arka plan: modelin kökeni</a:t>
              </a:r>
            </a:p>
          </p:txBody>
        </p:sp>
      </p:grpSp>
      <p:grpSp>
        <p:nvGrpSpPr>
          <p:cNvPr id="7" name="lead"/>
          <p:cNvGrpSpPr/>
          <p:nvPr/>
        </p:nvGrpSpPr>
        <p:grpSpPr>
          <a:xfrm>
            <a:off x="561594" y="1465898"/>
            <a:ext cx="10764990" cy="381381"/>
            <a:chOff x="561594" y="1465898"/>
            <a:chExt cx="10764990" cy="381381"/>
          </a:xfrm>
        </p:grpSpPr>
        <p:sp>
          <p:nvSpPr>
            <p:cNvPr id="6" name="TextBox 6"/>
            <p:cNvSpPr txBox="1"/>
            <p:nvPr/>
          </p:nvSpPr>
          <p:spPr>
            <a:xfrm>
              <a:off x="561594" y="1465898"/>
              <a:ext cx="10764990" cy="381381"/>
            </a:xfrm>
            <a:prstGeom prst="rect">
              <a:avLst/>
            </a:prstGeom>
            <a:noFill/>
            <a:ln>
              <a:noFill/>
            </a:ln>
          </p:spPr>
          <p:txBody>
            <a:bodyPr wrap="none" lIns="0" tIns="0" rIns="0" bIns="0" anchor="t" anchorCtr="0">
              <a:spAutoFit/>
            </a:bodyPr>
            <a:lstStyle/>
            <a:p>
              <a:pPr algn="l"/>
              <a:r>
                <a:rPr lang="tr-TR" sz="1950" dirty="0">
                  <a:solidFill>
                    <a:srgbClr val="2E86AB"/>
                  </a:solidFill>
                  <a:latin typeface="+mn-lt"/>
                  <a:ea typeface="+mn-ea"/>
                  <a:cs typeface="+mn-cs"/>
                </a:rPr>
                <a:t>İstek-yanıt döngüsünün biçimsel temeli uzak yordam çağrısına kadar götürülebilir.</a:t>
              </a:r>
            </a:p>
          </p:txBody>
        </p:sp>
      </p:grpSp>
      <p:grpSp>
        <p:nvGrpSpPr>
          <p:cNvPr id="26" name="timeline"/>
          <p:cNvGrpSpPr/>
          <p:nvPr/>
        </p:nvGrpSpPr>
        <p:grpSpPr>
          <a:xfrm>
            <a:off x="562356" y="2271712"/>
            <a:ext cx="11058144" cy="2438305"/>
            <a:chOff x="562356" y="2271712"/>
            <a:chExt cx="11058144" cy="2438305"/>
          </a:xfrm>
        </p:grpSpPr>
        <p:sp>
          <p:nvSpPr>
            <p:cNvPr id="8" name="Line 8"/>
            <p:cNvSpPr/>
            <p:nvPr/>
          </p:nvSpPr>
          <p:spPr>
            <a:xfrm>
              <a:off x="571500" y="2857500"/>
              <a:ext cx="11049000" cy="9525"/>
            </a:xfrm>
            <a:custGeom>
              <a:avLst/>
              <a:gdLst/>
              <a:ahLst/>
              <a:cxnLst/>
              <a:rect l="l" t="t" r="r" b="b"/>
              <a:pathLst>
                <a:path w="11049000" h="9525">
                  <a:moveTo>
                    <a:pt x="0" y="0"/>
                  </a:moveTo>
                  <a:lnTo>
                    <a:pt x="11049000" y="0"/>
                  </a:lnTo>
                </a:path>
              </a:pathLst>
            </a:custGeom>
            <a:noFill/>
            <a:ln w="19050">
              <a:solidFill>
                <a:srgbClr val="12355B"/>
              </a:solidFill>
            </a:ln>
          </p:spPr>
        </p:sp>
        <p:grpSp>
          <p:nvGrpSpPr>
            <p:cNvPr id="12" name="timeline-marks"/>
            <p:cNvGrpSpPr/>
            <p:nvPr/>
          </p:nvGrpSpPr>
          <p:grpSpPr>
            <a:xfrm>
              <a:off x="2190750" y="2762250"/>
              <a:ext cx="7810500" cy="190500"/>
              <a:chOff x="2190750" y="2762250"/>
              <a:chExt cx="7810500" cy="190500"/>
            </a:xfrm>
          </p:grpSpPr>
          <p:sp>
            <p:nvSpPr>
              <p:cNvPr id="9" name="Ellipse 9"/>
              <p:cNvSpPr/>
              <p:nvPr/>
            </p:nvSpPr>
            <p:spPr>
              <a:xfrm>
                <a:off x="2190750" y="2762250"/>
                <a:ext cx="190500" cy="190500"/>
              </a:xfrm>
              <a:prstGeom prst="ellipse">
                <a:avLst/>
              </a:prstGeom>
              <a:solidFill>
                <a:srgbClr val="00A6A6"/>
              </a:solidFill>
              <a:ln>
                <a:noFill/>
              </a:ln>
            </p:spPr>
          </p:sp>
          <p:sp>
            <p:nvSpPr>
              <p:cNvPr id="10" name="Ellipse 10"/>
              <p:cNvSpPr/>
              <p:nvPr/>
            </p:nvSpPr>
            <p:spPr>
              <a:xfrm>
                <a:off x="6000750" y="2762250"/>
                <a:ext cx="190500" cy="190500"/>
              </a:xfrm>
              <a:prstGeom prst="ellipse">
                <a:avLst/>
              </a:prstGeom>
              <a:solidFill>
                <a:srgbClr val="00A6A6"/>
              </a:solidFill>
              <a:ln>
                <a:noFill/>
              </a:ln>
            </p:spPr>
          </p:sp>
          <p:sp>
            <p:nvSpPr>
              <p:cNvPr id="11" name="Ellipse 11"/>
              <p:cNvSpPr/>
              <p:nvPr/>
            </p:nvSpPr>
            <p:spPr>
              <a:xfrm>
                <a:off x="9810750" y="2762250"/>
                <a:ext cx="190500" cy="190500"/>
              </a:xfrm>
              <a:prstGeom prst="ellipse">
                <a:avLst/>
              </a:prstGeom>
              <a:solidFill>
                <a:srgbClr val="00A6A6"/>
              </a:solidFill>
              <a:ln>
                <a:noFill/>
              </a:ln>
            </p:spPr>
          </p:sp>
        </p:grpSp>
        <p:grpSp>
          <p:nvGrpSpPr>
            <p:cNvPr id="16" name="timeline-years"/>
            <p:cNvGrpSpPr/>
            <p:nvPr/>
          </p:nvGrpSpPr>
          <p:grpSpPr>
            <a:xfrm>
              <a:off x="1614638" y="2271712"/>
              <a:ext cx="8745048" cy="440055"/>
              <a:chOff x="1614638" y="2271712"/>
              <a:chExt cx="8745048" cy="440055"/>
            </a:xfrm>
          </p:grpSpPr>
          <p:sp>
            <p:nvSpPr>
              <p:cNvPr id="13" name="TextBox 13"/>
              <p:cNvSpPr txBox="1"/>
              <p:nvPr/>
            </p:nvSpPr>
            <p:spPr>
              <a:xfrm>
                <a:off x="1614638" y="2271712"/>
                <a:ext cx="1342725" cy="440055"/>
              </a:xfrm>
              <a:prstGeom prst="rect">
                <a:avLst/>
              </a:prstGeom>
              <a:noFill/>
              <a:ln>
                <a:noFill/>
              </a:ln>
            </p:spPr>
            <p:txBody>
              <a:bodyPr wrap="none" lIns="0" tIns="0" rIns="0" bIns="0" anchor="t" anchorCtr="0">
                <a:spAutoFit/>
              </a:bodyPr>
              <a:lstStyle/>
              <a:p>
                <a:pPr algn="ctr"/>
                <a:r>
                  <a:rPr lang="tr-TR" sz="2250" b="1" dirty="0">
                    <a:solidFill>
                      <a:srgbClr val="12355B"/>
                    </a:solidFill>
                    <a:latin typeface="+mn-lt"/>
                    <a:ea typeface="+mn-ea"/>
                    <a:cs typeface="+mn-cs"/>
                  </a:rPr>
                  <a:t>1980’ler</a:t>
                </a:r>
              </a:p>
            </p:txBody>
          </p:sp>
          <p:sp>
            <p:nvSpPr>
              <p:cNvPr id="14" name="TextBox 14"/>
              <p:cNvSpPr txBox="1"/>
              <p:nvPr/>
            </p:nvSpPr>
            <p:spPr>
              <a:xfrm>
                <a:off x="5734726" y="2271712"/>
                <a:ext cx="722547" cy="440055"/>
              </a:xfrm>
              <a:prstGeom prst="rect">
                <a:avLst/>
              </a:prstGeom>
              <a:noFill/>
              <a:ln>
                <a:noFill/>
              </a:ln>
            </p:spPr>
            <p:txBody>
              <a:bodyPr wrap="none" lIns="0" tIns="0" rIns="0" bIns="0" anchor="t" anchorCtr="0">
                <a:spAutoFit/>
              </a:bodyPr>
              <a:lstStyle/>
              <a:p>
                <a:pPr algn="ctr"/>
                <a:r>
                  <a:rPr lang="tr-TR" sz="2250" b="1" dirty="0">
                    <a:solidFill>
                      <a:srgbClr val="12355B"/>
                    </a:solidFill>
                    <a:latin typeface="+mn-lt"/>
                    <a:ea typeface="+mn-ea"/>
                    <a:cs typeface="+mn-cs"/>
                  </a:rPr>
                  <a:t>1984</a:t>
                </a:r>
              </a:p>
            </p:txBody>
          </p:sp>
          <p:sp>
            <p:nvSpPr>
              <p:cNvPr id="15" name="TextBox 15"/>
              <p:cNvSpPr txBox="1"/>
              <p:nvPr/>
            </p:nvSpPr>
            <p:spPr>
              <a:xfrm>
                <a:off x="9452315" y="2271712"/>
                <a:ext cx="907371" cy="440055"/>
              </a:xfrm>
              <a:prstGeom prst="rect">
                <a:avLst/>
              </a:prstGeom>
              <a:noFill/>
              <a:ln>
                <a:noFill/>
              </a:ln>
            </p:spPr>
            <p:txBody>
              <a:bodyPr wrap="none" lIns="0" tIns="0" rIns="0" bIns="0" anchor="t" anchorCtr="0">
                <a:spAutoFit/>
              </a:bodyPr>
              <a:lstStyle/>
              <a:p>
                <a:pPr algn="ctr"/>
                <a:r>
                  <a:rPr lang="tr-TR" sz="2250" b="1" dirty="0">
                    <a:solidFill>
                      <a:srgbClr val="12355B"/>
                    </a:solidFill>
                    <a:latin typeface="+mn-lt"/>
                    <a:ea typeface="+mn-ea"/>
                    <a:cs typeface="+mn-cs"/>
                  </a:rPr>
                  <a:t>Bugün</a:t>
                </a:r>
              </a:p>
            </p:txBody>
          </p:sp>
        </p:grpSp>
        <p:grpSp>
          <p:nvGrpSpPr>
            <p:cNvPr id="19" name="milestone-1"/>
            <p:cNvGrpSpPr/>
            <p:nvPr/>
          </p:nvGrpSpPr>
          <p:grpSpPr>
            <a:xfrm>
              <a:off x="562356" y="3234690"/>
              <a:ext cx="3127375" cy="1475327"/>
              <a:chOff x="562356" y="3234690"/>
              <a:chExt cx="3127375" cy="1475327"/>
            </a:xfrm>
          </p:grpSpPr>
          <p:sp>
            <p:nvSpPr>
              <p:cNvPr id="17" name="TextBox 17"/>
              <p:cNvSpPr txBox="1"/>
              <p:nvPr/>
            </p:nvSpPr>
            <p:spPr>
              <a:xfrm>
                <a:off x="562356" y="3234690"/>
                <a:ext cx="232904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Dağıtık hesaplama</a:t>
                </a:r>
              </a:p>
            </p:txBody>
          </p:sp>
          <p:sp>
            <p:nvSpPr>
              <p:cNvPr id="18" name="TextBox 18"/>
              <p:cNvSpPr txBox="1"/>
              <p:nvPr/>
            </p:nvSpPr>
            <p:spPr>
              <a:xfrm>
                <a:off x="563499" y="3601879"/>
                <a:ext cx="3126232" cy="1108138"/>
              </a:xfrm>
              <a:prstGeom prst="rect">
                <a:avLst/>
              </a:prstGeom>
              <a:noFill/>
              <a:ln>
                <a:noFill/>
              </a:ln>
            </p:spPr>
            <p:txBody>
              <a:bodyPr wrap="none" lIns="0" tIns="0" rIns="0" bIns="0" anchor="t" anchorCtr="0">
                <a:spAutoFit/>
              </a:bodyPr>
              <a:lstStyle/>
              <a:p>
                <a:pPr algn="l">
                  <a:lnSpc>
                    <a:spcPts val="2100"/>
                  </a:lnSpc>
                </a:pPr>
                <a:r>
                  <a:rPr lang="tr-TR" sz="1580" dirty="0">
                    <a:solidFill>
                      <a:srgbClr val="52616B"/>
                    </a:solidFill>
                    <a:latin typeface="+mn-lt"/>
                    <a:ea typeface="+mn-ea"/>
                    <a:cs typeface="+mn-cs"/>
                  </a:rPr>
                  <a:t>Xerox PARC ve Unix ortamında</a:t>
                </a:r>
                <a:br/>
                <a:r>
                  <a:rPr lang="tr-TR" sz="1580" dirty="0">
                    <a:solidFill>
                      <a:srgbClr val="52616B"/>
                    </a:solidFill>
                    <a:latin typeface="+mn-lt"/>
                    <a:ea typeface="+mn-ea"/>
                    <a:cs typeface="+mn-cs"/>
                  </a:rPr>
                  <a:t>iş istasyonları ile dosya ve</a:t>
                </a:r>
                <a:br/>
                <a:r>
                  <a:rPr lang="tr-TR" sz="1580" dirty="0">
                    <a:solidFill>
                      <a:srgbClr val="52616B"/>
                    </a:solidFill>
                    <a:latin typeface="+mn-lt"/>
                    <a:ea typeface="+mn-ea"/>
                    <a:cs typeface="+mn-cs"/>
                  </a:rPr>
                  <a:t>veritabanı sunucuları ayrışır;</a:t>
                </a:r>
                <a:br/>
                <a:r>
                  <a:rPr lang="tr-TR" sz="1580" dirty="0">
                    <a:solidFill>
                      <a:srgbClr val="52616B"/>
                    </a:solidFill>
                    <a:latin typeface="+mn-lt"/>
                    <a:ea typeface="+mn-ea"/>
                    <a:cs typeface="+mn-cs"/>
                  </a:rPr>
                  <a:t>mainframe modeli geri çekilir.</a:t>
                </a:r>
              </a:p>
            </p:txBody>
          </p:sp>
        </p:grpSp>
        <p:grpSp>
          <p:nvGrpSpPr>
            <p:cNvPr id="22" name="milestone-2"/>
            <p:cNvGrpSpPr/>
            <p:nvPr/>
          </p:nvGrpSpPr>
          <p:grpSpPr>
            <a:xfrm>
              <a:off x="4372356" y="3234690"/>
              <a:ext cx="2766187" cy="1475327"/>
              <a:chOff x="4372356" y="3234690"/>
              <a:chExt cx="2766187" cy="1475327"/>
            </a:xfrm>
          </p:grpSpPr>
          <p:sp>
            <p:nvSpPr>
              <p:cNvPr id="20" name="TextBox 20"/>
              <p:cNvSpPr txBox="1"/>
              <p:nvPr/>
            </p:nvSpPr>
            <p:spPr>
              <a:xfrm>
                <a:off x="4372356" y="3234690"/>
                <a:ext cx="260936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Uzak yordam çağrısı</a:t>
                </a:r>
              </a:p>
            </p:txBody>
          </p:sp>
          <p:sp>
            <p:nvSpPr>
              <p:cNvPr id="21" name="TextBox 21"/>
              <p:cNvSpPr txBox="1"/>
              <p:nvPr/>
            </p:nvSpPr>
            <p:spPr>
              <a:xfrm>
                <a:off x="4373499" y="3601879"/>
                <a:ext cx="2765044" cy="1108138"/>
              </a:xfrm>
              <a:prstGeom prst="rect">
                <a:avLst/>
              </a:prstGeom>
              <a:noFill/>
              <a:ln>
                <a:noFill/>
              </a:ln>
            </p:spPr>
            <p:txBody>
              <a:bodyPr wrap="none" lIns="0" tIns="0" rIns="0" bIns="0" anchor="t" anchorCtr="0">
                <a:spAutoFit/>
              </a:bodyPr>
              <a:lstStyle/>
              <a:p>
                <a:pPr algn="l">
                  <a:lnSpc>
                    <a:spcPts val="2100"/>
                  </a:lnSpc>
                </a:pPr>
                <a:r>
                  <a:rPr lang="tr-TR" sz="1580" dirty="0">
                    <a:solidFill>
                      <a:srgbClr val="52616B"/>
                    </a:solidFill>
                    <a:latin typeface="+mn-lt"/>
                    <a:ea typeface="+mn-ea"/>
                    <a:cs typeface="+mn-cs"/>
                  </a:rPr>
                  <a:t>Birrell ve Nelson (1984): bir</a:t>
                </a:r>
                <a:br/>
                <a:r>
                  <a:rPr lang="tr-TR" sz="1580" dirty="0">
                    <a:solidFill>
                      <a:srgbClr val="52616B"/>
                    </a:solidFill>
                    <a:latin typeface="+mn-lt"/>
                    <a:ea typeface="+mn-ea"/>
                    <a:cs typeface="+mn-cs"/>
                  </a:rPr>
                  <a:t>bilgisayardaki işlem, ağdaki</a:t>
                </a:r>
                <a:br/>
                <a:r>
                  <a:rPr lang="tr-TR" sz="1580" dirty="0">
                    <a:solidFill>
                      <a:srgbClr val="52616B"/>
                    </a:solidFill>
                    <a:latin typeface="+mn-lt"/>
                    <a:ea typeface="+mn-ea"/>
                    <a:cs typeface="+mn-cs"/>
                  </a:rPr>
                  <a:t>işlevi yerel bir fonksiyon</a:t>
                </a:r>
                <a:br/>
                <a:r>
                  <a:rPr lang="tr-TR" sz="1580" dirty="0">
                    <a:solidFill>
                      <a:srgbClr val="52616B"/>
                    </a:solidFill>
                    <a:latin typeface="+mn-lt"/>
                    <a:ea typeface="+mn-ea"/>
                    <a:cs typeface="+mn-cs"/>
                  </a:rPr>
                  <a:t>çağrısıymış gibi tetikler.</a:t>
                </a:r>
              </a:p>
            </p:txBody>
          </p:sp>
        </p:grpSp>
        <p:grpSp>
          <p:nvGrpSpPr>
            <p:cNvPr id="25" name="milestone-3"/>
            <p:cNvGrpSpPr/>
            <p:nvPr/>
          </p:nvGrpSpPr>
          <p:grpSpPr>
            <a:xfrm>
              <a:off x="8182356" y="3234690"/>
              <a:ext cx="2886583" cy="1475327"/>
              <a:chOff x="8182356" y="3234690"/>
              <a:chExt cx="2886583" cy="1475327"/>
            </a:xfrm>
          </p:grpSpPr>
          <p:sp>
            <p:nvSpPr>
              <p:cNvPr id="23" name="TextBox 23"/>
              <p:cNvSpPr txBox="1"/>
              <p:nvPr/>
            </p:nvSpPr>
            <p:spPr>
              <a:xfrm>
                <a:off x="8182356" y="3234690"/>
                <a:ext cx="216422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HTTP istek-yanıt</a:t>
                </a:r>
              </a:p>
            </p:txBody>
          </p:sp>
          <p:sp>
            <p:nvSpPr>
              <p:cNvPr id="24" name="TextBox 24"/>
              <p:cNvSpPr txBox="1"/>
              <p:nvPr/>
            </p:nvSpPr>
            <p:spPr>
              <a:xfrm>
                <a:off x="8183499" y="3601879"/>
                <a:ext cx="2885440" cy="1108138"/>
              </a:xfrm>
              <a:prstGeom prst="rect">
                <a:avLst/>
              </a:prstGeom>
              <a:noFill/>
              <a:ln>
                <a:noFill/>
              </a:ln>
            </p:spPr>
            <p:txBody>
              <a:bodyPr wrap="none" lIns="0" tIns="0" rIns="0" bIns="0" anchor="t" anchorCtr="0">
                <a:spAutoFit/>
              </a:bodyPr>
              <a:lstStyle/>
              <a:p>
                <a:pPr algn="l">
                  <a:lnSpc>
                    <a:spcPts val="2100"/>
                  </a:lnSpc>
                </a:pPr>
                <a:r>
                  <a:rPr lang="tr-TR" sz="1580" dirty="0">
                    <a:solidFill>
                      <a:srgbClr val="52616B"/>
                    </a:solidFill>
                    <a:latin typeface="+mn-lt"/>
                    <a:ea typeface="+mn-ea"/>
                    <a:cs typeface="+mn-cs"/>
                  </a:rPr>
                  <a:t>Aynı fikrin metin tabanlı ve</a:t>
                </a:r>
                <a:br/>
                <a:r>
                  <a:rPr lang="tr-TR" sz="1580" dirty="0">
                    <a:solidFill>
                      <a:srgbClr val="52616B"/>
                    </a:solidFill>
                    <a:latin typeface="+mn-lt"/>
                    <a:ea typeface="+mn-ea"/>
                    <a:cs typeface="+mn-cs"/>
                  </a:rPr>
                  <a:t>durumsuz (stateless) biçimi;</a:t>
                </a:r>
                <a:br/>
                <a:r>
                  <a:rPr lang="tr-TR" sz="1580" dirty="0">
                    <a:solidFill>
                      <a:srgbClr val="52616B"/>
                    </a:solidFill>
                    <a:latin typeface="+mn-lt"/>
                    <a:ea typeface="+mn-ea"/>
                    <a:cs typeface="+mn-cs"/>
                  </a:rPr>
                  <a:t>metotlar ve durum kodları bu</a:t>
                </a:r>
                <a:br/>
                <a:r>
                  <a:rPr lang="tr-TR" sz="1580" dirty="0">
                    <a:solidFill>
                      <a:srgbClr val="52616B"/>
                    </a:solidFill>
                    <a:latin typeface="+mn-lt"/>
                    <a:ea typeface="+mn-ea"/>
                    <a:cs typeface="+mn-cs"/>
                  </a:rPr>
                  <a:t>modelin protokol sözleşmesi.</a:t>
                </a:r>
              </a:p>
            </p:txBody>
          </p:sp>
        </p:grpSp>
      </p:grpSp>
      <p:grpSp>
        <p:nvGrpSpPr>
          <p:cNvPr id="29" name="closing-line"/>
          <p:cNvGrpSpPr/>
          <p:nvPr/>
        </p:nvGrpSpPr>
        <p:grpSpPr>
          <a:xfrm>
            <a:off x="571500" y="5143500"/>
            <a:ext cx="10555531" cy="443484"/>
            <a:chOff x="571500" y="5143500"/>
            <a:chExt cx="10555531" cy="443484"/>
          </a:xfrm>
        </p:grpSpPr>
        <p:sp>
          <p:nvSpPr>
            <p:cNvPr id="27" name="Rectangle 27"/>
            <p:cNvSpPr/>
            <p:nvPr/>
          </p:nvSpPr>
          <p:spPr>
            <a:xfrm>
              <a:off x="571500" y="5143500"/>
              <a:ext cx="57150" cy="381000"/>
            </a:xfrm>
            <a:prstGeom prst="rect">
              <a:avLst/>
            </a:prstGeom>
            <a:solidFill>
              <a:srgbClr val="00A6A6"/>
            </a:solidFill>
            <a:ln>
              <a:noFill/>
            </a:ln>
          </p:spPr>
        </p:sp>
        <p:sp>
          <p:nvSpPr>
            <p:cNvPr id="28" name="TextBox 28"/>
            <p:cNvSpPr txBox="1"/>
            <p:nvPr/>
          </p:nvSpPr>
          <p:spPr>
            <a:xfrm>
              <a:off x="790956" y="5234940"/>
              <a:ext cx="10336075"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HTTP istek-yanıt modeli, kırk yıllık bir fikrin protokol sözleşmesine dönüşmüş hâlidir.</a:t>
              </a:r>
            </a:p>
          </p:txBody>
        </p:sp>
      </p:grpSp>
      <p:grpSp>
        <p:nvGrpSpPr>
          <p:cNvPr id="32" name="footer"/>
          <p:cNvGrpSpPr/>
          <p:nvPr/>
        </p:nvGrpSpPr>
        <p:grpSpPr>
          <a:xfrm>
            <a:off x="565404" y="6404610"/>
            <a:ext cx="11061192" cy="234696"/>
            <a:chOff x="565404" y="6404610"/>
            <a:chExt cx="11061192" cy="234696"/>
          </a:xfrm>
        </p:grpSpPr>
        <p:sp>
          <p:nvSpPr>
            <p:cNvPr id="30" name="TextBox 30"/>
            <p:cNvSpPr txBox="1"/>
            <p:nvPr/>
          </p:nvSpPr>
          <p:spPr>
            <a:xfrm>
              <a:off x="565404" y="6404610"/>
              <a:ext cx="496284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Bölüm 1 · Modern Backend Programlamaya Giriş ve Web Mimarisi</a:t>
              </a:r>
            </a:p>
          </p:txBody>
        </p:sp>
        <p:sp>
          <p:nvSpPr>
            <p:cNvPr id="31" name="TextBox 31"/>
            <p:cNvSpPr txBox="1"/>
            <p:nvPr/>
          </p:nvSpPr>
          <p:spPr>
            <a:xfrm>
              <a:off x="11436706" y="640461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07</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1" name="title"/>
          <p:cNvGrpSpPr/>
          <p:nvPr/>
        </p:nvGrpSpPr>
        <p:grpSpPr>
          <a:xfrm>
            <a:off x="0" y="0"/>
            <a:ext cx="12192000" cy="952500"/>
            <a:chOff x="0" y="0"/>
            <a:chExt cx="12192000" cy="952500"/>
          </a:xfrm>
        </p:grpSpPr>
        <p:sp>
          <p:nvSpPr>
            <p:cNvPr id="2" name="Rectangle 2"/>
            <p:cNvSpPr/>
            <p:nvPr/>
          </p:nvSpPr>
          <p:spPr>
            <a:xfrm>
              <a:off x="0" y="0"/>
              <a:ext cx="12192000" cy="914400"/>
            </a:xfrm>
            <a:prstGeom prst="rect">
              <a:avLst/>
            </a:prstGeom>
            <a:solidFill>
              <a:srgbClr val="12355B"/>
            </a:solidFill>
            <a:ln>
              <a:noFill/>
            </a:ln>
          </p:spPr>
        </p:sp>
        <p:sp>
          <p:nvSpPr>
            <p:cNvPr id="3" name="Rectangle 3"/>
            <p:cNvSpPr/>
            <p:nvPr/>
          </p:nvSpPr>
          <p:spPr>
            <a:xfrm>
              <a:off x="0" y="914400"/>
              <a:ext cx="12192000" cy="38100"/>
            </a:xfrm>
            <a:prstGeom prst="rect">
              <a:avLst/>
            </a:prstGeom>
            <a:solidFill>
              <a:srgbClr val="00A6A6"/>
            </a:solidFill>
            <a:ln>
              <a:noFill/>
            </a:ln>
          </p:spPr>
        </p:sp>
        <p:grpSp>
          <p:nvGrpSpPr>
            <p:cNvPr id="9" name="icon-badge"/>
            <p:cNvGrpSpPr/>
            <p:nvPr/>
          </p:nvGrpSpPr>
          <p:grpSpPr>
            <a:xfrm>
              <a:off x="571500" y="171450"/>
              <a:ext cx="571500" cy="571500"/>
              <a:chOff x="571500" y="171450"/>
              <a:chExt cx="571500" cy="571500"/>
            </a:xfrm>
          </p:grpSpPr>
          <p:sp>
            <p:nvSpPr>
              <p:cNvPr id="4" name="Ellipse 4"/>
              <p:cNvSpPr/>
              <p:nvPr/>
            </p:nvSpPr>
            <p:spPr>
              <a:xfrm>
                <a:off x="571500" y="171450"/>
                <a:ext cx="571500" cy="571500"/>
              </a:xfrm>
              <a:prstGeom prst="ellipse">
                <a:avLst/>
              </a:prstGeom>
              <a:solidFill>
                <a:srgbClr val="00A6A6"/>
              </a:solidFill>
              <a:ln>
                <a:noFill/>
              </a:ln>
            </p:spPr>
          </p:sp>
          <p:grpSp>
            <p:nvGrpSpPr>
              <p:cNvPr id="8" name="Group 8"/>
              <p:cNvGrpSpPr/>
              <p:nvPr/>
            </p:nvGrpSpPr>
            <p:grpSpPr>
              <a:xfrm>
                <a:off x="739140" y="339090"/>
                <a:ext cx="236220" cy="236220"/>
                <a:chOff x="739140" y="339090"/>
                <a:chExt cx="236220" cy="236220"/>
              </a:xfrm>
            </p:grpSpPr>
            <p:sp>
              <p:nvSpPr>
                <p:cNvPr id="5" name="Freeform 5"/>
                <p:cNvSpPr/>
                <p:nvPr/>
              </p:nvSpPr>
              <p:spPr>
                <a:xfrm>
                  <a:off x="739140" y="398145"/>
                  <a:ext cx="236220" cy="9525"/>
                </a:xfrm>
                <a:custGeom>
                  <a:avLst/>
                  <a:gdLst/>
                  <a:ahLst/>
                  <a:cxnLst/>
                  <a:rect l="l" t="t" r="r" b="b"/>
                  <a:pathLst>
                    <a:path w="236220" h="9525">
                      <a:moveTo>
                        <a:pt x="0" y="0"/>
                      </a:moveTo>
                      <a:lnTo>
                        <a:pt x="236220" y="0"/>
                      </a:lnTo>
                    </a:path>
                  </a:pathLst>
                </a:custGeom>
                <a:noFill/>
                <a:ln w="24759" cap="rnd">
                  <a:solidFill>
                    <a:srgbClr val="FFFFFF"/>
                  </a:solidFill>
                  <a:round/>
                </a:ln>
              </p:spPr>
            </p:sp>
            <p:sp>
              <p:nvSpPr>
                <p:cNvPr id="6" name="Freeform 6"/>
                <p:cNvSpPr/>
                <p:nvPr/>
              </p:nvSpPr>
              <p:spPr>
                <a:xfrm>
                  <a:off x="739140" y="339090"/>
                  <a:ext cx="236220" cy="236220"/>
                </a:xfrm>
                <a:custGeom>
                  <a:avLst/>
                  <a:gdLst/>
                  <a:ahLst/>
                  <a:cxnLst/>
                  <a:rect l="l" t="t" r="r" b="b"/>
                  <a:pathLst>
                    <a:path w="236220" h="236220">
                      <a:moveTo>
                        <a:pt x="0" y="29528"/>
                      </a:moveTo>
                      <a:cubicBezTo>
                        <a:pt x="0" y="13220"/>
                        <a:pt x="13220" y="0"/>
                        <a:pt x="29527" y="0"/>
                      </a:cubicBezTo>
                      <a:lnTo>
                        <a:pt x="206693" y="0"/>
                      </a:lnTo>
                      <a:cubicBezTo>
                        <a:pt x="223000" y="0"/>
                        <a:pt x="236220" y="13220"/>
                        <a:pt x="236220" y="29528"/>
                      </a:cubicBezTo>
                      <a:lnTo>
                        <a:pt x="236220" y="206692"/>
                      </a:lnTo>
                      <a:cubicBezTo>
                        <a:pt x="236220" y="223000"/>
                        <a:pt x="223000" y="236220"/>
                        <a:pt x="206693" y="236220"/>
                      </a:cubicBezTo>
                      <a:lnTo>
                        <a:pt x="29527" y="236220"/>
                      </a:lnTo>
                      <a:cubicBezTo>
                        <a:pt x="13220" y="236220"/>
                        <a:pt x="0" y="223000"/>
                        <a:pt x="0" y="206692"/>
                      </a:cubicBezTo>
                      <a:lnTo>
                        <a:pt x="0" y="29528"/>
                      </a:lnTo>
                    </a:path>
                  </a:pathLst>
                </a:custGeom>
                <a:noFill/>
                <a:ln w="24759" cap="rnd">
                  <a:solidFill>
                    <a:srgbClr val="FFFFFF"/>
                  </a:solidFill>
                  <a:round/>
                </a:ln>
              </p:spPr>
            </p:sp>
            <p:sp>
              <p:nvSpPr>
                <p:cNvPr id="7" name="Freeform 7"/>
                <p:cNvSpPr/>
                <p:nvPr/>
              </p:nvSpPr>
              <p:spPr>
                <a:xfrm>
                  <a:off x="798195" y="339090"/>
                  <a:ext cx="9525" cy="59055"/>
                </a:xfrm>
                <a:custGeom>
                  <a:avLst/>
                  <a:gdLst/>
                  <a:ahLst/>
                  <a:cxnLst/>
                  <a:rect l="l" t="t" r="r" b="b"/>
                  <a:pathLst>
                    <a:path w="9525" h="59055">
                      <a:moveTo>
                        <a:pt x="0" y="0"/>
                      </a:moveTo>
                      <a:lnTo>
                        <a:pt x="0" y="59055"/>
                      </a:lnTo>
                    </a:path>
                  </a:pathLst>
                </a:custGeom>
                <a:noFill/>
                <a:ln w="24759" cap="rnd">
                  <a:solidFill>
                    <a:srgbClr val="FFFFFF"/>
                  </a:solidFill>
                  <a:round/>
                </a:ln>
              </p:spPr>
            </p:sp>
          </p:grpSp>
        </p:grpSp>
        <p:sp>
          <p:nvSpPr>
            <p:cNvPr id="10" name="TextBox 10"/>
            <p:cNvSpPr txBox="1"/>
            <p:nvPr/>
          </p:nvSpPr>
          <p:spPr>
            <a:xfrm>
              <a:off x="1261872" y="282892"/>
              <a:ext cx="8858916" cy="557403"/>
            </a:xfrm>
            <a:prstGeom prst="rect">
              <a:avLst/>
            </a:prstGeom>
            <a:noFill/>
            <a:ln>
              <a:noFill/>
            </a:ln>
          </p:spPr>
          <p:txBody>
            <a:bodyPr wrap="none" lIns="0" tIns="0" rIns="0" bIns="0" anchor="t" anchorCtr="0">
              <a:spAutoFit/>
            </a:bodyPr>
            <a:lstStyle/>
            <a:p>
              <a:pPr algn="l"/>
              <a:r>
                <a:rPr lang="tr-TR" sz="2850" b="1" dirty="0">
                  <a:solidFill>
                    <a:srgbClr val="F7FAFC"/>
                  </a:solidFill>
                  <a:latin typeface="+mj-lt"/>
                  <a:ea typeface="+mj-ea"/>
                  <a:cs typeface="+mj-cs"/>
                </a:rPr>
                <a:t>Neden ayrılır? Tek kural kümesi, çok istemci</a:t>
              </a:r>
            </a:p>
          </p:txBody>
        </p:sp>
      </p:grpSp>
      <p:grpSp>
        <p:nvGrpSpPr>
          <p:cNvPr id="30" name="shared-backend"/>
          <p:cNvGrpSpPr/>
          <p:nvPr/>
        </p:nvGrpSpPr>
        <p:grpSpPr>
          <a:xfrm>
            <a:off x="563499" y="1428750"/>
            <a:ext cx="6104001" cy="3662268"/>
            <a:chOff x="563499" y="1428750"/>
            <a:chExt cx="6104001" cy="3662268"/>
          </a:xfrm>
        </p:grpSpPr>
        <p:grpSp>
          <p:nvGrpSpPr>
            <p:cNvPr id="14" name="client-web"/>
            <p:cNvGrpSpPr/>
            <p:nvPr/>
          </p:nvGrpSpPr>
          <p:grpSpPr>
            <a:xfrm>
              <a:off x="571500" y="1428750"/>
              <a:ext cx="2286000" cy="914400"/>
              <a:chOff x="571500" y="1428750"/>
              <a:chExt cx="2286000" cy="914400"/>
            </a:xfrm>
          </p:grpSpPr>
          <p:sp>
            <p:nvSpPr>
              <p:cNvPr id="12" name="Rectangle 12"/>
              <p:cNvSpPr/>
              <p:nvPr/>
            </p:nvSpPr>
            <p:spPr>
              <a:xfrm>
                <a:off x="571500" y="1428750"/>
                <a:ext cx="2286000" cy="914400"/>
              </a:xfrm>
              <a:prstGeom prst="rect">
                <a:avLst/>
              </a:prstGeom>
              <a:solidFill>
                <a:srgbClr val="FFFFFF"/>
              </a:solidFill>
              <a:ln w="19050">
                <a:solidFill>
                  <a:srgbClr val="2E86AB"/>
                </a:solidFill>
              </a:ln>
            </p:spPr>
          </p:sp>
          <p:sp>
            <p:nvSpPr>
              <p:cNvPr id="13" name="TextBox 13"/>
              <p:cNvSpPr txBox="1"/>
              <p:nvPr/>
            </p:nvSpPr>
            <p:spPr>
              <a:xfrm>
                <a:off x="1101852" y="1758315"/>
                <a:ext cx="1225296" cy="352044"/>
              </a:xfrm>
              <a:prstGeom prst="rect">
                <a:avLst/>
              </a:prstGeom>
              <a:noFill/>
              <a:ln>
                <a:noFill/>
              </a:ln>
            </p:spPr>
            <p:txBody>
              <a:bodyPr wrap="none" lIns="0" tIns="0" rIns="0" bIns="0" anchor="t" anchorCtr="0">
                <a:spAutoFit/>
              </a:bodyPr>
              <a:lstStyle/>
              <a:p>
                <a:pPr algn="ctr"/>
                <a:r>
                  <a:rPr lang="tr-TR" sz="1800" dirty="0">
                    <a:solidFill>
                      <a:srgbClr val="12355B"/>
                    </a:solidFill>
                    <a:latin typeface="+mn-lt"/>
                    <a:ea typeface="+mn-ea"/>
                    <a:cs typeface="+mn-cs"/>
                  </a:rPr>
                  <a:t>Web sitesi</a:t>
                </a:r>
              </a:p>
            </p:txBody>
          </p:sp>
        </p:grpSp>
        <p:grpSp>
          <p:nvGrpSpPr>
            <p:cNvPr id="17" name="client-mobil"/>
            <p:cNvGrpSpPr/>
            <p:nvPr/>
          </p:nvGrpSpPr>
          <p:grpSpPr>
            <a:xfrm>
              <a:off x="571500" y="2571750"/>
              <a:ext cx="2286000" cy="914400"/>
              <a:chOff x="571500" y="2571750"/>
              <a:chExt cx="2286000" cy="914400"/>
            </a:xfrm>
          </p:grpSpPr>
          <p:sp>
            <p:nvSpPr>
              <p:cNvPr id="15" name="Rectangle 15"/>
              <p:cNvSpPr/>
              <p:nvPr/>
            </p:nvSpPr>
            <p:spPr>
              <a:xfrm>
                <a:off x="571500" y="2571750"/>
                <a:ext cx="2286000" cy="914400"/>
              </a:xfrm>
              <a:prstGeom prst="rect">
                <a:avLst/>
              </a:prstGeom>
              <a:solidFill>
                <a:srgbClr val="FFFFFF"/>
              </a:solidFill>
              <a:ln w="19050">
                <a:solidFill>
                  <a:srgbClr val="2E86AB"/>
                </a:solidFill>
              </a:ln>
            </p:spPr>
          </p:sp>
          <p:sp>
            <p:nvSpPr>
              <p:cNvPr id="16" name="TextBox 16"/>
              <p:cNvSpPr txBox="1"/>
              <p:nvPr/>
            </p:nvSpPr>
            <p:spPr>
              <a:xfrm>
                <a:off x="841389" y="2901315"/>
                <a:ext cx="1746223" cy="352044"/>
              </a:xfrm>
              <a:prstGeom prst="rect">
                <a:avLst/>
              </a:prstGeom>
              <a:noFill/>
              <a:ln>
                <a:noFill/>
              </a:ln>
            </p:spPr>
            <p:txBody>
              <a:bodyPr wrap="none" lIns="0" tIns="0" rIns="0" bIns="0" anchor="t" anchorCtr="0">
                <a:spAutoFit/>
              </a:bodyPr>
              <a:lstStyle/>
              <a:p>
                <a:pPr algn="ctr"/>
                <a:r>
                  <a:rPr lang="tr-TR" sz="1800" dirty="0">
                    <a:solidFill>
                      <a:srgbClr val="12355B"/>
                    </a:solidFill>
                    <a:latin typeface="+mn-lt"/>
                    <a:ea typeface="+mn-ea"/>
                    <a:cs typeface="+mn-cs"/>
                  </a:rPr>
                  <a:t>Mobil uygulama</a:t>
                </a:r>
              </a:p>
            </p:txBody>
          </p:sp>
        </p:grpSp>
        <p:grpSp>
          <p:nvGrpSpPr>
            <p:cNvPr id="20" name="client-masaustu"/>
            <p:cNvGrpSpPr/>
            <p:nvPr/>
          </p:nvGrpSpPr>
          <p:grpSpPr>
            <a:xfrm>
              <a:off x="571500" y="3714750"/>
              <a:ext cx="2286000" cy="914400"/>
              <a:chOff x="571500" y="3714750"/>
              <a:chExt cx="2286000" cy="914400"/>
            </a:xfrm>
          </p:grpSpPr>
          <p:sp>
            <p:nvSpPr>
              <p:cNvPr id="18" name="Rectangle 18"/>
              <p:cNvSpPr/>
              <p:nvPr/>
            </p:nvSpPr>
            <p:spPr>
              <a:xfrm>
                <a:off x="571500" y="3714750"/>
                <a:ext cx="2286000" cy="914400"/>
              </a:xfrm>
              <a:prstGeom prst="rect">
                <a:avLst/>
              </a:prstGeom>
              <a:solidFill>
                <a:srgbClr val="FFFFFF"/>
              </a:solidFill>
              <a:ln w="19050">
                <a:solidFill>
                  <a:srgbClr val="2E86AB"/>
                </a:solidFill>
              </a:ln>
            </p:spPr>
          </p:sp>
          <p:sp>
            <p:nvSpPr>
              <p:cNvPr id="19" name="TextBox 19"/>
              <p:cNvSpPr txBox="1"/>
              <p:nvPr/>
            </p:nvSpPr>
            <p:spPr>
              <a:xfrm>
                <a:off x="580680" y="4044315"/>
                <a:ext cx="2267641" cy="352044"/>
              </a:xfrm>
              <a:prstGeom prst="rect">
                <a:avLst/>
              </a:prstGeom>
              <a:noFill/>
              <a:ln>
                <a:noFill/>
              </a:ln>
            </p:spPr>
            <p:txBody>
              <a:bodyPr wrap="none" lIns="0" tIns="0" rIns="0" bIns="0" anchor="t" anchorCtr="0">
                <a:spAutoFit/>
              </a:bodyPr>
              <a:lstStyle/>
              <a:p>
                <a:pPr algn="ctr"/>
                <a:r>
                  <a:rPr lang="tr-TR" sz="1800" dirty="0">
                    <a:solidFill>
                      <a:srgbClr val="12355B"/>
                    </a:solidFill>
                    <a:latin typeface="+mn-lt"/>
                    <a:ea typeface="+mn-ea"/>
                    <a:cs typeface="+mn-cs"/>
                  </a:rPr>
                  <a:t>Masaüstü uygulama</a:t>
                </a:r>
              </a:p>
            </p:txBody>
          </p:sp>
        </p:grpSp>
        <p:grpSp>
          <p:nvGrpSpPr>
            <p:cNvPr id="24" name="client-edges"/>
            <p:cNvGrpSpPr/>
            <p:nvPr/>
          </p:nvGrpSpPr>
          <p:grpSpPr>
            <a:xfrm>
              <a:off x="2914650" y="1885950"/>
              <a:ext cx="1009650" cy="2286001"/>
              <a:chOff x="2914650" y="1885950"/>
              <a:chExt cx="1009650" cy="2286001"/>
            </a:xfrm>
          </p:grpSpPr>
          <p:sp>
            <p:nvSpPr>
              <p:cNvPr id="21" name="Line 21"/>
              <p:cNvSpPr/>
              <p:nvPr/>
            </p:nvSpPr>
            <p:spPr>
              <a:xfrm>
                <a:off x="2914650" y="1885950"/>
                <a:ext cx="1009650" cy="1"/>
              </a:xfrm>
              <a:prstGeom prst="line">
                <a:avLst/>
              </a:prstGeom>
              <a:noFill/>
              <a:ln w="28575">
                <a:solidFill>
                  <a:srgbClr val="00A6A6"/>
                </a:solidFill>
                <a:tailEnd type="triangle" w="lg" len="lg"/>
              </a:ln>
            </p:spPr>
          </p:sp>
          <p:sp>
            <p:nvSpPr>
              <p:cNvPr id="22" name="Line 22"/>
              <p:cNvSpPr/>
              <p:nvPr/>
            </p:nvSpPr>
            <p:spPr>
              <a:xfrm>
                <a:off x="2914650" y="3028950"/>
                <a:ext cx="1009650" cy="1"/>
              </a:xfrm>
              <a:prstGeom prst="line">
                <a:avLst/>
              </a:prstGeom>
              <a:noFill/>
              <a:ln w="28575">
                <a:solidFill>
                  <a:srgbClr val="00A6A6"/>
                </a:solidFill>
                <a:tailEnd type="triangle" w="lg" len="lg"/>
              </a:ln>
            </p:spPr>
          </p:sp>
          <p:sp>
            <p:nvSpPr>
              <p:cNvPr id="23" name="Line 23"/>
              <p:cNvSpPr/>
              <p:nvPr/>
            </p:nvSpPr>
            <p:spPr>
              <a:xfrm>
                <a:off x="2914650" y="4171950"/>
                <a:ext cx="1009650" cy="1"/>
              </a:xfrm>
              <a:prstGeom prst="line">
                <a:avLst/>
              </a:prstGeom>
              <a:noFill/>
              <a:ln w="28575">
                <a:solidFill>
                  <a:srgbClr val="00A6A6"/>
                </a:solidFill>
                <a:tailEnd type="triangle" w="lg" len="lg"/>
              </a:ln>
            </p:spPr>
          </p:sp>
        </p:grpSp>
        <p:grpSp>
          <p:nvGrpSpPr>
            <p:cNvPr id="28" name="single-backend"/>
            <p:cNvGrpSpPr/>
            <p:nvPr/>
          </p:nvGrpSpPr>
          <p:grpSpPr>
            <a:xfrm>
              <a:off x="4000500" y="1428750"/>
              <a:ext cx="2667000" cy="3200400"/>
              <a:chOff x="4000500" y="1428750"/>
              <a:chExt cx="2667000" cy="3200400"/>
            </a:xfrm>
          </p:grpSpPr>
          <p:sp>
            <p:nvSpPr>
              <p:cNvPr id="25" name="Rectangle 25"/>
              <p:cNvSpPr/>
              <p:nvPr/>
            </p:nvSpPr>
            <p:spPr>
              <a:xfrm>
                <a:off x="4000500" y="1428750"/>
                <a:ext cx="2667000" cy="3200400"/>
              </a:xfrm>
              <a:prstGeom prst="rect">
                <a:avLst/>
              </a:prstGeom>
              <a:solidFill>
                <a:srgbClr val="12355B"/>
              </a:solidFill>
              <a:ln>
                <a:noFill/>
              </a:ln>
            </p:spPr>
          </p:sp>
          <p:sp>
            <p:nvSpPr>
              <p:cNvPr id="26" name="TextBox 26"/>
              <p:cNvSpPr txBox="1"/>
              <p:nvPr/>
            </p:nvSpPr>
            <p:spPr>
              <a:xfrm>
                <a:off x="4093135" y="2186940"/>
                <a:ext cx="2481730" cy="352044"/>
              </a:xfrm>
              <a:prstGeom prst="rect">
                <a:avLst/>
              </a:prstGeom>
              <a:noFill/>
              <a:ln>
                <a:noFill/>
              </a:ln>
            </p:spPr>
            <p:txBody>
              <a:bodyPr wrap="none" lIns="0" tIns="0" rIns="0" bIns="0" anchor="t" anchorCtr="0">
                <a:spAutoFit/>
              </a:bodyPr>
              <a:lstStyle/>
              <a:p>
                <a:pPr algn="ctr"/>
                <a:r>
                  <a:rPr lang="tr-TR" sz="1800" b="1" dirty="0">
                    <a:solidFill>
                      <a:srgbClr val="F7FAFC"/>
                    </a:solidFill>
                    <a:latin typeface="+mn-lt"/>
                    <a:ea typeface="+mn-ea"/>
                    <a:cs typeface="+mn-cs"/>
                  </a:rPr>
                  <a:t>Tek backend hizmeti</a:t>
                </a:r>
              </a:p>
            </p:txBody>
          </p:sp>
          <p:sp>
            <p:nvSpPr>
              <p:cNvPr id="27" name="TextBox 27"/>
              <p:cNvSpPr txBox="1"/>
              <p:nvPr/>
            </p:nvSpPr>
            <p:spPr>
              <a:xfrm>
                <a:off x="4633722" y="2687479"/>
                <a:ext cx="1400556" cy="1279588"/>
              </a:xfrm>
              <a:prstGeom prst="rect">
                <a:avLst/>
              </a:prstGeom>
              <a:noFill/>
              <a:ln>
                <a:noFill/>
              </a:ln>
            </p:spPr>
            <p:txBody>
              <a:bodyPr wrap="none" lIns="0" tIns="0" rIns="0" bIns="0" anchor="t" anchorCtr="0">
                <a:spAutoFit/>
              </a:bodyPr>
              <a:lstStyle/>
              <a:p>
                <a:pPr algn="ctr">
                  <a:lnSpc>
                    <a:spcPts val="2550"/>
                  </a:lnSpc>
                </a:pPr>
                <a:r>
                  <a:rPr lang="tr-TR" sz="1580" dirty="0">
                    <a:solidFill>
                      <a:srgbClr val="EAF4F6"/>
                    </a:solidFill>
                    <a:latin typeface="+mn-lt"/>
                    <a:ea typeface="+mn-ea"/>
                    <a:cs typeface="+mn-cs"/>
                  </a:rPr>
                  <a:t>iş kuralları</a:t>
                </a:r>
                <a:br/>
                <a:r>
                  <a:rPr lang="tr-TR" sz="1580" dirty="0">
                    <a:solidFill>
                      <a:srgbClr val="EAF4F6"/>
                    </a:solidFill>
                    <a:latin typeface="+mn-lt"/>
                    <a:ea typeface="+mn-ea"/>
                    <a:cs typeface="+mn-cs"/>
                  </a:rPr>
                  <a:t>doğrulama</a:t>
                </a:r>
                <a:br/>
                <a:r>
                  <a:rPr lang="tr-TR" sz="1580" dirty="0">
                    <a:solidFill>
                      <a:srgbClr val="EAF4F6"/>
                    </a:solidFill>
                    <a:latin typeface="+mn-lt"/>
                    <a:ea typeface="+mn-ea"/>
                    <a:cs typeface="+mn-cs"/>
                  </a:rPr>
                  <a:t>yetki denetimi</a:t>
                </a:r>
                <a:br/>
                <a:r>
                  <a:rPr lang="tr-TR" sz="1580" dirty="0">
                    <a:solidFill>
                      <a:srgbClr val="EAF4F6"/>
                    </a:solidFill>
                    <a:latin typeface="+mn-lt"/>
                    <a:ea typeface="+mn-ea"/>
                    <a:cs typeface="+mn-cs"/>
                  </a:rPr>
                  <a:t>veri erişimi</a:t>
                </a:r>
              </a:p>
            </p:txBody>
          </p:sp>
        </p:grpSp>
        <p:sp>
          <p:nvSpPr>
            <p:cNvPr id="29" name="TextBox 29"/>
            <p:cNvSpPr txBox="1"/>
            <p:nvPr/>
          </p:nvSpPr>
          <p:spPr>
            <a:xfrm>
              <a:off x="563499" y="4782979"/>
              <a:ext cx="4734506"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Aynı kurallar üç ayrı yerde tekrar yazılmaz.</a:t>
              </a:r>
            </a:p>
          </p:txBody>
        </p:sp>
      </p:grpSp>
      <p:grpSp>
        <p:nvGrpSpPr>
          <p:cNvPr id="36" name="reasons"/>
          <p:cNvGrpSpPr/>
          <p:nvPr/>
        </p:nvGrpSpPr>
        <p:grpSpPr>
          <a:xfrm>
            <a:off x="7229094" y="1503998"/>
            <a:ext cx="4391406" cy="4444936"/>
            <a:chOff x="7229094" y="1503998"/>
            <a:chExt cx="4391406" cy="4444936"/>
          </a:xfrm>
        </p:grpSpPr>
        <p:sp>
          <p:nvSpPr>
            <p:cNvPr id="31" name="TextBox 31"/>
            <p:cNvSpPr txBox="1"/>
            <p:nvPr/>
          </p:nvSpPr>
          <p:spPr>
            <a:xfrm>
              <a:off x="7229094" y="1503998"/>
              <a:ext cx="2481127"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Güvenlik gerekçesi</a:t>
              </a:r>
            </a:p>
          </p:txBody>
        </p:sp>
        <p:sp>
          <p:nvSpPr>
            <p:cNvPr id="32" name="TextBox 32"/>
            <p:cNvSpPr txBox="1"/>
            <p:nvPr/>
          </p:nvSpPr>
          <p:spPr>
            <a:xfrm>
              <a:off x="7229856" y="1901190"/>
              <a:ext cx="3687318" cy="1971294"/>
            </a:xfrm>
            <a:prstGeom prst="rect">
              <a:avLst/>
            </a:prstGeom>
            <a:noFill/>
            <a:ln>
              <a:noFill/>
            </a:ln>
          </p:spPr>
          <p:txBody>
            <a:bodyPr wrap="none" lIns="0" tIns="0" rIns="0" bIns="0" anchor="t" anchorCtr="0">
              <a:spAutoFit/>
            </a:bodyPr>
            <a:lstStyle/>
            <a:p>
              <a:pPr algn="l">
                <a:lnSpc>
                  <a:spcPts val="2550"/>
                </a:lnSpc>
              </a:pPr>
              <a:r>
                <a:rPr lang="tr-TR" sz="1800" dirty="0">
                  <a:solidFill>
                    <a:srgbClr val="172B3A"/>
                  </a:solidFill>
                  <a:latin typeface="+mn-lt"/>
                  <a:ea typeface="+mn-ea"/>
                  <a:cs typeface="+mn-cs"/>
                </a:rPr>
                <a:t>Bir öğrencinin notunu</a:t>
              </a:r>
              <a:br/>
              <a:r>
                <a:rPr lang="tr-TR" sz="1800" dirty="0">
                  <a:solidFill>
                    <a:srgbClr val="172B3A"/>
                  </a:solidFill>
                  <a:latin typeface="+mn-lt"/>
                  <a:ea typeface="+mn-ea"/>
                  <a:cs typeface="+mn-cs"/>
                </a:rPr>
                <a:t>değiştirme yetkisi yalnızca</a:t>
              </a:r>
              <a:br/>
              <a:r>
                <a:rPr lang="tr-TR" sz="1800" dirty="0">
                  <a:solidFill>
                    <a:srgbClr val="172B3A"/>
                  </a:solidFill>
                  <a:latin typeface="+mn-lt"/>
                  <a:ea typeface="+mn-ea"/>
                  <a:cs typeface="+mn-cs"/>
                </a:rPr>
                <a:t>tarayıcı kodunda denetlenseydi,</a:t>
              </a:r>
              <a:br/>
              <a:r>
                <a:rPr lang="tr-TR" sz="1800" dirty="0">
                  <a:solidFill>
                    <a:srgbClr val="172B3A"/>
                  </a:solidFill>
                  <a:latin typeface="+mn-lt"/>
                  <a:ea typeface="+mn-ea"/>
                  <a:cs typeface="+mn-cs"/>
                </a:rPr>
                <a:t>kötü niyetli biri bu denetimi</a:t>
              </a:r>
              <a:br/>
              <a:r>
                <a:rPr lang="tr-TR" sz="1800" dirty="0">
                  <a:solidFill>
                    <a:srgbClr val="172B3A"/>
                  </a:solidFill>
                  <a:latin typeface="+mn-lt"/>
                  <a:ea typeface="+mn-ea"/>
                  <a:cs typeface="+mn-cs"/>
                </a:rPr>
                <a:t>aşabilirdi. Güvenilir kurallar</a:t>
              </a:r>
              <a:br/>
              <a:r>
                <a:rPr lang="tr-TR" sz="1800" dirty="0">
                  <a:solidFill>
                    <a:srgbClr val="172B3A"/>
                  </a:solidFill>
                  <a:latin typeface="+mn-lt"/>
                  <a:ea typeface="+mn-ea"/>
                  <a:cs typeface="+mn-cs"/>
                </a:rPr>
                <a:t>sunucuda çalıştırılmalıdır.</a:t>
              </a:r>
            </a:p>
          </p:txBody>
        </p:sp>
        <p:sp>
          <p:nvSpPr>
            <p:cNvPr id="33" name="Line 33"/>
            <p:cNvSpPr/>
            <p:nvPr/>
          </p:nvSpPr>
          <p:spPr>
            <a:xfrm>
              <a:off x="7239000" y="4000500"/>
              <a:ext cx="4381500" cy="9525"/>
            </a:xfrm>
            <a:custGeom>
              <a:avLst/>
              <a:gdLst/>
              <a:ahLst/>
              <a:cxnLst/>
              <a:rect l="l" t="t" r="r" b="b"/>
              <a:pathLst>
                <a:path w="4381500" h="9525">
                  <a:moveTo>
                    <a:pt x="0" y="0"/>
                  </a:moveTo>
                  <a:lnTo>
                    <a:pt x="4381500" y="0"/>
                  </a:lnTo>
                </a:path>
              </a:pathLst>
            </a:custGeom>
            <a:noFill/>
            <a:ln w="9525">
              <a:solidFill>
                <a:srgbClr val="B8CBD3"/>
              </a:solidFill>
            </a:ln>
          </p:spPr>
        </p:sp>
        <p:sp>
          <p:nvSpPr>
            <p:cNvPr id="34" name="TextBox 34"/>
            <p:cNvSpPr txBox="1"/>
            <p:nvPr/>
          </p:nvSpPr>
          <p:spPr>
            <a:xfrm>
              <a:off x="7229094" y="4228148"/>
              <a:ext cx="2247042"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Tarihsel gerekçe</a:t>
              </a:r>
            </a:p>
          </p:txBody>
        </p:sp>
        <p:sp>
          <p:nvSpPr>
            <p:cNvPr id="35" name="TextBox 35"/>
            <p:cNvSpPr txBox="1"/>
            <p:nvPr/>
          </p:nvSpPr>
          <p:spPr>
            <a:xfrm>
              <a:off x="7229856" y="4625340"/>
              <a:ext cx="3424428" cy="1323594"/>
            </a:xfrm>
            <a:prstGeom prst="rect">
              <a:avLst/>
            </a:prstGeom>
            <a:noFill/>
            <a:ln>
              <a:noFill/>
            </a:ln>
          </p:spPr>
          <p:txBody>
            <a:bodyPr wrap="none" lIns="0" tIns="0" rIns="0" bIns="0" anchor="t" anchorCtr="0">
              <a:spAutoFit/>
            </a:bodyPr>
            <a:lstStyle/>
            <a:p>
              <a:pPr algn="l">
                <a:lnSpc>
                  <a:spcPts val="2550"/>
                </a:lnSpc>
              </a:pPr>
              <a:r>
                <a:rPr lang="tr-TR" sz="1800" dirty="0">
                  <a:solidFill>
                    <a:srgbClr val="172B3A"/>
                  </a:solidFill>
                  <a:latin typeface="+mn-lt"/>
                  <a:ea typeface="+mn-ea"/>
                  <a:cs typeface="+mn-cs"/>
                </a:rPr>
                <a:t>İlk web sayfaları durağan</a:t>
              </a:r>
              <a:br/>
              <a:r>
                <a:rPr lang="tr-TR" sz="1800" dirty="0">
                  <a:solidFill>
                    <a:srgbClr val="172B3A"/>
                  </a:solidFill>
                  <a:latin typeface="+mn-lt"/>
                  <a:ea typeface="+mn-ea"/>
                  <a:cs typeface="+mn-cs"/>
                </a:rPr>
                <a:t>belgelerdi; etkileşimli</a:t>
              </a:r>
              <a:br/>
              <a:r>
                <a:rPr lang="tr-TR" sz="1800" dirty="0">
                  <a:solidFill>
                    <a:srgbClr val="172B3A"/>
                  </a:solidFill>
                  <a:latin typeface="+mn-lt"/>
                  <a:ea typeface="+mn-ea"/>
                  <a:cs typeface="+mn-cs"/>
                </a:rPr>
                <a:t>uygulamalar yaygınlaştıkça bu</a:t>
              </a:r>
              <a:br/>
              <a:r>
                <a:rPr lang="tr-TR" sz="1800" dirty="0">
                  <a:solidFill>
                    <a:srgbClr val="172B3A"/>
                  </a:solidFill>
                  <a:latin typeface="+mn-lt"/>
                  <a:ea typeface="+mn-ea"/>
                  <a:cs typeface="+mn-cs"/>
                </a:rPr>
                <a:t>ayrım temel ilke hâline geldi.</a:t>
              </a:r>
            </a:p>
          </p:txBody>
        </p:sp>
      </p:grpSp>
      <p:grpSp>
        <p:nvGrpSpPr>
          <p:cNvPr id="39" name="footer"/>
          <p:cNvGrpSpPr/>
          <p:nvPr/>
        </p:nvGrpSpPr>
        <p:grpSpPr>
          <a:xfrm>
            <a:off x="565404" y="6404610"/>
            <a:ext cx="11061192" cy="234696"/>
            <a:chOff x="565404" y="6404610"/>
            <a:chExt cx="11061192" cy="234696"/>
          </a:xfrm>
        </p:grpSpPr>
        <p:sp>
          <p:nvSpPr>
            <p:cNvPr id="37" name="TextBox 37"/>
            <p:cNvSpPr txBox="1"/>
            <p:nvPr/>
          </p:nvSpPr>
          <p:spPr>
            <a:xfrm>
              <a:off x="565404" y="6404610"/>
              <a:ext cx="496284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Bölüm 1 · Modern Backend Programlamaya Giriş ve Web Mimarisi</a:t>
              </a:r>
            </a:p>
          </p:txBody>
        </p:sp>
        <p:sp>
          <p:nvSpPr>
            <p:cNvPr id="38" name="TextBox 38"/>
            <p:cNvSpPr txBox="1"/>
            <p:nvPr/>
          </p:nvSpPr>
          <p:spPr>
            <a:xfrm>
              <a:off x="11436706" y="640461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08</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2" name="title"/>
          <p:cNvGrpSpPr/>
          <p:nvPr/>
        </p:nvGrpSpPr>
        <p:grpSpPr>
          <a:xfrm>
            <a:off x="0" y="0"/>
            <a:ext cx="12192000" cy="952500"/>
            <a:chOff x="0" y="0"/>
            <a:chExt cx="12192000" cy="952500"/>
          </a:xfrm>
        </p:grpSpPr>
        <p:sp>
          <p:nvSpPr>
            <p:cNvPr id="2" name="Rectangle 2"/>
            <p:cNvSpPr/>
            <p:nvPr/>
          </p:nvSpPr>
          <p:spPr>
            <a:xfrm>
              <a:off x="0" y="0"/>
              <a:ext cx="12192000" cy="914400"/>
            </a:xfrm>
            <a:prstGeom prst="rect">
              <a:avLst/>
            </a:prstGeom>
            <a:solidFill>
              <a:srgbClr val="12355B"/>
            </a:solidFill>
            <a:ln>
              <a:noFill/>
            </a:ln>
          </p:spPr>
        </p:sp>
        <p:sp>
          <p:nvSpPr>
            <p:cNvPr id="3" name="Rectangle 3"/>
            <p:cNvSpPr/>
            <p:nvPr/>
          </p:nvSpPr>
          <p:spPr>
            <a:xfrm>
              <a:off x="0" y="914400"/>
              <a:ext cx="12192000" cy="38100"/>
            </a:xfrm>
            <a:prstGeom prst="rect">
              <a:avLst/>
            </a:prstGeom>
            <a:solidFill>
              <a:srgbClr val="00A6A6"/>
            </a:solidFill>
            <a:ln>
              <a:noFill/>
            </a:ln>
          </p:spPr>
        </p:sp>
        <p:grpSp>
          <p:nvGrpSpPr>
            <p:cNvPr id="10" name="icon-badge"/>
            <p:cNvGrpSpPr/>
            <p:nvPr/>
          </p:nvGrpSpPr>
          <p:grpSpPr>
            <a:xfrm>
              <a:off x="571500" y="171450"/>
              <a:ext cx="571500" cy="571500"/>
              <a:chOff x="571500" y="171450"/>
              <a:chExt cx="571500" cy="571500"/>
            </a:xfrm>
          </p:grpSpPr>
          <p:sp>
            <p:nvSpPr>
              <p:cNvPr id="4" name="Ellipse 4"/>
              <p:cNvSpPr/>
              <p:nvPr/>
            </p:nvSpPr>
            <p:spPr>
              <a:xfrm>
                <a:off x="571500" y="171450"/>
                <a:ext cx="571500" cy="571500"/>
              </a:xfrm>
              <a:prstGeom prst="ellipse">
                <a:avLst/>
              </a:prstGeom>
              <a:solidFill>
                <a:srgbClr val="00A6A6"/>
              </a:solidFill>
              <a:ln>
                <a:noFill/>
              </a:ln>
            </p:spPr>
          </p:sp>
          <p:grpSp>
            <p:nvGrpSpPr>
              <p:cNvPr id="9" name="Group 9"/>
              <p:cNvGrpSpPr/>
              <p:nvPr/>
            </p:nvGrpSpPr>
            <p:grpSpPr>
              <a:xfrm>
                <a:off x="724376" y="324326"/>
                <a:ext cx="265748" cy="265748"/>
                <a:chOff x="724376" y="324326"/>
                <a:chExt cx="265748" cy="265748"/>
              </a:xfrm>
            </p:grpSpPr>
            <p:sp>
              <p:nvSpPr>
                <p:cNvPr id="5" name="Freeform 5"/>
                <p:cNvSpPr/>
                <p:nvPr/>
              </p:nvSpPr>
              <p:spPr>
                <a:xfrm>
                  <a:off x="724376" y="427672"/>
                  <a:ext cx="132874" cy="73819"/>
                </a:xfrm>
                <a:custGeom>
                  <a:avLst/>
                  <a:gdLst/>
                  <a:ahLst/>
                  <a:cxnLst/>
                  <a:rect l="l" t="t" r="r" b="b"/>
                  <a:pathLst>
                    <a:path w="132874" h="73819">
                      <a:moveTo>
                        <a:pt x="132874" y="73819"/>
                      </a:moveTo>
                      <a:lnTo>
                        <a:pt x="36909" y="73819"/>
                      </a:lnTo>
                      <a:cubicBezTo>
                        <a:pt x="16525" y="73819"/>
                        <a:pt x="0" y="57294"/>
                        <a:pt x="0" y="36909"/>
                      </a:cubicBezTo>
                      <a:cubicBezTo>
                        <a:pt x="0" y="16525"/>
                        <a:pt x="16525" y="0"/>
                        <a:pt x="36909" y="0"/>
                      </a:cubicBezTo>
                      <a:lnTo>
                        <a:pt x="44291" y="0"/>
                      </a:lnTo>
                    </a:path>
                  </a:pathLst>
                </a:custGeom>
                <a:noFill/>
                <a:ln w="24759" cap="rnd">
                  <a:solidFill>
                    <a:srgbClr val="FFFFFF"/>
                  </a:solidFill>
                  <a:round/>
                </a:ln>
              </p:spPr>
            </p:sp>
            <p:sp>
              <p:nvSpPr>
                <p:cNvPr id="6" name="Freeform 6"/>
                <p:cNvSpPr/>
                <p:nvPr/>
              </p:nvSpPr>
              <p:spPr>
                <a:xfrm>
                  <a:off x="827722" y="457200"/>
                  <a:ext cx="73819" cy="132874"/>
                </a:xfrm>
                <a:custGeom>
                  <a:avLst/>
                  <a:gdLst/>
                  <a:ahLst/>
                  <a:cxnLst/>
                  <a:rect l="l" t="t" r="r" b="b"/>
                  <a:pathLst>
                    <a:path w="73819" h="132874">
                      <a:moveTo>
                        <a:pt x="73819" y="0"/>
                      </a:moveTo>
                      <a:lnTo>
                        <a:pt x="73819" y="95964"/>
                      </a:lnTo>
                      <a:cubicBezTo>
                        <a:pt x="73819" y="116349"/>
                        <a:pt x="57294" y="132874"/>
                        <a:pt x="36909" y="132874"/>
                      </a:cubicBezTo>
                      <a:cubicBezTo>
                        <a:pt x="16525" y="132874"/>
                        <a:pt x="0" y="116349"/>
                        <a:pt x="0" y="95964"/>
                      </a:cubicBezTo>
                      <a:lnTo>
                        <a:pt x="0" y="88582"/>
                      </a:lnTo>
                    </a:path>
                  </a:pathLst>
                </a:custGeom>
                <a:noFill/>
                <a:ln w="24759" cap="rnd">
                  <a:solidFill>
                    <a:srgbClr val="FFFFFF"/>
                  </a:solidFill>
                  <a:round/>
                </a:ln>
              </p:spPr>
            </p:sp>
            <p:sp>
              <p:nvSpPr>
                <p:cNvPr id="7" name="Freeform 7"/>
                <p:cNvSpPr/>
                <p:nvPr/>
              </p:nvSpPr>
              <p:spPr>
                <a:xfrm>
                  <a:off x="857250" y="412909"/>
                  <a:ext cx="132874" cy="73819"/>
                </a:xfrm>
                <a:custGeom>
                  <a:avLst/>
                  <a:gdLst/>
                  <a:ahLst/>
                  <a:cxnLst/>
                  <a:rect l="l" t="t" r="r" b="b"/>
                  <a:pathLst>
                    <a:path w="132874" h="73819">
                      <a:moveTo>
                        <a:pt x="0" y="0"/>
                      </a:moveTo>
                      <a:lnTo>
                        <a:pt x="95964" y="0"/>
                      </a:lnTo>
                      <a:cubicBezTo>
                        <a:pt x="116349" y="0"/>
                        <a:pt x="132874" y="16525"/>
                        <a:pt x="132874" y="36909"/>
                      </a:cubicBezTo>
                      <a:cubicBezTo>
                        <a:pt x="132874" y="57294"/>
                        <a:pt x="116349" y="73819"/>
                        <a:pt x="95964" y="73819"/>
                      </a:cubicBezTo>
                      <a:lnTo>
                        <a:pt x="88583" y="73819"/>
                      </a:lnTo>
                    </a:path>
                  </a:pathLst>
                </a:custGeom>
                <a:noFill/>
                <a:ln w="24759" cap="rnd">
                  <a:solidFill>
                    <a:srgbClr val="FFFFFF"/>
                  </a:solidFill>
                  <a:round/>
                </a:ln>
              </p:spPr>
            </p:sp>
            <p:sp>
              <p:nvSpPr>
                <p:cNvPr id="8" name="Freeform 8"/>
                <p:cNvSpPr/>
                <p:nvPr/>
              </p:nvSpPr>
              <p:spPr>
                <a:xfrm>
                  <a:off x="812959" y="324326"/>
                  <a:ext cx="73819" cy="132874"/>
                </a:xfrm>
                <a:custGeom>
                  <a:avLst/>
                  <a:gdLst/>
                  <a:ahLst/>
                  <a:cxnLst/>
                  <a:rect l="l" t="t" r="r" b="b"/>
                  <a:pathLst>
                    <a:path w="73819" h="132874">
                      <a:moveTo>
                        <a:pt x="0" y="132874"/>
                      </a:moveTo>
                      <a:lnTo>
                        <a:pt x="0" y="36909"/>
                      </a:lnTo>
                      <a:cubicBezTo>
                        <a:pt x="0" y="16525"/>
                        <a:pt x="16525" y="0"/>
                        <a:pt x="36909" y="0"/>
                      </a:cubicBezTo>
                      <a:cubicBezTo>
                        <a:pt x="57294" y="0"/>
                        <a:pt x="73819" y="16525"/>
                        <a:pt x="73819" y="36909"/>
                      </a:cubicBezTo>
                      <a:lnTo>
                        <a:pt x="73819" y="44291"/>
                      </a:lnTo>
                    </a:path>
                  </a:pathLst>
                </a:custGeom>
                <a:noFill/>
                <a:ln w="24759" cap="rnd">
                  <a:solidFill>
                    <a:srgbClr val="FFFFFF"/>
                  </a:solidFill>
                  <a:round/>
                </a:ln>
              </p:spPr>
            </p:sp>
          </p:grpSp>
        </p:grpSp>
        <p:sp>
          <p:nvSpPr>
            <p:cNvPr id="11" name="TextBox 11"/>
            <p:cNvSpPr txBox="1"/>
            <p:nvPr/>
          </p:nvSpPr>
          <p:spPr>
            <a:xfrm>
              <a:off x="1261872" y="282892"/>
              <a:ext cx="7996088" cy="557403"/>
            </a:xfrm>
            <a:prstGeom prst="rect">
              <a:avLst/>
            </a:prstGeom>
            <a:noFill/>
            <a:ln>
              <a:noFill/>
            </a:ln>
          </p:spPr>
          <p:txBody>
            <a:bodyPr wrap="none" lIns="0" tIns="0" rIns="0" bIns="0" anchor="t" anchorCtr="0">
              <a:spAutoFit/>
            </a:bodyPr>
            <a:lstStyle/>
            <a:p>
              <a:pPr algn="l"/>
              <a:r>
                <a:rPr lang="tr-TR" sz="2850" b="1" dirty="0">
                  <a:solidFill>
                    <a:srgbClr val="F7FAFC"/>
                  </a:solidFill>
                  <a:latin typeface="+mj-lt"/>
                  <a:ea typeface="+mj-ea"/>
                  <a:cs typeface="+mj-cs"/>
                </a:rPr>
                <a:t>Kod 1.1 · İstek ve yanıt bir sözleşmedir</a:t>
              </a:r>
            </a:p>
          </p:txBody>
        </p:sp>
      </p:grpSp>
      <p:grpSp>
        <p:nvGrpSpPr>
          <p:cNvPr id="23" name="code-panel"/>
          <p:cNvGrpSpPr/>
          <p:nvPr/>
        </p:nvGrpSpPr>
        <p:grpSpPr>
          <a:xfrm>
            <a:off x="571500" y="1295400"/>
            <a:ext cx="6667500" cy="3276600"/>
            <a:chOff x="571500" y="1295400"/>
            <a:chExt cx="6667500" cy="3276600"/>
          </a:xfrm>
        </p:grpSpPr>
        <p:sp>
          <p:nvSpPr>
            <p:cNvPr id="13" name="Rectangle 13"/>
            <p:cNvSpPr/>
            <p:nvPr/>
          </p:nvSpPr>
          <p:spPr>
            <a:xfrm>
              <a:off x="571500" y="1295400"/>
              <a:ext cx="6667500" cy="3276600"/>
            </a:xfrm>
            <a:prstGeom prst="rect">
              <a:avLst/>
            </a:prstGeom>
            <a:solidFill>
              <a:srgbClr val="12355B"/>
            </a:solidFill>
            <a:ln>
              <a:noFill/>
            </a:ln>
          </p:spPr>
        </p:sp>
        <p:sp>
          <p:nvSpPr>
            <p:cNvPr id="14" name="TextBox 14"/>
            <p:cNvSpPr txBox="1"/>
            <p:nvPr/>
          </p:nvSpPr>
          <p:spPr>
            <a:xfrm>
              <a:off x="792099" y="1544479"/>
              <a:ext cx="4830478" cy="308039"/>
            </a:xfrm>
            <a:prstGeom prst="rect">
              <a:avLst/>
            </a:prstGeom>
            <a:noFill/>
            <a:ln>
              <a:noFill/>
            </a:ln>
          </p:spPr>
          <p:txBody>
            <a:bodyPr wrap="none" lIns="0" tIns="0" rIns="0" bIns="0" anchor="t" anchorCtr="0">
              <a:spAutoFit/>
            </a:bodyPr>
            <a:lstStyle/>
            <a:p>
              <a:pPr algn="l"/>
              <a:r>
                <a:rPr lang="tr-TR" sz="1580" dirty="0">
                  <a:solidFill>
                    <a:srgbClr val="EAF4F6"/>
                  </a:solidFill>
                  <a:latin typeface="Consolas"/>
                  <a:ea typeface="Consolas"/>
                  <a:cs typeface="Consolas"/>
                </a:rPr>
                <a:t>type Istek = { ogrenciNumarasi: string };</a:t>
              </a:r>
            </a:p>
          </p:txBody>
        </p:sp>
        <p:sp>
          <p:nvSpPr>
            <p:cNvPr id="15" name="TextBox 15"/>
            <p:cNvSpPr txBox="1"/>
            <p:nvPr/>
          </p:nvSpPr>
          <p:spPr>
            <a:xfrm>
              <a:off x="792099" y="2115979"/>
              <a:ext cx="2721882" cy="308039"/>
            </a:xfrm>
            <a:prstGeom prst="rect">
              <a:avLst/>
            </a:prstGeom>
            <a:noFill/>
            <a:ln>
              <a:noFill/>
            </a:ln>
          </p:spPr>
          <p:txBody>
            <a:bodyPr wrap="none" lIns="0" tIns="0" rIns="0" bIns="0" anchor="t" anchorCtr="0">
              <a:spAutoFit/>
            </a:bodyPr>
            <a:lstStyle/>
            <a:p>
              <a:pPr algn="l"/>
              <a:r>
                <a:rPr lang="tr-TR" sz="1580" dirty="0">
                  <a:solidFill>
                    <a:srgbClr val="EAF4F6"/>
                  </a:solidFill>
                  <a:latin typeface="Consolas"/>
                  <a:ea typeface="Consolas"/>
                  <a:cs typeface="Consolas"/>
                </a:rPr>
                <a:t>class OgrenciSunucusu {</a:t>
              </a:r>
            </a:p>
          </p:txBody>
        </p:sp>
        <p:sp>
          <p:nvSpPr>
            <p:cNvPr id="16" name="TextBox 16"/>
            <p:cNvSpPr txBox="1"/>
            <p:nvPr/>
          </p:nvSpPr>
          <p:spPr>
            <a:xfrm>
              <a:off x="1030224" y="2401729"/>
              <a:ext cx="3902722" cy="308039"/>
            </a:xfrm>
            <a:prstGeom prst="rect">
              <a:avLst/>
            </a:prstGeom>
            <a:noFill/>
            <a:ln>
              <a:noFill/>
            </a:ln>
          </p:spPr>
          <p:txBody>
            <a:bodyPr wrap="none" lIns="0" tIns="0" rIns="0" bIns="0" anchor="t" anchorCtr="0">
              <a:spAutoFit/>
            </a:bodyPr>
            <a:lstStyle/>
            <a:p>
              <a:pPr algn="l"/>
              <a:r>
                <a:rPr lang="tr-TR" sz="1580" dirty="0">
                  <a:solidFill>
                    <a:srgbClr val="EAF4F6"/>
                  </a:solidFill>
                  <a:latin typeface="Consolas"/>
                  <a:ea typeface="Consolas"/>
                  <a:cs typeface="Consolas"/>
                </a:rPr>
                <a:t>bilgiGetir(istek: Istek): Yanit {</a:t>
              </a:r>
            </a:p>
          </p:txBody>
        </p:sp>
        <p:sp>
          <p:nvSpPr>
            <p:cNvPr id="17" name="TextBox 17"/>
            <p:cNvSpPr txBox="1"/>
            <p:nvPr/>
          </p:nvSpPr>
          <p:spPr>
            <a:xfrm>
              <a:off x="1268349" y="2687479"/>
              <a:ext cx="4942004" cy="308039"/>
            </a:xfrm>
            <a:prstGeom prst="rect">
              <a:avLst/>
            </a:prstGeom>
            <a:noFill/>
            <a:ln>
              <a:noFill/>
            </a:ln>
          </p:spPr>
          <p:txBody>
            <a:bodyPr wrap="none" lIns="0" tIns="0" rIns="0" bIns="0" anchor="t" anchorCtr="0">
              <a:spAutoFit/>
            </a:bodyPr>
            <a:lstStyle/>
            <a:p>
              <a:pPr algn="l"/>
              <a:r>
                <a:rPr lang="tr-TR" sz="1580" dirty="0">
                  <a:solidFill>
                    <a:srgbClr val="EAF4F6"/>
                  </a:solidFill>
                  <a:latin typeface="Consolas"/>
                  <a:ea typeface="Consolas"/>
                  <a:cs typeface="Consolas"/>
                </a:rPr>
                <a:t>if (istek.ogrenciNumarasi === "2026001") {</a:t>
              </a:r>
            </a:p>
          </p:txBody>
        </p:sp>
        <p:sp>
          <p:nvSpPr>
            <p:cNvPr id="18" name="TextBox 18"/>
            <p:cNvSpPr txBox="1"/>
            <p:nvPr/>
          </p:nvSpPr>
          <p:spPr>
            <a:xfrm>
              <a:off x="1506474" y="2973229"/>
              <a:ext cx="4695393" cy="308039"/>
            </a:xfrm>
            <a:prstGeom prst="rect">
              <a:avLst/>
            </a:prstGeom>
            <a:noFill/>
            <a:ln>
              <a:noFill/>
            </a:ln>
          </p:spPr>
          <p:txBody>
            <a:bodyPr wrap="none" lIns="0" tIns="0" rIns="0" bIns="0" anchor="t" anchorCtr="0">
              <a:spAutoFit/>
            </a:bodyPr>
            <a:lstStyle/>
            <a:p>
              <a:pPr algn="l"/>
              <a:r>
                <a:rPr lang="tr-TR" sz="1580" dirty="0">
                  <a:solidFill>
                    <a:srgbClr val="EAF4F6"/>
                  </a:solidFill>
                  <a:latin typeface="Consolas"/>
                  <a:ea typeface="Consolas"/>
                  <a:cs typeface="Consolas"/>
                </a:rPr>
                <a:t>return { basarili: true, mesaj: "..." };</a:t>
              </a:r>
            </a:p>
          </p:txBody>
        </p:sp>
        <p:sp>
          <p:nvSpPr>
            <p:cNvPr id="19" name="TextBox 19"/>
            <p:cNvSpPr txBox="1"/>
            <p:nvPr/>
          </p:nvSpPr>
          <p:spPr>
            <a:xfrm>
              <a:off x="1268349" y="3258979"/>
              <a:ext cx="132987" cy="308039"/>
            </a:xfrm>
            <a:prstGeom prst="rect">
              <a:avLst/>
            </a:prstGeom>
            <a:noFill/>
            <a:ln>
              <a:noFill/>
            </a:ln>
          </p:spPr>
          <p:txBody>
            <a:bodyPr wrap="none" lIns="0" tIns="0" rIns="0" bIns="0" anchor="t" anchorCtr="0">
              <a:spAutoFit/>
            </a:bodyPr>
            <a:lstStyle/>
            <a:p>
              <a:pPr algn="l"/>
              <a:r>
                <a:rPr lang="tr-TR" sz="1580" dirty="0">
                  <a:solidFill>
                    <a:srgbClr val="EAF4F6"/>
                  </a:solidFill>
                  <a:latin typeface="Consolas"/>
                  <a:ea typeface="Consolas"/>
                  <a:cs typeface="Consolas"/>
                </a:rPr>
                <a:t>}</a:t>
              </a:r>
            </a:p>
          </p:txBody>
        </p:sp>
        <p:sp>
          <p:nvSpPr>
            <p:cNvPr id="20" name="TextBox 20"/>
            <p:cNvSpPr txBox="1"/>
            <p:nvPr/>
          </p:nvSpPr>
          <p:spPr>
            <a:xfrm>
              <a:off x="1268349" y="3544729"/>
              <a:ext cx="4812378" cy="308039"/>
            </a:xfrm>
            <a:prstGeom prst="rect">
              <a:avLst/>
            </a:prstGeom>
            <a:noFill/>
            <a:ln>
              <a:noFill/>
            </a:ln>
          </p:spPr>
          <p:txBody>
            <a:bodyPr wrap="none" lIns="0" tIns="0" rIns="0" bIns="0" anchor="t" anchorCtr="0">
              <a:spAutoFit/>
            </a:bodyPr>
            <a:lstStyle/>
            <a:p>
              <a:pPr algn="l"/>
              <a:r>
                <a:rPr lang="tr-TR" sz="1580" dirty="0">
                  <a:solidFill>
                    <a:srgbClr val="EAF4F6"/>
                  </a:solidFill>
                  <a:latin typeface="Consolas"/>
                  <a:ea typeface="Consolas"/>
                  <a:cs typeface="Consolas"/>
                </a:rPr>
                <a:t>return { basarili: false, mesaj: "..." };</a:t>
              </a:r>
            </a:p>
          </p:txBody>
        </p:sp>
        <p:sp>
          <p:nvSpPr>
            <p:cNvPr id="21" name="TextBox 21"/>
            <p:cNvSpPr txBox="1"/>
            <p:nvPr/>
          </p:nvSpPr>
          <p:spPr>
            <a:xfrm>
              <a:off x="1030224" y="3830479"/>
              <a:ext cx="132987" cy="308039"/>
            </a:xfrm>
            <a:prstGeom prst="rect">
              <a:avLst/>
            </a:prstGeom>
            <a:noFill/>
            <a:ln>
              <a:noFill/>
            </a:ln>
          </p:spPr>
          <p:txBody>
            <a:bodyPr wrap="none" lIns="0" tIns="0" rIns="0" bIns="0" anchor="t" anchorCtr="0">
              <a:spAutoFit/>
            </a:bodyPr>
            <a:lstStyle/>
            <a:p>
              <a:pPr algn="l"/>
              <a:r>
                <a:rPr lang="tr-TR" sz="1580" dirty="0">
                  <a:solidFill>
                    <a:srgbClr val="EAF4F6"/>
                  </a:solidFill>
                  <a:latin typeface="Consolas"/>
                  <a:ea typeface="Consolas"/>
                  <a:cs typeface="Consolas"/>
                </a:rPr>
                <a:t>}</a:t>
              </a:r>
            </a:p>
          </p:txBody>
        </p:sp>
        <p:sp>
          <p:nvSpPr>
            <p:cNvPr id="22" name="TextBox 22"/>
            <p:cNvSpPr txBox="1"/>
            <p:nvPr/>
          </p:nvSpPr>
          <p:spPr>
            <a:xfrm>
              <a:off x="792099" y="4116229"/>
              <a:ext cx="132987" cy="308039"/>
            </a:xfrm>
            <a:prstGeom prst="rect">
              <a:avLst/>
            </a:prstGeom>
            <a:noFill/>
            <a:ln>
              <a:noFill/>
            </a:ln>
          </p:spPr>
          <p:txBody>
            <a:bodyPr wrap="none" lIns="0" tIns="0" rIns="0" bIns="0" anchor="t" anchorCtr="0">
              <a:spAutoFit/>
            </a:bodyPr>
            <a:lstStyle/>
            <a:p>
              <a:pPr algn="l"/>
              <a:r>
                <a:rPr lang="tr-TR" sz="1580" dirty="0">
                  <a:solidFill>
                    <a:srgbClr val="EAF4F6"/>
                  </a:solidFill>
                  <a:latin typeface="Consolas"/>
                  <a:ea typeface="Consolas"/>
                  <a:cs typeface="Consolas"/>
                </a:rPr>
                <a:t>}</a:t>
              </a:r>
            </a:p>
          </p:txBody>
        </p:sp>
      </p:grpSp>
      <p:grpSp>
        <p:nvGrpSpPr>
          <p:cNvPr id="31" name="code-explanation"/>
          <p:cNvGrpSpPr/>
          <p:nvPr/>
        </p:nvGrpSpPr>
        <p:grpSpPr>
          <a:xfrm>
            <a:off x="7610094" y="1465898"/>
            <a:ext cx="4010406" cy="3625119"/>
            <a:chOff x="7610094" y="1465898"/>
            <a:chExt cx="4010406" cy="3625119"/>
          </a:xfrm>
        </p:grpSpPr>
        <p:sp>
          <p:nvSpPr>
            <p:cNvPr id="24" name="TextBox 24"/>
            <p:cNvSpPr txBox="1"/>
            <p:nvPr/>
          </p:nvSpPr>
          <p:spPr>
            <a:xfrm>
              <a:off x="7610094" y="1465898"/>
              <a:ext cx="1682980"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Kodun amacı</a:t>
              </a:r>
            </a:p>
          </p:txBody>
        </p:sp>
        <p:sp>
          <p:nvSpPr>
            <p:cNvPr id="25" name="TextBox 25"/>
            <p:cNvSpPr txBox="1"/>
            <p:nvPr/>
          </p:nvSpPr>
          <p:spPr>
            <a:xfrm>
              <a:off x="7610856" y="1863090"/>
              <a:ext cx="3184398" cy="999744"/>
            </a:xfrm>
            <a:prstGeom prst="rect">
              <a:avLst/>
            </a:prstGeom>
            <a:noFill/>
            <a:ln>
              <a:noFill/>
            </a:ln>
          </p:spPr>
          <p:txBody>
            <a:bodyPr wrap="none" lIns="0" tIns="0" rIns="0" bIns="0" anchor="t" anchorCtr="0">
              <a:spAutoFit/>
            </a:bodyPr>
            <a:lstStyle/>
            <a:p>
              <a:pPr algn="l">
                <a:lnSpc>
                  <a:spcPts val="2550"/>
                </a:lnSpc>
              </a:pPr>
              <a:r>
                <a:rPr lang="tr-TR" sz="1800" dirty="0">
                  <a:solidFill>
                    <a:srgbClr val="172B3A"/>
                  </a:solidFill>
                  <a:latin typeface="+mn-lt"/>
                  <a:ea typeface="+mn-ea"/>
                  <a:cs typeface="+mn-cs"/>
                </a:rPr>
                <a:t>İstemci ile sunucu</a:t>
              </a:r>
              <a:br/>
              <a:r>
                <a:rPr lang="tr-TR" sz="1800" dirty="0">
                  <a:solidFill>
                    <a:srgbClr val="172B3A"/>
                  </a:solidFill>
                  <a:latin typeface="+mn-lt"/>
                  <a:ea typeface="+mn-ea"/>
                  <a:cs typeface="+mn-cs"/>
                </a:rPr>
                <a:t>arasındaki veri sözleşmesini</a:t>
              </a:r>
              <a:br/>
              <a:r>
                <a:rPr lang="tr-TR" sz="1800" dirty="0">
                  <a:solidFill>
                    <a:srgbClr val="172B3A"/>
                  </a:solidFill>
                  <a:latin typeface="+mn-lt"/>
                  <a:ea typeface="+mn-ea"/>
                  <a:cs typeface="+mn-cs"/>
                </a:rPr>
                <a:t>türlerle görünür kılmak.</a:t>
              </a:r>
            </a:p>
          </p:txBody>
        </p:sp>
        <p:sp>
          <p:nvSpPr>
            <p:cNvPr id="26" name="Line 26"/>
            <p:cNvSpPr/>
            <p:nvPr/>
          </p:nvSpPr>
          <p:spPr>
            <a:xfrm>
              <a:off x="7620000" y="3009900"/>
              <a:ext cx="4000500" cy="9525"/>
            </a:xfrm>
            <a:custGeom>
              <a:avLst/>
              <a:gdLst/>
              <a:ahLst/>
              <a:cxnLst/>
              <a:rect l="l" t="t" r="r" b="b"/>
              <a:pathLst>
                <a:path w="4000500" h="9525">
                  <a:moveTo>
                    <a:pt x="0" y="0"/>
                  </a:moveTo>
                  <a:lnTo>
                    <a:pt x="4000500" y="0"/>
                  </a:lnTo>
                </a:path>
              </a:pathLst>
            </a:custGeom>
            <a:noFill/>
            <a:ln w="9525">
              <a:solidFill>
                <a:srgbClr val="B8CBD3"/>
              </a:solidFill>
            </a:ln>
          </p:spPr>
        </p:sp>
        <p:sp>
          <p:nvSpPr>
            <p:cNvPr id="27" name="TextBox 27"/>
            <p:cNvSpPr txBox="1"/>
            <p:nvPr/>
          </p:nvSpPr>
          <p:spPr>
            <a:xfrm>
              <a:off x="7610094" y="3180398"/>
              <a:ext cx="2026241"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Kritik satırlar</a:t>
              </a:r>
            </a:p>
          </p:txBody>
        </p:sp>
        <p:sp>
          <p:nvSpPr>
            <p:cNvPr id="28" name="TextBox 28"/>
            <p:cNvSpPr txBox="1"/>
            <p:nvPr/>
          </p:nvSpPr>
          <p:spPr>
            <a:xfrm>
              <a:off x="7611999" y="3601879"/>
              <a:ext cx="3390243"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Istek/Yanit türleri sözleşmedir.</a:t>
              </a:r>
            </a:p>
          </p:txBody>
        </p:sp>
        <p:sp>
          <p:nvSpPr>
            <p:cNvPr id="29" name="TextBox 29"/>
            <p:cNvSpPr txBox="1"/>
            <p:nvPr/>
          </p:nvSpPr>
          <p:spPr>
            <a:xfrm>
              <a:off x="7611999" y="3925729"/>
              <a:ext cx="3146298"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52616B"/>
                  </a:solidFill>
                  <a:latin typeface="+mn-lt"/>
                  <a:ea typeface="+mn-ea"/>
                  <a:cs typeface="+mn-cs"/>
                </a:rPr>
                <a:t>bilgiGetir başarılı ve başarısız</a:t>
              </a:r>
              <a:br/>
              <a:r>
                <a:rPr lang="tr-TR" sz="1580" dirty="0">
                  <a:solidFill>
                    <a:srgbClr val="52616B"/>
                  </a:solidFill>
                  <a:latin typeface="+mn-lt"/>
                  <a:ea typeface="+mn-ea"/>
                  <a:cs typeface="+mn-cs"/>
                </a:rPr>
                <a:t>durumu ayrı ayrı üretir.</a:t>
              </a:r>
            </a:p>
          </p:txBody>
        </p:sp>
        <p:sp>
          <p:nvSpPr>
            <p:cNvPr id="30" name="TextBox 30"/>
            <p:cNvSpPr txBox="1"/>
            <p:nvPr/>
          </p:nvSpPr>
          <p:spPr>
            <a:xfrm>
              <a:off x="7611999" y="4516279"/>
              <a:ext cx="3246628"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52616B"/>
                  </a:solidFill>
                  <a:latin typeface="+mn-lt"/>
                  <a:ea typeface="+mn-ea"/>
                  <a:cs typeface="+mn-cs"/>
                </a:rPr>
                <a:t>İstemci yalnızca basarili alanına</a:t>
              </a:r>
              <a:br/>
              <a:r>
                <a:rPr lang="tr-TR" sz="1580" dirty="0">
                  <a:solidFill>
                    <a:srgbClr val="52616B"/>
                  </a:solidFill>
                  <a:latin typeface="+mn-lt"/>
                  <a:ea typeface="+mn-ea"/>
                  <a:cs typeface="+mn-cs"/>
                </a:rPr>
                <a:t>bakar.</a:t>
              </a:r>
            </a:p>
          </p:txBody>
        </p:sp>
      </p:grpSp>
      <p:grpSp>
        <p:nvGrpSpPr>
          <p:cNvPr id="35" name="code-output"/>
          <p:cNvGrpSpPr/>
          <p:nvPr/>
        </p:nvGrpSpPr>
        <p:grpSpPr>
          <a:xfrm>
            <a:off x="571500" y="5295900"/>
            <a:ext cx="6667500" cy="938117"/>
            <a:chOff x="571500" y="5295900"/>
            <a:chExt cx="6667500" cy="938117"/>
          </a:xfrm>
        </p:grpSpPr>
        <p:sp>
          <p:nvSpPr>
            <p:cNvPr id="32" name="Rectangle 32"/>
            <p:cNvSpPr/>
            <p:nvPr/>
          </p:nvSpPr>
          <p:spPr>
            <a:xfrm>
              <a:off x="571500" y="5295900"/>
              <a:ext cx="6667500" cy="933450"/>
            </a:xfrm>
            <a:prstGeom prst="rect">
              <a:avLst/>
            </a:prstGeom>
            <a:solidFill>
              <a:srgbClr val="EAF4F6"/>
            </a:solidFill>
            <a:ln>
              <a:noFill/>
            </a:ln>
          </p:spPr>
        </p:sp>
        <p:sp>
          <p:nvSpPr>
            <p:cNvPr id="33" name="TextBox 33"/>
            <p:cNvSpPr txBox="1"/>
            <p:nvPr/>
          </p:nvSpPr>
          <p:spPr>
            <a:xfrm>
              <a:off x="794004" y="5414010"/>
              <a:ext cx="396240"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mn-lt"/>
                  <a:ea typeface="+mn-ea"/>
                  <a:cs typeface="+mn-cs"/>
                </a:rPr>
                <a:t>ÇIKTI</a:t>
              </a:r>
            </a:p>
          </p:txBody>
        </p:sp>
        <p:sp>
          <p:nvSpPr>
            <p:cNvPr id="34" name="TextBox 34"/>
            <p:cNvSpPr txBox="1"/>
            <p:nvPr/>
          </p:nvSpPr>
          <p:spPr>
            <a:xfrm>
              <a:off x="792099" y="5659279"/>
              <a:ext cx="4209796"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Consolas"/>
                  <a:ea typeface="Consolas"/>
                  <a:cs typeface="Consolas"/>
                </a:rPr>
                <a:t>Başarılı yanıt: Zeliha Yılmaz bulundu.</a:t>
              </a:r>
              <a:br/>
              <a:r>
                <a:rPr lang="tr-TR" sz="1580" dirty="0">
                  <a:solidFill>
                    <a:srgbClr val="172B3A"/>
                  </a:solidFill>
                  <a:latin typeface="Consolas"/>
                  <a:ea typeface="Consolas"/>
                  <a:cs typeface="Consolas"/>
                </a:rPr>
                <a:t>Hata yanıtı: Öğrenci kaydı bulunamadı.</a:t>
              </a:r>
            </a:p>
          </p:txBody>
        </p:sp>
      </p:grpSp>
      <p:grpSp>
        <p:nvGrpSpPr>
          <p:cNvPr id="38" name="code-caution"/>
          <p:cNvGrpSpPr/>
          <p:nvPr/>
        </p:nvGrpSpPr>
        <p:grpSpPr>
          <a:xfrm>
            <a:off x="7620000" y="5295900"/>
            <a:ext cx="3497326" cy="957167"/>
            <a:chOff x="7620000" y="5295900"/>
            <a:chExt cx="3497326" cy="957167"/>
          </a:xfrm>
        </p:grpSpPr>
        <p:sp>
          <p:nvSpPr>
            <p:cNvPr id="36" name="Rectangle 36"/>
            <p:cNvSpPr/>
            <p:nvPr/>
          </p:nvSpPr>
          <p:spPr>
            <a:xfrm>
              <a:off x="7620000" y="5295900"/>
              <a:ext cx="57150" cy="933450"/>
            </a:xfrm>
            <a:prstGeom prst="rect">
              <a:avLst/>
            </a:prstGeom>
            <a:solidFill>
              <a:srgbClr val="00A6A6"/>
            </a:solidFill>
            <a:ln>
              <a:noFill/>
            </a:ln>
          </p:spPr>
        </p:sp>
        <p:sp>
          <p:nvSpPr>
            <p:cNvPr id="37" name="TextBox 37"/>
            <p:cNvSpPr txBox="1"/>
            <p:nvPr/>
          </p:nvSpPr>
          <p:spPr>
            <a:xfrm>
              <a:off x="7840599" y="5411629"/>
              <a:ext cx="3276727" cy="8414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Gerçek sistemde bu iletişim ağ</a:t>
              </a:r>
              <a:br/>
              <a:r>
                <a:rPr lang="tr-TR" sz="1580" dirty="0">
                  <a:solidFill>
                    <a:srgbClr val="172B3A"/>
                  </a:solidFill>
                  <a:latin typeface="+mn-lt"/>
                  <a:ea typeface="+mn-ea"/>
                  <a:cs typeface="+mn-cs"/>
                </a:rPr>
                <a:t>üzerinden (HTTP) gerçekleşir.</a:t>
              </a:r>
              <a:br/>
              <a:r>
                <a:rPr lang="tr-TR" sz="1580" dirty="0">
                  <a:solidFill>
                    <a:srgbClr val="172B3A"/>
                  </a:solidFill>
                  <a:latin typeface="+mn-lt"/>
                  <a:ea typeface="+mn-ea"/>
                  <a:cs typeface="+mn-cs"/>
                </a:rPr>
                <a:t>Sınıf çağrısı mantığı gösterir.</a:t>
              </a:r>
            </a:p>
          </p:txBody>
        </p:sp>
      </p:grpSp>
      <p:grpSp>
        <p:nvGrpSpPr>
          <p:cNvPr id="41" name="footer"/>
          <p:cNvGrpSpPr/>
          <p:nvPr/>
        </p:nvGrpSpPr>
        <p:grpSpPr>
          <a:xfrm>
            <a:off x="565404" y="6404610"/>
            <a:ext cx="11061192" cy="234696"/>
            <a:chOff x="565404" y="6404610"/>
            <a:chExt cx="11061192" cy="234696"/>
          </a:xfrm>
        </p:grpSpPr>
        <p:sp>
          <p:nvSpPr>
            <p:cNvPr id="39" name="TextBox 39"/>
            <p:cNvSpPr txBox="1"/>
            <p:nvPr/>
          </p:nvSpPr>
          <p:spPr>
            <a:xfrm>
              <a:off x="565404" y="6404610"/>
              <a:ext cx="496284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Bölüm 1 · Modern Backend Programlamaya Giriş ve Web Mimarisi</a:t>
              </a:r>
            </a:p>
          </p:txBody>
        </p:sp>
        <p:sp>
          <p:nvSpPr>
            <p:cNvPr id="40" name="TextBox 40"/>
            <p:cNvSpPr txBox="1"/>
            <p:nvPr/>
          </p:nvSpPr>
          <p:spPr>
            <a:xfrm>
              <a:off x="11436706" y="640461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09</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0" name="title"/>
          <p:cNvGrpSpPr/>
          <p:nvPr/>
        </p:nvGrpSpPr>
        <p:grpSpPr>
          <a:xfrm>
            <a:off x="0" y="0"/>
            <a:ext cx="12192000" cy="952500"/>
            <a:chOff x="0" y="0"/>
            <a:chExt cx="12192000" cy="952500"/>
          </a:xfrm>
        </p:grpSpPr>
        <p:sp>
          <p:nvSpPr>
            <p:cNvPr id="2" name="Rectangle 2"/>
            <p:cNvSpPr/>
            <p:nvPr/>
          </p:nvSpPr>
          <p:spPr>
            <a:xfrm>
              <a:off x="0" y="0"/>
              <a:ext cx="12192000" cy="914400"/>
            </a:xfrm>
            <a:prstGeom prst="rect">
              <a:avLst/>
            </a:prstGeom>
            <a:solidFill>
              <a:srgbClr val="12355B"/>
            </a:solidFill>
            <a:ln>
              <a:noFill/>
            </a:ln>
          </p:spPr>
        </p:sp>
        <p:sp>
          <p:nvSpPr>
            <p:cNvPr id="3" name="Rectangle 3"/>
            <p:cNvSpPr/>
            <p:nvPr/>
          </p:nvSpPr>
          <p:spPr>
            <a:xfrm>
              <a:off x="0" y="914400"/>
              <a:ext cx="12192000" cy="38100"/>
            </a:xfrm>
            <a:prstGeom prst="rect">
              <a:avLst/>
            </a:prstGeom>
            <a:solidFill>
              <a:srgbClr val="00A6A6"/>
            </a:solidFill>
            <a:ln>
              <a:noFill/>
            </a:ln>
          </p:spPr>
        </p:sp>
        <p:grpSp>
          <p:nvGrpSpPr>
            <p:cNvPr id="8" name="icon-badge"/>
            <p:cNvGrpSpPr/>
            <p:nvPr/>
          </p:nvGrpSpPr>
          <p:grpSpPr>
            <a:xfrm>
              <a:off x="571500" y="171450"/>
              <a:ext cx="571500" cy="571500"/>
              <a:chOff x="571500" y="171450"/>
              <a:chExt cx="571500" cy="571500"/>
            </a:xfrm>
          </p:grpSpPr>
          <p:sp>
            <p:nvSpPr>
              <p:cNvPr id="4" name="Ellipse 4"/>
              <p:cNvSpPr/>
              <p:nvPr/>
            </p:nvSpPr>
            <p:spPr>
              <a:xfrm>
                <a:off x="571500" y="171450"/>
                <a:ext cx="571500" cy="571500"/>
              </a:xfrm>
              <a:prstGeom prst="ellipse">
                <a:avLst/>
              </a:prstGeom>
              <a:solidFill>
                <a:srgbClr val="00A6A6"/>
              </a:solidFill>
              <a:ln>
                <a:noFill/>
              </a:ln>
            </p:spPr>
          </p:sp>
          <p:grpSp>
            <p:nvGrpSpPr>
              <p:cNvPr id="7" name="Group 7"/>
              <p:cNvGrpSpPr/>
              <p:nvPr/>
            </p:nvGrpSpPr>
            <p:grpSpPr>
              <a:xfrm>
                <a:off x="724376" y="324326"/>
                <a:ext cx="265748" cy="265748"/>
                <a:chOff x="724376" y="324326"/>
                <a:chExt cx="265748" cy="265748"/>
              </a:xfrm>
            </p:grpSpPr>
            <p:sp>
              <p:nvSpPr>
                <p:cNvPr id="5" name="Freeform 5"/>
                <p:cNvSpPr/>
                <p:nvPr/>
              </p:nvSpPr>
              <p:spPr>
                <a:xfrm>
                  <a:off x="724376" y="324326"/>
                  <a:ext cx="265748" cy="265748"/>
                </a:xfrm>
                <a:custGeom>
                  <a:avLst/>
                  <a:gdLst/>
                  <a:ahLst/>
                  <a:cxnLst/>
                  <a:rect l="l" t="t" r="r" b="b"/>
                  <a:pathLst>
                    <a:path w="265748" h="265748">
                      <a:moveTo>
                        <a:pt x="0" y="132874"/>
                      </a:moveTo>
                      <a:cubicBezTo>
                        <a:pt x="0" y="206258"/>
                        <a:pt x="59490" y="265748"/>
                        <a:pt x="132874" y="265748"/>
                      </a:cubicBezTo>
                      <a:cubicBezTo>
                        <a:pt x="206258" y="265748"/>
                        <a:pt x="265748" y="206258"/>
                        <a:pt x="265748" y="132874"/>
                      </a:cubicBezTo>
                      <a:cubicBezTo>
                        <a:pt x="265748" y="59490"/>
                        <a:pt x="206258" y="0"/>
                        <a:pt x="132874" y="0"/>
                      </a:cubicBezTo>
                      <a:cubicBezTo>
                        <a:pt x="59490" y="0"/>
                        <a:pt x="0" y="59490"/>
                        <a:pt x="0" y="132874"/>
                      </a:cubicBezTo>
                    </a:path>
                  </a:pathLst>
                </a:custGeom>
                <a:noFill/>
                <a:ln w="24759" cap="rnd">
                  <a:solidFill>
                    <a:srgbClr val="FFFFFF"/>
                  </a:solidFill>
                  <a:round/>
                </a:ln>
              </p:spPr>
            </p:sp>
            <p:sp>
              <p:nvSpPr>
                <p:cNvPr id="6" name="Freeform 6"/>
                <p:cNvSpPr/>
                <p:nvPr/>
              </p:nvSpPr>
              <p:spPr>
                <a:xfrm>
                  <a:off x="857250" y="383381"/>
                  <a:ext cx="44291" cy="118110"/>
                </a:xfrm>
                <a:custGeom>
                  <a:avLst/>
                  <a:gdLst/>
                  <a:ahLst/>
                  <a:cxnLst/>
                  <a:rect l="l" t="t" r="r" b="b"/>
                  <a:pathLst>
                    <a:path w="44291" h="118110">
                      <a:moveTo>
                        <a:pt x="0" y="0"/>
                      </a:moveTo>
                      <a:lnTo>
                        <a:pt x="0" y="73819"/>
                      </a:lnTo>
                      <a:lnTo>
                        <a:pt x="44291" y="118110"/>
                      </a:lnTo>
                    </a:path>
                  </a:pathLst>
                </a:custGeom>
                <a:noFill/>
                <a:ln w="24759" cap="rnd">
                  <a:solidFill>
                    <a:srgbClr val="FFFFFF"/>
                  </a:solidFill>
                  <a:round/>
                </a:ln>
              </p:spPr>
            </p:sp>
          </p:grpSp>
        </p:grpSp>
        <p:sp>
          <p:nvSpPr>
            <p:cNvPr id="9" name="TextBox 9"/>
            <p:cNvSpPr txBox="1"/>
            <p:nvPr/>
          </p:nvSpPr>
          <p:spPr>
            <a:xfrm>
              <a:off x="1261872" y="282892"/>
              <a:ext cx="10548485" cy="557403"/>
            </a:xfrm>
            <a:prstGeom prst="rect">
              <a:avLst/>
            </a:prstGeom>
            <a:noFill/>
            <a:ln>
              <a:noFill/>
            </a:ln>
          </p:spPr>
          <p:txBody>
            <a:bodyPr wrap="none" lIns="0" tIns="0" rIns="0" bIns="0" anchor="t" anchorCtr="0">
              <a:spAutoFit/>
            </a:bodyPr>
            <a:lstStyle/>
            <a:p>
              <a:pPr algn="l"/>
              <a:r>
                <a:rPr lang="tr-TR" sz="2850" b="1" dirty="0">
                  <a:solidFill>
                    <a:srgbClr val="F7FAFC"/>
                  </a:solidFill>
                  <a:latin typeface="+mj-lt"/>
                  <a:ea typeface="+mj-ea"/>
                  <a:cs typeface="+mj-cs"/>
                </a:rPr>
                <a:t>Ne zaman tercih edilir? Alternatiflerle karşılaştırma</a:t>
              </a:r>
            </a:p>
          </p:txBody>
        </p:sp>
      </p:grpSp>
      <p:grpSp>
        <p:nvGrpSpPr>
          <p:cNvPr id="15" name="option-istemci-sunucu"/>
          <p:cNvGrpSpPr/>
          <p:nvPr/>
        </p:nvGrpSpPr>
        <p:grpSpPr>
          <a:xfrm>
            <a:off x="571500" y="1333500"/>
            <a:ext cx="11049000" cy="1090517"/>
            <a:chOff x="571500" y="1333500"/>
            <a:chExt cx="11049000" cy="1090517"/>
          </a:xfrm>
        </p:grpSpPr>
        <p:sp>
          <p:nvSpPr>
            <p:cNvPr id="11" name="Rectangle 11"/>
            <p:cNvSpPr/>
            <p:nvPr/>
          </p:nvSpPr>
          <p:spPr>
            <a:xfrm>
              <a:off x="571500" y="1333500"/>
              <a:ext cx="11049000" cy="1028700"/>
            </a:xfrm>
            <a:prstGeom prst="rect">
              <a:avLst/>
            </a:prstGeom>
            <a:solidFill>
              <a:srgbClr val="EAF4F6"/>
            </a:solidFill>
            <a:ln>
              <a:noFill/>
            </a:ln>
          </p:spPr>
        </p:sp>
        <p:sp>
          <p:nvSpPr>
            <p:cNvPr id="12" name="Rectangle 12"/>
            <p:cNvSpPr/>
            <p:nvPr/>
          </p:nvSpPr>
          <p:spPr>
            <a:xfrm>
              <a:off x="571500" y="1333500"/>
              <a:ext cx="57150" cy="1028700"/>
            </a:xfrm>
            <a:prstGeom prst="rect">
              <a:avLst/>
            </a:prstGeom>
            <a:solidFill>
              <a:srgbClr val="00A6A6"/>
            </a:solidFill>
            <a:ln>
              <a:noFill/>
            </a:ln>
          </p:spPr>
        </p:sp>
        <p:sp>
          <p:nvSpPr>
            <p:cNvPr id="13" name="TextBox 13"/>
            <p:cNvSpPr txBox="1"/>
            <p:nvPr/>
          </p:nvSpPr>
          <p:spPr>
            <a:xfrm>
              <a:off x="867156" y="1520190"/>
              <a:ext cx="197316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İstemci-sunucu</a:t>
              </a:r>
            </a:p>
          </p:txBody>
        </p:sp>
        <p:sp>
          <p:nvSpPr>
            <p:cNvPr id="14" name="TextBox 14"/>
            <p:cNvSpPr txBox="1"/>
            <p:nvPr/>
          </p:nvSpPr>
          <p:spPr>
            <a:xfrm>
              <a:off x="3611499" y="1506379"/>
              <a:ext cx="5082667" cy="917638"/>
            </a:xfrm>
            <a:prstGeom prst="rect">
              <a:avLst/>
            </a:prstGeom>
            <a:noFill/>
            <a:ln>
              <a:noFill/>
            </a:ln>
          </p:spPr>
          <p:txBody>
            <a:bodyPr wrap="none" lIns="0" tIns="0" rIns="0" bIns="0" anchor="t" anchorCtr="0">
              <a:spAutoFit/>
            </a:bodyPr>
            <a:lstStyle/>
            <a:p>
              <a:pPr algn="l">
                <a:lnSpc>
                  <a:spcPts val="2400"/>
                </a:lnSpc>
              </a:pPr>
              <a:r>
                <a:rPr lang="tr-TR" sz="1580" dirty="0">
                  <a:solidFill>
                    <a:srgbClr val="172B3A"/>
                  </a:solidFill>
                  <a:latin typeface="+mn-lt"/>
                  <a:ea typeface="+mn-ea"/>
                  <a:cs typeface="+mn-cs"/>
                </a:rPr>
                <a:t>Güçlü yön · Merkezi kontrol ve çoklu istemci desteği</a:t>
              </a:r>
              <a:br/>
              <a:r>
                <a:rPr lang="tr-TR" sz="1580" dirty="0">
                  <a:solidFill>
                    <a:srgbClr val="172B3A"/>
                  </a:solidFill>
                  <a:latin typeface="+mn-lt"/>
                  <a:ea typeface="+mn-ea"/>
                  <a:cs typeface="+mn-cs"/>
                </a:rPr>
                <a:t>Sınırlılık · Ağ gecikmesi vardır</a:t>
              </a:r>
              <a:br/>
              <a:r>
                <a:rPr lang="tr-TR" sz="1580" dirty="0">
                  <a:solidFill>
                    <a:srgbClr val="172B3A"/>
                  </a:solidFill>
                  <a:latin typeface="+mn-lt"/>
                  <a:ea typeface="+mn-ea"/>
                  <a:cs typeface="+mn-cs"/>
                </a:rPr>
                <a:t>Uygun senaryo · Web ve mobil uygulamalar</a:t>
              </a:r>
            </a:p>
          </p:txBody>
        </p:sp>
      </p:grpSp>
      <p:grpSp>
        <p:nvGrpSpPr>
          <p:cNvPr id="19" name="option-masaustu"/>
          <p:cNvGrpSpPr/>
          <p:nvPr/>
        </p:nvGrpSpPr>
        <p:grpSpPr>
          <a:xfrm>
            <a:off x="562356" y="2457450"/>
            <a:ext cx="11058144" cy="1090517"/>
            <a:chOff x="562356" y="2457450"/>
            <a:chExt cx="11058144" cy="1090517"/>
          </a:xfrm>
        </p:grpSpPr>
        <p:sp>
          <p:nvSpPr>
            <p:cNvPr id="16" name="Line 16"/>
            <p:cNvSpPr/>
            <p:nvPr/>
          </p:nvSpPr>
          <p:spPr>
            <a:xfrm>
              <a:off x="571500" y="2457450"/>
              <a:ext cx="11049000" cy="9525"/>
            </a:xfrm>
            <a:custGeom>
              <a:avLst/>
              <a:gdLst/>
              <a:ahLst/>
              <a:cxnLst/>
              <a:rect l="l" t="t" r="r" b="b"/>
              <a:pathLst>
                <a:path w="11049000" h="9525">
                  <a:moveTo>
                    <a:pt x="0" y="0"/>
                  </a:moveTo>
                  <a:lnTo>
                    <a:pt x="11049000" y="0"/>
                  </a:lnTo>
                </a:path>
              </a:pathLst>
            </a:custGeom>
            <a:noFill/>
            <a:ln w="9525">
              <a:solidFill>
                <a:srgbClr val="B8CBD3"/>
              </a:solidFill>
            </a:ln>
          </p:spPr>
        </p:sp>
        <p:sp>
          <p:nvSpPr>
            <p:cNvPr id="17" name="TextBox 17"/>
            <p:cNvSpPr txBox="1"/>
            <p:nvPr/>
          </p:nvSpPr>
          <p:spPr>
            <a:xfrm>
              <a:off x="562356" y="2644140"/>
              <a:ext cx="2322576" cy="637794"/>
            </a:xfrm>
            <a:prstGeom prst="rect">
              <a:avLst/>
            </a:prstGeom>
            <a:noFill/>
            <a:ln>
              <a:noFill/>
            </a:ln>
          </p:spPr>
          <p:txBody>
            <a:bodyPr wrap="none" lIns="0" tIns="0" rIns="0" bIns="0" anchor="t" anchorCtr="0">
              <a:spAutoFit/>
            </a:bodyPr>
            <a:lstStyle/>
            <a:p>
              <a:pPr algn="l">
                <a:lnSpc>
                  <a:spcPts val="2250"/>
                </a:lnSpc>
              </a:pPr>
              <a:r>
                <a:rPr lang="tr-TR" sz="1800" b="1" dirty="0">
                  <a:solidFill>
                    <a:srgbClr val="12355B"/>
                  </a:solidFill>
                  <a:latin typeface="+mn-lt"/>
                  <a:ea typeface="+mn-ea"/>
                  <a:cs typeface="+mn-cs"/>
                </a:rPr>
                <a:t>Tek parça masaüstü</a:t>
              </a:r>
              <a:br/>
              <a:r>
                <a:rPr lang="tr-TR" sz="1800" b="1" dirty="0">
                  <a:solidFill>
                    <a:srgbClr val="12355B"/>
                  </a:solidFill>
                  <a:latin typeface="+mn-lt"/>
                  <a:ea typeface="+mn-ea"/>
                  <a:cs typeface="+mn-cs"/>
                </a:rPr>
                <a:t>uygulaması</a:t>
              </a:r>
            </a:p>
          </p:txBody>
        </p:sp>
        <p:sp>
          <p:nvSpPr>
            <p:cNvPr id="18" name="TextBox 18"/>
            <p:cNvSpPr txBox="1"/>
            <p:nvPr/>
          </p:nvSpPr>
          <p:spPr>
            <a:xfrm>
              <a:off x="3611499" y="2630329"/>
              <a:ext cx="4229862" cy="917638"/>
            </a:xfrm>
            <a:prstGeom prst="rect">
              <a:avLst/>
            </a:prstGeom>
            <a:noFill/>
            <a:ln>
              <a:noFill/>
            </a:ln>
          </p:spPr>
          <p:txBody>
            <a:bodyPr wrap="none" lIns="0" tIns="0" rIns="0" bIns="0" anchor="t" anchorCtr="0">
              <a:spAutoFit/>
            </a:bodyPr>
            <a:lstStyle/>
            <a:p>
              <a:pPr algn="l">
                <a:lnSpc>
                  <a:spcPts val="2400"/>
                </a:lnSpc>
              </a:pPr>
              <a:r>
                <a:rPr lang="tr-TR" sz="1580" dirty="0">
                  <a:solidFill>
                    <a:srgbClr val="172B3A"/>
                  </a:solidFill>
                  <a:latin typeface="+mn-lt"/>
                  <a:ea typeface="+mn-ea"/>
                  <a:cs typeface="+mn-cs"/>
                </a:rPr>
                <a:t>Güçlü yön · Basit kurulum</a:t>
              </a:r>
              <a:br/>
              <a:r>
                <a:rPr lang="tr-TR" sz="1580" dirty="0">
                  <a:solidFill>
                    <a:srgbClr val="172B3A"/>
                  </a:solidFill>
                  <a:latin typeface="+mn-lt"/>
                  <a:ea typeface="+mn-ea"/>
                  <a:cs typeface="+mn-cs"/>
                </a:rPr>
                <a:t>Sınırlılık · Veri paylaşımı zordur</a:t>
              </a:r>
              <a:br/>
              <a:r>
                <a:rPr lang="tr-TR" sz="1580" dirty="0">
                  <a:solidFill>
                    <a:srgbClr val="172B3A"/>
                  </a:solidFill>
                  <a:latin typeface="+mn-lt"/>
                  <a:ea typeface="+mn-ea"/>
                  <a:cs typeface="+mn-cs"/>
                </a:rPr>
                <a:t>Uygun senaryo · Küçük, çevrimdışı araçlar</a:t>
              </a:r>
            </a:p>
          </p:txBody>
        </p:sp>
      </p:grpSp>
      <p:grpSp>
        <p:nvGrpSpPr>
          <p:cNvPr id="23" name="option-esler-arasi"/>
          <p:cNvGrpSpPr/>
          <p:nvPr/>
        </p:nvGrpSpPr>
        <p:grpSpPr>
          <a:xfrm>
            <a:off x="562356" y="3581400"/>
            <a:ext cx="11058144" cy="1090517"/>
            <a:chOff x="562356" y="3581400"/>
            <a:chExt cx="11058144" cy="1090517"/>
          </a:xfrm>
        </p:grpSpPr>
        <p:sp>
          <p:nvSpPr>
            <p:cNvPr id="20" name="Line 20"/>
            <p:cNvSpPr/>
            <p:nvPr/>
          </p:nvSpPr>
          <p:spPr>
            <a:xfrm>
              <a:off x="571500" y="3581400"/>
              <a:ext cx="11049000" cy="9525"/>
            </a:xfrm>
            <a:custGeom>
              <a:avLst/>
              <a:gdLst/>
              <a:ahLst/>
              <a:cxnLst/>
              <a:rect l="l" t="t" r="r" b="b"/>
              <a:pathLst>
                <a:path w="11049000" h="9525">
                  <a:moveTo>
                    <a:pt x="0" y="0"/>
                  </a:moveTo>
                  <a:lnTo>
                    <a:pt x="11049000" y="0"/>
                  </a:lnTo>
                </a:path>
              </a:pathLst>
            </a:custGeom>
            <a:noFill/>
            <a:ln w="9525">
              <a:solidFill>
                <a:srgbClr val="B8CBD3"/>
              </a:solidFill>
            </a:ln>
          </p:spPr>
        </p:sp>
        <p:sp>
          <p:nvSpPr>
            <p:cNvPr id="21" name="TextBox 21"/>
            <p:cNvSpPr txBox="1"/>
            <p:nvPr/>
          </p:nvSpPr>
          <p:spPr>
            <a:xfrm>
              <a:off x="562356" y="3768090"/>
              <a:ext cx="287245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Eşler arası (P2P) yapı</a:t>
              </a:r>
            </a:p>
          </p:txBody>
        </p:sp>
        <p:sp>
          <p:nvSpPr>
            <p:cNvPr id="22" name="TextBox 22"/>
            <p:cNvSpPr txBox="1"/>
            <p:nvPr/>
          </p:nvSpPr>
          <p:spPr>
            <a:xfrm>
              <a:off x="3611499" y="3754279"/>
              <a:ext cx="4450588" cy="917638"/>
            </a:xfrm>
            <a:prstGeom prst="rect">
              <a:avLst/>
            </a:prstGeom>
            <a:noFill/>
            <a:ln>
              <a:noFill/>
            </a:ln>
          </p:spPr>
          <p:txBody>
            <a:bodyPr wrap="none" lIns="0" tIns="0" rIns="0" bIns="0" anchor="t" anchorCtr="0">
              <a:spAutoFit/>
            </a:bodyPr>
            <a:lstStyle/>
            <a:p>
              <a:pPr algn="l">
                <a:lnSpc>
                  <a:spcPts val="2400"/>
                </a:lnSpc>
              </a:pPr>
              <a:r>
                <a:rPr lang="tr-TR" sz="1580" dirty="0">
                  <a:solidFill>
                    <a:srgbClr val="172B3A"/>
                  </a:solidFill>
                  <a:latin typeface="+mn-lt"/>
                  <a:ea typeface="+mn-ea"/>
                  <a:cs typeface="+mn-cs"/>
                </a:rPr>
                <a:t>Güçlü yön · Merkezi sunucu ihtiyacı azalabilir</a:t>
              </a:r>
              <a:br/>
              <a:r>
                <a:rPr lang="tr-TR" sz="1580" dirty="0">
                  <a:solidFill>
                    <a:srgbClr val="172B3A"/>
                  </a:solidFill>
                  <a:latin typeface="+mn-lt"/>
                  <a:ea typeface="+mn-ea"/>
                  <a:cs typeface="+mn-cs"/>
                </a:rPr>
                <a:t>Sınırlılık · Yönetim ve güvenlik zorlaşır</a:t>
              </a:r>
              <a:br/>
              <a:r>
                <a:rPr lang="tr-TR" sz="1580" dirty="0">
                  <a:solidFill>
                    <a:srgbClr val="172B3A"/>
                  </a:solidFill>
                  <a:latin typeface="+mn-lt"/>
                  <a:ea typeface="+mn-ea"/>
                  <a:cs typeface="+mn-cs"/>
                </a:rPr>
                <a:t>Uygun senaryo · Dosya paylaşımı senaryoları</a:t>
              </a:r>
            </a:p>
          </p:txBody>
        </p:sp>
      </p:grpSp>
      <p:grpSp>
        <p:nvGrpSpPr>
          <p:cNvPr id="27" name="option-sunucusuz"/>
          <p:cNvGrpSpPr/>
          <p:nvPr/>
        </p:nvGrpSpPr>
        <p:grpSpPr>
          <a:xfrm>
            <a:off x="562356" y="4705350"/>
            <a:ext cx="11058144" cy="1090517"/>
            <a:chOff x="562356" y="4705350"/>
            <a:chExt cx="11058144" cy="1090517"/>
          </a:xfrm>
        </p:grpSpPr>
        <p:sp>
          <p:nvSpPr>
            <p:cNvPr id="24" name="Line 24"/>
            <p:cNvSpPr/>
            <p:nvPr/>
          </p:nvSpPr>
          <p:spPr>
            <a:xfrm>
              <a:off x="571500" y="4705350"/>
              <a:ext cx="11049000" cy="9525"/>
            </a:xfrm>
            <a:custGeom>
              <a:avLst/>
              <a:gdLst/>
              <a:ahLst/>
              <a:cxnLst/>
              <a:rect l="l" t="t" r="r" b="b"/>
              <a:pathLst>
                <a:path w="11049000" h="9525">
                  <a:moveTo>
                    <a:pt x="0" y="0"/>
                  </a:moveTo>
                  <a:lnTo>
                    <a:pt x="11049000" y="0"/>
                  </a:lnTo>
                </a:path>
              </a:pathLst>
            </a:custGeom>
            <a:noFill/>
            <a:ln w="9525">
              <a:solidFill>
                <a:srgbClr val="B8CBD3"/>
              </a:solidFill>
            </a:ln>
          </p:spPr>
        </p:sp>
        <p:sp>
          <p:nvSpPr>
            <p:cNvPr id="25" name="TextBox 25"/>
            <p:cNvSpPr txBox="1"/>
            <p:nvPr/>
          </p:nvSpPr>
          <p:spPr>
            <a:xfrm>
              <a:off x="562356" y="4892040"/>
              <a:ext cx="229027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Sunucusuz işlevler</a:t>
              </a:r>
            </a:p>
          </p:txBody>
        </p:sp>
        <p:sp>
          <p:nvSpPr>
            <p:cNvPr id="26" name="TextBox 26"/>
            <p:cNvSpPr txBox="1"/>
            <p:nvPr/>
          </p:nvSpPr>
          <p:spPr>
            <a:xfrm>
              <a:off x="3611499" y="4878229"/>
              <a:ext cx="4410456" cy="917638"/>
            </a:xfrm>
            <a:prstGeom prst="rect">
              <a:avLst/>
            </a:prstGeom>
            <a:noFill/>
            <a:ln>
              <a:noFill/>
            </a:ln>
          </p:spPr>
          <p:txBody>
            <a:bodyPr wrap="none" lIns="0" tIns="0" rIns="0" bIns="0" anchor="t" anchorCtr="0">
              <a:spAutoFit/>
            </a:bodyPr>
            <a:lstStyle/>
            <a:p>
              <a:pPr algn="l">
                <a:lnSpc>
                  <a:spcPts val="2400"/>
                </a:lnSpc>
              </a:pPr>
              <a:r>
                <a:rPr lang="tr-TR" sz="1580" dirty="0">
                  <a:solidFill>
                    <a:srgbClr val="172B3A"/>
                  </a:solidFill>
                  <a:latin typeface="+mn-lt"/>
                  <a:ea typeface="+mn-ea"/>
                  <a:cs typeface="+mn-cs"/>
                </a:rPr>
                <a:t>Güçlü yön · Ölçekleme altyapısı kolaylaşır</a:t>
              </a:r>
              <a:br/>
              <a:r>
                <a:rPr lang="tr-TR" sz="1580" dirty="0">
                  <a:solidFill>
                    <a:srgbClr val="172B3A"/>
                  </a:solidFill>
                  <a:latin typeface="+mn-lt"/>
                  <a:ea typeface="+mn-ea"/>
                  <a:cs typeface="+mn-cs"/>
                </a:rPr>
                <a:t>Sınırlılık · Platform bağımlılığı oluşabilir</a:t>
              </a:r>
              <a:br/>
              <a:r>
                <a:rPr lang="tr-TR" sz="1580" dirty="0">
                  <a:solidFill>
                    <a:srgbClr val="172B3A"/>
                  </a:solidFill>
                  <a:latin typeface="+mn-lt"/>
                  <a:ea typeface="+mn-ea"/>
                  <a:cs typeface="+mn-cs"/>
                </a:rPr>
                <a:t>Uygun senaryo · Olay tabanlı küçük servisler</a:t>
              </a:r>
            </a:p>
          </p:txBody>
        </p:sp>
      </p:grpSp>
      <p:grpSp>
        <p:nvGrpSpPr>
          <p:cNvPr id="30" name="alternatives-takeaway"/>
          <p:cNvGrpSpPr/>
          <p:nvPr/>
        </p:nvGrpSpPr>
        <p:grpSpPr>
          <a:xfrm>
            <a:off x="571500" y="5867400"/>
            <a:ext cx="9772285" cy="423768"/>
            <a:chOff x="571500" y="5867400"/>
            <a:chExt cx="9772285" cy="423768"/>
          </a:xfrm>
        </p:grpSpPr>
        <p:sp>
          <p:nvSpPr>
            <p:cNvPr id="28" name="Rectangle 28"/>
            <p:cNvSpPr/>
            <p:nvPr/>
          </p:nvSpPr>
          <p:spPr>
            <a:xfrm>
              <a:off x="571500" y="5867400"/>
              <a:ext cx="57150" cy="342900"/>
            </a:xfrm>
            <a:prstGeom prst="rect">
              <a:avLst/>
            </a:prstGeom>
            <a:solidFill>
              <a:srgbClr val="00A6A6"/>
            </a:solidFill>
            <a:ln>
              <a:noFill/>
            </a:ln>
          </p:spPr>
        </p:sp>
        <p:sp>
          <p:nvSpPr>
            <p:cNvPr id="29" name="TextBox 29"/>
            <p:cNvSpPr txBox="1"/>
            <p:nvPr/>
          </p:nvSpPr>
          <p:spPr>
            <a:xfrm>
              <a:off x="792099" y="5983129"/>
              <a:ext cx="9551686"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Sunucusuz mimaride bile istemci bir bulut işlevine istek gönderir; istek-yanıt ilişkisi sürer.</a:t>
              </a:r>
            </a:p>
          </p:txBody>
        </p:sp>
      </p:grpSp>
      <p:grpSp>
        <p:nvGrpSpPr>
          <p:cNvPr id="33" name="footer"/>
          <p:cNvGrpSpPr/>
          <p:nvPr/>
        </p:nvGrpSpPr>
        <p:grpSpPr>
          <a:xfrm>
            <a:off x="565404" y="6404610"/>
            <a:ext cx="11061192" cy="234696"/>
            <a:chOff x="565404" y="6404610"/>
            <a:chExt cx="11061192" cy="234696"/>
          </a:xfrm>
        </p:grpSpPr>
        <p:sp>
          <p:nvSpPr>
            <p:cNvPr id="31" name="TextBox 31"/>
            <p:cNvSpPr txBox="1"/>
            <p:nvPr/>
          </p:nvSpPr>
          <p:spPr>
            <a:xfrm>
              <a:off x="565404" y="6404610"/>
              <a:ext cx="496284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Bölüm 1 · Modern Backend Programlamaya Giriş ve Web Mimarisi</a:t>
              </a:r>
            </a:p>
          </p:txBody>
        </p:sp>
        <p:sp>
          <p:nvSpPr>
            <p:cNvPr id="32" name="TextBox 32"/>
            <p:cNvSpPr txBox="1"/>
            <p:nvPr/>
          </p:nvSpPr>
          <p:spPr>
            <a:xfrm>
              <a:off x="11436706" y="640461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10</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5" name="title"/>
          <p:cNvGrpSpPr/>
          <p:nvPr/>
        </p:nvGrpSpPr>
        <p:grpSpPr>
          <a:xfrm>
            <a:off x="0" y="0"/>
            <a:ext cx="12192000" cy="952500"/>
            <a:chOff x="0" y="0"/>
            <a:chExt cx="12192000" cy="952500"/>
          </a:xfrm>
        </p:grpSpPr>
        <p:sp>
          <p:nvSpPr>
            <p:cNvPr id="2" name="Rectangle 2"/>
            <p:cNvSpPr/>
            <p:nvPr/>
          </p:nvSpPr>
          <p:spPr>
            <a:xfrm>
              <a:off x="0" y="0"/>
              <a:ext cx="12192000" cy="914400"/>
            </a:xfrm>
            <a:prstGeom prst="rect">
              <a:avLst/>
            </a:prstGeom>
            <a:solidFill>
              <a:srgbClr val="12355B"/>
            </a:solidFill>
            <a:ln>
              <a:noFill/>
            </a:ln>
          </p:spPr>
        </p:sp>
        <p:sp>
          <p:nvSpPr>
            <p:cNvPr id="3" name="Rectangle 3"/>
            <p:cNvSpPr/>
            <p:nvPr/>
          </p:nvSpPr>
          <p:spPr>
            <a:xfrm>
              <a:off x="0" y="914400"/>
              <a:ext cx="12192000" cy="38100"/>
            </a:xfrm>
            <a:prstGeom prst="rect">
              <a:avLst/>
            </a:prstGeom>
            <a:solidFill>
              <a:srgbClr val="00A6A6"/>
            </a:solidFill>
            <a:ln>
              <a:noFill/>
            </a:ln>
          </p:spPr>
        </p:sp>
        <p:sp>
          <p:nvSpPr>
            <p:cNvPr id="4" name="TextBox 4"/>
            <p:cNvSpPr txBox="1"/>
            <p:nvPr/>
          </p:nvSpPr>
          <p:spPr>
            <a:xfrm>
              <a:off x="557022" y="282892"/>
              <a:ext cx="6953096" cy="557403"/>
            </a:xfrm>
            <a:prstGeom prst="rect">
              <a:avLst/>
            </a:prstGeom>
            <a:noFill/>
            <a:ln>
              <a:noFill/>
            </a:ln>
          </p:spPr>
          <p:txBody>
            <a:bodyPr wrap="none" lIns="0" tIns="0" rIns="0" bIns="0" anchor="t" anchorCtr="0">
              <a:spAutoFit/>
            </a:bodyPr>
            <a:lstStyle/>
            <a:p>
              <a:pPr algn="l"/>
              <a:r>
                <a:rPr lang="tr-TR" sz="2850" b="1" dirty="0">
                  <a:solidFill>
                    <a:srgbClr val="F7FAFC"/>
                  </a:solidFill>
                  <a:latin typeface="+mj-lt"/>
                  <a:ea typeface="+mj-ea"/>
                  <a:cs typeface="+mj-cs"/>
                </a:rPr>
                <a:t>HTTP: mesaj yapısı ve durumsuzluk</a:t>
              </a:r>
            </a:p>
          </p:txBody>
        </p:sp>
      </p:grpSp>
      <p:grpSp>
        <p:nvGrpSpPr>
          <p:cNvPr id="17" name="request-anatomy"/>
          <p:cNvGrpSpPr/>
          <p:nvPr/>
        </p:nvGrpSpPr>
        <p:grpSpPr>
          <a:xfrm>
            <a:off x="571500" y="1428750"/>
            <a:ext cx="5524500" cy="2381250"/>
            <a:chOff x="571500" y="1428750"/>
            <a:chExt cx="5524500" cy="2381250"/>
          </a:xfrm>
        </p:grpSpPr>
        <p:sp>
          <p:nvSpPr>
            <p:cNvPr id="6" name="Rectangle 6"/>
            <p:cNvSpPr/>
            <p:nvPr/>
          </p:nvSpPr>
          <p:spPr>
            <a:xfrm>
              <a:off x="571500" y="1428750"/>
              <a:ext cx="5524500" cy="2381250"/>
            </a:xfrm>
            <a:prstGeom prst="rect">
              <a:avLst/>
            </a:prstGeom>
            <a:solidFill>
              <a:srgbClr val="FFFFFF"/>
            </a:solidFill>
            <a:ln w="19050">
              <a:solidFill>
                <a:srgbClr val="2E86AB"/>
              </a:solidFill>
            </a:ln>
          </p:spPr>
        </p:sp>
        <p:sp>
          <p:nvSpPr>
            <p:cNvPr id="7" name="TextBox 7"/>
            <p:cNvSpPr txBox="1"/>
            <p:nvPr/>
          </p:nvSpPr>
          <p:spPr>
            <a:xfrm>
              <a:off x="828294" y="1599248"/>
              <a:ext cx="1513751"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HTTP isteği</a:t>
              </a:r>
            </a:p>
          </p:txBody>
        </p:sp>
        <p:grpSp>
          <p:nvGrpSpPr>
            <p:cNvPr id="12" name="request-bullets"/>
            <p:cNvGrpSpPr/>
            <p:nvPr/>
          </p:nvGrpSpPr>
          <p:grpSpPr>
            <a:xfrm>
              <a:off x="838200" y="2019300"/>
              <a:ext cx="76200" cy="1447800"/>
              <a:chOff x="838200" y="2019300"/>
              <a:chExt cx="76200" cy="1447800"/>
            </a:xfrm>
          </p:grpSpPr>
          <p:sp>
            <p:nvSpPr>
              <p:cNvPr id="8" name="Rectangle 8"/>
              <p:cNvSpPr/>
              <p:nvPr/>
            </p:nvSpPr>
            <p:spPr>
              <a:xfrm>
                <a:off x="838200" y="2019300"/>
                <a:ext cx="76200" cy="76200"/>
              </a:xfrm>
              <a:prstGeom prst="rect">
                <a:avLst/>
              </a:prstGeom>
              <a:solidFill>
                <a:srgbClr val="00A6A6"/>
              </a:solidFill>
              <a:ln>
                <a:noFill/>
              </a:ln>
            </p:spPr>
          </p:sp>
          <p:sp>
            <p:nvSpPr>
              <p:cNvPr id="9" name="Rectangle 9"/>
              <p:cNvSpPr/>
              <p:nvPr/>
            </p:nvSpPr>
            <p:spPr>
              <a:xfrm>
                <a:off x="838200" y="2476500"/>
                <a:ext cx="76200" cy="76200"/>
              </a:xfrm>
              <a:prstGeom prst="rect">
                <a:avLst/>
              </a:prstGeom>
              <a:solidFill>
                <a:srgbClr val="00A6A6"/>
              </a:solidFill>
              <a:ln>
                <a:noFill/>
              </a:ln>
            </p:spPr>
          </p:sp>
          <p:sp>
            <p:nvSpPr>
              <p:cNvPr id="10" name="Rectangle 10"/>
              <p:cNvSpPr/>
              <p:nvPr/>
            </p:nvSpPr>
            <p:spPr>
              <a:xfrm>
                <a:off x="838200" y="2933700"/>
                <a:ext cx="76200" cy="76200"/>
              </a:xfrm>
              <a:prstGeom prst="rect">
                <a:avLst/>
              </a:prstGeom>
              <a:solidFill>
                <a:srgbClr val="00A6A6"/>
              </a:solidFill>
              <a:ln>
                <a:noFill/>
              </a:ln>
            </p:spPr>
          </p:sp>
          <p:sp>
            <p:nvSpPr>
              <p:cNvPr id="11" name="Rectangle 11"/>
              <p:cNvSpPr/>
              <p:nvPr/>
            </p:nvSpPr>
            <p:spPr>
              <a:xfrm>
                <a:off x="838200" y="3390900"/>
                <a:ext cx="76200" cy="76200"/>
              </a:xfrm>
              <a:prstGeom prst="rect">
                <a:avLst/>
              </a:prstGeom>
              <a:solidFill>
                <a:srgbClr val="00A6A6"/>
              </a:solidFill>
              <a:ln>
                <a:noFill/>
              </a:ln>
            </p:spPr>
          </p:sp>
        </p:grpSp>
        <p:sp>
          <p:nvSpPr>
            <p:cNvPr id="13" name="TextBox 13"/>
            <p:cNvSpPr txBox="1"/>
            <p:nvPr/>
          </p:nvSpPr>
          <p:spPr>
            <a:xfrm>
              <a:off x="1057656" y="1901190"/>
              <a:ext cx="2205990"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Metot: GET, POST</a:t>
              </a:r>
            </a:p>
          </p:txBody>
        </p:sp>
        <p:sp>
          <p:nvSpPr>
            <p:cNvPr id="14" name="TextBox 14"/>
            <p:cNvSpPr txBox="1"/>
            <p:nvPr/>
          </p:nvSpPr>
          <p:spPr>
            <a:xfrm>
              <a:off x="1057656" y="2358390"/>
              <a:ext cx="3459189"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Yol: /api/ogrenciler/2026001</a:t>
              </a:r>
            </a:p>
          </p:txBody>
        </p:sp>
        <p:sp>
          <p:nvSpPr>
            <p:cNvPr id="15" name="TextBox 15"/>
            <p:cNvSpPr txBox="1"/>
            <p:nvPr/>
          </p:nvSpPr>
          <p:spPr>
            <a:xfrm>
              <a:off x="1057656" y="2815590"/>
              <a:ext cx="2377069"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Başlıklar (headers)</a:t>
              </a:r>
            </a:p>
          </p:txBody>
        </p:sp>
        <p:sp>
          <p:nvSpPr>
            <p:cNvPr id="16" name="TextBox 16"/>
            <p:cNvSpPr txBox="1"/>
            <p:nvPr/>
          </p:nvSpPr>
          <p:spPr>
            <a:xfrm>
              <a:off x="1057656" y="3272790"/>
              <a:ext cx="2450020"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Gövde (isteğe bağlı)</a:t>
              </a:r>
            </a:p>
          </p:txBody>
        </p:sp>
      </p:grpSp>
      <p:grpSp>
        <p:nvGrpSpPr>
          <p:cNvPr id="29" name="response-anatomy"/>
          <p:cNvGrpSpPr/>
          <p:nvPr/>
        </p:nvGrpSpPr>
        <p:grpSpPr>
          <a:xfrm>
            <a:off x="6667500" y="1428750"/>
            <a:ext cx="4953000" cy="2381250"/>
            <a:chOff x="6667500" y="1428750"/>
            <a:chExt cx="4953000" cy="2381250"/>
          </a:xfrm>
        </p:grpSpPr>
        <p:sp>
          <p:nvSpPr>
            <p:cNvPr id="18" name="Rectangle 18"/>
            <p:cNvSpPr/>
            <p:nvPr/>
          </p:nvSpPr>
          <p:spPr>
            <a:xfrm>
              <a:off x="6667500" y="1428750"/>
              <a:ext cx="4953000" cy="2381250"/>
            </a:xfrm>
            <a:prstGeom prst="rect">
              <a:avLst/>
            </a:prstGeom>
            <a:solidFill>
              <a:srgbClr val="EAF4F6"/>
            </a:solidFill>
            <a:ln>
              <a:noFill/>
            </a:ln>
          </p:spPr>
        </p:sp>
        <p:sp>
          <p:nvSpPr>
            <p:cNvPr id="19" name="Rectangle 19"/>
            <p:cNvSpPr/>
            <p:nvPr/>
          </p:nvSpPr>
          <p:spPr>
            <a:xfrm>
              <a:off x="6667500" y="1428750"/>
              <a:ext cx="57150" cy="2381250"/>
            </a:xfrm>
            <a:prstGeom prst="rect">
              <a:avLst/>
            </a:prstGeom>
            <a:solidFill>
              <a:srgbClr val="00A6A6"/>
            </a:solidFill>
            <a:ln>
              <a:noFill/>
            </a:ln>
          </p:spPr>
        </p:sp>
        <p:sp>
          <p:nvSpPr>
            <p:cNvPr id="20" name="TextBox 20"/>
            <p:cNvSpPr txBox="1"/>
            <p:nvPr/>
          </p:nvSpPr>
          <p:spPr>
            <a:xfrm>
              <a:off x="6962394" y="1599248"/>
              <a:ext cx="1654688"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HTTP yanıtı</a:t>
              </a:r>
            </a:p>
          </p:txBody>
        </p:sp>
        <p:grpSp>
          <p:nvGrpSpPr>
            <p:cNvPr id="24" name="response-bullets"/>
            <p:cNvGrpSpPr/>
            <p:nvPr/>
          </p:nvGrpSpPr>
          <p:grpSpPr>
            <a:xfrm>
              <a:off x="6972300" y="2019300"/>
              <a:ext cx="76200" cy="990600"/>
              <a:chOff x="6972300" y="2019300"/>
              <a:chExt cx="76200" cy="990600"/>
            </a:xfrm>
          </p:grpSpPr>
          <p:sp>
            <p:nvSpPr>
              <p:cNvPr id="21" name="Rectangle 21"/>
              <p:cNvSpPr/>
              <p:nvPr/>
            </p:nvSpPr>
            <p:spPr>
              <a:xfrm>
                <a:off x="6972300" y="2019300"/>
                <a:ext cx="76200" cy="76200"/>
              </a:xfrm>
              <a:prstGeom prst="rect">
                <a:avLst/>
              </a:prstGeom>
              <a:solidFill>
                <a:srgbClr val="00A6A6"/>
              </a:solidFill>
              <a:ln>
                <a:noFill/>
              </a:ln>
            </p:spPr>
          </p:sp>
          <p:sp>
            <p:nvSpPr>
              <p:cNvPr id="22" name="Rectangle 22"/>
              <p:cNvSpPr/>
              <p:nvPr/>
            </p:nvSpPr>
            <p:spPr>
              <a:xfrm>
                <a:off x="6972300" y="2476500"/>
                <a:ext cx="76200" cy="76200"/>
              </a:xfrm>
              <a:prstGeom prst="rect">
                <a:avLst/>
              </a:prstGeom>
              <a:solidFill>
                <a:srgbClr val="00A6A6"/>
              </a:solidFill>
              <a:ln>
                <a:noFill/>
              </a:ln>
            </p:spPr>
          </p:sp>
          <p:sp>
            <p:nvSpPr>
              <p:cNvPr id="23" name="Rectangle 23"/>
              <p:cNvSpPr/>
              <p:nvPr/>
            </p:nvSpPr>
            <p:spPr>
              <a:xfrm>
                <a:off x="6972300" y="2933700"/>
                <a:ext cx="76200" cy="76200"/>
              </a:xfrm>
              <a:prstGeom prst="rect">
                <a:avLst/>
              </a:prstGeom>
              <a:solidFill>
                <a:srgbClr val="00A6A6"/>
              </a:solidFill>
              <a:ln>
                <a:noFill/>
              </a:ln>
            </p:spPr>
          </p:sp>
        </p:grpSp>
        <p:sp>
          <p:nvSpPr>
            <p:cNvPr id="25" name="TextBox 25"/>
            <p:cNvSpPr txBox="1"/>
            <p:nvPr/>
          </p:nvSpPr>
          <p:spPr>
            <a:xfrm>
              <a:off x="7191756" y="1901190"/>
              <a:ext cx="3176016"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Durum kodu: 200, 400, 404</a:t>
              </a:r>
            </a:p>
          </p:txBody>
        </p:sp>
        <p:sp>
          <p:nvSpPr>
            <p:cNvPr id="26" name="TextBox 26"/>
            <p:cNvSpPr txBox="1"/>
            <p:nvPr/>
          </p:nvSpPr>
          <p:spPr>
            <a:xfrm>
              <a:off x="7191756" y="2358390"/>
              <a:ext cx="2377069"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Başlıklar (headers)</a:t>
              </a:r>
            </a:p>
          </p:txBody>
        </p:sp>
        <p:sp>
          <p:nvSpPr>
            <p:cNvPr id="27" name="TextBox 27"/>
            <p:cNvSpPr txBox="1"/>
            <p:nvPr/>
          </p:nvSpPr>
          <p:spPr>
            <a:xfrm>
              <a:off x="7191756" y="2815590"/>
              <a:ext cx="3004090"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İçerik (çoğunlukla JSON)</a:t>
              </a:r>
            </a:p>
          </p:txBody>
        </p:sp>
        <p:sp>
          <p:nvSpPr>
            <p:cNvPr id="28" name="TextBox 28"/>
            <p:cNvSpPr txBox="1"/>
            <p:nvPr/>
          </p:nvSpPr>
          <p:spPr>
            <a:xfrm>
              <a:off x="6964299" y="3335179"/>
              <a:ext cx="3968559"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Durum kodu, işlemin sonucunu bildirir.</a:t>
              </a:r>
            </a:p>
          </p:txBody>
        </p:sp>
      </p:grpSp>
      <p:grpSp>
        <p:nvGrpSpPr>
          <p:cNvPr id="33" name="stateless-note"/>
          <p:cNvGrpSpPr/>
          <p:nvPr/>
        </p:nvGrpSpPr>
        <p:grpSpPr>
          <a:xfrm>
            <a:off x="571500" y="4305300"/>
            <a:ext cx="11049000" cy="1948434"/>
            <a:chOff x="571500" y="4305300"/>
            <a:chExt cx="11049000" cy="1948434"/>
          </a:xfrm>
        </p:grpSpPr>
        <p:sp>
          <p:nvSpPr>
            <p:cNvPr id="30" name="Rectangle 30"/>
            <p:cNvSpPr/>
            <p:nvPr/>
          </p:nvSpPr>
          <p:spPr>
            <a:xfrm>
              <a:off x="571500" y="4305300"/>
              <a:ext cx="11049000" cy="1866900"/>
            </a:xfrm>
            <a:prstGeom prst="rect">
              <a:avLst/>
            </a:prstGeom>
            <a:solidFill>
              <a:srgbClr val="FFFFFF"/>
            </a:solidFill>
            <a:ln w="19050">
              <a:solidFill>
                <a:srgbClr val="B8CBD3"/>
              </a:solidFill>
            </a:ln>
          </p:spPr>
        </p:sp>
        <p:sp>
          <p:nvSpPr>
            <p:cNvPr id="31" name="TextBox 31"/>
            <p:cNvSpPr txBox="1"/>
            <p:nvPr/>
          </p:nvSpPr>
          <p:spPr>
            <a:xfrm>
              <a:off x="866394" y="4513898"/>
              <a:ext cx="6093304"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Kapsam notu: durumsuzluk ne demek değildir?</a:t>
              </a:r>
            </a:p>
          </p:txBody>
        </p:sp>
        <p:sp>
          <p:nvSpPr>
            <p:cNvPr id="32" name="TextBox 32"/>
            <p:cNvSpPr txBox="1"/>
            <p:nvPr/>
          </p:nvSpPr>
          <p:spPr>
            <a:xfrm>
              <a:off x="867156" y="4930140"/>
              <a:ext cx="10179558" cy="1323594"/>
            </a:xfrm>
            <a:prstGeom prst="rect">
              <a:avLst/>
            </a:prstGeom>
            <a:noFill/>
            <a:ln>
              <a:noFill/>
            </a:ln>
          </p:spPr>
          <p:txBody>
            <a:bodyPr wrap="none" lIns="0" tIns="0" rIns="0" bIns="0" anchor="t" anchorCtr="0">
              <a:spAutoFit/>
            </a:bodyPr>
            <a:lstStyle/>
            <a:p>
              <a:pPr algn="l">
                <a:lnSpc>
                  <a:spcPts val="2550"/>
                </a:lnSpc>
              </a:pPr>
              <a:r>
                <a:rPr lang="tr-TR" sz="1800" dirty="0">
                  <a:solidFill>
                    <a:srgbClr val="172B3A"/>
                  </a:solidFill>
                  <a:latin typeface="+mn-lt"/>
                  <a:ea typeface="+mn-ea"/>
                  <a:cs typeface="+mn-cs"/>
                </a:rPr>
                <a:t>HTTP’nin durumsuz (stateless) olması, protokol semantiğinin her isteği tek başına</a:t>
              </a:r>
              <a:br/>
              <a:r>
                <a:rPr lang="tr-TR" sz="1800" dirty="0">
                  <a:solidFill>
                    <a:srgbClr val="172B3A"/>
                  </a:solidFill>
                  <a:latin typeface="+mn-lt"/>
                  <a:ea typeface="+mn-ea"/>
                  <a:cs typeface="+mn-cs"/>
                </a:rPr>
                <a:t>yorumlanabilir kabul etmesidir; TCP bağlantısının her istekten sonra kapanacağı anlamına</a:t>
              </a:r>
              <a:br/>
              <a:r>
                <a:rPr lang="tr-TR" sz="1800" dirty="0">
                  <a:solidFill>
                    <a:srgbClr val="172B3A"/>
                  </a:solidFill>
                  <a:latin typeface="+mn-lt"/>
                  <a:ea typeface="+mn-ea"/>
                  <a:cs typeface="+mn-cs"/>
                </a:rPr>
                <a:t>gelmez. Kimlik, sepet veya iş akışı gibi uygulama durumu; çerez, belirteç, sunucu oturumu</a:t>
              </a:r>
              <a:br/>
              <a:r>
                <a:rPr lang="tr-TR" sz="1800" dirty="0">
                  <a:solidFill>
                    <a:srgbClr val="172B3A"/>
                  </a:solidFill>
                  <a:latin typeface="+mn-lt"/>
                  <a:ea typeface="+mn-ea"/>
                  <a:cs typeface="+mn-cs"/>
                </a:rPr>
                <a:t>ya da veritabanı gibi açık bir mekanizma ile tasarlanmalıdır.</a:t>
              </a:r>
            </a:p>
          </p:txBody>
        </p:sp>
      </p:grpSp>
      <p:grpSp>
        <p:nvGrpSpPr>
          <p:cNvPr id="36" name="footer"/>
          <p:cNvGrpSpPr/>
          <p:nvPr/>
        </p:nvGrpSpPr>
        <p:grpSpPr>
          <a:xfrm>
            <a:off x="565404" y="6404610"/>
            <a:ext cx="11061192" cy="234696"/>
            <a:chOff x="565404" y="6404610"/>
            <a:chExt cx="11061192" cy="234696"/>
          </a:xfrm>
        </p:grpSpPr>
        <p:sp>
          <p:nvSpPr>
            <p:cNvPr id="34" name="TextBox 34"/>
            <p:cNvSpPr txBox="1"/>
            <p:nvPr/>
          </p:nvSpPr>
          <p:spPr>
            <a:xfrm>
              <a:off x="565404" y="6404610"/>
              <a:ext cx="496284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Bölüm 1 · Modern Backend Programlamaya Giriş ve Web Mimarisi</a:t>
              </a:r>
            </a:p>
          </p:txBody>
        </p:sp>
        <p:sp>
          <p:nvSpPr>
            <p:cNvPr id="35" name="TextBox 35"/>
            <p:cNvSpPr txBox="1"/>
            <p:nvPr/>
          </p:nvSpPr>
          <p:spPr>
            <a:xfrm>
              <a:off x="11436706" y="640461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11</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5" name="title"/>
          <p:cNvGrpSpPr/>
          <p:nvPr/>
        </p:nvGrpSpPr>
        <p:grpSpPr>
          <a:xfrm>
            <a:off x="0" y="0"/>
            <a:ext cx="12192000" cy="952500"/>
            <a:chOff x="0" y="0"/>
            <a:chExt cx="12192000" cy="952500"/>
          </a:xfrm>
        </p:grpSpPr>
        <p:sp>
          <p:nvSpPr>
            <p:cNvPr id="2" name="Rectangle 2"/>
            <p:cNvSpPr/>
            <p:nvPr/>
          </p:nvSpPr>
          <p:spPr>
            <a:xfrm>
              <a:off x="0" y="0"/>
              <a:ext cx="12192000" cy="914400"/>
            </a:xfrm>
            <a:prstGeom prst="rect">
              <a:avLst/>
            </a:prstGeom>
            <a:solidFill>
              <a:srgbClr val="12355B"/>
            </a:solidFill>
            <a:ln>
              <a:noFill/>
            </a:ln>
          </p:spPr>
        </p:sp>
        <p:sp>
          <p:nvSpPr>
            <p:cNvPr id="3" name="Rectangle 3"/>
            <p:cNvSpPr/>
            <p:nvPr/>
          </p:nvSpPr>
          <p:spPr>
            <a:xfrm>
              <a:off x="0" y="914400"/>
              <a:ext cx="12192000" cy="38100"/>
            </a:xfrm>
            <a:prstGeom prst="rect">
              <a:avLst/>
            </a:prstGeom>
            <a:solidFill>
              <a:srgbClr val="00A6A6"/>
            </a:solidFill>
            <a:ln>
              <a:noFill/>
            </a:ln>
          </p:spPr>
        </p:sp>
        <p:sp>
          <p:nvSpPr>
            <p:cNvPr id="4" name="TextBox 4"/>
            <p:cNvSpPr txBox="1"/>
            <p:nvPr/>
          </p:nvSpPr>
          <p:spPr>
            <a:xfrm>
              <a:off x="557022" y="282892"/>
              <a:ext cx="6356598" cy="557403"/>
            </a:xfrm>
            <a:prstGeom prst="rect">
              <a:avLst/>
            </a:prstGeom>
            <a:noFill/>
            <a:ln>
              <a:noFill/>
            </a:ln>
          </p:spPr>
          <p:txBody>
            <a:bodyPr wrap="none" lIns="0" tIns="0" rIns="0" bIns="0" anchor="t" anchorCtr="0">
              <a:spAutoFit/>
            </a:bodyPr>
            <a:lstStyle/>
            <a:p>
              <a:pPr algn="l"/>
              <a:r>
                <a:rPr lang="tr-TR" sz="2850" b="1" dirty="0">
                  <a:solidFill>
                    <a:srgbClr val="F7FAFC"/>
                  </a:solidFill>
                  <a:latin typeface="+mj-lt"/>
                  <a:ea typeface="+mj-ea"/>
                  <a:cs typeface="+mj-cs"/>
                </a:rPr>
                <a:t>HTTPS: kilit simgesinden fazlası</a:t>
              </a:r>
            </a:p>
          </p:txBody>
        </p:sp>
      </p:grpSp>
      <p:grpSp>
        <p:nvGrpSpPr>
          <p:cNvPr id="7" name="lead"/>
          <p:cNvGrpSpPr/>
          <p:nvPr/>
        </p:nvGrpSpPr>
        <p:grpSpPr>
          <a:xfrm>
            <a:off x="561594" y="1465898"/>
            <a:ext cx="8869776" cy="381381"/>
            <a:chOff x="561594" y="1465898"/>
            <a:chExt cx="8869776" cy="381381"/>
          </a:xfrm>
        </p:grpSpPr>
        <p:sp>
          <p:nvSpPr>
            <p:cNvPr id="6" name="TextBox 6"/>
            <p:cNvSpPr txBox="1"/>
            <p:nvPr/>
          </p:nvSpPr>
          <p:spPr>
            <a:xfrm>
              <a:off x="561594" y="1465898"/>
              <a:ext cx="8869776" cy="381381"/>
            </a:xfrm>
            <a:prstGeom prst="rect">
              <a:avLst/>
            </a:prstGeom>
            <a:noFill/>
            <a:ln>
              <a:noFill/>
            </a:ln>
          </p:spPr>
          <p:txBody>
            <a:bodyPr wrap="none" lIns="0" tIns="0" rIns="0" bIns="0" anchor="t" anchorCtr="0">
              <a:spAutoFit/>
            </a:bodyPr>
            <a:lstStyle/>
            <a:p>
              <a:pPr algn="l"/>
              <a:r>
                <a:rPr lang="tr-TR" sz="1950" dirty="0">
                  <a:solidFill>
                    <a:srgbClr val="2E86AB"/>
                  </a:solidFill>
                  <a:latin typeface="+mn-lt"/>
                  <a:ea typeface="+mn-ea"/>
                  <a:cs typeface="+mn-cs"/>
                </a:rPr>
                <a:t>HTTPS, HTTP’nin TLS ile şifrelenmiş sürümüdür (TLS 1.3, RFC 8446).</a:t>
              </a:r>
            </a:p>
          </p:txBody>
        </p:sp>
      </p:grpSp>
      <p:grpSp>
        <p:nvGrpSpPr>
          <p:cNvPr id="11" name="guarantee-gizlilik"/>
          <p:cNvGrpSpPr/>
          <p:nvPr/>
        </p:nvGrpSpPr>
        <p:grpSpPr>
          <a:xfrm>
            <a:off x="560070" y="2286000"/>
            <a:ext cx="3440430" cy="1395317"/>
            <a:chOff x="560070" y="2286000"/>
            <a:chExt cx="3440430" cy="1395317"/>
          </a:xfrm>
        </p:grpSpPr>
        <p:sp>
          <p:nvSpPr>
            <p:cNvPr id="8" name="Rectangle 8"/>
            <p:cNvSpPr/>
            <p:nvPr/>
          </p:nvSpPr>
          <p:spPr>
            <a:xfrm>
              <a:off x="571500" y="2286000"/>
              <a:ext cx="3429000" cy="57150"/>
            </a:xfrm>
            <a:prstGeom prst="rect">
              <a:avLst/>
            </a:prstGeom>
            <a:solidFill>
              <a:srgbClr val="00A6A6"/>
            </a:solidFill>
            <a:ln>
              <a:noFill/>
            </a:ln>
          </p:spPr>
        </p:sp>
        <p:sp>
          <p:nvSpPr>
            <p:cNvPr id="9" name="TextBox 9"/>
            <p:cNvSpPr txBox="1"/>
            <p:nvPr/>
          </p:nvSpPr>
          <p:spPr>
            <a:xfrm>
              <a:off x="560070" y="2614612"/>
              <a:ext cx="1031774" cy="440055"/>
            </a:xfrm>
            <a:prstGeom prst="rect">
              <a:avLst/>
            </a:prstGeom>
            <a:noFill/>
            <a:ln>
              <a:noFill/>
            </a:ln>
          </p:spPr>
          <p:txBody>
            <a:bodyPr wrap="none" lIns="0" tIns="0" rIns="0" bIns="0" anchor="t" anchorCtr="0">
              <a:spAutoFit/>
            </a:bodyPr>
            <a:lstStyle/>
            <a:p>
              <a:pPr algn="l"/>
              <a:r>
                <a:rPr lang="tr-TR" sz="2250" b="1" dirty="0">
                  <a:solidFill>
                    <a:srgbClr val="12355B"/>
                  </a:solidFill>
                  <a:latin typeface="+mn-lt"/>
                  <a:ea typeface="+mn-ea"/>
                  <a:cs typeface="+mn-cs"/>
                </a:rPr>
                <a:t>Gizlilik</a:t>
              </a:r>
            </a:p>
          </p:txBody>
        </p:sp>
        <p:sp>
          <p:nvSpPr>
            <p:cNvPr id="10" name="TextBox 10"/>
            <p:cNvSpPr txBox="1"/>
            <p:nvPr/>
          </p:nvSpPr>
          <p:spPr>
            <a:xfrm>
              <a:off x="563499" y="3106579"/>
              <a:ext cx="2965704"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52616B"/>
                  </a:solidFill>
                  <a:latin typeface="+mn-lt"/>
                  <a:ea typeface="+mn-ea"/>
                  <a:cs typeface="+mn-cs"/>
                </a:rPr>
                <a:t>İletişim, ağ üzerindeki üçüncü</a:t>
              </a:r>
              <a:br/>
              <a:r>
                <a:rPr lang="tr-TR" sz="1580" dirty="0">
                  <a:solidFill>
                    <a:srgbClr val="52616B"/>
                  </a:solidFill>
                  <a:latin typeface="+mn-lt"/>
                  <a:ea typeface="+mn-ea"/>
                  <a:cs typeface="+mn-cs"/>
                </a:rPr>
                <a:t>kişiler tarafından okunamaz.</a:t>
              </a:r>
            </a:p>
          </p:txBody>
        </p:sp>
      </p:grpSp>
      <p:grpSp>
        <p:nvGrpSpPr>
          <p:cNvPr id="15" name="guarantee-butunluk"/>
          <p:cNvGrpSpPr/>
          <p:nvPr/>
        </p:nvGrpSpPr>
        <p:grpSpPr>
          <a:xfrm>
            <a:off x="4370070" y="2286000"/>
            <a:ext cx="3440430" cy="1395317"/>
            <a:chOff x="4370070" y="2286000"/>
            <a:chExt cx="3440430" cy="1395317"/>
          </a:xfrm>
        </p:grpSpPr>
        <p:sp>
          <p:nvSpPr>
            <p:cNvPr id="12" name="Rectangle 12"/>
            <p:cNvSpPr/>
            <p:nvPr/>
          </p:nvSpPr>
          <p:spPr>
            <a:xfrm>
              <a:off x="4381500" y="2286000"/>
              <a:ext cx="3429000" cy="57150"/>
            </a:xfrm>
            <a:prstGeom prst="rect">
              <a:avLst/>
            </a:prstGeom>
            <a:solidFill>
              <a:srgbClr val="00A6A6"/>
            </a:solidFill>
            <a:ln>
              <a:noFill/>
            </a:ln>
          </p:spPr>
        </p:sp>
        <p:sp>
          <p:nvSpPr>
            <p:cNvPr id="13" name="TextBox 13"/>
            <p:cNvSpPr txBox="1"/>
            <p:nvPr/>
          </p:nvSpPr>
          <p:spPr>
            <a:xfrm>
              <a:off x="4370070" y="2614612"/>
              <a:ext cx="1352064" cy="440055"/>
            </a:xfrm>
            <a:prstGeom prst="rect">
              <a:avLst/>
            </a:prstGeom>
            <a:noFill/>
            <a:ln>
              <a:noFill/>
            </a:ln>
          </p:spPr>
          <p:txBody>
            <a:bodyPr wrap="none" lIns="0" tIns="0" rIns="0" bIns="0" anchor="t" anchorCtr="0">
              <a:spAutoFit/>
            </a:bodyPr>
            <a:lstStyle/>
            <a:p>
              <a:pPr algn="l"/>
              <a:r>
                <a:rPr lang="tr-TR" sz="2250" b="1" dirty="0">
                  <a:solidFill>
                    <a:srgbClr val="12355B"/>
                  </a:solidFill>
                  <a:latin typeface="+mn-lt"/>
                  <a:ea typeface="+mn-ea"/>
                  <a:cs typeface="+mn-cs"/>
                </a:rPr>
                <a:t>Bütünlük</a:t>
              </a:r>
            </a:p>
          </p:txBody>
        </p:sp>
        <p:sp>
          <p:nvSpPr>
            <p:cNvPr id="14" name="TextBox 14"/>
            <p:cNvSpPr txBox="1"/>
            <p:nvPr/>
          </p:nvSpPr>
          <p:spPr>
            <a:xfrm>
              <a:off x="4373499" y="3106579"/>
              <a:ext cx="2504186"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52616B"/>
                  </a:solidFill>
                  <a:latin typeface="+mn-lt"/>
                  <a:ea typeface="+mn-ea"/>
                  <a:cs typeface="+mn-cs"/>
                </a:rPr>
                <a:t>İletilen veri yolda fark</a:t>
              </a:r>
              <a:br/>
              <a:r>
                <a:rPr lang="tr-TR" sz="1580" dirty="0">
                  <a:solidFill>
                    <a:srgbClr val="52616B"/>
                  </a:solidFill>
                  <a:latin typeface="+mn-lt"/>
                  <a:ea typeface="+mn-ea"/>
                  <a:cs typeface="+mn-cs"/>
                </a:rPr>
                <a:t>edilmeden değiştirilemez.</a:t>
              </a:r>
            </a:p>
          </p:txBody>
        </p:sp>
      </p:grpSp>
      <p:grpSp>
        <p:nvGrpSpPr>
          <p:cNvPr id="19" name="guarantee-kimlik"/>
          <p:cNvGrpSpPr/>
          <p:nvPr/>
        </p:nvGrpSpPr>
        <p:grpSpPr>
          <a:xfrm>
            <a:off x="8180070" y="2286000"/>
            <a:ext cx="3440430" cy="1395317"/>
            <a:chOff x="8180070" y="2286000"/>
            <a:chExt cx="3440430" cy="1395317"/>
          </a:xfrm>
        </p:grpSpPr>
        <p:sp>
          <p:nvSpPr>
            <p:cNvPr id="16" name="Rectangle 16"/>
            <p:cNvSpPr/>
            <p:nvPr/>
          </p:nvSpPr>
          <p:spPr>
            <a:xfrm>
              <a:off x="8191500" y="2286000"/>
              <a:ext cx="3429000" cy="57150"/>
            </a:xfrm>
            <a:prstGeom prst="rect">
              <a:avLst/>
            </a:prstGeom>
            <a:solidFill>
              <a:srgbClr val="00A6A6"/>
            </a:solidFill>
            <a:ln>
              <a:noFill/>
            </a:ln>
          </p:spPr>
        </p:sp>
        <p:sp>
          <p:nvSpPr>
            <p:cNvPr id="17" name="TextBox 17"/>
            <p:cNvSpPr txBox="1"/>
            <p:nvPr/>
          </p:nvSpPr>
          <p:spPr>
            <a:xfrm>
              <a:off x="8180070" y="2614612"/>
              <a:ext cx="2560817" cy="440055"/>
            </a:xfrm>
            <a:prstGeom prst="rect">
              <a:avLst/>
            </a:prstGeom>
            <a:noFill/>
            <a:ln>
              <a:noFill/>
            </a:ln>
          </p:spPr>
          <p:txBody>
            <a:bodyPr wrap="none" lIns="0" tIns="0" rIns="0" bIns="0" anchor="t" anchorCtr="0">
              <a:spAutoFit/>
            </a:bodyPr>
            <a:lstStyle/>
            <a:p>
              <a:pPr algn="l"/>
              <a:r>
                <a:rPr lang="tr-TR" sz="2250" b="1" dirty="0">
                  <a:solidFill>
                    <a:srgbClr val="12355B"/>
                  </a:solidFill>
                  <a:latin typeface="+mn-lt"/>
                  <a:ea typeface="+mn-ea"/>
                  <a:cs typeface="+mn-cs"/>
                </a:rPr>
                <a:t>Kimlik doğrulama</a:t>
              </a:r>
            </a:p>
          </p:txBody>
        </p:sp>
        <p:sp>
          <p:nvSpPr>
            <p:cNvPr id="18" name="TextBox 18"/>
            <p:cNvSpPr txBox="1"/>
            <p:nvPr/>
          </p:nvSpPr>
          <p:spPr>
            <a:xfrm>
              <a:off x="8183499" y="3106579"/>
              <a:ext cx="2574417"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52616B"/>
                  </a:solidFill>
                  <a:latin typeface="+mn-lt"/>
                  <a:ea typeface="+mn-ea"/>
                  <a:cs typeface="+mn-cs"/>
                </a:rPr>
                <a:t>Sertifika, doğru sunucuya</a:t>
              </a:r>
              <a:br/>
              <a:r>
                <a:rPr lang="tr-TR" sz="1580" dirty="0">
                  <a:solidFill>
                    <a:srgbClr val="52616B"/>
                  </a:solidFill>
                  <a:latin typeface="+mn-lt"/>
                  <a:ea typeface="+mn-ea"/>
                  <a:cs typeface="+mn-cs"/>
                </a:rPr>
                <a:t>bağlanıldığını denetler.</a:t>
              </a:r>
            </a:p>
          </p:txBody>
        </p:sp>
      </p:grpSp>
      <p:grpSp>
        <p:nvGrpSpPr>
          <p:cNvPr id="24" name="https-limits"/>
          <p:cNvGrpSpPr/>
          <p:nvPr/>
        </p:nvGrpSpPr>
        <p:grpSpPr>
          <a:xfrm>
            <a:off x="571500" y="4476750"/>
            <a:ext cx="11049000" cy="1428750"/>
            <a:chOff x="571500" y="4476750"/>
            <a:chExt cx="11049000" cy="1428750"/>
          </a:xfrm>
        </p:grpSpPr>
        <p:sp>
          <p:nvSpPr>
            <p:cNvPr id="20" name="Rectangle 20"/>
            <p:cNvSpPr/>
            <p:nvPr/>
          </p:nvSpPr>
          <p:spPr>
            <a:xfrm>
              <a:off x="571500" y="4476750"/>
              <a:ext cx="11049000" cy="1428750"/>
            </a:xfrm>
            <a:prstGeom prst="rect">
              <a:avLst/>
            </a:prstGeom>
            <a:solidFill>
              <a:srgbClr val="EAF4F6"/>
            </a:solidFill>
            <a:ln>
              <a:noFill/>
            </a:ln>
          </p:spPr>
        </p:sp>
        <p:sp>
          <p:nvSpPr>
            <p:cNvPr id="21" name="Rectangle 21"/>
            <p:cNvSpPr/>
            <p:nvPr/>
          </p:nvSpPr>
          <p:spPr>
            <a:xfrm>
              <a:off x="571500" y="4476750"/>
              <a:ext cx="57150" cy="1428750"/>
            </a:xfrm>
            <a:prstGeom prst="rect">
              <a:avLst/>
            </a:prstGeom>
            <a:solidFill>
              <a:srgbClr val="2E86AB"/>
            </a:solidFill>
            <a:ln>
              <a:noFill/>
            </a:ln>
          </p:spPr>
        </p:sp>
        <p:sp>
          <p:nvSpPr>
            <p:cNvPr id="22" name="TextBox 22"/>
            <p:cNvSpPr txBox="1"/>
            <p:nvPr/>
          </p:nvSpPr>
          <p:spPr>
            <a:xfrm>
              <a:off x="866394" y="4647248"/>
              <a:ext cx="2645620"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HTTPS neyi çözmez?</a:t>
              </a:r>
            </a:p>
          </p:txBody>
        </p:sp>
        <p:sp>
          <p:nvSpPr>
            <p:cNvPr id="23" name="TextBox 23"/>
            <p:cNvSpPr txBox="1"/>
            <p:nvPr/>
          </p:nvSpPr>
          <p:spPr>
            <a:xfrm>
              <a:off x="867156" y="5063490"/>
              <a:ext cx="9619488" cy="675894"/>
            </a:xfrm>
            <a:prstGeom prst="rect">
              <a:avLst/>
            </a:prstGeom>
            <a:noFill/>
            <a:ln>
              <a:noFill/>
            </a:ln>
          </p:spPr>
          <p:txBody>
            <a:bodyPr wrap="none" lIns="0" tIns="0" rIns="0" bIns="0" anchor="t" anchorCtr="0">
              <a:spAutoFit/>
            </a:bodyPr>
            <a:lstStyle/>
            <a:p>
              <a:pPr algn="l">
                <a:lnSpc>
                  <a:spcPts val="2550"/>
                </a:lnSpc>
              </a:pPr>
              <a:r>
                <a:rPr lang="tr-TR" sz="1800" dirty="0">
                  <a:solidFill>
                    <a:srgbClr val="172B3A"/>
                  </a:solidFill>
                  <a:latin typeface="+mn-lt"/>
                  <a:ea typeface="+mn-ea"/>
                  <a:cs typeface="+mn-cs"/>
                </a:rPr>
                <a:t>Uygulama içindeki yetkilendirme veya girdi doğrulama açıklarını kapatmaz; sunucudaki</a:t>
              </a:r>
              <a:br/>
              <a:r>
                <a:rPr lang="tr-TR" sz="1800" dirty="0">
                  <a:solidFill>
                    <a:srgbClr val="172B3A"/>
                  </a:solidFill>
                  <a:latin typeface="+mn-lt"/>
                  <a:ea typeface="+mn-ea"/>
                  <a:cs typeface="+mn-cs"/>
                </a:rPr>
                <a:t>güvensiz günlükleri korumaz. Şifreli bağlantı, uygulama katmanının yerini almaz.</a:t>
              </a:r>
            </a:p>
          </p:txBody>
        </p:sp>
      </p:grpSp>
      <p:grpSp>
        <p:nvGrpSpPr>
          <p:cNvPr id="26" name="forward-ref"/>
          <p:cNvGrpSpPr/>
          <p:nvPr/>
        </p:nvGrpSpPr>
        <p:grpSpPr>
          <a:xfrm>
            <a:off x="563499" y="6002179"/>
            <a:ext cx="8729741" cy="308039"/>
            <a:chOff x="563499" y="6002179"/>
            <a:chExt cx="8729741" cy="308039"/>
          </a:xfrm>
        </p:grpSpPr>
        <p:sp>
          <p:nvSpPr>
            <p:cNvPr id="25" name="TextBox 25"/>
            <p:cNvSpPr txBox="1"/>
            <p:nvPr/>
          </p:nvSpPr>
          <p:spPr>
            <a:xfrm>
              <a:off x="563499" y="6002179"/>
              <a:ext cx="8729741"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Sertifika ve TLS ayarlarının sunucuda nasıl kurulduğu Bölüm 15’te gösterilecektir.</a:t>
              </a:r>
            </a:p>
          </p:txBody>
        </p:sp>
      </p:grpSp>
      <p:grpSp>
        <p:nvGrpSpPr>
          <p:cNvPr id="29" name="footer"/>
          <p:cNvGrpSpPr/>
          <p:nvPr/>
        </p:nvGrpSpPr>
        <p:grpSpPr>
          <a:xfrm>
            <a:off x="565404" y="6404610"/>
            <a:ext cx="11061192" cy="234696"/>
            <a:chOff x="565404" y="6404610"/>
            <a:chExt cx="11061192" cy="234696"/>
          </a:xfrm>
        </p:grpSpPr>
        <p:sp>
          <p:nvSpPr>
            <p:cNvPr id="27" name="TextBox 27"/>
            <p:cNvSpPr txBox="1"/>
            <p:nvPr/>
          </p:nvSpPr>
          <p:spPr>
            <a:xfrm>
              <a:off x="565404" y="6404610"/>
              <a:ext cx="496284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Bölüm 1 · Modern Backend Programlamaya Giriş ve Web Mimarisi</a:t>
              </a:r>
            </a:p>
          </p:txBody>
        </p:sp>
        <p:sp>
          <p:nvSpPr>
            <p:cNvPr id="28" name="TextBox 28"/>
            <p:cNvSpPr txBox="1"/>
            <p:nvPr/>
          </p:nvSpPr>
          <p:spPr>
            <a:xfrm>
              <a:off x="11436706" y="640461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12</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2" name="title"/>
          <p:cNvGrpSpPr/>
          <p:nvPr/>
        </p:nvGrpSpPr>
        <p:grpSpPr>
          <a:xfrm>
            <a:off x="0" y="0"/>
            <a:ext cx="12192000" cy="952500"/>
            <a:chOff x="0" y="0"/>
            <a:chExt cx="12192000" cy="952500"/>
          </a:xfrm>
        </p:grpSpPr>
        <p:sp>
          <p:nvSpPr>
            <p:cNvPr id="2" name="Rectangle 2"/>
            <p:cNvSpPr/>
            <p:nvPr/>
          </p:nvSpPr>
          <p:spPr>
            <a:xfrm>
              <a:off x="0" y="0"/>
              <a:ext cx="12192000" cy="914400"/>
            </a:xfrm>
            <a:prstGeom prst="rect">
              <a:avLst/>
            </a:prstGeom>
            <a:solidFill>
              <a:srgbClr val="12355B"/>
            </a:solidFill>
            <a:ln>
              <a:noFill/>
            </a:ln>
          </p:spPr>
        </p:sp>
        <p:sp>
          <p:nvSpPr>
            <p:cNvPr id="3" name="Rectangle 3"/>
            <p:cNvSpPr/>
            <p:nvPr/>
          </p:nvSpPr>
          <p:spPr>
            <a:xfrm>
              <a:off x="0" y="914400"/>
              <a:ext cx="12192000" cy="38100"/>
            </a:xfrm>
            <a:prstGeom prst="rect">
              <a:avLst/>
            </a:prstGeom>
            <a:solidFill>
              <a:srgbClr val="00A6A6"/>
            </a:solidFill>
            <a:ln>
              <a:noFill/>
            </a:ln>
          </p:spPr>
        </p:sp>
        <p:grpSp>
          <p:nvGrpSpPr>
            <p:cNvPr id="10" name="icon-badge"/>
            <p:cNvGrpSpPr/>
            <p:nvPr/>
          </p:nvGrpSpPr>
          <p:grpSpPr>
            <a:xfrm>
              <a:off x="571500" y="171450"/>
              <a:ext cx="571500" cy="571500"/>
              <a:chOff x="571500" y="171450"/>
              <a:chExt cx="571500" cy="571500"/>
            </a:xfrm>
          </p:grpSpPr>
          <p:sp>
            <p:nvSpPr>
              <p:cNvPr id="4" name="Ellipse 4"/>
              <p:cNvSpPr/>
              <p:nvPr/>
            </p:nvSpPr>
            <p:spPr>
              <a:xfrm>
                <a:off x="571500" y="171450"/>
                <a:ext cx="571500" cy="571500"/>
              </a:xfrm>
              <a:prstGeom prst="ellipse">
                <a:avLst/>
              </a:prstGeom>
              <a:solidFill>
                <a:srgbClr val="00A6A6"/>
              </a:solidFill>
              <a:ln>
                <a:noFill/>
              </a:ln>
            </p:spPr>
          </p:sp>
          <p:grpSp>
            <p:nvGrpSpPr>
              <p:cNvPr id="9" name="Group 9"/>
              <p:cNvGrpSpPr/>
              <p:nvPr/>
            </p:nvGrpSpPr>
            <p:grpSpPr>
              <a:xfrm>
                <a:off x="724376" y="324326"/>
                <a:ext cx="265748" cy="265748"/>
                <a:chOff x="724376" y="324326"/>
                <a:chExt cx="265748" cy="265748"/>
              </a:xfrm>
            </p:grpSpPr>
            <p:sp>
              <p:nvSpPr>
                <p:cNvPr id="5" name="Freeform 5"/>
                <p:cNvSpPr/>
                <p:nvPr/>
              </p:nvSpPr>
              <p:spPr>
                <a:xfrm>
                  <a:off x="724376" y="427672"/>
                  <a:ext cx="132874" cy="73819"/>
                </a:xfrm>
                <a:custGeom>
                  <a:avLst/>
                  <a:gdLst/>
                  <a:ahLst/>
                  <a:cxnLst/>
                  <a:rect l="l" t="t" r="r" b="b"/>
                  <a:pathLst>
                    <a:path w="132874" h="73819">
                      <a:moveTo>
                        <a:pt x="132874" y="73819"/>
                      </a:moveTo>
                      <a:lnTo>
                        <a:pt x="36909" y="73819"/>
                      </a:lnTo>
                      <a:cubicBezTo>
                        <a:pt x="16525" y="73819"/>
                        <a:pt x="0" y="57294"/>
                        <a:pt x="0" y="36909"/>
                      </a:cubicBezTo>
                      <a:cubicBezTo>
                        <a:pt x="0" y="16525"/>
                        <a:pt x="16525" y="0"/>
                        <a:pt x="36909" y="0"/>
                      </a:cubicBezTo>
                      <a:lnTo>
                        <a:pt x="44291" y="0"/>
                      </a:lnTo>
                    </a:path>
                  </a:pathLst>
                </a:custGeom>
                <a:noFill/>
                <a:ln w="24759" cap="rnd">
                  <a:solidFill>
                    <a:srgbClr val="FFFFFF"/>
                  </a:solidFill>
                  <a:round/>
                </a:ln>
              </p:spPr>
            </p:sp>
            <p:sp>
              <p:nvSpPr>
                <p:cNvPr id="6" name="Freeform 6"/>
                <p:cNvSpPr/>
                <p:nvPr/>
              </p:nvSpPr>
              <p:spPr>
                <a:xfrm>
                  <a:off x="827722" y="457200"/>
                  <a:ext cx="73819" cy="132874"/>
                </a:xfrm>
                <a:custGeom>
                  <a:avLst/>
                  <a:gdLst/>
                  <a:ahLst/>
                  <a:cxnLst/>
                  <a:rect l="l" t="t" r="r" b="b"/>
                  <a:pathLst>
                    <a:path w="73819" h="132874">
                      <a:moveTo>
                        <a:pt x="73819" y="0"/>
                      </a:moveTo>
                      <a:lnTo>
                        <a:pt x="73819" y="95964"/>
                      </a:lnTo>
                      <a:cubicBezTo>
                        <a:pt x="73819" y="116349"/>
                        <a:pt x="57294" y="132874"/>
                        <a:pt x="36909" y="132874"/>
                      </a:cubicBezTo>
                      <a:cubicBezTo>
                        <a:pt x="16525" y="132874"/>
                        <a:pt x="0" y="116349"/>
                        <a:pt x="0" y="95964"/>
                      </a:cubicBezTo>
                      <a:lnTo>
                        <a:pt x="0" y="88582"/>
                      </a:lnTo>
                    </a:path>
                  </a:pathLst>
                </a:custGeom>
                <a:noFill/>
                <a:ln w="24759" cap="rnd">
                  <a:solidFill>
                    <a:srgbClr val="FFFFFF"/>
                  </a:solidFill>
                  <a:round/>
                </a:ln>
              </p:spPr>
            </p:sp>
            <p:sp>
              <p:nvSpPr>
                <p:cNvPr id="7" name="Freeform 7"/>
                <p:cNvSpPr/>
                <p:nvPr/>
              </p:nvSpPr>
              <p:spPr>
                <a:xfrm>
                  <a:off x="857250" y="412909"/>
                  <a:ext cx="132874" cy="73819"/>
                </a:xfrm>
                <a:custGeom>
                  <a:avLst/>
                  <a:gdLst/>
                  <a:ahLst/>
                  <a:cxnLst/>
                  <a:rect l="l" t="t" r="r" b="b"/>
                  <a:pathLst>
                    <a:path w="132874" h="73819">
                      <a:moveTo>
                        <a:pt x="0" y="0"/>
                      </a:moveTo>
                      <a:lnTo>
                        <a:pt x="95964" y="0"/>
                      </a:lnTo>
                      <a:cubicBezTo>
                        <a:pt x="116349" y="0"/>
                        <a:pt x="132874" y="16525"/>
                        <a:pt x="132874" y="36909"/>
                      </a:cubicBezTo>
                      <a:cubicBezTo>
                        <a:pt x="132874" y="57294"/>
                        <a:pt x="116349" y="73819"/>
                        <a:pt x="95964" y="73819"/>
                      </a:cubicBezTo>
                      <a:lnTo>
                        <a:pt x="88583" y="73819"/>
                      </a:lnTo>
                    </a:path>
                  </a:pathLst>
                </a:custGeom>
                <a:noFill/>
                <a:ln w="24759" cap="rnd">
                  <a:solidFill>
                    <a:srgbClr val="FFFFFF"/>
                  </a:solidFill>
                  <a:round/>
                </a:ln>
              </p:spPr>
            </p:sp>
            <p:sp>
              <p:nvSpPr>
                <p:cNvPr id="8" name="Freeform 8"/>
                <p:cNvSpPr/>
                <p:nvPr/>
              </p:nvSpPr>
              <p:spPr>
                <a:xfrm>
                  <a:off x="812959" y="324326"/>
                  <a:ext cx="73819" cy="132874"/>
                </a:xfrm>
                <a:custGeom>
                  <a:avLst/>
                  <a:gdLst/>
                  <a:ahLst/>
                  <a:cxnLst/>
                  <a:rect l="l" t="t" r="r" b="b"/>
                  <a:pathLst>
                    <a:path w="73819" h="132874">
                      <a:moveTo>
                        <a:pt x="0" y="132874"/>
                      </a:moveTo>
                      <a:lnTo>
                        <a:pt x="0" y="36909"/>
                      </a:lnTo>
                      <a:cubicBezTo>
                        <a:pt x="0" y="16525"/>
                        <a:pt x="16525" y="0"/>
                        <a:pt x="36909" y="0"/>
                      </a:cubicBezTo>
                      <a:cubicBezTo>
                        <a:pt x="57294" y="0"/>
                        <a:pt x="73819" y="16525"/>
                        <a:pt x="73819" y="36909"/>
                      </a:cubicBezTo>
                      <a:lnTo>
                        <a:pt x="73819" y="44291"/>
                      </a:lnTo>
                    </a:path>
                  </a:pathLst>
                </a:custGeom>
                <a:noFill/>
                <a:ln w="24759" cap="rnd">
                  <a:solidFill>
                    <a:srgbClr val="FFFFFF"/>
                  </a:solidFill>
                  <a:round/>
                </a:ln>
              </p:spPr>
            </p:sp>
          </p:grpSp>
        </p:grpSp>
        <p:sp>
          <p:nvSpPr>
            <p:cNvPr id="11" name="TextBox 11"/>
            <p:cNvSpPr txBox="1"/>
            <p:nvPr/>
          </p:nvSpPr>
          <p:spPr>
            <a:xfrm>
              <a:off x="1261872" y="282892"/>
              <a:ext cx="5204944" cy="557403"/>
            </a:xfrm>
            <a:prstGeom prst="rect">
              <a:avLst/>
            </a:prstGeom>
            <a:noFill/>
            <a:ln>
              <a:noFill/>
            </a:ln>
          </p:spPr>
          <p:txBody>
            <a:bodyPr wrap="none" lIns="0" tIns="0" rIns="0" bIns="0" anchor="t" anchorCtr="0">
              <a:spAutoFit/>
            </a:bodyPr>
            <a:lstStyle/>
            <a:p>
              <a:pPr algn="l"/>
              <a:r>
                <a:rPr lang="tr-TR" sz="2850" b="1" dirty="0">
                  <a:solidFill>
                    <a:srgbClr val="F7FAFC"/>
                  </a:solidFill>
                  <a:latin typeface="+mj-lt"/>
                  <a:ea typeface="+mj-ea"/>
                  <a:cs typeface="+mj-cs"/>
                </a:rPr>
                <a:t>API sözleşmesi ve uç nokta</a:t>
              </a:r>
            </a:p>
          </p:txBody>
        </p:sp>
      </p:grpSp>
      <p:grpSp>
        <p:nvGrpSpPr>
          <p:cNvPr id="18" name="endpoint-anatomy"/>
          <p:cNvGrpSpPr/>
          <p:nvPr/>
        </p:nvGrpSpPr>
        <p:grpSpPr>
          <a:xfrm>
            <a:off x="563499" y="1428750"/>
            <a:ext cx="6104001" cy="1795368"/>
            <a:chOff x="563499" y="1428750"/>
            <a:chExt cx="6104001" cy="1795368"/>
          </a:xfrm>
        </p:grpSpPr>
        <p:sp>
          <p:nvSpPr>
            <p:cNvPr id="13" name="Rectangle 13"/>
            <p:cNvSpPr/>
            <p:nvPr/>
          </p:nvSpPr>
          <p:spPr>
            <a:xfrm>
              <a:off x="571500" y="1428750"/>
              <a:ext cx="6096000" cy="952500"/>
            </a:xfrm>
            <a:prstGeom prst="rect">
              <a:avLst/>
            </a:prstGeom>
            <a:solidFill>
              <a:srgbClr val="EAF4F6"/>
            </a:solidFill>
            <a:ln>
              <a:noFill/>
            </a:ln>
          </p:spPr>
        </p:sp>
        <p:sp>
          <p:nvSpPr>
            <p:cNvPr id="14" name="TextBox 14"/>
            <p:cNvSpPr txBox="1"/>
            <p:nvPr/>
          </p:nvSpPr>
          <p:spPr>
            <a:xfrm>
              <a:off x="868299" y="1849279"/>
              <a:ext cx="386822" cy="308039"/>
            </a:xfrm>
            <a:prstGeom prst="rect">
              <a:avLst/>
            </a:prstGeom>
            <a:noFill/>
            <a:ln>
              <a:noFill/>
            </a:ln>
          </p:spPr>
          <p:txBody>
            <a:bodyPr wrap="none" lIns="0" tIns="0" rIns="0" bIns="0" anchor="t" anchorCtr="0">
              <a:spAutoFit/>
            </a:bodyPr>
            <a:lstStyle/>
            <a:p>
              <a:pPr algn="l"/>
              <a:r>
                <a:rPr lang="tr-TR" sz="1580" b="1" dirty="0">
                  <a:solidFill>
                    <a:srgbClr val="00A6A6"/>
                  </a:solidFill>
                  <a:latin typeface="Consolas"/>
                  <a:ea typeface="Consolas"/>
                  <a:cs typeface="Consolas"/>
                </a:rPr>
                <a:t>GET</a:t>
              </a:r>
            </a:p>
          </p:txBody>
        </p:sp>
        <p:sp>
          <p:nvSpPr>
            <p:cNvPr id="15" name="TextBox 15"/>
            <p:cNvSpPr txBox="1"/>
            <p:nvPr/>
          </p:nvSpPr>
          <p:spPr>
            <a:xfrm>
              <a:off x="1420749" y="1849279"/>
              <a:ext cx="2706652" cy="308039"/>
            </a:xfrm>
            <a:prstGeom prst="rect">
              <a:avLst/>
            </a:prstGeom>
            <a:noFill/>
            <a:ln>
              <a:noFill/>
            </a:ln>
          </p:spPr>
          <p:txBody>
            <a:bodyPr wrap="none" lIns="0" tIns="0" rIns="0" bIns="0" anchor="t" anchorCtr="0">
              <a:spAutoFit/>
            </a:bodyPr>
            <a:lstStyle/>
            <a:p>
              <a:pPr algn="l"/>
              <a:r>
                <a:rPr lang="tr-TR" sz="1580" dirty="0">
                  <a:solidFill>
                    <a:srgbClr val="12355B"/>
                  </a:solidFill>
                  <a:latin typeface="Consolas"/>
                  <a:ea typeface="Consolas"/>
                  <a:cs typeface="Consolas"/>
                </a:rPr>
                <a:t>/api/ogrenciler/2026001</a:t>
              </a:r>
            </a:p>
          </p:txBody>
        </p:sp>
        <p:sp>
          <p:nvSpPr>
            <p:cNvPr id="16" name="TextBox 16"/>
            <p:cNvSpPr txBox="1"/>
            <p:nvPr/>
          </p:nvSpPr>
          <p:spPr>
            <a:xfrm>
              <a:off x="563499" y="2611279"/>
              <a:ext cx="3163924"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GET — istekte kullanılan metot</a:t>
              </a:r>
            </a:p>
          </p:txBody>
        </p:sp>
        <p:sp>
          <p:nvSpPr>
            <p:cNvPr id="17" name="TextBox 17"/>
            <p:cNvSpPr txBox="1"/>
            <p:nvPr/>
          </p:nvSpPr>
          <p:spPr>
            <a:xfrm>
              <a:off x="563499" y="2916079"/>
              <a:ext cx="4269994"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/api/ogrenciler/2026001 — uç nokta (yol)</a:t>
              </a:r>
            </a:p>
          </p:txBody>
        </p:sp>
      </p:grpSp>
      <p:grpSp>
        <p:nvGrpSpPr>
          <p:cNvPr id="27" name="contract-defines"/>
          <p:cNvGrpSpPr/>
          <p:nvPr/>
        </p:nvGrpSpPr>
        <p:grpSpPr>
          <a:xfrm>
            <a:off x="561594" y="3523298"/>
            <a:ext cx="4088359" cy="1549336"/>
            <a:chOff x="561594" y="3523298"/>
            <a:chExt cx="4088359" cy="1549336"/>
          </a:xfrm>
        </p:grpSpPr>
        <p:sp>
          <p:nvSpPr>
            <p:cNvPr id="19" name="TextBox 19"/>
            <p:cNvSpPr txBox="1"/>
            <p:nvPr/>
          </p:nvSpPr>
          <p:spPr>
            <a:xfrm>
              <a:off x="561594" y="3523298"/>
              <a:ext cx="3807778"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API sözleşmesi neyi belirler?</a:t>
              </a:r>
            </a:p>
          </p:txBody>
        </p:sp>
        <p:grpSp>
          <p:nvGrpSpPr>
            <p:cNvPr id="23" name="contract-bullets"/>
            <p:cNvGrpSpPr/>
            <p:nvPr/>
          </p:nvGrpSpPr>
          <p:grpSpPr>
            <a:xfrm>
              <a:off x="571500" y="4114800"/>
              <a:ext cx="76200" cy="800100"/>
              <a:chOff x="571500" y="4114800"/>
              <a:chExt cx="76200" cy="800100"/>
            </a:xfrm>
          </p:grpSpPr>
          <p:sp>
            <p:nvSpPr>
              <p:cNvPr id="20" name="Rectangle 20"/>
              <p:cNvSpPr/>
              <p:nvPr/>
            </p:nvSpPr>
            <p:spPr>
              <a:xfrm>
                <a:off x="571500" y="4114800"/>
                <a:ext cx="76200" cy="76200"/>
              </a:xfrm>
              <a:prstGeom prst="rect">
                <a:avLst/>
              </a:prstGeom>
              <a:solidFill>
                <a:srgbClr val="00A6A6"/>
              </a:solidFill>
              <a:ln>
                <a:noFill/>
              </a:ln>
            </p:spPr>
          </p:sp>
          <p:sp>
            <p:nvSpPr>
              <p:cNvPr id="21" name="Rectangle 21"/>
              <p:cNvSpPr/>
              <p:nvPr/>
            </p:nvSpPr>
            <p:spPr>
              <a:xfrm>
                <a:off x="571500" y="4476750"/>
                <a:ext cx="76200" cy="76200"/>
              </a:xfrm>
              <a:prstGeom prst="rect">
                <a:avLst/>
              </a:prstGeom>
              <a:solidFill>
                <a:srgbClr val="00A6A6"/>
              </a:solidFill>
              <a:ln>
                <a:noFill/>
              </a:ln>
            </p:spPr>
          </p:sp>
          <p:sp>
            <p:nvSpPr>
              <p:cNvPr id="22" name="Rectangle 22"/>
              <p:cNvSpPr/>
              <p:nvPr/>
            </p:nvSpPr>
            <p:spPr>
              <a:xfrm>
                <a:off x="571500" y="4838700"/>
                <a:ext cx="76200" cy="76200"/>
              </a:xfrm>
              <a:prstGeom prst="rect">
                <a:avLst/>
              </a:prstGeom>
              <a:solidFill>
                <a:srgbClr val="00A6A6"/>
              </a:solidFill>
              <a:ln>
                <a:noFill/>
              </a:ln>
            </p:spPr>
          </p:sp>
        </p:grpSp>
        <p:sp>
          <p:nvSpPr>
            <p:cNvPr id="24" name="TextBox 24"/>
            <p:cNvSpPr txBox="1"/>
            <p:nvPr/>
          </p:nvSpPr>
          <p:spPr>
            <a:xfrm>
              <a:off x="790956" y="3996690"/>
              <a:ext cx="2235479"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hangi adreslerden,</a:t>
              </a:r>
            </a:p>
          </p:txBody>
        </p:sp>
        <p:sp>
          <p:nvSpPr>
            <p:cNvPr id="25" name="TextBox 25"/>
            <p:cNvSpPr txBox="1"/>
            <p:nvPr/>
          </p:nvSpPr>
          <p:spPr>
            <a:xfrm>
              <a:off x="790956" y="4358640"/>
              <a:ext cx="2720111"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hangi veri biçimleriyle,</a:t>
              </a:r>
            </a:p>
          </p:txBody>
        </p:sp>
        <p:sp>
          <p:nvSpPr>
            <p:cNvPr id="26" name="TextBox 26"/>
            <p:cNvSpPr txBox="1"/>
            <p:nvPr/>
          </p:nvSpPr>
          <p:spPr>
            <a:xfrm>
              <a:off x="790956" y="4720590"/>
              <a:ext cx="3858997"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hangi kurallarla konuşulacağını.</a:t>
              </a:r>
            </a:p>
          </p:txBody>
        </p:sp>
      </p:grpSp>
      <p:grpSp>
        <p:nvGrpSpPr>
          <p:cNvPr id="40" name="status-codes"/>
          <p:cNvGrpSpPr/>
          <p:nvPr/>
        </p:nvGrpSpPr>
        <p:grpSpPr>
          <a:xfrm>
            <a:off x="7227570" y="1523048"/>
            <a:ext cx="4392930" cy="2979419"/>
            <a:chOff x="7227570" y="1523048"/>
            <a:chExt cx="4392930" cy="2979419"/>
          </a:xfrm>
        </p:grpSpPr>
        <p:sp>
          <p:nvSpPr>
            <p:cNvPr id="28" name="TextBox 28"/>
            <p:cNvSpPr txBox="1"/>
            <p:nvPr/>
          </p:nvSpPr>
          <p:spPr>
            <a:xfrm>
              <a:off x="7229094" y="1523048"/>
              <a:ext cx="1916814"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Durum kodları</a:t>
              </a:r>
            </a:p>
          </p:txBody>
        </p:sp>
        <p:sp>
          <p:nvSpPr>
            <p:cNvPr id="29" name="Line 29"/>
            <p:cNvSpPr/>
            <p:nvPr/>
          </p:nvSpPr>
          <p:spPr>
            <a:xfrm>
              <a:off x="7239000" y="1924050"/>
              <a:ext cx="4381500" cy="9525"/>
            </a:xfrm>
            <a:custGeom>
              <a:avLst/>
              <a:gdLst/>
              <a:ahLst/>
              <a:cxnLst/>
              <a:rect l="l" t="t" r="r" b="b"/>
              <a:pathLst>
                <a:path w="4381500" h="9525">
                  <a:moveTo>
                    <a:pt x="0" y="0"/>
                  </a:moveTo>
                  <a:lnTo>
                    <a:pt x="4381500" y="0"/>
                  </a:lnTo>
                </a:path>
              </a:pathLst>
            </a:custGeom>
            <a:noFill/>
            <a:ln w="19050">
              <a:solidFill>
                <a:srgbClr val="B8CBD3"/>
              </a:solidFill>
            </a:ln>
          </p:spPr>
        </p:sp>
        <p:grpSp>
          <p:nvGrpSpPr>
            <p:cNvPr id="34" name="status-code-labels"/>
            <p:cNvGrpSpPr/>
            <p:nvPr/>
          </p:nvGrpSpPr>
          <p:grpSpPr>
            <a:xfrm>
              <a:off x="7227570" y="2119312"/>
              <a:ext cx="547626" cy="2383155"/>
              <a:chOff x="7227570" y="2119312"/>
              <a:chExt cx="547626" cy="2383155"/>
            </a:xfrm>
          </p:grpSpPr>
          <p:sp>
            <p:nvSpPr>
              <p:cNvPr id="30" name="TextBox 30"/>
              <p:cNvSpPr txBox="1"/>
              <p:nvPr/>
            </p:nvSpPr>
            <p:spPr>
              <a:xfrm>
                <a:off x="7227570" y="2119312"/>
                <a:ext cx="547626" cy="440055"/>
              </a:xfrm>
              <a:prstGeom prst="rect">
                <a:avLst/>
              </a:prstGeom>
              <a:noFill/>
              <a:ln>
                <a:noFill/>
              </a:ln>
            </p:spPr>
            <p:txBody>
              <a:bodyPr wrap="none" lIns="0" tIns="0" rIns="0" bIns="0" anchor="t" anchorCtr="0">
                <a:spAutoFit/>
              </a:bodyPr>
              <a:lstStyle/>
              <a:p>
                <a:pPr algn="l"/>
                <a:r>
                  <a:rPr lang="tr-TR" sz="2250" b="1" dirty="0">
                    <a:solidFill>
                      <a:srgbClr val="00A6A6"/>
                    </a:solidFill>
                    <a:latin typeface="+mn-lt"/>
                    <a:ea typeface="+mn-ea"/>
                    <a:cs typeface="+mn-cs"/>
                  </a:rPr>
                  <a:t>200</a:t>
                </a:r>
              </a:p>
            </p:txBody>
          </p:sp>
          <p:sp>
            <p:nvSpPr>
              <p:cNvPr id="31" name="TextBox 31"/>
              <p:cNvSpPr txBox="1"/>
              <p:nvPr/>
            </p:nvSpPr>
            <p:spPr>
              <a:xfrm>
                <a:off x="7227570" y="2767012"/>
                <a:ext cx="547626" cy="440055"/>
              </a:xfrm>
              <a:prstGeom prst="rect">
                <a:avLst/>
              </a:prstGeom>
              <a:noFill/>
              <a:ln>
                <a:noFill/>
              </a:ln>
            </p:spPr>
            <p:txBody>
              <a:bodyPr wrap="none" lIns="0" tIns="0" rIns="0" bIns="0" anchor="t" anchorCtr="0">
                <a:spAutoFit/>
              </a:bodyPr>
              <a:lstStyle/>
              <a:p>
                <a:pPr algn="l"/>
                <a:r>
                  <a:rPr lang="tr-TR" sz="2250" b="1" dirty="0">
                    <a:solidFill>
                      <a:srgbClr val="00A6A6"/>
                    </a:solidFill>
                    <a:latin typeface="+mn-lt"/>
                    <a:ea typeface="+mn-ea"/>
                    <a:cs typeface="+mn-cs"/>
                  </a:rPr>
                  <a:t>400</a:t>
                </a:r>
              </a:p>
            </p:txBody>
          </p:sp>
          <p:sp>
            <p:nvSpPr>
              <p:cNvPr id="32" name="TextBox 32"/>
              <p:cNvSpPr txBox="1"/>
              <p:nvPr/>
            </p:nvSpPr>
            <p:spPr>
              <a:xfrm>
                <a:off x="7227570" y="3414712"/>
                <a:ext cx="547626" cy="440055"/>
              </a:xfrm>
              <a:prstGeom prst="rect">
                <a:avLst/>
              </a:prstGeom>
              <a:noFill/>
              <a:ln>
                <a:noFill/>
              </a:ln>
            </p:spPr>
            <p:txBody>
              <a:bodyPr wrap="none" lIns="0" tIns="0" rIns="0" bIns="0" anchor="t" anchorCtr="0">
                <a:spAutoFit/>
              </a:bodyPr>
              <a:lstStyle/>
              <a:p>
                <a:pPr algn="l"/>
                <a:r>
                  <a:rPr lang="tr-TR" sz="2250" b="1" dirty="0">
                    <a:solidFill>
                      <a:srgbClr val="00A6A6"/>
                    </a:solidFill>
                    <a:latin typeface="+mn-lt"/>
                    <a:ea typeface="+mn-ea"/>
                    <a:cs typeface="+mn-cs"/>
                  </a:rPr>
                  <a:t>401</a:t>
                </a:r>
              </a:p>
            </p:txBody>
          </p:sp>
          <p:sp>
            <p:nvSpPr>
              <p:cNvPr id="33" name="TextBox 33"/>
              <p:cNvSpPr txBox="1"/>
              <p:nvPr/>
            </p:nvSpPr>
            <p:spPr>
              <a:xfrm>
                <a:off x="7227570" y="4062412"/>
                <a:ext cx="547626" cy="440055"/>
              </a:xfrm>
              <a:prstGeom prst="rect">
                <a:avLst/>
              </a:prstGeom>
              <a:noFill/>
              <a:ln>
                <a:noFill/>
              </a:ln>
            </p:spPr>
            <p:txBody>
              <a:bodyPr wrap="none" lIns="0" tIns="0" rIns="0" bIns="0" anchor="t" anchorCtr="0">
                <a:spAutoFit/>
              </a:bodyPr>
              <a:lstStyle/>
              <a:p>
                <a:pPr algn="l"/>
                <a:r>
                  <a:rPr lang="tr-TR" sz="2250" b="1" dirty="0">
                    <a:solidFill>
                      <a:srgbClr val="00A6A6"/>
                    </a:solidFill>
                    <a:latin typeface="+mn-lt"/>
                    <a:ea typeface="+mn-ea"/>
                    <a:cs typeface="+mn-cs"/>
                  </a:rPr>
                  <a:t>404</a:t>
                </a:r>
              </a:p>
            </p:txBody>
          </p:sp>
        </p:grpSp>
        <p:grpSp>
          <p:nvGrpSpPr>
            <p:cNvPr id="39" name="status-code-meanings"/>
            <p:cNvGrpSpPr/>
            <p:nvPr/>
          </p:nvGrpSpPr>
          <p:grpSpPr>
            <a:xfrm>
              <a:off x="8183499" y="2192179"/>
              <a:ext cx="2770462" cy="2251139"/>
              <a:chOff x="8183499" y="2192179"/>
              <a:chExt cx="2770462" cy="2251139"/>
            </a:xfrm>
          </p:grpSpPr>
          <p:sp>
            <p:nvSpPr>
              <p:cNvPr id="35" name="TextBox 35"/>
              <p:cNvSpPr txBox="1"/>
              <p:nvPr/>
            </p:nvSpPr>
            <p:spPr>
              <a:xfrm>
                <a:off x="8183499" y="2192179"/>
                <a:ext cx="1547439"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başarılı yanıt</a:t>
                </a:r>
              </a:p>
            </p:txBody>
          </p:sp>
          <p:sp>
            <p:nvSpPr>
              <p:cNvPr id="36" name="TextBox 36"/>
              <p:cNvSpPr txBox="1"/>
              <p:nvPr/>
            </p:nvSpPr>
            <p:spPr>
              <a:xfrm>
                <a:off x="8183499" y="2839879"/>
                <a:ext cx="2504587"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gönderilen veri geçersiz</a:t>
                </a:r>
              </a:p>
            </p:txBody>
          </p:sp>
          <p:sp>
            <p:nvSpPr>
              <p:cNvPr id="37" name="TextBox 37"/>
              <p:cNvSpPr txBox="1"/>
              <p:nvPr/>
            </p:nvSpPr>
            <p:spPr>
              <a:xfrm>
                <a:off x="8183499" y="3487579"/>
                <a:ext cx="2302523"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kimlik doğrulama eksik</a:t>
                </a:r>
              </a:p>
            </p:txBody>
          </p:sp>
          <p:sp>
            <p:nvSpPr>
              <p:cNvPr id="38" name="TextBox 38"/>
              <p:cNvSpPr txBox="1"/>
              <p:nvPr/>
            </p:nvSpPr>
            <p:spPr>
              <a:xfrm>
                <a:off x="8183499" y="4135279"/>
                <a:ext cx="2770462"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istenen kaynak bulunamadı</a:t>
                </a:r>
              </a:p>
            </p:txBody>
          </p:sp>
        </p:grpSp>
      </p:grpSp>
      <p:grpSp>
        <p:nvGrpSpPr>
          <p:cNvPr id="44" name="contract-takeaway"/>
          <p:cNvGrpSpPr/>
          <p:nvPr/>
        </p:nvGrpSpPr>
        <p:grpSpPr>
          <a:xfrm>
            <a:off x="571500" y="5257800"/>
            <a:ext cx="11049000" cy="914400"/>
            <a:chOff x="571500" y="5257800"/>
            <a:chExt cx="11049000" cy="914400"/>
          </a:xfrm>
        </p:grpSpPr>
        <p:sp>
          <p:nvSpPr>
            <p:cNvPr id="41" name="Rectangle 41"/>
            <p:cNvSpPr/>
            <p:nvPr/>
          </p:nvSpPr>
          <p:spPr>
            <a:xfrm>
              <a:off x="571500" y="5257800"/>
              <a:ext cx="11049000" cy="914400"/>
            </a:xfrm>
            <a:prstGeom prst="rect">
              <a:avLst/>
            </a:prstGeom>
            <a:solidFill>
              <a:srgbClr val="EAF4F6"/>
            </a:solidFill>
            <a:ln>
              <a:noFill/>
            </a:ln>
          </p:spPr>
        </p:sp>
        <p:sp>
          <p:nvSpPr>
            <p:cNvPr id="42" name="Rectangle 42"/>
            <p:cNvSpPr/>
            <p:nvPr/>
          </p:nvSpPr>
          <p:spPr>
            <a:xfrm>
              <a:off x="571500" y="5257800"/>
              <a:ext cx="57150" cy="914400"/>
            </a:xfrm>
            <a:prstGeom prst="rect">
              <a:avLst/>
            </a:prstGeom>
            <a:solidFill>
              <a:srgbClr val="00A6A6"/>
            </a:solidFill>
            <a:ln>
              <a:noFill/>
            </a:ln>
          </p:spPr>
        </p:sp>
        <p:sp>
          <p:nvSpPr>
            <p:cNvPr id="43" name="TextBox 43"/>
            <p:cNvSpPr txBox="1"/>
            <p:nvPr/>
          </p:nvSpPr>
          <p:spPr>
            <a:xfrm>
              <a:off x="867156" y="5463540"/>
              <a:ext cx="9642348" cy="675894"/>
            </a:xfrm>
            <a:prstGeom prst="rect">
              <a:avLst/>
            </a:prstGeom>
            <a:noFill/>
            <a:ln>
              <a:noFill/>
            </a:ln>
          </p:spPr>
          <p:txBody>
            <a:bodyPr wrap="none" lIns="0" tIns="0" rIns="0" bIns="0" anchor="t" anchorCtr="0">
              <a:spAutoFit/>
            </a:bodyPr>
            <a:lstStyle/>
            <a:p>
              <a:pPr algn="l">
                <a:lnSpc>
                  <a:spcPts val="2550"/>
                </a:lnSpc>
              </a:pPr>
              <a:r>
                <a:rPr lang="tr-TR" sz="1800" dirty="0">
                  <a:solidFill>
                    <a:srgbClr val="172B3A"/>
                  </a:solidFill>
                  <a:latin typeface="+mn-lt"/>
                  <a:ea typeface="+mn-ea"/>
                  <a:cs typeface="+mn-cs"/>
                </a:rPr>
                <a:t>Sözleşme, ekipler arasındaki belirsizliği azaltır: aynı sözleşmeyi okuyan iki geliştirici</a:t>
              </a:r>
              <a:br/>
              <a:r>
                <a:rPr lang="tr-TR" sz="1800" dirty="0">
                  <a:solidFill>
                    <a:srgbClr val="172B3A"/>
                  </a:solidFill>
                  <a:latin typeface="+mn-lt"/>
                  <a:ea typeface="+mn-ea"/>
                  <a:cs typeface="+mn-cs"/>
                </a:rPr>
                <a:t>uyumlu istemci ve sunucu kodu yazabilir.</a:t>
              </a:r>
            </a:p>
          </p:txBody>
        </p:sp>
      </p:grpSp>
      <p:grpSp>
        <p:nvGrpSpPr>
          <p:cNvPr id="47" name="footer"/>
          <p:cNvGrpSpPr/>
          <p:nvPr/>
        </p:nvGrpSpPr>
        <p:grpSpPr>
          <a:xfrm>
            <a:off x="565404" y="6404610"/>
            <a:ext cx="11061192" cy="234696"/>
            <a:chOff x="565404" y="6404610"/>
            <a:chExt cx="11061192" cy="234696"/>
          </a:xfrm>
        </p:grpSpPr>
        <p:sp>
          <p:nvSpPr>
            <p:cNvPr id="45" name="TextBox 45"/>
            <p:cNvSpPr txBox="1"/>
            <p:nvPr/>
          </p:nvSpPr>
          <p:spPr>
            <a:xfrm>
              <a:off x="565404" y="6404610"/>
              <a:ext cx="496284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Bölüm 1 · Modern Backend Programlamaya Giriş ve Web Mimarisi</a:t>
              </a:r>
            </a:p>
          </p:txBody>
        </p:sp>
        <p:sp>
          <p:nvSpPr>
            <p:cNvPr id="46" name="TextBox 46"/>
            <p:cNvSpPr txBox="1"/>
            <p:nvPr/>
          </p:nvSpPr>
          <p:spPr>
            <a:xfrm>
              <a:off x="11436706" y="640461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13</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2" name="title"/>
          <p:cNvGrpSpPr/>
          <p:nvPr/>
        </p:nvGrpSpPr>
        <p:grpSpPr>
          <a:xfrm>
            <a:off x="0" y="0"/>
            <a:ext cx="12192000" cy="952500"/>
            <a:chOff x="0" y="0"/>
            <a:chExt cx="12192000" cy="952500"/>
          </a:xfrm>
        </p:grpSpPr>
        <p:sp>
          <p:nvSpPr>
            <p:cNvPr id="2" name="Rectangle 2"/>
            <p:cNvSpPr/>
            <p:nvPr/>
          </p:nvSpPr>
          <p:spPr>
            <a:xfrm>
              <a:off x="0" y="0"/>
              <a:ext cx="12192000" cy="914400"/>
            </a:xfrm>
            <a:prstGeom prst="rect">
              <a:avLst/>
            </a:prstGeom>
            <a:solidFill>
              <a:srgbClr val="12355B"/>
            </a:solidFill>
            <a:ln>
              <a:noFill/>
            </a:ln>
          </p:spPr>
        </p:sp>
        <p:sp>
          <p:nvSpPr>
            <p:cNvPr id="3" name="Rectangle 3"/>
            <p:cNvSpPr/>
            <p:nvPr/>
          </p:nvSpPr>
          <p:spPr>
            <a:xfrm>
              <a:off x="0" y="914400"/>
              <a:ext cx="12192000" cy="38100"/>
            </a:xfrm>
            <a:prstGeom prst="rect">
              <a:avLst/>
            </a:prstGeom>
            <a:solidFill>
              <a:srgbClr val="00A6A6"/>
            </a:solidFill>
            <a:ln>
              <a:noFill/>
            </a:ln>
          </p:spPr>
        </p:sp>
        <p:grpSp>
          <p:nvGrpSpPr>
            <p:cNvPr id="10" name="icon-badge"/>
            <p:cNvGrpSpPr/>
            <p:nvPr/>
          </p:nvGrpSpPr>
          <p:grpSpPr>
            <a:xfrm>
              <a:off x="571500" y="171450"/>
              <a:ext cx="571500" cy="571500"/>
              <a:chOff x="571500" y="171450"/>
              <a:chExt cx="571500" cy="571500"/>
            </a:xfrm>
          </p:grpSpPr>
          <p:sp>
            <p:nvSpPr>
              <p:cNvPr id="4" name="Ellipse 4"/>
              <p:cNvSpPr/>
              <p:nvPr/>
            </p:nvSpPr>
            <p:spPr>
              <a:xfrm>
                <a:off x="571500" y="171450"/>
                <a:ext cx="571500" cy="571500"/>
              </a:xfrm>
              <a:prstGeom prst="ellipse">
                <a:avLst/>
              </a:prstGeom>
              <a:solidFill>
                <a:srgbClr val="00A6A6"/>
              </a:solidFill>
              <a:ln>
                <a:noFill/>
              </a:ln>
            </p:spPr>
          </p:sp>
          <p:grpSp>
            <p:nvGrpSpPr>
              <p:cNvPr id="9" name="Group 9"/>
              <p:cNvGrpSpPr/>
              <p:nvPr/>
            </p:nvGrpSpPr>
            <p:grpSpPr>
              <a:xfrm>
                <a:off x="724376" y="324326"/>
                <a:ext cx="265748" cy="265748"/>
                <a:chOff x="724376" y="324326"/>
                <a:chExt cx="265748" cy="265748"/>
              </a:xfrm>
            </p:grpSpPr>
            <p:sp>
              <p:nvSpPr>
                <p:cNvPr id="5" name="Freeform 5"/>
                <p:cNvSpPr/>
                <p:nvPr/>
              </p:nvSpPr>
              <p:spPr>
                <a:xfrm>
                  <a:off x="724376" y="427672"/>
                  <a:ext cx="132874" cy="73819"/>
                </a:xfrm>
                <a:custGeom>
                  <a:avLst/>
                  <a:gdLst/>
                  <a:ahLst/>
                  <a:cxnLst/>
                  <a:rect l="l" t="t" r="r" b="b"/>
                  <a:pathLst>
                    <a:path w="132874" h="73819">
                      <a:moveTo>
                        <a:pt x="132874" y="73819"/>
                      </a:moveTo>
                      <a:lnTo>
                        <a:pt x="36909" y="73819"/>
                      </a:lnTo>
                      <a:cubicBezTo>
                        <a:pt x="16525" y="73819"/>
                        <a:pt x="0" y="57294"/>
                        <a:pt x="0" y="36909"/>
                      </a:cubicBezTo>
                      <a:cubicBezTo>
                        <a:pt x="0" y="16525"/>
                        <a:pt x="16525" y="0"/>
                        <a:pt x="36909" y="0"/>
                      </a:cubicBezTo>
                      <a:lnTo>
                        <a:pt x="44291" y="0"/>
                      </a:lnTo>
                    </a:path>
                  </a:pathLst>
                </a:custGeom>
                <a:noFill/>
                <a:ln w="24759" cap="rnd">
                  <a:solidFill>
                    <a:srgbClr val="FFFFFF"/>
                  </a:solidFill>
                  <a:round/>
                </a:ln>
              </p:spPr>
            </p:sp>
            <p:sp>
              <p:nvSpPr>
                <p:cNvPr id="6" name="Freeform 6"/>
                <p:cNvSpPr/>
                <p:nvPr/>
              </p:nvSpPr>
              <p:spPr>
                <a:xfrm>
                  <a:off x="827722" y="457200"/>
                  <a:ext cx="73819" cy="132874"/>
                </a:xfrm>
                <a:custGeom>
                  <a:avLst/>
                  <a:gdLst/>
                  <a:ahLst/>
                  <a:cxnLst/>
                  <a:rect l="l" t="t" r="r" b="b"/>
                  <a:pathLst>
                    <a:path w="73819" h="132874">
                      <a:moveTo>
                        <a:pt x="73819" y="0"/>
                      </a:moveTo>
                      <a:lnTo>
                        <a:pt x="73819" y="95964"/>
                      </a:lnTo>
                      <a:cubicBezTo>
                        <a:pt x="73819" y="116349"/>
                        <a:pt x="57294" y="132874"/>
                        <a:pt x="36909" y="132874"/>
                      </a:cubicBezTo>
                      <a:cubicBezTo>
                        <a:pt x="16525" y="132874"/>
                        <a:pt x="0" y="116349"/>
                        <a:pt x="0" y="95964"/>
                      </a:cubicBezTo>
                      <a:lnTo>
                        <a:pt x="0" y="88582"/>
                      </a:lnTo>
                    </a:path>
                  </a:pathLst>
                </a:custGeom>
                <a:noFill/>
                <a:ln w="24759" cap="rnd">
                  <a:solidFill>
                    <a:srgbClr val="FFFFFF"/>
                  </a:solidFill>
                  <a:round/>
                </a:ln>
              </p:spPr>
            </p:sp>
            <p:sp>
              <p:nvSpPr>
                <p:cNvPr id="7" name="Freeform 7"/>
                <p:cNvSpPr/>
                <p:nvPr/>
              </p:nvSpPr>
              <p:spPr>
                <a:xfrm>
                  <a:off x="857250" y="412909"/>
                  <a:ext cx="132874" cy="73819"/>
                </a:xfrm>
                <a:custGeom>
                  <a:avLst/>
                  <a:gdLst/>
                  <a:ahLst/>
                  <a:cxnLst/>
                  <a:rect l="l" t="t" r="r" b="b"/>
                  <a:pathLst>
                    <a:path w="132874" h="73819">
                      <a:moveTo>
                        <a:pt x="0" y="0"/>
                      </a:moveTo>
                      <a:lnTo>
                        <a:pt x="95964" y="0"/>
                      </a:lnTo>
                      <a:cubicBezTo>
                        <a:pt x="116349" y="0"/>
                        <a:pt x="132874" y="16525"/>
                        <a:pt x="132874" y="36909"/>
                      </a:cubicBezTo>
                      <a:cubicBezTo>
                        <a:pt x="132874" y="57294"/>
                        <a:pt x="116349" y="73819"/>
                        <a:pt x="95964" y="73819"/>
                      </a:cubicBezTo>
                      <a:lnTo>
                        <a:pt x="88583" y="73819"/>
                      </a:lnTo>
                    </a:path>
                  </a:pathLst>
                </a:custGeom>
                <a:noFill/>
                <a:ln w="24759" cap="rnd">
                  <a:solidFill>
                    <a:srgbClr val="FFFFFF"/>
                  </a:solidFill>
                  <a:round/>
                </a:ln>
              </p:spPr>
            </p:sp>
            <p:sp>
              <p:nvSpPr>
                <p:cNvPr id="8" name="Freeform 8"/>
                <p:cNvSpPr/>
                <p:nvPr/>
              </p:nvSpPr>
              <p:spPr>
                <a:xfrm>
                  <a:off x="812959" y="324326"/>
                  <a:ext cx="73819" cy="132874"/>
                </a:xfrm>
                <a:custGeom>
                  <a:avLst/>
                  <a:gdLst/>
                  <a:ahLst/>
                  <a:cxnLst/>
                  <a:rect l="l" t="t" r="r" b="b"/>
                  <a:pathLst>
                    <a:path w="73819" h="132874">
                      <a:moveTo>
                        <a:pt x="0" y="132874"/>
                      </a:moveTo>
                      <a:lnTo>
                        <a:pt x="0" y="36909"/>
                      </a:lnTo>
                      <a:cubicBezTo>
                        <a:pt x="0" y="16525"/>
                        <a:pt x="16525" y="0"/>
                        <a:pt x="36909" y="0"/>
                      </a:cubicBezTo>
                      <a:cubicBezTo>
                        <a:pt x="57294" y="0"/>
                        <a:pt x="73819" y="16525"/>
                        <a:pt x="73819" y="36909"/>
                      </a:cubicBezTo>
                      <a:lnTo>
                        <a:pt x="73819" y="44291"/>
                      </a:lnTo>
                    </a:path>
                  </a:pathLst>
                </a:custGeom>
                <a:noFill/>
                <a:ln w="24759" cap="rnd">
                  <a:solidFill>
                    <a:srgbClr val="FFFFFF"/>
                  </a:solidFill>
                  <a:round/>
                </a:ln>
              </p:spPr>
            </p:sp>
          </p:grpSp>
        </p:grpSp>
        <p:sp>
          <p:nvSpPr>
            <p:cNvPr id="11" name="TextBox 11"/>
            <p:cNvSpPr txBox="1"/>
            <p:nvPr/>
          </p:nvSpPr>
          <p:spPr>
            <a:xfrm>
              <a:off x="1261872" y="282892"/>
              <a:ext cx="8015274" cy="557403"/>
            </a:xfrm>
            <a:prstGeom prst="rect">
              <a:avLst/>
            </a:prstGeom>
            <a:noFill/>
            <a:ln>
              <a:noFill/>
            </a:ln>
          </p:spPr>
          <p:txBody>
            <a:bodyPr wrap="none" lIns="0" tIns="0" rIns="0" bIns="0" anchor="t" anchorCtr="0">
              <a:spAutoFit/>
            </a:bodyPr>
            <a:lstStyle/>
            <a:p>
              <a:pPr algn="l"/>
              <a:r>
                <a:rPr lang="tr-TR" sz="2850" b="1" dirty="0">
                  <a:solidFill>
                    <a:srgbClr val="F7FAFC"/>
                  </a:solidFill>
                  <a:latin typeface="+mj-lt"/>
                  <a:ea typeface="+mj-ea"/>
                  <a:cs typeface="+mj-cs"/>
                </a:rPr>
                <a:t>Kod 1.2 · Union type ile yanıt sözleşmesi</a:t>
              </a:r>
            </a:p>
          </p:txBody>
        </p:sp>
      </p:grpSp>
      <p:grpSp>
        <p:nvGrpSpPr>
          <p:cNvPr id="25" name="code-panel"/>
          <p:cNvGrpSpPr/>
          <p:nvPr/>
        </p:nvGrpSpPr>
        <p:grpSpPr>
          <a:xfrm>
            <a:off x="571500" y="1295400"/>
            <a:ext cx="6667500" cy="4476750"/>
            <a:chOff x="571500" y="1295400"/>
            <a:chExt cx="6667500" cy="4476750"/>
          </a:xfrm>
        </p:grpSpPr>
        <p:sp>
          <p:nvSpPr>
            <p:cNvPr id="13" name="Rectangle 13"/>
            <p:cNvSpPr/>
            <p:nvPr/>
          </p:nvSpPr>
          <p:spPr>
            <a:xfrm>
              <a:off x="571500" y="1295400"/>
              <a:ext cx="6667500" cy="4476750"/>
            </a:xfrm>
            <a:prstGeom prst="rect">
              <a:avLst/>
            </a:prstGeom>
            <a:solidFill>
              <a:srgbClr val="12355B"/>
            </a:solidFill>
            <a:ln>
              <a:noFill/>
            </a:ln>
          </p:spPr>
        </p:sp>
        <p:sp>
          <p:nvSpPr>
            <p:cNvPr id="14" name="TextBox 14"/>
            <p:cNvSpPr txBox="1"/>
            <p:nvPr/>
          </p:nvSpPr>
          <p:spPr>
            <a:xfrm>
              <a:off x="792099" y="1544479"/>
              <a:ext cx="3970151" cy="308039"/>
            </a:xfrm>
            <a:prstGeom prst="rect">
              <a:avLst/>
            </a:prstGeom>
            <a:noFill/>
            <a:ln>
              <a:noFill/>
            </a:ln>
          </p:spPr>
          <p:txBody>
            <a:bodyPr wrap="none" lIns="0" tIns="0" rIns="0" bIns="0" anchor="t" anchorCtr="0">
              <a:spAutoFit/>
            </a:bodyPr>
            <a:lstStyle/>
            <a:p>
              <a:pPr algn="l"/>
              <a:r>
                <a:rPr lang="tr-TR" sz="1580" dirty="0">
                  <a:solidFill>
                    <a:srgbClr val="EAF4F6"/>
                  </a:solidFill>
                  <a:latin typeface="Consolas"/>
                  <a:ea typeface="Consolas"/>
                  <a:cs typeface="Consolas"/>
                </a:rPr>
                <a:t>type HttpMetodu = "GET" | "POST";</a:t>
              </a:r>
            </a:p>
          </p:txBody>
        </p:sp>
        <p:sp>
          <p:nvSpPr>
            <p:cNvPr id="15" name="TextBox 15"/>
            <p:cNvSpPr txBox="1"/>
            <p:nvPr/>
          </p:nvSpPr>
          <p:spPr>
            <a:xfrm>
              <a:off x="792099" y="1830229"/>
              <a:ext cx="3910118" cy="308039"/>
            </a:xfrm>
            <a:prstGeom prst="rect">
              <a:avLst/>
            </a:prstGeom>
            <a:noFill/>
            <a:ln>
              <a:noFill/>
            </a:ln>
          </p:spPr>
          <p:txBody>
            <a:bodyPr wrap="none" lIns="0" tIns="0" rIns="0" bIns="0" anchor="t" anchorCtr="0">
              <a:spAutoFit/>
            </a:bodyPr>
            <a:lstStyle/>
            <a:p>
              <a:pPr algn="l"/>
              <a:r>
                <a:rPr lang="tr-TR" sz="1580" dirty="0">
                  <a:solidFill>
                    <a:srgbClr val="EAF4F6"/>
                  </a:solidFill>
                  <a:latin typeface="Consolas"/>
                  <a:ea typeface="Consolas"/>
                  <a:cs typeface="Consolas"/>
                </a:rPr>
                <a:t>type DurumKodu = 200 | 400 | 404;</a:t>
              </a:r>
            </a:p>
          </p:txBody>
        </p:sp>
        <p:sp>
          <p:nvSpPr>
            <p:cNvPr id="16" name="TextBox 16"/>
            <p:cNvSpPr txBox="1"/>
            <p:nvPr/>
          </p:nvSpPr>
          <p:spPr>
            <a:xfrm>
              <a:off x="792099" y="2401729"/>
              <a:ext cx="2955671" cy="308039"/>
            </a:xfrm>
            <a:prstGeom prst="rect">
              <a:avLst/>
            </a:prstGeom>
            <a:noFill/>
            <a:ln>
              <a:noFill/>
            </a:ln>
          </p:spPr>
          <p:txBody>
            <a:bodyPr wrap="none" lIns="0" tIns="0" rIns="0" bIns="0" anchor="t" anchorCtr="0">
              <a:spAutoFit/>
            </a:bodyPr>
            <a:lstStyle/>
            <a:p>
              <a:pPr algn="l"/>
              <a:r>
                <a:rPr lang="tr-TR" sz="1580" dirty="0">
                  <a:solidFill>
                    <a:srgbClr val="EAF4F6"/>
                  </a:solidFill>
                  <a:latin typeface="Consolas"/>
                  <a:ea typeface="Consolas"/>
                  <a:cs typeface="Consolas"/>
                </a:rPr>
                <a:t>interface BasariliYanit {</a:t>
              </a:r>
            </a:p>
          </p:txBody>
        </p:sp>
        <p:sp>
          <p:nvSpPr>
            <p:cNvPr id="17" name="TextBox 17"/>
            <p:cNvSpPr txBox="1"/>
            <p:nvPr/>
          </p:nvSpPr>
          <p:spPr>
            <a:xfrm>
              <a:off x="1030224" y="2687479"/>
              <a:ext cx="3652305" cy="308039"/>
            </a:xfrm>
            <a:prstGeom prst="rect">
              <a:avLst/>
            </a:prstGeom>
            <a:noFill/>
            <a:ln>
              <a:noFill/>
            </a:ln>
          </p:spPr>
          <p:txBody>
            <a:bodyPr wrap="none" lIns="0" tIns="0" rIns="0" bIns="0" anchor="t" anchorCtr="0">
              <a:spAutoFit/>
            </a:bodyPr>
            <a:lstStyle/>
            <a:p>
              <a:pPr algn="l"/>
              <a:r>
                <a:rPr lang="tr-TR" sz="1580" dirty="0">
                  <a:solidFill>
                    <a:srgbClr val="EAF4F6"/>
                  </a:solidFill>
                  <a:latin typeface="Consolas"/>
                  <a:ea typeface="Consolas"/>
                  <a:cs typeface="Consolas"/>
                </a:rPr>
                <a:t>basarili: true; durumKodu: 200;</a:t>
              </a:r>
            </a:p>
          </p:txBody>
        </p:sp>
        <p:sp>
          <p:nvSpPr>
            <p:cNvPr id="18" name="TextBox 18"/>
            <p:cNvSpPr txBox="1"/>
            <p:nvPr/>
          </p:nvSpPr>
          <p:spPr>
            <a:xfrm>
              <a:off x="1030224" y="2973229"/>
              <a:ext cx="3418162" cy="308039"/>
            </a:xfrm>
            <a:prstGeom prst="rect">
              <a:avLst/>
            </a:prstGeom>
            <a:noFill/>
            <a:ln>
              <a:noFill/>
            </a:ln>
          </p:spPr>
          <p:txBody>
            <a:bodyPr wrap="none" lIns="0" tIns="0" rIns="0" bIns="0" anchor="t" anchorCtr="0">
              <a:spAutoFit/>
            </a:bodyPr>
            <a:lstStyle/>
            <a:p>
              <a:pPr algn="l"/>
              <a:r>
                <a:rPr lang="tr-TR" sz="1580" dirty="0">
                  <a:solidFill>
                    <a:srgbClr val="EAF4F6"/>
                  </a:solidFill>
                  <a:latin typeface="Consolas"/>
                  <a:ea typeface="Consolas"/>
                  <a:cs typeface="Consolas"/>
                </a:rPr>
                <a:t>veri: { ogrenciAdi: string };</a:t>
              </a:r>
            </a:p>
          </p:txBody>
        </p:sp>
        <p:sp>
          <p:nvSpPr>
            <p:cNvPr id="19" name="TextBox 19"/>
            <p:cNvSpPr txBox="1"/>
            <p:nvPr/>
          </p:nvSpPr>
          <p:spPr>
            <a:xfrm>
              <a:off x="792099" y="3258979"/>
              <a:ext cx="132987" cy="308039"/>
            </a:xfrm>
            <a:prstGeom prst="rect">
              <a:avLst/>
            </a:prstGeom>
            <a:noFill/>
            <a:ln>
              <a:noFill/>
            </a:ln>
          </p:spPr>
          <p:txBody>
            <a:bodyPr wrap="none" lIns="0" tIns="0" rIns="0" bIns="0" anchor="t" anchorCtr="0">
              <a:spAutoFit/>
            </a:bodyPr>
            <a:lstStyle/>
            <a:p>
              <a:pPr algn="l"/>
              <a:r>
                <a:rPr lang="tr-TR" sz="1580" dirty="0">
                  <a:solidFill>
                    <a:srgbClr val="EAF4F6"/>
                  </a:solidFill>
                  <a:latin typeface="Consolas"/>
                  <a:ea typeface="Consolas"/>
                  <a:cs typeface="Consolas"/>
                </a:rPr>
                <a:t>}</a:t>
              </a:r>
            </a:p>
          </p:txBody>
        </p:sp>
        <p:sp>
          <p:nvSpPr>
            <p:cNvPr id="20" name="TextBox 20"/>
            <p:cNvSpPr txBox="1"/>
            <p:nvPr/>
          </p:nvSpPr>
          <p:spPr>
            <a:xfrm>
              <a:off x="792099" y="3830479"/>
              <a:ext cx="2721882" cy="308039"/>
            </a:xfrm>
            <a:prstGeom prst="rect">
              <a:avLst/>
            </a:prstGeom>
            <a:noFill/>
            <a:ln>
              <a:noFill/>
            </a:ln>
          </p:spPr>
          <p:txBody>
            <a:bodyPr wrap="none" lIns="0" tIns="0" rIns="0" bIns="0" anchor="t" anchorCtr="0">
              <a:spAutoFit/>
            </a:bodyPr>
            <a:lstStyle/>
            <a:p>
              <a:pPr algn="l"/>
              <a:r>
                <a:rPr lang="tr-TR" sz="1580" dirty="0">
                  <a:solidFill>
                    <a:srgbClr val="EAF4F6"/>
                  </a:solidFill>
                  <a:latin typeface="Consolas"/>
                  <a:ea typeface="Consolas"/>
                  <a:cs typeface="Consolas"/>
                </a:rPr>
                <a:t>interface HataliYanit {</a:t>
              </a:r>
            </a:p>
          </p:txBody>
        </p:sp>
        <p:sp>
          <p:nvSpPr>
            <p:cNvPr id="21" name="TextBox 21"/>
            <p:cNvSpPr txBox="1"/>
            <p:nvPr/>
          </p:nvSpPr>
          <p:spPr>
            <a:xfrm>
              <a:off x="1030224" y="4116229"/>
              <a:ext cx="4472861" cy="308039"/>
            </a:xfrm>
            <a:prstGeom prst="rect">
              <a:avLst/>
            </a:prstGeom>
            <a:noFill/>
            <a:ln>
              <a:noFill/>
            </a:ln>
          </p:spPr>
          <p:txBody>
            <a:bodyPr wrap="none" lIns="0" tIns="0" rIns="0" bIns="0" anchor="t" anchorCtr="0">
              <a:spAutoFit/>
            </a:bodyPr>
            <a:lstStyle/>
            <a:p>
              <a:pPr algn="l"/>
              <a:r>
                <a:rPr lang="tr-TR" sz="1580" dirty="0">
                  <a:solidFill>
                    <a:srgbClr val="EAF4F6"/>
                  </a:solidFill>
                  <a:latin typeface="Consolas"/>
                  <a:ea typeface="Consolas"/>
                  <a:cs typeface="Consolas"/>
                </a:rPr>
                <a:t>basarili: false; durumKodu: 400 | 404;</a:t>
              </a:r>
            </a:p>
          </p:txBody>
        </p:sp>
        <p:sp>
          <p:nvSpPr>
            <p:cNvPr id="22" name="TextBox 22"/>
            <p:cNvSpPr txBox="1"/>
            <p:nvPr/>
          </p:nvSpPr>
          <p:spPr>
            <a:xfrm>
              <a:off x="1030224" y="4401979"/>
              <a:ext cx="2246576" cy="308039"/>
            </a:xfrm>
            <a:prstGeom prst="rect">
              <a:avLst/>
            </a:prstGeom>
            <a:noFill/>
            <a:ln>
              <a:noFill/>
            </a:ln>
          </p:spPr>
          <p:txBody>
            <a:bodyPr wrap="none" lIns="0" tIns="0" rIns="0" bIns="0" anchor="t" anchorCtr="0">
              <a:spAutoFit/>
            </a:bodyPr>
            <a:lstStyle/>
            <a:p>
              <a:pPr algn="l"/>
              <a:r>
                <a:rPr lang="tr-TR" sz="1580" dirty="0">
                  <a:solidFill>
                    <a:srgbClr val="EAF4F6"/>
                  </a:solidFill>
                  <a:latin typeface="Consolas"/>
                  <a:ea typeface="Consolas"/>
                  <a:cs typeface="Consolas"/>
                </a:rPr>
                <a:t>hataMesaji: string;</a:t>
              </a:r>
            </a:p>
          </p:txBody>
        </p:sp>
        <p:sp>
          <p:nvSpPr>
            <p:cNvPr id="23" name="TextBox 23"/>
            <p:cNvSpPr txBox="1"/>
            <p:nvPr/>
          </p:nvSpPr>
          <p:spPr>
            <a:xfrm>
              <a:off x="792099" y="4687729"/>
              <a:ext cx="132987" cy="308039"/>
            </a:xfrm>
            <a:prstGeom prst="rect">
              <a:avLst/>
            </a:prstGeom>
            <a:noFill/>
            <a:ln>
              <a:noFill/>
            </a:ln>
          </p:spPr>
          <p:txBody>
            <a:bodyPr wrap="none" lIns="0" tIns="0" rIns="0" bIns="0" anchor="t" anchorCtr="0">
              <a:spAutoFit/>
            </a:bodyPr>
            <a:lstStyle/>
            <a:p>
              <a:pPr algn="l"/>
              <a:r>
                <a:rPr lang="tr-TR" sz="1580" dirty="0">
                  <a:solidFill>
                    <a:srgbClr val="EAF4F6"/>
                  </a:solidFill>
                  <a:latin typeface="Consolas"/>
                  <a:ea typeface="Consolas"/>
                  <a:cs typeface="Consolas"/>
                </a:rPr>
                <a:t>}</a:t>
              </a:r>
            </a:p>
          </p:txBody>
        </p:sp>
        <p:sp>
          <p:nvSpPr>
            <p:cNvPr id="24" name="TextBox 24"/>
            <p:cNvSpPr txBox="1"/>
            <p:nvPr/>
          </p:nvSpPr>
          <p:spPr>
            <a:xfrm>
              <a:off x="792099" y="5259229"/>
              <a:ext cx="5328638" cy="308039"/>
            </a:xfrm>
            <a:prstGeom prst="rect">
              <a:avLst/>
            </a:prstGeom>
            <a:noFill/>
            <a:ln>
              <a:noFill/>
            </a:ln>
          </p:spPr>
          <p:txBody>
            <a:bodyPr wrap="none" lIns="0" tIns="0" rIns="0" bIns="0" anchor="t" anchorCtr="0">
              <a:spAutoFit/>
            </a:bodyPr>
            <a:lstStyle/>
            <a:p>
              <a:pPr algn="l"/>
              <a:r>
                <a:rPr lang="tr-TR" sz="1580" dirty="0">
                  <a:solidFill>
                    <a:srgbClr val="EAF4F6"/>
                  </a:solidFill>
                  <a:latin typeface="Consolas"/>
                  <a:ea typeface="Consolas"/>
                  <a:cs typeface="Consolas"/>
                </a:rPr>
                <a:t>type ApiYaniti = BasariliYanit | HataliYanit;</a:t>
              </a:r>
            </a:p>
          </p:txBody>
        </p:sp>
      </p:grpSp>
      <p:grpSp>
        <p:nvGrpSpPr>
          <p:cNvPr id="31" name="union-explanation"/>
          <p:cNvGrpSpPr/>
          <p:nvPr/>
        </p:nvGrpSpPr>
        <p:grpSpPr>
          <a:xfrm>
            <a:off x="7610094" y="1465898"/>
            <a:ext cx="4010406" cy="3510819"/>
            <a:chOff x="7610094" y="1465898"/>
            <a:chExt cx="4010406" cy="3510819"/>
          </a:xfrm>
        </p:grpSpPr>
        <p:sp>
          <p:nvSpPr>
            <p:cNvPr id="26" name="TextBox 26"/>
            <p:cNvSpPr txBox="1"/>
            <p:nvPr/>
          </p:nvSpPr>
          <p:spPr>
            <a:xfrm>
              <a:off x="7610094" y="1465898"/>
              <a:ext cx="2868300"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Union type ne sağlar?</a:t>
              </a:r>
            </a:p>
          </p:txBody>
        </p:sp>
        <p:sp>
          <p:nvSpPr>
            <p:cNvPr id="27" name="TextBox 27"/>
            <p:cNvSpPr txBox="1"/>
            <p:nvPr/>
          </p:nvSpPr>
          <p:spPr>
            <a:xfrm>
              <a:off x="7610856" y="1863090"/>
              <a:ext cx="3390138" cy="999744"/>
            </a:xfrm>
            <a:prstGeom prst="rect">
              <a:avLst/>
            </a:prstGeom>
            <a:noFill/>
            <a:ln>
              <a:noFill/>
            </a:ln>
          </p:spPr>
          <p:txBody>
            <a:bodyPr wrap="none" lIns="0" tIns="0" rIns="0" bIns="0" anchor="t" anchorCtr="0">
              <a:spAutoFit/>
            </a:bodyPr>
            <a:lstStyle/>
            <a:p>
              <a:pPr algn="l">
                <a:lnSpc>
                  <a:spcPts val="2550"/>
                </a:lnSpc>
              </a:pPr>
              <a:r>
                <a:rPr lang="tr-TR" sz="1800" dirty="0">
                  <a:solidFill>
                    <a:srgbClr val="172B3A"/>
                  </a:solidFill>
                  <a:latin typeface="+mn-lt"/>
                  <a:ea typeface="+mn-ea"/>
                  <a:cs typeface="+mn-cs"/>
                </a:rPr>
                <a:t>Çağıran taraf basarili alanına</a:t>
              </a:r>
              <a:br/>
              <a:r>
                <a:rPr lang="tr-TR" sz="1800" dirty="0">
                  <a:solidFill>
                    <a:srgbClr val="172B3A"/>
                  </a:solidFill>
                  <a:latin typeface="+mn-lt"/>
                  <a:ea typeface="+mn-ea"/>
                  <a:cs typeface="+mn-cs"/>
                </a:rPr>
                <a:t>bakarak hangi yanıt şeklini</a:t>
              </a:r>
              <a:br/>
              <a:r>
                <a:rPr lang="tr-TR" sz="1800" dirty="0">
                  <a:solidFill>
                    <a:srgbClr val="172B3A"/>
                  </a:solidFill>
                  <a:latin typeface="+mn-lt"/>
                  <a:ea typeface="+mn-ea"/>
                  <a:cs typeface="+mn-cs"/>
                </a:rPr>
                <a:t>işleyeceğini anlar.</a:t>
              </a:r>
            </a:p>
          </p:txBody>
        </p:sp>
        <p:sp>
          <p:nvSpPr>
            <p:cNvPr id="28" name="Line 28"/>
            <p:cNvSpPr/>
            <p:nvPr/>
          </p:nvSpPr>
          <p:spPr>
            <a:xfrm>
              <a:off x="7620000" y="3009900"/>
              <a:ext cx="4000500" cy="9525"/>
            </a:xfrm>
            <a:custGeom>
              <a:avLst/>
              <a:gdLst/>
              <a:ahLst/>
              <a:cxnLst/>
              <a:rect l="l" t="t" r="r" b="b"/>
              <a:pathLst>
                <a:path w="4000500" h="9525">
                  <a:moveTo>
                    <a:pt x="0" y="0"/>
                  </a:moveTo>
                  <a:lnTo>
                    <a:pt x="4000500" y="0"/>
                  </a:lnTo>
                </a:path>
              </a:pathLst>
            </a:custGeom>
            <a:noFill/>
            <a:ln w="9525">
              <a:solidFill>
                <a:srgbClr val="B8CBD3"/>
              </a:solidFill>
            </a:ln>
          </p:spPr>
        </p:sp>
        <p:sp>
          <p:nvSpPr>
            <p:cNvPr id="29" name="TextBox 29"/>
            <p:cNvSpPr txBox="1"/>
            <p:nvPr/>
          </p:nvSpPr>
          <p:spPr>
            <a:xfrm>
              <a:off x="7610094" y="3180398"/>
              <a:ext cx="2013021"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Dikkat noktası</a:t>
              </a:r>
            </a:p>
          </p:txBody>
        </p:sp>
        <p:sp>
          <p:nvSpPr>
            <p:cNvPr id="30" name="TextBox 30"/>
            <p:cNvSpPr txBox="1"/>
            <p:nvPr/>
          </p:nvSpPr>
          <p:spPr>
            <a:xfrm>
              <a:off x="7611999" y="3601879"/>
              <a:ext cx="2975737" cy="1374838"/>
            </a:xfrm>
            <a:prstGeom prst="rect">
              <a:avLst/>
            </a:prstGeom>
            <a:noFill/>
            <a:ln>
              <a:noFill/>
            </a:ln>
          </p:spPr>
          <p:txBody>
            <a:bodyPr wrap="none" lIns="0" tIns="0" rIns="0" bIns="0" anchor="t" anchorCtr="0">
              <a:spAutoFit/>
            </a:bodyPr>
            <a:lstStyle/>
            <a:p>
              <a:pPr algn="l">
                <a:lnSpc>
                  <a:spcPts val="2100"/>
                </a:lnSpc>
              </a:pPr>
              <a:r>
                <a:rPr lang="tr-TR" sz="1580" dirty="0">
                  <a:solidFill>
                    <a:srgbClr val="52616B"/>
                  </a:solidFill>
                  <a:latin typeface="+mn-lt"/>
                  <a:ea typeface="+mn-ea"/>
                  <a:cs typeface="+mn-cs"/>
                </a:rPr>
                <a:t>durumKodu literal type olduğu</a:t>
              </a:r>
              <a:br/>
              <a:r>
                <a:rPr lang="tr-TR" sz="1580" dirty="0">
                  <a:solidFill>
                    <a:srgbClr val="52616B"/>
                  </a:solidFill>
                  <a:latin typeface="+mn-lt"/>
                  <a:ea typeface="+mn-ea"/>
                  <a:cs typeface="+mn-cs"/>
                </a:rPr>
                <a:t>için 500 gibi bir değer</a:t>
              </a:r>
              <a:br/>
              <a:r>
                <a:rPr lang="tr-TR" sz="1580" dirty="0">
                  <a:solidFill>
                    <a:srgbClr val="52616B"/>
                  </a:solidFill>
                  <a:latin typeface="+mn-lt"/>
                  <a:ea typeface="+mn-ea"/>
                  <a:cs typeface="+mn-cs"/>
                </a:rPr>
                <a:t>atanmaya çalışılırsa derleme</a:t>
              </a:r>
              <a:br/>
              <a:r>
                <a:rPr lang="tr-TR" sz="1580" dirty="0">
                  <a:solidFill>
                    <a:srgbClr val="52616B"/>
                  </a:solidFill>
                  <a:latin typeface="+mn-lt"/>
                  <a:ea typeface="+mn-ea"/>
                  <a:cs typeface="+mn-cs"/>
                </a:rPr>
                <a:t>hatası alınır: HTTP disiplini</a:t>
              </a:r>
              <a:br/>
              <a:r>
                <a:rPr lang="tr-TR" sz="1580" dirty="0">
                  <a:solidFill>
                    <a:srgbClr val="52616B"/>
                  </a:solidFill>
                  <a:latin typeface="+mn-lt"/>
                  <a:ea typeface="+mn-ea"/>
                  <a:cs typeface="+mn-cs"/>
                </a:rPr>
                <a:t>tip düzeyinde zorunlu kılınır.</a:t>
              </a:r>
            </a:p>
          </p:txBody>
        </p:sp>
      </p:grpSp>
      <p:grpSp>
        <p:nvGrpSpPr>
          <p:cNvPr id="34" name="more-status-codes"/>
          <p:cNvGrpSpPr/>
          <p:nvPr/>
        </p:nvGrpSpPr>
        <p:grpSpPr>
          <a:xfrm>
            <a:off x="7620000" y="5219700"/>
            <a:ext cx="3336798" cy="614267"/>
            <a:chOff x="7620000" y="5219700"/>
            <a:chExt cx="3336798" cy="614267"/>
          </a:xfrm>
        </p:grpSpPr>
        <p:sp>
          <p:nvSpPr>
            <p:cNvPr id="32" name="Rectangle 32"/>
            <p:cNvSpPr/>
            <p:nvPr/>
          </p:nvSpPr>
          <p:spPr>
            <a:xfrm>
              <a:off x="7620000" y="5219700"/>
              <a:ext cx="57150" cy="571500"/>
            </a:xfrm>
            <a:prstGeom prst="rect">
              <a:avLst/>
            </a:prstGeom>
            <a:solidFill>
              <a:srgbClr val="00A6A6"/>
            </a:solidFill>
            <a:ln>
              <a:noFill/>
            </a:ln>
          </p:spPr>
        </p:sp>
        <p:sp>
          <p:nvSpPr>
            <p:cNvPr id="33" name="TextBox 33"/>
            <p:cNvSpPr txBox="1"/>
            <p:nvPr/>
          </p:nvSpPr>
          <p:spPr>
            <a:xfrm>
              <a:off x="7840599" y="5259229"/>
              <a:ext cx="3116199"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Gerçek uygulamalarda 401, 403,</a:t>
              </a:r>
              <a:br/>
              <a:r>
                <a:rPr lang="tr-TR" sz="1580" dirty="0">
                  <a:solidFill>
                    <a:srgbClr val="172B3A"/>
                  </a:solidFill>
                  <a:latin typeface="+mn-lt"/>
                  <a:ea typeface="+mn-ea"/>
                  <a:cs typeface="+mn-cs"/>
                </a:rPr>
                <a:t>500 gibi kodlar da kullanılır.</a:t>
              </a:r>
            </a:p>
          </p:txBody>
        </p:sp>
      </p:grpSp>
      <p:grpSp>
        <p:nvGrpSpPr>
          <p:cNvPr id="37" name="footer"/>
          <p:cNvGrpSpPr/>
          <p:nvPr/>
        </p:nvGrpSpPr>
        <p:grpSpPr>
          <a:xfrm>
            <a:off x="565404" y="6404610"/>
            <a:ext cx="11061192" cy="234696"/>
            <a:chOff x="565404" y="6404610"/>
            <a:chExt cx="11061192" cy="234696"/>
          </a:xfrm>
        </p:grpSpPr>
        <p:sp>
          <p:nvSpPr>
            <p:cNvPr id="35" name="TextBox 35"/>
            <p:cNvSpPr txBox="1"/>
            <p:nvPr/>
          </p:nvSpPr>
          <p:spPr>
            <a:xfrm>
              <a:off x="565404" y="6404610"/>
              <a:ext cx="496284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Bölüm 1 · Modern Backend Programlamaya Giriş ve Web Mimarisi</a:t>
              </a:r>
            </a:p>
          </p:txBody>
        </p:sp>
        <p:sp>
          <p:nvSpPr>
            <p:cNvPr id="36" name="TextBox 36"/>
            <p:cNvSpPr txBox="1"/>
            <p:nvPr/>
          </p:nvSpPr>
          <p:spPr>
            <a:xfrm>
              <a:off x="11436706" y="640461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14</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2" name="title"/>
          <p:cNvGrpSpPr/>
          <p:nvPr/>
        </p:nvGrpSpPr>
        <p:grpSpPr>
          <a:xfrm>
            <a:off x="0" y="0"/>
            <a:ext cx="12192000" cy="952500"/>
            <a:chOff x="0" y="0"/>
            <a:chExt cx="12192000" cy="952500"/>
          </a:xfrm>
        </p:grpSpPr>
        <p:sp>
          <p:nvSpPr>
            <p:cNvPr id="2" name="Rectangle 2"/>
            <p:cNvSpPr/>
            <p:nvPr/>
          </p:nvSpPr>
          <p:spPr>
            <a:xfrm>
              <a:off x="0" y="0"/>
              <a:ext cx="12192000" cy="914400"/>
            </a:xfrm>
            <a:prstGeom prst="rect">
              <a:avLst/>
            </a:prstGeom>
            <a:solidFill>
              <a:srgbClr val="12355B"/>
            </a:solidFill>
            <a:ln>
              <a:noFill/>
            </a:ln>
          </p:spPr>
        </p:sp>
        <p:sp>
          <p:nvSpPr>
            <p:cNvPr id="3" name="Rectangle 3"/>
            <p:cNvSpPr/>
            <p:nvPr/>
          </p:nvSpPr>
          <p:spPr>
            <a:xfrm>
              <a:off x="0" y="914400"/>
              <a:ext cx="12192000" cy="38100"/>
            </a:xfrm>
            <a:prstGeom prst="rect">
              <a:avLst/>
            </a:prstGeom>
            <a:solidFill>
              <a:srgbClr val="00A6A6"/>
            </a:solidFill>
            <a:ln>
              <a:noFill/>
            </a:ln>
          </p:spPr>
        </p:sp>
        <p:grpSp>
          <p:nvGrpSpPr>
            <p:cNvPr id="10" name="icon-badge"/>
            <p:cNvGrpSpPr/>
            <p:nvPr/>
          </p:nvGrpSpPr>
          <p:grpSpPr>
            <a:xfrm>
              <a:off x="571500" y="171450"/>
              <a:ext cx="571500" cy="571500"/>
              <a:chOff x="571500" y="171450"/>
              <a:chExt cx="571500" cy="571500"/>
            </a:xfrm>
          </p:grpSpPr>
          <p:sp>
            <p:nvSpPr>
              <p:cNvPr id="4" name="Ellipse 4"/>
              <p:cNvSpPr/>
              <p:nvPr/>
            </p:nvSpPr>
            <p:spPr>
              <a:xfrm>
                <a:off x="571500" y="171450"/>
                <a:ext cx="571500" cy="571500"/>
              </a:xfrm>
              <a:prstGeom prst="ellipse">
                <a:avLst/>
              </a:prstGeom>
              <a:solidFill>
                <a:srgbClr val="00A6A6"/>
              </a:solidFill>
              <a:ln>
                <a:noFill/>
              </a:ln>
            </p:spPr>
          </p:sp>
          <p:grpSp>
            <p:nvGrpSpPr>
              <p:cNvPr id="9" name="Group 9"/>
              <p:cNvGrpSpPr/>
              <p:nvPr/>
            </p:nvGrpSpPr>
            <p:grpSpPr>
              <a:xfrm>
                <a:off x="724376" y="339090"/>
                <a:ext cx="265748" cy="236220"/>
                <a:chOff x="724376" y="339090"/>
                <a:chExt cx="265748" cy="236220"/>
              </a:xfrm>
            </p:grpSpPr>
            <p:sp>
              <p:nvSpPr>
                <p:cNvPr id="5" name="Freeform 5"/>
                <p:cNvSpPr/>
                <p:nvPr/>
              </p:nvSpPr>
              <p:spPr>
                <a:xfrm>
                  <a:off x="724376" y="339090"/>
                  <a:ext cx="265748" cy="118110"/>
                </a:xfrm>
                <a:custGeom>
                  <a:avLst/>
                  <a:gdLst/>
                  <a:ahLst/>
                  <a:cxnLst/>
                  <a:rect l="l" t="t" r="r" b="b"/>
                  <a:pathLst>
                    <a:path w="265748" h="118110">
                      <a:moveTo>
                        <a:pt x="0" y="44291"/>
                      </a:moveTo>
                      <a:cubicBezTo>
                        <a:pt x="0" y="19830"/>
                        <a:pt x="19830" y="0"/>
                        <a:pt x="44291" y="0"/>
                      </a:cubicBezTo>
                      <a:lnTo>
                        <a:pt x="221456" y="0"/>
                      </a:lnTo>
                      <a:cubicBezTo>
                        <a:pt x="245918" y="0"/>
                        <a:pt x="265748" y="19830"/>
                        <a:pt x="265748" y="44291"/>
                      </a:cubicBezTo>
                      <a:lnTo>
                        <a:pt x="265748" y="73819"/>
                      </a:lnTo>
                      <a:cubicBezTo>
                        <a:pt x="265748" y="98280"/>
                        <a:pt x="245918" y="118110"/>
                        <a:pt x="221456" y="118110"/>
                      </a:cubicBezTo>
                      <a:lnTo>
                        <a:pt x="44291" y="118110"/>
                      </a:lnTo>
                      <a:cubicBezTo>
                        <a:pt x="19830" y="118110"/>
                        <a:pt x="0" y="98280"/>
                        <a:pt x="0" y="73819"/>
                      </a:cubicBezTo>
                      <a:lnTo>
                        <a:pt x="0" y="44291"/>
                      </a:lnTo>
                    </a:path>
                  </a:pathLst>
                </a:custGeom>
                <a:noFill/>
                <a:ln w="24759" cap="rnd">
                  <a:solidFill>
                    <a:srgbClr val="FFFFFF"/>
                  </a:solidFill>
                  <a:round/>
                </a:ln>
              </p:spPr>
            </p:sp>
            <p:sp>
              <p:nvSpPr>
                <p:cNvPr id="6" name="Freeform 6"/>
                <p:cNvSpPr/>
                <p:nvPr/>
              </p:nvSpPr>
              <p:spPr>
                <a:xfrm>
                  <a:off x="724376" y="457200"/>
                  <a:ext cx="265748" cy="118110"/>
                </a:xfrm>
                <a:custGeom>
                  <a:avLst/>
                  <a:gdLst/>
                  <a:ahLst/>
                  <a:cxnLst/>
                  <a:rect l="l" t="t" r="r" b="b"/>
                  <a:pathLst>
                    <a:path w="265748" h="118110">
                      <a:moveTo>
                        <a:pt x="0" y="44291"/>
                      </a:moveTo>
                      <a:cubicBezTo>
                        <a:pt x="0" y="19830"/>
                        <a:pt x="19830" y="0"/>
                        <a:pt x="44291" y="0"/>
                      </a:cubicBezTo>
                      <a:lnTo>
                        <a:pt x="221456" y="0"/>
                      </a:lnTo>
                      <a:cubicBezTo>
                        <a:pt x="245918" y="0"/>
                        <a:pt x="265748" y="19830"/>
                        <a:pt x="265748" y="44291"/>
                      </a:cubicBezTo>
                      <a:lnTo>
                        <a:pt x="265748" y="73819"/>
                      </a:lnTo>
                      <a:cubicBezTo>
                        <a:pt x="265748" y="98280"/>
                        <a:pt x="245918" y="118110"/>
                        <a:pt x="221456" y="118110"/>
                      </a:cubicBezTo>
                      <a:lnTo>
                        <a:pt x="44291" y="118110"/>
                      </a:lnTo>
                      <a:cubicBezTo>
                        <a:pt x="19830" y="118110"/>
                        <a:pt x="0" y="98280"/>
                        <a:pt x="0" y="73819"/>
                      </a:cubicBezTo>
                      <a:lnTo>
                        <a:pt x="0" y="44291"/>
                      </a:lnTo>
                    </a:path>
                  </a:pathLst>
                </a:custGeom>
                <a:noFill/>
                <a:ln w="24759" cap="rnd">
                  <a:solidFill>
                    <a:srgbClr val="FFFFFF"/>
                  </a:solidFill>
                  <a:round/>
                </a:ln>
              </p:spPr>
            </p:sp>
            <p:sp>
              <p:nvSpPr>
                <p:cNvPr id="7" name="Freeform 7"/>
                <p:cNvSpPr/>
                <p:nvPr/>
              </p:nvSpPr>
              <p:spPr>
                <a:xfrm>
                  <a:off x="783431" y="398145"/>
                  <a:ext cx="9525" cy="9525"/>
                </a:xfrm>
                <a:custGeom>
                  <a:avLst/>
                  <a:gdLst/>
                  <a:ahLst/>
                  <a:cxnLst/>
                  <a:rect l="l" t="t" r="r" b="b"/>
                  <a:pathLst>
                    <a:path w="9525" h="9525">
                      <a:moveTo>
                        <a:pt x="0" y="0"/>
                      </a:moveTo>
                      <a:lnTo>
                        <a:pt x="0" y="148"/>
                      </a:lnTo>
                    </a:path>
                  </a:pathLst>
                </a:custGeom>
                <a:noFill/>
                <a:ln w="24759" cap="rnd">
                  <a:solidFill>
                    <a:srgbClr val="FFFFFF"/>
                  </a:solidFill>
                  <a:round/>
                </a:ln>
              </p:spPr>
            </p:sp>
            <p:sp>
              <p:nvSpPr>
                <p:cNvPr id="8" name="Freeform 8"/>
                <p:cNvSpPr/>
                <p:nvPr/>
              </p:nvSpPr>
              <p:spPr>
                <a:xfrm>
                  <a:off x="783431" y="516255"/>
                  <a:ext cx="9525" cy="9525"/>
                </a:xfrm>
                <a:custGeom>
                  <a:avLst/>
                  <a:gdLst/>
                  <a:ahLst/>
                  <a:cxnLst/>
                  <a:rect l="l" t="t" r="r" b="b"/>
                  <a:pathLst>
                    <a:path w="9525" h="9525">
                      <a:moveTo>
                        <a:pt x="0" y="0"/>
                      </a:moveTo>
                      <a:lnTo>
                        <a:pt x="0" y="148"/>
                      </a:lnTo>
                    </a:path>
                  </a:pathLst>
                </a:custGeom>
                <a:noFill/>
                <a:ln w="24759" cap="rnd">
                  <a:solidFill>
                    <a:srgbClr val="FFFFFF"/>
                  </a:solidFill>
                  <a:round/>
                </a:ln>
              </p:spPr>
            </p:sp>
          </p:grpSp>
        </p:grpSp>
        <p:sp>
          <p:nvSpPr>
            <p:cNvPr id="11" name="TextBox 11"/>
            <p:cNvSpPr txBox="1"/>
            <p:nvPr/>
          </p:nvSpPr>
          <p:spPr>
            <a:xfrm>
              <a:off x="1261872" y="282892"/>
              <a:ext cx="7434758" cy="557403"/>
            </a:xfrm>
            <a:prstGeom prst="rect">
              <a:avLst/>
            </a:prstGeom>
            <a:noFill/>
            <a:ln>
              <a:noFill/>
            </a:ln>
          </p:spPr>
          <p:txBody>
            <a:bodyPr wrap="none" lIns="0" tIns="0" rIns="0" bIns="0" anchor="t" anchorCtr="0">
              <a:spAutoFit/>
            </a:bodyPr>
            <a:lstStyle/>
            <a:p>
              <a:pPr algn="l"/>
              <a:r>
                <a:rPr lang="tr-TR" sz="2850" b="1" dirty="0">
                  <a:solidFill>
                    <a:srgbClr val="F7FAFC"/>
                  </a:solidFill>
                  <a:latin typeface="+mj-lt"/>
                  <a:ea typeface="+mj-ea"/>
                  <a:cs typeface="+mj-cs"/>
                </a:rPr>
                <a:t>Backend ve iş kuralları: güven sınırı</a:t>
              </a:r>
            </a:p>
          </p:txBody>
        </p:sp>
      </p:grpSp>
      <p:grpSp>
        <p:nvGrpSpPr>
          <p:cNvPr id="23" name="untrusted-side"/>
          <p:cNvGrpSpPr/>
          <p:nvPr/>
        </p:nvGrpSpPr>
        <p:grpSpPr>
          <a:xfrm>
            <a:off x="561594" y="1599248"/>
            <a:ext cx="3458271" cy="3567969"/>
            <a:chOff x="561594" y="1599248"/>
            <a:chExt cx="3458271" cy="3567969"/>
          </a:xfrm>
        </p:grpSpPr>
        <p:sp>
          <p:nvSpPr>
            <p:cNvPr id="13" name="TextBox 13"/>
            <p:cNvSpPr txBox="1"/>
            <p:nvPr/>
          </p:nvSpPr>
          <p:spPr>
            <a:xfrm>
              <a:off x="561594" y="1599248"/>
              <a:ext cx="2068388"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İstemci tarafı</a:t>
              </a:r>
            </a:p>
          </p:txBody>
        </p:sp>
        <p:sp>
          <p:nvSpPr>
            <p:cNvPr id="14" name="TextBox 14"/>
            <p:cNvSpPr txBox="1"/>
            <p:nvPr/>
          </p:nvSpPr>
          <p:spPr>
            <a:xfrm>
              <a:off x="563499" y="1982629"/>
              <a:ext cx="3136265"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52616B"/>
                  </a:solidFill>
                  <a:latin typeface="+mn-lt"/>
                  <a:ea typeface="+mn-ea"/>
                  <a:cs typeface="+mn-cs"/>
                </a:rPr>
                <a:t>son kullanıcının ve saldırganın</a:t>
              </a:r>
              <a:br/>
              <a:r>
                <a:rPr lang="tr-TR" sz="1580" dirty="0">
                  <a:solidFill>
                    <a:srgbClr val="52616B"/>
                  </a:solidFill>
                  <a:latin typeface="+mn-lt"/>
                  <a:ea typeface="+mn-ea"/>
                  <a:cs typeface="+mn-cs"/>
                </a:rPr>
                <a:t>tam denetimi altında çalışır</a:t>
              </a:r>
            </a:p>
          </p:txBody>
        </p:sp>
        <p:grpSp>
          <p:nvGrpSpPr>
            <p:cNvPr id="18" name="untrusted-bullets"/>
            <p:cNvGrpSpPr/>
            <p:nvPr/>
          </p:nvGrpSpPr>
          <p:grpSpPr>
            <a:xfrm>
              <a:off x="571500" y="2819400"/>
              <a:ext cx="76200" cy="1219200"/>
              <a:chOff x="571500" y="2819400"/>
              <a:chExt cx="76200" cy="1219200"/>
            </a:xfrm>
          </p:grpSpPr>
          <p:sp>
            <p:nvSpPr>
              <p:cNvPr id="15" name="Rectangle 15"/>
              <p:cNvSpPr/>
              <p:nvPr/>
            </p:nvSpPr>
            <p:spPr>
              <a:xfrm>
                <a:off x="571500" y="2819400"/>
                <a:ext cx="76200" cy="76200"/>
              </a:xfrm>
              <a:prstGeom prst="rect">
                <a:avLst/>
              </a:prstGeom>
              <a:solidFill>
                <a:srgbClr val="2E86AB"/>
              </a:solidFill>
              <a:ln>
                <a:noFill/>
              </a:ln>
            </p:spPr>
          </p:sp>
          <p:sp>
            <p:nvSpPr>
              <p:cNvPr id="16" name="Rectangle 16"/>
              <p:cNvSpPr/>
              <p:nvPr/>
            </p:nvSpPr>
            <p:spPr>
              <a:xfrm>
                <a:off x="571500" y="3390900"/>
                <a:ext cx="76200" cy="76200"/>
              </a:xfrm>
              <a:prstGeom prst="rect">
                <a:avLst/>
              </a:prstGeom>
              <a:solidFill>
                <a:srgbClr val="2E86AB"/>
              </a:solidFill>
              <a:ln>
                <a:noFill/>
              </a:ln>
            </p:spPr>
          </p:sp>
          <p:sp>
            <p:nvSpPr>
              <p:cNvPr id="17" name="Rectangle 17"/>
              <p:cNvSpPr/>
              <p:nvPr/>
            </p:nvSpPr>
            <p:spPr>
              <a:xfrm>
                <a:off x="571500" y="3962400"/>
                <a:ext cx="76200" cy="76200"/>
              </a:xfrm>
              <a:prstGeom prst="rect">
                <a:avLst/>
              </a:prstGeom>
              <a:solidFill>
                <a:srgbClr val="2E86AB"/>
              </a:solidFill>
              <a:ln>
                <a:noFill/>
              </a:ln>
            </p:spPr>
          </p:sp>
        </p:grpSp>
        <p:sp>
          <p:nvSpPr>
            <p:cNvPr id="19" name="TextBox 19"/>
            <p:cNvSpPr txBox="1"/>
            <p:nvPr/>
          </p:nvSpPr>
          <p:spPr>
            <a:xfrm>
              <a:off x="792099" y="2725579"/>
              <a:ext cx="3227766"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arayüz ve ergonomiden sorumlu</a:t>
              </a:r>
            </a:p>
          </p:txBody>
        </p:sp>
        <p:sp>
          <p:nvSpPr>
            <p:cNvPr id="20" name="TextBox 20"/>
            <p:cNvSpPr txBox="1"/>
            <p:nvPr/>
          </p:nvSpPr>
          <p:spPr>
            <a:xfrm>
              <a:off x="792099" y="3297079"/>
              <a:ext cx="3163956"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hızlı görsel geri bildirim verir</a:t>
              </a:r>
            </a:p>
          </p:txBody>
        </p:sp>
        <p:sp>
          <p:nvSpPr>
            <p:cNvPr id="21" name="TextBox 21"/>
            <p:cNvSpPr txBox="1"/>
            <p:nvPr/>
          </p:nvSpPr>
          <p:spPr>
            <a:xfrm>
              <a:off x="792099" y="3868579"/>
              <a:ext cx="3174591"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doğrulaması güvenlik sağlamaz</a:t>
              </a:r>
            </a:p>
          </p:txBody>
        </p:sp>
        <p:sp>
          <p:nvSpPr>
            <p:cNvPr id="22" name="TextBox 22"/>
            <p:cNvSpPr txBox="1"/>
            <p:nvPr/>
          </p:nvSpPr>
          <p:spPr>
            <a:xfrm>
              <a:off x="563499" y="4592479"/>
              <a:ext cx="2925572"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52616B"/>
                  </a:solidFill>
                  <a:latin typeface="+mn-lt"/>
                  <a:ea typeface="+mn-ea"/>
                  <a:cs typeface="+mn-cs"/>
                </a:rPr>
                <a:t>Tarayıcıdaki kod değiştirilir,</a:t>
              </a:r>
              <a:br/>
              <a:r>
                <a:rPr lang="tr-TR" sz="1580" dirty="0">
                  <a:solidFill>
                    <a:srgbClr val="52616B"/>
                  </a:solidFill>
                  <a:latin typeface="+mn-lt"/>
                  <a:ea typeface="+mn-ea"/>
                  <a:cs typeface="+mn-cs"/>
                </a:rPr>
                <a:t>sahte istek gönderilebilir.</a:t>
              </a:r>
            </a:p>
          </p:txBody>
        </p:sp>
      </p:grpSp>
      <p:grpSp>
        <p:nvGrpSpPr>
          <p:cNvPr id="26" name="trust-boundary"/>
          <p:cNvGrpSpPr/>
          <p:nvPr/>
        </p:nvGrpSpPr>
        <p:grpSpPr>
          <a:xfrm>
            <a:off x="4849978" y="1203960"/>
            <a:ext cx="968045" cy="4034790"/>
            <a:chOff x="4849978" y="1203960"/>
            <a:chExt cx="968045" cy="4034790"/>
          </a:xfrm>
        </p:grpSpPr>
        <p:sp>
          <p:nvSpPr>
            <p:cNvPr id="24" name="TextBox 24"/>
            <p:cNvSpPr txBox="1"/>
            <p:nvPr/>
          </p:nvSpPr>
          <p:spPr>
            <a:xfrm>
              <a:off x="4849978" y="1203960"/>
              <a:ext cx="968045"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GÜVEN SINIRI</a:t>
              </a:r>
            </a:p>
          </p:txBody>
        </p:sp>
        <p:sp>
          <p:nvSpPr>
            <p:cNvPr id="25" name="Line 25"/>
            <p:cNvSpPr/>
            <p:nvPr/>
          </p:nvSpPr>
          <p:spPr>
            <a:xfrm>
              <a:off x="5334000" y="1524000"/>
              <a:ext cx="9525" cy="3714750"/>
            </a:xfrm>
            <a:custGeom>
              <a:avLst/>
              <a:gdLst/>
              <a:ahLst/>
              <a:cxnLst/>
              <a:rect l="l" t="t" r="r" b="b"/>
              <a:pathLst>
                <a:path w="9525" h="3714750">
                  <a:moveTo>
                    <a:pt x="0" y="0"/>
                  </a:moveTo>
                  <a:lnTo>
                    <a:pt x="0" y="3714750"/>
                  </a:lnTo>
                </a:path>
              </a:pathLst>
            </a:custGeom>
            <a:noFill/>
            <a:ln w="28575">
              <a:solidFill>
                <a:srgbClr val="00A6A6"/>
              </a:solidFill>
              <a:custDash>
                <a:ds d="266667" sp="200000"/>
              </a:custDash>
            </a:ln>
          </p:spPr>
        </p:sp>
      </p:grpSp>
      <p:grpSp>
        <p:nvGrpSpPr>
          <p:cNvPr id="39" name="trusted-side"/>
          <p:cNvGrpSpPr/>
          <p:nvPr/>
        </p:nvGrpSpPr>
        <p:grpSpPr>
          <a:xfrm>
            <a:off x="6286500" y="1428750"/>
            <a:ext cx="5334000" cy="3833717"/>
            <a:chOff x="6286500" y="1428750"/>
            <a:chExt cx="5334000" cy="3833717"/>
          </a:xfrm>
        </p:grpSpPr>
        <p:sp>
          <p:nvSpPr>
            <p:cNvPr id="27" name="Rectangle 27"/>
            <p:cNvSpPr/>
            <p:nvPr/>
          </p:nvSpPr>
          <p:spPr>
            <a:xfrm>
              <a:off x="6286500" y="1428750"/>
              <a:ext cx="5334000" cy="3810000"/>
            </a:xfrm>
            <a:prstGeom prst="rect">
              <a:avLst/>
            </a:prstGeom>
            <a:solidFill>
              <a:srgbClr val="12355B"/>
            </a:solidFill>
            <a:ln>
              <a:noFill/>
            </a:ln>
          </p:spPr>
        </p:sp>
        <p:sp>
          <p:nvSpPr>
            <p:cNvPr id="28" name="TextBox 28"/>
            <p:cNvSpPr txBox="1"/>
            <p:nvPr/>
          </p:nvSpPr>
          <p:spPr>
            <a:xfrm>
              <a:off x="6581394" y="1694498"/>
              <a:ext cx="4852516" cy="381381"/>
            </a:xfrm>
            <a:prstGeom prst="rect">
              <a:avLst/>
            </a:prstGeom>
            <a:noFill/>
            <a:ln>
              <a:noFill/>
            </a:ln>
          </p:spPr>
          <p:txBody>
            <a:bodyPr wrap="none" lIns="0" tIns="0" rIns="0" bIns="0" anchor="t" anchorCtr="0">
              <a:spAutoFit/>
            </a:bodyPr>
            <a:lstStyle/>
            <a:p>
              <a:pPr algn="l"/>
              <a:r>
                <a:rPr lang="tr-TR" sz="1950" b="1" dirty="0">
                  <a:solidFill>
                    <a:srgbClr val="F7FAFC"/>
                  </a:solidFill>
                  <a:latin typeface="+mn-lt"/>
                  <a:ea typeface="+mn-ea"/>
                  <a:cs typeface="+mn-cs"/>
                </a:rPr>
                <a:t>Backend (güvenilir kontrol noktası)</a:t>
              </a:r>
            </a:p>
          </p:txBody>
        </p:sp>
        <p:grpSp>
          <p:nvGrpSpPr>
            <p:cNvPr id="33" name="trusted-bullets"/>
            <p:cNvGrpSpPr/>
            <p:nvPr/>
          </p:nvGrpSpPr>
          <p:grpSpPr>
            <a:xfrm>
              <a:off x="6591300" y="2400300"/>
              <a:ext cx="76200" cy="1790700"/>
              <a:chOff x="6591300" y="2400300"/>
              <a:chExt cx="76200" cy="1790700"/>
            </a:xfrm>
          </p:grpSpPr>
          <p:sp>
            <p:nvSpPr>
              <p:cNvPr id="29" name="Rectangle 29"/>
              <p:cNvSpPr/>
              <p:nvPr/>
            </p:nvSpPr>
            <p:spPr>
              <a:xfrm>
                <a:off x="6591300" y="2400300"/>
                <a:ext cx="76200" cy="76200"/>
              </a:xfrm>
              <a:prstGeom prst="rect">
                <a:avLst/>
              </a:prstGeom>
              <a:solidFill>
                <a:srgbClr val="00A6A6"/>
              </a:solidFill>
              <a:ln>
                <a:noFill/>
              </a:ln>
            </p:spPr>
          </p:sp>
          <p:sp>
            <p:nvSpPr>
              <p:cNvPr id="30" name="Rectangle 30"/>
              <p:cNvSpPr/>
              <p:nvPr/>
            </p:nvSpPr>
            <p:spPr>
              <a:xfrm>
                <a:off x="6591300" y="2971800"/>
                <a:ext cx="76200" cy="76200"/>
              </a:xfrm>
              <a:prstGeom prst="rect">
                <a:avLst/>
              </a:prstGeom>
              <a:solidFill>
                <a:srgbClr val="00A6A6"/>
              </a:solidFill>
              <a:ln>
                <a:noFill/>
              </a:ln>
            </p:spPr>
          </p:sp>
          <p:sp>
            <p:nvSpPr>
              <p:cNvPr id="31" name="Rectangle 31"/>
              <p:cNvSpPr/>
              <p:nvPr/>
            </p:nvSpPr>
            <p:spPr>
              <a:xfrm>
                <a:off x="6591300" y="3543300"/>
                <a:ext cx="76200" cy="76200"/>
              </a:xfrm>
              <a:prstGeom prst="rect">
                <a:avLst/>
              </a:prstGeom>
              <a:solidFill>
                <a:srgbClr val="00A6A6"/>
              </a:solidFill>
              <a:ln>
                <a:noFill/>
              </a:ln>
            </p:spPr>
          </p:sp>
          <p:sp>
            <p:nvSpPr>
              <p:cNvPr id="32" name="Rectangle 32"/>
              <p:cNvSpPr/>
              <p:nvPr/>
            </p:nvSpPr>
            <p:spPr>
              <a:xfrm>
                <a:off x="6591300" y="4114800"/>
                <a:ext cx="76200" cy="76200"/>
              </a:xfrm>
              <a:prstGeom prst="rect">
                <a:avLst/>
              </a:prstGeom>
              <a:solidFill>
                <a:srgbClr val="00A6A6"/>
              </a:solidFill>
              <a:ln>
                <a:noFill/>
              </a:ln>
            </p:spPr>
          </p:sp>
        </p:grpSp>
        <p:sp>
          <p:nvSpPr>
            <p:cNvPr id="34" name="TextBox 34"/>
            <p:cNvSpPr txBox="1"/>
            <p:nvPr/>
          </p:nvSpPr>
          <p:spPr>
            <a:xfrm>
              <a:off x="6810756" y="2282190"/>
              <a:ext cx="2647417" cy="352044"/>
            </a:xfrm>
            <a:prstGeom prst="rect">
              <a:avLst/>
            </a:prstGeom>
            <a:noFill/>
            <a:ln>
              <a:noFill/>
            </a:ln>
          </p:spPr>
          <p:txBody>
            <a:bodyPr wrap="none" lIns="0" tIns="0" rIns="0" bIns="0" anchor="t" anchorCtr="0">
              <a:spAutoFit/>
            </a:bodyPr>
            <a:lstStyle/>
            <a:p>
              <a:pPr algn="l"/>
              <a:r>
                <a:rPr lang="tr-TR" sz="1800" dirty="0">
                  <a:solidFill>
                    <a:srgbClr val="EAF4F6"/>
                  </a:solidFill>
                  <a:latin typeface="+mn-lt"/>
                  <a:ea typeface="+mn-ea"/>
                  <a:cs typeface="+mn-cs"/>
                </a:rPr>
                <a:t>iş kurallarını yürütür</a:t>
              </a:r>
            </a:p>
          </p:txBody>
        </p:sp>
        <p:sp>
          <p:nvSpPr>
            <p:cNvPr id="35" name="TextBox 35"/>
            <p:cNvSpPr txBox="1"/>
            <p:nvPr/>
          </p:nvSpPr>
          <p:spPr>
            <a:xfrm>
              <a:off x="6810756" y="2853690"/>
              <a:ext cx="2453564" cy="352044"/>
            </a:xfrm>
            <a:prstGeom prst="rect">
              <a:avLst/>
            </a:prstGeom>
            <a:noFill/>
            <a:ln>
              <a:noFill/>
            </a:ln>
          </p:spPr>
          <p:txBody>
            <a:bodyPr wrap="none" lIns="0" tIns="0" rIns="0" bIns="0" anchor="t" anchorCtr="0">
              <a:spAutoFit/>
            </a:bodyPr>
            <a:lstStyle/>
            <a:p>
              <a:pPr algn="l"/>
              <a:r>
                <a:rPr lang="tr-TR" sz="1800" dirty="0">
                  <a:solidFill>
                    <a:srgbClr val="EAF4F6"/>
                  </a:solidFill>
                  <a:latin typeface="+mn-lt"/>
                  <a:ea typeface="+mn-ea"/>
                  <a:cs typeface="+mn-cs"/>
                </a:rPr>
                <a:t>gelen veriyi doğrular</a:t>
              </a:r>
            </a:p>
          </p:txBody>
        </p:sp>
        <p:sp>
          <p:nvSpPr>
            <p:cNvPr id="36" name="TextBox 36"/>
            <p:cNvSpPr txBox="1"/>
            <p:nvPr/>
          </p:nvSpPr>
          <p:spPr>
            <a:xfrm>
              <a:off x="6810756" y="3425190"/>
              <a:ext cx="2901848" cy="352044"/>
            </a:xfrm>
            <a:prstGeom prst="rect">
              <a:avLst/>
            </a:prstGeom>
            <a:noFill/>
            <a:ln>
              <a:noFill/>
            </a:ln>
          </p:spPr>
          <p:txBody>
            <a:bodyPr wrap="none" lIns="0" tIns="0" rIns="0" bIns="0" anchor="t" anchorCtr="0">
              <a:spAutoFit/>
            </a:bodyPr>
            <a:lstStyle/>
            <a:p>
              <a:pPr algn="l"/>
              <a:r>
                <a:rPr lang="tr-TR" sz="1800" dirty="0">
                  <a:solidFill>
                    <a:srgbClr val="EAF4F6"/>
                  </a:solidFill>
                  <a:latin typeface="+mn-lt"/>
                  <a:ea typeface="+mn-ea"/>
                  <a:cs typeface="+mn-cs"/>
                </a:rPr>
                <a:t>yetkilendirmeyi denetler</a:t>
              </a:r>
            </a:p>
          </p:txBody>
        </p:sp>
        <p:sp>
          <p:nvSpPr>
            <p:cNvPr id="37" name="TextBox 37"/>
            <p:cNvSpPr txBox="1"/>
            <p:nvPr/>
          </p:nvSpPr>
          <p:spPr>
            <a:xfrm>
              <a:off x="6810756" y="3996690"/>
              <a:ext cx="3459175" cy="352044"/>
            </a:xfrm>
            <a:prstGeom prst="rect">
              <a:avLst/>
            </a:prstGeom>
            <a:noFill/>
            <a:ln>
              <a:noFill/>
            </a:ln>
          </p:spPr>
          <p:txBody>
            <a:bodyPr wrap="none" lIns="0" tIns="0" rIns="0" bIns="0" anchor="t" anchorCtr="0">
              <a:spAutoFit/>
            </a:bodyPr>
            <a:lstStyle/>
            <a:p>
              <a:pPr algn="l"/>
              <a:r>
                <a:rPr lang="tr-TR" sz="1800" dirty="0">
                  <a:solidFill>
                    <a:srgbClr val="EAF4F6"/>
                  </a:solidFill>
                  <a:latin typeface="+mn-lt"/>
                  <a:ea typeface="+mn-ea"/>
                  <a:cs typeface="+mn-cs"/>
                </a:rPr>
                <a:t>veri işlemlerini koordine eder</a:t>
              </a:r>
            </a:p>
          </p:txBody>
        </p:sp>
        <p:sp>
          <p:nvSpPr>
            <p:cNvPr id="38" name="TextBox 38"/>
            <p:cNvSpPr txBox="1"/>
            <p:nvPr/>
          </p:nvSpPr>
          <p:spPr>
            <a:xfrm>
              <a:off x="6583299" y="4687729"/>
              <a:ext cx="3597783"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B8CBD3"/>
                  </a:solidFill>
                  <a:latin typeface="+mn-lt"/>
                  <a:ea typeface="+mn-ea"/>
                  <a:cs typeface="+mn-cs"/>
                </a:rPr>
                <a:t>“Bir öğrenci aynı derse iki kez kayıt</a:t>
              </a:r>
              <a:br/>
              <a:r>
                <a:rPr lang="tr-TR" sz="1580" dirty="0">
                  <a:solidFill>
                    <a:srgbClr val="B8CBD3"/>
                  </a:solidFill>
                  <a:latin typeface="+mn-lt"/>
                  <a:ea typeface="+mn-ea"/>
                  <a:cs typeface="+mn-cs"/>
                </a:rPr>
                <a:t>olamaz” bir iş kuralıdır.</a:t>
              </a:r>
            </a:p>
          </p:txBody>
        </p:sp>
      </p:grpSp>
      <p:grpSp>
        <p:nvGrpSpPr>
          <p:cNvPr id="42" name="single-source-of-truth"/>
          <p:cNvGrpSpPr/>
          <p:nvPr/>
        </p:nvGrpSpPr>
        <p:grpSpPr>
          <a:xfrm>
            <a:off x="571500" y="5429250"/>
            <a:ext cx="9998964" cy="805434"/>
            <a:chOff x="571500" y="5429250"/>
            <a:chExt cx="9998964" cy="805434"/>
          </a:xfrm>
        </p:grpSpPr>
        <p:sp>
          <p:nvSpPr>
            <p:cNvPr id="40" name="Rectangle 40"/>
            <p:cNvSpPr/>
            <p:nvPr/>
          </p:nvSpPr>
          <p:spPr>
            <a:xfrm>
              <a:off x="571500" y="5429250"/>
              <a:ext cx="57150" cy="762000"/>
            </a:xfrm>
            <a:prstGeom prst="rect">
              <a:avLst/>
            </a:prstGeom>
            <a:solidFill>
              <a:srgbClr val="00A6A6"/>
            </a:solidFill>
            <a:ln>
              <a:noFill/>
            </a:ln>
          </p:spPr>
        </p:sp>
        <p:sp>
          <p:nvSpPr>
            <p:cNvPr id="41" name="TextBox 41"/>
            <p:cNvSpPr txBox="1"/>
            <p:nvPr/>
          </p:nvSpPr>
          <p:spPr>
            <a:xfrm>
              <a:off x="790956" y="5558790"/>
              <a:ext cx="9779508" cy="675894"/>
            </a:xfrm>
            <a:prstGeom prst="rect">
              <a:avLst/>
            </a:prstGeom>
            <a:noFill/>
            <a:ln>
              <a:noFill/>
            </a:ln>
          </p:spPr>
          <p:txBody>
            <a:bodyPr wrap="none" lIns="0" tIns="0" rIns="0" bIns="0" anchor="t" anchorCtr="0">
              <a:spAutoFit/>
            </a:bodyPr>
            <a:lstStyle/>
            <a:p>
              <a:pPr algn="l">
                <a:lnSpc>
                  <a:spcPts val="2550"/>
                </a:lnSpc>
              </a:pPr>
              <a:r>
                <a:rPr lang="tr-TR" sz="1800" dirty="0">
                  <a:solidFill>
                    <a:srgbClr val="172B3A"/>
                  </a:solidFill>
                  <a:latin typeface="+mn-lt"/>
                  <a:ea typeface="+mn-ea"/>
                  <a:cs typeface="+mn-cs"/>
                </a:rPr>
                <a:t>İş kuralının iki katmanda tekrarlanması, tek doğruluk kaynağı ilkesinin ihlali sayılır</a:t>
              </a:r>
              <a:br/>
              <a:r>
                <a:rPr lang="tr-TR" sz="1800" dirty="0">
                  <a:solidFill>
                    <a:srgbClr val="172B3A"/>
                  </a:solidFill>
                  <a:latin typeface="+mn-lt"/>
                  <a:ea typeface="+mn-ea"/>
                  <a:cs typeface="+mn-cs"/>
                </a:rPr>
                <a:t>(Parnas, 1972). OWASP’ın sunucu tarafı doğrulama zorunluluğu bu sınırın sonucudur.</a:t>
              </a:r>
            </a:p>
          </p:txBody>
        </p:sp>
      </p:grpSp>
      <p:grpSp>
        <p:nvGrpSpPr>
          <p:cNvPr id="45" name="footer"/>
          <p:cNvGrpSpPr/>
          <p:nvPr/>
        </p:nvGrpSpPr>
        <p:grpSpPr>
          <a:xfrm>
            <a:off x="565404" y="6404610"/>
            <a:ext cx="11061192" cy="234696"/>
            <a:chOff x="565404" y="6404610"/>
            <a:chExt cx="11061192" cy="234696"/>
          </a:xfrm>
        </p:grpSpPr>
        <p:sp>
          <p:nvSpPr>
            <p:cNvPr id="43" name="TextBox 43"/>
            <p:cNvSpPr txBox="1"/>
            <p:nvPr/>
          </p:nvSpPr>
          <p:spPr>
            <a:xfrm>
              <a:off x="565404" y="6404610"/>
              <a:ext cx="496284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Bölüm 1 · Modern Backend Programlamaya Giriş ve Web Mimarisi</a:t>
              </a:r>
            </a:p>
          </p:txBody>
        </p:sp>
        <p:sp>
          <p:nvSpPr>
            <p:cNvPr id="44" name="TextBox 44"/>
            <p:cNvSpPr txBox="1"/>
            <p:nvPr/>
          </p:nvSpPr>
          <p:spPr>
            <a:xfrm>
              <a:off x="11436706" y="640461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15</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1" name="title"/>
          <p:cNvGrpSpPr/>
          <p:nvPr/>
        </p:nvGrpSpPr>
        <p:grpSpPr>
          <a:xfrm>
            <a:off x="0" y="0"/>
            <a:ext cx="12192000" cy="952500"/>
            <a:chOff x="0" y="0"/>
            <a:chExt cx="12192000" cy="952500"/>
          </a:xfrm>
        </p:grpSpPr>
        <p:sp>
          <p:nvSpPr>
            <p:cNvPr id="2" name="Rectangle 2"/>
            <p:cNvSpPr/>
            <p:nvPr/>
          </p:nvSpPr>
          <p:spPr>
            <a:xfrm>
              <a:off x="0" y="0"/>
              <a:ext cx="12192000" cy="914400"/>
            </a:xfrm>
            <a:prstGeom prst="rect">
              <a:avLst/>
            </a:prstGeom>
            <a:solidFill>
              <a:srgbClr val="12355B"/>
            </a:solidFill>
            <a:ln>
              <a:noFill/>
            </a:ln>
          </p:spPr>
        </p:sp>
        <p:sp>
          <p:nvSpPr>
            <p:cNvPr id="3" name="Rectangle 3"/>
            <p:cNvSpPr/>
            <p:nvPr/>
          </p:nvSpPr>
          <p:spPr>
            <a:xfrm>
              <a:off x="0" y="914400"/>
              <a:ext cx="12192000" cy="38100"/>
            </a:xfrm>
            <a:prstGeom prst="rect">
              <a:avLst/>
            </a:prstGeom>
            <a:solidFill>
              <a:srgbClr val="00A6A6"/>
            </a:solidFill>
            <a:ln>
              <a:noFill/>
            </a:ln>
          </p:spPr>
        </p:sp>
        <p:grpSp>
          <p:nvGrpSpPr>
            <p:cNvPr id="9" name="icon-badge"/>
            <p:cNvGrpSpPr/>
            <p:nvPr/>
          </p:nvGrpSpPr>
          <p:grpSpPr>
            <a:xfrm>
              <a:off x="571500" y="171450"/>
              <a:ext cx="571500" cy="571500"/>
              <a:chOff x="571500" y="171450"/>
              <a:chExt cx="571500" cy="571500"/>
            </a:xfrm>
          </p:grpSpPr>
          <p:sp>
            <p:nvSpPr>
              <p:cNvPr id="4" name="Ellipse 4"/>
              <p:cNvSpPr/>
              <p:nvPr/>
            </p:nvSpPr>
            <p:spPr>
              <a:xfrm>
                <a:off x="571500" y="171450"/>
                <a:ext cx="571500" cy="571500"/>
              </a:xfrm>
              <a:prstGeom prst="ellipse">
                <a:avLst/>
              </a:prstGeom>
              <a:solidFill>
                <a:srgbClr val="00A6A6"/>
              </a:solidFill>
              <a:ln>
                <a:noFill/>
              </a:ln>
            </p:spPr>
          </p:sp>
          <p:grpSp>
            <p:nvGrpSpPr>
              <p:cNvPr id="8" name="Group 8"/>
              <p:cNvGrpSpPr/>
              <p:nvPr/>
            </p:nvGrpSpPr>
            <p:grpSpPr>
              <a:xfrm>
                <a:off x="724376" y="339090"/>
                <a:ext cx="265748" cy="236220"/>
                <a:chOff x="724376" y="339090"/>
                <a:chExt cx="265748" cy="236220"/>
              </a:xfrm>
            </p:grpSpPr>
            <p:sp>
              <p:nvSpPr>
                <p:cNvPr id="5" name="Freeform 5"/>
                <p:cNvSpPr/>
                <p:nvPr/>
              </p:nvSpPr>
              <p:spPr>
                <a:xfrm>
                  <a:off x="724376" y="398145"/>
                  <a:ext cx="59055" cy="118110"/>
                </a:xfrm>
                <a:custGeom>
                  <a:avLst/>
                  <a:gdLst/>
                  <a:ahLst/>
                  <a:cxnLst/>
                  <a:rect l="l" t="t" r="r" b="b"/>
                  <a:pathLst>
                    <a:path w="59055" h="118110">
                      <a:moveTo>
                        <a:pt x="59055" y="0"/>
                      </a:moveTo>
                      <a:lnTo>
                        <a:pt x="0" y="59055"/>
                      </a:lnTo>
                      <a:lnTo>
                        <a:pt x="59055" y="118110"/>
                      </a:lnTo>
                    </a:path>
                  </a:pathLst>
                </a:custGeom>
                <a:noFill/>
                <a:ln w="24759" cap="rnd">
                  <a:solidFill>
                    <a:srgbClr val="FFFFFF"/>
                  </a:solidFill>
                  <a:round/>
                </a:ln>
              </p:spPr>
            </p:sp>
            <p:sp>
              <p:nvSpPr>
                <p:cNvPr id="6" name="Freeform 6"/>
                <p:cNvSpPr/>
                <p:nvPr/>
              </p:nvSpPr>
              <p:spPr>
                <a:xfrm>
                  <a:off x="931069" y="398145"/>
                  <a:ext cx="59055" cy="118110"/>
                </a:xfrm>
                <a:custGeom>
                  <a:avLst/>
                  <a:gdLst/>
                  <a:ahLst/>
                  <a:cxnLst/>
                  <a:rect l="l" t="t" r="r" b="b"/>
                  <a:pathLst>
                    <a:path w="59055" h="118110">
                      <a:moveTo>
                        <a:pt x="0" y="0"/>
                      </a:moveTo>
                      <a:lnTo>
                        <a:pt x="59055" y="59055"/>
                      </a:lnTo>
                      <a:lnTo>
                        <a:pt x="0" y="118110"/>
                      </a:lnTo>
                    </a:path>
                  </a:pathLst>
                </a:custGeom>
                <a:noFill/>
                <a:ln w="24759" cap="rnd">
                  <a:solidFill>
                    <a:srgbClr val="FFFFFF"/>
                  </a:solidFill>
                  <a:round/>
                </a:ln>
              </p:spPr>
            </p:sp>
            <p:sp>
              <p:nvSpPr>
                <p:cNvPr id="7" name="Freeform 7"/>
                <p:cNvSpPr/>
                <p:nvPr/>
              </p:nvSpPr>
              <p:spPr>
                <a:xfrm>
                  <a:off x="827722" y="339090"/>
                  <a:ext cx="59055" cy="236220"/>
                </a:xfrm>
                <a:custGeom>
                  <a:avLst/>
                  <a:gdLst/>
                  <a:ahLst/>
                  <a:cxnLst/>
                  <a:rect l="l" t="t" r="r" b="b"/>
                  <a:pathLst>
                    <a:path w="59055" h="236220">
                      <a:moveTo>
                        <a:pt x="59055" y="0"/>
                      </a:moveTo>
                      <a:lnTo>
                        <a:pt x="0" y="236220"/>
                      </a:lnTo>
                    </a:path>
                  </a:pathLst>
                </a:custGeom>
                <a:noFill/>
                <a:ln w="24759" cap="rnd">
                  <a:solidFill>
                    <a:srgbClr val="FFFFFF"/>
                  </a:solidFill>
                  <a:round/>
                </a:ln>
              </p:spPr>
            </p:sp>
          </p:grpSp>
        </p:grpSp>
        <p:sp>
          <p:nvSpPr>
            <p:cNvPr id="10" name="TextBox 10"/>
            <p:cNvSpPr txBox="1"/>
            <p:nvPr/>
          </p:nvSpPr>
          <p:spPr>
            <a:xfrm>
              <a:off x="1261872" y="282892"/>
              <a:ext cx="7915204" cy="557403"/>
            </a:xfrm>
            <a:prstGeom prst="rect">
              <a:avLst/>
            </a:prstGeom>
            <a:noFill/>
            <a:ln>
              <a:noFill/>
            </a:ln>
          </p:spPr>
          <p:txBody>
            <a:bodyPr wrap="none" lIns="0" tIns="0" rIns="0" bIns="0" anchor="t" anchorCtr="0">
              <a:spAutoFit/>
            </a:bodyPr>
            <a:lstStyle/>
            <a:p>
              <a:pPr algn="l"/>
              <a:r>
                <a:rPr lang="tr-TR" sz="2850" b="1" dirty="0">
                  <a:solidFill>
                    <a:srgbClr val="F7FAFC"/>
                  </a:solidFill>
                  <a:latin typeface="+mj-lt"/>
                  <a:ea typeface="+mj-ea"/>
                  <a:cs typeface="+mj-cs"/>
                </a:rPr>
                <a:t>Kod 1.3 · İş kuralı tek giriş noktasında</a:t>
              </a:r>
            </a:p>
          </p:txBody>
        </p:sp>
      </p:grpSp>
      <p:grpSp>
        <p:nvGrpSpPr>
          <p:cNvPr id="25" name="code-panel"/>
          <p:cNvGrpSpPr/>
          <p:nvPr/>
        </p:nvGrpSpPr>
        <p:grpSpPr>
          <a:xfrm>
            <a:off x="571500" y="1295400"/>
            <a:ext cx="7239000" cy="4133850"/>
            <a:chOff x="571500" y="1295400"/>
            <a:chExt cx="7239000" cy="4133850"/>
          </a:xfrm>
        </p:grpSpPr>
        <p:sp>
          <p:nvSpPr>
            <p:cNvPr id="12" name="Rectangle 12"/>
            <p:cNvSpPr/>
            <p:nvPr/>
          </p:nvSpPr>
          <p:spPr>
            <a:xfrm>
              <a:off x="571500" y="1295400"/>
              <a:ext cx="7239000" cy="4133850"/>
            </a:xfrm>
            <a:prstGeom prst="rect">
              <a:avLst/>
            </a:prstGeom>
            <a:solidFill>
              <a:srgbClr val="12355B"/>
            </a:solidFill>
            <a:ln>
              <a:noFill/>
            </a:ln>
          </p:spPr>
        </p:sp>
        <p:sp>
          <p:nvSpPr>
            <p:cNvPr id="13" name="TextBox 13"/>
            <p:cNvSpPr txBox="1"/>
            <p:nvPr/>
          </p:nvSpPr>
          <p:spPr>
            <a:xfrm>
              <a:off x="792099" y="1544479"/>
              <a:ext cx="2963196" cy="308039"/>
            </a:xfrm>
            <a:prstGeom prst="rect">
              <a:avLst/>
            </a:prstGeom>
            <a:noFill/>
            <a:ln>
              <a:noFill/>
            </a:ln>
          </p:spPr>
          <p:txBody>
            <a:bodyPr wrap="none" lIns="0" tIns="0" rIns="0" bIns="0" anchor="t" anchorCtr="0">
              <a:spAutoFit/>
            </a:bodyPr>
            <a:lstStyle/>
            <a:p>
              <a:pPr algn="l"/>
              <a:r>
                <a:rPr lang="tr-TR" sz="1580" dirty="0">
                  <a:solidFill>
                    <a:srgbClr val="EAF4F6"/>
                  </a:solidFill>
                  <a:latin typeface="Consolas"/>
                  <a:ea typeface="Consolas"/>
                  <a:cs typeface="Consolas"/>
                </a:rPr>
                <a:t>class NotYonetimServisi {</a:t>
              </a:r>
            </a:p>
          </p:txBody>
        </p:sp>
        <p:sp>
          <p:nvSpPr>
            <p:cNvPr id="14" name="TextBox 14"/>
            <p:cNvSpPr txBox="1"/>
            <p:nvPr/>
          </p:nvSpPr>
          <p:spPr>
            <a:xfrm>
              <a:off x="1030224" y="1830229"/>
              <a:ext cx="5883138" cy="308039"/>
            </a:xfrm>
            <a:prstGeom prst="rect">
              <a:avLst/>
            </a:prstGeom>
            <a:noFill/>
            <a:ln>
              <a:noFill/>
            </a:ln>
          </p:spPr>
          <p:txBody>
            <a:bodyPr wrap="none" lIns="0" tIns="0" rIns="0" bIns="0" anchor="t" anchorCtr="0">
              <a:spAutoFit/>
            </a:bodyPr>
            <a:lstStyle/>
            <a:p>
              <a:pPr algn="l"/>
              <a:r>
                <a:rPr lang="tr-TR" sz="1580" dirty="0">
                  <a:solidFill>
                    <a:srgbClr val="EAF4F6"/>
                  </a:solidFill>
                  <a:latin typeface="Consolas"/>
                  <a:ea typeface="Consolas"/>
                  <a:cs typeface="Consolas"/>
                </a:rPr>
                <a:t>private notKayitlari: Record&lt;string, number&gt; = {};</a:t>
              </a:r>
            </a:p>
          </p:txBody>
        </p:sp>
        <p:sp>
          <p:nvSpPr>
            <p:cNvPr id="15" name="TextBox 15"/>
            <p:cNvSpPr txBox="1"/>
            <p:nvPr/>
          </p:nvSpPr>
          <p:spPr>
            <a:xfrm>
              <a:off x="1030224" y="2401729"/>
              <a:ext cx="4008494" cy="308039"/>
            </a:xfrm>
            <a:prstGeom prst="rect">
              <a:avLst/>
            </a:prstGeom>
            <a:noFill/>
            <a:ln>
              <a:noFill/>
            </a:ln>
          </p:spPr>
          <p:txBody>
            <a:bodyPr wrap="none" lIns="0" tIns="0" rIns="0" bIns="0" anchor="t" anchorCtr="0">
              <a:spAutoFit/>
            </a:bodyPr>
            <a:lstStyle/>
            <a:p>
              <a:pPr algn="l"/>
              <a:r>
                <a:rPr lang="tr-TR" sz="1580" dirty="0">
                  <a:solidFill>
                    <a:srgbClr val="EAF4F6"/>
                  </a:solidFill>
                  <a:latin typeface="Consolas"/>
                  <a:ea typeface="Consolas"/>
                  <a:cs typeface="Consolas"/>
                </a:rPr>
                <a:t>notKaydet(ogrenciNumarasi: string,</a:t>
              </a:r>
            </a:p>
          </p:txBody>
        </p:sp>
        <p:sp>
          <p:nvSpPr>
            <p:cNvPr id="16" name="TextBox 16"/>
            <p:cNvSpPr txBox="1"/>
            <p:nvPr/>
          </p:nvSpPr>
          <p:spPr>
            <a:xfrm>
              <a:off x="2220849" y="2687479"/>
              <a:ext cx="3901713" cy="308039"/>
            </a:xfrm>
            <a:prstGeom prst="rect">
              <a:avLst/>
            </a:prstGeom>
            <a:noFill/>
            <a:ln>
              <a:noFill/>
            </a:ln>
          </p:spPr>
          <p:txBody>
            <a:bodyPr wrap="none" lIns="0" tIns="0" rIns="0" bIns="0" anchor="t" anchorCtr="0">
              <a:spAutoFit/>
            </a:bodyPr>
            <a:lstStyle/>
            <a:p>
              <a:pPr algn="l"/>
              <a:r>
                <a:rPr lang="tr-TR" sz="1580" dirty="0">
                  <a:solidFill>
                    <a:srgbClr val="EAF4F6"/>
                  </a:solidFill>
                  <a:latin typeface="Consolas"/>
                  <a:ea typeface="Consolas"/>
                  <a:cs typeface="Consolas"/>
                </a:rPr>
                <a:t>notDegeri: number): IslemSonucu {</a:t>
              </a:r>
            </a:p>
          </p:txBody>
        </p:sp>
        <p:sp>
          <p:nvSpPr>
            <p:cNvPr id="17" name="TextBox 17"/>
            <p:cNvSpPr txBox="1"/>
            <p:nvPr/>
          </p:nvSpPr>
          <p:spPr>
            <a:xfrm>
              <a:off x="1268349" y="2973229"/>
              <a:ext cx="4604233" cy="308039"/>
            </a:xfrm>
            <a:prstGeom prst="rect">
              <a:avLst/>
            </a:prstGeom>
            <a:noFill/>
            <a:ln>
              <a:noFill/>
            </a:ln>
          </p:spPr>
          <p:txBody>
            <a:bodyPr wrap="none" lIns="0" tIns="0" rIns="0" bIns="0" anchor="t" anchorCtr="0">
              <a:spAutoFit/>
            </a:bodyPr>
            <a:lstStyle/>
            <a:p>
              <a:pPr algn="l"/>
              <a:r>
                <a:rPr lang="tr-TR" sz="1580" dirty="0">
                  <a:solidFill>
                    <a:srgbClr val="EAF4F6"/>
                  </a:solidFill>
                  <a:latin typeface="Consolas"/>
                  <a:ea typeface="Consolas"/>
                  <a:cs typeface="Consolas"/>
                </a:rPr>
                <a:t>if (notDegeri &lt; 0 || notDegeri &gt; 100) {</a:t>
              </a:r>
            </a:p>
          </p:txBody>
        </p:sp>
        <p:sp>
          <p:nvSpPr>
            <p:cNvPr id="18" name="TextBox 18"/>
            <p:cNvSpPr txBox="1"/>
            <p:nvPr/>
          </p:nvSpPr>
          <p:spPr>
            <a:xfrm>
              <a:off x="1506474" y="3258979"/>
              <a:ext cx="2940622" cy="308039"/>
            </a:xfrm>
            <a:prstGeom prst="rect">
              <a:avLst/>
            </a:prstGeom>
            <a:noFill/>
            <a:ln>
              <a:noFill/>
            </a:ln>
          </p:spPr>
          <p:txBody>
            <a:bodyPr wrap="none" lIns="0" tIns="0" rIns="0" bIns="0" anchor="t" anchorCtr="0">
              <a:spAutoFit/>
            </a:bodyPr>
            <a:lstStyle/>
            <a:p>
              <a:pPr algn="l"/>
              <a:r>
                <a:rPr lang="tr-TR" sz="1580" dirty="0">
                  <a:solidFill>
                    <a:srgbClr val="EAF4F6"/>
                  </a:solidFill>
                  <a:latin typeface="Consolas"/>
                  <a:ea typeface="Consolas"/>
                  <a:cs typeface="Consolas"/>
                </a:rPr>
                <a:t>return { basarili: false,</a:t>
              </a:r>
            </a:p>
          </p:txBody>
        </p:sp>
        <p:sp>
          <p:nvSpPr>
            <p:cNvPr id="19" name="TextBox 19"/>
            <p:cNvSpPr txBox="1"/>
            <p:nvPr/>
          </p:nvSpPr>
          <p:spPr>
            <a:xfrm>
              <a:off x="1744599" y="3544729"/>
              <a:ext cx="4823238" cy="308039"/>
            </a:xfrm>
            <a:prstGeom prst="rect">
              <a:avLst/>
            </a:prstGeom>
            <a:noFill/>
            <a:ln>
              <a:noFill/>
            </a:ln>
          </p:spPr>
          <p:txBody>
            <a:bodyPr wrap="none" lIns="0" tIns="0" rIns="0" bIns="0" anchor="t" anchorCtr="0">
              <a:spAutoFit/>
            </a:bodyPr>
            <a:lstStyle/>
            <a:p>
              <a:pPr algn="l"/>
              <a:r>
                <a:rPr lang="tr-TR" sz="1580" dirty="0">
                  <a:solidFill>
                    <a:srgbClr val="EAF4F6"/>
                  </a:solidFill>
                  <a:latin typeface="Consolas"/>
                  <a:ea typeface="Consolas"/>
                  <a:cs typeface="Consolas"/>
                </a:rPr>
                <a:t>mesaj: "Not 0-100 arasında olmalıdır." };</a:t>
              </a:r>
            </a:p>
          </p:txBody>
        </p:sp>
        <p:sp>
          <p:nvSpPr>
            <p:cNvPr id="20" name="TextBox 20"/>
            <p:cNvSpPr txBox="1"/>
            <p:nvPr/>
          </p:nvSpPr>
          <p:spPr>
            <a:xfrm>
              <a:off x="1268349" y="3830479"/>
              <a:ext cx="132987" cy="308039"/>
            </a:xfrm>
            <a:prstGeom prst="rect">
              <a:avLst/>
            </a:prstGeom>
            <a:noFill/>
            <a:ln>
              <a:noFill/>
            </a:ln>
          </p:spPr>
          <p:txBody>
            <a:bodyPr wrap="none" lIns="0" tIns="0" rIns="0" bIns="0" anchor="t" anchorCtr="0">
              <a:spAutoFit/>
            </a:bodyPr>
            <a:lstStyle/>
            <a:p>
              <a:pPr algn="l"/>
              <a:r>
                <a:rPr lang="tr-TR" sz="1580" dirty="0">
                  <a:solidFill>
                    <a:srgbClr val="EAF4F6"/>
                  </a:solidFill>
                  <a:latin typeface="Consolas"/>
                  <a:ea typeface="Consolas"/>
                  <a:cs typeface="Consolas"/>
                </a:rPr>
                <a:t>}</a:t>
              </a:r>
            </a:p>
          </p:txBody>
        </p:sp>
        <p:sp>
          <p:nvSpPr>
            <p:cNvPr id="21" name="TextBox 21"/>
            <p:cNvSpPr txBox="1"/>
            <p:nvPr/>
          </p:nvSpPr>
          <p:spPr>
            <a:xfrm>
              <a:off x="1268349" y="4116229"/>
              <a:ext cx="5537628" cy="308039"/>
            </a:xfrm>
            <a:prstGeom prst="rect">
              <a:avLst/>
            </a:prstGeom>
            <a:noFill/>
            <a:ln>
              <a:noFill/>
            </a:ln>
          </p:spPr>
          <p:txBody>
            <a:bodyPr wrap="none" lIns="0" tIns="0" rIns="0" bIns="0" anchor="t" anchorCtr="0">
              <a:spAutoFit/>
            </a:bodyPr>
            <a:lstStyle/>
            <a:p>
              <a:pPr algn="l"/>
              <a:r>
                <a:rPr lang="tr-TR" sz="1580" dirty="0">
                  <a:solidFill>
                    <a:srgbClr val="EAF4F6"/>
                  </a:solidFill>
                  <a:latin typeface="Consolas"/>
                  <a:ea typeface="Consolas"/>
                  <a:cs typeface="Consolas"/>
                </a:rPr>
                <a:t>this.notKayitlari[ogrenciNumarasi] = notDegeri;</a:t>
              </a:r>
            </a:p>
          </p:txBody>
        </p:sp>
        <p:sp>
          <p:nvSpPr>
            <p:cNvPr id="22" name="TextBox 22"/>
            <p:cNvSpPr txBox="1"/>
            <p:nvPr/>
          </p:nvSpPr>
          <p:spPr>
            <a:xfrm>
              <a:off x="1268349" y="4401979"/>
              <a:ext cx="5514287" cy="308039"/>
            </a:xfrm>
            <a:prstGeom prst="rect">
              <a:avLst/>
            </a:prstGeom>
            <a:noFill/>
            <a:ln>
              <a:noFill/>
            </a:ln>
          </p:spPr>
          <p:txBody>
            <a:bodyPr wrap="none" lIns="0" tIns="0" rIns="0" bIns="0" anchor="t" anchorCtr="0">
              <a:spAutoFit/>
            </a:bodyPr>
            <a:lstStyle/>
            <a:p>
              <a:pPr algn="l"/>
              <a:r>
                <a:rPr lang="tr-TR" sz="1580" dirty="0">
                  <a:solidFill>
                    <a:srgbClr val="EAF4F6"/>
                  </a:solidFill>
                  <a:latin typeface="Consolas"/>
                  <a:ea typeface="Consolas"/>
                  <a:cs typeface="Consolas"/>
                </a:rPr>
                <a:t>return { basarili: true, mesaj: "kaydedildi" };</a:t>
              </a:r>
            </a:p>
          </p:txBody>
        </p:sp>
        <p:sp>
          <p:nvSpPr>
            <p:cNvPr id="23" name="TextBox 23"/>
            <p:cNvSpPr txBox="1"/>
            <p:nvPr/>
          </p:nvSpPr>
          <p:spPr>
            <a:xfrm>
              <a:off x="1030224" y="4687729"/>
              <a:ext cx="132987" cy="308039"/>
            </a:xfrm>
            <a:prstGeom prst="rect">
              <a:avLst/>
            </a:prstGeom>
            <a:noFill/>
            <a:ln>
              <a:noFill/>
            </a:ln>
          </p:spPr>
          <p:txBody>
            <a:bodyPr wrap="none" lIns="0" tIns="0" rIns="0" bIns="0" anchor="t" anchorCtr="0">
              <a:spAutoFit/>
            </a:bodyPr>
            <a:lstStyle/>
            <a:p>
              <a:pPr algn="l"/>
              <a:r>
                <a:rPr lang="tr-TR" sz="1580" dirty="0">
                  <a:solidFill>
                    <a:srgbClr val="EAF4F6"/>
                  </a:solidFill>
                  <a:latin typeface="Consolas"/>
                  <a:ea typeface="Consolas"/>
                  <a:cs typeface="Consolas"/>
                </a:rPr>
                <a:t>}</a:t>
              </a:r>
            </a:p>
          </p:txBody>
        </p:sp>
        <p:sp>
          <p:nvSpPr>
            <p:cNvPr id="24" name="TextBox 24"/>
            <p:cNvSpPr txBox="1"/>
            <p:nvPr/>
          </p:nvSpPr>
          <p:spPr>
            <a:xfrm>
              <a:off x="792099" y="4973479"/>
              <a:ext cx="132987" cy="308039"/>
            </a:xfrm>
            <a:prstGeom prst="rect">
              <a:avLst/>
            </a:prstGeom>
            <a:noFill/>
            <a:ln>
              <a:noFill/>
            </a:ln>
          </p:spPr>
          <p:txBody>
            <a:bodyPr wrap="none" lIns="0" tIns="0" rIns="0" bIns="0" anchor="t" anchorCtr="0">
              <a:spAutoFit/>
            </a:bodyPr>
            <a:lstStyle/>
            <a:p>
              <a:pPr algn="l"/>
              <a:r>
                <a:rPr lang="tr-TR" sz="1580" dirty="0">
                  <a:solidFill>
                    <a:srgbClr val="EAF4F6"/>
                  </a:solidFill>
                  <a:latin typeface="Consolas"/>
                  <a:ea typeface="Consolas"/>
                  <a:cs typeface="Consolas"/>
                </a:rPr>
                <a:t>}</a:t>
              </a:r>
            </a:p>
          </p:txBody>
        </p:sp>
      </p:grpSp>
      <p:grpSp>
        <p:nvGrpSpPr>
          <p:cNvPr id="29" name="encapsulation"/>
          <p:cNvGrpSpPr/>
          <p:nvPr/>
        </p:nvGrpSpPr>
        <p:grpSpPr>
          <a:xfrm>
            <a:off x="8181594" y="1465898"/>
            <a:ext cx="3185160" cy="2558319"/>
            <a:chOff x="8181594" y="1465898"/>
            <a:chExt cx="3185160" cy="2558319"/>
          </a:xfrm>
        </p:grpSpPr>
        <p:sp>
          <p:nvSpPr>
            <p:cNvPr id="26" name="TextBox 26"/>
            <p:cNvSpPr txBox="1"/>
            <p:nvPr/>
          </p:nvSpPr>
          <p:spPr>
            <a:xfrm>
              <a:off x="8181594" y="1465898"/>
              <a:ext cx="1461224"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Kapsülleme</a:t>
              </a:r>
            </a:p>
          </p:txBody>
        </p:sp>
        <p:sp>
          <p:nvSpPr>
            <p:cNvPr id="27" name="TextBox 27"/>
            <p:cNvSpPr txBox="1"/>
            <p:nvPr/>
          </p:nvSpPr>
          <p:spPr>
            <a:xfrm>
              <a:off x="8182356" y="1863090"/>
              <a:ext cx="3184398" cy="1323594"/>
            </a:xfrm>
            <a:prstGeom prst="rect">
              <a:avLst/>
            </a:prstGeom>
            <a:noFill/>
            <a:ln>
              <a:noFill/>
            </a:ln>
          </p:spPr>
          <p:txBody>
            <a:bodyPr wrap="none" lIns="0" tIns="0" rIns="0" bIns="0" anchor="t" anchorCtr="0">
              <a:spAutoFit/>
            </a:bodyPr>
            <a:lstStyle/>
            <a:p>
              <a:pPr algn="l">
                <a:lnSpc>
                  <a:spcPts val="2550"/>
                </a:lnSpc>
              </a:pPr>
              <a:r>
                <a:rPr lang="tr-TR" sz="1800" dirty="0">
                  <a:solidFill>
                    <a:srgbClr val="172B3A"/>
                  </a:solidFill>
                  <a:latin typeface="+mn-lt"/>
                  <a:ea typeface="+mn-ea"/>
                  <a:cs typeface="+mn-cs"/>
                </a:rPr>
                <a:t>private notKayitlari,</a:t>
              </a:r>
              <a:br/>
              <a:r>
                <a:rPr lang="tr-TR" sz="1800" dirty="0">
                  <a:solidFill>
                    <a:srgbClr val="172B3A"/>
                  </a:solidFill>
                  <a:latin typeface="+mn-lt"/>
                  <a:ea typeface="+mn-ea"/>
                  <a:cs typeface="+mn-cs"/>
                </a:rPr>
                <a:t>kayıtların yalnızca sınıfın</a:t>
              </a:r>
              <a:br/>
              <a:r>
                <a:rPr lang="tr-TR" sz="1800" dirty="0">
                  <a:solidFill>
                    <a:srgbClr val="172B3A"/>
                  </a:solidFill>
                  <a:latin typeface="+mn-lt"/>
                  <a:ea typeface="+mn-ea"/>
                  <a:cs typeface="+mn-cs"/>
                </a:rPr>
                <a:t>metotları aracılığıyla</a:t>
              </a:r>
              <a:br/>
              <a:r>
                <a:rPr lang="tr-TR" sz="1800" dirty="0">
                  <a:solidFill>
                    <a:srgbClr val="172B3A"/>
                  </a:solidFill>
                  <a:latin typeface="+mn-lt"/>
                  <a:ea typeface="+mn-ea"/>
                  <a:cs typeface="+mn-cs"/>
                </a:rPr>
                <a:t>değişmesini sağlar.</a:t>
              </a:r>
            </a:p>
          </p:txBody>
        </p:sp>
        <p:sp>
          <p:nvSpPr>
            <p:cNvPr id="28" name="TextBox 28"/>
            <p:cNvSpPr txBox="1"/>
            <p:nvPr/>
          </p:nvSpPr>
          <p:spPr>
            <a:xfrm>
              <a:off x="8183499" y="3449479"/>
              <a:ext cx="2614549"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52616B"/>
                  </a:solidFill>
                  <a:latin typeface="+mn-lt"/>
                  <a:ea typeface="+mn-ea"/>
                  <a:cs typeface="+mn-cs"/>
                </a:rPr>
                <a:t>Dışarıdaki kod, doğrulama</a:t>
              </a:r>
              <a:br/>
              <a:r>
                <a:rPr lang="tr-TR" sz="1580" dirty="0">
                  <a:solidFill>
                    <a:srgbClr val="52616B"/>
                  </a:solidFill>
                  <a:latin typeface="+mn-lt"/>
                  <a:ea typeface="+mn-ea"/>
                  <a:cs typeface="+mn-cs"/>
                </a:rPr>
                <a:t>yapmadan not ekleyemez.</a:t>
              </a:r>
            </a:p>
          </p:txBody>
        </p:sp>
      </p:grpSp>
      <p:grpSp>
        <p:nvGrpSpPr>
          <p:cNvPr id="33" name="private-caution"/>
          <p:cNvGrpSpPr/>
          <p:nvPr/>
        </p:nvGrpSpPr>
        <p:grpSpPr>
          <a:xfrm>
            <a:off x="8191500" y="4286250"/>
            <a:ext cx="3216402" cy="1905000"/>
            <a:chOff x="8191500" y="4286250"/>
            <a:chExt cx="3216402" cy="1905000"/>
          </a:xfrm>
        </p:grpSpPr>
        <p:sp>
          <p:nvSpPr>
            <p:cNvPr id="30" name="Rectangle 30"/>
            <p:cNvSpPr/>
            <p:nvPr/>
          </p:nvSpPr>
          <p:spPr>
            <a:xfrm>
              <a:off x="8191500" y="4286250"/>
              <a:ext cx="57150" cy="1905000"/>
            </a:xfrm>
            <a:prstGeom prst="rect">
              <a:avLst/>
            </a:prstGeom>
            <a:solidFill>
              <a:srgbClr val="2E86AB"/>
            </a:solidFill>
            <a:ln>
              <a:noFill/>
            </a:ln>
          </p:spPr>
        </p:sp>
        <p:sp>
          <p:nvSpPr>
            <p:cNvPr id="31" name="TextBox 31"/>
            <p:cNvSpPr txBox="1"/>
            <p:nvPr/>
          </p:nvSpPr>
          <p:spPr>
            <a:xfrm>
              <a:off x="8412099" y="4401979"/>
              <a:ext cx="2776080" cy="574738"/>
            </a:xfrm>
            <a:prstGeom prst="rect">
              <a:avLst/>
            </a:prstGeom>
            <a:noFill/>
            <a:ln>
              <a:noFill/>
            </a:ln>
          </p:spPr>
          <p:txBody>
            <a:bodyPr wrap="none" lIns="0" tIns="0" rIns="0" bIns="0" anchor="t" anchorCtr="0">
              <a:spAutoFit/>
            </a:bodyPr>
            <a:lstStyle/>
            <a:p>
              <a:pPr algn="l">
                <a:lnSpc>
                  <a:spcPts val="2100"/>
                </a:lnSpc>
              </a:pPr>
              <a:r>
                <a:rPr lang="tr-TR" sz="1580" b="1" dirty="0">
                  <a:solidFill>
                    <a:srgbClr val="12355B"/>
                  </a:solidFill>
                  <a:latin typeface="+mn-lt"/>
                  <a:ea typeface="+mn-ea"/>
                  <a:cs typeface="+mn-cs"/>
                </a:rPr>
                <a:t>private bir güvenlik sınırı</a:t>
              </a:r>
              <a:br/>
              <a:r>
                <a:rPr lang="tr-TR" sz="1580" b="1" dirty="0">
                  <a:solidFill>
                    <a:srgbClr val="12355B"/>
                  </a:solidFill>
                  <a:latin typeface="+mn-lt"/>
                  <a:ea typeface="+mn-ea"/>
                  <a:cs typeface="+mn-cs"/>
                </a:rPr>
                <a:t>değildir</a:t>
              </a:r>
            </a:p>
          </p:txBody>
        </p:sp>
        <p:sp>
          <p:nvSpPr>
            <p:cNvPr id="32" name="TextBox 32"/>
            <p:cNvSpPr txBox="1"/>
            <p:nvPr/>
          </p:nvSpPr>
          <p:spPr>
            <a:xfrm>
              <a:off x="8412099" y="5030629"/>
              <a:ext cx="2995803" cy="1108138"/>
            </a:xfrm>
            <a:prstGeom prst="rect">
              <a:avLst/>
            </a:prstGeom>
            <a:noFill/>
            <a:ln>
              <a:noFill/>
            </a:ln>
          </p:spPr>
          <p:txBody>
            <a:bodyPr wrap="none" lIns="0" tIns="0" rIns="0" bIns="0" anchor="t" anchorCtr="0">
              <a:spAutoFit/>
            </a:bodyPr>
            <a:lstStyle/>
            <a:p>
              <a:pPr algn="l">
                <a:lnSpc>
                  <a:spcPts val="2100"/>
                </a:lnSpc>
              </a:pPr>
              <a:r>
                <a:rPr lang="tr-TR" sz="1580" dirty="0">
                  <a:solidFill>
                    <a:srgbClr val="52616B"/>
                  </a:solidFill>
                  <a:latin typeface="+mn-lt"/>
                  <a:ea typeface="+mn-ea"/>
                  <a:cs typeface="+mn-cs"/>
                </a:rPr>
                <a:t>Yalnızca derleme zamanında</a:t>
              </a:r>
              <a:br/>
              <a:r>
                <a:rPr lang="tr-TR" sz="1580" dirty="0">
                  <a:solidFill>
                    <a:srgbClr val="52616B"/>
                  </a:solidFill>
                  <a:latin typeface="+mn-lt"/>
                  <a:ea typeface="+mn-ea"/>
                  <a:cs typeface="+mn-cs"/>
                </a:rPr>
                <a:t>geçerlidir; çalışma zamanında</a:t>
              </a:r>
              <a:br/>
              <a:r>
                <a:rPr lang="tr-TR" sz="1580" dirty="0">
                  <a:solidFill>
                    <a:srgbClr val="52616B"/>
                  </a:solidFill>
                  <a:latin typeface="+mn-lt"/>
                  <a:ea typeface="+mn-ea"/>
                  <a:cs typeface="+mn-cs"/>
                </a:rPr>
                <a:t>alan hâlâ erişilebilir. Gerçek</a:t>
              </a:r>
              <a:br/>
              <a:r>
                <a:rPr lang="tr-TR" sz="1580" dirty="0">
                  <a:solidFill>
                    <a:srgbClr val="52616B"/>
                  </a:solidFill>
                  <a:latin typeface="+mn-lt"/>
                  <a:ea typeface="+mn-ea"/>
                  <a:cs typeface="+mn-cs"/>
                </a:rPr>
                <a:t>gizlilik için #alan kullanılır.</a:t>
              </a:r>
            </a:p>
          </p:txBody>
        </p:sp>
      </p:grpSp>
      <p:grpSp>
        <p:nvGrpSpPr>
          <p:cNvPr id="35" name="code-takeaway"/>
          <p:cNvGrpSpPr/>
          <p:nvPr/>
        </p:nvGrpSpPr>
        <p:grpSpPr>
          <a:xfrm>
            <a:off x="563499" y="5659279"/>
            <a:ext cx="5744845" cy="574738"/>
            <a:chOff x="563499" y="5659279"/>
            <a:chExt cx="5744845" cy="574738"/>
          </a:xfrm>
        </p:grpSpPr>
        <p:sp>
          <p:nvSpPr>
            <p:cNvPr id="34" name="TextBox 34"/>
            <p:cNvSpPr txBox="1"/>
            <p:nvPr/>
          </p:nvSpPr>
          <p:spPr>
            <a:xfrm>
              <a:off x="563499" y="5659279"/>
              <a:ext cx="5744845"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Güvence private’tan değil, isteğin backend’deki doğrulama</a:t>
              </a:r>
              <a:br/>
              <a:r>
                <a:rPr lang="tr-TR" sz="1580" dirty="0">
                  <a:solidFill>
                    <a:srgbClr val="172B3A"/>
                  </a:solidFill>
                  <a:latin typeface="+mn-lt"/>
                  <a:ea typeface="+mn-ea"/>
                  <a:cs typeface="+mn-cs"/>
                </a:rPr>
                <a:t>metodundan geçmek zorunda olmasından gelir.</a:t>
              </a:r>
            </a:p>
          </p:txBody>
        </p:sp>
      </p:grpSp>
      <p:grpSp>
        <p:nvGrpSpPr>
          <p:cNvPr id="38" name="footer"/>
          <p:cNvGrpSpPr/>
          <p:nvPr/>
        </p:nvGrpSpPr>
        <p:grpSpPr>
          <a:xfrm>
            <a:off x="565404" y="6404610"/>
            <a:ext cx="11061192" cy="234696"/>
            <a:chOff x="565404" y="6404610"/>
            <a:chExt cx="11061192" cy="234696"/>
          </a:xfrm>
        </p:grpSpPr>
        <p:sp>
          <p:nvSpPr>
            <p:cNvPr id="36" name="TextBox 36"/>
            <p:cNvSpPr txBox="1"/>
            <p:nvPr/>
          </p:nvSpPr>
          <p:spPr>
            <a:xfrm>
              <a:off x="565404" y="6404610"/>
              <a:ext cx="496284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Bölüm 1 · Modern Backend Programlamaya Giriş ve Web Mimarisi</a:t>
              </a:r>
            </a:p>
          </p:txBody>
        </p:sp>
        <p:sp>
          <p:nvSpPr>
            <p:cNvPr id="37" name="TextBox 37"/>
            <p:cNvSpPr txBox="1"/>
            <p:nvPr/>
          </p:nvSpPr>
          <p:spPr>
            <a:xfrm>
              <a:off x="11436706" y="640461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16</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3" name="title"/>
          <p:cNvGrpSpPr/>
          <p:nvPr/>
        </p:nvGrpSpPr>
        <p:grpSpPr>
          <a:xfrm>
            <a:off x="0" y="0"/>
            <a:ext cx="12192000" cy="952500"/>
            <a:chOff x="0" y="0"/>
            <a:chExt cx="12192000" cy="952500"/>
          </a:xfrm>
        </p:grpSpPr>
        <p:sp>
          <p:nvSpPr>
            <p:cNvPr id="2" name="Rectangle 2"/>
            <p:cNvSpPr/>
            <p:nvPr/>
          </p:nvSpPr>
          <p:spPr>
            <a:xfrm>
              <a:off x="0" y="0"/>
              <a:ext cx="12192000" cy="914400"/>
            </a:xfrm>
            <a:prstGeom prst="rect">
              <a:avLst/>
            </a:prstGeom>
            <a:solidFill>
              <a:srgbClr val="12355B"/>
            </a:solidFill>
            <a:ln>
              <a:noFill/>
            </a:ln>
          </p:spPr>
        </p:sp>
        <p:sp>
          <p:nvSpPr>
            <p:cNvPr id="3" name="Rectangle 3"/>
            <p:cNvSpPr/>
            <p:nvPr/>
          </p:nvSpPr>
          <p:spPr>
            <a:xfrm>
              <a:off x="0" y="914400"/>
              <a:ext cx="12192000" cy="38100"/>
            </a:xfrm>
            <a:prstGeom prst="rect">
              <a:avLst/>
            </a:prstGeom>
            <a:solidFill>
              <a:srgbClr val="00A6A6"/>
            </a:solidFill>
            <a:ln>
              <a:noFill/>
            </a:ln>
          </p:spPr>
        </p:sp>
        <p:grpSp>
          <p:nvGrpSpPr>
            <p:cNvPr id="11" name="icon-badge"/>
            <p:cNvGrpSpPr/>
            <p:nvPr/>
          </p:nvGrpSpPr>
          <p:grpSpPr>
            <a:xfrm>
              <a:off x="571500" y="171450"/>
              <a:ext cx="571500" cy="571500"/>
              <a:chOff x="571500" y="171450"/>
              <a:chExt cx="571500" cy="571500"/>
            </a:xfrm>
          </p:grpSpPr>
          <p:sp>
            <p:nvSpPr>
              <p:cNvPr id="4" name="Ellipse 4"/>
              <p:cNvSpPr/>
              <p:nvPr/>
            </p:nvSpPr>
            <p:spPr>
              <a:xfrm>
                <a:off x="571500" y="171450"/>
                <a:ext cx="571500" cy="571500"/>
              </a:xfrm>
              <a:prstGeom prst="ellipse">
                <a:avLst/>
              </a:prstGeom>
              <a:solidFill>
                <a:srgbClr val="00A6A6"/>
              </a:solidFill>
              <a:ln>
                <a:noFill/>
              </a:ln>
            </p:spPr>
          </p:sp>
          <p:grpSp>
            <p:nvGrpSpPr>
              <p:cNvPr id="10" name="Group 10"/>
              <p:cNvGrpSpPr/>
              <p:nvPr/>
            </p:nvGrpSpPr>
            <p:grpSpPr>
              <a:xfrm>
                <a:off x="724376" y="324326"/>
                <a:ext cx="265748" cy="265748"/>
                <a:chOff x="724376" y="324326"/>
                <a:chExt cx="265748" cy="265748"/>
              </a:xfrm>
            </p:grpSpPr>
            <p:sp>
              <p:nvSpPr>
                <p:cNvPr id="5" name="Freeform 5"/>
                <p:cNvSpPr/>
                <p:nvPr/>
              </p:nvSpPr>
              <p:spPr>
                <a:xfrm>
                  <a:off x="724376" y="324326"/>
                  <a:ext cx="265748" cy="265748"/>
                </a:xfrm>
                <a:custGeom>
                  <a:avLst/>
                  <a:gdLst/>
                  <a:ahLst/>
                  <a:cxnLst/>
                  <a:rect l="l" t="t" r="r" b="b"/>
                  <a:pathLst>
                    <a:path w="265748" h="265748">
                      <a:moveTo>
                        <a:pt x="0" y="132874"/>
                      </a:moveTo>
                      <a:cubicBezTo>
                        <a:pt x="0" y="206258"/>
                        <a:pt x="59490" y="265748"/>
                        <a:pt x="132874" y="265748"/>
                      </a:cubicBezTo>
                      <a:cubicBezTo>
                        <a:pt x="206258" y="265748"/>
                        <a:pt x="265748" y="206258"/>
                        <a:pt x="265748" y="132874"/>
                      </a:cubicBezTo>
                      <a:cubicBezTo>
                        <a:pt x="265748" y="59490"/>
                        <a:pt x="206258" y="0"/>
                        <a:pt x="132874" y="0"/>
                      </a:cubicBezTo>
                      <a:cubicBezTo>
                        <a:pt x="59490" y="0"/>
                        <a:pt x="0" y="59490"/>
                        <a:pt x="0" y="132874"/>
                      </a:cubicBezTo>
                    </a:path>
                  </a:pathLst>
                </a:custGeom>
                <a:noFill/>
                <a:ln w="24759" cap="rnd">
                  <a:solidFill>
                    <a:srgbClr val="FFFFFF"/>
                  </a:solidFill>
                  <a:round/>
                </a:ln>
              </p:spPr>
            </p:sp>
            <p:sp>
              <p:nvSpPr>
                <p:cNvPr id="6" name="Freeform 6"/>
                <p:cNvSpPr/>
                <p:nvPr/>
              </p:nvSpPr>
              <p:spPr>
                <a:xfrm>
                  <a:off x="733234" y="412909"/>
                  <a:ext cx="248031" cy="9525"/>
                </a:xfrm>
                <a:custGeom>
                  <a:avLst/>
                  <a:gdLst/>
                  <a:ahLst/>
                  <a:cxnLst/>
                  <a:rect l="l" t="t" r="r" b="b"/>
                  <a:pathLst>
                    <a:path w="248031" h="9525">
                      <a:moveTo>
                        <a:pt x="0" y="0"/>
                      </a:moveTo>
                      <a:lnTo>
                        <a:pt x="248031" y="0"/>
                      </a:lnTo>
                    </a:path>
                  </a:pathLst>
                </a:custGeom>
                <a:noFill/>
                <a:ln w="24759" cap="rnd">
                  <a:solidFill>
                    <a:srgbClr val="FFFFFF"/>
                  </a:solidFill>
                  <a:round/>
                </a:ln>
              </p:spPr>
            </p:sp>
            <p:sp>
              <p:nvSpPr>
                <p:cNvPr id="7" name="Freeform 7"/>
                <p:cNvSpPr/>
                <p:nvPr/>
              </p:nvSpPr>
              <p:spPr>
                <a:xfrm>
                  <a:off x="733234" y="501491"/>
                  <a:ext cx="248031" cy="9525"/>
                </a:xfrm>
                <a:custGeom>
                  <a:avLst/>
                  <a:gdLst/>
                  <a:ahLst/>
                  <a:cxnLst/>
                  <a:rect l="l" t="t" r="r" b="b"/>
                  <a:pathLst>
                    <a:path w="248031" h="9525">
                      <a:moveTo>
                        <a:pt x="0" y="0"/>
                      </a:moveTo>
                      <a:lnTo>
                        <a:pt x="248031" y="0"/>
                      </a:lnTo>
                    </a:path>
                  </a:pathLst>
                </a:custGeom>
                <a:noFill/>
                <a:ln w="24759" cap="rnd">
                  <a:solidFill>
                    <a:srgbClr val="FFFFFF"/>
                  </a:solidFill>
                  <a:round/>
                </a:ln>
              </p:spPr>
            </p:sp>
            <p:sp>
              <p:nvSpPr>
                <p:cNvPr id="8" name="Freeform 8"/>
                <p:cNvSpPr/>
                <p:nvPr/>
              </p:nvSpPr>
              <p:spPr>
                <a:xfrm>
                  <a:off x="799124" y="324326"/>
                  <a:ext cx="50744" cy="265748"/>
                </a:xfrm>
                <a:custGeom>
                  <a:avLst/>
                  <a:gdLst/>
                  <a:ahLst/>
                  <a:cxnLst/>
                  <a:rect l="l" t="t" r="r" b="b"/>
                  <a:pathLst>
                    <a:path w="50744" h="265748">
                      <a:moveTo>
                        <a:pt x="50744" y="0"/>
                      </a:moveTo>
                      <a:cubicBezTo>
                        <a:pt x="0" y="81315"/>
                        <a:pt x="0" y="184432"/>
                        <a:pt x="50744" y="265748"/>
                      </a:cubicBezTo>
                    </a:path>
                  </a:pathLst>
                </a:custGeom>
                <a:noFill/>
                <a:ln w="24759" cap="rnd">
                  <a:solidFill>
                    <a:srgbClr val="FFFFFF"/>
                  </a:solidFill>
                  <a:round/>
                </a:ln>
              </p:spPr>
            </p:sp>
            <p:sp>
              <p:nvSpPr>
                <p:cNvPr id="9" name="Freeform 9"/>
                <p:cNvSpPr/>
                <p:nvPr/>
              </p:nvSpPr>
              <p:spPr>
                <a:xfrm>
                  <a:off x="864632" y="324326"/>
                  <a:ext cx="50744" cy="265748"/>
                </a:xfrm>
                <a:custGeom>
                  <a:avLst/>
                  <a:gdLst/>
                  <a:ahLst/>
                  <a:cxnLst/>
                  <a:rect l="l" t="t" r="r" b="b"/>
                  <a:pathLst>
                    <a:path w="50744" h="265748">
                      <a:moveTo>
                        <a:pt x="0" y="0"/>
                      </a:moveTo>
                      <a:cubicBezTo>
                        <a:pt x="50744" y="81315"/>
                        <a:pt x="50744" y="184432"/>
                        <a:pt x="0" y="265748"/>
                      </a:cubicBezTo>
                    </a:path>
                  </a:pathLst>
                </a:custGeom>
                <a:noFill/>
                <a:ln w="24759" cap="rnd">
                  <a:solidFill>
                    <a:srgbClr val="FFFFFF"/>
                  </a:solidFill>
                  <a:round/>
                </a:ln>
              </p:spPr>
            </p:sp>
          </p:grpSp>
        </p:grpSp>
        <p:sp>
          <p:nvSpPr>
            <p:cNvPr id="12" name="TextBox 12"/>
            <p:cNvSpPr txBox="1"/>
            <p:nvPr/>
          </p:nvSpPr>
          <p:spPr>
            <a:xfrm>
              <a:off x="1261872" y="282892"/>
              <a:ext cx="8985915" cy="557403"/>
            </a:xfrm>
            <a:prstGeom prst="rect">
              <a:avLst/>
            </a:prstGeom>
            <a:noFill/>
            <a:ln>
              <a:noFill/>
            </a:ln>
          </p:spPr>
          <p:txBody>
            <a:bodyPr wrap="none" lIns="0" tIns="0" rIns="0" bIns="0" anchor="t" anchorCtr="0">
              <a:spAutoFit/>
            </a:bodyPr>
            <a:lstStyle/>
            <a:p>
              <a:pPr algn="l"/>
              <a:r>
                <a:rPr lang="tr-TR" sz="2850" b="1" dirty="0">
                  <a:solidFill>
                    <a:srgbClr val="F7FAFC"/>
                  </a:solidFill>
                  <a:latin typeface="+mj-lt"/>
                  <a:ea typeface="+mj-ea"/>
                  <a:cs typeface="+mj-cs"/>
                </a:rPr>
                <a:t>Reverse proxy: dış dünyaya tek giriş noktası</a:t>
              </a:r>
            </a:p>
          </p:txBody>
        </p:sp>
      </p:grpSp>
      <p:grpSp>
        <p:nvGrpSpPr>
          <p:cNvPr id="18" name="outside-client"/>
          <p:cNvGrpSpPr/>
          <p:nvPr/>
        </p:nvGrpSpPr>
        <p:grpSpPr>
          <a:xfrm>
            <a:off x="565404" y="1508760"/>
            <a:ext cx="2787396" cy="1348740"/>
            <a:chOff x="565404" y="1508760"/>
            <a:chExt cx="2787396" cy="1348740"/>
          </a:xfrm>
        </p:grpSpPr>
        <p:sp>
          <p:nvSpPr>
            <p:cNvPr id="14" name="TextBox 14"/>
            <p:cNvSpPr txBox="1"/>
            <p:nvPr/>
          </p:nvSpPr>
          <p:spPr>
            <a:xfrm>
              <a:off x="565404" y="1508760"/>
              <a:ext cx="77175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DIŞ DÜNYA</a:t>
              </a:r>
            </a:p>
          </p:txBody>
        </p:sp>
        <p:sp>
          <p:nvSpPr>
            <p:cNvPr id="15" name="Rectangle 15"/>
            <p:cNvSpPr/>
            <p:nvPr/>
          </p:nvSpPr>
          <p:spPr>
            <a:xfrm>
              <a:off x="571500" y="1905000"/>
              <a:ext cx="2095500" cy="952500"/>
            </a:xfrm>
            <a:prstGeom prst="rect">
              <a:avLst/>
            </a:prstGeom>
            <a:solidFill>
              <a:srgbClr val="FFFFFF"/>
            </a:solidFill>
            <a:ln w="19050">
              <a:solidFill>
                <a:srgbClr val="2E86AB"/>
              </a:solidFill>
            </a:ln>
          </p:spPr>
        </p:sp>
        <p:sp>
          <p:nvSpPr>
            <p:cNvPr id="16" name="TextBox 16"/>
            <p:cNvSpPr txBox="1"/>
            <p:nvPr/>
          </p:nvSpPr>
          <p:spPr>
            <a:xfrm>
              <a:off x="1145983" y="2244090"/>
              <a:ext cx="946535" cy="352044"/>
            </a:xfrm>
            <a:prstGeom prst="rect">
              <a:avLst/>
            </a:prstGeom>
            <a:noFill/>
            <a:ln>
              <a:noFill/>
            </a:ln>
          </p:spPr>
          <p:txBody>
            <a:bodyPr wrap="none" lIns="0" tIns="0" rIns="0" bIns="0" anchor="t" anchorCtr="0">
              <a:spAutoFit/>
            </a:bodyPr>
            <a:lstStyle/>
            <a:p>
              <a:pPr algn="ctr"/>
              <a:r>
                <a:rPr lang="tr-TR" sz="1800" dirty="0">
                  <a:solidFill>
                    <a:srgbClr val="12355B"/>
                  </a:solidFill>
                  <a:latin typeface="+mn-lt"/>
                  <a:ea typeface="+mn-ea"/>
                  <a:cs typeface="+mn-cs"/>
                </a:rPr>
                <a:t>İstemci</a:t>
              </a:r>
            </a:p>
          </p:txBody>
        </p:sp>
        <p:sp>
          <p:nvSpPr>
            <p:cNvPr id="17" name="Line 17"/>
            <p:cNvSpPr/>
            <p:nvPr/>
          </p:nvSpPr>
          <p:spPr>
            <a:xfrm>
              <a:off x="2724150" y="2381250"/>
              <a:ext cx="628650" cy="1"/>
            </a:xfrm>
            <a:prstGeom prst="line">
              <a:avLst/>
            </a:prstGeom>
            <a:noFill/>
            <a:ln w="28575">
              <a:solidFill>
                <a:srgbClr val="00A6A6"/>
              </a:solidFill>
              <a:tailEnd type="triangle" w="lg" len="lg"/>
            </a:ln>
          </p:spPr>
        </p:sp>
      </p:grpSp>
      <p:grpSp>
        <p:nvGrpSpPr>
          <p:cNvPr id="23" name="proxy-gate"/>
          <p:cNvGrpSpPr/>
          <p:nvPr/>
        </p:nvGrpSpPr>
        <p:grpSpPr>
          <a:xfrm>
            <a:off x="3524250" y="1619250"/>
            <a:ext cx="1905000" cy="2857500"/>
            <a:chOff x="3524250" y="1619250"/>
            <a:chExt cx="1905000" cy="2857500"/>
          </a:xfrm>
        </p:grpSpPr>
        <p:sp>
          <p:nvSpPr>
            <p:cNvPr id="19" name="Rectangle 19"/>
            <p:cNvSpPr/>
            <p:nvPr/>
          </p:nvSpPr>
          <p:spPr>
            <a:xfrm>
              <a:off x="3524250" y="1619250"/>
              <a:ext cx="1905000" cy="2857500"/>
            </a:xfrm>
            <a:prstGeom prst="rect">
              <a:avLst/>
            </a:prstGeom>
            <a:solidFill>
              <a:srgbClr val="EAF4F6"/>
            </a:solidFill>
            <a:ln>
              <a:noFill/>
            </a:ln>
          </p:spPr>
        </p:sp>
        <p:sp>
          <p:nvSpPr>
            <p:cNvPr id="20" name="Rectangle 20"/>
            <p:cNvSpPr/>
            <p:nvPr/>
          </p:nvSpPr>
          <p:spPr>
            <a:xfrm>
              <a:off x="3524250" y="1619250"/>
              <a:ext cx="57150" cy="2857500"/>
            </a:xfrm>
            <a:prstGeom prst="rect">
              <a:avLst/>
            </a:prstGeom>
            <a:solidFill>
              <a:srgbClr val="00A6A6"/>
            </a:solidFill>
            <a:ln>
              <a:noFill/>
            </a:ln>
          </p:spPr>
        </p:sp>
        <p:sp>
          <p:nvSpPr>
            <p:cNvPr id="21" name="TextBox 21"/>
            <p:cNvSpPr txBox="1"/>
            <p:nvPr/>
          </p:nvSpPr>
          <p:spPr>
            <a:xfrm>
              <a:off x="3897535" y="2663190"/>
              <a:ext cx="1158430" cy="675894"/>
            </a:xfrm>
            <a:prstGeom prst="rect">
              <a:avLst/>
            </a:prstGeom>
            <a:noFill/>
            <a:ln>
              <a:noFill/>
            </a:ln>
          </p:spPr>
          <p:txBody>
            <a:bodyPr wrap="none" lIns="0" tIns="0" rIns="0" bIns="0" anchor="t" anchorCtr="0">
              <a:spAutoFit/>
            </a:bodyPr>
            <a:lstStyle/>
            <a:p>
              <a:pPr algn="ctr">
                <a:lnSpc>
                  <a:spcPts val="2550"/>
                </a:lnSpc>
              </a:pPr>
              <a:r>
                <a:rPr lang="tr-TR" sz="1800" b="1" dirty="0">
                  <a:solidFill>
                    <a:srgbClr val="12355B"/>
                  </a:solidFill>
                  <a:latin typeface="+mn-lt"/>
                  <a:ea typeface="+mn-ea"/>
                  <a:cs typeface="+mn-cs"/>
                </a:rPr>
                <a:t>Ters vekil</a:t>
              </a:r>
              <a:br/>
              <a:r>
                <a:rPr lang="tr-TR" sz="1800" b="1" dirty="0">
                  <a:solidFill>
                    <a:srgbClr val="12355B"/>
                  </a:solidFill>
                  <a:latin typeface="+mn-lt"/>
                  <a:ea typeface="+mn-ea"/>
                  <a:cs typeface="+mn-cs"/>
                </a:rPr>
                <a:t>sunucu</a:t>
              </a:r>
            </a:p>
          </p:txBody>
        </p:sp>
        <p:sp>
          <p:nvSpPr>
            <p:cNvPr id="22" name="TextBox 22"/>
            <p:cNvSpPr txBox="1"/>
            <p:nvPr/>
          </p:nvSpPr>
          <p:spPr>
            <a:xfrm>
              <a:off x="3580728" y="3449479"/>
              <a:ext cx="1792044" cy="308039"/>
            </a:xfrm>
            <a:prstGeom prst="rect">
              <a:avLst/>
            </a:prstGeom>
            <a:noFill/>
            <a:ln>
              <a:noFill/>
            </a:ln>
          </p:spPr>
          <p:txBody>
            <a:bodyPr wrap="none" lIns="0" tIns="0" rIns="0" bIns="0" anchor="t" anchorCtr="0">
              <a:spAutoFit/>
            </a:bodyPr>
            <a:lstStyle/>
            <a:p>
              <a:pPr algn="ctr"/>
              <a:r>
                <a:rPr lang="tr-TR" sz="1580" dirty="0">
                  <a:solidFill>
                    <a:srgbClr val="52616B"/>
                  </a:solidFill>
                  <a:latin typeface="+mn-lt"/>
                  <a:ea typeface="+mn-ea"/>
                  <a:cs typeface="+mn-cs"/>
                </a:rPr>
                <a:t>tek giriş noktası</a:t>
              </a:r>
            </a:p>
          </p:txBody>
        </p:sp>
      </p:grpSp>
      <p:grpSp>
        <p:nvGrpSpPr>
          <p:cNvPr id="32" name="internal-network"/>
          <p:cNvGrpSpPr/>
          <p:nvPr/>
        </p:nvGrpSpPr>
        <p:grpSpPr>
          <a:xfrm>
            <a:off x="6096000" y="1428750"/>
            <a:ext cx="5524500" cy="3238500"/>
            <a:chOff x="6096000" y="1428750"/>
            <a:chExt cx="5524500" cy="3238500"/>
          </a:xfrm>
        </p:grpSpPr>
        <p:sp>
          <p:nvSpPr>
            <p:cNvPr id="24" name="Rectangle 24"/>
            <p:cNvSpPr/>
            <p:nvPr/>
          </p:nvSpPr>
          <p:spPr>
            <a:xfrm>
              <a:off x="6096000" y="1428750"/>
              <a:ext cx="5524500" cy="3238500"/>
            </a:xfrm>
            <a:prstGeom prst="rect">
              <a:avLst/>
            </a:prstGeom>
            <a:solidFill>
              <a:srgbClr val="FFFFFF"/>
            </a:solidFill>
            <a:ln w="19050">
              <a:solidFill>
                <a:srgbClr val="B8CBD3"/>
              </a:solidFill>
              <a:custDash>
                <a:ds d="400000" sp="300000"/>
              </a:custDash>
            </a:ln>
          </p:spPr>
        </p:sp>
        <p:sp>
          <p:nvSpPr>
            <p:cNvPr id="25" name="TextBox 25"/>
            <p:cNvSpPr txBox="1"/>
            <p:nvPr/>
          </p:nvSpPr>
          <p:spPr>
            <a:xfrm>
              <a:off x="6318504" y="1604010"/>
              <a:ext cx="43891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İÇ AĞ</a:t>
              </a:r>
            </a:p>
          </p:txBody>
        </p:sp>
        <p:sp>
          <p:nvSpPr>
            <p:cNvPr id="26" name="Rectangle 26"/>
            <p:cNvSpPr/>
            <p:nvPr/>
          </p:nvSpPr>
          <p:spPr>
            <a:xfrm>
              <a:off x="6324600" y="1905000"/>
              <a:ext cx="5067300" cy="666750"/>
            </a:xfrm>
            <a:prstGeom prst="rect">
              <a:avLst/>
            </a:prstGeom>
            <a:solidFill>
              <a:srgbClr val="F7FAFC"/>
            </a:solidFill>
            <a:ln w="19050">
              <a:solidFill>
                <a:srgbClr val="2E86AB"/>
              </a:solidFill>
            </a:ln>
          </p:spPr>
        </p:sp>
        <p:sp>
          <p:nvSpPr>
            <p:cNvPr id="27" name="TextBox 27"/>
            <p:cNvSpPr txBox="1"/>
            <p:nvPr/>
          </p:nvSpPr>
          <p:spPr>
            <a:xfrm>
              <a:off x="7940421" y="2120265"/>
              <a:ext cx="1835658" cy="352044"/>
            </a:xfrm>
            <a:prstGeom prst="rect">
              <a:avLst/>
            </a:prstGeom>
            <a:noFill/>
            <a:ln>
              <a:noFill/>
            </a:ln>
          </p:spPr>
          <p:txBody>
            <a:bodyPr wrap="none" lIns="0" tIns="0" rIns="0" bIns="0" anchor="t" anchorCtr="0">
              <a:spAutoFit/>
            </a:bodyPr>
            <a:lstStyle/>
            <a:p>
              <a:pPr algn="ctr"/>
              <a:r>
                <a:rPr lang="tr-TR" sz="1800" dirty="0">
                  <a:solidFill>
                    <a:srgbClr val="12355B"/>
                  </a:solidFill>
                  <a:latin typeface="+mn-lt"/>
                  <a:ea typeface="+mn-ea"/>
                  <a:cs typeface="+mn-cs"/>
                </a:rPr>
                <a:t>ogrenci-servisi</a:t>
              </a:r>
            </a:p>
          </p:txBody>
        </p:sp>
        <p:sp>
          <p:nvSpPr>
            <p:cNvPr id="28" name="Rectangle 28"/>
            <p:cNvSpPr/>
            <p:nvPr/>
          </p:nvSpPr>
          <p:spPr>
            <a:xfrm>
              <a:off x="6324600" y="2762250"/>
              <a:ext cx="5067300" cy="666750"/>
            </a:xfrm>
            <a:prstGeom prst="rect">
              <a:avLst/>
            </a:prstGeom>
            <a:solidFill>
              <a:srgbClr val="F7FAFC"/>
            </a:solidFill>
            <a:ln w="19050">
              <a:solidFill>
                <a:srgbClr val="2E86AB"/>
              </a:solidFill>
            </a:ln>
          </p:spPr>
        </p:sp>
        <p:sp>
          <p:nvSpPr>
            <p:cNvPr id="29" name="TextBox 29"/>
            <p:cNvSpPr txBox="1"/>
            <p:nvPr/>
          </p:nvSpPr>
          <p:spPr>
            <a:xfrm>
              <a:off x="8110042" y="2977515"/>
              <a:ext cx="1496416" cy="352044"/>
            </a:xfrm>
            <a:prstGeom prst="rect">
              <a:avLst/>
            </a:prstGeom>
            <a:noFill/>
            <a:ln>
              <a:noFill/>
            </a:ln>
          </p:spPr>
          <p:txBody>
            <a:bodyPr wrap="none" lIns="0" tIns="0" rIns="0" bIns="0" anchor="t" anchorCtr="0">
              <a:spAutoFit/>
            </a:bodyPr>
            <a:lstStyle/>
            <a:p>
              <a:pPr algn="ctr"/>
              <a:r>
                <a:rPr lang="tr-TR" sz="1800" dirty="0">
                  <a:solidFill>
                    <a:srgbClr val="12355B"/>
                  </a:solidFill>
                  <a:latin typeface="+mn-lt"/>
                  <a:ea typeface="+mn-ea"/>
                  <a:cs typeface="+mn-cs"/>
                </a:rPr>
                <a:t>ders-servisi</a:t>
              </a:r>
            </a:p>
          </p:txBody>
        </p:sp>
        <p:sp>
          <p:nvSpPr>
            <p:cNvPr id="30" name="Rectangle 30"/>
            <p:cNvSpPr/>
            <p:nvPr/>
          </p:nvSpPr>
          <p:spPr>
            <a:xfrm>
              <a:off x="6324600" y="3619500"/>
              <a:ext cx="5067300" cy="666750"/>
            </a:xfrm>
            <a:prstGeom prst="rect">
              <a:avLst/>
            </a:prstGeom>
            <a:solidFill>
              <a:srgbClr val="F7FAFC"/>
            </a:solidFill>
            <a:ln w="19050">
              <a:solidFill>
                <a:srgbClr val="2E86AB"/>
              </a:solidFill>
            </a:ln>
          </p:spPr>
        </p:sp>
        <p:sp>
          <p:nvSpPr>
            <p:cNvPr id="31" name="TextBox 31"/>
            <p:cNvSpPr txBox="1"/>
            <p:nvPr/>
          </p:nvSpPr>
          <p:spPr>
            <a:xfrm>
              <a:off x="7534542" y="3834765"/>
              <a:ext cx="2647417" cy="352044"/>
            </a:xfrm>
            <a:prstGeom prst="rect">
              <a:avLst/>
            </a:prstGeom>
            <a:noFill/>
            <a:ln>
              <a:noFill/>
            </a:ln>
          </p:spPr>
          <p:txBody>
            <a:bodyPr wrap="none" lIns="0" tIns="0" rIns="0" bIns="0" anchor="t" anchorCtr="0">
              <a:spAutoFit/>
            </a:bodyPr>
            <a:lstStyle/>
            <a:p>
              <a:pPr algn="ctr"/>
              <a:r>
                <a:rPr lang="tr-TR" sz="1800" dirty="0">
                  <a:solidFill>
                    <a:srgbClr val="12355B"/>
                  </a:solidFill>
                  <a:latin typeface="+mn-lt"/>
                  <a:ea typeface="+mn-ea"/>
                  <a:cs typeface="+mn-cs"/>
                </a:rPr>
                <a:t>statik içerik sunucusu</a:t>
              </a:r>
            </a:p>
          </p:txBody>
        </p:sp>
      </p:grpSp>
      <p:grpSp>
        <p:nvGrpSpPr>
          <p:cNvPr id="36" name="proxy-edges"/>
          <p:cNvGrpSpPr/>
          <p:nvPr/>
        </p:nvGrpSpPr>
        <p:grpSpPr>
          <a:xfrm>
            <a:off x="5524500" y="2238375"/>
            <a:ext cx="495300" cy="1714501"/>
            <a:chOff x="5524500" y="2238375"/>
            <a:chExt cx="495300" cy="1714501"/>
          </a:xfrm>
        </p:grpSpPr>
        <p:sp>
          <p:nvSpPr>
            <p:cNvPr id="33" name="Line 33"/>
            <p:cNvSpPr/>
            <p:nvPr/>
          </p:nvSpPr>
          <p:spPr>
            <a:xfrm>
              <a:off x="5524500" y="2238375"/>
              <a:ext cx="495300" cy="1"/>
            </a:xfrm>
            <a:prstGeom prst="line">
              <a:avLst/>
            </a:prstGeom>
            <a:noFill/>
            <a:ln w="28575">
              <a:solidFill>
                <a:srgbClr val="00A6A6"/>
              </a:solidFill>
              <a:tailEnd type="triangle" w="lg" len="lg"/>
            </a:ln>
          </p:spPr>
        </p:sp>
        <p:sp>
          <p:nvSpPr>
            <p:cNvPr id="34" name="Line 34"/>
            <p:cNvSpPr/>
            <p:nvPr/>
          </p:nvSpPr>
          <p:spPr>
            <a:xfrm>
              <a:off x="5524500" y="3095625"/>
              <a:ext cx="495300" cy="1"/>
            </a:xfrm>
            <a:prstGeom prst="line">
              <a:avLst/>
            </a:prstGeom>
            <a:noFill/>
            <a:ln w="28575">
              <a:solidFill>
                <a:srgbClr val="00A6A6"/>
              </a:solidFill>
              <a:tailEnd type="triangle" w="lg" len="lg"/>
            </a:ln>
          </p:spPr>
        </p:sp>
        <p:sp>
          <p:nvSpPr>
            <p:cNvPr id="35" name="Line 35"/>
            <p:cNvSpPr/>
            <p:nvPr/>
          </p:nvSpPr>
          <p:spPr>
            <a:xfrm>
              <a:off x="5524500" y="3952875"/>
              <a:ext cx="495300" cy="1"/>
            </a:xfrm>
            <a:prstGeom prst="line">
              <a:avLst/>
            </a:prstGeom>
            <a:noFill/>
            <a:ln w="28575">
              <a:solidFill>
                <a:srgbClr val="00A6A6"/>
              </a:solidFill>
              <a:tailEnd type="triangle" w="lg" len="lg"/>
            </a:ln>
          </p:spPr>
        </p:sp>
      </p:grpSp>
      <p:grpSp>
        <p:nvGrpSpPr>
          <p:cNvPr id="41" name="proxy-duties"/>
          <p:cNvGrpSpPr/>
          <p:nvPr/>
        </p:nvGrpSpPr>
        <p:grpSpPr>
          <a:xfrm>
            <a:off x="571500" y="4953000"/>
            <a:ext cx="11049000" cy="1238250"/>
            <a:chOff x="571500" y="4953000"/>
            <a:chExt cx="11049000" cy="1238250"/>
          </a:xfrm>
        </p:grpSpPr>
        <p:sp>
          <p:nvSpPr>
            <p:cNvPr id="37" name="Rectangle 37"/>
            <p:cNvSpPr/>
            <p:nvPr/>
          </p:nvSpPr>
          <p:spPr>
            <a:xfrm>
              <a:off x="571500" y="4953000"/>
              <a:ext cx="11049000" cy="1238250"/>
            </a:xfrm>
            <a:prstGeom prst="rect">
              <a:avLst/>
            </a:prstGeom>
            <a:solidFill>
              <a:srgbClr val="EAF4F6"/>
            </a:solidFill>
            <a:ln>
              <a:noFill/>
            </a:ln>
          </p:spPr>
        </p:sp>
        <p:sp>
          <p:nvSpPr>
            <p:cNvPr id="38" name="Rectangle 38"/>
            <p:cNvSpPr/>
            <p:nvPr/>
          </p:nvSpPr>
          <p:spPr>
            <a:xfrm>
              <a:off x="571500" y="4953000"/>
              <a:ext cx="57150" cy="1238250"/>
            </a:xfrm>
            <a:prstGeom prst="rect">
              <a:avLst/>
            </a:prstGeom>
            <a:solidFill>
              <a:srgbClr val="00A6A6"/>
            </a:solidFill>
            <a:ln>
              <a:noFill/>
            </a:ln>
          </p:spPr>
        </p:sp>
        <p:sp>
          <p:nvSpPr>
            <p:cNvPr id="39" name="TextBox 39"/>
            <p:cNvSpPr txBox="1"/>
            <p:nvPr/>
          </p:nvSpPr>
          <p:spPr>
            <a:xfrm>
              <a:off x="867156" y="5120640"/>
              <a:ext cx="8202168" cy="675894"/>
            </a:xfrm>
            <a:prstGeom prst="rect">
              <a:avLst/>
            </a:prstGeom>
            <a:noFill/>
            <a:ln>
              <a:noFill/>
            </a:ln>
          </p:spPr>
          <p:txBody>
            <a:bodyPr wrap="none" lIns="0" tIns="0" rIns="0" bIns="0" anchor="t" anchorCtr="0">
              <a:spAutoFit/>
            </a:bodyPr>
            <a:lstStyle/>
            <a:p>
              <a:pPr algn="l">
                <a:lnSpc>
                  <a:spcPts val="2550"/>
                </a:lnSpc>
              </a:pPr>
              <a:r>
                <a:rPr lang="tr-TR" sz="1800" dirty="0">
                  <a:solidFill>
                    <a:srgbClr val="172B3A"/>
                  </a:solidFill>
                  <a:latin typeface="+mn-lt"/>
                  <a:ea typeface="+mn-ea"/>
                  <a:cs typeface="+mn-cs"/>
                </a:rPr>
                <a:t>Reverse proxy, istemci adına internete çıkan bir proxy değildir; backend</a:t>
              </a:r>
              <a:br/>
              <a:r>
                <a:rPr lang="tr-TR" sz="1800" dirty="0">
                  <a:solidFill>
                    <a:srgbClr val="172B3A"/>
                  </a:solidFill>
                  <a:latin typeface="+mn-lt"/>
                  <a:ea typeface="+mn-ea"/>
                  <a:cs typeface="+mn-cs"/>
                </a:rPr>
                <a:t>servislerinin önünde çalışan ve gelen istekleri yöneten sunucudur.</a:t>
              </a:r>
            </a:p>
          </p:txBody>
        </p:sp>
        <p:sp>
          <p:nvSpPr>
            <p:cNvPr id="40" name="TextBox 40"/>
            <p:cNvSpPr txBox="1"/>
            <p:nvPr/>
          </p:nvSpPr>
          <p:spPr>
            <a:xfrm>
              <a:off x="868299" y="5830729"/>
              <a:ext cx="9533222"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Görevleri: URL yönlendirme · TLS sonlandırma · yük dengeleme · önbellekleme · erişim kaydı</a:t>
              </a:r>
            </a:p>
          </p:txBody>
        </p:sp>
      </p:grpSp>
      <p:grpSp>
        <p:nvGrpSpPr>
          <p:cNvPr id="44" name="footer"/>
          <p:cNvGrpSpPr/>
          <p:nvPr/>
        </p:nvGrpSpPr>
        <p:grpSpPr>
          <a:xfrm>
            <a:off x="565404" y="6404610"/>
            <a:ext cx="11061192" cy="234696"/>
            <a:chOff x="565404" y="6404610"/>
            <a:chExt cx="11061192" cy="234696"/>
          </a:xfrm>
        </p:grpSpPr>
        <p:sp>
          <p:nvSpPr>
            <p:cNvPr id="42" name="TextBox 42"/>
            <p:cNvSpPr txBox="1"/>
            <p:nvPr/>
          </p:nvSpPr>
          <p:spPr>
            <a:xfrm>
              <a:off x="565404" y="6404610"/>
              <a:ext cx="496284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Bölüm 1 · Modern Backend Programlamaya Giriş ve Web Mimarisi</a:t>
              </a:r>
            </a:p>
          </p:txBody>
        </p:sp>
        <p:sp>
          <p:nvSpPr>
            <p:cNvPr id="43" name="TextBox 43"/>
            <p:cNvSpPr txBox="1"/>
            <p:nvPr/>
          </p:nvSpPr>
          <p:spPr>
            <a:xfrm>
              <a:off x="11436706" y="640461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17</a:t>
              </a:r>
            </a:p>
          </p:txBody>
        </p:sp>
      </p:gr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2" name="title"/>
          <p:cNvGrpSpPr/>
          <p:nvPr/>
        </p:nvGrpSpPr>
        <p:grpSpPr>
          <a:xfrm>
            <a:off x="0" y="0"/>
            <a:ext cx="12192000" cy="952500"/>
            <a:chOff x="0" y="0"/>
            <a:chExt cx="12192000" cy="952500"/>
          </a:xfrm>
        </p:grpSpPr>
        <p:sp>
          <p:nvSpPr>
            <p:cNvPr id="2" name="Rectangle 2"/>
            <p:cNvSpPr/>
            <p:nvPr/>
          </p:nvSpPr>
          <p:spPr>
            <a:xfrm>
              <a:off x="0" y="0"/>
              <a:ext cx="12192000" cy="914400"/>
            </a:xfrm>
            <a:prstGeom prst="rect">
              <a:avLst/>
            </a:prstGeom>
            <a:solidFill>
              <a:srgbClr val="12355B"/>
            </a:solidFill>
            <a:ln>
              <a:noFill/>
            </a:ln>
          </p:spPr>
        </p:sp>
        <p:sp>
          <p:nvSpPr>
            <p:cNvPr id="3" name="Rectangle 3"/>
            <p:cNvSpPr/>
            <p:nvPr/>
          </p:nvSpPr>
          <p:spPr>
            <a:xfrm>
              <a:off x="0" y="914400"/>
              <a:ext cx="12192000" cy="38100"/>
            </a:xfrm>
            <a:prstGeom prst="rect">
              <a:avLst/>
            </a:prstGeom>
            <a:solidFill>
              <a:srgbClr val="00A6A6"/>
            </a:solidFill>
            <a:ln>
              <a:noFill/>
            </a:ln>
          </p:spPr>
        </p:sp>
        <p:grpSp>
          <p:nvGrpSpPr>
            <p:cNvPr id="10" name="icon-badge"/>
            <p:cNvGrpSpPr/>
            <p:nvPr/>
          </p:nvGrpSpPr>
          <p:grpSpPr>
            <a:xfrm>
              <a:off x="571500" y="171450"/>
              <a:ext cx="571500" cy="571500"/>
              <a:chOff x="571500" y="171450"/>
              <a:chExt cx="571500" cy="571500"/>
            </a:xfrm>
          </p:grpSpPr>
          <p:sp>
            <p:nvSpPr>
              <p:cNvPr id="4" name="Ellipse 4"/>
              <p:cNvSpPr/>
              <p:nvPr/>
            </p:nvSpPr>
            <p:spPr>
              <a:xfrm>
                <a:off x="571500" y="171450"/>
                <a:ext cx="571500" cy="571500"/>
              </a:xfrm>
              <a:prstGeom prst="ellipse">
                <a:avLst/>
              </a:prstGeom>
              <a:solidFill>
                <a:srgbClr val="00A6A6"/>
              </a:solidFill>
              <a:ln>
                <a:noFill/>
              </a:ln>
            </p:spPr>
          </p:sp>
          <p:grpSp>
            <p:nvGrpSpPr>
              <p:cNvPr id="9" name="Group 9"/>
              <p:cNvGrpSpPr/>
              <p:nvPr/>
            </p:nvGrpSpPr>
            <p:grpSpPr>
              <a:xfrm>
                <a:off x="724376" y="324326"/>
                <a:ext cx="265748" cy="265748"/>
                <a:chOff x="724376" y="324326"/>
                <a:chExt cx="265748" cy="265748"/>
              </a:xfrm>
            </p:grpSpPr>
            <p:sp>
              <p:nvSpPr>
                <p:cNvPr id="5" name="Freeform 5"/>
                <p:cNvSpPr/>
                <p:nvPr/>
              </p:nvSpPr>
              <p:spPr>
                <a:xfrm>
                  <a:off x="724376" y="427672"/>
                  <a:ext cx="132874" cy="73819"/>
                </a:xfrm>
                <a:custGeom>
                  <a:avLst/>
                  <a:gdLst/>
                  <a:ahLst/>
                  <a:cxnLst/>
                  <a:rect l="l" t="t" r="r" b="b"/>
                  <a:pathLst>
                    <a:path w="132874" h="73819">
                      <a:moveTo>
                        <a:pt x="132874" y="73819"/>
                      </a:moveTo>
                      <a:lnTo>
                        <a:pt x="36909" y="73819"/>
                      </a:lnTo>
                      <a:cubicBezTo>
                        <a:pt x="16525" y="73819"/>
                        <a:pt x="0" y="57294"/>
                        <a:pt x="0" y="36909"/>
                      </a:cubicBezTo>
                      <a:cubicBezTo>
                        <a:pt x="0" y="16525"/>
                        <a:pt x="16525" y="0"/>
                        <a:pt x="36909" y="0"/>
                      </a:cubicBezTo>
                      <a:lnTo>
                        <a:pt x="44291" y="0"/>
                      </a:lnTo>
                    </a:path>
                  </a:pathLst>
                </a:custGeom>
                <a:noFill/>
                <a:ln w="24759" cap="rnd">
                  <a:solidFill>
                    <a:srgbClr val="FFFFFF"/>
                  </a:solidFill>
                  <a:round/>
                </a:ln>
              </p:spPr>
            </p:sp>
            <p:sp>
              <p:nvSpPr>
                <p:cNvPr id="6" name="Freeform 6"/>
                <p:cNvSpPr/>
                <p:nvPr/>
              </p:nvSpPr>
              <p:spPr>
                <a:xfrm>
                  <a:off x="827722" y="457200"/>
                  <a:ext cx="73819" cy="132874"/>
                </a:xfrm>
                <a:custGeom>
                  <a:avLst/>
                  <a:gdLst/>
                  <a:ahLst/>
                  <a:cxnLst/>
                  <a:rect l="l" t="t" r="r" b="b"/>
                  <a:pathLst>
                    <a:path w="73819" h="132874">
                      <a:moveTo>
                        <a:pt x="73819" y="0"/>
                      </a:moveTo>
                      <a:lnTo>
                        <a:pt x="73819" y="95964"/>
                      </a:lnTo>
                      <a:cubicBezTo>
                        <a:pt x="73819" y="116349"/>
                        <a:pt x="57294" y="132874"/>
                        <a:pt x="36909" y="132874"/>
                      </a:cubicBezTo>
                      <a:cubicBezTo>
                        <a:pt x="16525" y="132874"/>
                        <a:pt x="0" y="116349"/>
                        <a:pt x="0" y="95964"/>
                      </a:cubicBezTo>
                      <a:lnTo>
                        <a:pt x="0" y="88582"/>
                      </a:lnTo>
                    </a:path>
                  </a:pathLst>
                </a:custGeom>
                <a:noFill/>
                <a:ln w="24759" cap="rnd">
                  <a:solidFill>
                    <a:srgbClr val="FFFFFF"/>
                  </a:solidFill>
                  <a:round/>
                </a:ln>
              </p:spPr>
            </p:sp>
            <p:sp>
              <p:nvSpPr>
                <p:cNvPr id="7" name="Freeform 7"/>
                <p:cNvSpPr/>
                <p:nvPr/>
              </p:nvSpPr>
              <p:spPr>
                <a:xfrm>
                  <a:off x="857250" y="412909"/>
                  <a:ext cx="132874" cy="73819"/>
                </a:xfrm>
                <a:custGeom>
                  <a:avLst/>
                  <a:gdLst/>
                  <a:ahLst/>
                  <a:cxnLst/>
                  <a:rect l="l" t="t" r="r" b="b"/>
                  <a:pathLst>
                    <a:path w="132874" h="73819">
                      <a:moveTo>
                        <a:pt x="0" y="0"/>
                      </a:moveTo>
                      <a:lnTo>
                        <a:pt x="95964" y="0"/>
                      </a:lnTo>
                      <a:cubicBezTo>
                        <a:pt x="116349" y="0"/>
                        <a:pt x="132874" y="16525"/>
                        <a:pt x="132874" y="36909"/>
                      </a:cubicBezTo>
                      <a:cubicBezTo>
                        <a:pt x="132874" y="57294"/>
                        <a:pt x="116349" y="73819"/>
                        <a:pt x="95964" y="73819"/>
                      </a:cubicBezTo>
                      <a:lnTo>
                        <a:pt x="88583" y="73819"/>
                      </a:lnTo>
                    </a:path>
                  </a:pathLst>
                </a:custGeom>
                <a:noFill/>
                <a:ln w="24759" cap="rnd">
                  <a:solidFill>
                    <a:srgbClr val="FFFFFF"/>
                  </a:solidFill>
                  <a:round/>
                </a:ln>
              </p:spPr>
            </p:sp>
            <p:sp>
              <p:nvSpPr>
                <p:cNvPr id="8" name="Freeform 8"/>
                <p:cNvSpPr/>
                <p:nvPr/>
              </p:nvSpPr>
              <p:spPr>
                <a:xfrm>
                  <a:off x="812959" y="324326"/>
                  <a:ext cx="73819" cy="132874"/>
                </a:xfrm>
                <a:custGeom>
                  <a:avLst/>
                  <a:gdLst/>
                  <a:ahLst/>
                  <a:cxnLst/>
                  <a:rect l="l" t="t" r="r" b="b"/>
                  <a:pathLst>
                    <a:path w="73819" h="132874">
                      <a:moveTo>
                        <a:pt x="0" y="132874"/>
                      </a:moveTo>
                      <a:lnTo>
                        <a:pt x="0" y="36909"/>
                      </a:lnTo>
                      <a:cubicBezTo>
                        <a:pt x="0" y="16525"/>
                        <a:pt x="16525" y="0"/>
                        <a:pt x="36909" y="0"/>
                      </a:cubicBezTo>
                      <a:cubicBezTo>
                        <a:pt x="57294" y="0"/>
                        <a:pt x="73819" y="16525"/>
                        <a:pt x="73819" y="36909"/>
                      </a:cubicBezTo>
                      <a:lnTo>
                        <a:pt x="73819" y="44291"/>
                      </a:lnTo>
                    </a:path>
                  </a:pathLst>
                </a:custGeom>
                <a:noFill/>
                <a:ln w="24759" cap="rnd">
                  <a:solidFill>
                    <a:srgbClr val="FFFFFF"/>
                  </a:solidFill>
                  <a:round/>
                </a:ln>
              </p:spPr>
            </p:sp>
          </p:grpSp>
        </p:grpSp>
        <p:sp>
          <p:nvSpPr>
            <p:cNvPr id="11" name="TextBox 11"/>
            <p:cNvSpPr txBox="1"/>
            <p:nvPr/>
          </p:nvSpPr>
          <p:spPr>
            <a:xfrm>
              <a:off x="1261872" y="282892"/>
              <a:ext cx="6930695" cy="557403"/>
            </a:xfrm>
            <a:prstGeom prst="rect">
              <a:avLst/>
            </a:prstGeom>
            <a:noFill/>
            <a:ln>
              <a:noFill/>
            </a:ln>
          </p:spPr>
          <p:txBody>
            <a:bodyPr wrap="none" lIns="0" tIns="0" rIns="0" bIns="0" anchor="t" anchorCtr="0">
              <a:spAutoFit/>
            </a:bodyPr>
            <a:lstStyle/>
            <a:p>
              <a:pPr algn="l"/>
              <a:r>
                <a:rPr lang="tr-TR" sz="2850" b="1" dirty="0">
                  <a:solidFill>
                    <a:srgbClr val="F7FAFC"/>
                  </a:solidFill>
                  <a:latin typeface="+mj-lt"/>
                  <a:ea typeface="+mj-ea"/>
                  <a:cs typeface="+mj-cs"/>
                </a:rPr>
                <a:t>Yönlendirme kararı: sıra önemlidir</a:t>
              </a:r>
            </a:p>
          </p:txBody>
        </p:sp>
      </p:grpSp>
      <p:grpSp>
        <p:nvGrpSpPr>
          <p:cNvPr id="19" name="decision-kimlik"/>
          <p:cNvGrpSpPr/>
          <p:nvPr/>
        </p:nvGrpSpPr>
        <p:grpSpPr>
          <a:xfrm>
            <a:off x="571500" y="1333500"/>
            <a:ext cx="5391150" cy="1171956"/>
            <a:chOff x="571500" y="1333500"/>
            <a:chExt cx="5391150" cy="1171956"/>
          </a:xfrm>
        </p:grpSpPr>
        <p:sp>
          <p:nvSpPr>
            <p:cNvPr id="13" name="Rectangle 13"/>
            <p:cNvSpPr/>
            <p:nvPr/>
          </p:nvSpPr>
          <p:spPr>
            <a:xfrm>
              <a:off x="571500" y="1333500"/>
              <a:ext cx="4000500" cy="857250"/>
            </a:xfrm>
            <a:prstGeom prst="rect">
              <a:avLst/>
            </a:prstGeom>
            <a:solidFill>
              <a:srgbClr val="FFFFFF"/>
            </a:solidFill>
            <a:ln w="19050">
              <a:solidFill>
                <a:srgbClr val="2E86AB"/>
              </a:solidFill>
            </a:ln>
          </p:spPr>
        </p:sp>
        <p:sp>
          <p:nvSpPr>
            <p:cNvPr id="14" name="TextBox 14"/>
            <p:cNvSpPr txBox="1"/>
            <p:nvPr/>
          </p:nvSpPr>
          <p:spPr>
            <a:xfrm>
              <a:off x="790956" y="1482090"/>
              <a:ext cx="2955798" cy="637794"/>
            </a:xfrm>
            <a:prstGeom prst="rect">
              <a:avLst/>
            </a:prstGeom>
            <a:noFill/>
            <a:ln>
              <a:noFill/>
            </a:ln>
          </p:spPr>
          <p:txBody>
            <a:bodyPr wrap="none" lIns="0" tIns="0" rIns="0" bIns="0" anchor="t" anchorCtr="0">
              <a:spAutoFit/>
            </a:bodyPr>
            <a:lstStyle/>
            <a:p>
              <a:pPr algn="l">
                <a:lnSpc>
                  <a:spcPts val="2250"/>
                </a:lnSpc>
              </a:pPr>
              <a:r>
                <a:rPr lang="tr-TR" sz="1800" dirty="0">
                  <a:solidFill>
                    <a:srgbClr val="172B3A"/>
                  </a:solidFill>
                  <a:latin typeface="+mn-lt"/>
                  <a:ea typeface="+mn-ea"/>
                  <a:cs typeface="+mn-cs"/>
                </a:rPr>
                <a:t>/api/ ile başlıyor ve kimlik</a:t>
              </a:r>
              <a:br/>
              <a:r>
                <a:rPr lang="tr-TR" sz="1800" dirty="0">
                  <a:solidFill>
                    <a:srgbClr val="172B3A"/>
                  </a:solidFill>
                  <a:latin typeface="+mn-lt"/>
                  <a:ea typeface="+mn-ea"/>
                  <a:cs typeface="+mn-cs"/>
                </a:rPr>
                <a:t>doğrulanmamış mı?</a:t>
              </a:r>
            </a:p>
          </p:txBody>
        </p:sp>
        <p:sp>
          <p:nvSpPr>
            <p:cNvPr id="15" name="Line 15"/>
            <p:cNvSpPr/>
            <p:nvPr/>
          </p:nvSpPr>
          <p:spPr>
            <a:xfrm>
              <a:off x="4629150" y="1762125"/>
              <a:ext cx="1333500" cy="1"/>
            </a:xfrm>
            <a:prstGeom prst="line">
              <a:avLst/>
            </a:prstGeom>
            <a:noFill/>
            <a:ln w="28575">
              <a:solidFill>
                <a:srgbClr val="00A6A6"/>
              </a:solidFill>
              <a:tailEnd type="triangle" w="lg" len="lg"/>
            </a:ln>
          </p:spPr>
        </p:sp>
        <p:sp>
          <p:nvSpPr>
            <p:cNvPr id="16" name="TextBox 16"/>
            <p:cNvSpPr txBox="1"/>
            <p:nvPr/>
          </p:nvSpPr>
          <p:spPr>
            <a:xfrm>
              <a:off x="4946904" y="1546860"/>
              <a:ext cx="36758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evet</a:t>
              </a:r>
            </a:p>
          </p:txBody>
        </p:sp>
        <p:sp>
          <p:nvSpPr>
            <p:cNvPr id="17" name="Line 17"/>
            <p:cNvSpPr/>
            <p:nvPr/>
          </p:nvSpPr>
          <p:spPr>
            <a:xfrm>
              <a:off x="2571750" y="2247900"/>
              <a:ext cx="1" cy="152400"/>
            </a:xfrm>
            <a:prstGeom prst="line">
              <a:avLst/>
            </a:prstGeom>
            <a:noFill/>
            <a:ln w="19050">
              <a:solidFill>
                <a:srgbClr val="12355B"/>
              </a:solidFill>
              <a:tailEnd type="triangle" w="lg" len="lg"/>
            </a:ln>
          </p:spPr>
        </p:sp>
        <p:sp>
          <p:nvSpPr>
            <p:cNvPr id="18" name="TextBox 18"/>
            <p:cNvSpPr txBox="1"/>
            <p:nvPr/>
          </p:nvSpPr>
          <p:spPr>
            <a:xfrm>
              <a:off x="2699004" y="2270760"/>
              <a:ext cx="45643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hayır</a:t>
              </a:r>
            </a:p>
          </p:txBody>
        </p:sp>
      </p:grpSp>
      <p:grpSp>
        <p:nvGrpSpPr>
          <p:cNvPr id="22" name="outcome-401"/>
          <p:cNvGrpSpPr/>
          <p:nvPr/>
        </p:nvGrpSpPr>
        <p:grpSpPr>
          <a:xfrm>
            <a:off x="6096000" y="1333500"/>
            <a:ext cx="5524500" cy="857250"/>
            <a:chOff x="6096000" y="1333500"/>
            <a:chExt cx="5524500" cy="857250"/>
          </a:xfrm>
        </p:grpSpPr>
        <p:sp>
          <p:nvSpPr>
            <p:cNvPr id="20" name="Rectangle 20"/>
            <p:cNvSpPr/>
            <p:nvPr/>
          </p:nvSpPr>
          <p:spPr>
            <a:xfrm>
              <a:off x="6096000" y="1333500"/>
              <a:ext cx="5524500" cy="857250"/>
            </a:xfrm>
            <a:prstGeom prst="rect">
              <a:avLst/>
            </a:prstGeom>
            <a:solidFill>
              <a:srgbClr val="EAF4F6"/>
            </a:solidFill>
            <a:ln>
              <a:noFill/>
            </a:ln>
          </p:spPr>
        </p:sp>
        <p:sp>
          <p:nvSpPr>
            <p:cNvPr id="21" name="TextBox 21"/>
            <p:cNvSpPr txBox="1"/>
            <p:nvPr/>
          </p:nvSpPr>
          <p:spPr>
            <a:xfrm>
              <a:off x="6391656" y="1663065"/>
              <a:ext cx="402558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401 · kimlik doğrulaması gerekir</a:t>
              </a:r>
            </a:p>
          </p:txBody>
        </p:sp>
      </p:grpSp>
      <p:grpSp>
        <p:nvGrpSpPr>
          <p:cNvPr id="29" name="decision-rota"/>
          <p:cNvGrpSpPr/>
          <p:nvPr/>
        </p:nvGrpSpPr>
        <p:grpSpPr>
          <a:xfrm>
            <a:off x="571500" y="2552700"/>
            <a:ext cx="5391150" cy="1171956"/>
            <a:chOff x="571500" y="2552700"/>
            <a:chExt cx="5391150" cy="1171956"/>
          </a:xfrm>
        </p:grpSpPr>
        <p:sp>
          <p:nvSpPr>
            <p:cNvPr id="23" name="Rectangle 23"/>
            <p:cNvSpPr/>
            <p:nvPr/>
          </p:nvSpPr>
          <p:spPr>
            <a:xfrm>
              <a:off x="571500" y="2552700"/>
              <a:ext cx="4000500" cy="857250"/>
            </a:xfrm>
            <a:prstGeom prst="rect">
              <a:avLst/>
            </a:prstGeom>
            <a:solidFill>
              <a:srgbClr val="FFFFFF"/>
            </a:solidFill>
            <a:ln w="19050">
              <a:solidFill>
                <a:srgbClr val="2E86AB"/>
              </a:solidFill>
            </a:ln>
          </p:spPr>
        </p:sp>
        <p:sp>
          <p:nvSpPr>
            <p:cNvPr id="24" name="TextBox 24"/>
            <p:cNvSpPr txBox="1"/>
            <p:nvPr/>
          </p:nvSpPr>
          <p:spPr>
            <a:xfrm>
              <a:off x="790956" y="2872740"/>
              <a:ext cx="3190113"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Tanımlı bir API rotası mı?</a:t>
              </a:r>
            </a:p>
          </p:txBody>
        </p:sp>
        <p:sp>
          <p:nvSpPr>
            <p:cNvPr id="25" name="Line 25"/>
            <p:cNvSpPr/>
            <p:nvPr/>
          </p:nvSpPr>
          <p:spPr>
            <a:xfrm>
              <a:off x="4629150" y="2981325"/>
              <a:ext cx="1333500" cy="1"/>
            </a:xfrm>
            <a:prstGeom prst="line">
              <a:avLst/>
            </a:prstGeom>
            <a:noFill/>
            <a:ln w="28575">
              <a:solidFill>
                <a:srgbClr val="00A6A6"/>
              </a:solidFill>
              <a:tailEnd type="triangle" w="lg" len="lg"/>
            </a:ln>
          </p:spPr>
        </p:sp>
        <p:sp>
          <p:nvSpPr>
            <p:cNvPr id="26" name="TextBox 26"/>
            <p:cNvSpPr txBox="1"/>
            <p:nvPr/>
          </p:nvSpPr>
          <p:spPr>
            <a:xfrm>
              <a:off x="4946904" y="2766060"/>
              <a:ext cx="36758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evet</a:t>
              </a:r>
            </a:p>
          </p:txBody>
        </p:sp>
        <p:sp>
          <p:nvSpPr>
            <p:cNvPr id="27" name="Line 27"/>
            <p:cNvSpPr/>
            <p:nvPr/>
          </p:nvSpPr>
          <p:spPr>
            <a:xfrm>
              <a:off x="2571750" y="3467100"/>
              <a:ext cx="1" cy="152400"/>
            </a:xfrm>
            <a:prstGeom prst="line">
              <a:avLst/>
            </a:prstGeom>
            <a:noFill/>
            <a:ln w="19050">
              <a:solidFill>
                <a:srgbClr val="12355B"/>
              </a:solidFill>
              <a:tailEnd type="triangle" w="lg" len="lg"/>
            </a:ln>
          </p:spPr>
        </p:sp>
        <p:sp>
          <p:nvSpPr>
            <p:cNvPr id="28" name="TextBox 28"/>
            <p:cNvSpPr txBox="1"/>
            <p:nvPr/>
          </p:nvSpPr>
          <p:spPr>
            <a:xfrm>
              <a:off x="2699004" y="3489960"/>
              <a:ext cx="45643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hayır</a:t>
              </a:r>
            </a:p>
          </p:txBody>
        </p:sp>
      </p:grpSp>
      <p:grpSp>
        <p:nvGrpSpPr>
          <p:cNvPr id="32" name="outcome-api"/>
          <p:cNvGrpSpPr/>
          <p:nvPr/>
        </p:nvGrpSpPr>
        <p:grpSpPr>
          <a:xfrm>
            <a:off x="6096000" y="2552700"/>
            <a:ext cx="5524500" cy="857250"/>
            <a:chOff x="6096000" y="2552700"/>
            <a:chExt cx="5524500" cy="857250"/>
          </a:xfrm>
        </p:grpSpPr>
        <p:sp>
          <p:nvSpPr>
            <p:cNvPr id="30" name="Rectangle 30"/>
            <p:cNvSpPr/>
            <p:nvPr/>
          </p:nvSpPr>
          <p:spPr>
            <a:xfrm>
              <a:off x="6096000" y="2552700"/>
              <a:ext cx="5524500" cy="857250"/>
            </a:xfrm>
            <a:prstGeom prst="rect">
              <a:avLst/>
            </a:prstGeom>
            <a:solidFill>
              <a:srgbClr val="EAF4F6"/>
            </a:solidFill>
            <a:ln>
              <a:noFill/>
            </a:ln>
          </p:spPr>
        </p:sp>
        <p:sp>
          <p:nvSpPr>
            <p:cNvPr id="31" name="TextBox 31"/>
            <p:cNvSpPr txBox="1"/>
            <p:nvPr/>
          </p:nvSpPr>
          <p:spPr>
            <a:xfrm>
              <a:off x="6391656" y="2882265"/>
              <a:ext cx="497970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200 · ogrenci-servisi ya da ders-servisi</a:t>
              </a:r>
            </a:p>
          </p:txBody>
        </p:sp>
      </p:grpSp>
      <p:grpSp>
        <p:nvGrpSpPr>
          <p:cNvPr id="39" name="decision-statik"/>
          <p:cNvGrpSpPr/>
          <p:nvPr/>
        </p:nvGrpSpPr>
        <p:grpSpPr>
          <a:xfrm>
            <a:off x="571500" y="3771900"/>
            <a:ext cx="5391150" cy="1171956"/>
            <a:chOff x="571500" y="3771900"/>
            <a:chExt cx="5391150" cy="1171956"/>
          </a:xfrm>
        </p:grpSpPr>
        <p:sp>
          <p:nvSpPr>
            <p:cNvPr id="33" name="Rectangle 33"/>
            <p:cNvSpPr/>
            <p:nvPr/>
          </p:nvSpPr>
          <p:spPr>
            <a:xfrm>
              <a:off x="571500" y="3771900"/>
              <a:ext cx="4000500" cy="857250"/>
            </a:xfrm>
            <a:prstGeom prst="rect">
              <a:avLst/>
            </a:prstGeom>
            <a:solidFill>
              <a:srgbClr val="FFFFFF"/>
            </a:solidFill>
            <a:ln w="19050">
              <a:solidFill>
                <a:srgbClr val="2E86AB"/>
              </a:solidFill>
            </a:ln>
          </p:spPr>
        </p:sp>
        <p:sp>
          <p:nvSpPr>
            <p:cNvPr id="34" name="TextBox 34"/>
            <p:cNvSpPr txBox="1"/>
            <p:nvPr/>
          </p:nvSpPr>
          <p:spPr>
            <a:xfrm>
              <a:off x="790956" y="3920490"/>
              <a:ext cx="2430018" cy="637794"/>
            </a:xfrm>
            <a:prstGeom prst="rect">
              <a:avLst/>
            </a:prstGeom>
            <a:noFill/>
            <a:ln>
              <a:noFill/>
            </a:ln>
          </p:spPr>
          <p:txBody>
            <a:bodyPr wrap="none" lIns="0" tIns="0" rIns="0" bIns="0" anchor="t" anchorCtr="0">
              <a:spAutoFit/>
            </a:bodyPr>
            <a:lstStyle/>
            <a:p>
              <a:pPr algn="l">
                <a:lnSpc>
                  <a:spcPts val="2250"/>
                </a:lnSpc>
              </a:pPr>
              <a:r>
                <a:rPr lang="tr-TR" sz="1800" dirty="0">
                  <a:solidFill>
                    <a:srgbClr val="172B3A"/>
                  </a:solidFill>
                  <a:latin typeface="+mn-lt"/>
                  <a:ea typeface="+mn-ea"/>
                  <a:cs typeface="+mn-cs"/>
                </a:rPr>
                <a:t>/ veya /assets/ ile mi</a:t>
              </a:r>
              <a:br/>
              <a:r>
                <a:rPr lang="tr-TR" sz="1800" dirty="0">
                  <a:solidFill>
                    <a:srgbClr val="172B3A"/>
                  </a:solidFill>
                  <a:latin typeface="+mn-lt"/>
                  <a:ea typeface="+mn-ea"/>
                  <a:cs typeface="+mn-cs"/>
                </a:rPr>
                <a:t>eşleşiyor?</a:t>
              </a:r>
            </a:p>
          </p:txBody>
        </p:sp>
        <p:sp>
          <p:nvSpPr>
            <p:cNvPr id="35" name="Line 35"/>
            <p:cNvSpPr/>
            <p:nvPr/>
          </p:nvSpPr>
          <p:spPr>
            <a:xfrm>
              <a:off x="4629150" y="4200525"/>
              <a:ext cx="1333500" cy="1"/>
            </a:xfrm>
            <a:prstGeom prst="line">
              <a:avLst/>
            </a:prstGeom>
            <a:noFill/>
            <a:ln w="28575">
              <a:solidFill>
                <a:srgbClr val="00A6A6"/>
              </a:solidFill>
              <a:tailEnd type="triangle" w="lg" len="lg"/>
            </a:ln>
          </p:spPr>
        </p:sp>
        <p:sp>
          <p:nvSpPr>
            <p:cNvPr id="36" name="TextBox 36"/>
            <p:cNvSpPr txBox="1"/>
            <p:nvPr/>
          </p:nvSpPr>
          <p:spPr>
            <a:xfrm>
              <a:off x="4946904" y="3985260"/>
              <a:ext cx="36758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evet</a:t>
              </a:r>
            </a:p>
          </p:txBody>
        </p:sp>
        <p:sp>
          <p:nvSpPr>
            <p:cNvPr id="37" name="Line 37"/>
            <p:cNvSpPr/>
            <p:nvPr/>
          </p:nvSpPr>
          <p:spPr>
            <a:xfrm>
              <a:off x="2571750" y="4686300"/>
              <a:ext cx="1" cy="152400"/>
            </a:xfrm>
            <a:prstGeom prst="line">
              <a:avLst/>
            </a:prstGeom>
            <a:noFill/>
            <a:ln w="19050">
              <a:solidFill>
                <a:srgbClr val="12355B"/>
              </a:solidFill>
              <a:tailEnd type="triangle" w="lg" len="lg"/>
            </a:ln>
          </p:spPr>
        </p:sp>
        <p:sp>
          <p:nvSpPr>
            <p:cNvPr id="38" name="TextBox 38"/>
            <p:cNvSpPr txBox="1"/>
            <p:nvPr/>
          </p:nvSpPr>
          <p:spPr>
            <a:xfrm>
              <a:off x="2699004" y="4709160"/>
              <a:ext cx="45643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hayır</a:t>
              </a:r>
            </a:p>
          </p:txBody>
        </p:sp>
      </p:grpSp>
      <p:grpSp>
        <p:nvGrpSpPr>
          <p:cNvPr id="42" name="outcome-statik"/>
          <p:cNvGrpSpPr/>
          <p:nvPr/>
        </p:nvGrpSpPr>
        <p:grpSpPr>
          <a:xfrm>
            <a:off x="6096000" y="3771900"/>
            <a:ext cx="5524500" cy="857250"/>
            <a:chOff x="6096000" y="3771900"/>
            <a:chExt cx="5524500" cy="857250"/>
          </a:xfrm>
        </p:grpSpPr>
        <p:sp>
          <p:nvSpPr>
            <p:cNvPr id="40" name="Rectangle 40"/>
            <p:cNvSpPr/>
            <p:nvPr/>
          </p:nvSpPr>
          <p:spPr>
            <a:xfrm>
              <a:off x="6096000" y="3771900"/>
              <a:ext cx="5524500" cy="857250"/>
            </a:xfrm>
            <a:prstGeom prst="rect">
              <a:avLst/>
            </a:prstGeom>
            <a:solidFill>
              <a:srgbClr val="EAF4F6"/>
            </a:solidFill>
            <a:ln>
              <a:noFill/>
            </a:ln>
          </p:spPr>
        </p:sp>
        <p:sp>
          <p:nvSpPr>
            <p:cNvPr id="41" name="TextBox 41"/>
            <p:cNvSpPr txBox="1"/>
            <p:nvPr/>
          </p:nvSpPr>
          <p:spPr>
            <a:xfrm>
              <a:off x="6391656" y="4101465"/>
              <a:ext cx="349128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200 · statik içerik sunucusu</a:t>
              </a:r>
            </a:p>
          </p:txBody>
        </p:sp>
      </p:grpSp>
      <p:grpSp>
        <p:nvGrpSpPr>
          <p:cNvPr id="46" name="decision-hicbiri"/>
          <p:cNvGrpSpPr/>
          <p:nvPr/>
        </p:nvGrpSpPr>
        <p:grpSpPr>
          <a:xfrm>
            <a:off x="571500" y="4991100"/>
            <a:ext cx="5391150" cy="857250"/>
            <a:chOff x="571500" y="4991100"/>
            <a:chExt cx="5391150" cy="857250"/>
          </a:xfrm>
        </p:grpSpPr>
        <p:sp>
          <p:nvSpPr>
            <p:cNvPr id="43" name="Rectangle 43"/>
            <p:cNvSpPr/>
            <p:nvPr/>
          </p:nvSpPr>
          <p:spPr>
            <a:xfrm>
              <a:off x="571500" y="4991100"/>
              <a:ext cx="4000500" cy="857250"/>
            </a:xfrm>
            <a:prstGeom prst="rect">
              <a:avLst/>
            </a:prstGeom>
            <a:solidFill>
              <a:srgbClr val="FFFFFF"/>
            </a:solidFill>
            <a:ln w="19050">
              <a:solidFill>
                <a:srgbClr val="B8CBD3"/>
              </a:solidFill>
            </a:ln>
          </p:spPr>
        </p:sp>
        <p:sp>
          <p:nvSpPr>
            <p:cNvPr id="44" name="TextBox 44"/>
            <p:cNvSpPr txBox="1"/>
            <p:nvPr/>
          </p:nvSpPr>
          <p:spPr>
            <a:xfrm>
              <a:off x="790956" y="5311140"/>
              <a:ext cx="1975833"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Hiçbiri eşleşmedi</a:t>
              </a:r>
            </a:p>
          </p:txBody>
        </p:sp>
        <p:sp>
          <p:nvSpPr>
            <p:cNvPr id="45" name="Line 45"/>
            <p:cNvSpPr/>
            <p:nvPr/>
          </p:nvSpPr>
          <p:spPr>
            <a:xfrm>
              <a:off x="4629150" y="5419725"/>
              <a:ext cx="1333500" cy="1"/>
            </a:xfrm>
            <a:prstGeom prst="line">
              <a:avLst/>
            </a:prstGeom>
            <a:noFill/>
            <a:ln w="28575">
              <a:solidFill>
                <a:srgbClr val="00A6A6"/>
              </a:solidFill>
              <a:tailEnd type="triangle" w="lg" len="lg"/>
            </a:ln>
          </p:spPr>
        </p:sp>
      </p:grpSp>
      <p:grpSp>
        <p:nvGrpSpPr>
          <p:cNvPr id="49" name="outcome-404"/>
          <p:cNvGrpSpPr/>
          <p:nvPr/>
        </p:nvGrpSpPr>
        <p:grpSpPr>
          <a:xfrm>
            <a:off x="6096000" y="4991100"/>
            <a:ext cx="5524500" cy="857250"/>
            <a:chOff x="6096000" y="4991100"/>
            <a:chExt cx="5524500" cy="857250"/>
          </a:xfrm>
        </p:grpSpPr>
        <p:sp>
          <p:nvSpPr>
            <p:cNvPr id="47" name="Rectangle 47"/>
            <p:cNvSpPr/>
            <p:nvPr/>
          </p:nvSpPr>
          <p:spPr>
            <a:xfrm>
              <a:off x="6096000" y="4991100"/>
              <a:ext cx="5524500" cy="857250"/>
            </a:xfrm>
            <a:prstGeom prst="rect">
              <a:avLst/>
            </a:prstGeom>
            <a:solidFill>
              <a:srgbClr val="12355B"/>
            </a:solidFill>
            <a:ln>
              <a:noFill/>
            </a:ln>
          </p:spPr>
        </p:sp>
        <p:sp>
          <p:nvSpPr>
            <p:cNvPr id="48" name="TextBox 48"/>
            <p:cNvSpPr txBox="1"/>
            <p:nvPr/>
          </p:nvSpPr>
          <p:spPr>
            <a:xfrm>
              <a:off x="6391656" y="5320665"/>
              <a:ext cx="4025589" cy="352044"/>
            </a:xfrm>
            <a:prstGeom prst="rect">
              <a:avLst/>
            </a:prstGeom>
            <a:noFill/>
            <a:ln>
              <a:noFill/>
            </a:ln>
          </p:spPr>
          <p:txBody>
            <a:bodyPr wrap="none" lIns="0" tIns="0" rIns="0" bIns="0" anchor="t" anchorCtr="0">
              <a:spAutoFit/>
            </a:bodyPr>
            <a:lstStyle/>
            <a:p>
              <a:pPr algn="l"/>
              <a:r>
                <a:rPr lang="tr-TR" sz="1800" b="1" dirty="0">
                  <a:solidFill>
                    <a:srgbClr val="F7FAFC"/>
                  </a:solidFill>
                  <a:latin typeface="+mn-lt"/>
                  <a:ea typeface="+mn-ea"/>
                  <a:cs typeface="+mn-cs"/>
                </a:rPr>
                <a:t>404 · istenen kaynak bulunamadı</a:t>
              </a:r>
            </a:p>
          </p:txBody>
        </p:sp>
      </p:grpSp>
      <p:grpSp>
        <p:nvGrpSpPr>
          <p:cNvPr id="51" name="order-takeaway"/>
          <p:cNvGrpSpPr/>
          <p:nvPr/>
        </p:nvGrpSpPr>
        <p:grpSpPr>
          <a:xfrm>
            <a:off x="563499" y="6002179"/>
            <a:ext cx="10189735" cy="308039"/>
            <a:chOff x="563499" y="6002179"/>
            <a:chExt cx="10189735" cy="308039"/>
          </a:xfrm>
        </p:grpSpPr>
        <p:sp>
          <p:nvSpPr>
            <p:cNvPr id="50" name="TextBox 50"/>
            <p:cNvSpPr txBox="1"/>
            <p:nvPr/>
          </p:nvSpPr>
          <p:spPr>
            <a:xfrm>
              <a:off x="563499" y="6002179"/>
              <a:ext cx="10189735"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Kimlik denetimi route eşleşmesinden önce yapılır; sıra değişse yetkisiz istek servise ulaşabilirdi.</a:t>
              </a:r>
            </a:p>
          </p:txBody>
        </p:sp>
      </p:grpSp>
      <p:grpSp>
        <p:nvGrpSpPr>
          <p:cNvPr id="54" name="footer"/>
          <p:cNvGrpSpPr/>
          <p:nvPr/>
        </p:nvGrpSpPr>
        <p:grpSpPr>
          <a:xfrm>
            <a:off x="565404" y="6404610"/>
            <a:ext cx="11061192" cy="234696"/>
            <a:chOff x="565404" y="6404610"/>
            <a:chExt cx="11061192" cy="234696"/>
          </a:xfrm>
        </p:grpSpPr>
        <p:sp>
          <p:nvSpPr>
            <p:cNvPr id="52" name="TextBox 52"/>
            <p:cNvSpPr txBox="1"/>
            <p:nvPr/>
          </p:nvSpPr>
          <p:spPr>
            <a:xfrm>
              <a:off x="565404" y="6404610"/>
              <a:ext cx="496284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Bölüm 1 · Modern Backend Programlamaya Giriş ve Web Mimarisi</a:t>
              </a:r>
            </a:p>
          </p:txBody>
        </p:sp>
        <p:sp>
          <p:nvSpPr>
            <p:cNvPr id="53" name="TextBox 53"/>
            <p:cNvSpPr txBox="1"/>
            <p:nvPr/>
          </p:nvSpPr>
          <p:spPr>
            <a:xfrm>
              <a:off x="11436706" y="640461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18</a:t>
              </a:r>
            </a:p>
          </p:txBody>
        </p:sp>
      </p:gr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1" name="title"/>
          <p:cNvGrpSpPr/>
          <p:nvPr/>
        </p:nvGrpSpPr>
        <p:grpSpPr>
          <a:xfrm>
            <a:off x="0" y="0"/>
            <a:ext cx="12192000" cy="952500"/>
            <a:chOff x="0" y="0"/>
            <a:chExt cx="12192000" cy="952500"/>
          </a:xfrm>
        </p:grpSpPr>
        <p:sp>
          <p:nvSpPr>
            <p:cNvPr id="2" name="Rectangle 2"/>
            <p:cNvSpPr/>
            <p:nvPr/>
          </p:nvSpPr>
          <p:spPr>
            <a:xfrm>
              <a:off x="0" y="0"/>
              <a:ext cx="12192000" cy="914400"/>
            </a:xfrm>
            <a:prstGeom prst="rect">
              <a:avLst/>
            </a:prstGeom>
            <a:solidFill>
              <a:srgbClr val="12355B"/>
            </a:solidFill>
            <a:ln>
              <a:noFill/>
            </a:ln>
          </p:spPr>
        </p:sp>
        <p:sp>
          <p:nvSpPr>
            <p:cNvPr id="3" name="Rectangle 3"/>
            <p:cNvSpPr/>
            <p:nvPr/>
          </p:nvSpPr>
          <p:spPr>
            <a:xfrm>
              <a:off x="0" y="914400"/>
              <a:ext cx="12192000" cy="38100"/>
            </a:xfrm>
            <a:prstGeom prst="rect">
              <a:avLst/>
            </a:prstGeom>
            <a:solidFill>
              <a:srgbClr val="00A6A6"/>
            </a:solidFill>
            <a:ln>
              <a:noFill/>
            </a:ln>
          </p:spPr>
        </p:sp>
        <p:grpSp>
          <p:nvGrpSpPr>
            <p:cNvPr id="9" name="icon-badge"/>
            <p:cNvGrpSpPr/>
            <p:nvPr/>
          </p:nvGrpSpPr>
          <p:grpSpPr>
            <a:xfrm>
              <a:off x="571500" y="171450"/>
              <a:ext cx="571500" cy="571500"/>
              <a:chOff x="571500" y="171450"/>
              <a:chExt cx="571500" cy="571500"/>
            </a:xfrm>
          </p:grpSpPr>
          <p:sp>
            <p:nvSpPr>
              <p:cNvPr id="4" name="Ellipse 4"/>
              <p:cNvSpPr/>
              <p:nvPr/>
            </p:nvSpPr>
            <p:spPr>
              <a:xfrm>
                <a:off x="571500" y="171450"/>
                <a:ext cx="571500" cy="571500"/>
              </a:xfrm>
              <a:prstGeom prst="ellipse">
                <a:avLst/>
              </a:prstGeom>
              <a:solidFill>
                <a:srgbClr val="00A6A6"/>
              </a:solidFill>
              <a:ln>
                <a:noFill/>
              </a:ln>
            </p:spPr>
          </p:sp>
          <p:grpSp>
            <p:nvGrpSpPr>
              <p:cNvPr id="8" name="Group 8"/>
              <p:cNvGrpSpPr/>
              <p:nvPr/>
            </p:nvGrpSpPr>
            <p:grpSpPr>
              <a:xfrm>
                <a:off x="708356" y="319421"/>
                <a:ext cx="297777" cy="255830"/>
                <a:chOff x="708356" y="319421"/>
                <a:chExt cx="297777" cy="255830"/>
              </a:xfrm>
            </p:grpSpPr>
            <p:sp>
              <p:nvSpPr>
                <p:cNvPr id="5" name="Freeform 5"/>
                <p:cNvSpPr/>
                <p:nvPr/>
              </p:nvSpPr>
              <p:spPr>
                <a:xfrm>
                  <a:off x="8572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083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572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61872" y="282892"/>
              <a:ext cx="7918189" cy="557403"/>
            </a:xfrm>
            <a:prstGeom prst="rect">
              <a:avLst/>
            </a:prstGeom>
            <a:noFill/>
            <a:ln>
              <a:noFill/>
            </a:ln>
          </p:spPr>
          <p:txBody>
            <a:bodyPr wrap="none" lIns="0" tIns="0" rIns="0" bIns="0" anchor="t" anchorCtr="0">
              <a:spAutoFit/>
            </a:bodyPr>
            <a:lstStyle/>
            <a:p>
              <a:pPr algn="l"/>
              <a:r>
                <a:rPr lang="tr-TR" sz="2850" b="1" dirty="0">
                  <a:solidFill>
                    <a:srgbClr val="F7FAFC"/>
                  </a:solidFill>
                  <a:latin typeface="+mj-lt"/>
                  <a:ea typeface="+mj-ea"/>
                  <a:cs typeface="+mj-cs"/>
                </a:rPr>
                <a:t>Sık düşülen üç yanılgı ve mimari çözümü</a:t>
              </a:r>
            </a:p>
          </p:txBody>
        </p:sp>
      </p:grpSp>
      <p:grpSp>
        <p:nvGrpSpPr>
          <p:cNvPr id="19" name="misconception-istemci"/>
          <p:cNvGrpSpPr/>
          <p:nvPr/>
        </p:nvGrpSpPr>
        <p:grpSpPr>
          <a:xfrm>
            <a:off x="562356" y="1394460"/>
            <a:ext cx="3438144" cy="4344257"/>
            <a:chOff x="562356" y="1394460"/>
            <a:chExt cx="3438144" cy="4344257"/>
          </a:xfrm>
        </p:grpSpPr>
        <p:sp>
          <p:nvSpPr>
            <p:cNvPr id="12" name="TextBox 12"/>
            <p:cNvSpPr txBox="1"/>
            <p:nvPr/>
          </p:nvSpPr>
          <p:spPr>
            <a:xfrm>
              <a:off x="565404" y="1394460"/>
              <a:ext cx="729082"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mn-lt"/>
                  <a:ea typeface="+mn-ea"/>
                  <a:cs typeface="+mn-cs"/>
                </a:rPr>
                <a:t>YANILGI 1</a:t>
              </a:r>
            </a:p>
          </p:txBody>
        </p:sp>
        <p:sp>
          <p:nvSpPr>
            <p:cNvPr id="13" name="TextBox 13"/>
            <p:cNvSpPr txBox="1"/>
            <p:nvPr/>
          </p:nvSpPr>
          <p:spPr>
            <a:xfrm>
              <a:off x="562356" y="1710690"/>
              <a:ext cx="2046542" cy="961644"/>
            </a:xfrm>
            <a:prstGeom prst="rect">
              <a:avLst/>
            </a:prstGeom>
            <a:noFill/>
            <a:ln>
              <a:noFill/>
            </a:ln>
          </p:spPr>
          <p:txBody>
            <a:bodyPr wrap="none" lIns="0" tIns="0" rIns="0" bIns="0" anchor="t" anchorCtr="0">
              <a:spAutoFit/>
            </a:bodyPr>
            <a:lstStyle/>
            <a:p>
              <a:pPr algn="l">
                <a:lnSpc>
                  <a:spcPts val="2400"/>
                </a:lnSpc>
              </a:pPr>
              <a:r>
                <a:rPr lang="tr-TR" sz="1800" b="1" dirty="0">
                  <a:solidFill>
                    <a:srgbClr val="12355B"/>
                  </a:solidFill>
                  <a:latin typeface="+mn-lt"/>
                  <a:ea typeface="+mn-ea"/>
                  <a:cs typeface="+mn-cs"/>
                </a:rPr>
                <a:t>“İş kurallarını</a:t>
              </a:r>
              <a:br/>
              <a:r>
                <a:rPr lang="tr-TR" sz="1800" b="1" dirty="0">
                  <a:solidFill>
                    <a:srgbClr val="12355B"/>
                  </a:solidFill>
                  <a:latin typeface="+mn-lt"/>
                  <a:ea typeface="+mn-ea"/>
                  <a:cs typeface="+mn-cs"/>
                </a:rPr>
                <a:t>istemcide yapmak</a:t>
              </a:r>
              <a:br/>
              <a:r>
                <a:rPr lang="tr-TR" sz="1800" b="1" dirty="0">
                  <a:solidFill>
                    <a:srgbClr val="12355B"/>
                  </a:solidFill>
                  <a:latin typeface="+mn-lt"/>
                  <a:ea typeface="+mn-ea"/>
                  <a:cs typeface="+mn-cs"/>
                </a:rPr>
                <a:t>yeterlidir.”</a:t>
              </a:r>
            </a:p>
          </p:txBody>
        </p:sp>
        <p:sp>
          <p:nvSpPr>
            <p:cNvPr id="14" name="Line 14"/>
            <p:cNvSpPr/>
            <p:nvPr/>
          </p:nvSpPr>
          <p:spPr>
            <a:xfrm>
              <a:off x="571500" y="2857500"/>
              <a:ext cx="3429000" cy="9525"/>
            </a:xfrm>
            <a:custGeom>
              <a:avLst/>
              <a:gdLst/>
              <a:ahLst/>
              <a:cxnLst/>
              <a:rect l="l" t="t" r="r" b="b"/>
              <a:pathLst>
                <a:path w="3429000" h="9525">
                  <a:moveTo>
                    <a:pt x="0" y="0"/>
                  </a:moveTo>
                  <a:lnTo>
                    <a:pt x="3429000" y="0"/>
                  </a:lnTo>
                </a:path>
              </a:pathLst>
            </a:custGeom>
            <a:noFill/>
            <a:ln w="9525">
              <a:solidFill>
                <a:srgbClr val="B8CBD3"/>
              </a:solidFill>
            </a:ln>
          </p:spPr>
        </p:sp>
        <p:sp>
          <p:nvSpPr>
            <p:cNvPr id="15" name="TextBox 15"/>
            <p:cNvSpPr txBox="1"/>
            <p:nvPr/>
          </p:nvSpPr>
          <p:spPr>
            <a:xfrm>
              <a:off x="563499" y="3030379"/>
              <a:ext cx="1508182" cy="308039"/>
            </a:xfrm>
            <a:prstGeom prst="rect">
              <a:avLst/>
            </a:prstGeom>
            <a:noFill/>
            <a:ln>
              <a:noFill/>
            </a:ln>
          </p:spPr>
          <p:txBody>
            <a:bodyPr wrap="none" lIns="0" tIns="0" rIns="0" bIns="0" anchor="t" anchorCtr="0">
              <a:spAutoFit/>
            </a:bodyPr>
            <a:lstStyle/>
            <a:p>
              <a:pPr algn="l"/>
              <a:r>
                <a:rPr lang="tr-TR" sz="1580" b="1" dirty="0">
                  <a:solidFill>
                    <a:srgbClr val="2E86AB"/>
                  </a:solidFill>
                  <a:latin typeface="+mn-lt"/>
                  <a:ea typeface="+mn-ea"/>
                  <a:cs typeface="+mn-cs"/>
                </a:rPr>
                <a:t>Teknik gerçek</a:t>
              </a:r>
            </a:p>
          </p:txBody>
        </p:sp>
        <p:sp>
          <p:nvSpPr>
            <p:cNvPr id="16" name="TextBox 16"/>
            <p:cNvSpPr txBox="1"/>
            <p:nvPr/>
          </p:nvSpPr>
          <p:spPr>
            <a:xfrm>
              <a:off x="563499" y="3335179"/>
              <a:ext cx="2504186" cy="11081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İstemci ortamı tümüyle</a:t>
              </a:r>
              <a:br/>
              <a:r>
                <a:rPr lang="tr-TR" sz="1580" dirty="0">
                  <a:solidFill>
                    <a:srgbClr val="172B3A"/>
                  </a:solidFill>
                  <a:latin typeface="+mn-lt"/>
                  <a:ea typeface="+mn-ea"/>
                  <a:cs typeface="+mn-cs"/>
                </a:rPr>
                <a:t>saldırganın denetiminde;</a:t>
              </a:r>
              <a:br/>
              <a:r>
                <a:rPr lang="tr-TR" sz="1580" dirty="0">
                  <a:solidFill>
                    <a:srgbClr val="172B3A"/>
                  </a:solidFill>
                  <a:latin typeface="+mn-lt"/>
                  <a:ea typeface="+mn-ea"/>
                  <a:cs typeface="+mn-cs"/>
                </a:rPr>
                <a:t>cURL ile sahte HTTP isteği</a:t>
              </a:r>
              <a:br/>
              <a:r>
                <a:rPr lang="tr-TR" sz="1580" dirty="0">
                  <a:solidFill>
                    <a:srgbClr val="172B3A"/>
                  </a:solidFill>
                  <a:latin typeface="+mn-lt"/>
                  <a:ea typeface="+mn-ea"/>
                  <a:cs typeface="+mn-cs"/>
                </a:rPr>
                <a:t>gönderilebilir.</a:t>
              </a:r>
            </a:p>
          </p:txBody>
        </p:sp>
        <p:sp>
          <p:nvSpPr>
            <p:cNvPr id="17" name="TextBox 17"/>
            <p:cNvSpPr txBox="1"/>
            <p:nvPr/>
          </p:nvSpPr>
          <p:spPr>
            <a:xfrm>
              <a:off x="563499" y="4592479"/>
              <a:ext cx="1463923" cy="308039"/>
            </a:xfrm>
            <a:prstGeom prst="rect">
              <a:avLst/>
            </a:prstGeom>
            <a:noFill/>
            <a:ln>
              <a:noFill/>
            </a:ln>
          </p:spPr>
          <p:txBody>
            <a:bodyPr wrap="none" lIns="0" tIns="0" rIns="0" bIns="0" anchor="t" anchorCtr="0">
              <a:spAutoFit/>
            </a:bodyPr>
            <a:lstStyle/>
            <a:p>
              <a:pPr algn="l"/>
              <a:r>
                <a:rPr lang="tr-TR" sz="1580" b="1" dirty="0">
                  <a:solidFill>
                    <a:srgbClr val="00A6A6"/>
                  </a:solidFill>
                  <a:latin typeface="+mn-lt"/>
                  <a:ea typeface="+mn-ea"/>
                  <a:cs typeface="+mn-cs"/>
                </a:rPr>
                <a:t>Mimari çözüm</a:t>
              </a:r>
            </a:p>
          </p:txBody>
        </p:sp>
        <p:sp>
          <p:nvSpPr>
            <p:cNvPr id="18" name="TextBox 18"/>
            <p:cNvSpPr txBox="1"/>
            <p:nvPr/>
          </p:nvSpPr>
          <p:spPr>
            <a:xfrm>
              <a:off x="563499" y="4897279"/>
              <a:ext cx="2694813" cy="8414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Sıfır güven ilkesi:</a:t>
              </a:r>
              <a:br/>
              <a:r>
                <a:rPr lang="tr-TR" sz="1580" dirty="0">
                  <a:solidFill>
                    <a:srgbClr val="172B3A"/>
                  </a:solidFill>
                  <a:latin typeface="+mn-lt"/>
                  <a:ea typeface="+mn-ea"/>
                  <a:cs typeface="+mn-cs"/>
                </a:rPr>
                <a:t>tüm yetki, doğrulama ve</a:t>
              </a:r>
              <a:br/>
              <a:r>
                <a:rPr lang="tr-TR" sz="1580" dirty="0">
                  <a:solidFill>
                    <a:srgbClr val="172B3A"/>
                  </a:solidFill>
                  <a:latin typeface="+mn-lt"/>
                  <a:ea typeface="+mn-ea"/>
                  <a:cs typeface="+mn-cs"/>
                </a:rPr>
                <a:t>iş kuralı sunucuda çalışır.</a:t>
              </a:r>
            </a:p>
          </p:txBody>
        </p:sp>
      </p:grpSp>
      <p:grpSp>
        <p:nvGrpSpPr>
          <p:cNvPr id="27" name="misconception-proxy"/>
          <p:cNvGrpSpPr/>
          <p:nvPr/>
        </p:nvGrpSpPr>
        <p:grpSpPr>
          <a:xfrm>
            <a:off x="4372356" y="1394460"/>
            <a:ext cx="3438144" cy="4344257"/>
            <a:chOff x="4372356" y="1394460"/>
            <a:chExt cx="3438144" cy="4344257"/>
          </a:xfrm>
        </p:grpSpPr>
        <p:sp>
          <p:nvSpPr>
            <p:cNvPr id="20" name="TextBox 20"/>
            <p:cNvSpPr txBox="1"/>
            <p:nvPr/>
          </p:nvSpPr>
          <p:spPr>
            <a:xfrm>
              <a:off x="4375404" y="1394460"/>
              <a:ext cx="729082"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mn-lt"/>
                  <a:ea typeface="+mn-ea"/>
                  <a:cs typeface="+mn-cs"/>
                </a:rPr>
                <a:t>YANILGI 2</a:t>
              </a:r>
            </a:p>
          </p:txBody>
        </p:sp>
        <p:sp>
          <p:nvSpPr>
            <p:cNvPr id="21" name="TextBox 21"/>
            <p:cNvSpPr txBox="1"/>
            <p:nvPr/>
          </p:nvSpPr>
          <p:spPr>
            <a:xfrm>
              <a:off x="4372356" y="1710690"/>
              <a:ext cx="1806512" cy="961644"/>
            </a:xfrm>
            <a:prstGeom prst="rect">
              <a:avLst/>
            </a:prstGeom>
            <a:noFill/>
            <a:ln>
              <a:noFill/>
            </a:ln>
          </p:spPr>
          <p:txBody>
            <a:bodyPr wrap="none" lIns="0" tIns="0" rIns="0" bIns="0" anchor="t" anchorCtr="0">
              <a:spAutoFit/>
            </a:bodyPr>
            <a:lstStyle/>
            <a:p>
              <a:pPr algn="l">
                <a:lnSpc>
                  <a:spcPts val="2400"/>
                </a:lnSpc>
              </a:pPr>
              <a:r>
                <a:rPr lang="tr-TR" sz="1800" b="1" dirty="0">
                  <a:solidFill>
                    <a:srgbClr val="12355B"/>
                  </a:solidFill>
                  <a:latin typeface="+mn-lt"/>
                  <a:ea typeface="+mn-ea"/>
                  <a:cs typeface="+mn-cs"/>
                </a:rPr>
                <a:t>“Reverse proxy</a:t>
              </a:r>
              <a:br/>
              <a:r>
                <a:rPr lang="tr-TR" sz="1800" b="1" dirty="0">
                  <a:solidFill>
                    <a:srgbClr val="12355B"/>
                  </a:solidFill>
                  <a:latin typeface="+mn-lt"/>
                  <a:ea typeface="+mn-ea"/>
                  <a:cs typeface="+mn-cs"/>
                </a:rPr>
                <a:t>gereksiz bir ek</a:t>
              </a:r>
              <a:br/>
              <a:r>
                <a:rPr lang="tr-TR" sz="1800" b="1" dirty="0">
                  <a:solidFill>
                    <a:srgbClr val="12355B"/>
                  </a:solidFill>
                  <a:latin typeface="+mn-lt"/>
                  <a:ea typeface="+mn-ea"/>
                  <a:cs typeface="+mn-cs"/>
                </a:rPr>
                <a:t>katmandır.”</a:t>
              </a:r>
            </a:p>
          </p:txBody>
        </p:sp>
        <p:sp>
          <p:nvSpPr>
            <p:cNvPr id="22" name="Line 22"/>
            <p:cNvSpPr/>
            <p:nvPr/>
          </p:nvSpPr>
          <p:spPr>
            <a:xfrm>
              <a:off x="4381500" y="2857500"/>
              <a:ext cx="3429000" cy="9525"/>
            </a:xfrm>
            <a:custGeom>
              <a:avLst/>
              <a:gdLst/>
              <a:ahLst/>
              <a:cxnLst/>
              <a:rect l="l" t="t" r="r" b="b"/>
              <a:pathLst>
                <a:path w="3429000" h="9525">
                  <a:moveTo>
                    <a:pt x="0" y="0"/>
                  </a:moveTo>
                  <a:lnTo>
                    <a:pt x="3429000" y="0"/>
                  </a:lnTo>
                </a:path>
              </a:pathLst>
            </a:custGeom>
            <a:noFill/>
            <a:ln w="9525">
              <a:solidFill>
                <a:srgbClr val="B8CBD3"/>
              </a:solidFill>
            </a:ln>
          </p:spPr>
        </p:sp>
        <p:sp>
          <p:nvSpPr>
            <p:cNvPr id="23" name="TextBox 23"/>
            <p:cNvSpPr txBox="1"/>
            <p:nvPr/>
          </p:nvSpPr>
          <p:spPr>
            <a:xfrm>
              <a:off x="4373499" y="3030379"/>
              <a:ext cx="1508182" cy="308039"/>
            </a:xfrm>
            <a:prstGeom prst="rect">
              <a:avLst/>
            </a:prstGeom>
            <a:noFill/>
            <a:ln>
              <a:noFill/>
            </a:ln>
          </p:spPr>
          <p:txBody>
            <a:bodyPr wrap="none" lIns="0" tIns="0" rIns="0" bIns="0" anchor="t" anchorCtr="0">
              <a:spAutoFit/>
            </a:bodyPr>
            <a:lstStyle/>
            <a:p>
              <a:pPr algn="l"/>
              <a:r>
                <a:rPr lang="tr-TR" sz="1580" b="1" dirty="0">
                  <a:solidFill>
                    <a:srgbClr val="2E86AB"/>
                  </a:solidFill>
                  <a:latin typeface="+mn-lt"/>
                  <a:ea typeface="+mn-ea"/>
                  <a:cs typeface="+mn-cs"/>
                </a:rPr>
                <a:t>Teknik gerçek</a:t>
              </a:r>
            </a:p>
          </p:txBody>
        </p:sp>
        <p:sp>
          <p:nvSpPr>
            <p:cNvPr id="24" name="TextBox 24"/>
            <p:cNvSpPr txBox="1"/>
            <p:nvPr/>
          </p:nvSpPr>
          <p:spPr>
            <a:xfrm>
              <a:off x="4373499" y="3335179"/>
              <a:ext cx="2504186" cy="11081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Node.js tek iş parçacıklı</a:t>
              </a:r>
              <a:br/>
              <a:r>
                <a:rPr lang="tr-TR" sz="1580" dirty="0">
                  <a:solidFill>
                    <a:srgbClr val="172B3A"/>
                  </a:solidFill>
                  <a:latin typeface="+mn-lt"/>
                  <a:ea typeface="+mn-ea"/>
                  <a:cs typeface="+mn-cs"/>
                </a:rPr>
                <a:t>bir I/O motorudur; TLS el</a:t>
              </a:r>
              <a:br/>
              <a:r>
                <a:rPr lang="tr-TR" sz="1580" dirty="0">
                  <a:solidFill>
                    <a:srgbClr val="172B3A"/>
                  </a:solidFill>
                  <a:latin typeface="+mn-lt"/>
                  <a:ea typeface="+mn-ea"/>
                  <a:cs typeface="+mn-cs"/>
                </a:rPr>
                <a:t>sıkışma ve statik dosya</a:t>
              </a:r>
              <a:br/>
              <a:r>
                <a:rPr lang="tr-TR" sz="1580" dirty="0">
                  <a:solidFill>
                    <a:srgbClr val="172B3A"/>
                  </a:solidFill>
                  <a:latin typeface="+mn-lt"/>
                  <a:ea typeface="+mn-ea"/>
                  <a:cs typeface="+mn-cs"/>
                </a:rPr>
                <a:t>dağıtımı onu bloke eder.</a:t>
              </a:r>
            </a:p>
          </p:txBody>
        </p:sp>
        <p:sp>
          <p:nvSpPr>
            <p:cNvPr id="25" name="TextBox 25"/>
            <p:cNvSpPr txBox="1"/>
            <p:nvPr/>
          </p:nvSpPr>
          <p:spPr>
            <a:xfrm>
              <a:off x="4373499" y="4592479"/>
              <a:ext cx="1463923" cy="308039"/>
            </a:xfrm>
            <a:prstGeom prst="rect">
              <a:avLst/>
            </a:prstGeom>
            <a:noFill/>
            <a:ln>
              <a:noFill/>
            </a:ln>
          </p:spPr>
          <p:txBody>
            <a:bodyPr wrap="none" lIns="0" tIns="0" rIns="0" bIns="0" anchor="t" anchorCtr="0">
              <a:spAutoFit/>
            </a:bodyPr>
            <a:lstStyle/>
            <a:p>
              <a:pPr algn="l"/>
              <a:r>
                <a:rPr lang="tr-TR" sz="1580" b="1" dirty="0">
                  <a:solidFill>
                    <a:srgbClr val="00A6A6"/>
                  </a:solidFill>
                  <a:latin typeface="+mn-lt"/>
                  <a:ea typeface="+mn-ea"/>
                  <a:cs typeface="+mn-cs"/>
                </a:rPr>
                <a:t>Mimari çözüm</a:t>
              </a:r>
            </a:p>
          </p:txBody>
        </p:sp>
        <p:sp>
          <p:nvSpPr>
            <p:cNvPr id="26" name="TextBox 26"/>
            <p:cNvSpPr txBox="1"/>
            <p:nvPr/>
          </p:nvSpPr>
          <p:spPr>
            <a:xfrm>
              <a:off x="4373499" y="4897279"/>
              <a:ext cx="2514219" cy="8414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Önüne Nginx gibi bir ters</a:t>
              </a:r>
              <a:br/>
              <a:r>
                <a:rPr lang="tr-TR" sz="1580" dirty="0">
                  <a:solidFill>
                    <a:srgbClr val="172B3A"/>
                  </a:solidFill>
                  <a:latin typeface="+mn-lt"/>
                  <a:ea typeface="+mn-ea"/>
                  <a:cs typeface="+mn-cs"/>
                </a:rPr>
                <a:t>vekil konur; TLS ve istek</a:t>
              </a:r>
              <a:br/>
              <a:r>
                <a:rPr lang="tr-TR" sz="1580" dirty="0">
                  <a:solidFill>
                    <a:srgbClr val="172B3A"/>
                  </a:solidFill>
                  <a:latin typeface="+mn-lt"/>
                  <a:ea typeface="+mn-ea"/>
                  <a:cs typeface="+mn-cs"/>
                </a:rPr>
                <a:t>sınırlama ona devredilir.</a:t>
              </a:r>
            </a:p>
          </p:txBody>
        </p:sp>
      </p:grpSp>
      <p:grpSp>
        <p:nvGrpSpPr>
          <p:cNvPr id="35" name="misconception-http"/>
          <p:cNvGrpSpPr/>
          <p:nvPr/>
        </p:nvGrpSpPr>
        <p:grpSpPr>
          <a:xfrm>
            <a:off x="8182356" y="1394460"/>
            <a:ext cx="3438144" cy="4344257"/>
            <a:chOff x="8182356" y="1394460"/>
            <a:chExt cx="3438144" cy="4344257"/>
          </a:xfrm>
        </p:grpSpPr>
        <p:sp>
          <p:nvSpPr>
            <p:cNvPr id="28" name="TextBox 28"/>
            <p:cNvSpPr txBox="1"/>
            <p:nvPr/>
          </p:nvSpPr>
          <p:spPr>
            <a:xfrm>
              <a:off x="8185404" y="1394460"/>
              <a:ext cx="729082"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mn-lt"/>
                  <a:ea typeface="+mn-ea"/>
                  <a:cs typeface="+mn-cs"/>
                </a:rPr>
                <a:t>YANILGI 3</a:t>
              </a:r>
            </a:p>
          </p:txBody>
        </p:sp>
        <p:sp>
          <p:nvSpPr>
            <p:cNvPr id="29" name="TextBox 29"/>
            <p:cNvSpPr txBox="1"/>
            <p:nvPr/>
          </p:nvSpPr>
          <p:spPr>
            <a:xfrm>
              <a:off x="8182356" y="1710690"/>
              <a:ext cx="2286572" cy="961644"/>
            </a:xfrm>
            <a:prstGeom prst="rect">
              <a:avLst/>
            </a:prstGeom>
            <a:noFill/>
            <a:ln>
              <a:noFill/>
            </a:ln>
          </p:spPr>
          <p:txBody>
            <a:bodyPr wrap="none" lIns="0" tIns="0" rIns="0" bIns="0" anchor="t" anchorCtr="0">
              <a:spAutoFit/>
            </a:bodyPr>
            <a:lstStyle/>
            <a:p>
              <a:pPr algn="l">
                <a:lnSpc>
                  <a:spcPts val="2400"/>
                </a:lnSpc>
              </a:pPr>
              <a:r>
                <a:rPr lang="tr-TR" sz="1800" b="1" dirty="0">
                  <a:solidFill>
                    <a:srgbClr val="12355B"/>
                  </a:solidFill>
                  <a:latin typeface="+mn-lt"/>
                  <a:ea typeface="+mn-ea"/>
                  <a:cs typeface="+mn-cs"/>
                </a:rPr>
                <a:t>“HTTP sürekli açık,</a:t>
              </a:r>
              <a:br/>
              <a:r>
                <a:rPr lang="tr-TR" sz="1800" b="1" dirty="0">
                  <a:solidFill>
                    <a:srgbClr val="12355B"/>
                  </a:solidFill>
                  <a:latin typeface="+mn-lt"/>
                  <a:ea typeface="+mn-ea"/>
                  <a:cs typeface="+mn-cs"/>
                </a:rPr>
                <a:t>iki yönlü bir</a:t>
              </a:r>
              <a:br/>
              <a:r>
                <a:rPr lang="tr-TR" sz="1800" b="1" dirty="0">
                  <a:solidFill>
                    <a:srgbClr val="12355B"/>
                  </a:solidFill>
                  <a:latin typeface="+mn-lt"/>
                  <a:ea typeface="+mn-ea"/>
                  <a:cs typeface="+mn-cs"/>
                </a:rPr>
                <a:t>bağlantıdır.”</a:t>
              </a:r>
            </a:p>
          </p:txBody>
        </p:sp>
        <p:sp>
          <p:nvSpPr>
            <p:cNvPr id="30" name="Line 30"/>
            <p:cNvSpPr/>
            <p:nvPr/>
          </p:nvSpPr>
          <p:spPr>
            <a:xfrm>
              <a:off x="8191500" y="2857500"/>
              <a:ext cx="3429000" cy="9525"/>
            </a:xfrm>
            <a:custGeom>
              <a:avLst/>
              <a:gdLst/>
              <a:ahLst/>
              <a:cxnLst/>
              <a:rect l="l" t="t" r="r" b="b"/>
              <a:pathLst>
                <a:path w="3429000" h="9525">
                  <a:moveTo>
                    <a:pt x="0" y="0"/>
                  </a:moveTo>
                  <a:lnTo>
                    <a:pt x="3429000" y="0"/>
                  </a:lnTo>
                </a:path>
              </a:pathLst>
            </a:custGeom>
            <a:noFill/>
            <a:ln w="9525">
              <a:solidFill>
                <a:srgbClr val="B8CBD3"/>
              </a:solidFill>
            </a:ln>
          </p:spPr>
        </p:sp>
        <p:sp>
          <p:nvSpPr>
            <p:cNvPr id="31" name="TextBox 31"/>
            <p:cNvSpPr txBox="1"/>
            <p:nvPr/>
          </p:nvSpPr>
          <p:spPr>
            <a:xfrm>
              <a:off x="8183499" y="3030379"/>
              <a:ext cx="1508182" cy="308039"/>
            </a:xfrm>
            <a:prstGeom prst="rect">
              <a:avLst/>
            </a:prstGeom>
            <a:noFill/>
            <a:ln>
              <a:noFill/>
            </a:ln>
          </p:spPr>
          <p:txBody>
            <a:bodyPr wrap="none" lIns="0" tIns="0" rIns="0" bIns="0" anchor="t" anchorCtr="0">
              <a:spAutoFit/>
            </a:bodyPr>
            <a:lstStyle/>
            <a:p>
              <a:pPr algn="l"/>
              <a:r>
                <a:rPr lang="tr-TR" sz="1580" b="1" dirty="0">
                  <a:solidFill>
                    <a:srgbClr val="2E86AB"/>
                  </a:solidFill>
                  <a:latin typeface="+mn-lt"/>
                  <a:ea typeface="+mn-ea"/>
                  <a:cs typeface="+mn-cs"/>
                </a:rPr>
                <a:t>Teknik gerçek</a:t>
              </a:r>
            </a:p>
          </p:txBody>
        </p:sp>
        <p:sp>
          <p:nvSpPr>
            <p:cNvPr id="32" name="TextBox 32"/>
            <p:cNvSpPr txBox="1"/>
            <p:nvPr/>
          </p:nvSpPr>
          <p:spPr>
            <a:xfrm>
              <a:off x="8183499" y="3335179"/>
              <a:ext cx="2614549" cy="11081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HTTP durum bilgisi tutmaz;</a:t>
              </a:r>
              <a:br/>
              <a:r>
                <a:rPr lang="tr-TR" sz="1580" dirty="0">
                  <a:solidFill>
                    <a:srgbClr val="172B3A"/>
                  </a:solidFill>
                  <a:latin typeface="+mn-lt"/>
                  <a:ea typeface="+mn-ea"/>
                  <a:cs typeface="+mn-cs"/>
                </a:rPr>
                <a:t>istemci ister, sunucu</a:t>
              </a:r>
              <a:br/>
              <a:r>
                <a:rPr lang="tr-TR" sz="1580" dirty="0">
                  <a:solidFill>
                    <a:srgbClr val="172B3A"/>
                  </a:solidFill>
                  <a:latin typeface="+mn-lt"/>
                  <a:ea typeface="+mn-ea"/>
                  <a:cs typeface="+mn-cs"/>
                </a:rPr>
                <a:t>yanıtlar, işlem biter.</a:t>
              </a:r>
              <a:br/>
              <a:r>
                <a:rPr lang="tr-TR" sz="1580" dirty="0">
                  <a:solidFill>
                    <a:srgbClr val="172B3A"/>
                  </a:solidFill>
                  <a:latin typeface="+mn-lt"/>
                  <a:ea typeface="+mn-ea"/>
                  <a:cs typeface="+mn-cs"/>
                </a:rPr>
                <a:t>Sunucu veri itemez.</a:t>
              </a:r>
            </a:p>
          </p:txBody>
        </p:sp>
        <p:sp>
          <p:nvSpPr>
            <p:cNvPr id="33" name="TextBox 33"/>
            <p:cNvSpPr txBox="1"/>
            <p:nvPr/>
          </p:nvSpPr>
          <p:spPr>
            <a:xfrm>
              <a:off x="8183499" y="4592479"/>
              <a:ext cx="1463923" cy="308039"/>
            </a:xfrm>
            <a:prstGeom prst="rect">
              <a:avLst/>
            </a:prstGeom>
            <a:noFill/>
            <a:ln>
              <a:noFill/>
            </a:ln>
          </p:spPr>
          <p:txBody>
            <a:bodyPr wrap="none" lIns="0" tIns="0" rIns="0" bIns="0" anchor="t" anchorCtr="0">
              <a:spAutoFit/>
            </a:bodyPr>
            <a:lstStyle/>
            <a:p>
              <a:pPr algn="l"/>
              <a:r>
                <a:rPr lang="tr-TR" sz="1580" b="1" dirty="0">
                  <a:solidFill>
                    <a:srgbClr val="00A6A6"/>
                  </a:solidFill>
                  <a:latin typeface="+mn-lt"/>
                  <a:ea typeface="+mn-ea"/>
                  <a:cs typeface="+mn-cs"/>
                </a:rPr>
                <a:t>Mimari çözüm</a:t>
              </a:r>
            </a:p>
          </p:txBody>
        </p:sp>
        <p:sp>
          <p:nvSpPr>
            <p:cNvPr id="34" name="TextBox 34"/>
            <p:cNvSpPr txBox="1"/>
            <p:nvPr/>
          </p:nvSpPr>
          <p:spPr>
            <a:xfrm>
              <a:off x="8183499" y="4897279"/>
              <a:ext cx="2474087" cy="8414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Sürekli kanal gerekiyorsa</a:t>
              </a:r>
              <a:br/>
              <a:r>
                <a:rPr lang="tr-TR" sz="1580" dirty="0">
                  <a:solidFill>
                    <a:srgbClr val="172B3A"/>
                  </a:solidFill>
                  <a:latin typeface="+mn-lt"/>
                  <a:ea typeface="+mn-ea"/>
                  <a:cs typeface="+mn-cs"/>
                </a:rPr>
                <a:t>WebSocket ya da SSE</a:t>
              </a:r>
              <a:br/>
              <a:r>
                <a:rPr lang="tr-TR" sz="1580" dirty="0">
                  <a:solidFill>
                    <a:srgbClr val="172B3A"/>
                  </a:solidFill>
                  <a:latin typeface="+mn-lt"/>
                  <a:ea typeface="+mn-ea"/>
                  <a:cs typeface="+mn-cs"/>
                </a:rPr>
                <a:t>kullanılır.</a:t>
              </a:r>
            </a:p>
          </p:txBody>
        </p:sp>
      </p:grpSp>
      <p:grpSp>
        <p:nvGrpSpPr>
          <p:cNvPr id="37" name="misconception-takeaway"/>
          <p:cNvGrpSpPr/>
          <p:nvPr/>
        </p:nvGrpSpPr>
        <p:grpSpPr>
          <a:xfrm>
            <a:off x="563499" y="5906929"/>
            <a:ext cx="8137347" cy="308039"/>
            <a:chOff x="563499" y="5906929"/>
            <a:chExt cx="8137347" cy="308039"/>
          </a:xfrm>
        </p:grpSpPr>
        <p:sp>
          <p:nvSpPr>
            <p:cNvPr id="36" name="TextBox 36"/>
            <p:cNvSpPr txBox="1"/>
            <p:nvPr/>
          </p:nvSpPr>
          <p:spPr>
            <a:xfrm>
              <a:off x="563499" y="5906929"/>
              <a:ext cx="813734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En maliyetli hatalar, sorumluluk sınırlarının yanlış kurgulanmasından doğar.</a:t>
              </a:r>
            </a:p>
          </p:txBody>
        </p:sp>
      </p:grpSp>
      <p:grpSp>
        <p:nvGrpSpPr>
          <p:cNvPr id="40" name="footer"/>
          <p:cNvGrpSpPr/>
          <p:nvPr/>
        </p:nvGrpSpPr>
        <p:grpSpPr>
          <a:xfrm>
            <a:off x="565404" y="6404610"/>
            <a:ext cx="11061192" cy="234696"/>
            <a:chOff x="565404" y="6404610"/>
            <a:chExt cx="11061192" cy="234696"/>
          </a:xfrm>
        </p:grpSpPr>
        <p:sp>
          <p:nvSpPr>
            <p:cNvPr id="38" name="TextBox 38"/>
            <p:cNvSpPr txBox="1"/>
            <p:nvPr/>
          </p:nvSpPr>
          <p:spPr>
            <a:xfrm>
              <a:off x="565404" y="6404610"/>
              <a:ext cx="496284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Bölüm 1 · Modern Backend Programlamaya Giriş ve Web Mimarisi</a:t>
              </a:r>
            </a:p>
          </p:txBody>
        </p:sp>
        <p:sp>
          <p:nvSpPr>
            <p:cNvPr id="39" name="TextBox 39"/>
            <p:cNvSpPr txBox="1"/>
            <p:nvPr/>
          </p:nvSpPr>
          <p:spPr>
            <a:xfrm>
              <a:off x="11436706" y="640461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19</a:t>
              </a:r>
            </a:p>
          </p:txBody>
        </p:sp>
      </p:gr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1" name="title"/>
          <p:cNvGrpSpPr/>
          <p:nvPr/>
        </p:nvGrpSpPr>
        <p:grpSpPr>
          <a:xfrm>
            <a:off x="0" y="0"/>
            <a:ext cx="12192000" cy="952500"/>
            <a:chOff x="0" y="0"/>
            <a:chExt cx="12192000" cy="952500"/>
          </a:xfrm>
        </p:grpSpPr>
        <p:sp>
          <p:nvSpPr>
            <p:cNvPr id="2" name="Rectangle 2"/>
            <p:cNvSpPr/>
            <p:nvPr/>
          </p:nvSpPr>
          <p:spPr>
            <a:xfrm>
              <a:off x="0" y="0"/>
              <a:ext cx="12192000" cy="914400"/>
            </a:xfrm>
            <a:prstGeom prst="rect">
              <a:avLst/>
            </a:prstGeom>
            <a:solidFill>
              <a:srgbClr val="12355B"/>
            </a:solidFill>
            <a:ln>
              <a:noFill/>
            </a:ln>
          </p:spPr>
        </p:sp>
        <p:sp>
          <p:nvSpPr>
            <p:cNvPr id="3" name="Rectangle 3"/>
            <p:cNvSpPr/>
            <p:nvPr/>
          </p:nvSpPr>
          <p:spPr>
            <a:xfrm>
              <a:off x="0" y="914400"/>
              <a:ext cx="12192000" cy="38100"/>
            </a:xfrm>
            <a:prstGeom prst="rect">
              <a:avLst/>
            </a:prstGeom>
            <a:solidFill>
              <a:srgbClr val="00A6A6"/>
            </a:solidFill>
            <a:ln>
              <a:noFill/>
            </a:ln>
          </p:spPr>
        </p:sp>
        <p:grpSp>
          <p:nvGrpSpPr>
            <p:cNvPr id="9" name="icon-badge"/>
            <p:cNvGrpSpPr/>
            <p:nvPr/>
          </p:nvGrpSpPr>
          <p:grpSpPr>
            <a:xfrm>
              <a:off x="571500" y="171450"/>
              <a:ext cx="571500" cy="571500"/>
              <a:chOff x="571500" y="171450"/>
              <a:chExt cx="571500" cy="571500"/>
            </a:xfrm>
          </p:grpSpPr>
          <p:sp>
            <p:nvSpPr>
              <p:cNvPr id="4" name="Ellipse 4"/>
              <p:cNvSpPr/>
              <p:nvPr/>
            </p:nvSpPr>
            <p:spPr>
              <a:xfrm>
                <a:off x="571500" y="171450"/>
                <a:ext cx="571500" cy="571500"/>
              </a:xfrm>
              <a:prstGeom prst="ellipse">
                <a:avLst/>
              </a:prstGeom>
              <a:solidFill>
                <a:srgbClr val="00A6A6"/>
              </a:solidFill>
              <a:ln>
                <a:noFill/>
              </a:ln>
            </p:spPr>
          </p:sp>
          <p:grpSp>
            <p:nvGrpSpPr>
              <p:cNvPr id="8" name="Group 8"/>
              <p:cNvGrpSpPr/>
              <p:nvPr/>
            </p:nvGrpSpPr>
            <p:grpSpPr>
              <a:xfrm>
                <a:off x="753904" y="309562"/>
                <a:ext cx="206693" cy="280512"/>
                <a:chOff x="753904" y="309562"/>
                <a:chExt cx="206693" cy="280512"/>
              </a:xfrm>
            </p:grpSpPr>
            <p:sp>
              <p:nvSpPr>
                <p:cNvPr id="5" name="Freeform 5"/>
                <p:cNvSpPr/>
                <p:nvPr/>
              </p:nvSpPr>
              <p:spPr>
                <a:xfrm>
                  <a:off x="753904" y="442436"/>
                  <a:ext cx="206693" cy="147638"/>
                </a:xfrm>
                <a:custGeom>
                  <a:avLst/>
                  <a:gdLst/>
                  <a:ahLst/>
                  <a:cxnLst/>
                  <a:rect l="l" t="t" r="r" b="b"/>
                  <a:pathLst>
                    <a:path w="206693" h="147638">
                      <a:moveTo>
                        <a:pt x="0" y="29527"/>
                      </a:moveTo>
                      <a:cubicBezTo>
                        <a:pt x="0" y="13220"/>
                        <a:pt x="13220" y="0"/>
                        <a:pt x="29527" y="0"/>
                      </a:cubicBezTo>
                      <a:lnTo>
                        <a:pt x="177165" y="0"/>
                      </a:lnTo>
                      <a:cubicBezTo>
                        <a:pt x="193473" y="0"/>
                        <a:pt x="206693" y="13220"/>
                        <a:pt x="206693" y="29527"/>
                      </a:cubicBezTo>
                      <a:lnTo>
                        <a:pt x="206693" y="118110"/>
                      </a:lnTo>
                      <a:cubicBezTo>
                        <a:pt x="206693" y="134418"/>
                        <a:pt x="193473" y="147638"/>
                        <a:pt x="177165" y="147638"/>
                      </a:cubicBezTo>
                      <a:lnTo>
                        <a:pt x="29527" y="147638"/>
                      </a:lnTo>
                      <a:cubicBezTo>
                        <a:pt x="13220" y="147638"/>
                        <a:pt x="0" y="134418"/>
                        <a:pt x="0" y="118110"/>
                      </a:cubicBezTo>
                      <a:lnTo>
                        <a:pt x="0" y="29527"/>
                      </a:lnTo>
                    </a:path>
                  </a:pathLst>
                </a:custGeom>
                <a:noFill/>
                <a:ln w="24759" cap="rnd">
                  <a:solidFill>
                    <a:srgbClr val="FFFFFF"/>
                  </a:solidFill>
                  <a:round/>
                </a:ln>
              </p:spPr>
            </p:sp>
            <p:sp>
              <p:nvSpPr>
                <p:cNvPr id="6" name="Freeform 6"/>
                <p:cNvSpPr/>
                <p:nvPr/>
              </p:nvSpPr>
              <p:spPr>
                <a:xfrm>
                  <a:off x="842486" y="501491"/>
                  <a:ext cx="29528" cy="29528"/>
                </a:xfrm>
                <a:custGeom>
                  <a:avLst/>
                  <a:gdLst/>
                  <a:ahLst/>
                  <a:cxnLst/>
                  <a:rect l="l" t="t" r="r" b="b"/>
                  <a:pathLst>
                    <a:path w="29528" h="29528">
                      <a:moveTo>
                        <a:pt x="0" y="14764"/>
                      </a:moveTo>
                      <a:cubicBezTo>
                        <a:pt x="0" y="22918"/>
                        <a:pt x="6610" y="29528"/>
                        <a:pt x="14764" y="29528"/>
                      </a:cubicBezTo>
                      <a:cubicBezTo>
                        <a:pt x="22918" y="29528"/>
                        <a:pt x="29528" y="22918"/>
                        <a:pt x="29528" y="14764"/>
                      </a:cubicBezTo>
                      <a:cubicBezTo>
                        <a:pt x="29528" y="6610"/>
                        <a:pt x="22918" y="0"/>
                        <a:pt x="14764" y="0"/>
                      </a:cubicBezTo>
                      <a:cubicBezTo>
                        <a:pt x="6610" y="0"/>
                        <a:pt x="0" y="6610"/>
                        <a:pt x="0" y="14764"/>
                      </a:cubicBezTo>
                    </a:path>
                  </a:pathLst>
                </a:custGeom>
                <a:noFill/>
                <a:ln w="24759" cap="rnd">
                  <a:solidFill>
                    <a:srgbClr val="FFFFFF"/>
                  </a:solidFill>
                  <a:round/>
                </a:ln>
              </p:spPr>
            </p:sp>
            <p:sp>
              <p:nvSpPr>
                <p:cNvPr id="7" name="Freeform 7"/>
                <p:cNvSpPr/>
                <p:nvPr/>
              </p:nvSpPr>
              <p:spPr>
                <a:xfrm>
                  <a:off x="798195" y="309562"/>
                  <a:ext cx="118110" cy="132874"/>
                </a:xfrm>
                <a:custGeom>
                  <a:avLst/>
                  <a:gdLst/>
                  <a:ahLst/>
                  <a:cxnLst/>
                  <a:rect l="l" t="t" r="r" b="b"/>
                  <a:pathLst>
                    <a:path w="118110" h="132874">
                      <a:moveTo>
                        <a:pt x="0" y="132874"/>
                      </a:moveTo>
                      <a:lnTo>
                        <a:pt x="0" y="59055"/>
                      </a:lnTo>
                      <a:cubicBezTo>
                        <a:pt x="0" y="26440"/>
                        <a:pt x="26440" y="0"/>
                        <a:pt x="59055" y="0"/>
                      </a:cubicBezTo>
                      <a:cubicBezTo>
                        <a:pt x="91670" y="0"/>
                        <a:pt x="118110" y="26440"/>
                        <a:pt x="118110" y="59055"/>
                      </a:cubicBezTo>
                    </a:path>
                  </a:pathLst>
                </a:custGeom>
                <a:noFill/>
                <a:ln w="24759" cap="rnd">
                  <a:solidFill>
                    <a:srgbClr val="FFFFFF"/>
                  </a:solidFill>
                  <a:round/>
                </a:ln>
              </p:spPr>
            </p:sp>
          </p:grpSp>
        </p:grpSp>
        <p:sp>
          <p:nvSpPr>
            <p:cNvPr id="10" name="TextBox 10"/>
            <p:cNvSpPr txBox="1"/>
            <p:nvPr/>
          </p:nvSpPr>
          <p:spPr>
            <a:xfrm>
              <a:off x="1261872" y="282892"/>
              <a:ext cx="8744205" cy="557403"/>
            </a:xfrm>
            <a:prstGeom prst="rect">
              <a:avLst/>
            </a:prstGeom>
            <a:noFill/>
            <a:ln>
              <a:noFill/>
            </a:ln>
          </p:spPr>
          <p:txBody>
            <a:bodyPr wrap="none" lIns="0" tIns="0" rIns="0" bIns="0" anchor="t" anchorCtr="0">
              <a:spAutoFit/>
            </a:bodyPr>
            <a:lstStyle/>
            <a:p>
              <a:pPr algn="l"/>
              <a:r>
                <a:rPr lang="tr-TR" sz="2850" b="1" dirty="0">
                  <a:solidFill>
                    <a:srgbClr val="F7FAFC"/>
                  </a:solidFill>
                  <a:latin typeface="+mj-lt"/>
                  <a:ea typeface="+mj-ea"/>
                  <a:cs typeface="+mj-cs"/>
                </a:rPr>
                <a:t>Hata ayıklama: tek eşittir, yetki sızıntısı</a:t>
              </a:r>
            </a:p>
          </p:txBody>
        </p:sp>
      </p:grpSp>
      <p:grpSp>
        <p:nvGrpSpPr>
          <p:cNvPr id="17" name="wrong-branch"/>
          <p:cNvGrpSpPr/>
          <p:nvPr/>
        </p:nvGrpSpPr>
        <p:grpSpPr>
          <a:xfrm>
            <a:off x="563499" y="1432560"/>
            <a:ext cx="5532501" cy="2172557"/>
            <a:chOff x="563499" y="1432560"/>
            <a:chExt cx="5532501" cy="2172557"/>
          </a:xfrm>
        </p:grpSpPr>
        <p:sp>
          <p:nvSpPr>
            <p:cNvPr id="12" name="TextBox 12"/>
            <p:cNvSpPr txBox="1"/>
            <p:nvPr/>
          </p:nvSpPr>
          <p:spPr>
            <a:xfrm>
              <a:off x="565404" y="1432560"/>
              <a:ext cx="532790" cy="234696"/>
            </a:xfrm>
            <a:prstGeom prst="rect">
              <a:avLst/>
            </a:prstGeom>
            <a:noFill/>
            <a:ln>
              <a:noFill/>
            </a:ln>
          </p:spPr>
          <p:txBody>
            <a:bodyPr wrap="none" lIns="0" tIns="0" rIns="0" bIns="0" anchor="t" anchorCtr="0">
              <a:spAutoFit/>
            </a:bodyPr>
            <a:lstStyle/>
            <a:p>
              <a:pPr algn="l"/>
              <a:r>
                <a:rPr lang="tr-TR" sz="1200" dirty="0">
                  <a:solidFill>
                    <a:srgbClr val="2E86AB"/>
                  </a:solidFill>
                  <a:latin typeface="+mn-lt"/>
                  <a:ea typeface="+mn-ea"/>
                  <a:cs typeface="+mn-cs"/>
                </a:rPr>
                <a:t>YANLIŞ</a:t>
              </a:r>
            </a:p>
          </p:txBody>
        </p:sp>
        <p:sp>
          <p:nvSpPr>
            <p:cNvPr id="13" name="Rectangle 13"/>
            <p:cNvSpPr/>
            <p:nvPr/>
          </p:nvSpPr>
          <p:spPr>
            <a:xfrm>
              <a:off x="571500" y="1714500"/>
              <a:ext cx="5524500" cy="1143000"/>
            </a:xfrm>
            <a:prstGeom prst="rect">
              <a:avLst/>
            </a:prstGeom>
            <a:solidFill>
              <a:srgbClr val="12355B"/>
            </a:solidFill>
            <a:ln>
              <a:noFill/>
            </a:ln>
          </p:spPr>
        </p:sp>
        <p:sp>
          <p:nvSpPr>
            <p:cNvPr id="14" name="TextBox 14"/>
            <p:cNvSpPr txBox="1"/>
            <p:nvPr/>
          </p:nvSpPr>
          <p:spPr>
            <a:xfrm>
              <a:off x="792099" y="1944529"/>
              <a:ext cx="3885605" cy="308039"/>
            </a:xfrm>
            <a:prstGeom prst="rect">
              <a:avLst/>
            </a:prstGeom>
            <a:noFill/>
            <a:ln>
              <a:noFill/>
            </a:ln>
          </p:spPr>
          <p:txBody>
            <a:bodyPr wrap="none" lIns="0" tIns="0" rIns="0" bIns="0" anchor="t" anchorCtr="0">
              <a:spAutoFit/>
            </a:bodyPr>
            <a:lstStyle/>
            <a:p>
              <a:pPr algn="l"/>
              <a:r>
                <a:rPr lang="tr-TR" sz="1580" dirty="0">
                  <a:solidFill>
                    <a:srgbClr val="EAF4F6"/>
                  </a:solidFill>
                  <a:latin typeface="Consolas"/>
                  <a:ea typeface="Consolas"/>
                  <a:cs typeface="Consolas"/>
                </a:rPr>
                <a:t>if (kullanici.yetkiliMi = true) {</a:t>
              </a:r>
            </a:p>
          </p:txBody>
        </p:sp>
        <p:sp>
          <p:nvSpPr>
            <p:cNvPr id="15" name="TextBox 15"/>
            <p:cNvSpPr txBox="1"/>
            <p:nvPr/>
          </p:nvSpPr>
          <p:spPr>
            <a:xfrm>
              <a:off x="1030224" y="2230279"/>
              <a:ext cx="2834988" cy="308039"/>
            </a:xfrm>
            <a:prstGeom prst="rect">
              <a:avLst/>
            </a:prstGeom>
            <a:noFill/>
            <a:ln>
              <a:noFill/>
            </a:ln>
          </p:spPr>
          <p:txBody>
            <a:bodyPr wrap="none" lIns="0" tIns="0" rIns="0" bIns="0" anchor="t" anchorCtr="0">
              <a:spAutoFit/>
            </a:bodyPr>
            <a:lstStyle/>
            <a:p>
              <a:pPr algn="l"/>
              <a:r>
                <a:rPr lang="tr-TR" sz="1580" dirty="0">
                  <a:solidFill>
                    <a:srgbClr val="EAF4F6"/>
                  </a:solidFill>
                  <a:latin typeface="Consolas"/>
                  <a:ea typeface="Consolas"/>
                  <a:cs typeface="Consolas"/>
                </a:rPr>
                <a:t>return { ad: "Zeliha" };</a:t>
              </a:r>
            </a:p>
          </p:txBody>
        </p:sp>
        <p:sp>
          <p:nvSpPr>
            <p:cNvPr id="16" name="TextBox 16"/>
            <p:cNvSpPr txBox="1"/>
            <p:nvPr/>
          </p:nvSpPr>
          <p:spPr>
            <a:xfrm>
              <a:off x="563499" y="3030379"/>
              <a:ext cx="4139565"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Atama yapıldı: yetkisiz kullanıcı bir anda</a:t>
              </a:r>
              <a:br/>
              <a:r>
                <a:rPr lang="tr-TR" sz="1580" dirty="0">
                  <a:solidFill>
                    <a:srgbClr val="172B3A"/>
                  </a:solidFill>
                  <a:latin typeface="+mn-lt"/>
                  <a:ea typeface="+mn-ea"/>
                  <a:cs typeface="+mn-cs"/>
                </a:rPr>
                <a:t>yetkili kılındı ve if gövdesi çalıştı.</a:t>
              </a:r>
            </a:p>
          </p:txBody>
        </p:sp>
      </p:grpSp>
      <p:grpSp>
        <p:nvGrpSpPr>
          <p:cNvPr id="23" name="right-branch"/>
          <p:cNvGrpSpPr/>
          <p:nvPr/>
        </p:nvGrpSpPr>
        <p:grpSpPr>
          <a:xfrm>
            <a:off x="6659499" y="1432560"/>
            <a:ext cx="4961001" cy="2172557"/>
            <a:chOff x="6659499" y="1432560"/>
            <a:chExt cx="4961001" cy="2172557"/>
          </a:xfrm>
        </p:grpSpPr>
        <p:sp>
          <p:nvSpPr>
            <p:cNvPr id="18" name="TextBox 18"/>
            <p:cNvSpPr txBox="1"/>
            <p:nvPr/>
          </p:nvSpPr>
          <p:spPr>
            <a:xfrm>
              <a:off x="6661404" y="1432560"/>
              <a:ext cx="515722"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mn-lt"/>
                  <a:ea typeface="+mn-ea"/>
                  <a:cs typeface="+mn-cs"/>
                </a:rPr>
                <a:t>DOĞRU</a:t>
              </a:r>
            </a:p>
          </p:txBody>
        </p:sp>
        <p:sp>
          <p:nvSpPr>
            <p:cNvPr id="19" name="Rectangle 19"/>
            <p:cNvSpPr/>
            <p:nvPr/>
          </p:nvSpPr>
          <p:spPr>
            <a:xfrm>
              <a:off x="6667500" y="1714500"/>
              <a:ext cx="4953000" cy="1143000"/>
            </a:xfrm>
            <a:prstGeom prst="rect">
              <a:avLst/>
            </a:prstGeom>
            <a:solidFill>
              <a:srgbClr val="12355B"/>
            </a:solidFill>
            <a:ln>
              <a:noFill/>
            </a:ln>
          </p:spPr>
        </p:sp>
        <p:sp>
          <p:nvSpPr>
            <p:cNvPr id="20" name="TextBox 20"/>
            <p:cNvSpPr txBox="1"/>
            <p:nvPr/>
          </p:nvSpPr>
          <p:spPr>
            <a:xfrm>
              <a:off x="6888099" y="1944529"/>
              <a:ext cx="4120126" cy="308039"/>
            </a:xfrm>
            <a:prstGeom prst="rect">
              <a:avLst/>
            </a:prstGeom>
            <a:noFill/>
            <a:ln>
              <a:noFill/>
            </a:ln>
          </p:spPr>
          <p:txBody>
            <a:bodyPr wrap="none" lIns="0" tIns="0" rIns="0" bIns="0" anchor="t" anchorCtr="0">
              <a:spAutoFit/>
            </a:bodyPr>
            <a:lstStyle/>
            <a:p>
              <a:pPr algn="l"/>
              <a:r>
                <a:rPr lang="tr-TR" sz="1580" dirty="0">
                  <a:solidFill>
                    <a:srgbClr val="EAF4F6"/>
                  </a:solidFill>
                  <a:latin typeface="Consolas"/>
                  <a:ea typeface="Consolas"/>
                  <a:cs typeface="Consolas"/>
                </a:rPr>
                <a:t>if (kullanici.yetkiliMi === true) {</a:t>
              </a:r>
            </a:p>
          </p:txBody>
        </p:sp>
        <p:sp>
          <p:nvSpPr>
            <p:cNvPr id="21" name="TextBox 21"/>
            <p:cNvSpPr txBox="1"/>
            <p:nvPr/>
          </p:nvSpPr>
          <p:spPr>
            <a:xfrm>
              <a:off x="7126224" y="2230279"/>
              <a:ext cx="2480001" cy="308039"/>
            </a:xfrm>
            <a:prstGeom prst="rect">
              <a:avLst/>
            </a:prstGeom>
            <a:noFill/>
            <a:ln>
              <a:noFill/>
            </a:ln>
          </p:spPr>
          <p:txBody>
            <a:bodyPr wrap="none" lIns="0" tIns="0" rIns="0" bIns="0" anchor="t" anchorCtr="0">
              <a:spAutoFit/>
            </a:bodyPr>
            <a:lstStyle/>
            <a:p>
              <a:pPr algn="l"/>
              <a:r>
                <a:rPr lang="tr-TR" sz="1580" dirty="0">
                  <a:solidFill>
                    <a:srgbClr val="EAF4F6"/>
                  </a:solidFill>
                  <a:latin typeface="Consolas"/>
                  <a:ea typeface="Consolas"/>
                  <a:cs typeface="Consolas"/>
                </a:rPr>
                <a:t>return basariliYanit;</a:t>
              </a:r>
            </a:p>
          </p:txBody>
        </p:sp>
        <p:sp>
          <p:nvSpPr>
            <p:cNvPr id="22" name="TextBox 22"/>
            <p:cNvSpPr txBox="1"/>
            <p:nvPr/>
          </p:nvSpPr>
          <p:spPr>
            <a:xfrm>
              <a:off x="6659499" y="3030379"/>
              <a:ext cx="4159631"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Karşılaştırma yapıldı: koşul sağlanmadı,</a:t>
              </a:r>
              <a:br/>
              <a:r>
                <a:rPr lang="tr-TR" sz="1580" dirty="0">
                  <a:solidFill>
                    <a:srgbClr val="172B3A"/>
                  </a:solidFill>
                  <a:latin typeface="+mn-lt"/>
                  <a:ea typeface="+mn-ea"/>
                  <a:cs typeface="+mn-cs"/>
                </a:rPr>
                <a:t>güvenli hata yanıtı döndü.</a:t>
              </a:r>
            </a:p>
          </p:txBody>
        </p:sp>
      </p:grpSp>
      <p:grpSp>
        <p:nvGrpSpPr>
          <p:cNvPr id="31" name="error-types"/>
          <p:cNvGrpSpPr/>
          <p:nvPr/>
        </p:nvGrpSpPr>
        <p:grpSpPr>
          <a:xfrm>
            <a:off x="571500" y="3810000"/>
            <a:ext cx="11049000" cy="1947768"/>
            <a:chOff x="571500" y="3810000"/>
            <a:chExt cx="11049000" cy="1947768"/>
          </a:xfrm>
        </p:grpSpPr>
        <p:sp>
          <p:nvSpPr>
            <p:cNvPr id="24" name="Rectangle 24"/>
            <p:cNvSpPr/>
            <p:nvPr/>
          </p:nvSpPr>
          <p:spPr>
            <a:xfrm>
              <a:off x="571500" y="3810000"/>
              <a:ext cx="11049000" cy="1905000"/>
            </a:xfrm>
            <a:prstGeom prst="rect">
              <a:avLst/>
            </a:prstGeom>
            <a:solidFill>
              <a:srgbClr val="EAF4F6"/>
            </a:solidFill>
            <a:ln>
              <a:noFill/>
            </a:ln>
          </p:spPr>
        </p:sp>
        <p:sp>
          <p:nvSpPr>
            <p:cNvPr id="25" name="Rectangle 25"/>
            <p:cNvSpPr/>
            <p:nvPr/>
          </p:nvSpPr>
          <p:spPr>
            <a:xfrm>
              <a:off x="571500" y="3810000"/>
              <a:ext cx="57150" cy="1905000"/>
            </a:xfrm>
            <a:prstGeom prst="rect">
              <a:avLst/>
            </a:prstGeom>
            <a:solidFill>
              <a:srgbClr val="00A6A6"/>
            </a:solidFill>
            <a:ln>
              <a:noFill/>
            </a:ln>
          </p:spPr>
        </p:sp>
        <p:sp>
          <p:nvSpPr>
            <p:cNvPr id="26" name="TextBox 26"/>
            <p:cNvSpPr txBox="1"/>
            <p:nvPr/>
          </p:nvSpPr>
          <p:spPr>
            <a:xfrm>
              <a:off x="866394" y="3980498"/>
              <a:ext cx="2715699"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Koddaki hata türleri</a:t>
              </a:r>
            </a:p>
          </p:txBody>
        </p:sp>
        <p:sp>
          <p:nvSpPr>
            <p:cNvPr id="27" name="TextBox 27"/>
            <p:cNvSpPr txBox="1"/>
            <p:nvPr/>
          </p:nvSpPr>
          <p:spPr>
            <a:xfrm>
              <a:off x="868299" y="4421029"/>
              <a:ext cx="8212294"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Mantık hatası · = atama operatörüdür, karşılaştırma için kullanılmamalıdır.</a:t>
              </a:r>
            </a:p>
          </p:txBody>
        </p:sp>
        <p:sp>
          <p:nvSpPr>
            <p:cNvPr id="28" name="TextBox 28"/>
            <p:cNvSpPr txBox="1"/>
            <p:nvPr/>
          </p:nvSpPr>
          <p:spPr>
            <a:xfrm>
              <a:off x="868299" y="4763929"/>
              <a:ext cx="7818337"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Tür hatası · fonksiyon string döneceğini bildirirken nesne döndürmektedir.</a:t>
              </a:r>
            </a:p>
          </p:txBody>
        </p:sp>
        <p:sp>
          <p:nvSpPr>
            <p:cNvPr id="29" name="TextBox 29"/>
            <p:cNvSpPr txBox="1"/>
            <p:nvPr/>
          </p:nvSpPr>
          <p:spPr>
            <a:xfrm>
              <a:off x="868299" y="5106829"/>
              <a:ext cx="7010375"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Eksik dönüş · fonksiyonun tüm yollarında bir değer dönmemektedir.</a:t>
              </a:r>
            </a:p>
          </p:txBody>
        </p:sp>
        <p:sp>
          <p:nvSpPr>
            <p:cNvPr id="30" name="TextBox 30"/>
            <p:cNvSpPr txBox="1"/>
            <p:nvPr/>
          </p:nvSpPr>
          <p:spPr>
            <a:xfrm>
              <a:off x="868299" y="5449729"/>
              <a:ext cx="8743945"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Tasarım hatası · hata yanıtı, başarılı yanıtla aynı sözleşmede modellenmemiştir.</a:t>
              </a:r>
            </a:p>
          </p:txBody>
        </p:sp>
      </p:grpSp>
      <p:grpSp>
        <p:nvGrpSpPr>
          <p:cNvPr id="33" name="defense-in-depth"/>
          <p:cNvGrpSpPr/>
          <p:nvPr/>
        </p:nvGrpSpPr>
        <p:grpSpPr>
          <a:xfrm>
            <a:off x="563499" y="5906929"/>
            <a:ext cx="9572971" cy="308039"/>
            <a:chOff x="563499" y="5906929"/>
            <a:chExt cx="9572971" cy="308039"/>
          </a:xfrm>
        </p:grpSpPr>
        <p:sp>
          <p:nvSpPr>
            <p:cNvPr id="32" name="TextBox 32"/>
            <p:cNvSpPr txBox="1"/>
            <p:nvPr/>
          </p:nvSpPr>
          <p:spPr>
            <a:xfrm>
              <a:off x="563499" y="5906929"/>
              <a:ext cx="9572971"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Savunma derinliği: hem derleyicinin tip denetimi hem de sunucudaki yetki denetimi gereklidir.</a:t>
              </a:r>
            </a:p>
          </p:txBody>
        </p:sp>
      </p:grpSp>
      <p:grpSp>
        <p:nvGrpSpPr>
          <p:cNvPr id="36" name="footer"/>
          <p:cNvGrpSpPr/>
          <p:nvPr/>
        </p:nvGrpSpPr>
        <p:grpSpPr>
          <a:xfrm>
            <a:off x="565404" y="6404610"/>
            <a:ext cx="11061192" cy="234696"/>
            <a:chOff x="565404" y="6404610"/>
            <a:chExt cx="11061192" cy="234696"/>
          </a:xfrm>
        </p:grpSpPr>
        <p:sp>
          <p:nvSpPr>
            <p:cNvPr id="34" name="TextBox 34"/>
            <p:cNvSpPr txBox="1"/>
            <p:nvPr/>
          </p:nvSpPr>
          <p:spPr>
            <a:xfrm>
              <a:off x="565404" y="6404610"/>
              <a:ext cx="496284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Bölüm 1 · Modern Backend Programlamaya Giriş ve Web Mimarisi</a:t>
              </a:r>
            </a:p>
          </p:txBody>
        </p:sp>
        <p:sp>
          <p:nvSpPr>
            <p:cNvPr id="35" name="TextBox 35"/>
            <p:cNvSpPr txBox="1"/>
            <p:nvPr/>
          </p:nvSpPr>
          <p:spPr>
            <a:xfrm>
              <a:off x="11436706" y="640461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20</a:t>
              </a:r>
            </a:p>
          </p:txBody>
        </p:sp>
      </p:gr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2" name="title"/>
          <p:cNvGrpSpPr/>
          <p:nvPr/>
        </p:nvGrpSpPr>
        <p:grpSpPr>
          <a:xfrm>
            <a:off x="0" y="0"/>
            <a:ext cx="12192000" cy="952500"/>
            <a:chOff x="0" y="0"/>
            <a:chExt cx="12192000" cy="952500"/>
          </a:xfrm>
        </p:grpSpPr>
        <p:sp>
          <p:nvSpPr>
            <p:cNvPr id="2" name="Rectangle 2"/>
            <p:cNvSpPr/>
            <p:nvPr/>
          </p:nvSpPr>
          <p:spPr>
            <a:xfrm>
              <a:off x="0" y="0"/>
              <a:ext cx="12192000" cy="914400"/>
            </a:xfrm>
            <a:prstGeom prst="rect">
              <a:avLst/>
            </a:prstGeom>
            <a:solidFill>
              <a:srgbClr val="12355B"/>
            </a:solidFill>
            <a:ln>
              <a:noFill/>
            </a:ln>
          </p:spPr>
        </p:sp>
        <p:sp>
          <p:nvSpPr>
            <p:cNvPr id="3" name="Rectangle 3"/>
            <p:cNvSpPr/>
            <p:nvPr/>
          </p:nvSpPr>
          <p:spPr>
            <a:xfrm>
              <a:off x="0" y="914400"/>
              <a:ext cx="12192000" cy="38100"/>
            </a:xfrm>
            <a:prstGeom prst="rect">
              <a:avLst/>
            </a:prstGeom>
            <a:solidFill>
              <a:srgbClr val="00A6A6"/>
            </a:solidFill>
            <a:ln>
              <a:noFill/>
            </a:ln>
          </p:spPr>
        </p:sp>
        <p:grpSp>
          <p:nvGrpSpPr>
            <p:cNvPr id="10" name="icon-badge"/>
            <p:cNvGrpSpPr/>
            <p:nvPr/>
          </p:nvGrpSpPr>
          <p:grpSpPr>
            <a:xfrm>
              <a:off x="571500" y="171450"/>
              <a:ext cx="571500" cy="571500"/>
              <a:chOff x="571500" y="171450"/>
              <a:chExt cx="571500" cy="571500"/>
            </a:xfrm>
          </p:grpSpPr>
          <p:sp>
            <p:nvSpPr>
              <p:cNvPr id="4" name="Ellipse 4"/>
              <p:cNvSpPr/>
              <p:nvPr/>
            </p:nvSpPr>
            <p:spPr>
              <a:xfrm>
                <a:off x="571500" y="171450"/>
                <a:ext cx="571500" cy="571500"/>
              </a:xfrm>
              <a:prstGeom prst="ellipse">
                <a:avLst/>
              </a:prstGeom>
              <a:solidFill>
                <a:srgbClr val="00A6A6"/>
              </a:solidFill>
              <a:ln>
                <a:noFill/>
              </a:ln>
            </p:spPr>
          </p:sp>
          <p:grpSp>
            <p:nvGrpSpPr>
              <p:cNvPr id="9" name="Group 9"/>
              <p:cNvGrpSpPr/>
              <p:nvPr/>
            </p:nvGrpSpPr>
            <p:grpSpPr>
              <a:xfrm>
                <a:off x="739140" y="339090"/>
                <a:ext cx="236220" cy="236220"/>
                <a:chOff x="739140" y="339090"/>
                <a:chExt cx="236220" cy="236220"/>
              </a:xfrm>
            </p:grpSpPr>
            <p:sp>
              <p:nvSpPr>
                <p:cNvPr id="5" name="Freeform 5"/>
                <p:cNvSpPr/>
                <p:nvPr/>
              </p:nvSpPr>
              <p:spPr>
                <a:xfrm>
                  <a:off x="739140" y="33909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6" name="Freeform 6"/>
                <p:cNvSpPr/>
                <p:nvPr/>
              </p:nvSpPr>
              <p:spPr>
                <a:xfrm>
                  <a:off x="739140" y="516255"/>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sp>
              <p:nvSpPr>
                <p:cNvPr id="7" name="Freeform 7"/>
                <p:cNvSpPr/>
                <p:nvPr/>
              </p:nvSpPr>
              <p:spPr>
                <a:xfrm>
                  <a:off x="886778" y="45720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8" name="Freeform 8"/>
                <p:cNvSpPr/>
                <p:nvPr/>
              </p:nvSpPr>
              <p:spPr>
                <a:xfrm>
                  <a:off x="886778" y="339090"/>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grpSp>
        </p:grpSp>
        <p:sp>
          <p:nvSpPr>
            <p:cNvPr id="11" name="TextBox 11"/>
            <p:cNvSpPr txBox="1"/>
            <p:nvPr/>
          </p:nvSpPr>
          <p:spPr>
            <a:xfrm>
              <a:off x="1261872" y="282892"/>
              <a:ext cx="7455388" cy="557403"/>
            </a:xfrm>
            <a:prstGeom prst="rect">
              <a:avLst/>
            </a:prstGeom>
            <a:noFill/>
            <a:ln>
              <a:noFill/>
            </a:ln>
          </p:spPr>
          <p:txBody>
            <a:bodyPr wrap="none" lIns="0" tIns="0" rIns="0" bIns="0" anchor="t" anchorCtr="0">
              <a:spAutoFit/>
            </a:bodyPr>
            <a:lstStyle/>
            <a:p>
              <a:pPr algn="l"/>
              <a:r>
                <a:rPr lang="tr-TR" sz="2850" b="1" dirty="0">
                  <a:solidFill>
                    <a:srgbClr val="F7FAFC"/>
                  </a:solidFill>
                  <a:latin typeface="+mj-lt"/>
                  <a:ea typeface="+mj-ea"/>
                  <a:cs typeface="+mj-cs"/>
                </a:rPr>
                <a:t>Uçtan uca mini uygulama: dört katman</a:t>
              </a:r>
            </a:p>
          </p:txBody>
        </p:sp>
      </p:grpSp>
      <p:grpSp>
        <p:nvGrpSpPr>
          <p:cNvPr id="29" name="layer-chain"/>
          <p:cNvGrpSpPr/>
          <p:nvPr/>
        </p:nvGrpSpPr>
        <p:grpSpPr>
          <a:xfrm>
            <a:off x="571500" y="1428750"/>
            <a:ext cx="3810000" cy="3848100"/>
            <a:chOff x="571500" y="1428750"/>
            <a:chExt cx="3810000" cy="3848100"/>
          </a:xfrm>
        </p:grpSpPr>
        <p:sp>
          <p:nvSpPr>
            <p:cNvPr id="13" name="Rectangle 13"/>
            <p:cNvSpPr/>
            <p:nvPr/>
          </p:nvSpPr>
          <p:spPr>
            <a:xfrm>
              <a:off x="571500" y="1428750"/>
              <a:ext cx="3810000" cy="819150"/>
            </a:xfrm>
            <a:prstGeom prst="rect">
              <a:avLst/>
            </a:prstGeom>
            <a:solidFill>
              <a:srgbClr val="FFFFFF"/>
            </a:solidFill>
            <a:ln w="19050">
              <a:solidFill>
                <a:srgbClr val="2E86AB"/>
              </a:solidFill>
            </a:ln>
          </p:spPr>
        </p:sp>
        <p:sp>
          <p:nvSpPr>
            <p:cNvPr id="14" name="TextBox 14"/>
            <p:cNvSpPr txBox="1"/>
            <p:nvPr/>
          </p:nvSpPr>
          <p:spPr>
            <a:xfrm>
              <a:off x="790956" y="1596390"/>
              <a:ext cx="214413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TarayiciIstemcisi</a:t>
              </a:r>
            </a:p>
          </p:txBody>
        </p:sp>
        <p:sp>
          <p:nvSpPr>
            <p:cNvPr id="15" name="TextBox 15"/>
            <p:cNvSpPr txBox="1"/>
            <p:nvPr/>
          </p:nvSpPr>
          <p:spPr>
            <a:xfrm>
              <a:off x="792099" y="1906429"/>
              <a:ext cx="1675059"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isteği oluşturur</a:t>
              </a:r>
            </a:p>
          </p:txBody>
        </p:sp>
        <p:sp>
          <p:nvSpPr>
            <p:cNvPr id="16" name="Line 16"/>
            <p:cNvSpPr/>
            <p:nvPr/>
          </p:nvSpPr>
          <p:spPr>
            <a:xfrm>
              <a:off x="2476500" y="2286000"/>
              <a:ext cx="1" cy="114300"/>
            </a:xfrm>
            <a:prstGeom prst="line">
              <a:avLst/>
            </a:prstGeom>
            <a:noFill/>
            <a:ln w="28575">
              <a:solidFill>
                <a:srgbClr val="00A6A6"/>
              </a:solidFill>
              <a:tailEnd type="triangle" w="lg" len="lg"/>
            </a:ln>
          </p:spPr>
        </p:sp>
        <p:sp>
          <p:nvSpPr>
            <p:cNvPr id="17" name="Rectangle 17"/>
            <p:cNvSpPr/>
            <p:nvPr/>
          </p:nvSpPr>
          <p:spPr>
            <a:xfrm>
              <a:off x="571500" y="2438400"/>
              <a:ext cx="3810000" cy="819150"/>
            </a:xfrm>
            <a:prstGeom prst="rect">
              <a:avLst/>
            </a:prstGeom>
            <a:solidFill>
              <a:srgbClr val="EAF4F6"/>
            </a:solidFill>
            <a:ln>
              <a:noFill/>
            </a:ln>
          </p:spPr>
        </p:sp>
        <p:sp>
          <p:nvSpPr>
            <p:cNvPr id="18" name="Rectangle 18"/>
            <p:cNvSpPr/>
            <p:nvPr/>
          </p:nvSpPr>
          <p:spPr>
            <a:xfrm>
              <a:off x="571500" y="2438400"/>
              <a:ext cx="57150" cy="819150"/>
            </a:xfrm>
            <a:prstGeom prst="rect">
              <a:avLst/>
            </a:prstGeom>
            <a:solidFill>
              <a:srgbClr val="00A6A6"/>
            </a:solidFill>
            <a:ln>
              <a:noFill/>
            </a:ln>
          </p:spPr>
        </p:sp>
        <p:sp>
          <p:nvSpPr>
            <p:cNvPr id="19" name="TextBox 19"/>
            <p:cNvSpPr txBox="1"/>
            <p:nvPr/>
          </p:nvSpPr>
          <p:spPr>
            <a:xfrm>
              <a:off x="790956" y="2606040"/>
              <a:ext cx="116475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TersVekil</a:t>
              </a:r>
            </a:p>
          </p:txBody>
        </p:sp>
        <p:sp>
          <p:nvSpPr>
            <p:cNvPr id="20" name="TextBox 20"/>
            <p:cNvSpPr txBox="1"/>
            <p:nvPr/>
          </p:nvSpPr>
          <p:spPr>
            <a:xfrm>
              <a:off x="792099" y="2916079"/>
              <a:ext cx="3121416"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kimlik doğrulamasını denetler</a:t>
              </a:r>
            </a:p>
          </p:txBody>
        </p:sp>
        <p:sp>
          <p:nvSpPr>
            <p:cNvPr id="21" name="Line 21"/>
            <p:cNvSpPr/>
            <p:nvPr/>
          </p:nvSpPr>
          <p:spPr>
            <a:xfrm>
              <a:off x="2476500" y="3295650"/>
              <a:ext cx="1" cy="114300"/>
            </a:xfrm>
            <a:prstGeom prst="line">
              <a:avLst/>
            </a:prstGeom>
            <a:noFill/>
            <a:ln w="28575">
              <a:solidFill>
                <a:srgbClr val="00A6A6"/>
              </a:solidFill>
              <a:tailEnd type="triangle" w="lg" len="lg"/>
            </a:ln>
          </p:spPr>
        </p:sp>
        <p:sp>
          <p:nvSpPr>
            <p:cNvPr id="22" name="Rectangle 22"/>
            <p:cNvSpPr/>
            <p:nvPr/>
          </p:nvSpPr>
          <p:spPr>
            <a:xfrm>
              <a:off x="571500" y="3448050"/>
              <a:ext cx="3810000" cy="819150"/>
            </a:xfrm>
            <a:prstGeom prst="rect">
              <a:avLst/>
            </a:prstGeom>
            <a:solidFill>
              <a:srgbClr val="FFFFFF"/>
            </a:solidFill>
            <a:ln w="19050">
              <a:solidFill>
                <a:srgbClr val="2E86AB"/>
              </a:solidFill>
            </a:ln>
          </p:spPr>
        </p:sp>
        <p:sp>
          <p:nvSpPr>
            <p:cNvPr id="23" name="TextBox 23"/>
            <p:cNvSpPr txBox="1"/>
            <p:nvPr/>
          </p:nvSpPr>
          <p:spPr>
            <a:xfrm>
              <a:off x="790956" y="3615690"/>
              <a:ext cx="80894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NotApi</a:t>
              </a:r>
            </a:p>
          </p:txBody>
        </p:sp>
        <p:sp>
          <p:nvSpPr>
            <p:cNvPr id="24" name="TextBox 24"/>
            <p:cNvSpPr txBox="1"/>
            <p:nvPr/>
          </p:nvSpPr>
          <p:spPr>
            <a:xfrm>
              <a:off x="792099" y="3925729"/>
              <a:ext cx="3536180"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yoldan öğrenci numarasını ayırır</a:t>
              </a:r>
            </a:p>
          </p:txBody>
        </p:sp>
        <p:sp>
          <p:nvSpPr>
            <p:cNvPr id="25" name="Line 25"/>
            <p:cNvSpPr/>
            <p:nvPr/>
          </p:nvSpPr>
          <p:spPr>
            <a:xfrm>
              <a:off x="2476500" y="4305300"/>
              <a:ext cx="1" cy="114300"/>
            </a:xfrm>
            <a:prstGeom prst="line">
              <a:avLst/>
            </a:prstGeom>
            <a:noFill/>
            <a:ln w="28575">
              <a:solidFill>
                <a:srgbClr val="00A6A6"/>
              </a:solidFill>
              <a:tailEnd type="triangle" w="lg" len="lg"/>
            </a:ln>
          </p:spPr>
        </p:sp>
        <p:sp>
          <p:nvSpPr>
            <p:cNvPr id="26" name="Rectangle 26"/>
            <p:cNvSpPr/>
            <p:nvPr/>
          </p:nvSpPr>
          <p:spPr>
            <a:xfrm>
              <a:off x="571500" y="4457700"/>
              <a:ext cx="3810000" cy="819150"/>
            </a:xfrm>
            <a:prstGeom prst="rect">
              <a:avLst/>
            </a:prstGeom>
            <a:solidFill>
              <a:srgbClr val="12355B"/>
            </a:solidFill>
            <a:ln>
              <a:noFill/>
            </a:ln>
          </p:spPr>
        </p:sp>
        <p:sp>
          <p:nvSpPr>
            <p:cNvPr id="27" name="TextBox 27"/>
            <p:cNvSpPr txBox="1"/>
            <p:nvPr/>
          </p:nvSpPr>
          <p:spPr>
            <a:xfrm>
              <a:off x="790956" y="4625340"/>
              <a:ext cx="2292502" cy="352044"/>
            </a:xfrm>
            <a:prstGeom prst="rect">
              <a:avLst/>
            </a:prstGeom>
            <a:noFill/>
            <a:ln>
              <a:noFill/>
            </a:ln>
          </p:spPr>
          <p:txBody>
            <a:bodyPr wrap="none" lIns="0" tIns="0" rIns="0" bIns="0" anchor="t" anchorCtr="0">
              <a:spAutoFit/>
            </a:bodyPr>
            <a:lstStyle/>
            <a:p>
              <a:pPr algn="l"/>
              <a:r>
                <a:rPr lang="tr-TR" sz="1800" b="1" dirty="0">
                  <a:solidFill>
                    <a:srgbClr val="F7FAFC"/>
                  </a:solidFill>
                  <a:latin typeface="+mn-lt"/>
                  <a:ea typeface="+mn-ea"/>
                  <a:cs typeface="+mn-cs"/>
                </a:rPr>
                <a:t>NotBackendServisi</a:t>
              </a:r>
            </a:p>
          </p:txBody>
        </p:sp>
        <p:sp>
          <p:nvSpPr>
            <p:cNvPr id="28" name="TextBox 28"/>
            <p:cNvSpPr txBox="1"/>
            <p:nvPr/>
          </p:nvSpPr>
          <p:spPr>
            <a:xfrm>
              <a:off x="792099" y="4935379"/>
              <a:ext cx="2738557" cy="308039"/>
            </a:xfrm>
            <a:prstGeom prst="rect">
              <a:avLst/>
            </a:prstGeom>
            <a:noFill/>
            <a:ln>
              <a:noFill/>
            </a:ln>
          </p:spPr>
          <p:txBody>
            <a:bodyPr wrap="none" lIns="0" tIns="0" rIns="0" bIns="0" anchor="t" anchorCtr="0">
              <a:spAutoFit/>
            </a:bodyPr>
            <a:lstStyle/>
            <a:p>
              <a:pPr algn="l"/>
              <a:r>
                <a:rPr lang="tr-TR" sz="1580" dirty="0">
                  <a:solidFill>
                    <a:srgbClr val="EAF4F6"/>
                  </a:solidFill>
                  <a:latin typeface="+mn-lt"/>
                  <a:ea typeface="+mn-ea"/>
                  <a:cs typeface="+mn-cs"/>
                </a:rPr>
                <a:t>notu bulur ya da 404 döner</a:t>
              </a:r>
            </a:p>
          </p:txBody>
        </p:sp>
      </p:grpSp>
      <p:grpSp>
        <p:nvGrpSpPr>
          <p:cNvPr id="39" name="scenarios"/>
          <p:cNvGrpSpPr/>
          <p:nvPr/>
        </p:nvGrpSpPr>
        <p:grpSpPr>
          <a:xfrm>
            <a:off x="5324094" y="1465898"/>
            <a:ext cx="6296406" cy="4044219"/>
            <a:chOff x="5324094" y="1465898"/>
            <a:chExt cx="6296406" cy="4044219"/>
          </a:xfrm>
        </p:grpSpPr>
        <p:sp>
          <p:nvSpPr>
            <p:cNvPr id="30" name="TextBox 30"/>
            <p:cNvSpPr txBox="1"/>
            <p:nvPr/>
          </p:nvSpPr>
          <p:spPr>
            <a:xfrm>
              <a:off x="5324094" y="1465898"/>
              <a:ext cx="1475994"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Üç senaryo</a:t>
              </a:r>
            </a:p>
          </p:txBody>
        </p:sp>
        <p:sp>
          <p:nvSpPr>
            <p:cNvPr id="31" name="TextBox 31"/>
            <p:cNvSpPr txBox="1"/>
            <p:nvPr/>
          </p:nvSpPr>
          <p:spPr>
            <a:xfrm>
              <a:off x="5325999" y="2020729"/>
              <a:ext cx="4929363" cy="308039"/>
            </a:xfrm>
            <a:prstGeom prst="rect">
              <a:avLst/>
            </a:prstGeom>
            <a:noFill/>
            <a:ln>
              <a:noFill/>
            </a:ln>
          </p:spPr>
          <p:txBody>
            <a:bodyPr wrap="none" lIns="0" tIns="0" rIns="0" bIns="0" anchor="t" anchorCtr="0">
              <a:spAutoFit/>
            </a:bodyPr>
            <a:lstStyle/>
            <a:p>
              <a:pPr algn="l"/>
              <a:r>
                <a:rPr lang="tr-TR" sz="1580" dirty="0">
                  <a:solidFill>
                    <a:srgbClr val="12355B"/>
                  </a:solidFill>
                  <a:latin typeface="Consolas"/>
                  <a:ea typeface="Consolas"/>
                  <a:cs typeface="Consolas"/>
                </a:rPr>
                <a:t>[200] 2026001 numaralı öğrencinin notu: 88</a:t>
              </a:r>
            </a:p>
          </p:txBody>
        </p:sp>
        <p:sp>
          <p:nvSpPr>
            <p:cNvPr id="32" name="TextBox 32"/>
            <p:cNvSpPr txBox="1"/>
            <p:nvPr/>
          </p:nvSpPr>
          <p:spPr>
            <a:xfrm>
              <a:off x="5325999" y="2325529"/>
              <a:ext cx="3833960"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yetkili istek tüm katmanlardan geçer</a:t>
              </a:r>
            </a:p>
          </p:txBody>
        </p:sp>
        <p:sp>
          <p:nvSpPr>
            <p:cNvPr id="33" name="TextBox 33"/>
            <p:cNvSpPr txBox="1"/>
            <p:nvPr/>
          </p:nvSpPr>
          <p:spPr>
            <a:xfrm>
              <a:off x="5325999" y="2973229"/>
              <a:ext cx="3885605" cy="308039"/>
            </a:xfrm>
            <a:prstGeom prst="rect">
              <a:avLst/>
            </a:prstGeom>
            <a:noFill/>
            <a:ln>
              <a:noFill/>
            </a:ln>
          </p:spPr>
          <p:txBody>
            <a:bodyPr wrap="none" lIns="0" tIns="0" rIns="0" bIns="0" anchor="t" anchorCtr="0">
              <a:spAutoFit/>
            </a:bodyPr>
            <a:lstStyle/>
            <a:p>
              <a:pPr algn="l"/>
              <a:r>
                <a:rPr lang="tr-TR" sz="1580" dirty="0">
                  <a:solidFill>
                    <a:srgbClr val="12355B"/>
                  </a:solidFill>
                  <a:latin typeface="Consolas"/>
                  <a:ea typeface="Consolas"/>
                  <a:cs typeface="Consolas"/>
                </a:rPr>
                <a:t>[401] Kimlik doğrulaması gerekli.</a:t>
              </a:r>
            </a:p>
          </p:txBody>
        </p:sp>
        <p:sp>
          <p:nvSpPr>
            <p:cNvPr id="34" name="TextBox 34"/>
            <p:cNvSpPr txBox="1"/>
            <p:nvPr/>
          </p:nvSpPr>
          <p:spPr>
            <a:xfrm>
              <a:off x="5325999" y="3278029"/>
              <a:ext cx="4227746"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istek ters vekilde durur, API’ye ulaşmaz</a:t>
              </a:r>
            </a:p>
          </p:txBody>
        </p:sp>
        <p:sp>
          <p:nvSpPr>
            <p:cNvPr id="35" name="TextBox 35"/>
            <p:cNvSpPr txBox="1"/>
            <p:nvPr/>
          </p:nvSpPr>
          <p:spPr>
            <a:xfrm>
              <a:off x="5325999" y="3925729"/>
              <a:ext cx="3651861" cy="308039"/>
            </a:xfrm>
            <a:prstGeom prst="rect">
              <a:avLst/>
            </a:prstGeom>
            <a:noFill/>
            <a:ln>
              <a:noFill/>
            </a:ln>
          </p:spPr>
          <p:txBody>
            <a:bodyPr wrap="none" lIns="0" tIns="0" rIns="0" bIns="0" anchor="t" anchorCtr="0">
              <a:spAutoFit/>
            </a:bodyPr>
            <a:lstStyle/>
            <a:p>
              <a:pPr algn="l"/>
              <a:r>
                <a:rPr lang="tr-TR" sz="1580" dirty="0">
                  <a:solidFill>
                    <a:srgbClr val="12355B"/>
                  </a:solidFill>
                  <a:latin typeface="Consolas"/>
                  <a:ea typeface="Consolas"/>
                  <a:cs typeface="Consolas"/>
                </a:rPr>
                <a:t>[404] Öğrenci kaydı bulunamadı.</a:t>
              </a:r>
            </a:p>
          </p:txBody>
        </p:sp>
        <p:sp>
          <p:nvSpPr>
            <p:cNvPr id="36" name="TextBox 36"/>
            <p:cNvSpPr txBox="1"/>
            <p:nvPr/>
          </p:nvSpPr>
          <p:spPr>
            <a:xfrm>
              <a:off x="5325999" y="4230529"/>
              <a:ext cx="4248724"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istek backend’e ulaşır, kayıt bulunamaz</a:t>
              </a:r>
            </a:p>
          </p:txBody>
        </p:sp>
        <p:sp>
          <p:nvSpPr>
            <p:cNvPr id="37" name="Line 37"/>
            <p:cNvSpPr/>
            <p:nvPr/>
          </p:nvSpPr>
          <p:spPr>
            <a:xfrm>
              <a:off x="5334000" y="4762500"/>
              <a:ext cx="6286500" cy="9525"/>
            </a:xfrm>
            <a:custGeom>
              <a:avLst/>
              <a:gdLst/>
              <a:ahLst/>
              <a:cxnLst/>
              <a:rect l="l" t="t" r="r" b="b"/>
              <a:pathLst>
                <a:path w="6286500" h="9525">
                  <a:moveTo>
                    <a:pt x="0" y="0"/>
                  </a:moveTo>
                  <a:lnTo>
                    <a:pt x="6286500" y="0"/>
                  </a:lnTo>
                </a:path>
              </a:pathLst>
            </a:custGeom>
            <a:noFill/>
            <a:ln w="9525">
              <a:solidFill>
                <a:srgbClr val="B8CBD3"/>
              </a:solidFill>
            </a:ln>
          </p:spPr>
        </p:sp>
        <p:sp>
          <p:nvSpPr>
            <p:cNvPr id="38" name="TextBox 38"/>
            <p:cNvSpPr txBox="1"/>
            <p:nvPr/>
          </p:nvSpPr>
          <p:spPr>
            <a:xfrm>
              <a:off x="5325999" y="4935379"/>
              <a:ext cx="4721479"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Her katman yalnızca kendi sorumluluğuna bakar;</a:t>
              </a:r>
              <a:br/>
              <a:r>
                <a:rPr lang="tr-TR" sz="1580" dirty="0">
                  <a:solidFill>
                    <a:srgbClr val="172B3A"/>
                  </a:solidFill>
                  <a:latin typeface="+mn-lt"/>
                  <a:ea typeface="+mn-ea"/>
                  <a:cs typeface="+mn-cs"/>
                </a:rPr>
                <a:t>hiçbir katman bir öncekinin işini tekrar yapmaz.</a:t>
              </a:r>
            </a:p>
          </p:txBody>
        </p:sp>
      </p:grpSp>
      <p:grpSp>
        <p:nvGrpSpPr>
          <p:cNvPr id="42" name="token-caution"/>
          <p:cNvGrpSpPr/>
          <p:nvPr/>
        </p:nvGrpSpPr>
        <p:grpSpPr>
          <a:xfrm>
            <a:off x="571500" y="5486400"/>
            <a:ext cx="9850374" cy="805434"/>
            <a:chOff x="571500" y="5486400"/>
            <a:chExt cx="9850374" cy="805434"/>
          </a:xfrm>
        </p:grpSpPr>
        <p:sp>
          <p:nvSpPr>
            <p:cNvPr id="40" name="Rectangle 40"/>
            <p:cNvSpPr/>
            <p:nvPr/>
          </p:nvSpPr>
          <p:spPr>
            <a:xfrm>
              <a:off x="571500" y="5486400"/>
              <a:ext cx="57150" cy="762000"/>
            </a:xfrm>
            <a:prstGeom prst="rect">
              <a:avLst/>
            </a:prstGeom>
            <a:solidFill>
              <a:srgbClr val="2E86AB"/>
            </a:solidFill>
            <a:ln>
              <a:noFill/>
            </a:ln>
          </p:spPr>
        </p:sp>
        <p:sp>
          <p:nvSpPr>
            <p:cNvPr id="41" name="TextBox 41"/>
            <p:cNvSpPr txBox="1"/>
            <p:nvPr/>
          </p:nvSpPr>
          <p:spPr>
            <a:xfrm>
              <a:off x="790956" y="5615940"/>
              <a:ext cx="9630918" cy="675894"/>
            </a:xfrm>
            <a:prstGeom prst="rect">
              <a:avLst/>
            </a:prstGeom>
            <a:noFill/>
            <a:ln>
              <a:noFill/>
            </a:ln>
          </p:spPr>
          <p:txBody>
            <a:bodyPr wrap="none" lIns="0" tIns="0" rIns="0" bIns="0" anchor="t" anchorCtr="0">
              <a:spAutoFit/>
            </a:bodyPr>
            <a:lstStyle/>
            <a:p>
              <a:pPr algn="l">
                <a:lnSpc>
                  <a:spcPts val="2550"/>
                </a:lnSpc>
              </a:pPr>
              <a:r>
                <a:rPr lang="tr-TR" sz="1800" dirty="0">
                  <a:solidFill>
                    <a:srgbClr val="172B3A"/>
                  </a:solidFill>
                  <a:latin typeface="+mn-lt"/>
                  <a:ea typeface="+mn-ea"/>
                  <a:cs typeface="+mn-cs"/>
                </a:rPr>
                <a:t>yetkiliMi alanı bu örnekte doğrudan parametre olarak verilmiştir; gerçek bir sistemde</a:t>
              </a:r>
              <a:br/>
              <a:r>
                <a:rPr lang="tr-TR" sz="1800" dirty="0">
                  <a:solidFill>
                    <a:srgbClr val="172B3A"/>
                  </a:solidFill>
                  <a:latin typeface="+mn-lt"/>
                  <a:ea typeface="+mn-ea"/>
                  <a:cs typeface="+mn-cs"/>
                </a:rPr>
                <a:t>bu bilgi bir kimlik doğrulama jetonundan (token) türetilir.</a:t>
              </a:r>
            </a:p>
          </p:txBody>
        </p:sp>
      </p:grpSp>
      <p:grpSp>
        <p:nvGrpSpPr>
          <p:cNvPr id="45" name="footer"/>
          <p:cNvGrpSpPr/>
          <p:nvPr/>
        </p:nvGrpSpPr>
        <p:grpSpPr>
          <a:xfrm>
            <a:off x="565404" y="6404610"/>
            <a:ext cx="11061192" cy="234696"/>
            <a:chOff x="565404" y="6404610"/>
            <a:chExt cx="11061192" cy="234696"/>
          </a:xfrm>
        </p:grpSpPr>
        <p:sp>
          <p:nvSpPr>
            <p:cNvPr id="43" name="TextBox 43"/>
            <p:cNvSpPr txBox="1"/>
            <p:nvPr/>
          </p:nvSpPr>
          <p:spPr>
            <a:xfrm>
              <a:off x="565404" y="6404610"/>
              <a:ext cx="496284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Bölüm 1 · Modern Backend Programlamaya Giriş ve Web Mimarisi</a:t>
              </a:r>
            </a:p>
          </p:txBody>
        </p:sp>
        <p:sp>
          <p:nvSpPr>
            <p:cNvPr id="44" name="TextBox 44"/>
            <p:cNvSpPr txBox="1"/>
            <p:nvPr/>
          </p:nvSpPr>
          <p:spPr>
            <a:xfrm>
              <a:off x="11436706" y="640461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21</a:t>
              </a:r>
            </a:p>
          </p:txBody>
        </p:sp>
      </p:gr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5" name="title"/>
          <p:cNvGrpSpPr/>
          <p:nvPr/>
        </p:nvGrpSpPr>
        <p:grpSpPr>
          <a:xfrm>
            <a:off x="0" y="0"/>
            <a:ext cx="12192000" cy="952500"/>
            <a:chOff x="0" y="0"/>
            <a:chExt cx="12192000" cy="952500"/>
          </a:xfrm>
        </p:grpSpPr>
        <p:sp>
          <p:nvSpPr>
            <p:cNvPr id="2" name="Rectangle 2"/>
            <p:cNvSpPr/>
            <p:nvPr/>
          </p:nvSpPr>
          <p:spPr>
            <a:xfrm>
              <a:off x="0" y="0"/>
              <a:ext cx="12192000" cy="914400"/>
            </a:xfrm>
            <a:prstGeom prst="rect">
              <a:avLst/>
            </a:prstGeom>
            <a:solidFill>
              <a:srgbClr val="12355B"/>
            </a:solidFill>
            <a:ln>
              <a:noFill/>
            </a:ln>
          </p:spPr>
        </p:sp>
        <p:sp>
          <p:nvSpPr>
            <p:cNvPr id="3" name="Rectangle 3"/>
            <p:cNvSpPr/>
            <p:nvPr/>
          </p:nvSpPr>
          <p:spPr>
            <a:xfrm>
              <a:off x="0" y="914400"/>
              <a:ext cx="12192000" cy="38100"/>
            </a:xfrm>
            <a:prstGeom prst="rect">
              <a:avLst/>
            </a:prstGeom>
            <a:solidFill>
              <a:srgbClr val="00A6A6"/>
            </a:solidFill>
            <a:ln>
              <a:noFill/>
            </a:ln>
          </p:spPr>
        </p:sp>
        <p:sp>
          <p:nvSpPr>
            <p:cNvPr id="4" name="TextBox 4"/>
            <p:cNvSpPr txBox="1"/>
            <p:nvPr/>
          </p:nvSpPr>
          <p:spPr>
            <a:xfrm>
              <a:off x="557022" y="282892"/>
              <a:ext cx="2257174" cy="557403"/>
            </a:xfrm>
            <a:prstGeom prst="rect">
              <a:avLst/>
            </a:prstGeom>
            <a:noFill/>
            <a:ln>
              <a:noFill/>
            </a:ln>
          </p:spPr>
          <p:txBody>
            <a:bodyPr wrap="none" lIns="0" tIns="0" rIns="0" bIns="0" anchor="t" anchorCtr="0">
              <a:spAutoFit/>
            </a:bodyPr>
            <a:lstStyle/>
            <a:p>
              <a:pPr algn="l"/>
              <a:r>
                <a:rPr lang="tr-TR" sz="2850" b="1" dirty="0">
                  <a:solidFill>
                    <a:srgbClr val="F7FAFC"/>
                  </a:solidFill>
                  <a:latin typeface="+mj-lt"/>
                  <a:ea typeface="+mj-ea"/>
                  <a:cs typeface="+mj-cs"/>
                </a:rPr>
                <a:t>Bölüm özeti</a:t>
              </a:r>
            </a:p>
          </p:txBody>
        </p:sp>
      </p:grpSp>
      <p:grpSp>
        <p:nvGrpSpPr>
          <p:cNvPr id="9" name="summary-istemci-sunucu"/>
          <p:cNvGrpSpPr/>
          <p:nvPr/>
        </p:nvGrpSpPr>
        <p:grpSpPr>
          <a:xfrm>
            <a:off x="560070" y="1566862"/>
            <a:ext cx="4386834" cy="1467422"/>
            <a:chOff x="560070" y="1566862"/>
            <a:chExt cx="4386834" cy="1467422"/>
          </a:xfrm>
        </p:grpSpPr>
        <p:sp>
          <p:nvSpPr>
            <p:cNvPr id="6" name="TextBox 6"/>
            <p:cNvSpPr txBox="1"/>
            <p:nvPr/>
          </p:nvSpPr>
          <p:spPr>
            <a:xfrm>
              <a:off x="560070" y="1566862"/>
              <a:ext cx="197782" cy="440055"/>
            </a:xfrm>
            <a:prstGeom prst="rect">
              <a:avLst/>
            </a:prstGeom>
            <a:noFill/>
            <a:ln>
              <a:noFill/>
            </a:ln>
          </p:spPr>
          <p:txBody>
            <a:bodyPr wrap="none" lIns="0" tIns="0" rIns="0" bIns="0" anchor="t" anchorCtr="0">
              <a:spAutoFit/>
            </a:bodyPr>
            <a:lstStyle/>
            <a:p>
              <a:pPr algn="l"/>
              <a:r>
                <a:rPr lang="tr-TR" sz="2250" b="1" dirty="0">
                  <a:solidFill>
                    <a:srgbClr val="00A6A6"/>
                  </a:solidFill>
                  <a:latin typeface="+mn-lt"/>
                  <a:ea typeface="+mn-ea"/>
                  <a:cs typeface="+mn-cs"/>
                </a:rPr>
                <a:t>1</a:t>
              </a:r>
            </a:p>
          </p:txBody>
        </p:sp>
        <p:sp>
          <p:nvSpPr>
            <p:cNvPr id="7" name="TextBox 7"/>
            <p:cNvSpPr txBox="1"/>
            <p:nvPr/>
          </p:nvSpPr>
          <p:spPr>
            <a:xfrm>
              <a:off x="1038606" y="1615440"/>
              <a:ext cx="231627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Sorumluluk ayrımı</a:t>
              </a:r>
            </a:p>
          </p:txBody>
        </p:sp>
        <p:sp>
          <p:nvSpPr>
            <p:cNvPr id="8" name="TextBox 8"/>
            <p:cNvSpPr txBox="1"/>
            <p:nvPr/>
          </p:nvSpPr>
          <p:spPr>
            <a:xfrm>
              <a:off x="562356" y="2034540"/>
              <a:ext cx="4384548" cy="999744"/>
            </a:xfrm>
            <a:prstGeom prst="rect">
              <a:avLst/>
            </a:prstGeom>
            <a:noFill/>
            <a:ln>
              <a:noFill/>
            </a:ln>
          </p:spPr>
          <p:txBody>
            <a:bodyPr wrap="none" lIns="0" tIns="0" rIns="0" bIns="0" anchor="t" anchorCtr="0">
              <a:spAutoFit/>
            </a:bodyPr>
            <a:lstStyle/>
            <a:p>
              <a:pPr algn="l">
                <a:lnSpc>
                  <a:spcPts val="2550"/>
                </a:lnSpc>
              </a:pPr>
              <a:r>
                <a:rPr lang="tr-TR" sz="1800" dirty="0">
                  <a:solidFill>
                    <a:srgbClr val="172B3A"/>
                  </a:solidFill>
                  <a:latin typeface="+mn-lt"/>
                  <a:ea typeface="+mn-ea"/>
                  <a:cs typeface="+mn-cs"/>
                </a:rPr>
                <a:t>İstemci kullanıcı etkileşimini yönetir;</a:t>
              </a:r>
              <a:br/>
              <a:r>
                <a:rPr lang="tr-TR" sz="1800" dirty="0">
                  <a:solidFill>
                    <a:srgbClr val="172B3A"/>
                  </a:solidFill>
                  <a:latin typeface="+mn-lt"/>
                  <a:ea typeface="+mn-ea"/>
                  <a:cs typeface="+mn-cs"/>
                </a:rPr>
                <a:t>backend iş kurallarını, doğrulamayı ve</a:t>
              </a:r>
              <a:br/>
              <a:r>
                <a:rPr lang="tr-TR" sz="1800" dirty="0">
                  <a:solidFill>
                    <a:srgbClr val="172B3A"/>
                  </a:solidFill>
                  <a:latin typeface="+mn-lt"/>
                  <a:ea typeface="+mn-ea"/>
                  <a:cs typeface="+mn-cs"/>
                </a:rPr>
                <a:t>veri erişimini güvenilir yürütür.</a:t>
              </a:r>
            </a:p>
          </p:txBody>
        </p:sp>
      </p:grpSp>
      <p:grpSp>
        <p:nvGrpSpPr>
          <p:cNvPr id="13" name="summary-http"/>
          <p:cNvGrpSpPr/>
          <p:nvPr/>
        </p:nvGrpSpPr>
        <p:grpSpPr>
          <a:xfrm>
            <a:off x="6275070" y="1566862"/>
            <a:ext cx="4478274" cy="1467422"/>
            <a:chOff x="6275070" y="1566862"/>
            <a:chExt cx="4478274" cy="1467422"/>
          </a:xfrm>
        </p:grpSpPr>
        <p:sp>
          <p:nvSpPr>
            <p:cNvPr id="10" name="TextBox 10"/>
            <p:cNvSpPr txBox="1"/>
            <p:nvPr/>
          </p:nvSpPr>
          <p:spPr>
            <a:xfrm>
              <a:off x="6275070" y="1566862"/>
              <a:ext cx="197782" cy="440055"/>
            </a:xfrm>
            <a:prstGeom prst="rect">
              <a:avLst/>
            </a:prstGeom>
            <a:noFill/>
            <a:ln>
              <a:noFill/>
            </a:ln>
          </p:spPr>
          <p:txBody>
            <a:bodyPr wrap="none" lIns="0" tIns="0" rIns="0" bIns="0" anchor="t" anchorCtr="0">
              <a:spAutoFit/>
            </a:bodyPr>
            <a:lstStyle/>
            <a:p>
              <a:pPr algn="l"/>
              <a:r>
                <a:rPr lang="tr-TR" sz="2250" b="1" dirty="0">
                  <a:solidFill>
                    <a:srgbClr val="00A6A6"/>
                  </a:solidFill>
                  <a:latin typeface="+mn-lt"/>
                  <a:ea typeface="+mn-ea"/>
                  <a:cs typeface="+mn-cs"/>
                </a:rPr>
                <a:t>2</a:t>
              </a:r>
            </a:p>
          </p:txBody>
        </p:sp>
        <p:sp>
          <p:nvSpPr>
            <p:cNvPr id="11" name="TextBox 11"/>
            <p:cNvSpPr txBox="1"/>
            <p:nvPr/>
          </p:nvSpPr>
          <p:spPr>
            <a:xfrm>
              <a:off x="6753606" y="1615440"/>
              <a:ext cx="178861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HTTP ve HTTPS</a:t>
              </a:r>
            </a:p>
          </p:txBody>
        </p:sp>
        <p:sp>
          <p:nvSpPr>
            <p:cNvPr id="12" name="TextBox 12"/>
            <p:cNvSpPr txBox="1"/>
            <p:nvPr/>
          </p:nvSpPr>
          <p:spPr>
            <a:xfrm>
              <a:off x="6277356" y="2034540"/>
              <a:ext cx="4475988" cy="999744"/>
            </a:xfrm>
            <a:prstGeom prst="rect">
              <a:avLst/>
            </a:prstGeom>
            <a:noFill/>
            <a:ln>
              <a:noFill/>
            </a:ln>
          </p:spPr>
          <p:txBody>
            <a:bodyPr wrap="none" lIns="0" tIns="0" rIns="0" bIns="0" anchor="t" anchorCtr="0">
              <a:spAutoFit/>
            </a:bodyPr>
            <a:lstStyle/>
            <a:p>
              <a:pPr algn="l">
                <a:lnSpc>
                  <a:spcPts val="2550"/>
                </a:lnSpc>
              </a:pPr>
              <a:r>
                <a:rPr lang="tr-TR" sz="1800" dirty="0">
                  <a:solidFill>
                    <a:srgbClr val="172B3A"/>
                  </a:solidFill>
                  <a:latin typeface="+mn-lt"/>
                  <a:ea typeface="+mn-ea"/>
                  <a:cs typeface="+mn-cs"/>
                </a:rPr>
                <a:t>HTTP ortak iletişim kurallarını belirler;</a:t>
              </a:r>
              <a:br/>
              <a:r>
                <a:rPr lang="tr-TR" sz="1800" dirty="0">
                  <a:solidFill>
                    <a:srgbClr val="172B3A"/>
                  </a:solidFill>
                  <a:latin typeface="+mn-lt"/>
                  <a:ea typeface="+mn-ea"/>
                  <a:cs typeface="+mn-cs"/>
                </a:rPr>
                <a:t>HTTPS gizlilik, bütünlük ve sunucu</a:t>
              </a:r>
              <a:br/>
              <a:r>
                <a:rPr lang="tr-TR" sz="1800" dirty="0">
                  <a:solidFill>
                    <a:srgbClr val="172B3A"/>
                  </a:solidFill>
                  <a:latin typeface="+mn-lt"/>
                  <a:ea typeface="+mn-ea"/>
                  <a:cs typeface="+mn-cs"/>
                </a:rPr>
                <a:t>kimliğinin doğrulanmasını sağlar.</a:t>
              </a:r>
            </a:p>
          </p:txBody>
        </p:sp>
      </p:grpSp>
      <p:grpSp>
        <p:nvGrpSpPr>
          <p:cNvPr id="17" name="summary-api"/>
          <p:cNvGrpSpPr/>
          <p:nvPr/>
        </p:nvGrpSpPr>
        <p:grpSpPr>
          <a:xfrm>
            <a:off x="560070" y="3757612"/>
            <a:ext cx="4386834" cy="1467422"/>
            <a:chOff x="560070" y="3757612"/>
            <a:chExt cx="4386834" cy="1467422"/>
          </a:xfrm>
        </p:grpSpPr>
        <p:sp>
          <p:nvSpPr>
            <p:cNvPr id="14" name="TextBox 14"/>
            <p:cNvSpPr txBox="1"/>
            <p:nvPr/>
          </p:nvSpPr>
          <p:spPr>
            <a:xfrm>
              <a:off x="560070" y="3757612"/>
              <a:ext cx="197782" cy="440055"/>
            </a:xfrm>
            <a:prstGeom prst="rect">
              <a:avLst/>
            </a:prstGeom>
            <a:noFill/>
            <a:ln>
              <a:noFill/>
            </a:ln>
          </p:spPr>
          <p:txBody>
            <a:bodyPr wrap="none" lIns="0" tIns="0" rIns="0" bIns="0" anchor="t" anchorCtr="0">
              <a:spAutoFit/>
            </a:bodyPr>
            <a:lstStyle/>
            <a:p>
              <a:pPr algn="l"/>
              <a:r>
                <a:rPr lang="tr-TR" sz="2250" b="1" dirty="0">
                  <a:solidFill>
                    <a:srgbClr val="00A6A6"/>
                  </a:solidFill>
                  <a:latin typeface="+mn-lt"/>
                  <a:ea typeface="+mn-ea"/>
                  <a:cs typeface="+mn-cs"/>
                </a:rPr>
                <a:t>3</a:t>
              </a:r>
            </a:p>
          </p:txBody>
        </p:sp>
        <p:sp>
          <p:nvSpPr>
            <p:cNvPr id="15" name="TextBox 15"/>
            <p:cNvSpPr txBox="1"/>
            <p:nvPr/>
          </p:nvSpPr>
          <p:spPr>
            <a:xfrm>
              <a:off x="1038606" y="3806190"/>
              <a:ext cx="179680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API sözleşmesi</a:t>
              </a:r>
            </a:p>
          </p:txBody>
        </p:sp>
        <p:sp>
          <p:nvSpPr>
            <p:cNvPr id="16" name="TextBox 16"/>
            <p:cNvSpPr txBox="1"/>
            <p:nvPr/>
          </p:nvSpPr>
          <p:spPr>
            <a:xfrm>
              <a:off x="562356" y="4225290"/>
              <a:ext cx="4384548" cy="999744"/>
            </a:xfrm>
            <a:prstGeom prst="rect">
              <a:avLst/>
            </a:prstGeom>
            <a:noFill/>
            <a:ln>
              <a:noFill/>
            </a:ln>
          </p:spPr>
          <p:txBody>
            <a:bodyPr wrap="none" lIns="0" tIns="0" rIns="0" bIns="0" anchor="t" anchorCtr="0">
              <a:spAutoFit/>
            </a:bodyPr>
            <a:lstStyle/>
            <a:p>
              <a:pPr algn="l">
                <a:lnSpc>
                  <a:spcPts val="2550"/>
                </a:lnSpc>
              </a:pPr>
              <a:r>
                <a:rPr lang="tr-TR" sz="1800" dirty="0">
                  <a:solidFill>
                    <a:srgbClr val="172B3A"/>
                  </a:solidFill>
                  <a:latin typeface="+mn-lt"/>
                  <a:ea typeface="+mn-ea"/>
                  <a:cs typeface="+mn-cs"/>
                </a:rPr>
                <a:t>API, iki bileşen arasındaki veri ve</a:t>
              </a:r>
              <a:br/>
              <a:r>
                <a:rPr lang="tr-TR" sz="1800" dirty="0">
                  <a:solidFill>
                    <a:srgbClr val="172B3A"/>
                  </a:solidFill>
                  <a:latin typeface="+mn-lt"/>
                  <a:ea typeface="+mn-ea"/>
                  <a:cs typeface="+mn-cs"/>
                </a:rPr>
                <a:t>davranış sözleşmesidir; backend ise bu</a:t>
              </a:r>
              <a:br/>
              <a:r>
                <a:rPr lang="tr-TR" sz="1800" dirty="0">
                  <a:solidFill>
                    <a:srgbClr val="172B3A"/>
                  </a:solidFill>
                  <a:latin typeface="+mn-lt"/>
                  <a:ea typeface="+mn-ea"/>
                  <a:cs typeface="+mn-cs"/>
                </a:rPr>
                <a:t>sözleşmeyi uygulayan sistemdir.</a:t>
              </a:r>
            </a:p>
          </p:txBody>
        </p:sp>
      </p:grpSp>
      <p:grpSp>
        <p:nvGrpSpPr>
          <p:cNvPr id="21" name="summary-proxy"/>
          <p:cNvGrpSpPr/>
          <p:nvPr/>
        </p:nvGrpSpPr>
        <p:grpSpPr>
          <a:xfrm>
            <a:off x="6275070" y="3757612"/>
            <a:ext cx="4135374" cy="1467422"/>
            <a:chOff x="6275070" y="3757612"/>
            <a:chExt cx="4135374" cy="1467422"/>
          </a:xfrm>
        </p:grpSpPr>
        <p:sp>
          <p:nvSpPr>
            <p:cNvPr id="18" name="TextBox 18"/>
            <p:cNvSpPr txBox="1"/>
            <p:nvPr/>
          </p:nvSpPr>
          <p:spPr>
            <a:xfrm>
              <a:off x="6275070" y="3757612"/>
              <a:ext cx="197782" cy="440055"/>
            </a:xfrm>
            <a:prstGeom prst="rect">
              <a:avLst/>
            </a:prstGeom>
            <a:noFill/>
            <a:ln>
              <a:noFill/>
            </a:ln>
          </p:spPr>
          <p:txBody>
            <a:bodyPr wrap="none" lIns="0" tIns="0" rIns="0" bIns="0" anchor="t" anchorCtr="0">
              <a:spAutoFit/>
            </a:bodyPr>
            <a:lstStyle/>
            <a:p>
              <a:pPr algn="l"/>
              <a:r>
                <a:rPr lang="tr-TR" sz="2250" b="1" dirty="0">
                  <a:solidFill>
                    <a:srgbClr val="00A6A6"/>
                  </a:solidFill>
                  <a:latin typeface="+mn-lt"/>
                  <a:ea typeface="+mn-ea"/>
                  <a:cs typeface="+mn-cs"/>
                </a:rPr>
                <a:t>4</a:t>
              </a:r>
            </a:p>
          </p:txBody>
        </p:sp>
        <p:sp>
          <p:nvSpPr>
            <p:cNvPr id="19" name="TextBox 19"/>
            <p:cNvSpPr txBox="1"/>
            <p:nvPr/>
          </p:nvSpPr>
          <p:spPr>
            <a:xfrm>
              <a:off x="6753606" y="3806190"/>
              <a:ext cx="178214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Reverse proxy</a:t>
              </a:r>
            </a:p>
          </p:txBody>
        </p:sp>
        <p:sp>
          <p:nvSpPr>
            <p:cNvPr id="20" name="TextBox 20"/>
            <p:cNvSpPr txBox="1"/>
            <p:nvPr/>
          </p:nvSpPr>
          <p:spPr>
            <a:xfrm>
              <a:off x="6277356" y="4225290"/>
              <a:ext cx="4133088" cy="999744"/>
            </a:xfrm>
            <a:prstGeom prst="rect">
              <a:avLst/>
            </a:prstGeom>
            <a:noFill/>
            <a:ln>
              <a:noFill/>
            </a:ln>
          </p:spPr>
          <p:txBody>
            <a:bodyPr wrap="none" lIns="0" tIns="0" rIns="0" bIns="0" anchor="t" anchorCtr="0">
              <a:spAutoFit/>
            </a:bodyPr>
            <a:lstStyle/>
            <a:p>
              <a:pPr algn="l">
                <a:lnSpc>
                  <a:spcPts val="2550"/>
                </a:lnSpc>
              </a:pPr>
              <a:r>
                <a:rPr lang="tr-TR" sz="1800" dirty="0">
                  <a:solidFill>
                    <a:srgbClr val="172B3A"/>
                  </a:solidFill>
                  <a:latin typeface="+mn-lt"/>
                  <a:ea typeface="+mn-ea"/>
                  <a:cs typeface="+mn-cs"/>
                </a:rPr>
                <a:t>İsteği uygun backend ya da statik</a:t>
              </a:r>
              <a:br/>
              <a:r>
                <a:rPr lang="tr-TR" sz="1800" dirty="0">
                  <a:solidFill>
                    <a:srgbClr val="172B3A"/>
                  </a:solidFill>
                  <a:latin typeface="+mn-lt"/>
                  <a:ea typeface="+mn-ea"/>
                  <a:cs typeface="+mn-cs"/>
                </a:rPr>
                <a:t>içerik hizmetine yönlendirir; merkezi</a:t>
              </a:r>
              <a:br/>
              <a:r>
                <a:rPr lang="tr-TR" sz="1800" dirty="0">
                  <a:solidFill>
                    <a:srgbClr val="172B3A"/>
                  </a:solidFill>
                  <a:latin typeface="+mn-lt"/>
                  <a:ea typeface="+mn-ea"/>
                  <a:cs typeface="+mn-cs"/>
                </a:rPr>
                <a:t>güvenlik ve ölçeklenme sağlar.</a:t>
              </a:r>
            </a:p>
          </p:txBody>
        </p:sp>
      </p:grpSp>
      <p:grpSp>
        <p:nvGrpSpPr>
          <p:cNvPr id="24" name="summary-closing"/>
          <p:cNvGrpSpPr/>
          <p:nvPr/>
        </p:nvGrpSpPr>
        <p:grpSpPr>
          <a:xfrm>
            <a:off x="571500" y="5562600"/>
            <a:ext cx="8980728" cy="443484"/>
            <a:chOff x="571500" y="5562600"/>
            <a:chExt cx="8980728" cy="443484"/>
          </a:xfrm>
        </p:grpSpPr>
        <p:sp>
          <p:nvSpPr>
            <p:cNvPr id="22" name="Rectangle 22"/>
            <p:cNvSpPr/>
            <p:nvPr/>
          </p:nvSpPr>
          <p:spPr>
            <a:xfrm>
              <a:off x="571500" y="5562600"/>
              <a:ext cx="57150" cy="381000"/>
            </a:xfrm>
            <a:prstGeom prst="rect">
              <a:avLst/>
            </a:prstGeom>
            <a:solidFill>
              <a:srgbClr val="00A6A6"/>
            </a:solidFill>
            <a:ln>
              <a:noFill/>
            </a:ln>
          </p:spPr>
        </p:sp>
        <p:sp>
          <p:nvSpPr>
            <p:cNvPr id="23" name="TextBox 23"/>
            <p:cNvSpPr txBox="1"/>
            <p:nvPr/>
          </p:nvSpPr>
          <p:spPr>
            <a:xfrm>
              <a:off x="790956" y="5654040"/>
              <a:ext cx="8761272"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Sorumlulukları ayırmak, güvenliği ve birlikte çalışabilirliği mümkün kılar.</a:t>
              </a:r>
            </a:p>
          </p:txBody>
        </p:sp>
      </p:grpSp>
      <p:grpSp>
        <p:nvGrpSpPr>
          <p:cNvPr id="27" name="footer"/>
          <p:cNvGrpSpPr/>
          <p:nvPr/>
        </p:nvGrpSpPr>
        <p:grpSpPr>
          <a:xfrm>
            <a:off x="565404" y="6404610"/>
            <a:ext cx="11061192" cy="234696"/>
            <a:chOff x="565404" y="6404610"/>
            <a:chExt cx="11061192" cy="234696"/>
          </a:xfrm>
        </p:grpSpPr>
        <p:sp>
          <p:nvSpPr>
            <p:cNvPr id="25" name="TextBox 25"/>
            <p:cNvSpPr txBox="1"/>
            <p:nvPr/>
          </p:nvSpPr>
          <p:spPr>
            <a:xfrm>
              <a:off x="565404" y="6404610"/>
              <a:ext cx="496284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Bölüm 1 · Modern Backend Programlamaya Giriş ve Web Mimarisi</a:t>
              </a:r>
            </a:p>
          </p:txBody>
        </p:sp>
        <p:sp>
          <p:nvSpPr>
            <p:cNvPr id="26" name="TextBox 26"/>
            <p:cNvSpPr txBox="1"/>
            <p:nvPr/>
          </p:nvSpPr>
          <p:spPr>
            <a:xfrm>
              <a:off x="11436706" y="640461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22</a:t>
              </a:r>
            </a:p>
          </p:txBody>
        </p:sp>
      </p:gr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9" name="closing-plane"/>
          <p:cNvGrpSpPr/>
          <p:nvPr/>
        </p:nvGrpSpPr>
        <p:grpSpPr>
          <a:xfrm>
            <a:off x="0" y="0"/>
            <a:ext cx="4248150" cy="6858000"/>
            <a:chOff x="0" y="0"/>
            <a:chExt cx="4248150" cy="6858000"/>
          </a:xfrm>
        </p:grpSpPr>
        <p:sp>
          <p:nvSpPr>
            <p:cNvPr id="2" name="Rectangle 2"/>
            <p:cNvSpPr/>
            <p:nvPr/>
          </p:nvSpPr>
          <p:spPr>
            <a:xfrm>
              <a:off x="0" y="0"/>
              <a:ext cx="4191000" cy="6858000"/>
            </a:xfrm>
            <a:prstGeom prst="rect">
              <a:avLst/>
            </a:prstGeom>
            <a:solidFill>
              <a:srgbClr val="12355B"/>
            </a:solidFill>
            <a:ln>
              <a:noFill/>
            </a:ln>
          </p:spPr>
        </p:sp>
        <p:sp>
          <p:nvSpPr>
            <p:cNvPr id="3" name="Rectangle 3"/>
            <p:cNvSpPr/>
            <p:nvPr/>
          </p:nvSpPr>
          <p:spPr>
            <a:xfrm>
              <a:off x="4191000" y="0"/>
              <a:ext cx="57150" cy="6858000"/>
            </a:xfrm>
            <a:prstGeom prst="rect">
              <a:avLst/>
            </a:prstGeom>
            <a:solidFill>
              <a:srgbClr val="00A6A6"/>
            </a:solidFill>
            <a:ln>
              <a:noFill/>
            </a:ln>
          </p:spPr>
        </p:sp>
        <p:sp>
          <p:nvSpPr>
            <p:cNvPr id="4" name="TextBox 4"/>
            <p:cNvSpPr txBox="1"/>
            <p:nvPr/>
          </p:nvSpPr>
          <p:spPr>
            <a:xfrm>
              <a:off x="603504" y="1089660"/>
              <a:ext cx="1258214" cy="234696"/>
            </a:xfrm>
            <a:prstGeom prst="rect">
              <a:avLst/>
            </a:prstGeom>
            <a:noFill/>
            <a:ln>
              <a:noFill/>
            </a:ln>
          </p:spPr>
          <p:txBody>
            <a:bodyPr wrap="none" lIns="0" tIns="0" rIns="0" bIns="0" anchor="t" anchorCtr="0">
              <a:spAutoFit/>
            </a:bodyPr>
            <a:lstStyle/>
            <a:p>
              <a:pPr algn="l"/>
              <a:r>
                <a:rPr lang="tr-TR" sz="1200" dirty="0">
                  <a:solidFill>
                    <a:srgbClr val="B8CBD3"/>
                  </a:solidFill>
                  <a:latin typeface="+mn-lt"/>
                  <a:ea typeface="+mn-ea"/>
                  <a:cs typeface="+mn-cs"/>
                </a:rPr>
                <a:t>SONRAKİ BÖLÜM</a:t>
              </a:r>
            </a:p>
          </p:txBody>
        </p:sp>
        <p:sp>
          <p:nvSpPr>
            <p:cNvPr id="5" name="TextBox 5"/>
            <p:cNvSpPr txBox="1"/>
            <p:nvPr/>
          </p:nvSpPr>
          <p:spPr>
            <a:xfrm>
              <a:off x="598170" y="1433512"/>
              <a:ext cx="372704" cy="440055"/>
            </a:xfrm>
            <a:prstGeom prst="rect">
              <a:avLst/>
            </a:prstGeom>
            <a:noFill/>
            <a:ln>
              <a:noFill/>
            </a:ln>
          </p:spPr>
          <p:txBody>
            <a:bodyPr wrap="none" lIns="0" tIns="0" rIns="0" bIns="0" anchor="t" anchorCtr="0">
              <a:spAutoFit/>
            </a:bodyPr>
            <a:lstStyle/>
            <a:p>
              <a:pPr algn="l"/>
              <a:r>
                <a:rPr lang="tr-TR" sz="2250" b="1" dirty="0">
                  <a:solidFill>
                    <a:srgbClr val="00A6A6"/>
                  </a:solidFill>
                  <a:latin typeface="+mn-lt"/>
                  <a:ea typeface="+mn-ea"/>
                  <a:cs typeface="+mn-cs"/>
                </a:rPr>
                <a:t>02</a:t>
              </a:r>
            </a:p>
          </p:txBody>
        </p:sp>
        <p:sp>
          <p:nvSpPr>
            <p:cNvPr id="6" name="Line 6"/>
            <p:cNvSpPr/>
            <p:nvPr/>
          </p:nvSpPr>
          <p:spPr>
            <a:xfrm>
              <a:off x="609600" y="2019300"/>
              <a:ext cx="1143000" cy="9525"/>
            </a:xfrm>
            <a:custGeom>
              <a:avLst/>
              <a:gdLst/>
              <a:ahLst/>
              <a:cxnLst/>
              <a:rect l="l" t="t" r="r" b="b"/>
              <a:pathLst>
                <a:path w="1143000" h="9525">
                  <a:moveTo>
                    <a:pt x="0" y="0"/>
                  </a:moveTo>
                  <a:lnTo>
                    <a:pt x="1143000" y="0"/>
                  </a:lnTo>
                </a:path>
              </a:pathLst>
            </a:custGeom>
            <a:noFill/>
            <a:ln w="28575">
              <a:solidFill>
                <a:srgbClr val="2E86AB"/>
              </a:solidFill>
            </a:ln>
          </p:spPr>
        </p:sp>
        <p:sp>
          <p:nvSpPr>
            <p:cNvPr id="7" name="TextBox 7"/>
            <p:cNvSpPr txBox="1"/>
            <p:nvPr/>
          </p:nvSpPr>
          <p:spPr>
            <a:xfrm>
              <a:off x="599694" y="2342198"/>
              <a:ext cx="2483929" cy="705231"/>
            </a:xfrm>
            <a:prstGeom prst="rect">
              <a:avLst/>
            </a:prstGeom>
            <a:noFill/>
            <a:ln>
              <a:noFill/>
            </a:ln>
          </p:spPr>
          <p:txBody>
            <a:bodyPr wrap="none" lIns="0" tIns="0" rIns="0" bIns="0" anchor="t" anchorCtr="0">
              <a:spAutoFit/>
            </a:bodyPr>
            <a:lstStyle/>
            <a:p>
              <a:pPr algn="l">
                <a:lnSpc>
                  <a:spcPts val="2550"/>
                </a:lnSpc>
              </a:pPr>
              <a:r>
                <a:rPr lang="tr-TR" sz="1950" dirty="0">
                  <a:solidFill>
                    <a:srgbClr val="EAF4F6"/>
                  </a:solidFill>
                  <a:latin typeface="+mn-lt"/>
                  <a:ea typeface="+mn-ea"/>
                  <a:cs typeface="+mn-cs"/>
                </a:rPr>
                <a:t>Backend için modern</a:t>
              </a:r>
              <a:br/>
              <a:r>
                <a:rPr lang="tr-TR" sz="1950" dirty="0">
                  <a:solidFill>
                    <a:srgbClr val="EAF4F6"/>
                  </a:solidFill>
                  <a:latin typeface="+mn-lt"/>
                  <a:ea typeface="+mn-ea"/>
                  <a:cs typeface="+mn-cs"/>
                </a:rPr>
                <a:t>JavaScript temelleri</a:t>
              </a:r>
            </a:p>
          </p:txBody>
        </p:sp>
        <p:sp>
          <p:nvSpPr>
            <p:cNvPr id="8" name="TextBox 8"/>
            <p:cNvSpPr txBox="1"/>
            <p:nvPr/>
          </p:nvSpPr>
          <p:spPr>
            <a:xfrm>
              <a:off x="601599" y="5735479"/>
              <a:ext cx="2223262" cy="593788"/>
            </a:xfrm>
            <a:prstGeom prst="rect">
              <a:avLst/>
            </a:prstGeom>
            <a:noFill/>
            <a:ln>
              <a:noFill/>
            </a:ln>
          </p:spPr>
          <p:txBody>
            <a:bodyPr wrap="none" lIns="0" tIns="0" rIns="0" bIns="0" anchor="t" anchorCtr="0">
              <a:spAutoFit/>
            </a:bodyPr>
            <a:lstStyle/>
            <a:p>
              <a:pPr algn="l">
                <a:lnSpc>
                  <a:spcPts val="2250"/>
                </a:lnSpc>
              </a:pPr>
              <a:r>
                <a:rPr lang="tr-TR" sz="1580" dirty="0">
                  <a:solidFill>
                    <a:srgbClr val="B8CBD3"/>
                  </a:solidFill>
                  <a:latin typeface="+mn-lt"/>
                  <a:ea typeface="+mn-ea"/>
                  <a:cs typeface="+mn-cs"/>
                </a:rPr>
                <a:t>Modern Sunucu Tabanlı</a:t>
              </a:r>
              <a:br/>
              <a:r>
                <a:rPr lang="tr-TR" sz="1580" dirty="0">
                  <a:solidFill>
                    <a:srgbClr val="B8CBD3"/>
                  </a:solidFill>
                  <a:latin typeface="+mn-lt"/>
                  <a:ea typeface="+mn-ea"/>
                  <a:cs typeface="+mn-cs"/>
                </a:rPr>
                <a:t>Programlama</a:t>
              </a:r>
            </a:p>
          </p:txBody>
        </p:sp>
      </p:grpSp>
      <p:grpSp>
        <p:nvGrpSpPr>
          <p:cNvPr id="23" name="bridge-content"/>
          <p:cNvGrpSpPr/>
          <p:nvPr/>
        </p:nvGrpSpPr>
        <p:grpSpPr>
          <a:xfrm>
            <a:off x="4748022" y="1406842"/>
            <a:ext cx="6872478" cy="4065176"/>
            <a:chOff x="4748022" y="1406842"/>
            <a:chExt cx="6872478" cy="4065176"/>
          </a:xfrm>
        </p:grpSpPr>
        <p:sp>
          <p:nvSpPr>
            <p:cNvPr id="10" name="TextBox 10"/>
            <p:cNvSpPr txBox="1"/>
            <p:nvPr/>
          </p:nvSpPr>
          <p:spPr>
            <a:xfrm>
              <a:off x="4748022" y="1406842"/>
              <a:ext cx="4150951" cy="557403"/>
            </a:xfrm>
            <a:prstGeom prst="rect">
              <a:avLst/>
            </a:prstGeom>
            <a:noFill/>
            <a:ln>
              <a:noFill/>
            </a:ln>
          </p:spPr>
          <p:txBody>
            <a:bodyPr wrap="none" lIns="0" tIns="0" rIns="0" bIns="0" anchor="t" anchorCtr="0">
              <a:spAutoFit/>
            </a:bodyPr>
            <a:lstStyle/>
            <a:p>
              <a:pPr algn="l"/>
              <a:r>
                <a:rPr lang="tr-TR" sz="2850" b="1" dirty="0">
                  <a:solidFill>
                    <a:srgbClr val="12355B"/>
                  </a:solidFill>
                  <a:latin typeface="+mj-lt"/>
                  <a:ea typeface="+mj-ea"/>
                  <a:cs typeface="+mj-cs"/>
                </a:rPr>
                <a:t>Sonraki bölüme köprü</a:t>
              </a:r>
            </a:p>
          </p:txBody>
        </p:sp>
        <p:grpSp>
          <p:nvGrpSpPr>
            <p:cNvPr id="15" name="bridge-bullets"/>
            <p:cNvGrpSpPr/>
            <p:nvPr/>
          </p:nvGrpSpPr>
          <p:grpSpPr>
            <a:xfrm>
              <a:off x="4762500" y="2305050"/>
              <a:ext cx="76200" cy="1276350"/>
              <a:chOff x="4762500" y="2305050"/>
              <a:chExt cx="76200" cy="1276350"/>
            </a:xfrm>
          </p:grpSpPr>
          <p:sp>
            <p:nvSpPr>
              <p:cNvPr id="11" name="Rectangle 11"/>
              <p:cNvSpPr/>
              <p:nvPr/>
            </p:nvSpPr>
            <p:spPr>
              <a:xfrm>
                <a:off x="4762500" y="2305050"/>
                <a:ext cx="76200" cy="76200"/>
              </a:xfrm>
              <a:prstGeom prst="rect">
                <a:avLst/>
              </a:prstGeom>
              <a:solidFill>
                <a:srgbClr val="00A6A6"/>
              </a:solidFill>
              <a:ln>
                <a:noFill/>
              </a:ln>
            </p:spPr>
          </p:sp>
          <p:sp>
            <p:nvSpPr>
              <p:cNvPr id="12" name="Rectangle 12"/>
              <p:cNvSpPr/>
              <p:nvPr/>
            </p:nvSpPr>
            <p:spPr>
              <a:xfrm>
                <a:off x="4762500" y="2705100"/>
                <a:ext cx="76200" cy="76200"/>
              </a:xfrm>
              <a:prstGeom prst="rect">
                <a:avLst/>
              </a:prstGeom>
              <a:solidFill>
                <a:srgbClr val="00A6A6"/>
              </a:solidFill>
              <a:ln>
                <a:noFill/>
              </a:ln>
            </p:spPr>
          </p:sp>
          <p:sp>
            <p:nvSpPr>
              <p:cNvPr id="13" name="Rectangle 13"/>
              <p:cNvSpPr/>
              <p:nvPr/>
            </p:nvSpPr>
            <p:spPr>
              <a:xfrm>
                <a:off x="4762500" y="3105150"/>
                <a:ext cx="76200" cy="76200"/>
              </a:xfrm>
              <a:prstGeom prst="rect">
                <a:avLst/>
              </a:prstGeom>
              <a:solidFill>
                <a:srgbClr val="00A6A6"/>
              </a:solidFill>
              <a:ln>
                <a:noFill/>
              </a:ln>
            </p:spPr>
          </p:sp>
          <p:sp>
            <p:nvSpPr>
              <p:cNvPr id="14" name="Rectangle 14"/>
              <p:cNvSpPr/>
              <p:nvPr/>
            </p:nvSpPr>
            <p:spPr>
              <a:xfrm>
                <a:off x="4762500" y="3505200"/>
                <a:ext cx="76200" cy="76200"/>
              </a:xfrm>
              <a:prstGeom prst="rect">
                <a:avLst/>
              </a:prstGeom>
              <a:solidFill>
                <a:srgbClr val="00A6A6"/>
              </a:solidFill>
              <a:ln>
                <a:noFill/>
              </a:ln>
            </p:spPr>
          </p:sp>
        </p:grpSp>
        <p:sp>
          <p:nvSpPr>
            <p:cNvPr id="16" name="TextBox 16"/>
            <p:cNvSpPr txBox="1"/>
            <p:nvPr/>
          </p:nvSpPr>
          <p:spPr>
            <a:xfrm>
              <a:off x="4981956" y="2186940"/>
              <a:ext cx="5064923"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modern JavaScript ve TypeScript sözdizimi</a:t>
              </a:r>
            </a:p>
          </p:txBody>
        </p:sp>
        <p:sp>
          <p:nvSpPr>
            <p:cNvPr id="17" name="TextBox 17"/>
            <p:cNvSpPr txBox="1"/>
            <p:nvPr/>
          </p:nvSpPr>
          <p:spPr>
            <a:xfrm>
              <a:off x="4981956" y="2586990"/>
              <a:ext cx="5429778"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Promise ve async/await ile eşzamanlı işlemler</a:t>
              </a:r>
            </a:p>
          </p:txBody>
        </p:sp>
        <p:sp>
          <p:nvSpPr>
            <p:cNvPr id="18" name="TextBox 18"/>
            <p:cNvSpPr txBox="1"/>
            <p:nvPr/>
          </p:nvSpPr>
          <p:spPr>
            <a:xfrm>
              <a:off x="4981956" y="2987040"/>
              <a:ext cx="5046345"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hataların çağrı zinciri boyunca taşınması</a:t>
              </a:r>
            </a:p>
          </p:txBody>
        </p:sp>
        <p:sp>
          <p:nvSpPr>
            <p:cNvPr id="19" name="TextBox 19"/>
            <p:cNvSpPr txBox="1"/>
            <p:nvPr/>
          </p:nvSpPr>
          <p:spPr>
            <a:xfrm>
              <a:off x="4981956" y="3387090"/>
              <a:ext cx="5603672"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servis, veri erişimi ve uygulama girişi modülleri</a:t>
              </a:r>
            </a:p>
          </p:txBody>
        </p:sp>
        <p:sp>
          <p:nvSpPr>
            <p:cNvPr id="20" name="Line 20"/>
            <p:cNvSpPr/>
            <p:nvPr/>
          </p:nvSpPr>
          <p:spPr>
            <a:xfrm>
              <a:off x="4762500" y="4000500"/>
              <a:ext cx="6858000" cy="9525"/>
            </a:xfrm>
            <a:custGeom>
              <a:avLst/>
              <a:gdLst/>
              <a:ahLst/>
              <a:cxnLst/>
              <a:rect l="l" t="t" r="r" b="b"/>
              <a:pathLst>
                <a:path w="6858000" h="9525">
                  <a:moveTo>
                    <a:pt x="0" y="0"/>
                  </a:moveTo>
                  <a:lnTo>
                    <a:pt x="6858000" y="0"/>
                  </a:lnTo>
                </a:path>
              </a:pathLst>
            </a:custGeom>
            <a:noFill/>
            <a:ln w="9525">
              <a:solidFill>
                <a:srgbClr val="B8CBD3"/>
              </a:solidFill>
            </a:ln>
          </p:spPr>
        </p:sp>
        <p:sp>
          <p:nvSpPr>
            <p:cNvPr id="21" name="TextBox 21"/>
            <p:cNvSpPr txBox="1"/>
            <p:nvPr/>
          </p:nvSpPr>
          <p:spPr>
            <a:xfrm>
              <a:off x="4754499" y="4211479"/>
              <a:ext cx="6477254" cy="841438"/>
            </a:xfrm>
            <a:prstGeom prst="rect">
              <a:avLst/>
            </a:prstGeom>
            <a:noFill/>
            <a:ln>
              <a:noFill/>
            </a:ln>
          </p:spPr>
          <p:txBody>
            <a:bodyPr wrap="none" lIns="0" tIns="0" rIns="0" bIns="0" anchor="t" anchorCtr="0">
              <a:spAutoFit/>
            </a:bodyPr>
            <a:lstStyle/>
            <a:p>
              <a:pPr algn="l">
                <a:lnSpc>
                  <a:spcPts val="2100"/>
                </a:lnSpc>
              </a:pPr>
              <a:r>
                <a:rPr lang="tr-TR" sz="1580" dirty="0">
                  <a:solidFill>
                    <a:srgbClr val="52616B"/>
                  </a:solidFill>
                  <a:latin typeface="+mn-lt"/>
                  <a:ea typeface="+mn-ea"/>
                  <a:cs typeface="+mn-cs"/>
                </a:rPr>
                <a:t>NotYonetimServisi’nin tek dosyada ve eşzamansız işlem içermeden</a:t>
              </a:r>
              <a:br/>
              <a:r>
                <a:rPr lang="tr-TR" sz="1580" dirty="0">
                  <a:solidFill>
                    <a:srgbClr val="52616B"/>
                  </a:solidFill>
                  <a:latin typeface="+mn-lt"/>
                  <a:ea typeface="+mn-ea"/>
                  <a:cs typeface="+mn-cs"/>
                </a:rPr>
                <a:t>yazılabilmesi bir basitleştirmedir; gerçek backend’de not</a:t>
              </a:r>
              <a:br/>
              <a:r>
                <a:rPr lang="tr-TR" sz="1580" dirty="0">
                  <a:solidFill>
                    <a:srgbClr val="52616B"/>
                  </a:solidFill>
                  <a:latin typeface="+mn-lt"/>
                  <a:ea typeface="+mn-ea"/>
                  <a:cs typeface="+mn-cs"/>
                </a:rPr>
                <a:t>kaydı bir veritabanı çağrısıdır ve beklemeyi yönetmek gerekir.</a:t>
              </a:r>
            </a:p>
          </p:txBody>
        </p:sp>
        <p:sp>
          <p:nvSpPr>
            <p:cNvPr id="22" name="TextBox 22"/>
            <p:cNvSpPr txBox="1"/>
            <p:nvPr/>
          </p:nvSpPr>
          <p:spPr>
            <a:xfrm>
              <a:off x="4754499" y="5163979"/>
              <a:ext cx="6689201"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Uç nokta tasarımı ve hata yanıtları Bölüm 5 ve 6’da ele alınır.</a:t>
              </a:r>
            </a:p>
          </p:txBody>
        </p:sp>
      </p:grpSp>
      <p:grpSp>
        <p:nvGrpSpPr>
          <p:cNvPr id="26" name="footer"/>
          <p:cNvGrpSpPr/>
          <p:nvPr/>
        </p:nvGrpSpPr>
        <p:grpSpPr>
          <a:xfrm>
            <a:off x="4756404" y="6404610"/>
            <a:ext cx="6870192" cy="234696"/>
            <a:chOff x="4756404" y="6404610"/>
            <a:chExt cx="6870192" cy="234696"/>
          </a:xfrm>
        </p:grpSpPr>
        <p:sp>
          <p:nvSpPr>
            <p:cNvPr id="24" name="TextBox 24"/>
            <p:cNvSpPr txBox="1"/>
            <p:nvPr/>
          </p:nvSpPr>
          <p:spPr>
            <a:xfrm>
              <a:off x="4756404" y="6404610"/>
              <a:ext cx="496284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Bölüm 1 · Modern Backend Programlamaya Giriş ve Web Mimarisi</a:t>
              </a:r>
            </a:p>
          </p:txBody>
        </p:sp>
        <p:sp>
          <p:nvSpPr>
            <p:cNvPr id="25" name="TextBox 25"/>
            <p:cNvSpPr txBox="1"/>
            <p:nvPr/>
          </p:nvSpPr>
          <p:spPr>
            <a:xfrm>
              <a:off x="11436706" y="640461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23</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b01-modern-backend-web-mimarisi-20260915">
  <a:themeElements>
    <a:clrScheme name="b01-modern-backend-web-mimarisi-20260915">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01-modern-backend-web-mimarisi-20260915">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01-modern-backend-web-mimarisi-2026091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b01-modern-backend-web-mimarisi-20260915">
  <a:themeElements>
    <a:clrScheme name="b01-modern-backend-web-mimarisi-20260915">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01-modern-backend-web-mimarisi-20260915">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01-modern-backend-web-mimarisi-2026091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23</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tr-TR</dc:language>
  <cp:lastModifiedBy/>
  <cp:revision>1</cp:revision>
  <dcterms:created xsi:type="dcterms:W3CDTF">2026-09-19T21:22:20Z</dcterms:created>
  <dcterms:modified xsi:type="dcterms:W3CDTF">2026-09-19T21:22:20Z</dcterms:modified>
  <cp:category/>
  <cp:contentStatus/>
</cp:coreProperties>
</file>