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33"/>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Lst>
  <p:sldSz cx="12192000" cy="6858000" type="screen16x9"/>
  <p:notesSz cx="6858000" cy="9144000"/>
  <p:defaultTextStyle>
    <a:defPPr>
      <a:defRPr lang="tr-TR"/>
    </a:defPPr>
    <a:lvl1pPr marL="0" algn="l" defTabSz="457200" rtl="0" eaLnBrk="1" latinLnBrk="0" hangingPunct="1">
      <a:defRPr sz="1800" kern="1200" lang="tr-TR">
        <a:solidFill>
          <a:schemeClr val="tx1"/>
        </a:solidFill>
        <a:latin typeface="+mn-lt"/>
        <a:ea typeface="+mn-ea"/>
        <a:cs typeface="+mn-cs"/>
      </a:defRPr>
    </a:lvl1pPr>
    <a:lvl2pPr marL="457200" algn="l" defTabSz="457200" rtl="0" eaLnBrk="1" latinLnBrk="0" hangingPunct="1">
      <a:defRPr sz="1800" kern="1200" lang="tr-TR">
        <a:solidFill>
          <a:schemeClr val="tx1"/>
        </a:solidFill>
        <a:latin typeface="+mn-lt"/>
        <a:ea typeface="+mn-ea"/>
        <a:cs typeface="+mn-cs"/>
      </a:defRPr>
    </a:lvl2pPr>
    <a:lvl3pPr marL="914400" algn="l" defTabSz="457200" rtl="0" eaLnBrk="1" latinLnBrk="0" hangingPunct="1">
      <a:defRPr sz="1800" kern="1200" lang="tr-TR">
        <a:solidFill>
          <a:schemeClr val="tx1"/>
        </a:solidFill>
        <a:latin typeface="+mn-lt"/>
        <a:ea typeface="+mn-ea"/>
        <a:cs typeface="+mn-cs"/>
      </a:defRPr>
    </a:lvl3pPr>
    <a:lvl4pPr marL="1371600" algn="l" defTabSz="457200" rtl="0" eaLnBrk="1" latinLnBrk="0" hangingPunct="1">
      <a:defRPr sz="1800" kern="1200" lang="tr-TR">
        <a:solidFill>
          <a:schemeClr val="tx1"/>
        </a:solidFill>
        <a:latin typeface="+mn-lt"/>
        <a:ea typeface="+mn-ea"/>
        <a:cs typeface="+mn-cs"/>
      </a:defRPr>
    </a:lvl4pPr>
    <a:lvl5pPr marL="1828800" algn="l" defTabSz="457200" rtl="0" eaLnBrk="1" latinLnBrk="0" hangingPunct="1">
      <a:defRPr sz="1800" kern="1200" lang="tr-TR">
        <a:solidFill>
          <a:schemeClr val="tx1"/>
        </a:solidFill>
        <a:latin typeface="+mn-lt"/>
        <a:ea typeface="+mn-ea"/>
        <a:cs typeface="+mn-cs"/>
      </a:defRPr>
    </a:lvl5pPr>
    <a:lvl6pPr marL="2286000" algn="l" defTabSz="457200" rtl="0" eaLnBrk="1" latinLnBrk="0" hangingPunct="1">
      <a:defRPr sz="1800" kern="1200" lang="tr-TR">
        <a:solidFill>
          <a:schemeClr val="tx1"/>
        </a:solidFill>
        <a:latin typeface="+mn-lt"/>
        <a:ea typeface="+mn-ea"/>
        <a:cs typeface="+mn-cs"/>
      </a:defRPr>
    </a:lvl6pPr>
    <a:lvl7pPr marL="2743200" algn="l" defTabSz="457200" rtl="0" eaLnBrk="1" latinLnBrk="0" hangingPunct="1">
      <a:defRPr sz="1800" kern="1200" lang="tr-TR">
        <a:solidFill>
          <a:schemeClr val="tx1"/>
        </a:solidFill>
        <a:latin typeface="+mn-lt"/>
        <a:ea typeface="+mn-ea"/>
        <a:cs typeface="+mn-cs"/>
      </a:defRPr>
    </a:lvl7pPr>
    <a:lvl8pPr marL="3200400" algn="l" defTabSz="457200" rtl="0" eaLnBrk="1" latinLnBrk="0" hangingPunct="1">
      <a:defRPr sz="1800" kern="1200" lang="tr-TR">
        <a:solidFill>
          <a:schemeClr val="tx1"/>
        </a:solidFill>
        <a:latin typeface="+mn-lt"/>
        <a:ea typeface="+mn-ea"/>
        <a:cs typeface="+mn-cs"/>
      </a:defRPr>
    </a:lvl8pPr>
    <a:lvl9pPr marL="3657600" algn="l" defTabSz="457200" rtl="0" eaLnBrk="1" latinLnBrk="0" hangingPunct="1">
      <a:defRPr sz="1800" kern="1200" lang="tr-TR">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  <Relationship Id="rId33"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tr-TR"/>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tr-TR"/>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tr-TR"/>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tr-TR"/>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tr-TR"/>
          </a:p>
        </p:txBody>
      </p:sp>
    </p:spTree>
  </p:cSld>
  <p:clrMap bg1="lt1" tx1="dk1" bg2="lt2" tx2="dk2" accent1="accent1" accent2="accent2" accent3="accent3" accent4="accent4" accent5="accent5" accent6="accent6" hlink="hlink" folHlink="folHlink"/>
  <p:hf/>
  <p:notesStyle>
    <a:lvl1pPr marL="0" algn="l">
      <a:defRPr sz="1200" lang="tr-TR"/>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bölüm, önceki bölümlerde bellekte tutulan verinin artık uygulama kapandığında kaybolmayacağı bir katmana taşınmasını ele alır: PostgreSQL üzerinde ilişkisel veri modelleme ve SQL ile bu veriyi güvenle işleme. E. F. Codd'un 1970'te yayımladığı "A Relational Model of Data for Large Shared Data Banks" makalesiyle başlayan ilişkisel model, bugün hâlâ kurumsal yazılımların omurgasıdır; Michael Stonebraker'ın 1986'da UC Berkeley'de başlattığı POSTGRES projesi de bu mirası genişletilebilir, açık kaynaklı bir motora dönüştürmüştür. Öğrenciler bu bölümde salt sözdizimini değil, verinin neden kalıcı, tutarlı ve eşzamanlı erişime güvenli olması gerektiğinin kuramsal temelini görecektir.</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Bölüm, birbirinin üzerine inşa edilen yedi büyük kavram etrafında ilerler: önce PostgreSQL'e bağlanma ve bağlantı havuzu yönetimi, ardından SQL ile CRUD, ilişkisel bütünlük için birincil ve yabancı anahtarlar, tabloları birleştiren JOIN türleri, veri kurallarını zorlayan kısıtlar, sorgu performansını belirleyen indeksler ve son olarak birden fazla adımı güvenceye alan transaction'lar. Bu sıralama tesadüfi değildir; her kavram bir öncekinin doğurduğu ihtiyaçtan doğar, örneğin FK'ler JOIN'i anlamlı kılar, JOIN'ler ise yalnızca doğru indekslerle ölçeklenebilir hale gelir. Yol haritası, öğrencinin bölüm boyunca "neden bu sırayla öğreniyorum" sorusuna kendi kendine cevap verebilmesi için tasarlanmıştır.</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Bölümün hedefleri, salt "SQL yazabilmek" ile sınırlı değildir; bir bağlantı havuzunun neden tek bir istemciden farklı davrandığını, bir FOREIGN KEY'in hangi hatayı engelleyip hangisini engellemediğini ve bir transaction'ın ACID ilkeleriyle nasıl ya hep ya hiç garantisi verdiğini kavramsal olarak açıklayabilmeyi kapsar. Bu hedefler, bölümün sonundaki öz değerlendirme sorularıyla ve hata ayıklama alıştırmasıyla doğrudan eşleşir; örneğin çoktan seçmeli sorular kavramsal ayrımları, hata bulma alıştırması ise bu kavramların kodda nasıl yanlış uygulanabileceğini sınar. Öğrenci bu sayfayı bölüm sonunda tekrar okuduğunda, her hedefin somut bir kod örneğiyle karşılandığını görmelidir.</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Kavram haritası, bölümün yedi ana bileşeninin birbirine nasıl bağlandığını gösterir: PostgreSQL bağlantısı SQL sorgularını taşır, SQL CRUD işlemleri PK/FK ile tanımlanan ilişkisel yapı üzerinde çalışır, JOIN bu ilişkileri birleştirir, constraint ve index bu işlemlerin doğruluğunu ve hızını garanti eder, transaction ise tüm bunları tek bir güvenli birim haline getirir. Bu harita, bölümün doğrusal bir liste değil, birbirine bağımlı bir sistem sunduğunu görsel olarak vurgular; bir öğrenci yalnızca JOIN sözdizimini ezberlerse ama PK/FK ilişkisini kavramazsa, kartezyen çarpım gibi hatalara düşmeye devam eder. Harita, sonraki sayfalarda her bir düğümün ayrı ayrı derinlemesine işleneceğinin bir önizlemesidir.</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matris, bölümdeki her kavramın "hangi sorumluluğu üstlendiğini" ve "hangi sorumluluğu üstlenmediğini" net biçimde ayırır; örneğin bir FOREIGN KEY yalnızca referans bütünlüğünü garanti eder, iş kurallarını değil. Bu ayrım, bölümün ileride ele alacağı kavram yanılgıları sayfasının temelini oluşturur ve öğrencinin "veritabanı her şeyi otomatik çözer" gibi yaygın bir yanlış inanca kapılmasını en baştan engellemeyi amaçlar. Matris aynı zamanda mimari tasarım kararlarında hangi kontrolün veritabanı katmanına, hangisinin uygulama katmanına ait olduğunu ayırt etme pratiği kazandırır — bu, Bölüm 8'de ele alınacak API katmanı tasarımı için de doğrudan bir ön hazırlıktır.</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PostgreSQL, Stonebraker'ın Berkeley'deki POSTGRES projesinin devamı olarak, ilişkisel modeli genişletilebilir tip sistemi ve güçlü eşzamanlılık denetimiyle birleştirir; bu sayfa, veritabanının neden "kalıcı ve paylaşılan" bir veri deposu olarak konumlandığını açıklar. Bellek içi veri yapılarının aksine, PostgreSQL'e yazılan bir satır süreç yeniden başlatıldığında da, başka bir istemci tarafından da erişilebilir kalır; bu, çok kullanıcılı web uygulamalarının temel önkoşuludur. Veritabanı simgesiyle vurgulanan bu kalıcılık ilkesi, bölümün geri kalanındaki her kavramın (bağlantı, CRUD, transaction) üzerine inşa edildiği zemindir.</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Bir uygulamanın her istekte yeni bir TCP bağlantısı açıp kapatması ciddi bir performans maliyeti taşır; bağlantı havuzu (pool), önceden açılmış birden fazla bağlantıyı saklayarak eşzamanlı isteklerin bu bağlantıları paylaşmasını sağlar. Saat simgesiyle vurgulanan zaman boyutu önemlidir: havuzsuz bir mimaride her istek bağlantı kurma gecikmesini tekrar öder, oysa havuzlu mimaride bu maliyet yalnızca havuz ilk oluşturulduğunda ödenir. Bu sayfa aynı zamanda tek seferlik Client kullanımıyla eşzamanlı isteklerde kullanılan Pool arasındaki farkı netleştirir; bu fark, ileride 23. sayfada ele alınacak "Pool.query() her zaman aynı bağlantıyı kullanır" yanılgısının da temelini oluşturur.</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Donald Chamberlin ve Raymond Boyce'un 1974'te tasarladığı SEQUEL, bugünkü SQL'in doğrudan atasıdır ve ilişkisel verinin tanımlanması ile sorgulanması için ortak bir dil sunma ihtiyacından doğmuştur; bu ihtiyaç olmasaydı, her uygulama kendi veritabanı motoruna özgü erişim kodu yazmak zorunda kalır ve taşınabilirlik tamamen ortadan kalkardı. CREATE, READ, UPDATE, DELETE döngüsü, bir verinin hayata INSERT ile başlayıp SELECT ile sorgulanmasını, UPDATE ile değişmesini ve DELETE ile kalıcı olarak silinmesini kapsar; bu dört adım sırasıyla DML ve DQL komut ailelerine ayrılır. WHERE koşulu unutulan bir UPDATE veya DELETE'in tüm tabloyu etkileyebilmesi, bu bölümde defalarca vurgulanan ve bir sonraki sayfada parametreli sorgularla çözülecek olan kritik bir risktir.</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CRUD işlemlerinin gerçek koddaki karşılığı, kullanıcıdan gelen değerlerin sorgu metnine doğrudan eklenmesi değil, $1 ve $2 gibi parametre yer tutucularıyla ayrı olarak gönderilmesidir; bu yaklaşım, SQL enjeksiyonunu mimari olarak imkânsız hale getirir çünkü kullanıcı girdisi hiçbir zaman sorgunun sözdizimsel bir parçası olarak yorumlanmaz. Bu, bölümün ileride kavram yanılgıları sayfasında ele alacağı "string birleştirmeyle SQL oluşturma" anti-pattern'ının doğrudan panzehiridir ve kaynak metindeki güvenlik tartışmasının pratikteki karşılığıdır. Parametreli sorgular aynı zamanda PostgreSQL'in sorgu planlayıcısının aynı sorgu şeklini tekrar tekrar optimize etmek zorunda kalmamasını sağlayarak performansa da katkıda bulunur.</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Birincil anahtar (PRIMARY KEY), bir tablodaki her satırı benzersiz biçimde tanımlayan sütun veya sütun kümesidir ve NULL değer alamaz; yabancı anahtar (FOREIGN KEY) ise bir tablodaki bir sütunun başka bir tablonun birincil anahtarına referans vermesini zorunlu kılarak iki tablo arasında referans bütünlüğü kurar. Bu ikili, ilişkisel modelin Codd'un 1970 makalesinden bu yana temel taşıdır: veriyi tekrar tekrar yazmak yerine ilişkiler aracılığıyla bağlamak, hem depolama verimliliğini hem de tutarlılığı garanti eder. Bir sonraki sayfada somutlaşacak kütüphane örneğinde, yazar ve kitap tabloları arasındaki bu ilişki, bölümün geri kalanındaki tüm JOIN örneklerinin temelini oluşturacaktır.</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Kütüphane senaryosundaki varlık-ilişki diyagramı, yazar, kitap, üye ve ödünç tablolarının birbirine nasıl bağlandığını somut olarak gösterir; kitap tablosundaki bir yabancı anahtar yazar tablosuna, ödünç tablosundaki iki yabancı anahtar ise hem kitaba hem üyeye işaret eder. Bu diyagram, soyut PK/FK tanımının gerçek bir uygulamada nasıl bir şemaya dönüştüğünü gösterdiği için derste doğrudan referans alınabilecek bir çalışma örneğidir; öğrenciler ödünç tablosunun neden ayrı bir "ilişki tablosu" olarak modellendiğini (çoka-çok ilişkinin çözümü olarak) burada görür. Bu şema, bölümün ilerleyen sayfalarındaki JOIN örnekleri, hata ayıklama alıştırması ve uçtan uca mini uygulamanın tamamında aynı tablo adlarıyla tekrar kullanılır.</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Yabancı anahtar tanımlarken yapılan en yaygın tasarım hataları arasında referans edilen sütunun birincil anahtar veya UNIQUE olmaması, veri tipi uyumsuzluğu ve ON DELETE davranışının hiç düşünülmemesi yer alır; bu sonuncusu özellikle tehlikelidir çünkü bir yazar silindiğinde kitaplarına ne olacağı (CASCADE, RESTRICT, SET NULL) açıkça belirtilmezse veritabanı motoru varsayılan davranışa (RESTRICT) düşer ve beklenmedik hatalar ortaya çıkar. Bu sayfa, kaynak metindeki "yaygın hatalar" bölümünün FK'ye özgü kısmını somutlaştırır ve öğrencinin bir şema tasarlarken yalnızca "hangi tablo hangi tabloya bağlanıyor" değil, "silme ve güncelleme zincirleme etkisi ne olmalı" sorusunu da sorması gerektiğini vurgular. Bu tasarım disiplini, ileride transaction bölümünde ele alınacak çok adımlı işlemlerin güvenilirliğiyle de doğrudan ilişkilidir.</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Her tablo doğal olarak bir birincil anahtara ihtiyaç duymaz gibi görünse de, PostgreSQL'de pratikte neredeyse her tabloda yapay bir PK (genellikle otomatik artan bir tam sayı veya UUID) tanımlamak, satırların benzersiz biçimde referans edilebilmesi için tercih edilir; doğal anahtarlar (örneğin e-posta adresi) zamanla değişebileceğinden FK ilişkilerinde kırılgan bir temel oluşturur. Bu sayfa, PK/FK kullanımının "her zaman zorunlu" değil "ne zaman tercih edilmeli" sorusuna kaynak metindeki alternatifler tablosu üzerinden cevap verir; örneğin çok küçük, hiç ilişkilenmeyecek referans tabloları için bu disiplin gevşetilebilir. Bu tercih mantığı, öğrencinin ileride kendi şemalarını tasarlarken kural ezberlemek yerine gerekçeli karar verebilmesini hedefler.</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İlişkisel model, veriyi kasıtlı olarak birden fazla tabloya böler (normalizasyon); ancak bir raporun veya ekranın anlamlı olması için bu parçalanmış verinin tekrar bir araya getirilmesi gerekir, bu da JOIN'in var olma nedenidir. Bir yazarın kitaplarını listelemek için yazar ve kitap tablolarını FK üzerinden birleştirmek, veriyi tekrar tekrar kopyalamadan ilişkisel bütünlüğü koruyarak sorgulamanın tek yoludur. Bu sayfa, JOIN'i soyut bir sözdizimi kuralı olarak değil, normalizasyonun doğal sonucu olan bir ihtiyaç olarak çerçeveler; bir sonraki sayfada bu ihtiyacın farklı JOIN türleriyle nasıl karşılandığı karşılaştırmalı olarak işlenir.</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INNER JOIN yalnızca her iki tabloda da eşleşen satırları döndürürken, LEFT JOIN sol tablodaki tüm satırları, sağ tabloda eşleşme olmasa bile korur ve eşleşmeyen alanları NULL ile doldurur; bu fark, örneğin "hiç kitabı olmayan yazarları da listeleme" gibi bir iş gereksinimini karşılayıp karşılamama arasındaki farktır. Yanlış JOIN türü seçimi, veri kaybı gibi görünmeyen ama raporun eksik olmasına yol açan sessiz bir hatadır; bu yüzden bir sorgu yazarken önce "eşleşmeyen satırlar da sonuçta görünmeli mi" sorusunun sorulması gerekir. Bir sonraki sayfa, bu karara RIGHT JOIN ve FULL OUTER JOIN alternatiflerini ve JOIN'in en tehlikeli yan etkisi olan kartezyen çarpımı ekleyerek tabloyu tamamlar.</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RIGHT JOIN, PostgreSQL'de nadiren tercih edilir çünkü aynı sonucu tablo sırası değiştirilmiş bir LEFT JOIN ile daha okunaklı biçimde elde etmek mümkündür; FULL OUTER JOIN ise iki tablonun eşleşen ve eşleşmeyen tüm satırlarının bir arada görünmesi gereken uzlaştırma raporlarında kullanılır. Kod 7.15–7.16'da gösterilen kartezyen çarpım hatası, ON koşulu unutulduğunda veya tablolar virgülle ayrılarak yazıldığında ortaya çıkar; üç yazar ile beş kitabın çarpılıp on beş satır üretmesi gibi, sonuç kümesi anlamsız biçimde katlanarak büyür. Bu, kaynak metindeki en sık karşılaşılan JOIN hatasıdır ve öğrencinin bir sorgudan beklenenden fazla satır döndüğünde ilk kontrol etmesi gereken şey haline getirilmelidir.</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Kısıtlar (constraint), veritabanının kendisinin hangi verilerin geçerli sayılacağını zorunlu kılmasını sağlar: NOT NULL bir alanın boş bırakılamayacağını, UNIQUE bir değerin tabloda yalnızca bir kez görünebileceğini, CHECK bir alanın belirli bir koşulu sağlaması gerektiğini, FOREIGN KEY ise referans bütünlüğünü garanti eder. Bu kısıtların önemi, uygulama kodundaki doğrulamanın atlanabilir veya hatalı yazılabilir olmasına karşılık, veritabanı düzeyindeki kısıtın her zaman devrede kalmasıdır — birden fazla uygulama veya servis aynı veritabanına yazsa bile. Bu ilke, ileride kavram yanılgıları sayfasında ele alınacak "FK iş kuralını da denetler" yanılgısının tersini, yani "kısıtların hangi düzeyde hangi garantiyi verdiğini" doğru sınırlarıyla tanımlar.</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Kısıtları kodda uygularken yapılan yaygın hatalar arasında bir CHECK kısıtının uygulama katmanındaki doğrulamayla aynı kuralı tekrarlamaması (ikisi arasında tutarsızlık oluşması), UNIQUE kısıtı ihlal edildiğinde fırlatılan veritabanı hatasının kullanıcıya anlamlı bir mesaja çevrilmeden sızdırılması ve NOT NULL eksikliği yüzünden geç fark edilen boş alan hataları yer alır. Bu sayfa, kaynak metindeki "yaygın hatalar" bölümünün constraint'e özgü örneklerini yanlış/doğru kod çiftleri üzerinden gösterir ve öğrencinin veritabanı hatasını yakalayıp anlamlı bir uygulama hatasına dönüştürmesi gerektiğini vurgular. Bu disiplin, Bölüm 8'de ele alınacak API katmanının hata işleme stratejisiyle doğrudan bağlantılıdır.</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Bir indeks, PostgreSQL'in varsayılan olarak kullandığı B-Tree veri yapısı sayesinde, bir sütunda arama yapılırken tüm tabloyu taramak yerine sıralı bir ağaç yapısında logaritmik zamanda arama yapılmasını sağlar; bu yapı Rudolf Bayer ve Edward McCreight'ın 1972'de yayımladığı makaleyle temellenir. Kilit simgesiyle değil kilit simgesi burada değil ama hız kavramıyla vurgulanan bu erişim avantajı, yalnızca sık sorgulanan (WHERE, JOIN, ORDER BY'da kullanılan) sütunlarda anlamlıdır; aksi halde indeks yalnızca ekstra depolama ve yazma maliyeti getirir. Bu denge, bir sonraki sayfada EXPLAIN ANALYZE ile nasıl ölçüleceği ve 23. sayfada "her sütuna indeks eklemek her zaman hızlandırır" yanılgısıyla nasıl çürütüleceği ile tamamlanır.</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Bir indeksin gerçekten fayda sağlayıp sağlamadığı varsayımla değil, EXPLAIN ANALYZE komutunun ürettiği gerçek sorgu planıyla ölçülmelidir; bu komut, PostgreSQL'in sorguyu nasıl çalıştırdığını (sıralı tarama mı yoksa indeks taraması mı kullandığını) ve bunun gerçek süresini gösterir. CREATE INDEX ile bir indeks eklemek tek satırlık bir komut gibi görünse de, hangi sütuna, hangi sırayla ve hangi sorgu kalıbı için ekleneceği kararı dikkatli bir performans analizi gerektirir. Bu sayfa, öğrencinin indeks eklemeyi bir refleks değil, ölçüme dayalı bir mühendislik kararı olarak görmesini hedefler; bu yaklaşım, gerçek üretim veritabanlarında performans sorunlarının teşhis edilme biçimiyle birebir örtüşür.</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Bir transaction, birden fazla SQL komutunun tek bir bölünmez birim olarak ya tamamen uygulanmasını ya da hiç uygulanmamasını garanti eder; bu ilke Jim Gray'in 1981'de yayımladığı "The Transaction Concept" makalesiyle biçimlendirilmiş, ACID kısaltması ise Theo Härder ve Andreas Reuter'in 1983'teki makalesiyle adlandırılmıştır. Kilit simgesiyle vurgulanan bu güvenlik, örneğin bir kitap ödünç verme işleminde hem stok sayısının azaltılması hem de ödünç kaydının oluşturulması gerektiğinde, ikisinden yalnızca biri başarılı olup diğeri başarısız olursa veritabanının tutarsız bir durumda kalmasını engeller. MVCC (çok sürümlü eşzamanlılık denetimi) kavramı ise David Reed'in 1978 MIT tezine dayanır ve PostgreSQL'in bir transaction içindeki değişikliklerin COMMIT'e kadar yalnızca o bağlantıya görünür kalmasını sağlayan mekanizmasıdır; Kod 7.13'teki BEGIN/COMMIT/ROLLBACK akışı bu teorinin doğrudan pratik karşılığıdır.</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kitapOduncVer fonksiyonunun adım adım izlenmesi, transaction'ın soyut ACID tanımının kodda nasıl işlediğini somutlaştırır: connect() ile havuzdan bir istemci ayrılır, BEGIN ile transaction açılır, stok güncellemesi ve ödünç kaydı eklemesi yalnızca bu bağlantıya görünür kalır, COMMIT başarıyla değişiklikleri kalıcı ve herkese görünür hale getirir, ROLLBACK ise hata durumunda her iki değişikliği de geri alır ve finally bloğundaki release() istemciyi her koşulda havuza iade eder. Kod 7.26–7.27'de gösterilen yaygın hata, havuz.query() ile ayrı çağrılar yapmaktır; bu, her sorgunun farklı bir bağlantıya gitmesine ve transaction'ın fiilen bölünmesine yol açar, çünkü BEGIN bir bağlantıda açılıp COMMIT başka bir bağlantıda çağrılamaz. Bu izleme tablosu, bölümün laboratuvar tartışmasındaki İsmail, Yasemin, Bahar ve Elif'in birlikte analiz ettiği hatalı oduncVer fonksiyonunun düzeltilmiş sürümüyle doğrudan örtüşür.</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Üç yaygın yanılgı, bölümün en kritik kavramsal ayrımlarını test eder: birincisi, Pool.query()'nin her zaman aynı bağlantıyı kullandığı varsayımıdır, oysa ardışık iki çağrı farklı bağlantılara gidebileceğinden transaction gerektiren işlemler mutlaka tek bir havuz.connect() istemcisi üzerinden yürütülmelidir. İkincisi, FOREIGN KEY'in iş kurallarını da otomatik denetlediği yanılgısıdır; FK yalnızca referans edilen kaydın var olduğunu garanti eder, "bir üye en fazla üç kitap ödünç alabilir" gibi kurallar uygulama katmanında veya CHECK kısıtı/trigger ile ayrıca yazılmalıdır. Üçüncüsü, her sütuna indeks eklemenin sorguyu her zaman hızlandıracağı yanılgısıdır; her indeks yazma işlemlerinde ayrıca güncellenmesi gereken bir yapıdır ve yalnızca EXPLAIN ANALYZE ile ölçülen gerçek maliyete göre eklenmelidir. Bu üç yanılgı, sırasıyla 7, 12 ve 19-20. sayfalarda işlenen kavramların yanlış anlaşılma biçimlerini doğrudan hedef alır.</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Kod 7.14'teki ChapterMiniApp, bölümün tüm kavramlarını tek bir akışta birleştirir: önce CREATE TABLE IF NOT EXISTS ile FK ve CHECK kısıtlarını içeren şema hazırlanır, ardından INSERT ... ON CONFLICT DO UPDATE ile var olan bir kayıt güncellenir (upsert), sonra kitabı olmayan yazarları da dahil eden tam bir liste LEFT JOIN ile tek sorguda üretilir ve son olarak tüm bu adımlar BEGIN/COMMIT ile tek bir güvenli birim haline getirilir. Bu sıralamanın mantığı nettir: şema önce garanti altına alınmadan veri yazılamaz, upsert ve rapor sorgusu aynı transaction içinde çalıştığında rapor her zaman güncel ve tutarlı veriyi görür. Bu mini uygulama, bir sonraki bölümde HTTP endpoint'i olarak dışarı açılacak veritabanı erişim katmanının doğrudan temelini oluşturur.</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Bölüm boyunca işlenen altı kavram burada tek bir çerçevede toplanır: PostgreSQL'e bağlanırken tek seferlik Client yerine eşzamanlı isteklerde Pool kullanmak, CRUD işlemlerini $1/$2 parametreleriyle güvenle yönetmek, PK'nin satırı tekilleştirip FK'nin tablolar arası referans bütünlüğünü zorunlu kılması, INNER'ın yalnızca eşleşeni LEFT'in ise sol tablonun tamamını sonuçta tutması, kısıtların veri kuralını indeksin ise B-Tree ile sık sorgulanan sütun erişimini garanti etmesi ve son olarak transaction'ın BEGIN/COMMIT/ROLLBACK ile birden fazla adımı ya hep ya hiç ilkesiyle koruması. Bu özet, PostgreSQL ve SQL'in verinin geçici değil kalıcı olmasını sağlayan katman olduğunu ve doğru anahtar, doğru JOIN ile doğru transaction sınırı olmadan hiçbir uygulamanın güvenilir olamayacağını vurgular. Bu ilkeler, öz değerlendirme bölümündeki çoktan seçmeli, doğru-yanlış, açık uçlu ve hata bulma sorularının tamamının ölçtüğü temel çıktıyı oluşturur.</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Veri artık PostgreSQL'de kalıcı ve tutarlı biçimde saklanıyor; sıradaki adım, bu veriyi kullanıcıya güvenli bir API üzerinden sunmaktır. Bu bölümde kazanılan iki temel yetkinlik — ilişkili tabloları PK/FK ile tasarlayıp JOIN'lemek ve transaction ile birden fazla adımı güvenle yürütmek — bir sonraki bölümün konusu olan veri erişim katmanı ve API tasarımının doğrudan önkoşuludur. Sonraki bölümde kalıcı veri, doğrulama ve yetkilendirmeyle birlikte sunulacaktır; bu geçişte öğrencilere verilen pratik öğüt, her yeni endpoint'te hangi sorgunun bir transaction içinde çalışması gerektiğini önce kağıt üzerinde tasarlamalarıdır.</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b07-postgresql-sql-20260915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tr-TR" smtClean="0"/>
              <a:t>1/27/13</a:t>
            </a:fld>
            <a:endParaRPr lang="tr-TR"/>
          </a:p>
        </p:txBody>
      </p:sp>
      <p:sp>
        <p:nvSpPr>
          <p:cNvPr id="3" name="Footer Placeholder 2"/>
          <p:cNvSpPr>
            <a:spLocks noGrp="1"/>
          </p:cNvSpPr>
          <p:nvPr>
            <p:ph type="ftr" sz="quarter" idx="11"/>
          </p:nvPr>
        </p:nvSpPr>
        <p:spPr/>
        <p:txBody>
          <a:bodyPr/>
          <a:lstStyle/>
          <a:p>
            <a:endParaRPr lang="tr-TR"/>
          </a:p>
        </p:txBody>
      </p:sp>
      <p:sp>
        <p:nvSpPr>
          <p:cNvPr id="4" name="Slide Number Placeholder 3"/>
          <p:cNvSpPr>
            <a:spLocks noGrp="1"/>
          </p:cNvSpPr>
          <p:nvPr>
            <p:ph type="sldNum" sz="quarter" idx="12"/>
          </p:nvPr>
        </p:nvSpPr>
        <p:spPr/>
        <p:txBody>
          <a:bodyPr/>
          <a:lstStyle/>
          <a:p>
            <a:fld id="{C1FF6DA9-008F-8B48-92A6-B652298478BF}" type="slidenum">
              <a:rPr lang="tr-TR" smtClean="0"/>
              <a:t>‹#›</a:t>
            </a:fld>
            <a:endParaRPr lang="tr-TR"/>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b07-postgresql-sql-20260915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lang="tr-TR">
                <a:solidFill>
                  <a:schemeClr val="tx1">
                    <a:tint val="75000"/>
                  </a:schemeClr>
                </a:solidFill>
              </a:defRPr>
            </a:lvl1pPr>
          </a:lstStyle>
          <a:p>
            <a:fld id="{5BCAD085-E8A6-8845-BD4E-CB4CCA059FC4}" type="datetimeFigureOut">
              <a:rPr lang="tr-TR" smtClean="0"/>
              <a:t>1/27/13</a:t>
            </a:fld>
            <a:endParaRPr lang="tr-T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lang="tr-TR">
                <a:solidFill>
                  <a:schemeClr val="tx1">
                    <a:tint val="75000"/>
                  </a:schemeClr>
                </a:solidFill>
              </a:defRPr>
            </a:lvl1pPr>
          </a:lstStyle>
          <a:p>
            <a:endParaRPr lang="tr-T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lang="tr-TR">
                <a:solidFill>
                  <a:schemeClr val="tx1">
                    <a:tint val="75000"/>
                  </a:schemeClr>
                </a:solidFill>
              </a:defRPr>
            </a:lvl1pPr>
          </a:lstStyle>
          <a:p>
            <a:fld id="{C1FF6DA9-008F-8B48-92A6-B652298478BF}" type="slidenum">
              <a:rPr lang="tr-TR" smtClean="0"/>
              <a:t>‹#›</a:t>
            </a:fld>
            <a:endParaRPr lang="tr-TR"/>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4400" kern="1200" lang="tr-TR">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lang="tr-TR">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lang="tr-TR">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lang="tr-TR">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9pPr>
    </p:bodyStyle>
    <p:otherStyle>
      <a:defPPr>
        <a:defRPr lang="tr-TR"/>
      </a:defPPr>
      <a:lvl1pPr marL="0" algn="l" defTabSz="457200" rtl="0" eaLnBrk="1" latinLnBrk="0" hangingPunct="1">
        <a:defRPr sz="1800" kern="1200" lang="tr-TR">
          <a:solidFill>
            <a:schemeClr val="tx1"/>
          </a:solidFill>
          <a:latin typeface="+mn-lt"/>
          <a:ea typeface="+mn-ea"/>
          <a:cs typeface="+mn-cs"/>
        </a:defRPr>
      </a:lvl1pPr>
      <a:lvl2pPr marL="457200" algn="l" defTabSz="457200" rtl="0" eaLnBrk="1" latinLnBrk="0" hangingPunct="1">
        <a:defRPr sz="1800" kern="1200" lang="tr-TR">
          <a:solidFill>
            <a:schemeClr val="tx1"/>
          </a:solidFill>
          <a:latin typeface="+mn-lt"/>
          <a:ea typeface="+mn-ea"/>
          <a:cs typeface="+mn-cs"/>
        </a:defRPr>
      </a:lvl2pPr>
      <a:lvl3pPr marL="914400" algn="l" defTabSz="457200" rtl="0" eaLnBrk="1" latinLnBrk="0" hangingPunct="1">
        <a:defRPr sz="1800" kern="1200" lang="tr-TR">
          <a:solidFill>
            <a:schemeClr val="tx1"/>
          </a:solidFill>
          <a:latin typeface="+mn-lt"/>
          <a:ea typeface="+mn-ea"/>
          <a:cs typeface="+mn-cs"/>
        </a:defRPr>
      </a:lvl3pPr>
      <a:lvl4pPr marL="1371600" algn="l" defTabSz="457200" rtl="0" eaLnBrk="1" latinLnBrk="0" hangingPunct="1">
        <a:defRPr sz="1800" kern="1200" lang="tr-TR">
          <a:solidFill>
            <a:schemeClr val="tx1"/>
          </a:solidFill>
          <a:latin typeface="+mn-lt"/>
          <a:ea typeface="+mn-ea"/>
          <a:cs typeface="+mn-cs"/>
        </a:defRPr>
      </a:lvl4pPr>
      <a:lvl5pPr marL="1828800" algn="l" defTabSz="457200" rtl="0" eaLnBrk="1" latinLnBrk="0" hangingPunct="1">
        <a:defRPr sz="1800" kern="1200" lang="tr-TR">
          <a:solidFill>
            <a:schemeClr val="tx1"/>
          </a:solidFill>
          <a:latin typeface="+mn-lt"/>
          <a:ea typeface="+mn-ea"/>
          <a:cs typeface="+mn-cs"/>
        </a:defRPr>
      </a:lvl5pPr>
      <a:lvl6pPr marL="2286000" algn="l" defTabSz="457200" rtl="0" eaLnBrk="1" latinLnBrk="0" hangingPunct="1">
        <a:defRPr sz="1800" kern="1200" lang="tr-TR">
          <a:solidFill>
            <a:schemeClr val="tx1"/>
          </a:solidFill>
          <a:latin typeface="+mn-lt"/>
          <a:ea typeface="+mn-ea"/>
          <a:cs typeface="+mn-cs"/>
        </a:defRPr>
      </a:lvl6pPr>
      <a:lvl7pPr marL="2743200" algn="l" defTabSz="457200" rtl="0" eaLnBrk="1" latinLnBrk="0" hangingPunct="1">
        <a:defRPr sz="1800" kern="1200" lang="tr-TR">
          <a:solidFill>
            <a:schemeClr val="tx1"/>
          </a:solidFill>
          <a:latin typeface="+mn-lt"/>
          <a:ea typeface="+mn-ea"/>
          <a:cs typeface="+mn-cs"/>
        </a:defRPr>
      </a:lvl7pPr>
      <a:lvl8pPr marL="3200400" algn="l" defTabSz="457200" rtl="0" eaLnBrk="1" latinLnBrk="0" hangingPunct="1">
        <a:defRPr sz="1800" kern="1200" lang="tr-TR">
          <a:solidFill>
            <a:schemeClr val="tx1"/>
          </a:solidFill>
          <a:latin typeface="+mn-lt"/>
          <a:ea typeface="+mn-ea"/>
          <a:cs typeface="+mn-cs"/>
        </a:defRPr>
      </a:lvl8pPr>
      <a:lvl9pPr marL="3657600" algn="l" defTabSz="457200" rtl="0" eaLnBrk="1" latinLnBrk="0" hangingPunct="1">
        <a:defRPr sz="1800" kern="1200" lang="tr-TR">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6.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7.xml"/>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8.xml"/>
</Relationships>
</file>

<file path=ppt/slides/_rels/slide1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9.xml"/>
</Relationships>
</file>

<file path=ppt/slides/_rels/slide2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0.xml"/>
</Relationships>
</file>

<file path=ppt/slides/_rels/slide2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1.xml"/>
</Relationships>
</file>

<file path=ppt/slides/_rels/slide2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2.xml"/>
</Relationships>
</file>

<file path=ppt/slides/_rels/slide2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3.xml"/>
</Relationships>
</file>

<file path=ppt/slides/_rels/slide2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4.xml"/>
</Relationships>
</file>

<file path=ppt/slides/_rels/slide2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5.xml"/>
</Relationships>
</file>

<file path=ppt/slides/_rels/slide2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6.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cover-panel"/>
          <p:cNvSpPr/>
          <p:nvPr/>
        </p:nvSpPr>
        <p:spPr>
          <a:xfrm>
            <a:off x="0" y="0"/>
            <a:ext cx="4191000" cy="6858000"/>
          </a:xfrm>
          <a:prstGeom prst="rect">
            <a:avLst/>
          </a:prstGeom>
          <a:solidFill>
            <a:srgbClr val="12355B"/>
          </a:solidFill>
          <a:ln>
            <a:noFill/>
          </a:ln>
        </p:spPr>
      </p:sp>
      <p:sp>
        <p:nvSpPr>
          <p:cNvPr id="3" name="Line 3"/>
          <p:cNvSpPr/>
          <p:nvPr/>
        </p:nvSpPr>
        <p:spPr>
          <a:xfrm>
            <a:off x="685800" y="5905500"/>
            <a:ext cx="10553700" cy="1"/>
          </a:xfrm>
          <a:prstGeom prst="line">
            <a:avLst/>
          </a:prstGeom>
          <a:noFill/>
          <a:ln w="19050">
            <a:solidFill>
              <a:srgbClr val="00A6A6"/>
            </a:solidFill>
            <a:tailEnd type="arrow" w="lg" len="lg"/>
          </a:ln>
        </p:spPr>
      </p:sp>
      <p:grpSp>
        <p:nvGrpSpPr>
          <p:cNvPr id="6" name="cover-chapter"/>
          <p:cNvGrpSpPr/>
          <p:nvPr/>
        </p:nvGrpSpPr>
        <p:grpSpPr>
          <a:xfrm>
            <a:off x="666750" y="2251710"/>
            <a:ext cx="1787319" cy="2410777"/>
            <a:chOff x="666750" y="2251710"/>
            <a:chExt cx="1787319" cy="2410777"/>
          </a:xfrm>
        </p:grpSpPr>
        <p:sp>
          <p:nvSpPr>
            <p:cNvPr id="4" name="TextBox 4"/>
            <p:cNvSpPr txBox="1"/>
            <p:nvPr/>
          </p:nvSpPr>
          <p:spPr>
            <a:xfrm>
              <a:off x="679704" y="2251710"/>
              <a:ext cx="668914" cy="234696"/>
            </a:xfrm>
            <a:prstGeom prst="rect">
              <a:avLst/>
            </a:prstGeom>
            <a:noFill/>
            <a:ln>
              <a:noFill/>
            </a:ln>
          </p:spPr>
          <p:txBody>
            <a:bodyPr wrap="none" lIns="0" tIns="0" rIns="0" bIns="0" anchor="t" anchorCtr="0">
              <a:spAutoFit/>
            </a:bodyPr>
            <a:lstStyle/>
            <a:p>
              <a:pPr algn="l"/>
              <a:r>
                <a:rPr lang="tr-TR" sz="1200" b="1" spc="225" dirty="0">
                  <a:solidFill>
                    <a:srgbClr val="EAF4F6"/>
                  </a:solidFill>
                  <a:latin typeface="+mn-lt"/>
                  <a:ea typeface="+mn-ea"/>
                  <a:cs typeface="+mn-cs"/>
                </a:rPr>
                <a:t>BÖLÜM</a:t>
              </a:r>
            </a:p>
          </p:txBody>
        </p:sp>
        <p:sp>
          <p:nvSpPr>
            <p:cNvPr id="5" name="TextBox 5"/>
            <p:cNvSpPr txBox="1"/>
            <p:nvPr/>
          </p:nvSpPr>
          <p:spPr>
            <a:xfrm>
              <a:off x="666750" y="2500312"/>
              <a:ext cx="1787319" cy="2162175"/>
            </a:xfrm>
            <a:prstGeom prst="rect">
              <a:avLst/>
            </a:prstGeom>
            <a:noFill/>
            <a:ln>
              <a:noFill/>
            </a:ln>
          </p:spPr>
          <p:txBody>
            <a:bodyPr wrap="none" lIns="0" tIns="0" rIns="0" bIns="0" anchor="t" anchorCtr="0">
              <a:spAutoFit/>
            </a:bodyPr>
            <a:lstStyle/>
            <a:p>
              <a:pPr algn="l"/>
              <a:r>
                <a:rPr lang="tr-TR" sz="11250" b="1" dirty="0">
                  <a:solidFill>
                    <a:srgbClr val="00A6A6"/>
                  </a:solidFill>
                  <a:latin typeface="+mj-lt"/>
                  <a:ea typeface="+mj-ea"/>
                  <a:cs typeface="+mj-cs"/>
                </a:rPr>
                <a:t>07</a:t>
              </a:r>
            </a:p>
          </p:txBody>
        </p:sp>
      </p:grpSp>
      <p:grpSp>
        <p:nvGrpSpPr>
          <p:cNvPr id="8" name="cover-title"/>
          <p:cNvGrpSpPr/>
          <p:nvPr/>
        </p:nvGrpSpPr>
        <p:grpSpPr>
          <a:xfrm>
            <a:off x="4933950" y="2118360"/>
            <a:ext cx="6030849" cy="1485900"/>
            <a:chOff x="4933950" y="2118360"/>
            <a:chExt cx="6030849" cy="1485900"/>
          </a:xfrm>
        </p:grpSpPr>
        <p:sp>
          <p:nvSpPr>
            <p:cNvPr id="7" name="TextBox 7"/>
            <p:cNvSpPr txBox="1"/>
            <p:nvPr/>
          </p:nvSpPr>
          <p:spPr>
            <a:xfrm>
              <a:off x="4933950" y="2118360"/>
              <a:ext cx="6030849" cy="1485900"/>
            </a:xfrm>
            <a:prstGeom prst="rect">
              <a:avLst/>
            </a:prstGeom>
            <a:noFill/>
            <a:ln>
              <a:noFill/>
            </a:ln>
          </p:spPr>
          <p:txBody>
            <a:bodyPr wrap="none" lIns="0" tIns="0" rIns="0" bIns="0" anchor="t" anchorCtr="0">
              <a:spAutoFit/>
            </a:bodyPr>
            <a:lstStyle/>
            <a:p>
              <a:pPr algn="l">
                <a:lnSpc>
                  <a:spcPts val="5250"/>
                </a:lnSpc>
              </a:pPr>
              <a:r>
                <a:rPr lang="tr-TR" sz="4200" b="1" dirty="0">
                  <a:solidFill>
                    <a:srgbClr val="12355B"/>
                  </a:solidFill>
                  <a:latin typeface="+mj-lt"/>
                  <a:ea typeface="+mj-ea"/>
                  <a:cs typeface="+mj-cs"/>
                </a:rPr>
                <a:t>PostgreSQL ve SQL ile</a:t>
              </a:r>
              <a:br/>
              <a:r>
                <a:rPr lang="tr-TR" sz="4200" b="1" dirty="0">
                  <a:solidFill>
                    <a:srgbClr val="12355B"/>
                  </a:solidFill>
                  <a:latin typeface="+mj-lt"/>
                  <a:ea typeface="+mj-ea"/>
                  <a:cs typeface="+mj-cs"/>
                </a:rPr>
                <a:t>Kalıcı Veri Yönetimi</a:t>
              </a:r>
            </a:p>
          </p:txBody>
        </p:sp>
      </p:grpSp>
      <p:grpSp>
        <p:nvGrpSpPr>
          <p:cNvPr id="12" name="cover-subtitle"/>
          <p:cNvGrpSpPr/>
          <p:nvPr/>
        </p:nvGrpSpPr>
        <p:grpSpPr>
          <a:xfrm>
            <a:off x="4943094" y="4095750"/>
            <a:ext cx="4648390" cy="900018"/>
            <a:chOff x="4943094" y="4095750"/>
            <a:chExt cx="4648390" cy="900018"/>
          </a:xfrm>
        </p:grpSpPr>
        <p:sp>
          <p:nvSpPr>
            <p:cNvPr id="9" name="Rectangle 9"/>
            <p:cNvSpPr/>
            <p:nvPr/>
          </p:nvSpPr>
          <p:spPr>
            <a:xfrm>
              <a:off x="4953000" y="4095750"/>
              <a:ext cx="1143000" cy="38100"/>
            </a:xfrm>
            <a:prstGeom prst="rect">
              <a:avLst/>
            </a:prstGeom>
            <a:solidFill>
              <a:srgbClr val="00A6A6"/>
            </a:solidFill>
            <a:ln>
              <a:noFill/>
            </a:ln>
          </p:spPr>
        </p:sp>
        <p:sp>
          <p:nvSpPr>
            <p:cNvPr id="10" name="TextBox 10"/>
            <p:cNvSpPr txBox="1"/>
            <p:nvPr/>
          </p:nvSpPr>
          <p:spPr>
            <a:xfrm>
              <a:off x="4943094" y="4228148"/>
              <a:ext cx="4648390" cy="381381"/>
            </a:xfrm>
            <a:prstGeom prst="rect">
              <a:avLst/>
            </a:prstGeom>
            <a:noFill/>
            <a:ln>
              <a:noFill/>
            </a:ln>
          </p:spPr>
          <p:txBody>
            <a:bodyPr wrap="none" lIns="0" tIns="0" rIns="0" bIns="0" anchor="t" anchorCtr="0">
              <a:spAutoFit/>
            </a:bodyPr>
            <a:lstStyle/>
            <a:p>
              <a:pPr algn="l"/>
              <a:r>
                <a:rPr lang="tr-TR" sz="1950" dirty="0">
                  <a:solidFill>
                    <a:srgbClr val="2E86AB"/>
                  </a:solidFill>
                  <a:latin typeface="+mn-lt"/>
                  <a:ea typeface="+mn-ea"/>
                  <a:cs typeface="+mn-cs"/>
                </a:rPr>
                <a:t>Modern Sunucu Tabanlı Programlama</a:t>
              </a:r>
            </a:p>
          </p:txBody>
        </p:sp>
        <p:sp>
          <p:nvSpPr>
            <p:cNvPr id="11" name="TextBox 11"/>
            <p:cNvSpPr txBox="1"/>
            <p:nvPr/>
          </p:nvSpPr>
          <p:spPr>
            <a:xfrm>
              <a:off x="4944999" y="4687729"/>
              <a:ext cx="2498467"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Prof. Dr. İsmail KIRBAŞ</a:t>
              </a:r>
            </a:p>
          </p:txBody>
        </p:sp>
      </p:grpSp>
      <p:grpSp>
        <p:nvGrpSpPr>
          <p:cNvPr id="14" name="cover-meta"/>
          <p:cNvGrpSpPr/>
          <p:nvPr/>
        </p:nvGrpSpPr>
        <p:grpSpPr>
          <a:xfrm>
            <a:off x="4946904" y="6233160"/>
            <a:ext cx="4973434" cy="234696"/>
            <a:chOff x="4946904" y="6233160"/>
            <a:chExt cx="4973434" cy="234696"/>
          </a:xfrm>
        </p:grpSpPr>
        <p:sp>
          <p:nvSpPr>
            <p:cNvPr id="13" name="TextBox 13"/>
            <p:cNvSpPr txBox="1"/>
            <p:nvPr/>
          </p:nvSpPr>
          <p:spPr>
            <a:xfrm>
              <a:off x="4946904" y="6233160"/>
              <a:ext cx="4973434"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Mehmet Akif Ersoy Üniversitesi · Bilgisayar Mühendisliği · 2026</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3606794" cy="557403"/>
            <a:chOff x="595122" y="282892"/>
            <a:chExt cx="3606794" cy="557403"/>
          </a:xfrm>
        </p:grpSpPr>
        <p:sp>
          <p:nvSpPr>
            <p:cNvPr id="4" name="TextBox 4"/>
            <p:cNvSpPr txBox="1"/>
            <p:nvPr/>
          </p:nvSpPr>
          <p:spPr>
            <a:xfrm>
              <a:off x="595122" y="282892"/>
              <a:ext cx="3606794"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Bölüm yol haritası</a:t>
              </a:r>
            </a:p>
          </p:txBody>
        </p:sp>
      </p:grpSp>
      <p:grpSp>
        <p:nvGrpSpPr>
          <p:cNvPr id="10" name="goal-banner"/>
          <p:cNvGrpSpPr/>
          <p:nvPr/>
        </p:nvGrpSpPr>
        <p:grpSpPr>
          <a:xfrm>
            <a:off x="609600" y="1143000"/>
            <a:ext cx="10972800" cy="647700"/>
            <a:chOff x="609600" y="1143000"/>
            <a:chExt cx="10972800" cy="647700"/>
          </a:xfrm>
        </p:grpSpPr>
        <p:sp>
          <p:nvSpPr>
            <p:cNvPr id="6" name="Rectangle 6"/>
            <p:cNvSpPr/>
            <p:nvPr/>
          </p:nvSpPr>
          <p:spPr>
            <a:xfrm>
              <a:off x="609600" y="1143000"/>
              <a:ext cx="10972800" cy="647700"/>
            </a:xfrm>
            <a:prstGeom prst="roundRect">
              <a:avLst>
                <a:gd name="adj" fmla="val 11765"/>
              </a:avLst>
            </a:prstGeom>
            <a:solidFill>
              <a:srgbClr val="EAF4F6"/>
            </a:solidFill>
            <a:ln>
              <a:noFill/>
            </a:ln>
          </p:spPr>
        </p:sp>
        <p:sp>
          <p:nvSpPr>
            <p:cNvPr id="7" name="Rectangle 7"/>
            <p:cNvSpPr/>
            <p:nvPr/>
          </p:nvSpPr>
          <p:spPr>
            <a:xfrm>
              <a:off x="609600" y="1143000"/>
              <a:ext cx="57150" cy="647700"/>
            </a:xfrm>
            <a:prstGeom prst="rect">
              <a:avLst/>
            </a:prstGeom>
            <a:solidFill>
              <a:srgbClr val="00A6A6"/>
            </a:solidFill>
            <a:ln>
              <a:noFill/>
            </a:ln>
          </p:spPr>
        </p:sp>
        <p:sp>
          <p:nvSpPr>
            <p:cNvPr id="8" name="TextBox 8"/>
            <p:cNvSpPr txBox="1"/>
            <p:nvPr/>
          </p:nvSpPr>
          <p:spPr>
            <a:xfrm>
              <a:off x="906399" y="1239679"/>
              <a:ext cx="1674405"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 Bölüm Hedefi</a:t>
              </a:r>
            </a:p>
          </p:txBody>
        </p:sp>
        <p:sp>
          <p:nvSpPr>
            <p:cNvPr id="9" name="TextBox 9"/>
            <p:cNvSpPr txBox="1"/>
            <p:nvPr/>
          </p:nvSpPr>
          <p:spPr>
            <a:xfrm>
              <a:off x="908304" y="1527810"/>
              <a:ext cx="9396531"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PostgreSQL üzerinde ilişkili tablolar tasarlamak, SQL sorguları yazmak ve TypeScript'ten güvenli veri erişimi kurmak.</a:t>
              </a:r>
            </a:p>
          </p:txBody>
        </p:sp>
      </p:grpSp>
      <p:grpSp>
        <p:nvGrpSpPr>
          <p:cNvPr id="14" name="q1"/>
          <p:cNvGrpSpPr/>
          <p:nvPr/>
        </p:nvGrpSpPr>
        <p:grpSpPr>
          <a:xfrm>
            <a:off x="704850" y="2076450"/>
            <a:ext cx="7575723" cy="443484"/>
            <a:chOff x="704850" y="2076450"/>
            <a:chExt cx="7575723" cy="443484"/>
          </a:xfrm>
        </p:grpSpPr>
        <p:sp>
          <p:nvSpPr>
            <p:cNvPr id="11" name="Ellipse 11"/>
            <p:cNvSpPr/>
            <p:nvPr/>
          </p:nvSpPr>
          <p:spPr>
            <a:xfrm>
              <a:off x="704850" y="2076450"/>
              <a:ext cx="419100" cy="419100"/>
            </a:xfrm>
            <a:prstGeom prst="ellipse">
              <a:avLst/>
            </a:prstGeom>
            <a:solidFill>
              <a:srgbClr val="12355B"/>
            </a:solidFill>
            <a:ln>
              <a:noFill/>
            </a:ln>
          </p:spPr>
        </p:sp>
        <p:sp>
          <p:nvSpPr>
            <p:cNvPr id="12" name="TextBox 12"/>
            <p:cNvSpPr txBox="1"/>
            <p:nvPr/>
          </p:nvSpPr>
          <p:spPr>
            <a:xfrm>
              <a:off x="844982" y="2192179"/>
              <a:ext cx="138836" cy="308039"/>
            </a:xfrm>
            <a:prstGeom prst="rect">
              <a:avLst/>
            </a:prstGeom>
            <a:noFill/>
            <a:ln>
              <a:noFill/>
            </a:ln>
          </p:spPr>
          <p:txBody>
            <a:bodyPr wrap="none" lIns="0" tIns="0" rIns="0" bIns="0" anchor="t" anchorCtr="0">
              <a:spAutoFit/>
            </a:bodyPr>
            <a:lstStyle/>
            <a:p>
              <a:pPr algn="ctr"/>
              <a:r>
                <a:rPr lang="tr-TR" sz="1580" b="1" dirty="0">
                  <a:solidFill>
                    <a:srgbClr val="FFFFFF"/>
                  </a:solidFill>
                  <a:latin typeface="+mn-lt"/>
                  <a:ea typeface="+mn-ea"/>
                  <a:cs typeface="+mn-cs"/>
                </a:rPr>
                <a:t>1</a:t>
              </a:r>
            </a:p>
          </p:txBody>
        </p:sp>
        <p:sp>
          <p:nvSpPr>
            <p:cNvPr id="13" name="TextBox 13"/>
            <p:cNvSpPr txBox="1"/>
            <p:nvPr/>
          </p:nvSpPr>
          <p:spPr>
            <a:xfrm>
              <a:off x="1324356" y="2167890"/>
              <a:ext cx="6956217" cy="352044"/>
            </a:xfrm>
            <a:prstGeom prst="rect">
              <a:avLst/>
            </a:prstGeom>
            <a:noFill/>
            <a:ln>
              <a:noFill/>
            </a:ln>
          </p:spPr>
          <p:txBody>
            <a:bodyPr wrap="none" lIns="0" tIns="0" rIns="0" bIns="0" anchor="t" anchorCtr="0">
              <a:spAutoFit/>
            </a:bodyPr>
            <a:lstStyle/>
            <a:p>
              <a:pPr algn="l"/>
              <a:r>
                <a:rPr lang="tr-TR" sz="1800" dirty="0">
                  <a:solidFill>
                    <a:srgbClr val="172B3A"/>
                  </a:solidFill>
                  <a:latin typeface="+mn-lt"/>
                  <a:ea typeface="+mn-ea"/>
                  <a:cs typeface="+mn-cs"/>
                </a:rPr>
                <a:t>Bir uygulama verisini neden yalnızca bellek içinde tutamaz?</a:t>
              </a:r>
            </a:p>
          </p:txBody>
        </p:sp>
      </p:grpSp>
      <p:grpSp>
        <p:nvGrpSpPr>
          <p:cNvPr id="18" name="q2"/>
          <p:cNvGrpSpPr/>
          <p:nvPr/>
        </p:nvGrpSpPr>
        <p:grpSpPr>
          <a:xfrm>
            <a:off x="704850" y="2857500"/>
            <a:ext cx="6677467" cy="443484"/>
            <a:chOff x="704850" y="2857500"/>
            <a:chExt cx="6677467" cy="443484"/>
          </a:xfrm>
        </p:grpSpPr>
        <p:sp>
          <p:nvSpPr>
            <p:cNvPr id="15" name="Ellipse 15"/>
            <p:cNvSpPr/>
            <p:nvPr/>
          </p:nvSpPr>
          <p:spPr>
            <a:xfrm>
              <a:off x="704850" y="2857500"/>
              <a:ext cx="419100" cy="419100"/>
            </a:xfrm>
            <a:prstGeom prst="ellipse">
              <a:avLst/>
            </a:prstGeom>
            <a:solidFill>
              <a:srgbClr val="12355B"/>
            </a:solidFill>
            <a:ln>
              <a:noFill/>
            </a:ln>
          </p:spPr>
        </p:sp>
        <p:sp>
          <p:nvSpPr>
            <p:cNvPr id="16" name="TextBox 16"/>
            <p:cNvSpPr txBox="1"/>
            <p:nvPr/>
          </p:nvSpPr>
          <p:spPr>
            <a:xfrm>
              <a:off x="844982" y="2973229"/>
              <a:ext cx="138836" cy="308039"/>
            </a:xfrm>
            <a:prstGeom prst="rect">
              <a:avLst/>
            </a:prstGeom>
            <a:noFill/>
            <a:ln>
              <a:noFill/>
            </a:ln>
          </p:spPr>
          <p:txBody>
            <a:bodyPr wrap="none" lIns="0" tIns="0" rIns="0" bIns="0" anchor="t" anchorCtr="0">
              <a:spAutoFit/>
            </a:bodyPr>
            <a:lstStyle/>
            <a:p>
              <a:pPr algn="ctr"/>
              <a:r>
                <a:rPr lang="tr-TR" sz="1580" b="1" dirty="0">
                  <a:solidFill>
                    <a:srgbClr val="FFFFFF"/>
                  </a:solidFill>
                  <a:latin typeface="+mn-lt"/>
                  <a:ea typeface="+mn-ea"/>
                  <a:cs typeface="+mn-cs"/>
                </a:rPr>
                <a:t>2</a:t>
              </a:r>
            </a:p>
          </p:txBody>
        </p:sp>
        <p:sp>
          <p:nvSpPr>
            <p:cNvPr id="17" name="TextBox 17"/>
            <p:cNvSpPr txBox="1"/>
            <p:nvPr/>
          </p:nvSpPr>
          <p:spPr>
            <a:xfrm>
              <a:off x="1324356" y="2948940"/>
              <a:ext cx="6057961" cy="352044"/>
            </a:xfrm>
            <a:prstGeom prst="rect">
              <a:avLst/>
            </a:prstGeom>
            <a:noFill/>
            <a:ln>
              <a:noFill/>
            </a:ln>
          </p:spPr>
          <p:txBody>
            <a:bodyPr wrap="none" lIns="0" tIns="0" rIns="0" bIns="0" anchor="t" anchorCtr="0">
              <a:spAutoFit/>
            </a:bodyPr>
            <a:lstStyle/>
            <a:p>
              <a:pPr algn="l"/>
              <a:r>
                <a:rPr lang="tr-TR" sz="1800" dirty="0">
                  <a:solidFill>
                    <a:srgbClr val="172B3A"/>
                  </a:solidFill>
                  <a:latin typeface="+mn-lt"/>
                  <a:ea typeface="+mn-ea"/>
                  <a:cs typeface="+mn-cs"/>
                </a:rPr>
                <a:t>PostgreSQL'de iki ilişkili tabloyu nasıl tasarlarız?</a:t>
              </a:r>
            </a:p>
          </p:txBody>
        </p:sp>
      </p:grpSp>
      <p:grpSp>
        <p:nvGrpSpPr>
          <p:cNvPr id="22" name="q3"/>
          <p:cNvGrpSpPr/>
          <p:nvPr/>
        </p:nvGrpSpPr>
        <p:grpSpPr>
          <a:xfrm>
            <a:off x="704850" y="3638550"/>
            <a:ext cx="7526361" cy="443484"/>
            <a:chOff x="704850" y="3638550"/>
            <a:chExt cx="7526361" cy="443484"/>
          </a:xfrm>
        </p:grpSpPr>
        <p:sp>
          <p:nvSpPr>
            <p:cNvPr id="19" name="Ellipse 19"/>
            <p:cNvSpPr/>
            <p:nvPr/>
          </p:nvSpPr>
          <p:spPr>
            <a:xfrm>
              <a:off x="704850" y="3638550"/>
              <a:ext cx="419100" cy="419100"/>
            </a:xfrm>
            <a:prstGeom prst="ellipse">
              <a:avLst/>
            </a:prstGeom>
            <a:solidFill>
              <a:srgbClr val="12355B"/>
            </a:solidFill>
            <a:ln>
              <a:noFill/>
            </a:ln>
          </p:spPr>
        </p:sp>
        <p:sp>
          <p:nvSpPr>
            <p:cNvPr id="20" name="TextBox 20"/>
            <p:cNvSpPr txBox="1"/>
            <p:nvPr/>
          </p:nvSpPr>
          <p:spPr>
            <a:xfrm>
              <a:off x="844982" y="3754279"/>
              <a:ext cx="138836" cy="308039"/>
            </a:xfrm>
            <a:prstGeom prst="rect">
              <a:avLst/>
            </a:prstGeom>
            <a:noFill/>
            <a:ln>
              <a:noFill/>
            </a:ln>
          </p:spPr>
          <p:txBody>
            <a:bodyPr wrap="none" lIns="0" tIns="0" rIns="0" bIns="0" anchor="t" anchorCtr="0">
              <a:spAutoFit/>
            </a:bodyPr>
            <a:lstStyle/>
            <a:p>
              <a:pPr algn="ctr"/>
              <a:r>
                <a:rPr lang="tr-TR" sz="1580" b="1" dirty="0">
                  <a:solidFill>
                    <a:srgbClr val="FFFFFF"/>
                  </a:solidFill>
                  <a:latin typeface="+mn-lt"/>
                  <a:ea typeface="+mn-ea"/>
                  <a:cs typeface="+mn-cs"/>
                </a:rPr>
                <a:t>3</a:t>
              </a:r>
            </a:p>
          </p:txBody>
        </p:sp>
        <p:sp>
          <p:nvSpPr>
            <p:cNvPr id="21" name="TextBox 21"/>
            <p:cNvSpPr txBox="1"/>
            <p:nvPr/>
          </p:nvSpPr>
          <p:spPr>
            <a:xfrm>
              <a:off x="1324356" y="3729990"/>
              <a:ext cx="6906855" cy="352044"/>
            </a:xfrm>
            <a:prstGeom prst="rect">
              <a:avLst/>
            </a:prstGeom>
            <a:noFill/>
            <a:ln>
              <a:noFill/>
            </a:ln>
          </p:spPr>
          <p:txBody>
            <a:bodyPr wrap="none" lIns="0" tIns="0" rIns="0" bIns="0" anchor="t" anchorCtr="0">
              <a:spAutoFit/>
            </a:bodyPr>
            <a:lstStyle/>
            <a:p>
              <a:pPr algn="l"/>
              <a:r>
                <a:rPr lang="tr-TR" sz="1800" dirty="0">
                  <a:solidFill>
                    <a:srgbClr val="172B3A"/>
                  </a:solidFill>
                  <a:latin typeface="+mn-lt"/>
                  <a:ea typeface="+mn-ea"/>
                  <a:cs typeface="+mn-cs"/>
                </a:rPr>
                <a:t>SQL CRUD işlemleri verinin yaşam döngüsünü nasıl yönetir?</a:t>
              </a:r>
            </a:p>
          </p:txBody>
        </p:sp>
      </p:grpSp>
      <p:grpSp>
        <p:nvGrpSpPr>
          <p:cNvPr id="26" name="q4"/>
          <p:cNvGrpSpPr/>
          <p:nvPr/>
        </p:nvGrpSpPr>
        <p:grpSpPr>
          <a:xfrm>
            <a:off x="704850" y="4419600"/>
            <a:ext cx="8845448" cy="443484"/>
            <a:chOff x="704850" y="4419600"/>
            <a:chExt cx="8845448" cy="443484"/>
          </a:xfrm>
        </p:grpSpPr>
        <p:sp>
          <p:nvSpPr>
            <p:cNvPr id="23" name="Ellipse 23"/>
            <p:cNvSpPr/>
            <p:nvPr/>
          </p:nvSpPr>
          <p:spPr>
            <a:xfrm>
              <a:off x="704850" y="4419600"/>
              <a:ext cx="419100" cy="419100"/>
            </a:xfrm>
            <a:prstGeom prst="ellipse">
              <a:avLst/>
            </a:prstGeom>
            <a:solidFill>
              <a:srgbClr val="12355B"/>
            </a:solidFill>
            <a:ln>
              <a:noFill/>
            </a:ln>
          </p:spPr>
        </p:sp>
        <p:sp>
          <p:nvSpPr>
            <p:cNvPr id="24" name="TextBox 24"/>
            <p:cNvSpPr txBox="1"/>
            <p:nvPr/>
          </p:nvSpPr>
          <p:spPr>
            <a:xfrm>
              <a:off x="844982" y="4535329"/>
              <a:ext cx="138836" cy="308039"/>
            </a:xfrm>
            <a:prstGeom prst="rect">
              <a:avLst/>
            </a:prstGeom>
            <a:noFill/>
            <a:ln>
              <a:noFill/>
            </a:ln>
          </p:spPr>
          <p:txBody>
            <a:bodyPr wrap="none" lIns="0" tIns="0" rIns="0" bIns="0" anchor="t" anchorCtr="0">
              <a:spAutoFit/>
            </a:bodyPr>
            <a:lstStyle/>
            <a:p>
              <a:pPr algn="ctr"/>
              <a:r>
                <a:rPr lang="tr-TR" sz="1580" b="1" dirty="0">
                  <a:solidFill>
                    <a:srgbClr val="FFFFFF"/>
                  </a:solidFill>
                  <a:latin typeface="+mn-lt"/>
                  <a:ea typeface="+mn-ea"/>
                  <a:cs typeface="+mn-cs"/>
                </a:rPr>
                <a:t>4</a:t>
              </a:r>
            </a:p>
          </p:txBody>
        </p:sp>
        <p:sp>
          <p:nvSpPr>
            <p:cNvPr id="25" name="TextBox 25"/>
            <p:cNvSpPr txBox="1"/>
            <p:nvPr/>
          </p:nvSpPr>
          <p:spPr>
            <a:xfrm>
              <a:off x="1324356" y="4511040"/>
              <a:ext cx="8225942" cy="352044"/>
            </a:xfrm>
            <a:prstGeom prst="rect">
              <a:avLst/>
            </a:prstGeom>
            <a:noFill/>
            <a:ln>
              <a:noFill/>
            </a:ln>
          </p:spPr>
          <p:txBody>
            <a:bodyPr wrap="none" lIns="0" tIns="0" rIns="0" bIns="0" anchor="t" anchorCtr="0">
              <a:spAutoFit/>
            </a:bodyPr>
            <a:lstStyle/>
            <a:p>
              <a:pPr algn="l"/>
              <a:r>
                <a:rPr lang="tr-TR" sz="1800" dirty="0">
                  <a:solidFill>
                    <a:srgbClr val="172B3A"/>
                  </a:solidFill>
                  <a:latin typeface="+mn-lt"/>
                  <a:ea typeface="+mn-ea"/>
                  <a:cs typeface="+mn-cs"/>
                </a:rPr>
                <a:t>PK, FK, JOIN ve constraint hangi veri tutarlılığı sorunlarını çözer?</a:t>
              </a:r>
            </a:p>
          </p:txBody>
        </p:sp>
      </p:grpSp>
      <p:grpSp>
        <p:nvGrpSpPr>
          <p:cNvPr id="30" name="q5"/>
          <p:cNvGrpSpPr/>
          <p:nvPr/>
        </p:nvGrpSpPr>
        <p:grpSpPr>
          <a:xfrm>
            <a:off x="704850" y="5200650"/>
            <a:ext cx="6703487" cy="443484"/>
            <a:chOff x="704850" y="5200650"/>
            <a:chExt cx="6703487" cy="443484"/>
          </a:xfrm>
        </p:grpSpPr>
        <p:sp>
          <p:nvSpPr>
            <p:cNvPr id="27" name="Ellipse 27"/>
            <p:cNvSpPr/>
            <p:nvPr/>
          </p:nvSpPr>
          <p:spPr>
            <a:xfrm>
              <a:off x="704850" y="5200650"/>
              <a:ext cx="419100" cy="419100"/>
            </a:xfrm>
            <a:prstGeom prst="ellipse">
              <a:avLst/>
            </a:prstGeom>
            <a:solidFill>
              <a:srgbClr val="12355B"/>
            </a:solidFill>
            <a:ln>
              <a:noFill/>
            </a:ln>
          </p:spPr>
        </p:sp>
        <p:sp>
          <p:nvSpPr>
            <p:cNvPr id="28" name="TextBox 28"/>
            <p:cNvSpPr txBox="1"/>
            <p:nvPr/>
          </p:nvSpPr>
          <p:spPr>
            <a:xfrm>
              <a:off x="844982" y="5316379"/>
              <a:ext cx="138836" cy="308039"/>
            </a:xfrm>
            <a:prstGeom prst="rect">
              <a:avLst/>
            </a:prstGeom>
            <a:noFill/>
            <a:ln>
              <a:noFill/>
            </a:ln>
          </p:spPr>
          <p:txBody>
            <a:bodyPr wrap="none" lIns="0" tIns="0" rIns="0" bIns="0" anchor="t" anchorCtr="0">
              <a:spAutoFit/>
            </a:bodyPr>
            <a:lstStyle/>
            <a:p>
              <a:pPr algn="ctr"/>
              <a:r>
                <a:rPr lang="tr-TR" sz="1580" b="1" dirty="0">
                  <a:solidFill>
                    <a:srgbClr val="FFFFFF"/>
                  </a:solidFill>
                  <a:latin typeface="+mn-lt"/>
                  <a:ea typeface="+mn-ea"/>
                  <a:cs typeface="+mn-cs"/>
                </a:rPr>
                <a:t>5</a:t>
              </a:r>
            </a:p>
          </p:txBody>
        </p:sp>
        <p:sp>
          <p:nvSpPr>
            <p:cNvPr id="29" name="TextBox 29"/>
            <p:cNvSpPr txBox="1"/>
            <p:nvPr/>
          </p:nvSpPr>
          <p:spPr>
            <a:xfrm>
              <a:off x="1324356" y="5292090"/>
              <a:ext cx="6083981" cy="352044"/>
            </a:xfrm>
            <a:prstGeom prst="rect">
              <a:avLst/>
            </a:prstGeom>
            <a:noFill/>
            <a:ln>
              <a:noFill/>
            </a:ln>
          </p:spPr>
          <p:txBody>
            <a:bodyPr wrap="none" lIns="0" tIns="0" rIns="0" bIns="0" anchor="t" anchorCtr="0">
              <a:spAutoFit/>
            </a:bodyPr>
            <a:lstStyle/>
            <a:p>
              <a:pPr algn="l"/>
              <a:r>
                <a:rPr lang="tr-TR" sz="1800" dirty="0">
                  <a:solidFill>
                    <a:srgbClr val="172B3A"/>
                  </a:solidFill>
                  <a:latin typeface="+mn-lt"/>
                  <a:ea typeface="+mn-ea"/>
                  <a:cs typeface="+mn-cs"/>
                </a:rPr>
                <a:t>Index ve transaction hangi durumlarda gerekli olur?</a:t>
              </a:r>
            </a:p>
          </p:txBody>
        </p:sp>
      </p:grpSp>
      <p:sp>
        <p:nvSpPr>
          <p:cNvPr id="31" name="TextBox 31"/>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02 / 26</a:t>
            </a: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7413763" cy="557403"/>
            <a:chOff x="595122" y="282892"/>
            <a:chExt cx="7413763" cy="557403"/>
          </a:xfrm>
        </p:grpSpPr>
        <p:sp>
          <p:nvSpPr>
            <p:cNvPr id="4" name="TextBox 4"/>
            <p:cNvSpPr txBox="1"/>
            <p:nvPr/>
          </p:nvSpPr>
          <p:spPr>
            <a:xfrm>
              <a:off x="595122" y="282892"/>
              <a:ext cx="7413763"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Öğrenme hedefleri ve başarı ölçütleri</a:t>
              </a:r>
            </a:p>
          </p:txBody>
        </p:sp>
      </p:grpSp>
      <p:grpSp>
        <p:nvGrpSpPr>
          <p:cNvPr id="9" name="objective-1"/>
          <p:cNvGrpSpPr/>
          <p:nvPr/>
        </p:nvGrpSpPr>
        <p:grpSpPr>
          <a:xfrm>
            <a:off x="685800" y="1520190"/>
            <a:ext cx="8898397" cy="637128"/>
            <a:chOff x="685800" y="1520190"/>
            <a:chExt cx="8898397" cy="637128"/>
          </a:xfrm>
        </p:grpSpPr>
        <p:sp>
          <p:nvSpPr>
            <p:cNvPr id="6" name="Rectangle 6"/>
            <p:cNvSpPr/>
            <p:nvPr/>
          </p:nvSpPr>
          <p:spPr>
            <a:xfrm>
              <a:off x="685800" y="1524000"/>
              <a:ext cx="57150" cy="495300"/>
            </a:xfrm>
            <a:prstGeom prst="rect">
              <a:avLst/>
            </a:prstGeom>
            <a:solidFill>
              <a:srgbClr val="00A6A6"/>
            </a:solidFill>
            <a:ln>
              <a:noFill/>
            </a:ln>
          </p:spPr>
        </p:sp>
        <p:sp>
          <p:nvSpPr>
            <p:cNvPr id="7" name="TextBox 7"/>
            <p:cNvSpPr txBox="1"/>
            <p:nvPr/>
          </p:nvSpPr>
          <p:spPr>
            <a:xfrm>
              <a:off x="981456" y="1520190"/>
              <a:ext cx="6412385"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En az iki ilişkili tablodan oluşan bir şema tasarlamak</a:t>
              </a:r>
            </a:p>
          </p:txBody>
        </p:sp>
        <p:sp>
          <p:nvSpPr>
            <p:cNvPr id="8" name="TextBox 8"/>
            <p:cNvSpPr txBox="1"/>
            <p:nvPr/>
          </p:nvSpPr>
          <p:spPr>
            <a:xfrm>
              <a:off x="982599" y="1849279"/>
              <a:ext cx="8601598"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Ölçüt: uygun PK seçmek ve tablolar arası bağlantıyı FK ile kurup gerekçelendirmek</a:t>
              </a:r>
            </a:p>
          </p:txBody>
        </p:sp>
      </p:grpSp>
      <p:grpSp>
        <p:nvGrpSpPr>
          <p:cNvPr id="13" name="objective-2"/>
          <p:cNvGrpSpPr/>
          <p:nvPr/>
        </p:nvGrpSpPr>
        <p:grpSpPr>
          <a:xfrm>
            <a:off x="685800" y="2510790"/>
            <a:ext cx="8053922" cy="637128"/>
            <a:chOff x="685800" y="2510790"/>
            <a:chExt cx="8053922" cy="637128"/>
          </a:xfrm>
        </p:grpSpPr>
        <p:sp>
          <p:nvSpPr>
            <p:cNvPr id="10" name="Rectangle 10"/>
            <p:cNvSpPr/>
            <p:nvPr/>
          </p:nvSpPr>
          <p:spPr>
            <a:xfrm>
              <a:off x="685800" y="2514600"/>
              <a:ext cx="57150" cy="495300"/>
            </a:xfrm>
            <a:prstGeom prst="rect">
              <a:avLst/>
            </a:prstGeom>
            <a:solidFill>
              <a:srgbClr val="00A6A6"/>
            </a:solidFill>
            <a:ln>
              <a:noFill/>
            </a:ln>
          </p:spPr>
        </p:sp>
        <p:sp>
          <p:nvSpPr>
            <p:cNvPr id="11" name="TextBox 11"/>
            <p:cNvSpPr txBox="1"/>
            <p:nvPr/>
          </p:nvSpPr>
          <p:spPr>
            <a:xfrm>
              <a:off x="981456" y="2510790"/>
              <a:ext cx="7758266"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INSERT, SELECT, UPDATE, DELETE sorgularını doğru kullanmak</a:t>
              </a:r>
            </a:p>
          </p:txBody>
        </p:sp>
        <p:sp>
          <p:nvSpPr>
            <p:cNvPr id="12" name="TextBox 12"/>
            <p:cNvSpPr txBox="1"/>
            <p:nvPr/>
          </p:nvSpPr>
          <p:spPr>
            <a:xfrm>
              <a:off x="982599" y="2839879"/>
              <a:ext cx="6840040"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Ölçüt: sorguları verinin yaşam döngüsüne uygun sırada uygulamak</a:t>
              </a:r>
            </a:p>
          </p:txBody>
        </p:sp>
      </p:grpSp>
      <p:grpSp>
        <p:nvGrpSpPr>
          <p:cNvPr id="17" name="objective-3"/>
          <p:cNvGrpSpPr/>
          <p:nvPr/>
        </p:nvGrpSpPr>
        <p:grpSpPr>
          <a:xfrm>
            <a:off x="685800" y="3501390"/>
            <a:ext cx="7158261" cy="637128"/>
            <a:chOff x="685800" y="3501390"/>
            <a:chExt cx="7158261" cy="637128"/>
          </a:xfrm>
        </p:grpSpPr>
        <p:sp>
          <p:nvSpPr>
            <p:cNvPr id="14" name="Rectangle 14"/>
            <p:cNvSpPr/>
            <p:nvPr/>
          </p:nvSpPr>
          <p:spPr>
            <a:xfrm>
              <a:off x="685800" y="3505200"/>
              <a:ext cx="57150" cy="495300"/>
            </a:xfrm>
            <a:prstGeom prst="rect">
              <a:avLst/>
            </a:prstGeom>
            <a:solidFill>
              <a:srgbClr val="00A6A6"/>
            </a:solidFill>
            <a:ln>
              <a:noFill/>
            </a:ln>
          </p:spPr>
        </p:sp>
        <p:sp>
          <p:nvSpPr>
            <p:cNvPr id="15" name="TextBox 15"/>
            <p:cNvSpPr txBox="1"/>
            <p:nvPr/>
          </p:nvSpPr>
          <p:spPr>
            <a:xfrm>
              <a:off x="981456" y="3501390"/>
              <a:ext cx="6394685"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INNER JOIN ile LEFT JOIN sonuç farkını yorumlamak</a:t>
              </a:r>
            </a:p>
          </p:txBody>
        </p:sp>
        <p:sp>
          <p:nvSpPr>
            <p:cNvPr id="16" name="TextBox 16"/>
            <p:cNvSpPr txBox="1"/>
            <p:nvPr/>
          </p:nvSpPr>
          <p:spPr>
            <a:xfrm>
              <a:off x="982599" y="3830479"/>
              <a:ext cx="6861462"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Ölçüt: hangi tablonun tamamının korunduğunu doğru tahmin etmek</a:t>
              </a:r>
            </a:p>
          </p:txBody>
        </p:sp>
      </p:grpSp>
      <p:grpSp>
        <p:nvGrpSpPr>
          <p:cNvPr id="21" name="objective-4"/>
          <p:cNvGrpSpPr/>
          <p:nvPr/>
        </p:nvGrpSpPr>
        <p:grpSpPr>
          <a:xfrm>
            <a:off x="685800" y="4491990"/>
            <a:ext cx="8674467" cy="637128"/>
            <a:chOff x="685800" y="4491990"/>
            <a:chExt cx="8674467" cy="637128"/>
          </a:xfrm>
        </p:grpSpPr>
        <p:sp>
          <p:nvSpPr>
            <p:cNvPr id="18" name="Rectangle 18"/>
            <p:cNvSpPr/>
            <p:nvPr/>
          </p:nvSpPr>
          <p:spPr>
            <a:xfrm>
              <a:off x="685800" y="4495800"/>
              <a:ext cx="57150" cy="495300"/>
            </a:xfrm>
            <a:prstGeom prst="rect">
              <a:avLst/>
            </a:prstGeom>
            <a:solidFill>
              <a:srgbClr val="00A6A6"/>
            </a:solidFill>
            <a:ln>
              <a:noFill/>
            </a:ln>
          </p:spPr>
        </p:sp>
        <p:sp>
          <p:nvSpPr>
            <p:cNvPr id="19" name="TextBox 19"/>
            <p:cNvSpPr txBox="1"/>
            <p:nvPr/>
          </p:nvSpPr>
          <p:spPr>
            <a:xfrm>
              <a:off x="981456" y="4491990"/>
              <a:ext cx="8378811"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NOT NULL, UNIQUE, CHECK ve FOREIGN KEY'i doğru bağlamda seçmek</a:t>
              </a:r>
            </a:p>
          </p:txBody>
        </p:sp>
        <p:sp>
          <p:nvSpPr>
            <p:cNvPr id="20" name="TextBox 20"/>
            <p:cNvSpPr txBox="1"/>
            <p:nvPr/>
          </p:nvSpPr>
          <p:spPr>
            <a:xfrm>
              <a:off x="982599" y="4821079"/>
              <a:ext cx="8211753"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Ölçüt: sık kullanılan bir sorgunun index gereksinimini temel düzeyde tartışmak</a:t>
              </a:r>
            </a:p>
          </p:txBody>
        </p:sp>
      </p:grpSp>
      <p:grpSp>
        <p:nvGrpSpPr>
          <p:cNvPr id="25" name="objective-5"/>
          <p:cNvGrpSpPr/>
          <p:nvPr/>
        </p:nvGrpSpPr>
        <p:grpSpPr>
          <a:xfrm>
            <a:off x="685800" y="5482590"/>
            <a:ext cx="7130925" cy="637128"/>
            <a:chOff x="685800" y="5482590"/>
            <a:chExt cx="7130925" cy="637128"/>
          </a:xfrm>
        </p:grpSpPr>
        <p:sp>
          <p:nvSpPr>
            <p:cNvPr id="22" name="Rectangle 22"/>
            <p:cNvSpPr/>
            <p:nvPr/>
          </p:nvSpPr>
          <p:spPr>
            <a:xfrm>
              <a:off x="685800" y="5486400"/>
              <a:ext cx="57150" cy="495300"/>
            </a:xfrm>
            <a:prstGeom prst="rect">
              <a:avLst/>
            </a:prstGeom>
            <a:solidFill>
              <a:srgbClr val="00A6A6"/>
            </a:solidFill>
            <a:ln>
              <a:noFill/>
            </a:ln>
          </p:spPr>
        </p:sp>
        <p:sp>
          <p:nvSpPr>
            <p:cNvPr id="23" name="TextBox 23"/>
            <p:cNvSpPr txBox="1"/>
            <p:nvPr/>
          </p:nvSpPr>
          <p:spPr>
            <a:xfrm>
              <a:off x="981456" y="5482590"/>
              <a:ext cx="6348533"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Birden fazla değişikliği transaction içinde ele almak</a:t>
              </a:r>
            </a:p>
          </p:txBody>
        </p:sp>
        <p:sp>
          <p:nvSpPr>
            <p:cNvPr id="24" name="TextBox 24"/>
            <p:cNvSpPr txBox="1"/>
            <p:nvPr/>
          </p:nvSpPr>
          <p:spPr>
            <a:xfrm>
              <a:off x="982599" y="5811679"/>
              <a:ext cx="6834126"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Ölçüt: hata oluştuğunda geri alma (ROLLBACK) nedenini açıklamak</a:t>
              </a:r>
            </a:p>
          </p:txBody>
        </p:sp>
      </p:grpSp>
      <p:sp>
        <p:nvSpPr>
          <p:cNvPr id="26" name="TextBox 26"/>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03 / 26</a:t>
            </a: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3" name="page-title"/>
          <p:cNvGrpSpPr/>
          <p:nvPr/>
        </p:nvGrpSpPr>
        <p:grpSpPr>
          <a:xfrm>
            <a:off x="609600" y="171450"/>
            <a:ext cx="9231425" cy="668845"/>
            <a:chOff x="609600" y="171450"/>
            <a:chExt cx="9231425" cy="668845"/>
          </a:xfrm>
        </p:grpSpPr>
        <p:grpSp>
          <p:nvGrpSpPr>
            <p:cNvPr id="11"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10" name="Group 10"/>
              <p:cNvGrpSpPr/>
              <p:nvPr/>
            </p:nvGrpSpPr>
            <p:grpSpPr>
              <a:xfrm>
                <a:off x="762476" y="324326"/>
                <a:ext cx="265748" cy="265748"/>
                <a:chOff x="762476" y="324326"/>
                <a:chExt cx="265748" cy="265748"/>
              </a:xfrm>
            </p:grpSpPr>
            <p:sp>
              <p:nvSpPr>
                <p:cNvPr id="5" name="Freeform 5"/>
                <p:cNvSpPr/>
                <p:nvPr/>
              </p:nvSpPr>
              <p:spPr>
                <a:xfrm>
                  <a:off x="762476" y="324326"/>
                  <a:ext cx="265748" cy="265748"/>
                </a:xfrm>
                <a:custGeom>
                  <a:avLst/>
                  <a:gdLst/>
                  <a:ahLst/>
                  <a:cxnLst/>
                  <a:rect l="l" t="t" r="r" b="b"/>
                  <a:pathLst>
                    <a:path w="265748" h="265748">
                      <a:moveTo>
                        <a:pt x="0" y="132874"/>
                      </a:moveTo>
                      <a:cubicBezTo>
                        <a:pt x="0" y="206258"/>
                        <a:pt x="59490" y="265748"/>
                        <a:pt x="132874" y="265748"/>
                      </a:cubicBezTo>
                      <a:cubicBezTo>
                        <a:pt x="206258" y="265748"/>
                        <a:pt x="265748" y="206258"/>
                        <a:pt x="265748" y="132874"/>
                      </a:cubicBezTo>
                      <a:cubicBezTo>
                        <a:pt x="265748" y="59490"/>
                        <a:pt x="206258" y="0"/>
                        <a:pt x="132874" y="0"/>
                      </a:cubicBezTo>
                      <a:cubicBezTo>
                        <a:pt x="59490" y="0"/>
                        <a:pt x="0" y="59490"/>
                        <a:pt x="0" y="132874"/>
                      </a:cubicBezTo>
                    </a:path>
                  </a:pathLst>
                </a:custGeom>
                <a:noFill/>
                <a:ln w="24759" cap="rnd">
                  <a:solidFill>
                    <a:srgbClr val="FFFFFF"/>
                  </a:solidFill>
                  <a:round/>
                </a:ln>
              </p:spPr>
            </p:sp>
            <p:sp>
              <p:nvSpPr>
                <p:cNvPr id="6" name="Freeform 6"/>
                <p:cNvSpPr/>
                <p:nvPr/>
              </p:nvSpPr>
              <p:spPr>
                <a:xfrm>
                  <a:off x="771334" y="412909"/>
                  <a:ext cx="248031" cy="9525"/>
                </a:xfrm>
                <a:custGeom>
                  <a:avLst/>
                  <a:gdLst/>
                  <a:ahLst/>
                  <a:cxnLst/>
                  <a:rect l="l" t="t" r="r" b="b"/>
                  <a:pathLst>
                    <a:path w="248031" h="9525">
                      <a:moveTo>
                        <a:pt x="0" y="0"/>
                      </a:moveTo>
                      <a:lnTo>
                        <a:pt x="248031" y="0"/>
                      </a:lnTo>
                    </a:path>
                  </a:pathLst>
                </a:custGeom>
                <a:noFill/>
                <a:ln w="24759" cap="rnd">
                  <a:solidFill>
                    <a:srgbClr val="FFFFFF"/>
                  </a:solidFill>
                  <a:round/>
                </a:ln>
              </p:spPr>
            </p:sp>
            <p:sp>
              <p:nvSpPr>
                <p:cNvPr id="7" name="Freeform 7"/>
                <p:cNvSpPr/>
                <p:nvPr/>
              </p:nvSpPr>
              <p:spPr>
                <a:xfrm>
                  <a:off x="771334" y="501491"/>
                  <a:ext cx="248031" cy="9525"/>
                </a:xfrm>
                <a:custGeom>
                  <a:avLst/>
                  <a:gdLst/>
                  <a:ahLst/>
                  <a:cxnLst/>
                  <a:rect l="l" t="t" r="r" b="b"/>
                  <a:pathLst>
                    <a:path w="248031" h="9525">
                      <a:moveTo>
                        <a:pt x="0" y="0"/>
                      </a:moveTo>
                      <a:lnTo>
                        <a:pt x="248031" y="0"/>
                      </a:lnTo>
                    </a:path>
                  </a:pathLst>
                </a:custGeom>
                <a:noFill/>
                <a:ln w="24759" cap="rnd">
                  <a:solidFill>
                    <a:srgbClr val="FFFFFF"/>
                  </a:solidFill>
                  <a:round/>
                </a:ln>
              </p:spPr>
            </p:sp>
            <p:sp>
              <p:nvSpPr>
                <p:cNvPr id="8" name="Freeform 8"/>
                <p:cNvSpPr/>
                <p:nvPr/>
              </p:nvSpPr>
              <p:spPr>
                <a:xfrm>
                  <a:off x="837224" y="324326"/>
                  <a:ext cx="50744" cy="265748"/>
                </a:xfrm>
                <a:custGeom>
                  <a:avLst/>
                  <a:gdLst/>
                  <a:ahLst/>
                  <a:cxnLst/>
                  <a:rect l="l" t="t" r="r" b="b"/>
                  <a:pathLst>
                    <a:path w="50744" h="265748">
                      <a:moveTo>
                        <a:pt x="50744" y="0"/>
                      </a:moveTo>
                      <a:cubicBezTo>
                        <a:pt x="0" y="81315"/>
                        <a:pt x="0" y="184432"/>
                        <a:pt x="50744" y="265748"/>
                      </a:cubicBezTo>
                    </a:path>
                  </a:pathLst>
                </a:custGeom>
                <a:noFill/>
                <a:ln w="24759" cap="rnd">
                  <a:solidFill>
                    <a:srgbClr val="FFFFFF"/>
                  </a:solidFill>
                  <a:round/>
                </a:ln>
              </p:spPr>
            </p:sp>
            <p:sp>
              <p:nvSpPr>
                <p:cNvPr id="9" name="Freeform 9"/>
                <p:cNvSpPr/>
                <p:nvPr/>
              </p:nvSpPr>
              <p:spPr>
                <a:xfrm>
                  <a:off x="902732" y="324326"/>
                  <a:ext cx="50744" cy="265748"/>
                </a:xfrm>
                <a:custGeom>
                  <a:avLst/>
                  <a:gdLst/>
                  <a:ahLst/>
                  <a:cxnLst/>
                  <a:rect l="l" t="t" r="r" b="b"/>
                  <a:pathLst>
                    <a:path w="50744" h="265748">
                      <a:moveTo>
                        <a:pt x="0" y="0"/>
                      </a:moveTo>
                      <a:cubicBezTo>
                        <a:pt x="50744" y="81315"/>
                        <a:pt x="50744" y="184432"/>
                        <a:pt x="0" y="265748"/>
                      </a:cubicBezTo>
                    </a:path>
                  </a:pathLst>
                </a:custGeom>
                <a:noFill/>
                <a:ln w="24759" cap="rnd">
                  <a:solidFill>
                    <a:srgbClr val="FFFFFF"/>
                  </a:solidFill>
                  <a:round/>
                </a:ln>
              </p:spPr>
            </p:sp>
          </p:grpSp>
        </p:grpSp>
        <p:sp>
          <p:nvSpPr>
            <p:cNvPr id="12" name="TextBox 12"/>
            <p:cNvSpPr txBox="1"/>
            <p:nvPr/>
          </p:nvSpPr>
          <p:spPr>
            <a:xfrm>
              <a:off x="1299972" y="282892"/>
              <a:ext cx="8541053"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Kavram haritası: PK/FK'den transaction'a</a:t>
              </a:r>
            </a:p>
          </p:txBody>
        </p:sp>
      </p:grpSp>
      <p:grpSp>
        <p:nvGrpSpPr>
          <p:cNvPr id="47" name="concept-map"/>
          <p:cNvGrpSpPr/>
          <p:nvPr/>
        </p:nvGrpSpPr>
        <p:grpSpPr>
          <a:xfrm>
            <a:off x="685800" y="1219200"/>
            <a:ext cx="10896600" cy="4838700"/>
            <a:chOff x="685800" y="1219200"/>
            <a:chExt cx="10896600" cy="4838700"/>
          </a:xfrm>
        </p:grpSpPr>
        <p:grpSp>
          <p:nvGrpSpPr>
            <p:cNvPr id="21" name="Group 21"/>
            <p:cNvGrpSpPr/>
            <p:nvPr/>
          </p:nvGrpSpPr>
          <p:grpSpPr>
            <a:xfrm>
              <a:off x="3067050" y="1647825"/>
              <a:ext cx="6457950" cy="4048125"/>
              <a:chOff x="3067050" y="1647825"/>
              <a:chExt cx="6457950" cy="4048125"/>
            </a:xfrm>
          </p:grpSpPr>
          <p:sp>
            <p:nvSpPr>
              <p:cNvPr id="14" name="Line 14"/>
              <p:cNvSpPr/>
              <p:nvPr/>
            </p:nvSpPr>
            <p:spPr>
              <a:xfrm flipV="1">
                <a:off x="3067050" y="1647825"/>
                <a:ext cx="1428750" cy="1524000"/>
              </a:xfrm>
              <a:prstGeom prst="line">
                <a:avLst/>
              </a:prstGeom>
              <a:noFill/>
              <a:ln w="23812">
                <a:solidFill>
                  <a:srgbClr val="00A6A6"/>
                </a:solidFill>
                <a:tailEnd type="arrow" w="lg" len="lg"/>
              </a:ln>
            </p:spPr>
          </p:sp>
          <p:sp>
            <p:nvSpPr>
              <p:cNvPr id="15" name="Line 15"/>
              <p:cNvSpPr/>
              <p:nvPr/>
            </p:nvSpPr>
            <p:spPr>
              <a:xfrm flipV="1">
                <a:off x="3067050" y="2771775"/>
                <a:ext cx="1428750" cy="400050"/>
              </a:xfrm>
              <a:prstGeom prst="line">
                <a:avLst/>
              </a:prstGeom>
              <a:noFill/>
              <a:ln w="23812">
                <a:solidFill>
                  <a:srgbClr val="00A6A6"/>
                </a:solidFill>
                <a:tailEnd type="arrow" w="lg" len="lg"/>
              </a:ln>
            </p:spPr>
          </p:sp>
          <p:sp>
            <p:nvSpPr>
              <p:cNvPr id="16" name="Line 16"/>
              <p:cNvSpPr/>
              <p:nvPr/>
            </p:nvSpPr>
            <p:spPr>
              <a:xfrm>
                <a:off x="3067050" y="3171825"/>
                <a:ext cx="1428750" cy="723900"/>
              </a:xfrm>
              <a:prstGeom prst="line">
                <a:avLst/>
              </a:prstGeom>
              <a:noFill/>
              <a:ln w="23812">
                <a:solidFill>
                  <a:srgbClr val="00A6A6"/>
                </a:solidFill>
                <a:tailEnd type="arrow" w="lg" len="lg"/>
              </a:ln>
            </p:spPr>
          </p:sp>
          <p:sp>
            <p:nvSpPr>
              <p:cNvPr id="17" name="Line 17"/>
              <p:cNvSpPr/>
              <p:nvPr/>
            </p:nvSpPr>
            <p:spPr>
              <a:xfrm>
                <a:off x="3067050" y="3171825"/>
                <a:ext cx="1428750" cy="2524125"/>
              </a:xfrm>
              <a:prstGeom prst="line">
                <a:avLst/>
              </a:prstGeom>
              <a:noFill/>
              <a:ln w="23812">
                <a:solidFill>
                  <a:srgbClr val="00A6A6"/>
                </a:solidFill>
                <a:tailEnd type="arrow" w="lg" len="lg"/>
              </a:ln>
            </p:spPr>
          </p:sp>
          <p:sp>
            <p:nvSpPr>
              <p:cNvPr id="18" name="Line 18"/>
              <p:cNvSpPr/>
              <p:nvPr/>
            </p:nvSpPr>
            <p:spPr>
              <a:xfrm>
                <a:off x="6477000" y="2076450"/>
                <a:ext cx="1" cy="266700"/>
              </a:xfrm>
              <a:prstGeom prst="line">
                <a:avLst/>
              </a:prstGeom>
              <a:noFill/>
              <a:ln w="19050">
                <a:solidFill>
                  <a:srgbClr val="52616B"/>
                </a:solidFill>
                <a:custDash>
                  <a:ds d="300000" sp="200000"/>
                </a:custDash>
                <a:tailEnd type="arrow" w="lg" len="lg"/>
              </a:ln>
            </p:spPr>
          </p:sp>
          <p:sp>
            <p:nvSpPr>
              <p:cNvPr id="19" name="Line 19"/>
              <p:cNvSpPr/>
              <p:nvPr/>
            </p:nvSpPr>
            <p:spPr>
              <a:xfrm>
                <a:off x="6477000" y="3200400"/>
                <a:ext cx="1" cy="266700"/>
              </a:xfrm>
              <a:prstGeom prst="line">
                <a:avLst/>
              </a:prstGeom>
              <a:noFill/>
              <a:ln w="19050">
                <a:solidFill>
                  <a:srgbClr val="52616B"/>
                </a:solidFill>
                <a:custDash>
                  <a:ds d="300000" sp="200000"/>
                </a:custDash>
                <a:tailEnd type="arrow" w="lg" len="lg"/>
              </a:ln>
            </p:spPr>
          </p:sp>
          <p:sp>
            <p:nvSpPr>
              <p:cNvPr id="20" name="Line 20"/>
              <p:cNvSpPr/>
              <p:nvPr/>
            </p:nvSpPr>
            <p:spPr>
              <a:xfrm>
                <a:off x="8572500" y="4324350"/>
                <a:ext cx="952500" cy="1009650"/>
              </a:xfrm>
              <a:prstGeom prst="line">
                <a:avLst/>
              </a:prstGeom>
              <a:noFill/>
              <a:ln w="19050">
                <a:solidFill>
                  <a:srgbClr val="52616B"/>
                </a:solidFill>
                <a:custDash>
                  <a:ds d="300000" sp="200000"/>
                </a:custDash>
                <a:tailEnd type="arrow" w="lg" len="lg"/>
              </a:ln>
            </p:spPr>
          </p:sp>
        </p:grpSp>
        <p:grpSp>
          <p:nvGrpSpPr>
            <p:cNvPr id="25" name="map-hub"/>
            <p:cNvGrpSpPr/>
            <p:nvPr/>
          </p:nvGrpSpPr>
          <p:grpSpPr>
            <a:xfrm>
              <a:off x="685800" y="2362200"/>
              <a:ext cx="2784805" cy="1619250"/>
              <a:chOff x="685800" y="2362200"/>
              <a:chExt cx="2784805" cy="1619250"/>
            </a:xfrm>
          </p:grpSpPr>
          <p:sp>
            <p:nvSpPr>
              <p:cNvPr id="22" name="Rectangle 22"/>
              <p:cNvSpPr/>
              <p:nvPr/>
            </p:nvSpPr>
            <p:spPr>
              <a:xfrm>
                <a:off x="685800" y="2362200"/>
                <a:ext cx="2381250" cy="1619250"/>
              </a:xfrm>
              <a:prstGeom prst="roundRect">
                <a:avLst>
                  <a:gd name="adj" fmla="val 5882"/>
                </a:avLst>
              </a:prstGeom>
              <a:solidFill>
                <a:srgbClr val="12355B"/>
              </a:solidFill>
              <a:ln>
                <a:noFill/>
              </a:ln>
            </p:spPr>
          </p:sp>
          <p:sp>
            <p:nvSpPr>
              <p:cNvPr id="23" name="TextBox 23"/>
              <p:cNvSpPr txBox="1"/>
              <p:nvPr/>
            </p:nvSpPr>
            <p:spPr>
              <a:xfrm>
                <a:off x="941832" y="2707005"/>
                <a:ext cx="959453" cy="753618"/>
              </a:xfrm>
              <a:prstGeom prst="rect">
                <a:avLst/>
              </a:prstGeom>
              <a:noFill/>
              <a:ln>
                <a:noFill/>
              </a:ln>
            </p:spPr>
            <p:txBody>
              <a:bodyPr wrap="none" lIns="0" tIns="0" rIns="0" bIns="0" anchor="t" anchorCtr="0">
                <a:spAutoFit/>
              </a:bodyPr>
              <a:lstStyle/>
              <a:p>
                <a:pPr algn="l">
                  <a:lnSpc>
                    <a:spcPts val="2700"/>
                  </a:lnSpc>
                </a:pPr>
                <a:r>
                  <a:rPr lang="tr-TR" sz="2100" b="1" dirty="0">
                    <a:solidFill>
                      <a:srgbClr val="FFFFFF"/>
                    </a:solidFill>
                    <a:latin typeface="+mn-lt"/>
                    <a:ea typeface="+mn-ea"/>
                    <a:cs typeface="+mn-cs"/>
                  </a:rPr>
                  <a:t>PK / FK</a:t>
                </a:r>
                <a:br/>
                <a:r>
                  <a:rPr lang="tr-TR" sz="2100" b="1" dirty="0">
                    <a:solidFill>
                      <a:srgbClr val="FFFFFF"/>
                    </a:solidFill>
                    <a:latin typeface="+mn-lt"/>
                    <a:ea typeface="+mn-ea"/>
                    <a:cs typeface="+mn-cs"/>
                  </a:rPr>
                  <a:t>ilişkisi</a:t>
                </a:r>
              </a:p>
            </p:txBody>
          </p:sp>
          <p:sp>
            <p:nvSpPr>
              <p:cNvPr id="24" name="TextBox 24"/>
              <p:cNvSpPr txBox="1"/>
              <p:nvPr/>
            </p:nvSpPr>
            <p:spPr>
              <a:xfrm>
                <a:off x="946404" y="3489960"/>
                <a:ext cx="2524201"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mn-lt"/>
                    <a:ea typeface="+mn-ea"/>
                    <a:cs typeface="+mn-cs"/>
                  </a:rPr>
                  <a:t>tablolar arası bağlantıyı kurar</a:t>
                </a:r>
              </a:p>
            </p:txBody>
          </p:sp>
        </p:grpSp>
        <p:grpSp>
          <p:nvGrpSpPr>
            <p:cNvPr id="29" name="map-node-join"/>
            <p:cNvGrpSpPr/>
            <p:nvPr/>
          </p:nvGrpSpPr>
          <p:grpSpPr>
            <a:xfrm>
              <a:off x="4572000" y="1219200"/>
              <a:ext cx="3810000" cy="857250"/>
              <a:chOff x="4572000" y="1219200"/>
              <a:chExt cx="3810000" cy="857250"/>
            </a:xfrm>
          </p:grpSpPr>
          <p:sp>
            <p:nvSpPr>
              <p:cNvPr id="26" name="Rectangle 26"/>
              <p:cNvSpPr/>
              <p:nvPr/>
            </p:nvSpPr>
            <p:spPr>
              <a:xfrm>
                <a:off x="4572000" y="1219200"/>
                <a:ext cx="3810000" cy="857250"/>
              </a:xfrm>
              <a:prstGeom prst="roundRect">
                <a:avLst>
                  <a:gd name="adj" fmla="val 11111"/>
                </a:avLst>
              </a:prstGeom>
              <a:solidFill>
                <a:srgbClr val="FFFFFF"/>
              </a:solidFill>
              <a:ln w="14288">
                <a:solidFill>
                  <a:srgbClr val="2E86AB"/>
                </a:solidFill>
              </a:ln>
            </p:spPr>
          </p:sp>
          <p:sp>
            <p:nvSpPr>
              <p:cNvPr id="27" name="TextBox 27"/>
              <p:cNvSpPr txBox="1"/>
              <p:nvPr/>
            </p:nvSpPr>
            <p:spPr>
              <a:xfrm>
                <a:off x="4791456" y="1367790"/>
                <a:ext cx="596280"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JOIN</a:t>
                </a:r>
              </a:p>
            </p:txBody>
          </p:sp>
          <p:sp>
            <p:nvSpPr>
              <p:cNvPr id="28" name="TextBox 28"/>
              <p:cNvSpPr txBox="1"/>
              <p:nvPr/>
            </p:nvSpPr>
            <p:spPr>
              <a:xfrm>
                <a:off x="4792599" y="1658779"/>
                <a:ext cx="3238401"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ilişkiyi sorgu anında birleştirir</a:t>
                </a:r>
              </a:p>
            </p:txBody>
          </p:sp>
        </p:grpSp>
        <p:grpSp>
          <p:nvGrpSpPr>
            <p:cNvPr id="33" name="map-node-constraint"/>
            <p:cNvGrpSpPr/>
            <p:nvPr/>
          </p:nvGrpSpPr>
          <p:grpSpPr>
            <a:xfrm>
              <a:off x="4572000" y="2343150"/>
              <a:ext cx="4182179" cy="857250"/>
              <a:chOff x="4572000" y="2343150"/>
              <a:chExt cx="4182179" cy="857250"/>
            </a:xfrm>
          </p:grpSpPr>
          <p:sp>
            <p:nvSpPr>
              <p:cNvPr id="30" name="Rectangle 30"/>
              <p:cNvSpPr/>
              <p:nvPr/>
            </p:nvSpPr>
            <p:spPr>
              <a:xfrm>
                <a:off x="4572000" y="2343150"/>
                <a:ext cx="3810000" cy="857250"/>
              </a:xfrm>
              <a:prstGeom prst="roundRect">
                <a:avLst>
                  <a:gd name="adj" fmla="val 11111"/>
                </a:avLst>
              </a:prstGeom>
              <a:solidFill>
                <a:srgbClr val="FFFFFF"/>
              </a:solidFill>
              <a:ln w="14288">
                <a:solidFill>
                  <a:srgbClr val="2E86AB"/>
                </a:solidFill>
              </a:ln>
            </p:spPr>
          </p:sp>
          <p:sp>
            <p:nvSpPr>
              <p:cNvPr id="31" name="TextBox 31"/>
              <p:cNvSpPr txBox="1"/>
              <p:nvPr/>
            </p:nvSpPr>
            <p:spPr>
              <a:xfrm>
                <a:off x="4791456" y="2491740"/>
                <a:ext cx="1361616"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Constraint</a:t>
                </a:r>
              </a:p>
            </p:txBody>
          </p:sp>
          <p:sp>
            <p:nvSpPr>
              <p:cNvPr id="32" name="TextBox 32"/>
              <p:cNvSpPr txBox="1"/>
              <p:nvPr/>
            </p:nvSpPr>
            <p:spPr>
              <a:xfrm>
                <a:off x="4792599" y="2782729"/>
                <a:ext cx="3961580"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geçersiz veriyi kalıcı yazımdan korur</a:t>
                </a:r>
              </a:p>
            </p:txBody>
          </p:sp>
        </p:grpSp>
        <p:grpSp>
          <p:nvGrpSpPr>
            <p:cNvPr id="37" name="map-node-index"/>
            <p:cNvGrpSpPr/>
            <p:nvPr/>
          </p:nvGrpSpPr>
          <p:grpSpPr>
            <a:xfrm>
              <a:off x="4572000" y="3467100"/>
              <a:ext cx="3810000" cy="857250"/>
              <a:chOff x="4572000" y="3467100"/>
              <a:chExt cx="3810000" cy="857250"/>
            </a:xfrm>
          </p:grpSpPr>
          <p:sp>
            <p:nvSpPr>
              <p:cNvPr id="34" name="Rectangle 34"/>
              <p:cNvSpPr/>
              <p:nvPr/>
            </p:nvSpPr>
            <p:spPr>
              <a:xfrm>
                <a:off x="4572000" y="3467100"/>
                <a:ext cx="3810000" cy="857250"/>
              </a:xfrm>
              <a:prstGeom prst="roundRect">
                <a:avLst>
                  <a:gd name="adj" fmla="val 11111"/>
                </a:avLst>
              </a:prstGeom>
              <a:solidFill>
                <a:srgbClr val="FFFFFF"/>
              </a:solidFill>
              <a:ln w="14288">
                <a:solidFill>
                  <a:srgbClr val="2E86AB"/>
                </a:solidFill>
              </a:ln>
            </p:spPr>
          </p:sp>
          <p:sp>
            <p:nvSpPr>
              <p:cNvPr id="35" name="TextBox 35"/>
              <p:cNvSpPr txBox="1"/>
              <p:nvPr/>
            </p:nvSpPr>
            <p:spPr>
              <a:xfrm>
                <a:off x="4791456" y="3615690"/>
                <a:ext cx="661568"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Index</a:t>
                </a:r>
              </a:p>
            </p:txBody>
          </p:sp>
          <p:sp>
            <p:nvSpPr>
              <p:cNvPr id="36" name="TextBox 36"/>
              <p:cNvSpPr txBox="1"/>
              <p:nvPr/>
            </p:nvSpPr>
            <p:spPr>
              <a:xfrm>
                <a:off x="4792599" y="3906679"/>
                <a:ext cx="3504275"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sık kullanılan erişimi hızlandırır</a:t>
                </a:r>
              </a:p>
            </p:txBody>
          </p:sp>
        </p:grpSp>
        <p:grpSp>
          <p:nvGrpSpPr>
            <p:cNvPr id="41" name="map-node-transaction"/>
            <p:cNvGrpSpPr/>
            <p:nvPr/>
          </p:nvGrpSpPr>
          <p:grpSpPr>
            <a:xfrm>
              <a:off x="4572000" y="5334000"/>
              <a:ext cx="7010400" cy="723900"/>
              <a:chOff x="4572000" y="5334000"/>
              <a:chExt cx="7010400" cy="723900"/>
            </a:xfrm>
          </p:grpSpPr>
          <p:sp>
            <p:nvSpPr>
              <p:cNvPr id="38" name="Rectangle 38"/>
              <p:cNvSpPr/>
              <p:nvPr/>
            </p:nvSpPr>
            <p:spPr>
              <a:xfrm>
                <a:off x="4572000" y="5334000"/>
                <a:ext cx="7010400" cy="723900"/>
              </a:xfrm>
              <a:prstGeom prst="roundRect">
                <a:avLst>
                  <a:gd name="adj" fmla="val 13158"/>
                </a:avLst>
              </a:prstGeom>
              <a:solidFill>
                <a:srgbClr val="EAF4F6"/>
              </a:solidFill>
              <a:ln w="14288">
                <a:solidFill>
                  <a:srgbClr val="00A6A6"/>
                </a:solidFill>
              </a:ln>
            </p:spPr>
          </p:sp>
          <p:sp>
            <p:nvSpPr>
              <p:cNvPr id="39" name="TextBox 39"/>
              <p:cNvSpPr txBox="1"/>
              <p:nvPr/>
            </p:nvSpPr>
            <p:spPr>
              <a:xfrm>
                <a:off x="4791456" y="5444490"/>
                <a:ext cx="1501586"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Transaction</a:t>
                </a:r>
              </a:p>
            </p:txBody>
          </p:sp>
          <p:sp>
            <p:nvSpPr>
              <p:cNvPr id="40" name="TextBox 40"/>
              <p:cNvSpPr txBox="1"/>
              <p:nvPr/>
            </p:nvSpPr>
            <p:spPr>
              <a:xfrm>
                <a:off x="4792599" y="5716429"/>
                <a:ext cx="6216195"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birden fazla değişikliği ya hep ya hiç ilkesiyle güvenceye alır</a:t>
                </a:r>
              </a:p>
            </p:txBody>
          </p:sp>
        </p:grpSp>
        <p:grpSp>
          <p:nvGrpSpPr>
            <p:cNvPr id="46" name="map-legend"/>
            <p:cNvGrpSpPr/>
            <p:nvPr/>
          </p:nvGrpSpPr>
          <p:grpSpPr>
            <a:xfrm>
              <a:off x="685800" y="4232910"/>
              <a:ext cx="3165500" cy="577596"/>
              <a:chOff x="685800" y="4232910"/>
              <a:chExt cx="3165500" cy="577596"/>
            </a:xfrm>
          </p:grpSpPr>
          <p:sp>
            <p:nvSpPr>
              <p:cNvPr id="42" name="Line 42"/>
              <p:cNvSpPr/>
              <p:nvPr/>
            </p:nvSpPr>
            <p:spPr>
              <a:xfrm>
                <a:off x="685800" y="4305300"/>
                <a:ext cx="304800" cy="1"/>
              </a:xfrm>
              <a:prstGeom prst="line">
                <a:avLst/>
              </a:prstGeom>
              <a:noFill/>
              <a:ln w="23812">
                <a:solidFill>
                  <a:srgbClr val="00A6A6"/>
                </a:solidFill>
                <a:tailEnd type="arrow" w="lg" len="lg"/>
              </a:ln>
            </p:spPr>
          </p:sp>
          <p:sp>
            <p:nvSpPr>
              <p:cNvPr id="43" name="TextBox 43"/>
              <p:cNvSpPr txBox="1"/>
              <p:nvPr/>
            </p:nvSpPr>
            <p:spPr>
              <a:xfrm>
                <a:off x="1079754" y="4232910"/>
                <a:ext cx="2770362"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PK/FK ilişkisinden türeyen kullanım</a:t>
                </a:r>
              </a:p>
            </p:txBody>
          </p:sp>
          <p:sp>
            <p:nvSpPr>
              <p:cNvPr id="44" name="Line 44"/>
              <p:cNvSpPr/>
              <p:nvPr/>
            </p:nvSpPr>
            <p:spPr>
              <a:xfrm>
                <a:off x="685800" y="4648200"/>
                <a:ext cx="304800" cy="1"/>
              </a:xfrm>
              <a:prstGeom prst="line">
                <a:avLst/>
              </a:prstGeom>
              <a:noFill/>
              <a:ln w="19050">
                <a:solidFill>
                  <a:srgbClr val="52616B"/>
                </a:solidFill>
                <a:custDash>
                  <a:ds d="300000" sp="200000"/>
                </a:custDash>
                <a:tailEnd type="arrow" w="lg" len="lg"/>
              </a:ln>
            </p:spPr>
          </p:sp>
          <p:sp>
            <p:nvSpPr>
              <p:cNvPr id="45" name="TextBox 45"/>
              <p:cNvSpPr txBox="1"/>
              <p:nvPr/>
            </p:nvSpPr>
            <p:spPr>
              <a:xfrm>
                <a:off x="1079754" y="4575810"/>
                <a:ext cx="2771546"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Kavramlar arası tamamlayıcı ilişki</a:t>
                </a:r>
              </a:p>
            </p:txBody>
          </p:sp>
        </p:grpSp>
      </p:grpSp>
      <p:sp>
        <p:nvSpPr>
          <p:cNvPr id="48" name="TextBox 48"/>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04 / 26</a:t>
            </a: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2" name="page-title"/>
          <p:cNvGrpSpPr/>
          <p:nvPr/>
        </p:nvGrpSpPr>
        <p:grpSpPr>
          <a:xfrm>
            <a:off x="609600" y="171450"/>
            <a:ext cx="5908695" cy="668845"/>
            <a:chOff x="609600" y="171450"/>
            <a:chExt cx="5908695" cy="668845"/>
          </a:xfrm>
        </p:grpSpPr>
        <p:grpSp>
          <p:nvGrpSpPr>
            <p:cNvPr id="10"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9" name="Group 9"/>
              <p:cNvGrpSpPr/>
              <p:nvPr/>
            </p:nvGrpSpPr>
            <p:grpSpPr>
              <a:xfrm>
                <a:off x="777240" y="339090"/>
                <a:ext cx="236220" cy="236220"/>
                <a:chOff x="777240" y="339090"/>
                <a:chExt cx="236220" cy="236220"/>
              </a:xfrm>
            </p:grpSpPr>
            <p:sp>
              <p:nvSpPr>
                <p:cNvPr id="5" name="Freeform 5"/>
                <p:cNvSpPr/>
                <p:nvPr/>
              </p:nvSpPr>
              <p:spPr>
                <a:xfrm>
                  <a:off x="777240" y="339090"/>
                  <a:ext cx="88582" cy="118110"/>
                </a:xfrm>
                <a:custGeom>
                  <a:avLst/>
                  <a:gdLst/>
                  <a:ahLst/>
                  <a:cxnLst/>
                  <a:rect l="l" t="t" r="r" b="b"/>
                  <a:pathLst>
                    <a:path w="88582" h="118110">
                      <a:moveTo>
                        <a:pt x="14764" y="0"/>
                      </a:moveTo>
                      <a:lnTo>
                        <a:pt x="73819" y="0"/>
                      </a:lnTo>
                      <a:cubicBezTo>
                        <a:pt x="81973" y="0"/>
                        <a:pt x="88582" y="6610"/>
                        <a:pt x="88582" y="14764"/>
                      </a:cubicBezTo>
                      <a:lnTo>
                        <a:pt x="88582" y="103346"/>
                      </a:lnTo>
                      <a:cubicBezTo>
                        <a:pt x="88582" y="111500"/>
                        <a:pt x="81973" y="118110"/>
                        <a:pt x="73819" y="118110"/>
                      </a:cubicBezTo>
                      <a:lnTo>
                        <a:pt x="14764" y="118110"/>
                      </a:lnTo>
                      <a:cubicBezTo>
                        <a:pt x="6610" y="118110"/>
                        <a:pt x="0" y="111500"/>
                        <a:pt x="0" y="103346"/>
                      </a:cubicBezTo>
                      <a:lnTo>
                        <a:pt x="0" y="14764"/>
                      </a:lnTo>
                      <a:cubicBezTo>
                        <a:pt x="0" y="6610"/>
                        <a:pt x="6610" y="0"/>
                        <a:pt x="14764" y="0"/>
                      </a:cubicBezTo>
                    </a:path>
                  </a:pathLst>
                </a:custGeom>
                <a:noFill/>
                <a:ln w="24759" cap="rnd">
                  <a:solidFill>
                    <a:srgbClr val="FFFFFF"/>
                  </a:solidFill>
                  <a:round/>
                </a:ln>
              </p:spPr>
            </p:sp>
            <p:sp>
              <p:nvSpPr>
                <p:cNvPr id="6" name="Freeform 6"/>
                <p:cNvSpPr/>
                <p:nvPr/>
              </p:nvSpPr>
              <p:spPr>
                <a:xfrm>
                  <a:off x="777240" y="516255"/>
                  <a:ext cx="88582" cy="59055"/>
                </a:xfrm>
                <a:custGeom>
                  <a:avLst/>
                  <a:gdLst/>
                  <a:ahLst/>
                  <a:cxnLst/>
                  <a:rect l="l" t="t" r="r" b="b"/>
                  <a:pathLst>
                    <a:path w="88582" h="59055">
                      <a:moveTo>
                        <a:pt x="14764" y="0"/>
                      </a:moveTo>
                      <a:lnTo>
                        <a:pt x="73819" y="0"/>
                      </a:lnTo>
                      <a:cubicBezTo>
                        <a:pt x="81973" y="0"/>
                        <a:pt x="88582" y="6610"/>
                        <a:pt x="88582" y="14764"/>
                      </a:cubicBezTo>
                      <a:lnTo>
                        <a:pt x="88582" y="44291"/>
                      </a:lnTo>
                      <a:cubicBezTo>
                        <a:pt x="88582" y="52445"/>
                        <a:pt x="81973" y="59055"/>
                        <a:pt x="73819" y="59055"/>
                      </a:cubicBezTo>
                      <a:lnTo>
                        <a:pt x="14764" y="59055"/>
                      </a:lnTo>
                      <a:cubicBezTo>
                        <a:pt x="6610" y="59055"/>
                        <a:pt x="0" y="52445"/>
                        <a:pt x="0" y="44291"/>
                      </a:cubicBezTo>
                      <a:lnTo>
                        <a:pt x="0" y="14764"/>
                      </a:lnTo>
                      <a:cubicBezTo>
                        <a:pt x="0" y="6610"/>
                        <a:pt x="6610" y="0"/>
                        <a:pt x="14764" y="0"/>
                      </a:cubicBezTo>
                    </a:path>
                  </a:pathLst>
                </a:custGeom>
                <a:noFill/>
                <a:ln w="24759" cap="rnd">
                  <a:solidFill>
                    <a:srgbClr val="FFFFFF"/>
                  </a:solidFill>
                  <a:round/>
                </a:ln>
              </p:spPr>
            </p:sp>
            <p:sp>
              <p:nvSpPr>
                <p:cNvPr id="7" name="Freeform 7"/>
                <p:cNvSpPr/>
                <p:nvPr/>
              </p:nvSpPr>
              <p:spPr>
                <a:xfrm>
                  <a:off x="924878" y="457200"/>
                  <a:ext cx="88582" cy="118110"/>
                </a:xfrm>
                <a:custGeom>
                  <a:avLst/>
                  <a:gdLst/>
                  <a:ahLst/>
                  <a:cxnLst/>
                  <a:rect l="l" t="t" r="r" b="b"/>
                  <a:pathLst>
                    <a:path w="88582" h="118110">
                      <a:moveTo>
                        <a:pt x="14764" y="0"/>
                      </a:moveTo>
                      <a:lnTo>
                        <a:pt x="73819" y="0"/>
                      </a:lnTo>
                      <a:cubicBezTo>
                        <a:pt x="81973" y="0"/>
                        <a:pt x="88582" y="6610"/>
                        <a:pt x="88582" y="14764"/>
                      </a:cubicBezTo>
                      <a:lnTo>
                        <a:pt x="88582" y="103346"/>
                      </a:lnTo>
                      <a:cubicBezTo>
                        <a:pt x="88582" y="111500"/>
                        <a:pt x="81973" y="118110"/>
                        <a:pt x="73819" y="118110"/>
                      </a:cubicBezTo>
                      <a:lnTo>
                        <a:pt x="14764" y="118110"/>
                      </a:lnTo>
                      <a:cubicBezTo>
                        <a:pt x="6610" y="118110"/>
                        <a:pt x="0" y="111500"/>
                        <a:pt x="0" y="103346"/>
                      </a:cubicBezTo>
                      <a:lnTo>
                        <a:pt x="0" y="14764"/>
                      </a:lnTo>
                      <a:cubicBezTo>
                        <a:pt x="0" y="6610"/>
                        <a:pt x="6610" y="0"/>
                        <a:pt x="14764" y="0"/>
                      </a:cubicBezTo>
                    </a:path>
                  </a:pathLst>
                </a:custGeom>
                <a:noFill/>
                <a:ln w="24759" cap="rnd">
                  <a:solidFill>
                    <a:srgbClr val="FFFFFF"/>
                  </a:solidFill>
                  <a:round/>
                </a:ln>
              </p:spPr>
            </p:sp>
            <p:sp>
              <p:nvSpPr>
                <p:cNvPr id="8" name="Freeform 8"/>
                <p:cNvSpPr/>
                <p:nvPr/>
              </p:nvSpPr>
              <p:spPr>
                <a:xfrm>
                  <a:off x="924878" y="339090"/>
                  <a:ext cx="88582" cy="59055"/>
                </a:xfrm>
                <a:custGeom>
                  <a:avLst/>
                  <a:gdLst/>
                  <a:ahLst/>
                  <a:cxnLst/>
                  <a:rect l="l" t="t" r="r" b="b"/>
                  <a:pathLst>
                    <a:path w="88582" h="59055">
                      <a:moveTo>
                        <a:pt x="14764" y="0"/>
                      </a:moveTo>
                      <a:lnTo>
                        <a:pt x="73819" y="0"/>
                      </a:lnTo>
                      <a:cubicBezTo>
                        <a:pt x="81973" y="0"/>
                        <a:pt x="88582" y="6610"/>
                        <a:pt x="88582" y="14764"/>
                      </a:cubicBezTo>
                      <a:lnTo>
                        <a:pt x="88582" y="44291"/>
                      </a:lnTo>
                      <a:cubicBezTo>
                        <a:pt x="88582" y="52445"/>
                        <a:pt x="81973" y="59055"/>
                        <a:pt x="73819" y="59055"/>
                      </a:cubicBezTo>
                      <a:lnTo>
                        <a:pt x="14764" y="59055"/>
                      </a:lnTo>
                      <a:cubicBezTo>
                        <a:pt x="6610" y="59055"/>
                        <a:pt x="0" y="52445"/>
                        <a:pt x="0" y="44291"/>
                      </a:cubicBezTo>
                      <a:lnTo>
                        <a:pt x="0" y="14764"/>
                      </a:lnTo>
                      <a:cubicBezTo>
                        <a:pt x="0" y="6610"/>
                        <a:pt x="6610" y="0"/>
                        <a:pt x="14764" y="0"/>
                      </a:cubicBezTo>
                    </a:path>
                  </a:pathLst>
                </a:custGeom>
                <a:noFill/>
                <a:ln w="24759" cap="rnd">
                  <a:solidFill>
                    <a:srgbClr val="FFFFFF"/>
                  </a:solidFill>
                  <a:round/>
                </a:ln>
              </p:spPr>
            </p:sp>
          </p:grpSp>
        </p:grpSp>
        <p:sp>
          <p:nvSpPr>
            <p:cNvPr id="11" name="TextBox 11"/>
            <p:cNvSpPr txBox="1"/>
            <p:nvPr/>
          </p:nvSpPr>
          <p:spPr>
            <a:xfrm>
              <a:off x="1299972" y="282892"/>
              <a:ext cx="5218323"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Kavram sorumluluk matrisi</a:t>
              </a:r>
            </a:p>
          </p:txBody>
        </p:sp>
      </p:grpSp>
      <p:grpSp>
        <p:nvGrpSpPr>
          <p:cNvPr id="18" name="matrix-header"/>
          <p:cNvGrpSpPr/>
          <p:nvPr/>
        </p:nvGrpSpPr>
        <p:grpSpPr>
          <a:xfrm>
            <a:off x="609600" y="1333500"/>
            <a:ext cx="10972800" cy="342900"/>
            <a:chOff x="609600" y="1333500"/>
            <a:chExt cx="10972800" cy="342900"/>
          </a:xfrm>
        </p:grpSpPr>
        <p:sp>
          <p:nvSpPr>
            <p:cNvPr id="13" name="Rectangle 13"/>
            <p:cNvSpPr/>
            <p:nvPr/>
          </p:nvSpPr>
          <p:spPr>
            <a:xfrm>
              <a:off x="609600" y="1333500"/>
              <a:ext cx="10972800" cy="342900"/>
            </a:xfrm>
            <a:prstGeom prst="rect">
              <a:avLst/>
            </a:prstGeom>
            <a:solidFill>
              <a:srgbClr val="12355B"/>
            </a:solidFill>
            <a:ln>
              <a:noFill/>
            </a:ln>
          </p:spPr>
        </p:sp>
        <p:sp>
          <p:nvSpPr>
            <p:cNvPr id="14" name="TextBox 14"/>
            <p:cNvSpPr txBox="1"/>
            <p:nvPr/>
          </p:nvSpPr>
          <p:spPr>
            <a:xfrm>
              <a:off x="756285" y="1431131"/>
              <a:ext cx="650230" cy="220028"/>
            </a:xfrm>
            <a:prstGeom prst="rect">
              <a:avLst/>
            </a:prstGeom>
            <a:noFill/>
            <a:ln>
              <a:noFill/>
            </a:ln>
          </p:spPr>
          <p:txBody>
            <a:bodyPr wrap="none" lIns="0" tIns="0" rIns="0" bIns="0" anchor="t" anchorCtr="0">
              <a:spAutoFit/>
            </a:bodyPr>
            <a:lstStyle/>
            <a:p>
              <a:pPr algn="l"/>
              <a:r>
                <a:rPr lang="tr-TR" sz="1120" b="1" spc="75" dirty="0">
                  <a:solidFill>
                    <a:srgbClr val="FFFFFF"/>
                  </a:solidFill>
                  <a:latin typeface="+mn-lt"/>
                  <a:ea typeface="+mn-ea"/>
                  <a:cs typeface="+mn-cs"/>
                </a:rPr>
                <a:t>KAVRAM</a:t>
              </a:r>
            </a:p>
          </p:txBody>
        </p:sp>
        <p:sp>
          <p:nvSpPr>
            <p:cNvPr id="15" name="TextBox 15"/>
            <p:cNvSpPr txBox="1"/>
            <p:nvPr/>
          </p:nvSpPr>
          <p:spPr>
            <a:xfrm>
              <a:off x="2661285" y="1431131"/>
              <a:ext cx="1224424" cy="220028"/>
            </a:xfrm>
            <a:prstGeom prst="rect">
              <a:avLst/>
            </a:prstGeom>
            <a:noFill/>
            <a:ln>
              <a:noFill/>
            </a:ln>
          </p:spPr>
          <p:txBody>
            <a:bodyPr wrap="none" lIns="0" tIns="0" rIns="0" bIns="0" anchor="t" anchorCtr="0">
              <a:spAutoFit/>
            </a:bodyPr>
            <a:lstStyle/>
            <a:p>
              <a:pPr algn="l"/>
              <a:r>
                <a:rPr lang="tr-TR" sz="1120" b="1" spc="75" dirty="0">
                  <a:solidFill>
                    <a:srgbClr val="FFFFFF"/>
                  </a:solidFill>
                  <a:latin typeface="+mn-lt"/>
                  <a:ea typeface="+mn-ea"/>
                  <a:cs typeface="+mn-cs"/>
                </a:rPr>
                <a:t>TEMEL GÖREVİ</a:t>
              </a:r>
            </a:p>
          </p:txBody>
        </p:sp>
        <p:sp>
          <p:nvSpPr>
            <p:cNvPr id="16" name="TextBox 16"/>
            <p:cNvSpPr txBox="1"/>
            <p:nvPr/>
          </p:nvSpPr>
          <p:spPr>
            <a:xfrm>
              <a:off x="5709285" y="1431131"/>
              <a:ext cx="1019087" cy="220028"/>
            </a:xfrm>
            <a:prstGeom prst="rect">
              <a:avLst/>
            </a:prstGeom>
            <a:noFill/>
            <a:ln>
              <a:noFill/>
            </a:ln>
          </p:spPr>
          <p:txBody>
            <a:bodyPr wrap="none" lIns="0" tIns="0" rIns="0" bIns="0" anchor="t" anchorCtr="0">
              <a:spAutoFit/>
            </a:bodyPr>
            <a:lstStyle/>
            <a:p>
              <a:pPr algn="l"/>
              <a:r>
                <a:rPr lang="tr-TR" sz="1120" b="1" spc="75" dirty="0">
                  <a:solidFill>
                    <a:srgbClr val="FFFFFF"/>
                  </a:solidFill>
                  <a:latin typeface="+mn-lt"/>
                  <a:ea typeface="+mn-ea"/>
                  <a:cs typeface="+mn-cs"/>
                </a:rPr>
                <a:t>NE YAPMAZ?</a:t>
              </a:r>
            </a:p>
          </p:txBody>
        </p:sp>
        <p:sp>
          <p:nvSpPr>
            <p:cNvPr id="17" name="TextBox 17"/>
            <p:cNvSpPr txBox="1"/>
            <p:nvPr/>
          </p:nvSpPr>
          <p:spPr>
            <a:xfrm>
              <a:off x="8757285" y="1431131"/>
              <a:ext cx="1660191" cy="220028"/>
            </a:xfrm>
            <a:prstGeom prst="rect">
              <a:avLst/>
            </a:prstGeom>
            <a:noFill/>
            <a:ln>
              <a:noFill/>
            </a:ln>
          </p:spPr>
          <p:txBody>
            <a:bodyPr wrap="none" lIns="0" tIns="0" rIns="0" bIns="0" anchor="t" anchorCtr="0">
              <a:spAutoFit/>
            </a:bodyPr>
            <a:lstStyle/>
            <a:p>
              <a:pPr algn="l"/>
              <a:r>
                <a:rPr lang="tr-TR" sz="1120" b="1" spc="75" dirty="0">
                  <a:solidFill>
                    <a:srgbClr val="FFFFFF"/>
                  </a:solidFill>
                  <a:latin typeface="+mn-lt"/>
                  <a:ea typeface="+mn-ea"/>
                  <a:cs typeface="+mn-cs"/>
                </a:rPr>
                <a:t>OLMAZSA NE OLUR?</a:t>
              </a:r>
            </a:p>
          </p:txBody>
        </p:sp>
      </p:grpSp>
      <p:grpSp>
        <p:nvGrpSpPr>
          <p:cNvPr id="24" name="row-postgresql"/>
          <p:cNvGrpSpPr/>
          <p:nvPr/>
        </p:nvGrpSpPr>
        <p:grpSpPr>
          <a:xfrm>
            <a:off x="609600" y="1775460"/>
            <a:ext cx="10972800" cy="558165"/>
            <a:chOff x="609600" y="1775460"/>
            <a:chExt cx="10972800" cy="558165"/>
          </a:xfrm>
        </p:grpSpPr>
        <p:sp>
          <p:nvSpPr>
            <p:cNvPr id="19" name="TextBox 19"/>
            <p:cNvSpPr txBox="1"/>
            <p:nvPr/>
          </p:nvSpPr>
          <p:spPr>
            <a:xfrm>
              <a:off x="755904" y="1775460"/>
              <a:ext cx="924306" cy="406146"/>
            </a:xfrm>
            <a:prstGeom prst="rect">
              <a:avLst/>
            </a:prstGeom>
            <a:noFill/>
            <a:ln>
              <a:noFill/>
            </a:ln>
          </p:spPr>
          <p:txBody>
            <a:bodyPr wrap="none" lIns="0" tIns="0" rIns="0" bIns="0" anchor="t" anchorCtr="0">
              <a:spAutoFit/>
            </a:bodyPr>
            <a:lstStyle/>
            <a:p>
              <a:pPr algn="l">
                <a:lnSpc>
                  <a:spcPts val="1350"/>
                </a:lnSpc>
              </a:pPr>
              <a:r>
                <a:rPr lang="tr-TR" sz="1200" b="1" dirty="0">
                  <a:solidFill>
                    <a:srgbClr val="12355B"/>
                  </a:solidFill>
                  <a:latin typeface="+mn-lt"/>
                  <a:ea typeface="+mn-ea"/>
                  <a:cs typeface="+mn-cs"/>
                </a:rPr>
                <a:t>PostgreSQL</a:t>
              </a:r>
              <a:br/>
              <a:r>
                <a:rPr lang="tr-TR" sz="1200" dirty="0">
                  <a:solidFill>
                    <a:srgbClr val="172B3A"/>
                  </a:solidFill>
                  <a:latin typeface="+mn-lt"/>
                  <a:ea typeface="+mn-ea"/>
                  <a:cs typeface="+mn-cs"/>
                </a:rPr>
                <a:t>(RDBMS)</a:t>
              </a:r>
            </a:p>
          </p:txBody>
        </p:sp>
        <p:sp>
          <p:nvSpPr>
            <p:cNvPr id="20" name="TextBox 20"/>
            <p:cNvSpPr txBox="1"/>
            <p:nvPr/>
          </p:nvSpPr>
          <p:spPr>
            <a:xfrm>
              <a:off x="2660904" y="1775460"/>
              <a:ext cx="2069592" cy="4442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ACID ilkeleriyle veriyi diskte</a:t>
              </a:r>
              <a:br/>
              <a:r>
                <a:rPr lang="tr-TR" sz="1200" dirty="0">
                  <a:solidFill>
                    <a:srgbClr val="172B3A"/>
                  </a:solidFill>
                  <a:latin typeface="+mn-lt"/>
                  <a:ea typeface="+mn-ea"/>
                  <a:cs typeface="+mn-cs"/>
                </a:rPr>
                <a:t>güvenli ve tutarlı saklar.</a:t>
              </a:r>
            </a:p>
          </p:txBody>
        </p:sp>
        <p:sp>
          <p:nvSpPr>
            <p:cNvPr id="21" name="TextBox 21"/>
            <p:cNvSpPr txBox="1"/>
            <p:nvPr/>
          </p:nvSpPr>
          <p:spPr>
            <a:xfrm>
              <a:off x="5708904" y="1775460"/>
              <a:ext cx="2054352" cy="4442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İş mantığını çalıştırmaz;</a:t>
              </a:r>
              <a:br/>
              <a:r>
                <a:rPr lang="tr-TR" sz="1200" dirty="0">
                  <a:solidFill>
                    <a:srgbClr val="172B3A"/>
                  </a:solidFill>
                  <a:latin typeface="+mn-lt"/>
                  <a:ea typeface="+mn-ea"/>
                  <a:cs typeface="+mn-cs"/>
                </a:rPr>
                <a:t>HTTP isteğini karşılamaz.</a:t>
              </a:r>
            </a:p>
          </p:txBody>
        </p:sp>
        <p:sp>
          <p:nvSpPr>
            <p:cNvPr id="22" name="TextBox 22"/>
            <p:cNvSpPr txBox="1"/>
            <p:nvPr/>
          </p:nvSpPr>
          <p:spPr>
            <a:xfrm>
              <a:off x="8756904" y="1775460"/>
              <a:ext cx="2503932" cy="4442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Veri kalıcı saklanamaz; kesintide</a:t>
              </a:r>
              <a:br/>
              <a:r>
                <a:rPr lang="tr-TR" sz="1200" dirty="0">
                  <a:solidFill>
                    <a:srgbClr val="172B3A"/>
                  </a:solidFill>
                  <a:latin typeface="+mn-lt"/>
                  <a:ea typeface="+mn-ea"/>
                  <a:cs typeface="+mn-cs"/>
                </a:rPr>
                <a:t>bellek verisi kaybolur.</a:t>
              </a:r>
            </a:p>
          </p:txBody>
        </p:sp>
        <p:sp>
          <p:nvSpPr>
            <p:cNvPr id="23" name="Line 23"/>
            <p:cNvSpPr/>
            <p:nvPr/>
          </p:nvSpPr>
          <p:spPr>
            <a:xfrm>
              <a:off x="609600" y="232410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30" name="row-sql"/>
          <p:cNvGrpSpPr/>
          <p:nvPr/>
        </p:nvGrpSpPr>
        <p:grpSpPr>
          <a:xfrm>
            <a:off x="609600" y="2324100"/>
            <a:ext cx="10972800" cy="647700"/>
            <a:chOff x="609600" y="2324100"/>
            <a:chExt cx="10972800" cy="647700"/>
          </a:xfrm>
        </p:grpSpPr>
        <p:sp>
          <p:nvSpPr>
            <p:cNvPr id="25" name="Rectangle 25"/>
            <p:cNvSpPr/>
            <p:nvPr/>
          </p:nvSpPr>
          <p:spPr>
            <a:xfrm>
              <a:off x="609600" y="2324100"/>
              <a:ext cx="10972800" cy="647700"/>
            </a:xfrm>
            <a:prstGeom prst="rect">
              <a:avLst/>
            </a:prstGeom>
            <a:solidFill>
              <a:srgbClr val="EAF4F6"/>
            </a:solidFill>
            <a:ln>
              <a:noFill/>
            </a:ln>
          </p:spPr>
        </p:sp>
        <p:sp>
          <p:nvSpPr>
            <p:cNvPr id="26" name="TextBox 26"/>
            <p:cNvSpPr txBox="1"/>
            <p:nvPr/>
          </p:nvSpPr>
          <p:spPr>
            <a:xfrm>
              <a:off x="755904" y="2423160"/>
              <a:ext cx="642579"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SQL Dili</a:t>
              </a:r>
            </a:p>
          </p:txBody>
        </p:sp>
        <p:sp>
          <p:nvSpPr>
            <p:cNvPr id="27" name="TextBox 27"/>
            <p:cNvSpPr txBox="1"/>
            <p:nvPr/>
          </p:nvSpPr>
          <p:spPr>
            <a:xfrm>
              <a:off x="2660904" y="2423160"/>
              <a:ext cx="1993392" cy="4442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DDL/DML/DQL ile ilişkisel</a:t>
              </a:r>
              <a:br/>
              <a:r>
                <a:rPr lang="tr-TR" sz="1200" dirty="0">
                  <a:solidFill>
                    <a:srgbClr val="172B3A"/>
                  </a:solidFill>
                  <a:latin typeface="+mn-lt"/>
                  <a:ea typeface="+mn-ea"/>
                  <a:cs typeface="+mn-cs"/>
                </a:rPr>
                <a:t>veriyi tanımlar, sorgular.</a:t>
              </a:r>
            </a:p>
          </p:txBody>
        </p:sp>
        <p:sp>
          <p:nvSpPr>
            <p:cNvPr id="28" name="TextBox 28"/>
            <p:cNvSpPr txBox="1"/>
            <p:nvPr/>
          </p:nvSpPr>
          <p:spPr>
            <a:xfrm>
              <a:off x="5708904" y="2423160"/>
              <a:ext cx="2046732" cy="4442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Genel programlama mantığı</a:t>
              </a:r>
              <a:br/>
              <a:r>
                <a:rPr lang="tr-TR" sz="1200" dirty="0">
                  <a:solidFill>
                    <a:srgbClr val="172B3A"/>
                  </a:solidFill>
                  <a:latin typeface="+mn-lt"/>
                  <a:ea typeface="+mn-ea"/>
                  <a:cs typeface="+mn-cs"/>
                </a:rPr>
                <a:t>(döngü, API) barındırmaz.</a:t>
              </a:r>
            </a:p>
          </p:txBody>
        </p:sp>
        <p:sp>
          <p:nvSpPr>
            <p:cNvPr id="29" name="TextBox 29"/>
            <p:cNvSpPr txBox="1"/>
            <p:nvPr/>
          </p:nvSpPr>
          <p:spPr>
            <a:xfrm>
              <a:off x="8756904" y="2423160"/>
              <a:ext cx="2275332" cy="4442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Filtreleme/sıralama kaybolur;</a:t>
              </a:r>
              <a:br/>
              <a:r>
                <a:rPr lang="tr-TR" sz="1200" dirty="0">
                  <a:solidFill>
                    <a:srgbClr val="172B3A"/>
                  </a:solidFill>
                  <a:latin typeface="+mn-lt"/>
                  <a:ea typeface="+mn-ea"/>
                  <a:cs typeface="+mn-cs"/>
                </a:rPr>
                <a:t>ham veri elle ayıklanır.</a:t>
              </a:r>
            </a:p>
          </p:txBody>
        </p:sp>
      </p:grpSp>
      <p:grpSp>
        <p:nvGrpSpPr>
          <p:cNvPr id="36" name="row-pkfk"/>
          <p:cNvGrpSpPr/>
          <p:nvPr/>
        </p:nvGrpSpPr>
        <p:grpSpPr>
          <a:xfrm>
            <a:off x="609600" y="3013710"/>
            <a:ext cx="10972800" cy="615315"/>
            <a:chOff x="609600" y="3013710"/>
            <a:chExt cx="10972800" cy="615315"/>
          </a:xfrm>
        </p:grpSpPr>
        <p:sp>
          <p:nvSpPr>
            <p:cNvPr id="31" name="TextBox 31"/>
            <p:cNvSpPr txBox="1"/>
            <p:nvPr/>
          </p:nvSpPr>
          <p:spPr>
            <a:xfrm>
              <a:off x="755904" y="3032760"/>
              <a:ext cx="900303" cy="406146"/>
            </a:xfrm>
            <a:prstGeom prst="rect">
              <a:avLst/>
            </a:prstGeom>
            <a:noFill/>
            <a:ln>
              <a:noFill/>
            </a:ln>
          </p:spPr>
          <p:txBody>
            <a:bodyPr wrap="none" lIns="0" tIns="0" rIns="0" bIns="0" anchor="t" anchorCtr="0">
              <a:spAutoFit/>
            </a:bodyPr>
            <a:lstStyle/>
            <a:p>
              <a:pPr algn="l">
                <a:lnSpc>
                  <a:spcPts val="1350"/>
                </a:lnSpc>
              </a:pPr>
              <a:r>
                <a:rPr lang="tr-TR" sz="1200" b="1" dirty="0">
                  <a:solidFill>
                    <a:srgbClr val="12355B"/>
                  </a:solidFill>
                  <a:latin typeface="+mn-lt"/>
                  <a:ea typeface="+mn-ea"/>
                  <a:cs typeface="+mn-cs"/>
                </a:rPr>
                <a:t>Primary /</a:t>
              </a:r>
              <a:br/>
              <a:r>
                <a:rPr lang="tr-TR" sz="1200" b="1" dirty="0">
                  <a:solidFill>
                    <a:srgbClr val="12355B"/>
                  </a:solidFill>
                  <a:latin typeface="+mn-lt"/>
                  <a:ea typeface="+mn-ea"/>
                  <a:cs typeface="+mn-cs"/>
                </a:rPr>
                <a:t>Foreign Key</a:t>
              </a:r>
            </a:p>
          </p:txBody>
        </p:sp>
        <p:sp>
          <p:nvSpPr>
            <p:cNvPr id="32" name="TextBox 32"/>
            <p:cNvSpPr txBox="1"/>
            <p:nvPr/>
          </p:nvSpPr>
          <p:spPr>
            <a:xfrm>
              <a:off x="2660904" y="3013710"/>
              <a:ext cx="1924812" cy="596646"/>
            </a:xfrm>
            <a:prstGeom prst="rect">
              <a:avLst/>
            </a:prstGeom>
            <a:noFill/>
            <a:ln>
              <a:noFill/>
            </a:ln>
          </p:spPr>
          <p:txBody>
            <a:bodyPr wrap="none" lIns="0" tIns="0" rIns="0" bIns="0" anchor="t" anchorCtr="0">
              <a:spAutoFit/>
            </a:bodyPr>
            <a:lstStyle/>
            <a:p>
              <a:pPr algn="l">
                <a:lnSpc>
                  <a:spcPts val="1425"/>
                </a:lnSpc>
              </a:pPr>
              <a:r>
                <a:rPr lang="tr-TR" sz="1200" dirty="0">
                  <a:solidFill>
                    <a:srgbClr val="172B3A"/>
                  </a:solidFill>
                  <a:latin typeface="+mn-lt"/>
                  <a:ea typeface="+mn-ea"/>
                  <a:cs typeface="+mn-cs"/>
                </a:rPr>
                <a:t>Satırı tekilleştirir (PK);</a:t>
              </a:r>
              <a:br/>
              <a:r>
                <a:rPr lang="tr-TR" sz="1200" dirty="0">
                  <a:solidFill>
                    <a:srgbClr val="172B3A"/>
                  </a:solidFill>
                  <a:latin typeface="+mn-lt"/>
                  <a:ea typeface="+mn-ea"/>
                  <a:cs typeface="+mn-cs"/>
                </a:rPr>
                <a:t>referans bütünlüğünü</a:t>
              </a:r>
              <a:br/>
              <a:r>
                <a:rPr lang="tr-TR" sz="1200" dirty="0">
                  <a:solidFill>
                    <a:srgbClr val="172B3A"/>
                  </a:solidFill>
                  <a:latin typeface="+mn-lt"/>
                  <a:ea typeface="+mn-ea"/>
                  <a:cs typeface="+mn-cs"/>
                </a:rPr>
                <a:t>zorunlu kılar (FK).</a:t>
              </a:r>
            </a:p>
          </p:txBody>
        </p:sp>
        <p:sp>
          <p:nvSpPr>
            <p:cNvPr id="33" name="TextBox 33"/>
            <p:cNvSpPr txBox="1"/>
            <p:nvPr/>
          </p:nvSpPr>
          <p:spPr>
            <a:xfrm>
              <a:off x="5708904" y="3013710"/>
              <a:ext cx="2122932" cy="596646"/>
            </a:xfrm>
            <a:prstGeom prst="rect">
              <a:avLst/>
            </a:prstGeom>
            <a:noFill/>
            <a:ln>
              <a:noFill/>
            </a:ln>
          </p:spPr>
          <p:txBody>
            <a:bodyPr wrap="none" lIns="0" tIns="0" rIns="0" bIns="0" anchor="t" anchorCtr="0">
              <a:spAutoFit/>
            </a:bodyPr>
            <a:lstStyle/>
            <a:p>
              <a:pPr algn="l">
                <a:lnSpc>
                  <a:spcPts val="1425"/>
                </a:lnSpc>
              </a:pPr>
              <a:r>
                <a:rPr lang="tr-TR" sz="1200" dirty="0">
                  <a:solidFill>
                    <a:srgbClr val="172B3A"/>
                  </a:solidFill>
                  <a:latin typeface="+mn-lt"/>
                  <a:ea typeface="+mn-ea"/>
                  <a:cs typeface="+mn-cs"/>
                </a:rPr>
                <a:t>İş kuralını denetlemez;</a:t>
              </a:r>
              <a:br/>
              <a:r>
                <a:rPr lang="tr-TR" sz="1200" dirty="0">
                  <a:solidFill>
                    <a:srgbClr val="172B3A"/>
                  </a:solidFill>
                  <a:latin typeface="+mn-lt"/>
                  <a:ea typeface="+mn-ea"/>
                  <a:cs typeface="+mn-cs"/>
                </a:rPr>
                <a:t>yalnızca referans varlığını</a:t>
              </a:r>
              <a:br/>
              <a:r>
                <a:rPr lang="tr-TR" sz="1200" dirty="0">
                  <a:solidFill>
                    <a:srgbClr val="172B3A"/>
                  </a:solidFill>
                  <a:latin typeface="+mn-lt"/>
                  <a:ea typeface="+mn-ea"/>
                  <a:cs typeface="+mn-cs"/>
                </a:rPr>
                <a:t>garantiler.</a:t>
              </a:r>
            </a:p>
          </p:txBody>
        </p:sp>
        <p:sp>
          <p:nvSpPr>
            <p:cNvPr id="34" name="TextBox 34"/>
            <p:cNvSpPr txBox="1"/>
            <p:nvPr/>
          </p:nvSpPr>
          <p:spPr>
            <a:xfrm>
              <a:off x="8756904" y="3013710"/>
              <a:ext cx="2039112" cy="596646"/>
            </a:xfrm>
            <a:prstGeom prst="rect">
              <a:avLst/>
            </a:prstGeom>
            <a:noFill/>
            <a:ln>
              <a:noFill/>
            </a:ln>
          </p:spPr>
          <p:txBody>
            <a:bodyPr wrap="none" lIns="0" tIns="0" rIns="0" bIns="0" anchor="t" anchorCtr="0">
              <a:spAutoFit/>
            </a:bodyPr>
            <a:lstStyle/>
            <a:p>
              <a:pPr algn="l">
                <a:lnSpc>
                  <a:spcPts val="1425"/>
                </a:lnSpc>
              </a:pPr>
              <a:r>
                <a:rPr lang="tr-TR" sz="1200" dirty="0">
                  <a:solidFill>
                    <a:srgbClr val="172B3A"/>
                  </a:solidFill>
                  <a:latin typeface="+mn-lt"/>
                  <a:ea typeface="+mn-ea"/>
                  <a:cs typeface="+mn-cs"/>
                </a:rPr>
                <a:t>Silinen kayıt ardında yetim</a:t>
              </a:r>
              <a:br/>
              <a:r>
                <a:rPr lang="tr-TR" sz="1200" dirty="0">
                  <a:solidFill>
                    <a:srgbClr val="172B3A"/>
                  </a:solidFill>
                  <a:latin typeface="+mn-lt"/>
                  <a:ea typeface="+mn-ea"/>
                  <a:cs typeface="+mn-cs"/>
                </a:rPr>
                <a:t>kayıtlar kalır; tutarlılık</a:t>
              </a:r>
              <a:br/>
              <a:r>
                <a:rPr lang="tr-TR" sz="1200" dirty="0">
                  <a:solidFill>
                    <a:srgbClr val="172B3A"/>
                  </a:solidFill>
                  <a:latin typeface="+mn-lt"/>
                  <a:ea typeface="+mn-ea"/>
                  <a:cs typeface="+mn-cs"/>
                </a:rPr>
                <a:t>çöker.</a:t>
              </a:r>
            </a:p>
          </p:txBody>
        </p:sp>
        <p:sp>
          <p:nvSpPr>
            <p:cNvPr id="35" name="Line 35"/>
            <p:cNvSpPr/>
            <p:nvPr/>
          </p:nvSpPr>
          <p:spPr>
            <a:xfrm>
              <a:off x="609600" y="361950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42" name="row-join"/>
          <p:cNvGrpSpPr/>
          <p:nvPr/>
        </p:nvGrpSpPr>
        <p:grpSpPr>
          <a:xfrm>
            <a:off x="609600" y="3619500"/>
            <a:ext cx="10972800" cy="647700"/>
            <a:chOff x="609600" y="3619500"/>
            <a:chExt cx="10972800" cy="647700"/>
          </a:xfrm>
        </p:grpSpPr>
        <p:sp>
          <p:nvSpPr>
            <p:cNvPr id="37" name="Rectangle 37"/>
            <p:cNvSpPr/>
            <p:nvPr/>
          </p:nvSpPr>
          <p:spPr>
            <a:xfrm>
              <a:off x="609600" y="3619500"/>
              <a:ext cx="10972800" cy="647700"/>
            </a:xfrm>
            <a:prstGeom prst="rect">
              <a:avLst/>
            </a:prstGeom>
            <a:solidFill>
              <a:srgbClr val="EAF4F6"/>
            </a:solidFill>
            <a:ln>
              <a:noFill/>
            </a:ln>
          </p:spPr>
        </p:sp>
        <p:sp>
          <p:nvSpPr>
            <p:cNvPr id="38" name="TextBox 38"/>
            <p:cNvSpPr txBox="1"/>
            <p:nvPr/>
          </p:nvSpPr>
          <p:spPr>
            <a:xfrm>
              <a:off x="755904" y="3680460"/>
              <a:ext cx="716280" cy="406146"/>
            </a:xfrm>
            <a:prstGeom prst="rect">
              <a:avLst/>
            </a:prstGeom>
            <a:noFill/>
            <a:ln>
              <a:noFill/>
            </a:ln>
          </p:spPr>
          <p:txBody>
            <a:bodyPr wrap="none" lIns="0" tIns="0" rIns="0" bIns="0" anchor="t" anchorCtr="0">
              <a:spAutoFit/>
            </a:bodyPr>
            <a:lstStyle/>
            <a:p>
              <a:pPr algn="l">
                <a:lnSpc>
                  <a:spcPts val="1350"/>
                </a:lnSpc>
              </a:pPr>
              <a:r>
                <a:rPr lang="tr-TR" sz="1200" b="1" dirty="0">
                  <a:solidFill>
                    <a:srgbClr val="12355B"/>
                  </a:solidFill>
                  <a:latin typeface="+mn-lt"/>
                  <a:ea typeface="+mn-ea"/>
                  <a:cs typeface="+mn-cs"/>
                </a:rPr>
                <a:t>JOIN</a:t>
              </a:r>
              <a:br/>
              <a:r>
                <a:rPr lang="tr-TR" sz="1200" b="1" dirty="0">
                  <a:solidFill>
                    <a:srgbClr val="12355B"/>
                  </a:solidFill>
                  <a:latin typeface="+mn-lt"/>
                  <a:ea typeface="+mn-ea"/>
                  <a:cs typeface="+mn-cs"/>
                </a:rPr>
                <a:t>İşlemleri</a:t>
              </a:r>
            </a:p>
          </p:txBody>
        </p:sp>
        <p:sp>
          <p:nvSpPr>
            <p:cNvPr id="39" name="TextBox 39"/>
            <p:cNvSpPr txBox="1"/>
            <p:nvPr/>
          </p:nvSpPr>
          <p:spPr>
            <a:xfrm>
              <a:off x="2660904" y="3661410"/>
              <a:ext cx="1848612" cy="596646"/>
            </a:xfrm>
            <a:prstGeom prst="rect">
              <a:avLst/>
            </a:prstGeom>
            <a:noFill/>
            <a:ln>
              <a:noFill/>
            </a:ln>
          </p:spPr>
          <p:txBody>
            <a:bodyPr wrap="none" lIns="0" tIns="0" rIns="0" bIns="0" anchor="t" anchorCtr="0">
              <a:spAutoFit/>
            </a:bodyPr>
            <a:lstStyle/>
            <a:p>
              <a:pPr algn="l">
                <a:lnSpc>
                  <a:spcPts val="1425"/>
                </a:lnSpc>
              </a:pPr>
              <a:r>
                <a:rPr lang="tr-TR" sz="1200" dirty="0">
                  <a:solidFill>
                    <a:srgbClr val="172B3A"/>
                  </a:solidFill>
                  <a:latin typeface="+mn-lt"/>
                  <a:ea typeface="+mn-ea"/>
                  <a:cs typeface="+mn-cs"/>
                </a:rPr>
                <a:t>İlişkili tabloları anahtar</a:t>
              </a:r>
              <a:br/>
              <a:r>
                <a:rPr lang="tr-TR" sz="1200" dirty="0">
                  <a:solidFill>
                    <a:srgbClr val="172B3A"/>
                  </a:solidFill>
                  <a:latin typeface="+mn-lt"/>
                  <a:ea typeface="+mn-ea"/>
                  <a:cs typeface="+mn-cs"/>
                </a:rPr>
                <a:t>üzerinden tek sonuçta</a:t>
              </a:r>
              <a:br/>
              <a:r>
                <a:rPr lang="tr-TR" sz="1200" dirty="0">
                  <a:solidFill>
                    <a:srgbClr val="172B3A"/>
                  </a:solidFill>
                  <a:latin typeface="+mn-lt"/>
                  <a:ea typeface="+mn-ea"/>
                  <a:cs typeface="+mn-cs"/>
                </a:rPr>
                <a:t>birleştirir.</a:t>
              </a:r>
            </a:p>
          </p:txBody>
        </p:sp>
        <p:sp>
          <p:nvSpPr>
            <p:cNvPr id="40" name="TextBox 40"/>
            <p:cNvSpPr txBox="1"/>
            <p:nvPr/>
          </p:nvSpPr>
          <p:spPr>
            <a:xfrm>
              <a:off x="5708904" y="3661410"/>
              <a:ext cx="2008632" cy="596646"/>
            </a:xfrm>
            <a:prstGeom prst="rect">
              <a:avLst/>
            </a:prstGeom>
            <a:noFill/>
            <a:ln>
              <a:noFill/>
            </a:ln>
          </p:spPr>
          <p:txBody>
            <a:bodyPr wrap="none" lIns="0" tIns="0" rIns="0" bIns="0" anchor="t" anchorCtr="0">
              <a:spAutoFit/>
            </a:bodyPr>
            <a:lstStyle/>
            <a:p>
              <a:pPr algn="l">
                <a:lnSpc>
                  <a:spcPts val="1425"/>
                </a:lnSpc>
              </a:pPr>
              <a:r>
                <a:rPr lang="tr-TR" sz="1200" dirty="0">
                  <a:solidFill>
                    <a:srgbClr val="172B3A"/>
                  </a:solidFill>
                  <a:latin typeface="+mn-lt"/>
                  <a:ea typeface="+mn-ea"/>
                  <a:cs typeface="+mn-cs"/>
                </a:rPr>
                <a:t>Yeni tablo oluşturup kalıcı</a:t>
              </a:r>
              <a:br/>
              <a:r>
                <a:rPr lang="tr-TR" sz="1200" dirty="0">
                  <a:solidFill>
                    <a:srgbClr val="172B3A"/>
                  </a:solidFill>
                  <a:latin typeface="+mn-lt"/>
                  <a:ea typeface="+mn-ea"/>
                  <a:cs typeface="+mn-cs"/>
                </a:rPr>
                <a:t>kaydetmez; dinamik</a:t>
              </a:r>
              <a:br/>
              <a:r>
                <a:rPr lang="tr-TR" sz="1200" dirty="0">
                  <a:solidFill>
                    <a:srgbClr val="172B3A"/>
                  </a:solidFill>
                  <a:latin typeface="+mn-lt"/>
                  <a:ea typeface="+mn-ea"/>
                  <a:cs typeface="+mn-cs"/>
                </a:rPr>
                <a:t>projeksiyondur.</a:t>
              </a:r>
            </a:p>
          </p:txBody>
        </p:sp>
        <p:sp>
          <p:nvSpPr>
            <p:cNvPr id="41" name="TextBox 41"/>
            <p:cNvSpPr txBox="1"/>
            <p:nvPr/>
          </p:nvSpPr>
          <p:spPr>
            <a:xfrm>
              <a:off x="8756904" y="3661410"/>
              <a:ext cx="2031492" cy="596646"/>
            </a:xfrm>
            <a:prstGeom prst="rect">
              <a:avLst/>
            </a:prstGeom>
            <a:noFill/>
            <a:ln>
              <a:noFill/>
            </a:ln>
          </p:spPr>
          <p:txBody>
            <a:bodyPr wrap="none" lIns="0" tIns="0" rIns="0" bIns="0" anchor="t" anchorCtr="0">
              <a:spAutoFit/>
            </a:bodyPr>
            <a:lstStyle/>
            <a:p>
              <a:pPr algn="l">
                <a:lnSpc>
                  <a:spcPts val="1425"/>
                </a:lnSpc>
              </a:pPr>
              <a:r>
                <a:rPr lang="tr-TR" sz="1200" dirty="0">
                  <a:solidFill>
                    <a:srgbClr val="172B3A"/>
                  </a:solidFill>
                  <a:latin typeface="+mn-lt"/>
                  <a:ea typeface="+mn-ea"/>
                  <a:cs typeface="+mn-cs"/>
                </a:rPr>
                <a:t>N+1 ayrı sorgu gerekir;</a:t>
              </a:r>
              <a:br/>
              <a:r>
                <a:rPr lang="tr-TR" sz="1200" dirty="0">
                  <a:solidFill>
                    <a:srgbClr val="172B3A"/>
                  </a:solidFill>
                  <a:latin typeface="+mn-lt"/>
                  <a:ea typeface="+mn-ea"/>
                  <a:cs typeface="+mn-cs"/>
                </a:rPr>
                <a:t>veritabanı yükü ve gecikme</a:t>
              </a:r>
              <a:br/>
              <a:r>
                <a:rPr lang="tr-TR" sz="1200" dirty="0">
                  <a:solidFill>
                    <a:srgbClr val="172B3A"/>
                  </a:solidFill>
                  <a:latin typeface="+mn-lt"/>
                  <a:ea typeface="+mn-ea"/>
                  <a:cs typeface="+mn-cs"/>
                </a:rPr>
                <a:t>artar.</a:t>
              </a:r>
            </a:p>
          </p:txBody>
        </p:sp>
      </p:grpSp>
      <p:grpSp>
        <p:nvGrpSpPr>
          <p:cNvPr id="48" name="row-constraint"/>
          <p:cNvGrpSpPr/>
          <p:nvPr/>
        </p:nvGrpSpPr>
        <p:grpSpPr>
          <a:xfrm>
            <a:off x="609600" y="4309110"/>
            <a:ext cx="10972800" cy="615315"/>
            <a:chOff x="609600" y="4309110"/>
            <a:chExt cx="10972800" cy="615315"/>
          </a:xfrm>
        </p:grpSpPr>
        <p:sp>
          <p:nvSpPr>
            <p:cNvPr id="43" name="TextBox 43"/>
            <p:cNvSpPr txBox="1"/>
            <p:nvPr/>
          </p:nvSpPr>
          <p:spPr>
            <a:xfrm>
              <a:off x="755904" y="4366260"/>
              <a:ext cx="907744"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Constraint</a:t>
              </a:r>
            </a:p>
          </p:txBody>
        </p:sp>
        <p:sp>
          <p:nvSpPr>
            <p:cNvPr id="44" name="TextBox 44"/>
            <p:cNvSpPr txBox="1"/>
            <p:nvPr/>
          </p:nvSpPr>
          <p:spPr>
            <a:xfrm>
              <a:off x="2660904" y="4309110"/>
              <a:ext cx="1978152" cy="596646"/>
            </a:xfrm>
            <a:prstGeom prst="rect">
              <a:avLst/>
            </a:prstGeom>
            <a:noFill/>
            <a:ln>
              <a:noFill/>
            </a:ln>
          </p:spPr>
          <p:txBody>
            <a:bodyPr wrap="none" lIns="0" tIns="0" rIns="0" bIns="0" anchor="t" anchorCtr="0">
              <a:spAutoFit/>
            </a:bodyPr>
            <a:lstStyle/>
            <a:p>
              <a:pPr algn="l">
                <a:lnSpc>
                  <a:spcPts val="1425"/>
                </a:lnSpc>
              </a:pPr>
              <a:r>
                <a:rPr lang="tr-TR" sz="1200" dirty="0">
                  <a:solidFill>
                    <a:srgbClr val="172B3A"/>
                  </a:solidFill>
                  <a:latin typeface="+mn-lt"/>
                  <a:ea typeface="+mn-ea"/>
                  <a:cs typeface="+mn-cs"/>
                </a:rPr>
                <a:t>UNIQUE/CHECK/NOT NULL ile</a:t>
              </a:r>
              <a:br/>
              <a:r>
                <a:rPr lang="tr-TR" sz="1200" dirty="0">
                  <a:solidFill>
                    <a:srgbClr val="172B3A"/>
                  </a:solidFill>
                  <a:latin typeface="+mn-lt"/>
                  <a:ea typeface="+mn-ea"/>
                  <a:cs typeface="+mn-cs"/>
                </a:rPr>
                <a:t>veri kuralını motor</a:t>
              </a:r>
              <a:br/>
              <a:r>
                <a:rPr lang="tr-TR" sz="1200" dirty="0">
                  <a:solidFill>
                    <a:srgbClr val="172B3A"/>
                  </a:solidFill>
                  <a:latin typeface="+mn-lt"/>
                  <a:ea typeface="+mn-ea"/>
                  <a:cs typeface="+mn-cs"/>
                </a:rPr>
                <a:t>düzeyinde zorunlu kılar.</a:t>
              </a:r>
            </a:p>
          </p:txBody>
        </p:sp>
        <p:sp>
          <p:nvSpPr>
            <p:cNvPr id="45" name="TextBox 45"/>
            <p:cNvSpPr txBox="1"/>
            <p:nvPr/>
          </p:nvSpPr>
          <p:spPr>
            <a:xfrm>
              <a:off x="5708904" y="4309110"/>
              <a:ext cx="2077212" cy="596646"/>
            </a:xfrm>
            <a:prstGeom prst="rect">
              <a:avLst/>
            </a:prstGeom>
            <a:noFill/>
            <a:ln>
              <a:noFill/>
            </a:ln>
          </p:spPr>
          <p:txBody>
            <a:bodyPr wrap="none" lIns="0" tIns="0" rIns="0" bIns="0" anchor="t" anchorCtr="0">
              <a:spAutoFit/>
            </a:bodyPr>
            <a:lstStyle/>
            <a:p>
              <a:pPr algn="l">
                <a:lnSpc>
                  <a:spcPts val="1425"/>
                </a:lnSpc>
              </a:pPr>
              <a:r>
                <a:rPr lang="tr-TR" sz="1200" dirty="0">
                  <a:solidFill>
                    <a:srgbClr val="172B3A"/>
                  </a:solidFill>
                  <a:latin typeface="+mn-lt"/>
                  <a:ea typeface="+mn-ea"/>
                  <a:cs typeface="+mn-cs"/>
                </a:rPr>
                <a:t>Kullanıcı dostu hata mesajı</a:t>
              </a:r>
              <a:br/>
              <a:r>
                <a:rPr lang="tr-TR" sz="1200" dirty="0">
                  <a:solidFill>
                    <a:srgbClr val="172B3A"/>
                  </a:solidFill>
                  <a:latin typeface="+mn-lt"/>
                  <a:ea typeface="+mn-ea"/>
                  <a:cs typeface="+mn-cs"/>
                </a:rPr>
                <a:t>üretmez; doğrudan</a:t>
              </a:r>
              <a:br/>
              <a:r>
                <a:rPr lang="tr-TR" sz="1200" dirty="0">
                  <a:solidFill>
                    <a:srgbClr val="172B3A"/>
                  </a:solidFill>
                  <a:latin typeface="+mn-lt"/>
                  <a:ea typeface="+mn-ea"/>
                  <a:cs typeface="+mn-cs"/>
                </a:rPr>
                <a:t>veritabanı hatası verir.</a:t>
              </a:r>
            </a:p>
          </p:txBody>
        </p:sp>
        <p:sp>
          <p:nvSpPr>
            <p:cNvPr id="46" name="TextBox 46"/>
            <p:cNvSpPr txBox="1"/>
            <p:nvPr/>
          </p:nvSpPr>
          <p:spPr>
            <a:xfrm>
              <a:off x="8756904" y="4366260"/>
              <a:ext cx="2473452" cy="4442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Doğrulama açığı bozuk/mükerrer</a:t>
              </a:r>
              <a:br/>
              <a:r>
                <a:rPr lang="tr-TR" sz="1200" dirty="0">
                  <a:solidFill>
                    <a:srgbClr val="172B3A"/>
                  </a:solidFill>
                  <a:latin typeface="+mn-lt"/>
                  <a:ea typeface="+mn-ea"/>
                  <a:cs typeface="+mn-cs"/>
                </a:rPr>
                <a:t>veriyi kalıcı yazar.</a:t>
              </a:r>
            </a:p>
          </p:txBody>
        </p:sp>
        <p:sp>
          <p:nvSpPr>
            <p:cNvPr id="47" name="Line 47"/>
            <p:cNvSpPr/>
            <p:nvPr/>
          </p:nvSpPr>
          <p:spPr>
            <a:xfrm>
              <a:off x="609600" y="491490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54" name="row-index"/>
          <p:cNvGrpSpPr/>
          <p:nvPr/>
        </p:nvGrpSpPr>
        <p:grpSpPr>
          <a:xfrm>
            <a:off x="609600" y="4914900"/>
            <a:ext cx="10972800" cy="647700"/>
            <a:chOff x="609600" y="4914900"/>
            <a:chExt cx="10972800" cy="647700"/>
          </a:xfrm>
        </p:grpSpPr>
        <p:sp>
          <p:nvSpPr>
            <p:cNvPr id="49" name="Rectangle 49"/>
            <p:cNvSpPr/>
            <p:nvPr/>
          </p:nvSpPr>
          <p:spPr>
            <a:xfrm>
              <a:off x="609600" y="4914900"/>
              <a:ext cx="10972800" cy="647700"/>
            </a:xfrm>
            <a:prstGeom prst="rect">
              <a:avLst/>
            </a:prstGeom>
            <a:solidFill>
              <a:srgbClr val="EAF4F6"/>
            </a:solidFill>
            <a:ln>
              <a:noFill/>
            </a:ln>
          </p:spPr>
        </p:sp>
        <p:sp>
          <p:nvSpPr>
            <p:cNvPr id="50" name="TextBox 50"/>
            <p:cNvSpPr txBox="1"/>
            <p:nvPr/>
          </p:nvSpPr>
          <p:spPr>
            <a:xfrm>
              <a:off x="755904" y="4975860"/>
              <a:ext cx="716280" cy="406146"/>
            </a:xfrm>
            <a:prstGeom prst="rect">
              <a:avLst/>
            </a:prstGeom>
            <a:noFill/>
            <a:ln>
              <a:noFill/>
            </a:ln>
          </p:spPr>
          <p:txBody>
            <a:bodyPr wrap="none" lIns="0" tIns="0" rIns="0" bIns="0" anchor="t" anchorCtr="0">
              <a:spAutoFit/>
            </a:bodyPr>
            <a:lstStyle/>
            <a:p>
              <a:pPr algn="l">
                <a:lnSpc>
                  <a:spcPts val="1350"/>
                </a:lnSpc>
              </a:pPr>
              <a:r>
                <a:rPr lang="tr-TR" sz="1200" b="1" dirty="0">
                  <a:solidFill>
                    <a:srgbClr val="12355B"/>
                  </a:solidFill>
                  <a:latin typeface="+mn-lt"/>
                  <a:ea typeface="+mn-ea"/>
                  <a:cs typeface="+mn-cs"/>
                </a:rPr>
                <a:t>Index</a:t>
              </a:r>
              <a:br/>
              <a:r>
                <a:rPr lang="tr-TR" sz="1200" b="1" dirty="0">
                  <a:solidFill>
                    <a:srgbClr val="12355B"/>
                  </a:solidFill>
                  <a:latin typeface="+mn-lt"/>
                  <a:ea typeface="+mn-ea"/>
                  <a:cs typeface="+mn-cs"/>
                </a:rPr>
                <a:t>(B-Tree)</a:t>
              </a:r>
            </a:p>
          </p:txBody>
        </p:sp>
        <p:sp>
          <p:nvSpPr>
            <p:cNvPr id="51" name="TextBox 51"/>
            <p:cNvSpPr txBox="1"/>
            <p:nvPr/>
          </p:nvSpPr>
          <p:spPr>
            <a:xfrm>
              <a:off x="2660904" y="4956810"/>
              <a:ext cx="1741932" cy="596646"/>
            </a:xfrm>
            <a:prstGeom prst="rect">
              <a:avLst/>
            </a:prstGeom>
            <a:noFill/>
            <a:ln>
              <a:noFill/>
            </a:ln>
          </p:spPr>
          <p:txBody>
            <a:bodyPr wrap="none" lIns="0" tIns="0" rIns="0" bIns="0" anchor="t" anchorCtr="0">
              <a:spAutoFit/>
            </a:bodyPr>
            <a:lstStyle/>
            <a:p>
              <a:pPr algn="l">
                <a:lnSpc>
                  <a:spcPts val="1425"/>
                </a:lnSpc>
              </a:pPr>
              <a:r>
                <a:rPr lang="tr-TR" sz="1200" dirty="0">
                  <a:solidFill>
                    <a:srgbClr val="172B3A"/>
                  </a:solidFill>
                  <a:latin typeface="+mn-lt"/>
                  <a:ea typeface="+mn-ea"/>
                  <a:cs typeface="+mn-cs"/>
                </a:rPr>
                <a:t>Sütun aramasını ağaç</a:t>
              </a:r>
              <a:br/>
              <a:r>
                <a:rPr lang="tr-TR" sz="1200" dirty="0">
                  <a:solidFill>
                    <a:srgbClr val="172B3A"/>
                  </a:solidFill>
                  <a:latin typeface="+mn-lt"/>
                  <a:ea typeface="+mn-ea"/>
                  <a:cs typeface="+mn-cs"/>
                </a:rPr>
                <a:t>yapısıyla hızlandırır;</a:t>
              </a:r>
              <a:br/>
              <a:r>
                <a:rPr lang="tr-TR" sz="1200" dirty="0">
                  <a:solidFill>
                    <a:srgbClr val="172B3A"/>
                  </a:solidFill>
                  <a:latin typeface="+mn-lt"/>
                  <a:ea typeface="+mn-ea"/>
                  <a:cs typeface="+mn-cs"/>
                </a:rPr>
                <a:t>tam tarama önler.</a:t>
              </a:r>
            </a:p>
          </p:txBody>
        </p:sp>
        <p:sp>
          <p:nvSpPr>
            <p:cNvPr id="52" name="TextBox 52"/>
            <p:cNvSpPr txBox="1"/>
            <p:nvPr/>
          </p:nvSpPr>
          <p:spPr>
            <a:xfrm>
              <a:off x="5708904" y="4956810"/>
              <a:ext cx="2016252" cy="596646"/>
            </a:xfrm>
            <a:prstGeom prst="rect">
              <a:avLst/>
            </a:prstGeom>
            <a:noFill/>
            <a:ln>
              <a:noFill/>
            </a:ln>
          </p:spPr>
          <p:txBody>
            <a:bodyPr wrap="none" lIns="0" tIns="0" rIns="0" bIns="0" anchor="t" anchorCtr="0">
              <a:spAutoFit/>
            </a:bodyPr>
            <a:lstStyle/>
            <a:p>
              <a:pPr algn="l">
                <a:lnSpc>
                  <a:spcPts val="1425"/>
                </a:lnSpc>
              </a:pPr>
              <a:r>
                <a:rPr lang="tr-TR" sz="1200" dirty="0">
                  <a:solidFill>
                    <a:srgbClr val="172B3A"/>
                  </a:solidFill>
                  <a:latin typeface="+mn-lt"/>
                  <a:ea typeface="+mn-ea"/>
                  <a:cs typeface="+mn-cs"/>
                </a:rPr>
                <a:t>Bütünlüğü korumaz (UNIQUE</a:t>
              </a:r>
              <a:br/>
              <a:r>
                <a:rPr lang="tr-TR" sz="1200" dirty="0">
                  <a:solidFill>
                    <a:srgbClr val="172B3A"/>
                  </a:solidFill>
                  <a:latin typeface="+mn-lt"/>
                  <a:ea typeface="+mn-ea"/>
                  <a:cs typeface="+mn-cs"/>
                </a:rPr>
                <a:t>hariç); yazma maliyetini</a:t>
              </a:r>
              <a:br/>
              <a:r>
                <a:rPr lang="tr-TR" sz="1200" dirty="0">
                  <a:solidFill>
                    <a:srgbClr val="172B3A"/>
                  </a:solidFill>
                  <a:latin typeface="+mn-lt"/>
                  <a:ea typeface="+mn-ea"/>
                  <a:cs typeface="+mn-cs"/>
                </a:rPr>
                <a:t>artırır.</a:t>
              </a:r>
            </a:p>
          </p:txBody>
        </p:sp>
        <p:sp>
          <p:nvSpPr>
            <p:cNvPr id="53" name="TextBox 53"/>
            <p:cNvSpPr txBox="1"/>
            <p:nvPr/>
          </p:nvSpPr>
          <p:spPr>
            <a:xfrm>
              <a:off x="8756904" y="4956810"/>
              <a:ext cx="1871472" cy="596646"/>
            </a:xfrm>
            <a:prstGeom prst="rect">
              <a:avLst/>
            </a:prstGeom>
            <a:noFill/>
            <a:ln>
              <a:noFill/>
            </a:ln>
          </p:spPr>
          <p:txBody>
            <a:bodyPr wrap="none" lIns="0" tIns="0" rIns="0" bIns="0" anchor="t" anchorCtr="0">
              <a:spAutoFit/>
            </a:bodyPr>
            <a:lstStyle/>
            <a:p>
              <a:pPr algn="l">
                <a:lnSpc>
                  <a:spcPts val="1425"/>
                </a:lnSpc>
              </a:pPr>
              <a:r>
                <a:rPr lang="tr-TR" sz="1200" dirty="0">
                  <a:solidFill>
                    <a:srgbClr val="172B3A"/>
                  </a:solidFill>
                  <a:latin typeface="+mn-lt"/>
                  <a:ea typeface="+mn-ea"/>
                  <a:cs typeface="+mn-cs"/>
                </a:rPr>
                <a:t>Tablo büyüdükçe sorgular</a:t>
              </a:r>
              <a:br/>
              <a:r>
                <a:rPr lang="tr-TR" sz="1200" dirty="0">
                  <a:solidFill>
                    <a:srgbClr val="172B3A"/>
                  </a:solidFill>
                  <a:latin typeface="+mn-lt"/>
                  <a:ea typeface="+mn-ea"/>
                  <a:cs typeface="+mn-cs"/>
                </a:rPr>
                <a:t>yavaşlar; API zaman</a:t>
              </a:r>
              <a:br/>
              <a:r>
                <a:rPr lang="tr-TR" sz="1200" dirty="0">
                  <a:solidFill>
                    <a:srgbClr val="172B3A"/>
                  </a:solidFill>
                  <a:latin typeface="+mn-lt"/>
                  <a:ea typeface="+mn-ea"/>
                  <a:cs typeface="+mn-cs"/>
                </a:rPr>
                <a:t>aşımına uğrar.</a:t>
              </a:r>
            </a:p>
          </p:txBody>
        </p:sp>
      </p:grpSp>
      <p:grpSp>
        <p:nvGrpSpPr>
          <p:cNvPr id="59" name="row-transaction"/>
          <p:cNvGrpSpPr/>
          <p:nvPr/>
        </p:nvGrpSpPr>
        <p:grpSpPr>
          <a:xfrm>
            <a:off x="755904" y="5604510"/>
            <a:ext cx="10162032" cy="596646"/>
            <a:chOff x="755904" y="5604510"/>
            <a:chExt cx="10162032" cy="596646"/>
          </a:xfrm>
        </p:grpSpPr>
        <p:sp>
          <p:nvSpPr>
            <p:cNvPr id="55" name="TextBox 55"/>
            <p:cNvSpPr txBox="1"/>
            <p:nvPr/>
          </p:nvSpPr>
          <p:spPr>
            <a:xfrm>
              <a:off x="755904" y="5623560"/>
              <a:ext cx="940308" cy="406146"/>
            </a:xfrm>
            <a:prstGeom prst="rect">
              <a:avLst/>
            </a:prstGeom>
            <a:noFill/>
            <a:ln>
              <a:noFill/>
            </a:ln>
          </p:spPr>
          <p:txBody>
            <a:bodyPr wrap="none" lIns="0" tIns="0" rIns="0" bIns="0" anchor="t" anchorCtr="0">
              <a:spAutoFit/>
            </a:bodyPr>
            <a:lstStyle/>
            <a:p>
              <a:pPr algn="l">
                <a:lnSpc>
                  <a:spcPts val="1350"/>
                </a:lnSpc>
              </a:pPr>
              <a:r>
                <a:rPr lang="tr-TR" sz="1200" b="1" dirty="0">
                  <a:solidFill>
                    <a:srgbClr val="12355B"/>
                  </a:solidFill>
                  <a:latin typeface="+mn-lt"/>
                  <a:ea typeface="+mn-ea"/>
                  <a:cs typeface="+mn-cs"/>
                </a:rPr>
                <a:t>Transaction</a:t>
              </a:r>
              <a:br/>
              <a:r>
                <a:rPr lang="tr-TR" sz="1200" b="1" dirty="0">
                  <a:solidFill>
                    <a:srgbClr val="12355B"/>
                  </a:solidFill>
                  <a:latin typeface="+mn-lt"/>
                  <a:ea typeface="+mn-ea"/>
                  <a:cs typeface="+mn-cs"/>
                </a:rPr>
                <a:t>(ACID)</a:t>
              </a:r>
            </a:p>
          </p:txBody>
        </p:sp>
        <p:sp>
          <p:nvSpPr>
            <p:cNvPr id="56" name="TextBox 56"/>
            <p:cNvSpPr txBox="1"/>
            <p:nvPr/>
          </p:nvSpPr>
          <p:spPr>
            <a:xfrm>
              <a:off x="2660904" y="5604510"/>
              <a:ext cx="1879092" cy="596646"/>
            </a:xfrm>
            <a:prstGeom prst="rect">
              <a:avLst/>
            </a:prstGeom>
            <a:noFill/>
            <a:ln>
              <a:noFill/>
            </a:ln>
          </p:spPr>
          <p:txBody>
            <a:bodyPr wrap="none" lIns="0" tIns="0" rIns="0" bIns="0" anchor="t" anchorCtr="0">
              <a:spAutoFit/>
            </a:bodyPr>
            <a:lstStyle/>
            <a:p>
              <a:pPr algn="l">
                <a:lnSpc>
                  <a:spcPts val="1425"/>
                </a:lnSpc>
              </a:pPr>
              <a:r>
                <a:rPr lang="tr-TR" sz="1200" dirty="0">
                  <a:solidFill>
                    <a:srgbClr val="172B3A"/>
                  </a:solidFill>
                  <a:latin typeface="+mn-lt"/>
                  <a:ea typeface="+mn-ea"/>
                  <a:cs typeface="+mn-cs"/>
                </a:rPr>
                <a:t>Birden fazla işlemi ya hep</a:t>
              </a:r>
              <a:br/>
              <a:r>
                <a:rPr lang="tr-TR" sz="1200" dirty="0">
                  <a:solidFill>
                    <a:srgbClr val="172B3A"/>
                  </a:solidFill>
                  <a:latin typeface="+mn-lt"/>
                  <a:ea typeface="+mn-ea"/>
                  <a:cs typeface="+mn-cs"/>
                </a:rPr>
                <a:t>ya hiç ilkesiyle atomik</a:t>
              </a:r>
              <a:br/>
              <a:r>
                <a:rPr lang="tr-TR" sz="1200" dirty="0">
                  <a:solidFill>
                    <a:srgbClr val="172B3A"/>
                  </a:solidFill>
                  <a:latin typeface="+mn-lt"/>
                  <a:ea typeface="+mn-ea"/>
                  <a:cs typeface="+mn-cs"/>
                </a:rPr>
                <a:t>yürütür.</a:t>
              </a:r>
            </a:p>
          </p:txBody>
        </p:sp>
        <p:sp>
          <p:nvSpPr>
            <p:cNvPr id="57" name="TextBox 57"/>
            <p:cNvSpPr txBox="1"/>
            <p:nvPr/>
          </p:nvSpPr>
          <p:spPr>
            <a:xfrm>
              <a:off x="5708904" y="5604510"/>
              <a:ext cx="2290572" cy="596646"/>
            </a:xfrm>
            <a:prstGeom prst="rect">
              <a:avLst/>
            </a:prstGeom>
            <a:noFill/>
            <a:ln>
              <a:noFill/>
            </a:ln>
          </p:spPr>
          <p:txBody>
            <a:bodyPr wrap="none" lIns="0" tIns="0" rIns="0" bIns="0" anchor="t" anchorCtr="0">
              <a:spAutoFit/>
            </a:bodyPr>
            <a:lstStyle/>
            <a:p>
              <a:pPr algn="l">
                <a:lnSpc>
                  <a:spcPts val="1425"/>
                </a:lnSpc>
              </a:pPr>
              <a:r>
                <a:rPr lang="tr-TR" sz="1200" dirty="0">
                  <a:solidFill>
                    <a:srgbClr val="172B3A"/>
                  </a:solidFill>
                  <a:latin typeface="+mn-lt"/>
                  <a:ea typeface="+mn-ea"/>
                  <a:cs typeface="+mn-cs"/>
                </a:rPr>
                <a:t>Harici HTTP/e-posta çağrısını</a:t>
              </a:r>
              <a:br/>
              <a:r>
                <a:rPr lang="tr-TR" sz="1200" dirty="0">
                  <a:solidFill>
                    <a:srgbClr val="172B3A"/>
                  </a:solidFill>
                  <a:latin typeface="+mn-lt"/>
                  <a:ea typeface="+mn-ea"/>
                  <a:cs typeface="+mn-cs"/>
                </a:rPr>
                <a:t>atomik kılmaz; yalnızca</a:t>
              </a:r>
              <a:br/>
              <a:r>
                <a:rPr lang="tr-TR" sz="1200" dirty="0">
                  <a:solidFill>
                    <a:srgbClr val="172B3A"/>
                  </a:solidFill>
                  <a:latin typeface="+mn-lt"/>
                  <a:ea typeface="+mn-ea"/>
                  <a:cs typeface="+mn-cs"/>
                </a:rPr>
                <a:t>veritabanını yönetir.</a:t>
              </a:r>
            </a:p>
          </p:txBody>
        </p:sp>
        <p:sp>
          <p:nvSpPr>
            <p:cNvPr id="58" name="TextBox 58"/>
            <p:cNvSpPr txBox="1"/>
            <p:nvPr/>
          </p:nvSpPr>
          <p:spPr>
            <a:xfrm>
              <a:off x="8756904" y="5623560"/>
              <a:ext cx="2161032" cy="4442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İkinci adım başarısız olursa</a:t>
              </a:r>
              <a:br/>
              <a:r>
                <a:rPr lang="tr-TR" sz="1200" dirty="0">
                  <a:solidFill>
                    <a:srgbClr val="172B3A"/>
                  </a:solidFill>
                  <a:latin typeface="+mn-lt"/>
                  <a:ea typeface="+mn-ea"/>
                  <a:cs typeface="+mn-cs"/>
                </a:rPr>
                <a:t>veri tutarsız kalır.</a:t>
              </a:r>
            </a:p>
          </p:txBody>
        </p:sp>
      </p:grpSp>
      <p:sp>
        <p:nvSpPr>
          <p:cNvPr id="60" name="TextBox 60"/>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05 / 26</a:t>
            </a: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7255857" cy="668845"/>
            <a:chOff x="609600" y="171450"/>
            <a:chExt cx="7255857"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77240" y="324326"/>
                <a:ext cx="236220" cy="265748"/>
                <a:chOff x="777240" y="324326"/>
                <a:chExt cx="236220" cy="265748"/>
              </a:xfrm>
            </p:grpSpPr>
            <p:sp>
              <p:nvSpPr>
                <p:cNvPr id="5" name="Freeform 5"/>
                <p:cNvSpPr/>
                <p:nvPr/>
              </p:nvSpPr>
              <p:spPr>
                <a:xfrm>
                  <a:off x="777240" y="324326"/>
                  <a:ext cx="236220" cy="88583"/>
                </a:xfrm>
                <a:custGeom>
                  <a:avLst/>
                  <a:gdLst/>
                  <a:ahLst/>
                  <a:cxnLst/>
                  <a:rect l="l" t="t" r="r" b="b"/>
                  <a:pathLst>
                    <a:path w="236220" h="88583">
                      <a:moveTo>
                        <a:pt x="0" y="44291"/>
                      </a:moveTo>
                      <a:cubicBezTo>
                        <a:pt x="0" y="68753"/>
                        <a:pt x="52880" y="88583"/>
                        <a:pt x="118110" y="88583"/>
                      </a:cubicBezTo>
                      <a:cubicBezTo>
                        <a:pt x="183340" y="88583"/>
                        <a:pt x="236220" y="68753"/>
                        <a:pt x="236220" y="44291"/>
                      </a:cubicBezTo>
                      <a:cubicBezTo>
                        <a:pt x="236220" y="19830"/>
                        <a:pt x="183340" y="0"/>
                        <a:pt x="118110" y="0"/>
                      </a:cubicBezTo>
                      <a:cubicBezTo>
                        <a:pt x="52880" y="0"/>
                        <a:pt x="0" y="19830"/>
                        <a:pt x="0" y="44291"/>
                      </a:cubicBezTo>
                    </a:path>
                  </a:pathLst>
                </a:custGeom>
                <a:noFill/>
                <a:ln w="24759" cap="rnd">
                  <a:solidFill>
                    <a:srgbClr val="FFFFFF"/>
                  </a:solidFill>
                  <a:round/>
                </a:ln>
              </p:spPr>
            </p:sp>
            <p:sp>
              <p:nvSpPr>
                <p:cNvPr id="6" name="Freeform 6"/>
                <p:cNvSpPr/>
                <p:nvPr/>
              </p:nvSpPr>
              <p:spPr>
                <a:xfrm>
                  <a:off x="777240" y="368618"/>
                  <a:ext cx="236220" cy="132874"/>
                </a:xfrm>
                <a:custGeom>
                  <a:avLst/>
                  <a:gdLst/>
                  <a:ahLst/>
                  <a:cxnLst/>
                  <a:rect l="l" t="t" r="r" b="b"/>
                  <a:pathLst>
                    <a:path w="236220" h="132874">
                      <a:moveTo>
                        <a:pt x="0" y="0"/>
                      </a:moveTo>
                      <a:lnTo>
                        <a:pt x="0" y="88582"/>
                      </a:lnTo>
                      <a:cubicBezTo>
                        <a:pt x="0" y="113044"/>
                        <a:pt x="52880" y="132874"/>
                        <a:pt x="118110" y="132874"/>
                      </a:cubicBezTo>
                      <a:cubicBezTo>
                        <a:pt x="183340" y="132874"/>
                        <a:pt x="236220" y="113044"/>
                        <a:pt x="236220" y="88582"/>
                      </a:cubicBezTo>
                      <a:lnTo>
                        <a:pt x="236220" y="0"/>
                      </a:lnTo>
                    </a:path>
                  </a:pathLst>
                </a:custGeom>
                <a:noFill/>
                <a:ln w="24759" cap="rnd">
                  <a:solidFill>
                    <a:srgbClr val="FFFFFF"/>
                  </a:solidFill>
                  <a:round/>
                </a:ln>
              </p:spPr>
            </p:sp>
            <p:sp>
              <p:nvSpPr>
                <p:cNvPr id="7" name="Freeform 7"/>
                <p:cNvSpPr/>
                <p:nvPr/>
              </p:nvSpPr>
              <p:spPr>
                <a:xfrm>
                  <a:off x="777240" y="457200"/>
                  <a:ext cx="236220" cy="132874"/>
                </a:xfrm>
                <a:custGeom>
                  <a:avLst/>
                  <a:gdLst/>
                  <a:ahLst/>
                  <a:cxnLst/>
                  <a:rect l="l" t="t" r="r" b="b"/>
                  <a:pathLst>
                    <a:path w="236220" h="132874">
                      <a:moveTo>
                        <a:pt x="0" y="0"/>
                      </a:moveTo>
                      <a:lnTo>
                        <a:pt x="0" y="88582"/>
                      </a:lnTo>
                      <a:cubicBezTo>
                        <a:pt x="0" y="113044"/>
                        <a:pt x="52880" y="132874"/>
                        <a:pt x="118110" y="132874"/>
                      </a:cubicBezTo>
                      <a:cubicBezTo>
                        <a:pt x="183340" y="132874"/>
                        <a:pt x="236220" y="113044"/>
                        <a:pt x="236220" y="88582"/>
                      </a:cubicBezTo>
                      <a:lnTo>
                        <a:pt x="236220" y="0"/>
                      </a:lnTo>
                    </a:path>
                  </a:pathLst>
                </a:custGeom>
                <a:noFill/>
                <a:ln w="24759" cap="rnd">
                  <a:solidFill>
                    <a:srgbClr val="FFFFFF"/>
                  </a:solidFill>
                  <a:round/>
                </a:ln>
              </p:spPr>
            </p:sp>
          </p:grpSp>
        </p:grpSp>
        <p:sp>
          <p:nvSpPr>
            <p:cNvPr id="10" name="TextBox 10"/>
            <p:cNvSpPr txBox="1"/>
            <p:nvPr/>
          </p:nvSpPr>
          <p:spPr>
            <a:xfrm>
              <a:off x="1299972" y="282892"/>
              <a:ext cx="6565485"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PostgreSQL: ilişkisel veri deposu</a:t>
              </a:r>
            </a:p>
          </p:txBody>
        </p:sp>
      </p:grpSp>
      <p:grpSp>
        <p:nvGrpSpPr>
          <p:cNvPr id="14" name="definition-block"/>
          <p:cNvGrpSpPr/>
          <p:nvPr/>
        </p:nvGrpSpPr>
        <p:grpSpPr>
          <a:xfrm>
            <a:off x="600456" y="1367790"/>
            <a:ext cx="4401566" cy="1437227"/>
            <a:chOff x="600456" y="1367790"/>
            <a:chExt cx="4401566" cy="1437227"/>
          </a:xfrm>
        </p:grpSpPr>
        <p:sp>
          <p:nvSpPr>
            <p:cNvPr id="12" name="TextBox 12"/>
            <p:cNvSpPr txBox="1"/>
            <p:nvPr/>
          </p:nvSpPr>
          <p:spPr>
            <a:xfrm>
              <a:off x="600456" y="1367790"/>
              <a:ext cx="777359"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Tanım</a:t>
              </a:r>
            </a:p>
          </p:txBody>
        </p:sp>
        <p:sp>
          <p:nvSpPr>
            <p:cNvPr id="13" name="TextBox 13"/>
            <p:cNvSpPr txBox="1"/>
            <p:nvPr/>
          </p:nvSpPr>
          <p:spPr>
            <a:xfrm>
              <a:off x="601599" y="1696879"/>
              <a:ext cx="4400423" cy="1108138"/>
            </a:xfrm>
            <a:prstGeom prst="rect">
              <a:avLst/>
            </a:prstGeom>
            <a:noFill/>
            <a:ln>
              <a:noFill/>
            </a:ln>
          </p:spPr>
          <p:txBody>
            <a:bodyPr wrap="none" lIns="0" tIns="0" rIns="0" bIns="0" anchor="t" anchorCtr="0">
              <a:spAutoFit/>
            </a:bodyPr>
            <a:lstStyle/>
            <a:p>
              <a:pPr algn="l">
                <a:lnSpc>
                  <a:spcPts val="2100"/>
                </a:lnSpc>
              </a:pPr>
              <a:r>
                <a:rPr lang="tr-TR" sz="1580" dirty="0">
                  <a:solidFill>
                    <a:srgbClr val="172B3A"/>
                  </a:solidFill>
                  <a:latin typeface="+mn-lt"/>
                  <a:ea typeface="+mn-ea"/>
                  <a:cs typeface="+mn-cs"/>
                </a:rPr>
                <a:t>PostgreSQL, verileri tablolar içinde kalıcı</a:t>
              </a:r>
              <a:br/>
              <a:r>
                <a:rPr lang="tr-TR" sz="1580" dirty="0">
                  <a:solidFill>
                    <a:srgbClr val="172B3A"/>
                  </a:solidFill>
                  <a:latin typeface="+mn-lt"/>
                  <a:ea typeface="+mn-ea"/>
                  <a:cs typeface="+mn-cs"/>
                </a:rPr>
                <a:t>biçimde saklayan açık kaynaklı bir ilişkisel</a:t>
              </a:r>
              <a:br/>
              <a:r>
                <a:rPr lang="tr-TR" sz="1580" dirty="0">
                  <a:solidFill>
                    <a:srgbClr val="172B3A"/>
                  </a:solidFill>
                  <a:latin typeface="+mn-lt"/>
                  <a:ea typeface="+mn-ea"/>
                  <a:cs typeface="+mn-cs"/>
                </a:rPr>
                <a:t>veritabanı yönetim sistemidir. Satır tek bir</a:t>
              </a:r>
              <a:br/>
              <a:r>
                <a:rPr lang="tr-TR" sz="1580" dirty="0">
                  <a:solidFill>
                    <a:srgbClr val="172B3A"/>
                  </a:solidFill>
                  <a:latin typeface="+mn-lt"/>
                  <a:ea typeface="+mn-ea"/>
                  <a:cs typeface="+mn-cs"/>
                </a:rPr>
                <a:t>kaydı, sütun ise bir özelliği temsil eder.</a:t>
              </a:r>
            </a:p>
          </p:txBody>
        </p:sp>
      </p:grpSp>
      <p:grpSp>
        <p:nvGrpSpPr>
          <p:cNvPr id="17" name="why-block"/>
          <p:cNvGrpSpPr/>
          <p:nvPr/>
        </p:nvGrpSpPr>
        <p:grpSpPr>
          <a:xfrm>
            <a:off x="600456" y="3520440"/>
            <a:ext cx="4662424" cy="1437227"/>
            <a:chOff x="600456" y="3520440"/>
            <a:chExt cx="4662424" cy="1437227"/>
          </a:xfrm>
        </p:grpSpPr>
        <p:sp>
          <p:nvSpPr>
            <p:cNvPr id="15" name="TextBox 15"/>
            <p:cNvSpPr txBox="1"/>
            <p:nvPr/>
          </p:nvSpPr>
          <p:spPr>
            <a:xfrm>
              <a:off x="600456" y="3520440"/>
              <a:ext cx="1782901"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Neden vardır?</a:t>
              </a:r>
            </a:p>
          </p:txBody>
        </p:sp>
        <p:sp>
          <p:nvSpPr>
            <p:cNvPr id="16" name="TextBox 16"/>
            <p:cNvSpPr txBox="1"/>
            <p:nvPr/>
          </p:nvSpPr>
          <p:spPr>
            <a:xfrm>
              <a:off x="601599" y="3849529"/>
              <a:ext cx="4661281" cy="1108138"/>
            </a:xfrm>
            <a:prstGeom prst="rect">
              <a:avLst/>
            </a:prstGeom>
            <a:noFill/>
            <a:ln>
              <a:noFill/>
            </a:ln>
          </p:spPr>
          <p:txBody>
            <a:bodyPr wrap="none" lIns="0" tIns="0" rIns="0" bIns="0" anchor="t" anchorCtr="0">
              <a:spAutoFit/>
            </a:bodyPr>
            <a:lstStyle/>
            <a:p>
              <a:pPr algn="l">
                <a:lnSpc>
                  <a:spcPts val="2100"/>
                </a:lnSpc>
              </a:pPr>
              <a:r>
                <a:rPr lang="tr-TR" sz="1580" dirty="0">
                  <a:solidFill>
                    <a:srgbClr val="172B3A"/>
                  </a:solidFill>
                  <a:latin typeface="+mn-lt"/>
                  <a:ea typeface="+mn-ea"/>
                  <a:cs typeface="+mn-cs"/>
                </a:rPr>
                <a:t>Bellek içi veri, uygulama kapandığında</a:t>
              </a:r>
              <a:br/>
              <a:r>
                <a:rPr lang="tr-TR" sz="1580" dirty="0">
                  <a:solidFill>
                    <a:srgbClr val="172B3A"/>
                  </a:solidFill>
                  <a:latin typeface="+mn-lt"/>
                  <a:ea typeface="+mn-ea"/>
                  <a:cs typeface="+mn-cs"/>
                </a:rPr>
                <a:t>kaybolur; birden fazla kullanıcı aynı anda</a:t>
              </a:r>
              <a:br/>
              <a:r>
                <a:rPr lang="tr-TR" sz="1580" dirty="0">
                  <a:solidFill>
                    <a:srgbClr val="172B3A"/>
                  </a:solidFill>
                  <a:latin typeface="+mn-lt"/>
                  <a:ea typeface="+mn-ea"/>
                  <a:cs typeface="+mn-cs"/>
                </a:rPr>
                <a:t>çalıştığında güncel veriyi görmek zorlaşır.</a:t>
              </a:r>
              <a:br/>
              <a:r>
                <a:rPr lang="tr-TR" sz="1580" dirty="0">
                  <a:solidFill>
                    <a:srgbClr val="172B3A"/>
                  </a:solidFill>
                  <a:latin typeface="+mn-lt"/>
                  <a:ea typeface="+mn-ea"/>
                  <a:cs typeface="+mn-cs"/>
                </a:rPr>
                <a:t>PostgreSQL bu sorunları merkezi olarak çözer.</a:t>
              </a:r>
            </a:p>
          </p:txBody>
        </p:sp>
      </p:grpSp>
      <p:grpSp>
        <p:nvGrpSpPr>
          <p:cNvPr id="20" name="usage-block"/>
          <p:cNvGrpSpPr/>
          <p:nvPr/>
        </p:nvGrpSpPr>
        <p:grpSpPr>
          <a:xfrm>
            <a:off x="609600" y="5791200"/>
            <a:ext cx="3499866" cy="429006"/>
            <a:chOff x="609600" y="5791200"/>
            <a:chExt cx="3499866" cy="429006"/>
          </a:xfrm>
        </p:grpSpPr>
        <p:sp>
          <p:nvSpPr>
            <p:cNvPr id="18" name="Rectangle 18"/>
            <p:cNvSpPr/>
            <p:nvPr/>
          </p:nvSpPr>
          <p:spPr>
            <a:xfrm>
              <a:off x="609600" y="5791200"/>
              <a:ext cx="57150" cy="400050"/>
            </a:xfrm>
            <a:prstGeom prst="rect">
              <a:avLst/>
            </a:prstGeom>
            <a:solidFill>
              <a:srgbClr val="00A6A6"/>
            </a:solidFill>
            <a:ln>
              <a:noFill/>
            </a:ln>
          </p:spPr>
        </p:sp>
        <p:sp>
          <p:nvSpPr>
            <p:cNvPr id="19" name="TextBox 19"/>
            <p:cNvSpPr txBox="1"/>
            <p:nvPr/>
          </p:nvSpPr>
          <p:spPr>
            <a:xfrm>
              <a:off x="851154" y="5795010"/>
              <a:ext cx="325831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52616B"/>
                  </a:solidFill>
                  <a:latin typeface="+mn-lt"/>
                  <a:ea typeface="+mn-ea"/>
                  <a:cs typeface="+mn-cs"/>
                </a:rPr>
                <a:t>Kütüphane, e-ticaret ve hastane sistemleri</a:t>
              </a:r>
              <a:br/>
              <a:r>
                <a:rPr lang="tr-TR" sz="1200" dirty="0">
                  <a:solidFill>
                    <a:srgbClr val="52616B"/>
                  </a:solidFill>
                  <a:latin typeface="+mn-lt"/>
                  <a:ea typeface="+mn-ea"/>
                  <a:cs typeface="+mn-cs"/>
                </a:rPr>
                <a:t>kalıcı kayıt tutmak zorundadır.</a:t>
              </a:r>
            </a:p>
          </p:txBody>
        </p:sp>
      </p:grpSp>
      <p:grpSp>
        <p:nvGrpSpPr>
          <p:cNvPr id="34" name="history-card"/>
          <p:cNvGrpSpPr/>
          <p:nvPr/>
        </p:nvGrpSpPr>
        <p:grpSpPr>
          <a:xfrm>
            <a:off x="6743700" y="1333500"/>
            <a:ext cx="4838700" cy="4572000"/>
            <a:chOff x="6743700" y="1333500"/>
            <a:chExt cx="4838700" cy="4572000"/>
          </a:xfrm>
        </p:grpSpPr>
        <p:sp>
          <p:nvSpPr>
            <p:cNvPr id="21" name="Rectangle 21"/>
            <p:cNvSpPr/>
            <p:nvPr/>
          </p:nvSpPr>
          <p:spPr>
            <a:xfrm>
              <a:off x="6743700" y="1333500"/>
              <a:ext cx="4838700" cy="4572000"/>
            </a:xfrm>
            <a:prstGeom prst="roundRect">
              <a:avLst>
                <a:gd name="adj" fmla="val 2083"/>
              </a:avLst>
            </a:prstGeom>
            <a:solidFill>
              <a:srgbClr val="FFFFFF"/>
            </a:solidFill>
            <a:ln w="14288">
              <a:solidFill>
                <a:srgbClr val="B8CBD3"/>
              </a:solidFill>
            </a:ln>
          </p:spPr>
        </p:sp>
        <p:grpSp>
          <p:nvGrpSpPr>
            <p:cNvPr id="25" name="icon-db"/>
            <p:cNvGrpSpPr/>
            <p:nvPr/>
          </p:nvGrpSpPr>
          <p:grpSpPr>
            <a:xfrm>
              <a:off x="8216901" y="1676401"/>
              <a:ext cx="406405" cy="457206"/>
              <a:chOff x="8216901" y="1676401"/>
              <a:chExt cx="406405" cy="457206"/>
            </a:xfrm>
          </p:grpSpPr>
          <p:sp>
            <p:nvSpPr>
              <p:cNvPr id="22" name="Freeform 22"/>
              <p:cNvSpPr/>
              <p:nvPr/>
            </p:nvSpPr>
            <p:spPr>
              <a:xfrm>
                <a:off x="8216901" y="1676401"/>
                <a:ext cx="406405" cy="152402"/>
              </a:xfrm>
              <a:custGeom>
                <a:avLst/>
                <a:gdLst/>
                <a:ahLst/>
                <a:cxnLst/>
                <a:rect l="l" t="t" r="r" b="b"/>
                <a:pathLst>
                  <a:path w="406405" h="152402">
                    <a:moveTo>
                      <a:pt x="0" y="76201"/>
                    </a:moveTo>
                    <a:cubicBezTo>
                      <a:pt x="0" y="118286"/>
                      <a:pt x="90977" y="152402"/>
                      <a:pt x="203203" y="152402"/>
                    </a:cubicBezTo>
                    <a:cubicBezTo>
                      <a:pt x="315428" y="152402"/>
                      <a:pt x="406405" y="118286"/>
                      <a:pt x="406405" y="76201"/>
                    </a:cubicBezTo>
                    <a:cubicBezTo>
                      <a:pt x="406405" y="34116"/>
                      <a:pt x="315428" y="0"/>
                      <a:pt x="203203" y="0"/>
                    </a:cubicBezTo>
                    <a:cubicBezTo>
                      <a:pt x="90977" y="0"/>
                      <a:pt x="0" y="34116"/>
                      <a:pt x="0" y="76201"/>
                    </a:cubicBezTo>
                  </a:path>
                </a:pathLst>
              </a:custGeom>
              <a:noFill/>
              <a:ln w="19050" cap="rnd">
                <a:solidFill>
                  <a:srgbClr val="00A6A6"/>
                </a:solidFill>
                <a:round/>
              </a:ln>
            </p:spPr>
          </p:sp>
          <p:sp>
            <p:nvSpPr>
              <p:cNvPr id="23" name="Freeform 23"/>
              <p:cNvSpPr/>
              <p:nvPr/>
            </p:nvSpPr>
            <p:spPr>
              <a:xfrm>
                <a:off x="8216901" y="1752602"/>
                <a:ext cx="406405" cy="228603"/>
              </a:xfrm>
              <a:custGeom>
                <a:avLst/>
                <a:gdLst/>
                <a:ahLst/>
                <a:cxnLst/>
                <a:rect l="l" t="t" r="r" b="b"/>
                <a:pathLst>
                  <a:path w="406405" h="228603">
                    <a:moveTo>
                      <a:pt x="0" y="0"/>
                    </a:moveTo>
                    <a:lnTo>
                      <a:pt x="0" y="152402"/>
                    </a:lnTo>
                    <a:cubicBezTo>
                      <a:pt x="0" y="194487"/>
                      <a:pt x="90977" y="228603"/>
                      <a:pt x="203203" y="228603"/>
                    </a:cubicBezTo>
                    <a:cubicBezTo>
                      <a:pt x="315428" y="228603"/>
                      <a:pt x="406405" y="194487"/>
                      <a:pt x="406405" y="152402"/>
                    </a:cubicBezTo>
                    <a:lnTo>
                      <a:pt x="406405" y="0"/>
                    </a:lnTo>
                  </a:path>
                </a:pathLst>
              </a:custGeom>
              <a:noFill/>
              <a:ln w="19050" cap="rnd">
                <a:solidFill>
                  <a:srgbClr val="00A6A6"/>
                </a:solidFill>
                <a:round/>
              </a:ln>
            </p:spPr>
          </p:sp>
          <p:sp>
            <p:nvSpPr>
              <p:cNvPr id="24" name="Freeform 24"/>
              <p:cNvSpPr/>
              <p:nvPr/>
            </p:nvSpPr>
            <p:spPr>
              <a:xfrm>
                <a:off x="8216901" y="1905004"/>
                <a:ext cx="406405" cy="228603"/>
              </a:xfrm>
              <a:custGeom>
                <a:avLst/>
                <a:gdLst/>
                <a:ahLst/>
                <a:cxnLst/>
                <a:rect l="l" t="t" r="r" b="b"/>
                <a:pathLst>
                  <a:path w="406405" h="228603">
                    <a:moveTo>
                      <a:pt x="0" y="0"/>
                    </a:moveTo>
                    <a:lnTo>
                      <a:pt x="0" y="152402"/>
                    </a:lnTo>
                    <a:cubicBezTo>
                      <a:pt x="0" y="194487"/>
                      <a:pt x="90977" y="228603"/>
                      <a:pt x="203203" y="228603"/>
                    </a:cubicBezTo>
                    <a:cubicBezTo>
                      <a:pt x="315428" y="228603"/>
                      <a:pt x="406405" y="194487"/>
                      <a:pt x="406405" y="152402"/>
                    </a:cubicBezTo>
                    <a:lnTo>
                      <a:pt x="406405" y="0"/>
                    </a:lnTo>
                  </a:path>
                </a:pathLst>
              </a:custGeom>
              <a:noFill/>
              <a:ln w="19050" cap="rnd">
                <a:solidFill>
                  <a:srgbClr val="00A6A6"/>
                </a:solidFill>
                <a:round/>
              </a:ln>
            </p:spPr>
          </p:sp>
        </p:grpSp>
        <p:sp>
          <p:nvSpPr>
            <p:cNvPr id="26" name="TextBox 26"/>
            <p:cNvSpPr txBox="1"/>
            <p:nvPr/>
          </p:nvSpPr>
          <p:spPr>
            <a:xfrm>
              <a:off x="9153906" y="2586990"/>
              <a:ext cx="2341808"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Kuramsal arka plan</a:t>
              </a:r>
            </a:p>
          </p:txBody>
        </p:sp>
        <p:sp>
          <p:nvSpPr>
            <p:cNvPr id="27" name="Line 27"/>
            <p:cNvSpPr/>
            <p:nvPr/>
          </p:nvSpPr>
          <p:spPr>
            <a:xfrm>
              <a:off x="7048500" y="3238500"/>
              <a:ext cx="9525" cy="2095500"/>
            </a:xfrm>
            <a:custGeom>
              <a:avLst/>
              <a:gdLst/>
              <a:ahLst/>
              <a:cxnLst/>
              <a:rect l="l" t="t" r="r" b="b"/>
              <a:pathLst>
                <a:path w="9525" h="2095500">
                  <a:moveTo>
                    <a:pt x="0" y="0"/>
                  </a:moveTo>
                  <a:lnTo>
                    <a:pt x="0" y="2095500"/>
                  </a:lnTo>
                </a:path>
              </a:pathLst>
            </a:custGeom>
            <a:noFill/>
            <a:ln w="19050">
              <a:solidFill>
                <a:srgbClr val="B8CBD3"/>
              </a:solidFill>
            </a:ln>
          </p:spPr>
        </p:sp>
        <p:sp>
          <p:nvSpPr>
            <p:cNvPr id="28" name="Ellipse 28"/>
            <p:cNvSpPr/>
            <p:nvPr/>
          </p:nvSpPr>
          <p:spPr>
            <a:xfrm>
              <a:off x="6981825" y="3286125"/>
              <a:ext cx="133350" cy="133350"/>
            </a:xfrm>
            <a:prstGeom prst="ellipse">
              <a:avLst/>
            </a:prstGeom>
            <a:solidFill>
              <a:srgbClr val="00A6A6"/>
            </a:solidFill>
            <a:ln>
              <a:noFill/>
            </a:ln>
          </p:spPr>
        </p:sp>
        <p:sp>
          <p:nvSpPr>
            <p:cNvPr id="29" name="TextBox 29"/>
            <p:cNvSpPr txBox="1"/>
            <p:nvPr/>
          </p:nvSpPr>
          <p:spPr>
            <a:xfrm>
              <a:off x="7269099" y="3106579"/>
              <a:ext cx="1273049"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1970 — Codd</a:t>
              </a:r>
            </a:p>
          </p:txBody>
        </p:sp>
        <p:sp>
          <p:nvSpPr>
            <p:cNvPr id="30" name="TextBox 30"/>
            <p:cNvSpPr txBox="1"/>
            <p:nvPr/>
          </p:nvSpPr>
          <p:spPr>
            <a:xfrm>
              <a:off x="7271004" y="3394710"/>
              <a:ext cx="245821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"A Relational Model of Data",</a:t>
              </a:r>
              <a:br/>
              <a:r>
                <a:rPr lang="tr-TR" sz="1200" dirty="0">
                  <a:solidFill>
                    <a:srgbClr val="172B3A"/>
                  </a:solidFill>
                  <a:latin typeface="+mn-lt"/>
                  <a:ea typeface="+mn-ea"/>
                  <a:cs typeface="+mn-cs"/>
                </a:rPr>
                <a:t>ilişkisel modelin kuramsal temeli.</a:t>
              </a:r>
            </a:p>
          </p:txBody>
        </p:sp>
        <p:sp>
          <p:nvSpPr>
            <p:cNvPr id="31" name="Ellipse 31"/>
            <p:cNvSpPr/>
            <p:nvPr/>
          </p:nvSpPr>
          <p:spPr>
            <a:xfrm>
              <a:off x="6981825" y="4314825"/>
              <a:ext cx="133350" cy="133350"/>
            </a:xfrm>
            <a:prstGeom prst="ellipse">
              <a:avLst/>
            </a:prstGeom>
            <a:solidFill>
              <a:srgbClr val="00A6A6"/>
            </a:solidFill>
            <a:ln>
              <a:noFill/>
            </a:ln>
          </p:spPr>
        </p:sp>
        <p:sp>
          <p:nvSpPr>
            <p:cNvPr id="32" name="TextBox 32"/>
            <p:cNvSpPr txBox="1"/>
            <p:nvPr/>
          </p:nvSpPr>
          <p:spPr>
            <a:xfrm>
              <a:off x="7269099" y="4135279"/>
              <a:ext cx="2126150"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1986 — Stonebraker</a:t>
              </a:r>
            </a:p>
          </p:txBody>
        </p:sp>
        <p:sp>
          <p:nvSpPr>
            <p:cNvPr id="33" name="TextBox 33"/>
            <p:cNvSpPr txBox="1"/>
            <p:nvPr/>
          </p:nvSpPr>
          <p:spPr>
            <a:xfrm>
              <a:off x="7271004" y="4423410"/>
              <a:ext cx="265633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UC Berkeley'de POSTGRES adıyla</a:t>
              </a:r>
              <a:br/>
              <a:r>
                <a:rPr lang="tr-TR" sz="1200" dirty="0">
                  <a:solidFill>
                    <a:srgbClr val="172B3A"/>
                  </a:solidFill>
                  <a:latin typeface="+mn-lt"/>
                  <a:ea typeface="+mn-ea"/>
                  <a:cs typeface="+mn-cs"/>
                </a:rPr>
                <a:t>akademik araştırma projesi başlar.</a:t>
              </a:r>
            </a:p>
          </p:txBody>
        </p:sp>
      </p:grpSp>
      <p:sp>
        <p:nvSpPr>
          <p:cNvPr id="35" name="TextBox 35"/>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06 / 26</a:t>
            </a: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8869001" cy="668845"/>
            <a:chOff x="609600" y="171450"/>
            <a:chExt cx="8869001"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77240" y="324326"/>
                <a:ext cx="236220" cy="265748"/>
                <a:chOff x="777240" y="324326"/>
                <a:chExt cx="236220" cy="265748"/>
              </a:xfrm>
            </p:grpSpPr>
            <p:sp>
              <p:nvSpPr>
                <p:cNvPr id="5" name="Freeform 5"/>
                <p:cNvSpPr/>
                <p:nvPr/>
              </p:nvSpPr>
              <p:spPr>
                <a:xfrm>
                  <a:off x="777240" y="324326"/>
                  <a:ext cx="236220" cy="88583"/>
                </a:xfrm>
                <a:custGeom>
                  <a:avLst/>
                  <a:gdLst/>
                  <a:ahLst/>
                  <a:cxnLst/>
                  <a:rect l="l" t="t" r="r" b="b"/>
                  <a:pathLst>
                    <a:path w="236220" h="88583">
                      <a:moveTo>
                        <a:pt x="0" y="44291"/>
                      </a:moveTo>
                      <a:cubicBezTo>
                        <a:pt x="0" y="68753"/>
                        <a:pt x="52880" y="88583"/>
                        <a:pt x="118110" y="88583"/>
                      </a:cubicBezTo>
                      <a:cubicBezTo>
                        <a:pt x="183340" y="88583"/>
                        <a:pt x="236220" y="68753"/>
                        <a:pt x="236220" y="44291"/>
                      </a:cubicBezTo>
                      <a:cubicBezTo>
                        <a:pt x="236220" y="19830"/>
                        <a:pt x="183340" y="0"/>
                        <a:pt x="118110" y="0"/>
                      </a:cubicBezTo>
                      <a:cubicBezTo>
                        <a:pt x="52880" y="0"/>
                        <a:pt x="0" y="19830"/>
                        <a:pt x="0" y="44291"/>
                      </a:cubicBezTo>
                    </a:path>
                  </a:pathLst>
                </a:custGeom>
                <a:noFill/>
                <a:ln w="24759" cap="rnd">
                  <a:solidFill>
                    <a:srgbClr val="FFFFFF"/>
                  </a:solidFill>
                  <a:round/>
                </a:ln>
              </p:spPr>
            </p:sp>
            <p:sp>
              <p:nvSpPr>
                <p:cNvPr id="6" name="Freeform 6"/>
                <p:cNvSpPr/>
                <p:nvPr/>
              </p:nvSpPr>
              <p:spPr>
                <a:xfrm>
                  <a:off x="777240" y="368618"/>
                  <a:ext cx="236220" cy="132874"/>
                </a:xfrm>
                <a:custGeom>
                  <a:avLst/>
                  <a:gdLst/>
                  <a:ahLst/>
                  <a:cxnLst/>
                  <a:rect l="l" t="t" r="r" b="b"/>
                  <a:pathLst>
                    <a:path w="236220" h="132874">
                      <a:moveTo>
                        <a:pt x="0" y="0"/>
                      </a:moveTo>
                      <a:lnTo>
                        <a:pt x="0" y="88582"/>
                      </a:lnTo>
                      <a:cubicBezTo>
                        <a:pt x="0" y="113044"/>
                        <a:pt x="52880" y="132874"/>
                        <a:pt x="118110" y="132874"/>
                      </a:cubicBezTo>
                      <a:cubicBezTo>
                        <a:pt x="183340" y="132874"/>
                        <a:pt x="236220" y="113044"/>
                        <a:pt x="236220" y="88582"/>
                      </a:cubicBezTo>
                      <a:lnTo>
                        <a:pt x="236220" y="0"/>
                      </a:lnTo>
                    </a:path>
                  </a:pathLst>
                </a:custGeom>
                <a:noFill/>
                <a:ln w="24759" cap="rnd">
                  <a:solidFill>
                    <a:srgbClr val="FFFFFF"/>
                  </a:solidFill>
                  <a:round/>
                </a:ln>
              </p:spPr>
            </p:sp>
            <p:sp>
              <p:nvSpPr>
                <p:cNvPr id="7" name="Freeform 7"/>
                <p:cNvSpPr/>
                <p:nvPr/>
              </p:nvSpPr>
              <p:spPr>
                <a:xfrm>
                  <a:off x="777240" y="457200"/>
                  <a:ext cx="236220" cy="132874"/>
                </a:xfrm>
                <a:custGeom>
                  <a:avLst/>
                  <a:gdLst/>
                  <a:ahLst/>
                  <a:cxnLst/>
                  <a:rect l="l" t="t" r="r" b="b"/>
                  <a:pathLst>
                    <a:path w="236220" h="132874">
                      <a:moveTo>
                        <a:pt x="0" y="0"/>
                      </a:moveTo>
                      <a:lnTo>
                        <a:pt x="0" y="88582"/>
                      </a:lnTo>
                      <a:cubicBezTo>
                        <a:pt x="0" y="113044"/>
                        <a:pt x="52880" y="132874"/>
                        <a:pt x="118110" y="132874"/>
                      </a:cubicBezTo>
                      <a:cubicBezTo>
                        <a:pt x="183340" y="132874"/>
                        <a:pt x="236220" y="113044"/>
                        <a:pt x="236220" y="88582"/>
                      </a:cubicBezTo>
                      <a:lnTo>
                        <a:pt x="236220" y="0"/>
                      </a:lnTo>
                    </a:path>
                  </a:pathLst>
                </a:custGeom>
                <a:noFill/>
                <a:ln w="24759" cap="rnd">
                  <a:solidFill>
                    <a:srgbClr val="FFFFFF"/>
                  </a:solidFill>
                  <a:round/>
                </a:ln>
              </p:spPr>
            </p:sp>
          </p:grpSp>
        </p:grpSp>
        <p:sp>
          <p:nvSpPr>
            <p:cNvPr id="10" name="TextBox 10"/>
            <p:cNvSpPr txBox="1"/>
            <p:nvPr/>
          </p:nvSpPr>
          <p:spPr>
            <a:xfrm>
              <a:off x="1299972" y="282892"/>
              <a:ext cx="8178629"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PostgreSQL bağlantısı ve havuz yönetimi</a:t>
              </a:r>
            </a:p>
          </p:txBody>
        </p:sp>
      </p:grpSp>
      <p:grpSp>
        <p:nvGrpSpPr>
          <p:cNvPr id="13" name="code-left-caption"/>
          <p:cNvGrpSpPr/>
          <p:nvPr/>
        </p:nvGrpSpPr>
        <p:grpSpPr>
          <a:xfrm>
            <a:off x="601599" y="1163479"/>
            <a:ext cx="3717709" cy="308039"/>
            <a:chOff x="601599" y="1163479"/>
            <a:chExt cx="3717709" cy="308039"/>
          </a:xfrm>
        </p:grpSpPr>
        <p:sp>
          <p:nvSpPr>
            <p:cNvPr id="12" name="TextBox 12"/>
            <p:cNvSpPr txBox="1"/>
            <p:nvPr/>
          </p:nvSpPr>
          <p:spPr>
            <a:xfrm>
              <a:off x="601599" y="1163479"/>
              <a:ext cx="3717709"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Kod 7.1: pg Client ile tek bağlantı</a:t>
              </a:r>
            </a:p>
          </p:txBody>
        </p:sp>
      </p:grpSp>
      <p:grpSp>
        <p:nvGrpSpPr>
          <p:cNvPr id="16" name="code-left"/>
          <p:cNvGrpSpPr/>
          <p:nvPr/>
        </p:nvGrpSpPr>
        <p:grpSpPr>
          <a:xfrm>
            <a:off x="609600" y="1447800"/>
            <a:ext cx="5334000" cy="3543300"/>
            <a:chOff x="609600" y="1447800"/>
            <a:chExt cx="5334000" cy="3543300"/>
          </a:xfrm>
        </p:grpSpPr>
        <p:sp>
          <p:nvSpPr>
            <p:cNvPr id="14" name="Rectangle 14"/>
            <p:cNvSpPr/>
            <p:nvPr/>
          </p:nvSpPr>
          <p:spPr>
            <a:xfrm>
              <a:off x="609600" y="1447800"/>
              <a:ext cx="5334000" cy="3543300"/>
            </a:xfrm>
            <a:prstGeom prst="roundRect">
              <a:avLst>
                <a:gd name="adj" fmla="val 2151"/>
              </a:avLst>
            </a:prstGeom>
            <a:solidFill>
              <a:srgbClr val="0B2038"/>
            </a:solidFill>
            <a:ln>
              <a:noFill/>
            </a:ln>
          </p:spPr>
        </p:sp>
        <p:sp>
          <p:nvSpPr>
            <p:cNvPr id="15" name="TextBox 15"/>
            <p:cNvSpPr txBox="1"/>
            <p:nvPr/>
          </p:nvSpPr>
          <p:spPr>
            <a:xfrm>
              <a:off x="795147" y="1628299"/>
              <a:ext cx="2131949" cy="3295840"/>
            </a:xfrm>
            <a:prstGeom prst="rect">
              <a:avLst/>
            </a:prstGeom>
            <a:noFill/>
            <a:ln>
              <a:noFill/>
            </a:ln>
          </p:spPr>
          <p:txBody>
            <a:bodyPr wrap="none" lIns="0" tIns="0" rIns="0" bIns="0" anchor="t" anchorCtr="0">
              <a:spAutoFit/>
            </a:bodyPr>
            <a:lstStyle/>
            <a:p>
              <a:pPr algn="l">
                <a:lnSpc>
                  <a:spcPts val="1350"/>
                </a:lnSpc>
              </a:pPr>
              <a:r>
                <a:rPr lang="tr-TR" sz="980" dirty="0">
                  <a:solidFill>
                    <a:srgbClr val="EAF4F6"/>
                  </a:solidFill>
                  <a:latin typeface="Consolas"/>
                  <a:ea typeface="Consolas"/>
                  <a:cs typeface="Consolas"/>
                </a:rPr>
                <a:t>import { Client } from "pg";</a:t>
              </a:r>
            </a:p>
            <a:p>
              <a:pPr algn="l">
                <a:lnSpc>
                  <a:spcPts val="1350"/>
                </a:lnSpc>
                <a:spcBef>
                  <a:spcPts val="150"/>
                </a:spcBef>
              </a:pPr>
              <a:r>
                <a:rPr lang="tr-TR" sz="980" dirty="0">
                  <a:solidFill>
                    <a:srgbClr val="EAF4F6"/>
                  </a:solidFill>
                  <a:latin typeface="Consolas"/>
                  <a:ea typeface="Consolas"/>
                  <a:cs typeface="Consolas"/>
                </a:rPr>
                <a:t>async function baglantiDene() {</a:t>
              </a:r>
              <a:br/>
              <a:r>
                <a:rPr lang="tr-TR" sz="980" dirty="0">
                  <a:solidFill>
                    <a:srgbClr val="EAF4F6"/>
                  </a:solidFill>
                  <a:latin typeface="Consolas"/>
                  <a:ea typeface="Consolas"/>
                  <a:cs typeface="Consolas"/>
                </a:rPr>
                <a:t>const istemci = new Client({</a:t>
              </a:r>
              <a:br/>
              <a:r>
                <a:rPr lang="tr-TR" sz="980" dirty="0">
                  <a:solidFill>
                    <a:srgbClr val="EAF4F6"/>
                  </a:solidFill>
                  <a:latin typeface="Consolas"/>
                  <a:ea typeface="Consolas"/>
                  <a:cs typeface="Consolas"/>
                </a:rPr>
                <a:t>host: "localhost",</a:t>
              </a:r>
              <a:br/>
              <a:r>
                <a:rPr lang="tr-TR" sz="980" dirty="0">
                  <a:solidFill>
                    <a:srgbClr val="EAF4F6"/>
                  </a:solidFill>
                  <a:latin typeface="Consolas"/>
                  <a:ea typeface="Consolas"/>
                  <a:cs typeface="Consolas"/>
                </a:rPr>
                <a:t>port: 5432,</a:t>
              </a:r>
              <a:br/>
              <a:r>
                <a:rPr lang="tr-TR" sz="980" dirty="0">
                  <a:solidFill>
                    <a:srgbClr val="EAF4F6"/>
                  </a:solidFill>
                  <a:latin typeface="Consolas"/>
                  <a:ea typeface="Consolas"/>
                  <a:cs typeface="Consolas"/>
                </a:rPr>
                <a:t>database: "kitaplik",</a:t>
              </a:r>
              <a:br/>
              <a:r>
                <a:rPr lang="tr-TR" sz="980" dirty="0">
                  <a:solidFill>
                    <a:srgbClr val="EAF4F6"/>
                  </a:solidFill>
                  <a:latin typeface="Consolas"/>
                  <a:ea typeface="Consolas"/>
                  <a:cs typeface="Consolas"/>
                </a:rPr>
                <a:t>user: "postgres",</a:t>
              </a:r>
              <a:br/>
              <a:r>
                <a:rPr lang="tr-TR" sz="980" dirty="0">
                  <a:solidFill>
                    <a:srgbClr val="EAF4F6"/>
                  </a:solidFill>
                  <a:latin typeface="Consolas"/>
                  <a:ea typeface="Consolas"/>
                  <a:cs typeface="Consolas"/>
                </a:rPr>
                <a:t>password: process.env.DB_PASS,</a:t>
              </a:r>
              <a:br/>
              <a:r>
                <a:rPr lang="tr-TR" sz="980" dirty="0">
                  <a:solidFill>
                    <a:srgbClr val="EAF4F6"/>
                  </a:solidFill>
                  <a:latin typeface="Consolas"/>
                  <a:ea typeface="Consolas"/>
                  <a:cs typeface="Consolas"/>
                </a:rPr>
                <a:t>});</a:t>
              </a:r>
              <a:br/>
              <a:r>
                <a:rPr lang="tr-TR" sz="980" dirty="0">
                  <a:solidFill>
                    <a:srgbClr val="EAF4F6"/>
                  </a:solidFill>
                  <a:latin typeface="Consolas"/>
                  <a:ea typeface="Consolas"/>
                  <a:cs typeface="Consolas"/>
                </a:rPr>
                <a:t>try {</a:t>
              </a:r>
              <a:br/>
              <a:r>
                <a:rPr lang="tr-TR" sz="980" dirty="0">
                  <a:solidFill>
                    <a:srgbClr val="EAF4F6"/>
                  </a:solidFill>
                  <a:latin typeface="Consolas"/>
                  <a:ea typeface="Consolas"/>
                  <a:cs typeface="Consolas"/>
                </a:rPr>
                <a:t>await istemci.connect();</a:t>
              </a:r>
              <a:br/>
              <a:r>
                <a:rPr lang="tr-TR" sz="980" dirty="0">
                  <a:solidFill>
                    <a:srgbClr val="EAF4F6"/>
                  </a:solidFill>
                  <a:latin typeface="Consolas"/>
                  <a:ea typeface="Consolas"/>
                  <a:cs typeface="Consolas"/>
                </a:rPr>
                <a:t>const s = await istemci.query(</a:t>
              </a:r>
              <a:br/>
              <a:r>
                <a:rPr lang="tr-TR" sz="980" dirty="0">
                  <a:solidFill>
                    <a:srgbClr val="EAF4F6"/>
                  </a:solidFill>
                  <a:latin typeface="Consolas"/>
                  <a:ea typeface="Consolas"/>
                  <a:cs typeface="Consolas"/>
                </a:rPr>
                <a:t>"SELECT current_database();"</a:t>
              </a:r>
              <a:br/>
              <a:r>
                <a:rPr lang="tr-TR" sz="980" dirty="0">
                  <a:solidFill>
                    <a:srgbClr val="EAF4F6"/>
                  </a:solidFill>
                  <a:latin typeface="Consolas"/>
                  <a:ea typeface="Consolas"/>
                  <a:cs typeface="Consolas"/>
                </a:rPr>
                <a:t>);</a:t>
              </a:r>
              <a:br/>
              <a:r>
                <a:rPr lang="tr-TR" sz="980" dirty="0">
                  <a:solidFill>
                    <a:srgbClr val="EAF4F6"/>
                  </a:solidFill>
                  <a:latin typeface="Consolas"/>
                  <a:ea typeface="Consolas"/>
                  <a:cs typeface="Consolas"/>
                </a:rPr>
                <a:t>console.log(s.rows[0]);</a:t>
              </a:r>
              <a:br/>
              <a:r>
                <a:rPr lang="tr-TR" sz="980" dirty="0">
                  <a:solidFill>
                    <a:srgbClr val="EAF4F6"/>
                  </a:solidFill>
                  <a:latin typeface="Consolas"/>
                  <a:ea typeface="Consolas"/>
                  <a:cs typeface="Consolas"/>
                </a:rPr>
                <a:t>} finally {</a:t>
              </a:r>
              <a:br/>
              <a:r>
                <a:rPr lang="tr-TR" sz="980" dirty="0">
                  <a:solidFill>
                    <a:srgbClr val="EAF4F6"/>
                  </a:solidFill>
                  <a:latin typeface="Consolas"/>
                  <a:ea typeface="Consolas"/>
                  <a:cs typeface="Consolas"/>
                </a:rPr>
                <a:t>await istemci.end();</a:t>
              </a:r>
              <a:br/>
              <a:r>
                <a:rPr lang="tr-TR" sz="980" dirty="0">
                  <a:solidFill>
                    <a:srgbClr val="EAF4F6"/>
                  </a:solidFill>
                  <a:latin typeface="Consolas"/>
                  <a:ea typeface="Consolas"/>
                  <a:cs typeface="Consolas"/>
                </a:rPr>
                <a:t>}</a:t>
              </a:r>
              <a:br/>
              <a:r>
                <a:rPr lang="tr-TR" sz="980" dirty="0">
                  <a:solidFill>
                    <a:srgbClr val="EAF4F6"/>
                  </a:solidFill>
                  <a:latin typeface="Consolas"/>
                  <a:ea typeface="Consolas"/>
                  <a:cs typeface="Consolas"/>
                </a:rPr>
                <a:t>}</a:t>
              </a:r>
            </a:p>
          </p:txBody>
        </p:sp>
      </p:grpSp>
      <p:grpSp>
        <p:nvGrpSpPr>
          <p:cNvPr id="18" name="code-right-caption"/>
          <p:cNvGrpSpPr/>
          <p:nvPr/>
        </p:nvGrpSpPr>
        <p:grpSpPr>
          <a:xfrm>
            <a:off x="6430899" y="1163479"/>
            <a:ext cx="4632477" cy="308039"/>
            <a:chOff x="6430899" y="1163479"/>
            <a:chExt cx="4632477" cy="308039"/>
          </a:xfrm>
        </p:grpSpPr>
        <p:sp>
          <p:nvSpPr>
            <p:cNvPr id="17" name="TextBox 17"/>
            <p:cNvSpPr txBox="1"/>
            <p:nvPr/>
          </p:nvSpPr>
          <p:spPr>
            <a:xfrm>
              <a:off x="6430899" y="1163479"/>
              <a:ext cx="4632477"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Kod 7.2: Pool ile ortam değişkenli bağlantı</a:t>
              </a:r>
            </a:p>
          </p:txBody>
        </p:sp>
      </p:grpSp>
      <p:grpSp>
        <p:nvGrpSpPr>
          <p:cNvPr id="21" name="code-right"/>
          <p:cNvGrpSpPr/>
          <p:nvPr/>
        </p:nvGrpSpPr>
        <p:grpSpPr>
          <a:xfrm>
            <a:off x="6438900" y="1447800"/>
            <a:ext cx="5334000" cy="3543300"/>
            <a:chOff x="6438900" y="1447800"/>
            <a:chExt cx="5334000" cy="3543300"/>
          </a:xfrm>
        </p:grpSpPr>
        <p:sp>
          <p:nvSpPr>
            <p:cNvPr id="19" name="Rectangle 19"/>
            <p:cNvSpPr/>
            <p:nvPr/>
          </p:nvSpPr>
          <p:spPr>
            <a:xfrm>
              <a:off x="6438900" y="1447800"/>
              <a:ext cx="5334000" cy="3543300"/>
            </a:xfrm>
            <a:prstGeom prst="roundRect">
              <a:avLst>
                <a:gd name="adj" fmla="val 2151"/>
              </a:avLst>
            </a:prstGeom>
            <a:solidFill>
              <a:srgbClr val="0B2038"/>
            </a:solidFill>
            <a:ln>
              <a:noFill/>
            </a:ln>
          </p:spPr>
        </p:sp>
        <p:sp>
          <p:nvSpPr>
            <p:cNvPr id="20" name="TextBox 20"/>
            <p:cNvSpPr txBox="1"/>
            <p:nvPr/>
          </p:nvSpPr>
          <p:spPr>
            <a:xfrm>
              <a:off x="6624447" y="1628299"/>
              <a:ext cx="2131949" cy="2305240"/>
            </a:xfrm>
            <a:prstGeom prst="rect">
              <a:avLst/>
            </a:prstGeom>
            <a:noFill/>
            <a:ln>
              <a:noFill/>
            </a:ln>
          </p:spPr>
          <p:txBody>
            <a:bodyPr wrap="none" lIns="0" tIns="0" rIns="0" bIns="0" anchor="t" anchorCtr="0">
              <a:spAutoFit/>
            </a:bodyPr>
            <a:lstStyle/>
            <a:p>
              <a:pPr algn="l">
                <a:lnSpc>
                  <a:spcPts val="1350"/>
                </a:lnSpc>
              </a:pPr>
              <a:r>
                <a:rPr lang="tr-TR" sz="980" dirty="0">
                  <a:solidFill>
                    <a:srgbClr val="EAF4F6"/>
                  </a:solidFill>
                  <a:latin typeface="Consolas"/>
                  <a:ea typeface="Consolas"/>
                  <a:cs typeface="Consolas"/>
                </a:rPr>
                <a:t>import { Pool } from "pg";</a:t>
              </a:r>
            </a:p>
            <a:p>
              <a:pPr algn="l">
                <a:lnSpc>
                  <a:spcPts val="1350"/>
                </a:lnSpc>
                <a:spcBef>
                  <a:spcPts val="150"/>
                </a:spcBef>
              </a:pPr>
              <a:r>
                <a:rPr lang="tr-TR" sz="980" dirty="0">
                  <a:solidFill>
                    <a:srgbClr val="EAF4F6"/>
                  </a:solidFill>
                  <a:latin typeface="Consolas"/>
                  <a:ea typeface="Consolas"/>
                  <a:cs typeface="Consolas"/>
                </a:rPr>
                <a:t>const havuz = new Pool({</a:t>
              </a:r>
              <a:br/>
              <a:r>
                <a:rPr lang="tr-TR" sz="980" dirty="0">
                  <a:solidFill>
                    <a:srgbClr val="EAF4F6"/>
                  </a:solidFill>
                  <a:latin typeface="Consolas"/>
                  <a:ea typeface="Consolas"/>
                  <a:cs typeface="Consolas"/>
                </a:rPr>
                <a:t>connectionString:</a:t>
              </a:r>
              <a:br/>
              <a:r>
                <a:rPr lang="tr-TR" sz="980" dirty="0">
                  <a:solidFill>
                    <a:srgbClr val="EAF4F6"/>
                  </a:solidFill>
                  <a:latin typeface="Consolas"/>
                  <a:ea typeface="Consolas"/>
                  <a:cs typeface="Consolas"/>
                </a:rPr>
                <a:t>process.env.DB_URL,</a:t>
              </a:r>
              <a:br/>
              <a:r>
                <a:rPr lang="tr-TR" sz="980" dirty="0">
                  <a:solidFill>
                    <a:srgbClr val="EAF4F6"/>
                  </a:solidFill>
                  <a:latin typeface="Consolas"/>
                  <a:ea typeface="Consolas"/>
                  <a:cs typeface="Consolas"/>
                </a:rPr>
                <a:t>});</a:t>
              </a:r>
            </a:p>
            <a:p>
              <a:pPr algn="l">
                <a:lnSpc>
                  <a:spcPts val="1350"/>
                </a:lnSpc>
                <a:spcBef>
                  <a:spcPts val="150"/>
                </a:spcBef>
              </a:pPr>
              <a:r>
                <a:rPr lang="tr-TR" sz="980" dirty="0">
                  <a:solidFill>
                    <a:srgbClr val="EAF4F6"/>
                  </a:solidFill>
                  <a:latin typeface="Consolas"/>
                  <a:ea typeface="Consolas"/>
                  <a:cs typeface="Consolas"/>
                </a:rPr>
                <a:t>async function sunucuZamani() {</a:t>
              </a:r>
              <a:br/>
              <a:r>
                <a:rPr lang="tr-TR" sz="980" dirty="0">
                  <a:solidFill>
                    <a:srgbClr val="EAF4F6"/>
                  </a:solidFill>
                  <a:latin typeface="Consolas"/>
                  <a:ea typeface="Consolas"/>
                  <a:cs typeface="Consolas"/>
                </a:rPr>
                <a:t>const s = await havuz.query(</a:t>
              </a:r>
              <a:br/>
              <a:r>
                <a:rPr lang="tr-TR" sz="980" dirty="0">
                  <a:solidFill>
                    <a:srgbClr val="EAF4F6"/>
                  </a:solidFill>
                  <a:latin typeface="Consolas"/>
                  <a:ea typeface="Consolas"/>
                  <a:cs typeface="Consolas"/>
                </a:rPr>
                <a:t>"SELECT CURRENT_TIMESTAMP;"</a:t>
              </a:r>
              <a:br/>
              <a:r>
                <a:rPr lang="tr-TR" sz="980" dirty="0">
                  <a:solidFill>
                    <a:srgbClr val="EAF4F6"/>
                  </a:solidFill>
                  <a:latin typeface="Consolas"/>
                  <a:ea typeface="Consolas"/>
                  <a:cs typeface="Consolas"/>
                </a:rPr>
                <a:t>);</a:t>
              </a:r>
              <a:br/>
              <a:r>
                <a:rPr lang="tr-TR" sz="980" dirty="0">
                  <a:solidFill>
                    <a:srgbClr val="EAF4F6"/>
                  </a:solidFill>
                  <a:latin typeface="Consolas"/>
                  <a:ea typeface="Consolas"/>
                  <a:cs typeface="Consolas"/>
                </a:rPr>
                <a:t>console.log(s.rows[0]);</a:t>
              </a:r>
              <a:br/>
              <a:r>
                <a:rPr lang="tr-TR" sz="980" dirty="0">
                  <a:solidFill>
                    <a:srgbClr val="EAF4F6"/>
                  </a:solidFill>
                  <a:latin typeface="Consolas"/>
                  <a:ea typeface="Consolas"/>
                  <a:cs typeface="Consolas"/>
                </a:rPr>
                <a:t>}</a:t>
              </a:r>
            </a:p>
            <a:p>
              <a:pPr algn="l">
                <a:lnSpc>
                  <a:spcPts val="1350"/>
                </a:lnSpc>
                <a:spcBef>
                  <a:spcPts val="150"/>
                </a:spcBef>
              </a:pPr>
              <a:r>
                <a:rPr lang="tr-TR" sz="980" dirty="0">
                  <a:solidFill>
                    <a:srgbClr val="EAF4F6"/>
                  </a:solidFill>
                  <a:latin typeface="Consolas"/>
                  <a:ea typeface="Consolas"/>
                  <a:cs typeface="Consolas"/>
                </a:rPr>
                <a:t>sunucuZamani()</a:t>
              </a:r>
              <a:br/>
              <a:r>
                <a:rPr lang="tr-TR" sz="980" dirty="0">
                  <a:solidFill>
                    <a:srgbClr val="EAF4F6"/>
                  </a:solidFill>
                  <a:latin typeface="Consolas"/>
                  <a:ea typeface="Consolas"/>
                  <a:cs typeface="Consolas"/>
                </a:rPr>
                <a:t>.finally(() =&gt; havuz.end());</a:t>
              </a:r>
            </a:p>
          </p:txBody>
        </p:sp>
      </p:grpSp>
      <p:grpSp>
        <p:nvGrpSpPr>
          <p:cNvPr id="27" name="attention-note"/>
          <p:cNvGrpSpPr/>
          <p:nvPr/>
        </p:nvGrpSpPr>
        <p:grpSpPr>
          <a:xfrm>
            <a:off x="609600" y="5181600"/>
            <a:ext cx="10972800" cy="914400"/>
            <a:chOff x="609600" y="5181600"/>
            <a:chExt cx="10972800" cy="914400"/>
          </a:xfrm>
        </p:grpSpPr>
        <p:sp>
          <p:nvSpPr>
            <p:cNvPr id="22" name="Rectangle 22"/>
            <p:cNvSpPr/>
            <p:nvPr/>
          </p:nvSpPr>
          <p:spPr>
            <a:xfrm>
              <a:off x="609600" y="5181600"/>
              <a:ext cx="10972800" cy="914400"/>
            </a:xfrm>
            <a:prstGeom prst="roundRect">
              <a:avLst>
                <a:gd name="adj" fmla="val 8333"/>
              </a:avLst>
            </a:prstGeom>
            <a:solidFill>
              <a:srgbClr val="EAF4F6"/>
            </a:solidFill>
            <a:ln>
              <a:noFill/>
            </a:ln>
          </p:spPr>
        </p:sp>
        <p:sp>
          <p:nvSpPr>
            <p:cNvPr id="23" name="Rectangle 23"/>
            <p:cNvSpPr/>
            <p:nvPr/>
          </p:nvSpPr>
          <p:spPr>
            <a:xfrm>
              <a:off x="609600" y="5181600"/>
              <a:ext cx="57150" cy="914400"/>
            </a:xfrm>
            <a:prstGeom prst="rect">
              <a:avLst/>
            </a:prstGeom>
            <a:solidFill>
              <a:srgbClr val="00A6A6"/>
            </a:solidFill>
            <a:ln>
              <a:noFill/>
            </a:ln>
          </p:spPr>
        </p:sp>
        <p:sp>
          <p:nvSpPr>
            <p:cNvPr id="24" name="TextBox 24"/>
            <p:cNvSpPr txBox="1"/>
            <p:nvPr/>
          </p:nvSpPr>
          <p:spPr>
            <a:xfrm>
              <a:off x="906399" y="5297329"/>
              <a:ext cx="1922612"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 Dikkat noktası</a:t>
              </a:r>
            </a:p>
          </p:txBody>
        </p:sp>
        <p:sp>
          <p:nvSpPr>
            <p:cNvPr id="25" name="TextBox 25"/>
            <p:cNvSpPr txBox="1"/>
            <p:nvPr/>
          </p:nvSpPr>
          <p:spPr>
            <a:xfrm>
              <a:off x="908304" y="5604510"/>
              <a:ext cx="7161751"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 xml:space="preserve">Parola gibi bağlantı bilgileri ortam değişkeninden okunmalıdır. </a:t>
              </a:r>
              <a:r>
                <a:rPr lang="tr-TR" sz="1200" b="1" dirty="0">
                  <a:solidFill>
                    <a:srgbClr val="172B3A"/>
                  </a:solidFill>
                  <a:latin typeface="+mn-lt"/>
                  <a:ea typeface="+mn-ea"/>
                  <a:cs typeface="+mn-cs"/>
                </a:rPr>
                <a:t>Pool</a:t>
              </a:r>
              <a:r>
                <a:rPr lang="tr-TR" sz="1200" dirty="0">
                  <a:solidFill>
                    <a:srgbClr val="172B3A"/>
                  </a:solidFill>
                  <a:latin typeface="+mn-lt"/>
                  <a:ea typeface="+mn-ea"/>
                  <a:cs typeface="+mn-cs"/>
                </a:rPr>
                <a:t>, çok sayıda eşzamanlı</a:t>
              </a:r>
            </a:p>
          </p:txBody>
        </p:sp>
        <p:sp>
          <p:nvSpPr>
            <p:cNvPr id="26" name="TextBox 26"/>
            <p:cNvSpPr txBox="1"/>
            <p:nvPr/>
          </p:nvSpPr>
          <p:spPr>
            <a:xfrm>
              <a:off x="908304" y="5795010"/>
              <a:ext cx="6452586"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 xml:space="preserve">istek için bağlantıları yeniden kullanır; tek seferlik betiklerde </a:t>
              </a:r>
              <a:r>
                <a:rPr lang="tr-TR" sz="1200" b="1" dirty="0">
                  <a:solidFill>
                    <a:srgbClr val="172B3A"/>
                  </a:solidFill>
                  <a:latin typeface="+mn-lt"/>
                  <a:ea typeface="+mn-ea"/>
                  <a:cs typeface="+mn-cs"/>
                </a:rPr>
                <a:t>Client</a:t>
              </a:r>
              <a:r>
                <a:rPr lang="tr-TR" sz="1200" dirty="0">
                  <a:solidFill>
                    <a:srgbClr val="172B3A"/>
                  </a:solidFill>
                  <a:latin typeface="+mn-lt"/>
                  <a:ea typeface="+mn-ea"/>
                  <a:cs typeface="+mn-cs"/>
                </a:rPr>
                <a:t xml:space="preserve"> yeterlidir.</a:t>
              </a:r>
            </a:p>
          </p:txBody>
        </p:sp>
      </p:grpSp>
      <p:sp>
        <p:nvSpPr>
          <p:cNvPr id="28" name="TextBox 28"/>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07 / 26</a:t>
            </a: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7807689" cy="668845"/>
            <a:chOff x="609600" y="171450"/>
            <a:chExt cx="7807689"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77240" y="324326"/>
                <a:ext cx="236220" cy="265748"/>
                <a:chOff x="777240" y="324326"/>
                <a:chExt cx="236220" cy="265748"/>
              </a:xfrm>
            </p:grpSpPr>
            <p:sp>
              <p:nvSpPr>
                <p:cNvPr id="5" name="Freeform 5"/>
                <p:cNvSpPr/>
                <p:nvPr/>
              </p:nvSpPr>
              <p:spPr>
                <a:xfrm>
                  <a:off x="777240" y="324326"/>
                  <a:ext cx="236220" cy="88583"/>
                </a:xfrm>
                <a:custGeom>
                  <a:avLst/>
                  <a:gdLst/>
                  <a:ahLst/>
                  <a:cxnLst/>
                  <a:rect l="l" t="t" r="r" b="b"/>
                  <a:pathLst>
                    <a:path w="236220" h="88583">
                      <a:moveTo>
                        <a:pt x="0" y="44291"/>
                      </a:moveTo>
                      <a:cubicBezTo>
                        <a:pt x="0" y="68753"/>
                        <a:pt x="52880" y="88583"/>
                        <a:pt x="118110" y="88583"/>
                      </a:cubicBezTo>
                      <a:cubicBezTo>
                        <a:pt x="183340" y="88583"/>
                        <a:pt x="236220" y="68753"/>
                        <a:pt x="236220" y="44291"/>
                      </a:cubicBezTo>
                      <a:cubicBezTo>
                        <a:pt x="236220" y="19830"/>
                        <a:pt x="183340" y="0"/>
                        <a:pt x="118110" y="0"/>
                      </a:cubicBezTo>
                      <a:cubicBezTo>
                        <a:pt x="52880" y="0"/>
                        <a:pt x="0" y="19830"/>
                        <a:pt x="0" y="44291"/>
                      </a:cubicBezTo>
                    </a:path>
                  </a:pathLst>
                </a:custGeom>
                <a:noFill/>
                <a:ln w="24759" cap="rnd">
                  <a:solidFill>
                    <a:srgbClr val="FFFFFF"/>
                  </a:solidFill>
                  <a:round/>
                </a:ln>
              </p:spPr>
            </p:sp>
            <p:sp>
              <p:nvSpPr>
                <p:cNvPr id="6" name="Freeform 6"/>
                <p:cNvSpPr/>
                <p:nvPr/>
              </p:nvSpPr>
              <p:spPr>
                <a:xfrm>
                  <a:off x="777240" y="368618"/>
                  <a:ext cx="236220" cy="132874"/>
                </a:xfrm>
                <a:custGeom>
                  <a:avLst/>
                  <a:gdLst/>
                  <a:ahLst/>
                  <a:cxnLst/>
                  <a:rect l="l" t="t" r="r" b="b"/>
                  <a:pathLst>
                    <a:path w="236220" h="132874">
                      <a:moveTo>
                        <a:pt x="0" y="0"/>
                      </a:moveTo>
                      <a:lnTo>
                        <a:pt x="0" y="88582"/>
                      </a:lnTo>
                      <a:cubicBezTo>
                        <a:pt x="0" y="113044"/>
                        <a:pt x="52880" y="132874"/>
                        <a:pt x="118110" y="132874"/>
                      </a:cubicBezTo>
                      <a:cubicBezTo>
                        <a:pt x="183340" y="132874"/>
                        <a:pt x="236220" y="113044"/>
                        <a:pt x="236220" y="88582"/>
                      </a:cubicBezTo>
                      <a:lnTo>
                        <a:pt x="236220" y="0"/>
                      </a:lnTo>
                    </a:path>
                  </a:pathLst>
                </a:custGeom>
                <a:noFill/>
                <a:ln w="24759" cap="rnd">
                  <a:solidFill>
                    <a:srgbClr val="FFFFFF"/>
                  </a:solidFill>
                  <a:round/>
                </a:ln>
              </p:spPr>
            </p:sp>
            <p:sp>
              <p:nvSpPr>
                <p:cNvPr id="7" name="Freeform 7"/>
                <p:cNvSpPr/>
                <p:nvPr/>
              </p:nvSpPr>
              <p:spPr>
                <a:xfrm>
                  <a:off x="777240" y="457200"/>
                  <a:ext cx="236220" cy="132874"/>
                </a:xfrm>
                <a:custGeom>
                  <a:avLst/>
                  <a:gdLst/>
                  <a:ahLst/>
                  <a:cxnLst/>
                  <a:rect l="l" t="t" r="r" b="b"/>
                  <a:pathLst>
                    <a:path w="236220" h="132874">
                      <a:moveTo>
                        <a:pt x="0" y="0"/>
                      </a:moveTo>
                      <a:lnTo>
                        <a:pt x="0" y="88582"/>
                      </a:lnTo>
                      <a:cubicBezTo>
                        <a:pt x="0" y="113044"/>
                        <a:pt x="52880" y="132874"/>
                        <a:pt x="118110" y="132874"/>
                      </a:cubicBezTo>
                      <a:cubicBezTo>
                        <a:pt x="183340" y="132874"/>
                        <a:pt x="236220" y="113044"/>
                        <a:pt x="236220" y="88582"/>
                      </a:cubicBezTo>
                      <a:lnTo>
                        <a:pt x="236220" y="0"/>
                      </a:lnTo>
                    </a:path>
                  </a:pathLst>
                </a:custGeom>
                <a:noFill/>
                <a:ln w="24759" cap="rnd">
                  <a:solidFill>
                    <a:srgbClr val="FFFFFF"/>
                  </a:solidFill>
                  <a:round/>
                </a:ln>
              </p:spPr>
            </p:sp>
          </p:grpSp>
        </p:grpSp>
        <p:sp>
          <p:nvSpPr>
            <p:cNvPr id="10" name="TextBox 10"/>
            <p:cNvSpPr txBox="1"/>
            <p:nvPr/>
          </p:nvSpPr>
          <p:spPr>
            <a:xfrm>
              <a:off x="1299972" y="282892"/>
              <a:ext cx="7117317"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SQL ve CRUD: verinin yaşam döngüsü</a:t>
              </a:r>
            </a:p>
          </p:txBody>
        </p:sp>
      </p:grpSp>
      <p:grpSp>
        <p:nvGrpSpPr>
          <p:cNvPr id="13" name="intro-text"/>
          <p:cNvGrpSpPr/>
          <p:nvPr/>
        </p:nvGrpSpPr>
        <p:grpSpPr>
          <a:xfrm>
            <a:off x="601599" y="1277779"/>
            <a:ext cx="8734679" cy="765238"/>
            <a:chOff x="601599" y="1277779"/>
            <a:chExt cx="8734679" cy="765238"/>
          </a:xfrm>
        </p:grpSpPr>
        <p:sp>
          <p:nvSpPr>
            <p:cNvPr id="12" name="TextBox 12"/>
            <p:cNvSpPr txBox="1"/>
            <p:nvPr/>
          </p:nvSpPr>
          <p:spPr>
            <a:xfrm>
              <a:off x="601599" y="1277779"/>
              <a:ext cx="8734679" cy="765238"/>
            </a:xfrm>
            <a:prstGeom prst="rect">
              <a:avLst/>
            </a:prstGeom>
            <a:noFill/>
            <a:ln>
              <a:noFill/>
            </a:ln>
          </p:spPr>
          <p:txBody>
            <a:bodyPr wrap="none" lIns="0" tIns="0" rIns="0" bIns="0" anchor="t" anchorCtr="0">
              <a:spAutoFit/>
            </a:bodyPr>
            <a:lstStyle/>
            <a:p>
              <a:pPr algn="l">
                <a:lnSpc>
                  <a:spcPts val="1800"/>
                </a:lnSpc>
              </a:pPr>
              <a:r>
                <a:rPr lang="tr-TR" sz="1580" dirty="0">
                  <a:solidFill>
                    <a:srgbClr val="172B3A"/>
                  </a:solidFill>
                  <a:latin typeface="+mn-lt"/>
                  <a:ea typeface="+mn-ea"/>
                  <a:cs typeface="+mn-cs"/>
                </a:rPr>
                <a:t>1974'te Chamberlin ve Boyce tarafından SEQUEL adıyla tasarlanan SQL, bugün de ilişkisel</a:t>
              </a:r>
              <a:br/>
              <a:r>
                <a:rPr lang="tr-TR" sz="1580" dirty="0">
                  <a:solidFill>
                    <a:srgbClr val="172B3A"/>
                  </a:solidFill>
                  <a:latin typeface="+mn-lt"/>
                  <a:ea typeface="+mn-ea"/>
                  <a:cs typeface="+mn-cs"/>
                </a:rPr>
                <a:t>verinin tanımlanması ve sorgulanması için ortak dildir. Her CRUD adımı bir SQL komut</a:t>
              </a:r>
              <a:br/>
              <a:r>
                <a:rPr lang="tr-TR" sz="1580" dirty="0">
                  <a:solidFill>
                    <a:srgbClr val="172B3A"/>
                  </a:solidFill>
                  <a:latin typeface="+mn-lt"/>
                  <a:ea typeface="+mn-ea"/>
                  <a:cs typeface="+mn-cs"/>
                </a:rPr>
                <a:t>ailesine karşılık gelir.</a:t>
              </a:r>
            </a:p>
          </p:txBody>
        </p:sp>
      </p:grpSp>
      <p:grpSp>
        <p:nvGrpSpPr>
          <p:cNvPr id="49" name="crud-flow"/>
          <p:cNvGrpSpPr/>
          <p:nvPr/>
        </p:nvGrpSpPr>
        <p:grpSpPr>
          <a:xfrm>
            <a:off x="609600" y="2019300"/>
            <a:ext cx="10972800" cy="1343406"/>
            <a:chOff x="609600" y="2019300"/>
            <a:chExt cx="10972800" cy="1343406"/>
          </a:xfrm>
        </p:grpSpPr>
        <p:grpSp>
          <p:nvGrpSpPr>
            <p:cNvPr id="21" name="crud-create"/>
            <p:cNvGrpSpPr/>
            <p:nvPr/>
          </p:nvGrpSpPr>
          <p:grpSpPr>
            <a:xfrm>
              <a:off x="609600" y="2019300"/>
              <a:ext cx="2438400" cy="1343406"/>
              <a:chOff x="609600" y="2019300"/>
              <a:chExt cx="2438400" cy="1343406"/>
            </a:xfrm>
          </p:grpSpPr>
          <p:sp>
            <p:nvSpPr>
              <p:cNvPr id="14" name="Rectangle 14"/>
              <p:cNvSpPr/>
              <p:nvPr/>
            </p:nvSpPr>
            <p:spPr>
              <a:xfrm>
                <a:off x="609600" y="2019300"/>
                <a:ext cx="2438400" cy="1333500"/>
              </a:xfrm>
              <a:prstGeom prst="roundRect">
                <a:avLst>
                  <a:gd name="adj" fmla="val 7143"/>
                </a:avLst>
              </a:prstGeom>
              <a:solidFill>
                <a:srgbClr val="FFFFFF"/>
              </a:solidFill>
              <a:ln w="14288">
                <a:solidFill>
                  <a:srgbClr val="2E86AB"/>
                </a:solidFill>
              </a:ln>
            </p:spPr>
          </p:sp>
          <p:sp>
            <p:nvSpPr>
              <p:cNvPr id="15" name="Rectangle 15"/>
              <p:cNvSpPr/>
              <p:nvPr/>
            </p:nvSpPr>
            <p:spPr>
              <a:xfrm>
                <a:off x="609600" y="2019300"/>
                <a:ext cx="2438400" cy="381000"/>
              </a:xfrm>
              <a:prstGeom prst="roundRect">
                <a:avLst>
                  <a:gd name="adj" fmla="val 25000"/>
                </a:avLst>
              </a:prstGeom>
              <a:solidFill>
                <a:srgbClr val="12355B"/>
              </a:solidFill>
              <a:ln>
                <a:noFill/>
              </a:ln>
            </p:spPr>
          </p:sp>
          <p:sp>
            <p:nvSpPr>
              <p:cNvPr id="16" name="TextBox 16"/>
              <p:cNvSpPr txBox="1"/>
              <p:nvPr/>
            </p:nvSpPr>
            <p:spPr>
              <a:xfrm>
                <a:off x="830199" y="2096929"/>
                <a:ext cx="794723" cy="308039"/>
              </a:xfrm>
              <a:prstGeom prst="rect">
                <a:avLst/>
              </a:prstGeom>
              <a:noFill/>
              <a:ln>
                <a:noFill/>
              </a:ln>
            </p:spPr>
            <p:txBody>
              <a:bodyPr wrap="none" lIns="0" tIns="0" rIns="0" bIns="0" anchor="t" anchorCtr="0">
                <a:spAutoFit/>
              </a:bodyPr>
              <a:lstStyle/>
              <a:p>
                <a:pPr algn="l"/>
                <a:r>
                  <a:rPr lang="tr-TR" sz="1580" b="1" dirty="0">
                    <a:solidFill>
                      <a:srgbClr val="FFFFFF"/>
                    </a:solidFill>
                    <a:latin typeface="+mn-lt"/>
                    <a:ea typeface="+mn-ea"/>
                    <a:cs typeface="+mn-cs"/>
                  </a:rPr>
                  <a:t>CREATE</a:t>
                </a:r>
              </a:p>
            </p:txBody>
          </p:sp>
          <p:sp>
            <p:nvSpPr>
              <p:cNvPr id="17" name="TextBox 17"/>
              <p:cNvSpPr txBox="1"/>
              <p:nvPr/>
            </p:nvSpPr>
            <p:spPr>
              <a:xfrm>
                <a:off x="832104" y="2518410"/>
                <a:ext cx="997915"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INSERT INTO</a:t>
                </a:r>
              </a:p>
            </p:txBody>
          </p:sp>
          <p:sp>
            <p:nvSpPr>
              <p:cNvPr id="18" name="TextBox 18"/>
              <p:cNvSpPr txBox="1"/>
              <p:nvPr/>
            </p:nvSpPr>
            <p:spPr>
              <a:xfrm>
                <a:off x="832104" y="2727960"/>
                <a:ext cx="1641115"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Yeni bir satır ekler,</a:t>
                </a:r>
              </a:p>
            </p:txBody>
          </p:sp>
          <p:sp>
            <p:nvSpPr>
              <p:cNvPr id="19" name="TextBox 19"/>
              <p:cNvSpPr txBox="1"/>
              <p:nvPr/>
            </p:nvSpPr>
            <p:spPr>
              <a:xfrm>
                <a:off x="832104" y="2918460"/>
                <a:ext cx="1538783"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veri hayata başlar.</a:t>
                </a:r>
              </a:p>
            </p:txBody>
          </p:sp>
          <p:sp>
            <p:nvSpPr>
              <p:cNvPr id="20" name="TextBox 20"/>
              <p:cNvSpPr txBox="1"/>
              <p:nvPr/>
            </p:nvSpPr>
            <p:spPr>
              <a:xfrm>
                <a:off x="832104" y="3128010"/>
                <a:ext cx="129825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DML komutudur.</a:t>
                </a:r>
              </a:p>
            </p:txBody>
          </p:sp>
        </p:grpSp>
        <p:sp>
          <p:nvSpPr>
            <p:cNvPr id="22" name="Line 22"/>
            <p:cNvSpPr/>
            <p:nvPr/>
          </p:nvSpPr>
          <p:spPr>
            <a:xfrm>
              <a:off x="3048000" y="2686050"/>
              <a:ext cx="381000" cy="1"/>
            </a:xfrm>
            <a:prstGeom prst="line">
              <a:avLst/>
            </a:prstGeom>
            <a:noFill/>
            <a:ln w="23812">
              <a:solidFill>
                <a:srgbClr val="00A6A6"/>
              </a:solidFill>
              <a:tailEnd type="arrow" w="lg" len="lg"/>
            </a:ln>
          </p:spPr>
        </p:sp>
        <p:grpSp>
          <p:nvGrpSpPr>
            <p:cNvPr id="30" name="crud-read"/>
            <p:cNvGrpSpPr/>
            <p:nvPr/>
          </p:nvGrpSpPr>
          <p:grpSpPr>
            <a:xfrm>
              <a:off x="3505200" y="2019300"/>
              <a:ext cx="2438400" cy="1343406"/>
              <a:chOff x="3505200" y="2019300"/>
              <a:chExt cx="2438400" cy="1343406"/>
            </a:xfrm>
          </p:grpSpPr>
          <p:sp>
            <p:nvSpPr>
              <p:cNvPr id="23" name="Rectangle 23"/>
              <p:cNvSpPr/>
              <p:nvPr/>
            </p:nvSpPr>
            <p:spPr>
              <a:xfrm>
                <a:off x="3505200" y="2019300"/>
                <a:ext cx="2438400" cy="1333500"/>
              </a:xfrm>
              <a:prstGeom prst="roundRect">
                <a:avLst>
                  <a:gd name="adj" fmla="val 7143"/>
                </a:avLst>
              </a:prstGeom>
              <a:solidFill>
                <a:srgbClr val="FFFFFF"/>
              </a:solidFill>
              <a:ln w="14288">
                <a:solidFill>
                  <a:srgbClr val="2E86AB"/>
                </a:solidFill>
              </a:ln>
            </p:spPr>
          </p:sp>
          <p:sp>
            <p:nvSpPr>
              <p:cNvPr id="24" name="Rectangle 24"/>
              <p:cNvSpPr/>
              <p:nvPr/>
            </p:nvSpPr>
            <p:spPr>
              <a:xfrm>
                <a:off x="3505200" y="2019300"/>
                <a:ext cx="2438400" cy="381000"/>
              </a:xfrm>
              <a:prstGeom prst="roundRect">
                <a:avLst>
                  <a:gd name="adj" fmla="val 25000"/>
                </a:avLst>
              </a:prstGeom>
              <a:solidFill>
                <a:srgbClr val="12355B"/>
              </a:solidFill>
              <a:ln>
                <a:noFill/>
              </a:ln>
            </p:spPr>
          </p:sp>
          <p:sp>
            <p:nvSpPr>
              <p:cNvPr id="25" name="TextBox 25"/>
              <p:cNvSpPr txBox="1"/>
              <p:nvPr/>
            </p:nvSpPr>
            <p:spPr>
              <a:xfrm>
                <a:off x="3725799" y="2096929"/>
                <a:ext cx="535150" cy="308039"/>
              </a:xfrm>
              <a:prstGeom prst="rect">
                <a:avLst/>
              </a:prstGeom>
              <a:noFill/>
              <a:ln>
                <a:noFill/>
              </a:ln>
            </p:spPr>
            <p:txBody>
              <a:bodyPr wrap="none" lIns="0" tIns="0" rIns="0" bIns="0" anchor="t" anchorCtr="0">
                <a:spAutoFit/>
              </a:bodyPr>
              <a:lstStyle/>
              <a:p>
                <a:pPr algn="l"/>
                <a:r>
                  <a:rPr lang="tr-TR" sz="1580" b="1" dirty="0">
                    <a:solidFill>
                      <a:srgbClr val="FFFFFF"/>
                    </a:solidFill>
                    <a:latin typeface="+mn-lt"/>
                    <a:ea typeface="+mn-ea"/>
                    <a:cs typeface="+mn-cs"/>
                  </a:rPr>
                  <a:t>READ</a:t>
                </a:r>
              </a:p>
            </p:txBody>
          </p:sp>
          <p:sp>
            <p:nvSpPr>
              <p:cNvPr id="26" name="TextBox 26"/>
              <p:cNvSpPr txBox="1"/>
              <p:nvPr/>
            </p:nvSpPr>
            <p:spPr>
              <a:xfrm>
                <a:off x="3727704" y="2518410"/>
                <a:ext cx="1472855"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SELECT ... FROM</a:t>
                </a:r>
              </a:p>
            </p:txBody>
          </p:sp>
          <p:sp>
            <p:nvSpPr>
              <p:cNvPr id="27" name="TextBox 27"/>
              <p:cNvSpPr txBox="1"/>
              <p:nvPr/>
            </p:nvSpPr>
            <p:spPr>
              <a:xfrm>
                <a:off x="3727704" y="2727960"/>
                <a:ext cx="128509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Veriyi filtreler,</a:t>
                </a:r>
              </a:p>
            </p:txBody>
          </p:sp>
          <p:sp>
            <p:nvSpPr>
              <p:cNvPr id="28" name="TextBox 28"/>
              <p:cNvSpPr txBox="1"/>
              <p:nvPr/>
            </p:nvSpPr>
            <p:spPr>
              <a:xfrm>
                <a:off x="3727704" y="2918460"/>
                <a:ext cx="1894180"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sıralar, projekte eder.</a:t>
                </a:r>
              </a:p>
            </p:txBody>
          </p:sp>
          <p:sp>
            <p:nvSpPr>
              <p:cNvPr id="29" name="TextBox 29"/>
              <p:cNvSpPr txBox="1"/>
              <p:nvPr/>
            </p:nvSpPr>
            <p:spPr>
              <a:xfrm>
                <a:off x="3727704" y="3128010"/>
                <a:ext cx="129825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DQL komutudur.</a:t>
                </a:r>
              </a:p>
            </p:txBody>
          </p:sp>
        </p:grpSp>
        <p:sp>
          <p:nvSpPr>
            <p:cNvPr id="31" name="Line 31"/>
            <p:cNvSpPr/>
            <p:nvPr/>
          </p:nvSpPr>
          <p:spPr>
            <a:xfrm>
              <a:off x="5943600" y="2686050"/>
              <a:ext cx="381000" cy="1"/>
            </a:xfrm>
            <a:prstGeom prst="line">
              <a:avLst/>
            </a:prstGeom>
            <a:noFill/>
            <a:ln w="23812">
              <a:solidFill>
                <a:srgbClr val="00A6A6"/>
              </a:solidFill>
              <a:tailEnd type="arrow" w="lg" len="lg"/>
            </a:ln>
          </p:spPr>
        </p:sp>
        <p:grpSp>
          <p:nvGrpSpPr>
            <p:cNvPr id="39" name="crud-update"/>
            <p:cNvGrpSpPr/>
            <p:nvPr/>
          </p:nvGrpSpPr>
          <p:grpSpPr>
            <a:xfrm>
              <a:off x="6400800" y="2019300"/>
              <a:ext cx="2948635" cy="1343406"/>
              <a:chOff x="6400800" y="2019300"/>
              <a:chExt cx="2948635" cy="1343406"/>
            </a:xfrm>
          </p:grpSpPr>
          <p:sp>
            <p:nvSpPr>
              <p:cNvPr id="32" name="Rectangle 32"/>
              <p:cNvSpPr/>
              <p:nvPr/>
            </p:nvSpPr>
            <p:spPr>
              <a:xfrm>
                <a:off x="6400800" y="2019300"/>
                <a:ext cx="2438400" cy="1333500"/>
              </a:xfrm>
              <a:prstGeom prst="roundRect">
                <a:avLst>
                  <a:gd name="adj" fmla="val 7143"/>
                </a:avLst>
              </a:prstGeom>
              <a:solidFill>
                <a:srgbClr val="FFFFFF"/>
              </a:solidFill>
              <a:ln w="14288">
                <a:solidFill>
                  <a:srgbClr val="2E86AB"/>
                </a:solidFill>
              </a:ln>
            </p:spPr>
          </p:sp>
          <p:sp>
            <p:nvSpPr>
              <p:cNvPr id="33" name="Rectangle 33"/>
              <p:cNvSpPr/>
              <p:nvPr/>
            </p:nvSpPr>
            <p:spPr>
              <a:xfrm>
                <a:off x="6400800" y="2019300"/>
                <a:ext cx="2438400" cy="381000"/>
              </a:xfrm>
              <a:prstGeom prst="roundRect">
                <a:avLst>
                  <a:gd name="adj" fmla="val 25000"/>
                </a:avLst>
              </a:prstGeom>
              <a:solidFill>
                <a:srgbClr val="12355B"/>
              </a:solidFill>
              <a:ln>
                <a:noFill/>
              </a:ln>
            </p:spPr>
          </p:sp>
          <p:sp>
            <p:nvSpPr>
              <p:cNvPr id="34" name="TextBox 34"/>
              <p:cNvSpPr txBox="1"/>
              <p:nvPr/>
            </p:nvSpPr>
            <p:spPr>
              <a:xfrm>
                <a:off x="6621399" y="2096929"/>
                <a:ext cx="794723" cy="308039"/>
              </a:xfrm>
              <a:prstGeom prst="rect">
                <a:avLst/>
              </a:prstGeom>
              <a:noFill/>
              <a:ln>
                <a:noFill/>
              </a:ln>
            </p:spPr>
            <p:txBody>
              <a:bodyPr wrap="none" lIns="0" tIns="0" rIns="0" bIns="0" anchor="t" anchorCtr="0">
                <a:spAutoFit/>
              </a:bodyPr>
              <a:lstStyle/>
              <a:p>
                <a:pPr algn="l"/>
                <a:r>
                  <a:rPr lang="tr-TR" sz="1580" b="1" dirty="0">
                    <a:solidFill>
                      <a:srgbClr val="FFFFFF"/>
                    </a:solidFill>
                    <a:latin typeface="+mn-lt"/>
                    <a:ea typeface="+mn-ea"/>
                    <a:cs typeface="+mn-cs"/>
                  </a:rPr>
                  <a:t>UPDATE</a:t>
                </a:r>
              </a:p>
            </p:txBody>
          </p:sp>
          <p:sp>
            <p:nvSpPr>
              <p:cNvPr id="35" name="TextBox 35"/>
              <p:cNvSpPr txBox="1"/>
              <p:nvPr/>
            </p:nvSpPr>
            <p:spPr>
              <a:xfrm>
                <a:off x="6623304" y="2518410"/>
                <a:ext cx="1302593"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UPDATE ... SET</a:t>
                </a:r>
              </a:p>
            </p:txBody>
          </p:sp>
          <p:sp>
            <p:nvSpPr>
              <p:cNvPr id="36" name="TextBox 36"/>
              <p:cNvSpPr txBox="1"/>
              <p:nvPr/>
            </p:nvSpPr>
            <p:spPr>
              <a:xfrm>
                <a:off x="6623304" y="2727960"/>
                <a:ext cx="1229047"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Var olan satırı</a:t>
                </a:r>
              </a:p>
            </p:txBody>
          </p:sp>
          <p:sp>
            <p:nvSpPr>
              <p:cNvPr id="37" name="TextBox 37"/>
              <p:cNvSpPr txBox="1"/>
              <p:nvPr/>
            </p:nvSpPr>
            <p:spPr>
              <a:xfrm>
                <a:off x="6623304" y="2918460"/>
                <a:ext cx="173507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değiştirir. WHERE'siz</a:t>
                </a:r>
              </a:p>
            </p:txBody>
          </p:sp>
          <p:sp>
            <p:nvSpPr>
              <p:cNvPr id="38" name="TextBox 38"/>
              <p:cNvSpPr txBox="1"/>
              <p:nvPr/>
            </p:nvSpPr>
            <p:spPr>
              <a:xfrm>
                <a:off x="6623304" y="3128010"/>
                <a:ext cx="2726131"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çalıştırma tüm satırları etkiler.</a:t>
                </a:r>
              </a:p>
            </p:txBody>
          </p:sp>
        </p:grpSp>
        <p:sp>
          <p:nvSpPr>
            <p:cNvPr id="40" name="Line 40"/>
            <p:cNvSpPr/>
            <p:nvPr/>
          </p:nvSpPr>
          <p:spPr>
            <a:xfrm>
              <a:off x="8839200" y="2686050"/>
              <a:ext cx="381000" cy="1"/>
            </a:xfrm>
            <a:prstGeom prst="line">
              <a:avLst/>
            </a:prstGeom>
            <a:noFill/>
            <a:ln w="23812">
              <a:solidFill>
                <a:srgbClr val="00A6A6"/>
              </a:solidFill>
              <a:tailEnd type="arrow" w="lg" len="lg"/>
            </a:ln>
          </p:spPr>
        </p:sp>
        <p:grpSp>
          <p:nvGrpSpPr>
            <p:cNvPr id="48" name="crud-delete"/>
            <p:cNvGrpSpPr/>
            <p:nvPr/>
          </p:nvGrpSpPr>
          <p:grpSpPr>
            <a:xfrm>
              <a:off x="9296400" y="2019300"/>
              <a:ext cx="2286000" cy="1343406"/>
              <a:chOff x="9296400" y="2019300"/>
              <a:chExt cx="2286000" cy="1343406"/>
            </a:xfrm>
          </p:grpSpPr>
          <p:sp>
            <p:nvSpPr>
              <p:cNvPr id="41" name="Rectangle 41"/>
              <p:cNvSpPr/>
              <p:nvPr/>
            </p:nvSpPr>
            <p:spPr>
              <a:xfrm>
                <a:off x="9296400" y="2019300"/>
                <a:ext cx="2286000" cy="1333500"/>
              </a:xfrm>
              <a:prstGeom prst="roundRect">
                <a:avLst>
                  <a:gd name="adj" fmla="val 7143"/>
                </a:avLst>
              </a:prstGeom>
              <a:solidFill>
                <a:srgbClr val="FFFFFF"/>
              </a:solidFill>
              <a:ln w="14288">
                <a:solidFill>
                  <a:srgbClr val="2E86AB"/>
                </a:solidFill>
              </a:ln>
            </p:spPr>
          </p:sp>
          <p:sp>
            <p:nvSpPr>
              <p:cNvPr id="42" name="Rectangle 42"/>
              <p:cNvSpPr/>
              <p:nvPr/>
            </p:nvSpPr>
            <p:spPr>
              <a:xfrm>
                <a:off x="9296400" y="2019300"/>
                <a:ext cx="2286000" cy="381000"/>
              </a:xfrm>
              <a:prstGeom prst="roundRect">
                <a:avLst>
                  <a:gd name="adj" fmla="val 25000"/>
                </a:avLst>
              </a:prstGeom>
              <a:solidFill>
                <a:srgbClr val="12355B"/>
              </a:solidFill>
              <a:ln>
                <a:noFill/>
              </a:ln>
            </p:spPr>
          </p:sp>
          <p:sp>
            <p:nvSpPr>
              <p:cNvPr id="43" name="TextBox 43"/>
              <p:cNvSpPr txBox="1"/>
              <p:nvPr/>
            </p:nvSpPr>
            <p:spPr>
              <a:xfrm>
                <a:off x="9516999" y="2096929"/>
                <a:ext cx="794723" cy="308039"/>
              </a:xfrm>
              <a:prstGeom prst="rect">
                <a:avLst/>
              </a:prstGeom>
              <a:noFill/>
              <a:ln>
                <a:noFill/>
              </a:ln>
            </p:spPr>
            <p:txBody>
              <a:bodyPr wrap="none" lIns="0" tIns="0" rIns="0" bIns="0" anchor="t" anchorCtr="0">
                <a:spAutoFit/>
              </a:bodyPr>
              <a:lstStyle/>
              <a:p>
                <a:pPr algn="l"/>
                <a:r>
                  <a:rPr lang="tr-TR" sz="1580" b="1" dirty="0">
                    <a:solidFill>
                      <a:srgbClr val="FFFFFF"/>
                    </a:solidFill>
                    <a:latin typeface="+mn-lt"/>
                    <a:ea typeface="+mn-ea"/>
                    <a:cs typeface="+mn-cs"/>
                  </a:rPr>
                  <a:t>DELETE</a:t>
                </a:r>
              </a:p>
            </p:txBody>
          </p:sp>
          <p:sp>
            <p:nvSpPr>
              <p:cNvPr id="44" name="TextBox 44"/>
              <p:cNvSpPr txBox="1"/>
              <p:nvPr/>
            </p:nvSpPr>
            <p:spPr>
              <a:xfrm>
                <a:off x="9518904" y="2518410"/>
                <a:ext cx="1123371"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DELETE FROM</a:t>
                </a:r>
              </a:p>
            </p:txBody>
          </p:sp>
          <p:sp>
            <p:nvSpPr>
              <p:cNvPr id="45" name="TextBox 45"/>
              <p:cNvSpPr txBox="1"/>
              <p:nvPr/>
            </p:nvSpPr>
            <p:spPr>
              <a:xfrm>
                <a:off x="9518904" y="2727960"/>
                <a:ext cx="1632712"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Satırı kalıcı olarak</a:t>
                </a:r>
              </a:p>
            </p:txBody>
          </p:sp>
          <p:sp>
            <p:nvSpPr>
              <p:cNvPr id="46" name="TextBox 46"/>
              <p:cNvSpPr txBox="1"/>
              <p:nvPr/>
            </p:nvSpPr>
            <p:spPr>
              <a:xfrm>
                <a:off x="9518904" y="2918460"/>
                <a:ext cx="1886102"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kaldırır; geri alınamaz</a:t>
                </a:r>
              </a:p>
            </p:txBody>
          </p:sp>
          <p:sp>
            <p:nvSpPr>
              <p:cNvPr id="47" name="TextBox 47"/>
              <p:cNvSpPr txBox="1"/>
              <p:nvPr/>
            </p:nvSpPr>
            <p:spPr>
              <a:xfrm>
                <a:off x="9518904" y="3128010"/>
                <a:ext cx="1886102"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(transaction dışında).</a:t>
                </a:r>
              </a:p>
            </p:txBody>
          </p:sp>
        </p:grpSp>
      </p:grpSp>
      <p:grpSp>
        <p:nvGrpSpPr>
          <p:cNvPr id="53" name="why-block"/>
          <p:cNvGrpSpPr/>
          <p:nvPr/>
        </p:nvGrpSpPr>
        <p:grpSpPr>
          <a:xfrm>
            <a:off x="600456" y="4225290"/>
            <a:ext cx="9733667" cy="846678"/>
            <a:chOff x="600456" y="4225290"/>
            <a:chExt cx="9733667" cy="846678"/>
          </a:xfrm>
        </p:grpSpPr>
        <p:sp>
          <p:nvSpPr>
            <p:cNvPr id="50" name="TextBox 50"/>
            <p:cNvSpPr txBox="1"/>
            <p:nvPr/>
          </p:nvSpPr>
          <p:spPr>
            <a:xfrm>
              <a:off x="600456" y="4225290"/>
              <a:ext cx="1782901"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Neden vardır?</a:t>
              </a:r>
            </a:p>
          </p:txBody>
        </p:sp>
        <p:sp>
          <p:nvSpPr>
            <p:cNvPr id="51" name="TextBox 51"/>
            <p:cNvSpPr txBox="1"/>
            <p:nvPr/>
          </p:nvSpPr>
          <p:spPr>
            <a:xfrm>
              <a:off x="601599" y="4535329"/>
              <a:ext cx="9732524"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Uygulama kodu her veritabanı motoru için ayrı erişim biçimi yazsaydı taşınabilirlik kalmazdı;</a:t>
              </a:r>
            </a:p>
          </p:txBody>
        </p:sp>
        <p:sp>
          <p:nvSpPr>
            <p:cNvPr id="52" name="TextBox 52"/>
            <p:cNvSpPr txBox="1"/>
            <p:nvPr/>
          </p:nvSpPr>
          <p:spPr>
            <a:xfrm>
              <a:off x="601599" y="4763929"/>
              <a:ext cx="5417167"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SQL bu erişimi standart bir bildirimsel dile indirger.</a:t>
              </a:r>
            </a:p>
          </p:txBody>
        </p:sp>
      </p:grpSp>
      <p:grpSp>
        <p:nvGrpSpPr>
          <p:cNvPr id="58" name="attention-note"/>
          <p:cNvGrpSpPr/>
          <p:nvPr/>
        </p:nvGrpSpPr>
        <p:grpSpPr>
          <a:xfrm>
            <a:off x="609600" y="5334000"/>
            <a:ext cx="10972800" cy="848106"/>
            <a:chOff x="609600" y="5334000"/>
            <a:chExt cx="10972800" cy="848106"/>
          </a:xfrm>
        </p:grpSpPr>
        <p:sp>
          <p:nvSpPr>
            <p:cNvPr id="54" name="Rectangle 54"/>
            <p:cNvSpPr/>
            <p:nvPr/>
          </p:nvSpPr>
          <p:spPr>
            <a:xfrm>
              <a:off x="609600" y="5334000"/>
              <a:ext cx="10972800" cy="762000"/>
            </a:xfrm>
            <a:prstGeom prst="roundRect">
              <a:avLst>
                <a:gd name="adj" fmla="val 10000"/>
              </a:avLst>
            </a:prstGeom>
            <a:solidFill>
              <a:srgbClr val="EAF4F6"/>
            </a:solidFill>
            <a:ln>
              <a:noFill/>
            </a:ln>
          </p:spPr>
        </p:sp>
        <p:sp>
          <p:nvSpPr>
            <p:cNvPr id="55" name="Rectangle 55"/>
            <p:cNvSpPr/>
            <p:nvPr/>
          </p:nvSpPr>
          <p:spPr>
            <a:xfrm>
              <a:off x="609600" y="5334000"/>
              <a:ext cx="57150" cy="762000"/>
            </a:xfrm>
            <a:prstGeom prst="rect">
              <a:avLst/>
            </a:prstGeom>
            <a:solidFill>
              <a:srgbClr val="00A6A6"/>
            </a:solidFill>
            <a:ln>
              <a:noFill/>
            </a:ln>
          </p:spPr>
        </p:sp>
        <p:sp>
          <p:nvSpPr>
            <p:cNvPr id="56" name="TextBox 56"/>
            <p:cNvSpPr txBox="1"/>
            <p:nvPr/>
          </p:nvSpPr>
          <p:spPr>
            <a:xfrm>
              <a:off x="906399" y="5449729"/>
              <a:ext cx="1610653"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 Yaygın hata</a:t>
              </a:r>
            </a:p>
          </p:txBody>
        </p:sp>
        <p:sp>
          <p:nvSpPr>
            <p:cNvPr id="57" name="TextBox 57"/>
            <p:cNvSpPr txBox="1"/>
            <p:nvPr/>
          </p:nvSpPr>
          <p:spPr>
            <a:xfrm>
              <a:off x="908304" y="5756910"/>
              <a:ext cx="592531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WHERE koşulu unutulan bir UPDATE veya DELETE, tablodaki tüm satırları etkiler;</a:t>
              </a:r>
              <a:br/>
              <a:r>
                <a:rPr lang="tr-TR" sz="1200" dirty="0">
                  <a:solidFill>
                    <a:srgbClr val="172B3A"/>
                  </a:solidFill>
                  <a:latin typeface="+mn-lt"/>
                  <a:ea typeface="+mn-ea"/>
                  <a:cs typeface="+mn-cs"/>
                </a:rPr>
                <a:t>parametreli sorgu ve önce SELECT ile deneme zorunludur.</a:t>
              </a:r>
            </a:p>
          </p:txBody>
        </p:sp>
      </p:grpSp>
      <p:sp>
        <p:nvSpPr>
          <p:cNvPr id="59" name="TextBox 59"/>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08 / 26</a:t>
            </a: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7709637" cy="668845"/>
            <a:chOff x="609600" y="171450"/>
            <a:chExt cx="7709637"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77240" y="324326"/>
                <a:ext cx="236220" cy="265748"/>
                <a:chOff x="777240" y="324326"/>
                <a:chExt cx="236220" cy="265748"/>
              </a:xfrm>
            </p:grpSpPr>
            <p:sp>
              <p:nvSpPr>
                <p:cNvPr id="5" name="Freeform 5"/>
                <p:cNvSpPr/>
                <p:nvPr/>
              </p:nvSpPr>
              <p:spPr>
                <a:xfrm>
                  <a:off x="777240" y="324326"/>
                  <a:ext cx="236220" cy="88583"/>
                </a:xfrm>
                <a:custGeom>
                  <a:avLst/>
                  <a:gdLst/>
                  <a:ahLst/>
                  <a:cxnLst/>
                  <a:rect l="l" t="t" r="r" b="b"/>
                  <a:pathLst>
                    <a:path w="236220" h="88583">
                      <a:moveTo>
                        <a:pt x="0" y="44291"/>
                      </a:moveTo>
                      <a:cubicBezTo>
                        <a:pt x="0" y="68753"/>
                        <a:pt x="52880" y="88583"/>
                        <a:pt x="118110" y="88583"/>
                      </a:cubicBezTo>
                      <a:cubicBezTo>
                        <a:pt x="183340" y="88583"/>
                        <a:pt x="236220" y="68753"/>
                        <a:pt x="236220" y="44291"/>
                      </a:cubicBezTo>
                      <a:cubicBezTo>
                        <a:pt x="236220" y="19830"/>
                        <a:pt x="183340" y="0"/>
                        <a:pt x="118110" y="0"/>
                      </a:cubicBezTo>
                      <a:cubicBezTo>
                        <a:pt x="52880" y="0"/>
                        <a:pt x="0" y="19830"/>
                        <a:pt x="0" y="44291"/>
                      </a:cubicBezTo>
                    </a:path>
                  </a:pathLst>
                </a:custGeom>
                <a:noFill/>
                <a:ln w="24759" cap="rnd">
                  <a:solidFill>
                    <a:srgbClr val="FFFFFF"/>
                  </a:solidFill>
                  <a:round/>
                </a:ln>
              </p:spPr>
            </p:sp>
            <p:sp>
              <p:nvSpPr>
                <p:cNvPr id="6" name="Freeform 6"/>
                <p:cNvSpPr/>
                <p:nvPr/>
              </p:nvSpPr>
              <p:spPr>
                <a:xfrm>
                  <a:off x="777240" y="368618"/>
                  <a:ext cx="236220" cy="132874"/>
                </a:xfrm>
                <a:custGeom>
                  <a:avLst/>
                  <a:gdLst/>
                  <a:ahLst/>
                  <a:cxnLst/>
                  <a:rect l="l" t="t" r="r" b="b"/>
                  <a:pathLst>
                    <a:path w="236220" h="132874">
                      <a:moveTo>
                        <a:pt x="0" y="0"/>
                      </a:moveTo>
                      <a:lnTo>
                        <a:pt x="0" y="88582"/>
                      </a:lnTo>
                      <a:cubicBezTo>
                        <a:pt x="0" y="113044"/>
                        <a:pt x="52880" y="132874"/>
                        <a:pt x="118110" y="132874"/>
                      </a:cubicBezTo>
                      <a:cubicBezTo>
                        <a:pt x="183340" y="132874"/>
                        <a:pt x="236220" y="113044"/>
                        <a:pt x="236220" y="88582"/>
                      </a:cubicBezTo>
                      <a:lnTo>
                        <a:pt x="236220" y="0"/>
                      </a:lnTo>
                    </a:path>
                  </a:pathLst>
                </a:custGeom>
                <a:noFill/>
                <a:ln w="24759" cap="rnd">
                  <a:solidFill>
                    <a:srgbClr val="FFFFFF"/>
                  </a:solidFill>
                  <a:round/>
                </a:ln>
              </p:spPr>
            </p:sp>
            <p:sp>
              <p:nvSpPr>
                <p:cNvPr id="7" name="Freeform 7"/>
                <p:cNvSpPr/>
                <p:nvPr/>
              </p:nvSpPr>
              <p:spPr>
                <a:xfrm>
                  <a:off x="777240" y="457200"/>
                  <a:ext cx="236220" cy="132874"/>
                </a:xfrm>
                <a:custGeom>
                  <a:avLst/>
                  <a:gdLst/>
                  <a:ahLst/>
                  <a:cxnLst/>
                  <a:rect l="l" t="t" r="r" b="b"/>
                  <a:pathLst>
                    <a:path w="236220" h="132874">
                      <a:moveTo>
                        <a:pt x="0" y="0"/>
                      </a:moveTo>
                      <a:lnTo>
                        <a:pt x="0" y="88582"/>
                      </a:lnTo>
                      <a:cubicBezTo>
                        <a:pt x="0" y="113044"/>
                        <a:pt x="52880" y="132874"/>
                        <a:pt x="118110" y="132874"/>
                      </a:cubicBezTo>
                      <a:cubicBezTo>
                        <a:pt x="183340" y="132874"/>
                        <a:pt x="236220" y="113044"/>
                        <a:pt x="236220" y="88582"/>
                      </a:cubicBezTo>
                      <a:lnTo>
                        <a:pt x="236220" y="0"/>
                      </a:lnTo>
                    </a:path>
                  </a:pathLst>
                </a:custGeom>
                <a:noFill/>
                <a:ln w="24759" cap="rnd">
                  <a:solidFill>
                    <a:srgbClr val="FFFFFF"/>
                  </a:solidFill>
                  <a:round/>
                </a:ln>
              </p:spPr>
            </p:sp>
          </p:grpSp>
        </p:grpSp>
        <p:sp>
          <p:nvSpPr>
            <p:cNvPr id="10" name="TextBox 10"/>
            <p:cNvSpPr txBox="1"/>
            <p:nvPr/>
          </p:nvSpPr>
          <p:spPr>
            <a:xfrm>
              <a:off x="1299972" y="282892"/>
              <a:ext cx="7019265"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Parametreli sorgularla güvenli CRUD</a:t>
              </a:r>
            </a:p>
          </p:txBody>
        </p:sp>
      </p:grpSp>
      <p:grpSp>
        <p:nvGrpSpPr>
          <p:cNvPr id="13" name="code-caption"/>
          <p:cNvGrpSpPr/>
          <p:nvPr/>
        </p:nvGrpSpPr>
        <p:grpSpPr>
          <a:xfrm>
            <a:off x="601599" y="1163479"/>
            <a:ext cx="4157775" cy="308039"/>
            <a:chOff x="601599" y="1163479"/>
            <a:chExt cx="4157775" cy="308039"/>
          </a:xfrm>
        </p:grpSpPr>
        <p:sp>
          <p:nvSpPr>
            <p:cNvPr id="12" name="TextBox 12"/>
            <p:cNvSpPr txBox="1"/>
            <p:nvPr/>
          </p:nvSpPr>
          <p:spPr>
            <a:xfrm>
              <a:off x="601599" y="1163479"/>
              <a:ext cx="4157775"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Kod 7.4: Parametreli TypeScript CRUD</a:t>
              </a:r>
            </a:p>
          </p:txBody>
        </p:sp>
      </p:grpSp>
      <p:grpSp>
        <p:nvGrpSpPr>
          <p:cNvPr id="16" name="code-left"/>
          <p:cNvGrpSpPr/>
          <p:nvPr/>
        </p:nvGrpSpPr>
        <p:grpSpPr>
          <a:xfrm>
            <a:off x="609600" y="1447800"/>
            <a:ext cx="5334000" cy="3810000"/>
            <a:chOff x="609600" y="1447800"/>
            <a:chExt cx="5334000" cy="3810000"/>
          </a:xfrm>
        </p:grpSpPr>
        <p:sp>
          <p:nvSpPr>
            <p:cNvPr id="14" name="Rectangle 14"/>
            <p:cNvSpPr/>
            <p:nvPr/>
          </p:nvSpPr>
          <p:spPr>
            <a:xfrm>
              <a:off x="609600" y="1447800"/>
              <a:ext cx="5334000" cy="3810000"/>
            </a:xfrm>
            <a:prstGeom prst="roundRect">
              <a:avLst>
                <a:gd name="adj" fmla="val 2000"/>
              </a:avLst>
            </a:prstGeom>
            <a:solidFill>
              <a:srgbClr val="0B2038"/>
            </a:solidFill>
            <a:ln>
              <a:noFill/>
            </a:ln>
          </p:spPr>
        </p:sp>
        <p:sp>
          <p:nvSpPr>
            <p:cNvPr id="15" name="TextBox 15"/>
            <p:cNvSpPr txBox="1"/>
            <p:nvPr/>
          </p:nvSpPr>
          <p:spPr>
            <a:xfrm>
              <a:off x="795147" y="1628299"/>
              <a:ext cx="2953385" cy="3124390"/>
            </a:xfrm>
            <a:prstGeom prst="rect">
              <a:avLst/>
            </a:prstGeom>
            <a:noFill/>
            <a:ln>
              <a:noFill/>
            </a:ln>
          </p:spPr>
          <p:txBody>
            <a:bodyPr wrap="none" lIns="0" tIns="0" rIns="0" bIns="0" anchor="t" anchorCtr="0">
              <a:spAutoFit/>
            </a:bodyPr>
            <a:lstStyle/>
            <a:p>
              <a:pPr algn="l">
                <a:lnSpc>
                  <a:spcPts val="1350"/>
                </a:lnSpc>
              </a:pPr>
              <a:r>
                <a:rPr lang="tr-TR" sz="980" dirty="0">
                  <a:solidFill>
                    <a:srgbClr val="EAF4F6"/>
                  </a:solidFill>
                  <a:latin typeface="Consolas"/>
                  <a:ea typeface="Consolas"/>
                  <a:cs typeface="Consolas"/>
                </a:rPr>
                <a:t>async function kitapEkle(</a:t>
              </a:r>
              <a:br/>
              <a:r>
                <a:rPr lang="tr-TR" sz="980" dirty="0">
                  <a:solidFill>
                    <a:srgbClr val="EAF4F6"/>
                  </a:solidFill>
                  <a:latin typeface="Consolas"/>
                  <a:ea typeface="Consolas"/>
                  <a:cs typeface="Consolas"/>
                </a:rPr>
                <a:t>havuz: Pool, baslik: string, yazar: string</a:t>
              </a:r>
              <a:br/>
              <a:r>
                <a:rPr lang="tr-TR" sz="980" dirty="0">
                  <a:solidFill>
                    <a:srgbClr val="EAF4F6"/>
                  </a:solidFill>
                  <a:latin typeface="Consolas"/>
                  <a:ea typeface="Consolas"/>
                  <a:cs typeface="Consolas"/>
                </a:rPr>
                <a:t>) {</a:t>
              </a:r>
              <a:br/>
              <a:r>
                <a:rPr lang="tr-TR" sz="980" dirty="0">
                  <a:solidFill>
                    <a:srgbClr val="EAF4F6"/>
                  </a:solidFill>
                  <a:latin typeface="Consolas"/>
                  <a:ea typeface="Consolas"/>
                  <a:cs typeface="Consolas"/>
                </a:rPr>
                <a:t>return havuz.query(</a:t>
              </a:r>
              <a:br/>
              <a:r>
                <a:rPr lang="tr-TR" sz="980" dirty="0">
                  <a:solidFill>
                    <a:srgbClr val="EAF4F6"/>
                  </a:solidFill>
                  <a:latin typeface="Consolas"/>
                  <a:ea typeface="Consolas"/>
                  <a:cs typeface="Consolas"/>
                </a:rPr>
                <a:t>"INSERT INTO kitap (baslik, yazar) " +</a:t>
              </a:r>
              <a:br/>
              <a:r>
                <a:rPr lang="tr-TR" sz="980" dirty="0">
                  <a:solidFill>
                    <a:srgbClr val="EAF4F6"/>
                  </a:solidFill>
                  <a:latin typeface="Consolas"/>
                  <a:ea typeface="Consolas"/>
                  <a:cs typeface="Consolas"/>
                </a:rPr>
                <a:t>"VALUES ($1, $2) RETURNING id;",</a:t>
              </a:r>
              <a:br/>
              <a:r>
                <a:rPr lang="tr-TR" sz="980" dirty="0">
                  <a:solidFill>
                    <a:srgbClr val="EAF4F6"/>
                  </a:solidFill>
                  <a:latin typeface="Consolas"/>
                  <a:ea typeface="Consolas"/>
                  <a:cs typeface="Consolas"/>
                </a:rPr>
                <a:t>[baslik, yazar]</a:t>
              </a:r>
              <a:br/>
              <a:r>
                <a:rPr lang="tr-TR" sz="980" dirty="0">
                  <a:solidFill>
                    <a:srgbClr val="EAF4F6"/>
                  </a:solidFill>
                  <a:latin typeface="Consolas"/>
                  <a:ea typeface="Consolas"/>
                  <a:cs typeface="Consolas"/>
                </a:rPr>
                <a:t>);</a:t>
              </a:r>
              <a:br/>
              <a:r>
                <a:rPr lang="tr-TR" sz="980" dirty="0">
                  <a:solidFill>
                    <a:srgbClr val="EAF4F6"/>
                  </a:solidFill>
                  <a:latin typeface="Consolas"/>
                  <a:ea typeface="Consolas"/>
                  <a:cs typeface="Consolas"/>
                </a:rPr>
                <a:t>}</a:t>
              </a:r>
            </a:p>
            <a:p>
              <a:pPr algn="l">
                <a:lnSpc>
                  <a:spcPts val="1350"/>
                </a:lnSpc>
                <a:spcBef>
                  <a:spcPts val="150"/>
                </a:spcBef>
              </a:pPr>
              <a:r>
                <a:rPr lang="tr-TR" sz="980" dirty="0">
                  <a:solidFill>
                    <a:srgbClr val="EAF4F6"/>
                  </a:solidFill>
                  <a:latin typeface="Consolas"/>
                  <a:ea typeface="Consolas"/>
                  <a:cs typeface="Consolas"/>
                </a:rPr>
                <a:t>async function kitapGuncelle(</a:t>
              </a:r>
              <a:br/>
              <a:r>
                <a:rPr lang="tr-TR" sz="980" dirty="0">
                  <a:solidFill>
                    <a:srgbClr val="EAF4F6"/>
                  </a:solidFill>
                  <a:latin typeface="Consolas"/>
                  <a:ea typeface="Consolas"/>
                  <a:cs typeface="Consolas"/>
                </a:rPr>
                <a:t>havuz: Pool, id: number, yeniBaslik: string</a:t>
              </a:r>
              <a:br/>
              <a:r>
                <a:rPr lang="tr-TR" sz="980" dirty="0">
                  <a:solidFill>
                    <a:srgbClr val="EAF4F6"/>
                  </a:solidFill>
                  <a:latin typeface="Consolas"/>
                  <a:ea typeface="Consolas"/>
                  <a:cs typeface="Consolas"/>
                </a:rPr>
                <a:t>) {</a:t>
              </a:r>
              <a:br/>
              <a:r>
                <a:rPr lang="tr-TR" sz="980" dirty="0">
                  <a:solidFill>
                    <a:srgbClr val="EAF4F6"/>
                  </a:solidFill>
                  <a:latin typeface="Consolas"/>
                  <a:ea typeface="Consolas"/>
                  <a:cs typeface="Consolas"/>
                </a:rPr>
                <a:t>return havuz.query(</a:t>
              </a:r>
              <a:br/>
              <a:r>
                <a:rPr lang="tr-TR" sz="980" dirty="0">
                  <a:solidFill>
                    <a:srgbClr val="EAF4F6"/>
                  </a:solidFill>
                  <a:latin typeface="Consolas"/>
                  <a:ea typeface="Consolas"/>
                  <a:cs typeface="Consolas"/>
                </a:rPr>
                <a:t>"UPDATE kitap SET baslik = $1 " +</a:t>
              </a:r>
              <a:br/>
              <a:r>
                <a:rPr lang="tr-TR" sz="980" dirty="0">
                  <a:solidFill>
                    <a:srgbClr val="EAF4F6"/>
                  </a:solidFill>
                  <a:latin typeface="Consolas"/>
                  <a:ea typeface="Consolas"/>
                  <a:cs typeface="Consolas"/>
                </a:rPr>
                <a:t>"WHERE id = $2;",</a:t>
              </a:r>
              <a:br/>
              <a:r>
                <a:rPr lang="tr-TR" sz="980" dirty="0">
                  <a:solidFill>
                    <a:srgbClr val="EAF4F6"/>
                  </a:solidFill>
                  <a:latin typeface="Consolas"/>
                  <a:ea typeface="Consolas"/>
                  <a:cs typeface="Consolas"/>
                </a:rPr>
                <a:t>[yeniBaslik, id]</a:t>
              </a:r>
              <a:br/>
              <a:r>
                <a:rPr lang="tr-TR" sz="980" dirty="0">
                  <a:solidFill>
                    <a:srgbClr val="EAF4F6"/>
                  </a:solidFill>
                  <a:latin typeface="Consolas"/>
                  <a:ea typeface="Consolas"/>
                  <a:cs typeface="Consolas"/>
                </a:rPr>
                <a:t>);</a:t>
              </a:r>
              <a:br/>
              <a:r>
                <a:rPr lang="tr-TR" sz="980" dirty="0">
                  <a:solidFill>
                    <a:srgbClr val="EAF4F6"/>
                  </a:solidFill>
                  <a:latin typeface="Consolas"/>
                  <a:ea typeface="Consolas"/>
                  <a:cs typeface="Consolas"/>
                </a:rPr>
                <a:t>}</a:t>
              </a:r>
            </a:p>
          </p:txBody>
        </p:sp>
      </p:grpSp>
      <p:grpSp>
        <p:nvGrpSpPr>
          <p:cNvPr id="24" name="right-explain"/>
          <p:cNvGrpSpPr/>
          <p:nvPr/>
        </p:nvGrpSpPr>
        <p:grpSpPr>
          <a:xfrm>
            <a:off x="6429756" y="1139190"/>
            <a:ext cx="5152644" cy="3813810"/>
            <a:chOff x="6429756" y="1139190"/>
            <a:chExt cx="5152644" cy="3813810"/>
          </a:xfrm>
        </p:grpSpPr>
        <p:sp>
          <p:nvSpPr>
            <p:cNvPr id="17" name="TextBox 17"/>
            <p:cNvSpPr txBox="1"/>
            <p:nvPr/>
          </p:nvSpPr>
          <p:spPr>
            <a:xfrm>
              <a:off x="6429756" y="1139190"/>
              <a:ext cx="3006373"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Neden $1, $2 kullanılır?</a:t>
              </a:r>
            </a:p>
          </p:txBody>
        </p:sp>
        <p:sp>
          <p:nvSpPr>
            <p:cNvPr id="18" name="TextBox 18"/>
            <p:cNvSpPr txBox="1"/>
            <p:nvPr/>
          </p:nvSpPr>
          <p:spPr>
            <a:xfrm>
              <a:off x="6430899" y="1506379"/>
              <a:ext cx="3898773" cy="1108138"/>
            </a:xfrm>
            <a:prstGeom prst="rect">
              <a:avLst/>
            </a:prstGeom>
            <a:noFill/>
            <a:ln>
              <a:noFill/>
            </a:ln>
          </p:spPr>
          <p:txBody>
            <a:bodyPr wrap="none" lIns="0" tIns="0" rIns="0" bIns="0" anchor="t" anchorCtr="0">
              <a:spAutoFit/>
            </a:bodyPr>
            <a:lstStyle/>
            <a:p>
              <a:pPr algn="l">
                <a:lnSpc>
                  <a:spcPts val="2100"/>
                </a:lnSpc>
              </a:pPr>
              <a:r>
                <a:rPr lang="tr-TR" sz="1580" dirty="0">
                  <a:solidFill>
                    <a:srgbClr val="172B3A"/>
                  </a:solidFill>
                  <a:latin typeface="+mn-lt"/>
                  <a:ea typeface="+mn-ea"/>
                  <a:cs typeface="+mn-cs"/>
                </a:rPr>
                <a:t>Kullanıcı girdisi doğrudan sorgu</a:t>
              </a:r>
              <a:br/>
              <a:r>
                <a:rPr lang="tr-TR" sz="1580" dirty="0">
                  <a:solidFill>
                    <a:srgbClr val="172B3A"/>
                  </a:solidFill>
                  <a:latin typeface="+mn-lt"/>
                  <a:ea typeface="+mn-ea"/>
                  <a:cs typeface="+mn-cs"/>
                </a:rPr>
                <a:t>metnine eklenirse (string birleştirme),</a:t>
              </a:r>
              <a:br/>
              <a:r>
                <a:rPr lang="tr-TR" sz="1580" dirty="0">
                  <a:solidFill>
                    <a:srgbClr val="172B3A"/>
                  </a:solidFill>
                  <a:latin typeface="+mn-lt"/>
                  <a:ea typeface="+mn-ea"/>
                  <a:cs typeface="+mn-cs"/>
                </a:rPr>
                <a:t>kötü niyetli girdi sorgunun yapısını</a:t>
              </a:r>
              <a:br/>
              <a:r>
                <a:rPr lang="tr-TR" sz="1580" dirty="0">
                  <a:solidFill>
                    <a:srgbClr val="172B3A"/>
                  </a:solidFill>
                  <a:latin typeface="+mn-lt"/>
                  <a:ea typeface="+mn-ea"/>
                  <a:cs typeface="+mn-cs"/>
                </a:rPr>
                <a:t>değiştirebilir — SQL enjeksiyonu.</a:t>
              </a:r>
            </a:p>
          </p:txBody>
        </p:sp>
        <p:sp>
          <p:nvSpPr>
            <p:cNvPr id="19" name="TextBox 19"/>
            <p:cNvSpPr txBox="1"/>
            <p:nvPr/>
          </p:nvSpPr>
          <p:spPr>
            <a:xfrm>
              <a:off x="6430899" y="2535079"/>
              <a:ext cx="3487420" cy="1108138"/>
            </a:xfrm>
            <a:prstGeom prst="rect">
              <a:avLst/>
            </a:prstGeom>
            <a:noFill/>
            <a:ln>
              <a:noFill/>
            </a:ln>
          </p:spPr>
          <p:txBody>
            <a:bodyPr wrap="none" lIns="0" tIns="0" rIns="0" bIns="0" anchor="t" anchorCtr="0">
              <a:spAutoFit/>
            </a:bodyPr>
            <a:lstStyle/>
            <a:p>
              <a:pPr algn="l">
                <a:lnSpc>
                  <a:spcPts val="2100"/>
                </a:lnSpc>
              </a:pPr>
              <a:r>
                <a:rPr lang="tr-TR" sz="1580" dirty="0">
                  <a:solidFill>
                    <a:srgbClr val="172B3A"/>
                  </a:solidFill>
                  <a:latin typeface="+mn-lt"/>
                  <a:ea typeface="+mn-ea"/>
                  <a:cs typeface="+mn-cs"/>
                </a:rPr>
                <a:t>$1/$2 yer tutucuları, sürücünün</a:t>
              </a:r>
              <a:br/>
              <a:r>
                <a:rPr lang="tr-TR" sz="1580" dirty="0">
                  <a:solidFill>
                    <a:srgbClr val="172B3A"/>
                  </a:solidFill>
                  <a:latin typeface="+mn-lt"/>
                  <a:ea typeface="+mn-ea"/>
                  <a:cs typeface="+mn-cs"/>
                </a:rPr>
                <a:t>değeri veri olarak ayrı iletmesini</a:t>
              </a:r>
              <a:br/>
              <a:r>
                <a:rPr lang="tr-TR" sz="1580" dirty="0">
                  <a:solidFill>
                    <a:srgbClr val="172B3A"/>
                  </a:solidFill>
                  <a:latin typeface="+mn-lt"/>
                  <a:ea typeface="+mn-ea"/>
                  <a:cs typeface="+mn-cs"/>
                </a:rPr>
                <a:t>sağlar; metin hiçbir zaman komutun</a:t>
              </a:r>
              <a:br/>
              <a:r>
                <a:rPr lang="tr-TR" sz="1580" dirty="0">
                  <a:solidFill>
                    <a:srgbClr val="172B3A"/>
                  </a:solidFill>
                  <a:latin typeface="+mn-lt"/>
                  <a:ea typeface="+mn-ea"/>
                  <a:cs typeface="+mn-cs"/>
                </a:rPr>
                <a:t>parçası olarak yorumlanmaz.</a:t>
              </a:r>
            </a:p>
          </p:txBody>
        </p:sp>
        <p:sp>
          <p:nvSpPr>
            <p:cNvPr id="20" name="Rectangle 20"/>
            <p:cNvSpPr/>
            <p:nvPr/>
          </p:nvSpPr>
          <p:spPr>
            <a:xfrm>
              <a:off x="6438900" y="4038600"/>
              <a:ext cx="5143500" cy="914400"/>
            </a:xfrm>
            <a:prstGeom prst="roundRect">
              <a:avLst>
                <a:gd name="adj" fmla="val 8333"/>
              </a:avLst>
            </a:prstGeom>
            <a:solidFill>
              <a:srgbClr val="EAF4F6"/>
            </a:solidFill>
            <a:ln>
              <a:noFill/>
            </a:ln>
          </p:spPr>
        </p:sp>
        <p:sp>
          <p:nvSpPr>
            <p:cNvPr id="21" name="Rectangle 21"/>
            <p:cNvSpPr/>
            <p:nvPr/>
          </p:nvSpPr>
          <p:spPr>
            <a:xfrm>
              <a:off x="6438900" y="4038600"/>
              <a:ext cx="57150" cy="914400"/>
            </a:xfrm>
            <a:prstGeom prst="rect">
              <a:avLst/>
            </a:prstGeom>
            <a:solidFill>
              <a:srgbClr val="00A6A6"/>
            </a:solidFill>
            <a:ln>
              <a:noFill/>
            </a:ln>
          </p:spPr>
        </p:sp>
        <p:sp>
          <p:nvSpPr>
            <p:cNvPr id="22" name="TextBox 22"/>
            <p:cNvSpPr txBox="1"/>
            <p:nvPr/>
          </p:nvSpPr>
          <p:spPr>
            <a:xfrm>
              <a:off x="6697599" y="4154329"/>
              <a:ext cx="1610653"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 Yaygın hata</a:t>
              </a:r>
            </a:p>
          </p:txBody>
        </p:sp>
        <p:sp>
          <p:nvSpPr>
            <p:cNvPr id="23" name="TextBox 23"/>
            <p:cNvSpPr txBox="1"/>
            <p:nvPr/>
          </p:nvSpPr>
          <p:spPr>
            <a:xfrm>
              <a:off x="6699504" y="4461510"/>
              <a:ext cx="387553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"...WHERE ad = '" + ad + "'" gibi</a:t>
              </a:r>
              <a:br/>
              <a:r>
                <a:rPr lang="tr-TR" sz="1200" dirty="0">
                  <a:solidFill>
                    <a:srgbClr val="172B3A"/>
                  </a:solidFill>
                  <a:latin typeface="+mn-lt"/>
                  <a:ea typeface="+mn-ea"/>
                  <a:cs typeface="+mn-cs"/>
                </a:rPr>
                <a:t>string birleştirme üretimde asla kullanılmamalıdır.</a:t>
              </a:r>
            </a:p>
          </p:txBody>
        </p:sp>
      </p:grpSp>
      <p:sp>
        <p:nvSpPr>
          <p:cNvPr id="25" name="TextBox 25"/>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09 / 26</a:t>
            </a:r>
          </a:p>
        </p:txBody>
      </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7047578" cy="557403"/>
            <a:chOff x="595122" y="282892"/>
            <a:chExt cx="7047578" cy="557403"/>
          </a:xfrm>
        </p:grpSpPr>
        <p:sp>
          <p:nvSpPr>
            <p:cNvPr id="4" name="TextBox 4"/>
            <p:cNvSpPr txBox="1"/>
            <p:nvPr/>
          </p:nvSpPr>
          <p:spPr>
            <a:xfrm>
              <a:off x="595122" y="282892"/>
              <a:ext cx="7047578"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Primary Key ve Foreign Key ilişkileri</a:t>
              </a:r>
            </a:p>
          </p:txBody>
        </p:sp>
      </p:grpSp>
      <p:grpSp>
        <p:nvGrpSpPr>
          <p:cNvPr id="15" name="pk-table"/>
          <p:cNvGrpSpPr/>
          <p:nvPr/>
        </p:nvGrpSpPr>
        <p:grpSpPr>
          <a:xfrm>
            <a:off x="609600" y="1333500"/>
            <a:ext cx="4572000" cy="2857500"/>
            <a:chOff x="609600" y="1333500"/>
            <a:chExt cx="4572000" cy="2857500"/>
          </a:xfrm>
        </p:grpSpPr>
        <p:sp>
          <p:nvSpPr>
            <p:cNvPr id="6" name="Rectangle 6"/>
            <p:cNvSpPr/>
            <p:nvPr/>
          </p:nvSpPr>
          <p:spPr>
            <a:xfrm>
              <a:off x="609600" y="1333500"/>
              <a:ext cx="4572000" cy="2857500"/>
            </a:xfrm>
            <a:prstGeom prst="roundRect">
              <a:avLst>
                <a:gd name="adj" fmla="val 3333"/>
              </a:avLst>
            </a:prstGeom>
            <a:solidFill>
              <a:srgbClr val="FFFFFF"/>
            </a:solidFill>
            <a:ln w="14288">
              <a:solidFill>
                <a:srgbClr val="2E86AB"/>
              </a:solidFill>
            </a:ln>
          </p:spPr>
        </p:sp>
        <p:sp>
          <p:nvSpPr>
            <p:cNvPr id="7" name="Rectangle 7"/>
            <p:cNvSpPr/>
            <p:nvPr/>
          </p:nvSpPr>
          <p:spPr>
            <a:xfrm>
              <a:off x="609600" y="1333500"/>
              <a:ext cx="4572000" cy="419100"/>
            </a:xfrm>
            <a:prstGeom prst="roundRect">
              <a:avLst>
                <a:gd name="adj" fmla="val 22727"/>
              </a:avLst>
            </a:prstGeom>
            <a:solidFill>
              <a:srgbClr val="12355B"/>
            </a:solidFill>
            <a:ln>
              <a:noFill/>
            </a:ln>
          </p:spPr>
        </p:sp>
        <p:sp>
          <p:nvSpPr>
            <p:cNvPr id="8" name="TextBox 8"/>
            <p:cNvSpPr txBox="1"/>
            <p:nvPr/>
          </p:nvSpPr>
          <p:spPr>
            <a:xfrm>
              <a:off x="830199" y="1439704"/>
              <a:ext cx="630172" cy="308039"/>
            </a:xfrm>
            <a:prstGeom prst="rect">
              <a:avLst/>
            </a:prstGeom>
            <a:noFill/>
            <a:ln>
              <a:noFill/>
            </a:ln>
          </p:spPr>
          <p:txBody>
            <a:bodyPr wrap="none" lIns="0" tIns="0" rIns="0" bIns="0" anchor="t" anchorCtr="0">
              <a:spAutoFit/>
            </a:bodyPr>
            <a:lstStyle/>
            <a:p>
              <a:pPr algn="l"/>
              <a:r>
                <a:rPr lang="tr-TR" sz="1580" b="1" dirty="0">
                  <a:solidFill>
                    <a:srgbClr val="FFFFFF"/>
                  </a:solidFill>
                  <a:latin typeface="+mn-lt"/>
                  <a:ea typeface="+mn-ea"/>
                  <a:cs typeface="+mn-cs"/>
                </a:rPr>
                <a:t>yazar</a:t>
              </a:r>
            </a:p>
          </p:txBody>
        </p:sp>
        <p:sp>
          <p:nvSpPr>
            <p:cNvPr id="9" name="TextBox 9"/>
            <p:cNvSpPr txBox="1"/>
            <p:nvPr/>
          </p:nvSpPr>
          <p:spPr>
            <a:xfrm>
              <a:off x="832104" y="1965960"/>
              <a:ext cx="404641" cy="234696"/>
            </a:xfrm>
            <a:prstGeom prst="rect">
              <a:avLst/>
            </a:prstGeom>
            <a:noFill/>
            <a:ln>
              <a:noFill/>
            </a:ln>
          </p:spPr>
          <p:txBody>
            <a:bodyPr wrap="none" lIns="0" tIns="0" rIns="0" bIns="0" anchor="t" anchorCtr="0">
              <a:spAutoFit/>
            </a:bodyPr>
            <a:lstStyle/>
            <a:p>
              <a:pPr algn="l"/>
              <a:r>
                <a:rPr lang="tr-TR" sz="1200" b="1" dirty="0">
                  <a:solidFill>
                    <a:srgbClr val="00A6A6"/>
                  </a:solidFill>
                  <a:latin typeface="+mn-lt"/>
                  <a:ea typeface="+mn-ea"/>
                  <a:cs typeface="+mn-cs"/>
                </a:rPr>
                <a:t>PK id</a:t>
              </a:r>
            </a:p>
          </p:txBody>
        </p:sp>
        <p:sp>
          <p:nvSpPr>
            <p:cNvPr id="10" name="TextBox 10"/>
            <p:cNvSpPr txBox="1"/>
            <p:nvPr/>
          </p:nvSpPr>
          <p:spPr>
            <a:xfrm>
              <a:off x="832104" y="2232660"/>
              <a:ext cx="189890"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ad</a:t>
              </a:r>
            </a:p>
          </p:txBody>
        </p:sp>
        <p:sp>
          <p:nvSpPr>
            <p:cNvPr id="11" name="TextBox 11"/>
            <p:cNvSpPr txBox="1"/>
            <p:nvPr/>
          </p:nvSpPr>
          <p:spPr>
            <a:xfrm>
              <a:off x="832104" y="2499360"/>
              <a:ext cx="45643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soyad</a:t>
              </a:r>
            </a:p>
          </p:txBody>
        </p:sp>
        <p:sp>
          <p:nvSpPr>
            <p:cNvPr id="12" name="TextBox 12"/>
            <p:cNvSpPr txBox="1"/>
            <p:nvPr/>
          </p:nvSpPr>
          <p:spPr>
            <a:xfrm>
              <a:off x="832104" y="2766060"/>
              <a:ext cx="811835"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dogum_yili</a:t>
              </a:r>
            </a:p>
          </p:txBody>
        </p:sp>
        <p:sp>
          <p:nvSpPr>
            <p:cNvPr id="13" name="TextBox 13"/>
            <p:cNvSpPr txBox="1"/>
            <p:nvPr/>
          </p:nvSpPr>
          <p:spPr>
            <a:xfrm>
              <a:off x="832104" y="3585210"/>
              <a:ext cx="2575701"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PK: her satırı tekil ve değişmez</a:t>
              </a:r>
            </a:p>
          </p:txBody>
        </p:sp>
        <p:sp>
          <p:nvSpPr>
            <p:cNvPr id="14" name="TextBox 14"/>
            <p:cNvSpPr txBox="1"/>
            <p:nvPr/>
          </p:nvSpPr>
          <p:spPr>
            <a:xfrm>
              <a:off x="832104" y="3794760"/>
              <a:ext cx="1966874"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biçimde tanımlayan alan.</a:t>
              </a:r>
            </a:p>
          </p:txBody>
        </p:sp>
      </p:grpSp>
      <p:sp>
        <p:nvSpPr>
          <p:cNvPr id="16" name="Line 16"/>
          <p:cNvSpPr/>
          <p:nvPr/>
        </p:nvSpPr>
        <p:spPr>
          <a:xfrm>
            <a:off x="5181600" y="2762250"/>
            <a:ext cx="1485900" cy="1"/>
          </a:xfrm>
          <a:prstGeom prst="line">
            <a:avLst/>
          </a:prstGeom>
          <a:noFill/>
          <a:ln w="23812">
            <a:solidFill>
              <a:srgbClr val="00A6A6"/>
            </a:solidFill>
            <a:tailEnd type="arrow" w="lg" len="lg"/>
          </a:ln>
        </p:spPr>
      </p:sp>
      <p:sp>
        <p:nvSpPr>
          <p:cNvPr id="17" name="TextBox 17"/>
          <p:cNvSpPr txBox="1"/>
          <p:nvPr/>
        </p:nvSpPr>
        <p:spPr>
          <a:xfrm>
            <a:off x="5327904" y="2518410"/>
            <a:ext cx="396240"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1 — N</a:t>
            </a:r>
          </a:p>
        </p:txBody>
      </p:sp>
      <p:grpSp>
        <p:nvGrpSpPr>
          <p:cNvPr id="27" name="fk-table"/>
          <p:cNvGrpSpPr/>
          <p:nvPr/>
        </p:nvGrpSpPr>
        <p:grpSpPr>
          <a:xfrm>
            <a:off x="6743700" y="1333500"/>
            <a:ext cx="4838700" cy="2857500"/>
            <a:chOff x="6743700" y="1333500"/>
            <a:chExt cx="4838700" cy="2857500"/>
          </a:xfrm>
        </p:grpSpPr>
        <p:sp>
          <p:nvSpPr>
            <p:cNvPr id="18" name="Rectangle 18"/>
            <p:cNvSpPr/>
            <p:nvPr/>
          </p:nvSpPr>
          <p:spPr>
            <a:xfrm>
              <a:off x="6743700" y="1333500"/>
              <a:ext cx="4838700" cy="2857500"/>
            </a:xfrm>
            <a:prstGeom prst="roundRect">
              <a:avLst>
                <a:gd name="adj" fmla="val 3333"/>
              </a:avLst>
            </a:prstGeom>
            <a:solidFill>
              <a:srgbClr val="FFFFFF"/>
            </a:solidFill>
            <a:ln w="14288">
              <a:solidFill>
                <a:srgbClr val="2E86AB"/>
              </a:solidFill>
            </a:ln>
          </p:spPr>
        </p:sp>
        <p:sp>
          <p:nvSpPr>
            <p:cNvPr id="19" name="Rectangle 19"/>
            <p:cNvSpPr/>
            <p:nvPr/>
          </p:nvSpPr>
          <p:spPr>
            <a:xfrm>
              <a:off x="6743700" y="1333500"/>
              <a:ext cx="4838700" cy="419100"/>
            </a:xfrm>
            <a:prstGeom prst="roundRect">
              <a:avLst>
                <a:gd name="adj" fmla="val 22727"/>
              </a:avLst>
            </a:prstGeom>
            <a:solidFill>
              <a:srgbClr val="12355B"/>
            </a:solidFill>
            <a:ln>
              <a:noFill/>
            </a:ln>
          </p:spPr>
        </p:sp>
        <p:sp>
          <p:nvSpPr>
            <p:cNvPr id="20" name="TextBox 20"/>
            <p:cNvSpPr txBox="1"/>
            <p:nvPr/>
          </p:nvSpPr>
          <p:spPr>
            <a:xfrm>
              <a:off x="6964299" y="1439704"/>
              <a:ext cx="574338" cy="308039"/>
            </a:xfrm>
            <a:prstGeom prst="rect">
              <a:avLst/>
            </a:prstGeom>
            <a:noFill/>
            <a:ln>
              <a:noFill/>
            </a:ln>
          </p:spPr>
          <p:txBody>
            <a:bodyPr wrap="none" lIns="0" tIns="0" rIns="0" bIns="0" anchor="t" anchorCtr="0">
              <a:spAutoFit/>
            </a:bodyPr>
            <a:lstStyle/>
            <a:p>
              <a:pPr algn="l"/>
              <a:r>
                <a:rPr lang="tr-TR" sz="1580" b="1" dirty="0">
                  <a:solidFill>
                    <a:srgbClr val="FFFFFF"/>
                  </a:solidFill>
                  <a:latin typeface="+mn-lt"/>
                  <a:ea typeface="+mn-ea"/>
                  <a:cs typeface="+mn-cs"/>
                </a:rPr>
                <a:t>kitap</a:t>
              </a:r>
            </a:p>
          </p:txBody>
        </p:sp>
        <p:sp>
          <p:nvSpPr>
            <p:cNvPr id="21" name="TextBox 21"/>
            <p:cNvSpPr txBox="1"/>
            <p:nvPr/>
          </p:nvSpPr>
          <p:spPr>
            <a:xfrm>
              <a:off x="6966204" y="1965960"/>
              <a:ext cx="404641" cy="234696"/>
            </a:xfrm>
            <a:prstGeom prst="rect">
              <a:avLst/>
            </a:prstGeom>
            <a:noFill/>
            <a:ln>
              <a:noFill/>
            </a:ln>
          </p:spPr>
          <p:txBody>
            <a:bodyPr wrap="none" lIns="0" tIns="0" rIns="0" bIns="0" anchor="t" anchorCtr="0">
              <a:spAutoFit/>
            </a:bodyPr>
            <a:lstStyle/>
            <a:p>
              <a:pPr algn="l"/>
              <a:r>
                <a:rPr lang="tr-TR" sz="1200" b="1" dirty="0">
                  <a:solidFill>
                    <a:srgbClr val="00A6A6"/>
                  </a:solidFill>
                  <a:latin typeface="+mn-lt"/>
                  <a:ea typeface="+mn-ea"/>
                  <a:cs typeface="+mn-cs"/>
                </a:rPr>
                <a:t>PK id</a:t>
              </a:r>
            </a:p>
          </p:txBody>
        </p:sp>
        <p:sp>
          <p:nvSpPr>
            <p:cNvPr id="22" name="TextBox 22"/>
            <p:cNvSpPr txBox="1"/>
            <p:nvPr/>
          </p:nvSpPr>
          <p:spPr>
            <a:xfrm>
              <a:off x="6966204" y="2232660"/>
              <a:ext cx="464515"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baslik</a:t>
              </a:r>
            </a:p>
          </p:txBody>
        </p:sp>
        <p:sp>
          <p:nvSpPr>
            <p:cNvPr id="23" name="TextBox 23"/>
            <p:cNvSpPr txBox="1"/>
            <p:nvPr/>
          </p:nvSpPr>
          <p:spPr>
            <a:xfrm>
              <a:off x="6966204" y="2499360"/>
              <a:ext cx="1959555" cy="234696"/>
            </a:xfrm>
            <a:prstGeom prst="rect">
              <a:avLst/>
            </a:prstGeom>
            <a:noFill/>
            <a:ln>
              <a:noFill/>
            </a:ln>
          </p:spPr>
          <p:txBody>
            <a:bodyPr wrap="none" lIns="0" tIns="0" rIns="0" bIns="0" anchor="t" anchorCtr="0">
              <a:spAutoFit/>
            </a:bodyPr>
            <a:lstStyle/>
            <a:p>
              <a:pPr algn="l"/>
              <a:r>
                <a:rPr lang="tr-TR" sz="1200" b="1" dirty="0">
                  <a:solidFill>
                    <a:srgbClr val="2E86AB"/>
                  </a:solidFill>
                  <a:latin typeface="+mn-lt"/>
                  <a:ea typeface="+mn-ea"/>
                  <a:cs typeface="+mn-cs"/>
                </a:rPr>
                <a:t>FK yazar_id → yazar(id)</a:t>
              </a:r>
            </a:p>
          </p:txBody>
        </p:sp>
        <p:sp>
          <p:nvSpPr>
            <p:cNvPr id="24" name="TextBox 24"/>
            <p:cNvSpPr txBox="1"/>
            <p:nvPr/>
          </p:nvSpPr>
          <p:spPr>
            <a:xfrm>
              <a:off x="6966204" y="2766060"/>
              <a:ext cx="739140"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yayin_yili</a:t>
              </a:r>
            </a:p>
          </p:txBody>
        </p:sp>
        <p:sp>
          <p:nvSpPr>
            <p:cNvPr id="25" name="TextBox 25"/>
            <p:cNvSpPr txBox="1"/>
            <p:nvPr/>
          </p:nvSpPr>
          <p:spPr>
            <a:xfrm>
              <a:off x="6966204" y="3585210"/>
              <a:ext cx="2591511"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FK: bu tablodaki bir alanın başka</a:t>
              </a:r>
            </a:p>
          </p:txBody>
        </p:sp>
        <p:sp>
          <p:nvSpPr>
            <p:cNvPr id="26" name="TextBox 26"/>
            <p:cNvSpPr txBox="1"/>
            <p:nvPr/>
          </p:nvSpPr>
          <p:spPr>
            <a:xfrm>
              <a:off x="6966204" y="3794760"/>
              <a:ext cx="2874574"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tablonun PK'sına referans vermesi.</a:t>
              </a:r>
            </a:p>
          </p:txBody>
        </p:sp>
      </p:grpSp>
      <p:grpSp>
        <p:nvGrpSpPr>
          <p:cNvPr id="31" name="theory-block"/>
          <p:cNvGrpSpPr/>
          <p:nvPr/>
        </p:nvGrpSpPr>
        <p:grpSpPr>
          <a:xfrm>
            <a:off x="600456" y="4434840"/>
            <a:ext cx="10069457" cy="827628"/>
            <a:chOff x="600456" y="4434840"/>
            <a:chExt cx="10069457" cy="827628"/>
          </a:xfrm>
        </p:grpSpPr>
        <p:sp>
          <p:nvSpPr>
            <p:cNvPr id="28" name="TextBox 28"/>
            <p:cNvSpPr txBox="1"/>
            <p:nvPr/>
          </p:nvSpPr>
          <p:spPr>
            <a:xfrm>
              <a:off x="600456" y="4434840"/>
              <a:ext cx="2341808"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Kuramsal arka plan</a:t>
              </a:r>
            </a:p>
          </p:txBody>
        </p:sp>
        <p:sp>
          <p:nvSpPr>
            <p:cNvPr id="29" name="TextBox 29"/>
            <p:cNvSpPr txBox="1"/>
            <p:nvPr/>
          </p:nvSpPr>
          <p:spPr>
            <a:xfrm>
              <a:off x="601599" y="4725829"/>
              <a:ext cx="10068314"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Entity-referential integrity ilkesi, FK'nin işaret ettiği PK değerinin var olmasını zorunlu kılar;</a:t>
              </a:r>
            </a:p>
          </p:txBody>
        </p:sp>
        <p:sp>
          <p:nvSpPr>
            <p:cNvPr id="30" name="TextBox 30"/>
            <p:cNvSpPr txBox="1"/>
            <p:nvPr/>
          </p:nvSpPr>
          <p:spPr>
            <a:xfrm>
              <a:off x="601599" y="4954429"/>
              <a:ext cx="9491769"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bu, normalizasyon sürecinde tekrar eden veriyi ayrı tablolara bölmenin temel dayanağıdır.</a:t>
              </a:r>
            </a:p>
          </p:txBody>
        </p:sp>
      </p:grpSp>
      <p:grpSp>
        <p:nvGrpSpPr>
          <p:cNvPr id="36" name="attention-note"/>
          <p:cNvGrpSpPr/>
          <p:nvPr/>
        </p:nvGrpSpPr>
        <p:grpSpPr>
          <a:xfrm>
            <a:off x="609600" y="5334000"/>
            <a:ext cx="10972800" cy="762000"/>
            <a:chOff x="609600" y="5334000"/>
            <a:chExt cx="10972800" cy="762000"/>
          </a:xfrm>
        </p:grpSpPr>
        <p:sp>
          <p:nvSpPr>
            <p:cNvPr id="32" name="Rectangle 32"/>
            <p:cNvSpPr/>
            <p:nvPr/>
          </p:nvSpPr>
          <p:spPr>
            <a:xfrm>
              <a:off x="609600" y="5334000"/>
              <a:ext cx="10972800" cy="762000"/>
            </a:xfrm>
            <a:prstGeom prst="roundRect">
              <a:avLst>
                <a:gd name="adj" fmla="val 10000"/>
              </a:avLst>
            </a:prstGeom>
            <a:solidFill>
              <a:srgbClr val="EAF4F6"/>
            </a:solidFill>
            <a:ln>
              <a:noFill/>
            </a:ln>
          </p:spPr>
        </p:sp>
        <p:sp>
          <p:nvSpPr>
            <p:cNvPr id="33" name="Rectangle 33"/>
            <p:cNvSpPr/>
            <p:nvPr/>
          </p:nvSpPr>
          <p:spPr>
            <a:xfrm>
              <a:off x="609600" y="5334000"/>
              <a:ext cx="57150" cy="762000"/>
            </a:xfrm>
            <a:prstGeom prst="rect">
              <a:avLst/>
            </a:prstGeom>
            <a:solidFill>
              <a:srgbClr val="00A6A6"/>
            </a:solidFill>
            <a:ln>
              <a:noFill/>
            </a:ln>
          </p:spPr>
        </p:sp>
        <p:sp>
          <p:nvSpPr>
            <p:cNvPr id="34" name="TextBox 34"/>
            <p:cNvSpPr txBox="1"/>
            <p:nvPr/>
          </p:nvSpPr>
          <p:spPr>
            <a:xfrm>
              <a:off x="906399" y="5449729"/>
              <a:ext cx="1610653"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 Yaygın hata</a:t>
              </a:r>
            </a:p>
          </p:txBody>
        </p:sp>
        <p:sp>
          <p:nvSpPr>
            <p:cNvPr id="35" name="TextBox 35"/>
            <p:cNvSpPr txBox="1"/>
            <p:nvPr/>
          </p:nvSpPr>
          <p:spPr>
            <a:xfrm>
              <a:off x="908304" y="5756910"/>
              <a:ext cx="9002990"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ALTER TABLE ile sonradan FOREIGN KEY eklemeyi unutmak, veritabanının yetim kayıtları tespit etmesini engeller.</a:t>
              </a:r>
            </a:p>
          </p:txBody>
        </p:sp>
      </p:grpSp>
      <p:sp>
        <p:nvSpPr>
          <p:cNvPr id="37" name="TextBox 37"/>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10 / 26</a:t>
            </a:r>
          </a:p>
        </p:txBody>
      </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8997498" cy="668845"/>
            <a:chOff x="609600" y="171450"/>
            <a:chExt cx="8997498"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77240" y="324326"/>
                <a:ext cx="236220" cy="265748"/>
                <a:chOff x="777240" y="324326"/>
                <a:chExt cx="236220" cy="265748"/>
              </a:xfrm>
            </p:grpSpPr>
            <p:sp>
              <p:nvSpPr>
                <p:cNvPr id="5" name="Freeform 5"/>
                <p:cNvSpPr/>
                <p:nvPr/>
              </p:nvSpPr>
              <p:spPr>
                <a:xfrm>
                  <a:off x="777240" y="324326"/>
                  <a:ext cx="236220" cy="88583"/>
                </a:xfrm>
                <a:custGeom>
                  <a:avLst/>
                  <a:gdLst/>
                  <a:ahLst/>
                  <a:cxnLst/>
                  <a:rect l="l" t="t" r="r" b="b"/>
                  <a:pathLst>
                    <a:path w="236220" h="88583">
                      <a:moveTo>
                        <a:pt x="0" y="44291"/>
                      </a:moveTo>
                      <a:cubicBezTo>
                        <a:pt x="0" y="68753"/>
                        <a:pt x="52880" y="88583"/>
                        <a:pt x="118110" y="88583"/>
                      </a:cubicBezTo>
                      <a:cubicBezTo>
                        <a:pt x="183340" y="88583"/>
                        <a:pt x="236220" y="68753"/>
                        <a:pt x="236220" y="44291"/>
                      </a:cubicBezTo>
                      <a:cubicBezTo>
                        <a:pt x="236220" y="19830"/>
                        <a:pt x="183340" y="0"/>
                        <a:pt x="118110" y="0"/>
                      </a:cubicBezTo>
                      <a:cubicBezTo>
                        <a:pt x="52880" y="0"/>
                        <a:pt x="0" y="19830"/>
                        <a:pt x="0" y="44291"/>
                      </a:cubicBezTo>
                    </a:path>
                  </a:pathLst>
                </a:custGeom>
                <a:noFill/>
                <a:ln w="24759" cap="rnd">
                  <a:solidFill>
                    <a:srgbClr val="FFFFFF"/>
                  </a:solidFill>
                  <a:round/>
                </a:ln>
              </p:spPr>
            </p:sp>
            <p:sp>
              <p:nvSpPr>
                <p:cNvPr id="6" name="Freeform 6"/>
                <p:cNvSpPr/>
                <p:nvPr/>
              </p:nvSpPr>
              <p:spPr>
                <a:xfrm>
                  <a:off x="777240" y="368618"/>
                  <a:ext cx="236220" cy="132874"/>
                </a:xfrm>
                <a:custGeom>
                  <a:avLst/>
                  <a:gdLst/>
                  <a:ahLst/>
                  <a:cxnLst/>
                  <a:rect l="l" t="t" r="r" b="b"/>
                  <a:pathLst>
                    <a:path w="236220" h="132874">
                      <a:moveTo>
                        <a:pt x="0" y="0"/>
                      </a:moveTo>
                      <a:lnTo>
                        <a:pt x="0" y="88582"/>
                      </a:lnTo>
                      <a:cubicBezTo>
                        <a:pt x="0" y="113044"/>
                        <a:pt x="52880" y="132874"/>
                        <a:pt x="118110" y="132874"/>
                      </a:cubicBezTo>
                      <a:cubicBezTo>
                        <a:pt x="183340" y="132874"/>
                        <a:pt x="236220" y="113044"/>
                        <a:pt x="236220" y="88582"/>
                      </a:cubicBezTo>
                      <a:lnTo>
                        <a:pt x="236220" y="0"/>
                      </a:lnTo>
                    </a:path>
                  </a:pathLst>
                </a:custGeom>
                <a:noFill/>
                <a:ln w="24759" cap="rnd">
                  <a:solidFill>
                    <a:srgbClr val="FFFFFF"/>
                  </a:solidFill>
                  <a:round/>
                </a:ln>
              </p:spPr>
            </p:sp>
            <p:sp>
              <p:nvSpPr>
                <p:cNvPr id="7" name="Freeform 7"/>
                <p:cNvSpPr/>
                <p:nvPr/>
              </p:nvSpPr>
              <p:spPr>
                <a:xfrm>
                  <a:off x="777240" y="457200"/>
                  <a:ext cx="236220" cy="132874"/>
                </a:xfrm>
                <a:custGeom>
                  <a:avLst/>
                  <a:gdLst/>
                  <a:ahLst/>
                  <a:cxnLst/>
                  <a:rect l="l" t="t" r="r" b="b"/>
                  <a:pathLst>
                    <a:path w="236220" h="132874">
                      <a:moveTo>
                        <a:pt x="0" y="0"/>
                      </a:moveTo>
                      <a:lnTo>
                        <a:pt x="0" y="88582"/>
                      </a:lnTo>
                      <a:cubicBezTo>
                        <a:pt x="0" y="113044"/>
                        <a:pt x="52880" y="132874"/>
                        <a:pt x="118110" y="132874"/>
                      </a:cubicBezTo>
                      <a:cubicBezTo>
                        <a:pt x="183340" y="132874"/>
                        <a:pt x="236220" y="113044"/>
                        <a:pt x="236220" y="88582"/>
                      </a:cubicBezTo>
                      <a:lnTo>
                        <a:pt x="236220" y="0"/>
                      </a:lnTo>
                    </a:path>
                  </a:pathLst>
                </a:custGeom>
                <a:noFill/>
                <a:ln w="24759" cap="rnd">
                  <a:solidFill>
                    <a:srgbClr val="FFFFFF"/>
                  </a:solidFill>
                  <a:round/>
                </a:ln>
              </p:spPr>
            </p:sp>
          </p:grpSp>
        </p:grpSp>
        <p:sp>
          <p:nvSpPr>
            <p:cNvPr id="10" name="TextBox 10"/>
            <p:cNvSpPr txBox="1"/>
            <p:nvPr/>
          </p:nvSpPr>
          <p:spPr>
            <a:xfrm>
              <a:off x="1299972" y="282892"/>
              <a:ext cx="8307126"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Şekil 7.3: Kütüphane şeması ER diyagramı</a:t>
              </a:r>
            </a:p>
          </p:txBody>
        </p:sp>
      </p:grpSp>
      <p:grpSp>
        <p:nvGrpSpPr>
          <p:cNvPr id="18" name="tbl-yazar"/>
          <p:cNvGrpSpPr/>
          <p:nvPr/>
        </p:nvGrpSpPr>
        <p:grpSpPr>
          <a:xfrm>
            <a:off x="609600" y="1333500"/>
            <a:ext cx="2857500" cy="2095500"/>
            <a:chOff x="609600" y="1333500"/>
            <a:chExt cx="2857500" cy="2095500"/>
          </a:xfrm>
        </p:grpSpPr>
        <p:sp>
          <p:nvSpPr>
            <p:cNvPr id="12" name="Rectangle 12"/>
            <p:cNvSpPr/>
            <p:nvPr/>
          </p:nvSpPr>
          <p:spPr>
            <a:xfrm>
              <a:off x="609600" y="1333500"/>
              <a:ext cx="2857500" cy="2095500"/>
            </a:xfrm>
            <a:prstGeom prst="roundRect">
              <a:avLst>
                <a:gd name="adj" fmla="val 4545"/>
              </a:avLst>
            </a:prstGeom>
            <a:solidFill>
              <a:srgbClr val="FFFFFF"/>
            </a:solidFill>
            <a:ln w="14288">
              <a:solidFill>
                <a:srgbClr val="2E86AB"/>
              </a:solidFill>
            </a:ln>
          </p:spPr>
        </p:sp>
        <p:sp>
          <p:nvSpPr>
            <p:cNvPr id="13" name="Rectangle 13"/>
            <p:cNvSpPr/>
            <p:nvPr/>
          </p:nvSpPr>
          <p:spPr>
            <a:xfrm>
              <a:off x="609600" y="1333500"/>
              <a:ext cx="2857500" cy="381000"/>
            </a:xfrm>
            <a:prstGeom prst="roundRect">
              <a:avLst>
                <a:gd name="adj" fmla="val 25000"/>
              </a:avLst>
            </a:prstGeom>
            <a:solidFill>
              <a:srgbClr val="12355B"/>
            </a:solidFill>
            <a:ln>
              <a:noFill/>
            </a:ln>
          </p:spPr>
        </p:sp>
        <p:sp>
          <p:nvSpPr>
            <p:cNvPr id="14" name="TextBox 14"/>
            <p:cNvSpPr txBox="1"/>
            <p:nvPr/>
          </p:nvSpPr>
          <p:spPr>
            <a:xfrm>
              <a:off x="792099" y="1411129"/>
              <a:ext cx="630172" cy="308039"/>
            </a:xfrm>
            <a:prstGeom prst="rect">
              <a:avLst/>
            </a:prstGeom>
            <a:noFill/>
            <a:ln>
              <a:noFill/>
            </a:ln>
          </p:spPr>
          <p:txBody>
            <a:bodyPr wrap="none" lIns="0" tIns="0" rIns="0" bIns="0" anchor="t" anchorCtr="0">
              <a:spAutoFit/>
            </a:bodyPr>
            <a:lstStyle/>
            <a:p>
              <a:pPr algn="l"/>
              <a:r>
                <a:rPr lang="tr-TR" sz="1580" b="1" dirty="0">
                  <a:solidFill>
                    <a:srgbClr val="FFFFFF"/>
                  </a:solidFill>
                  <a:latin typeface="+mn-lt"/>
                  <a:ea typeface="+mn-ea"/>
                  <a:cs typeface="+mn-cs"/>
                </a:rPr>
                <a:t>yazar</a:t>
              </a:r>
            </a:p>
          </p:txBody>
        </p:sp>
        <p:sp>
          <p:nvSpPr>
            <p:cNvPr id="15" name="TextBox 15"/>
            <p:cNvSpPr txBox="1"/>
            <p:nvPr/>
          </p:nvSpPr>
          <p:spPr>
            <a:xfrm>
              <a:off x="794004" y="1889760"/>
              <a:ext cx="404641" cy="234696"/>
            </a:xfrm>
            <a:prstGeom prst="rect">
              <a:avLst/>
            </a:prstGeom>
            <a:noFill/>
            <a:ln>
              <a:noFill/>
            </a:ln>
          </p:spPr>
          <p:txBody>
            <a:bodyPr wrap="none" lIns="0" tIns="0" rIns="0" bIns="0" anchor="t" anchorCtr="0">
              <a:spAutoFit/>
            </a:bodyPr>
            <a:lstStyle/>
            <a:p>
              <a:pPr algn="l"/>
              <a:r>
                <a:rPr lang="tr-TR" sz="1200" b="1" dirty="0">
                  <a:solidFill>
                    <a:srgbClr val="00A6A6"/>
                  </a:solidFill>
                  <a:latin typeface="+mn-lt"/>
                  <a:ea typeface="+mn-ea"/>
                  <a:cs typeface="+mn-cs"/>
                </a:rPr>
                <a:t>PK id</a:t>
              </a:r>
            </a:p>
          </p:txBody>
        </p:sp>
        <p:sp>
          <p:nvSpPr>
            <p:cNvPr id="16" name="TextBox 16"/>
            <p:cNvSpPr txBox="1"/>
            <p:nvPr/>
          </p:nvSpPr>
          <p:spPr>
            <a:xfrm>
              <a:off x="794004" y="2137410"/>
              <a:ext cx="771449"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ad, soyad</a:t>
              </a:r>
            </a:p>
          </p:txBody>
        </p:sp>
        <p:sp>
          <p:nvSpPr>
            <p:cNvPr id="17" name="TextBox 17"/>
            <p:cNvSpPr txBox="1"/>
            <p:nvPr/>
          </p:nvSpPr>
          <p:spPr>
            <a:xfrm>
              <a:off x="794004" y="2385060"/>
              <a:ext cx="811835"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dogum_yili</a:t>
              </a:r>
            </a:p>
          </p:txBody>
        </p:sp>
      </p:grpSp>
      <p:sp>
        <p:nvSpPr>
          <p:cNvPr id="19" name="Line 19"/>
          <p:cNvSpPr/>
          <p:nvPr/>
        </p:nvSpPr>
        <p:spPr>
          <a:xfrm>
            <a:off x="3467100" y="2381250"/>
            <a:ext cx="1009650" cy="1"/>
          </a:xfrm>
          <a:prstGeom prst="line">
            <a:avLst/>
          </a:prstGeom>
          <a:noFill/>
          <a:ln w="23812">
            <a:solidFill>
              <a:srgbClr val="00A6A6"/>
            </a:solidFill>
            <a:tailEnd type="arrow" w="lg" len="lg"/>
          </a:ln>
        </p:spPr>
      </p:sp>
      <p:sp>
        <p:nvSpPr>
          <p:cNvPr id="20" name="TextBox 20"/>
          <p:cNvSpPr txBox="1"/>
          <p:nvPr/>
        </p:nvSpPr>
        <p:spPr>
          <a:xfrm>
            <a:off x="3594354" y="2137410"/>
            <a:ext cx="396240"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1 — N</a:t>
            </a:r>
          </a:p>
        </p:txBody>
      </p:sp>
      <p:grpSp>
        <p:nvGrpSpPr>
          <p:cNvPr id="27" name="tbl-kitap"/>
          <p:cNvGrpSpPr/>
          <p:nvPr/>
        </p:nvGrpSpPr>
        <p:grpSpPr>
          <a:xfrm>
            <a:off x="4552950" y="1333500"/>
            <a:ext cx="3086100" cy="2095500"/>
            <a:chOff x="4552950" y="1333500"/>
            <a:chExt cx="3086100" cy="2095500"/>
          </a:xfrm>
        </p:grpSpPr>
        <p:sp>
          <p:nvSpPr>
            <p:cNvPr id="21" name="Rectangle 21"/>
            <p:cNvSpPr/>
            <p:nvPr/>
          </p:nvSpPr>
          <p:spPr>
            <a:xfrm>
              <a:off x="4552950" y="1333500"/>
              <a:ext cx="3086100" cy="2095500"/>
            </a:xfrm>
            <a:prstGeom prst="roundRect">
              <a:avLst>
                <a:gd name="adj" fmla="val 4545"/>
              </a:avLst>
            </a:prstGeom>
            <a:solidFill>
              <a:srgbClr val="FFFFFF"/>
            </a:solidFill>
            <a:ln w="14288">
              <a:solidFill>
                <a:srgbClr val="2E86AB"/>
              </a:solidFill>
            </a:ln>
          </p:spPr>
        </p:sp>
        <p:sp>
          <p:nvSpPr>
            <p:cNvPr id="22" name="Rectangle 22"/>
            <p:cNvSpPr/>
            <p:nvPr/>
          </p:nvSpPr>
          <p:spPr>
            <a:xfrm>
              <a:off x="4552950" y="1333500"/>
              <a:ext cx="3086100" cy="381000"/>
            </a:xfrm>
            <a:prstGeom prst="roundRect">
              <a:avLst>
                <a:gd name="adj" fmla="val 25000"/>
              </a:avLst>
            </a:prstGeom>
            <a:solidFill>
              <a:srgbClr val="12355B"/>
            </a:solidFill>
            <a:ln>
              <a:noFill/>
            </a:ln>
          </p:spPr>
        </p:sp>
        <p:sp>
          <p:nvSpPr>
            <p:cNvPr id="23" name="TextBox 23"/>
            <p:cNvSpPr txBox="1"/>
            <p:nvPr/>
          </p:nvSpPr>
          <p:spPr>
            <a:xfrm>
              <a:off x="4735449" y="1411129"/>
              <a:ext cx="574338" cy="308039"/>
            </a:xfrm>
            <a:prstGeom prst="rect">
              <a:avLst/>
            </a:prstGeom>
            <a:noFill/>
            <a:ln>
              <a:noFill/>
            </a:ln>
          </p:spPr>
          <p:txBody>
            <a:bodyPr wrap="none" lIns="0" tIns="0" rIns="0" bIns="0" anchor="t" anchorCtr="0">
              <a:spAutoFit/>
            </a:bodyPr>
            <a:lstStyle/>
            <a:p>
              <a:pPr algn="l"/>
              <a:r>
                <a:rPr lang="tr-TR" sz="1580" b="1" dirty="0">
                  <a:solidFill>
                    <a:srgbClr val="FFFFFF"/>
                  </a:solidFill>
                  <a:latin typeface="+mn-lt"/>
                  <a:ea typeface="+mn-ea"/>
                  <a:cs typeface="+mn-cs"/>
                </a:rPr>
                <a:t>kitap</a:t>
              </a:r>
            </a:p>
          </p:txBody>
        </p:sp>
        <p:sp>
          <p:nvSpPr>
            <p:cNvPr id="24" name="TextBox 24"/>
            <p:cNvSpPr txBox="1"/>
            <p:nvPr/>
          </p:nvSpPr>
          <p:spPr>
            <a:xfrm>
              <a:off x="4737354" y="1889760"/>
              <a:ext cx="404641" cy="234696"/>
            </a:xfrm>
            <a:prstGeom prst="rect">
              <a:avLst/>
            </a:prstGeom>
            <a:noFill/>
            <a:ln>
              <a:noFill/>
            </a:ln>
          </p:spPr>
          <p:txBody>
            <a:bodyPr wrap="none" lIns="0" tIns="0" rIns="0" bIns="0" anchor="t" anchorCtr="0">
              <a:spAutoFit/>
            </a:bodyPr>
            <a:lstStyle/>
            <a:p>
              <a:pPr algn="l"/>
              <a:r>
                <a:rPr lang="tr-TR" sz="1200" b="1" dirty="0">
                  <a:solidFill>
                    <a:srgbClr val="00A6A6"/>
                  </a:solidFill>
                  <a:latin typeface="+mn-lt"/>
                  <a:ea typeface="+mn-ea"/>
                  <a:cs typeface="+mn-cs"/>
                </a:rPr>
                <a:t>PK id</a:t>
              </a:r>
            </a:p>
          </p:txBody>
        </p:sp>
        <p:sp>
          <p:nvSpPr>
            <p:cNvPr id="25" name="TextBox 25"/>
            <p:cNvSpPr txBox="1"/>
            <p:nvPr/>
          </p:nvSpPr>
          <p:spPr>
            <a:xfrm>
              <a:off x="4737354" y="2137410"/>
              <a:ext cx="1328776"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baslik, yayin_yili</a:t>
              </a:r>
            </a:p>
          </p:txBody>
        </p:sp>
        <p:sp>
          <p:nvSpPr>
            <p:cNvPr id="26" name="TextBox 26"/>
            <p:cNvSpPr txBox="1"/>
            <p:nvPr/>
          </p:nvSpPr>
          <p:spPr>
            <a:xfrm>
              <a:off x="4737354" y="2385060"/>
              <a:ext cx="1628074" cy="234696"/>
            </a:xfrm>
            <a:prstGeom prst="rect">
              <a:avLst/>
            </a:prstGeom>
            <a:noFill/>
            <a:ln>
              <a:noFill/>
            </a:ln>
          </p:spPr>
          <p:txBody>
            <a:bodyPr wrap="none" lIns="0" tIns="0" rIns="0" bIns="0" anchor="t" anchorCtr="0">
              <a:spAutoFit/>
            </a:bodyPr>
            <a:lstStyle/>
            <a:p>
              <a:pPr algn="l"/>
              <a:r>
                <a:rPr lang="tr-TR" sz="1200" b="1" dirty="0">
                  <a:solidFill>
                    <a:srgbClr val="2E86AB"/>
                  </a:solidFill>
                  <a:latin typeface="+mn-lt"/>
                  <a:ea typeface="+mn-ea"/>
                  <a:cs typeface="+mn-cs"/>
                </a:rPr>
                <a:t>FK yazar_id → yazar</a:t>
              </a:r>
            </a:p>
          </p:txBody>
        </p:sp>
      </p:grpSp>
      <p:sp>
        <p:nvSpPr>
          <p:cNvPr id="28" name="Line 28"/>
          <p:cNvSpPr/>
          <p:nvPr/>
        </p:nvSpPr>
        <p:spPr>
          <a:xfrm>
            <a:off x="7639050" y="2381250"/>
            <a:ext cx="1009650" cy="1"/>
          </a:xfrm>
          <a:prstGeom prst="line">
            <a:avLst/>
          </a:prstGeom>
          <a:noFill/>
          <a:ln w="23812">
            <a:solidFill>
              <a:srgbClr val="00A6A6"/>
            </a:solidFill>
            <a:tailEnd type="arrow" w="lg" len="lg"/>
          </a:ln>
        </p:spPr>
      </p:sp>
      <p:sp>
        <p:nvSpPr>
          <p:cNvPr id="29" name="TextBox 29"/>
          <p:cNvSpPr txBox="1"/>
          <p:nvPr/>
        </p:nvSpPr>
        <p:spPr>
          <a:xfrm>
            <a:off x="7766304" y="2137410"/>
            <a:ext cx="396240"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1 — N</a:t>
            </a:r>
          </a:p>
        </p:txBody>
      </p:sp>
      <p:grpSp>
        <p:nvGrpSpPr>
          <p:cNvPr id="36" name="tbl-odunc"/>
          <p:cNvGrpSpPr/>
          <p:nvPr/>
        </p:nvGrpSpPr>
        <p:grpSpPr>
          <a:xfrm>
            <a:off x="8724900" y="1333500"/>
            <a:ext cx="2857500" cy="2095500"/>
            <a:chOff x="8724900" y="1333500"/>
            <a:chExt cx="2857500" cy="2095500"/>
          </a:xfrm>
        </p:grpSpPr>
        <p:sp>
          <p:nvSpPr>
            <p:cNvPr id="30" name="Rectangle 30"/>
            <p:cNvSpPr/>
            <p:nvPr/>
          </p:nvSpPr>
          <p:spPr>
            <a:xfrm>
              <a:off x="8724900" y="1333500"/>
              <a:ext cx="2857500" cy="2095500"/>
            </a:xfrm>
            <a:prstGeom prst="roundRect">
              <a:avLst>
                <a:gd name="adj" fmla="val 4545"/>
              </a:avLst>
            </a:prstGeom>
            <a:solidFill>
              <a:srgbClr val="FFFFFF"/>
            </a:solidFill>
            <a:ln w="14288">
              <a:solidFill>
                <a:srgbClr val="2E86AB"/>
              </a:solidFill>
            </a:ln>
          </p:spPr>
        </p:sp>
        <p:sp>
          <p:nvSpPr>
            <p:cNvPr id="31" name="Rectangle 31"/>
            <p:cNvSpPr/>
            <p:nvPr/>
          </p:nvSpPr>
          <p:spPr>
            <a:xfrm>
              <a:off x="8724900" y="1333500"/>
              <a:ext cx="2857500" cy="381000"/>
            </a:xfrm>
            <a:prstGeom prst="roundRect">
              <a:avLst>
                <a:gd name="adj" fmla="val 25000"/>
              </a:avLst>
            </a:prstGeom>
            <a:solidFill>
              <a:srgbClr val="12355B"/>
            </a:solidFill>
            <a:ln>
              <a:noFill/>
            </a:ln>
          </p:spPr>
        </p:sp>
        <p:sp>
          <p:nvSpPr>
            <p:cNvPr id="32" name="TextBox 32"/>
            <p:cNvSpPr txBox="1"/>
            <p:nvPr/>
          </p:nvSpPr>
          <p:spPr>
            <a:xfrm>
              <a:off x="8907399" y="1411129"/>
              <a:ext cx="630172" cy="308039"/>
            </a:xfrm>
            <a:prstGeom prst="rect">
              <a:avLst/>
            </a:prstGeom>
            <a:noFill/>
            <a:ln>
              <a:noFill/>
            </a:ln>
          </p:spPr>
          <p:txBody>
            <a:bodyPr wrap="none" lIns="0" tIns="0" rIns="0" bIns="0" anchor="t" anchorCtr="0">
              <a:spAutoFit/>
            </a:bodyPr>
            <a:lstStyle/>
            <a:p>
              <a:pPr algn="l"/>
              <a:r>
                <a:rPr lang="tr-TR" sz="1580" b="1" dirty="0">
                  <a:solidFill>
                    <a:srgbClr val="FFFFFF"/>
                  </a:solidFill>
                  <a:latin typeface="+mn-lt"/>
                  <a:ea typeface="+mn-ea"/>
                  <a:cs typeface="+mn-cs"/>
                </a:rPr>
                <a:t>odunc</a:t>
              </a:r>
            </a:p>
          </p:txBody>
        </p:sp>
        <p:sp>
          <p:nvSpPr>
            <p:cNvPr id="33" name="TextBox 33"/>
            <p:cNvSpPr txBox="1"/>
            <p:nvPr/>
          </p:nvSpPr>
          <p:spPr>
            <a:xfrm>
              <a:off x="8909304" y="1889760"/>
              <a:ext cx="404641" cy="234696"/>
            </a:xfrm>
            <a:prstGeom prst="rect">
              <a:avLst/>
            </a:prstGeom>
            <a:noFill/>
            <a:ln>
              <a:noFill/>
            </a:ln>
          </p:spPr>
          <p:txBody>
            <a:bodyPr wrap="none" lIns="0" tIns="0" rIns="0" bIns="0" anchor="t" anchorCtr="0">
              <a:spAutoFit/>
            </a:bodyPr>
            <a:lstStyle/>
            <a:p>
              <a:pPr algn="l"/>
              <a:r>
                <a:rPr lang="tr-TR" sz="1200" b="1" dirty="0">
                  <a:solidFill>
                    <a:srgbClr val="00A6A6"/>
                  </a:solidFill>
                  <a:latin typeface="+mn-lt"/>
                  <a:ea typeface="+mn-ea"/>
                  <a:cs typeface="+mn-cs"/>
                </a:rPr>
                <a:t>PK id</a:t>
              </a:r>
            </a:p>
          </p:txBody>
        </p:sp>
        <p:sp>
          <p:nvSpPr>
            <p:cNvPr id="34" name="TextBox 34"/>
            <p:cNvSpPr txBox="1"/>
            <p:nvPr/>
          </p:nvSpPr>
          <p:spPr>
            <a:xfrm>
              <a:off x="8909304" y="2137410"/>
              <a:ext cx="1542578" cy="234696"/>
            </a:xfrm>
            <a:prstGeom prst="rect">
              <a:avLst/>
            </a:prstGeom>
            <a:noFill/>
            <a:ln>
              <a:noFill/>
            </a:ln>
          </p:spPr>
          <p:txBody>
            <a:bodyPr wrap="none" lIns="0" tIns="0" rIns="0" bIns="0" anchor="t" anchorCtr="0">
              <a:spAutoFit/>
            </a:bodyPr>
            <a:lstStyle/>
            <a:p>
              <a:pPr algn="l"/>
              <a:r>
                <a:rPr lang="tr-TR" sz="1200" b="1" dirty="0">
                  <a:solidFill>
                    <a:srgbClr val="2E86AB"/>
                  </a:solidFill>
                  <a:latin typeface="+mn-lt"/>
                  <a:ea typeface="+mn-ea"/>
                  <a:cs typeface="+mn-cs"/>
                </a:rPr>
                <a:t>FK kitap_id → kitap</a:t>
              </a:r>
            </a:p>
          </p:txBody>
        </p:sp>
        <p:sp>
          <p:nvSpPr>
            <p:cNvPr id="35" name="TextBox 35"/>
            <p:cNvSpPr txBox="1"/>
            <p:nvPr/>
          </p:nvSpPr>
          <p:spPr>
            <a:xfrm>
              <a:off x="8909304" y="2385060"/>
              <a:ext cx="1991106"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odunc_tarihi, iade_tarihi</a:t>
              </a:r>
            </a:p>
          </p:txBody>
        </p:sp>
      </p:grpSp>
      <p:grpSp>
        <p:nvGrpSpPr>
          <p:cNvPr id="41" name="notes-block"/>
          <p:cNvGrpSpPr/>
          <p:nvPr/>
        </p:nvGrpSpPr>
        <p:grpSpPr>
          <a:xfrm>
            <a:off x="600456" y="3844290"/>
            <a:ext cx="10062425" cy="1075278"/>
            <a:chOff x="600456" y="3844290"/>
            <a:chExt cx="10062425" cy="1075278"/>
          </a:xfrm>
        </p:grpSpPr>
        <p:sp>
          <p:nvSpPr>
            <p:cNvPr id="37" name="TextBox 37"/>
            <p:cNvSpPr txBox="1"/>
            <p:nvPr/>
          </p:nvSpPr>
          <p:spPr>
            <a:xfrm>
              <a:off x="600456" y="3844290"/>
              <a:ext cx="2468966"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Diyagramın okunuşu</a:t>
              </a:r>
            </a:p>
          </p:txBody>
        </p:sp>
        <p:sp>
          <p:nvSpPr>
            <p:cNvPr id="38" name="TextBox 38"/>
            <p:cNvSpPr txBox="1"/>
            <p:nvPr/>
          </p:nvSpPr>
          <p:spPr>
            <a:xfrm>
              <a:off x="601599" y="4154329"/>
              <a:ext cx="10061282"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Her ok, "bir" tarafındaki PK'den "çok" tarafındaki FK'ye doğru çizilir: bir yazarın birden fazla</a:t>
              </a:r>
            </a:p>
          </p:txBody>
        </p:sp>
        <p:sp>
          <p:nvSpPr>
            <p:cNvPr id="39" name="TextBox 39"/>
            <p:cNvSpPr txBox="1"/>
            <p:nvPr/>
          </p:nvSpPr>
          <p:spPr>
            <a:xfrm>
              <a:off x="601599" y="4382929"/>
              <a:ext cx="9293634"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kitabı, bir kitabın birden fazla ödünç kaydı olabilir. Bu 1–N zincirleri, bölüm 7'de işlenen</a:t>
              </a:r>
            </a:p>
          </p:txBody>
        </p:sp>
        <p:sp>
          <p:nvSpPr>
            <p:cNvPr id="40" name="TextBox 40"/>
            <p:cNvSpPr txBox="1"/>
            <p:nvPr/>
          </p:nvSpPr>
          <p:spPr>
            <a:xfrm>
              <a:off x="601599" y="4611529"/>
              <a:ext cx="8435357"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JOIN, constraint ve transaction konularının üzerine kurulacağı somut şemadır.</a:t>
              </a:r>
            </a:p>
          </p:txBody>
        </p:sp>
      </p:grpSp>
      <p:grpSp>
        <p:nvGrpSpPr>
          <p:cNvPr id="46" name="attention-note"/>
          <p:cNvGrpSpPr/>
          <p:nvPr/>
        </p:nvGrpSpPr>
        <p:grpSpPr>
          <a:xfrm>
            <a:off x="609600" y="5334000"/>
            <a:ext cx="10972800" cy="762000"/>
            <a:chOff x="609600" y="5334000"/>
            <a:chExt cx="10972800" cy="762000"/>
          </a:xfrm>
        </p:grpSpPr>
        <p:sp>
          <p:nvSpPr>
            <p:cNvPr id="42" name="Rectangle 42"/>
            <p:cNvSpPr/>
            <p:nvPr/>
          </p:nvSpPr>
          <p:spPr>
            <a:xfrm>
              <a:off x="609600" y="5334000"/>
              <a:ext cx="10972800" cy="762000"/>
            </a:xfrm>
            <a:prstGeom prst="roundRect">
              <a:avLst>
                <a:gd name="adj" fmla="val 10000"/>
              </a:avLst>
            </a:prstGeom>
            <a:solidFill>
              <a:srgbClr val="EAF4F6"/>
            </a:solidFill>
            <a:ln>
              <a:noFill/>
            </a:ln>
          </p:spPr>
        </p:sp>
        <p:sp>
          <p:nvSpPr>
            <p:cNvPr id="43" name="Rectangle 43"/>
            <p:cNvSpPr/>
            <p:nvPr/>
          </p:nvSpPr>
          <p:spPr>
            <a:xfrm>
              <a:off x="609600" y="5334000"/>
              <a:ext cx="57150" cy="762000"/>
            </a:xfrm>
            <a:prstGeom prst="rect">
              <a:avLst/>
            </a:prstGeom>
            <a:solidFill>
              <a:srgbClr val="00A6A6"/>
            </a:solidFill>
            <a:ln>
              <a:noFill/>
            </a:ln>
          </p:spPr>
        </p:sp>
        <p:sp>
          <p:nvSpPr>
            <p:cNvPr id="44" name="TextBox 44"/>
            <p:cNvSpPr txBox="1"/>
            <p:nvPr/>
          </p:nvSpPr>
          <p:spPr>
            <a:xfrm>
              <a:off x="906399" y="5449729"/>
              <a:ext cx="2011716"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Neden bu üç tablo?</a:t>
              </a:r>
            </a:p>
          </p:txBody>
        </p:sp>
        <p:sp>
          <p:nvSpPr>
            <p:cNvPr id="45" name="TextBox 45"/>
            <p:cNvSpPr txBox="1"/>
            <p:nvPr/>
          </p:nvSpPr>
          <p:spPr>
            <a:xfrm>
              <a:off x="908304" y="5756910"/>
              <a:ext cx="8911182"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yazar/kitap/odunc zinciri, bölümdeki tüm kod örneklerinde (Kod 7.5–7.14) kullanılan ortak referans şemasıdır.</a:t>
              </a:r>
            </a:p>
          </p:txBody>
        </p:sp>
      </p:grpSp>
      <p:sp>
        <p:nvSpPr>
          <p:cNvPr id="47" name="TextBox 47"/>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11 / 26</a:t>
            </a:r>
          </a:p>
        </p:txBody>
      </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8058653" cy="668845"/>
            <a:chOff x="609600" y="171450"/>
            <a:chExt cx="8058653"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46456" y="319421"/>
                <a:ext cx="297777" cy="255830"/>
                <a:chOff x="746456" y="319421"/>
                <a:chExt cx="297777" cy="255830"/>
              </a:xfrm>
            </p:grpSpPr>
            <p:sp>
              <p:nvSpPr>
                <p:cNvPr id="5" name="Freeform 5"/>
                <p:cNvSpPr/>
                <p:nvPr/>
              </p:nvSpPr>
              <p:spPr>
                <a:xfrm>
                  <a:off x="895350" y="412909"/>
                  <a:ext cx="9525" cy="59055"/>
                </a:xfrm>
                <a:custGeom>
                  <a:avLst/>
                  <a:gdLst/>
                  <a:ahLst/>
                  <a:cxnLst/>
                  <a:rect l="l" t="t" r="r" b="b"/>
                  <a:pathLst>
                    <a:path w="9525" h="59055">
                      <a:moveTo>
                        <a:pt x="0" y="0"/>
                      </a:moveTo>
                      <a:lnTo>
                        <a:pt x="0" y="59055"/>
                      </a:lnTo>
                    </a:path>
                  </a:pathLst>
                </a:custGeom>
                <a:noFill/>
                <a:ln w="24759" cap="rnd">
                  <a:solidFill>
                    <a:srgbClr val="FFFFFF"/>
                  </a:solidFill>
                  <a:round/>
                </a:ln>
              </p:spPr>
            </p:sp>
            <p:sp>
              <p:nvSpPr>
                <p:cNvPr id="6" name="Freeform 6"/>
                <p:cNvSpPr/>
                <p:nvPr/>
              </p:nvSpPr>
              <p:spPr>
                <a:xfrm>
                  <a:off x="746456" y="319421"/>
                  <a:ext cx="297777" cy="255830"/>
                </a:xfrm>
                <a:custGeom>
                  <a:avLst/>
                  <a:gdLst/>
                  <a:ahLst/>
                  <a:cxnLst/>
                  <a:rect l="l" t="t" r="r" b="b"/>
                  <a:pathLst>
                    <a:path w="297777" h="255830">
                      <a:moveTo>
                        <a:pt x="124726" y="13630"/>
                      </a:moveTo>
                      <a:lnTo>
                        <a:pt x="5051" y="213443"/>
                      </a:lnTo>
                      <a:cubicBezTo>
                        <a:pt x="31" y="222137"/>
                        <a:pt x="0" y="232841"/>
                        <a:pt x="4970" y="241564"/>
                      </a:cubicBezTo>
                      <a:cubicBezTo>
                        <a:pt x="9941" y="250286"/>
                        <a:pt x="19166" y="255717"/>
                        <a:pt x="29204" y="255830"/>
                      </a:cubicBezTo>
                      <a:lnTo>
                        <a:pt x="268584" y="255830"/>
                      </a:lnTo>
                      <a:cubicBezTo>
                        <a:pt x="278618" y="255714"/>
                        <a:pt x="287838" y="250285"/>
                        <a:pt x="292807" y="241568"/>
                      </a:cubicBezTo>
                      <a:cubicBezTo>
                        <a:pt x="297777" y="232850"/>
                        <a:pt x="297750" y="222150"/>
                        <a:pt x="292737" y="213458"/>
                      </a:cubicBezTo>
                      <a:lnTo>
                        <a:pt x="173062" y="13615"/>
                      </a:lnTo>
                      <a:cubicBezTo>
                        <a:pt x="167941" y="5163"/>
                        <a:pt x="158777" y="0"/>
                        <a:pt x="148894" y="0"/>
                      </a:cubicBezTo>
                      <a:cubicBezTo>
                        <a:pt x="139011" y="0"/>
                        <a:pt x="129847" y="5163"/>
                        <a:pt x="124726" y="13615"/>
                      </a:cubicBezTo>
                    </a:path>
                  </a:pathLst>
                </a:custGeom>
                <a:noFill/>
                <a:ln w="24759" cap="rnd">
                  <a:solidFill>
                    <a:srgbClr val="FFFFFF"/>
                  </a:solidFill>
                  <a:round/>
                </a:ln>
              </p:spPr>
            </p:sp>
            <p:sp>
              <p:nvSpPr>
                <p:cNvPr id="7" name="Freeform 7"/>
                <p:cNvSpPr/>
                <p:nvPr/>
              </p:nvSpPr>
              <p:spPr>
                <a:xfrm>
                  <a:off x="895350" y="516255"/>
                  <a:ext cx="9525" cy="9525"/>
                </a:xfrm>
                <a:custGeom>
                  <a:avLst/>
                  <a:gdLst/>
                  <a:ahLst/>
                  <a:cxnLst/>
                  <a:rect l="l" t="t" r="r" b="b"/>
                  <a:pathLst>
                    <a:path w="9525" h="9525">
                      <a:moveTo>
                        <a:pt x="0" y="0"/>
                      </a:moveTo>
                      <a:lnTo>
                        <a:pt x="148" y="0"/>
                      </a:lnTo>
                    </a:path>
                  </a:pathLst>
                </a:custGeom>
                <a:noFill/>
                <a:ln w="24759" cap="rnd">
                  <a:solidFill>
                    <a:srgbClr val="FFFFFF"/>
                  </a:solidFill>
                  <a:round/>
                </a:ln>
              </p:spPr>
            </p:sp>
          </p:grpSp>
        </p:grpSp>
        <p:sp>
          <p:nvSpPr>
            <p:cNvPr id="10" name="TextBox 10"/>
            <p:cNvSpPr txBox="1"/>
            <p:nvPr/>
          </p:nvSpPr>
          <p:spPr>
            <a:xfrm>
              <a:off x="1299972" y="282892"/>
              <a:ext cx="7368281"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FK kurma ve yaygın tasarım hataları</a:t>
              </a:r>
            </a:p>
          </p:txBody>
        </p:sp>
      </p:grpSp>
      <p:grpSp>
        <p:nvGrpSpPr>
          <p:cNvPr id="13" name="code-caption"/>
          <p:cNvGrpSpPr/>
          <p:nvPr/>
        </p:nvGrpSpPr>
        <p:grpSpPr>
          <a:xfrm>
            <a:off x="601599" y="1163479"/>
            <a:ext cx="3848534" cy="308039"/>
            <a:chOff x="601599" y="1163479"/>
            <a:chExt cx="3848534" cy="308039"/>
          </a:xfrm>
        </p:grpSpPr>
        <p:sp>
          <p:nvSpPr>
            <p:cNvPr id="12" name="TextBox 12"/>
            <p:cNvSpPr txBox="1"/>
            <p:nvPr/>
          </p:nvSpPr>
          <p:spPr>
            <a:xfrm>
              <a:off x="601599" y="1163479"/>
              <a:ext cx="3848534"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Kod 7.5: ALTER TABLE ile FK ekleme</a:t>
              </a:r>
            </a:p>
          </p:txBody>
        </p:sp>
      </p:grpSp>
      <p:grpSp>
        <p:nvGrpSpPr>
          <p:cNvPr id="16" name="code-left"/>
          <p:cNvGrpSpPr/>
          <p:nvPr/>
        </p:nvGrpSpPr>
        <p:grpSpPr>
          <a:xfrm>
            <a:off x="609600" y="1447800"/>
            <a:ext cx="5334000" cy="3238500"/>
            <a:chOff x="609600" y="1447800"/>
            <a:chExt cx="5334000" cy="3238500"/>
          </a:xfrm>
        </p:grpSpPr>
        <p:sp>
          <p:nvSpPr>
            <p:cNvPr id="14" name="Rectangle 14"/>
            <p:cNvSpPr/>
            <p:nvPr/>
          </p:nvSpPr>
          <p:spPr>
            <a:xfrm>
              <a:off x="609600" y="1447800"/>
              <a:ext cx="5334000" cy="3238500"/>
            </a:xfrm>
            <a:prstGeom prst="roundRect">
              <a:avLst>
                <a:gd name="adj" fmla="val 2353"/>
              </a:avLst>
            </a:prstGeom>
            <a:solidFill>
              <a:srgbClr val="0B2038"/>
            </a:solidFill>
            <a:ln>
              <a:noFill/>
            </a:ln>
          </p:spPr>
        </p:sp>
        <p:sp>
          <p:nvSpPr>
            <p:cNvPr id="15" name="TextBox 15"/>
            <p:cNvSpPr txBox="1"/>
            <p:nvPr/>
          </p:nvSpPr>
          <p:spPr>
            <a:xfrm>
              <a:off x="795147" y="1628299"/>
              <a:ext cx="1995043" cy="1771840"/>
            </a:xfrm>
            <a:prstGeom prst="rect">
              <a:avLst/>
            </a:prstGeom>
            <a:noFill/>
            <a:ln>
              <a:noFill/>
            </a:ln>
          </p:spPr>
          <p:txBody>
            <a:bodyPr wrap="none" lIns="0" tIns="0" rIns="0" bIns="0" anchor="t" anchorCtr="0">
              <a:spAutoFit/>
            </a:bodyPr>
            <a:lstStyle/>
            <a:p>
              <a:pPr algn="l">
                <a:lnSpc>
                  <a:spcPts val="1350"/>
                </a:lnSpc>
              </a:pPr>
              <a:r>
                <a:rPr lang="tr-TR" sz="980" dirty="0">
                  <a:solidFill>
                    <a:srgbClr val="EAF4F6"/>
                  </a:solidFill>
                  <a:latin typeface="Consolas"/>
                  <a:ea typeface="Consolas"/>
                  <a:cs typeface="Consolas"/>
                </a:rPr>
                <a:t>ALTER TABLE kitap</a:t>
              </a:r>
              <a:br/>
              <a:r>
                <a:rPr lang="tr-TR" sz="980" dirty="0">
                  <a:solidFill>
                    <a:srgbClr val="EAF4F6"/>
                  </a:solidFill>
                  <a:latin typeface="Consolas"/>
                  <a:ea typeface="Consolas"/>
                  <a:cs typeface="Consolas"/>
                </a:rPr>
                <a:t>ADD COLUMN yazar_id INTEGER;</a:t>
              </a:r>
            </a:p>
            <a:p>
              <a:pPr algn="l">
                <a:lnSpc>
                  <a:spcPts val="1350"/>
                </a:lnSpc>
                <a:spcBef>
                  <a:spcPts val="150"/>
                </a:spcBef>
              </a:pPr>
              <a:r>
                <a:rPr lang="tr-TR" sz="980" dirty="0">
                  <a:solidFill>
                    <a:srgbClr val="EAF4F6"/>
                  </a:solidFill>
                  <a:latin typeface="Consolas"/>
                  <a:ea typeface="Consolas"/>
                  <a:cs typeface="Consolas"/>
                </a:rPr>
                <a:t>ALTER TABLE kitap</a:t>
              </a:r>
              <a:br/>
              <a:r>
                <a:rPr lang="tr-TR" sz="980" dirty="0">
                  <a:solidFill>
                    <a:srgbClr val="EAF4F6"/>
                  </a:solidFill>
                  <a:latin typeface="Consolas"/>
                  <a:ea typeface="Consolas"/>
                  <a:cs typeface="Consolas"/>
                </a:rPr>
                <a:t>ADD CONSTRAINT fk_kitap_yazar</a:t>
              </a:r>
              <a:br/>
              <a:r>
                <a:rPr lang="tr-TR" sz="980" dirty="0">
                  <a:solidFill>
                    <a:srgbClr val="EAF4F6"/>
                  </a:solidFill>
                  <a:latin typeface="Consolas"/>
                  <a:ea typeface="Consolas"/>
                  <a:cs typeface="Consolas"/>
                </a:rPr>
                <a:t>FOREIGN KEY (yazar_id)</a:t>
              </a:r>
              <a:br/>
              <a:r>
                <a:rPr lang="tr-TR" sz="980" dirty="0">
                  <a:solidFill>
                    <a:srgbClr val="EAF4F6"/>
                  </a:solidFill>
                  <a:latin typeface="Consolas"/>
                  <a:ea typeface="Consolas"/>
                  <a:cs typeface="Consolas"/>
                </a:rPr>
                <a:t>REFERENCES yazar (id);</a:t>
              </a:r>
            </a:p>
            <a:p>
              <a:pPr algn="l">
                <a:lnSpc>
                  <a:spcPts val="1350"/>
                </a:lnSpc>
                <a:spcBef>
                  <a:spcPts val="150"/>
                </a:spcBef>
              </a:pPr>
              <a:r>
                <a:rPr lang="tr-TR" sz="980" dirty="0">
                  <a:solidFill>
                    <a:srgbClr val="EAF4F6"/>
                  </a:solidFill>
                  <a:latin typeface="Consolas"/>
                  <a:ea typeface="Consolas"/>
                  <a:cs typeface="Consolas"/>
                </a:rPr>
                <a:t>-- Kod 7.6: id döndürme</a:t>
              </a:r>
              <a:br/>
              <a:r>
                <a:rPr lang="tr-TR" sz="980" dirty="0">
                  <a:solidFill>
                    <a:srgbClr val="EAF4F6"/>
                  </a:solidFill>
                  <a:latin typeface="Consolas"/>
                  <a:ea typeface="Consolas"/>
                  <a:cs typeface="Consolas"/>
                </a:rPr>
                <a:t>INSERT INTO yazar (ad, soyad)</a:t>
              </a:r>
              <a:br/>
              <a:r>
                <a:rPr lang="tr-TR" sz="980" dirty="0">
                  <a:solidFill>
                    <a:srgbClr val="EAF4F6"/>
                  </a:solidFill>
                  <a:latin typeface="Consolas"/>
                  <a:ea typeface="Consolas"/>
                  <a:cs typeface="Consolas"/>
                </a:rPr>
                <a:t>VALUES ('Orhan', 'Pamuk')</a:t>
              </a:r>
              <a:br/>
              <a:r>
                <a:rPr lang="tr-TR" sz="980" dirty="0">
                  <a:solidFill>
                    <a:srgbClr val="EAF4F6"/>
                  </a:solidFill>
                  <a:latin typeface="Consolas"/>
                  <a:ea typeface="Consolas"/>
                  <a:cs typeface="Consolas"/>
                </a:rPr>
                <a:t>RETURNING id;</a:t>
              </a:r>
            </a:p>
          </p:txBody>
        </p:sp>
      </p:grpSp>
      <p:grpSp>
        <p:nvGrpSpPr>
          <p:cNvPr id="36" name="right-block"/>
          <p:cNvGrpSpPr/>
          <p:nvPr/>
        </p:nvGrpSpPr>
        <p:grpSpPr>
          <a:xfrm>
            <a:off x="6429756" y="1139190"/>
            <a:ext cx="5152644" cy="3394710"/>
            <a:chOff x="6429756" y="1139190"/>
            <a:chExt cx="5152644" cy="3394710"/>
          </a:xfrm>
        </p:grpSpPr>
        <p:sp>
          <p:nvSpPr>
            <p:cNvPr id="17" name="TextBox 17"/>
            <p:cNvSpPr txBox="1"/>
            <p:nvPr/>
          </p:nvSpPr>
          <p:spPr>
            <a:xfrm>
              <a:off x="6429756" y="1139190"/>
              <a:ext cx="4419286"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Kod 7.11–7.12: Sık görülen hatalar</a:t>
              </a:r>
            </a:p>
          </p:txBody>
        </p:sp>
        <p:grpSp>
          <p:nvGrpSpPr>
            <p:cNvPr id="23" name="mistake-1"/>
            <p:cNvGrpSpPr/>
            <p:nvPr/>
          </p:nvGrpSpPr>
          <p:grpSpPr>
            <a:xfrm>
              <a:off x="6438900" y="1562100"/>
              <a:ext cx="5143500" cy="914400"/>
              <a:chOff x="6438900" y="1562100"/>
              <a:chExt cx="5143500" cy="914400"/>
            </a:xfrm>
          </p:grpSpPr>
          <p:sp>
            <p:nvSpPr>
              <p:cNvPr id="18" name="Rectangle 18"/>
              <p:cNvSpPr/>
              <p:nvPr/>
            </p:nvSpPr>
            <p:spPr>
              <a:xfrm>
                <a:off x="6438900" y="1562100"/>
                <a:ext cx="5143500" cy="914400"/>
              </a:xfrm>
              <a:prstGeom prst="roundRect">
                <a:avLst>
                  <a:gd name="adj" fmla="val 8333"/>
                </a:avLst>
              </a:prstGeom>
              <a:solidFill>
                <a:srgbClr val="FFFFFF"/>
              </a:solidFill>
              <a:ln w="14288">
                <a:solidFill>
                  <a:srgbClr val="B8CBD3"/>
                </a:solidFill>
              </a:ln>
            </p:spPr>
          </p:sp>
          <p:sp>
            <p:nvSpPr>
              <p:cNvPr id="19" name="Rectangle 19"/>
              <p:cNvSpPr/>
              <p:nvPr/>
            </p:nvSpPr>
            <p:spPr>
              <a:xfrm>
                <a:off x="6438900" y="1562100"/>
                <a:ext cx="57150" cy="914400"/>
              </a:xfrm>
              <a:prstGeom prst="rect">
                <a:avLst/>
              </a:prstGeom>
              <a:solidFill>
                <a:srgbClr val="00A6A6"/>
              </a:solidFill>
              <a:ln>
                <a:noFill/>
              </a:ln>
            </p:spPr>
          </p:sp>
          <p:sp>
            <p:nvSpPr>
              <p:cNvPr id="20" name="TextBox 20"/>
              <p:cNvSpPr txBox="1"/>
              <p:nvPr/>
            </p:nvSpPr>
            <p:spPr>
              <a:xfrm>
                <a:off x="6661404" y="1699260"/>
                <a:ext cx="3481270"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FK sütununu unutup düz INTEGER bırakmak</a:t>
                </a:r>
              </a:p>
            </p:txBody>
          </p:sp>
          <p:sp>
            <p:nvSpPr>
              <p:cNvPr id="21" name="TextBox 21"/>
              <p:cNvSpPr txBox="1"/>
              <p:nvPr/>
            </p:nvSpPr>
            <p:spPr>
              <a:xfrm>
                <a:off x="6661404" y="1927860"/>
                <a:ext cx="3385832"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Kısıt tanımlanmazsa var olmayan yazar_id</a:t>
                </a:r>
              </a:p>
            </p:txBody>
          </p:sp>
          <p:sp>
            <p:nvSpPr>
              <p:cNvPr id="22" name="TextBox 22"/>
              <p:cNvSpPr txBox="1"/>
              <p:nvPr/>
            </p:nvSpPr>
            <p:spPr>
              <a:xfrm>
                <a:off x="6661404" y="2137410"/>
                <a:ext cx="212841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değeri sessizce kaydedilir.</a:t>
                </a:r>
              </a:p>
            </p:txBody>
          </p:sp>
        </p:grpSp>
        <p:grpSp>
          <p:nvGrpSpPr>
            <p:cNvPr id="29" name="mistake-2"/>
            <p:cNvGrpSpPr/>
            <p:nvPr/>
          </p:nvGrpSpPr>
          <p:grpSpPr>
            <a:xfrm>
              <a:off x="6438900" y="2590800"/>
              <a:ext cx="5143500" cy="914400"/>
              <a:chOff x="6438900" y="2590800"/>
              <a:chExt cx="5143500" cy="914400"/>
            </a:xfrm>
          </p:grpSpPr>
          <p:sp>
            <p:nvSpPr>
              <p:cNvPr id="24" name="Rectangle 24"/>
              <p:cNvSpPr/>
              <p:nvPr/>
            </p:nvSpPr>
            <p:spPr>
              <a:xfrm>
                <a:off x="6438900" y="2590800"/>
                <a:ext cx="5143500" cy="914400"/>
              </a:xfrm>
              <a:prstGeom prst="roundRect">
                <a:avLst>
                  <a:gd name="adj" fmla="val 8333"/>
                </a:avLst>
              </a:prstGeom>
              <a:solidFill>
                <a:srgbClr val="FFFFFF"/>
              </a:solidFill>
              <a:ln w="14288">
                <a:solidFill>
                  <a:srgbClr val="B8CBD3"/>
                </a:solidFill>
              </a:ln>
            </p:spPr>
          </p:sp>
          <p:sp>
            <p:nvSpPr>
              <p:cNvPr id="25" name="Rectangle 25"/>
              <p:cNvSpPr/>
              <p:nvPr/>
            </p:nvSpPr>
            <p:spPr>
              <a:xfrm>
                <a:off x="6438900" y="2590800"/>
                <a:ext cx="57150" cy="914400"/>
              </a:xfrm>
              <a:prstGeom prst="rect">
                <a:avLst/>
              </a:prstGeom>
              <a:solidFill>
                <a:srgbClr val="00A6A6"/>
              </a:solidFill>
              <a:ln>
                <a:noFill/>
              </a:ln>
            </p:spPr>
          </p:sp>
          <p:sp>
            <p:nvSpPr>
              <p:cNvPr id="26" name="TextBox 26"/>
              <p:cNvSpPr txBox="1"/>
              <p:nvPr/>
            </p:nvSpPr>
            <p:spPr>
              <a:xfrm>
                <a:off x="6661404" y="2727960"/>
                <a:ext cx="2884199"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Referans verilen kaydı önce silmek</a:t>
                </a:r>
              </a:p>
            </p:txBody>
          </p:sp>
          <p:sp>
            <p:nvSpPr>
              <p:cNvPr id="27" name="TextBox 27"/>
              <p:cNvSpPr txBox="1"/>
              <p:nvPr/>
            </p:nvSpPr>
            <p:spPr>
              <a:xfrm>
                <a:off x="6661404" y="2956560"/>
                <a:ext cx="3415780"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ON DELETE davranışı tanımlanmadan yazar</a:t>
                </a:r>
              </a:p>
            </p:txBody>
          </p:sp>
          <p:sp>
            <p:nvSpPr>
              <p:cNvPr id="28" name="TextBox 28"/>
              <p:cNvSpPr txBox="1"/>
              <p:nvPr/>
            </p:nvSpPr>
            <p:spPr>
              <a:xfrm>
                <a:off x="6661404" y="3166110"/>
                <a:ext cx="2798826"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silinirse veritabanı hata döndürür.</a:t>
                </a:r>
              </a:p>
            </p:txBody>
          </p:sp>
        </p:grpSp>
        <p:grpSp>
          <p:nvGrpSpPr>
            <p:cNvPr id="35" name="mistake-3"/>
            <p:cNvGrpSpPr/>
            <p:nvPr/>
          </p:nvGrpSpPr>
          <p:grpSpPr>
            <a:xfrm>
              <a:off x="6438900" y="3619500"/>
              <a:ext cx="5143500" cy="914400"/>
              <a:chOff x="6438900" y="3619500"/>
              <a:chExt cx="5143500" cy="914400"/>
            </a:xfrm>
          </p:grpSpPr>
          <p:sp>
            <p:nvSpPr>
              <p:cNvPr id="30" name="Rectangle 30"/>
              <p:cNvSpPr/>
              <p:nvPr/>
            </p:nvSpPr>
            <p:spPr>
              <a:xfrm>
                <a:off x="6438900" y="3619500"/>
                <a:ext cx="5143500" cy="914400"/>
              </a:xfrm>
              <a:prstGeom prst="roundRect">
                <a:avLst>
                  <a:gd name="adj" fmla="val 8333"/>
                </a:avLst>
              </a:prstGeom>
              <a:solidFill>
                <a:srgbClr val="FFFFFF"/>
              </a:solidFill>
              <a:ln w="14288">
                <a:solidFill>
                  <a:srgbClr val="B8CBD3"/>
                </a:solidFill>
              </a:ln>
            </p:spPr>
          </p:sp>
          <p:sp>
            <p:nvSpPr>
              <p:cNvPr id="31" name="Rectangle 31"/>
              <p:cNvSpPr/>
              <p:nvPr/>
            </p:nvSpPr>
            <p:spPr>
              <a:xfrm>
                <a:off x="6438900" y="3619500"/>
                <a:ext cx="57150" cy="914400"/>
              </a:xfrm>
              <a:prstGeom prst="rect">
                <a:avLst/>
              </a:prstGeom>
              <a:solidFill>
                <a:srgbClr val="00A6A6"/>
              </a:solidFill>
              <a:ln>
                <a:noFill/>
              </a:ln>
            </p:spPr>
          </p:sp>
          <p:sp>
            <p:nvSpPr>
              <p:cNvPr id="32" name="TextBox 32"/>
              <p:cNvSpPr txBox="1"/>
              <p:nvPr/>
            </p:nvSpPr>
            <p:spPr>
              <a:xfrm>
                <a:off x="6661404" y="3756660"/>
                <a:ext cx="3852746"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RETURNING kullanmadan yeni id'yi tahmin etmek</a:t>
                </a:r>
              </a:p>
            </p:txBody>
          </p:sp>
          <p:sp>
            <p:nvSpPr>
              <p:cNvPr id="33" name="TextBox 33"/>
              <p:cNvSpPr txBox="1"/>
              <p:nvPr/>
            </p:nvSpPr>
            <p:spPr>
              <a:xfrm>
                <a:off x="6661404" y="3985260"/>
                <a:ext cx="3320821"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Eşzamanlı eklemelerde sıradaki id garanti</a:t>
                </a:r>
              </a:p>
            </p:txBody>
          </p:sp>
          <p:sp>
            <p:nvSpPr>
              <p:cNvPr id="34" name="TextBox 34"/>
              <p:cNvSpPr txBox="1"/>
              <p:nvPr/>
            </p:nvSpPr>
            <p:spPr>
              <a:xfrm>
                <a:off x="6661404" y="4194810"/>
                <a:ext cx="359743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edilemez; RETURNING ile id doğrudan alınmalı.</a:t>
                </a:r>
              </a:p>
            </p:txBody>
          </p:sp>
        </p:grpSp>
      </p:grpSp>
      <p:grpSp>
        <p:nvGrpSpPr>
          <p:cNvPr id="39" name="anahtar-block"/>
          <p:cNvGrpSpPr/>
          <p:nvPr/>
        </p:nvGrpSpPr>
        <p:grpSpPr>
          <a:xfrm>
            <a:off x="600456" y="4911090"/>
            <a:ext cx="9297670" cy="1075277"/>
            <a:chOff x="600456" y="4911090"/>
            <a:chExt cx="9297670" cy="1075277"/>
          </a:xfrm>
        </p:grpSpPr>
        <p:sp>
          <p:nvSpPr>
            <p:cNvPr id="37" name="TextBox 37"/>
            <p:cNvSpPr txBox="1"/>
            <p:nvPr/>
          </p:nvSpPr>
          <p:spPr>
            <a:xfrm>
              <a:off x="600456" y="4911090"/>
              <a:ext cx="4543267"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Ne zaman / hangi anahtar stratejisi?</a:t>
              </a:r>
            </a:p>
          </p:txBody>
        </p:sp>
        <p:sp>
          <p:nvSpPr>
            <p:cNvPr id="38" name="TextBox 38"/>
            <p:cNvSpPr txBox="1"/>
            <p:nvPr/>
          </p:nvSpPr>
          <p:spPr>
            <a:xfrm>
              <a:off x="601599" y="5221129"/>
              <a:ext cx="9296527" cy="765238"/>
            </a:xfrm>
            <a:prstGeom prst="rect">
              <a:avLst/>
            </a:prstGeom>
            <a:noFill/>
            <a:ln>
              <a:noFill/>
            </a:ln>
          </p:spPr>
          <p:txBody>
            <a:bodyPr wrap="none" lIns="0" tIns="0" rIns="0" bIns="0" anchor="t" anchorCtr="0">
              <a:spAutoFit/>
            </a:bodyPr>
            <a:lstStyle/>
            <a:p>
              <a:pPr algn="l">
                <a:lnSpc>
                  <a:spcPts val="1800"/>
                </a:lnSpc>
              </a:pPr>
              <a:r>
                <a:rPr lang="tr-TR" sz="1580" dirty="0">
                  <a:solidFill>
                    <a:srgbClr val="172B3A"/>
                  </a:solidFill>
                  <a:latin typeface="+mn-lt"/>
                  <a:ea typeface="+mn-ea"/>
                  <a:cs typeface="+mn-cs"/>
                </a:rPr>
                <a:t>SERIAL/IDENTITY tabanlı sayısal PK çoğu senaryoda yeterlidir; dağıtık sistemlerde çakışmasız</a:t>
              </a:r>
              <a:br/>
              <a:r>
                <a:rPr lang="tr-TR" sz="1580" dirty="0">
                  <a:solidFill>
                    <a:srgbClr val="172B3A"/>
                  </a:solidFill>
                  <a:latin typeface="+mn-lt"/>
                  <a:ea typeface="+mn-ea"/>
                  <a:cs typeface="+mn-cs"/>
                </a:rPr>
                <a:t>üretim gerekiyorsa UUID tercih edilir. Doğal anahtar (ör. TC kimlik no) değişebileceğinden</a:t>
              </a:r>
              <a:br/>
              <a:r>
                <a:rPr lang="tr-TR" sz="1580" dirty="0">
                  <a:solidFill>
                    <a:srgbClr val="172B3A"/>
                  </a:solidFill>
                  <a:latin typeface="+mn-lt"/>
                  <a:ea typeface="+mn-ea"/>
                  <a:cs typeface="+mn-cs"/>
                </a:rPr>
                <a:t>PK olarak önerilmez.</a:t>
              </a:r>
            </a:p>
          </p:txBody>
        </p:sp>
      </p:grpSp>
      <p:sp>
        <p:nvSpPr>
          <p:cNvPr id="40" name="TextBox 40"/>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12 / 26</a:t>
            </a:r>
          </a:p>
        </p:txBody>
      </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7172020" cy="557403"/>
            <a:chOff x="595122" y="282892"/>
            <a:chExt cx="7172020" cy="557403"/>
          </a:xfrm>
        </p:grpSpPr>
        <p:sp>
          <p:nvSpPr>
            <p:cNvPr id="4" name="TextBox 4"/>
            <p:cNvSpPr txBox="1"/>
            <p:nvPr/>
          </p:nvSpPr>
          <p:spPr>
            <a:xfrm>
              <a:off x="595122" y="282892"/>
              <a:ext cx="7172020"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Anahtar stratejileri: karşılaştırma</a:t>
              </a:r>
            </a:p>
          </p:txBody>
        </p:sp>
      </p:grpSp>
      <p:grpSp>
        <p:nvGrpSpPr>
          <p:cNvPr id="11" name="matrix-header"/>
          <p:cNvGrpSpPr/>
          <p:nvPr/>
        </p:nvGrpSpPr>
        <p:grpSpPr>
          <a:xfrm>
            <a:off x="609600" y="1333500"/>
            <a:ext cx="10972800" cy="342900"/>
            <a:chOff x="609600" y="1333500"/>
            <a:chExt cx="10972800" cy="342900"/>
          </a:xfrm>
        </p:grpSpPr>
        <p:sp>
          <p:nvSpPr>
            <p:cNvPr id="6" name="Rectangle 6"/>
            <p:cNvSpPr/>
            <p:nvPr/>
          </p:nvSpPr>
          <p:spPr>
            <a:xfrm>
              <a:off x="609600" y="1333500"/>
              <a:ext cx="10972800" cy="342900"/>
            </a:xfrm>
            <a:prstGeom prst="rect">
              <a:avLst/>
            </a:prstGeom>
            <a:solidFill>
              <a:srgbClr val="12355B"/>
            </a:solidFill>
            <a:ln>
              <a:noFill/>
            </a:ln>
          </p:spPr>
        </p:sp>
        <p:sp>
          <p:nvSpPr>
            <p:cNvPr id="7" name="TextBox 7"/>
            <p:cNvSpPr txBox="1"/>
            <p:nvPr/>
          </p:nvSpPr>
          <p:spPr>
            <a:xfrm>
              <a:off x="756285" y="1431131"/>
              <a:ext cx="822113" cy="220028"/>
            </a:xfrm>
            <a:prstGeom prst="rect">
              <a:avLst/>
            </a:prstGeom>
            <a:noFill/>
            <a:ln>
              <a:noFill/>
            </a:ln>
          </p:spPr>
          <p:txBody>
            <a:bodyPr wrap="none" lIns="0" tIns="0" rIns="0" bIns="0" anchor="t" anchorCtr="0">
              <a:spAutoFit/>
            </a:bodyPr>
            <a:lstStyle/>
            <a:p>
              <a:pPr algn="l"/>
              <a:r>
                <a:rPr lang="tr-TR" sz="1120" b="1" spc="75" dirty="0">
                  <a:solidFill>
                    <a:srgbClr val="FFFFFF"/>
                  </a:solidFill>
                  <a:latin typeface="+mn-lt"/>
                  <a:ea typeface="+mn-ea"/>
                  <a:cs typeface="+mn-cs"/>
                </a:rPr>
                <a:t>STRATEJİ</a:t>
              </a:r>
            </a:p>
          </p:txBody>
        </p:sp>
        <p:sp>
          <p:nvSpPr>
            <p:cNvPr id="8" name="TextBox 8"/>
            <p:cNvSpPr txBox="1"/>
            <p:nvPr/>
          </p:nvSpPr>
          <p:spPr>
            <a:xfrm>
              <a:off x="3137535" y="1431131"/>
              <a:ext cx="719444" cy="220028"/>
            </a:xfrm>
            <a:prstGeom prst="rect">
              <a:avLst/>
            </a:prstGeom>
            <a:noFill/>
            <a:ln>
              <a:noFill/>
            </a:ln>
          </p:spPr>
          <p:txBody>
            <a:bodyPr wrap="none" lIns="0" tIns="0" rIns="0" bIns="0" anchor="t" anchorCtr="0">
              <a:spAutoFit/>
            </a:bodyPr>
            <a:lstStyle/>
            <a:p>
              <a:pPr algn="l"/>
              <a:r>
                <a:rPr lang="tr-TR" sz="1120" b="1" spc="75" dirty="0">
                  <a:solidFill>
                    <a:srgbClr val="FFFFFF"/>
                  </a:solidFill>
                  <a:latin typeface="+mn-lt"/>
                  <a:ea typeface="+mn-ea"/>
                  <a:cs typeface="+mn-cs"/>
                </a:rPr>
                <a:t>AVANTAJ</a:t>
              </a:r>
            </a:p>
          </p:txBody>
        </p:sp>
        <p:sp>
          <p:nvSpPr>
            <p:cNvPr id="9" name="TextBox 9"/>
            <p:cNvSpPr txBox="1"/>
            <p:nvPr/>
          </p:nvSpPr>
          <p:spPr>
            <a:xfrm>
              <a:off x="6280785" y="1431131"/>
              <a:ext cx="1027450" cy="220028"/>
            </a:xfrm>
            <a:prstGeom prst="rect">
              <a:avLst/>
            </a:prstGeom>
            <a:noFill/>
            <a:ln>
              <a:noFill/>
            </a:ln>
          </p:spPr>
          <p:txBody>
            <a:bodyPr wrap="none" lIns="0" tIns="0" rIns="0" bIns="0" anchor="t" anchorCtr="0">
              <a:spAutoFit/>
            </a:bodyPr>
            <a:lstStyle/>
            <a:p>
              <a:pPr algn="l"/>
              <a:r>
                <a:rPr lang="tr-TR" sz="1120" b="1" spc="75" dirty="0">
                  <a:solidFill>
                    <a:srgbClr val="FFFFFF"/>
                  </a:solidFill>
                  <a:latin typeface="+mn-lt"/>
                  <a:ea typeface="+mn-ea"/>
                  <a:cs typeface="+mn-cs"/>
                </a:rPr>
                <a:t>DEZAVANTAJ</a:t>
              </a:r>
            </a:p>
          </p:txBody>
        </p:sp>
        <p:sp>
          <p:nvSpPr>
            <p:cNvPr id="10" name="TextBox 10"/>
            <p:cNvSpPr txBox="1"/>
            <p:nvPr/>
          </p:nvSpPr>
          <p:spPr>
            <a:xfrm>
              <a:off x="9138285" y="1431131"/>
              <a:ext cx="1593281" cy="220028"/>
            </a:xfrm>
            <a:prstGeom prst="rect">
              <a:avLst/>
            </a:prstGeom>
            <a:noFill/>
            <a:ln>
              <a:noFill/>
            </a:ln>
          </p:spPr>
          <p:txBody>
            <a:bodyPr wrap="none" lIns="0" tIns="0" rIns="0" bIns="0" anchor="t" anchorCtr="0">
              <a:spAutoFit/>
            </a:bodyPr>
            <a:lstStyle/>
            <a:p>
              <a:pPr algn="l"/>
              <a:r>
                <a:rPr lang="tr-TR" sz="1120" b="1" spc="75" dirty="0">
                  <a:solidFill>
                    <a:srgbClr val="FFFFFF"/>
                  </a:solidFill>
                  <a:latin typeface="+mn-lt"/>
                  <a:ea typeface="+mn-ea"/>
                  <a:cs typeface="+mn-cs"/>
                </a:rPr>
                <a:t>NE ZAMAN TERCİH?</a:t>
              </a:r>
            </a:p>
          </p:txBody>
        </p:sp>
      </p:grpSp>
      <p:grpSp>
        <p:nvGrpSpPr>
          <p:cNvPr id="17" name="row-serial"/>
          <p:cNvGrpSpPr/>
          <p:nvPr/>
        </p:nvGrpSpPr>
        <p:grpSpPr>
          <a:xfrm>
            <a:off x="609600" y="1813560"/>
            <a:ext cx="10972800" cy="615315"/>
            <a:chOff x="609600" y="1813560"/>
            <a:chExt cx="10972800" cy="615315"/>
          </a:xfrm>
        </p:grpSpPr>
        <p:sp>
          <p:nvSpPr>
            <p:cNvPr id="12" name="TextBox 12"/>
            <p:cNvSpPr txBox="1"/>
            <p:nvPr/>
          </p:nvSpPr>
          <p:spPr>
            <a:xfrm>
              <a:off x="755904" y="1813560"/>
              <a:ext cx="636270" cy="406146"/>
            </a:xfrm>
            <a:prstGeom prst="rect">
              <a:avLst/>
            </a:prstGeom>
            <a:noFill/>
            <a:ln>
              <a:noFill/>
            </a:ln>
          </p:spPr>
          <p:txBody>
            <a:bodyPr wrap="none" lIns="0" tIns="0" rIns="0" bIns="0" anchor="t" anchorCtr="0">
              <a:spAutoFit/>
            </a:bodyPr>
            <a:lstStyle/>
            <a:p>
              <a:pPr algn="l">
                <a:lnSpc>
                  <a:spcPts val="1350"/>
                </a:lnSpc>
              </a:pPr>
              <a:r>
                <a:rPr lang="tr-TR" sz="1200" b="1" dirty="0">
                  <a:solidFill>
                    <a:srgbClr val="12355B"/>
                  </a:solidFill>
                  <a:latin typeface="+mn-lt"/>
                  <a:ea typeface="+mn-ea"/>
                  <a:cs typeface="+mn-cs"/>
                </a:rPr>
                <a:t>SERIAL /</a:t>
              </a:r>
              <a:br/>
              <a:r>
                <a:rPr lang="tr-TR" sz="1200" b="1" dirty="0">
                  <a:solidFill>
                    <a:srgbClr val="12355B"/>
                  </a:solidFill>
                  <a:latin typeface="+mn-lt"/>
                  <a:ea typeface="+mn-ea"/>
                  <a:cs typeface="+mn-cs"/>
                </a:rPr>
                <a:t>IDENTITY</a:t>
              </a:r>
            </a:p>
          </p:txBody>
        </p:sp>
        <p:sp>
          <p:nvSpPr>
            <p:cNvPr id="13" name="TextBox 13"/>
            <p:cNvSpPr txBox="1"/>
            <p:nvPr/>
          </p:nvSpPr>
          <p:spPr>
            <a:xfrm>
              <a:off x="3137154" y="1813560"/>
              <a:ext cx="1536192" cy="4442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Basit, sıralı, düşük</a:t>
              </a:r>
              <a:br/>
              <a:r>
                <a:rPr lang="tr-TR" sz="1200" dirty="0">
                  <a:solidFill>
                    <a:srgbClr val="172B3A"/>
                  </a:solidFill>
                  <a:latin typeface="+mn-lt"/>
                  <a:ea typeface="+mn-ea"/>
                  <a:cs typeface="+mn-cs"/>
                </a:rPr>
                <a:t>depolama maliyeti.</a:t>
              </a:r>
            </a:p>
          </p:txBody>
        </p:sp>
        <p:sp>
          <p:nvSpPr>
            <p:cNvPr id="14" name="TextBox 14"/>
            <p:cNvSpPr txBox="1"/>
            <p:nvPr/>
          </p:nvSpPr>
          <p:spPr>
            <a:xfrm>
              <a:off x="6280404" y="1813560"/>
              <a:ext cx="1734312" cy="4442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Tek sunucuda üretilir;</a:t>
              </a:r>
              <a:br/>
              <a:r>
                <a:rPr lang="tr-TR" sz="1200" dirty="0">
                  <a:solidFill>
                    <a:srgbClr val="172B3A"/>
                  </a:solidFill>
                  <a:latin typeface="+mn-lt"/>
                  <a:ea typeface="+mn-ea"/>
                  <a:cs typeface="+mn-cs"/>
                </a:rPr>
                <a:t>dağıtık çakışma riski.</a:t>
              </a:r>
            </a:p>
          </p:txBody>
        </p:sp>
        <p:sp>
          <p:nvSpPr>
            <p:cNvPr id="15" name="TextBox 15"/>
            <p:cNvSpPr txBox="1"/>
            <p:nvPr/>
          </p:nvSpPr>
          <p:spPr>
            <a:xfrm>
              <a:off x="9137904" y="1813560"/>
              <a:ext cx="1825752" cy="4442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Tek veritabanı sunucusu</a:t>
              </a:r>
              <a:br/>
              <a:r>
                <a:rPr lang="tr-TR" sz="1200" dirty="0">
                  <a:solidFill>
                    <a:srgbClr val="172B3A"/>
                  </a:solidFill>
                  <a:latin typeface="+mn-lt"/>
                  <a:ea typeface="+mn-ea"/>
                  <a:cs typeface="+mn-cs"/>
                </a:rPr>
                <a:t>olan çoğu uygulamada.</a:t>
              </a:r>
            </a:p>
          </p:txBody>
        </p:sp>
        <p:sp>
          <p:nvSpPr>
            <p:cNvPr id="16" name="Line 16"/>
            <p:cNvSpPr/>
            <p:nvPr/>
          </p:nvSpPr>
          <p:spPr>
            <a:xfrm>
              <a:off x="609600" y="241935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23" name="row-uuid"/>
          <p:cNvGrpSpPr/>
          <p:nvPr/>
        </p:nvGrpSpPr>
        <p:grpSpPr>
          <a:xfrm>
            <a:off x="609600" y="2419350"/>
            <a:ext cx="10972800" cy="742950"/>
            <a:chOff x="609600" y="2419350"/>
            <a:chExt cx="10972800" cy="742950"/>
          </a:xfrm>
        </p:grpSpPr>
        <p:sp>
          <p:nvSpPr>
            <p:cNvPr id="18" name="Rectangle 18"/>
            <p:cNvSpPr/>
            <p:nvPr/>
          </p:nvSpPr>
          <p:spPr>
            <a:xfrm>
              <a:off x="609600" y="2419350"/>
              <a:ext cx="10972800" cy="742950"/>
            </a:xfrm>
            <a:prstGeom prst="rect">
              <a:avLst/>
            </a:prstGeom>
            <a:solidFill>
              <a:srgbClr val="EAF4F6"/>
            </a:solidFill>
            <a:ln>
              <a:noFill/>
            </a:ln>
          </p:spPr>
        </p:sp>
        <p:sp>
          <p:nvSpPr>
            <p:cNvPr id="19" name="TextBox 19"/>
            <p:cNvSpPr txBox="1"/>
            <p:nvPr/>
          </p:nvSpPr>
          <p:spPr>
            <a:xfrm>
              <a:off x="755904" y="2556510"/>
              <a:ext cx="361676"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UUID</a:t>
              </a:r>
            </a:p>
          </p:txBody>
        </p:sp>
        <p:sp>
          <p:nvSpPr>
            <p:cNvPr id="20" name="TextBox 20"/>
            <p:cNvSpPr txBox="1"/>
            <p:nvPr/>
          </p:nvSpPr>
          <p:spPr>
            <a:xfrm>
              <a:off x="3137154" y="2556510"/>
              <a:ext cx="2191512" cy="4442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Sunucu koordinasyonu</a:t>
              </a:r>
              <a:br/>
              <a:r>
                <a:rPr lang="tr-TR" sz="1200" dirty="0">
                  <a:solidFill>
                    <a:srgbClr val="172B3A"/>
                  </a:solidFill>
                  <a:latin typeface="+mn-lt"/>
                  <a:ea typeface="+mn-ea"/>
                  <a:cs typeface="+mn-cs"/>
                </a:rPr>
                <a:t>olmadan çakışmasız üretilir.</a:t>
              </a:r>
            </a:p>
          </p:txBody>
        </p:sp>
        <p:sp>
          <p:nvSpPr>
            <p:cNvPr id="21" name="TextBox 21"/>
            <p:cNvSpPr txBox="1"/>
            <p:nvPr/>
          </p:nvSpPr>
          <p:spPr>
            <a:xfrm>
              <a:off x="6280404" y="2556510"/>
              <a:ext cx="1940052" cy="4442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Daha büyük depolama;</a:t>
              </a:r>
              <a:br/>
              <a:r>
                <a:rPr lang="tr-TR" sz="1200" dirty="0">
                  <a:solidFill>
                    <a:srgbClr val="172B3A"/>
                  </a:solidFill>
                  <a:latin typeface="+mn-lt"/>
                  <a:ea typeface="+mn-ea"/>
                  <a:cs typeface="+mn-cs"/>
                </a:rPr>
                <a:t>index performansı düşer.</a:t>
              </a:r>
            </a:p>
          </p:txBody>
        </p:sp>
        <p:sp>
          <p:nvSpPr>
            <p:cNvPr id="22" name="TextBox 22"/>
            <p:cNvSpPr txBox="1"/>
            <p:nvPr/>
          </p:nvSpPr>
          <p:spPr>
            <a:xfrm>
              <a:off x="9137904" y="2556510"/>
              <a:ext cx="1604772" cy="4442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Çoklu sunucu / mikro</a:t>
              </a:r>
              <a:br/>
              <a:r>
                <a:rPr lang="tr-TR" sz="1200" dirty="0">
                  <a:solidFill>
                    <a:srgbClr val="172B3A"/>
                  </a:solidFill>
                  <a:latin typeface="+mn-lt"/>
                  <a:ea typeface="+mn-ea"/>
                  <a:cs typeface="+mn-cs"/>
                </a:rPr>
                <a:t>servis mimarilerinde.</a:t>
              </a:r>
            </a:p>
          </p:txBody>
        </p:sp>
      </p:grpSp>
      <p:grpSp>
        <p:nvGrpSpPr>
          <p:cNvPr id="28" name="row-natural"/>
          <p:cNvGrpSpPr/>
          <p:nvPr/>
        </p:nvGrpSpPr>
        <p:grpSpPr>
          <a:xfrm>
            <a:off x="755904" y="3299460"/>
            <a:ext cx="10543032" cy="444246"/>
            <a:chOff x="755904" y="3299460"/>
            <a:chExt cx="10543032" cy="444246"/>
          </a:xfrm>
        </p:grpSpPr>
        <p:sp>
          <p:nvSpPr>
            <p:cNvPr id="24" name="TextBox 24"/>
            <p:cNvSpPr txBox="1"/>
            <p:nvPr/>
          </p:nvSpPr>
          <p:spPr>
            <a:xfrm>
              <a:off x="755904" y="3299460"/>
              <a:ext cx="1340358" cy="406146"/>
            </a:xfrm>
            <a:prstGeom prst="rect">
              <a:avLst/>
            </a:prstGeom>
            <a:noFill/>
            <a:ln>
              <a:noFill/>
            </a:ln>
          </p:spPr>
          <p:txBody>
            <a:bodyPr wrap="none" lIns="0" tIns="0" rIns="0" bIns="0" anchor="t" anchorCtr="0">
              <a:spAutoFit/>
            </a:bodyPr>
            <a:lstStyle/>
            <a:p>
              <a:pPr algn="l">
                <a:lnSpc>
                  <a:spcPts val="1350"/>
                </a:lnSpc>
              </a:pPr>
              <a:r>
                <a:rPr lang="tr-TR" sz="1200" b="1" dirty="0">
                  <a:solidFill>
                    <a:srgbClr val="12355B"/>
                  </a:solidFill>
                  <a:latin typeface="+mn-lt"/>
                  <a:ea typeface="+mn-ea"/>
                  <a:cs typeface="+mn-cs"/>
                </a:rPr>
                <a:t>Doğal anahtar</a:t>
              </a:r>
              <a:br/>
              <a:r>
                <a:rPr lang="tr-TR" sz="1200" b="1" dirty="0">
                  <a:solidFill>
                    <a:srgbClr val="12355B"/>
                  </a:solidFill>
                  <a:latin typeface="+mn-lt"/>
                  <a:ea typeface="+mn-ea"/>
                  <a:cs typeface="+mn-cs"/>
                </a:rPr>
                <a:t>(TC no, e-posta)</a:t>
              </a:r>
            </a:p>
          </p:txBody>
        </p:sp>
        <p:sp>
          <p:nvSpPr>
            <p:cNvPr id="25" name="TextBox 25"/>
            <p:cNvSpPr txBox="1"/>
            <p:nvPr/>
          </p:nvSpPr>
          <p:spPr>
            <a:xfrm>
              <a:off x="3137154" y="3299460"/>
              <a:ext cx="1688592" cy="4442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Ek sütun gerektirmez,</a:t>
              </a:r>
              <a:br/>
              <a:r>
                <a:rPr lang="tr-TR" sz="1200" dirty="0">
                  <a:solidFill>
                    <a:srgbClr val="172B3A"/>
                  </a:solidFill>
                  <a:latin typeface="+mn-lt"/>
                  <a:ea typeface="+mn-ea"/>
                  <a:cs typeface="+mn-cs"/>
                </a:rPr>
                <a:t>iş anlamı taşır.</a:t>
              </a:r>
            </a:p>
          </p:txBody>
        </p:sp>
        <p:sp>
          <p:nvSpPr>
            <p:cNvPr id="26" name="TextBox 26"/>
            <p:cNvSpPr txBox="1"/>
            <p:nvPr/>
          </p:nvSpPr>
          <p:spPr>
            <a:xfrm>
              <a:off x="6280404" y="3299460"/>
              <a:ext cx="1802892" cy="4442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Değişebilir; değiştiğinde</a:t>
              </a:r>
              <a:br/>
              <a:r>
                <a:rPr lang="tr-TR" sz="1200" dirty="0">
                  <a:solidFill>
                    <a:srgbClr val="172B3A"/>
                  </a:solidFill>
                  <a:latin typeface="+mn-lt"/>
                  <a:ea typeface="+mn-ea"/>
                  <a:cs typeface="+mn-cs"/>
                </a:rPr>
                <a:t>tüm FK'ler bozulur.</a:t>
              </a:r>
            </a:p>
          </p:txBody>
        </p:sp>
        <p:sp>
          <p:nvSpPr>
            <p:cNvPr id="27" name="TextBox 27"/>
            <p:cNvSpPr txBox="1"/>
            <p:nvPr/>
          </p:nvSpPr>
          <p:spPr>
            <a:xfrm>
              <a:off x="9137904" y="3299460"/>
              <a:ext cx="2161032" cy="4442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Genellikle önerilmez;</a:t>
              </a:r>
              <a:br/>
              <a:r>
                <a:rPr lang="tr-TR" sz="1200" dirty="0">
                  <a:solidFill>
                    <a:srgbClr val="172B3A"/>
                  </a:solidFill>
                  <a:latin typeface="+mn-lt"/>
                  <a:ea typeface="+mn-ea"/>
                  <a:cs typeface="+mn-cs"/>
                </a:rPr>
                <a:t>UNIQUE kısıt olarak tutulur.</a:t>
              </a:r>
            </a:p>
          </p:txBody>
        </p:sp>
      </p:grpSp>
      <p:grpSp>
        <p:nvGrpSpPr>
          <p:cNvPr id="32" name="theory-block"/>
          <p:cNvGrpSpPr/>
          <p:nvPr/>
        </p:nvGrpSpPr>
        <p:grpSpPr>
          <a:xfrm>
            <a:off x="600456" y="4206240"/>
            <a:ext cx="9718120" cy="827628"/>
            <a:chOff x="600456" y="4206240"/>
            <a:chExt cx="9718120" cy="827628"/>
          </a:xfrm>
        </p:grpSpPr>
        <p:sp>
          <p:nvSpPr>
            <p:cNvPr id="29" name="TextBox 29"/>
            <p:cNvSpPr txBox="1"/>
            <p:nvPr/>
          </p:nvSpPr>
          <p:spPr>
            <a:xfrm>
              <a:off x="600456" y="4206240"/>
              <a:ext cx="3117242"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Normalizasyonla bağlantı</a:t>
              </a:r>
            </a:p>
          </p:txBody>
        </p:sp>
        <p:sp>
          <p:nvSpPr>
            <p:cNvPr id="30" name="TextBox 30"/>
            <p:cNvSpPr txBox="1"/>
            <p:nvPr/>
          </p:nvSpPr>
          <p:spPr>
            <a:xfrm>
              <a:off x="601599" y="4497229"/>
              <a:ext cx="9716977"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Hangi strateji seçilirse seçilsin PK, tekrar eden veriyi ayrı tabloya taşıyıp FK ile bağlamanın</a:t>
              </a:r>
            </a:p>
          </p:txBody>
        </p:sp>
        <p:sp>
          <p:nvSpPr>
            <p:cNvPr id="31" name="TextBox 31"/>
            <p:cNvSpPr txBox="1"/>
            <p:nvPr/>
          </p:nvSpPr>
          <p:spPr>
            <a:xfrm>
              <a:off x="601599" y="4725829"/>
              <a:ext cx="9151450"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(normalizasyon) ön koşuludur; kararsız bir anahtar tüm ilişkisel modeli kırılgan yapar.</a:t>
              </a:r>
            </a:p>
          </p:txBody>
        </p:sp>
      </p:grpSp>
      <p:grpSp>
        <p:nvGrpSpPr>
          <p:cNvPr id="37" name="attention-note"/>
          <p:cNvGrpSpPr/>
          <p:nvPr/>
        </p:nvGrpSpPr>
        <p:grpSpPr>
          <a:xfrm>
            <a:off x="609600" y="5334000"/>
            <a:ext cx="10972800" cy="762000"/>
            <a:chOff x="609600" y="5334000"/>
            <a:chExt cx="10972800" cy="762000"/>
          </a:xfrm>
        </p:grpSpPr>
        <p:sp>
          <p:nvSpPr>
            <p:cNvPr id="33" name="Rectangle 33"/>
            <p:cNvSpPr/>
            <p:nvPr/>
          </p:nvSpPr>
          <p:spPr>
            <a:xfrm>
              <a:off x="609600" y="5334000"/>
              <a:ext cx="10972800" cy="762000"/>
            </a:xfrm>
            <a:prstGeom prst="roundRect">
              <a:avLst>
                <a:gd name="adj" fmla="val 10000"/>
              </a:avLst>
            </a:prstGeom>
            <a:solidFill>
              <a:srgbClr val="EAF4F6"/>
            </a:solidFill>
            <a:ln>
              <a:noFill/>
            </a:ln>
          </p:spPr>
        </p:sp>
        <p:sp>
          <p:nvSpPr>
            <p:cNvPr id="34" name="Rectangle 34"/>
            <p:cNvSpPr/>
            <p:nvPr/>
          </p:nvSpPr>
          <p:spPr>
            <a:xfrm>
              <a:off x="609600" y="5334000"/>
              <a:ext cx="57150" cy="762000"/>
            </a:xfrm>
            <a:prstGeom prst="rect">
              <a:avLst/>
            </a:prstGeom>
            <a:solidFill>
              <a:srgbClr val="00A6A6"/>
            </a:solidFill>
            <a:ln>
              <a:noFill/>
            </a:ln>
          </p:spPr>
        </p:sp>
        <p:sp>
          <p:nvSpPr>
            <p:cNvPr id="35" name="TextBox 35"/>
            <p:cNvSpPr txBox="1"/>
            <p:nvPr/>
          </p:nvSpPr>
          <p:spPr>
            <a:xfrm>
              <a:off x="906399" y="5449729"/>
              <a:ext cx="1139698"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Kısa öneri</a:t>
              </a:r>
            </a:p>
          </p:txBody>
        </p:sp>
        <p:sp>
          <p:nvSpPr>
            <p:cNvPr id="36" name="TextBox 36"/>
            <p:cNvSpPr txBox="1"/>
            <p:nvPr/>
          </p:nvSpPr>
          <p:spPr>
            <a:xfrm>
              <a:off x="908304" y="5756910"/>
              <a:ext cx="8293269"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Aksi kanıtlanana kadar SERIAL/IDENTITY ile başlayın; dağıtık üretim ihtiyacı netleştiğinde UUID'e geçin.</a:t>
              </a:r>
            </a:p>
          </p:txBody>
        </p:sp>
      </p:grpSp>
      <p:sp>
        <p:nvSpPr>
          <p:cNvPr id="38" name="TextBox 38"/>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13 / 26</a:t>
            </a:r>
          </a:p>
        </p:txBody>
      </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6545185" cy="557403"/>
            <a:chOff x="595122" y="282892"/>
            <a:chExt cx="6545185" cy="557403"/>
          </a:xfrm>
        </p:grpSpPr>
        <p:sp>
          <p:nvSpPr>
            <p:cNvPr id="4" name="TextBox 4"/>
            <p:cNvSpPr txBox="1"/>
            <p:nvPr/>
          </p:nvSpPr>
          <p:spPr>
            <a:xfrm>
              <a:off x="595122" y="282892"/>
              <a:ext cx="6545185"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JOIN: parçalı veriyi birleştirmek</a:t>
              </a:r>
            </a:p>
          </p:txBody>
        </p:sp>
      </p:grpSp>
      <p:grpSp>
        <p:nvGrpSpPr>
          <p:cNvPr id="8" name="def-block"/>
          <p:cNvGrpSpPr/>
          <p:nvPr/>
        </p:nvGrpSpPr>
        <p:grpSpPr>
          <a:xfrm>
            <a:off x="601599" y="1296829"/>
            <a:ext cx="9959708" cy="536639"/>
            <a:chOff x="601599" y="1296829"/>
            <a:chExt cx="9959708" cy="536639"/>
          </a:xfrm>
        </p:grpSpPr>
        <p:sp>
          <p:nvSpPr>
            <p:cNvPr id="6" name="TextBox 6"/>
            <p:cNvSpPr txBox="1"/>
            <p:nvPr/>
          </p:nvSpPr>
          <p:spPr>
            <a:xfrm>
              <a:off x="601599" y="1296829"/>
              <a:ext cx="9675581"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Normalizasyon veriyi ayrı tablolara böler; JOIN, sorgu anında bu tabloları ortak bir anahtar</a:t>
              </a:r>
            </a:p>
          </p:txBody>
        </p:sp>
        <p:sp>
          <p:nvSpPr>
            <p:cNvPr id="7" name="TextBox 7"/>
            <p:cNvSpPr txBox="1"/>
            <p:nvPr/>
          </p:nvSpPr>
          <p:spPr>
            <a:xfrm>
              <a:off x="601599" y="1525429"/>
              <a:ext cx="9959708"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üzerinden ilişkisel cebirin (relational algebra) birleştirme işlemiyle tek sonuç kümesinde toplar.</a:t>
              </a:r>
            </a:p>
          </p:txBody>
        </p:sp>
      </p:grpSp>
      <p:grpSp>
        <p:nvGrpSpPr>
          <p:cNvPr id="30" name="join-tables"/>
          <p:cNvGrpSpPr/>
          <p:nvPr/>
        </p:nvGrpSpPr>
        <p:grpSpPr>
          <a:xfrm>
            <a:off x="609600" y="2133600"/>
            <a:ext cx="10972800" cy="1333500"/>
            <a:chOff x="609600" y="2133600"/>
            <a:chExt cx="10972800" cy="1333500"/>
          </a:xfrm>
        </p:grpSpPr>
        <p:sp>
          <p:nvSpPr>
            <p:cNvPr id="9" name="Rectangle 9"/>
            <p:cNvSpPr/>
            <p:nvPr/>
          </p:nvSpPr>
          <p:spPr>
            <a:xfrm>
              <a:off x="609600" y="2133600"/>
              <a:ext cx="3048000" cy="1333500"/>
            </a:xfrm>
            <a:prstGeom prst="roundRect">
              <a:avLst>
                <a:gd name="adj" fmla="val 7143"/>
              </a:avLst>
            </a:prstGeom>
            <a:solidFill>
              <a:srgbClr val="FFFFFF"/>
            </a:solidFill>
            <a:ln w="14288">
              <a:solidFill>
                <a:srgbClr val="2E86AB"/>
              </a:solidFill>
            </a:ln>
          </p:spPr>
        </p:sp>
        <p:sp>
          <p:nvSpPr>
            <p:cNvPr id="10" name="TextBox 10"/>
            <p:cNvSpPr txBox="1"/>
            <p:nvPr/>
          </p:nvSpPr>
          <p:spPr>
            <a:xfrm>
              <a:off x="831342" y="2254568"/>
              <a:ext cx="538482"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yazar</a:t>
              </a:r>
            </a:p>
          </p:txBody>
        </p:sp>
        <p:sp>
          <p:nvSpPr>
            <p:cNvPr id="11" name="TextBox 11"/>
            <p:cNvSpPr txBox="1"/>
            <p:nvPr/>
          </p:nvSpPr>
          <p:spPr>
            <a:xfrm>
              <a:off x="832104" y="2556510"/>
              <a:ext cx="1390117"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id=1 Orhan Pamuk</a:t>
              </a:r>
            </a:p>
          </p:txBody>
        </p:sp>
        <p:sp>
          <p:nvSpPr>
            <p:cNvPr id="12" name="TextBox 12"/>
            <p:cNvSpPr txBox="1"/>
            <p:nvPr/>
          </p:nvSpPr>
          <p:spPr>
            <a:xfrm>
              <a:off x="832104" y="2785110"/>
              <a:ext cx="115463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id=2 Elif Şafak</a:t>
              </a:r>
            </a:p>
          </p:txBody>
        </p:sp>
        <p:sp>
          <p:nvSpPr>
            <p:cNvPr id="13" name="TextBox 13"/>
            <p:cNvSpPr txBox="1"/>
            <p:nvPr/>
          </p:nvSpPr>
          <p:spPr>
            <a:xfrm>
              <a:off x="832104" y="3013710"/>
              <a:ext cx="1260722"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id=3 Ahmet Ümit</a:t>
              </a:r>
            </a:p>
          </p:txBody>
        </p:sp>
        <p:grpSp>
          <p:nvGrpSpPr>
            <p:cNvPr id="16" name="Group 16"/>
            <p:cNvGrpSpPr/>
            <p:nvPr/>
          </p:nvGrpSpPr>
          <p:grpSpPr>
            <a:xfrm>
              <a:off x="3905250" y="2171700"/>
              <a:ext cx="800100" cy="800100"/>
              <a:chOff x="3905250" y="2171700"/>
              <a:chExt cx="800100" cy="800100"/>
            </a:xfrm>
          </p:grpSpPr>
          <p:sp>
            <p:nvSpPr>
              <p:cNvPr id="14" name="Ellipse 14"/>
              <p:cNvSpPr/>
              <p:nvPr/>
            </p:nvSpPr>
            <p:spPr>
              <a:xfrm>
                <a:off x="3905250" y="2171700"/>
                <a:ext cx="800100" cy="800100"/>
              </a:xfrm>
              <a:prstGeom prst="ellipse">
                <a:avLst/>
              </a:prstGeom>
              <a:solidFill>
                <a:srgbClr val="EAF4F6"/>
              </a:solidFill>
              <a:ln w="23812">
                <a:solidFill>
                  <a:srgbClr val="00A6A6"/>
                </a:solidFill>
              </a:ln>
            </p:spPr>
          </p:sp>
          <p:sp>
            <p:nvSpPr>
              <p:cNvPr id="15" name="TextBox 15"/>
              <p:cNvSpPr txBox="1"/>
              <p:nvPr/>
            </p:nvSpPr>
            <p:spPr>
              <a:xfrm>
                <a:off x="4007160" y="2453640"/>
                <a:ext cx="596280" cy="352044"/>
              </a:xfrm>
              <a:prstGeom prst="rect">
                <a:avLst/>
              </a:prstGeom>
              <a:noFill/>
              <a:ln>
                <a:noFill/>
              </a:ln>
            </p:spPr>
            <p:txBody>
              <a:bodyPr wrap="none" lIns="0" tIns="0" rIns="0" bIns="0" anchor="t" anchorCtr="0">
                <a:spAutoFit/>
              </a:bodyPr>
              <a:lstStyle/>
              <a:p>
                <a:pPr algn="ctr"/>
                <a:r>
                  <a:rPr lang="tr-TR" sz="1800" b="1" dirty="0">
                    <a:solidFill>
                      <a:srgbClr val="12355B"/>
                    </a:solidFill>
                    <a:latin typeface="+mn-lt"/>
                    <a:ea typeface="+mn-ea"/>
                    <a:cs typeface="+mn-cs"/>
                  </a:rPr>
                  <a:t>JOIN</a:t>
                </a:r>
              </a:p>
            </p:txBody>
          </p:sp>
        </p:grpSp>
        <p:sp>
          <p:nvSpPr>
            <p:cNvPr id="17" name="Line 17"/>
            <p:cNvSpPr/>
            <p:nvPr/>
          </p:nvSpPr>
          <p:spPr>
            <a:xfrm>
              <a:off x="3657600" y="2800350"/>
              <a:ext cx="247650" cy="1"/>
            </a:xfrm>
            <a:prstGeom prst="line">
              <a:avLst/>
            </a:prstGeom>
            <a:noFill/>
            <a:ln w="23812">
              <a:solidFill>
                <a:srgbClr val="00A6A6"/>
              </a:solidFill>
              <a:tailEnd type="arrow" w="lg" len="lg"/>
            </a:ln>
          </p:spPr>
        </p:sp>
        <p:sp>
          <p:nvSpPr>
            <p:cNvPr id="18" name="Line 18"/>
            <p:cNvSpPr/>
            <p:nvPr/>
          </p:nvSpPr>
          <p:spPr>
            <a:xfrm>
              <a:off x="4705350" y="2800350"/>
              <a:ext cx="342900" cy="1"/>
            </a:xfrm>
            <a:prstGeom prst="line">
              <a:avLst/>
            </a:prstGeom>
            <a:noFill/>
            <a:ln w="23812">
              <a:solidFill>
                <a:srgbClr val="00A6A6"/>
              </a:solidFill>
              <a:tailEnd type="arrow" w="lg" len="lg"/>
            </a:ln>
          </p:spPr>
        </p:sp>
        <p:sp>
          <p:nvSpPr>
            <p:cNvPr id="19" name="Rectangle 19"/>
            <p:cNvSpPr/>
            <p:nvPr/>
          </p:nvSpPr>
          <p:spPr>
            <a:xfrm>
              <a:off x="5124450" y="2133600"/>
              <a:ext cx="3048000" cy="1333500"/>
            </a:xfrm>
            <a:prstGeom prst="roundRect">
              <a:avLst>
                <a:gd name="adj" fmla="val 7143"/>
              </a:avLst>
            </a:prstGeom>
            <a:solidFill>
              <a:srgbClr val="FFFFFF"/>
            </a:solidFill>
            <a:ln w="14288">
              <a:solidFill>
                <a:srgbClr val="2E86AB"/>
              </a:solidFill>
            </a:ln>
          </p:spPr>
        </p:sp>
        <p:sp>
          <p:nvSpPr>
            <p:cNvPr id="20" name="TextBox 20"/>
            <p:cNvSpPr txBox="1"/>
            <p:nvPr/>
          </p:nvSpPr>
          <p:spPr>
            <a:xfrm>
              <a:off x="5346192" y="2254568"/>
              <a:ext cx="490776"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kitap</a:t>
              </a:r>
            </a:p>
          </p:txBody>
        </p:sp>
        <p:sp>
          <p:nvSpPr>
            <p:cNvPr id="21" name="TextBox 21"/>
            <p:cNvSpPr txBox="1"/>
            <p:nvPr/>
          </p:nvSpPr>
          <p:spPr>
            <a:xfrm>
              <a:off x="5346954" y="2556510"/>
              <a:ext cx="1181892"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yazar_id=1 Kar</a:t>
              </a:r>
            </a:p>
          </p:txBody>
        </p:sp>
        <p:sp>
          <p:nvSpPr>
            <p:cNvPr id="22" name="TextBox 22"/>
            <p:cNvSpPr txBox="1"/>
            <p:nvPr/>
          </p:nvSpPr>
          <p:spPr>
            <a:xfrm>
              <a:off x="5346954" y="2785110"/>
              <a:ext cx="2525706"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yazar_id=1 Kırmızı Saçlı Kadın</a:t>
              </a:r>
            </a:p>
          </p:txBody>
        </p:sp>
        <p:sp>
          <p:nvSpPr>
            <p:cNvPr id="23" name="TextBox 23"/>
            <p:cNvSpPr txBox="1"/>
            <p:nvPr/>
          </p:nvSpPr>
          <p:spPr>
            <a:xfrm>
              <a:off x="5346954" y="3013710"/>
              <a:ext cx="1181892"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yazar_id=2 Aşk</a:t>
              </a:r>
            </a:p>
          </p:txBody>
        </p:sp>
        <p:sp>
          <p:nvSpPr>
            <p:cNvPr id="24" name="Line 24"/>
            <p:cNvSpPr/>
            <p:nvPr/>
          </p:nvSpPr>
          <p:spPr>
            <a:xfrm>
              <a:off x="8172450" y="2800350"/>
              <a:ext cx="400050" cy="1"/>
            </a:xfrm>
            <a:prstGeom prst="line">
              <a:avLst/>
            </a:prstGeom>
            <a:noFill/>
            <a:ln w="23812">
              <a:solidFill>
                <a:srgbClr val="00A6A6"/>
              </a:solidFill>
              <a:tailEnd type="arrow" w="lg" len="lg"/>
            </a:ln>
          </p:spPr>
        </p:sp>
        <p:sp>
          <p:nvSpPr>
            <p:cNvPr id="25" name="Rectangle 25"/>
            <p:cNvSpPr/>
            <p:nvPr/>
          </p:nvSpPr>
          <p:spPr>
            <a:xfrm>
              <a:off x="8648700" y="2133600"/>
              <a:ext cx="2933700" cy="1333500"/>
            </a:xfrm>
            <a:prstGeom prst="roundRect">
              <a:avLst>
                <a:gd name="adj" fmla="val 7143"/>
              </a:avLst>
            </a:prstGeom>
            <a:solidFill>
              <a:srgbClr val="EAF4F6"/>
            </a:solidFill>
            <a:ln w="14288">
              <a:solidFill>
                <a:srgbClr val="00A6A6"/>
              </a:solidFill>
            </a:ln>
          </p:spPr>
        </p:sp>
        <p:sp>
          <p:nvSpPr>
            <p:cNvPr id="26" name="TextBox 26"/>
            <p:cNvSpPr txBox="1"/>
            <p:nvPr/>
          </p:nvSpPr>
          <p:spPr>
            <a:xfrm>
              <a:off x="8870442" y="2254568"/>
              <a:ext cx="1912413"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sonuç (tek satırda)</a:t>
              </a:r>
            </a:p>
          </p:txBody>
        </p:sp>
        <p:sp>
          <p:nvSpPr>
            <p:cNvPr id="27" name="TextBox 27"/>
            <p:cNvSpPr txBox="1"/>
            <p:nvPr/>
          </p:nvSpPr>
          <p:spPr>
            <a:xfrm>
              <a:off x="8871204" y="2556510"/>
              <a:ext cx="1485079"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Orhan Pamuk — Kar</a:t>
              </a:r>
            </a:p>
          </p:txBody>
        </p:sp>
        <p:sp>
          <p:nvSpPr>
            <p:cNvPr id="28" name="TextBox 28"/>
            <p:cNvSpPr txBox="1"/>
            <p:nvPr/>
          </p:nvSpPr>
          <p:spPr>
            <a:xfrm>
              <a:off x="8871204" y="2785110"/>
              <a:ext cx="2340286"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Orhan Pamuk — Kırmızı S. K.</a:t>
              </a:r>
            </a:p>
          </p:txBody>
        </p:sp>
        <p:sp>
          <p:nvSpPr>
            <p:cNvPr id="29" name="TextBox 29"/>
            <p:cNvSpPr txBox="1"/>
            <p:nvPr/>
          </p:nvSpPr>
          <p:spPr>
            <a:xfrm>
              <a:off x="8871204" y="3013710"/>
              <a:ext cx="1249109"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Elif Şafak — Aşk</a:t>
              </a:r>
            </a:p>
          </p:txBody>
        </p:sp>
      </p:grpSp>
      <p:grpSp>
        <p:nvGrpSpPr>
          <p:cNvPr id="34" name="theory-block"/>
          <p:cNvGrpSpPr/>
          <p:nvPr/>
        </p:nvGrpSpPr>
        <p:grpSpPr>
          <a:xfrm>
            <a:off x="600456" y="4587240"/>
            <a:ext cx="9031576" cy="827628"/>
            <a:chOff x="600456" y="4587240"/>
            <a:chExt cx="9031576" cy="827628"/>
          </a:xfrm>
        </p:grpSpPr>
        <p:sp>
          <p:nvSpPr>
            <p:cNvPr id="31" name="TextBox 31"/>
            <p:cNvSpPr txBox="1"/>
            <p:nvPr/>
          </p:nvSpPr>
          <p:spPr>
            <a:xfrm>
              <a:off x="600456" y="4587240"/>
              <a:ext cx="1414753"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Ne yapmaz?</a:t>
              </a:r>
            </a:p>
          </p:txBody>
        </p:sp>
        <p:sp>
          <p:nvSpPr>
            <p:cNvPr id="32" name="TextBox 32"/>
            <p:cNvSpPr txBox="1"/>
            <p:nvPr/>
          </p:nvSpPr>
          <p:spPr>
            <a:xfrm>
              <a:off x="601599" y="4878229"/>
              <a:ext cx="9030433"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JOIN kalıcı bir tablo oluşturmaz; sonuç yalnızca sorgu çalıştığı an var olan geçici bir</a:t>
              </a:r>
            </a:p>
          </p:txBody>
        </p:sp>
        <p:sp>
          <p:nvSpPr>
            <p:cNvPr id="33" name="TextBox 33"/>
            <p:cNvSpPr txBox="1"/>
            <p:nvPr/>
          </p:nvSpPr>
          <p:spPr>
            <a:xfrm>
              <a:off x="601599" y="5106829"/>
              <a:ext cx="8275616"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projeksiyondur. Her sorgu tekrar çalıştığında birleştirme yeniden hesaplanır.</a:t>
              </a:r>
            </a:p>
          </p:txBody>
        </p:sp>
      </p:grpSp>
      <p:grpSp>
        <p:nvGrpSpPr>
          <p:cNvPr id="39" name="attention-note"/>
          <p:cNvGrpSpPr/>
          <p:nvPr/>
        </p:nvGrpSpPr>
        <p:grpSpPr>
          <a:xfrm>
            <a:off x="609600" y="5467350"/>
            <a:ext cx="10972800" cy="628650"/>
            <a:chOff x="609600" y="5467350"/>
            <a:chExt cx="10972800" cy="628650"/>
          </a:xfrm>
        </p:grpSpPr>
        <p:sp>
          <p:nvSpPr>
            <p:cNvPr id="35" name="Rectangle 35"/>
            <p:cNvSpPr/>
            <p:nvPr/>
          </p:nvSpPr>
          <p:spPr>
            <a:xfrm>
              <a:off x="609600" y="5467350"/>
              <a:ext cx="10972800" cy="628650"/>
            </a:xfrm>
            <a:prstGeom prst="roundRect">
              <a:avLst>
                <a:gd name="adj" fmla="val 12121"/>
              </a:avLst>
            </a:prstGeom>
            <a:solidFill>
              <a:srgbClr val="EAF4F6"/>
            </a:solidFill>
            <a:ln>
              <a:noFill/>
            </a:ln>
          </p:spPr>
        </p:sp>
        <p:sp>
          <p:nvSpPr>
            <p:cNvPr id="36" name="Rectangle 36"/>
            <p:cNvSpPr/>
            <p:nvPr/>
          </p:nvSpPr>
          <p:spPr>
            <a:xfrm>
              <a:off x="609600" y="5467350"/>
              <a:ext cx="57150" cy="628650"/>
            </a:xfrm>
            <a:prstGeom prst="rect">
              <a:avLst/>
            </a:prstGeom>
            <a:solidFill>
              <a:srgbClr val="00A6A6"/>
            </a:solidFill>
            <a:ln>
              <a:noFill/>
            </a:ln>
          </p:spPr>
        </p:sp>
        <p:sp>
          <p:nvSpPr>
            <p:cNvPr id="37" name="TextBox 37"/>
            <p:cNvSpPr txBox="1"/>
            <p:nvPr/>
          </p:nvSpPr>
          <p:spPr>
            <a:xfrm>
              <a:off x="908304" y="5585460"/>
              <a:ext cx="1814357"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Alternatif: N+1 sorgu</a:t>
              </a:r>
            </a:p>
          </p:txBody>
        </p:sp>
        <p:sp>
          <p:nvSpPr>
            <p:cNvPr id="38" name="TextBox 38"/>
            <p:cNvSpPr txBox="1"/>
            <p:nvPr/>
          </p:nvSpPr>
          <p:spPr>
            <a:xfrm>
              <a:off x="908304" y="5795010"/>
              <a:ext cx="836145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JOIN kullanılmazsa her yazar için ayrı bir kitap sorgusu çalıştırmak gerekir; bu, sorgu sayısını katlar.</a:t>
              </a:r>
            </a:p>
          </p:txBody>
        </p:sp>
      </p:grpSp>
      <p:sp>
        <p:nvSpPr>
          <p:cNvPr id="40" name="TextBox 40"/>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14 / 26</a:t>
            </a:r>
          </a:p>
        </p:txBody>
      </p:sp>
    </p:spTree>
  </p:cSld>
  <p:clrMapOvr>
    <a:masterClrMapping/>
  </p:clrMapOvr>
  <p:transition xmlns:p14="http://schemas.microsoft.com/office/powerpoint/2010/main" p14:dur="400">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8245387" cy="557403"/>
            <a:chOff x="595122" y="282892"/>
            <a:chExt cx="8245387" cy="557403"/>
          </a:xfrm>
        </p:grpSpPr>
        <p:sp>
          <p:nvSpPr>
            <p:cNvPr id="4" name="TextBox 4"/>
            <p:cNvSpPr txBox="1"/>
            <p:nvPr/>
          </p:nvSpPr>
          <p:spPr>
            <a:xfrm>
              <a:off x="595122" y="282892"/>
              <a:ext cx="8245387"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INNER JOIN ile LEFT JOIN karşılaştırması</a:t>
              </a:r>
            </a:p>
          </p:txBody>
        </p:sp>
      </p:grpSp>
      <p:grpSp>
        <p:nvGrpSpPr>
          <p:cNvPr id="17" name="inner-card"/>
          <p:cNvGrpSpPr/>
          <p:nvPr/>
        </p:nvGrpSpPr>
        <p:grpSpPr>
          <a:xfrm>
            <a:off x="609600" y="1257300"/>
            <a:ext cx="5334000" cy="2857500"/>
            <a:chOff x="609600" y="1257300"/>
            <a:chExt cx="5334000" cy="2857500"/>
          </a:xfrm>
        </p:grpSpPr>
        <p:sp>
          <p:nvSpPr>
            <p:cNvPr id="6" name="Rectangle 6"/>
            <p:cNvSpPr/>
            <p:nvPr/>
          </p:nvSpPr>
          <p:spPr>
            <a:xfrm>
              <a:off x="609600" y="1257300"/>
              <a:ext cx="5334000" cy="2857500"/>
            </a:xfrm>
            <a:prstGeom prst="roundRect">
              <a:avLst>
                <a:gd name="adj" fmla="val 3333"/>
              </a:avLst>
            </a:prstGeom>
            <a:solidFill>
              <a:srgbClr val="FFFFFF"/>
            </a:solidFill>
            <a:ln w="14288">
              <a:solidFill>
                <a:srgbClr val="2E86AB"/>
              </a:solidFill>
            </a:ln>
          </p:spPr>
        </p:sp>
        <p:sp>
          <p:nvSpPr>
            <p:cNvPr id="7" name="Rectangle 7"/>
            <p:cNvSpPr/>
            <p:nvPr/>
          </p:nvSpPr>
          <p:spPr>
            <a:xfrm>
              <a:off x="609600" y="1257300"/>
              <a:ext cx="5334000" cy="381000"/>
            </a:xfrm>
            <a:prstGeom prst="roundRect">
              <a:avLst>
                <a:gd name="adj" fmla="val 25000"/>
              </a:avLst>
            </a:prstGeom>
            <a:solidFill>
              <a:srgbClr val="12355B"/>
            </a:solidFill>
            <a:ln>
              <a:noFill/>
            </a:ln>
          </p:spPr>
        </p:sp>
        <p:sp>
          <p:nvSpPr>
            <p:cNvPr id="8" name="TextBox 8"/>
            <p:cNvSpPr txBox="1"/>
            <p:nvPr/>
          </p:nvSpPr>
          <p:spPr>
            <a:xfrm>
              <a:off x="830199" y="1334929"/>
              <a:ext cx="1184084" cy="308039"/>
            </a:xfrm>
            <a:prstGeom prst="rect">
              <a:avLst/>
            </a:prstGeom>
            <a:noFill/>
            <a:ln>
              <a:noFill/>
            </a:ln>
          </p:spPr>
          <p:txBody>
            <a:bodyPr wrap="none" lIns="0" tIns="0" rIns="0" bIns="0" anchor="t" anchorCtr="0">
              <a:spAutoFit/>
            </a:bodyPr>
            <a:lstStyle/>
            <a:p>
              <a:pPr algn="l"/>
              <a:r>
                <a:rPr lang="tr-TR" sz="1580" b="1" dirty="0">
                  <a:solidFill>
                    <a:srgbClr val="FFFFFF"/>
                  </a:solidFill>
                  <a:latin typeface="+mn-lt"/>
                  <a:ea typeface="+mn-ea"/>
                  <a:cs typeface="+mn-cs"/>
                </a:rPr>
                <a:t>INNER JOIN</a:t>
              </a:r>
            </a:p>
          </p:txBody>
        </p:sp>
        <p:grpSp>
          <p:nvGrpSpPr>
            <p:cNvPr id="11" name="Group 11"/>
            <p:cNvGrpSpPr/>
            <p:nvPr/>
          </p:nvGrpSpPr>
          <p:grpSpPr>
            <a:xfrm>
              <a:off x="904875" y="1952625"/>
              <a:ext cx="1619250" cy="1047750"/>
              <a:chOff x="904875" y="1952625"/>
              <a:chExt cx="1619250" cy="1047750"/>
            </a:xfrm>
          </p:grpSpPr>
          <p:sp>
            <p:nvSpPr>
              <p:cNvPr id="9" name="Ellipse 9"/>
              <p:cNvSpPr/>
              <p:nvPr/>
            </p:nvSpPr>
            <p:spPr>
              <a:xfrm>
                <a:off x="904875" y="1952625"/>
                <a:ext cx="1047750" cy="1047750"/>
              </a:xfrm>
              <a:prstGeom prst="ellipse">
                <a:avLst/>
              </a:prstGeom>
              <a:solidFill>
                <a:srgbClr val="EAF4F6"/>
              </a:solidFill>
              <a:ln w="19050">
                <a:solidFill>
                  <a:srgbClr val="2E86AB"/>
                </a:solidFill>
              </a:ln>
            </p:spPr>
          </p:sp>
          <p:sp>
            <p:nvSpPr>
              <p:cNvPr id="10" name="Ellipse 10"/>
              <p:cNvSpPr/>
              <p:nvPr/>
            </p:nvSpPr>
            <p:spPr>
              <a:xfrm>
                <a:off x="1476375" y="1952625"/>
                <a:ext cx="1047750" cy="1047750"/>
              </a:xfrm>
              <a:prstGeom prst="ellipse">
                <a:avLst/>
              </a:prstGeom>
              <a:solidFill>
                <a:srgbClr val="00A6A6">
                  <a:alpha val="35000"/>
                </a:srgbClr>
              </a:solidFill>
              <a:ln w="19050">
                <a:solidFill>
                  <a:srgbClr val="00A6A6">
                    <a:alpha val="35000"/>
                  </a:srgbClr>
                </a:solidFill>
              </a:ln>
            </p:spPr>
          </p:sp>
        </p:grpSp>
        <p:sp>
          <p:nvSpPr>
            <p:cNvPr id="12" name="TextBox 12"/>
            <p:cNvSpPr txBox="1"/>
            <p:nvPr/>
          </p:nvSpPr>
          <p:spPr>
            <a:xfrm>
              <a:off x="3422904" y="2061210"/>
              <a:ext cx="2093141"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Yalnızca her iki tabloda da</a:t>
              </a:r>
            </a:p>
          </p:txBody>
        </p:sp>
        <p:sp>
          <p:nvSpPr>
            <p:cNvPr id="13" name="TextBox 13"/>
            <p:cNvSpPr txBox="1"/>
            <p:nvPr/>
          </p:nvSpPr>
          <p:spPr>
            <a:xfrm>
              <a:off x="3422904" y="2270760"/>
              <a:ext cx="2201113"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eşleşmesi bulunan satırları</a:t>
              </a:r>
            </a:p>
          </p:txBody>
        </p:sp>
        <p:sp>
          <p:nvSpPr>
            <p:cNvPr id="14" name="TextBox 14"/>
            <p:cNvSpPr txBox="1"/>
            <p:nvPr/>
          </p:nvSpPr>
          <p:spPr>
            <a:xfrm>
              <a:off x="3422904" y="2480310"/>
              <a:ext cx="811835"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döndürür.</a:t>
              </a:r>
            </a:p>
          </p:txBody>
        </p:sp>
        <p:sp>
          <p:nvSpPr>
            <p:cNvPr id="15" name="TextBox 15"/>
            <p:cNvSpPr txBox="1"/>
            <p:nvPr/>
          </p:nvSpPr>
          <p:spPr>
            <a:xfrm>
              <a:off x="832104" y="3299460"/>
              <a:ext cx="3587928"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Örnek: kitabı olmayan yazar sonuçtan çıkar.</a:t>
              </a:r>
            </a:p>
          </p:txBody>
        </p:sp>
        <p:sp>
          <p:nvSpPr>
            <p:cNvPr id="16" name="TextBox 16"/>
            <p:cNvSpPr txBox="1"/>
            <p:nvPr/>
          </p:nvSpPr>
          <p:spPr>
            <a:xfrm>
              <a:off x="832104" y="3604260"/>
              <a:ext cx="4306463"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Kullanım: yalnızca tam eşleşen kayıtlar gerektiğinde.</a:t>
              </a:r>
            </a:p>
          </p:txBody>
        </p:sp>
      </p:grpSp>
      <p:grpSp>
        <p:nvGrpSpPr>
          <p:cNvPr id="30" name="left-card"/>
          <p:cNvGrpSpPr/>
          <p:nvPr/>
        </p:nvGrpSpPr>
        <p:grpSpPr>
          <a:xfrm>
            <a:off x="6248400" y="1257300"/>
            <a:ext cx="5334000" cy="2857500"/>
            <a:chOff x="6248400" y="1257300"/>
            <a:chExt cx="5334000" cy="2857500"/>
          </a:xfrm>
        </p:grpSpPr>
        <p:sp>
          <p:nvSpPr>
            <p:cNvPr id="18" name="Rectangle 18"/>
            <p:cNvSpPr/>
            <p:nvPr/>
          </p:nvSpPr>
          <p:spPr>
            <a:xfrm>
              <a:off x="6248400" y="1257300"/>
              <a:ext cx="5334000" cy="2857500"/>
            </a:xfrm>
            <a:prstGeom prst="roundRect">
              <a:avLst>
                <a:gd name="adj" fmla="val 3333"/>
              </a:avLst>
            </a:prstGeom>
            <a:solidFill>
              <a:srgbClr val="FFFFFF"/>
            </a:solidFill>
            <a:ln w="14288">
              <a:solidFill>
                <a:srgbClr val="2E86AB"/>
              </a:solidFill>
            </a:ln>
          </p:spPr>
        </p:sp>
        <p:sp>
          <p:nvSpPr>
            <p:cNvPr id="19" name="Rectangle 19"/>
            <p:cNvSpPr/>
            <p:nvPr/>
          </p:nvSpPr>
          <p:spPr>
            <a:xfrm>
              <a:off x="6248400" y="1257300"/>
              <a:ext cx="5334000" cy="381000"/>
            </a:xfrm>
            <a:prstGeom prst="roundRect">
              <a:avLst>
                <a:gd name="adj" fmla="val 25000"/>
              </a:avLst>
            </a:prstGeom>
            <a:solidFill>
              <a:srgbClr val="12355B"/>
            </a:solidFill>
            <a:ln>
              <a:noFill/>
            </a:ln>
          </p:spPr>
        </p:sp>
        <p:sp>
          <p:nvSpPr>
            <p:cNvPr id="20" name="TextBox 20"/>
            <p:cNvSpPr txBox="1"/>
            <p:nvPr/>
          </p:nvSpPr>
          <p:spPr>
            <a:xfrm>
              <a:off x="6468999" y="1334929"/>
              <a:ext cx="1113291" cy="308039"/>
            </a:xfrm>
            <a:prstGeom prst="rect">
              <a:avLst/>
            </a:prstGeom>
            <a:noFill/>
            <a:ln>
              <a:noFill/>
            </a:ln>
          </p:spPr>
          <p:txBody>
            <a:bodyPr wrap="none" lIns="0" tIns="0" rIns="0" bIns="0" anchor="t" anchorCtr="0">
              <a:spAutoFit/>
            </a:bodyPr>
            <a:lstStyle/>
            <a:p>
              <a:pPr algn="l"/>
              <a:r>
                <a:rPr lang="tr-TR" sz="1580" b="1" dirty="0">
                  <a:solidFill>
                    <a:srgbClr val="FFFFFF"/>
                  </a:solidFill>
                  <a:latin typeface="+mn-lt"/>
                  <a:ea typeface="+mn-ea"/>
                  <a:cs typeface="+mn-cs"/>
                </a:rPr>
                <a:t>LEFT JOIN</a:t>
              </a:r>
            </a:p>
          </p:txBody>
        </p:sp>
        <p:grpSp>
          <p:nvGrpSpPr>
            <p:cNvPr id="23" name="Group 23"/>
            <p:cNvGrpSpPr/>
            <p:nvPr/>
          </p:nvGrpSpPr>
          <p:grpSpPr>
            <a:xfrm>
              <a:off x="6543675" y="1952625"/>
              <a:ext cx="1619250" cy="1047750"/>
              <a:chOff x="6543675" y="1952625"/>
              <a:chExt cx="1619250" cy="1047750"/>
            </a:xfrm>
          </p:grpSpPr>
          <p:sp>
            <p:nvSpPr>
              <p:cNvPr id="21" name="Ellipse 21"/>
              <p:cNvSpPr/>
              <p:nvPr/>
            </p:nvSpPr>
            <p:spPr>
              <a:xfrm>
                <a:off x="6543675" y="1952625"/>
                <a:ext cx="1047750" cy="1047750"/>
              </a:xfrm>
              <a:prstGeom prst="ellipse">
                <a:avLst/>
              </a:prstGeom>
              <a:solidFill>
                <a:srgbClr val="00A6A6">
                  <a:alpha val="55000"/>
                </a:srgbClr>
              </a:solidFill>
              <a:ln w="19050">
                <a:solidFill>
                  <a:srgbClr val="00A6A6">
                    <a:alpha val="55000"/>
                  </a:srgbClr>
                </a:solidFill>
              </a:ln>
            </p:spPr>
          </p:sp>
          <p:sp>
            <p:nvSpPr>
              <p:cNvPr id="22" name="Ellipse 22"/>
              <p:cNvSpPr/>
              <p:nvPr/>
            </p:nvSpPr>
            <p:spPr>
              <a:xfrm>
                <a:off x="7115175" y="1952625"/>
                <a:ext cx="1047750" cy="1047750"/>
              </a:xfrm>
              <a:prstGeom prst="ellipse">
                <a:avLst/>
              </a:prstGeom>
              <a:solidFill>
                <a:srgbClr val="EAF4F6"/>
              </a:solidFill>
              <a:ln w="19050">
                <a:solidFill>
                  <a:srgbClr val="2E86AB"/>
                </a:solidFill>
              </a:ln>
            </p:spPr>
          </p:sp>
        </p:grpSp>
        <p:sp>
          <p:nvSpPr>
            <p:cNvPr id="24" name="TextBox 24"/>
            <p:cNvSpPr txBox="1"/>
            <p:nvPr/>
          </p:nvSpPr>
          <p:spPr>
            <a:xfrm>
              <a:off x="9061704" y="1965960"/>
              <a:ext cx="1981200"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Sol tablonun (FROM) tüm</a:t>
              </a:r>
            </a:p>
          </p:txBody>
        </p:sp>
        <p:sp>
          <p:nvSpPr>
            <p:cNvPr id="25" name="TextBox 25"/>
            <p:cNvSpPr txBox="1"/>
            <p:nvPr/>
          </p:nvSpPr>
          <p:spPr>
            <a:xfrm>
              <a:off x="9061704" y="2175510"/>
              <a:ext cx="2193036"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satırlarını korur; eşleşme</a:t>
              </a:r>
            </a:p>
          </p:txBody>
        </p:sp>
        <p:sp>
          <p:nvSpPr>
            <p:cNvPr id="26" name="TextBox 26"/>
            <p:cNvSpPr txBox="1"/>
            <p:nvPr/>
          </p:nvSpPr>
          <p:spPr>
            <a:xfrm>
              <a:off x="9061704" y="2385060"/>
              <a:ext cx="1915485"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yoksa sağ sütunlar NULL</a:t>
              </a:r>
            </a:p>
          </p:txBody>
        </p:sp>
        <p:sp>
          <p:nvSpPr>
            <p:cNvPr id="27" name="TextBox 27"/>
            <p:cNvSpPr txBox="1"/>
            <p:nvPr/>
          </p:nvSpPr>
          <p:spPr>
            <a:xfrm>
              <a:off x="9061704" y="2594610"/>
              <a:ext cx="545287"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döner.</a:t>
              </a:r>
            </a:p>
          </p:txBody>
        </p:sp>
        <p:sp>
          <p:nvSpPr>
            <p:cNvPr id="28" name="TextBox 28"/>
            <p:cNvSpPr txBox="1"/>
            <p:nvPr/>
          </p:nvSpPr>
          <p:spPr>
            <a:xfrm>
              <a:off x="6470904" y="3299460"/>
              <a:ext cx="3878557"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Örnek: hiç kitabı olmayan yazar da listede kalır.</a:t>
              </a:r>
            </a:p>
          </p:txBody>
        </p:sp>
        <p:sp>
          <p:nvSpPr>
            <p:cNvPr id="29" name="TextBox 29"/>
            <p:cNvSpPr txBox="1"/>
            <p:nvPr/>
          </p:nvSpPr>
          <p:spPr>
            <a:xfrm>
              <a:off x="6470904" y="3604260"/>
              <a:ext cx="4516852"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Kullanım: "eksik veriyi de görmem gerekiyor" senaryosu.</a:t>
              </a:r>
            </a:p>
          </p:txBody>
        </p:sp>
      </p:grpSp>
      <p:grpSp>
        <p:nvGrpSpPr>
          <p:cNvPr id="32" name="code-caption"/>
          <p:cNvGrpSpPr/>
          <p:nvPr/>
        </p:nvGrpSpPr>
        <p:grpSpPr>
          <a:xfrm>
            <a:off x="601599" y="4325779"/>
            <a:ext cx="4481615" cy="308039"/>
            <a:chOff x="601599" y="4325779"/>
            <a:chExt cx="4481615" cy="308039"/>
          </a:xfrm>
        </p:grpSpPr>
        <p:sp>
          <p:nvSpPr>
            <p:cNvPr id="31" name="TextBox 31"/>
            <p:cNvSpPr txBox="1"/>
            <p:nvPr/>
          </p:nvSpPr>
          <p:spPr>
            <a:xfrm>
              <a:off x="601599" y="4325779"/>
              <a:ext cx="4481615"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Kod 7.7–7.8: aynı şema, iki farklı sonuç</a:t>
              </a:r>
            </a:p>
          </p:txBody>
        </p:sp>
      </p:grpSp>
      <p:grpSp>
        <p:nvGrpSpPr>
          <p:cNvPr id="35" name="code-block"/>
          <p:cNvGrpSpPr/>
          <p:nvPr/>
        </p:nvGrpSpPr>
        <p:grpSpPr>
          <a:xfrm>
            <a:off x="609600" y="4610100"/>
            <a:ext cx="10972800" cy="952500"/>
            <a:chOff x="609600" y="4610100"/>
            <a:chExt cx="10972800" cy="952500"/>
          </a:xfrm>
        </p:grpSpPr>
        <p:sp>
          <p:nvSpPr>
            <p:cNvPr id="33" name="Rectangle 33"/>
            <p:cNvSpPr/>
            <p:nvPr/>
          </p:nvSpPr>
          <p:spPr>
            <a:xfrm>
              <a:off x="609600" y="4610100"/>
              <a:ext cx="10972800" cy="952500"/>
            </a:xfrm>
            <a:prstGeom prst="roundRect">
              <a:avLst>
                <a:gd name="adj" fmla="val 8000"/>
              </a:avLst>
            </a:prstGeom>
            <a:solidFill>
              <a:srgbClr val="0B2038"/>
            </a:solidFill>
            <a:ln>
              <a:noFill/>
            </a:ln>
          </p:spPr>
        </p:sp>
        <p:sp>
          <p:nvSpPr>
            <p:cNvPr id="34" name="TextBox 34"/>
            <p:cNvSpPr txBox="1"/>
            <p:nvPr/>
          </p:nvSpPr>
          <p:spPr>
            <a:xfrm>
              <a:off x="795147" y="4733449"/>
              <a:ext cx="4322445" cy="743140"/>
            </a:xfrm>
            <a:prstGeom prst="rect">
              <a:avLst/>
            </a:prstGeom>
            <a:noFill/>
            <a:ln>
              <a:noFill/>
            </a:ln>
          </p:spPr>
          <p:txBody>
            <a:bodyPr wrap="none" lIns="0" tIns="0" rIns="0" bIns="0" anchor="t" anchorCtr="0">
              <a:spAutoFit/>
            </a:bodyPr>
            <a:lstStyle/>
            <a:p>
              <a:pPr algn="l">
                <a:lnSpc>
                  <a:spcPts val="1350"/>
                </a:lnSpc>
              </a:pPr>
              <a:r>
                <a:rPr lang="tr-TR" sz="980" dirty="0">
                  <a:solidFill>
                    <a:srgbClr val="EAF4F6"/>
                  </a:solidFill>
                  <a:latin typeface="Consolas"/>
                  <a:ea typeface="Consolas"/>
                  <a:cs typeface="Consolas"/>
                </a:rPr>
                <a:t>SELECT y.ad, k.baslik FROM yazar y INNER JOIN kitap k</a:t>
              </a:r>
              <a:br/>
              <a:r>
                <a:rPr lang="tr-TR" sz="980" dirty="0">
                  <a:solidFill>
                    <a:srgbClr val="EAF4F6"/>
                  </a:solidFill>
                  <a:latin typeface="Consolas"/>
                  <a:ea typeface="Consolas"/>
                  <a:cs typeface="Consolas"/>
                </a:rPr>
                <a:t>ON k.yazar_id = y.id; -- yalnızca kitabı olanlar</a:t>
              </a:r>
            </a:p>
            <a:p>
              <a:pPr algn="l">
                <a:lnSpc>
                  <a:spcPts val="1350"/>
                </a:lnSpc>
                <a:spcBef>
                  <a:spcPts val="300"/>
                </a:spcBef>
              </a:pPr>
              <a:r>
                <a:rPr lang="tr-TR" sz="980" dirty="0">
                  <a:solidFill>
                    <a:srgbClr val="EAF4F6"/>
                  </a:solidFill>
                  <a:latin typeface="Consolas"/>
                  <a:ea typeface="Consolas"/>
                  <a:cs typeface="Consolas"/>
                </a:rPr>
                <a:t>SELECT y.ad, k.baslik FROM yazar y LEFT JOIN kitap k</a:t>
              </a:r>
              <a:br/>
              <a:r>
                <a:rPr lang="tr-TR" sz="980" dirty="0">
                  <a:solidFill>
                    <a:srgbClr val="EAF4F6"/>
                  </a:solidFill>
                  <a:latin typeface="Consolas"/>
                  <a:ea typeface="Consolas"/>
                  <a:cs typeface="Consolas"/>
                </a:rPr>
                <a:t>ON k.yazar_id = y.id; -- kitabı olmayanlar da (k.baslik = NULL)</a:t>
              </a:r>
            </a:p>
          </p:txBody>
        </p:sp>
      </p:grpSp>
      <p:sp>
        <p:nvSpPr>
          <p:cNvPr id="36" name="TextBox 36"/>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15 / 26</a:t>
            </a:r>
          </a:p>
        </p:txBody>
      </p:sp>
    </p:spTree>
  </p:cSld>
  <p:clrMapOvr>
    <a:masterClrMapping/>
  </p:clrMapOvr>
  <p:transition xmlns:p14="http://schemas.microsoft.com/office/powerpoint/2010/main" p14:dur="400">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9636270" cy="668845"/>
            <a:chOff x="609600" y="171450"/>
            <a:chExt cx="9636270"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46456" y="319421"/>
                <a:ext cx="297777" cy="255830"/>
                <a:chOff x="746456" y="319421"/>
                <a:chExt cx="297777" cy="255830"/>
              </a:xfrm>
            </p:grpSpPr>
            <p:sp>
              <p:nvSpPr>
                <p:cNvPr id="5" name="Freeform 5"/>
                <p:cNvSpPr/>
                <p:nvPr/>
              </p:nvSpPr>
              <p:spPr>
                <a:xfrm>
                  <a:off x="895350" y="412909"/>
                  <a:ext cx="9525" cy="59055"/>
                </a:xfrm>
                <a:custGeom>
                  <a:avLst/>
                  <a:gdLst/>
                  <a:ahLst/>
                  <a:cxnLst/>
                  <a:rect l="l" t="t" r="r" b="b"/>
                  <a:pathLst>
                    <a:path w="9525" h="59055">
                      <a:moveTo>
                        <a:pt x="0" y="0"/>
                      </a:moveTo>
                      <a:lnTo>
                        <a:pt x="0" y="59055"/>
                      </a:lnTo>
                    </a:path>
                  </a:pathLst>
                </a:custGeom>
                <a:noFill/>
                <a:ln w="24759" cap="rnd">
                  <a:solidFill>
                    <a:srgbClr val="FFFFFF"/>
                  </a:solidFill>
                  <a:round/>
                </a:ln>
              </p:spPr>
            </p:sp>
            <p:sp>
              <p:nvSpPr>
                <p:cNvPr id="6" name="Freeform 6"/>
                <p:cNvSpPr/>
                <p:nvPr/>
              </p:nvSpPr>
              <p:spPr>
                <a:xfrm>
                  <a:off x="746456" y="319421"/>
                  <a:ext cx="297777" cy="255830"/>
                </a:xfrm>
                <a:custGeom>
                  <a:avLst/>
                  <a:gdLst/>
                  <a:ahLst/>
                  <a:cxnLst/>
                  <a:rect l="l" t="t" r="r" b="b"/>
                  <a:pathLst>
                    <a:path w="297777" h="255830">
                      <a:moveTo>
                        <a:pt x="124726" y="13630"/>
                      </a:moveTo>
                      <a:lnTo>
                        <a:pt x="5051" y="213443"/>
                      </a:lnTo>
                      <a:cubicBezTo>
                        <a:pt x="31" y="222137"/>
                        <a:pt x="0" y="232841"/>
                        <a:pt x="4970" y="241564"/>
                      </a:cubicBezTo>
                      <a:cubicBezTo>
                        <a:pt x="9941" y="250286"/>
                        <a:pt x="19166" y="255717"/>
                        <a:pt x="29204" y="255830"/>
                      </a:cubicBezTo>
                      <a:lnTo>
                        <a:pt x="268584" y="255830"/>
                      </a:lnTo>
                      <a:cubicBezTo>
                        <a:pt x="278618" y="255714"/>
                        <a:pt x="287838" y="250285"/>
                        <a:pt x="292807" y="241568"/>
                      </a:cubicBezTo>
                      <a:cubicBezTo>
                        <a:pt x="297777" y="232850"/>
                        <a:pt x="297750" y="222150"/>
                        <a:pt x="292737" y="213458"/>
                      </a:cubicBezTo>
                      <a:lnTo>
                        <a:pt x="173062" y="13615"/>
                      </a:lnTo>
                      <a:cubicBezTo>
                        <a:pt x="167941" y="5163"/>
                        <a:pt x="158777" y="0"/>
                        <a:pt x="148894" y="0"/>
                      </a:cubicBezTo>
                      <a:cubicBezTo>
                        <a:pt x="139011" y="0"/>
                        <a:pt x="129847" y="5163"/>
                        <a:pt x="124726" y="13615"/>
                      </a:cubicBezTo>
                    </a:path>
                  </a:pathLst>
                </a:custGeom>
                <a:noFill/>
                <a:ln w="24759" cap="rnd">
                  <a:solidFill>
                    <a:srgbClr val="FFFFFF"/>
                  </a:solidFill>
                  <a:round/>
                </a:ln>
              </p:spPr>
            </p:sp>
            <p:sp>
              <p:nvSpPr>
                <p:cNvPr id="7" name="Freeform 7"/>
                <p:cNvSpPr/>
                <p:nvPr/>
              </p:nvSpPr>
              <p:spPr>
                <a:xfrm>
                  <a:off x="895350" y="516255"/>
                  <a:ext cx="9525" cy="9525"/>
                </a:xfrm>
                <a:custGeom>
                  <a:avLst/>
                  <a:gdLst/>
                  <a:ahLst/>
                  <a:cxnLst/>
                  <a:rect l="l" t="t" r="r" b="b"/>
                  <a:pathLst>
                    <a:path w="9525" h="9525">
                      <a:moveTo>
                        <a:pt x="0" y="0"/>
                      </a:moveTo>
                      <a:lnTo>
                        <a:pt x="148" y="0"/>
                      </a:lnTo>
                    </a:path>
                  </a:pathLst>
                </a:custGeom>
                <a:noFill/>
                <a:ln w="24759" cap="rnd">
                  <a:solidFill>
                    <a:srgbClr val="FFFFFF"/>
                  </a:solidFill>
                  <a:round/>
                </a:ln>
              </p:spPr>
            </p:sp>
          </p:grpSp>
        </p:grpSp>
        <p:sp>
          <p:nvSpPr>
            <p:cNvPr id="10" name="TextBox 10"/>
            <p:cNvSpPr txBox="1"/>
            <p:nvPr/>
          </p:nvSpPr>
          <p:spPr>
            <a:xfrm>
              <a:off x="1299972" y="282892"/>
              <a:ext cx="8945898"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JOIN türü seçimi ve kartezyen çarpım hatası</a:t>
              </a:r>
            </a:p>
          </p:txBody>
        </p:sp>
      </p:grpSp>
      <p:grpSp>
        <p:nvGrpSpPr>
          <p:cNvPr id="16" name="matrix-header"/>
          <p:cNvGrpSpPr/>
          <p:nvPr/>
        </p:nvGrpSpPr>
        <p:grpSpPr>
          <a:xfrm>
            <a:off x="609600" y="1257300"/>
            <a:ext cx="10972800" cy="342900"/>
            <a:chOff x="609600" y="1257300"/>
            <a:chExt cx="10972800" cy="342900"/>
          </a:xfrm>
        </p:grpSpPr>
        <p:sp>
          <p:nvSpPr>
            <p:cNvPr id="12" name="Rectangle 12"/>
            <p:cNvSpPr/>
            <p:nvPr/>
          </p:nvSpPr>
          <p:spPr>
            <a:xfrm>
              <a:off x="609600" y="1257300"/>
              <a:ext cx="10972800" cy="342900"/>
            </a:xfrm>
            <a:prstGeom prst="rect">
              <a:avLst/>
            </a:prstGeom>
            <a:solidFill>
              <a:srgbClr val="12355B"/>
            </a:solidFill>
            <a:ln>
              <a:noFill/>
            </a:ln>
          </p:spPr>
        </p:sp>
        <p:sp>
          <p:nvSpPr>
            <p:cNvPr id="13" name="TextBox 13"/>
            <p:cNvSpPr txBox="1"/>
            <p:nvPr/>
          </p:nvSpPr>
          <p:spPr>
            <a:xfrm>
              <a:off x="756285" y="1354931"/>
              <a:ext cx="874599" cy="220028"/>
            </a:xfrm>
            <a:prstGeom prst="rect">
              <a:avLst/>
            </a:prstGeom>
            <a:noFill/>
            <a:ln>
              <a:noFill/>
            </a:ln>
          </p:spPr>
          <p:txBody>
            <a:bodyPr wrap="none" lIns="0" tIns="0" rIns="0" bIns="0" anchor="t" anchorCtr="0">
              <a:spAutoFit/>
            </a:bodyPr>
            <a:lstStyle/>
            <a:p>
              <a:pPr algn="l"/>
              <a:r>
                <a:rPr lang="tr-TR" sz="1120" b="1" spc="75" dirty="0">
                  <a:solidFill>
                    <a:srgbClr val="FFFFFF"/>
                  </a:solidFill>
                  <a:latin typeface="+mn-lt"/>
                  <a:ea typeface="+mn-ea"/>
                  <a:cs typeface="+mn-cs"/>
                </a:rPr>
                <a:t>JOIN TÜRÜ</a:t>
              </a:r>
            </a:p>
          </p:txBody>
        </p:sp>
        <p:sp>
          <p:nvSpPr>
            <p:cNvPr id="14" name="TextBox 14"/>
            <p:cNvSpPr txBox="1"/>
            <p:nvPr/>
          </p:nvSpPr>
          <p:spPr>
            <a:xfrm>
              <a:off x="3423285" y="1354931"/>
              <a:ext cx="916418" cy="220028"/>
            </a:xfrm>
            <a:prstGeom prst="rect">
              <a:avLst/>
            </a:prstGeom>
            <a:noFill/>
            <a:ln>
              <a:noFill/>
            </a:ln>
          </p:spPr>
          <p:txBody>
            <a:bodyPr wrap="none" lIns="0" tIns="0" rIns="0" bIns="0" anchor="t" anchorCtr="0">
              <a:spAutoFit/>
            </a:bodyPr>
            <a:lstStyle/>
            <a:p>
              <a:pPr algn="l"/>
              <a:r>
                <a:rPr lang="tr-TR" sz="1120" b="1" spc="75" dirty="0">
                  <a:solidFill>
                    <a:srgbClr val="FFFFFF"/>
                  </a:solidFill>
                  <a:latin typeface="+mn-lt"/>
                  <a:ea typeface="+mn-ea"/>
                  <a:cs typeface="+mn-cs"/>
                </a:rPr>
                <a:t>NE ZAMAN?</a:t>
              </a:r>
            </a:p>
          </p:txBody>
        </p:sp>
        <p:sp>
          <p:nvSpPr>
            <p:cNvPr id="15" name="TextBox 15"/>
            <p:cNvSpPr txBox="1"/>
            <p:nvPr/>
          </p:nvSpPr>
          <p:spPr>
            <a:xfrm>
              <a:off x="8566785" y="1354931"/>
              <a:ext cx="1257879" cy="220028"/>
            </a:xfrm>
            <a:prstGeom prst="rect">
              <a:avLst/>
            </a:prstGeom>
            <a:noFill/>
            <a:ln>
              <a:noFill/>
            </a:ln>
          </p:spPr>
          <p:txBody>
            <a:bodyPr wrap="none" lIns="0" tIns="0" rIns="0" bIns="0" anchor="t" anchorCtr="0">
              <a:spAutoFit/>
            </a:bodyPr>
            <a:lstStyle/>
            <a:p>
              <a:pPr algn="l"/>
              <a:r>
                <a:rPr lang="tr-TR" sz="1120" b="1" spc="75" dirty="0">
                  <a:solidFill>
                    <a:srgbClr val="FFFFFF"/>
                  </a:solidFill>
                  <a:latin typeface="+mn-lt"/>
                  <a:ea typeface="+mn-ea"/>
                  <a:cs typeface="+mn-cs"/>
                </a:rPr>
                <a:t>SONUÇ BOYUTU</a:t>
              </a:r>
            </a:p>
          </p:txBody>
        </p:sp>
      </p:grpSp>
      <p:grpSp>
        <p:nvGrpSpPr>
          <p:cNvPr id="20" name="row-right"/>
          <p:cNvGrpSpPr/>
          <p:nvPr/>
        </p:nvGrpSpPr>
        <p:grpSpPr>
          <a:xfrm>
            <a:off x="609600" y="1775460"/>
            <a:ext cx="10972800" cy="367665"/>
            <a:chOff x="609600" y="1775460"/>
            <a:chExt cx="10972800" cy="367665"/>
          </a:xfrm>
        </p:grpSpPr>
        <p:sp>
          <p:nvSpPr>
            <p:cNvPr id="17" name="TextBox 17"/>
            <p:cNvSpPr txBox="1"/>
            <p:nvPr/>
          </p:nvSpPr>
          <p:spPr>
            <a:xfrm>
              <a:off x="755904" y="1775460"/>
              <a:ext cx="899343"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RIGHT JOIN</a:t>
              </a:r>
            </a:p>
          </p:txBody>
        </p:sp>
        <p:sp>
          <p:nvSpPr>
            <p:cNvPr id="18" name="TextBox 18"/>
            <p:cNvSpPr txBox="1"/>
            <p:nvPr/>
          </p:nvSpPr>
          <p:spPr>
            <a:xfrm>
              <a:off x="3422904" y="1775460"/>
              <a:ext cx="7031605"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Sağ tablonun tamamı korunmalı, sol PostgreSQL'de nadir; genelde LEFT JOIN'e çevrilir.</a:t>
              </a:r>
            </a:p>
          </p:txBody>
        </p:sp>
        <p:sp>
          <p:nvSpPr>
            <p:cNvPr id="19" name="Line 19"/>
            <p:cNvSpPr/>
            <p:nvPr/>
          </p:nvSpPr>
          <p:spPr>
            <a:xfrm>
              <a:off x="609600" y="213360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24" name="row-full"/>
          <p:cNvGrpSpPr/>
          <p:nvPr/>
        </p:nvGrpSpPr>
        <p:grpSpPr>
          <a:xfrm>
            <a:off x="609600" y="2133600"/>
            <a:ext cx="10972800" cy="533400"/>
            <a:chOff x="609600" y="2133600"/>
            <a:chExt cx="10972800" cy="533400"/>
          </a:xfrm>
        </p:grpSpPr>
        <p:sp>
          <p:nvSpPr>
            <p:cNvPr id="21" name="Rectangle 21"/>
            <p:cNvSpPr/>
            <p:nvPr/>
          </p:nvSpPr>
          <p:spPr>
            <a:xfrm>
              <a:off x="609600" y="2133600"/>
              <a:ext cx="10972800" cy="533400"/>
            </a:xfrm>
            <a:prstGeom prst="rect">
              <a:avLst/>
            </a:prstGeom>
            <a:solidFill>
              <a:srgbClr val="EAF4F6"/>
            </a:solidFill>
            <a:ln>
              <a:noFill/>
            </a:ln>
          </p:spPr>
        </p:sp>
        <p:sp>
          <p:nvSpPr>
            <p:cNvPr id="22" name="TextBox 22"/>
            <p:cNvSpPr txBox="1"/>
            <p:nvPr/>
          </p:nvSpPr>
          <p:spPr>
            <a:xfrm>
              <a:off x="755904" y="2308860"/>
              <a:ext cx="1428049"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FULL OUTER JOIN</a:t>
              </a:r>
            </a:p>
          </p:txBody>
        </p:sp>
        <p:sp>
          <p:nvSpPr>
            <p:cNvPr id="23" name="TextBox 23"/>
            <p:cNvSpPr txBox="1"/>
            <p:nvPr/>
          </p:nvSpPr>
          <p:spPr>
            <a:xfrm>
              <a:off x="3422904" y="2308860"/>
              <a:ext cx="7529237"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İki tablonun eşleşen ve eşleşmeyen tüm satırları birlikte gösterilmeli (uzlaştırma raporları).</a:t>
              </a:r>
            </a:p>
          </p:txBody>
        </p:sp>
      </p:grpSp>
      <p:grpSp>
        <p:nvGrpSpPr>
          <p:cNvPr id="33" name="cartesian-block"/>
          <p:cNvGrpSpPr/>
          <p:nvPr/>
        </p:nvGrpSpPr>
        <p:grpSpPr>
          <a:xfrm>
            <a:off x="600456" y="3006090"/>
            <a:ext cx="9810203" cy="1722978"/>
            <a:chOff x="600456" y="3006090"/>
            <a:chExt cx="9810203" cy="1722978"/>
          </a:xfrm>
        </p:grpSpPr>
        <p:sp>
          <p:nvSpPr>
            <p:cNvPr id="25" name="TextBox 25"/>
            <p:cNvSpPr txBox="1"/>
            <p:nvPr/>
          </p:nvSpPr>
          <p:spPr>
            <a:xfrm>
              <a:off x="600456" y="3006090"/>
              <a:ext cx="6072702"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Yaygın hata: kartezyen çarpım (Kod 7.15–7.16)</a:t>
              </a:r>
            </a:p>
          </p:txBody>
        </p:sp>
        <p:sp>
          <p:nvSpPr>
            <p:cNvPr id="26" name="Rectangle 26"/>
            <p:cNvSpPr/>
            <p:nvPr/>
          </p:nvSpPr>
          <p:spPr>
            <a:xfrm>
              <a:off x="609600" y="3352800"/>
              <a:ext cx="5334000" cy="1333500"/>
            </a:xfrm>
            <a:prstGeom prst="roundRect">
              <a:avLst>
                <a:gd name="adj" fmla="val 5714"/>
              </a:avLst>
            </a:prstGeom>
            <a:solidFill>
              <a:srgbClr val="0B2038"/>
            </a:solidFill>
            <a:ln>
              <a:noFill/>
            </a:ln>
          </p:spPr>
        </p:sp>
        <p:sp>
          <p:nvSpPr>
            <p:cNvPr id="27" name="TextBox 27"/>
            <p:cNvSpPr txBox="1"/>
            <p:nvPr/>
          </p:nvSpPr>
          <p:spPr>
            <a:xfrm>
              <a:off x="794576" y="3502104"/>
              <a:ext cx="9616083" cy="212693"/>
            </a:xfrm>
            <a:prstGeom prst="rect">
              <a:avLst/>
            </a:prstGeom>
            <a:noFill/>
            <a:ln>
              <a:noFill/>
            </a:ln>
          </p:spPr>
          <p:txBody>
            <a:bodyPr wrap="none" lIns="0" tIns="0" rIns="0" bIns="0" anchor="t" anchorCtr="0">
              <a:spAutoFit/>
            </a:bodyPr>
            <a:lstStyle/>
            <a:p>
              <a:pPr algn="l"/>
              <a:r>
                <a:rPr lang="tr-TR" sz="1090" dirty="0">
                  <a:solidFill>
                    <a:srgbClr val="EAF4F6"/>
                  </a:solidFill>
                  <a:latin typeface="Consolas"/>
                  <a:ea typeface="Consolas"/>
                  <a:cs typeface="Consolas"/>
                </a:rPr>
                <a:t>-- ON koşulu unutulursa: SELECT * FROM yazar, kitap; -- 3 yazar x 5 kitap = 15 satır -- her yazar her kitapla eşleşir!</a:t>
              </a:r>
            </a:p>
          </p:txBody>
        </p:sp>
        <p:sp>
          <p:nvSpPr>
            <p:cNvPr id="28" name="TextBox 28"/>
            <p:cNvSpPr txBox="1"/>
            <p:nvPr/>
          </p:nvSpPr>
          <p:spPr>
            <a:xfrm>
              <a:off x="6240399" y="3430429"/>
              <a:ext cx="3380067"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ON koşulu olmadan (veya virgülle</a:t>
              </a:r>
            </a:p>
          </p:txBody>
        </p:sp>
        <p:sp>
          <p:nvSpPr>
            <p:cNvPr id="29" name="TextBox 29"/>
            <p:cNvSpPr txBox="1"/>
            <p:nvPr/>
          </p:nvSpPr>
          <p:spPr>
            <a:xfrm>
              <a:off x="6240399" y="3678079"/>
              <a:ext cx="3865865"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ayrılmış tablo listesiyle) çalışan bir</a:t>
              </a:r>
            </a:p>
          </p:txBody>
        </p:sp>
        <p:sp>
          <p:nvSpPr>
            <p:cNvPr id="30" name="TextBox 30"/>
            <p:cNvSpPr txBox="1"/>
            <p:nvPr/>
          </p:nvSpPr>
          <p:spPr>
            <a:xfrm>
              <a:off x="6240399" y="3925729"/>
              <a:ext cx="3341556"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JOIN, her satırı diğer tablonun</a:t>
              </a:r>
            </a:p>
          </p:txBody>
        </p:sp>
        <p:sp>
          <p:nvSpPr>
            <p:cNvPr id="31" name="TextBox 31"/>
            <p:cNvSpPr txBox="1"/>
            <p:nvPr/>
          </p:nvSpPr>
          <p:spPr>
            <a:xfrm>
              <a:off x="6240399" y="4173379"/>
              <a:ext cx="3887135"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tüm satırlarıyla eşler; sonuç kümesi</a:t>
              </a:r>
            </a:p>
          </p:txBody>
        </p:sp>
        <p:sp>
          <p:nvSpPr>
            <p:cNvPr id="32" name="TextBox 32"/>
            <p:cNvSpPr txBox="1"/>
            <p:nvPr/>
          </p:nvSpPr>
          <p:spPr>
            <a:xfrm>
              <a:off x="6240399" y="4421029"/>
              <a:ext cx="3716975"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katlanarak büyür ve anlamsızlaşır.</a:t>
              </a:r>
            </a:p>
          </p:txBody>
        </p:sp>
      </p:grpSp>
      <p:grpSp>
        <p:nvGrpSpPr>
          <p:cNvPr id="38" name="attention-note"/>
          <p:cNvGrpSpPr/>
          <p:nvPr/>
        </p:nvGrpSpPr>
        <p:grpSpPr>
          <a:xfrm>
            <a:off x="609600" y="5334000"/>
            <a:ext cx="10972800" cy="848106"/>
            <a:chOff x="609600" y="5334000"/>
            <a:chExt cx="10972800" cy="848106"/>
          </a:xfrm>
        </p:grpSpPr>
        <p:sp>
          <p:nvSpPr>
            <p:cNvPr id="34" name="Rectangle 34"/>
            <p:cNvSpPr/>
            <p:nvPr/>
          </p:nvSpPr>
          <p:spPr>
            <a:xfrm>
              <a:off x="609600" y="5334000"/>
              <a:ext cx="10972800" cy="762000"/>
            </a:xfrm>
            <a:prstGeom prst="roundRect">
              <a:avLst>
                <a:gd name="adj" fmla="val 10000"/>
              </a:avLst>
            </a:prstGeom>
            <a:solidFill>
              <a:srgbClr val="EAF4F6"/>
            </a:solidFill>
            <a:ln>
              <a:noFill/>
            </a:ln>
          </p:spPr>
        </p:sp>
        <p:sp>
          <p:nvSpPr>
            <p:cNvPr id="35" name="Rectangle 35"/>
            <p:cNvSpPr/>
            <p:nvPr/>
          </p:nvSpPr>
          <p:spPr>
            <a:xfrm>
              <a:off x="609600" y="5334000"/>
              <a:ext cx="57150" cy="762000"/>
            </a:xfrm>
            <a:prstGeom prst="rect">
              <a:avLst/>
            </a:prstGeom>
            <a:solidFill>
              <a:srgbClr val="00A6A6"/>
            </a:solidFill>
            <a:ln>
              <a:noFill/>
            </a:ln>
          </p:spPr>
        </p:sp>
        <p:sp>
          <p:nvSpPr>
            <p:cNvPr id="36" name="TextBox 36"/>
            <p:cNvSpPr txBox="1"/>
            <p:nvPr/>
          </p:nvSpPr>
          <p:spPr>
            <a:xfrm>
              <a:off x="906399" y="5449729"/>
              <a:ext cx="1877174"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 Kontrol listesi</a:t>
              </a:r>
            </a:p>
          </p:txBody>
        </p:sp>
        <p:sp>
          <p:nvSpPr>
            <p:cNvPr id="37" name="TextBox 37"/>
            <p:cNvSpPr txBox="1"/>
            <p:nvPr/>
          </p:nvSpPr>
          <p:spPr>
            <a:xfrm>
              <a:off x="908304" y="5756910"/>
              <a:ext cx="637489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Her JOIN satırında bir ON koşulu olmalı; sorgu sonucundaki satır sayısı beklenenden</a:t>
              </a:r>
              <a:br/>
              <a:r>
                <a:rPr lang="tr-TR" sz="1200" dirty="0">
                  <a:solidFill>
                    <a:srgbClr val="172B3A"/>
                  </a:solidFill>
                  <a:latin typeface="+mn-lt"/>
                  <a:ea typeface="+mn-ea"/>
                  <a:cs typeface="+mn-cs"/>
                </a:rPr>
                <a:t>büyükse önce kartezyen çarpım ihtimalini kontrol edin.</a:t>
              </a:r>
            </a:p>
          </p:txBody>
        </p:sp>
      </p:grpSp>
      <p:sp>
        <p:nvSpPr>
          <p:cNvPr id="39" name="TextBox 39"/>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16 / 26</a:t>
            </a:r>
          </a:p>
        </p:txBody>
      </p:sp>
    </p:spTree>
  </p:cSld>
  <p:clrMapOvr>
    <a:masterClrMapping/>
  </p:clrMapOvr>
  <p:transition xmlns:p14="http://schemas.microsoft.com/office/powerpoint/2010/main" p14:dur="400">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10138561" cy="668845"/>
            <a:chOff x="609600" y="171450"/>
            <a:chExt cx="10138561"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77240" y="324326"/>
                <a:ext cx="236220" cy="265748"/>
                <a:chOff x="777240" y="324326"/>
                <a:chExt cx="236220" cy="265748"/>
              </a:xfrm>
            </p:grpSpPr>
            <p:sp>
              <p:nvSpPr>
                <p:cNvPr id="5" name="Freeform 5"/>
                <p:cNvSpPr/>
                <p:nvPr/>
              </p:nvSpPr>
              <p:spPr>
                <a:xfrm>
                  <a:off x="777240" y="324326"/>
                  <a:ext cx="236220" cy="88583"/>
                </a:xfrm>
                <a:custGeom>
                  <a:avLst/>
                  <a:gdLst/>
                  <a:ahLst/>
                  <a:cxnLst/>
                  <a:rect l="l" t="t" r="r" b="b"/>
                  <a:pathLst>
                    <a:path w="236220" h="88583">
                      <a:moveTo>
                        <a:pt x="0" y="44291"/>
                      </a:moveTo>
                      <a:cubicBezTo>
                        <a:pt x="0" y="68753"/>
                        <a:pt x="52880" y="88583"/>
                        <a:pt x="118110" y="88583"/>
                      </a:cubicBezTo>
                      <a:cubicBezTo>
                        <a:pt x="183340" y="88583"/>
                        <a:pt x="236220" y="68753"/>
                        <a:pt x="236220" y="44291"/>
                      </a:cubicBezTo>
                      <a:cubicBezTo>
                        <a:pt x="236220" y="19830"/>
                        <a:pt x="183340" y="0"/>
                        <a:pt x="118110" y="0"/>
                      </a:cubicBezTo>
                      <a:cubicBezTo>
                        <a:pt x="52880" y="0"/>
                        <a:pt x="0" y="19830"/>
                        <a:pt x="0" y="44291"/>
                      </a:cubicBezTo>
                    </a:path>
                  </a:pathLst>
                </a:custGeom>
                <a:noFill/>
                <a:ln w="24759" cap="rnd">
                  <a:solidFill>
                    <a:srgbClr val="FFFFFF"/>
                  </a:solidFill>
                  <a:round/>
                </a:ln>
              </p:spPr>
            </p:sp>
            <p:sp>
              <p:nvSpPr>
                <p:cNvPr id="6" name="Freeform 6"/>
                <p:cNvSpPr/>
                <p:nvPr/>
              </p:nvSpPr>
              <p:spPr>
                <a:xfrm>
                  <a:off x="777240" y="368618"/>
                  <a:ext cx="236220" cy="132874"/>
                </a:xfrm>
                <a:custGeom>
                  <a:avLst/>
                  <a:gdLst/>
                  <a:ahLst/>
                  <a:cxnLst/>
                  <a:rect l="l" t="t" r="r" b="b"/>
                  <a:pathLst>
                    <a:path w="236220" h="132874">
                      <a:moveTo>
                        <a:pt x="0" y="0"/>
                      </a:moveTo>
                      <a:lnTo>
                        <a:pt x="0" y="88582"/>
                      </a:lnTo>
                      <a:cubicBezTo>
                        <a:pt x="0" y="113044"/>
                        <a:pt x="52880" y="132874"/>
                        <a:pt x="118110" y="132874"/>
                      </a:cubicBezTo>
                      <a:cubicBezTo>
                        <a:pt x="183340" y="132874"/>
                        <a:pt x="236220" y="113044"/>
                        <a:pt x="236220" y="88582"/>
                      </a:cubicBezTo>
                      <a:lnTo>
                        <a:pt x="236220" y="0"/>
                      </a:lnTo>
                    </a:path>
                  </a:pathLst>
                </a:custGeom>
                <a:noFill/>
                <a:ln w="24759" cap="rnd">
                  <a:solidFill>
                    <a:srgbClr val="FFFFFF"/>
                  </a:solidFill>
                  <a:round/>
                </a:ln>
              </p:spPr>
            </p:sp>
            <p:sp>
              <p:nvSpPr>
                <p:cNvPr id="7" name="Freeform 7"/>
                <p:cNvSpPr/>
                <p:nvPr/>
              </p:nvSpPr>
              <p:spPr>
                <a:xfrm>
                  <a:off x="777240" y="457200"/>
                  <a:ext cx="236220" cy="132874"/>
                </a:xfrm>
                <a:custGeom>
                  <a:avLst/>
                  <a:gdLst/>
                  <a:ahLst/>
                  <a:cxnLst/>
                  <a:rect l="l" t="t" r="r" b="b"/>
                  <a:pathLst>
                    <a:path w="236220" h="132874">
                      <a:moveTo>
                        <a:pt x="0" y="0"/>
                      </a:moveTo>
                      <a:lnTo>
                        <a:pt x="0" y="88582"/>
                      </a:lnTo>
                      <a:cubicBezTo>
                        <a:pt x="0" y="113044"/>
                        <a:pt x="52880" y="132874"/>
                        <a:pt x="118110" y="132874"/>
                      </a:cubicBezTo>
                      <a:cubicBezTo>
                        <a:pt x="183340" y="132874"/>
                        <a:pt x="236220" y="113044"/>
                        <a:pt x="236220" y="88582"/>
                      </a:cubicBezTo>
                      <a:lnTo>
                        <a:pt x="236220" y="0"/>
                      </a:lnTo>
                    </a:path>
                  </a:pathLst>
                </a:custGeom>
                <a:noFill/>
                <a:ln w="24759" cap="rnd">
                  <a:solidFill>
                    <a:srgbClr val="FFFFFF"/>
                  </a:solidFill>
                  <a:round/>
                </a:ln>
              </p:spPr>
            </p:sp>
          </p:grpSp>
        </p:grpSp>
        <p:sp>
          <p:nvSpPr>
            <p:cNvPr id="10" name="TextBox 10"/>
            <p:cNvSpPr txBox="1"/>
            <p:nvPr/>
          </p:nvSpPr>
          <p:spPr>
            <a:xfrm>
              <a:off x="1299972" y="282892"/>
              <a:ext cx="9448189"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Constraint: veritabanı düzeyinde veri kuralları</a:t>
              </a:r>
            </a:p>
          </p:txBody>
        </p:sp>
      </p:grpSp>
      <p:grpSp>
        <p:nvGrpSpPr>
          <p:cNvPr id="14" name="intro-block"/>
          <p:cNvGrpSpPr/>
          <p:nvPr/>
        </p:nvGrpSpPr>
        <p:grpSpPr>
          <a:xfrm>
            <a:off x="601599" y="1277779"/>
            <a:ext cx="8796855" cy="536639"/>
            <a:chOff x="601599" y="1277779"/>
            <a:chExt cx="8796855" cy="536639"/>
          </a:xfrm>
        </p:grpSpPr>
        <p:sp>
          <p:nvSpPr>
            <p:cNvPr id="12" name="TextBox 12"/>
            <p:cNvSpPr txBox="1"/>
            <p:nvPr/>
          </p:nvSpPr>
          <p:spPr>
            <a:xfrm>
              <a:off x="601599" y="1277779"/>
              <a:ext cx="8796855"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Constraint'ler, uygulama kodu atlanmış olsa bile motor düzeyinde zorunlu kalan dört</a:t>
              </a:r>
            </a:p>
          </p:txBody>
        </p:sp>
        <p:sp>
          <p:nvSpPr>
            <p:cNvPr id="13" name="TextBox 13"/>
            <p:cNvSpPr txBox="1"/>
            <p:nvPr/>
          </p:nvSpPr>
          <p:spPr>
            <a:xfrm>
              <a:off x="601599" y="1506379"/>
              <a:ext cx="7577473"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bütünlük kategorisini (savunma derinliği — defense in depth) temsil eder.</a:t>
              </a:r>
            </a:p>
          </p:txBody>
        </p:sp>
      </p:grpSp>
      <p:grpSp>
        <p:nvGrpSpPr>
          <p:cNvPr id="35" name="cards"/>
          <p:cNvGrpSpPr/>
          <p:nvPr/>
        </p:nvGrpSpPr>
        <p:grpSpPr>
          <a:xfrm>
            <a:off x="609600" y="1981200"/>
            <a:ext cx="10972800" cy="1714500"/>
            <a:chOff x="609600" y="1981200"/>
            <a:chExt cx="10972800" cy="1714500"/>
          </a:xfrm>
        </p:grpSpPr>
        <p:sp>
          <p:nvSpPr>
            <p:cNvPr id="15" name="Rectangle 15"/>
            <p:cNvSpPr/>
            <p:nvPr/>
          </p:nvSpPr>
          <p:spPr>
            <a:xfrm>
              <a:off x="609600" y="1981200"/>
              <a:ext cx="2571750" cy="1714500"/>
            </a:xfrm>
            <a:prstGeom prst="roundRect">
              <a:avLst>
                <a:gd name="adj" fmla="val 5556"/>
              </a:avLst>
            </a:prstGeom>
            <a:solidFill>
              <a:srgbClr val="FFFFFF"/>
            </a:solidFill>
            <a:ln w="14288">
              <a:solidFill>
                <a:srgbClr val="2E86AB"/>
              </a:solidFill>
            </a:ln>
          </p:spPr>
        </p:sp>
        <p:sp>
          <p:nvSpPr>
            <p:cNvPr id="16" name="TextBox 16"/>
            <p:cNvSpPr txBox="1"/>
            <p:nvPr/>
          </p:nvSpPr>
          <p:spPr>
            <a:xfrm>
              <a:off x="830580" y="2124075"/>
              <a:ext cx="989762" cy="293370"/>
            </a:xfrm>
            <a:prstGeom prst="rect">
              <a:avLst/>
            </a:prstGeom>
            <a:noFill/>
            <a:ln>
              <a:noFill/>
            </a:ln>
          </p:spPr>
          <p:txBody>
            <a:bodyPr wrap="none" lIns="0" tIns="0" rIns="0" bIns="0" anchor="t" anchorCtr="0">
              <a:spAutoFit/>
            </a:bodyPr>
            <a:lstStyle/>
            <a:p>
              <a:pPr algn="l"/>
              <a:r>
                <a:rPr lang="tr-TR" sz="1500" b="1" dirty="0">
                  <a:solidFill>
                    <a:srgbClr val="12355B"/>
                  </a:solidFill>
                  <a:latin typeface="+mn-lt"/>
                  <a:ea typeface="+mn-ea"/>
                  <a:cs typeface="+mn-cs"/>
                </a:rPr>
                <a:t>NOT NULL</a:t>
              </a:r>
            </a:p>
          </p:txBody>
        </p:sp>
        <p:sp>
          <p:nvSpPr>
            <p:cNvPr id="17" name="TextBox 17"/>
            <p:cNvSpPr txBox="1"/>
            <p:nvPr/>
          </p:nvSpPr>
          <p:spPr>
            <a:xfrm>
              <a:off x="832104" y="2442210"/>
              <a:ext cx="1754251"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Alan boş bırakılamaz;</a:t>
              </a:r>
            </a:p>
          </p:txBody>
        </p:sp>
        <p:sp>
          <p:nvSpPr>
            <p:cNvPr id="18" name="TextBox 18"/>
            <p:cNvSpPr txBox="1"/>
            <p:nvPr/>
          </p:nvSpPr>
          <p:spPr>
            <a:xfrm>
              <a:off x="832104" y="2651760"/>
              <a:ext cx="181340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zorunlu veri garantisi.</a:t>
              </a:r>
            </a:p>
          </p:txBody>
        </p:sp>
        <p:sp>
          <p:nvSpPr>
            <p:cNvPr id="19" name="TextBox 19"/>
            <p:cNvSpPr txBox="1"/>
            <p:nvPr/>
          </p:nvSpPr>
          <p:spPr>
            <a:xfrm>
              <a:off x="832104" y="3261360"/>
              <a:ext cx="2044785"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Etki alanı: alan bütünlüğü</a:t>
              </a:r>
            </a:p>
          </p:txBody>
        </p:sp>
        <p:sp>
          <p:nvSpPr>
            <p:cNvPr id="20" name="Rectangle 20"/>
            <p:cNvSpPr/>
            <p:nvPr/>
          </p:nvSpPr>
          <p:spPr>
            <a:xfrm>
              <a:off x="3333750" y="1981200"/>
              <a:ext cx="2571750" cy="1714500"/>
            </a:xfrm>
            <a:prstGeom prst="roundRect">
              <a:avLst>
                <a:gd name="adj" fmla="val 5556"/>
              </a:avLst>
            </a:prstGeom>
            <a:solidFill>
              <a:srgbClr val="FFFFFF"/>
            </a:solidFill>
            <a:ln w="14288">
              <a:solidFill>
                <a:srgbClr val="2E86AB"/>
              </a:solidFill>
            </a:ln>
          </p:spPr>
        </p:sp>
        <p:sp>
          <p:nvSpPr>
            <p:cNvPr id="21" name="TextBox 21"/>
            <p:cNvSpPr txBox="1"/>
            <p:nvPr/>
          </p:nvSpPr>
          <p:spPr>
            <a:xfrm>
              <a:off x="3554730" y="2124075"/>
              <a:ext cx="743331" cy="293370"/>
            </a:xfrm>
            <a:prstGeom prst="rect">
              <a:avLst/>
            </a:prstGeom>
            <a:noFill/>
            <a:ln>
              <a:noFill/>
            </a:ln>
          </p:spPr>
          <p:txBody>
            <a:bodyPr wrap="none" lIns="0" tIns="0" rIns="0" bIns="0" anchor="t" anchorCtr="0">
              <a:spAutoFit/>
            </a:bodyPr>
            <a:lstStyle/>
            <a:p>
              <a:pPr algn="l"/>
              <a:r>
                <a:rPr lang="tr-TR" sz="1500" b="1" dirty="0">
                  <a:solidFill>
                    <a:srgbClr val="12355B"/>
                  </a:solidFill>
                  <a:latin typeface="+mn-lt"/>
                  <a:ea typeface="+mn-ea"/>
                  <a:cs typeface="+mn-cs"/>
                </a:rPr>
                <a:t>UNIQUE</a:t>
              </a:r>
            </a:p>
          </p:txBody>
        </p:sp>
        <p:sp>
          <p:nvSpPr>
            <p:cNvPr id="22" name="TextBox 22"/>
            <p:cNvSpPr txBox="1"/>
            <p:nvPr/>
          </p:nvSpPr>
          <p:spPr>
            <a:xfrm>
              <a:off x="3556254" y="2442210"/>
              <a:ext cx="1859006"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Aynı değer birden fazla</a:t>
              </a:r>
            </a:p>
          </p:txBody>
        </p:sp>
        <p:sp>
          <p:nvSpPr>
            <p:cNvPr id="23" name="TextBox 23"/>
            <p:cNvSpPr txBox="1"/>
            <p:nvPr/>
          </p:nvSpPr>
          <p:spPr>
            <a:xfrm>
              <a:off x="3556254" y="2651760"/>
              <a:ext cx="1918411"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satırda tekrar edemez.</a:t>
              </a:r>
            </a:p>
          </p:txBody>
        </p:sp>
        <p:sp>
          <p:nvSpPr>
            <p:cNvPr id="24" name="TextBox 24"/>
            <p:cNvSpPr txBox="1"/>
            <p:nvPr/>
          </p:nvSpPr>
          <p:spPr>
            <a:xfrm>
              <a:off x="3556254" y="3261360"/>
              <a:ext cx="2044785"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Etki alanı: alan bütünlüğü</a:t>
              </a:r>
            </a:p>
          </p:txBody>
        </p:sp>
        <p:sp>
          <p:nvSpPr>
            <p:cNvPr id="25" name="Rectangle 25"/>
            <p:cNvSpPr/>
            <p:nvPr/>
          </p:nvSpPr>
          <p:spPr>
            <a:xfrm>
              <a:off x="6057900" y="1981200"/>
              <a:ext cx="2571750" cy="1714500"/>
            </a:xfrm>
            <a:prstGeom prst="roundRect">
              <a:avLst>
                <a:gd name="adj" fmla="val 5556"/>
              </a:avLst>
            </a:prstGeom>
            <a:solidFill>
              <a:srgbClr val="FFFFFF"/>
            </a:solidFill>
            <a:ln w="14288">
              <a:solidFill>
                <a:srgbClr val="2E86AB"/>
              </a:solidFill>
            </a:ln>
          </p:spPr>
        </p:sp>
        <p:sp>
          <p:nvSpPr>
            <p:cNvPr id="26" name="TextBox 26"/>
            <p:cNvSpPr txBox="1"/>
            <p:nvPr/>
          </p:nvSpPr>
          <p:spPr>
            <a:xfrm>
              <a:off x="6278880" y="2124075"/>
              <a:ext cx="631317" cy="293370"/>
            </a:xfrm>
            <a:prstGeom prst="rect">
              <a:avLst/>
            </a:prstGeom>
            <a:noFill/>
            <a:ln>
              <a:noFill/>
            </a:ln>
          </p:spPr>
          <p:txBody>
            <a:bodyPr wrap="none" lIns="0" tIns="0" rIns="0" bIns="0" anchor="t" anchorCtr="0">
              <a:spAutoFit/>
            </a:bodyPr>
            <a:lstStyle/>
            <a:p>
              <a:pPr algn="l"/>
              <a:r>
                <a:rPr lang="tr-TR" sz="1500" b="1" dirty="0">
                  <a:solidFill>
                    <a:srgbClr val="12355B"/>
                  </a:solidFill>
                  <a:latin typeface="+mn-lt"/>
                  <a:ea typeface="+mn-ea"/>
                  <a:cs typeface="+mn-cs"/>
                </a:rPr>
                <a:t>CHECK</a:t>
              </a:r>
            </a:p>
          </p:txBody>
        </p:sp>
        <p:sp>
          <p:nvSpPr>
            <p:cNvPr id="27" name="TextBox 27"/>
            <p:cNvSpPr txBox="1"/>
            <p:nvPr/>
          </p:nvSpPr>
          <p:spPr>
            <a:xfrm>
              <a:off x="6280404" y="2442210"/>
              <a:ext cx="138178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Değerin belirli bir</a:t>
              </a:r>
            </a:p>
          </p:txBody>
        </p:sp>
        <p:sp>
          <p:nvSpPr>
            <p:cNvPr id="28" name="TextBox 28"/>
            <p:cNvSpPr txBox="1"/>
            <p:nvPr/>
          </p:nvSpPr>
          <p:spPr>
            <a:xfrm>
              <a:off x="6280404" y="2651760"/>
              <a:ext cx="2063801"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koşulu sağlamasını ister.</a:t>
              </a:r>
            </a:p>
          </p:txBody>
        </p:sp>
        <p:sp>
          <p:nvSpPr>
            <p:cNvPr id="29" name="TextBox 29"/>
            <p:cNvSpPr txBox="1"/>
            <p:nvPr/>
          </p:nvSpPr>
          <p:spPr>
            <a:xfrm>
              <a:off x="6280404" y="3261360"/>
              <a:ext cx="2044785"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Etki alanı: alan bütünlüğü</a:t>
              </a:r>
            </a:p>
          </p:txBody>
        </p:sp>
        <p:sp>
          <p:nvSpPr>
            <p:cNvPr id="30" name="Rectangle 30"/>
            <p:cNvSpPr/>
            <p:nvPr/>
          </p:nvSpPr>
          <p:spPr>
            <a:xfrm>
              <a:off x="8782050" y="1981200"/>
              <a:ext cx="2800350" cy="1714500"/>
            </a:xfrm>
            <a:prstGeom prst="roundRect">
              <a:avLst>
                <a:gd name="adj" fmla="val 5556"/>
              </a:avLst>
            </a:prstGeom>
            <a:solidFill>
              <a:srgbClr val="EAF4F6"/>
            </a:solidFill>
            <a:ln w="14288">
              <a:solidFill>
                <a:srgbClr val="00A6A6"/>
              </a:solidFill>
            </a:ln>
          </p:spPr>
        </p:sp>
        <p:sp>
          <p:nvSpPr>
            <p:cNvPr id="31" name="TextBox 31"/>
            <p:cNvSpPr txBox="1"/>
            <p:nvPr/>
          </p:nvSpPr>
          <p:spPr>
            <a:xfrm>
              <a:off x="9003030" y="2124075"/>
              <a:ext cx="1303401" cy="293370"/>
            </a:xfrm>
            <a:prstGeom prst="rect">
              <a:avLst/>
            </a:prstGeom>
            <a:noFill/>
            <a:ln>
              <a:noFill/>
            </a:ln>
          </p:spPr>
          <p:txBody>
            <a:bodyPr wrap="none" lIns="0" tIns="0" rIns="0" bIns="0" anchor="t" anchorCtr="0">
              <a:spAutoFit/>
            </a:bodyPr>
            <a:lstStyle/>
            <a:p>
              <a:pPr algn="l"/>
              <a:r>
                <a:rPr lang="tr-TR" sz="1500" b="1" dirty="0">
                  <a:solidFill>
                    <a:srgbClr val="12355B"/>
                  </a:solidFill>
                  <a:latin typeface="+mn-lt"/>
                  <a:ea typeface="+mn-ea"/>
                  <a:cs typeface="+mn-cs"/>
                </a:rPr>
                <a:t>FOREIGN KEY</a:t>
              </a:r>
            </a:p>
          </p:txBody>
        </p:sp>
        <p:sp>
          <p:nvSpPr>
            <p:cNvPr id="32" name="TextBox 32"/>
            <p:cNvSpPr txBox="1"/>
            <p:nvPr/>
          </p:nvSpPr>
          <p:spPr>
            <a:xfrm>
              <a:off x="9004554" y="2442210"/>
              <a:ext cx="1899252"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Referans verilen kaydın</a:t>
              </a:r>
            </a:p>
          </p:txBody>
        </p:sp>
        <p:sp>
          <p:nvSpPr>
            <p:cNvPr id="33" name="TextBox 33"/>
            <p:cNvSpPr txBox="1"/>
            <p:nvPr/>
          </p:nvSpPr>
          <p:spPr>
            <a:xfrm>
              <a:off x="9004554" y="2651760"/>
              <a:ext cx="2201113"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var olmasını zorunlu kılar.</a:t>
              </a:r>
            </a:p>
          </p:txBody>
        </p:sp>
        <p:sp>
          <p:nvSpPr>
            <p:cNvPr id="34" name="TextBox 34"/>
            <p:cNvSpPr txBox="1"/>
            <p:nvPr/>
          </p:nvSpPr>
          <p:spPr>
            <a:xfrm>
              <a:off x="9004554" y="3261360"/>
              <a:ext cx="2440627"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Etki alanı: referans bütünlüğü</a:t>
              </a:r>
            </a:p>
          </p:txBody>
        </p:sp>
      </p:grpSp>
      <p:grpSp>
        <p:nvGrpSpPr>
          <p:cNvPr id="37" name="code-caption"/>
          <p:cNvGrpSpPr/>
          <p:nvPr/>
        </p:nvGrpSpPr>
        <p:grpSpPr>
          <a:xfrm>
            <a:off x="601599" y="4059079"/>
            <a:ext cx="3252320" cy="308039"/>
            <a:chOff x="601599" y="4059079"/>
            <a:chExt cx="3252320" cy="308039"/>
          </a:xfrm>
        </p:grpSpPr>
        <p:sp>
          <p:nvSpPr>
            <p:cNvPr id="36" name="TextBox 36"/>
            <p:cNvSpPr txBox="1"/>
            <p:nvPr/>
          </p:nvSpPr>
          <p:spPr>
            <a:xfrm>
              <a:off x="601599" y="4059079"/>
              <a:ext cx="3252320"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Kod 7.9: dört kısıt bir arada</a:t>
              </a:r>
            </a:p>
          </p:txBody>
        </p:sp>
      </p:grpSp>
      <p:grpSp>
        <p:nvGrpSpPr>
          <p:cNvPr id="40" name="code-block"/>
          <p:cNvGrpSpPr/>
          <p:nvPr/>
        </p:nvGrpSpPr>
        <p:grpSpPr>
          <a:xfrm>
            <a:off x="609600" y="4343400"/>
            <a:ext cx="10972800" cy="961739"/>
            <a:chOff x="609600" y="4343400"/>
            <a:chExt cx="10972800" cy="961739"/>
          </a:xfrm>
        </p:grpSpPr>
        <p:sp>
          <p:nvSpPr>
            <p:cNvPr id="38" name="Rectangle 38"/>
            <p:cNvSpPr/>
            <p:nvPr/>
          </p:nvSpPr>
          <p:spPr>
            <a:xfrm>
              <a:off x="609600" y="4343400"/>
              <a:ext cx="10972800" cy="952500"/>
            </a:xfrm>
            <a:prstGeom prst="roundRect">
              <a:avLst>
                <a:gd name="adj" fmla="val 8000"/>
              </a:avLst>
            </a:prstGeom>
            <a:solidFill>
              <a:srgbClr val="0B2038"/>
            </a:solidFill>
            <a:ln>
              <a:noFill/>
            </a:ln>
          </p:spPr>
        </p:sp>
        <p:sp>
          <p:nvSpPr>
            <p:cNvPr id="39" name="TextBox 39"/>
            <p:cNvSpPr txBox="1"/>
            <p:nvPr/>
          </p:nvSpPr>
          <p:spPr>
            <a:xfrm>
              <a:off x="795147" y="4466749"/>
              <a:ext cx="3980180" cy="838390"/>
            </a:xfrm>
            <a:prstGeom prst="rect">
              <a:avLst/>
            </a:prstGeom>
            <a:noFill/>
            <a:ln>
              <a:noFill/>
            </a:ln>
          </p:spPr>
          <p:txBody>
            <a:bodyPr wrap="none" lIns="0" tIns="0" rIns="0" bIns="0" anchor="t" anchorCtr="0">
              <a:spAutoFit/>
            </a:bodyPr>
            <a:lstStyle/>
            <a:p>
              <a:pPr algn="l">
                <a:lnSpc>
                  <a:spcPts val="1275"/>
                </a:lnSpc>
              </a:pPr>
              <a:r>
                <a:rPr lang="tr-TR" sz="980" dirty="0">
                  <a:solidFill>
                    <a:srgbClr val="EAF4F6"/>
                  </a:solidFill>
                  <a:latin typeface="Consolas"/>
                  <a:ea typeface="Consolas"/>
                  <a:cs typeface="Consolas"/>
                </a:rPr>
                <a:t>CREATE TABLE uye (</a:t>
              </a:r>
              <a:br/>
              <a:r>
                <a:rPr lang="tr-TR" sz="980" dirty="0">
                  <a:solidFill>
                    <a:srgbClr val="EAF4F6"/>
                  </a:solidFill>
                  <a:latin typeface="Consolas"/>
                  <a:ea typeface="Consolas"/>
                  <a:cs typeface="Consolas"/>
                </a:rPr>
                <a:t>id SERIAL PRIMARY KEY,</a:t>
              </a:r>
              <a:br/>
              <a:r>
                <a:rPr lang="tr-TR" sz="980" dirty="0">
                  <a:solidFill>
                    <a:srgbClr val="EAF4F6"/>
                  </a:solidFill>
                  <a:latin typeface="Consolas"/>
                  <a:ea typeface="Consolas"/>
                  <a:cs typeface="Consolas"/>
                </a:rPr>
                <a:t>eposta TEXT NOT NULL UNIQUE, yas INTEGER CHECK (yas &gt;= 0),</a:t>
              </a:r>
              <a:br/>
              <a:r>
                <a:rPr lang="tr-TR" sz="980" dirty="0">
                  <a:solidFill>
                    <a:srgbClr val="EAF4F6"/>
                  </a:solidFill>
                  <a:latin typeface="Consolas"/>
                  <a:ea typeface="Consolas"/>
                  <a:cs typeface="Consolas"/>
                </a:rPr>
                <a:t>kitaplik_id INTEGER REFERENCES kitaplik(id)</a:t>
              </a:r>
              <a:br/>
              <a:r>
                <a:rPr lang="tr-TR" sz="980" dirty="0">
                  <a:solidFill>
                    <a:srgbClr val="EAF4F6"/>
                  </a:solidFill>
                  <a:latin typeface="Consolas"/>
                  <a:ea typeface="Consolas"/>
                  <a:cs typeface="Consolas"/>
                </a:rPr>
                <a:t>);</a:t>
              </a:r>
            </a:p>
          </p:txBody>
        </p:sp>
      </p:grpSp>
      <p:sp>
        <p:nvSpPr>
          <p:cNvPr id="41" name="TextBox 41"/>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17 / 26</a:t>
            </a:r>
          </a:p>
        </p:txBody>
      </p:sp>
    </p:spTree>
  </p:cSld>
  <p:clrMapOvr>
    <a:masterClrMapping/>
  </p:clrMapOvr>
  <p:transition xmlns:p14="http://schemas.microsoft.com/office/powerpoint/2010/main" p14:dur="400">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7578562" cy="668845"/>
            <a:chOff x="609600" y="171450"/>
            <a:chExt cx="7578562"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62476" y="339090"/>
                <a:ext cx="265748" cy="236220"/>
                <a:chOff x="762476" y="339090"/>
                <a:chExt cx="265748" cy="236220"/>
              </a:xfrm>
            </p:grpSpPr>
            <p:sp>
              <p:nvSpPr>
                <p:cNvPr id="5" name="Freeform 5"/>
                <p:cNvSpPr/>
                <p:nvPr/>
              </p:nvSpPr>
              <p:spPr>
                <a:xfrm>
                  <a:off x="762476" y="398145"/>
                  <a:ext cx="59055" cy="118110"/>
                </a:xfrm>
                <a:custGeom>
                  <a:avLst/>
                  <a:gdLst/>
                  <a:ahLst/>
                  <a:cxnLst/>
                  <a:rect l="l" t="t" r="r" b="b"/>
                  <a:pathLst>
                    <a:path w="59055" h="118110">
                      <a:moveTo>
                        <a:pt x="59055" y="0"/>
                      </a:moveTo>
                      <a:lnTo>
                        <a:pt x="0" y="59055"/>
                      </a:lnTo>
                      <a:lnTo>
                        <a:pt x="59055" y="118110"/>
                      </a:lnTo>
                    </a:path>
                  </a:pathLst>
                </a:custGeom>
                <a:noFill/>
                <a:ln w="24759" cap="rnd">
                  <a:solidFill>
                    <a:srgbClr val="FFFFFF"/>
                  </a:solidFill>
                  <a:round/>
                </a:ln>
              </p:spPr>
            </p:sp>
            <p:sp>
              <p:nvSpPr>
                <p:cNvPr id="6" name="Freeform 6"/>
                <p:cNvSpPr/>
                <p:nvPr/>
              </p:nvSpPr>
              <p:spPr>
                <a:xfrm>
                  <a:off x="969169" y="398145"/>
                  <a:ext cx="59055" cy="118110"/>
                </a:xfrm>
                <a:custGeom>
                  <a:avLst/>
                  <a:gdLst/>
                  <a:ahLst/>
                  <a:cxnLst/>
                  <a:rect l="l" t="t" r="r" b="b"/>
                  <a:pathLst>
                    <a:path w="59055" h="118110">
                      <a:moveTo>
                        <a:pt x="0" y="0"/>
                      </a:moveTo>
                      <a:lnTo>
                        <a:pt x="59055" y="59055"/>
                      </a:lnTo>
                      <a:lnTo>
                        <a:pt x="0" y="118110"/>
                      </a:lnTo>
                    </a:path>
                  </a:pathLst>
                </a:custGeom>
                <a:noFill/>
                <a:ln w="24759" cap="rnd">
                  <a:solidFill>
                    <a:srgbClr val="FFFFFF"/>
                  </a:solidFill>
                  <a:round/>
                </a:ln>
              </p:spPr>
            </p:sp>
            <p:sp>
              <p:nvSpPr>
                <p:cNvPr id="7" name="Freeform 7"/>
                <p:cNvSpPr/>
                <p:nvPr/>
              </p:nvSpPr>
              <p:spPr>
                <a:xfrm>
                  <a:off x="865822" y="339090"/>
                  <a:ext cx="59055" cy="236220"/>
                </a:xfrm>
                <a:custGeom>
                  <a:avLst/>
                  <a:gdLst/>
                  <a:ahLst/>
                  <a:cxnLst/>
                  <a:rect l="l" t="t" r="r" b="b"/>
                  <a:pathLst>
                    <a:path w="59055" h="236220">
                      <a:moveTo>
                        <a:pt x="59055" y="0"/>
                      </a:moveTo>
                      <a:lnTo>
                        <a:pt x="0" y="236220"/>
                      </a:lnTo>
                    </a:path>
                  </a:pathLst>
                </a:custGeom>
                <a:noFill/>
                <a:ln w="24759" cap="rnd">
                  <a:solidFill>
                    <a:srgbClr val="FFFFFF"/>
                  </a:solidFill>
                  <a:round/>
                </a:ln>
              </p:spPr>
            </p:sp>
          </p:grpSp>
        </p:grpSp>
        <p:sp>
          <p:nvSpPr>
            <p:cNvPr id="10" name="TextBox 10"/>
            <p:cNvSpPr txBox="1"/>
            <p:nvPr/>
          </p:nvSpPr>
          <p:spPr>
            <a:xfrm>
              <a:off x="1299972" y="282892"/>
              <a:ext cx="6888190"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Kısıt ihlalini yakalamak (Kod 7.10)</a:t>
              </a:r>
            </a:p>
          </p:txBody>
        </p:sp>
      </p:grpSp>
      <p:grpSp>
        <p:nvGrpSpPr>
          <p:cNvPr id="13" name="code-caption"/>
          <p:cNvGrpSpPr/>
          <p:nvPr/>
        </p:nvGrpSpPr>
        <p:grpSpPr>
          <a:xfrm>
            <a:off x="602742" y="1187768"/>
            <a:ext cx="3561205" cy="264033"/>
            <a:chOff x="602742" y="1187768"/>
            <a:chExt cx="3561205" cy="264033"/>
          </a:xfrm>
        </p:grpSpPr>
        <p:sp>
          <p:nvSpPr>
            <p:cNvPr id="12" name="TextBox 12"/>
            <p:cNvSpPr txBox="1"/>
            <p:nvPr/>
          </p:nvSpPr>
          <p:spPr>
            <a:xfrm>
              <a:off x="602742" y="1187768"/>
              <a:ext cx="3561205"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Kod 7.10: try/catch ile hata yakalama</a:t>
              </a:r>
            </a:p>
          </p:txBody>
        </p:sp>
      </p:grpSp>
      <p:grpSp>
        <p:nvGrpSpPr>
          <p:cNvPr id="16" name="code-left"/>
          <p:cNvGrpSpPr/>
          <p:nvPr/>
        </p:nvGrpSpPr>
        <p:grpSpPr>
          <a:xfrm>
            <a:off x="609600" y="1447800"/>
            <a:ext cx="5334000" cy="3619500"/>
            <a:chOff x="609600" y="1447800"/>
            <a:chExt cx="5334000" cy="3619500"/>
          </a:xfrm>
        </p:grpSpPr>
        <p:sp>
          <p:nvSpPr>
            <p:cNvPr id="14" name="Rectangle 14"/>
            <p:cNvSpPr/>
            <p:nvPr/>
          </p:nvSpPr>
          <p:spPr>
            <a:xfrm>
              <a:off x="609600" y="1447800"/>
              <a:ext cx="5334000" cy="3619500"/>
            </a:xfrm>
            <a:prstGeom prst="roundRect">
              <a:avLst>
                <a:gd name="adj" fmla="val 2105"/>
              </a:avLst>
            </a:prstGeom>
            <a:solidFill>
              <a:srgbClr val="0B2038"/>
            </a:solidFill>
            <a:ln>
              <a:noFill/>
            </a:ln>
          </p:spPr>
        </p:sp>
        <p:sp>
          <p:nvSpPr>
            <p:cNvPr id="15" name="TextBox 15"/>
            <p:cNvSpPr txBox="1"/>
            <p:nvPr/>
          </p:nvSpPr>
          <p:spPr>
            <a:xfrm>
              <a:off x="795147" y="1628299"/>
              <a:ext cx="2953385" cy="2590990"/>
            </a:xfrm>
            <a:prstGeom prst="rect">
              <a:avLst/>
            </a:prstGeom>
            <a:noFill/>
            <a:ln>
              <a:noFill/>
            </a:ln>
          </p:spPr>
          <p:txBody>
            <a:bodyPr wrap="none" lIns="0" tIns="0" rIns="0" bIns="0" anchor="t" anchorCtr="0">
              <a:spAutoFit/>
            </a:bodyPr>
            <a:lstStyle/>
            <a:p>
              <a:pPr algn="l">
                <a:lnSpc>
                  <a:spcPts val="1350"/>
                </a:lnSpc>
              </a:pPr>
              <a:r>
                <a:rPr lang="tr-TR" sz="980" dirty="0">
                  <a:solidFill>
                    <a:srgbClr val="EAF4F6"/>
                  </a:solidFill>
                  <a:latin typeface="Consolas"/>
                  <a:ea typeface="Consolas"/>
                  <a:cs typeface="Consolas"/>
                </a:rPr>
                <a:t>try {</a:t>
              </a:r>
              <a:br/>
              <a:r>
                <a:rPr lang="tr-TR" sz="980" dirty="0">
                  <a:solidFill>
                    <a:srgbClr val="EAF4F6"/>
                  </a:solidFill>
                  <a:latin typeface="Consolas"/>
                  <a:ea typeface="Consolas"/>
                  <a:cs typeface="Consolas"/>
                </a:rPr>
                <a:t>await havuz.query(</a:t>
              </a:r>
              <a:br/>
              <a:r>
                <a:rPr lang="tr-TR" sz="980" dirty="0">
                  <a:solidFill>
                    <a:srgbClr val="EAF4F6"/>
                  </a:solidFill>
                  <a:latin typeface="Consolas"/>
                  <a:ea typeface="Consolas"/>
                  <a:cs typeface="Consolas"/>
                </a:rPr>
                <a:t>"INSERT INTO uye (eposta, yas) " +</a:t>
              </a:r>
              <a:br/>
              <a:r>
                <a:rPr lang="tr-TR" sz="980" dirty="0">
                  <a:solidFill>
                    <a:srgbClr val="EAF4F6"/>
                  </a:solidFill>
                  <a:latin typeface="Consolas"/>
                  <a:ea typeface="Consolas"/>
                  <a:cs typeface="Consolas"/>
                </a:rPr>
                <a:t>"VALUES ($1, $2);",</a:t>
              </a:r>
              <a:br/>
              <a:r>
                <a:rPr lang="tr-TR" sz="980" dirty="0">
                  <a:solidFill>
                    <a:srgbClr val="EAF4F6"/>
                  </a:solidFill>
                  <a:latin typeface="Consolas"/>
                  <a:ea typeface="Consolas"/>
                  <a:cs typeface="Consolas"/>
                </a:rPr>
                <a:t>[eposta, yas]</a:t>
              </a:r>
              <a:br/>
              <a:r>
                <a:rPr lang="tr-TR" sz="980" dirty="0">
                  <a:solidFill>
                    <a:srgbClr val="EAF4F6"/>
                  </a:solidFill>
                  <a:latin typeface="Consolas"/>
                  <a:ea typeface="Consolas"/>
                  <a:cs typeface="Consolas"/>
                </a:rPr>
                <a:t>);</a:t>
              </a:r>
              <a:br/>
              <a:r>
                <a:rPr lang="tr-TR" sz="980" dirty="0">
                  <a:solidFill>
                    <a:srgbClr val="EAF4F6"/>
                  </a:solidFill>
                  <a:latin typeface="Consolas"/>
                  <a:ea typeface="Consolas"/>
                  <a:cs typeface="Consolas"/>
                </a:rPr>
                <a:t>} catch (hata: any) {</a:t>
              </a:r>
              <a:br/>
              <a:r>
                <a:rPr lang="tr-TR" sz="980" dirty="0">
                  <a:solidFill>
                    <a:srgbClr val="EAF4F6"/>
                  </a:solidFill>
                  <a:latin typeface="Consolas"/>
                  <a:ea typeface="Consolas"/>
                  <a:cs typeface="Consolas"/>
                </a:rPr>
                <a:t>if (hata.code === "23505") {</a:t>
              </a:r>
              <a:br/>
              <a:r>
                <a:rPr lang="tr-TR" sz="980" dirty="0">
                  <a:solidFill>
                    <a:srgbClr val="EAF4F6"/>
                  </a:solidFill>
                  <a:latin typeface="Consolas"/>
                  <a:ea typeface="Consolas"/>
                  <a:cs typeface="Consolas"/>
                </a:rPr>
                <a:t>console.error("Bu e-posta zaten kayıtlı.");</a:t>
              </a:r>
              <a:br/>
              <a:r>
                <a:rPr lang="tr-TR" sz="980" dirty="0">
                  <a:solidFill>
                    <a:srgbClr val="EAF4F6"/>
                  </a:solidFill>
                  <a:latin typeface="Consolas"/>
                  <a:ea typeface="Consolas"/>
                  <a:cs typeface="Consolas"/>
                </a:rPr>
                <a:t>} else if (hata.code === "23514") {</a:t>
              </a:r>
              <a:br/>
              <a:r>
                <a:rPr lang="tr-TR" sz="980" dirty="0">
                  <a:solidFill>
                    <a:srgbClr val="EAF4F6"/>
                  </a:solidFill>
                  <a:latin typeface="Consolas"/>
                  <a:ea typeface="Consolas"/>
                  <a:cs typeface="Consolas"/>
                </a:rPr>
                <a:t>console.error("Yaş 0'dan küçük olamaz.");</a:t>
              </a:r>
              <a:br/>
              <a:r>
                <a:rPr lang="tr-TR" sz="980" dirty="0">
                  <a:solidFill>
                    <a:srgbClr val="EAF4F6"/>
                  </a:solidFill>
                  <a:latin typeface="Consolas"/>
                  <a:ea typeface="Consolas"/>
                  <a:cs typeface="Consolas"/>
                </a:rPr>
                <a:t>} else {</a:t>
              </a:r>
              <a:br/>
              <a:r>
                <a:rPr lang="tr-TR" sz="980" dirty="0">
                  <a:solidFill>
                    <a:srgbClr val="EAF4F6"/>
                  </a:solidFill>
                  <a:latin typeface="Consolas"/>
                  <a:ea typeface="Consolas"/>
                  <a:cs typeface="Consolas"/>
                </a:rPr>
                <a:t>throw hata;</a:t>
              </a:r>
              <a:br/>
              <a:r>
                <a:rPr lang="tr-TR" sz="980" dirty="0">
                  <a:solidFill>
                    <a:srgbClr val="EAF4F6"/>
                  </a:solidFill>
                  <a:latin typeface="Consolas"/>
                  <a:ea typeface="Consolas"/>
                  <a:cs typeface="Consolas"/>
                </a:rPr>
                <a:t>}</a:t>
              </a:r>
              <a:br/>
              <a:r>
                <a:rPr lang="tr-TR" sz="980" dirty="0">
                  <a:solidFill>
                    <a:srgbClr val="EAF4F6"/>
                  </a:solidFill>
                  <a:latin typeface="Consolas"/>
                  <a:ea typeface="Consolas"/>
                  <a:cs typeface="Consolas"/>
                </a:rPr>
                <a:t>}</a:t>
              </a:r>
            </a:p>
          </p:txBody>
        </p:sp>
      </p:grpSp>
      <p:grpSp>
        <p:nvGrpSpPr>
          <p:cNvPr id="33" name="right-block"/>
          <p:cNvGrpSpPr/>
          <p:nvPr/>
        </p:nvGrpSpPr>
        <p:grpSpPr>
          <a:xfrm>
            <a:off x="6429756" y="1139190"/>
            <a:ext cx="5152644" cy="3938016"/>
            <a:chOff x="6429756" y="1139190"/>
            <a:chExt cx="5152644" cy="3938016"/>
          </a:xfrm>
        </p:grpSpPr>
        <p:sp>
          <p:nvSpPr>
            <p:cNvPr id="17" name="TextBox 17"/>
            <p:cNvSpPr txBox="1"/>
            <p:nvPr/>
          </p:nvSpPr>
          <p:spPr>
            <a:xfrm>
              <a:off x="6429756" y="1139190"/>
              <a:ext cx="2839121"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Ne zaman / alternatif?</a:t>
              </a:r>
            </a:p>
          </p:txBody>
        </p:sp>
        <p:sp>
          <p:nvSpPr>
            <p:cNvPr id="18" name="TextBox 18"/>
            <p:cNvSpPr txBox="1"/>
            <p:nvPr/>
          </p:nvSpPr>
          <p:spPr>
            <a:xfrm>
              <a:off x="6430899" y="1449229"/>
              <a:ext cx="4606691"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Kısıtlar son savunma hattıdır; kullanıcıya</a:t>
              </a:r>
            </a:p>
          </p:txBody>
        </p:sp>
        <p:sp>
          <p:nvSpPr>
            <p:cNvPr id="19" name="TextBox 19"/>
            <p:cNvSpPr txBox="1"/>
            <p:nvPr/>
          </p:nvSpPr>
          <p:spPr>
            <a:xfrm>
              <a:off x="6430899" y="1677829"/>
              <a:ext cx="4365709"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anlaşılır mesaj yine de uygulama kodunda,</a:t>
              </a:r>
            </a:p>
          </p:txBody>
        </p:sp>
        <p:sp>
          <p:nvSpPr>
            <p:cNvPr id="20" name="TextBox 20"/>
            <p:cNvSpPr txBox="1"/>
            <p:nvPr/>
          </p:nvSpPr>
          <p:spPr>
            <a:xfrm>
              <a:off x="6430899" y="1906429"/>
              <a:ext cx="4418884"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form doğrulaması ile önceden verilmelidir.</a:t>
              </a:r>
            </a:p>
          </p:txBody>
        </p:sp>
        <p:sp>
          <p:nvSpPr>
            <p:cNvPr id="21" name="Rectangle 21"/>
            <p:cNvSpPr/>
            <p:nvPr/>
          </p:nvSpPr>
          <p:spPr>
            <a:xfrm>
              <a:off x="6438900" y="2438400"/>
              <a:ext cx="5143500" cy="1676400"/>
            </a:xfrm>
            <a:prstGeom prst="roundRect">
              <a:avLst>
                <a:gd name="adj" fmla="val 4545"/>
              </a:avLst>
            </a:prstGeom>
            <a:solidFill>
              <a:srgbClr val="FFFFFF"/>
            </a:solidFill>
            <a:ln w="14288">
              <a:solidFill>
                <a:srgbClr val="B8CBD3"/>
              </a:solidFill>
            </a:ln>
          </p:spPr>
        </p:sp>
        <p:sp>
          <p:nvSpPr>
            <p:cNvPr id="22" name="Rectangle 22"/>
            <p:cNvSpPr/>
            <p:nvPr/>
          </p:nvSpPr>
          <p:spPr>
            <a:xfrm>
              <a:off x="6438900" y="2438400"/>
              <a:ext cx="57150" cy="1676400"/>
            </a:xfrm>
            <a:prstGeom prst="rect">
              <a:avLst/>
            </a:prstGeom>
            <a:solidFill>
              <a:srgbClr val="00A6A6"/>
            </a:solidFill>
            <a:ln>
              <a:noFill/>
            </a:ln>
          </p:spPr>
        </p:sp>
        <p:sp>
          <p:nvSpPr>
            <p:cNvPr id="23" name="TextBox 23"/>
            <p:cNvSpPr txBox="1"/>
            <p:nvPr/>
          </p:nvSpPr>
          <p:spPr>
            <a:xfrm>
              <a:off x="6699504" y="2575560"/>
              <a:ext cx="2320567"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Kod 7.19–7.20: yaygın hata</a:t>
              </a:r>
            </a:p>
          </p:txBody>
        </p:sp>
        <p:sp>
          <p:nvSpPr>
            <p:cNvPr id="24" name="TextBox 24"/>
            <p:cNvSpPr txBox="1"/>
            <p:nvPr/>
          </p:nvSpPr>
          <p:spPr>
            <a:xfrm>
              <a:off x="6699504" y="2804160"/>
              <a:ext cx="2968447"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hata.code kontrol edilmeden genel bir</a:t>
              </a:r>
            </a:p>
          </p:txBody>
        </p:sp>
        <p:sp>
          <p:nvSpPr>
            <p:cNvPr id="25" name="TextBox 25"/>
            <p:cNvSpPr txBox="1"/>
            <p:nvPr/>
          </p:nvSpPr>
          <p:spPr>
            <a:xfrm>
              <a:off x="6699504" y="3013710"/>
              <a:ext cx="333999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"bir şeyler ters gitti" mesajı gösterilirse</a:t>
              </a:r>
            </a:p>
          </p:txBody>
        </p:sp>
        <p:sp>
          <p:nvSpPr>
            <p:cNvPr id="26" name="TextBox 26"/>
            <p:cNvSpPr txBox="1"/>
            <p:nvPr/>
          </p:nvSpPr>
          <p:spPr>
            <a:xfrm>
              <a:off x="6699504" y="3223260"/>
              <a:ext cx="271805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kullanıcı hangi alanı düzelteceğini</a:t>
              </a:r>
            </a:p>
          </p:txBody>
        </p:sp>
        <p:sp>
          <p:nvSpPr>
            <p:cNvPr id="27" name="TextBox 27"/>
            <p:cNvSpPr txBox="1"/>
            <p:nvPr/>
          </p:nvSpPr>
          <p:spPr>
            <a:xfrm>
              <a:off x="6699504" y="3432810"/>
              <a:ext cx="2723432"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bilemez; UNIQUE (23505) ile CHECK</a:t>
              </a:r>
            </a:p>
          </p:txBody>
        </p:sp>
        <p:sp>
          <p:nvSpPr>
            <p:cNvPr id="28" name="TextBox 28"/>
            <p:cNvSpPr txBox="1"/>
            <p:nvPr/>
          </p:nvSpPr>
          <p:spPr>
            <a:xfrm>
              <a:off x="6699504" y="3642360"/>
              <a:ext cx="3162300"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(23514) ihlalleri ayrı ayrı ele alınmalı.</a:t>
              </a:r>
            </a:p>
          </p:txBody>
        </p:sp>
        <p:sp>
          <p:nvSpPr>
            <p:cNvPr id="29" name="Rectangle 29"/>
            <p:cNvSpPr/>
            <p:nvPr/>
          </p:nvSpPr>
          <p:spPr>
            <a:xfrm>
              <a:off x="6438900" y="4305300"/>
              <a:ext cx="5143500" cy="762000"/>
            </a:xfrm>
            <a:prstGeom prst="roundRect">
              <a:avLst>
                <a:gd name="adj" fmla="val 10000"/>
              </a:avLst>
            </a:prstGeom>
            <a:solidFill>
              <a:srgbClr val="EAF4F6"/>
            </a:solidFill>
            <a:ln>
              <a:noFill/>
            </a:ln>
          </p:spPr>
        </p:sp>
        <p:sp>
          <p:nvSpPr>
            <p:cNvPr id="30" name="Rectangle 30"/>
            <p:cNvSpPr/>
            <p:nvPr/>
          </p:nvSpPr>
          <p:spPr>
            <a:xfrm>
              <a:off x="6438900" y="4305300"/>
              <a:ext cx="57150" cy="762000"/>
            </a:xfrm>
            <a:prstGeom prst="rect">
              <a:avLst/>
            </a:prstGeom>
            <a:solidFill>
              <a:srgbClr val="00A6A6"/>
            </a:solidFill>
            <a:ln>
              <a:noFill/>
            </a:ln>
          </p:spPr>
        </p:sp>
        <p:sp>
          <p:nvSpPr>
            <p:cNvPr id="31" name="TextBox 31"/>
            <p:cNvSpPr txBox="1"/>
            <p:nvPr/>
          </p:nvSpPr>
          <p:spPr>
            <a:xfrm>
              <a:off x="6699504" y="4442460"/>
              <a:ext cx="865099"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Alternatif</a:t>
              </a:r>
            </a:p>
          </p:txBody>
        </p:sp>
        <p:sp>
          <p:nvSpPr>
            <p:cNvPr id="32" name="TextBox 32"/>
            <p:cNvSpPr txBox="1"/>
            <p:nvPr/>
          </p:nvSpPr>
          <p:spPr>
            <a:xfrm>
              <a:off x="6699504" y="4652010"/>
              <a:ext cx="380695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Uygulama katmanında ek doğrulama kütüphaneleri</a:t>
              </a:r>
              <a:br/>
              <a:r>
                <a:rPr lang="tr-TR" sz="1200" dirty="0">
                  <a:solidFill>
                    <a:srgbClr val="172B3A"/>
                  </a:solidFill>
                  <a:latin typeface="+mn-lt"/>
                  <a:ea typeface="+mn-ea"/>
                  <a:cs typeface="+mn-cs"/>
                </a:rPr>
                <a:t>(ör. Zod) kısıt hatasına düşmeden önce filtreler.</a:t>
              </a:r>
            </a:p>
          </p:txBody>
        </p:sp>
      </p:grpSp>
      <p:sp>
        <p:nvSpPr>
          <p:cNvPr id="34" name="TextBox 34"/>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18 / 26</a:t>
            </a:r>
          </a:p>
        </p:txBody>
      </p:sp>
    </p:spTree>
  </p:cSld>
  <p:clrMapOvr>
    <a:masterClrMapping/>
  </p:clrMapOvr>
  <p:transition xmlns:p14="http://schemas.microsoft.com/office/powerpoint/2010/main" p14:dur="400">
    <p:fade/>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5318742" cy="557403"/>
            <a:chOff x="595122" y="282892"/>
            <a:chExt cx="5318742" cy="557403"/>
          </a:xfrm>
        </p:grpSpPr>
        <p:sp>
          <p:nvSpPr>
            <p:cNvPr id="4" name="TextBox 4"/>
            <p:cNvSpPr txBox="1"/>
            <p:nvPr/>
          </p:nvSpPr>
          <p:spPr>
            <a:xfrm>
              <a:off x="595122" y="282892"/>
              <a:ext cx="5318742"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Index: hızlı erişimin bedeli</a:t>
              </a:r>
            </a:p>
          </p:txBody>
        </p:sp>
      </p:grpSp>
      <p:grpSp>
        <p:nvGrpSpPr>
          <p:cNvPr id="8" name="definition-block"/>
          <p:cNvGrpSpPr/>
          <p:nvPr/>
        </p:nvGrpSpPr>
        <p:grpSpPr>
          <a:xfrm>
            <a:off x="600456" y="1367790"/>
            <a:ext cx="3639058" cy="1437227"/>
            <a:chOff x="600456" y="1367790"/>
            <a:chExt cx="3639058" cy="1437227"/>
          </a:xfrm>
        </p:grpSpPr>
        <p:sp>
          <p:nvSpPr>
            <p:cNvPr id="6" name="TextBox 6"/>
            <p:cNvSpPr txBox="1"/>
            <p:nvPr/>
          </p:nvSpPr>
          <p:spPr>
            <a:xfrm>
              <a:off x="600456" y="1367790"/>
              <a:ext cx="777359"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Tanım</a:t>
              </a:r>
            </a:p>
          </p:txBody>
        </p:sp>
        <p:sp>
          <p:nvSpPr>
            <p:cNvPr id="7" name="TextBox 7"/>
            <p:cNvSpPr txBox="1"/>
            <p:nvPr/>
          </p:nvSpPr>
          <p:spPr>
            <a:xfrm>
              <a:off x="601599" y="1696879"/>
              <a:ext cx="3637915" cy="1108138"/>
            </a:xfrm>
            <a:prstGeom prst="rect">
              <a:avLst/>
            </a:prstGeom>
            <a:noFill/>
            <a:ln>
              <a:noFill/>
            </a:ln>
          </p:spPr>
          <p:txBody>
            <a:bodyPr wrap="none" lIns="0" tIns="0" rIns="0" bIns="0" anchor="t" anchorCtr="0">
              <a:spAutoFit/>
            </a:bodyPr>
            <a:lstStyle/>
            <a:p>
              <a:pPr algn="l">
                <a:lnSpc>
                  <a:spcPts val="2100"/>
                </a:lnSpc>
              </a:pPr>
              <a:r>
                <a:rPr lang="tr-TR" sz="1580" dirty="0">
                  <a:solidFill>
                    <a:srgbClr val="172B3A"/>
                  </a:solidFill>
                  <a:latin typeface="+mn-lt"/>
                  <a:ea typeface="+mn-ea"/>
                  <a:cs typeface="+mn-cs"/>
                </a:rPr>
                <a:t>Index, bir sütun üzerinde kurulan ve</a:t>
              </a:r>
              <a:br/>
              <a:r>
                <a:rPr lang="tr-TR" sz="1580" dirty="0">
                  <a:solidFill>
                    <a:srgbClr val="172B3A"/>
                  </a:solidFill>
                  <a:latin typeface="+mn-lt"/>
                  <a:ea typeface="+mn-ea"/>
                  <a:cs typeface="+mn-cs"/>
                </a:rPr>
                <a:t>tam tablo taraması yapmadan satırı</a:t>
              </a:r>
              <a:br/>
              <a:r>
                <a:rPr lang="tr-TR" sz="1580" dirty="0">
                  <a:solidFill>
                    <a:srgbClr val="172B3A"/>
                  </a:solidFill>
                  <a:latin typeface="+mn-lt"/>
                  <a:ea typeface="+mn-ea"/>
                  <a:cs typeface="+mn-cs"/>
                </a:rPr>
                <a:t>bulmayı sağlayan ek bir arama</a:t>
              </a:r>
              <a:br/>
              <a:r>
                <a:rPr lang="tr-TR" sz="1580" dirty="0">
                  <a:solidFill>
                    <a:srgbClr val="172B3A"/>
                  </a:solidFill>
                  <a:latin typeface="+mn-lt"/>
                  <a:ea typeface="+mn-ea"/>
                  <a:cs typeface="+mn-cs"/>
                </a:rPr>
                <a:t>yapısıdır.</a:t>
              </a:r>
            </a:p>
          </p:txBody>
        </p:sp>
      </p:grpSp>
      <p:grpSp>
        <p:nvGrpSpPr>
          <p:cNvPr id="11" name="theory-block"/>
          <p:cNvGrpSpPr/>
          <p:nvPr/>
        </p:nvGrpSpPr>
        <p:grpSpPr>
          <a:xfrm>
            <a:off x="600456" y="3520440"/>
            <a:ext cx="4321302" cy="1437227"/>
            <a:chOff x="600456" y="3520440"/>
            <a:chExt cx="4321302" cy="1437227"/>
          </a:xfrm>
        </p:grpSpPr>
        <p:sp>
          <p:nvSpPr>
            <p:cNvPr id="9" name="TextBox 9"/>
            <p:cNvSpPr txBox="1"/>
            <p:nvPr/>
          </p:nvSpPr>
          <p:spPr>
            <a:xfrm>
              <a:off x="600456" y="3520440"/>
              <a:ext cx="2341808"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Kuramsal arka plan</a:t>
              </a:r>
            </a:p>
          </p:txBody>
        </p:sp>
        <p:sp>
          <p:nvSpPr>
            <p:cNvPr id="10" name="TextBox 10"/>
            <p:cNvSpPr txBox="1"/>
            <p:nvPr/>
          </p:nvSpPr>
          <p:spPr>
            <a:xfrm>
              <a:off x="601599" y="3849529"/>
              <a:ext cx="4320159" cy="1108138"/>
            </a:xfrm>
            <a:prstGeom prst="rect">
              <a:avLst/>
            </a:prstGeom>
            <a:noFill/>
            <a:ln>
              <a:noFill/>
            </a:ln>
          </p:spPr>
          <p:txBody>
            <a:bodyPr wrap="none" lIns="0" tIns="0" rIns="0" bIns="0" anchor="t" anchorCtr="0">
              <a:spAutoFit/>
            </a:bodyPr>
            <a:lstStyle/>
            <a:p>
              <a:pPr algn="l">
                <a:lnSpc>
                  <a:spcPts val="2100"/>
                </a:lnSpc>
              </a:pPr>
              <a:r>
                <a:rPr lang="tr-TR" sz="1580" dirty="0">
                  <a:solidFill>
                    <a:srgbClr val="172B3A"/>
                  </a:solidFill>
                  <a:latin typeface="+mn-lt"/>
                  <a:ea typeface="+mn-ea"/>
                  <a:cs typeface="+mn-cs"/>
                </a:rPr>
                <a:t>Bayer ve McCreight'ın 1972'de tanımladığı</a:t>
              </a:r>
              <a:br/>
              <a:r>
                <a:rPr lang="tr-TR" sz="1580" dirty="0">
                  <a:solidFill>
                    <a:srgbClr val="172B3A"/>
                  </a:solidFill>
                  <a:latin typeface="+mn-lt"/>
                  <a:ea typeface="+mn-ea"/>
                  <a:cs typeface="+mn-cs"/>
                </a:rPr>
                <a:t>B-Tree yapısı, PostgreSQL'in varsayılan</a:t>
              </a:r>
              <a:br/>
              <a:r>
                <a:rPr lang="tr-TR" sz="1580" dirty="0">
                  <a:solidFill>
                    <a:srgbClr val="172B3A"/>
                  </a:solidFill>
                  <a:latin typeface="+mn-lt"/>
                  <a:ea typeface="+mn-ea"/>
                  <a:cs typeface="+mn-cs"/>
                </a:rPr>
                <a:t>index türüdür ve aramayı O(log n)</a:t>
              </a:r>
              <a:br/>
              <a:r>
                <a:rPr lang="tr-TR" sz="1580" dirty="0">
                  <a:solidFill>
                    <a:srgbClr val="172B3A"/>
                  </a:solidFill>
                  <a:latin typeface="+mn-lt"/>
                  <a:ea typeface="+mn-ea"/>
                  <a:cs typeface="+mn-cs"/>
                </a:rPr>
                <a:t>karmaşıklığına indirger.</a:t>
              </a:r>
            </a:p>
          </p:txBody>
        </p:sp>
      </p:grpSp>
      <p:grpSp>
        <p:nvGrpSpPr>
          <p:cNvPr id="14" name="usage-block"/>
          <p:cNvGrpSpPr/>
          <p:nvPr/>
        </p:nvGrpSpPr>
        <p:grpSpPr>
          <a:xfrm>
            <a:off x="609600" y="5791200"/>
            <a:ext cx="3339846" cy="429006"/>
            <a:chOff x="609600" y="5791200"/>
            <a:chExt cx="3339846" cy="429006"/>
          </a:xfrm>
        </p:grpSpPr>
        <p:sp>
          <p:nvSpPr>
            <p:cNvPr id="12" name="Rectangle 12"/>
            <p:cNvSpPr/>
            <p:nvPr/>
          </p:nvSpPr>
          <p:spPr>
            <a:xfrm>
              <a:off x="609600" y="5791200"/>
              <a:ext cx="57150" cy="400050"/>
            </a:xfrm>
            <a:prstGeom prst="rect">
              <a:avLst/>
            </a:prstGeom>
            <a:solidFill>
              <a:srgbClr val="00A6A6"/>
            </a:solidFill>
            <a:ln>
              <a:noFill/>
            </a:ln>
          </p:spPr>
        </p:sp>
        <p:sp>
          <p:nvSpPr>
            <p:cNvPr id="13" name="TextBox 13"/>
            <p:cNvSpPr txBox="1"/>
            <p:nvPr/>
          </p:nvSpPr>
          <p:spPr>
            <a:xfrm>
              <a:off x="851154" y="5795010"/>
              <a:ext cx="309829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52616B"/>
                  </a:solidFill>
                  <a:latin typeface="+mn-lt"/>
                  <a:ea typeface="+mn-ea"/>
                  <a:cs typeface="+mn-cs"/>
                </a:rPr>
                <a:t>Bedel: her INSERT/UPDATE, index yapısını</a:t>
              </a:r>
              <a:br/>
              <a:r>
                <a:rPr lang="tr-TR" sz="1200" dirty="0">
                  <a:solidFill>
                    <a:srgbClr val="52616B"/>
                  </a:solidFill>
                  <a:latin typeface="+mn-lt"/>
                  <a:ea typeface="+mn-ea"/>
                  <a:cs typeface="+mn-cs"/>
                </a:rPr>
                <a:t>da güncellemek zorundadır.</a:t>
              </a:r>
            </a:p>
          </p:txBody>
        </p:sp>
      </p:grpSp>
      <p:grpSp>
        <p:nvGrpSpPr>
          <p:cNvPr id="27" name="history-card"/>
          <p:cNvGrpSpPr/>
          <p:nvPr/>
        </p:nvGrpSpPr>
        <p:grpSpPr>
          <a:xfrm>
            <a:off x="6743700" y="1333500"/>
            <a:ext cx="4838700" cy="4572000"/>
            <a:chOff x="6743700" y="1333500"/>
            <a:chExt cx="4838700" cy="4572000"/>
          </a:xfrm>
        </p:grpSpPr>
        <p:sp>
          <p:nvSpPr>
            <p:cNvPr id="15" name="Rectangle 15"/>
            <p:cNvSpPr/>
            <p:nvPr/>
          </p:nvSpPr>
          <p:spPr>
            <a:xfrm>
              <a:off x="6743700" y="1333500"/>
              <a:ext cx="4838700" cy="4572000"/>
            </a:xfrm>
            <a:prstGeom prst="roundRect">
              <a:avLst>
                <a:gd name="adj" fmla="val 2083"/>
              </a:avLst>
            </a:prstGeom>
            <a:solidFill>
              <a:srgbClr val="FFFFFF"/>
            </a:solidFill>
            <a:ln w="14288">
              <a:solidFill>
                <a:srgbClr val="B8CBD3"/>
              </a:solidFill>
            </a:ln>
          </p:spPr>
        </p:sp>
        <p:grpSp>
          <p:nvGrpSpPr>
            <p:cNvPr id="18" name="icon-clock"/>
            <p:cNvGrpSpPr/>
            <p:nvPr/>
          </p:nvGrpSpPr>
          <p:grpSpPr>
            <a:xfrm>
              <a:off x="8191501" y="1676401"/>
              <a:ext cx="457206" cy="457206"/>
              <a:chOff x="8191501" y="1676401"/>
              <a:chExt cx="457206" cy="457206"/>
            </a:xfrm>
          </p:grpSpPr>
          <p:sp>
            <p:nvSpPr>
              <p:cNvPr id="16" name="Freeform 16"/>
              <p:cNvSpPr/>
              <p:nvPr/>
            </p:nvSpPr>
            <p:spPr>
              <a:xfrm>
                <a:off x="8191501" y="1676401"/>
                <a:ext cx="457206" cy="457206"/>
              </a:xfrm>
              <a:custGeom>
                <a:avLst/>
                <a:gdLst/>
                <a:ahLst/>
                <a:cxnLst/>
                <a:rect l="l" t="t" r="r" b="b"/>
                <a:pathLst>
                  <a:path w="457206" h="457206">
                    <a:moveTo>
                      <a:pt x="0" y="228603"/>
                    </a:moveTo>
                    <a:cubicBezTo>
                      <a:pt x="0" y="354857"/>
                      <a:pt x="102349" y="457206"/>
                      <a:pt x="228603" y="457206"/>
                    </a:cubicBezTo>
                    <a:cubicBezTo>
                      <a:pt x="354857" y="457206"/>
                      <a:pt x="457206" y="354857"/>
                      <a:pt x="457206" y="228603"/>
                    </a:cubicBezTo>
                    <a:cubicBezTo>
                      <a:pt x="457206" y="102349"/>
                      <a:pt x="354857" y="0"/>
                      <a:pt x="228603" y="0"/>
                    </a:cubicBezTo>
                    <a:cubicBezTo>
                      <a:pt x="102349" y="0"/>
                      <a:pt x="0" y="102349"/>
                      <a:pt x="0" y="228603"/>
                    </a:cubicBezTo>
                  </a:path>
                </a:pathLst>
              </a:custGeom>
              <a:noFill/>
              <a:ln w="19050" cap="rnd">
                <a:solidFill>
                  <a:srgbClr val="00A6A6"/>
                </a:solidFill>
                <a:round/>
              </a:ln>
            </p:spPr>
          </p:sp>
          <p:sp>
            <p:nvSpPr>
              <p:cNvPr id="17" name="Freeform 17"/>
              <p:cNvSpPr/>
              <p:nvPr/>
            </p:nvSpPr>
            <p:spPr>
              <a:xfrm>
                <a:off x="8420104" y="1778002"/>
                <a:ext cx="76201" cy="203203"/>
              </a:xfrm>
              <a:custGeom>
                <a:avLst/>
                <a:gdLst/>
                <a:ahLst/>
                <a:cxnLst/>
                <a:rect l="l" t="t" r="r" b="b"/>
                <a:pathLst>
                  <a:path w="76201" h="203203">
                    <a:moveTo>
                      <a:pt x="0" y="0"/>
                    </a:moveTo>
                    <a:lnTo>
                      <a:pt x="0" y="127002"/>
                    </a:lnTo>
                    <a:lnTo>
                      <a:pt x="76201" y="203203"/>
                    </a:lnTo>
                  </a:path>
                </a:pathLst>
              </a:custGeom>
              <a:noFill/>
              <a:ln w="19050" cap="rnd">
                <a:solidFill>
                  <a:srgbClr val="00A6A6"/>
                </a:solidFill>
                <a:round/>
              </a:ln>
            </p:spPr>
          </p:sp>
        </p:grpSp>
        <p:sp>
          <p:nvSpPr>
            <p:cNvPr id="19" name="TextBox 19"/>
            <p:cNvSpPr txBox="1"/>
            <p:nvPr/>
          </p:nvSpPr>
          <p:spPr>
            <a:xfrm>
              <a:off x="9153906" y="2586990"/>
              <a:ext cx="2418972"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Index olmadan / var</a:t>
              </a:r>
            </a:p>
          </p:txBody>
        </p:sp>
        <p:sp>
          <p:nvSpPr>
            <p:cNvPr id="20" name="Line 20"/>
            <p:cNvSpPr/>
            <p:nvPr/>
          </p:nvSpPr>
          <p:spPr>
            <a:xfrm>
              <a:off x="7048500" y="3238500"/>
              <a:ext cx="9525" cy="2095500"/>
            </a:xfrm>
            <a:custGeom>
              <a:avLst/>
              <a:gdLst/>
              <a:ahLst/>
              <a:cxnLst/>
              <a:rect l="l" t="t" r="r" b="b"/>
              <a:pathLst>
                <a:path w="9525" h="2095500">
                  <a:moveTo>
                    <a:pt x="0" y="0"/>
                  </a:moveTo>
                  <a:lnTo>
                    <a:pt x="0" y="2095500"/>
                  </a:lnTo>
                </a:path>
              </a:pathLst>
            </a:custGeom>
            <a:noFill/>
            <a:ln w="19050">
              <a:solidFill>
                <a:srgbClr val="B8CBD3"/>
              </a:solidFill>
            </a:ln>
          </p:spPr>
        </p:sp>
        <p:sp>
          <p:nvSpPr>
            <p:cNvPr id="21" name="Ellipse 21"/>
            <p:cNvSpPr/>
            <p:nvPr/>
          </p:nvSpPr>
          <p:spPr>
            <a:xfrm>
              <a:off x="6981825" y="3286125"/>
              <a:ext cx="133350" cy="133350"/>
            </a:xfrm>
            <a:prstGeom prst="ellipse">
              <a:avLst/>
            </a:prstGeom>
            <a:solidFill>
              <a:srgbClr val="52616B"/>
            </a:solidFill>
            <a:ln>
              <a:noFill/>
            </a:ln>
          </p:spPr>
        </p:sp>
        <p:sp>
          <p:nvSpPr>
            <p:cNvPr id="22" name="TextBox 22"/>
            <p:cNvSpPr txBox="1"/>
            <p:nvPr/>
          </p:nvSpPr>
          <p:spPr>
            <a:xfrm>
              <a:off x="7269099" y="3106579"/>
              <a:ext cx="1704556"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Sequential Scan</a:t>
              </a:r>
            </a:p>
          </p:txBody>
        </p:sp>
        <p:sp>
          <p:nvSpPr>
            <p:cNvPr id="23" name="TextBox 23"/>
            <p:cNvSpPr txBox="1"/>
            <p:nvPr/>
          </p:nvSpPr>
          <p:spPr>
            <a:xfrm>
              <a:off x="7271004" y="3394710"/>
              <a:ext cx="305257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Tablonun tüm satırları tek tek</a:t>
              </a:r>
              <a:br/>
              <a:r>
                <a:rPr lang="tr-TR" sz="1200" dirty="0">
                  <a:solidFill>
                    <a:srgbClr val="172B3A"/>
                  </a:solidFill>
                  <a:latin typeface="+mn-lt"/>
                  <a:ea typeface="+mn-ea"/>
                  <a:cs typeface="+mn-cs"/>
                </a:rPr>
                <a:t>okunur; satır sayısıyla doğrusal artar.</a:t>
              </a:r>
            </a:p>
          </p:txBody>
        </p:sp>
        <p:sp>
          <p:nvSpPr>
            <p:cNvPr id="24" name="Ellipse 24"/>
            <p:cNvSpPr/>
            <p:nvPr/>
          </p:nvSpPr>
          <p:spPr>
            <a:xfrm>
              <a:off x="6981825" y="4314825"/>
              <a:ext cx="133350" cy="133350"/>
            </a:xfrm>
            <a:prstGeom prst="ellipse">
              <a:avLst/>
            </a:prstGeom>
            <a:solidFill>
              <a:srgbClr val="00A6A6"/>
            </a:solidFill>
            <a:ln>
              <a:noFill/>
            </a:ln>
          </p:spPr>
        </p:sp>
        <p:sp>
          <p:nvSpPr>
            <p:cNvPr id="25" name="TextBox 25"/>
            <p:cNvSpPr txBox="1"/>
            <p:nvPr/>
          </p:nvSpPr>
          <p:spPr>
            <a:xfrm>
              <a:off x="7269099" y="4135279"/>
              <a:ext cx="1146721"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Index Scan</a:t>
              </a:r>
            </a:p>
          </p:txBody>
        </p:sp>
        <p:sp>
          <p:nvSpPr>
            <p:cNvPr id="26" name="TextBox 26"/>
            <p:cNvSpPr txBox="1"/>
            <p:nvPr/>
          </p:nvSpPr>
          <p:spPr>
            <a:xfrm>
              <a:off x="7271004" y="4423410"/>
              <a:ext cx="277825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B-Tree dallarında ilerleyerek</a:t>
              </a:r>
              <a:br/>
              <a:r>
                <a:rPr lang="tr-TR" sz="1200" dirty="0">
                  <a:solidFill>
                    <a:srgbClr val="172B3A"/>
                  </a:solidFill>
                  <a:latin typeface="+mn-lt"/>
                  <a:ea typeface="+mn-ea"/>
                  <a:cs typeface="+mn-cs"/>
                </a:rPr>
                <a:t>satır konumu birkaç adımda bulunur.</a:t>
              </a:r>
            </a:p>
          </p:txBody>
        </p:sp>
      </p:grpSp>
      <p:sp>
        <p:nvSpPr>
          <p:cNvPr id="28" name="TextBox 28"/>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19 / 26</a:t>
            </a:r>
          </a:p>
        </p:txBody>
      </p:sp>
    </p:spTree>
  </p:cSld>
  <p:clrMapOvr>
    <a:masterClrMapping/>
  </p:clrMapOvr>
  <p:transition xmlns:p14="http://schemas.microsoft.com/office/powerpoint/2010/main" p14:dur="400">
    <p:fad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7133374" cy="557403"/>
            <a:chOff x="595122" y="282892"/>
            <a:chExt cx="7133374" cy="557403"/>
          </a:xfrm>
        </p:grpSpPr>
        <p:sp>
          <p:nvSpPr>
            <p:cNvPr id="4" name="TextBox 4"/>
            <p:cNvSpPr txBox="1"/>
            <p:nvPr/>
          </p:nvSpPr>
          <p:spPr>
            <a:xfrm>
              <a:off x="595122" y="282892"/>
              <a:ext cx="7133374"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Index oluşturma ve EXPLAIN ANALYZE</a:t>
              </a:r>
            </a:p>
          </p:txBody>
        </p:sp>
      </p:grpSp>
      <p:grpSp>
        <p:nvGrpSpPr>
          <p:cNvPr id="7" name="code-caption-l"/>
          <p:cNvGrpSpPr/>
          <p:nvPr/>
        </p:nvGrpSpPr>
        <p:grpSpPr>
          <a:xfrm>
            <a:off x="601599" y="1163479"/>
            <a:ext cx="4335396" cy="308039"/>
            <a:chOff x="601599" y="1163479"/>
            <a:chExt cx="4335396" cy="308039"/>
          </a:xfrm>
        </p:grpSpPr>
        <p:sp>
          <p:nvSpPr>
            <p:cNvPr id="6" name="TextBox 6"/>
            <p:cNvSpPr txBox="1"/>
            <p:nvPr/>
          </p:nvSpPr>
          <p:spPr>
            <a:xfrm>
              <a:off x="601599" y="1163479"/>
              <a:ext cx="4335396"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Kod 7.11: index kurmak ve planı okumak</a:t>
              </a:r>
            </a:p>
          </p:txBody>
        </p:sp>
      </p:grpSp>
      <p:grpSp>
        <p:nvGrpSpPr>
          <p:cNvPr id="10" name="code-left"/>
          <p:cNvGrpSpPr/>
          <p:nvPr/>
        </p:nvGrpSpPr>
        <p:grpSpPr>
          <a:xfrm>
            <a:off x="609600" y="1447800"/>
            <a:ext cx="5334000" cy="3429000"/>
            <a:chOff x="609600" y="1447800"/>
            <a:chExt cx="5334000" cy="3429000"/>
          </a:xfrm>
        </p:grpSpPr>
        <p:sp>
          <p:nvSpPr>
            <p:cNvPr id="8" name="Rectangle 8"/>
            <p:cNvSpPr/>
            <p:nvPr/>
          </p:nvSpPr>
          <p:spPr>
            <a:xfrm>
              <a:off x="609600" y="1447800"/>
              <a:ext cx="5334000" cy="3429000"/>
            </a:xfrm>
            <a:prstGeom prst="roundRect">
              <a:avLst>
                <a:gd name="adj" fmla="val 2222"/>
              </a:avLst>
            </a:prstGeom>
            <a:solidFill>
              <a:srgbClr val="0B2038"/>
            </a:solidFill>
            <a:ln>
              <a:noFill/>
            </a:ln>
          </p:spPr>
        </p:sp>
        <p:sp>
          <p:nvSpPr>
            <p:cNvPr id="9" name="TextBox 9"/>
            <p:cNvSpPr txBox="1"/>
            <p:nvPr/>
          </p:nvSpPr>
          <p:spPr>
            <a:xfrm>
              <a:off x="795147" y="1628299"/>
              <a:ext cx="2611120" cy="1428940"/>
            </a:xfrm>
            <a:prstGeom prst="rect">
              <a:avLst/>
            </a:prstGeom>
            <a:noFill/>
            <a:ln>
              <a:noFill/>
            </a:ln>
          </p:spPr>
          <p:txBody>
            <a:bodyPr wrap="none" lIns="0" tIns="0" rIns="0" bIns="0" anchor="t" anchorCtr="0">
              <a:spAutoFit/>
            </a:bodyPr>
            <a:lstStyle/>
            <a:p>
              <a:pPr algn="l">
                <a:lnSpc>
                  <a:spcPts val="1350"/>
                </a:lnSpc>
              </a:pPr>
              <a:r>
                <a:rPr lang="tr-TR" sz="980" dirty="0">
                  <a:solidFill>
                    <a:srgbClr val="EAF4F6"/>
                  </a:solidFill>
                  <a:latin typeface="Consolas"/>
                  <a:ea typeface="Consolas"/>
                  <a:cs typeface="Consolas"/>
                </a:rPr>
                <a:t>CREATE INDEX idx_kitap_yazar_id</a:t>
              </a:r>
              <a:br/>
              <a:r>
                <a:rPr lang="tr-TR" sz="980" dirty="0">
                  <a:solidFill>
                    <a:srgbClr val="EAF4F6"/>
                  </a:solidFill>
                  <a:latin typeface="Consolas"/>
                  <a:ea typeface="Consolas"/>
                  <a:cs typeface="Consolas"/>
                </a:rPr>
                <a:t>ON kitap (yazar_id);</a:t>
              </a:r>
            </a:p>
            <a:p>
              <a:pPr algn="l">
                <a:lnSpc>
                  <a:spcPts val="1350"/>
                </a:lnSpc>
                <a:spcBef>
                  <a:spcPts val="150"/>
                </a:spcBef>
              </a:pPr>
              <a:r>
                <a:rPr lang="tr-TR" sz="980" dirty="0">
                  <a:solidFill>
                    <a:srgbClr val="EAF4F6"/>
                  </a:solidFill>
                  <a:latin typeface="Consolas"/>
                  <a:ea typeface="Consolas"/>
                  <a:cs typeface="Consolas"/>
                </a:rPr>
                <a:t>EXPLAIN ANALYZE</a:t>
              </a:r>
              <a:br/>
              <a:r>
                <a:rPr lang="tr-TR" sz="980" dirty="0">
                  <a:solidFill>
                    <a:srgbClr val="EAF4F6"/>
                  </a:solidFill>
                  <a:latin typeface="Consolas"/>
                  <a:ea typeface="Consolas"/>
                  <a:cs typeface="Consolas"/>
                </a:rPr>
                <a:t>SELECT * FROM kitap</a:t>
              </a:r>
              <a:br/>
              <a:r>
                <a:rPr lang="tr-TR" sz="980" dirty="0">
                  <a:solidFill>
                    <a:srgbClr val="EAF4F6"/>
                  </a:solidFill>
                  <a:latin typeface="Consolas"/>
                  <a:ea typeface="Consolas"/>
                  <a:cs typeface="Consolas"/>
                </a:rPr>
                <a:t>WHERE yazar_id = 42;</a:t>
              </a:r>
            </a:p>
            <a:p>
              <a:pPr algn="l">
                <a:lnSpc>
                  <a:spcPts val="1350"/>
                </a:lnSpc>
                <a:spcBef>
                  <a:spcPts val="150"/>
                </a:spcBef>
              </a:pPr>
              <a:r>
                <a:rPr lang="tr-TR" sz="980" dirty="0">
                  <a:solidFill>
                    <a:srgbClr val="EAF4F6"/>
                  </a:solidFill>
                  <a:latin typeface="Consolas"/>
                  <a:ea typeface="Consolas"/>
                  <a:cs typeface="Consolas"/>
                </a:rPr>
                <a:t>-- Index Scan using idx_kitap_yazar_id</a:t>
              </a:r>
              <a:br/>
              <a:r>
                <a:rPr lang="tr-TR" sz="980" dirty="0">
                  <a:solidFill>
                    <a:srgbClr val="EAF4F6"/>
                  </a:solidFill>
                  <a:latin typeface="Consolas"/>
                  <a:ea typeface="Consolas"/>
                  <a:cs typeface="Consolas"/>
                </a:rPr>
                <a:t>-- (cost=0.29..8.31 rows=1)</a:t>
              </a:r>
              <a:br/>
              <a:r>
                <a:rPr lang="tr-TR" sz="980" dirty="0">
                  <a:solidFill>
                    <a:srgbClr val="EAF4F6"/>
                  </a:solidFill>
                  <a:latin typeface="Consolas"/>
                  <a:ea typeface="Consolas"/>
                  <a:cs typeface="Consolas"/>
                </a:rPr>
                <a:t>-- (actual time=0.02..0.03 rows=3)</a:t>
              </a:r>
            </a:p>
          </p:txBody>
        </p:sp>
      </p:grpSp>
      <p:grpSp>
        <p:nvGrpSpPr>
          <p:cNvPr id="12" name="code-caption-r"/>
          <p:cNvGrpSpPr/>
          <p:nvPr/>
        </p:nvGrpSpPr>
        <p:grpSpPr>
          <a:xfrm>
            <a:off x="6430899" y="1163479"/>
            <a:ext cx="4111593" cy="308039"/>
            <a:chOff x="6430899" y="1163479"/>
            <a:chExt cx="4111593" cy="308039"/>
          </a:xfrm>
        </p:grpSpPr>
        <p:sp>
          <p:nvSpPr>
            <p:cNvPr id="11" name="TextBox 11"/>
            <p:cNvSpPr txBox="1"/>
            <p:nvPr/>
          </p:nvSpPr>
          <p:spPr>
            <a:xfrm>
              <a:off x="6430899" y="1163479"/>
              <a:ext cx="4111593"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Kod 7.12: index'siz sorgunun maliyeti</a:t>
              </a:r>
            </a:p>
          </p:txBody>
        </p:sp>
      </p:grpSp>
      <p:grpSp>
        <p:nvGrpSpPr>
          <p:cNvPr id="15" name="code-right"/>
          <p:cNvGrpSpPr/>
          <p:nvPr/>
        </p:nvGrpSpPr>
        <p:grpSpPr>
          <a:xfrm>
            <a:off x="6438900" y="1447800"/>
            <a:ext cx="5143500" cy="3429000"/>
            <a:chOff x="6438900" y="1447800"/>
            <a:chExt cx="5143500" cy="3429000"/>
          </a:xfrm>
        </p:grpSpPr>
        <p:sp>
          <p:nvSpPr>
            <p:cNvPr id="13" name="Rectangle 13"/>
            <p:cNvSpPr/>
            <p:nvPr/>
          </p:nvSpPr>
          <p:spPr>
            <a:xfrm>
              <a:off x="6438900" y="1447800"/>
              <a:ext cx="5143500" cy="3429000"/>
            </a:xfrm>
            <a:prstGeom prst="roundRect">
              <a:avLst>
                <a:gd name="adj" fmla="val 2222"/>
              </a:avLst>
            </a:prstGeom>
            <a:solidFill>
              <a:srgbClr val="0B2038"/>
            </a:solidFill>
            <a:ln>
              <a:noFill/>
            </a:ln>
          </p:spPr>
        </p:sp>
        <p:sp>
          <p:nvSpPr>
            <p:cNvPr id="14" name="TextBox 14"/>
            <p:cNvSpPr txBox="1"/>
            <p:nvPr/>
          </p:nvSpPr>
          <p:spPr>
            <a:xfrm>
              <a:off x="6624447" y="1628299"/>
              <a:ext cx="2337308" cy="1409890"/>
            </a:xfrm>
            <a:prstGeom prst="rect">
              <a:avLst/>
            </a:prstGeom>
            <a:noFill/>
            <a:ln>
              <a:noFill/>
            </a:ln>
          </p:spPr>
          <p:txBody>
            <a:bodyPr wrap="none" lIns="0" tIns="0" rIns="0" bIns="0" anchor="t" anchorCtr="0">
              <a:spAutoFit/>
            </a:bodyPr>
            <a:lstStyle/>
            <a:p>
              <a:pPr algn="l">
                <a:lnSpc>
                  <a:spcPts val="1350"/>
                </a:lnSpc>
              </a:pPr>
              <a:r>
                <a:rPr lang="tr-TR" sz="980" dirty="0">
                  <a:solidFill>
                    <a:srgbClr val="EAF4F6"/>
                  </a:solidFill>
                  <a:latin typeface="Consolas"/>
                  <a:ea typeface="Consolas"/>
                  <a:cs typeface="Consolas"/>
                </a:rPr>
                <a:t>EXPLAIN ANALYZE</a:t>
              </a:r>
              <a:br/>
              <a:r>
                <a:rPr lang="tr-TR" sz="980" dirty="0">
                  <a:solidFill>
                    <a:srgbClr val="EAF4F6"/>
                  </a:solidFill>
                  <a:latin typeface="Consolas"/>
                  <a:ea typeface="Consolas"/>
                  <a:cs typeface="Consolas"/>
                </a:rPr>
                <a:t>SELECT * FROM kitap</a:t>
              </a:r>
              <a:br/>
              <a:r>
                <a:rPr lang="tr-TR" sz="980" dirty="0">
                  <a:solidFill>
                    <a:srgbClr val="EAF4F6"/>
                  </a:solidFill>
                  <a:latin typeface="Consolas"/>
                  <a:ea typeface="Consolas"/>
                  <a:cs typeface="Consolas"/>
                </a:rPr>
                <a:t>WHERE yazin_yili = 2019;</a:t>
              </a:r>
            </a:p>
            <a:p>
              <a:pPr algn="l">
                <a:lnSpc>
                  <a:spcPts val="1350"/>
                </a:lnSpc>
                <a:spcBef>
                  <a:spcPts val="150"/>
                </a:spcBef>
              </a:pPr>
              <a:r>
                <a:rPr lang="tr-TR" sz="980" dirty="0">
                  <a:solidFill>
                    <a:srgbClr val="EAF4F6"/>
                  </a:solidFill>
                  <a:latin typeface="Consolas"/>
                  <a:ea typeface="Consolas"/>
                  <a:cs typeface="Consolas"/>
                </a:rPr>
                <a:t>-- Seq Scan on kitap</a:t>
              </a:r>
              <a:br/>
              <a:r>
                <a:rPr lang="tr-TR" sz="980" dirty="0">
                  <a:solidFill>
                    <a:srgbClr val="EAF4F6"/>
                  </a:solidFill>
                  <a:latin typeface="Consolas"/>
                  <a:ea typeface="Consolas"/>
                  <a:cs typeface="Consolas"/>
                </a:rPr>
                <a:t>-- (cost=0.00..145.00 rows=3)</a:t>
              </a:r>
              <a:br/>
              <a:r>
                <a:rPr lang="tr-TR" sz="980" dirty="0">
                  <a:solidFill>
                    <a:srgbClr val="EAF4F6"/>
                  </a:solidFill>
                  <a:latin typeface="Consolas"/>
                  <a:ea typeface="Consolas"/>
                  <a:cs typeface="Consolas"/>
                </a:rPr>
                <a:t>-- (actual time=1.42..1.49 rows=3)</a:t>
              </a:r>
              <a:br/>
              <a:r>
                <a:rPr lang="tr-TR" sz="980" dirty="0">
                  <a:solidFill>
                    <a:srgbClr val="EAF4F6"/>
                  </a:solidFill>
                  <a:latin typeface="Consolas"/>
                  <a:ea typeface="Consolas"/>
                  <a:cs typeface="Consolas"/>
                </a:rPr>
                <a:t>-- Planner: uygun index yok,</a:t>
              </a:r>
              <a:br/>
              <a:r>
                <a:rPr lang="tr-TR" sz="980" dirty="0">
                  <a:solidFill>
                    <a:srgbClr val="EAF4F6"/>
                  </a:solidFill>
                  <a:latin typeface="Consolas"/>
                  <a:ea typeface="Consolas"/>
                  <a:cs typeface="Consolas"/>
                </a:rPr>
                <a:t>-- tüm satırlar tek tek taranıyor.</a:t>
              </a:r>
            </a:p>
          </p:txBody>
        </p:sp>
      </p:grpSp>
      <p:grpSp>
        <p:nvGrpSpPr>
          <p:cNvPr id="18" name="ne-zaman-block"/>
          <p:cNvGrpSpPr/>
          <p:nvPr/>
        </p:nvGrpSpPr>
        <p:grpSpPr>
          <a:xfrm>
            <a:off x="600456" y="5120640"/>
            <a:ext cx="8936482" cy="827627"/>
            <a:chOff x="600456" y="5120640"/>
            <a:chExt cx="8936482" cy="827627"/>
          </a:xfrm>
        </p:grpSpPr>
        <p:sp>
          <p:nvSpPr>
            <p:cNvPr id="16" name="TextBox 16"/>
            <p:cNvSpPr txBox="1"/>
            <p:nvPr/>
          </p:nvSpPr>
          <p:spPr>
            <a:xfrm>
              <a:off x="600456" y="5120640"/>
              <a:ext cx="3181746"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Ne zaman index eklenmeli?</a:t>
              </a:r>
            </a:p>
          </p:txBody>
        </p:sp>
        <p:sp>
          <p:nvSpPr>
            <p:cNvPr id="17" name="TextBox 17"/>
            <p:cNvSpPr txBox="1"/>
            <p:nvPr/>
          </p:nvSpPr>
          <p:spPr>
            <a:xfrm>
              <a:off x="601599" y="5411629"/>
              <a:ext cx="8935339" cy="536638"/>
            </a:xfrm>
            <a:prstGeom prst="rect">
              <a:avLst/>
            </a:prstGeom>
            <a:noFill/>
            <a:ln>
              <a:noFill/>
            </a:ln>
          </p:spPr>
          <p:txBody>
            <a:bodyPr wrap="none" lIns="0" tIns="0" rIns="0" bIns="0" anchor="t" anchorCtr="0">
              <a:spAutoFit/>
            </a:bodyPr>
            <a:lstStyle/>
            <a:p>
              <a:pPr algn="l">
                <a:lnSpc>
                  <a:spcPts val="1800"/>
                </a:lnSpc>
              </a:pPr>
              <a:r>
                <a:rPr lang="tr-TR" sz="1580" dirty="0">
                  <a:solidFill>
                    <a:srgbClr val="172B3A"/>
                  </a:solidFill>
                  <a:latin typeface="+mn-lt"/>
                  <a:ea typeface="+mn-ea"/>
                  <a:cs typeface="+mn-cs"/>
                </a:rPr>
                <a:t>WHERE, JOIN ON veya ORDER BY'da sık kullanılan sütunlar adaydır; nadiren sorgulanan veya</a:t>
              </a:r>
              <a:br/>
              <a:r>
                <a:rPr lang="tr-TR" sz="1580" dirty="0">
                  <a:solidFill>
                    <a:srgbClr val="172B3A"/>
                  </a:solidFill>
                  <a:latin typeface="+mn-lt"/>
                  <a:ea typeface="+mn-ea"/>
                  <a:cs typeface="+mn-cs"/>
                </a:rPr>
                <a:t>sık güncellenen sütunlarda gereksiz index yazma maliyetini artırır.</a:t>
              </a:r>
            </a:p>
          </p:txBody>
        </p:sp>
      </p:grpSp>
      <p:sp>
        <p:nvSpPr>
          <p:cNvPr id="19" name="TextBox 19"/>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20 / 26</a:t>
            </a:r>
          </a:p>
        </p:txBody>
      </p:sp>
    </p:spTree>
  </p:cSld>
  <p:clrMapOvr>
    <a:masterClrMapping/>
  </p:clrMapOvr>
  <p:transition xmlns:p14="http://schemas.microsoft.com/office/powerpoint/2010/main" p14:dur="400">
    <p:fade/>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8965042" cy="557403"/>
            <a:chOff x="595122" y="282892"/>
            <a:chExt cx="8965042" cy="557403"/>
          </a:xfrm>
        </p:grpSpPr>
        <p:sp>
          <p:nvSpPr>
            <p:cNvPr id="4" name="TextBox 4"/>
            <p:cNvSpPr txBox="1"/>
            <p:nvPr/>
          </p:nvSpPr>
          <p:spPr>
            <a:xfrm>
              <a:off x="595122" y="282892"/>
              <a:ext cx="8965042"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Transaction: birden fazla işlemi güvene almak</a:t>
              </a:r>
            </a:p>
          </p:txBody>
        </p:sp>
      </p:grpSp>
      <p:grpSp>
        <p:nvGrpSpPr>
          <p:cNvPr id="8" name="definition-block"/>
          <p:cNvGrpSpPr/>
          <p:nvPr/>
        </p:nvGrpSpPr>
        <p:grpSpPr>
          <a:xfrm>
            <a:off x="600456" y="1367790"/>
            <a:ext cx="3940048" cy="1437227"/>
            <a:chOff x="600456" y="1367790"/>
            <a:chExt cx="3940048" cy="1437227"/>
          </a:xfrm>
        </p:grpSpPr>
        <p:sp>
          <p:nvSpPr>
            <p:cNvPr id="6" name="TextBox 6"/>
            <p:cNvSpPr txBox="1"/>
            <p:nvPr/>
          </p:nvSpPr>
          <p:spPr>
            <a:xfrm>
              <a:off x="600456" y="1367790"/>
              <a:ext cx="777359"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Tanım</a:t>
              </a:r>
            </a:p>
          </p:txBody>
        </p:sp>
        <p:sp>
          <p:nvSpPr>
            <p:cNvPr id="7" name="TextBox 7"/>
            <p:cNvSpPr txBox="1"/>
            <p:nvPr/>
          </p:nvSpPr>
          <p:spPr>
            <a:xfrm>
              <a:off x="601599" y="1696879"/>
              <a:ext cx="3938905" cy="1108138"/>
            </a:xfrm>
            <a:prstGeom prst="rect">
              <a:avLst/>
            </a:prstGeom>
            <a:noFill/>
            <a:ln>
              <a:noFill/>
            </a:ln>
          </p:spPr>
          <p:txBody>
            <a:bodyPr wrap="none" lIns="0" tIns="0" rIns="0" bIns="0" anchor="t" anchorCtr="0">
              <a:spAutoFit/>
            </a:bodyPr>
            <a:lstStyle/>
            <a:p>
              <a:pPr algn="l">
                <a:lnSpc>
                  <a:spcPts val="2100"/>
                </a:lnSpc>
              </a:pPr>
              <a:r>
                <a:rPr lang="tr-TR" sz="1580" dirty="0">
                  <a:solidFill>
                    <a:srgbClr val="172B3A"/>
                  </a:solidFill>
                  <a:latin typeface="+mn-lt"/>
                  <a:ea typeface="+mn-ea"/>
                  <a:cs typeface="+mn-cs"/>
                </a:rPr>
                <a:t>Transaction, birden fazla SQL komutunu</a:t>
              </a:r>
              <a:br/>
              <a:r>
                <a:rPr lang="tr-TR" sz="1580" dirty="0">
                  <a:solidFill>
                    <a:srgbClr val="172B3A"/>
                  </a:solidFill>
                  <a:latin typeface="+mn-lt"/>
                  <a:ea typeface="+mn-ea"/>
                  <a:cs typeface="+mn-cs"/>
                </a:rPr>
                <a:t>"ya hep ya hiç" ilkesiyle tek bir birim</a:t>
              </a:r>
              <a:br/>
              <a:r>
                <a:rPr lang="tr-TR" sz="1580" dirty="0">
                  <a:solidFill>
                    <a:srgbClr val="172B3A"/>
                  </a:solidFill>
                  <a:latin typeface="+mn-lt"/>
                  <a:ea typeface="+mn-ea"/>
                  <a:cs typeface="+mn-cs"/>
                </a:rPr>
                <a:t>olarak yürütür: BEGIN ile başlar,</a:t>
              </a:r>
              <a:br/>
              <a:r>
                <a:rPr lang="tr-TR" sz="1580" dirty="0">
                  <a:solidFill>
                    <a:srgbClr val="172B3A"/>
                  </a:solidFill>
                  <a:latin typeface="+mn-lt"/>
                  <a:ea typeface="+mn-ea"/>
                  <a:cs typeface="+mn-cs"/>
                </a:rPr>
                <a:t>COMMIT veya ROLLBACK ile kapanır.</a:t>
              </a:r>
            </a:p>
          </p:txBody>
        </p:sp>
      </p:grpSp>
      <p:grpSp>
        <p:nvGrpSpPr>
          <p:cNvPr id="11" name="acid-block"/>
          <p:cNvGrpSpPr/>
          <p:nvPr/>
        </p:nvGrpSpPr>
        <p:grpSpPr>
          <a:xfrm>
            <a:off x="600456" y="3520440"/>
            <a:ext cx="4451731" cy="1437227"/>
            <a:chOff x="600456" y="3520440"/>
            <a:chExt cx="4451731" cy="1437227"/>
          </a:xfrm>
        </p:grpSpPr>
        <p:sp>
          <p:nvSpPr>
            <p:cNvPr id="9" name="TextBox 9"/>
            <p:cNvSpPr txBox="1"/>
            <p:nvPr/>
          </p:nvSpPr>
          <p:spPr>
            <a:xfrm>
              <a:off x="600456" y="3520440"/>
              <a:ext cx="3088872"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Kuramsal arka plan: ACID</a:t>
              </a:r>
            </a:p>
          </p:txBody>
        </p:sp>
        <p:sp>
          <p:nvSpPr>
            <p:cNvPr id="10" name="TextBox 10"/>
            <p:cNvSpPr txBox="1"/>
            <p:nvPr/>
          </p:nvSpPr>
          <p:spPr>
            <a:xfrm>
              <a:off x="601599" y="3849529"/>
              <a:ext cx="4450588" cy="1108138"/>
            </a:xfrm>
            <a:prstGeom prst="rect">
              <a:avLst/>
            </a:prstGeom>
            <a:noFill/>
            <a:ln>
              <a:noFill/>
            </a:ln>
          </p:spPr>
          <p:txBody>
            <a:bodyPr wrap="none" lIns="0" tIns="0" rIns="0" bIns="0" anchor="t" anchorCtr="0">
              <a:spAutoFit/>
            </a:bodyPr>
            <a:lstStyle/>
            <a:p>
              <a:pPr algn="l">
                <a:lnSpc>
                  <a:spcPts val="2100"/>
                </a:lnSpc>
              </a:pPr>
              <a:r>
                <a:rPr lang="tr-TR" sz="1580" dirty="0">
                  <a:solidFill>
                    <a:srgbClr val="172B3A"/>
                  </a:solidFill>
                  <a:latin typeface="+mn-lt"/>
                  <a:ea typeface="+mn-ea"/>
                  <a:cs typeface="+mn-cs"/>
                </a:rPr>
                <a:t>Gray'in 1981'de tanımladığı transaction</a:t>
              </a:r>
              <a:br/>
              <a:r>
                <a:rPr lang="tr-TR" sz="1580" dirty="0">
                  <a:solidFill>
                    <a:srgbClr val="172B3A"/>
                  </a:solidFill>
                  <a:latin typeface="+mn-lt"/>
                  <a:ea typeface="+mn-ea"/>
                  <a:cs typeface="+mn-cs"/>
                </a:rPr>
                <a:t>kavramı, Härder ve Reuter'in 1983'te</a:t>
              </a:r>
              <a:br/>
              <a:r>
                <a:rPr lang="tr-TR" sz="1580" dirty="0">
                  <a:solidFill>
                    <a:srgbClr val="172B3A"/>
                  </a:solidFill>
                  <a:latin typeface="+mn-lt"/>
                  <a:ea typeface="+mn-ea"/>
                  <a:cs typeface="+mn-cs"/>
                </a:rPr>
                <a:t>adlandırdığı Atomicity/Consistency/</a:t>
              </a:r>
              <a:br/>
              <a:r>
                <a:rPr lang="tr-TR" sz="1580" dirty="0">
                  <a:solidFill>
                    <a:srgbClr val="172B3A"/>
                  </a:solidFill>
                  <a:latin typeface="+mn-lt"/>
                  <a:ea typeface="+mn-ea"/>
                  <a:cs typeface="+mn-cs"/>
                </a:rPr>
                <a:t>Isolation/Durability ilkeleriyle formüle edilir.</a:t>
              </a:r>
            </a:p>
          </p:txBody>
        </p:sp>
      </p:grpSp>
      <p:grpSp>
        <p:nvGrpSpPr>
          <p:cNvPr id="14" name="usage-block"/>
          <p:cNvGrpSpPr/>
          <p:nvPr/>
        </p:nvGrpSpPr>
        <p:grpSpPr>
          <a:xfrm>
            <a:off x="609600" y="5791200"/>
            <a:ext cx="3705606" cy="429006"/>
            <a:chOff x="609600" y="5791200"/>
            <a:chExt cx="3705606" cy="429006"/>
          </a:xfrm>
        </p:grpSpPr>
        <p:sp>
          <p:nvSpPr>
            <p:cNvPr id="12" name="Rectangle 12"/>
            <p:cNvSpPr/>
            <p:nvPr/>
          </p:nvSpPr>
          <p:spPr>
            <a:xfrm>
              <a:off x="609600" y="5791200"/>
              <a:ext cx="57150" cy="400050"/>
            </a:xfrm>
            <a:prstGeom prst="rect">
              <a:avLst/>
            </a:prstGeom>
            <a:solidFill>
              <a:srgbClr val="00A6A6"/>
            </a:solidFill>
            <a:ln>
              <a:noFill/>
            </a:ln>
          </p:spPr>
        </p:sp>
        <p:sp>
          <p:nvSpPr>
            <p:cNvPr id="13" name="TextBox 13"/>
            <p:cNvSpPr txBox="1"/>
            <p:nvPr/>
          </p:nvSpPr>
          <p:spPr>
            <a:xfrm>
              <a:off x="851154" y="5795010"/>
              <a:ext cx="346405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52616B"/>
                  </a:solidFill>
                  <a:latin typeface="+mn-lt"/>
                  <a:ea typeface="+mn-ea"/>
                  <a:cs typeface="+mn-cs"/>
                </a:rPr>
                <a:t>Isolation, Reed'in 1978 MVCC modeliyle</a:t>
              </a:r>
              <a:br/>
              <a:r>
                <a:rPr lang="tr-TR" sz="1200" dirty="0">
                  <a:solidFill>
                    <a:srgbClr val="52616B"/>
                  </a:solidFill>
                  <a:latin typeface="+mn-lt"/>
                  <a:ea typeface="+mn-ea"/>
                  <a:cs typeface="+mn-cs"/>
                </a:rPr>
                <a:t>eşzamanlı okuma/yazımı çakışmadan yönetir.</a:t>
              </a:r>
            </a:p>
          </p:txBody>
        </p:sp>
      </p:grpSp>
      <p:grpSp>
        <p:nvGrpSpPr>
          <p:cNvPr id="28" name="history-card"/>
          <p:cNvGrpSpPr/>
          <p:nvPr/>
        </p:nvGrpSpPr>
        <p:grpSpPr>
          <a:xfrm>
            <a:off x="6743700" y="1333500"/>
            <a:ext cx="4838700" cy="4572000"/>
            <a:chOff x="6743700" y="1333500"/>
            <a:chExt cx="4838700" cy="4572000"/>
          </a:xfrm>
        </p:grpSpPr>
        <p:sp>
          <p:nvSpPr>
            <p:cNvPr id="15" name="Rectangle 15"/>
            <p:cNvSpPr/>
            <p:nvPr/>
          </p:nvSpPr>
          <p:spPr>
            <a:xfrm>
              <a:off x="6743700" y="1333500"/>
              <a:ext cx="4838700" cy="4572000"/>
            </a:xfrm>
            <a:prstGeom prst="roundRect">
              <a:avLst>
                <a:gd name="adj" fmla="val 2083"/>
              </a:avLst>
            </a:prstGeom>
            <a:solidFill>
              <a:srgbClr val="FFFFFF"/>
            </a:solidFill>
            <a:ln w="14288">
              <a:solidFill>
                <a:srgbClr val="B8CBD3"/>
              </a:solidFill>
            </a:ln>
          </p:spPr>
        </p:sp>
        <p:grpSp>
          <p:nvGrpSpPr>
            <p:cNvPr id="19" name="icon-lock"/>
            <p:cNvGrpSpPr/>
            <p:nvPr/>
          </p:nvGrpSpPr>
          <p:grpSpPr>
            <a:xfrm>
              <a:off x="8242302" y="1651001"/>
              <a:ext cx="355604" cy="482605"/>
              <a:chOff x="8242302" y="1651001"/>
              <a:chExt cx="355604" cy="482605"/>
            </a:xfrm>
          </p:grpSpPr>
          <p:sp>
            <p:nvSpPr>
              <p:cNvPr id="16" name="Freeform 16"/>
              <p:cNvSpPr/>
              <p:nvPr/>
            </p:nvSpPr>
            <p:spPr>
              <a:xfrm>
                <a:off x="8242302" y="1879603"/>
                <a:ext cx="355604" cy="254003"/>
              </a:xfrm>
              <a:custGeom>
                <a:avLst/>
                <a:gdLst/>
                <a:ahLst/>
                <a:cxnLst/>
                <a:rect l="l" t="t" r="r" b="b"/>
                <a:pathLst>
                  <a:path w="355604" h="254003">
                    <a:moveTo>
                      <a:pt x="0" y="50801"/>
                    </a:moveTo>
                    <a:cubicBezTo>
                      <a:pt x="0" y="22744"/>
                      <a:pt x="22744" y="0"/>
                      <a:pt x="50801" y="0"/>
                    </a:cubicBezTo>
                    <a:lnTo>
                      <a:pt x="304804" y="0"/>
                    </a:lnTo>
                    <a:cubicBezTo>
                      <a:pt x="332860" y="0"/>
                      <a:pt x="355604" y="22744"/>
                      <a:pt x="355604" y="50801"/>
                    </a:cubicBezTo>
                    <a:lnTo>
                      <a:pt x="355604" y="203203"/>
                    </a:lnTo>
                    <a:cubicBezTo>
                      <a:pt x="355604" y="231259"/>
                      <a:pt x="332860" y="254003"/>
                      <a:pt x="304804" y="254003"/>
                    </a:cubicBezTo>
                    <a:lnTo>
                      <a:pt x="50801" y="254003"/>
                    </a:lnTo>
                    <a:cubicBezTo>
                      <a:pt x="22744" y="254003"/>
                      <a:pt x="0" y="231259"/>
                      <a:pt x="0" y="203203"/>
                    </a:cubicBezTo>
                    <a:lnTo>
                      <a:pt x="0" y="50801"/>
                    </a:lnTo>
                  </a:path>
                </a:pathLst>
              </a:custGeom>
              <a:noFill/>
              <a:ln w="19050" cap="rnd">
                <a:solidFill>
                  <a:srgbClr val="00A6A6"/>
                </a:solidFill>
                <a:round/>
              </a:ln>
            </p:spPr>
          </p:sp>
          <p:sp>
            <p:nvSpPr>
              <p:cNvPr id="17" name="Freeform 17"/>
              <p:cNvSpPr/>
              <p:nvPr/>
            </p:nvSpPr>
            <p:spPr>
              <a:xfrm>
                <a:off x="8394703" y="1981205"/>
                <a:ext cx="50801" cy="50801"/>
              </a:xfrm>
              <a:custGeom>
                <a:avLst/>
                <a:gdLst/>
                <a:ahLst/>
                <a:cxnLst/>
                <a:rect l="l" t="t" r="r" b="b"/>
                <a:pathLst>
                  <a:path w="50801" h="50801">
                    <a:moveTo>
                      <a:pt x="0" y="25400"/>
                    </a:moveTo>
                    <a:cubicBezTo>
                      <a:pt x="0" y="39429"/>
                      <a:pt x="11372" y="50801"/>
                      <a:pt x="25400" y="50801"/>
                    </a:cubicBezTo>
                    <a:cubicBezTo>
                      <a:pt x="39429" y="50801"/>
                      <a:pt x="50801" y="39429"/>
                      <a:pt x="50801" y="25400"/>
                    </a:cubicBezTo>
                    <a:cubicBezTo>
                      <a:pt x="50801" y="11372"/>
                      <a:pt x="39429" y="0"/>
                      <a:pt x="25400" y="0"/>
                    </a:cubicBezTo>
                    <a:cubicBezTo>
                      <a:pt x="11372" y="0"/>
                      <a:pt x="0" y="11372"/>
                      <a:pt x="0" y="25400"/>
                    </a:cubicBezTo>
                  </a:path>
                </a:pathLst>
              </a:custGeom>
              <a:noFill/>
              <a:ln w="19050" cap="rnd">
                <a:solidFill>
                  <a:srgbClr val="00A6A6"/>
                </a:solidFill>
                <a:round/>
              </a:ln>
            </p:spPr>
          </p:sp>
          <p:sp>
            <p:nvSpPr>
              <p:cNvPr id="18" name="Freeform 18"/>
              <p:cNvSpPr/>
              <p:nvPr/>
            </p:nvSpPr>
            <p:spPr>
              <a:xfrm>
                <a:off x="8318503" y="1651001"/>
                <a:ext cx="203203" cy="228603"/>
              </a:xfrm>
              <a:custGeom>
                <a:avLst/>
                <a:gdLst/>
                <a:ahLst/>
                <a:cxnLst/>
                <a:rect l="l" t="t" r="r" b="b"/>
                <a:pathLst>
                  <a:path w="203203" h="228603">
                    <a:moveTo>
                      <a:pt x="0" y="228603"/>
                    </a:moveTo>
                    <a:lnTo>
                      <a:pt x="0" y="101601"/>
                    </a:lnTo>
                    <a:cubicBezTo>
                      <a:pt x="0" y="45488"/>
                      <a:pt x="45488" y="0"/>
                      <a:pt x="101601" y="0"/>
                    </a:cubicBezTo>
                    <a:cubicBezTo>
                      <a:pt x="157714" y="0"/>
                      <a:pt x="203203" y="45488"/>
                      <a:pt x="203203" y="101601"/>
                    </a:cubicBezTo>
                  </a:path>
                </a:pathLst>
              </a:custGeom>
              <a:noFill/>
              <a:ln w="19050" cap="rnd">
                <a:solidFill>
                  <a:srgbClr val="00A6A6"/>
                </a:solidFill>
                <a:round/>
              </a:ln>
            </p:spPr>
          </p:sp>
        </p:grpSp>
        <p:sp>
          <p:nvSpPr>
            <p:cNvPr id="20" name="TextBox 20"/>
            <p:cNvSpPr txBox="1"/>
            <p:nvPr/>
          </p:nvSpPr>
          <p:spPr>
            <a:xfrm>
              <a:off x="9153906" y="2586990"/>
              <a:ext cx="1863159"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Kod 7.13 akışı</a:t>
              </a:r>
            </a:p>
          </p:txBody>
        </p:sp>
        <p:sp>
          <p:nvSpPr>
            <p:cNvPr id="21" name="Line 21"/>
            <p:cNvSpPr/>
            <p:nvPr/>
          </p:nvSpPr>
          <p:spPr>
            <a:xfrm>
              <a:off x="7048500" y="3238500"/>
              <a:ext cx="9525" cy="2095500"/>
            </a:xfrm>
            <a:custGeom>
              <a:avLst/>
              <a:gdLst/>
              <a:ahLst/>
              <a:cxnLst/>
              <a:rect l="l" t="t" r="r" b="b"/>
              <a:pathLst>
                <a:path w="9525" h="2095500">
                  <a:moveTo>
                    <a:pt x="0" y="0"/>
                  </a:moveTo>
                  <a:lnTo>
                    <a:pt x="0" y="2095500"/>
                  </a:lnTo>
                </a:path>
              </a:pathLst>
            </a:custGeom>
            <a:noFill/>
            <a:ln w="19050">
              <a:solidFill>
                <a:srgbClr val="B8CBD3"/>
              </a:solidFill>
            </a:ln>
          </p:spPr>
        </p:sp>
        <p:sp>
          <p:nvSpPr>
            <p:cNvPr id="22" name="Ellipse 22"/>
            <p:cNvSpPr/>
            <p:nvPr/>
          </p:nvSpPr>
          <p:spPr>
            <a:xfrm>
              <a:off x="6981825" y="3286125"/>
              <a:ext cx="133350" cy="133350"/>
            </a:xfrm>
            <a:prstGeom prst="ellipse">
              <a:avLst/>
            </a:prstGeom>
            <a:solidFill>
              <a:srgbClr val="00A6A6"/>
            </a:solidFill>
            <a:ln>
              <a:noFill/>
            </a:ln>
          </p:spPr>
        </p:sp>
        <p:sp>
          <p:nvSpPr>
            <p:cNvPr id="23" name="TextBox 23"/>
            <p:cNvSpPr txBox="1"/>
            <p:nvPr/>
          </p:nvSpPr>
          <p:spPr>
            <a:xfrm>
              <a:off x="7269099" y="3106579"/>
              <a:ext cx="605942"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BEGIN</a:t>
              </a:r>
            </a:p>
          </p:txBody>
        </p:sp>
        <p:sp>
          <p:nvSpPr>
            <p:cNvPr id="24" name="TextBox 24"/>
            <p:cNvSpPr txBox="1"/>
            <p:nvPr/>
          </p:nvSpPr>
          <p:spPr>
            <a:xfrm>
              <a:off x="7271004" y="3394710"/>
              <a:ext cx="246583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kitapOduncVer: stok azalt +</a:t>
              </a:r>
              <a:br/>
              <a:r>
                <a:rPr lang="tr-TR" sz="1200" dirty="0">
                  <a:solidFill>
                    <a:srgbClr val="172B3A"/>
                  </a:solidFill>
                  <a:latin typeface="+mn-lt"/>
                  <a:ea typeface="+mn-ea"/>
                  <a:cs typeface="+mn-cs"/>
                </a:rPr>
                <a:t>odunc kaydı ekle, tek bloktadır.</a:t>
              </a:r>
            </a:p>
          </p:txBody>
        </p:sp>
        <p:sp>
          <p:nvSpPr>
            <p:cNvPr id="25" name="Ellipse 25"/>
            <p:cNvSpPr/>
            <p:nvPr/>
          </p:nvSpPr>
          <p:spPr>
            <a:xfrm>
              <a:off x="6981825" y="4314825"/>
              <a:ext cx="133350" cy="133350"/>
            </a:xfrm>
            <a:prstGeom prst="ellipse">
              <a:avLst/>
            </a:prstGeom>
            <a:solidFill>
              <a:srgbClr val="00A6A6"/>
            </a:solidFill>
            <a:ln>
              <a:noFill/>
            </a:ln>
          </p:spPr>
        </p:sp>
        <p:sp>
          <p:nvSpPr>
            <p:cNvPr id="26" name="TextBox 26"/>
            <p:cNvSpPr txBox="1"/>
            <p:nvPr/>
          </p:nvSpPr>
          <p:spPr>
            <a:xfrm>
              <a:off x="7269099" y="4135279"/>
              <a:ext cx="2234178"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COMMIT / ROLLBACK</a:t>
              </a:r>
            </a:p>
          </p:txBody>
        </p:sp>
        <p:sp>
          <p:nvSpPr>
            <p:cNvPr id="27" name="TextBox 27"/>
            <p:cNvSpPr txBox="1"/>
            <p:nvPr/>
          </p:nvSpPr>
          <p:spPr>
            <a:xfrm>
              <a:off x="7271004" y="4423410"/>
              <a:ext cx="274777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Her iki adım da başarılıysa COMMIT;</a:t>
              </a:r>
              <a:br/>
              <a:r>
                <a:rPr lang="tr-TR" sz="1200" dirty="0">
                  <a:solidFill>
                    <a:srgbClr val="172B3A"/>
                  </a:solidFill>
                  <a:latin typeface="+mn-lt"/>
                  <a:ea typeface="+mn-ea"/>
                  <a:cs typeface="+mn-cs"/>
                </a:rPr>
                <a:t>herhangi biri başarısızsa ROLLBACK.</a:t>
              </a:r>
            </a:p>
          </p:txBody>
        </p:sp>
      </p:grpSp>
      <p:sp>
        <p:nvSpPr>
          <p:cNvPr id="29" name="TextBox 29"/>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21 / 26</a:t>
            </a:r>
          </a:p>
        </p:txBody>
      </p:sp>
    </p:spTree>
  </p:cSld>
  <p:clrMapOvr>
    <a:masterClrMapping/>
  </p:clrMapOvr>
  <p:transition xmlns:p14="http://schemas.microsoft.com/office/powerpoint/2010/main" p14:dur="400">
    <p:fade/>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8904210" cy="668845"/>
            <a:chOff x="609600" y="171450"/>
            <a:chExt cx="8904210"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92004" y="368618"/>
                <a:ext cx="206693" cy="177164"/>
                <a:chOff x="792004" y="368618"/>
                <a:chExt cx="206693" cy="177164"/>
              </a:xfrm>
            </p:grpSpPr>
            <p:sp>
              <p:nvSpPr>
                <p:cNvPr id="5" name="Freeform 5"/>
                <p:cNvSpPr/>
                <p:nvPr/>
              </p:nvSpPr>
              <p:spPr>
                <a:xfrm>
                  <a:off x="792004" y="457200"/>
                  <a:ext cx="206693" cy="9525"/>
                </a:xfrm>
                <a:custGeom>
                  <a:avLst/>
                  <a:gdLst/>
                  <a:ahLst/>
                  <a:cxnLst/>
                  <a:rect l="l" t="t" r="r" b="b"/>
                  <a:pathLst>
                    <a:path w="206693" h="9525">
                      <a:moveTo>
                        <a:pt x="0" y="0"/>
                      </a:moveTo>
                      <a:lnTo>
                        <a:pt x="206693" y="0"/>
                      </a:lnTo>
                    </a:path>
                  </a:pathLst>
                </a:custGeom>
                <a:noFill/>
                <a:ln w="24759" cap="rnd">
                  <a:solidFill>
                    <a:srgbClr val="FFFFFF"/>
                  </a:solidFill>
                  <a:round/>
                </a:ln>
              </p:spPr>
            </p:sp>
            <p:sp>
              <p:nvSpPr>
                <p:cNvPr id="6" name="Freeform 6"/>
                <p:cNvSpPr/>
                <p:nvPr/>
              </p:nvSpPr>
              <p:spPr>
                <a:xfrm>
                  <a:off x="910114" y="457200"/>
                  <a:ext cx="88582" cy="88582"/>
                </a:xfrm>
                <a:custGeom>
                  <a:avLst/>
                  <a:gdLst/>
                  <a:ahLst/>
                  <a:cxnLst/>
                  <a:rect l="l" t="t" r="r" b="b"/>
                  <a:pathLst>
                    <a:path w="88582" h="88582">
                      <a:moveTo>
                        <a:pt x="0" y="88582"/>
                      </a:moveTo>
                      <a:lnTo>
                        <a:pt x="88582" y="0"/>
                      </a:lnTo>
                    </a:path>
                  </a:pathLst>
                </a:custGeom>
                <a:noFill/>
                <a:ln w="24759" cap="rnd">
                  <a:solidFill>
                    <a:srgbClr val="FFFFFF"/>
                  </a:solidFill>
                  <a:round/>
                </a:ln>
              </p:spPr>
            </p:sp>
            <p:sp>
              <p:nvSpPr>
                <p:cNvPr id="7" name="Freeform 7"/>
                <p:cNvSpPr/>
                <p:nvPr/>
              </p:nvSpPr>
              <p:spPr>
                <a:xfrm>
                  <a:off x="910114" y="368618"/>
                  <a:ext cx="88582" cy="88582"/>
                </a:xfrm>
                <a:custGeom>
                  <a:avLst/>
                  <a:gdLst/>
                  <a:ahLst/>
                  <a:cxnLst/>
                  <a:rect l="l" t="t" r="r" b="b"/>
                  <a:pathLst>
                    <a:path w="88582" h="88582">
                      <a:moveTo>
                        <a:pt x="0" y="0"/>
                      </a:moveTo>
                      <a:lnTo>
                        <a:pt x="88582" y="88582"/>
                      </a:lnTo>
                    </a:path>
                  </a:pathLst>
                </a:custGeom>
                <a:noFill/>
                <a:ln w="24759" cap="rnd">
                  <a:solidFill>
                    <a:srgbClr val="FFFFFF"/>
                  </a:solidFill>
                  <a:round/>
                </a:ln>
              </p:spPr>
            </p:sp>
          </p:grpSp>
        </p:grpSp>
        <p:sp>
          <p:nvSpPr>
            <p:cNvPr id="10" name="TextBox 10"/>
            <p:cNvSpPr txBox="1"/>
            <p:nvPr/>
          </p:nvSpPr>
          <p:spPr>
            <a:xfrm>
              <a:off x="1299972" y="282892"/>
              <a:ext cx="8213838"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kitapOduncVer: adım adım izleme tablosu</a:t>
              </a:r>
            </a:p>
          </p:txBody>
        </p:sp>
      </p:grpSp>
      <p:grpSp>
        <p:nvGrpSpPr>
          <p:cNvPr id="13" name="code-caption"/>
          <p:cNvGrpSpPr/>
          <p:nvPr/>
        </p:nvGrpSpPr>
        <p:grpSpPr>
          <a:xfrm>
            <a:off x="601599" y="1163479"/>
            <a:ext cx="3062401" cy="308039"/>
            <a:chOff x="601599" y="1163479"/>
            <a:chExt cx="3062401" cy="308039"/>
          </a:xfrm>
        </p:grpSpPr>
        <p:sp>
          <p:nvSpPr>
            <p:cNvPr id="12" name="TextBox 12"/>
            <p:cNvSpPr txBox="1"/>
            <p:nvPr/>
          </p:nvSpPr>
          <p:spPr>
            <a:xfrm>
              <a:off x="601599" y="1163479"/>
              <a:ext cx="3062401"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Kod 7.13: transaction bloğu</a:t>
              </a:r>
            </a:p>
          </p:txBody>
        </p:sp>
      </p:grpSp>
      <p:grpSp>
        <p:nvGrpSpPr>
          <p:cNvPr id="16" name="code-block"/>
          <p:cNvGrpSpPr/>
          <p:nvPr/>
        </p:nvGrpSpPr>
        <p:grpSpPr>
          <a:xfrm>
            <a:off x="609600" y="1447800"/>
            <a:ext cx="5334000" cy="3101578"/>
            <a:chOff x="609600" y="1447800"/>
            <a:chExt cx="5334000" cy="3101578"/>
          </a:xfrm>
        </p:grpSpPr>
        <p:sp>
          <p:nvSpPr>
            <p:cNvPr id="14" name="Rectangle 14"/>
            <p:cNvSpPr/>
            <p:nvPr/>
          </p:nvSpPr>
          <p:spPr>
            <a:xfrm>
              <a:off x="609600" y="1447800"/>
              <a:ext cx="5334000" cy="3048000"/>
            </a:xfrm>
            <a:prstGeom prst="roundRect">
              <a:avLst>
                <a:gd name="adj" fmla="val 2500"/>
              </a:avLst>
            </a:prstGeom>
            <a:solidFill>
              <a:srgbClr val="0B2038"/>
            </a:solidFill>
            <a:ln>
              <a:noFill/>
            </a:ln>
          </p:spPr>
        </p:sp>
        <p:sp>
          <p:nvSpPr>
            <p:cNvPr id="15" name="TextBox 15"/>
            <p:cNvSpPr txBox="1"/>
            <p:nvPr/>
          </p:nvSpPr>
          <p:spPr>
            <a:xfrm>
              <a:off x="795338" y="1613297"/>
              <a:ext cx="2701544" cy="2936081"/>
            </a:xfrm>
            <a:prstGeom prst="rect">
              <a:avLst/>
            </a:prstGeom>
            <a:noFill/>
            <a:ln>
              <a:noFill/>
            </a:ln>
          </p:spPr>
          <p:txBody>
            <a:bodyPr wrap="none" lIns="0" tIns="0" rIns="0" bIns="0" anchor="t" anchorCtr="0">
              <a:spAutoFit/>
            </a:bodyPr>
            <a:lstStyle/>
            <a:p>
              <a:pPr algn="l">
                <a:lnSpc>
                  <a:spcPts val="1275"/>
                </a:lnSpc>
              </a:pPr>
              <a:r>
                <a:rPr lang="tr-TR" sz="940" dirty="0">
                  <a:solidFill>
                    <a:srgbClr val="EAF4F6"/>
                  </a:solidFill>
                  <a:latin typeface="Consolas"/>
                  <a:ea typeface="Consolas"/>
                  <a:cs typeface="Consolas"/>
                </a:rPr>
                <a:t>const istemci = await havuz.connect();</a:t>
              </a:r>
              <a:br/>
              <a:r>
                <a:rPr lang="tr-TR" sz="940" dirty="0">
                  <a:solidFill>
                    <a:srgbClr val="EAF4F6"/>
                  </a:solidFill>
                  <a:latin typeface="Consolas"/>
                  <a:ea typeface="Consolas"/>
                  <a:cs typeface="Consolas"/>
                </a:rPr>
                <a:t>try {</a:t>
              </a:r>
              <a:br/>
              <a:r>
                <a:rPr lang="tr-TR" sz="940" dirty="0">
                  <a:solidFill>
                    <a:srgbClr val="EAF4F6"/>
                  </a:solidFill>
                  <a:latin typeface="Consolas"/>
                  <a:ea typeface="Consolas"/>
                  <a:cs typeface="Consolas"/>
                </a:rPr>
                <a:t>await istemci.query("BEGIN");</a:t>
              </a:r>
              <a:br/>
              <a:r>
                <a:rPr lang="tr-TR" sz="940" dirty="0">
                  <a:solidFill>
                    <a:srgbClr val="EAF4F6"/>
                  </a:solidFill>
                  <a:latin typeface="Consolas"/>
                  <a:ea typeface="Consolas"/>
                  <a:cs typeface="Consolas"/>
                </a:rPr>
                <a:t>await istemci.query(</a:t>
              </a:r>
              <a:br/>
              <a:r>
                <a:rPr lang="tr-TR" sz="940" dirty="0">
                  <a:solidFill>
                    <a:srgbClr val="EAF4F6"/>
                  </a:solidFill>
                  <a:latin typeface="Consolas"/>
                  <a:ea typeface="Consolas"/>
                  <a:cs typeface="Consolas"/>
                </a:rPr>
                <a:t>"UPDATE kitap SET stok = stok - 1 " +</a:t>
              </a:r>
              <a:br/>
              <a:r>
                <a:rPr lang="tr-TR" sz="940" dirty="0">
                  <a:solidFill>
                    <a:srgbClr val="EAF4F6"/>
                  </a:solidFill>
                  <a:latin typeface="Consolas"/>
                  <a:ea typeface="Consolas"/>
                  <a:cs typeface="Consolas"/>
                </a:rPr>
                <a:t>"WHERE id = $1;", [kitapId]</a:t>
              </a:r>
              <a:br/>
              <a:r>
                <a:rPr lang="tr-TR" sz="940" dirty="0">
                  <a:solidFill>
                    <a:srgbClr val="EAF4F6"/>
                  </a:solidFill>
                  <a:latin typeface="Consolas"/>
                  <a:ea typeface="Consolas"/>
                  <a:cs typeface="Consolas"/>
                </a:rPr>
                <a:t>);</a:t>
              </a:r>
              <a:br/>
              <a:r>
                <a:rPr lang="tr-TR" sz="940" dirty="0">
                  <a:solidFill>
                    <a:srgbClr val="EAF4F6"/>
                  </a:solidFill>
                  <a:latin typeface="Consolas"/>
                  <a:ea typeface="Consolas"/>
                  <a:cs typeface="Consolas"/>
                </a:rPr>
                <a:t>await istemci.query(</a:t>
              </a:r>
              <a:br/>
              <a:r>
                <a:rPr lang="tr-TR" sz="940" dirty="0">
                  <a:solidFill>
                    <a:srgbClr val="EAF4F6"/>
                  </a:solidFill>
                  <a:latin typeface="Consolas"/>
                  <a:ea typeface="Consolas"/>
                  <a:cs typeface="Consolas"/>
                </a:rPr>
                <a:t>"INSERT INTO odunc (kitap_id, uye_id) " +</a:t>
              </a:r>
              <a:br/>
              <a:r>
                <a:rPr lang="tr-TR" sz="940" dirty="0">
                  <a:solidFill>
                    <a:srgbClr val="EAF4F6"/>
                  </a:solidFill>
                  <a:latin typeface="Consolas"/>
                  <a:ea typeface="Consolas"/>
                  <a:cs typeface="Consolas"/>
                </a:rPr>
                <a:t>"VALUES ($1, $2);", [kitapId, uyeId]</a:t>
              </a:r>
              <a:br/>
              <a:r>
                <a:rPr lang="tr-TR" sz="940" dirty="0">
                  <a:solidFill>
                    <a:srgbClr val="EAF4F6"/>
                  </a:solidFill>
                  <a:latin typeface="Consolas"/>
                  <a:ea typeface="Consolas"/>
                  <a:cs typeface="Consolas"/>
                </a:rPr>
                <a:t>);</a:t>
              </a:r>
              <a:br/>
              <a:r>
                <a:rPr lang="tr-TR" sz="940" dirty="0">
                  <a:solidFill>
                    <a:srgbClr val="EAF4F6"/>
                  </a:solidFill>
                  <a:latin typeface="Consolas"/>
                  <a:ea typeface="Consolas"/>
                  <a:cs typeface="Consolas"/>
                </a:rPr>
                <a:t>await istemci.query("COMMIT");</a:t>
              </a:r>
              <a:br/>
              <a:r>
                <a:rPr lang="tr-TR" sz="940" dirty="0">
                  <a:solidFill>
                    <a:srgbClr val="EAF4F6"/>
                  </a:solidFill>
                  <a:latin typeface="Consolas"/>
                  <a:ea typeface="Consolas"/>
                  <a:cs typeface="Consolas"/>
                </a:rPr>
                <a:t>} catch (hata) {</a:t>
              </a:r>
              <a:br/>
              <a:r>
                <a:rPr lang="tr-TR" sz="940" dirty="0">
                  <a:solidFill>
                    <a:srgbClr val="EAF4F6"/>
                  </a:solidFill>
                  <a:latin typeface="Consolas"/>
                  <a:ea typeface="Consolas"/>
                  <a:cs typeface="Consolas"/>
                </a:rPr>
                <a:t>await istemci.query("ROLLBACK");</a:t>
              </a:r>
              <a:br/>
              <a:r>
                <a:rPr lang="tr-TR" sz="940" dirty="0">
                  <a:solidFill>
                    <a:srgbClr val="EAF4F6"/>
                  </a:solidFill>
                  <a:latin typeface="Consolas"/>
                  <a:ea typeface="Consolas"/>
                  <a:cs typeface="Consolas"/>
                </a:rPr>
                <a:t>throw hata;</a:t>
              </a:r>
              <a:br/>
              <a:r>
                <a:rPr lang="tr-TR" sz="940" dirty="0">
                  <a:solidFill>
                    <a:srgbClr val="EAF4F6"/>
                  </a:solidFill>
                  <a:latin typeface="Consolas"/>
                  <a:ea typeface="Consolas"/>
                  <a:cs typeface="Consolas"/>
                </a:rPr>
                <a:t>} finally {</a:t>
              </a:r>
              <a:br/>
              <a:r>
                <a:rPr lang="tr-TR" sz="940" dirty="0">
                  <a:solidFill>
                    <a:srgbClr val="EAF4F6"/>
                  </a:solidFill>
                  <a:latin typeface="Consolas"/>
                  <a:ea typeface="Consolas"/>
                  <a:cs typeface="Consolas"/>
                </a:rPr>
                <a:t>istemci.release();</a:t>
              </a:r>
              <a:br/>
              <a:r>
                <a:rPr lang="tr-TR" sz="940" dirty="0">
                  <a:solidFill>
                    <a:srgbClr val="EAF4F6"/>
                  </a:solidFill>
                  <a:latin typeface="Consolas"/>
                  <a:ea typeface="Consolas"/>
                  <a:cs typeface="Consolas"/>
                </a:rPr>
                <a:t>}</a:t>
              </a:r>
            </a:p>
          </p:txBody>
        </p:sp>
      </p:grpSp>
      <p:grpSp>
        <p:nvGrpSpPr>
          <p:cNvPr id="18" name="trace-caption"/>
          <p:cNvGrpSpPr/>
          <p:nvPr/>
        </p:nvGrpSpPr>
        <p:grpSpPr>
          <a:xfrm>
            <a:off x="6430899" y="1163479"/>
            <a:ext cx="1865962" cy="308039"/>
            <a:chOff x="6430899" y="1163479"/>
            <a:chExt cx="1865962" cy="308039"/>
          </a:xfrm>
        </p:grpSpPr>
        <p:sp>
          <p:nvSpPr>
            <p:cNvPr id="17" name="TextBox 17"/>
            <p:cNvSpPr txBox="1"/>
            <p:nvPr/>
          </p:nvSpPr>
          <p:spPr>
            <a:xfrm>
              <a:off x="6430899" y="1163479"/>
              <a:ext cx="1865962"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İz sürme tablosu</a:t>
              </a:r>
            </a:p>
          </p:txBody>
        </p:sp>
      </p:grpSp>
      <p:grpSp>
        <p:nvGrpSpPr>
          <p:cNvPr id="40" name="trace-table"/>
          <p:cNvGrpSpPr/>
          <p:nvPr/>
        </p:nvGrpSpPr>
        <p:grpSpPr>
          <a:xfrm>
            <a:off x="6438900" y="1447800"/>
            <a:ext cx="5143500" cy="2600040"/>
            <a:chOff x="6438900" y="1447800"/>
            <a:chExt cx="5143500" cy="2600040"/>
          </a:xfrm>
        </p:grpSpPr>
        <p:sp>
          <p:nvSpPr>
            <p:cNvPr id="19" name="Rectangle 19"/>
            <p:cNvSpPr/>
            <p:nvPr/>
          </p:nvSpPr>
          <p:spPr>
            <a:xfrm>
              <a:off x="6438900" y="1447800"/>
              <a:ext cx="5143500" cy="323850"/>
            </a:xfrm>
            <a:prstGeom prst="rect">
              <a:avLst/>
            </a:prstGeom>
            <a:solidFill>
              <a:srgbClr val="12355B"/>
            </a:solidFill>
            <a:ln>
              <a:noFill/>
            </a:ln>
          </p:spPr>
        </p:sp>
        <p:sp>
          <p:nvSpPr>
            <p:cNvPr id="20" name="TextBox 20"/>
            <p:cNvSpPr txBox="1"/>
            <p:nvPr/>
          </p:nvSpPr>
          <p:spPr>
            <a:xfrm>
              <a:off x="6585966" y="1544002"/>
              <a:ext cx="347830" cy="205359"/>
            </a:xfrm>
            <a:prstGeom prst="rect">
              <a:avLst/>
            </a:prstGeom>
            <a:noFill/>
            <a:ln>
              <a:noFill/>
            </a:ln>
          </p:spPr>
          <p:txBody>
            <a:bodyPr wrap="none" lIns="0" tIns="0" rIns="0" bIns="0" anchor="t" anchorCtr="0">
              <a:spAutoFit/>
            </a:bodyPr>
            <a:lstStyle/>
            <a:p>
              <a:pPr algn="l"/>
              <a:r>
                <a:rPr lang="tr-TR" sz="1050" b="1" dirty="0">
                  <a:solidFill>
                    <a:srgbClr val="FFFFFF"/>
                  </a:solidFill>
                  <a:latin typeface="+mn-lt"/>
                  <a:ea typeface="+mn-ea"/>
                  <a:cs typeface="+mn-cs"/>
                </a:rPr>
                <a:t>ADIM</a:t>
              </a:r>
            </a:p>
          </p:txBody>
        </p:sp>
        <p:sp>
          <p:nvSpPr>
            <p:cNvPr id="21" name="TextBox 21"/>
            <p:cNvSpPr txBox="1"/>
            <p:nvPr/>
          </p:nvSpPr>
          <p:spPr>
            <a:xfrm>
              <a:off x="7347966" y="1544002"/>
              <a:ext cx="473286" cy="205359"/>
            </a:xfrm>
            <a:prstGeom prst="rect">
              <a:avLst/>
            </a:prstGeom>
            <a:noFill/>
            <a:ln>
              <a:noFill/>
            </a:ln>
          </p:spPr>
          <p:txBody>
            <a:bodyPr wrap="none" lIns="0" tIns="0" rIns="0" bIns="0" anchor="t" anchorCtr="0">
              <a:spAutoFit/>
            </a:bodyPr>
            <a:lstStyle/>
            <a:p>
              <a:pPr algn="l"/>
              <a:r>
                <a:rPr lang="tr-TR" sz="1050" b="1" dirty="0">
                  <a:solidFill>
                    <a:srgbClr val="FFFFFF"/>
                  </a:solidFill>
                  <a:latin typeface="+mn-lt"/>
                  <a:ea typeface="+mn-ea"/>
                  <a:cs typeface="+mn-cs"/>
                </a:rPr>
                <a:t>DURUM</a:t>
              </a:r>
            </a:p>
          </p:txBody>
        </p:sp>
        <p:sp>
          <p:nvSpPr>
            <p:cNvPr id="22" name="TextBox 22"/>
            <p:cNvSpPr txBox="1"/>
            <p:nvPr/>
          </p:nvSpPr>
          <p:spPr>
            <a:xfrm>
              <a:off x="9800158" y="1544002"/>
              <a:ext cx="873176" cy="205359"/>
            </a:xfrm>
            <a:prstGeom prst="rect">
              <a:avLst/>
            </a:prstGeom>
            <a:noFill/>
            <a:ln>
              <a:noFill/>
            </a:ln>
          </p:spPr>
          <p:txBody>
            <a:bodyPr wrap="none" lIns="0" tIns="0" rIns="0" bIns="0" anchor="t" anchorCtr="0">
              <a:spAutoFit/>
            </a:bodyPr>
            <a:lstStyle/>
            <a:p>
              <a:pPr algn="r"/>
              <a:r>
                <a:rPr lang="tr-TR" sz="1050" b="1" dirty="0">
                  <a:solidFill>
                    <a:srgbClr val="FFFFFF"/>
                  </a:solidFill>
                  <a:latin typeface="+mn-lt"/>
                  <a:ea typeface="+mn-ea"/>
                  <a:cs typeface="+mn-cs"/>
                </a:rPr>
                <a:t>GÖRÜNÜRLÜK</a:t>
              </a:r>
            </a:p>
          </p:txBody>
        </p:sp>
        <p:sp>
          <p:nvSpPr>
            <p:cNvPr id="23" name="TextBox 23"/>
            <p:cNvSpPr txBox="1"/>
            <p:nvPr/>
          </p:nvSpPr>
          <p:spPr>
            <a:xfrm>
              <a:off x="6585966" y="1829752"/>
              <a:ext cx="908247"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1. connect()</a:t>
              </a:r>
            </a:p>
          </p:txBody>
        </p:sp>
        <p:sp>
          <p:nvSpPr>
            <p:cNvPr id="24" name="TextBox 24"/>
            <p:cNvSpPr txBox="1"/>
            <p:nvPr/>
          </p:nvSpPr>
          <p:spPr>
            <a:xfrm>
              <a:off x="7347966" y="1829752"/>
              <a:ext cx="1732501"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Havuzdan istemci ayrıldı</a:t>
              </a:r>
            </a:p>
          </p:txBody>
        </p:sp>
        <p:sp>
          <p:nvSpPr>
            <p:cNvPr id="25" name="TextBox 25"/>
            <p:cNvSpPr txBox="1"/>
            <p:nvPr/>
          </p:nvSpPr>
          <p:spPr>
            <a:xfrm>
              <a:off x="6585966" y="2058352"/>
              <a:ext cx="593141"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2. BEGIN</a:t>
              </a:r>
            </a:p>
          </p:txBody>
        </p:sp>
        <p:sp>
          <p:nvSpPr>
            <p:cNvPr id="26" name="TextBox 26"/>
            <p:cNvSpPr txBox="1"/>
            <p:nvPr/>
          </p:nvSpPr>
          <p:spPr>
            <a:xfrm>
              <a:off x="7347966" y="2058352"/>
              <a:ext cx="1308336"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Transaction açıldı</a:t>
              </a:r>
            </a:p>
          </p:txBody>
        </p:sp>
        <p:sp>
          <p:nvSpPr>
            <p:cNvPr id="27" name="TextBox 27"/>
            <p:cNvSpPr txBox="1"/>
            <p:nvPr/>
          </p:nvSpPr>
          <p:spPr>
            <a:xfrm>
              <a:off x="6585966" y="2286952"/>
              <a:ext cx="1062960"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3. UPDATE stok</a:t>
              </a:r>
            </a:p>
          </p:txBody>
        </p:sp>
        <p:sp>
          <p:nvSpPr>
            <p:cNvPr id="28" name="TextBox 28"/>
            <p:cNvSpPr txBox="1"/>
            <p:nvPr/>
          </p:nvSpPr>
          <p:spPr>
            <a:xfrm>
              <a:off x="7347966" y="2286952"/>
              <a:ext cx="1859838"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Yalnızca bu bağlantı görür</a:t>
              </a:r>
            </a:p>
          </p:txBody>
        </p:sp>
        <p:sp>
          <p:nvSpPr>
            <p:cNvPr id="29" name="TextBox 29"/>
            <p:cNvSpPr txBox="1"/>
            <p:nvPr/>
          </p:nvSpPr>
          <p:spPr>
            <a:xfrm>
              <a:off x="6585966" y="2515552"/>
              <a:ext cx="1103532"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4. INSERT odunc</a:t>
              </a:r>
            </a:p>
          </p:txBody>
        </p:sp>
        <p:sp>
          <p:nvSpPr>
            <p:cNvPr id="30" name="TextBox 30"/>
            <p:cNvSpPr txBox="1"/>
            <p:nvPr/>
          </p:nvSpPr>
          <p:spPr>
            <a:xfrm>
              <a:off x="7347966" y="2515552"/>
              <a:ext cx="1859838"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Yalnızca bu bağlantı görür</a:t>
              </a:r>
            </a:p>
          </p:txBody>
        </p:sp>
        <p:sp>
          <p:nvSpPr>
            <p:cNvPr id="31" name="TextBox 31"/>
            <p:cNvSpPr txBox="1"/>
            <p:nvPr/>
          </p:nvSpPr>
          <p:spPr>
            <a:xfrm>
              <a:off x="6585966" y="2744152"/>
              <a:ext cx="1504619"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5a. COMMIT (başarı)</a:t>
              </a:r>
            </a:p>
          </p:txBody>
        </p:sp>
        <p:sp>
          <p:nvSpPr>
            <p:cNvPr id="32" name="TextBox 32"/>
            <p:cNvSpPr txBox="1"/>
            <p:nvPr/>
          </p:nvSpPr>
          <p:spPr>
            <a:xfrm>
              <a:off x="7347966" y="2744152"/>
              <a:ext cx="2375684"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Değişiklik kalıcı, herkese görünür</a:t>
              </a:r>
            </a:p>
          </p:txBody>
        </p:sp>
        <p:sp>
          <p:nvSpPr>
            <p:cNvPr id="33" name="TextBox 33"/>
            <p:cNvSpPr txBox="1"/>
            <p:nvPr/>
          </p:nvSpPr>
          <p:spPr>
            <a:xfrm>
              <a:off x="6585966" y="2972752"/>
              <a:ext cx="1495356"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5b. ROLLBACK (hata)</a:t>
              </a:r>
            </a:p>
          </p:txBody>
        </p:sp>
        <p:sp>
          <p:nvSpPr>
            <p:cNvPr id="34" name="TextBox 34"/>
            <p:cNvSpPr txBox="1"/>
            <p:nvPr/>
          </p:nvSpPr>
          <p:spPr>
            <a:xfrm>
              <a:off x="7347966" y="2972752"/>
              <a:ext cx="2121056"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Her iki değişiklik de geri alınır</a:t>
              </a:r>
            </a:p>
          </p:txBody>
        </p:sp>
        <p:sp>
          <p:nvSpPr>
            <p:cNvPr id="35" name="TextBox 35"/>
            <p:cNvSpPr txBox="1"/>
            <p:nvPr/>
          </p:nvSpPr>
          <p:spPr>
            <a:xfrm>
              <a:off x="6585966" y="3201352"/>
              <a:ext cx="872909"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6. release()</a:t>
              </a:r>
            </a:p>
          </p:txBody>
        </p:sp>
        <p:sp>
          <p:nvSpPr>
            <p:cNvPr id="36" name="TextBox 36"/>
            <p:cNvSpPr txBox="1"/>
            <p:nvPr/>
          </p:nvSpPr>
          <p:spPr>
            <a:xfrm>
              <a:off x="7347966" y="3201352"/>
              <a:ext cx="1781904"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İstemci havuza iade edilir</a:t>
              </a:r>
            </a:p>
          </p:txBody>
        </p:sp>
        <p:sp>
          <p:nvSpPr>
            <p:cNvPr id="37" name="Rectangle 37"/>
            <p:cNvSpPr/>
            <p:nvPr/>
          </p:nvSpPr>
          <p:spPr>
            <a:xfrm>
              <a:off x="6438900" y="3429000"/>
              <a:ext cx="5143500" cy="571500"/>
            </a:xfrm>
            <a:prstGeom prst="roundRect">
              <a:avLst>
                <a:gd name="adj" fmla="val 10000"/>
              </a:avLst>
            </a:prstGeom>
            <a:solidFill>
              <a:srgbClr val="EAF4F6"/>
            </a:solidFill>
            <a:ln>
              <a:noFill/>
            </a:ln>
          </p:spPr>
        </p:sp>
        <p:sp>
          <p:nvSpPr>
            <p:cNvPr id="38" name="TextBox 38"/>
            <p:cNvSpPr txBox="1"/>
            <p:nvPr/>
          </p:nvSpPr>
          <p:spPr>
            <a:xfrm>
              <a:off x="6585966" y="3525202"/>
              <a:ext cx="1948510" cy="205359"/>
            </a:xfrm>
            <a:prstGeom prst="rect">
              <a:avLst/>
            </a:prstGeom>
            <a:noFill/>
            <a:ln>
              <a:noFill/>
            </a:ln>
          </p:spPr>
          <p:txBody>
            <a:bodyPr wrap="none" lIns="0" tIns="0" rIns="0" bIns="0" anchor="t" anchorCtr="0">
              <a:spAutoFit/>
            </a:bodyPr>
            <a:lstStyle/>
            <a:p>
              <a:pPr algn="l"/>
              <a:r>
                <a:rPr lang="tr-TR" sz="1050" b="1" dirty="0">
                  <a:solidFill>
                    <a:srgbClr val="12355B"/>
                  </a:solidFill>
                  <a:latin typeface="+mn-lt"/>
                  <a:ea typeface="+mn-ea"/>
                  <a:cs typeface="+mn-cs"/>
                </a:rPr>
                <a:t>Kod 7.26–7.27 yaygın hata</a:t>
              </a:r>
            </a:p>
          </p:txBody>
        </p:sp>
        <p:sp>
          <p:nvSpPr>
            <p:cNvPr id="39" name="TextBox 39"/>
            <p:cNvSpPr txBox="1"/>
            <p:nvPr/>
          </p:nvSpPr>
          <p:spPr>
            <a:xfrm>
              <a:off x="6586347" y="3704749"/>
              <a:ext cx="3762375" cy="343091"/>
            </a:xfrm>
            <a:prstGeom prst="rect">
              <a:avLst/>
            </a:prstGeom>
            <a:noFill/>
            <a:ln>
              <a:noFill/>
            </a:ln>
          </p:spPr>
          <p:txBody>
            <a:bodyPr wrap="none" lIns="0" tIns="0" rIns="0" bIns="0" anchor="t" anchorCtr="0">
              <a:spAutoFit/>
            </a:bodyPr>
            <a:lstStyle/>
            <a:p>
              <a:pPr algn="l">
                <a:lnSpc>
                  <a:spcPts val="1200"/>
                </a:lnSpc>
              </a:pPr>
              <a:r>
                <a:rPr lang="tr-TR" sz="980" dirty="0">
                  <a:solidFill>
                    <a:srgbClr val="172B3A"/>
                  </a:solidFill>
                  <a:latin typeface="+mn-lt"/>
                  <a:ea typeface="+mn-ea"/>
                  <a:cs typeface="+mn-cs"/>
                </a:rPr>
                <a:t>havuz.query() ile ayrı çağrılar yapmak, her sorgunun farklı</a:t>
              </a:r>
              <a:br/>
              <a:r>
                <a:rPr lang="tr-TR" sz="980" dirty="0">
                  <a:solidFill>
                    <a:srgbClr val="172B3A"/>
                  </a:solidFill>
                  <a:latin typeface="+mn-lt"/>
                  <a:ea typeface="+mn-ea"/>
                  <a:cs typeface="+mn-cs"/>
                </a:rPr>
                <a:t>bağlantıya gitmesine ve transaction'ın bölünmesine yol açar.</a:t>
              </a:r>
            </a:p>
          </p:txBody>
        </p:sp>
      </p:grpSp>
      <p:sp>
        <p:nvSpPr>
          <p:cNvPr id="41" name="TextBox 41"/>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22 / 26</a:t>
            </a:r>
          </a:p>
        </p:txBody>
      </p:sp>
    </p:spTree>
  </p:cSld>
  <p:clrMapOvr>
    <a:masterClrMapping/>
  </p:clrMapOvr>
  <p:transition xmlns:p14="http://schemas.microsoft.com/office/powerpoint/2010/main" p14:dur="400">
    <p:fade/>
  </p:transition>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8527853" cy="668845"/>
            <a:chOff x="609600" y="171450"/>
            <a:chExt cx="8527853"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46456" y="319421"/>
                <a:ext cx="297777" cy="255830"/>
                <a:chOff x="746456" y="319421"/>
                <a:chExt cx="297777" cy="255830"/>
              </a:xfrm>
            </p:grpSpPr>
            <p:sp>
              <p:nvSpPr>
                <p:cNvPr id="5" name="Freeform 5"/>
                <p:cNvSpPr/>
                <p:nvPr/>
              </p:nvSpPr>
              <p:spPr>
                <a:xfrm>
                  <a:off x="895350" y="412909"/>
                  <a:ext cx="9525" cy="59055"/>
                </a:xfrm>
                <a:custGeom>
                  <a:avLst/>
                  <a:gdLst/>
                  <a:ahLst/>
                  <a:cxnLst/>
                  <a:rect l="l" t="t" r="r" b="b"/>
                  <a:pathLst>
                    <a:path w="9525" h="59055">
                      <a:moveTo>
                        <a:pt x="0" y="0"/>
                      </a:moveTo>
                      <a:lnTo>
                        <a:pt x="0" y="59055"/>
                      </a:lnTo>
                    </a:path>
                  </a:pathLst>
                </a:custGeom>
                <a:noFill/>
                <a:ln w="24759" cap="rnd">
                  <a:solidFill>
                    <a:srgbClr val="FFFFFF"/>
                  </a:solidFill>
                  <a:round/>
                </a:ln>
              </p:spPr>
            </p:sp>
            <p:sp>
              <p:nvSpPr>
                <p:cNvPr id="6" name="Freeform 6"/>
                <p:cNvSpPr/>
                <p:nvPr/>
              </p:nvSpPr>
              <p:spPr>
                <a:xfrm>
                  <a:off x="746456" y="319421"/>
                  <a:ext cx="297777" cy="255830"/>
                </a:xfrm>
                <a:custGeom>
                  <a:avLst/>
                  <a:gdLst/>
                  <a:ahLst/>
                  <a:cxnLst/>
                  <a:rect l="l" t="t" r="r" b="b"/>
                  <a:pathLst>
                    <a:path w="297777" h="255830">
                      <a:moveTo>
                        <a:pt x="124726" y="13630"/>
                      </a:moveTo>
                      <a:lnTo>
                        <a:pt x="5051" y="213443"/>
                      </a:lnTo>
                      <a:cubicBezTo>
                        <a:pt x="31" y="222137"/>
                        <a:pt x="0" y="232841"/>
                        <a:pt x="4970" y="241564"/>
                      </a:cubicBezTo>
                      <a:cubicBezTo>
                        <a:pt x="9941" y="250286"/>
                        <a:pt x="19166" y="255717"/>
                        <a:pt x="29204" y="255830"/>
                      </a:cubicBezTo>
                      <a:lnTo>
                        <a:pt x="268584" y="255830"/>
                      </a:lnTo>
                      <a:cubicBezTo>
                        <a:pt x="278618" y="255714"/>
                        <a:pt x="287838" y="250285"/>
                        <a:pt x="292807" y="241568"/>
                      </a:cubicBezTo>
                      <a:cubicBezTo>
                        <a:pt x="297777" y="232850"/>
                        <a:pt x="297750" y="222150"/>
                        <a:pt x="292737" y="213458"/>
                      </a:cubicBezTo>
                      <a:lnTo>
                        <a:pt x="173062" y="13615"/>
                      </a:lnTo>
                      <a:cubicBezTo>
                        <a:pt x="167941" y="5163"/>
                        <a:pt x="158777" y="0"/>
                        <a:pt x="148894" y="0"/>
                      </a:cubicBezTo>
                      <a:cubicBezTo>
                        <a:pt x="139011" y="0"/>
                        <a:pt x="129847" y="5163"/>
                        <a:pt x="124726" y="13615"/>
                      </a:cubicBezTo>
                    </a:path>
                  </a:pathLst>
                </a:custGeom>
                <a:noFill/>
                <a:ln w="24759" cap="rnd">
                  <a:solidFill>
                    <a:srgbClr val="FFFFFF"/>
                  </a:solidFill>
                  <a:round/>
                </a:ln>
              </p:spPr>
            </p:sp>
            <p:sp>
              <p:nvSpPr>
                <p:cNvPr id="7" name="Freeform 7"/>
                <p:cNvSpPr/>
                <p:nvPr/>
              </p:nvSpPr>
              <p:spPr>
                <a:xfrm>
                  <a:off x="895350" y="516255"/>
                  <a:ext cx="9525" cy="9525"/>
                </a:xfrm>
                <a:custGeom>
                  <a:avLst/>
                  <a:gdLst/>
                  <a:ahLst/>
                  <a:cxnLst/>
                  <a:rect l="l" t="t" r="r" b="b"/>
                  <a:pathLst>
                    <a:path w="9525" h="9525">
                      <a:moveTo>
                        <a:pt x="0" y="0"/>
                      </a:moveTo>
                      <a:lnTo>
                        <a:pt x="148" y="0"/>
                      </a:lnTo>
                    </a:path>
                  </a:pathLst>
                </a:custGeom>
                <a:noFill/>
                <a:ln w="24759" cap="rnd">
                  <a:solidFill>
                    <a:srgbClr val="FFFFFF"/>
                  </a:solidFill>
                  <a:round/>
                </a:ln>
              </p:spPr>
            </p:sp>
          </p:grpSp>
        </p:grpSp>
        <p:sp>
          <p:nvSpPr>
            <p:cNvPr id="10" name="TextBox 10"/>
            <p:cNvSpPr txBox="1"/>
            <p:nvPr/>
          </p:nvSpPr>
          <p:spPr>
            <a:xfrm>
              <a:off x="1299972" y="282892"/>
              <a:ext cx="7837481"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Kavram yanılgıları ve anti-pattern'lar</a:t>
              </a:r>
            </a:p>
          </p:txBody>
        </p:sp>
      </p:grpSp>
      <p:grpSp>
        <p:nvGrpSpPr>
          <p:cNvPr id="16" name="fallacy-header"/>
          <p:cNvGrpSpPr/>
          <p:nvPr/>
        </p:nvGrpSpPr>
        <p:grpSpPr>
          <a:xfrm>
            <a:off x="609600" y="1333500"/>
            <a:ext cx="10972800" cy="381000"/>
            <a:chOff x="609600" y="1333500"/>
            <a:chExt cx="10972800" cy="381000"/>
          </a:xfrm>
        </p:grpSpPr>
        <p:sp>
          <p:nvSpPr>
            <p:cNvPr id="12" name="Rectangle 12"/>
            <p:cNvSpPr/>
            <p:nvPr/>
          </p:nvSpPr>
          <p:spPr>
            <a:xfrm>
              <a:off x="609600" y="1333500"/>
              <a:ext cx="10972800" cy="381000"/>
            </a:xfrm>
            <a:prstGeom prst="rect">
              <a:avLst/>
            </a:prstGeom>
            <a:solidFill>
              <a:srgbClr val="12355B"/>
            </a:solidFill>
            <a:ln>
              <a:noFill/>
            </a:ln>
          </p:spPr>
        </p:sp>
        <p:sp>
          <p:nvSpPr>
            <p:cNvPr id="13" name="TextBox 13"/>
            <p:cNvSpPr txBox="1"/>
            <p:nvPr/>
          </p:nvSpPr>
          <p:spPr>
            <a:xfrm>
              <a:off x="755904" y="1451610"/>
              <a:ext cx="676595"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YANILGI</a:t>
              </a:r>
            </a:p>
          </p:txBody>
        </p:sp>
        <p:sp>
          <p:nvSpPr>
            <p:cNvPr id="14" name="TextBox 14"/>
            <p:cNvSpPr txBox="1"/>
            <p:nvPr/>
          </p:nvSpPr>
          <p:spPr>
            <a:xfrm>
              <a:off x="4375404" y="1451610"/>
              <a:ext cx="1376843"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TEKNİK GERÇEK</a:t>
              </a:r>
            </a:p>
          </p:txBody>
        </p:sp>
        <p:sp>
          <p:nvSpPr>
            <p:cNvPr id="15" name="TextBox 15"/>
            <p:cNvSpPr txBox="1"/>
            <p:nvPr/>
          </p:nvSpPr>
          <p:spPr>
            <a:xfrm>
              <a:off x="8185404" y="1451610"/>
              <a:ext cx="1375136"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MİMARİ ÇÖZÜM</a:t>
              </a:r>
            </a:p>
          </p:txBody>
        </p:sp>
      </p:grpSp>
      <p:grpSp>
        <p:nvGrpSpPr>
          <p:cNvPr id="21" name="fallacy-havuz"/>
          <p:cNvGrpSpPr/>
          <p:nvPr/>
        </p:nvGrpSpPr>
        <p:grpSpPr>
          <a:xfrm>
            <a:off x="609600" y="1849279"/>
            <a:ext cx="10972800" cy="1313021"/>
            <a:chOff x="609600" y="1849279"/>
            <a:chExt cx="10972800" cy="1313021"/>
          </a:xfrm>
        </p:grpSpPr>
        <p:sp>
          <p:nvSpPr>
            <p:cNvPr id="17" name="TextBox 17"/>
            <p:cNvSpPr txBox="1"/>
            <p:nvPr/>
          </p:nvSpPr>
          <p:spPr>
            <a:xfrm>
              <a:off x="753999" y="1849279"/>
              <a:ext cx="2565387" cy="803338"/>
            </a:xfrm>
            <a:prstGeom prst="rect">
              <a:avLst/>
            </a:prstGeom>
            <a:noFill/>
            <a:ln>
              <a:noFill/>
            </a:ln>
          </p:spPr>
          <p:txBody>
            <a:bodyPr wrap="none" lIns="0" tIns="0" rIns="0" bIns="0" anchor="t" anchorCtr="0">
              <a:spAutoFit/>
            </a:bodyPr>
            <a:lstStyle/>
            <a:p>
              <a:pPr algn="l">
                <a:lnSpc>
                  <a:spcPts val="1950"/>
                </a:lnSpc>
              </a:pPr>
              <a:r>
                <a:rPr lang="tr-TR" sz="1580" b="1" dirty="0">
                  <a:solidFill>
                    <a:srgbClr val="12355B"/>
                  </a:solidFill>
                  <a:latin typeface="+mn-lt"/>
                  <a:ea typeface="+mn-ea"/>
                  <a:cs typeface="+mn-cs"/>
                </a:rPr>
                <a:t>"Pool.query() her zaman</a:t>
              </a:r>
              <a:br/>
              <a:r>
                <a:rPr lang="tr-TR" sz="1580" b="1" dirty="0">
                  <a:solidFill>
                    <a:srgbClr val="12355B"/>
                  </a:solidFill>
                  <a:latin typeface="+mn-lt"/>
                  <a:ea typeface="+mn-ea"/>
                  <a:cs typeface="+mn-cs"/>
                </a:rPr>
                <a:t>aynı bağlantıyı</a:t>
              </a:r>
              <a:br/>
              <a:r>
                <a:rPr lang="tr-TR" sz="1580" b="1" dirty="0">
                  <a:solidFill>
                    <a:srgbClr val="12355B"/>
                  </a:solidFill>
                  <a:latin typeface="+mn-lt"/>
                  <a:ea typeface="+mn-ea"/>
                  <a:cs typeface="+mn-cs"/>
                </a:rPr>
                <a:t>kullanır."</a:t>
              </a:r>
            </a:p>
          </p:txBody>
        </p:sp>
        <p:sp>
          <p:nvSpPr>
            <p:cNvPr id="18" name="TextBox 18"/>
            <p:cNvSpPr txBox="1"/>
            <p:nvPr/>
          </p:nvSpPr>
          <p:spPr>
            <a:xfrm>
              <a:off x="4375404" y="1889760"/>
              <a:ext cx="338785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Pool, her query() çağrısında havuzdan uygun</a:t>
              </a:r>
              <a:br/>
              <a:r>
                <a:rPr lang="tr-TR" sz="1200" dirty="0">
                  <a:solidFill>
                    <a:srgbClr val="172B3A"/>
                  </a:solidFill>
                  <a:latin typeface="+mn-lt"/>
                  <a:ea typeface="+mn-ea"/>
                  <a:cs typeface="+mn-cs"/>
                </a:rPr>
                <a:t>bir bağlantı seçer; ardışık iki çağrı farklı</a:t>
              </a:r>
              <a:br/>
              <a:r>
                <a:rPr lang="tr-TR" sz="1200" dirty="0">
                  <a:solidFill>
                    <a:srgbClr val="172B3A"/>
                  </a:solidFill>
                  <a:latin typeface="+mn-lt"/>
                  <a:ea typeface="+mn-ea"/>
                  <a:cs typeface="+mn-cs"/>
                </a:rPr>
                <a:t>bağlantılara gidebilir, bu yüzden BEGIN ile</a:t>
              </a:r>
              <a:br/>
              <a:r>
                <a:rPr lang="tr-TR" sz="1200" dirty="0">
                  <a:solidFill>
                    <a:srgbClr val="172B3A"/>
                  </a:solidFill>
                  <a:latin typeface="+mn-lt"/>
                  <a:ea typeface="+mn-ea"/>
                  <a:cs typeface="+mn-cs"/>
                </a:rPr>
                <a:t>COMMIT arasında bütünlük garanti edilmez.</a:t>
              </a:r>
            </a:p>
          </p:txBody>
        </p:sp>
        <p:sp>
          <p:nvSpPr>
            <p:cNvPr id="19" name="TextBox 19"/>
            <p:cNvSpPr txBox="1"/>
            <p:nvPr/>
          </p:nvSpPr>
          <p:spPr>
            <a:xfrm>
              <a:off x="8185785" y="1897856"/>
              <a:ext cx="2948686" cy="848678"/>
            </a:xfrm>
            <a:prstGeom prst="rect">
              <a:avLst/>
            </a:prstGeom>
            <a:noFill/>
            <a:ln>
              <a:noFill/>
            </a:ln>
          </p:spPr>
          <p:txBody>
            <a:bodyPr wrap="none" lIns="0" tIns="0" rIns="0" bIns="0" anchor="t" anchorCtr="0">
              <a:spAutoFit/>
            </a:bodyPr>
            <a:lstStyle/>
            <a:p>
              <a:pPr algn="l">
                <a:lnSpc>
                  <a:spcPts val="1650"/>
                </a:lnSpc>
              </a:pPr>
              <a:r>
                <a:rPr lang="tr-TR" sz="1120" dirty="0">
                  <a:solidFill>
                    <a:srgbClr val="172B3A"/>
                  </a:solidFill>
                  <a:latin typeface="+mn-lt"/>
                  <a:ea typeface="+mn-ea"/>
                  <a:cs typeface="+mn-cs"/>
                </a:rPr>
                <a:t>Transaction gerektiren işlemler için tek</a:t>
              </a:r>
              <a:br/>
              <a:r>
                <a:rPr lang="tr-TR" sz="1120" dirty="0">
                  <a:solidFill>
                    <a:srgbClr val="172B3A"/>
                  </a:solidFill>
                  <a:latin typeface="+mn-lt"/>
                  <a:ea typeface="+mn-ea"/>
                  <a:cs typeface="+mn-cs"/>
                </a:rPr>
                <a:t>bir istemci havuz.connect() ile alınmalı,</a:t>
              </a:r>
              <a:br/>
              <a:r>
                <a:rPr lang="tr-TR" sz="1120" dirty="0">
                  <a:solidFill>
                    <a:srgbClr val="172B3A"/>
                  </a:solidFill>
                  <a:latin typeface="+mn-lt"/>
                  <a:ea typeface="+mn-ea"/>
                  <a:cs typeface="+mn-cs"/>
                </a:rPr>
                <a:t>tüm adımlar o istemci üzerinden yürütülüp</a:t>
              </a:r>
              <a:br/>
              <a:r>
                <a:rPr lang="tr-TR" sz="1120" dirty="0">
                  <a:solidFill>
                    <a:srgbClr val="172B3A"/>
                  </a:solidFill>
                  <a:latin typeface="+mn-lt"/>
                  <a:ea typeface="+mn-ea"/>
                  <a:cs typeface="+mn-cs"/>
                </a:rPr>
                <a:t>sonda release() ile geri verilmelidir.</a:t>
              </a:r>
            </a:p>
          </p:txBody>
        </p:sp>
        <p:sp>
          <p:nvSpPr>
            <p:cNvPr id="20" name="Line 20"/>
            <p:cNvSpPr/>
            <p:nvPr/>
          </p:nvSpPr>
          <p:spPr>
            <a:xfrm>
              <a:off x="609600" y="3152775"/>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27" name="fallacy-fk"/>
          <p:cNvGrpSpPr/>
          <p:nvPr/>
        </p:nvGrpSpPr>
        <p:grpSpPr>
          <a:xfrm>
            <a:off x="609600" y="3162300"/>
            <a:ext cx="10972800" cy="1447800"/>
            <a:chOff x="609600" y="3162300"/>
            <a:chExt cx="10972800" cy="1447800"/>
          </a:xfrm>
        </p:grpSpPr>
        <p:sp>
          <p:nvSpPr>
            <p:cNvPr id="22" name="Rectangle 22"/>
            <p:cNvSpPr/>
            <p:nvPr/>
          </p:nvSpPr>
          <p:spPr>
            <a:xfrm>
              <a:off x="609600" y="3162300"/>
              <a:ext cx="10972800" cy="1447800"/>
            </a:xfrm>
            <a:prstGeom prst="rect">
              <a:avLst/>
            </a:prstGeom>
            <a:solidFill>
              <a:srgbClr val="EAF4F6"/>
            </a:solidFill>
            <a:ln>
              <a:noFill/>
            </a:ln>
          </p:spPr>
        </p:sp>
        <p:sp>
          <p:nvSpPr>
            <p:cNvPr id="23" name="TextBox 23"/>
            <p:cNvSpPr txBox="1"/>
            <p:nvPr/>
          </p:nvSpPr>
          <p:spPr>
            <a:xfrm>
              <a:off x="753999" y="3297079"/>
              <a:ext cx="2165071" cy="803338"/>
            </a:xfrm>
            <a:prstGeom prst="rect">
              <a:avLst/>
            </a:prstGeom>
            <a:noFill/>
            <a:ln>
              <a:noFill/>
            </a:ln>
          </p:spPr>
          <p:txBody>
            <a:bodyPr wrap="none" lIns="0" tIns="0" rIns="0" bIns="0" anchor="t" anchorCtr="0">
              <a:spAutoFit/>
            </a:bodyPr>
            <a:lstStyle/>
            <a:p>
              <a:pPr algn="l">
                <a:lnSpc>
                  <a:spcPts val="1950"/>
                </a:lnSpc>
              </a:pPr>
              <a:r>
                <a:rPr lang="tr-TR" sz="1580" b="1" dirty="0">
                  <a:solidFill>
                    <a:srgbClr val="12355B"/>
                  </a:solidFill>
                  <a:latin typeface="+mn-lt"/>
                  <a:ea typeface="+mn-ea"/>
                  <a:cs typeface="+mn-cs"/>
                </a:rPr>
                <a:t>"FOREIGN KEY, iş</a:t>
              </a:r>
              <a:br/>
              <a:r>
                <a:rPr lang="tr-TR" sz="1580" b="1" dirty="0">
                  <a:solidFill>
                    <a:srgbClr val="12355B"/>
                  </a:solidFill>
                  <a:latin typeface="+mn-lt"/>
                  <a:ea typeface="+mn-ea"/>
                  <a:cs typeface="+mn-cs"/>
                </a:rPr>
                <a:t>kuralını da otomatik</a:t>
              </a:r>
              <a:br/>
              <a:r>
                <a:rPr lang="tr-TR" sz="1580" b="1" dirty="0">
                  <a:solidFill>
                    <a:srgbClr val="12355B"/>
                  </a:solidFill>
                  <a:latin typeface="+mn-lt"/>
                  <a:ea typeface="+mn-ea"/>
                  <a:cs typeface="+mn-cs"/>
                </a:rPr>
                <a:t>olarak denetler."</a:t>
              </a:r>
            </a:p>
          </p:txBody>
        </p:sp>
        <p:sp>
          <p:nvSpPr>
            <p:cNvPr id="24" name="TextBox 24"/>
            <p:cNvSpPr txBox="1"/>
            <p:nvPr/>
          </p:nvSpPr>
          <p:spPr>
            <a:xfrm>
              <a:off x="4375404" y="3337560"/>
              <a:ext cx="336499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FK yalnızca referans edilen kaydın var</a:t>
              </a:r>
              <a:br/>
              <a:r>
                <a:rPr lang="tr-TR" sz="1200" dirty="0">
                  <a:solidFill>
                    <a:srgbClr val="172B3A"/>
                  </a:solidFill>
                  <a:latin typeface="+mn-lt"/>
                  <a:ea typeface="+mn-ea"/>
                  <a:cs typeface="+mn-cs"/>
                </a:rPr>
                <a:t>olduğunu garanti eder; "üye en fazla üç kitap</a:t>
              </a:r>
              <a:br/>
              <a:r>
                <a:rPr lang="tr-TR" sz="1200" dirty="0">
                  <a:solidFill>
                    <a:srgbClr val="172B3A"/>
                  </a:solidFill>
                  <a:latin typeface="+mn-lt"/>
                  <a:ea typeface="+mn-ea"/>
                  <a:cs typeface="+mn-cs"/>
                </a:rPr>
                <a:t>ödünç alabilir" gibi bir iş kuralını uygulamaz</a:t>
              </a:r>
            </a:p>
            <a:p>
              <a:pPr algn="l">
                <a:lnSpc>
                  <a:spcPts val="1650"/>
                </a:lnSpc>
              </a:pPr>
              <a:r>
                <a:rPr lang="tr-TR" sz="1200" dirty="0">
                  <a:solidFill>
                    <a:srgbClr val="172B3A"/>
                  </a:solidFill>
                  <a:latin typeface="+mn-lt"/>
                  <a:ea typeface="+mn-ea"/>
                  <a:cs typeface="+mn-cs"/>
                </a:rPr>
                <a:t>— bu her zaman uygulama sorumluluğundadır.</a:t>
              </a:r>
            </a:p>
          </p:txBody>
        </p:sp>
        <p:sp>
          <p:nvSpPr>
            <p:cNvPr id="25" name="TextBox 25"/>
            <p:cNvSpPr txBox="1"/>
            <p:nvPr/>
          </p:nvSpPr>
          <p:spPr>
            <a:xfrm>
              <a:off x="8185404" y="3337560"/>
              <a:ext cx="300685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İş kuralları uygulama katmanında veya</a:t>
              </a:r>
              <a:br/>
              <a:r>
                <a:rPr lang="tr-TR" sz="1200" dirty="0">
                  <a:solidFill>
                    <a:srgbClr val="172B3A"/>
                  </a:solidFill>
                  <a:latin typeface="+mn-lt"/>
                  <a:ea typeface="+mn-ea"/>
                  <a:cs typeface="+mn-cs"/>
                </a:rPr>
                <a:t>CHECK kısıtı/trigger ile veritabanı</a:t>
              </a:r>
              <a:br/>
              <a:r>
                <a:rPr lang="tr-TR" sz="1200" dirty="0">
                  <a:solidFill>
                    <a:srgbClr val="172B3A"/>
                  </a:solidFill>
                  <a:latin typeface="+mn-lt"/>
                  <a:ea typeface="+mn-ea"/>
                  <a:cs typeface="+mn-cs"/>
                </a:rPr>
                <a:t>düzeyinde ayrıca yazılmalı; FK yalnızca</a:t>
              </a:r>
              <a:br/>
              <a:r>
                <a:rPr lang="tr-TR" sz="1200" dirty="0">
                  <a:solidFill>
                    <a:srgbClr val="172B3A"/>
                  </a:solidFill>
                  <a:latin typeface="+mn-lt"/>
                  <a:ea typeface="+mn-ea"/>
                  <a:cs typeface="+mn-cs"/>
                </a:rPr>
                <a:t>referans bütünlüğünün temelidir.</a:t>
              </a:r>
            </a:p>
          </p:txBody>
        </p:sp>
        <p:sp>
          <p:nvSpPr>
            <p:cNvPr id="26" name="Line 26"/>
            <p:cNvSpPr/>
            <p:nvPr/>
          </p:nvSpPr>
          <p:spPr>
            <a:xfrm>
              <a:off x="609600" y="4600575"/>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31" name="fallacy-index"/>
          <p:cNvGrpSpPr/>
          <p:nvPr/>
        </p:nvGrpSpPr>
        <p:grpSpPr>
          <a:xfrm>
            <a:off x="753999" y="4744879"/>
            <a:ext cx="10232517" cy="903827"/>
            <a:chOff x="753999" y="4744879"/>
            <a:chExt cx="10232517" cy="903827"/>
          </a:xfrm>
        </p:grpSpPr>
        <p:sp>
          <p:nvSpPr>
            <p:cNvPr id="28" name="TextBox 28"/>
            <p:cNvSpPr txBox="1"/>
            <p:nvPr/>
          </p:nvSpPr>
          <p:spPr>
            <a:xfrm>
              <a:off x="753999" y="4744879"/>
              <a:ext cx="2565387" cy="803338"/>
            </a:xfrm>
            <a:prstGeom prst="rect">
              <a:avLst/>
            </a:prstGeom>
            <a:noFill/>
            <a:ln>
              <a:noFill/>
            </a:ln>
          </p:spPr>
          <p:txBody>
            <a:bodyPr wrap="none" lIns="0" tIns="0" rIns="0" bIns="0" anchor="t" anchorCtr="0">
              <a:spAutoFit/>
            </a:bodyPr>
            <a:lstStyle/>
            <a:p>
              <a:pPr algn="l">
                <a:lnSpc>
                  <a:spcPts val="1950"/>
                </a:lnSpc>
              </a:pPr>
              <a:r>
                <a:rPr lang="tr-TR" sz="1580" b="1" dirty="0">
                  <a:solidFill>
                    <a:srgbClr val="12355B"/>
                  </a:solidFill>
                  <a:latin typeface="+mn-lt"/>
                  <a:ea typeface="+mn-ea"/>
                  <a:cs typeface="+mn-cs"/>
                </a:rPr>
                <a:t>"Her sütuna index</a:t>
              </a:r>
              <a:br/>
              <a:r>
                <a:rPr lang="tr-TR" sz="1580" b="1" dirty="0">
                  <a:solidFill>
                    <a:srgbClr val="12355B"/>
                  </a:solidFill>
                  <a:latin typeface="+mn-lt"/>
                  <a:ea typeface="+mn-ea"/>
                  <a:cs typeface="+mn-cs"/>
                </a:rPr>
                <a:t>eklemek sorguyu</a:t>
              </a:r>
              <a:br/>
              <a:r>
                <a:rPr lang="tr-TR" sz="1580" b="1" dirty="0">
                  <a:solidFill>
                    <a:srgbClr val="12355B"/>
                  </a:solidFill>
                  <a:latin typeface="+mn-lt"/>
                  <a:ea typeface="+mn-ea"/>
                  <a:cs typeface="+mn-cs"/>
                </a:rPr>
                <a:t>her zaman hızlandırır."</a:t>
              </a:r>
            </a:p>
          </p:txBody>
        </p:sp>
        <p:sp>
          <p:nvSpPr>
            <p:cNvPr id="29" name="TextBox 29"/>
            <p:cNvSpPr txBox="1"/>
            <p:nvPr/>
          </p:nvSpPr>
          <p:spPr>
            <a:xfrm>
              <a:off x="4375404" y="4785360"/>
              <a:ext cx="317449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Her index, her INSERT/UPDATE/DELETE'te</a:t>
              </a:r>
              <a:br/>
              <a:r>
                <a:rPr lang="tr-TR" sz="1200" dirty="0">
                  <a:solidFill>
                    <a:srgbClr val="172B3A"/>
                  </a:solidFill>
                  <a:latin typeface="+mn-lt"/>
                  <a:ea typeface="+mn-ea"/>
                  <a:cs typeface="+mn-cs"/>
                </a:rPr>
                <a:t>ayrıca güncellenmesi gereken bir yapıdır;</a:t>
              </a:r>
              <a:br/>
              <a:r>
                <a:rPr lang="tr-TR" sz="1200" dirty="0">
                  <a:solidFill>
                    <a:srgbClr val="172B3A"/>
                  </a:solidFill>
                  <a:latin typeface="+mn-lt"/>
                  <a:ea typeface="+mn-ea"/>
                  <a:cs typeface="+mn-cs"/>
                </a:rPr>
                <a:t>az sorgulanan veya sık yazılan sütunlarda</a:t>
              </a:r>
              <a:br/>
              <a:r>
                <a:rPr lang="tr-TR" sz="1200" dirty="0">
                  <a:solidFill>
                    <a:srgbClr val="172B3A"/>
                  </a:solidFill>
                  <a:latin typeface="+mn-lt"/>
                  <a:ea typeface="+mn-ea"/>
                  <a:cs typeface="+mn-cs"/>
                </a:rPr>
                <a:t>yazma performansını düşürür.</a:t>
              </a:r>
            </a:p>
          </p:txBody>
        </p:sp>
        <p:sp>
          <p:nvSpPr>
            <p:cNvPr id="30" name="TextBox 30"/>
            <p:cNvSpPr txBox="1"/>
            <p:nvPr/>
          </p:nvSpPr>
          <p:spPr>
            <a:xfrm>
              <a:off x="8185404" y="4785360"/>
              <a:ext cx="280111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Index yalnızca EXPLAIN ANALYZE ile</a:t>
              </a:r>
              <a:br/>
              <a:r>
                <a:rPr lang="tr-TR" sz="1200" dirty="0">
                  <a:solidFill>
                    <a:srgbClr val="172B3A"/>
                  </a:solidFill>
                  <a:latin typeface="+mn-lt"/>
                  <a:ea typeface="+mn-ea"/>
                  <a:cs typeface="+mn-cs"/>
                </a:rPr>
                <a:t>ölçülen gerçek sorgu maliyetine göre,</a:t>
              </a:r>
              <a:br/>
              <a:r>
                <a:rPr lang="tr-TR" sz="1200" dirty="0">
                  <a:solidFill>
                    <a:srgbClr val="172B3A"/>
                  </a:solidFill>
                  <a:latin typeface="+mn-lt"/>
                  <a:ea typeface="+mn-ea"/>
                  <a:cs typeface="+mn-cs"/>
                </a:rPr>
                <a:t>sık kullanılan WHERE/JOIN/ORDER BY</a:t>
              </a:r>
              <a:br/>
              <a:r>
                <a:rPr lang="tr-TR" sz="1200" dirty="0">
                  <a:solidFill>
                    <a:srgbClr val="172B3A"/>
                  </a:solidFill>
                  <a:latin typeface="+mn-lt"/>
                  <a:ea typeface="+mn-ea"/>
                  <a:cs typeface="+mn-cs"/>
                </a:rPr>
                <a:t>sütunlarına eklenmelidir.</a:t>
              </a:r>
            </a:p>
          </p:txBody>
        </p:sp>
      </p:grpSp>
      <p:sp>
        <p:nvSpPr>
          <p:cNvPr id="32" name="TextBox 32"/>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23 / 26</a:t>
            </a:r>
          </a:p>
        </p:txBody>
      </p:sp>
    </p:spTree>
  </p:cSld>
  <p:clrMapOvr>
    <a:masterClrMapping/>
  </p:clrMapOvr>
  <p:transition xmlns:p14="http://schemas.microsoft.com/office/powerpoint/2010/main" p14:dur="400">
    <p:fade/>
  </p:transition>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8724443" cy="557403"/>
            <a:chOff x="595122" y="282892"/>
            <a:chExt cx="8724443" cy="557403"/>
          </a:xfrm>
        </p:grpSpPr>
        <p:sp>
          <p:nvSpPr>
            <p:cNvPr id="4" name="TextBox 4"/>
            <p:cNvSpPr txBox="1"/>
            <p:nvPr/>
          </p:nvSpPr>
          <p:spPr>
            <a:xfrm>
              <a:off x="595122" y="282892"/>
              <a:ext cx="8724443"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Uçtan uca mini uygulama: ChapterMiniApp.ts</a:t>
              </a:r>
            </a:p>
          </p:txBody>
        </p:sp>
      </p:grpSp>
      <p:grpSp>
        <p:nvGrpSpPr>
          <p:cNvPr id="8" name="intro-block"/>
          <p:cNvGrpSpPr/>
          <p:nvPr/>
        </p:nvGrpSpPr>
        <p:grpSpPr>
          <a:xfrm>
            <a:off x="601599" y="1277779"/>
            <a:ext cx="9169929" cy="536639"/>
            <a:chOff x="601599" y="1277779"/>
            <a:chExt cx="9169929" cy="536639"/>
          </a:xfrm>
        </p:grpSpPr>
        <p:sp>
          <p:nvSpPr>
            <p:cNvPr id="6" name="TextBox 6"/>
            <p:cNvSpPr txBox="1"/>
            <p:nvPr/>
          </p:nvSpPr>
          <p:spPr>
            <a:xfrm>
              <a:off x="601599" y="1277779"/>
              <a:ext cx="9169929"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Kod 7.14, bölümün tüm kavramlarını tek bir akışta birleştirir: şema kurulumu, upsert,</a:t>
              </a:r>
            </a:p>
          </p:txBody>
        </p:sp>
        <p:sp>
          <p:nvSpPr>
            <p:cNvPr id="7" name="TextBox 7"/>
            <p:cNvSpPr txBox="1"/>
            <p:nvPr/>
          </p:nvSpPr>
          <p:spPr>
            <a:xfrm>
              <a:off x="601599" y="1506379"/>
              <a:ext cx="7751458"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LEFT JOIN raporu ve transaction — hepsi bir bağlantı üzerinden yürütülür.</a:t>
              </a:r>
            </a:p>
          </p:txBody>
        </p:sp>
      </p:grpSp>
      <p:grpSp>
        <p:nvGrpSpPr>
          <p:cNvPr id="40" name="flow"/>
          <p:cNvGrpSpPr/>
          <p:nvPr/>
        </p:nvGrpSpPr>
        <p:grpSpPr>
          <a:xfrm>
            <a:off x="609600" y="2019300"/>
            <a:ext cx="10972800" cy="1333500"/>
            <a:chOff x="609600" y="2019300"/>
            <a:chExt cx="10972800" cy="1333500"/>
          </a:xfrm>
        </p:grpSpPr>
        <p:grpSp>
          <p:nvGrpSpPr>
            <p:cNvPr id="15" name="step-schema"/>
            <p:cNvGrpSpPr/>
            <p:nvPr/>
          </p:nvGrpSpPr>
          <p:grpSpPr>
            <a:xfrm>
              <a:off x="609600" y="2019300"/>
              <a:ext cx="2641702" cy="1333500"/>
              <a:chOff x="609600" y="2019300"/>
              <a:chExt cx="2641702" cy="1333500"/>
            </a:xfrm>
          </p:grpSpPr>
          <p:sp>
            <p:nvSpPr>
              <p:cNvPr id="9" name="Rectangle 9"/>
              <p:cNvSpPr/>
              <p:nvPr/>
            </p:nvSpPr>
            <p:spPr>
              <a:xfrm>
                <a:off x="609600" y="2019300"/>
                <a:ext cx="2438400" cy="1333500"/>
              </a:xfrm>
              <a:prstGeom prst="roundRect">
                <a:avLst>
                  <a:gd name="adj" fmla="val 7143"/>
                </a:avLst>
              </a:prstGeom>
              <a:solidFill>
                <a:srgbClr val="FFFFFF"/>
              </a:solidFill>
              <a:ln w="14288">
                <a:solidFill>
                  <a:srgbClr val="2E86AB"/>
                </a:solidFill>
              </a:ln>
            </p:spPr>
          </p:sp>
          <p:sp>
            <p:nvSpPr>
              <p:cNvPr id="10" name="Rectangle 10"/>
              <p:cNvSpPr/>
              <p:nvPr/>
            </p:nvSpPr>
            <p:spPr>
              <a:xfrm>
                <a:off x="609600" y="2019300"/>
                <a:ext cx="2438400" cy="381000"/>
              </a:xfrm>
              <a:prstGeom prst="roundRect">
                <a:avLst>
                  <a:gd name="adj" fmla="val 25000"/>
                </a:avLst>
              </a:prstGeom>
              <a:solidFill>
                <a:srgbClr val="12355B"/>
              </a:solidFill>
              <a:ln>
                <a:noFill/>
              </a:ln>
            </p:spPr>
          </p:sp>
          <p:sp>
            <p:nvSpPr>
              <p:cNvPr id="11" name="TextBox 11"/>
              <p:cNvSpPr txBox="1"/>
              <p:nvPr/>
            </p:nvSpPr>
            <p:spPr>
              <a:xfrm>
                <a:off x="831342" y="2121218"/>
                <a:ext cx="1633783" cy="264033"/>
              </a:xfrm>
              <a:prstGeom prst="rect">
                <a:avLst/>
              </a:prstGeom>
              <a:noFill/>
              <a:ln>
                <a:noFill/>
              </a:ln>
            </p:spPr>
            <p:txBody>
              <a:bodyPr wrap="none" lIns="0" tIns="0" rIns="0" bIns="0" anchor="t" anchorCtr="0">
                <a:spAutoFit/>
              </a:bodyPr>
              <a:lstStyle/>
              <a:p>
                <a:pPr algn="l"/>
                <a:r>
                  <a:rPr lang="tr-TR" sz="1350" b="1" dirty="0">
                    <a:solidFill>
                      <a:srgbClr val="FFFFFF"/>
                    </a:solidFill>
                    <a:latin typeface="+mn-lt"/>
                    <a:ea typeface="+mn-ea"/>
                    <a:cs typeface="+mn-cs"/>
                  </a:rPr>
                  <a:t>1. Şema kurulumu</a:t>
                </a:r>
              </a:p>
            </p:txBody>
          </p:sp>
          <p:sp>
            <p:nvSpPr>
              <p:cNvPr id="12" name="TextBox 12"/>
              <p:cNvSpPr txBox="1"/>
              <p:nvPr/>
            </p:nvSpPr>
            <p:spPr>
              <a:xfrm>
                <a:off x="832104" y="2537460"/>
                <a:ext cx="1659331"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CREATE TABLE IF NOT</a:t>
                </a:r>
              </a:p>
            </p:txBody>
          </p:sp>
          <p:sp>
            <p:nvSpPr>
              <p:cNvPr id="13" name="TextBox 13"/>
              <p:cNvSpPr txBox="1"/>
              <p:nvPr/>
            </p:nvSpPr>
            <p:spPr>
              <a:xfrm>
                <a:off x="832104" y="2747010"/>
                <a:ext cx="1582522"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EXISTS + FK + CHECK</a:t>
                </a:r>
              </a:p>
            </p:txBody>
          </p:sp>
          <p:sp>
            <p:nvSpPr>
              <p:cNvPr id="14" name="TextBox 14"/>
              <p:cNvSpPr txBox="1"/>
              <p:nvPr/>
            </p:nvSpPr>
            <p:spPr>
              <a:xfrm>
                <a:off x="832104" y="2956560"/>
                <a:ext cx="241919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kısıtlarıyla şema hazırlanır.</a:t>
                </a:r>
              </a:p>
            </p:txBody>
          </p:sp>
        </p:grpSp>
        <p:sp>
          <p:nvSpPr>
            <p:cNvPr id="16" name="Line 16"/>
            <p:cNvSpPr/>
            <p:nvPr/>
          </p:nvSpPr>
          <p:spPr>
            <a:xfrm>
              <a:off x="3048000" y="2686050"/>
              <a:ext cx="381000" cy="1"/>
            </a:xfrm>
            <a:prstGeom prst="line">
              <a:avLst/>
            </a:prstGeom>
            <a:noFill/>
            <a:ln w="23812">
              <a:solidFill>
                <a:srgbClr val="00A6A6"/>
              </a:solidFill>
              <a:tailEnd type="arrow" w="lg" len="lg"/>
            </a:ln>
          </p:spPr>
        </p:sp>
        <p:grpSp>
          <p:nvGrpSpPr>
            <p:cNvPr id="23" name="step-upsert"/>
            <p:cNvGrpSpPr/>
            <p:nvPr/>
          </p:nvGrpSpPr>
          <p:grpSpPr>
            <a:xfrm>
              <a:off x="3505200" y="2019300"/>
              <a:ext cx="2438400" cy="1333500"/>
              <a:chOff x="3505200" y="2019300"/>
              <a:chExt cx="2438400" cy="1333500"/>
            </a:xfrm>
          </p:grpSpPr>
          <p:sp>
            <p:nvSpPr>
              <p:cNvPr id="17" name="Rectangle 17"/>
              <p:cNvSpPr/>
              <p:nvPr/>
            </p:nvSpPr>
            <p:spPr>
              <a:xfrm>
                <a:off x="3505200" y="2019300"/>
                <a:ext cx="2438400" cy="1333500"/>
              </a:xfrm>
              <a:prstGeom prst="roundRect">
                <a:avLst>
                  <a:gd name="adj" fmla="val 7143"/>
                </a:avLst>
              </a:prstGeom>
              <a:solidFill>
                <a:srgbClr val="FFFFFF"/>
              </a:solidFill>
              <a:ln w="14288">
                <a:solidFill>
                  <a:srgbClr val="2E86AB"/>
                </a:solidFill>
              </a:ln>
            </p:spPr>
          </p:sp>
          <p:sp>
            <p:nvSpPr>
              <p:cNvPr id="18" name="Rectangle 18"/>
              <p:cNvSpPr/>
              <p:nvPr/>
            </p:nvSpPr>
            <p:spPr>
              <a:xfrm>
                <a:off x="3505200" y="2019300"/>
                <a:ext cx="2438400" cy="381000"/>
              </a:xfrm>
              <a:prstGeom prst="roundRect">
                <a:avLst>
                  <a:gd name="adj" fmla="val 25000"/>
                </a:avLst>
              </a:prstGeom>
              <a:solidFill>
                <a:srgbClr val="12355B"/>
              </a:solidFill>
              <a:ln>
                <a:noFill/>
              </a:ln>
            </p:spPr>
          </p:sp>
          <p:sp>
            <p:nvSpPr>
              <p:cNvPr id="19" name="TextBox 19"/>
              <p:cNvSpPr txBox="1"/>
              <p:nvPr/>
            </p:nvSpPr>
            <p:spPr>
              <a:xfrm>
                <a:off x="3726942" y="2121218"/>
                <a:ext cx="919049" cy="264033"/>
              </a:xfrm>
              <a:prstGeom prst="rect">
                <a:avLst/>
              </a:prstGeom>
              <a:noFill/>
              <a:ln>
                <a:noFill/>
              </a:ln>
            </p:spPr>
            <p:txBody>
              <a:bodyPr wrap="none" lIns="0" tIns="0" rIns="0" bIns="0" anchor="t" anchorCtr="0">
                <a:spAutoFit/>
              </a:bodyPr>
              <a:lstStyle/>
              <a:p>
                <a:pPr algn="l"/>
                <a:r>
                  <a:rPr lang="tr-TR" sz="1350" b="1" dirty="0">
                    <a:solidFill>
                      <a:srgbClr val="FFFFFF"/>
                    </a:solidFill>
                    <a:latin typeface="+mn-lt"/>
                    <a:ea typeface="+mn-ea"/>
                    <a:cs typeface="+mn-cs"/>
                  </a:rPr>
                  <a:t>2. Upsert</a:t>
                </a:r>
              </a:p>
            </p:txBody>
          </p:sp>
          <p:sp>
            <p:nvSpPr>
              <p:cNvPr id="20" name="TextBox 20"/>
              <p:cNvSpPr txBox="1"/>
              <p:nvPr/>
            </p:nvSpPr>
            <p:spPr>
              <a:xfrm>
                <a:off x="3727704" y="2537460"/>
                <a:ext cx="1932432"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INSERT ... ON CONFLICT</a:t>
                </a:r>
              </a:p>
            </p:txBody>
          </p:sp>
          <p:sp>
            <p:nvSpPr>
              <p:cNvPr id="21" name="TextBox 21"/>
              <p:cNvSpPr txBox="1"/>
              <p:nvPr/>
            </p:nvSpPr>
            <p:spPr>
              <a:xfrm>
                <a:off x="3727704" y="2747010"/>
                <a:ext cx="1759356"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DO UPDATE ile var olan</a:t>
                </a:r>
              </a:p>
            </p:txBody>
          </p:sp>
          <p:sp>
            <p:nvSpPr>
              <p:cNvPr id="22" name="TextBox 22"/>
              <p:cNvSpPr txBox="1"/>
              <p:nvPr/>
            </p:nvSpPr>
            <p:spPr>
              <a:xfrm>
                <a:off x="3727704" y="2956560"/>
                <a:ext cx="144993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kayıt güncellenir.</a:t>
                </a:r>
              </a:p>
            </p:txBody>
          </p:sp>
        </p:grpSp>
        <p:sp>
          <p:nvSpPr>
            <p:cNvPr id="24" name="Line 24"/>
            <p:cNvSpPr/>
            <p:nvPr/>
          </p:nvSpPr>
          <p:spPr>
            <a:xfrm>
              <a:off x="5943600" y="2686050"/>
              <a:ext cx="381000" cy="1"/>
            </a:xfrm>
            <a:prstGeom prst="line">
              <a:avLst/>
            </a:prstGeom>
            <a:noFill/>
            <a:ln w="23812">
              <a:solidFill>
                <a:srgbClr val="00A6A6"/>
              </a:solidFill>
              <a:tailEnd type="arrow" w="lg" len="lg"/>
            </a:ln>
          </p:spPr>
        </p:sp>
        <p:grpSp>
          <p:nvGrpSpPr>
            <p:cNvPr id="31" name="step-join"/>
            <p:cNvGrpSpPr/>
            <p:nvPr/>
          </p:nvGrpSpPr>
          <p:grpSpPr>
            <a:xfrm>
              <a:off x="6400800" y="2019300"/>
              <a:ext cx="2438400" cy="1333500"/>
              <a:chOff x="6400800" y="2019300"/>
              <a:chExt cx="2438400" cy="1333500"/>
            </a:xfrm>
          </p:grpSpPr>
          <p:sp>
            <p:nvSpPr>
              <p:cNvPr id="25" name="Rectangle 25"/>
              <p:cNvSpPr/>
              <p:nvPr/>
            </p:nvSpPr>
            <p:spPr>
              <a:xfrm>
                <a:off x="6400800" y="2019300"/>
                <a:ext cx="2438400" cy="1333500"/>
              </a:xfrm>
              <a:prstGeom prst="roundRect">
                <a:avLst>
                  <a:gd name="adj" fmla="val 7143"/>
                </a:avLst>
              </a:prstGeom>
              <a:solidFill>
                <a:srgbClr val="FFFFFF"/>
              </a:solidFill>
              <a:ln w="14288">
                <a:solidFill>
                  <a:srgbClr val="2E86AB"/>
                </a:solidFill>
              </a:ln>
            </p:spPr>
          </p:sp>
          <p:sp>
            <p:nvSpPr>
              <p:cNvPr id="26" name="Rectangle 26"/>
              <p:cNvSpPr/>
              <p:nvPr/>
            </p:nvSpPr>
            <p:spPr>
              <a:xfrm>
                <a:off x="6400800" y="2019300"/>
                <a:ext cx="2438400" cy="381000"/>
              </a:xfrm>
              <a:prstGeom prst="roundRect">
                <a:avLst>
                  <a:gd name="adj" fmla="val 25000"/>
                </a:avLst>
              </a:prstGeom>
              <a:solidFill>
                <a:srgbClr val="12355B"/>
              </a:solidFill>
              <a:ln>
                <a:noFill/>
              </a:ln>
            </p:spPr>
          </p:sp>
          <p:sp>
            <p:nvSpPr>
              <p:cNvPr id="27" name="TextBox 27"/>
              <p:cNvSpPr txBox="1"/>
              <p:nvPr/>
            </p:nvSpPr>
            <p:spPr>
              <a:xfrm>
                <a:off x="6622542" y="2121218"/>
                <a:ext cx="1914728" cy="264033"/>
              </a:xfrm>
              <a:prstGeom prst="rect">
                <a:avLst/>
              </a:prstGeom>
              <a:noFill/>
              <a:ln>
                <a:noFill/>
              </a:ln>
            </p:spPr>
            <p:txBody>
              <a:bodyPr wrap="none" lIns="0" tIns="0" rIns="0" bIns="0" anchor="t" anchorCtr="0">
                <a:spAutoFit/>
              </a:bodyPr>
              <a:lstStyle/>
              <a:p>
                <a:pPr algn="l"/>
                <a:r>
                  <a:rPr lang="tr-TR" sz="1350" b="1" dirty="0">
                    <a:solidFill>
                      <a:srgbClr val="FFFFFF"/>
                    </a:solidFill>
                    <a:latin typeface="+mn-lt"/>
                    <a:ea typeface="+mn-ea"/>
                    <a:cs typeface="+mn-cs"/>
                  </a:rPr>
                  <a:t>3. LEFT JOIN raporu</a:t>
                </a:r>
              </a:p>
            </p:txBody>
          </p:sp>
          <p:sp>
            <p:nvSpPr>
              <p:cNvPr id="28" name="TextBox 28"/>
              <p:cNvSpPr txBox="1"/>
              <p:nvPr/>
            </p:nvSpPr>
            <p:spPr>
              <a:xfrm>
                <a:off x="6623304" y="2537460"/>
                <a:ext cx="1891153"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Kitabı olmayan yazarlar</a:t>
                </a:r>
              </a:p>
            </p:txBody>
          </p:sp>
          <p:sp>
            <p:nvSpPr>
              <p:cNvPr id="29" name="TextBox 29"/>
              <p:cNvSpPr txBox="1"/>
              <p:nvPr/>
            </p:nvSpPr>
            <p:spPr>
              <a:xfrm>
                <a:off x="6623304" y="2747010"/>
                <a:ext cx="1676095"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da dahil tam liste tek</a:t>
                </a:r>
              </a:p>
            </p:txBody>
          </p:sp>
          <p:sp>
            <p:nvSpPr>
              <p:cNvPr id="30" name="TextBox 30"/>
              <p:cNvSpPr txBox="1"/>
              <p:nvPr/>
            </p:nvSpPr>
            <p:spPr>
              <a:xfrm>
                <a:off x="6623304" y="2956560"/>
                <a:ext cx="136108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sorguda üretilir.</a:t>
                </a:r>
              </a:p>
            </p:txBody>
          </p:sp>
        </p:grpSp>
        <p:sp>
          <p:nvSpPr>
            <p:cNvPr id="32" name="Line 32"/>
            <p:cNvSpPr/>
            <p:nvPr/>
          </p:nvSpPr>
          <p:spPr>
            <a:xfrm>
              <a:off x="8839200" y="2686050"/>
              <a:ext cx="381000" cy="1"/>
            </a:xfrm>
            <a:prstGeom prst="line">
              <a:avLst/>
            </a:prstGeom>
            <a:noFill/>
            <a:ln w="23812">
              <a:solidFill>
                <a:srgbClr val="00A6A6"/>
              </a:solidFill>
              <a:tailEnd type="arrow" w="lg" len="lg"/>
            </a:ln>
          </p:spPr>
        </p:sp>
        <p:grpSp>
          <p:nvGrpSpPr>
            <p:cNvPr id="39" name="step-tx"/>
            <p:cNvGrpSpPr/>
            <p:nvPr/>
          </p:nvGrpSpPr>
          <p:grpSpPr>
            <a:xfrm>
              <a:off x="9296400" y="2019300"/>
              <a:ext cx="2286000" cy="1333500"/>
              <a:chOff x="9296400" y="2019300"/>
              <a:chExt cx="2286000" cy="1333500"/>
            </a:xfrm>
          </p:grpSpPr>
          <p:sp>
            <p:nvSpPr>
              <p:cNvPr id="33" name="Rectangle 33"/>
              <p:cNvSpPr/>
              <p:nvPr/>
            </p:nvSpPr>
            <p:spPr>
              <a:xfrm>
                <a:off x="9296400" y="2019300"/>
                <a:ext cx="2286000" cy="1333500"/>
              </a:xfrm>
              <a:prstGeom prst="roundRect">
                <a:avLst>
                  <a:gd name="adj" fmla="val 7143"/>
                </a:avLst>
              </a:prstGeom>
              <a:solidFill>
                <a:srgbClr val="EAF4F6"/>
              </a:solidFill>
              <a:ln w="14288">
                <a:solidFill>
                  <a:srgbClr val="00A6A6"/>
                </a:solidFill>
              </a:ln>
            </p:spPr>
          </p:sp>
          <p:sp>
            <p:nvSpPr>
              <p:cNvPr id="34" name="Rectangle 34"/>
              <p:cNvSpPr/>
              <p:nvPr/>
            </p:nvSpPr>
            <p:spPr>
              <a:xfrm>
                <a:off x="9296400" y="2019300"/>
                <a:ext cx="2286000" cy="381000"/>
              </a:xfrm>
              <a:prstGeom prst="roundRect">
                <a:avLst>
                  <a:gd name="adj" fmla="val 25000"/>
                </a:avLst>
              </a:prstGeom>
              <a:solidFill>
                <a:srgbClr val="12355B"/>
              </a:solidFill>
              <a:ln>
                <a:noFill/>
              </a:ln>
            </p:spPr>
          </p:sp>
          <p:sp>
            <p:nvSpPr>
              <p:cNvPr id="35" name="TextBox 35"/>
              <p:cNvSpPr txBox="1"/>
              <p:nvPr/>
            </p:nvSpPr>
            <p:spPr>
              <a:xfrm>
                <a:off x="9518142" y="2121218"/>
                <a:ext cx="1394718" cy="264033"/>
              </a:xfrm>
              <a:prstGeom prst="rect">
                <a:avLst/>
              </a:prstGeom>
              <a:noFill/>
              <a:ln>
                <a:noFill/>
              </a:ln>
            </p:spPr>
            <p:txBody>
              <a:bodyPr wrap="none" lIns="0" tIns="0" rIns="0" bIns="0" anchor="t" anchorCtr="0">
                <a:spAutoFit/>
              </a:bodyPr>
              <a:lstStyle/>
              <a:p>
                <a:pPr algn="l"/>
                <a:r>
                  <a:rPr lang="tr-TR" sz="1350" b="1" dirty="0">
                    <a:solidFill>
                      <a:srgbClr val="FFFFFF"/>
                    </a:solidFill>
                    <a:latin typeface="+mn-lt"/>
                    <a:ea typeface="+mn-ea"/>
                    <a:cs typeface="+mn-cs"/>
                  </a:rPr>
                  <a:t>4. Transaction</a:t>
                </a:r>
              </a:p>
            </p:txBody>
          </p:sp>
          <p:sp>
            <p:nvSpPr>
              <p:cNvPr id="36" name="TextBox 36"/>
              <p:cNvSpPr txBox="1"/>
              <p:nvPr/>
            </p:nvSpPr>
            <p:spPr>
              <a:xfrm>
                <a:off x="9518904" y="2537460"/>
                <a:ext cx="1387330"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BEGIN/COMMIT ile</a:t>
                </a:r>
              </a:p>
            </p:txBody>
          </p:sp>
          <p:sp>
            <p:nvSpPr>
              <p:cNvPr id="37" name="TextBox 37"/>
              <p:cNvSpPr txBox="1"/>
              <p:nvPr/>
            </p:nvSpPr>
            <p:spPr>
              <a:xfrm>
                <a:off x="9518904" y="2747010"/>
                <a:ext cx="1732636"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tüm adımlar tek birim</a:t>
                </a:r>
              </a:p>
            </p:txBody>
          </p:sp>
          <p:sp>
            <p:nvSpPr>
              <p:cNvPr id="38" name="TextBox 38"/>
              <p:cNvSpPr txBox="1"/>
              <p:nvPr/>
            </p:nvSpPr>
            <p:spPr>
              <a:xfrm>
                <a:off x="9518904" y="2956560"/>
                <a:ext cx="1983029"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olarak güvenceye alınır.</a:t>
                </a:r>
              </a:p>
            </p:txBody>
          </p:sp>
        </p:grpSp>
      </p:grpSp>
      <p:grpSp>
        <p:nvGrpSpPr>
          <p:cNvPr id="45" name="closing-block"/>
          <p:cNvGrpSpPr/>
          <p:nvPr/>
        </p:nvGrpSpPr>
        <p:grpSpPr>
          <a:xfrm>
            <a:off x="609600" y="4191000"/>
            <a:ext cx="10972800" cy="952500"/>
            <a:chOff x="609600" y="4191000"/>
            <a:chExt cx="10972800" cy="952500"/>
          </a:xfrm>
        </p:grpSpPr>
        <p:sp>
          <p:nvSpPr>
            <p:cNvPr id="41" name="Rectangle 41"/>
            <p:cNvSpPr/>
            <p:nvPr/>
          </p:nvSpPr>
          <p:spPr>
            <a:xfrm>
              <a:off x="609600" y="4191000"/>
              <a:ext cx="10972800" cy="952500"/>
            </a:xfrm>
            <a:prstGeom prst="roundRect">
              <a:avLst>
                <a:gd name="adj" fmla="val 8000"/>
              </a:avLst>
            </a:prstGeom>
            <a:solidFill>
              <a:srgbClr val="FFFFFF"/>
            </a:solidFill>
            <a:ln w="14288">
              <a:solidFill>
                <a:srgbClr val="B8CBD3"/>
              </a:solidFill>
            </a:ln>
          </p:spPr>
        </p:sp>
        <p:sp>
          <p:nvSpPr>
            <p:cNvPr id="42" name="TextBox 42"/>
            <p:cNvSpPr txBox="1"/>
            <p:nvPr/>
          </p:nvSpPr>
          <p:spPr>
            <a:xfrm>
              <a:off x="906399" y="4306729"/>
              <a:ext cx="1944445"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Neden bu sırayla?</a:t>
              </a:r>
            </a:p>
          </p:txBody>
        </p:sp>
        <p:sp>
          <p:nvSpPr>
            <p:cNvPr id="43" name="TextBox 43"/>
            <p:cNvSpPr txBox="1"/>
            <p:nvPr/>
          </p:nvSpPr>
          <p:spPr>
            <a:xfrm>
              <a:off x="908304" y="4613910"/>
              <a:ext cx="747285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Şema önce garanti altına alınmadan veri yazılamaz; upsert ve rapor sorgusu aynı transaction</a:t>
              </a:r>
            </a:p>
          </p:txBody>
        </p:sp>
        <p:sp>
          <p:nvSpPr>
            <p:cNvPr id="44" name="TextBox 44"/>
            <p:cNvSpPr txBox="1"/>
            <p:nvPr/>
          </p:nvSpPr>
          <p:spPr>
            <a:xfrm>
              <a:off x="908304" y="4823460"/>
              <a:ext cx="5440070"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içinde çalıştığında, rapor her zaman güncel ve tutarlı veriyi görür.</a:t>
              </a:r>
            </a:p>
          </p:txBody>
        </p:sp>
      </p:grpSp>
      <p:grpSp>
        <p:nvGrpSpPr>
          <p:cNvPr id="50" name="attention-note"/>
          <p:cNvGrpSpPr/>
          <p:nvPr/>
        </p:nvGrpSpPr>
        <p:grpSpPr>
          <a:xfrm>
            <a:off x="609600" y="5334000"/>
            <a:ext cx="10972800" cy="762000"/>
            <a:chOff x="609600" y="5334000"/>
            <a:chExt cx="10972800" cy="762000"/>
          </a:xfrm>
        </p:grpSpPr>
        <p:sp>
          <p:nvSpPr>
            <p:cNvPr id="46" name="Rectangle 46"/>
            <p:cNvSpPr/>
            <p:nvPr/>
          </p:nvSpPr>
          <p:spPr>
            <a:xfrm>
              <a:off x="609600" y="5334000"/>
              <a:ext cx="10972800" cy="762000"/>
            </a:xfrm>
            <a:prstGeom prst="roundRect">
              <a:avLst>
                <a:gd name="adj" fmla="val 10000"/>
              </a:avLst>
            </a:prstGeom>
            <a:solidFill>
              <a:srgbClr val="EAF4F6"/>
            </a:solidFill>
            <a:ln>
              <a:noFill/>
            </a:ln>
          </p:spPr>
        </p:sp>
        <p:sp>
          <p:nvSpPr>
            <p:cNvPr id="47" name="Rectangle 47"/>
            <p:cNvSpPr/>
            <p:nvPr/>
          </p:nvSpPr>
          <p:spPr>
            <a:xfrm>
              <a:off x="609600" y="5334000"/>
              <a:ext cx="57150" cy="762000"/>
            </a:xfrm>
            <a:prstGeom prst="rect">
              <a:avLst/>
            </a:prstGeom>
            <a:solidFill>
              <a:srgbClr val="00A6A6"/>
            </a:solidFill>
            <a:ln>
              <a:noFill/>
            </a:ln>
          </p:spPr>
        </p:sp>
        <p:sp>
          <p:nvSpPr>
            <p:cNvPr id="48" name="TextBox 48"/>
            <p:cNvSpPr txBox="1"/>
            <p:nvPr/>
          </p:nvSpPr>
          <p:spPr>
            <a:xfrm>
              <a:off x="906399" y="5449729"/>
              <a:ext cx="1743790"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Bölüm 8 köprüsü</a:t>
              </a:r>
            </a:p>
          </p:txBody>
        </p:sp>
        <p:sp>
          <p:nvSpPr>
            <p:cNvPr id="49" name="TextBox 49"/>
            <p:cNvSpPr txBox="1"/>
            <p:nvPr/>
          </p:nvSpPr>
          <p:spPr>
            <a:xfrm>
              <a:off x="908304" y="5756910"/>
              <a:ext cx="9327527"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Bu mini uygulama, bir sonraki bölümde HTTP endpoint'i olarak dışarı açılacak veritabanı erişim katmanının temelidir.</a:t>
              </a:r>
            </a:p>
          </p:txBody>
        </p:sp>
      </p:grpSp>
      <p:sp>
        <p:nvSpPr>
          <p:cNvPr id="51" name="TextBox 51"/>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24 / 26</a:t>
            </a:r>
          </a:p>
        </p:txBody>
      </p:sp>
    </p:spTree>
  </p:cSld>
  <p:clrMapOvr>
    <a:masterClrMapping/>
  </p:clrMapOvr>
  <p:transition xmlns:p14="http://schemas.microsoft.com/office/powerpoint/2010/main" p14:dur="400">
    <p:fade/>
  </p:transition>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2257174" cy="557403"/>
            <a:chOff x="595122" y="282892"/>
            <a:chExt cx="2257174" cy="557403"/>
          </a:xfrm>
        </p:grpSpPr>
        <p:sp>
          <p:nvSpPr>
            <p:cNvPr id="4" name="TextBox 4"/>
            <p:cNvSpPr txBox="1"/>
            <p:nvPr/>
          </p:nvSpPr>
          <p:spPr>
            <a:xfrm>
              <a:off x="595122" y="282892"/>
              <a:ext cx="2257174"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Bölüm özeti</a:t>
              </a:r>
            </a:p>
          </p:txBody>
        </p:sp>
      </p:grpSp>
      <p:grpSp>
        <p:nvGrpSpPr>
          <p:cNvPr id="9" name="summary-postgresql"/>
          <p:cNvGrpSpPr/>
          <p:nvPr/>
        </p:nvGrpSpPr>
        <p:grpSpPr>
          <a:xfrm>
            <a:off x="609600" y="1333500"/>
            <a:ext cx="3505200" cy="1524000"/>
            <a:chOff x="609600" y="1333500"/>
            <a:chExt cx="3505200" cy="1524000"/>
          </a:xfrm>
        </p:grpSpPr>
        <p:sp>
          <p:nvSpPr>
            <p:cNvPr id="6" name="Rectangle 6"/>
            <p:cNvSpPr/>
            <p:nvPr/>
          </p:nvSpPr>
          <p:spPr>
            <a:xfrm>
              <a:off x="609600" y="1333500"/>
              <a:ext cx="3505200" cy="1524000"/>
            </a:xfrm>
            <a:prstGeom prst="roundRect">
              <a:avLst>
                <a:gd name="adj" fmla="val 6250"/>
              </a:avLst>
            </a:prstGeom>
            <a:solidFill>
              <a:srgbClr val="FFFFFF"/>
            </a:solidFill>
            <a:ln w="14288">
              <a:solidFill>
                <a:srgbClr val="B8CBD3"/>
              </a:solidFill>
            </a:ln>
          </p:spPr>
        </p:sp>
        <p:sp>
          <p:nvSpPr>
            <p:cNvPr id="7" name="TextBox 7"/>
            <p:cNvSpPr txBox="1"/>
            <p:nvPr/>
          </p:nvSpPr>
          <p:spPr>
            <a:xfrm>
              <a:off x="829056" y="1520190"/>
              <a:ext cx="1501385"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PostgreSQL</a:t>
              </a:r>
            </a:p>
          </p:txBody>
        </p:sp>
        <p:sp>
          <p:nvSpPr>
            <p:cNvPr id="8" name="TextBox 8"/>
            <p:cNvSpPr txBox="1"/>
            <p:nvPr/>
          </p:nvSpPr>
          <p:spPr>
            <a:xfrm>
              <a:off x="832104" y="1908810"/>
              <a:ext cx="207721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Client tek seferlik, Pool</a:t>
              </a:r>
              <a:br/>
              <a:r>
                <a:rPr lang="tr-TR" sz="1200" dirty="0">
                  <a:solidFill>
                    <a:srgbClr val="172B3A"/>
                  </a:solidFill>
                  <a:latin typeface="+mn-lt"/>
                  <a:ea typeface="+mn-ea"/>
                  <a:cs typeface="+mn-cs"/>
                </a:rPr>
                <a:t>eşzamanlı isteklerde kalıcı</a:t>
              </a:r>
              <a:br/>
              <a:r>
                <a:rPr lang="tr-TR" sz="1200" dirty="0">
                  <a:solidFill>
                    <a:srgbClr val="172B3A"/>
                  </a:solidFill>
                  <a:latin typeface="+mn-lt"/>
                  <a:ea typeface="+mn-ea"/>
                  <a:cs typeface="+mn-cs"/>
                </a:rPr>
                <a:t>veri erişimini sağlar.</a:t>
              </a:r>
            </a:p>
          </p:txBody>
        </p:sp>
      </p:grpSp>
      <p:grpSp>
        <p:nvGrpSpPr>
          <p:cNvPr id="13" name="summary-crud"/>
          <p:cNvGrpSpPr/>
          <p:nvPr/>
        </p:nvGrpSpPr>
        <p:grpSpPr>
          <a:xfrm>
            <a:off x="4343400" y="1333500"/>
            <a:ext cx="3505200" cy="1524000"/>
            <a:chOff x="4343400" y="1333500"/>
            <a:chExt cx="3505200" cy="1524000"/>
          </a:xfrm>
        </p:grpSpPr>
        <p:sp>
          <p:nvSpPr>
            <p:cNvPr id="10" name="Rectangle 10"/>
            <p:cNvSpPr/>
            <p:nvPr/>
          </p:nvSpPr>
          <p:spPr>
            <a:xfrm>
              <a:off x="4343400" y="1333500"/>
              <a:ext cx="3505200" cy="1524000"/>
            </a:xfrm>
            <a:prstGeom prst="roundRect">
              <a:avLst>
                <a:gd name="adj" fmla="val 6250"/>
              </a:avLst>
            </a:prstGeom>
            <a:solidFill>
              <a:srgbClr val="FFFFFF"/>
            </a:solidFill>
            <a:ln w="14288">
              <a:solidFill>
                <a:srgbClr val="B8CBD3"/>
              </a:solidFill>
            </a:ln>
          </p:spPr>
        </p:sp>
        <p:sp>
          <p:nvSpPr>
            <p:cNvPr id="11" name="TextBox 11"/>
            <p:cNvSpPr txBox="1"/>
            <p:nvPr/>
          </p:nvSpPr>
          <p:spPr>
            <a:xfrm>
              <a:off x="4562856" y="1520190"/>
              <a:ext cx="1416223"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SQL / CRUD</a:t>
              </a:r>
            </a:p>
          </p:txBody>
        </p:sp>
        <p:sp>
          <p:nvSpPr>
            <p:cNvPr id="12" name="TextBox 12"/>
            <p:cNvSpPr txBox="1"/>
            <p:nvPr/>
          </p:nvSpPr>
          <p:spPr>
            <a:xfrm>
              <a:off x="4565904" y="1908810"/>
              <a:ext cx="254203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INSERT/SELECT/UPDATE/</a:t>
              </a:r>
              <a:br/>
              <a:r>
                <a:rPr lang="tr-TR" sz="1200" dirty="0">
                  <a:solidFill>
                    <a:srgbClr val="172B3A"/>
                  </a:solidFill>
                  <a:latin typeface="+mn-lt"/>
                  <a:ea typeface="+mn-ea"/>
                  <a:cs typeface="+mn-cs"/>
                </a:rPr>
                <a:t>DELETE, veriyi $1/$2</a:t>
              </a:r>
              <a:br/>
              <a:r>
                <a:rPr lang="tr-TR" sz="1200" dirty="0">
                  <a:solidFill>
                    <a:srgbClr val="172B3A"/>
                  </a:solidFill>
                  <a:latin typeface="+mn-lt"/>
                  <a:ea typeface="+mn-ea"/>
                  <a:cs typeface="+mn-cs"/>
                </a:rPr>
                <a:t>parametreleriyle güvenle yönetir.</a:t>
              </a:r>
            </a:p>
          </p:txBody>
        </p:sp>
      </p:grpSp>
      <p:grpSp>
        <p:nvGrpSpPr>
          <p:cNvPr id="17" name="summary-pkfk"/>
          <p:cNvGrpSpPr/>
          <p:nvPr/>
        </p:nvGrpSpPr>
        <p:grpSpPr>
          <a:xfrm>
            <a:off x="8077200" y="1333500"/>
            <a:ext cx="3505200" cy="1524000"/>
            <a:chOff x="8077200" y="1333500"/>
            <a:chExt cx="3505200" cy="1524000"/>
          </a:xfrm>
        </p:grpSpPr>
        <p:sp>
          <p:nvSpPr>
            <p:cNvPr id="14" name="Rectangle 14"/>
            <p:cNvSpPr/>
            <p:nvPr/>
          </p:nvSpPr>
          <p:spPr>
            <a:xfrm>
              <a:off x="8077200" y="1333500"/>
              <a:ext cx="3505200" cy="1524000"/>
            </a:xfrm>
            <a:prstGeom prst="roundRect">
              <a:avLst>
                <a:gd name="adj" fmla="val 6250"/>
              </a:avLst>
            </a:prstGeom>
            <a:solidFill>
              <a:srgbClr val="FFFFFF"/>
            </a:solidFill>
            <a:ln w="14288">
              <a:solidFill>
                <a:srgbClr val="B8CBD3"/>
              </a:solidFill>
            </a:ln>
          </p:spPr>
        </p:sp>
        <p:sp>
          <p:nvSpPr>
            <p:cNvPr id="15" name="TextBox 15"/>
            <p:cNvSpPr txBox="1"/>
            <p:nvPr/>
          </p:nvSpPr>
          <p:spPr>
            <a:xfrm>
              <a:off x="8296656" y="1520190"/>
              <a:ext cx="2716508"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Primary / Foreign Key</a:t>
              </a:r>
            </a:p>
          </p:txBody>
        </p:sp>
        <p:sp>
          <p:nvSpPr>
            <p:cNvPr id="16" name="TextBox 16"/>
            <p:cNvSpPr txBox="1"/>
            <p:nvPr/>
          </p:nvSpPr>
          <p:spPr>
            <a:xfrm>
              <a:off x="8299704" y="1908810"/>
              <a:ext cx="200101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PK satırı tekilleştirir, FK</a:t>
              </a:r>
              <a:br/>
              <a:r>
                <a:rPr lang="tr-TR" sz="1200" dirty="0">
                  <a:solidFill>
                    <a:srgbClr val="172B3A"/>
                  </a:solidFill>
                  <a:latin typeface="+mn-lt"/>
                  <a:ea typeface="+mn-ea"/>
                  <a:cs typeface="+mn-cs"/>
                </a:rPr>
                <a:t>tablolar arası referans</a:t>
              </a:r>
              <a:br/>
              <a:r>
                <a:rPr lang="tr-TR" sz="1200" dirty="0">
                  <a:solidFill>
                    <a:srgbClr val="172B3A"/>
                  </a:solidFill>
                  <a:latin typeface="+mn-lt"/>
                  <a:ea typeface="+mn-ea"/>
                  <a:cs typeface="+mn-cs"/>
                </a:rPr>
                <a:t>bütünlüğünü zorunlu kılar.</a:t>
              </a:r>
            </a:p>
          </p:txBody>
        </p:sp>
      </p:grpSp>
      <p:grpSp>
        <p:nvGrpSpPr>
          <p:cNvPr id="21" name="summary-join"/>
          <p:cNvGrpSpPr/>
          <p:nvPr/>
        </p:nvGrpSpPr>
        <p:grpSpPr>
          <a:xfrm>
            <a:off x="609600" y="3143250"/>
            <a:ext cx="3505200" cy="1524000"/>
            <a:chOff x="609600" y="3143250"/>
            <a:chExt cx="3505200" cy="1524000"/>
          </a:xfrm>
        </p:grpSpPr>
        <p:sp>
          <p:nvSpPr>
            <p:cNvPr id="18" name="Rectangle 18"/>
            <p:cNvSpPr/>
            <p:nvPr/>
          </p:nvSpPr>
          <p:spPr>
            <a:xfrm>
              <a:off x="609600" y="3143250"/>
              <a:ext cx="3505200" cy="1524000"/>
            </a:xfrm>
            <a:prstGeom prst="roundRect">
              <a:avLst>
                <a:gd name="adj" fmla="val 6250"/>
              </a:avLst>
            </a:prstGeom>
            <a:solidFill>
              <a:srgbClr val="FFFFFF"/>
            </a:solidFill>
            <a:ln w="14288">
              <a:solidFill>
                <a:srgbClr val="B8CBD3"/>
              </a:solidFill>
            </a:ln>
          </p:spPr>
        </p:sp>
        <p:sp>
          <p:nvSpPr>
            <p:cNvPr id="19" name="TextBox 19"/>
            <p:cNvSpPr txBox="1"/>
            <p:nvPr/>
          </p:nvSpPr>
          <p:spPr>
            <a:xfrm>
              <a:off x="829056" y="3329940"/>
              <a:ext cx="596280"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JOIN</a:t>
              </a:r>
            </a:p>
          </p:txBody>
        </p:sp>
        <p:sp>
          <p:nvSpPr>
            <p:cNvPr id="20" name="TextBox 20"/>
            <p:cNvSpPr txBox="1"/>
            <p:nvPr/>
          </p:nvSpPr>
          <p:spPr>
            <a:xfrm>
              <a:off x="832104" y="3718560"/>
              <a:ext cx="206197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INNER yalnızca eşleşeni,</a:t>
              </a:r>
              <a:br/>
              <a:r>
                <a:rPr lang="tr-TR" sz="1200" dirty="0">
                  <a:solidFill>
                    <a:srgbClr val="172B3A"/>
                  </a:solidFill>
                  <a:latin typeface="+mn-lt"/>
                  <a:ea typeface="+mn-ea"/>
                  <a:cs typeface="+mn-cs"/>
                </a:rPr>
                <a:t>LEFT sol tablonun tamamını</a:t>
              </a:r>
              <a:br/>
              <a:r>
                <a:rPr lang="tr-TR" sz="1200" dirty="0">
                  <a:solidFill>
                    <a:srgbClr val="172B3A"/>
                  </a:solidFill>
                  <a:latin typeface="+mn-lt"/>
                  <a:ea typeface="+mn-ea"/>
                  <a:cs typeface="+mn-cs"/>
                </a:rPr>
                <a:t>sonuçta tutar.</a:t>
              </a:r>
            </a:p>
          </p:txBody>
        </p:sp>
      </p:grpSp>
      <p:grpSp>
        <p:nvGrpSpPr>
          <p:cNvPr id="25" name="summary-constraint-index"/>
          <p:cNvGrpSpPr/>
          <p:nvPr/>
        </p:nvGrpSpPr>
        <p:grpSpPr>
          <a:xfrm>
            <a:off x="4343400" y="3143250"/>
            <a:ext cx="3505200" cy="1524000"/>
            <a:chOff x="4343400" y="3143250"/>
            <a:chExt cx="3505200" cy="1524000"/>
          </a:xfrm>
        </p:grpSpPr>
        <p:sp>
          <p:nvSpPr>
            <p:cNvPr id="22" name="Rectangle 22"/>
            <p:cNvSpPr/>
            <p:nvPr/>
          </p:nvSpPr>
          <p:spPr>
            <a:xfrm>
              <a:off x="4343400" y="3143250"/>
              <a:ext cx="3505200" cy="1524000"/>
            </a:xfrm>
            <a:prstGeom prst="roundRect">
              <a:avLst>
                <a:gd name="adj" fmla="val 6250"/>
              </a:avLst>
            </a:prstGeom>
            <a:solidFill>
              <a:srgbClr val="FFFFFF"/>
            </a:solidFill>
            <a:ln w="14288">
              <a:solidFill>
                <a:srgbClr val="B8CBD3"/>
              </a:solidFill>
            </a:ln>
          </p:spPr>
        </p:sp>
        <p:sp>
          <p:nvSpPr>
            <p:cNvPr id="23" name="TextBox 23"/>
            <p:cNvSpPr txBox="1"/>
            <p:nvPr/>
          </p:nvSpPr>
          <p:spPr>
            <a:xfrm>
              <a:off x="4562856" y="3329940"/>
              <a:ext cx="2299821"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Constraint / Index</a:t>
              </a:r>
            </a:p>
          </p:txBody>
        </p:sp>
        <p:sp>
          <p:nvSpPr>
            <p:cNvPr id="24" name="TextBox 24"/>
            <p:cNvSpPr txBox="1"/>
            <p:nvPr/>
          </p:nvSpPr>
          <p:spPr>
            <a:xfrm>
              <a:off x="4565904" y="3718560"/>
              <a:ext cx="217627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Kısıtlar veri kuralını, index</a:t>
              </a:r>
              <a:br/>
              <a:r>
                <a:rPr lang="tr-TR" sz="1200" dirty="0">
                  <a:solidFill>
                    <a:srgbClr val="172B3A"/>
                  </a:solidFill>
                  <a:latin typeface="+mn-lt"/>
                  <a:ea typeface="+mn-ea"/>
                  <a:cs typeface="+mn-cs"/>
                </a:rPr>
                <a:t>B-Tree ile sık sorgulanan</a:t>
              </a:r>
              <a:br/>
              <a:r>
                <a:rPr lang="tr-TR" sz="1200" dirty="0">
                  <a:solidFill>
                    <a:srgbClr val="172B3A"/>
                  </a:solidFill>
                  <a:latin typeface="+mn-lt"/>
                  <a:ea typeface="+mn-ea"/>
                  <a:cs typeface="+mn-cs"/>
                </a:rPr>
                <a:t>sütun erişimini garanti eder.</a:t>
              </a:r>
            </a:p>
          </p:txBody>
        </p:sp>
      </p:grpSp>
      <p:grpSp>
        <p:nvGrpSpPr>
          <p:cNvPr id="29" name="summary-transaction"/>
          <p:cNvGrpSpPr/>
          <p:nvPr/>
        </p:nvGrpSpPr>
        <p:grpSpPr>
          <a:xfrm>
            <a:off x="8077200" y="3143250"/>
            <a:ext cx="3505200" cy="1524000"/>
            <a:chOff x="8077200" y="3143250"/>
            <a:chExt cx="3505200" cy="1524000"/>
          </a:xfrm>
        </p:grpSpPr>
        <p:sp>
          <p:nvSpPr>
            <p:cNvPr id="26" name="Rectangle 26"/>
            <p:cNvSpPr/>
            <p:nvPr/>
          </p:nvSpPr>
          <p:spPr>
            <a:xfrm>
              <a:off x="8077200" y="3143250"/>
              <a:ext cx="3505200" cy="1524000"/>
            </a:xfrm>
            <a:prstGeom prst="roundRect">
              <a:avLst>
                <a:gd name="adj" fmla="val 6250"/>
              </a:avLst>
            </a:prstGeom>
            <a:solidFill>
              <a:srgbClr val="FFFFFF"/>
            </a:solidFill>
            <a:ln w="14288">
              <a:solidFill>
                <a:srgbClr val="00A6A6"/>
              </a:solidFill>
            </a:ln>
          </p:spPr>
        </p:sp>
        <p:sp>
          <p:nvSpPr>
            <p:cNvPr id="27" name="TextBox 27"/>
            <p:cNvSpPr txBox="1"/>
            <p:nvPr/>
          </p:nvSpPr>
          <p:spPr>
            <a:xfrm>
              <a:off x="8296656" y="3329940"/>
              <a:ext cx="2390264"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Transaction (ACID)</a:t>
              </a:r>
            </a:p>
          </p:txBody>
        </p:sp>
        <p:sp>
          <p:nvSpPr>
            <p:cNvPr id="28" name="TextBox 28"/>
            <p:cNvSpPr txBox="1"/>
            <p:nvPr/>
          </p:nvSpPr>
          <p:spPr>
            <a:xfrm>
              <a:off x="8299704" y="3718560"/>
              <a:ext cx="190957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BEGIN/COMMIT/ROLLBACK,</a:t>
              </a:r>
              <a:br/>
              <a:r>
                <a:rPr lang="tr-TR" sz="1200" dirty="0">
                  <a:solidFill>
                    <a:srgbClr val="172B3A"/>
                  </a:solidFill>
                  <a:latin typeface="+mn-lt"/>
                  <a:ea typeface="+mn-ea"/>
                  <a:cs typeface="+mn-cs"/>
                </a:rPr>
                <a:t>birden fazla adımı ya hep</a:t>
              </a:r>
              <a:br/>
              <a:r>
                <a:rPr lang="tr-TR" sz="1200" dirty="0">
                  <a:solidFill>
                    <a:srgbClr val="172B3A"/>
                  </a:solidFill>
                  <a:latin typeface="+mn-lt"/>
                  <a:ea typeface="+mn-ea"/>
                  <a:cs typeface="+mn-cs"/>
                </a:rPr>
                <a:t>ya hiç ilkesiyle korur.</a:t>
              </a:r>
            </a:p>
          </p:txBody>
        </p:sp>
      </p:grpSp>
      <p:grpSp>
        <p:nvGrpSpPr>
          <p:cNvPr id="33" name="exam-note"/>
          <p:cNvGrpSpPr/>
          <p:nvPr/>
        </p:nvGrpSpPr>
        <p:grpSpPr>
          <a:xfrm>
            <a:off x="609600" y="5048250"/>
            <a:ext cx="10972800" cy="952500"/>
            <a:chOff x="609600" y="5048250"/>
            <a:chExt cx="10972800" cy="952500"/>
          </a:xfrm>
        </p:grpSpPr>
        <p:sp>
          <p:nvSpPr>
            <p:cNvPr id="30" name="Rectangle 30"/>
            <p:cNvSpPr/>
            <p:nvPr/>
          </p:nvSpPr>
          <p:spPr>
            <a:xfrm>
              <a:off x="609600" y="5048250"/>
              <a:ext cx="10972800" cy="952500"/>
            </a:xfrm>
            <a:prstGeom prst="roundRect">
              <a:avLst>
                <a:gd name="adj" fmla="val 8000"/>
              </a:avLst>
            </a:prstGeom>
            <a:solidFill>
              <a:srgbClr val="EAF4F6"/>
            </a:solidFill>
            <a:ln>
              <a:noFill/>
            </a:ln>
          </p:spPr>
        </p:sp>
        <p:sp>
          <p:nvSpPr>
            <p:cNvPr id="31" name="TextBox 31"/>
            <p:cNvSpPr txBox="1"/>
            <p:nvPr/>
          </p:nvSpPr>
          <p:spPr>
            <a:xfrm>
              <a:off x="905256" y="5234940"/>
              <a:ext cx="9631351"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PostgreSQL ve SQL, verinin geçici değil kalıcı olmasını sağlayan katmandır.</a:t>
              </a:r>
            </a:p>
          </p:txBody>
        </p:sp>
        <p:sp>
          <p:nvSpPr>
            <p:cNvPr id="32" name="TextBox 32"/>
            <p:cNvSpPr txBox="1"/>
            <p:nvPr/>
          </p:nvSpPr>
          <p:spPr>
            <a:xfrm>
              <a:off x="906399" y="5583079"/>
              <a:ext cx="10165206"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Doğru anahtar, doğru JOIN ve doğru transaction sınırı olmadan hiçbir uygulama güvenilir olamaz.</a:t>
              </a:r>
            </a:p>
          </p:txBody>
        </p:sp>
      </p:grpSp>
      <p:sp>
        <p:nvSpPr>
          <p:cNvPr id="34" name="TextBox 34"/>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25 / 26</a:t>
            </a:r>
          </a:p>
        </p:txBody>
      </p:sp>
    </p:spTree>
  </p:cSld>
  <p:clrMapOvr>
    <a:masterClrMapping/>
  </p:clrMapOvr>
  <p:transition xmlns:p14="http://schemas.microsoft.com/office/powerpoint/2010/main" p14:dur="400">
    <p:fade/>
  </p:transition>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sp>
        <p:nvSpPr>
          <p:cNvPr id="4" name="Line 4"/>
          <p:cNvSpPr/>
          <p:nvPr/>
        </p:nvSpPr>
        <p:spPr>
          <a:xfrm>
            <a:off x="4476750" y="3810000"/>
            <a:ext cx="2190750" cy="1"/>
          </a:xfrm>
          <a:prstGeom prst="line">
            <a:avLst/>
          </a:prstGeom>
          <a:noFill/>
          <a:ln w="28575">
            <a:solidFill>
              <a:srgbClr val="00A6A6"/>
            </a:solidFill>
            <a:tailEnd type="arrow" w="lg" len="lg"/>
          </a:ln>
        </p:spPr>
      </p:sp>
      <p:grpSp>
        <p:nvGrpSpPr>
          <p:cNvPr id="6" name="page-title"/>
          <p:cNvGrpSpPr/>
          <p:nvPr/>
        </p:nvGrpSpPr>
        <p:grpSpPr>
          <a:xfrm>
            <a:off x="595122" y="282892"/>
            <a:ext cx="4150951" cy="557403"/>
            <a:chOff x="595122" y="282892"/>
            <a:chExt cx="4150951" cy="557403"/>
          </a:xfrm>
        </p:grpSpPr>
        <p:sp>
          <p:nvSpPr>
            <p:cNvPr id="5" name="TextBox 5"/>
            <p:cNvSpPr txBox="1"/>
            <p:nvPr/>
          </p:nvSpPr>
          <p:spPr>
            <a:xfrm>
              <a:off x="595122" y="282892"/>
              <a:ext cx="4150951"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Sonraki bölüme köprü</a:t>
              </a:r>
            </a:p>
          </p:txBody>
        </p:sp>
      </p:grpSp>
      <p:grpSp>
        <p:nvGrpSpPr>
          <p:cNvPr id="8" name="bridge-claim"/>
          <p:cNvGrpSpPr/>
          <p:nvPr/>
        </p:nvGrpSpPr>
        <p:grpSpPr>
          <a:xfrm>
            <a:off x="600456" y="1501140"/>
            <a:ext cx="9070848" cy="694944"/>
            <a:chOff x="600456" y="1501140"/>
            <a:chExt cx="9070848" cy="694944"/>
          </a:xfrm>
        </p:grpSpPr>
        <p:sp>
          <p:nvSpPr>
            <p:cNvPr id="7" name="TextBox 7"/>
            <p:cNvSpPr txBox="1"/>
            <p:nvPr/>
          </p:nvSpPr>
          <p:spPr>
            <a:xfrm>
              <a:off x="600456" y="1501140"/>
              <a:ext cx="9070848" cy="694944"/>
            </a:xfrm>
            <a:prstGeom prst="rect">
              <a:avLst/>
            </a:prstGeom>
            <a:noFill/>
            <a:ln>
              <a:noFill/>
            </a:ln>
          </p:spPr>
          <p:txBody>
            <a:bodyPr wrap="none" lIns="0" tIns="0" rIns="0" bIns="0" anchor="t" anchorCtr="0">
              <a:spAutoFit/>
            </a:bodyPr>
            <a:lstStyle/>
            <a:p>
              <a:pPr algn="l">
                <a:lnSpc>
                  <a:spcPts val="2700"/>
                </a:lnSpc>
              </a:pPr>
              <a:r>
                <a:rPr lang="tr-TR" sz="1800" dirty="0">
                  <a:solidFill>
                    <a:srgbClr val="172B3A"/>
                  </a:solidFill>
                  <a:latin typeface="+mn-lt"/>
                  <a:ea typeface="+mn-ea"/>
                  <a:cs typeface="+mn-cs"/>
                </a:rPr>
                <a:t>Veri artık PostgreSQL'de kalıcı ve tutarlı saklanıyor. Sıradaki adım, bu veriyi</a:t>
              </a:r>
              <a:br/>
              <a:r>
                <a:rPr lang="tr-TR" sz="1800" dirty="0">
                  <a:solidFill>
                    <a:srgbClr val="172B3A"/>
                  </a:solidFill>
                  <a:latin typeface="+mn-lt"/>
                  <a:ea typeface="+mn-ea"/>
                  <a:cs typeface="+mn-cs"/>
                </a:rPr>
                <a:t>kullanıcıya güvenli bir API üzerinden sunmaktır.</a:t>
              </a:r>
            </a:p>
          </p:txBody>
        </p:sp>
      </p:grpSp>
      <p:grpSp>
        <p:nvGrpSpPr>
          <p:cNvPr id="14" name="bridge-now"/>
          <p:cNvGrpSpPr/>
          <p:nvPr/>
        </p:nvGrpSpPr>
        <p:grpSpPr>
          <a:xfrm>
            <a:off x="599694" y="2799398"/>
            <a:ext cx="2954401" cy="1834419"/>
            <a:chOff x="599694" y="2799398"/>
            <a:chExt cx="2954401" cy="1834419"/>
          </a:xfrm>
        </p:grpSpPr>
        <p:sp>
          <p:nvSpPr>
            <p:cNvPr id="9" name="TextBox 9"/>
            <p:cNvSpPr txBox="1"/>
            <p:nvPr/>
          </p:nvSpPr>
          <p:spPr>
            <a:xfrm>
              <a:off x="599694" y="2799398"/>
              <a:ext cx="2646140" cy="381381"/>
            </a:xfrm>
            <a:prstGeom prst="rect">
              <a:avLst/>
            </a:prstGeom>
            <a:noFill/>
            <a:ln>
              <a:noFill/>
            </a:ln>
          </p:spPr>
          <p:txBody>
            <a:bodyPr wrap="none" lIns="0" tIns="0" rIns="0" bIns="0" anchor="t" anchorCtr="0">
              <a:spAutoFit/>
            </a:bodyPr>
            <a:lstStyle/>
            <a:p>
              <a:pPr algn="l"/>
              <a:r>
                <a:rPr lang="tr-TR" sz="1950" b="1" dirty="0">
                  <a:solidFill>
                    <a:srgbClr val="12355B"/>
                  </a:solidFill>
                  <a:latin typeface="+mn-lt"/>
                  <a:ea typeface="+mn-ea"/>
                  <a:cs typeface="+mn-cs"/>
                </a:rPr>
                <a:t>Artık yapabilirsiniz</a:t>
              </a:r>
            </a:p>
          </p:txBody>
        </p:sp>
        <p:sp>
          <p:nvSpPr>
            <p:cNvPr id="10" name="Rectangle 10"/>
            <p:cNvSpPr/>
            <p:nvPr/>
          </p:nvSpPr>
          <p:spPr>
            <a:xfrm>
              <a:off x="609600" y="3333750"/>
              <a:ext cx="57150" cy="285750"/>
            </a:xfrm>
            <a:prstGeom prst="rect">
              <a:avLst/>
            </a:prstGeom>
            <a:solidFill>
              <a:srgbClr val="00A6A6"/>
            </a:solidFill>
            <a:ln>
              <a:noFill/>
            </a:ln>
          </p:spPr>
        </p:sp>
        <p:sp>
          <p:nvSpPr>
            <p:cNvPr id="11" name="TextBox 11"/>
            <p:cNvSpPr txBox="1"/>
            <p:nvPr/>
          </p:nvSpPr>
          <p:spPr>
            <a:xfrm>
              <a:off x="849249" y="3373279"/>
              <a:ext cx="2534285" cy="555688"/>
            </a:xfrm>
            <a:prstGeom prst="rect">
              <a:avLst/>
            </a:prstGeom>
            <a:noFill/>
            <a:ln>
              <a:noFill/>
            </a:ln>
          </p:spPr>
          <p:txBody>
            <a:bodyPr wrap="none" lIns="0" tIns="0" rIns="0" bIns="0" anchor="t" anchorCtr="0">
              <a:spAutoFit/>
            </a:bodyPr>
            <a:lstStyle/>
            <a:p>
              <a:pPr algn="l">
                <a:lnSpc>
                  <a:spcPts val="1950"/>
                </a:lnSpc>
              </a:pPr>
              <a:r>
                <a:rPr lang="tr-TR" sz="1580" dirty="0">
                  <a:solidFill>
                    <a:srgbClr val="172B3A"/>
                  </a:solidFill>
                  <a:latin typeface="+mn-lt"/>
                  <a:ea typeface="+mn-ea"/>
                  <a:cs typeface="+mn-cs"/>
                </a:rPr>
                <a:t>İlişkili tabloları PK/FK ile</a:t>
              </a:r>
              <a:br/>
              <a:r>
                <a:rPr lang="tr-TR" sz="1580" dirty="0">
                  <a:solidFill>
                    <a:srgbClr val="172B3A"/>
                  </a:solidFill>
                  <a:latin typeface="+mn-lt"/>
                  <a:ea typeface="+mn-ea"/>
                  <a:cs typeface="+mn-cs"/>
                </a:rPr>
                <a:t>tasarlamak ve JOIN'lemek</a:t>
              </a:r>
            </a:p>
          </p:txBody>
        </p:sp>
        <p:sp>
          <p:nvSpPr>
            <p:cNvPr id="12" name="Rectangle 12"/>
            <p:cNvSpPr/>
            <p:nvPr/>
          </p:nvSpPr>
          <p:spPr>
            <a:xfrm>
              <a:off x="609600" y="4038600"/>
              <a:ext cx="57150" cy="285750"/>
            </a:xfrm>
            <a:prstGeom prst="rect">
              <a:avLst/>
            </a:prstGeom>
            <a:solidFill>
              <a:srgbClr val="00A6A6"/>
            </a:solidFill>
            <a:ln>
              <a:noFill/>
            </a:ln>
          </p:spPr>
        </p:sp>
        <p:sp>
          <p:nvSpPr>
            <p:cNvPr id="13" name="TextBox 13"/>
            <p:cNvSpPr txBox="1"/>
            <p:nvPr/>
          </p:nvSpPr>
          <p:spPr>
            <a:xfrm>
              <a:off x="849249" y="4078129"/>
              <a:ext cx="2704846" cy="555688"/>
            </a:xfrm>
            <a:prstGeom prst="rect">
              <a:avLst/>
            </a:prstGeom>
            <a:noFill/>
            <a:ln>
              <a:noFill/>
            </a:ln>
          </p:spPr>
          <p:txBody>
            <a:bodyPr wrap="none" lIns="0" tIns="0" rIns="0" bIns="0" anchor="t" anchorCtr="0">
              <a:spAutoFit/>
            </a:bodyPr>
            <a:lstStyle/>
            <a:p>
              <a:pPr algn="l">
                <a:lnSpc>
                  <a:spcPts val="1950"/>
                </a:lnSpc>
              </a:pPr>
              <a:r>
                <a:rPr lang="tr-TR" sz="1580" dirty="0">
                  <a:solidFill>
                    <a:srgbClr val="172B3A"/>
                  </a:solidFill>
                  <a:latin typeface="+mn-lt"/>
                  <a:ea typeface="+mn-ea"/>
                  <a:cs typeface="+mn-cs"/>
                </a:rPr>
                <a:t>Transaction ile birden fazla</a:t>
              </a:r>
              <a:br/>
              <a:r>
                <a:rPr lang="tr-TR" sz="1580" dirty="0">
                  <a:solidFill>
                    <a:srgbClr val="172B3A"/>
                  </a:solidFill>
                  <a:latin typeface="+mn-lt"/>
                  <a:ea typeface="+mn-ea"/>
                  <a:cs typeface="+mn-cs"/>
                </a:rPr>
                <a:t>adımı güvenle yürütmek</a:t>
              </a:r>
            </a:p>
          </p:txBody>
        </p:sp>
      </p:grpSp>
      <p:grpSp>
        <p:nvGrpSpPr>
          <p:cNvPr id="19" name="bridge-next"/>
          <p:cNvGrpSpPr/>
          <p:nvPr/>
        </p:nvGrpSpPr>
        <p:grpSpPr>
          <a:xfrm>
            <a:off x="7010400" y="2667000"/>
            <a:ext cx="4572000" cy="2286000"/>
            <a:chOff x="7010400" y="2667000"/>
            <a:chExt cx="4572000" cy="2286000"/>
          </a:xfrm>
        </p:grpSpPr>
        <p:sp>
          <p:nvSpPr>
            <p:cNvPr id="15" name="Rectangle 15"/>
            <p:cNvSpPr/>
            <p:nvPr/>
          </p:nvSpPr>
          <p:spPr>
            <a:xfrm>
              <a:off x="7010400" y="2667000"/>
              <a:ext cx="4572000" cy="2286000"/>
            </a:xfrm>
            <a:prstGeom prst="roundRect">
              <a:avLst>
                <a:gd name="adj" fmla="val 4167"/>
              </a:avLst>
            </a:prstGeom>
            <a:solidFill>
              <a:srgbClr val="12355B"/>
            </a:solidFill>
            <a:ln>
              <a:noFill/>
            </a:ln>
          </p:spPr>
        </p:sp>
        <p:sp>
          <p:nvSpPr>
            <p:cNvPr id="16" name="TextBox 16"/>
            <p:cNvSpPr txBox="1"/>
            <p:nvPr/>
          </p:nvSpPr>
          <p:spPr>
            <a:xfrm>
              <a:off x="7309104" y="2975610"/>
              <a:ext cx="1704564" cy="234696"/>
            </a:xfrm>
            <a:prstGeom prst="rect">
              <a:avLst/>
            </a:prstGeom>
            <a:noFill/>
            <a:ln>
              <a:noFill/>
            </a:ln>
          </p:spPr>
          <p:txBody>
            <a:bodyPr wrap="none" lIns="0" tIns="0" rIns="0" bIns="0" anchor="t" anchorCtr="0">
              <a:spAutoFit/>
            </a:bodyPr>
            <a:lstStyle/>
            <a:p>
              <a:pPr algn="l"/>
              <a:r>
                <a:rPr lang="tr-TR" sz="1200" b="1" spc="225" dirty="0">
                  <a:solidFill>
                    <a:srgbClr val="00A6A6"/>
                  </a:solidFill>
                  <a:latin typeface="+mn-lt"/>
                  <a:ea typeface="+mn-ea"/>
                  <a:cs typeface="+mn-cs"/>
                </a:rPr>
                <a:t>SONRAKİ BÖLÜM</a:t>
              </a:r>
            </a:p>
          </p:txBody>
        </p:sp>
        <p:sp>
          <p:nvSpPr>
            <p:cNvPr id="17" name="TextBox 17"/>
            <p:cNvSpPr txBox="1"/>
            <p:nvPr/>
          </p:nvSpPr>
          <p:spPr>
            <a:xfrm>
              <a:off x="7303770" y="3319462"/>
              <a:ext cx="3323272" cy="802005"/>
            </a:xfrm>
            <a:prstGeom prst="rect">
              <a:avLst/>
            </a:prstGeom>
            <a:noFill/>
            <a:ln>
              <a:noFill/>
            </a:ln>
          </p:spPr>
          <p:txBody>
            <a:bodyPr wrap="none" lIns="0" tIns="0" rIns="0" bIns="0" anchor="t" anchorCtr="0">
              <a:spAutoFit/>
            </a:bodyPr>
            <a:lstStyle/>
            <a:p>
              <a:pPr algn="l">
                <a:lnSpc>
                  <a:spcPts val="2850"/>
                </a:lnSpc>
              </a:pPr>
              <a:r>
                <a:rPr lang="tr-TR" sz="2250" b="1" dirty="0">
                  <a:solidFill>
                    <a:srgbClr val="FFFFFF"/>
                  </a:solidFill>
                  <a:latin typeface="+mn-lt"/>
                  <a:ea typeface="+mn-ea"/>
                  <a:cs typeface="+mn-cs"/>
                </a:rPr>
                <a:t>Veri erişim katmanı ve</a:t>
              </a:r>
              <a:br/>
              <a:r>
                <a:rPr lang="tr-TR" sz="2250" b="1" dirty="0">
                  <a:solidFill>
                    <a:srgbClr val="FFFFFF"/>
                  </a:solidFill>
                  <a:latin typeface="+mn-lt"/>
                  <a:ea typeface="+mn-ea"/>
                  <a:cs typeface="+mn-cs"/>
                </a:rPr>
                <a:t>API tasarımı</a:t>
              </a:r>
            </a:p>
          </p:txBody>
        </p:sp>
        <p:sp>
          <p:nvSpPr>
            <p:cNvPr id="18" name="TextBox 18"/>
            <p:cNvSpPr txBox="1"/>
            <p:nvPr/>
          </p:nvSpPr>
          <p:spPr>
            <a:xfrm>
              <a:off x="7307199" y="4135279"/>
              <a:ext cx="3908806" cy="574738"/>
            </a:xfrm>
            <a:prstGeom prst="rect">
              <a:avLst/>
            </a:prstGeom>
            <a:noFill/>
            <a:ln>
              <a:noFill/>
            </a:ln>
          </p:spPr>
          <p:txBody>
            <a:bodyPr wrap="none" lIns="0" tIns="0" rIns="0" bIns="0" anchor="t" anchorCtr="0">
              <a:spAutoFit/>
            </a:bodyPr>
            <a:lstStyle/>
            <a:p>
              <a:pPr algn="l">
                <a:lnSpc>
                  <a:spcPts val="2100"/>
                </a:lnSpc>
              </a:pPr>
              <a:r>
                <a:rPr lang="tr-TR" sz="1580" dirty="0">
                  <a:solidFill>
                    <a:srgbClr val="EAF4F6"/>
                  </a:solidFill>
                  <a:latin typeface="+mn-lt"/>
                  <a:ea typeface="+mn-ea"/>
                  <a:cs typeface="+mn-cs"/>
                </a:rPr>
                <a:t>Kalıcı veriyi doğrulama ve</a:t>
              </a:r>
              <a:br/>
              <a:r>
                <a:rPr lang="tr-TR" sz="1580" dirty="0">
                  <a:solidFill>
                    <a:srgbClr val="EAF4F6"/>
                  </a:solidFill>
                  <a:latin typeface="+mn-lt"/>
                  <a:ea typeface="+mn-ea"/>
                  <a:cs typeface="+mn-cs"/>
                </a:rPr>
                <a:t>yetkilendirmeyle birlikte sunacaksınız.</a:t>
              </a:r>
            </a:p>
          </p:txBody>
        </p:sp>
      </p:grpSp>
      <p:grpSp>
        <p:nvGrpSpPr>
          <p:cNvPr id="23" name="bridge-closing"/>
          <p:cNvGrpSpPr/>
          <p:nvPr/>
        </p:nvGrpSpPr>
        <p:grpSpPr>
          <a:xfrm>
            <a:off x="609600" y="5429250"/>
            <a:ext cx="10972800" cy="709518"/>
            <a:chOff x="609600" y="5429250"/>
            <a:chExt cx="10972800" cy="709518"/>
          </a:xfrm>
        </p:grpSpPr>
        <p:sp>
          <p:nvSpPr>
            <p:cNvPr id="20" name="Rectangle 20"/>
            <p:cNvSpPr/>
            <p:nvPr/>
          </p:nvSpPr>
          <p:spPr>
            <a:xfrm>
              <a:off x="609600" y="5429250"/>
              <a:ext cx="10972800" cy="666750"/>
            </a:xfrm>
            <a:prstGeom prst="roundRect">
              <a:avLst>
                <a:gd name="adj" fmla="val 11429"/>
              </a:avLst>
            </a:prstGeom>
            <a:solidFill>
              <a:srgbClr val="EAF4F6"/>
            </a:solidFill>
            <a:ln>
              <a:noFill/>
            </a:ln>
          </p:spPr>
        </p:sp>
        <p:sp>
          <p:nvSpPr>
            <p:cNvPr id="21" name="TextBox 21"/>
            <p:cNvSpPr txBox="1"/>
            <p:nvPr/>
          </p:nvSpPr>
          <p:spPr>
            <a:xfrm>
              <a:off x="905256" y="5520690"/>
              <a:ext cx="10140130"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Her yeni endpoint'te, hangi sorgunun bir transaction içinde çalışması gerektiğini</a:t>
              </a:r>
            </a:p>
          </p:txBody>
        </p:sp>
        <p:sp>
          <p:nvSpPr>
            <p:cNvPr id="22" name="TextBox 22"/>
            <p:cNvSpPr txBox="1"/>
            <p:nvPr/>
          </p:nvSpPr>
          <p:spPr>
            <a:xfrm>
              <a:off x="906399" y="5830729"/>
              <a:ext cx="3376656"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önce kağıt üzerinde tasarlayın.</a:t>
              </a:r>
            </a:p>
          </p:txBody>
        </p:sp>
      </p:grpSp>
      <p:sp>
        <p:nvSpPr>
          <p:cNvPr id="24" name="TextBox 24"/>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26 / 26</a:t>
            </a: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b07-postgresql-sql-20260915">
  <a:themeElements>
    <a:clrScheme name="b07-postgresql-sql-20260915">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b07-postgresql-sql-20260915">
      <a:majorFont>
        <a:latin typeface="Aptos Display"/>
        <a:ea typeface="Microsoft YaHei"/>
        <a:cs typeface="Aptos Display"/>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Microsoft YaHei"/>
        <a:cs typeface="Aptos"/>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07-postgresql-sql-20260915">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b07-postgresql-sql-20260915">
  <a:themeElements>
    <a:clrScheme name="b07-postgresql-sql-20260915">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b07-postgresql-sql-20260915">
      <a:majorFont>
        <a:latin typeface="Aptos Display"/>
        <a:ea typeface="Microsoft YaHei"/>
        <a:cs typeface="Aptos Display"/>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Microsoft YaHei"/>
        <a:cs typeface="Aptos"/>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07-postgresql-sql-20260915">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26</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tr-TR</dc:language>
  <cp:lastModifiedBy/>
  <cp:revision>1</cp:revision>
  <dcterms:created xsi:type="dcterms:W3CDTF">2026-09-19T21:22:49Z</dcterms:created>
  <dcterms:modified xsi:type="dcterms:W3CDTF">2026-09-19T21:22:49Z</dcterms:modified>
  <cp:category/>
  <cp:contentStatus/>
</cp:coreProperties>
</file>