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  <Relationship Id="rId3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IoT sistemleri için backend geliştirmeyi ele alıyor: bir ESP32 gibi kısıtlı bir cihazdan gelen telemetriyi güvenle karşılamak, cihaz kimliğini doğrulamak ve sensör verisini zaman serisi olarak kaydetmek. Önceki bölümlerde kullanıcı odaklı backend mimarisi kurulmuştu; şimdi aynı sunucunun makineler arası iletişimi nasıl yöneteceği incelenecek.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 boyunca sırasıyla şu sorulara yanıt aranacak: bir cihaz kim olduğunu nasıl kanıtlar, gelen bir ölçüm değeri güvenilir mi, ve bu veriler zaman içinde nasıl anlamlı bir şekilde saklanır. Bu üç soru, bölümün cihaz kimliği, aralık doğrulama ve zaman serisi kaydı başlıklarına karşılık gelir.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bölümü tamamladığınızda, cihaz kimliği ile API anahtarını kullanıcı authentication'ından ayırt edebilecek, sensör verisini hem tip hem fiziksel aralık bakımından doğrulayabilecek ve zaman serisi kaydının neden sunucu zaman damgasına dayanması gerektiğini açıklayabileceksiniz. Bu hedefler, ilerleyen sayfalarda sırasıyla ele alınacak.</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Kavram haritası, bölümün ana yapı taşlarını ve aralarındaki ilişkiyi gösteriyor: cihaz kimliği doğrulaması önce gelir, ardından doğrulanan cihazdan gelen veri aralık kontrolünden geçer, son olarak geçerli veri zaman serisi olarak kaydedilir. MQTT/WebSocket köprüsü ve toplu yazma, bu temel akışın ölçekte nasıl dayanıklı hâle getirildiğini gösteren tamamlayıcı katmanlardır.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tablo, her ana kavramın backend içindeki tam olarak hangi görevi üstlendiğini, hangi görevi üstlenmediğini ve o kontrol atlanırsa ne olacağını netleştiriyor. Örneğin cihaz kimliği doğrulaması yalnızca "bu istek kayıtlı bir cihazdan mı geliyor" sorusuna yanıt verir; verinin fiziksel olarak anlamlı olup olmadığına karışmaz — bu, aralık doğrulamasının işidir. Sorumlulukların birbirine karışması, tipik hataların kök nedenidir.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IoT backend'i, ESP32 gibi kısıtlı donanımdan gelen telemetriyi güvenle karşılayan, doğrulayan ve saklayan; kullanıcı arayüzü değil makineler arası iletişim için tasarlanmış bir sunucu katmanı olarak tanımlanır. Kısıtlı cihazlar sınırlı işlemci, bellek ve enerjiyle çalıştığından karmaşık oturum yönetimi veya ağır şifreleme yapamaz; bu yük backend'e taşınır. CoAP/RFC 7252, kısıtlı ortamlar için tasarlanmış hafif bir protokol standardıdır; bu bölümde daha tanıdık olduğu için HTTP/JSON tercih edilir, ama altındaki kavramlar aynıdır. En kritik nokta, cihaz ile sunucu arasındaki ağın güvenilmez kabul edilmesi gerektiğidir — backend, bu güven sınırının koruyucusu olarak her isteğe şüpheyle yaklaşmalıdır.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16.1, kasıtlı olarak saf bırakılmış bir örnektir: gelen isteği `istek as TelemetriIstegi` ile tipe zorlar ama çalışma zamanında hiçbir alanı doğrulamaz. Bu, üç ayrı riski birden açık bırakır: cihaz kimliği hiç kontrol edilmediği için herhangi biri sahte bir istek gönderebilir, sıcaklık değeri hiç sınırlanmadığı için fiziksel olarak anlamsız veriler kabul edilebilir, ve zaman damgası cihazdan geldiği hâliyle güvenilir sayılır. İlerleyen örnekler, bu üç boşluğu sırasıyla API anahtarı doğrulaması, aralık kontrolü ve sunucu zaman damgasıyla kapatacak.</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Cihaz kimliği, Bölüm 10'da işlenen kullanıcı authentication'ından kasıtlı olarak farklı tasarlanır: bir kullanıcı parola veya token akışıyla etkileşimli oturum açarken, bir cihaz genellikle sabit bir API anahtarıyla kimliklenir çünkü etkileşimli bir oturum kavramı yoktur. Authentication (kimlik doğrulama) "bu istek kim gönderdi" sorusuna yanıt verirken, authorization (yetkilendirme) "bu kimliğin bunu yapmaya izni var mı" sorusuna yanıt verir; bunlar sırasıyla 401 ve 403 durum kodlarıyla ayrılır. Bu ayrım, ilerleyen sayfalarda cihaz doğrulama akışının neden birden fazla kontrol adımına ayrıldığını açıklar.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16.2'deki `cihaziDogrula` fonksiyonu, bir isteği üç sırayla kontrol eder: cihaz kayıtlı mı, kayıtlıysa aktif mi, ve son olarak sunulan API anahtarı doğru mu. Bu üç kontrolün tek bir birleşik koşulda toplanması bilinçli bir tasarımdır; herhangi biri başarısız olursa aynı 401 hatası döner, böylece saldırgana hangi kontrolün başarısız olduğuna dair bilgi sızdırılmaz. Alttaki gerekçe panelinde vurgulandığı gibi, devre dışı bırakılmış bir cihazın anahtarı hâlâ teknik olarak doğru olabilir; bu yüzden aktiflik kontrolü anahtar kontrolünden ayrı bir adım olarak durmalıdır.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Cihaz doğrulamasında dört tekrarlayan hata görülür. İlki, devre dışı bırakılmış bir cihazın anahtarını hâlâ geçerli saymaktır — anahtar doğruluğu ile cihazın aktif olması ayrı kavramlardır. İkincisi, API anahtarını URL'de taşımaktır; URL'ler sunucu günlüklerinde ve tarayıcı geçmişinde açık metin olarak saklanabilir. Üçüncüsü, tüm cihazlar için paylaşılan tek bir anahtar kullanmaktır; bir cihaz ele geçirilirse tüm filo tehlikeye girer. Dördüncüsü, anahtar rotasyonu mekanizmasının hiç bulunmamasıdır; bu, sızan bir anahtarın süresiz olarak geçerli kalmasına yol açar.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Provizyonlama aşamasında her cihaza kendine özgü bir HMAC gizli anahtarı yüklenir; cihaz, gönderdiği her mesajı bu anahtarla imzalar ve sunucu aynı anahtarla imzayı yeniden hesaplayıp karşılaştırır (RFC 2104). Zaman penceresi, imzalı bir mesajın yalnızca belirli bir süre içinde geçerli sayılmasını sağlayarak pencere dışında yakalanmış bir mesajın daha sonra tekrar oynatılmasını (replay) engeller. Ancak alttaki uyarı panelinde belirtildiği gibi, bu mekanizma yalnızca pencere dışı tekrarları eler; pencere içinde yakalanan bir mesajın tekrar oynatılmasını önlemek için ayrıca tek-kullanımlık bir nonce kaydı gerekir — bu, HMAC imzalamanın sınırlarını anlamak açısından önemli bir nüanstır.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Sensör verisi doğrulaması, gelen bir ölçümün yalnızca doğru tipte değil, fiziksel olarak anlamlı bir aralıkta olup olmadığını da kontrol etmeyi ifade eder. Sol paneldeki örnek bunu somutlaştırır: -999 değeri number tipine tamamen uygundur, yani sözdizimsel olarak geçerlidir, ama bir oda sıcaklığı için anlamsızdır, yani anlamsal olarak geçersizdir. Sağ paneldeki zaman serisi teorisi Codd'un 1970 ilişkisel model çalışmasına dayanır: her ölçüm ayrı bir olay olarak, önceki ölçümün üzerine yazılmadan eklenir (append-only). Cihazın gönderdiği zaman damgası yerine sunucunun aldığı zaman ayrıca kaydedilir çünkü cihaz saatlerinin senkronizasyonu güvenilir değildir. Alttaki gözlemlenebilirlik notu, yalnızca reddetmenin yetmediğini, art arda reddedilen ölçümlerin bakım ekibine bildirilmesi gerektiğini vurgular.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16.4'teki akış iki fonksiyona ayrılır: `telemetriyiDogrula`, gelen sıcaklık ve nem değerlerini üreticinin belgelediği fiziksel çalışma aralığıyla (-40/85 santigrat derece) karşılaştırır; `olcumuKaydet` ise yalnızca bu doğrulamadan geçen veriyi, sunucu tarafında üretilen bir zaman damgasıyla birlikte veritabanına yazar. Geçersiz veri, veritabanı fonksiyonuna hiç ulaşmadan erken döner. Sağ paneldeki uyarı önemlidir: aralık sınırları rastgele seçilmemeli, sensörün üretici belgelerinden gelmelidir; ayrıca sunucu zaman damgası kullanmak cihaz saati sorununu çözerken, gerçek ölçüm anı ile sunucuya ulaşma anı arasındaki ağ gecikmesini de gizler — bu bir dengeleme, mükemmel bir çözüm değildir.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sıra diyagramı, bir telemetri isteğinin PostgreSQL'e ulaşana kadar geçebileceği üç ayrı reddetme noktasını gösteriyor: cihaz kayıtlı değilse veya anahtar yanlışsa 401, cihaz kayıtlı ama devre dışıysa 403, ve cihaz doğrulansa bile veri aralık dışıysa 400. Bu üç kodun kasıtlı olarak ayrı tutulması, hata ayıklamayı kolaylaştırır: bir izleme panosunda 403 hatalarının artması "cihazlar devre dışı bırakılıyor" derken, 400 hatalarının artması "sensörler arızalanıyor" anlamına gelir — aynı tek bir genel hata koduna sıkıştırılsalar bu ayrım kaybolurdu.</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Zaman serisi kaydında dört yaygın hata tekrarlanır. Doğrulamayı yalnızca cihaz yazılımına bırakmak tehlikelidir çünkü cihaz yazılımı hatalı olabilir veya biri doğrudan API'ye sahte istek gönderebilir; backend her zaman kendi aralık doğrulamasını da yapmalıdır. Cihazın zaman damgasını sorgusuz kabul etmek, saati yanlış ayarlanmış bir cihazın verisinin zaman serisinde yanlış sıraya yerleşmesine yol açar. Anormal derecede sık isteği fark etmemek, arızalı bir döngünün sistemi doldurmasına izin verir; Bölüm 11'deki rate limiting mantığı cihaz bazında da uygulanmalıdır. Son olarak, aralık dışılık ile anomaliyi karıştırmak yaygın bir kavram hatasıdır: bir odanın sıcaklığının bir dakikada 15 derece artması aralık içinde kalsa da beklenmedik bir örüntüdür; üretimde ikisi ayrı ayrı izlenmelidir.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HTTP'nin istek-yanıt modeli, binlerce sensörün sık veri gönderdiği ortamlarda yüksek TCP el sıkışma ve başlık yükü yaratır. MQTT, minimal başlıklı bir yayın/abone modeliyle bu yükü azaltır: sensörler doğrudan backend'e değil, Eclipse Mosquitto gibi bir broker'a mesaj yayınlar; backend bu mesajlara abone olur, doğrular ve PostgreSQL'e yazar; aynı anda bir WebSocket kanalı üzerinden izleme panosuna canlı akış sağlanır. Alttaki uyarı bandının gösterdiği gibi, bu köprü aynı zamanda bir filtreleme kapısı olarak çalışır: fiziksel sınır dışı bir okuma, veri hem veritabanına hem canlı panoya yansımadan burada engellenebilir.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Saniyede yüzlerce ölçüm üreten sensörler için her okumaya ayrı bir INSERT atmak veritabanı bağlantı havuzunu hızla tüketir. Sol paneldeki `TelemetriTamponlayici`, ölçümleri bellek içinde biriktirip 100 kayıt veya 2 saniye eşiği aşılınca tek bir çok satırlı INSERT ile atomik olarak yazar; ancak bellek içi tampon, süreç beklenmedik şekilde yeniden başlarsa veri kaybedebilir — bu, dayanıklı bir kuyruktan farklıdır. Sağ paneldeki `date_trunc('hour', ...)` sorgusu, milyonlarca anlık ölçümü saatlik bloklara yuvarlayarak grafik çiziminde veritabanı okuma yükünü binlerce kat azaltır; ancak bu sorgu öğretim amaçlıdır, üretimde SQL enjeksiyonunu önlemek için parametreli sorgu kullanılmalıdır.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Mehmet Akif Ersoy Üniversitesi kampüs laboratuvarlarında 50 IoT düğümünün bağlanması, dört farklı bakış açısının nasıl tek bir mimaride birleştiğini gösteriyor. Elif, MQTT broker'ın sistem stabilitesini kurtardığını, ağ dalgalanmasında bile QoS 1 kuyruğunun veriyi koruduğunu vurguluyor. Yasemin, cihaza özgü HMAC anahtarının ağ trafiğini dinleyen birinin veriyi manipüle etmesini engellediğini belirtiyor. İsmail, broker ve backend'in izole bir Docker ağında çalıştığını, yalnızca WebSocket portunun dışa açık olduğunu ve bir veritabanı dizininin pano yanıt süresini 12 milisaniyeye indirdiğini anlatıyor. Bahar ise `TelemetriTamponlayici` sayesinde 50 sensörden gelen verinin veritabanını kilitlemediğini, öğrencilerin deney masalarını anlık izleyebildiğini paylaşıyor. Bu dört anlatı, bölümün ele aldığı güvenlik ve veri bütünlüğü katmanının, MQTT köprüsü ve tamponlamayla ölçekte nasıl tamamlandığını gösteriyor.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alıştırmadaki kod iki hata barındırır: `typeof veri.sicaklik !== "number"` kontrolü, -999 gibi fiziksel olarak anlamsız ama teknik olarak number tipindeki bir değeri yakalayamaz; hatta NaN bile teknik olarak number tipindedir. İkinci hata, `aktifMi` parametresinin fonksiyon gövdesinde hiç kullanılmamasıdır — bu, devre dışı bırakılmış veya çalınmış bir cihazın sisteme veri basmaya devam edebileceği anlamına gelir. Laboratuvar masası tartışmasında öğrenciler bu iki hatanın aynı ilkeyi paylaştığını fark ediyor: veri yalnızca şemaya değil, fiziksel ve yaşam döngüsü kurallarına da uymalıdır. İzleme tablosu, dört farklı sensör durumunun hatalı kod ile düzeltilmiş doğrulama hattında nasıl farklı sonuçlandığını satır satır gösteriyor.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16.7, bölümün üç ana fikrini tek bir fonksiyonda birleştiriyor: `telemetriIsteginiUctanUcaIsle` önce `cihaziDogrula`'yı çağırır ve doğrulama hatasını fırlatmak yerine bir `{ durumKodu, mesaj }` çiftine dönüştürür; ardından, yalnızca cihaz doğrulandıktan sonra, sıcaklık ve nem değerlerini ayrı bir adımda aralık kontrolünden geçirir; son olarak yalnızca hem cihaz hem veri geçerliyse kayıt fonksiyonunu çağırıp 201 durum koduyla başarıyı bildirir. Bu tutarlı sözleşme, çağıran kodun (örneğin bir Express route handler'ının) try/catch yazmadan tek tip bir yanıt üretebilmesini sağlar. Genişletme alıştırmaları, bu temel akışa cihaz bazlı rate limiting, başarısız deneme sayacı ve cihaz zaman damgası karşılaştırması gibi üretim düzeyi eklemeler önerir.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HTTP/JSON tabanlı bir sensör API'si tercih edilmiştir çünkü basit, anlaşılır ve 401/403/400 gibi hata kodlarını doğal biçimde taşır; düşük veya orta sıklıkta veri gönderen cihazlar için uygundur. MQTT, minimal başlık yüküyle çalışan bir yayın/abone modeli olarak yüksek sıklıkta veri üreten çok sayıda kısıtlı cihaz için tercih edilir çünkü QoS 1 ile teslim garantisi sağlar. WebSocket, düşük gecikmeli anlık veri itimi gerektiren kullanıcı arayüzü senaryoları için, örneğin bir izleme panosu için uygundur. Doğrudan veritabanı yazımı ise görünürde en hızlı yol gibi dursa da cihaz kimliği, aralık kontrolü ve tamponlama katmanlarını tamamen atlar; bu bölümün ele aldığı hiçbir güvenlik veya bütünlük garantisini sunmaz ve önerilmez.</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Üç yaygın yanılgı, donanım entegrasyonlarında tekrar eden hataları özetliyor. Birincisi, sensörlerin donanım cihazı olduğu için doğrulamadan doğrudan veritabanına yazılabileceği yanılgısıdır; oysa sensörler bozulabilir veya saldırganlar sahte cihaz taklit edebilir, bu yüzden her veri fiziksel mantık sınırlarıyla doğrulanmalıdır. İkincisi, saniyede yüzlerce ölçüm için her okumaya ayrı bir INSERT atılabileceği yanılgısıdır; bu, veritabanı bağlantı havuzunu anında kilitler, bu yüzden zaman serisi tamponlama ile toplu yazma gerekir. Üçüncüsü, sabit bir ortak token'ın yeterli olduğu ve cihazın çalınmasının risk oluşturmadığı yanılgısıdır; oysa bir cihazın flash belleği okunup ortak token ele geçirilirse tüm altyapı tehlikeye girer, bu yüzden cihaza özgü benzersiz anahtar ve HMAC imzalama disiplini gerekir.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bir IoT cihazından gelen telemetrinin nasıl karşılandığı, cihaz kimliğinin API anahtarıyla nasıl doğrulandığı ve sensör verisinin nasıl doğrulanıp zaman serisi olarak kaydedildiği incelendi. Cihaz kimliği, kullanıcı authentication'ından kasıtlı olarak daha basit ama cihaza özgü tasarlanmıştır. Aralık doğrulaması, bir sensörün fiziksel olarak anlamsız değerler üretmesi durumunda bu verinin veritabanına sızmasını önler; sunucu zaman damgası ise cihaz saatinin güvenilmez olabileceği gerçeğini gözetir. HMAC imzalama ve zaman penceresi bu güvenceyi tekrar oynatma saldırılarına karşı güçlendirirken, MQTT köprüsü ve toplu yazma aynı ilkelerin ölçekte nasıl dayanıklı kalabileceğini gösterir. Firmware programlama ve MQTT broker yönetiminin ayrıntıları bu bölümün kapsamı dışında bırakılmıştır.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Backend artık hem insan kullanıcılardan hem fiziksel cihazlardan gelen veriyi güvenli ve tutarlı biçimde işleyebiliyor: cihaz kimliğini API anahtarıyla doğrulamayı ve sensör verisini aralık kontrolüyle zaman serisi olarak kaydetmeyi öğrendiniz. Bir sonraki bölümde bu backend'in, harici bir yapay zekâ veya makine öğrenmesi servisiyle, örneğin bir FastAPI servisiyle, nasıl güvenli ve dayanıklı biçimde entegre edileceği ele alınacak.</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16-iot-backend-20260916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16-iot-backend-20260916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251710"/>
            <a:ext cx="1787319" cy="2410777"/>
            <a:chOff x="666750" y="2251710"/>
            <a:chExt cx="1787319" cy="2410777"/>
          </a:xfrm>
        </p:grpSpPr>
        <p:sp>
          <p:nvSpPr>
            <p:cNvPr id="4" name="TextBox 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16</a:t>
              </a:r>
            </a:p>
          </p:txBody>
        </p:sp>
      </p:grpSp>
      <p:grpSp>
        <p:nvGrpSpPr>
          <p:cNvPr id="8" name="cover-title"/>
          <p:cNvGrpSpPr/>
          <p:nvPr/>
        </p:nvGrpSpPr>
        <p:grpSpPr>
          <a:xfrm>
            <a:off x="4933950" y="1927860"/>
            <a:ext cx="5134737" cy="1485900"/>
            <a:chOff x="4933950" y="1927860"/>
            <a:chExt cx="5134737" cy="1485900"/>
          </a:xfrm>
        </p:grpSpPr>
        <p:sp>
          <p:nvSpPr>
            <p:cNvPr id="7" name="TextBox 7"/>
            <p:cNvSpPr txBox="1"/>
            <p:nvPr/>
          </p:nvSpPr>
          <p:spPr>
            <a:xfrm>
              <a:off x="4933950" y="1927860"/>
              <a:ext cx="5134737" cy="1485900"/>
            </a:xfrm>
            <a:prstGeom prst="rect">
              <a:avLst/>
            </a:prstGeom>
            <a:noFill/>
            <a:ln>
              <a:noFill/>
            </a:ln>
          </p:spPr>
          <p:txBody>
            <a:bodyPr wrap="none" lIns="0" tIns="0" rIns="0" bIns="0" anchor="t" anchorCtr="0">
              <a:spAutoFit/>
            </a:bodyPr>
            <a:lstStyle/>
            <a:p>
              <a:pPr algn="l">
                <a:lnSpc>
                  <a:spcPts val="5250"/>
                </a:lnSpc>
              </a:pPr>
              <a:r>
                <a:rPr lang="tr-TR" sz="4200" b="1" dirty="0">
                  <a:solidFill>
                    <a:srgbClr val="12355B"/>
                  </a:solidFill>
                  <a:latin typeface="+mj-lt"/>
                  <a:ea typeface="+mj-ea"/>
                  <a:cs typeface="+mj-cs"/>
                </a:rPr>
                <a:t>IoT Sistemleri için</a:t>
              </a:r>
              <a:br/>
              <a:r>
                <a:rPr lang="tr-TR" sz="4200" b="1" dirty="0">
                  <a:solidFill>
                    <a:srgbClr val="12355B"/>
                  </a:solidFill>
                  <a:latin typeface="+mj-lt"/>
                  <a:ea typeface="+mj-ea"/>
                  <a:cs typeface="+mj-cs"/>
                </a:rPr>
                <a:t>Backend Geliştirme</a:t>
              </a:r>
            </a:p>
          </p:txBody>
        </p:sp>
      </p:grpSp>
      <p:grpSp>
        <p:nvGrpSpPr>
          <p:cNvPr id="12" name="cover-subtitle"/>
          <p:cNvGrpSpPr/>
          <p:nvPr/>
        </p:nvGrpSpPr>
        <p:grpSpPr>
          <a:xfrm>
            <a:off x="4943094" y="4095750"/>
            <a:ext cx="4648390" cy="900018"/>
            <a:chOff x="4943094" y="4095750"/>
            <a:chExt cx="4648390" cy="900018"/>
          </a:xfrm>
        </p:grpSpPr>
        <p:sp>
          <p:nvSpPr>
            <p:cNvPr id="9" name="Rectangle 9"/>
            <p:cNvSpPr/>
            <p:nvPr/>
          </p:nvSpPr>
          <p:spPr>
            <a:xfrm>
              <a:off x="4953000" y="4095750"/>
              <a:ext cx="1143000" cy="38100"/>
            </a:xfrm>
            <a:prstGeom prst="rect">
              <a:avLst/>
            </a:prstGeom>
            <a:solidFill>
              <a:srgbClr val="00A6A6"/>
            </a:solidFill>
            <a:ln>
              <a:noFill/>
            </a:ln>
          </p:spPr>
        </p:sp>
        <p:sp>
          <p:nvSpPr>
            <p:cNvPr id="10" name="TextBox 10"/>
            <p:cNvSpPr txBox="1"/>
            <p:nvPr/>
          </p:nvSpPr>
          <p:spPr>
            <a:xfrm>
              <a:off x="4943094" y="4228148"/>
              <a:ext cx="4648390"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Sunucu Tabanlı Programlama</a:t>
              </a:r>
            </a:p>
          </p:txBody>
        </p:sp>
        <p:sp>
          <p:nvSpPr>
            <p:cNvPr id="11" name="TextBox 11"/>
            <p:cNvSpPr txBox="1"/>
            <p:nvPr/>
          </p:nvSpPr>
          <p:spPr>
            <a:xfrm>
              <a:off x="4944999" y="468772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946904" y="6233160"/>
            <a:ext cx="4973434" cy="234696"/>
            <a:chOff x="4946904" y="6233160"/>
            <a:chExt cx="4973434" cy="234696"/>
          </a:xfrm>
        </p:grpSpPr>
        <p:sp>
          <p:nvSpPr>
            <p:cNvPr id="13" name="TextBox 13"/>
            <p:cNvSpPr txBox="1"/>
            <p:nvPr/>
          </p:nvSpPr>
          <p:spPr>
            <a:xfrm>
              <a:off x="4946904" y="6233160"/>
              <a:ext cx="49734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Bilgisayar Mühendisliği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606794" cy="557403"/>
            <a:chOff x="595122" y="282892"/>
            <a:chExt cx="3606794" cy="557403"/>
          </a:xfrm>
        </p:grpSpPr>
        <p:sp>
          <p:nvSpPr>
            <p:cNvPr id="4" name="TextBox 4"/>
            <p:cNvSpPr txBox="1"/>
            <p:nvPr/>
          </p:nvSpPr>
          <p:spPr>
            <a:xfrm>
              <a:off x="595122" y="282892"/>
              <a:ext cx="36067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yol haritası</a:t>
              </a:r>
            </a:p>
          </p:txBody>
        </p:sp>
      </p:grpSp>
      <p:grpSp>
        <p:nvGrpSpPr>
          <p:cNvPr id="7" name="roadmap-intro"/>
          <p:cNvGrpSpPr/>
          <p:nvPr/>
        </p:nvGrpSpPr>
        <p:grpSpPr>
          <a:xfrm>
            <a:off x="600456" y="1234440"/>
            <a:ext cx="5660312" cy="352044"/>
            <a:chOff x="600456" y="1234440"/>
            <a:chExt cx="5660312" cy="352044"/>
          </a:xfrm>
        </p:grpSpPr>
        <p:sp>
          <p:nvSpPr>
            <p:cNvPr id="6" name="TextBox 6"/>
            <p:cNvSpPr txBox="1"/>
            <p:nvPr/>
          </p:nvSpPr>
          <p:spPr>
            <a:xfrm>
              <a:off x="600456" y="1234440"/>
              <a:ext cx="5660312"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Bu bölümü okurken şu soruları aklınızda tutun:</a:t>
              </a:r>
            </a:p>
          </p:txBody>
        </p:sp>
      </p:grpSp>
      <p:grpSp>
        <p:nvGrpSpPr>
          <p:cNvPr id="11" name="roadmap-q1"/>
          <p:cNvGrpSpPr/>
          <p:nvPr/>
        </p:nvGrpSpPr>
        <p:grpSpPr>
          <a:xfrm>
            <a:off x="609600" y="1847850"/>
            <a:ext cx="6489065" cy="595217"/>
            <a:chOff x="609600" y="1847850"/>
            <a:chExt cx="6489065" cy="595217"/>
          </a:xfrm>
        </p:grpSpPr>
        <p:sp>
          <p:nvSpPr>
            <p:cNvPr id="8" name="Ellipse 8"/>
            <p:cNvSpPr/>
            <p:nvPr/>
          </p:nvSpPr>
          <p:spPr>
            <a:xfrm>
              <a:off x="609600" y="1847850"/>
              <a:ext cx="285750" cy="285750"/>
            </a:xfrm>
            <a:prstGeom prst="ellipse">
              <a:avLst/>
            </a:prstGeom>
            <a:solidFill>
              <a:srgbClr val="00A6A6"/>
            </a:solidFill>
            <a:ln>
              <a:noFill/>
            </a:ln>
          </p:spPr>
        </p:sp>
        <p:sp>
          <p:nvSpPr>
            <p:cNvPr id="9" name="TextBox 9"/>
            <p:cNvSpPr txBox="1"/>
            <p:nvPr/>
          </p:nvSpPr>
          <p:spPr>
            <a:xfrm>
              <a:off x="699733" y="1908810"/>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1</a:t>
              </a:r>
            </a:p>
          </p:txBody>
        </p:sp>
        <p:sp>
          <p:nvSpPr>
            <p:cNvPr id="10" name="TextBox 10"/>
            <p:cNvSpPr txBox="1"/>
            <p:nvPr/>
          </p:nvSpPr>
          <p:spPr>
            <a:xfrm>
              <a:off x="982599" y="1887379"/>
              <a:ext cx="6116066"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Bir IoT cihazından gelen veri, bir tarayıcıdan gelen</a:t>
              </a:r>
              <a:br/>
              <a:r>
                <a:rPr lang="tr-TR" sz="1580" dirty="0">
                  <a:solidFill>
                    <a:srgbClr val="172B3A"/>
                  </a:solidFill>
                  <a:latin typeface="+mn-lt"/>
                  <a:ea typeface="+mn-ea"/>
                  <a:cs typeface="+mn-cs"/>
                </a:rPr>
                <a:t>istekten hangi bakımlardan farklı davranılmasını gerektirir?</a:t>
              </a:r>
            </a:p>
          </p:txBody>
        </p:sp>
      </p:grpSp>
      <p:grpSp>
        <p:nvGrpSpPr>
          <p:cNvPr id="15" name="roadmap-q2"/>
          <p:cNvGrpSpPr/>
          <p:nvPr/>
        </p:nvGrpSpPr>
        <p:grpSpPr>
          <a:xfrm>
            <a:off x="609600" y="2752725"/>
            <a:ext cx="9669265" cy="347568"/>
            <a:chOff x="609600" y="2752725"/>
            <a:chExt cx="9669265" cy="347568"/>
          </a:xfrm>
        </p:grpSpPr>
        <p:sp>
          <p:nvSpPr>
            <p:cNvPr id="12" name="Ellipse 12"/>
            <p:cNvSpPr/>
            <p:nvPr/>
          </p:nvSpPr>
          <p:spPr>
            <a:xfrm>
              <a:off x="609600" y="2752725"/>
              <a:ext cx="285750" cy="285750"/>
            </a:xfrm>
            <a:prstGeom prst="ellipse">
              <a:avLst/>
            </a:prstGeom>
            <a:solidFill>
              <a:srgbClr val="00A6A6"/>
            </a:solidFill>
            <a:ln>
              <a:noFill/>
            </a:ln>
          </p:spPr>
        </p:sp>
        <p:sp>
          <p:nvSpPr>
            <p:cNvPr id="13" name="TextBox 13"/>
            <p:cNvSpPr txBox="1"/>
            <p:nvPr/>
          </p:nvSpPr>
          <p:spPr>
            <a:xfrm>
              <a:off x="699733" y="2813685"/>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2</a:t>
              </a:r>
            </a:p>
          </p:txBody>
        </p:sp>
        <p:sp>
          <p:nvSpPr>
            <p:cNvPr id="14" name="TextBox 14"/>
            <p:cNvSpPr txBox="1"/>
            <p:nvPr/>
          </p:nvSpPr>
          <p:spPr>
            <a:xfrm>
              <a:off x="982599" y="2792254"/>
              <a:ext cx="929626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Bir cihazın kimliğini bir kullanıcının kimliğinden farklı biçimde doğrulamak neden gerekir?</a:t>
              </a:r>
            </a:p>
          </p:txBody>
        </p:sp>
      </p:grpSp>
      <p:grpSp>
        <p:nvGrpSpPr>
          <p:cNvPr id="19" name="roadmap-q3"/>
          <p:cNvGrpSpPr/>
          <p:nvPr/>
        </p:nvGrpSpPr>
        <p:grpSpPr>
          <a:xfrm>
            <a:off x="609600" y="3657600"/>
            <a:ext cx="6820154" cy="595217"/>
            <a:chOff x="609600" y="3657600"/>
            <a:chExt cx="6820154" cy="595217"/>
          </a:xfrm>
        </p:grpSpPr>
        <p:sp>
          <p:nvSpPr>
            <p:cNvPr id="16" name="Ellipse 16"/>
            <p:cNvSpPr/>
            <p:nvPr/>
          </p:nvSpPr>
          <p:spPr>
            <a:xfrm>
              <a:off x="609600" y="3657600"/>
              <a:ext cx="285750" cy="285750"/>
            </a:xfrm>
            <a:prstGeom prst="ellipse">
              <a:avLst/>
            </a:prstGeom>
            <a:solidFill>
              <a:srgbClr val="00A6A6"/>
            </a:solidFill>
            <a:ln>
              <a:noFill/>
            </a:ln>
          </p:spPr>
        </p:sp>
        <p:sp>
          <p:nvSpPr>
            <p:cNvPr id="17" name="TextBox 17"/>
            <p:cNvSpPr txBox="1"/>
            <p:nvPr/>
          </p:nvSpPr>
          <p:spPr>
            <a:xfrm>
              <a:off x="699733" y="3718560"/>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3</a:t>
              </a:r>
            </a:p>
          </p:txBody>
        </p:sp>
        <p:sp>
          <p:nvSpPr>
            <p:cNvPr id="18" name="TextBox 18"/>
            <p:cNvSpPr txBox="1"/>
            <p:nvPr/>
          </p:nvSpPr>
          <p:spPr>
            <a:xfrm>
              <a:off x="982599" y="3697129"/>
              <a:ext cx="6447155"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Sensör verisi neden yalnızca tip kontrolüyle değil, aralık (range)</a:t>
              </a:r>
              <a:br/>
              <a:r>
                <a:rPr lang="tr-TR" sz="1580" dirty="0">
                  <a:solidFill>
                    <a:srgbClr val="172B3A"/>
                  </a:solidFill>
                  <a:latin typeface="+mn-lt"/>
                  <a:ea typeface="+mn-ea"/>
                  <a:cs typeface="+mn-cs"/>
                </a:rPr>
                <a:t>ve mantıksal tutarlılıkla da doğrulanmalıdır?</a:t>
              </a:r>
            </a:p>
          </p:txBody>
        </p:sp>
      </p:grpSp>
      <p:grpSp>
        <p:nvGrpSpPr>
          <p:cNvPr id="23" name="roadmap-q4"/>
          <p:cNvGrpSpPr/>
          <p:nvPr/>
        </p:nvGrpSpPr>
        <p:grpSpPr>
          <a:xfrm>
            <a:off x="609600" y="4562475"/>
            <a:ext cx="6749923" cy="595217"/>
            <a:chOff x="609600" y="4562475"/>
            <a:chExt cx="6749923" cy="595217"/>
          </a:xfrm>
        </p:grpSpPr>
        <p:sp>
          <p:nvSpPr>
            <p:cNvPr id="20" name="Ellipse 20"/>
            <p:cNvSpPr/>
            <p:nvPr/>
          </p:nvSpPr>
          <p:spPr>
            <a:xfrm>
              <a:off x="609600" y="4562475"/>
              <a:ext cx="285750" cy="285750"/>
            </a:xfrm>
            <a:prstGeom prst="ellipse">
              <a:avLst/>
            </a:prstGeom>
            <a:solidFill>
              <a:srgbClr val="00A6A6"/>
            </a:solidFill>
            <a:ln>
              <a:noFill/>
            </a:ln>
          </p:spPr>
        </p:sp>
        <p:sp>
          <p:nvSpPr>
            <p:cNvPr id="21" name="TextBox 21"/>
            <p:cNvSpPr txBox="1"/>
            <p:nvPr/>
          </p:nvSpPr>
          <p:spPr>
            <a:xfrm>
              <a:off x="699733" y="4623435"/>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4</a:t>
              </a:r>
            </a:p>
          </p:txBody>
        </p:sp>
        <p:sp>
          <p:nvSpPr>
            <p:cNvPr id="22" name="TextBox 22"/>
            <p:cNvSpPr txBox="1"/>
            <p:nvPr/>
          </p:nvSpPr>
          <p:spPr>
            <a:xfrm>
              <a:off x="982599" y="4602004"/>
              <a:ext cx="6376924"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Zaman serisi (time-series) verisi, sıradan ilişkisel veriden hangi</a:t>
              </a:r>
              <a:br/>
              <a:r>
                <a:rPr lang="tr-TR" sz="1580" dirty="0">
                  <a:solidFill>
                    <a:srgbClr val="172B3A"/>
                  </a:solidFill>
                  <a:latin typeface="+mn-lt"/>
                  <a:ea typeface="+mn-ea"/>
                  <a:cs typeface="+mn-cs"/>
                </a:rPr>
                <a:t>bakımlardan farklı davranış gerektirir?</a:t>
              </a:r>
            </a:p>
          </p:txBody>
        </p:sp>
      </p:grpSp>
      <p:grpSp>
        <p:nvGrpSpPr>
          <p:cNvPr id="27" name="roadmap-q5"/>
          <p:cNvGrpSpPr/>
          <p:nvPr/>
        </p:nvGrpSpPr>
        <p:grpSpPr>
          <a:xfrm>
            <a:off x="609600" y="5467350"/>
            <a:ext cx="10264993" cy="347568"/>
            <a:chOff x="609600" y="5467350"/>
            <a:chExt cx="10264993" cy="347568"/>
          </a:xfrm>
        </p:grpSpPr>
        <p:sp>
          <p:nvSpPr>
            <p:cNvPr id="24" name="Ellipse 24"/>
            <p:cNvSpPr/>
            <p:nvPr/>
          </p:nvSpPr>
          <p:spPr>
            <a:xfrm>
              <a:off x="609600" y="5467350"/>
              <a:ext cx="285750" cy="285750"/>
            </a:xfrm>
            <a:prstGeom prst="ellipse">
              <a:avLst/>
            </a:prstGeom>
            <a:solidFill>
              <a:srgbClr val="00A6A6"/>
            </a:solidFill>
            <a:ln>
              <a:noFill/>
            </a:ln>
          </p:spPr>
        </p:sp>
        <p:sp>
          <p:nvSpPr>
            <p:cNvPr id="25" name="TextBox 25"/>
            <p:cNvSpPr txBox="1"/>
            <p:nvPr/>
          </p:nvSpPr>
          <p:spPr>
            <a:xfrm>
              <a:off x="699733" y="5528310"/>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5</a:t>
              </a:r>
            </a:p>
          </p:txBody>
        </p:sp>
        <p:sp>
          <p:nvSpPr>
            <p:cNvPr id="26" name="TextBox 26"/>
            <p:cNvSpPr txBox="1"/>
            <p:nvPr/>
          </p:nvSpPr>
          <p:spPr>
            <a:xfrm>
              <a:off x="982599" y="5506879"/>
              <a:ext cx="989199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Bir cihazın bağlantısı kesildiğinde veya bozuk veri gönderdiğinde backend nasıl davranmalıdır?</a:t>
              </a:r>
            </a:p>
          </p:txBody>
        </p:sp>
      </p:grpSp>
      <p:sp>
        <p:nvSpPr>
          <p:cNvPr id="28" name="TextBox 2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24</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413763" cy="557403"/>
            <a:chOff x="595122" y="282892"/>
            <a:chExt cx="7413763" cy="557403"/>
          </a:xfrm>
        </p:grpSpPr>
        <p:sp>
          <p:nvSpPr>
            <p:cNvPr id="4" name="TextBox 4"/>
            <p:cNvSpPr txBox="1"/>
            <p:nvPr/>
          </p:nvSpPr>
          <p:spPr>
            <a:xfrm>
              <a:off x="59512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9" name="objective-1"/>
          <p:cNvGrpSpPr/>
          <p:nvPr/>
        </p:nvGrpSpPr>
        <p:grpSpPr>
          <a:xfrm>
            <a:off x="685800" y="1520190"/>
            <a:ext cx="10546707" cy="637128"/>
            <a:chOff x="685800" y="1520190"/>
            <a:chExt cx="10546707" cy="637128"/>
          </a:xfrm>
        </p:grpSpPr>
        <p:sp>
          <p:nvSpPr>
            <p:cNvPr id="6" name="Rectangle 6"/>
            <p:cNvSpPr/>
            <p:nvPr/>
          </p:nvSpPr>
          <p:spPr>
            <a:xfrm>
              <a:off x="685800" y="1524000"/>
              <a:ext cx="57150" cy="495300"/>
            </a:xfrm>
            <a:prstGeom prst="rect">
              <a:avLst/>
            </a:prstGeom>
            <a:solidFill>
              <a:srgbClr val="00A6A6"/>
            </a:solidFill>
            <a:ln>
              <a:noFill/>
            </a:ln>
          </p:spPr>
        </p:sp>
        <p:sp>
          <p:nvSpPr>
            <p:cNvPr id="7" name="TextBox 7"/>
            <p:cNvSpPr txBox="1"/>
            <p:nvPr/>
          </p:nvSpPr>
          <p:spPr>
            <a:xfrm>
              <a:off x="981456" y="1520190"/>
              <a:ext cx="1025105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IoT cihazından HTTP/JSON ile gelen telemetriyi karşılayan bir endpoint tasarlamak</a:t>
              </a:r>
            </a:p>
          </p:txBody>
        </p:sp>
        <p:sp>
          <p:nvSpPr>
            <p:cNvPr id="8" name="TextBox 8"/>
            <p:cNvSpPr txBox="1"/>
            <p:nvPr/>
          </p:nvSpPr>
          <p:spPr>
            <a:xfrm>
              <a:off x="982599" y="1849279"/>
              <a:ext cx="769690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sıcaklık/nem JSON gövdesini karşılayan endpoint iskeletini kurmak</a:t>
              </a:r>
            </a:p>
          </p:txBody>
        </p:sp>
      </p:grpSp>
      <p:grpSp>
        <p:nvGrpSpPr>
          <p:cNvPr id="13" name="objective-2"/>
          <p:cNvGrpSpPr/>
          <p:nvPr/>
        </p:nvGrpSpPr>
        <p:grpSpPr>
          <a:xfrm>
            <a:off x="685800" y="2510790"/>
            <a:ext cx="10855478" cy="637128"/>
            <a:chOff x="685800" y="2510790"/>
            <a:chExt cx="10855478" cy="637128"/>
          </a:xfrm>
        </p:grpSpPr>
        <p:sp>
          <p:nvSpPr>
            <p:cNvPr id="10" name="Rectangle 10"/>
            <p:cNvSpPr/>
            <p:nvPr/>
          </p:nvSpPr>
          <p:spPr>
            <a:xfrm>
              <a:off x="685800" y="2514600"/>
              <a:ext cx="57150" cy="495300"/>
            </a:xfrm>
            <a:prstGeom prst="rect">
              <a:avLst/>
            </a:prstGeom>
            <a:solidFill>
              <a:srgbClr val="00A6A6"/>
            </a:solidFill>
            <a:ln>
              <a:noFill/>
            </a:ln>
          </p:spPr>
        </p:sp>
        <p:sp>
          <p:nvSpPr>
            <p:cNvPr id="11" name="TextBox 11"/>
            <p:cNvSpPr txBox="1"/>
            <p:nvPr/>
          </p:nvSpPr>
          <p:spPr>
            <a:xfrm>
              <a:off x="981456" y="2510790"/>
              <a:ext cx="1055982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Sensör verisini yalnızca tip değil, gerçekçi fiziksel aralık bakımından da doğrulamak</a:t>
              </a:r>
            </a:p>
          </p:txBody>
        </p:sp>
        <p:sp>
          <p:nvSpPr>
            <p:cNvPr id="12" name="TextBox 12"/>
            <p:cNvSpPr txBox="1"/>
            <p:nvPr/>
          </p:nvSpPr>
          <p:spPr>
            <a:xfrm>
              <a:off x="982599" y="2839879"/>
              <a:ext cx="689079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sıcaklık için -40 ile 85°C arası aralık denetimini uygulamak</a:t>
              </a:r>
            </a:p>
          </p:txBody>
        </p:sp>
      </p:grpSp>
      <p:grpSp>
        <p:nvGrpSpPr>
          <p:cNvPr id="17" name="objective-3"/>
          <p:cNvGrpSpPr/>
          <p:nvPr/>
        </p:nvGrpSpPr>
        <p:grpSpPr>
          <a:xfrm>
            <a:off x="685800" y="3501390"/>
            <a:ext cx="9658585" cy="637128"/>
            <a:chOff x="685800" y="3501390"/>
            <a:chExt cx="9658585" cy="637128"/>
          </a:xfrm>
        </p:grpSpPr>
        <p:sp>
          <p:nvSpPr>
            <p:cNvPr id="14" name="Rectangle 14"/>
            <p:cNvSpPr/>
            <p:nvPr/>
          </p:nvSpPr>
          <p:spPr>
            <a:xfrm>
              <a:off x="685800" y="3505200"/>
              <a:ext cx="57150" cy="495300"/>
            </a:xfrm>
            <a:prstGeom prst="rect">
              <a:avLst/>
            </a:prstGeom>
            <a:solidFill>
              <a:srgbClr val="00A6A6"/>
            </a:solidFill>
            <a:ln>
              <a:noFill/>
            </a:ln>
          </p:spPr>
        </p:sp>
        <p:sp>
          <p:nvSpPr>
            <p:cNvPr id="15" name="TextBox 15"/>
            <p:cNvSpPr txBox="1"/>
            <p:nvPr/>
          </p:nvSpPr>
          <p:spPr>
            <a:xfrm>
              <a:off x="981456" y="3501390"/>
              <a:ext cx="936292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Cihaz kimliği ve API anahtarını kullanıcı authentication'ından ayırt etmek</a:t>
              </a:r>
            </a:p>
          </p:txBody>
        </p:sp>
        <p:sp>
          <p:nvSpPr>
            <p:cNvPr id="16" name="TextBox 16"/>
            <p:cNvSpPr txBox="1"/>
            <p:nvPr/>
          </p:nvSpPr>
          <p:spPr>
            <a:xfrm>
              <a:off x="982599" y="3830479"/>
              <a:ext cx="708362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Bölüm 10 ile farkı ve 401/403 sıralamasını gerekçelendirmek</a:t>
              </a:r>
            </a:p>
          </p:txBody>
        </p:sp>
      </p:grpSp>
      <p:grpSp>
        <p:nvGrpSpPr>
          <p:cNvPr id="21" name="objective-4"/>
          <p:cNvGrpSpPr/>
          <p:nvPr/>
        </p:nvGrpSpPr>
        <p:grpSpPr>
          <a:xfrm>
            <a:off x="685800" y="4491990"/>
            <a:ext cx="10537091" cy="637128"/>
            <a:chOff x="685800" y="4491990"/>
            <a:chExt cx="10537091" cy="637128"/>
          </a:xfrm>
        </p:grpSpPr>
        <p:sp>
          <p:nvSpPr>
            <p:cNvPr id="18" name="Rectangle 18"/>
            <p:cNvSpPr/>
            <p:nvPr/>
          </p:nvSpPr>
          <p:spPr>
            <a:xfrm>
              <a:off x="685800" y="4495800"/>
              <a:ext cx="57150" cy="495300"/>
            </a:xfrm>
            <a:prstGeom prst="rect">
              <a:avLst/>
            </a:prstGeom>
            <a:solidFill>
              <a:srgbClr val="00A6A6"/>
            </a:solidFill>
            <a:ln>
              <a:noFill/>
            </a:ln>
          </p:spPr>
        </p:sp>
        <p:sp>
          <p:nvSpPr>
            <p:cNvPr id="19" name="TextBox 19"/>
            <p:cNvSpPr txBox="1"/>
            <p:nvPr/>
          </p:nvSpPr>
          <p:spPr>
            <a:xfrm>
              <a:off x="981456" y="4491990"/>
              <a:ext cx="1024143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Zaman serisi verisinin ilişkisel veritabanında modellenip sorgulanmasını uygulamak</a:t>
              </a:r>
            </a:p>
          </p:txBody>
        </p:sp>
        <p:sp>
          <p:nvSpPr>
            <p:cNvPr id="20" name="TextBox 20"/>
            <p:cNvSpPr txBox="1"/>
            <p:nvPr/>
          </p:nvSpPr>
          <p:spPr>
            <a:xfrm>
              <a:off x="982599" y="4821079"/>
              <a:ext cx="567028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date_trunc ile saatlik ortalama sorgusu yazmak</a:t>
              </a:r>
            </a:p>
          </p:txBody>
        </p:sp>
      </p:grpSp>
      <p:grpSp>
        <p:nvGrpSpPr>
          <p:cNvPr id="25" name="objective-5"/>
          <p:cNvGrpSpPr/>
          <p:nvPr/>
        </p:nvGrpSpPr>
        <p:grpSpPr>
          <a:xfrm>
            <a:off x="685800" y="5482590"/>
            <a:ext cx="9316189" cy="637128"/>
            <a:chOff x="685800" y="5482590"/>
            <a:chExt cx="9316189" cy="637128"/>
          </a:xfrm>
        </p:grpSpPr>
        <p:sp>
          <p:nvSpPr>
            <p:cNvPr id="22" name="Rectangle 22"/>
            <p:cNvSpPr/>
            <p:nvPr/>
          </p:nvSpPr>
          <p:spPr>
            <a:xfrm>
              <a:off x="685800" y="5486400"/>
              <a:ext cx="57150" cy="495300"/>
            </a:xfrm>
            <a:prstGeom prst="rect">
              <a:avLst/>
            </a:prstGeom>
            <a:solidFill>
              <a:srgbClr val="00A6A6"/>
            </a:solidFill>
            <a:ln>
              <a:noFill/>
            </a:ln>
          </p:spPr>
        </p:sp>
        <p:sp>
          <p:nvSpPr>
            <p:cNvPr id="23" name="TextBox 23"/>
            <p:cNvSpPr txBox="1"/>
            <p:nvPr/>
          </p:nvSpPr>
          <p:spPr>
            <a:xfrm>
              <a:off x="981456" y="5482590"/>
              <a:ext cx="902053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Bağlantı kesintisi, tekrarlanan istek veya bozuk veriyi güvenle ele almak</a:t>
              </a:r>
            </a:p>
          </p:txBody>
        </p:sp>
        <p:sp>
          <p:nvSpPr>
            <p:cNvPr id="24" name="TextBox 24"/>
            <p:cNvSpPr txBox="1"/>
            <p:nvPr/>
          </p:nvSpPr>
          <p:spPr>
            <a:xfrm>
              <a:off x="982599" y="5811679"/>
              <a:ext cx="642509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idempotency ve gözlemlenebilir hata kaydını açıklamak</a:t>
              </a:r>
            </a:p>
          </p:txBody>
        </p:sp>
      </p:grpSp>
      <p:sp>
        <p:nvSpPr>
          <p:cNvPr id="26" name="TextBox 2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24</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7742150" cy="668845"/>
            <a:chOff x="609600" y="171450"/>
            <a:chExt cx="7742150"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24326"/>
                <a:ext cx="236220" cy="265748"/>
                <a:chOff x="777240" y="324326"/>
                <a:chExt cx="236220" cy="265748"/>
              </a:xfrm>
            </p:grpSpPr>
            <p:sp>
              <p:nvSpPr>
                <p:cNvPr id="5" name="Freeform 5"/>
                <p:cNvSpPr/>
                <p:nvPr/>
              </p:nvSpPr>
              <p:spPr>
                <a:xfrm>
                  <a:off x="777240" y="324326"/>
                  <a:ext cx="236220" cy="265748"/>
                </a:xfrm>
                <a:custGeom>
                  <a:avLst/>
                  <a:gdLst/>
                  <a:ahLst/>
                  <a:cxnLst/>
                  <a:rect l="l" t="t" r="r" b="b"/>
                  <a:pathLst>
                    <a:path w="236220" h="265748">
                      <a:moveTo>
                        <a:pt x="118110" y="0"/>
                      </a:moveTo>
                      <a:lnTo>
                        <a:pt x="236220" y="66437"/>
                      </a:lnTo>
                      <a:lnTo>
                        <a:pt x="236220" y="199311"/>
                      </a:lnTo>
                      <a:lnTo>
                        <a:pt x="118110" y="265748"/>
                      </a:lnTo>
                      <a:lnTo>
                        <a:pt x="0" y="199311"/>
                      </a:lnTo>
                      <a:lnTo>
                        <a:pt x="0" y="66437"/>
                      </a:lnTo>
                      <a:lnTo>
                        <a:pt x="118110" y="0"/>
                      </a:lnTo>
                    </a:path>
                  </a:pathLst>
                </a:custGeom>
                <a:noFill/>
                <a:ln w="24759" cap="rnd">
                  <a:solidFill>
                    <a:srgbClr val="FFFFFF"/>
                  </a:solidFill>
                  <a:round/>
                </a:ln>
              </p:spPr>
            </p:sp>
            <p:sp>
              <p:nvSpPr>
                <p:cNvPr id="6" name="Freeform 6"/>
                <p:cNvSpPr/>
                <p:nvPr/>
              </p:nvSpPr>
              <p:spPr>
                <a:xfrm>
                  <a:off x="895350" y="390763"/>
                  <a:ext cx="118110" cy="66437"/>
                </a:xfrm>
                <a:custGeom>
                  <a:avLst/>
                  <a:gdLst/>
                  <a:ahLst/>
                  <a:cxnLst/>
                  <a:rect l="l" t="t" r="r" b="b"/>
                  <a:pathLst>
                    <a:path w="118110" h="66437">
                      <a:moveTo>
                        <a:pt x="0" y="66437"/>
                      </a:moveTo>
                      <a:lnTo>
                        <a:pt x="118110" y="0"/>
                      </a:lnTo>
                    </a:path>
                  </a:pathLst>
                </a:custGeom>
                <a:noFill/>
                <a:ln w="24759" cap="rnd">
                  <a:solidFill>
                    <a:srgbClr val="FFFFFF"/>
                  </a:solidFill>
                  <a:round/>
                </a:ln>
              </p:spPr>
            </p:sp>
            <p:sp>
              <p:nvSpPr>
                <p:cNvPr id="7" name="Freeform 7"/>
                <p:cNvSpPr/>
                <p:nvPr/>
              </p:nvSpPr>
              <p:spPr>
                <a:xfrm>
                  <a:off x="895350" y="457200"/>
                  <a:ext cx="9525" cy="132874"/>
                </a:xfrm>
                <a:custGeom>
                  <a:avLst/>
                  <a:gdLst/>
                  <a:ahLst/>
                  <a:cxnLst/>
                  <a:rect l="l" t="t" r="r" b="b"/>
                  <a:pathLst>
                    <a:path w="9525" h="132874">
                      <a:moveTo>
                        <a:pt x="0" y="0"/>
                      </a:moveTo>
                      <a:lnTo>
                        <a:pt x="0" y="132874"/>
                      </a:lnTo>
                    </a:path>
                  </a:pathLst>
                </a:custGeom>
                <a:noFill/>
                <a:ln w="24759" cap="rnd">
                  <a:solidFill>
                    <a:srgbClr val="FFFFFF"/>
                  </a:solidFill>
                  <a:round/>
                </a:ln>
              </p:spPr>
            </p:sp>
            <p:sp>
              <p:nvSpPr>
                <p:cNvPr id="8" name="Freeform 8"/>
                <p:cNvSpPr/>
                <p:nvPr/>
              </p:nvSpPr>
              <p:spPr>
                <a:xfrm>
                  <a:off x="777240" y="390763"/>
                  <a:ext cx="118110" cy="66437"/>
                </a:xfrm>
                <a:custGeom>
                  <a:avLst/>
                  <a:gdLst/>
                  <a:ahLst/>
                  <a:cxnLst/>
                  <a:rect l="l" t="t" r="r" b="b"/>
                  <a:pathLst>
                    <a:path w="118110" h="66437">
                      <a:moveTo>
                        <a:pt x="118110" y="66437"/>
                      </a:moveTo>
                      <a:lnTo>
                        <a:pt x="0" y="0"/>
                      </a:lnTo>
                    </a:path>
                  </a:pathLst>
                </a:custGeom>
                <a:noFill/>
                <a:ln w="24759" cap="rnd">
                  <a:solidFill>
                    <a:srgbClr val="FFFFFF"/>
                  </a:solidFill>
                  <a:round/>
                </a:ln>
              </p:spPr>
            </p:sp>
          </p:grpSp>
        </p:grpSp>
        <p:sp>
          <p:nvSpPr>
            <p:cNvPr id="11" name="TextBox 11"/>
            <p:cNvSpPr txBox="1"/>
            <p:nvPr/>
          </p:nvSpPr>
          <p:spPr>
            <a:xfrm>
              <a:off x="1299972" y="282892"/>
              <a:ext cx="705177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altı temel bileşen</a:t>
              </a:r>
            </a:p>
          </p:txBody>
        </p:sp>
      </p:grpSp>
      <p:grpSp>
        <p:nvGrpSpPr>
          <p:cNvPr id="50" name="concept-map"/>
          <p:cNvGrpSpPr/>
          <p:nvPr/>
        </p:nvGrpSpPr>
        <p:grpSpPr>
          <a:xfrm>
            <a:off x="685800" y="1219200"/>
            <a:ext cx="10896600" cy="4886706"/>
            <a:chOff x="685800" y="1219200"/>
            <a:chExt cx="10896600" cy="4886706"/>
          </a:xfrm>
        </p:grpSpPr>
        <p:grpSp>
          <p:nvGrpSpPr>
            <p:cNvPr id="21" name="Group 21"/>
            <p:cNvGrpSpPr/>
            <p:nvPr/>
          </p:nvGrpSpPr>
          <p:grpSpPr>
            <a:xfrm>
              <a:off x="3143250" y="1581150"/>
              <a:ext cx="6953250" cy="4114800"/>
              <a:chOff x="3143250" y="1581150"/>
              <a:chExt cx="6953250" cy="4114800"/>
            </a:xfrm>
          </p:grpSpPr>
          <p:sp>
            <p:nvSpPr>
              <p:cNvPr id="13" name="Line 13"/>
              <p:cNvSpPr/>
              <p:nvPr/>
            </p:nvSpPr>
            <p:spPr>
              <a:xfrm flipV="1">
                <a:off x="3143250" y="1581150"/>
                <a:ext cx="1352550" cy="1514475"/>
              </a:xfrm>
              <a:prstGeom prst="line">
                <a:avLst/>
              </a:prstGeom>
              <a:noFill/>
              <a:ln w="23812">
                <a:solidFill>
                  <a:srgbClr val="00A6A6"/>
                </a:solidFill>
                <a:tailEnd type="arrow" w="lg" len="lg"/>
              </a:ln>
            </p:spPr>
          </p:sp>
          <p:sp>
            <p:nvSpPr>
              <p:cNvPr id="14" name="Line 14"/>
              <p:cNvSpPr/>
              <p:nvPr/>
            </p:nvSpPr>
            <p:spPr>
              <a:xfrm flipV="1">
                <a:off x="3143250" y="2571750"/>
                <a:ext cx="1352550" cy="523875"/>
              </a:xfrm>
              <a:prstGeom prst="line">
                <a:avLst/>
              </a:prstGeom>
              <a:noFill/>
              <a:ln w="23812">
                <a:solidFill>
                  <a:srgbClr val="00A6A6"/>
                </a:solidFill>
                <a:tailEnd type="arrow" w="lg" len="lg"/>
              </a:ln>
            </p:spPr>
          </p:sp>
          <p:sp>
            <p:nvSpPr>
              <p:cNvPr id="15" name="Line 15"/>
              <p:cNvSpPr/>
              <p:nvPr/>
            </p:nvSpPr>
            <p:spPr>
              <a:xfrm>
                <a:off x="3143250" y="3095625"/>
                <a:ext cx="1352550" cy="466725"/>
              </a:xfrm>
              <a:prstGeom prst="line">
                <a:avLst/>
              </a:prstGeom>
              <a:noFill/>
              <a:ln w="23812">
                <a:solidFill>
                  <a:srgbClr val="00A6A6"/>
                </a:solidFill>
                <a:tailEnd type="arrow" w="lg" len="lg"/>
              </a:ln>
            </p:spPr>
          </p:sp>
          <p:sp>
            <p:nvSpPr>
              <p:cNvPr id="16" name="Line 16"/>
              <p:cNvSpPr/>
              <p:nvPr/>
            </p:nvSpPr>
            <p:spPr>
              <a:xfrm>
                <a:off x="3143250" y="3095625"/>
                <a:ext cx="1352550" cy="1457325"/>
              </a:xfrm>
              <a:prstGeom prst="line">
                <a:avLst/>
              </a:prstGeom>
              <a:noFill/>
              <a:ln w="23812">
                <a:solidFill>
                  <a:srgbClr val="00A6A6"/>
                </a:solidFill>
                <a:tailEnd type="arrow" w="lg" len="lg"/>
              </a:ln>
            </p:spPr>
          </p:sp>
          <p:sp>
            <p:nvSpPr>
              <p:cNvPr id="17" name="Line 17"/>
              <p:cNvSpPr/>
              <p:nvPr/>
            </p:nvSpPr>
            <p:spPr>
              <a:xfrm>
                <a:off x="3143250" y="3095625"/>
                <a:ext cx="1352550" cy="2600325"/>
              </a:xfrm>
              <a:prstGeom prst="line">
                <a:avLst/>
              </a:prstGeom>
              <a:noFill/>
              <a:ln w="23812">
                <a:solidFill>
                  <a:srgbClr val="00A6A6"/>
                </a:solidFill>
                <a:tailEnd type="arrow" w="lg" len="lg"/>
              </a:ln>
            </p:spPr>
          </p:sp>
          <p:sp>
            <p:nvSpPr>
              <p:cNvPr id="18" name="Line 18"/>
              <p:cNvSpPr/>
              <p:nvPr/>
            </p:nvSpPr>
            <p:spPr>
              <a:xfrm>
                <a:off x="6477000" y="1943100"/>
                <a:ext cx="1" cy="266700"/>
              </a:xfrm>
              <a:prstGeom prst="line">
                <a:avLst/>
              </a:prstGeom>
              <a:noFill/>
              <a:ln w="19050">
                <a:solidFill>
                  <a:srgbClr val="52616B"/>
                </a:solidFill>
                <a:custDash>
                  <a:ds d="300000" sp="200000"/>
                </a:custDash>
                <a:tailEnd type="arrow" w="lg" len="lg"/>
              </a:ln>
            </p:spPr>
          </p:sp>
          <p:sp>
            <p:nvSpPr>
              <p:cNvPr id="19" name="Line 19"/>
              <p:cNvSpPr/>
              <p:nvPr/>
            </p:nvSpPr>
            <p:spPr>
              <a:xfrm>
                <a:off x="6477000" y="3924300"/>
                <a:ext cx="1" cy="266700"/>
              </a:xfrm>
              <a:prstGeom prst="line">
                <a:avLst/>
              </a:prstGeom>
              <a:noFill/>
              <a:ln w="19050">
                <a:solidFill>
                  <a:srgbClr val="52616B"/>
                </a:solidFill>
                <a:custDash>
                  <a:ds d="300000" sp="200000"/>
                </a:custDash>
                <a:tailEnd type="arrow" w="lg" len="lg"/>
              </a:ln>
            </p:spPr>
          </p:sp>
          <p:sp>
            <p:nvSpPr>
              <p:cNvPr id="20" name="Line 20"/>
              <p:cNvSpPr/>
              <p:nvPr/>
            </p:nvSpPr>
            <p:spPr>
              <a:xfrm>
                <a:off x="8496300" y="2571750"/>
                <a:ext cx="1600200" cy="2743200"/>
              </a:xfrm>
              <a:prstGeom prst="line">
                <a:avLst/>
              </a:prstGeom>
              <a:noFill/>
              <a:ln w="19050">
                <a:solidFill>
                  <a:srgbClr val="52616B"/>
                </a:solidFill>
                <a:custDash>
                  <a:ds d="300000" sp="200000"/>
                </a:custDash>
                <a:tailEnd type="arrow" w="lg" len="lg"/>
              </a:ln>
            </p:spPr>
          </p:sp>
        </p:grpSp>
        <p:grpSp>
          <p:nvGrpSpPr>
            <p:cNvPr id="24" name="map-hub"/>
            <p:cNvGrpSpPr/>
            <p:nvPr/>
          </p:nvGrpSpPr>
          <p:grpSpPr>
            <a:xfrm>
              <a:off x="685800" y="2381250"/>
              <a:ext cx="2965704" cy="1428750"/>
              <a:chOff x="685800" y="2381250"/>
              <a:chExt cx="2965704" cy="1428750"/>
            </a:xfrm>
          </p:grpSpPr>
          <p:sp>
            <p:nvSpPr>
              <p:cNvPr id="22" name="Rectangle 22"/>
              <p:cNvSpPr/>
              <p:nvPr/>
            </p:nvSpPr>
            <p:spPr>
              <a:xfrm>
                <a:off x="685800" y="2381250"/>
                <a:ext cx="2381250" cy="1428750"/>
              </a:xfrm>
              <a:prstGeom prst="roundRect">
                <a:avLst>
                  <a:gd name="adj" fmla="val 6667"/>
                </a:avLst>
              </a:prstGeom>
              <a:solidFill>
                <a:srgbClr val="12355B"/>
              </a:solidFill>
              <a:ln>
                <a:noFill/>
              </a:ln>
            </p:spPr>
          </p:sp>
          <p:sp>
            <p:nvSpPr>
              <p:cNvPr id="23" name="TextBox 23"/>
              <p:cNvSpPr txBox="1"/>
              <p:nvPr/>
            </p:nvSpPr>
            <p:spPr>
              <a:xfrm>
                <a:off x="941832" y="2630805"/>
                <a:ext cx="2709672" cy="1134618"/>
              </a:xfrm>
              <a:prstGeom prst="rect">
                <a:avLst/>
              </a:prstGeom>
              <a:noFill/>
              <a:ln>
                <a:noFill/>
              </a:ln>
            </p:spPr>
            <p:txBody>
              <a:bodyPr wrap="none" lIns="0" tIns="0" rIns="0" bIns="0" anchor="t" anchorCtr="0">
                <a:spAutoFit/>
              </a:bodyPr>
              <a:lstStyle/>
              <a:p>
                <a:pPr algn="l">
                  <a:lnSpc>
                    <a:spcPts val="2850"/>
                  </a:lnSpc>
                </a:pPr>
                <a:r>
                  <a:rPr lang="tr-TR" sz="2100" b="1" dirty="0">
                    <a:solidFill>
                      <a:srgbClr val="FFFFFF"/>
                    </a:solidFill>
                    <a:latin typeface="+mn-lt"/>
                    <a:ea typeface="+mn-ea"/>
                    <a:cs typeface="+mn-cs"/>
                  </a:rPr>
                  <a:t>IoT backend</a:t>
                </a:r>
                <a:br/>
                <a:r>
                  <a:rPr lang="tr-TR" sz="2100" b="1" dirty="0">
                    <a:solidFill>
                      <a:srgbClr val="FFFFFF"/>
                    </a:solidFill>
                    <a:latin typeface="+mn-lt"/>
                    <a:ea typeface="+mn-ea"/>
                    <a:cs typeface="+mn-cs"/>
                  </a:rPr>
                  <a:t>mimarisi</a:t>
                </a:r>
                <a:br/>
                <a:r>
                  <a:rPr lang="tr-TR" sz="2100" b="1" dirty="0">
                    <a:solidFill>
                      <a:srgbClr val="FFFFFF"/>
                    </a:solidFill>
                    <a:latin typeface="+mn-lt"/>
                    <a:ea typeface="+mn-ea"/>
                    <a:cs typeface="+mn-cs"/>
                  </a:rPr>
                  <a:t>(donanım + sunucu)</a:t>
                </a:r>
              </a:p>
            </p:txBody>
          </p:sp>
        </p:grpSp>
        <p:grpSp>
          <p:nvGrpSpPr>
            <p:cNvPr id="28" name="map-node-esp32"/>
            <p:cNvGrpSpPr/>
            <p:nvPr/>
          </p:nvGrpSpPr>
          <p:grpSpPr>
            <a:xfrm>
              <a:off x="4572000" y="1219200"/>
              <a:ext cx="4314494" cy="723900"/>
              <a:chOff x="4572000" y="1219200"/>
              <a:chExt cx="4314494" cy="723900"/>
            </a:xfrm>
          </p:grpSpPr>
          <p:sp>
            <p:nvSpPr>
              <p:cNvPr id="25" name="Rectangle 25"/>
              <p:cNvSpPr/>
              <p:nvPr/>
            </p:nvSpPr>
            <p:spPr>
              <a:xfrm>
                <a:off x="4572000" y="1219200"/>
                <a:ext cx="3810000" cy="723900"/>
              </a:xfrm>
              <a:prstGeom prst="roundRect">
                <a:avLst>
                  <a:gd name="adj" fmla="val 13158"/>
                </a:avLst>
              </a:prstGeom>
              <a:solidFill>
                <a:srgbClr val="FFFFFF"/>
              </a:solidFill>
              <a:ln w="14288">
                <a:solidFill>
                  <a:srgbClr val="2E86AB"/>
                </a:solidFill>
              </a:ln>
            </p:spPr>
          </p:sp>
          <p:sp>
            <p:nvSpPr>
              <p:cNvPr id="26" name="TextBox 26"/>
              <p:cNvSpPr txBox="1"/>
              <p:nvPr/>
            </p:nvSpPr>
            <p:spPr>
              <a:xfrm>
                <a:off x="4791456" y="1329690"/>
                <a:ext cx="285488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ESP32 mikrodenetleyici</a:t>
                </a:r>
              </a:p>
            </p:txBody>
          </p:sp>
          <p:sp>
            <p:nvSpPr>
              <p:cNvPr id="27" name="TextBox 27"/>
              <p:cNvSpPr txBox="1"/>
              <p:nvPr/>
            </p:nvSpPr>
            <p:spPr>
              <a:xfrm>
                <a:off x="4792599" y="1601629"/>
                <a:ext cx="409389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Wi-Fi'lı düşük güç kartı, sensörü okur</a:t>
                </a:r>
              </a:p>
            </p:txBody>
          </p:sp>
        </p:grpSp>
        <p:grpSp>
          <p:nvGrpSpPr>
            <p:cNvPr id="32" name="map-node-auth"/>
            <p:cNvGrpSpPr/>
            <p:nvPr/>
          </p:nvGrpSpPr>
          <p:grpSpPr>
            <a:xfrm>
              <a:off x="4572000" y="2209800"/>
              <a:ext cx="4347942" cy="723900"/>
              <a:chOff x="4572000" y="2209800"/>
              <a:chExt cx="4347942" cy="723900"/>
            </a:xfrm>
          </p:grpSpPr>
          <p:sp>
            <p:nvSpPr>
              <p:cNvPr id="29" name="Rectangle 29"/>
              <p:cNvSpPr/>
              <p:nvPr/>
            </p:nvSpPr>
            <p:spPr>
              <a:xfrm>
                <a:off x="4572000" y="2209800"/>
                <a:ext cx="3810000" cy="723900"/>
              </a:xfrm>
              <a:prstGeom prst="roundRect">
                <a:avLst>
                  <a:gd name="adj" fmla="val 13158"/>
                </a:avLst>
              </a:prstGeom>
              <a:solidFill>
                <a:srgbClr val="FFFFFF"/>
              </a:solidFill>
              <a:ln w="14288">
                <a:solidFill>
                  <a:srgbClr val="2E86AB"/>
                </a:solidFill>
              </a:ln>
            </p:spPr>
          </p:sp>
          <p:sp>
            <p:nvSpPr>
              <p:cNvPr id="30" name="TextBox 30"/>
              <p:cNvSpPr txBox="1"/>
              <p:nvPr/>
            </p:nvSpPr>
            <p:spPr>
              <a:xfrm>
                <a:off x="4791456" y="2320290"/>
                <a:ext cx="276117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Cihaz kimlik doğrulama</a:t>
                </a:r>
              </a:p>
            </p:txBody>
          </p:sp>
          <p:sp>
            <p:nvSpPr>
              <p:cNvPr id="31" name="TextBox 31"/>
              <p:cNvSpPr txBox="1"/>
              <p:nvPr/>
            </p:nvSpPr>
            <p:spPr>
              <a:xfrm>
                <a:off x="4792599" y="2592229"/>
                <a:ext cx="412734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API anahtarı/HMAC ile kaynağı kanıtlar</a:t>
                </a:r>
              </a:p>
            </p:txBody>
          </p:sp>
        </p:grpSp>
        <p:grpSp>
          <p:nvGrpSpPr>
            <p:cNvPr id="36" name="map-node-telemetri"/>
            <p:cNvGrpSpPr/>
            <p:nvPr/>
          </p:nvGrpSpPr>
          <p:grpSpPr>
            <a:xfrm>
              <a:off x="4572000" y="3200400"/>
              <a:ext cx="4040221" cy="723900"/>
              <a:chOff x="4572000" y="3200400"/>
              <a:chExt cx="4040221" cy="723900"/>
            </a:xfrm>
          </p:grpSpPr>
          <p:sp>
            <p:nvSpPr>
              <p:cNvPr id="33" name="Rectangle 33"/>
              <p:cNvSpPr/>
              <p:nvPr/>
            </p:nvSpPr>
            <p:spPr>
              <a:xfrm>
                <a:off x="4572000" y="3200400"/>
                <a:ext cx="3810000" cy="723900"/>
              </a:xfrm>
              <a:prstGeom prst="roundRect">
                <a:avLst>
                  <a:gd name="adj" fmla="val 13158"/>
                </a:avLst>
              </a:prstGeom>
              <a:solidFill>
                <a:srgbClr val="FFFFFF"/>
              </a:solidFill>
              <a:ln w="14288">
                <a:solidFill>
                  <a:srgbClr val="2E86AB"/>
                </a:solidFill>
              </a:ln>
            </p:spPr>
          </p:sp>
          <p:sp>
            <p:nvSpPr>
              <p:cNvPr id="34" name="TextBox 34"/>
              <p:cNvSpPr txBox="1"/>
              <p:nvPr/>
            </p:nvSpPr>
            <p:spPr>
              <a:xfrm>
                <a:off x="4791456" y="3310890"/>
                <a:ext cx="199757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Telemetri verisi</a:t>
                </a:r>
              </a:p>
            </p:txBody>
          </p:sp>
          <p:sp>
            <p:nvSpPr>
              <p:cNvPr id="35" name="TextBox 35"/>
              <p:cNvSpPr txBox="1"/>
              <p:nvPr/>
            </p:nvSpPr>
            <p:spPr>
              <a:xfrm>
                <a:off x="4792599" y="3582829"/>
                <a:ext cx="381962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Zaman damgalı periyodik ölçüm akışı</a:t>
                </a:r>
              </a:p>
            </p:txBody>
          </p:sp>
        </p:grpSp>
        <p:grpSp>
          <p:nvGrpSpPr>
            <p:cNvPr id="40" name="map-node-api"/>
            <p:cNvGrpSpPr/>
            <p:nvPr/>
          </p:nvGrpSpPr>
          <p:grpSpPr>
            <a:xfrm>
              <a:off x="4572000" y="4191000"/>
              <a:ext cx="3847357" cy="723900"/>
              <a:chOff x="4572000" y="4191000"/>
              <a:chExt cx="3847357" cy="723900"/>
            </a:xfrm>
          </p:grpSpPr>
          <p:sp>
            <p:nvSpPr>
              <p:cNvPr id="37" name="Rectangle 37"/>
              <p:cNvSpPr/>
              <p:nvPr/>
            </p:nvSpPr>
            <p:spPr>
              <a:xfrm>
                <a:off x="4572000" y="4191000"/>
                <a:ext cx="3810000" cy="723900"/>
              </a:xfrm>
              <a:prstGeom prst="roundRect">
                <a:avLst>
                  <a:gd name="adj" fmla="val 13158"/>
                </a:avLst>
              </a:prstGeom>
              <a:solidFill>
                <a:srgbClr val="FFFFFF"/>
              </a:solidFill>
              <a:ln w="14288">
                <a:solidFill>
                  <a:srgbClr val="2E86AB"/>
                </a:solidFill>
              </a:ln>
            </p:spPr>
          </p:sp>
          <p:sp>
            <p:nvSpPr>
              <p:cNvPr id="38" name="TextBox 38"/>
              <p:cNvSpPr txBox="1"/>
              <p:nvPr/>
            </p:nvSpPr>
            <p:spPr>
              <a:xfrm>
                <a:off x="4791456" y="4301490"/>
                <a:ext cx="273630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Sensör API uç noktası</a:t>
                </a:r>
              </a:p>
            </p:txBody>
          </p:sp>
          <p:sp>
            <p:nvSpPr>
              <p:cNvPr id="39" name="TextBox 39"/>
              <p:cNvSpPr txBox="1"/>
              <p:nvPr/>
            </p:nvSpPr>
            <p:spPr>
              <a:xfrm>
                <a:off x="4792599" y="4573429"/>
                <a:ext cx="362675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M2M odaklı REST/MQTT uç noktası</a:t>
                </a:r>
              </a:p>
            </p:txBody>
          </p:sp>
        </p:grpSp>
        <p:grpSp>
          <p:nvGrpSpPr>
            <p:cNvPr id="44" name="map-node-tamponlama"/>
            <p:cNvGrpSpPr/>
            <p:nvPr/>
          </p:nvGrpSpPr>
          <p:grpSpPr>
            <a:xfrm>
              <a:off x="4572000" y="5334000"/>
              <a:ext cx="7010400" cy="723900"/>
              <a:chOff x="4572000" y="5334000"/>
              <a:chExt cx="7010400" cy="723900"/>
            </a:xfrm>
          </p:grpSpPr>
          <p:sp>
            <p:nvSpPr>
              <p:cNvPr id="41" name="Rectangle 41"/>
              <p:cNvSpPr/>
              <p:nvPr/>
            </p:nvSpPr>
            <p:spPr>
              <a:xfrm>
                <a:off x="4572000" y="5334000"/>
                <a:ext cx="7010400" cy="723900"/>
              </a:xfrm>
              <a:prstGeom prst="roundRect">
                <a:avLst>
                  <a:gd name="adj" fmla="val 13158"/>
                </a:avLst>
              </a:prstGeom>
              <a:solidFill>
                <a:srgbClr val="EAF4F6"/>
              </a:solidFill>
              <a:ln w="14288">
                <a:solidFill>
                  <a:srgbClr val="00A6A6"/>
                </a:solidFill>
              </a:ln>
            </p:spPr>
          </p:sp>
          <p:sp>
            <p:nvSpPr>
              <p:cNvPr id="42" name="TextBox 42"/>
              <p:cNvSpPr txBox="1"/>
              <p:nvPr/>
            </p:nvSpPr>
            <p:spPr>
              <a:xfrm>
                <a:off x="4791456" y="5444490"/>
                <a:ext cx="307969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Zaman serisi tamponlama</a:t>
                </a:r>
              </a:p>
            </p:txBody>
          </p:sp>
          <p:sp>
            <p:nvSpPr>
              <p:cNvPr id="43" name="TextBox 43"/>
              <p:cNvSpPr txBox="1"/>
              <p:nvPr/>
            </p:nvSpPr>
            <p:spPr>
              <a:xfrm>
                <a:off x="4792599" y="5716429"/>
                <a:ext cx="669099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Ölçümleri arabellekte toplayıp toplu (batch) veritabanına yazar</a:t>
                </a:r>
              </a:p>
            </p:txBody>
          </p:sp>
        </p:grpSp>
        <p:grpSp>
          <p:nvGrpSpPr>
            <p:cNvPr id="49" name="map-legend"/>
            <p:cNvGrpSpPr/>
            <p:nvPr/>
          </p:nvGrpSpPr>
          <p:grpSpPr>
            <a:xfrm>
              <a:off x="685800" y="5528310"/>
              <a:ext cx="3141069" cy="577596"/>
              <a:chOff x="685800" y="5528310"/>
              <a:chExt cx="3141069" cy="577596"/>
            </a:xfrm>
          </p:grpSpPr>
          <p:sp>
            <p:nvSpPr>
              <p:cNvPr id="45" name="Line 45"/>
              <p:cNvSpPr/>
              <p:nvPr/>
            </p:nvSpPr>
            <p:spPr>
              <a:xfrm>
                <a:off x="685800" y="5600700"/>
                <a:ext cx="304800" cy="1"/>
              </a:xfrm>
              <a:prstGeom prst="line">
                <a:avLst/>
              </a:prstGeom>
              <a:noFill/>
              <a:ln w="23812">
                <a:solidFill>
                  <a:srgbClr val="00A6A6"/>
                </a:solidFill>
                <a:tailEnd type="arrow" w="lg" len="lg"/>
              </a:ln>
            </p:spPr>
          </p:sp>
          <p:sp>
            <p:nvSpPr>
              <p:cNvPr id="46" name="TextBox 46"/>
              <p:cNvSpPr txBox="1"/>
              <p:nvPr/>
            </p:nvSpPr>
            <p:spPr>
              <a:xfrm>
                <a:off x="1079754" y="5528310"/>
                <a:ext cx="211701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Mimarinin türettiği bileşen</a:t>
                </a:r>
              </a:p>
            </p:txBody>
          </p:sp>
          <p:sp>
            <p:nvSpPr>
              <p:cNvPr id="47" name="Line 47"/>
              <p:cNvSpPr/>
              <p:nvPr/>
            </p:nvSpPr>
            <p:spPr>
              <a:xfrm>
                <a:off x="685800" y="5943600"/>
                <a:ext cx="304800" cy="1"/>
              </a:xfrm>
              <a:prstGeom prst="line">
                <a:avLst/>
              </a:prstGeom>
              <a:noFill/>
              <a:ln w="19050">
                <a:solidFill>
                  <a:srgbClr val="52616B"/>
                </a:solidFill>
                <a:custDash>
                  <a:ds d="300000" sp="200000"/>
                </a:custDash>
                <a:tailEnd type="arrow" w="lg" len="lg"/>
              </a:ln>
            </p:spPr>
          </p:sp>
          <p:sp>
            <p:nvSpPr>
              <p:cNvPr id="48" name="TextBox 48"/>
              <p:cNvSpPr txBox="1"/>
              <p:nvPr/>
            </p:nvSpPr>
            <p:spPr>
              <a:xfrm>
                <a:off x="1079754" y="5871210"/>
                <a:ext cx="274711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Bileşenler arası tamamlayıcı ilişki</a:t>
                </a:r>
              </a:p>
            </p:txBody>
          </p:sp>
        </p:grpSp>
      </p:grpSp>
      <p:sp>
        <p:nvSpPr>
          <p:cNvPr id="51" name="TextBox 5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24</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5908695" cy="668845"/>
            <a:chOff x="609600" y="171450"/>
            <a:chExt cx="5908695"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521832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sorumluluk matrisi</a:t>
              </a:r>
            </a:p>
          </p:txBody>
        </p:sp>
      </p:grpSp>
      <p:grpSp>
        <p:nvGrpSpPr>
          <p:cNvPr id="53" name="matrix-table"/>
          <p:cNvGrpSpPr/>
          <p:nvPr/>
        </p:nvGrpSpPr>
        <p:grpSpPr>
          <a:xfrm>
            <a:off x="609600" y="1181100"/>
            <a:ext cx="10972800" cy="5219700"/>
            <a:chOff x="609600" y="1181100"/>
            <a:chExt cx="10972800" cy="5219700"/>
          </a:xfrm>
        </p:grpSpPr>
        <p:sp>
          <p:nvSpPr>
            <p:cNvPr id="13" name="Rectangle 13"/>
            <p:cNvSpPr/>
            <p:nvPr/>
          </p:nvSpPr>
          <p:spPr>
            <a:xfrm>
              <a:off x="609600" y="1181100"/>
              <a:ext cx="10972800" cy="361950"/>
            </a:xfrm>
            <a:prstGeom prst="rect">
              <a:avLst/>
            </a:prstGeom>
            <a:solidFill>
              <a:srgbClr val="12355B"/>
            </a:solidFill>
            <a:ln>
              <a:noFill/>
            </a:ln>
          </p:spPr>
        </p:sp>
        <p:sp>
          <p:nvSpPr>
            <p:cNvPr id="14" name="TextBox 14"/>
            <p:cNvSpPr txBox="1"/>
            <p:nvPr/>
          </p:nvSpPr>
          <p:spPr>
            <a:xfrm>
              <a:off x="756285" y="1288256"/>
              <a:ext cx="650230"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KAVRAM</a:t>
              </a:r>
            </a:p>
          </p:txBody>
        </p:sp>
        <p:sp>
          <p:nvSpPr>
            <p:cNvPr id="15" name="TextBox 15"/>
            <p:cNvSpPr txBox="1"/>
            <p:nvPr/>
          </p:nvSpPr>
          <p:spPr>
            <a:xfrm>
              <a:off x="2204085" y="1288256"/>
              <a:ext cx="1224424"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TEMEL GÖREVİ</a:t>
              </a:r>
            </a:p>
          </p:txBody>
        </p:sp>
        <p:sp>
          <p:nvSpPr>
            <p:cNvPr id="16" name="TextBox 16"/>
            <p:cNvSpPr txBox="1"/>
            <p:nvPr/>
          </p:nvSpPr>
          <p:spPr>
            <a:xfrm>
              <a:off x="5442585" y="1288256"/>
              <a:ext cx="916418"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NE YAPMAZ</a:t>
              </a:r>
            </a:p>
          </p:txBody>
        </p:sp>
        <p:sp>
          <p:nvSpPr>
            <p:cNvPr id="17" name="TextBox 17"/>
            <p:cNvSpPr txBox="1"/>
            <p:nvPr/>
          </p:nvSpPr>
          <p:spPr>
            <a:xfrm>
              <a:off x="8681085" y="1288256"/>
              <a:ext cx="1557522"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OLMAZSA NE OLUR</a:t>
              </a:r>
            </a:p>
          </p:txBody>
        </p:sp>
        <p:sp>
          <p:nvSpPr>
            <p:cNvPr id="18" name="Rectangle 18"/>
            <p:cNvSpPr/>
            <p:nvPr/>
          </p:nvSpPr>
          <p:spPr>
            <a:xfrm>
              <a:off x="609600" y="1543050"/>
              <a:ext cx="10972800" cy="809625"/>
            </a:xfrm>
            <a:prstGeom prst="rect">
              <a:avLst/>
            </a:prstGeom>
            <a:solidFill>
              <a:srgbClr val="FFFFFF"/>
            </a:solidFill>
            <a:ln>
              <a:noFill/>
            </a:ln>
          </p:spPr>
        </p:sp>
        <p:sp>
          <p:nvSpPr>
            <p:cNvPr id="19" name="TextBox 19"/>
            <p:cNvSpPr txBox="1"/>
            <p:nvPr/>
          </p:nvSpPr>
          <p:spPr>
            <a:xfrm>
              <a:off x="756666" y="1677352"/>
              <a:ext cx="787765" cy="376809"/>
            </a:xfrm>
            <a:prstGeom prst="rect">
              <a:avLst/>
            </a:prstGeom>
            <a:noFill/>
            <a:ln>
              <a:noFill/>
            </a:ln>
          </p:spPr>
          <p:txBody>
            <a:bodyPr wrap="none" lIns="0" tIns="0" rIns="0" bIns="0" anchor="t" anchorCtr="0">
              <a:spAutoFit/>
            </a:bodyPr>
            <a:lstStyle/>
            <a:p>
              <a:pPr algn="l">
                <a:lnSpc>
                  <a:spcPts val="1350"/>
                </a:lnSpc>
              </a:pPr>
              <a:r>
                <a:rPr lang="tr-TR" sz="1050" b="1" dirty="0">
                  <a:solidFill>
                    <a:srgbClr val="12355B"/>
                  </a:solidFill>
                  <a:latin typeface="+mn-lt"/>
                  <a:ea typeface="+mn-ea"/>
                  <a:cs typeface="+mn-cs"/>
                </a:rPr>
                <a:t>IoT Backend</a:t>
              </a:r>
              <a:br/>
              <a:r>
                <a:rPr lang="tr-TR" sz="1050" b="1" dirty="0">
                  <a:solidFill>
                    <a:srgbClr val="12355B"/>
                  </a:solidFill>
                  <a:latin typeface="+mn-lt"/>
                  <a:ea typeface="+mn-ea"/>
                  <a:cs typeface="+mn-cs"/>
                </a:rPr>
                <a:t>Mimarisi</a:t>
              </a:r>
            </a:p>
          </p:txBody>
        </p:sp>
        <p:sp>
          <p:nvSpPr>
            <p:cNvPr id="20" name="TextBox 20"/>
            <p:cNvSpPr txBox="1"/>
            <p:nvPr/>
          </p:nvSpPr>
          <p:spPr>
            <a:xfrm>
              <a:off x="2203704" y="1642110"/>
              <a:ext cx="215341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Donanım ile sunucu arasında</a:t>
              </a:r>
              <a:br/>
              <a:r>
                <a:rPr lang="tr-TR" sz="1200" dirty="0">
                  <a:solidFill>
                    <a:srgbClr val="172B3A"/>
                  </a:solidFill>
                  <a:latin typeface="+mn-lt"/>
                  <a:ea typeface="+mn-ea"/>
                  <a:cs typeface="+mn-cs"/>
                </a:rPr>
                <a:t>güvenilir toplama, doğrulama</a:t>
              </a:r>
              <a:br/>
              <a:r>
                <a:rPr lang="tr-TR" sz="1200" dirty="0">
                  <a:solidFill>
                    <a:srgbClr val="172B3A"/>
                  </a:solidFill>
                  <a:latin typeface="+mn-lt"/>
                  <a:ea typeface="+mn-ea"/>
                  <a:cs typeface="+mn-cs"/>
                </a:rPr>
                <a:t>ve cihaz yönetimi sağlar.</a:t>
              </a:r>
            </a:p>
          </p:txBody>
        </p:sp>
        <p:sp>
          <p:nvSpPr>
            <p:cNvPr id="21" name="TextBox 21"/>
            <p:cNvSpPr txBox="1"/>
            <p:nvPr/>
          </p:nvSpPr>
          <p:spPr>
            <a:xfrm>
              <a:off x="5442204" y="1642110"/>
              <a:ext cx="216103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Donanımdaki fiziksel arızayı</a:t>
              </a:r>
              <a:br/>
              <a:r>
                <a:rPr lang="tr-TR" sz="1200" dirty="0">
                  <a:solidFill>
                    <a:srgbClr val="172B3A"/>
                  </a:solidFill>
                  <a:latin typeface="+mn-lt"/>
                  <a:ea typeface="+mn-ea"/>
                  <a:cs typeface="+mn-cs"/>
                </a:rPr>
                <a:t>veya elektriksel paraziti</a:t>
              </a:r>
              <a:br/>
              <a:r>
                <a:rPr lang="tr-TR" sz="1200" dirty="0">
                  <a:solidFill>
                    <a:srgbClr val="172B3A"/>
                  </a:solidFill>
                  <a:latin typeface="+mn-lt"/>
                  <a:ea typeface="+mn-ea"/>
                  <a:cs typeface="+mn-cs"/>
                </a:rPr>
                <a:t>yazılımla düzeltemez.</a:t>
              </a:r>
            </a:p>
          </p:txBody>
        </p:sp>
        <p:sp>
          <p:nvSpPr>
            <p:cNvPr id="22" name="TextBox 22"/>
            <p:cNvSpPr txBox="1"/>
            <p:nvPr/>
          </p:nvSpPr>
          <p:spPr>
            <a:xfrm>
              <a:off x="8680704" y="1642110"/>
              <a:ext cx="232105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Sensör verisi sisteme giremez;</a:t>
              </a:r>
              <a:br/>
              <a:r>
                <a:rPr lang="tr-TR" sz="1200" dirty="0">
                  <a:solidFill>
                    <a:srgbClr val="172B3A"/>
                  </a:solidFill>
                  <a:latin typeface="+mn-lt"/>
                  <a:ea typeface="+mn-ea"/>
                  <a:cs typeface="+mn-cs"/>
                </a:rPr>
                <a:t>izleme ve güvenlik tamamen</a:t>
              </a:r>
              <a:br/>
              <a:r>
                <a:rPr lang="tr-TR" sz="1200" dirty="0">
                  <a:solidFill>
                    <a:srgbClr val="172B3A"/>
                  </a:solidFill>
                  <a:latin typeface="+mn-lt"/>
                  <a:ea typeface="+mn-ea"/>
                  <a:cs typeface="+mn-cs"/>
                </a:rPr>
                <a:t>insan kontrolüne kalır.</a:t>
              </a:r>
            </a:p>
          </p:txBody>
        </p:sp>
        <p:sp>
          <p:nvSpPr>
            <p:cNvPr id="23" name="Line 23"/>
            <p:cNvSpPr/>
            <p:nvPr/>
          </p:nvSpPr>
          <p:spPr>
            <a:xfrm>
              <a:off x="609600" y="2352675"/>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24" name="Rectangle 24"/>
            <p:cNvSpPr/>
            <p:nvPr/>
          </p:nvSpPr>
          <p:spPr>
            <a:xfrm>
              <a:off x="609600" y="2352675"/>
              <a:ext cx="10972800" cy="809625"/>
            </a:xfrm>
            <a:prstGeom prst="rect">
              <a:avLst/>
            </a:prstGeom>
            <a:solidFill>
              <a:srgbClr val="EAF4F6"/>
            </a:solidFill>
            <a:ln>
              <a:noFill/>
            </a:ln>
          </p:spPr>
        </p:sp>
        <p:sp>
          <p:nvSpPr>
            <p:cNvPr id="25" name="TextBox 25"/>
            <p:cNvSpPr txBox="1"/>
            <p:nvPr/>
          </p:nvSpPr>
          <p:spPr>
            <a:xfrm>
              <a:off x="756666" y="2486978"/>
              <a:ext cx="1130808" cy="376809"/>
            </a:xfrm>
            <a:prstGeom prst="rect">
              <a:avLst/>
            </a:prstGeom>
            <a:noFill/>
            <a:ln>
              <a:noFill/>
            </a:ln>
          </p:spPr>
          <p:txBody>
            <a:bodyPr wrap="none" lIns="0" tIns="0" rIns="0" bIns="0" anchor="t" anchorCtr="0">
              <a:spAutoFit/>
            </a:bodyPr>
            <a:lstStyle/>
            <a:p>
              <a:pPr algn="l">
                <a:lnSpc>
                  <a:spcPts val="1350"/>
                </a:lnSpc>
              </a:pPr>
              <a:r>
                <a:rPr lang="tr-TR" sz="1050" b="1" dirty="0">
                  <a:solidFill>
                    <a:srgbClr val="12355B"/>
                  </a:solidFill>
                  <a:latin typeface="+mn-lt"/>
                  <a:ea typeface="+mn-ea"/>
                  <a:cs typeface="+mn-cs"/>
                </a:rPr>
                <a:t>ESP32</a:t>
              </a:r>
              <a:br/>
              <a:r>
                <a:rPr lang="tr-TR" sz="1050" b="1" dirty="0">
                  <a:solidFill>
                    <a:srgbClr val="12355B"/>
                  </a:solidFill>
                  <a:latin typeface="+mn-lt"/>
                  <a:ea typeface="+mn-ea"/>
                  <a:cs typeface="+mn-cs"/>
                </a:rPr>
                <a:t>Mikrodenetleyici</a:t>
              </a:r>
            </a:p>
          </p:txBody>
        </p:sp>
        <p:sp>
          <p:nvSpPr>
            <p:cNvPr id="26" name="TextBox 26"/>
            <p:cNvSpPr txBox="1"/>
            <p:nvPr/>
          </p:nvSpPr>
          <p:spPr>
            <a:xfrm>
              <a:off x="2203704" y="2451735"/>
              <a:ext cx="246583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Wi-Fi'lı, düşük güçlü kart olarak</a:t>
              </a:r>
              <a:br/>
              <a:r>
                <a:rPr lang="tr-TR" sz="1200" dirty="0">
                  <a:solidFill>
                    <a:srgbClr val="172B3A"/>
                  </a:solidFill>
                  <a:latin typeface="+mn-lt"/>
                  <a:ea typeface="+mn-ea"/>
                  <a:cs typeface="+mn-cs"/>
                </a:rPr>
                <a:t>sensörü okur, HTTPS/MQTT ile</a:t>
              </a:r>
              <a:br/>
              <a:r>
                <a:rPr lang="tr-TR" sz="1200" dirty="0">
                  <a:solidFill>
                    <a:srgbClr val="172B3A"/>
                  </a:solidFill>
                  <a:latin typeface="+mn-lt"/>
                  <a:ea typeface="+mn-ea"/>
                  <a:cs typeface="+mn-cs"/>
                </a:rPr>
                <a:t>sunucuya iletir.</a:t>
              </a:r>
            </a:p>
          </p:txBody>
        </p:sp>
        <p:sp>
          <p:nvSpPr>
            <p:cNvPr id="27" name="TextBox 27"/>
            <p:cNvSpPr txBox="1"/>
            <p:nvPr/>
          </p:nvSpPr>
          <p:spPr>
            <a:xfrm>
              <a:off x="5442204" y="2451735"/>
              <a:ext cx="216865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Backend iş kurallarını veya</a:t>
              </a:r>
              <a:br/>
              <a:r>
                <a:rPr lang="tr-TR" sz="1200" dirty="0">
                  <a:solidFill>
                    <a:srgbClr val="172B3A"/>
                  </a:solidFill>
                  <a:latin typeface="+mn-lt"/>
                  <a:ea typeface="+mn-ea"/>
                  <a:cs typeface="+mn-cs"/>
                </a:rPr>
                <a:t>veritabanı sorgularını kendi</a:t>
              </a:r>
              <a:br/>
              <a:r>
                <a:rPr lang="tr-TR" sz="1200" dirty="0">
                  <a:solidFill>
                    <a:srgbClr val="172B3A"/>
                  </a:solidFill>
                  <a:latin typeface="+mn-lt"/>
                  <a:ea typeface="+mn-ea"/>
                  <a:cs typeface="+mn-cs"/>
                </a:rPr>
                <a:t>üzerinde çalıştırmaz.</a:t>
              </a:r>
            </a:p>
          </p:txBody>
        </p:sp>
        <p:sp>
          <p:nvSpPr>
            <p:cNvPr id="28" name="TextBox 28"/>
            <p:cNvSpPr txBox="1"/>
            <p:nvPr/>
          </p:nvSpPr>
          <p:spPr>
            <a:xfrm>
              <a:off x="8680704" y="2451735"/>
              <a:ext cx="226009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Sahadan gerçek zamanlı</a:t>
              </a:r>
              <a:br/>
              <a:r>
                <a:rPr lang="tr-TR" sz="1200" dirty="0">
                  <a:solidFill>
                    <a:srgbClr val="172B3A"/>
                  </a:solidFill>
                  <a:latin typeface="+mn-lt"/>
                  <a:ea typeface="+mn-ea"/>
                  <a:cs typeface="+mn-cs"/>
                </a:rPr>
                <a:t>telemetri toplanamaz; sistem</a:t>
              </a:r>
              <a:br/>
              <a:r>
                <a:rPr lang="tr-TR" sz="1200" dirty="0">
                  <a:solidFill>
                    <a:srgbClr val="172B3A"/>
                  </a:solidFill>
                  <a:latin typeface="+mn-lt"/>
                  <a:ea typeface="+mn-ea"/>
                  <a:cs typeface="+mn-cs"/>
                </a:rPr>
                <a:t>fiziksel dünyadan kopuk kalır.</a:t>
              </a:r>
            </a:p>
          </p:txBody>
        </p:sp>
        <p:sp>
          <p:nvSpPr>
            <p:cNvPr id="29" name="Line 29"/>
            <p:cNvSpPr/>
            <p:nvPr/>
          </p:nvSpPr>
          <p:spPr>
            <a:xfrm>
              <a:off x="609600" y="31623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30" name="Rectangle 30"/>
            <p:cNvSpPr/>
            <p:nvPr/>
          </p:nvSpPr>
          <p:spPr>
            <a:xfrm>
              <a:off x="609600" y="3162300"/>
              <a:ext cx="10972800" cy="809625"/>
            </a:xfrm>
            <a:prstGeom prst="rect">
              <a:avLst/>
            </a:prstGeom>
            <a:solidFill>
              <a:srgbClr val="FFFFFF"/>
            </a:solidFill>
            <a:ln>
              <a:noFill/>
            </a:ln>
          </p:spPr>
        </p:sp>
        <p:sp>
          <p:nvSpPr>
            <p:cNvPr id="31" name="TextBox 31"/>
            <p:cNvSpPr txBox="1"/>
            <p:nvPr/>
          </p:nvSpPr>
          <p:spPr>
            <a:xfrm>
              <a:off x="756666" y="3296602"/>
              <a:ext cx="661749" cy="376809"/>
            </a:xfrm>
            <a:prstGeom prst="rect">
              <a:avLst/>
            </a:prstGeom>
            <a:noFill/>
            <a:ln>
              <a:noFill/>
            </a:ln>
          </p:spPr>
          <p:txBody>
            <a:bodyPr wrap="none" lIns="0" tIns="0" rIns="0" bIns="0" anchor="t" anchorCtr="0">
              <a:spAutoFit/>
            </a:bodyPr>
            <a:lstStyle/>
            <a:p>
              <a:pPr algn="l">
                <a:lnSpc>
                  <a:spcPts val="1350"/>
                </a:lnSpc>
              </a:pPr>
              <a:r>
                <a:rPr lang="tr-TR" sz="1050" b="1" dirty="0">
                  <a:solidFill>
                    <a:srgbClr val="12355B"/>
                  </a:solidFill>
                  <a:latin typeface="+mn-lt"/>
                  <a:ea typeface="+mn-ea"/>
                  <a:cs typeface="+mn-cs"/>
                </a:rPr>
                <a:t>Telemetri</a:t>
              </a:r>
              <a:br/>
              <a:r>
                <a:rPr lang="tr-TR" sz="1050" b="1" dirty="0">
                  <a:solidFill>
                    <a:srgbClr val="12355B"/>
                  </a:solidFill>
                  <a:latin typeface="+mn-lt"/>
                  <a:ea typeface="+mn-ea"/>
                  <a:cs typeface="+mn-cs"/>
                </a:rPr>
                <a:t>Verisi</a:t>
              </a:r>
            </a:p>
          </p:txBody>
        </p:sp>
        <p:sp>
          <p:nvSpPr>
            <p:cNvPr id="32" name="TextBox 32"/>
            <p:cNvSpPr txBox="1"/>
            <p:nvPr/>
          </p:nvSpPr>
          <p:spPr>
            <a:xfrm>
              <a:off x="2203704" y="3261360"/>
              <a:ext cx="208483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Sensörlerden periyodik veya</a:t>
              </a:r>
              <a:br/>
              <a:r>
                <a:rPr lang="tr-TR" sz="1200" dirty="0">
                  <a:solidFill>
                    <a:srgbClr val="172B3A"/>
                  </a:solidFill>
                  <a:latin typeface="+mn-lt"/>
                  <a:ea typeface="+mn-ea"/>
                  <a:cs typeface="+mn-cs"/>
                </a:rPr>
                <a:t>olay güdümlü akan zaman</a:t>
              </a:r>
              <a:br/>
              <a:r>
                <a:rPr lang="tr-TR" sz="1200" dirty="0">
                  <a:solidFill>
                    <a:srgbClr val="172B3A"/>
                  </a:solidFill>
                  <a:latin typeface="+mn-lt"/>
                  <a:ea typeface="+mn-ea"/>
                  <a:cs typeface="+mn-cs"/>
                </a:rPr>
                <a:t>damgalı ölçüm verisidir.</a:t>
              </a:r>
            </a:p>
          </p:txBody>
        </p:sp>
        <p:sp>
          <p:nvSpPr>
            <p:cNvPr id="33" name="TextBox 33"/>
            <p:cNvSpPr txBox="1"/>
            <p:nvPr/>
          </p:nvSpPr>
          <p:spPr>
            <a:xfrm>
              <a:off x="5442204" y="3261360"/>
              <a:ext cx="221437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Anormallik analizini veya iş</a:t>
              </a:r>
              <a:br/>
              <a:r>
                <a:rPr lang="tr-TR" sz="1200" dirty="0">
                  <a:solidFill>
                    <a:srgbClr val="172B3A"/>
                  </a:solidFill>
                  <a:latin typeface="+mn-lt"/>
                  <a:ea typeface="+mn-ea"/>
                  <a:cs typeface="+mn-cs"/>
                </a:rPr>
                <a:t>kuralı kararını kendi kendine</a:t>
              </a:r>
              <a:br/>
              <a:r>
                <a:rPr lang="tr-TR" sz="1200" dirty="0">
                  <a:solidFill>
                    <a:srgbClr val="172B3A"/>
                  </a:solidFill>
                  <a:latin typeface="+mn-lt"/>
                  <a:ea typeface="+mn-ea"/>
                  <a:cs typeface="+mn-cs"/>
                </a:rPr>
                <a:t>vermez; ham ölçümdür.</a:t>
              </a:r>
            </a:p>
          </p:txBody>
        </p:sp>
        <p:sp>
          <p:nvSpPr>
            <p:cNvPr id="34" name="TextBox 34"/>
            <p:cNvSpPr txBox="1"/>
            <p:nvPr/>
          </p:nvSpPr>
          <p:spPr>
            <a:xfrm>
              <a:off x="8680704" y="3261360"/>
              <a:ext cx="203149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Geçmişe dönük performans</a:t>
              </a:r>
              <a:br/>
              <a:r>
                <a:rPr lang="tr-TR" sz="1200" dirty="0">
                  <a:solidFill>
                    <a:srgbClr val="172B3A"/>
                  </a:solidFill>
                  <a:latin typeface="+mn-lt"/>
                  <a:ea typeface="+mn-ea"/>
                  <a:cs typeface="+mn-cs"/>
                </a:rPr>
                <a:t>takibi, kestirimci bakım ve</a:t>
              </a:r>
              <a:br/>
              <a:r>
                <a:rPr lang="tr-TR" sz="1200" dirty="0">
                  <a:solidFill>
                    <a:srgbClr val="172B3A"/>
                  </a:solidFill>
                  <a:latin typeface="+mn-lt"/>
                  <a:ea typeface="+mn-ea"/>
                  <a:cs typeface="+mn-cs"/>
                </a:rPr>
                <a:t>anomali tespiti yapılamaz.</a:t>
              </a:r>
            </a:p>
          </p:txBody>
        </p:sp>
        <p:sp>
          <p:nvSpPr>
            <p:cNvPr id="35" name="Line 35"/>
            <p:cNvSpPr/>
            <p:nvPr/>
          </p:nvSpPr>
          <p:spPr>
            <a:xfrm>
              <a:off x="609600" y="3971925"/>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36" name="Rectangle 36"/>
            <p:cNvSpPr/>
            <p:nvPr/>
          </p:nvSpPr>
          <p:spPr>
            <a:xfrm>
              <a:off x="609600" y="3971925"/>
              <a:ext cx="10972800" cy="809625"/>
            </a:xfrm>
            <a:prstGeom prst="rect">
              <a:avLst/>
            </a:prstGeom>
            <a:solidFill>
              <a:srgbClr val="EAF4F6"/>
            </a:solidFill>
            <a:ln>
              <a:noFill/>
            </a:ln>
          </p:spPr>
        </p:sp>
        <p:sp>
          <p:nvSpPr>
            <p:cNvPr id="37" name="TextBox 37"/>
            <p:cNvSpPr txBox="1"/>
            <p:nvPr/>
          </p:nvSpPr>
          <p:spPr>
            <a:xfrm>
              <a:off x="756666" y="4106228"/>
              <a:ext cx="745760" cy="376809"/>
            </a:xfrm>
            <a:prstGeom prst="rect">
              <a:avLst/>
            </a:prstGeom>
            <a:noFill/>
            <a:ln>
              <a:noFill/>
            </a:ln>
          </p:spPr>
          <p:txBody>
            <a:bodyPr wrap="none" lIns="0" tIns="0" rIns="0" bIns="0" anchor="t" anchorCtr="0">
              <a:spAutoFit/>
            </a:bodyPr>
            <a:lstStyle/>
            <a:p>
              <a:pPr algn="l">
                <a:lnSpc>
                  <a:spcPts val="1350"/>
                </a:lnSpc>
              </a:pPr>
              <a:r>
                <a:rPr lang="tr-TR" sz="1050" b="1" dirty="0">
                  <a:solidFill>
                    <a:srgbClr val="12355B"/>
                  </a:solidFill>
                  <a:latin typeface="+mn-lt"/>
                  <a:ea typeface="+mn-ea"/>
                  <a:cs typeface="+mn-cs"/>
                </a:rPr>
                <a:t>Sensör API</a:t>
              </a:r>
              <a:br/>
              <a:r>
                <a:rPr lang="tr-TR" sz="1050" b="1" dirty="0">
                  <a:solidFill>
                    <a:srgbClr val="12355B"/>
                  </a:solidFill>
                  <a:latin typeface="+mn-lt"/>
                  <a:ea typeface="+mn-ea"/>
                  <a:cs typeface="+mn-cs"/>
                </a:rPr>
                <a:t>Uç Noktası</a:t>
              </a:r>
            </a:p>
          </p:txBody>
        </p:sp>
        <p:sp>
          <p:nvSpPr>
            <p:cNvPr id="38" name="TextBox 38"/>
            <p:cNvSpPr txBox="1"/>
            <p:nvPr/>
          </p:nvSpPr>
          <p:spPr>
            <a:xfrm>
              <a:off x="2203704" y="4070985"/>
              <a:ext cx="253441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Cihazlardan gelen yüksek</a:t>
              </a:r>
              <a:br/>
              <a:r>
                <a:rPr lang="tr-TR" sz="1200" dirty="0">
                  <a:solidFill>
                    <a:srgbClr val="172B3A"/>
                  </a:solidFill>
                  <a:latin typeface="+mn-lt"/>
                  <a:ea typeface="+mn-ea"/>
                  <a:cs typeface="+mn-cs"/>
                </a:rPr>
                <a:t>frekanslı JSON yükünü karşılayan</a:t>
              </a:r>
              <a:br/>
              <a:r>
                <a:rPr lang="tr-TR" sz="1200" dirty="0">
                  <a:solidFill>
                    <a:srgbClr val="172B3A"/>
                  </a:solidFill>
                  <a:latin typeface="+mn-lt"/>
                  <a:ea typeface="+mn-ea"/>
                  <a:cs typeface="+mn-cs"/>
                </a:rPr>
                <a:t>optimize REST/MQTT uç nokta.</a:t>
              </a:r>
            </a:p>
          </p:txBody>
        </p:sp>
        <p:sp>
          <p:nvSpPr>
            <p:cNvPr id="39" name="TextBox 39"/>
            <p:cNvSpPr txBox="1"/>
            <p:nvPr/>
          </p:nvSpPr>
          <p:spPr>
            <a:xfrm>
              <a:off x="5442204" y="4070985"/>
              <a:ext cx="216865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Standart web kullanıcı</a:t>
              </a:r>
              <a:br/>
              <a:r>
                <a:rPr lang="tr-TR" sz="1200" dirty="0">
                  <a:solidFill>
                    <a:srgbClr val="172B3A"/>
                  </a:solidFill>
                  <a:latin typeface="+mn-lt"/>
                  <a:ea typeface="+mn-ea"/>
                  <a:cs typeface="+mn-cs"/>
                </a:rPr>
                <a:t>oturumlarını (cookie, login)</a:t>
              </a:r>
              <a:br/>
              <a:r>
                <a:rPr lang="tr-TR" sz="1200" dirty="0">
                  <a:solidFill>
                    <a:srgbClr val="172B3A"/>
                  </a:solidFill>
                  <a:latin typeface="+mn-lt"/>
                  <a:ea typeface="+mn-ea"/>
                  <a:cs typeface="+mn-cs"/>
                </a:rPr>
                <a:t>yönetmez; M2M'e odaklanır.</a:t>
              </a:r>
            </a:p>
          </p:txBody>
        </p:sp>
        <p:sp>
          <p:nvSpPr>
            <p:cNvPr id="40" name="TextBox 40"/>
            <p:cNvSpPr txBox="1"/>
            <p:nvPr/>
          </p:nvSpPr>
          <p:spPr>
            <a:xfrm>
              <a:off x="8680704" y="4070985"/>
              <a:ext cx="203149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Cihazlar karmaşık oturum</a:t>
              </a:r>
              <a:br/>
              <a:r>
                <a:rPr lang="tr-TR" sz="1200" dirty="0">
                  <a:solidFill>
                    <a:srgbClr val="172B3A"/>
                  </a:solidFill>
                  <a:latin typeface="+mn-lt"/>
                  <a:ea typeface="+mn-ea"/>
                  <a:cs typeface="+mn-cs"/>
                </a:rPr>
                <a:t>adımlarında kaybolur, veri</a:t>
              </a:r>
              <a:br/>
              <a:r>
                <a:rPr lang="tr-TR" sz="1200" dirty="0">
                  <a:solidFill>
                    <a:srgbClr val="172B3A"/>
                  </a:solidFill>
                  <a:latin typeface="+mn-lt"/>
                  <a:ea typeface="+mn-ea"/>
                  <a:cs typeface="+mn-cs"/>
                </a:rPr>
                <a:t>paketleri işlenemez.</a:t>
              </a:r>
            </a:p>
          </p:txBody>
        </p:sp>
        <p:sp>
          <p:nvSpPr>
            <p:cNvPr id="41" name="Line 41"/>
            <p:cNvSpPr/>
            <p:nvPr/>
          </p:nvSpPr>
          <p:spPr>
            <a:xfrm>
              <a:off x="609600" y="478155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42" name="Rectangle 42"/>
            <p:cNvSpPr/>
            <p:nvPr/>
          </p:nvSpPr>
          <p:spPr>
            <a:xfrm>
              <a:off x="609600" y="4781550"/>
              <a:ext cx="10972800" cy="809625"/>
            </a:xfrm>
            <a:prstGeom prst="rect">
              <a:avLst/>
            </a:prstGeom>
            <a:solidFill>
              <a:srgbClr val="FFFFFF"/>
            </a:solidFill>
            <a:ln>
              <a:noFill/>
            </a:ln>
          </p:spPr>
        </p:sp>
        <p:sp>
          <p:nvSpPr>
            <p:cNvPr id="43" name="TextBox 43"/>
            <p:cNvSpPr txBox="1"/>
            <p:nvPr/>
          </p:nvSpPr>
          <p:spPr>
            <a:xfrm>
              <a:off x="756666" y="4915852"/>
              <a:ext cx="787765" cy="376809"/>
            </a:xfrm>
            <a:prstGeom prst="rect">
              <a:avLst/>
            </a:prstGeom>
            <a:noFill/>
            <a:ln>
              <a:noFill/>
            </a:ln>
          </p:spPr>
          <p:txBody>
            <a:bodyPr wrap="none" lIns="0" tIns="0" rIns="0" bIns="0" anchor="t" anchorCtr="0">
              <a:spAutoFit/>
            </a:bodyPr>
            <a:lstStyle/>
            <a:p>
              <a:pPr algn="l">
                <a:lnSpc>
                  <a:spcPts val="1350"/>
                </a:lnSpc>
              </a:pPr>
              <a:r>
                <a:rPr lang="tr-TR" sz="1050" b="1" dirty="0">
                  <a:solidFill>
                    <a:srgbClr val="12355B"/>
                  </a:solidFill>
                  <a:latin typeface="+mn-lt"/>
                  <a:ea typeface="+mn-ea"/>
                  <a:cs typeface="+mn-cs"/>
                </a:rPr>
                <a:t>Cihaz Kimlik</a:t>
              </a:r>
              <a:br/>
              <a:r>
                <a:rPr lang="tr-TR" sz="1050" b="1" dirty="0">
                  <a:solidFill>
                    <a:srgbClr val="12355B"/>
                  </a:solidFill>
                  <a:latin typeface="+mn-lt"/>
                  <a:ea typeface="+mn-ea"/>
                  <a:cs typeface="+mn-cs"/>
                </a:rPr>
                <a:t>Doğrulama</a:t>
              </a:r>
            </a:p>
          </p:txBody>
        </p:sp>
        <p:sp>
          <p:nvSpPr>
            <p:cNvPr id="44" name="TextBox 44"/>
            <p:cNvSpPr txBox="1"/>
            <p:nvPr/>
          </p:nvSpPr>
          <p:spPr>
            <a:xfrm>
              <a:off x="2203704" y="4880610"/>
              <a:ext cx="259537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İsteği gönderen cihazın gerçekten</a:t>
              </a:r>
              <a:br/>
              <a:r>
                <a:rPr lang="tr-TR" sz="1200" dirty="0">
                  <a:solidFill>
                    <a:srgbClr val="172B3A"/>
                  </a:solidFill>
                  <a:latin typeface="+mn-lt"/>
                  <a:ea typeface="+mn-ea"/>
                  <a:cs typeface="+mn-cs"/>
                </a:rPr>
                <a:t>kayıtlı olduğunu API anahtarı veya</a:t>
              </a:r>
              <a:br/>
              <a:r>
                <a:rPr lang="tr-TR" sz="1200" dirty="0">
                  <a:solidFill>
                    <a:srgbClr val="172B3A"/>
                  </a:solidFill>
                  <a:latin typeface="+mn-lt"/>
                  <a:ea typeface="+mn-ea"/>
                  <a:cs typeface="+mn-cs"/>
                </a:rPr>
                <a:t>HMAC imzasıyla kanıtlar.</a:t>
              </a:r>
            </a:p>
          </p:txBody>
        </p:sp>
        <p:sp>
          <p:nvSpPr>
            <p:cNvPr id="45" name="TextBox 45"/>
            <p:cNvSpPr txBox="1"/>
            <p:nvPr/>
          </p:nvSpPr>
          <p:spPr>
            <a:xfrm>
              <a:off x="5442204" y="4880610"/>
              <a:ext cx="261823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Gönderilen verinin fiziksel</a:t>
              </a:r>
              <a:br/>
              <a:r>
                <a:rPr lang="tr-TR" sz="1200" dirty="0">
                  <a:solidFill>
                    <a:srgbClr val="172B3A"/>
                  </a:solidFill>
                  <a:latin typeface="+mn-lt"/>
                  <a:ea typeface="+mn-ea"/>
                  <a:cs typeface="+mn-cs"/>
                </a:rPr>
                <a:t>olarak doğru olduğunu garanti</a:t>
              </a:r>
              <a:br/>
              <a:r>
                <a:rPr lang="tr-TR" sz="1200" dirty="0">
                  <a:solidFill>
                    <a:srgbClr val="172B3A"/>
                  </a:solidFill>
                  <a:latin typeface="+mn-lt"/>
                  <a:ea typeface="+mn-ea"/>
                  <a:cs typeface="+mn-cs"/>
                </a:rPr>
                <a:t>etmez; yalnızca kaynağı doğrular.</a:t>
              </a:r>
            </a:p>
          </p:txBody>
        </p:sp>
        <p:sp>
          <p:nvSpPr>
            <p:cNvPr id="46" name="TextBox 46"/>
            <p:cNvSpPr txBox="1"/>
            <p:nvPr/>
          </p:nvSpPr>
          <p:spPr>
            <a:xfrm>
              <a:off x="8680704" y="4880610"/>
              <a:ext cx="238201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Saldırganlar sahte telemetri</a:t>
              </a:r>
              <a:br/>
              <a:r>
                <a:rPr lang="tr-TR" sz="1200" dirty="0">
                  <a:solidFill>
                    <a:srgbClr val="172B3A"/>
                  </a:solidFill>
                  <a:latin typeface="+mn-lt"/>
                  <a:ea typeface="+mn-ea"/>
                  <a:cs typeface="+mn-cs"/>
                </a:rPr>
                <a:t>enjekte edip alarmları tetikler,</a:t>
              </a:r>
              <a:br/>
              <a:r>
                <a:rPr lang="tr-TR" sz="1200" dirty="0">
                  <a:solidFill>
                    <a:srgbClr val="172B3A"/>
                  </a:solidFill>
                  <a:latin typeface="+mn-lt"/>
                  <a:ea typeface="+mn-ea"/>
                  <a:cs typeface="+mn-cs"/>
                </a:rPr>
                <a:t>veritabanını kirletir.</a:t>
              </a:r>
            </a:p>
          </p:txBody>
        </p:sp>
        <p:sp>
          <p:nvSpPr>
            <p:cNvPr id="47" name="Line 47"/>
            <p:cNvSpPr/>
            <p:nvPr/>
          </p:nvSpPr>
          <p:spPr>
            <a:xfrm>
              <a:off x="609600" y="5591175"/>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48" name="Rectangle 48"/>
            <p:cNvSpPr/>
            <p:nvPr/>
          </p:nvSpPr>
          <p:spPr>
            <a:xfrm>
              <a:off x="609600" y="5591175"/>
              <a:ext cx="10972800" cy="809625"/>
            </a:xfrm>
            <a:prstGeom prst="rect">
              <a:avLst/>
            </a:prstGeom>
            <a:solidFill>
              <a:srgbClr val="EAF4F6"/>
            </a:solidFill>
            <a:ln w="14288">
              <a:solidFill>
                <a:srgbClr val="00A6A6"/>
              </a:solidFill>
            </a:ln>
          </p:spPr>
        </p:sp>
        <p:sp>
          <p:nvSpPr>
            <p:cNvPr id="49" name="TextBox 49"/>
            <p:cNvSpPr txBox="1"/>
            <p:nvPr/>
          </p:nvSpPr>
          <p:spPr>
            <a:xfrm>
              <a:off x="756666" y="5725478"/>
              <a:ext cx="857774" cy="376809"/>
            </a:xfrm>
            <a:prstGeom prst="rect">
              <a:avLst/>
            </a:prstGeom>
            <a:noFill/>
            <a:ln>
              <a:noFill/>
            </a:ln>
          </p:spPr>
          <p:txBody>
            <a:bodyPr wrap="none" lIns="0" tIns="0" rIns="0" bIns="0" anchor="t" anchorCtr="0">
              <a:spAutoFit/>
            </a:bodyPr>
            <a:lstStyle/>
            <a:p>
              <a:pPr algn="l">
                <a:lnSpc>
                  <a:spcPts val="1350"/>
                </a:lnSpc>
              </a:pPr>
              <a:r>
                <a:rPr lang="tr-TR" sz="1050" b="1" dirty="0">
                  <a:solidFill>
                    <a:srgbClr val="12355B"/>
                  </a:solidFill>
                  <a:latin typeface="+mn-lt"/>
                  <a:ea typeface="+mn-ea"/>
                  <a:cs typeface="+mn-cs"/>
                </a:rPr>
                <a:t>Zaman Serisi</a:t>
              </a:r>
              <a:br/>
              <a:r>
                <a:rPr lang="tr-TR" sz="1050" b="1" dirty="0">
                  <a:solidFill>
                    <a:srgbClr val="12355B"/>
                  </a:solidFill>
                  <a:latin typeface="+mn-lt"/>
                  <a:ea typeface="+mn-ea"/>
                  <a:cs typeface="+mn-cs"/>
                </a:rPr>
                <a:t>Tamponlama</a:t>
              </a:r>
            </a:p>
          </p:txBody>
        </p:sp>
        <p:sp>
          <p:nvSpPr>
            <p:cNvPr id="50" name="TextBox 50"/>
            <p:cNvSpPr txBox="1"/>
            <p:nvPr/>
          </p:nvSpPr>
          <p:spPr>
            <a:xfrm>
              <a:off x="2203704" y="5690235"/>
              <a:ext cx="266395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Saniyede yüzlerce ölçümü bellek</a:t>
              </a:r>
              <a:br/>
              <a:r>
                <a:rPr lang="tr-TR" sz="1200" dirty="0">
                  <a:solidFill>
                    <a:srgbClr val="172B3A"/>
                  </a:solidFill>
                  <a:latin typeface="+mn-lt"/>
                  <a:ea typeface="+mn-ea"/>
                  <a:cs typeface="+mn-cs"/>
                </a:rPr>
                <a:t>içi tamponda toplayıp veritabanına</a:t>
              </a:r>
              <a:br/>
              <a:r>
                <a:rPr lang="tr-TR" sz="1200" dirty="0">
                  <a:solidFill>
                    <a:srgbClr val="172B3A"/>
                  </a:solidFill>
                  <a:latin typeface="+mn-lt"/>
                  <a:ea typeface="+mn-ea"/>
                  <a:cs typeface="+mn-cs"/>
                </a:rPr>
                <a:t>toplu (batch) yazılmasını yönetir.</a:t>
              </a:r>
            </a:p>
          </p:txBody>
        </p:sp>
        <p:sp>
          <p:nvSpPr>
            <p:cNvPr id="51" name="TextBox 51"/>
            <p:cNvSpPr txBox="1"/>
            <p:nvPr/>
          </p:nvSpPr>
          <p:spPr>
            <a:xfrm>
              <a:off x="5442204" y="5690235"/>
              <a:ext cx="222199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Verileri sonsuza dek bellekte</a:t>
              </a:r>
              <a:br/>
              <a:r>
                <a:rPr lang="tr-TR" sz="1200" dirty="0">
                  <a:solidFill>
                    <a:srgbClr val="172B3A"/>
                  </a:solidFill>
                  <a:latin typeface="+mn-lt"/>
                  <a:ea typeface="+mn-ea"/>
                  <a:cs typeface="+mn-cs"/>
                </a:rPr>
                <a:t>tutmaz; taşmayı önlemek için</a:t>
              </a:r>
              <a:br/>
              <a:r>
                <a:rPr lang="tr-TR" sz="1200" dirty="0">
                  <a:solidFill>
                    <a:srgbClr val="172B3A"/>
                  </a:solidFill>
                  <a:latin typeface="+mn-lt"/>
                  <a:ea typeface="+mn-ea"/>
                  <a:cs typeface="+mn-cs"/>
                </a:rPr>
                <a:t>aralıklarla diske aktarır.</a:t>
              </a:r>
            </a:p>
          </p:txBody>
        </p:sp>
        <p:sp>
          <p:nvSpPr>
            <p:cNvPr id="52" name="TextBox 52"/>
            <p:cNvSpPr txBox="1"/>
            <p:nvPr/>
          </p:nvSpPr>
          <p:spPr>
            <a:xfrm>
              <a:off x="8680704" y="5690235"/>
              <a:ext cx="256489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Her okuma için ayrı INSERT</a:t>
              </a:r>
              <a:br/>
              <a:r>
                <a:rPr lang="tr-TR" sz="1200" dirty="0">
                  <a:solidFill>
                    <a:srgbClr val="172B3A"/>
                  </a:solidFill>
                  <a:latin typeface="+mn-lt"/>
                  <a:ea typeface="+mn-ea"/>
                  <a:cs typeface="+mn-cs"/>
                </a:rPr>
                <a:t>atılır; bağlantı havuzu kilitlenir,</a:t>
              </a:r>
              <a:br/>
              <a:r>
                <a:rPr lang="tr-TR" sz="1200" dirty="0">
                  <a:solidFill>
                    <a:srgbClr val="172B3A"/>
                  </a:solidFill>
                  <a:latin typeface="+mn-lt"/>
                  <a:ea typeface="+mn-ea"/>
                  <a:cs typeface="+mn-cs"/>
                </a:rPr>
                <a:t>disk I/O nedeniyle çöker.</a:t>
              </a:r>
            </a:p>
          </p:txBody>
        </p:sp>
      </p:grpSp>
      <p:sp>
        <p:nvSpPr>
          <p:cNvPr id="54" name="TextBox 5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24</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4331755" cy="668845"/>
            <a:chOff x="609600" y="171450"/>
            <a:chExt cx="4331755"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24326"/>
                <a:ext cx="236220" cy="265748"/>
                <a:chOff x="777240" y="324326"/>
                <a:chExt cx="236220" cy="265748"/>
              </a:xfrm>
            </p:grpSpPr>
            <p:sp>
              <p:nvSpPr>
                <p:cNvPr id="5" name="Freeform 5"/>
                <p:cNvSpPr/>
                <p:nvPr/>
              </p:nvSpPr>
              <p:spPr>
                <a:xfrm>
                  <a:off x="777240" y="324326"/>
                  <a:ext cx="236220" cy="265748"/>
                </a:xfrm>
                <a:custGeom>
                  <a:avLst/>
                  <a:gdLst/>
                  <a:ahLst/>
                  <a:cxnLst/>
                  <a:rect l="l" t="t" r="r" b="b"/>
                  <a:pathLst>
                    <a:path w="236220" h="265748">
                      <a:moveTo>
                        <a:pt x="118110" y="0"/>
                      </a:moveTo>
                      <a:lnTo>
                        <a:pt x="236220" y="66437"/>
                      </a:lnTo>
                      <a:lnTo>
                        <a:pt x="236220" y="199311"/>
                      </a:lnTo>
                      <a:lnTo>
                        <a:pt x="118110" y="265748"/>
                      </a:lnTo>
                      <a:lnTo>
                        <a:pt x="0" y="199311"/>
                      </a:lnTo>
                      <a:lnTo>
                        <a:pt x="0" y="66437"/>
                      </a:lnTo>
                      <a:lnTo>
                        <a:pt x="118110" y="0"/>
                      </a:lnTo>
                    </a:path>
                  </a:pathLst>
                </a:custGeom>
                <a:noFill/>
                <a:ln w="24759" cap="rnd">
                  <a:solidFill>
                    <a:srgbClr val="FFFFFF"/>
                  </a:solidFill>
                  <a:round/>
                </a:ln>
              </p:spPr>
            </p:sp>
            <p:sp>
              <p:nvSpPr>
                <p:cNvPr id="6" name="Freeform 6"/>
                <p:cNvSpPr/>
                <p:nvPr/>
              </p:nvSpPr>
              <p:spPr>
                <a:xfrm>
                  <a:off x="895350" y="390763"/>
                  <a:ext cx="118110" cy="66437"/>
                </a:xfrm>
                <a:custGeom>
                  <a:avLst/>
                  <a:gdLst/>
                  <a:ahLst/>
                  <a:cxnLst/>
                  <a:rect l="l" t="t" r="r" b="b"/>
                  <a:pathLst>
                    <a:path w="118110" h="66437">
                      <a:moveTo>
                        <a:pt x="0" y="66437"/>
                      </a:moveTo>
                      <a:lnTo>
                        <a:pt x="118110" y="0"/>
                      </a:lnTo>
                    </a:path>
                  </a:pathLst>
                </a:custGeom>
                <a:noFill/>
                <a:ln w="24759" cap="rnd">
                  <a:solidFill>
                    <a:srgbClr val="FFFFFF"/>
                  </a:solidFill>
                  <a:round/>
                </a:ln>
              </p:spPr>
            </p:sp>
            <p:sp>
              <p:nvSpPr>
                <p:cNvPr id="7" name="Freeform 7"/>
                <p:cNvSpPr/>
                <p:nvPr/>
              </p:nvSpPr>
              <p:spPr>
                <a:xfrm>
                  <a:off x="895350" y="457200"/>
                  <a:ext cx="9525" cy="132874"/>
                </a:xfrm>
                <a:custGeom>
                  <a:avLst/>
                  <a:gdLst/>
                  <a:ahLst/>
                  <a:cxnLst/>
                  <a:rect l="l" t="t" r="r" b="b"/>
                  <a:pathLst>
                    <a:path w="9525" h="132874">
                      <a:moveTo>
                        <a:pt x="0" y="0"/>
                      </a:moveTo>
                      <a:lnTo>
                        <a:pt x="0" y="132874"/>
                      </a:lnTo>
                    </a:path>
                  </a:pathLst>
                </a:custGeom>
                <a:noFill/>
                <a:ln w="24759" cap="rnd">
                  <a:solidFill>
                    <a:srgbClr val="FFFFFF"/>
                  </a:solidFill>
                  <a:round/>
                </a:ln>
              </p:spPr>
            </p:sp>
            <p:sp>
              <p:nvSpPr>
                <p:cNvPr id="8" name="Freeform 8"/>
                <p:cNvSpPr/>
                <p:nvPr/>
              </p:nvSpPr>
              <p:spPr>
                <a:xfrm>
                  <a:off x="777240" y="390763"/>
                  <a:ext cx="118110" cy="66437"/>
                </a:xfrm>
                <a:custGeom>
                  <a:avLst/>
                  <a:gdLst/>
                  <a:ahLst/>
                  <a:cxnLst/>
                  <a:rect l="l" t="t" r="r" b="b"/>
                  <a:pathLst>
                    <a:path w="118110" h="66437">
                      <a:moveTo>
                        <a:pt x="118110" y="66437"/>
                      </a:moveTo>
                      <a:lnTo>
                        <a:pt x="0" y="0"/>
                      </a:lnTo>
                    </a:path>
                  </a:pathLst>
                </a:custGeom>
                <a:noFill/>
                <a:ln w="24759" cap="rnd">
                  <a:solidFill>
                    <a:srgbClr val="FFFFFF"/>
                  </a:solidFill>
                  <a:round/>
                </a:ln>
              </p:spPr>
            </p:sp>
          </p:grpSp>
        </p:grpSp>
        <p:sp>
          <p:nvSpPr>
            <p:cNvPr id="11" name="TextBox 11"/>
            <p:cNvSpPr txBox="1"/>
            <p:nvPr/>
          </p:nvSpPr>
          <p:spPr>
            <a:xfrm>
              <a:off x="1299972" y="282892"/>
              <a:ext cx="364138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IoT backend nedir?</a:t>
              </a:r>
            </a:p>
          </p:txBody>
        </p:sp>
      </p:grpSp>
      <p:grpSp>
        <p:nvGrpSpPr>
          <p:cNvPr id="18" name="definition-card"/>
          <p:cNvGrpSpPr/>
          <p:nvPr/>
        </p:nvGrpSpPr>
        <p:grpSpPr>
          <a:xfrm>
            <a:off x="609600" y="1181100"/>
            <a:ext cx="10972800" cy="1104900"/>
            <a:chOff x="609600" y="1181100"/>
            <a:chExt cx="10972800" cy="1104900"/>
          </a:xfrm>
        </p:grpSpPr>
        <p:sp>
          <p:nvSpPr>
            <p:cNvPr id="13" name="Rectangle 13"/>
            <p:cNvSpPr/>
            <p:nvPr/>
          </p:nvSpPr>
          <p:spPr>
            <a:xfrm>
              <a:off x="609600" y="1181100"/>
              <a:ext cx="10972800" cy="1104900"/>
            </a:xfrm>
            <a:prstGeom prst="roundRect">
              <a:avLst>
                <a:gd name="adj" fmla="val 8621"/>
              </a:avLst>
            </a:prstGeom>
            <a:solidFill>
              <a:srgbClr val="EAF4F6"/>
            </a:solidFill>
            <a:ln>
              <a:noFill/>
            </a:ln>
          </p:spPr>
        </p:sp>
        <p:sp>
          <p:nvSpPr>
            <p:cNvPr id="14" name="Rectangle 14"/>
            <p:cNvSpPr/>
            <p:nvPr/>
          </p:nvSpPr>
          <p:spPr>
            <a:xfrm>
              <a:off x="609600" y="1181100"/>
              <a:ext cx="57150" cy="1104900"/>
            </a:xfrm>
            <a:prstGeom prst="rect">
              <a:avLst/>
            </a:prstGeom>
            <a:solidFill>
              <a:srgbClr val="00A6A6"/>
            </a:solidFill>
            <a:ln>
              <a:noFill/>
            </a:ln>
          </p:spPr>
        </p:sp>
        <p:sp>
          <p:nvSpPr>
            <p:cNvPr id="15" name="TextBox 15"/>
            <p:cNvSpPr txBox="1"/>
            <p:nvPr/>
          </p:nvSpPr>
          <p:spPr>
            <a:xfrm>
              <a:off x="905256" y="1367790"/>
              <a:ext cx="7773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Tanım</a:t>
              </a:r>
            </a:p>
          </p:txBody>
        </p:sp>
        <p:sp>
          <p:nvSpPr>
            <p:cNvPr id="16" name="TextBox 16"/>
            <p:cNvSpPr txBox="1"/>
            <p:nvPr/>
          </p:nvSpPr>
          <p:spPr>
            <a:xfrm>
              <a:off x="906399" y="1696879"/>
              <a:ext cx="853139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Kısıtlı donanımdan (ESP32 gibi) gelen telemetriyi güvenle karşılayan, doğrulayan</a:t>
              </a:r>
            </a:p>
          </p:txBody>
        </p:sp>
        <p:sp>
          <p:nvSpPr>
            <p:cNvPr id="17" name="TextBox 17"/>
            <p:cNvSpPr txBox="1"/>
            <p:nvPr/>
          </p:nvSpPr>
          <p:spPr>
            <a:xfrm>
              <a:off x="906399" y="1944529"/>
              <a:ext cx="1060159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ve saklayan; kullanıcı arayüzü değil makineler arası (M2M) iletişim için tasarlanmış sunucu katmanı.</a:t>
              </a:r>
            </a:p>
          </p:txBody>
        </p:sp>
      </p:grpSp>
      <p:grpSp>
        <p:nvGrpSpPr>
          <p:cNvPr id="66" name="theory-columns"/>
          <p:cNvGrpSpPr/>
          <p:nvPr/>
        </p:nvGrpSpPr>
        <p:grpSpPr>
          <a:xfrm>
            <a:off x="603504" y="2571750"/>
            <a:ext cx="10260616" cy="3524250"/>
            <a:chOff x="603504" y="2571750"/>
            <a:chExt cx="10260616" cy="3524250"/>
          </a:xfrm>
        </p:grpSpPr>
        <p:grpSp>
          <p:nvGrpSpPr>
            <p:cNvPr id="37" name="col-constrained"/>
            <p:cNvGrpSpPr/>
            <p:nvPr/>
          </p:nvGrpSpPr>
          <p:grpSpPr>
            <a:xfrm>
              <a:off x="603504" y="2571750"/>
              <a:ext cx="2496905" cy="1629156"/>
              <a:chOff x="603504" y="2571750"/>
              <a:chExt cx="2496905" cy="1629156"/>
            </a:xfrm>
          </p:grpSpPr>
          <p:sp>
            <p:nvSpPr>
              <p:cNvPr id="19" name="Ellipse 19"/>
              <p:cNvSpPr/>
              <p:nvPr/>
            </p:nvSpPr>
            <p:spPr>
              <a:xfrm>
                <a:off x="666750" y="2571750"/>
                <a:ext cx="342900" cy="342900"/>
              </a:xfrm>
              <a:prstGeom prst="ellipse">
                <a:avLst/>
              </a:prstGeom>
              <a:solidFill>
                <a:srgbClr val="12355B"/>
              </a:solidFill>
              <a:ln>
                <a:noFill/>
              </a:ln>
            </p:spPr>
          </p:sp>
          <p:grpSp>
            <p:nvGrpSpPr>
              <p:cNvPr id="30" name="icon-cpu-06"/>
              <p:cNvGrpSpPr/>
              <p:nvPr/>
            </p:nvGrpSpPr>
            <p:grpSpPr>
              <a:xfrm>
                <a:off x="766762" y="2671762"/>
                <a:ext cx="142868" cy="142868"/>
                <a:chOff x="766762" y="2671762"/>
                <a:chExt cx="142868" cy="142868"/>
              </a:xfrm>
            </p:grpSpPr>
            <p:sp>
              <p:nvSpPr>
                <p:cNvPr id="20" name="Freeform 20"/>
                <p:cNvSpPr/>
                <p:nvPr/>
              </p:nvSpPr>
              <p:spPr>
                <a:xfrm>
                  <a:off x="782636" y="2687636"/>
                  <a:ext cx="111121" cy="111121"/>
                </a:xfrm>
                <a:custGeom>
                  <a:avLst/>
                  <a:gdLst/>
                  <a:ahLst/>
                  <a:cxnLst/>
                  <a:rect l="l" t="t" r="r" b="b"/>
                  <a:pathLst>
                    <a:path w="111121" h="111121">
                      <a:moveTo>
                        <a:pt x="0" y="7937"/>
                      </a:moveTo>
                      <a:cubicBezTo>
                        <a:pt x="0" y="3554"/>
                        <a:pt x="3554" y="0"/>
                        <a:pt x="7937" y="0"/>
                      </a:cubicBezTo>
                      <a:lnTo>
                        <a:pt x="103183" y="0"/>
                      </a:lnTo>
                      <a:cubicBezTo>
                        <a:pt x="107567" y="0"/>
                        <a:pt x="111121" y="3554"/>
                        <a:pt x="111121" y="7937"/>
                      </a:cubicBezTo>
                      <a:lnTo>
                        <a:pt x="111121" y="103183"/>
                      </a:lnTo>
                      <a:cubicBezTo>
                        <a:pt x="111121" y="107567"/>
                        <a:pt x="107567" y="111121"/>
                        <a:pt x="103183" y="111121"/>
                      </a:cubicBezTo>
                      <a:lnTo>
                        <a:pt x="7937" y="111121"/>
                      </a:lnTo>
                      <a:cubicBezTo>
                        <a:pt x="3554" y="111121"/>
                        <a:pt x="0" y="107567"/>
                        <a:pt x="0" y="103183"/>
                      </a:cubicBezTo>
                      <a:lnTo>
                        <a:pt x="0" y="7937"/>
                      </a:lnTo>
                    </a:path>
                  </a:pathLst>
                </a:custGeom>
                <a:noFill/>
                <a:ln w="19049" cap="rnd">
                  <a:solidFill>
                    <a:srgbClr val="FFFFFF"/>
                  </a:solidFill>
                  <a:round/>
                </a:ln>
              </p:spPr>
            </p:sp>
            <p:sp>
              <p:nvSpPr>
                <p:cNvPr id="21" name="Freeform 21"/>
                <p:cNvSpPr/>
                <p:nvPr/>
              </p:nvSpPr>
              <p:spPr>
                <a:xfrm>
                  <a:off x="814385" y="2719385"/>
                  <a:ext cx="47623" cy="47623"/>
                </a:xfrm>
                <a:custGeom>
                  <a:avLst/>
                  <a:gdLst/>
                  <a:ahLst/>
                  <a:cxnLst/>
                  <a:rect l="l" t="t" r="r" b="b"/>
                  <a:pathLst>
                    <a:path w="47623" h="47623">
                      <a:moveTo>
                        <a:pt x="0" y="0"/>
                      </a:moveTo>
                      <a:lnTo>
                        <a:pt x="47623" y="0"/>
                      </a:lnTo>
                      <a:lnTo>
                        <a:pt x="47623" y="47623"/>
                      </a:lnTo>
                      <a:lnTo>
                        <a:pt x="0" y="47623"/>
                      </a:lnTo>
                      <a:lnTo>
                        <a:pt x="0" y="0"/>
                      </a:lnTo>
                    </a:path>
                  </a:pathLst>
                </a:custGeom>
                <a:noFill/>
                <a:ln w="19049" cap="rnd">
                  <a:solidFill>
                    <a:srgbClr val="FFFFFF"/>
                  </a:solidFill>
                  <a:round/>
                </a:ln>
              </p:spPr>
            </p:sp>
            <p:sp>
              <p:nvSpPr>
                <p:cNvPr id="22" name="Freeform 22"/>
                <p:cNvSpPr/>
                <p:nvPr/>
              </p:nvSpPr>
              <p:spPr>
                <a:xfrm>
                  <a:off x="766762" y="2727322"/>
                  <a:ext cx="15874" cy="9525"/>
                </a:xfrm>
                <a:custGeom>
                  <a:avLst/>
                  <a:gdLst/>
                  <a:ahLst/>
                  <a:cxnLst/>
                  <a:rect l="l" t="t" r="r" b="b"/>
                  <a:pathLst>
                    <a:path w="15874" h="9525">
                      <a:moveTo>
                        <a:pt x="0" y="0"/>
                      </a:moveTo>
                      <a:lnTo>
                        <a:pt x="15874" y="0"/>
                      </a:lnTo>
                    </a:path>
                  </a:pathLst>
                </a:custGeom>
                <a:noFill/>
                <a:ln w="19049" cap="rnd">
                  <a:solidFill>
                    <a:srgbClr val="FFFFFF"/>
                  </a:solidFill>
                  <a:round/>
                </a:ln>
              </p:spPr>
            </p:sp>
            <p:sp>
              <p:nvSpPr>
                <p:cNvPr id="23" name="Freeform 23"/>
                <p:cNvSpPr/>
                <p:nvPr/>
              </p:nvSpPr>
              <p:spPr>
                <a:xfrm>
                  <a:off x="766762" y="2759071"/>
                  <a:ext cx="15874" cy="9525"/>
                </a:xfrm>
                <a:custGeom>
                  <a:avLst/>
                  <a:gdLst/>
                  <a:ahLst/>
                  <a:cxnLst/>
                  <a:rect l="l" t="t" r="r" b="b"/>
                  <a:pathLst>
                    <a:path w="15874" h="9525">
                      <a:moveTo>
                        <a:pt x="0" y="0"/>
                      </a:moveTo>
                      <a:lnTo>
                        <a:pt x="15874" y="0"/>
                      </a:lnTo>
                    </a:path>
                  </a:pathLst>
                </a:custGeom>
                <a:noFill/>
                <a:ln w="19049" cap="rnd">
                  <a:solidFill>
                    <a:srgbClr val="FFFFFF"/>
                  </a:solidFill>
                  <a:round/>
                </a:ln>
              </p:spPr>
            </p:sp>
            <p:sp>
              <p:nvSpPr>
                <p:cNvPr id="24" name="Freeform 24"/>
                <p:cNvSpPr/>
                <p:nvPr/>
              </p:nvSpPr>
              <p:spPr>
                <a:xfrm>
                  <a:off x="822322" y="2671762"/>
                  <a:ext cx="9525" cy="15874"/>
                </a:xfrm>
                <a:custGeom>
                  <a:avLst/>
                  <a:gdLst/>
                  <a:ahLst/>
                  <a:cxnLst/>
                  <a:rect l="l" t="t" r="r" b="b"/>
                  <a:pathLst>
                    <a:path w="9525" h="15874">
                      <a:moveTo>
                        <a:pt x="0" y="0"/>
                      </a:moveTo>
                      <a:lnTo>
                        <a:pt x="0" y="15874"/>
                      </a:lnTo>
                    </a:path>
                  </a:pathLst>
                </a:custGeom>
                <a:noFill/>
                <a:ln w="19049" cap="rnd">
                  <a:solidFill>
                    <a:srgbClr val="FFFFFF"/>
                  </a:solidFill>
                  <a:round/>
                </a:ln>
              </p:spPr>
            </p:sp>
            <p:sp>
              <p:nvSpPr>
                <p:cNvPr id="25" name="Freeform 25"/>
                <p:cNvSpPr/>
                <p:nvPr/>
              </p:nvSpPr>
              <p:spPr>
                <a:xfrm>
                  <a:off x="854071" y="2671762"/>
                  <a:ext cx="9525" cy="15874"/>
                </a:xfrm>
                <a:custGeom>
                  <a:avLst/>
                  <a:gdLst/>
                  <a:ahLst/>
                  <a:cxnLst/>
                  <a:rect l="l" t="t" r="r" b="b"/>
                  <a:pathLst>
                    <a:path w="9525" h="15874">
                      <a:moveTo>
                        <a:pt x="0" y="0"/>
                      </a:moveTo>
                      <a:lnTo>
                        <a:pt x="0" y="15874"/>
                      </a:lnTo>
                    </a:path>
                  </a:pathLst>
                </a:custGeom>
                <a:noFill/>
                <a:ln w="19049" cap="rnd">
                  <a:solidFill>
                    <a:srgbClr val="FFFFFF"/>
                  </a:solidFill>
                  <a:round/>
                </a:ln>
              </p:spPr>
            </p:sp>
            <p:sp>
              <p:nvSpPr>
                <p:cNvPr id="26" name="Freeform 26"/>
                <p:cNvSpPr/>
                <p:nvPr/>
              </p:nvSpPr>
              <p:spPr>
                <a:xfrm>
                  <a:off x="893756" y="2727322"/>
                  <a:ext cx="15874" cy="9525"/>
                </a:xfrm>
                <a:custGeom>
                  <a:avLst/>
                  <a:gdLst/>
                  <a:ahLst/>
                  <a:cxnLst/>
                  <a:rect l="l" t="t" r="r" b="b"/>
                  <a:pathLst>
                    <a:path w="15874" h="9525">
                      <a:moveTo>
                        <a:pt x="15874" y="0"/>
                      </a:moveTo>
                      <a:lnTo>
                        <a:pt x="0" y="0"/>
                      </a:lnTo>
                    </a:path>
                  </a:pathLst>
                </a:custGeom>
                <a:noFill/>
                <a:ln w="19049" cap="rnd">
                  <a:solidFill>
                    <a:srgbClr val="FFFFFF"/>
                  </a:solidFill>
                  <a:round/>
                </a:ln>
              </p:spPr>
            </p:sp>
            <p:sp>
              <p:nvSpPr>
                <p:cNvPr id="27" name="Freeform 27"/>
                <p:cNvSpPr/>
                <p:nvPr/>
              </p:nvSpPr>
              <p:spPr>
                <a:xfrm>
                  <a:off x="893756" y="2759071"/>
                  <a:ext cx="15874" cy="9525"/>
                </a:xfrm>
                <a:custGeom>
                  <a:avLst/>
                  <a:gdLst/>
                  <a:ahLst/>
                  <a:cxnLst/>
                  <a:rect l="l" t="t" r="r" b="b"/>
                  <a:pathLst>
                    <a:path w="15874" h="9525">
                      <a:moveTo>
                        <a:pt x="15874" y="0"/>
                      </a:moveTo>
                      <a:lnTo>
                        <a:pt x="0" y="0"/>
                      </a:lnTo>
                    </a:path>
                  </a:pathLst>
                </a:custGeom>
                <a:noFill/>
                <a:ln w="19049" cap="rnd">
                  <a:solidFill>
                    <a:srgbClr val="FFFFFF"/>
                  </a:solidFill>
                  <a:round/>
                </a:ln>
              </p:spPr>
            </p:sp>
            <p:sp>
              <p:nvSpPr>
                <p:cNvPr id="28" name="Freeform 28"/>
                <p:cNvSpPr/>
                <p:nvPr/>
              </p:nvSpPr>
              <p:spPr>
                <a:xfrm>
                  <a:off x="854071" y="2798756"/>
                  <a:ext cx="9525" cy="15874"/>
                </a:xfrm>
                <a:custGeom>
                  <a:avLst/>
                  <a:gdLst/>
                  <a:ahLst/>
                  <a:cxnLst/>
                  <a:rect l="l" t="t" r="r" b="b"/>
                  <a:pathLst>
                    <a:path w="9525" h="15874">
                      <a:moveTo>
                        <a:pt x="0" y="15874"/>
                      </a:moveTo>
                      <a:lnTo>
                        <a:pt x="0" y="0"/>
                      </a:lnTo>
                    </a:path>
                  </a:pathLst>
                </a:custGeom>
                <a:noFill/>
                <a:ln w="19049" cap="rnd">
                  <a:solidFill>
                    <a:srgbClr val="FFFFFF"/>
                  </a:solidFill>
                  <a:round/>
                </a:ln>
              </p:spPr>
            </p:sp>
            <p:sp>
              <p:nvSpPr>
                <p:cNvPr id="29" name="Freeform 29"/>
                <p:cNvSpPr/>
                <p:nvPr/>
              </p:nvSpPr>
              <p:spPr>
                <a:xfrm>
                  <a:off x="822322" y="2798756"/>
                  <a:ext cx="9525" cy="15874"/>
                </a:xfrm>
                <a:custGeom>
                  <a:avLst/>
                  <a:gdLst/>
                  <a:ahLst/>
                  <a:cxnLst/>
                  <a:rect l="l" t="t" r="r" b="b"/>
                  <a:pathLst>
                    <a:path w="9525" h="15874">
                      <a:moveTo>
                        <a:pt x="0" y="15874"/>
                      </a:moveTo>
                      <a:lnTo>
                        <a:pt x="0" y="0"/>
                      </a:lnTo>
                    </a:path>
                  </a:pathLst>
                </a:custGeom>
                <a:noFill/>
                <a:ln w="19049" cap="rnd">
                  <a:solidFill>
                    <a:srgbClr val="FFFFFF"/>
                  </a:solidFill>
                  <a:round/>
                </a:ln>
              </p:spPr>
            </p:sp>
          </p:grpSp>
          <p:sp>
            <p:nvSpPr>
              <p:cNvPr id="31" name="TextBox 31"/>
              <p:cNvSpPr txBox="1"/>
              <p:nvPr/>
            </p:nvSpPr>
            <p:spPr>
              <a:xfrm>
                <a:off x="1114044" y="2589848"/>
                <a:ext cx="1792194"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Kısıtlı cihaz</a:t>
                </a:r>
              </a:p>
            </p:txBody>
          </p:sp>
          <p:sp>
            <p:nvSpPr>
              <p:cNvPr id="32" name="TextBox 32"/>
              <p:cNvSpPr txBox="1"/>
              <p:nvPr/>
            </p:nvSpPr>
            <p:spPr>
              <a:xfrm>
                <a:off x="603504" y="3013710"/>
                <a:ext cx="249690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Sınırlı işlemci, bellek ve enerji</a:t>
                </a:r>
              </a:p>
            </p:txBody>
          </p:sp>
          <p:sp>
            <p:nvSpPr>
              <p:cNvPr id="33" name="TextBox 33"/>
              <p:cNvSpPr txBox="1"/>
              <p:nvPr/>
            </p:nvSpPr>
            <p:spPr>
              <a:xfrm>
                <a:off x="603504" y="3223260"/>
                <a:ext cx="224149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bütçesiyle çalışan donanım.</a:t>
                </a:r>
              </a:p>
            </p:txBody>
          </p:sp>
          <p:sp>
            <p:nvSpPr>
              <p:cNvPr id="34" name="TextBox 34"/>
              <p:cNvSpPr txBox="1"/>
              <p:nvPr/>
            </p:nvSpPr>
            <p:spPr>
              <a:xfrm>
                <a:off x="603504" y="3547110"/>
                <a:ext cx="208527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Karmaşık oturum yönetimi</a:t>
                </a:r>
              </a:p>
            </p:txBody>
          </p:sp>
          <p:sp>
            <p:nvSpPr>
              <p:cNvPr id="35" name="TextBox 35"/>
              <p:cNvSpPr txBox="1"/>
              <p:nvPr/>
            </p:nvSpPr>
            <p:spPr>
              <a:xfrm>
                <a:off x="603504" y="3756660"/>
                <a:ext cx="236265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veya ağır şifreleme yapamaz;</a:t>
                </a:r>
              </a:p>
            </p:txBody>
          </p:sp>
          <p:sp>
            <p:nvSpPr>
              <p:cNvPr id="36" name="TextBox 36"/>
              <p:cNvSpPr txBox="1"/>
              <p:nvPr/>
            </p:nvSpPr>
            <p:spPr>
              <a:xfrm>
                <a:off x="603504" y="3966210"/>
                <a:ext cx="211226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bu yük backend'e taşınır.</a:t>
                </a:r>
              </a:p>
            </p:txBody>
          </p:sp>
        </p:grpSp>
        <p:sp>
          <p:nvSpPr>
            <p:cNvPr id="38" name="Line 38"/>
            <p:cNvSpPr/>
            <p:nvPr/>
          </p:nvSpPr>
          <p:spPr>
            <a:xfrm>
              <a:off x="4305300" y="2667000"/>
              <a:ext cx="9525" cy="3429000"/>
            </a:xfrm>
            <a:custGeom>
              <a:avLst/>
              <a:gdLst/>
              <a:ahLst/>
              <a:cxnLst/>
              <a:rect l="l" t="t" r="r" b="b"/>
              <a:pathLst>
                <a:path w="9525" h="3429000">
                  <a:moveTo>
                    <a:pt x="0" y="0"/>
                  </a:moveTo>
                  <a:lnTo>
                    <a:pt x="0" y="3429000"/>
                  </a:lnTo>
                </a:path>
              </a:pathLst>
            </a:custGeom>
            <a:noFill/>
            <a:ln w="9525">
              <a:solidFill>
                <a:srgbClr val="B8CBD3"/>
              </a:solidFill>
            </a:ln>
          </p:spPr>
        </p:sp>
        <p:grpSp>
          <p:nvGrpSpPr>
            <p:cNvPr id="52" name="col-coap"/>
            <p:cNvGrpSpPr/>
            <p:nvPr/>
          </p:nvGrpSpPr>
          <p:grpSpPr>
            <a:xfrm>
              <a:off x="4565904" y="2571750"/>
              <a:ext cx="2697909" cy="1514856"/>
              <a:chOff x="4565904" y="2571750"/>
              <a:chExt cx="2697909" cy="1514856"/>
            </a:xfrm>
          </p:grpSpPr>
          <p:sp>
            <p:nvSpPr>
              <p:cNvPr id="39" name="Ellipse 39"/>
              <p:cNvSpPr/>
              <p:nvPr/>
            </p:nvSpPr>
            <p:spPr>
              <a:xfrm>
                <a:off x="4629150" y="2571750"/>
                <a:ext cx="342900" cy="342900"/>
              </a:xfrm>
              <a:prstGeom prst="ellipse">
                <a:avLst/>
              </a:prstGeom>
              <a:solidFill>
                <a:srgbClr val="12355B"/>
              </a:solidFill>
              <a:ln>
                <a:noFill/>
              </a:ln>
            </p:spPr>
          </p:sp>
          <p:grpSp>
            <p:nvGrpSpPr>
              <p:cNvPr id="45" name="icon-world-06"/>
              <p:cNvGrpSpPr/>
              <p:nvPr/>
            </p:nvGrpSpPr>
            <p:grpSpPr>
              <a:xfrm>
                <a:off x="4729162" y="2671762"/>
                <a:ext cx="142869" cy="142869"/>
                <a:chOff x="4729162" y="2671762"/>
                <a:chExt cx="142869" cy="142869"/>
              </a:xfrm>
            </p:grpSpPr>
            <p:sp>
              <p:nvSpPr>
                <p:cNvPr id="40" name="Freeform 40"/>
                <p:cNvSpPr/>
                <p:nvPr/>
              </p:nvSpPr>
              <p:spPr>
                <a:xfrm>
                  <a:off x="4729162" y="2671762"/>
                  <a:ext cx="142869" cy="142869"/>
                </a:xfrm>
                <a:custGeom>
                  <a:avLst/>
                  <a:gdLst/>
                  <a:ahLst/>
                  <a:cxnLst/>
                  <a:rect l="l" t="t" r="r" b="b"/>
                  <a:pathLst>
                    <a:path w="142869" h="142869">
                      <a:moveTo>
                        <a:pt x="0" y="71435"/>
                      </a:moveTo>
                      <a:cubicBezTo>
                        <a:pt x="0" y="110887"/>
                        <a:pt x="31982" y="142869"/>
                        <a:pt x="71435" y="142869"/>
                      </a:cubicBezTo>
                      <a:cubicBezTo>
                        <a:pt x="110887" y="142869"/>
                        <a:pt x="142869" y="110887"/>
                        <a:pt x="142869" y="71435"/>
                      </a:cubicBezTo>
                      <a:cubicBezTo>
                        <a:pt x="142869" y="31982"/>
                        <a:pt x="110887" y="0"/>
                        <a:pt x="71435" y="0"/>
                      </a:cubicBezTo>
                      <a:cubicBezTo>
                        <a:pt x="31982" y="0"/>
                        <a:pt x="0" y="31982"/>
                        <a:pt x="0" y="71435"/>
                      </a:cubicBezTo>
                    </a:path>
                  </a:pathLst>
                </a:custGeom>
                <a:noFill/>
                <a:ln w="19049" cap="rnd">
                  <a:solidFill>
                    <a:srgbClr val="FFFFFF"/>
                  </a:solidFill>
                  <a:round/>
                </a:ln>
              </p:spPr>
            </p:sp>
            <p:sp>
              <p:nvSpPr>
                <p:cNvPr id="41" name="Freeform 41"/>
                <p:cNvSpPr/>
                <p:nvPr/>
              </p:nvSpPr>
              <p:spPr>
                <a:xfrm>
                  <a:off x="4733924" y="2719385"/>
                  <a:ext cx="133345" cy="9525"/>
                </a:xfrm>
                <a:custGeom>
                  <a:avLst/>
                  <a:gdLst/>
                  <a:ahLst/>
                  <a:cxnLst/>
                  <a:rect l="l" t="t" r="r" b="b"/>
                  <a:pathLst>
                    <a:path w="133345" h="9525">
                      <a:moveTo>
                        <a:pt x="0" y="0"/>
                      </a:moveTo>
                      <a:lnTo>
                        <a:pt x="133345" y="0"/>
                      </a:lnTo>
                    </a:path>
                  </a:pathLst>
                </a:custGeom>
                <a:noFill/>
                <a:ln w="19049" cap="rnd">
                  <a:solidFill>
                    <a:srgbClr val="FFFFFF"/>
                  </a:solidFill>
                  <a:round/>
                </a:ln>
              </p:spPr>
            </p:sp>
            <p:sp>
              <p:nvSpPr>
                <p:cNvPr id="42" name="Freeform 42"/>
                <p:cNvSpPr/>
                <p:nvPr/>
              </p:nvSpPr>
              <p:spPr>
                <a:xfrm>
                  <a:off x="4733924" y="2767008"/>
                  <a:ext cx="133345" cy="9525"/>
                </a:xfrm>
                <a:custGeom>
                  <a:avLst/>
                  <a:gdLst/>
                  <a:ahLst/>
                  <a:cxnLst/>
                  <a:rect l="l" t="t" r="r" b="b"/>
                  <a:pathLst>
                    <a:path w="133345" h="9525">
                      <a:moveTo>
                        <a:pt x="0" y="0"/>
                      </a:moveTo>
                      <a:lnTo>
                        <a:pt x="133345" y="0"/>
                      </a:lnTo>
                    </a:path>
                  </a:pathLst>
                </a:custGeom>
                <a:noFill/>
                <a:ln w="19049" cap="rnd">
                  <a:solidFill>
                    <a:srgbClr val="FFFFFF"/>
                  </a:solidFill>
                  <a:round/>
                </a:ln>
              </p:spPr>
            </p:sp>
            <p:sp>
              <p:nvSpPr>
                <p:cNvPr id="43" name="Freeform 43"/>
                <p:cNvSpPr/>
                <p:nvPr/>
              </p:nvSpPr>
              <p:spPr>
                <a:xfrm>
                  <a:off x="4769347" y="2671762"/>
                  <a:ext cx="27281" cy="142869"/>
                </a:xfrm>
                <a:custGeom>
                  <a:avLst/>
                  <a:gdLst/>
                  <a:ahLst/>
                  <a:cxnLst/>
                  <a:rect l="l" t="t" r="r" b="b"/>
                  <a:pathLst>
                    <a:path w="27281" h="142869">
                      <a:moveTo>
                        <a:pt x="27281" y="0"/>
                      </a:moveTo>
                      <a:cubicBezTo>
                        <a:pt x="0" y="43716"/>
                        <a:pt x="0" y="99153"/>
                        <a:pt x="27281" y="142869"/>
                      </a:cubicBezTo>
                    </a:path>
                  </a:pathLst>
                </a:custGeom>
                <a:noFill/>
                <a:ln w="19049" cap="rnd">
                  <a:solidFill>
                    <a:srgbClr val="FFFFFF"/>
                  </a:solidFill>
                  <a:round/>
                </a:ln>
              </p:spPr>
            </p:sp>
            <p:sp>
              <p:nvSpPr>
                <p:cNvPr id="44" name="Freeform 44"/>
                <p:cNvSpPr/>
                <p:nvPr/>
              </p:nvSpPr>
              <p:spPr>
                <a:xfrm>
                  <a:off x="4804565" y="2671762"/>
                  <a:ext cx="27281" cy="142869"/>
                </a:xfrm>
                <a:custGeom>
                  <a:avLst/>
                  <a:gdLst/>
                  <a:ahLst/>
                  <a:cxnLst/>
                  <a:rect l="l" t="t" r="r" b="b"/>
                  <a:pathLst>
                    <a:path w="27281" h="142869">
                      <a:moveTo>
                        <a:pt x="0" y="0"/>
                      </a:moveTo>
                      <a:cubicBezTo>
                        <a:pt x="27281" y="43716"/>
                        <a:pt x="27281" y="99153"/>
                        <a:pt x="0" y="142869"/>
                      </a:cubicBezTo>
                    </a:path>
                  </a:pathLst>
                </a:custGeom>
                <a:noFill/>
                <a:ln w="19049" cap="rnd">
                  <a:solidFill>
                    <a:srgbClr val="FFFFFF"/>
                  </a:solidFill>
                  <a:round/>
                </a:ln>
              </p:spPr>
            </p:sp>
          </p:grpSp>
          <p:sp>
            <p:nvSpPr>
              <p:cNvPr id="46" name="TextBox 46"/>
              <p:cNvSpPr txBox="1"/>
              <p:nvPr/>
            </p:nvSpPr>
            <p:spPr>
              <a:xfrm>
                <a:off x="5076444" y="2589848"/>
                <a:ext cx="2187369"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CoAP / RFC 7252</a:t>
                </a:r>
              </a:p>
            </p:txBody>
          </p:sp>
          <p:sp>
            <p:nvSpPr>
              <p:cNvPr id="47" name="TextBox 47"/>
              <p:cNvSpPr txBox="1"/>
              <p:nvPr/>
            </p:nvSpPr>
            <p:spPr>
              <a:xfrm>
                <a:off x="4565904" y="3013710"/>
                <a:ext cx="269079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Kısıtlı ortamlar için tasarlanmış</a:t>
                </a:r>
              </a:p>
            </p:txBody>
          </p:sp>
          <p:sp>
            <p:nvSpPr>
              <p:cNvPr id="48" name="TextBox 48"/>
              <p:cNvSpPr txBox="1"/>
              <p:nvPr/>
            </p:nvSpPr>
            <p:spPr>
              <a:xfrm>
                <a:off x="4565904" y="3223260"/>
                <a:ext cx="207187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hafif protokol standardı;</a:t>
                </a:r>
              </a:p>
            </p:txBody>
          </p:sp>
          <p:sp>
            <p:nvSpPr>
              <p:cNvPr id="49" name="TextBox 49"/>
              <p:cNvSpPr txBox="1"/>
              <p:nvPr/>
            </p:nvSpPr>
            <p:spPr>
              <a:xfrm>
                <a:off x="4565904" y="3432810"/>
                <a:ext cx="247102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HTTP/JSON'a alternatif bir yol</a:t>
                </a:r>
              </a:p>
            </p:txBody>
          </p:sp>
          <p:sp>
            <p:nvSpPr>
              <p:cNvPr id="50" name="TextBox 50"/>
              <p:cNvSpPr txBox="1"/>
              <p:nvPr/>
            </p:nvSpPr>
            <p:spPr>
              <a:xfrm>
                <a:off x="4565904" y="3642360"/>
                <a:ext cx="259187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gösterir. Bu bölümde HTTP/JSON</a:t>
                </a:r>
              </a:p>
            </p:txBody>
          </p:sp>
          <p:sp>
            <p:nvSpPr>
              <p:cNvPr id="51" name="TextBox 51"/>
              <p:cNvSpPr txBox="1"/>
              <p:nvPr/>
            </p:nvSpPr>
            <p:spPr>
              <a:xfrm>
                <a:off x="4565904" y="3851910"/>
                <a:ext cx="265343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tercih edilir; kavramlar aynıdır.</a:t>
                </a:r>
              </a:p>
            </p:txBody>
          </p:sp>
        </p:grpSp>
        <p:sp>
          <p:nvSpPr>
            <p:cNvPr id="53" name="Line 53"/>
            <p:cNvSpPr/>
            <p:nvPr/>
          </p:nvSpPr>
          <p:spPr>
            <a:xfrm>
              <a:off x="8267700" y="2667000"/>
              <a:ext cx="9525" cy="3429000"/>
            </a:xfrm>
            <a:custGeom>
              <a:avLst/>
              <a:gdLst/>
              <a:ahLst/>
              <a:cxnLst/>
              <a:rect l="l" t="t" r="r" b="b"/>
              <a:pathLst>
                <a:path w="9525" h="3429000">
                  <a:moveTo>
                    <a:pt x="0" y="0"/>
                  </a:moveTo>
                  <a:lnTo>
                    <a:pt x="0" y="3429000"/>
                  </a:lnTo>
                </a:path>
              </a:pathLst>
            </a:custGeom>
            <a:noFill/>
            <a:ln w="9525">
              <a:solidFill>
                <a:srgbClr val="B8CBD3"/>
              </a:solidFill>
            </a:ln>
          </p:spPr>
        </p:sp>
        <p:grpSp>
          <p:nvGrpSpPr>
            <p:cNvPr id="65" name="col-trust"/>
            <p:cNvGrpSpPr/>
            <p:nvPr/>
          </p:nvGrpSpPr>
          <p:grpSpPr>
            <a:xfrm>
              <a:off x="8528304" y="2571750"/>
              <a:ext cx="2335816" cy="1514856"/>
              <a:chOff x="8528304" y="2571750"/>
              <a:chExt cx="2335816" cy="1514856"/>
            </a:xfrm>
          </p:grpSpPr>
          <p:sp>
            <p:nvSpPr>
              <p:cNvPr id="54" name="Ellipse 54"/>
              <p:cNvSpPr/>
              <p:nvPr/>
            </p:nvSpPr>
            <p:spPr>
              <a:xfrm>
                <a:off x="8591550" y="2571750"/>
                <a:ext cx="342900" cy="342900"/>
              </a:xfrm>
              <a:prstGeom prst="ellipse">
                <a:avLst/>
              </a:prstGeom>
              <a:solidFill>
                <a:srgbClr val="00A6A6"/>
              </a:solidFill>
              <a:ln>
                <a:noFill/>
              </a:ln>
            </p:spPr>
          </p:sp>
          <p:grpSp>
            <p:nvGrpSpPr>
              <p:cNvPr id="58" name="icon-lock-06"/>
              <p:cNvGrpSpPr/>
              <p:nvPr/>
            </p:nvGrpSpPr>
            <p:grpSpPr>
              <a:xfrm>
                <a:off x="8707436" y="2663824"/>
                <a:ext cx="111121" cy="150807"/>
                <a:chOff x="8707436" y="2663824"/>
                <a:chExt cx="111121" cy="150807"/>
              </a:xfrm>
            </p:grpSpPr>
            <p:sp>
              <p:nvSpPr>
                <p:cNvPr id="55" name="Freeform 55"/>
                <p:cNvSpPr/>
                <p:nvPr/>
              </p:nvSpPr>
              <p:spPr>
                <a:xfrm>
                  <a:off x="8707436" y="2735259"/>
                  <a:ext cx="111121" cy="79372"/>
                </a:xfrm>
                <a:custGeom>
                  <a:avLst/>
                  <a:gdLst/>
                  <a:ahLst/>
                  <a:cxnLst/>
                  <a:rect l="l" t="t" r="r" b="b"/>
                  <a:pathLst>
                    <a:path w="111121" h="79372">
                      <a:moveTo>
                        <a:pt x="0" y="15874"/>
                      </a:moveTo>
                      <a:cubicBezTo>
                        <a:pt x="0" y="7107"/>
                        <a:pt x="7107" y="0"/>
                        <a:pt x="15874" y="0"/>
                      </a:cubicBezTo>
                      <a:lnTo>
                        <a:pt x="95246" y="0"/>
                      </a:lnTo>
                      <a:cubicBezTo>
                        <a:pt x="104013" y="0"/>
                        <a:pt x="111121" y="7107"/>
                        <a:pt x="111121" y="15874"/>
                      </a:cubicBezTo>
                      <a:lnTo>
                        <a:pt x="111121" y="63497"/>
                      </a:lnTo>
                      <a:cubicBezTo>
                        <a:pt x="111121" y="72265"/>
                        <a:pt x="104013" y="79372"/>
                        <a:pt x="95246" y="79372"/>
                      </a:cubicBezTo>
                      <a:lnTo>
                        <a:pt x="15874" y="79372"/>
                      </a:lnTo>
                      <a:cubicBezTo>
                        <a:pt x="7107" y="79372"/>
                        <a:pt x="0" y="72265"/>
                        <a:pt x="0" y="63497"/>
                      </a:cubicBezTo>
                      <a:lnTo>
                        <a:pt x="0" y="15874"/>
                      </a:lnTo>
                    </a:path>
                  </a:pathLst>
                </a:custGeom>
                <a:noFill/>
                <a:ln w="19049" cap="rnd">
                  <a:solidFill>
                    <a:srgbClr val="FFFFFF"/>
                  </a:solidFill>
                  <a:round/>
                </a:ln>
              </p:spPr>
            </p:sp>
            <p:sp>
              <p:nvSpPr>
                <p:cNvPr id="56" name="Freeform 56"/>
                <p:cNvSpPr/>
                <p:nvPr/>
              </p:nvSpPr>
              <p:spPr>
                <a:xfrm>
                  <a:off x="8755059" y="2767008"/>
                  <a:ext cx="15874" cy="15874"/>
                </a:xfrm>
                <a:custGeom>
                  <a:avLst/>
                  <a:gdLst/>
                  <a:ahLst/>
                  <a:cxnLst/>
                  <a:rect l="l" t="t" r="r" b="b"/>
                  <a:pathLst>
                    <a:path w="15874" h="15874">
                      <a:moveTo>
                        <a:pt x="0" y="7937"/>
                      </a:moveTo>
                      <a:cubicBezTo>
                        <a:pt x="0" y="12321"/>
                        <a:pt x="3554" y="15874"/>
                        <a:pt x="7937" y="15874"/>
                      </a:cubicBezTo>
                      <a:cubicBezTo>
                        <a:pt x="12321" y="15874"/>
                        <a:pt x="15874" y="12321"/>
                        <a:pt x="15874" y="7937"/>
                      </a:cubicBezTo>
                      <a:cubicBezTo>
                        <a:pt x="15874" y="3554"/>
                        <a:pt x="12321" y="0"/>
                        <a:pt x="7937" y="0"/>
                      </a:cubicBezTo>
                      <a:cubicBezTo>
                        <a:pt x="3554" y="0"/>
                        <a:pt x="0" y="3554"/>
                        <a:pt x="0" y="7937"/>
                      </a:cubicBezTo>
                    </a:path>
                  </a:pathLst>
                </a:custGeom>
                <a:noFill/>
                <a:ln w="19049" cap="rnd">
                  <a:solidFill>
                    <a:srgbClr val="FFFFFF"/>
                  </a:solidFill>
                  <a:round/>
                </a:ln>
              </p:spPr>
            </p:sp>
            <p:sp>
              <p:nvSpPr>
                <p:cNvPr id="57" name="Freeform 57"/>
                <p:cNvSpPr/>
                <p:nvPr/>
              </p:nvSpPr>
              <p:spPr>
                <a:xfrm>
                  <a:off x="8731247" y="2663824"/>
                  <a:ext cx="63497" cy="71435"/>
                </a:xfrm>
                <a:custGeom>
                  <a:avLst/>
                  <a:gdLst/>
                  <a:ahLst/>
                  <a:cxnLst/>
                  <a:rect l="l" t="t" r="r" b="b"/>
                  <a:pathLst>
                    <a:path w="63497" h="71435">
                      <a:moveTo>
                        <a:pt x="0" y="71435"/>
                      </a:moveTo>
                      <a:lnTo>
                        <a:pt x="0" y="31749"/>
                      </a:lnTo>
                      <a:cubicBezTo>
                        <a:pt x="0" y="14214"/>
                        <a:pt x="14214" y="0"/>
                        <a:pt x="31749" y="0"/>
                      </a:cubicBezTo>
                      <a:cubicBezTo>
                        <a:pt x="49283" y="0"/>
                        <a:pt x="63497" y="14214"/>
                        <a:pt x="63497" y="31749"/>
                      </a:cubicBezTo>
                    </a:path>
                  </a:pathLst>
                </a:custGeom>
                <a:noFill/>
                <a:ln w="19049" cap="rnd">
                  <a:solidFill>
                    <a:srgbClr val="FFFFFF"/>
                  </a:solidFill>
                  <a:round/>
                </a:ln>
              </p:spPr>
            </p:sp>
          </p:grpSp>
          <p:sp>
            <p:nvSpPr>
              <p:cNvPr id="59" name="TextBox 59"/>
              <p:cNvSpPr txBox="1"/>
              <p:nvPr/>
            </p:nvSpPr>
            <p:spPr>
              <a:xfrm>
                <a:off x="9038844" y="2589848"/>
                <a:ext cx="1779097"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Güven sınırı</a:t>
                </a:r>
              </a:p>
            </p:txBody>
          </p:sp>
          <p:sp>
            <p:nvSpPr>
              <p:cNvPr id="60" name="TextBox 60"/>
              <p:cNvSpPr txBox="1"/>
              <p:nvPr/>
            </p:nvSpPr>
            <p:spPr>
              <a:xfrm>
                <a:off x="8528304" y="3013710"/>
                <a:ext cx="21334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Cihaz ile sunucu arasındaki</a:t>
                </a:r>
              </a:p>
            </p:txBody>
          </p:sp>
          <p:sp>
            <p:nvSpPr>
              <p:cNvPr id="61" name="TextBox 61"/>
              <p:cNvSpPr txBox="1"/>
              <p:nvPr/>
            </p:nvSpPr>
            <p:spPr>
              <a:xfrm>
                <a:off x="8528304" y="3223260"/>
                <a:ext cx="216880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ağ, güvenilmez kabul edilir.</a:t>
                </a:r>
              </a:p>
            </p:txBody>
          </p:sp>
          <p:sp>
            <p:nvSpPr>
              <p:cNvPr id="62" name="TextBox 62"/>
              <p:cNvSpPr txBox="1"/>
              <p:nvPr/>
            </p:nvSpPr>
            <p:spPr>
              <a:xfrm>
                <a:off x="8528304" y="3432810"/>
                <a:ext cx="233581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Backend, sınırın koruyucusu</a:t>
                </a:r>
              </a:p>
            </p:txBody>
          </p:sp>
          <p:sp>
            <p:nvSpPr>
              <p:cNvPr id="63" name="TextBox 63"/>
              <p:cNvSpPr txBox="1"/>
              <p:nvPr/>
            </p:nvSpPr>
            <p:spPr>
              <a:xfrm>
                <a:off x="8528304" y="3642360"/>
                <a:ext cx="203956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olarak her isteği şüpheyle</a:t>
                </a:r>
              </a:p>
            </p:txBody>
          </p:sp>
          <p:sp>
            <p:nvSpPr>
              <p:cNvPr id="64" name="TextBox 64"/>
              <p:cNvSpPr txBox="1"/>
              <p:nvPr/>
            </p:nvSpPr>
            <p:spPr>
              <a:xfrm>
                <a:off x="8528304" y="3851910"/>
                <a:ext cx="191841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karşılamak zorundadır.</a:t>
                </a:r>
              </a:p>
            </p:txBody>
          </p:sp>
        </p:grpSp>
      </p:grpSp>
      <p:grpSp>
        <p:nvGrpSpPr>
          <p:cNvPr id="69" name="footer-note"/>
          <p:cNvGrpSpPr/>
          <p:nvPr/>
        </p:nvGrpSpPr>
        <p:grpSpPr>
          <a:xfrm>
            <a:off x="603504" y="6172200"/>
            <a:ext cx="10978896" cy="276606"/>
            <a:chOff x="603504" y="6172200"/>
            <a:chExt cx="10978896" cy="276606"/>
          </a:xfrm>
        </p:grpSpPr>
        <p:sp>
          <p:nvSpPr>
            <p:cNvPr id="67" name="Line 67"/>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68" name="TextBox 68"/>
            <p:cNvSpPr txBox="1"/>
            <p:nvPr/>
          </p:nvSpPr>
          <p:spPr>
            <a:xfrm>
              <a:off x="603504" y="6214110"/>
              <a:ext cx="581086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Bu bölümde HTTP/JSON tabanlı bir sensör API'si üzerinden ilerlenecektir.</a:t>
              </a:r>
            </a:p>
          </p:txBody>
        </p:sp>
      </p:grpSp>
      <p:sp>
        <p:nvSpPr>
          <p:cNvPr id="70" name="TextBox 7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24</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240183" cy="668845"/>
            <a:chOff x="609600" y="171450"/>
            <a:chExt cx="724018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654981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16.1: Saf (naif) ilk yaklaşım</a:t>
              </a:r>
            </a:p>
          </p:txBody>
        </p:sp>
      </p:grpSp>
      <p:grpSp>
        <p:nvGrpSpPr>
          <p:cNvPr id="30" name="code-panel"/>
          <p:cNvGrpSpPr/>
          <p:nvPr/>
        </p:nvGrpSpPr>
        <p:grpSpPr>
          <a:xfrm>
            <a:off x="609600" y="1181100"/>
            <a:ext cx="5905500" cy="3810000"/>
            <a:chOff x="609600" y="1181100"/>
            <a:chExt cx="5905500" cy="3810000"/>
          </a:xfrm>
        </p:grpSpPr>
        <p:sp>
          <p:nvSpPr>
            <p:cNvPr id="12" name="Rectangle 12"/>
            <p:cNvSpPr/>
            <p:nvPr/>
          </p:nvSpPr>
          <p:spPr>
            <a:xfrm>
              <a:off x="609600" y="1181100"/>
              <a:ext cx="5905500" cy="3810000"/>
            </a:xfrm>
            <a:prstGeom prst="roundRect">
              <a:avLst>
                <a:gd name="adj" fmla="val 2000"/>
              </a:avLst>
            </a:prstGeom>
            <a:solidFill>
              <a:srgbClr val="12355B"/>
            </a:solidFill>
            <a:ln>
              <a:noFill/>
            </a:ln>
          </p:spPr>
        </p:sp>
        <p:sp>
          <p:nvSpPr>
            <p:cNvPr id="13" name="Ellipse 13"/>
            <p:cNvSpPr/>
            <p:nvPr/>
          </p:nvSpPr>
          <p:spPr>
            <a:xfrm>
              <a:off x="800100" y="1371600"/>
              <a:ext cx="114300" cy="114300"/>
            </a:xfrm>
            <a:prstGeom prst="ellipse">
              <a:avLst/>
            </a:prstGeom>
            <a:solidFill>
              <a:srgbClr val="EAF4F6"/>
            </a:solidFill>
            <a:ln>
              <a:noFill/>
            </a:ln>
          </p:spPr>
        </p:sp>
        <p:sp>
          <p:nvSpPr>
            <p:cNvPr id="14" name="Ellipse 14"/>
            <p:cNvSpPr/>
            <p:nvPr/>
          </p:nvSpPr>
          <p:spPr>
            <a:xfrm>
              <a:off x="1009650" y="1371600"/>
              <a:ext cx="114300" cy="114300"/>
            </a:xfrm>
            <a:prstGeom prst="ellipse">
              <a:avLst/>
            </a:prstGeom>
            <a:solidFill>
              <a:srgbClr val="EAF4F6"/>
            </a:solidFill>
            <a:ln>
              <a:noFill/>
            </a:ln>
          </p:spPr>
        </p:sp>
        <p:sp>
          <p:nvSpPr>
            <p:cNvPr id="15" name="Ellipse 15"/>
            <p:cNvSpPr/>
            <p:nvPr/>
          </p:nvSpPr>
          <p:spPr>
            <a:xfrm>
              <a:off x="1219200" y="1371600"/>
              <a:ext cx="114300" cy="114300"/>
            </a:xfrm>
            <a:prstGeom prst="ellipse">
              <a:avLst/>
            </a:prstGeom>
            <a:solidFill>
              <a:srgbClr val="EAF4F6"/>
            </a:solidFill>
            <a:ln>
              <a:noFill/>
            </a:ln>
          </p:spPr>
        </p:sp>
        <p:sp>
          <p:nvSpPr>
            <p:cNvPr id="16" name="TextBox 16"/>
            <p:cNvSpPr txBox="1"/>
            <p:nvPr/>
          </p:nvSpPr>
          <p:spPr>
            <a:xfrm>
              <a:off x="794385" y="1669256"/>
              <a:ext cx="2592169"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function telemetriIsteginiIsle(</a:t>
              </a:r>
            </a:p>
          </p:txBody>
        </p:sp>
        <p:sp>
          <p:nvSpPr>
            <p:cNvPr id="17" name="TextBox 17"/>
            <p:cNvSpPr txBox="1"/>
            <p:nvPr/>
          </p:nvSpPr>
          <p:spPr>
            <a:xfrm>
              <a:off x="794385" y="1878806"/>
              <a:ext cx="1421171"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istek: unknown) {</a:t>
              </a:r>
            </a:p>
          </p:txBody>
        </p:sp>
        <p:sp>
          <p:nvSpPr>
            <p:cNvPr id="18" name="TextBox 18"/>
            <p:cNvSpPr txBox="1"/>
            <p:nvPr/>
          </p:nvSpPr>
          <p:spPr>
            <a:xfrm>
              <a:off x="984885" y="2107406"/>
              <a:ext cx="1752874"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const veri = istek as</a:t>
              </a:r>
            </a:p>
          </p:txBody>
        </p:sp>
        <p:sp>
          <p:nvSpPr>
            <p:cNvPr id="19" name="TextBox 19"/>
            <p:cNvSpPr txBox="1"/>
            <p:nvPr/>
          </p:nvSpPr>
          <p:spPr>
            <a:xfrm>
              <a:off x="984885" y="2316956"/>
              <a:ext cx="1348258"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TelemetriIstegi;</a:t>
              </a:r>
            </a:p>
          </p:txBody>
        </p:sp>
        <p:sp>
          <p:nvSpPr>
            <p:cNvPr id="20" name="TextBox 20"/>
            <p:cNvSpPr txBox="1"/>
            <p:nvPr/>
          </p:nvSpPr>
          <p:spPr>
            <a:xfrm>
              <a:off x="984885" y="2621756"/>
              <a:ext cx="2090166"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console.log(veri.cihazId,</a:t>
              </a:r>
            </a:p>
          </p:txBody>
        </p:sp>
        <p:sp>
          <p:nvSpPr>
            <p:cNvPr id="21" name="TextBox 21"/>
            <p:cNvSpPr txBox="1"/>
            <p:nvPr/>
          </p:nvSpPr>
          <p:spPr>
            <a:xfrm>
              <a:off x="984885" y="2831306"/>
              <a:ext cx="2084578"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veri.sicaklik, veri.nem);</a:t>
              </a:r>
            </a:p>
          </p:txBody>
        </p:sp>
        <p:sp>
          <p:nvSpPr>
            <p:cNvPr id="22" name="TextBox 22"/>
            <p:cNvSpPr txBox="1"/>
            <p:nvPr/>
          </p:nvSpPr>
          <p:spPr>
            <a:xfrm>
              <a:off x="984885" y="3040856"/>
              <a:ext cx="1918726"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return { kabul: true };</a:t>
              </a:r>
            </a:p>
          </p:txBody>
        </p:sp>
        <p:sp>
          <p:nvSpPr>
            <p:cNvPr id="23" name="TextBox 23"/>
            <p:cNvSpPr txBox="1"/>
            <p:nvPr/>
          </p:nvSpPr>
          <p:spPr>
            <a:xfrm>
              <a:off x="794385" y="3250406"/>
              <a:ext cx="94356"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a:t>
              </a:r>
            </a:p>
          </p:txBody>
        </p:sp>
        <p:sp>
          <p:nvSpPr>
            <p:cNvPr id="24" name="Line 24"/>
            <p:cNvSpPr/>
            <p:nvPr/>
          </p:nvSpPr>
          <p:spPr>
            <a:xfrm>
              <a:off x="800100" y="3600450"/>
              <a:ext cx="5524500" cy="9525"/>
            </a:xfrm>
            <a:custGeom>
              <a:avLst/>
              <a:gdLst/>
              <a:ahLst/>
              <a:cxnLst/>
              <a:rect l="l" t="t" r="r" b="b"/>
              <a:pathLst>
                <a:path w="5524500" h="9525">
                  <a:moveTo>
                    <a:pt x="0" y="0"/>
                  </a:moveTo>
                  <a:lnTo>
                    <a:pt x="5524500" y="0"/>
                  </a:lnTo>
                </a:path>
              </a:pathLst>
            </a:custGeom>
            <a:noFill/>
            <a:ln w="9525">
              <a:solidFill>
                <a:srgbClr val="2E86AB"/>
              </a:solidFill>
            </a:ln>
          </p:spPr>
        </p:sp>
        <p:sp>
          <p:nvSpPr>
            <p:cNvPr id="25" name="TextBox 25"/>
            <p:cNvSpPr txBox="1"/>
            <p:nvPr/>
          </p:nvSpPr>
          <p:spPr>
            <a:xfrm>
              <a:off x="794766" y="3734752"/>
              <a:ext cx="3056949" cy="205359"/>
            </a:xfrm>
            <a:prstGeom prst="rect">
              <a:avLst/>
            </a:prstGeom>
            <a:noFill/>
            <a:ln>
              <a:noFill/>
            </a:ln>
          </p:spPr>
          <p:txBody>
            <a:bodyPr wrap="none" lIns="0" tIns="0" rIns="0" bIns="0" anchor="t" anchorCtr="0">
              <a:spAutoFit/>
            </a:bodyPr>
            <a:lstStyle/>
            <a:p>
              <a:pPr algn="l"/>
              <a:r>
                <a:rPr lang="tr-TR" sz="1050" dirty="0">
                  <a:solidFill>
                    <a:srgbClr val="B8CBD3"/>
                  </a:solidFill>
                  <a:latin typeface="Consolas"/>
                  <a:ea typeface="Consolas"/>
                  <a:cs typeface="Consolas"/>
                </a:rPr>
                <a:t>// Çıktı: Cihaz: esp32-okuma-salonu-01,</a:t>
              </a:r>
            </a:p>
          </p:txBody>
        </p:sp>
        <p:sp>
          <p:nvSpPr>
            <p:cNvPr id="26" name="TextBox 26"/>
            <p:cNvSpPr txBox="1"/>
            <p:nvPr/>
          </p:nvSpPr>
          <p:spPr>
            <a:xfrm>
              <a:off x="794766" y="3925252"/>
              <a:ext cx="2454807" cy="205359"/>
            </a:xfrm>
            <a:prstGeom prst="rect">
              <a:avLst/>
            </a:prstGeom>
            <a:noFill/>
            <a:ln>
              <a:noFill/>
            </a:ln>
          </p:spPr>
          <p:txBody>
            <a:bodyPr wrap="none" lIns="0" tIns="0" rIns="0" bIns="0" anchor="t" anchorCtr="0">
              <a:spAutoFit/>
            </a:bodyPr>
            <a:lstStyle/>
            <a:p>
              <a:pPr algn="l"/>
              <a:r>
                <a:rPr lang="tr-TR" sz="1050" dirty="0">
                  <a:solidFill>
                    <a:srgbClr val="B8CBD3"/>
                  </a:solidFill>
                  <a:latin typeface="Consolas"/>
                  <a:ea typeface="Consolas"/>
                  <a:cs typeface="Consolas"/>
                </a:rPr>
                <a:t>// Sıcaklık: 21.5°C, Nem: %45.2</a:t>
              </a:r>
            </a:p>
          </p:txBody>
        </p:sp>
        <p:sp>
          <p:nvSpPr>
            <p:cNvPr id="27" name="TextBox 27"/>
            <p:cNvSpPr txBox="1"/>
            <p:nvPr/>
          </p:nvSpPr>
          <p:spPr>
            <a:xfrm>
              <a:off x="794766" y="4153852"/>
              <a:ext cx="1571396" cy="205359"/>
            </a:xfrm>
            <a:prstGeom prst="rect">
              <a:avLst/>
            </a:prstGeom>
            <a:noFill/>
            <a:ln>
              <a:noFill/>
            </a:ln>
          </p:spPr>
          <p:txBody>
            <a:bodyPr wrap="none" lIns="0" tIns="0" rIns="0" bIns="0" anchor="t" anchorCtr="0">
              <a:spAutoFit/>
            </a:bodyPr>
            <a:lstStyle/>
            <a:p>
              <a:pPr algn="l"/>
              <a:r>
                <a:rPr lang="tr-TR" sz="1050" dirty="0">
                  <a:solidFill>
                    <a:srgbClr val="B8CBD3"/>
                  </a:solidFill>
                  <a:latin typeface="Consolas"/>
                  <a:ea typeface="Consolas"/>
                  <a:cs typeface="Consolas"/>
                </a:rPr>
                <a:t>// Telemetri alındı.</a:t>
              </a:r>
            </a:p>
          </p:txBody>
        </p:sp>
        <p:sp>
          <p:nvSpPr>
            <p:cNvPr id="28" name="Rectangle 28"/>
            <p:cNvSpPr/>
            <p:nvPr/>
          </p:nvSpPr>
          <p:spPr>
            <a:xfrm>
              <a:off x="800100" y="4457700"/>
              <a:ext cx="5524500" cy="381000"/>
            </a:xfrm>
            <a:prstGeom prst="roundRect">
              <a:avLst>
                <a:gd name="adj" fmla="val 15000"/>
              </a:avLst>
            </a:prstGeom>
            <a:solidFill>
              <a:srgbClr val="2E1F1F"/>
            </a:solidFill>
            <a:ln>
              <a:noFill/>
            </a:ln>
          </p:spPr>
        </p:sp>
        <p:sp>
          <p:nvSpPr>
            <p:cNvPr id="29" name="TextBox 29"/>
            <p:cNvSpPr txBox="1"/>
            <p:nvPr/>
          </p:nvSpPr>
          <p:spPr>
            <a:xfrm>
              <a:off x="947166" y="4582478"/>
              <a:ext cx="3596970" cy="205359"/>
            </a:xfrm>
            <a:prstGeom prst="rect">
              <a:avLst/>
            </a:prstGeom>
            <a:noFill/>
            <a:ln>
              <a:noFill/>
            </a:ln>
          </p:spPr>
          <p:txBody>
            <a:bodyPr wrap="none" lIns="0" tIns="0" rIns="0" bIns="0" anchor="t" anchorCtr="0">
              <a:spAutoFit/>
            </a:bodyPr>
            <a:lstStyle/>
            <a:p>
              <a:pPr algn="l"/>
              <a:r>
                <a:rPr lang="tr-TR" sz="1050" dirty="0">
                  <a:solidFill>
                    <a:srgbClr val="F2B8B5"/>
                  </a:solidFill>
                  <a:latin typeface="Consolas"/>
                  <a:ea typeface="Consolas"/>
                  <a:cs typeface="Consolas"/>
                </a:rPr>
                <a:t>istek as TelemetriIstegi: gerçek doğrulama yok</a:t>
              </a:r>
            </a:p>
          </p:txBody>
        </p:sp>
      </p:grpSp>
      <p:grpSp>
        <p:nvGrpSpPr>
          <p:cNvPr id="56" name="risk-panel"/>
          <p:cNvGrpSpPr/>
          <p:nvPr/>
        </p:nvGrpSpPr>
        <p:grpSpPr>
          <a:xfrm>
            <a:off x="6772656" y="1234440"/>
            <a:ext cx="4276942" cy="2909316"/>
            <a:chOff x="6772656" y="1234440"/>
            <a:chExt cx="4276942" cy="2909316"/>
          </a:xfrm>
        </p:grpSpPr>
        <p:sp>
          <p:nvSpPr>
            <p:cNvPr id="31" name="TextBox 31"/>
            <p:cNvSpPr txBox="1"/>
            <p:nvPr/>
          </p:nvSpPr>
          <p:spPr>
            <a:xfrm>
              <a:off x="6772656" y="1234440"/>
              <a:ext cx="320725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Bu kodun taşıdığı üç risk</a:t>
              </a:r>
            </a:p>
          </p:txBody>
        </p:sp>
        <p:grpSp>
          <p:nvGrpSpPr>
            <p:cNvPr id="39" name="risk-1"/>
            <p:cNvGrpSpPr/>
            <p:nvPr/>
          </p:nvGrpSpPr>
          <p:grpSpPr>
            <a:xfrm>
              <a:off x="6800039" y="1720861"/>
              <a:ext cx="4249559" cy="670295"/>
              <a:chOff x="6800039" y="1720861"/>
              <a:chExt cx="4249559" cy="670295"/>
            </a:xfrm>
          </p:grpSpPr>
          <p:grpSp>
            <p:nvGrpSpPr>
              <p:cNvPr id="35" name="icon-risk-1"/>
              <p:cNvGrpSpPr/>
              <p:nvPr/>
            </p:nvGrpSpPr>
            <p:grpSpPr>
              <a:xfrm>
                <a:off x="6800039" y="1720861"/>
                <a:ext cx="192114" cy="165051"/>
                <a:chOff x="6800039" y="1720861"/>
                <a:chExt cx="192114" cy="165051"/>
              </a:xfrm>
            </p:grpSpPr>
            <p:sp>
              <p:nvSpPr>
                <p:cNvPr id="32" name="Freeform 32"/>
                <p:cNvSpPr/>
                <p:nvPr/>
              </p:nvSpPr>
              <p:spPr>
                <a:xfrm>
                  <a:off x="6896100" y="1781175"/>
                  <a:ext cx="9525" cy="38100"/>
                </a:xfrm>
                <a:custGeom>
                  <a:avLst/>
                  <a:gdLst/>
                  <a:ahLst/>
                  <a:cxnLst/>
                  <a:rect l="l" t="t" r="r" b="b"/>
                  <a:pathLst>
                    <a:path w="9525" h="38100">
                      <a:moveTo>
                        <a:pt x="0" y="0"/>
                      </a:moveTo>
                      <a:lnTo>
                        <a:pt x="0" y="38100"/>
                      </a:lnTo>
                    </a:path>
                  </a:pathLst>
                </a:custGeom>
                <a:noFill/>
                <a:ln w="19050" cap="rnd">
                  <a:solidFill>
                    <a:srgbClr val="00A6A6"/>
                  </a:solidFill>
                  <a:round/>
                </a:ln>
              </p:spPr>
            </p:sp>
            <p:sp>
              <p:nvSpPr>
                <p:cNvPr id="33" name="Freeform 33"/>
                <p:cNvSpPr/>
                <p:nvPr/>
              </p:nvSpPr>
              <p:spPr>
                <a:xfrm>
                  <a:off x="6800039" y="1720861"/>
                  <a:ext cx="192114" cy="165051"/>
                </a:xfrm>
                <a:custGeom>
                  <a:avLst/>
                  <a:gdLst/>
                  <a:ahLst/>
                  <a:cxnLst/>
                  <a:rect l="l" t="t" r="r" b="b"/>
                  <a:pathLst>
                    <a:path w="192114" h="165051">
                      <a:moveTo>
                        <a:pt x="80468" y="8794"/>
                      </a:moveTo>
                      <a:lnTo>
                        <a:pt x="3259" y="137705"/>
                      </a:lnTo>
                      <a:cubicBezTo>
                        <a:pt x="20" y="143314"/>
                        <a:pt x="0" y="150220"/>
                        <a:pt x="3207" y="155848"/>
                      </a:cubicBezTo>
                      <a:cubicBezTo>
                        <a:pt x="6413" y="161475"/>
                        <a:pt x="12365" y="164979"/>
                        <a:pt x="18842" y="165051"/>
                      </a:cubicBezTo>
                      <a:lnTo>
                        <a:pt x="173280" y="165051"/>
                      </a:lnTo>
                      <a:cubicBezTo>
                        <a:pt x="179753" y="164977"/>
                        <a:pt x="185702" y="161474"/>
                        <a:pt x="188908" y="155850"/>
                      </a:cubicBezTo>
                      <a:cubicBezTo>
                        <a:pt x="192114" y="150226"/>
                        <a:pt x="192097" y="143323"/>
                        <a:pt x="188863" y="137715"/>
                      </a:cubicBezTo>
                      <a:lnTo>
                        <a:pt x="111653" y="8784"/>
                      </a:lnTo>
                      <a:cubicBezTo>
                        <a:pt x="108349" y="3331"/>
                        <a:pt x="102437" y="0"/>
                        <a:pt x="96061" y="0"/>
                      </a:cubicBezTo>
                      <a:cubicBezTo>
                        <a:pt x="89685" y="0"/>
                        <a:pt x="83772" y="3331"/>
                        <a:pt x="80468" y="8784"/>
                      </a:cubicBezTo>
                    </a:path>
                  </a:pathLst>
                </a:custGeom>
                <a:noFill/>
                <a:ln w="19050" cap="rnd">
                  <a:solidFill>
                    <a:srgbClr val="00A6A6"/>
                  </a:solidFill>
                  <a:round/>
                </a:ln>
              </p:spPr>
            </p:sp>
            <p:sp>
              <p:nvSpPr>
                <p:cNvPr id="34" name="Freeform 34"/>
                <p:cNvSpPr/>
                <p:nvPr/>
              </p:nvSpPr>
              <p:spPr>
                <a:xfrm>
                  <a:off x="6896100" y="1847850"/>
                  <a:ext cx="9525" cy="9525"/>
                </a:xfrm>
                <a:custGeom>
                  <a:avLst/>
                  <a:gdLst/>
                  <a:ahLst/>
                  <a:cxnLst/>
                  <a:rect l="l" t="t" r="r" b="b"/>
                  <a:pathLst>
                    <a:path w="9525" h="9525">
                      <a:moveTo>
                        <a:pt x="0" y="0"/>
                      </a:moveTo>
                      <a:lnTo>
                        <a:pt x="95" y="0"/>
                      </a:lnTo>
                    </a:path>
                  </a:pathLst>
                </a:custGeom>
                <a:noFill/>
                <a:ln w="19050" cap="rnd">
                  <a:solidFill>
                    <a:srgbClr val="00A6A6"/>
                  </a:solidFill>
                  <a:round/>
                </a:ln>
              </p:spPr>
            </p:sp>
          </p:grpSp>
          <p:sp>
            <p:nvSpPr>
              <p:cNvPr id="36" name="TextBox 36"/>
              <p:cNvSpPr txBox="1"/>
              <p:nvPr/>
            </p:nvSpPr>
            <p:spPr>
              <a:xfrm>
                <a:off x="7117842" y="1721168"/>
                <a:ext cx="3931756" cy="264033"/>
              </a:xfrm>
              <a:prstGeom prst="rect">
                <a:avLst/>
              </a:prstGeom>
              <a:noFill/>
              <a:ln>
                <a:noFill/>
              </a:ln>
            </p:spPr>
            <p:txBody>
              <a:bodyPr wrap="none" lIns="0" tIns="0" rIns="0" bIns="0" anchor="t" anchorCtr="0">
                <a:spAutoFit/>
              </a:bodyPr>
              <a:lstStyle/>
              <a:p>
                <a:pPr algn="l"/>
                <a:r>
                  <a:rPr lang="tr-TR" sz="1350" b="1" dirty="0">
                    <a:solidFill>
                      <a:srgbClr val="172B3A"/>
                    </a:solidFill>
                    <a:latin typeface="+mn-lt"/>
                    <a:ea typeface="+mn-ea"/>
                    <a:cs typeface="+mn-cs"/>
                  </a:rPr>
                  <a:t>Type assertion, gerçek doğrulama değildir</a:t>
                </a:r>
              </a:p>
            </p:txBody>
          </p:sp>
          <p:sp>
            <p:nvSpPr>
              <p:cNvPr id="37" name="TextBox 37"/>
              <p:cNvSpPr txBox="1"/>
              <p:nvPr/>
            </p:nvSpPr>
            <p:spPr>
              <a:xfrm>
                <a:off x="7118604" y="1965960"/>
                <a:ext cx="367368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"as TelemetriIstegi" çalışma zamanında hiçbir</a:t>
                </a:r>
              </a:p>
            </p:txBody>
          </p:sp>
          <p:sp>
            <p:nvSpPr>
              <p:cNvPr id="38" name="TextBox 38"/>
              <p:cNvSpPr txBox="1"/>
              <p:nvPr/>
            </p:nvSpPr>
            <p:spPr>
              <a:xfrm>
                <a:off x="7118604" y="2156460"/>
                <a:ext cx="314614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alanı denetlemez; derleyiciyi susturur.</a:t>
                </a:r>
              </a:p>
            </p:txBody>
          </p:sp>
        </p:grpSp>
        <p:grpSp>
          <p:nvGrpSpPr>
            <p:cNvPr id="47" name="risk-2"/>
            <p:cNvGrpSpPr/>
            <p:nvPr/>
          </p:nvGrpSpPr>
          <p:grpSpPr>
            <a:xfrm>
              <a:off x="6800039" y="2597161"/>
              <a:ext cx="4205499" cy="670295"/>
              <a:chOff x="6800039" y="2597161"/>
              <a:chExt cx="4205499" cy="670295"/>
            </a:xfrm>
          </p:grpSpPr>
          <p:grpSp>
            <p:nvGrpSpPr>
              <p:cNvPr id="43" name="icon-risk-2"/>
              <p:cNvGrpSpPr/>
              <p:nvPr/>
            </p:nvGrpSpPr>
            <p:grpSpPr>
              <a:xfrm>
                <a:off x="6800039" y="2597161"/>
                <a:ext cx="192114" cy="165051"/>
                <a:chOff x="6800039" y="2597161"/>
                <a:chExt cx="192114" cy="165051"/>
              </a:xfrm>
            </p:grpSpPr>
            <p:sp>
              <p:nvSpPr>
                <p:cNvPr id="40" name="Freeform 40"/>
                <p:cNvSpPr/>
                <p:nvPr/>
              </p:nvSpPr>
              <p:spPr>
                <a:xfrm>
                  <a:off x="6896100" y="2657475"/>
                  <a:ext cx="9525" cy="38100"/>
                </a:xfrm>
                <a:custGeom>
                  <a:avLst/>
                  <a:gdLst/>
                  <a:ahLst/>
                  <a:cxnLst/>
                  <a:rect l="l" t="t" r="r" b="b"/>
                  <a:pathLst>
                    <a:path w="9525" h="38100">
                      <a:moveTo>
                        <a:pt x="0" y="0"/>
                      </a:moveTo>
                      <a:lnTo>
                        <a:pt x="0" y="38100"/>
                      </a:lnTo>
                    </a:path>
                  </a:pathLst>
                </a:custGeom>
                <a:noFill/>
                <a:ln w="19050" cap="rnd">
                  <a:solidFill>
                    <a:srgbClr val="00A6A6"/>
                  </a:solidFill>
                  <a:round/>
                </a:ln>
              </p:spPr>
            </p:sp>
            <p:sp>
              <p:nvSpPr>
                <p:cNvPr id="41" name="Freeform 41"/>
                <p:cNvSpPr/>
                <p:nvPr/>
              </p:nvSpPr>
              <p:spPr>
                <a:xfrm>
                  <a:off x="6800039" y="2597161"/>
                  <a:ext cx="192114" cy="165051"/>
                </a:xfrm>
                <a:custGeom>
                  <a:avLst/>
                  <a:gdLst/>
                  <a:ahLst/>
                  <a:cxnLst/>
                  <a:rect l="l" t="t" r="r" b="b"/>
                  <a:pathLst>
                    <a:path w="192114" h="165051">
                      <a:moveTo>
                        <a:pt x="80468" y="8794"/>
                      </a:moveTo>
                      <a:lnTo>
                        <a:pt x="3259" y="137705"/>
                      </a:lnTo>
                      <a:cubicBezTo>
                        <a:pt x="20" y="143314"/>
                        <a:pt x="0" y="150220"/>
                        <a:pt x="3207" y="155848"/>
                      </a:cubicBezTo>
                      <a:cubicBezTo>
                        <a:pt x="6413" y="161475"/>
                        <a:pt x="12365" y="164979"/>
                        <a:pt x="18842" y="165051"/>
                      </a:cubicBezTo>
                      <a:lnTo>
                        <a:pt x="173280" y="165051"/>
                      </a:lnTo>
                      <a:cubicBezTo>
                        <a:pt x="179753" y="164977"/>
                        <a:pt x="185702" y="161474"/>
                        <a:pt x="188908" y="155850"/>
                      </a:cubicBezTo>
                      <a:cubicBezTo>
                        <a:pt x="192114" y="150226"/>
                        <a:pt x="192097" y="143323"/>
                        <a:pt x="188863" y="137715"/>
                      </a:cubicBezTo>
                      <a:lnTo>
                        <a:pt x="111653" y="8784"/>
                      </a:lnTo>
                      <a:cubicBezTo>
                        <a:pt x="108349" y="3331"/>
                        <a:pt x="102437" y="0"/>
                        <a:pt x="96061" y="0"/>
                      </a:cubicBezTo>
                      <a:cubicBezTo>
                        <a:pt x="89685" y="0"/>
                        <a:pt x="83772" y="3331"/>
                        <a:pt x="80468" y="8784"/>
                      </a:cubicBezTo>
                    </a:path>
                  </a:pathLst>
                </a:custGeom>
                <a:noFill/>
                <a:ln w="19050" cap="rnd">
                  <a:solidFill>
                    <a:srgbClr val="00A6A6"/>
                  </a:solidFill>
                  <a:round/>
                </a:ln>
              </p:spPr>
            </p:sp>
            <p:sp>
              <p:nvSpPr>
                <p:cNvPr id="42" name="Freeform 42"/>
                <p:cNvSpPr/>
                <p:nvPr/>
              </p:nvSpPr>
              <p:spPr>
                <a:xfrm>
                  <a:off x="6896100" y="2724150"/>
                  <a:ext cx="9525" cy="9525"/>
                </a:xfrm>
                <a:custGeom>
                  <a:avLst/>
                  <a:gdLst/>
                  <a:ahLst/>
                  <a:cxnLst/>
                  <a:rect l="l" t="t" r="r" b="b"/>
                  <a:pathLst>
                    <a:path w="9525" h="9525">
                      <a:moveTo>
                        <a:pt x="0" y="0"/>
                      </a:moveTo>
                      <a:lnTo>
                        <a:pt x="95" y="0"/>
                      </a:lnTo>
                    </a:path>
                  </a:pathLst>
                </a:custGeom>
                <a:noFill/>
                <a:ln w="19050" cap="rnd">
                  <a:solidFill>
                    <a:srgbClr val="00A6A6"/>
                  </a:solidFill>
                  <a:round/>
                </a:ln>
              </p:spPr>
            </p:sp>
          </p:grpSp>
          <p:sp>
            <p:nvSpPr>
              <p:cNvPr id="44" name="TextBox 44"/>
              <p:cNvSpPr txBox="1"/>
              <p:nvPr/>
            </p:nvSpPr>
            <p:spPr>
              <a:xfrm>
                <a:off x="7117842" y="2597468"/>
                <a:ext cx="3101536" cy="264033"/>
              </a:xfrm>
              <a:prstGeom prst="rect">
                <a:avLst/>
              </a:prstGeom>
              <a:noFill/>
              <a:ln>
                <a:noFill/>
              </a:ln>
            </p:spPr>
            <p:txBody>
              <a:bodyPr wrap="none" lIns="0" tIns="0" rIns="0" bIns="0" anchor="t" anchorCtr="0">
                <a:spAutoFit/>
              </a:bodyPr>
              <a:lstStyle/>
              <a:p>
                <a:pPr algn="l"/>
                <a:r>
                  <a:rPr lang="tr-TR" sz="1350" b="1" dirty="0">
                    <a:solidFill>
                      <a:srgbClr val="172B3A"/>
                    </a:solidFill>
                    <a:latin typeface="+mn-lt"/>
                    <a:ea typeface="+mn-ea"/>
                    <a:cs typeface="+mn-cs"/>
                  </a:rPr>
                  <a:t>Bozuk değer doğrudan kabul edilir</a:t>
                </a:r>
              </a:p>
            </p:txBody>
          </p:sp>
          <p:sp>
            <p:nvSpPr>
              <p:cNvPr id="45" name="TextBox 45"/>
              <p:cNvSpPr txBox="1"/>
              <p:nvPr/>
            </p:nvSpPr>
            <p:spPr>
              <a:xfrm>
                <a:off x="7118604" y="2842260"/>
                <a:ext cx="38869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-999°C gibi fiziksel olarak anlamsız bir sıcaklık,</a:t>
                </a:r>
              </a:p>
            </p:txBody>
          </p:sp>
          <p:sp>
            <p:nvSpPr>
              <p:cNvPr id="46" name="TextBox 46"/>
              <p:cNvSpPr txBox="1"/>
              <p:nvPr/>
            </p:nvSpPr>
            <p:spPr>
              <a:xfrm>
                <a:off x="7118604" y="3032760"/>
                <a:ext cx="33211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reddedilmeden "Kaydedildi" mesajı üretir.</a:t>
                </a:r>
              </a:p>
            </p:txBody>
          </p:sp>
        </p:grpSp>
        <p:grpSp>
          <p:nvGrpSpPr>
            <p:cNvPr id="55" name="risk-3"/>
            <p:cNvGrpSpPr/>
            <p:nvPr/>
          </p:nvGrpSpPr>
          <p:grpSpPr>
            <a:xfrm>
              <a:off x="6800039" y="3473461"/>
              <a:ext cx="4019655" cy="670295"/>
              <a:chOff x="6800039" y="3473461"/>
              <a:chExt cx="4019655" cy="670295"/>
            </a:xfrm>
          </p:grpSpPr>
          <p:grpSp>
            <p:nvGrpSpPr>
              <p:cNvPr id="51" name="icon-risk-3"/>
              <p:cNvGrpSpPr/>
              <p:nvPr/>
            </p:nvGrpSpPr>
            <p:grpSpPr>
              <a:xfrm>
                <a:off x="6800039" y="3473461"/>
                <a:ext cx="192114" cy="165051"/>
                <a:chOff x="6800039" y="3473461"/>
                <a:chExt cx="192114" cy="165051"/>
              </a:xfrm>
            </p:grpSpPr>
            <p:sp>
              <p:nvSpPr>
                <p:cNvPr id="48" name="Freeform 48"/>
                <p:cNvSpPr/>
                <p:nvPr/>
              </p:nvSpPr>
              <p:spPr>
                <a:xfrm>
                  <a:off x="6896100" y="3533775"/>
                  <a:ext cx="9525" cy="38100"/>
                </a:xfrm>
                <a:custGeom>
                  <a:avLst/>
                  <a:gdLst/>
                  <a:ahLst/>
                  <a:cxnLst/>
                  <a:rect l="l" t="t" r="r" b="b"/>
                  <a:pathLst>
                    <a:path w="9525" h="38100">
                      <a:moveTo>
                        <a:pt x="0" y="0"/>
                      </a:moveTo>
                      <a:lnTo>
                        <a:pt x="0" y="38100"/>
                      </a:lnTo>
                    </a:path>
                  </a:pathLst>
                </a:custGeom>
                <a:noFill/>
                <a:ln w="19050" cap="rnd">
                  <a:solidFill>
                    <a:srgbClr val="00A6A6"/>
                  </a:solidFill>
                  <a:round/>
                </a:ln>
              </p:spPr>
            </p:sp>
            <p:sp>
              <p:nvSpPr>
                <p:cNvPr id="49" name="Freeform 49"/>
                <p:cNvSpPr/>
                <p:nvPr/>
              </p:nvSpPr>
              <p:spPr>
                <a:xfrm>
                  <a:off x="6800039" y="3473461"/>
                  <a:ext cx="192114" cy="165051"/>
                </a:xfrm>
                <a:custGeom>
                  <a:avLst/>
                  <a:gdLst/>
                  <a:ahLst/>
                  <a:cxnLst/>
                  <a:rect l="l" t="t" r="r" b="b"/>
                  <a:pathLst>
                    <a:path w="192114" h="165051">
                      <a:moveTo>
                        <a:pt x="80468" y="8794"/>
                      </a:moveTo>
                      <a:lnTo>
                        <a:pt x="3259" y="137705"/>
                      </a:lnTo>
                      <a:cubicBezTo>
                        <a:pt x="20" y="143314"/>
                        <a:pt x="0" y="150220"/>
                        <a:pt x="3207" y="155848"/>
                      </a:cubicBezTo>
                      <a:cubicBezTo>
                        <a:pt x="6413" y="161475"/>
                        <a:pt x="12365" y="164979"/>
                        <a:pt x="18842" y="165051"/>
                      </a:cubicBezTo>
                      <a:lnTo>
                        <a:pt x="173280" y="165051"/>
                      </a:lnTo>
                      <a:cubicBezTo>
                        <a:pt x="179753" y="164977"/>
                        <a:pt x="185702" y="161474"/>
                        <a:pt x="188908" y="155850"/>
                      </a:cubicBezTo>
                      <a:cubicBezTo>
                        <a:pt x="192114" y="150226"/>
                        <a:pt x="192097" y="143323"/>
                        <a:pt x="188863" y="137715"/>
                      </a:cubicBezTo>
                      <a:lnTo>
                        <a:pt x="111653" y="8784"/>
                      </a:lnTo>
                      <a:cubicBezTo>
                        <a:pt x="108349" y="3331"/>
                        <a:pt x="102437" y="0"/>
                        <a:pt x="96061" y="0"/>
                      </a:cubicBezTo>
                      <a:cubicBezTo>
                        <a:pt x="89685" y="0"/>
                        <a:pt x="83772" y="3331"/>
                        <a:pt x="80468" y="8784"/>
                      </a:cubicBezTo>
                    </a:path>
                  </a:pathLst>
                </a:custGeom>
                <a:noFill/>
                <a:ln w="19050" cap="rnd">
                  <a:solidFill>
                    <a:srgbClr val="00A6A6"/>
                  </a:solidFill>
                  <a:round/>
                </a:ln>
              </p:spPr>
            </p:sp>
            <p:sp>
              <p:nvSpPr>
                <p:cNvPr id="50" name="Freeform 50"/>
                <p:cNvSpPr/>
                <p:nvPr/>
              </p:nvSpPr>
              <p:spPr>
                <a:xfrm>
                  <a:off x="6896100" y="3600450"/>
                  <a:ext cx="9525" cy="9525"/>
                </a:xfrm>
                <a:custGeom>
                  <a:avLst/>
                  <a:gdLst/>
                  <a:ahLst/>
                  <a:cxnLst/>
                  <a:rect l="l" t="t" r="r" b="b"/>
                  <a:pathLst>
                    <a:path w="9525" h="9525">
                      <a:moveTo>
                        <a:pt x="0" y="0"/>
                      </a:moveTo>
                      <a:lnTo>
                        <a:pt x="95" y="0"/>
                      </a:lnTo>
                    </a:path>
                  </a:pathLst>
                </a:custGeom>
                <a:noFill/>
                <a:ln w="19050" cap="rnd">
                  <a:solidFill>
                    <a:srgbClr val="00A6A6"/>
                  </a:solidFill>
                  <a:round/>
                </a:ln>
              </p:spPr>
            </p:sp>
          </p:grpSp>
          <p:sp>
            <p:nvSpPr>
              <p:cNvPr id="52" name="TextBox 52"/>
              <p:cNvSpPr txBox="1"/>
              <p:nvPr/>
            </p:nvSpPr>
            <p:spPr>
              <a:xfrm>
                <a:off x="7117842" y="3473768"/>
                <a:ext cx="2729550" cy="264033"/>
              </a:xfrm>
              <a:prstGeom prst="rect">
                <a:avLst/>
              </a:prstGeom>
              <a:noFill/>
              <a:ln>
                <a:noFill/>
              </a:ln>
            </p:spPr>
            <p:txBody>
              <a:bodyPr wrap="none" lIns="0" tIns="0" rIns="0" bIns="0" anchor="t" anchorCtr="0">
                <a:spAutoFit/>
              </a:bodyPr>
              <a:lstStyle/>
              <a:p>
                <a:pPr algn="l"/>
                <a:r>
                  <a:rPr lang="tr-TR" sz="1350" b="1" dirty="0">
                    <a:solidFill>
                      <a:srgbClr val="172B3A"/>
                    </a:solidFill>
                    <a:latin typeface="+mn-lt"/>
                    <a:ea typeface="+mn-ea"/>
                    <a:cs typeface="+mn-cs"/>
                  </a:rPr>
                  <a:t>Kimlik ve iş yükü kontrolü yok</a:t>
                </a:r>
              </a:p>
            </p:txBody>
          </p:sp>
          <p:sp>
            <p:nvSpPr>
              <p:cNvPr id="53" name="TextBox 53"/>
              <p:cNvSpPr txBox="1"/>
              <p:nvPr/>
            </p:nvSpPr>
            <p:spPr>
              <a:xfrm>
                <a:off x="7118604" y="3718560"/>
                <a:ext cx="370109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Paylaşılan tek API anahtarı ve senkron yazım,</a:t>
                </a:r>
              </a:p>
            </p:txBody>
          </p:sp>
          <p:sp>
            <p:nvSpPr>
              <p:cNvPr id="54" name="TextBox 54"/>
              <p:cNvSpPr txBox="1"/>
              <p:nvPr/>
            </p:nvSpPr>
            <p:spPr>
              <a:xfrm>
                <a:off x="7118604" y="3909060"/>
                <a:ext cx="363885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cihaz sayısı arttıkça sistemi kırılgan kılar.</a:t>
                </a:r>
              </a:p>
            </p:txBody>
          </p:sp>
        </p:grpSp>
      </p:grpSp>
      <p:grpSp>
        <p:nvGrpSpPr>
          <p:cNvPr id="62" name="fix-band"/>
          <p:cNvGrpSpPr/>
          <p:nvPr/>
        </p:nvGrpSpPr>
        <p:grpSpPr>
          <a:xfrm>
            <a:off x="609600" y="5219700"/>
            <a:ext cx="10972800" cy="1009650"/>
            <a:chOff x="609600" y="5219700"/>
            <a:chExt cx="10972800" cy="1009650"/>
          </a:xfrm>
        </p:grpSpPr>
        <p:sp>
          <p:nvSpPr>
            <p:cNvPr id="57" name="Rectangle 57"/>
            <p:cNvSpPr/>
            <p:nvPr/>
          </p:nvSpPr>
          <p:spPr>
            <a:xfrm>
              <a:off x="609600" y="5219700"/>
              <a:ext cx="10972800" cy="1009650"/>
            </a:xfrm>
            <a:prstGeom prst="roundRect">
              <a:avLst>
                <a:gd name="adj" fmla="val 9434"/>
              </a:avLst>
            </a:prstGeom>
            <a:solidFill>
              <a:srgbClr val="EAF4F6"/>
            </a:solidFill>
            <a:ln>
              <a:noFill/>
            </a:ln>
          </p:spPr>
        </p:sp>
        <p:sp>
          <p:nvSpPr>
            <p:cNvPr id="58" name="Rectangle 58"/>
            <p:cNvSpPr/>
            <p:nvPr/>
          </p:nvSpPr>
          <p:spPr>
            <a:xfrm>
              <a:off x="609600" y="5219700"/>
              <a:ext cx="57150" cy="1009650"/>
            </a:xfrm>
            <a:prstGeom prst="rect">
              <a:avLst/>
            </a:prstGeom>
            <a:solidFill>
              <a:srgbClr val="00A6A6"/>
            </a:solidFill>
            <a:ln>
              <a:noFill/>
            </a:ln>
          </p:spPr>
        </p:sp>
        <p:sp>
          <p:nvSpPr>
            <p:cNvPr id="59" name="TextBox 59"/>
            <p:cNvSpPr txBox="1"/>
            <p:nvPr/>
          </p:nvSpPr>
          <p:spPr>
            <a:xfrm>
              <a:off x="906399" y="5354479"/>
              <a:ext cx="288204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Bu boşluk nasıl kapatılır?</a:t>
              </a:r>
            </a:p>
          </p:txBody>
        </p:sp>
        <p:sp>
          <p:nvSpPr>
            <p:cNvPr id="60" name="TextBox 60"/>
            <p:cNvSpPr txBox="1"/>
            <p:nvPr/>
          </p:nvSpPr>
          <p:spPr>
            <a:xfrm>
              <a:off x="907542" y="5645468"/>
              <a:ext cx="774107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Sonraki sayfalarda cihaz kimlik doğrulama (API anahtarı/HMAC) ve aralık doğrulaması,</a:t>
              </a:r>
            </a:p>
          </p:txBody>
        </p:sp>
        <p:sp>
          <p:nvSpPr>
            <p:cNvPr id="61" name="TextBox 61"/>
            <p:cNvSpPr txBox="1"/>
            <p:nvPr/>
          </p:nvSpPr>
          <p:spPr>
            <a:xfrm>
              <a:off x="907542" y="5874068"/>
              <a:ext cx="795562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bu naif akışın üzerine sırayla eklenerek üretime uygun bir endpoint hâline getirilecektir.</a:t>
              </a:r>
            </a:p>
          </p:txBody>
        </p:sp>
      </p:grpSp>
      <p:sp>
        <p:nvSpPr>
          <p:cNvPr id="63" name="TextBox 6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24</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6268037" cy="668845"/>
            <a:chOff x="609600" y="171450"/>
            <a:chExt cx="6268037"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62476" y="324326"/>
                <a:ext cx="265748" cy="265748"/>
                <a:chOff x="762476" y="324326"/>
                <a:chExt cx="265748" cy="265748"/>
              </a:xfrm>
            </p:grpSpPr>
            <p:sp>
              <p:nvSpPr>
                <p:cNvPr id="5" name="Freeform 5"/>
                <p:cNvSpPr/>
                <p:nvPr/>
              </p:nvSpPr>
              <p:spPr>
                <a:xfrm>
                  <a:off x="7624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658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953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510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99972" y="282892"/>
              <a:ext cx="557766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Cihaz kimliği ve API anahtarı</a:t>
              </a:r>
            </a:p>
          </p:txBody>
        </p:sp>
      </p:grpSp>
      <p:grpSp>
        <p:nvGrpSpPr>
          <p:cNvPr id="18" name="definition-card"/>
          <p:cNvGrpSpPr/>
          <p:nvPr/>
        </p:nvGrpSpPr>
        <p:grpSpPr>
          <a:xfrm>
            <a:off x="609600" y="1181100"/>
            <a:ext cx="10972800" cy="914400"/>
            <a:chOff x="609600" y="1181100"/>
            <a:chExt cx="10972800" cy="914400"/>
          </a:xfrm>
        </p:grpSpPr>
        <p:sp>
          <p:nvSpPr>
            <p:cNvPr id="13" name="Rectangle 13"/>
            <p:cNvSpPr/>
            <p:nvPr/>
          </p:nvSpPr>
          <p:spPr>
            <a:xfrm>
              <a:off x="609600" y="1181100"/>
              <a:ext cx="10972800" cy="914400"/>
            </a:xfrm>
            <a:prstGeom prst="roundRect">
              <a:avLst>
                <a:gd name="adj" fmla="val 10417"/>
              </a:avLst>
            </a:prstGeom>
            <a:solidFill>
              <a:srgbClr val="EAF4F6"/>
            </a:solidFill>
            <a:ln>
              <a:noFill/>
            </a:ln>
          </p:spPr>
        </p:sp>
        <p:sp>
          <p:nvSpPr>
            <p:cNvPr id="14" name="Rectangle 14"/>
            <p:cNvSpPr/>
            <p:nvPr/>
          </p:nvSpPr>
          <p:spPr>
            <a:xfrm>
              <a:off x="609600" y="1181100"/>
              <a:ext cx="57150" cy="914400"/>
            </a:xfrm>
            <a:prstGeom prst="rect">
              <a:avLst/>
            </a:prstGeom>
            <a:solidFill>
              <a:srgbClr val="00A6A6"/>
            </a:solidFill>
            <a:ln>
              <a:noFill/>
            </a:ln>
          </p:spPr>
        </p:sp>
        <p:sp>
          <p:nvSpPr>
            <p:cNvPr id="15" name="TextBox 15"/>
            <p:cNvSpPr txBox="1"/>
            <p:nvPr/>
          </p:nvSpPr>
          <p:spPr>
            <a:xfrm>
              <a:off x="906399" y="133492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16" name="TextBox 16"/>
            <p:cNvSpPr txBox="1"/>
            <p:nvPr/>
          </p:nvSpPr>
          <p:spPr>
            <a:xfrm>
              <a:off x="907542" y="1606868"/>
              <a:ext cx="7125059"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Her cihaza kayıt sırasında benzersiz bir kimlik ve gizli bir API anahtarı atanır;</a:t>
              </a:r>
            </a:p>
          </p:txBody>
        </p:sp>
        <p:sp>
          <p:nvSpPr>
            <p:cNvPr id="17" name="TextBox 17"/>
            <p:cNvSpPr txBox="1"/>
            <p:nvPr/>
          </p:nvSpPr>
          <p:spPr>
            <a:xfrm>
              <a:off x="907542" y="1816418"/>
              <a:ext cx="581112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cihaz her istekte bu anahtarı sunar, backend anahtarı doğrular.</a:t>
              </a:r>
            </a:p>
          </p:txBody>
        </p:sp>
      </p:grpSp>
      <p:grpSp>
        <p:nvGrpSpPr>
          <p:cNvPr id="55" name="compare-panel"/>
          <p:cNvGrpSpPr/>
          <p:nvPr/>
        </p:nvGrpSpPr>
        <p:grpSpPr>
          <a:xfrm>
            <a:off x="609600" y="2362200"/>
            <a:ext cx="10972800" cy="2286000"/>
            <a:chOff x="609600" y="2362200"/>
            <a:chExt cx="10972800" cy="2286000"/>
          </a:xfrm>
        </p:grpSpPr>
        <p:grpSp>
          <p:nvGrpSpPr>
            <p:cNvPr id="32" name="card-user-auth"/>
            <p:cNvGrpSpPr/>
            <p:nvPr/>
          </p:nvGrpSpPr>
          <p:grpSpPr>
            <a:xfrm>
              <a:off x="609600" y="2362200"/>
              <a:ext cx="5257800" cy="2286000"/>
              <a:chOff x="609600" y="2362200"/>
              <a:chExt cx="5257800" cy="2286000"/>
            </a:xfrm>
          </p:grpSpPr>
          <p:sp>
            <p:nvSpPr>
              <p:cNvPr id="19" name="Rectangle 19"/>
              <p:cNvSpPr/>
              <p:nvPr/>
            </p:nvSpPr>
            <p:spPr>
              <a:xfrm>
                <a:off x="609600" y="2362200"/>
                <a:ext cx="5257800" cy="2286000"/>
              </a:xfrm>
              <a:prstGeom prst="roundRect">
                <a:avLst>
                  <a:gd name="adj" fmla="val 4167"/>
                </a:avLst>
              </a:prstGeom>
              <a:solidFill>
                <a:srgbClr val="FFFFFF"/>
              </a:solidFill>
              <a:ln w="14288">
                <a:solidFill>
                  <a:srgbClr val="B8CBD3"/>
                </a:solidFill>
              </a:ln>
            </p:spPr>
          </p:sp>
          <p:sp>
            <p:nvSpPr>
              <p:cNvPr id="20" name="Rectangle 20"/>
              <p:cNvSpPr/>
              <p:nvPr/>
            </p:nvSpPr>
            <p:spPr>
              <a:xfrm>
                <a:off x="609600" y="2362200"/>
                <a:ext cx="5257800" cy="457200"/>
              </a:xfrm>
              <a:prstGeom prst="roundRect">
                <a:avLst>
                  <a:gd name="adj" fmla="val 20833"/>
                </a:avLst>
              </a:prstGeom>
              <a:solidFill>
                <a:srgbClr val="12355B"/>
              </a:solidFill>
              <a:ln>
                <a:noFill/>
              </a:ln>
            </p:spPr>
          </p:sp>
          <p:sp>
            <p:nvSpPr>
              <p:cNvPr id="21" name="Rectangle 21"/>
              <p:cNvSpPr/>
              <p:nvPr/>
            </p:nvSpPr>
            <p:spPr>
              <a:xfrm>
                <a:off x="609600" y="2667000"/>
                <a:ext cx="5257800" cy="152400"/>
              </a:xfrm>
              <a:prstGeom prst="rect">
                <a:avLst/>
              </a:prstGeom>
              <a:solidFill>
                <a:srgbClr val="12355B"/>
              </a:solidFill>
              <a:ln>
                <a:noFill/>
              </a:ln>
            </p:spPr>
          </p:sp>
          <p:grpSp>
            <p:nvGrpSpPr>
              <p:cNvPr id="24" name="icon-user-08"/>
              <p:cNvGrpSpPr/>
              <p:nvPr/>
            </p:nvGrpSpPr>
            <p:grpSpPr>
              <a:xfrm>
                <a:off x="895350" y="2505075"/>
                <a:ext cx="114300" cy="171450"/>
                <a:chOff x="895350" y="2505075"/>
                <a:chExt cx="114300" cy="171450"/>
              </a:xfrm>
            </p:grpSpPr>
            <p:sp>
              <p:nvSpPr>
                <p:cNvPr id="22" name="Freeform 22"/>
                <p:cNvSpPr/>
                <p:nvPr/>
              </p:nvSpPr>
              <p:spPr>
                <a:xfrm>
                  <a:off x="914400" y="2505075"/>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19050" cap="rnd">
                  <a:solidFill>
                    <a:srgbClr val="FFFFFF"/>
                  </a:solidFill>
                  <a:round/>
                </a:ln>
              </p:spPr>
            </p:sp>
            <p:sp>
              <p:nvSpPr>
                <p:cNvPr id="23" name="Freeform 23"/>
                <p:cNvSpPr/>
                <p:nvPr/>
              </p:nvSpPr>
              <p:spPr>
                <a:xfrm>
                  <a:off x="895350" y="2619375"/>
                  <a:ext cx="114300" cy="57150"/>
                </a:xfrm>
                <a:custGeom>
                  <a:avLst/>
                  <a:gdLst/>
                  <a:ahLst/>
                  <a:cxnLst/>
                  <a:rect l="l" t="t" r="r" b="b"/>
                  <a:pathLst>
                    <a:path w="114300" h="57150">
                      <a:moveTo>
                        <a:pt x="0" y="57150"/>
                      </a:moveTo>
                      <a:lnTo>
                        <a:pt x="0" y="38100"/>
                      </a:lnTo>
                      <a:cubicBezTo>
                        <a:pt x="0" y="17058"/>
                        <a:pt x="17058" y="0"/>
                        <a:pt x="38100" y="0"/>
                      </a:cubicBezTo>
                      <a:lnTo>
                        <a:pt x="76200" y="0"/>
                      </a:lnTo>
                      <a:cubicBezTo>
                        <a:pt x="97242" y="0"/>
                        <a:pt x="114300" y="17058"/>
                        <a:pt x="114300" y="38100"/>
                      </a:cubicBezTo>
                      <a:lnTo>
                        <a:pt x="114300" y="57150"/>
                      </a:lnTo>
                    </a:path>
                  </a:pathLst>
                </a:custGeom>
                <a:noFill/>
                <a:ln w="19050" cap="rnd">
                  <a:solidFill>
                    <a:srgbClr val="FFFFFF"/>
                  </a:solidFill>
                  <a:round/>
                </a:ln>
              </p:spPr>
            </p:sp>
          </p:grpSp>
          <p:sp>
            <p:nvSpPr>
              <p:cNvPr id="25" name="TextBox 25"/>
              <p:cNvSpPr txBox="1"/>
              <p:nvPr/>
            </p:nvSpPr>
            <p:spPr>
              <a:xfrm>
                <a:off x="1173480" y="2486025"/>
                <a:ext cx="3805136" cy="293370"/>
              </a:xfrm>
              <a:prstGeom prst="rect">
                <a:avLst/>
              </a:prstGeom>
              <a:noFill/>
              <a:ln>
                <a:noFill/>
              </a:ln>
            </p:spPr>
            <p:txBody>
              <a:bodyPr wrap="none" lIns="0" tIns="0" rIns="0" bIns="0" anchor="t" anchorCtr="0">
                <a:spAutoFit/>
              </a:bodyPr>
              <a:lstStyle/>
              <a:p>
                <a:pPr algn="l"/>
                <a:r>
                  <a:rPr lang="tr-TR" sz="1500" b="1" dirty="0">
                    <a:solidFill>
                      <a:srgbClr val="FFFFFF"/>
                    </a:solidFill>
                    <a:latin typeface="+mn-lt"/>
                    <a:ea typeface="+mn-ea"/>
                    <a:cs typeface="+mn-cs"/>
                  </a:rPr>
                  <a:t>Kullanıcı authentication'ı (Böl. 10)</a:t>
                </a:r>
              </a:p>
            </p:txBody>
          </p:sp>
          <p:sp>
            <p:nvSpPr>
              <p:cNvPr id="26" name="TextBox 26"/>
              <p:cNvSpPr txBox="1"/>
              <p:nvPr/>
            </p:nvSpPr>
            <p:spPr>
              <a:xfrm>
                <a:off x="832104" y="3013710"/>
                <a:ext cx="310314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"Kim olduğunu kanıtla" sorusuna parola</a:t>
                </a:r>
              </a:p>
            </p:txBody>
          </p:sp>
          <p:sp>
            <p:nvSpPr>
              <p:cNvPr id="27" name="TextBox 27"/>
              <p:cNvSpPr txBox="1"/>
              <p:nvPr/>
            </p:nvSpPr>
            <p:spPr>
              <a:xfrm>
                <a:off x="832104" y="3223260"/>
                <a:ext cx="195072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ve token ile yanıt verir.</a:t>
                </a:r>
              </a:p>
            </p:txBody>
          </p:sp>
          <p:sp>
            <p:nvSpPr>
              <p:cNvPr id="28" name="TextBox 28"/>
              <p:cNvSpPr txBox="1"/>
              <p:nvPr/>
            </p:nvSpPr>
            <p:spPr>
              <a:xfrm>
                <a:off x="832104" y="3547110"/>
                <a:ext cx="293338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İnsan, hatalı girişte arayüzde uyarı</a:t>
                </a:r>
              </a:p>
            </p:txBody>
          </p:sp>
          <p:sp>
            <p:nvSpPr>
              <p:cNvPr id="29" name="TextBox 29"/>
              <p:cNvSpPr txBox="1"/>
              <p:nvPr/>
            </p:nvSpPr>
            <p:spPr>
              <a:xfrm>
                <a:off x="832104" y="3756660"/>
                <a:ext cx="260497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görüp düzeltebilir; oturum açar.</a:t>
                </a:r>
              </a:p>
            </p:txBody>
          </p:sp>
          <p:sp>
            <p:nvSpPr>
              <p:cNvPr id="30" name="TextBox 30"/>
              <p:cNvSpPr txBox="1"/>
              <p:nvPr/>
            </p:nvSpPr>
            <p:spPr>
              <a:xfrm>
                <a:off x="832104" y="4080510"/>
                <a:ext cx="28059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Kimlik: kullanıcı adı + parola/JWT.</a:t>
                </a:r>
              </a:p>
            </p:txBody>
          </p:sp>
          <p:sp>
            <p:nvSpPr>
              <p:cNvPr id="31" name="TextBox 31"/>
              <p:cNvSpPr txBox="1"/>
              <p:nvPr/>
            </p:nvSpPr>
            <p:spPr>
              <a:xfrm>
                <a:off x="832104" y="4290060"/>
                <a:ext cx="341207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Karmaşık OAuth akışlarını çalıştırabilir.</a:t>
                </a:r>
              </a:p>
            </p:txBody>
          </p:sp>
        </p:grpSp>
        <p:grpSp>
          <p:nvGrpSpPr>
            <p:cNvPr id="54" name="card-device-auth"/>
            <p:cNvGrpSpPr/>
            <p:nvPr/>
          </p:nvGrpSpPr>
          <p:grpSpPr>
            <a:xfrm>
              <a:off x="6324600" y="2362200"/>
              <a:ext cx="5257800" cy="2286000"/>
              <a:chOff x="6324600" y="2362200"/>
              <a:chExt cx="5257800" cy="2286000"/>
            </a:xfrm>
          </p:grpSpPr>
          <p:sp>
            <p:nvSpPr>
              <p:cNvPr id="33" name="Rectangle 33"/>
              <p:cNvSpPr/>
              <p:nvPr/>
            </p:nvSpPr>
            <p:spPr>
              <a:xfrm>
                <a:off x="6324600" y="2362200"/>
                <a:ext cx="5257800" cy="2286000"/>
              </a:xfrm>
              <a:prstGeom prst="roundRect">
                <a:avLst>
                  <a:gd name="adj" fmla="val 4167"/>
                </a:avLst>
              </a:prstGeom>
              <a:solidFill>
                <a:srgbClr val="FFFFFF"/>
              </a:solidFill>
              <a:ln w="14288">
                <a:solidFill>
                  <a:srgbClr val="00A6A6"/>
                </a:solidFill>
              </a:ln>
            </p:spPr>
          </p:sp>
          <p:sp>
            <p:nvSpPr>
              <p:cNvPr id="34" name="Rectangle 34"/>
              <p:cNvSpPr/>
              <p:nvPr/>
            </p:nvSpPr>
            <p:spPr>
              <a:xfrm>
                <a:off x="6324600" y="2362200"/>
                <a:ext cx="5257800" cy="457200"/>
              </a:xfrm>
              <a:prstGeom prst="roundRect">
                <a:avLst>
                  <a:gd name="adj" fmla="val 20833"/>
                </a:avLst>
              </a:prstGeom>
              <a:solidFill>
                <a:srgbClr val="00A6A6"/>
              </a:solidFill>
              <a:ln>
                <a:noFill/>
              </a:ln>
            </p:spPr>
          </p:sp>
          <p:sp>
            <p:nvSpPr>
              <p:cNvPr id="35" name="Rectangle 35"/>
              <p:cNvSpPr/>
              <p:nvPr/>
            </p:nvSpPr>
            <p:spPr>
              <a:xfrm>
                <a:off x="6324600" y="2667000"/>
                <a:ext cx="5257800" cy="152400"/>
              </a:xfrm>
              <a:prstGeom prst="rect">
                <a:avLst/>
              </a:prstGeom>
              <a:solidFill>
                <a:srgbClr val="00A6A6"/>
              </a:solidFill>
              <a:ln>
                <a:noFill/>
              </a:ln>
            </p:spPr>
          </p:sp>
          <p:grpSp>
            <p:nvGrpSpPr>
              <p:cNvPr id="46" name="icon-cpu-08"/>
              <p:cNvGrpSpPr/>
              <p:nvPr/>
            </p:nvGrpSpPr>
            <p:grpSpPr>
              <a:xfrm>
                <a:off x="6581775" y="2505075"/>
                <a:ext cx="171450" cy="171450"/>
                <a:chOff x="6581775" y="2505075"/>
                <a:chExt cx="171450" cy="171450"/>
              </a:xfrm>
            </p:grpSpPr>
            <p:sp>
              <p:nvSpPr>
                <p:cNvPr id="36" name="Freeform 36"/>
                <p:cNvSpPr/>
                <p:nvPr/>
              </p:nvSpPr>
              <p:spPr>
                <a:xfrm>
                  <a:off x="6600825" y="2524125"/>
                  <a:ext cx="133350" cy="133350"/>
                </a:xfrm>
                <a:custGeom>
                  <a:avLst/>
                  <a:gdLst/>
                  <a:ahLst/>
                  <a:cxnLst/>
                  <a:rect l="l" t="t" r="r" b="b"/>
                  <a:pathLst>
                    <a:path w="133350" h="133350">
                      <a:moveTo>
                        <a:pt x="0" y="9525"/>
                      </a:moveTo>
                      <a:cubicBezTo>
                        <a:pt x="0" y="4264"/>
                        <a:pt x="4264" y="0"/>
                        <a:pt x="9525" y="0"/>
                      </a:cubicBezTo>
                      <a:lnTo>
                        <a:pt x="123825" y="0"/>
                      </a:lnTo>
                      <a:cubicBezTo>
                        <a:pt x="129086" y="0"/>
                        <a:pt x="133350" y="4264"/>
                        <a:pt x="133350" y="9525"/>
                      </a:cubicBezTo>
                      <a:lnTo>
                        <a:pt x="133350" y="123825"/>
                      </a:lnTo>
                      <a:cubicBezTo>
                        <a:pt x="133350" y="129086"/>
                        <a:pt x="129086" y="133350"/>
                        <a:pt x="123825" y="133350"/>
                      </a:cubicBezTo>
                      <a:lnTo>
                        <a:pt x="9525" y="133350"/>
                      </a:lnTo>
                      <a:cubicBezTo>
                        <a:pt x="4264" y="133350"/>
                        <a:pt x="0" y="129086"/>
                        <a:pt x="0" y="123825"/>
                      </a:cubicBezTo>
                      <a:lnTo>
                        <a:pt x="0" y="9525"/>
                      </a:lnTo>
                    </a:path>
                  </a:pathLst>
                </a:custGeom>
                <a:noFill/>
                <a:ln w="19050" cap="rnd">
                  <a:solidFill>
                    <a:srgbClr val="FFFFFF"/>
                  </a:solidFill>
                  <a:round/>
                </a:ln>
              </p:spPr>
            </p:sp>
            <p:sp>
              <p:nvSpPr>
                <p:cNvPr id="37" name="Freeform 37"/>
                <p:cNvSpPr/>
                <p:nvPr/>
              </p:nvSpPr>
              <p:spPr>
                <a:xfrm>
                  <a:off x="6638925" y="2562225"/>
                  <a:ext cx="57150" cy="57150"/>
                </a:xfrm>
                <a:custGeom>
                  <a:avLst/>
                  <a:gdLst/>
                  <a:ahLst/>
                  <a:cxnLst/>
                  <a:rect l="l" t="t" r="r" b="b"/>
                  <a:pathLst>
                    <a:path w="57150" h="57150">
                      <a:moveTo>
                        <a:pt x="0" y="0"/>
                      </a:moveTo>
                      <a:lnTo>
                        <a:pt x="57150" y="0"/>
                      </a:lnTo>
                      <a:lnTo>
                        <a:pt x="57150" y="57150"/>
                      </a:lnTo>
                      <a:lnTo>
                        <a:pt x="0" y="57150"/>
                      </a:lnTo>
                      <a:lnTo>
                        <a:pt x="0" y="0"/>
                      </a:lnTo>
                    </a:path>
                  </a:pathLst>
                </a:custGeom>
                <a:noFill/>
                <a:ln w="19050" cap="rnd">
                  <a:solidFill>
                    <a:srgbClr val="FFFFFF"/>
                  </a:solidFill>
                  <a:round/>
                </a:ln>
              </p:spPr>
            </p:sp>
            <p:sp>
              <p:nvSpPr>
                <p:cNvPr id="38" name="Freeform 38"/>
                <p:cNvSpPr/>
                <p:nvPr/>
              </p:nvSpPr>
              <p:spPr>
                <a:xfrm>
                  <a:off x="6581775" y="2571750"/>
                  <a:ext cx="19050" cy="9525"/>
                </a:xfrm>
                <a:custGeom>
                  <a:avLst/>
                  <a:gdLst/>
                  <a:ahLst/>
                  <a:cxnLst/>
                  <a:rect l="l" t="t" r="r" b="b"/>
                  <a:pathLst>
                    <a:path w="19050" h="9525">
                      <a:moveTo>
                        <a:pt x="0" y="0"/>
                      </a:moveTo>
                      <a:lnTo>
                        <a:pt x="19050" y="0"/>
                      </a:lnTo>
                    </a:path>
                  </a:pathLst>
                </a:custGeom>
                <a:noFill/>
                <a:ln w="19050" cap="rnd">
                  <a:solidFill>
                    <a:srgbClr val="FFFFFF"/>
                  </a:solidFill>
                  <a:round/>
                </a:ln>
              </p:spPr>
            </p:sp>
            <p:sp>
              <p:nvSpPr>
                <p:cNvPr id="39" name="Freeform 39"/>
                <p:cNvSpPr/>
                <p:nvPr/>
              </p:nvSpPr>
              <p:spPr>
                <a:xfrm>
                  <a:off x="6581775" y="2609850"/>
                  <a:ext cx="19050" cy="9525"/>
                </a:xfrm>
                <a:custGeom>
                  <a:avLst/>
                  <a:gdLst/>
                  <a:ahLst/>
                  <a:cxnLst/>
                  <a:rect l="l" t="t" r="r" b="b"/>
                  <a:pathLst>
                    <a:path w="19050" h="9525">
                      <a:moveTo>
                        <a:pt x="0" y="0"/>
                      </a:moveTo>
                      <a:lnTo>
                        <a:pt x="19050" y="0"/>
                      </a:lnTo>
                    </a:path>
                  </a:pathLst>
                </a:custGeom>
                <a:noFill/>
                <a:ln w="19050" cap="rnd">
                  <a:solidFill>
                    <a:srgbClr val="FFFFFF"/>
                  </a:solidFill>
                  <a:round/>
                </a:ln>
              </p:spPr>
            </p:sp>
            <p:sp>
              <p:nvSpPr>
                <p:cNvPr id="40" name="Freeform 40"/>
                <p:cNvSpPr/>
                <p:nvPr/>
              </p:nvSpPr>
              <p:spPr>
                <a:xfrm>
                  <a:off x="6648450" y="2505075"/>
                  <a:ext cx="9525" cy="19050"/>
                </a:xfrm>
                <a:custGeom>
                  <a:avLst/>
                  <a:gdLst/>
                  <a:ahLst/>
                  <a:cxnLst/>
                  <a:rect l="l" t="t" r="r" b="b"/>
                  <a:pathLst>
                    <a:path w="9525" h="19050">
                      <a:moveTo>
                        <a:pt x="0" y="0"/>
                      </a:moveTo>
                      <a:lnTo>
                        <a:pt x="0" y="19050"/>
                      </a:lnTo>
                    </a:path>
                  </a:pathLst>
                </a:custGeom>
                <a:noFill/>
                <a:ln w="19050" cap="rnd">
                  <a:solidFill>
                    <a:srgbClr val="FFFFFF"/>
                  </a:solidFill>
                  <a:round/>
                </a:ln>
              </p:spPr>
            </p:sp>
            <p:sp>
              <p:nvSpPr>
                <p:cNvPr id="41" name="Freeform 41"/>
                <p:cNvSpPr/>
                <p:nvPr/>
              </p:nvSpPr>
              <p:spPr>
                <a:xfrm>
                  <a:off x="6686550" y="2505075"/>
                  <a:ext cx="9525" cy="19050"/>
                </a:xfrm>
                <a:custGeom>
                  <a:avLst/>
                  <a:gdLst/>
                  <a:ahLst/>
                  <a:cxnLst/>
                  <a:rect l="l" t="t" r="r" b="b"/>
                  <a:pathLst>
                    <a:path w="9525" h="19050">
                      <a:moveTo>
                        <a:pt x="0" y="0"/>
                      </a:moveTo>
                      <a:lnTo>
                        <a:pt x="0" y="19050"/>
                      </a:lnTo>
                    </a:path>
                  </a:pathLst>
                </a:custGeom>
                <a:noFill/>
                <a:ln w="19050" cap="rnd">
                  <a:solidFill>
                    <a:srgbClr val="FFFFFF"/>
                  </a:solidFill>
                  <a:round/>
                </a:ln>
              </p:spPr>
            </p:sp>
            <p:sp>
              <p:nvSpPr>
                <p:cNvPr id="42" name="Freeform 42"/>
                <p:cNvSpPr/>
                <p:nvPr/>
              </p:nvSpPr>
              <p:spPr>
                <a:xfrm>
                  <a:off x="6734175" y="2571750"/>
                  <a:ext cx="19050" cy="9525"/>
                </a:xfrm>
                <a:custGeom>
                  <a:avLst/>
                  <a:gdLst/>
                  <a:ahLst/>
                  <a:cxnLst/>
                  <a:rect l="l" t="t" r="r" b="b"/>
                  <a:pathLst>
                    <a:path w="19050" h="9525">
                      <a:moveTo>
                        <a:pt x="19050" y="0"/>
                      </a:moveTo>
                      <a:lnTo>
                        <a:pt x="0" y="0"/>
                      </a:lnTo>
                    </a:path>
                  </a:pathLst>
                </a:custGeom>
                <a:noFill/>
                <a:ln w="19050" cap="rnd">
                  <a:solidFill>
                    <a:srgbClr val="FFFFFF"/>
                  </a:solidFill>
                  <a:round/>
                </a:ln>
              </p:spPr>
            </p:sp>
            <p:sp>
              <p:nvSpPr>
                <p:cNvPr id="43" name="Freeform 43"/>
                <p:cNvSpPr/>
                <p:nvPr/>
              </p:nvSpPr>
              <p:spPr>
                <a:xfrm>
                  <a:off x="6734175" y="2609850"/>
                  <a:ext cx="19050" cy="9525"/>
                </a:xfrm>
                <a:custGeom>
                  <a:avLst/>
                  <a:gdLst/>
                  <a:ahLst/>
                  <a:cxnLst/>
                  <a:rect l="l" t="t" r="r" b="b"/>
                  <a:pathLst>
                    <a:path w="19050" h="9525">
                      <a:moveTo>
                        <a:pt x="19050" y="0"/>
                      </a:moveTo>
                      <a:lnTo>
                        <a:pt x="0" y="0"/>
                      </a:lnTo>
                    </a:path>
                  </a:pathLst>
                </a:custGeom>
                <a:noFill/>
                <a:ln w="19050" cap="rnd">
                  <a:solidFill>
                    <a:srgbClr val="FFFFFF"/>
                  </a:solidFill>
                  <a:round/>
                </a:ln>
              </p:spPr>
            </p:sp>
            <p:sp>
              <p:nvSpPr>
                <p:cNvPr id="44" name="Freeform 44"/>
                <p:cNvSpPr/>
                <p:nvPr/>
              </p:nvSpPr>
              <p:spPr>
                <a:xfrm>
                  <a:off x="6686550" y="2657475"/>
                  <a:ext cx="9525" cy="19050"/>
                </a:xfrm>
                <a:custGeom>
                  <a:avLst/>
                  <a:gdLst/>
                  <a:ahLst/>
                  <a:cxnLst/>
                  <a:rect l="l" t="t" r="r" b="b"/>
                  <a:pathLst>
                    <a:path w="9525" h="19050">
                      <a:moveTo>
                        <a:pt x="0" y="19050"/>
                      </a:moveTo>
                      <a:lnTo>
                        <a:pt x="0" y="0"/>
                      </a:lnTo>
                    </a:path>
                  </a:pathLst>
                </a:custGeom>
                <a:noFill/>
                <a:ln w="19050" cap="rnd">
                  <a:solidFill>
                    <a:srgbClr val="FFFFFF"/>
                  </a:solidFill>
                  <a:round/>
                </a:ln>
              </p:spPr>
            </p:sp>
            <p:sp>
              <p:nvSpPr>
                <p:cNvPr id="45" name="Freeform 45"/>
                <p:cNvSpPr/>
                <p:nvPr/>
              </p:nvSpPr>
              <p:spPr>
                <a:xfrm>
                  <a:off x="6648450" y="2657475"/>
                  <a:ext cx="9525" cy="19050"/>
                </a:xfrm>
                <a:custGeom>
                  <a:avLst/>
                  <a:gdLst/>
                  <a:ahLst/>
                  <a:cxnLst/>
                  <a:rect l="l" t="t" r="r" b="b"/>
                  <a:pathLst>
                    <a:path w="9525" h="19050">
                      <a:moveTo>
                        <a:pt x="0" y="19050"/>
                      </a:moveTo>
                      <a:lnTo>
                        <a:pt x="0" y="0"/>
                      </a:lnTo>
                    </a:path>
                  </a:pathLst>
                </a:custGeom>
                <a:noFill/>
                <a:ln w="19050" cap="rnd">
                  <a:solidFill>
                    <a:srgbClr val="FFFFFF"/>
                  </a:solidFill>
                  <a:round/>
                </a:ln>
              </p:spPr>
            </p:sp>
          </p:grpSp>
          <p:sp>
            <p:nvSpPr>
              <p:cNvPr id="47" name="TextBox 47"/>
              <p:cNvSpPr txBox="1"/>
              <p:nvPr/>
            </p:nvSpPr>
            <p:spPr>
              <a:xfrm>
                <a:off x="6888480" y="2486025"/>
                <a:ext cx="3549637" cy="293370"/>
              </a:xfrm>
              <a:prstGeom prst="rect">
                <a:avLst/>
              </a:prstGeom>
              <a:noFill/>
              <a:ln>
                <a:noFill/>
              </a:ln>
            </p:spPr>
            <p:txBody>
              <a:bodyPr wrap="none" lIns="0" tIns="0" rIns="0" bIns="0" anchor="t" anchorCtr="0">
                <a:spAutoFit/>
              </a:bodyPr>
              <a:lstStyle/>
              <a:p>
                <a:pPr algn="l"/>
                <a:r>
                  <a:rPr lang="tr-TR" sz="1500" b="1" dirty="0">
                    <a:solidFill>
                      <a:srgbClr val="FFFFFF"/>
                    </a:solidFill>
                    <a:latin typeface="+mn-lt"/>
                    <a:ea typeface="+mn-ea"/>
                    <a:cs typeface="+mn-cs"/>
                  </a:rPr>
                  <a:t>Cihaz authentication'ı (Bu bölüm)</a:t>
                </a:r>
              </a:p>
            </p:txBody>
          </p:sp>
          <p:sp>
            <p:nvSpPr>
              <p:cNvPr id="48" name="TextBox 48"/>
              <p:cNvSpPr txBox="1"/>
              <p:nvPr/>
            </p:nvSpPr>
            <p:spPr>
              <a:xfrm>
                <a:off x="6547104" y="3013710"/>
                <a:ext cx="28199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Cihaza özgü sabit bir gizli anahtarla</a:t>
                </a:r>
              </a:p>
            </p:txBody>
          </p:sp>
          <p:sp>
            <p:nvSpPr>
              <p:cNvPr id="49" name="TextBox 49"/>
              <p:cNvSpPr txBox="1"/>
              <p:nvPr/>
            </p:nvSpPr>
            <p:spPr>
              <a:xfrm>
                <a:off x="6547104" y="3223260"/>
                <a:ext cx="270190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yanıt verir; basit ama yeterlidir.</a:t>
                </a:r>
              </a:p>
            </p:txBody>
          </p:sp>
          <p:sp>
            <p:nvSpPr>
              <p:cNvPr id="50" name="TextBox 50"/>
              <p:cNvSpPr txBox="1"/>
              <p:nvPr/>
            </p:nvSpPr>
            <p:spPr>
              <a:xfrm>
                <a:off x="6547104" y="3547110"/>
                <a:ext cx="296767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Kısıtlı donanım (ESP32), tam OAuth</a:t>
                </a:r>
              </a:p>
            </p:txBody>
          </p:sp>
          <p:sp>
            <p:nvSpPr>
              <p:cNvPr id="51" name="TextBox 51"/>
              <p:cNvSpPr txBox="1"/>
              <p:nvPr/>
            </p:nvSpPr>
            <p:spPr>
              <a:xfrm>
                <a:off x="6547104" y="3756660"/>
                <a:ext cx="254843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akışını pratikte çalıştıramaz.</a:t>
                </a:r>
              </a:p>
            </p:txBody>
          </p:sp>
          <p:sp>
            <p:nvSpPr>
              <p:cNvPr id="52" name="TextBox 52"/>
              <p:cNvSpPr txBox="1"/>
              <p:nvPr/>
            </p:nvSpPr>
            <p:spPr>
              <a:xfrm>
                <a:off x="6547104" y="4080510"/>
                <a:ext cx="265068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Kimlik: fiziksel donanım parçası,</a:t>
                </a:r>
              </a:p>
            </p:txBody>
          </p:sp>
          <p:sp>
            <p:nvSpPr>
              <p:cNvPr id="53" name="TextBox 53"/>
              <p:cNvSpPr txBox="1"/>
              <p:nvPr/>
            </p:nvSpPr>
            <p:spPr>
              <a:xfrm>
                <a:off x="6547104" y="4290060"/>
                <a:ext cx="32673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genellikle firmware içine gömülü anahtar.</a:t>
                </a:r>
              </a:p>
            </p:txBody>
          </p:sp>
        </p:grpSp>
      </p:grpSp>
      <p:grpSp>
        <p:nvGrpSpPr>
          <p:cNvPr id="60" name="theory-band"/>
          <p:cNvGrpSpPr/>
          <p:nvPr/>
        </p:nvGrpSpPr>
        <p:grpSpPr>
          <a:xfrm>
            <a:off x="609600" y="4876800"/>
            <a:ext cx="10972800" cy="952500"/>
            <a:chOff x="609600" y="4876800"/>
            <a:chExt cx="10972800" cy="952500"/>
          </a:xfrm>
        </p:grpSpPr>
        <p:sp>
          <p:nvSpPr>
            <p:cNvPr id="56" name="Rectangle 56"/>
            <p:cNvSpPr/>
            <p:nvPr/>
          </p:nvSpPr>
          <p:spPr>
            <a:xfrm>
              <a:off x="609600" y="4876800"/>
              <a:ext cx="10972800" cy="952500"/>
            </a:xfrm>
            <a:prstGeom prst="roundRect">
              <a:avLst>
                <a:gd name="adj" fmla="val 10000"/>
              </a:avLst>
            </a:prstGeom>
            <a:solidFill>
              <a:srgbClr val="F7FAFC"/>
            </a:solidFill>
            <a:ln w="9525">
              <a:solidFill>
                <a:srgbClr val="B8CBD3"/>
              </a:solidFill>
            </a:ln>
          </p:spPr>
        </p:sp>
        <p:sp>
          <p:nvSpPr>
            <p:cNvPr id="57" name="TextBox 57"/>
            <p:cNvSpPr txBox="1"/>
            <p:nvPr/>
          </p:nvSpPr>
          <p:spPr>
            <a:xfrm>
              <a:off x="907542" y="4997768"/>
              <a:ext cx="4839594"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Authentication ile authorization ayrımı (401 / 403)</a:t>
              </a:r>
            </a:p>
          </p:txBody>
        </p:sp>
        <p:sp>
          <p:nvSpPr>
            <p:cNvPr id="58" name="TextBox 58"/>
            <p:cNvSpPr txBox="1"/>
            <p:nvPr/>
          </p:nvSpPr>
          <p:spPr>
            <a:xfrm>
              <a:off x="908304" y="5261610"/>
              <a:ext cx="714311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Önce "bu cihaz kayıtlı mı" (authentication → 401), sonra "aktif mi" (authorization → 403)</a:t>
              </a:r>
            </a:p>
          </p:txBody>
        </p:sp>
        <p:sp>
          <p:nvSpPr>
            <p:cNvPr id="59" name="TextBox 59"/>
            <p:cNvSpPr txBox="1"/>
            <p:nvPr/>
          </p:nvSpPr>
          <p:spPr>
            <a:xfrm>
              <a:off x="908304" y="5471160"/>
              <a:ext cx="625586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sırayla kontrol edilir; yetkisiz cihaza anahtarının doğruluğu bile sızdırılmaz.</a:t>
              </a:r>
            </a:p>
          </p:txBody>
        </p:sp>
      </p:grpSp>
      <p:sp>
        <p:nvSpPr>
          <p:cNvPr id="61" name="TextBox 6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24</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6571897" cy="668845"/>
            <a:chOff x="609600" y="171450"/>
            <a:chExt cx="6571897"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24326"/>
                <a:ext cx="236220" cy="265748"/>
                <a:chOff x="777240" y="324326"/>
                <a:chExt cx="236220" cy="265748"/>
              </a:xfrm>
            </p:grpSpPr>
            <p:sp>
              <p:nvSpPr>
                <p:cNvPr id="5" name="Freeform 5"/>
                <p:cNvSpPr/>
                <p:nvPr/>
              </p:nvSpPr>
              <p:spPr>
                <a:xfrm>
                  <a:off x="777240" y="324326"/>
                  <a:ext cx="236220" cy="265748"/>
                </a:xfrm>
                <a:custGeom>
                  <a:avLst/>
                  <a:gdLst/>
                  <a:ahLst/>
                  <a:cxnLst/>
                  <a:rect l="l" t="t" r="r" b="b"/>
                  <a:pathLst>
                    <a:path w="236220" h="265748">
                      <a:moveTo>
                        <a:pt x="118110" y="0"/>
                      </a:moveTo>
                      <a:lnTo>
                        <a:pt x="236220" y="66437"/>
                      </a:lnTo>
                      <a:lnTo>
                        <a:pt x="236220" y="199311"/>
                      </a:lnTo>
                      <a:lnTo>
                        <a:pt x="118110" y="265748"/>
                      </a:lnTo>
                      <a:lnTo>
                        <a:pt x="0" y="199311"/>
                      </a:lnTo>
                      <a:lnTo>
                        <a:pt x="0" y="66437"/>
                      </a:lnTo>
                      <a:lnTo>
                        <a:pt x="118110" y="0"/>
                      </a:lnTo>
                    </a:path>
                  </a:pathLst>
                </a:custGeom>
                <a:noFill/>
                <a:ln w="24759" cap="rnd">
                  <a:solidFill>
                    <a:srgbClr val="FFFFFF"/>
                  </a:solidFill>
                  <a:round/>
                </a:ln>
              </p:spPr>
            </p:sp>
            <p:sp>
              <p:nvSpPr>
                <p:cNvPr id="6" name="Freeform 6"/>
                <p:cNvSpPr/>
                <p:nvPr/>
              </p:nvSpPr>
              <p:spPr>
                <a:xfrm>
                  <a:off x="895350" y="390763"/>
                  <a:ext cx="118110" cy="66437"/>
                </a:xfrm>
                <a:custGeom>
                  <a:avLst/>
                  <a:gdLst/>
                  <a:ahLst/>
                  <a:cxnLst/>
                  <a:rect l="l" t="t" r="r" b="b"/>
                  <a:pathLst>
                    <a:path w="118110" h="66437">
                      <a:moveTo>
                        <a:pt x="0" y="66437"/>
                      </a:moveTo>
                      <a:lnTo>
                        <a:pt x="118110" y="0"/>
                      </a:lnTo>
                    </a:path>
                  </a:pathLst>
                </a:custGeom>
                <a:noFill/>
                <a:ln w="24759" cap="rnd">
                  <a:solidFill>
                    <a:srgbClr val="FFFFFF"/>
                  </a:solidFill>
                  <a:round/>
                </a:ln>
              </p:spPr>
            </p:sp>
            <p:sp>
              <p:nvSpPr>
                <p:cNvPr id="7" name="Freeform 7"/>
                <p:cNvSpPr/>
                <p:nvPr/>
              </p:nvSpPr>
              <p:spPr>
                <a:xfrm>
                  <a:off x="895350" y="457200"/>
                  <a:ext cx="9525" cy="132874"/>
                </a:xfrm>
                <a:custGeom>
                  <a:avLst/>
                  <a:gdLst/>
                  <a:ahLst/>
                  <a:cxnLst/>
                  <a:rect l="l" t="t" r="r" b="b"/>
                  <a:pathLst>
                    <a:path w="9525" h="132874">
                      <a:moveTo>
                        <a:pt x="0" y="0"/>
                      </a:moveTo>
                      <a:lnTo>
                        <a:pt x="0" y="132874"/>
                      </a:lnTo>
                    </a:path>
                  </a:pathLst>
                </a:custGeom>
                <a:noFill/>
                <a:ln w="24759" cap="rnd">
                  <a:solidFill>
                    <a:srgbClr val="FFFFFF"/>
                  </a:solidFill>
                  <a:round/>
                </a:ln>
              </p:spPr>
            </p:sp>
            <p:sp>
              <p:nvSpPr>
                <p:cNvPr id="8" name="Freeform 8"/>
                <p:cNvSpPr/>
                <p:nvPr/>
              </p:nvSpPr>
              <p:spPr>
                <a:xfrm>
                  <a:off x="777240" y="390763"/>
                  <a:ext cx="118110" cy="66437"/>
                </a:xfrm>
                <a:custGeom>
                  <a:avLst/>
                  <a:gdLst/>
                  <a:ahLst/>
                  <a:cxnLst/>
                  <a:rect l="l" t="t" r="r" b="b"/>
                  <a:pathLst>
                    <a:path w="118110" h="66437">
                      <a:moveTo>
                        <a:pt x="118110" y="66437"/>
                      </a:moveTo>
                      <a:lnTo>
                        <a:pt x="0" y="0"/>
                      </a:lnTo>
                    </a:path>
                  </a:pathLst>
                </a:custGeom>
                <a:noFill/>
                <a:ln w="24759" cap="rnd">
                  <a:solidFill>
                    <a:srgbClr val="FFFFFF"/>
                  </a:solidFill>
                  <a:round/>
                </a:ln>
              </p:spPr>
            </p:sp>
          </p:grpSp>
        </p:grpSp>
        <p:sp>
          <p:nvSpPr>
            <p:cNvPr id="11" name="TextBox 11"/>
            <p:cNvSpPr txBox="1"/>
            <p:nvPr/>
          </p:nvSpPr>
          <p:spPr>
            <a:xfrm>
              <a:off x="1299972" y="282892"/>
              <a:ext cx="588152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16.2: cihaziDogrula akışı</a:t>
              </a:r>
            </a:p>
          </p:txBody>
        </p:sp>
      </p:grpSp>
      <p:grpSp>
        <p:nvGrpSpPr>
          <p:cNvPr id="34" name="flow-diagram"/>
          <p:cNvGrpSpPr/>
          <p:nvPr/>
        </p:nvGrpSpPr>
        <p:grpSpPr>
          <a:xfrm>
            <a:off x="685800" y="1447800"/>
            <a:ext cx="10820400" cy="2000250"/>
            <a:chOff x="685800" y="1447800"/>
            <a:chExt cx="10820400" cy="2000250"/>
          </a:xfrm>
        </p:grpSpPr>
        <p:sp>
          <p:nvSpPr>
            <p:cNvPr id="13" name="Rectangle 13"/>
            <p:cNvSpPr/>
            <p:nvPr/>
          </p:nvSpPr>
          <p:spPr>
            <a:xfrm>
              <a:off x="685800" y="1447800"/>
              <a:ext cx="2857500" cy="857250"/>
            </a:xfrm>
            <a:prstGeom prst="roundRect">
              <a:avLst>
                <a:gd name="adj" fmla="val 8889"/>
              </a:avLst>
            </a:prstGeom>
            <a:solidFill>
              <a:srgbClr val="FFFFFF"/>
            </a:solidFill>
            <a:ln w="14288">
              <a:solidFill>
                <a:srgbClr val="2E86AB"/>
              </a:solidFill>
            </a:ln>
          </p:spPr>
        </p:sp>
        <p:sp>
          <p:nvSpPr>
            <p:cNvPr id="14" name="TextBox 14"/>
            <p:cNvSpPr txBox="1"/>
            <p:nvPr/>
          </p:nvSpPr>
          <p:spPr>
            <a:xfrm>
              <a:off x="945642" y="1606868"/>
              <a:ext cx="1920090"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1. Cihaz kayıtlı mı?</a:t>
              </a:r>
            </a:p>
          </p:txBody>
        </p:sp>
        <p:sp>
          <p:nvSpPr>
            <p:cNvPr id="15" name="TextBox 15"/>
            <p:cNvSpPr txBox="1"/>
            <p:nvPr/>
          </p:nvSpPr>
          <p:spPr>
            <a:xfrm>
              <a:off x="946785" y="1878806"/>
              <a:ext cx="2123891"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kayitliCihazlar.find(cihazId)</a:t>
              </a:r>
            </a:p>
          </p:txBody>
        </p:sp>
        <p:sp>
          <p:nvSpPr>
            <p:cNvPr id="16" name="TextBox 16"/>
            <p:cNvSpPr txBox="1"/>
            <p:nvPr/>
          </p:nvSpPr>
          <p:spPr>
            <a:xfrm>
              <a:off x="946785" y="2069306"/>
              <a:ext cx="857701"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Yoksa → 401</a:t>
              </a:r>
            </a:p>
          </p:txBody>
        </p:sp>
        <p:sp>
          <p:nvSpPr>
            <p:cNvPr id="17" name="Rectangle 17"/>
            <p:cNvSpPr/>
            <p:nvPr/>
          </p:nvSpPr>
          <p:spPr>
            <a:xfrm>
              <a:off x="4667250" y="1447800"/>
              <a:ext cx="2857500" cy="857250"/>
            </a:xfrm>
            <a:prstGeom prst="roundRect">
              <a:avLst>
                <a:gd name="adj" fmla="val 8889"/>
              </a:avLst>
            </a:prstGeom>
            <a:solidFill>
              <a:srgbClr val="FFFFFF"/>
            </a:solidFill>
            <a:ln w="14288">
              <a:solidFill>
                <a:srgbClr val="2E86AB"/>
              </a:solidFill>
            </a:ln>
          </p:spPr>
        </p:sp>
        <p:sp>
          <p:nvSpPr>
            <p:cNvPr id="18" name="TextBox 18"/>
            <p:cNvSpPr txBox="1"/>
            <p:nvPr/>
          </p:nvSpPr>
          <p:spPr>
            <a:xfrm>
              <a:off x="4927092" y="1606868"/>
              <a:ext cx="166254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2. Cihaz aktif mi?</a:t>
              </a:r>
            </a:p>
          </p:txBody>
        </p:sp>
        <p:sp>
          <p:nvSpPr>
            <p:cNvPr id="19" name="TextBox 19"/>
            <p:cNvSpPr txBox="1"/>
            <p:nvPr/>
          </p:nvSpPr>
          <p:spPr>
            <a:xfrm>
              <a:off x="4928235" y="1878806"/>
              <a:ext cx="1564406"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cihaz.aktif === false</a:t>
              </a:r>
            </a:p>
          </p:txBody>
        </p:sp>
        <p:sp>
          <p:nvSpPr>
            <p:cNvPr id="20" name="TextBox 20"/>
            <p:cNvSpPr txBox="1"/>
            <p:nvPr/>
          </p:nvSpPr>
          <p:spPr>
            <a:xfrm>
              <a:off x="4928235" y="2069306"/>
              <a:ext cx="946191"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Değilse → 403</a:t>
              </a:r>
            </a:p>
          </p:txBody>
        </p:sp>
        <p:sp>
          <p:nvSpPr>
            <p:cNvPr id="21" name="Rectangle 21"/>
            <p:cNvSpPr/>
            <p:nvPr/>
          </p:nvSpPr>
          <p:spPr>
            <a:xfrm>
              <a:off x="8648700" y="1447800"/>
              <a:ext cx="2857500" cy="857250"/>
            </a:xfrm>
            <a:prstGeom prst="roundRect">
              <a:avLst>
                <a:gd name="adj" fmla="val 8889"/>
              </a:avLst>
            </a:prstGeom>
            <a:solidFill>
              <a:srgbClr val="EAF4F6"/>
            </a:solidFill>
            <a:ln w="14288">
              <a:solidFill>
                <a:srgbClr val="00A6A6"/>
              </a:solidFill>
            </a:ln>
          </p:spPr>
        </p:sp>
        <p:sp>
          <p:nvSpPr>
            <p:cNvPr id="22" name="TextBox 22"/>
            <p:cNvSpPr txBox="1"/>
            <p:nvPr/>
          </p:nvSpPr>
          <p:spPr>
            <a:xfrm>
              <a:off x="8908542" y="1606868"/>
              <a:ext cx="2015888"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3. Anahtar doğru mu?</a:t>
              </a:r>
            </a:p>
          </p:txBody>
        </p:sp>
        <p:sp>
          <p:nvSpPr>
            <p:cNvPr id="23" name="TextBox 23"/>
            <p:cNvSpPr txBox="1"/>
            <p:nvPr/>
          </p:nvSpPr>
          <p:spPr>
            <a:xfrm>
              <a:off x="8909685" y="1878806"/>
              <a:ext cx="2283287"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apiAnahtari !== sunulanAnahtar</a:t>
              </a:r>
            </a:p>
          </p:txBody>
        </p:sp>
        <p:sp>
          <p:nvSpPr>
            <p:cNvPr id="24" name="TextBox 24"/>
            <p:cNvSpPr txBox="1"/>
            <p:nvPr/>
          </p:nvSpPr>
          <p:spPr>
            <a:xfrm>
              <a:off x="8909685" y="2069306"/>
              <a:ext cx="1066726"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Yanlışsa → 401</a:t>
              </a:r>
            </a:p>
          </p:txBody>
        </p:sp>
        <p:sp>
          <p:nvSpPr>
            <p:cNvPr id="25" name="Line 25"/>
            <p:cNvSpPr/>
            <p:nvPr/>
          </p:nvSpPr>
          <p:spPr>
            <a:xfrm>
              <a:off x="3543300" y="1876425"/>
              <a:ext cx="1085850" cy="1"/>
            </a:xfrm>
            <a:prstGeom prst="line">
              <a:avLst/>
            </a:prstGeom>
            <a:noFill/>
            <a:ln w="23812">
              <a:solidFill>
                <a:srgbClr val="00A6A6"/>
              </a:solidFill>
              <a:tailEnd type="arrow" w="lg" len="lg"/>
            </a:ln>
          </p:spPr>
        </p:sp>
        <p:sp>
          <p:nvSpPr>
            <p:cNvPr id="26" name="Line 26"/>
            <p:cNvSpPr/>
            <p:nvPr/>
          </p:nvSpPr>
          <p:spPr>
            <a:xfrm>
              <a:off x="7524750" y="1876425"/>
              <a:ext cx="1085850" cy="1"/>
            </a:xfrm>
            <a:prstGeom prst="line">
              <a:avLst/>
            </a:prstGeom>
            <a:noFill/>
            <a:ln w="23812">
              <a:solidFill>
                <a:srgbClr val="00A6A6"/>
              </a:solidFill>
              <a:tailEnd type="arrow" w="lg" len="lg"/>
            </a:ln>
          </p:spPr>
        </p:sp>
        <p:sp>
          <p:nvSpPr>
            <p:cNvPr id="27" name="Rectangle 27"/>
            <p:cNvSpPr/>
            <p:nvPr/>
          </p:nvSpPr>
          <p:spPr>
            <a:xfrm>
              <a:off x="4667250" y="2781300"/>
              <a:ext cx="2857500" cy="666750"/>
            </a:xfrm>
            <a:prstGeom prst="roundRect">
              <a:avLst>
                <a:gd name="adj" fmla="val 11429"/>
              </a:avLst>
            </a:prstGeom>
            <a:solidFill>
              <a:srgbClr val="12355B"/>
            </a:solidFill>
            <a:ln>
              <a:noFill/>
            </a:ln>
          </p:spPr>
        </p:sp>
        <p:sp>
          <p:nvSpPr>
            <p:cNvPr id="28" name="TextBox 28"/>
            <p:cNvSpPr txBox="1"/>
            <p:nvPr/>
          </p:nvSpPr>
          <p:spPr>
            <a:xfrm>
              <a:off x="4927092" y="2921318"/>
              <a:ext cx="1660994"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Cihaz kaydı döner</a:t>
              </a:r>
            </a:p>
          </p:txBody>
        </p:sp>
        <p:sp>
          <p:nvSpPr>
            <p:cNvPr id="29" name="TextBox 29"/>
            <p:cNvSpPr txBox="1"/>
            <p:nvPr/>
          </p:nvSpPr>
          <p:spPr>
            <a:xfrm>
              <a:off x="4928235" y="3174206"/>
              <a:ext cx="2671318"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mn-lt"/>
                  <a:ea typeface="+mn-ea"/>
                  <a:cs typeface="+mn-cs"/>
                </a:rPr>
                <a:t>Doğrulandı: esp32-okuma-salonu-01</a:t>
              </a:r>
            </a:p>
          </p:txBody>
        </p:sp>
        <p:sp>
          <p:nvSpPr>
            <p:cNvPr id="30" name="Line 30"/>
            <p:cNvSpPr/>
            <p:nvPr/>
          </p:nvSpPr>
          <p:spPr>
            <a:xfrm>
              <a:off x="10077450" y="2305050"/>
              <a:ext cx="9525" cy="266700"/>
            </a:xfrm>
            <a:custGeom>
              <a:avLst/>
              <a:gdLst/>
              <a:ahLst/>
              <a:cxnLst/>
              <a:rect l="l" t="t" r="r" b="b"/>
              <a:pathLst>
                <a:path w="9525" h="266700">
                  <a:moveTo>
                    <a:pt x="0" y="0"/>
                  </a:moveTo>
                  <a:lnTo>
                    <a:pt x="0" y="266700"/>
                  </a:lnTo>
                </a:path>
              </a:pathLst>
            </a:custGeom>
            <a:noFill/>
            <a:ln w="19050">
              <a:solidFill>
                <a:srgbClr val="52616B"/>
              </a:solidFill>
              <a:custDash>
                <a:ds d="300000" sp="200000"/>
              </a:custDash>
            </a:ln>
          </p:spPr>
        </p:sp>
        <p:sp>
          <p:nvSpPr>
            <p:cNvPr id="31" name="Line 31"/>
            <p:cNvSpPr/>
            <p:nvPr/>
          </p:nvSpPr>
          <p:spPr>
            <a:xfrm>
              <a:off x="6096000" y="2571750"/>
              <a:ext cx="3981450" cy="9525"/>
            </a:xfrm>
            <a:custGeom>
              <a:avLst/>
              <a:gdLst/>
              <a:ahLst/>
              <a:cxnLst/>
              <a:rect l="l" t="t" r="r" b="b"/>
              <a:pathLst>
                <a:path w="3981450" h="9525">
                  <a:moveTo>
                    <a:pt x="3981450" y="0"/>
                  </a:moveTo>
                  <a:lnTo>
                    <a:pt x="0" y="0"/>
                  </a:lnTo>
                </a:path>
              </a:pathLst>
            </a:custGeom>
            <a:noFill/>
            <a:ln w="19050">
              <a:solidFill>
                <a:srgbClr val="52616B"/>
              </a:solidFill>
              <a:custDash>
                <a:ds d="300000" sp="200000"/>
              </a:custDash>
            </a:ln>
          </p:spPr>
        </p:sp>
        <p:sp>
          <p:nvSpPr>
            <p:cNvPr id="32" name="Line 32"/>
            <p:cNvSpPr/>
            <p:nvPr/>
          </p:nvSpPr>
          <p:spPr>
            <a:xfrm>
              <a:off x="6096000" y="2571750"/>
              <a:ext cx="1" cy="171450"/>
            </a:xfrm>
            <a:prstGeom prst="line">
              <a:avLst/>
            </a:prstGeom>
            <a:noFill/>
            <a:ln w="19050">
              <a:solidFill>
                <a:srgbClr val="52616B"/>
              </a:solidFill>
              <a:custDash>
                <a:ds d="300000" sp="200000"/>
              </a:custDash>
              <a:tailEnd type="arrow" w="lg" len="lg"/>
            </a:ln>
          </p:spPr>
        </p:sp>
        <p:sp>
          <p:nvSpPr>
            <p:cNvPr id="33" name="TextBox 33"/>
            <p:cNvSpPr txBox="1"/>
            <p:nvPr/>
          </p:nvSpPr>
          <p:spPr>
            <a:xfrm>
              <a:off x="6662166" y="2401252"/>
              <a:ext cx="160793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tüm kontroller geçerse</a:t>
              </a:r>
            </a:p>
          </p:txBody>
        </p:sp>
      </p:grpSp>
      <p:grpSp>
        <p:nvGrpSpPr>
          <p:cNvPr id="41" name="key-lines-panel"/>
          <p:cNvGrpSpPr/>
          <p:nvPr/>
        </p:nvGrpSpPr>
        <p:grpSpPr>
          <a:xfrm>
            <a:off x="609600" y="4343400"/>
            <a:ext cx="10972800" cy="1409700"/>
            <a:chOff x="609600" y="4343400"/>
            <a:chExt cx="10972800" cy="1409700"/>
          </a:xfrm>
        </p:grpSpPr>
        <p:sp>
          <p:nvSpPr>
            <p:cNvPr id="35" name="Rectangle 35"/>
            <p:cNvSpPr/>
            <p:nvPr/>
          </p:nvSpPr>
          <p:spPr>
            <a:xfrm>
              <a:off x="609600" y="4343400"/>
              <a:ext cx="10972800" cy="1409700"/>
            </a:xfrm>
            <a:prstGeom prst="roundRect">
              <a:avLst>
                <a:gd name="adj" fmla="val 6757"/>
              </a:avLst>
            </a:prstGeom>
            <a:solidFill>
              <a:srgbClr val="EAF4F6"/>
            </a:solidFill>
            <a:ln>
              <a:noFill/>
            </a:ln>
          </p:spPr>
        </p:sp>
        <p:sp>
          <p:nvSpPr>
            <p:cNvPr id="36" name="TextBox 36"/>
            <p:cNvSpPr txBox="1"/>
            <p:nvPr/>
          </p:nvSpPr>
          <p:spPr>
            <a:xfrm>
              <a:off x="906780" y="4467225"/>
              <a:ext cx="2248931"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Neden bu sıra önemli?</a:t>
              </a:r>
            </a:p>
          </p:txBody>
        </p:sp>
        <p:sp>
          <p:nvSpPr>
            <p:cNvPr id="37" name="TextBox 37"/>
            <p:cNvSpPr txBox="1"/>
            <p:nvPr/>
          </p:nvSpPr>
          <p:spPr>
            <a:xfrm>
              <a:off x="907923" y="4758214"/>
              <a:ext cx="7100938"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Kayıt bulunamazsa genel bir 401 döner; hangi cihazın var olduğu bilgisi sızdırılmaz.</a:t>
              </a:r>
            </a:p>
          </p:txBody>
        </p:sp>
        <p:sp>
          <p:nvSpPr>
            <p:cNvPr id="38" name="TextBox 38"/>
            <p:cNvSpPr txBox="1"/>
            <p:nvPr/>
          </p:nvSpPr>
          <p:spPr>
            <a:xfrm>
              <a:off x="907923" y="5005864"/>
              <a:ext cx="7385072"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Aktiflik kontrolü, anahtar kontrolünden önce yapılır: devre dışı bırakılmış bir cihaz,</a:t>
              </a:r>
            </a:p>
          </p:txBody>
        </p:sp>
        <p:sp>
          <p:nvSpPr>
            <p:cNvPr id="39" name="TextBox 39"/>
            <p:cNvSpPr txBox="1"/>
            <p:nvPr/>
          </p:nvSpPr>
          <p:spPr>
            <a:xfrm>
              <a:off x="907923" y="5253514"/>
              <a:ext cx="8290892"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doğru anahtarı bilse bile erişimi anında (403) kesilir — Bölüm 10'daki 401/403 mantığıyla aynıdır.</a:t>
              </a:r>
            </a:p>
          </p:txBody>
        </p:sp>
        <p:sp>
          <p:nvSpPr>
            <p:cNvPr id="40" name="TextBox 40"/>
            <p:cNvSpPr txBox="1"/>
            <p:nvPr/>
          </p:nvSpPr>
          <p:spPr>
            <a:xfrm>
              <a:off x="907923" y="5501164"/>
              <a:ext cx="10337259"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Dikkat: apiAnahtari !== sunulanAnahtar karşılaştırması sabit zamanlı değildir; üretimde crypto.timingSafeEqual gerekir.</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24</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7298605" cy="668845"/>
            <a:chOff x="609600" y="171450"/>
            <a:chExt cx="7298605"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24326"/>
                <a:ext cx="236220" cy="265748"/>
                <a:chOff x="777240" y="324326"/>
                <a:chExt cx="236220" cy="265748"/>
              </a:xfrm>
            </p:grpSpPr>
            <p:sp>
              <p:nvSpPr>
                <p:cNvPr id="5" name="Freeform 5"/>
                <p:cNvSpPr/>
                <p:nvPr/>
              </p:nvSpPr>
              <p:spPr>
                <a:xfrm>
                  <a:off x="777240" y="324326"/>
                  <a:ext cx="236220" cy="265748"/>
                </a:xfrm>
                <a:custGeom>
                  <a:avLst/>
                  <a:gdLst/>
                  <a:ahLst/>
                  <a:cxnLst/>
                  <a:rect l="l" t="t" r="r" b="b"/>
                  <a:pathLst>
                    <a:path w="236220" h="265748">
                      <a:moveTo>
                        <a:pt x="118110" y="0"/>
                      </a:moveTo>
                      <a:lnTo>
                        <a:pt x="236220" y="66437"/>
                      </a:lnTo>
                      <a:lnTo>
                        <a:pt x="236220" y="199311"/>
                      </a:lnTo>
                      <a:lnTo>
                        <a:pt x="118110" y="265748"/>
                      </a:lnTo>
                      <a:lnTo>
                        <a:pt x="0" y="199311"/>
                      </a:lnTo>
                      <a:lnTo>
                        <a:pt x="0" y="66437"/>
                      </a:lnTo>
                      <a:lnTo>
                        <a:pt x="118110" y="0"/>
                      </a:lnTo>
                    </a:path>
                  </a:pathLst>
                </a:custGeom>
                <a:noFill/>
                <a:ln w="24759" cap="rnd">
                  <a:solidFill>
                    <a:srgbClr val="FFFFFF"/>
                  </a:solidFill>
                  <a:round/>
                </a:ln>
              </p:spPr>
            </p:sp>
            <p:sp>
              <p:nvSpPr>
                <p:cNvPr id="6" name="Freeform 6"/>
                <p:cNvSpPr/>
                <p:nvPr/>
              </p:nvSpPr>
              <p:spPr>
                <a:xfrm>
                  <a:off x="895350" y="390763"/>
                  <a:ext cx="118110" cy="66437"/>
                </a:xfrm>
                <a:custGeom>
                  <a:avLst/>
                  <a:gdLst/>
                  <a:ahLst/>
                  <a:cxnLst/>
                  <a:rect l="l" t="t" r="r" b="b"/>
                  <a:pathLst>
                    <a:path w="118110" h="66437">
                      <a:moveTo>
                        <a:pt x="0" y="66437"/>
                      </a:moveTo>
                      <a:lnTo>
                        <a:pt x="118110" y="0"/>
                      </a:lnTo>
                    </a:path>
                  </a:pathLst>
                </a:custGeom>
                <a:noFill/>
                <a:ln w="24759" cap="rnd">
                  <a:solidFill>
                    <a:srgbClr val="FFFFFF"/>
                  </a:solidFill>
                  <a:round/>
                </a:ln>
              </p:spPr>
            </p:sp>
            <p:sp>
              <p:nvSpPr>
                <p:cNvPr id="7" name="Freeform 7"/>
                <p:cNvSpPr/>
                <p:nvPr/>
              </p:nvSpPr>
              <p:spPr>
                <a:xfrm>
                  <a:off x="895350" y="457200"/>
                  <a:ext cx="9525" cy="132874"/>
                </a:xfrm>
                <a:custGeom>
                  <a:avLst/>
                  <a:gdLst/>
                  <a:ahLst/>
                  <a:cxnLst/>
                  <a:rect l="l" t="t" r="r" b="b"/>
                  <a:pathLst>
                    <a:path w="9525" h="132874">
                      <a:moveTo>
                        <a:pt x="0" y="0"/>
                      </a:moveTo>
                      <a:lnTo>
                        <a:pt x="0" y="132874"/>
                      </a:lnTo>
                    </a:path>
                  </a:pathLst>
                </a:custGeom>
                <a:noFill/>
                <a:ln w="24759" cap="rnd">
                  <a:solidFill>
                    <a:srgbClr val="FFFFFF"/>
                  </a:solidFill>
                  <a:round/>
                </a:ln>
              </p:spPr>
            </p:sp>
            <p:sp>
              <p:nvSpPr>
                <p:cNvPr id="8" name="Freeform 8"/>
                <p:cNvSpPr/>
                <p:nvPr/>
              </p:nvSpPr>
              <p:spPr>
                <a:xfrm>
                  <a:off x="777240" y="390763"/>
                  <a:ext cx="118110" cy="66437"/>
                </a:xfrm>
                <a:custGeom>
                  <a:avLst/>
                  <a:gdLst/>
                  <a:ahLst/>
                  <a:cxnLst/>
                  <a:rect l="l" t="t" r="r" b="b"/>
                  <a:pathLst>
                    <a:path w="118110" h="66437">
                      <a:moveTo>
                        <a:pt x="118110" y="66437"/>
                      </a:moveTo>
                      <a:lnTo>
                        <a:pt x="0" y="0"/>
                      </a:lnTo>
                    </a:path>
                  </a:pathLst>
                </a:custGeom>
                <a:noFill/>
                <a:ln w="24759" cap="rnd">
                  <a:solidFill>
                    <a:srgbClr val="FFFFFF"/>
                  </a:solidFill>
                  <a:round/>
                </a:ln>
              </p:spPr>
            </p:sp>
          </p:grpSp>
        </p:grpSp>
        <p:sp>
          <p:nvSpPr>
            <p:cNvPr id="11" name="TextBox 11"/>
            <p:cNvSpPr txBox="1"/>
            <p:nvPr/>
          </p:nvSpPr>
          <p:spPr>
            <a:xfrm>
              <a:off x="1299972" y="282892"/>
              <a:ext cx="660823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Cihaz doğrulamada yaygın hatalar</a:t>
              </a:r>
            </a:p>
          </p:txBody>
        </p:sp>
      </p:grpSp>
      <p:grpSp>
        <p:nvGrpSpPr>
          <p:cNvPr id="22" name="error-1"/>
          <p:cNvGrpSpPr/>
          <p:nvPr/>
        </p:nvGrpSpPr>
        <p:grpSpPr>
          <a:xfrm>
            <a:off x="609600" y="1257300"/>
            <a:ext cx="10972800" cy="1143000"/>
            <a:chOff x="609600" y="1257300"/>
            <a:chExt cx="10972800" cy="1143000"/>
          </a:xfrm>
        </p:grpSpPr>
        <p:sp>
          <p:nvSpPr>
            <p:cNvPr id="13" name="Rectangle 13"/>
            <p:cNvSpPr/>
            <p:nvPr/>
          </p:nvSpPr>
          <p:spPr>
            <a:xfrm>
              <a:off x="609600" y="1257300"/>
              <a:ext cx="10972800" cy="1143000"/>
            </a:xfrm>
            <a:prstGeom prst="roundRect">
              <a:avLst>
                <a:gd name="adj" fmla="val 8333"/>
              </a:avLst>
            </a:prstGeom>
            <a:solidFill>
              <a:srgbClr val="FFFFFF"/>
            </a:solidFill>
            <a:ln w="9525">
              <a:solidFill>
                <a:srgbClr val="B8CBD3"/>
              </a:solidFill>
            </a:ln>
          </p:spPr>
        </p:sp>
        <p:sp>
          <p:nvSpPr>
            <p:cNvPr id="14" name="Rectangle 14"/>
            <p:cNvSpPr/>
            <p:nvPr/>
          </p:nvSpPr>
          <p:spPr>
            <a:xfrm>
              <a:off x="609600" y="1257300"/>
              <a:ext cx="57150" cy="1143000"/>
            </a:xfrm>
            <a:prstGeom prst="rect">
              <a:avLst/>
            </a:prstGeom>
            <a:solidFill>
              <a:srgbClr val="00A6A6"/>
            </a:solidFill>
            <a:ln>
              <a:noFill/>
            </a:ln>
          </p:spPr>
        </p:sp>
        <p:grpSp>
          <p:nvGrpSpPr>
            <p:cNvPr id="18" name="icon-e1"/>
            <p:cNvGrpSpPr/>
            <p:nvPr/>
          </p:nvGrpSpPr>
          <p:grpSpPr>
            <a:xfrm>
              <a:off x="935680" y="1515547"/>
              <a:ext cx="224139" cy="192565"/>
              <a:chOff x="935680" y="1515547"/>
              <a:chExt cx="224139" cy="192565"/>
            </a:xfrm>
          </p:grpSpPr>
          <p:sp>
            <p:nvSpPr>
              <p:cNvPr id="15" name="Freeform 15"/>
              <p:cNvSpPr/>
              <p:nvPr/>
            </p:nvSpPr>
            <p:spPr>
              <a:xfrm>
                <a:off x="1047754" y="1585915"/>
                <a:ext cx="9525" cy="44451"/>
              </a:xfrm>
              <a:custGeom>
                <a:avLst/>
                <a:gdLst/>
                <a:ahLst/>
                <a:cxnLst/>
                <a:rect l="l" t="t" r="r" b="b"/>
                <a:pathLst>
                  <a:path w="9525" h="44451">
                    <a:moveTo>
                      <a:pt x="0" y="0"/>
                    </a:moveTo>
                    <a:lnTo>
                      <a:pt x="0" y="44451"/>
                    </a:lnTo>
                  </a:path>
                </a:pathLst>
              </a:custGeom>
              <a:noFill/>
              <a:ln w="19047" cap="rnd">
                <a:solidFill>
                  <a:srgbClr val="12355B"/>
                </a:solidFill>
                <a:round/>
              </a:ln>
            </p:spPr>
          </p:sp>
          <p:sp>
            <p:nvSpPr>
              <p:cNvPr id="16" name="Freeform 16"/>
              <p:cNvSpPr/>
              <p:nvPr/>
            </p:nvSpPr>
            <p:spPr>
              <a:xfrm>
                <a:off x="935680" y="1515547"/>
                <a:ext cx="224139" cy="192565"/>
              </a:xfrm>
              <a:custGeom>
                <a:avLst/>
                <a:gdLst/>
                <a:ahLst/>
                <a:cxnLst/>
                <a:rect l="l" t="t" r="r" b="b"/>
                <a:pathLst>
                  <a:path w="224139" h="192565">
                    <a:moveTo>
                      <a:pt x="93882" y="10260"/>
                    </a:moveTo>
                    <a:lnTo>
                      <a:pt x="3802" y="160660"/>
                    </a:lnTo>
                    <a:cubicBezTo>
                      <a:pt x="23" y="167204"/>
                      <a:pt x="0" y="175262"/>
                      <a:pt x="3741" y="181827"/>
                    </a:cubicBezTo>
                    <a:cubicBezTo>
                      <a:pt x="7483" y="188393"/>
                      <a:pt x="14426" y="192480"/>
                      <a:pt x="21982" y="192565"/>
                    </a:cubicBezTo>
                    <a:lnTo>
                      <a:pt x="202166" y="192565"/>
                    </a:lnTo>
                    <a:cubicBezTo>
                      <a:pt x="209718" y="192478"/>
                      <a:pt x="216658" y="188392"/>
                      <a:pt x="220399" y="181830"/>
                    </a:cubicBezTo>
                    <a:cubicBezTo>
                      <a:pt x="224139" y="175268"/>
                      <a:pt x="224119" y="167215"/>
                      <a:pt x="220346" y="160672"/>
                    </a:cubicBezTo>
                    <a:lnTo>
                      <a:pt x="130266" y="10248"/>
                    </a:lnTo>
                    <a:cubicBezTo>
                      <a:pt x="126411" y="3886"/>
                      <a:pt x="119513" y="0"/>
                      <a:pt x="112074" y="0"/>
                    </a:cubicBezTo>
                    <a:cubicBezTo>
                      <a:pt x="104635" y="0"/>
                      <a:pt x="97737" y="3886"/>
                      <a:pt x="93882" y="10248"/>
                    </a:cubicBezTo>
                  </a:path>
                </a:pathLst>
              </a:custGeom>
              <a:noFill/>
              <a:ln w="19047" cap="rnd">
                <a:solidFill>
                  <a:srgbClr val="12355B"/>
                </a:solidFill>
                <a:round/>
              </a:ln>
            </p:spPr>
          </p:sp>
          <p:sp>
            <p:nvSpPr>
              <p:cNvPr id="17" name="Freeform 17"/>
              <p:cNvSpPr/>
              <p:nvPr/>
            </p:nvSpPr>
            <p:spPr>
              <a:xfrm>
                <a:off x="1047754" y="1663705"/>
                <a:ext cx="9525" cy="9525"/>
              </a:xfrm>
              <a:custGeom>
                <a:avLst/>
                <a:gdLst/>
                <a:ahLst/>
                <a:cxnLst/>
                <a:rect l="l" t="t" r="r" b="b"/>
                <a:pathLst>
                  <a:path w="9525" h="9525">
                    <a:moveTo>
                      <a:pt x="0" y="0"/>
                    </a:moveTo>
                    <a:lnTo>
                      <a:pt x="111" y="0"/>
                    </a:lnTo>
                  </a:path>
                </a:pathLst>
              </a:custGeom>
              <a:noFill/>
              <a:ln w="19047" cap="rnd">
                <a:solidFill>
                  <a:srgbClr val="12355B"/>
                </a:solidFill>
                <a:round/>
              </a:ln>
            </p:spPr>
          </p:sp>
        </p:grpSp>
        <p:sp>
          <p:nvSpPr>
            <p:cNvPr id="19" name="TextBox 19"/>
            <p:cNvSpPr txBox="1"/>
            <p:nvPr/>
          </p:nvSpPr>
          <p:spPr>
            <a:xfrm>
              <a:off x="1363599" y="1506379"/>
              <a:ext cx="552844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Devre dışı cihazın anahtarını yine geçerli saymak</a:t>
              </a:r>
            </a:p>
          </p:txBody>
        </p:sp>
        <p:sp>
          <p:nvSpPr>
            <p:cNvPr id="20" name="TextBox 20"/>
            <p:cNvSpPr txBox="1"/>
            <p:nvPr/>
          </p:nvSpPr>
          <p:spPr>
            <a:xfrm>
              <a:off x="1365123" y="1805464"/>
              <a:ext cx="6827957"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aktif: false olan bir cihaz yalnızca anahtar eşleşmesine bakılarak kabul edilirse,</a:t>
              </a:r>
            </a:p>
          </p:txBody>
        </p:sp>
        <p:sp>
          <p:nvSpPr>
            <p:cNvPr id="21" name="TextBox 21"/>
            <p:cNvSpPr txBox="1"/>
            <p:nvPr/>
          </p:nvSpPr>
          <p:spPr>
            <a:xfrm>
              <a:off x="1365123" y="2034064"/>
              <a:ext cx="6328247"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çalınan bir cihaz devre dışı bırakılsa bile veri göndermeye devam edebilir.</a:t>
              </a:r>
            </a:p>
          </p:txBody>
        </p:sp>
      </p:grpSp>
      <p:grpSp>
        <p:nvGrpSpPr>
          <p:cNvPr id="32" name="error-2"/>
          <p:cNvGrpSpPr/>
          <p:nvPr/>
        </p:nvGrpSpPr>
        <p:grpSpPr>
          <a:xfrm>
            <a:off x="609600" y="2552700"/>
            <a:ext cx="10972800" cy="1143000"/>
            <a:chOff x="609600" y="2552700"/>
            <a:chExt cx="10972800" cy="1143000"/>
          </a:xfrm>
        </p:grpSpPr>
        <p:sp>
          <p:nvSpPr>
            <p:cNvPr id="23" name="Rectangle 23"/>
            <p:cNvSpPr/>
            <p:nvPr/>
          </p:nvSpPr>
          <p:spPr>
            <a:xfrm>
              <a:off x="609600" y="2552700"/>
              <a:ext cx="10972800" cy="1143000"/>
            </a:xfrm>
            <a:prstGeom prst="roundRect">
              <a:avLst>
                <a:gd name="adj" fmla="val 8333"/>
              </a:avLst>
            </a:prstGeom>
            <a:solidFill>
              <a:srgbClr val="FFFFFF"/>
            </a:solidFill>
            <a:ln w="9525">
              <a:solidFill>
                <a:srgbClr val="B8CBD3"/>
              </a:solidFill>
            </a:ln>
          </p:spPr>
        </p:sp>
        <p:sp>
          <p:nvSpPr>
            <p:cNvPr id="24" name="Rectangle 24"/>
            <p:cNvSpPr/>
            <p:nvPr/>
          </p:nvSpPr>
          <p:spPr>
            <a:xfrm>
              <a:off x="609600" y="2552700"/>
              <a:ext cx="57150" cy="1143000"/>
            </a:xfrm>
            <a:prstGeom prst="rect">
              <a:avLst/>
            </a:prstGeom>
            <a:solidFill>
              <a:srgbClr val="00A6A6"/>
            </a:solidFill>
            <a:ln>
              <a:noFill/>
            </a:ln>
          </p:spPr>
        </p:sp>
        <p:grpSp>
          <p:nvGrpSpPr>
            <p:cNvPr id="28" name="icon-e2"/>
            <p:cNvGrpSpPr/>
            <p:nvPr/>
          </p:nvGrpSpPr>
          <p:grpSpPr>
            <a:xfrm>
              <a:off x="935680" y="2810947"/>
              <a:ext cx="224139" cy="192565"/>
              <a:chOff x="935680" y="2810947"/>
              <a:chExt cx="224139" cy="192565"/>
            </a:xfrm>
          </p:grpSpPr>
          <p:sp>
            <p:nvSpPr>
              <p:cNvPr id="25" name="Freeform 25"/>
              <p:cNvSpPr/>
              <p:nvPr/>
            </p:nvSpPr>
            <p:spPr>
              <a:xfrm>
                <a:off x="1047754" y="2881315"/>
                <a:ext cx="9525" cy="44451"/>
              </a:xfrm>
              <a:custGeom>
                <a:avLst/>
                <a:gdLst/>
                <a:ahLst/>
                <a:cxnLst/>
                <a:rect l="l" t="t" r="r" b="b"/>
                <a:pathLst>
                  <a:path w="9525" h="44451">
                    <a:moveTo>
                      <a:pt x="0" y="0"/>
                    </a:moveTo>
                    <a:lnTo>
                      <a:pt x="0" y="44451"/>
                    </a:lnTo>
                  </a:path>
                </a:pathLst>
              </a:custGeom>
              <a:noFill/>
              <a:ln w="19047" cap="rnd">
                <a:solidFill>
                  <a:srgbClr val="12355B"/>
                </a:solidFill>
                <a:round/>
              </a:ln>
            </p:spPr>
          </p:sp>
          <p:sp>
            <p:nvSpPr>
              <p:cNvPr id="26" name="Freeform 26"/>
              <p:cNvSpPr/>
              <p:nvPr/>
            </p:nvSpPr>
            <p:spPr>
              <a:xfrm>
                <a:off x="935680" y="2810947"/>
                <a:ext cx="224139" cy="192565"/>
              </a:xfrm>
              <a:custGeom>
                <a:avLst/>
                <a:gdLst/>
                <a:ahLst/>
                <a:cxnLst/>
                <a:rect l="l" t="t" r="r" b="b"/>
                <a:pathLst>
                  <a:path w="224139" h="192565">
                    <a:moveTo>
                      <a:pt x="93882" y="10260"/>
                    </a:moveTo>
                    <a:lnTo>
                      <a:pt x="3802" y="160660"/>
                    </a:lnTo>
                    <a:cubicBezTo>
                      <a:pt x="23" y="167204"/>
                      <a:pt x="0" y="175262"/>
                      <a:pt x="3741" y="181827"/>
                    </a:cubicBezTo>
                    <a:cubicBezTo>
                      <a:pt x="7483" y="188393"/>
                      <a:pt x="14426" y="192480"/>
                      <a:pt x="21982" y="192565"/>
                    </a:cubicBezTo>
                    <a:lnTo>
                      <a:pt x="202166" y="192565"/>
                    </a:lnTo>
                    <a:cubicBezTo>
                      <a:pt x="209718" y="192478"/>
                      <a:pt x="216658" y="188392"/>
                      <a:pt x="220399" y="181830"/>
                    </a:cubicBezTo>
                    <a:cubicBezTo>
                      <a:pt x="224139" y="175268"/>
                      <a:pt x="224119" y="167215"/>
                      <a:pt x="220346" y="160672"/>
                    </a:cubicBezTo>
                    <a:lnTo>
                      <a:pt x="130266" y="10248"/>
                    </a:lnTo>
                    <a:cubicBezTo>
                      <a:pt x="126411" y="3886"/>
                      <a:pt x="119513" y="0"/>
                      <a:pt x="112074" y="0"/>
                    </a:cubicBezTo>
                    <a:cubicBezTo>
                      <a:pt x="104635" y="0"/>
                      <a:pt x="97737" y="3886"/>
                      <a:pt x="93882" y="10248"/>
                    </a:cubicBezTo>
                  </a:path>
                </a:pathLst>
              </a:custGeom>
              <a:noFill/>
              <a:ln w="19047" cap="rnd">
                <a:solidFill>
                  <a:srgbClr val="12355B"/>
                </a:solidFill>
                <a:round/>
              </a:ln>
            </p:spPr>
          </p:sp>
          <p:sp>
            <p:nvSpPr>
              <p:cNvPr id="27" name="Freeform 27"/>
              <p:cNvSpPr/>
              <p:nvPr/>
            </p:nvSpPr>
            <p:spPr>
              <a:xfrm>
                <a:off x="1047754" y="2959105"/>
                <a:ext cx="9525" cy="9525"/>
              </a:xfrm>
              <a:custGeom>
                <a:avLst/>
                <a:gdLst/>
                <a:ahLst/>
                <a:cxnLst/>
                <a:rect l="l" t="t" r="r" b="b"/>
                <a:pathLst>
                  <a:path w="9525" h="9525">
                    <a:moveTo>
                      <a:pt x="0" y="0"/>
                    </a:moveTo>
                    <a:lnTo>
                      <a:pt x="111" y="0"/>
                    </a:lnTo>
                  </a:path>
                </a:pathLst>
              </a:custGeom>
              <a:noFill/>
              <a:ln w="19047" cap="rnd">
                <a:solidFill>
                  <a:srgbClr val="12355B"/>
                </a:solidFill>
                <a:round/>
              </a:ln>
            </p:spPr>
          </p:sp>
        </p:grpSp>
        <p:sp>
          <p:nvSpPr>
            <p:cNvPr id="29" name="TextBox 29"/>
            <p:cNvSpPr txBox="1"/>
            <p:nvPr/>
          </p:nvSpPr>
          <p:spPr>
            <a:xfrm>
              <a:off x="1363599" y="2801779"/>
              <a:ext cx="481669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API anahtarını URL sorgu dizesinde taşımak</a:t>
              </a:r>
            </a:p>
          </p:txBody>
        </p:sp>
        <p:sp>
          <p:nvSpPr>
            <p:cNvPr id="30" name="TextBox 30"/>
            <p:cNvSpPr txBox="1"/>
            <p:nvPr/>
          </p:nvSpPr>
          <p:spPr>
            <a:xfrm>
              <a:off x="1365123" y="3100864"/>
              <a:ext cx="7274931"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URL'ler sunucu loglarında ve tarayıcı geçmişinde saklanabildiği için anahtar sızabilir;</a:t>
              </a:r>
            </a:p>
          </p:txBody>
        </p:sp>
        <p:sp>
          <p:nvSpPr>
            <p:cNvPr id="31" name="TextBox 31"/>
            <p:cNvSpPr txBox="1"/>
            <p:nvPr/>
          </p:nvSpPr>
          <p:spPr>
            <a:xfrm>
              <a:off x="1365123" y="3329464"/>
              <a:ext cx="4725682"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anahtar bir HTTP başlığında (X-Api-Key) taşınmalıdır.</a:t>
              </a:r>
            </a:p>
          </p:txBody>
        </p:sp>
      </p:grpSp>
      <p:grpSp>
        <p:nvGrpSpPr>
          <p:cNvPr id="42" name="error-3"/>
          <p:cNvGrpSpPr/>
          <p:nvPr/>
        </p:nvGrpSpPr>
        <p:grpSpPr>
          <a:xfrm>
            <a:off x="609600" y="3848100"/>
            <a:ext cx="10972800" cy="1143000"/>
            <a:chOff x="609600" y="3848100"/>
            <a:chExt cx="10972800" cy="1143000"/>
          </a:xfrm>
        </p:grpSpPr>
        <p:sp>
          <p:nvSpPr>
            <p:cNvPr id="33" name="Rectangle 33"/>
            <p:cNvSpPr/>
            <p:nvPr/>
          </p:nvSpPr>
          <p:spPr>
            <a:xfrm>
              <a:off x="609600" y="3848100"/>
              <a:ext cx="10972800" cy="1143000"/>
            </a:xfrm>
            <a:prstGeom prst="roundRect">
              <a:avLst>
                <a:gd name="adj" fmla="val 8333"/>
              </a:avLst>
            </a:prstGeom>
            <a:solidFill>
              <a:srgbClr val="FFFFFF"/>
            </a:solidFill>
            <a:ln w="9525">
              <a:solidFill>
                <a:srgbClr val="B8CBD3"/>
              </a:solidFill>
            </a:ln>
          </p:spPr>
        </p:sp>
        <p:sp>
          <p:nvSpPr>
            <p:cNvPr id="34" name="Rectangle 34"/>
            <p:cNvSpPr/>
            <p:nvPr/>
          </p:nvSpPr>
          <p:spPr>
            <a:xfrm>
              <a:off x="609600" y="3848100"/>
              <a:ext cx="57150" cy="1143000"/>
            </a:xfrm>
            <a:prstGeom prst="rect">
              <a:avLst/>
            </a:prstGeom>
            <a:solidFill>
              <a:srgbClr val="00A6A6"/>
            </a:solidFill>
            <a:ln>
              <a:noFill/>
            </a:ln>
          </p:spPr>
        </p:sp>
        <p:grpSp>
          <p:nvGrpSpPr>
            <p:cNvPr id="38" name="icon-e3"/>
            <p:cNvGrpSpPr/>
            <p:nvPr/>
          </p:nvGrpSpPr>
          <p:grpSpPr>
            <a:xfrm>
              <a:off x="935680" y="4106347"/>
              <a:ext cx="224139" cy="192565"/>
              <a:chOff x="935680" y="4106347"/>
              <a:chExt cx="224139" cy="192565"/>
            </a:xfrm>
          </p:grpSpPr>
          <p:sp>
            <p:nvSpPr>
              <p:cNvPr id="35" name="Freeform 35"/>
              <p:cNvSpPr/>
              <p:nvPr/>
            </p:nvSpPr>
            <p:spPr>
              <a:xfrm>
                <a:off x="1047754" y="4176715"/>
                <a:ext cx="9525" cy="44451"/>
              </a:xfrm>
              <a:custGeom>
                <a:avLst/>
                <a:gdLst/>
                <a:ahLst/>
                <a:cxnLst/>
                <a:rect l="l" t="t" r="r" b="b"/>
                <a:pathLst>
                  <a:path w="9525" h="44451">
                    <a:moveTo>
                      <a:pt x="0" y="0"/>
                    </a:moveTo>
                    <a:lnTo>
                      <a:pt x="0" y="44451"/>
                    </a:lnTo>
                  </a:path>
                </a:pathLst>
              </a:custGeom>
              <a:noFill/>
              <a:ln w="19047" cap="rnd">
                <a:solidFill>
                  <a:srgbClr val="12355B"/>
                </a:solidFill>
                <a:round/>
              </a:ln>
            </p:spPr>
          </p:sp>
          <p:sp>
            <p:nvSpPr>
              <p:cNvPr id="36" name="Freeform 36"/>
              <p:cNvSpPr/>
              <p:nvPr/>
            </p:nvSpPr>
            <p:spPr>
              <a:xfrm>
                <a:off x="935680" y="4106347"/>
                <a:ext cx="224139" cy="192565"/>
              </a:xfrm>
              <a:custGeom>
                <a:avLst/>
                <a:gdLst/>
                <a:ahLst/>
                <a:cxnLst/>
                <a:rect l="l" t="t" r="r" b="b"/>
                <a:pathLst>
                  <a:path w="224139" h="192565">
                    <a:moveTo>
                      <a:pt x="93882" y="10260"/>
                    </a:moveTo>
                    <a:lnTo>
                      <a:pt x="3802" y="160660"/>
                    </a:lnTo>
                    <a:cubicBezTo>
                      <a:pt x="23" y="167204"/>
                      <a:pt x="0" y="175262"/>
                      <a:pt x="3741" y="181827"/>
                    </a:cubicBezTo>
                    <a:cubicBezTo>
                      <a:pt x="7483" y="188393"/>
                      <a:pt x="14426" y="192480"/>
                      <a:pt x="21982" y="192565"/>
                    </a:cubicBezTo>
                    <a:lnTo>
                      <a:pt x="202166" y="192565"/>
                    </a:lnTo>
                    <a:cubicBezTo>
                      <a:pt x="209718" y="192478"/>
                      <a:pt x="216658" y="188392"/>
                      <a:pt x="220399" y="181830"/>
                    </a:cubicBezTo>
                    <a:cubicBezTo>
                      <a:pt x="224139" y="175268"/>
                      <a:pt x="224119" y="167215"/>
                      <a:pt x="220346" y="160672"/>
                    </a:cubicBezTo>
                    <a:lnTo>
                      <a:pt x="130266" y="10248"/>
                    </a:lnTo>
                    <a:cubicBezTo>
                      <a:pt x="126411" y="3886"/>
                      <a:pt x="119513" y="0"/>
                      <a:pt x="112074" y="0"/>
                    </a:cubicBezTo>
                    <a:cubicBezTo>
                      <a:pt x="104635" y="0"/>
                      <a:pt x="97737" y="3886"/>
                      <a:pt x="93882" y="10248"/>
                    </a:cubicBezTo>
                  </a:path>
                </a:pathLst>
              </a:custGeom>
              <a:noFill/>
              <a:ln w="19047" cap="rnd">
                <a:solidFill>
                  <a:srgbClr val="12355B"/>
                </a:solidFill>
                <a:round/>
              </a:ln>
            </p:spPr>
          </p:sp>
          <p:sp>
            <p:nvSpPr>
              <p:cNvPr id="37" name="Freeform 37"/>
              <p:cNvSpPr/>
              <p:nvPr/>
            </p:nvSpPr>
            <p:spPr>
              <a:xfrm>
                <a:off x="1047754" y="4254505"/>
                <a:ext cx="9525" cy="9525"/>
              </a:xfrm>
              <a:custGeom>
                <a:avLst/>
                <a:gdLst/>
                <a:ahLst/>
                <a:cxnLst/>
                <a:rect l="l" t="t" r="r" b="b"/>
                <a:pathLst>
                  <a:path w="9525" h="9525">
                    <a:moveTo>
                      <a:pt x="0" y="0"/>
                    </a:moveTo>
                    <a:lnTo>
                      <a:pt x="111" y="0"/>
                    </a:lnTo>
                  </a:path>
                </a:pathLst>
              </a:custGeom>
              <a:noFill/>
              <a:ln w="19047" cap="rnd">
                <a:solidFill>
                  <a:srgbClr val="12355B"/>
                </a:solidFill>
                <a:round/>
              </a:ln>
            </p:spPr>
          </p:sp>
        </p:grpSp>
        <p:sp>
          <p:nvSpPr>
            <p:cNvPr id="39" name="TextBox 39"/>
            <p:cNvSpPr txBox="1"/>
            <p:nvPr/>
          </p:nvSpPr>
          <p:spPr>
            <a:xfrm>
              <a:off x="1363599" y="4097179"/>
              <a:ext cx="585205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Tüm cihazlar için tek bir paylaşılan anahtar kullanmak</a:t>
              </a:r>
            </a:p>
          </p:txBody>
        </p:sp>
        <p:sp>
          <p:nvSpPr>
            <p:cNvPr id="40" name="TextBox 40"/>
            <p:cNvSpPr txBox="1"/>
            <p:nvPr/>
          </p:nvSpPr>
          <p:spPr>
            <a:xfrm>
              <a:off x="1365123" y="4396264"/>
              <a:ext cx="6609356"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Bir cihaz ele geçirildiğinde bu anahtar tüm filo için iptal edilmek zorunda kalır;</a:t>
              </a:r>
            </a:p>
          </p:txBody>
        </p:sp>
        <p:sp>
          <p:nvSpPr>
            <p:cNvPr id="41" name="TextBox 41"/>
            <p:cNvSpPr txBox="1"/>
            <p:nvPr/>
          </p:nvSpPr>
          <p:spPr>
            <a:xfrm>
              <a:off x="1365123" y="4624864"/>
              <a:ext cx="4691268"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her cihazın kendine özgü benzersiz anahtarı olmalıdır.</a:t>
              </a:r>
            </a:p>
          </p:txBody>
        </p:sp>
      </p:grpSp>
      <p:grpSp>
        <p:nvGrpSpPr>
          <p:cNvPr id="52" name="error-4"/>
          <p:cNvGrpSpPr/>
          <p:nvPr/>
        </p:nvGrpSpPr>
        <p:grpSpPr>
          <a:xfrm>
            <a:off x="609600" y="5143500"/>
            <a:ext cx="10972800" cy="1143000"/>
            <a:chOff x="609600" y="5143500"/>
            <a:chExt cx="10972800" cy="1143000"/>
          </a:xfrm>
        </p:grpSpPr>
        <p:sp>
          <p:nvSpPr>
            <p:cNvPr id="43" name="Rectangle 43"/>
            <p:cNvSpPr/>
            <p:nvPr/>
          </p:nvSpPr>
          <p:spPr>
            <a:xfrm>
              <a:off x="609600" y="5143500"/>
              <a:ext cx="10972800" cy="1143000"/>
            </a:xfrm>
            <a:prstGeom prst="roundRect">
              <a:avLst>
                <a:gd name="adj" fmla="val 8333"/>
              </a:avLst>
            </a:prstGeom>
            <a:solidFill>
              <a:srgbClr val="EAF4F6"/>
            </a:solidFill>
            <a:ln w="14288">
              <a:solidFill>
                <a:srgbClr val="00A6A6"/>
              </a:solidFill>
            </a:ln>
          </p:spPr>
        </p:sp>
        <p:sp>
          <p:nvSpPr>
            <p:cNvPr id="44" name="Rectangle 44"/>
            <p:cNvSpPr/>
            <p:nvPr/>
          </p:nvSpPr>
          <p:spPr>
            <a:xfrm>
              <a:off x="609600" y="5143500"/>
              <a:ext cx="57150" cy="1143000"/>
            </a:xfrm>
            <a:prstGeom prst="rect">
              <a:avLst/>
            </a:prstGeom>
            <a:solidFill>
              <a:srgbClr val="00A6A6"/>
            </a:solidFill>
            <a:ln>
              <a:noFill/>
            </a:ln>
          </p:spPr>
        </p:sp>
        <p:grpSp>
          <p:nvGrpSpPr>
            <p:cNvPr id="48" name="icon-e4"/>
            <p:cNvGrpSpPr/>
            <p:nvPr/>
          </p:nvGrpSpPr>
          <p:grpSpPr>
            <a:xfrm>
              <a:off x="935680" y="5401747"/>
              <a:ext cx="224139" cy="192565"/>
              <a:chOff x="935680" y="5401747"/>
              <a:chExt cx="224139" cy="192565"/>
            </a:xfrm>
          </p:grpSpPr>
          <p:sp>
            <p:nvSpPr>
              <p:cNvPr id="45" name="Freeform 45"/>
              <p:cNvSpPr/>
              <p:nvPr/>
            </p:nvSpPr>
            <p:spPr>
              <a:xfrm>
                <a:off x="1047754" y="5472115"/>
                <a:ext cx="9525" cy="44451"/>
              </a:xfrm>
              <a:custGeom>
                <a:avLst/>
                <a:gdLst/>
                <a:ahLst/>
                <a:cxnLst/>
                <a:rect l="l" t="t" r="r" b="b"/>
                <a:pathLst>
                  <a:path w="9525" h="44451">
                    <a:moveTo>
                      <a:pt x="0" y="0"/>
                    </a:moveTo>
                    <a:lnTo>
                      <a:pt x="0" y="44451"/>
                    </a:lnTo>
                  </a:path>
                </a:pathLst>
              </a:custGeom>
              <a:noFill/>
              <a:ln w="19047" cap="rnd">
                <a:solidFill>
                  <a:srgbClr val="12355B"/>
                </a:solidFill>
                <a:round/>
              </a:ln>
            </p:spPr>
          </p:sp>
          <p:sp>
            <p:nvSpPr>
              <p:cNvPr id="46" name="Freeform 46"/>
              <p:cNvSpPr/>
              <p:nvPr/>
            </p:nvSpPr>
            <p:spPr>
              <a:xfrm>
                <a:off x="935680" y="5401747"/>
                <a:ext cx="224139" cy="192565"/>
              </a:xfrm>
              <a:custGeom>
                <a:avLst/>
                <a:gdLst/>
                <a:ahLst/>
                <a:cxnLst/>
                <a:rect l="l" t="t" r="r" b="b"/>
                <a:pathLst>
                  <a:path w="224139" h="192565">
                    <a:moveTo>
                      <a:pt x="93882" y="10260"/>
                    </a:moveTo>
                    <a:lnTo>
                      <a:pt x="3802" y="160660"/>
                    </a:lnTo>
                    <a:cubicBezTo>
                      <a:pt x="23" y="167204"/>
                      <a:pt x="0" y="175262"/>
                      <a:pt x="3741" y="181827"/>
                    </a:cubicBezTo>
                    <a:cubicBezTo>
                      <a:pt x="7483" y="188393"/>
                      <a:pt x="14426" y="192480"/>
                      <a:pt x="21982" y="192565"/>
                    </a:cubicBezTo>
                    <a:lnTo>
                      <a:pt x="202166" y="192565"/>
                    </a:lnTo>
                    <a:cubicBezTo>
                      <a:pt x="209718" y="192478"/>
                      <a:pt x="216658" y="188392"/>
                      <a:pt x="220399" y="181830"/>
                    </a:cubicBezTo>
                    <a:cubicBezTo>
                      <a:pt x="224139" y="175268"/>
                      <a:pt x="224119" y="167215"/>
                      <a:pt x="220346" y="160672"/>
                    </a:cubicBezTo>
                    <a:lnTo>
                      <a:pt x="130266" y="10248"/>
                    </a:lnTo>
                    <a:cubicBezTo>
                      <a:pt x="126411" y="3886"/>
                      <a:pt x="119513" y="0"/>
                      <a:pt x="112074" y="0"/>
                    </a:cubicBezTo>
                    <a:cubicBezTo>
                      <a:pt x="104635" y="0"/>
                      <a:pt x="97737" y="3886"/>
                      <a:pt x="93882" y="10248"/>
                    </a:cubicBezTo>
                  </a:path>
                </a:pathLst>
              </a:custGeom>
              <a:noFill/>
              <a:ln w="19047" cap="rnd">
                <a:solidFill>
                  <a:srgbClr val="12355B"/>
                </a:solidFill>
                <a:round/>
              </a:ln>
            </p:spPr>
          </p:sp>
          <p:sp>
            <p:nvSpPr>
              <p:cNvPr id="47" name="Freeform 47"/>
              <p:cNvSpPr/>
              <p:nvPr/>
            </p:nvSpPr>
            <p:spPr>
              <a:xfrm>
                <a:off x="1047754" y="5549905"/>
                <a:ext cx="9525" cy="9525"/>
              </a:xfrm>
              <a:custGeom>
                <a:avLst/>
                <a:gdLst/>
                <a:ahLst/>
                <a:cxnLst/>
                <a:rect l="l" t="t" r="r" b="b"/>
                <a:pathLst>
                  <a:path w="9525" h="9525">
                    <a:moveTo>
                      <a:pt x="0" y="0"/>
                    </a:moveTo>
                    <a:lnTo>
                      <a:pt x="111" y="0"/>
                    </a:lnTo>
                  </a:path>
                </a:pathLst>
              </a:custGeom>
              <a:noFill/>
              <a:ln w="19047" cap="rnd">
                <a:solidFill>
                  <a:srgbClr val="12355B"/>
                </a:solidFill>
                <a:round/>
              </a:ln>
            </p:spPr>
          </p:sp>
        </p:grpSp>
        <p:sp>
          <p:nvSpPr>
            <p:cNvPr id="49" name="TextBox 49"/>
            <p:cNvSpPr txBox="1"/>
            <p:nvPr/>
          </p:nvSpPr>
          <p:spPr>
            <a:xfrm>
              <a:off x="1363599" y="5392579"/>
              <a:ext cx="419974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Anahtarı hiç rotasyona tabi tutmamak</a:t>
              </a:r>
            </a:p>
          </p:txBody>
        </p:sp>
        <p:sp>
          <p:nvSpPr>
            <p:cNvPr id="50" name="TextBox 50"/>
            <p:cNvSpPr txBox="1"/>
            <p:nvPr/>
          </p:nvSpPr>
          <p:spPr>
            <a:xfrm>
              <a:off x="1365123" y="5691664"/>
              <a:ext cx="7833047"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Bir anahtar yıllarca aynı kalırsa sızıntının ne zaman olduğunu tespit etmek imkânsızlaşır;</a:t>
              </a:r>
            </a:p>
          </p:txBody>
        </p:sp>
        <p:sp>
          <p:nvSpPr>
            <p:cNvPr id="51" name="TextBox 51"/>
            <p:cNvSpPr txBox="1"/>
            <p:nvPr/>
          </p:nvSpPr>
          <p:spPr>
            <a:xfrm>
              <a:off x="1365123" y="5920264"/>
              <a:ext cx="8034152"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üretimde anahtarlar belirli aralıklarla yenilenmeli, eskisi geçiş süresi sonunda iptal edilmelidir.</a:t>
              </a:r>
            </a:p>
          </p:txBody>
        </p:sp>
      </p:grpSp>
      <p:sp>
        <p:nvSpPr>
          <p:cNvPr id="53" name="TextBox 5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24</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358943" cy="557403"/>
            <a:chOff x="595122" y="282892"/>
            <a:chExt cx="6358943" cy="557403"/>
          </a:xfrm>
        </p:grpSpPr>
        <p:sp>
          <p:nvSpPr>
            <p:cNvPr id="4" name="TextBox 4"/>
            <p:cNvSpPr txBox="1"/>
            <p:nvPr/>
          </p:nvSpPr>
          <p:spPr>
            <a:xfrm>
              <a:off x="595122" y="282892"/>
              <a:ext cx="635894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Provizyonlama ve HMAC imzalama</a:t>
              </a:r>
            </a:p>
          </p:txBody>
        </p:sp>
      </p:grpSp>
      <p:grpSp>
        <p:nvGrpSpPr>
          <p:cNvPr id="35" name="protocol-steps"/>
          <p:cNvGrpSpPr/>
          <p:nvPr/>
        </p:nvGrpSpPr>
        <p:grpSpPr>
          <a:xfrm>
            <a:off x="609600" y="1219200"/>
            <a:ext cx="10972800" cy="1676400"/>
            <a:chOff x="609600" y="1219200"/>
            <a:chExt cx="10972800" cy="1676400"/>
          </a:xfrm>
        </p:grpSpPr>
        <p:sp>
          <p:nvSpPr>
            <p:cNvPr id="6" name="Rectangle 6"/>
            <p:cNvSpPr/>
            <p:nvPr/>
          </p:nvSpPr>
          <p:spPr>
            <a:xfrm>
              <a:off x="609600" y="1219200"/>
              <a:ext cx="3352800" cy="1676400"/>
            </a:xfrm>
            <a:prstGeom prst="roundRect">
              <a:avLst>
                <a:gd name="adj" fmla="val 4545"/>
              </a:avLst>
            </a:prstGeom>
            <a:solidFill>
              <a:srgbClr val="FFFFFF"/>
            </a:solidFill>
            <a:ln w="14288">
              <a:solidFill>
                <a:srgbClr val="2E86AB"/>
              </a:solidFill>
            </a:ln>
          </p:spPr>
        </p:sp>
        <p:sp>
          <p:nvSpPr>
            <p:cNvPr id="7" name="Ellipse 7"/>
            <p:cNvSpPr/>
            <p:nvPr/>
          </p:nvSpPr>
          <p:spPr>
            <a:xfrm>
              <a:off x="762000" y="1333500"/>
              <a:ext cx="304800" cy="304800"/>
            </a:xfrm>
            <a:prstGeom prst="ellipse">
              <a:avLst/>
            </a:prstGeom>
            <a:solidFill>
              <a:srgbClr val="12355B"/>
            </a:solidFill>
            <a:ln>
              <a:noFill/>
            </a:ln>
          </p:spPr>
        </p:sp>
        <p:sp>
          <p:nvSpPr>
            <p:cNvPr id="8" name="TextBox 8"/>
            <p:cNvSpPr txBox="1"/>
            <p:nvPr/>
          </p:nvSpPr>
          <p:spPr>
            <a:xfrm>
              <a:off x="861658" y="1403985"/>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1</a:t>
              </a:r>
            </a:p>
          </p:txBody>
        </p:sp>
        <p:sp>
          <p:nvSpPr>
            <p:cNvPr id="9" name="TextBox 9"/>
            <p:cNvSpPr txBox="1"/>
            <p:nvPr/>
          </p:nvSpPr>
          <p:spPr>
            <a:xfrm>
              <a:off x="1154811" y="1389221"/>
              <a:ext cx="1395386"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Provizyonlama</a:t>
              </a:r>
            </a:p>
          </p:txBody>
        </p:sp>
        <p:sp>
          <p:nvSpPr>
            <p:cNvPr id="10" name="TextBox 10"/>
            <p:cNvSpPr txBox="1"/>
            <p:nvPr/>
          </p:nvSpPr>
          <p:spPr>
            <a:xfrm>
              <a:off x="775335" y="1745456"/>
              <a:ext cx="2451031"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Cihaz ilk açıldığında fabrikasyon</a:t>
              </a:r>
            </a:p>
          </p:txBody>
        </p:sp>
        <p:sp>
          <p:nvSpPr>
            <p:cNvPr id="11" name="TextBox 11"/>
            <p:cNvSpPr txBox="1"/>
            <p:nvPr/>
          </p:nvSpPr>
          <p:spPr>
            <a:xfrm>
              <a:off x="775335" y="1955006"/>
              <a:ext cx="2661659"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UUID'siyle backend'in provizyonlama</a:t>
              </a:r>
            </a:p>
          </p:txBody>
        </p:sp>
        <p:sp>
          <p:nvSpPr>
            <p:cNvPr id="12" name="TextBox 12"/>
            <p:cNvSpPr txBox="1"/>
            <p:nvPr/>
          </p:nvSpPr>
          <p:spPr>
            <a:xfrm>
              <a:off x="775335" y="2164556"/>
              <a:ext cx="2476591"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uç noktasına başvurur ve kendine</a:t>
              </a:r>
            </a:p>
          </p:txBody>
        </p:sp>
        <p:sp>
          <p:nvSpPr>
            <p:cNvPr id="13" name="TextBox 13"/>
            <p:cNvSpPr txBox="1"/>
            <p:nvPr/>
          </p:nvSpPr>
          <p:spPr>
            <a:xfrm>
              <a:off x="775335" y="2374106"/>
              <a:ext cx="2755524"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özel bir paylaşılan gizli anahtar alır.</a:t>
              </a:r>
            </a:p>
          </p:txBody>
        </p:sp>
        <p:sp>
          <p:nvSpPr>
            <p:cNvPr id="14" name="TextBox 14"/>
            <p:cNvSpPr txBox="1"/>
            <p:nvPr/>
          </p:nvSpPr>
          <p:spPr>
            <a:xfrm>
              <a:off x="775335" y="2621756"/>
              <a:ext cx="2429072"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Anahtar bir daha ağda taşınmaz.</a:t>
              </a:r>
            </a:p>
          </p:txBody>
        </p:sp>
        <p:sp>
          <p:nvSpPr>
            <p:cNvPr id="15" name="Rectangle 15"/>
            <p:cNvSpPr/>
            <p:nvPr/>
          </p:nvSpPr>
          <p:spPr>
            <a:xfrm>
              <a:off x="4419600" y="1219200"/>
              <a:ext cx="3352800" cy="1676400"/>
            </a:xfrm>
            <a:prstGeom prst="roundRect">
              <a:avLst>
                <a:gd name="adj" fmla="val 4545"/>
              </a:avLst>
            </a:prstGeom>
            <a:solidFill>
              <a:srgbClr val="FFFFFF"/>
            </a:solidFill>
            <a:ln w="14288">
              <a:solidFill>
                <a:srgbClr val="2E86AB"/>
              </a:solidFill>
            </a:ln>
          </p:spPr>
        </p:sp>
        <p:sp>
          <p:nvSpPr>
            <p:cNvPr id="16" name="Ellipse 16"/>
            <p:cNvSpPr/>
            <p:nvPr/>
          </p:nvSpPr>
          <p:spPr>
            <a:xfrm>
              <a:off x="4572000" y="1333500"/>
              <a:ext cx="304800" cy="304800"/>
            </a:xfrm>
            <a:prstGeom prst="ellipse">
              <a:avLst/>
            </a:prstGeom>
            <a:solidFill>
              <a:srgbClr val="12355B"/>
            </a:solidFill>
            <a:ln>
              <a:noFill/>
            </a:ln>
          </p:spPr>
        </p:sp>
        <p:sp>
          <p:nvSpPr>
            <p:cNvPr id="17" name="TextBox 17"/>
            <p:cNvSpPr txBox="1"/>
            <p:nvPr/>
          </p:nvSpPr>
          <p:spPr>
            <a:xfrm>
              <a:off x="4671658" y="1403985"/>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2</a:t>
              </a:r>
            </a:p>
          </p:txBody>
        </p:sp>
        <p:sp>
          <p:nvSpPr>
            <p:cNvPr id="18" name="TextBox 18"/>
            <p:cNvSpPr txBox="1"/>
            <p:nvPr/>
          </p:nvSpPr>
          <p:spPr>
            <a:xfrm>
              <a:off x="4964811" y="1389221"/>
              <a:ext cx="1339977"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HMAC-SHA256</a:t>
              </a:r>
            </a:p>
          </p:txBody>
        </p:sp>
        <p:sp>
          <p:nvSpPr>
            <p:cNvPr id="19" name="TextBox 19"/>
            <p:cNvSpPr txBox="1"/>
            <p:nvPr/>
          </p:nvSpPr>
          <p:spPr>
            <a:xfrm>
              <a:off x="4585335" y="1745456"/>
              <a:ext cx="2298649"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Cihaz, JSON gövdesini ve o anki</a:t>
              </a:r>
            </a:p>
          </p:txBody>
        </p:sp>
        <p:sp>
          <p:nvSpPr>
            <p:cNvPr id="20" name="TextBox 20"/>
            <p:cNvSpPr txBox="1"/>
            <p:nvPr/>
          </p:nvSpPr>
          <p:spPr>
            <a:xfrm>
              <a:off x="4585335" y="1955006"/>
              <a:ext cx="1968764"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Unix zaman damgasını gizli</a:t>
              </a:r>
            </a:p>
          </p:txBody>
        </p:sp>
        <p:sp>
          <p:nvSpPr>
            <p:cNvPr id="21" name="TextBox 21"/>
            <p:cNvSpPr txBox="1"/>
            <p:nvPr/>
          </p:nvSpPr>
          <p:spPr>
            <a:xfrm>
              <a:off x="4585335" y="2164556"/>
              <a:ext cx="1383477"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anahtarla imzalar.</a:t>
              </a:r>
            </a:p>
          </p:txBody>
        </p:sp>
        <p:sp>
          <p:nvSpPr>
            <p:cNvPr id="22" name="TextBox 22"/>
            <p:cNvSpPr txBox="1"/>
            <p:nvPr/>
          </p:nvSpPr>
          <p:spPr>
            <a:xfrm>
              <a:off x="4585335" y="2412206"/>
              <a:ext cx="2695764"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Başlığa yalnızca imza (X-Signature)</a:t>
              </a:r>
            </a:p>
          </p:txBody>
        </p:sp>
        <p:sp>
          <p:nvSpPr>
            <p:cNvPr id="23" name="TextBox 23"/>
            <p:cNvSpPr txBox="1"/>
            <p:nvPr/>
          </p:nvSpPr>
          <p:spPr>
            <a:xfrm>
              <a:off x="4585335" y="2621756"/>
              <a:ext cx="3113593"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ve zaman damgası (X-Timestamp) eklenir.</a:t>
              </a:r>
            </a:p>
          </p:txBody>
        </p:sp>
        <p:sp>
          <p:nvSpPr>
            <p:cNvPr id="24" name="Rectangle 24"/>
            <p:cNvSpPr/>
            <p:nvPr/>
          </p:nvSpPr>
          <p:spPr>
            <a:xfrm>
              <a:off x="8229600" y="1219200"/>
              <a:ext cx="3352800" cy="1676400"/>
            </a:xfrm>
            <a:prstGeom prst="roundRect">
              <a:avLst>
                <a:gd name="adj" fmla="val 4545"/>
              </a:avLst>
            </a:prstGeom>
            <a:solidFill>
              <a:srgbClr val="EAF4F6"/>
            </a:solidFill>
            <a:ln w="14288">
              <a:solidFill>
                <a:srgbClr val="00A6A6"/>
              </a:solidFill>
            </a:ln>
          </p:spPr>
        </p:sp>
        <p:sp>
          <p:nvSpPr>
            <p:cNvPr id="25" name="Ellipse 25"/>
            <p:cNvSpPr/>
            <p:nvPr/>
          </p:nvSpPr>
          <p:spPr>
            <a:xfrm>
              <a:off x="8382000" y="1333500"/>
              <a:ext cx="304800" cy="304800"/>
            </a:xfrm>
            <a:prstGeom prst="ellipse">
              <a:avLst/>
            </a:prstGeom>
            <a:solidFill>
              <a:srgbClr val="00A6A6"/>
            </a:solidFill>
            <a:ln>
              <a:noFill/>
            </a:ln>
          </p:spPr>
        </p:sp>
        <p:sp>
          <p:nvSpPr>
            <p:cNvPr id="26" name="TextBox 26"/>
            <p:cNvSpPr txBox="1"/>
            <p:nvPr/>
          </p:nvSpPr>
          <p:spPr>
            <a:xfrm>
              <a:off x="8481658" y="1403985"/>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3</a:t>
              </a:r>
            </a:p>
          </p:txBody>
        </p:sp>
        <p:sp>
          <p:nvSpPr>
            <p:cNvPr id="27" name="TextBox 27"/>
            <p:cNvSpPr txBox="1"/>
            <p:nvPr/>
          </p:nvSpPr>
          <p:spPr>
            <a:xfrm>
              <a:off x="8774811" y="1389221"/>
              <a:ext cx="1616641"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Zaman penceresi</a:t>
              </a:r>
            </a:p>
          </p:txBody>
        </p:sp>
        <p:sp>
          <p:nvSpPr>
            <p:cNvPr id="28" name="TextBox 28"/>
            <p:cNvSpPr txBox="1"/>
            <p:nvPr/>
          </p:nvSpPr>
          <p:spPr>
            <a:xfrm>
              <a:off x="8395335" y="1745456"/>
              <a:ext cx="249686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Backend, gelen zaman damgasının</a:t>
              </a:r>
            </a:p>
          </p:txBody>
        </p:sp>
        <p:sp>
          <p:nvSpPr>
            <p:cNvPr id="29" name="TextBox 29"/>
            <p:cNvSpPr txBox="1"/>
            <p:nvPr/>
          </p:nvSpPr>
          <p:spPr>
            <a:xfrm>
              <a:off x="8395335" y="1955006"/>
              <a:ext cx="227304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sunucu saatine göre ±60 saniye</a:t>
              </a:r>
            </a:p>
          </p:txBody>
        </p:sp>
        <p:sp>
          <p:nvSpPr>
            <p:cNvPr id="30" name="TextBox 30"/>
            <p:cNvSpPr txBox="1"/>
            <p:nvPr/>
          </p:nvSpPr>
          <p:spPr>
            <a:xfrm>
              <a:off x="8395335" y="2164556"/>
              <a:ext cx="185841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içinde olduğunu doğrular.</a:t>
              </a:r>
            </a:p>
          </p:txBody>
        </p:sp>
        <p:sp>
          <p:nvSpPr>
            <p:cNvPr id="31" name="TextBox 31"/>
            <p:cNvSpPr txBox="1"/>
            <p:nvPr/>
          </p:nvSpPr>
          <p:spPr>
            <a:xfrm>
              <a:off x="8395335" y="2412206"/>
              <a:ext cx="228534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Böylece eski bir paketin tekrar</a:t>
              </a:r>
            </a:p>
          </p:txBody>
        </p:sp>
        <p:sp>
          <p:nvSpPr>
            <p:cNvPr id="32" name="TextBox 32"/>
            <p:cNvSpPr txBox="1"/>
            <p:nvPr/>
          </p:nvSpPr>
          <p:spPr>
            <a:xfrm>
              <a:off x="8395335" y="2621756"/>
              <a:ext cx="243889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gönderilmesi (replay) engellenir.</a:t>
              </a:r>
            </a:p>
          </p:txBody>
        </p:sp>
        <p:sp>
          <p:nvSpPr>
            <p:cNvPr id="33" name="Line 33"/>
            <p:cNvSpPr/>
            <p:nvPr/>
          </p:nvSpPr>
          <p:spPr>
            <a:xfrm>
              <a:off x="3962400" y="2057400"/>
              <a:ext cx="419100" cy="1"/>
            </a:xfrm>
            <a:prstGeom prst="line">
              <a:avLst/>
            </a:prstGeom>
            <a:noFill/>
            <a:ln w="23812">
              <a:solidFill>
                <a:srgbClr val="00A6A6"/>
              </a:solidFill>
              <a:tailEnd type="arrow" w="lg" len="lg"/>
            </a:ln>
          </p:spPr>
        </p:sp>
        <p:sp>
          <p:nvSpPr>
            <p:cNvPr id="34" name="Line 34"/>
            <p:cNvSpPr/>
            <p:nvPr/>
          </p:nvSpPr>
          <p:spPr>
            <a:xfrm>
              <a:off x="7772400" y="2057400"/>
              <a:ext cx="419100" cy="1"/>
            </a:xfrm>
            <a:prstGeom prst="line">
              <a:avLst/>
            </a:prstGeom>
            <a:noFill/>
            <a:ln w="23812">
              <a:solidFill>
                <a:srgbClr val="00A6A6"/>
              </a:solidFill>
              <a:tailEnd type="arrow" w="lg" len="lg"/>
            </a:ln>
          </p:spPr>
        </p:sp>
      </p:grpSp>
      <p:grpSp>
        <p:nvGrpSpPr>
          <p:cNvPr id="42" name="code-strip"/>
          <p:cNvGrpSpPr/>
          <p:nvPr/>
        </p:nvGrpSpPr>
        <p:grpSpPr>
          <a:xfrm>
            <a:off x="609600" y="3352800"/>
            <a:ext cx="10972800" cy="1485900"/>
            <a:chOff x="609600" y="3352800"/>
            <a:chExt cx="10972800" cy="1485900"/>
          </a:xfrm>
        </p:grpSpPr>
        <p:sp>
          <p:nvSpPr>
            <p:cNvPr id="36" name="Rectangle 36"/>
            <p:cNvSpPr/>
            <p:nvPr/>
          </p:nvSpPr>
          <p:spPr>
            <a:xfrm>
              <a:off x="609600" y="3352800"/>
              <a:ext cx="10972800" cy="1485900"/>
            </a:xfrm>
            <a:prstGeom prst="roundRect">
              <a:avLst>
                <a:gd name="adj" fmla="val 5128"/>
              </a:avLst>
            </a:prstGeom>
            <a:solidFill>
              <a:srgbClr val="12355B"/>
            </a:solidFill>
            <a:ln>
              <a:noFill/>
            </a:ln>
          </p:spPr>
        </p:sp>
        <p:sp>
          <p:nvSpPr>
            <p:cNvPr id="37" name="TextBox 37"/>
            <p:cNvSpPr txBox="1"/>
            <p:nvPr/>
          </p:nvSpPr>
          <p:spPr>
            <a:xfrm>
              <a:off x="832485" y="3498056"/>
              <a:ext cx="5620997"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 Kod 16.3: HMAC-SHA256 imza doğrulama ve zaman penceresi kontrolü</a:t>
              </a:r>
            </a:p>
          </p:txBody>
        </p:sp>
        <p:sp>
          <p:nvSpPr>
            <p:cNvPr id="38" name="TextBox 38"/>
            <p:cNvSpPr txBox="1"/>
            <p:nvPr/>
          </p:nvSpPr>
          <p:spPr>
            <a:xfrm>
              <a:off x="832485" y="3745706"/>
              <a:ext cx="4177284"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const veriKatar = `${zamanDamgasi}.${govdeMetni}`;</a:t>
              </a:r>
            </a:p>
          </p:txBody>
        </p:sp>
        <p:sp>
          <p:nvSpPr>
            <p:cNvPr id="39" name="TextBox 39"/>
            <p:cNvSpPr txBox="1"/>
            <p:nvPr/>
          </p:nvSpPr>
          <p:spPr>
            <a:xfrm>
              <a:off x="832485" y="3955256"/>
              <a:ext cx="7333945"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const beklenenImza = createHmac("sha256", gizliAnahtar).update(veriKatar).digest("hex");</a:t>
              </a:r>
            </a:p>
          </p:txBody>
        </p:sp>
        <p:sp>
          <p:nvSpPr>
            <p:cNvPr id="40" name="TextBox 40"/>
            <p:cNvSpPr txBox="1"/>
            <p:nvPr/>
          </p:nvSpPr>
          <p:spPr>
            <a:xfrm>
              <a:off x="832485" y="4202906"/>
              <a:ext cx="6592482"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if (!timingSafeEqual(gelenBuffer, beklenenBuffer)) return { gecerliMi: false };</a:t>
              </a:r>
            </a:p>
          </p:txBody>
        </p:sp>
        <p:sp>
          <p:nvSpPr>
            <p:cNvPr id="41" name="TextBox 41"/>
            <p:cNvSpPr txBox="1"/>
            <p:nvPr/>
          </p:nvSpPr>
          <p:spPr>
            <a:xfrm>
              <a:off x="832866" y="4496752"/>
              <a:ext cx="6395763" cy="205359"/>
            </a:xfrm>
            <a:prstGeom prst="rect">
              <a:avLst/>
            </a:prstGeom>
            <a:noFill/>
            <a:ln>
              <a:noFill/>
            </a:ln>
          </p:spPr>
          <p:txBody>
            <a:bodyPr wrap="none" lIns="0" tIns="0" rIns="0" bIns="0" anchor="t" anchorCtr="0">
              <a:spAutoFit/>
            </a:bodyPr>
            <a:lstStyle/>
            <a:p>
              <a:pPr algn="l"/>
              <a:r>
                <a:rPr lang="tr-TR" sz="1050" dirty="0">
                  <a:solidFill>
                    <a:srgbClr val="B8CBD3"/>
                  </a:solidFill>
                  <a:latin typeface="Consolas"/>
                  <a:ea typeface="Consolas"/>
                  <a:cs typeface="Consolas"/>
                </a:rPr>
                <a:t>// timingSafeEqual: zamanlama saldırılarına karşı sabit zamanlı bayt karşılaştırma</a:t>
              </a:r>
            </a:p>
          </p:txBody>
        </p:sp>
      </p:grpSp>
      <p:grpSp>
        <p:nvGrpSpPr>
          <p:cNvPr id="52" name="caveat-band"/>
          <p:cNvGrpSpPr/>
          <p:nvPr/>
        </p:nvGrpSpPr>
        <p:grpSpPr>
          <a:xfrm>
            <a:off x="609600" y="5029200"/>
            <a:ext cx="10972800" cy="1181100"/>
            <a:chOff x="609600" y="5029200"/>
            <a:chExt cx="10972800" cy="1181100"/>
          </a:xfrm>
        </p:grpSpPr>
        <p:sp>
          <p:nvSpPr>
            <p:cNvPr id="43" name="Rectangle 43"/>
            <p:cNvSpPr/>
            <p:nvPr/>
          </p:nvSpPr>
          <p:spPr>
            <a:xfrm>
              <a:off x="609600" y="5029200"/>
              <a:ext cx="10972800" cy="1181100"/>
            </a:xfrm>
            <a:prstGeom prst="roundRect">
              <a:avLst>
                <a:gd name="adj" fmla="val 8065"/>
              </a:avLst>
            </a:prstGeom>
            <a:solidFill>
              <a:srgbClr val="FFFFFF"/>
            </a:solidFill>
            <a:ln w="9525">
              <a:solidFill>
                <a:srgbClr val="B8CBD3"/>
              </a:solidFill>
            </a:ln>
          </p:spPr>
        </p:sp>
        <p:sp>
          <p:nvSpPr>
            <p:cNvPr id="44" name="Rectangle 44"/>
            <p:cNvSpPr/>
            <p:nvPr/>
          </p:nvSpPr>
          <p:spPr>
            <a:xfrm>
              <a:off x="609600" y="5029200"/>
              <a:ext cx="57150" cy="1181100"/>
            </a:xfrm>
            <a:prstGeom prst="rect">
              <a:avLst/>
            </a:prstGeom>
            <a:solidFill>
              <a:srgbClr val="00A6A6"/>
            </a:solidFill>
            <a:ln>
              <a:noFill/>
            </a:ln>
          </p:spPr>
        </p:sp>
        <p:grpSp>
          <p:nvGrpSpPr>
            <p:cNvPr id="48" name="icon-caveat-11"/>
            <p:cNvGrpSpPr/>
            <p:nvPr/>
          </p:nvGrpSpPr>
          <p:grpSpPr>
            <a:xfrm>
              <a:off x="932639" y="5264161"/>
              <a:ext cx="192114" cy="165051"/>
              <a:chOff x="932639" y="5264161"/>
              <a:chExt cx="192114" cy="165051"/>
            </a:xfrm>
          </p:grpSpPr>
          <p:sp>
            <p:nvSpPr>
              <p:cNvPr id="45" name="Freeform 45"/>
              <p:cNvSpPr/>
              <p:nvPr/>
            </p:nvSpPr>
            <p:spPr>
              <a:xfrm>
                <a:off x="1028700" y="5324475"/>
                <a:ext cx="9525" cy="38100"/>
              </a:xfrm>
              <a:custGeom>
                <a:avLst/>
                <a:gdLst/>
                <a:ahLst/>
                <a:cxnLst/>
                <a:rect l="l" t="t" r="r" b="b"/>
                <a:pathLst>
                  <a:path w="9525" h="38100">
                    <a:moveTo>
                      <a:pt x="0" y="0"/>
                    </a:moveTo>
                    <a:lnTo>
                      <a:pt x="0" y="38100"/>
                    </a:lnTo>
                  </a:path>
                </a:pathLst>
              </a:custGeom>
              <a:noFill/>
              <a:ln w="19050" cap="rnd">
                <a:solidFill>
                  <a:srgbClr val="12355B"/>
                </a:solidFill>
                <a:round/>
              </a:ln>
            </p:spPr>
          </p:sp>
          <p:sp>
            <p:nvSpPr>
              <p:cNvPr id="46" name="Freeform 46"/>
              <p:cNvSpPr/>
              <p:nvPr/>
            </p:nvSpPr>
            <p:spPr>
              <a:xfrm>
                <a:off x="932639" y="5264161"/>
                <a:ext cx="192114" cy="165051"/>
              </a:xfrm>
              <a:custGeom>
                <a:avLst/>
                <a:gdLst/>
                <a:ahLst/>
                <a:cxnLst/>
                <a:rect l="l" t="t" r="r" b="b"/>
                <a:pathLst>
                  <a:path w="192114" h="165051">
                    <a:moveTo>
                      <a:pt x="80468" y="8794"/>
                    </a:moveTo>
                    <a:lnTo>
                      <a:pt x="3259" y="137705"/>
                    </a:lnTo>
                    <a:cubicBezTo>
                      <a:pt x="20" y="143314"/>
                      <a:pt x="0" y="150220"/>
                      <a:pt x="3207" y="155848"/>
                    </a:cubicBezTo>
                    <a:cubicBezTo>
                      <a:pt x="6413" y="161475"/>
                      <a:pt x="12365" y="164979"/>
                      <a:pt x="18842" y="165051"/>
                    </a:cubicBezTo>
                    <a:lnTo>
                      <a:pt x="173280" y="165051"/>
                    </a:lnTo>
                    <a:cubicBezTo>
                      <a:pt x="179753" y="164977"/>
                      <a:pt x="185702" y="161474"/>
                      <a:pt x="188908" y="155850"/>
                    </a:cubicBezTo>
                    <a:cubicBezTo>
                      <a:pt x="192114" y="150226"/>
                      <a:pt x="192097" y="143323"/>
                      <a:pt x="188863" y="137715"/>
                    </a:cubicBezTo>
                    <a:lnTo>
                      <a:pt x="111653" y="8784"/>
                    </a:lnTo>
                    <a:cubicBezTo>
                      <a:pt x="108349" y="3331"/>
                      <a:pt x="102437" y="0"/>
                      <a:pt x="96061" y="0"/>
                    </a:cubicBezTo>
                    <a:cubicBezTo>
                      <a:pt x="89685" y="0"/>
                      <a:pt x="83772" y="3331"/>
                      <a:pt x="80468" y="8784"/>
                    </a:cubicBezTo>
                  </a:path>
                </a:pathLst>
              </a:custGeom>
              <a:noFill/>
              <a:ln w="19050" cap="rnd">
                <a:solidFill>
                  <a:srgbClr val="12355B"/>
                </a:solidFill>
                <a:round/>
              </a:ln>
            </p:spPr>
          </p:sp>
          <p:sp>
            <p:nvSpPr>
              <p:cNvPr id="47" name="Freeform 47"/>
              <p:cNvSpPr/>
              <p:nvPr/>
            </p:nvSpPr>
            <p:spPr>
              <a:xfrm>
                <a:off x="1028700" y="5391150"/>
                <a:ext cx="9525" cy="9525"/>
              </a:xfrm>
              <a:custGeom>
                <a:avLst/>
                <a:gdLst/>
                <a:ahLst/>
                <a:cxnLst/>
                <a:rect l="l" t="t" r="r" b="b"/>
                <a:pathLst>
                  <a:path w="9525" h="9525">
                    <a:moveTo>
                      <a:pt x="0" y="0"/>
                    </a:moveTo>
                    <a:lnTo>
                      <a:pt x="95" y="0"/>
                    </a:lnTo>
                  </a:path>
                </a:pathLst>
              </a:custGeom>
              <a:noFill/>
              <a:ln w="19050" cap="rnd">
                <a:solidFill>
                  <a:srgbClr val="12355B"/>
                </a:solidFill>
                <a:round/>
              </a:ln>
            </p:spPr>
          </p:sp>
        </p:grpSp>
        <p:sp>
          <p:nvSpPr>
            <p:cNvPr id="49" name="TextBox 49"/>
            <p:cNvSpPr txBox="1"/>
            <p:nvPr/>
          </p:nvSpPr>
          <p:spPr>
            <a:xfrm>
              <a:off x="1250061" y="5256371"/>
              <a:ext cx="5179430"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Zaman penceresi tek başına replay koruması değildir</a:t>
              </a:r>
            </a:p>
          </p:txBody>
        </p:sp>
        <p:sp>
          <p:nvSpPr>
            <p:cNvPr id="50" name="TextBox 50"/>
            <p:cNvSpPr txBox="1"/>
            <p:nvPr/>
          </p:nvSpPr>
          <p:spPr>
            <a:xfrm>
              <a:off x="908304" y="5547360"/>
              <a:ext cx="719282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60 saniyeden eski istekler reddedilir, ancak pencere içindeki aynı imzalı mesajın tekrarını</a:t>
              </a:r>
            </a:p>
          </p:txBody>
        </p:sp>
        <p:sp>
          <p:nvSpPr>
            <p:cNvPr id="51" name="TextBox 51"/>
            <p:cNvSpPr txBox="1"/>
            <p:nvPr/>
          </p:nvSpPr>
          <p:spPr>
            <a:xfrm>
              <a:off x="908304" y="5775960"/>
              <a:ext cx="714436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engellemez; gerçek tek-kullanımlılık için ayrı bir nonce/imza kaydı mekanizması gerekir.</a:t>
              </a:r>
            </a:p>
          </p:txBody>
        </p:sp>
      </p:grpSp>
      <p:sp>
        <p:nvSpPr>
          <p:cNvPr id="53" name="TextBox 5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24</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8527460" cy="668845"/>
            <a:chOff x="609600" y="171450"/>
            <a:chExt cx="8527460"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24326"/>
                <a:ext cx="236220" cy="265748"/>
                <a:chOff x="777240" y="324326"/>
                <a:chExt cx="236220" cy="265748"/>
              </a:xfrm>
            </p:grpSpPr>
            <p:sp>
              <p:nvSpPr>
                <p:cNvPr id="5" name="Freeform 5"/>
                <p:cNvSpPr/>
                <p:nvPr/>
              </p:nvSpPr>
              <p:spPr>
                <a:xfrm>
                  <a:off x="777240" y="324326"/>
                  <a:ext cx="236220" cy="265748"/>
                </a:xfrm>
                <a:custGeom>
                  <a:avLst/>
                  <a:gdLst/>
                  <a:ahLst/>
                  <a:cxnLst/>
                  <a:rect l="l" t="t" r="r" b="b"/>
                  <a:pathLst>
                    <a:path w="236220" h="265748">
                      <a:moveTo>
                        <a:pt x="118110" y="0"/>
                      </a:moveTo>
                      <a:lnTo>
                        <a:pt x="236220" y="66437"/>
                      </a:lnTo>
                      <a:lnTo>
                        <a:pt x="236220" y="199311"/>
                      </a:lnTo>
                      <a:lnTo>
                        <a:pt x="118110" y="265748"/>
                      </a:lnTo>
                      <a:lnTo>
                        <a:pt x="0" y="199311"/>
                      </a:lnTo>
                      <a:lnTo>
                        <a:pt x="0" y="66437"/>
                      </a:lnTo>
                      <a:lnTo>
                        <a:pt x="118110" y="0"/>
                      </a:lnTo>
                    </a:path>
                  </a:pathLst>
                </a:custGeom>
                <a:noFill/>
                <a:ln w="24759" cap="rnd">
                  <a:solidFill>
                    <a:srgbClr val="FFFFFF"/>
                  </a:solidFill>
                  <a:round/>
                </a:ln>
              </p:spPr>
            </p:sp>
            <p:sp>
              <p:nvSpPr>
                <p:cNvPr id="6" name="Freeform 6"/>
                <p:cNvSpPr/>
                <p:nvPr/>
              </p:nvSpPr>
              <p:spPr>
                <a:xfrm>
                  <a:off x="895350" y="390763"/>
                  <a:ext cx="118110" cy="66437"/>
                </a:xfrm>
                <a:custGeom>
                  <a:avLst/>
                  <a:gdLst/>
                  <a:ahLst/>
                  <a:cxnLst/>
                  <a:rect l="l" t="t" r="r" b="b"/>
                  <a:pathLst>
                    <a:path w="118110" h="66437">
                      <a:moveTo>
                        <a:pt x="0" y="66437"/>
                      </a:moveTo>
                      <a:lnTo>
                        <a:pt x="118110" y="0"/>
                      </a:lnTo>
                    </a:path>
                  </a:pathLst>
                </a:custGeom>
                <a:noFill/>
                <a:ln w="24759" cap="rnd">
                  <a:solidFill>
                    <a:srgbClr val="FFFFFF"/>
                  </a:solidFill>
                  <a:round/>
                </a:ln>
              </p:spPr>
            </p:sp>
            <p:sp>
              <p:nvSpPr>
                <p:cNvPr id="7" name="Freeform 7"/>
                <p:cNvSpPr/>
                <p:nvPr/>
              </p:nvSpPr>
              <p:spPr>
                <a:xfrm>
                  <a:off x="895350" y="457200"/>
                  <a:ext cx="9525" cy="132874"/>
                </a:xfrm>
                <a:custGeom>
                  <a:avLst/>
                  <a:gdLst/>
                  <a:ahLst/>
                  <a:cxnLst/>
                  <a:rect l="l" t="t" r="r" b="b"/>
                  <a:pathLst>
                    <a:path w="9525" h="132874">
                      <a:moveTo>
                        <a:pt x="0" y="0"/>
                      </a:moveTo>
                      <a:lnTo>
                        <a:pt x="0" y="132874"/>
                      </a:lnTo>
                    </a:path>
                  </a:pathLst>
                </a:custGeom>
                <a:noFill/>
                <a:ln w="24759" cap="rnd">
                  <a:solidFill>
                    <a:srgbClr val="FFFFFF"/>
                  </a:solidFill>
                  <a:round/>
                </a:ln>
              </p:spPr>
            </p:sp>
            <p:sp>
              <p:nvSpPr>
                <p:cNvPr id="8" name="Freeform 8"/>
                <p:cNvSpPr/>
                <p:nvPr/>
              </p:nvSpPr>
              <p:spPr>
                <a:xfrm>
                  <a:off x="777240" y="390763"/>
                  <a:ext cx="118110" cy="66437"/>
                </a:xfrm>
                <a:custGeom>
                  <a:avLst/>
                  <a:gdLst/>
                  <a:ahLst/>
                  <a:cxnLst/>
                  <a:rect l="l" t="t" r="r" b="b"/>
                  <a:pathLst>
                    <a:path w="118110" h="66437">
                      <a:moveTo>
                        <a:pt x="118110" y="66437"/>
                      </a:moveTo>
                      <a:lnTo>
                        <a:pt x="0" y="0"/>
                      </a:lnTo>
                    </a:path>
                  </a:pathLst>
                </a:custGeom>
                <a:noFill/>
                <a:ln w="24759" cap="rnd">
                  <a:solidFill>
                    <a:srgbClr val="FFFFFF"/>
                  </a:solidFill>
                  <a:round/>
                </a:ln>
              </p:spPr>
            </p:sp>
          </p:grpSp>
        </p:grpSp>
        <p:sp>
          <p:nvSpPr>
            <p:cNvPr id="11" name="TextBox 11"/>
            <p:cNvSpPr txBox="1"/>
            <p:nvPr/>
          </p:nvSpPr>
          <p:spPr>
            <a:xfrm>
              <a:off x="1299972" y="282892"/>
              <a:ext cx="783708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Sensör verisi doğrulama ve zaman serisi</a:t>
              </a:r>
            </a:p>
          </p:txBody>
        </p:sp>
      </p:grpSp>
      <p:grpSp>
        <p:nvGrpSpPr>
          <p:cNvPr id="18" name="definition-card"/>
          <p:cNvGrpSpPr/>
          <p:nvPr/>
        </p:nvGrpSpPr>
        <p:grpSpPr>
          <a:xfrm>
            <a:off x="609600" y="1181100"/>
            <a:ext cx="10972800" cy="952500"/>
            <a:chOff x="609600" y="1181100"/>
            <a:chExt cx="10972800" cy="952500"/>
          </a:xfrm>
        </p:grpSpPr>
        <p:sp>
          <p:nvSpPr>
            <p:cNvPr id="13" name="Rectangle 13"/>
            <p:cNvSpPr/>
            <p:nvPr/>
          </p:nvSpPr>
          <p:spPr>
            <a:xfrm>
              <a:off x="609600" y="1181100"/>
              <a:ext cx="10972800" cy="952500"/>
            </a:xfrm>
            <a:prstGeom prst="roundRect">
              <a:avLst>
                <a:gd name="adj" fmla="val 10000"/>
              </a:avLst>
            </a:prstGeom>
            <a:solidFill>
              <a:srgbClr val="EAF4F6"/>
            </a:solidFill>
            <a:ln>
              <a:noFill/>
            </a:ln>
          </p:spPr>
        </p:sp>
        <p:sp>
          <p:nvSpPr>
            <p:cNvPr id="14" name="Rectangle 14"/>
            <p:cNvSpPr/>
            <p:nvPr/>
          </p:nvSpPr>
          <p:spPr>
            <a:xfrm>
              <a:off x="609600" y="1181100"/>
              <a:ext cx="57150" cy="952500"/>
            </a:xfrm>
            <a:prstGeom prst="rect">
              <a:avLst/>
            </a:prstGeom>
            <a:solidFill>
              <a:srgbClr val="00A6A6"/>
            </a:solidFill>
            <a:ln>
              <a:noFill/>
            </a:ln>
          </p:spPr>
        </p:sp>
        <p:sp>
          <p:nvSpPr>
            <p:cNvPr id="15" name="TextBox 15"/>
            <p:cNvSpPr txBox="1"/>
            <p:nvPr/>
          </p:nvSpPr>
          <p:spPr>
            <a:xfrm>
              <a:off x="906399" y="131587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16" name="TextBox 16"/>
            <p:cNvSpPr txBox="1"/>
            <p:nvPr/>
          </p:nvSpPr>
          <p:spPr>
            <a:xfrm>
              <a:off x="907542" y="1587818"/>
              <a:ext cx="812485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Gelen ölçüm değerlerinin yalnızca doğru tipte değil, fiziksel olarak anlamlı bir aralıkta olup</a:t>
              </a:r>
            </a:p>
          </p:txBody>
        </p:sp>
        <p:sp>
          <p:nvSpPr>
            <p:cNvPr id="17" name="TextBox 17"/>
            <p:cNvSpPr txBox="1"/>
            <p:nvPr/>
          </p:nvSpPr>
          <p:spPr>
            <a:xfrm>
              <a:off x="907542" y="1816418"/>
              <a:ext cx="7737539"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olmadığını da kontrol etmek; doğrulanan ölçümü cihaz ve zaman bilgisiyle saklamaktır.</a:t>
              </a:r>
            </a:p>
          </p:txBody>
        </p:sp>
      </p:grpSp>
      <p:grpSp>
        <p:nvGrpSpPr>
          <p:cNvPr id="44" name="theory-split"/>
          <p:cNvGrpSpPr/>
          <p:nvPr/>
        </p:nvGrpSpPr>
        <p:grpSpPr>
          <a:xfrm>
            <a:off x="600456" y="2438400"/>
            <a:ext cx="10981944" cy="2791206"/>
            <a:chOff x="600456" y="2438400"/>
            <a:chExt cx="10981944" cy="2791206"/>
          </a:xfrm>
        </p:grpSpPr>
        <p:grpSp>
          <p:nvGrpSpPr>
            <p:cNvPr id="30" name="syntactic-vs-semantic"/>
            <p:cNvGrpSpPr/>
            <p:nvPr/>
          </p:nvGrpSpPr>
          <p:grpSpPr>
            <a:xfrm>
              <a:off x="600456" y="2453640"/>
              <a:ext cx="5266944" cy="2775966"/>
              <a:chOff x="600456" y="2453640"/>
              <a:chExt cx="5266944" cy="2775966"/>
            </a:xfrm>
          </p:grpSpPr>
          <p:sp>
            <p:nvSpPr>
              <p:cNvPr id="19" name="TextBox 19"/>
              <p:cNvSpPr txBox="1"/>
              <p:nvPr/>
            </p:nvSpPr>
            <p:spPr>
              <a:xfrm>
                <a:off x="600456" y="2453640"/>
                <a:ext cx="399014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Sözdizimsel ↔ Anlamsal geçerlilik</a:t>
                </a:r>
              </a:p>
            </p:txBody>
          </p:sp>
          <p:sp>
            <p:nvSpPr>
              <p:cNvPr id="20" name="Rectangle 20"/>
              <p:cNvSpPr/>
              <p:nvPr/>
            </p:nvSpPr>
            <p:spPr>
              <a:xfrm>
                <a:off x="609600" y="2838450"/>
                <a:ext cx="5257800" cy="857250"/>
              </a:xfrm>
              <a:prstGeom prst="roundRect">
                <a:avLst>
                  <a:gd name="adj" fmla="val 8889"/>
                </a:avLst>
              </a:prstGeom>
              <a:solidFill>
                <a:srgbClr val="FFFFFF"/>
              </a:solidFill>
              <a:ln w="14288">
                <a:solidFill>
                  <a:srgbClr val="2E86AB"/>
                </a:solidFill>
              </a:ln>
            </p:spPr>
          </p:sp>
          <p:sp>
            <p:nvSpPr>
              <p:cNvPr id="21" name="TextBox 21"/>
              <p:cNvSpPr txBox="1"/>
              <p:nvPr/>
            </p:nvSpPr>
            <p:spPr>
              <a:xfrm>
                <a:off x="831723" y="2986564"/>
                <a:ext cx="3939119" cy="249364"/>
              </a:xfrm>
              <a:prstGeom prst="rect">
                <a:avLst/>
              </a:prstGeom>
              <a:noFill/>
              <a:ln>
                <a:noFill/>
              </a:ln>
            </p:spPr>
            <p:txBody>
              <a:bodyPr wrap="none" lIns="0" tIns="0" rIns="0" bIns="0" anchor="t" anchorCtr="0">
                <a:spAutoFit/>
              </a:bodyPr>
              <a:lstStyle/>
              <a:p>
                <a:pPr algn="l"/>
                <a:r>
                  <a:rPr lang="tr-TR" sz="1280" b="1" dirty="0">
                    <a:solidFill>
                      <a:srgbClr val="172B3A"/>
                    </a:solidFill>
                    <a:latin typeface="+mn-lt"/>
                    <a:ea typeface="+mn-ea"/>
                    <a:cs typeface="+mn-cs"/>
                  </a:rPr>
                  <a:t>-999 değeri number tipine tamamen uygundur</a:t>
                </a:r>
              </a:p>
            </p:txBody>
          </p:sp>
          <p:sp>
            <p:nvSpPr>
              <p:cNvPr id="22" name="TextBox 22"/>
              <p:cNvSpPr txBox="1"/>
              <p:nvPr/>
            </p:nvSpPr>
            <p:spPr>
              <a:xfrm>
                <a:off x="832104" y="3223260"/>
                <a:ext cx="34126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(sözdizimsel geçerli) ama bir oda sıcaklığı</a:t>
                </a:r>
              </a:p>
            </p:txBody>
          </p:sp>
          <p:sp>
            <p:nvSpPr>
              <p:cNvPr id="23" name="TextBox 23"/>
              <p:cNvSpPr txBox="1"/>
              <p:nvPr/>
            </p:nvSpPr>
            <p:spPr>
              <a:xfrm>
                <a:off x="832104" y="3432810"/>
                <a:ext cx="257266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için anlamsal olarak geçersizdir.</a:t>
                </a:r>
              </a:p>
            </p:txBody>
          </p:sp>
          <p:sp>
            <p:nvSpPr>
              <p:cNvPr id="24" name="TextBox 24"/>
              <p:cNvSpPr txBox="1"/>
              <p:nvPr/>
            </p:nvSpPr>
            <p:spPr>
              <a:xfrm>
                <a:off x="603504" y="3851910"/>
                <a:ext cx="339336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Aralık doğrulaması, verinin geldiği fiziksel</a:t>
                </a:r>
              </a:p>
            </p:txBody>
          </p:sp>
          <p:sp>
            <p:nvSpPr>
              <p:cNvPr id="25" name="TextBox 25"/>
              <p:cNvSpPr txBox="1"/>
              <p:nvPr/>
            </p:nvSpPr>
            <p:spPr>
              <a:xfrm>
                <a:off x="603504" y="4061460"/>
                <a:ext cx="347731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alanın (domain) bilgisini kod içine taşıyarak</a:t>
                </a:r>
              </a:p>
            </p:txBody>
          </p:sp>
          <p:sp>
            <p:nvSpPr>
              <p:cNvPr id="26" name="TextBox 26"/>
              <p:cNvSpPr txBox="1"/>
              <p:nvPr/>
            </p:nvSpPr>
            <p:spPr>
              <a:xfrm>
                <a:off x="603504" y="4271010"/>
                <a:ext cx="406489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bu ikinci katmanı kapatır (Bölüm 9, domain model).</a:t>
                </a:r>
              </a:p>
            </p:txBody>
          </p:sp>
          <p:sp>
            <p:nvSpPr>
              <p:cNvPr id="27" name="TextBox 27"/>
              <p:cNvSpPr txBox="1"/>
              <p:nvPr/>
            </p:nvSpPr>
            <p:spPr>
              <a:xfrm>
                <a:off x="603504" y="4575810"/>
                <a:ext cx="365991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Bir sensör arızalandığında genellikle rastgele</a:t>
                </a:r>
              </a:p>
            </p:txBody>
          </p:sp>
          <p:sp>
            <p:nvSpPr>
              <p:cNvPr id="28" name="TextBox 28"/>
              <p:cNvSpPr txBox="1"/>
              <p:nvPr/>
            </p:nvSpPr>
            <p:spPr>
              <a:xfrm>
                <a:off x="603504" y="4785360"/>
                <a:ext cx="341269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değil, aşırı uçlarda (-999, 9999) anlamsız</a:t>
                </a:r>
              </a:p>
            </p:txBody>
          </p:sp>
          <p:sp>
            <p:nvSpPr>
              <p:cNvPr id="29" name="TextBox 29"/>
              <p:cNvSpPr txBox="1"/>
              <p:nvPr/>
            </p:nvSpPr>
            <p:spPr>
              <a:xfrm>
                <a:off x="603504" y="4994910"/>
                <a:ext cx="453542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değerler üretir; yalnızca tip kontrolü bunu yakalayamaz.</a:t>
                </a:r>
              </a:p>
            </p:txBody>
          </p:sp>
        </p:grpSp>
        <p:sp>
          <p:nvSpPr>
            <p:cNvPr id="31" name="Line 31"/>
            <p:cNvSpPr/>
            <p:nvPr/>
          </p:nvSpPr>
          <p:spPr>
            <a:xfrm>
              <a:off x="6248400" y="2438400"/>
              <a:ext cx="9525" cy="2705100"/>
            </a:xfrm>
            <a:custGeom>
              <a:avLst/>
              <a:gdLst/>
              <a:ahLst/>
              <a:cxnLst/>
              <a:rect l="l" t="t" r="r" b="b"/>
              <a:pathLst>
                <a:path w="9525" h="2705100">
                  <a:moveTo>
                    <a:pt x="0" y="0"/>
                  </a:moveTo>
                  <a:lnTo>
                    <a:pt x="0" y="2705100"/>
                  </a:lnTo>
                </a:path>
              </a:pathLst>
            </a:custGeom>
            <a:noFill/>
            <a:ln w="9525">
              <a:solidFill>
                <a:srgbClr val="B8CBD3"/>
              </a:solidFill>
            </a:ln>
          </p:spPr>
        </p:sp>
        <p:grpSp>
          <p:nvGrpSpPr>
            <p:cNvPr id="43" name="time-series-theory"/>
            <p:cNvGrpSpPr/>
            <p:nvPr/>
          </p:nvGrpSpPr>
          <p:grpSpPr>
            <a:xfrm>
              <a:off x="6505956" y="2453640"/>
              <a:ext cx="5076444" cy="2775966"/>
              <a:chOff x="6505956" y="2453640"/>
              <a:chExt cx="5076444" cy="2775966"/>
            </a:xfrm>
          </p:grpSpPr>
          <p:sp>
            <p:nvSpPr>
              <p:cNvPr id="32" name="TextBox 32"/>
              <p:cNvSpPr txBox="1"/>
              <p:nvPr/>
            </p:nvSpPr>
            <p:spPr>
              <a:xfrm>
                <a:off x="6505956" y="2453640"/>
                <a:ext cx="32739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Zaman serisi (Codd, 1970)</a:t>
                </a:r>
              </a:p>
            </p:txBody>
          </p:sp>
          <p:sp>
            <p:nvSpPr>
              <p:cNvPr id="33" name="Rectangle 33"/>
              <p:cNvSpPr/>
              <p:nvPr/>
            </p:nvSpPr>
            <p:spPr>
              <a:xfrm>
                <a:off x="6515100" y="2838450"/>
                <a:ext cx="5067300" cy="857250"/>
              </a:xfrm>
              <a:prstGeom prst="roundRect">
                <a:avLst>
                  <a:gd name="adj" fmla="val 8889"/>
                </a:avLst>
              </a:prstGeom>
              <a:solidFill>
                <a:srgbClr val="EAF4F6"/>
              </a:solidFill>
              <a:ln w="14288">
                <a:solidFill>
                  <a:srgbClr val="00A6A6"/>
                </a:solidFill>
              </a:ln>
            </p:spPr>
          </p:sp>
          <p:sp>
            <p:nvSpPr>
              <p:cNvPr id="34" name="TextBox 34"/>
              <p:cNvSpPr txBox="1"/>
              <p:nvPr/>
            </p:nvSpPr>
            <p:spPr>
              <a:xfrm>
                <a:off x="6737223" y="2986564"/>
                <a:ext cx="3031516" cy="249364"/>
              </a:xfrm>
              <a:prstGeom prst="rect">
                <a:avLst/>
              </a:prstGeom>
              <a:noFill/>
              <a:ln>
                <a:noFill/>
              </a:ln>
            </p:spPr>
            <p:txBody>
              <a:bodyPr wrap="none" lIns="0" tIns="0" rIns="0" bIns="0" anchor="t" anchorCtr="0">
                <a:spAutoFit/>
              </a:bodyPr>
              <a:lstStyle/>
              <a:p>
                <a:pPr algn="l"/>
                <a:r>
                  <a:rPr lang="tr-TR" sz="1280" b="1" dirty="0">
                    <a:solidFill>
                      <a:srgbClr val="172B3A"/>
                    </a:solidFill>
                    <a:latin typeface="+mn-lt"/>
                    <a:ea typeface="+mn-ea"/>
                    <a:cs typeface="+mn-cs"/>
                  </a:rPr>
                  <a:t>Her ölçüm ayrı bir olaydır; önceki</a:t>
                </a:r>
              </a:p>
            </p:txBody>
          </p:sp>
          <p:sp>
            <p:nvSpPr>
              <p:cNvPr id="35" name="TextBox 35"/>
              <p:cNvSpPr txBox="1"/>
              <p:nvPr/>
            </p:nvSpPr>
            <p:spPr>
              <a:xfrm>
                <a:off x="6737604" y="3223260"/>
                <a:ext cx="259689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ölçümün üzerine yazılmaz — sırlı</a:t>
                </a:r>
              </a:p>
            </p:txBody>
          </p:sp>
          <p:sp>
            <p:nvSpPr>
              <p:cNvPr id="36" name="TextBox 36"/>
              <p:cNvSpPr txBox="1"/>
              <p:nvPr/>
            </p:nvSpPr>
            <p:spPr>
              <a:xfrm>
                <a:off x="6737604" y="3432810"/>
                <a:ext cx="254843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(append-only) ekleme örüntüsü.</a:t>
                </a:r>
              </a:p>
            </p:txBody>
          </p:sp>
          <p:sp>
            <p:nvSpPr>
              <p:cNvPr id="37" name="TextBox 37"/>
              <p:cNvSpPr txBox="1"/>
              <p:nvPr/>
            </p:nvSpPr>
            <p:spPr>
              <a:xfrm>
                <a:off x="6509004" y="3851910"/>
                <a:ext cx="314285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Klasik ilişkisel model üzerine inşa edilir;</a:t>
                </a:r>
              </a:p>
            </p:txBody>
          </p:sp>
          <p:sp>
            <p:nvSpPr>
              <p:cNvPr id="38" name="TextBox 38"/>
              <p:cNvSpPr txBox="1"/>
              <p:nvPr/>
            </p:nvSpPr>
            <p:spPr>
              <a:xfrm>
                <a:off x="6509004" y="4061460"/>
                <a:ext cx="327538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zamana göre aralık sorgularını ("son bir</a:t>
                </a:r>
              </a:p>
            </p:txBody>
          </p:sp>
          <p:sp>
            <p:nvSpPr>
              <p:cNvPr id="39" name="TextBox 39"/>
              <p:cNvSpPr txBox="1"/>
              <p:nvPr/>
            </p:nvSpPr>
            <p:spPr>
              <a:xfrm>
                <a:off x="6509004" y="4271010"/>
                <a:ext cx="37277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saatteki trend" gibi) verimli kılmayı hedefler.</a:t>
                </a:r>
              </a:p>
            </p:txBody>
          </p:sp>
          <p:sp>
            <p:nvSpPr>
              <p:cNvPr id="40" name="TextBox 40"/>
              <p:cNvSpPr txBox="1"/>
              <p:nvPr/>
            </p:nvSpPr>
            <p:spPr>
              <a:xfrm>
                <a:off x="6509004" y="4575810"/>
                <a:ext cx="322402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Cihazın gönderdiği zaman damgası yerine</a:t>
                </a:r>
              </a:p>
            </p:txBody>
          </p:sp>
          <p:sp>
            <p:nvSpPr>
              <p:cNvPr id="41" name="TextBox 41"/>
              <p:cNvSpPr txBox="1"/>
              <p:nvPr/>
            </p:nvSpPr>
            <p:spPr>
              <a:xfrm>
                <a:off x="6509004" y="4785360"/>
                <a:ext cx="350154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sunucunun aldığı zaman da ayrıca kaydedilir</a:t>
                </a:r>
              </a:p>
            </p:txBody>
          </p:sp>
          <p:sp>
            <p:nvSpPr>
              <p:cNvPr id="42" name="TextBox 42"/>
              <p:cNvSpPr txBox="1"/>
              <p:nvPr/>
            </p:nvSpPr>
            <p:spPr>
              <a:xfrm>
                <a:off x="6509004" y="4994910"/>
                <a:ext cx="333999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(saat senkronizasyonu güvenilir değildir).</a:t>
                </a:r>
              </a:p>
            </p:txBody>
          </p:sp>
        </p:grpSp>
      </p:grpSp>
      <p:grpSp>
        <p:nvGrpSpPr>
          <p:cNvPr id="50" name="observability-band"/>
          <p:cNvGrpSpPr/>
          <p:nvPr/>
        </p:nvGrpSpPr>
        <p:grpSpPr>
          <a:xfrm>
            <a:off x="609600" y="5334000"/>
            <a:ext cx="10972800" cy="952500"/>
            <a:chOff x="609600" y="5334000"/>
            <a:chExt cx="10972800" cy="952500"/>
          </a:xfrm>
        </p:grpSpPr>
        <p:sp>
          <p:nvSpPr>
            <p:cNvPr id="45" name="Rectangle 45"/>
            <p:cNvSpPr/>
            <p:nvPr/>
          </p:nvSpPr>
          <p:spPr>
            <a:xfrm>
              <a:off x="609600" y="5334000"/>
              <a:ext cx="10972800" cy="952500"/>
            </a:xfrm>
            <a:prstGeom prst="roundRect">
              <a:avLst>
                <a:gd name="adj" fmla="val 10000"/>
              </a:avLst>
            </a:prstGeom>
            <a:solidFill>
              <a:srgbClr val="FFFFFF"/>
            </a:solidFill>
            <a:ln w="9525">
              <a:solidFill>
                <a:srgbClr val="B8CBD3"/>
              </a:solidFill>
            </a:ln>
          </p:spPr>
        </p:sp>
        <p:sp>
          <p:nvSpPr>
            <p:cNvPr id="46" name="Rectangle 46"/>
            <p:cNvSpPr/>
            <p:nvPr/>
          </p:nvSpPr>
          <p:spPr>
            <a:xfrm>
              <a:off x="609600" y="5334000"/>
              <a:ext cx="57150" cy="952500"/>
            </a:xfrm>
            <a:prstGeom prst="rect">
              <a:avLst/>
            </a:prstGeom>
            <a:solidFill>
              <a:srgbClr val="00A6A6"/>
            </a:solidFill>
            <a:ln>
              <a:noFill/>
            </a:ln>
          </p:spPr>
        </p:sp>
        <p:sp>
          <p:nvSpPr>
            <p:cNvPr id="47" name="TextBox 47"/>
            <p:cNvSpPr txBox="1"/>
            <p:nvPr/>
          </p:nvSpPr>
          <p:spPr>
            <a:xfrm>
              <a:off x="907161" y="5465921"/>
              <a:ext cx="3482995"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Neden gözlemlenebilirlik de gerekir?</a:t>
              </a:r>
            </a:p>
          </p:txBody>
        </p:sp>
        <p:sp>
          <p:nvSpPr>
            <p:cNvPr id="48" name="TextBox 48"/>
            <p:cNvSpPr txBox="1"/>
            <p:nvPr/>
          </p:nvSpPr>
          <p:spPr>
            <a:xfrm>
              <a:off x="908304" y="5737860"/>
              <a:ext cx="786025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Aynı cihazdan kısa sürede tekrarlanan reddetme olayları bakım ekibine uyarı olarak bildirilmelidir;</a:t>
              </a:r>
            </a:p>
          </p:txBody>
        </p:sp>
        <p:sp>
          <p:nvSpPr>
            <p:cNvPr id="49" name="TextBox 49"/>
            <p:cNvSpPr txBox="1"/>
            <p:nvPr/>
          </p:nvSpPr>
          <p:spPr>
            <a:xfrm>
              <a:off x="908304" y="5966460"/>
              <a:ext cx="739475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aksi hâlde arızalı bir sensör, verisi sessizce reddedilerek fark edilmeden aylarca çalışabilir.</a:t>
              </a:r>
            </a:p>
          </p:txBody>
        </p:sp>
      </p:grpSp>
      <p:sp>
        <p:nvSpPr>
          <p:cNvPr id="51" name="TextBox 5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24</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308792" cy="668845"/>
            <a:chOff x="609600" y="171450"/>
            <a:chExt cx="8308792"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761842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16.4: aralık doğrulaması ve kayıt</a:t>
              </a:r>
            </a:p>
          </p:txBody>
        </p:sp>
      </p:grpSp>
      <p:grpSp>
        <p:nvGrpSpPr>
          <p:cNvPr id="28" name="code-panel"/>
          <p:cNvGrpSpPr/>
          <p:nvPr/>
        </p:nvGrpSpPr>
        <p:grpSpPr>
          <a:xfrm>
            <a:off x="609600" y="1181100"/>
            <a:ext cx="5905500" cy="4152900"/>
            <a:chOff x="609600" y="1181100"/>
            <a:chExt cx="5905500" cy="4152900"/>
          </a:xfrm>
        </p:grpSpPr>
        <p:sp>
          <p:nvSpPr>
            <p:cNvPr id="9" name="Rectangle 9"/>
            <p:cNvSpPr/>
            <p:nvPr/>
          </p:nvSpPr>
          <p:spPr>
            <a:xfrm>
              <a:off x="609600" y="1181100"/>
              <a:ext cx="5905500" cy="4152900"/>
            </a:xfrm>
            <a:prstGeom prst="roundRect">
              <a:avLst>
                <a:gd name="adj" fmla="val 1835"/>
              </a:avLst>
            </a:prstGeom>
            <a:solidFill>
              <a:srgbClr val="12355B"/>
            </a:solidFill>
            <a:ln>
              <a:noFill/>
            </a:ln>
          </p:spPr>
        </p:sp>
        <p:sp>
          <p:nvSpPr>
            <p:cNvPr id="10" name="TextBox 10"/>
            <p:cNvSpPr txBox="1"/>
            <p:nvPr/>
          </p:nvSpPr>
          <p:spPr>
            <a:xfrm>
              <a:off x="832485" y="1364456"/>
              <a:ext cx="2919313"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function telemetriyiDogrula(veri) {</a:t>
              </a:r>
            </a:p>
          </p:txBody>
        </p:sp>
        <p:sp>
          <p:nvSpPr>
            <p:cNvPr id="11" name="TextBox 11"/>
            <p:cNvSpPr txBox="1"/>
            <p:nvPr/>
          </p:nvSpPr>
          <p:spPr>
            <a:xfrm>
              <a:off x="1022985" y="1593056"/>
              <a:ext cx="2996763"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if (sicaklik &lt; -40 || sicaklik &gt; 85)</a:t>
              </a:r>
            </a:p>
          </p:txBody>
        </p:sp>
        <p:sp>
          <p:nvSpPr>
            <p:cNvPr id="12" name="TextBox 12"/>
            <p:cNvSpPr txBox="1"/>
            <p:nvPr/>
          </p:nvSpPr>
          <p:spPr>
            <a:xfrm>
              <a:off x="1213485" y="1802606"/>
              <a:ext cx="2333356"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hatalar.push("aralık dışı");</a:t>
              </a:r>
            </a:p>
          </p:txBody>
        </p:sp>
        <p:sp>
          <p:nvSpPr>
            <p:cNvPr id="13" name="TextBox 13"/>
            <p:cNvSpPr txBox="1"/>
            <p:nvPr/>
          </p:nvSpPr>
          <p:spPr>
            <a:xfrm>
              <a:off x="1022985" y="2031206"/>
              <a:ext cx="2084578"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if (nem &lt; 0 || nem &gt; 100)</a:t>
              </a:r>
            </a:p>
          </p:txBody>
        </p:sp>
        <p:sp>
          <p:nvSpPr>
            <p:cNvPr id="14" name="TextBox 14"/>
            <p:cNvSpPr txBox="1"/>
            <p:nvPr/>
          </p:nvSpPr>
          <p:spPr>
            <a:xfrm>
              <a:off x="1213485" y="2240756"/>
              <a:ext cx="2333356"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hatalar.push("aralık dışı");</a:t>
              </a:r>
            </a:p>
          </p:txBody>
        </p:sp>
        <p:sp>
          <p:nvSpPr>
            <p:cNvPr id="15" name="TextBox 15"/>
            <p:cNvSpPr txBox="1"/>
            <p:nvPr/>
          </p:nvSpPr>
          <p:spPr>
            <a:xfrm>
              <a:off x="832485" y="2469356"/>
              <a:ext cx="94356"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a:t>
              </a:r>
            </a:p>
          </p:txBody>
        </p:sp>
        <p:sp>
          <p:nvSpPr>
            <p:cNvPr id="16" name="TextBox 16"/>
            <p:cNvSpPr txBox="1"/>
            <p:nvPr/>
          </p:nvSpPr>
          <p:spPr>
            <a:xfrm>
              <a:off x="832485" y="2774156"/>
              <a:ext cx="2919502"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async function olcumuKaydet(veri) {</a:t>
              </a:r>
            </a:p>
          </p:txBody>
        </p:sp>
        <p:sp>
          <p:nvSpPr>
            <p:cNvPr id="17" name="TextBox 17"/>
            <p:cNvSpPr txBox="1"/>
            <p:nvPr/>
          </p:nvSpPr>
          <p:spPr>
            <a:xfrm>
              <a:off x="1022985" y="3002756"/>
              <a:ext cx="1918726"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if (!dogrulama.gecerli)</a:t>
              </a:r>
            </a:p>
          </p:txBody>
        </p:sp>
        <p:sp>
          <p:nvSpPr>
            <p:cNvPr id="18" name="TextBox 18"/>
            <p:cNvSpPr txBox="1"/>
            <p:nvPr/>
          </p:nvSpPr>
          <p:spPr>
            <a:xfrm>
              <a:off x="1213485" y="3212306"/>
              <a:ext cx="2416282"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return { kaydedildi: false };</a:t>
              </a:r>
            </a:p>
          </p:txBody>
        </p:sp>
        <p:sp>
          <p:nvSpPr>
            <p:cNvPr id="19" name="TextBox 19"/>
            <p:cNvSpPr txBox="1"/>
            <p:nvPr/>
          </p:nvSpPr>
          <p:spPr>
            <a:xfrm>
              <a:off x="1022985" y="3440906"/>
              <a:ext cx="2178116"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await veritabaniKaydetFn({</a:t>
              </a:r>
            </a:p>
          </p:txBody>
        </p:sp>
        <p:sp>
          <p:nvSpPr>
            <p:cNvPr id="20" name="TextBox 20"/>
            <p:cNvSpPr txBox="1"/>
            <p:nvPr/>
          </p:nvSpPr>
          <p:spPr>
            <a:xfrm>
              <a:off x="1213485" y="3650456"/>
              <a:ext cx="674837"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...veri,</a:t>
              </a:r>
            </a:p>
          </p:txBody>
        </p:sp>
        <p:sp>
          <p:nvSpPr>
            <p:cNvPr id="21" name="TextBox 21"/>
            <p:cNvSpPr txBox="1"/>
            <p:nvPr/>
          </p:nvSpPr>
          <p:spPr>
            <a:xfrm>
              <a:off x="1213485" y="3860006"/>
              <a:ext cx="1596932"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sunucuZamanDamgasi:</a:t>
              </a:r>
            </a:p>
          </p:txBody>
        </p:sp>
        <p:sp>
          <p:nvSpPr>
            <p:cNvPr id="22" name="TextBox 22"/>
            <p:cNvSpPr txBox="1"/>
            <p:nvPr/>
          </p:nvSpPr>
          <p:spPr>
            <a:xfrm>
              <a:off x="1403985" y="4069556"/>
              <a:ext cx="2032945"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new Date().toISOString()</a:t>
              </a:r>
            </a:p>
          </p:txBody>
        </p:sp>
        <p:sp>
          <p:nvSpPr>
            <p:cNvPr id="23" name="TextBox 23"/>
            <p:cNvSpPr txBox="1"/>
            <p:nvPr/>
          </p:nvSpPr>
          <p:spPr>
            <a:xfrm>
              <a:off x="1022985" y="4279106"/>
              <a:ext cx="260208"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a:t>
              </a:r>
            </a:p>
          </p:txBody>
        </p:sp>
        <p:sp>
          <p:nvSpPr>
            <p:cNvPr id="24" name="TextBox 24"/>
            <p:cNvSpPr txBox="1"/>
            <p:nvPr/>
          </p:nvSpPr>
          <p:spPr>
            <a:xfrm>
              <a:off x="832485" y="4507706"/>
              <a:ext cx="94356"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a:t>
              </a:r>
            </a:p>
          </p:txBody>
        </p:sp>
        <p:sp>
          <p:nvSpPr>
            <p:cNvPr id="25" name="Line 25"/>
            <p:cNvSpPr/>
            <p:nvPr/>
          </p:nvSpPr>
          <p:spPr>
            <a:xfrm>
              <a:off x="838200" y="4781550"/>
              <a:ext cx="5486400" cy="9525"/>
            </a:xfrm>
            <a:custGeom>
              <a:avLst/>
              <a:gdLst/>
              <a:ahLst/>
              <a:cxnLst/>
              <a:rect l="l" t="t" r="r" b="b"/>
              <a:pathLst>
                <a:path w="5486400" h="9525">
                  <a:moveTo>
                    <a:pt x="0" y="0"/>
                  </a:moveTo>
                  <a:lnTo>
                    <a:pt x="5486400" y="0"/>
                  </a:lnTo>
                </a:path>
              </a:pathLst>
            </a:custGeom>
            <a:noFill/>
            <a:ln w="9525">
              <a:solidFill>
                <a:srgbClr val="2E86AB"/>
              </a:solidFill>
            </a:ln>
          </p:spPr>
        </p:sp>
        <p:sp>
          <p:nvSpPr>
            <p:cNvPr id="26" name="TextBox 26"/>
            <p:cNvSpPr txBox="1"/>
            <p:nvPr/>
          </p:nvSpPr>
          <p:spPr>
            <a:xfrm>
              <a:off x="832866" y="4896802"/>
              <a:ext cx="554869" cy="205359"/>
            </a:xfrm>
            <a:prstGeom prst="rect">
              <a:avLst/>
            </a:prstGeom>
            <a:noFill/>
            <a:ln>
              <a:noFill/>
            </a:ln>
          </p:spPr>
          <p:txBody>
            <a:bodyPr wrap="none" lIns="0" tIns="0" rIns="0" bIns="0" anchor="t" anchorCtr="0">
              <a:spAutoFit/>
            </a:bodyPr>
            <a:lstStyle/>
            <a:p>
              <a:pPr algn="l"/>
              <a:r>
                <a:rPr lang="tr-TR" sz="1050" dirty="0">
                  <a:solidFill>
                    <a:srgbClr val="B8CBD3"/>
                  </a:solidFill>
                  <a:latin typeface="Consolas"/>
                  <a:ea typeface="Consolas"/>
                  <a:cs typeface="Consolas"/>
                </a:rPr>
                <a:t>// true</a:t>
              </a:r>
            </a:p>
          </p:txBody>
        </p:sp>
        <p:sp>
          <p:nvSpPr>
            <p:cNvPr id="27" name="TextBox 27"/>
            <p:cNvSpPr txBox="1"/>
            <p:nvPr/>
          </p:nvSpPr>
          <p:spPr>
            <a:xfrm>
              <a:off x="832866" y="5087302"/>
              <a:ext cx="3275876" cy="205359"/>
            </a:xfrm>
            <a:prstGeom prst="rect">
              <a:avLst/>
            </a:prstGeom>
            <a:noFill/>
            <a:ln>
              <a:noFill/>
            </a:ln>
          </p:spPr>
          <p:txBody>
            <a:bodyPr wrap="none" lIns="0" tIns="0" rIns="0" bIns="0" anchor="t" anchorCtr="0">
              <a:spAutoFit/>
            </a:bodyPr>
            <a:lstStyle/>
            <a:p>
              <a:pPr algn="l"/>
              <a:r>
                <a:rPr lang="tr-TR" sz="1050" dirty="0">
                  <a:solidFill>
                    <a:srgbClr val="B8CBD3"/>
                  </a:solidFill>
                  <a:latin typeface="Consolas"/>
                  <a:ea typeface="Consolas"/>
                  <a:cs typeface="Consolas"/>
                </a:rPr>
                <a:t>// false ['sicaklik aralık dışı (-40/85)']</a:t>
              </a:r>
            </a:p>
          </p:txBody>
        </p:sp>
      </p:grpSp>
      <p:grpSp>
        <p:nvGrpSpPr>
          <p:cNvPr id="59" name="explain-panel"/>
          <p:cNvGrpSpPr/>
          <p:nvPr/>
        </p:nvGrpSpPr>
        <p:grpSpPr>
          <a:xfrm>
            <a:off x="6781800" y="1244918"/>
            <a:ext cx="4800600" cy="3901916"/>
            <a:chOff x="6781800" y="1244918"/>
            <a:chExt cx="4800600" cy="3901916"/>
          </a:xfrm>
        </p:grpSpPr>
        <p:grpSp>
          <p:nvGrpSpPr>
            <p:cNvPr id="34" name="line-1"/>
            <p:cNvGrpSpPr/>
            <p:nvPr/>
          </p:nvGrpSpPr>
          <p:grpSpPr>
            <a:xfrm>
              <a:off x="6829425" y="1244918"/>
              <a:ext cx="4369096" cy="898588"/>
              <a:chOff x="6829425" y="1244918"/>
              <a:chExt cx="4369096" cy="898588"/>
            </a:xfrm>
          </p:grpSpPr>
          <p:sp>
            <p:nvSpPr>
              <p:cNvPr id="29" name="Freeform 29"/>
              <p:cNvSpPr/>
              <p:nvPr/>
            </p:nvSpPr>
            <p:spPr>
              <a:xfrm>
                <a:off x="6829425" y="1285875"/>
                <a:ext cx="142875" cy="95250"/>
              </a:xfrm>
              <a:custGeom>
                <a:avLst/>
                <a:gdLst/>
                <a:ahLst/>
                <a:cxnLst/>
                <a:rect l="l" t="t" r="r" b="b"/>
                <a:pathLst>
                  <a:path w="142875" h="95250">
                    <a:moveTo>
                      <a:pt x="0" y="47625"/>
                    </a:moveTo>
                    <a:lnTo>
                      <a:pt x="47625" y="95250"/>
                    </a:lnTo>
                    <a:lnTo>
                      <a:pt x="142875" y="0"/>
                    </a:lnTo>
                  </a:path>
                </a:pathLst>
              </a:custGeom>
              <a:noFill/>
              <a:ln w="19050" cap="rnd">
                <a:solidFill>
                  <a:srgbClr val="00A6A6"/>
                </a:solidFill>
                <a:round/>
              </a:ln>
            </p:spPr>
          </p:sp>
          <p:sp>
            <p:nvSpPr>
              <p:cNvPr id="30" name="TextBox 30"/>
              <p:cNvSpPr txBox="1"/>
              <p:nvPr/>
            </p:nvSpPr>
            <p:spPr>
              <a:xfrm>
                <a:off x="7117842" y="1244918"/>
                <a:ext cx="3053949" cy="264033"/>
              </a:xfrm>
              <a:prstGeom prst="rect">
                <a:avLst/>
              </a:prstGeom>
              <a:noFill/>
              <a:ln>
                <a:noFill/>
              </a:ln>
            </p:spPr>
            <p:txBody>
              <a:bodyPr wrap="none" lIns="0" tIns="0" rIns="0" bIns="0" anchor="t" anchorCtr="0">
                <a:spAutoFit/>
              </a:bodyPr>
              <a:lstStyle/>
              <a:p>
                <a:pPr algn="l"/>
                <a:r>
                  <a:rPr lang="tr-TR" sz="1350" b="1" dirty="0">
                    <a:solidFill>
                      <a:srgbClr val="172B3A"/>
                    </a:solidFill>
                    <a:latin typeface="+mn-lt"/>
                    <a:ea typeface="+mn-ea"/>
                    <a:cs typeface="+mn-cs"/>
                  </a:rPr>
                  <a:t>Sadece tip değil, gerçekçi aralık</a:t>
                </a:r>
              </a:p>
            </p:txBody>
          </p:sp>
          <p:sp>
            <p:nvSpPr>
              <p:cNvPr id="31" name="TextBox 31"/>
              <p:cNvSpPr txBox="1"/>
              <p:nvPr/>
            </p:nvSpPr>
            <p:spPr>
              <a:xfrm>
                <a:off x="7118604" y="1489710"/>
                <a:ext cx="338846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sicaklik &lt; -40 veya &gt; 85 kontrolü, sensörün</a:t>
                </a:r>
              </a:p>
            </p:txBody>
          </p:sp>
          <p:sp>
            <p:nvSpPr>
              <p:cNvPr id="32" name="TextBox 32"/>
              <p:cNvSpPr txBox="1"/>
              <p:nvPr/>
            </p:nvSpPr>
            <p:spPr>
              <a:xfrm>
                <a:off x="7118604" y="1699260"/>
                <a:ext cx="388117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fiziksel olarak üretebileceği aralığı temsil eder.</a:t>
                </a:r>
              </a:p>
            </p:txBody>
          </p:sp>
          <p:sp>
            <p:nvSpPr>
              <p:cNvPr id="33" name="TextBox 33"/>
              <p:cNvSpPr txBox="1"/>
              <p:nvPr/>
            </p:nvSpPr>
            <p:spPr>
              <a:xfrm>
                <a:off x="7118604" y="1908810"/>
                <a:ext cx="407991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Sınırlar, üreticinin belgelediği aralıktan türetilir.</a:t>
                </a:r>
              </a:p>
            </p:txBody>
          </p:sp>
        </p:grpSp>
        <p:grpSp>
          <p:nvGrpSpPr>
            <p:cNvPr id="42" name="line-2"/>
            <p:cNvGrpSpPr/>
            <p:nvPr/>
          </p:nvGrpSpPr>
          <p:grpSpPr>
            <a:xfrm>
              <a:off x="6810375" y="2311718"/>
              <a:ext cx="4375175" cy="898588"/>
              <a:chOff x="6810375" y="2311718"/>
              <a:chExt cx="4375175" cy="898588"/>
            </a:xfrm>
          </p:grpSpPr>
          <p:grpSp>
            <p:nvGrpSpPr>
              <p:cNvPr id="37" name="icon-clock-13"/>
              <p:cNvGrpSpPr/>
              <p:nvPr/>
            </p:nvGrpSpPr>
            <p:grpSpPr>
              <a:xfrm>
                <a:off x="6810375" y="2314575"/>
                <a:ext cx="171450" cy="171450"/>
                <a:chOff x="6810375" y="2314575"/>
                <a:chExt cx="171450" cy="171450"/>
              </a:xfrm>
            </p:grpSpPr>
            <p:sp>
              <p:nvSpPr>
                <p:cNvPr id="35" name="Freeform 35"/>
                <p:cNvSpPr/>
                <p:nvPr/>
              </p:nvSpPr>
              <p:spPr>
                <a:xfrm>
                  <a:off x="6810375" y="2314575"/>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cap="rnd">
                  <a:solidFill>
                    <a:srgbClr val="00A6A6"/>
                  </a:solidFill>
                  <a:round/>
                </a:ln>
              </p:spPr>
            </p:sp>
            <p:sp>
              <p:nvSpPr>
                <p:cNvPr id="36" name="Freeform 36"/>
                <p:cNvSpPr/>
                <p:nvPr/>
              </p:nvSpPr>
              <p:spPr>
                <a:xfrm>
                  <a:off x="6896100" y="2352675"/>
                  <a:ext cx="28575" cy="76200"/>
                </a:xfrm>
                <a:custGeom>
                  <a:avLst/>
                  <a:gdLst/>
                  <a:ahLst/>
                  <a:cxnLst/>
                  <a:rect l="l" t="t" r="r" b="b"/>
                  <a:pathLst>
                    <a:path w="28575" h="76200">
                      <a:moveTo>
                        <a:pt x="0" y="0"/>
                      </a:moveTo>
                      <a:lnTo>
                        <a:pt x="0" y="47625"/>
                      </a:lnTo>
                      <a:lnTo>
                        <a:pt x="28575" y="76200"/>
                      </a:lnTo>
                    </a:path>
                  </a:pathLst>
                </a:custGeom>
                <a:noFill/>
                <a:ln w="19050" cap="rnd">
                  <a:solidFill>
                    <a:srgbClr val="00A6A6"/>
                  </a:solidFill>
                  <a:round/>
                </a:ln>
              </p:spPr>
            </p:sp>
          </p:grpSp>
          <p:sp>
            <p:nvSpPr>
              <p:cNvPr id="38" name="TextBox 38"/>
              <p:cNvSpPr txBox="1"/>
              <p:nvPr/>
            </p:nvSpPr>
            <p:spPr>
              <a:xfrm>
                <a:off x="7117842" y="2311718"/>
                <a:ext cx="3063509" cy="264033"/>
              </a:xfrm>
              <a:prstGeom prst="rect">
                <a:avLst/>
              </a:prstGeom>
              <a:noFill/>
              <a:ln>
                <a:noFill/>
              </a:ln>
            </p:spPr>
            <p:txBody>
              <a:bodyPr wrap="none" lIns="0" tIns="0" rIns="0" bIns="0" anchor="t" anchorCtr="0">
                <a:spAutoFit/>
              </a:bodyPr>
              <a:lstStyle/>
              <a:p>
                <a:pPr algn="l"/>
                <a:r>
                  <a:rPr lang="tr-TR" sz="1350" b="1" dirty="0">
                    <a:solidFill>
                      <a:srgbClr val="172B3A"/>
                    </a:solidFill>
                    <a:latin typeface="+mn-lt"/>
                    <a:ea typeface="+mn-ea"/>
                    <a:cs typeface="+mn-cs"/>
                  </a:rPr>
                  <a:t>Zaman damgası sunucuda üretilir</a:t>
                </a:r>
              </a:p>
            </p:txBody>
          </p:sp>
          <p:sp>
            <p:nvSpPr>
              <p:cNvPr id="39" name="TextBox 39"/>
              <p:cNvSpPr txBox="1"/>
              <p:nvPr/>
            </p:nvSpPr>
            <p:spPr>
              <a:xfrm>
                <a:off x="7118604" y="2556510"/>
                <a:ext cx="328985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new Date().toISOString(), cihazın kendi</a:t>
                </a:r>
              </a:p>
            </p:txBody>
          </p:sp>
          <p:sp>
            <p:nvSpPr>
              <p:cNvPr id="40" name="TextBox 40"/>
              <p:cNvSpPr txBox="1"/>
              <p:nvPr/>
            </p:nvSpPr>
            <p:spPr>
              <a:xfrm>
                <a:off x="7118604" y="2766060"/>
                <a:ext cx="329153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saatine değil sunucu saatine dayanır; bu,</a:t>
                </a:r>
              </a:p>
            </p:txBody>
          </p:sp>
          <p:sp>
            <p:nvSpPr>
              <p:cNvPr id="41" name="TextBox 41"/>
              <p:cNvSpPr txBox="1"/>
              <p:nvPr/>
            </p:nvSpPr>
            <p:spPr>
              <a:xfrm>
                <a:off x="7118604" y="2975610"/>
                <a:ext cx="406694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saati yanlış ayarlı cihazlara karşı güvenlik sağlar.</a:t>
                </a:r>
              </a:p>
            </p:txBody>
          </p:sp>
        </p:grpSp>
        <p:grpSp>
          <p:nvGrpSpPr>
            <p:cNvPr id="50" name="line-3"/>
            <p:cNvGrpSpPr/>
            <p:nvPr/>
          </p:nvGrpSpPr>
          <p:grpSpPr>
            <a:xfrm>
              <a:off x="6819900" y="3378518"/>
              <a:ext cx="3914676" cy="689038"/>
              <a:chOff x="6819900" y="3378518"/>
              <a:chExt cx="3914676" cy="689038"/>
            </a:xfrm>
          </p:grpSpPr>
          <p:grpSp>
            <p:nvGrpSpPr>
              <p:cNvPr id="46" name="icon-db-13"/>
              <p:cNvGrpSpPr/>
              <p:nvPr/>
            </p:nvGrpSpPr>
            <p:grpSpPr>
              <a:xfrm>
                <a:off x="6819900" y="3381375"/>
                <a:ext cx="152400" cy="171450"/>
                <a:chOff x="6819900" y="3381375"/>
                <a:chExt cx="152400" cy="171450"/>
              </a:xfrm>
            </p:grpSpPr>
            <p:sp>
              <p:nvSpPr>
                <p:cNvPr id="43" name="Freeform 43"/>
                <p:cNvSpPr/>
                <p:nvPr/>
              </p:nvSpPr>
              <p:spPr>
                <a:xfrm>
                  <a:off x="6819900" y="3381375"/>
                  <a:ext cx="152400" cy="57150"/>
                </a:xfrm>
                <a:custGeom>
                  <a:avLst/>
                  <a:gdLst/>
                  <a:ahLst/>
                  <a:cxnLst/>
                  <a:rect l="l" t="t" r="r" b="b"/>
                  <a:pathLst>
                    <a:path w="152400" h="57150">
                      <a:moveTo>
                        <a:pt x="0" y="28575"/>
                      </a:moveTo>
                      <a:cubicBezTo>
                        <a:pt x="0" y="44357"/>
                        <a:pt x="34116" y="57150"/>
                        <a:pt x="76200" y="57150"/>
                      </a:cubicBezTo>
                      <a:cubicBezTo>
                        <a:pt x="118284" y="57150"/>
                        <a:pt x="152400" y="44357"/>
                        <a:pt x="152400" y="28575"/>
                      </a:cubicBezTo>
                      <a:cubicBezTo>
                        <a:pt x="152400" y="12793"/>
                        <a:pt x="118284" y="0"/>
                        <a:pt x="76200" y="0"/>
                      </a:cubicBezTo>
                      <a:cubicBezTo>
                        <a:pt x="34116" y="0"/>
                        <a:pt x="0" y="12793"/>
                        <a:pt x="0" y="28575"/>
                      </a:cubicBezTo>
                    </a:path>
                  </a:pathLst>
                </a:custGeom>
                <a:noFill/>
                <a:ln w="19050" cap="rnd">
                  <a:solidFill>
                    <a:srgbClr val="00A6A6"/>
                  </a:solidFill>
                  <a:round/>
                </a:ln>
              </p:spPr>
            </p:sp>
            <p:sp>
              <p:nvSpPr>
                <p:cNvPr id="44" name="Freeform 44"/>
                <p:cNvSpPr/>
                <p:nvPr/>
              </p:nvSpPr>
              <p:spPr>
                <a:xfrm>
                  <a:off x="6819900" y="3409950"/>
                  <a:ext cx="152400" cy="85725"/>
                </a:xfrm>
                <a:custGeom>
                  <a:avLst/>
                  <a:gdLst/>
                  <a:ahLst/>
                  <a:cxnLst/>
                  <a:rect l="l" t="t" r="r" b="b"/>
                  <a:pathLst>
                    <a:path w="152400" h="85725">
                      <a:moveTo>
                        <a:pt x="0" y="0"/>
                      </a:moveTo>
                      <a:lnTo>
                        <a:pt x="0" y="57150"/>
                      </a:lnTo>
                      <a:cubicBezTo>
                        <a:pt x="0" y="72932"/>
                        <a:pt x="34116" y="85725"/>
                        <a:pt x="76200" y="85725"/>
                      </a:cubicBezTo>
                      <a:cubicBezTo>
                        <a:pt x="118284" y="85725"/>
                        <a:pt x="152400" y="72932"/>
                        <a:pt x="152400" y="57150"/>
                      </a:cubicBezTo>
                      <a:lnTo>
                        <a:pt x="152400" y="0"/>
                      </a:lnTo>
                    </a:path>
                  </a:pathLst>
                </a:custGeom>
                <a:noFill/>
                <a:ln w="19050" cap="rnd">
                  <a:solidFill>
                    <a:srgbClr val="00A6A6"/>
                  </a:solidFill>
                  <a:round/>
                </a:ln>
              </p:spPr>
            </p:sp>
            <p:sp>
              <p:nvSpPr>
                <p:cNvPr id="45" name="Freeform 45"/>
                <p:cNvSpPr/>
                <p:nvPr/>
              </p:nvSpPr>
              <p:spPr>
                <a:xfrm>
                  <a:off x="6819900" y="3467100"/>
                  <a:ext cx="152400" cy="85725"/>
                </a:xfrm>
                <a:custGeom>
                  <a:avLst/>
                  <a:gdLst/>
                  <a:ahLst/>
                  <a:cxnLst/>
                  <a:rect l="l" t="t" r="r" b="b"/>
                  <a:pathLst>
                    <a:path w="152400" h="85725">
                      <a:moveTo>
                        <a:pt x="0" y="0"/>
                      </a:moveTo>
                      <a:lnTo>
                        <a:pt x="0" y="57150"/>
                      </a:lnTo>
                      <a:cubicBezTo>
                        <a:pt x="0" y="72932"/>
                        <a:pt x="34116" y="85725"/>
                        <a:pt x="76200" y="85725"/>
                      </a:cubicBezTo>
                      <a:cubicBezTo>
                        <a:pt x="118284" y="85725"/>
                        <a:pt x="152400" y="72932"/>
                        <a:pt x="152400" y="57150"/>
                      </a:cubicBezTo>
                      <a:lnTo>
                        <a:pt x="152400" y="0"/>
                      </a:lnTo>
                    </a:path>
                  </a:pathLst>
                </a:custGeom>
                <a:noFill/>
                <a:ln w="19050" cap="rnd">
                  <a:solidFill>
                    <a:srgbClr val="00A6A6"/>
                  </a:solidFill>
                  <a:round/>
                </a:ln>
              </p:spPr>
            </p:sp>
          </p:grpSp>
          <p:sp>
            <p:nvSpPr>
              <p:cNvPr id="47" name="TextBox 47"/>
              <p:cNvSpPr txBox="1"/>
              <p:nvPr/>
            </p:nvSpPr>
            <p:spPr>
              <a:xfrm>
                <a:off x="7117842" y="3378518"/>
                <a:ext cx="3616734" cy="264033"/>
              </a:xfrm>
              <a:prstGeom prst="rect">
                <a:avLst/>
              </a:prstGeom>
              <a:noFill/>
              <a:ln>
                <a:noFill/>
              </a:ln>
            </p:spPr>
            <p:txBody>
              <a:bodyPr wrap="none" lIns="0" tIns="0" rIns="0" bIns="0" anchor="t" anchorCtr="0">
                <a:spAutoFit/>
              </a:bodyPr>
              <a:lstStyle/>
              <a:p>
                <a:pPr algn="l"/>
                <a:r>
                  <a:rPr lang="tr-TR" sz="1350" b="1" dirty="0">
                    <a:solidFill>
                      <a:srgbClr val="172B3A"/>
                    </a:solidFill>
                    <a:latin typeface="+mn-lt"/>
                    <a:ea typeface="+mn-ea"/>
                    <a:cs typeface="+mn-cs"/>
                  </a:rPr>
                  <a:t>Geçersiz veri veritabanına hiç ulaşmaz</a:t>
                </a:r>
              </a:p>
            </p:txBody>
          </p:sp>
          <p:sp>
            <p:nvSpPr>
              <p:cNvPr id="48" name="TextBox 48"/>
              <p:cNvSpPr txBox="1"/>
              <p:nvPr/>
            </p:nvSpPr>
            <p:spPr>
              <a:xfrm>
                <a:off x="7118604" y="3623310"/>
                <a:ext cx="313518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Doğrulama başarısızsa fonksiyon erken</a:t>
                </a:r>
              </a:p>
            </p:txBody>
          </p:sp>
          <p:sp>
            <p:nvSpPr>
              <p:cNvPr id="49" name="TextBox 49"/>
              <p:cNvSpPr txBox="1"/>
              <p:nvPr/>
            </p:nvSpPr>
            <p:spPr>
              <a:xfrm>
                <a:off x="7118604" y="3832860"/>
                <a:ext cx="354192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döner; veritabanı fonksiyonu hiç çağrılmaz.</a:t>
                </a:r>
              </a:p>
            </p:txBody>
          </p:sp>
        </p:grpSp>
        <p:sp>
          <p:nvSpPr>
            <p:cNvPr id="51" name="Rectangle 51"/>
            <p:cNvSpPr/>
            <p:nvPr/>
          </p:nvSpPr>
          <p:spPr>
            <a:xfrm>
              <a:off x="6781800" y="4381500"/>
              <a:ext cx="4800600" cy="762000"/>
            </a:xfrm>
            <a:prstGeom prst="roundRect">
              <a:avLst>
                <a:gd name="adj" fmla="val 10000"/>
              </a:avLst>
            </a:prstGeom>
            <a:solidFill>
              <a:srgbClr val="EAF4F6"/>
            </a:solidFill>
            <a:ln>
              <a:noFill/>
            </a:ln>
          </p:spPr>
        </p:sp>
        <p:grpSp>
          <p:nvGrpSpPr>
            <p:cNvPr id="55" name="icon-alert-13"/>
            <p:cNvGrpSpPr/>
            <p:nvPr/>
          </p:nvGrpSpPr>
          <p:grpSpPr>
            <a:xfrm>
              <a:off x="6989020" y="4538144"/>
              <a:ext cx="176111" cy="151303"/>
              <a:chOff x="6989020" y="4538144"/>
              <a:chExt cx="176111" cy="151303"/>
            </a:xfrm>
          </p:grpSpPr>
          <p:sp>
            <p:nvSpPr>
              <p:cNvPr id="52" name="Freeform 52"/>
              <p:cNvSpPr/>
              <p:nvPr/>
            </p:nvSpPr>
            <p:spPr>
              <a:xfrm>
                <a:off x="7077079" y="4593434"/>
                <a:ext cx="9525" cy="34926"/>
              </a:xfrm>
              <a:custGeom>
                <a:avLst/>
                <a:gdLst/>
                <a:ahLst/>
                <a:cxnLst/>
                <a:rect l="l" t="t" r="r" b="b"/>
                <a:pathLst>
                  <a:path w="9525" h="34926">
                    <a:moveTo>
                      <a:pt x="0" y="0"/>
                    </a:moveTo>
                    <a:lnTo>
                      <a:pt x="0" y="34926"/>
                    </a:lnTo>
                  </a:path>
                </a:pathLst>
              </a:custGeom>
              <a:noFill/>
              <a:ln w="19052" cap="rnd">
                <a:solidFill>
                  <a:srgbClr val="12355B"/>
                </a:solidFill>
                <a:round/>
              </a:ln>
            </p:spPr>
          </p:sp>
          <p:sp>
            <p:nvSpPr>
              <p:cNvPr id="53" name="Freeform 53"/>
              <p:cNvSpPr/>
              <p:nvPr/>
            </p:nvSpPr>
            <p:spPr>
              <a:xfrm>
                <a:off x="6989020" y="4538144"/>
                <a:ext cx="176111" cy="151303"/>
              </a:xfrm>
              <a:custGeom>
                <a:avLst/>
                <a:gdLst/>
                <a:ahLst/>
                <a:cxnLst/>
                <a:rect l="l" t="t" r="r" b="b"/>
                <a:pathLst>
                  <a:path w="176111" h="151303">
                    <a:moveTo>
                      <a:pt x="73765" y="8061"/>
                    </a:moveTo>
                    <a:lnTo>
                      <a:pt x="2987" y="126234"/>
                    </a:lnTo>
                    <a:cubicBezTo>
                      <a:pt x="18" y="131376"/>
                      <a:pt x="0" y="137707"/>
                      <a:pt x="2940" y="142866"/>
                    </a:cubicBezTo>
                    <a:cubicBezTo>
                      <a:pt x="5879" y="148024"/>
                      <a:pt x="11335" y="151236"/>
                      <a:pt x="17272" y="151303"/>
                    </a:cubicBezTo>
                    <a:lnTo>
                      <a:pt x="158846" y="151303"/>
                    </a:lnTo>
                    <a:cubicBezTo>
                      <a:pt x="164780" y="151234"/>
                      <a:pt x="170233" y="148024"/>
                      <a:pt x="173172" y="142868"/>
                    </a:cubicBezTo>
                    <a:cubicBezTo>
                      <a:pt x="176111" y="137712"/>
                      <a:pt x="176095" y="131384"/>
                      <a:pt x="173131" y="126243"/>
                    </a:cubicBezTo>
                    <a:lnTo>
                      <a:pt x="102352" y="8052"/>
                    </a:lnTo>
                    <a:cubicBezTo>
                      <a:pt x="99324" y="3053"/>
                      <a:pt x="93904" y="0"/>
                      <a:pt x="88059" y="0"/>
                    </a:cubicBezTo>
                    <a:cubicBezTo>
                      <a:pt x="82214" y="0"/>
                      <a:pt x="76794" y="3053"/>
                      <a:pt x="73765" y="8052"/>
                    </a:cubicBezTo>
                  </a:path>
                </a:pathLst>
              </a:custGeom>
              <a:noFill/>
              <a:ln w="19052" cap="rnd">
                <a:solidFill>
                  <a:srgbClr val="12355B"/>
                </a:solidFill>
                <a:round/>
              </a:ln>
            </p:spPr>
          </p:sp>
          <p:sp>
            <p:nvSpPr>
              <p:cNvPr id="54" name="Freeform 54"/>
              <p:cNvSpPr/>
              <p:nvPr/>
            </p:nvSpPr>
            <p:spPr>
              <a:xfrm>
                <a:off x="7077079" y="4654555"/>
                <a:ext cx="9525" cy="9525"/>
              </a:xfrm>
              <a:custGeom>
                <a:avLst/>
                <a:gdLst/>
                <a:ahLst/>
                <a:cxnLst/>
                <a:rect l="l" t="t" r="r" b="b"/>
                <a:pathLst>
                  <a:path w="9525" h="9525">
                    <a:moveTo>
                      <a:pt x="0" y="0"/>
                    </a:moveTo>
                    <a:lnTo>
                      <a:pt x="87" y="0"/>
                    </a:lnTo>
                  </a:path>
                </a:pathLst>
              </a:custGeom>
              <a:noFill/>
              <a:ln w="19052" cap="rnd">
                <a:solidFill>
                  <a:srgbClr val="12355B"/>
                </a:solidFill>
                <a:round/>
              </a:ln>
            </p:spPr>
          </p:sp>
        </p:grpSp>
        <p:sp>
          <p:nvSpPr>
            <p:cNvPr id="56" name="TextBox 56"/>
            <p:cNvSpPr txBox="1"/>
            <p:nvPr/>
          </p:nvSpPr>
          <p:spPr>
            <a:xfrm>
              <a:off x="7271385" y="4545806"/>
              <a:ext cx="3412738"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Sunucu zaman damgası, gerçek ölçüm anı ile</a:t>
              </a:r>
            </a:p>
          </p:txBody>
        </p:sp>
        <p:sp>
          <p:nvSpPr>
            <p:cNvPr id="57" name="TextBox 57"/>
            <p:cNvSpPr txBox="1"/>
            <p:nvPr/>
          </p:nvSpPr>
          <p:spPr>
            <a:xfrm>
              <a:off x="6966585" y="4755356"/>
              <a:ext cx="397679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sunucuya ulaşma anı arasındaki ağ gecikmesini gizler.</a:t>
              </a:r>
            </a:p>
          </p:txBody>
        </p:sp>
        <p:sp>
          <p:nvSpPr>
            <p:cNvPr id="58" name="TextBox 58"/>
            <p:cNvSpPr txBox="1"/>
            <p:nvPr/>
          </p:nvSpPr>
          <p:spPr>
            <a:xfrm>
              <a:off x="6966585" y="4926806"/>
              <a:ext cx="433610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Doğrulama tekrar edilse de bu, tek başına yeterli değildir.</a:t>
              </a:r>
            </a:p>
          </p:txBody>
        </p:sp>
      </p:grpSp>
      <p:grpSp>
        <p:nvGrpSpPr>
          <p:cNvPr id="65" name="footer-note"/>
          <p:cNvGrpSpPr/>
          <p:nvPr/>
        </p:nvGrpSpPr>
        <p:grpSpPr>
          <a:xfrm>
            <a:off x="609600" y="5372100"/>
            <a:ext cx="10972800" cy="914400"/>
            <a:chOff x="609600" y="5372100"/>
            <a:chExt cx="10972800" cy="914400"/>
          </a:xfrm>
        </p:grpSpPr>
        <p:sp>
          <p:nvSpPr>
            <p:cNvPr id="60" name="Rectangle 60"/>
            <p:cNvSpPr/>
            <p:nvPr/>
          </p:nvSpPr>
          <p:spPr>
            <a:xfrm>
              <a:off x="609600" y="5372100"/>
              <a:ext cx="10972800" cy="914400"/>
            </a:xfrm>
            <a:prstGeom prst="roundRect">
              <a:avLst>
                <a:gd name="adj" fmla="val 10417"/>
              </a:avLst>
            </a:prstGeom>
            <a:solidFill>
              <a:srgbClr val="FFFFFF"/>
            </a:solidFill>
            <a:ln w="9525">
              <a:solidFill>
                <a:srgbClr val="B8CBD3"/>
              </a:solidFill>
            </a:ln>
          </p:spPr>
        </p:sp>
        <p:sp>
          <p:nvSpPr>
            <p:cNvPr id="61" name="Rectangle 61"/>
            <p:cNvSpPr/>
            <p:nvPr/>
          </p:nvSpPr>
          <p:spPr>
            <a:xfrm>
              <a:off x="609600" y="5372100"/>
              <a:ext cx="57150" cy="914400"/>
            </a:xfrm>
            <a:prstGeom prst="rect">
              <a:avLst/>
            </a:prstGeom>
            <a:solidFill>
              <a:srgbClr val="00A6A6"/>
            </a:solidFill>
            <a:ln>
              <a:noFill/>
            </a:ln>
          </p:spPr>
        </p:sp>
        <p:sp>
          <p:nvSpPr>
            <p:cNvPr id="62" name="TextBox 62"/>
            <p:cNvSpPr txBox="1"/>
            <p:nvPr/>
          </p:nvSpPr>
          <p:spPr>
            <a:xfrm>
              <a:off x="907542" y="5493068"/>
              <a:ext cx="3311250"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Aralık dışılık ile anomali farklıdır</a:t>
              </a:r>
            </a:p>
          </p:txBody>
        </p:sp>
        <p:sp>
          <p:nvSpPr>
            <p:cNvPr id="63" name="TextBox 63"/>
            <p:cNvSpPr txBox="1"/>
            <p:nvPr/>
          </p:nvSpPr>
          <p:spPr>
            <a:xfrm>
              <a:off x="908304" y="5737860"/>
              <a:ext cx="728701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Bir odanın sıcaklığının bir dakikada 15 derece artması aralık içinde olsa da beklenmedik bir</a:t>
              </a:r>
            </a:p>
          </p:txBody>
        </p:sp>
        <p:sp>
          <p:nvSpPr>
            <p:cNvPr id="64" name="TextBox 64"/>
            <p:cNvSpPr txBox="1"/>
            <p:nvPr/>
          </p:nvSpPr>
          <p:spPr>
            <a:xfrm>
              <a:off x="908304" y="5966460"/>
              <a:ext cx="502813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örüntüdür; üretim sistemlerinde ikisi de ayrı ayrı izlenmelidir.</a:t>
              </a:r>
            </a:p>
          </p:txBody>
        </p:sp>
      </p:grpSp>
      <p:sp>
        <p:nvSpPr>
          <p:cNvPr id="66" name="TextBox 6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24</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405454" cy="557403"/>
            <a:chOff x="595122" y="282892"/>
            <a:chExt cx="7405454" cy="557403"/>
          </a:xfrm>
        </p:grpSpPr>
        <p:sp>
          <p:nvSpPr>
            <p:cNvPr id="4" name="TextBox 4"/>
            <p:cNvSpPr txBox="1"/>
            <p:nvPr/>
          </p:nvSpPr>
          <p:spPr>
            <a:xfrm>
              <a:off x="595122" y="282892"/>
              <a:ext cx="740545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Üç reddetme noktası: 401 / 403 / 400</a:t>
              </a:r>
            </a:p>
          </p:txBody>
        </p:sp>
      </p:grpSp>
      <p:grpSp>
        <p:nvGrpSpPr>
          <p:cNvPr id="35" name="lifelines"/>
          <p:cNvGrpSpPr/>
          <p:nvPr/>
        </p:nvGrpSpPr>
        <p:grpSpPr>
          <a:xfrm>
            <a:off x="1066800" y="1219200"/>
            <a:ext cx="10058400" cy="3844861"/>
            <a:chOff x="1066800" y="1219200"/>
            <a:chExt cx="10058400" cy="3844861"/>
          </a:xfrm>
        </p:grpSpPr>
        <p:sp>
          <p:nvSpPr>
            <p:cNvPr id="6" name="Rectangle 6"/>
            <p:cNvSpPr/>
            <p:nvPr/>
          </p:nvSpPr>
          <p:spPr>
            <a:xfrm>
              <a:off x="1066800" y="1219200"/>
              <a:ext cx="1714500" cy="381000"/>
            </a:xfrm>
            <a:prstGeom prst="roundRect">
              <a:avLst>
                <a:gd name="adj" fmla="val 15000"/>
              </a:avLst>
            </a:prstGeom>
            <a:solidFill>
              <a:srgbClr val="12355B"/>
            </a:solidFill>
            <a:ln>
              <a:noFill/>
            </a:ln>
          </p:spPr>
        </p:sp>
        <p:sp>
          <p:nvSpPr>
            <p:cNvPr id="7" name="TextBox 7"/>
            <p:cNvSpPr txBox="1"/>
            <p:nvPr/>
          </p:nvSpPr>
          <p:spPr>
            <a:xfrm>
              <a:off x="1351856" y="1329214"/>
              <a:ext cx="1144388" cy="249364"/>
            </a:xfrm>
            <a:prstGeom prst="rect">
              <a:avLst/>
            </a:prstGeom>
            <a:noFill/>
            <a:ln>
              <a:noFill/>
            </a:ln>
          </p:spPr>
          <p:txBody>
            <a:bodyPr wrap="none" lIns="0" tIns="0" rIns="0" bIns="0" anchor="t" anchorCtr="0">
              <a:spAutoFit/>
            </a:bodyPr>
            <a:lstStyle/>
            <a:p>
              <a:pPr algn="ctr"/>
              <a:r>
                <a:rPr lang="tr-TR" sz="1280" b="1" dirty="0">
                  <a:solidFill>
                    <a:srgbClr val="FFFFFF"/>
                  </a:solidFill>
                  <a:latin typeface="+mn-lt"/>
                  <a:ea typeface="+mn-ea"/>
                  <a:cs typeface="+mn-cs"/>
                </a:rPr>
                <a:t>ESP32 Cihazı</a:t>
              </a:r>
            </a:p>
          </p:txBody>
        </p:sp>
        <p:sp>
          <p:nvSpPr>
            <p:cNvPr id="8" name="Line 8"/>
            <p:cNvSpPr/>
            <p:nvPr/>
          </p:nvSpPr>
          <p:spPr>
            <a:xfrm>
              <a:off x="1924050" y="1600200"/>
              <a:ext cx="9525" cy="3162300"/>
            </a:xfrm>
            <a:custGeom>
              <a:avLst/>
              <a:gdLst/>
              <a:ahLst/>
              <a:cxnLst/>
              <a:rect l="l" t="t" r="r" b="b"/>
              <a:pathLst>
                <a:path w="9525" h="3162300">
                  <a:moveTo>
                    <a:pt x="0" y="0"/>
                  </a:moveTo>
                  <a:lnTo>
                    <a:pt x="0" y="3162300"/>
                  </a:lnTo>
                </a:path>
              </a:pathLst>
            </a:custGeom>
            <a:noFill/>
            <a:ln w="14288">
              <a:solidFill>
                <a:srgbClr val="B8CBD3"/>
              </a:solidFill>
              <a:prstDash val="dash"/>
            </a:ln>
          </p:spPr>
        </p:sp>
        <p:sp>
          <p:nvSpPr>
            <p:cNvPr id="9" name="Rectangle 9"/>
            <p:cNvSpPr/>
            <p:nvPr/>
          </p:nvSpPr>
          <p:spPr>
            <a:xfrm>
              <a:off x="5238750" y="1219200"/>
              <a:ext cx="1714500" cy="381000"/>
            </a:xfrm>
            <a:prstGeom prst="roundRect">
              <a:avLst>
                <a:gd name="adj" fmla="val 15000"/>
              </a:avLst>
            </a:prstGeom>
            <a:solidFill>
              <a:srgbClr val="12355B"/>
            </a:solidFill>
            <a:ln>
              <a:noFill/>
            </a:ln>
          </p:spPr>
        </p:sp>
        <p:sp>
          <p:nvSpPr>
            <p:cNvPr id="10" name="TextBox 10"/>
            <p:cNvSpPr txBox="1"/>
            <p:nvPr/>
          </p:nvSpPr>
          <p:spPr>
            <a:xfrm>
              <a:off x="5625821" y="1329214"/>
              <a:ext cx="940359" cy="249364"/>
            </a:xfrm>
            <a:prstGeom prst="rect">
              <a:avLst/>
            </a:prstGeom>
            <a:noFill/>
            <a:ln>
              <a:noFill/>
            </a:ln>
          </p:spPr>
          <p:txBody>
            <a:bodyPr wrap="none" lIns="0" tIns="0" rIns="0" bIns="0" anchor="t" anchorCtr="0">
              <a:spAutoFit/>
            </a:bodyPr>
            <a:lstStyle/>
            <a:p>
              <a:pPr algn="ctr"/>
              <a:r>
                <a:rPr lang="tr-TR" sz="1280" b="1" dirty="0">
                  <a:solidFill>
                    <a:srgbClr val="FFFFFF"/>
                  </a:solidFill>
                  <a:latin typeface="+mn-lt"/>
                  <a:ea typeface="+mn-ea"/>
                  <a:cs typeface="+mn-cs"/>
                </a:rPr>
                <a:t>Sensör API</a:t>
              </a:r>
            </a:p>
          </p:txBody>
        </p:sp>
        <p:sp>
          <p:nvSpPr>
            <p:cNvPr id="11" name="Line 11"/>
            <p:cNvSpPr/>
            <p:nvPr/>
          </p:nvSpPr>
          <p:spPr>
            <a:xfrm>
              <a:off x="6096000" y="1600200"/>
              <a:ext cx="9525" cy="3162300"/>
            </a:xfrm>
            <a:custGeom>
              <a:avLst/>
              <a:gdLst/>
              <a:ahLst/>
              <a:cxnLst/>
              <a:rect l="l" t="t" r="r" b="b"/>
              <a:pathLst>
                <a:path w="9525" h="3162300">
                  <a:moveTo>
                    <a:pt x="0" y="0"/>
                  </a:moveTo>
                  <a:lnTo>
                    <a:pt x="0" y="3162300"/>
                  </a:lnTo>
                </a:path>
              </a:pathLst>
            </a:custGeom>
            <a:noFill/>
            <a:ln w="14288">
              <a:solidFill>
                <a:srgbClr val="B8CBD3"/>
              </a:solidFill>
              <a:prstDash val="dash"/>
            </a:ln>
          </p:spPr>
        </p:sp>
        <p:sp>
          <p:nvSpPr>
            <p:cNvPr id="12" name="Rectangle 12"/>
            <p:cNvSpPr/>
            <p:nvPr/>
          </p:nvSpPr>
          <p:spPr>
            <a:xfrm>
              <a:off x="9410700" y="1219200"/>
              <a:ext cx="1714500" cy="381000"/>
            </a:xfrm>
            <a:prstGeom prst="roundRect">
              <a:avLst>
                <a:gd name="adj" fmla="val 15000"/>
              </a:avLst>
            </a:prstGeom>
            <a:solidFill>
              <a:srgbClr val="12355B"/>
            </a:solidFill>
            <a:ln>
              <a:noFill/>
            </a:ln>
          </p:spPr>
        </p:sp>
        <p:sp>
          <p:nvSpPr>
            <p:cNvPr id="13" name="TextBox 13"/>
            <p:cNvSpPr txBox="1"/>
            <p:nvPr/>
          </p:nvSpPr>
          <p:spPr>
            <a:xfrm>
              <a:off x="9734149" y="1329214"/>
              <a:ext cx="1067601" cy="249364"/>
            </a:xfrm>
            <a:prstGeom prst="rect">
              <a:avLst/>
            </a:prstGeom>
            <a:noFill/>
            <a:ln>
              <a:noFill/>
            </a:ln>
          </p:spPr>
          <p:txBody>
            <a:bodyPr wrap="none" lIns="0" tIns="0" rIns="0" bIns="0" anchor="t" anchorCtr="0">
              <a:spAutoFit/>
            </a:bodyPr>
            <a:lstStyle/>
            <a:p>
              <a:pPr algn="ctr"/>
              <a:r>
                <a:rPr lang="tr-TR" sz="1280" b="1" dirty="0">
                  <a:solidFill>
                    <a:srgbClr val="FFFFFF"/>
                  </a:solidFill>
                  <a:latin typeface="+mn-lt"/>
                  <a:ea typeface="+mn-ea"/>
                  <a:cs typeface="+mn-cs"/>
                </a:rPr>
                <a:t>PostgreSQL</a:t>
              </a:r>
            </a:p>
          </p:txBody>
        </p:sp>
        <p:sp>
          <p:nvSpPr>
            <p:cNvPr id="14" name="Line 14"/>
            <p:cNvSpPr/>
            <p:nvPr/>
          </p:nvSpPr>
          <p:spPr>
            <a:xfrm>
              <a:off x="10267950" y="1600200"/>
              <a:ext cx="9525" cy="3162300"/>
            </a:xfrm>
            <a:custGeom>
              <a:avLst/>
              <a:gdLst/>
              <a:ahLst/>
              <a:cxnLst/>
              <a:rect l="l" t="t" r="r" b="b"/>
              <a:pathLst>
                <a:path w="9525" h="3162300">
                  <a:moveTo>
                    <a:pt x="0" y="0"/>
                  </a:moveTo>
                  <a:lnTo>
                    <a:pt x="0" y="3162300"/>
                  </a:lnTo>
                </a:path>
              </a:pathLst>
            </a:custGeom>
            <a:noFill/>
            <a:ln w="14288">
              <a:solidFill>
                <a:srgbClr val="B8CBD3"/>
              </a:solidFill>
              <a:prstDash val="dash"/>
            </a:ln>
          </p:spPr>
        </p:sp>
        <p:sp>
          <p:nvSpPr>
            <p:cNvPr id="15" name="Line 15"/>
            <p:cNvSpPr/>
            <p:nvPr/>
          </p:nvSpPr>
          <p:spPr>
            <a:xfrm>
              <a:off x="1924050" y="1866900"/>
              <a:ext cx="4133850" cy="1"/>
            </a:xfrm>
            <a:prstGeom prst="line">
              <a:avLst/>
            </a:prstGeom>
            <a:noFill/>
            <a:ln w="19050">
              <a:solidFill>
                <a:srgbClr val="12355B"/>
              </a:solidFill>
              <a:tailEnd type="arrow" w="lg" len="lg"/>
            </a:ln>
          </p:spPr>
        </p:sp>
        <p:sp>
          <p:nvSpPr>
            <p:cNvPr id="16" name="TextBox 16"/>
            <p:cNvSpPr txBox="1"/>
            <p:nvPr/>
          </p:nvSpPr>
          <p:spPr>
            <a:xfrm>
              <a:off x="2090166" y="1677352"/>
              <a:ext cx="2028787"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POST /telemetri (X-Api-Key)</a:t>
              </a:r>
            </a:p>
          </p:txBody>
        </p:sp>
        <p:sp>
          <p:nvSpPr>
            <p:cNvPr id="17" name="Line 17"/>
            <p:cNvSpPr/>
            <p:nvPr/>
          </p:nvSpPr>
          <p:spPr>
            <a:xfrm flipH="1">
              <a:off x="1962150" y="2114550"/>
              <a:ext cx="4095750" cy="1"/>
            </a:xfrm>
            <a:prstGeom prst="line">
              <a:avLst/>
            </a:prstGeom>
            <a:noFill/>
            <a:ln w="19050">
              <a:solidFill>
                <a:srgbClr val="00A6A6"/>
              </a:solidFill>
              <a:tailEnd type="arrow" w="lg" len="lg"/>
            </a:ln>
          </p:spPr>
        </p:sp>
        <p:sp>
          <p:nvSpPr>
            <p:cNvPr id="18" name="TextBox 18"/>
            <p:cNvSpPr txBox="1"/>
            <p:nvPr/>
          </p:nvSpPr>
          <p:spPr>
            <a:xfrm>
              <a:off x="2470785" y="1916906"/>
              <a:ext cx="3502234"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① 401 — cihaz kayıtlı değil / anahtar geçersiz</a:t>
              </a:r>
            </a:p>
          </p:txBody>
        </p:sp>
        <p:sp>
          <p:nvSpPr>
            <p:cNvPr id="19" name="Line 19"/>
            <p:cNvSpPr/>
            <p:nvPr/>
          </p:nvSpPr>
          <p:spPr>
            <a:xfrm>
              <a:off x="1924050" y="2571750"/>
              <a:ext cx="4133850" cy="1"/>
            </a:xfrm>
            <a:prstGeom prst="line">
              <a:avLst/>
            </a:prstGeom>
            <a:noFill/>
            <a:ln w="19050">
              <a:solidFill>
                <a:srgbClr val="12355B"/>
              </a:solidFill>
              <a:tailEnd type="arrow" w="lg" len="lg"/>
            </a:ln>
          </p:spPr>
        </p:sp>
        <p:sp>
          <p:nvSpPr>
            <p:cNvPr id="20" name="TextBox 20"/>
            <p:cNvSpPr txBox="1"/>
            <p:nvPr/>
          </p:nvSpPr>
          <p:spPr>
            <a:xfrm>
              <a:off x="2090166" y="2382202"/>
              <a:ext cx="3112640"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POST /telemetri (kayıtlı, devre dışı cihaz)</a:t>
              </a:r>
            </a:p>
          </p:txBody>
        </p:sp>
        <p:sp>
          <p:nvSpPr>
            <p:cNvPr id="21" name="Line 21"/>
            <p:cNvSpPr/>
            <p:nvPr/>
          </p:nvSpPr>
          <p:spPr>
            <a:xfrm flipH="1">
              <a:off x="1962150" y="2819400"/>
              <a:ext cx="4095750" cy="1"/>
            </a:xfrm>
            <a:prstGeom prst="line">
              <a:avLst/>
            </a:prstGeom>
            <a:noFill/>
            <a:ln w="19050">
              <a:solidFill>
                <a:srgbClr val="00A6A6"/>
              </a:solidFill>
              <a:tailEnd type="arrow" w="lg" len="lg"/>
            </a:ln>
          </p:spPr>
        </p:sp>
        <p:sp>
          <p:nvSpPr>
            <p:cNvPr id="22" name="TextBox 22"/>
            <p:cNvSpPr txBox="1"/>
            <p:nvPr/>
          </p:nvSpPr>
          <p:spPr>
            <a:xfrm>
              <a:off x="2470785" y="2621756"/>
              <a:ext cx="2773994"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② 403 — cihaz devre dışı bırakılmış</a:t>
              </a:r>
            </a:p>
          </p:txBody>
        </p:sp>
        <p:sp>
          <p:nvSpPr>
            <p:cNvPr id="23" name="Line 23"/>
            <p:cNvSpPr/>
            <p:nvPr/>
          </p:nvSpPr>
          <p:spPr>
            <a:xfrm>
              <a:off x="1924050" y="3276600"/>
              <a:ext cx="4133850" cy="1"/>
            </a:xfrm>
            <a:prstGeom prst="line">
              <a:avLst/>
            </a:prstGeom>
            <a:noFill/>
            <a:ln w="19050">
              <a:solidFill>
                <a:srgbClr val="12355B"/>
              </a:solidFill>
              <a:tailEnd type="arrow" w="lg" len="lg"/>
            </a:ln>
          </p:spPr>
        </p:sp>
        <p:sp>
          <p:nvSpPr>
            <p:cNvPr id="24" name="TextBox 24"/>
            <p:cNvSpPr txBox="1"/>
            <p:nvPr/>
          </p:nvSpPr>
          <p:spPr>
            <a:xfrm>
              <a:off x="2090166" y="3087052"/>
              <a:ext cx="2296668"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POST /telemetri (sicaklik: -999)</a:t>
              </a:r>
            </a:p>
          </p:txBody>
        </p:sp>
        <p:sp>
          <p:nvSpPr>
            <p:cNvPr id="25" name="Line 25"/>
            <p:cNvSpPr/>
            <p:nvPr/>
          </p:nvSpPr>
          <p:spPr>
            <a:xfrm flipH="1">
              <a:off x="1962150" y="3524250"/>
              <a:ext cx="4095750" cy="1"/>
            </a:xfrm>
            <a:prstGeom prst="line">
              <a:avLst/>
            </a:prstGeom>
            <a:noFill/>
            <a:ln w="19050">
              <a:solidFill>
                <a:srgbClr val="00A6A6"/>
              </a:solidFill>
              <a:tailEnd type="arrow" w="lg" len="lg"/>
            </a:ln>
          </p:spPr>
        </p:sp>
        <p:sp>
          <p:nvSpPr>
            <p:cNvPr id="26" name="TextBox 26"/>
            <p:cNvSpPr txBox="1"/>
            <p:nvPr/>
          </p:nvSpPr>
          <p:spPr>
            <a:xfrm>
              <a:off x="2470785" y="3326606"/>
              <a:ext cx="1942850"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③ 400 — ölçüm aralık dışı</a:t>
              </a:r>
            </a:p>
          </p:txBody>
        </p:sp>
        <p:sp>
          <p:nvSpPr>
            <p:cNvPr id="27" name="Line 27"/>
            <p:cNvSpPr/>
            <p:nvPr/>
          </p:nvSpPr>
          <p:spPr>
            <a:xfrm>
              <a:off x="1924050" y="3981450"/>
              <a:ext cx="4133850" cy="1"/>
            </a:xfrm>
            <a:prstGeom prst="line">
              <a:avLst/>
            </a:prstGeom>
            <a:noFill/>
            <a:ln w="19050">
              <a:solidFill>
                <a:srgbClr val="12355B"/>
              </a:solidFill>
              <a:tailEnd type="arrow" w="lg" len="lg"/>
            </a:ln>
          </p:spPr>
        </p:sp>
        <p:sp>
          <p:nvSpPr>
            <p:cNvPr id="28" name="TextBox 28"/>
            <p:cNvSpPr txBox="1"/>
            <p:nvPr/>
          </p:nvSpPr>
          <p:spPr>
            <a:xfrm>
              <a:off x="2090166" y="3791902"/>
              <a:ext cx="2242846"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POST /telemetri (geçerli ölçüm)</a:t>
              </a:r>
            </a:p>
          </p:txBody>
        </p:sp>
        <p:sp>
          <p:nvSpPr>
            <p:cNvPr id="29" name="Line 29"/>
            <p:cNvSpPr/>
            <p:nvPr/>
          </p:nvSpPr>
          <p:spPr>
            <a:xfrm>
              <a:off x="6096000" y="4229100"/>
              <a:ext cx="4133850" cy="1"/>
            </a:xfrm>
            <a:prstGeom prst="line">
              <a:avLst/>
            </a:prstGeom>
            <a:noFill/>
            <a:ln w="19050">
              <a:solidFill>
                <a:srgbClr val="12355B"/>
              </a:solidFill>
              <a:tailEnd type="arrow" w="lg" len="lg"/>
            </a:ln>
          </p:spPr>
        </p:sp>
        <p:sp>
          <p:nvSpPr>
            <p:cNvPr id="30" name="TextBox 30"/>
            <p:cNvSpPr txBox="1"/>
            <p:nvPr/>
          </p:nvSpPr>
          <p:spPr>
            <a:xfrm>
              <a:off x="6662166" y="4039552"/>
              <a:ext cx="2408079"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INSERT (sunucu zaman damgasıyla)</a:t>
              </a:r>
            </a:p>
          </p:txBody>
        </p:sp>
        <p:sp>
          <p:nvSpPr>
            <p:cNvPr id="31" name="Line 31"/>
            <p:cNvSpPr/>
            <p:nvPr/>
          </p:nvSpPr>
          <p:spPr>
            <a:xfrm>
              <a:off x="6134100" y="4476750"/>
              <a:ext cx="4133850" cy="9525"/>
            </a:xfrm>
            <a:custGeom>
              <a:avLst/>
              <a:gdLst/>
              <a:ahLst/>
              <a:cxnLst/>
              <a:rect l="l" t="t" r="r" b="b"/>
              <a:pathLst>
                <a:path w="4133850" h="9525">
                  <a:moveTo>
                    <a:pt x="4133850" y="0"/>
                  </a:moveTo>
                  <a:lnTo>
                    <a:pt x="0" y="0"/>
                  </a:lnTo>
                </a:path>
              </a:pathLst>
            </a:custGeom>
            <a:noFill/>
            <a:ln w="19050">
              <a:solidFill>
                <a:srgbClr val="52616B"/>
              </a:solidFill>
              <a:custDash>
                <a:ds d="300000" sp="200000"/>
              </a:custDash>
            </a:ln>
          </p:spPr>
        </p:sp>
        <p:sp>
          <p:nvSpPr>
            <p:cNvPr id="32" name="TextBox 32"/>
            <p:cNvSpPr txBox="1"/>
            <p:nvPr/>
          </p:nvSpPr>
          <p:spPr>
            <a:xfrm>
              <a:off x="7424166" y="4515802"/>
              <a:ext cx="837133"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201 Created</a:t>
              </a:r>
            </a:p>
          </p:txBody>
        </p:sp>
        <p:sp>
          <p:nvSpPr>
            <p:cNvPr id="33" name="Rectangle 33"/>
            <p:cNvSpPr/>
            <p:nvPr/>
          </p:nvSpPr>
          <p:spPr>
            <a:xfrm>
              <a:off x="1428750" y="4762500"/>
              <a:ext cx="9525000" cy="38100"/>
            </a:xfrm>
            <a:prstGeom prst="rect">
              <a:avLst/>
            </a:prstGeom>
            <a:solidFill>
              <a:srgbClr val="B8CBD3"/>
            </a:solidFill>
            <a:ln>
              <a:noFill/>
            </a:ln>
          </p:spPr>
        </p:sp>
        <p:sp>
          <p:nvSpPr>
            <p:cNvPr id="34" name="TextBox 34"/>
            <p:cNvSpPr txBox="1"/>
            <p:nvPr/>
          </p:nvSpPr>
          <p:spPr>
            <a:xfrm>
              <a:off x="1423416" y="4858702"/>
              <a:ext cx="4227603" cy="205359"/>
            </a:xfrm>
            <a:prstGeom prst="rect">
              <a:avLst/>
            </a:prstGeom>
            <a:noFill/>
            <a:ln>
              <a:noFill/>
            </a:ln>
          </p:spPr>
          <p:txBody>
            <a:bodyPr wrap="none" lIns="0" tIns="0" rIns="0" bIns="0" anchor="t" anchorCtr="0">
              <a:spAutoFit/>
            </a:bodyPr>
            <a:lstStyle/>
            <a:p>
              <a:pPr algn="l"/>
              <a:r>
                <a:rPr lang="tr-TR" sz="1050" i="1" dirty="0">
                  <a:solidFill>
                    <a:srgbClr val="52616B"/>
                  </a:solidFill>
                  <a:latin typeface="+mn-lt"/>
                  <a:ea typeface="+mn-ea"/>
                  <a:cs typeface="+mn-cs"/>
                </a:rPr>
                <a:t>Döngü: aynı hatalı cihaz aynı hatayı dakikada bir üretebilir.</a:t>
              </a:r>
            </a:p>
          </p:txBody>
        </p:sp>
      </p:grpSp>
      <p:grpSp>
        <p:nvGrpSpPr>
          <p:cNvPr id="40" name="diagnostic-band"/>
          <p:cNvGrpSpPr/>
          <p:nvPr/>
        </p:nvGrpSpPr>
        <p:grpSpPr>
          <a:xfrm>
            <a:off x="609600" y="5257800"/>
            <a:ext cx="10972800" cy="1028700"/>
            <a:chOff x="609600" y="5257800"/>
            <a:chExt cx="10972800" cy="1028700"/>
          </a:xfrm>
        </p:grpSpPr>
        <p:sp>
          <p:nvSpPr>
            <p:cNvPr id="36" name="Rectangle 36"/>
            <p:cNvSpPr/>
            <p:nvPr/>
          </p:nvSpPr>
          <p:spPr>
            <a:xfrm>
              <a:off x="609600" y="5257800"/>
              <a:ext cx="10972800" cy="1028700"/>
            </a:xfrm>
            <a:prstGeom prst="roundRect">
              <a:avLst>
                <a:gd name="adj" fmla="val 9259"/>
              </a:avLst>
            </a:prstGeom>
            <a:solidFill>
              <a:srgbClr val="EAF4F6"/>
            </a:solidFill>
            <a:ln>
              <a:noFill/>
            </a:ln>
          </p:spPr>
        </p:sp>
        <p:sp>
          <p:nvSpPr>
            <p:cNvPr id="37" name="TextBox 37"/>
            <p:cNvSpPr txBox="1"/>
            <p:nvPr/>
          </p:nvSpPr>
          <p:spPr>
            <a:xfrm>
              <a:off x="907161" y="5389721"/>
              <a:ext cx="6002398"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Ayrı tutulan reddetme noktaları tanı koymayı kolaylaştırır</a:t>
              </a:r>
            </a:p>
          </p:txBody>
        </p:sp>
        <p:sp>
          <p:nvSpPr>
            <p:cNvPr id="38" name="TextBox 38"/>
            <p:cNvSpPr txBox="1"/>
            <p:nvPr/>
          </p:nvSpPr>
          <p:spPr>
            <a:xfrm>
              <a:off x="908304" y="5661660"/>
              <a:ext cx="695858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401 anahtarın, 403 cihazın kaydının, 400 ise ölçümün sorunlu olduğunu söyler; yanıtlar</a:t>
              </a:r>
            </a:p>
          </p:txBody>
        </p:sp>
        <p:sp>
          <p:nvSpPr>
            <p:cNvPr id="39" name="TextBox 39"/>
            <p:cNvSpPr txBox="1"/>
            <p:nvPr/>
          </p:nvSpPr>
          <p:spPr>
            <a:xfrm>
              <a:off x="908304" y="5890260"/>
              <a:ext cx="676473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yalnızca istemciye dönmekle kalmaz, cihaz kimliğiyle birlikte günlüğe de yazılmalıdır.</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24</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6855490" cy="668845"/>
            <a:chOff x="609600" y="171450"/>
            <a:chExt cx="6855490"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616511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Zaman serisinde yaygın hatalar</a:t>
              </a:r>
            </a:p>
          </p:txBody>
        </p:sp>
      </p:grpSp>
      <p:grpSp>
        <p:nvGrpSpPr>
          <p:cNvPr id="16" name="error-1"/>
          <p:cNvGrpSpPr/>
          <p:nvPr/>
        </p:nvGrpSpPr>
        <p:grpSpPr>
          <a:xfrm>
            <a:off x="609600" y="1257300"/>
            <a:ext cx="10972800" cy="1028700"/>
            <a:chOff x="609600" y="1257300"/>
            <a:chExt cx="10972800" cy="1028700"/>
          </a:xfrm>
        </p:grpSpPr>
        <p:sp>
          <p:nvSpPr>
            <p:cNvPr id="11" name="Rectangle 11"/>
            <p:cNvSpPr/>
            <p:nvPr/>
          </p:nvSpPr>
          <p:spPr>
            <a:xfrm>
              <a:off x="609600" y="1257300"/>
              <a:ext cx="10972800" cy="1028700"/>
            </a:xfrm>
            <a:prstGeom prst="roundRect">
              <a:avLst>
                <a:gd name="adj" fmla="val 9259"/>
              </a:avLst>
            </a:prstGeom>
            <a:solidFill>
              <a:srgbClr val="FFFFFF"/>
            </a:solidFill>
            <a:ln w="9525">
              <a:solidFill>
                <a:srgbClr val="B8CBD3"/>
              </a:solidFill>
            </a:ln>
          </p:spPr>
        </p:sp>
        <p:sp>
          <p:nvSpPr>
            <p:cNvPr id="12" name="Rectangle 12"/>
            <p:cNvSpPr/>
            <p:nvPr/>
          </p:nvSpPr>
          <p:spPr>
            <a:xfrm>
              <a:off x="609600" y="1257300"/>
              <a:ext cx="57150" cy="1028700"/>
            </a:xfrm>
            <a:prstGeom prst="rect">
              <a:avLst/>
            </a:prstGeom>
            <a:solidFill>
              <a:srgbClr val="00A6A6"/>
            </a:solidFill>
            <a:ln>
              <a:noFill/>
            </a:ln>
          </p:spPr>
        </p:sp>
        <p:sp>
          <p:nvSpPr>
            <p:cNvPr id="13" name="TextBox 13"/>
            <p:cNvSpPr txBox="1"/>
            <p:nvPr/>
          </p:nvSpPr>
          <p:spPr>
            <a:xfrm>
              <a:off x="906780" y="1400175"/>
              <a:ext cx="5089503"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Doğrulamayı yalnızca cihaz yazılımına bırakmak</a:t>
              </a:r>
            </a:p>
          </p:txBody>
        </p:sp>
        <p:sp>
          <p:nvSpPr>
            <p:cNvPr id="14" name="TextBox 14"/>
            <p:cNvSpPr txBox="1"/>
            <p:nvPr/>
          </p:nvSpPr>
          <p:spPr>
            <a:xfrm>
              <a:off x="908304" y="1699260"/>
              <a:ext cx="638140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Cihaz yazılımı hatalı olabilir veya biri doğrudan API'ye sahte istek gönderebilir;</a:t>
              </a:r>
            </a:p>
          </p:txBody>
        </p:sp>
        <p:sp>
          <p:nvSpPr>
            <p:cNvPr id="15" name="TextBox 15"/>
            <p:cNvSpPr txBox="1"/>
            <p:nvPr/>
          </p:nvSpPr>
          <p:spPr>
            <a:xfrm>
              <a:off x="908304" y="1927860"/>
              <a:ext cx="495043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backend HER ZAMAN kendi aralık doğrulamasını da yapmalıdır.</a:t>
              </a:r>
            </a:p>
          </p:txBody>
        </p:sp>
      </p:grpSp>
      <p:grpSp>
        <p:nvGrpSpPr>
          <p:cNvPr id="22" name="error-2"/>
          <p:cNvGrpSpPr/>
          <p:nvPr/>
        </p:nvGrpSpPr>
        <p:grpSpPr>
          <a:xfrm>
            <a:off x="609600" y="2438400"/>
            <a:ext cx="10972800" cy="1028700"/>
            <a:chOff x="609600" y="2438400"/>
            <a:chExt cx="10972800" cy="1028700"/>
          </a:xfrm>
        </p:grpSpPr>
        <p:sp>
          <p:nvSpPr>
            <p:cNvPr id="17" name="Rectangle 17"/>
            <p:cNvSpPr/>
            <p:nvPr/>
          </p:nvSpPr>
          <p:spPr>
            <a:xfrm>
              <a:off x="609600" y="2438400"/>
              <a:ext cx="10972800" cy="1028700"/>
            </a:xfrm>
            <a:prstGeom prst="roundRect">
              <a:avLst>
                <a:gd name="adj" fmla="val 9259"/>
              </a:avLst>
            </a:prstGeom>
            <a:solidFill>
              <a:srgbClr val="FFFFFF"/>
            </a:solidFill>
            <a:ln w="9525">
              <a:solidFill>
                <a:srgbClr val="B8CBD3"/>
              </a:solidFill>
            </a:ln>
          </p:spPr>
        </p:sp>
        <p:sp>
          <p:nvSpPr>
            <p:cNvPr id="18" name="Rectangle 18"/>
            <p:cNvSpPr/>
            <p:nvPr/>
          </p:nvSpPr>
          <p:spPr>
            <a:xfrm>
              <a:off x="609600" y="2438400"/>
              <a:ext cx="57150" cy="1028700"/>
            </a:xfrm>
            <a:prstGeom prst="rect">
              <a:avLst/>
            </a:prstGeom>
            <a:solidFill>
              <a:srgbClr val="00A6A6"/>
            </a:solidFill>
            <a:ln>
              <a:noFill/>
            </a:ln>
          </p:spPr>
        </p:sp>
        <p:sp>
          <p:nvSpPr>
            <p:cNvPr id="19" name="TextBox 19"/>
            <p:cNvSpPr txBox="1"/>
            <p:nvPr/>
          </p:nvSpPr>
          <p:spPr>
            <a:xfrm>
              <a:off x="906780" y="2581275"/>
              <a:ext cx="4676341"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Cihaz zaman damgasını sorgusuz kabul etmek</a:t>
              </a:r>
            </a:p>
          </p:txBody>
        </p:sp>
        <p:sp>
          <p:nvSpPr>
            <p:cNvPr id="20" name="TextBox 20"/>
            <p:cNvSpPr txBox="1"/>
            <p:nvPr/>
          </p:nvSpPr>
          <p:spPr>
            <a:xfrm>
              <a:off x="908304" y="2880360"/>
              <a:ext cx="572790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Saati ileri/geri kalmış bir cihaz, verilerin zaman serisinde yanlış sıraya</a:t>
              </a:r>
            </a:p>
          </p:txBody>
        </p:sp>
        <p:sp>
          <p:nvSpPr>
            <p:cNvPr id="21" name="TextBox 21"/>
            <p:cNvSpPr txBox="1"/>
            <p:nvPr/>
          </p:nvSpPr>
          <p:spPr>
            <a:xfrm>
              <a:off x="908304" y="3108960"/>
              <a:ext cx="572277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yerleşmesine yol açabilir; sunucu zaman damgası ayrıca kaydedilmelidir.</a:t>
              </a:r>
            </a:p>
          </p:txBody>
        </p:sp>
      </p:grpSp>
      <p:grpSp>
        <p:nvGrpSpPr>
          <p:cNvPr id="28" name="error-3"/>
          <p:cNvGrpSpPr/>
          <p:nvPr/>
        </p:nvGrpSpPr>
        <p:grpSpPr>
          <a:xfrm>
            <a:off x="609600" y="3619500"/>
            <a:ext cx="10972800" cy="1028700"/>
            <a:chOff x="609600" y="3619500"/>
            <a:chExt cx="10972800" cy="1028700"/>
          </a:xfrm>
        </p:grpSpPr>
        <p:sp>
          <p:nvSpPr>
            <p:cNvPr id="23" name="Rectangle 23"/>
            <p:cNvSpPr/>
            <p:nvPr/>
          </p:nvSpPr>
          <p:spPr>
            <a:xfrm>
              <a:off x="609600" y="3619500"/>
              <a:ext cx="10972800" cy="1028700"/>
            </a:xfrm>
            <a:prstGeom prst="roundRect">
              <a:avLst>
                <a:gd name="adj" fmla="val 9259"/>
              </a:avLst>
            </a:prstGeom>
            <a:solidFill>
              <a:srgbClr val="FFFFFF"/>
            </a:solidFill>
            <a:ln w="9525">
              <a:solidFill>
                <a:srgbClr val="B8CBD3"/>
              </a:solidFill>
            </a:ln>
          </p:spPr>
        </p:sp>
        <p:sp>
          <p:nvSpPr>
            <p:cNvPr id="24" name="Rectangle 24"/>
            <p:cNvSpPr/>
            <p:nvPr/>
          </p:nvSpPr>
          <p:spPr>
            <a:xfrm>
              <a:off x="609600" y="3619500"/>
              <a:ext cx="57150" cy="1028700"/>
            </a:xfrm>
            <a:prstGeom prst="rect">
              <a:avLst/>
            </a:prstGeom>
            <a:solidFill>
              <a:srgbClr val="00A6A6"/>
            </a:solidFill>
            <a:ln>
              <a:noFill/>
            </a:ln>
          </p:spPr>
        </p:sp>
        <p:sp>
          <p:nvSpPr>
            <p:cNvPr id="25" name="TextBox 25"/>
            <p:cNvSpPr txBox="1"/>
            <p:nvPr/>
          </p:nvSpPr>
          <p:spPr>
            <a:xfrm>
              <a:off x="906780" y="3762375"/>
              <a:ext cx="4390050"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Anormal derecede sık isteği fark etmemek</a:t>
              </a:r>
            </a:p>
          </p:txBody>
        </p:sp>
        <p:sp>
          <p:nvSpPr>
            <p:cNvPr id="26" name="TextBox 26"/>
            <p:cNvSpPr txBox="1"/>
            <p:nvPr/>
          </p:nvSpPr>
          <p:spPr>
            <a:xfrm>
              <a:off x="908304" y="4061460"/>
              <a:ext cx="594610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Arızalı bir döngü yüzünden aşırı sık veri gönderen bir cihaz kabul edilmeye</a:t>
              </a:r>
            </a:p>
          </p:txBody>
        </p:sp>
        <p:sp>
          <p:nvSpPr>
            <p:cNvPr id="27" name="TextBox 27"/>
            <p:cNvSpPr txBox="1"/>
            <p:nvPr/>
          </p:nvSpPr>
          <p:spPr>
            <a:xfrm>
              <a:off x="908304" y="4290060"/>
              <a:ext cx="669768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devam ederse; Bölüm 11'deki rate limiting mantığı cihaz bazında da uygulanmalıdır.</a:t>
              </a:r>
            </a:p>
          </p:txBody>
        </p:sp>
      </p:grpSp>
      <p:grpSp>
        <p:nvGrpSpPr>
          <p:cNvPr id="34" name="error-4"/>
          <p:cNvGrpSpPr/>
          <p:nvPr/>
        </p:nvGrpSpPr>
        <p:grpSpPr>
          <a:xfrm>
            <a:off x="609600" y="4800600"/>
            <a:ext cx="10972800" cy="1028700"/>
            <a:chOff x="609600" y="4800600"/>
            <a:chExt cx="10972800" cy="1028700"/>
          </a:xfrm>
        </p:grpSpPr>
        <p:sp>
          <p:nvSpPr>
            <p:cNvPr id="29" name="Rectangle 29"/>
            <p:cNvSpPr/>
            <p:nvPr/>
          </p:nvSpPr>
          <p:spPr>
            <a:xfrm>
              <a:off x="609600" y="4800600"/>
              <a:ext cx="10972800" cy="1028700"/>
            </a:xfrm>
            <a:prstGeom prst="roundRect">
              <a:avLst>
                <a:gd name="adj" fmla="val 9259"/>
              </a:avLst>
            </a:prstGeom>
            <a:solidFill>
              <a:srgbClr val="EAF4F6"/>
            </a:solidFill>
            <a:ln w="14288">
              <a:solidFill>
                <a:srgbClr val="00A6A6"/>
              </a:solidFill>
            </a:ln>
          </p:spPr>
        </p:sp>
        <p:sp>
          <p:nvSpPr>
            <p:cNvPr id="30" name="Rectangle 30"/>
            <p:cNvSpPr/>
            <p:nvPr/>
          </p:nvSpPr>
          <p:spPr>
            <a:xfrm>
              <a:off x="609600" y="4800600"/>
              <a:ext cx="57150" cy="1028700"/>
            </a:xfrm>
            <a:prstGeom prst="rect">
              <a:avLst/>
            </a:prstGeom>
            <a:solidFill>
              <a:srgbClr val="00A6A6"/>
            </a:solidFill>
            <a:ln>
              <a:noFill/>
            </a:ln>
          </p:spPr>
        </p:sp>
        <p:sp>
          <p:nvSpPr>
            <p:cNvPr id="31" name="TextBox 31"/>
            <p:cNvSpPr txBox="1"/>
            <p:nvPr/>
          </p:nvSpPr>
          <p:spPr>
            <a:xfrm>
              <a:off x="906780" y="4943475"/>
              <a:ext cx="4188112"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Aralık dışılık ile anomaliyi karıştırmak</a:t>
              </a:r>
            </a:p>
          </p:txBody>
        </p:sp>
        <p:sp>
          <p:nvSpPr>
            <p:cNvPr id="32" name="TextBox 32"/>
            <p:cNvSpPr txBox="1"/>
            <p:nvPr/>
          </p:nvSpPr>
          <p:spPr>
            <a:xfrm>
              <a:off x="908304" y="5242560"/>
              <a:ext cx="612395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Bir odanın sıcaklığının bir dakikada 15 derece artması aralık içinde kalsa da</a:t>
              </a:r>
            </a:p>
          </p:txBody>
        </p:sp>
        <p:sp>
          <p:nvSpPr>
            <p:cNvPr id="33" name="TextBox 33"/>
            <p:cNvSpPr txBox="1"/>
            <p:nvPr/>
          </p:nvSpPr>
          <p:spPr>
            <a:xfrm>
              <a:off x="908304" y="5471160"/>
              <a:ext cx="534314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beklenmedik bir örüntüdür; üretimde ikisi de ayrı ayrı izlenmelidir.</a:t>
              </a:r>
            </a:p>
          </p:txBody>
        </p:sp>
      </p:grpSp>
      <p:grpSp>
        <p:nvGrpSpPr>
          <p:cNvPr id="36" name="observability-note"/>
          <p:cNvGrpSpPr/>
          <p:nvPr/>
        </p:nvGrpSpPr>
        <p:grpSpPr>
          <a:xfrm>
            <a:off x="602742" y="6064568"/>
            <a:ext cx="9978838" cy="264033"/>
            <a:chOff x="602742" y="6064568"/>
            <a:chExt cx="9978838" cy="264033"/>
          </a:xfrm>
        </p:grpSpPr>
        <p:sp>
          <p:nvSpPr>
            <p:cNvPr id="35" name="TextBox 35"/>
            <p:cNvSpPr txBox="1"/>
            <p:nvPr/>
          </p:nvSpPr>
          <p:spPr>
            <a:xfrm>
              <a:off x="602742" y="6064568"/>
              <a:ext cx="9978838"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Ortak ilke: yalnızca reddetmek yetmez — art arda reddedilen ölçümler bakım ekibine uyarı olarak bildirilmelidir.</a:t>
              </a:r>
            </a:p>
          </p:txBody>
        </p:sp>
      </p:grpSp>
      <p:sp>
        <p:nvSpPr>
          <p:cNvPr id="37" name="TextBox 3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24</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6282671" cy="668845"/>
            <a:chOff x="609600" y="171450"/>
            <a:chExt cx="6282671"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68618"/>
                <a:ext cx="206693" cy="177164"/>
                <a:chOff x="792004" y="368618"/>
                <a:chExt cx="206693" cy="177164"/>
              </a:xfrm>
            </p:grpSpPr>
            <p:sp>
              <p:nvSpPr>
                <p:cNvPr id="5" name="Freeform 5"/>
                <p:cNvSpPr/>
                <p:nvPr/>
              </p:nvSpPr>
              <p:spPr>
                <a:xfrm>
                  <a:off x="792004" y="457200"/>
                  <a:ext cx="206693" cy="9525"/>
                </a:xfrm>
                <a:custGeom>
                  <a:avLst/>
                  <a:gdLst/>
                  <a:ahLst/>
                  <a:cxnLst/>
                  <a:rect l="l" t="t" r="r" b="b"/>
                  <a:pathLst>
                    <a:path w="206693" h="9525">
                      <a:moveTo>
                        <a:pt x="0" y="0"/>
                      </a:moveTo>
                      <a:lnTo>
                        <a:pt x="206693" y="0"/>
                      </a:lnTo>
                    </a:path>
                  </a:pathLst>
                </a:custGeom>
                <a:noFill/>
                <a:ln w="24759" cap="rnd">
                  <a:solidFill>
                    <a:srgbClr val="FFFFFF"/>
                  </a:solidFill>
                  <a:round/>
                </a:ln>
              </p:spPr>
            </p:sp>
            <p:sp>
              <p:nvSpPr>
                <p:cNvPr id="6" name="Freeform 6"/>
                <p:cNvSpPr/>
                <p:nvPr/>
              </p:nvSpPr>
              <p:spPr>
                <a:xfrm>
                  <a:off x="910114" y="457200"/>
                  <a:ext cx="88582" cy="88582"/>
                </a:xfrm>
                <a:custGeom>
                  <a:avLst/>
                  <a:gdLst/>
                  <a:ahLst/>
                  <a:cxnLst/>
                  <a:rect l="l" t="t" r="r" b="b"/>
                  <a:pathLst>
                    <a:path w="88582" h="88582">
                      <a:moveTo>
                        <a:pt x="0" y="88582"/>
                      </a:moveTo>
                      <a:lnTo>
                        <a:pt x="88582" y="0"/>
                      </a:lnTo>
                    </a:path>
                  </a:pathLst>
                </a:custGeom>
                <a:noFill/>
                <a:ln w="24759" cap="rnd">
                  <a:solidFill>
                    <a:srgbClr val="FFFFFF"/>
                  </a:solidFill>
                  <a:round/>
                </a:ln>
              </p:spPr>
            </p:sp>
            <p:sp>
              <p:nvSpPr>
                <p:cNvPr id="7" name="Freeform 7"/>
                <p:cNvSpPr/>
                <p:nvPr/>
              </p:nvSpPr>
              <p:spPr>
                <a:xfrm>
                  <a:off x="910114" y="368618"/>
                  <a:ext cx="88582" cy="88582"/>
                </a:xfrm>
                <a:custGeom>
                  <a:avLst/>
                  <a:gdLst/>
                  <a:ahLst/>
                  <a:cxnLst/>
                  <a:rect l="l" t="t" r="r" b="b"/>
                  <a:pathLst>
                    <a:path w="88582" h="88582">
                      <a:moveTo>
                        <a:pt x="0" y="0"/>
                      </a:moveTo>
                      <a:lnTo>
                        <a:pt x="88582" y="88582"/>
                      </a:lnTo>
                    </a:path>
                  </a:pathLst>
                </a:custGeom>
                <a:noFill/>
                <a:ln w="24759" cap="rnd">
                  <a:solidFill>
                    <a:srgbClr val="FFFFFF"/>
                  </a:solidFill>
                  <a:round/>
                </a:ln>
              </p:spPr>
            </p:sp>
          </p:grpSp>
        </p:grpSp>
        <p:sp>
          <p:nvSpPr>
            <p:cNvPr id="10" name="TextBox 10"/>
            <p:cNvSpPr txBox="1"/>
            <p:nvPr/>
          </p:nvSpPr>
          <p:spPr>
            <a:xfrm>
              <a:off x="1299972" y="282892"/>
              <a:ext cx="559229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MQTT ve WebSocket köprüsü</a:t>
              </a:r>
            </a:p>
          </p:txBody>
        </p:sp>
      </p:grpSp>
      <p:grpSp>
        <p:nvGrpSpPr>
          <p:cNvPr id="14" name="rationale"/>
          <p:cNvGrpSpPr/>
          <p:nvPr/>
        </p:nvGrpSpPr>
        <p:grpSpPr>
          <a:xfrm>
            <a:off x="602361" y="1255871"/>
            <a:ext cx="9657059" cy="507302"/>
            <a:chOff x="602361" y="1255871"/>
            <a:chExt cx="9657059" cy="507302"/>
          </a:xfrm>
        </p:grpSpPr>
        <p:sp>
          <p:nvSpPr>
            <p:cNvPr id="12" name="TextBox 12"/>
            <p:cNvSpPr txBox="1"/>
            <p:nvPr/>
          </p:nvSpPr>
          <p:spPr>
            <a:xfrm>
              <a:off x="602361" y="1255871"/>
              <a:ext cx="9110200"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HTTP istek-yanıt modeli, binlerce sensörün sık veri gönderdiği ortamlarda yüksek TCP el sıkışma</a:t>
              </a:r>
            </a:p>
          </p:txBody>
        </p:sp>
        <p:sp>
          <p:nvSpPr>
            <p:cNvPr id="13" name="TextBox 13"/>
            <p:cNvSpPr txBox="1"/>
            <p:nvPr/>
          </p:nvSpPr>
          <p:spPr>
            <a:xfrm>
              <a:off x="602361" y="1484471"/>
              <a:ext cx="9657059"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ve başlık yükü yaratır; MQTT, minimal 2 baytlık başlıkla çalışan bir yayın/abone (pub/sub) modelidir.</a:t>
              </a:r>
            </a:p>
          </p:txBody>
        </p:sp>
      </p:grpSp>
      <p:grpSp>
        <p:nvGrpSpPr>
          <p:cNvPr id="42" name="arch-diagram"/>
          <p:cNvGrpSpPr/>
          <p:nvPr/>
        </p:nvGrpSpPr>
        <p:grpSpPr>
          <a:xfrm>
            <a:off x="680085" y="1790700"/>
            <a:ext cx="10216515" cy="2575084"/>
            <a:chOff x="680085" y="1790700"/>
            <a:chExt cx="10216515" cy="2575084"/>
          </a:xfrm>
        </p:grpSpPr>
        <p:sp>
          <p:nvSpPr>
            <p:cNvPr id="15" name="Rectangle 15"/>
            <p:cNvSpPr/>
            <p:nvPr/>
          </p:nvSpPr>
          <p:spPr>
            <a:xfrm>
              <a:off x="685800" y="2362200"/>
              <a:ext cx="2095500" cy="857250"/>
            </a:xfrm>
            <a:prstGeom prst="roundRect">
              <a:avLst>
                <a:gd name="adj" fmla="val 8889"/>
              </a:avLst>
            </a:prstGeom>
            <a:solidFill>
              <a:srgbClr val="FFFFFF"/>
            </a:solidFill>
            <a:ln w="14288">
              <a:solidFill>
                <a:srgbClr val="2E86AB"/>
              </a:solidFill>
            </a:ln>
          </p:spPr>
        </p:sp>
        <p:sp>
          <p:nvSpPr>
            <p:cNvPr id="16" name="TextBox 16"/>
            <p:cNvSpPr txBox="1"/>
            <p:nvPr/>
          </p:nvSpPr>
          <p:spPr>
            <a:xfrm>
              <a:off x="1275436" y="2578418"/>
              <a:ext cx="916229"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Sensörler</a:t>
              </a:r>
            </a:p>
          </p:txBody>
        </p:sp>
        <p:sp>
          <p:nvSpPr>
            <p:cNvPr id="17" name="TextBox 17"/>
            <p:cNvSpPr txBox="1"/>
            <p:nvPr/>
          </p:nvSpPr>
          <p:spPr>
            <a:xfrm>
              <a:off x="767029" y="2839402"/>
              <a:ext cx="1933042"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laboratuvar/lab101/sicaklik</a:t>
              </a:r>
            </a:p>
          </p:txBody>
        </p:sp>
        <p:sp>
          <p:nvSpPr>
            <p:cNvPr id="18" name="Rectangle 18"/>
            <p:cNvSpPr/>
            <p:nvPr/>
          </p:nvSpPr>
          <p:spPr>
            <a:xfrm>
              <a:off x="3390900" y="2362200"/>
              <a:ext cx="2095500" cy="857250"/>
            </a:xfrm>
            <a:prstGeom prst="roundRect">
              <a:avLst>
                <a:gd name="adj" fmla="val 8889"/>
              </a:avLst>
            </a:prstGeom>
            <a:solidFill>
              <a:srgbClr val="12355B"/>
            </a:solidFill>
            <a:ln>
              <a:noFill/>
            </a:ln>
          </p:spPr>
        </p:sp>
        <p:sp>
          <p:nvSpPr>
            <p:cNvPr id="19" name="TextBox 19"/>
            <p:cNvSpPr txBox="1"/>
            <p:nvPr/>
          </p:nvSpPr>
          <p:spPr>
            <a:xfrm>
              <a:off x="3823496" y="2540318"/>
              <a:ext cx="1230308"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MQTT Broker</a:t>
              </a:r>
            </a:p>
          </p:txBody>
        </p:sp>
        <p:sp>
          <p:nvSpPr>
            <p:cNvPr id="20" name="TextBox 20"/>
            <p:cNvSpPr txBox="1"/>
            <p:nvPr/>
          </p:nvSpPr>
          <p:spPr>
            <a:xfrm>
              <a:off x="3824765" y="2782252"/>
              <a:ext cx="1227770" cy="205359"/>
            </a:xfrm>
            <a:prstGeom prst="rect">
              <a:avLst/>
            </a:prstGeom>
            <a:noFill/>
            <a:ln>
              <a:noFill/>
            </a:ln>
          </p:spPr>
          <p:txBody>
            <a:bodyPr wrap="none" lIns="0" tIns="0" rIns="0" bIns="0" anchor="t" anchorCtr="0">
              <a:spAutoFit/>
            </a:bodyPr>
            <a:lstStyle/>
            <a:p>
              <a:pPr algn="ctr"/>
              <a:r>
                <a:rPr lang="tr-TR" sz="1050" dirty="0">
                  <a:solidFill>
                    <a:srgbClr val="EAF4F6"/>
                  </a:solidFill>
                  <a:latin typeface="+mn-lt"/>
                  <a:ea typeface="+mn-ea"/>
                  <a:cs typeface="+mn-cs"/>
                </a:rPr>
                <a:t>Eclipse Mosquitto</a:t>
              </a:r>
            </a:p>
          </p:txBody>
        </p:sp>
        <p:sp>
          <p:nvSpPr>
            <p:cNvPr id="21" name="TextBox 21"/>
            <p:cNvSpPr txBox="1"/>
            <p:nvPr/>
          </p:nvSpPr>
          <p:spPr>
            <a:xfrm>
              <a:off x="3826830" y="2961799"/>
              <a:ext cx="1223640" cy="190690"/>
            </a:xfrm>
            <a:prstGeom prst="rect">
              <a:avLst/>
            </a:prstGeom>
            <a:noFill/>
            <a:ln>
              <a:noFill/>
            </a:ln>
          </p:spPr>
          <p:txBody>
            <a:bodyPr wrap="none" lIns="0" tIns="0" rIns="0" bIns="0" anchor="t" anchorCtr="0">
              <a:spAutoFit/>
            </a:bodyPr>
            <a:lstStyle/>
            <a:p>
              <a:pPr algn="ctr"/>
              <a:r>
                <a:rPr lang="tr-TR" sz="980" dirty="0">
                  <a:solidFill>
                    <a:srgbClr val="B8CBD3"/>
                  </a:solidFill>
                  <a:latin typeface="+mn-lt"/>
                  <a:ea typeface="+mn-ea"/>
                  <a:cs typeface="+mn-cs"/>
                </a:rPr>
                <a:t>publish / subscribe</a:t>
              </a:r>
            </a:p>
          </p:txBody>
        </p:sp>
        <p:sp>
          <p:nvSpPr>
            <p:cNvPr id="22" name="Rectangle 22"/>
            <p:cNvSpPr/>
            <p:nvPr/>
          </p:nvSpPr>
          <p:spPr>
            <a:xfrm>
              <a:off x="6096000" y="2362200"/>
              <a:ext cx="2095500" cy="857250"/>
            </a:xfrm>
            <a:prstGeom prst="roundRect">
              <a:avLst>
                <a:gd name="adj" fmla="val 8889"/>
              </a:avLst>
            </a:prstGeom>
            <a:solidFill>
              <a:srgbClr val="FFFFFF"/>
            </a:solidFill>
            <a:ln w="14288">
              <a:solidFill>
                <a:srgbClr val="2E86AB"/>
              </a:solidFill>
            </a:ln>
          </p:spPr>
        </p:sp>
        <p:sp>
          <p:nvSpPr>
            <p:cNvPr id="23" name="TextBox 23"/>
            <p:cNvSpPr txBox="1"/>
            <p:nvPr/>
          </p:nvSpPr>
          <p:spPr>
            <a:xfrm>
              <a:off x="6391010" y="2540318"/>
              <a:ext cx="1505479"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Node.js Backend</a:t>
              </a:r>
            </a:p>
          </p:txBody>
        </p:sp>
        <p:sp>
          <p:nvSpPr>
            <p:cNvPr id="24" name="TextBox 24"/>
            <p:cNvSpPr txBox="1"/>
            <p:nvPr/>
          </p:nvSpPr>
          <p:spPr>
            <a:xfrm>
              <a:off x="6078984" y="2801302"/>
              <a:ext cx="2129533"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doğrular, PostgreSQL'e yazar</a:t>
              </a:r>
            </a:p>
          </p:txBody>
        </p:sp>
        <p:sp>
          <p:nvSpPr>
            <p:cNvPr id="25" name="Rectangle 25"/>
            <p:cNvSpPr/>
            <p:nvPr/>
          </p:nvSpPr>
          <p:spPr>
            <a:xfrm>
              <a:off x="8801100" y="1790700"/>
              <a:ext cx="2095500" cy="666750"/>
            </a:xfrm>
            <a:prstGeom prst="roundRect">
              <a:avLst>
                <a:gd name="adj" fmla="val 11429"/>
              </a:avLst>
            </a:prstGeom>
            <a:solidFill>
              <a:srgbClr val="FFFFFF"/>
            </a:solidFill>
            <a:ln w="14288">
              <a:solidFill>
                <a:srgbClr val="B8CBD3"/>
              </a:solidFill>
            </a:ln>
          </p:spPr>
        </p:sp>
        <p:sp>
          <p:nvSpPr>
            <p:cNvPr id="26" name="TextBox 26"/>
            <p:cNvSpPr txBox="1"/>
            <p:nvPr/>
          </p:nvSpPr>
          <p:spPr>
            <a:xfrm>
              <a:off x="9348388" y="1965960"/>
              <a:ext cx="1000924"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PostgreSQL</a:t>
              </a:r>
            </a:p>
          </p:txBody>
        </p:sp>
        <p:sp>
          <p:nvSpPr>
            <p:cNvPr id="27" name="TextBox 27"/>
            <p:cNvSpPr txBox="1"/>
            <p:nvPr/>
          </p:nvSpPr>
          <p:spPr>
            <a:xfrm>
              <a:off x="9171066" y="2199799"/>
              <a:ext cx="1355568"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sensor_telemetrileri</a:t>
              </a:r>
            </a:p>
          </p:txBody>
        </p:sp>
        <p:sp>
          <p:nvSpPr>
            <p:cNvPr id="28" name="Rectangle 28"/>
            <p:cNvSpPr/>
            <p:nvPr/>
          </p:nvSpPr>
          <p:spPr>
            <a:xfrm>
              <a:off x="8801100" y="2933700"/>
              <a:ext cx="2095500" cy="666750"/>
            </a:xfrm>
            <a:prstGeom prst="roundRect">
              <a:avLst>
                <a:gd name="adj" fmla="val 11429"/>
              </a:avLst>
            </a:prstGeom>
            <a:solidFill>
              <a:srgbClr val="EAF4F6"/>
            </a:solidFill>
            <a:ln w="14288">
              <a:solidFill>
                <a:srgbClr val="00A6A6"/>
              </a:solidFill>
            </a:ln>
          </p:spPr>
        </p:sp>
        <p:sp>
          <p:nvSpPr>
            <p:cNvPr id="29" name="TextBox 29"/>
            <p:cNvSpPr txBox="1"/>
            <p:nvPr/>
          </p:nvSpPr>
          <p:spPr>
            <a:xfrm>
              <a:off x="9256321" y="3070860"/>
              <a:ext cx="1185059"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İzleme Panosu</a:t>
              </a:r>
            </a:p>
          </p:txBody>
        </p:sp>
        <p:sp>
          <p:nvSpPr>
            <p:cNvPr id="30" name="TextBox 30"/>
            <p:cNvSpPr txBox="1"/>
            <p:nvPr/>
          </p:nvSpPr>
          <p:spPr>
            <a:xfrm>
              <a:off x="9150240" y="3304699"/>
              <a:ext cx="1397220"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WebSocket canlı akış</a:t>
              </a:r>
            </a:p>
          </p:txBody>
        </p:sp>
        <p:sp>
          <p:nvSpPr>
            <p:cNvPr id="31" name="Line 31"/>
            <p:cNvSpPr/>
            <p:nvPr/>
          </p:nvSpPr>
          <p:spPr>
            <a:xfrm>
              <a:off x="2781300" y="2790825"/>
              <a:ext cx="571500" cy="1"/>
            </a:xfrm>
            <a:prstGeom prst="line">
              <a:avLst/>
            </a:prstGeom>
            <a:noFill/>
            <a:ln w="23812">
              <a:solidFill>
                <a:srgbClr val="00A6A6"/>
              </a:solidFill>
              <a:tailEnd type="arrow" w="lg" len="lg"/>
            </a:ln>
          </p:spPr>
        </p:sp>
        <p:sp>
          <p:nvSpPr>
            <p:cNvPr id="32" name="TextBox 32"/>
            <p:cNvSpPr txBox="1"/>
            <p:nvPr/>
          </p:nvSpPr>
          <p:spPr>
            <a:xfrm>
              <a:off x="2814447" y="2609374"/>
              <a:ext cx="451863"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publish</a:t>
              </a:r>
            </a:p>
          </p:txBody>
        </p:sp>
        <p:sp>
          <p:nvSpPr>
            <p:cNvPr id="33" name="Line 33"/>
            <p:cNvSpPr/>
            <p:nvPr/>
          </p:nvSpPr>
          <p:spPr>
            <a:xfrm>
              <a:off x="5486400" y="2790825"/>
              <a:ext cx="571500" cy="1"/>
            </a:xfrm>
            <a:prstGeom prst="line">
              <a:avLst/>
            </a:prstGeom>
            <a:noFill/>
            <a:ln w="23812">
              <a:solidFill>
                <a:srgbClr val="00A6A6"/>
              </a:solidFill>
              <a:tailEnd type="arrow" w="lg" len="lg"/>
            </a:ln>
          </p:spPr>
        </p:sp>
        <p:sp>
          <p:nvSpPr>
            <p:cNvPr id="34" name="TextBox 34"/>
            <p:cNvSpPr txBox="1"/>
            <p:nvPr/>
          </p:nvSpPr>
          <p:spPr>
            <a:xfrm>
              <a:off x="5538597" y="2609374"/>
              <a:ext cx="629966"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subscribe</a:t>
              </a:r>
            </a:p>
          </p:txBody>
        </p:sp>
        <p:sp>
          <p:nvSpPr>
            <p:cNvPr id="35" name="Line 35"/>
            <p:cNvSpPr/>
            <p:nvPr/>
          </p:nvSpPr>
          <p:spPr>
            <a:xfrm flipV="1">
              <a:off x="8191500" y="2190750"/>
              <a:ext cx="571500" cy="457200"/>
            </a:xfrm>
            <a:prstGeom prst="line">
              <a:avLst/>
            </a:prstGeom>
            <a:noFill/>
            <a:ln w="19050">
              <a:solidFill>
                <a:srgbClr val="12355B"/>
              </a:solidFill>
              <a:tailEnd type="arrow" w="lg" len="lg"/>
            </a:ln>
          </p:spPr>
        </p:sp>
        <p:sp>
          <p:nvSpPr>
            <p:cNvPr id="36" name="TextBox 36"/>
            <p:cNvSpPr txBox="1"/>
            <p:nvPr/>
          </p:nvSpPr>
          <p:spPr>
            <a:xfrm>
              <a:off x="8224647" y="2256949"/>
              <a:ext cx="435061"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INSERT</a:t>
              </a:r>
            </a:p>
          </p:txBody>
        </p:sp>
        <p:sp>
          <p:nvSpPr>
            <p:cNvPr id="37" name="Line 37"/>
            <p:cNvSpPr/>
            <p:nvPr/>
          </p:nvSpPr>
          <p:spPr>
            <a:xfrm>
              <a:off x="8191500" y="2952750"/>
              <a:ext cx="571500" cy="247650"/>
            </a:xfrm>
            <a:prstGeom prst="line">
              <a:avLst/>
            </a:prstGeom>
            <a:noFill/>
            <a:ln w="19050">
              <a:solidFill>
                <a:srgbClr val="00A6A6"/>
              </a:solidFill>
              <a:custDash>
                <a:ds d="300000" sp="200000"/>
              </a:custDash>
              <a:tailEnd type="arrow" w="lg" len="lg"/>
            </a:ln>
          </p:spPr>
        </p:sp>
        <p:sp>
          <p:nvSpPr>
            <p:cNvPr id="38" name="TextBox 38"/>
            <p:cNvSpPr txBox="1"/>
            <p:nvPr/>
          </p:nvSpPr>
          <p:spPr>
            <a:xfrm>
              <a:off x="8224647" y="3037999"/>
              <a:ext cx="656351"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push (ws)</a:t>
              </a:r>
            </a:p>
          </p:txBody>
        </p:sp>
        <p:sp>
          <p:nvSpPr>
            <p:cNvPr id="39" name="TextBox 39"/>
            <p:cNvSpPr txBox="1"/>
            <p:nvPr/>
          </p:nvSpPr>
          <p:spPr>
            <a:xfrm>
              <a:off x="680085" y="3688556"/>
              <a:ext cx="4658823" cy="220028"/>
            </a:xfrm>
            <a:prstGeom prst="rect">
              <a:avLst/>
            </a:prstGeom>
            <a:noFill/>
            <a:ln>
              <a:noFill/>
            </a:ln>
          </p:spPr>
          <p:txBody>
            <a:bodyPr wrap="none" lIns="0" tIns="0" rIns="0" bIns="0" anchor="t" anchorCtr="0">
              <a:spAutoFit/>
            </a:bodyPr>
            <a:lstStyle/>
            <a:p>
              <a:pPr algn="l"/>
              <a:r>
                <a:rPr lang="tr-TR" sz="1120" i="1" dirty="0">
                  <a:solidFill>
                    <a:srgbClr val="52616B"/>
                  </a:solidFill>
                  <a:latin typeface="+mn-lt"/>
                  <a:ea typeface="+mn-ea"/>
                  <a:cs typeface="+mn-cs"/>
                </a:rPr>
                <a:t>1. Sensörler yerel ağdaki MQTT broker'a telemetriyi yayınlar.</a:t>
              </a:r>
            </a:p>
          </p:txBody>
        </p:sp>
        <p:sp>
          <p:nvSpPr>
            <p:cNvPr id="40" name="TextBox 40"/>
            <p:cNvSpPr txBox="1"/>
            <p:nvPr/>
          </p:nvSpPr>
          <p:spPr>
            <a:xfrm>
              <a:off x="680085" y="3917156"/>
              <a:ext cx="5662758" cy="220028"/>
            </a:xfrm>
            <a:prstGeom prst="rect">
              <a:avLst/>
            </a:prstGeom>
            <a:noFill/>
            <a:ln>
              <a:noFill/>
            </a:ln>
          </p:spPr>
          <p:txBody>
            <a:bodyPr wrap="none" lIns="0" tIns="0" rIns="0" bIns="0" anchor="t" anchorCtr="0">
              <a:spAutoFit/>
            </a:bodyPr>
            <a:lstStyle/>
            <a:p>
              <a:pPr algn="l"/>
              <a:r>
                <a:rPr lang="tr-TR" sz="1120" i="1" dirty="0">
                  <a:solidFill>
                    <a:srgbClr val="52616B"/>
                  </a:solidFill>
                  <a:latin typeface="+mn-lt"/>
                  <a:ea typeface="+mn-ea"/>
                  <a:cs typeface="+mn-cs"/>
                </a:rPr>
                <a:t>2. Backend broker'a abone olur, mesajları doğrular ve PostgreSQL'e yazar.</a:t>
              </a:r>
            </a:p>
          </p:txBody>
        </p:sp>
        <p:sp>
          <p:nvSpPr>
            <p:cNvPr id="41" name="TextBox 41"/>
            <p:cNvSpPr txBox="1"/>
            <p:nvPr/>
          </p:nvSpPr>
          <p:spPr>
            <a:xfrm>
              <a:off x="680085" y="4145756"/>
              <a:ext cx="5703634" cy="220028"/>
            </a:xfrm>
            <a:prstGeom prst="rect">
              <a:avLst/>
            </a:prstGeom>
            <a:noFill/>
            <a:ln>
              <a:noFill/>
            </a:ln>
          </p:spPr>
          <p:txBody>
            <a:bodyPr wrap="none" lIns="0" tIns="0" rIns="0" bIns="0" anchor="t" anchorCtr="0">
              <a:spAutoFit/>
            </a:bodyPr>
            <a:lstStyle/>
            <a:p>
              <a:pPr algn="l"/>
              <a:r>
                <a:rPr lang="tr-TR" sz="1120" i="1" dirty="0">
                  <a:solidFill>
                    <a:srgbClr val="52616B"/>
                  </a:solidFill>
                  <a:latin typeface="+mn-lt"/>
                  <a:ea typeface="+mn-ea"/>
                  <a:cs typeface="+mn-cs"/>
                </a:rPr>
                <a:t>3. Aynı anda WebSocket üzerinden izleme panosuna anlık canlı akış sağlanır.</a:t>
              </a:r>
            </a:p>
          </p:txBody>
        </p:sp>
      </p:grpSp>
      <p:grpSp>
        <p:nvGrpSpPr>
          <p:cNvPr id="48" name="guard-band"/>
          <p:cNvGrpSpPr/>
          <p:nvPr/>
        </p:nvGrpSpPr>
        <p:grpSpPr>
          <a:xfrm>
            <a:off x="609600" y="5448300"/>
            <a:ext cx="10972800" cy="810006"/>
            <a:chOff x="609600" y="5448300"/>
            <a:chExt cx="10972800" cy="810006"/>
          </a:xfrm>
        </p:grpSpPr>
        <p:sp>
          <p:nvSpPr>
            <p:cNvPr id="43" name="Rectangle 43"/>
            <p:cNvSpPr/>
            <p:nvPr/>
          </p:nvSpPr>
          <p:spPr>
            <a:xfrm>
              <a:off x="609600" y="5448300"/>
              <a:ext cx="10972800" cy="800100"/>
            </a:xfrm>
            <a:prstGeom prst="roundRect">
              <a:avLst>
                <a:gd name="adj" fmla="val 11905"/>
              </a:avLst>
            </a:prstGeom>
            <a:solidFill>
              <a:srgbClr val="EAF4F6"/>
            </a:solidFill>
            <a:ln>
              <a:noFill/>
            </a:ln>
          </p:spPr>
        </p:sp>
        <p:sp>
          <p:nvSpPr>
            <p:cNvPr id="44" name="Rectangle 44"/>
            <p:cNvSpPr/>
            <p:nvPr/>
          </p:nvSpPr>
          <p:spPr>
            <a:xfrm>
              <a:off x="609600" y="5448300"/>
              <a:ext cx="57150" cy="800100"/>
            </a:xfrm>
            <a:prstGeom prst="rect">
              <a:avLst/>
            </a:prstGeom>
            <a:solidFill>
              <a:srgbClr val="00A6A6"/>
            </a:solidFill>
            <a:ln>
              <a:noFill/>
            </a:ln>
          </p:spPr>
        </p:sp>
        <p:sp>
          <p:nvSpPr>
            <p:cNvPr id="45" name="TextBox 45"/>
            <p:cNvSpPr txBox="1"/>
            <p:nvPr/>
          </p:nvSpPr>
          <p:spPr>
            <a:xfrm>
              <a:off x="907542" y="5569268"/>
              <a:ext cx="3989093"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Köprü, filtreleme kapısı olarak da çalışır</a:t>
              </a:r>
            </a:p>
          </p:txBody>
        </p:sp>
        <p:sp>
          <p:nvSpPr>
            <p:cNvPr id="46" name="TextBox 46"/>
            <p:cNvSpPr txBox="1"/>
            <p:nvPr/>
          </p:nvSpPr>
          <p:spPr>
            <a:xfrm>
              <a:off x="908304" y="5833110"/>
              <a:ext cx="773399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veri.tur === "sicaklik" ve (deger &lt; -30 veya deger &gt; 70) kontrolü, hatalı okumaların canlı panoya</a:t>
              </a:r>
            </a:p>
          </p:txBody>
        </p:sp>
        <p:sp>
          <p:nvSpPr>
            <p:cNvPr id="47" name="TextBox 47"/>
            <p:cNvSpPr txBox="1"/>
            <p:nvPr/>
          </p:nvSpPr>
          <p:spPr>
            <a:xfrm>
              <a:off x="908304" y="6023610"/>
              <a:ext cx="367924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ve veritabanına yansımasını girişte engeller.</a:t>
              </a:r>
            </a:p>
          </p:txBody>
        </p:sp>
      </p:grpSp>
      <p:sp>
        <p:nvSpPr>
          <p:cNvPr id="49" name="TextBox 4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24</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8107539" cy="668845"/>
            <a:chOff x="609600" y="171450"/>
            <a:chExt cx="8107539"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741716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16.6: toplu yazma ve saatlik özet</a:t>
              </a:r>
            </a:p>
          </p:txBody>
        </p:sp>
      </p:grpSp>
      <p:grpSp>
        <p:nvGrpSpPr>
          <p:cNvPr id="25" name="left-col"/>
          <p:cNvGrpSpPr/>
          <p:nvPr/>
        </p:nvGrpSpPr>
        <p:grpSpPr>
          <a:xfrm>
            <a:off x="601218" y="1250632"/>
            <a:ext cx="5266182" cy="3433096"/>
            <a:chOff x="601218" y="1250632"/>
            <a:chExt cx="5266182" cy="3433096"/>
          </a:xfrm>
        </p:grpSpPr>
        <p:sp>
          <p:nvSpPr>
            <p:cNvPr id="11" name="TextBox 11"/>
            <p:cNvSpPr txBox="1"/>
            <p:nvPr/>
          </p:nvSpPr>
          <p:spPr>
            <a:xfrm>
              <a:off x="601218" y="1250632"/>
              <a:ext cx="3500431"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Neden toplu yazma (batching)?</a:t>
              </a:r>
            </a:p>
          </p:txBody>
        </p:sp>
        <p:sp>
          <p:nvSpPr>
            <p:cNvPr id="12" name="TextBox 12"/>
            <p:cNvSpPr txBox="1"/>
            <p:nvPr/>
          </p:nvSpPr>
          <p:spPr>
            <a:xfrm>
              <a:off x="603123" y="1557814"/>
              <a:ext cx="3791148"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Saniyede yüzlerce ölçüm için ayrı bir INSERT,</a:t>
              </a:r>
            </a:p>
          </p:txBody>
        </p:sp>
        <p:sp>
          <p:nvSpPr>
            <p:cNvPr id="13" name="TextBox 13"/>
            <p:cNvSpPr txBox="1"/>
            <p:nvPr/>
          </p:nvSpPr>
          <p:spPr>
            <a:xfrm>
              <a:off x="603123" y="1767364"/>
              <a:ext cx="4005256"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bağlantı havuzunu ve disk G/Ç'yi hızla tüketir.</a:t>
              </a:r>
            </a:p>
          </p:txBody>
        </p:sp>
        <p:sp>
          <p:nvSpPr>
            <p:cNvPr id="14" name="Rectangle 14"/>
            <p:cNvSpPr/>
            <p:nvPr/>
          </p:nvSpPr>
          <p:spPr>
            <a:xfrm>
              <a:off x="609600" y="2114550"/>
              <a:ext cx="5257800" cy="1790700"/>
            </a:xfrm>
            <a:prstGeom prst="roundRect">
              <a:avLst>
                <a:gd name="adj" fmla="val 4255"/>
              </a:avLst>
            </a:prstGeom>
            <a:solidFill>
              <a:srgbClr val="12355B"/>
            </a:solidFill>
            <a:ln>
              <a:noFill/>
            </a:ln>
          </p:spPr>
        </p:sp>
        <p:sp>
          <p:nvSpPr>
            <p:cNvPr id="15" name="TextBox 15"/>
            <p:cNvSpPr txBox="1"/>
            <p:nvPr/>
          </p:nvSpPr>
          <p:spPr>
            <a:xfrm>
              <a:off x="832485" y="2259806"/>
              <a:ext cx="1510132"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olcumEkle(olcum) {</a:t>
              </a:r>
            </a:p>
          </p:txBody>
        </p:sp>
        <p:sp>
          <p:nvSpPr>
            <p:cNvPr id="16" name="TextBox 16"/>
            <p:cNvSpPr txBox="1"/>
            <p:nvPr/>
          </p:nvSpPr>
          <p:spPr>
            <a:xfrm>
              <a:off x="1022985" y="2469356"/>
              <a:ext cx="1587022"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tampon.push(olcum);</a:t>
              </a:r>
            </a:p>
          </p:txBody>
        </p:sp>
        <p:sp>
          <p:nvSpPr>
            <p:cNvPr id="17" name="TextBox 17"/>
            <p:cNvSpPr txBox="1"/>
            <p:nvPr/>
          </p:nvSpPr>
          <p:spPr>
            <a:xfrm>
              <a:off x="1022985" y="2678906"/>
              <a:ext cx="2084578"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if (tampon.length &gt;= 100)</a:t>
              </a:r>
            </a:p>
          </p:txBody>
        </p:sp>
        <p:sp>
          <p:nvSpPr>
            <p:cNvPr id="18" name="TextBox 18"/>
            <p:cNvSpPr txBox="1"/>
            <p:nvPr/>
          </p:nvSpPr>
          <p:spPr>
            <a:xfrm>
              <a:off x="1213485" y="2888456"/>
              <a:ext cx="1344022"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tamponuBosalt();</a:t>
              </a:r>
            </a:p>
          </p:txBody>
        </p:sp>
        <p:sp>
          <p:nvSpPr>
            <p:cNvPr id="19" name="TextBox 19"/>
            <p:cNvSpPr txBox="1"/>
            <p:nvPr/>
          </p:nvSpPr>
          <p:spPr>
            <a:xfrm>
              <a:off x="832485" y="3098006"/>
              <a:ext cx="94356"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a:t>
              </a:r>
            </a:p>
          </p:txBody>
        </p:sp>
        <p:sp>
          <p:nvSpPr>
            <p:cNvPr id="20" name="TextBox 20"/>
            <p:cNvSpPr txBox="1"/>
            <p:nvPr/>
          </p:nvSpPr>
          <p:spPr>
            <a:xfrm>
              <a:off x="832866" y="3391852"/>
              <a:ext cx="2342960" cy="205359"/>
            </a:xfrm>
            <a:prstGeom prst="rect">
              <a:avLst/>
            </a:prstGeom>
            <a:noFill/>
            <a:ln>
              <a:noFill/>
            </a:ln>
          </p:spPr>
          <p:txBody>
            <a:bodyPr wrap="none" lIns="0" tIns="0" rIns="0" bIns="0" anchor="t" anchorCtr="0">
              <a:spAutoFit/>
            </a:bodyPr>
            <a:lstStyle/>
            <a:p>
              <a:pPr algn="l"/>
              <a:r>
                <a:rPr lang="tr-TR" sz="1050" dirty="0">
                  <a:solidFill>
                    <a:srgbClr val="B8CBD3"/>
                  </a:solidFill>
                  <a:latin typeface="Consolas"/>
                  <a:ea typeface="Consolas"/>
                  <a:cs typeface="Consolas"/>
                </a:rPr>
                <a:t>// yazma başarısız olursa veri</a:t>
              </a:r>
            </a:p>
          </p:txBody>
        </p:sp>
        <p:sp>
          <p:nvSpPr>
            <p:cNvPr id="21" name="TextBox 21"/>
            <p:cNvSpPr txBox="1"/>
            <p:nvPr/>
          </p:nvSpPr>
          <p:spPr>
            <a:xfrm>
              <a:off x="832866" y="3601402"/>
              <a:ext cx="3586848" cy="205359"/>
            </a:xfrm>
            <a:prstGeom prst="rect">
              <a:avLst/>
            </a:prstGeom>
            <a:noFill/>
            <a:ln>
              <a:noFill/>
            </a:ln>
          </p:spPr>
          <p:txBody>
            <a:bodyPr wrap="none" lIns="0" tIns="0" rIns="0" bIns="0" anchor="t" anchorCtr="0">
              <a:spAutoFit/>
            </a:bodyPr>
            <a:lstStyle/>
            <a:p>
              <a:pPr algn="l"/>
              <a:r>
                <a:rPr lang="tr-TR" sz="1050" dirty="0">
                  <a:solidFill>
                    <a:srgbClr val="B8CBD3"/>
                  </a:solidFill>
                  <a:latin typeface="Consolas"/>
                  <a:ea typeface="Consolas"/>
                  <a:cs typeface="Consolas"/>
                </a:rPr>
                <a:t>// tampona geri konur (dayanıklı kuyruk değil)</a:t>
              </a:r>
            </a:p>
          </p:txBody>
        </p:sp>
        <p:sp>
          <p:nvSpPr>
            <p:cNvPr id="22" name="TextBox 22"/>
            <p:cNvSpPr txBox="1"/>
            <p:nvPr/>
          </p:nvSpPr>
          <p:spPr>
            <a:xfrm>
              <a:off x="603123" y="4015264"/>
              <a:ext cx="3342053" cy="249364"/>
            </a:xfrm>
            <a:prstGeom prst="rect">
              <a:avLst/>
            </a:prstGeom>
            <a:noFill/>
            <a:ln>
              <a:noFill/>
            </a:ln>
          </p:spPr>
          <p:txBody>
            <a:bodyPr wrap="none" lIns="0" tIns="0" rIns="0" bIns="0" anchor="t" anchorCtr="0">
              <a:spAutoFit/>
            </a:bodyPr>
            <a:lstStyle/>
            <a:p>
              <a:pPr algn="l"/>
              <a:r>
                <a:rPr lang="tr-TR" sz="1280" b="1" dirty="0">
                  <a:solidFill>
                    <a:srgbClr val="172B3A"/>
                  </a:solidFill>
                  <a:latin typeface="+mn-lt"/>
                  <a:ea typeface="+mn-ea"/>
                  <a:cs typeface="+mn-cs"/>
                </a:rPr>
                <a:t>100 kayıt veya 2 saniye eşiği aşılınca</a:t>
              </a:r>
            </a:p>
          </p:txBody>
        </p:sp>
        <p:sp>
          <p:nvSpPr>
            <p:cNvPr id="23" name="TextBox 23"/>
            <p:cNvSpPr txBox="1"/>
            <p:nvPr/>
          </p:nvSpPr>
          <p:spPr>
            <a:xfrm>
              <a:off x="603123" y="4224814"/>
              <a:ext cx="3647365" cy="249364"/>
            </a:xfrm>
            <a:prstGeom prst="rect">
              <a:avLst/>
            </a:prstGeom>
            <a:noFill/>
            <a:ln>
              <a:noFill/>
            </a:ln>
          </p:spPr>
          <p:txBody>
            <a:bodyPr wrap="none" lIns="0" tIns="0" rIns="0" bIns="0" anchor="t" anchorCtr="0">
              <a:spAutoFit/>
            </a:bodyPr>
            <a:lstStyle/>
            <a:p>
              <a:pPr algn="l"/>
              <a:r>
                <a:rPr lang="tr-TR" sz="1280" dirty="0">
                  <a:solidFill>
                    <a:srgbClr val="52616B"/>
                  </a:solidFill>
                  <a:latin typeface="+mn-lt"/>
                  <a:ea typeface="+mn-ea"/>
                  <a:cs typeface="+mn-cs"/>
                </a:rPr>
                <a:t>tek bir çok satırlı INSERT ile atomik olarak</a:t>
              </a:r>
            </a:p>
          </p:txBody>
        </p:sp>
        <p:sp>
          <p:nvSpPr>
            <p:cNvPr id="24" name="TextBox 24"/>
            <p:cNvSpPr txBox="1"/>
            <p:nvPr/>
          </p:nvSpPr>
          <p:spPr>
            <a:xfrm>
              <a:off x="603123" y="4434364"/>
              <a:ext cx="2063486" cy="249364"/>
            </a:xfrm>
            <a:prstGeom prst="rect">
              <a:avLst/>
            </a:prstGeom>
            <a:noFill/>
            <a:ln>
              <a:noFill/>
            </a:ln>
          </p:spPr>
          <p:txBody>
            <a:bodyPr wrap="none" lIns="0" tIns="0" rIns="0" bIns="0" anchor="t" anchorCtr="0">
              <a:spAutoFit/>
            </a:bodyPr>
            <a:lstStyle/>
            <a:p>
              <a:pPr algn="l"/>
              <a:r>
                <a:rPr lang="tr-TR" sz="1280" dirty="0">
                  <a:solidFill>
                    <a:srgbClr val="52616B"/>
                  </a:solidFill>
                  <a:latin typeface="+mn-lt"/>
                  <a:ea typeface="+mn-ea"/>
                  <a:cs typeface="+mn-cs"/>
                </a:rPr>
                <a:t>veritabanına aktarılır.</a:t>
              </a:r>
            </a:p>
          </p:txBody>
        </p:sp>
      </p:grpSp>
      <p:grpSp>
        <p:nvGrpSpPr>
          <p:cNvPr id="42" name="right-col"/>
          <p:cNvGrpSpPr/>
          <p:nvPr/>
        </p:nvGrpSpPr>
        <p:grpSpPr>
          <a:xfrm>
            <a:off x="6316218" y="1250632"/>
            <a:ext cx="5266182" cy="3778568"/>
            <a:chOff x="6316218" y="1250632"/>
            <a:chExt cx="5266182" cy="3778568"/>
          </a:xfrm>
        </p:grpSpPr>
        <p:sp>
          <p:nvSpPr>
            <p:cNvPr id="26" name="TextBox 26"/>
            <p:cNvSpPr txBox="1"/>
            <p:nvPr/>
          </p:nvSpPr>
          <p:spPr>
            <a:xfrm>
              <a:off x="6316218" y="1250632"/>
              <a:ext cx="3966600"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Saatlik özet sorgusu (date_trunc)</a:t>
              </a:r>
            </a:p>
          </p:txBody>
        </p:sp>
        <p:sp>
          <p:nvSpPr>
            <p:cNvPr id="27" name="Rectangle 27"/>
            <p:cNvSpPr/>
            <p:nvPr/>
          </p:nvSpPr>
          <p:spPr>
            <a:xfrm>
              <a:off x="6324600" y="1638300"/>
              <a:ext cx="5257800" cy="1676400"/>
            </a:xfrm>
            <a:prstGeom prst="roundRect">
              <a:avLst>
                <a:gd name="adj" fmla="val 4545"/>
              </a:avLst>
            </a:prstGeom>
            <a:solidFill>
              <a:srgbClr val="12355B"/>
            </a:solidFill>
            <a:ln>
              <a:noFill/>
            </a:ln>
          </p:spPr>
        </p:sp>
        <p:sp>
          <p:nvSpPr>
            <p:cNvPr id="28" name="TextBox 28"/>
            <p:cNvSpPr txBox="1"/>
            <p:nvPr/>
          </p:nvSpPr>
          <p:spPr>
            <a:xfrm>
              <a:off x="6547866" y="1791652"/>
              <a:ext cx="2533650"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SELECT date_trunc('hour', zaman)</a:t>
              </a:r>
            </a:p>
          </p:txBody>
        </p:sp>
        <p:sp>
          <p:nvSpPr>
            <p:cNvPr id="29" name="TextBox 29"/>
            <p:cNvSpPr txBox="1"/>
            <p:nvPr/>
          </p:nvSpPr>
          <p:spPr>
            <a:xfrm>
              <a:off x="6662166" y="1982152"/>
              <a:ext cx="1187815"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AS saat_dilimi,</a:t>
              </a:r>
            </a:p>
          </p:txBody>
        </p:sp>
        <p:sp>
          <p:nvSpPr>
            <p:cNvPr id="30" name="TextBox 30"/>
            <p:cNvSpPr txBox="1"/>
            <p:nvPr/>
          </p:nvSpPr>
          <p:spPr>
            <a:xfrm>
              <a:off x="6662166" y="2172652"/>
              <a:ext cx="1826873"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AVG(deger) AS ortalama,</a:t>
              </a:r>
            </a:p>
          </p:txBody>
        </p:sp>
        <p:sp>
          <p:nvSpPr>
            <p:cNvPr id="31" name="TextBox 31"/>
            <p:cNvSpPr txBox="1"/>
            <p:nvPr/>
          </p:nvSpPr>
          <p:spPr>
            <a:xfrm>
              <a:off x="6662166" y="2363152"/>
              <a:ext cx="1836713"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MIN(deger), MAX(deger),</a:t>
              </a:r>
            </a:p>
          </p:txBody>
        </p:sp>
        <p:sp>
          <p:nvSpPr>
            <p:cNvPr id="32" name="TextBox 32"/>
            <p:cNvSpPr txBox="1"/>
            <p:nvPr/>
          </p:nvSpPr>
          <p:spPr>
            <a:xfrm>
              <a:off x="6662166" y="2553652"/>
              <a:ext cx="1917573"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COUNT(*) AS ornek_sayisi</a:t>
              </a:r>
            </a:p>
          </p:txBody>
        </p:sp>
        <p:sp>
          <p:nvSpPr>
            <p:cNvPr id="33" name="TextBox 33"/>
            <p:cNvSpPr txBox="1"/>
            <p:nvPr/>
          </p:nvSpPr>
          <p:spPr>
            <a:xfrm>
              <a:off x="6547866" y="2744152"/>
              <a:ext cx="1973377"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FROM sensor_telemetrileri</a:t>
              </a:r>
            </a:p>
          </p:txBody>
        </p:sp>
        <p:sp>
          <p:nvSpPr>
            <p:cNvPr id="34" name="TextBox 34"/>
            <p:cNvSpPr txBox="1"/>
            <p:nvPr/>
          </p:nvSpPr>
          <p:spPr>
            <a:xfrm>
              <a:off x="6547866" y="2934652"/>
              <a:ext cx="1681324"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GROUP BY saat_dilimi;</a:t>
              </a:r>
            </a:p>
          </p:txBody>
        </p:sp>
        <p:sp>
          <p:nvSpPr>
            <p:cNvPr id="35" name="TextBox 35"/>
            <p:cNvSpPr txBox="1"/>
            <p:nvPr/>
          </p:nvSpPr>
          <p:spPr>
            <a:xfrm>
              <a:off x="6318123" y="3443764"/>
              <a:ext cx="3412869"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Milyonlarca anlık ölçüm, saatlik bloklara</a:t>
              </a:r>
            </a:p>
          </p:txBody>
        </p:sp>
        <p:sp>
          <p:nvSpPr>
            <p:cNvPr id="36" name="TextBox 36"/>
            <p:cNvSpPr txBox="1"/>
            <p:nvPr/>
          </p:nvSpPr>
          <p:spPr>
            <a:xfrm>
              <a:off x="6318123" y="3653314"/>
              <a:ext cx="3674618"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yuvarlanarak grafik çiziminde okuma yükünü</a:t>
              </a:r>
            </a:p>
          </p:txBody>
        </p:sp>
        <p:sp>
          <p:nvSpPr>
            <p:cNvPr id="37" name="TextBox 37"/>
            <p:cNvSpPr txBox="1"/>
            <p:nvPr/>
          </p:nvSpPr>
          <p:spPr>
            <a:xfrm>
              <a:off x="6318123" y="3862864"/>
              <a:ext cx="1787784"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binlerce kat azaltır.</a:t>
              </a:r>
            </a:p>
          </p:txBody>
        </p:sp>
        <p:sp>
          <p:nvSpPr>
            <p:cNvPr id="38" name="Rectangle 38"/>
            <p:cNvSpPr/>
            <p:nvPr/>
          </p:nvSpPr>
          <p:spPr>
            <a:xfrm>
              <a:off x="6324600" y="4267200"/>
              <a:ext cx="5257800" cy="762000"/>
            </a:xfrm>
            <a:prstGeom prst="roundRect">
              <a:avLst>
                <a:gd name="adj" fmla="val 10000"/>
              </a:avLst>
            </a:prstGeom>
            <a:solidFill>
              <a:srgbClr val="EAF4F6"/>
            </a:solidFill>
            <a:ln w="14288">
              <a:solidFill>
                <a:srgbClr val="00A6A6"/>
              </a:solidFill>
            </a:ln>
          </p:spPr>
        </p:sp>
        <p:sp>
          <p:nvSpPr>
            <p:cNvPr id="39" name="TextBox 39"/>
            <p:cNvSpPr txBox="1"/>
            <p:nvPr/>
          </p:nvSpPr>
          <p:spPr>
            <a:xfrm>
              <a:off x="6547485" y="4393406"/>
              <a:ext cx="1496586"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Öğretim şablonudur</a:t>
              </a:r>
            </a:p>
          </p:txBody>
        </p:sp>
        <p:sp>
          <p:nvSpPr>
            <p:cNvPr id="40" name="TextBox 40"/>
            <p:cNvSpPr txBox="1"/>
            <p:nvPr/>
          </p:nvSpPr>
          <p:spPr>
            <a:xfrm>
              <a:off x="6547485" y="4602956"/>
              <a:ext cx="297813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Üretimde SQL enjeksiyonunu önlemek için</a:t>
              </a:r>
            </a:p>
          </p:txBody>
        </p:sp>
        <p:sp>
          <p:nvSpPr>
            <p:cNvPr id="41" name="TextBox 41"/>
            <p:cNvSpPr txBox="1"/>
            <p:nvPr/>
          </p:nvSpPr>
          <p:spPr>
            <a:xfrm>
              <a:off x="6547485" y="4793456"/>
              <a:ext cx="326061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parametreli sorgu ($1, $2) kullanılmalıdır.</a:t>
              </a:r>
            </a:p>
          </p:txBody>
        </p:sp>
      </p:grpSp>
      <p:sp>
        <p:nvSpPr>
          <p:cNvPr id="43" name="TextBox 4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24</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7641697" cy="668845"/>
            <a:chOff x="609600" y="171450"/>
            <a:chExt cx="7641697"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695132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Mimari inceleme: takım müzakeresi</a:t>
              </a:r>
            </a:p>
          </p:txBody>
        </p:sp>
      </p:grpSp>
      <p:grpSp>
        <p:nvGrpSpPr>
          <p:cNvPr id="14" name="context-line"/>
          <p:cNvGrpSpPr/>
          <p:nvPr/>
        </p:nvGrpSpPr>
        <p:grpSpPr>
          <a:xfrm>
            <a:off x="603123" y="1195864"/>
            <a:ext cx="10755921" cy="249364"/>
            <a:chOff x="603123" y="1195864"/>
            <a:chExt cx="10755921" cy="249364"/>
          </a:xfrm>
        </p:grpSpPr>
        <p:sp>
          <p:nvSpPr>
            <p:cNvPr id="13" name="TextBox 13"/>
            <p:cNvSpPr txBox="1"/>
            <p:nvPr/>
          </p:nvSpPr>
          <p:spPr>
            <a:xfrm>
              <a:off x="603123" y="1195864"/>
              <a:ext cx="10755921" cy="249364"/>
            </a:xfrm>
            <a:prstGeom prst="rect">
              <a:avLst/>
            </a:prstGeom>
            <a:noFill/>
            <a:ln>
              <a:noFill/>
            </a:ln>
          </p:spPr>
          <p:txBody>
            <a:bodyPr wrap="none" lIns="0" tIns="0" rIns="0" bIns="0" anchor="t" anchorCtr="0">
              <a:spAutoFit/>
            </a:bodyPr>
            <a:lstStyle/>
            <a:p>
              <a:pPr algn="l"/>
              <a:r>
                <a:rPr lang="tr-TR" sz="1280" dirty="0">
                  <a:solidFill>
                    <a:srgbClr val="52616B"/>
                  </a:solidFill>
                  <a:latin typeface="+mn-lt"/>
                  <a:ea typeface="+mn-ea"/>
                  <a:cs typeface="+mn-cs"/>
                </a:rPr>
                <a:t>Mehmet Akif Ersoy Üniversitesi kampüs laboratuvarlarında 50 IoT düğümünün bağlanması üzerine proje ekibinin değerlendirmesi.</a:t>
              </a:r>
            </a:p>
          </p:txBody>
        </p:sp>
      </p:grpSp>
      <p:grpSp>
        <p:nvGrpSpPr>
          <p:cNvPr id="22" name="quote-elif"/>
          <p:cNvGrpSpPr/>
          <p:nvPr/>
        </p:nvGrpSpPr>
        <p:grpSpPr>
          <a:xfrm>
            <a:off x="609600" y="1562100"/>
            <a:ext cx="5257800" cy="1238250"/>
            <a:chOff x="609600" y="1562100"/>
            <a:chExt cx="5257800" cy="1238250"/>
          </a:xfrm>
        </p:grpSpPr>
        <p:sp>
          <p:nvSpPr>
            <p:cNvPr id="15" name="Rectangle 15"/>
            <p:cNvSpPr/>
            <p:nvPr/>
          </p:nvSpPr>
          <p:spPr>
            <a:xfrm>
              <a:off x="609600" y="1562100"/>
              <a:ext cx="5257800" cy="1238250"/>
            </a:xfrm>
            <a:prstGeom prst="roundRect">
              <a:avLst>
                <a:gd name="adj" fmla="val 7692"/>
              </a:avLst>
            </a:prstGeom>
            <a:solidFill>
              <a:srgbClr val="FFFFFF"/>
            </a:solidFill>
            <a:ln w="9525">
              <a:solidFill>
                <a:srgbClr val="B8CBD3"/>
              </a:solidFill>
            </a:ln>
          </p:spPr>
        </p:sp>
        <p:sp>
          <p:nvSpPr>
            <p:cNvPr id="16" name="Rectangle 16"/>
            <p:cNvSpPr/>
            <p:nvPr/>
          </p:nvSpPr>
          <p:spPr>
            <a:xfrm>
              <a:off x="609600" y="1562100"/>
              <a:ext cx="57150" cy="1238250"/>
            </a:xfrm>
            <a:prstGeom prst="rect">
              <a:avLst/>
            </a:prstGeom>
            <a:solidFill>
              <a:srgbClr val="00A6A6"/>
            </a:solidFill>
            <a:ln>
              <a:noFill/>
            </a:ln>
          </p:spPr>
        </p:sp>
        <p:sp>
          <p:nvSpPr>
            <p:cNvPr id="17" name="TextBox 17"/>
            <p:cNvSpPr txBox="1"/>
            <p:nvPr/>
          </p:nvSpPr>
          <p:spPr>
            <a:xfrm>
              <a:off x="831723" y="1691164"/>
              <a:ext cx="1922551"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Elif — Backend Mimarı</a:t>
              </a:r>
            </a:p>
          </p:txBody>
        </p:sp>
        <p:sp>
          <p:nvSpPr>
            <p:cNvPr id="18" name="TextBox 18"/>
            <p:cNvSpPr txBox="1"/>
            <p:nvPr/>
          </p:nvSpPr>
          <p:spPr>
            <a:xfrm>
              <a:off x="832485" y="1955006"/>
              <a:ext cx="316146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MQTT broker'ı araya koyma kararı sistem</a:t>
              </a:r>
            </a:p>
          </p:txBody>
        </p:sp>
        <p:sp>
          <p:nvSpPr>
            <p:cNvPr id="19" name="TextBox 19"/>
            <p:cNvSpPr txBox="1"/>
            <p:nvPr/>
          </p:nvSpPr>
          <p:spPr>
            <a:xfrm>
              <a:off x="832485" y="2145506"/>
              <a:ext cx="332846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stabilitesini kurtardı: bağlantı dalgalanınca</a:t>
              </a:r>
            </a:p>
          </p:txBody>
        </p:sp>
        <p:sp>
          <p:nvSpPr>
            <p:cNvPr id="20" name="TextBox 20"/>
            <p:cNvSpPr txBox="1"/>
            <p:nvPr/>
          </p:nvSpPr>
          <p:spPr>
            <a:xfrm>
              <a:off x="832485" y="2336006"/>
              <a:ext cx="339911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bile QoS 1 kuyruğu telemetriyi korur; backend</a:t>
              </a:r>
            </a:p>
          </p:txBody>
        </p:sp>
        <p:sp>
          <p:nvSpPr>
            <p:cNvPr id="21" name="TextBox 21"/>
            <p:cNvSpPr txBox="1"/>
            <p:nvPr/>
          </p:nvSpPr>
          <p:spPr>
            <a:xfrm>
              <a:off x="832485" y="2526506"/>
              <a:ext cx="255951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yeniden başlasa da veri kaybolmaz.</a:t>
              </a:r>
            </a:p>
          </p:txBody>
        </p:sp>
      </p:grpSp>
      <p:grpSp>
        <p:nvGrpSpPr>
          <p:cNvPr id="30" name="quote-yasemin"/>
          <p:cNvGrpSpPr/>
          <p:nvPr/>
        </p:nvGrpSpPr>
        <p:grpSpPr>
          <a:xfrm>
            <a:off x="6324600" y="1562100"/>
            <a:ext cx="5257800" cy="1238250"/>
            <a:chOff x="6324600" y="1562100"/>
            <a:chExt cx="5257800" cy="1238250"/>
          </a:xfrm>
        </p:grpSpPr>
        <p:sp>
          <p:nvSpPr>
            <p:cNvPr id="23" name="Rectangle 23"/>
            <p:cNvSpPr/>
            <p:nvPr/>
          </p:nvSpPr>
          <p:spPr>
            <a:xfrm>
              <a:off x="6324600" y="1562100"/>
              <a:ext cx="5257800" cy="1238250"/>
            </a:xfrm>
            <a:prstGeom prst="roundRect">
              <a:avLst>
                <a:gd name="adj" fmla="val 7692"/>
              </a:avLst>
            </a:prstGeom>
            <a:solidFill>
              <a:srgbClr val="FFFFFF"/>
            </a:solidFill>
            <a:ln w="9525">
              <a:solidFill>
                <a:srgbClr val="B8CBD3"/>
              </a:solidFill>
            </a:ln>
          </p:spPr>
        </p:sp>
        <p:sp>
          <p:nvSpPr>
            <p:cNvPr id="24" name="Rectangle 24"/>
            <p:cNvSpPr/>
            <p:nvPr/>
          </p:nvSpPr>
          <p:spPr>
            <a:xfrm>
              <a:off x="6324600" y="1562100"/>
              <a:ext cx="57150" cy="1238250"/>
            </a:xfrm>
            <a:prstGeom prst="rect">
              <a:avLst/>
            </a:prstGeom>
            <a:solidFill>
              <a:srgbClr val="00A6A6"/>
            </a:solidFill>
            <a:ln>
              <a:noFill/>
            </a:ln>
          </p:spPr>
        </p:sp>
        <p:sp>
          <p:nvSpPr>
            <p:cNvPr id="25" name="TextBox 25"/>
            <p:cNvSpPr txBox="1"/>
            <p:nvPr/>
          </p:nvSpPr>
          <p:spPr>
            <a:xfrm>
              <a:off x="6546723" y="1691164"/>
              <a:ext cx="2320217"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Yasemin — Güvenlik Uzmanı</a:t>
              </a:r>
            </a:p>
          </p:txBody>
        </p:sp>
        <p:sp>
          <p:nvSpPr>
            <p:cNvPr id="26" name="TextBox 26"/>
            <p:cNvSpPr txBox="1"/>
            <p:nvPr/>
          </p:nvSpPr>
          <p:spPr>
            <a:xfrm>
              <a:off x="6547485" y="1955006"/>
              <a:ext cx="281324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Açık metin veya sabit ortak anahtarla</a:t>
              </a:r>
            </a:p>
          </p:txBody>
        </p:sp>
        <p:sp>
          <p:nvSpPr>
            <p:cNvPr id="27" name="TextBox 27"/>
            <p:cNvSpPr txBox="1"/>
            <p:nvPr/>
          </p:nvSpPr>
          <p:spPr>
            <a:xfrm>
              <a:off x="6547485" y="2145506"/>
              <a:ext cx="297152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haberleşmeye izin vermedik. Cihaza özgü</a:t>
              </a:r>
            </a:p>
          </p:txBody>
        </p:sp>
        <p:sp>
          <p:nvSpPr>
            <p:cNvPr id="28" name="TextBox 28"/>
            <p:cNvSpPr txBox="1"/>
            <p:nvPr/>
          </p:nvSpPr>
          <p:spPr>
            <a:xfrm>
              <a:off x="6547485" y="2336006"/>
              <a:ext cx="298688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HMAC gizli anahtarı ve zaman penceresi,</a:t>
              </a:r>
            </a:p>
          </p:txBody>
        </p:sp>
        <p:sp>
          <p:nvSpPr>
            <p:cNvPr id="29" name="TextBox 29"/>
            <p:cNvSpPr txBox="1"/>
            <p:nvPr/>
          </p:nvSpPr>
          <p:spPr>
            <a:xfrm>
              <a:off x="6547485" y="2526506"/>
              <a:ext cx="222781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pencere dışı tekrarları eler.</a:t>
              </a:r>
            </a:p>
          </p:txBody>
        </p:sp>
      </p:grpSp>
      <p:grpSp>
        <p:nvGrpSpPr>
          <p:cNvPr id="38" name="quote-ismail"/>
          <p:cNvGrpSpPr/>
          <p:nvPr/>
        </p:nvGrpSpPr>
        <p:grpSpPr>
          <a:xfrm>
            <a:off x="609600" y="2971800"/>
            <a:ext cx="5257800" cy="1238250"/>
            <a:chOff x="609600" y="2971800"/>
            <a:chExt cx="5257800" cy="1238250"/>
          </a:xfrm>
        </p:grpSpPr>
        <p:sp>
          <p:nvSpPr>
            <p:cNvPr id="31" name="Rectangle 31"/>
            <p:cNvSpPr/>
            <p:nvPr/>
          </p:nvSpPr>
          <p:spPr>
            <a:xfrm>
              <a:off x="609600" y="2971800"/>
              <a:ext cx="5257800" cy="1238250"/>
            </a:xfrm>
            <a:prstGeom prst="roundRect">
              <a:avLst>
                <a:gd name="adj" fmla="val 7692"/>
              </a:avLst>
            </a:prstGeom>
            <a:solidFill>
              <a:srgbClr val="FFFFFF"/>
            </a:solidFill>
            <a:ln w="9525">
              <a:solidFill>
                <a:srgbClr val="B8CBD3"/>
              </a:solidFill>
            </a:ln>
          </p:spPr>
        </p:sp>
        <p:sp>
          <p:nvSpPr>
            <p:cNvPr id="32" name="Rectangle 32"/>
            <p:cNvSpPr/>
            <p:nvPr/>
          </p:nvSpPr>
          <p:spPr>
            <a:xfrm>
              <a:off x="609600" y="2971800"/>
              <a:ext cx="57150" cy="1238250"/>
            </a:xfrm>
            <a:prstGeom prst="rect">
              <a:avLst/>
            </a:prstGeom>
            <a:solidFill>
              <a:srgbClr val="2E86AB"/>
            </a:solidFill>
            <a:ln>
              <a:noFill/>
            </a:ln>
          </p:spPr>
        </p:sp>
        <p:sp>
          <p:nvSpPr>
            <p:cNvPr id="33" name="TextBox 33"/>
            <p:cNvSpPr txBox="1"/>
            <p:nvPr/>
          </p:nvSpPr>
          <p:spPr>
            <a:xfrm>
              <a:off x="831723" y="3100864"/>
              <a:ext cx="3138117"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İsmail — Sistem Yöneticisi / DevOps</a:t>
              </a:r>
            </a:p>
          </p:txBody>
        </p:sp>
        <p:sp>
          <p:nvSpPr>
            <p:cNvPr id="34" name="TextBox 34"/>
            <p:cNvSpPr txBox="1"/>
            <p:nvPr/>
          </p:nvSpPr>
          <p:spPr>
            <a:xfrm>
              <a:off x="832485" y="3364706"/>
              <a:ext cx="293681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Broker ve backend aynı Docker Compose</a:t>
              </a:r>
            </a:p>
          </p:txBody>
        </p:sp>
        <p:sp>
          <p:nvSpPr>
            <p:cNvPr id="35" name="TextBox 35"/>
            <p:cNvSpPr txBox="1"/>
            <p:nvPr/>
          </p:nvSpPr>
          <p:spPr>
            <a:xfrm>
              <a:off x="832485" y="3555206"/>
              <a:ext cx="310503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iç ağında; yalnızca WebSocket portu dışa</a:t>
              </a:r>
            </a:p>
          </p:txBody>
        </p:sp>
        <p:sp>
          <p:nvSpPr>
            <p:cNvPr id="36" name="TextBox 36"/>
            <p:cNvSpPr txBox="1"/>
            <p:nvPr/>
          </p:nvSpPr>
          <p:spPr>
            <a:xfrm>
              <a:off x="832485" y="3745706"/>
              <a:ext cx="329622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açık. zaman DESC dizini, pano yanıt süresini</a:t>
              </a:r>
            </a:p>
          </p:txBody>
        </p:sp>
        <p:sp>
          <p:nvSpPr>
            <p:cNvPr id="37" name="TextBox 37"/>
            <p:cNvSpPr txBox="1"/>
            <p:nvPr/>
          </p:nvSpPr>
          <p:spPr>
            <a:xfrm>
              <a:off x="832485" y="3936206"/>
              <a:ext cx="169256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12 milisaniyeye indirdi.</a:t>
              </a:r>
            </a:p>
          </p:txBody>
        </p:sp>
      </p:grpSp>
      <p:grpSp>
        <p:nvGrpSpPr>
          <p:cNvPr id="46" name="quote-bahar"/>
          <p:cNvGrpSpPr/>
          <p:nvPr/>
        </p:nvGrpSpPr>
        <p:grpSpPr>
          <a:xfrm>
            <a:off x="6324600" y="2971800"/>
            <a:ext cx="5257800" cy="1238250"/>
            <a:chOff x="6324600" y="2971800"/>
            <a:chExt cx="5257800" cy="1238250"/>
          </a:xfrm>
        </p:grpSpPr>
        <p:sp>
          <p:nvSpPr>
            <p:cNvPr id="39" name="Rectangle 39"/>
            <p:cNvSpPr/>
            <p:nvPr/>
          </p:nvSpPr>
          <p:spPr>
            <a:xfrm>
              <a:off x="6324600" y="2971800"/>
              <a:ext cx="5257800" cy="1238250"/>
            </a:xfrm>
            <a:prstGeom prst="roundRect">
              <a:avLst>
                <a:gd name="adj" fmla="val 7692"/>
              </a:avLst>
            </a:prstGeom>
            <a:solidFill>
              <a:srgbClr val="EAF4F6"/>
            </a:solidFill>
            <a:ln w="14288">
              <a:solidFill>
                <a:srgbClr val="00A6A6"/>
              </a:solidFill>
            </a:ln>
          </p:spPr>
        </p:sp>
        <p:sp>
          <p:nvSpPr>
            <p:cNvPr id="40" name="Rectangle 40"/>
            <p:cNvSpPr/>
            <p:nvPr/>
          </p:nvSpPr>
          <p:spPr>
            <a:xfrm>
              <a:off x="6324600" y="2971800"/>
              <a:ext cx="57150" cy="1238250"/>
            </a:xfrm>
            <a:prstGeom prst="rect">
              <a:avLst/>
            </a:prstGeom>
            <a:solidFill>
              <a:srgbClr val="00A6A6"/>
            </a:solidFill>
            <a:ln>
              <a:noFill/>
            </a:ln>
          </p:spPr>
        </p:sp>
        <p:sp>
          <p:nvSpPr>
            <p:cNvPr id="41" name="TextBox 41"/>
            <p:cNvSpPr txBox="1"/>
            <p:nvPr/>
          </p:nvSpPr>
          <p:spPr>
            <a:xfrm>
              <a:off x="6546723" y="3100864"/>
              <a:ext cx="2728704"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Bahar — Araştırmacı / Öğrenci</a:t>
              </a:r>
            </a:p>
          </p:txBody>
        </p:sp>
        <p:sp>
          <p:nvSpPr>
            <p:cNvPr id="42" name="TextBox 42"/>
            <p:cNvSpPr txBox="1"/>
            <p:nvPr/>
          </p:nvSpPr>
          <p:spPr>
            <a:xfrm>
              <a:off x="6547485" y="3364706"/>
              <a:ext cx="339102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TelemetriTamponlayici sayesinde 50 sensörden</a:t>
              </a:r>
            </a:p>
          </p:txBody>
        </p:sp>
        <p:sp>
          <p:nvSpPr>
            <p:cNvPr id="43" name="TextBox 43"/>
            <p:cNvSpPr txBox="1"/>
            <p:nvPr/>
          </p:nvSpPr>
          <p:spPr>
            <a:xfrm>
              <a:off x="6547485" y="3555206"/>
              <a:ext cx="350185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gelen veri veritabanını kilitlemiyor; 2 saniyelik</a:t>
              </a:r>
            </a:p>
          </p:txBody>
        </p:sp>
        <p:sp>
          <p:nvSpPr>
            <p:cNvPr id="44" name="TextBox 44"/>
            <p:cNvSpPr txBox="1"/>
            <p:nvPr/>
          </p:nvSpPr>
          <p:spPr>
            <a:xfrm>
              <a:off x="6547485" y="3745706"/>
              <a:ext cx="342647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mikro-tamponlarla toplu yazılıyor; öğrenciler</a:t>
              </a:r>
            </a:p>
          </p:txBody>
        </p:sp>
        <p:sp>
          <p:nvSpPr>
            <p:cNvPr id="45" name="TextBox 45"/>
            <p:cNvSpPr txBox="1"/>
            <p:nvPr/>
          </p:nvSpPr>
          <p:spPr>
            <a:xfrm>
              <a:off x="6547485" y="3936206"/>
              <a:ext cx="273290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deney masalarını anlık izleyebiliyor.</a:t>
              </a:r>
            </a:p>
          </p:txBody>
        </p:sp>
      </p:grpSp>
      <p:grpSp>
        <p:nvGrpSpPr>
          <p:cNvPr id="54" name="synthesis-band"/>
          <p:cNvGrpSpPr/>
          <p:nvPr/>
        </p:nvGrpSpPr>
        <p:grpSpPr>
          <a:xfrm>
            <a:off x="609600" y="4419600"/>
            <a:ext cx="10972800" cy="1809750"/>
            <a:chOff x="609600" y="4419600"/>
            <a:chExt cx="10972800" cy="1809750"/>
          </a:xfrm>
        </p:grpSpPr>
        <p:sp>
          <p:nvSpPr>
            <p:cNvPr id="47" name="Rectangle 47"/>
            <p:cNvSpPr/>
            <p:nvPr/>
          </p:nvSpPr>
          <p:spPr>
            <a:xfrm>
              <a:off x="609600" y="4419600"/>
              <a:ext cx="10972800" cy="1809750"/>
            </a:xfrm>
            <a:prstGeom prst="roundRect">
              <a:avLst>
                <a:gd name="adj" fmla="val 5263"/>
              </a:avLst>
            </a:prstGeom>
            <a:solidFill>
              <a:srgbClr val="12355B"/>
            </a:solidFill>
            <a:ln>
              <a:noFill/>
            </a:ln>
          </p:spPr>
        </p:sp>
        <p:sp>
          <p:nvSpPr>
            <p:cNvPr id="48" name="TextBox 48"/>
            <p:cNvSpPr txBox="1"/>
            <p:nvPr/>
          </p:nvSpPr>
          <p:spPr>
            <a:xfrm>
              <a:off x="907161" y="4608671"/>
              <a:ext cx="3794457" cy="278702"/>
            </a:xfrm>
            <a:prstGeom prst="rect">
              <a:avLst/>
            </a:prstGeom>
            <a:noFill/>
            <a:ln>
              <a:noFill/>
            </a:ln>
          </p:spPr>
          <p:txBody>
            <a:bodyPr wrap="none" lIns="0" tIns="0" rIns="0" bIns="0" anchor="t" anchorCtr="0">
              <a:spAutoFit/>
            </a:bodyPr>
            <a:lstStyle/>
            <a:p>
              <a:pPr algn="l"/>
              <a:r>
                <a:rPr lang="tr-TR" sz="1420" b="1" dirty="0">
                  <a:solidFill>
                    <a:srgbClr val="00A6A6"/>
                  </a:solidFill>
                  <a:latin typeface="+mn-lt"/>
                  <a:ea typeface="+mn-ea"/>
                  <a:cs typeface="+mn-cs"/>
                </a:rPr>
                <a:t>Dört bakış açısı tek mimaride birleşir</a:t>
              </a:r>
            </a:p>
          </p:txBody>
        </p:sp>
        <p:sp>
          <p:nvSpPr>
            <p:cNvPr id="49" name="TextBox 49"/>
            <p:cNvSpPr txBox="1"/>
            <p:nvPr/>
          </p:nvSpPr>
          <p:spPr>
            <a:xfrm>
              <a:off x="908304" y="4918710"/>
              <a:ext cx="575845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Dayanıklılık (MQTT/QoS 1) + güvenlik (HMAC/zaman penceresi) + işletim</a:t>
              </a:r>
            </a:p>
          </p:txBody>
        </p:sp>
        <p:sp>
          <p:nvSpPr>
            <p:cNvPr id="50" name="TextBox 50"/>
            <p:cNvSpPr txBox="1"/>
            <p:nvPr/>
          </p:nvSpPr>
          <p:spPr>
            <a:xfrm>
              <a:off x="908304" y="5147310"/>
              <a:ext cx="590854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(izole ağ, dizinli sorgu) + ölçeklenebilirlik (tamponlama) bir arada çalışır.</a:t>
              </a:r>
            </a:p>
          </p:txBody>
        </p:sp>
        <p:sp>
          <p:nvSpPr>
            <p:cNvPr id="51" name="TextBox 51"/>
            <p:cNvSpPr txBox="1"/>
            <p:nvPr/>
          </p:nvSpPr>
          <p:spPr>
            <a:xfrm>
              <a:off x="908304" y="5452110"/>
              <a:ext cx="5566463"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Bu bölümde ele alınan cihaz kimliği, aralık doğrulaması ve zaman serisi</a:t>
              </a:r>
            </a:p>
          </p:txBody>
        </p:sp>
        <p:sp>
          <p:nvSpPr>
            <p:cNvPr id="52" name="TextBox 52"/>
            <p:cNvSpPr txBox="1"/>
            <p:nvPr/>
          </p:nvSpPr>
          <p:spPr>
            <a:xfrm>
              <a:off x="908304" y="5680710"/>
              <a:ext cx="6207404"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kaydı, bu dört sütunun yalnızca güvenlik ve veri bütünlüğü ayağını oluşturur;</a:t>
              </a:r>
            </a:p>
          </p:txBody>
        </p:sp>
        <p:sp>
          <p:nvSpPr>
            <p:cNvPr id="53" name="TextBox 53"/>
            <p:cNvSpPr txBox="1"/>
            <p:nvPr/>
          </p:nvSpPr>
          <p:spPr>
            <a:xfrm>
              <a:off x="908304" y="5909310"/>
              <a:ext cx="521138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MQTT köprüsü ve tamponlama ise ölçekte dayanıklılığı tamamlar.</a:t>
              </a:r>
            </a:p>
          </p:txBody>
        </p:sp>
      </p:grpSp>
      <p:sp>
        <p:nvSpPr>
          <p:cNvPr id="55" name="TextBox 5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24</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6029847" cy="668845"/>
            <a:chOff x="609600" y="171450"/>
            <a:chExt cx="6029847"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533947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Hata ayıklama alıştırması</a:t>
              </a:r>
            </a:p>
          </p:txBody>
        </p:sp>
      </p:grpSp>
      <p:grpSp>
        <p:nvGrpSpPr>
          <p:cNvPr id="26" name="code-panel"/>
          <p:cNvGrpSpPr/>
          <p:nvPr/>
        </p:nvGrpSpPr>
        <p:grpSpPr>
          <a:xfrm>
            <a:off x="609600" y="1181100"/>
            <a:ext cx="5257800" cy="3333750"/>
            <a:chOff x="609600" y="1181100"/>
            <a:chExt cx="5257800" cy="3333750"/>
          </a:xfrm>
        </p:grpSpPr>
        <p:sp>
          <p:nvSpPr>
            <p:cNvPr id="12" name="Rectangle 12"/>
            <p:cNvSpPr/>
            <p:nvPr/>
          </p:nvSpPr>
          <p:spPr>
            <a:xfrm>
              <a:off x="609600" y="1181100"/>
              <a:ext cx="5257800" cy="3333750"/>
            </a:xfrm>
            <a:prstGeom prst="roundRect">
              <a:avLst>
                <a:gd name="adj" fmla="val 2286"/>
              </a:avLst>
            </a:prstGeom>
            <a:solidFill>
              <a:srgbClr val="12355B"/>
            </a:solidFill>
            <a:ln>
              <a:noFill/>
            </a:ln>
          </p:spPr>
        </p:sp>
        <p:sp>
          <p:nvSpPr>
            <p:cNvPr id="13" name="TextBox 13"/>
            <p:cNvSpPr txBox="1"/>
            <p:nvPr/>
          </p:nvSpPr>
          <p:spPr>
            <a:xfrm>
              <a:off x="832866" y="1334452"/>
              <a:ext cx="2125228" cy="205359"/>
            </a:xfrm>
            <a:prstGeom prst="rect">
              <a:avLst/>
            </a:prstGeom>
            <a:noFill/>
            <a:ln>
              <a:noFill/>
            </a:ln>
          </p:spPr>
          <p:txBody>
            <a:bodyPr wrap="none" lIns="0" tIns="0" rIns="0" bIns="0" anchor="t" anchorCtr="0">
              <a:spAutoFit/>
            </a:bodyPr>
            <a:lstStyle/>
            <a:p>
              <a:pPr algn="l"/>
              <a:r>
                <a:rPr lang="tr-TR" sz="1050" dirty="0">
                  <a:solidFill>
                    <a:srgbClr val="B8CBD3"/>
                  </a:solidFill>
                  <a:latin typeface="Consolas"/>
                  <a:ea typeface="Consolas"/>
                  <a:cs typeface="Consolas"/>
                </a:rPr>
                <a:t>// HataliTelemetriIsleme.ts</a:t>
              </a:r>
            </a:p>
          </p:txBody>
        </p:sp>
        <p:sp>
          <p:nvSpPr>
            <p:cNvPr id="14" name="TextBox 14"/>
            <p:cNvSpPr txBox="1"/>
            <p:nvPr/>
          </p:nvSpPr>
          <p:spPr>
            <a:xfrm>
              <a:off x="832866" y="1563052"/>
              <a:ext cx="3208746"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function telemetriyiIsle(veri, aktifMi) {</a:t>
              </a:r>
            </a:p>
          </p:txBody>
        </p:sp>
        <p:sp>
          <p:nvSpPr>
            <p:cNvPr id="15" name="TextBox 15"/>
            <p:cNvSpPr txBox="1"/>
            <p:nvPr/>
          </p:nvSpPr>
          <p:spPr>
            <a:xfrm>
              <a:off x="1023366" y="1772602"/>
              <a:ext cx="2964904"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if (typeof veri.sicaklik !== "number")</a:t>
              </a:r>
            </a:p>
          </p:txBody>
        </p:sp>
        <p:sp>
          <p:nvSpPr>
            <p:cNvPr id="16" name="TextBox 16"/>
            <p:cNvSpPr txBox="1"/>
            <p:nvPr/>
          </p:nvSpPr>
          <p:spPr>
            <a:xfrm>
              <a:off x="1213866" y="1982152"/>
              <a:ext cx="1876501"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return { kabul: false };</a:t>
              </a:r>
            </a:p>
          </p:txBody>
        </p:sp>
        <p:sp>
          <p:nvSpPr>
            <p:cNvPr id="17" name="TextBox 17"/>
            <p:cNvSpPr txBox="1"/>
            <p:nvPr/>
          </p:nvSpPr>
          <p:spPr>
            <a:xfrm>
              <a:off x="833247" y="2256949"/>
              <a:ext cx="2192579" cy="190690"/>
            </a:xfrm>
            <a:prstGeom prst="rect">
              <a:avLst/>
            </a:prstGeom>
            <a:noFill/>
            <a:ln>
              <a:noFill/>
            </a:ln>
          </p:spPr>
          <p:txBody>
            <a:bodyPr wrap="none" lIns="0" tIns="0" rIns="0" bIns="0" anchor="t" anchorCtr="0">
              <a:spAutoFit/>
            </a:bodyPr>
            <a:lstStyle/>
            <a:p>
              <a:pPr algn="l"/>
              <a:r>
                <a:rPr lang="tr-TR" sz="980" dirty="0">
                  <a:solidFill>
                    <a:srgbClr val="B8CBD3"/>
                  </a:solidFill>
                  <a:latin typeface="Consolas"/>
                  <a:ea typeface="Consolas"/>
                  <a:cs typeface="Consolas"/>
                </a:rPr>
                <a:t>// Hata 1: aralık kontrolü yok</a:t>
              </a:r>
            </a:p>
          </p:txBody>
        </p:sp>
        <p:sp>
          <p:nvSpPr>
            <p:cNvPr id="18" name="TextBox 18"/>
            <p:cNvSpPr txBox="1"/>
            <p:nvPr/>
          </p:nvSpPr>
          <p:spPr>
            <a:xfrm>
              <a:off x="833247" y="2447449"/>
              <a:ext cx="2633025" cy="190690"/>
            </a:xfrm>
            <a:prstGeom prst="rect">
              <a:avLst/>
            </a:prstGeom>
            <a:noFill/>
            <a:ln>
              <a:noFill/>
            </a:ln>
          </p:spPr>
          <p:txBody>
            <a:bodyPr wrap="none" lIns="0" tIns="0" rIns="0" bIns="0" anchor="t" anchorCtr="0">
              <a:spAutoFit/>
            </a:bodyPr>
            <a:lstStyle/>
            <a:p>
              <a:pPr algn="l"/>
              <a:r>
                <a:rPr lang="tr-TR" sz="980" dirty="0">
                  <a:solidFill>
                    <a:srgbClr val="B8CBD3"/>
                  </a:solidFill>
                  <a:latin typeface="Consolas"/>
                  <a:ea typeface="Consolas"/>
                  <a:cs typeface="Consolas"/>
                </a:rPr>
                <a:t>// Hata 2: aktifMi hiç kullanılmıyor</a:t>
              </a:r>
            </a:p>
          </p:txBody>
        </p:sp>
        <p:sp>
          <p:nvSpPr>
            <p:cNvPr id="19" name="TextBox 19"/>
            <p:cNvSpPr txBox="1"/>
            <p:nvPr/>
          </p:nvSpPr>
          <p:spPr>
            <a:xfrm>
              <a:off x="1023366" y="2667952"/>
              <a:ext cx="1798758"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return { kabul: true };</a:t>
              </a:r>
            </a:p>
          </p:txBody>
        </p:sp>
        <p:sp>
          <p:nvSpPr>
            <p:cNvPr id="20" name="TextBox 20"/>
            <p:cNvSpPr txBox="1"/>
            <p:nvPr/>
          </p:nvSpPr>
          <p:spPr>
            <a:xfrm>
              <a:off x="832866" y="2858452"/>
              <a:ext cx="88411"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a:t>
              </a:r>
            </a:p>
          </p:txBody>
        </p:sp>
        <p:sp>
          <p:nvSpPr>
            <p:cNvPr id="21" name="TextBox 21"/>
            <p:cNvSpPr txBox="1"/>
            <p:nvPr/>
          </p:nvSpPr>
          <p:spPr>
            <a:xfrm>
              <a:off x="832866" y="3125152"/>
              <a:ext cx="3126677"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telemetriyiIsle({sicaklik:-999}, false);</a:t>
              </a:r>
            </a:p>
          </p:txBody>
        </p:sp>
        <p:sp>
          <p:nvSpPr>
            <p:cNvPr id="22" name="TextBox 22"/>
            <p:cNvSpPr txBox="1"/>
            <p:nvPr/>
          </p:nvSpPr>
          <p:spPr>
            <a:xfrm>
              <a:off x="832866" y="3334702"/>
              <a:ext cx="1962102" cy="205359"/>
            </a:xfrm>
            <a:prstGeom prst="rect">
              <a:avLst/>
            </a:prstGeom>
            <a:noFill/>
            <a:ln>
              <a:noFill/>
            </a:ln>
          </p:spPr>
          <p:txBody>
            <a:bodyPr wrap="none" lIns="0" tIns="0" rIns="0" bIns="0" anchor="t" anchorCtr="0">
              <a:spAutoFit/>
            </a:bodyPr>
            <a:lstStyle/>
            <a:p>
              <a:pPr algn="l"/>
              <a:r>
                <a:rPr lang="tr-TR" sz="1050" dirty="0">
                  <a:solidFill>
                    <a:srgbClr val="B8CBD3"/>
                  </a:solidFill>
                  <a:latin typeface="Consolas"/>
                  <a:ea typeface="Consolas"/>
                  <a:cs typeface="Consolas"/>
                </a:rPr>
                <a:t>// Çıktı: { kabul: true }</a:t>
              </a:r>
            </a:p>
          </p:txBody>
        </p:sp>
        <p:sp>
          <p:nvSpPr>
            <p:cNvPr id="23" name="TextBox 23"/>
            <p:cNvSpPr txBox="1"/>
            <p:nvPr/>
          </p:nvSpPr>
          <p:spPr>
            <a:xfrm>
              <a:off x="832866" y="3677602"/>
              <a:ext cx="1726394" cy="205359"/>
            </a:xfrm>
            <a:prstGeom prst="rect">
              <a:avLst/>
            </a:prstGeom>
            <a:noFill/>
            <a:ln>
              <a:noFill/>
            </a:ln>
          </p:spPr>
          <p:txBody>
            <a:bodyPr wrap="none" lIns="0" tIns="0" rIns="0" bIns="0" anchor="t" anchorCtr="0">
              <a:spAutoFit/>
            </a:bodyPr>
            <a:lstStyle/>
            <a:p>
              <a:pPr algn="l"/>
              <a:r>
                <a:rPr lang="tr-TR" sz="1050" b="1" dirty="0">
                  <a:solidFill>
                    <a:srgbClr val="00A6A6"/>
                  </a:solidFill>
                  <a:latin typeface="Consolas"/>
                  <a:ea typeface="Consolas"/>
                  <a:cs typeface="Consolas"/>
                </a:rPr>
                <a:t>Beklenen: kabul: false</a:t>
              </a:r>
            </a:p>
          </p:txBody>
        </p:sp>
        <p:sp>
          <p:nvSpPr>
            <p:cNvPr id="24" name="TextBox 24"/>
            <p:cNvSpPr txBox="1"/>
            <p:nvPr/>
          </p:nvSpPr>
          <p:spPr>
            <a:xfrm>
              <a:off x="833247" y="3895249"/>
              <a:ext cx="2410285" cy="190690"/>
            </a:xfrm>
            <a:prstGeom prst="rect">
              <a:avLst/>
            </a:prstGeom>
            <a:noFill/>
            <a:ln>
              <a:noFill/>
            </a:ln>
          </p:spPr>
          <p:txBody>
            <a:bodyPr wrap="none" lIns="0" tIns="0" rIns="0" bIns="0" anchor="t" anchorCtr="0">
              <a:spAutoFit/>
            </a:bodyPr>
            <a:lstStyle/>
            <a:p>
              <a:pPr algn="l"/>
              <a:r>
                <a:rPr lang="tr-TR" sz="980" dirty="0">
                  <a:solidFill>
                    <a:srgbClr val="B8CBD3"/>
                  </a:solidFill>
                  <a:latin typeface="Consolas"/>
                  <a:ea typeface="Consolas"/>
                  <a:cs typeface="Consolas"/>
                </a:rPr>
                <a:t>(-999°C fiziksel olarak anlamsız;</a:t>
              </a:r>
            </a:p>
          </p:txBody>
        </p:sp>
        <p:sp>
          <p:nvSpPr>
            <p:cNvPr id="25" name="TextBox 25"/>
            <p:cNvSpPr txBox="1"/>
            <p:nvPr/>
          </p:nvSpPr>
          <p:spPr>
            <a:xfrm>
              <a:off x="833247" y="4085749"/>
              <a:ext cx="2404392" cy="190690"/>
            </a:xfrm>
            <a:prstGeom prst="rect">
              <a:avLst/>
            </a:prstGeom>
            <a:noFill/>
            <a:ln>
              <a:noFill/>
            </a:ln>
          </p:spPr>
          <p:txBody>
            <a:bodyPr wrap="none" lIns="0" tIns="0" rIns="0" bIns="0" anchor="t" anchorCtr="0">
              <a:spAutoFit/>
            </a:bodyPr>
            <a:lstStyle/>
            <a:p>
              <a:pPr algn="l"/>
              <a:r>
                <a:rPr lang="tr-TR" sz="980" dirty="0">
                  <a:solidFill>
                    <a:srgbClr val="B8CBD3"/>
                  </a:solidFill>
                  <a:latin typeface="Consolas"/>
                  <a:ea typeface="Consolas"/>
                  <a:cs typeface="Consolas"/>
                </a:rPr>
                <a:t>aktif olmayan cihaz reddedilmeli)</a:t>
              </a:r>
            </a:p>
          </p:txBody>
        </p:sp>
      </p:grpSp>
      <p:grpSp>
        <p:nvGrpSpPr>
          <p:cNvPr id="42" name="student-panel"/>
          <p:cNvGrpSpPr/>
          <p:nvPr/>
        </p:nvGrpSpPr>
        <p:grpSpPr>
          <a:xfrm>
            <a:off x="6324600" y="1181100"/>
            <a:ext cx="5257800" cy="3333750"/>
            <a:chOff x="6324600" y="1181100"/>
            <a:chExt cx="5257800" cy="3333750"/>
          </a:xfrm>
        </p:grpSpPr>
        <p:sp>
          <p:nvSpPr>
            <p:cNvPr id="27" name="Rectangle 27"/>
            <p:cNvSpPr/>
            <p:nvPr/>
          </p:nvSpPr>
          <p:spPr>
            <a:xfrm>
              <a:off x="6324600" y="1181100"/>
              <a:ext cx="5257800" cy="3333750"/>
            </a:xfrm>
            <a:prstGeom prst="roundRect">
              <a:avLst>
                <a:gd name="adj" fmla="val 2857"/>
              </a:avLst>
            </a:prstGeom>
            <a:solidFill>
              <a:srgbClr val="FFFFFF"/>
            </a:solidFill>
            <a:ln w="9525">
              <a:solidFill>
                <a:srgbClr val="B8CBD3"/>
              </a:solidFill>
            </a:ln>
          </p:spPr>
        </p:sp>
        <p:sp>
          <p:nvSpPr>
            <p:cNvPr id="28" name="TextBox 28"/>
            <p:cNvSpPr txBox="1"/>
            <p:nvPr/>
          </p:nvSpPr>
          <p:spPr>
            <a:xfrm>
              <a:off x="6546342" y="1321118"/>
              <a:ext cx="3044615"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Laboratuvar masası tartışması</a:t>
              </a:r>
            </a:p>
          </p:txBody>
        </p:sp>
        <p:sp>
          <p:nvSpPr>
            <p:cNvPr id="29" name="TextBox 29"/>
            <p:cNvSpPr txBox="1"/>
            <p:nvPr/>
          </p:nvSpPr>
          <p:spPr>
            <a:xfrm>
              <a:off x="6547485" y="1612106"/>
              <a:ext cx="298841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Yasemin: "typeof === 'number' yetmez;</a:t>
              </a:r>
            </a:p>
          </p:txBody>
        </p:sp>
        <p:sp>
          <p:nvSpPr>
            <p:cNvPr id="30" name="TextBox 30"/>
            <p:cNvSpPr txBox="1"/>
            <p:nvPr/>
          </p:nvSpPr>
          <p:spPr>
            <a:xfrm>
              <a:off x="6547485" y="1802606"/>
              <a:ext cx="319806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-999 de, NaN de teknik olarak number'dır!"</a:t>
              </a:r>
            </a:p>
          </p:txBody>
        </p:sp>
        <p:sp>
          <p:nvSpPr>
            <p:cNvPr id="31" name="TextBox 31"/>
            <p:cNvSpPr txBox="1"/>
            <p:nvPr/>
          </p:nvSpPr>
          <p:spPr>
            <a:xfrm>
              <a:off x="6547485" y="2069306"/>
              <a:ext cx="320777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Bahar: "Kopuk sensör -999, null veya 65535</a:t>
              </a:r>
            </a:p>
          </p:txBody>
        </p:sp>
        <p:sp>
          <p:nvSpPr>
            <p:cNvPr id="32" name="TextBox 32"/>
            <p:cNvSpPr txBox="1"/>
            <p:nvPr/>
          </p:nvSpPr>
          <p:spPr>
            <a:xfrm>
              <a:off x="6547485" y="2259806"/>
              <a:ext cx="353844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üretir; laboratuvar için aralık -10..60°C'dir."</a:t>
              </a:r>
            </a:p>
          </p:txBody>
        </p:sp>
        <p:sp>
          <p:nvSpPr>
            <p:cNvPr id="33" name="TextBox 33"/>
            <p:cNvSpPr txBox="1"/>
            <p:nvPr/>
          </p:nvSpPr>
          <p:spPr>
            <a:xfrm>
              <a:off x="6547485" y="2526506"/>
              <a:ext cx="305208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İsmail: "aktifMi parametresi gövdede hiç</a:t>
              </a:r>
            </a:p>
          </p:txBody>
        </p:sp>
        <p:sp>
          <p:nvSpPr>
            <p:cNvPr id="34" name="TextBox 34"/>
            <p:cNvSpPr txBox="1"/>
            <p:nvPr/>
          </p:nvSpPr>
          <p:spPr>
            <a:xfrm>
              <a:off x="6547485" y="2717006"/>
              <a:ext cx="331338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kontrol edilmiyor; yetkisi askıya alınmış bir</a:t>
              </a:r>
            </a:p>
          </p:txBody>
        </p:sp>
        <p:sp>
          <p:nvSpPr>
            <p:cNvPr id="35" name="TextBox 35"/>
            <p:cNvSpPr txBox="1"/>
            <p:nvPr/>
          </p:nvSpPr>
          <p:spPr>
            <a:xfrm>
              <a:off x="6547485" y="2907506"/>
              <a:ext cx="294542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ESP32 çöp veri basmaya devam edebilir!"</a:t>
              </a:r>
            </a:p>
          </p:txBody>
        </p:sp>
        <p:sp>
          <p:nvSpPr>
            <p:cNvPr id="36" name="TextBox 36"/>
            <p:cNvSpPr txBox="1"/>
            <p:nvPr/>
          </p:nvSpPr>
          <p:spPr>
            <a:xfrm>
              <a:off x="6547485" y="3174206"/>
              <a:ext cx="275074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Elif: "Veri sadece şemaya değil, fizik</a:t>
              </a:r>
            </a:p>
          </p:txBody>
        </p:sp>
        <p:sp>
          <p:nvSpPr>
            <p:cNvPr id="37" name="TextBox 37"/>
            <p:cNvSpPr txBox="1"/>
            <p:nvPr/>
          </p:nvSpPr>
          <p:spPr>
            <a:xfrm>
              <a:off x="6547485" y="3364706"/>
              <a:ext cx="321538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kurallarına da uymalı; cihaz yaşam döngüsü</a:t>
              </a:r>
            </a:p>
          </p:txBody>
        </p:sp>
        <p:sp>
          <p:nvSpPr>
            <p:cNvPr id="38" name="TextBox 38"/>
            <p:cNvSpPr txBox="1"/>
            <p:nvPr/>
          </p:nvSpPr>
          <p:spPr>
            <a:xfrm>
              <a:off x="6547485" y="3555206"/>
              <a:ext cx="298922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doğrulanmadan telemetri kaydedilemez."</a:t>
              </a:r>
            </a:p>
          </p:txBody>
        </p:sp>
        <p:sp>
          <p:nvSpPr>
            <p:cNvPr id="39" name="Rectangle 39"/>
            <p:cNvSpPr/>
            <p:nvPr/>
          </p:nvSpPr>
          <p:spPr>
            <a:xfrm>
              <a:off x="6553200" y="3886200"/>
              <a:ext cx="4800600" cy="495300"/>
            </a:xfrm>
            <a:prstGeom prst="roundRect">
              <a:avLst>
                <a:gd name="adj" fmla="val 11538"/>
              </a:avLst>
            </a:prstGeom>
            <a:solidFill>
              <a:srgbClr val="EAF4F6"/>
            </a:solidFill>
            <a:ln w="11430">
              <a:solidFill>
                <a:srgbClr val="00A6A6"/>
              </a:solidFill>
            </a:ln>
          </p:spPr>
        </p:sp>
        <p:sp>
          <p:nvSpPr>
            <p:cNvPr id="40" name="TextBox 40"/>
            <p:cNvSpPr txBox="1"/>
            <p:nvPr/>
          </p:nvSpPr>
          <p:spPr>
            <a:xfrm>
              <a:off x="6700266" y="3982402"/>
              <a:ext cx="1113747"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Düzeltme hattı</a:t>
              </a:r>
            </a:p>
          </p:txBody>
        </p:sp>
        <p:sp>
          <p:nvSpPr>
            <p:cNvPr id="41" name="TextBox 41"/>
            <p:cNvSpPr txBox="1"/>
            <p:nvPr/>
          </p:nvSpPr>
          <p:spPr>
            <a:xfrm>
              <a:off x="6700647" y="4180999"/>
              <a:ext cx="3137687"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Number.isFinite + aralık kontrolü + if (!aktifMi)</a:t>
              </a:r>
            </a:p>
          </p:txBody>
        </p:sp>
      </p:grpSp>
      <p:grpSp>
        <p:nvGrpSpPr>
          <p:cNvPr id="68" name="trace-table"/>
          <p:cNvGrpSpPr/>
          <p:nvPr/>
        </p:nvGrpSpPr>
        <p:grpSpPr>
          <a:xfrm>
            <a:off x="609600" y="4667250"/>
            <a:ext cx="10972800" cy="1504950"/>
            <a:chOff x="609600" y="4667250"/>
            <a:chExt cx="10972800" cy="1504950"/>
          </a:xfrm>
        </p:grpSpPr>
        <p:sp>
          <p:nvSpPr>
            <p:cNvPr id="43" name="Rectangle 43"/>
            <p:cNvSpPr/>
            <p:nvPr/>
          </p:nvSpPr>
          <p:spPr>
            <a:xfrm>
              <a:off x="609600" y="4667250"/>
              <a:ext cx="10972800" cy="323850"/>
            </a:xfrm>
            <a:prstGeom prst="rect">
              <a:avLst/>
            </a:prstGeom>
            <a:solidFill>
              <a:srgbClr val="12355B"/>
            </a:solidFill>
            <a:ln>
              <a:noFill/>
            </a:ln>
          </p:spPr>
        </p:sp>
        <p:sp>
          <p:nvSpPr>
            <p:cNvPr id="44" name="TextBox 44"/>
            <p:cNvSpPr txBox="1"/>
            <p:nvPr/>
          </p:nvSpPr>
          <p:spPr>
            <a:xfrm>
              <a:off x="757047" y="4771549"/>
              <a:ext cx="1113959" cy="190690"/>
            </a:xfrm>
            <a:prstGeom prst="rect">
              <a:avLst/>
            </a:prstGeom>
            <a:noFill/>
            <a:ln>
              <a:noFill/>
            </a:ln>
          </p:spPr>
          <p:txBody>
            <a:bodyPr wrap="none" lIns="0" tIns="0" rIns="0" bIns="0" anchor="t" anchorCtr="0">
              <a:spAutoFit/>
            </a:bodyPr>
            <a:lstStyle/>
            <a:p>
              <a:pPr algn="l"/>
              <a:r>
                <a:rPr lang="tr-TR" sz="980" b="1" spc="38" dirty="0">
                  <a:solidFill>
                    <a:srgbClr val="FFFFFF"/>
                  </a:solidFill>
                  <a:latin typeface="+mn-lt"/>
                  <a:ea typeface="+mn-ea"/>
                  <a:cs typeface="+mn-cs"/>
                </a:rPr>
                <a:t>SENSÖR DURUMU</a:t>
              </a:r>
            </a:p>
          </p:txBody>
        </p:sp>
        <p:sp>
          <p:nvSpPr>
            <p:cNvPr id="45" name="TextBox 45"/>
            <p:cNvSpPr txBox="1"/>
            <p:nvPr/>
          </p:nvSpPr>
          <p:spPr>
            <a:xfrm>
              <a:off x="3138297" y="4771549"/>
              <a:ext cx="434030" cy="190690"/>
            </a:xfrm>
            <a:prstGeom prst="rect">
              <a:avLst/>
            </a:prstGeom>
            <a:noFill/>
            <a:ln>
              <a:noFill/>
            </a:ln>
          </p:spPr>
          <p:txBody>
            <a:bodyPr wrap="none" lIns="0" tIns="0" rIns="0" bIns="0" anchor="t" anchorCtr="0">
              <a:spAutoFit/>
            </a:bodyPr>
            <a:lstStyle/>
            <a:p>
              <a:pPr algn="l"/>
              <a:r>
                <a:rPr lang="tr-TR" sz="980" b="1" spc="38" dirty="0">
                  <a:solidFill>
                    <a:srgbClr val="FFFFFF"/>
                  </a:solidFill>
                  <a:latin typeface="+mn-lt"/>
                  <a:ea typeface="+mn-ea"/>
                  <a:cs typeface="+mn-cs"/>
                </a:rPr>
                <a:t>GİRDİ</a:t>
              </a:r>
            </a:p>
          </p:txBody>
        </p:sp>
        <p:sp>
          <p:nvSpPr>
            <p:cNvPr id="46" name="TextBox 46"/>
            <p:cNvSpPr txBox="1"/>
            <p:nvPr/>
          </p:nvSpPr>
          <p:spPr>
            <a:xfrm>
              <a:off x="4757547" y="4771549"/>
              <a:ext cx="962189" cy="190690"/>
            </a:xfrm>
            <a:prstGeom prst="rect">
              <a:avLst/>
            </a:prstGeom>
            <a:noFill/>
            <a:ln>
              <a:noFill/>
            </a:ln>
          </p:spPr>
          <p:txBody>
            <a:bodyPr wrap="none" lIns="0" tIns="0" rIns="0" bIns="0" anchor="t" anchorCtr="0">
              <a:spAutoFit/>
            </a:bodyPr>
            <a:lstStyle/>
            <a:p>
              <a:pPr algn="l"/>
              <a:r>
                <a:rPr lang="tr-TR" sz="980" b="1" spc="38" dirty="0">
                  <a:solidFill>
                    <a:srgbClr val="FFFFFF"/>
                  </a:solidFill>
                  <a:latin typeface="+mn-lt"/>
                  <a:ea typeface="+mn-ea"/>
                  <a:cs typeface="+mn-cs"/>
                </a:rPr>
                <a:t>HATALI KARAR</a:t>
              </a:r>
            </a:p>
          </p:txBody>
        </p:sp>
        <p:sp>
          <p:nvSpPr>
            <p:cNvPr id="47" name="TextBox 47"/>
            <p:cNvSpPr txBox="1"/>
            <p:nvPr/>
          </p:nvSpPr>
          <p:spPr>
            <a:xfrm>
              <a:off x="7234047" y="4771549"/>
              <a:ext cx="1384400" cy="190690"/>
            </a:xfrm>
            <a:prstGeom prst="rect">
              <a:avLst/>
            </a:prstGeom>
            <a:noFill/>
            <a:ln>
              <a:noFill/>
            </a:ln>
          </p:spPr>
          <p:txBody>
            <a:bodyPr wrap="none" lIns="0" tIns="0" rIns="0" bIns="0" anchor="t" anchorCtr="0">
              <a:spAutoFit/>
            </a:bodyPr>
            <a:lstStyle/>
            <a:p>
              <a:pPr algn="l"/>
              <a:r>
                <a:rPr lang="tr-TR" sz="980" b="1" spc="38" dirty="0">
                  <a:solidFill>
                    <a:srgbClr val="FFFFFF"/>
                  </a:solidFill>
                  <a:latin typeface="+mn-lt"/>
                  <a:ea typeface="+mn-ea"/>
                  <a:cs typeface="+mn-cs"/>
                </a:rPr>
                <a:t>DÜZELTİLMİŞ ÇIKTI</a:t>
              </a:r>
            </a:p>
          </p:txBody>
        </p:sp>
        <p:sp>
          <p:nvSpPr>
            <p:cNvPr id="48" name="Rectangle 48"/>
            <p:cNvSpPr/>
            <p:nvPr/>
          </p:nvSpPr>
          <p:spPr>
            <a:xfrm>
              <a:off x="609600" y="4991100"/>
              <a:ext cx="10972800" cy="295275"/>
            </a:xfrm>
            <a:prstGeom prst="rect">
              <a:avLst/>
            </a:prstGeom>
            <a:solidFill>
              <a:srgbClr val="FFFFFF"/>
            </a:solidFill>
            <a:ln>
              <a:noFill/>
            </a:ln>
          </p:spPr>
        </p:sp>
        <p:sp>
          <p:nvSpPr>
            <p:cNvPr id="49" name="TextBox 49"/>
            <p:cNvSpPr txBox="1"/>
            <p:nvPr/>
          </p:nvSpPr>
          <p:spPr>
            <a:xfrm>
              <a:off x="756666" y="5068252"/>
              <a:ext cx="1111775"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1. Kopuk sensör</a:t>
              </a:r>
            </a:p>
          </p:txBody>
        </p:sp>
        <p:sp>
          <p:nvSpPr>
            <p:cNvPr id="50" name="TextBox 50"/>
            <p:cNvSpPr txBox="1"/>
            <p:nvPr/>
          </p:nvSpPr>
          <p:spPr>
            <a:xfrm>
              <a:off x="3137916" y="5068252"/>
              <a:ext cx="107565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(-999°C, true)</a:t>
              </a:r>
            </a:p>
          </p:txBody>
        </p:sp>
        <p:sp>
          <p:nvSpPr>
            <p:cNvPr id="51" name="TextBox 51"/>
            <p:cNvSpPr txBox="1"/>
            <p:nvPr/>
          </p:nvSpPr>
          <p:spPr>
            <a:xfrm>
              <a:off x="4757166" y="5068252"/>
              <a:ext cx="239950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kabul: true (zaman serisi bozulur)</a:t>
              </a:r>
            </a:p>
          </p:txBody>
        </p:sp>
        <p:sp>
          <p:nvSpPr>
            <p:cNvPr id="52" name="TextBox 52"/>
            <p:cNvSpPr txBox="1"/>
            <p:nvPr/>
          </p:nvSpPr>
          <p:spPr>
            <a:xfrm>
              <a:off x="7233666" y="5068252"/>
              <a:ext cx="2456040" cy="205359"/>
            </a:xfrm>
            <a:prstGeom prst="rect">
              <a:avLst/>
            </a:prstGeom>
            <a:noFill/>
            <a:ln>
              <a:noFill/>
            </a:ln>
          </p:spPr>
          <p:txBody>
            <a:bodyPr wrap="none" lIns="0" tIns="0" rIns="0" bIns="0" anchor="t" anchorCtr="0">
              <a:spAutoFit/>
            </a:bodyPr>
            <a:lstStyle/>
            <a:p>
              <a:pPr algn="l"/>
              <a:r>
                <a:rPr lang="tr-TR" sz="1050" dirty="0">
                  <a:solidFill>
                    <a:srgbClr val="12355B"/>
                  </a:solidFill>
                  <a:latin typeface="+mn-lt"/>
                  <a:ea typeface="+mn-ea"/>
                  <a:cs typeface="+mn-cs"/>
                </a:rPr>
                <a:t>kabul: false — "fiziksel sınır dışı"</a:t>
              </a:r>
            </a:p>
          </p:txBody>
        </p:sp>
        <p:sp>
          <p:nvSpPr>
            <p:cNvPr id="53" name="Rectangle 53"/>
            <p:cNvSpPr/>
            <p:nvPr/>
          </p:nvSpPr>
          <p:spPr>
            <a:xfrm>
              <a:off x="609600" y="5286375"/>
              <a:ext cx="10972800" cy="295275"/>
            </a:xfrm>
            <a:prstGeom prst="rect">
              <a:avLst/>
            </a:prstGeom>
            <a:solidFill>
              <a:srgbClr val="EAF4F6"/>
            </a:solidFill>
            <a:ln>
              <a:noFill/>
            </a:ln>
          </p:spPr>
        </p:sp>
        <p:sp>
          <p:nvSpPr>
            <p:cNvPr id="54" name="TextBox 54"/>
            <p:cNvSpPr txBox="1"/>
            <p:nvPr/>
          </p:nvSpPr>
          <p:spPr>
            <a:xfrm>
              <a:off x="756666" y="5363528"/>
              <a:ext cx="154943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2. Pasif/çalıntı cihaz</a:t>
              </a:r>
            </a:p>
          </p:txBody>
        </p:sp>
        <p:sp>
          <p:nvSpPr>
            <p:cNvPr id="55" name="TextBox 55"/>
            <p:cNvSpPr txBox="1"/>
            <p:nvPr/>
          </p:nvSpPr>
          <p:spPr>
            <a:xfrm>
              <a:off x="3137916" y="5363528"/>
              <a:ext cx="111647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(24.5°C, false)</a:t>
              </a:r>
            </a:p>
          </p:txBody>
        </p:sp>
        <p:sp>
          <p:nvSpPr>
            <p:cNvPr id="56" name="TextBox 56"/>
            <p:cNvSpPr txBox="1"/>
            <p:nvPr/>
          </p:nvSpPr>
          <p:spPr>
            <a:xfrm>
              <a:off x="4757166" y="5363528"/>
              <a:ext cx="176342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durum hiç kontrol edilmez</a:t>
              </a:r>
            </a:p>
          </p:txBody>
        </p:sp>
        <p:sp>
          <p:nvSpPr>
            <p:cNvPr id="57" name="TextBox 57"/>
            <p:cNvSpPr txBox="1"/>
            <p:nvPr/>
          </p:nvSpPr>
          <p:spPr>
            <a:xfrm>
              <a:off x="7233666" y="5363528"/>
              <a:ext cx="2265216" cy="205359"/>
            </a:xfrm>
            <a:prstGeom prst="rect">
              <a:avLst/>
            </a:prstGeom>
            <a:noFill/>
            <a:ln>
              <a:noFill/>
            </a:ln>
          </p:spPr>
          <p:txBody>
            <a:bodyPr wrap="none" lIns="0" tIns="0" rIns="0" bIns="0" anchor="t" anchorCtr="0">
              <a:spAutoFit/>
            </a:bodyPr>
            <a:lstStyle/>
            <a:p>
              <a:pPr algn="l"/>
              <a:r>
                <a:rPr lang="tr-TR" sz="1050" dirty="0">
                  <a:solidFill>
                    <a:srgbClr val="12355B"/>
                  </a:solidFill>
                  <a:latin typeface="+mn-lt"/>
                  <a:ea typeface="+mn-ea"/>
                  <a:cs typeface="+mn-cs"/>
                </a:rPr>
                <a:t>kabul: false — "cihaz aktif değil"</a:t>
              </a:r>
            </a:p>
          </p:txBody>
        </p:sp>
        <p:sp>
          <p:nvSpPr>
            <p:cNvPr id="58" name="Rectangle 58"/>
            <p:cNvSpPr/>
            <p:nvPr/>
          </p:nvSpPr>
          <p:spPr>
            <a:xfrm>
              <a:off x="609600" y="5581650"/>
              <a:ext cx="10972800" cy="295275"/>
            </a:xfrm>
            <a:prstGeom prst="rect">
              <a:avLst/>
            </a:prstGeom>
            <a:solidFill>
              <a:srgbClr val="FFFFFF"/>
            </a:solidFill>
            <a:ln>
              <a:noFill/>
            </a:ln>
          </p:spPr>
        </p:sp>
        <p:sp>
          <p:nvSpPr>
            <p:cNvPr id="59" name="TextBox 59"/>
            <p:cNvSpPr txBox="1"/>
            <p:nvPr/>
          </p:nvSpPr>
          <p:spPr>
            <a:xfrm>
              <a:off x="756666" y="5658802"/>
              <a:ext cx="133212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3. Bozuk ADC verisi</a:t>
              </a:r>
            </a:p>
          </p:txBody>
        </p:sp>
        <p:sp>
          <p:nvSpPr>
            <p:cNvPr id="60" name="TextBox 60"/>
            <p:cNvSpPr txBox="1"/>
            <p:nvPr/>
          </p:nvSpPr>
          <p:spPr>
            <a:xfrm>
              <a:off x="3137916" y="5658802"/>
              <a:ext cx="84376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(NaN, true)</a:t>
              </a:r>
            </a:p>
          </p:txBody>
        </p:sp>
        <p:sp>
          <p:nvSpPr>
            <p:cNvPr id="61" name="TextBox 61"/>
            <p:cNvSpPr txBox="1"/>
            <p:nvPr/>
          </p:nvSpPr>
          <p:spPr>
            <a:xfrm>
              <a:off x="4757166" y="5658802"/>
              <a:ext cx="2164257"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typeof NaN === "number" geçer</a:t>
              </a:r>
            </a:p>
          </p:txBody>
        </p:sp>
        <p:sp>
          <p:nvSpPr>
            <p:cNvPr id="62" name="TextBox 62"/>
            <p:cNvSpPr txBox="1"/>
            <p:nvPr/>
          </p:nvSpPr>
          <p:spPr>
            <a:xfrm>
              <a:off x="7233666" y="5658802"/>
              <a:ext cx="2724607" cy="205359"/>
            </a:xfrm>
            <a:prstGeom prst="rect">
              <a:avLst/>
            </a:prstGeom>
            <a:noFill/>
            <a:ln>
              <a:noFill/>
            </a:ln>
          </p:spPr>
          <p:txBody>
            <a:bodyPr wrap="none" lIns="0" tIns="0" rIns="0" bIns="0" anchor="t" anchorCtr="0">
              <a:spAutoFit/>
            </a:bodyPr>
            <a:lstStyle/>
            <a:p>
              <a:pPr algn="l"/>
              <a:r>
                <a:rPr lang="tr-TR" sz="1050" dirty="0">
                  <a:solidFill>
                    <a:srgbClr val="12355B"/>
                  </a:solidFill>
                  <a:latin typeface="+mn-lt"/>
                  <a:ea typeface="+mn-ea"/>
                  <a:cs typeface="+mn-cs"/>
                </a:rPr>
                <a:t>kabul: false — "sayısal değer geçersiz"</a:t>
              </a:r>
            </a:p>
          </p:txBody>
        </p:sp>
        <p:sp>
          <p:nvSpPr>
            <p:cNvPr id="63" name="Rectangle 63"/>
            <p:cNvSpPr/>
            <p:nvPr/>
          </p:nvSpPr>
          <p:spPr>
            <a:xfrm>
              <a:off x="609600" y="5876925"/>
              <a:ext cx="10972800" cy="295275"/>
            </a:xfrm>
            <a:prstGeom prst="rect">
              <a:avLst/>
            </a:prstGeom>
            <a:solidFill>
              <a:srgbClr val="EAF4F6"/>
            </a:solidFill>
            <a:ln w="9525">
              <a:solidFill>
                <a:srgbClr val="00A6A6"/>
              </a:solidFill>
            </a:ln>
          </p:spPr>
        </p:sp>
        <p:sp>
          <p:nvSpPr>
            <p:cNvPr id="64" name="TextBox 64"/>
            <p:cNvSpPr txBox="1"/>
            <p:nvPr/>
          </p:nvSpPr>
          <p:spPr>
            <a:xfrm>
              <a:off x="756666" y="5954078"/>
              <a:ext cx="118899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4. Sağlıklı ölçüm</a:t>
              </a:r>
            </a:p>
          </p:txBody>
        </p:sp>
        <p:sp>
          <p:nvSpPr>
            <p:cNvPr id="65" name="TextBox 65"/>
            <p:cNvSpPr txBox="1"/>
            <p:nvPr/>
          </p:nvSpPr>
          <p:spPr>
            <a:xfrm>
              <a:off x="3137916" y="5954078"/>
              <a:ext cx="107565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(23.8°C, true)</a:t>
              </a:r>
            </a:p>
          </p:txBody>
        </p:sp>
        <p:sp>
          <p:nvSpPr>
            <p:cNvPr id="66" name="TextBox 66"/>
            <p:cNvSpPr txBox="1"/>
            <p:nvPr/>
          </p:nvSpPr>
          <p:spPr>
            <a:xfrm>
              <a:off x="4757166" y="5954078"/>
              <a:ext cx="79516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kabul: true</a:t>
              </a:r>
            </a:p>
          </p:txBody>
        </p:sp>
        <p:sp>
          <p:nvSpPr>
            <p:cNvPr id="67" name="TextBox 67"/>
            <p:cNvSpPr txBox="1"/>
            <p:nvPr/>
          </p:nvSpPr>
          <p:spPr>
            <a:xfrm>
              <a:off x="7233666" y="5954078"/>
              <a:ext cx="2484311" cy="205359"/>
            </a:xfrm>
            <a:prstGeom prst="rect">
              <a:avLst/>
            </a:prstGeom>
            <a:noFill/>
            <a:ln>
              <a:noFill/>
            </a:ln>
          </p:spPr>
          <p:txBody>
            <a:bodyPr wrap="none" lIns="0" tIns="0" rIns="0" bIns="0" anchor="t" anchorCtr="0">
              <a:spAutoFit/>
            </a:bodyPr>
            <a:lstStyle/>
            <a:p>
              <a:pPr algn="l"/>
              <a:r>
                <a:rPr lang="tr-TR" sz="1050" dirty="0">
                  <a:solidFill>
                    <a:srgbClr val="12355B"/>
                  </a:solidFill>
                  <a:latin typeface="+mn-lt"/>
                  <a:ea typeface="+mn-ea"/>
                  <a:cs typeface="+mn-cs"/>
                </a:rPr>
                <a:t>kabul: true — "telemetri kaydedildi"</a:t>
              </a:r>
            </a:p>
          </p:txBody>
        </p:sp>
      </p:grpSp>
      <p:sp>
        <p:nvSpPr>
          <p:cNvPr id="69" name="TextBox 6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24</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402909" cy="668845"/>
            <a:chOff x="609600" y="171450"/>
            <a:chExt cx="7402909"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671253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16.7: uçtan uca mini uygulama</a:t>
              </a:r>
            </a:p>
          </p:txBody>
        </p:sp>
      </p:grpSp>
      <p:grpSp>
        <p:nvGrpSpPr>
          <p:cNvPr id="13" name="goal-line"/>
          <p:cNvGrpSpPr/>
          <p:nvPr/>
        </p:nvGrpSpPr>
        <p:grpSpPr>
          <a:xfrm>
            <a:off x="603123" y="1176814"/>
            <a:ext cx="10511383" cy="249364"/>
            <a:chOff x="603123" y="1176814"/>
            <a:chExt cx="10511383" cy="249364"/>
          </a:xfrm>
        </p:grpSpPr>
        <p:sp>
          <p:nvSpPr>
            <p:cNvPr id="12" name="TextBox 12"/>
            <p:cNvSpPr txBox="1"/>
            <p:nvPr/>
          </p:nvSpPr>
          <p:spPr>
            <a:xfrm>
              <a:off x="603123" y="1176814"/>
              <a:ext cx="10511383"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telemetriIsteginiUctanUcaIsle: cihaz kimliği doğrulaması, aralık kontrolü ve zaman serisi kaydını tek bir akışta birleştirir.</a:t>
              </a:r>
            </a:p>
          </p:txBody>
        </p:sp>
      </p:grpSp>
      <p:grpSp>
        <p:nvGrpSpPr>
          <p:cNvPr id="36" name="flow-diagram"/>
          <p:cNvGrpSpPr/>
          <p:nvPr/>
        </p:nvGrpSpPr>
        <p:grpSpPr>
          <a:xfrm>
            <a:off x="680085" y="1866900"/>
            <a:ext cx="9854565" cy="1768411"/>
            <a:chOff x="680085" y="1866900"/>
            <a:chExt cx="9854565" cy="1768411"/>
          </a:xfrm>
        </p:grpSpPr>
        <p:sp>
          <p:nvSpPr>
            <p:cNvPr id="14" name="Rectangle 14"/>
            <p:cNvSpPr/>
            <p:nvPr/>
          </p:nvSpPr>
          <p:spPr>
            <a:xfrm>
              <a:off x="685800" y="1866900"/>
              <a:ext cx="1905000" cy="762000"/>
            </a:xfrm>
            <a:prstGeom prst="roundRect">
              <a:avLst>
                <a:gd name="adj" fmla="val 10000"/>
              </a:avLst>
            </a:prstGeom>
            <a:solidFill>
              <a:srgbClr val="FFFFFF"/>
            </a:solidFill>
            <a:ln w="14288">
              <a:solidFill>
                <a:srgbClr val="2E86AB"/>
              </a:solidFill>
            </a:ln>
          </p:spPr>
        </p:sp>
        <p:sp>
          <p:nvSpPr>
            <p:cNvPr id="15" name="TextBox 15"/>
            <p:cNvSpPr txBox="1"/>
            <p:nvPr/>
          </p:nvSpPr>
          <p:spPr>
            <a:xfrm>
              <a:off x="1396335" y="2061210"/>
              <a:ext cx="483931"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İstek</a:t>
              </a:r>
            </a:p>
          </p:txBody>
        </p:sp>
        <p:sp>
          <p:nvSpPr>
            <p:cNvPr id="16" name="TextBox 16"/>
            <p:cNvSpPr txBox="1"/>
            <p:nvPr/>
          </p:nvSpPr>
          <p:spPr>
            <a:xfrm>
              <a:off x="949647" y="2295049"/>
              <a:ext cx="1377307"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cihazId, apiAnahtari,</a:t>
              </a:r>
            </a:p>
          </p:txBody>
        </p:sp>
        <p:sp>
          <p:nvSpPr>
            <p:cNvPr id="17" name="TextBox 17"/>
            <p:cNvSpPr txBox="1"/>
            <p:nvPr/>
          </p:nvSpPr>
          <p:spPr>
            <a:xfrm>
              <a:off x="1214477" y="2447449"/>
              <a:ext cx="847646"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sicaklik, nem</a:t>
              </a:r>
            </a:p>
          </p:txBody>
        </p:sp>
        <p:sp>
          <p:nvSpPr>
            <p:cNvPr id="18" name="Rectangle 18"/>
            <p:cNvSpPr/>
            <p:nvPr/>
          </p:nvSpPr>
          <p:spPr>
            <a:xfrm>
              <a:off x="3143250" y="1866900"/>
              <a:ext cx="2095500" cy="762000"/>
            </a:xfrm>
            <a:prstGeom prst="roundRect">
              <a:avLst>
                <a:gd name="adj" fmla="val 10000"/>
              </a:avLst>
            </a:prstGeom>
            <a:solidFill>
              <a:srgbClr val="12355B"/>
            </a:solidFill>
            <a:ln>
              <a:noFill/>
            </a:ln>
          </p:spPr>
        </p:sp>
        <p:sp>
          <p:nvSpPr>
            <p:cNvPr id="19" name="TextBox 19"/>
            <p:cNvSpPr txBox="1"/>
            <p:nvPr/>
          </p:nvSpPr>
          <p:spPr>
            <a:xfrm>
              <a:off x="3676477" y="2031206"/>
              <a:ext cx="1029046" cy="220028"/>
            </a:xfrm>
            <a:prstGeom prst="rect">
              <a:avLst/>
            </a:prstGeom>
            <a:noFill/>
            <a:ln>
              <a:noFill/>
            </a:ln>
          </p:spPr>
          <p:txBody>
            <a:bodyPr wrap="none" lIns="0" tIns="0" rIns="0" bIns="0" anchor="t" anchorCtr="0">
              <a:spAutoFit/>
            </a:bodyPr>
            <a:lstStyle/>
            <a:p>
              <a:pPr algn="ctr"/>
              <a:r>
                <a:rPr lang="tr-TR" sz="1120" b="1" dirty="0">
                  <a:solidFill>
                    <a:srgbClr val="FFFFFF"/>
                  </a:solidFill>
                  <a:latin typeface="+mn-lt"/>
                  <a:ea typeface="+mn-ea"/>
                  <a:cs typeface="+mn-cs"/>
                </a:rPr>
                <a:t>cihaziDogrula</a:t>
              </a:r>
            </a:p>
          </p:txBody>
        </p:sp>
        <p:sp>
          <p:nvSpPr>
            <p:cNvPr id="20" name="TextBox 20"/>
            <p:cNvSpPr txBox="1"/>
            <p:nvPr/>
          </p:nvSpPr>
          <p:spPr>
            <a:xfrm>
              <a:off x="3674828" y="2256949"/>
              <a:ext cx="1032345" cy="190690"/>
            </a:xfrm>
            <a:prstGeom prst="rect">
              <a:avLst/>
            </a:prstGeom>
            <a:noFill/>
            <a:ln>
              <a:noFill/>
            </a:ln>
          </p:spPr>
          <p:txBody>
            <a:bodyPr wrap="none" lIns="0" tIns="0" rIns="0" bIns="0" anchor="t" anchorCtr="0">
              <a:spAutoFit/>
            </a:bodyPr>
            <a:lstStyle/>
            <a:p>
              <a:pPr algn="ctr"/>
              <a:r>
                <a:rPr lang="tr-TR" sz="980" dirty="0">
                  <a:solidFill>
                    <a:srgbClr val="EAF4F6"/>
                  </a:solidFill>
                  <a:latin typeface="+mn-lt"/>
                  <a:ea typeface="+mn-ea"/>
                  <a:cs typeface="+mn-cs"/>
                </a:rPr>
                <a:t>try/catch → 401</a:t>
              </a:r>
            </a:p>
          </p:txBody>
        </p:sp>
        <p:sp>
          <p:nvSpPr>
            <p:cNvPr id="21" name="TextBox 21"/>
            <p:cNvSpPr txBox="1"/>
            <p:nvPr/>
          </p:nvSpPr>
          <p:spPr>
            <a:xfrm>
              <a:off x="3609842" y="2428399"/>
              <a:ext cx="1162317" cy="190690"/>
            </a:xfrm>
            <a:prstGeom prst="rect">
              <a:avLst/>
            </a:prstGeom>
            <a:noFill/>
            <a:ln>
              <a:noFill/>
            </a:ln>
          </p:spPr>
          <p:txBody>
            <a:bodyPr wrap="none" lIns="0" tIns="0" rIns="0" bIns="0" anchor="t" anchorCtr="0">
              <a:spAutoFit/>
            </a:bodyPr>
            <a:lstStyle/>
            <a:p>
              <a:pPr algn="ctr"/>
              <a:r>
                <a:rPr lang="tr-TR" sz="980" dirty="0">
                  <a:solidFill>
                    <a:srgbClr val="B8CBD3"/>
                  </a:solidFill>
                  <a:latin typeface="+mn-lt"/>
                  <a:ea typeface="+mn-ea"/>
                  <a:cs typeface="+mn-cs"/>
                </a:rPr>
                <a:t>durumKodu, mesaj</a:t>
              </a:r>
            </a:p>
          </p:txBody>
        </p:sp>
        <p:sp>
          <p:nvSpPr>
            <p:cNvPr id="22" name="Rectangle 22"/>
            <p:cNvSpPr/>
            <p:nvPr/>
          </p:nvSpPr>
          <p:spPr>
            <a:xfrm>
              <a:off x="5791200" y="1866900"/>
              <a:ext cx="2095500" cy="762000"/>
            </a:xfrm>
            <a:prstGeom prst="roundRect">
              <a:avLst>
                <a:gd name="adj" fmla="val 10000"/>
              </a:avLst>
            </a:prstGeom>
            <a:solidFill>
              <a:srgbClr val="12355B"/>
            </a:solidFill>
            <a:ln>
              <a:noFill/>
            </a:ln>
          </p:spPr>
        </p:sp>
        <p:sp>
          <p:nvSpPr>
            <p:cNvPr id="23" name="TextBox 23"/>
            <p:cNvSpPr txBox="1"/>
            <p:nvPr/>
          </p:nvSpPr>
          <p:spPr>
            <a:xfrm>
              <a:off x="6237160" y="2031206"/>
              <a:ext cx="1203579" cy="220028"/>
            </a:xfrm>
            <a:prstGeom prst="rect">
              <a:avLst/>
            </a:prstGeom>
            <a:noFill/>
            <a:ln>
              <a:noFill/>
            </a:ln>
          </p:spPr>
          <p:txBody>
            <a:bodyPr wrap="none" lIns="0" tIns="0" rIns="0" bIns="0" anchor="t" anchorCtr="0">
              <a:spAutoFit/>
            </a:bodyPr>
            <a:lstStyle/>
            <a:p>
              <a:pPr algn="ctr"/>
              <a:r>
                <a:rPr lang="tr-TR" sz="1120" b="1" dirty="0">
                  <a:solidFill>
                    <a:srgbClr val="FFFFFF"/>
                  </a:solidFill>
                  <a:latin typeface="+mn-lt"/>
                  <a:ea typeface="+mn-ea"/>
                  <a:cs typeface="+mn-cs"/>
                </a:rPr>
                <a:t>Aralık kontrolü</a:t>
              </a:r>
            </a:p>
          </p:txBody>
        </p:sp>
        <p:sp>
          <p:nvSpPr>
            <p:cNvPr id="24" name="TextBox 24"/>
            <p:cNvSpPr txBox="1"/>
            <p:nvPr/>
          </p:nvSpPr>
          <p:spPr>
            <a:xfrm>
              <a:off x="5952322" y="2256949"/>
              <a:ext cx="1773255" cy="190690"/>
            </a:xfrm>
            <a:prstGeom prst="rect">
              <a:avLst/>
            </a:prstGeom>
            <a:noFill/>
            <a:ln>
              <a:noFill/>
            </a:ln>
          </p:spPr>
          <p:txBody>
            <a:bodyPr wrap="none" lIns="0" tIns="0" rIns="0" bIns="0" anchor="t" anchorCtr="0">
              <a:spAutoFit/>
            </a:bodyPr>
            <a:lstStyle/>
            <a:p>
              <a:pPr algn="ctr"/>
              <a:r>
                <a:rPr lang="tr-TR" sz="980" dirty="0">
                  <a:solidFill>
                    <a:srgbClr val="EAF4F6"/>
                  </a:solidFill>
                  <a:latin typeface="+mn-lt"/>
                  <a:ea typeface="+mn-ea"/>
                  <a:cs typeface="+mn-cs"/>
                </a:rPr>
                <a:t>-40..85°C, 0..100% → 400</a:t>
              </a:r>
            </a:p>
          </p:txBody>
        </p:sp>
        <p:sp>
          <p:nvSpPr>
            <p:cNvPr id="25" name="TextBox 25"/>
            <p:cNvSpPr txBox="1"/>
            <p:nvPr/>
          </p:nvSpPr>
          <p:spPr>
            <a:xfrm>
              <a:off x="5956678" y="2428399"/>
              <a:ext cx="1764543" cy="190690"/>
            </a:xfrm>
            <a:prstGeom prst="rect">
              <a:avLst/>
            </a:prstGeom>
            <a:noFill/>
            <a:ln>
              <a:noFill/>
            </a:ln>
          </p:spPr>
          <p:txBody>
            <a:bodyPr wrap="none" lIns="0" tIns="0" rIns="0" bIns="0" anchor="t" anchorCtr="0">
              <a:spAutoFit/>
            </a:bodyPr>
            <a:lstStyle/>
            <a:p>
              <a:pPr algn="ctr"/>
              <a:r>
                <a:rPr lang="tr-TR" sz="980" dirty="0">
                  <a:solidFill>
                    <a:srgbClr val="B8CBD3"/>
                  </a:solidFill>
                  <a:latin typeface="+mn-lt"/>
                  <a:ea typeface="+mn-ea"/>
                  <a:cs typeface="+mn-cs"/>
                </a:rPr>
                <a:t>cihaz doğrulandıktan sonra</a:t>
              </a:r>
            </a:p>
          </p:txBody>
        </p:sp>
        <p:sp>
          <p:nvSpPr>
            <p:cNvPr id="26" name="Rectangle 26"/>
            <p:cNvSpPr/>
            <p:nvPr/>
          </p:nvSpPr>
          <p:spPr>
            <a:xfrm>
              <a:off x="8439150" y="1866900"/>
              <a:ext cx="2095500" cy="762000"/>
            </a:xfrm>
            <a:prstGeom prst="roundRect">
              <a:avLst>
                <a:gd name="adj" fmla="val 10000"/>
              </a:avLst>
            </a:prstGeom>
            <a:solidFill>
              <a:srgbClr val="EAF4F6"/>
            </a:solidFill>
            <a:ln w="14288">
              <a:solidFill>
                <a:srgbClr val="00A6A6"/>
              </a:solidFill>
            </a:ln>
          </p:spPr>
        </p:sp>
        <p:sp>
          <p:nvSpPr>
            <p:cNvPr id="27" name="TextBox 27"/>
            <p:cNvSpPr txBox="1"/>
            <p:nvPr/>
          </p:nvSpPr>
          <p:spPr>
            <a:xfrm>
              <a:off x="9036893" y="2031206"/>
              <a:ext cx="900015" cy="220028"/>
            </a:xfrm>
            <a:prstGeom prst="rect">
              <a:avLst/>
            </a:prstGeom>
            <a:noFill/>
            <a:ln>
              <a:noFill/>
            </a:ln>
          </p:spPr>
          <p:txBody>
            <a:bodyPr wrap="none" lIns="0" tIns="0" rIns="0" bIns="0" anchor="t" anchorCtr="0">
              <a:spAutoFit/>
            </a:bodyPr>
            <a:lstStyle/>
            <a:p>
              <a:pPr algn="ctr"/>
              <a:r>
                <a:rPr lang="tr-TR" sz="1120" b="1" dirty="0">
                  <a:solidFill>
                    <a:srgbClr val="12355B"/>
                  </a:solidFill>
                  <a:latin typeface="+mn-lt"/>
                  <a:ea typeface="+mn-ea"/>
                  <a:cs typeface="+mn-cs"/>
                </a:rPr>
                <a:t>Kayıt + 201</a:t>
              </a:r>
            </a:p>
          </p:txBody>
        </p:sp>
        <p:sp>
          <p:nvSpPr>
            <p:cNvPr id="28" name="TextBox 28"/>
            <p:cNvSpPr txBox="1"/>
            <p:nvPr/>
          </p:nvSpPr>
          <p:spPr>
            <a:xfrm>
              <a:off x="8814841" y="2256949"/>
              <a:ext cx="1344117" cy="190690"/>
            </a:xfrm>
            <a:prstGeom prst="rect">
              <a:avLst/>
            </a:prstGeom>
            <a:noFill/>
            <a:ln>
              <a:noFill/>
            </a:ln>
          </p:spPr>
          <p:txBody>
            <a:bodyPr wrap="none" lIns="0" tIns="0" rIns="0" bIns="0" anchor="t" anchorCtr="0">
              <a:spAutoFit/>
            </a:bodyPr>
            <a:lstStyle/>
            <a:p>
              <a:pPr algn="ctr"/>
              <a:r>
                <a:rPr lang="tr-TR" sz="980" dirty="0">
                  <a:solidFill>
                    <a:srgbClr val="172B3A"/>
                  </a:solidFill>
                  <a:latin typeface="+mn-lt"/>
                  <a:ea typeface="+mn-ea"/>
                  <a:cs typeface="+mn-cs"/>
                </a:rPr>
                <a:t>sunucuZamanDamgasi</a:t>
              </a:r>
            </a:p>
          </p:txBody>
        </p:sp>
        <p:sp>
          <p:nvSpPr>
            <p:cNvPr id="29" name="TextBox 29"/>
            <p:cNvSpPr txBox="1"/>
            <p:nvPr/>
          </p:nvSpPr>
          <p:spPr>
            <a:xfrm>
              <a:off x="8710171" y="2428399"/>
              <a:ext cx="1553459"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ile veritabanına yazılır</a:t>
              </a:r>
            </a:p>
          </p:txBody>
        </p:sp>
        <p:sp>
          <p:nvSpPr>
            <p:cNvPr id="30" name="Line 30"/>
            <p:cNvSpPr/>
            <p:nvPr/>
          </p:nvSpPr>
          <p:spPr>
            <a:xfrm>
              <a:off x="2590800" y="2247900"/>
              <a:ext cx="514350" cy="1"/>
            </a:xfrm>
            <a:prstGeom prst="line">
              <a:avLst/>
            </a:prstGeom>
            <a:noFill/>
            <a:ln w="23812">
              <a:solidFill>
                <a:srgbClr val="00A6A6"/>
              </a:solidFill>
              <a:tailEnd type="arrow" w="lg" len="lg"/>
            </a:ln>
          </p:spPr>
        </p:sp>
        <p:sp>
          <p:nvSpPr>
            <p:cNvPr id="31" name="Line 31"/>
            <p:cNvSpPr/>
            <p:nvPr/>
          </p:nvSpPr>
          <p:spPr>
            <a:xfrm>
              <a:off x="5238750" y="2247900"/>
              <a:ext cx="514350" cy="1"/>
            </a:xfrm>
            <a:prstGeom prst="line">
              <a:avLst/>
            </a:prstGeom>
            <a:noFill/>
            <a:ln w="23812">
              <a:solidFill>
                <a:srgbClr val="00A6A6"/>
              </a:solidFill>
              <a:tailEnd type="arrow" w="lg" len="lg"/>
            </a:ln>
          </p:spPr>
        </p:sp>
        <p:sp>
          <p:nvSpPr>
            <p:cNvPr id="32" name="Line 32"/>
            <p:cNvSpPr/>
            <p:nvPr/>
          </p:nvSpPr>
          <p:spPr>
            <a:xfrm>
              <a:off x="7886700" y="2247900"/>
              <a:ext cx="514350" cy="1"/>
            </a:xfrm>
            <a:prstGeom prst="line">
              <a:avLst/>
            </a:prstGeom>
            <a:noFill/>
            <a:ln w="23812">
              <a:solidFill>
                <a:srgbClr val="00A6A6"/>
              </a:solidFill>
              <a:tailEnd type="arrow" w="lg" len="lg"/>
            </a:ln>
          </p:spPr>
        </p:sp>
        <p:sp>
          <p:nvSpPr>
            <p:cNvPr id="33" name="TextBox 33"/>
            <p:cNvSpPr txBox="1"/>
            <p:nvPr/>
          </p:nvSpPr>
          <p:spPr>
            <a:xfrm>
              <a:off x="680085" y="2888456"/>
              <a:ext cx="5306950" cy="220028"/>
            </a:xfrm>
            <a:prstGeom prst="rect">
              <a:avLst/>
            </a:prstGeom>
            <a:noFill/>
            <a:ln>
              <a:noFill/>
            </a:ln>
          </p:spPr>
          <p:txBody>
            <a:bodyPr wrap="none" lIns="0" tIns="0" rIns="0" bIns="0" anchor="t" anchorCtr="0">
              <a:spAutoFit/>
            </a:bodyPr>
            <a:lstStyle/>
            <a:p>
              <a:pPr algn="l"/>
              <a:r>
                <a:rPr lang="tr-TR" sz="1120" i="1" dirty="0">
                  <a:solidFill>
                    <a:srgbClr val="52616B"/>
                  </a:solidFill>
                  <a:latin typeface="+mn-lt"/>
                  <a:ea typeface="+mn-ea"/>
                  <a:cs typeface="+mn-cs"/>
                </a:rPr>
                <a:t>Hata her adımda tutarlı bir { durumKodu, mesaj } sözleşmesiyle döner —</a:t>
              </a:r>
            </a:p>
          </p:txBody>
        </p:sp>
        <p:sp>
          <p:nvSpPr>
            <p:cNvPr id="34" name="TextBox 34"/>
            <p:cNvSpPr txBox="1"/>
            <p:nvPr/>
          </p:nvSpPr>
          <p:spPr>
            <a:xfrm>
              <a:off x="680085" y="3117056"/>
              <a:ext cx="6236290" cy="220028"/>
            </a:xfrm>
            <a:prstGeom prst="rect">
              <a:avLst/>
            </a:prstGeom>
            <a:noFill/>
            <a:ln>
              <a:noFill/>
            </a:ln>
          </p:spPr>
          <p:txBody>
            <a:bodyPr wrap="none" lIns="0" tIns="0" rIns="0" bIns="0" anchor="t" anchorCtr="0">
              <a:spAutoFit/>
            </a:bodyPr>
            <a:lstStyle/>
            <a:p>
              <a:pPr algn="l"/>
              <a:r>
                <a:rPr lang="tr-TR" sz="1120" i="1" dirty="0">
                  <a:solidFill>
                    <a:srgbClr val="52616B"/>
                  </a:solidFill>
                  <a:latin typeface="+mn-lt"/>
                  <a:ea typeface="+mn-ea"/>
                  <a:cs typeface="+mn-cs"/>
                </a:rPr>
                <a:t>çağıran kod (örn. Express route handler) try/catch yazmadan tek tip yanıt üretir.</a:t>
              </a:r>
            </a:p>
          </p:txBody>
        </p:sp>
        <p:sp>
          <p:nvSpPr>
            <p:cNvPr id="35" name="TextBox 35"/>
            <p:cNvSpPr txBox="1"/>
            <p:nvPr/>
          </p:nvSpPr>
          <p:spPr>
            <a:xfrm>
              <a:off x="680466" y="3429952"/>
              <a:ext cx="7391955"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Örnek çıktı: 201 "Telemetri kaydedildi." (geçerli anahtar) · 401 "Cihaz doğrulanamadı." (yanlış anahtar)</a:t>
              </a:r>
            </a:p>
          </p:txBody>
        </p:sp>
      </p:grpSp>
      <p:grpSp>
        <p:nvGrpSpPr>
          <p:cNvPr id="46" name="extend-panel"/>
          <p:cNvGrpSpPr/>
          <p:nvPr/>
        </p:nvGrpSpPr>
        <p:grpSpPr>
          <a:xfrm>
            <a:off x="609600" y="4038600"/>
            <a:ext cx="10972800" cy="2000250"/>
            <a:chOff x="609600" y="4038600"/>
            <a:chExt cx="10972800" cy="2000250"/>
          </a:xfrm>
        </p:grpSpPr>
        <p:sp>
          <p:nvSpPr>
            <p:cNvPr id="37" name="Rectangle 37"/>
            <p:cNvSpPr/>
            <p:nvPr/>
          </p:nvSpPr>
          <p:spPr>
            <a:xfrm>
              <a:off x="609600" y="4038600"/>
              <a:ext cx="10972800" cy="2000250"/>
            </a:xfrm>
            <a:prstGeom prst="roundRect">
              <a:avLst>
                <a:gd name="adj" fmla="val 4762"/>
              </a:avLst>
            </a:prstGeom>
            <a:solidFill>
              <a:srgbClr val="FFFFFF"/>
            </a:solidFill>
            <a:ln w="9525">
              <a:solidFill>
                <a:srgbClr val="B8CBD3"/>
              </a:solidFill>
            </a:ln>
          </p:spPr>
        </p:sp>
        <p:sp>
          <p:nvSpPr>
            <p:cNvPr id="38" name="Rectangle 38"/>
            <p:cNvSpPr/>
            <p:nvPr/>
          </p:nvSpPr>
          <p:spPr>
            <a:xfrm>
              <a:off x="609600" y="4038600"/>
              <a:ext cx="57150" cy="2000250"/>
            </a:xfrm>
            <a:prstGeom prst="rect">
              <a:avLst/>
            </a:prstGeom>
            <a:solidFill>
              <a:srgbClr val="00A6A6"/>
            </a:solidFill>
            <a:ln>
              <a:noFill/>
            </a:ln>
          </p:spPr>
        </p:sp>
        <p:sp>
          <p:nvSpPr>
            <p:cNvPr id="39" name="TextBox 39"/>
            <p:cNvSpPr txBox="1"/>
            <p:nvPr/>
          </p:nvSpPr>
          <p:spPr>
            <a:xfrm>
              <a:off x="907161" y="4189571"/>
              <a:ext cx="2188372"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Bu programı geliştirin</a:t>
              </a:r>
            </a:p>
          </p:txBody>
        </p:sp>
        <p:sp>
          <p:nvSpPr>
            <p:cNvPr id="40" name="TextBox 40"/>
            <p:cNvSpPr txBox="1"/>
            <p:nvPr/>
          </p:nvSpPr>
          <p:spPr>
            <a:xfrm>
              <a:off x="908304" y="4499610"/>
              <a:ext cx="574451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1. Aynı cihazdan bir dakika içinde ikinci istekte 429 döndüren cihaz-bazlı</a:t>
              </a:r>
            </a:p>
          </p:txBody>
        </p:sp>
        <p:sp>
          <p:nvSpPr>
            <p:cNvPr id="41" name="TextBox 41"/>
            <p:cNvSpPr txBox="1"/>
            <p:nvPr/>
          </p:nvSpPr>
          <p:spPr>
            <a:xfrm>
              <a:off x="908304" y="4709160"/>
              <a:ext cx="468454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rate limiting ekleyin (Bölüm 11, SabitPencereRateLimiter).</a:t>
              </a:r>
            </a:p>
          </p:txBody>
        </p:sp>
        <p:sp>
          <p:nvSpPr>
            <p:cNvPr id="42" name="TextBox 42"/>
            <p:cNvSpPr txBox="1"/>
            <p:nvPr/>
          </p:nvSpPr>
          <p:spPr>
            <a:xfrm>
              <a:off x="908304" y="4975860"/>
              <a:ext cx="575269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2. cihaziDogrula'yı, art arda 5 başarısız denemeden sonra cihazı geçici</a:t>
              </a:r>
            </a:p>
          </p:txBody>
        </p:sp>
        <p:sp>
          <p:nvSpPr>
            <p:cNvPr id="43" name="TextBox 43"/>
            <p:cNvSpPr txBox="1"/>
            <p:nvPr/>
          </p:nvSpPr>
          <p:spPr>
            <a:xfrm>
              <a:off x="908304" y="5185410"/>
              <a:ext cx="368731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kilitleyen bir sayaç mekanizmasıyla genişletin.</a:t>
              </a:r>
            </a:p>
          </p:txBody>
        </p:sp>
        <p:sp>
          <p:nvSpPr>
            <p:cNvPr id="44" name="TextBox 44"/>
            <p:cNvSpPr txBox="1"/>
            <p:nvPr/>
          </p:nvSpPr>
          <p:spPr>
            <a:xfrm>
              <a:off x="908304" y="5452110"/>
              <a:ext cx="592306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3. KaydedilenOlcum'a cihazın kendi zaman damgasını (cihazZamanDamgasi)</a:t>
              </a:r>
            </a:p>
          </p:txBody>
        </p:sp>
        <p:sp>
          <p:nvSpPr>
            <p:cNvPr id="45" name="TextBox 45"/>
            <p:cNvSpPr txBox="1"/>
            <p:nvPr/>
          </p:nvSpPr>
          <p:spPr>
            <a:xfrm>
              <a:off x="908304" y="5661660"/>
              <a:ext cx="519775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ekleyip sunucu zaman damgasıyla karşılaştıran bir uyarı ekleyin.</a:t>
              </a:r>
            </a:p>
          </p:txBody>
        </p:sp>
      </p:grpSp>
      <p:sp>
        <p:nvSpPr>
          <p:cNvPr id="47" name="TextBox 4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24</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151461" cy="557403"/>
            <a:chOff x="595122" y="282892"/>
            <a:chExt cx="7151461" cy="557403"/>
          </a:xfrm>
        </p:grpSpPr>
        <p:sp>
          <p:nvSpPr>
            <p:cNvPr id="4" name="TextBox 4"/>
            <p:cNvSpPr txBox="1"/>
            <p:nvPr/>
          </p:nvSpPr>
          <p:spPr>
            <a:xfrm>
              <a:off x="595122" y="282892"/>
              <a:ext cx="715146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İletişim yollarının karşılaştırması</a:t>
              </a:r>
            </a:p>
          </p:txBody>
        </p:sp>
      </p:grpSp>
      <p:grpSp>
        <p:nvGrpSpPr>
          <p:cNvPr id="11" name="table-header"/>
          <p:cNvGrpSpPr/>
          <p:nvPr/>
        </p:nvGrpSpPr>
        <p:grpSpPr>
          <a:xfrm>
            <a:off x="609600" y="1219200"/>
            <a:ext cx="10972800" cy="381000"/>
            <a:chOff x="609600" y="1219200"/>
            <a:chExt cx="10972800" cy="381000"/>
          </a:xfrm>
        </p:grpSpPr>
        <p:sp>
          <p:nvSpPr>
            <p:cNvPr id="6" name="Rectangle 6"/>
            <p:cNvSpPr/>
            <p:nvPr/>
          </p:nvSpPr>
          <p:spPr>
            <a:xfrm>
              <a:off x="609600" y="1219200"/>
              <a:ext cx="10972800" cy="381000"/>
            </a:xfrm>
            <a:prstGeom prst="rect">
              <a:avLst/>
            </a:prstGeom>
            <a:solidFill>
              <a:srgbClr val="12355B"/>
            </a:solidFill>
            <a:ln>
              <a:noFill/>
            </a:ln>
          </p:spPr>
        </p:sp>
        <p:sp>
          <p:nvSpPr>
            <p:cNvPr id="7" name="TextBox 7"/>
            <p:cNvSpPr txBox="1"/>
            <p:nvPr/>
          </p:nvSpPr>
          <p:spPr>
            <a:xfrm>
              <a:off x="756285" y="1345406"/>
              <a:ext cx="623915" cy="220028"/>
            </a:xfrm>
            <a:prstGeom prst="rect">
              <a:avLst/>
            </a:prstGeom>
            <a:noFill/>
            <a:ln>
              <a:noFill/>
            </a:ln>
          </p:spPr>
          <p:txBody>
            <a:bodyPr wrap="none" lIns="0" tIns="0" rIns="0" bIns="0" anchor="t" anchorCtr="0">
              <a:spAutoFit/>
            </a:bodyPr>
            <a:lstStyle/>
            <a:p>
              <a:pPr algn="l"/>
              <a:r>
                <a:rPr lang="tr-TR" sz="1120" b="1" spc="38" dirty="0">
                  <a:solidFill>
                    <a:srgbClr val="FFFFFF"/>
                  </a:solidFill>
                  <a:latin typeface="+mn-lt"/>
                  <a:ea typeface="+mn-ea"/>
                  <a:cs typeface="+mn-cs"/>
                </a:rPr>
                <a:t>YÖNTEM</a:t>
              </a:r>
            </a:p>
          </p:txBody>
        </p:sp>
        <p:sp>
          <p:nvSpPr>
            <p:cNvPr id="8" name="TextBox 8"/>
            <p:cNvSpPr txBox="1"/>
            <p:nvPr/>
          </p:nvSpPr>
          <p:spPr>
            <a:xfrm>
              <a:off x="3137535" y="1345406"/>
              <a:ext cx="1525660" cy="220028"/>
            </a:xfrm>
            <a:prstGeom prst="rect">
              <a:avLst/>
            </a:prstGeom>
            <a:noFill/>
            <a:ln>
              <a:noFill/>
            </a:ln>
          </p:spPr>
          <p:txBody>
            <a:bodyPr wrap="none" lIns="0" tIns="0" rIns="0" bIns="0" anchor="t" anchorCtr="0">
              <a:spAutoFit/>
            </a:bodyPr>
            <a:lstStyle/>
            <a:p>
              <a:pPr algn="l"/>
              <a:r>
                <a:rPr lang="tr-TR" sz="1120" b="1" spc="38" dirty="0">
                  <a:solidFill>
                    <a:srgbClr val="FFFFFF"/>
                  </a:solidFill>
                  <a:latin typeface="+mn-lt"/>
                  <a:ea typeface="+mn-ea"/>
                  <a:cs typeface="+mn-cs"/>
                </a:rPr>
                <a:t>İLETİŞİM MODELİ</a:t>
              </a:r>
            </a:p>
          </p:txBody>
        </p:sp>
        <p:sp>
          <p:nvSpPr>
            <p:cNvPr id="9" name="TextBox 9"/>
            <p:cNvSpPr txBox="1"/>
            <p:nvPr/>
          </p:nvSpPr>
          <p:spPr>
            <a:xfrm>
              <a:off x="6185535" y="1345406"/>
              <a:ext cx="896447" cy="220028"/>
            </a:xfrm>
            <a:prstGeom prst="rect">
              <a:avLst/>
            </a:prstGeom>
            <a:noFill/>
            <a:ln>
              <a:noFill/>
            </a:ln>
          </p:spPr>
          <p:txBody>
            <a:bodyPr wrap="none" lIns="0" tIns="0" rIns="0" bIns="0" anchor="t" anchorCtr="0">
              <a:spAutoFit/>
            </a:bodyPr>
            <a:lstStyle/>
            <a:p>
              <a:pPr algn="l"/>
              <a:r>
                <a:rPr lang="tr-TR" sz="1120" b="1" spc="38" dirty="0">
                  <a:solidFill>
                    <a:srgbClr val="FFFFFF"/>
                  </a:solidFill>
                  <a:latin typeface="+mn-lt"/>
                  <a:ea typeface="+mn-ea"/>
                  <a:cs typeface="+mn-cs"/>
                </a:rPr>
                <a:t>GÜÇLÜ YANI</a:t>
              </a:r>
            </a:p>
          </p:txBody>
        </p:sp>
        <p:sp>
          <p:nvSpPr>
            <p:cNvPr id="10" name="TextBox 10"/>
            <p:cNvSpPr txBox="1"/>
            <p:nvPr/>
          </p:nvSpPr>
          <p:spPr>
            <a:xfrm>
              <a:off x="8852535" y="1345406"/>
              <a:ext cx="2056955" cy="220028"/>
            </a:xfrm>
            <a:prstGeom prst="rect">
              <a:avLst/>
            </a:prstGeom>
            <a:noFill/>
            <a:ln>
              <a:noFill/>
            </a:ln>
          </p:spPr>
          <p:txBody>
            <a:bodyPr wrap="none" lIns="0" tIns="0" rIns="0" bIns="0" anchor="t" anchorCtr="0">
              <a:spAutoFit/>
            </a:bodyPr>
            <a:lstStyle/>
            <a:p>
              <a:pPr algn="l"/>
              <a:r>
                <a:rPr lang="tr-TR" sz="1120" b="1" spc="38" dirty="0">
                  <a:solidFill>
                    <a:srgbClr val="FFFFFF"/>
                  </a:solidFill>
                  <a:latin typeface="+mn-lt"/>
                  <a:ea typeface="+mn-ea"/>
                  <a:cs typeface="+mn-cs"/>
                </a:rPr>
                <a:t>NE ZAMAN TERCİH EDİLİR</a:t>
              </a:r>
            </a:p>
          </p:txBody>
        </p:sp>
      </p:grpSp>
      <p:grpSp>
        <p:nvGrpSpPr>
          <p:cNvPr id="21" name="row-http"/>
          <p:cNvGrpSpPr/>
          <p:nvPr/>
        </p:nvGrpSpPr>
        <p:grpSpPr>
          <a:xfrm>
            <a:off x="609600" y="1600200"/>
            <a:ext cx="10972800" cy="1028700"/>
            <a:chOff x="609600" y="1600200"/>
            <a:chExt cx="10972800" cy="1028700"/>
          </a:xfrm>
        </p:grpSpPr>
        <p:sp>
          <p:nvSpPr>
            <p:cNvPr id="12" name="Rectangle 12"/>
            <p:cNvSpPr/>
            <p:nvPr/>
          </p:nvSpPr>
          <p:spPr>
            <a:xfrm>
              <a:off x="609600" y="1600200"/>
              <a:ext cx="10972800" cy="1028700"/>
            </a:xfrm>
            <a:prstGeom prst="rect">
              <a:avLst/>
            </a:prstGeom>
            <a:solidFill>
              <a:srgbClr val="FFFFFF"/>
            </a:solidFill>
            <a:ln>
              <a:noFill/>
            </a:ln>
          </p:spPr>
        </p:sp>
        <p:sp>
          <p:nvSpPr>
            <p:cNvPr id="13" name="TextBox 13"/>
            <p:cNvSpPr txBox="1"/>
            <p:nvPr/>
          </p:nvSpPr>
          <p:spPr>
            <a:xfrm>
              <a:off x="755142" y="1759268"/>
              <a:ext cx="117306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HTTP / JSON</a:t>
              </a:r>
            </a:p>
          </p:txBody>
        </p:sp>
        <p:sp>
          <p:nvSpPr>
            <p:cNvPr id="14" name="TextBox 14"/>
            <p:cNvSpPr txBox="1"/>
            <p:nvPr/>
          </p:nvSpPr>
          <p:spPr>
            <a:xfrm>
              <a:off x="756666" y="2001202"/>
              <a:ext cx="1613253"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İstek-yanıt (senkron)</a:t>
              </a:r>
            </a:p>
          </p:txBody>
        </p:sp>
        <p:sp>
          <p:nvSpPr>
            <p:cNvPr id="15" name="TextBox 15"/>
            <p:cNvSpPr txBox="1"/>
            <p:nvPr/>
          </p:nvSpPr>
          <p:spPr>
            <a:xfrm>
              <a:off x="3137535" y="1783556"/>
              <a:ext cx="184852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Basit, ölçüm başına ayrı</a:t>
              </a:r>
            </a:p>
          </p:txBody>
        </p:sp>
        <p:sp>
          <p:nvSpPr>
            <p:cNvPr id="16" name="TextBox 16"/>
            <p:cNvSpPr txBox="1"/>
            <p:nvPr/>
          </p:nvSpPr>
          <p:spPr>
            <a:xfrm>
              <a:off x="3137535" y="1993106"/>
              <a:ext cx="210719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bağlantı, geniş araç desteği</a:t>
              </a:r>
            </a:p>
          </p:txBody>
        </p:sp>
        <p:sp>
          <p:nvSpPr>
            <p:cNvPr id="17" name="TextBox 17"/>
            <p:cNvSpPr txBox="1"/>
            <p:nvPr/>
          </p:nvSpPr>
          <p:spPr>
            <a:xfrm>
              <a:off x="6185535" y="1783556"/>
              <a:ext cx="194609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Anlaşılırlık; hata kodları</a:t>
              </a:r>
            </a:p>
          </p:txBody>
        </p:sp>
        <p:sp>
          <p:nvSpPr>
            <p:cNvPr id="18" name="TextBox 18"/>
            <p:cNvSpPr txBox="1"/>
            <p:nvPr/>
          </p:nvSpPr>
          <p:spPr>
            <a:xfrm>
              <a:off x="6185535" y="1993106"/>
              <a:ext cx="255197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(401/403/400) doğal biçimde döner</a:t>
              </a:r>
            </a:p>
          </p:txBody>
        </p:sp>
        <p:sp>
          <p:nvSpPr>
            <p:cNvPr id="19" name="TextBox 19"/>
            <p:cNvSpPr txBox="1"/>
            <p:nvPr/>
          </p:nvSpPr>
          <p:spPr>
            <a:xfrm>
              <a:off x="8852535" y="1783556"/>
              <a:ext cx="264757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Düşük/orta sıklıkta veri gönderen,</a:t>
              </a:r>
            </a:p>
          </p:txBody>
        </p:sp>
        <p:sp>
          <p:nvSpPr>
            <p:cNvPr id="20" name="TextBox 20"/>
            <p:cNvSpPr txBox="1"/>
            <p:nvPr/>
          </p:nvSpPr>
          <p:spPr>
            <a:xfrm>
              <a:off x="8852535" y="1993106"/>
              <a:ext cx="258202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bu bölümde ele alınan sensör API'si</a:t>
              </a:r>
            </a:p>
          </p:txBody>
        </p:sp>
      </p:grpSp>
      <p:grpSp>
        <p:nvGrpSpPr>
          <p:cNvPr id="31" name="row-mqtt"/>
          <p:cNvGrpSpPr/>
          <p:nvPr/>
        </p:nvGrpSpPr>
        <p:grpSpPr>
          <a:xfrm>
            <a:off x="609600" y="2628900"/>
            <a:ext cx="10972800" cy="1028700"/>
            <a:chOff x="609600" y="2628900"/>
            <a:chExt cx="10972800" cy="1028700"/>
          </a:xfrm>
        </p:grpSpPr>
        <p:sp>
          <p:nvSpPr>
            <p:cNvPr id="22" name="Rectangle 22"/>
            <p:cNvSpPr/>
            <p:nvPr/>
          </p:nvSpPr>
          <p:spPr>
            <a:xfrm>
              <a:off x="609600" y="2628900"/>
              <a:ext cx="10972800" cy="1028700"/>
            </a:xfrm>
            <a:prstGeom prst="rect">
              <a:avLst/>
            </a:prstGeom>
            <a:solidFill>
              <a:srgbClr val="EAF4F6"/>
            </a:solidFill>
            <a:ln>
              <a:noFill/>
            </a:ln>
          </p:spPr>
        </p:sp>
        <p:sp>
          <p:nvSpPr>
            <p:cNvPr id="23" name="TextBox 23"/>
            <p:cNvSpPr txBox="1"/>
            <p:nvPr/>
          </p:nvSpPr>
          <p:spPr>
            <a:xfrm>
              <a:off x="755142" y="2787968"/>
              <a:ext cx="1545599"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MQTT (pub/sub)</a:t>
              </a:r>
            </a:p>
          </p:txBody>
        </p:sp>
        <p:sp>
          <p:nvSpPr>
            <p:cNvPr id="24" name="TextBox 24"/>
            <p:cNvSpPr txBox="1"/>
            <p:nvPr/>
          </p:nvSpPr>
          <p:spPr>
            <a:xfrm>
              <a:off x="756666" y="3029902"/>
              <a:ext cx="1612957"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Yayın/abone, asenkron</a:t>
              </a:r>
            </a:p>
          </p:txBody>
        </p:sp>
        <p:sp>
          <p:nvSpPr>
            <p:cNvPr id="25" name="TextBox 25"/>
            <p:cNvSpPr txBox="1"/>
            <p:nvPr/>
          </p:nvSpPr>
          <p:spPr>
            <a:xfrm>
              <a:off x="3137535" y="2812256"/>
              <a:ext cx="197293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Minimal başlık yükü, QoS 1</a:t>
              </a:r>
            </a:p>
          </p:txBody>
        </p:sp>
        <p:sp>
          <p:nvSpPr>
            <p:cNvPr id="26" name="TextBox 26"/>
            <p:cNvSpPr txBox="1"/>
            <p:nvPr/>
          </p:nvSpPr>
          <p:spPr>
            <a:xfrm>
              <a:off x="3137535" y="3021806"/>
              <a:ext cx="139855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ile teslim garantisi</a:t>
              </a:r>
            </a:p>
          </p:txBody>
        </p:sp>
        <p:sp>
          <p:nvSpPr>
            <p:cNvPr id="27" name="TextBox 27"/>
            <p:cNvSpPr txBox="1"/>
            <p:nvPr/>
          </p:nvSpPr>
          <p:spPr>
            <a:xfrm>
              <a:off x="6185535" y="2812256"/>
              <a:ext cx="250423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Ağ dalgalanmasında kuyruğa alma;</a:t>
              </a:r>
            </a:p>
          </p:txBody>
        </p:sp>
        <p:sp>
          <p:nvSpPr>
            <p:cNvPr id="28" name="TextBox 28"/>
            <p:cNvSpPr txBox="1"/>
            <p:nvPr/>
          </p:nvSpPr>
          <p:spPr>
            <a:xfrm>
              <a:off x="6185535" y="3021806"/>
              <a:ext cx="274044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backend yeniden başlasa da veri kalır</a:t>
              </a:r>
            </a:p>
          </p:txBody>
        </p:sp>
        <p:sp>
          <p:nvSpPr>
            <p:cNvPr id="29" name="TextBox 29"/>
            <p:cNvSpPr txBox="1"/>
            <p:nvPr/>
          </p:nvSpPr>
          <p:spPr>
            <a:xfrm>
              <a:off x="8852535" y="2812256"/>
              <a:ext cx="236088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Yüksek sıklıkta veri üreten çok</a:t>
              </a:r>
            </a:p>
          </p:txBody>
        </p:sp>
        <p:sp>
          <p:nvSpPr>
            <p:cNvPr id="30" name="TextBox 30"/>
            <p:cNvSpPr txBox="1"/>
            <p:nvPr/>
          </p:nvSpPr>
          <p:spPr>
            <a:xfrm>
              <a:off x="8852535" y="3021806"/>
              <a:ext cx="231827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sayıda kısıtlı cihaz (lab. ağı)</a:t>
              </a:r>
            </a:p>
          </p:txBody>
        </p:sp>
      </p:grpSp>
      <p:grpSp>
        <p:nvGrpSpPr>
          <p:cNvPr id="41" name="row-ws"/>
          <p:cNvGrpSpPr/>
          <p:nvPr/>
        </p:nvGrpSpPr>
        <p:grpSpPr>
          <a:xfrm>
            <a:off x="609600" y="3657600"/>
            <a:ext cx="10972800" cy="1028700"/>
            <a:chOff x="609600" y="3657600"/>
            <a:chExt cx="10972800" cy="1028700"/>
          </a:xfrm>
        </p:grpSpPr>
        <p:sp>
          <p:nvSpPr>
            <p:cNvPr id="32" name="Rectangle 32"/>
            <p:cNvSpPr/>
            <p:nvPr/>
          </p:nvSpPr>
          <p:spPr>
            <a:xfrm>
              <a:off x="609600" y="3657600"/>
              <a:ext cx="10972800" cy="1028700"/>
            </a:xfrm>
            <a:prstGeom prst="rect">
              <a:avLst/>
            </a:prstGeom>
            <a:solidFill>
              <a:srgbClr val="FFFFFF"/>
            </a:solidFill>
            <a:ln>
              <a:noFill/>
            </a:ln>
          </p:spPr>
        </p:sp>
        <p:sp>
          <p:nvSpPr>
            <p:cNvPr id="33" name="TextBox 33"/>
            <p:cNvSpPr txBox="1"/>
            <p:nvPr/>
          </p:nvSpPr>
          <p:spPr>
            <a:xfrm>
              <a:off x="755142" y="3816668"/>
              <a:ext cx="1008820"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WebSocket</a:t>
              </a:r>
            </a:p>
          </p:txBody>
        </p:sp>
        <p:sp>
          <p:nvSpPr>
            <p:cNvPr id="34" name="TextBox 34"/>
            <p:cNvSpPr txBox="1"/>
            <p:nvPr/>
          </p:nvSpPr>
          <p:spPr>
            <a:xfrm>
              <a:off x="756666" y="4058602"/>
              <a:ext cx="1598066"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Sürekli çift yönlü kanal</a:t>
              </a:r>
            </a:p>
          </p:txBody>
        </p:sp>
        <p:sp>
          <p:nvSpPr>
            <p:cNvPr id="35" name="TextBox 35"/>
            <p:cNvSpPr txBox="1"/>
            <p:nvPr/>
          </p:nvSpPr>
          <p:spPr>
            <a:xfrm>
              <a:off x="3137535" y="3840956"/>
              <a:ext cx="156147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Düşük gecikmeli anlık</a:t>
              </a:r>
            </a:p>
          </p:txBody>
        </p:sp>
        <p:sp>
          <p:nvSpPr>
            <p:cNvPr id="36" name="TextBox 36"/>
            <p:cNvSpPr txBox="1"/>
            <p:nvPr/>
          </p:nvSpPr>
          <p:spPr>
            <a:xfrm>
              <a:off x="3137535" y="4050506"/>
              <a:ext cx="127039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(canlı) veri itimi</a:t>
              </a:r>
            </a:p>
          </p:txBody>
        </p:sp>
        <p:sp>
          <p:nvSpPr>
            <p:cNvPr id="37" name="TextBox 37"/>
            <p:cNvSpPr txBox="1"/>
            <p:nvPr/>
          </p:nvSpPr>
          <p:spPr>
            <a:xfrm>
              <a:off x="6185535" y="3840956"/>
              <a:ext cx="253411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Kullanıcı arayüzüne, veri geldikçe</a:t>
              </a:r>
            </a:p>
          </p:txBody>
        </p:sp>
        <p:sp>
          <p:nvSpPr>
            <p:cNvPr id="38" name="TextBox 38"/>
            <p:cNvSpPr txBox="1"/>
            <p:nvPr/>
          </p:nvSpPr>
          <p:spPr>
            <a:xfrm>
              <a:off x="6185535" y="4050506"/>
              <a:ext cx="219765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tekrar sorgulamadan aktarım</a:t>
              </a:r>
            </a:p>
          </p:txBody>
        </p:sp>
        <p:sp>
          <p:nvSpPr>
            <p:cNvPr id="39" name="TextBox 39"/>
            <p:cNvSpPr txBox="1"/>
            <p:nvPr/>
          </p:nvSpPr>
          <p:spPr>
            <a:xfrm>
              <a:off x="8852535" y="3840956"/>
              <a:ext cx="248140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İzleme panosu gibi insan tarafına</a:t>
              </a:r>
            </a:p>
          </p:txBody>
        </p:sp>
        <p:sp>
          <p:nvSpPr>
            <p:cNvPr id="40" name="TextBox 40"/>
            <p:cNvSpPr txBox="1"/>
            <p:nvPr/>
          </p:nvSpPr>
          <p:spPr>
            <a:xfrm>
              <a:off x="8852535" y="4050506"/>
              <a:ext cx="246151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gerçek zamanlı gösterim ihtiyacı</a:t>
              </a:r>
            </a:p>
          </p:txBody>
        </p:sp>
      </p:grpSp>
      <p:grpSp>
        <p:nvGrpSpPr>
          <p:cNvPr id="51" name="row-directdb"/>
          <p:cNvGrpSpPr/>
          <p:nvPr/>
        </p:nvGrpSpPr>
        <p:grpSpPr>
          <a:xfrm>
            <a:off x="609600" y="4686300"/>
            <a:ext cx="10972800" cy="1028700"/>
            <a:chOff x="609600" y="4686300"/>
            <a:chExt cx="10972800" cy="1028700"/>
          </a:xfrm>
        </p:grpSpPr>
        <p:sp>
          <p:nvSpPr>
            <p:cNvPr id="42" name="Rectangle 42"/>
            <p:cNvSpPr/>
            <p:nvPr/>
          </p:nvSpPr>
          <p:spPr>
            <a:xfrm>
              <a:off x="609600" y="4686300"/>
              <a:ext cx="10972800" cy="1028700"/>
            </a:xfrm>
            <a:prstGeom prst="rect">
              <a:avLst/>
            </a:prstGeom>
            <a:solidFill>
              <a:srgbClr val="EAF4F6"/>
            </a:solidFill>
            <a:ln w="14288">
              <a:solidFill>
                <a:srgbClr val="00A6A6"/>
              </a:solidFill>
            </a:ln>
          </p:spPr>
        </p:sp>
        <p:sp>
          <p:nvSpPr>
            <p:cNvPr id="43" name="TextBox 43"/>
            <p:cNvSpPr txBox="1"/>
            <p:nvPr/>
          </p:nvSpPr>
          <p:spPr>
            <a:xfrm>
              <a:off x="755142" y="4845368"/>
              <a:ext cx="264373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Doğrudan veritabanı yazımı</a:t>
              </a:r>
            </a:p>
          </p:txBody>
        </p:sp>
        <p:sp>
          <p:nvSpPr>
            <p:cNvPr id="44" name="TextBox 44"/>
            <p:cNvSpPr txBox="1"/>
            <p:nvPr/>
          </p:nvSpPr>
          <p:spPr>
            <a:xfrm>
              <a:off x="756666" y="5087302"/>
              <a:ext cx="187444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Ara katmansız (önerilmez)</a:t>
              </a:r>
            </a:p>
          </p:txBody>
        </p:sp>
        <p:sp>
          <p:nvSpPr>
            <p:cNvPr id="45" name="TextBox 45"/>
            <p:cNvSpPr txBox="1"/>
            <p:nvPr/>
          </p:nvSpPr>
          <p:spPr>
            <a:xfrm>
              <a:off x="3137535" y="4869656"/>
              <a:ext cx="173537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Görünürde en hızlı yol;</a:t>
              </a:r>
            </a:p>
          </p:txBody>
        </p:sp>
        <p:sp>
          <p:nvSpPr>
            <p:cNvPr id="46" name="TextBox 46"/>
            <p:cNvSpPr txBox="1"/>
            <p:nvPr/>
          </p:nvSpPr>
          <p:spPr>
            <a:xfrm>
              <a:off x="3137535" y="5079206"/>
              <a:ext cx="170010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doğrulama katmanı yok</a:t>
              </a:r>
            </a:p>
          </p:txBody>
        </p:sp>
        <p:sp>
          <p:nvSpPr>
            <p:cNvPr id="47" name="TextBox 47"/>
            <p:cNvSpPr txBox="1"/>
            <p:nvPr/>
          </p:nvSpPr>
          <p:spPr>
            <a:xfrm>
              <a:off x="6185535" y="4869656"/>
              <a:ext cx="236826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Cihaz kimliği, aralık kontrolü ve</a:t>
              </a:r>
            </a:p>
          </p:txBody>
        </p:sp>
        <p:sp>
          <p:nvSpPr>
            <p:cNvPr id="48" name="TextBox 48"/>
            <p:cNvSpPr txBox="1"/>
            <p:nvPr/>
          </p:nvSpPr>
          <p:spPr>
            <a:xfrm>
              <a:off x="6185535" y="5079206"/>
              <a:ext cx="213734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tamponlama tamamen atlanır</a:t>
              </a:r>
            </a:p>
          </p:txBody>
        </p:sp>
        <p:sp>
          <p:nvSpPr>
            <p:cNvPr id="49" name="TextBox 49"/>
            <p:cNvSpPr txBox="1"/>
            <p:nvPr/>
          </p:nvSpPr>
          <p:spPr>
            <a:xfrm>
              <a:off x="8852535" y="4869656"/>
              <a:ext cx="202901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Bu bölümün ele aldığı hiçbir</a:t>
              </a:r>
            </a:p>
          </p:txBody>
        </p:sp>
        <p:sp>
          <p:nvSpPr>
            <p:cNvPr id="50" name="TextBox 50"/>
            <p:cNvSpPr txBox="1"/>
            <p:nvPr/>
          </p:nvSpPr>
          <p:spPr>
            <a:xfrm>
              <a:off x="8852535" y="5079206"/>
              <a:ext cx="272536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güvenlik/bütünlük garantisini vermez</a:t>
              </a:r>
            </a:p>
          </p:txBody>
        </p:sp>
      </p:grpSp>
      <p:sp>
        <p:nvSpPr>
          <p:cNvPr id="52" name="TextBox 52"/>
          <p:cNvSpPr txBox="1"/>
          <p:nvPr/>
        </p:nvSpPr>
        <p:spPr>
          <a:xfrm>
            <a:off x="603504" y="5966460"/>
            <a:ext cx="861485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Bu bölümde HTTP/JSON sensör API'si ile ilerlenmiş; MQTT/WebSocket köprüsü ölçek gerektiğinde eklenmiştir.</a:t>
            </a:r>
          </a:p>
        </p:txBody>
      </p:sp>
      <p:sp>
        <p:nvSpPr>
          <p:cNvPr id="53" name="TextBox 5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24</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527853" cy="668845"/>
            <a:chOff x="609600" y="171450"/>
            <a:chExt cx="852785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83748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ve anti-pattern'lar</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37513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MİMARİ ÇÖZÜM</a:t>
              </a:r>
            </a:p>
          </p:txBody>
        </p:sp>
      </p:grpSp>
      <p:grpSp>
        <p:nvGrpSpPr>
          <p:cNvPr id="21" name="fallacy-raw-write"/>
          <p:cNvGrpSpPr/>
          <p:nvPr/>
        </p:nvGrpSpPr>
        <p:grpSpPr>
          <a:xfrm>
            <a:off x="609600" y="1857375"/>
            <a:ext cx="10972800" cy="1304925"/>
            <a:chOff x="609600" y="1857375"/>
            <a:chExt cx="10972800" cy="1304925"/>
          </a:xfrm>
        </p:grpSpPr>
        <p:sp>
          <p:nvSpPr>
            <p:cNvPr id="17" name="TextBox 17"/>
            <p:cNvSpPr txBox="1"/>
            <p:nvPr/>
          </p:nvSpPr>
          <p:spPr>
            <a:xfrm>
              <a:off x="754380" y="1857375"/>
              <a:ext cx="2185511" cy="788670"/>
            </a:xfrm>
            <a:prstGeom prst="rect">
              <a:avLst/>
            </a:prstGeom>
            <a:noFill/>
            <a:ln>
              <a:noFill/>
            </a:ln>
          </p:spPr>
          <p:txBody>
            <a:bodyPr wrap="none" lIns="0" tIns="0" rIns="0" bIns="0" anchor="t" anchorCtr="0">
              <a:spAutoFit/>
            </a:bodyPr>
            <a:lstStyle/>
            <a:p>
              <a:pPr algn="l">
                <a:lnSpc>
                  <a:spcPts val="1950"/>
                </a:lnSpc>
              </a:pPr>
              <a:r>
                <a:rPr lang="tr-TR" sz="1500" b="1" dirty="0">
                  <a:solidFill>
                    <a:srgbClr val="12355B"/>
                  </a:solidFill>
                  <a:latin typeface="+mn-lt"/>
                  <a:ea typeface="+mn-ea"/>
                  <a:cs typeface="+mn-cs"/>
                </a:rPr>
                <a:t>"Sensörler donanım</a:t>
              </a:r>
              <a:br/>
              <a:r>
                <a:rPr lang="tr-TR" sz="1500" b="1" dirty="0">
                  <a:solidFill>
                    <a:srgbClr val="12355B"/>
                  </a:solidFill>
                  <a:latin typeface="+mn-lt"/>
                  <a:ea typeface="+mn-ea"/>
                  <a:cs typeface="+mn-cs"/>
                </a:rPr>
                <a:t>olduğu için telemetriyi</a:t>
              </a:r>
              <a:br/>
              <a:r>
                <a:rPr lang="tr-TR" sz="1500" b="1" dirty="0">
                  <a:solidFill>
                    <a:srgbClr val="12355B"/>
                  </a:solidFill>
                  <a:latin typeface="+mn-lt"/>
                  <a:ea typeface="+mn-ea"/>
                  <a:cs typeface="+mn-cs"/>
                </a:rPr>
                <a:t>doğrudan yazabiliriz."</a:t>
              </a:r>
            </a:p>
          </p:txBody>
        </p:sp>
        <p:sp>
          <p:nvSpPr>
            <p:cNvPr id="18" name="TextBox 18"/>
            <p:cNvSpPr txBox="1"/>
            <p:nvPr/>
          </p:nvSpPr>
          <p:spPr>
            <a:xfrm>
              <a:off x="4375404" y="1889760"/>
              <a:ext cx="303733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Sensörler bozulabilir, parazit alabilir</a:t>
              </a:r>
              <a:br/>
              <a:r>
                <a:rPr lang="tr-TR" sz="1200" dirty="0">
                  <a:solidFill>
                    <a:srgbClr val="172B3A"/>
                  </a:solidFill>
                  <a:latin typeface="+mn-lt"/>
                  <a:ea typeface="+mn-ea"/>
                  <a:cs typeface="+mn-cs"/>
                </a:rPr>
                <a:t>veya saldırganlar sahte ESP32 taklit</a:t>
              </a:r>
              <a:br/>
              <a:r>
                <a:rPr lang="tr-TR" sz="1200" dirty="0">
                  <a:solidFill>
                    <a:srgbClr val="172B3A"/>
                  </a:solidFill>
                  <a:latin typeface="+mn-lt"/>
                  <a:ea typeface="+mn-ea"/>
                  <a:cs typeface="+mn-cs"/>
                </a:rPr>
                <a:t>ederek mantıksız değerler (-500°C vb.)</a:t>
              </a:r>
              <a:br/>
              <a:r>
                <a:rPr lang="tr-TR" sz="1200" dirty="0">
                  <a:solidFill>
                    <a:srgbClr val="172B3A"/>
                  </a:solidFill>
                  <a:latin typeface="+mn-lt"/>
                  <a:ea typeface="+mn-ea"/>
                  <a:cs typeface="+mn-cs"/>
                </a:rPr>
                <a:t>gönderebilir.</a:t>
              </a:r>
            </a:p>
          </p:txBody>
        </p:sp>
        <p:sp>
          <p:nvSpPr>
            <p:cNvPr id="19" name="TextBox 19"/>
            <p:cNvSpPr txBox="1"/>
            <p:nvPr/>
          </p:nvSpPr>
          <p:spPr>
            <a:xfrm>
              <a:off x="8185404" y="1889760"/>
              <a:ext cx="26334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Her veri, fiziksel mantık sınırları</a:t>
              </a:r>
              <a:br/>
              <a:r>
                <a:rPr lang="tr-TR" sz="1200" dirty="0">
                  <a:solidFill>
                    <a:srgbClr val="172B3A"/>
                  </a:solidFill>
                  <a:latin typeface="+mn-lt"/>
                  <a:ea typeface="+mn-ea"/>
                  <a:cs typeface="+mn-cs"/>
                </a:rPr>
                <a:t>(min/maks) ve şemalarla</a:t>
              </a:r>
              <a:br/>
              <a:r>
                <a:rPr lang="tr-TR" sz="1200" dirty="0">
                  <a:solidFill>
                    <a:srgbClr val="172B3A"/>
                  </a:solidFill>
                  <a:latin typeface="+mn-lt"/>
                  <a:ea typeface="+mn-ea"/>
                  <a:cs typeface="+mn-cs"/>
                </a:rPr>
                <a:t>doğrulanmalıdır.</a:t>
              </a:r>
            </a:p>
          </p:txBody>
        </p:sp>
        <p:sp>
          <p:nvSpPr>
            <p:cNvPr id="20" name="Line 20"/>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insert-each"/>
          <p:cNvGrpSpPr/>
          <p:nvPr/>
        </p:nvGrpSpPr>
        <p:grpSpPr>
          <a:xfrm>
            <a:off x="609600" y="3162300"/>
            <a:ext cx="10972800" cy="1447800"/>
            <a:chOff x="609600" y="3162300"/>
            <a:chExt cx="10972800" cy="1447800"/>
          </a:xfrm>
        </p:grpSpPr>
        <p:sp>
          <p:nvSpPr>
            <p:cNvPr id="22" name="Rectangle 22"/>
            <p:cNvSpPr/>
            <p:nvPr/>
          </p:nvSpPr>
          <p:spPr>
            <a:xfrm>
              <a:off x="609600" y="3162300"/>
              <a:ext cx="10972800" cy="1447800"/>
            </a:xfrm>
            <a:prstGeom prst="rect">
              <a:avLst/>
            </a:prstGeom>
            <a:solidFill>
              <a:srgbClr val="EAF4F6"/>
            </a:solidFill>
            <a:ln>
              <a:noFill/>
            </a:ln>
          </p:spPr>
        </p:sp>
        <p:sp>
          <p:nvSpPr>
            <p:cNvPr id="23" name="TextBox 23"/>
            <p:cNvSpPr txBox="1"/>
            <p:nvPr/>
          </p:nvSpPr>
          <p:spPr>
            <a:xfrm>
              <a:off x="754380" y="3305175"/>
              <a:ext cx="2445544" cy="788670"/>
            </a:xfrm>
            <a:prstGeom prst="rect">
              <a:avLst/>
            </a:prstGeom>
            <a:noFill/>
            <a:ln>
              <a:noFill/>
            </a:ln>
          </p:spPr>
          <p:txBody>
            <a:bodyPr wrap="none" lIns="0" tIns="0" rIns="0" bIns="0" anchor="t" anchorCtr="0">
              <a:spAutoFit/>
            </a:bodyPr>
            <a:lstStyle/>
            <a:p>
              <a:pPr algn="l">
                <a:lnSpc>
                  <a:spcPts val="1950"/>
                </a:lnSpc>
              </a:pPr>
              <a:r>
                <a:rPr lang="tr-TR" sz="1500" b="1" dirty="0">
                  <a:solidFill>
                    <a:srgbClr val="12355B"/>
                  </a:solidFill>
                  <a:latin typeface="+mn-lt"/>
                  <a:ea typeface="+mn-ea"/>
                  <a:cs typeface="+mn-cs"/>
                </a:rPr>
                <a:t>"Saniyede yüzlerce ölçüm</a:t>
              </a:r>
              <a:br/>
              <a:r>
                <a:rPr lang="tr-TR" sz="1500" b="1" dirty="0">
                  <a:solidFill>
                    <a:srgbClr val="12355B"/>
                  </a:solidFill>
                  <a:latin typeface="+mn-lt"/>
                  <a:ea typeface="+mn-ea"/>
                  <a:cs typeface="+mn-cs"/>
                </a:rPr>
                <a:t>için her okumaya ayrı</a:t>
              </a:r>
              <a:br/>
              <a:r>
                <a:rPr lang="tr-TR" sz="1500" b="1" dirty="0">
                  <a:solidFill>
                    <a:srgbClr val="12355B"/>
                  </a:solidFill>
                  <a:latin typeface="+mn-lt"/>
                  <a:ea typeface="+mn-ea"/>
                  <a:cs typeface="+mn-cs"/>
                </a:rPr>
                <a:t>bir INSERT atılabilir."</a:t>
              </a:r>
            </a:p>
          </p:txBody>
        </p:sp>
        <p:sp>
          <p:nvSpPr>
            <p:cNvPr id="24" name="TextBox 24"/>
            <p:cNvSpPr txBox="1"/>
            <p:nvPr/>
          </p:nvSpPr>
          <p:spPr>
            <a:xfrm>
              <a:off x="4375404" y="3337560"/>
              <a:ext cx="25039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Bu, veritabanı bağlantı havuzunu</a:t>
              </a:r>
              <a:br/>
              <a:r>
                <a:rPr lang="tr-TR" sz="1200" dirty="0">
                  <a:solidFill>
                    <a:srgbClr val="172B3A"/>
                  </a:solidFill>
                  <a:latin typeface="+mn-lt"/>
                  <a:ea typeface="+mn-ea"/>
                  <a:cs typeface="+mn-cs"/>
                </a:rPr>
                <a:t>anında kilitler ve disk G/Ç'sini</a:t>
              </a:r>
              <a:br/>
              <a:r>
                <a:rPr lang="tr-TR" sz="1200" dirty="0">
                  <a:solidFill>
                    <a:srgbClr val="172B3A"/>
                  </a:solidFill>
                  <a:latin typeface="+mn-lt"/>
                  <a:ea typeface="+mn-ea"/>
                  <a:cs typeface="+mn-cs"/>
                </a:rPr>
                <a:t>tüketir.</a:t>
              </a:r>
            </a:p>
          </p:txBody>
        </p:sp>
        <p:sp>
          <p:nvSpPr>
            <p:cNvPr id="25" name="TextBox 25"/>
            <p:cNvSpPr txBox="1"/>
            <p:nvPr/>
          </p:nvSpPr>
          <p:spPr>
            <a:xfrm>
              <a:off x="8185404" y="3337560"/>
              <a:ext cx="25496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Zaman serisi tamponlama ile</a:t>
              </a:r>
              <a:br/>
              <a:r>
                <a:rPr lang="tr-TR" sz="1200" dirty="0">
                  <a:solidFill>
                    <a:srgbClr val="172B3A"/>
                  </a:solidFill>
                  <a:latin typeface="+mn-lt"/>
                  <a:ea typeface="+mn-ea"/>
                  <a:cs typeface="+mn-cs"/>
                </a:rPr>
                <a:t>veriler 5-10 saniyelik paketler</a:t>
              </a:r>
              <a:br/>
              <a:r>
                <a:rPr lang="tr-TR" sz="1200" dirty="0">
                  <a:solidFill>
                    <a:srgbClr val="172B3A"/>
                  </a:solidFill>
                  <a:latin typeface="+mn-lt"/>
                  <a:ea typeface="+mn-ea"/>
                  <a:cs typeface="+mn-cs"/>
                </a:rPr>
                <a:t>hâlinde toplu (bulk) yazılmalıdır.</a:t>
              </a:r>
            </a:p>
          </p:txBody>
        </p:sp>
        <p:sp>
          <p:nvSpPr>
            <p:cNvPr id="26" name="Line 26"/>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shared-token"/>
          <p:cNvGrpSpPr/>
          <p:nvPr/>
        </p:nvGrpSpPr>
        <p:grpSpPr>
          <a:xfrm>
            <a:off x="754380" y="4752975"/>
            <a:ext cx="9797796" cy="788670"/>
            <a:chOff x="754380" y="4752975"/>
            <a:chExt cx="9797796" cy="788670"/>
          </a:xfrm>
        </p:grpSpPr>
        <p:sp>
          <p:nvSpPr>
            <p:cNvPr id="28" name="TextBox 28"/>
            <p:cNvSpPr txBox="1"/>
            <p:nvPr/>
          </p:nvSpPr>
          <p:spPr>
            <a:xfrm>
              <a:off x="754380" y="4752975"/>
              <a:ext cx="2815590" cy="788670"/>
            </a:xfrm>
            <a:prstGeom prst="rect">
              <a:avLst/>
            </a:prstGeom>
            <a:noFill/>
            <a:ln>
              <a:noFill/>
            </a:ln>
          </p:spPr>
          <p:txBody>
            <a:bodyPr wrap="none" lIns="0" tIns="0" rIns="0" bIns="0" anchor="t" anchorCtr="0">
              <a:spAutoFit/>
            </a:bodyPr>
            <a:lstStyle/>
            <a:p>
              <a:pPr algn="l">
                <a:lnSpc>
                  <a:spcPts val="1950"/>
                </a:lnSpc>
              </a:pPr>
              <a:r>
                <a:rPr lang="tr-TR" sz="1500" b="1" dirty="0">
                  <a:solidFill>
                    <a:srgbClr val="12355B"/>
                  </a:solidFill>
                  <a:latin typeface="+mn-lt"/>
                  <a:ea typeface="+mn-ea"/>
                  <a:cs typeface="+mn-cs"/>
                </a:rPr>
                <a:t>"Sabit ortak bir token</a:t>
              </a:r>
              <a:br/>
              <a:r>
                <a:rPr lang="tr-TR" sz="1500" b="1" dirty="0">
                  <a:solidFill>
                    <a:srgbClr val="12355B"/>
                  </a:solidFill>
                  <a:latin typeface="+mn-lt"/>
                  <a:ea typeface="+mn-ea"/>
                  <a:cs typeface="+mn-cs"/>
                </a:rPr>
                <a:t>yeterlidir; cihazın</a:t>
              </a:r>
              <a:br/>
              <a:r>
                <a:rPr lang="tr-TR" sz="1500" b="1" dirty="0">
                  <a:solidFill>
                    <a:srgbClr val="12355B"/>
                  </a:solidFill>
                  <a:latin typeface="+mn-lt"/>
                  <a:ea typeface="+mn-ea"/>
                  <a:cs typeface="+mn-cs"/>
                </a:rPr>
                <a:t>çalınması risk oluşturmaz."</a:t>
              </a:r>
            </a:p>
          </p:txBody>
        </p:sp>
        <p:sp>
          <p:nvSpPr>
            <p:cNvPr id="29" name="TextBox 29"/>
            <p:cNvSpPr txBox="1"/>
            <p:nvPr/>
          </p:nvSpPr>
          <p:spPr>
            <a:xfrm>
              <a:off x="4375404" y="4785360"/>
              <a:ext cx="28925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Bir cihazın flash belleği okunup</a:t>
              </a:r>
              <a:br/>
              <a:r>
                <a:rPr lang="tr-TR" sz="1200" dirty="0">
                  <a:solidFill>
                    <a:srgbClr val="172B3A"/>
                  </a:solidFill>
                  <a:latin typeface="+mn-lt"/>
                  <a:ea typeface="+mn-ea"/>
                  <a:cs typeface="+mn-cs"/>
                </a:rPr>
                <a:t>ortak token ele geçirilirse tüm</a:t>
              </a:r>
              <a:br/>
              <a:r>
                <a:rPr lang="tr-TR" sz="1200" dirty="0">
                  <a:solidFill>
                    <a:srgbClr val="172B3A"/>
                  </a:solidFill>
                  <a:latin typeface="+mn-lt"/>
                  <a:ea typeface="+mn-ea"/>
                  <a:cs typeface="+mn-cs"/>
                </a:rPr>
                <a:t>laboratuvar altyapısı tehlikeye girer.</a:t>
              </a:r>
            </a:p>
          </p:txBody>
        </p:sp>
        <p:sp>
          <p:nvSpPr>
            <p:cNvPr id="30" name="TextBox 30"/>
            <p:cNvSpPr txBox="1"/>
            <p:nvPr/>
          </p:nvSpPr>
          <p:spPr>
            <a:xfrm>
              <a:off x="8185404" y="4785360"/>
              <a:ext cx="23667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Cihaza özgü benzersiz anahtar,</a:t>
              </a:r>
              <a:br/>
              <a:r>
                <a:rPr lang="tr-TR" sz="1200" dirty="0">
                  <a:solidFill>
                    <a:srgbClr val="172B3A"/>
                  </a:solidFill>
                  <a:latin typeface="+mn-lt"/>
                  <a:ea typeface="+mn-ea"/>
                  <a:cs typeface="+mn-cs"/>
                </a:rPr>
                <a:t>cihaz bazlı yetkilendirme ve</a:t>
              </a:r>
              <a:br/>
              <a:r>
                <a:rPr lang="tr-TR" sz="1200" dirty="0">
                  <a:solidFill>
                    <a:srgbClr val="172B3A"/>
                  </a:solidFill>
                  <a:latin typeface="+mn-lt"/>
                  <a:ea typeface="+mn-ea"/>
                  <a:cs typeface="+mn-cs"/>
                </a:rPr>
                <a:t>HMAC imzalama disiplini gerekir.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24</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device-auth"/>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151373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Cihaz kimliği</a:t>
              </a:r>
            </a:p>
          </p:txBody>
        </p:sp>
        <p:sp>
          <p:nvSpPr>
            <p:cNvPr id="8" name="TextBox 8"/>
            <p:cNvSpPr txBox="1"/>
            <p:nvPr/>
          </p:nvSpPr>
          <p:spPr>
            <a:xfrm>
              <a:off x="832104" y="1908810"/>
              <a:ext cx="23362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API anahtarı ile doğrulanır;</a:t>
              </a:r>
              <a:br/>
              <a:r>
                <a:rPr lang="tr-TR" sz="1200" dirty="0">
                  <a:solidFill>
                    <a:srgbClr val="172B3A"/>
                  </a:solidFill>
                  <a:latin typeface="+mn-lt"/>
                  <a:ea typeface="+mn-ea"/>
                  <a:cs typeface="+mn-cs"/>
                </a:rPr>
                <a:t>kullanıcı authentication'ından</a:t>
              </a:r>
              <a:br/>
              <a:r>
                <a:rPr lang="tr-TR" sz="1200" dirty="0">
                  <a:solidFill>
                    <a:srgbClr val="172B3A"/>
                  </a:solidFill>
                  <a:latin typeface="+mn-lt"/>
                  <a:ea typeface="+mn-ea"/>
                  <a:cs typeface="+mn-cs"/>
                </a:rPr>
                <a:t>kasıtlı olarak daha basittir.</a:t>
              </a:r>
            </a:p>
          </p:txBody>
        </p:sp>
      </p:grpSp>
      <p:grpSp>
        <p:nvGrpSpPr>
          <p:cNvPr id="13" name="summary-range-validation"/>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212527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Aralık doğrulama</a:t>
              </a:r>
            </a:p>
          </p:txBody>
        </p:sp>
        <p:sp>
          <p:nvSpPr>
            <p:cNvPr id="12" name="TextBox 12"/>
            <p:cNvSpPr txBox="1"/>
            <p:nvPr/>
          </p:nvSpPr>
          <p:spPr>
            <a:xfrm>
              <a:off x="4565904" y="1908810"/>
              <a:ext cx="23210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Tip doğru olsa da fiziksel</a:t>
              </a:r>
              <a:br/>
              <a:r>
                <a:rPr lang="tr-TR" sz="1200" dirty="0">
                  <a:solidFill>
                    <a:srgbClr val="172B3A"/>
                  </a:solidFill>
                  <a:latin typeface="+mn-lt"/>
                  <a:ea typeface="+mn-ea"/>
                  <a:cs typeface="+mn-cs"/>
                </a:rPr>
                <a:t>olarak anlamsız değerlerin</a:t>
              </a:r>
              <a:br/>
              <a:r>
                <a:rPr lang="tr-TR" sz="1200" dirty="0">
                  <a:solidFill>
                    <a:srgbClr val="172B3A"/>
                  </a:solidFill>
                  <a:latin typeface="+mn-lt"/>
                  <a:ea typeface="+mn-ea"/>
                  <a:cs typeface="+mn-cs"/>
                </a:rPr>
                <a:t>veritabanına sızmasını önler.</a:t>
              </a:r>
            </a:p>
          </p:txBody>
        </p:sp>
      </p:grpSp>
      <p:grpSp>
        <p:nvGrpSpPr>
          <p:cNvPr id="17" name="summary-server-time"/>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280031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Sunucu zaman damgası</a:t>
              </a:r>
            </a:p>
          </p:txBody>
        </p:sp>
        <p:sp>
          <p:nvSpPr>
            <p:cNvPr id="16" name="TextBox 16"/>
            <p:cNvSpPr txBox="1"/>
            <p:nvPr/>
          </p:nvSpPr>
          <p:spPr>
            <a:xfrm>
              <a:off x="8299704" y="1908810"/>
              <a:ext cx="26639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Cihaz saatinin güvenilmez</a:t>
              </a:r>
              <a:br/>
              <a:r>
                <a:rPr lang="tr-TR" sz="1200" dirty="0">
                  <a:solidFill>
                    <a:srgbClr val="172B3A"/>
                  </a:solidFill>
                  <a:latin typeface="+mn-lt"/>
                  <a:ea typeface="+mn-ea"/>
                  <a:cs typeface="+mn-cs"/>
                </a:rPr>
                <a:t>olabileceği gerçeğini gözeterek</a:t>
              </a:r>
              <a:br/>
              <a:r>
                <a:rPr lang="tr-TR" sz="1200" dirty="0">
                  <a:solidFill>
                    <a:srgbClr val="172B3A"/>
                  </a:solidFill>
                  <a:latin typeface="+mn-lt"/>
                  <a:ea typeface="+mn-ea"/>
                  <a:cs typeface="+mn-cs"/>
                </a:rPr>
                <a:t>zaman serisi kaydını temellendirir.</a:t>
              </a:r>
            </a:p>
          </p:txBody>
        </p:sp>
      </p:grpSp>
      <p:grpSp>
        <p:nvGrpSpPr>
          <p:cNvPr id="21" name="summary-hmac"/>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298105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HMAC + zaman penceresi</a:t>
              </a:r>
            </a:p>
          </p:txBody>
        </p:sp>
        <p:sp>
          <p:nvSpPr>
            <p:cNvPr id="20" name="TextBox 20"/>
            <p:cNvSpPr txBox="1"/>
            <p:nvPr/>
          </p:nvSpPr>
          <p:spPr>
            <a:xfrm>
              <a:off x="832104" y="3718560"/>
              <a:ext cx="21534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Provizyonlama sonrası imza</a:t>
              </a:r>
              <a:br/>
              <a:r>
                <a:rPr lang="tr-TR" sz="1200" dirty="0">
                  <a:solidFill>
                    <a:srgbClr val="172B3A"/>
                  </a:solidFill>
                  <a:latin typeface="+mn-lt"/>
                  <a:ea typeface="+mn-ea"/>
                  <a:cs typeface="+mn-cs"/>
                </a:rPr>
                <a:t>ve zaman penceresi, pencere</a:t>
              </a:r>
              <a:br/>
              <a:r>
                <a:rPr lang="tr-TR" sz="1200" dirty="0">
                  <a:solidFill>
                    <a:srgbClr val="172B3A"/>
                  </a:solidFill>
                  <a:latin typeface="+mn-lt"/>
                  <a:ea typeface="+mn-ea"/>
                  <a:cs typeface="+mn-cs"/>
                </a:rPr>
                <a:t>dışı tekrarları eler.</a:t>
              </a:r>
            </a:p>
          </p:txBody>
        </p:sp>
      </p:grpSp>
      <p:grpSp>
        <p:nvGrpSpPr>
          <p:cNvPr id="25" name="summary-batching"/>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148955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Toplu yazma</a:t>
              </a:r>
            </a:p>
          </p:txBody>
        </p:sp>
        <p:sp>
          <p:nvSpPr>
            <p:cNvPr id="24" name="TextBox 24"/>
            <p:cNvSpPr txBox="1"/>
            <p:nvPr/>
          </p:nvSpPr>
          <p:spPr>
            <a:xfrm>
              <a:off x="4565904" y="3718560"/>
              <a:ext cx="24582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Zaman serisi tamponlama,</a:t>
              </a:r>
              <a:br/>
              <a:r>
                <a:rPr lang="tr-TR" sz="1200" dirty="0">
                  <a:solidFill>
                    <a:srgbClr val="172B3A"/>
                  </a:solidFill>
                  <a:latin typeface="+mn-lt"/>
                  <a:ea typeface="+mn-ea"/>
                  <a:cs typeface="+mn-cs"/>
                </a:rPr>
                <a:t>yüksek frekanslı veriyi</a:t>
              </a:r>
              <a:br/>
              <a:r>
                <a:rPr lang="tr-TR" sz="1200" dirty="0">
                  <a:solidFill>
                    <a:srgbClr val="172B3A"/>
                  </a:solidFill>
                  <a:latin typeface="+mn-lt"/>
                  <a:ea typeface="+mn-ea"/>
                  <a:cs typeface="+mn-cs"/>
                </a:rPr>
                <a:t>veritabanını kilitlemeden yazar.</a:t>
              </a:r>
            </a:p>
          </p:txBody>
        </p:sp>
      </p:grpSp>
      <p:grpSp>
        <p:nvGrpSpPr>
          <p:cNvPr id="29" name="summary-mqtt"/>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177105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MQTT köprüsü</a:t>
              </a:r>
            </a:p>
          </p:txBody>
        </p:sp>
        <p:sp>
          <p:nvSpPr>
            <p:cNvPr id="28" name="TextBox 28"/>
            <p:cNvSpPr txBox="1"/>
            <p:nvPr/>
          </p:nvSpPr>
          <p:spPr>
            <a:xfrm>
              <a:off x="8299704" y="3718560"/>
              <a:ext cx="21305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Ölçekte dayanıklılık sağlar;</a:t>
              </a:r>
              <a:br/>
              <a:r>
                <a:rPr lang="tr-TR" sz="1200" dirty="0">
                  <a:solidFill>
                    <a:srgbClr val="172B3A"/>
                  </a:solidFill>
                  <a:latin typeface="+mn-lt"/>
                  <a:ea typeface="+mn-ea"/>
                  <a:cs typeface="+mn-cs"/>
                </a:rPr>
                <a:t>ağ dalgalanmasında bile</a:t>
              </a:r>
              <a:br/>
              <a:r>
                <a:rPr lang="tr-TR" sz="1200" dirty="0">
                  <a:solidFill>
                    <a:srgbClr val="172B3A"/>
                  </a:solidFill>
                  <a:latin typeface="+mn-lt"/>
                  <a:ea typeface="+mn-ea"/>
                  <a:cs typeface="+mn-cs"/>
                </a:rPr>
                <a:t>telemetri kaybolmaz.</a:t>
              </a:r>
            </a:p>
          </p:txBody>
        </p:sp>
      </p:grpSp>
      <p:grpSp>
        <p:nvGrpSpPr>
          <p:cNvPr id="33" name="exam-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6018" y="5251132"/>
              <a:ext cx="9422475"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Cihaz kimliği API anahtarıyla, sensör verisi hem tip hem fiziksel aralık bakımından</a:t>
              </a:r>
            </a:p>
          </p:txBody>
        </p:sp>
        <p:sp>
          <p:nvSpPr>
            <p:cNvPr id="32" name="TextBox 32"/>
            <p:cNvSpPr txBox="1"/>
            <p:nvPr/>
          </p:nvSpPr>
          <p:spPr>
            <a:xfrm>
              <a:off x="906399" y="5583079"/>
              <a:ext cx="963002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doğrulanmalı; zaman serisi kaydı cihaz saatine değil sunucu zaman damgasına dayanmalıdır.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24</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599694" y="1484948"/>
            <a:ext cx="9628632" cy="724281"/>
            <a:chOff x="599694" y="1484948"/>
            <a:chExt cx="9628632" cy="724281"/>
          </a:xfrm>
        </p:grpSpPr>
        <p:sp>
          <p:nvSpPr>
            <p:cNvPr id="7" name="TextBox 7"/>
            <p:cNvSpPr txBox="1"/>
            <p:nvPr/>
          </p:nvSpPr>
          <p:spPr>
            <a:xfrm>
              <a:off x="599694" y="1484948"/>
              <a:ext cx="9628632"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Backend artık hem insanlardan hem cihazlardan gelen veriyi güvenle karşılıyor.</a:t>
              </a:r>
              <a:br/>
              <a:r>
                <a:rPr lang="tr-TR" sz="1950" dirty="0">
                  <a:solidFill>
                    <a:srgbClr val="172B3A"/>
                  </a:solidFill>
                  <a:latin typeface="+mn-lt"/>
                  <a:ea typeface="+mn-ea"/>
                  <a:cs typeface="+mn-cs"/>
                </a:rPr>
                <a:t>Sıradaki adım, bu verinin bir yapay zekâ servisiyle nasıl zenginleştirileceğidir.</a:t>
              </a:r>
            </a:p>
          </p:txBody>
        </p:sp>
      </p:grpSp>
      <p:grpSp>
        <p:nvGrpSpPr>
          <p:cNvPr id="14" name="bridge-now"/>
          <p:cNvGrpSpPr/>
          <p:nvPr/>
        </p:nvGrpSpPr>
        <p:grpSpPr>
          <a:xfrm>
            <a:off x="599694" y="2799398"/>
            <a:ext cx="2854071" cy="1834419"/>
            <a:chOff x="599694" y="2799398"/>
            <a:chExt cx="2854071" cy="183441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2333625"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Cihaz kimliğini API</a:t>
              </a:r>
              <a:br/>
              <a:r>
                <a:rPr lang="tr-TR" sz="1580" dirty="0">
                  <a:solidFill>
                    <a:srgbClr val="172B3A"/>
                  </a:solidFill>
                  <a:latin typeface="+mn-lt"/>
                  <a:ea typeface="+mn-ea"/>
                  <a:cs typeface="+mn-cs"/>
                </a:rPr>
                <a:t>anahtarıyla doğrulamak</a:t>
              </a:r>
            </a:p>
          </p:txBody>
        </p:sp>
        <p:sp>
          <p:nvSpPr>
            <p:cNvPr id="12" name="Rectangle 12"/>
            <p:cNvSpPr/>
            <p:nvPr/>
          </p:nvSpPr>
          <p:spPr>
            <a:xfrm>
              <a:off x="609600" y="4038600"/>
              <a:ext cx="57150" cy="285750"/>
            </a:xfrm>
            <a:prstGeom prst="rect">
              <a:avLst/>
            </a:prstGeom>
            <a:solidFill>
              <a:srgbClr val="00A6A6"/>
            </a:solidFill>
            <a:ln>
              <a:noFill/>
            </a:ln>
          </p:spPr>
        </p:sp>
        <p:sp>
          <p:nvSpPr>
            <p:cNvPr id="13" name="TextBox 13"/>
            <p:cNvSpPr txBox="1"/>
            <p:nvPr/>
          </p:nvSpPr>
          <p:spPr>
            <a:xfrm>
              <a:off x="849249" y="4078129"/>
              <a:ext cx="2604516"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Sensör verisini aralık ve</a:t>
              </a:r>
              <a:br/>
              <a:r>
                <a:rPr lang="tr-TR" sz="1580" dirty="0">
                  <a:solidFill>
                    <a:srgbClr val="172B3A"/>
                  </a:solidFill>
                  <a:latin typeface="+mn-lt"/>
                  <a:ea typeface="+mn-ea"/>
                  <a:cs typeface="+mn-cs"/>
                </a:rPr>
                <a:t>zaman serisiyle kaydetmek</a:t>
              </a:r>
            </a:p>
          </p:txBody>
        </p:sp>
      </p:grpSp>
      <p:grpSp>
        <p:nvGrpSpPr>
          <p:cNvPr id="19" name="bridge-next"/>
          <p:cNvGrpSpPr/>
          <p:nvPr/>
        </p:nvGrpSpPr>
        <p:grpSpPr>
          <a:xfrm>
            <a:off x="7010400" y="2667000"/>
            <a:ext cx="4572000" cy="2286000"/>
            <a:chOff x="7010400" y="2667000"/>
            <a:chExt cx="4572000" cy="2286000"/>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17" name="TextBox 17"/>
            <p:cNvSpPr txBox="1"/>
            <p:nvPr/>
          </p:nvSpPr>
          <p:spPr>
            <a:xfrm>
              <a:off x="7303770" y="3319462"/>
              <a:ext cx="3008233"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Yapay zekâ/ML</a:t>
              </a:r>
              <a:br/>
              <a:r>
                <a:rPr lang="tr-TR" sz="2250" b="1" dirty="0">
                  <a:solidFill>
                    <a:srgbClr val="FFFFFF"/>
                  </a:solidFill>
                  <a:latin typeface="+mn-lt"/>
                  <a:ea typeface="+mn-ea"/>
                  <a:cs typeface="+mn-cs"/>
                </a:rPr>
                <a:t>servis entegrasyonu</a:t>
              </a:r>
            </a:p>
          </p:txBody>
        </p:sp>
        <p:sp>
          <p:nvSpPr>
            <p:cNvPr id="18" name="TextBox 18"/>
            <p:cNvSpPr txBox="1"/>
            <p:nvPr/>
          </p:nvSpPr>
          <p:spPr>
            <a:xfrm>
              <a:off x="7307199" y="4135279"/>
              <a:ext cx="3356991"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EAF4F6"/>
                  </a:solidFill>
                  <a:latin typeface="+mn-lt"/>
                  <a:ea typeface="+mn-ea"/>
                  <a:cs typeface="+mn-cs"/>
                </a:rPr>
                <a:t>Harici bir FastAPI servisiyle</a:t>
              </a:r>
              <a:br/>
              <a:r>
                <a:rPr lang="tr-TR" sz="1580" dirty="0">
                  <a:solidFill>
                    <a:srgbClr val="EAF4F6"/>
                  </a:solidFill>
                  <a:latin typeface="+mn-lt"/>
                  <a:ea typeface="+mn-ea"/>
                  <a:cs typeface="+mn-cs"/>
                </a:rPr>
                <a:t>güvenli ve dayanıklı entegrasyon.</a:t>
              </a:r>
            </a:p>
          </p:txBody>
        </p:sp>
      </p:grpSp>
      <p:grpSp>
        <p:nvGrpSpPr>
          <p:cNvPr id="22" name="bridge-closing"/>
          <p:cNvGrpSpPr/>
          <p:nvPr/>
        </p:nvGrpSpPr>
        <p:grpSpPr>
          <a:xfrm>
            <a:off x="609600" y="5429250"/>
            <a:ext cx="10972800" cy="729234"/>
            <a:chOff x="609600" y="5429250"/>
            <a:chExt cx="10972800" cy="729234"/>
          </a:xfrm>
        </p:grpSpPr>
        <p:sp>
          <p:nvSpPr>
            <p:cNvPr id="20" name="Rectangle 20"/>
            <p:cNvSpPr/>
            <p:nvPr/>
          </p:nvSpPr>
          <p:spPr>
            <a:xfrm>
              <a:off x="609600" y="5429250"/>
              <a:ext cx="10972800" cy="666750"/>
            </a:xfrm>
            <a:prstGeom prst="roundRect">
              <a:avLst>
                <a:gd name="adj" fmla="val 11429"/>
              </a:avLst>
            </a:prstGeom>
            <a:solidFill>
              <a:srgbClr val="EAF4F6"/>
            </a:solidFill>
            <a:ln>
              <a:noFill/>
            </a:ln>
          </p:spPr>
        </p:sp>
        <p:sp>
          <p:nvSpPr>
            <p:cNvPr id="21" name="TextBox 21"/>
            <p:cNvSpPr txBox="1"/>
            <p:nvPr/>
          </p:nvSpPr>
          <p:spPr>
            <a:xfrm>
              <a:off x="905256" y="5520690"/>
              <a:ext cx="8407336" cy="637794"/>
            </a:xfrm>
            <a:prstGeom prst="rect">
              <a:avLst/>
            </a:prstGeom>
            <a:noFill/>
            <a:ln>
              <a:noFill/>
            </a:ln>
          </p:spPr>
          <p:txBody>
            <a:bodyPr wrap="none" lIns="0" tIns="0" rIns="0" bIns="0" anchor="t" anchorCtr="0">
              <a:spAutoFit/>
            </a:bodyPr>
            <a:lstStyle/>
            <a:p>
              <a:pPr algn="l">
                <a:lnSpc>
                  <a:spcPts val="2250"/>
                </a:lnSpc>
              </a:pPr>
              <a:r>
                <a:rPr lang="tr-TR" sz="1800" b="1" dirty="0">
                  <a:solidFill>
                    <a:srgbClr val="12355B"/>
                  </a:solidFill>
                  <a:latin typeface="+mn-lt"/>
                  <a:ea typeface="+mn-ea"/>
                  <a:cs typeface="+mn-cs"/>
                </a:rPr>
                <a:t>Firmware programlama ve MQTT broker yönetimi ayrıntıları bu bölümün</a:t>
              </a:r>
              <a:br/>
              <a:r>
                <a:rPr lang="tr-TR" sz="1800" b="1" dirty="0">
                  <a:solidFill>
                    <a:srgbClr val="12355B"/>
                  </a:solidFill>
                  <a:latin typeface="+mn-lt"/>
                  <a:ea typeface="+mn-ea"/>
                  <a:cs typeface="+mn-cs"/>
                </a:rPr>
                <a:t>kapsamı dışında bırakılmıştır.</a:t>
              </a:r>
            </a:p>
          </p:txBody>
        </p:sp>
      </p:grpSp>
      <p:sp>
        <p:nvSpPr>
          <p:cNvPr id="23" name="TextBox 2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24</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16-iot-backend-20260916">
  <a:themeElements>
    <a:clrScheme name="b16-iot-backend-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16-iot-backend-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16-iot-backend-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16-iot-backend-20260916">
  <a:themeElements>
    <a:clrScheme name="b16-iot-backend-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16-iot-backend-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16-iot-backend-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2026-09-19T21:22:13Z</dcterms:created>
  <dcterms:modified xsi:type="dcterms:W3CDTF">2026-09-19T21:22:13Z</dcterms:modified>
  <cp:category/>
  <cp:contentStatus/>
</cp:coreProperties>
</file>