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kütüphane API'sinin şimdiye kadar işlediğimiz yönünü tersine çeviriyor. Önceki bölümde backend, fiziksel dünyadan IoT sensörleriyle gelen veriyi karşılayacak şekilde genişletilmişti; bu kez backend kendi iş mantığının bir kısmını, ayrı bir Python/FastAPI sürecinde çalışan bir yapay zekâ ya da makine öğrenmesi modeline devrediyor. Örnek senaryomuz, kütüphane sisteminin bir kitabın açıklamasını ayrı bir özetleme servisine göndermesi ve dönen özeti öğrenciye sunmadan önce doğrulamasıdır. Bu bölümdeki sözleşme ve dayanıklılık örüntülerinin, kitabın son bölümündeki Üniversite Laboratuvar Yönetim Sistemi capstone projesinin yapay zekâ modülünü de beslediğini baştan belirtmekte fayda var: bakım kayıtlarının özetlenmesi ve ekipman arıza riskinin tahmini aynı disiplinle yapılacak.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soru, bölüm boyunca cevaplayacağımız çerçeveyi oluşturuyor. İlk soru kritik: Bölüm 12'de harici bir REST API'yi çağırırken kullandığımız desenler burada neden yetersiz kalıyor? Çünkü AI servisleri klasik CRUD uç noktalarından iki temel biçimde ayrışır — yanıt süreleri çok daha değişkendir (bazen dakikalarca sürebilir) ve çıktıları deterministik değildir, yani aynı girdi her zaman aynı çıktıyı üretmeyebilir. Bu iki fark, sözleşme tasarımından timeout stratejisine, hata izolasyonundan çıktı doğrulamasına kadar bölümün tüm kararlarını şekillendiriyor. Öğrencilere bu yol haritasını okurken şunu vurgulayın: burada öğrenilecek disiplin yalnızca "AI'ye özgü" değil, gelecekte karşılaşacakları her yavaş ve öngörülemez dış bağımlılık için genelleşebilir bir mimari tutumdur.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Öğrenme hedeflerinin en can alıcı noktası, kaliteli bir çözümde AI servisi kullanılamaz olsa bile temel kütüphane işlevlerinin (kitap arama, ödünç alma) çalışmaya devam etmesi gerektiği ve AI çıktısının asla sorgusuz biçimde kullanıcıya iletilmemesi gerektiğidir. Bu iki ilke, bölümün geri kalanındaki tüm kod örneklerinin arkasındaki ortak motivasyondur. Öğrenci yalnızca "nasıl bir AI servisine istek atarım" sorusuna değil, "AI servisi bana ne zaman güvenilmez davranabilir ve bunu nasıl sınırlarım" sorusuna da cevap verebilmelidir. Değerlendirme ölçütleri arasında timeout ve retry'ın AI servisinin daha yavaş ve daha az öngörülebilir davranışına göre yapılandırılabilmesi, hata izolasyonunun uygulanabilmesi ve çıktının doğrulanıp gözlemlenmesinin gerekçelendirilebilmesi yer alıyor.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Diyagram, Node.js backend'inin bir AI/ML servisiyle service-to-service iletişimindeki adımları ve hata izolasyonu noktalarını özetliyor. Burada özellikle D'den G'ye giden kesikli okun anlamına dikkat çekin: bu ok, "AI olmadan da devam et" yolunu temsil ediyor. Hata izolasyonu, AI servisinin yavaşlaması veya çökmesi durumunda backend'in geri kalanının — kitap arama, ödünç alma gibi temel işlevlerin — çalışmaya devam etmesini sağlıyor. Bu görsel, aslında bölümün tamamının bir önizlemesi: istek gönderme, zaman aşımı/hata izolasyonu kontrolü ve normal akışa devam etme adımlarının hepsini tek bir akışta görüyoruz. Öğrencilere bu diyagramı bölüm ilerledikçe tekrar tekrar hatırlatmakta fayda var, çünkü her yeni kavram (sözleşme, timeout, retry, doğrulama) bu akışın bir parçasına karşılık geliyor.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matris, bölüm boyunca inceleyeceğimiz beş bileşenin sorumluluk sınırlarını netleştiriyor. Özellikle "Ne Yapmaz?" sütunu önemli, çünkü öğrencilerin en sık düştüğü hata, bir bileşenin sınırlarını olduğundan geniş varsaymaktır. Örneğin harici LLM API'si doğal dil işleme yeteneği katar ama deterministik sonuç garantisi vermez; FastAPI tabanlı ML servisi Python ML kütüphanelerini dışa açar ama Node.js'in kullanıcı yönetimini veya veritabanı işlemlerini asla üstlenmez. M2M iletişim satırı, ileride güvenlik bölümlerinde daha ayrıntılı işlenecek bir konuyu önceden hazırlıyor: AI/ML mikroservisi doğrudan son kullanıcı tarayıcısına açık olmamalı, Docker iç ağı ve özel servis belirteciyle korunmalıdır — aksi halde yetkisiz kullanıcılar pahalı GPU/ML kaynaklarını tüketebilir. "AI Çıktı Doğrulaması" satırı ise ileride Kod 17.2 ve 17.4'te göreceğimiz Zod tipi doğrulamanın neden var olduğunu önceden temellendiriyor: model beklenen JSON yerine fazladan metin veya eksik alan döndürürse, doğrulama olmadan backend beklenmedik biçimde çökebilir.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AI/ML servis entegrasyonu, farklı teknoloji yığınlarının (Node.js ve Python) ayrı süreçler olarak çalışıp bir ağ sözleşmesiyle haberleşmesidir; bu, mikroservis mimarisinin temel ilkesidir — her servis kendi teknolojisini, ölçeklenme profilini ve dağıtım döngüsünü bağımsız seçebilir. Bu servisler arası sınırın güvenilir kalması için Ian Robinson'ın 2000'lerin ortasında yaygınlaştırdığı "Tüketici Odaklı Sözleşme" (Consumer-Driven Contracts) yaklaşımından söz etmek önemli: servisi kullanan tarafın beklentilerini servisin kendisinden bağımsız olarak tanımlayan bu yaklaşım, iki tarafın ayrı ayrı geliştirilmesine rağmen sözleşmenin bozulmamasını sağlar. Bölüm 12'deki harici API tüketiminden farkı da burada devreye giriyor: AI/ML modellerinin çıktısı genellikle deterministik değildir ve yanıt süresi çok daha değişkendir. Bu, servisler arası sözleşmenin yalnızca veri biçimini değil, aynı zamanda "belirsizlik payını" — yanıt süresi dağılımı, çıktı güvenilirliği — da hesaba katması gerektiği anlamına gelir; bu, sonraki iki kavramın (timeout/retry, çıktı doğrulama) ortak motivasyonudur. Bu pratik, modern dil modellerinin ve ML modellerinin genellikle Python ekosisteminde (PyTorch, Hugging Face, FastAPI) çalışması ve bir Node.js backend'inin bu modelleri kendi içinde çalıştırmasının pratik olmaması nedeniyle var.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ilk kod örneği, Bölüm 12'deki kitapBilgisiGetir fonksiyonuyla neredeyse aynı yapıya sahip; tek fark, çağrılan servisin bu kez bir yapay zekâ modeli çalıştırması ve yanıt süresinin çok daha değişken olabilmesidir. Üç kritik satıra dikkat edin: birincisi, `satisfies OzetIstegi` operatörünün gönderilen gövdenin sözleşmeye uyduğunu derleme zamanında garanti etmesi. İkincisi, `if (!yanit.ok)` kontrolünün HTTP düzeyinde başarısız bir yanıtı sessizce geçmek yerine açık bir hataya dönüştürmesi. Üçüncüsü ve en kritiği: `(await yanit.json()) as OzetYaniti` satırı yanıt gövdesini tipe zorluyor ama gerçek bir çalışma zamanı doğrulaması yapmıyor — bu, ilerleyen Kod 17.2 ve 17.4'te ele alınacak bir eksikliktir. Dikkat noktası tam olarak bunu vurguluyor: AI servisi beklenen şekilden farklı bir gövde döndürürse, bu hata yalnızca çalışma zamanında, veri kullanılmaya çalışıldığında ortaya çıkar. Bu satır, bölümün ilerleyen kısımlarında defalarca geri döneceğimiz bir kırılma noktasıdır.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alternatifler tablosu, "her AI ihtiyacı ayrı bir servis gerektirir mi?" sorusuna cevap arıyor. Karar kriteri, problemin kural tabanlı mı yoksa örüntü tabanlı mı olduğudur: bir kitabın türünü sabit bir anahtar kelime listesiyle sınıflandırmak kural tabanlıdır ve AI gerektirmez; bir kitabın içeriğinden anlamlı bir özet üretmek ise örüntü tabanlıdır ve pratik olarak yalnızca bir dil modeliyle çözülebilir. Basit, deterministik kurallarla çözülebilecek bir problem için tam bir AI servisi gereksiz karmaşıklık katar. Ayrıca AI servisinin gecikme ve maliyetinin kazandırdığı değere gerçekten değip değmediği de değerlendirilmelidir; her özelliğe bir AI çağrısı eklemek sistemin genel yanıt süresini ve işletme maliyetini gereksiz yere artırabilir. Yaygın hatalardan biri de tam olarak bu maliyeti hiç izlememektir: sonuçlar önbelleğe alınmalı — aynı kitap için özet daha önce üretildiyse tekrar üretilmemeli — ve çağrı sayısı gözlemlenmelidir. Diğer büyük hata ise AI servisinin yanıt süresini sıradan bir REST API gibi varsayıp zaman aşımı tanımlamamaktır; bir dil modeli birkaç saniye yerine dakikalarca yanıt vermeyebilir.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Servisler arası sözleşme yoksa, FastAPI tarafında bir alan adı değiştirildiğinde Node.js tarafı sessizce undefined alanlarla çalışmaya devam edebilir — bu, üretimde fark edilmesi çok zor bir hata sınıfıdır. İki farklı dilde (TypeScript ve Python/Pydantic) aynı veri sözleşmesinin bağımsız ama tutarlı biçimde ifade edilmesi, dağıtık sistemlerdeki "şema evrimi" sorununun somut bir örneğidir: sözleşmenin tek bir merkezi kaynağı yoksa, iki taraf zamanla birbirinden sessizce sapabilir. Bu sorun servisler arası iletişimde yaygın olarak "sözleşme testi" (contract testing) pratiğiyle çözülür; Consumer-Driven Contracts yaklaşımının kod düzeyindeki karşılığı, tüketici tarafının beklediği biçimi açıkça bir tipe ve çalışma zamanı doğrulayıcısına dökmesidir. `oneriYanitiniDogrula`'nın bir TypeScript type guard olarak yazılması ise tip teorisindeki "refinement type" (iyileştirme) fikrinin pratik bir uygulaması: fonksiyon çalışma zamanında dinamik bir kontrol yaparak derleme zamanı tip sistemine "bu değer artık bu türde" bilgisini kazandırıyor. Bu, Bölüm 3'teki statik tip sisteminin sınırının — dış kaynaktan gelen veriyi doğrulayamaması — çalışma zamanı doğrulamasıyla nasıl tamamlandığının somut bir örneği.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kodda en kritik satır `function oneriYanitiniDogrula(veri: unknown): veri is OneriYaniti` tanımıdır: burada bir type predicate kullanılıyor, yani yalnızca derleme zamanı değil çalışma zamanı doğrulaması da yapılıyor — Kod 17.1'deki `as` zorlamasından çok daha güvenli bir yaklaşım. `aday.onerilenKitapKodlari.every((k) =&gt; typeof k === "string")` satırı dizinin yalnızca var olup olmadığını değil, içindeki her elemanın da beklenen tipte olduğunu kontrol ediyor. `aday.guvenSkoru &gt;= 0 &amp;&amp; aday.guvenSkoru &lt;= 1` satırı ise sayısal bir güven skorunun yalnızca tip olarak değil, anlamlı aralık olarak da geçerli olduğunu doğruluyor — bu satır, ilerleyen Kod 17.4'teki eşik mantığının temelini atıyor. Dikkat noktasına özellikle vurgu yapın: yorumlardaki `onerilen_kitap_kodlari` (snake_case) ile TypeScript tarafındaki `onerilenKitapKodlari` (camelCase) arasındaki isimlendirme farkı, alan adı dönüşümünün ağ sınırında, yani adapter katmanında yapılması gerektiğini gösteriyor; kod bunu örtük olarak varsaymamalı. Bu, Python ve Node.js ekosistemlerinin isimlendirme kurallarının doğal olarak farklı olmasından kaynaklanan, sıkça göz ardı edilen bir kırılma noktası.</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Sözleşmenin ne kadar katı olması gerektiği, iki tarafın kaç farklı ekip veya proje tarafından bakımının yapıldığına bağlıdır: aynı kişi veya ekip her iki tarafı da geliştiriyorsa yalnızca paylaşılan tip tanımı yeterli olabilir; farklı ekipler veya farklı sürüm döngüsündeki bileşenler söz konusuysa — örneğin AI servisi ayrı bir araştırma ekibi tarafından bağımsız güncelleniyorsa — sözleşme testleri gibi daha katı bir doğrulama mekanizması eklenmelidir. OpenAPI şemasından otomatik tip üretimi, tek kaynaktan (single source of truth) üretildiği için senkron kalır ama ek bir araç zinciri (code generation) kurulumu gerektirir. Şemasız, herhangi bir JSON'ı kabul etme yaklaşımı en basit görünse de hiçbir üretim senaryosunda önerilmez, çünkü sözleşme ihlalleri sessizce çalışma zamanı hatasına dönüşür. En yaygın hata, FastAPI tarafındaki alan adlarını (snake_case) TypeScript tarafında da olduğu gibi kullanmak yerine hangi biçimde geldiğini kontrol etmeden camelCase varsaymaktır; ikinci büyük hata ise sözleşmeyi yalnızca kod içi yorumlarda belgeleyip bunun otomatik denetlenmediğini fark etmemektir — yorumlar zamanla kodla senkron kalmayabilir.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üç hata örüntüsü, sözleşme tasarımının pratikte en sık kırıldığı noktaları gösteriyor. İlk satırda vurgulanan alan adı uyuşmazlığı — Node'da "summary", Python'da "ozet" gibi — aslında bir önceki sayfada bahsedilen snake_case/camelCase sorununun genel bir versiyonu. İkinci hata, sayısal bir alanın tipinin hiç doğrulanmadan varsayılmasıdır; bu, Kod 17.2'deki `oneriYanitiniDogrula`'nın neden yalnızca alan varlığını değil tipini de kontrol ettiğini açıklıyor. Üçüncü ve belki en sinsi hata, sözleşmenin yalnızca "mutlu yol" için tanımlanıp AI servisinin hata durumunda ne döndüreceğinin hiç tanımlanmamasıdır — örneğin `{"hata": "model_yuklenemedi"}` gibi bir yanıt şekli. Öğrencilere şunu vurgulayın: bu üç hata da kodun ilk yazıldığı anda değil, iki taraf ayrı ayrı evrildiğinde ortaya çıkar; bu yüzden sözleşmenin sadece "doğru yazılması" değil, zaman içinde "senkron kalması" asıl mühendislik zorluğudur.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mekanizmanın da var olma nedeni aynı kökten geliyor: AI servisleri sıradan REST API'lerden daha değişken gecikme ve daha yüksek geçici hata oranına sahiptir. Timeout olmadan bir kullanıcı isteği süresiz bekleyebilir; retry olmadan geçici bir yükleme gecikmesi kalıcı bir hataya dönüşür; hata izolasyonu olmadan ise AI servisindeki bir sorun ilgisiz özelliklerin de çalışmamasına yol açar. Artan bekleme süresiyle yeniden deneme stratejisinin kökleri, Robert Metcalfe ve David Boggs'un 1970'lerde Ethernet'teki çakışmaları çözmek için tasarladığı "İkili Üstel Geri Çekilme" (Binary Exponential Backoff) algoritmasına dayanıyor: bir çakışma ya da burada bir başarısız istek sonrası bekleme süresi her denemede katlanarak artırılır, böylece paylaşılan kaynak art arda gelen isteklerle boğulmaz. Hata izolasyonu kavramı ise Michael Nygard'ın "Release It!" (2007) kitabında tanımladığı "Bulkhead" (gemi bölmesi) desenine dayanıyor: bir geminin su geçirmez bölmelere ayrılması gibi, bir sistemin bir bileşenindeki arıza diğer bileşenlere sızmamalı. Aynı kitaptaki "Circuit Breaker" deseni de ilerleyen alternatifler tablosunda karşımıza çıkacak.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sıra diyagramı, tek bir analiz isteğinin önbellek, zaman aşımı ve yeniden deneme kararlarıyla nasıl sonuçlandığını gösteriyor. Önbellek katmanının bu bölümde kod olarak uygulanmadığını, yalnızca alternatifler tablosundaki bir seçeneği bağlam içinde göstermek için diyagrama eklendiğini özellikle belirtin. Diyagram hata izolasyonunun katmanlarını bir arada gösteriyor: önbellek gereksiz çağrıyı baştan önler, zaman aşımı beklemeyi sınırlar, sınırlı yeniden deneme ise geçici hataya bir şans daha tanır. Yeniden denemenin yalnızca bir kez ve bekleme ekleyerek yapıldığına dikkat edin; sınırsız yeniden deneme, zaten yüklü olan servisi büsbütün çökertir. Son dalın 200 OK dönmesi hata izolasyonunun somut karşılığıdır: AI servisi yanıt veremediğinde istek tümüyle başarısız olmaz, yalnızca özet alanı boş kalır. Bu ayrım önemli çünkü öğrenciler genellikle "hata = başarısızlık" diye düşünür; oysa burada hata, kontrollü bir eksik veriye dönüşüyor.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Yeniden deneme (retry) bu kod örneğinde kasıtlı olarak uygulanmamıştır — Şekil 17.2 retry'ı akış düzeyinde gösterir, ancak bu kod tek deneme yapar; `GeciciAiHatasi` sınıfı retry'ı ekleyecek kancayı hazır bulundurmak için ayrılmıştır. Sınırlı retry'ı `yenidenDeneyerekCalistir` (Bölüm 12) ile eklemek, ilerleyen "Bu programı geliştirin" listesinin bir görevi. Üç kritik satıra dikkat: `setTimeout(() =&gt; controller.abort(), zamanAsimiMs)` belirli bir süre sonunda isteğin kendisini iptal ediyor; `if ((hata as Error).name === "AbortError")` satırı zaman aşımından kaynaklanan hatayı diğer hatalardan (`KaliciAiHatasi`) ayırıyor; ve catch bloğundaki `return null` hatayı yutup null döndürerek özet alınamasa da kitap sayfasının geri kalanının çalışmaya devam etmesini sağlıyor — hata izolasyonunun somut uygulaması. Dikkat noktası özellikle önemli: `finally { clearTimeout(zamanlayici); }` olmasaydı, istek zamanında tamamlansa bile zamanlayıcı çalışmaya devam eder ve gereksiz yere bellekte asılı kalırdı; bu yüzden zamanlayıcının temizlenmesi hem başarılı hem hata yolunda çalışan finally bloğuna konmuş.</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Timeout süresinin uzunluğu bağlama göre seçilmelidir: kullanıcının o an ekranda bekleyeceği senkron bir çağrı için birkaç saniyelik kısa bir timeout uygundur; kullanıcının sonucu daha sonra bir bildirimle alacağı asenkron bir işlem içinse çok daha uzun bir timeout, hatta timeout'un tamamen kaldırılıp bir kuyruk mekanizmasına devredilmesi makul olabilir. Sonucu isteğe bağlı bir zenginleştirme olan her AI servisi çağrısında hata izolasyonu tercih edilmelidir; ama sonucu olmadan işlemin anlamsız kalacağı kritik bir adımda — örneğin bir ödeme kararında — sessizce null dönmek yerine işlem tamamen durdurulmalıdır. Circuit breaker deseni, sürekli başarısız olan bir servise istek göndermeyi geçici olarak durdurur; bu, yüksek trafikli servisler için uygundur ama ek durum yönetimi ve eşik ayarı gerektirir. En yaygın hata, retry mantığını AI servisi için de Bölüm 12'deki gibi agresif biçimde uygulamaktır — çok sayıda deneme, kısa bekleme; bir dil modeli zaten yavaşken art arda retry göndermek servisin yükünü daha da artırabilir. Diğer önemli hata, hata izolasyonunu yalnızca kod düzeyinde uygulayıp kullanıcı arayüzünde hiç yansıtmamaktır; kullanıcıya sessizce boş bir alan bırakmak yerine "özet şu anda oluşturulamadı" gibi açık bir bilgilendirme göstermek, kullanıcı deneyimi açısından da hata izolasyonunun bir parçasıdır.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üç hata, timeout ve retry'ın "kopyala-yapıştır" mantığıyla uygulanmasının risklerini gösteriyor. İlk satır, beklemesiz agresif retry'ın zaten yavaş olan bir servisi daha da yorduğunu; doğrusunun sınırlı sayıda deneme (2-3) ve artan bekleme süresiyle yapılması gerektiğini vurguluyor — tıpkı Kod 17.3'teki gibi. İkinci hata, timeout süresini tüm harici servisler için Bölüm 12'deki gibi aynı sabit değerle ayarlamaktır; bir AI servisi doğası gereği daha uzun sürebileceği için timeout süresi bu gerçeği yansıtmalı. Üçüncü hata ise hata izolasyonunu unutup AI servisi çöktüğünde tüm kitap detay sayfasının hata vermesine izin vermektir — bu, bölümün en temel ilkesinin doğrudan ihlalidir. Öğrencilere şunu sorun: "Bir AI servisi üç kez art arda başarısız olursa, sisteminiz dördüncü isteği yine de gönderir mi?" Circuit breaker deseni tam olarak bu soruyu cevaplıyor.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Klasik yazılım fonksiyonları determinizm varsayımıyla test edilir — aynı girdi her zaman aynı çıktıyı üretir; AI/ML modelleri ise olasılıksal sistemlerdir ve bu varsayımı ihlal eder. Bu fark, yazılım güvenilirliği pratiğinde "belirsizlik altında karar verme" çerçevesiyle ele alınır: model çıktısına eşlik eden bir güven skoru, sistemin çıktıya ne ölçüde güvenilebileceğini nicel olarak ifade eder ve bir eşik değeri üzerinden otomatik kabul/ret kararına dönüştürülebilir. Sonuçların zaman içinde gözlemlenmesi, ML sistemlerine özgü "model izleme" pratiğinin temelidir: geleneksel yazılımda kod değişmediği sürece davranış sabit kalırken, bir ML modelinin davranışı arka planda — modelin kendisi güncellenerek veya girdi dağılımı değiştiği için, yani "veri kayması" (data drift) nedeniyle — sessizce değişebilir. Güven skorlarının loglanması yalnızca tekil bir kararı değil, modelin zaman içindeki genel eğilimini de görünür kılar; bu, "insan-döngüde gözetim" (human-in-the-loop) ilkesinin üretim ortamındaki pratik uygulamasıdır. Bir AI çıktısının doğru tipte olması yeterli değildir, aynı zamanda makul (sensible) olup olmadığı da denetlenmelidir.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kodda `if (yanit.guvenSkoru &lt; MINIMUM_GUVEN_SKORU)` satırı, düşük güvenilirlikli bir AI çıktısının kullanıcıya yanıltıcı öneri göstermek yerine bilinçli olarak gizlenmesini sağlıyor. `const MINIMUM_GUVEN_SKORU = 0.5` satırı eşik değerini kod içine gömülü sabit bir değişken olarak tanımlıyor — bu da onu kolayca ayarlanabilir ve test edilebilir kılıyor. `oneriKarariniLogla` fonksiyonu ise her kararın hangi güven skoruyla verildiğini ayrıca logluyor; bu, AI davranışının zamanla izlenebilmesi için kritik. Dikkat noktasını özellikle vurgulayın: eşik değerinin (0.5) neye göre seçildiği kodda belgelenmemiştir; gerçek bir sistemde bu değerin, yanlış pozitif/yanlış negatif oranlarını ölçen bir değerlendirme sürecinden türetilmesi ve zamanla yeniden kalibre edilmesi gerekir. Doğrulamanın kapsamı çıktının etki alanına göre ölçeklenmeli: bir kitap özeti gibi düşük riskli bir çıktı için yalnızca "boş değil mi, makul uzunlukta mı" kontrolü yeterli olabilirken, bir öğrencinin akademik durumuyla ilgili bir öneri gibi daha yüksek riskli bir çıktı için güven skorunun yanı sıra ek bir insan onayı da gerekebilir.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alıştırma kodu, bölümün iki temel ilkesini kasıtlı olarak ihlal ediyor. İlk hata, `fetch(servisTabanUrl + "/ozetle")` çağrısının hiçbir zaman aşımı olmadan yapılması: AI servisi GPU kuyruğunda kilitlenirse veya model dakikalarca "düşünmeye" dalarsa, istek işleyicisi askıda kalır ve istemci kendi zaman aşımına uğrar. Laboratuvar tartışmasında Yasemin bu durumu "pembe gözlük tasarımı" olarak nitelendiriyor ve en fazla 3-5 saniyelik sıkı bir zaman aşımı önerisi getiriyor. İkinci hata, `veri.ozet` alanının `as OzetYaniti` ile körü körüne tipe zorlanıp hiç kontrol edilmeden döndürülmesi: Bahar'ın belirttiği gibi, Python FastAPI servisinden 500 dönerse veya model boş string ya da halüsinasyon üretirse, kullanıcıya boş veya kırık bir metin ulaşır — çünkü tip zorlaması (`as`) yalnızca derleme zamanı kandırmacasıdır, çalışma zamanı doğrulaması (Zod gibi) gerekir. İsmail'in vurguladığı "Zarif Gerileme" (Graceful Degradation) kavramı burada anahtar: AI servisi çöktüğünde veya zaman aşımına uğradığında tüm uç nokta patlamamalı, "Özet şu anda üretilemiyor, lütfen daha sonra tekrar deneyiniz" gibi güvenli bir varsayılan değer dönülmelidir. Elif'in özeti ise bölümün temel duruşunu tek cümlede topluyor: AI servisleri olasılıksal ve dışsal sistemlerdir, asla birincil veritabanı gibi güvenilir kabul edilemez; bir backend mimarı AI çıktısını her zaman şüpheli bir dış girdi olarak değerlendirmelidir.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izleme tablosu, dört farklı servis durumunun hatalı kod ile düzeltilmiş kod üzerinde nasıl farklı sonuçlar doğurduğunu satır satır gösteriyor. GPU kuyruğu kilitlendiğinde hatalı kod süresiz bekler ve soket havuzu kilitlenip HTTP 504 döner; düzeltilmiş kodda 3000 milisaniyelik bir AbortController devreye girip "özet geçici olarak üretilemiyor" fallback metnini döndürür. Model halüsinasyon görüp yalnızca boşluk karakterlerinden oluşan bir özet döndürdüğünde, hatalı kod bunu doğrudan gösterip arayüzde kırık bir kutu yaratır; düzeltilmiş kod `ozet.trim().length &lt; 10` kontrolüyle bunu yakalar. FastAPI servisi HTTP 500 döndüğünde hatalı kod `yanit.json()` çağrısında patlayıp işlenmemiş bir istisna fırlatır; düzeltilmiş kod `try/catch` ve `yanit.ok` denetimiyle bunu loglayıp kullanıcıya kontrollü bir mesaj gösterir. Son satır kasıtlı olarak "başarılı üretim" senaryosunu gösteriyor: burada hatalı kod ile düzeltilmiş kod aynı sonucu verir, çünkü koruma katmanları yalnızca hata durumunda devreye girer — normal çalışmayı yavaşlatmaz veya bozmaz. Bu tabloyu tartışırken öğrencilere şu soruyu yöneltin: zaman aşımı eksikliğinin, Bölüm 16'daki IoT cihaz bağlantı kesintisi senaryosuyla nasıl benzer bir riski paylaştığını açıklayabilirler mi?</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Üç yanılgının ortak teması, yapay zekâ modellerinin deterministik yazılımlar gibi davranmadığı ve bu farkın mimaride yönetilmesi gerektiğidir. Birinci yanılgı — LLM'den JSON istediğinizde dönen metnin her zaman geçerli olacağı varsayımı — pratikte sık karşılaşılan bir tuzak: LLM'ler olasılıksal modellerdir, bazen JSON'ın önüne markdown blokları, fazladan açıklamalar veya eksik parantezler ekleyebilirler. Çözüm, Structured Outputs parametresinin zorunlu kılınması ve dönen gövdenin mutlaka `JSON.parse` ve bir şema (Zod gibi) ile sarmalanarak koruyucu biçimde ayrıştırılmasıdır. İkinci yanılgı, AI mikroservisinin çökmesi durumunda ana uygulamanın da beklemesinin kabul edilebilir olduğu düşüncesidir; oysa bir öğrenci laboratuvar rezervasyonu yaparken arka plandaki AI öneri servisi yanıt vermiyor diye tüm rezervasyon akışı durdurulamaz — bu tam olarak bölümün hata izolasyonu ilkesinin ihlalidir. Üçüncü ve belki en tehlikeli yanılgı, modelden dönen metnin doğrudan doğrulanmadan son kullanıcının ekranına veya veritabanına yazılabileceği varsayımıdır: model halüsinasyon görebilir, zararlı script üretebilir veya sistem promptunu sızdırabilir; bu yüzden AI çıktısı her zaman güvensiz bir dış girdi kabul edilerek güvenlik süzgecinden ve içerik kontrolünden geçirilmelidir.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son kod örneği, bölümün tüm halkalarını — zaman aşımı, geçici/kalıcı hata ayrımı, hata izolasyonu ve çıktı doğrulama — tek bir akışta birleştiriyor. En kritik satır `if (!ozetYanitiniDogrula(hamYanit))` kontrolüdür: zaman aşımı korumasından geçen bir yanıt bile, gövdesi doğrulanmadan doğrudan kullanılmaz. `aday.ozet.trim().length &gt; 0` satırı yalnızca ozet alanının string olmasını değil, boş ya da yalnızca boşluk karakterlerinden oluşmamasını da kontrol ediyor. Zaman aşımı için ayrı bir try/catch, geçersiz veri için ayrı bir if bloğu kullanılması, network/zaman aşımı hataları ile geçersiz veri hatalarının birbirinden ayrı loglanmasını sağlıyor. Dikkat noktası önemli bir mühendislik ödünleşimini gösteriyor: `kitapOzetiniGuvenliGetir` üç farklı başarısızlık türünü (zaman aşımı, geçersiz veri, boş özet) tek bir null dönüş değerine indirgiyor; bu çağıran kod için basitlik sağlıyor ama hangi türde bir hata olduğu bilgisini kaybediyor — üretimde bu bilginin en azından loglama seviyesinde korunması önerilir. Slaytta özetlenen üç geliştirme görevi, öğrencilerin bu temel akışı kendi başlarına genişletmesi için tasarlandı: uzunluk sınırı eklemek basit bir doğrulama alıştırmasıyken, retry eklemek Bölüm 12'deki yenidenDeneyerekCalistir mantığının burada nasıl uyarlanması gerektiğini düşündürüyor, iki servisi birleştirmek ise kısmi başarı (partial success) tasarımının ilk denemesi oluyor.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bölümün kod örnekleri zaman aşımını, geçici/kalıcı hata ayrımını, hata izolasyonunu ve çıktı doğrulamasını çalışır biçimde gösterdi. Sınırlı retry ve önbellek ise yalnızca Şekil 17.2'de akış düzeyinde gösterildi; bunların kodlanması "Bu programı geliştirin" görevlerine bırakıldı. Circuit breaker ve fallback cache desenleri karşılaştırma tablolarında tanıtıldı ama bu bölümde uygulanmadı — bu, öğrencilere hangi kavramların "gördük ve uyguladık", hangilerinin "gördük ama alıştırmaya bıraktık" olduğunu netleştirmek açısından önemli bir ayrım. Model eğitimi ve LLM ince ayarı (fine-tuning) ayrıntıları kapsam dışında tutuldu, çünkü bu bölümün odağı bir AI servisinin nasıl eğitildiği değil, var olan bir AI servisiyle nasıl güvenle entegre olunacağıdır. Servisler arası sözleşme, Node.js ve Python gibi farklı teknoloji yığınlarının birbirinden bağımsız gelişebilmesini sağladı; timeout, sınırlı retry ve hata izolasyonu birlikte AI servisinin yavaşlamasının veya çökmesinin backend'in geri kalanını etkilememesini sağladı; çıktı doğrulama ve gözlemleme ise AI'nin deterministik olmayan doğasına karşı bir güvenlik ağı kurdu.</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bir Node.js backend'inin harici bir AI/ML servisine güvenli API çağrısı yapması, servisler arası sözleşme tasarımı, timeout/retry/hata izolasyonu ve AI çıktısının doğrulanması konularını uyguladık. Kitap boyunca ayrı ayrı işlenen tüm bu yetenekler — authentication, güvenlik, dosya/e-posta işleme, OpenAPI/test, konteynerleştirme, Linux production dağıtımı, IoT entegrasyonu ve şimdi AI entegrasyonu — bir sonraki ve son bölümde, Üniversite Laboratuvar Yönetim Sistemi adlı bütünleşik bir capstone projede bir araya getirilecek. Orada, bu bölümde öğrendiğiniz aynı timeout, retry ve çıktı doğrulama disipliniyle bakım kayıtlarının özetlenmesi ve ekipman arıza riskinin tahmin edilmesi gibi gerçek dünya problemleri ele alınacak. Öğrencilere şunu hatırlatın: capstone projesi yeni bir konu öğretmiyor, bugüne kadarki on yedi bölümde ayrı ayrı inşa edilen yetkinlikleri tek, tutarlı bir sistemde birleştirmeyi istiyor — bu yüzden bu bölümdeki sözleşme ve dayanıklılık alışkanlıklarının sağlam oturması, capstone'daki başarının doğrudan ön koşulu.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17-ai-ml-service-integration-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17-ai-ml-service-integration-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042160"/>
            <a:ext cx="1787319" cy="2410777"/>
            <a:chOff x="666750" y="2042160"/>
            <a:chExt cx="1787319" cy="2410777"/>
          </a:xfrm>
        </p:grpSpPr>
        <p:sp>
          <p:nvSpPr>
            <p:cNvPr id="4" name="TextBox 4"/>
            <p:cNvSpPr txBox="1"/>
            <p:nvPr/>
          </p:nvSpPr>
          <p:spPr>
            <a:xfrm>
              <a:off x="679704" y="204216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29076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17</a:t>
              </a:r>
            </a:p>
          </p:txBody>
        </p:sp>
      </p:grpSp>
      <p:grpSp>
        <p:nvGrpSpPr>
          <p:cNvPr id="8" name="cover-title"/>
          <p:cNvGrpSpPr/>
          <p:nvPr/>
        </p:nvGrpSpPr>
        <p:grpSpPr>
          <a:xfrm>
            <a:off x="4934712" y="1783080"/>
            <a:ext cx="3757041" cy="2361438"/>
            <a:chOff x="4934712" y="1783080"/>
            <a:chExt cx="3757041" cy="2361438"/>
          </a:xfrm>
        </p:grpSpPr>
        <p:sp>
          <p:nvSpPr>
            <p:cNvPr id="7" name="TextBox 7"/>
            <p:cNvSpPr txBox="1"/>
            <p:nvPr/>
          </p:nvSpPr>
          <p:spPr>
            <a:xfrm>
              <a:off x="4934712" y="1783080"/>
              <a:ext cx="3757041" cy="2361438"/>
            </a:xfrm>
            <a:prstGeom prst="rect">
              <a:avLst/>
            </a:prstGeom>
            <a:noFill/>
            <a:ln>
              <a:noFill/>
            </a:ln>
          </p:spPr>
          <p:txBody>
            <a:bodyPr wrap="none" lIns="0" tIns="0" rIns="0" bIns="0" anchor="t" anchorCtr="0">
              <a:spAutoFit/>
            </a:bodyPr>
            <a:lstStyle/>
            <a:p>
              <a:pPr algn="l">
                <a:lnSpc>
                  <a:spcPts val="4350"/>
                </a:lnSpc>
              </a:pPr>
              <a:r>
                <a:rPr lang="tr-TR" sz="3600" b="1" dirty="0">
                  <a:solidFill>
                    <a:srgbClr val="12355B"/>
                  </a:solidFill>
                  <a:latin typeface="+mj-lt"/>
                  <a:ea typeface="+mj-ea"/>
                  <a:cs typeface="+mj-cs"/>
                </a:rPr>
                <a:t>Yapay Zekâ ve</a:t>
              </a:r>
              <a:br/>
              <a:r>
                <a:rPr lang="tr-TR" sz="3600" b="1" dirty="0">
                  <a:solidFill>
                    <a:srgbClr val="12355B"/>
                  </a:solidFill>
                  <a:latin typeface="+mj-lt"/>
                  <a:ea typeface="+mj-ea"/>
                  <a:cs typeface="+mj-cs"/>
                </a:rPr>
                <a:t>ML Servislerinin</a:t>
              </a:r>
              <a:br/>
              <a:r>
                <a:rPr lang="tr-TR" sz="3600" b="1" dirty="0">
                  <a:solidFill>
                    <a:srgbClr val="12355B"/>
                  </a:solidFill>
                  <a:latin typeface="+mj-lt"/>
                  <a:ea typeface="+mj-ea"/>
                  <a:cs typeface="+mj-cs"/>
                </a:rPr>
                <a:t>Backend'e</a:t>
              </a:r>
              <a:br/>
              <a:r>
                <a:rPr lang="tr-TR" sz="3600" b="1" dirty="0">
                  <a:solidFill>
                    <a:srgbClr val="12355B"/>
                  </a:solidFill>
                  <a:latin typeface="+mj-lt"/>
                  <a:ea typeface="+mj-ea"/>
                  <a:cs typeface="+mj-cs"/>
                </a:rPr>
                <a:t>Entegrasyonu</a:t>
              </a:r>
            </a:p>
          </p:txBody>
        </p:sp>
      </p:grpSp>
      <p:grpSp>
        <p:nvGrpSpPr>
          <p:cNvPr id="12" name="cover-subtitle"/>
          <p:cNvGrpSpPr/>
          <p:nvPr/>
        </p:nvGrpSpPr>
        <p:grpSpPr>
          <a:xfrm>
            <a:off x="4943094" y="4381500"/>
            <a:ext cx="4648390" cy="900018"/>
            <a:chOff x="4943094" y="4381500"/>
            <a:chExt cx="4648390" cy="900018"/>
          </a:xfrm>
        </p:grpSpPr>
        <p:sp>
          <p:nvSpPr>
            <p:cNvPr id="9" name="Rectangle 9"/>
            <p:cNvSpPr/>
            <p:nvPr/>
          </p:nvSpPr>
          <p:spPr>
            <a:xfrm>
              <a:off x="4953000" y="4381500"/>
              <a:ext cx="1143000" cy="38100"/>
            </a:xfrm>
            <a:prstGeom prst="rect">
              <a:avLst/>
            </a:prstGeom>
            <a:solidFill>
              <a:srgbClr val="00A6A6"/>
            </a:solidFill>
            <a:ln>
              <a:noFill/>
            </a:ln>
          </p:spPr>
        </p:sp>
        <p:sp>
          <p:nvSpPr>
            <p:cNvPr id="10" name="TextBox 10"/>
            <p:cNvSpPr txBox="1"/>
            <p:nvPr/>
          </p:nvSpPr>
          <p:spPr>
            <a:xfrm>
              <a:off x="4943094" y="451389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97347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intro"/>
          <p:cNvGrpSpPr/>
          <p:nvPr/>
        </p:nvGrpSpPr>
        <p:grpSpPr>
          <a:xfrm>
            <a:off x="601599" y="1125379"/>
            <a:ext cx="5968116" cy="308039"/>
            <a:chOff x="601599" y="1125379"/>
            <a:chExt cx="5968116" cy="308039"/>
          </a:xfrm>
        </p:grpSpPr>
        <p:sp>
          <p:nvSpPr>
            <p:cNvPr id="6" name="TextBox 6"/>
            <p:cNvSpPr txBox="1"/>
            <p:nvPr/>
          </p:nvSpPr>
          <p:spPr>
            <a:xfrm>
              <a:off x="601599" y="1125379"/>
              <a:ext cx="596811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aşağıdaki beş soruyu aklınızda tutun.</a:t>
              </a:r>
            </a:p>
          </p:txBody>
        </p:sp>
      </p:grpSp>
      <p:grpSp>
        <p:nvGrpSpPr>
          <p:cNvPr id="11" name="road-q1"/>
          <p:cNvGrpSpPr/>
          <p:nvPr/>
        </p:nvGrpSpPr>
        <p:grpSpPr>
          <a:xfrm>
            <a:off x="666750" y="1543050"/>
            <a:ext cx="8528685" cy="623792"/>
            <a:chOff x="666750" y="1543050"/>
            <a:chExt cx="8528685" cy="623792"/>
          </a:xfrm>
        </p:grpSpPr>
        <p:sp>
          <p:nvSpPr>
            <p:cNvPr id="8" name="Ellipse 8"/>
            <p:cNvSpPr/>
            <p:nvPr/>
          </p:nvSpPr>
          <p:spPr>
            <a:xfrm>
              <a:off x="666750" y="1543050"/>
              <a:ext cx="342900" cy="342900"/>
            </a:xfrm>
            <a:prstGeom prst="ellipse">
              <a:avLst/>
            </a:prstGeom>
            <a:solidFill>
              <a:srgbClr val="12355B"/>
            </a:solidFill>
            <a:ln>
              <a:noFill/>
            </a:ln>
          </p:spPr>
        </p:sp>
        <p:sp>
          <p:nvSpPr>
            <p:cNvPr id="9" name="TextBox 9"/>
            <p:cNvSpPr txBox="1"/>
            <p:nvPr/>
          </p:nvSpPr>
          <p:spPr>
            <a:xfrm>
              <a:off x="778865" y="16354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0" name="TextBox 10"/>
            <p:cNvSpPr txBox="1"/>
            <p:nvPr/>
          </p:nvSpPr>
          <p:spPr>
            <a:xfrm>
              <a:off x="1173099" y="1611154"/>
              <a:ext cx="802233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Node.js backend'i bir LLM/ML servisiyle konuşurken, bunu Bölüm 12'deki harici</a:t>
              </a:r>
              <a:br/>
              <a:r>
                <a:rPr lang="tr-TR" sz="1580" dirty="0">
                  <a:solidFill>
                    <a:srgbClr val="172B3A"/>
                  </a:solidFill>
                  <a:latin typeface="+mn-lt"/>
                  <a:ea typeface="+mn-ea"/>
                  <a:cs typeface="+mn-cs"/>
                </a:rPr>
                <a:t>API'den neden farklı ele almalıdır?</a:t>
              </a:r>
            </a:p>
          </p:txBody>
        </p:sp>
      </p:grpSp>
      <p:grpSp>
        <p:nvGrpSpPr>
          <p:cNvPr id="15" name="road-q2"/>
          <p:cNvGrpSpPr/>
          <p:nvPr/>
        </p:nvGrpSpPr>
        <p:grpSpPr>
          <a:xfrm>
            <a:off x="666750" y="2190750"/>
            <a:ext cx="7876540" cy="623792"/>
            <a:chOff x="666750" y="2190750"/>
            <a:chExt cx="7876540" cy="623792"/>
          </a:xfrm>
        </p:grpSpPr>
        <p:sp>
          <p:nvSpPr>
            <p:cNvPr id="12" name="Ellipse 12"/>
            <p:cNvSpPr/>
            <p:nvPr/>
          </p:nvSpPr>
          <p:spPr>
            <a:xfrm>
              <a:off x="666750" y="2190750"/>
              <a:ext cx="342900" cy="342900"/>
            </a:xfrm>
            <a:prstGeom prst="ellipse">
              <a:avLst/>
            </a:prstGeom>
            <a:solidFill>
              <a:srgbClr val="12355B"/>
            </a:solidFill>
            <a:ln>
              <a:noFill/>
            </a:ln>
          </p:spPr>
        </p:sp>
        <p:sp>
          <p:nvSpPr>
            <p:cNvPr id="13" name="TextBox 13"/>
            <p:cNvSpPr txBox="1"/>
            <p:nvPr/>
          </p:nvSpPr>
          <p:spPr>
            <a:xfrm>
              <a:off x="778865" y="22831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14" name="TextBox 14"/>
            <p:cNvSpPr txBox="1"/>
            <p:nvPr/>
          </p:nvSpPr>
          <p:spPr>
            <a:xfrm>
              <a:off x="1173099" y="2258854"/>
              <a:ext cx="737019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Node.js ile Python/FastAPI servisi arasındaki "sözleşme" ne anlama gelir ve</a:t>
              </a:r>
              <a:br/>
              <a:r>
                <a:rPr lang="tr-TR" sz="1580" dirty="0">
                  <a:solidFill>
                    <a:srgbClr val="172B3A"/>
                  </a:solidFill>
                  <a:latin typeface="+mn-lt"/>
                  <a:ea typeface="+mn-ea"/>
                  <a:cs typeface="+mn-cs"/>
                </a:rPr>
                <a:t>neden açıkça tanımlanmalıdır?</a:t>
              </a:r>
            </a:p>
          </p:txBody>
        </p:sp>
      </p:grpSp>
      <p:grpSp>
        <p:nvGrpSpPr>
          <p:cNvPr id="19" name="road-q3"/>
          <p:cNvGrpSpPr/>
          <p:nvPr/>
        </p:nvGrpSpPr>
        <p:grpSpPr>
          <a:xfrm>
            <a:off x="666750" y="2838450"/>
            <a:ext cx="8227695" cy="623792"/>
            <a:chOff x="666750" y="2838450"/>
            <a:chExt cx="8227695" cy="623792"/>
          </a:xfrm>
        </p:grpSpPr>
        <p:sp>
          <p:nvSpPr>
            <p:cNvPr id="16" name="Ellipse 16"/>
            <p:cNvSpPr/>
            <p:nvPr/>
          </p:nvSpPr>
          <p:spPr>
            <a:xfrm>
              <a:off x="666750" y="2838450"/>
              <a:ext cx="342900" cy="342900"/>
            </a:xfrm>
            <a:prstGeom prst="ellipse">
              <a:avLst/>
            </a:prstGeom>
            <a:solidFill>
              <a:srgbClr val="12355B"/>
            </a:solidFill>
            <a:ln>
              <a:noFill/>
            </a:ln>
          </p:spPr>
        </p:sp>
        <p:sp>
          <p:nvSpPr>
            <p:cNvPr id="17" name="TextBox 17"/>
            <p:cNvSpPr txBox="1"/>
            <p:nvPr/>
          </p:nvSpPr>
          <p:spPr>
            <a:xfrm>
              <a:off x="778865" y="29308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18" name="TextBox 18"/>
            <p:cNvSpPr txBox="1"/>
            <p:nvPr/>
          </p:nvSpPr>
          <p:spPr>
            <a:xfrm>
              <a:off x="1173099" y="2906554"/>
              <a:ext cx="772134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Bir AI servisi normalden çok daha yavaş yanıt verdiğinde backend'in geri kalanı</a:t>
              </a:r>
              <a:br/>
              <a:r>
                <a:rPr lang="tr-TR" sz="1580" dirty="0">
                  <a:solidFill>
                    <a:srgbClr val="172B3A"/>
                  </a:solidFill>
                  <a:latin typeface="+mn-lt"/>
                  <a:ea typeface="+mn-ea"/>
                  <a:cs typeface="+mn-cs"/>
                </a:rPr>
                <a:t>nasıl korunur?</a:t>
              </a:r>
            </a:p>
          </p:txBody>
        </p:sp>
      </p:grpSp>
      <p:grpSp>
        <p:nvGrpSpPr>
          <p:cNvPr id="23" name="road-q4"/>
          <p:cNvGrpSpPr/>
          <p:nvPr/>
        </p:nvGrpSpPr>
        <p:grpSpPr>
          <a:xfrm>
            <a:off x="666750" y="3486150"/>
            <a:ext cx="6870063" cy="376143"/>
            <a:chOff x="666750" y="3486150"/>
            <a:chExt cx="6870063" cy="376143"/>
          </a:xfrm>
        </p:grpSpPr>
        <p:sp>
          <p:nvSpPr>
            <p:cNvPr id="20" name="Ellipse 20"/>
            <p:cNvSpPr/>
            <p:nvPr/>
          </p:nvSpPr>
          <p:spPr>
            <a:xfrm>
              <a:off x="666750" y="3486150"/>
              <a:ext cx="342900" cy="342900"/>
            </a:xfrm>
            <a:prstGeom prst="ellipse">
              <a:avLst/>
            </a:prstGeom>
            <a:solidFill>
              <a:srgbClr val="12355B"/>
            </a:solidFill>
            <a:ln>
              <a:noFill/>
            </a:ln>
          </p:spPr>
        </p:sp>
        <p:sp>
          <p:nvSpPr>
            <p:cNvPr id="21" name="TextBox 21"/>
            <p:cNvSpPr txBox="1"/>
            <p:nvPr/>
          </p:nvSpPr>
          <p:spPr>
            <a:xfrm>
              <a:off x="778865" y="35785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22" name="TextBox 22"/>
            <p:cNvSpPr txBox="1"/>
            <p:nvPr/>
          </p:nvSpPr>
          <p:spPr>
            <a:xfrm>
              <a:off x="1173099" y="3554254"/>
              <a:ext cx="636371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Bir AI servisinin ürettiği çıktıya neden kör güvenilmemelidir?</a:t>
              </a:r>
            </a:p>
          </p:txBody>
        </p:sp>
      </p:grpSp>
      <p:grpSp>
        <p:nvGrpSpPr>
          <p:cNvPr id="27" name="road-q5"/>
          <p:cNvGrpSpPr/>
          <p:nvPr/>
        </p:nvGrpSpPr>
        <p:grpSpPr>
          <a:xfrm>
            <a:off x="666750" y="4000500"/>
            <a:ext cx="7916672" cy="623792"/>
            <a:chOff x="666750" y="4000500"/>
            <a:chExt cx="7916672" cy="623792"/>
          </a:xfrm>
        </p:grpSpPr>
        <p:sp>
          <p:nvSpPr>
            <p:cNvPr id="24" name="Ellipse 24"/>
            <p:cNvSpPr/>
            <p:nvPr/>
          </p:nvSpPr>
          <p:spPr>
            <a:xfrm>
              <a:off x="666750" y="4000500"/>
              <a:ext cx="342900" cy="342900"/>
            </a:xfrm>
            <a:prstGeom prst="ellipse">
              <a:avLst/>
            </a:prstGeom>
            <a:solidFill>
              <a:srgbClr val="12355B"/>
            </a:solidFill>
            <a:ln>
              <a:noFill/>
            </a:ln>
          </p:spPr>
        </p:sp>
        <p:sp>
          <p:nvSpPr>
            <p:cNvPr id="25" name="TextBox 25"/>
            <p:cNvSpPr txBox="1"/>
            <p:nvPr/>
          </p:nvSpPr>
          <p:spPr>
            <a:xfrm>
              <a:off x="778865" y="409289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26" name="TextBox 26"/>
            <p:cNvSpPr txBox="1"/>
            <p:nvPr/>
          </p:nvSpPr>
          <p:spPr>
            <a:xfrm>
              <a:off x="1173099" y="4068604"/>
              <a:ext cx="741032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AI servisinin davranışı zamanla değiştiğinde (model güncellemesi) bunu fark</a:t>
              </a:r>
              <a:br/>
              <a:r>
                <a:rPr lang="tr-TR" sz="1580" dirty="0">
                  <a:solidFill>
                    <a:srgbClr val="172B3A"/>
                  </a:solidFill>
                  <a:latin typeface="+mn-lt"/>
                  <a:ea typeface="+mn-ea"/>
                  <a:cs typeface="+mn-cs"/>
                </a:rPr>
                <a:t>etmenin yolu nedir?</a:t>
              </a:r>
            </a:p>
          </p:txBody>
        </p:sp>
      </p:grpSp>
      <p:grpSp>
        <p:nvGrpSpPr>
          <p:cNvPr id="31" name="road-goal"/>
          <p:cNvGrpSpPr/>
          <p:nvPr/>
        </p:nvGrpSpPr>
        <p:grpSpPr>
          <a:xfrm>
            <a:off x="609600" y="5257800"/>
            <a:ext cx="10972800" cy="1047750"/>
            <a:chOff x="609600" y="5257800"/>
            <a:chExt cx="10972800" cy="1047750"/>
          </a:xfrm>
        </p:grpSpPr>
        <p:sp>
          <p:nvSpPr>
            <p:cNvPr id="28" name="Rectangle 28"/>
            <p:cNvSpPr/>
            <p:nvPr/>
          </p:nvSpPr>
          <p:spPr>
            <a:xfrm>
              <a:off x="609600" y="5257800"/>
              <a:ext cx="10972800" cy="1047750"/>
            </a:xfrm>
            <a:prstGeom prst="roundRect">
              <a:avLst>
                <a:gd name="adj" fmla="val 7273"/>
              </a:avLst>
            </a:prstGeom>
            <a:solidFill>
              <a:srgbClr val="EAF4F6"/>
            </a:solidFill>
            <a:ln>
              <a:noFill/>
            </a:ln>
          </p:spPr>
        </p:sp>
        <p:sp>
          <p:nvSpPr>
            <p:cNvPr id="29" name="TextBox 29"/>
            <p:cNvSpPr txBox="1"/>
            <p:nvPr/>
          </p:nvSpPr>
          <p:spPr>
            <a:xfrm>
              <a:off x="908304" y="5452110"/>
              <a:ext cx="1557772"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 BÖLÜM HEDEFİ</a:t>
              </a:r>
            </a:p>
          </p:txBody>
        </p:sp>
        <p:sp>
          <p:nvSpPr>
            <p:cNvPr id="30" name="TextBox 30"/>
            <p:cNvSpPr txBox="1"/>
            <p:nvPr/>
          </p:nvSpPr>
          <p:spPr>
            <a:xfrm>
              <a:off x="906399" y="5716429"/>
              <a:ext cx="962761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Kütüphane API'si, kitap özeti/öneri üreten harici bir FastAPI/LLM servisiyle güvenli,</a:t>
              </a:r>
              <a:br/>
              <a:r>
                <a:rPr lang="tr-TR" sz="1580" dirty="0">
                  <a:solidFill>
                    <a:srgbClr val="12355B"/>
                  </a:solidFill>
                  <a:latin typeface="+mn-lt"/>
                  <a:ea typeface="+mn-ea"/>
                  <a:cs typeface="+mn-cs"/>
                </a:rPr>
                <a:t>zaman aşımlı, hata izolasyonlu ve çıktısı doğrulanan bir sözleşme üzerinden entegre edilecektir.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272540"/>
            <a:ext cx="9184851" cy="637128"/>
            <a:chOff x="685800" y="1272540"/>
            <a:chExt cx="9184851" cy="637128"/>
          </a:xfrm>
        </p:grpSpPr>
        <p:sp>
          <p:nvSpPr>
            <p:cNvPr id="6" name="Rectangle 6"/>
            <p:cNvSpPr/>
            <p:nvPr/>
          </p:nvSpPr>
          <p:spPr>
            <a:xfrm>
              <a:off x="685800" y="1276350"/>
              <a:ext cx="57150" cy="495300"/>
            </a:xfrm>
            <a:prstGeom prst="rect">
              <a:avLst/>
            </a:prstGeom>
            <a:solidFill>
              <a:srgbClr val="00A6A6"/>
            </a:solidFill>
            <a:ln>
              <a:noFill/>
            </a:ln>
          </p:spPr>
        </p:sp>
        <p:sp>
          <p:nvSpPr>
            <p:cNvPr id="7" name="TextBox 7"/>
            <p:cNvSpPr txBox="1"/>
            <p:nvPr/>
          </p:nvSpPr>
          <p:spPr>
            <a:xfrm>
              <a:off x="981456" y="1272540"/>
              <a:ext cx="888919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Harici bir AI/ML servisine güvenli, zaman aşımlı bir API çağrısı yapmak</a:t>
              </a:r>
            </a:p>
          </p:txBody>
        </p:sp>
        <p:sp>
          <p:nvSpPr>
            <p:cNvPr id="8" name="TextBox 8"/>
            <p:cNvSpPr txBox="1"/>
            <p:nvPr/>
          </p:nvSpPr>
          <p:spPr>
            <a:xfrm>
              <a:off x="982599" y="1601629"/>
              <a:ext cx="712859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Kod 17.3'teki AbortController deseni doğru biçimde uygulanır</a:t>
              </a:r>
            </a:p>
          </p:txBody>
        </p:sp>
      </p:grpSp>
      <p:grpSp>
        <p:nvGrpSpPr>
          <p:cNvPr id="13" name="objective-2"/>
          <p:cNvGrpSpPr/>
          <p:nvPr/>
        </p:nvGrpSpPr>
        <p:grpSpPr>
          <a:xfrm>
            <a:off x="685800" y="2015490"/>
            <a:ext cx="10239760" cy="637128"/>
            <a:chOff x="685800" y="2015490"/>
            <a:chExt cx="10239760" cy="637128"/>
          </a:xfrm>
        </p:grpSpPr>
        <p:sp>
          <p:nvSpPr>
            <p:cNvPr id="10" name="Rectangle 10"/>
            <p:cNvSpPr/>
            <p:nvPr/>
          </p:nvSpPr>
          <p:spPr>
            <a:xfrm>
              <a:off x="685800" y="2019300"/>
              <a:ext cx="57150" cy="495300"/>
            </a:xfrm>
            <a:prstGeom prst="rect">
              <a:avLst/>
            </a:prstGeom>
            <a:solidFill>
              <a:srgbClr val="00A6A6"/>
            </a:solidFill>
            <a:ln>
              <a:noFill/>
            </a:ln>
          </p:spPr>
        </p:sp>
        <p:sp>
          <p:nvSpPr>
            <p:cNvPr id="11" name="TextBox 11"/>
            <p:cNvSpPr txBox="1"/>
            <p:nvPr/>
          </p:nvSpPr>
          <p:spPr>
            <a:xfrm>
              <a:off x="981456" y="2015490"/>
              <a:ext cx="994410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Node.js ile FastAPI servisi arasında açık bir istek/yanıt sözleşmesi tasarlamak</a:t>
              </a:r>
            </a:p>
          </p:txBody>
        </p:sp>
        <p:sp>
          <p:nvSpPr>
            <p:cNvPr id="12" name="TextBox 12"/>
            <p:cNvSpPr txBox="1"/>
            <p:nvPr/>
          </p:nvSpPr>
          <p:spPr>
            <a:xfrm>
              <a:off x="982599" y="2344579"/>
              <a:ext cx="688237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alan adları ve tipler iki tarafta tutarlı biçimde tanımlanır</a:t>
              </a:r>
            </a:p>
          </p:txBody>
        </p:sp>
      </p:grpSp>
      <p:grpSp>
        <p:nvGrpSpPr>
          <p:cNvPr id="17" name="objective-3"/>
          <p:cNvGrpSpPr/>
          <p:nvPr/>
        </p:nvGrpSpPr>
        <p:grpSpPr>
          <a:xfrm>
            <a:off x="685800" y="2758440"/>
            <a:ext cx="10389472" cy="637128"/>
            <a:chOff x="685800" y="2758440"/>
            <a:chExt cx="10389472" cy="637128"/>
          </a:xfrm>
        </p:grpSpPr>
        <p:sp>
          <p:nvSpPr>
            <p:cNvPr id="14" name="Rectangle 14"/>
            <p:cNvSpPr/>
            <p:nvPr/>
          </p:nvSpPr>
          <p:spPr>
            <a:xfrm>
              <a:off x="685800" y="2762250"/>
              <a:ext cx="57150" cy="495300"/>
            </a:xfrm>
            <a:prstGeom prst="rect">
              <a:avLst/>
            </a:prstGeom>
            <a:solidFill>
              <a:srgbClr val="00A6A6"/>
            </a:solidFill>
            <a:ln>
              <a:noFill/>
            </a:ln>
          </p:spPr>
        </p:sp>
        <p:sp>
          <p:nvSpPr>
            <p:cNvPr id="15" name="TextBox 15"/>
            <p:cNvSpPr txBox="1"/>
            <p:nvPr/>
          </p:nvSpPr>
          <p:spPr>
            <a:xfrm>
              <a:off x="981456" y="2758440"/>
              <a:ext cx="100938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Timeout ve retry'ı AI servisinin yavaş, öngörülemez davranışına göre ayarlamak</a:t>
              </a:r>
            </a:p>
          </p:txBody>
        </p:sp>
        <p:sp>
          <p:nvSpPr>
            <p:cNvPr id="16" name="TextBox 16"/>
            <p:cNvSpPr txBox="1"/>
            <p:nvPr/>
          </p:nvSpPr>
          <p:spPr>
            <a:xfrm>
              <a:off x="982599" y="3087529"/>
              <a:ext cx="747289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sabit bir REST API süresi yerine gerekçeli bir zaman aşımı seçilir</a:t>
              </a:r>
            </a:p>
          </p:txBody>
        </p:sp>
      </p:grpSp>
      <p:grpSp>
        <p:nvGrpSpPr>
          <p:cNvPr id="21" name="objective-4"/>
          <p:cNvGrpSpPr/>
          <p:nvPr/>
        </p:nvGrpSpPr>
        <p:grpSpPr>
          <a:xfrm>
            <a:off x="685800" y="3501390"/>
            <a:ext cx="8458638" cy="637128"/>
            <a:chOff x="685800" y="3501390"/>
            <a:chExt cx="8458638" cy="637128"/>
          </a:xfrm>
        </p:grpSpPr>
        <p:sp>
          <p:nvSpPr>
            <p:cNvPr id="18" name="Rectangle 18"/>
            <p:cNvSpPr/>
            <p:nvPr/>
          </p:nvSpPr>
          <p:spPr>
            <a:xfrm>
              <a:off x="685800" y="3505200"/>
              <a:ext cx="57150" cy="495300"/>
            </a:xfrm>
            <a:prstGeom prst="rect">
              <a:avLst/>
            </a:prstGeom>
            <a:solidFill>
              <a:srgbClr val="00A6A6"/>
            </a:solidFill>
            <a:ln>
              <a:noFill/>
            </a:ln>
          </p:spPr>
        </p:sp>
        <p:sp>
          <p:nvSpPr>
            <p:cNvPr id="19" name="TextBox 19"/>
            <p:cNvSpPr txBox="1"/>
            <p:nvPr/>
          </p:nvSpPr>
          <p:spPr>
            <a:xfrm>
              <a:off x="981456" y="3501390"/>
              <a:ext cx="816298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AI servisinin çökmesini hata izolasyonuyla ana işlevlerden ayırmak</a:t>
              </a:r>
            </a:p>
          </p:txBody>
        </p:sp>
        <p:sp>
          <p:nvSpPr>
            <p:cNvPr id="20" name="TextBox 20"/>
            <p:cNvSpPr txBox="1"/>
            <p:nvPr/>
          </p:nvSpPr>
          <p:spPr>
            <a:xfrm>
              <a:off x="982599" y="3830479"/>
              <a:ext cx="802440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AI servisi durduğunda kitap arama ve ödünç alma çalışmaya devam eder</a:t>
              </a:r>
            </a:p>
          </p:txBody>
        </p:sp>
      </p:grpSp>
      <p:grpSp>
        <p:nvGrpSpPr>
          <p:cNvPr id="25" name="objective-5"/>
          <p:cNvGrpSpPr/>
          <p:nvPr/>
        </p:nvGrpSpPr>
        <p:grpSpPr>
          <a:xfrm>
            <a:off x="685800" y="4244340"/>
            <a:ext cx="8663135" cy="637128"/>
            <a:chOff x="685800" y="4244340"/>
            <a:chExt cx="8663135" cy="637128"/>
          </a:xfrm>
        </p:grpSpPr>
        <p:sp>
          <p:nvSpPr>
            <p:cNvPr id="22" name="Rectangle 22"/>
            <p:cNvSpPr/>
            <p:nvPr/>
          </p:nvSpPr>
          <p:spPr>
            <a:xfrm>
              <a:off x="685800" y="4248150"/>
              <a:ext cx="57150" cy="495300"/>
            </a:xfrm>
            <a:prstGeom prst="rect">
              <a:avLst/>
            </a:prstGeom>
            <a:solidFill>
              <a:srgbClr val="00A6A6"/>
            </a:solidFill>
            <a:ln>
              <a:noFill/>
            </a:ln>
          </p:spPr>
        </p:sp>
        <p:sp>
          <p:nvSpPr>
            <p:cNvPr id="23" name="TextBox 23"/>
            <p:cNvSpPr txBox="1"/>
            <p:nvPr/>
          </p:nvSpPr>
          <p:spPr>
            <a:xfrm>
              <a:off x="981456" y="4244340"/>
              <a:ext cx="836747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AI çıktısını kullanıcıya sunmadan önce doğrulamak ve gözlemlemek</a:t>
              </a:r>
            </a:p>
          </p:txBody>
        </p:sp>
        <p:sp>
          <p:nvSpPr>
            <p:cNvPr id="24" name="TextBox 24"/>
            <p:cNvSpPr txBox="1"/>
            <p:nvPr/>
          </p:nvSpPr>
          <p:spPr>
            <a:xfrm>
              <a:off x="982599" y="4573429"/>
              <a:ext cx="765888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doğrulanmamış veya düşük güvenli çıktı asla sorgusuz gösterilmez</a:t>
              </a:r>
            </a:p>
          </p:txBody>
        </p:sp>
      </p:grpSp>
      <p:grpSp>
        <p:nvGrpSpPr>
          <p:cNvPr id="29" name="objective-goal"/>
          <p:cNvGrpSpPr/>
          <p:nvPr/>
        </p:nvGrpSpPr>
        <p:grpSpPr>
          <a:xfrm>
            <a:off x="609600" y="5257800"/>
            <a:ext cx="10972800" cy="1047750"/>
            <a:chOff x="609600" y="5257800"/>
            <a:chExt cx="10972800" cy="1047750"/>
          </a:xfrm>
        </p:grpSpPr>
        <p:sp>
          <p:nvSpPr>
            <p:cNvPr id="26" name="Rectangle 26"/>
            <p:cNvSpPr/>
            <p:nvPr/>
          </p:nvSpPr>
          <p:spPr>
            <a:xfrm>
              <a:off x="609600" y="5257800"/>
              <a:ext cx="10972800" cy="1047750"/>
            </a:xfrm>
            <a:prstGeom prst="roundRect">
              <a:avLst>
                <a:gd name="adj" fmla="val 7273"/>
              </a:avLst>
            </a:prstGeom>
            <a:solidFill>
              <a:srgbClr val="EAF4F6"/>
            </a:solidFill>
            <a:ln>
              <a:noFill/>
            </a:ln>
          </p:spPr>
        </p:sp>
        <p:sp>
          <p:nvSpPr>
            <p:cNvPr id="27" name="TextBox 27"/>
            <p:cNvSpPr txBox="1"/>
            <p:nvPr/>
          </p:nvSpPr>
          <p:spPr>
            <a:xfrm>
              <a:off x="908304" y="5452110"/>
              <a:ext cx="1557772"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 BÖLÜM HEDEFİ</a:t>
              </a:r>
            </a:p>
          </p:txBody>
        </p:sp>
        <p:sp>
          <p:nvSpPr>
            <p:cNvPr id="28" name="TextBox 28"/>
            <p:cNvSpPr txBox="1"/>
            <p:nvPr/>
          </p:nvSpPr>
          <p:spPr>
            <a:xfrm>
              <a:off x="906399" y="5716429"/>
              <a:ext cx="7891907"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Bölüm sonunda öğrenci, bir Node.js backend'ini harici bir AI/ML servisiyle güvenli</a:t>
              </a:r>
              <a:br/>
              <a:r>
                <a:rPr lang="tr-TR" sz="1580" dirty="0">
                  <a:solidFill>
                    <a:srgbClr val="12355B"/>
                  </a:solidFill>
                  <a:latin typeface="+mn-lt"/>
                  <a:ea typeface="+mn-ea"/>
                  <a:cs typeface="+mn-cs"/>
                </a:rPr>
                <a:t>ve dayanıklı biçimde entegre edebilecektir.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641247" cy="668845"/>
            <a:chOff x="609600" y="171450"/>
            <a:chExt cx="7641247"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695087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beş temel disiplin</a:t>
              </a:r>
            </a:p>
          </p:txBody>
        </p:sp>
      </p:grpSp>
      <p:grpSp>
        <p:nvGrpSpPr>
          <p:cNvPr id="50" name="concept-map"/>
          <p:cNvGrpSpPr/>
          <p:nvPr/>
        </p:nvGrpSpPr>
        <p:grpSpPr>
          <a:xfrm>
            <a:off x="685800" y="1219200"/>
            <a:ext cx="10896600" cy="4886706"/>
            <a:chOff x="685800" y="1219200"/>
            <a:chExt cx="10896600" cy="4886706"/>
          </a:xfrm>
        </p:grpSpPr>
        <p:grpSp>
          <p:nvGrpSpPr>
            <p:cNvPr id="21" name="Group 21"/>
            <p:cNvGrpSpPr/>
            <p:nvPr/>
          </p:nvGrpSpPr>
          <p:grpSpPr>
            <a:xfrm>
              <a:off x="3143250" y="1581150"/>
              <a:ext cx="5619750" cy="4038600"/>
              <a:chOff x="3143250" y="1581150"/>
              <a:chExt cx="56197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a:off x="8096250" y="4572000"/>
                <a:ext cx="666750" cy="74295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381250"/>
              <a:ext cx="2381250" cy="1428750"/>
              <a:chOff x="685800" y="2381250"/>
              <a:chExt cx="2381250" cy="1428750"/>
            </a:xfrm>
          </p:grpSpPr>
          <p:sp>
            <p:nvSpPr>
              <p:cNvPr id="22" name="Rectangle 22"/>
              <p:cNvSpPr/>
              <p:nvPr/>
            </p:nvSpPr>
            <p:spPr>
              <a:xfrm>
                <a:off x="685800" y="2381250"/>
                <a:ext cx="2381250" cy="1428750"/>
              </a:xfrm>
              <a:prstGeom prst="roundRect">
                <a:avLst>
                  <a:gd name="adj" fmla="val 6667"/>
                </a:avLst>
              </a:prstGeom>
              <a:solidFill>
                <a:srgbClr val="12355B"/>
              </a:solidFill>
              <a:ln>
                <a:noFill/>
              </a:ln>
            </p:spPr>
          </p:sp>
          <p:sp>
            <p:nvSpPr>
              <p:cNvPr id="23" name="TextBox 23"/>
              <p:cNvSpPr txBox="1"/>
              <p:nvPr/>
            </p:nvSpPr>
            <p:spPr>
              <a:xfrm>
                <a:off x="942213" y="2734151"/>
                <a:ext cx="1798396" cy="738950"/>
              </a:xfrm>
              <a:prstGeom prst="rect">
                <a:avLst/>
              </a:prstGeom>
              <a:noFill/>
              <a:ln>
                <a:noFill/>
              </a:ln>
            </p:spPr>
            <p:txBody>
              <a:bodyPr wrap="none" lIns="0" tIns="0" rIns="0" bIns="0" anchor="t" anchorCtr="0">
                <a:spAutoFit/>
              </a:bodyPr>
              <a:lstStyle/>
              <a:p>
                <a:pPr algn="l">
                  <a:lnSpc>
                    <a:spcPts val="2700"/>
                  </a:lnSpc>
                </a:pPr>
                <a:r>
                  <a:rPr lang="tr-TR" sz="2020" b="1" dirty="0">
                    <a:solidFill>
                      <a:srgbClr val="FFFFFF"/>
                    </a:solidFill>
                    <a:latin typeface="+mn-lt"/>
                    <a:ea typeface="+mn-ea"/>
                    <a:cs typeface="+mn-cs"/>
                  </a:rPr>
                  <a:t>AI/ML Servis</a:t>
                </a:r>
                <a:br/>
                <a:r>
                  <a:rPr lang="tr-TR" sz="2020" b="1" dirty="0">
                    <a:solidFill>
                      <a:srgbClr val="FFFFFF"/>
                    </a:solidFill>
                    <a:latin typeface="+mn-lt"/>
                    <a:ea typeface="+mn-ea"/>
                    <a:cs typeface="+mn-cs"/>
                  </a:rPr>
                  <a:t>Entegrasyonu</a:t>
                </a:r>
              </a:p>
            </p:txBody>
          </p:sp>
        </p:grpSp>
        <p:grpSp>
          <p:nvGrpSpPr>
            <p:cNvPr id="28" name="map-node-sozlesme"/>
            <p:cNvGrpSpPr/>
            <p:nvPr/>
          </p:nvGrpSpPr>
          <p:grpSpPr>
            <a:xfrm>
              <a:off x="4572000" y="1219200"/>
              <a:ext cx="3810000" cy="723900"/>
              <a:chOff x="4572000" y="1219200"/>
              <a:chExt cx="3810000" cy="723900"/>
            </a:xfrm>
          </p:grpSpPr>
          <p:sp>
            <p:nvSpPr>
              <p:cNvPr id="25" name="Rectangle 25"/>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6" name="TextBox 26"/>
              <p:cNvSpPr txBox="1"/>
              <p:nvPr/>
            </p:nvSpPr>
            <p:spPr>
              <a:xfrm>
                <a:off x="4791456" y="1329690"/>
                <a:ext cx="311758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Servisler arası sözleşme</a:t>
                </a:r>
              </a:p>
            </p:txBody>
          </p:sp>
          <p:sp>
            <p:nvSpPr>
              <p:cNvPr id="27" name="TextBox 27"/>
              <p:cNvSpPr txBox="1"/>
              <p:nvPr/>
            </p:nvSpPr>
            <p:spPr>
              <a:xfrm>
                <a:off x="4792599" y="1601629"/>
                <a:ext cx="306824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istek/yanıt biçimini tanımlar</a:t>
                </a:r>
              </a:p>
            </p:txBody>
          </p:sp>
        </p:grpSp>
        <p:grpSp>
          <p:nvGrpSpPr>
            <p:cNvPr id="32" name="map-node-timeout"/>
            <p:cNvGrpSpPr/>
            <p:nvPr/>
          </p:nvGrpSpPr>
          <p:grpSpPr>
            <a:xfrm>
              <a:off x="4572000" y="2209800"/>
              <a:ext cx="3990749" cy="723900"/>
              <a:chOff x="4572000" y="2209800"/>
              <a:chExt cx="3990749" cy="723900"/>
            </a:xfrm>
          </p:grpSpPr>
          <p:sp>
            <p:nvSpPr>
              <p:cNvPr id="29" name="Rectangle 29"/>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0" name="TextBox 30"/>
              <p:cNvSpPr txBox="1"/>
              <p:nvPr/>
            </p:nvSpPr>
            <p:spPr>
              <a:xfrm>
                <a:off x="4791456" y="2320290"/>
                <a:ext cx="19866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Timeout &amp; retry</a:t>
                </a:r>
              </a:p>
            </p:txBody>
          </p:sp>
          <p:sp>
            <p:nvSpPr>
              <p:cNvPr id="31" name="TextBox 31"/>
              <p:cNvSpPr txBox="1"/>
              <p:nvPr/>
            </p:nvSpPr>
            <p:spPr>
              <a:xfrm>
                <a:off x="4792599" y="2592229"/>
                <a:ext cx="377015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yavaş, öngörülemez yanıtı sınırlar</a:t>
                </a:r>
              </a:p>
            </p:txBody>
          </p:sp>
        </p:grpSp>
        <p:grpSp>
          <p:nvGrpSpPr>
            <p:cNvPr id="36" name="map-node-izolasyon"/>
            <p:cNvGrpSpPr/>
            <p:nvPr/>
          </p:nvGrpSpPr>
          <p:grpSpPr>
            <a:xfrm>
              <a:off x="4572000" y="3200400"/>
              <a:ext cx="3810000" cy="723900"/>
              <a:chOff x="4572000" y="3200400"/>
              <a:chExt cx="3810000" cy="723900"/>
            </a:xfrm>
          </p:grpSpPr>
          <p:sp>
            <p:nvSpPr>
              <p:cNvPr id="33" name="Rectangle 33"/>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4" name="TextBox 34"/>
              <p:cNvSpPr txBox="1"/>
              <p:nvPr/>
            </p:nvSpPr>
            <p:spPr>
              <a:xfrm>
                <a:off x="4791456" y="3310890"/>
                <a:ext cx="19342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Hata izolasyonu</a:t>
                </a:r>
              </a:p>
            </p:txBody>
          </p:sp>
          <p:sp>
            <p:nvSpPr>
              <p:cNvPr id="35" name="TextBox 35"/>
              <p:cNvSpPr txBox="1"/>
              <p:nvPr/>
            </p:nvSpPr>
            <p:spPr>
              <a:xfrm>
                <a:off x="4792599" y="3582829"/>
                <a:ext cx="306069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AI çökse de ana işlevler sürer</a:t>
                </a:r>
              </a:p>
            </p:txBody>
          </p:sp>
        </p:grpSp>
        <p:grpSp>
          <p:nvGrpSpPr>
            <p:cNvPr id="40" name="map-node-dogrulama"/>
            <p:cNvGrpSpPr/>
            <p:nvPr/>
          </p:nvGrpSpPr>
          <p:grpSpPr>
            <a:xfrm>
              <a:off x="4572000" y="4191000"/>
              <a:ext cx="3810000" cy="723900"/>
              <a:chOff x="4572000" y="4191000"/>
              <a:chExt cx="3810000" cy="723900"/>
            </a:xfrm>
          </p:grpSpPr>
          <p:sp>
            <p:nvSpPr>
              <p:cNvPr id="37" name="Rectangle 37"/>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8" name="TextBox 38"/>
              <p:cNvSpPr txBox="1"/>
              <p:nvPr/>
            </p:nvSpPr>
            <p:spPr>
              <a:xfrm>
                <a:off x="4791456" y="4301490"/>
                <a:ext cx="20491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Çıktı doğrulama</a:t>
                </a:r>
              </a:p>
            </p:txBody>
          </p:sp>
          <p:sp>
            <p:nvSpPr>
              <p:cNvPr id="39" name="TextBox 39"/>
              <p:cNvSpPr txBox="1"/>
              <p:nvPr/>
            </p:nvSpPr>
            <p:spPr>
              <a:xfrm>
                <a:off x="4792599" y="4573429"/>
                <a:ext cx="351491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tip ve makullük birlikte denetlenir</a:t>
                </a:r>
              </a:p>
            </p:txBody>
          </p:sp>
        </p:grpSp>
        <p:grpSp>
          <p:nvGrpSpPr>
            <p:cNvPr id="44" name="map-node-gozlem"/>
            <p:cNvGrpSpPr/>
            <p:nvPr/>
          </p:nvGrpSpPr>
          <p:grpSpPr>
            <a:xfrm>
              <a:off x="4572000" y="5334000"/>
              <a:ext cx="7010400" cy="723900"/>
              <a:chOff x="4572000" y="5334000"/>
              <a:chExt cx="7010400" cy="723900"/>
            </a:xfrm>
          </p:grpSpPr>
          <p:sp>
            <p:nvSpPr>
              <p:cNvPr id="41" name="Rectangle 41"/>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2" name="TextBox 42"/>
              <p:cNvSpPr txBox="1"/>
              <p:nvPr/>
            </p:nvSpPr>
            <p:spPr>
              <a:xfrm>
                <a:off x="4791456" y="5444490"/>
                <a:ext cx="338505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Gözlemleme (observability)</a:t>
                </a:r>
              </a:p>
            </p:txBody>
          </p:sp>
          <p:sp>
            <p:nvSpPr>
              <p:cNvPr id="43" name="TextBox 43"/>
              <p:cNvSpPr txBox="1"/>
              <p:nvPr/>
            </p:nvSpPr>
            <p:spPr>
              <a:xfrm>
                <a:off x="4792599" y="5716429"/>
                <a:ext cx="486555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güven skorlarının zaman içindeki eğilimini izler</a:t>
                </a:r>
              </a:p>
            </p:txBody>
          </p:sp>
        </p:grpSp>
        <p:grpSp>
          <p:nvGrpSpPr>
            <p:cNvPr id="49" name="map-legend"/>
            <p:cNvGrpSpPr/>
            <p:nvPr/>
          </p:nvGrpSpPr>
          <p:grpSpPr>
            <a:xfrm>
              <a:off x="685800" y="5528310"/>
              <a:ext cx="3149013" cy="577596"/>
              <a:chOff x="685800" y="5528310"/>
              <a:chExt cx="3149013" cy="577596"/>
            </a:xfrm>
          </p:grpSpPr>
          <p:sp>
            <p:nvSpPr>
              <p:cNvPr id="45" name="Line 45"/>
              <p:cNvSpPr/>
              <p:nvPr/>
            </p:nvSpPr>
            <p:spPr>
              <a:xfrm>
                <a:off x="685800" y="5600700"/>
                <a:ext cx="304800" cy="1"/>
              </a:xfrm>
              <a:prstGeom prst="line">
                <a:avLst/>
              </a:prstGeom>
              <a:noFill/>
              <a:ln w="23812">
                <a:solidFill>
                  <a:srgbClr val="00A6A6"/>
                </a:solidFill>
                <a:tailEnd type="arrow" w="lg" len="lg"/>
              </a:ln>
            </p:spPr>
          </p:sp>
          <p:sp>
            <p:nvSpPr>
              <p:cNvPr id="46" name="TextBox 46"/>
              <p:cNvSpPr txBox="1"/>
              <p:nvPr/>
            </p:nvSpPr>
            <p:spPr>
              <a:xfrm>
                <a:off x="1079754" y="5528310"/>
                <a:ext cx="230283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Entegrasyonun temel disiplini</a:t>
                </a:r>
              </a:p>
            </p:txBody>
          </p:sp>
          <p:sp>
            <p:nvSpPr>
              <p:cNvPr id="47" name="Line 47"/>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8" name="TextBox 48"/>
              <p:cNvSpPr txBox="1"/>
              <p:nvPr/>
            </p:nvSpPr>
            <p:spPr>
              <a:xfrm>
                <a:off x="1079754" y="5871210"/>
                <a:ext cx="27550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Disiplinler arası tamamlayıcı ilişki</a:t>
                </a:r>
              </a:p>
            </p:txBody>
          </p:sp>
        </p:gr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8" name="matrix-header"/>
          <p:cNvGrpSpPr/>
          <p:nvPr/>
        </p:nvGrpSpPr>
        <p:grpSpPr>
          <a:xfrm>
            <a:off x="609600" y="1333500"/>
            <a:ext cx="10972800" cy="342900"/>
            <a:chOff x="609600" y="1333500"/>
            <a:chExt cx="10972800" cy="342900"/>
          </a:xfrm>
        </p:grpSpPr>
        <p:sp>
          <p:nvSpPr>
            <p:cNvPr id="13" name="Rectangle 13"/>
            <p:cNvSpPr/>
            <p:nvPr/>
          </p:nvSpPr>
          <p:spPr>
            <a:xfrm>
              <a:off x="609600" y="1333500"/>
              <a:ext cx="10972800" cy="342900"/>
            </a:xfrm>
            <a:prstGeom prst="rect">
              <a:avLst/>
            </a:prstGeom>
            <a:solidFill>
              <a:srgbClr val="12355B"/>
            </a:solidFill>
            <a:ln>
              <a:noFill/>
            </a:ln>
          </p:spPr>
        </p:sp>
        <p:sp>
          <p:nvSpPr>
            <p:cNvPr id="14" name="TextBox 14"/>
            <p:cNvSpPr txBox="1"/>
            <p:nvPr/>
          </p:nvSpPr>
          <p:spPr>
            <a:xfrm>
              <a:off x="756285" y="1431131"/>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KAVRAM</a:t>
              </a:r>
            </a:p>
          </p:txBody>
        </p:sp>
        <p:sp>
          <p:nvSpPr>
            <p:cNvPr id="15" name="TextBox 15"/>
            <p:cNvSpPr txBox="1"/>
            <p:nvPr/>
          </p:nvSpPr>
          <p:spPr>
            <a:xfrm>
              <a:off x="2756535" y="1431131"/>
              <a:ext cx="122442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TEMEL GÖREVİ</a:t>
              </a:r>
            </a:p>
          </p:txBody>
        </p:sp>
        <p:sp>
          <p:nvSpPr>
            <p:cNvPr id="16" name="TextBox 16"/>
            <p:cNvSpPr txBox="1"/>
            <p:nvPr/>
          </p:nvSpPr>
          <p:spPr>
            <a:xfrm>
              <a:off x="5709285" y="1431131"/>
              <a:ext cx="1645768"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SORUMLULUK SINIRI</a:t>
              </a:r>
            </a:p>
          </p:txBody>
        </p:sp>
        <p:sp>
          <p:nvSpPr>
            <p:cNvPr id="17" name="TextBox 17"/>
            <p:cNvSpPr txBox="1"/>
            <p:nvPr/>
          </p:nvSpPr>
          <p:spPr>
            <a:xfrm>
              <a:off x="8662035" y="1431131"/>
              <a:ext cx="1660191"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OLMAZSA NE OLUR?</a:t>
              </a:r>
            </a:p>
          </p:txBody>
        </p:sp>
      </p:grpSp>
      <p:grpSp>
        <p:nvGrpSpPr>
          <p:cNvPr id="24" name="matrix-row1"/>
          <p:cNvGrpSpPr/>
          <p:nvPr/>
        </p:nvGrpSpPr>
        <p:grpSpPr>
          <a:xfrm>
            <a:off x="609600" y="1775460"/>
            <a:ext cx="10972800" cy="805815"/>
            <a:chOff x="609600" y="1775460"/>
            <a:chExt cx="10972800" cy="805815"/>
          </a:xfrm>
        </p:grpSpPr>
        <p:sp>
          <p:nvSpPr>
            <p:cNvPr id="19" name="TextBox 19"/>
            <p:cNvSpPr txBox="1"/>
            <p:nvPr/>
          </p:nvSpPr>
          <p:spPr>
            <a:xfrm>
              <a:off x="755904" y="1775460"/>
              <a:ext cx="117741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Harici LLM API</a:t>
              </a:r>
            </a:p>
          </p:txBody>
        </p:sp>
        <p:sp>
          <p:nvSpPr>
            <p:cNvPr id="20" name="TextBox 20"/>
            <p:cNvSpPr txBox="1"/>
            <p:nvPr/>
          </p:nvSpPr>
          <p:spPr>
            <a:xfrm>
              <a:off x="2756154" y="1775460"/>
              <a:ext cx="179527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HTTP API üzerinden doğal</a:t>
              </a:r>
              <a:br/>
              <a:r>
                <a:rPr lang="tr-TR" sz="1200" dirty="0">
                  <a:solidFill>
                    <a:srgbClr val="172B3A"/>
                  </a:solidFill>
                  <a:latin typeface="+mn-lt"/>
                  <a:ea typeface="+mn-ea"/>
                  <a:cs typeface="+mn-cs"/>
                </a:rPr>
                <a:t>dil işleme ve özetleme</a:t>
              </a:r>
              <a:br/>
              <a:r>
                <a:rPr lang="tr-TR" sz="1200" dirty="0">
                  <a:solidFill>
                    <a:srgbClr val="172B3A"/>
                  </a:solidFill>
                  <a:latin typeface="+mn-lt"/>
                  <a:ea typeface="+mn-ea"/>
                  <a:cs typeface="+mn-cs"/>
                </a:rPr>
                <a:t>yeteneği katar.</a:t>
              </a:r>
            </a:p>
          </p:txBody>
        </p:sp>
        <p:sp>
          <p:nvSpPr>
            <p:cNvPr id="21" name="TextBox 21"/>
            <p:cNvSpPr txBox="1"/>
            <p:nvPr/>
          </p:nvSpPr>
          <p:spPr>
            <a:xfrm>
              <a:off x="5708904" y="1775460"/>
              <a:ext cx="207721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Deterministik sonuç garanti</a:t>
              </a:r>
              <a:br/>
              <a:r>
                <a:rPr lang="tr-TR" sz="1200" dirty="0">
                  <a:solidFill>
                    <a:srgbClr val="172B3A"/>
                  </a:solidFill>
                  <a:latin typeface="+mn-lt"/>
                  <a:ea typeface="+mn-ea"/>
                  <a:cs typeface="+mn-cs"/>
                </a:rPr>
                <a:t>etmez; çıktı olasılıksal ve</a:t>
              </a:r>
              <a:br/>
              <a:r>
                <a:rPr lang="tr-TR" sz="1200" dirty="0">
                  <a:solidFill>
                    <a:srgbClr val="172B3A"/>
                  </a:solidFill>
                  <a:latin typeface="+mn-lt"/>
                  <a:ea typeface="+mn-ea"/>
                  <a:cs typeface="+mn-cs"/>
                </a:rPr>
                <a:t>halüsinasyona açıktır.</a:t>
              </a:r>
            </a:p>
          </p:txBody>
        </p:sp>
        <p:sp>
          <p:nvSpPr>
            <p:cNvPr id="22" name="TextBox 22"/>
            <p:cNvSpPr txBox="1"/>
            <p:nvPr/>
          </p:nvSpPr>
          <p:spPr>
            <a:xfrm>
              <a:off x="8661654" y="1775460"/>
              <a:ext cx="192481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Karmaşık metin analizi ve</a:t>
              </a:r>
              <a:br/>
              <a:r>
                <a:rPr lang="tr-TR" sz="1200" dirty="0">
                  <a:solidFill>
                    <a:srgbClr val="172B3A"/>
                  </a:solidFill>
                  <a:latin typeface="+mn-lt"/>
                  <a:ea typeface="+mn-ea"/>
                  <a:cs typeface="+mn-cs"/>
                </a:rPr>
                <a:t>akıllı asistan yetenekleri</a:t>
              </a:r>
              <a:br/>
              <a:r>
                <a:rPr lang="tr-TR" sz="1200" dirty="0">
                  <a:solidFill>
                    <a:srgbClr val="172B3A"/>
                  </a:solidFill>
                  <a:latin typeface="+mn-lt"/>
                  <a:ea typeface="+mn-ea"/>
                  <a:cs typeface="+mn-cs"/>
                </a:rPr>
                <a:t>kullanılamaz.</a:t>
              </a:r>
            </a:p>
          </p:txBody>
        </p:sp>
        <p:sp>
          <p:nvSpPr>
            <p:cNvPr id="23" name="Line 23"/>
            <p:cNvSpPr/>
            <p:nvPr/>
          </p:nvSpPr>
          <p:spPr>
            <a:xfrm>
              <a:off x="609600" y="25717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matrix-row2"/>
          <p:cNvGrpSpPr/>
          <p:nvPr/>
        </p:nvGrpSpPr>
        <p:grpSpPr>
          <a:xfrm>
            <a:off x="609600" y="2571750"/>
            <a:ext cx="10972800" cy="904875"/>
            <a:chOff x="609600" y="2571750"/>
            <a:chExt cx="10972800" cy="904875"/>
          </a:xfrm>
        </p:grpSpPr>
        <p:sp>
          <p:nvSpPr>
            <p:cNvPr id="25" name="Rectangle 25"/>
            <p:cNvSpPr/>
            <p:nvPr/>
          </p:nvSpPr>
          <p:spPr>
            <a:xfrm>
              <a:off x="609600" y="2571750"/>
              <a:ext cx="10972800" cy="895350"/>
            </a:xfrm>
            <a:prstGeom prst="rect">
              <a:avLst/>
            </a:prstGeom>
            <a:solidFill>
              <a:srgbClr val="EAF4F6"/>
            </a:solidFill>
            <a:ln>
              <a:noFill/>
            </a:ln>
          </p:spPr>
        </p:sp>
        <p:sp>
          <p:nvSpPr>
            <p:cNvPr id="26" name="TextBox 26"/>
            <p:cNvSpPr txBox="1"/>
            <p:nvPr/>
          </p:nvSpPr>
          <p:spPr>
            <a:xfrm>
              <a:off x="755904" y="2670810"/>
              <a:ext cx="1212342"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FastAPI Tabanlı</a:t>
              </a:r>
              <a:br/>
              <a:r>
                <a:rPr lang="tr-TR" sz="1200" b="1" dirty="0">
                  <a:solidFill>
                    <a:srgbClr val="12355B"/>
                  </a:solidFill>
                  <a:latin typeface="+mn-lt"/>
                  <a:ea typeface="+mn-ea"/>
                  <a:cs typeface="+mn-cs"/>
                </a:rPr>
                <a:t>ML Servisi</a:t>
              </a:r>
            </a:p>
          </p:txBody>
        </p:sp>
        <p:sp>
          <p:nvSpPr>
            <p:cNvPr id="27" name="TextBox 27"/>
            <p:cNvSpPr txBox="1"/>
            <p:nvPr/>
          </p:nvSpPr>
          <p:spPr>
            <a:xfrm>
              <a:off x="2756154" y="2670810"/>
              <a:ext cx="219151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Python ML modellerini yüksek</a:t>
              </a:r>
              <a:br/>
              <a:r>
                <a:rPr lang="tr-TR" sz="1200" dirty="0">
                  <a:solidFill>
                    <a:srgbClr val="172B3A"/>
                  </a:solidFill>
                  <a:latin typeface="+mn-lt"/>
                  <a:ea typeface="+mn-ea"/>
                  <a:cs typeface="+mn-cs"/>
                </a:rPr>
                <a:t>performanslı, asenkron REST</a:t>
              </a:r>
              <a:br/>
              <a:r>
                <a:rPr lang="tr-TR" sz="1200" dirty="0">
                  <a:solidFill>
                    <a:srgbClr val="172B3A"/>
                  </a:solidFill>
                  <a:latin typeface="+mn-lt"/>
                  <a:ea typeface="+mn-ea"/>
                  <a:cs typeface="+mn-cs"/>
                </a:rPr>
                <a:t>mikroservisi olarak açar.</a:t>
              </a:r>
            </a:p>
          </p:txBody>
        </p:sp>
        <p:sp>
          <p:nvSpPr>
            <p:cNvPr id="28" name="TextBox 28"/>
            <p:cNvSpPr txBox="1"/>
            <p:nvPr/>
          </p:nvSpPr>
          <p:spPr>
            <a:xfrm>
              <a:off x="5708904" y="2670810"/>
              <a:ext cx="225247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Node.js'in kullanıcı yönetimi,</a:t>
              </a:r>
              <a:br/>
              <a:r>
                <a:rPr lang="tr-TR" sz="1200" dirty="0">
                  <a:solidFill>
                    <a:srgbClr val="172B3A"/>
                  </a:solidFill>
                  <a:latin typeface="+mn-lt"/>
                  <a:ea typeface="+mn-ea"/>
                  <a:cs typeface="+mn-cs"/>
                </a:rPr>
                <a:t>yetkilendirme veya veritabanı</a:t>
              </a:r>
              <a:br/>
              <a:r>
                <a:rPr lang="tr-TR" sz="1200" dirty="0">
                  <a:solidFill>
                    <a:srgbClr val="172B3A"/>
                  </a:solidFill>
                  <a:latin typeface="+mn-lt"/>
                  <a:ea typeface="+mn-ea"/>
                  <a:cs typeface="+mn-cs"/>
                </a:rPr>
                <a:t>işlemlerini üstlenmez.</a:t>
              </a:r>
            </a:p>
          </p:txBody>
        </p:sp>
        <p:sp>
          <p:nvSpPr>
            <p:cNvPr id="29" name="TextBox 29"/>
            <p:cNvSpPr txBox="1"/>
            <p:nvPr/>
          </p:nvSpPr>
          <p:spPr>
            <a:xfrm>
              <a:off x="8661654" y="2670810"/>
              <a:ext cx="229057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Python ML kütüphaneleri ile</a:t>
              </a:r>
              <a:br/>
              <a:r>
                <a:rPr lang="tr-TR" sz="1200" dirty="0">
                  <a:solidFill>
                    <a:srgbClr val="172B3A"/>
                  </a:solidFill>
                  <a:latin typeface="+mn-lt"/>
                  <a:ea typeface="+mn-ea"/>
                  <a:cs typeface="+mn-cs"/>
                </a:rPr>
                <a:t>TypeScript backend'i arasında</a:t>
              </a:r>
              <a:br/>
              <a:r>
                <a:rPr lang="tr-TR" sz="1200" dirty="0">
                  <a:solidFill>
                    <a:srgbClr val="172B3A"/>
                  </a:solidFill>
                  <a:latin typeface="+mn-lt"/>
                  <a:ea typeface="+mn-ea"/>
                  <a:cs typeface="+mn-cs"/>
                </a:rPr>
                <a:t>köprü kurulamaz.</a:t>
              </a:r>
            </a:p>
          </p:txBody>
        </p:sp>
        <p:sp>
          <p:nvSpPr>
            <p:cNvPr id="30" name="Line 30"/>
            <p:cNvSpPr/>
            <p:nvPr/>
          </p:nvSpPr>
          <p:spPr>
            <a:xfrm>
              <a:off x="609600" y="3467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matrix-row3"/>
          <p:cNvGrpSpPr/>
          <p:nvPr/>
        </p:nvGrpSpPr>
        <p:grpSpPr>
          <a:xfrm>
            <a:off x="609600" y="3566160"/>
            <a:ext cx="10972800" cy="805815"/>
            <a:chOff x="609600" y="3566160"/>
            <a:chExt cx="10972800" cy="805815"/>
          </a:xfrm>
        </p:grpSpPr>
        <p:sp>
          <p:nvSpPr>
            <p:cNvPr id="32" name="TextBox 32"/>
            <p:cNvSpPr txBox="1"/>
            <p:nvPr/>
          </p:nvSpPr>
          <p:spPr>
            <a:xfrm>
              <a:off x="755904" y="3566160"/>
              <a:ext cx="1308354"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M2M İletişim</a:t>
              </a:r>
              <a:br/>
              <a:r>
                <a:rPr lang="tr-TR" sz="1200" b="1" dirty="0">
                  <a:solidFill>
                    <a:srgbClr val="12355B"/>
                  </a:solidFill>
                  <a:latin typeface="+mn-lt"/>
                  <a:ea typeface="+mn-ea"/>
                  <a:cs typeface="+mn-cs"/>
                </a:rPr>
                <a:t>(İç Ağ Güvenliği)</a:t>
              </a:r>
            </a:p>
          </p:txBody>
        </p:sp>
        <p:sp>
          <p:nvSpPr>
            <p:cNvPr id="33" name="TextBox 33"/>
            <p:cNvSpPr txBox="1"/>
            <p:nvPr/>
          </p:nvSpPr>
          <p:spPr>
            <a:xfrm>
              <a:off x="2756154" y="3566160"/>
              <a:ext cx="222199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Node.js ile ML mikroservisi</a:t>
              </a:r>
              <a:br/>
              <a:r>
                <a:rPr lang="tr-TR" sz="1200" dirty="0">
                  <a:solidFill>
                    <a:srgbClr val="172B3A"/>
                  </a:solidFill>
                  <a:latin typeface="+mn-lt"/>
                  <a:ea typeface="+mn-ea"/>
                  <a:cs typeface="+mn-cs"/>
                </a:rPr>
                <a:t>arasında Docker iç ağında</a:t>
              </a:r>
              <a:br/>
              <a:r>
                <a:rPr lang="tr-TR" sz="1200" dirty="0">
                  <a:solidFill>
                    <a:srgbClr val="172B3A"/>
                  </a:solidFill>
                  <a:latin typeface="+mn-lt"/>
                  <a:ea typeface="+mn-ea"/>
                  <a:cs typeface="+mn-cs"/>
                </a:rPr>
                <a:t>özel belirteçle iletişim kurar.</a:t>
              </a:r>
            </a:p>
          </p:txBody>
        </p:sp>
        <p:sp>
          <p:nvSpPr>
            <p:cNvPr id="34" name="TextBox 34"/>
            <p:cNvSpPr txBox="1"/>
            <p:nvPr/>
          </p:nvSpPr>
          <p:spPr>
            <a:xfrm>
              <a:off x="5708904" y="3566160"/>
              <a:ext cx="208483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Doğrudan son kullanıcı</a:t>
              </a:r>
              <a:br/>
              <a:r>
                <a:rPr lang="tr-TR" sz="1200" dirty="0">
                  <a:solidFill>
                    <a:srgbClr val="172B3A"/>
                  </a:solidFill>
                  <a:latin typeface="+mn-lt"/>
                  <a:ea typeface="+mn-ea"/>
                  <a:cs typeface="+mn-cs"/>
                </a:rPr>
                <a:t>tarayıcısına açık değildir;</a:t>
              </a:r>
              <a:br/>
              <a:r>
                <a:rPr lang="tr-TR" sz="1200" dirty="0">
                  <a:solidFill>
                    <a:srgbClr val="172B3A"/>
                  </a:solidFill>
                  <a:latin typeface="+mn-lt"/>
                  <a:ea typeface="+mn-ea"/>
                  <a:cs typeface="+mn-cs"/>
                </a:rPr>
                <a:t>genel internetten izoledir.</a:t>
              </a:r>
            </a:p>
          </p:txBody>
        </p:sp>
        <p:sp>
          <p:nvSpPr>
            <p:cNvPr id="35" name="TextBox 35"/>
            <p:cNvSpPr txBox="1"/>
            <p:nvPr/>
          </p:nvSpPr>
          <p:spPr>
            <a:xfrm>
              <a:off x="8661654" y="3566160"/>
              <a:ext cx="200101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Yetkisiz erişim GPU/ML</a:t>
              </a:r>
              <a:br/>
              <a:r>
                <a:rPr lang="tr-TR" sz="1200" dirty="0">
                  <a:solidFill>
                    <a:srgbClr val="172B3A"/>
                  </a:solidFill>
                  <a:latin typeface="+mn-lt"/>
                  <a:ea typeface="+mn-ea"/>
                  <a:cs typeface="+mn-cs"/>
                </a:rPr>
                <a:t>kaynağını tüketebilir veya</a:t>
              </a:r>
              <a:br/>
              <a:r>
                <a:rPr lang="tr-TR" sz="1200" dirty="0">
                  <a:solidFill>
                    <a:srgbClr val="172B3A"/>
                  </a:solidFill>
                  <a:latin typeface="+mn-lt"/>
                  <a:ea typeface="+mn-ea"/>
                  <a:cs typeface="+mn-cs"/>
                </a:rPr>
                <a:t>veri sızdırabilir.</a:t>
              </a:r>
            </a:p>
          </p:txBody>
        </p:sp>
        <p:sp>
          <p:nvSpPr>
            <p:cNvPr id="36" name="Line 36"/>
            <p:cNvSpPr/>
            <p:nvPr/>
          </p:nvSpPr>
          <p:spPr>
            <a:xfrm>
              <a:off x="609600" y="43624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4" name="matrix-row4"/>
          <p:cNvGrpSpPr/>
          <p:nvPr/>
        </p:nvGrpSpPr>
        <p:grpSpPr>
          <a:xfrm>
            <a:off x="609600" y="4362450"/>
            <a:ext cx="10972800" cy="904875"/>
            <a:chOff x="609600" y="4362450"/>
            <a:chExt cx="10972800" cy="904875"/>
          </a:xfrm>
        </p:grpSpPr>
        <p:sp>
          <p:nvSpPr>
            <p:cNvPr id="38" name="Rectangle 38"/>
            <p:cNvSpPr/>
            <p:nvPr/>
          </p:nvSpPr>
          <p:spPr>
            <a:xfrm>
              <a:off x="609600" y="4362450"/>
              <a:ext cx="10972800" cy="895350"/>
            </a:xfrm>
            <a:prstGeom prst="rect">
              <a:avLst/>
            </a:prstGeom>
            <a:solidFill>
              <a:srgbClr val="EAF4F6"/>
            </a:solidFill>
            <a:ln>
              <a:noFill/>
            </a:ln>
          </p:spPr>
        </p:sp>
        <p:sp>
          <p:nvSpPr>
            <p:cNvPr id="39" name="TextBox 39"/>
            <p:cNvSpPr txBox="1"/>
            <p:nvPr/>
          </p:nvSpPr>
          <p:spPr>
            <a:xfrm>
              <a:off x="755904" y="4461510"/>
              <a:ext cx="1252347"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Hata İzolasyonu</a:t>
              </a:r>
              <a:br/>
              <a:r>
                <a:rPr lang="tr-TR" sz="1200" b="1" dirty="0">
                  <a:solidFill>
                    <a:srgbClr val="12355B"/>
                  </a:solidFill>
                  <a:latin typeface="+mn-lt"/>
                  <a:ea typeface="+mn-ea"/>
                  <a:cs typeface="+mn-cs"/>
                </a:rPr>
                <a:t>(Fallback)</a:t>
              </a:r>
            </a:p>
          </p:txBody>
        </p:sp>
        <p:sp>
          <p:nvSpPr>
            <p:cNvPr id="40" name="TextBox 40"/>
            <p:cNvSpPr txBox="1"/>
            <p:nvPr/>
          </p:nvSpPr>
          <p:spPr>
            <a:xfrm>
              <a:off x="2756154" y="4461510"/>
              <a:ext cx="194767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AI/ML çağrıları gecikirse</a:t>
              </a:r>
              <a:br/>
              <a:r>
                <a:rPr lang="tr-TR" sz="1200" dirty="0">
                  <a:solidFill>
                    <a:srgbClr val="172B3A"/>
                  </a:solidFill>
                  <a:latin typeface="+mn-lt"/>
                  <a:ea typeface="+mn-ea"/>
                  <a:cs typeface="+mn-cs"/>
                </a:rPr>
                <a:t>veya çökerse ana sistemin</a:t>
              </a:r>
              <a:br/>
              <a:r>
                <a:rPr lang="tr-TR" sz="1200" dirty="0">
                  <a:solidFill>
                    <a:srgbClr val="172B3A"/>
                  </a:solidFill>
                  <a:latin typeface="+mn-lt"/>
                  <a:ea typeface="+mn-ea"/>
                  <a:cs typeface="+mn-cs"/>
                </a:rPr>
                <a:t>kilitlenmesini önler.</a:t>
              </a:r>
            </a:p>
          </p:txBody>
        </p:sp>
        <p:sp>
          <p:nvSpPr>
            <p:cNvPr id="41" name="TextBox 41"/>
            <p:cNvSpPr txBox="1"/>
            <p:nvPr/>
          </p:nvSpPr>
          <p:spPr>
            <a:xfrm>
              <a:off x="5708904" y="4461510"/>
              <a:ext cx="211531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AI servisinin neden</a:t>
              </a:r>
              <a:br/>
              <a:r>
                <a:rPr lang="tr-TR" sz="1200" dirty="0">
                  <a:solidFill>
                    <a:srgbClr val="172B3A"/>
                  </a:solidFill>
                  <a:latin typeface="+mn-lt"/>
                  <a:ea typeface="+mn-ea"/>
                  <a:cs typeface="+mn-cs"/>
                </a:rPr>
                <a:t>yavaşladığını düzeltmez;</a:t>
              </a:r>
              <a:br/>
              <a:r>
                <a:rPr lang="tr-TR" sz="1200" dirty="0">
                  <a:solidFill>
                    <a:srgbClr val="172B3A"/>
                  </a:solidFill>
                  <a:latin typeface="+mn-lt"/>
                  <a:ea typeface="+mn-ea"/>
                  <a:cs typeface="+mn-cs"/>
                </a:rPr>
                <a:t>ana uygulama hayatta kalır.</a:t>
              </a:r>
            </a:p>
          </p:txBody>
        </p:sp>
        <p:sp>
          <p:nvSpPr>
            <p:cNvPr id="42" name="TextBox 42"/>
            <p:cNvSpPr txBox="1"/>
            <p:nvPr/>
          </p:nvSpPr>
          <p:spPr>
            <a:xfrm>
              <a:off x="8661654" y="4461510"/>
              <a:ext cx="202387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AI yanıt vermediğinde</a:t>
              </a:r>
              <a:br/>
              <a:r>
                <a:rPr lang="tr-TR" sz="1200" dirty="0">
                  <a:solidFill>
                    <a:srgbClr val="172B3A"/>
                  </a:solidFill>
                  <a:latin typeface="+mn-lt"/>
                  <a:ea typeface="+mn-ea"/>
                  <a:cs typeface="+mn-cs"/>
                </a:rPr>
                <a:t>tüm sistem donar,</a:t>
              </a:r>
              <a:br/>
              <a:r>
                <a:rPr lang="tr-TR" sz="1200" dirty="0">
                  <a:solidFill>
                    <a:srgbClr val="172B3A"/>
                  </a:solidFill>
                  <a:latin typeface="+mn-lt"/>
                  <a:ea typeface="+mn-ea"/>
                  <a:cs typeface="+mn-cs"/>
                </a:rPr>
                <a:t>temel işlem bile yapılamaz.</a:t>
              </a:r>
            </a:p>
          </p:txBody>
        </p:sp>
        <p:sp>
          <p:nvSpPr>
            <p:cNvPr id="43" name="Line 43"/>
            <p:cNvSpPr/>
            <p:nvPr/>
          </p:nvSpPr>
          <p:spPr>
            <a:xfrm>
              <a:off x="609600" y="5257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9" name="matrix-row5"/>
          <p:cNvGrpSpPr/>
          <p:nvPr/>
        </p:nvGrpSpPr>
        <p:grpSpPr>
          <a:xfrm>
            <a:off x="755904" y="5356860"/>
            <a:ext cx="10028682" cy="634746"/>
            <a:chOff x="755904" y="5356860"/>
            <a:chExt cx="10028682" cy="634746"/>
          </a:xfrm>
        </p:grpSpPr>
        <p:sp>
          <p:nvSpPr>
            <p:cNvPr id="45" name="TextBox 45"/>
            <p:cNvSpPr txBox="1"/>
            <p:nvPr/>
          </p:nvSpPr>
          <p:spPr>
            <a:xfrm>
              <a:off x="755904" y="5356860"/>
              <a:ext cx="1460373"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AI Çıktı</a:t>
              </a:r>
              <a:br/>
              <a:r>
                <a:rPr lang="tr-TR" sz="1200" b="1" dirty="0">
                  <a:solidFill>
                    <a:srgbClr val="12355B"/>
                  </a:solidFill>
                  <a:latin typeface="+mn-lt"/>
                  <a:ea typeface="+mn-ea"/>
                  <a:cs typeface="+mn-cs"/>
                </a:rPr>
                <a:t>Doğrulaması (Zod)</a:t>
              </a:r>
            </a:p>
          </p:txBody>
        </p:sp>
        <p:sp>
          <p:nvSpPr>
            <p:cNvPr id="46" name="TextBox 46"/>
            <p:cNvSpPr txBox="1"/>
            <p:nvPr/>
          </p:nvSpPr>
          <p:spPr>
            <a:xfrm>
              <a:off x="2756154" y="5356860"/>
              <a:ext cx="218389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AI'dan dönen serbest metin</a:t>
              </a:r>
              <a:br/>
              <a:r>
                <a:rPr lang="tr-TR" sz="1200" dirty="0">
                  <a:solidFill>
                    <a:srgbClr val="172B3A"/>
                  </a:solidFill>
                  <a:latin typeface="+mn-lt"/>
                  <a:ea typeface="+mn-ea"/>
                  <a:cs typeface="+mn-cs"/>
                </a:rPr>
                <a:t>veya JSON yanıtın şemaya ve</a:t>
              </a:r>
              <a:br/>
              <a:r>
                <a:rPr lang="tr-TR" sz="1200" dirty="0">
                  <a:solidFill>
                    <a:srgbClr val="172B3A"/>
                  </a:solidFill>
                  <a:latin typeface="+mn-lt"/>
                  <a:ea typeface="+mn-ea"/>
                  <a:cs typeface="+mn-cs"/>
                </a:rPr>
                <a:t>tiplere uyduğunu doğrular.</a:t>
              </a:r>
            </a:p>
          </p:txBody>
        </p:sp>
        <p:sp>
          <p:nvSpPr>
            <p:cNvPr id="47" name="TextBox 47"/>
            <p:cNvSpPr txBox="1"/>
            <p:nvPr/>
          </p:nvSpPr>
          <p:spPr>
            <a:xfrm>
              <a:off x="5708904" y="5356860"/>
              <a:ext cx="248107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Modelin ürettiği bilginin</a:t>
              </a:r>
              <a:br/>
              <a:r>
                <a:rPr lang="tr-TR" sz="1200" dirty="0">
                  <a:solidFill>
                    <a:srgbClr val="172B3A"/>
                  </a:solidFill>
                  <a:latin typeface="+mn-lt"/>
                  <a:ea typeface="+mn-ea"/>
                  <a:cs typeface="+mn-cs"/>
                </a:rPr>
                <a:t>mutlak hakikat olduğunu</a:t>
              </a:r>
              <a:br/>
              <a:r>
                <a:rPr lang="tr-TR" sz="1200" dirty="0">
                  <a:solidFill>
                    <a:srgbClr val="172B3A"/>
                  </a:solidFill>
                  <a:latin typeface="+mn-lt"/>
                  <a:ea typeface="+mn-ea"/>
                  <a:cs typeface="+mn-cs"/>
                </a:rPr>
                <a:t>garanti etmez; format denetler.</a:t>
              </a:r>
            </a:p>
          </p:txBody>
        </p:sp>
        <p:sp>
          <p:nvSpPr>
            <p:cNvPr id="48" name="TextBox 48"/>
            <p:cNvSpPr txBox="1"/>
            <p:nvPr/>
          </p:nvSpPr>
          <p:spPr>
            <a:xfrm>
              <a:off x="8661654" y="5356860"/>
              <a:ext cx="2122932" cy="634746"/>
            </a:xfrm>
            <a:prstGeom prst="rect">
              <a:avLst/>
            </a:prstGeom>
            <a:noFill/>
            <a:ln>
              <a:noFill/>
            </a:ln>
          </p:spPr>
          <p:txBody>
            <a:bodyPr wrap="none" lIns="0" tIns="0" rIns="0" bIns="0" anchor="t" anchorCtr="0">
              <a:spAutoFit/>
            </a:bodyPr>
            <a:lstStyle/>
            <a:p>
              <a:pPr algn="l">
                <a:lnSpc>
                  <a:spcPts val="1575"/>
                </a:lnSpc>
              </a:pPr>
              <a:r>
                <a:rPr lang="tr-TR" sz="1200" dirty="0">
                  <a:solidFill>
                    <a:srgbClr val="172B3A"/>
                  </a:solidFill>
                  <a:latin typeface="+mn-lt"/>
                  <a:ea typeface="+mn-ea"/>
                  <a:cs typeface="+mn-cs"/>
                </a:rPr>
                <a:t>Model beklenen JSON yerine</a:t>
              </a:r>
              <a:br/>
              <a:r>
                <a:rPr lang="tr-TR" sz="1200" dirty="0">
                  <a:solidFill>
                    <a:srgbClr val="172B3A"/>
                  </a:solidFill>
                  <a:latin typeface="+mn-lt"/>
                  <a:ea typeface="+mn-ea"/>
                  <a:cs typeface="+mn-cs"/>
                </a:rPr>
                <a:t>fazladan metin veya eksik</a:t>
              </a:r>
              <a:br/>
              <a:r>
                <a:rPr lang="tr-TR" sz="1200" dirty="0">
                  <a:solidFill>
                    <a:srgbClr val="172B3A"/>
                  </a:solidFill>
                  <a:latin typeface="+mn-lt"/>
                  <a:ea typeface="+mn-ea"/>
                  <a:cs typeface="+mn-cs"/>
                </a:rPr>
                <a:t>alan dönerse backend çöker.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650481" cy="557403"/>
            <a:chOff x="595122" y="282892"/>
            <a:chExt cx="6650481" cy="557403"/>
          </a:xfrm>
        </p:grpSpPr>
        <p:sp>
          <p:nvSpPr>
            <p:cNvPr id="4" name="TextBox 4"/>
            <p:cNvSpPr txBox="1"/>
            <p:nvPr/>
          </p:nvSpPr>
          <p:spPr>
            <a:xfrm>
              <a:off x="595122" y="282892"/>
              <a:ext cx="6650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AI/ML servis entegrasyonu nedir?</a:t>
              </a:r>
            </a:p>
          </p:txBody>
        </p:sp>
      </p:grpSp>
      <p:grpSp>
        <p:nvGrpSpPr>
          <p:cNvPr id="9" name="block-tanim"/>
          <p:cNvGrpSpPr/>
          <p:nvPr/>
        </p:nvGrpSpPr>
        <p:grpSpPr>
          <a:xfrm>
            <a:off x="609600" y="1219200"/>
            <a:ext cx="8966454" cy="1243584"/>
            <a:chOff x="609600" y="1219200"/>
            <a:chExt cx="8966454" cy="1243584"/>
          </a:xfrm>
        </p:grpSpPr>
        <p:sp>
          <p:nvSpPr>
            <p:cNvPr id="6" name="Rectangle 6"/>
            <p:cNvSpPr/>
            <p:nvPr/>
          </p:nvSpPr>
          <p:spPr>
            <a:xfrm>
              <a:off x="609600" y="1219200"/>
              <a:ext cx="57150" cy="1123950"/>
            </a:xfrm>
            <a:prstGeom prst="rect">
              <a:avLst/>
            </a:prstGeom>
            <a:solidFill>
              <a:srgbClr val="00A6A6"/>
            </a:solidFill>
            <a:ln>
              <a:noFill/>
            </a:ln>
          </p:spPr>
        </p:sp>
        <p:sp>
          <p:nvSpPr>
            <p:cNvPr id="7" name="TextBox 7"/>
            <p:cNvSpPr txBox="1"/>
            <p:nvPr/>
          </p:nvSpPr>
          <p:spPr>
            <a:xfrm>
              <a:off x="908304" y="1299210"/>
              <a:ext cx="538764"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TANIM</a:t>
              </a:r>
            </a:p>
          </p:txBody>
        </p:sp>
        <p:sp>
          <p:nvSpPr>
            <p:cNvPr id="8" name="TextBox 8"/>
            <p:cNvSpPr txBox="1"/>
            <p:nvPr/>
          </p:nvSpPr>
          <p:spPr>
            <a:xfrm>
              <a:off x="905256" y="1539240"/>
              <a:ext cx="8670798" cy="92354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AI/ML servis entegrasyonu, bir backend uygulamasının (örn.</a:t>
              </a:r>
              <a:br/>
              <a:r>
                <a:rPr lang="tr-TR" sz="1800" dirty="0">
                  <a:solidFill>
                    <a:srgbClr val="172B3A"/>
                  </a:solidFill>
                  <a:latin typeface="+mn-lt"/>
                  <a:ea typeface="+mn-ea"/>
                  <a:cs typeface="+mn-cs"/>
                </a:rPr>
                <a:t>Node.js/Express tabanlı kütüphane sistemi) yapay zekâ ya da</a:t>
              </a:r>
              <a:br/>
              <a:r>
                <a:rPr lang="tr-TR" sz="1800" dirty="0">
                  <a:solidFill>
                    <a:srgbClr val="172B3A"/>
                  </a:solidFill>
                  <a:latin typeface="+mn-lt"/>
                  <a:ea typeface="+mn-ea"/>
                  <a:cs typeface="+mn-cs"/>
                </a:rPr>
                <a:t>makine öğrenmesi yeteneği sunan ayrı bir servisi ağ üzerinden çağırmasıdır.</a:t>
              </a:r>
            </a:p>
          </p:txBody>
        </p:sp>
      </p:grpSp>
      <p:sp>
        <p:nvSpPr>
          <p:cNvPr id="10" name="Line 10"/>
          <p:cNvSpPr/>
          <p:nvPr/>
        </p:nvSpPr>
        <p:spPr>
          <a:xfrm>
            <a:off x="609600" y="2590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14" name="block-neden"/>
          <p:cNvGrpSpPr/>
          <p:nvPr/>
        </p:nvGrpSpPr>
        <p:grpSpPr>
          <a:xfrm>
            <a:off x="609600" y="2743200"/>
            <a:ext cx="7446264" cy="1529334"/>
            <a:chOff x="609600" y="2743200"/>
            <a:chExt cx="7446264" cy="1529334"/>
          </a:xfrm>
        </p:grpSpPr>
        <p:sp>
          <p:nvSpPr>
            <p:cNvPr id="11" name="Rectangle 11"/>
            <p:cNvSpPr/>
            <p:nvPr/>
          </p:nvSpPr>
          <p:spPr>
            <a:xfrm>
              <a:off x="609600" y="2743200"/>
              <a:ext cx="57150" cy="1314450"/>
            </a:xfrm>
            <a:prstGeom prst="rect">
              <a:avLst/>
            </a:prstGeom>
            <a:solidFill>
              <a:srgbClr val="00A6A6"/>
            </a:solidFill>
            <a:ln>
              <a:noFill/>
            </a:ln>
          </p:spPr>
        </p:sp>
        <p:sp>
          <p:nvSpPr>
            <p:cNvPr id="12" name="TextBox 12"/>
            <p:cNvSpPr txBox="1"/>
            <p:nvPr/>
          </p:nvSpPr>
          <p:spPr>
            <a:xfrm>
              <a:off x="908304" y="2823210"/>
              <a:ext cx="1222797"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NEDEN VARDIR</a:t>
              </a:r>
            </a:p>
          </p:txBody>
        </p:sp>
        <p:sp>
          <p:nvSpPr>
            <p:cNvPr id="13" name="TextBox 13"/>
            <p:cNvSpPr txBox="1"/>
            <p:nvPr/>
          </p:nvSpPr>
          <p:spPr>
            <a:xfrm>
              <a:off x="905256" y="3063240"/>
              <a:ext cx="7150608" cy="12092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AI/ML modelleri genellikle Python ekosisteminde (PyTorch,</a:t>
              </a:r>
              <a:br/>
              <a:r>
                <a:rPr lang="tr-TR" sz="1800" dirty="0">
                  <a:solidFill>
                    <a:srgbClr val="172B3A"/>
                  </a:solidFill>
                  <a:latin typeface="+mn-lt"/>
                  <a:ea typeface="+mn-ea"/>
                  <a:cs typeface="+mn-cs"/>
                </a:rPr>
                <a:t>Transformers, scikit-learn) geliştirilir ve GPU/CPU açısından</a:t>
              </a:r>
              <a:br/>
              <a:r>
                <a:rPr lang="tr-TR" sz="1800" dirty="0">
                  <a:solidFill>
                    <a:srgbClr val="172B3A"/>
                  </a:solidFill>
                  <a:latin typeface="+mn-lt"/>
                  <a:ea typeface="+mn-ea"/>
                  <a:cs typeface="+mn-cs"/>
                </a:rPr>
                <a:t>backend'in geri kalanından farklı ölçeklenir; bu yüzden ayrı bir</a:t>
              </a:r>
              <a:br/>
              <a:r>
                <a:rPr lang="tr-TR" sz="1800" dirty="0">
                  <a:solidFill>
                    <a:srgbClr val="172B3A"/>
                  </a:solidFill>
                  <a:latin typeface="+mn-lt"/>
                  <a:ea typeface="+mn-ea"/>
                  <a:cs typeface="+mn-cs"/>
                </a:rPr>
                <a:t>servis olarak izole edilip API üzerinden çağrılır.</a:t>
              </a:r>
            </a:p>
          </p:txBody>
        </p:sp>
      </p:grpSp>
      <p:sp>
        <p:nvSpPr>
          <p:cNvPr id="15" name="Line 15"/>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19" name="block-kuram"/>
          <p:cNvGrpSpPr/>
          <p:nvPr/>
        </p:nvGrpSpPr>
        <p:grpSpPr>
          <a:xfrm>
            <a:off x="609600" y="4457700"/>
            <a:ext cx="8052054" cy="1529334"/>
            <a:chOff x="609600" y="4457700"/>
            <a:chExt cx="8052054" cy="1529334"/>
          </a:xfrm>
        </p:grpSpPr>
        <p:sp>
          <p:nvSpPr>
            <p:cNvPr id="16" name="Rectangle 16"/>
            <p:cNvSpPr/>
            <p:nvPr/>
          </p:nvSpPr>
          <p:spPr>
            <a:xfrm>
              <a:off x="609600" y="4457700"/>
              <a:ext cx="57150" cy="1314450"/>
            </a:xfrm>
            <a:prstGeom prst="rect">
              <a:avLst/>
            </a:prstGeom>
            <a:solidFill>
              <a:srgbClr val="00A6A6"/>
            </a:solidFill>
            <a:ln>
              <a:noFill/>
            </a:ln>
          </p:spPr>
        </p:sp>
        <p:sp>
          <p:nvSpPr>
            <p:cNvPr id="17" name="TextBox 17"/>
            <p:cNvSpPr txBox="1"/>
            <p:nvPr/>
          </p:nvSpPr>
          <p:spPr>
            <a:xfrm>
              <a:off x="908304" y="4537710"/>
              <a:ext cx="1914083"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KURAMSAL ARKA PLAN</a:t>
              </a:r>
            </a:p>
          </p:txBody>
        </p:sp>
        <p:sp>
          <p:nvSpPr>
            <p:cNvPr id="18" name="TextBox 18"/>
            <p:cNvSpPr txBox="1"/>
            <p:nvPr/>
          </p:nvSpPr>
          <p:spPr>
            <a:xfrm>
              <a:off x="905256" y="4777740"/>
              <a:ext cx="7756398" cy="12092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Bu desen istemci-sunucu modelinin ve REST/HTTP tabanlı servisler</a:t>
              </a:r>
              <a:br/>
              <a:r>
                <a:rPr lang="tr-TR" sz="1800" dirty="0">
                  <a:solidFill>
                    <a:srgbClr val="172B3A"/>
                  </a:solidFill>
                  <a:latin typeface="+mn-lt"/>
                  <a:ea typeface="+mn-ea"/>
                  <a:cs typeface="+mn-cs"/>
                </a:rPr>
                <a:t>arası iletişimin bir uzantısıdır; ancak klasik CRUD servislerinden</a:t>
              </a:r>
              <a:br/>
              <a:r>
                <a:rPr lang="tr-TR" sz="1800" dirty="0">
                  <a:solidFill>
                    <a:srgbClr val="172B3A"/>
                  </a:solidFill>
                  <a:latin typeface="+mn-lt"/>
                  <a:ea typeface="+mn-ea"/>
                  <a:cs typeface="+mn-cs"/>
                </a:rPr>
                <a:t>farklı olarak yanıt süresi öngörülemez, çıktı olasılıksaldır ve hata</a:t>
              </a:r>
              <a:br/>
              <a:r>
                <a:rPr lang="tr-TR" sz="1800" dirty="0">
                  <a:solidFill>
                    <a:srgbClr val="172B3A"/>
                  </a:solidFill>
                  <a:latin typeface="+mn-lt"/>
                  <a:ea typeface="+mn-ea"/>
                  <a:cs typeface="+mn-cs"/>
                </a:rPr>
                <a:t>modları (halüsinasyon, zaman aşımı, kota aşımı) farklıdır.</a:t>
              </a:r>
            </a:p>
          </p:txBody>
        </p:sp>
      </p:grpSp>
      <p:sp>
        <p:nvSpPr>
          <p:cNvPr id="20" name="TextBox 2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764528" cy="668845"/>
            <a:chOff x="609600" y="171450"/>
            <a:chExt cx="976452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07415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17.1: Node.js'ten AI servisine özet isteği</a:t>
              </a:r>
            </a:p>
          </p:txBody>
        </p:sp>
      </p:grpSp>
      <p:grpSp>
        <p:nvGrpSpPr>
          <p:cNvPr id="24" name="code-panel"/>
          <p:cNvGrpSpPr/>
          <p:nvPr/>
        </p:nvGrpSpPr>
        <p:grpSpPr>
          <a:xfrm>
            <a:off x="609600" y="1162050"/>
            <a:ext cx="10972800" cy="3676650"/>
            <a:chOff x="609600" y="1162050"/>
            <a:chExt cx="10972800" cy="3676650"/>
          </a:xfrm>
        </p:grpSpPr>
        <p:sp>
          <p:nvSpPr>
            <p:cNvPr id="12" name="Rectangle 12"/>
            <p:cNvSpPr/>
            <p:nvPr/>
          </p:nvSpPr>
          <p:spPr>
            <a:xfrm>
              <a:off x="609600" y="1162050"/>
              <a:ext cx="10972800" cy="3676650"/>
            </a:xfrm>
            <a:prstGeom prst="roundRect">
              <a:avLst>
                <a:gd name="adj" fmla="val 2591"/>
              </a:avLst>
            </a:prstGeom>
            <a:solidFill>
              <a:srgbClr val="0B2036"/>
            </a:solidFill>
            <a:ln>
              <a:noFill/>
            </a:ln>
          </p:spPr>
        </p:sp>
        <p:sp>
          <p:nvSpPr>
            <p:cNvPr id="13" name="Rectangle 13"/>
            <p:cNvSpPr/>
            <p:nvPr/>
          </p:nvSpPr>
          <p:spPr>
            <a:xfrm>
              <a:off x="609600" y="1162050"/>
              <a:ext cx="57150" cy="3676650"/>
            </a:xfrm>
            <a:prstGeom prst="rect">
              <a:avLst/>
            </a:prstGeom>
            <a:solidFill>
              <a:srgbClr val="00A6A6"/>
            </a:solidFill>
            <a:ln>
              <a:noFill/>
            </a:ln>
          </p:spPr>
        </p:sp>
        <p:sp>
          <p:nvSpPr>
            <p:cNvPr id="14" name="TextBox 14"/>
            <p:cNvSpPr txBox="1"/>
            <p:nvPr/>
          </p:nvSpPr>
          <p:spPr>
            <a:xfrm>
              <a:off x="906780" y="1362075"/>
              <a:ext cx="4597400"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Consolas"/>
                  <a:ea typeface="Consolas"/>
                  <a:cs typeface="Consolas"/>
                </a:rPr>
                <a:t>// AI özetleme servisine istek (Kod 17.1)</a:t>
              </a:r>
            </a:p>
          </p:txBody>
        </p:sp>
        <p:sp>
          <p:nvSpPr>
            <p:cNvPr id="15" name="TextBox 15"/>
            <p:cNvSpPr txBox="1"/>
            <p:nvPr/>
          </p:nvSpPr>
          <p:spPr>
            <a:xfrm>
              <a:off x="906780" y="1704975"/>
              <a:ext cx="4590854"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async function getBookSummary(bookText) {</a:t>
              </a:r>
            </a:p>
          </p:txBody>
        </p:sp>
        <p:sp>
          <p:nvSpPr>
            <p:cNvPr id="16" name="TextBox 16"/>
            <p:cNvSpPr txBox="1"/>
            <p:nvPr/>
          </p:nvSpPr>
          <p:spPr>
            <a:xfrm>
              <a:off x="1211580" y="2047875"/>
              <a:ext cx="7345299"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const response = await fetch('http://ai-service:8000/summarize', {</a:t>
              </a:r>
            </a:p>
          </p:txBody>
        </p:sp>
        <p:sp>
          <p:nvSpPr>
            <p:cNvPr id="17" name="TextBox 17"/>
            <p:cNvSpPr txBox="1"/>
            <p:nvPr/>
          </p:nvSpPr>
          <p:spPr>
            <a:xfrm>
              <a:off x="1516380" y="2390775"/>
              <a:ext cx="1718882"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method: 'POST',</a:t>
              </a:r>
            </a:p>
          </p:txBody>
        </p:sp>
        <p:sp>
          <p:nvSpPr>
            <p:cNvPr id="18" name="TextBox 18"/>
            <p:cNvSpPr txBox="1"/>
            <p:nvPr/>
          </p:nvSpPr>
          <p:spPr>
            <a:xfrm>
              <a:off x="1516380" y="2733675"/>
              <a:ext cx="5364480"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headers: { 'Content-Type': 'application/json' },</a:t>
              </a:r>
            </a:p>
          </p:txBody>
        </p:sp>
        <p:sp>
          <p:nvSpPr>
            <p:cNvPr id="19" name="TextBox 19"/>
            <p:cNvSpPr txBox="1"/>
            <p:nvPr/>
          </p:nvSpPr>
          <p:spPr>
            <a:xfrm>
              <a:off x="1516380" y="3076575"/>
              <a:ext cx="4501055"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body: JSON.stringify({ text: bookText })</a:t>
              </a:r>
            </a:p>
          </p:txBody>
        </p:sp>
        <p:sp>
          <p:nvSpPr>
            <p:cNvPr id="20" name="TextBox 20"/>
            <p:cNvSpPr txBox="1"/>
            <p:nvPr/>
          </p:nvSpPr>
          <p:spPr>
            <a:xfrm>
              <a:off x="1211580" y="3419475"/>
              <a:ext cx="348425"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a:t>
              </a:r>
            </a:p>
          </p:txBody>
        </p:sp>
        <p:sp>
          <p:nvSpPr>
            <p:cNvPr id="21" name="TextBox 21"/>
            <p:cNvSpPr txBox="1"/>
            <p:nvPr/>
          </p:nvSpPr>
          <p:spPr>
            <a:xfrm>
              <a:off x="1211580" y="3762375"/>
              <a:ext cx="3902393"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const data = await response.json();</a:t>
              </a:r>
            </a:p>
          </p:txBody>
        </p:sp>
        <p:sp>
          <p:nvSpPr>
            <p:cNvPr id="22" name="TextBox 22"/>
            <p:cNvSpPr txBox="1"/>
            <p:nvPr/>
          </p:nvSpPr>
          <p:spPr>
            <a:xfrm>
              <a:off x="1211580" y="4105275"/>
              <a:ext cx="2236470"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return data.summary;</a:t>
              </a:r>
            </a:p>
          </p:txBody>
        </p:sp>
        <p:sp>
          <p:nvSpPr>
            <p:cNvPr id="23" name="TextBox 23"/>
            <p:cNvSpPr txBox="1"/>
            <p:nvPr/>
          </p:nvSpPr>
          <p:spPr>
            <a:xfrm>
              <a:off x="906780" y="4448175"/>
              <a:ext cx="126302"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a:t>
              </a:r>
            </a:p>
          </p:txBody>
        </p:sp>
      </p:grpSp>
      <p:grpSp>
        <p:nvGrpSpPr>
          <p:cNvPr id="29" name="callout-dikkat"/>
          <p:cNvGrpSpPr/>
          <p:nvPr/>
        </p:nvGrpSpPr>
        <p:grpSpPr>
          <a:xfrm>
            <a:off x="609600" y="5029200"/>
            <a:ext cx="10972800" cy="957167"/>
            <a:chOff x="609600" y="5029200"/>
            <a:chExt cx="10972800" cy="957167"/>
          </a:xfrm>
        </p:grpSpPr>
        <p:sp>
          <p:nvSpPr>
            <p:cNvPr id="25" name="Rectangle 25"/>
            <p:cNvSpPr/>
            <p:nvPr/>
          </p:nvSpPr>
          <p:spPr>
            <a:xfrm>
              <a:off x="609600" y="5029200"/>
              <a:ext cx="10972800" cy="914400"/>
            </a:xfrm>
            <a:prstGeom prst="roundRect">
              <a:avLst>
                <a:gd name="adj" fmla="val 8333"/>
              </a:avLst>
            </a:prstGeom>
            <a:solidFill>
              <a:srgbClr val="EAF4F6"/>
            </a:solidFill>
            <a:ln>
              <a:noFill/>
            </a:ln>
          </p:spPr>
        </p:sp>
        <p:sp>
          <p:nvSpPr>
            <p:cNvPr id="26" name="Rectangle 26"/>
            <p:cNvSpPr/>
            <p:nvPr/>
          </p:nvSpPr>
          <p:spPr>
            <a:xfrm>
              <a:off x="609600" y="5029200"/>
              <a:ext cx="57150" cy="914400"/>
            </a:xfrm>
            <a:prstGeom prst="rect">
              <a:avLst/>
            </a:prstGeom>
            <a:solidFill>
              <a:srgbClr val="00A6A6"/>
            </a:solidFill>
            <a:ln>
              <a:noFill/>
            </a:ln>
          </p:spPr>
        </p:sp>
        <p:sp>
          <p:nvSpPr>
            <p:cNvPr id="27" name="TextBox 27"/>
            <p:cNvSpPr txBox="1"/>
            <p:nvPr/>
          </p:nvSpPr>
          <p:spPr>
            <a:xfrm>
              <a:off x="908304" y="5185410"/>
              <a:ext cx="656966"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DİKKAT</a:t>
              </a:r>
            </a:p>
          </p:txBody>
        </p:sp>
        <p:sp>
          <p:nvSpPr>
            <p:cNvPr id="28" name="TextBox 28"/>
            <p:cNvSpPr txBox="1"/>
            <p:nvPr/>
          </p:nvSpPr>
          <p:spPr>
            <a:xfrm>
              <a:off x="906399" y="5430679"/>
              <a:ext cx="703910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Bu ilk sürüm zaman aşımı, yeniden deneme (retry) veya hata izolasyonu</a:t>
              </a:r>
              <a:br/>
              <a:r>
                <a:rPr lang="tr-TR" sz="1580" dirty="0">
                  <a:solidFill>
                    <a:srgbClr val="12355B"/>
                  </a:solidFill>
                  <a:latin typeface="+mn-lt"/>
                  <a:ea typeface="+mn-ea"/>
                  <a:cs typeface="+mn-cs"/>
                </a:rPr>
                <a:t>içermez; bölüm ilerledikçe bu eksiklikler adım adım giderilecektir.</a:t>
              </a:r>
            </a:p>
          </p:txBody>
        </p:sp>
      </p:grpSp>
      <p:sp>
        <p:nvSpPr>
          <p:cNvPr id="30" name="TextBox 3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736445" cy="668845"/>
            <a:chOff x="609600" y="171450"/>
            <a:chExt cx="9736445"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904607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Temel entegrasyon: ne zaman ve alternatifler</a:t>
              </a:r>
            </a:p>
          </p:txBody>
        </p:sp>
      </p:grpSp>
      <p:grpSp>
        <p:nvGrpSpPr>
          <p:cNvPr id="15" name="alt-header"/>
          <p:cNvGrpSpPr/>
          <p:nvPr/>
        </p:nvGrpSpPr>
        <p:grpSpPr>
          <a:xfrm>
            <a:off x="609600" y="1333500"/>
            <a:ext cx="10972800" cy="342900"/>
            <a:chOff x="609600" y="1333500"/>
            <a:chExt cx="10972800" cy="342900"/>
          </a:xfrm>
        </p:grpSpPr>
        <p:sp>
          <p:nvSpPr>
            <p:cNvPr id="11" name="Rectangle 11"/>
            <p:cNvSpPr/>
            <p:nvPr/>
          </p:nvSpPr>
          <p:spPr>
            <a:xfrm>
              <a:off x="609600" y="1333500"/>
              <a:ext cx="10972800" cy="342900"/>
            </a:xfrm>
            <a:prstGeom prst="rect">
              <a:avLst/>
            </a:prstGeom>
            <a:solidFill>
              <a:srgbClr val="12355B"/>
            </a:solidFill>
            <a:ln>
              <a:noFill/>
            </a:ln>
          </p:spPr>
        </p:sp>
        <p:sp>
          <p:nvSpPr>
            <p:cNvPr id="12" name="TextBox 12"/>
            <p:cNvSpPr txBox="1"/>
            <p:nvPr/>
          </p:nvSpPr>
          <p:spPr>
            <a:xfrm>
              <a:off x="756285" y="143113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YAKLAŞIM</a:t>
              </a:r>
            </a:p>
          </p:txBody>
        </p:sp>
        <p:sp>
          <p:nvSpPr>
            <p:cNvPr id="13" name="TextBox 13"/>
            <p:cNvSpPr txBox="1"/>
            <p:nvPr/>
          </p:nvSpPr>
          <p:spPr>
            <a:xfrm>
              <a:off x="3042285" y="143113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AÇIKLAMA</a:t>
              </a:r>
            </a:p>
          </p:txBody>
        </p:sp>
        <p:sp>
          <p:nvSpPr>
            <p:cNvPr id="14" name="TextBox 14"/>
            <p:cNvSpPr txBox="1"/>
            <p:nvPr/>
          </p:nvSpPr>
          <p:spPr>
            <a:xfrm>
              <a:off x="7900035" y="1431131"/>
              <a:ext cx="2167475"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ZAMAN TERCİH EDİLİR</a:t>
              </a:r>
            </a:p>
          </p:txBody>
        </p:sp>
      </p:grpSp>
      <p:grpSp>
        <p:nvGrpSpPr>
          <p:cNvPr id="20" name="alt-row1"/>
          <p:cNvGrpSpPr/>
          <p:nvPr/>
        </p:nvGrpSpPr>
        <p:grpSpPr>
          <a:xfrm>
            <a:off x="609600" y="1759268"/>
            <a:ext cx="10972800" cy="783907"/>
            <a:chOff x="609600" y="1759268"/>
            <a:chExt cx="10972800" cy="783907"/>
          </a:xfrm>
        </p:grpSpPr>
        <p:sp>
          <p:nvSpPr>
            <p:cNvPr id="16" name="TextBox 16"/>
            <p:cNvSpPr txBox="1"/>
            <p:nvPr/>
          </p:nvSpPr>
          <p:spPr>
            <a:xfrm>
              <a:off x="755904" y="1775460"/>
              <a:ext cx="1780413"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Ayrı REST</a:t>
              </a:r>
              <a:br/>
              <a:r>
                <a:rPr lang="tr-TR" sz="1200" b="1" dirty="0">
                  <a:solidFill>
                    <a:srgbClr val="12355B"/>
                  </a:solidFill>
                  <a:latin typeface="+mn-lt"/>
                  <a:ea typeface="+mn-ea"/>
                  <a:cs typeface="+mn-cs"/>
                </a:rPr>
                <a:t>Mikroservisi (FastAPI)</a:t>
              </a:r>
            </a:p>
          </p:txBody>
        </p:sp>
        <p:sp>
          <p:nvSpPr>
            <p:cNvPr id="17" name="TextBox 17"/>
            <p:cNvSpPr txBox="1"/>
            <p:nvPr/>
          </p:nvSpPr>
          <p:spPr>
            <a:xfrm>
              <a:off x="3041142" y="1759268"/>
              <a:ext cx="2842641"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Python ML kodu bağımsız bir HTTP</a:t>
              </a:r>
              <a:br/>
              <a:r>
                <a:rPr lang="tr-TR" sz="1350" dirty="0">
                  <a:solidFill>
                    <a:srgbClr val="172B3A"/>
                  </a:solidFill>
                  <a:latin typeface="+mn-lt"/>
                  <a:ea typeface="+mn-ea"/>
                  <a:cs typeface="+mn-cs"/>
                </a:rPr>
                <a:t>servisi olarak paketlenir; Node.js</a:t>
              </a:r>
              <a:br/>
              <a:r>
                <a:rPr lang="tr-TR" sz="1350" dirty="0">
                  <a:solidFill>
                    <a:srgbClr val="172B3A"/>
                  </a:solidFill>
                  <a:latin typeface="+mn-lt"/>
                  <a:ea typeface="+mn-ea"/>
                  <a:cs typeface="+mn-cs"/>
                </a:rPr>
                <a:t>ona ağ üzerinden istek atar.</a:t>
              </a:r>
            </a:p>
          </p:txBody>
        </p:sp>
        <p:sp>
          <p:nvSpPr>
            <p:cNvPr id="18" name="TextBox 18"/>
            <p:cNvSpPr txBox="1"/>
            <p:nvPr/>
          </p:nvSpPr>
          <p:spPr>
            <a:xfrm>
              <a:off x="7898892" y="1759268"/>
              <a:ext cx="2842641"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Model karmaşık, GPU gerektiriyor</a:t>
              </a:r>
              <a:br/>
              <a:r>
                <a:rPr lang="tr-TR" sz="1350" dirty="0">
                  <a:solidFill>
                    <a:srgbClr val="172B3A"/>
                  </a:solidFill>
                  <a:latin typeface="+mn-lt"/>
                  <a:ea typeface="+mn-ea"/>
                  <a:cs typeface="+mn-cs"/>
                </a:rPr>
                <a:t>veya ekip farklıysa varsayılan</a:t>
              </a:r>
              <a:br/>
              <a:r>
                <a:rPr lang="tr-TR" sz="1350" dirty="0">
                  <a:solidFill>
                    <a:srgbClr val="172B3A"/>
                  </a:solidFill>
                  <a:latin typeface="+mn-lt"/>
                  <a:ea typeface="+mn-ea"/>
                  <a:cs typeface="+mn-cs"/>
                </a:rPr>
                <a:t>tercihtir.</a:t>
              </a:r>
            </a:p>
          </p:txBody>
        </p:sp>
        <p:sp>
          <p:nvSpPr>
            <p:cNvPr id="19" name="Line 19"/>
            <p:cNvSpPr/>
            <p:nvPr/>
          </p:nvSpPr>
          <p:spPr>
            <a:xfrm>
              <a:off x="609600" y="2533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6" name="alt-row2"/>
          <p:cNvGrpSpPr/>
          <p:nvPr/>
        </p:nvGrpSpPr>
        <p:grpSpPr>
          <a:xfrm>
            <a:off x="609600" y="2533650"/>
            <a:ext cx="10972800" cy="866775"/>
            <a:chOff x="609600" y="2533650"/>
            <a:chExt cx="10972800" cy="866775"/>
          </a:xfrm>
        </p:grpSpPr>
        <p:sp>
          <p:nvSpPr>
            <p:cNvPr id="21" name="Rectangle 21"/>
            <p:cNvSpPr/>
            <p:nvPr/>
          </p:nvSpPr>
          <p:spPr>
            <a:xfrm>
              <a:off x="609600" y="2533650"/>
              <a:ext cx="10972800" cy="857250"/>
            </a:xfrm>
            <a:prstGeom prst="rect">
              <a:avLst/>
            </a:prstGeom>
            <a:solidFill>
              <a:srgbClr val="EAF4F6"/>
            </a:solidFill>
            <a:ln>
              <a:noFill/>
            </a:ln>
          </p:spPr>
        </p:sp>
        <p:sp>
          <p:nvSpPr>
            <p:cNvPr id="22" name="TextBox 22"/>
            <p:cNvSpPr txBox="1"/>
            <p:nvPr/>
          </p:nvSpPr>
          <p:spPr>
            <a:xfrm>
              <a:off x="755904" y="2632710"/>
              <a:ext cx="1036320"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Aynı Süreçte</a:t>
              </a:r>
              <a:br/>
              <a:r>
                <a:rPr lang="tr-TR" sz="1200" b="1" dirty="0">
                  <a:solidFill>
                    <a:srgbClr val="12355B"/>
                  </a:solidFill>
                  <a:latin typeface="+mn-lt"/>
                  <a:ea typeface="+mn-ea"/>
                  <a:cs typeface="+mn-cs"/>
                </a:rPr>
                <a:t>Child Process</a:t>
              </a:r>
            </a:p>
          </p:txBody>
        </p:sp>
        <p:sp>
          <p:nvSpPr>
            <p:cNvPr id="23" name="TextBox 23"/>
            <p:cNvSpPr txBox="1"/>
            <p:nvPr/>
          </p:nvSpPr>
          <p:spPr>
            <a:xfrm>
              <a:off x="3041142" y="2616518"/>
              <a:ext cx="3108389"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Python betiği Node.js tarafından alt</a:t>
              </a:r>
              <a:br/>
              <a:r>
                <a:rPr lang="tr-TR" sz="1350" dirty="0">
                  <a:solidFill>
                    <a:srgbClr val="172B3A"/>
                  </a:solidFill>
                  <a:latin typeface="+mn-lt"/>
                  <a:ea typeface="+mn-ea"/>
                  <a:cs typeface="+mn-cs"/>
                </a:rPr>
                <a:t>süreç olarak başlatılıp stdin/stdout</a:t>
              </a:r>
              <a:br/>
              <a:r>
                <a:rPr lang="tr-TR" sz="1350" dirty="0">
                  <a:solidFill>
                    <a:srgbClr val="172B3A"/>
                  </a:solidFill>
                  <a:latin typeface="+mn-lt"/>
                  <a:ea typeface="+mn-ea"/>
                  <a:cs typeface="+mn-cs"/>
                </a:rPr>
                <a:t>ile veri aktarılır.</a:t>
              </a:r>
            </a:p>
          </p:txBody>
        </p:sp>
        <p:sp>
          <p:nvSpPr>
            <p:cNvPr id="24" name="TextBox 24"/>
            <p:cNvSpPr txBox="1"/>
            <p:nvPr/>
          </p:nvSpPr>
          <p:spPr>
            <a:xfrm>
              <a:off x="7898892" y="2616518"/>
              <a:ext cx="2388298"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Tek sunucuda çalışan küçük,</a:t>
              </a:r>
              <a:br/>
              <a:r>
                <a:rPr lang="tr-TR" sz="1350" dirty="0">
                  <a:solidFill>
                    <a:srgbClr val="172B3A"/>
                  </a:solidFill>
                  <a:latin typeface="+mn-lt"/>
                  <a:ea typeface="+mn-ea"/>
                  <a:cs typeface="+mn-cs"/>
                </a:rPr>
                <a:t>düşük trafikli prototiplerde</a:t>
              </a:r>
              <a:br/>
              <a:r>
                <a:rPr lang="tr-TR" sz="1350" dirty="0">
                  <a:solidFill>
                    <a:srgbClr val="172B3A"/>
                  </a:solidFill>
                  <a:latin typeface="+mn-lt"/>
                  <a:ea typeface="+mn-ea"/>
                  <a:cs typeface="+mn-cs"/>
                </a:rPr>
                <a:t>kabul edilebilir.</a:t>
              </a:r>
            </a:p>
          </p:txBody>
        </p:sp>
        <p:sp>
          <p:nvSpPr>
            <p:cNvPr id="25" name="Line 25"/>
            <p:cNvSpPr/>
            <p:nvPr/>
          </p:nvSpPr>
          <p:spPr>
            <a:xfrm>
              <a:off x="609600" y="3390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alt-row3"/>
          <p:cNvGrpSpPr/>
          <p:nvPr/>
        </p:nvGrpSpPr>
        <p:grpSpPr>
          <a:xfrm>
            <a:off x="609600" y="3473768"/>
            <a:ext cx="10972800" cy="783907"/>
            <a:chOff x="609600" y="3473768"/>
            <a:chExt cx="10972800" cy="783907"/>
          </a:xfrm>
        </p:grpSpPr>
        <p:sp>
          <p:nvSpPr>
            <p:cNvPr id="27" name="TextBox 27"/>
            <p:cNvSpPr txBox="1"/>
            <p:nvPr/>
          </p:nvSpPr>
          <p:spPr>
            <a:xfrm>
              <a:off x="755904" y="3489960"/>
              <a:ext cx="988314"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Üçüncü Parti</a:t>
              </a:r>
              <a:br/>
              <a:r>
                <a:rPr lang="tr-TR" sz="1200" b="1" dirty="0">
                  <a:solidFill>
                    <a:srgbClr val="12355B"/>
                  </a:solidFill>
                  <a:latin typeface="+mn-lt"/>
                  <a:ea typeface="+mn-ea"/>
                  <a:cs typeface="+mn-cs"/>
                </a:rPr>
                <a:t>SaaS API</a:t>
              </a:r>
            </a:p>
          </p:txBody>
        </p:sp>
        <p:sp>
          <p:nvSpPr>
            <p:cNvPr id="28" name="TextBox 28"/>
            <p:cNvSpPr txBox="1"/>
            <p:nvPr/>
          </p:nvSpPr>
          <p:spPr>
            <a:xfrm>
              <a:off x="3041142" y="3473768"/>
              <a:ext cx="2868358"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Model eğitimi ve barındırma dış</a:t>
              </a:r>
              <a:br/>
              <a:r>
                <a:rPr lang="tr-TR" sz="1350" dirty="0">
                  <a:solidFill>
                    <a:srgbClr val="172B3A"/>
                  </a:solidFill>
                  <a:latin typeface="+mn-lt"/>
                  <a:ea typeface="+mn-ea"/>
                  <a:cs typeface="+mn-cs"/>
                </a:rPr>
                <a:t>sağlayıcıya bırakılır; sadece API</a:t>
              </a:r>
              <a:br/>
              <a:r>
                <a:rPr lang="tr-TR" sz="1350" dirty="0">
                  <a:solidFill>
                    <a:srgbClr val="172B3A"/>
                  </a:solidFill>
                  <a:latin typeface="+mn-lt"/>
                  <a:ea typeface="+mn-ea"/>
                  <a:cs typeface="+mn-cs"/>
                </a:rPr>
                <a:t>anahtarıyla çağrı yapılır.</a:t>
              </a:r>
            </a:p>
          </p:txBody>
        </p:sp>
        <p:sp>
          <p:nvSpPr>
            <p:cNvPr id="29" name="TextBox 29"/>
            <p:cNvSpPr txBox="1"/>
            <p:nvPr/>
          </p:nvSpPr>
          <p:spPr>
            <a:xfrm>
              <a:off x="7898892" y="3473768"/>
              <a:ext cx="2714054"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Özel model eğitimine gerek yoksa</a:t>
              </a:r>
              <a:br/>
              <a:r>
                <a:rPr lang="tr-TR" sz="1350" dirty="0">
                  <a:solidFill>
                    <a:srgbClr val="172B3A"/>
                  </a:solidFill>
                  <a:latin typeface="+mn-lt"/>
                  <a:ea typeface="+mn-ea"/>
                  <a:cs typeface="+mn-cs"/>
                </a:rPr>
                <a:t>ve hızlı başlangıç önemliyse</a:t>
              </a:r>
              <a:br/>
              <a:r>
                <a:rPr lang="tr-TR" sz="1350" dirty="0">
                  <a:solidFill>
                    <a:srgbClr val="172B3A"/>
                  </a:solidFill>
                  <a:latin typeface="+mn-lt"/>
                  <a:ea typeface="+mn-ea"/>
                  <a:cs typeface="+mn-cs"/>
                </a:rPr>
                <a:t>tercih edilir.</a:t>
              </a:r>
            </a:p>
          </p:txBody>
        </p:sp>
        <p:sp>
          <p:nvSpPr>
            <p:cNvPr id="30" name="Line 30"/>
            <p:cNvSpPr/>
            <p:nvPr/>
          </p:nvSpPr>
          <p:spPr>
            <a:xfrm>
              <a:off x="609600" y="42481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6" name="alt-row4"/>
          <p:cNvGrpSpPr/>
          <p:nvPr/>
        </p:nvGrpSpPr>
        <p:grpSpPr>
          <a:xfrm>
            <a:off x="609600" y="4248150"/>
            <a:ext cx="10972800" cy="857250"/>
            <a:chOff x="609600" y="4248150"/>
            <a:chExt cx="10972800" cy="857250"/>
          </a:xfrm>
        </p:grpSpPr>
        <p:sp>
          <p:nvSpPr>
            <p:cNvPr id="32" name="Rectangle 32"/>
            <p:cNvSpPr/>
            <p:nvPr/>
          </p:nvSpPr>
          <p:spPr>
            <a:xfrm>
              <a:off x="609600" y="4248150"/>
              <a:ext cx="10972800" cy="857250"/>
            </a:xfrm>
            <a:prstGeom prst="rect">
              <a:avLst/>
            </a:prstGeom>
            <a:solidFill>
              <a:srgbClr val="EAF4F6"/>
            </a:solidFill>
            <a:ln>
              <a:noFill/>
            </a:ln>
          </p:spPr>
        </p:sp>
        <p:sp>
          <p:nvSpPr>
            <p:cNvPr id="33" name="TextBox 33"/>
            <p:cNvSpPr txBox="1"/>
            <p:nvPr/>
          </p:nvSpPr>
          <p:spPr>
            <a:xfrm>
              <a:off x="755904" y="4347210"/>
              <a:ext cx="1340358"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Mesaj Kuyruğu ile</a:t>
              </a:r>
              <a:br/>
              <a:r>
                <a:rPr lang="tr-TR" sz="1200" b="1" dirty="0">
                  <a:solidFill>
                    <a:srgbClr val="12355B"/>
                  </a:solidFill>
                  <a:latin typeface="+mn-lt"/>
                  <a:ea typeface="+mn-ea"/>
                  <a:cs typeface="+mn-cs"/>
                </a:rPr>
                <a:t>Asenkron Çağrı</a:t>
              </a:r>
            </a:p>
          </p:txBody>
        </p:sp>
        <p:sp>
          <p:nvSpPr>
            <p:cNvPr id="34" name="TextBox 34"/>
            <p:cNvSpPr txBox="1"/>
            <p:nvPr/>
          </p:nvSpPr>
          <p:spPr>
            <a:xfrm>
              <a:off x="3041142" y="4331018"/>
              <a:ext cx="3074098"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İstek bir kuyruğa (RabbitMQ/Kafka)</a:t>
              </a:r>
              <a:br/>
              <a:r>
                <a:rPr lang="tr-TR" sz="1350" dirty="0">
                  <a:solidFill>
                    <a:srgbClr val="172B3A"/>
                  </a:solidFill>
                  <a:latin typeface="+mn-lt"/>
                  <a:ea typeface="+mn-ea"/>
                  <a:cs typeface="+mn-cs"/>
                </a:rPr>
                <a:t>yazılır, sonuç hazır olunca geri</a:t>
              </a:r>
              <a:br/>
              <a:r>
                <a:rPr lang="tr-TR" sz="1350" dirty="0">
                  <a:solidFill>
                    <a:srgbClr val="172B3A"/>
                  </a:solidFill>
                  <a:latin typeface="+mn-lt"/>
                  <a:ea typeface="+mn-ea"/>
                  <a:cs typeface="+mn-cs"/>
                </a:rPr>
                <a:t>bildirilir.</a:t>
              </a:r>
            </a:p>
          </p:txBody>
        </p:sp>
        <p:sp>
          <p:nvSpPr>
            <p:cNvPr id="35" name="TextBox 35"/>
            <p:cNvSpPr txBox="1"/>
            <p:nvPr/>
          </p:nvSpPr>
          <p:spPr>
            <a:xfrm>
              <a:off x="7898892" y="4331018"/>
              <a:ext cx="2542604"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Yanıt süresi uzun ve kullanıcı</a:t>
              </a:r>
              <a:br/>
              <a:r>
                <a:rPr lang="tr-TR" sz="1350" dirty="0">
                  <a:solidFill>
                    <a:srgbClr val="172B3A"/>
                  </a:solidFill>
                  <a:latin typeface="+mn-lt"/>
                  <a:ea typeface="+mn-ea"/>
                  <a:cs typeface="+mn-cs"/>
                </a:rPr>
                <a:t>senkron beklemeye zorunda</a:t>
              </a:r>
              <a:br/>
              <a:r>
                <a:rPr lang="tr-TR" sz="1350" dirty="0">
                  <a:solidFill>
                    <a:srgbClr val="172B3A"/>
                  </a:solidFill>
                  <a:latin typeface="+mn-lt"/>
                  <a:ea typeface="+mn-ea"/>
                  <a:cs typeface="+mn-cs"/>
                </a:rPr>
                <a:t>değilse uygundur.</a:t>
              </a:r>
            </a:p>
          </p:txBody>
        </p:sp>
      </p:grpSp>
      <p:grpSp>
        <p:nvGrpSpPr>
          <p:cNvPr id="41" name="alt-summary"/>
          <p:cNvGrpSpPr/>
          <p:nvPr/>
        </p:nvGrpSpPr>
        <p:grpSpPr>
          <a:xfrm>
            <a:off x="609600" y="5257800"/>
            <a:ext cx="10972800" cy="957167"/>
            <a:chOff x="609600" y="5257800"/>
            <a:chExt cx="10972800" cy="957167"/>
          </a:xfrm>
        </p:grpSpPr>
        <p:sp>
          <p:nvSpPr>
            <p:cNvPr id="37" name="Rectangle 37"/>
            <p:cNvSpPr/>
            <p:nvPr/>
          </p:nvSpPr>
          <p:spPr>
            <a:xfrm>
              <a:off x="609600" y="5257800"/>
              <a:ext cx="10972800" cy="914400"/>
            </a:xfrm>
            <a:prstGeom prst="roundRect">
              <a:avLst>
                <a:gd name="adj" fmla="val 8333"/>
              </a:avLst>
            </a:prstGeom>
            <a:solidFill>
              <a:srgbClr val="EAF4F6"/>
            </a:solidFill>
            <a:ln>
              <a:noFill/>
            </a:ln>
          </p:spPr>
        </p:sp>
        <p:sp>
          <p:nvSpPr>
            <p:cNvPr id="38" name="Rectangle 38"/>
            <p:cNvSpPr/>
            <p:nvPr/>
          </p:nvSpPr>
          <p:spPr>
            <a:xfrm>
              <a:off x="609600" y="5257800"/>
              <a:ext cx="57150" cy="914400"/>
            </a:xfrm>
            <a:prstGeom prst="rect">
              <a:avLst/>
            </a:prstGeom>
            <a:solidFill>
              <a:srgbClr val="00A6A6"/>
            </a:solidFill>
            <a:ln>
              <a:noFill/>
            </a:ln>
          </p:spPr>
        </p:sp>
        <p:sp>
          <p:nvSpPr>
            <p:cNvPr id="39" name="TextBox 39"/>
            <p:cNvSpPr txBox="1"/>
            <p:nvPr/>
          </p:nvSpPr>
          <p:spPr>
            <a:xfrm>
              <a:off x="908304" y="5414010"/>
              <a:ext cx="2023323"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BU BÖLÜMDEKİ TERCİH</a:t>
              </a:r>
            </a:p>
          </p:txBody>
        </p:sp>
        <p:sp>
          <p:nvSpPr>
            <p:cNvPr id="40" name="TextBox 40"/>
            <p:cNvSpPr txBox="1"/>
            <p:nvPr/>
          </p:nvSpPr>
          <p:spPr>
            <a:xfrm>
              <a:off x="906399" y="5659279"/>
              <a:ext cx="710933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REST tabanlı ayrı mikroservis yaklaşımı esas alınır; böylece Python ML</a:t>
              </a:r>
              <a:br/>
              <a:r>
                <a:rPr lang="tr-TR" sz="1580" dirty="0">
                  <a:solidFill>
                    <a:srgbClr val="12355B"/>
                  </a:solidFill>
                  <a:latin typeface="+mn-lt"/>
                  <a:ea typeface="+mn-ea"/>
                  <a:cs typeface="+mn-cs"/>
                </a:rPr>
                <a:t>ekosistemi ile Node.js backend'i birbirinden bağımsız ölçeklenebilir.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7600886" cy="668845"/>
            <a:chOff x="609600" y="171450"/>
            <a:chExt cx="7600886"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691051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Servisler arası sözleşme tasarımı</a:t>
              </a:r>
            </a:p>
          </p:txBody>
        </p:sp>
      </p:grpSp>
      <p:grpSp>
        <p:nvGrpSpPr>
          <p:cNvPr id="16" name="block-tanim"/>
          <p:cNvGrpSpPr/>
          <p:nvPr/>
        </p:nvGrpSpPr>
        <p:grpSpPr>
          <a:xfrm>
            <a:off x="609600" y="1219200"/>
            <a:ext cx="7674864" cy="1243584"/>
            <a:chOff x="609600" y="1219200"/>
            <a:chExt cx="7674864" cy="1243584"/>
          </a:xfrm>
        </p:grpSpPr>
        <p:sp>
          <p:nvSpPr>
            <p:cNvPr id="13" name="Rectangle 13"/>
            <p:cNvSpPr/>
            <p:nvPr/>
          </p:nvSpPr>
          <p:spPr>
            <a:xfrm>
              <a:off x="609600" y="1219200"/>
              <a:ext cx="57150" cy="1123950"/>
            </a:xfrm>
            <a:prstGeom prst="rect">
              <a:avLst/>
            </a:prstGeom>
            <a:solidFill>
              <a:srgbClr val="00A6A6"/>
            </a:solidFill>
            <a:ln>
              <a:noFill/>
            </a:ln>
          </p:spPr>
        </p:sp>
        <p:sp>
          <p:nvSpPr>
            <p:cNvPr id="14" name="TextBox 14"/>
            <p:cNvSpPr txBox="1"/>
            <p:nvPr/>
          </p:nvSpPr>
          <p:spPr>
            <a:xfrm>
              <a:off x="908304" y="1299210"/>
              <a:ext cx="538764"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TANIM</a:t>
              </a:r>
            </a:p>
          </p:txBody>
        </p:sp>
        <p:sp>
          <p:nvSpPr>
            <p:cNvPr id="15" name="TextBox 15"/>
            <p:cNvSpPr txBox="1"/>
            <p:nvPr/>
          </p:nvSpPr>
          <p:spPr>
            <a:xfrm>
              <a:off x="905256" y="1539240"/>
              <a:ext cx="7379208" cy="92354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Servisler arası sözleşme, Node.js backend'i ile FastAPI ML servisi</a:t>
              </a:r>
              <a:br/>
              <a:r>
                <a:rPr lang="tr-TR" sz="1800" dirty="0">
                  <a:solidFill>
                    <a:srgbClr val="172B3A"/>
                  </a:solidFill>
                  <a:latin typeface="+mn-lt"/>
                  <a:ea typeface="+mn-ea"/>
                  <a:cs typeface="+mn-cs"/>
                </a:rPr>
                <a:t>arasında değişecek isteğin ve yanıtın alan adlarını, tiplerini ve</a:t>
              </a:r>
              <a:br/>
              <a:r>
                <a:rPr lang="tr-TR" sz="1800" dirty="0">
                  <a:solidFill>
                    <a:srgbClr val="172B3A"/>
                  </a:solidFill>
                  <a:latin typeface="+mn-lt"/>
                  <a:ea typeface="+mn-ea"/>
                  <a:cs typeface="+mn-cs"/>
                </a:rPr>
                <a:t>zorunluluk durumunu açıkça tanımlayan anlaşmadır.</a:t>
              </a:r>
            </a:p>
          </p:txBody>
        </p:sp>
      </p:grpSp>
      <p:sp>
        <p:nvSpPr>
          <p:cNvPr id="17" name="Line 17"/>
          <p:cNvSpPr/>
          <p:nvPr/>
        </p:nvSpPr>
        <p:spPr>
          <a:xfrm>
            <a:off x="609600" y="2590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21" name="block-neden"/>
          <p:cNvGrpSpPr/>
          <p:nvPr/>
        </p:nvGrpSpPr>
        <p:grpSpPr>
          <a:xfrm>
            <a:off x="609600" y="2743200"/>
            <a:ext cx="7606284" cy="1314450"/>
            <a:chOff x="609600" y="2743200"/>
            <a:chExt cx="7606284" cy="1314450"/>
          </a:xfrm>
        </p:grpSpPr>
        <p:sp>
          <p:nvSpPr>
            <p:cNvPr id="18" name="Rectangle 18"/>
            <p:cNvSpPr/>
            <p:nvPr/>
          </p:nvSpPr>
          <p:spPr>
            <a:xfrm>
              <a:off x="609600" y="2743200"/>
              <a:ext cx="57150" cy="1314450"/>
            </a:xfrm>
            <a:prstGeom prst="rect">
              <a:avLst/>
            </a:prstGeom>
            <a:solidFill>
              <a:srgbClr val="00A6A6"/>
            </a:solidFill>
            <a:ln>
              <a:noFill/>
            </a:ln>
          </p:spPr>
        </p:sp>
        <p:sp>
          <p:nvSpPr>
            <p:cNvPr id="19" name="TextBox 19"/>
            <p:cNvSpPr txBox="1"/>
            <p:nvPr/>
          </p:nvSpPr>
          <p:spPr>
            <a:xfrm>
              <a:off x="908304" y="2823210"/>
              <a:ext cx="1222797"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NEDEN VARDIR</a:t>
              </a:r>
            </a:p>
          </p:txBody>
        </p:sp>
        <p:sp>
          <p:nvSpPr>
            <p:cNvPr id="20" name="TextBox 20"/>
            <p:cNvSpPr txBox="1"/>
            <p:nvPr/>
          </p:nvSpPr>
          <p:spPr>
            <a:xfrm>
              <a:off x="905256" y="3063240"/>
              <a:ext cx="7310628" cy="92354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İki farklı dilde (TypeScript/Python) yazılmış servisler arasında</a:t>
              </a:r>
              <a:br/>
              <a:r>
                <a:rPr lang="tr-TR" sz="1800" dirty="0">
                  <a:solidFill>
                    <a:srgbClr val="172B3A"/>
                  </a:solidFill>
                  <a:latin typeface="+mn-lt"/>
                  <a:ea typeface="+mn-ea"/>
                  <a:cs typeface="+mn-cs"/>
                </a:rPr>
                <a:t>ortak bir tip sistemi yoktur; sözleşme olmadan bir tarafın alan</a:t>
              </a:r>
              <a:br/>
              <a:r>
                <a:rPr lang="tr-TR" sz="1800" dirty="0">
                  <a:solidFill>
                    <a:srgbClr val="172B3A"/>
                  </a:solidFill>
                  <a:latin typeface="+mn-lt"/>
                  <a:ea typeface="+mn-ea"/>
                  <a:cs typeface="+mn-cs"/>
                </a:rPr>
                <a:t>adını değiştirmesi diğer tarafı sessizce bozabilir.</a:t>
              </a:r>
            </a:p>
          </p:txBody>
        </p:sp>
      </p:grpSp>
      <p:sp>
        <p:nvSpPr>
          <p:cNvPr id="22" name="Line 22"/>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26" name="block-kuram"/>
          <p:cNvGrpSpPr/>
          <p:nvPr/>
        </p:nvGrpSpPr>
        <p:grpSpPr>
          <a:xfrm>
            <a:off x="609600" y="4457700"/>
            <a:ext cx="8337804" cy="1529334"/>
            <a:chOff x="609600" y="4457700"/>
            <a:chExt cx="8337804" cy="1529334"/>
          </a:xfrm>
        </p:grpSpPr>
        <p:sp>
          <p:nvSpPr>
            <p:cNvPr id="23" name="Rectangle 23"/>
            <p:cNvSpPr/>
            <p:nvPr/>
          </p:nvSpPr>
          <p:spPr>
            <a:xfrm>
              <a:off x="609600" y="4457700"/>
              <a:ext cx="57150" cy="1314450"/>
            </a:xfrm>
            <a:prstGeom prst="rect">
              <a:avLst/>
            </a:prstGeom>
            <a:solidFill>
              <a:srgbClr val="00A6A6"/>
            </a:solidFill>
            <a:ln>
              <a:noFill/>
            </a:ln>
          </p:spPr>
        </p:sp>
        <p:sp>
          <p:nvSpPr>
            <p:cNvPr id="24" name="TextBox 24"/>
            <p:cNvSpPr txBox="1"/>
            <p:nvPr/>
          </p:nvSpPr>
          <p:spPr>
            <a:xfrm>
              <a:off x="908304" y="4537710"/>
              <a:ext cx="1914083"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KURAMSAL ARKA PLAN</a:t>
              </a:r>
            </a:p>
          </p:txBody>
        </p:sp>
        <p:sp>
          <p:nvSpPr>
            <p:cNvPr id="25" name="TextBox 25"/>
            <p:cNvSpPr txBox="1"/>
            <p:nvPr/>
          </p:nvSpPr>
          <p:spPr>
            <a:xfrm>
              <a:off x="905256" y="4777740"/>
              <a:ext cx="8042148" cy="12092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Bu yaklaşım, dağıtık sistemlerdeki sözleşme öncelikli (contract-first)</a:t>
              </a:r>
              <a:br/>
              <a:r>
                <a:rPr lang="tr-TR" sz="1800" dirty="0">
                  <a:solidFill>
                    <a:srgbClr val="172B3A"/>
                  </a:solidFill>
                  <a:latin typeface="+mn-lt"/>
                  <a:ea typeface="+mn-ea"/>
                  <a:cs typeface="+mn-cs"/>
                </a:rPr>
                <a:t>ilkesine dayanır: sözleşme, istemci ile sunucunun birbirinden</a:t>
              </a:r>
              <a:br/>
              <a:r>
                <a:rPr lang="tr-TR" sz="1800" dirty="0">
                  <a:solidFill>
                    <a:srgbClr val="172B3A"/>
                  </a:solidFill>
                  <a:latin typeface="+mn-lt"/>
                  <a:ea typeface="+mn-ea"/>
                  <a:cs typeface="+mn-cs"/>
                </a:rPr>
                <a:t>bağımsız evrilebilmesi için ortak bir referans noktası oluşturur;</a:t>
              </a:r>
              <a:br/>
              <a:r>
                <a:rPr lang="tr-TR" sz="1800" dirty="0">
                  <a:solidFill>
                    <a:srgbClr val="172B3A"/>
                  </a:solidFill>
                  <a:latin typeface="+mn-lt"/>
                  <a:ea typeface="+mn-ea"/>
                  <a:cs typeface="+mn-cs"/>
                </a:rPr>
                <a:t>TypeScript arayüzü Python tarafında Pydantic modeliyle eşlenir.</a:t>
              </a:r>
            </a:p>
          </p:txBody>
        </p:sp>
      </p:grpSp>
      <p:sp>
        <p:nvSpPr>
          <p:cNvPr id="27" name="TextBox 2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10981083" cy="557403"/>
            <a:chOff x="595122" y="282892"/>
            <a:chExt cx="10981083" cy="557403"/>
          </a:xfrm>
        </p:grpSpPr>
        <p:sp>
          <p:nvSpPr>
            <p:cNvPr id="4" name="TextBox 4"/>
            <p:cNvSpPr txBox="1"/>
            <p:nvPr/>
          </p:nvSpPr>
          <p:spPr>
            <a:xfrm>
              <a:off x="595122" y="282892"/>
              <a:ext cx="1098108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17.2: sözleşmenin çalışma zamanında doğrulanması</a:t>
              </a:r>
            </a:p>
          </p:txBody>
        </p:sp>
      </p:grpSp>
      <p:grpSp>
        <p:nvGrpSpPr>
          <p:cNvPr id="18" name="code-panel"/>
          <p:cNvGrpSpPr/>
          <p:nvPr/>
        </p:nvGrpSpPr>
        <p:grpSpPr>
          <a:xfrm>
            <a:off x="609600" y="1162050"/>
            <a:ext cx="10972800" cy="3676650"/>
            <a:chOff x="609600" y="1162050"/>
            <a:chExt cx="10972800" cy="3676650"/>
          </a:xfrm>
        </p:grpSpPr>
        <p:sp>
          <p:nvSpPr>
            <p:cNvPr id="6" name="Rectangle 6"/>
            <p:cNvSpPr/>
            <p:nvPr/>
          </p:nvSpPr>
          <p:spPr>
            <a:xfrm>
              <a:off x="609600" y="1162050"/>
              <a:ext cx="10972800" cy="3676650"/>
            </a:xfrm>
            <a:prstGeom prst="roundRect">
              <a:avLst>
                <a:gd name="adj" fmla="val 2591"/>
              </a:avLst>
            </a:prstGeom>
            <a:solidFill>
              <a:srgbClr val="0B2036"/>
            </a:solidFill>
            <a:ln>
              <a:noFill/>
            </a:ln>
          </p:spPr>
        </p:sp>
        <p:sp>
          <p:nvSpPr>
            <p:cNvPr id="7" name="Rectangle 7"/>
            <p:cNvSpPr/>
            <p:nvPr/>
          </p:nvSpPr>
          <p:spPr>
            <a:xfrm>
              <a:off x="609600" y="1162050"/>
              <a:ext cx="57150" cy="3676650"/>
            </a:xfrm>
            <a:prstGeom prst="rect">
              <a:avLst/>
            </a:prstGeom>
            <a:solidFill>
              <a:srgbClr val="00A6A6"/>
            </a:solidFill>
            <a:ln>
              <a:noFill/>
            </a:ln>
          </p:spPr>
        </p:sp>
        <p:sp>
          <p:nvSpPr>
            <p:cNvPr id="8" name="TextBox 8"/>
            <p:cNvSpPr txBox="1"/>
            <p:nvPr/>
          </p:nvSpPr>
          <p:spPr>
            <a:xfrm>
              <a:off x="906780" y="1362075"/>
              <a:ext cx="6251448" cy="293370"/>
            </a:xfrm>
            <a:prstGeom prst="rect">
              <a:avLst/>
            </a:prstGeom>
            <a:noFill/>
            <a:ln>
              <a:noFill/>
            </a:ln>
          </p:spPr>
          <p:txBody>
            <a:bodyPr wrap="none" lIns="0" tIns="0" rIns="0" bIns="0" anchor="t" anchorCtr="0">
              <a:spAutoFit/>
            </a:bodyPr>
            <a:lstStyle/>
            <a:p>
              <a:pPr algn="l"/>
              <a:r>
                <a:rPr lang="tr-TR" sz="1500" dirty="0">
                  <a:solidFill>
                    <a:srgbClr val="52616B"/>
                  </a:solidFill>
                  <a:latin typeface="Consolas"/>
                  <a:ea typeface="Consolas"/>
                  <a:cs typeface="Consolas"/>
                </a:rPr>
                <a:t>// Sözleşmenin çalışma zamanında doğrulanması (Kod 17.2)</a:t>
              </a:r>
            </a:p>
          </p:txBody>
        </p:sp>
        <p:sp>
          <p:nvSpPr>
            <p:cNvPr id="9" name="TextBox 9"/>
            <p:cNvSpPr txBox="1"/>
            <p:nvPr/>
          </p:nvSpPr>
          <p:spPr>
            <a:xfrm>
              <a:off x="906780" y="1704975"/>
              <a:ext cx="3028045"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interface SummaryResponse {</a:t>
              </a:r>
            </a:p>
          </p:txBody>
        </p:sp>
        <p:sp>
          <p:nvSpPr>
            <p:cNvPr id="10" name="TextBox 10"/>
            <p:cNvSpPr txBox="1"/>
            <p:nvPr/>
          </p:nvSpPr>
          <p:spPr>
            <a:xfrm>
              <a:off x="1211580" y="2047875"/>
              <a:ext cx="1792224"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summary: string;</a:t>
              </a:r>
            </a:p>
          </p:txBody>
        </p:sp>
        <p:sp>
          <p:nvSpPr>
            <p:cNvPr id="11" name="TextBox 11"/>
            <p:cNvSpPr txBox="1"/>
            <p:nvPr/>
          </p:nvSpPr>
          <p:spPr>
            <a:xfrm>
              <a:off x="1211580" y="2390775"/>
              <a:ext cx="2125408"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confidence: number;</a:t>
              </a:r>
            </a:p>
          </p:txBody>
        </p:sp>
        <p:sp>
          <p:nvSpPr>
            <p:cNvPr id="12" name="TextBox 12"/>
            <p:cNvSpPr txBox="1"/>
            <p:nvPr/>
          </p:nvSpPr>
          <p:spPr>
            <a:xfrm>
              <a:off x="906780" y="2733675"/>
              <a:ext cx="126302"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a:t>
              </a:r>
            </a:p>
          </p:txBody>
        </p:sp>
        <p:sp>
          <p:nvSpPr>
            <p:cNvPr id="13" name="TextBox 13"/>
            <p:cNvSpPr txBox="1"/>
            <p:nvPr/>
          </p:nvSpPr>
          <p:spPr>
            <a:xfrm>
              <a:off x="906780" y="3076575"/>
              <a:ext cx="7597421"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function isSummaryResponse(data: unknown): data is SummaryResponse {</a:t>
              </a:r>
            </a:p>
          </p:txBody>
        </p:sp>
        <p:sp>
          <p:nvSpPr>
            <p:cNvPr id="14" name="TextBox 14"/>
            <p:cNvSpPr txBox="1"/>
            <p:nvPr/>
          </p:nvSpPr>
          <p:spPr>
            <a:xfrm>
              <a:off x="1211580" y="3419475"/>
              <a:ext cx="6678930"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if (typeof data !== 'object' || data === null) return false;</a:t>
              </a:r>
            </a:p>
          </p:txBody>
        </p:sp>
        <p:sp>
          <p:nvSpPr>
            <p:cNvPr id="15" name="TextBox 15"/>
            <p:cNvSpPr txBox="1"/>
            <p:nvPr/>
          </p:nvSpPr>
          <p:spPr>
            <a:xfrm>
              <a:off x="1211580" y="3762375"/>
              <a:ext cx="4910328" cy="293370"/>
            </a:xfrm>
            <a:prstGeom prst="rect">
              <a:avLst/>
            </a:prstGeom>
            <a:noFill/>
            <a:ln>
              <a:noFill/>
            </a:ln>
          </p:spPr>
          <p:txBody>
            <a:bodyPr wrap="none" lIns="0" tIns="0" rIns="0" bIns="0" anchor="t" anchorCtr="0">
              <a:spAutoFit/>
            </a:bodyPr>
            <a:lstStyle/>
            <a:p>
              <a:pPr algn="l"/>
              <a:r>
                <a:rPr lang="tr-TR" sz="1500" dirty="0">
                  <a:solidFill>
                    <a:srgbClr val="EAF4F6"/>
                  </a:solidFill>
                  <a:latin typeface="Consolas"/>
                  <a:ea typeface="Consolas"/>
                  <a:cs typeface="Consolas"/>
                </a:rPr>
                <a:t>const obj = data as Record&lt;string, unknown&gt;;</a:t>
              </a:r>
            </a:p>
          </p:txBody>
        </p:sp>
        <p:sp>
          <p:nvSpPr>
            <p:cNvPr id="16" name="TextBox 16"/>
            <p:cNvSpPr txBox="1"/>
            <p:nvPr/>
          </p:nvSpPr>
          <p:spPr>
            <a:xfrm>
              <a:off x="1211580" y="4105275"/>
              <a:ext cx="4235577"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return typeof obj.summary === 'string'</a:t>
              </a:r>
            </a:p>
          </p:txBody>
        </p:sp>
        <p:sp>
          <p:nvSpPr>
            <p:cNvPr id="17" name="TextBox 17"/>
            <p:cNvSpPr txBox="1"/>
            <p:nvPr/>
          </p:nvSpPr>
          <p:spPr>
            <a:xfrm>
              <a:off x="1516380" y="4448175"/>
              <a:ext cx="4235577"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&amp;&amp; typeof obj.confidence === 'number';</a:t>
              </a:r>
            </a:p>
          </p:txBody>
        </p:sp>
      </p:grpSp>
      <p:grpSp>
        <p:nvGrpSpPr>
          <p:cNvPr id="23" name="callout-dikkat"/>
          <p:cNvGrpSpPr/>
          <p:nvPr/>
        </p:nvGrpSpPr>
        <p:grpSpPr>
          <a:xfrm>
            <a:off x="609600" y="5029200"/>
            <a:ext cx="10972800" cy="957167"/>
            <a:chOff x="609600" y="5029200"/>
            <a:chExt cx="10972800" cy="957167"/>
          </a:xfrm>
        </p:grpSpPr>
        <p:sp>
          <p:nvSpPr>
            <p:cNvPr id="19" name="Rectangle 19"/>
            <p:cNvSpPr/>
            <p:nvPr/>
          </p:nvSpPr>
          <p:spPr>
            <a:xfrm>
              <a:off x="609600" y="5029200"/>
              <a:ext cx="10972800" cy="914400"/>
            </a:xfrm>
            <a:prstGeom prst="roundRect">
              <a:avLst>
                <a:gd name="adj" fmla="val 8333"/>
              </a:avLst>
            </a:prstGeom>
            <a:solidFill>
              <a:srgbClr val="EAF4F6"/>
            </a:solidFill>
            <a:ln>
              <a:noFill/>
            </a:ln>
          </p:spPr>
        </p:sp>
        <p:sp>
          <p:nvSpPr>
            <p:cNvPr id="20" name="Rectangle 20"/>
            <p:cNvSpPr/>
            <p:nvPr/>
          </p:nvSpPr>
          <p:spPr>
            <a:xfrm>
              <a:off x="609600" y="5029200"/>
              <a:ext cx="57150" cy="914400"/>
            </a:xfrm>
            <a:prstGeom prst="rect">
              <a:avLst/>
            </a:prstGeom>
            <a:solidFill>
              <a:srgbClr val="00A6A6"/>
            </a:solidFill>
            <a:ln>
              <a:noFill/>
            </a:ln>
          </p:spPr>
        </p:sp>
        <p:sp>
          <p:nvSpPr>
            <p:cNvPr id="21" name="TextBox 21"/>
            <p:cNvSpPr txBox="1"/>
            <p:nvPr/>
          </p:nvSpPr>
          <p:spPr>
            <a:xfrm>
              <a:off x="908304" y="5185410"/>
              <a:ext cx="656966"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DİKKAT</a:t>
              </a:r>
            </a:p>
          </p:txBody>
        </p:sp>
        <p:sp>
          <p:nvSpPr>
            <p:cNvPr id="22" name="TextBox 22"/>
            <p:cNvSpPr txBox="1"/>
            <p:nvPr/>
          </p:nvSpPr>
          <p:spPr>
            <a:xfrm>
              <a:off x="906399" y="5430679"/>
              <a:ext cx="742035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TypeScript'in derleme zamanı tip denetimi, ağdan gelen JSON'ın gerçek</a:t>
              </a:r>
              <a:br/>
              <a:r>
                <a:rPr lang="tr-TR" sz="1580" dirty="0">
                  <a:solidFill>
                    <a:srgbClr val="12355B"/>
                  </a:solidFill>
                  <a:latin typeface="+mn-lt"/>
                  <a:ea typeface="+mn-ea"/>
                  <a:cs typeface="+mn-cs"/>
                </a:rPr>
                <a:t>biçimini garanti etmez; bu yüzden çalışma zamanında da doğrulama gerekir.</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9937819" cy="668845"/>
            <a:chOff x="609600" y="171450"/>
            <a:chExt cx="9937819"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924744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Sözleşme doğrulama: ne zaman ve alternatifler</a:t>
              </a:r>
            </a:p>
          </p:txBody>
        </p:sp>
      </p:grpSp>
      <p:grpSp>
        <p:nvGrpSpPr>
          <p:cNvPr id="17" name="alt-header"/>
          <p:cNvGrpSpPr/>
          <p:nvPr/>
        </p:nvGrpSpPr>
        <p:grpSpPr>
          <a:xfrm>
            <a:off x="609600" y="1333500"/>
            <a:ext cx="10972800" cy="342900"/>
            <a:chOff x="609600" y="1333500"/>
            <a:chExt cx="10972800" cy="342900"/>
          </a:xfrm>
        </p:grpSpPr>
        <p:sp>
          <p:nvSpPr>
            <p:cNvPr id="13" name="Rectangle 13"/>
            <p:cNvSpPr/>
            <p:nvPr/>
          </p:nvSpPr>
          <p:spPr>
            <a:xfrm>
              <a:off x="609600" y="1333500"/>
              <a:ext cx="10972800" cy="342900"/>
            </a:xfrm>
            <a:prstGeom prst="rect">
              <a:avLst/>
            </a:prstGeom>
            <a:solidFill>
              <a:srgbClr val="12355B"/>
            </a:solidFill>
            <a:ln>
              <a:noFill/>
            </a:ln>
          </p:spPr>
        </p:sp>
        <p:sp>
          <p:nvSpPr>
            <p:cNvPr id="14" name="TextBox 14"/>
            <p:cNvSpPr txBox="1"/>
            <p:nvPr/>
          </p:nvSpPr>
          <p:spPr>
            <a:xfrm>
              <a:off x="756285" y="143113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YAKLAŞIM</a:t>
              </a:r>
            </a:p>
          </p:txBody>
        </p:sp>
        <p:sp>
          <p:nvSpPr>
            <p:cNvPr id="15" name="TextBox 15"/>
            <p:cNvSpPr txBox="1"/>
            <p:nvPr/>
          </p:nvSpPr>
          <p:spPr>
            <a:xfrm>
              <a:off x="3042285" y="143113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AÇIKLAMA</a:t>
              </a:r>
            </a:p>
          </p:txBody>
        </p:sp>
        <p:sp>
          <p:nvSpPr>
            <p:cNvPr id="16" name="TextBox 16"/>
            <p:cNvSpPr txBox="1"/>
            <p:nvPr/>
          </p:nvSpPr>
          <p:spPr>
            <a:xfrm>
              <a:off x="7900035" y="1431131"/>
              <a:ext cx="2167475"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ZAMAN TERCİH EDİLİR</a:t>
              </a:r>
            </a:p>
          </p:txBody>
        </p:sp>
      </p:grpSp>
      <p:grpSp>
        <p:nvGrpSpPr>
          <p:cNvPr id="22" name="alt-row1"/>
          <p:cNvGrpSpPr/>
          <p:nvPr/>
        </p:nvGrpSpPr>
        <p:grpSpPr>
          <a:xfrm>
            <a:off x="609600" y="1759268"/>
            <a:ext cx="10972800" cy="783907"/>
            <a:chOff x="609600" y="1759268"/>
            <a:chExt cx="10972800" cy="783907"/>
          </a:xfrm>
        </p:grpSpPr>
        <p:sp>
          <p:nvSpPr>
            <p:cNvPr id="18" name="TextBox 18"/>
            <p:cNvSpPr txBox="1"/>
            <p:nvPr/>
          </p:nvSpPr>
          <p:spPr>
            <a:xfrm>
              <a:off x="755904" y="1775460"/>
              <a:ext cx="908304"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Elle Yazılan</a:t>
              </a:r>
              <a:br/>
              <a:r>
                <a:rPr lang="tr-TR" sz="1200" b="1" dirty="0">
                  <a:solidFill>
                    <a:srgbClr val="12355B"/>
                  </a:solidFill>
                  <a:latin typeface="+mn-lt"/>
                  <a:ea typeface="+mn-ea"/>
                  <a:cs typeface="+mn-cs"/>
                </a:rPr>
                <a:t>Type Guard</a:t>
              </a:r>
            </a:p>
          </p:txBody>
        </p:sp>
        <p:sp>
          <p:nvSpPr>
            <p:cNvPr id="19" name="TextBox 19"/>
            <p:cNvSpPr txBox="1"/>
            <p:nvPr/>
          </p:nvSpPr>
          <p:spPr>
            <a:xfrm>
              <a:off x="3041142" y="1759268"/>
              <a:ext cx="2319718"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Geliştirici her alanı tek tek</a:t>
              </a:r>
              <a:br/>
              <a:r>
                <a:rPr lang="tr-TR" sz="1350" dirty="0">
                  <a:solidFill>
                    <a:srgbClr val="172B3A"/>
                  </a:solidFill>
                  <a:latin typeface="+mn-lt"/>
                  <a:ea typeface="+mn-ea"/>
                  <a:cs typeface="+mn-cs"/>
                </a:rPr>
                <a:t>typeof ile kontrol eden bir</a:t>
              </a:r>
              <a:br/>
              <a:r>
                <a:rPr lang="tr-TR" sz="1350" dirty="0">
                  <a:solidFill>
                    <a:srgbClr val="172B3A"/>
                  </a:solidFill>
                  <a:latin typeface="+mn-lt"/>
                  <a:ea typeface="+mn-ea"/>
                  <a:cs typeface="+mn-cs"/>
                </a:rPr>
                <a:t>fonksiyon yazar.</a:t>
              </a:r>
            </a:p>
          </p:txBody>
        </p:sp>
        <p:sp>
          <p:nvSpPr>
            <p:cNvPr id="20" name="TextBox 20"/>
            <p:cNvSpPr txBox="1"/>
            <p:nvPr/>
          </p:nvSpPr>
          <p:spPr>
            <a:xfrm>
              <a:off x="7898892" y="1759268"/>
              <a:ext cx="2671191" cy="47358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Az sayıda basit alan içeren</a:t>
              </a:r>
              <a:br/>
              <a:r>
                <a:rPr lang="tr-TR" sz="1350" dirty="0">
                  <a:solidFill>
                    <a:srgbClr val="172B3A"/>
                  </a:solidFill>
                  <a:latin typeface="+mn-lt"/>
                  <a:ea typeface="+mn-ea"/>
                  <a:cs typeface="+mn-cs"/>
                </a:rPr>
                <a:t>küçük sözleşmelerde yeterlidir.</a:t>
              </a:r>
            </a:p>
          </p:txBody>
        </p:sp>
        <p:sp>
          <p:nvSpPr>
            <p:cNvPr id="21" name="Line 21"/>
            <p:cNvSpPr/>
            <p:nvPr/>
          </p:nvSpPr>
          <p:spPr>
            <a:xfrm>
              <a:off x="609600" y="2533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8" name="alt-row2"/>
          <p:cNvGrpSpPr/>
          <p:nvPr/>
        </p:nvGrpSpPr>
        <p:grpSpPr>
          <a:xfrm>
            <a:off x="609600" y="2533650"/>
            <a:ext cx="10972800" cy="866775"/>
            <a:chOff x="609600" y="2533650"/>
            <a:chExt cx="10972800" cy="866775"/>
          </a:xfrm>
        </p:grpSpPr>
        <p:sp>
          <p:nvSpPr>
            <p:cNvPr id="23" name="Rectangle 23"/>
            <p:cNvSpPr/>
            <p:nvPr/>
          </p:nvSpPr>
          <p:spPr>
            <a:xfrm>
              <a:off x="609600" y="2533650"/>
              <a:ext cx="10972800" cy="857250"/>
            </a:xfrm>
            <a:prstGeom prst="rect">
              <a:avLst/>
            </a:prstGeom>
            <a:solidFill>
              <a:srgbClr val="EAF4F6"/>
            </a:solidFill>
            <a:ln>
              <a:noFill/>
            </a:ln>
          </p:spPr>
        </p:sp>
        <p:sp>
          <p:nvSpPr>
            <p:cNvPr id="24" name="TextBox 24"/>
            <p:cNvSpPr txBox="1"/>
            <p:nvPr/>
          </p:nvSpPr>
          <p:spPr>
            <a:xfrm>
              <a:off x="755904" y="2632710"/>
              <a:ext cx="1228344"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Zod / Pydantic</a:t>
              </a:r>
              <a:br/>
              <a:r>
                <a:rPr lang="tr-TR" sz="1200" b="1" dirty="0">
                  <a:solidFill>
                    <a:srgbClr val="12355B"/>
                  </a:solidFill>
                  <a:latin typeface="+mn-lt"/>
                  <a:ea typeface="+mn-ea"/>
                  <a:cs typeface="+mn-cs"/>
                </a:rPr>
                <a:t>Şema Doğrulama</a:t>
              </a:r>
            </a:p>
          </p:txBody>
        </p:sp>
        <p:sp>
          <p:nvSpPr>
            <p:cNvPr id="25" name="TextBox 25"/>
            <p:cNvSpPr txBox="1"/>
            <p:nvPr/>
          </p:nvSpPr>
          <p:spPr>
            <a:xfrm>
              <a:off x="3041142" y="2616518"/>
              <a:ext cx="2499741"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Şema bir kere tanımlanır,</a:t>
              </a:r>
              <a:br/>
              <a:r>
                <a:rPr lang="tr-TR" sz="1350" dirty="0">
                  <a:solidFill>
                    <a:srgbClr val="172B3A"/>
                  </a:solidFill>
                  <a:latin typeface="+mn-lt"/>
                  <a:ea typeface="+mn-ea"/>
                  <a:cs typeface="+mn-cs"/>
                </a:rPr>
                <a:t>kütüphane çalışma zamanında</a:t>
              </a:r>
              <a:br/>
              <a:r>
                <a:rPr lang="tr-TR" sz="1350" dirty="0">
                  <a:solidFill>
                    <a:srgbClr val="172B3A"/>
                  </a:solidFill>
                  <a:latin typeface="+mn-lt"/>
                  <a:ea typeface="+mn-ea"/>
                  <a:cs typeface="+mn-cs"/>
                </a:rPr>
                <a:t>otomatik doğrular.</a:t>
              </a:r>
            </a:p>
          </p:txBody>
        </p:sp>
        <p:sp>
          <p:nvSpPr>
            <p:cNvPr id="26" name="TextBox 26"/>
            <p:cNvSpPr txBox="1"/>
            <p:nvPr/>
          </p:nvSpPr>
          <p:spPr>
            <a:xfrm>
              <a:off x="7898892" y="2616518"/>
              <a:ext cx="2302574"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Alan sayısı arttıkça ve tip</a:t>
              </a:r>
              <a:br/>
              <a:r>
                <a:rPr lang="tr-TR" sz="1350" dirty="0">
                  <a:solidFill>
                    <a:srgbClr val="172B3A"/>
                  </a:solidFill>
                  <a:latin typeface="+mn-lt"/>
                  <a:ea typeface="+mn-ea"/>
                  <a:cs typeface="+mn-cs"/>
                </a:rPr>
                <a:t>güvenliği kritikleştikçe</a:t>
              </a:r>
              <a:br/>
              <a:r>
                <a:rPr lang="tr-TR" sz="1350" dirty="0">
                  <a:solidFill>
                    <a:srgbClr val="172B3A"/>
                  </a:solidFill>
                  <a:latin typeface="+mn-lt"/>
                  <a:ea typeface="+mn-ea"/>
                  <a:cs typeface="+mn-cs"/>
                </a:rPr>
                <a:t>tercih edilir.</a:t>
              </a:r>
            </a:p>
          </p:txBody>
        </p:sp>
        <p:sp>
          <p:nvSpPr>
            <p:cNvPr id="27" name="Line 27"/>
            <p:cNvSpPr/>
            <p:nvPr/>
          </p:nvSpPr>
          <p:spPr>
            <a:xfrm>
              <a:off x="609600" y="3390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3" name="alt-row3"/>
          <p:cNvGrpSpPr/>
          <p:nvPr/>
        </p:nvGrpSpPr>
        <p:grpSpPr>
          <a:xfrm>
            <a:off x="609600" y="3473768"/>
            <a:ext cx="10972800" cy="783907"/>
            <a:chOff x="609600" y="3473768"/>
            <a:chExt cx="10972800" cy="783907"/>
          </a:xfrm>
        </p:grpSpPr>
        <p:sp>
          <p:nvSpPr>
            <p:cNvPr id="29" name="TextBox 29"/>
            <p:cNvSpPr txBox="1"/>
            <p:nvPr/>
          </p:nvSpPr>
          <p:spPr>
            <a:xfrm>
              <a:off x="755904" y="3489960"/>
              <a:ext cx="1004316"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OpenAPI /</a:t>
              </a:r>
              <a:br/>
              <a:r>
                <a:rPr lang="tr-TR" sz="1200" b="1" dirty="0">
                  <a:solidFill>
                    <a:srgbClr val="12355B"/>
                  </a:solidFill>
                  <a:latin typeface="+mn-lt"/>
                  <a:ea typeface="+mn-ea"/>
                  <a:cs typeface="+mn-cs"/>
                </a:rPr>
                <a:t>JSON Schema</a:t>
              </a:r>
            </a:p>
          </p:txBody>
        </p:sp>
        <p:sp>
          <p:nvSpPr>
            <p:cNvPr id="30" name="TextBox 30"/>
            <p:cNvSpPr txBox="1"/>
            <p:nvPr/>
          </p:nvSpPr>
          <p:spPr>
            <a:xfrm>
              <a:off x="3041142" y="3473768"/>
              <a:ext cx="2534031"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Sözleşme ayrı bir belge olarak</a:t>
              </a:r>
              <a:br/>
              <a:r>
                <a:rPr lang="tr-TR" sz="1350" dirty="0">
                  <a:solidFill>
                    <a:srgbClr val="172B3A"/>
                  </a:solidFill>
                  <a:latin typeface="+mn-lt"/>
                  <a:ea typeface="+mn-ea"/>
                  <a:cs typeface="+mn-cs"/>
                </a:rPr>
                <a:t>tanımlanır, her iki taraf da</a:t>
              </a:r>
              <a:br/>
              <a:r>
                <a:rPr lang="tr-TR" sz="1350" dirty="0">
                  <a:solidFill>
                    <a:srgbClr val="172B3A"/>
                  </a:solidFill>
                  <a:latin typeface="+mn-lt"/>
                  <a:ea typeface="+mn-ea"/>
                  <a:cs typeface="+mn-cs"/>
                </a:rPr>
                <a:t>ondan kod üretir.</a:t>
              </a:r>
            </a:p>
          </p:txBody>
        </p:sp>
        <p:sp>
          <p:nvSpPr>
            <p:cNvPr id="31" name="TextBox 31"/>
            <p:cNvSpPr txBox="1"/>
            <p:nvPr/>
          </p:nvSpPr>
          <p:spPr>
            <a:xfrm>
              <a:off x="7898892" y="3473768"/>
              <a:ext cx="2259711"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Çok sayıda ekip aynı API'yi</a:t>
              </a:r>
              <a:br/>
              <a:r>
                <a:rPr lang="tr-TR" sz="1350" dirty="0">
                  <a:solidFill>
                    <a:srgbClr val="172B3A"/>
                  </a:solidFill>
                  <a:latin typeface="+mn-lt"/>
                  <a:ea typeface="+mn-ea"/>
                  <a:cs typeface="+mn-cs"/>
                </a:rPr>
                <a:t>kullanıyorsa ve belgeleme</a:t>
              </a:r>
              <a:br/>
              <a:r>
                <a:rPr lang="tr-TR" sz="1350" dirty="0">
                  <a:solidFill>
                    <a:srgbClr val="172B3A"/>
                  </a:solidFill>
                  <a:latin typeface="+mn-lt"/>
                  <a:ea typeface="+mn-ea"/>
                  <a:cs typeface="+mn-cs"/>
                </a:rPr>
                <a:t>önemliyse uygundur.</a:t>
              </a:r>
            </a:p>
          </p:txBody>
        </p:sp>
        <p:sp>
          <p:nvSpPr>
            <p:cNvPr id="32" name="Line 32"/>
            <p:cNvSpPr/>
            <p:nvPr/>
          </p:nvSpPr>
          <p:spPr>
            <a:xfrm>
              <a:off x="609600" y="42481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8" name="alt-row4"/>
          <p:cNvGrpSpPr/>
          <p:nvPr/>
        </p:nvGrpSpPr>
        <p:grpSpPr>
          <a:xfrm>
            <a:off x="609600" y="4248150"/>
            <a:ext cx="10972800" cy="857250"/>
            <a:chOff x="609600" y="4248150"/>
            <a:chExt cx="10972800" cy="857250"/>
          </a:xfrm>
        </p:grpSpPr>
        <p:sp>
          <p:nvSpPr>
            <p:cNvPr id="34" name="Rectangle 34"/>
            <p:cNvSpPr/>
            <p:nvPr/>
          </p:nvSpPr>
          <p:spPr>
            <a:xfrm>
              <a:off x="609600" y="4248150"/>
              <a:ext cx="10972800" cy="857250"/>
            </a:xfrm>
            <a:prstGeom prst="rect">
              <a:avLst/>
            </a:prstGeom>
            <a:solidFill>
              <a:srgbClr val="EAF4F6"/>
            </a:solidFill>
            <a:ln>
              <a:noFill/>
            </a:ln>
          </p:spPr>
        </p:sp>
        <p:sp>
          <p:nvSpPr>
            <p:cNvPr id="35" name="TextBox 35"/>
            <p:cNvSpPr txBox="1"/>
            <p:nvPr/>
          </p:nvSpPr>
          <p:spPr>
            <a:xfrm>
              <a:off x="755904" y="4347210"/>
              <a:ext cx="796290" cy="434721"/>
            </a:xfrm>
            <a:prstGeom prst="rect">
              <a:avLst/>
            </a:prstGeom>
            <a:noFill/>
            <a:ln>
              <a:noFill/>
            </a:ln>
          </p:spPr>
          <p:txBody>
            <a:bodyPr wrap="none" lIns="0" tIns="0" rIns="0" bIns="0" anchor="t" anchorCtr="0">
              <a:spAutoFit/>
            </a:bodyPr>
            <a:lstStyle/>
            <a:p>
              <a:pPr algn="l">
                <a:lnSpc>
                  <a:spcPts val="1575"/>
                </a:lnSpc>
              </a:pPr>
              <a:r>
                <a:rPr lang="tr-TR" sz="1200" b="1" dirty="0">
                  <a:solidFill>
                    <a:srgbClr val="12355B"/>
                  </a:solidFill>
                  <a:latin typeface="+mn-lt"/>
                  <a:ea typeface="+mn-ea"/>
                  <a:cs typeface="+mn-cs"/>
                </a:rPr>
                <a:t>Doğrulama</a:t>
              </a:r>
              <a:br/>
              <a:r>
                <a:rPr lang="tr-TR" sz="1200" b="1" dirty="0">
                  <a:solidFill>
                    <a:srgbClr val="12355B"/>
                  </a:solidFill>
                  <a:latin typeface="+mn-lt"/>
                  <a:ea typeface="+mn-ea"/>
                  <a:cs typeface="+mn-cs"/>
                </a:rPr>
                <a:t>Yapmama</a:t>
              </a:r>
            </a:p>
          </p:txBody>
        </p:sp>
        <p:sp>
          <p:nvSpPr>
            <p:cNvPr id="36" name="TextBox 36"/>
            <p:cNvSpPr txBox="1"/>
            <p:nvPr/>
          </p:nvSpPr>
          <p:spPr>
            <a:xfrm>
              <a:off x="3041142" y="4331018"/>
              <a:ext cx="2542604"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Yanıt doğrudan güvenilir kabul</a:t>
              </a:r>
              <a:br/>
              <a:r>
                <a:rPr lang="tr-TR" sz="1350" dirty="0">
                  <a:solidFill>
                    <a:srgbClr val="172B3A"/>
                  </a:solidFill>
                  <a:latin typeface="+mn-lt"/>
                  <a:ea typeface="+mn-ea"/>
                  <a:cs typeface="+mn-cs"/>
                </a:rPr>
                <a:t>edilip hiç kontrol edilmeden</a:t>
              </a:r>
              <a:br/>
              <a:r>
                <a:rPr lang="tr-TR" sz="1350" dirty="0">
                  <a:solidFill>
                    <a:srgbClr val="172B3A"/>
                  </a:solidFill>
                  <a:latin typeface="+mn-lt"/>
                  <a:ea typeface="+mn-ea"/>
                  <a:cs typeface="+mn-cs"/>
                </a:rPr>
                <a:t>kullanılır.</a:t>
              </a:r>
            </a:p>
          </p:txBody>
        </p:sp>
        <p:sp>
          <p:nvSpPr>
            <p:cNvPr id="37" name="TextBox 37"/>
            <p:cNvSpPr txBox="1"/>
            <p:nvPr/>
          </p:nvSpPr>
          <p:spPr>
            <a:xfrm>
              <a:off x="7898892" y="4331018"/>
              <a:ext cx="2696908" cy="683133"/>
            </a:xfrm>
            <a:prstGeom prst="rect">
              <a:avLst/>
            </a:prstGeom>
            <a:noFill/>
            <a:ln>
              <a:noFill/>
            </a:ln>
          </p:spPr>
          <p:txBody>
            <a:bodyPr wrap="none" lIns="0" tIns="0" rIns="0" bIns="0" anchor="t" anchorCtr="0">
              <a:spAutoFit/>
            </a:bodyPr>
            <a:lstStyle/>
            <a:p>
              <a:pPr algn="l">
                <a:lnSpc>
                  <a:spcPts val="1650"/>
                </a:lnSpc>
              </a:pPr>
              <a:r>
                <a:rPr lang="tr-TR" sz="1350" dirty="0">
                  <a:solidFill>
                    <a:srgbClr val="172B3A"/>
                  </a:solidFill>
                  <a:latin typeface="+mn-lt"/>
                  <a:ea typeface="+mn-ea"/>
                  <a:cs typeface="+mn-cs"/>
                </a:rPr>
                <a:t>Önerilmez; yalnızca tamamen</a:t>
              </a:r>
              <a:br/>
              <a:r>
                <a:rPr lang="tr-TR" sz="1350" dirty="0">
                  <a:solidFill>
                    <a:srgbClr val="172B3A"/>
                  </a:solidFill>
                  <a:latin typeface="+mn-lt"/>
                  <a:ea typeface="+mn-ea"/>
                  <a:cs typeface="+mn-cs"/>
                </a:rPr>
                <a:t>izole, düşük riskli prototiplerde</a:t>
              </a:r>
              <a:br/>
              <a:r>
                <a:rPr lang="tr-TR" sz="1350" dirty="0">
                  <a:solidFill>
                    <a:srgbClr val="172B3A"/>
                  </a:solidFill>
                  <a:latin typeface="+mn-lt"/>
                  <a:ea typeface="+mn-ea"/>
                  <a:cs typeface="+mn-cs"/>
                </a:rPr>
                <a:t>göze alınabilir.</a:t>
              </a:r>
            </a:p>
          </p:txBody>
        </p:sp>
      </p:grpSp>
      <p:grpSp>
        <p:nvGrpSpPr>
          <p:cNvPr id="43" name="alt-summary"/>
          <p:cNvGrpSpPr/>
          <p:nvPr/>
        </p:nvGrpSpPr>
        <p:grpSpPr>
          <a:xfrm>
            <a:off x="609600" y="5257800"/>
            <a:ext cx="10972800" cy="957167"/>
            <a:chOff x="609600" y="5257800"/>
            <a:chExt cx="10972800" cy="957167"/>
          </a:xfrm>
        </p:grpSpPr>
        <p:sp>
          <p:nvSpPr>
            <p:cNvPr id="39" name="Rectangle 39"/>
            <p:cNvSpPr/>
            <p:nvPr/>
          </p:nvSpPr>
          <p:spPr>
            <a:xfrm>
              <a:off x="609600" y="5257800"/>
              <a:ext cx="10972800" cy="914400"/>
            </a:xfrm>
            <a:prstGeom prst="roundRect">
              <a:avLst>
                <a:gd name="adj" fmla="val 8333"/>
              </a:avLst>
            </a:prstGeom>
            <a:solidFill>
              <a:srgbClr val="EAF4F6"/>
            </a:solidFill>
            <a:ln>
              <a:noFill/>
            </a:ln>
          </p:spPr>
        </p:sp>
        <p:sp>
          <p:nvSpPr>
            <p:cNvPr id="40" name="Rectangle 40"/>
            <p:cNvSpPr/>
            <p:nvPr/>
          </p:nvSpPr>
          <p:spPr>
            <a:xfrm>
              <a:off x="609600" y="5257800"/>
              <a:ext cx="57150" cy="914400"/>
            </a:xfrm>
            <a:prstGeom prst="rect">
              <a:avLst/>
            </a:prstGeom>
            <a:solidFill>
              <a:srgbClr val="00A6A6"/>
            </a:solidFill>
            <a:ln>
              <a:noFill/>
            </a:ln>
          </p:spPr>
        </p:sp>
        <p:sp>
          <p:nvSpPr>
            <p:cNvPr id="41" name="TextBox 41"/>
            <p:cNvSpPr txBox="1"/>
            <p:nvPr/>
          </p:nvSpPr>
          <p:spPr>
            <a:xfrm>
              <a:off x="908304" y="5414010"/>
              <a:ext cx="2023323"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BU BÖLÜMDEKİ TERCİH</a:t>
              </a:r>
            </a:p>
          </p:txBody>
        </p:sp>
        <p:sp>
          <p:nvSpPr>
            <p:cNvPr id="42" name="TextBox 42"/>
            <p:cNvSpPr txBox="1"/>
            <p:nvPr/>
          </p:nvSpPr>
          <p:spPr>
            <a:xfrm>
              <a:off x="906399" y="5659279"/>
              <a:ext cx="700900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Elle yazılan type guard, sözleşme kavramını göstermek için yeterlidir;</a:t>
              </a:r>
              <a:br/>
              <a:r>
                <a:rPr lang="tr-TR" sz="1580" dirty="0">
                  <a:solidFill>
                    <a:srgbClr val="12355B"/>
                  </a:solidFill>
                  <a:latin typeface="+mn-lt"/>
                  <a:ea typeface="+mn-ea"/>
                  <a:cs typeface="+mn-cs"/>
                </a:rPr>
                <a:t>gerçek projelerde Zod/Pydantic şema doğrulaması tercih edilmelidir.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144886" cy="668845"/>
            <a:chOff x="609600" y="171450"/>
            <a:chExt cx="8144886"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62476" y="324326"/>
                <a:ext cx="265748" cy="265748"/>
                <a:chOff x="762476" y="324326"/>
                <a:chExt cx="265748" cy="265748"/>
              </a:xfrm>
            </p:grpSpPr>
            <p:sp>
              <p:nvSpPr>
                <p:cNvPr id="5" name="Freeform 5"/>
                <p:cNvSpPr/>
                <p:nvPr/>
              </p:nvSpPr>
              <p:spPr>
                <a:xfrm>
                  <a:off x="762476" y="427672"/>
                  <a:ext cx="132874" cy="73819"/>
                </a:xfrm>
                <a:custGeom>
                  <a:avLst/>
                  <a:gdLst/>
                  <a:ahLst/>
                  <a:cxnLst/>
                  <a:rect l="l" t="t" r="r" b="b"/>
                  <a:pathLst>
                    <a:path w="132874" h="73819">
                      <a:moveTo>
                        <a:pt x="132874" y="73819"/>
                      </a:moveTo>
                      <a:lnTo>
                        <a:pt x="36909" y="73819"/>
                      </a:lnTo>
                      <a:cubicBezTo>
                        <a:pt x="16525" y="73819"/>
                        <a:pt x="0" y="57294"/>
                        <a:pt x="0" y="36909"/>
                      </a:cubicBezTo>
                      <a:cubicBezTo>
                        <a:pt x="0" y="16525"/>
                        <a:pt x="16525" y="0"/>
                        <a:pt x="36909" y="0"/>
                      </a:cubicBezTo>
                      <a:lnTo>
                        <a:pt x="44291" y="0"/>
                      </a:lnTo>
                    </a:path>
                  </a:pathLst>
                </a:custGeom>
                <a:noFill/>
                <a:ln w="24759" cap="rnd">
                  <a:solidFill>
                    <a:srgbClr val="FFFFFF"/>
                  </a:solidFill>
                  <a:round/>
                </a:ln>
              </p:spPr>
            </p:sp>
            <p:sp>
              <p:nvSpPr>
                <p:cNvPr id="6" name="Freeform 6"/>
                <p:cNvSpPr/>
                <p:nvPr/>
              </p:nvSpPr>
              <p:spPr>
                <a:xfrm>
                  <a:off x="865822" y="457200"/>
                  <a:ext cx="73819" cy="132874"/>
                </a:xfrm>
                <a:custGeom>
                  <a:avLst/>
                  <a:gdLst/>
                  <a:ahLst/>
                  <a:cxnLst/>
                  <a:rect l="l" t="t" r="r" b="b"/>
                  <a:pathLst>
                    <a:path w="73819" h="132874">
                      <a:moveTo>
                        <a:pt x="73819" y="0"/>
                      </a:moveTo>
                      <a:lnTo>
                        <a:pt x="73819" y="95964"/>
                      </a:lnTo>
                      <a:cubicBezTo>
                        <a:pt x="73819" y="116349"/>
                        <a:pt x="57294" y="132874"/>
                        <a:pt x="36909" y="132874"/>
                      </a:cubicBezTo>
                      <a:cubicBezTo>
                        <a:pt x="16525" y="132874"/>
                        <a:pt x="0" y="116349"/>
                        <a:pt x="0" y="95964"/>
                      </a:cubicBezTo>
                      <a:lnTo>
                        <a:pt x="0" y="88582"/>
                      </a:lnTo>
                    </a:path>
                  </a:pathLst>
                </a:custGeom>
                <a:noFill/>
                <a:ln w="24759" cap="rnd">
                  <a:solidFill>
                    <a:srgbClr val="FFFFFF"/>
                  </a:solidFill>
                  <a:round/>
                </a:ln>
              </p:spPr>
            </p:sp>
            <p:sp>
              <p:nvSpPr>
                <p:cNvPr id="7" name="Freeform 7"/>
                <p:cNvSpPr/>
                <p:nvPr/>
              </p:nvSpPr>
              <p:spPr>
                <a:xfrm>
                  <a:off x="895350" y="412909"/>
                  <a:ext cx="132874" cy="73819"/>
                </a:xfrm>
                <a:custGeom>
                  <a:avLst/>
                  <a:gdLst/>
                  <a:ahLst/>
                  <a:cxnLst/>
                  <a:rect l="l" t="t" r="r" b="b"/>
                  <a:pathLst>
                    <a:path w="132874" h="73819">
                      <a:moveTo>
                        <a:pt x="0" y="0"/>
                      </a:moveTo>
                      <a:lnTo>
                        <a:pt x="95964" y="0"/>
                      </a:lnTo>
                      <a:cubicBezTo>
                        <a:pt x="116349" y="0"/>
                        <a:pt x="132874" y="16525"/>
                        <a:pt x="132874" y="36909"/>
                      </a:cubicBezTo>
                      <a:cubicBezTo>
                        <a:pt x="132874" y="57294"/>
                        <a:pt x="116349" y="73819"/>
                        <a:pt x="95964" y="73819"/>
                      </a:cubicBezTo>
                      <a:lnTo>
                        <a:pt x="88583" y="73819"/>
                      </a:lnTo>
                    </a:path>
                  </a:pathLst>
                </a:custGeom>
                <a:noFill/>
                <a:ln w="24759" cap="rnd">
                  <a:solidFill>
                    <a:srgbClr val="FFFFFF"/>
                  </a:solidFill>
                  <a:round/>
                </a:ln>
              </p:spPr>
            </p:sp>
            <p:sp>
              <p:nvSpPr>
                <p:cNvPr id="8" name="Freeform 8"/>
                <p:cNvSpPr/>
                <p:nvPr/>
              </p:nvSpPr>
              <p:spPr>
                <a:xfrm>
                  <a:off x="851059" y="324326"/>
                  <a:ext cx="73819" cy="132874"/>
                </a:xfrm>
                <a:custGeom>
                  <a:avLst/>
                  <a:gdLst/>
                  <a:ahLst/>
                  <a:cxnLst/>
                  <a:rect l="l" t="t" r="r" b="b"/>
                  <a:pathLst>
                    <a:path w="73819" h="132874">
                      <a:moveTo>
                        <a:pt x="0" y="132874"/>
                      </a:moveTo>
                      <a:lnTo>
                        <a:pt x="0" y="36909"/>
                      </a:lnTo>
                      <a:cubicBezTo>
                        <a:pt x="0" y="16525"/>
                        <a:pt x="16525" y="0"/>
                        <a:pt x="36909" y="0"/>
                      </a:cubicBezTo>
                      <a:cubicBezTo>
                        <a:pt x="57294" y="0"/>
                        <a:pt x="73819" y="16525"/>
                        <a:pt x="73819" y="36909"/>
                      </a:cubicBezTo>
                      <a:lnTo>
                        <a:pt x="73819" y="44291"/>
                      </a:lnTo>
                    </a:path>
                  </a:pathLst>
                </a:custGeom>
                <a:noFill/>
                <a:ln w="24759" cap="rnd">
                  <a:solidFill>
                    <a:srgbClr val="FFFFFF"/>
                  </a:solidFill>
                  <a:round/>
                </a:ln>
              </p:spPr>
            </p:sp>
          </p:grpSp>
        </p:grpSp>
        <p:sp>
          <p:nvSpPr>
            <p:cNvPr id="11" name="TextBox 11"/>
            <p:cNvSpPr txBox="1"/>
            <p:nvPr/>
          </p:nvSpPr>
          <p:spPr>
            <a:xfrm>
              <a:off x="1299972" y="282892"/>
              <a:ext cx="745451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Sözleşme tasarımında yaygın hatalar</a:t>
              </a:r>
            </a:p>
          </p:txBody>
        </p:sp>
      </p:grpSp>
      <p:grpSp>
        <p:nvGrpSpPr>
          <p:cNvPr id="19" name="mistake-row1"/>
          <p:cNvGrpSpPr/>
          <p:nvPr/>
        </p:nvGrpSpPr>
        <p:grpSpPr>
          <a:xfrm>
            <a:off x="609600" y="1219200"/>
            <a:ext cx="10972800" cy="1314450"/>
            <a:chOff x="609600" y="1219200"/>
            <a:chExt cx="10972800" cy="1314450"/>
          </a:xfrm>
        </p:grpSpPr>
        <p:sp>
          <p:nvSpPr>
            <p:cNvPr id="13" name="Rectangle 13"/>
            <p:cNvSpPr/>
            <p:nvPr/>
          </p:nvSpPr>
          <p:spPr>
            <a:xfrm>
              <a:off x="609600" y="1219200"/>
              <a:ext cx="10972800" cy="1314450"/>
            </a:xfrm>
            <a:prstGeom prst="roundRect">
              <a:avLst>
                <a:gd name="adj" fmla="val 5797"/>
              </a:avLst>
            </a:prstGeom>
            <a:solidFill>
              <a:srgbClr val="FFFFFF"/>
            </a:solidFill>
            <a:ln w="9525">
              <a:solidFill>
                <a:srgbClr val="B8CBD3"/>
              </a:solidFill>
            </a:ln>
          </p:spPr>
        </p:sp>
        <p:sp>
          <p:nvSpPr>
            <p:cNvPr id="14" name="TextBox 14"/>
            <p:cNvSpPr txBox="1"/>
            <p:nvPr/>
          </p:nvSpPr>
          <p:spPr>
            <a:xfrm>
              <a:off x="908304" y="1375410"/>
              <a:ext cx="1113556"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YAYGIN HATA</a:t>
              </a:r>
            </a:p>
          </p:txBody>
        </p:sp>
        <p:sp>
          <p:nvSpPr>
            <p:cNvPr id="15" name="TextBox 15"/>
            <p:cNvSpPr txBox="1"/>
            <p:nvPr/>
          </p:nvSpPr>
          <p:spPr>
            <a:xfrm>
              <a:off x="906399" y="1620679"/>
              <a:ext cx="510273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Alan adları iki tarafta farklı yazılır (örn. Node'da</a:t>
              </a:r>
              <a:br/>
              <a:r>
                <a:rPr lang="tr-TR" sz="1580" dirty="0">
                  <a:solidFill>
                    <a:srgbClr val="172B3A"/>
                  </a:solidFill>
                  <a:latin typeface="+mn-lt"/>
                  <a:ea typeface="+mn-ea"/>
                  <a:cs typeface="+mn-cs"/>
                </a:rPr>
                <a:t>'summary', Python'da 'ozet').</a:t>
              </a:r>
            </a:p>
          </p:txBody>
        </p:sp>
        <p:sp>
          <p:nvSpPr>
            <p:cNvPr id="16" name="Line 16"/>
            <p:cNvSpPr/>
            <p:nvPr/>
          </p:nvSpPr>
          <p:spPr>
            <a:xfrm>
              <a:off x="6248400" y="1371600"/>
              <a:ext cx="9525" cy="1009650"/>
            </a:xfrm>
            <a:custGeom>
              <a:avLst/>
              <a:gdLst/>
              <a:ahLst/>
              <a:cxnLst/>
              <a:rect l="l" t="t" r="r" b="b"/>
              <a:pathLst>
                <a:path w="9525" h="1009650">
                  <a:moveTo>
                    <a:pt x="0" y="0"/>
                  </a:moveTo>
                  <a:lnTo>
                    <a:pt x="0" y="1009650"/>
                  </a:lnTo>
                </a:path>
              </a:pathLst>
            </a:custGeom>
            <a:noFill/>
            <a:ln w="9525">
              <a:solidFill>
                <a:srgbClr val="B8CBD3"/>
              </a:solidFill>
            </a:ln>
          </p:spPr>
        </p:sp>
        <p:sp>
          <p:nvSpPr>
            <p:cNvPr id="17" name="TextBox 17"/>
            <p:cNvSpPr txBox="1"/>
            <p:nvPr/>
          </p:nvSpPr>
          <p:spPr>
            <a:xfrm>
              <a:off x="6547104" y="1375410"/>
              <a:ext cx="802051"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DOĞRUSU</a:t>
              </a:r>
            </a:p>
          </p:txBody>
        </p:sp>
        <p:sp>
          <p:nvSpPr>
            <p:cNvPr id="18" name="TextBox 18"/>
            <p:cNvSpPr txBox="1"/>
            <p:nvPr/>
          </p:nvSpPr>
          <p:spPr>
            <a:xfrm>
              <a:off x="6545199" y="1620679"/>
              <a:ext cx="3918839" cy="765238"/>
            </a:xfrm>
            <a:prstGeom prst="rect">
              <a:avLst/>
            </a:prstGeom>
            <a:noFill/>
            <a:ln>
              <a:noFill/>
            </a:ln>
          </p:spPr>
          <p:txBody>
            <a:bodyPr wrap="none" lIns="0" tIns="0" rIns="0" bIns="0" anchor="t" anchorCtr="0">
              <a:spAutoFit/>
            </a:bodyPr>
            <a:lstStyle/>
            <a:p>
              <a:pPr algn="l">
                <a:lnSpc>
                  <a:spcPts val="1800"/>
                </a:lnSpc>
              </a:pPr>
              <a:r>
                <a:rPr lang="tr-TR" sz="1580" dirty="0">
                  <a:solidFill>
                    <a:srgbClr val="12355B"/>
                  </a:solidFill>
                  <a:latin typeface="+mn-lt"/>
                  <a:ea typeface="+mn-ea"/>
                  <a:cs typeface="+mn-cs"/>
                </a:rPr>
                <a:t>Sözleşmedeki alan adları her iki tarafta</a:t>
              </a:r>
              <a:br/>
              <a:r>
                <a:rPr lang="tr-TR" sz="1580" dirty="0">
                  <a:solidFill>
                    <a:srgbClr val="12355B"/>
                  </a:solidFill>
                  <a:latin typeface="+mn-lt"/>
                  <a:ea typeface="+mn-ea"/>
                  <a:cs typeface="+mn-cs"/>
                </a:rPr>
                <a:t>harfiyen aynı ve tek bir tip</a:t>
              </a:r>
              <a:br/>
              <a:r>
                <a:rPr lang="tr-TR" sz="1580" dirty="0">
                  <a:solidFill>
                    <a:srgbClr val="12355B"/>
                  </a:solidFill>
                  <a:latin typeface="+mn-lt"/>
                  <a:ea typeface="+mn-ea"/>
                  <a:cs typeface="+mn-cs"/>
                </a:rPr>
                <a:t>tanımından türetilir.</a:t>
              </a:r>
            </a:p>
          </p:txBody>
        </p:sp>
      </p:grpSp>
      <p:grpSp>
        <p:nvGrpSpPr>
          <p:cNvPr id="26" name="mistake-row2"/>
          <p:cNvGrpSpPr/>
          <p:nvPr/>
        </p:nvGrpSpPr>
        <p:grpSpPr>
          <a:xfrm>
            <a:off x="609600" y="2667000"/>
            <a:ext cx="10972800" cy="1314450"/>
            <a:chOff x="609600" y="2667000"/>
            <a:chExt cx="10972800" cy="1314450"/>
          </a:xfrm>
        </p:grpSpPr>
        <p:sp>
          <p:nvSpPr>
            <p:cNvPr id="20" name="Rectangle 20"/>
            <p:cNvSpPr/>
            <p:nvPr/>
          </p:nvSpPr>
          <p:spPr>
            <a:xfrm>
              <a:off x="609600" y="2667000"/>
              <a:ext cx="10972800" cy="1314450"/>
            </a:xfrm>
            <a:prstGeom prst="roundRect">
              <a:avLst>
                <a:gd name="adj" fmla="val 5797"/>
              </a:avLst>
            </a:prstGeom>
            <a:solidFill>
              <a:srgbClr val="FFFFFF"/>
            </a:solidFill>
            <a:ln w="9525">
              <a:solidFill>
                <a:srgbClr val="B8CBD3"/>
              </a:solidFill>
            </a:ln>
          </p:spPr>
        </p:sp>
        <p:sp>
          <p:nvSpPr>
            <p:cNvPr id="21" name="TextBox 21"/>
            <p:cNvSpPr txBox="1"/>
            <p:nvPr/>
          </p:nvSpPr>
          <p:spPr>
            <a:xfrm>
              <a:off x="908304" y="2823210"/>
              <a:ext cx="1113556"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YAYGIN HATA</a:t>
              </a:r>
            </a:p>
          </p:txBody>
        </p:sp>
        <p:sp>
          <p:nvSpPr>
            <p:cNvPr id="22" name="TextBox 22"/>
            <p:cNvSpPr txBox="1"/>
            <p:nvPr/>
          </p:nvSpPr>
          <p:spPr>
            <a:xfrm>
              <a:off x="906399" y="3068479"/>
              <a:ext cx="503250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Yanıttaki sayısal bir alanın (confidence) string mi</a:t>
              </a:r>
              <a:br/>
              <a:r>
                <a:rPr lang="tr-TR" sz="1580" dirty="0">
                  <a:solidFill>
                    <a:srgbClr val="172B3A"/>
                  </a:solidFill>
                  <a:latin typeface="+mn-lt"/>
                  <a:ea typeface="+mn-ea"/>
                  <a:cs typeface="+mn-cs"/>
                </a:rPr>
                <a:t>number mı olduğu hiç doğrulanmadan varsayılır.</a:t>
              </a:r>
            </a:p>
          </p:txBody>
        </p:sp>
        <p:sp>
          <p:nvSpPr>
            <p:cNvPr id="23" name="Line 23"/>
            <p:cNvSpPr/>
            <p:nvPr/>
          </p:nvSpPr>
          <p:spPr>
            <a:xfrm>
              <a:off x="6248400" y="2819400"/>
              <a:ext cx="9525" cy="1009650"/>
            </a:xfrm>
            <a:custGeom>
              <a:avLst/>
              <a:gdLst/>
              <a:ahLst/>
              <a:cxnLst/>
              <a:rect l="l" t="t" r="r" b="b"/>
              <a:pathLst>
                <a:path w="9525" h="1009650">
                  <a:moveTo>
                    <a:pt x="0" y="0"/>
                  </a:moveTo>
                  <a:lnTo>
                    <a:pt x="0" y="1009650"/>
                  </a:lnTo>
                </a:path>
              </a:pathLst>
            </a:custGeom>
            <a:noFill/>
            <a:ln w="9525">
              <a:solidFill>
                <a:srgbClr val="B8CBD3"/>
              </a:solidFill>
            </a:ln>
          </p:spPr>
        </p:sp>
        <p:sp>
          <p:nvSpPr>
            <p:cNvPr id="24" name="TextBox 24"/>
            <p:cNvSpPr txBox="1"/>
            <p:nvPr/>
          </p:nvSpPr>
          <p:spPr>
            <a:xfrm>
              <a:off x="6547104" y="2823210"/>
              <a:ext cx="802051"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DOĞRUSU</a:t>
              </a:r>
            </a:p>
          </p:txBody>
        </p:sp>
        <p:sp>
          <p:nvSpPr>
            <p:cNvPr id="25" name="TextBox 25"/>
            <p:cNvSpPr txBox="1"/>
            <p:nvPr/>
          </p:nvSpPr>
          <p:spPr>
            <a:xfrm>
              <a:off x="6545199" y="3068479"/>
              <a:ext cx="473151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Her alan tipi çalışma zamanında type guard veya</a:t>
              </a:r>
              <a:br/>
              <a:r>
                <a:rPr lang="tr-TR" sz="1580" dirty="0">
                  <a:solidFill>
                    <a:srgbClr val="12355B"/>
                  </a:solidFill>
                  <a:latin typeface="+mn-lt"/>
                  <a:ea typeface="+mn-ea"/>
                  <a:cs typeface="+mn-cs"/>
                </a:rPr>
                <a:t>şema doğrulamasıyla denetlenir.</a:t>
              </a:r>
            </a:p>
          </p:txBody>
        </p:sp>
      </p:grpSp>
      <p:grpSp>
        <p:nvGrpSpPr>
          <p:cNvPr id="33" name="mistake-row3"/>
          <p:cNvGrpSpPr/>
          <p:nvPr/>
        </p:nvGrpSpPr>
        <p:grpSpPr>
          <a:xfrm>
            <a:off x="609600" y="4114800"/>
            <a:ext cx="10972800" cy="1314450"/>
            <a:chOff x="609600" y="4114800"/>
            <a:chExt cx="10972800" cy="1314450"/>
          </a:xfrm>
        </p:grpSpPr>
        <p:sp>
          <p:nvSpPr>
            <p:cNvPr id="27" name="Rectangle 27"/>
            <p:cNvSpPr/>
            <p:nvPr/>
          </p:nvSpPr>
          <p:spPr>
            <a:xfrm>
              <a:off x="609600" y="4114800"/>
              <a:ext cx="10972800" cy="1314450"/>
            </a:xfrm>
            <a:prstGeom prst="roundRect">
              <a:avLst>
                <a:gd name="adj" fmla="val 5797"/>
              </a:avLst>
            </a:prstGeom>
            <a:solidFill>
              <a:srgbClr val="FFFFFF"/>
            </a:solidFill>
            <a:ln w="9525">
              <a:solidFill>
                <a:srgbClr val="B8CBD3"/>
              </a:solidFill>
            </a:ln>
          </p:spPr>
        </p:sp>
        <p:sp>
          <p:nvSpPr>
            <p:cNvPr id="28" name="TextBox 28"/>
            <p:cNvSpPr txBox="1"/>
            <p:nvPr/>
          </p:nvSpPr>
          <p:spPr>
            <a:xfrm>
              <a:off x="908304" y="4271010"/>
              <a:ext cx="1113556"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YAYGIN HATA</a:t>
              </a:r>
            </a:p>
          </p:txBody>
        </p:sp>
        <p:sp>
          <p:nvSpPr>
            <p:cNvPr id="29" name="TextBox 29"/>
            <p:cNvSpPr txBox="1"/>
            <p:nvPr/>
          </p:nvSpPr>
          <p:spPr>
            <a:xfrm>
              <a:off x="906399" y="4516279"/>
              <a:ext cx="510273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Sözleşme yalnızca "mutlu senaryo" için tanımlanır;</a:t>
              </a:r>
              <a:br/>
              <a:r>
                <a:rPr lang="tr-TR" sz="1580" dirty="0">
                  <a:solidFill>
                    <a:srgbClr val="172B3A"/>
                  </a:solidFill>
                  <a:latin typeface="+mn-lt"/>
                  <a:ea typeface="+mn-ea"/>
                  <a:cs typeface="+mn-cs"/>
                </a:rPr>
                <a:t>hata yanıtının biçimi hiç belirtilmez.</a:t>
              </a:r>
            </a:p>
          </p:txBody>
        </p:sp>
        <p:sp>
          <p:nvSpPr>
            <p:cNvPr id="30" name="Line 30"/>
            <p:cNvSpPr/>
            <p:nvPr/>
          </p:nvSpPr>
          <p:spPr>
            <a:xfrm>
              <a:off x="6248400" y="4267200"/>
              <a:ext cx="9525" cy="1009650"/>
            </a:xfrm>
            <a:custGeom>
              <a:avLst/>
              <a:gdLst/>
              <a:ahLst/>
              <a:cxnLst/>
              <a:rect l="l" t="t" r="r" b="b"/>
              <a:pathLst>
                <a:path w="9525" h="1009650">
                  <a:moveTo>
                    <a:pt x="0" y="0"/>
                  </a:moveTo>
                  <a:lnTo>
                    <a:pt x="0" y="1009650"/>
                  </a:lnTo>
                </a:path>
              </a:pathLst>
            </a:custGeom>
            <a:noFill/>
            <a:ln w="9525">
              <a:solidFill>
                <a:srgbClr val="B8CBD3"/>
              </a:solidFill>
            </a:ln>
          </p:spPr>
        </p:sp>
        <p:sp>
          <p:nvSpPr>
            <p:cNvPr id="31" name="TextBox 31"/>
            <p:cNvSpPr txBox="1"/>
            <p:nvPr/>
          </p:nvSpPr>
          <p:spPr>
            <a:xfrm>
              <a:off x="6547104" y="4271010"/>
              <a:ext cx="802051"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DOĞRUSU</a:t>
              </a:r>
            </a:p>
          </p:txBody>
        </p:sp>
        <p:sp>
          <p:nvSpPr>
            <p:cNvPr id="32" name="TextBox 32"/>
            <p:cNvSpPr txBox="1"/>
            <p:nvPr/>
          </p:nvSpPr>
          <p:spPr>
            <a:xfrm>
              <a:off x="6545199" y="4516279"/>
              <a:ext cx="3527552" cy="765238"/>
            </a:xfrm>
            <a:prstGeom prst="rect">
              <a:avLst/>
            </a:prstGeom>
            <a:noFill/>
            <a:ln>
              <a:noFill/>
            </a:ln>
          </p:spPr>
          <p:txBody>
            <a:bodyPr wrap="none" lIns="0" tIns="0" rIns="0" bIns="0" anchor="t" anchorCtr="0">
              <a:spAutoFit/>
            </a:bodyPr>
            <a:lstStyle/>
            <a:p>
              <a:pPr algn="l">
                <a:lnSpc>
                  <a:spcPts val="1800"/>
                </a:lnSpc>
              </a:pPr>
              <a:r>
                <a:rPr lang="tr-TR" sz="1580" dirty="0">
                  <a:solidFill>
                    <a:srgbClr val="12355B"/>
                  </a:solidFill>
                  <a:latin typeface="+mn-lt"/>
                  <a:ea typeface="+mn-ea"/>
                  <a:cs typeface="+mn-cs"/>
                </a:rPr>
                <a:t>Başarı ve hata durumları için ayrı,</a:t>
              </a:r>
              <a:br/>
              <a:r>
                <a:rPr lang="tr-TR" sz="1580" dirty="0">
                  <a:solidFill>
                    <a:srgbClr val="12355B"/>
                  </a:solidFill>
                  <a:latin typeface="+mn-lt"/>
                  <a:ea typeface="+mn-ea"/>
                  <a:cs typeface="+mn-cs"/>
                </a:rPr>
                <a:t>açıkça tanımlanmış yanıt şemaları</a:t>
              </a:r>
              <a:br/>
              <a:r>
                <a:rPr lang="tr-TR" sz="1580" dirty="0">
                  <a:solidFill>
                    <a:srgbClr val="12355B"/>
                  </a:solidFill>
                  <a:latin typeface="+mn-lt"/>
                  <a:ea typeface="+mn-ea"/>
                  <a:cs typeface="+mn-cs"/>
                </a:rPr>
                <a:t>kullanılır.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420163" cy="668845"/>
            <a:chOff x="609600" y="171450"/>
            <a:chExt cx="742016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672979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Timeout, retry ve hata izolasyonu</a:t>
              </a:r>
            </a:p>
          </p:txBody>
        </p:sp>
      </p:grpSp>
      <p:grpSp>
        <p:nvGrpSpPr>
          <p:cNvPr id="15" name="block-tanim"/>
          <p:cNvGrpSpPr/>
          <p:nvPr/>
        </p:nvGrpSpPr>
        <p:grpSpPr>
          <a:xfrm>
            <a:off x="609600" y="1219200"/>
            <a:ext cx="7994904" cy="1529334"/>
            <a:chOff x="609600" y="1219200"/>
            <a:chExt cx="7994904" cy="1529334"/>
          </a:xfrm>
        </p:grpSpPr>
        <p:sp>
          <p:nvSpPr>
            <p:cNvPr id="12" name="Rectangle 12"/>
            <p:cNvSpPr/>
            <p:nvPr/>
          </p:nvSpPr>
          <p:spPr>
            <a:xfrm>
              <a:off x="609600" y="1219200"/>
              <a:ext cx="57150" cy="1314450"/>
            </a:xfrm>
            <a:prstGeom prst="rect">
              <a:avLst/>
            </a:prstGeom>
            <a:solidFill>
              <a:srgbClr val="00A6A6"/>
            </a:solidFill>
            <a:ln>
              <a:noFill/>
            </a:ln>
          </p:spPr>
        </p:sp>
        <p:sp>
          <p:nvSpPr>
            <p:cNvPr id="13" name="TextBox 13"/>
            <p:cNvSpPr txBox="1"/>
            <p:nvPr/>
          </p:nvSpPr>
          <p:spPr>
            <a:xfrm>
              <a:off x="908304" y="1299210"/>
              <a:ext cx="538764"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TANIM</a:t>
              </a:r>
            </a:p>
          </p:txBody>
        </p:sp>
        <p:sp>
          <p:nvSpPr>
            <p:cNvPr id="14" name="TextBox 14"/>
            <p:cNvSpPr txBox="1"/>
            <p:nvPr/>
          </p:nvSpPr>
          <p:spPr>
            <a:xfrm>
              <a:off x="905256" y="1539240"/>
              <a:ext cx="7699248" cy="12092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Timeout, bir AI servis çağrısına süresi içinde yanıt gelmezse isteğin</a:t>
              </a:r>
              <a:br/>
              <a:r>
                <a:rPr lang="tr-TR" sz="1800" dirty="0">
                  <a:solidFill>
                    <a:srgbClr val="172B3A"/>
                  </a:solidFill>
                  <a:latin typeface="+mn-lt"/>
                  <a:ea typeface="+mn-ea"/>
                  <a:cs typeface="+mn-cs"/>
                </a:rPr>
                <a:t>iptal edilmesini; retry, geçici hatalarda çağrının sınırlı sayıda</a:t>
              </a:r>
              <a:br/>
              <a:r>
                <a:rPr lang="tr-TR" sz="1800" dirty="0">
                  <a:solidFill>
                    <a:srgbClr val="172B3A"/>
                  </a:solidFill>
                  <a:latin typeface="+mn-lt"/>
                  <a:ea typeface="+mn-ea"/>
                  <a:cs typeface="+mn-cs"/>
                </a:rPr>
                <a:t>tekrarlanmasını; hata izolasyonu ise AI servisi çökse dahi ana</a:t>
              </a:r>
              <a:br/>
              <a:r>
                <a:rPr lang="tr-TR" sz="1800" dirty="0">
                  <a:solidFill>
                    <a:srgbClr val="172B3A"/>
                  </a:solidFill>
                  <a:latin typeface="+mn-lt"/>
                  <a:ea typeface="+mn-ea"/>
                  <a:cs typeface="+mn-cs"/>
                </a:rPr>
                <a:t>uygulamanın çalışmaya devam etmesini sağlayan üç disiplindir.</a:t>
              </a:r>
            </a:p>
          </p:txBody>
        </p:sp>
      </p:grpSp>
      <p:sp>
        <p:nvSpPr>
          <p:cNvPr id="16" name="Line 16"/>
          <p:cNvSpPr/>
          <p:nvPr/>
        </p:nvSpPr>
        <p:spPr>
          <a:xfrm>
            <a:off x="609600" y="2781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20" name="block-neden"/>
          <p:cNvGrpSpPr/>
          <p:nvPr/>
        </p:nvGrpSpPr>
        <p:grpSpPr>
          <a:xfrm>
            <a:off x="609600" y="2933700"/>
            <a:ext cx="8326374" cy="1243584"/>
            <a:chOff x="609600" y="2933700"/>
            <a:chExt cx="8326374" cy="1243584"/>
          </a:xfrm>
        </p:grpSpPr>
        <p:sp>
          <p:nvSpPr>
            <p:cNvPr id="17" name="Rectangle 17"/>
            <p:cNvSpPr/>
            <p:nvPr/>
          </p:nvSpPr>
          <p:spPr>
            <a:xfrm>
              <a:off x="609600" y="2933700"/>
              <a:ext cx="57150" cy="1123950"/>
            </a:xfrm>
            <a:prstGeom prst="rect">
              <a:avLst/>
            </a:prstGeom>
            <a:solidFill>
              <a:srgbClr val="00A6A6"/>
            </a:solidFill>
            <a:ln>
              <a:noFill/>
            </a:ln>
          </p:spPr>
        </p:sp>
        <p:sp>
          <p:nvSpPr>
            <p:cNvPr id="18" name="TextBox 18"/>
            <p:cNvSpPr txBox="1"/>
            <p:nvPr/>
          </p:nvSpPr>
          <p:spPr>
            <a:xfrm>
              <a:off x="908304" y="3013710"/>
              <a:ext cx="1222797"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NEDEN VARDIR</a:t>
              </a:r>
            </a:p>
          </p:txBody>
        </p:sp>
        <p:sp>
          <p:nvSpPr>
            <p:cNvPr id="19" name="TextBox 19"/>
            <p:cNvSpPr txBox="1"/>
            <p:nvPr/>
          </p:nvSpPr>
          <p:spPr>
            <a:xfrm>
              <a:off x="905256" y="3253740"/>
              <a:ext cx="8030718" cy="92354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AI/ML servisleri, model boyutuna ve donanım yüküne bağlı olarak</a:t>
              </a:r>
              <a:br/>
              <a:r>
                <a:rPr lang="tr-TR" sz="1800" dirty="0">
                  <a:solidFill>
                    <a:srgbClr val="172B3A"/>
                  </a:solidFill>
                  <a:latin typeface="+mn-lt"/>
                  <a:ea typeface="+mn-ea"/>
                  <a:cs typeface="+mn-cs"/>
                </a:rPr>
                <a:t>klasik REST servislerinden çok daha değişken yanıt sürelerine</a:t>
              </a:r>
              <a:br/>
              <a:r>
                <a:rPr lang="tr-TR" sz="1800" dirty="0">
                  <a:solidFill>
                    <a:srgbClr val="172B3A"/>
                  </a:solidFill>
                  <a:latin typeface="+mn-lt"/>
                  <a:ea typeface="+mn-ea"/>
                  <a:cs typeface="+mn-cs"/>
                </a:rPr>
                <a:t>sahiptir; ele alınmazsa tek bir yavaş çağrı tüm backend'i kilitleyebilir.</a:t>
              </a:r>
            </a:p>
          </p:txBody>
        </p:sp>
      </p:grpSp>
      <p:sp>
        <p:nvSpPr>
          <p:cNvPr id="21" name="Line 21"/>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25" name="block-kuram"/>
          <p:cNvGrpSpPr/>
          <p:nvPr/>
        </p:nvGrpSpPr>
        <p:grpSpPr>
          <a:xfrm>
            <a:off x="609600" y="4457700"/>
            <a:ext cx="8269224" cy="1529334"/>
            <a:chOff x="609600" y="4457700"/>
            <a:chExt cx="8269224" cy="1529334"/>
          </a:xfrm>
        </p:grpSpPr>
        <p:sp>
          <p:nvSpPr>
            <p:cNvPr id="22" name="Rectangle 22"/>
            <p:cNvSpPr/>
            <p:nvPr/>
          </p:nvSpPr>
          <p:spPr>
            <a:xfrm>
              <a:off x="609600" y="4457700"/>
              <a:ext cx="57150" cy="1314450"/>
            </a:xfrm>
            <a:prstGeom prst="rect">
              <a:avLst/>
            </a:prstGeom>
            <a:solidFill>
              <a:srgbClr val="00A6A6"/>
            </a:solidFill>
            <a:ln>
              <a:noFill/>
            </a:ln>
          </p:spPr>
        </p:sp>
        <p:sp>
          <p:nvSpPr>
            <p:cNvPr id="23" name="TextBox 23"/>
            <p:cNvSpPr txBox="1"/>
            <p:nvPr/>
          </p:nvSpPr>
          <p:spPr>
            <a:xfrm>
              <a:off x="908304" y="4537710"/>
              <a:ext cx="1914083"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KURAMSAL ARKA PLAN</a:t>
              </a:r>
            </a:p>
          </p:txBody>
        </p:sp>
        <p:sp>
          <p:nvSpPr>
            <p:cNvPr id="24" name="TextBox 24"/>
            <p:cNvSpPr txBox="1"/>
            <p:nvPr/>
          </p:nvSpPr>
          <p:spPr>
            <a:xfrm>
              <a:off x="905256" y="4777740"/>
              <a:ext cx="7973568" cy="12092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Bu üç mekanizma, dağıtık sistemlerde hataya dayanıklılık (resilience)</a:t>
              </a:r>
              <a:br/>
              <a:r>
                <a:rPr lang="tr-TR" sz="1800" dirty="0">
                  <a:solidFill>
                    <a:srgbClr val="172B3A"/>
                  </a:solidFill>
                  <a:latin typeface="+mn-lt"/>
                  <a:ea typeface="+mn-ea"/>
                  <a:cs typeface="+mn-cs"/>
                </a:rPr>
                <a:t>kuramının parçalarıdır: zaman aşımı sınırlı bekleme sağlar, üstel</a:t>
              </a:r>
              <a:br/>
              <a:r>
                <a:rPr lang="tr-TR" sz="1800" dirty="0">
                  <a:solidFill>
                    <a:srgbClr val="172B3A"/>
                  </a:solidFill>
                  <a:latin typeface="+mn-lt"/>
                  <a:ea typeface="+mn-ea"/>
                  <a:cs typeface="+mn-cs"/>
                </a:rPr>
                <a:t>geri çekilmeli (backoff) retry geçici arızalarda çözüm dener, devre</a:t>
              </a:r>
              <a:br/>
              <a:r>
                <a:rPr lang="tr-TR" sz="1800" dirty="0">
                  <a:solidFill>
                    <a:srgbClr val="172B3A"/>
                  </a:solidFill>
                  <a:latin typeface="+mn-lt"/>
                  <a:ea typeface="+mn-ea"/>
                  <a:cs typeface="+mn-cs"/>
                </a:rPr>
                <a:t>kesici benzeri izolasyon ise kademeli bozulmayı mümkün kılar.</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11066705" cy="668845"/>
            <a:chOff x="609600" y="171450"/>
            <a:chExt cx="11066705"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1037633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Süreç akışı: zaman aşımı, retry ve hata izolasyonu</a:t>
              </a:r>
            </a:p>
          </p:txBody>
        </p:sp>
      </p:grpSp>
      <p:grpSp>
        <p:nvGrpSpPr>
          <p:cNvPr id="42" name="flow-steps"/>
          <p:cNvGrpSpPr/>
          <p:nvPr/>
        </p:nvGrpSpPr>
        <p:grpSpPr>
          <a:xfrm>
            <a:off x="609600" y="1714500"/>
            <a:ext cx="10823448" cy="2695956"/>
            <a:chOff x="609600" y="1714500"/>
            <a:chExt cx="10823448" cy="2695956"/>
          </a:xfrm>
        </p:grpSpPr>
        <p:grpSp>
          <p:nvGrpSpPr>
            <p:cNvPr id="15" name="step1"/>
            <p:cNvGrpSpPr/>
            <p:nvPr/>
          </p:nvGrpSpPr>
          <p:grpSpPr>
            <a:xfrm>
              <a:off x="609600" y="1714500"/>
              <a:ext cx="1943100" cy="2095500"/>
              <a:chOff x="609600" y="1714500"/>
              <a:chExt cx="1943100" cy="2095500"/>
            </a:xfrm>
          </p:grpSpPr>
          <p:sp>
            <p:nvSpPr>
              <p:cNvPr id="11" name="Rectangle 11"/>
              <p:cNvSpPr/>
              <p:nvPr/>
            </p:nvSpPr>
            <p:spPr>
              <a:xfrm>
                <a:off x="609600" y="1714500"/>
                <a:ext cx="1943100" cy="2095500"/>
              </a:xfrm>
              <a:prstGeom prst="roundRect">
                <a:avLst>
                  <a:gd name="adj" fmla="val 4902"/>
                </a:avLst>
              </a:prstGeom>
              <a:solidFill>
                <a:srgbClr val="FFFFFF"/>
              </a:solidFill>
              <a:ln w="14288">
                <a:solidFill>
                  <a:srgbClr val="2E86AB"/>
                </a:solidFill>
              </a:ln>
            </p:spPr>
          </p:sp>
          <p:sp>
            <p:nvSpPr>
              <p:cNvPr id="12" name="Ellipse 12"/>
              <p:cNvSpPr/>
              <p:nvPr/>
            </p:nvSpPr>
            <p:spPr>
              <a:xfrm>
                <a:off x="1409700" y="1885950"/>
                <a:ext cx="342900" cy="342900"/>
              </a:xfrm>
              <a:prstGeom prst="ellipse">
                <a:avLst/>
              </a:prstGeom>
              <a:solidFill>
                <a:srgbClr val="12355B"/>
              </a:solidFill>
              <a:ln>
                <a:noFill/>
              </a:ln>
            </p:spPr>
          </p:sp>
          <p:sp>
            <p:nvSpPr>
              <p:cNvPr id="13" name="TextBox 13"/>
              <p:cNvSpPr txBox="1"/>
              <p:nvPr/>
            </p:nvSpPr>
            <p:spPr>
              <a:xfrm>
                <a:off x="1521815" y="19783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1</a:t>
                </a:r>
              </a:p>
            </p:txBody>
          </p:sp>
          <p:sp>
            <p:nvSpPr>
              <p:cNvPr id="14" name="TextBox 14"/>
              <p:cNvSpPr txBox="1"/>
              <p:nvPr/>
            </p:nvSpPr>
            <p:spPr>
              <a:xfrm>
                <a:off x="812292" y="2292668"/>
                <a:ext cx="1651064" cy="9498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İstek gönderilir;</a:t>
                </a:r>
                <a:br/>
                <a:r>
                  <a:rPr lang="tr-TR" sz="1350" dirty="0">
                    <a:solidFill>
                      <a:srgbClr val="172B3A"/>
                    </a:solidFill>
                    <a:latin typeface="+mn-lt"/>
                    <a:ea typeface="+mn-ea"/>
                    <a:cs typeface="+mn-cs"/>
                  </a:rPr>
                  <a:t>AbortController ile</a:t>
                </a:r>
                <a:br/>
                <a:r>
                  <a:rPr lang="tr-TR" sz="1350" dirty="0">
                    <a:solidFill>
                      <a:srgbClr val="172B3A"/>
                    </a:solidFill>
                    <a:latin typeface="+mn-lt"/>
                    <a:ea typeface="+mn-ea"/>
                    <a:cs typeface="+mn-cs"/>
                  </a:rPr>
                  <a:t>zaman aşımı süresi</a:t>
                </a:r>
                <a:br/>
                <a:r>
                  <a:rPr lang="tr-TR" sz="1350" dirty="0">
                    <a:solidFill>
                      <a:srgbClr val="172B3A"/>
                    </a:solidFill>
                    <a:latin typeface="+mn-lt"/>
                    <a:ea typeface="+mn-ea"/>
                    <a:cs typeface="+mn-cs"/>
                  </a:rPr>
                  <a:t>belirlenir.</a:t>
                </a:r>
              </a:p>
            </p:txBody>
          </p:sp>
        </p:grpSp>
        <p:sp>
          <p:nvSpPr>
            <p:cNvPr id="16" name="Line 16"/>
            <p:cNvSpPr/>
            <p:nvPr/>
          </p:nvSpPr>
          <p:spPr>
            <a:xfrm>
              <a:off x="2552700" y="2762250"/>
              <a:ext cx="190500" cy="1"/>
            </a:xfrm>
            <a:prstGeom prst="line">
              <a:avLst/>
            </a:prstGeom>
            <a:noFill/>
            <a:ln w="23812">
              <a:solidFill>
                <a:srgbClr val="00A6A6"/>
              </a:solidFill>
              <a:tailEnd type="arrow" w="lg" len="lg"/>
            </a:ln>
          </p:spPr>
        </p:sp>
        <p:grpSp>
          <p:nvGrpSpPr>
            <p:cNvPr id="21" name="step2"/>
            <p:cNvGrpSpPr/>
            <p:nvPr/>
          </p:nvGrpSpPr>
          <p:grpSpPr>
            <a:xfrm>
              <a:off x="2781300" y="1714500"/>
              <a:ext cx="1943100" cy="2095500"/>
              <a:chOff x="2781300" y="1714500"/>
              <a:chExt cx="1943100" cy="2095500"/>
            </a:xfrm>
          </p:grpSpPr>
          <p:sp>
            <p:nvSpPr>
              <p:cNvPr id="17" name="Rectangle 17"/>
              <p:cNvSpPr/>
              <p:nvPr/>
            </p:nvSpPr>
            <p:spPr>
              <a:xfrm>
                <a:off x="2781300" y="1714500"/>
                <a:ext cx="1943100" cy="2095500"/>
              </a:xfrm>
              <a:prstGeom prst="roundRect">
                <a:avLst>
                  <a:gd name="adj" fmla="val 4902"/>
                </a:avLst>
              </a:prstGeom>
              <a:solidFill>
                <a:srgbClr val="FFFFFF"/>
              </a:solidFill>
              <a:ln w="14288">
                <a:solidFill>
                  <a:srgbClr val="2E86AB"/>
                </a:solidFill>
              </a:ln>
            </p:spPr>
          </p:sp>
          <p:sp>
            <p:nvSpPr>
              <p:cNvPr id="18" name="Ellipse 18"/>
              <p:cNvSpPr/>
              <p:nvPr/>
            </p:nvSpPr>
            <p:spPr>
              <a:xfrm>
                <a:off x="3581400" y="1885950"/>
                <a:ext cx="342900" cy="342900"/>
              </a:xfrm>
              <a:prstGeom prst="ellipse">
                <a:avLst/>
              </a:prstGeom>
              <a:solidFill>
                <a:srgbClr val="12355B"/>
              </a:solidFill>
              <a:ln>
                <a:noFill/>
              </a:ln>
            </p:spPr>
          </p:sp>
          <p:sp>
            <p:nvSpPr>
              <p:cNvPr id="19" name="TextBox 19"/>
              <p:cNvSpPr txBox="1"/>
              <p:nvPr/>
            </p:nvSpPr>
            <p:spPr>
              <a:xfrm>
                <a:off x="3693515" y="19783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2</a:t>
                </a:r>
              </a:p>
            </p:txBody>
          </p:sp>
          <p:sp>
            <p:nvSpPr>
              <p:cNvPr id="20" name="TextBox 20"/>
              <p:cNvSpPr txBox="1"/>
              <p:nvPr/>
            </p:nvSpPr>
            <p:spPr>
              <a:xfrm>
                <a:off x="2983992" y="2292668"/>
                <a:ext cx="1685354" cy="9498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Süre içinde yanıt</a:t>
                </a:r>
                <a:br/>
                <a:r>
                  <a:rPr lang="tr-TR" sz="1350" dirty="0">
                    <a:solidFill>
                      <a:srgbClr val="172B3A"/>
                    </a:solidFill>
                    <a:latin typeface="+mn-lt"/>
                    <a:ea typeface="+mn-ea"/>
                    <a:cs typeface="+mn-cs"/>
                  </a:rPr>
                  <a:t>gelirse çağrı biter,</a:t>
                </a:r>
                <a:br/>
                <a:r>
                  <a:rPr lang="tr-TR" sz="1350" dirty="0">
                    <a:solidFill>
                      <a:srgbClr val="172B3A"/>
                    </a:solidFill>
                    <a:latin typeface="+mn-lt"/>
                    <a:ea typeface="+mn-ea"/>
                    <a:cs typeface="+mn-cs"/>
                  </a:rPr>
                  <a:t>yanıt doğrulama</a:t>
                </a:r>
                <a:br/>
                <a:r>
                  <a:rPr lang="tr-TR" sz="1350" dirty="0">
                    <a:solidFill>
                      <a:srgbClr val="172B3A"/>
                    </a:solidFill>
                    <a:latin typeface="+mn-lt"/>
                    <a:ea typeface="+mn-ea"/>
                    <a:cs typeface="+mn-cs"/>
                  </a:rPr>
                  <a:t>adımına geçer.</a:t>
                </a:r>
              </a:p>
            </p:txBody>
          </p:sp>
        </p:grpSp>
        <p:sp>
          <p:nvSpPr>
            <p:cNvPr id="22" name="Line 22"/>
            <p:cNvSpPr/>
            <p:nvPr/>
          </p:nvSpPr>
          <p:spPr>
            <a:xfrm>
              <a:off x="4724400" y="2762250"/>
              <a:ext cx="190500" cy="1"/>
            </a:xfrm>
            <a:prstGeom prst="line">
              <a:avLst/>
            </a:prstGeom>
            <a:noFill/>
            <a:ln w="23812">
              <a:solidFill>
                <a:srgbClr val="00A6A6"/>
              </a:solidFill>
              <a:tailEnd type="arrow" w="lg" len="lg"/>
            </a:ln>
          </p:spPr>
        </p:sp>
        <p:grpSp>
          <p:nvGrpSpPr>
            <p:cNvPr id="27" name="step3"/>
            <p:cNvGrpSpPr/>
            <p:nvPr/>
          </p:nvGrpSpPr>
          <p:grpSpPr>
            <a:xfrm>
              <a:off x="4953000" y="1714500"/>
              <a:ext cx="2128075" cy="2095500"/>
              <a:chOff x="4953000" y="1714500"/>
              <a:chExt cx="2128075" cy="2095500"/>
            </a:xfrm>
          </p:grpSpPr>
          <p:sp>
            <p:nvSpPr>
              <p:cNvPr id="23" name="Rectangle 23"/>
              <p:cNvSpPr/>
              <p:nvPr/>
            </p:nvSpPr>
            <p:spPr>
              <a:xfrm>
                <a:off x="4953000" y="1714500"/>
                <a:ext cx="1943100" cy="2095500"/>
              </a:xfrm>
              <a:prstGeom prst="roundRect">
                <a:avLst>
                  <a:gd name="adj" fmla="val 4902"/>
                </a:avLst>
              </a:prstGeom>
              <a:solidFill>
                <a:srgbClr val="FFFFFF"/>
              </a:solidFill>
              <a:ln w="14288">
                <a:solidFill>
                  <a:srgbClr val="2E86AB"/>
                </a:solidFill>
              </a:ln>
            </p:spPr>
          </p:sp>
          <p:sp>
            <p:nvSpPr>
              <p:cNvPr id="24" name="Ellipse 24"/>
              <p:cNvSpPr/>
              <p:nvPr/>
            </p:nvSpPr>
            <p:spPr>
              <a:xfrm>
                <a:off x="5753100" y="1885950"/>
                <a:ext cx="342900" cy="342900"/>
              </a:xfrm>
              <a:prstGeom prst="ellipse">
                <a:avLst/>
              </a:prstGeom>
              <a:solidFill>
                <a:srgbClr val="12355B"/>
              </a:solidFill>
              <a:ln>
                <a:noFill/>
              </a:ln>
            </p:spPr>
          </p:sp>
          <p:sp>
            <p:nvSpPr>
              <p:cNvPr id="25" name="TextBox 25"/>
              <p:cNvSpPr txBox="1"/>
              <p:nvPr/>
            </p:nvSpPr>
            <p:spPr>
              <a:xfrm>
                <a:off x="5865215" y="19783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3</a:t>
                </a:r>
              </a:p>
            </p:txBody>
          </p:sp>
          <p:sp>
            <p:nvSpPr>
              <p:cNvPr id="26" name="TextBox 26"/>
              <p:cNvSpPr txBox="1"/>
              <p:nvPr/>
            </p:nvSpPr>
            <p:spPr>
              <a:xfrm>
                <a:off x="5155692" y="2292668"/>
                <a:ext cx="1925383" cy="9498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Süre aşılır veya geçici</a:t>
                </a:r>
                <a:br/>
                <a:r>
                  <a:rPr lang="tr-TR" sz="1350" dirty="0">
                    <a:solidFill>
                      <a:srgbClr val="172B3A"/>
                    </a:solidFill>
                    <a:latin typeface="+mn-lt"/>
                    <a:ea typeface="+mn-ea"/>
                    <a:cs typeface="+mn-cs"/>
                  </a:rPr>
                  <a:t>hata alınırsa üstel</a:t>
                </a:r>
                <a:br/>
                <a:r>
                  <a:rPr lang="tr-TR" sz="1350" dirty="0">
                    <a:solidFill>
                      <a:srgbClr val="172B3A"/>
                    </a:solidFill>
                    <a:latin typeface="+mn-lt"/>
                    <a:ea typeface="+mn-ea"/>
                    <a:cs typeface="+mn-cs"/>
                  </a:rPr>
                  <a:t>gecikmeyle (backoff)</a:t>
                </a:r>
                <a:br/>
                <a:r>
                  <a:rPr lang="tr-TR" sz="1350" dirty="0">
                    <a:solidFill>
                      <a:srgbClr val="172B3A"/>
                    </a:solidFill>
                    <a:latin typeface="+mn-lt"/>
                    <a:ea typeface="+mn-ea"/>
                    <a:cs typeface="+mn-cs"/>
                  </a:rPr>
                  <a:t>retry denenir.</a:t>
                </a:r>
              </a:p>
            </p:txBody>
          </p:sp>
        </p:grpSp>
        <p:sp>
          <p:nvSpPr>
            <p:cNvPr id="28" name="Line 28"/>
            <p:cNvSpPr/>
            <p:nvPr/>
          </p:nvSpPr>
          <p:spPr>
            <a:xfrm>
              <a:off x="6896100" y="2762250"/>
              <a:ext cx="190500" cy="1"/>
            </a:xfrm>
            <a:prstGeom prst="line">
              <a:avLst/>
            </a:prstGeom>
            <a:noFill/>
            <a:ln w="23812">
              <a:solidFill>
                <a:srgbClr val="00A6A6"/>
              </a:solidFill>
              <a:tailEnd type="arrow" w="lg" len="lg"/>
            </a:ln>
          </p:spPr>
        </p:sp>
        <p:grpSp>
          <p:nvGrpSpPr>
            <p:cNvPr id="33" name="step4"/>
            <p:cNvGrpSpPr/>
            <p:nvPr/>
          </p:nvGrpSpPr>
          <p:grpSpPr>
            <a:xfrm>
              <a:off x="7124700" y="1714500"/>
              <a:ext cx="2170938" cy="2095500"/>
              <a:chOff x="7124700" y="1714500"/>
              <a:chExt cx="2170938" cy="2095500"/>
            </a:xfrm>
          </p:grpSpPr>
          <p:sp>
            <p:nvSpPr>
              <p:cNvPr id="29" name="Rectangle 29"/>
              <p:cNvSpPr/>
              <p:nvPr/>
            </p:nvSpPr>
            <p:spPr>
              <a:xfrm>
                <a:off x="7124700" y="1714500"/>
                <a:ext cx="1943100" cy="2095500"/>
              </a:xfrm>
              <a:prstGeom prst="roundRect">
                <a:avLst>
                  <a:gd name="adj" fmla="val 4902"/>
                </a:avLst>
              </a:prstGeom>
              <a:solidFill>
                <a:srgbClr val="FFFFFF"/>
              </a:solidFill>
              <a:ln w="14288">
                <a:solidFill>
                  <a:srgbClr val="2E86AB"/>
                </a:solidFill>
              </a:ln>
            </p:spPr>
          </p:sp>
          <p:sp>
            <p:nvSpPr>
              <p:cNvPr id="30" name="Ellipse 30"/>
              <p:cNvSpPr/>
              <p:nvPr/>
            </p:nvSpPr>
            <p:spPr>
              <a:xfrm>
                <a:off x="7924800" y="1885950"/>
                <a:ext cx="342900" cy="342900"/>
              </a:xfrm>
              <a:prstGeom prst="ellipse">
                <a:avLst/>
              </a:prstGeom>
              <a:solidFill>
                <a:srgbClr val="12355B"/>
              </a:solidFill>
              <a:ln>
                <a:noFill/>
              </a:ln>
            </p:spPr>
          </p:sp>
          <p:sp>
            <p:nvSpPr>
              <p:cNvPr id="31" name="TextBox 31"/>
              <p:cNvSpPr txBox="1"/>
              <p:nvPr/>
            </p:nvSpPr>
            <p:spPr>
              <a:xfrm>
                <a:off x="8036915" y="19783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4</a:t>
                </a:r>
              </a:p>
            </p:txBody>
          </p:sp>
          <p:sp>
            <p:nvSpPr>
              <p:cNvPr id="32" name="TextBox 32"/>
              <p:cNvSpPr txBox="1"/>
              <p:nvPr/>
            </p:nvSpPr>
            <p:spPr>
              <a:xfrm>
                <a:off x="7327392" y="2292668"/>
                <a:ext cx="1968246" cy="9498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Retry limiti aşılırsa</a:t>
                </a:r>
                <a:br/>
                <a:r>
                  <a:rPr lang="tr-TR" sz="1350" dirty="0">
                    <a:solidFill>
                      <a:srgbClr val="172B3A"/>
                    </a:solidFill>
                    <a:latin typeface="+mn-lt"/>
                    <a:ea typeface="+mn-ea"/>
                    <a:cs typeface="+mn-cs"/>
                  </a:rPr>
                  <a:t>hata izolasyonu</a:t>
                </a:r>
                <a:br/>
                <a:r>
                  <a:rPr lang="tr-TR" sz="1350" dirty="0">
                    <a:solidFill>
                      <a:srgbClr val="172B3A"/>
                    </a:solidFill>
                    <a:latin typeface="+mn-lt"/>
                    <a:ea typeface="+mn-ea"/>
                    <a:cs typeface="+mn-cs"/>
                  </a:rPr>
                  <a:t>devreye girer, fallback</a:t>
                </a:r>
                <a:br/>
                <a:r>
                  <a:rPr lang="tr-TR" sz="1350" dirty="0">
                    <a:solidFill>
                      <a:srgbClr val="172B3A"/>
                    </a:solidFill>
                    <a:latin typeface="+mn-lt"/>
                    <a:ea typeface="+mn-ea"/>
                    <a:cs typeface="+mn-cs"/>
                  </a:rPr>
                  <a:t>yanıt döner.</a:t>
                </a:r>
              </a:p>
            </p:txBody>
          </p:sp>
        </p:grpSp>
        <p:sp>
          <p:nvSpPr>
            <p:cNvPr id="34" name="Line 34"/>
            <p:cNvSpPr/>
            <p:nvPr/>
          </p:nvSpPr>
          <p:spPr>
            <a:xfrm>
              <a:off x="9067800" y="2762250"/>
              <a:ext cx="190500" cy="1"/>
            </a:xfrm>
            <a:prstGeom prst="line">
              <a:avLst/>
            </a:prstGeom>
            <a:noFill/>
            <a:ln w="23812">
              <a:solidFill>
                <a:srgbClr val="00A6A6"/>
              </a:solidFill>
              <a:tailEnd type="arrow" w="lg" len="lg"/>
            </a:ln>
          </p:spPr>
        </p:sp>
        <p:grpSp>
          <p:nvGrpSpPr>
            <p:cNvPr id="39" name="step5"/>
            <p:cNvGrpSpPr/>
            <p:nvPr/>
          </p:nvGrpSpPr>
          <p:grpSpPr>
            <a:xfrm>
              <a:off x="9296400" y="1714500"/>
              <a:ext cx="2136648" cy="2095500"/>
              <a:chOff x="9296400" y="1714500"/>
              <a:chExt cx="2136648" cy="2095500"/>
            </a:xfrm>
          </p:grpSpPr>
          <p:sp>
            <p:nvSpPr>
              <p:cNvPr id="35" name="Rectangle 35"/>
              <p:cNvSpPr/>
              <p:nvPr/>
            </p:nvSpPr>
            <p:spPr>
              <a:xfrm>
                <a:off x="9296400" y="1714500"/>
                <a:ext cx="1943100" cy="2095500"/>
              </a:xfrm>
              <a:prstGeom prst="roundRect">
                <a:avLst>
                  <a:gd name="adj" fmla="val 4902"/>
                </a:avLst>
              </a:prstGeom>
              <a:solidFill>
                <a:srgbClr val="EAF4F6"/>
              </a:solidFill>
              <a:ln w="14288">
                <a:solidFill>
                  <a:srgbClr val="00A6A6"/>
                </a:solidFill>
              </a:ln>
            </p:spPr>
          </p:sp>
          <p:sp>
            <p:nvSpPr>
              <p:cNvPr id="36" name="Ellipse 36"/>
              <p:cNvSpPr/>
              <p:nvPr/>
            </p:nvSpPr>
            <p:spPr>
              <a:xfrm>
                <a:off x="10096500" y="1885950"/>
                <a:ext cx="342900" cy="342900"/>
              </a:xfrm>
              <a:prstGeom prst="ellipse">
                <a:avLst/>
              </a:prstGeom>
              <a:solidFill>
                <a:srgbClr val="00A6A6"/>
              </a:solidFill>
              <a:ln>
                <a:noFill/>
              </a:ln>
            </p:spPr>
          </p:sp>
          <p:sp>
            <p:nvSpPr>
              <p:cNvPr id="37" name="TextBox 37"/>
              <p:cNvSpPr txBox="1"/>
              <p:nvPr/>
            </p:nvSpPr>
            <p:spPr>
              <a:xfrm>
                <a:off x="10208615" y="1978342"/>
                <a:ext cx="118669"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5</a:t>
                </a:r>
              </a:p>
            </p:txBody>
          </p:sp>
          <p:sp>
            <p:nvSpPr>
              <p:cNvPr id="38" name="TextBox 38"/>
              <p:cNvSpPr txBox="1"/>
              <p:nvPr/>
            </p:nvSpPr>
            <p:spPr>
              <a:xfrm>
                <a:off x="9499092" y="2292668"/>
                <a:ext cx="1933956" cy="949833"/>
              </a:xfrm>
              <a:prstGeom prst="rect">
                <a:avLst/>
              </a:prstGeom>
              <a:noFill/>
              <a:ln>
                <a:noFill/>
              </a:ln>
            </p:spPr>
            <p:txBody>
              <a:bodyPr wrap="none" lIns="0" tIns="0" rIns="0" bIns="0" anchor="t" anchorCtr="0">
                <a:spAutoFit/>
              </a:bodyPr>
              <a:lstStyle/>
              <a:p>
                <a:pPr algn="l">
                  <a:lnSpc>
                    <a:spcPts val="1800"/>
                  </a:lnSpc>
                </a:pPr>
                <a:r>
                  <a:rPr lang="tr-TR" sz="1350" dirty="0">
                    <a:solidFill>
                      <a:srgbClr val="172B3A"/>
                    </a:solidFill>
                    <a:latin typeface="+mn-lt"/>
                    <a:ea typeface="+mn-ea"/>
                    <a:cs typeface="+mn-cs"/>
                  </a:rPr>
                  <a:t>Ana işlevler (arama,</a:t>
                </a:r>
                <a:br/>
                <a:r>
                  <a:rPr lang="tr-TR" sz="1350" dirty="0">
                    <a:solidFill>
                      <a:srgbClr val="172B3A"/>
                    </a:solidFill>
                    <a:latin typeface="+mn-lt"/>
                    <a:ea typeface="+mn-ea"/>
                    <a:cs typeface="+mn-cs"/>
                  </a:rPr>
                  <a:t>ödünç alma) hiç</a:t>
                </a:r>
                <a:br/>
                <a:r>
                  <a:rPr lang="tr-TR" sz="1350" dirty="0">
                    <a:solidFill>
                      <a:srgbClr val="172B3A"/>
                    </a:solidFill>
                    <a:latin typeface="+mn-lt"/>
                    <a:ea typeface="+mn-ea"/>
                    <a:cs typeface="+mn-cs"/>
                  </a:rPr>
                  <a:t>etkilenmeden</a:t>
                </a:r>
                <a:br/>
                <a:r>
                  <a:rPr lang="tr-TR" sz="1350" dirty="0">
                    <a:solidFill>
                      <a:srgbClr val="172B3A"/>
                    </a:solidFill>
                    <a:latin typeface="+mn-lt"/>
                    <a:ea typeface="+mn-ea"/>
                    <a:cs typeface="+mn-cs"/>
                  </a:rPr>
                  <a:t>çalışmaya devam eder.</a:t>
                </a:r>
              </a:p>
            </p:txBody>
          </p:sp>
        </p:grpSp>
        <p:sp>
          <p:nvSpPr>
            <p:cNvPr id="40" name="Freeform 40"/>
            <p:cNvSpPr/>
            <p:nvPr/>
          </p:nvSpPr>
          <p:spPr>
            <a:xfrm>
              <a:off x="3752850" y="3810000"/>
              <a:ext cx="2171700" cy="571500"/>
            </a:xfrm>
            <a:custGeom>
              <a:avLst/>
              <a:gdLst/>
              <a:ahLst/>
              <a:cxnLst/>
              <a:rect l="l" t="t" r="r" b="b"/>
              <a:pathLst>
                <a:path w="2171700" h="571500">
                  <a:moveTo>
                    <a:pt x="2171700" y="0"/>
                  </a:moveTo>
                  <a:cubicBezTo>
                    <a:pt x="2171700" y="571500"/>
                    <a:pt x="0" y="571500"/>
                    <a:pt x="0" y="19050"/>
                  </a:cubicBezTo>
                </a:path>
              </a:pathLst>
            </a:custGeom>
            <a:noFill/>
            <a:ln w="19050">
              <a:solidFill>
                <a:srgbClr val="52616B"/>
              </a:solidFill>
              <a:custDash>
                <a:ds d="300000" sp="200000"/>
              </a:custDash>
              <a:tailEnd type="arrow" w="lg" len="lg"/>
            </a:ln>
          </p:spPr>
        </p:sp>
        <p:sp>
          <p:nvSpPr>
            <p:cNvPr id="41" name="TextBox 41"/>
            <p:cNvSpPr txBox="1"/>
            <p:nvPr/>
          </p:nvSpPr>
          <p:spPr>
            <a:xfrm>
              <a:off x="3956228" y="4175760"/>
              <a:ext cx="176494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retry (limit dahilinde)</a:t>
              </a:r>
            </a:p>
          </p:txBody>
        </p:sp>
      </p:grpSp>
      <p:grpSp>
        <p:nvGrpSpPr>
          <p:cNvPr id="47" name="flow-note"/>
          <p:cNvGrpSpPr/>
          <p:nvPr/>
        </p:nvGrpSpPr>
        <p:grpSpPr>
          <a:xfrm>
            <a:off x="609600" y="5257800"/>
            <a:ext cx="10972800" cy="957167"/>
            <a:chOff x="609600" y="5257800"/>
            <a:chExt cx="10972800" cy="957167"/>
          </a:xfrm>
        </p:grpSpPr>
        <p:sp>
          <p:nvSpPr>
            <p:cNvPr id="43" name="Rectangle 43"/>
            <p:cNvSpPr/>
            <p:nvPr/>
          </p:nvSpPr>
          <p:spPr>
            <a:xfrm>
              <a:off x="609600" y="5257800"/>
              <a:ext cx="10972800" cy="914400"/>
            </a:xfrm>
            <a:prstGeom prst="roundRect">
              <a:avLst>
                <a:gd name="adj" fmla="val 8333"/>
              </a:avLst>
            </a:prstGeom>
            <a:solidFill>
              <a:srgbClr val="EAF4F6"/>
            </a:solidFill>
            <a:ln>
              <a:noFill/>
            </a:ln>
          </p:spPr>
        </p:sp>
        <p:sp>
          <p:nvSpPr>
            <p:cNvPr id="44" name="Rectangle 44"/>
            <p:cNvSpPr/>
            <p:nvPr/>
          </p:nvSpPr>
          <p:spPr>
            <a:xfrm>
              <a:off x="609600" y="5257800"/>
              <a:ext cx="57150" cy="914400"/>
            </a:xfrm>
            <a:prstGeom prst="rect">
              <a:avLst/>
            </a:prstGeom>
            <a:solidFill>
              <a:srgbClr val="00A6A6"/>
            </a:solidFill>
            <a:ln>
              <a:noFill/>
            </a:ln>
          </p:spPr>
        </p:sp>
        <p:sp>
          <p:nvSpPr>
            <p:cNvPr id="45" name="TextBox 45"/>
            <p:cNvSpPr txBox="1"/>
            <p:nvPr/>
          </p:nvSpPr>
          <p:spPr>
            <a:xfrm>
              <a:off x="908304" y="5414010"/>
              <a:ext cx="692810"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ÖNEMLİ</a:t>
              </a:r>
            </a:p>
          </p:txBody>
        </p:sp>
        <p:sp>
          <p:nvSpPr>
            <p:cNvPr id="46" name="TextBox 46"/>
            <p:cNvSpPr txBox="1"/>
            <p:nvPr/>
          </p:nvSpPr>
          <p:spPr>
            <a:xfrm>
              <a:off x="906399" y="5659279"/>
              <a:ext cx="7309993"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Retry sınırsız denenmez; her denemede bekleme süresi katlanarak artar,</a:t>
              </a:r>
              <a:br/>
              <a:r>
                <a:rPr lang="tr-TR" sz="1580" dirty="0">
                  <a:solidFill>
                    <a:srgbClr val="12355B"/>
                  </a:solidFill>
                  <a:latin typeface="+mn-lt"/>
                  <a:ea typeface="+mn-ea"/>
                  <a:cs typeface="+mn-cs"/>
                </a:rPr>
                <a:t>böylece çökmüş bir servise gereksiz yük binmesi engellenir.</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10302497" cy="668845"/>
            <a:chOff x="609600" y="171450"/>
            <a:chExt cx="10302497"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961212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17.3: zaman aşımlı çağrı ve hata izolasyonu</a:t>
              </a:r>
            </a:p>
          </p:txBody>
        </p:sp>
      </p:grpSp>
      <p:grpSp>
        <p:nvGrpSpPr>
          <p:cNvPr id="26" name="code-panel"/>
          <p:cNvGrpSpPr/>
          <p:nvPr/>
        </p:nvGrpSpPr>
        <p:grpSpPr>
          <a:xfrm>
            <a:off x="609600" y="1162050"/>
            <a:ext cx="10972800" cy="4061651"/>
            <a:chOff x="609600" y="1162050"/>
            <a:chExt cx="10972800" cy="4061651"/>
          </a:xfrm>
        </p:grpSpPr>
        <p:sp>
          <p:nvSpPr>
            <p:cNvPr id="11" name="Rectangle 11"/>
            <p:cNvSpPr/>
            <p:nvPr/>
          </p:nvSpPr>
          <p:spPr>
            <a:xfrm>
              <a:off x="609600" y="1162050"/>
              <a:ext cx="10972800" cy="4000500"/>
            </a:xfrm>
            <a:prstGeom prst="roundRect">
              <a:avLst>
                <a:gd name="adj" fmla="val 2381"/>
              </a:avLst>
            </a:prstGeom>
            <a:solidFill>
              <a:srgbClr val="0B2036"/>
            </a:solidFill>
            <a:ln>
              <a:noFill/>
            </a:ln>
          </p:spPr>
        </p:sp>
        <p:sp>
          <p:nvSpPr>
            <p:cNvPr id="12" name="Rectangle 12"/>
            <p:cNvSpPr/>
            <p:nvPr/>
          </p:nvSpPr>
          <p:spPr>
            <a:xfrm>
              <a:off x="609600" y="1162050"/>
              <a:ext cx="57150" cy="4000500"/>
            </a:xfrm>
            <a:prstGeom prst="rect">
              <a:avLst/>
            </a:prstGeom>
            <a:solidFill>
              <a:srgbClr val="00A6A6"/>
            </a:solidFill>
            <a:ln>
              <a:noFill/>
            </a:ln>
          </p:spPr>
        </p:sp>
        <p:sp>
          <p:nvSpPr>
            <p:cNvPr id="13" name="TextBox 13"/>
            <p:cNvSpPr txBox="1"/>
            <p:nvPr/>
          </p:nvSpPr>
          <p:spPr>
            <a:xfrm>
              <a:off x="907542" y="1302068"/>
              <a:ext cx="5127927"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Consolas"/>
                  <a:ea typeface="Consolas"/>
                  <a:cs typeface="Consolas"/>
                </a:rPr>
                <a:t>// Zaman aşımlı çağrı ve hata izolasyonu (Kod 17.3)</a:t>
              </a:r>
            </a:p>
          </p:txBody>
        </p:sp>
        <p:sp>
          <p:nvSpPr>
            <p:cNvPr id="14" name="TextBox 14"/>
            <p:cNvSpPr txBox="1"/>
            <p:nvPr/>
          </p:nvSpPr>
          <p:spPr>
            <a:xfrm>
              <a:off x="907542" y="1606868"/>
              <a:ext cx="493731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async function getSummaryWithFallback(bookText) {</a:t>
              </a:r>
            </a:p>
          </p:txBody>
        </p:sp>
        <p:sp>
          <p:nvSpPr>
            <p:cNvPr id="15" name="TextBox 15"/>
            <p:cNvSpPr txBox="1"/>
            <p:nvPr/>
          </p:nvSpPr>
          <p:spPr>
            <a:xfrm>
              <a:off x="1212342" y="1911668"/>
              <a:ext cx="412594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controller = new AbortController();</a:t>
              </a:r>
            </a:p>
          </p:txBody>
        </p:sp>
        <p:sp>
          <p:nvSpPr>
            <p:cNvPr id="16" name="TextBox 16"/>
            <p:cNvSpPr txBox="1"/>
            <p:nvPr/>
          </p:nvSpPr>
          <p:spPr>
            <a:xfrm>
              <a:off x="1212342" y="2216468"/>
              <a:ext cx="612869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timeoutId = setTimeout(() =&gt; controller.abort(), 3000);</a:t>
              </a:r>
            </a:p>
          </p:txBody>
        </p:sp>
        <p:sp>
          <p:nvSpPr>
            <p:cNvPr id="17" name="TextBox 17"/>
            <p:cNvSpPr txBox="1"/>
            <p:nvPr/>
          </p:nvSpPr>
          <p:spPr>
            <a:xfrm>
              <a:off x="1212342" y="2521268"/>
              <a:ext cx="513493"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try {</a:t>
              </a:r>
            </a:p>
          </p:txBody>
        </p:sp>
        <p:sp>
          <p:nvSpPr>
            <p:cNvPr id="18" name="TextBox 18"/>
            <p:cNvSpPr txBox="1"/>
            <p:nvPr/>
          </p:nvSpPr>
          <p:spPr>
            <a:xfrm>
              <a:off x="1517142" y="2826068"/>
              <a:ext cx="470089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response = await fetch(AI_SERVICE_URL, {</a:t>
              </a:r>
            </a:p>
          </p:txBody>
        </p:sp>
        <p:sp>
          <p:nvSpPr>
            <p:cNvPr id="19" name="TextBox 19"/>
            <p:cNvSpPr txBox="1"/>
            <p:nvPr/>
          </p:nvSpPr>
          <p:spPr>
            <a:xfrm>
              <a:off x="1821942" y="3130868"/>
              <a:ext cx="424154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method: 'POST', signal: controller.signal,</a:t>
              </a:r>
            </a:p>
          </p:txBody>
        </p:sp>
        <p:sp>
          <p:nvSpPr>
            <p:cNvPr id="20" name="TextBox 20"/>
            <p:cNvSpPr txBox="1"/>
            <p:nvPr/>
          </p:nvSpPr>
          <p:spPr>
            <a:xfrm>
              <a:off x="1821942" y="3435668"/>
              <a:ext cx="405095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body: JSON.stringify({ text: bookText })</a:t>
              </a:r>
            </a:p>
          </p:txBody>
        </p:sp>
        <p:sp>
          <p:nvSpPr>
            <p:cNvPr id="21" name="TextBox 21"/>
            <p:cNvSpPr txBox="1"/>
            <p:nvPr/>
          </p:nvSpPr>
          <p:spPr>
            <a:xfrm>
              <a:off x="1517142" y="3740468"/>
              <a:ext cx="313582"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sp>
          <p:nvSpPr>
            <p:cNvPr id="22" name="TextBox 22"/>
            <p:cNvSpPr txBox="1"/>
            <p:nvPr/>
          </p:nvSpPr>
          <p:spPr>
            <a:xfrm>
              <a:off x="1517142" y="4045268"/>
              <a:ext cx="291242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await response.json();</a:t>
              </a:r>
            </a:p>
          </p:txBody>
        </p:sp>
        <p:sp>
          <p:nvSpPr>
            <p:cNvPr id="23" name="TextBox 23"/>
            <p:cNvSpPr txBox="1"/>
            <p:nvPr/>
          </p:nvSpPr>
          <p:spPr>
            <a:xfrm>
              <a:off x="1212342" y="4350068"/>
              <a:ext cx="1712957"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 catch (error) {</a:t>
              </a:r>
            </a:p>
          </p:txBody>
        </p:sp>
        <p:sp>
          <p:nvSpPr>
            <p:cNvPr id="24" name="TextBox 24"/>
            <p:cNvSpPr txBox="1"/>
            <p:nvPr/>
          </p:nvSpPr>
          <p:spPr>
            <a:xfrm>
              <a:off x="1517142" y="4654868"/>
              <a:ext cx="401193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 summary: null, confidence: 0 };</a:t>
              </a:r>
            </a:p>
          </p:txBody>
        </p:sp>
        <p:sp>
          <p:nvSpPr>
            <p:cNvPr id="25" name="TextBox 25"/>
            <p:cNvSpPr txBox="1"/>
            <p:nvPr/>
          </p:nvSpPr>
          <p:spPr>
            <a:xfrm>
              <a:off x="1212342" y="4959668"/>
              <a:ext cx="3827376"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 finally { clearTimeout(timeoutId); }</a:t>
              </a:r>
            </a:p>
          </p:txBody>
        </p:sp>
      </p:grpSp>
      <p:grpSp>
        <p:nvGrpSpPr>
          <p:cNvPr id="31" name="callout-dikkat"/>
          <p:cNvGrpSpPr/>
          <p:nvPr/>
        </p:nvGrpSpPr>
        <p:grpSpPr>
          <a:xfrm>
            <a:off x="609600" y="5334000"/>
            <a:ext cx="10972800" cy="867823"/>
            <a:chOff x="609600" y="5334000"/>
            <a:chExt cx="10972800" cy="867823"/>
          </a:xfrm>
        </p:grpSpPr>
        <p:sp>
          <p:nvSpPr>
            <p:cNvPr id="27" name="Rectangle 27"/>
            <p:cNvSpPr/>
            <p:nvPr/>
          </p:nvSpPr>
          <p:spPr>
            <a:xfrm>
              <a:off x="609600" y="5334000"/>
              <a:ext cx="10972800" cy="800100"/>
            </a:xfrm>
            <a:prstGeom prst="roundRect">
              <a:avLst>
                <a:gd name="adj" fmla="val 9524"/>
              </a:avLst>
            </a:prstGeom>
            <a:solidFill>
              <a:srgbClr val="EAF4F6"/>
            </a:solidFill>
            <a:ln>
              <a:noFill/>
            </a:ln>
          </p:spPr>
        </p:sp>
        <p:sp>
          <p:nvSpPr>
            <p:cNvPr id="28" name="Rectangle 28"/>
            <p:cNvSpPr/>
            <p:nvPr/>
          </p:nvSpPr>
          <p:spPr>
            <a:xfrm>
              <a:off x="609600" y="5334000"/>
              <a:ext cx="57150" cy="800100"/>
            </a:xfrm>
            <a:prstGeom prst="rect">
              <a:avLst/>
            </a:prstGeom>
            <a:solidFill>
              <a:srgbClr val="00A6A6"/>
            </a:solidFill>
            <a:ln>
              <a:noFill/>
            </a:ln>
          </p:spPr>
        </p:sp>
        <p:sp>
          <p:nvSpPr>
            <p:cNvPr id="29" name="TextBox 29"/>
            <p:cNvSpPr txBox="1"/>
            <p:nvPr/>
          </p:nvSpPr>
          <p:spPr>
            <a:xfrm>
              <a:off x="908304" y="5471160"/>
              <a:ext cx="1222797"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KRİTİK SATIR</a:t>
              </a:r>
            </a:p>
          </p:txBody>
        </p:sp>
        <p:sp>
          <p:nvSpPr>
            <p:cNvPr id="30" name="TextBox 30"/>
            <p:cNvSpPr txBox="1"/>
            <p:nvPr/>
          </p:nvSpPr>
          <p:spPr>
            <a:xfrm>
              <a:off x="907161" y="5694521"/>
              <a:ext cx="6380480"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2355B"/>
                  </a:solidFill>
                  <a:latin typeface="+mn-lt"/>
                  <a:ea typeface="+mn-ea"/>
                  <a:cs typeface="+mn-cs"/>
                </a:rPr>
                <a:t>catch bloğu hatayı yutmaz; loglar ve güvenli bir fallback döndürerek ana</a:t>
              </a:r>
              <a:br/>
              <a:r>
                <a:rPr lang="tr-TR" sz="1420" dirty="0">
                  <a:solidFill>
                    <a:srgbClr val="12355B"/>
                  </a:solidFill>
                  <a:latin typeface="+mn-lt"/>
                  <a:ea typeface="+mn-ea"/>
                  <a:cs typeface="+mn-cs"/>
                </a:rPr>
                <a:t>uygulamanın çalışmaya devam etmesini sağlar.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0" name="page-title"/>
          <p:cNvGrpSpPr/>
          <p:nvPr/>
        </p:nvGrpSpPr>
        <p:grpSpPr>
          <a:xfrm>
            <a:off x="609600" y="171450"/>
            <a:ext cx="9414403" cy="668845"/>
            <a:chOff x="609600" y="171450"/>
            <a:chExt cx="9414403" cy="668845"/>
          </a:xfrm>
        </p:grpSpPr>
        <p:grpSp>
          <p:nvGrpSpPr>
            <p:cNvPr id="8"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7" name="Group 7"/>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895350" y="383381"/>
                  <a:ext cx="44291" cy="118110"/>
                </a:xfrm>
                <a:custGeom>
                  <a:avLst/>
                  <a:gdLst/>
                  <a:ahLst/>
                  <a:cxnLst/>
                  <a:rect l="l" t="t" r="r" b="b"/>
                  <a:pathLst>
                    <a:path w="44291" h="118110">
                      <a:moveTo>
                        <a:pt x="0" y="0"/>
                      </a:moveTo>
                      <a:lnTo>
                        <a:pt x="0" y="73819"/>
                      </a:lnTo>
                      <a:lnTo>
                        <a:pt x="44291" y="118110"/>
                      </a:lnTo>
                    </a:path>
                  </a:pathLst>
                </a:custGeom>
                <a:noFill/>
                <a:ln w="24759" cap="rnd">
                  <a:solidFill>
                    <a:srgbClr val="FFFFFF"/>
                  </a:solidFill>
                  <a:round/>
                </a:ln>
              </p:spPr>
            </p:sp>
          </p:grpSp>
        </p:grpSp>
        <p:sp>
          <p:nvSpPr>
            <p:cNvPr id="9" name="TextBox 9"/>
            <p:cNvSpPr txBox="1"/>
            <p:nvPr/>
          </p:nvSpPr>
          <p:spPr>
            <a:xfrm>
              <a:off x="1299972" y="282892"/>
              <a:ext cx="872403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Timeout ve retry: ne zaman ve alternatifler</a:t>
              </a:r>
            </a:p>
          </p:txBody>
        </p:sp>
      </p:grpSp>
      <p:grpSp>
        <p:nvGrpSpPr>
          <p:cNvPr id="15" name="alt-header"/>
          <p:cNvGrpSpPr/>
          <p:nvPr/>
        </p:nvGrpSpPr>
        <p:grpSpPr>
          <a:xfrm>
            <a:off x="609600" y="1333500"/>
            <a:ext cx="10972800" cy="342900"/>
            <a:chOff x="609600" y="1333500"/>
            <a:chExt cx="10972800" cy="342900"/>
          </a:xfrm>
        </p:grpSpPr>
        <p:sp>
          <p:nvSpPr>
            <p:cNvPr id="11" name="Rectangle 11"/>
            <p:cNvSpPr/>
            <p:nvPr/>
          </p:nvSpPr>
          <p:spPr>
            <a:xfrm>
              <a:off x="609600" y="1333500"/>
              <a:ext cx="10972800" cy="342900"/>
            </a:xfrm>
            <a:prstGeom prst="rect">
              <a:avLst/>
            </a:prstGeom>
            <a:solidFill>
              <a:srgbClr val="12355B"/>
            </a:solidFill>
            <a:ln>
              <a:noFill/>
            </a:ln>
          </p:spPr>
        </p:sp>
        <p:sp>
          <p:nvSpPr>
            <p:cNvPr id="12" name="TextBox 12"/>
            <p:cNvSpPr txBox="1"/>
            <p:nvPr/>
          </p:nvSpPr>
          <p:spPr>
            <a:xfrm>
              <a:off x="756285" y="143113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YAKLAŞIM</a:t>
              </a:r>
            </a:p>
          </p:txBody>
        </p:sp>
        <p:sp>
          <p:nvSpPr>
            <p:cNvPr id="13" name="TextBox 13"/>
            <p:cNvSpPr txBox="1"/>
            <p:nvPr/>
          </p:nvSpPr>
          <p:spPr>
            <a:xfrm>
              <a:off x="3042285" y="1431131"/>
              <a:ext cx="813749"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AÇIKLAMA</a:t>
              </a:r>
            </a:p>
          </p:txBody>
        </p:sp>
        <p:sp>
          <p:nvSpPr>
            <p:cNvPr id="14" name="TextBox 14"/>
            <p:cNvSpPr txBox="1"/>
            <p:nvPr/>
          </p:nvSpPr>
          <p:spPr>
            <a:xfrm>
              <a:off x="7995285" y="1431131"/>
              <a:ext cx="2167475"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ZAMAN TERCİH EDİLİR</a:t>
              </a:r>
            </a:p>
          </p:txBody>
        </p:sp>
      </p:grpSp>
      <p:grpSp>
        <p:nvGrpSpPr>
          <p:cNvPr id="20" name="alt-row1"/>
          <p:cNvGrpSpPr/>
          <p:nvPr/>
        </p:nvGrpSpPr>
        <p:grpSpPr>
          <a:xfrm>
            <a:off x="609600" y="1756410"/>
            <a:ext cx="10972800" cy="596265"/>
            <a:chOff x="609600" y="1756410"/>
            <a:chExt cx="10972800" cy="596265"/>
          </a:xfrm>
        </p:grpSpPr>
        <p:sp>
          <p:nvSpPr>
            <p:cNvPr id="16" name="TextBox 16"/>
            <p:cNvSpPr txBox="1"/>
            <p:nvPr/>
          </p:nvSpPr>
          <p:spPr>
            <a:xfrm>
              <a:off x="755904" y="1756410"/>
              <a:ext cx="812292"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Sabit Kısa</a:t>
              </a:r>
              <a:br/>
              <a:r>
                <a:rPr lang="tr-TR" sz="1200" b="1" dirty="0">
                  <a:solidFill>
                    <a:srgbClr val="12355B"/>
                  </a:solidFill>
                  <a:latin typeface="+mn-lt"/>
                  <a:ea typeface="+mn-ea"/>
                  <a:cs typeface="+mn-cs"/>
                </a:rPr>
                <a:t>Timeout</a:t>
              </a:r>
            </a:p>
          </p:txBody>
        </p:sp>
        <p:sp>
          <p:nvSpPr>
            <p:cNvPr id="17" name="TextBox 17"/>
            <p:cNvSpPr txBox="1"/>
            <p:nvPr/>
          </p:nvSpPr>
          <p:spPr>
            <a:xfrm>
              <a:off x="3041904" y="1756410"/>
              <a:ext cx="213817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Her istek için aynı kısa süre</a:t>
              </a:r>
              <a:br/>
              <a:r>
                <a:rPr lang="tr-TR" sz="1200" dirty="0">
                  <a:solidFill>
                    <a:srgbClr val="172B3A"/>
                  </a:solidFill>
                  <a:latin typeface="+mn-lt"/>
                  <a:ea typeface="+mn-ea"/>
                  <a:cs typeface="+mn-cs"/>
                </a:rPr>
                <a:t>uygulanır.</a:t>
              </a:r>
            </a:p>
          </p:txBody>
        </p:sp>
        <p:sp>
          <p:nvSpPr>
            <p:cNvPr id="18" name="TextBox 18"/>
            <p:cNvSpPr txBox="1"/>
            <p:nvPr/>
          </p:nvSpPr>
          <p:spPr>
            <a:xfrm>
              <a:off x="7994904" y="1756410"/>
              <a:ext cx="243535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Yanıt süresi öngörülebilir, basit</a:t>
              </a:r>
              <a:br/>
              <a:r>
                <a:rPr lang="tr-TR" sz="1200" dirty="0">
                  <a:solidFill>
                    <a:srgbClr val="172B3A"/>
                  </a:solidFill>
                  <a:latin typeface="+mn-lt"/>
                  <a:ea typeface="+mn-ea"/>
                  <a:cs typeface="+mn-cs"/>
                </a:rPr>
                <a:t>servislerde yeterlidir.</a:t>
              </a:r>
            </a:p>
          </p:txBody>
        </p:sp>
        <p:sp>
          <p:nvSpPr>
            <p:cNvPr id="19" name="Line 19"/>
            <p:cNvSpPr/>
            <p:nvPr/>
          </p:nvSpPr>
          <p:spPr>
            <a:xfrm>
              <a:off x="609600" y="23431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6" name="alt-row2"/>
          <p:cNvGrpSpPr/>
          <p:nvPr/>
        </p:nvGrpSpPr>
        <p:grpSpPr>
          <a:xfrm>
            <a:off x="609600" y="2343150"/>
            <a:ext cx="10972800" cy="676275"/>
            <a:chOff x="609600" y="2343150"/>
            <a:chExt cx="10972800" cy="676275"/>
          </a:xfrm>
        </p:grpSpPr>
        <p:sp>
          <p:nvSpPr>
            <p:cNvPr id="21" name="Rectangle 21"/>
            <p:cNvSpPr/>
            <p:nvPr/>
          </p:nvSpPr>
          <p:spPr>
            <a:xfrm>
              <a:off x="609600" y="2343150"/>
              <a:ext cx="10972800" cy="666750"/>
            </a:xfrm>
            <a:prstGeom prst="rect">
              <a:avLst/>
            </a:prstGeom>
            <a:solidFill>
              <a:srgbClr val="EAF4F6"/>
            </a:solidFill>
            <a:ln>
              <a:noFill/>
            </a:ln>
          </p:spPr>
        </p:sp>
        <p:sp>
          <p:nvSpPr>
            <p:cNvPr id="22" name="TextBox 22"/>
            <p:cNvSpPr txBox="1"/>
            <p:nvPr/>
          </p:nvSpPr>
          <p:spPr>
            <a:xfrm>
              <a:off x="755904" y="2423160"/>
              <a:ext cx="1244346"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Değişken /</a:t>
              </a:r>
              <a:br/>
              <a:r>
                <a:rPr lang="tr-TR" sz="1200" b="1" dirty="0">
                  <a:solidFill>
                    <a:srgbClr val="12355B"/>
                  </a:solidFill>
                  <a:latin typeface="+mn-lt"/>
                  <a:ea typeface="+mn-ea"/>
                  <a:cs typeface="+mn-cs"/>
                </a:rPr>
                <a:t>Adaptif Timeout</a:t>
              </a:r>
            </a:p>
          </p:txBody>
        </p:sp>
        <p:sp>
          <p:nvSpPr>
            <p:cNvPr id="23" name="TextBox 23"/>
            <p:cNvSpPr txBox="1"/>
            <p:nvPr/>
          </p:nvSpPr>
          <p:spPr>
            <a:xfrm>
              <a:off x="3041904" y="2423160"/>
              <a:ext cx="267157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Süre, girdi büyüklüğüne veya geçmiş</a:t>
              </a:r>
              <a:br/>
              <a:r>
                <a:rPr lang="tr-TR" sz="1200" dirty="0">
                  <a:solidFill>
                    <a:srgbClr val="172B3A"/>
                  </a:solidFill>
                  <a:latin typeface="+mn-lt"/>
                  <a:ea typeface="+mn-ea"/>
                  <a:cs typeface="+mn-cs"/>
                </a:rPr>
                <a:t>performansa göre ayarlanır.</a:t>
              </a:r>
            </a:p>
          </p:txBody>
        </p:sp>
        <p:sp>
          <p:nvSpPr>
            <p:cNvPr id="24" name="TextBox 24"/>
            <p:cNvSpPr txBox="1"/>
            <p:nvPr/>
          </p:nvSpPr>
          <p:spPr>
            <a:xfrm>
              <a:off x="7994904" y="2423160"/>
              <a:ext cx="248107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Yanıt süresi girdiye göre belirgin</a:t>
              </a:r>
              <a:br/>
              <a:r>
                <a:rPr lang="tr-TR" sz="1200" dirty="0">
                  <a:solidFill>
                    <a:srgbClr val="172B3A"/>
                  </a:solidFill>
                  <a:latin typeface="+mn-lt"/>
                  <a:ea typeface="+mn-ea"/>
                  <a:cs typeface="+mn-cs"/>
                </a:rPr>
                <a:t>biçimde değişen servislerde.</a:t>
              </a:r>
            </a:p>
          </p:txBody>
        </p:sp>
        <p:sp>
          <p:nvSpPr>
            <p:cNvPr id="25" name="Line 25"/>
            <p:cNvSpPr/>
            <p:nvPr/>
          </p:nvSpPr>
          <p:spPr>
            <a:xfrm>
              <a:off x="609600" y="3009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alt-row3"/>
          <p:cNvGrpSpPr/>
          <p:nvPr/>
        </p:nvGrpSpPr>
        <p:grpSpPr>
          <a:xfrm>
            <a:off x="609600" y="3089910"/>
            <a:ext cx="10972800" cy="596265"/>
            <a:chOff x="609600" y="3089910"/>
            <a:chExt cx="10972800" cy="596265"/>
          </a:xfrm>
        </p:grpSpPr>
        <p:sp>
          <p:nvSpPr>
            <p:cNvPr id="27" name="TextBox 27"/>
            <p:cNvSpPr txBox="1"/>
            <p:nvPr/>
          </p:nvSpPr>
          <p:spPr>
            <a:xfrm>
              <a:off x="755904" y="3089910"/>
              <a:ext cx="1140333"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Retry Olmadan</a:t>
              </a:r>
              <a:br/>
              <a:r>
                <a:rPr lang="tr-TR" sz="1200" b="1" dirty="0">
                  <a:solidFill>
                    <a:srgbClr val="12355B"/>
                  </a:solidFill>
                  <a:latin typeface="+mn-lt"/>
                  <a:ea typeface="+mn-ea"/>
                  <a:cs typeface="+mn-cs"/>
                </a:rPr>
                <a:t>Tek Deneme</a:t>
              </a:r>
            </a:p>
          </p:txBody>
        </p:sp>
        <p:sp>
          <p:nvSpPr>
            <p:cNvPr id="28" name="TextBox 28"/>
            <p:cNvSpPr txBox="1"/>
            <p:nvPr/>
          </p:nvSpPr>
          <p:spPr>
            <a:xfrm>
              <a:off x="3041904" y="3089910"/>
              <a:ext cx="274777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Hata alınırsa hiç tekrar denenmeden</a:t>
              </a:r>
              <a:br/>
              <a:r>
                <a:rPr lang="tr-TR" sz="1200" dirty="0">
                  <a:solidFill>
                    <a:srgbClr val="172B3A"/>
                  </a:solidFill>
                  <a:latin typeface="+mn-lt"/>
                  <a:ea typeface="+mn-ea"/>
                  <a:cs typeface="+mn-cs"/>
                </a:rPr>
                <a:t>doğrudan hata döndürülür.</a:t>
              </a:r>
            </a:p>
          </p:txBody>
        </p:sp>
        <p:sp>
          <p:nvSpPr>
            <p:cNvPr id="29" name="TextBox 29"/>
            <p:cNvSpPr txBox="1"/>
            <p:nvPr/>
          </p:nvSpPr>
          <p:spPr>
            <a:xfrm>
              <a:off x="7994904" y="3089910"/>
              <a:ext cx="236677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İşlem tekrarlanması riskli (yan</a:t>
              </a:r>
              <a:br/>
              <a:r>
                <a:rPr lang="tr-TR" sz="1200" dirty="0">
                  <a:solidFill>
                    <a:srgbClr val="172B3A"/>
                  </a:solidFill>
                  <a:latin typeface="+mn-lt"/>
                  <a:ea typeface="+mn-ea"/>
                  <a:cs typeface="+mn-cs"/>
                </a:rPr>
                <a:t>etkili) çağrılarda tercih edilir.</a:t>
              </a:r>
            </a:p>
          </p:txBody>
        </p:sp>
        <p:sp>
          <p:nvSpPr>
            <p:cNvPr id="30" name="Line 30"/>
            <p:cNvSpPr/>
            <p:nvPr/>
          </p:nvSpPr>
          <p:spPr>
            <a:xfrm>
              <a:off x="609600" y="367665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alt-row4"/>
          <p:cNvGrpSpPr/>
          <p:nvPr/>
        </p:nvGrpSpPr>
        <p:grpSpPr>
          <a:xfrm>
            <a:off x="609600" y="3676650"/>
            <a:ext cx="10972800" cy="676275"/>
            <a:chOff x="609600" y="3676650"/>
            <a:chExt cx="10972800" cy="676275"/>
          </a:xfrm>
        </p:grpSpPr>
        <p:sp>
          <p:nvSpPr>
            <p:cNvPr id="32" name="Rectangle 32"/>
            <p:cNvSpPr/>
            <p:nvPr/>
          </p:nvSpPr>
          <p:spPr>
            <a:xfrm>
              <a:off x="609600" y="3676650"/>
              <a:ext cx="10972800" cy="666750"/>
            </a:xfrm>
            <a:prstGeom prst="rect">
              <a:avLst/>
            </a:prstGeom>
            <a:solidFill>
              <a:srgbClr val="EAF4F6"/>
            </a:solidFill>
            <a:ln>
              <a:noFill/>
            </a:ln>
          </p:spPr>
        </p:sp>
        <p:sp>
          <p:nvSpPr>
            <p:cNvPr id="33" name="TextBox 33"/>
            <p:cNvSpPr txBox="1"/>
            <p:nvPr/>
          </p:nvSpPr>
          <p:spPr>
            <a:xfrm>
              <a:off x="755904" y="3756660"/>
              <a:ext cx="1084326"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Sabit Aralıklı</a:t>
              </a:r>
              <a:br/>
              <a:r>
                <a:rPr lang="tr-TR" sz="1200" b="1" dirty="0">
                  <a:solidFill>
                    <a:srgbClr val="12355B"/>
                  </a:solidFill>
                  <a:latin typeface="+mn-lt"/>
                  <a:ea typeface="+mn-ea"/>
                  <a:cs typeface="+mn-cs"/>
                </a:rPr>
                <a:t>Retry</a:t>
              </a:r>
            </a:p>
          </p:txBody>
        </p:sp>
        <p:sp>
          <p:nvSpPr>
            <p:cNvPr id="34" name="TextBox 34"/>
            <p:cNvSpPr txBox="1"/>
            <p:nvPr/>
          </p:nvSpPr>
          <p:spPr>
            <a:xfrm>
              <a:off x="3041904" y="3756660"/>
              <a:ext cx="219913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Her denemede aynı sabit süre</a:t>
              </a:r>
              <a:br/>
              <a:r>
                <a:rPr lang="tr-TR" sz="1200" dirty="0">
                  <a:solidFill>
                    <a:srgbClr val="172B3A"/>
                  </a:solidFill>
                  <a:latin typeface="+mn-lt"/>
                  <a:ea typeface="+mn-ea"/>
                  <a:cs typeface="+mn-cs"/>
                </a:rPr>
                <a:t>beklenip tekrar denenir.</a:t>
              </a:r>
            </a:p>
          </p:txBody>
        </p:sp>
        <p:sp>
          <p:nvSpPr>
            <p:cNvPr id="35" name="TextBox 35"/>
            <p:cNvSpPr txBox="1"/>
            <p:nvPr/>
          </p:nvSpPr>
          <p:spPr>
            <a:xfrm>
              <a:off x="7994904" y="3756660"/>
              <a:ext cx="238201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Basit senaryolarda, servis yükü</a:t>
              </a:r>
              <a:br/>
              <a:r>
                <a:rPr lang="tr-TR" sz="1200" dirty="0">
                  <a:solidFill>
                    <a:srgbClr val="172B3A"/>
                  </a:solidFill>
                  <a:latin typeface="+mn-lt"/>
                  <a:ea typeface="+mn-ea"/>
                  <a:cs typeface="+mn-cs"/>
                </a:rPr>
                <a:t>düşükken kabul edilebilir.</a:t>
              </a:r>
            </a:p>
          </p:txBody>
        </p:sp>
        <p:sp>
          <p:nvSpPr>
            <p:cNvPr id="36" name="Line 36"/>
            <p:cNvSpPr/>
            <p:nvPr/>
          </p:nvSpPr>
          <p:spPr>
            <a:xfrm>
              <a:off x="609600" y="43434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1" name="alt-row5"/>
          <p:cNvGrpSpPr/>
          <p:nvPr/>
        </p:nvGrpSpPr>
        <p:grpSpPr>
          <a:xfrm>
            <a:off x="755904" y="4423410"/>
            <a:ext cx="9895332" cy="415671"/>
            <a:chOff x="755904" y="4423410"/>
            <a:chExt cx="9895332" cy="415671"/>
          </a:xfrm>
        </p:grpSpPr>
        <p:sp>
          <p:nvSpPr>
            <p:cNvPr id="38" name="TextBox 38"/>
            <p:cNvSpPr txBox="1"/>
            <p:nvPr/>
          </p:nvSpPr>
          <p:spPr>
            <a:xfrm>
              <a:off x="755904" y="4423410"/>
              <a:ext cx="1164336" cy="415671"/>
            </a:xfrm>
            <a:prstGeom prst="rect">
              <a:avLst/>
            </a:prstGeom>
            <a:noFill/>
            <a:ln>
              <a:noFill/>
            </a:ln>
          </p:spPr>
          <p:txBody>
            <a:bodyPr wrap="none" lIns="0" tIns="0" rIns="0" bIns="0" anchor="t" anchorCtr="0">
              <a:spAutoFit/>
            </a:bodyPr>
            <a:lstStyle/>
            <a:p>
              <a:pPr algn="l">
                <a:lnSpc>
                  <a:spcPts val="1425"/>
                </a:lnSpc>
              </a:pPr>
              <a:r>
                <a:rPr lang="tr-TR" sz="1200" b="1" dirty="0">
                  <a:solidFill>
                    <a:srgbClr val="12355B"/>
                  </a:solidFill>
                  <a:latin typeface="+mn-lt"/>
                  <a:ea typeface="+mn-ea"/>
                  <a:cs typeface="+mn-cs"/>
                </a:rPr>
                <a:t>Üstel Geri</a:t>
              </a:r>
              <a:br/>
              <a:r>
                <a:rPr lang="tr-TR" sz="1200" b="1" dirty="0">
                  <a:solidFill>
                    <a:srgbClr val="12355B"/>
                  </a:solidFill>
                  <a:latin typeface="+mn-lt"/>
                  <a:ea typeface="+mn-ea"/>
                  <a:cs typeface="+mn-cs"/>
                </a:rPr>
                <a:t>Çekilmeli Retry</a:t>
              </a:r>
            </a:p>
          </p:txBody>
        </p:sp>
        <p:sp>
          <p:nvSpPr>
            <p:cNvPr id="39" name="TextBox 39"/>
            <p:cNvSpPr txBox="1"/>
            <p:nvPr/>
          </p:nvSpPr>
          <p:spPr>
            <a:xfrm>
              <a:off x="3041904" y="4423410"/>
              <a:ext cx="243535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Her başarısız denemede bekleme</a:t>
              </a:r>
              <a:br/>
              <a:r>
                <a:rPr lang="tr-TR" sz="1200" dirty="0">
                  <a:solidFill>
                    <a:srgbClr val="172B3A"/>
                  </a:solidFill>
                  <a:latin typeface="+mn-lt"/>
                  <a:ea typeface="+mn-ea"/>
                  <a:cs typeface="+mn-cs"/>
                </a:rPr>
                <a:t>süresi katlanarak artırılır.</a:t>
              </a:r>
            </a:p>
          </p:txBody>
        </p:sp>
        <p:sp>
          <p:nvSpPr>
            <p:cNvPr id="40" name="TextBox 40"/>
            <p:cNvSpPr txBox="1"/>
            <p:nvPr/>
          </p:nvSpPr>
          <p:spPr>
            <a:xfrm>
              <a:off x="7994904" y="4423410"/>
              <a:ext cx="2656332" cy="415671"/>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Üretim ortamında önerilen, servise</a:t>
              </a:r>
              <a:br/>
              <a:r>
                <a:rPr lang="tr-TR" sz="1200" dirty="0">
                  <a:solidFill>
                    <a:srgbClr val="172B3A"/>
                  </a:solidFill>
                  <a:latin typeface="+mn-lt"/>
                  <a:ea typeface="+mn-ea"/>
                  <a:cs typeface="+mn-cs"/>
                </a:rPr>
                <a:t>yük bindirmeyen standarttır.</a:t>
              </a:r>
            </a:p>
          </p:txBody>
        </p:sp>
      </p:grpSp>
      <p:grpSp>
        <p:nvGrpSpPr>
          <p:cNvPr id="46" name="alt-summary"/>
          <p:cNvGrpSpPr/>
          <p:nvPr/>
        </p:nvGrpSpPr>
        <p:grpSpPr>
          <a:xfrm>
            <a:off x="609600" y="5257800"/>
            <a:ext cx="10972800" cy="957167"/>
            <a:chOff x="609600" y="5257800"/>
            <a:chExt cx="10972800" cy="957167"/>
          </a:xfrm>
        </p:grpSpPr>
        <p:sp>
          <p:nvSpPr>
            <p:cNvPr id="42" name="Rectangle 42"/>
            <p:cNvSpPr/>
            <p:nvPr/>
          </p:nvSpPr>
          <p:spPr>
            <a:xfrm>
              <a:off x="609600" y="5257800"/>
              <a:ext cx="10972800" cy="914400"/>
            </a:xfrm>
            <a:prstGeom prst="roundRect">
              <a:avLst>
                <a:gd name="adj" fmla="val 8333"/>
              </a:avLst>
            </a:prstGeom>
            <a:solidFill>
              <a:srgbClr val="EAF4F6"/>
            </a:solidFill>
            <a:ln>
              <a:noFill/>
            </a:ln>
          </p:spPr>
        </p:sp>
        <p:sp>
          <p:nvSpPr>
            <p:cNvPr id="43" name="Rectangle 43"/>
            <p:cNvSpPr/>
            <p:nvPr/>
          </p:nvSpPr>
          <p:spPr>
            <a:xfrm>
              <a:off x="609600" y="5257800"/>
              <a:ext cx="57150" cy="914400"/>
            </a:xfrm>
            <a:prstGeom prst="rect">
              <a:avLst/>
            </a:prstGeom>
            <a:solidFill>
              <a:srgbClr val="00A6A6"/>
            </a:solidFill>
            <a:ln>
              <a:noFill/>
            </a:ln>
          </p:spPr>
        </p:sp>
        <p:sp>
          <p:nvSpPr>
            <p:cNvPr id="44" name="TextBox 44"/>
            <p:cNvSpPr txBox="1"/>
            <p:nvPr/>
          </p:nvSpPr>
          <p:spPr>
            <a:xfrm>
              <a:off x="908304" y="5414010"/>
              <a:ext cx="2023323"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BU BÖLÜMDEKİ TERCİH</a:t>
              </a:r>
            </a:p>
          </p:txBody>
        </p:sp>
        <p:sp>
          <p:nvSpPr>
            <p:cNvPr id="45" name="TextBox 45"/>
            <p:cNvSpPr txBox="1"/>
            <p:nvPr/>
          </p:nvSpPr>
          <p:spPr>
            <a:xfrm>
              <a:off x="906399" y="5659279"/>
              <a:ext cx="7540752"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Kod 17.3'te sabit 3 saniyelik timeout kullanılır; üretimde bu değer, servisin</a:t>
              </a:r>
              <a:br/>
              <a:r>
                <a:rPr lang="tr-TR" sz="1580" dirty="0">
                  <a:solidFill>
                    <a:srgbClr val="12355B"/>
                  </a:solidFill>
                  <a:latin typeface="+mn-lt"/>
                  <a:ea typeface="+mn-ea"/>
                  <a:cs typeface="+mn-cs"/>
                </a:rPr>
                <a:t>geçmiş yanıt sürelerine göre uyarlanabilir hale getirilmelidir.</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742606" cy="668845"/>
            <a:chOff x="609600" y="171450"/>
            <a:chExt cx="774260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05223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Timeout ve retry'da yaygın hatalar</a:t>
              </a:r>
            </a:p>
          </p:txBody>
        </p:sp>
      </p:grpSp>
      <p:grpSp>
        <p:nvGrpSpPr>
          <p:cNvPr id="18" name="mistake-row1"/>
          <p:cNvGrpSpPr/>
          <p:nvPr/>
        </p:nvGrpSpPr>
        <p:grpSpPr>
          <a:xfrm>
            <a:off x="609600" y="1219200"/>
            <a:ext cx="10972800" cy="1314450"/>
            <a:chOff x="609600" y="1219200"/>
            <a:chExt cx="10972800" cy="1314450"/>
          </a:xfrm>
        </p:grpSpPr>
        <p:sp>
          <p:nvSpPr>
            <p:cNvPr id="12" name="Rectangle 12"/>
            <p:cNvSpPr/>
            <p:nvPr/>
          </p:nvSpPr>
          <p:spPr>
            <a:xfrm>
              <a:off x="609600" y="1219200"/>
              <a:ext cx="10972800" cy="1314450"/>
            </a:xfrm>
            <a:prstGeom prst="roundRect">
              <a:avLst>
                <a:gd name="adj" fmla="val 5797"/>
              </a:avLst>
            </a:prstGeom>
            <a:solidFill>
              <a:srgbClr val="FFFFFF"/>
            </a:solidFill>
            <a:ln w="9525">
              <a:solidFill>
                <a:srgbClr val="B8CBD3"/>
              </a:solidFill>
            </a:ln>
          </p:spPr>
        </p:sp>
        <p:sp>
          <p:nvSpPr>
            <p:cNvPr id="13" name="TextBox 13"/>
            <p:cNvSpPr txBox="1"/>
            <p:nvPr/>
          </p:nvSpPr>
          <p:spPr>
            <a:xfrm>
              <a:off x="908304" y="1375410"/>
              <a:ext cx="1113556"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YAYGIN HATA</a:t>
              </a:r>
            </a:p>
          </p:txBody>
        </p:sp>
        <p:sp>
          <p:nvSpPr>
            <p:cNvPr id="14" name="TextBox 14"/>
            <p:cNvSpPr txBox="1"/>
            <p:nvPr/>
          </p:nvSpPr>
          <p:spPr>
            <a:xfrm>
              <a:off x="906399" y="1620679"/>
              <a:ext cx="444055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Zaman aşımı hiç ayarlanmaz; AI servisi yanıt</a:t>
              </a:r>
              <a:br/>
              <a:r>
                <a:rPr lang="tr-TR" sz="1580" dirty="0">
                  <a:solidFill>
                    <a:srgbClr val="172B3A"/>
                  </a:solidFill>
                  <a:latin typeface="+mn-lt"/>
                  <a:ea typeface="+mn-ea"/>
                  <a:cs typeface="+mn-cs"/>
                </a:rPr>
                <a:t>vermezse istek sonsuza kadar bekler.</a:t>
              </a:r>
            </a:p>
          </p:txBody>
        </p:sp>
        <p:sp>
          <p:nvSpPr>
            <p:cNvPr id="15" name="Line 15"/>
            <p:cNvSpPr/>
            <p:nvPr/>
          </p:nvSpPr>
          <p:spPr>
            <a:xfrm>
              <a:off x="6248400" y="1371600"/>
              <a:ext cx="9525" cy="1009650"/>
            </a:xfrm>
            <a:custGeom>
              <a:avLst/>
              <a:gdLst/>
              <a:ahLst/>
              <a:cxnLst/>
              <a:rect l="l" t="t" r="r" b="b"/>
              <a:pathLst>
                <a:path w="9525" h="1009650">
                  <a:moveTo>
                    <a:pt x="0" y="0"/>
                  </a:moveTo>
                  <a:lnTo>
                    <a:pt x="0" y="1009650"/>
                  </a:lnTo>
                </a:path>
              </a:pathLst>
            </a:custGeom>
            <a:noFill/>
            <a:ln w="9525">
              <a:solidFill>
                <a:srgbClr val="B8CBD3"/>
              </a:solidFill>
            </a:ln>
          </p:spPr>
        </p:sp>
        <p:sp>
          <p:nvSpPr>
            <p:cNvPr id="16" name="TextBox 16"/>
            <p:cNvSpPr txBox="1"/>
            <p:nvPr/>
          </p:nvSpPr>
          <p:spPr>
            <a:xfrm>
              <a:off x="6547104" y="1375410"/>
              <a:ext cx="802051"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DOĞRUSU</a:t>
              </a:r>
            </a:p>
          </p:txBody>
        </p:sp>
        <p:sp>
          <p:nvSpPr>
            <p:cNvPr id="17" name="TextBox 17"/>
            <p:cNvSpPr txBox="1"/>
            <p:nvPr/>
          </p:nvSpPr>
          <p:spPr>
            <a:xfrm>
              <a:off x="6545199" y="1620679"/>
              <a:ext cx="486194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Her dış çağrıya AbortController veya eşdeğer bir</a:t>
              </a:r>
              <a:br/>
              <a:r>
                <a:rPr lang="tr-TR" sz="1580" dirty="0">
                  <a:solidFill>
                    <a:srgbClr val="12355B"/>
                  </a:solidFill>
                  <a:latin typeface="+mn-lt"/>
                  <a:ea typeface="+mn-ea"/>
                  <a:cs typeface="+mn-cs"/>
                </a:rPr>
                <a:t>mekanizmayla açık bir süre sınırı konur.</a:t>
              </a:r>
            </a:p>
          </p:txBody>
        </p:sp>
      </p:grpSp>
      <p:grpSp>
        <p:nvGrpSpPr>
          <p:cNvPr id="25" name="mistake-row2"/>
          <p:cNvGrpSpPr/>
          <p:nvPr/>
        </p:nvGrpSpPr>
        <p:grpSpPr>
          <a:xfrm>
            <a:off x="609600" y="2667000"/>
            <a:ext cx="11058398" cy="1314450"/>
            <a:chOff x="609600" y="2667000"/>
            <a:chExt cx="11058398" cy="1314450"/>
          </a:xfrm>
        </p:grpSpPr>
        <p:sp>
          <p:nvSpPr>
            <p:cNvPr id="19" name="Rectangle 19"/>
            <p:cNvSpPr/>
            <p:nvPr/>
          </p:nvSpPr>
          <p:spPr>
            <a:xfrm>
              <a:off x="609600" y="2667000"/>
              <a:ext cx="10972800" cy="1314450"/>
            </a:xfrm>
            <a:prstGeom prst="roundRect">
              <a:avLst>
                <a:gd name="adj" fmla="val 5797"/>
              </a:avLst>
            </a:prstGeom>
            <a:solidFill>
              <a:srgbClr val="FFFFFF"/>
            </a:solidFill>
            <a:ln w="9525">
              <a:solidFill>
                <a:srgbClr val="B8CBD3"/>
              </a:solidFill>
            </a:ln>
          </p:spPr>
        </p:sp>
        <p:sp>
          <p:nvSpPr>
            <p:cNvPr id="20" name="TextBox 20"/>
            <p:cNvSpPr txBox="1"/>
            <p:nvPr/>
          </p:nvSpPr>
          <p:spPr>
            <a:xfrm>
              <a:off x="908304" y="2823210"/>
              <a:ext cx="1113556"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YAYGIN HATA</a:t>
              </a:r>
            </a:p>
          </p:txBody>
        </p:sp>
        <p:sp>
          <p:nvSpPr>
            <p:cNvPr id="21" name="TextBox 21"/>
            <p:cNvSpPr txBox="1"/>
            <p:nvPr/>
          </p:nvSpPr>
          <p:spPr>
            <a:xfrm>
              <a:off x="906399" y="3068479"/>
              <a:ext cx="4912106"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Başarısız her istek sınırsız sayıda ve aralıksız</a:t>
              </a:r>
              <a:br/>
              <a:r>
                <a:rPr lang="tr-TR" sz="1580" dirty="0">
                  <a:solidFill>
                    <a:srgbClr val="172B3A"/>
                  </a:solidFill>
                  <a:latin typeface="+mn-lt"/>
                  <a:ea typeface="+mn-ea"/>
                  <a:cs typeface="+mn-cs"/>
                </a:rPr>
                <a:t>tekrar denenir.</a:t>
              </a:r>
            </a:p>
          </p:txBody>
        </p:sp>
        <p:sp>
          <p:nvSpPr>
            <p:cNvPr id="22" name="Line 22"/>
            <p:cNvSpPr/>
            <p:nvPr/>
          </p:nvSpPr>
          <p:spPr>
            <a:xfrm>
              <a:off x="6248400" y="2819400"/>
              <a:ext cx="9525" cy="1009650"/>
            </a:xfrm>
            <a:custGeom>
              <a:avLst/>
              <a:gdLst/>
              <a:ahLst/>
              <a:cxnLst/>
              <a:rect l="l" t="t" r="r" b="b"/>
              <a:pathLst>
                <a:path w="9525" h="1009650">
                  <a:moveTo>
                    <a:pt x="0" y="0"/>
                  </a:moveTo>
                  <a:lnTo>
                    <a:pt x="0" y="1009650"/>
                  </a:lnTo>
                </a:path>
              </a:pathLst>
            </a:custGeom>
            <a:noFill/>
            <a:ln w="9525">
              <a:solidFill>
                <a:srgbClr val="B8CBD3"/>
              </a:solidFill>
            </a:ln>
          </p:spPr>
        </p:sp>
        <p:sp>
          <p:nvSpPr>
            <p:cNvPr id="23" name="TextBox 23"/>
            <p:cNvSpPr txBox="1"/>
            <p:nvPr/>
          </p:nvSpPr>
          <p:spPr>
            <a:xfrm>
              <a:off x="6547104" y="2823210"/>
              <a:ext cx="802051"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DOĞRUSU</a:t>
              </a:r>
            </a:p>
          </p:txBody>
        </p:sp>
        <p:sp>
          <p:nvSpPr>
            <p:cNvPr id="24" name="TextBox 24"/>
            <p:cNvSpPr txBox="1"/>
            <p:nvPr/>
          </p:nvSpPr>
          <p:spPr>
            <a:xfrm>
              <a:off x="6545199" y="3068479"/>
              <a:ext cx="5122799"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Retry sayısı sınırlanır ve denemeler arasına üstel</a:t>
              </a:r>
              <a:br/>
              <a:r>
                <a:rPr lang="tr-TR" sz="1580" dirty="0">
                  <a:solidFill>
                    <a:srgbClr val="12355B"/>
                  </a:solidFill>
                  <a:latin typeface="+mn-lt"/>
                  <a:ea typeface="+mn-ea"/>
                  <a:cs typeface="+mn-cs"/>
                </a:rPr>
                <a:t>geri çekilme uygulanır.</a:t>
              </a:r>
            </a:p>
          </p:txBody>
        </p:sp>
      </p:grpSp>
      <p:grpSp>
        <p:nvGrpSpPr>
          <p:cNvPr id="32" name="mistake-row3"/>
          <p:cNvGrpSpPr/>
          <p:nvPr/>
        </p:nvGrpSpPr>
        <p:grpSpPr>
          <a:xfrm>
            <a:off x="609600" y="4114800"/>
            <a:ext cx="11008233" cy="1314450"/>
            <a:chOff x="609600" y="4114800"/>
            <a:chExt cx="11008233" cy="1314450"/>
          </a:xfrm>
        </p:grpSpPr>
        <p:sp>
          <p:nvSpPr>
            <p:cNvPr id="26" name="Rectangle 26"/>
            <p:cNvSpPr/>
            <p:nvPr/>
          </p:nvSpPr>
          <p:spPr>
            <a:xfrm>
              <a:off x="609600" y="4114800"/>
              <a:ext cx="10972800" cy="1314450"/>
            </a:xfrm>
            <a:prstGeom prst="roundRect">
              <a:avLst>
                <a:gd name="adj" fmla="val 5797"/>
              </a:avLst>
            </a:prstGeom>
            <a:solidFill>
              <a:srgbClr val="FFFFFF"/>
            </a:solidFill>
            <a:ln w="9525">
              <a:solidFill>
                <a:srgbClr val="B8CBD3"/>
              </a:solidFill>
            </a:ln>
          </p:spPr>
        </p:sp>
        <p:sp>
          <p:nvSpPr>
            <p:cNvPr id="27" name="TextBox 27"/>
            <p:cNvSpPr txBox="1"/>
            <p:nvPr/>
          </p:nvSpPr>
          <p:spPr>
            <a:xfrm>
              <a:off x="908304" y="4271010"/>
              <a:ext cx="1113556" cy="234696"/>
            </a:xfrm>
            <a:prstGeom prst="rect">
              <a:avLst/>
            </a:prstGeom>
            <a:noFill/>
            <a:ln>
              <a:noFill/>
            </a:ln>
          </p:spPr>
          <p:txBody>
            <a:bodyPr wrap="none" lIns="0" tIns="0" rIns="0" bIns="0" anchor="t" anchorCtr="0">
              <a:spAutoFit/>
            </a:bodyPr>
            <a:lstStyle/>
            <a:p>
              <a:pPr algn="l"/>
              <a:r>
                <a:rPr lang="tr-TR" sz="1200" b="1" spc="75" dirty="0">
                  <a:solidFill>
                    <a:srgbClr val="52616B"/>
                  </a:solidFill>
                  <a:latin typeface="+mn-lt"/>
                  <a:ea typeface="+mn-ea"/>
                  <a:cs typeface="+mn-cs"/>
                </a:rPr>
                <a:t>YAYGIN HATA</a:t>
              </a:r>
            </a:p>
          </p:txBody>
        </p:sp>
        <p:sp>
          <p:nvSpPr>
            <p:cNvPr id="28" name="TextBox 28"/>
            <p:cNvSpPr txBox="1"/>
            <p:nvPr/>
          </p:nvSpPr>
          <p:spPr>
            <a:xfrm>
              <a:off x="906399" y="4516279"/>
              <a:ext cx="505256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Hata izolasyonu olmadığından AI servisi</a:t>
              </a:r>
              <a:br/>
              <a:r>
                <a:rPr lang="tr-TR" sz="1580" dirty="0">
                  <a:solidFill>
                    <a:srgbClr val="172B3A"/>
                  </a:solidFill>
                  <a:latin typeface="+mn-lt"/>
                  <a:ea typeface="+mn-ea"/>
                  <a:cs typeface="+mn-cs"/>
                </a:rPr>
                <a:t>çöktüğünde tüm backend (kitap arama dahil) durur.</a:t>
              </a:r>
            </a:p>
          </p:txBody>
        </p:sp>
        <p:sp>
          <p:nvSpPr>
            <p:cNvPr id="29" name="Line 29"/>
            <p:cNvSpPr/>
            <p:nvPr/>
          </p:nvSpPr>
          <p:spPr>
            <a:xfrm>
              <a:off x="6248400" y="4267200"/>
              <a:ext cx="9525" cy="1009650"/>
            </a:xfrm>
            <a:custGeom>
              <a:avLst/>
              <a:gdLst/>
              <a:ahLst/>
              <a:cxnLst/>
              <a:rect l="l" t="t" r="r" b="b"/>
              <a:pathLst>
                <a:path w="9525" h="1009650">
                  <a:moveTo>
                    <a:pt x="0" y="0"/>
                  </a:moveTo>
                  <a:lnTo>
                    <a:pt x="0" y="1009650"/>
                  </a:lnTo>
                </a:path>
              </a:pathLst>
            </a:custGeom>
            <a:noFill/>
            <a:ln w="9525">
              <a:solidFill>
                <a:srgbClr val="B8CBD3"/>
              </a:solidFill>
            </a:ln>
          </p:spPr>
        </p:sp>
        <p:sp>
          <p:nvSpPr>
            <p:cNvPr id="30" name="TextBox 30"/>
            <p:cNvSpPr txBox="1"/>
            <p:nvPr/>
          </p:nvSpPr>
          <p:spPr>
            <a:xfrm>
              <a:off x="6547104" y="4271010"/>
              <a:ext cx="802051"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DOĞRUSU</a:t>
              </a:r>
            </a:p>
          </p:txBody>
        </p:sp>
        <p:sp>
          <p:nvSpPr>
            <p:cNvPr id="31" name="TextBox 31"/>
            <p:cNvSpPr txBox="1"/>
            <p:nvPr/>
          </p:nvSpPr>
          <p:spPr>
            <a:xfrm>
              <a:off x="6545199" y="4516279"/>
              <a:ext cx="5072634"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2355B"/>
                  </a:solidFill>
                  <a:latin typeface="+mn-lt"/>
                  <a:ea typeface="+mn-ea"/>
                  <a:cs typeface="+mn-cs"/>
                </a:rPr>
                <a:t>AI çağrısı try/catch ile sarılır; hata durumunda</a:t>
              </a:r>
              <a:br/>
              <a:r>
                <a:rPr lang="tr-TR" sz="1580" dirty="0">
                  <a:solidFill>
                    <a:srgbClr val="12355B"/>
                  </a:solidFill>
                  <a:latin typeface="+mn-lt"/>
                  <a:ea typeface="+mn-ea"/>
                  <a:cs typeface="+mn-cs"/>
                </a:rPr>
                <a:t>ana işlevler fallback yanıtla çalışmaya devam eder.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917390" cy="557403"/>
            <a:chOff x="595122" y="282892"/>
            <a:chExt cx="8917390" cy="557403"/>
          </a:xfrm>
        </p:grpSpPr>
        <p:sp>
          <p:nvSpPr>
            <p:cNvPr id="4" name="TextBox 4"/>
            <p:cNvSpPr txBox="1"/>
            <p:nvPr/>
          </p:nvSpPr>
          <p:spPr>
            <a:xfrm>
              <a:off x="595122" y="282892"/>
              <a:ext cx="891739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AI çıktısının doğrulanması ve gözlemlenmesi</a:t>
              </a:r>
            </a:p>
          </p:txBody>
        </p:sp>
      </p:grpSp>
      <p:grpSp>
        <p:nvGrpSpPr>
          <p:cNvPr id="9" name="block-tanim"/>
          <p:cNvGrpSpPr/>
          <p:nvPr/>
        </p:nvGrpSpPr>
        <p:grpSpPr>
          <a:xfrm>
            <a:off x="609600" y="1219200"/>
            <a:ext cx="7389114" cy="1529334"/>
            <a:chOff x="609600" y="1219200"/>
            <a:chExt cx="7389114" cy="1529334"/>
          </a:xfrm>
        </p:grpSpPr>
        <p:sp>
          <p:nvSpPr>
            <p:cNvPr id="6" name="Rectangle 6"/>
            <p:cNvSpPr/>
            <p:nvPr/>
          </p:nvSpPr>
          <p:spPr>
            <a:xfrm>
              <a:off x="609600" y="1219200"/>
              <a:ext cx="57150" cy="1314450"/>
            </a:xfrm>
            <a:prstGeom prst="rect">
              <a:avLst/>
            </a:prstGeom>
            <a:solidFill>
              <a:srgbClr val="00A6A6"/>
            </a:solidFill>
            <a:ln>
              <a:noFill/>
            </a:ln>
          </p:spPr>
        </p:sp>
        <p:sp>
          <p:nvSpPr>
            <p:cNvPr id="7" name="TextBox 7"/>
            <p:cNvSpPr txBox="1"/>
            <p:nvPr/>
          </p:nvSpPr>
          <p:spPr>
            <a:xfrm>
              <a:off x="908304" y="1299210"/>
              <a:ext cx="538764"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TANIM</a:t>
              </a:r>
            </a:p>
          </p:txBody>
        </p:sp>
        <p:sp>
          <p:nvSpPr>
            <p:cNvPr id="8" name="TextBox 8"/>
            <p:cNvSpPr txBox="1"/>
            <p:nvPr/>
          </p:nvSpPr>
          <p:spPr>
            <a:xfrm>
              <a:off x="905256" y="1539240"/>
              <a:ext cx="7093458" cy="12092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Çıktı doğrulama, AI servisinden dönen yanıtın beklenen şemaya</a:t>
              </a:r>
              <a:br/>
              <a:r>
                <a:rPr lang="tr-TR" sz="1800" dirty="0">
                  <a:solidFill>
                    <a:srgbClr val="172B3A"/>
                  </a:solidFill>
                  <a:latin typeface="+mn-lt"/>
                  <a:ea typeface="+mn-ea"/>
                  <a:cs typeface="+mn-cs"/>
                </a:rPr>
                <a:t>uyup uymadığını ve bir güven skoru eşiğini geçip geçmediğini</a:t>
              </a:r>
              <a:br/>
              <a:r>
                <a:rPr lang="tr-TR" sz="1800" dirty="0">
                  <a:solidFill>
                    <a:srgbClr val="172B3A"/>
                  </a:solidFill>
                  <a:latin typeface="+mn-lt"/>
                  <a:ea typeface="+mn-ea"/>
                  <a:cs typeface="+mn-cs"/>
                </a:rPr>
                <a:t>kontrol etme sürecidir; gözlemleme ise bu skorların zaman</a:t>
              </a:r>
              <a:br/>
              <a:r>
                <a:rPr lang="tr-TR" sz="1800" dirty="0">
                  <a:solidFill>
                    <a:srgbClr val="172B3A"/>
                  </a:solidFill>
                  <a:latin typeface="+mn-lt"/>
                  <a:ea typeface="+mn-ea"/>
                  <a:cs typeface="+mn-cs"/>
                </a:rPr>
                <a:t>içindeki eğilimini izlemektir.</a:t>
              </a:r>
            </a:p>
          </p:txBody>
        </p:sp>
      </p:grpSp>
      <p:sp>
        <p:nvSpPr>
          <p:cNvPr id="10" name="Line 10"/>
          <p:cNvSpPr/>
          <p:nvPr/>
        </p:nvSpPr>
        <p:spPr>
          <a:xfrm>
            <a:off x="609600" y="2781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14" name="block-neden"/>
          <p:cNvGrpSpPr/>
          <p:nvPr/>
        </p:nvGrpSpPr>
        <p:grpSpPr>
          <a:xfrm>
            <a:off x="609600" y="2933700"/>
            <a:ext cx="7754874" cy="1243584"/>
            <a:chOff x="609600" y="2933700"/>
            <a:chExt cx="7754874" cy="1243584"/>
          </a:xfrm>
        </p:grpSpPr>
        <p:sp>
          <p:nvSpPr>
            <p:cNvPr id="11" name="Rectangle 11"/>
            <p:cNvSpPr/>
            <p:nvPr/>
          </p:nvSpPr>
          <p:spPr>
            <a:xfrm>
              <a:off x="609600" y="2933700"/>
              <a:ext cx="57150" cy="1123950"/>
            </a:xfrm>
            <a:prstGeom prst="rect">
              <a:avLst/>
            </a:prstGeom>
            <a:solidFill>
              <a:srgbClr val="00A6A6"/>
            </a:solidFill>
            <a:ln>
              <a:noFill/>
            </a:ln>
          </p:spPr>
        </p:sp>
        <p:sp>
          <p:nvSpPr>
            <p:cNvPr id="12" name="TextBox 12"/>
            <p:cNvSpPr txBox="1"/>
            <p:nvPr/>
          </p:nvSpPr>
          <p:spPr>
            <a:xfrm>
              <a:off x="908304" y="3013710"/>
              <a:ext cx="1222797"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NEDEN VARDIR</a:t>
              </a:r>
            </a:p>
          </p:txBody>
        </p:sp>
        <p:sp>
          <p:nvSpPr>
            <p:cNvPr id="13" name="TextBox 13"/>
            <p:cNvSpPr txBox="1"/>
            <p:nvPr/>
          </p:nvSpPr>
          <p:spPr>
            <a:xfrm>
              <a:off x="905256" y="3253740"/>
              <a:ext cx="7459218" cy="92354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AI modelleri yanlış biçimlendirilmiş, eksik veya güven düzeyi</a:t>
              </a:r>
              <a:br/>
              <a:r>
                <a:rPr lang="tr-TR" sz="1800" dirty="0">
                  <a:solidFill>
                    <a:srgbClr val="172B3A"/>
                  </a:solidFill>
                  <a:latin typeface="+mn-lt"/>
                  <a:ea typeface="+mn-ea"/>
                  <a:cs typeface="+mn-cs"/>
                </a:rPr>
                <a:t>düşük çıktı üretebilir; bu çıktı sorgusuz kullanıcıya gösterilirse</a:t>
              </a:r>
              <a:br/>
              <a:r>
                <a:rPr lang="tr-TR" sz="1800" dirty="0">
                  <a:solidFill>
                    <a:srgbClr val="172B3A"/>
                  </a:solidFill>
                  <a:latin typeface="+mn-lt"/>
                  <a:ea typeface="+mn-ea"/>
                  <a:cs typeface="+mn-cs"/>
                </a:rPr>
                <a:t>yanlış bilgi (halüsinasyon) doğrudan sisteme sızar.</a:t>
              </a:r>
            </a:p>
          </p:txBody>
        </p:sp>
      </p:grpSp>
      <p:sp>
        <p:nvSpPr>
          <p:cNvPr id="15" name="Line 15"/>
          <p:cNvSpPr/>
          <p:nvPr/>
        </p:nvSpPr>
        <p:spPr>
          <a:xfrm>
            <a:off x="609600" y="4305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19" name="block-kuram"/>
          <p:cNvGrpSpPr/>
          <p:nvPr/>
        </p:nvGrpSpPr>
        <p:grpSpPr>
          <a:xfrm>
            <a:off x="609600" y="4457700"/>
            <a:ext cx="7389114" cy="1529334"/>
            <a:chOff x="609600" y="4457700"/>
            <a:chExt cx="7389114" cy="1529334"/>
          </a:xfrm>
        </p:grpSpPr>
        <p:sp>
          <p:nvSpPr>
            <p:cNvPr id="16" name="Rectangle 16"/>
            <p:cNvSpPr/>
            <p:nvPr/>
          </p:nvSpPr>
          <p:spPr>
            <a:xfrm>
              <a:off x="609600" y="4457700"/>
              <a:ext cx="57150" cy="1314450"/>
            </a:xfrm>
            <a:prstGeom prst="rect">
              <a:avLst/>
            </a:prstGeom>
            <a:solidFill>
              <a:srgbClr val="00A6A6"/>
            </a:solidFill>
            <a:ln>
              <a:noFill/>
            </a:ln>
          </p:spPr>
        </p:sp>
        <p:sp>
          <p:nvSpPr>
            <p:cNvPr id="17" name="TextBox 17"/>
            <p:cNvSpPr txBox="1"/>
            <p:nvPr/>
          </p:nvSpPr>
          <p:spPr>
            <a:xfrm>
              <a:off x="908304" y="4537710"/>
              <a:ext cx="1914083"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KURAMSAL ARKA PLAN</a:t>
              </a:r>
            </a:p>
          </p:txBody>
        </p:sp>
        <p:sp>
          <p:nvSpPr>
            <p:cNvPr id="18" name="TextBox 18"/>
            <p:cNvSpPr txBox="1"/>
            <p:nvPr/>
          </p:nvSpPr>
          <p:spPr>
            <a:xfrm>
              <a:off x="905256" y="4777740"/>
              <a:ext cx="7093458" cy="120929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Bu disiplin, güvenilirlik mühendisliğindeki savunma hattı ilkesine</a:t>
              </a:r>
              <a:br/>
              <a:r>
                <a:rPr lang="tr-TR" sz="1800" dirty="0">
                  <a:solidFill>
                    <a:srgbClr val="172B3A"/>
                  </a:solidFill>
                  <a:latin typeface="+mn-lt"/>
                  <a:ea typeface="+mn-ea"/>
                  <a:cs typeface="+mn-cs"/>
                </a:rPr>
                <a:t>dayanır: sözleşme tip uygunluğunu, doğrulama ise semantik</a:t>
              </a:r>
              <a:br/>
              <a:r>
                <a:rPr lang="tr-TR" sz="1800" dirty="0">
                  <a:solidFill>
                    <a:srgbClr val="172B3A"/>
                  </a:solidFill>
                  <a:latin typeface="+mn-lt"/>
                  <a:ea typeface="+mn-ea"/>
                  <a:cs typeface="+mn-cs"/>
                </a:rPr>
                <a:t>makullüğü denetler; gözlemleme katmanı ise zamanla oluşan</a:t>
              </a:r>
              <a:br/>
              <a:r>
                <a:rPr lang="tr-TR" sz="1800" dirty="0">
                  <a:solidFill>
                    <a:srgbClr val="172B3A"/>
                  </a:solidFill>
                  <a:latin typeface="+mn-lt"/>
                  <a:ea typeface="+mn-ea"/>
                  <a:cs typeface="+mn-cs"/>
                </a:rPr>
                <a:t>model kaymasını (model drift) erken fark etmeyi sağlar.</a:t>
              </a:r>
            </a:p>
          </p:txBody>
        </p:sp>
      </p:grpSp>
      <p:sp>
        <p:nvSpPr>
          <p:cNvPr id="20" name="TextBox 2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000779" cy="668845"/>
            <a:chOff x="609600" y="171450"/>
            <a:chExt cx="10000779"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31040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17.4: güven skoruna göre kabul/red kararı</a:t>
              </a:r>
            </a:p>
          </p:txBody>
        </p:sp>
      </p:grpSp>
      <p:grpSp>
        <p:nvGrpSpPr>
          <p:cNvPr id="27" name="code-panel"/>
          <p:cNvGrpSpPr/>
          <p:nvPr/>
        </p:nvGrpSpPr>
        <p:grpSpPr>
          <a:xfrm>
            <a:off x="609600" y="1162050"/>
            <a:ext cx="10972800" cy="4061651"/>
            <a:chOff x="609600" y="1162050"/>
            <a:chExt cx="10972800" cy="4061651"/>
          </a:xfrm>
        </p:grpSpPr>
        <p:sp>
          <p:nvSpPr>
            <p:cNvPr id="12" name="Rectangle 12"/>
            <p:cNvSpPr/>
            <p:nvPr/>
          </p:nvSpPr>
          <p:spPr>
            <a:xfrm>
              <a:off x="609600" y="1162050"/>
              <a:ext cx="10972800" cy="4000500"/>
            </a:xfrm>
            <a:prstGeom prst="roundRect">
              <a:avLst>
                <a:gd name="adj" fmla="val 2381"/>
              </a:avLst>
            </a:prstGeom>
            <a:solidFill>
              <a:srgbClr val="0B2036"/>
            </a:solidFill>
            <a:ln>
              <a:noFill/>
            </a:ln>
          </p:spPr>
        </p:sp>
        <p:sp>
          <p:nvSpPr>
            <p:cNvPr id="13" name="Rectangle 13"/>
            <p:cNvSpPr/>
            <p:nvPr/>
          </p:nvSpPr>
          <p:spPr>
            <a:xfrm>
              <a:off x="609600" y="1162050"/>
              <a:ext cx="57150" cy="4000500"/>
            </a:xfrm>
            <a:prstGeom prst="rect">
              <a:avLst/>
            </a:prstGeom>
            <a:solidFill>
              <a:srgbClr val="00A6A6"/>
            </a:solidFill>
            <a:ln>
              <a:noFill/>
            </a:ln>
          </p:spPr>
        </p:sp>
        <p:sp>
          <p:nvSpPr>
            <p:cNvPr id="14" name="TextBox 14"/>
            <p:cNvSpPr txBox="1"/>
            <p:nvPr/>
          </p:nvSpPr>
          <p:spPr>
            <a:xfrm>
              <a:off x="907542" y="1302068"/>
              <a:ext cx="4928330"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Consolas"/>
                  <a:ea typeface="Consolas"/>
                  <a:cs typeface="Consolas"/>
                </a:rPr>
                <a:t>// Güven skoruna göre kabul/red kararı (Kod 17.4)</a:t>
              </a:r>
            </a:p>
          </p:txBody>
        </p:sp>
        <p:sp>
          <p:nvSpPr>
            <p:cNvPr id="15" name="TextBox 15"/>
            <p:cNvSpPr txBox="1"/>
            <p:nvPr/>
          </p:nvSpPr>
          <p:spPr>
            <a:xfrm>
              <a:off x="907542" y="1606868"/>
              <a:ext cx="3460054"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CONFIDENCE_THRESHOLD = 0.6;</a:t>
              </a:r>
            </a:p>
          </p:txBody>
        </p:sp>
        <p:sp>
          <p:nvSpPr>
            <p:cNvPr id="16" name="TextBox 16"/>
            <p:cNvSpPr txBox="1"/>
            <p:nvPr/>
          </p:nvSpPr>
          <p:spPr>
            <a:xfrm>
              <a:off x="907542" y="1911668"/>
              <a:ext cx="341883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function evaluateSummary(result) {</a:t>
              </a:r>
            </a:p>
          </p:txBody>
        </p:sp>
        <p:sp>
          <p:nvSpPr>
            <p:cNvPr id="17" name="TextBox 17"/>
            <p:cNvSpPr txBox="1"/>
            <p:nvPr/>
          </p:nvSpPr>
          <p:spPr>
            <a:xfrm>
              <a:off x="1212342" y="2216468"/>
              <a:ext cx="3327179"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if (!isSummaryResponse(result)) {</a:t>
              </a:r>
            </a:p>
          </p:txBody>
        </p:sp>
        <p:sp>
          <p:nvSpPr>
            <p:cNvPr id="18" name="TextBox 18"/>
            <p:cNvSpPr txBox="1"/>
            <p:nvPr/>
          </p:nvSpPr>
          <p:spPr>
            <a:xfrm>
              <a:off x="1517142" y="2521268"/>
              <a:ext cx="3812019"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metrics.increment('ai.invalid_shape');</a:t>
              </a:r>
            </a:p>
          </p:txBody>
        </p:sp>
        <p:sp>
          <p:nvSpPr>
            <p:cNvPr id="19" name="TextBox 19"/>
            <p:cNvSpPr txBox="1"/>
            <p:nvPr/>
          </p:nvSpPr>
          <p:spPr>
            <a:xfrm>
              <a:off x="1517142" y="2826068"/>
              <a:ext cx="531135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 accepted: false, reason: 'geçersiz biçim' };</a:t>
              </a:r>
            </a:p>
          </p:txBody>
        </p:sp>
        <p:sp>
          <p:nvSpPr>
            <p:cNvPr id="20" name="TextBox 20"/>
            <p:cNvSpPr txBox="1"/>
            <p:nvPr/>
          </p:nvSpPr>
          <p:spPr>
            <a:xfrm>
              <a:off x="1212342" y="313086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a:t>
              </a:r>
            </a:p>
          </p:txBody>
        </p:sp>
        <p:sp>
          <p:nvSpPr>
            <p:cNvPr id="21" name="TextBox 21"/>
            <p:cNvSpPr txBox="1"/>
            <p:nvPr/>
          </p:nvSpPr>
          <p:spPr>
            <a:xfrm>
              <a:off x="1212342" y="3435668"/>
              <a:ext cx="4848170"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if (result.confidence &lt; CONFIDENCE_THRESHOLD) {</a:t>
              </a:r>
            </a:p>
          </p:txBody>
        </p:sp>
        <p:sp>
          <p:nvSpPr>
            <p:cNvPr id="22" name="TextBox 22"/>
            <p:cNvSpPr txBox="1"/>
            <p:nvPr/>
          </p:nvSpPr>
          <p:spPr>
            <a:xfrm>
              <a:off x="1517142" y="3740468"/>
              <a:ext cx="391197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metrics.increment('ai.low_confidence');</a:t>
              </a:r>
            </a:p>
          </p:txBody>
        </p:sp>
        <p:sp>
          <p:nvSpPr>
            <p:cNvPr id="23" name="TextBox 23"/>
            <p:cNvSpPr txBox="1"/>
            <p:nvPr/>
          </p:nvSpPr>
          <p:spPr>
            <a:xfrm>
              <a:off x="1517142" y="4045268"/>
              <a:ext cx="561121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 accepted: false, reason: 'düşük güven skoru' };</a:t>
              </a:r>
            </a:p>
          </p:txBody>
        </p:sp>
        <p:sp>
          <p:nvSpPr>
            <p:cNvPr id="24" name="TextBox 24"/>
            <p:cNvSpPr txBox="1"/>
            <p:nvPr/>
          </p:nvSpPr>
          <p:spPr>
            <a:xfrm>
              <a:off x="1212342" y="4350068"/>
              <a:ext cx="113671"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a:t>
              </a:r>
            </a:p>
          </p:txBody>
        </p:sp>
        <p:sp>
          <p:nvSpPr>
            <p:cNvPr id="25" name="TextBox 25"/>
            <p:cNvSpPr txBox="1"/>
            <p:nvPr/>
          </p:nvSpPr>
          <p:spPr>
            <a:xfrm>
              <a:off x="1212342" y="4654868"/>
              <a:ext cx="5111439"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 accepted: true, summary: result.summary };</a:t>
              </a:r>
            </a:p>
          </p:txBody>
        </p:sp>
        <p:sp>
          <p:nvSpPr>
            <p:cNvPr id="26" name="TextBox 26"/>
            <p:cNvSpPr txBox="1"/>
            <p:nvPr/>
          </p:nvSpPr>
          <p:spPr>
            <a:xfrm>
              <a:off x="907542" y="495966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grpSp>
      <p:grpSp>
        <p:nvGrpSpPr>
          <p:cNvPr id="32" name="callout-dikkat"/>
          <p:cNvGrpSpPr/>
          <p:nvPr/>
        </p:nvGrpSpPr>
        <p:grpSpPr>
          <a:xfrm>
            <a:off x="609600" y="5334000"/>
            <a:ext cx="10972800" cy="867823"/>
            <a:chOff x="609600" y="5334000"/>
            <a:chExt cx="10972800" cy="867823"/>
          </a:xfrm>
        </p:grpSpPr>
        <p:sp>
          <p:nvSpPr>
            <p:cNvPr id="28" name="Rectangle 28"/>
            <p:cNvSpPr/>
            <p:nvPr/>
          </p:nvSpPr>
          <p:spPr>
            <a:xfrm>
              <a:off x="609600" y="5334000"/>
              <a:ext cx="10972800" cy="800100"/>
            </a:xfrm>
            <a:prstGeom prst="roundRect">
              <a:avLst>
                <a:gd name="adj" fmla="val 9524"/>
              </a:avLst>
            </a:prstGeom>
            <a:solidFill>
              <a:srgbClr val="EAF4F6"/>
            </a:solidFill>
            <a:ln>
              <a:noFill/>
            </a:ln>
          </p:spPr>
        </p:sp>
        <p:sp>
          <p:nvSpPr>
            <p:cNvPr id="29" name="Rectangle 29"/>
            <p:cNvSpPr/>
            <p:nvPr/>
          </p:nvSpPr>
          <p:spPr>
            <a:xfrm>
              <a:off x="609600" y="5334000"/>
              <a:ext cx="57150" cy="800100"/>
            </a:xfrm>
            <a:prstGeom prst="rect">
              <a:avLst/>
            </a:prstGeom>
            <a:solidFill>
              <a:srgbClr val="00A6A6"/>
            </a:solidFill>
            <a:ln>
              <a:noFill/>
            </a:ln>
          </p:spPr>
        </p:sp>
        <p:sp>
          <p:nvSpPr>
            <p:cNvPr id="30" name="TextBox 30"/>
            <p:cNvSpPr txBox="1"/>
            <p:nvPr/>
          </p:nvSpPr>
          <p:spPr>
            <a:xfrm>
              <a:off x="908304" y="5471160"/>
              <a:ext cx="1222797"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KRİTİK SATIR</a:t>
              </a:r>
            </a:p>
          </p:txBody>
        </p:sp>
        <p:sp>
          <p:nvSpPr>
            <p:cNvPr id="31" name="TextBox 31"/>
            <p:cNvSpPr txBox="1"/>
            <p:nvPr/>
          </p:nvSpPr>
          <p:spPr>
            <a:xfrm>
              <a:off x="907161" y="5694521"/>
              <a:ext cx="6533769"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2355B"/>
                  </a:solidFill>
                  <a:latin typeface="+mn-lt"/>
                  <a:ea typeface="+mn-ea"/>
                  <a:cs typeface="+mn-cs"/>
                </a:rPr>
                <a:t>metrics.increment çağrıları, güven skorlarındaki düşüşü zamanla izleyen</a:t>
              </a:r>
              <a:br/>
              <a:r>
                <a:rPr lang="tr-TR" sz="1420" dirty="0">
                  <a:solidFill>
                    <a:srgbClr val="12355B"/>
                  </a:solidFill>
                  <a:latin typeface="+mn-lt"/>
                  <a:ea typeface="+mn-ea"/>
                  <a:cs typeface="+mn-cs"/>
                </a:rPr>
                <a:t>gözlemleme (observability) katmanını oluşturur.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029847" cy="668845"/>
            <a:chOff x="609600" y="171450"/>
            <a:chExt cx="602984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33947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alıştırması</a:t>
              </a:r>
            </a:p>
          </p:txBody>
        </p:sp>
      </p:grpSp>
      <p:grpSp>
        <p:nvGrpSpPr>
          <p:cNvPr id="20" name="code-panel"/>
          <p:cNvGrpSpPr/>
          <p:nvPr/>
        </p:nvGrpSpPr>
        <p:grpSpPr>
          <a:xfrm>
            <a:off x="609600" y="1123950"/>
            <a:ext cx="10972800" cy="1928051"/>
            <a:chOff x="609600" y="1123950"/>
            <a:chExt cx="10972800" cy="1928051"/>
          </a:xfrm>
        </p:grpSpPr>
        <p:sp>
          <p:nvSpPr>
            <p:cNvPr id="12" name="Rectangle 12"/>
            <p:cNvSpPr/>
            <p:nvPr/>
          </p:nvSpPr>
          <p:spPr>
            <a:xfrm>
              <a:off x="609600" y="1123950"/>
              <a:ext cx="10972800" cy="1924050"/>
            </a:xfrm>
            <a:prstGeom prst="roundRect">
              <a:avLst>
                <a:gd name="adj" fmla="val 4950"/>
              </a:avLst>
            </a:prstGeom>
            <a:solidFill>
              <a:srgbClr val="0B2036"/>
            </a:solidFill>
            <a:ln>
              <a:noFill/>
            </a:ln>
          </p:spPr>
        </p:sp>
        <p:sp>
          <p:nvSpPr>
            <p:cNvPr id="13" name="Rectangle 13"/>
            <p:cNvSpPr/>
            <p:nvPr/>
          </p:nvSpPr>
          <p:spPr>
            <a:xfrm>
              <a:off x="609600" y="1123950"/>
              <a:ext cx="57150" cy="1924050"/>
            </a:xfrm>
            <a:prstGeom prst="rect">
              <a:avLst/>
            </a:prstGeom>
            <a:solidFill>
              <a:srgbClr val="00A6A6"/>
            </a:solidFill>
            <a:ln>
              <a:noFill/>
            </a:ln>
          </p:spPr>
        </p:sp>
        <p:sp>
          <p:nvSpPr>
            <p:cNvPr id="14" name="TextBox 14"/>
            <p:cNvSpPr txBox="1"/>
            <p:nvPr/>
          </p:nvSpPr>
          <p:spPr>
            <a:xfrm>
              <a:off x="907542" y="1263968"/>
              <a:ext cx="2632615"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Consolas"/>
                  <a:ea typeface="Consolas"/>
                  <a:cs typeface="Consolas"/>
                </a:rPr>
                <a:t>// HataliAiEntegrasyonu.ts</a:t>
              </a:r>
            </a:p>
          </p:txBody>
        </p:sp>
        <p:sp>
          <p:nvSpPr>
            <p:cNvPr id="15" name="TextBox 15"/>
            <p:cNvSpPr txBox="1"/>
            <p:nvPr/>
          </p:nvSpPr>
          <p:spPr>
            <a:xfrm>
              <a:off x="907542" y="1568768"/>
              <a:ext cx="564923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async function hataliOzetGetirVeGoster(servisTabanUrl) {</a:t>
              </a:r>
            </a:p>
          </p:txBody>
        </p:sp>
        <p:sp>
          <p:nvSpPr>
            <p:cNvPr id="16" name="TextBox 16"/>
            <p:cNvSpPr txBox="1"/>
            <p:nvPr/>
          </p:nvSpPr>
          <p:spPr>
            <a:xfrm>
              <a:off x="1212342" y="1873568"/>
              <a:ext cx="542658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yanit = await fetch(`${servisTabanUrl}/ozetle`);</a:t>
              </a:r>
            </a:p>
          </p:txBody>
        </p:sp>
        <p:sp>
          <p:nvSpPr>
            <p:cNvPr id="17" name="TextBox 17"/>
            <p:cNvSpPr txBox="1"/>
            <p:nvPr/>
          </p:nvSpPr>
          <p:spPr>
            <a:xfrm>
              <a:off x="1212342" y="2178368"/>
              <a:ext cx="482709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veri = (await yanit.json()) as OzetYaniti;</a:t>
              </a:r>
            </a:p>
          </p:txBody>
        </p:sp>
        <p:sp>
          <p:nvSpPr>
            <p:cNvPr id="18" name="TextBox 18"/>
            <p:cNvSpPr txBox="1"/>
            <p:nvPr/>
          </p:nvSpPr>
          <p:spPr>
            <a:xfrm>
              <a:off x="1212342" y="2483168"/>
              <a:ext cx="171295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veri.ozet;</a:t>
              </a:r>
            </a:p>
          </p:txBody>
        </p:sp>
        <p:sp>
          <p:nvSpPr>
            <p:cNvPr id="19" name="TextBox 19"/>
            <p:cNvSpPr txBox="1"/>
            <p:nvPr/>
          </p:nvSpPr>
          <p:spPr>
            <a:xfrm>
              <a:off x="907542" y="278796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grpSp>
      <p:grpSp>
        <p:nvGrpSpPr>
          <p:cNvPr id="24" name="bug-card-1"/>
          <p:cNvGrpSpPr/>
          <p:nvPr/>
        </p:nvGrpSpPr>
        <p:grpSpPr>
          <a:xfrm>
            <a:off x="609600" y="3200400"/>
            <a:ext cx="5334000" cy="1714500"/>
            <a:chOff x="609600" y="3200400"/>
            <a:chExt cx="5334000" cy="1714500"/>
          </a:xfrm>
        </p:grpSpPr>
        <p:sp>
          <p:nvSpPr>
            <p:cNvPr id="21" name="Rectangle 21"/>
            <p:cNvSpPr/>
            <p:nvPr/>
          </p:nvSpPr>
          <p:spPr>
            <a:xfrm>
              <a:off x="609600" y="3200400"/>
              <a:ext cx="5334000" cy="1714500"/>
            </a:xfrm>
            <a:prstGeom prst="roundRect">
              <a:avLst>
                <a:gd name="adj" fmla="val 5556"/>
              </a:avLst>
            </a:prstGeom>
            <a:solidFill>
              <a:srgbClr val="FFFFFF"/>
            </a:solidFill>
            <a:ln w="14288">
              <a:solidFill>
                <a:srgbClr val="00A6A6"/>
              </a:solidFill>
            </a:ln>
          </p:spPr>
        </p:sp>
        <p:sp>
          <p:nvSpPr>
            <p:cNvPr id="22" name="TextBox 22"/>
            <p:cNvSpPr txBox="1"/>
            <p:nvPr/>
          </p:nvSpPr>
          <p:spPr>
            <a:xfrm>
              <a:off x="832104" y="3375660"/>
              <a:ext cx="2417186"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HATA 1 · ZAMAN AŞIMI YOK</a:t>
              </a:r>
            </a:p>
          </p:txBody>
        </p:sp>
        <p:sp>
          <p:nvSpPr>
            <p:cNvPr id="23" name="TextBox 23"/>
            <p:cNvSpPr txBox="1"/>
            <p:nvPr/>
          </p:nvSpPr>
          <p:spPr>
            <a:xfrm>
              <a:off x="832104" y="3661410"/>
              <a:ext cx="27858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fetch çağrısı AbortController</a:t>
              </a:r>
              <a:br/>
              <a:r>
                <a:rPr lang="tr-TR" sz="1200" dirty="0">
                  <a:solidFill>
                    <a:srgbClr val="172B3A"/>
                  </a:solidFill>
                  <a:latin typeface="+mn-lt"/>
                  <a:ea typeface="+mn-ea"/>
                  <a:cs typeface="+mn-cs"/>
                </a:rPr>
                <a:t>olmadan yapılır; AI servisi yanıt</a:t>
              </a:r>
              <a:br/>
              <a:r>
                <a:rPr lang="tr-TR" sz="1200" dirty="0">
                  <a:solidFill>
                    <a:srgbClr val="172B3A"/>
                  </a:solidFill>
                  <a:latin typeface="+mn-lt"/>
                  <a:ea typeface="+mn-ea"/>
                  <a:cs typeface="+mn-cs"/>
                </a:rPr>
                <a:t>vermezse istek süresiz beklemede</a:t>
              </a:r>
              <a:br/>
              <a:r>
                <a:rPr lang="tr-TR" sz="1200" dirty="0">
                  <a:solidFill>
                    <a:srgbClr val="172B3A"/>
                  </a:solidFill>
                  <a:latin typeface="+mn-lt"/>
                  <a:ea typeface="+mn-ea"/>
                  <a:cs typeface="+mn-cs"/>
                </a:rPr>
                <a:t>kalır ve istek işleyicisi askıda kalır.</a:t>
              </a:r>
            </a:p>
          </p:txBody>
        </p:sp>
      </p:grpSp>
      <p:grpSp>
        <p:nvGrpSpPr>
          <p:cNvPr id="28" name="bug-card-2"/>
          <p:cNvGrpSpPr/>
          <p:nvPr/>
        </p:nvGrpSpPr>
        <p:grpSpPr>
          <a:xfrm>
            <a:off x="6248400" y="3200400"/>
            <a:ext cx="5334000" cy="1714500"/>
            <a:chOff x="6248400" y="3200400"/>
            <a:chExt cx="5334000" cy="1714500"/>
          </a:xfrm>
        </p:grpSpPr>
        <p:sp>
          <p:nvSpPr>
            <p:cNvPr id="25" name="Rectangle 25"/>
            <p:cNvSpPr/>
            <p:nvPr/>
          </p:nvSpPr>
          <p:spPr>
            <a:xfrm>
              <a:off x="6248400" y="3200400"/>
              <a:ext cx="5334000" cy="1714500"/>
            </a:xfrm>
            <a:prstGeom prst="roundRect">
              <a:avLst>
                <a:gd name="adj" fmla="val 5556"/>
              </a:avLst>
            </a:prstGeom>
            <a:solidFill>
              <a:srgbClr val="FFFFFF"/>
            </a:solidFill>
            <a:ln w="14288">
              <a:solidFill>
                <a:srgbClr val="00A6A6"/>
              </a:solidFill>
            </a:ln>
          </p:spPr>
        </p:sp>
        <p:sp>
          <p:nvSpPr>
            <p:cNvPr id="26" name="TextBox 26"/>
            <p:cNvSpPr txBox="1"/>
            <p:nvPr/>
          </p:nvSpPr>
          <p:spPr>
            <a:xfrm>
              <a:off x="6470904" y="3375660"/>
              <a:ext cx="2854147"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HATA 2 · ÇIKTI DOĞRULANMIYOR</a:t>
              </a:r>
            </a:p>
          </p:txBody>
        </p:sp>
        <p:sp>
          <p:nvSpPr>
            <p:cNvPr id="27" name="TextBox 27"/>
            <p:cNvSpPr txBox="1"/>
            <p:nvPr/>
          </p:nvSpPr>
          <p:spPr>
            <a:xfrm>
              <a:off x="6470904" y="3661410"/>
              <a:ext cx="25039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veri.ozet hiç kontrol edilmeden</a:t>
              </a:r>
              <a:br/>
              <a:r>
                <a:rPr lang="tr-TR" sz="1200" dirty="0">
                  <a:solidFill>
                    <a:srgbClr val="172B3A"/>
                  </a:solidFill>
                  <a:latin typeface="+mn-lt"/>
                  <a:ea typeface="+mn-ea"/>
                  <a:cs typeface="+mn-cs"/>
                </a:rPr>
                <a:t>döndürülür; boş, çok kısa veya</a:t>
              </a:r>
              <a:br/>
              <a:r>
                <a:rPr lang="tr-TR" sz="1200" dirty="0">
                  <a:solidFill>
                    <a:srgbClr val="172B3A"/>
                  </a:solidFill>
                  <a:latin typeface="+mn-lt"/>
                  <a:ea typeface="+mn-ea"/>
                  <a:cs typeface="+mn-cs"/>
                </a:rPr>
                <a:t>halüsinasyonlu bir metin doğrudan</a:t>
              </a:r>
              <a:br/>
              <a:r>
                <a:rPr lang="tr-TR" sz="1200" dirty="0">
                  <a:solidFill>
                    <a:srgbClr val="172B3A"/>
                  </a:solidFill>
                  <a:latin typeface="+mn-lt"/>
                  <a:ea typeface="+mn-ea"/>
                  <a:cs typeface="+mn-cs"/>
                </a:rPr>
                <a:t>kullanıcıya ulaşabilir.</a:t>
              </a:r>
            </a:p>
          </p:txBody>
        </p:sp>
      </p:grpSp>
      <p:grpSp>
        <p:nvGrpSpPr>
          <p:cNvPr id="33" name="expected-outcome"/>
          <p:cNvGrpSpPr/>
          <p:nvPr/>
        </p:nvGrpSpPr>
        <p:grpSpPr>
          <a:xfrm>
            <a:off x="609600" y="5086350"/>
            <a:ext cx="10972800" cy="905923"/>
            <a:chOff x="609600" y="5086350"/>
            <a:chExt cx="10972800" cy="905923"/>
          </a:xfrm>
        </p:grpSpPr>
        <p:sp>
          <p:nvSpPr>
            <p:cNvPr id="29" name="Rectangle 29"/>
            <p:cNvSpPr/>
            <p:nvPr/>
          </p:nvSpPr>
          <p:spPr>
            <a:xfrm>
              <a:off x="609600" y="5086350"/>
              <a:ext cx="10972800" cy="857250"/>
            </a:xfrm>
            <a:prstGeom prst="roundRect">
              <a:avLst>
                <a:gd name="adj" fmla="val 8889"/>
              </a:avLst>
            </a:prstGeom>
            <a:solidFill>
              <a:srgbClr val="EAF4F6"/>
            </a:solidFill>
            <a:ln>
              <a:noFill/>
            </a:ln>
          </p:spPr>
        </p:sp>
        <p:sp>
          <p:nvSpPr>
            <p:cNvPr id="30" name="Rectangle 30"/>
            <p:cNvSpPr/>
            <p:nvPr/>
          </p:nvSpPr>
          <p:spPr>
            <a:xfrm>
              <a:off x="609600" y="5086350"/>
              <a:ext cx="57150" cy="857250"/>
            </a:xfrm>
            <a:prstGeom prst="rect">
              <a:avLst/>
            </a:prstGeom>
            <a:solidFill>
              <a:srgbClr val="00A6A6"/>
            </a:solidFill>
            <a:ln>
              <a:noFill/>
            </a:ln>
          </p:spPr>
        </p:sp>
        <p:sp>
          <p:nvSpPr>
            <p:cNvPr id="31" name="TextBox 31"/>
            <p:cNvSpPr txBox="1"/>
            <p:nvPr/>
          </p:nvSpPr>
          <p:spPr>
            <a:xfrm>
              <a:off x="908304" y="5242560"/>
              <a:ext cx="1396472"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BEKLENEN ÇIKTI</a:t>
              </a:r>
            </a:p>
          </p:txBody>
        </p:sp>
        <p:sp>
          <p:nvSpPr>
            <p:cNvPr id="32" name="TextBox 32"/>
            <p:cNvSpPr txBox="1"/>
            <p:nvPr/>
          </p:nvSpPr>
          <p:spPr>
            <a:xfrm>
              <a:off x="907161" y="5484971"/>
              <a:ext cx="6326378"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2355B"/>
                  </a:solidFill>
                  <a:latin typeface="+mn-lt"/>
                  <a:ea typeface="+mn-ea"/>
                  <a:cs typeface="+mn-cs"/>
                </a:rPr>
                <a:t>İstek belirli bir sürede yanıt gelmezse iptal edilmeli; boş veya anlamsız</a:t>
              </a:r>
              <a:br/>
              <a:r>
                <a:rPr lang="tr-TR" sz="1420" dirty="0">
                  <a:solidFill>
                    <a:srgbClr val="12355B"/>
                  </a:solidFill>
                  <a:latin typeface="+mn-lt"/>
                  <a:ea typeface="+mn-ea"/>
                  <a:cs typeface="+mn-cs"/>
                </a:rPr>
                <a:t>bir özet kullanıcıya asla doğrudan gösterilmemelidir.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736101" cy="668845"/>
            <a:chOff x="609600" y="171450"/>
            <a:chExt cx="973610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904572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İzleme tablosu: hatalı ve düzeltilmiş yürütme</a:t>
              </a:r>
            </a:p>
          </p:txBody>
        </p:sp>
      </p:grpSp>
      <p:grpSp>
        <p:nvGrpSpPr>
          <p:cNvPr id="17" name="trace-header"/>
          <p:cNvGrpSpPr/>
          <p:nvPr/>
        </p:nvGrpSpPr>
        <p:grpSpPr>
          <a:xfrm>
            <a:off x="609600" y="1219200"/>
            <a:ext cx="10972800" cy="342900"/>
            <a:chOff x="609600" y="1219200"/>
            <a:chExt cx="10972800" cy="342900"/>
          </a:xfrm>
        </p:grpSpPr>
        <p:sp>
          <p:nvSpPr>
            <p:cNvPr id="12" name="Rectangle 12"/>
            <p:cNvSpPr/>
            <p:nvPr/>
          </p:nvSpPr>
          <p:spPr>
            <a:xfrm>
              <a:off x="609600" y="1219200"/>
              <a:ext cx="10972800" cy="342900"/>
            </a:xfrm>
            <a:prstGeom prst="rect">
              <a:avLst/>
            </a:prstGeom>
            <a:solidFill>
              <a:srgbClr val="12355B"/>
            </a:solidFill>
            <a:ln>
              <a:noFill/>
            </a:ln>
          </p:spPr>
        </p:sp>
        <p:sp>
          <p:nvSpPr>
            <p:cNvPr id="13" name="TextBox 13"/>
            <p:cNvSpPr txBox="1"/>
            <p:nvPr/>
          </p:nvSpPr>
          <p:spPr>
            <a:xfrm>
              <a:off x="756666" y="1324928"/>
              <a:ext cx="70979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SENARYO</a:t>
              </a:r>
            </a:p>
          </p:txBody>
        </p:sp>
        <p:sp>
          <p:nvSpPr>
            <p:cNvPr id="14" name="TextBox 14"/>
            <p:cNvSpPr txBox="1"/>
            <p:nvPr/>
          </p:nvSpPr>
          <p:spPr>
            <a:xfrm>
              <a:off x="3137916" y="1324928"/>
              <a:ext cx="1451595"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AI SERVİSİ YANITI</a:t>
              </a:r>
            </a:p>
          </p:txBody>
        </p:sp>
        <p:sp>
          <p:nvSpPr>
            <p:cNvPr id="15" name="TextBox 15"/>
            <p:cNvSpPr txBox="1"/>
            <p:nvPr/>
          </p:nvSpPr>
          <p:spPr>
            <a:xfrm>
              <a:off x="5614416" y="1324928"/>
              <a:ext cx="1716001"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HATALI SONUÇ / RİSK</a:t>
              </a:r>
            </a:p>
          </p:txBody>
        </p:sp>
        <p:sp>
          <p:nvSpPr>
            <p:cNvPr id="16" name="TextBox 16"/>
            <p:cNvSpPr txBox="1"/>
            <p:nvPr/>
          </p:nvSpPr>
          <p:spPr>
            <a:xfrm>
              <a:off x="8471916" y="1324928"/>
              <a:ext cx="2336719" cy="205359"/>
            </a:xfrm>
            <a:prstGeom prst="rect">
              <a:avLst/>
            </a:prstGeom>
            <a:noFill/>
            <a:ln>
              <a:noFill/>
            </a:ln>
          </p:spPr>
          <p:txBody>
            <a:bodyPr wrap="none" lIns="0" tIns="0" rIns="0" bIns="0" anchor="t" anchorCtr="0">
              <a:spAutoFit/>
            </a:bodyPr>
            <a:lstStyle/>
            <a:p>
              <a:pPr algn="l"/>
              <a:r>
                <a:rPr lang="tr-TR" sz="1050" b="1" spc="75" dirty="0">
                  <a:solidFill>
                    <a:srgbClr val="FFFFFF"/>
                  </a:solidFill>
                  <a:latin typeface="+mn-lt"/>
                  <a:ea typeface="+mn-ea"/>
                  <a:cs typeface="+mn-cs"/>
                </a:rPr>
                <a:t>DÜZELTİLMİŞ GÜVENLİ YANIT</a:t>
              </a:r>
            </a:p>
          </p:txBody>
        </p:sp>
      </p:grpSp>
      <p:grpSp>
        <p:nvGrpSpPr>
          <p:cNvPr id="23" name="trace-row1"/>
          <p:cNvGrpSpPr/>
          <p:nvPr/>
        </p:nvGrpSpPr>
        <p:grpSpPr>
          <a:xfrm>
            <a:off x="609600" y="1699260"/>
            <a:ext cx="10972800" cy="901065"/>
            <a:chOff x="609600" y="1699260"/>
            <a:chExt cx="10972800" cy="901065"/>
          </a:xfrm>
        </p:grpSpPr>
        <p:sp>
          <p:nvSpPr>
            <p:cNvPr id="18" name="TextBox 18"/>
            <p:cNvSpPr txBox="1"/>
            <p:nvPr/>
          </p:nvSpPr>
          <p:spPr>
            <a:xfrm>
              <a:off x="755904" y="1699260"/>
              <a:ext cx="1164336"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1. GPU kuyruğu</a:t>
              </a:r>
              <a:br/>
              <a:r>
                <a:rPr lang="tr-TR" sz="1200" b="1" dirty="0">
                  <a:solidFill>
                    <a:srgbClr val="12355B"/>
                  </a:solidFill>
                  <a:latin typeface="+mn-lt"/>
                  <a:ea typeface="+mn-ea"/>
                  <a:cs typeface="+mn-cs"/>
                </a:rPr>
                <a:t>kilitli</a:t>
              </a:r>
            </a:p>
          </p:txBody>
        </p:sp>
        <p:sp>
          <p:nvSpPr>
            <p:cNvPr id="19" name="TextBox 19"/>
            <p:cNvSpPr txBox="1"/>
            <p:nvPr/>
          </p:nvSpPr>
          <p:spPr>
            <a:xfrm>
              <a:off x="3137535" y="1707356"/>
              <a:ext cx="921766"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Yanıt yok</a:t>
              </a:r>
              <a:br/>
              <a:r>
                <a:rPr lang="tr-TR" sz="1120" dirty="0">
                  <a:solidFill>
                    <a:srgbClr val="172B3A"/>
                  </a:solidFill>
                  <a:latin typeface="+mn-lt"/>
                  <a:ea typeface="+mn-ea"/>
                  <a:cs typeface="+mn-cs"/>
                </a:rPr>
                <a:t>(asılı kalır)</a:t>
              </a:r>
            </a:p>
          </p:txBody>
        </p:sp>
        <p:sp>
          <p:nvSpPr>
            <p:cNvPr id="20" name="TextBox 20"/>
            <p:cNvSpPr txBox="1"/>
            <p:nvPr/>
          </p:nvSpPr>
          <p:spPr>
            <a:xfrm>
              <a:off x="5614035" y="1707356"/>
              <a:ext cx="164007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Soket havuzu kilitlenir,</a:t>
              </a:r>
              <a:br/>
              <a:r>
                <a:rPr lang="tr-TR" sz="1120" dirty="0">
                  <a:solidFill>
                    <a:srgbClr val="172B3A"/>
                  </a:solidFill>
                  <a:latin typeface="+mn-lt"/>
                  <a:ea typeface="+mn-ea"/>
                  <a:cs typeface="+mn-cs"/>
                </a:rPr>
                <a:t>istemci HTTP 504 alır.</a:t>
              </a:r>
            </a:p>
          </p:txBody>
        </p:sp>
        <p:sp>
          <p:nvSpPr>
            <p:cNvPr id="21" name="TextBox 21"/>
            <p:cNvSpPr txBox="1"/>
            <p:nvPr/>
          </p:nvSpPr>
          <p:spPr>
            <a:xfrm>
              <a:off x="8471535" y="1707356"/>
              <a:ext cx="2301494"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Consolas"/>
                  <a:ea typeface="Consolas"/>
                  <a:cs typeface="Consolas"/>
                </a:rPr>
                <a:t>AbortController(3000ms)</a:t>
              </a:r>
              <a:r>
                <a:rPr lang="tr-TR" sz="1120" dirty="0">
                  <a:solidFill>
                    <a:srgbClr val="172B3A"/>
                  </a:solidFill>
                  <a:latin typeface="+mn-lt"/>
                  <a:ea typeface="+mn-ea"/>
                  <a:cs typeface="+mn-cs"/>
                </a:rPr>
                <a:t xml:space="preserve"> →</a:t>
              </a:r>
              <a:br/>
              <a:r>
                <a:rPr lang="tr-TR" sz="1120" dirty="0">
                  <a:solidFill>
                    <a:srgbClr val="172B3A"/>
                  </a:solidFill>
                  <a:latin typeface="+mn-lt"/>
                  <a:ea typeface="+mn-ea"/>
                  <a:cs typeface="+mn-cs"/>
                </a:rPr>
                <a:t>"Özet geçici olarak üretilemiyor"</a:t>
              </a:r>
            </a:p>
          </p:txBody>
        </p:sp>
        <p:sp>
          <p:nvSpPr>
            <p:cNvPr id="22" name="Line 22"/>
            <p:cNvSpPr/>
            <p:nvPr/>
          </p:nvSpPr>
          <p:spPr>
            <a:xfrm>
              <a:off x="609600" y="2590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0" name="trace-row2"/>
          <p:cNvGrpSpPr/>
          <p:nvPr/>
        </p:nvGrpSpPr>
        <p:grpSpPr>
          <a:xfrm>
            <a:off x="609600" y="2590800"/>
            <a:ext cx="10972800" cy="1038225"/>
            <a:chOff x="609600" y="2590800"/>
            <a:chExt cx="10972800" cy="1038225"/>
          </a:xfrm>
        </p:grpSpPr>
        <p:sp>
          <p:nvSpPr>
            <p:cNvPr id="24" name="Rectangle 24"/>
            <p:cNvSpPr/>
            <p:nvPr/>
          </p:nvSpPr>
          <p:spPr>
            <a:xfrm>
              <a:off x="609600" y="2590800"/>
              <a:ext cx="10972800" cy="1028700"/>
            </a:xfrm>
            <a:prstGeom prst="rect">
              <a:avLst/>
            </a:prstGeom>
            <a:solidFill>
              <a:srgbClr val="EAF4F6"/>
            </a:solidFill>
            <a:ln>
              <a:noFill/>
            </a:ln>
          </p:spPr>
        </p:sp>
        <p:sp>
          <p:nvSpPr>
            <p:cNvPr id="25" name="TextBox 25"/>
            <p:cNvSpPr txBox="1"/>
            <p:nvPr/>
          </p:nvSpPr>
          <p:spPr>
            <a:xfrm>
              <a:off x="755904" y="2727960"/>
              <a:ext cx="1564386"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2. Model halüsi-</a:t>
              </a:r>
              <a:br/>
              <a:r>
                <a:rPr lang="tr-TR" sz="1200" b="1" dirty="0">
                  <a:solidFill>
                    <a:srgbClr val="12355B"/>
                  </a:solidFill>
                  <a:latin typeface="+mn-lt"/>
                  <a:ea typeface="+mn-ea"/>
                  <a:cs typeface="+mn-cs"/>
                </a:rPr>
                <a:t>nasyonu / boş çıktı</a:t>
              </a:r>
            </a:p>
          </p:txBody>
        </p:sp>
        <p:sp>
          <p:nvSpPr>
            <p:cNvPr id="26" name="TextBox 26"/>
            <p:cNvSpPr txBox="1"/>
            <p:nvPr/>
          </p:nvSpPr>
          <p:spPr>
            <a:xfrm>
              <a:off x="3137535" y="2736056"/>
              <a:ext cx="125531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 "ozet": " " }</a:t>
              </a:r>
            </a:p>
          </p:txBody>
        </p:sp>
        <p:sp>
          <p:nvSpPr>
            <p:cNvPr id="27" name="TextBox 27"/>
            <p:cNvSpPr txBox="1"/>
            <p:nvPr/>
          </p:nvSpPr>
          <p:spPr>
            <a:xfrm>
              <a:off x="5614035" y="2736056"/>
              <a:ext cx="142671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Arayüzde kırık, boş</a:t>
              </a:r>
              <a:br/>
              <a:r>
                <a:rPr lang="tr-TR" sz="1120" dirty="0">
                  <a:solidFill>
                    <a:srgbClr val="172B3A"/>
                  </a:solidFill>
                  <a:latin typeface="+mn-lt"/>
                  <a:ea typeface="+mn-ea"/>
                  <a:cs typeface="+mn-cs"/>
                </a:rPr>
                <a:t>bir kutu gösterilir.</a:t>
              </a:r>
            </a:p>
          </p:txBody>
        </p:sp>
        <p:sp>
          <p:nvSpPr>
            <p:cNvPr id="28" name="TextBox 28"/>
            <p:cNvSpPr txBox="1"/>
            <p:nvPr/>
          </p:nvSpPr>
          <p:spPr>
            <a:xfrm>
              <a:off x="8471535" y="2736056"/>
              <a:ext cx="210947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Consolas"/>
                  <a:ea typeface="Consolas"/>
                  <a:cs typeface="Consolas"/>
                </a:rPr>
                <a:t>ozet.trim().length &lt; 10</a:t>
              </a:r>
              <a:r>
                <a:rPr lang="tr-TR" sz="1120" dirty="0">
                  <a:solidFill>
                    <a:srgbClr val="172B3A"/>
                  </a:solidFill>
                  <a:latin typeface="+mn-lt"/>
                  <a:ea typeface="+mn-ea"/>
                  <a:cs typeface="+mn-cs"/>
                </a:rPr>
                <a:t xml:space="preserve"> →</a:t>
              </a:r>
              <a:br/>
              <a:r>
                <a:rPr lang="tr-TR" sz="1120" dirty="0">
                  <a:solidFill>
                    <a:srgbClr val="172B3A"/>
                  </a:solidFill>
                  <a:latin typeface="+mn-lt"/>
                  <a:ea typeface="+mn-ea"/>
                  <a:cs typeface="+mn-cs"/>
                </a:rPr>
                <a:t>fallback şablonu devreye girer</a:t>
              </a:r>
            </a:p>
          </p:txBody>
        </p:sp>
        <p:sp>
          <p:nvSpPr>
            <p:cNvPr id="29" name="Line 29"/>
            <p:cNvSpPr/>
            <p:nvPr/>
          </p:nvSpPr>
          <p:spPr>
            <a:xfrm>
              <a:off x="609600" y="3619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6" name="trace-row3"/>
          <p:cNvGrpSpPr/>
          <p:nvPr/>
        </p:nvGrpSpPr>
        <p:grpSpPr>
          <a:xfrm>
            <a:off x="609600" y="3756660"/>
            <a:ext cx="10972800" cy="901065"/>
            <a:chOff x="609600" y="3756660"/>
            <a:chExt cx="10972800" cy="901065"/>
          </a:xfrm>
        </p:grpSpPr>
        <p:sp>
          <p:nvSpPr>
            <p:cNvPr id="31" name="TextBox 31"/>
            <p:cNvSpPr txBox="1"/>
            <p:nvPr/>
          </p:nvSpPr>
          <p:spPr>
            <a:xfrm>
              <a:off x="755904" y="3756660"/>
              <a:ext cx="1036320"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3. FastAPI</a:t>
              </a:r>
              <a:br/>
              <a:r>
                <a:rPr lang="tr-TR" sz="1200" b="1" dirty="0">
                  <a:solidFill>
                    <a:srgbClr val="12355B"/>
                  </a:solidFill>
                  <a:latin typeface="+mn-lt"/>
                  <a:ea typeface="+mn-ea"/>
                  <a:cs typeface="+mn-cs"/>
                </a:rPr>
                <a:t>servisi çöker</a:t>
              </a:r>
            </a:p>
          </p:txBody>
        </p:sp>
        <p:sp>
          <p:nvSpPr>
            <p:cNvPr id="32" name="TextBox 32"/>
            <p:cNvSpPr txBox="1"/>
            <p:nvPr/>
          </p:nvSpPr>
          <p:spPr>
            <a:xfrm>
              <a:off x="3137535" y="3764756"/>
              <a:ext cx="99999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HTTP 500</a:t>
              </a:r>
              <a:br/>
              <a:r>
                <a:rPr lang="tr-TR" sz="1120" dirty="0">
                  <a:solidFill>
                    <a:srgbClr val="172B3A"/>
                  </a:solidFill>
                  <a:latin typeface="+mn-lt"/>
                  <a:ea typeface="+mn-ea"/>
                  <a:cs typeface="+mn-cs"/>
                </a:rPr>
                <a:t>Internal Error</a:t>
              </a:r>
            </a:p>
          </p:txBody>
        </p:sp>
        <p:sp>
          <p:nvSpPr>
            <p:cNvPr id="33" name="TextBox 33"/>
            <p:cNvSpPr txBox="1"/>
            <p:nvPr/>
          </p:nvSpPr>
          <p:spPr>
            <a:xfrm>
              <a:off x="5614035" y="3764756"/>
              <a:ext cx="1590294"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İşlenmemiş istisna</a:t>
              </a:r>
              <a:br/>
              <a:r>
                <a:rPr lang="tr-TR" sz="1120" dirty="0">
                  <a:solidFill>
                    <a:srgbClr val="172B3A"/>
                  </a:solidFill>
                  <a:latin typeface="+mn-lt"/>
                  <a:ea typeface="+mn-ea"/>
                  <a:cs typeface="+mn-cs"/>
                </a:rPr>
                <a:t>(unhandled rejection).</a:t>
              </a:r>
            </a:p>
          </p:txBody>
        </p:sp>
        <p:sp>
          <p:nvSpPr>
            <p:cNvPr id="34" name="TextBox 34"/>
            <p:cNvSpPr txBox="1"/>
            <p:nvPr/>
          </p:nvSpPr>
          <p:spPr>
            <a:xfrm>
              <a:off x="8471535" y="3764756"/>
              <a:ext cx="2465070"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Consolas"/>
                  <a:ea typeface="Consolas"/>
                  <a:cs typeface="Consolas"/>
                </a:rPr>
                <a:t>try/catch</a:t>
              </a:r>
              <a:r>
                <a:rPr lang="tr-TR" sz="1120" dirty="0">
                  <a:solidFill>
                    <a:srgbClr val="172B3A"/>
                  </a:solidFill>
                  <a:latin typeface="+mn-lt"/>
                  <a:ea typeface="+mn-ea"/>
                  <a:cs typeface="+mn-cs"/>
                </a:rPr>
                <a:t xml:space="preserve"> + </a:t>
              </a:r>
              <a:r>
                <a:rPr lang="tr-TR" sz="1120" dirty="0">
                  <a:solidFill>
                    <a:srgbClr val="172B3A"/>
                  </a:solidFill>
                  <a:latin typeface="Consolas"/>
                  <a:ea typeface="Consolas"/>
                  <a:cs typeface="Consolas"/>
                </a:rPr>
                <a:t>yanit.ok</a:t>
              </a:r>
              <a:r>
                <a:rPr lang="tr-TR" sz="1120" dirty="0">
                  <a:solidFill>
                    <a:srgbClr val="172B3A"/>
                  </a:solidFill>
                  <a:latin typeface="+mn-lt"/>
                  <a:ea typeface="+mn-ea"/>
                  <a:cs typeface="+mn-cs"/>
                </a:rPr>
                <a:t xml:space="preserve"> denetimi →</a:t>
              </a:r>
              <a:br/>
              <a:r>
                <a:rPr lang="tr-TR" sz="1120" dirty="0">
                  <a:solidFill>
                    <a:srgbClr val="172B3A"/>
                  </a:solidFill>
                  <a:latin typeface="+mn-lt"/>
                  <a:ea typeface="+mn-ea"/>
                  <a:cs typeface="+mn-cs"/>
                </a:rPr>
                <a:t>loglanır, kontrollü mesaj gösterilir</a:t>
              </a:r>
            </a:p>
          </p:txBody>
        </p:sp>
        <p:sp>
          <p:nvSpPr>
            <p:cNvPr id="35" name="Line 35"/>
            <p:cNvSpPr/>
            <p:nvPr/>
          </p:nvSpPr>
          <p:spPr>
            <a:xfrm>
              <a:off x="609600" y="4648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2" name="trace-row4"/>
          <p:cNvGrpSpPr/>
          <p:nvPr/>
        </p:nvGrpSpPr>
        <p:grpSpPr>
          <a:xfrm>
            <a:off x="609600" y="4648200"/>
            <a:ext cx="10972800" cy="1028700"/>
            <a:chOff x="609600" y="4648200"/>
            <a:chExt cx="10972800" cy="1028700"/>
          </a:xfrm>
        </p:grpSpPr>
        <p:sp>
          <p:nvSpPr>
            <p:cNvPr id="37" name="Rectangle 37"/>
            <p:cNvSpPr/>
            <p:nvPr/>
          </p:nvSpPr>
          <p:spPr>
            <a:xfrm>
              <a:off x="609600" y="4648200"/>
              <a:ext cx="10972800" cy="1028700"/>
            </a:xfrm>
            <a:prstGeom prst="rect">
              <a:avLst/>
            </a:prstGeom>
            <a:solidFill>
              <a:srgbClr val="EAF4F6"/>
            </a:solidFill>
            <a:ln>
              <a:noFill/>
            </a:ln>
          </p:spPr>
        </p:sp>
        <p:sp>
          <p:nvSpPr>
            <p:cNvPr id="38" name="TextBox 38"/>
            <p:cNvSpPr txBox="1"/>
            <p:nvPr/>
          </p:nvSpPr>
          <p:spPr>
            <a:xfrm>
              <a:off x="755904" y="4785360"/>
              <a:ext cx="900303" cy="425196"/>
            </a:xfrm>
            <a:prstGeom prst="rect">
              <a:avLst/>
            </a:prstGeom>
            <a:noFill/>
            <a:ln>
              <a:noFill/>
            </a:ln>
          </p:spPr>
          <p:txBody>
            <a:bodyPr wrap="none" lIns="0" tIns="0" rIns="0" bIns="0" anchor="t" anchorCtr="0">
              <a:spAutoFit/>
            </a:bodyPr>
            <a:lstStyle/>
            <a:p>
              <a:pPr algn="l">
                <a:lnSpc>
                  <a:spcPts val="1500"/>
                </a:lnSpc>
              </a:pPr>
              <a:r>
                <a:rPr lang="tr-TR" sz="1200" b="1" dirty="0">
                  <a:solidFill>
                    <a:srgbClr val="12355B"/>
                  </a:solidFill>
                  <a:latin typeface="+mn-lt"/>
                  <a:ea typeface="+mn-ea"/>
                  <a:cs typeface="+mn-cs"/>
                </a:rPr>
                <a:t>4. Başarılı</a:t>
              </a:r>
              <a:br/>
              <a:r>
                <a:rPr lang="tr-TR" sz="1200" b="1" dirty="0">
                  <a:solidFill>
                    <a:srgbClr val="12355B"/>
                  </a:solidFill>
                  <a:latin typeface="+mn-lt"/>
                  <a:ea typeface="+mn-ea"/>
                  <a:cs typeface="+mn-cs"/>
                </a:rPr>
                <a:t>AI üretimi</a:t>
              </a:r>
            </a:p>
          </p:txBody>
        </p:sp>
        <p:sp>
          <p:nvSpPr>
            <p:cNvPr id="39" name="TextBox 39"/>
            <p:cNvSpPr txBox="1"/>
            <p:nvPr/>
          </p:nvSpPr>
          <p:spPr>
            <a:xfrm>
              <a:off x="3137535" y="4793456"/>
              <a:ext cx="225835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 "ozet": "Geçerli metin" }</a:t>
              </a:r>
            </a:p>
          </p:txBody>
        </p:sp>
        <p:sp>
          <p:nvSpPr>
            <p:cNvPr id="40" name="TextBox 40"/>
            <p:cNvSpPr txBox="1"/>
            <p:nvPr/>
          </p:nvSpPr>
          <p:spPr>
            <a:xfrm>
              <a:off x="5614035" y="4793456"/>
              <a:ext cx="1960118"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Risk yok; doğrulama</a:t>
              </a:r>
              <a:br/>
              <a:r>
                <a:rPr lang="tr-TR" sz="1120" dirty="0">
                  <a:solidFill>
                    <a:srgbClr val="172B3A"/>
                  </a:solidFill>
                  <a:latin typeface="+mn-lt"/>
                  <a:ea typeface="+mn-ea"/>
                  <a:cs typeface="+mn-cs"/>
                </a:rPr>
                <a:t>adımından geçmesi gerekir.</a:t>
              </a:r>
            </a:p>
          </p:txBody>
        </p:sp>
        <p:sp>
          <p:nvSpPr>
            <p:cNvPr id="41" name="TextBox 41"/>
            <p:cNvSpPr txBox="1"/>
            <p:nvPr/>
          </p:nvSpPr>
          <p:spPr>
            <a:xfrm>
              <a:off x="8471535" y="4793456"/>
              <a:ext cx="2187702" cy="410528"/>
            </a:xfrm>
            <a:prstGeom prst="rect">
              <a:avLst/>
            </a:prstGeom>
            <a:noFill/>
            <a:ln>
              <a:noFill/>
            </a:ln>
          </p:spPr>
          <p:txBody>
            <a:bodyPr wrap="none" lIns="0" tIns="0" rIns="0" bIns="0" anchor="t" anchorCtr="0">
              <a:spAutoFit/>
            </a:bodyPr>
            <a:lstStyle/>
            <a:p>
              <a:pPr algn="l">
                <a:lnSpc>
                  <a:spcPts val="1500"/>
                </a:lnSpc>
              </a:pPr>
              <a:r>
                <a:rPr lang="tr-TR" sz="1120" dirty="0">
                  <a:solidFill>
                    <a:srgbClr val="172B3A"/>
                  </a:solidFill>
                  <a:latin typeface="+mn-lt"/>
                  <a:ea typeface="+mn-ea"/>
                  <a:cs typeface="+mn-cs"/>
                </a:rPr>
                <a:t>Doğrulama geçer, güven skoru</a:t>
              </a:r>
              <a:br/>
              <a:r>
                <a:rPr lang="tr-TR" sz="1120" dirty="0">
                  <a:solidFill>
                    <a:srgbClr val="172B3A"/>
                  </a:solidFill>
                  <a:latin typeface="+mn-lt"/>
                  <a:ea typeface="+mn-ea"/>
                  <a:cs typeface="+mn-cs"/>
                </a:rPr>
                <a:t>loglanır, özet güvenle sunulur.</a:t>
              </a:r>
            </a:p>
          </p:txBody>
        </p:sp>
      </p:grpSp>
      <p:grpSp>
        <p:nvGrpSpPr>
          <p:cNvPr id="44" name="trace-note"/>
          <p:cNvGrpSpPr/>
          <p:nvPr/>
        </p:nvGrpSpPr>
        <p:grpSpPr>
          <a:xfrm>
            <a:off x="603504" y="5947410"/>
            <a:ext cx="10849191" cy="234696"/>
            <a:chOff x="603504" y="5947410"/>
            <a:chExt cx="10849191" cy="234696"/>
          </a:xfrm>
        </p:grpSpPr>
        <p:sp>
          <p:nvSpPr>
            <p:cNvPr id="43" name="TextBox 43"/>
            <p:cNvSpPr txBox="1"/>
            <p:nvPr/>
          </p:nvSpPr>
          <p:spPr>
            <a:xfrm>
              <a:off x="603504" y="5947410"/>
              <a:ext cx="1084919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Zaman aşımı, hata izolasyonu ve çıktı doğrulaması, aynı isteğin farklı başarısızlık noktalarını kapatan üç ayrı savunma katmanıdır.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json"/>
          <p:cNvGrpSpPr/>
          <p:nvPr/>
        </p:nvGrpSpPr>
        <p:grpSpPr>
          <a:xfrm>
            <a:off x="609600" y="1857375"/>
            <a:ext cx="10972800" cy="1304925"/>
            <a:chOff x="609600" y="1857375"/>
            <a:chExt cx="10972800" cy="1304925"/>
          </a:xfrm>
        </p:grpSpPr>
        <p:sp>
          <p:nvSpPr>
            <p:cNvPr id="17" name="TextBox 17"/>
            <p:cNvSpPr txBox="1"/>
            <p:nvPr/>
          </p:nvSpPr>
          <p:spPr>
            <a:xfrm>
              <a:off x="754380" y="1857375"/>
              <a:ext cx="2325529"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"LLM'den JSON</a:t>
              </a:r>
              <a:br/>
              <a:r>
                <a:rPr lang="tr-TR" sz="1500" b="1" dirty="0">
                  <a:solidFill>
                    <a:srgbClr val="12355B"/>
                  </a:solidFill>
                  <a:latin typeface="+mn-lt"/>
                  <a:ea typeface="+mn-ea"/>
                  <a:cs typeface="+mn-cs"/>
                </a:rPr>
                <a:t>istediğimde dönen metin</a:t>
              </a:r>
              <a:br/>
              <a:r>
                <a:rPr lang="tr-TR" sz="1500" b="1" dirty="0">
                  <a:solidFill>
                    <a:srgbClr val="12355B"/>
                  </a:solidFill>
                  <a:latin typeface="+mn-lt"/>
                  <a:ea typeface="+mn-ea"/>
                  <a:cs typeface="+mn-cs"/>
                </a:rPr>
                <a:t>her zaman geçerlidir."</a:t>
              </a:r>
            </a:p>
          </p:txBody>
        </p:sp>
        <p:sp>
          <p:nvSpPr>
            <p:cNvPr id="18" name="TextBox 18"/>
            <p:cNvSpPr txBox="1"/>
            <p:nvPr/>
          </p:nvSpPr>
          <p:spPr>
            <a:xfrm>
              <a:off x="4375404" y="1889760"/>
              <a:ext cx="24124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LLM'ler olasılıksal modellerdir;</a:t>
              </a:r>
              <a:br/>
              <a:r>
                <a:rPr lang="tr-TR" sz="1200" dirty="0">
                  <a:solidFill>
                    <a:srgbClr val="172B3A"/>
                  </a:solidFill>
                  <a:latin typeface="+mn-lt"/>
                  <a:ea typeface="+mn-ea"/>
                  <a:cs typeface="+mn-cs"/>
                </a:rPr>
                <a:t>JSON önüne markdown blokları,</a:t>
              </a:r>
              <a:br/>
              <a:r>
                <a:rPr lang="tr-TR" sz="1200" dirty="0">
                  <a:solidFill>
                    <a:srgbClr val="172B3A"/>
                  </a:solidFill>
                  <a:latin typeface="+mn-lt"/>
                  <a:ea typeface="+mn-ea"/>
                  <a:cs typeface="+mn-cs"/>
                </a:rPr>
                <a:t>fazladan açıklama veya eksik</a:t>
              </a:r>
              <a:br/>
              <a:r>
                <a:rPr lang="tr-TR" sz="1200" dirty="0">
                  <a:solidFill>
                    <a:srgbClr val="172B3A"/>
                  </a:solidFill>
                  <a:latin typeface="+mn-lt"/>
                  <a:ea typeface="+mn-ea"/>
                  <a:cs typeface="+mn-cs"/>
                </a:rPr>
                <a:t>parantez ekleyebilirler.</a:t>
              </a:r>
            </a:p>
          </p:txBody>
        </p:sp>
        <p:sp>
          <p:nvSpPr>
            <p:cNvPr id="19" name="TextBox 19"/>
            <p:cNvSpPr txBox="1"/>
            <p:nvPr/>
          </p:nvSpPr>
          <p:spPr>
            <a:xfrm>
              <a:off x="8185404" y="1889760"/>
              <a:ext cx="24734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Structured Outputs parametresi</a:t>
              </a:r>
              <a:br/>
              <a:r>
                <a:rPr lang="tr-TR" sz="1200" dirty="0">
                  <a:solidFill>
                    <a:srgbClr val="172B3A"/>
                  </a:solidFill>
                  <a:latin typeface="+mn-lt"/>
                  <a:ea typeface="+mn-ea"/>
                  <a:cs typeface="+mn-cs"/>
                </a:rPr>
                <a:t>zorunlu kılınmalı; dönen gövde</a:t>
              </a:r>
              <a:br/>
              <a:r>
                <a:rPr lang="tr-TR" sz="1200" dirty="0">
                  <a:solidFill>
                    <a:srgbClr val="172B3A"/>
                  </a:solidFill>
                  <a:latin typeface="Consolas"/>
                  <a:ea typeface="Consolas"/>
                  <a:cs typeface="Consolas"/>
                </a:rPr>
                <a:t>JSON.parse</a:t>
              </a:r>
              <a:r>
                <a:rPr lang="tr-TR" sz="1200" dirty="0">
                  <a:solidFill>
                    <a:srgbClr val="172B3A"/>
                  </a:solidFill>
                  <a:latin typeface="+mn-lt"/>
                  <a:ea typeface="+mn-ea"/>
                  <a:cs typeface="+mn-cs"/>
                </a:rPr>
                <a:t xml:space="preserve"> + Zod şemasıyla</a:t>
              </a:r>
              <a:br/>
              <a:r>
                <a:rPr lang="tr-TR" sz="1200" dirty="0">
                  <a:solidFill>
                    <a:srgbClr val="172B3A"/>
                  </a:solidFill>
                  <a:latin typeface="+mn-lt"/>
                  <a:ea typeface="+mn-ea"/>
                  <a:cs typeface="+mn-cs"/>
                </a:rPr>
                <a:t>koruyucu ayrıştırılmalıdır.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crash"/>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4380" y="3305175"/>
              <a:ext cx="2635568"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"AI mikroservisi çökerse</a:t>
              </a:r>
              <a:br/>
              <a:r>
                <a:rPr lang="tr-TR" sz="1500" b="1" dirty="0">
                  <a:solidFill>
                    <a:srgbClr val="12355B"/>
                  </a:solidFill>
                  <a:latin typeface="+mn-lt"/>
                  <a:ea typeface="+mn-ea"/>
                  <a:cs typeface="+mn-cs"/>
                </a:rPr>
                <a:t>ana uygulamanın da</a:t>
              </a:r>
              <a:br/>
              <a:r>
                <a:rPr lang="tr-TR" sz="1500" b="1" dirty="0">
                  <a:solidFill>
                    <a:srgbClr val="12355B"/>
                  </a:solidFill>
                  <a:latin typeface="+mn-lt"/>
                  <a:ea typeface="+mn-ea"/>
                  <a:cs typeface="+mn-cs"/>
                </a:rPr>
                <a:t>beklemesi kabul edilebilir."</a:t>
              </a:r>
            </a:p>
          </p:txBody>
        </p:sp>
        <p:sp>
          <p:nvSpPr>
            <p:cNvPr id="24" name="TextBox 24"/>
            <p:cNvSpPr txBox="1"/>
            <p:nvPr/>
          </p:nvSpPr>
          <p:spPr>
            <a:xfrm>
              <a:off x="4375404" y="3337560"/>
              <a:ext cx="23667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Bir öğrenci rezervasyon</a:t>
              </a:r>
              <a:br/>
              <a:r>
                <a:rPr lang="tr-TR" sz="1200" dirty="0">
                  <a:solidFill>
                    <a:srgbClr val="172B3A"/>
                  </a:solidFill>
                  <a:latin typeface="+mn-lt"/>
                  <a:ea typeface="+mn-ea"/>
                  <a:cs typeface="+mn-cs"/>
                </a:rPr>
                <a:t>yaparken arka plandaki AI öneri</a:t>
              </a:r>
              <a:br/>
              <a:r>
                <a:rPr lang="tr-TR" sz="1200" dirty="0">
                  <a:solidFill>
                    <a:srgbClr val="172B3A"/>
                  </a:solidFill>
                  <a:latin typeface="+mn-lt"/>
                  <a:ea typeface="+mn-ea"/>
                  <a:cs typeface="+mn-cs"/>
                </a:rPr>
                <a:t>servisi yanıt vermiyor diye tüm</a:t>
              </a:r>
              <a:br/>
              <a:r>
                <a:rPr lang="tr-TR" sz="1200" dirty="0">
                  <a:solidFill>
                    <a:srgbClr val="172B3A"/>
                  </a:solidFill>
                  <a:latin typeface="+mn-lt"/>
                  <a:ea typeface="+mn-ea"/>
                  <a:cs typeface="+mn-cs"/>
                </a:rPr>
                <a:t>akış durdurulamaz.</a:t>
              </a:r>
            </a:p>
          </p:txBody>
        </p:sp>
        <p:sp>
          <p:nvSpPr>
            <p:cNvPr id="25" name="TextBox 25"/>
            <p:cNvSpPr txBox="1"/>
            <p:nvPr/>
          </p:nvSpPr>
          <p:spPr>
            <a:xfrm>
              <a:off x="8185404" y="3337560"/>
              <a:ext cx="26334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Hata izolasyonu (Graceful</a:t>
              </a:r>
              <a:br/>
              <a:r>
                <a:rPr lang="tr-TR" sz="1200" dirty="0">
                  <a:solidFill>
                    <a:srgbClr val="172B3A"/>
                  </a:solidFill>
                  <a:latin typeface="+mn-lt"/>
                  <a:ea typeface="+mn-ea"/>
                  <a:cs typeface="+mn-cs"/>
                </a:rPr>
                <a:t>Degradation / Circuit Breaker)</a:t>
              </a:r>
              <a:br/>
              <a:r>
                <a:rPr lang="tr-TR" sz="1200" dirty="0">
                  <a:solidFill>
                    <a:srgbClr val="172B3A"/>
                  </a:solidFill>
                  <a:latin typeface="+mn-lt"/>
                  <a:ea typeface="+mn-ea"/>
                  <a:cs typeface="+mn-cs"/>
                </a:rPr>
                <a:t>uygulanmalı; AI yanıt vermezse</a:t>
              </a:r>
              <a:br/>
              <a:r>
                <a:rPr lang="tr-TR" sz="1200" dirty="0">
                  <a:solidFill>
                    <a:srgbClr val="172B3A"/>
                  </a:solidFill>
                  <a:latin typeface="+mn-lt"/>
                  <a:ea typeface="+mn-ea"/>
                  <a:cs typeface="+mn-cs"/>
                </a:rPr>
                <a:t>varsayılan kurallarla sürdürülmeli.</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trust"/>
          <p:cNvGrpSpPr/>
          <p:nvPr/>
        </p:nvGrpSpPr>
        <p:grpSpPr>
          <a:xfrm>
            <a:off x="754380" y="4752975"/>
            <a:ext cx="9828276" cy="895731"/>
            <a:chOff x="754380" y="4752975"/>
            <a:chExt cx="9828276" cy="895731"/>
          </a:xfrm>
        </p:grpSpPr>
        <p:sp>
          <p:nvSpPr>
            <p:cNvPr id="28" name="TextBox 28"/>
            <p:cNvSpPr txBox="1"/>
            <p:nvPr/>
          </p:nvSpPr>
          <p:spPr>
            <a:xfrm>
              <a:off x="754380" y="4752975"/>
              <a:ext cx="2575560" cy="788670"/>
            </a:xfrm>
            <a:prstGeom prst="rect">
              <a:avLst/>
            </a:prstGeom>
            <a:noFill/>
            <a:ln>
              <a:noFill/>
            </a:ln>
          </p:spPr>
          <p:txBody>
            <a:bodyPr wrap="none" lIns="0" tIns="0" rIns="0" bIns="0" anchor="t" anchorCtr="0">
              <a:spAutoFit/>
            </a:bodyPr>
            <a:lstStyle/>
            <a:p>
              <a:pPr algn="l">
                <a:lnSpc>
                  <a:spcPts val="1950"/>
                </a:lnSpc>
              </a:pPr>
              <a:r>
                <a:rPr lang="tr-TR" sz="1500" b="1" dirty="0">
                  <a:solidFill>
                    <a:srgbClr val="12355B"/>
                  </a:solidFill>
                  <a:latin typeface="+mn-lt"/>
                  <a:ea typeface="+mn-ea"/>
                  <a:cs typeface="+mn-cs"/>
                </a:rPr>
                <a:t>"Modelden dönen metin</a:t>
              </a:r>
              <a:br/>
              <a:r>
                <a:rPr lang="tr-TR" sz="1500" b="1" dirty="0">
                  <a:solidFill>
                    <a:srgbClr val="12355B"/>
                  </a:solidFill>
                  <a:latin typeface="+mn-lt"/>
                  <a:ea typeface="+mn-ea"/>
                  <a:cs typeface="+mn-cs"/>
                </a:rPr>
                <a:t>doğrudan ekrana veya</a:t>
              </a:r>
              <a:br/>
              <a:r>
                <a:rPr lang="tr-TR" sz="1500" b="1" dirty="0">
                  <a:solidFill>
                    <a:srgbClr val="12355B"/>
                  </a:solidFill>
                  <a:latin typeface="+mn-lt"/>
                  <a:ea typeface="+mn-ea"/>
                  <a:cs typeface="+mn-cs"/>
                </a:rPr>
                <a:t>veritabanına yazılabilir."</a:t>
              </a:r>
            </a:p>
          </p:txBody>
        </p:sp>
        <p:sp>
          <p:nvSpPr>
            <p:cNvPr id="29" name="TextBox 29"/>
            <p:cNvSpPr txBox="1"/>
            <p:nvPr/>
          </p:nvSpPr>
          <p:spPr>
            <a:xfrm>
              <a:off x="4375404" y="4785360"/>
              <a:ext cx="22219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Model halüsinasyon görebilir,</a:t>
              </a:r>
              <a:br/>
              <a:r>
                <a:rPr lang="tr-TR" sz="1200" dirty="0">
                  <a:solidFill>
                    <a:srgbClr val="172B3A"/>
                  </a:solidFill>
                  <a:latin typeface="+mn-lt"/>
                  <a:ea typeface="+mn-ea"/>
                  <a:cs typeface="+mn-cs"/>
                </a:rPr>
                <a:t>zararlı script üretebilir veya</a:t>
              </a:r>
              <a:br/>
              <a:r>
                <a:rPr lang="tr-TR" sz="1200" dirty="0">
                  <a:solidFill>
                    <a:srgbClr val="172B3A"/>
                  </a:solidFill>
                  <a:latin typeface="+mn-lt"/>
                  <a:ea typeface="+mn-ea"/>
                  <a:cs typeface="+mn-cs"/>
                </a:rPr>
                <a:t>sistem prompt'unu (kendi</a:t>
              </a:r>
              <a:br/>
              <a:r>
                <a:rPr lang="tr-TR" sz="1200" dirty="0">
                  <a:solidFill>
                    <a:srgbClr val="172B3A"/>
                  </a:solidFill>
                  <a:latin typeface="+mn-lt"/>
                  <a:ea typeface="+mn-ea"/>
                  <a:cs typeface="+mn-cs"/>
                </a:rPr>
                <a:t>talimatlarını) sızdırabilir.</a:t>
              </a:r>
            </a:p>
          </p:txBody>
        </p:sp>
        <p:sp>
          <p:nvSpPr>
            <p:cNvPr id="30" name="TextBox 30"/>
            <p:cNvSpPr txBox="1"/>
            <p:nvPr/>
          </p:nvSpPr>
          <p:spPr>
            <a:xfrm>
              <a:off x="8185404" y="4785360"/>
              <a:ext cx="23972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AI çıktısı güvensiz bir dış girdi</a:t>
              </a:r>
              <a:br/>
              <a:r>
                <a:rPr lang="tr-TR" sz="1200" dirty="0">
                  <a:solidFill>
                    <a:srgbClr val="172B3A"/>
                  </a:solidFill>
                  <a:latin typeface="+mn-lt"/>
                  <a:ea typeface="+mn-ea"/>
                  <a:cs typeface="+mn-cs"/>
                </a:rPr>
                <a:t>kabul edilerek güvenlik</a:t>
              </a:r>
              <a:br/>
              <a:r>
                <a:rPr lang="tr-TR" sz="1200" dirty="0">
                  <a:solidFill>
                    <a:srgbClr val="172B3A"/>
                  </a:solidFill>
                  <a:latin typeface="+mn-lt"/>
                  <a:ea typeface="+mn-ea"/>
                  <a:cs typeface="+mn-cs"/>
                </a:rPr>
                <a:t>süzgecinden ve içerik</a:t>
              </a:r>
              <a:br/>
              <a:r>
                <a:rPr lang="tr-TR" sz="1200" dirty="0">
                  <a:solidFill>
                    <a:srgbClr val="172B3A"/>
                  </a:solidFill>
                  <a:latin typeface="+mn-lt"/>
                  <a:ea typeface="+mn-ea"/>
                  <a:cs typeface="+mn-cs"/>
                </a:rPr>
                <a:t>kontrolünden geçirilmelidir.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10421941" cy="668845"/>
            <a:chOff x="609600" y="171450"/>
            <a:chExt cx="1042194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973156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Kod 17.5: özet isteğinin uçtan uca güvenli işlenişi</a:t>
              </a:r>
            </a:p>
          </p:txBody>
        </p:sp>
      </p:grpSp>
      <p:grpSp>
        <p:nvGrpSpPr>
          <p:cNvPr id="23" name="code-panel"/>
          <p:cNvGrpSpPr/>
          <p:nvPr/>
        </p:nvGrpSpPr>
        <p:grpSpPr>
          <a:xfrm>
            <a:off x="609600" y="1123950"/>
            <a:ext cx="10972800" cy="2857500"/>
            <a:chOff x="609600" y="1123950"/>
            <a:chExt cx="10972800" cy="2857500"/>
          </a:xfrm>
        </p:grpSpPr>
        <p:sp>
          <p:nvSpPr>
            <p:cNvPr id="12" name="Rectangle 12"/>
            <p:cNvSpPr/>
            <p:nvPr/>
          </p:nvSpPr>
          <p:spPr>
            <a:xfrm>
              <a:off x="609600" y="1123950"/>
              <a:ext cx="10972800" cy="2857500"/>
            </a:xfrm>
            <a:prstGeom prst="roundRect">
              <a:avLst>
                <a:gd name="adj" fmla="val 3333"/>
              </a:avLst>
            </a:prstGeom>
            <a:solidFill>
              <a:srgbClr val="0B2036"/>
            </a:solidFill>
            <a:ln>
              <a:noFill/>
            </a:ln>
          </p:spPr>
        </p:sp>
        <p:sp>
          <p:nvSpPr>
            <p:cNvPr id="13" name="Rectangle 13"/>
            <p:cNvSpPr/>
            <p:nvPr/>
          </p:nvSpPr>
          <p:spPr>
            <a:xfrm>
              <a:off x="609600" y="1123950"/>
              <a:ext cx="57150" cy="2857500"/>
            </a:xfrm>
            <a:prstGeom prst="rect">
              <a:avLst/>
            </a:prstGeom>
            <a:solidFill>
              <a:srgbClr val="00A6A6"/>
            </a:solidFill>
            <a:ln>
              <a:noFill/>
            </a:ln>
          </p:spPr>
        </p:sp>
        <p:sp>
          <p:nvSpPr>
            <p:cNvPr id="14" name="TextBox 14"/>
            <p:cNvSpPr txBox="1"/>
            <p:nvPr/>
          </p:nvSpPr>
          <p:spPr>
            <a:xfrm>
              <a:off x="907542" y="1263968"/>
              <a:ext cx="3344434" cy="264033"/>
            </a:xfrm>
            <a:prstGeom prst="rect">
              <a:avLst/>
            </a:prstGeom>
            <a:noFill/>
            <a:ln>
              <a:noFill/>
            </a:ln>
          </p:spPr>
          <p:txBody>
            <a:bodyPr wrap="none" lIns="0" tIns="0" rIns="0" bIns="0" anchor="t" anchorCtr="0">
              <a:spAutoFit/>
            </a:bodyPr>
            <a:lstStyle/>
            <a:p>
              <a:pPr algn="l"/>
              <a:r>
                <a:rPr lang="tr-TR" sz="1350" dirty="0">
                  <a:solidFill>
                    <a:srgbClr val="52616B"/>
                  </a:solidFill>
                  <a:latin typeface="Consolas"/>
                  <a:ea typeface="Consolas"/>
                  <a:cs typeface="Consolas"/>
                </a:rPr>
                <a:t>// ChapterMiniAppAiIntegration.ts</a:t>
              </a:r>
            </a:p>
          </p:txBody>
        </p:sp>
        <p:sp>
          <p:nvSpPr>
            <p:cNvPr id="15" name="TextBox 15"/>
            <p:cNvSpPr txBox="1"/>
            <p:nvPr/>
          </p:nvSpPr>
          <p:spPr>
            <a:xfrm>
              <a:off x="907542" y="1568768"/>
              <a:ext cx="653805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function ozetYanitiniDogrula(veri: unknown): veri is OzetYaniti {</a:t>
              </a:r>
            </a:p>
          </p:txBody>
        </p:sp>
        <p:sp>
          <p:nvSpPr>
            <p:cNvPr id="16" name="TextBox 16"/>
            <p:cNvSpPr txBox="1"/>
            <p:nvPr/>
          </p:nvSpPr>
          <p:spPr>
            <a:xfrm>
              <a:off x="1212342" y="1873568"/>
              <a:ext cx="4811573"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return typeof veri === "object" &amp;&amp; veri !== null</a:t>
              </a:r>
            </a:p>
          </p:txBody>
        </p:sp>
        <p:sp>
          <p:nvSpPr>
            <p:cNvPr id="17" name="TextBox 17"/>
            <p:cNvSpPr txBox="1"/>
            <p:nvPr/>
          </p:nvSpPr>
          <p:spPr>
            <a:xfrm>
              <a:off x="1517142" y="2178368"/>
              <a:ext cx="4111885"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&amp;&amp; typeof (veri as any).ozet === "string"</a:t>
              </a:r>
            </a:p>
          </p:txBody>
        </p:sp>
        <p:sp>
          <p:nvSpPr>
            <p:cNvPr id="18" name="TextBox 18"/>
            <p:cNvSpPr txBox="1"/>
            <p:nvPr/>
          </p:nvSpPr>
          <p:spPr>
            <a:xfrm>
              <a:off x="1517142" y="2483168"/>
              <a:ext cx="4011930" cy="264033"/>
            </a:xfrm>
            <a:prstGeom prst="rect">
              <a:avLst/>
            </a:prstGeom>
            <a:noFill/>
            <a:ln>
              <a:noFill/>
            </a:ln>
          </p:spPr>
          <p:txBody>
            <a:bodyPr wrap="none" lIns="0" tIns="0" rIns="0" bIns="0" anchor="t" anchorCtr="0">
              <a:spAutoFit/>
            </a:bodyPr>
            <a:lstStyle/>
            <a:p>
              <a:pPr algn="l"/>
              <a:r>
                <a:rPr lang="tr-TR" sz="1350" dirty="0">
                  <a:solidFill>
                    <a:srgbClr val="00A6A6"/>
                  </a:solidFill>
                  <a:latin typeface="Consolas"/>
                  <a:ea typeface="Consolas"/>
                  <a:cs typeface="Consolas"/>
                </a:rPr>
                <a:t>&amp;&amp; (veri as any).ozet.trim().length &gt; 0;</a:t>
              </a:r>
            </a:p>
          </p:txBody>
        </p:sp>
        <p:sp>
          <p:nvSpPr>
            <p:cNvPr id="19" name="TextBox 19"/>
            <p:cNvSpPr txBox="1"/>
            <p:nvPr/>
          </p:nvSpPr>
          <p:spPr>
            <a:xfrm>
              <a:off x="907542" y="2787968"/>
              <a:ext cx="113671"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t>
              </a:r>
            </a:p>
          </p:txBody>
        </p:sp>
        <p:sp>
          <p:nvSpPr>
            <p:cNvPr id="20" name="TextBox 20"/>
            <p:cNvSpPr txBox="1"/>
            <p:nvPr/>
          </p:nvSpPr>
          <p:spPr>
            <a:xfrm>
              <a:off x="907542" y="3092768"/>
              <a:ext cx="5642900"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async function kitapOzetiniGuvenliGetir(gercekIstekFn) {</a:t>
              </a:r>
            </a:p>
          </p:txBody>
        </p:sp>
        <p:sp>
          <p:nvSpPr>
            <p:cNvPr id="21" name="TextBox 21"/>
            <p:cNvSpPr txBox="1"/>
            <p:nvPr/>
          </p:nvSpPr>
          <p:spPr>
            <a:xfrm>
              <a:off x="1212342" y="3397568"/>
              <a:ext cx="5850505"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const hamYanit = await zamanAsimliOzetIste(gercekIstekFn);</a:t>
              </a:r>
            </a:p>
          </p:txBody>
        </p:sp>
        <p:sp>
          <p:nvSpPr>
            <p:cNvPr id="22" name="TextBox 22"/>
            <p:cNvSpPr txBox="1"/>
            <p:nvPr/>
          </p:nvSpPr>
          <p:spPr>
            <a:xfrm>
              <a:off x="1212342" y="3702368"/>
              <a:ext cx="6038749"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return ozetYanitiniDogrula(hamYanit) ? hamYanit.ozet : null;</a:t>
              </a:r>
            </a:p>
          </p:txBody>
        </p:sp>
      </p:grpSp>
      <p:grpSp>
        <p:nvGrpSpPr>
          <p:cNvPr id="28" name="critical-line"/>
          <p:cNvGrpSpPr/>
          <p:nvPr/>
        </p:nvGrpSpPr>
        <p:grpSpPr>
          <a:xfrm>
            <a:off x="609600" y="4133850"/>
            <a:ext cx="10972800" cy="876300"/>
            <a:chOff x="609600" y="4133850"/>
            <a:chExt cx="10972800" cy="876300"/>
          </a:xfrm>
        </p:grpSpPr>
        <p:sp>
          <p:nvSpPr>
            <p:cNvPr id="24" name="Rectangle 24"/>
            <p:cNvSpPr/>
            <p:nvPr/>
          </p:nvSpPr>
          <p:spPr>
            <a:xfrm>
              <a:off x="609600" y="4133850"/>
              <a:ext cx="10972800" cy="876300"/>
            </a:xfrm>
            <a:prstGeom prst="roundRect">
              <a:avLst>
                <a:gd name="adj" fmla="val 8696"/>
              </a:avLst>
            </a:prstGeom>
            <a:solidFill>
              <a:srgbClr val="EAF4F6"/>
            </a:solidFill>
            <a:ln>
              <a:noFill/>
            </a:ln>
          </p:spPr>
        </p:sp>
        <p:sp>
          <p:nvSpPr>
            <p:cNvPr id="25" name="Rectangle 25"/>
            <p:cNvSpPr/>
            <p:nvPr/>
          </p:nvSpPr>
          <p:spPr>
            <a:xfrm>
              <a:off x="609600" y="4133850"/>
              <a:ext cx="57150" cy="876300"/>
            </a:xfrm>
            <a:prstGeom prst="rect">
              <a:avLst/>
            </a:prstGeom>
            <a:solidFill>
              <a:srgbClr val="00A6A6"/>
            </a:solidFill>
            <a:ln>
              <a:noFill/>
            </a:ln>
          </p:spPr>
        </p:sp>
        <p:sp>
          <p:nvSpPr>
            <p:cNvPr id="26" name="TextBox 26"/>
            <p:cNvSpPr txBox="1"/>
            <p:nvPr/>
          </p:nvSpPr>
          <p:spPr>
            <a:xfrm>
              <a:off x="908304" y="4251960"/>
              <a:ext cx="1222797"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KRİTİK SATIR</a:t>
              </a:r>
            </a:p>
          </p:txBody>
        </p:sp>
        <p:sp>
          <p:nvSpPr>
            <p:cNvPr id="27" name="TextBox 27"/>
            <p:cNvSpPr txBox="1"/>
            <p:nvPr/>
          </p:nvSpPr>
          <p:spPr>
            <a:xfrm>
              <a:off x="907161" y="4475321"/>
              <a:ext cx="8174863" cy="507302"/>
            </a:xfrm>
            <a:prstGeom prst="rect">
              <a:avLst/>
            </a:prstGeom>
            <a:noFill/>
            <a:ln>
              <a:noFill/>
            </a:ln>
          </p:spPr>
          <p:txBody>
            <a:bodyPr wrap="none" lIns="0" tIns="0" rIns="0" bIns="0" anchor="t" anchorCtr="0">
              <a:spAutoFit/>
            </a:bodyPr>
            <a:lstStyle/>
            <a:p>
              <a:pPr algn="l">
                <a:lnSpc>
                  <a:spcPts val="1800"/>
                </a:lnSpc>
              </a:pPr>
              <a:r>
                <a:rPr lang="tr-TR" sz="1420" dirty="0">
                  <a:solidFill>
                    <a:srgbClr val="12355B"/>
                  </a:solidFill>
                  <a:latin typeface="+mn-lt"/>
                  <a:ea typeface="+mn-ea"/>
                  <a:cs typeface="+mn-cs"/>
                </a:rPr>
                <a:t>Zaman aşımı korumasından geçen bir yanıt bile, gövdesi doğrulanmadan kullanılmaz;</a:t>
              </a:r>
              <a:br/>
              <a:r>
                <a:rPr lang="tr-TR" sz="1420" dirty="0">
                  <a:solidFill>
                    <a:srgbClr val="12355B"/>
                  </a:solidFill>
                  <a:latin typeface="+mn-lt"/>
                  <a:ea typeface="+mn-ea"/>
                  <a:cs typeface="+mn-cs"/>
                </a:rPr>
                <a:t>üç farklı başarısızlık türü (zaman aşımı, geçersiz veri, boş özet) tek bir null'da birleşir.</a:t>
              </a:r>
            </a:p>
          </p:txBody>
        </p:sp>
      </p:grpSp>
      <p:grpSp>
        <p:nvGrpSpPr>
          <p:cNvPr id="34" name="extend-panel"/>
          <p:cNvGrpSpPr/>
          <p:nvPr/>
        </p:nvGrpSpPr>
        <p:grpSpPr>
          <a:xfrm>
            <a:off x="609600" y="5162550"/>
            <a:ext cx="10972800" cy="1019556"/>
            <a:chOff x="609600" y="5162550"/>
            <a:chExt cx="10972800" cy="1019556"/>
          </a:xfrm>
        </p:grpSpPr>
        <p:sp>
          <p:nvSpPr>
            <p:cNvPr id="29" name="Rectangle 29"/>
            <p:cNvSpPr/>
            <p:nvPr/>
          </p:nvSpPr>
          <p:spPr>
            <a:xfrm>
              <a:off x="609600" y="5162550"/>
              <a:ext cx="10972800" cy="1009650"/>
            </a:xfrm>
            <a:prstGeom prst="roundRect">
              <a:avLst>
                <a:gd name="adj" fmla="val 7547"/>
              </a:avLst>
            </a:prstGeom>
            <a:solidFill>
              <a:srgbClr val="FFFFFF"/>
            </a:solidFill>
            <a:ln w="14288">
              <a:solidFill>
                <a:srgbClr val="00A6A6"/>
              </a:solidFill>
            </a:ln>
          </p:spPr>
        </p:sp>
        <p:sp>
          <p:nvSpPr>
            <p:cNvPr id="30" name="TextBox 30"/>
            <p:cNvSpPr txBox="1"/>
            <p:nvPr/>
          </p:nvSpPr>
          <p:spPr>
            <a:xfrm>
              <a:off x="832104" y="5280660"/>
              <a:ext cx="2342083" cy="234696"/>
            </a:xfrm>
            <a:prstGeom prst="rect">
              <a:avLst/>
            </a:prstGeom>
            <a:noFill/>
            <a:ln>
              <a:noFill/>
            </a:ln>
          </p:spPr>
          <p:txBody>
            <a:bodyPr wrap="none" lIns="0" tIns="0" rIns="0" bIns="0" anchor="t" anchorCtr="0">
              <a:spAutoFit/>
            </a:bodyPr>
            <a:lstStyle/>
            <a:p>
              <a:pPr algn="l"/>
              <a:r>
                <a:rPr lang="tr-TR" sz="1200" b="1" spc="75" dirty="0">
                  <a:solidFill>
                    <a:srgbClr val="00A6A6"/>
                  </a:solidFill>
                  <a:latin typeface="+mn-lt"/>
                  <a:ea typeface="+mn-ea"/>
                  <a:cs typeface="+mn-cs"/>
                </a:rPr>
                <a:t>BU PROGRAMI GELİŞTİRİN</a:t>
              </a:r>
            </a:p>
          </p:txBody>
        </p:sp>
        <p:sp>
          <p:nvSpPr>
            <p:cNvPr id="31" name="TextBox 31"/>
            <p:cNvSpPr txBox="1"/>
            <p:nvPr/>
          </p:nvSpPr>
          <p:spPr>
            <a:xfrm>
              <a:off x="832104" y="5528310"/>
              <a:ext cx="59955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 Aşırı uzun (2000+ karakter) özeti de geçersiz sayan bir kontrol ekleyin.</a:t>
              </a:r>
            </a:p>
          </p:txBody>
        </p:sp>
        <p:sp>
          <p:nvSpPr>
            <p:cNvPr id="32" name="TextBox 32"/>
            <p:cNvSpPr txBox="1"/>
            <p:nvPr/>
          </p:nvSpPr>
          <p:spPr>
            <a:xfrm>
              <a:off x="832104" y="5737860"/>
              <a:ext cx="55213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 GeciciAiHatasi için en fazla bir kez yeniden deneme (retry) ekleyin.</a:t>
              </a:r>
            </a:p>
          </p:txBody>
        </p:sp>
        <p:sp>
          <p:nvSpPr>
            <p:cNvPr id="33" name="TextBox 33"/>
            <p:cNvSpPr txBox="1"/>
            <p:nvPr/>
          </p:nvSpPr>
          <p:spPr>
            <a:xfrm>
              <a:off x="832104" y="5947410"/>
              <a:ext cx="556937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3. Özet ve öneriyi tek bir "AI zenginleştirmesi" nesnesinde birleştirin.</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sozlesme"/>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23801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Sözleşme tasarımı</a:t>
              </a:r>
            </a:p>
          </p:txBody>
        </p:sp>
        <p:sp>
          <p:nvSpPr>
            <p:cNvPr id="8" name="TextBox 8"/>
            <p:cNvSpPr txBox="1"/>
            <p:nvPr/>
          </p:nvSpPr>
          <p:spPr>
            <a:xfrm>
              <a:off x="832104" y="1908810"/>
              <a:ext cx="24963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Node.js ile FastAPI arasındaki</a:t>
              </a:r>
              <a:br/>
              <a:r>
                <a:rPr lang="tr-TR" sz="1200" dirty="0">
                  <a:solidFill>
                    <a:srgbClr val="172B3A"/>
                  </a:solidFill>
                  <a:latin typeface="+mn-lt"/>
                  <a:ea typeface="+mn-ea"/>
                  <a:cs typeface="+mn-cs"/>
                </a:rPr>
                <a:t>alan adları ve tipler, çalışma</a:t>
              </a:r>
              <a:br/>
              <a:r>
                <a:rPr lang="tr-TR" sz="1200" dirty="0">
                  <a:solidFill>
                    <a:srgbClr val="172B3A"/>
                  </a:solidFill>
                  <a:latin typeface="+mn-lt"/>
                  <a:ea typeface="+mn-ea"/>
                  <a:cs typeface="+mn-cs"/>
                </a:rPr>
                <a:t>zamanı doğrulayıcısıyla eşlenir.</a:t>
              </a:r>
            </a:p>
          </p:txBody>
        </p:sp>
      </p:grpSp>
      <p:grpSp>
        <p:nvGrpSpPr>
          <p:cNvPr id="13" name="summary-timeout"/>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99294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Timeout</a:t>
              </a:r>
            </a:p>
          </p:txBody>
        </p:sp>
        <p:sp>
          <p:nvSpPr>
            <p:cNvPr id="12" name="TextBox 12"/>
            <p:cNvSpPr txBox="1"/>
            <p:nvPr/>
          </p:nvSpPr>
          <p:spPr>
            <a:xfrm>
              <a:off x="4565904" y="1908810"/>
              <a:ext cx="21229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Consolas"/>
                  <a:ea typeface="Consolas"/>
                  <a:cs typeface="Consolas"/>
                </a:rPr>
                <a:t>AbortController</a:t>
              </a:r>
              <a:r>
                <a:rPr lang="tr-TR" sz="1200" dirty="0">
                  <a:solidFill>
                    <a:srgbClr val="172B3A"/>
                  </a:solidFill>
                  <a:latin typeface="+mn-lt"/>
                  <a:ea typeface="+mn-ea"/>
                  <a:cs typeface="+mn-cs"/>
                </a:rPr>
                <a:t xml:space="preserve"> ile AI</a:t>
              </a:r>
              <a:br/>
              <a:r>
                <a:rPr lang="tr-TR" sz="1200" dirty="0">
                  <a:solidFill>
                    <a:srgbClr val="172B3A"/>
                  </a:solidFill>
                  <a:latin typeface="+mn-lt"/>
                  <a:ea typeface="+mn-ea"/>
                  <a:cs typeface="+mn-cs"/>
                </a:rPr>
                <a:t>servisinin süresiz beklemeye</a:t>
              </a:r>
              <a:br/>
              <a:r>
                <a:rPr lang="tr-TR" sz="1200" dirty="0">
                  <a:solidFill>
                    <a:srgbClr val="172B3A"/>
                  </a:solidFill>
                  <a:latin typeface="+mn-lt"/>
                  <a:ea typeface="+mn-ea"/>
                  <a:cs typeface="+mn-cs"/>
                </a:rPr>
                <a:t>sokması engellenir.</a:t>
              </a:r>
            </a:p>
          </p:txBody>
        </p:sp>
      </p:grpSp>
      <p:grpSp>
        <p:nvGrpSpPr>
          <p:cNvPr id="17" name="summary-retry"/>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171824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Sınırlı retry</a:t>
              </a:r>
            </a:p>
          </p:txBody>
        </p:sp>
        <p:sp>
          <p:nvSpPr>
            <p:cNvPr id="16" name="TextBox 16"/>
            <p:cNvSpPr txBox="1"/>
            <p:nvPr/>
          </p:nvSpPr>
          <p:spPr>
            <a:xfrm>
              <a:off x="8299704" y="1908810"/>
              <a:ext cx="25420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Yalnızca geçici hatada, üstel</a:t>
              </a:r>
              <a:br/>
              <a:r>
                <a:rPr lang="tr-TR" sz="1200" dirty="0">
                  <a:solidFill>
                    <a:srgbClr val="172B3A"/>
                  </a:solidFill>
                  <a:latin typeface="+mn-lt"/>
                  <a:ea typeface="+mn-ea"/>
                  <a:cs typeface="+mn-cs"/>
                </a:rPr>
                <a:t>geri çekilmeyle; akış düzeyinde</a:t>
              </a:r>
              <a:br/>
              <a:r>
                <a:rPr lang="tr-TR" sz="1200" dirty="0">
                  <a:solidFill>
                    <a:srgbClr val="172B3A"/>
                  </a:solidFill>
                  <a:latin typeface="+mn-lt"/>
                  <a:ea typeface="+mn-ea"/>
                  <a:cs typeface="+mn-cs"/>
                </a:rPr>
                <a:t>gösterildi, alıştırmada kodlanır.</a:t>
              </a:r>
            </a:p>
          </p:txBody>
        </p:sp>
      </p:grpSp>
      <p:grpSp>
        <p:nvGrpSpPr>
          <p:cNvPr id="21" name="summary-izolasyon"/>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9342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Hata izolasyonu</a:t>
              </a:r>
            </a:p>
          </p:txBody>
        </p:sp>
        <p:sp>
          <p:nvSpPr>
            <p:cNvPr id="20" name="TextBox 20"/>
            <p:cNvSpPr txBox="1"/>
            <p:nvPr/>
          </p:nvSpPr>
          <p:spPr>
            <a:xfrm>
              <a:off x="832104" y="3718560"/>
              <a:ext cx="23210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AI servisi çökse bile kitap</a:t>
              </a:r>
              <a:br/>
              <a:r>
                <a:rPr lang="tr-TR" sz="1200" dirty="0">
                  <a:solidFill>
                    <a:srgbClr val="172B3A"/>
                  </a:solidFill>
                  <a:latin typeface="+mn-lt"/>
                  <a:ea typeface="+mn-ea"/>
                  <a:cs typeface="+mn-cs"/>
                </a:rPr>
                <a:t>arama ve ödünç alma gibi ana</a:t>
              </a:r>
              <a:br/>
              <a:r>
                <a:rPr lang="tr-TR" sz="1200" dirty="0">
                  <a:solidFill>
                    <a:srgbClr val="172B3A"/>
                  </a:solidFill>
                  <a:latin typeface="+mn-lt"/>
                  <a:ea typeface="+mn-ea"/>
                  <a:cs typeface="+mn-cs"/>
                </a:rPr>
                <a:t>işlevler çalışmaya devam eder.</a:t>
              </a:r>
            </a:p>
          </p:txBody>
        </p:sp>
      </p:grpSp>
      <p:grpSp>
        <p:nvGrpSpPr>
          <p:cNvPr id="25" name="summary-dogrulama"/>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20491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Çıktı doğrulama</a:t>
              </a:r>
            </a:p>
          </p:txBody>
        </p:sp>
        <p:sp>
          <p:nvSpPr>
            <p:cNvPr id="24" name="TextBox 24"/>
            <p:cNvSpPr txBox="1"/>
            <p:nvPr/>
          </p:nvSpPr>
          <p:spPr>
            <a:xfrm>
              <a:off x="4565904" y="3718560"/>
              <a:ext cx="24963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AI çıktısı güvensiz dış girdi</a:t>
              </a:r>
              <a:br/>
              <a:r>
                <a:rPr lang="tr-TR" sz="1200" dirty="0">
                  <a:solidFill>
                    <a:srgbClr val="172B3A"/>
                  </a:solidFill>
                  <a:latin typeface="+mn-lt"/>
                  <a:ea typeface="+mn-ea"/>
                  <a:cs typeface="+mn-cs"/>
                </a:rPr>
                <a:t>kabul edilir; tip ve makullük</a:t>
              </a:r>
              <a:br/>
              <a:r>
                <a:rPr lang="tr-TR" sz="1200" dirty="0">
                  <a:solidFill>
                    <a:srgbClr val="172B3A"/>
                  </a:solidFill>
                  <a:latin typeface="+mn-lt"/>
                  <a:ea typeface="+mn-ea"/>
                  <a:cs typeface="+mn-cs"/>
                </a:rPr>
                <a:t>(boş olmama) birlikte denetlenir.</a:t>
              </a:r>
            </a:p>
          </p:txBody>
        </p:sp>
      </p:grpSp>
      <p:grpSp>
        <p:nvGrpSpPr>
          <p:cNvPr id="29" name="summary-gozlem"/>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39999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Gözlemleme</a:t>
              </a:r>
            </a:p>
          </p:txBody>
        </p:sp>
        <p:sp>
          <p:nvSpPr>
            <p:cNvPr id="28" name="TextBox 28"/>
            <p:cNvSpPr txBox="1"/>
            <p:nvPr/>
          </p:nvSpPr>
          <p:spPr>
            <a:xfrm>
              <a:off x="8299704" y="3718560"/>
              <a:ext cx="209245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Güven skorları loglanır;</a:t>
              </a:r>
              <a:br/>
              <a:r>
                <a:rPr lang="tr-TR" sz="1200" dirty="0">
                  <a:solidFill>
                    <a:srgbClr val="172B3A"/>
                  </a:solidFill>
                  <a:latin typeface="+mn-lt"/>
                  <a:ea typeface="+mn-ea"/>
                  <a:cs typeface="+mn-cs"/>
                </a:rPr>
                <a:t>modelin sessiz kötüleşmesi</a:t>
              </a:r>
              <a:br/>
              <a:r>
                <a:rPr lang="tr-TR" sz="1200" dirty="0">
                  <a:solidFill>
                    <a:srgbClr val="172B3A"/>
                  </a:solidFill>
                  <a:latin typeface="+mn-lt"/>
                  <a:ea typeface="+mn-ea"/>
                  <a:cs typeface="+mn-cs"/>
                </a:rPr>
                <a:t>zaman içinde fark edilebilir.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1060211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Bir AI servisi çağrısı yalnızca çalışması yeterli değildir; zaman aşımıyla korunmuş,</a:t>
              </a:r>
            </a:p>
          </p:txBody>
        </p:sp>
        <p:sp>
          <p:nvSpPr>
            <p:cNvPr id="32" name="TextBox 32"/>
            <p:cNvSpPr txBox="1"/>
            <p:nvPr/>
          </p:nvSpPr>
          <p:spPr>
            <a:xfrm>
              <a:off x="906399" y="5583079"/>
              <a:ext cx="658842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hata izolasyonuyla ayrılmış ve çıktısı doğrulanmış olmalıdır.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7238810" cy="1067181"/>
            <a:chOff x="599694" y="1484948"/>
            <a:chExt cx="7238810" cy="1067181"/>
          </a:xfrm>
        </p:grpSpPr>
        <p:sp>
          <p:nvSpPr>
            <p:cNvPr id="7" name="TextBox 7"/>
            <p:cNvSpPr txBox="1"/>
            <p:nvPr/>
          </p:nvSpPr>
          <p:spPr>
            <a:xfrm>
              <a:off x="599694" y="1484948"/>
              <a:ext cx="7238810" cy="1067181"/>
            </a:xfrm>
            <a:prstGeom prst="rect">
              <a:avLst/>
            </a:prstGeom>
            <a:noFill/>
            <a:ln>
              <a:noFill/>
            </a:ln>
          </p:spPr>
          <p:txBody>
            <a:bodyPr wrap="none" lIns="0" tIns="0" rIns="0" bIns="0" anchor="t" anchorCtr="0">
              <a:spAutoFit/>
            </a:bodyPr>
            <a:lstStyle/>
            <a:p>
              <a:pPr algn="l">
                <a:lnSpc>
                  <a:spcPts val="2700"/>
                </a:lnSpc>
              </a:pPr>
              <a:r>
                <a:rPr lang="tr-TR" sz="1950" dirty="0">
                  <a:solidFill>
                    <a:srgbClr val="172B3A"/>
                  </a:solidFill>
                  <a:latin typeface="+mn-lt"/>
                  <a:ea typeface="+mn-ea"/>
                  <a:cs typeface="+mn-cs"/>
                </a:rPr>
                <a:t>Backend'iniz artık kendi teknoloji yığınının ötesindeki</a:t>
              </a:r>
              <a:br/>
              <a:r>
                <a:rPr lang="tr-TR" sz="1950" dirty="0">
                  <a:solidFill>
                    <a:srgbClr val="172B3A"/>
                  </a:solidFill>
                  <a:latin typeface="+mn-lt"/>
                  <a:ea typeface="+mn-ea"/>
                  <a:cs typeface="+mn-cs"/>
                </a:rPr>
                <a:t>AI yeteneklerinden güvenle yararlanabiliyor. Sıradaki adım,</a:t>
              </a:r>
              <a:br/>
              <a:r>
                <a:rPr lang="tr-TR" sz="1950" dirty="0">
                  <a:solidFill>
                    <a:srgbClr val="172B3A"/>
                  </a:solidFill>
                  <a:latin typeface="+mn-lt"/>
                  <a:ea typeface="+mn-ea"/>
                  <a:cs typeface="+mn-cs"/>
                </a:rPr>
                <a:t>tüm bölümleri tek bir sistemde birleştirmektir.</a:t>
              </a:r>
            </a:p>
          </p:txBody>
        </p:sp>
      </p:grpSp>
      <p:grpSp>
        <p:nvGrpSpPr>
          <p:cNvPr id="14" name="bridge-now"/>
          <p:cNvGrpSpPr/>
          <p:nvPr/>
        </p:nvGrpSpPr>
        <p:grpSpPr>
          <a:xfrm>
            <a:off x="599694" y="2799398"/>
            <a:ext cx="3215259" cy="1834419"/>
            <a:chOff x="599694" y="2799398"/>
            <a:chExt cx="3215259"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965704"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Timeout ve hata izolasyonuyla</a:t>
              </a:r>
              <a:br/>
              <a:r>
                <a:rPr lang="tr-TR" sz="1580" dirty="0">
                  <a:solidFill>
                    <a:srgbClr val="172B3A"/>
                  </a:solidFill>
                  <a:latin typeface="+mn-lt"/>
                  <a:ea typeface="+mn-ea"/>
                  <a:cs typeface="+mn-cs"/>
                </a:rPr>
                <a:t>AI servisine güvenle bağlanmak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744978"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AI çıktısını güven skoruyla</a:t>
              </a:r>
              <a:br/>
              <a:r>
                <a:rPr lang="tr-TR" sz="1580" dirty="0">
                  <a:solidFill>
                    <a:srgbClr val="172B3A"/>
                  </a:solidFill>
                  <a:latin typeface="+mn-lt"/>
                  <a:ea typeface="+mn-ea"/>
                  <a:cs typeface="+mn-cs"/>
                </a:rPr>
                <a:t>doğrulayıp gözlemlemek</a:t>
              </a:r>
            </a:p>
          </p:txBody>
        </p:sp>
      </p:grpSp>
      <p:grpSp>
        <p:nvGrpSpPr>
          <p:cNvPr id="19" name="bridge-next"/>
          <p:cNvGrpSpPr/>
          <p:nvPr/>
        </p:nvGrpSpPr>
        <p:grpSpPr>
          <a:xfrm>
            <a:off x="7010400" y="2667000"/>
            <a:ext cx="4572000" cy="2286000"/>
            <a:chOff x="7010400" y="2667000"/>
            <a:chExt cx="4572000" cy="2286000"/>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428286"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Üniversite Laboratuvar</a:t>
              </a:r>
              <a:br/>
              <a:r>
                <a:rPr lang="tr-TR" sz="2250" b="1" dirty="0">
                  <a:solidFill>
                    <a:srgbClr val="FFFFFF"/>
                  </a:solidFill>
                  <a:latin typeface="+mn-lt"/>
                  <a:ea typeface="+mn-ea"/>
                  <a:cs typeface="+mn-cs"/>
                </a:rPr>
                <a:t>Yönetim Sistemi</a:t>
              </a:r>
            </a:p>
          </p:txBody>
        </p:sp>
        <p:sp>
          <p:nvSpPr>
            <p:cNvPr id="18" name="TextBox 18"/>
            <p:cNvSpPr txBox="1"/>
            <p:nvPr/>
          </p:nvSpPr>
          <p:spPr>
            <a:xfrm>
              <a:off x="7307199" y="4135279"/>
              <a:ext cx="3627882" cy="5747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Kitap boyunca işlenen tüm yetenekler</a:t>
              </a:r>
              <a:br/>
              <a:r>
                <a:rPr lang="tr-TR" sz="1580" dirty="0">
                  <a:solidFill>
                    <a:srgbClr val="EAF4F6"/>
                  </a:solidFill>
                  <a:latin typeface="+mn-lt"/>
                  <a:ea typeface="+mn-ea"/>
                  <a:cs typeface="+mn-cs"/>
                </a:rPr>
                <a:t>tek bir capstone projede birleşecek.</a:t>
              </a:r>
            </a:p>
          </p:txBody>
        </p:sp>
      </p:grpSp>
      <p:grpSp>
        <p:nvGrpSpPr>
          <p:cNvPr id="23" name="bridge-closing"/>
          <p:cNvGrpSpPr/>
          <p:nvPr/>
        </p:nvGrpSpPr>
        <p:grpSpPr>
          <a:xfrm>
            <a:off x="609600" y="5429250"/>
            <a:ext cx="10972800" cy="709518"/>
            <a:chOff x="609600" y="5429250"/>
            <a:chExt cx="10972800" cy="709518"/>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1016571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Aynı timeout, retry ve çıktı doğrulama disipliniyle bakım kayıtları özetlenecek,</a:t>
              </a:r>
            </a:p>
          </p:txBody>
        </p:sp>
        <p:sp>
          <p:nvSpPr>
            <p:cNvPr id="22" name="TextBox 22"/>
            <p:cNvSpPr txBox="1"/>
            <p:nvPr/>
          </p:nvSpPr>
          <p:spPr>
            <a:xfrm>
              <a:off x="906399" y="5830729"/>
              <a:ext cx="407856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ekipman arıza riski tahmin edilecektir.</a:t>
              </a:r>
            </a:p>
          </p:txBody>
        </p:sp>
      </p:grpSp>
      <p:sp>
        <p:nvSpPr>
          <p:cNvPr id="24" name="TextBox 2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17-ai-ml-service-integration-20260916">
  <a:themeElements>
    <a:clrScheme name="b17-ai-ml-service-integration-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7-ai-ml-service-integration-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7-ai-ml-service-integration-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17-ai-ml-service-integration-20260916">
  <a:themeElements>
    <a:clrScheme name="b17-ai-ml-service-integration-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17-ai-ml-service-integration-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17-ai-ml-service-integration-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2026-09-19T21:21:54Z</dcterms:created>
  <dcterms:modified xsi:type="dcterms:W3CDTF">2026-09-19T21:21:54Z</dcterms:modified>
  <cp:category/>
  <cp:contentStatus/>
</cp:coreProperties>
</file>