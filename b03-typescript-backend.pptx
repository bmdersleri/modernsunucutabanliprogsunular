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Modern Sunucu Tabanlı Programlama dersinin üçüncü bölümüdür ve önceki bölümlerde kurduğumuz JavaScript tabanlı backend bilgisinin üzerine tip güvenliği katmanını ekler. Bölümün temel iddiası şudur: backend geliştirmede veriler sürekli katmanlar arasında hareket eder ve bu yolculuk sırasında bir alanın yanlış türde olması uygulamanın beklenmedik biçimde davranmasına neden olur. Bölüm boyunca kullanacağımız örnekler Üniversite Laboratuvar Yönetim Sistemi'nin ekipman ve rezervasyon modellerinden gelir; Ekipman arayüzü ve RezervasyonYaniti birleşim türü, API sözleşmesini derleme anında güvenceye alır. Derse başlarken öğrencilere şunu hatırlatın: TypeScript ayrı bir çalışma zamanı değildir, JavaScript'e derlenen ve geliştirme sürecinde tip denetimi yapan bir dildir.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beş soru bölümün değerlendirme iskeletidir; öğrencilerden bunları okurken akıllarında tutmalarını isteyin, çünkü bölüm sonundaki öz değerlendirme soruları doğrudan bu beşinden türetilmiştir. Sorular basitten karmaşığa doğru sıralanmıştır: önce dilin ne sağladığı, sonra çıkarımın nasıl çalıştığı, ardından model seçimi, sonra genelleme ve en son derleyici katılığı. Bölümün açık hedefi, HTTP isteğinden güvenli API yanıtına uzanan süreçte TypeScript tiplerinin nasıl sözleşme oluşturduğunu göstermektir. Bu sorulara bölümün sonunda geri dönmek, öğrenmenin kendi kendini ölçmesini sağlar.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Her hedefin yanında duran ölçüt, o hedefin nasıl sınanacağını söyler; bu ayrım önemlidir çünkü başarı ölçütü yalnızca kodun derlenmesi değildir. Örneğin üçüncü hedefte öğrenciden interface, type ve union arasında seçim yapması değil, yanlış model tercihinin neden riskli olduğunu açıklaması beklenir. Dördüncü hedefte aynı ApiSonucu yapısının hem kullanıcı hem kitap hem de sipariş verisi için tekrarsız kullanılabildiğini göstermesi istenir; generic tip parametresinin giriş ve çıkışta tutarlı kullanılması temel değerlendirme ölçütlerinden biridir. Bölümün kazandırmak istediği zihinsel alışkanlık şudur: sözdizimini ezberlemek yerine, hangi verinin nerede belirsiz olabileceğini sistematik biçimde sormak.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şema, bölümün altı temel kavramının birbirine nasıl bağlandığını özetler ve kitaptaki Şekil 3.1'in karşılığıdır. Ok tiplerindeki ayrım kasıtlıdır: düz oklar temel tip sisteminden türeyen doğrudan yetenekleri, kesikli oklar ise kavramlar arası tamamlayıcı ilişkileri gösterir. İki kesikli ok özellikle dikkat çekicidir; interface ve union tipleri generic fonksiyonlarla birlikte kullanılabildiği için tekrar kullanılabilir sözleşmeler üretir, tip çıkarımının doğruluğu ise strict mode'un yakaladığı hataların azlığını belirler. Strict mode'u en altta geniş bir bant olarak çizmemizin nedeni, onun tek tek kavramların yanında duran altıncı bir kavram değil, hepsinin üzerinde çalışan bir denetim katmanı olmasıdır. Bu haritayı bölüm sonunda tekrar gösterip öğrencilerden ilişkileri kendi cümleleriyle anlatmalarını isteyebilirsiniz.</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matris, kavramların yetki sınırlarını netleştirmek için hazırlanmıştır ve bölümün en çok başvurulacak referans sayfasıdır. Ortadaki sütun, yani her kavramın ne yapmadığı, aslında en öğretici olanıdır; çünkü bölümdeki yaygın hataların hepsi bir kavrama yapmadığı bir işi atfetmekten doğar. Özellikle derleyici satırındaki type erasure kavramını vurgulayın: tipler derleme sonrasında tamamen silinir, çalışma zamanında yalnızca ham JavaScript yürütülür. Interface satırındaki "bellekte yer kaplamaz, derlenmiş JavaScript çıktısında bulunmaz" ifadesi de aynı gerçeğin başka bir yüzüdür. Son sütun, kavram yokken ortaya çıkan somut maliyeti gösterdiği için öğrencilerin motivasyonunu artırır.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ilke bölümün mimari omurgasıdır: bir HTTP gövdesi, ortam değişkeni, dosya içeriği veya üçüncü taraf servis yanıtı TypeScript türüyle uyumlu varsayılamaz. Bu değerler uygulamaya önce unknown olarak girer; alanların varlığı ve türü çalışma zamanında doğrulandıktan sonra iç modelin türüne dönüştürülür. İki tuzağı ayırt etmek önemlidir: any kullanımı bu denetim zincirini tamamen keser, as HedefTip ise doğrulama yapmadan yalnızca derleyiciye bir iddia bildirir; ikisi de güvenlik sağlamaz ama farklı biçimlerde yanıltır. unknown'ın any'den farkı, kullanılmadan önce türünün daraltılmasını zorunlu kılmasıdır; bu bir engel değil, dış veriye karşı bir güvenlik katmanıdır. Çalışma zamanı doğrulamasının Express uç noktalarındaki somut uygulaması Bölüm 11'de ele alınacaktır.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akış kitaptaki Şekil 3.2'nin karşılığıdır ve bir önceki sayfadaki ilkenin somut karşılığını gösterir. İstemciden gelen veri önce doğrulanır, ardından TypeScript'in tanıdığı güvenli modele dönüştürülür; böylece servis katmanı doğrulanmamış ham veri yerine sözleşmeye uyan veriyle çalışır. Karar noktasının iki çıkışı olması kasıtlıdır: geçersiz veri sessizce düşürülmez, istemciye anlaşılır bir hata yanıtı döner ve doğrulama ayrıntısı sunucu günlüğünde tutulur. Öğrencilerin en sık karıştırdığı nokta burasıdır, bu yüzden açıkça söyleyin: TypeScript çalışma zamanında gelen HTTP verisini otomatik doğrulamaz. Tipler geliştirme zamanında sözleşme sağlar; dış veriler için ayrıca çalışma zamanı doğrulaması gerekir.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TypeScript, JavaScript projelerinin büyümesiyle ortaya çıkan bakım maliyetlerine yanıt olarak Microsoft tarafından 2012 yılında yayımlandı. Statik tip denetimi, programın olası hatalarını derleme sürecinde yakalamayı amaçlar; bir fonksiyon sayısal fiyat bekliyorsa ona yanlışlıkla metin gönderildiğinde TypeScript hata verir, JavaScript ise bunu çoğu zaman ancak kod çalışırken fark eder. Gerçek bir backend sisteminde bu fark kritiktir, çünkü sipariş toplamı, kullanıcı rolü veya kitap stok miktarı gibi alanlarda yanlış tür kullanımı doğrudan işletme kuralını bozabilir. Günlük yaşamda bu yapı ürün deposundaki etiketleme sistemine benzer: cam eşya, soğuk zincir veya acil teslimat etiketleri taşıma sürecini yönlendirir, TypeScript tipleri de verinin nasıl kullanılacağını belirler. Tip kullanmak ek belge yükü değildir; tipler belge ile test arasında bir köprü kurar.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bölümün kuramsal zeminini verir ve sınavda açık uçlu soru olarak sorulmaya uygundur. Kademeli tipleme, Siek ve Taha'nın 2006 tarihli çalışmasında adlandırılan yaklaşımdır: bir programın bir kısmının statik olarak tiplenmesine, bir kısmının ise dinamik kalmasına izin vererek tamamen statik ve tamamen dinamik diller arasında bir ara yol sunar. Yapısal tipleme ise bir nesnenin türünün adına değil sahip olduğu alan ve davranışlara göre belirlenmesidir; bu, dinamik dillerdeki duck typing sezgisinin biçimsel ve statik karşılığıdır. Nominal tipleme kullanan Java ve C# iki sınıfı yalnızca aynı adı taşıyorlarsa uyumlu sayar, TypeScript ise yalnızca aynı alan kümesine sahip olup olmadıklarına bakar. Interface sözleşmesi ayrıca Bertrand Meyer'in 1988'deki tasarım sözleşmesi fikriyle örtüşür: arayüzü kullanan taraf yalnızca sözleşmedeki alanlara güvenir, sağlayan tarafın iç uygulamasından bağımsız kalır.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iki örnek, bölümün ilk laboratuvar görevinin doğrudan hazırlığıdır. Birinci örnekte kullaniciKimligi sayı, kullaniciAdi metin ve epostaDogrulandiMi mantıksal değer olarak modellenmiştir; şablon metin içinde üç farklı tipteki değer tek bir dizeye güvenle birleştirilir. İkinci örnekte dikkat çekilmesi gereken nokta, kitapSatistaMi değerinin doğrudan yazılmayıp stok sayısından hesaplanmasıdır; TypeScript karşılaştırma sonucunun boolean olduğunu bilir, yani veri türü yalnızca depolanan değeri değil hesaplama sonucunu da güvenli biçimde ifade eder. Öğrencilere şu denemeyi yaptırın: kullaniciKimligi değişkenine "101" metnini atamaya çalışsınlar ve derleyicinin ürettiği hatayı okusunlar. Burada tipler açıkça yazılmıştır, ancak TypeScript aynı sonucu çoğu durumda tip çıkarımıyla da üretebilir; bu bir sonraki konunun kapısını açar.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TypeScript, birden fazla geliştiricinin çalıştığı, API tüketen veya API sunan her backend projesinde tercih edilmelidir; kullanıcı kayıtları, ödeme bilgileri, yetkilendirme rolleri ve sipariş durumları gibi kritik veriler özellikle tiplenmelidir. Küçük bir deneme betiğinde yalnızca JavaScript kullanmak mümkündür, ancak proje büyüme eğilimindeyse en baştan TypeScript kullanmak daha az maliyetlidir; sonradan binlerce JavaScript dosyasını tip güvenli hâle getirmek genellikle çok daha zordur. Tablodaki son satır bölümün en sık atlanan ayrımını taşır: TypeScript geliştiricinin yazdığı kodu denetler, doğrulama kütüphanesi ise ağ üzerinden gelen gerçek veriyi denetler. Bu ikisi birbirinin alternatifi değil tamamlayıcısıdır; istemcinin göndereceği JSON verisi kötü niyetli veya hatalı olabilir, bu yüzden dış veri çalışma zamanında doğrulandıktan sonra TypeScript modeline dönüştürülmelidir.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Soldaki iki kod bloğu aynı işi yapmaya çalışır ama yalnızca ikincisi güvenlidir. Hatalı örnekte nesnenin yapısı derleyici tarafından hiç kontrol edilmez, bu yüzden var olmayan eposta alanına erişim ancak uygulama çalışırken hata üretir; doğru örnekte ise e-posta alanı artık zorunlu bir sözleşmedir ve derleyici eksik veriyi erken bildirir. İkinci hata kavramsal olarak en incesidir: const veri = istekGovdesi as KullaniciKaydi ifadesi hiçbir doğrulama yapmaz, yalnızca derleyiciye bir iddia sunar, dolayısıyla dış veri için alanların varlığı, türü ve iş kuralları ayrıca kontrol edilmelidir. Üçüncü hata gündelik görünse de maliyetlidir; "12" değeri ekranda doğru görünür fakat toplama işleminde beklenmeyen birleştirme sonucu doğurur, bu yüzden miktar, fiyat ve kimlik karşılaştırmalarında anlamına uygun tür seçilmelidir.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Tip çıkarımı, TypeScript'in bir değerin türünü açık bildirim olmadan çıkarma mekanizmasıdır; const kitapSayisi = 20 ifadesinde derleyici bu değişkenin sayı olduğunu anlar. Bu mekanizmanın kuramsal kökeni Roger Hindley'nin 1969'daki çalışması ile Robin Milner'ın 1978'de ML dili için tanımladığı algoritmaya dayanır; TypeScript bu algoritmanın tam genelliğini uygulamaz ama temel fikir aynıdır, değerin türü kendisinden ve kullanım bağlamından mantıksal olarak çıkarsanabilir. Çıkarımın pratik değeri, sözleşme sınırı ile iç uygulama ayrıntısı arasındaki ayrımdadır: tip teorisi, sınır noktalarında açık tip bildiriminin okunabilirlik için değerli kaldığını, iç ayrıntılarda ise çıkarımın yeterli olduğunu gösterir. Etiketleme makinesi benzetmesi bu ayrımı somutlaştırır; içerik açıksa etiket otomatik basılır, belirsizse elle ve dikkatle eklenir. TypeScript 4.x ve 5.x sürümleri çıkarımı generic, koşullu tip ve fonksiyon senaryolarında olgunlaştırdı.</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Koddaki ayrım bilinçlidir: birimFiyat ve adet parametreleri açıkça number yazılmıştır çünkü fonksiyonun dışarıya sunduğu sözleşme burada başlar, araToplam ve kargoUcretsizMi ise yazılmamıştır çünkü TypeScript bunları çarpım ve karşılaştırma ifadelerinden çıkarır. Return edilen nesnenin biçimi de çıkarsanır, bu sayede siparisOzeti.araToplam güvenle sayısal olarak kullanılabilir; siparisOzeti.araToplam.toUpperCase() yazılsaydı çıkarılan tip sayı olduğu için derleme zamanında hata verirdi. Çıkarımın sınırını gösteren örnek boş dizidir: yalnızca const kullaniciListesi = [] yazarak başlamak, kullanım bağlamına göre yetersiz veya çok geniş bir tip doğurabilir, bu yüzden Kullanici[] bildirimi dizinin amacını açıklığa kavuşturur. Bu, boş bir teslimat kamyonuna hangi tür paketlerin konabileceğini önceden belirtmeye benzer. Aşırı uca kaçmamak da önemlidir; her yere açık tip yazmak teknik olarak yanlış değildir ama bakım maliyetini artırır.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Interface, bir nesnenin taşıması gereken alanları ve metotları tanımlayan TypeScript sözleşmesidir ve uygulamanın veri modellerini tutarlı hâle getirir. Koddaki stoktaMi fonksiyonu Kitap parametresi aldığı için fonksiyon içinde kitap.stokAdedi alanına güvenle erişilebilir; fonksiyona yanlış biçimde bir nesne gönderilirse hata daha kod çalışmadan görülür. Interface'in en önemli özelliği, nesnenin nasıl saklandığını değil nasıl görünmesi gerektiğini tanımlamasıdır, bu yüzden farklı sınıflar veya farklı veri kaynakları aynı sözleşmeye uyabilir. Merkezi sözleşme olmadan ekip üyeleri aynı kavramı farklı alan adlarıyla modelleyebilir; biri kitapIsmi, diğeri ad, üçüncüsü baslik kullanır ve tip sistemi ortak dili teknik olarak uygular. Aynı sözleşme fikri Bölüm 8'de Prisma'nın ürettiği tiplerde ve Bölüm 9'da repository arayüzlerinde yeniden karşımıza çıkacaktır.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extends anahtar sözcüğü, standart teslim formuna eklenen özel teslim yetkisi alanı gibi düşünülebilir; yönetici kullanıcıya ait bütün alanları taşır, ayrıca yönetim paneli yetkisini de belirtir. Genişletme, ortak alanları tekrar etmeden YoneticiKullanici veya YazarKullanici gibi türevler oluşturmayı sağlar ve bir kullanıcıya rol alanı eklendiğinde dağınık nesne tanımlarını tek tek güncelleme zorunluluğunu ortadan kaldırır. Alttaki tablo seçim ölçütünü verir: nesne biçimindeki domain modelleri için interface, birleşik veya dönüştürülmüş tipler için type, veri ve davranışı birlikte taşıyan yapılar için class uygundur. İki farkı özellikle vurgulayın: interface declaration merging ile aynı isimle yeniden açılıp genişletilebilir, type ise union, tuple ve mapped type gibi daha genel yapılar tanımlayabilir. İki yaygın hatayı da hatırlatın: zorunlu alanı eksik bırakmak ve her kitapta bulunmayacak kapak görselini isteğe bağlı yapmak yerine zorunlu tanımlamak.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Union, bir değerin önceden tanımlanmış birden fazla türden veya literal değerden biri olabileceğini ifade eder ve serbest metin kullanımını engeller. Bir alanı string olarak tanımlamak çok geniş bir olasılık kümesine izin verir; siparisDurumu: string teknik olarak "kargoda" değerini kabul eder ama "uzayaGitti" gibi anlamsız bir değeri de kabul eder, yani iş kuralları kodun dışında kalır. Depo etiketi benzetmesi bunu somutlaştırır: mavi, sarı veya kırmızı etiketler tanımlıysa görevli rastgele mor etiket kullanamaz. Union'ın kuramsal karşılığı tip teorisindeki toplam tiptir ve kökeni ML ailesi dillerindeki cebirsel veri tipi fikrine dayanır; interface alanları VE ile, union seçenekleri ise İSE ile birleşir. Derleyicinin switch içindeki tüm durumların ele alınıp alınmadığını denetleyebilmesi, union'ı yalnızca bir kısıtlama değil aynı zamanda bir değişiklik güvenlik ağı hâline getirir.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Ayrık union, bir nesnenin aynı anda farklı biçimlerde olabildiği durumlar için tasarlanmıştır; başarılı API yanıtında veri, hatalı yanıtta hataMesaji bulunur. Buradaki basarili alanı ayırt edici alan görevi görür ve TypeScript kontrol akışına göre tipi daraltır, böylece her dal yalnızca kendi alanlarına erişebilir. Bu yaklaşım, tek bir nesnede bütün alanları isteğe bağlı yapmaktan çok daha güvenlidir, çünkü isteğe bağlı alanlar hangi kombinasyonların gerçekten mümkün olduğunu gizler. En sık yapılan hata, ayrık union alanını daraltmadan kullanmaktır; sonuc.hataMesaji her sonuçta bulunmaz, önce sonuc.basarili kontrol edilmelidir. Dış kaynaklı alanlarda dikkatli olun: üçüncü taraf ödeme sağlayıcısı yeni durumlar gönderebilir, bu durumda çalışma zamanı doğrulaması, bilinmeyen değer için güvenli bir varsayılan davranış ve union tanımının güncellenmesi gerekir.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Generic, aynı algoritmayı farklı veri türleriyle çalıştırırken tip bilgisini koruyan parametreli tip mekanizmasıdır; T ifadesi fonksiyonun daha sonra alacağı veri türü için yer tutucudur. Generic olmadan ortak servis sonuçları çoğunlukla any ile yazılır ve veri alanından gelen nesnenin kullanıcı mı kitap mı olduğu bilinmez; her model için ayrı KullaniciSonucu, KitapSonucu ve SiparisSonucu yazmak ise basarili, mesaj ve veri alanlarını tekrar tekrar tanımlamak demektir. Standart taşıma kutusu benzetmesi işe yarar: kutu aynı güvenlik kurallarına sahiptir ama içine kitap, elektronik ürün veya kırtasiye malzemesi konabilir. Kuramsal temel Christopher Strachey'nin 1967'de ayırdığı parametrik çoklu biçimliliktir ve Reynolds'un 1983'teki soyutlama teoremiyle ilişkilidir; bir fonksiyon T hakkında hiçbir varsayımda bulunmuyorsa davranışı büyük ölçüde imzasından tahmin edilebilir. TypeScript generic desteğini 0.9 sürümüyle, 18 Haziran 2013'te duyurdu. İki hatayı hatırlatın: generic parametresini hiç kullanmamak ve generic sonucu as ile zorla yanlış türe atamak.</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Strict mode, tsconfig.json dosyasında "strict": true ile etkinleştirilen ve birçok güvenlik kontrolünü birlikte açan ayar kümesidir. Koddaki kullaniciBul fonksiyonunun dönüş türünün Kullanici | undefined olması, aramanın başarısız olabileceğini sözleşmeye eklemektir; çağıran kod kullanıcı adına erişmeden önce undefined kontrolü yapar. Bu ayrım backend servislerinde açık hata yönetimi sağlar: denetleyici, kayıt bulunamadı durumunda 404, beklenmeyen hata durumunda 500 yanıtı üretebilir. Kuramsal arka planı da paylaşın: strictNullChecks'in çözmeye çalıştığı sorun, null referansını 1965'te icat eden Tony Hoare'un 2009'da milyar dolarlık hata olarak nitelendirdiği sorundur ve fonksiyonel diller bunu Option ya da Maybe tipiyle çözer. Önemli bir incelik vardır: yalnızca strict: true, boş dizide ilk elemana erişimi yakalamaz, bunun için noUncheckedIndexedAccess ayarının açılması gerekir. Eski projelere geçişte amaç, hataları susturmak için sürekli ünlem işareti veya as kullanmak olmamalıdır.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üç yanılgı, derleme zamanı ile çalışma zamanı arasındaki sınırın yanlış anlaşılmasından doğar ve bölümün en yaygın mimari güvenlik açıklarını üretir. Birincisinde öğrenci interface tanımlamanın gelen JSON'u otomatik doğruladığını sanır; oysa tipler derleme sonrasında silinir ve çalışma zamanında yalnızca ham JavaScript yürütülür, bu yüzden statik tipler Zod gibi şema doğrulayıcılarla desteklenmelidir. İkincisinde any veya as unknown as HedefTip hızlı bir çözüm gibi görünür, ancak sorun çözülmez yalnızca üretim ortamına ertelenir; doğru yol unknown kullanıp typeof, instanceof veya özel tip koruyucu fonksiyonlarla kademeli daraltmaktır. Üçüncüsünde ünlem operatörünün bir garanti olduğu sanılır; oysa o yalnızca derleyiciye bana güven demektir ve değer boş gelirse TypeError kaçınılmazdır. Öğrencilere şu ölçütü verin: verinin kaynağı bizim denetimimizde mi? Kendi kodumuz üretiyorsa tür yeterlidir, ağdan, kullanıcıdan veya dosyadan geliyorsa çalışma zamanı doğrulaması gerekir.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alıştırma kasıtlı olarak birden fazla hata içerir ve amacı strict mode uyarılarını yorumlamayı öğretmektir. Dört derleyici hatası birbirini tetikler: parametre string tanımlanmıştır ama sipariş kimliği number'dır, find metodu Siparis | undefined döndürürken fonksiyon yalnızca Siparis döndürüyormuş gibi tanımlanmıştır, fonksiyon sayıyla çağrılmıştır ve son olarak sayısal tutar alanında metin metodu çağrılmıştır. Beşinci bir sorun daha vardır ve derleyici onu göstermez: iş mantığı açısından bulunamayan sipariş için anlamlı bir sonuç üretilmemektedir. Düzeltilmiş sürümde kimlik türü veri modeliyle tutarlı biçimde sayı seçilir, bulunamayan kayıt için undefined dönüşü açıkça belirtilir ve çağıran taraf kontrol ekler; böylece program çökmek yerine "Sipariş bulunamadı." mesajını üretir. Sınıfta tartışılacak dört soru vardır: find sonucunun undefined olmasını hangi veri koşulu oluşturur, tutar metne nasıl çevrilir, durum kümesine yeni değer eklenirse hangi kod parçaları güncellenmelidir ve bu fonksiyon bir HTTP denetleyicisinde kullanılsaydı hangi durum kodu uygun olurdu.</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program küçük bir kitap sipariş servisinin çekirdeğini simüle eder; gerçek bir web sunucusu yerine sınıf ve main fonksiyonu kullanılır, böylece bölümdeki tip güvenliği kavramları tek bir yerde görülebilir. Üç kavram burada birlikte çalışır: Kitap ve Siparis interface'leri veri sözleşmesini kurar, SiparisDurumu union'ı yalnızca tanımlı durumlara izin verir, ServisSonucu generic ayrık union'ı ise hem başarı hem hata sonuçlarını güvenle taşır. Kritik nokta main fonksiyonundadır: yalnızca basarili alanına göre dallanıldığı için TypeScript, else dalında veri alanına erişimi tip daraltma sayesinde reddeder, bu strict mode'un pratikte sağladığı korumadır. Servis ayrıca üç iş kuralını sırayla denetler; kitabın varlığı, adedin sıfırdan büyük olması ve stok yeterliliği. Öğrencilere üç genişletme görevi verin: iptalEdildi durumunu ekleyip stok iade eden bir metot yazmak, Kullanici interface'i ile siparişi kullanıcıya bağlamak ve generic bir sayfalama sonucu tipi tanımlamak.</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altı kart bölümün bütününü özetler ve sınav öncesi tekrar için kullanılabilir. Tipler, verinin katmanlar arasında taşınırken anlamını koruyan sözleşmeler olarak ele alınmıştır; tip çıkarımı yerel ve açık değerlerde kodu sadeleştirirken API sınırları, parametreler ve önemli dönüş değerlerinde açık tipler daha yararlıdır. Interface nesne sözleşmesi kurar, union geçerli durumları sınırlandırır, generic yapılar tekrar eden servis kodunu veri türünü kaybetmeden genelleştirir ve strict mode null ile undefined kaynaklı hataları üretim ortamına ulaşmadan yakalamaya yardımcı olur. Alttaki cümle bölümün sınav notudur ve öğrencilerin akılda tutması gereken tek cümle olarak verilebilir: TypeScript'in en önemli katkısı JavaScript kodunu daha katı yapmak değil, belirsizliği görünür ve yönetilebilir hâle getirmektir. Güvenli backend kodu yalnızca doğru türleri yazmak değildir; verinin eksik, yanlış veya beklenmedik olabileceği her noktayı bilinçli biçimde ele almaktır.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TypeScript temel tiplerini, tip çıkarımını, interface yapılarını, union türlerini, generic mekanizmalarını ve strict mode yaklaşımını öğrendiniz; bu kavramlar backend kodunda verinin ne olduğunu, hangi durumda geçerli sayıldığını ve hangi durumda güvenli biçimde reddedilmesi gerektiğini ifade etmenizi sağlar. İstemci isteğinden servis katmanına uzanan veri yolunda artık tip sözleşmeleri kurabilir, başarı ve hata sonuçlarının ve bulunamayan kayıtların nasıl temsil edilmesi gerektiğini değerlendirebilirsiniz. Bir sonraki bölümde bu bilgiyi HTTP katmanına, API tasarımına ve çalışma zamanı doğrulamasına taşıyacaksınız; böylece yalnızca geliştiricinin yazdığı kodu değil, dış dünyadan uygulamanıza gelen veriyi de güvenli biçimde yöneteceksiniz. Öğrencilere kapanış tavsiyesini verin: her yeni servis fonksiyonuna başlamadan önce giriş verisi, dönüş verisi ve hata durumları için ayrı sözleşmeler düşünün. Programlama alıştırmalarında her çözümde strict ayarının açık olması ve dışarıdan alınan en az bir örnek verinin unknown kabul edilip type guard ile işlenmesi beklenmektedir.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03-typescript-backend-2026091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03-typescript-backend-2026091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03</a:t>
              </a:r>
            </a:p>
          </p:txBody>
        </p:sp>
      </p:grpSp>
      <p:grpSp>
        <p:nvGrpSpPr>
          <p:cNvPr id="8" name="cover-title"/>
          <p:cNvGrpSpPr/>
          <p:nvPr/>
        </p:nvGrpSpPr>
        <p:grpSpPr>
          <a:xfrm>
            <a:off x="4933950" y="1927860"/>
            <a:ext cx="4238625" cy="2152650"/>
            <a:chOff x="4933950" y="1927860"/>
            <a:chExt cx="4238625" cy="2152650"/>
          </a:xfrm>
        </p:grpSpPr>
        <p:sp>
          <p:nvSpPr>
            <p:cNvPr id="7" name="TextBox 7"/>
            <p:cNvSpPr txBox="1"/>
            <p:nvPr/>
          </p:nvSpPr>
          <p:spPr>
            <a:xfrm>
              <a:off x="4933950" y="1927860"/>
              <a:ext cx="4238625" cy="2152650"/>
            </a:xfrm>
            <a:prstGeom prst="rect">
              <a:avLst/>
            </a:prstGeom>
            <a:noFill/>
            <a:ln>
              <a:noFill/>
            </a:ln>
          </p:spPr>
          <p:txBody>
            <a:bodyPr wrap="none" lIns="0" tIns="0" rIns="0" bIns="0" anchor="t" anchorCtr="0">
              <a:spAutoFit/>
            </a:bodyPr>
            <a:lstStyle/>
            <a:p>
              <a:pPr algn="l">
                <a:lnSpc>
                  <a:spcPts val="5250"/>
                </a:lnSpc>
              </a:pPr>
              <a:r>
                <a:rPr lang="tr-TR" sz="4200" b="1" dirty="0">
                  <a:solidFill>
                    <a:srgbClr val="12355B"/>
                  </a:solidFill>
                  <a:latin typeface="+mj-lt"/>
                  <a:ea typeface="+mj-ea"/>
                  <a:cs typeface="+mj-cs"/>
                </a:rPr>
                <a:t>TypeScript ile</a:t>
              </a:r>
              <a:br/>
              <a:r>
                <a:rPr lang="tr-TR" sz="4200" b="1" dirty="0">
                  <a:solidFill>
                    <a:srgbClr val="12355B"/>
                  </a:solidFill>
                  <a:latin typeface="+mj-lt"/>
                  <a:ea typeface="+mj-ea"/>
                  <a:cs typeface="+mj-cs"/>
                </a:rPr>
                <a:t>Güvenli Backend</a:t>
              </a:r>
              <a:br/>
              <a:r>
                <a:rPr lang="tr-TR" sz="4200" b="1" dirty="0">
                  <a:solidFill>
                    <a:srgbClr val="12355B"/>
                  </a:solidFill>
                  <a:latin typeface="+mj-lt"/>
                  <a:ea typeface="+mj-ea"/>
                  <a:cs typeface="+mj-cs"/>
                </a:rPr>
                <a:t>Kodlama</a:t>
              </a:r>
            </a:p>
          </p:txBody>
        </p:sp>
      </p:grpSp>
      <p:grpSp>
        <p:nvGrpSpPr>
          <p:cNvPr id="12" name="cover-subtitle"/>
          <p:cNvGrpSpPr/>
          <p:nvPr/>
        </p:nvGrpSpPr>
        <p:grpSpPr>
          <a:xfrm>
            <a:off x="4943094" y="4095750"/>
            <a:ext cx="4648390" cy="900018"/>
            <a:chOff x="4943094" y="4095750"/>
            <a:chExt cx="4648390" cy="900018"/>
          </a:xfrm>
        </p:grpSpPr>
        <p:sp>
          <p:nvSpPr>
            <p:cNvPr id="9" name="Rectangle 9"/>
            <p:cNvSpPr/>
            <p:nvPr/>
          </p:nvSpPr>
          <p:spPr>
            <a:xfrm>
              <a:off x="4953000" y="4095750"/>
              <a:ext cx="1143000" cy="38100"/>
            </a:xfrm>
            <a:prstGeom prst="rect">
              <a:avLst/>
            </a:prstGeom>
            <a:solidFill>
              <a:srgbClr val="00A6A6"/>
            </a:solidFill>
            <a:ln>
              <a:noFill/>
            </a:ln>
          </p:spPr>
        </p:sp>
        <p:sp>
          <p:nvSpPr>
            <p:cNvPr id="10" name="TextBox 10"/>
            <p:cNvSpPr txBox="1"/>
            <p:nvPr/>
          </p:nvSpPr>
          <p:spPr>
            <a:xfrm>
              <a:off x="4943094" y="4228148"/>
              <a:ext cx="4648390"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Sunucu Tabanlı Programlama</a:t>
              </a:r>
            </a:p>
          </p:txBody>
        </p:sp>
        <p:sp>
          <p:nvSpPr>
            <p:cNvPr id="11" name="TextBox 11"/>
            <p:cNvSpPr txBox="1"/>
            <p:nvPr/>
          </p:nvSpPr>
          <p:spPr>
            <a:xfrm>
              <a:off x="4944999" y="4687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914400" y="1905000"/>
            <a:ext cx="9525" cy="3657600"/>
          </a:xfrm>
          <a:custGeom>
            <a:avLst/>
            <a:gdLst/>
            <a:ahLst/>
            <a:cxnLst/>
            <a:rect l="l" t="t" r="r" b="b"/>
            <a:pathLst>
              <a:path w="9525" h="3657600">
                <a:moveTo>
                  <a:pt x="0" y="0"/>
                </a:moveTo>
                <a:lnTo>
                  <a:pt x="0" y="3657600"/>
                </a:lnTo>
              </a:path>
            </a:pathLst>
          </a:custGeom>
          <a:noFill/>
          <a:ln w="19050">
            <a:solidFill>
              <a:srgbClr val="B8CBD3"/>
            </a:solidFill>
          </a:ln>
        </p:spPr>
      </p:sp>
      <p:grpSp>
        <p:nvGrpSpPr>
          <p:cNvPr id="6" name="page-title"/>
          <p:cNvGrpSpPr/>
          <p:nvPr/>
        </p:nvGrpSpPr>
        <p:grpSpPr>
          <a:xfrm>
            <a:off x="595122" y="282892"/>
            <a:ext cx="3606794" cy="557403"/>
            <a:chOff x="595122" y="282892"/>
            <a:chExt cx="3606794" cy="557403"/>
          </a:xfrm>
        </p:grpSpPr>
        <p:sp>
          <p:nvSpPr>
            <p:cNvPr id="5" name="TextBox 5"/>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8" name="roadmap-lead"/>
          <p:cNvGrpSpPr/>
          <p:nvPr/>
        </p:nvGrpSpPr>
        <p:grpSpPr>
          <a:xfrm>
            <a:off x="599694" y="1313498"/>
            <a:ext cx="6132005" cy="381381"/>
            <a:chOff x="599694" y="1313498"/>
            <a:chExt cx="6132005" cy="381381"/>
          </a:xfrm>
        </p:grpSpPr>
        <p:sp>
          <p:nvSpPr>
            <p:cNvPr id="7" name="TextBox 7"/>
            <p:cNvSpPr txBox="1"/>
            <p:nvPr/>
          </p:nvSpPr>
          <p:spPr>
            <a:xfrm>
              <a:off x="599694" y="1313498"/>
              <a:ext cx="6132005" cy="381381"/>
            </a:xfrm>
            <a:prstGeom prst="rect">
              <a:avLst/>
            </a:prstGeom>
            <a:noFill/>
            <a:ln>
              <a:noFill/>
            </a:ln>
          </p:spPr>
          <p:txBody>
            <a:bodyPr wrap="none" lIns="0" tIns="0" rIns="0" bIns="0" anchor="t" anchorCtr="0">
              <a:spAutoFit/>
            </a:bodyPr>
            <a:lstStyle/>
            <a:p>
              <a:pPr algn="l"/>
              <a:r>
                <a:rPr lang="tr-TR" sz="1950" dirty="0">
                  <a:solidFill>
                    <a:srgbClr val="12355B"/>
                  </a:solidFill>
                  <a:latin typeface="+mn-lt"/>
                  <a:ea typeface="+mn-ea"/>
                  <a:cs typeface="+mn-cs"/>
                </a:rPr>
                <a:t>Bu bölümü okurken şu soruları aklınızda tutun:</a:t>
              </a:r>
            </a:p>
          </p:txBody>
        </p:sp>
      </p:grpSp>
      <p:grpSp>
        <p:nvGrpSpPr>
          <p:cNvPr id="12" name="question-1"/>
          <p:cNvGrpSpPr/>
          <p:nvPr/>
        </p:nvGrpSpPr>
        <p:grpSpPr>
          <a:xfrm>
            <a:off x="704850" y="2000250"/>
            <a:ext cx="9269396" cy="443484"/>
            <a:chOff x="704850" y="2000250"/>
            <a:chExt cx="9269396" cy="443484"/>
          </a:xfrm>
        </p:grpSpPr>
        <p:sp>
          <p:nvSpPr>
            <p:cNvPr id="9" name="Ellipse 9"/>
            <p:cNvSpPr/>
            <p:nvPr/>
          </p:nvSpPr>
          <p:spPr>
            <a:xfrm>
              <a:off x="704850" y="2000250"/>
              <a:ext cx="419100" cy="419100"/>
            </a:xfrm>
            <a:prstGeom prst="ellipse">
              <a:avLst/>
            </a:prstGeom>
            <a:solidFill>
              <a:srgbClr val="12355B"/>
            </a:solidFill>
            <a:ln>
              <a:noFill/>
            </a:ln>
          </p:spPr>
        </p:sp>
        <p:sp>
          <p:nvSpPr>
            <p:cNvPr id="10" name="TextBox 10"/>
            <p:cNvSpPr txBox="1"/>
            <p:nvPr/>
          </p:nvSpPr>
          <p:spPr>
            <a:xfrm>
              <a:off x="844982" y="21159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1</a:t>
              </a:r>
            </a:p>
          </p:txBody>
        </p:sp>
        <p:sp>
          <p:nvSpPr>
            <p:cNvPr id="11" name="TextBox 11"/>
            <p:cNvSpPr txBox="1"/>
            <p:nvPr/>
          </p:nvSpPr>
          <p:spPr>
            <a:xfrm>
              <a:off x="1419606" y="2091690"/>
              <a:ext cx="8554640"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TypeScript, JavaScript ile yazılan backend kodunu nasıl güvenilir kılar?</a:t>
              </a:r>
            </a:p>
          </p:txBody>
        </p:sp>
      </p:grpSp>
      <p:grpSp>
        <p:nvGrpSpPr>
          <p:cNvPr id="16" name="question-2"/>
          <p:cNvGrpSpPr/>
          <p:nvPr/>
        </p:nvGrpSpPr>
        <p:grpSpPr>
          <a:xfrm>
            <a:off x="704850" y="2762250"/>
            <a:ext cx="7537860" cy="443484"/>
            <a:chOff x="704850" y="2762250"/>
            <a:chExt cx="7537860" cy="443484"/>
          </a:xfrm>
        </p:grpSpPr>
        <p:sp>
          <p:nvSpPr>
            <p:cNvPr id="13" name="Ellipse 13"/>
            <p:cNvSpPr/>
            <p:nvPr/>
          </p:nvSpPr>
          <p:spPr>
            <a:xfrm>
              <a:off x="704850" y="2762250"/>
              <a:ext cx="419100" cy="419100"/>
            </a:xfrm>
            <a:prstGeom prst="ellipse">
              <a:avLst/>
            </a:prstGeom>
            <a:solidFill>
              <a:srgbClr val="12355B"/>
            </a:solidFill>
            <a:ln>
              <a:noFill/>
            </a:ln>
          </p:spPr>
        </p:sp>
        <p:sp>
          <p:nvSpPr>
            <p:cNvPr id="14" name="TextBox 14"/>
            <p:cNvSpPr txBox="1"/>
            <p:nvPr/>
          </p:nvSpPr>
          <p:spPr>
            <a:xfrm>
              <a:off x="844982" y="28779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2</a:t>
              </a:r>
            </a:p>
          </p:txBody>
        </p:sp>
        <p:sp>
          <p:nvSpPr>
            <p:cNvPr id="15" name="TextBox 15"/>
            <p:cNvSpPr txBox="1"/>
            <p:nvPr/>
          </p:nvSpPr>
          <p:spPr>
            <a:xfrm>
              <a:off x="1419606" y="2853690"/>
              <a:ext cx="6823104"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Tip çıkarımı, kodu sadeleştirirken güvenliği nasıl korur?</a:t>
              </a:r>
            </a:p>
          </p:txBody>
        </p:sp>
      </p:grpSp>
      <p:grpSp>
        <p:nvGrpSpPr>
          <p:cNvPr id="20" name="question-3"/>
          <p:cNvGrpSpPr/>
          <p:nvPr/>
        </p:nvGrpSpPr>
        <p:grpSpPr>
          <a:xfrm>
            <a:off x="704850" y="3524250"/>
            <a:ext cx="8470880" cy="443484"/>
            <a:chOff x="704850" y="3524250"/>
            <a:chExt cx="8470880" cy="443484"/>
          </a:xfrm>
        </p:grpSpPr>
        <p:sp>
          <p:nvSpPr>
            <p:cNvPr id="17" name="Ellipse 17"/>
            <p:cNvSpPr/>
            <p:nvPr/>
          </p:nvSpPr>
          <p:spPr>
            <a:xfrm>
              <a:off x="704850" y="3524250"/>
              <a:ext cx="419100" cy="419100"/>
            </a:xfrm>
            <a:prstGeom prst="ellipse">
              <a:avLst/>
            </a:prstGeom>
            <a:solidFill>
              <a:srgbClr val="12355B"/>
            </a:solidFill>
            <a:ln>
              <a:noFill/>
            </a:ln>
          </p:spPr>
        </p:sp>
        <p:sp>
          <p:nvSpPr>
            <p:cNvPr id="18" name="TextBox 18"/>
            <p:cNvSpPr txBox="1"/>
            <p:nvPr/>
          </p:nvSpPr>
          <p:spPr>
            <a:xfrm>
              <a:off x="844982" y="36399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3</a:t>
              </a:r>
            </a:p>
          </p:txBody>
        </p:sp>
        <p:sp>
          <p:nvSpPr>
            <p:cNvPr id="19" name="TextBox 19"/>
            <p:cNvSpPr txBox="1"/>
            <p:nvPr/>
          </p:nvSpPr>
          <p:spPr>
            <a:xfrm>
              <a:off x="1419606" y="3615690"/>
              <a:ext cx="7756124"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Bir veri modelinde interface, type ve union ne zaman seçilmelidir?</a:t>
              </a:r>
            </a:p>
          </p:txBody>
        </p:sp>
      </p:grpSp>
      <p:grpSp>
        <p:nvGrpSpPr>
          <p:cNvPr id="24" name="question-4"/>
          <p:cNvGrpSpPr/>
          <p:nvPr/>
        </p:nvGrpSpPr>
        <p:grpSpPr>
          <a:xfrm>
            <a:off x="704850" y="4286250"/>
            <a:ext cx="7949946" cy="443484"/>
            <a:chOff x="704850" y="4286250"/>
            <a:chExt cx="7949946" cy="443484"/>
          </a:xfrm>
        </p:grpSpPr>
        <p:sp>
          <p:nvSpPr>
            <p:cNvPr id="21" name="Ellipse 21"/>
            <p:cNvSpPr/>
            <p:nvPr/>
          </p:nvSpPr>
          <p:spPr>
            <a:xfrm>
              <a:off x="704850" y="4286250"/>
              <a:ext cx="419100" cy="419100"/>
            </a:xfrm>
            <a:prstGeom prst="ellipse">
              <a:avLst/>
            </a:prstGeom>
            <a:solidFill>
              <a:srgbClr val="12355B"/>
            </a:solidFill>
            <a:ln>
              <a:noFill/>
            </a:ln>
          </p:spPr>
        </p:sp>
        <p:sp>
          <p:nvSpPr>
            <p:cNvPr id="22" name="TextBox 22"/>
            <p:cNvSpPr txBox="1"/>
            <p:nvPr/>
          </p:nvSpPr>
          <p:spPr>
            <a:xfrm>
              <a:off x="844982" y="44019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4</a:t>
              </a:r>
            </a:p>
          </p:txBody>
        </p:sp>
        <p:sp>
          <p:nvSpPr>
            <p:cNvPr id="23" name="TextBox 23"/>
            <p:cNvSpPr txBox="1"/>
            <p:nvPr/>
          </p:nvSpPr>
          <p:spPr>
            <a:xfrm>
              <a:off x="1419606" y="4377690"/>
              <a:ext cx="7235190"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Generic yapılar tekrar eden servis kodunu nasıl esnek kılar?</a:t>
              </a:r>
            </a:p>
          </p:txBody>
        </p:sp>
      </p:grpSp>
      <p:grpSp>
        <p:nvGrpSpPr>
          <p:cNvPr id="28" name="question-5"/>
          <p:cNvGrpSpPr/>
          <p:nvPr/>
        </p:nvGrpSpPr>
        <p:grpSpPr>
          <a:xfrm>
            <a:off x="704850" y="5048250"/>
            <a:ext cx="8228759" cy="443484"/>
            <a:chOff x="704850" y="5048250"/>
            <a:chExt cx="8228759" cy="443484"/>
          </a:xfrm>
        </p:grpSpPr>
        <p:sp>
          <p:nvSpPr>
            <p:cNvPr id="25" name="Ellipse 25"/>
            <p:cNvSpPr/>
            <p:nvPr/>
          </p:nvSpPr>
          <p:spPr>
            <a:xfrm>
              <a:off x="704850" y="5048250"/>
              <a:ext cx="419100" cy="419100"/>
            </a:xfrm>
            <a:prstGeom prst="ellipse">
              <a:avLst/>
            </a:prstGeom>
            <a:solidFill>
              <a:srgbClr val="12355B"/>
            </a:solidFill>
            <a:ln>
              <a:noFill/>
            </a:ln>
          </p:spPr>
        </p:sp>
        <p:sp>
          <p:nvSpPr>
            <p:cNvPr id="26" name="TextBox 26"/>
            <p:cNvSpPr txBox="1"/>
            <p:nvPr/>
          </p:nvSpPr>
          <p:spPr>
            <a:xfrm>
              <a:off x="844982" y="51639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5</a:t>
              </a:r>
            </a:p>
          </p:txBody>
        </p:sp>
        <p:sp>
          <p:nvSpPr>
            <p:cNvPr id="27" name="TextBox 27"/>
            <p:cNvSpPr txBox="1"/>
            <p:nvPr/>
          </p:nvSpPr>
          <p:spPr>
            <a:xfrm>
              <a:off x="1419606" y="5139690"/>
              <a:ext cx="7514003"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Strict mode, hangi hataları uygulama çalışmadan önce yakalar?</a:t>
              </a:r>
            </a:p>
          </p:txBody>
        </p:sp>
      </p:grpSp>
      <p:sp>
        <p:nvSpPr>
          <p:cNvPr id="29" name="TextBox 2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13763" cy="557403"/>
            <a:chOff x="595122" y="282892"/>
            <a:chExt cx="7413763" cy="557403"/>
          </a:xfrm>
        </p:grpSpPr>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9" name="objective-1"/>
          <p:cNvGrpSpPr/>
          <p:nvPr/>
        </p:nvGrpSpPr>
        <p:grpSpPr>
          <a:xfrm>
            <a:off x="685800" y="1520190"/>
            <a:ext cx="7092519" cy="637128"/>
            <a:chOff x="685800" y="1520190"/>
            <a:chExt cx="7092519" cy="637128"/>
          </a:xfrm>
        </p:grpSpPr>
        <p:sp>
          <p:nvSpPr>
            <p:cNvPr id="6" name="Rectangle 6"/>
            <p:cNvSpPr/>
            <p:nvPr/>
          </p:nvSpPr>
          <p:spPr>
            <a:xfrm>
              <a:off x="685800" y="1524000"/>
              <a:ext cx="57150" cy="495300"/>
            </a:xfrm>
            <a:prstGeom prst="rect">
              <a:avLst/>
            </a:prstGeom>
            <a:solidFill>
              <a:srgbClr val="00A6A6"/>
            </a:solidFill>
            <a:ln>
              <a:noFill/>
            </a:ln>
          </p:spPr>
        </p:sp>
        <p:sp>
          <p:nvSpPr>
            <p:cNvPr id="7" name="TextBox 7"/>
            <p:cNvSpPr txBox="1"/>
            <p:nvPr/>
          </p:nvSpPr>
          <p:spPr>
            <a:xfrm>
              <a:off x="981456" y="1520190"/>
              <a:ext cx="679686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Backend modellerini temel TypeScript tipleriyle kurmak</a:t>
              </a:r>
            </a:p>
          </p:txBody>
        </p:sp>
        <p:sp>
          <p:nvSpPr>
            <p:cNvPr id="8" name="TextBox 8"/>
            <p:cNvSpPr txBox="1"/>
            <p:nvPr/>
          </p:nvSpPr>
          <p:spPr>
            <a:xfrm>
              <a:off x="982599" y="1849279"/>
              <a:ext cx="631876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ilk laboratuvar görevi — güvenli kullanıcı kaydı örneği</a:t>
              </a:r>
            </a:p>
          </p:txBody>
        </p:sp>
      </p:grpSp>
      <p:grpSp>
        <p:nvGrpSpPr>
          <p:cNvPr id="13" name="objective-2"/>
          <p:cNvGrpSpPr/>
          <p:nvPr/>
        </p:nvGrpSpPr>
        <p:grpSpPr>
          <a:xfrm>
            <a:off x="685800" y="2510790"/>
            <a:ext cx="8260694" cy="637128"/>
            <a:chOff x="685800" y="2510790"/>
            <a:chExt cx="8260694" cy="637128"/>
          </a:xfrm>
        </p:grpSpPr>
        <p:sp>
          <p:nvSpPr>
            <p:cNvPr id="10" name="Rectangle 10"/>
            <p:cNvSpPr/>
            <p:nvPr/>
          </p:nvSpPr>
          <p:spPr>
            <a:xfrm>
              <a:off x="685800" y="2514600"/>
              <a:ext cx="57150" cy="495300"/>
            </a:xfrm>
            <a:prstGeom prst="rect">
              <a:avLst/>
            </a:prstGeom>
            <a:solidFill>
              <a:srgbClr val="00A6A6"/>
            </a:solidFill>
            <a:ln>
              <a:noFill/>
            </a:ln>
          </p:spPr>
        </p:sp>
        <p:sp>
          <p:nvSpPr>
            <p:cNvPr id="11" name="TextBox 11"/>
            <p:cNvSpPr txBox="1"/>
            <p:nvPr/>
          </p:nvSpPr>
          <p:spPr>
            <a:xfrm>
              <a:off x="981456" y="2510790"/>
              <a:ext cx="796503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Tip çıkarımını okumak, yalnızca gerekli yerde açık tip eklemek</a:t>
              </a:r>
            </a:p>
          </p:txBody>
        </p:sp>
        <p:sp>
          <p:nvSpPr>
            <p:cNvPr id="12" name="TextBox 12"/>
            <p:cNvSpPr txBox="1"/>
            <p:nvPr/>
          </p:nvSpPr>
          <p:spPr>
            <a:xfrm>
              <a:off x="982599" y="2839879"/>
              <a:ext cx="692800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TypeScript'in hangi tipleri otomatik çıkardığını açıklamak</a:t>
              </a:r>
            </a:p>
          </p:txBody>
        </p:sp>
      </p:grpSp>
      <p:grpSp>
        <p:nvGrpSpPr>
          <p:cNvPr id="17" name="objective-3"/>
          <p:cNvGrpSpPr/>
          <p:nvPr/>
        </p:nvGrpSpPr>
        <p:grpSpPr>
          <a:xfrm>
            <a:off x="685800" y="3501390"/>
            <a:ext cx="7466139" cy="637128"/>
            <a:chOff x="685800" y="3501390"/>
            <a:chExt cx="7466139" cy="637128"/>
          </a:xfrm>
        </p:grpSpPr>
        <p:sp>
          <p:nvSpPr>
            <p:cNvPr id="14" name="Rectangle 14"/>
            <p:cNvSpPr/>
            <p:nvPr/>
          </p:nvSpPr>
          <p:spPr>
            <a:xfrm>
              <a:off x="685800" y="3505200"/>
              <a:ext cx="57150" cy="495300"/>
            </a:xfrm>
            <a:prstGeom prst="rect">
              <a:avLst/>
            </a:prstGeom>
            <a:solidFill>
              <a:srgbClr val="00A6A6"/>
            </a:solidFill>
            <a:ln>
              <a:noFill/>
            </a:ln>
          </p:spPr>
        </p:sp>
        <p:sp>
          <p:nvSpPr>
            <p:cNvPr id="15" name="TextBox 15"/>
            <p:cNvSpPr txBox="1"/>
            <p:nvPr/>
          </p:nvSpPr>
          <p:spPr>
            <a:xfrm>
              <a:off x="981456" y="3501390"/>
              <a:ext cx="663351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interface, type ve union'ı veri modeline göre seçmek</a:t>
              </a:r>
            </a:p>
          </p:txBody>
        </p:sp>
        <p:sp>
          <p:nvSpPr>
            <p:cNvPr id="16" name="TextBox 16"/>
            <p:cNvSpPr txBox="1"/>
            <p:nvPr/>
          </p:nvSpPr>
          <p:spPr>
            <a:xfrm>
              <a:off x="982599" y="3830479"/>
              <a:ext cx="716934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yanlış model tercihinin neden riskli olduğunu gerekçelendirmek</a:t>
              </a:r>
            </a:p>
          </p:txBody>
        </p:sp>
      </p:grpSp>
      <p:grpSp>
        <p:nvGrpSpPr>
          <p:cNvPr id="21" name="objective-4"/>
          <p:cNvGrpSpPr/>
          <p:nvPr/>
        </p:nvGrpSpPr>
        <p:grpSpPr>
          <a:xfrm>
            <a:off x="685800" y="4491990"/>
            <a:ext cx="8972786" cy="637128"/>
            <a:chOff x="685800" y="4491990"/>
            <a:chExt cx="8972786" cy="637128"/>
          </a:xfrm>
        </p:grpSpPr>
        <p:sp>
          <p:nvSpPr>
            <p:cNvPr id="18" name="Rectangle 18"/>
            <p:cNvSpPr/>
            <p:nvPr/>
          </p:nvSpPr>
          <p:spPr>
            <a:xfrm>
              <a:off x="685800" y="4495800"/>
              <a:ext cx="57150" cy="495300"/>
            </a:xfrm>
            <a:prstGeom prst="rect">
              <a:avLst/>
            </a:prstGeom>
            <a:solidFill>
              <a:srgbClr val="00A6A6"/>
            </a:solidFill>
            <a:ln>
              <a:noFill/>
            </a:ln>
          </p:spPr>
        </p:sp>
        <p:sp>
          <p:nvSpPr>
            <p:cNvPr id="19" name="TextBox 19"/>
            <p:cNvSpPr txBox="1"/>
            <p:nvPr/>
          </p:nvSpPr>
          <p:spPr>
            <a:xfrm>
              <a:off x="981456" y="4491990"/>
              <a:ext cx="867713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Generic sonuç sarmalayıcılarıyla tekrar eden servis kodunu azaltmak</a:t>
              </a:r>
            </a:p>
          </p:txBody>
        </p:sp>
        <p:sp>
          <p:nvSpPr>
            <p:cNvPr id="20" name="TextBox 20"/>
            <p:cNvSpPr txBox="1"/>
            <p:nvPr/>
          </p:nvSpPr>
          <p:spPr>
            <a:xfrm>
              <a:off x="982599" y="4821079"/>
              <a:ext cx="791417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aynı ApiSonucu&lt;T&gt; yapısını kullanıcı, kitap ve sipariş için kullanmak</a:t>
              </a:r>
            </a:p>
          </p:txBody>
        </p:sp>
      </p:grpSp>
      <p:grpSp>
        <p:nvGrpSpPr>
          <p:cNvPr id="25" name="objective-5"/>
          <p:cNvGrpSpPr/>
          <p:nvPr/>
        </p:nvGrpSpPr>
        <p:grpSpPr>
          <a:xfrm>
            <a:off x="685800" y="5482590"/>
            <a:ext cx="8094983" cy="637128"/>
            <a:chOff x="685800" y="5482590"/>
            <a:chExt cx="8094983" cy="637128"/>
          </a:xfrm>
        </p:grpSpPr>
        <p:sp>
          <p:nvSpPr>
            <p:cNvPr id="22" name="Rectangle 22"/>
            <p:cNvSpPr/>
            <p:nvPr/>
          </p:nvSpPr>
          <p:spPr>
            <a:xfrm>
              <a:off x="685800" y="5486400"/>
              <a:ext cx="57150" cy="495300"/>
            </a:xfrm>
            <a:prstGeom prst="rect">
              <a:avLst/>
            </a:prstGeom>
            <a:solidFill>
              <a:srgbClr val="00A6A6"/>
            </a:solidFill>
            <a:ln>
              <a:noFill/>
            </a:ln>
          </p:spPr>
        </p:sp>
        <p:sp>
          <p:nvSpPr>
            <p:cNvPr id="23" name="TextBox 23"/>
            <p:cNvSpPr txBox="1"/>
            <p:nvPr/>
          </p:nvSpPr>
          <p:spPr>
            <a:xfrm>
              <a:off x="981456" y="5482590"/>
              <a:ext cx="779932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Strict mode hatalarını yorumlayıp güvenli düzeltmeler yapmak</a:t>
              </a:r>
            </a:p>
          </p:txBody>
        </p:sp>
        <p:sp>
          <p:nvSpPr>
            <p:cNvPr id="24" name="TextBox 24"/>
            <p:cNvSpPr txBox="1"/>
            <p:nvPr/>
          </p:nvSpPr>
          <p:spPr>
            <a:xfrm>
              <a:off x="982599" y="5811679"/>
              <a:ext cx="748857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bir alanın undefined olma ihtimalini derleme aşamasında ele almak</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803151" cy="668845"/>
            <a:chOff x="609600" y="171450"/>
            <a:chExt cx="7803151"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711277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altı temel kavram</a:t>
              </a:r>
            </a:p>
          </p:txBody>
        </p:sp>
      </p:grpSp>
      <p:grpSp>
        <p:nvGrpSpPr>
          <p:cNvPr id="51" name="concept-map"/>
          <p:cNvGrpSpPr/>
          <p:nvPr/>
        </p:nvGrpSpPr>
        <p:grpSpPr>
          <a:xfrm>
            <a:off x="685800" y="1219200"/>
            <a:ext cx="10896600" cy="4886706"/>
            <a:chOff x="685800" y="1219200"/>
            <a:chExt cx="10896600" cy="4886706"/>
          </a:xfrm>
        </p:grpSpPr>
        <p:grpSp>
          <p:nvGrpSpPr>
            <p:cNvPr id="22" name="Group 22"/>
            <p:cNvGrpSpPr/>
            <p:nvPr/>
          </p:nvGrpSpPr>
          <p:grpSpPr>
            <a:xfrm>
              <a:off x="3143250" y="1581150"/>
              <a:ext cx="6953250" cy="4038600"/>
              <a:chOff x="3143250" y="1581150"/>
              <a:chExt cx="6953250" cy="403860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flipV="1">
                <a:off x="3143250" y="2571750"/>
                <a:ext cx="1352550" cy="523875"/>
              </a:xfrm>
              <a:prstGeom prst="line">
                <a:avLst/>
              </a:prstGeom>
              <a:noFill/>
              <a:ln w="23812">
                <a:solidFill>
                  <a:srgbClr val="00A6A6"/>
                </a:solidFill>
                <a:tailEnd type="arrow" w="lg" len="lg"/>
              </a:ln>
            </p:spPr>
          </p:sp>
          <p:sp>
            <p:nvSpPr>
              <p:cNvPr id="16" name="Line 16"/>
              <p:cNvSpPr/>
              <p:nvPr/>
            </p:nvSpPr>
            <p:spPr>
              <a:xfrm>
                <a:off x="3143250" y="3095625"/>
                <a:ext cx="1352550" cy="466725"/>
              </a:xfrm>
              <a:prstGeom prst="line">
                <a:avLst/>
              </a:prstGeom>
              <a:noFill/>
              <a:ln w="23812">
                <a:solidFill>
                  <a:srgbClr val="00A6A6"/>
                </a:solidFill>
                <a:tailEnd type="arrow" w="lg" len="lg"/>
              </a:ln>
            </p:spPr>
          </p:sp>
          <p:sp>
            <p:nvSpPr>
              <p:cNvPr id="17" name="Line 17"/>
              <p:cNvSpPr/>
              <p:nvPr/>
            </p:nvSpPr>
            <p:spPr>
              <a:xfrm>
                <a:off x="3143250" y="3095625"/>
                <a:ext cx="1352550" cy="1457325"/>
              </a:xfrm>
              <a:prstGeom prst="line">
                <a:avLst/>
              </a:prstGeom>
              <a:noFill/>
              <a:ln w="23812">
                <a:solidFill>
                  <a:srgbClr val="00A6A6"/>
                </a:solidFill>
                <a:tailEnd type="arrow" w="lg" len="lg"/>
              </a:ln>
            </p:spPr>
          </p:sp>
          <p:sp>
            <p:nvSpPr>
              <p:cNvPr id="18" name="Line 18"/>
              <p:cNvSpPr/>
              <p:nvPr/>
            </p:nvSpPr>
            <p:spPr>
              <a:xfrm>
                <a:off x="3143250" y="3095625"/>
                <a:ext cx="1352550" cy="2524125"/>
              </a:xfrm>
              <a:prstGeom prst="line">
                <a:avLst/>
              </a:prstGeom>
              <a:noFill/>
              <a:ln w="23812">
                <a:solidFill>
                  <a:srgbClr val="00A6A6"/>
                </a:solidFill>
                <a:tailEnd type="arrow" w="lg" len="lg"/>
              </a:ln>
            </p:spPr>
          </p:sp>
          <p:sp>
            <p:nvSpPr>
              <p:cNvPr id="19" name="Line 19"/>
              <p:cNvSpPr/>
              <p:nvPr/>
            </p:nvSpPr>
            <p:spPr>
              <a:xfrm>
                <a:off x="6477000" y="2952750"/>
                <a:ext cx="1" cy="190500"/>
              </a:xfrm>
              <a:prstGeom prst="line">
                <a:avLst/>
              </a:prstGeom>
              <a:noFill/>
              <a:ln w="19050">
                <a:solidFill>
                  <a:srgbClr val="52616B"/>
                </a:solidFill>
                <a:custDash>
                  <a:ds d="300000" sp="200000"/>
                </a:custDash>
                <a:tailEnd type="arrow" w="lg" len="lg"/>
              </a:ln>
            </p:spPr>
          </p:sp>
          <p:sp>
            <p:nvSpPr>
              <p:cNvPr id="20" name="Line 20"/>
              <p:cNvSpPr/>
              <p:nvPr/>
            </p:nvSpPr>
            <p:spPr>
              <a:xfrm flipV="1">
                <a:off x="6477000" y="3981450"/>
                <a:ext cx="1" cy="190500"/>
              </a:xfrm>
              <a:prstGeom prst="line">
                <a:avLst/>
              </a:prstGeom>
              <a:noFill/>
              <a:ln w="19050">
                <a:solidFill>
                  <a:srgbClr val="52616B"/>
                </a:solidFill>
                <a:custDash>
                  <a:ds d="300000" sp="200000"/>
                </a:custDash>
                <a:tailEnd type="arrow" w="lg" len="lg"/>
              </a:ln>
            </p:spPr>
          </p:sp>
          <p:sp>
            <p:nvSpPr>
              <p:cNvPr id="21" name="Line 21"/>
              <p:cNvSpPr/>
              <p:nvPr/>
            </p:nvSpPr>
            <p:spPr>
              <a:xfrm>
                <a:off x="8496300" y="1676400"/>
                <a:ext cx="1600200" cy="3581400"/>
              </a:xfrm>
              <a:prstGeom prst="line">
                <a:avLst/>
              </a:prstGeom>
              <a:noFill/>
              <a:ln w="19050">
                <a:solidFill>
                  <a:srgbClr val="52616B"/>
                </a:solidFill>
                <a:custDash>
                  <a:ds d="300000" sp="200000"/>
                </a:custDash>
                <a:tailEnd type="arrow" w="lg" len="lg"/>
              </a:ln>
            </p:spPr>
          </p:sp>
        </p:grpSp>
        <p:grpSp>
          <p:nvGrpSpPr>
            <p:cNvPr id="25" name="map-hub"/>
            <p:cNvGrpSpPr/>
            <p:nvPr/>
          </p:nvGrpSpPr>
          <p:grpSpPr>
            <a:xfrm>
              <a:off x="685800" y="2381250"/>
              <a:ext cx="2381250" cy="1435417"/>
              <a:chOff x="685800" y="2381250"/>
              <a:chExt cx="2381250" cy="1435417"/>
            </a:xfrm>
          </p:grpSpPr>
          <p:sp>
            <p:nvSpPr>
              <p:cNvPr id="23" name="Rectangle 23"/>
              <p:cNvSpPr/>
              <p:nvPr/>
            </p:nvSpPr>
            <p:spPr>
              <a:xfrm>
                <a:off x="685800" y="2381250"/>
                <a:ext cx="2381250" cy="1428750"/>
              </a:xfrm>
              <a:prstGeom prst="roundRect">
                <a:avLst>
                  <a:gd name="adj" fmla="val 6667"/>
                </a:avLst>
              </a:prstGeom>
              <a:solidFill>
                <a:srgbClr val="12355B"/>
              </a:solidFill>
              <a:ln>
                <a:noFill/>
              </a:ln>
            </p:spPr>
          </p:sp>
          <p:sp>
            <p:nvSpPr>
              <p:cNvPr id="24" name="TextBox 24"/>
              <p:cNvSpPr txBox="1"/>
              <p:nvPr/>
            </p:nvSpPr>
            <p:spPr>
              <a:xfrm>
                <a:off x="941070" y="2614612"/>
                <a:ext cx="1598057" cy="1202055"/>
              </a:xfrm>
              <a:prstGeom prst="rect">
                <a:avLst/>
              </a:prstGeom>
              <a:noFill/>
              <a:ln>
                <a:noFill/>
              </a:ln>
            </p:spPr>
            <p:txBody>
              <a:bodyPr wrap="none" lIns="0" tIns="0" rIns="0" bIns="0" anchor="t" anchorCtr="0">
                <a:spAutoFit/>
              </a:bodyPr>
              <a:lstStyle/>
              <a:p>
                <a:pPr algn="l">
                  <a:lnSpc>
                    <a:spcPts val="3000"/>
                  </a:lnSpc>
                </a:pPr>
                <a:r>
                  <a:rPr lang="tr-TR" sz="2250" b="1" dirty="0">
                    <a:solidFill>
                      <a:srgbClr val="FFFFFF"/>
                    </a:solidFill>
                    <a:latin typeface="+mn-lt"/>
                    <a:ea typeface="+mn-ea"/>
                    <a:cs typeface="+mn-cs"/>
                  </a:rPr>
                  <a:t>TypeScript</a:t>
                </a:r>
                <a:br/>
                <a:r>
                  <a:rPr lang="tr-TR" sz="2250" b="1" dirty="0">
                    <a:solidFill>
                      <a:srgbClr val="FFFFFF"/>
                    </a:solidFill>
                    <a:latin typeface="+mn-lt"/>
                    <a:ea typeface="+mn-ea"/>
                    <a:cs typeface="+mn-cs"/>
                  </a:rPr>
                  <a:t>temel tip</a:t>
                </a:r>
                <a:br/>
                <a:r>
                  <a:rPr lang="tr-TR" sz="2250" b="1" dirty="0">
                    <a:solidFill>
                      <a:srgbClr val="FFFFFF"/>
                    </a:solidFill>
                    <a:latin typeface="+mn-lt"/>
                    <a:ea typeface="+mn-ea"/>
                    <a:cs typeface="+mn-cs"/>
                  </a:rPr>
                  <a:t>sistemi</a:t>
                </a:r>
              </a:p>
            </p:txBody>
          </p:sp>
        </p:grpSp>
        <p:grpSp>
          <p:nvGrpSpPr>
            <p:cNvPr id="29" name="map-node-inference"/>
            <p:cNvGrpSpPr/>
            <p:nvPr/>
          </p:nvGrpSpPr>
          <p:grpSpPr>
            <a:xfrm>
              <a:off x="4572000" y="1219200"/>
              <a:ext cx="3810000" cy="723900"/>
              <a:chOff x="4572000" y="1219200"/>
              <a:chExt cx="3810000" cy="723900"/>
            </a:xfrm>
          </p:grpSpPr>
          <p:sp>
            <p:nvSpPr>
              <p:cNvPr id="26" name="Rectangle 26"/>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7" name="TextBox 27"/>
              <p:cNvSpPr txBox="1"/>
              <p:nvPr/>
            </p:nvSpPr>
            <p:spPr>
              <a:xfrm>
                <a:off x="4791456" y="1329690"/>
                <a:ext cx="162945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Tip çıkarımı</a:t>
                </a:r>
              </a:p>
            </p:txBody>
          </p:sp>
          <p:sp>
            <p:nvSpPr>
              <p:cNvPr id="28" name="TextBox 28"/>
              <p:cNvSpPr txBox="1"/>
              <p:nvPr/>
            </p:nvSpPr>
            <p:spPr>
              <a:xfrm>
                <a:off x="4792599" y="1601629"/>
                <a:ext cx="236633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değerden türü çıkarır</a:t>
                </a:r>
              </a:p>
            </p:txBody>
          </p:sp>
        </p:grpSp>
        <p:grpSp>
          <p:nvGrpSpPr>
            <p:cNvPr id="33" name="map-node-interface"/>
            <p:cNvGrpSpPr/>
            <p:nvPr/>
          </p:nvGrpSpPr>
          <p:grpSpPr>
            <a:xfrm>
              <a:off x="4572000" y="2209800"/>
              <a:ext cx="3810000" cy="723900"/>
              <a:chOff x="4572000" y="2209800"/>
              <a:chExt cx="3810000" cy="723900"/>
            </a:xfrm>
          </p:grpSpPr>
          <p:sp>
            <p:nvSpPr>
              <p:cNvPr id="30" name="Rectangle 30"/>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1" name="TextBox 31"/>
              <p:cNvSpPr txBox="1"/>
              <p:nvPr/>
            </p:nvSpPr>
            <p:spPr>
              <a:xfrm>
                <a:off x="4791456" y="2320290"/>
                <a:ext cx="122163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Interface</a:t>
                </a:r>
              </a:p>
            </p:txBody>
          </p:sp>
          <p:sp>
            <p:nvSpPr>
              <p:cNvPr id="32" name="TextBox 32"/>
              <p:cNvSpPr txBox="1"/>
              <p:nvPr/>
            </p:nvSpPr>
            <p:spPr>
              <a:xfrm>
                <a:off x="4792599" y="2592229"/>
                <a:ext cx="241950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nesne sözleşmesi kurar</a:t>
                </a:r>
              </a:p>
            </p:txBody>
          </p:sp>
        </p:grpSp>
        <p:grpSp>
          <p:nvGrpSpPr>
            <p:cNvPr id="37" name="map-node-generic"/>
            <p:cNvGrpSpPr/>
            <p:nvPr/>
          </p:nvGrpSpPr>
          <p:grpSpPr>
            <a:xfrm>
              <a:off x="4572000" y="3200400"/>
              <a:ext cx="3810000" cy="723900"/>
              <a:chOff x="4572000" y="3200400"/>
              <a:chExt cx="3810000" cy="723900"/>
            </a:xfrm>
          </p:grpSpPr>
          <p:sp>
            <p:nvSpPr>
              <p:cNvPr id="34" name="Rectangle 34"/>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5" name="TextBox 35"/>
              <p:cNvSpPr txBox="1"/>
              <p:nvPr/>
            </p:nvSpPr>
            <p:spPr>
              <a:xfrm>
                <a:off x="4791456" y="3310890"/>
                <a:ext cx="94164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Generic</a:t>
                </a:r>
              </a:p>
            </p:txBody>
          </p:sp>
          <p:sp>
            <p:nvSpPr>
              <p:cNvPr id="36" name="TextBox 36"/>
              <p:cNvSpPr txBox="1"/>
              <p:nvPr/>
            </p:nvSpPr>
            <p:spPr>
              <a:xfrm>
                <a:off x="4792599" y="3582829"/>
                <a:ext cx="241950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türü parametreleştirir</a:t>
                </a:r>
              </a:p>
            </p:txBody>
          </p:sp>
        </p:grpSp>
        <p:grpSp>
          <p:nvGrpSpPr>
            <p:cNvPr id="41" name="map-node-union"/>
            <p:cNvGrpSpPr/>
            <p:nvPr/>
          </p:nvGrpSpPr>
          <p:grpSpPr>
            <a:xfrm>
              <a:off x="4572000" y="4191000"/>
              <a:ext cx="3810000" cy="723900"/>
              <a:chOff x="4572000" y="4191000"/>
              <a:chExt cx="3810000" cy="723900"/>
            </a:xfrm>
          </p:grpSpPr>
          <p:sp>
            <p:nvSpPr>
              <p:cNvPr id="38" name="Rectangle 38"/>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39" name="TextBox 39"/>
              <p:cNvSpPr txBox="1"/>
              <p:nvPr/>
            </p:nvSpPr>
            <p:spPr>
              <a:xfrm>
                <a:off x="4791456" y="4301490"/>
                <a:ext cx="66156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Union</a:t>
                </a:r>
              </a:p>
            </p:txBody>
          </p:sp>
          <p:sp>
            <p:nvSpPr>
              <p:cNvPr id="40" name="TextBox 40"/>
              <p:cNvSpPr txBox="1"/>
              <p:nvPr/>
            </p:nvSpPr>
            <p:spPr>
              <a:xfrm>
                <a:off x="4792599" y="4573429"/>
                <a:ext cx="268538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geçerli değerleri sınırlar</a:t>
                </a:r>
              </a:p>
            </p:txBody>
          </p:sp>
        </p:grpSp>
        <p:grpSp>
          <p:nvGrpSpPr>
            <p:cNvPr id="45" name="map-node-strict"/>
            <p:cNvGrpSpPr/>
            <p:nvPr/>
          </p:nvGrpSpPr>
          <p:grpSpPr>
            <a:xfrm>
              <a:off x="4572000" y="5334000"/>
              <a:ext cx="7010400" cy="723900"/>
              <a:chOff x="4572000" y="5334000"/>
              <a:chExt cx="7010400" cy="723900"/>
            </a:xfrm>
          </p:grpSpPr>
          <p:sp>
            <p:nvSpPr>
              <p:cNvPr id="42" name="Rectangle 42"/>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3" name="TextBox 43"/>
              <p:cNvSpPr txBox="1"/>
              <p:nvPr/>
            </p:nvSpPr>
            <p:spPr>
              <a:xfrm>
                <a:off x="4791456" y="5444490"/>
                <a:ext cx="148955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Strict mode</a:t>
                </a:r>
              </a:p>
            </p:txBody>
          </p:sp>
          <p:sp>
            <p:nvSpPr>
              <p:cNvPr id="44" name="TextBox 44"/>
              <p:cNvSpPr txBox="1"/>
              <p:nvPr/>
            </p:nvSpPr>
            <p:spPr>
              <a:xfrm>
                <a:off x="4792599" y="5716429"/>
                <a:ext cx="433380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tüm yapıları derleme zamanında denetler</a:t>
                </a:r>
              </a:p>
            </p:txBody>
          </p:sp>
        </p:grpSp>
        <p:grpSp>
          <p:nvGrpSpPr>
            <p:cNvPr id="50" name="map-legend"/>
            <p:cNvGrpSpPr/>
            <p:nvPr/>
          </p:nvGrpSpPr>
          <p:grpSpPr>
            <a:xfrm>
              <a:off x="685800" y="5528310"/>
              <a:ext cx="3440291" cy="577596"/>
              <a:chOff x="685800" y="5528310"/>
              <a:chExt cx="3440291" cy="577596"/>
            </a:xfrm>
          </p:grpSpPr>
          <p:sp>
            <p:nvSpPr>
              <p:cNvPr id="46" name="Line 46"/>
              <p:cNvSpPr/>
              <p:nvPr/>
            </p:nvSpPr>
            <p:spPr>
              <a:xfrm>
                <a:off x="685800" y="5600700"/>
                <a:ext cx="304800" cy="1"/>
              </a:xfrm>
              <a:prstGeom prst="line">
                <a:avLst/>
              </a:prstGeom>
              <a:noFill/>
              <a:ln w="23812">
                <a:solidFill>
                  <a:srgbClr val="00A6A6"/>
                </a:solidFill>
                <a:tailEnd type="arrow" w="lg" len="lg"/>
              </a:ln>
            </p:spPr>
          </p:sp>
          <p:sp>
            <p:nvSpPr>
              <p:cNvPr id="47" name="TextBox 47"/>
              <p:cNvSpPr txBox="1"/>
              <p:nvPr/>
            </p:nvSpPr>
            <p:spPr>
              <a:xfrm>
                <a:off x="1079754" y="5528310"/>
                <a:ext cx="304633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Temel tip sisteminden türeyen yetenek</a:t>
                </a:r>
              </a:p>
            </p:txBody>
          </p:sp>
          <p:sp>
            <p:nvSpPr>
              <p:cNvPr id="48" name="Line 48"/>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9" name="TextBox 49"/>
              <p:cNvSpPr txBox="1"/>
              <p:nvPr/>
            </p:nvSpPr>
            <p:spPr>
              <a:xfrm>
                <a:off x="1079754" y="5871210"/>
                <a:ext cx="27715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Kavramlar arası tamamlayıcı ilişki</a:t>
                </a:r>
              </a:p>
            </p:txBody>
          </p:sp>
        </p:gr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5908695" cy="668845"/>
            <a:chOff x="609600" y="171450"/>
            <a:chExt cx="5908695"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52183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a:t>
              </a:r>
            </a:p>
          </p:txBody>
        </p:sp>
      </p:grpSp>
      <p:grpSp>
        <p:nvGrpSpPr>
          <p:cNvPr id="18" name="matrix-header"/>
          <p:cNvGrpSpPr/>
          <p:nvPr/>
        </p:nvGrpSpPr>
        <p:grpSpPr>
          <a:xfrm>
            <a:off x="609600" y="1333500"/>
            <a:ext cx="10972800" cy="419100"/>
            <a:chOff x="609600" y="1333500"/>
            <a:chExt cx="10972800" cy="419100"/>
          </a:xfrm>
        </p:grpSpPr>
        <p:sp>
          <p:nvSpPr>
            <p:cNvPr id="13" name="Rectangle 13"/>
            <p:cNvSpPr/>
            <p:nvPr/>
          </p:nvSpPr>
          <p:spPr>
            <a:xfrm>
              <a:off x="609600" y="1333500"/>
              <a:ext cx="10972800" cy="419100"/>
            </a:xfrm>
            <a:prstGeom prst="rect">
              <a:avLst/>
            </a:prstGeom>
            <a:solidFill>
              <a:srgbClr val="12355B"/>
            </a:solidFill>
            <a:ln>
              <a:noFill/>
            </a:ln>
          </p:spPr>
        </p:sp>
        <p:sp>
          <p:nvSpPr>
            <p:cNvPr id="14" name="TextBox 14"/>
            <p:cNvSpPr txBox="1"/>
            <p:nvPr/>
          </p:nvSpPr>
          <p:spPr>
            <a:xfrm>
              <a:off x="755904" y="1480185"/>
              <a:ext cx="692810"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KAVRAM</a:t>
              </a:r>
            </a:p>
          </p:txBody>
        </p:sp>
        <p:sp>
          <p:nvSpPr>
            <p:cNvPr id="15" name="TextBox 15"/>
            <p:cNvSpPr txBox="1"/>
            <p:nvPr/>
          </p:nvSpPr>
          <p:spPr>
            <a:xfrm>
              <a:off x="2756154" y="1480185"/>
              <a:ext cx="1303447"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TEMEL GÖREVİ</a:t>
              </a:r>
            </a:p>
          </p:txBody>
        </p:sp>
        <p:sp>
          <p:nvSpPr>
            <p:cNvPr id="16" name="TextBox 16"/>
            <p:cNvSpPr txBox="1"/>
            <p:nvPr/>
          </p:nvSpPr>
          <p:spPr>
            <a:xfrm>
              <a:off x="5804154" y="1480185"/>
              <a:ext cx="1824472"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NE YAPMAZ? (SINIR)</a:t>
              </a:r>
            </a:p>
          </p:txBody>
        </p:sp>
        <p:sp>
          <p:nvSpPr>
            <p:cNvPr id="17" name="TextBox 17"/>
            <p:cNvSpPr txBox="1"/>
            <p:nvPr/>
          </p:nvSpPr>
          <p:spPr>
            <a:xfrm>
              <a:off x="8661654" y="1480185"/>
              <a:ext cx="1767291"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OLMAZSA NE OLUR?</a:t>
              </a:r>
            </a:p>
          </p:txBody>
        </p:sp>
      </p:grpSp>
      <p:grpSp>
        <p:nvGrpSpPr>
          <p:cNvPr id="24" name="row-derleyici"/>
          <p:cNvGrpSpPr/>
          <p:nvPr/>
        </p:nvGrpSpPr>
        <p:grpSpPr>
          <a:xfrm>
            <a:off x="609600" y="1830229"/>
            <a:ext cx="10972800" cy="694277"/>
            <a:chOff x="609600" y="1830229"/>
            <a:chExt cx="10972800" cy="694277"/>
          </a:xfrm>
        </p:grpSpPr>
        <p:sp>
          <p:nvSpPr>
            <p:cNvPr id="19" name="TextBox 19"/>
            <p:cNvSpPr txBox="1"/>
            <p:nvPr/>
          </p:nvSpPr>
          <p:spPr>
            <a:xfrm>
              <a:off x="753999" y="1830229"/>
              <a:ext cx="1122140" cy="55568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TypeScript</a:t>
              </a:r>
              <a:br/>
              <a:r>
                <a:rPr lang="tr-TR" sz="1580" b="1" dirty="0">
                  <a:solidFill>
                    <a:srgbClr val="12355B"/>
                  </a:solidFill>
                  <a:latin typeface="+mn-lt"/>
                  <a:ea typeface="+mn-ea"/>
                  <a:cs typeface="+mn-cs"/>
                </a:rPr>
                <a:t>Derleyicisi</a:t>
              </a:r>
            </a:p>
          </p:txBody>
        </p:sp>
        <p:sp>
          <p:nvSpPr>
            <p:cNvPr id="20" name="TextBox 20"/>
            <p:cNvSpPr txBox="1"/>
            <p:nvPr/>
          </p:nvSpPr>
          <p:spPr>
            <a:xfrm>
              <a:off x="2756154" y="1870710"/>
              <a:ext cx="25191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Geliştirme ve derleme aşamasında</a:t>
              </a:r>
              <a:br/>
              <a:r>
                <a:rPr lang="tr-TR" sz="1200" dirty="0">
                  <a:solidFill>
                    <a:srgbClr val="172B3A"/>
                  </a:solidFill>
                  <a:latin typeface="+mn-lt"/>
                  <a:ea typeface="+mn-ea"/>
                  <a:cs typeface="+mn-cs"/>
                </a:rPr>
                <a:t>tip uyuşmazlıklarını yakalar.</a:t>
              </a:r>
            </a:p>
          </p:txBody>
        </p:sp>
        <p:sp>
          <p:nvSpPr>
            <p:cNvPr id="21" name="TextBox 21"/>
            <p:cNvSpPr txBox="1"/>
            <p:nvPr/>
          </p:nvSpPr>
          <p:spPr>
            <a:xfrm>
              <a:off x="5804154" y="1870710"/>
              <a:ext cx="20619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Çalışma zamanında tip</a:t>
              </a:r>
              <a:br/>
              <a:r>
                <a:rPr lang="tr-TR" sz="1200" dirty="0">
                  <a:solidFill>
                    <a:srgbClr val="172B3A"/>
                  </a:solidFill>
                  <a:latin typeface="+mn-lt"/>
                  <a:ea typeface="+mn-ea"/>
                  <a:cs typeface="+mn-cs"/>
                </a:rPr>
                <a:t>doğrulaması yapmaz; tipler</a:t>
              </a:r>
              <a:br/>
              <a:r>
                <a:rPr lang="tr-TR" sz="1200" dirty="0">
                  <a:solidFill>
                    <a:srgbClr val="172B3A"/>
                  </a:solidFill>
                  <a:latin typeface="+mn-lt"/>
                  <a:ea typeface="+mn-ea"/>
                  <a:cs typeface="+mn-cs"/>
                </a:rPr>
                <a:t>derlemede silinir.</a:t>
              </a:r>
            </a:p>
          </p:txBody>
        </p:sp>
        <p:sp>
          <p:nvSpPr>
            <p:cNvPr id="22" name="TextBox 22"/>
            <p:cNvSpPr txBox="1"/>
            <p:nvPr/>
          </p:nvSpPr>
          <p:spPr>
            <a:xfrm>
              <a:off x="8661654" y="1870710"/>
              <a:ext cx="23896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Uyumsuzluklar üretimde çalışma</a:t>
              </a:r>
              <a:br/>
              <a:r>
                <a:rPr lang="tr-TR" sz="1200" dirty="0">
                  <a:solidFill>
                    <a:srgbClr val="172B3A"/>
                  </a:solidFill>
                  <a:latin typeface="+mn-lt"/>
                  <a:ea typeface="+mn-ea"/>
                  <a:cs typeface="+mn-cs"/>
                </a:rPr>
                <a:t>zamanı hatası olarak çıkar.</a:t>
              </a:r>
            </a:p>
          </p:txBody>
        </p:sp>
        <p:sp>
          <p:nvSpPr>
            <p:cNvPr id="23" name="Line 23"/>
            <p:cNvSpPr/>
            <p:nvPr/>
          </p:nvSpPr>
          <p:spPr>
            <a:xfrm>
              <a:off x="609600" y="248602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row-cikarim"/>
          <p:cNvGrpSpPr/>
          <p:nvPr/>
        </p:nvGrpSpPr>
        <p:grpSpPr>
          <a:xfrm>
            <a:off x="609600" y="2495550"/>
            <a:ext cx="10972800" cy="771906"/>
            <a:chOff x="609600" y="2495550"/>
            <a:chExt cx="10972800" cy="771906"/>
          </a:xfrm>
        </p:grpSpPr>
        <p:sp>
          <p:nvSpPr>
            <p:cNvPr id="25" name="Rectangle 25"/>
            <p:cNvSpPr/>
            <p:nvPr/>
          </p:nvSpPr>
          <p:spPr>
            <a:xfrm>
              <a:off x="609600" y="2495550"/>
              <a:ext cx="10972800" cy="742950"/>
            </a:xfrm>
            <a:prstGeom prst="rect">
              <a:avLst/>
            </a:prstGeom>
            <a:solidFill>
              <a:srgbClr val="EAF4F6"/>
            </a:solidFill>
            <a:ln>
              <a:noFill/>
            </a:ln>
          </p:spPr>
        </p:sp>
        <p:sp>
          <p:nvSpPr>
            <p:cNvPr id="26" name="TextBox 26"/>
            <p:cNvSpPr txBox="1"/>
            <p:nvPr/>
          </p:nvSpPr>
          <p:spPr>
            <a:xfrm>
              <a:off x="753999" y="2573179"/>
              <a:ext cx="143749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Tip Çıkarımı</a:t>
              </a:r>
            </a:p>
          </p:txBody>
        </p:sp>
        <p:sp>
          <p:nvSpPr>
            <p:cNvPr id="27" name="TextBox 27"/>
            <p:cNvSpPr txBox="1"/>
            <p:nvPr/>
          </p:nvSpPr>
          <p:spPr>
            <a:xfrm>
              <a:off x="2756154" y="2613660"/>
              <a:ext cx="21305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Açık tip yazılmayan yerde</a:t>
              </a:r>
              <a:br/>
              <a:r>
                <a:rPr lang="tr-TR" sz="1200" dirty="0">
                  <a:solidFill>
                    <a:srgbClr val="172B3A"/>
                  </a:solidFill>
                  <a:latin typeface="+mn-lt"/>
                  <a:ea typeface="+mn-ea"/>
                  <a:cs typeface="+mn-cs"/>
                </a:rPr>
                <a:t>değerden en uygun tipi atar.</a:t>
              </a:r>
            </a:p>
          </p:txBody>
        </p:sp>
        <p:sp>
          <p:nvSpPr>
            <p:cNvPr id="28" name="TextBox 28"/>
            <p:cNvSpPr txBox="1"/>
            <p:nvPr/>
          </p:nvSpPr>
          <p:spPr>
            <a:xfrm>
              <a:off x="5804154" y="2613660"/>
              <a:ext cx="19933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Dış dünyadan gelen dinamik</a:t>
              </a:r>
              <a:br/>
              <a:r>
                <a:rPr lang="tr-TR" sz="1200" dirty="0">
                  <a:solidFill>
                    <a:srgbClr val="172B3A"/>
                  </a:solidFill>
                  <a:latin typeface="+mn-lt"/>
                  <a:ea typeface="+mn-ea"/>
                  <a:cs typeface="+mn-cs"/>
                </a:rPr>
                <a:t>verinin tipini garanti</a:t>
              </a:r>
              <a:br/>
              <a:r>
                <a:rPr lang="tr-TR" sz="1200" dirty="0">
                  <a:solidFill>
                    <a:srgbClr val="172B3A"/>
                  </a:solidFill>
                  <a:latin typeface="+mn-lt"/>
                  <a:ea typeface="+mn-ea"/>
                  <a:cs typeface="+mn-cs"/>
                </a:rPr>
                <a:t>edemez.</a:t>
              </a:r>
            </a:p>
          </p:txBody>
        </p:sp>
        <p:sp>
          <p:nvSpPr>
            <p:cNvPr id="29" name="TextBox 29"/>
            <p:cNvSpPr txBox="1"/>
            <p:nvPr/>
          </p:nvSpPr>
          <p:spPr>
            <a:xfrm>
              <a:off x="8661654" y="2613660"/>
              <a:ext cx="23439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Her değişkene açık tip yazılır;</a:t>
              </a:r>
              <a:br/>
              <a:r>
                <a:rPr lang="tr-TR" sz="1200" dirty="0">
                  <a:solidFill>
                    <a:srgbClr val="172B3A"/>
                  </a:solidFill>
                  <a:latin typeface="+mn-lt"/>
                  <a:ea typeface="+mn-ea"/>
                  <a:cs typeface="+mn-cs"/>
                </a:rPr>
                <a:t>kod kalabalıklaşır ya da any'e</a:t>
              </a:r>
              <a:br/>
              <a:r>
                <a:rPr lang="tr-TR" sz="1200" dirty="0">
                  <a:solidFill>
                    <a:srgbClr val="172B3A"/>
                  </a:solidFill>
                  <a:latin typeface="+mn-lt"/>
                  <a:ea typeface="+mn-ea"/>
                  <a:cs typeface="+mn-cs"/>
                </a:rPr>
                <a:t>kayılır.</a:t>
              </a:r>
            </a:p>
          </p:txBody>
        </p:sp>
        <p:sp>
          <p:nvSpPr>
            <p:cNvPr id="30" name="Line 30"/>
            <p:cNvSpPr/>
            <p:nvPr/>
          </p:nvSpPr>
          <p:spPr>
            <a:xfrm>
              <a:off x="609600" y="32289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row-interface"/>
          <p:cNvGrpSpPr/>
          <p:nvPr/>
        </p:nvGrpSpPr>
        <p:grpSpPr>
          <a:xfrm>
            <a:off x="609600" y="3316129"/>
            <a:ext cx="10972800" cy="694277"/>
            <a:chOff x="609600" y="3316129"/>
            <a:chExt cx="10972800" cy="694277"/>
          </a:xfrm>
        </p:grpSpPr>
        <p:sp>
          <p:nvSpPr>
            <p:cNvPr id="32" name="TextBox 32"/>
            <p:cNvSpPr txBox="1"/>
            <p:nvPr/>
          </p:nvSpPr>
          <p:spPr>
            <a:xfrm>
              <a:off x="753999" y="3316129"/>
              <a:ext cx="107227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Interface</a:t>
              </a:r>
            </a:p>
          </p:txBody>
        </p:sp>
        <p:sp>
          <p:nvSpPr>
            <p:cNvPr id="33" name="TextBox 33"/>
            <p:cNvSpPr txBox="1"/>
            <p:nvPr/>
          </p:nvSpPr>
          <p:spPr>
            <a:xfrm>
              <a:off x="2756154" y="3356610"/>
              <a:ext cx="22448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Nesne ve servislerin taşıması</a:t>
              </a:r>
              <a:br/>
              <a:r>
                <a:rPr lang="tr-TR" sz="1200" dirty="0">
                  <a:solidFill>
                    <a:srgbClr val="172B3A"/>
                  </a:solidFill>
                  <a:latin typeface="+mn-lt"/>
                  <a:ea typeface="+mn-ea"/>
                  <a:cs typeface="+mn-cs"/>
                </a:rPr>
                <a:t>gereken yapısal sözleşmeyi</a:t>
              </a:r>
              <a:br/>
              <a:r>
                <a:rPr lang="tr-TR" sz="1200" dirty="0">
                  <a:solidFill>
                    <a:srgbClr val="172B3A"/>
                  </a:solidFill>
                  <a:latin typeface="+mn-lt"/>
                  <a:ea typeface="+mn-ea"/>
                  <a:cs typeface="+mn-cs"/>
                </a:rPr>
                <a:t>tanımlar.</a:t>
              </a:r>
            </a:p>
          </p:txBody>
        </p:sp>
        <p:sp>
          <p:nvSpPr>
            <p:cNvPr id="34" name="TextBox 34"/>
            <p:cNvSpPr txBox="1"/>
            <p:nvPr/>
          </p:nvSpPr>
          <p:spPr>
            <a:xfrm>
              <a:off x="5804154" y="3356610"/>
              <a:ext cx="21076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Çalışma zamanında nesne</a:t>
              </a:r>
              <a:br/>
              <a:r>
                <a:rPr lang="tr-TR" sz="1200" dirty="0">
                  <a:solidFill>
                    <a:srgbClr val="172B3A"/>
                  </a:solidFill>
                  <a:latin typeface="+mn-lt"/>
                  <a:ea typeface="+mn-ea"/>
                  <a:cs typeface="+mn-cs"/>
                </a:rPr>
                <a:t>üretmez; JS çıktısında yer</a:t>
              </a:r>
              <a:br/>
              <a:r>
                <a:rPr lang="tr-TR" sz="1200" dirty="0">
                  <a:solidFill>
                    <a:srgbClr val="172B3A"/>
                  </a:solidFill>
                  <a:latin typeface="+mn-lt"/>
                  <a:ea typeface="+mn-ea"/>
                  <a:cs typeface="+mn-cs"/>
                </a:rPr>
                <a:t>almaz.</a:t>
              </a:r>
            </a:p>
          </p:txBody>
        </p:sp>
        <p:sp>
          <p:nvSpPr>
            <p:cNvPr id="35" name="TextBox 35"/>
            <p:cNvSpPr txBox="1"/>
            <p:nvPr/>
          </p:nvSpPr>
          <p:spPr>
            <a:xfrm>
              <a:off x="8661654" y="3356610"/>
              <a:ext cx="22448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Katmanlar arası veri yapıları</a:t>
              </a:r>
              <a:br/>
              <a:r>
                <a:rPr lang="tr-TR" sz="1200" dirty="0">
                  <a:solidFill>
                    <a:srgbClr val="172B3A"/>
                  </a:solidFill>
                  <a:latin typeface="+mn-lt"/>
                  <a:ea typeface="+mn-ea"/>
                  <a:cs typeface="+mn-cs"/>
                </a:rPr>
                <a:t>belirsizleşir; eksik alan</a:t>
              </a:r>
              <a:br/>
              <a:r>
                <a:rPr lang="tr-TR" sz="1200" dirty="0">
                  <a:solidFill>
                    <a:srgbClr val="172B3A"/>
                  </a:solidFill>
                  <a:latin typeface="+mn-lt"/>
                  <a:ea typeface="+mn-ea"/>
                  <a:cs typeface="+mn-cs"/>
                </a:rPr>
                <a:t>yakalanamaz.</a:t>
              </a:r>
            </a:p>
          </p:txBody>
        </p:sp>
        <p:sp>
          <p:nvSpPr>
            <p:cNvPr id="36" name="Line 36"/>
            <p:cNvSpPr/>
            <p:nvPr/>
          </p:nvSpPr>
          <p:spPr>
            <a:xfrm>
              <a:off x="609600" y="397192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4" name="row-union"/>
          <p:cNvGrpSpPr/>
          <p:nvPr/>
        </p:nvGrpSpPr>
        <p:grpSpPr>
          <a:xfrm>
            <a:off x="609600" y="3981450"/>
            <a:ext cx="10972800" cy="771906"/>
            <a:chOff x="609600" y="3981450"/>
            <a:chExt cx="10972800" cy="771906"/>
          </a:xfrm>
        </p:grpSpPr>
        <p:sp>
          <p:nvSpPr>
            <p:cNvPr id="38" name="Rectangle 38"/>
            <p:cNvSpPr/>
            <p:nvPr/>
          </p:nvSpPr>
          <p:spPr>
            <a:xfrm>
              <a:off x="609600" y="3981450"/>
              <a:ext cx="10972800" cy="742950"/>
            </a:xfrm>
            <a:prstGeom prst="rect">
              <a:avLst/>
            </a:prstGeom>
            <a:solidFill>
              <a:srgbClr val="EAF4F6"/>
            </a:solidFill>
            <a:ln>
              <a:noFill/>
            </a:ln>
          </p:spPr>
        </p:sp>
        <p:sp>
          <p:nvSpPr>
            <p:cNvPr id="39" name="TextBox 39"/>
            <p:cNvSpPr txBox="1"/>
            <p:nvPr/>
          </p:nvSpPr>
          <p:spPr>
            <a:xfrm>
              <a:off x="753999" y="4059079"/>
              <a:ext cx="134610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Union Tipleri</a:t>
              </a:r>
            </a:p>
          </p:txBody>
        </p:sp>
        <p:sp>
          <p:nvSpPr>
            <p:cNvPr id="40" name="TextBox 40"/>
            <p:cNvSpPr txBox="1"/>
            <p:nvPr/>
          </p:nvSpPr>
          <p:spPr>
            <a:xfrm>
              <a:off x="2756154" y="4099560"/>
              <a:ext cx="21838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Bir değerin birden fazla olası</a:t>
              </a:r>
              <a:br/>
              <a:r>
                <a:rPr lang="tr-TR" sz="1200" dirty="0">
                  <a:solidFill>
                    <a:srgbClr val="172B3A"/>
                  </a:solidFill>
                  <a:latin typeface="+mn-lt"/>
                  <a:ea typeface="+mn-ea"/>
                  <a:cs typeface="+mn-cs"/>
                </a:rPr>
                <a:t>tipten biri olmasını modeller</a:t>
              </a:r>
              <a:br/>
              <a:r>
                <a:rPr lang="tr-TR" sz="1200" dirty="0">
                  <a:solidFill>
                    <a:srgbClr val="172B3A"/>
                  </a:solidFill>
                  <a:latin typeface="+mn-lt"/>
                  <a:ea typeface="+mn-ea"/>
                  <a:cs typeface="+mn-cs"/>
                </a:rPr>
                <a:t>ve tip daraltma sağlar.</a:t>
              </a:r>
            </a:p>
          </p:txBody>
        </p:sp>
        <p:sp>
          <p:nvSpPr>
            <p:cNvPr id="41" name="TextBox 41"/>
            <p:cNvSpPr txBox="1"/>
            <p:nvPr/>
          </p:nvSpPr>
          <p:spPr>
            <a:xfrm>
              <a:off x="5804154" y="4099560"/>
              <a:ext cx="17571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O anki tipi kendiliğinden</a:t>
              </a:r>
              <a:br/>
              <a:r>
                <a:rPr lang="tr-TR" sz="1200" dirty="0">
                  <a:solidFill>
                    <a:srgbClr val="172B3A"/>
                  </a:solidFill>
                  <a:latin typeface="+mn-lt"/>
                  <a:ea typeface="+mn-ea"/>
                  <a:cs typeface="+mn-cs"/>
                </a:rPr>
                <a:t>bilmez; typeof, in gibi</a:t>
              </a:r>
              <a:br/>
              <a:r>
                <a:rPr lang="tr-TR" sz="1200" dirty="0">
                  <a:solidFill>
                    <a:srgbClr val="172B3A"/>
                  </a:solidFill>
                  <a:latin typeface="+mn-lt"/>
                  <a:ea typeface="+mn-ea"/>
                  <a:cs typeface="+mn-cs"/>
                </a:rPr>
                <a:t>kontroller gerekir.</a:t>
              </a:r>
            </a:p>
          </p:txBody>
        </p:sp>
        <p:sp>
          <p:nvSpPr>
            <p:cNvPr id="42" name="TextBox 42"/>
            <p:cNvSpPr txBox="1"/>
            <p:nvPr/>
          </p:nvSpPr>
          <p:spPr>
            <a:xfrm>
              <a:off x="8661654" y="4099560"/>
              <a:ext cx="21686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Başarılı/hatalı dönüşler any</a:t>
              </a:r>
              <a:br/>
              <a:r>
                <a:rPr lang="tr-TR" sz="1200" dirty="0">
                  <a:solidFill>
                    <a:srgbClr val="172B3A"/>
                  </a:solidFill>
                  <a:latin typeface="+mn-lt"/>
                  <a:ea typeface="+mn-ea"/>
                  <a:cs typeface="+mn-cs"/>
                </a:rPr>
                <a:t>ile geçiştirilir; güvenli</a:t>
              </a:r>
              <a:br/>
              <a:r>
                <a:rPr lang="tr-TR" sz="1200" dirty="0">
                  <a:solidFill>
                    <a:srgbClr val="172B3A"/>
                  </a:solidFill>
                  <a:latin typeface="+mn-lt"/>
                  <a:ea typeface="+mn-ea"/>
                  <a:cs typeface="+mn-cs"/>
                </a:rPr>
                <a:t>dallanma kurulamaz.</a:t>
              </a:r>
            </a:p>
          </p:txBody>
        </p:sp>
        <p:sp>
          <p:nvSpPr>
            <p:cNvPr id="43" name="Line 43"/>
            <p:cNvSpPr/>
            <p:nvPr/>
          </p:nvSpPr>
          <p:spPr>
            <a:xfrm>
              <a:off x="609600" y="47148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0" name="row-generic"/>
          <p:cNvGrpSpPr/>
          <p:nvPr/>
        </p:nvGrpSpPr>
        <p:grpSpPr>
          <a:xfrm>
            <a:off x="609600" y="4802029"/>
            <a:ext cx="10972800" cy="694277"/>
            <a:chOff x="609600" y="4802029"/>
            <a:chExt cx="10972800" cy="694277"/>
          </a:xfrm>
        </p:grpSpPr>
        <p:sp>
          <p:nvSpPr>
            <p:cNvPr id="45" name="TextBox 45"/>
            <p:cNvSpPr txBox="1"/>
            <p:nvPr/>
          </p:nvSpPr>
          <p:spPr>
            <a:xfrm>
              <a:off x="753999" y="4802029"/>
              <a:ext cx="82650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Generic</a:t>
              </a:r>
            </a:p>
          </p:txBody>
        </p:sp>
        <p:sp>
          <p:nvSpPr>
            <p:cNvPr id="46" name="TextBox 46"/>
            <p:cNvSpPr txBox="1"/>
            <p:nvPr/>
          </p:nvSpPr>
          <p:spPr>
            <a:xfrm>
              <a:off x="2756154" y="4842510"/>
              <a:ext cx="23058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Tip bilgisini parametreleştirir;</a:t>
              </a:r>
              <a:br/>
              <a:r>
                <a:rPr lang="tr-TR" sz="1200" dirty="0">
                  <a:solidFill>
                    <a:srgbClr val="172B3A"/>
                  </a:solidFill>
                  <a:latin typeface="+mn-lt"/>
                  <a:ea typeface="+mn-ea"/>
                  <a:cs typeface="+mn-cs"/>
                </a:rPr>
                <a:t>tek yapı farklı tiplerle</a:t>
              </a:r>
              <a:br/>
              <a:r>
                <a:rPr lang="tr-TR" sz="1200" dirty="0">
                  <a:solidFill>
                    <a:srgbClr val="172B3A"/>
                  </a:solidFill>
                  <a:latin typeface="+mn-lt"/>
                  <a:ea typeface="+mn-ea"/>
                  <a:cs typeface="+mn-cs"/>
                </a:rPr>
                <a:t>güvenle çalışır.</a:t>
              </a:r>
            </a:p>
          </p:txBody>
        </p:sp>
        <p:sp>
          <p:nvSpPr>
            <p:cNvPr id="47" name="TextBox 47"/>
            <p:cNvSpPr txBox="1"/>
            <p:nvPr/>
          </p:nvSpPr>
          <p:spPr>
            <a:xfrm>
              <a:off x="5804154" y="4842510"/>
              <a:ext cx="18028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Verilen tipin iç yapısını</a:t>
              </a:r>
              <a:br/>
              <a:r>
                <a:rPr lang="tr-TR" sz="1200" dirty="0">
                  <a:solidFill>
                    <a:srgbClr val="172B3A"/>
                  </a:solidFill>
                  <a:latin typeface="+mn-lt"/>
                  <a:ea typeface="+mn-ea"/>
                  <a:cs typeface="+mn-cs"/>
                </a:rPr>
                <a:t>çalışma zamanında</a:t>
              </a:r>
              <a:br/>
              <a:r>
                <a:rPr lang="tr-TR" sz="1200" dirty="0">
                  <a:solidFill>
                    <a:srgbClr val="172B3A"/>
                  </a:solidFill>
                  <a:latin typeface="+mn-lt"/>
                  <a:ea typeface="+mn-ea"/>
                  <a:cs typeface="+mn-cs"/>
                </a:rPr>
                <a:t>denetlemez.</a:t>
              </a:r>
            </a:p>
          </p:txBody>
        </p:sp>
        <p:sp>
          <p:nvSpPr>
            <p:cNvPr id="48" name="TextBox 48"/>
            <p:cNvSpPr txBox="1"/>
            <p:nvPr/>
          </p:nvSpPr>
          <p:spPr>
            <a:xfrm>
              <a:off x="8661654" y="4842510"/>
              <a:ext cx="23667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Her model için ayrı sarmalayıcı</a:t>
              </a:r>
              <a:br/>
              <a:r>
                <a:rPr lang="tr-TR" sz="1200" dirty="0">
                  <a:solidFill>
                    <a:srgbClr val="172B3A"/>
                  </a:solidFill>
                  <a:latin typeface="+mn-lt"/>
                  <a:ea typeface="+mn-ea"/>
                  <a:cs typeface="+mn-cs"/>
                </a:rPr>
                <a:t>yazılır ya da tip güvenliği</a:t>
              </a:r>
              <a:br/>
              <a:r>
                <a:rPr lang="tr-TR" sz="1200" dirty="0">
                  <a:solidFill>
                    <a:srgbClr val="172B3A"/>
                  </a:solidFill>
                  <a:latin typeface="+mn-lt"/>
                  <a:ea typeface="+mn-ea"/>
                  <a:cs typeface="+mn-cs"/>
                </a:rPr>
                <a:t>bırakılır.</a:t>
              </a:r>
            </a:p>
          </p:txBody>
        </p:sp>
        <p:sp>
          <p:nvSpPr>
            <p:cNvPr id="49" name="Line 49"/>
            <p:cNvSpPr/>
            <p:nvPr/>
          </p:nvSpPr>
          <p:spPr>
            <a:xfrm>
              <a:off x="609600" y="545782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6" name="row-strict"/>
          <p:cNvGrpSpPr/>
          <p:nvPr/>
        </p:nvGrpSpPr>
        <p:grpSpPr>
          <a:xfrm>
            <a:off x="609600" y="5467350"/>
            <a:ext cx="10972800" cy="771906"/>
            <a:chOff x="609600" y="5467350"/>
            <a:chExt cx="10972800" cy="771906"/>
          </a:xfrm>
        </p:grpSpPr>
        <p:sp>
          <p:nvSpPr>
            <p:cNvPr id="51" name="Rectangle 51"/>
            <p:cNvSpPr/>
            <p:nvPr/>
          </p:nvSpPr>
          <p:spPr>
            <a:xfrm>
              <a:off x="609600" y="5467350"/>
              <a:ext cx="10972800" cy="742950"/>
            </a:xfrm>
            <a:prstGeom prst="rect">
              <a:avLst/>
            </a:prstGeom>
            <a:solidFill>
              <a:srgbClr val="EAF4F6"/>
            </a:solidFill>
            <a:ln>
              <a:noFill/>
            </a:ln>
          </p:spPr>
        </p:sp>
        <p:sp>
          <p:nvSpPr>
            <p:cNvPr id="52" name="TextBox 52"/>
            <p:cNvSpPr txBox="1"/>
            <p:nvPr/>
          </p:nvSpPr>
          <p:spPr>
            <a:xfrm>
              <a:off x="753999" y="5544979"/>
              <a:ext cx="131471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Strict Mode</a:t>
              </a:r>
            </a:p>
          </p:txBody>
        </p:sp>
        <p:sp>
          <p:nvSpPr>
            <p:cNvPr id="53" name="TextBox 53"/>
            <p:cNvSpPr txBox="1"/>
            <p:nvPr/>
          </p:nvSpPr>
          <p:spPr>
            <a:xfrm>
              <a:off x="2756154" y="5585460"/>
              <a:ext cx="23362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strictNullChecks, noImplicitAny</a:t>
              </a:r>
              <a:br/>
              <a:r>
                <a:rPr lang="tr-TR" sz="1200" dirty="0">
                  <a:solidFill>
                    <a:srgbClr val="172B3A"/>
                  </a:solidFill>
                  <a:latin typeface="+mn-lt"/>
                  <a:ea typeface="+mn-ea"/>
                  <a:cs typeface="+mn-cs"/>
                </a:rPr>
                <a:t>ile en katı denetim seviyesini</a:t>
              </a:r>
              <a:br/>
              <a:r>
                <a:rPr lang="tr-TR" sz="1200" dirty="0">
                  <a:solidFill>
                    <a:srgbClr val="172B3A"/>
                  </a:solidFill>
                  <a:latin typeface="+mn-lt"/>
                  <a:ea typeface="+mn-ea"/>
                  <a:cs typeface="+mn-cs"/>
                </a:rPr>
                <a:t>zorunlu kılar.</a:t>
              </a:r>
            </a:p>
          </p:txBody>
        </p:sp>
        <p:sp>
          <p:nvSpPr>
            <p:cNvPr id="54" name="TextBox 54"/>
            <p:cNvSpPr txBox="1"/>
            <p:nvPr/>
          </p:nvSpPr>
          <p:spPr>
            <a:xfrm>
              <a:off x="5804154" y="5585460"/>
              <a:ext cx="18638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Mantıksal iş kurallarını</a:t>
              </a:r>
              <a:br/>
              <a:r>
                <a:rPr lang="tr-TR" sz="1200" dirty="0">
                  <a:solidFill>
                    <a:srgbClr val="172B3A"/>
                  </a:solidFill>
                  <a:latin typeface="+mn-lt"/>
                  <a:ea typeface="+mn-ea"/>
                  <a:cs typeface="+mn-cs"/>
                </a:rPr>
                <a:t>denetlemez; yalnızca tip</a:t>
              </a:r>
              <a:br/>
              <a:r>
                <a:rPr lang="tr-TR" sz="1200" dirty="0">
                  <a:solidFill>
                    <a:srgbClr val="172B3A"/>
                  </a:solidFill>
                  <a:latin typeface="+mn-lt"/>
                  <a:ea typeface="+mn-ea"/>
                  <a:cs typeface="+mn-cs"/>
                </a:rPr>
                <a:t>güvencesi verir.</a:t>
              </a:r>
            </a:p>
          </p:txBody>
        </p:sp>
        <p:sp>
          <p:nvSpPr>
            <p:cNvPr id="55" name="TextBox 55"/>
            <p:cNvSpPr txBox="1"/>
            <p:nvPr/>
          </p:nvSpPr>
          <p:spPr>
            <a:xfrm>
              <a:off x="8661654" y="5585460"/>
              <a:ext cx="23743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null/undefined hataları çalışma</a:t>
              </a:r>
              <a:br/>
              <a:r>
                <a:rPr lang="tr-TR" sz="1200" dirty="0">
                  <a:solidFill>
                    <a:srgbClr val="172B3A"/>
                  </a:solidFill>
                  <a:latin typeface="+mn-lt"/>
                  <a:ea typeface="+mn-ea"/>
                  <a:cs typeface="+mn-cs"/>
                </a:rPr>
                <a:t>zamanında sunucu çökmesine</a:t>
              </a:r>
              <a:br/>
              <a:r>
                <a:rPr lang="tr-TR" sz="1200" dirty="0">
                  <a:solidFill>
                    <a:srgbClr val="172B3A"/>
                  </a:solidFill>
                  <a:latin typeface="+mn-lt"/>
                  <a:ea typeface="+mn-ea"/>
                  <a:cs typeface="+mn-cs"/>
                </a:rPr>
                <a:t>yol açar.</a:t>
              </a:r>
            </a:p>
          </p:txBody>
        </p:sp>
      </p:grpSp>
      <p:sp>
        <p:nvSpPr>
          <p:cNvPr id="57" name="TextBox 5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4740294" cy="668845"/>
            <a:chOff x="609600" y="171450"/>
            <a:chExt cx="4740294"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404992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Sınır katmanı ilkesi</a:t>
              </a:r>
            </a:p>
          </p:txBody>
        </p:sp>
      </p:grpSp>
      <p:grpSp>
        <p:nvGrpSpPr>
          <p:cNvPr id="14" name="boundary-lead"/>
          <p:cNvGrpSpPr/>
          <p:nvPr/>
        </p:nvGrpSpPr>
        <p:grpSpPr>
          <a:xfrm>
            <a:off x="599694" y="1370648"/>
            <a:ext cx="9566720" cy="724281"/>
            <a:chOff x="599694" y="1370648"/>
            <a:chExt cx="9566720" cy="724281"/>
          </a:xfrm>
        </p:grpSpPr>
        <p:sp>
          <p:nvSpPr>
            <p:cNvPr id="13" name="TextBox 13"/>
            <p:cNvSpPr txBox="1"/>
            <p:nvPr/>
          </p:nvSpPr>
          <p:spPr>
            <a:xfrm>
              <a:off x="599694" y="1370648"/>
              <a:ext cx="9566720"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Bir HTTP gövdesi, ortam değişkeni veya üçüncü taraf yanıtı TypeScript türüyle</a:t>
              </a:r>
              <a:br/>
              <a:r>
                <a:rPr lang="tr-TR" sz="1950" dirty="0">
                  <a:solidFill>
                    <a:srgbClr val="172B3A"/>
                  </a:solidFill>
                  <a:latin typeface="+mn-lt"/>
                  <a:ea typeface="+mn-ea"/>
                  <a:cs typeface="+mn-cs"/>
                </a:rPr>
                <a:t xml:space="preserve">uyumlu </a:t>
              </a:r>
              <a:r>
                <a:rPr lang="tr-TR" sz="1950" b="1" dirty="0">
                  <a:solidFill>
                    <a:srgbClr val="12355B"/>
                  </a:solidFill>
                  <a:latin typeface="+mn-lt"/>
                  <a:ea typeface="+mn-ea"/>
                  <a:cs typeface="+mn-cs"/>
                </a:rPr>
                <a:t>varsayılamaz</a:t>
              </a:r>
              <a:r>
                <a:rPr lang="tr-TR" sz="1950" dirty="0">
                  <a:solidFill>
                    <a:srgbClr val="172B3A"/>
                  </a:solidFill>
                  <a:latin typeface="+mn-lt"/>
                  <a:ea typeface="+mn-ea"/>
                  <a:cs typeface="+mn-cs"/>
                </a:rPr>
                <a:t>.</a:t>
              </a:r>
            </a:p>
          </p:txBody>
        </p:sp>
      </p:grpSp>
      <p:grpSp>
        <p:nvGrpSpPr>
          <p:cNvPr id="31" name="boundary-sequence"/>
          <p:cNvGrpSpPr/>
          <p:nvPr/>
        </p:nvGrpSpPr>
        <p:grpSpPr>
          <a:xfrm>
            <a:off x="609600" y="2133600"/>
            <a:ext cx="10915650" cy="1028700"/>
            <a:chOff x="609600" y="2133600"/>
            <a:chExt cx="10915650" cy="1028700"/>
          </a:xfrm>
        </p:grpSpPr>
        <p:grpSp>
          <p:nvGrpSpPr>
            <p:cNvPr id="18" name="stage-dis-veri"/>
            <p:cNvGrpSpPr/>
            <p:nvPr/>
          </p:nvGrpSpPr>
          <p:grpSpPr>
            <a:xfrm>
              <a:off x="609600" y="2133600"/>
              <a:ext cx="2857500" cy="1028700"/>
              <a:chOff x="609600" y="2133600"/>
              <a:chExt cx="2857500" cy="1028700"/>
            </a:xfrm>
          </p:grpSpPr>
          <p:sp>
            <p:nvSpPr>
              <p:cNvPr id="15" name="Polygon 15"/>
              <p:cNvSpPr/>
              <p:nvPr/>
            </p:nvSpPr>
            <p:spPr>
              <a:xfrm>
                <a:off x="609600" y="2133600"/>
                <a:ext cx="2857500" cy="1028700"/>
              </a:xfrm>
              <a:custGeom>
                <a:avLst/>
                <a:gdLst/>
                <a:ahLst/>
                <a:cxnLst/>
                <a:rect l="l" t="t" r="r" b="b"/>
                <a:pathLst>
                  <a:path w="2857500" h="1028700">
                    <a:moveTo>
                      <a:pt x="0" y="0"/>
                    </a:moveTo>
                    <a:lnTo>
                      <a:pt x="2476500" y="0"/>
                    </a:lnTo>
                    <a:lnTo>
                      <a:pt x="2857500" y="514350"/>
                    </a:lnTo>
                    <a:lnTo>
                      <a:pt x="2476500" y="1028700"/>
                    </a:lnTo>
                    <a:lnTo>
                      <a:pt x="0" y="1028700"/>
                    </a:lnTo>
                    <a:lnTo>
                      <a:pt x="381000" y="514350"/>
                    </a:lnTo>
                    <a:close/>
                  </a:path>
                </a:pathLst>
              </a:custGeom>
              <a:solidFill>
                <a:srgbClr val="B8CBD3"/>
              </a:solidFill>
              <a:ln>
                <a:noFill/>
              </a:ln>
            </p:spPr>
          </p:sp>
          <p:sp>
            <p:nvSpPr>
              <p:cNvPr id="16" name="TextBox 16"/>
              <p:cNvSpPr txBox="1"/>
              <p:nvPr/>
            </p:nvSpPr>
            <p:spPr>
              <a:xfrm>
                <a:off x="1719552" y="2415540"/>
                <a:ext cx="1018596"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Dış veri</a:t>
                </a:r>
              </a:p>
            </p:txBody>
          </p:sp>
          <p:sp>
            <p:nvSpPr>
              <p:cNvPr id="17" name="TextBox 17"/>
              <p:cNvSpPr txBox="1"/>
              <p:nvPr/>
            </p:nvSpPr>
            <p:spPr>
              <a:xfrm>
                <a:off x="1539697" y="2747010"/>
                <a:ext cx="1378306" cy="234696"/>
              </a:xfrm>
              <a:prstGeom prst="rect">
                <a:avLst/>
              </a:prstGeom>
              <a:noFill/>
              <a:ln>
                <a:noFill/>
              </a:ln>
            </p:spPr>
            <p:txBody>
              <a:bodyPr wrap="none" lIns="0" tIns="0" rIns="0" bIns="0" anchor="t" anchorCtr="0">
                <a:spAutoFit/>
              </a:bodyPr>
              <a:lstStyle/>
              <a:p>
                <a:pPr algn="ctr"/>
                <a:r>
                  <a:rPr lang="tr-TR" sz="1200" dirty="0">
                    <a:solidFill>
                      <a:srgbClr val="12355B"/>
                    </a:solidFill>
                    <a:latin typeface="+mn-lt"/>
                    <a:ea typeface="+mn-ea"/>
                    <a:cs typeface="+mn-cs"/>
                  </a:rPr>
                  <a:t>HTTP, env, dosya</a:t>
                </a:r>
              </a:p>
            </p:txBody>
          </p:sp>
        </p:grpSp>
        <p:grpSp>
          <p:nvGrpSpPr>
            <p:cNvPr id="22" name="stage-unknown"/>
            <p:cNvGrpSpPr/>
            <p:nvPr/>
          </p:nvGrpSpPr>
          <p:grpSpPr>
            <a:xfrm>
              <a:off x="3295650" y="2133600"/>
              <a:ext cx="2857500" cy="1028700"/>
              <a:chOff x="3295650" y="2133600"/>
              <a:chExt cx="2857500" cy="1028700"/>
            </a:xfrm>
          </p:grpSpPr>
          <p:sp>
            <p:nvSpPr>
              <p:cNvPr id="19" name="Polygon 19"/>
              <p:cNvSpPr/>
              <p:nvPr/>
            </p:nvSpPr>
            <p:spPr>
              <a:xfrm>
                <a:off x="3295650" y="2133600"/>
                <a:ext cx="2857500" cy="1028700"/>
              </a:xfrm>
              <a:custGeom>
                <a:avLst/>
                <a:gdLst/>
                <a:ahLst/>
                <a:cxnLst/>
                <a:rect l="l" t="t" r="r" b="b"/>
                <a:pathLst>
                  <a:path w="2857500" h="1028700">
                    <a:moveTo>
                      <a:pt x="0" y="0"/>
                    </a:moveTo>
                    <a:lnTo>
                      <a:pt x="2476500" y="0"/>
                    </a:lnTo>
                    <a:lnTo>
                      <a:pt x="2857500" y="514350"/>
                    </a:lnTo>
                    <a:lnTo>
                      <a:pt x="2476500" y="1028700"/>
                    </a:lnTo>
                    <a:lnTo>
                      <a:pt x="0" y="1028700"/>
                    </a:lnTo>
                    <a:lnTo>
                      <a:pt x="381000" y="514350"/>
                    </a:lnTo>
                    <a:close/>
                  </a:path>
                </a:pathLst>
              </a:custGeom>
              <a:solidFill>
                <a:srgbClr val="2E86AB"/>
              </a:solidFill>
              <a:ln>
                <a:noFill/>
              </a:ln>
            </p:spPr>
          </p:sp>
          <p:sp>
            <p:nvSpPr>
              <p:cNvPr id="20" name="TextBox 20"/>
              <p:cNvSpPr txBox="1"/>
              <p:nvPr/>
            </p:nvSpPr>
            <p:spPr>
              <a:xfrm>
                <a:off x="4439298" y="2415540"/>
                <a:ext cx="951205" cy="352044"/>
              </a:xfrm>
              <a:prstGeom prst="rect">
                <a:avLst/>
              </a:prstGeom>
              <a:noFill/>
              <a:ln>
                <a:noFill/>
              </a:ln>
            </p:spPr>
            <p:txBody>
              <a:bodyPr wrap="none" lIns="0" tIns="0" rIns="0" bIns="0" anchor="t" anchorCtr="0">
                <a:spAutoFit/>
              </a:bodyPr>
              <a:lstStyle/>
              <a:p>
                <a:pPr algn="ctr"/>
                <a:r>
                  <a:rPr lang="tr-TR" sz="1800" b="1" dirty="0">
                    <a:solidFill>
                      <a:srgbClr val="FFFFFF"/>
                    </a:solidFill>
                    <a:latin typeface="Consolas"/>
                    <a:ea typeface="Consolas"/>
                    <a:cs typeface="Consolas"/>
                  </a:rPr>
                  <a:t>unknown</a:t>
                </a:r>
              </a:p>
            </p:txBody>
          </p:sp>
          <p:sp>
            <p:nvSpPr>
              <p:cNvPr id="21" name="TextBox 21"/>
              <p:cNvSpPr txBox="1"/>
              <p:nvPr/>
            </p:nvSpPr>
            <p:spPr>
              <a:xfrm>
                <a:off x="4282821" y="2747010"/>
                <a:ext cx="1264158"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güvenilmez giriş</a:t>
                </a:r>
              </a:p>
            </p:txBody>
          </p:sp>
        </p:grpSp>
        <p:grpSp>
          <p:nvGrpSpPr>
            <p:cNvPr id="26" name="stage-dogrulama"/>
            <p:cNvGrpSpPr/>
            <p:nvPr/>
          </p:nvGrpSpPr>
          <p:grpSpPr>
            <a:xfrm>
              <a:off x="5981700" y="2133600"/>
              <a:ext cx="2857500" cy="1028700"/>
              <a:chOff x="5981700" y="2133600"/>
              <a:chExt cx="2857500" cy="1028700"/>
            </a:xfrm>
          </p:grpSpPr>
          <p:sp>
            <p:nvSpPr>
              <p:cNvPr id="23" name="Polygon 23"/>
              <p:cNvSpPr/>
              <p:nvPr/>
            </p:nvSpPr>
            <p:spPr>
              <a:xfrm>
                <a:off x="5981700" y="2133600"/>
                <a:ext cx="2857500" cy="1028700"/>
              </a:xfrm>
              <a:custGeom>
                <a:avLst/>
                <a:gdLst/>
                <a:ahLst/>
                <a:cxnLst/>
                <a:rect l="l" t="t" r="r" b="b"/>
                <a:pathLst>
                  <a:path w="2857500" h="1028700">
                    <a:moveTo>
                      <a:pt x="0" y="0"/>
                    </a:moveTo>
                    <a:lnTo>
                      <a:pt x="2476500" y="0"/>
                    </a:lnTo>
                    <a:lnTo>
                      <a:pt x="2857500" y="514350"/>
                    </a:lnTo>
                    <a:lnTo>
                      <a:pt x="2476500" y="1028700"/>
                    </a:lnTo>
                    <a:lnTo>
                      <a:pt x="0" y="1028700"/>
                    </a:lnTo>
                    <a:lnTo>
                      <a:pt x="381000" y="514350"/>
                    </a:lnTo>
                    <a:close/>
                  </a:path>
                </a:pathLst>
              </a:custGeom>
              <a:solidFill>
                <a:srgbClr val="00A6A6"/>
              </a:solidFill>
              <a:ln>
                <a:noFill/>
              </a:ln>
            </p:spPr>
          </p:sp>
          <p:sp>
            <p:nvSpPr>
              <p:cNvPr id="24" name="TextBox 24"/>
              <p:cNvSpPr txBox="1"/>
              <p:nvPr/>
            </p:nvSpPr>
            <p:spPr>
              <a:xfrm>
                <a:off x="6964528" y="2415540"/>
                <a:ext cx="1272845" cy="352044"/>
              </a:xfrm>
              <a:prstGeom prst="rect">
                <a:avLst/>
              </a:prstGeom>
              <a:noFill/>
              <a:ln>
                <a:noFill/>
              </a:ln>
            </p:spPr>
            <p:txBody>
              <a:bodyPr wrap="none" lIns="0" tIns="0" rIns="0" bIns="0" anchor="t" anchorCtr="0">
                <a:spAutoFit/>
              </a:bodyPr>
              <a:lstStyle/>
              <a:p>
                <a:pPr algn="ctr"/>
                <a:r>
                  <a:rPr lang="tr-TR" sz="1800" b="1" dirty="0">
                    <a:solidFill>
                      <a:srgbClr val="FFFFFF"/>
                    </a:solidFill>
                    <a:latin typeface="+mn-lt"/>
                    <a:ea typeface="+mn-ea"/>
                    <a:cs typeface="+mn-cs"/>
                  </a:rPr>
                  <a:t>Doğrulama</a:t>
                </a:r>
              </a:p>
            </p:txBody>
          </p:sp>
          <p:sp>
            <p:nvSpPr>
              <p:cNvPr id="25" name="TextBox 25"/>
              <p:cNvSpPr txBox="1"/>
              <p:nvPr/>
            </p:nvSpPr>
            <p:spPr>
              <a:xfrm>
                <a:off x="6884060" y="2747010"/>
                <a:ext cx="1433779"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type guard / şema</a:t>
                </a:r>
              </a:p>
            </p:txBody>
          </p:sp>
        </p:grpSp>
        <p:grpSp>
          <p:nvGrpSpPr>
            <p:cNvPr id="30" name="stage-ic-model"/>
            <p:cNvGrpSpPr/>
            <p:nvPr/>
          </p:nvGrpSpPr>
          <p:grpSpPr>
            <a:xfrm>
              <a:off x="8667750" y="2133600"/>
              <a:ext cx="2857500" cy="1028700"/>
              <a:chOff x="8667750" y="2133600"/>
              <a:chExt cx="2857500" cy="1028700"/>
            </a:xfrm>
          </p:grpSpPr>
          <p:sp>
            <p:nvSpPr>
              <p:cNvPr id="27" name="Polygon 27"/>
              <p:cNvSpPr/>
              <p:nvPr/>
            </p:nvSpPr>
            <p:spPr>
              <a:xfrm>
                <a:off x="8667750" y="2133600"/>
                <a:ext cx="2857500" cy="1028700"/>
              </a:xfrm>
              <a:custGeom>
                <a:avLst/>
                <a:gdLst/>
                <a:ahLst/>
                <a:cxnLst/>
                <a:rect l="l" t="t" r="r" b="b"/>
                <a:pathLst>
                  <a:path w="2857500" h="1028700">
                    <a:moveTo>
                      <a:pt x="0" y="0"/>
                    </a:moveTo>
                    <a:lnTo>
                      <a:pt x="2476500" y="0"/>
                    </a:lnTo>
                    <a:lnTo>
                      <a:pt x="2857500" y="514350"/>
                    </a:lnTo>
                    <a:lnTo>
                      <a:pt x="2476500" y="1028700"/>
                    </a:lnTo>
                    <a:lnTo>
                      <a:pt x="0" y="1028700"/>
                    </a:lnTo>
                    <a:lnTo>
                      <a:pt x="381000" y="514350"/>
                    </a:lnTo>
                    <a:close/>
                  </a:path>
                </a:pathLst>
              </a:custGeom>
              <a:solidFill>
                <a:srgbClr val="12355B"/>
              </a:solidFill>
              <a:ln>
                <a:noFill/>
              </a:ln>
            </p:spPr>
          </p:sp>
          <p:sp>
            <p:nvSpPr>
              <p:cNvPr id="28" name="TextBox 28"/>
              <p:cNvSpPr txBox="1"/>
              <p:nvPr/>
            </p:nvSpPr>
            <p:spPr>
              <a:xfrm>
                <a:off x="9752053" y="2415540"/>
                <a:ext cx="1069894" cy="352044"/>
              </a:xfrm>
              <a:prstGeom prst="rect">
                <a:avLst/>
              </a:prstGeom>
              <a:noFill/>
              <a:ln>
                <a:noFill/>
              </a:ln>
            </p:spPr>
            <p:txBody>
              <a:bodyPr wrap="none" lIns="0" tIns="0" rIns="0" bIns="0" anchor="t" anchorCtr="0">
                <a:spAutoFit/>
              </a:bodyPr>
              <a:lstStyle/>
              <a:p>
                <a:pPr algn="ctr"/>
                <a:r>
                  <a:rPr lang="tr-TR" sz="1800" b="1" dirty="0">
                    <a:solidFill>
                      <a:srgbClr val="FFFFFF"/>
                    </a:solidFill>
                    <a:latin typeface="+mn-lt"/>
                    <a:ea typeface="+mn-ea"/>
                    <a:cs typeface="+mn-cs"/>
                  </a:rPr>
                  <a:t>İç model</a:t>
                </a:r>
              </a:p>
            </p:txBody>
          </p:sp>
          <p:sp>
            <p:nvSpPr>
              <p:cNvPr id="29" name="TextBox 29"/>
              <p:cNvSpPr txBox="1"/>
              <p:nvPr/>
            </p:nvSpPr>
            <p:spPr>
              <a:xfrm>
                <a:off x="9873005" y="2747010"/>
                <a:ext cx="827989"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güvenli tip</a:t>
                </a:r>
              </a:p>
            </p:txBody>
          </p:sp>
        </p:grpSp>
      </p:grpSp>
      <p:grpSp>
        <p:nvGrpSpPr>
          <p:cNvPr id="35" name="pitfall-any"/>
          <p:cNvGrpSpPr/>
          <p:nvPr/>
        </p:nvGrpSpPr>
        <p:grpSpPr>
          <a:xfrm>
            <a:off x="609600" y="3619500"/>
            <a:ext cx="5257800" cy="1524000"/>
            <a:chOff x="609600" y="3619500"/>
            <a:chExt cx="5257800" cy="1524000"/>
          </a:xfrm>
        </p:grpSpPr>
        <p:sp>
          <p:nvSpPr>
            <p:cNvPr id="32" name="Rectangle 32"/>
            <p:cNvSpPr/>
            <p:nvPr/>
          </p:nvSpPr>
          <p:spPr>
            <a:xfrm>
              <a:off x="609600" y="3619500"/>
              <a:ext cx="5257800" cy="1524000"/>
            </a:xfrm>
            <a:prstGeom prst="roundRect">
              <a:avLst>
                <a:gd name="adj" fmla="val 6250"/>
              </a:avLst>
            </a:prstGeom>
            <a:solidFill>
              <a:srgbClr val="FFFFFF"/>
            </a:solidFill>
            <a:ln w="14288">
              <a:solidFill>
                <a:srgbClr val="B8CBD3"/>
              </a:solidFill>
            </a:ln>
          </p:spPr>
        </p:sp>
        <p:sp>
          <p:nvSpPr>
            <p:cNvPr id="33" name="TextBox 33"/>
            <p:cNvSpPr txBox="1"/>
            <p:nvPr/>
          </p:nvSpPr>
          <p:spPr>
            <a:xfrm>
              <a:off x="829056" y="3844290"/>
              <a:ext cx="418109" cy="352044"/>
            </a:xfrm>
            <a:prstGeom prst="rect">
              <a:avLst/>
            </a:prstGeom>
            <a:noFill/>
            <a:ln>
              <a:noFill/>
            </a:ln>
          </p:spPr>
          <p:txBody>
            <a:bodyPr wrap="none" lIns="0" tIns="0" rIns="0" bIns="0" anchor="t" anchorCtr="0">
              <a:spAutoFit/>
            </a:bodyPr>
            <a:lstStyle/>
            <a:p>
              <a:pPr algn="l"/>
              <a:r>
                <a:rPr lang="tr-TR" sz="1800" b="1" dirty="0">
                  <a:solidFill>
                    <a:srgbClr val="C62828"/>
                  </a:solidFill>
                  <a:latin typeface="Consolas"/>
                  <a:ea typeface="Consolas"/>
                  <a:cs typeface="Consolas"/>
                </a:rPr>
                <a:t>any</a:t>
              </a:r>
            </a:p>
          </p:txBody>
        </p:sp>
        <p:sp>
          <p:nvSpPr>
            <p:cNvPr id="34" name="TextBox 34"/>
            <p:cNvSpPr txBox="1"/>
            <p:nvPr/>
          </p:nvSpPr>
          <p:spPr>
            <a:xfrm>
              <a:off x="832104" y="4271010"/>
              <a:ext cx="2930652" cy="463296"/>
            </a:xfrm>
            <a:prstGeom prst="rect">
              <a:avLst/>
            </a:prstGeom>
            <a:noFill/>
            <a:ln>
              <a:noFill/>
            </a:ln>
          </p:spPr>
          <p:txBody>
            <a:bodyPr wrap="none" lIns="0" tIns="0" rIns="0" bIns="0" anchor="t" anchorCtr="0">
              <a:spAutoFit/>
            </a:bodyPr>
            <a:lstStyle/>
            <a:p>
              <a:pPr algn="l">
                <a:lnSpc>
                  <a:spcPts val="1800"/>
                </a:lnSpc>
              </a:pPr>
              <a:r>
                <a:rPr lang="tr-TR" sz="1200" dirty="0">
                  <a:solidFill>
                    <a:srgbClr val="172B3A"/>
                  </a:solidFill>
                  <a:latin typeface="+mn-lt"/>
                  <a:ea typeface="+mn-ea"/>
                  <a:cs typeface="+mn-cs"/>
                </a:rPr>
                <a:t>Denetim zincirini tamamen keser;</a:t>
              </a:r>
              <a:br/>
              <a:r>
                <a:rPr lang="tr-TR" sz="1200" dirty="0">
                  <a:solidFill>
                    <a:srgbClr val="172B3A"/>
                  </a:solidFill>
                  <a:latin typeface="+mn-lt"/>
                  <a:ea typeface="+mn-ea"/>
                  <a:cs typeface="+mn-cs"/>
                </a:rPr>
                <a:t>derleyici o değişkeni artık denetlemez.</a:t>
              </a:r>
            </a:p>
          </p:txBody>
        </p:sp>
      </p:grpSp>
      <p:grpSp>
        <p:nvGrpSpPr>
          <p:cNvPr id="39" name="pitfall-assertion"/>
          <p:cNvGrpSpPr/>
          <p:nvPr/>
        </p:nvGrpSpPr>
        <p:grpSpPr>
          <a:xfrm>
            <a:off x="6324600" y="3619500"/>
            <a:ext cx="5257800" cy="1524000"/>
            <a:chOff x="6324600" y="3619500"/>
            <a:chExt cx="5257800" cy="1524000"/>
          </a:xfrm>
        </p:grpSpPr>
        <p:sp>
          <p:nvSpPr>
            <p:cNvPr id="36" name="Rectangle 36"/>
            <p:cNvSpPr/>
            <p:nvPr/>
          </p:nvSpPr>
          <p:spPr>
            <a:xfrm>
              <a:off x="6324600" y="3619500"/>
              <a:ext cx="5257800" cy="1524000"/>
            </a:xfrm>
            <a:prstGeom prst="roundRect">
              <a:avLst>
                <a:gd name="adj" fmla="val 6250"/>
              </a:avLst>
            </a:prstGeom>
            <a:solidFill>
              <a:srgbClr val="FFFFFF"/>
            </a:solidFill>
            <a:ln w="14288">
              <a:solidFill>
                <a:srgbClr val="B8CBD3"/>
              </a:solidFill>
            </a:ln>
          </p:spPr>
        </p:sp>
        <p:sp>
          <p:nvSpPr>
            <p:cNvPr id="37" name="TextBox 37"/>
            <p:cNvSpPr txBox="1"/>
            <p:nvPr/>
          </p:nvSpPr>
          <p:spPr>
            <a:xfrm>
              <a:off x="6544056" y="3844290"/>
              <a:ext cx="1500896" cy="352044"/>
            </a:xfrm>
            <a:prstGeom prst="rect">
              <a:avLst/>
            </a:prstGeom>
            <a:noFill/>
            <a:ln>
              <a:noFill/>
            </a:ln>
          </p:spPr>
          <p:txBody>
            <a:bodyPr wrap="none" lIns="0" tIns="0" rIns="0" bIns="0" anchor="t" anchorCtr="0">
              <a:spAutoFit/>
            </a:bodyPr>
            <a:lstStyle/>
            <a:p>
              <a:pPr algn="l"/>
              <a:r>
                <a:rPr lang="tr-TR" sz="1800" b="1" dirty="0">
                  <a:solidFill>
                    <a:srgbClr val="C62828"/>
                  </a:solidFill>
                  <a:latin typeface="Consolas"/>
                  <a:ea typeface="Consolas"/>
                  <a:cs typeface="Consolas"/>
                </a:rPr>
                <a:t>as HedefTip</a:t>
              </a:r>
            </a:p>
          </p:txBody>
        </p:sp>
        <p:sp>
          <p:nvSpPr>
            <p:cNvPr id="38" name="TextBox 38"/>
            <p:cNvSpPr txBox="1"/>
            <p:nvPr/>
          </p:nvSpPr>
          <p:spPr>
            <a:xfrm>
              <a:off x="6547104" y="4271010"/>
              <a:ext cx="2953512" cy="463296"/>
            </a:xfrm>
            <a:prstGeom prst="rect">
              <a:avLst/>
            </a:prstGeom>
            <a:noFill/>
            <a:ln>
              <a:noFill/>
            </a:ln>
          </p:spPr>
          <p:txBody>
            <a:bodyPr wrap="none" lIns="0" tIns="0" rIns="0" bIns="0" anchor="t" anchorCtr="0">
              <a:spAutoFit/>
            </a:bodyPr>
            <a:lstStyle/>
            <a:p>
              <a:pPr algn="l">
                <a:lnSpc>
                  <a:spcPts val="1800"/>
                </a:lnSpc>
              </a:pPr>
              <a:r>
                <a:rPr lang="tr-TR" sz="1200" dirty="0">
                  <a:solidFill>
                    <a:srgbClr val="172B3A"/>
                  </a:solidFill>
                  <a:latin typeface="+mn-lt"/>
                  <a:ea typeface="+mn-ea"/>
                  <a:cs typeface="+mn-cs"/>
                </a:rPr>
                <a:t>Doğrulama yapmaz; yalnızca derleyiciye</a:t>
              </a:r>
              <a:br/>
              <a:r>
                <a:rPr lang="tr-TR" sz="1200" dirty="0">
                  <a:solidFill>
                    <a:srgbClr val="172B3A"/>
                  </a:solidFill>
                  <a:latin typeface="+mn-lt"/>
                  <a:ea typeface="+mn-ea"/>
                  <a:cs typeface="+mn-cs"/>
                </a:rPr>
                <a:t>bir iddia bildirir.</a:t>
              </a:r>
            </a:p>
          </p:txBody>
        </p:sp>
      </p:grpSp>
      <p:grpSp>
        <p:nvGrpSpPr>
          <p:cNvPr id="43" name="boundary-rule"/>
          <p:cNvGrpSpPr/>
          <p:nvPr/>
        </p:nvGrpSpPr>
        <p:grpSpPr>
          <a:xfrm>
            <a:off x="609600" y="5334000"/>
            <a:ext cx="10972800" cy="952500"/>
            <a:chOff x="609600" y="5334000"/>
            <a:chExt cx="10972800" cy="952500"/>
          </a:xfrm>
        </p:grpSpPr>
        <p:sp>
          <p:nvSpPr>
            <p:cNvPr id="40" name="Rectangle 40"/>
            <p:cNvSpPr/>
            <p:nvPr/>
          </p:nvSpPr>
          <p:spPr>
            <a:xfrm>
              <a:off x="609600" y="5334000"/>
              <a:ext cx="10972800" cy="952500"/>
            </a:xfrm>
            <a:prstGeom prst="roundRect">
              <a:avLst>
                <a:gd name="adj" fmla="val 8000"/>
              </a:avLst>
            </a:prstGeom>
            <a:solidFill>
              <a:srgbClr val="EAF4F6"/>
            </a:solidFill>
            <a:ln>
              <a:noFill/>
            </a:ln>
          </p:spPr>
        </p:sp>
        <p:sp>
          <p:nvSpPr>
            <p:cNvPr id="41" name="TextBox 41"/>
            <p:cNvSpPr txBox="1"/>
            <p:nvPr/>
          </p:nvSpPr>
          <p:spPr>
            <a:xfrm>
              <a:off x="905256" y="5482590"/>
              <a:ext cx="447953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Denetim, sınırda konumlanmalıdır.</a:t>
              </a:r>
            </a:p>
          </p:txBody>
        </p:sp>
        <p:sp>
          <p:nvSpPr>
            <p:cNvPr id="42" name="TextBox 42"/>
            <p:cNvSpPr txBox="1"/>
            <p:nvPr/>
          </p:nvSpPr>
          <p:spPr>
            <a:xfrm>
              <a:off x="906399" y="5811679"/>
              <a:ext cx="872225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Güvenilir olmayan girdi, güvenilir servis katmanına geçmeden önce doğrulanmalıdır.</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000516" cy="557403"/>
            <a:chOff x="595122" y="282892"/>
            <a:chExt cx="6000516" cy="557403"/>
          </a:xfrm>
        </p:grpSpPr>
        <p:sp>
          <p:nvSpPr>
            <p:cNvPr id="4" name="TextBox 4"/>
            <p:cNvSpPr txBox="1"/>
            <p:nvPr/>
          </p:nvSpPr>
          <p:spPr>
            <a:xfrm>
              <a:off x="595122" y="282892"/>
              <a:ext cx="600051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HTTP isteğinden güvenli modele</a:t>
              </a:r>
            </a:p>
          </p:txBody>
        </p:sp>
      </p:grpSp>
      <p:grpSp>
        <p:nvGrpSpPr>
          <p:cNvPr id="32" name="request-flow"/>
          <p:cNvGrpSpPr/>
          <p:nvPr/>
        </p:nvGrpSpPr>
        <p:grpSpPr>
          <a:xfrm>
            <a:off x="609600" y="1676400"/>
            <a:ext cx="9525000" cy="3048000"/>
            <a:chOff x="609600" y="1676400"/>
            <a:chExt cx="9525000" cy="3048000"/>
          </a:xfrm>
        </p:grpSpPr>
        <p:grpSp>
          <p:nvGrpSpPr>
            <p:cNvPr id="13" name="Group 13"/>
            <p:cNvGrpSpPr/>
            <p:nvPr/>
          </p:nvGrpSpPr>
          <p:grpSpPr>
            <a:xfrm>
              <a:off x="2419350" y="2023110"/>
              <a:ext cx="6619876" cy="1920240"/>
              <a:chOff x="2419350" y="2023110"/>
              <a:chExt cx="6619876" cy="1920240"/>
            </a:xfrm>
          </p:grpSpPr>
          <p:sp>
            <p:nvSpPr>
              <p:cNvPr id="6" name="Line 6"/>
              <p:cNvSpPr/>
              <p:nvPr/>
            </p:nvSpPr>
            <p:spPr>
              <a:xfrm>
                <a:off x="2419350" y="2266950"/>
                <a:ext cx="323850" cy="1"/>
              </a:xfrm>
              <a:prstGeom prst="line">
                <a:avLst/>
              </a:prstGeom>
              <a:noFill/>
              <a:ln w="23812">
                <a:solidFill>
                  <a:srgbClr val="00A6A6"/>
                </a:solidFill>
                <a:tailEnd type="arrow" w="lg" len="lg"/>
              </a:ln>
            </p:spPr>
          </p:sp>
          <p:sp>
            <p:nvSpPr>
              <p:cNvPr id="7" name="Line 7"/>
              <p:cNvSpPr/>
              <p:nvPr/>
            </p:nvSpPr>
            <p:spPr>
              <a:xfrm>
                <a:off x="4991100" y="2266950"/>
                <a:ext cx="323850" cy="1"/>
              </a:xfrm>
              <a:prstGeom prst="line">
                <a:avLst/>
              </a:prstGeom>
              <a:noFill/>
              <a:ln w="23812">
                <a:solidFill>
                  <a:srgbClr val="00A6A6"/>
                </a:solidFill>
                <a:tailEnd type="arrow" w="lg" len="lg"/>
              </a:ln>
            </p:spPr>
          </p:sp>
          <p:sp>
            <p:nvSpPr>
              <p:cNvPr id="8" name="Line 8"/>
              <p:cNvSpPr/>
              <p:nvPr/>
            </p:nvSpPr>
            <p:spPr>
              <a:xfrm>
                <a:off x="7562850" y="2266950"/>
                <a:ext cx="323850" cy="1"/>
              </a:xfrm>
              <a:prstGeom prst="line">
                <a:avLst/>
              </a:prstGeom>
              <a:noFill/>
              <a:ln w="23812">
                <a:solidFill>
                  <a:srgbClr val="00A6A6"/>
                </a:solidFill>
                <a:tailEnd type="arrow" w="lg" len="lg"/>
              </a:ln>
            </p:spPr>
          </p:sp>
          <p:sp>
            <p:nvSpPr>
              <p:cNvPr id="9" name="Line 9"/>
              <p:cNvSpPr/>
              <p:nvPr/>
            </p:nvSpPr>
            <p:spPr>
              <a:xfrm>
                <a:off x="6467475" y="2857500"/>
                <a:ext cx="1" cy="1085850"/>
              </a:xfrm>
              <a:prstGeom prst="line">
                <a:avLst/>
              </a:prstGeom>
              <a:noFill/>
              <a:ln w="23812">
                <a:solidFill>
                  <a:srgbClr val="00A6A6"/>
                </a:solidFill>
                <a:tailEnd type="arrow" w="lg" len="lg"/>
              </a:ln>
            </p:spPr>
          </p:sp>
          <p:sp>
            <p:nvSpPr>
              <p:cNvPr id="10" name="Line 10"/>
              <p:cNvSpPr/>
              <p:nvPr/>
            </p:nvSpPr>
            <p:spPr>
              <a:xfrm>
                <a:off x="9039225" y="2628900"/>
                <a:ext cx="1" cy="1314450"/>
              </a:xfrm>
              <a:prstGeom prst="line">
                <a:avLst/>
              </a:prstGeom>
              <a:noFill/>
              <a:ln w="23812">
                <a:solidFill>
                  <a:srgbClr val="00A6A6"/>
                </a:solidFill>
                <a:tailEnd type="arrow" w="lg" len="lg"/>
              </a:ln>
            </p:spPr>
          </p:sp>
          <p:sp>
            <p:nvSpPr>
              <p:cNvPr id="11" name="TextBox 11"/>
              <p:cNvSpPr txBox="1"/>
              <p:nvPr/>
            </p:nvSpPr>
            <p:spPr>
              <a:xfrm>
                <a:off x="7540981" y="2023110"/>
                <a:ext cx="367589"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evet</a:t>
                </a:r>
              </a:p>
            </p:txBody>
          </p:sp>
          <p:sp>
            <p:nvSpPr>
              <p:cNvPr id="12" name="TextBox 12"/>
              <p:cNvSpPr txBox="1"/>
              <p:nvPr/>
            </p:nvSpPr>
            <p:spPr>
              <a:xfrm>
                <a:off x="6613779" y="3299460"/>
                <a:ext cx="45643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hayır</a:t>
                </a:r>
              </a:p>
            </p:txBody>
          </p:sp>
        </p:grpSp>
        <p:grpSp>
          <p:nvGrpSpPr>
            <p:cNvPr id="16" name="flow-n1-istek"/>
            <p:cNvGrpSpPr/>
            <p:nvPr/>
          </p:nvGrpSpPr>
          <p:grpSpPr>
            <a:xfrm>
              <a:off x="609600" y="1905000"/>
              <a:ext cx="1809750" cy="723900"/>
              <a:chOff x="609600" y="1905000"/>
              <a:chExt cx="1809750" cy="723900"/>
            </a:xfrm>
          </p:grpSpPr>
          <p:sp>
            <p:nvSpPr>
              <p:cNvPr id="14" name="Rectangle 14"/>
              <p:cNvSpPr/>
              <p:nvPr/>
            </p:nvSpPr>
            <p:spPr>
              <a:xfrm>
                <a:off x="609600" y="1905000"/>
                <a:ext cx="1809750" cy="723900"/>
              </a:xfrm>
              <a:prstGeom prst="roundRect">
                <a:avLst>
                  <a:gd name="adj" fmla="val 50000"/>
                </a:avLst>
              </a:prstGeom>
              <a:solidFill>
                <a:srgbClr val="EAF4F6"/>
              </a:solidFill>
              <a:ln w="14288">
                <a:solidFill>
                  <a:srgbClr val="2E86AB"/>
                </a:solidFill>
              </a:ln>
            </p:spPr>
          </p:sp>
          <p:sp>
            <p:nvSpPr>
              <p:cNvPr id="15" name="TextBox 15"/>
              <p:cNvSpPr txBox="1"/>
              <p:nvPr/>
            </p:nvSpPr>
            <p:spPr>
              <a:xfrm>
                <a:off x="769465" y="2173129"/>
                <a:ext cx="1490019" cy="308039"/>
              </a:xfrm>
              <a:prstGeom prst="rect">
                <a:avLst/>
              </a:prstGeom>
              <a:noFill/>
              <a:ln>
                <a:noFill/>
              </a:ln>
            </p:spPr>
            <p:txBody>
              <a:bodyPr wrap="none" lIns="0" tIns="0" rIns="0" bIns="0" anchor="t" anchorCtr="0">
                <a:spAutoFit/>
              </a:bodyPr>
              <a:lstStyle/>
              <a:p>
                <a:pPr algn="ctr"/>
                <a:r>
                  <a:rPr lang="tr-TR" sz="1580" dirty="0">
                    <a:solidFill>
                      <a:srgbClr val="12355B"/>
                    </a:solidFill>
                    <a:latin typeface="+mn-lt"/>
                    <a:ea typeface="+mn-ea"/>
                    <a:cs typeface="+mn-cs"/>
                  </a:rPr>
                  <a:t>İstemci isteği</a:t>
                </a:r>
              </a:p>
            </p:txBody>
          </p:sp>
        </p:grpSp>
        <p:grpSp>
          <p:nvGrpSpPr>
            <p:cNvPr id="19" name="flow-n2-unknown"/>
            <p:cNvGrpSpPr/>
            <p:nvPr/>
          </p:nvGrpSpPr>
          <p:grpSpPr>
            <a:xfrm>
              <a:off x="2800350" y="1905000"/>
              <a:ext cx="2190750" cy="723900"/>
              <a:chOff x="2800350" y="1905000"/>
              <a:chExt cx="2190750" cy="723900"/>
            </a:xfrm>
          </p:grpSpPr>
          <p:sp>
            <p:nvSpPr>
              <p:cNvPr id="17" name="Rectangle 17"/>
              <p:cNvSpPr/>
              <p:nvPr/>
            </p:nvSpPr>
            <p:spPr>
              <a:xfrm>
                <a:off x="2800350" y="1905000"/>
                <a:ext cx="2190750" cy="723900"/>
              </a:xfrm>
              <a:prstGeom prst="roundRect">
                <a:avLst>
                  <a:gd name="adj" fmla="val 7895"/>
                </a:avLst>
              </a:prstGeom>
              <a:solidFill>
                <a:srgbClr val="FFFFFF"/>
              </a:solidFill>
              <a:ln w="14288">
                <a:solidFill>
                  <a:srgbClr val="2E86AB"/>
                </a:solidFill>
              </a:ln>
            </p:spPr>
          </p:sp>
          <p:sp>
            <p:nvSpPr>
              <p:cNvPr id="18" name="TextBox 18"/>
              <p:cNvSpPr txBox="1"/>
              <p:nvPr/>
            </p:nvSpPr>
            <p:spPr>
              <a:xfrm>
                <a:off x="3175381" y="2039779"/>
                <a:ext cx="1440688" cy="555688"/>
              </a:xfrm>
              <a:prstGeom prst="rect">
                <a:avLst/>
              </a:prstGeom>
              <a:noFill/>
              <a:ln>
                <a:noFill/>
              </a:ln>
            </p:spPr>
            <p:txBody>
              <a:bodyPr wrap="none" lIns="0" tIns="0" rIns="0" bIns="0" anchor="t" anchorCtr="0">
                <a:spAutoFit/>
              </a:bodyPr>
              <a:lstStyle/>
              <a:p>
                <a:pPr algn="ctr">
                  <a:lnSpc>
                    <a:spcPts val="1950"/>
                  </a:lnSpc>
                </a:pPr>
                <a:r>
                  <a:rPr lang="tr-TR" sz="1580" dirty="0">
                    <a:solidFill>
                      <a:srgbClr val="12355B"/>
                    </a:solidFill>
                    <a:latin typeface="+mn-lt"/>
                    <a:ea typeface="+mn-ea"/>
                    <a:cs typeface="+mn-cs"/>
                  </a:rPr>
                  <a:t>Gövde unknown</a:t>
                </a:r>
                <a:br/>
                <a:r>
                  <a:rPr lang="tr-TR" sz="1580" dirty="0">
                    <a:solidFill>
                      <a:srgbClr val="12355B"/>
                    </a:solidFill>
                    <a:latin typeface="+mn-lt"/>
                    <a:ea typeface="+mn-ea"/>
                    <a:cs typeface="+mn-cs"/>
                  </a:rPr>
                  <a:t>olarak alınır</a:t>
                </a:r>
              </a:p>
            </p:txBody>
          </p:sp>
        </p:grpSp>
        <p:grpSp>
          <p:nvGrpSpPr>
            <p:cNvPr id="22" name="flow-n3-karar"/>
            <p:cNvGrpSpPr/>
            <p:nvPr/>
          </p:nvGrpSpPr>
          <p:grpSpPr>
            <a:xfrm>
              <a:off x="5372100" y="1676400"/>
              <a:ext cx="2190750" cy="1181100"/>
              <a:chOff x="5372100" y="1676400"/>
              <a:chExt cx="2190750" cy="1181100"/>
            </a:xfrm>
          </p:grpSpPr>
          <p:sp>
            <p:nvSpPr>
              <p:cNvPr id="20" name="Polygon 20"/>
              <p:cNvSpPr/>
              <p:nvPr/>
            </p:nvSpPr>
            <p:spPr>
              <a:xfrm>
                <a:off x="5372100" y="1676400"/>
                <a:ext cx="2190750" cy="1181100"/>
              </a:xfrm>
              <a:custGeom>
                <a:avLst/>
                <a:gdLst/>
                <a:ahLst/>
                <a:cxnLst/>
                <a:rect l="l" t="t" r="r" b="b"/>
                <a:pathLst>
                  <a:path w="2190750" h="1181100">
                    <a:moveTo>
                      <a:pt x="1095375" y="0"/>
                    </a:moveTo>
                    <a:lnTo>
                      <a:pt x="2190750" y="590550"/>
                    </a:lnTo>
                    <a:lnTo>
                      <a:pt x="1095375" y="1181100"/>
                    </a:lnTo>
                    <a:lnTo>
                      <a:pt x="0" y="590550"/>
                    </a:lnTo>
                    <a:close/>
                  </a:path>
                </a:pathLst>
              </a:custGeom>
              <a:solidFill>
                <a:srgbClr val="FFFFFF"/>
              </a:solidFill>
              <a:ln w="14288">
                <a:solidFill>
                  <a:srgbClr val="00A6A6"/>
                </a:solidFill>
              </a:ln>
            </p:spPr>
          </p:sp>
          <p:sp>
            <p:nvSpPr>
              <p:cNvPr id="21" name="TextBox 21"/>
              <p:cNvSpPr txBox="1"/>
              <p:nvPr/>
            </p:nvSpPr>
            <p:spPr>
              <a:xfrm>
                <a:off x="5567854" y="2163604"/>
                <a:ext cx="1799243"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Şema geçerli mi?</a:t>
                </a:r>
              </a:p>
            </p:txBody>
          </p:sp>
        </p:grpSp>
        <p:grpSp>
          <p:nvGrpSpPr>
            <p:cNvPr id="25" name="flow-n4-donusum"/>
            <p:cNvGrpSpPr/>
            <p:nvPr/>
          </p:nvGrpSpPr>
          <p:grpSpPr>
            <a:xfrm>
              <a:off x="7943850" y="1905000"/>
              <a:ext cx="2190750" cy="723900"/>
              <a:chOff x="7943850" y="1905000"/>
              <a:chExt cx="2190750" cy="723900"/>
            </a:xfrm>
          </p:grpSpPr>
          <p:sp>
            <p:nvSpPr>
              <p:cNvPr id="23" name="Rectangle 23"/>
              <p:cNvSpPr/>
              <p:nvPr/>
            </p:nvSpPr>
            <p:spPr>
              <a:xfrm>
                <a:off x="7943850" y="1905000"/>
                <a:ext cx="2190750" cy="723900"/>
              </a:xfrm>
              <a:prstGeom prst="roundRect">
                <a:avLst>
                  <a:gd name="adj" fmla="val 7895"/>
                </a:avLst>
              </a:prstGeom>
              <a:solidFill>
                <a:srgbClr val="FFFFFF"/>
              </a:solidFill>
              <a:ln w="14288">
                <a:solidFill>
                  <a:srgbClr val="2E86AB"/>
                </a:solidFill>
              </a:ln>
            </p:spPr>
          </p:sp>
          <p:sp>
            <p:nvSpPr>
              <p:cNvPr id="24" name="TextBox 24"/>
              <p:cNvSpPr txBox="1"/>
              <p:nvPr/>
            </p:nvSpPr>
            <p:spPr>
              <a:xfrm>
                <a:off x="8168386" y="2039779"/>
                <a:ext cx="1741678" cy="555688"/>
              </a:xfrm>
              <a:prstGeom prst="rect">
                <a:avLst/>
              </a:prstGeom>
              <a:noFill/>
              <a:ln>
                <a:noFill/>
              </a:ln>
            </p:spPr>
            <p:txBody>
              <a:bodyPr wrap="none" lIns="0" tIns="0" rIns="0" bIns="0" anchor="t" anchorCtr="0">
                <a:spAutoFit/>
              </a:bodyPr>
              <a:lstStyle/>
              <a:p>
                <a:pPr algn="ctr">
                  <a:lnSpc>
                    <a:spcPts val="1950"/>
                  </a:lnSpc>
                </a:pPr>
                <a:r>
                  <a:rPr lang="tr-TR" sz="1580" dirty="0">
                    <a:solidFill>
                      <a:srgbClr val="12355B"/>
                    </a:solidFill>
                    <a:latin typeface="+mn-lt"/>
                    <a:ea typeface="+mn-ea"/>
                    <a:cs typeface="+mn-cs"/>
                  </a:rPr>
                  <a:t>Tip güvenli modele</a:t>
                </a:r>
                <a:br/>
                <a:r>
                  <a:rPr lang="tr-TR" sz="1580" dirty="0">
                    <a:solidFill>
                      <a:srgbClr val="12355B"/>
                    </a:solidFill>
                    <a:latin typeface="+mn-lt"/>
                    <a:ea typeface="+mn-ea"/>
                    <a:cs typeface="+mn-cs"/>
                  </a:rPr>
                  <a:t>dönüştürülür</a:t>
                </a:r>
              </a:p>
            </p:txBody>
          </p:sp>
        </p:grpSp>
        <p:grpSp>
          <p:nvGrpSpPr>
            <p:cNvPr id="28" name="flow-n5-hata"/>
            <p:cNvGrpSpPr/>
            <p:nvPr/>
          </p:nvGrpSpPr>
          <p:grpSpPr>
            <a:xfrm>
              <a:off x="5372100" y="4000500"/>
              <a:ext cx="2190750" cy="723900"/>
              <a:chOff x="5372100" y="4000500"/>
              <a:chExt cx="2190750" cy="723900"/>
            </a:xfrm>
          </p:grpSpPr>
          <p:sp>
            <p:nvSpPr>
              <p:cNvPr id="26" name="Rectangle 26"/>
              <p:cNvSpPr/>
              <p:nvPr/>
            </p:nvSpPr>
            <p:spPr>
              <a:xfrm>
                <a:off x="5372100" y="4000500"/>
                <a:ext cx="2190750" cy="723900"/>
              </a:xfrm>
              <a:prstGeom prst="roundRect">
                <a:avLst>
                  <a:gd name="adj" fmla="val 7895"/>
                </a:avLst>
              </a:prstGeom>
              <a:solidFill>
                <a:srgbClr val="FFFFFF"/>
              </a:solidFill>
              <a:ln w="14288">
                <a:solidFill>
                  <a:srgbClr val="B8CBD3"/>
                </a:solidFill>
              </a:ln>
            </p:spPr>
          </p:sp>
          <p:sp>
            <p:nvSpPr>
              <p:cNvPr id="27" name="TextBox 27"/>
              <p:cNvSpPr txBox="1"/>
              <p:nvPr/>
            </p:nvSpPr>
            <p:spPr>
              <a:xfrm>
                <a:off x="5419303" y="4268629"/>
                <a:ext cx="2096345" cy="308039"/>
              </a:xfrm>
              <a:prstGeom prst="rect">
                <a:avLst/>
              </a:prstGeom>
              <a:noFill/>
              <a:ln>
                <a:noFill/>
              </a:ln>
            </p:spPr>
            <p:txBody>
              <a:bodyPr wrap="none" lIns="0" tIns="0" rIns="0" bIns="0" anchor="t" anchorCtr="0">
                <a:spAutoFit/>
              </a:bodyPr>
              <a:lstStyle/>
              <a:p>
                <a:pPr algn="ctr"/>
                <a:r>
                  <a:rPr lang="tr-TR" sz="1580" dirty="0">
                    <a:solidFill>
                      <a:srgbClr val="52616B"/>
                    </a:solidFill>
                    <a:latin typeface="+mn-lt"/>
                    <a:ea typeface="+mn-ea"/>
                    <a:cs typeface="+mn-cs"/>
                  </a:rPr>
                  <a:t>Hata yanıtı üretilir</a:t>
                </a:r>
              </a:p>
            </p:txBody>
          </p:sp>
        </p:grpSp>
        <p:grpSp>
          <p:nvGrpSpPr>
            <p:cNvPr id="31" name="flow-n6-servis"/>
            <p:cNvGrpSpPr/>
            <p:nvPr/>
          </p:nvGrpSpPr>
          <p:grpSpPr>
            <a:xfrm>
              <a:off x="7943850" y="4000500"/>
              <a:ext cx="2190750" cy="723900"/>
              <a:chOff x="7943850" y="4000500"/>
              <a:chExt cx="2190750" cy="723900"/>
            </a:xfrm>
          </p:grpSpPr>
          <p:sp>
            <p:nvSpPr>
              <p:cNvPr id="29" name="Rectangle 29"/>
              <p:cNvSpPr/>
              <p:nvPr/>
            </p:nvSpPr>
            <p:spPr>
              <a:xfrm>
                <a:off x="7943850" y="4000500"/>
                <a:ext cx="2190750" cy="723900"/>
              </a:xfrm>
              <a:prstGeom prst="roundRect">
                <a:avLst>
                  <a:gd name="adj" fmla="val 50000"/>
                </a:avLst>
              </a:prstGeom>
              <a:solidFill>
                <a:srgbClr val="EAF4F6"/>
              </a:solidFill>
              <a:ln w="14288">
                <a:solidFill>
                  <a:srgbClr val="2E86AB"/>
                </a:solidFill>
              </a:ln>
            </p:spPr>
          </p:sp>
          <p:sp>
            <p:nvSpPr>
              <p:cNvPr id="30" name="TextBox 30"/>
              <p:cNvSpPr txBox="1"/>
              <p:nvPr/>
            </p:nvSpPr>
            <p:spPr>
              <a:xfrm>
                <a:off x="8240809" y="4268629"/>
                <a:ext cx="1596832" cy="308039"/>
              </a:xfrm>
              <a:prstGeom prst="rect">
                <a:avLst/>
              </a:prstGeom>
              <a:noFill/>
              <a:ln>
                <a:noFill/>
              </a:ln>
            </p:spPr>
            <p:txBody>
              <a:bodyPr wrap="none" lIns="0" tIns="0" rIns="0" bIns="0" anchor="t" anchorCtr="0">
                <a:spAutoFit/>
              </a:bodyPr>
              <a:lstStyle/>
              <a:p>
                <a:pPr algn="ctr"/>
                <a:r>
                  <a:rPr lang="tr-TR" sz="1580" dirty="0">
                    <a:solidFill>
                      <a:srgbClr val="12355B"/>
                    </a:solidFill>
                    <a:latin typeface="+mn-lt"/>
                    <a:ea typeface="+mn-ea"/>
                    <a:cs typeface="+mn-cs"/>
                  </a:rPr>
                  <a:t>Servis katmanı</a:t>
                </a:r>
              </a:p>
            </p:txBody>
          </p:sp>
        </p:grpSp>
      </p:grpSp>
      <p:grpSp>
        <p:nvGrpSpPr>
          <p:cNvPr id="36" name="flow-takeaway"/>
          <p:cNvGrpSpPr/>
          <p:nvPr/>
        </p:nvGrpSpPr>
        <p:grpSpPr>
          <a:xfrm>
            <a:off x="609600" y="5238750"/>
            <a:ext cx="10972800" cy="952500"/>
            <a:chOff x="609600" y="5238750"/>
            <a:chExt cx="10972800" cy="952500"/>
          </a:xfrm>
        </p:grpSpPr>
        <p:sp>
          <p:nvSpPr>
            <p:cNvPr id="33" name="Rectangle 33"/>
            <p:cNvSpPr/>
            <p:nvPr/>
          </p:nvSpPr>
          <p:spPr>
            <a:xfrm>
              <a:off x="609600" y="5238750"/>
              <a:ext cx="10972800" cy="952500"/>
            </a:xfrm>
            <a:prstGeom prst="roundRect">
              <a:avLst>
                <a:gd name="adj" fmla="val 8000"/>
              </a:avLst>
            </a:prstGeom>
            <a:solidFill>
              <a:srgbClr val="EAF4F6"/>
            </a:solidFill>
            <a:ln>
              <a:noFill/>
            </a:ln>
          </p:spPr>
        </p:sp>
        <p:sp>
          <p:nvSpPr>
            <p:cNvPr id="34" name="TextBox 34"/>
            <p:cNvSpPr txBox="1"/>
            <p:nvPr/>
          </p:nvSpPr>
          <p:spPr>
            <a:xfrm>
              <a:off x="905256" y="5387340"/>
              <a:ext cx="833388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Servis katmanı ham veriyle değil, sözleşmeye uyan veriyle çalışır.</a:t>
              </a:r>
            </a:p>
          </p:txBody>
        </p:sp>
        <p:sp>
          <p:nvSpPr>
            <p:cNvPr id="35" name="TextBox 35"/>
            <p:cNvSpPr txBox="1"/>
            <p:nvPr/>
          </p:nvSpPr>
          <p:spPr>
            <a:xfrm>
              <a:off x="906399" y="5735479"/>
              <a:ext cx="1064001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İstemciden gelen veri önce doğrulanır; ardından TypeScript'in tanıdığı güvenli modele dönüştürülür.</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4209988" cy="668845"/>
            <a:chOff x="609600" y="171450"/>
            <a:chExt cx="4209988"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351961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TypeScript nedir?</a:t>
              </a:r>
            </a:p>
          </p:txBody>
        </p:sp>
      </p:grpSp>
      <p:grpSp>
        <p:nvGrpSpPr>
          <p:cNvPr id="13" name="definition-lead"/>
          <p:cNvGrpSpPr/>
          <p:nvPr/>
        </p:nvGrpSpPr>
        <p:grpSpPr>
          <a:xfrm>
            <a:off x="599694" y="1370648"/>
            <a:ext cx="7896939" cy="724281"/>
            <a:chOff x="599694" y="1370648"/>
            <a:chExt cx="7896939" cy="724281"/>
          </a:xfrm>
        </p:grpSpPr>
        <p:sp>
          <p:nvSpPr>
            <p:cNvPr id="12" name="TextBox 12"/>
            <p:cNvSpPr txBox="1"/>
            <p:nvPr/>
          </p:nvSpPr>
          <p:spPr>
            <a:xfrm>
              <a:off x="599694" y="1370648"/>
              <a:ext cx="7896939"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 xml:space="preserve">TypeScript, JavaScript'e </a:t>
              </a:r>
              <a:r>
                <a:rPr lang="tr-TR" sz="1950" b="1" dirty="0">
                  <a:solidFill>
                    <a:srgbClr val="12355B"/>
                  </a:solidFill>
                  <a:latin typeface="+mn-lt"/>
                  <a:ea typeface="+mn-ea"/>
                  <a:cs typeface="+mn-cs"/>
                </a:rPr>
                <a:t>statik tip denetimi</a:t>
              </a:r>
              <a:r>
                <a:rPr lang="tr-TR" sz="1950" dirty="0">
                  <a:solidFill>
                    <a:srgbClr val="172B3A"/>
                  </a:solidFill>
                  <a:latin typeface="+mn-lt"/>
                  <a:ea typeface="+mn-ea"/>
                  <a:cs typeface="+mn-cs"/>
                </a:rPr>
                <a:t xml:space="preserve"> ekleyen ve sonunda</a:t>
              </a:r>
              <a:br/>
              <a:r>
                <a:rPr lang="tr-TR" sz="1950" dirty="0">
                  <a:solidFill>
                    <a:srgbClr val="172B3A"/>
                  </a:solidFill>
                  <a:latin typeface="+mn-lt"/>
                  <a:ea typeface="+mn-ea"/>
                  <a:cs typeface="+mn-cs"/>
                </a:rPr>
                <a:t>JavaScript koduna derlenen bir programlama dilidir.</a:t>
              </a:r>
            </a:p>
          </p:txBody>
        </p:sp>
      </p:grpSp>
      <p:grpSp>
        <p:nvGrpSpPr>
          <p:cNvPr id="17" name="panel-javascript"/>
          <p:cNvGrpSpPr/>
          <p:nvPr/>
        </p:nvGrpSpPr>
        <p:grpSpPr>
          <a:xfrm>
            <a:off x="609600" y="2381250"/>
            <a:ext cx="5257800" cy="2095500"/>
            <a:chOff x="609600" y="2381250"/>
            <a:chExt cx="5257800" cy="2095500"/>
          </a:xfrm>
        </p:grpSpPr>
        <p:sp>
          <p:nvSpPr>
            <p:cNvPr id="14" name="Rectangle 14"/>
            <p:cNvSpPr/>
            <p:nvPr/>
          </p:nvSpPr>
          <p:spPr>
            <a:xfrm>
              <a:off x="609600" y="2381250"/>
              <a:ext cx="5257800" cy="2095500"/>
            </a:xfrm>
            <a:prstGeom prst="roundRect">
              <a:avLst>
                <a:gd name="adj" fmla="val 4545"/>
              </a:avLst>
            </a:prstGeom>
            <a:solidFill>
              <a:srgbClr val="FFFFFF"/>
            </a:solidFill>
            <a:ln w="14288">
              <a:solidFill>
                <a:srgbClr val="B8CBD3"/>
              </a:solidFill>
            </a:ln>
          </p:spPr>
        </p:sp>
        <p:sp>
          <p:nvSpPr>
            <p:cNvPr id="15" name="TextBox 15"/>
            <p:cNvSpPr txBox="1"/>
            <p:nvPr/>
          </p:nvSpPr>
          <p:spPr>
            <a:xfrm>
              <a:off x="826770" y="2614612"/>
              <a:ext cx="1711471" cy="440055"/>
            </a:xfrm>
            <a:prstGeom prst="rect">
              <a:avLst/>
            </a:prstGeom>
            <a:noFill/>
            <a:ln>
              <a:noFill/>
            </a:ln>
          </p:spPr>
          <p:txBody>
            <a:bodyPr wrap="none" lIns="0" tIns="0" rIns="0" bIns="0" anchor="t" anchorCtr="0">
              <a:spAutoFit/>
            </a:bodyPr>
            <a:lstStyle/>
            <a:p>
              <a:pPr algn="l"/>
              <a:r>
                <a:rPr lang="tr-TR" sz="2250" b="1" dirty="0">
                  <a:solidFill>
                    <a:srgbClr val="52616B"/>
                  </a:solidFill>
                  <a:latin typeface="+mn-lt"/>
                  <a:ea typeface="+mn-ea"/>
                  <a:cs typeface="+mn-cs"/>
                </a:rPr>
                <a:t>JavaScript</a:t>
              </a:r>
            </a:p>
          </p:txBody>
        </p:sp>
        <p:sp>
          <p:nvSpPr>
            <p:cNvPr id="16" name="TextBox 16"/>
            <p:cNvSpPr txBox="1"/>
            <p:nvPr/>
          </p:nvSpPr>
          <p:spPr>
            <a:xfrm>
              <a:off x="830199" y="3163729"/>
              <a:ext cx="3818509" cy="87953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Değişkenin türü çalışırken değişebilir.</a:t>
              </a:r>
              <a:br/>
              <a:r>
                <a:rPr lang="tr-TR" sz="1580" dirty="0">
                  <a:solidFill>
                    <a:srgbClr val="172B3A"/>
                  </a:solidFill>
                  <a:latin typeface="+mn-lt"/>
                  <a:ea typeface="+mn-ea"/>
                  <a:cs typeface="+mn-cs"/>
                </a:rPr>
                <a:t>Yanlış tür çoğu zaman ancak kod</a:t>
              </a:r>
              <a:br/>
              <a:r>
                <a:rPr lang="tr-TR" sz="1580" dirty="0">
                  <a:solidFill>
                    <a:srgbClr val="172B3A"/>
                  </a:solidFill>
                  <a:latin typeface="+mn-lt"/>
                  <a:ea typeface="+mn-ea"/>
                  <a:cs typeface="+mn-cs"/>
                </a:rPr>
                <a:t>çalışırken fark edilir.</a:t>
              </a:r>
            </a:p>
          </p:txBody>
        </p:sp>
      </p:grpSp>
      <p:grpSp>
        <p:nvGrpSpPr>
          <p:cNvPr id="21" name="panel-typescript"/>
          <p:cNvGrpSpPr/>
          <p:nvPr/>
        </p:nvGrpSpPr>
        <p:grpSpPr>
          <a:xfrm>
            <a:off x="6324600" y="2381250"/>
            <a:ext cx="5257800" cy="2095500"/>
            <a:chOff x="6324600" y="2381250"/>
            <a:chExt cx="5257800" cy="2095500"/>
          </a:xfrm>
        </p:grpSpPr>
        <p:sp>
          <p:nvSpPr>
            <p:cNvPr id="18" name="Rectangle 18"/>
            <p:cNvSpPr/>
            <p:nvPr/>
          </p:nvSpPr>
          <p:spPr>
            <a:xfrm>
              <a:off x="6324600" y="2381250"/>
              <a:ext cx="5257800" cy="2095500"/>
            </a:xfrm>
            <a:prstGeom prst="roundRect">
              <a:avLst>
                <a:gd name="adj" fmla="val 4545"/>
              </a:avLst>
            </a:prstGeom>
            <a:solidFill>
              <a:srgbClr val="FFFFFF"/>
            </a:solidFill>
            <a:ln w="14288">
              <a:solidFill>
                <a:srgbClr val="00A6A6"/>
              </a:solidFill>
            </a:ln>
          </p:spPr>
        </p:sp>
        <p:sp>
          <p:nvSpPr>
            <p:cNvPr id="19" name="TextBox 19"/>
            <p:cNvSpPr txBox="1"/>
            <p:nvPr/>
          </p:nvSpPr>
          <p:spPr>
            <a:xfrm>
              <a:off x="6541770" y="2614612"/>
              <a:ext cx="1711471"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TypeScript</a:t>
              </a:r>
            </a:p>
          </p:txBody>
        </p:sp>
        <p:sp>
          <p:nvSpPr>
            <p:cNvPr id="20" name="TextBox 20"/>
            <p:cNvSpPr txBox="1"/>
            <p:nvPr/>
          </p:nvSpPr>
          <p:spPr>
            <a:xfrm>
              <a:off x="6545199" y="3163729"/>
              <a:ext cx="3216529" cy="87953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Beklenen veri biçimleri önceden</a:t>
              </a:r>
              <a:br/>
              <a:r>
                <a:rPr lang="tr-TR" sz="1580" dirty="0">
                  <a:solidFill>
                    <a:srgbClr val="172B3A"/>
                  </a:solidFill>
                  <a:latin typeface="+mn-lt"/>
                  <a:ea typeface="+mn-ea"/>
                  <a:cs typeface="+mn-cs"/>
                </a:rPr>
                <a:t>tanımlanır; yanlış tür uygulama</a:t>
              </a:r>
              <a:br/>
              <a:r>
                <a:rPr lang="tr-TR" sz="1580" dirty="0">
                  <a:solidFill>
                    <a:srgbClr val="172B3A"/>
                  </a:solidFill>
                  <a:latin typeface="+mn-lt"/>
                  <a:ea typeface="+mn-ea"/>
                  <a:cs typeface="+mn-cs"/>
                </a:rPr>
                <a:t>çalışmadan önce bildirilir.</a:t>
              </a:r>
            </a:p>
          </p:txBody>
        </p:sp>
      </p:grpSp>
      <p:grpSp>
        <p:nvGrpSpPr>
          <p:cNvPr id="25" name="definition-takeaway"/>
          <p:cNvGrpSpPr/>
          <p:nvPr/>
        </p:nvGrpSpPr>
        <p:grpSpPr>
          <a:xfrm>
            <a:off x="609600" y="4953000"/>
            <a:ext cx="10972800" cy="766668"/>
            <a:chOff x="609600" y="4953000"/>
            <a:chExt cx="10972800" cy="766668"/>
          </a:xfrm>
        </p:grpSpPr>
        <p:sp>
          <p:nvSpPr>
            <p:cNvPr id="22" name="Rectangle 22"/>
            <p:cNvSpPr/>
            <p:nvPr/>
          </p:nvSpPr>
          <p:spPr>
            <a:xfrm>
              <a:off x="609600" y="4953000"/>
              <a:ext cx="10972800" cy="762000"/>
            </a:xfrm>
            <a:prstGeom prst="roundRect">
              <a:avLst>
                <a:gd name="adj" fmla="val 10000"/>
              </a:avLst>
            </a:prstGeom>
            <a:solidFill>
              <a:srgbClr val="EAF4F6"/>
            </a:solidFill>
            <a:ln>
              <a:noFill/>
            </a:ln>
          </p:spPr>
        </p:sp>
        <p:sp>
          <p:nvSpPr>
            <p:cNvPr id="23" name="TextBox 23"/>
            <p:cNvSpPr txBox="1"/>
            <p:nvPr/>
          </p:nvSpPr>
          <p:spPr>
            <a:xfrm>
              <a:off x="905256" y="5101590"/>
              <a:ext cx="975840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Gerçek bir backend sisteminde yanlış tür kullanımı işletme kuralını bozabilir.</a:t>
              </a:r>
            </a:p>
          </p:txBody>
        </p:sp>
        <p:sp>
          <p:nvSpPr>
            <p:cNvPr id="24" name="TextBox 24"/>
            <p:cNvSpPr txBox="1"/>
            <p:nvPr/>
          </p:nvSpPr>
          <p:spPr>
            <a:xfrm>
              <a:off x="906399" y="5411629"/>
              <a:ext cx="694246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TypeScript bu nedenle verinin anlamını kodun içinde görünür kılar.</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9388310" cy="557403"/>
            <a:chOff x="595122" y="282892"/>
            <a:chExt cx="9388310" cy="557403"/>
          </a:xfrm>
        </p:grpSpPr>
        <p:sp>
          <p:nvSpPr>
            <p:cNvPr id="4" name="TextBox 4"/>
            <p:cNvSpPr txBox="1"/>
            <p:nvPr/>
          </p:nvSpPr>
          <p:spPr>
            <a:xfrm>
              <a:off x="595122" y="282892"/>
              <a:ext cx="938831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Kuramsal arka plan: kademeli ve yapısal tipleme</a:t>
              </a:r>
            </a:p>
          </p:txBody>
        </p:sp>
      </p:grpSp>
      <p:grpSp>
        <p:nvGrpSpPr>
          <p:cNvPr id="14" name="gradual-spectrum"/>
          <p:cNvGrpSpPr/>
          <p:nvPr/>
        </p:nvGrpSpPr>
        <p:grpSpPr>
          <a:xfrm>
            <a:off x="599694" y="1389698"/>
            <a:ext cx="10457815" cy="1929669"/>
            <a:chOff x="599694" y="1389698"/>
            <a:chExt cx="10457815" cy="1929669"/>
          </a:xfrm>
        </p:grpSpPr>
        <p:sp>
          <p:nvSpPr>
            <p:cNvPr id="6" name="TextBox 6"/>
            <p:cNvSpPr txBox="1"/>
            <p:nvPr/>
          </p:nvSpPr>
          <p:spPr>
            <a:xfrm>
              <a:off x="599694" y="1389698"/>
              <a:ext cx="4521736"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Kademeli tipleme (gradual typing)</a:t>
              </a:r>
            </a:p>
          </p:txBody>
        </p:sp>
        <p:sp>
          <p:nvSpPr>
            <p:cNvPr id="7" name="Line 7"/>
            <p:cNvSpPr/>
            <p:nvPr/>
          </p:nvSpPr>
          <p:spPr>
            <a:xfrm>
              <a:off x="1905000" y="2571750"/>
              <a:ext cx="8382000" cy="9525"/>
            </a:xfrm>
            <a:custGeom>
              <a:avLst/>
              <a:gdLst/>
              <a:ahLst/>
              <a:cxnLst/>
              <a:rect l="l" t="t" r="r" b="b"/>
              <a:pathLst>
                <a:path w="8382000" h="9525">
                  <a:moveTo>
                    <a:pt x="0" y="0"/>
                  </a:moveTo>
                  <a:lnTo>
                    <a:pt x="8382000" y="0"/>
                  </a:lnTo>
                </a:path>
              </a:pathLst>
            </a:custGeom>
            <a:noFill/>
            <a:ln w="28575">
              <a:solidFill>
                <a:srgbClr val="B8CBD3"/>
              </a:solidFill>
            </a:ln>
          </p:spPr>
        </p:sp>
        <p:sp>
          <p:nvSpPr>
            <p:cNvPr id="8" name="Line 8"/>
            <p:cNvSpPr/>
            <p:nvPr/>
          </p:nvSpPr>
          <p:spPr>
            <a:xfrm>
              <a:off x="1905000" y="2438400"/>
              <a:ext cx="9525" cy="266700"/>
            </a:xfrm>
            <a:custGeom>
              <a:avLst/>
              <a:gdLst/>
              <a:ahLst/>
              <a:cxnLst/>
              <a:rect l="l" t="t" r="r" b="b"/>
              <a:pathLst>
                <a:path w="9525" h="266700">
                  <a:moveTo>
                    <a:pt x="0" y="0"/>
                  </a:moveTo>
                  <a:lnTo>
                    <a:pt x="0" y="266700"/>
                  </a:lnTo>
                </a:path>
              </a:pathLst>
            </a:custGeom>
            <a:noFill/>
            <a:ln w="28575">
              <a:solidFill>
                <a:srgbClr val="B8CBD3"/>
              </a:solidFill>
            </a:ln>
          </p:spPr>
        </p:sp>
        <p:sp>
          <p:nvSpPr>
            <p:cNvPr id="9" name="Line 9"/>
            <p:cNvSpPr/>
            <p:nvPr/>
          </p:nvSpPr>
          <p:spPr>
            <a:xfrm>
              <a:off x="10287000" y="2438400"/>
              <a:ext cx="9525" cy="266700"/>
            </a:xfrm>
            <a:custGeom>
              <a:avLst/>
              <a:gdLst/>
              <a:ahLst/>
              <a:cxnLst/>
              <a:rect l="l" t="t" r="r" b="b"/>
              <a:pathLst>
                <a:path w="9525" h="266700">
                  <a:moveTo>
                    <a:pt x="0" y="0"/>
                  </a:moveTo>
                  <a:lnTo>
                    <a:pt x="0" y="266700"/>
                  </a:lnTo>
                </a:path>
              </a:pathLst>
            </a:custGeom>
            <a:noFill/>
            <a:ln w="28575">
              <a:solidFill>
                <a:srgbClr val="B8CBD3"/>
              </a:solidFill>
            </a:ln>
          </p:spPr>
        </p:sp>
        <p:sp>
          <p:nvSpPr>
            <p:cNvPr id="10" name="Ellipse 10"/>
            <p:cNvSpPr/>
            <p:nvPr/>
          </p:nvSpPr>
          <p:spPr>
            <a:xfrm>
              <a:off x="5962650" y="2438400"/>
              <a:ext cx="266700" cy="266700"/>
            </a:xfrm>
            <a:prstGeom prst="ellipse">
              <a:avLst/>
            </a:prstGeom>
            <a:solidFill>
              <a:srgbClr val="00A6A6"/>
            </a:solidFill>
            <a:ln>
              <a:noFill/>
            </a:ln>
          </p:spPr>
        </p:sp>
        <p:sp>
          <p:nvSpPr>
            <p:cNvPr id="11" name="TextBox 11"/>
            <p:cNvSpPr txBox="1"/>
            <p:nvPr/>
          </p:nvSpPr>
          <p:spPr>
            <a:xfrm>
              <a:off x="5411412" y="2091690"/>
              <a:ext cx="1369177"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TypeScript</a:t>
              </a:r>
            </a:p>
          </p:txBody>
        </p:sp>
        <p:sp>
          <p:nvSpPr>
            <p:cNvPr id="12" name="TextBox 12"/>
            <p:cNvSpPr txBox="1"/>
            <p:nvPr/>
          </p:nvSpPr>
          <p:spPr>
            <a:xfrm>
              <a:off x="953897" y="2782729"/>
              <a:ext cx="1902206" cy="536638"/>
            </a:xfrm>
            <a:prstGeom prst="rect">
              <a:avLst/>
            </a:prstGeom>
            <a:noFill/>
            <a:ln>
              <a:noFill/>
            </a:ln>
          </p:spPr>
          <p:txBody>
            <a:bodyPr wrap="none" lIns="0" tIns="0" rIns="0" bIns="0" anchor="t" anchorCtr="0">
              <a:spAutoFit/>
            </a:bodyPr>
            <a:lstStyle/>
            <a:p>
              <a:pPr algn="ctr">
                <a:lnSpc>
                  <a:spcPts val="1800"/>
                </a:lnSpc>
              </a:pPr>
              <a:r>
                <a:rPr lang="tr-TR" sz="1580" dirty="0">
                  <a:solidFill>
                    <a:srgbClr val="52616B"/>
                  </a:solidFill>
                  <a:latin typeface="+mn-lt"/>
                  <a:ea typeface="+mn-ea"/>
                  <a:cs typeface="+mn-cs"/>
                </a:rPr>
                <a:t>Tamamen dinamik</a:t>
              </a:r>
              <a:br/>
              <a:r>
                <a:rPr lang="tr-TR" sz="1580" dirty="0">
                  <a:solidFill>
                    <a:srgbClr val="52616B"/>
                  </a:solidFill>
                  <a:latin typeface="+mn-lt"/>
                  <a:ea typeface="+mn-ea"/>
                  <a:cs typeface="+mn-cs"/>
                </a:rPr>
                <a:t>JavaScript, Python</a:t>
              </a:r>
            </a:p>
          </p:txBody>
        </p:sp>
        <p:sp>
          <p:nvSpPr>
            <p:cNvPr id="13" name="TextBox 13"/>
            <p:cNvSpPr txBox="1"/>
            <p:nvPr/>
          </p:nvSpPr>
          <p:spPr>
            <a:xfrm>
              <a:off x="9516491" y="2782729"/>
              <a:ext cx="1541018" cy="536638"/>
            </a:xfrm>
            <a:prstGeom prst="rect">
              <a:avLst/>
            </a:prstGeom>
            <a:noFill/>
            <a:ln>
              <a:noFill/>
            </a:ln>
          </p:spPr>
          <p:txBody>
            <a:bodyPr wrap="none" lIns="0" tIns="0" rIns="0" bIns="0" anchor="t" anchorCtr="0">
              <a:spAutoFit/>
            </a:bodyPr>
            <a:lstStyle/>
            <a:p>
              <a:pPr algn="ctr">
                <a:lnSpc>
                  <a:spcPts val="1800"/>
                </a:lnSpc>
              </a:pPr>
              <a:r>
                <a:rPr lang="tr-TR" sz="1580" dirty="0">
                  <a:solidFill>
                    <a:srgbClr val="52616B"/>
                  </a:solidFill>
                  <a:latin typeface="+mn-lt"/>
                  <a:ea typeface="+mn-ea"/>
                  <a:cs typeface="+mn-cs"/>
                </a:rPr>
                <a:t>Tamamen statik</a:t>
              </a:r>
              <a:br/>
              <a:r>
                <a:rPr lang="tr-TR" sz="1580" dirty="0">
                  <a:solidFill>
                    <a:srgbClr val="52616B"/>
                  </a:solidFill>
                  <a:latin typeface="+mn-lt"/>
                  <a:ea typeface="+mn-ea"/>
                  <a:cs typeface="+mn-cs"/>
                </a:rPr>
                <a:t>Java, C#</a:t>
              </a:r>
            </a:p>
          </p:txBody>
        </p:sp>
      </p:grpSp>
      <p:grpSp>
        <p:nvGrpSpPr>
          <p:cNvPr id="18" name="panel-structural"/>
          <p:cNvGrpSpPr/>
          <p:nvPr/>
        </p:nvGrpSpPr>
        <p:grpSpPr>
          <a:xfrm>
            <a:off x="609600" y="3714750"/>
            <a:ext cx="5257800" cy="1905000"/>
            <a:chOff x="609600" y="3714750"/>
            <a:chExt cx="5257800" cy="1905000"/>
          </a:xfrm>
        </p:grpSpPr>
        <p:sp>
          <p:nvSpPr>
            <p:cNvPr id="15" name="Rectangle 15"/>
            <p:cNvSpPr/>
            <p:nvPr/>
          </p:nvSpPr>
          <p:spPr>
            <a:xfrm>
              <a:off x="609600" y="3714750"/>
              <a:ext cx="5257800" cy="1905000"/>
            </a:xfrm>
            <a:prstGeom prst="roundRect">
              <a:avLst>
                <a:gd name="adj" fmla="val 5000"/>
              </a:avLst>
            </a:prstGeom>
            <a:solidFill>
              <a:srgbClr val="FFFFFF"/>
            </a:solidFill>
            <a:ln w="14288">
              <a:solidFill>
                <a:srgbClr val="00A6A6"/>
              </a:solidFill>
            </a:ln>
          </p:spPr>
        </p:sp>
        <p:sp>
          <p:nvSpPr>
            <p:cNvPr id="16" name="TextBox 16"/>
            <p:cNvSpPr txBox="1"/>
            <p:nvPr/>
          </p:nvSpPr>
          <p:spPr>
            <a:xfrm>
              <a:off x="826770" y="3910012"/>
              <a:ext cx="2401836" cy="440055"/>
            </a:xfrm>
            <a:prstGeom prst="rect">
              <a:avLst/>
            </a:prstGeom>
            <a:noFill/>
            <a:ln>
              <a:noFill/>
            </a:ln>
          </p:spPr>
          <p:txBody>
            <a:bodyPr wrap="none" lIns="0" tIns="0" rIns="0" bIns="0" anchor="t" anchorCtr="0">
              <a:spAutoFit/>
            </a:bodyPr>
            <a:lstStyle/>
            <a:p>
              <a:pPr algn="l"/>
              <a:r>
                <a:rPr lang="tr-TR" sz="2250" b="1" dirty="0">
                  <a:solidFill>
                    <a:srgbClr val="12355B"/>
                  </a:solidFill>
                  <a:latin typeface="+mn-lt"/>
                  <a:ea typeface="+mn-ea"/>
                  <a:cs typeface="+mn-cs"/>
                </a:rPr>
                <a:t>Yapısal tipleme</a:t>
              </a:r>
            </a:p>
          </p:txBody>
        </p:sp>
        <p:sp>
          <p:nvSpPr>
            <p:cNvPr id="17" name="TextBox 17"/>
            <p:cNvSpPr txBox="1"/>
            <p:nvPr/>
          </p:nvSpPr>
          <p:spPr>
            <a:xfrm>
              <a:off x="830199" y="4401979"/>
              <a:ext cx="2925572" cy="87953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Bir nesnenin türü, adına değil</a:t>
              </a:r>
              <a:br/>
              <a:r>
                <a:rPr lang="tr-TR" sz="1580" dirty="0">
                  <a:solidFill>
                    <a:srgbClr val="172B3A"/>
                  </a:solidFill>
                  <a:latin typeface="+mn-lt"/>
                  <a:ea typeface="+mn-ea"/>
                  <a:cs typeface="+mn-cs"/>
                </a:rPr>
                <a:t>sahip olduğu alan ve</a:t>
              </a:r>
              <a:br/>
              <a:r>
                <a:rPr lang="tr-TR" sz="1580" dirty="0">
                  <a:solidFill>
                    <a:srgbClr val="172B3A"/>
                  </a:solidFill>
                  <a:latin typeface="+mn-lt"/>
                  <a:ea typeface="+mn-ea"/>
                  <a:cs typeface="+mn-cs"/>
                </a:rPr>
                <a:t>davranışlara göre belirlenir.</a:t>
              </a:r>
            </a:p>
          </p:txBody>
        </p:sp>
      </p:grpSp>
      <p:grpSp>
        <p:nvGrpSpPr>
          <p:cNvPr id="22" name="panel-nominal"/>
          <p:cNvGrpSpPr/>
          <p:nvPr/>
        </p:nvGrpSpPr>
        <p:grpSpPr>
          <a:xfrm>
            <a:off x="6324600" y="3714750"/>
            <a:ext cx="5257800" cy="1905000"/>
            <a:chOff x="6324600" y="3714750"/>
            <a:chExt cx="5257800" cy="1905000"/>
          </a:xfrm>
        </p:grpSpPr>
        <p:sp>
          <p:nvSpPr>
            <p:cNvPr id="19" name="Rectangle 19"/>
            <p:cNvSpPr/>
            <p:nvPr/>
          </p:nvSpPr>
          <p:spPr>
            <a:xfrm>
              <a:off x="6324600" y="3714750"/>
              <a:ext cx="5257800" cy="1905000"/>
            </a:xfrm>
            <a:prstGeom prst="roundRect">
              <a:avLst>
                <a:gd name="adj" fmla="val 5000"/>
              </a:avLst>
            </a:prstGeom>
            <a:solidFill>
              <a:srgbClr val="FFFFFF"/>
            </a:solidFill>
            <a:ln w="14288">
              <a:solidFill>
                <a:srgbClr val="B8CBD3"/>
              </a:solidFill>
            </a:ln>
          </p:spPr>
        </p:sp>
        <p:sp>
          <p:nvSpPr>
            <p:cNvPr id="20" name="TextBox 20"/>
            <p:cNvSpPr txBox="1"/>
            <p:nvPr/>
          </p:nvSpPr>
          <p:spPr>
            <a:xfrm>
              <a:off x="6541770" y="3910012"/>
              <a:ext cx="2385870" cy="440055"/>
            </a:xfrm>
            <a:prstGeom prst="rect">
              <a:avLst/>
            </a:prstGeom>
            <a:noFill/>
            <a:ln>
              <a:noFill/>
            </a:ln>
          </p:spPr>
          <p:txBody>
            <a:bodyPr wrap="none" lIns="0" tIns="0" rIns="0" bIns="0" anchor="t" anchorCtr="0">
              <a:spAutoFit/>
            </a:bodyPr>
            <a:lstStyle/>
            <a:p>
              <a:pPr algn="l"/>
              <a:r>
                <a:rPr lang="tr-TR" sz="2250" b="1" dirty="0">
                  <a:solidFill>
                    <a:srgbClr val="52616B"/>
                  </a:solidFill>
                  <a:latin typeface="+mn-lt"/>
                  <a:ea typeface="+mn-ea"/>
                  <a:cs typeface="+mn-cs"/>
                </a:rPr>
                <a:t>Nominal tipleme</a:t>
              </a:r>
            </a:p>
          </p:txBody>
        </p:sp>
        <p:sp>
          <p:nvSpPr>
            <p:cNvPr id="21" name="TextBox 21"/>
            <p:cNvSpPr txBox="1"/>
            <p:nvPr/>
          </p:nvSpPr>
          <p:spPr>
            <a:xfrm>
              <a:off x="6545199" y="4401979"/>
              <a:ext cx="2744978" cy="87953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İki sınıf yalnızca aynı adı</a:t>
              </a:r>
              <a:br/>
              <a:r>
                <a:rPr lang="tr-TR" sz="1580" dirty="0">
                  <a:solidFill>
                    <a:srgbClr val="172B3A"/>
                  </a:solidFill>
                  <a:latin typeface="+mn-lt"/>
                  <a:ea typeface="+mn-ea"/>
                  <a:cs typeface="+mn-cs"/>
                </a:rPr>
                <a:t>taşıyorsa uyumlu sayılır.</a:t>
              </a:r>
              <a:br/>
              <a:r>
                <a:rPr lang="tr-TR" sz="1580" dirty="0">
                  <a:solidFill>
                    <a:srgbClr val="172B3A"/>
                  </a:solidFill>
                  <a:latin typeface="+mn-lt"/>
                  <a:ea typeface="+mn-ea"/>
                  <a:cs typeface="+mn-cs"/>
                </a:rPr>
                <a:t>Yapısal tiplemenin tersidir.</a:t>
              </a:r>
            </a:p>
          </p:txBody>
        </p:sp>
      </p:grpSp>
      <p:grpSp>
        <p:nvGrpSpPr>
          <p:cNvPr id="24" name="source-note"/>
          <p:cNvGrpSpPr/>
          <p:nvPr/>
        </p:nvGrpSpPr>
        <p:grpSpPr>
          <a:xfrm>
            <a:off x="603504" y="5890260"/>
            <a:ext cx="9182114" cy="234696"/>
            <a:chOff x="603504" y="5890260"/>
            <a:chExt cx="9182114" cy="234696"/>
          </a:xfrm>
        </p:grpSpPr>
        <p:sp>
          <p:nvSpPr>
            <p:cNvPr id="23" name="TextBox 23"/>
            <p:cNvSpPr txBox="1"/>
            <p:nvPr/>
          </p:nvSpPr>
          <p:spPr>
            <a:xfrm>
              <a:off x="603504" y="5890260"/>
              <a:ext cx="918211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Kaynak: Siek ve Taha, Gradual Typing for Functional Languages, 2006 · Strachey, 1967 · Hejlsberg, Microsoft, 2012</a:t>
              </a:r>
            </a:p>
          </p:txBody>
        </p:sp>
      </p:grpSp>
      <p:sp>
        <p:nvSpPr>
          <p:cNvPr id="25" name="TextBox 2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701326" cy="557403"/>
            <a:chOff x="595122" y="282892"/>
            <a:chExt cx="5701326" cy="557403"/>
          </a:xfrm>
        </p:grpSpPr>
        <p:sp>
          <p:nvSpPr>
            <p:cNvPr id="4" name="TextBox 4"/>
            <p:cNvSpPr txBox="1"/>
            <p:nvPr/>
          </p:nvSpPr>
          <p:spPr>
            <a:xfrm>
              <a:off x="595122" y="282892"/>
              <a:ext cx="570132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Temel tiplerle veri modelleme</a:t>
              </a:r>
            </a:p>
          </p:txBody>
        </p:sp>
      </p:grpSp>
      <p:grpSp>
        <p:nvGrpSpPr>
          <p:cNvPr id="9" name="code-kullanici"/>
          <p:cNvGrpSpPr/>
          <p:nvPr/>
        </p:nvGrpSpPr>
        <p:grpSpPr>
          <a:xfrm>
            <a:off x="609600" y="1428750"/>
            <a:ext cx="6286500" cy="1809750"/>
            <a:chOff x="609600" y="1428750"/>
            <a:chExt cx="6286500" cy="1809750"/>
          </a:xfrm>
        </p:grpSpPr>
        <p:sp>
          <p:nvSpPr>
            <p:cNvPr id="6" name="Rectangle 6"/>
            <p:cNvSpPr/>
            <p:nvPr/>
          </p:nvSpPr>
          <p:spPr>
            <a:xfrm>
              <a:off x="609600" y="1428750"/>
              <a:ext cx="6286500" cy="1809750"/>
            </a:xfrm>
            <a:prstGeom prst="roundRect">
              <a:avLst>
                <a:gd name="adj" fmla="val 4211"/>
              </a:avLst>
            </a:prstGeom>
            <a:solidFill>
              <a:srgbClr val="EAF4F6"/>
            </a:solidFill>
            <a:ln w="14288">
              <a:solidFill>
                <a:srgbClr val="B8CBD3"/>
              </a:solidFill>
            </a:ln>
          </p:spPr>
        </p:sp>
        <p:sp>
          <p:nvSpPr>
            <p:cNvPr id="7" name="TextBox 7"/>
            <p:cNvSpPr txBox="1"/>
            <p:nvPr/>
          </p:nvSpPr>
          <p:spPr>
            <a:xfrm>
              <a:off x="832104" y="1584960"/>
              <a:ext cx="2295861"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Kod 3.1 — KullaniciModeli.ts</a:t>
              </a:r>
            </a:p>
          </p:txBody>
        </p:sp>
        <p:sp>
          <p:nvSpPr>
            <p:cNvPr id="8" name="TextBox 8"/>
            <p:cNvSpPr txBox="1"/>
            <p:nvPr/>
          </p:nvSpPr>
          <p:spPr>
            <a:xfrm>
              <a:off x="831342" y="1911668"/>
              <a:ext cx="4162806" cy="1254633"/>
            </a:xfrm>
            <a:prstGeom prst="rect">
              <a:avLst/>
            </a:prstGeom>
            <a:noFill/>
            <a:ln>
              <a:noFill/>
            </a:ln>
          </p:spPr>
          <p:txBody>
            <a:bodyPr wrap="none" lIns="0" tIns="0" rIns="0" bIns="0" anchor="t" anchorCtr="0">
              <a:spAutoFit/>
            </a:bodyPr>
            <a:lstStyle/>
            <a:p>
              <a:pPr algn="l">
                <a:lnSpc>
                  <a:spcPts val="1950"/>
                </a:lnSpc>
              </a:pP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kullaniciKimligi: number = 101;</a:t>
              </a:r>
              <a:b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kullaniciAdi: string = </a:t>
              </a:r>
              <a:r>
                <a:rPr lang="tr-TR" sz="1350" dirty="0">
                  <a:solidFill>
                    <a:srgbClr val="2E7D32"/>
                  </a:solidFill>
                  <a:latin typeface="Consolas"/>
                  <a:ea typeface="Consolas"/>
                  <a:cs typeface="Consolas"/>
                </a:rPr>
                <a:t>"Bahar Yılmaz"</a:t>
              </a:r>
              <a:r>
                <a:rPr lang="tr-TR" sz="1350" dirty="0">
                  <a:solidFill>
                    <a:srgbClr val="172B3A"/>
                  </a:solidFill>
                  <a:latin typeface="Consolas"/>
                  <a:ea typeface="Consolas"/>
                  <a:cs typeface="Consolas"/>
                </a:rPr>
                <a:t>;</a:t>
              </a:r>
              <a:b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epostaDogrulandiMi: boolean = true;</a:t>
              </a:r>
              <a:br/>
              <a:r>
                <a:rPr lang="tr-TR" sz="1350" dirty="0">
                  <a:solidFill>
                    <a:srgbClr val="172B3A"/>
                  </a:solidFill>
                  <a:latin typeface="Consolas"/>
                  <a:ea typeface="Consolas"/>
                  <a:cs typeface="Consolas"/>
                </a:rPr>
                <a:t>console.log(kullaniciAdi);</a:t>
              </a:r>
              <a:br/>
              <a:r>
                <a:rPr lang="tr-TR" sz="1350" dirty="0">
                  <a:solidFill>
                    <a:srgbClr val="52616B"/>
                  </a:solidFill>
                  <a:latin typeface="Consolas"/>
                  <a:ea typeface="Consolas"/>
                  <a:cs typeface="Consolas"/>
                </a:rPr>
                <a:t>// Çıktı: Bahar Yılmaz</a:t>
              </a:r>
            </a:p>
          </p:txBody>
        </p:sp>
      </p:grpSp>
      <p:grpSp>
        <p:nvGrpSpPr>
          <p:cNvPr id="13" name="code-kitap"/>
          <p:cNvGrpSpPr/>
          <p:nvPr/>
        </p:nvGrpSpPr>
        <p:grpSpPr>
          <a:xfrm>
            <a:off x="609600" y="3524250"/>
            <a:ext cx="6286500" cy="1809750"/>
            <a:chOff x="609600" y="3524250"/>
            <a:chExt cx="6286500" cy="1809750"/>
          </a:xfrm>
        </p:grpSpPr>
        <p:sp>
          <p:nvSpPr>
            <p:cNvPr id="10" name="Rectangle 10"/>
            <p:cNvSpPr/>
            <p:nvPr/>
          </p:nvSpPr>
          <p:spPr>
            <a:xfrm>
              <a:off x="609600" y="3524250"/>
              <a:ext cx="6286500" cy="1809750"/>
            </a:xfrm>
            <a:prstGeom prst="roundRect">
              <a:avLst>
                <a:gd name="adj" fmla="val 4211"/>
              </a:avLst>
            </a:prstGeom>
            <a:solidFill>
              <a:srgbClr val="EAF4F6"/>
            </a:solidFill>
            <a:ln w="14288">
              <a:solidFill>
                <a:srgbClr val="B8CBD3"/>
              </a:solidFill>
            </a:ln>
          </p:spPr>
        </p:sp>
        <p:sp>
          <p:nvSpPr>
            <p:cNvPr id="11" name="TextBox 11"/>
            <p:cNvSpPr txBox="1"/>
            <p:nvPr/>
          </p:nvSpPr>
          <p:spPr>
            <a:xfrm>
              <a:off x="832104" y="3680460"/>
              <a:ext cx="2488443"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Kod 3.2 — KitapTemelBilgisi.ts</a:t>
              </a:r>
            </a:p>
          </p:txBody>
        </p:sp>
        <p:sp>
          <p:nvSpPr>
            <p:cNvPr id="12" name="TextBox 12"/>
            <p:cNvSpPr txBox="1"/>
            <p:nvPr/>
          </p:nvSpPr>
          <p:spPr>
            <a:xfrm>
              <a:off x="831342" y="4007168"/>
              <a:ext cx="4822888" cy="1254633"/>
            </a:xfrm>
            <a:prstGeom prst="rect">
              <a:avLst/>
            </a:prstGeom>
            <a:noFill/>
            <a:ln>
              <a:noFill/>
            </a:ln>
          </p:spPr>
          <p:txBody>
            <a:bodyPr wrap="none" lIns="0" tIns="0" rIns="0" bIns="0" anchor="t" anchorCtr="0">
              <a:spAutoFit/>
            </a:bodyPr>
            <a:lstStyle/>
            <a:p>
              <a:pPr algn="l">
                <a:lnSpc>
                  <a:spcPts val="1950"/>
                </a:lnSpc>
              </a:pP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kitapAdi: string = </a:t>
              </a:r>
              <a:r>
                <a:rPr lang="tr-TR" sz="1350" dirty="0">
                  <a:solidFill>
                    <a:srgbClr val="2E7D32"/>
                  </a:solidFill>
                  <a:latin typeface="Consolas"/>
                  <a:ea typeface="Consolas"/>
                  <a:cs typeface="Consolas"/>
                </a:rPr>
                <a:t>"Algoritmalara Giriş"</a:t>
              </a:r>
              <a:r>
                <a:rPr lang="tr-TR" sz="1350" dirty="0">
                  <a:solidFill>
                    <a:srgbClr val="172B3A"/>
                  </a:solidFill>
                  <a:latin typeface="Consolas"/>
                  <a:ea typeface="Consolas"/>
                  <a:cs typeface="Consolas"/>
                </a:rPr>
                <a:t>;</a:t>
              </a:r>
              <a:b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kitapStokAdedi: number = 12;</a:t>
              </a:r>
              <a:b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kitapSatistaMi: boolean = kitapStokAdedi &gt; 0;</a:t>
              </a:r>
              <a:br/>
              <a:r>
                <a:rPr lang="tr-TR" sz="1350" dirty="0">
                  <a:solidFill>
                    <a:srgbClr val="172B3A"/>
                  </a:solidFill>
                  <a:latin typeface="Consolas"/>
                  <a:ea typeface="Consolas"/>
                  <a:cs typeface="Consolas"/>
                </a:rPr>
                <a:t>console.log(kitapSatistaMi);</a:t>
              </a:r>
              <a:br/>
              <a:r>
                <a:rPr lang="tr-TR" sz="1350" dirty="0">
                  <a:solidFill>
                    <a:srgbClr val="52616B"/>
                  </a:solidFill>
                  <a:latin typeface="Consolas"/>
                  <a:ea typeface="Consolas"/>
                  <a:cs typeface="Consolas"/>
                </a:rPr>
                <a:t>// Çıktı: true</a:t>
              </a:r>
            </a:p>
          </p:txBody>
        </p:sp>
      </p:grpSp>
      <p:grpSp>
        <p:nvGrpSpPr>
          <p:cNvPr id="18" name="critical-lines"/>
          <p:cNvGrpSpPr/>
          <p:nvPr/>
        </p:nvGrpSpPr>
        <p:grpSpPr>
          <a:xfrm>
            <a:off x="7190994" y="1503998"/>
            <a:ext cx="3318764" cy="2482119"/>
            <a:chOff x="7190994" y="1503998"/>
            <a:chExt cx="3318764" cy="2482119"/>
          </a:xfrm>
        </p:grpSpPr>
        <p:sp>
          <p:nvSpPr>
            <p:cNvPr id="14" name="TextBox 14"/>
            <p:cNvSpPr txBox="1"/>
            <p:nvPr/>
          </p:nvSpPr>
          <p:spPr>
            <a:xfrm>
              <a:off x="7190994" y="1503998"/>
              <a:ext cx="2026241"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Kritik satırlar</a:t>
              </a:r>
            </a:p>
          </p:txBody>
        </p:sp>
        <p:sp>
          <p:nvSpPr>
            <p:cNvPr id="15" name="TextBox 15"/>
            <p:cNvSpPr txBox="1"/>
            <p:nvPr/>
          </p:nvSpPr>
          <p:spPr>
            <a:xfrm>
              <a:off x="7192899" y="1925479"/>
              <a:ext cx="2905506" cy="80333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Açık tip bildirimi, değişkenin</a:t>
              </a:r>
              <a:br/>
              <a:r>
                <a:rPr lang="tr-TR" sz="1580" dirty="0">
                  <a:solidFill>
                    <a:srgbClr val="172B3A"/>
                  </a:solidFill>
                  <a:latin typeface="+mn-lt"/>
                  <a:ea typeface="+mn-ea"/>
                  <a:cs typeface="+mn-cs"/>
                </a:rPr>
                <a:t>taşıyabileceği değer kümesini</a:t>
              </a:r>
              <a:br/>
              <a:r>
                <a:rPr lang="tr-TR" sz="1580" dirty="0">
                  <a:solidFill>
                    <a:srgbClr val="172B3A"/>
                  </a:solidFill>
                  <a:latin typeface="+mn-lt"/>
                  <a:ea typeface="+mn-ea"/>
                  <a:cs typeface="+mn-cs"/>
                </a:rPr>
                <a:t>derleme zamanında sınırlar.</a:t>
              </a:r>
            </a:p>
          </p:txBody>
        </p:sp>
        <p:sp>
          <p:nvSpPr>
            <p:cNvPr id="16" name="TextBox 16"/>
            <p:cNvSpPr txBox="1"/>
            <p:nvPr/>
          </p:nvSpPr>
          <p:spPr>
            <a:xfrm>
              <a:off x="7192899" y="2801779"/>
              <a:ext cx="3316859"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Şablon metinde üç farklı tipteki</a:t>
              </a:r>
              <a:br/>
              <a:r>
                <a:rPr lang="tr-TR" sz="1580" dirty="0">
                  <a:solidFill>
                    <a:srgbClr val="172B3A"/>
                  </a:solidFill>
                  <a:latin typeface="+mn-lt"/>
                  <a:ea typeface="+mn-ea"/>
                  <a:cs typeface="+mn-cs"/>
                </a:rPr>
                <a:t>değer tek dizeye güvenle birleşir.</a:t>
              </a:r>
            </a:p>
          </p:txBody>
        </p:sp>
        <p:sp>
          <p:nvSpPr>
            <p:cNvPr id="17" name="TextBox 17"/>
            <p:cNvSpPr txBox="1"/>
            <p:nvPr/>
          </p:nvSpPr>
          <p:spPr>
            <a:xfrm>
              <a:off x="7192899" y="3430429"/>
              <a:ext cx="3146298"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kullaniciKimligi = "101" ataması</a:t>
              </a:r>
              <a:br/>
              <a:r>
                <a:rPr lang="tr-TR" sz="1580" dirty="0">
                  <a:solidFill>
                    <a:srgbClr val="172B3A"/>
                  </a:solidFill>
                  <a:latin typeface="+mn-lt"/>
                  <a:ea typeface="+mn-ea"/>
                  <a:cs typeface="+mn-cs"/>
                </a:rPr>
                <a:t>derleyici tarafından reddedilir.</a:t>
              </a:r>
            </a:p>
          </p:txBody>
        </p:sp>
      </p:grpSp>
      <p:grpSp>
        <p:nvGrpSpPr>
          <p:cNvPr id="22" name="attention-note"/>
          <p:cNvGrpSpPr/>
          <p:nvPr/>
        </p:nvGrpSpPr>
        <p:grpSpPr>
          <a:xfrm>
            <a:off x="7200900" y="4762500"/>
            <a:ext cx="4381500" cy="1333500"/>
            <a:chOff x="7200900" y="4762500"/>
            <a:chExt cx="4381500" cy="1333500"/>
          </a:xfrm>
        </p:grpSpPr>
        <p:sp>
          <p:nvSpPr>
            <p:cNvPr id="19" name="Rectangle 19"/>
            <p:cNvSpPr/>
            <p:nvPr/>
          </p:nvSpPr>
          <p:spPr>
            <a:xfrm>
              <a:off x="7200900" y="4762500"/>
              <a:ext cx="4381500" cy="1333500"/>
            </a:xfrm>
            <a:prstGeom prst="roundRect">
              <a:avLst>
                <a:gd name="adj" fmla="val 5714"/>
              </a:avLst>
            </a:prstGeom>
            <a:solidFill>
              <a:srgbClr val="EAF4F6"/>
            </a:solidFill>
            <a:ln>
              <a:noFill/>
            </a:ln>
          </p:spPr>
        </p:sp>
        <p:sp>
          <p:nvSpPr>
            <p:cNvPr id="20" name="TextBox 20"/>
            <p:cNvSpPr txBox="1"/>
            <p:nvPr/>
          </p:nvSpPr>
          <p:spPr>
            <a:xfrm>
              <a:off x="7421499" y="489727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Dikkat noktası</a:t>
              </a:r>
            </a:p>
          </p:txBody>
        </p:sp>
        <p:sp>
          <p:nvSpPr>
            <p:cNvPr id="21" name="TextBox 21"/>
            <p:cNvSpPr txBox="1"/>
            <p:nvPr/>
          </p:nvSpPr>
          <p:spPr>
            <a:xfrm>
              <a:off x="7423404" y="5223510"/>
              <a:ext cx="2785872" cy="729996"/>
            </a:xfrm>
            <a:prstGeom prst="rect">
              <a:avLst/>
            </a:prstGeom>
            <a:noFill/>
            <a:ln>
              <a:noFill/>
            </a:ln>
          </p:spPr>
          <p:txBody>
            <a:bodyPr wrap="none" lIns="0" tIns="0" rIns="0" bIns="0" anchor="t" anchorCtr="0">
              <a:spAutoFit/>
            </a:bodyPr>
            <a:lstStyle/>
            <a:p>
              <a:pPr algn="l">
                <a:lnSpc>
                  <a:spcPts val="1950"/>
                </a:lnSpc>
              </a:pPr>
              <a:r>
                <a:rPr lang="tr-TR" sz="1200" dirty="0">
                  <a:solidFill>
                    <a:srgbClr val="172B3A"/>
                  </a:solidFill>
                  <a:latin typeface="+mn-lt"/>
                  <a:ea typeface="+mn-ea"/>
                  <a:cs typeface="+mn-cs"/>
                </a:rPr>
                <a:t>Tipler burada açıkça yazılmıştır;</a:t>
              </a:r>
              <a:br/>
              <a:r>
                <a:rPr lang="tr-TR" sz="1200" dirty="0">
                  <a:solidFill>
                    <a:srgbClr val="172B3A"/>
                  </a:solidFill>
                  <a:latin typeface="+mn-lt"/>
                  <a:ea typeface="+mn-ea"/>
                  <a:cs typeface="+mn-cs"/>
                </a:rPr>
                <a:t>TypeScript aynı sonucu çoğu durumda</a:t>
              </a:r>
              <a:br/>
              <a:r>
                <a:rPr lang="tr-TR" sz="1200" dirty="0">
                  <a:solidFill>
                    <a:srgbClr val="172B3A"/>
                  </a:solidFill>
                  <a:latin typeface="+mn-lt"/>
                  <a:ea typeface="+mn-ea"/>
                  <a:cs typeface="+mn-cs"/>
                </a:rPr>
                <a:t>tip çıkarımıyla da üretebilir.</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8439389" cy="668845"/>
            <a:chOff x="609600" y="171450"/>
            <a:chExt cx="8439389"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774901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TypeScript ne zaman tercih edilmelidir?</a:t>
              </a:r>
            </a:p>
          </p:txBody>
        </p:sp>
      </p:grpSp>
      <p:grpSp>
        <p:nvGrpSpPr>
          <p:cNvPr id="12" name="boundary-lead"/>
          <p:cNvGrpSpPr/>
          <p:nvPr/>
        </p:nvGrpSpPr>
        <p:grpSpPr>
          <a:xfrm>
            <a:off x="600456" y="1367790"/>
            <a:ext cx="9618035" cy="352044"/>
            <a:chOff x="600456" y="1367790"/>
            <a:chExt cx="9618035" cy="352044"/>
          </a:xfrm>
        </p:grpSpPr>
        <p:sp>
          <p:nvSpPr>
            <p:cNvPr id="11" name="TextBox 11"/>
            <p:cNvSpPr txBox="1"/>
            <p:nvPr/>
          </p:nvSpPr>
          <p:spPr>
            <a:xfrm>
              <a:off x="600456" y="1367790"/>
              <a:ext cx="961803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Sınırlarda önceliklendirin: HTTP, veritabanı, kuyruk ve üçüncü taraf yanıtları.</a:t>
              </a:r>
            </a:p>
          </p:txBody>
        </p:sp>
      </p:grpSp>
      <p:grpSp>
        <p:nvGrpSpPr>
          <p:cNvPr id="18" name="alt-header"/>
          <p:cNvGrpSpPr/>
          <p:nvPr/>
        </p:nvGrpSpPr>
        <p:grpSpPr>
          <a:xfrm>
            <a:off x="609600" y="1828800"/>
            <a:ext cx="10972800" cy="419100"/>
            <a:chOff x="609600" y="1828800"/>
            <a:chExt cx="10972800" cy="419100"/>
          </a:xfrm>
        </p:grpSpPr>
        <p:sp>
          <p:nvSpPr>
            <p:cNvPr id="13" name="Rectangle 13"/>
            <p:cNvSpPr/>
            <p:nvPr/>
          </p:nvSpPr>
          <p:spPr>
            <a:xfrm>
              <a:off x="609600" y="1828800"/>
              <a:ext cx="10972800" cy="419100"/>
            </a:xfrm>
            <a:prstGeom prst="rect">
              <a:avLst/>
            </a:prstGeom>
            <a:solidFill>
              <a:srgbClr val="12355B"/>
            </a:solidFill>
            <a:ln>
              <a:noFill/>
            </a:ln>
          </p:spPr>
        </p:sp>
        <p:sp>
          <p:nvSpPr>
            <p:cNvPr id="14" name="TextBox 14"/>
            <p:cNvSpPr txBox="1"/>
            <p:nvPr/>
          </p:nvSpPr>
          <p:spPr>
            <a:xfrm>
              <a:off x="755904" y="1975485"/>
              <a:ext cx="86648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YAKLAŞIM</a:t>
              </a:r>
            </a:p>
          </p:txBody>
        </p:sp>
        <p:sp>
          <p:nvSpPr>
            <p:cNvPr id="15" name="TextBox 15"/>
            <p:cNvSpPr txBox="1"/>
            <p:nvPr/>
          </p:nvSpPr>
          <p:spPr>
            <a:xfrm>
              <a:off x="3041904" y="1975485"/>
              <a:ext cx="1158362"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AVANTAJLARI</a:t>
              </a:r>
            </a:p>
          </p:txBody>
        </p:sp>
        <p:sp>
          <p:nvSpPr>
            <p:cNvPr id="16" name="TextBox 16"/>
            <p:cNvSpPr txBox="1"/>
            <p:nvPr/>
          </p:nvSpPr>
          <p:spPr>
            <a:xfrm>
              <a:off x="5899404" y="1975485"/>
              <a:ext cx="148608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DEZAVANTAJLARI</a:t>
              </a:r>
            </a:p>
          </p:txBody>
        </p:sp>
        <p:sp>
          <p:nvSpPr>
            <p:cNvPr id="17" name="TextBox 17"/>
            <p:cNvSpPr txBox="1"/>
            <p:nvPr/>
          </p:nvSpPr>
          <p:spPr>
            <a:xfrm>
              <a:off x="8756904" y="1975485"/>
              <a:ext cx="1477122"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UYGUN KULLANIM</a:t>
              </a:r>
            </a:p>
          </p:txBody>
        </p:sp>
      </p:grpSp>
      <p:grpSp>
        <p:nvGrpSpPr>
          <p:cNvPr id="24" name="alt-javascript"/>
          <p:cNvGrpSpPr/>
          <p:nvPr/>
        </p:nvGrpSpPr>
        <p:grpSpPr>
          <a:xfrm>
            <a:off x="609600" y="2325529"/>
            <a:ext cx="10972800" cy="722471"/>
            <a:chOff x="609600" y="2325529"/>
            <a:chExt cx="10972800" cy="722471"/>
          </a:xfrm>
        </p:grpSpPr>
        <p:sp>
          <p:nvSpPr>
            <p:cNvPr id="19" name="TextBox 19"/>
            <p:cNvSpPr txBox="1"/>
            <p:nvPr/>
          </p:nvSpPr>
          <p:spPr>
            <a:xfrm>
              <a:off x="753999" y="2325529"/>
              <a:ext cx="120178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JavaScript</a:t>
              </a:r>
            </a:p>
          </p:txBody>
        </p:sp>
        <p:sp>
          <p:nvSpPr>
            <p:cNvPr id="20" name="TextBox 20"/>
            <p:cNvSpPr txBox="1"/>
            <p:nvPr/>
          </p:nvSpPr>
          <p:spPr>
            <a:xfrm>
              <a:off x="3041904" y="2366010"/>
              <a:ext cx="23032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Hızlı başlangıç, az sözdizimi</a:t>
              </a:r>
            </a:p>
          </p:txBody>
        </p:sp>
        <p:sp>
          <p:nvSpPr>
            <p:cNvPr id="21" name="TextBox 21"/>
            <p:cNvSpPr txBox="1"/>
            <p:nvPr/>
          </p:nvSpPr>
          <p:spPr>
            <a:xfrm>
              <a:off x="5899404" y="2366010"/>
              <a:ext cx="21415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Tip hataları geç fark edilir</a:t>
              </a:r>
            </a:p>
          </p:txBody>
        </p:sp>
        <p:sp>
          <p:nvSpPr>
            <p:cNvPr id="22" name="TextBox 22"/>
            <p:cNvSpPr txBox="1"/>
            <p:nvPr/>
          </p:nvSpPr>
          <p:spPr>
            <a:xfrm>
              <a:off x="8756904" y="2366010"/>
              <a:ext cx="172966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Küçük, geçici betikler</a:t>
              </a:r>
            </a:p>
          </p:txBody>
        </p:sp>
        <p:sp>
          <p:nvSpPr>
            <p:cNvPr id="23" name="Line 23"/>
            <p:cNvSpPr/>
            <p:nvPr/>
          </p:nvSpPr>
          <p:spPr>
            <a:xfrm>
              <a:off x="609600" y="30384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alt-typescript"/>
          <p:cNvGrpSpPr/>
          <p:nvPr/>
        </p:nvGrpSpPr>
        <p:grpSpPr>
          <a:xfrm>
            <a:off x="609600" y="3048000"/>
            <a:ext cx="10972800" cy="800100"/>
            <a:chOff x="609600" y="3048000"/>
            <a:chExt cx="10972800" cy="800100"/>
          </a:xfrm>
        </p:grpSpPr>
        <p:sp>
          <p:nvSpPr>
            <p:cNvPr id="25" name="Rectangle 25"/>
            <p:cNvSpPr/>
            <p:nvPr/>
          </p:nvSpPr>
          <p:spPr>
            <a:xfrm>
              <a:off x="609600" y="3048000"/>
              <a:ext cx="10972800" cy="800100"/>
            </a:xfrm>
            <a:prstGeom prst="rect">
              <a:avLst/>
            </a:prstGeom>
            <a:solidFill>
              <a:srgbClr val="EAF4F6"/>
            </a:solidFill>
            <a:ln>
              <a:noFill/>
            </a:ln>
          </p:spPr>
        </p:sp>
        <p:sp>
          <p:nvSpPr>
            <p:cNvPr id="26" name="TextBox 26"/>
            <p:cNvSpPr txBox="1"/>
            <p:nvPr/>
          </p:nvSpPr>
          <p:spPr>
            <a:xfrm>
              <a:off x="753999" y="3125629"/>
              <a:ext cx="120178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TypeScript</a:t>
              </a:r>
            </a:p>
          </p:txBody>
        </p:sp>
        <p:sp>
          <p:nvSpPr>
            <p:cNvPr id="27" name="TextBox 27"/>
            <p:cNvSpPr txBox="1"/>
            <p:nvPr/>
          </p:nvSpPr>
          <p:spPr>
            <a:xfrm>
              <a:off x="3041904" y="3166110"/>
              <a:ext cx="22067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Erken hata yakalama, iyi araç</a:t>
              </a:r>
              <a:br/>
              <a:r>
                <a:rPr lang="tr-TR" sz="1200" dirty="0">
                  <a:solidFill>
                    <a:srgbClr val="172B3A"/>
                  </a:solidFill>
                  <a:latin typeface="+mn-lt"/>
                  <a:ea typeface="+mn-ea"/>
                  <a:cs typeface="+mn-cs"/>
                </a:rPr>
                <a:t>desteği</a:t>
              </a:r>
            </a:p>
          </p:txBody>
        </p:sp>
        <p:sp>
          <p:nvSpPr>
            <p:cNvPr id="28" name="TextBox 28"/>
            <p:cNvSpPr txBox="1"/>
            <p:nvPr/>
          </p:nvSpPr>
          <p:spPr>
            <a:xfrm>
              <a:off x="5899404" y="3166110"/>
              <a:ext cx="17266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Derleme ve tip öğrenme</a:t>
              </a:r>
              <a:br/>
              <a:r>
                <a:rPr lang="tr-TR" sz="1200" dirty="0">
                  <a:solidFill>
                    <a:srgbClr val="172B3A"/>
                  </a:solidFill>
                  <a:latin typeface="+mn-lt"/>
                  <a:ea typeface="+mn-ea"/>
                  <a:cs typeface="+mn-cs"/>
                </a:rPr>
                <a:t>maliyeti</a:t>
              </a:r>
            </a:p>
          </p:txBody>
        </p:sp>
        <p:sp>
          <p:nvSpPr>
            <p:cNvPr id="29" name="TextBox 29"/>
            <p:cNvSpPr txBox="1"/>
            <p:nvPr/>
          </p:nvSpPr>
          <p:spPr>
            <a:xfrm>
              <a:off x="8756904" y="3166110"/>
              <a:ext cx="252137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Orta ve büyük backend projeleri</a:t>
              </a:r>
            </a:p>
          </p:txBody>
        </p:sp>
        <p:sp>
          <p:nvSpPr>
            <p:cNvPr id="30" name="Line 30"/>
            <p:cNvSpPr/>
            <p:nvPr/>
          </p:nvSpPr>
          <p:spPr>
            <a:xfrm>
              <a:off x="609600" y="3838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alt-jsdoc"/>
          <p:cNvGrpSpPr/>
          <p:nvPr/>
        </p:nvGrpSpPr>
        <p:grpSpPr>
          <a:xfrm>
            <a:off x="609600" y="3925729"/>
            <a:ext cx="10972800" cy="722471"/>
            <a:chOff x="609600" y="3925729"/>
            <a:chExt cx="10972800" cy="722471"/>
          </a:xfrm>
        </p:grpSpPr>
        <p:sp>
          <p:nvSpPr>
            <p:cNvPr id="32" name="TextBox 32"/>
            <p:cNvSpPr txBox="1"/>
            <p:nvPr/>
          </p:nvSpPr>
          <p:spPr>
            <a:xfrm>
              <a:off x="753999" y="3925729"/>
              <a:ext cx="1122140" cy="55568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JSDoc ile</a:t>
              </a:r>
              <a:br/>
              <a:r>
                <a:rPr lang="tr-TR" sz="1580" b="1" dirty="0">
                  <a:solidFill>
                    <a:srgbClr val="12355B"/>
                  </a:solidFill>
                  <a:latin typeface="+mn-lt"/>
                  <a:ea typeface="+mn-ea"/>
                  <a:cs typeface="+mn-cs"/>
                </a:rPr>
                <a:t>JavaScript</a:t>
              </a:r>
            </a:p>
          </p:txBody>
        </p:sp>
        <p:sp>
          <p:nvSpPr>
            <p:cNvPr id="33" name="TextBox 33"/>
            <p:cNvSpPr txBox="1"/>
            <p:nvPr/>
          </p:nvSpPr>
          <p:spPr>
            <a:xfrm>
              <a:off x="3041904" y="3966210"/>
              <a:ext cx="16729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Kademeli geçiş sağlar</a:t>
              </a:r>
            </a:p>
          </p:txBody>
        </p:sp>
        <p:sp>
          <p:nvSpPr>
            <p:cNvPr id="34" name="TextBox 34"/>
            <p:cNvSpPr txBox="1"/>
            <p:nvPr/>
          </p:nvSpPr>
          <p:spPr>
            <a:xfrm>
              <a:off x="5899404" y="3966210"/>
              <a:ext cx="21657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Tip sistemi daha sınırlıdır</a:t>
              </a:r>
            </a:p>
          </p:txBody>
        </p:sp>
        <p:sp>
          <p:nvSpPr>
            <p:cNvPr id="35" name="TextBox 35"/>
            <p:cNvSpPr txBox="1"/>
            <p:nvPr/>
          </p:nvSpPr>
          <p:spPr>
            <a:xfrm>
              <a:off x="8756904" y="3966210"/>
              <a:ext cx="238675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Mevcut JavaScript kod tabanı</a:t>
              </a:r>
            </a:p>
          </p:txBody>
        </p:sp>
        <p:sp>
          <p:nvSpPr>
            <p:cNvPr id="36" name="Line 36"/>
            <p:cNvSpPr/>
            <p:nvPr/>
          </p:nvSpPr>
          <p:spPr>
            <a:xfrm>
              <a:off x="609600" y="46386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3" name="alt-runtime"/>
          <p:cNvGrpSpPr/>
          <p:nvPr/>
        </p:nvGrpSpPr>
        <p:grpSpPr>
          <a:xfrm>
            <a:off x="609600" y="4648200"/>
            <a:ext cx="10972800" cy="800100"/>
            <a:chOff x="609600" y="4648200"/>
            <a:chExt cx="10972800" cy="800100"/>
          </a:xfrm>
        </p:grpSpPr>
        <p:sp>
          <p:nvSpPr>
            <p:cNvPr id="38" name="Rectangle 38"/>
            <p:cNvSpPr/>
            <p:nvPr/>
          </p:nvSpPr>
          <p:spPr>
            <a:xfrm>
              <a:off x="609600" y="4648200"/>
              <a:ext cx="10972800" cy="800100"/>
            </a:xfrm>
            <a:prstGeom prst="rect">
              <a:avLst/>
            </a:prstGeom>
            <a:solidFill>
              <a:srgbClr val="EAF4F6"/>
            </a:solidFill>
            <a:ln>
              <a:noFill/>
            </a:ln>
          </p:spPr>
        </p:sp>
        <p:sp>
          <p:nvSpPr>
            <p:cNvPr id="39" name="TextBox 39"/>
            <p:cNvSpPr txBox="1"/>
            <p:nvPr/>
          </p:nvSpPr>
          <p:spPr>
            <a:xfrm>
              <a:off x="753999" y="4725829"/>
              <a:ext cx="1617269" cy="55568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Çalışma zamanı</a:t>
              </a:r>
              <a:br/>
              <a:r>
                <a:rPr lang="tr-TR" sz="1580" b="1" dirty="0">
                  <a:solidFill>
                    <a:srgbClr val="12355B"/>
                  </a:solidFill>
                  <a:latin typeface="+mn-lt"/>
                  <a:ea typeface="+mn-ea"/>
                  <a:cs typeface="+mn-cs"/>
                </a:rPr>
                <a:t>doğrulama</a:t>
              </a:r>
            </a:p>
          </p:txBody>
        </p:sp>
        <p:sp>
          <p:nvSpPr>
            <p:cNvPr id="40" name="TextBox 40"/>
            <p:cNvSpPr txBox="1"/>
            <p:nvPr/>
          </p:nvSpPr>
          <p:spPr>
            <a:xfrm>
              <a:off x="3041904" y="4766310"/>
              <a:ext cx="208504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Gerçek dış veriyi doğrular</a:t>
              </a:r>
            </a:p>
          </p:txBody>
        </p:sp>
        <p:sp>
          <p:nvSpPr>
            <p:cNvPr id="41" name="TextBox 41"/>
            <p:cNvSpPr txBox="1"/>
            <p:nvPr/>
          </p:nvSpPr>
          <p:spPr>
            <a:xfrm>
              <a:off x="5899404" y="4766310"/>
              <a:ext cx="22677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Tek başına editör tip güvenliği</a:t>
              </a:r>
              <a:br/>
              <a:r>
                <a:rPr lang="tr-TR" sz="1200" dirty="0">
                  <a:solidFill>
                    <a:srgbClr val="172B3A"/>
                  </a:solidFill>
                  <a:latin typeface="+mn-lt"/>
                  <a:ea typeface="+mn-ea"/>
                  <a:cs typeface="+mn-cs"/>
                </a:rPr>
                <a:t>sağlamaz</a:t>
              </a:r>
            </a:p>
          </p:txBody>
        </p:sp>
        <p:sp>
          <p:nvSpPr>
            <p:cNvPr id="42" name="TextBox 42"/>
            <p:cNvSpPr txBox="1"/>
            <p:nvPr/>
          </p:nvSpPr>
          <p:spPr>
            <a:xfrm>
              <a:off x="8756904" y="4766310"/>
              <a:ext cx="152692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HTTP/API sınırları</a:t>
              </a:r>
            </a:p>
          </p:txBody>
        </p:sp>
      </p:grpSp>
      <p:grpSp>
        <p:nvGrpSpPr>
          <p:cNvPr id="47" name="alt-takeaway"/>
          <p:cNvGrpSpPr/>
          <p:nvPr/>
        </p:nvGrpSpPr>
        <p:grpSpPr>
          <a:xfrm>
            <a:off x="609600" y="5638800"/>
            <a:ext cx="10972800" cy="690468"/>
            <a:chOff x="609600" y="5638800"/>
            <a:chExt cx="10972800" cy="690468"/>
          </a:xfrm>
        </p:grpSpPr>
        <p:sp>
          <p:nvSpPr>
            <p:cNvPr id="44" name="Rectangle 44"/>
            <p:cNvSpPr/>
            <p:nvPr/>
          </p:nvSpPr>
          <p:spPr>
            <a:xfrm>
              <a:off x="609600" y="5638800"/>
              <a:ext cx="10972800" cy="647700"/>
            </a:xfrm>
            <a:prstGeom prst="roundRect">
              <a:avLst>
                <a:gd name="adj" fmla="val 11765"/>
              </a:avLst>
            </a:prstGeom>
            <a:solidFill>
              <a:srgbClr val="EAF4F6"/>
            </a:solidFill>
            <a:ln>
              <a:noFill/>
            </a:ln>
          </p:spPr>
        </p:sp>
        <p:sp>
          <p:nvSpPr>
            <p:cNvPr id="45" name="TextBox 45"/>
            <p:cNvSpPr txBox="1"/>
            <p:nvPr/>
          </p:nvSpPr>
          <p:spPr>
            <a:xfrm>
              <a:off x="905256" y="5749290"/>
              <a:ext cx="878698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TypeScript ile çalışma zamanı doğrulama birbirinin tamamlayıcısıdır.</a:t>
              </a:r>
            </a:p>
          </p:txBody>
        </p:sp>
        <p:sp>
          <p:nvSpPr>
            <p:cNvPr id="46" name="TextBox 46"/>
            <p:cNvSpPr txBox="1"/>
            <p:nvPr/>
          </p:nvSpPr>
          <p:spPr>
            <a:xfrm>
              <a:off x="906399" y="6021229"/>
              <a:ext cx="876124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TypeScript yazılan kodu, doğrulama kütüphanesi ağdan gelen gerçek veriyi denetler.</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546642" cy="668845"/>
            <a:chOff x="609600" y="171450"/>
            <a:chExt cx="6546642"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585627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TypeScript'te yaygın hatalar</a:t>
              </a:r>
            </a:p>
          </p:txBody>
        </p:sp>
      </p:grpSp>
      <p:grpSp>
        <p:nvGrpSpPr>
          <p:cNvPr id="15" name="code-wrong"/>
          <p:cNvGrpSpPr/>
          <p:nvPr/>
        </p:nvGrpSpPr>
        <p:grpSpPr>
          <a:xfrm>
            <a:off x="609600" y="1428750"/>
            <a:ext cx="6286500" cy="1524000"/>
            <a:chOff x="609600" y="1428750"/>
            <a:chExt cx="6286500" cy="1524000"/>
          </a:xfrm>
        </p:grpSpPr>
        <p:sp>
          <p:nvSpPr>
            <p:cNvPr id="12" name="Rectangle 12"/>
            <p:cNvSpPr/>
            <p:nvPr/>
          </p:nvSpPr>
          <p:spPr>
            <a:xfrm>
              <a:off x="609600" y="1428750"/>
              <a:ext cx="6286500" cy="1524000"/>
            </a:xfrm>
            <a:prstGeom prst="roundRect">
              <a:avLst>
                <a:gd name="adj" fmla="val 5000"/>
              </a:avLst>
            </a:prstGeom>
            <a:solidFill>
              <a:srgbClr val="EAF4F6"/>
            </a:solidFill>
            <a:ln w="14288">
              <a:solidFill>
                <a:srgbClr val="B8CBD3"/>
              </a:solidFill>
            </a:ln>
          </p:spPr>
        </p:sp>
        <p:sp>
          <p:nvSpPr>
            <p:cNvPr id="13" name="TextBox 13"/>
            <p:cNvSpPr txBox="1"/>
            <p:nvPr/>
          </p:nvSpPr>
          <p:spPr>
            <a:xfrm>
              <a:off x="832104" y="1584960"/>
              <a:ext cx="2892883" cy="234696"/>
            </a:xfrm>
            <a:prstGeom prst="rect">
              <a:avLst/>
            </a:prstGeom>
            <a:noFill/>
            <a:ln>
              <a:noFill/>
            </a:ln>
          </p:spPr>
          <p:txBody>
            <a:bodyPr wrap="none" lIns="0" tIns="0" rIns="0" bIns="0" anchor="t" anchorCtr="0">
              <a:spAutoFit/>
            </a:bodyPr>
            <a:lstStyle/>
            <a:p>
              <a:pPr algn="l"/>
              <a:r>
                <a:rPr lang="tr-TR" sz="1200" b="1" dirty="0">
                  <a:solidFill>
                    <a:srgbClr val="C62828"/>
                  </a:solidFill>
                  <a:latin typeface="+mn-lt"/>
                  <a:ea typeface="+mn-ea"/>
                  <a:cs typeface="+mn-cs"/>
                </a:rPr>
                <a:t>Hatalı — any tip denetimini kapatır</a:t>
              </a:r>
            </a:p>
          </p:txBody>
        </p:sp>
        <p:sp>
          <p:nvSpPr>
            <p:cNvPr id="14" name="TextBox 14"/>
            <p:cNvSpPr txBox="1"/>
            <p:nvPr/>
          </p:nvSpPr>
          <p:spPr>
            <a:xfrm>
              <a:off x="831342" y="1949768"/>
              <a:ext cx="4728591" cy="759333"/>
            </a:xfrm>
            <a:prstGeom prst="rect">
              <a:avLst/>
            </a:prstGeom>
            <a:noFill/>
            <a:ln>
              <a:noFill/>
            </a:ln>
          </p:spPr>
          <p:txBody>
            <a:bodyPr wrap="none" lIns="0" tIns="0" rIns="0" bIns="0" anchor="t" anchorCtr="0">
              <a:spAutoFit/>
            </a:bodyPr>
            <a:lstStyle/>
            <a:p>
              <a:pPr algn="l">
                <a:lnSpc>
                  <a:spcPts val="1950"/>
                </a:lnSpc>
              </a:pP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kullaniciVerisi: any = { ad: </a:t>
              </a:r>
              <a:r>
                <a:rPr lang="tr-TR" sz="1350" dirty="0">
                  <a:solidFill>
                    <a:srgbClr val="2E7D32"/>
                  </a:solidFill>
                  <a:latin typeface="Consolas"/>
                  <a:ea typeface="Consolas"/>
                  <a:cs typeface="Consolas"/>
                </a:rPr>
                <a:t>"Elif"</a:t>
              </a:r>
              <a:r>
                <a:rPr lang="tr-TR" sz="1350" dirty="0">
                  <a:solidFill>
                    <a:srgbClr val="172B3A"/>
                  </a:solidFill>
                  <a:latin typeface="Consolas"/>
                  <a:ea typeface="Consolas"/>
                  <a:cs typeface="Consolas"/>
                </a:rPr>
                <a:t xml:space="preserve"> };</a:t>
              </a:r>
              <a:br/>
              <a:r>
                <a:rPr lang="tr-TR" sz="1350" dirty="0">
                  <a:solidFill>
                    <a:srgbClr val="172B3A"/>
                  </a:solidFill>
                  <a:latin typeface="Consolas"/>
                  <a:ea typeface="Consolas"/>
                  <a:cs typeface="Consolas"/>
                </a:rPr>
                <a:t>console.log(kullaniciVerisi.eposta.toLowerCase());</a:t>
              </a:r>
              <a:br/>
              <a:r>
                <a:rPr lang="tr-TR" sz="1350" dirty="0">
                  <a:solidFill>
                    <a:srgbClr val="52616B"/>
                  </a:solidFill>
                  <a:latin typeface="Consolas"/>
                  <a:ea typeface="Consolas"/>
                  <a:cs typeface="Consolas"/>
                </a:rPr>
                <a:t>// Çalışma zamanında hata oluşur.</a:t>
              </a:r>
            </a:p>
          </p:txBody>
        </p:sp>
      </p:grpSp>
      <p:grpSp>
        <p:nvGrpSpPr>
          <p:cNvPr id="19" name="code-right"/>
          <p:cNvGrpSpPr/>
          <p:nvPr/>
        </p:nvGrpSpPr>
        <p:grpSpPr>
          <a:xfrm>
            <a:off x="609600" y="3238500"/>
            <a:ext cx="6286500" cy="2571750"/>
            <a:chOff x="609600" y="3238500"/>
            <a:chExt cx="6286500" cy="2571750"/>
          </a:xfrm>
        </p:grpSpPr>
        <p:sp>
          <p:nvSpPr>
            <p:cNvPr id="16" name="Rectangle 16"/>
            <p:cNvSpPr/>
            <p:nvPr/>
          </p:nvSpPr>
          <p:spPr>
            <a:xfrm>
              <a:off x="609600" y="3238500"/>
              <a:ext cx="6286500" cy="2571750"/>
            </a:xfrm>
            <a:prstGeom prst="roundRect">
              <a:avLst>
                <a:gd name="adj" fmla="val 2963"/>
              </a:avLst>
            </a:prstGeom>
            <a:solidFill>
              <a:srgbClr val="EAF4F6"/>
            </a:solidFill>
            <a:ln w="14288">
              <a:solidFill>
                <a:srgbClr val="00A6A6"/>
              </a:solidFill>
            </a:ln>
          </p:spPr>
        </p:sp>
        <p:sp>
          <p:nvSpPr>
            <p:cNvPr id="17" name="TextBox 17"/>
            <p:cNvSpPr txBox="1"/>
            <p:nvPr/>
          </p:nvSpPr>
          <p:spPr>
            <a:xfrm>
              <a:off x="832104" y="3394710"/>
              <a:ext cx="2892696" cy="234696"/>
            </a:xfrm>
            <a:prstGeom prst="rect">
              <a:avLst/>
            </a:prstGeom>
            <a:noFill/>
            <a:ln>
              <a:noFill/>
            </a:ln>
          </p:spPr>
          <p:txBody>
            <a:bodyPr wrap="none" lIns="0" tIns="0" rIns="0" bIns="0" anchor="t" anchorCtr="0">
              <a:spAutoFit/>
            </a:bodyPr>
            <a:lstStyle/>
            <a:p>
              <a:pPr algn="l"/>
              <a:r>
                <a:rPr lang="tr-TR" sz="1200" b="1" dirty="0">
                  <a:solidFill>
                    <a:srgbClr val="2E7D32"/>
                  </a:solidFill>
                  <a:latin typeface="+mn-lt"/>
                  <a:ea typeface="+mn-ea"/>
                  <a:cs typeface="+mn-cs"/>
                </a:rPr>
                <a:t>Doğru — beklenen alanlar modellenir</a:t>
              </a:r>
            </a:p>
          </p:txBody>
        </p:sp>
        <p:sp>
          <p:nvSpPr>
            <p:cNvPr id="18" name="TextBox 18"/>
            <p:cNvSpPr txBox="1"/>
            <p:nvPr/>
          </p:nvSpPr>
          <p:spPr>
            <a:xfrm>
              <a:off x="831342" y="3759518"/>
              <a:ext cx="4728591" cy="1997583"/>
            </a:xfrm>
            <a:prstGeom prst="rect">
              <a:avLst/>
            </a:prstGeom>
            <a:noFill/>
            <a:ln>
              <a:noFill/>
            </a:ln>
          </p:spPr>
          <p:txBody>
            <a:bodyPr wrap="none" lIns="0" tIns="0" rIns="0" bIns="0" anchor="t" anchorCtr="0">
              <a:spAutoFit/>
            </a:bodyPr>
            <a:lstStyle/>
            <a:p>
              <a:pPr algn="l">
                <a:lnSpc>
                  <a:spcPts val="1950"/>
                </a:lnSpc>
              </a:pPr>
              <a:r>
                <a:rPr lang="tr-TR" sz="1350" dirty="0">
                  <a:solidFill>
                    <a:srgbClr val="2E86AB"/>
                  </a:solidFill>
                  <a:latin typeface="Consolas"/>
                  <a:ea typeface="Consolas"/>
                  <a:cs typeface="Consolas"/>
                </a:rPr>
                <a:t>interface</a:t>
              </a:r>
              <a:r>
                <a:rPr lang="tr-TR" sz="1350" dirty="0">
                  <a:solidFill>
                    <a:srgbClr val="172B3A"/>
                  </a:solidFill>
                  <a:latin typeface="Consolas"/>
                  <a:ea typeface="Consolas"/>
                  <a:cs typeface="Consolas"/>
                </a:rPr>
                <a:t xml:space="preserve"> KullaniciKaydi {</a:t>
              </a:r>
              <a:br/>
              <a:r>
                <a:rPr lang="tr-TR" sz="1350" dirty="0">
                  <a:solidFill>
                    <a:srgbClr val="172B3A"/>
                  </a:solidFill>
                  <a:latin typeface="Consolas"/>
                  <a:ea typeface="Consolas"/>
                  <a:cs typeface="Consolas"/>
                </a:rPr>
                <a:t>ad: string;</a:t>
              </a:r>
              <a:br/>
              <a:r>
                <a:rPr lang="tr-TR" sz="1350" dirty="0">
                  <a:solidFill>
                    <a:srgbClr val="172B3A"/>
                  </a:solidFill>
                  <a:latin typeface="Consolas"/>
                  <a:ea typeface="Consolas"/>
                  <a:cs typeface="Consolas"/>
                </a:rPr>
                <a:t>eposta: string;</a:t>
              </a:r>
              <a:br/>
              <a:r>
                <a:rPr lang="tr-TR" sz="1350" dirty="0">
                  <a:solidFill>
                    <a:srgbClr val="172B3A"/>
                  </a:solidFill>
                  <a:latin typeface="Consolas"/>
                  <a:ea typeface="Consolas"/>
                  <a:cs typeface="Consolas"/>
                </a:rPr>
                <a:t>}</a:t>
              </a:r>
              <a:b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kullaniciVerisi: KullaniciKaydi = {</a:t>
              </a:r>
              <a:br/>
              <a:r>
                <a:rPr lang="tr-TR" sz="1350" dirty="0">
                  <a:solidFill>
                    <a:srgbClr val="172B3A"/>
                  </a:solidFill>
                  <a:latin typeface="Consolas"/>
                  <a:ea typeface="Consolas"/>
                  <a:cs typeface="Consolas"/>
                </a:rPr>
                <a:t xml:space="preserve">ad: </a:t>
              </a:r>
              <a:r>
                <a:rPr lang="tr-TR" sz="1350" dirty="0">
                  <a:solidFill>
                    <a:srgbClr val="2E7D32"/>
                  </a:solidFill>
                  <a:latin typeface="Consolas"/>
                  <a:ea typeface="Consolas"/>
                  <a:cs typeface="Consolas"/>
                </a:rPr>
                <a:t>"Elif"</a:t>
              </a:r>
              <a:r>
                <a:rPr lang="tr-TR" sz="1350" dirty="0">
                  <a:solidFill>
                    <a:srgbClr val="172B3A"/>
                  </a:solidFill>
                  <a:latin typeface="Consolas"/>
                  <a:ea typeface="Consolas"/>
                  <a:cs typeface="Consolas"/>
                </a:rPr>
                <a:t xml:space="preserve">, eposta: </a:t>
              </a:r>
              <a:r>
                <a:rPr lang="tr-TR" sz="1350" dirty="0">
                  <a:solidFill>
                    <a:srgbClr val="2E7D32"/>
                  </a:solidFill>
                  <a:latin typeface="Consolas"/>
                  <a:ea typeface="Consolas"/>
                  <a:cs typeface="Consolas"/>
                </a:rPr>
                <a:t>"elif@example.com"</a:t>
              </a:r>
              <a:br/>
              <a:r>
                <a:rPr lang="tr-TR" sz="1350" dirty="0">
                  <a:solidFill>
                    <a:srgbClr val="172B3A"/>
                  </a:solidFill>
                  <a:latin typeface="Consolas"/>
                  <a:ea typeface="Consolas"/>
                  <a:cs typeface="Consolas"/>
                </a:rPr>
                <a:t>};</a:t>
              </a:r>
              <a:br/>
              <a:r>
                <a:rPr lang="tr-TR" sz="1350" dirty="0">
                  <a:solidFill>
                    <a:srgbClr val="172B3A"/>
                  </a:solidFill>
                  <a:latin typeface="Consolas"/>
                  <a:ea typeface="Consolas"/>
                  <a:cs typeface="Consolas"/>
                </a:rPr>
                <a:t>console.log(kullaniciVerisi.eposta.toLowerCase());</a:t>
              </a:r>
            </a:p>
          </p:txBody>
        </p:sp>
      </p:grpSp>
      <p:grpSp>
        <p:nvGrpSpPr>
          <p:cNvPr id="27" name="common-mistakes"/>
          <p:cNvGrpSpPr/>
          <p:nvPr/>
        </p:nvGrpSpPr>
        <p:grpSpPr>
          <a:xfrm>
            <a:off x="7190994" y="1503998"/>
            <a:ext cx="3788984" cy="3401758"/>
            <a:chOff x="7190994" y="1503998"/>
            <a:chExt cx="3788984" cy="3401758"/>
          </a:xfrm>
        </p:grpSpPr>
        <p:sp>
          <p:nvSpPr>
            <p:cNvPr id="20" name="TextBox 20"/>
            <p:cNvSpPr txBox="1"/>
            <p:nvPr/>
          </p:nvSpPr>
          <p:spPr>
            <a:xfrm>
              <a:off x="7190994" y="1503998"/>
              <a:ext cx="2013741"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Üç yaygın hata</a:t>
              </a:r>
            </a:p>
          </p:txBody>
        </p:sp>
        <p:sp>
          <p:nvSpPr>
            <p:cNvPr id="21" name="TextBox 21"/>
            <p:cNvSpPr txBox="1"/>
            <p:nvPr/>
          </p:nvSpPr>
          <p:spPr>
            <a:xfrm>
              <a:off x="7192899" y="1982629"/>
              <a:ext cx="255981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1 — Her şeyi any yapmak</a:t>
              </a:r>
            </a:p>
          </p:txBody>
        </p:sp>
        <p:sp>
          <p:nvSpPr>
            <p:cNvPr id="22" name="TextBox 22"/>
            <p:cNvSpPr txBox="1"/>
            <p:nvPr/>
          </p:nvSpPr>
          <p:spPr>
            <a:xfrm>
              <a:off x="7194804" y="2270760"/>
              <a:ext cx="25801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TypeScript'in güvenlik kazanımını</a:t>
              </a:r>
              <a:br/>
              <a:r>
                <a:rPr lang="tr-TR" sz="1200" dirty="0">
                  <a:solidFill>
                    <a:srgbClr val="172B3A"/>
                  </a:solidFill>
                  <a:latin typeface="+mn-lt"/>
                  <a:ea typeface="+mn-ea"/>
                  <a:cs typeface="+mn-cs"/>
                </a:rPr>
                <a:t>ortadan kaldırır.</a:t>
              </a:r>
            </a:p>
          </p:txBody>
        </p:sp>
        <p:sp>
          <p:nvSpPr>
            <p:cNvPr id="23" name="TextBox 23"/>
            <p:cNvSpPr txBox="1"/>
            <p:nvPr/>
          </p:nvSpPr>
          <p:spPr>
            <a:xfrm>
              <a:off x="7192899" y="2973229"/>
              <a:ext cx="354468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2 — as ile doğrulandığını sanmak</a:t>
              </a:r>
            </a:p>
          </p:txBody>
        </p:sp>
        <p:sp>
          <p:nvSpPr>
            <p:cNvPr id="24" name="TextBox 24"/>
            <p:cNvSpPr txBox="1"/>
            <p:nvPr/>
          </p:nvSpPr>
          <p:spPr>
            <a:xfrm>
              <a:off x="7194804" y="3261360"/>
              <a:ext cx="29916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as HedefTip doğrulama yapmaz; yalnızca</a:t>
              </a:r>
              <a:br/>
              <a:r>
                <a:rPr lang="tr-TR" sz="1200" dirty="0">
                  <a:solidFill>
                    <a:srgbClr val="172B3A"/>
                  </a:solidFill>
                  <a:latin typeface="+mn-lt"/>
                  <a:ea typeface="+mn-ea"/>
                  <a:cs typeface="+mn-cs"/>
                </a:rPr>
                <a:t>derleyiciye bir iddia sunar. Alan varlığı</a:t>
              </a:r>
              <a:br/>
              <a:r>
                <a:rPr lang="tr-TR" sz="1200" dirty="0">
                  <a:solidFill>
                    <a:srgbClr val="172B3A"/>
                  </a:solidFill>
                  <a:latin typeface="+mn-lt"/>
                  <a:ea typeface="+mn-ea"/>
                  <a:cs typeface="+mn-cs"/>
                </a:rPr>
                <a:t>ve türü ayrıca kontrol edilmelidir.</a:t>
              </a:r>
            </a:p>
          </p:txBody>
        </p:sp>
        <p:sp>
          <p:nvSpPr>
            <p:cNvPr id="25" name="TextBox 25"/>
            <p:cNvSpPr txBox="1"/>
            <p:nvPr/>
          </p:nvSpPr>
          <p:spPr>
            <a:xfrm>
              <a:off x="7192899" y="4173379"/>
              <a:ext cx="378707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3 — Sayıları metin olarak saklamak</a:t>
              </a:r>
            </a:p>
          </p:txBody>
        </p:sp>
        <p:sp>
          <p:nvSpPr>
            <p:cNvPr id="26" name="TextBox 26"/>
            <p:cNvSpPr txBox="1"/>
            <p:nvPr/>
          </p:nvSpPr>
          <p:spPr>
            <a:xfrm>
              <a:off x="7194804" y="4461510"/>
              <a:ext cx="31592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"12" değeri toplama işleminde beklenmeyen</a:t>
              </a:r>
              <a:br/>
              <a:r>
                <a:rPr lang="tr-TR" sz="1200" dirty="0">
                  <a:solidFill>
                    <a:srgbClr val="172B3A"/>
                  </a:solidFill>
                  <a:latin typeface="+mn-lt"/>
                  <a:ea typeface="+mn-ea"/>
                  <a:cs typeface="+mn-cs"/>
                </a:rPr>
                <a:t>birleştirme sonucu doğurur.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4620587" cy="668845"/>
            <a:chOff x="609600" y="171450"/>
            <a:chExt cx="462058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393021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Tip çıkarımı nedir?</a:t>
              </a:r>
            </a:p>
          </p:txBody>
        </p:sp>
      </p:grpSp>
      <p:grpSp>
        <p:nvGrpSpPr>
          <p:cNvPr id="13" name="inference-lead"/>
          <p:cNvGrpSpPr/>
          <p:nvPr/>
        </p:nvGrpSpPr>
        <p:grpSpPr>
          <a:xfrm>
            <a:off x="599694" y="1370648"/>
            <a:ext cx="8442388" cy="724281"/>
            <a:chOff x="599694" y="1370648"/>
            <a:chExt cx="8442388" cy="724281"/>
          </a:xfrm>
        </p:grpSpPr>
        <p:sp>
          <p:nvSpPr>
            <p:cNvPr id="12" name="TextBox 12"/>
            <p:cNvSpPr txBox="1"/>
            <p:nvPr/>
          </p:nvSpPr>
          <p:spPr>
            <a:xfrm>
              <a:off x="599694" y="1370648"/>
              <a:ext cx="8442388"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 xml:space="preserve">Tip çıkarımı, TypeScript'in bir değerin türünü </a:t>
              </a:r>
              <a:r>
                <a:rPr lang="tr-TR" sz="1950" b="1" dirty="0">
                  <a:solidFill>
                    <a:srgbClr val="12355B"/>
                  </a:solidFill>
                  <a:latin typeface="+mn-lt"/>
                  <a:ea typeface="+mn-ea"/>
                  <a:cs typeface="+mn-cs"/>
                </a:rPr>
                <a:t>açık bildirim olmadan</a:t>
              </a:r>
              <a:br/>
              <a:r>
                <a:rPr lang="tr-TR" sz="1950" dirty="0">
                  <a:solidFill>
                    <a:srgbClr val="172B3A"/>
                  </a:solidFill>
                  <a:latin typeface="+mn-lt"/>
                  <a:ea typeface="+mn-ea"/>
                  <a:cs typeface="+mn-cs"/>
                </a:rPr>
                <a:t>çıkarma mekanizmasıdır; gereksiz tip tekrarını azaltır.</a:t>
              </a:r>
            </a:p>
          </p:txBody>
        </p:sp>
      </p:grpSp>
      <p:grpSp>
        <p:nvGrpSpPr>
          <p:cNvPr id="23" name="inference-scope"/>
          <p:cNvGrpSpPr/>
          <p:nvPr/>
        </p:nvGrpSpPr>
        <p:grpSpPr>
          <a:xfrm>
            <a:off x="609600" y="2381250"/>
            <a:ext cx="10972800" cy="1428750"/>
            <a:chOff x="609600" y="2381250"/>
            <a:chExt cx="10972800" cy="1428750"/>
          </a:xfrm>
        </p:grpSpPr>
        <p:sp>
          <p:nvSpPr>
            <p:cNvPr id="14" name="Rectangle 14"/>
            <p:cNvSpPr/>
            <p:nvPr/>
          </p:nvSpPr>
          <p:spPr>
            <a:xfrm>
              <a:off x="609600" y="2381250"/>
              <a:ext cx="10972800" cy="1428750"/>
            </a:xfrm>
            <a:prstGeom prst="roundRect">
              <a:avLst>
                <a:gd name="adj" fmla="val 6667"/>
              </a:avLst>
            </a:prstGeom>
            <a:solidFill>
              <a:srgbClr val="FFFFFF"/>
            </a:solidFill>
            <a:ln w="14288">
              <a:solidFill>
                <a:srgbClr val="B8CBD3"/>
              </a:solidFill>
            </a:ln>
          </p:spPr>
        </p:sp>
        <p:sp>
          <p:nvSpPr>
            <p:cNvPr id="15" name="TextBox 15"/>
            <p:cNvSpPr txBox="1"/>
            <p:nvPr/>
          </p:nvSpPr>
          <p:spPr>
            <a:xfrm>
              <a:off x="830199" y="2573179"/>
              <a:ext cx="32284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Tip çıkarımı nerede çalışır?</a:t>
              </a:r>
            </a:p>
          </p:txBody>
        </p:sp>
        <p:sp>
          <p:nvSpPr>
            <p:cNvPr id="16" name="Line 16"/>
            <p:cNvSpPr/>
            <p:nvPr/>
          </p:nvSpPr>
          <p:spPr>
            <a:xfrm>
              <a:off x="3352800" y="2952750"/>
              <a:ext cx="9525" cy="666750"/>
            </a:xfrm>
            <a:custGeom>
              <a:avLst/>
              <a:gdLst/>
              <a:ahLst/>
              <a:cxnLst/>
              <a:rect l="l" t="t" r="r" b="b"/>
              <a:pathLst>
                <a:path w="9525" h="666750">
                  <a:moveTo>
                    <a:pt x="0" y="0"/>
                  </a:moveTo>
                  <a:lnTo>
                    <a:pt x="0" y="666750"/>
                  </a:lnTo>
                </a:path>
              </a:pathLst>
            </a:custGeom>
            <a:noFill/>
            <a:ln w="9525">
              <a:solidFill>
                <a:srgbClr val="B8CBD3"/>
              </a:solidFill>
            </a:ln>
          </p:spPr>
        </p:sp>
        <p:sp>
          <p:nvSpPr>
            <p:cNvPr id="17" name="Line 17"/>
            <p:cNvSpPr/>
            <p:nvPr/>
          </p:nvSpPr>
          <p:spPr>
            <a:xfrm>
              <a:off x="6096000" y="2952750"/>
              <a:ext cx="9525" cy="666750"/>
            </a:xfrm>
            <a:custGeom>
              <a:avLst/>
              <a:gdLst/>
              <a:ahLst/>
              <a:cxnLst/>
              <a:rect l="l" t="t" r="r" b="b"/>
              <a:pathLst>
                <a:path w="9525" h="666750">
                  <a:moveTo>
                    <a:pt x="0" y="0"/>
                  </a:moveTo>
                  <a:lnTo>
                    <a:pt x="0" y="666750"/>
                  </a:lnTo>
                </a:path>
              </a:pathLst>
            </a:custGeom>
            <a:noFill/>
            <a:ln w="9525">
              <a:solidFill>
                <a:srgbClr val="B8CBD3"/>
              </a:solidFill>
            </a:ln>
          </p:spPr>
        </p:sp>
        <p:sp>
          <p:nvSpPr>
            <p:cNvPr id="18" name="Line 18"/>
            <p:cNvSpPr/>
            <p:nvPr/>
          </p:nvSpPr>
          <p:spPr>
            <a:xfrm>
              <a:off x="8839200" y="2952750"/>
              <a:ext cx="9525" cy="666750"/>
            </a:xfrm>
            <a:custGeom>
              <a:avLst/>
              <a:gdLst/>
              <a:ahLst/>
              <a:cxnLst/>
              <a:rect l="l" t="t" r="r" b="b"/>
              <a:pathLst>
                <a:path w="9525" h="666750">
                  <a:moveTo>
                    <a:pt x="0" y="0"/>
                  </a:moveTo>
                  <a:lnTo>
                    <a:pt x="0" y="666750"/>
                  </a:lnTo>
                </a:path>
              </a:pathLst>
            </a:custGeom>
            <a:noFill/>
            <a:ln w="9525">
              <a:solidFill>
                <a:srgbClr val="B8CBD3"/>
              </a:solidFill>
            </a:ln>
          </p:spPr>
        </p:sp>
        <p:sp>
          <p:nvSpPr>
            <p:cNvPr id="19" name="TextBox 19"/>
            <p:cNvSpPr txBox="1"/>
            <p:nvPr/>
          </p:nvSpPr>
          <p:spPr>
            <a:xfrm>
              <a:off x="1382958" y="3182779"/>
              <a:ext cx="1196485" cy="308039"/>
            </a:xfrm>
            <a:prstGeom prst="rect">
              <a:avLst/>
            </a:prstGeom>
            <a:noFill/>
            <a:ln>
              <a:noFill/>
            </a:ln>
          </p:spPr>
          <p:txBody>
            <a:bodyPr wrap="none" lIns="0" tIns="0" rIns="0" bIns="0" anchor="t" anchorCtr="0">
              <a:spAutoFit/>
            </a:bodyPr>
            <a:lstStyle/>
            <a:p>
              <a:pPr algn="ctr"/>
              <a:r>
                <a:rPr lang="tr-TR" sz="1580" dirty="0">
                  <a:solidFill>
                    <a:srgbClr val="172B3A"/>
                  </a:solidFill>
                  <a:latin typeface="+mn-lt"/>
                  <a:ea typeface="+mn-ea"/>
                  <a:cs typeface="+mn-cs"/>
                </a:rPr>
                <a:t>değişkenler</a:t>
              </a:r>
            </a:p>
          </p:txBody>
        </p:sp>
        <p:sp>
          <p:nvSpPr>
            <p:cNvPr id="20" name="TextBox 20"/>
            <p:cNvSpPr txBox="1"/>
            <p:nvPr/>
          </p:nvSpPr>
          <p:spPr>
            <a:xfrm>
              <a:off x="3711393" y="3182779"/>
              <a:ext cx="2026013" cy="308039"/>
            </a:xfrm>
            <a:prstGeom prst="rect">
              <a:avLst/>
            </a:prstGeom>
            <a:noFill/>
            <a:ln>
              <a:noFill/>
            </a:ln>
          </p:spPr>
          <p:txBody>
            <a:bodyPr wrap="none" lIns="0" tIns="0" rIns="0" bIns="0" anchor="t" anchorCtr="0">
              <a:spAutoFit/>
            </a:bodyPr>
            <a:lstStyle/>
            <a:p>
              <a:pPr algn="ctr"/>
              <a:r>
                <a:rPr lang="tr-TR" sz="1580" dirty="0">
                  <a:solidFill>
                    <a:srgbClr val="172B3A"/>
                  </a:solidFill>
                  <a:latin typeface="+mn-lt"/>
                  <a:ea typeface="+mn-ea"/>
                  <a:cs typeface="+mn-cs"/>
                </a:rPr>
                <a:t>fonksiyon dönüşleri</a:t>
              </a:r>
            </a:p>
          </p:txBody>
        </p:sp>
        <p:sp>
          <p:nvSpPr>
            <p:cNvPr id="21" name="TextBox 21"/>
            <p:cNvSpPr txBox="1"/>
            <p:nvPr/>
          </p:nvSpPr>
          <p:spPr>
            <a:xfrm>
              <a:off x="6693880" y="3182779"/>
              <a:ext cx="1547439" cy="308039"/>
            </a:xfrm>
            <a:prstGeom prst="rect">
              <a:avLst/>
            </a:prstGeom>
            <a:noFill/>
            <a:ln>
              <a:noFill/>
            </a:ln>
          </p:spPr>
          <p:txBody>
            <a:bodyPr wrap="none" lIns="0" tIns="0" rIns="0" bIns="0" anchor="t" anchorCtr="0">
              <a:spAutoFit/>
            </a:bodyPr>
            <a:lstStyle/>
            <a:p>
              <a:pPr algn="ctr"/>
              <a:r>
                <a:rPr lang="tr-TR" sz="1580" dirty="0">
                  <a:solidFill>
                    <a:srgbClr val="172B3A"/>
                  </a:solidFill>
                  <a:latin typeface="+mn-lt"/>
                  <a:ea typeface="+mn-ea"/>
                  <a:cs typeface="+mn-cs"/>
                </a:rPr>
                <a:t>dizi elemanları</a:t>
              </a:r>
            </a:p>
          </p:txBody>
        </p:sp>
        <p:sp>
          <p:nvSpPr>
            <p:cNvPr id="22" name="TextBox 22"/>
            <p:cNvSpPr txBox="1"/>
            <p:nvPr/>
          </p:nvSpPr>
          <p:spPr>
            <a:xfrm>
              <a:off x="9367953" y="3182779"/>
              <a:ext cx="1685694" cy="308039"/>
            </a:xfrm>
            <a:prstGeom prst="rect">
              <a:avLst/>
            </a:prstGeom>
            <a:noFill/>
            <a:ln>
              <a:noFill/>
            </a:ln>
          </p:spPr>
          <p:txBody>
            <a:bodyPr wrap="none" lIns="0" tIns="0" rIns="0" bIns="0" anchor="t" anchorCtr="0">
              <a:spAutoFit/>
            </a:bodyPr>
            <a:lstStyle/>
            <a:p>
              <a:pPr algn="ctr"/>
              <a:r>
                <a:rPr lang="tr-TR" sz="1580" dirty="0">
                  <a:solidFill>
                    <a:srgbClr val="172B3A"/>
                  </a:solidFill>
                  <a:latin typeface="+mn-lt"/>
                  <a:ea typeface="+mn-ea"/>
                  <a:cs typeface="+mn-cs"/>
                </a:rPr>
                <a:t>nesne özellikleri</a:t>
              </a:r>
            </a:p>
          </p:txBody>
        </p:sp>
      </p:grpSp>
      <p:grpSp>
        <p:nvGrpSpPr>
          <p:cNvPr id="27" name="inference-analogy"/>
          <p:cNvGrpSpPr/>
          <p:nvPr/>
        </p:nvGrpSpPr>
        <p:grpSpPr>
          <a:xfrm>
            <a:off x="609600" y="4095750"/>
            <a:ext cx="5257800" cy="1524000"/>
            <a:chOff x="609600" y="4095750"/>
            <a:chExt cx="5257800" cy="1524000"/>
          </a:xfrm>
        </p:grpSpPr>
        <p:sp>
          <p:nvSpPr>
            <p:cNvPr id="24" name="Rectangle 24"/>
            <p:cNvSpPr/>
            <p:nvPr/>
          </p:nvSpPr>
          <p:spPr>
            <a:xfrm>
              <a:off x="609600" y="4095750"/>
              <a:ext cx="5257800" cy="1524000"/>
            </a:xfrm>
            <a:prstGeom prst="roundRect">
              <a:avLst>
                <a:gd name="adj" fmla="val 5000"/>
              </a:avLst>
            </a:prstGeom>
            <a:solidFill>
              <a:srgbClr val="EAF4F6"/>
            </a:solidFill>
            <a:ln>
              <a:noFill/>
            </a:ln>
          </p:spPr>
        </p:sp>
        <p:sp>
          <p:nvSpPr>
            <p:cNvPr id="25" name="TextBox 25"/>
            <p:cNvSpPr txBox="1"/>
            <p:nvPr/>
          </p:nvSpPr>
          <p:spPr>
            <a:xfrm>
              <a:off x="830199" y="4287679"/>
              <a:ext cx="216675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Etiketleme makinesi</a:t>
              </a:r>
            </a:p>
          </p:txBody>
        </p:sp>
        <p:sp>
          <p:nvSpPr>
            <p:cNvPr id="26" name="TextBox 26"/>
            <p:cNvSpPr txBox="1"/>
            <p:nvPr/>
          </p:nvSpPr>
          <p:spPr>
            <a:xfrm>
              <a:off x="832104" y="4632960"/>
              <a:ext cx="32278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Paketin içindeki ürün açıkça kitapsa makine</a:t>
              </a:r>
              <a:br/>
              <a:r>
                <a:rPr lang="tr-TR" sz="1200" dirty="0">
                  <a:solidFill>
                    <a:srgbClr val="172B3A"/>
                  </a:solidFill>
                  <a:latin typeface="+mn-lt"/>
                  <a:ea typeface="+mn-ea"/>
                  <a:cs typeface="+mn-cs"/>
                </a:rPr>
                <a:t>etiketi otomatik basar; içerik belirsizse</a:t>
              </a:r>
              <a:br/>
              <a:r>
                <a:rPr lang="tr-TR" sz="1200" dirty="0">
                  <a:solidFill>
                    <a:srgbClr val="172B3A"/>
                  </a:solidFill>
                  <a:latin typeface="+mn-lt"/>
                  <a:ea typeface="+mn-ea"/>
                  <a:cs typeface="+mn-cs"/>
                </a:rPr>
                <a:t>görevlinin etiketi elle eklemesi gerekir.</a:t>
              </a:r>
            </a:p>
          </p:txBody>
        </p:sp>
      </p:grpSp>
      <p:grpSp>
        <p:nvGrpSpPr>
          <p:cNvPr id="31" name="inference-boundary"/>
          <p:cNvGrpSpPr/>
          <p:nvPr/>
        </p:nvGrpSpPr>
        <p:grpSpPr>
          <a:xfrm>
            <a:off x="6324600" y="4095750"/>
            <a:ext cx="5257800" cy="1524000"/>
            <a:chOff x="6324600" y="4095750"/>
            <a:chExt cx="5257800" cy="1524000"/>
          </a:xfrm>
        </p:grpSpPr>
        <p:sp>
          <p:nvSpPr>
            <p:cNvPr id="28" name="Rectangle 28"/>
            <p:cNvSpPr/>
            <p:nvPr/>
          </p:nvSpPr>
          <p:spPr>
            <a:xfrm>
              <a:off x="6324600" y="4095750"/>
              <a:ext cx="5257800" cy="1524000"/>
            </a:xfrm>
            <a:prstGeom prst="roundRect">
              <a:avLst>
                <a:gd name="adj" fmla="val 5000"/>
              </a:avLst>
            </a:prstGeom>
            <a:solidFill>
              <a:srgbClr val="EAF4F6"/>
            </a:solidFill>
            <a:ln>
              <a:noFill/>
            </a:ln>
          </p:spPr>
        </p:sp>
        <p:sp>
          <p:nvSpPr>
            <p:cNvPr id="29" name="TextBox 29"/>
            <p:cNvSpPr txBox="1"/>
            <p:nvPr/>
          </p:nvSpPr>
          <p:spPr>
            <a:xfrm>
              <a:off x="6545199" y="4287679"/>
              <a:ext cx="213354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Sınırlarda açık tip</a:t>
              </a:r>
            </a:p>
          </p:txBody>
        </p:sp>
        <p:sp>
          <p:nvSpPr>
            <p:cNvPr id="30" name="TextBox 30"/>
            <p:cNvSpPr txBox="1"/>
            <p:nvPr/>
          </p:nvSpPr>
          <p:spPr>
            <a:xfrm>
              <a:off x="6547104" y="4632960"/>
              <a:ext cx="33878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Çıkarım servis içindeki yerel hesaplamaları</a:t>
              </a:r>
              <a:br/>
              <a:r>
                <a:rPr lang="tr-TR" sz="1200" dirty="0">
                  <a:solidFill>
                    <a:srgbClr val="172B3A"/>
                  </a:solidFill>
                  <a:latin typeface="+mn-lt"/>
                  <a:ea typeface="+mn-ea"/>
                  <a:cs typeface="+mn-cs"/>
                </a:rPr>
                <a:t>sadeleştirir; API sınırı, parametre ve dönüş</a:t>
              </a:r>
              <a:br/>
              <a:r>
                <a:rPr lang="tr-TR" sz="1200" dirty="0">
                  <a:solidFill>
                    <a:srgbClr val="172B3A"/>
                  </a:solidFill>
                  <a:latin typeface="+mn-lt"/>
                  <a:ea typeface="+mn-ea"/>
                  <a:cs typeface="+mn-cs"/>
                </a:rPr>
                <a:t>değerinde açık tipler okunabilirliği artırır.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6096000" y="4000500"/>
            <a:ext cx="9525" cy="1714500"/>
          </a:xfrm>
          <a:custGeom>
            <a:avLst/>
            <a:gdLst/>
            <a:ahLst/>
            <a:cxnLst/>
            <a:rect l="l" t="t" r="r" b="b"/>
            <a:pathLst>
              <a:path w="9525" h="1714500">
                <a:moveTo>
                  <a:pt x="0" y="0"/>
                </a:moveTo>
                <a:lnTo>
                  <a:pt x="0" y="1714500"/>
                </a:lnTo>
              </a:path>
            </a:pathLst>
          </a:custGeom>
          <a:noFill/>
          <a:ln w="9525">
            <a:solidFill>
              <a:srgbClr val="B8CBD3"/>
            </a:solidFill>
          </a:ln>
        </p:spPr>
      </p:sp>
      <p:grpSp>
        <p:nvGrpSpPr>
          <p:cNvPr id="6" name="page-title"/>
          <p:cNvGrpSpPr/>
          <p:nvPr/>
        </p:nvGrpSpPr>
        <p:grpSpPr>
          <a:xfrm>
            <a:off x="595122" y="282892"/>
            <a:ext cx="7778277" cy="557403"/>
            <a:chOff x="595122" y="282892"/>
            <a:chExt cx="7778277" cy="557403"/>
          </a:xfrm>
        </p:grpSpPr>
        <p:sp>
          <p:nvSpPr>
            <p:cNvPr id="5" name="TextBox 5"/>
            <p:cNvSpPr txBox="1"/>
            <p:nvPr/>
          </p:nvSpPr>
          <p:spPr>
            <a:xfrm>
              <a:off x="595122" y="282892"/>
              <a:ext cx="777827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Çıkarım nerede yeter, nerede yetmez?</a:t>
              </a:r>
            </a:p>
          </p:txBody>
        </p:sp>
      </p:grpSp>
      <p:grpSp>
        <p:nvGrpSpPr>
          <p:cNvPr id="10" name="code-inference"/>
          <p:cNvGrpSpPr/>
          <p:nvPr/>
        </p:nvGrpSpPr>
        <p:grpSpPr>
          <a:xfrm>
            <a:off x="609600" y="1333500"/>
            <a:ext cx="10972800" cy="2286000"/>
            <a:chOff x="609600" y="1333500"/>
            <a:chExt cx="10972800" cy="2286000"/>
          </a:xfrm>
        </p:grpSpPr>
        <p:sp>
          <p:nvSpPr>
            <p:cNvPr id="7" name="Rectangle 7"/>
            <p:cNvSpPr/>
            <p:nvPr/>
          </p:nvSpPr>
          <p:spPr>
            <a:xfrm>
              <a:off x="609600" y="1333500"/>
              <a:ext cx="10972800" cy="2286000"/>
            </a:xfrm>
            <a:prstGeom prst="roundRect">
              <a:avLst>
                <a:gd name="adj" fmla="val 3333"/>
              </a:avLst>
            </a:prstGeom>
            <a:solidFill>
              <a:srgbClr val="EAF4F6"/>
            </a:solidFill>
            <a:ln w="14288">
              <a:solidFill>
                <a:srgbClr val="B8CBD3"/>
              </a:solidFill>
            </a:ln>
          </p:spPr>
        </p:sp>
        <p:sp>
          <p:nvSpPr>
            <p:cNvPr id="8" name="TextBox 8"/>
            <p:cNvSpPr txBox="1"/>
            <p:nvPr/>
          </p:nvSpPr>
          <p:spPr>
            <a:xfrm>
              <a:off x="832104" y="1489710"/>
              <a:ext cx="2009252"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Kod 3.3 — TipCikarimi.ts</a:t>
              </a:r>
            </a:p>
          </p:txBody>
        </p:sp>
        <p:sp>
          <p:nvSpPr>
            <p:cNvPr id="9" name="TextBox 9"/>
            <p:cNvSpPr txBox="1"/>
            <p:nvPr/>
          </p:nvSpPr>
          <p:spPr>
            <a:xfrm>
              <a:off x="831342" y="1816418"/>
              <a:ext cx="6143054" cy="1749933"/>
            </a:xfrm>
            <a:prstGeom prst="rect">
              <a:avLst/>
            </a:prstGeom>
            <a:noFill/>
            <a:ln>
              <a:noFill/>
            </a:ln>
          </p:spPr>
          <p:txBody>
            <a:bodyPr wrap="none" lIns="0" tIns="0" rIns="0" bIns="0" anchor="t" anchorCtr="0">
              <a:spAutoFit/>
            </a:bodyPr>
            <a:lstStyle/>
            <a:p>
              <a:pPr algn="l">
                <a:lnSpc>
                  <a:spcPts val="1950"/>
                </a:lnSpc>
              </a:pPr>
              <a:r>
                <a:rPr lang="tr-TR" sz="1350" dirty="0">
                  <a:solidFill>
                    <a:srgbClr val="2E86AB"/>
                  </a:solidFill>
                  <a:latin typeface="Consolas"/>
                  <a:ea typeface="Consolas"/>
                  <a:cs typeface="Consolas"/>
                </a:rPr>
                <a:t>function</a:t>
              </a:r>
              <a:r>
                <a:rPr lang="tr-TR" sz="1350" dirty="0">
                  <a:solidFill>
                    <a:srgbClr val="172B3A"/>
                  </a:solidFill>
                  <a:latin typeface="Consolas"/>
                  <a:ea typeface="Consolas"/>
                  <a:cs typeface="Consolas"/>
                </a:rPr>
                <a:t xml:space="preserve"> kitapFiyatiniHesapla(birimFiyat: number, adet: number) {</a:t>
              </a:r>
              <a:b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araToplam = birimFiyat * adet;</a:t>
              </a:r>
              <a:b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kargoUcretsizMi = araToplam &gt;= 500;</a:t>
              </a:r>
              <a:br/>
              <a:r>
                <a:rPr lang="tr-TR" sz="1350" dirty="0">
                  <a:solidFill>
                    <a:srgbClr val="2E86AB"/>
                  </a:solidFill>
                  <a:latin typeface="Consolas"/>
                  <a:ea typeface="Consolas"/>
                  <a:cs typeface="Consolas"/>
                </a:rPr>
                <a:t>return</a:t>
              </a:r>
              <a:r>
                <a:rPr lang="tr-TR" sz="1350" dirty="0">
                  <a:solidFill>
                    <a:srgbClr val="172B3A"/>
                  </a:solidFill>
                  <a:latin typeface="Consolas"/>
                  <a:ea typeface="Consolas"/>
                  <a:cs typeface="Consolas"/>
                </a:rPr>
                <a:t xml:space="preserve"> { araToplam, kargoUcretsizMi };</a:t>
              </a:r>
              <a:br/>
              <a:r>
                <a:rPr lang="tr-TR" sz="1350" dirty="0">
                  <a:solidFill>
                    <a:srgbClr val="172B3A"/>
                  </a:solidFill>
                  <a:latin typeface="Consolas"/>
                  <a:ea typeface="Consolas"/>
                  <a:cs typeface="Consolas"/>
                </a:rPr>
                <a:t>}</a:t>
              </a:r>
              <a:b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siparisOzeti = kitapFiyatiniHesapla(125, 4);</a:t>
              </a:r>
              <a:br/>
              <a:r>
                <a:rPr lang="tr-TR" sz="1350" dirty="0">
                  <a:solidFill>
                    <a:srgbClr val="172B3A"/>
                  </a:solidFill>
                  <a:latin typeface="Consolas"/>
                  <a:ea typeface="Consolas"/>
                  <a:cs typeface="Consolas"/>
                </a:rPr>
                <a:t xml:space="preserve">console.log(siparisOzeti.araToplam); </a:t>
              </a:r>
              <a:r>
                <a:rPr lang="tr-TR" sz="1350" dirty="0">
                  <a:solidFill>
                    <a:srgbClr val="52616B"/>
                  </a:solidFill>
                  <a:latin typeface="Consolas"/>
                  <a:ea typeface="Consolas"/>
                  <a:cs typeface="Consolas"/>
                </a:rPr>
                <a:t>// Çıktı: 500</a:t>
              </a:r>
            </a:p>
          </p:txBody>
        </p:sp>
      </p:grpSp>
      <p:grpSp>
        <p:nvGrpSpPr>
          <p:cNvPr id="13" name="inference-enough"/>
          <p:cNvGrpSpPr/>
          <p:nvPr/>
        </p:nvGrpSpPr>
        <p:grpSpPr>
          <a:xfrm>
            <a:off x="599694" y="4056698"/>
            <a:ext cx="3118104" cy="1605819"/>
            <a:chOff x="599694" y="4056698"/>
            <a:chExt cx="3118104" cy="1605819"/>
          </a:xfrm>
        </p:grpSpPr>
        <p:sp>
          <p:nvSpPr>
            <p:cNvPr id="11" name="TextBox 11"/>
            <p:cNvSpPr txBox="1"/>
            <p:nvPr/>
          </p:nvSpPr>
          <p:spPr>
            <a:xfrm>
              <a:off x="599694" y="4056698"/>
              <a:ext cx="2440715"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Çıkarıma bırakın</a:t>
              </a:r>
            </a:p>
          </p:txBody>
        </p:sp>
        <p:sp>
          <p:nvSpPr>
            <p:cNvPr id="12" name="TextBox 12"/>
            <p:cNvSpPr txBox="1"/>
            <p:nvPr/>
          </p:nvSpPr>
          <p:spPr>
            <a:xfrm>
              <a:off x="601599" y="4497229"/>
              <a:ext cx="3116199" cy="116528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Yerel hesaplama sonuçları</a:t>
              </a:r>
              <a:br/>
              <a:r>
                <a:rPr lang="tr-TR" sz="1580" dirty="0">
                  <a:solidFill>
                    <a:srgbClr val="172B3A"/>
                  </a:solidFill>
                  <a:latin typeface="+mn-lt"/>
                  <a:ea typeface="+mn-ea"/>
                  <a:cs typeface="+mn-cs"/>
                </a:rPr>
                <a:t>map ile oluşan diziler</a:t>
              </a:r>
              <a:br/>
              <a:r>
                <a:rPr lang="tr-TR" sz="1580" dirty="0">
                  <a:solidFill>
                    <a:srgbClr val="172B3A"/>
                  </a:solidFill>
                  <a:latin typeface="+mn-lt"/>
                  <a:ea typeface="+mn-ea"/>
                  <a:cs typeface="+mn-cs"/>
                </a:rPr>
                <a:t>Nesne sabitleri</a:t>
              </a:r>
              <a:br/>
              <a:r>
                <a:rPr lang="tr-TR" sz="1580" dirty="0">
                  <a:solidFill>
                    <a:srgbClr val="172B3A"/>
                  </a:solidFill>
                  <a:latin typeface="+mn-lt"/>
                  <a:ea typeface="+mn-ea"/>
                  <a:cs typeface="+mn-cs"/>
                </a:rPr>
                <a:t>Hemen değer atanan değişkenler</a:t>
              </a:r>
            </a:p>
          </p:txBody>
        </p:sp>
      </p:grpSp>
      <p:grpSp>
        <p:nvGrpSpPr>
          <p:cNvPr id="16" name="explicit-needed"/>
          <p:cNvGrpSpPr/>
          <p:nvPr/>
        </p:nvGrpSpPr>
        <p:grpSpPr>
          <a:xfrm>
            <a:off x="6314694" y="4056698"/>
            <a:ext cx="2997708" cy="1605819"/>
            <a:chOff x="6314694" y="4056698"/>
            <a:chExt cx="2997708" cy="1605819"/>
          </a:xfrm>
        </p:grpSpPr>
        <p:sp>
          <p:nvSpPr>
            <p:cNvPr id="14" name="TextBox 14"/>
            <p:cNvSpPr txBox="1"/>
            <p:nvPr/>
          </p:nvSpPr>
          <p:spPr>
            <a:xfrm>
              <a:off x="6314694" y="4056698"/>
              <a:ext cx="1944508"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Açık tip yazın</a:t>
              </a:r>
            </a:p>
          </p:txBody>
        </p:sp>
        <p:sp>
          <p:nvSpPr>
            <p:cNvPr id="15" name="TextBox 15"/>
            <p:cNvSpPr txBox="1"/>
            <p:nvPr/>
          </p:nvSpPr>
          <p:spPr>
            <a:xfrm>
              <a:off x="6316599" y="4497229"/>
              <a:ext cx="2995803" cy="116528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Fonksiyon parametreleri</a:t>
              </a:r>
              <a:br/>
              <a:r>
                <a:rPr lang="tr-TR" sz="1580" dirty="0">
                  <a:solidFill>
                    <a:srgbClr val="172B3A"/>
                  </a:solidFill>
                  <a:latin typeface="+mn-lt"/>
                  <a:ea typeface="+mn-ea"/>
                  <a:cs typeface="+mn-cs"/>
                </a:rPr>
                <a:t>Public servis dönüş türleri</a:t>
              </a:r>
              <a:br/>
              <a:r>
                <a:rPr lang="tr-TR" sz="1580" dirty="0">
                  <a:solidFill>
                    <a:srgbClr val="172B3A"/>
                  </a:solidFill>
                  <a:latin typeface="+mn-lt"/>
                  <a:ea typeface="+mn-ea"/>
                  <a:cs typeface="+mn-cs"/>
                </a:rPr>
                <a:t>Boş diziler ve boş nesneler</a:t>
              </a:r>
              <a:br/>
              <a:r>
                <a:rPr lang="tr-TR" sz="1580" dirty="0">
                  <a:solidFill>
                    <a:srgbClr val="172B3A"/>
                  </a:solidFill>
                  <a:latin typeface="+mn-lt"/>
                  <a:ea typeface="+mn-ea"/>
                  <a:cs typeface="+mn-cs"/>
                </a:rPr>
                <a:t>Dış API verisi ve null başlangıç</a:t>
              </a:r>
            </a:p>
          </p:txBody>
        </p:sp>
      </p:grpSp>
      <p:sp>
        <p:nvSpPr>
          <p:cNvPr id="17" name="TextBox 1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6291774" cy="668845"/>
            <a:chOff x="609600" y="171450"/>
            <a:chExt cx="6291774"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560140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Interface: nesne sözleşmesi</a:t>
              </a:r>
            </a:p>
          </p:txBody>
        </p:sp>
      </p:grpSp>
      <p:grpSp>
        <p:nvGrpSpPr>
          <p:cNvPr id="16" name="code-interface"/>
          <p:cNvGrpSpPr/>
          <p:nvPr/>
        </p:nvGrpSpPr>
        <p:grpSpPr>
          <a:xfrm>
            <a:off x="609600" y="1428750"/>
            <a:ext cx="6286500" cy="2857500"/>
            <a:chOff x="609600" y="1428750"/>
            <a:chExt cx="6286500" cy="2857500"/>
          </a:xfrm>
        </p:grpSpPr>
        <p:sp>
          <p:nvSpPr>
            <p:cNvPr id="13" name="Rectangle 13"/>
            <p:cNvSpPr/>
            <p:nvPr/>
          </p:nvSpPr>
          <p:spPr>
            <a:xfrm>
              <a:off x="609600" y="1428750"/>
              <a:ext cx="6286500" cy="2857500"/>
            </a:xfrm>
            <a:prstGeom prst="roundRect">
              <a:avLst>
                <a:gd name="adj" fmla="val 2667"/>
              </a:avLst>
            </a:prstGeom>
            <a:solidFill>
              <a:srgbClr val="EAF4F6"/>
            </a:solidFill>
            <a:ln w="14288">
              <a:solidFill>
                <a:srgbClr val="B8CBD3"/>
              </a:solidFill>
            </a:ln>
          </p:spPr>
        </p:sp>
        <p:sp>
          <p:nvSpPr>
            <p:cNvPr id="14" name="TextBox 14"/>
            <p:cNvSpPr txBox="1"/>
            <p:nvPr/>
          </p:nvSpPr>
          <p:spPr>
            <a:xfrm>
              <a:off x="832104" y="1584960"/>
              <a:ext cx="2424157"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Kod 3.5 — KitapSozlesmesi.ts</a:t>
              </a:r>
            </a:p>
          </p:txBody>
        </p:sp>
        <p:sp>
          <p:nvSpPr>
            <p:cNvPr id="15" name="TextBox 15"/>
            <p:cNvSpPr txBox="1"/>
            <p:nvPr/>
          </p:nvSpPr>
          <p:spPr>
            <a:xfrm>
              <a:off x="831342" y="1911668"/>
              <a:ext cx="3974211" cy="2245233"/>
            </a:xfrm>
            <a:prstGeom prst="rect">
              <a:avLst/>
            </a:prstGeom>
            <a:noFill/>
            <a:ln>
              <a:noFill/>
            </a:ln>
          </p:spPr>
          <p:txBody>
            <a:bodyPr wrap="none" lIns="0" tIns="0" rIns="0" bIns="0" anchor="t" anchorCtr="0">
              <a:spAutoFit/>
            </a:bodyPr>
            <a:lstStyle/>
            <a:p>
              <a:pPr algn="l">
                <a:lnSpc>
                  <a:spcPts val="1950"/>
                </a:lnSpc>
              </a:pPr>
              <a:r>
                <a:rPr lang="tr-TR" sz="1350" dirty="0">
                  <a:solidFill>
                    <a:srgbClr val="2E86AB"/>
                  </a:solidFill>
                  <a:latin typeface="Consolas"/>
                  <a:ea typeface="Consolas"/>
                  <a:cs typeface="Consolas"/>
                </a:rPr>
                <a:t>interface</a:t>
              </a:r>
              <a:r>
                <a:rPr lang="tr-TR" sz="1350" dirty="0">
                  <a:solidFill>
                    <a:srgbClr val="172B3A"/>
                  </a:solidFill>
                  <a:latin typeface="Consolas"/>
                  <a:ea typeface="Consolas"/>
                  <a:cs typeface="Consolas"/>
                </a:rPr>
                <a:t xml:space="preserve"> Kitap {</a:t>
              </a:r>
              <a:br/>
              <a:r>
                <a:rPr lang="tr-TR" sz="1350" dirty="0">
                  <a:solidFill>
                    <a:srgbClr val="172B3A"/>
                  </a:solidFill>
                  <a:latin typeface="Consolas"/>
                  <a:ea typeface="Consolas"/>
                  <a:cs typeface="Consolas"/>
                </a:rPr>
                <a:t>kimlik: number;</a:t>
              </a:r>
              <a:br/>
              <a:r>
                <a:rPr lang="tr-TR" sz="1350" dirty="0">
                  <a:solidFill>
                    <a:srgbClr val="172B3A"/>
                  </a:solidFill>
                  <a:latin typeface="Consolas"/>
                  <a:ea typeface="Consolas"/>
                  <a:cs typeface="Consolas"/>
                </a:rPr>
                <a:t>ad: string;</a:t>
              </a:r>
              <a:br/>
              <a:r>
                <a:rPr lang="tr-TR" sz="1350" dirty="0">
                  <a:solidFill>
                    <a:srgbClr val="172B3A"/>
                  </a:solidFill>
                  <a:latin typeface="Consolas"/>
                  <a:ea typeface="Consolas"/>
                  <a:cs typeface="Consolas"/>
                </a:rPr>
                <a:t>yazar: string;</a:t>
              </a:r>
              <a:br/>
              <a:r>
                <a:rPr lang="tr-TR" sz="1350" dirty="0">
                  <a:solidFill>
                    <a:srgbClr val="172B3A"/>
                  </a:solidFill>
                  <a:latin typeface="Consolas"/>
                  <a:ea typeface="Consolas"/>
                  <a:cs typeface="Consolas"/>
                </a:rPr>
                <a:t>stokAdedi: number;</a:t>
              </a:r>
              <a:br/>
              <a:r>
                <a:rPr lang="tr-TR" sz="1350" dirty="0">
                  <a:solidFill>
                    <a:srgbClr val="172B3A"/>
                  </a:solidFill>
                  <a:latin typeface="Consolas"/>
                  <a:ea typeface="Consolas"/>
                  <a:cs typeface="Consolas"/>
                </a:rPr>
                <a:t>}</a:t>
              </a:r>
              <a:br/>
              <a:r>
                <a:rPr lang="tr-TR" sz="1350" dirty="0">
                  <a:solidFill>
                    <a:srgbClr val="2E86AB"/>
                  </a:solidFill>
                  <a:latin typeface="Consolas"/>
                  <a:ea typeface="Consolas"/>
                  <a:cs typeface="Consolas"/>
                </a:rPr>
                <a:t>function</a:t>
              </a:r>
              <a:r>
                <a:rPr lang="tr-TR" sz="1350" dirty="0">
                  <a:solidFill>
                    <a:srgbClr val="172B3A"/>
                  </a:solidFill>
                  <a:latin typeface="Consolas"/>
                  <a:ea typeface="Consolas"/>
                  <a:cs typeface="Consolas"/>
                </a:rPr>
                <a:t xml:space="preserve"> stoktaMi(kitap: Kitap): boolean {</a:t>
              </a:r>
              <a:br/>
              <a:r>
                <a:rPr lang="tr-TR" sz="1350" dirty="0">
                  <a:solidFill>
                    <a:srgbClr val="2E86AB"/>
                  </a:solidFill>
                  <a:latin typeface="Consolas"/>
                  <a:ea typeface="Consolas"/>
                  <a:cs typeface="Consolas"/>
                </a:rPr>
                <a:t>return</a:t>
              </a:r>
              <a:r>
                <a:rPr lang="tr-TR" sz="1350" dirty="0">
                  <a:solidFill>
                    <a:srgbClr val="172B3A"/>
                  </a:solidFill>
                  <a:latin typeface="Consolas"/>
                  <a:ea typeface="Consolas"/>
                  <a:cs typeface="Consolas"/>
                </a:rPr>
                <a:t xml:space="preserve"> kitap.stokAdedi &gt; 0;</a:t>
              </a:r>
              <a:br/>
              <a:r>
                <a:rPr lang="tr-TR" sz="1350" dirty="0">
                  <a:solidFill>
                    <a:srgbClr val="172B3A"/>
                  </a:solidFill>
                  <a:latin typeface="Consolas"/>
                  <a:ea typeface="Consolas"/>
                  <a:cs typeface="Consolas"/>
                </a:rPr>
                <a:t>}</a:t>
              </a:r>
            </a:p>
          </p:txBody>
        </p:sp>
      </p:grpSp>
      <p:grpSp>
        <p:nvGrpSpPr>
          <p:cNvPr id="27" name="contract-fields"/>
          <p:cNvGrpSpPr/>
          <p:nvPr/>
        </p:nvGrpSpPr>
        <p:grpSpPr>
          <a:xfrm>
            <a:off x="7190994" y="1561148"/>
            <a:ext cx="3330702" cy="2563558"/>
            <a:chOff x="7190994" y="1561148"/>
            <a:chExt cx="3330702" cy="2563558"/>
          </a:xfrm>
        </p:grpSpPr>
        <p:sp>
          <p:nvSpPr>
            <p:cNvPr id="17" name="TextBox 17"/>
            <p:cNvSpPr txBox="1"/>
            <p:nvPr/>
          </p:nvSpPr>
          <p:spPr>
            <a:xfrm>
              <a:off x="7190994" y="1561148"/>
              <a:ext cx="2026241"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Zorunlu alanlar</a:t>
              </a:r>
            </a:p>
          </p:txBody>
        </p:sp>
        <p:sp>
          <p:nvSpPr>
            <p:cNvPr id="18" name="Rectangle 18"/>
            <p:cNvSpPr/>
            <p:nvPr/>
          </p:nvSpPr>
          <p:spPr>
            <a:xfrm>
              <a:off x="7200900" y="2171700"/>
              <a:ext cx="76200" cy="76200"/>
            </a:xfrm>
            <a:prstGeom prst="rect">
              <a:avLst/>
            </a:prstGeom>
            <a:solidFill>
              <a:srgbClr val="00A6A6"/>
            </a:solidFill>
            <a:ln>
              <a:noFill/>
            </a:ln>
          </p:spPr>
        </p:sp>
        <p:sp>
          <p:nvSpPr>
            <p:cNvPr id="19" name="TextBox 19"/>
            <p:cNvSpPr txBox="1"/>
            <p:nvPr/>
          </p:nvSpPr>
          <p:spPr>
            <a:xfrm>
              <a:off x="7421499" y="2077879"/>
              <a:ext cx="131347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kimlik — sayı</a:t>
              </a:r>
            </a:p>
          </p:txBody>
        </p:sp>
        <p:sp>
          <p:nvSpPr>
            <p:cNvPr id="20" name="Rectangle 20"/>
            <p:cNvSpPr/>
            <p:nvPr/>
          </p:nvSpPr>
          <p:spPr>
            <a:xfrm>
              <a:off x="7200900" y="2552700"/>
              <a:ext cx="76200" cy="76200"/>
            </a:xfrm>
            <a:prstGeom prst="rect">
              <a:avLst/>
            </a:prstGeom>
            <a:solidFill>
              <a:srgbClr val="00A6A6"/>
            </a:solidFill>
            <a:ln>
              <a:noFill/>
            </a:ln>
          </p:spPr>
        </p:sp>
        <p:sp>
          <p:nvSpPr>
            <p:cNvPr id="21" name="TextBox 21"/>
            <p:cNvSpPr txBox="1"/>
            <p:nvPr/>
          </p:nvSpPr>
          <p:spPr>
            <a:xfrm>
              <a:off x="7421499" y="2458879"/>
              <a:ext cx="106886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ad — metin</a:t>
              </a:r>
            </a:p>
          </p:txBody>
        </p:sp>
        <p:sp>
          <p:nvSpPr>
            <p:cNvPr id="22" name="Rectangle 22"/>
            <p:cNvSpPr/>
            <p:nvPr/>
          </p:nvSpPr>
          <p:spPr>
            <a:xfrm>
              <a:off x="7200900" y="2933700"/>
              <a:ext cx="76200" cy="76200"/>
            </a:xfrm>
            <a:prstGeom prst="rect">
              <a:avLst/>
            </a:prstGeom>
            <a:solidFill>
              <a:srgbClr val="00A6A6"/>
            </a:solidFill>
            <a:ln>
              <a:noFill/>
            </a:ln>
          </p:spPr>
        </p:sp>
        <p:sp>
          <p:nvSpPr>
            <p:cNvPr id="23" name="TextBox 23"/>
            <p:cNvSpPr txBox="1"/>
            <p:nvPr/>
          </p:nvSpPr>
          <p:spPr>
            <a:xfrm>
              <a:off x="7421499" y="2839879"/>
              <a:ext cx="141981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yazar — metin</a:t>
              </a:r>
            </a:p>
          </p:txBody>
        </p:sp>
        <p:sp>
          <p:nvSpPr>
            <p:cNvPr id="24" name="Rectangle 24"/>
            <p:cNvSpPr/>
            <p:nvPr/>
          </p:nvSpPr>
          <p:spPr>
            <a:xfrm>
              <a:off x="7200900" y="3314700"/>
              <a:ext cx="76200" cy="76200"/>
            </a:xfrm>
            <a:prstGeom prst="rect">
              <a:avLst/>
            </a:prstGeom>
            <a:solidFill>
              <a:srgbClr val="00A6A6"/>
            </a:solidFill>
            <a:ln>
              <a:noFill/>
            </a:ln>
          </p:spPr>
        </p:sp>
        <p:sp>
          <p:nvSpPr>
            <p:cNvPr id="25" name="TextBox 25"/>
            <p:cNvSpPr txBox="1"/>
            <p:nvPr/>
          </p:nvSpPr>
          <p:spPr>
            <a:xfrm>
              <a:off x="7421499" y="3220879"/>
              <a:ext cx="173568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stokAdedi — sayı</a:t>
              </a:r>
            </a:p>
          </p:txBody>
        </p:sp>
        <p:sp>
          <p:nvSpPr>
            <p:cNvPr id="26" name="TextBox 26"/>
            <p:cNvSpPr txBox="1"/>
            <p:nvPr/>
          </p:nvSpPr>
          <p:spPr>
            <a:xfrm>
              <a:off x="7194804" y="3680460"/>
              <a:ext cx="33268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yazar silinirse ya da stokAdedi "6" yazılırsa</a:t>
              </a:r>
              <a:br/>
              <a:r>
                <a:rPr lang="tr-TR" sz="1200" dirty="0">
                  <a:solidFill>
                    <a:srgbClr val="52616B"/>
                  </a:solidFill>
                  <a:latin typeface="+mn-lt"/>
                  <a:ea typeface="+mn-ea"/>
                  <a:cs typeface="+mn-cs"/>
                </a:rPr>
                <a:t>TypeScript sözleşme ihlali bildirir.</a:t>
              </a:r>
            </a:p>
          </p:txBody>
        </p:sp>
      </p:grpSp>
      <p:grpSp>
        <p:nvGrpSpPr>
          <p:cNvPr id="31" name="form-analogy"/>
          <p:cNvGrpSpPr/>
          <p:nvPr/>
        </p:nvGrpSpPr>
        <p:grpSpPr>
          <a:xfrm>
            <a:off x="609600" y="4667250"/>
            <a:ext cx="10972800" cy="1238250"/>
            <a:chOff x="609600" y="4667250"/>
            <a:chExt cx="10972800" cy="1238250"/>
          </a:xfrm>
        </p:grpSpPr>
        <p:sp>
          <p:nvSpPr>
            <p:cNvPr id="28" name="Rectangle 28"/>
            <p:cNvSpPr/>
            <p:nvPr/>
          </p:nvSpPr>
          <p:spPr>
            <a:xfrm>
              <a:off x="609600" y="4667250"/>
              <a:ext cx="10972800" cy="1238250"/>
            </a:xfrm>
            <a:prstGeom prst="roundRect">
              <a:avLst>
                <a:gd name="adj" fmla="val 6154"/>
              </a:avLst>
            </a:prstGeom>
            <a:solidFill>
              <a:srgbClr val="EAF4F6"/>
            </a:solidFill>
            <a:ln>
              <a:noFill/>
            </a:ln>
          </p:spPr>
        </p:sp>
        <p:sp>
          <p:nvSpPr>
            <p:cNvPr id="29" name="TextBox 29"/>
            <p:cNvSpPr txBox="1"/>
            <p:nvPr/>
          </p:nvSpPr>
          <p:spPr>
            <a:xfrm>
              <a:off x="905256" y="4834890"/>
              <a:ext cx="281261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Standart teslim formu</a:t>
              </a:r>
            </a:p>
          </p:txBody>
        </p:sp>
        <p:sp>
          <p:nvSpPr>
            <p:cNvPr id="30" name="TextBox 30"/>
            <p:cNvSpPr txBox="1"/>
            <p:nvPr/>
          </p:nvSpPr>
          <p:spPr>
            <a:xfrm>
              <a:off x="906399" y="5163979"/>
              <a:ext cx="9567418" cy="59378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Bir kargo formunda alıcı adı, adres ve telefon bulunmalıdır. Biri eksikse paket işleme alınamaz;</a:t>
              </a:r>
              <a:br/>
              <a:r>
                <a:rPr lang="tr-TR" sz="1580" dirty="0">
                  <a:solidFill>
                    <a:srgbClr val="172B3A"/>
                  </a:solidFill>
                  <a:latin typeface="+mn-lt"/>
                  <a:ea typeface="+mn-ea"/>
                  <a:cs typeface="+mn-cs"/>
                </a:rPr>
                <a:t>interface de eksik veya yanlış veri taşıyan nesneyi derleme aşamasında engeller.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051351" cy="557403"/>
            <a:chOff x="595122" y="282892"/>
            <a:chExt cx="7051351" cy="557403"/>
          </a:xfrm>
        </p:grpSpPr>
        <p:sp>
          <p:nvSpPr>
            <p:cNvPr id="4" name="TextBox 4"/>
            <p:cNvSpPr txBox="1"/>
            <p:nvPr/>
          </p:nvSpPr>
          <p:spPr>
            <a:xfrm>
              <a:off x="595122" y="282892"/>
              <a:ext cx="70513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Interface genişletme ve yapı seçimi</a:t>
              </a:r>
            </a:p>
          </p:txBody>
        </p:sp>
      </p:grpSp>
      <p:grpSp>
        <p:nvGrpSpPr>
          <p:cNvPr id="9" name="code-extends"/>
          <p:cNvGrpSpPr/>
          <p:nvPr/>
        </p:nvGrpSpPr>
        <p:grpSpPr>
          <a:xfrm>
            <a:off x="609600" y="1333500"/>
            <a:ext cx="10972800" cy="2000250"/>
            <a:chOff x="609600" y="1333500"/>
            <a:chExt cx="10972800" cy="2000250"/>
          </a:xfrm>
        </p:grpSpPr>
        <p:sp>
          <p:nvSpPr>
            <p:cNvPr id="6" name="Rectangle 6"/>
            <p:cNvSpPr/>
            <p:nvPr/>
          </p:nvSpPr>
          <p:spPr>
            <a:xfrm>
              <a:off x="609600" y="1333500"/>
              <a:ext cx="10972800" cy="2000250"/>
            </a:xfrm>
            <a:prstGeom prst="roundRect">
              <a:avLst>
                <a:gd name="adj" fmla="val 3810"/>
              </a:avLst>
            </a:prstGeom>
            <a:solidFill>
              <a:srgbClr val="EAF4F6"/>
            </a:solidFill>
            <a:ln w="14288">
              <a:solidFill>
                <a:srgbClr val="B8CBD3"/>
              </a:solidFill>
            </a:ln>
          </p:spPr>
        </p:sp>
        <p:sp>
          <p:nvSpPr>
            <p:cNvPr id="7" name="TextBox 7"/>
            <p:cNvSpPr txBox="1"/>
            <p:nvPr/>
          </p:nvSpPr>
          <p:spPr>
            <a:xfrm>
              <a:off x="832104" y="1489710"/>
              <a:ext cx="2447951"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Kod 3.6 — YoneticiKullanici.ts</a:t>
              </a:r>
            </a:p>
          </p:txBody>
        </p:sp>
        <p:sp>
          <p:nvSpPr>
            <p:cNvPr id="8" name="TextBox 8"/>
            <p:cNvSpPr txBox="1"/>
            <p:nvPr/>
          </p:nvSpPr>
          <p:spPr>
            <a:xfrm>
              <a:off x="831342" y="1816418"/>
              <a:ext cx="6331649" cy="1502283"/>
            </a:xfrm>
            <a:prstGeom prst="rect">
              <a:avLst/>
            </a:prstGeom>
            <a:noFill/>
            <a:ln>
              <a:noFill/>
            </a:ln>
          </p:spPr>
          <p:txBody>
            <a:bodyPr wrap="none" lIns="0" tIns="0" rIns="0" bIns="0" anchor="t" anchorCtr="0">
              <a:spAutoFit/>
            </a:bodyPr>
            <a:lstStyle/>
            <a:p>
              <a:pPr algn="l">
                <a:lnSpc>
                  <a:spcPts val="1950"/>
                </a:lnSpc>
              </a:pPr>
              <a:r>
                <a:rPr lang="tr-TR" sz="1350" dirty="0">
                  <a:solidFill>
                    <a:srgbClr val="2E86AB"/>
                  </a:solidFill>
                  <a:latin typeface="Consolas"/>
                  <a:ea typeface="Consolas"/>
                  <a:cs typeface="Consolas"/>
                </a:rPr>
                <a:t>interface</a:t>
              </a:r>
              <a:r>
                <a:rPr lang="tr-TR" sz="1350" dirty="0">
                  <a:solidFill>
                    <a:srgbClr val="172B3A"/>
                  </a:solidFill>
                  <a:latin typeface="Consolas"/>
                  <a:ea typeface="Consolas"/>
                  <a:cs typeface="Consolas"/>
                </a:rPr>
                <a:t xml:space="preserve"> Kullanici { kimlik: number; ad: string; eposta: string; }</a:t>
              </a:r>
              <a:br/>
              <a:r>
                <a:rPr lang="tr-TR" sz="1350" dirty="0">
                  <a:solidFill>
                    <a:srgbClr val="2E86AB"/>
                  </a:solidFill>
                  <a:latin typeface="Consolas"/>
                  <a:ea typeface="Consolas"/>
                  <a:cs typeface="Consolas"/>
                </a:rPr>
                <a:t>interface</a:t>
              </a:r>
              <a:r>
                <a:rPr lang="tr-TR" sz="1350" dirty="0">
                  <a:solidFill>
                    <a:srgbClr val="172B3A"/>
                  </a:solidFill>
                  <a:latin typeface="Consolas"/>
                  <a:ea typeface="Consolas"/>
                  <a:cs typeface="Consolas"/>
                </a:rPr>
                <a:t xml:space="preserve"> YoneticiKullanici </a:t>
              </a:r>
              <a:r>
                <a:rPr lang="tr-TR" sz="1350" dirty="0">
                  <a:solidFill>
                    <a:srgbClr val="2E86AB"/>
                  </a:solidFill>
                  <a:latin typeface="Consolas"/>
                  <a:ea typeface="Consolas"/>
                  <a:cs typeface="Consolas"/>
                </a:rPr>
                <a:t>extends</a:t>
              </a:r>
              <a:r>
                <a:rPr lang="tr-TR" sz="1350" dirty="0">
                  <a:solidFill>
                    <a:srgbClr val="172B3A"/>
                  </a:solidFill>
                  <a:latin typeface="Consolas"/>
                  <a:ea typeface="Consolas"/>
                  <a:cs typeface="Consolas"/>
                </a:rPr>
                <a:t xml:space="preserve"> Kullanici {</a:t>
              </a:r>
              <a:br/>
              <a:r>
                <a:rPr lang="tr-TR" sz="1350" dirty="0">
                  <a:solidFill>
                    <a:srgbClr val="172B3A"/>
                  </a:solidFill>
                  <a:latin typeface="Consolas"/>
                  <a:ea typeface="Consolas"/>
                  <a:cs typeface="Consolas"/>
                </a:rPr>
                <a:t>panelErisimiVarMi: boolean;</a:t>
              </a:r>
              <a:br/>
              <a:r>
                <a:rPr lang="tr-TR" sz="1350" dirty="0">
                  <a:solidFill>
                    <a:srgbClr val="172B3A"/>
                  </a:solidFill>
                  <a:latin typeface="Consolas"/>
                  <a:ea typeface="Consolas"/>
                  <a:cs typeface="Consolas"/>
                </a:rPr>
                <a:t>}</a:t>
              </a:r>
              <a:b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yonetici: YoneticiKullanici = { kimlik: 7, ad: </a:t>
              </a:r>
              <a:r>
                <a:rPr lang="tr-TR" sz="1350" dirty="0">
                  <a:solidFill>
                    <a:srgbClr val="2E7D32"/>
                  </a:solidFill>
                  <a:latin typeface="Consolas"/>
                  <a:ea typeface="Consolas"/>
                  <a:cs typeface="Consolas"/>
                </a:rPr>
                <a:t>"Meliha Kaya"</a:t>
              </a:r>
              <a:r>
                <a:rPr lang="tr-TR" sz="1350" dirty="0">
                  <a:solidFill>
                    <a:srgbClr val="172B3A"/>
                  </a:solidFill>
                  <a:latin typeface="Consolas"/>
                  <a:ea typeface="Consolas"/>
                  <a:cs typeface="Consolas"/>
                </a:rPr>
                <a:t>,</a:t>
              </a:r>
              <a:br/>
              <a:r>
                <a:rPr lang="tr-TR" sz="1350" dirty="0">
                  <a:solidFill>
                    <a:srgbClr val="172B3A"/>
                  </a:solidFill>
                  <a:latin typeface="Consolas"/>
                  <a:ea typeface="Consolas"/>
                  <a:cs typeface="Consolas"/>
                </a:rPr>
                <a:t xml:space="preserve">eposta: </a:t>
              </a:r>
              <a:r>
                <a:rPr lang="tr-TR" sz="1350" dirty="0">
                  <a:solidFill>
                    <a:srgbClr val="2E7D32"/>
                  </a:solidFill>
                  <a:latin typeface="Consolas"/>
                  <a:ea typeface="Consolas"/>
                  <a:cs typeface="Consolas"/>
                </a:rPr>
                <a:t>"selin@example.com"</a:t>
              </a:r>
              <a:r>
                <a:rPr lang="tr-TR" sz="1350" dirty="0">
                  <a:solidFill>
                    <a:srgbClr val="172B3A"/>
                  </a:solidFill>
                  <a:latin typeface="Consolas"/>
                  <a:ea typeface="Consolas"/>
                  <a:cs typeface="Consolas"/>
                </a:rPr>
                <a:t>, panelErisimiVarMi: true };</a:t>
              </a:r>
            </a:p>
          </p:txBody>
        </p:sp>
      </p:grpSp>
      <p:grpSp>
        <p:nvGrpSpPr>
          <p:cNvPr id="15" name="choice-header"/>
          <p:cNvGrpSpPr/>
          <p:nvPr/>
        </p:nvGrpSpPr>
        <p:grpSpPr>
          <a:xfrm>
            <a:off x="609600" y="3619500"/>
            <a:ext cx="10972800" cy="381000"/>
            <a:chOff x="609600" y="3619500"/>
            <a:chExt cx="10972800" cy="381000"/>
          </a:xfrm>
        </p:grpSpPr>
        <p:sp>
          <p:nvSpPr>
            <p:cNvPr id="10" name="Rectangle 10"/>
            <p:cNvSpPr/>
            <p:nvPr/>
          </p:nvSpPr>
          <p:spPr>
            <a:xfrm>
              <a:off x="609600" y="3619500"/>
              <a:ext cx="10972800" cy="381000"/>
            </a:xfrm>
            <a:prstGeom prst="rect">
              <a:avLst/>
            </a:prstGeom>
            <a:solidFill>
              <a:srgbClr val="12355B"/>
            </a:solidFill>
            <a:ln>
              <a:noFill/>
            </a:ln>
          </p:spPr>
        </p:sp>
        <p:sp>
          <p:nvSpPr>
            <p:cNvPr id="11" name="TextBox 11"/>
            <p:cNvSpPr txBox="1"/>
            <p:nvPr/>
          </p:nvSpPr>
          <p:spPr>
            <a:xfrm>
              <a:off x="755904" y="3737610"/>
              <a:ext cx="393680"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YAPI</a:t>
              </a:r>
            </a:p>
          </p:txBody>
        </p:sp>
        <p:sp>
          <p:nvSpPr>
            <p:cNvPr id="12" name="TextBox 12"/>
            <p:cNvSpPr txBox="1"/>
            <p:nvPr/>
          </p:nvSpPr>
          <p:spPr>
            <a:xfrm>
              <a:off x="2660904" y="3737610"/>
              <a:ext cx="100431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GÜÇLÜ YANI</a:t>
              </a:r>
            </a:p>
          </p:txBody>
        </p:sp>
        <p:sp>
          <p:nvSpPr>
            <p:cNvPr id="13" name="TextBox 13"/>
            <p:cNvSpPr txBox="1"/>
            <p:nvPr/>
          </p:nvSpPr>
          <p:spPr>
            <a:xfrm>
              <a:off x="5899404" y="3737610"/>
              <a:ext cx="979140"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SINIRLILIĞI</a:t>
              </a:r>
            </a:p>
          </p:txBody>
        </p:sp>
        <p:sp>
          <p:nvSpPr>
            <p:cNvPr id="14" name="TextBox 14"/>
            <p:cNvSpPr txBox="1"/>
            <p:nvPr/>
          </p:nvSpPr>
          <p:spPr>
            <a:xfrm>
              <a:off x="8756904" y="3737610"/>
              <a:ext cx="1158362"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UYGUN ÖRNEK</a:t>
              </a:r>
            </a:p>
          </p:txBody>
        </p:sp>
      </p:grpSp>
      <p:grpSp>
        <p:nvGrpSpPr>
          <p:cNvPr id="21" name="choice-interface"/>
          <p:cNvGrpSpPr/>
          <p:nvPr/>
        </p:nvGrpSpPr>
        <p:grpSpPr>
          <a:xfrm>
            <a:off x="609600" y="4078129"/>
            <a:ext cx="10972800" cy="484727"/>
            <a:chOff x="609600" y="4078129"/>
            <a:chExt cx="10972800" cy="484727"/>
          </a:xfrm>
        </p:grpSpPr>
        <p:sp>
          <p:nvSpPr>
            <p:cNvPr id="16" name="TextBox 16"/>
            <p:cNvSpPr txBox="1"/>
            <p:nvPr/>
          </p:nvSpPr>
          <p:spPr>
            <a:xfrm>
              <a:off x="753999" y="4078129"/>
              <a:ext cx="106567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interface</a:t>
              </a:r>
            </a:p>
          </p:txBody>
        </p:sp>
        <p:sp>
          <p:nvSpPr>
            <p:cNvPr id="17" name="TextBox 17"/>
            <p:cNvSpPr txBox="1"/>
            <p:nvPr/>
          </p:nvSpPr>
          <p:spPr>
            <a:xfrm>
              <a:off x="2660904" y="4118610"/>
              <a:ext cx="24647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Nesne sözleşmesi ve genişletme</a:t>
              </a:r>
            </a:p>
          </p:txBody>
        </p:sp>
        <p:sp>
          <p:nvSpPr>
            <p:cNvPr id="18" name="TextBox 18"/>
            <p:cNvSpPr txBox="1"/>
            <p:nvPr/>
          </p:nvSpPr>
          <p:spPr>
            <a:xfrm>
              <a:off x="5899404" y="4118610"/>
              <a:ext cx="21000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Union tanımlamada doğrudan</a:t>
              </a:r>
              <a:br/>
              <a:r>
                <a:rPr lang="tr-TR" sz="1200" dirty="0">
                  <a:solidFill>
                    <a:srgbClr val="172B3A"/>
                  </a:solidFill>
                  <a:latin typeface="+mn-lt"/>
                  <a:ea typeface="+mn-ea"/>
                  <a:cs typeface="+mn-cs"/>
                </a:rPr>
                <a:t>kullanılmaz</a:t>
              </a:r>
            </a:p>
          </p:txBody>
        </p:sp>
        <p:sp>
          <p:nvSpPr>
            <p:cNvPr id="19" name="TextBox 19"/>
            <p:cNvSpPr txBox="1"/>
            <p:nvPr/>
          </p:nvSpPr>
          <p:spPr>
            <a:xfrm>
              <a:off x="8756904" y="4118610"/>
              <a:ext cx="120099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Kullanici, Kitap</a:t>
              </a:r>
            </a:p>
          </p:txBody>
        </p:sp>
        <p:sp>
          <p:nvSpPr>
            <p:cNvPr id="20" name="Line 20"/>
            <p:cNvSpPr/>
            <p:nvPr/>
          </p:nvSpPr>
          <p:spPr>
            <a:xfrm>
              <a:off x="609600" y="454342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8" name="choice-type"/>
          <p:cNvGrpSpPr/>
          <p:nvPr/>
        </p:nvGrpSpPr>
        <p:grpSpPr>
          <a:xfrm>
            <a:off x="609600" y="4552950"/>
            <a:ext cx="10972800" cy="552450"/>
            <a:chOff x="609600" y="4552950"/>
            <a:chExt cx="10972800" cy="552450"/>
          </a:xfrm>
        </p:grpSpPr>
        <p:sp>
          <p:nvSpPr>
            <p:cNvPr id="22" name="Rectangle 22"/>
            <p:cNvSpPr/>
            <p:nvPr/>
          </p:nvSpPr>
          <p:spPr>
            <a:xfrm>
              <a:off x="609600" y="4552950"/>
              <a:ext cx="10972800" cy="552450"/>
            </a:xfrm>
            <a:prstGeom prst="rect">
              <a:avLst/>
            </a:prstGeom>
            <a:solidFill>
              <a:srgbClr val="EAF4F6"/>
            </a:solidFill>
            <a:ln>
              <a:noFill/>
            </a:ln>
          </p:spPr>
        </p:sp>
        <p:sp>
          <p:nvSpPr>
            <p:cNvPr id="23" name="TextBox 23"/>
            <p:cNvSpPr txBox="1"/>
            <p:nvPr/>
          </p:nvSpPr>
          <p:spPr>
            <a:xfrm>
              <a:off x="753999" y="4630579"/>
              <a:ext cx="50733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type</a:t>
              </a:r>
            </a:p>
          </p:txBody>
        </p:sp>
        <p:sp>
          <p:nvSpPr>
            <p:cNvPr id="24" name="TextBox 24"/>
            <p:cNvSpPr txBox="1"/>
            <p:nvPr/>
          </p:nvSpPr>
          <p:spPr>
            <a:xfrm>
              <a:off x="2660904" y="4671060"/>
              <a:ext cx="25291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Birleşik ve dönüştürülmüş tipler</a:t>
              </a:r>
            </a:p>
          </p:txBody>
        </p:sp>
        <p:sp>
          <p:nvSpPr>
            <p:cNvPr id="25" name="TextBox 25"/>
            <p:cNvSpPr txBox="1"/>
            <p:nvPr/>
          </p:nvSpPr>
          <p:spPr>
            <a:xfrm>
              <a:off x="5899404" y="4671060"/>
              <a:ext cx="21576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Aynı isimle yeniden açılmaz</a:t>
              </a:r>
            </a:p>
          </p:txBody>
        </p:sp>
        <p:sp>
          <p:nvSpPr>
            <p:cNvPr id="26" name="TextBox 26"/>
            <p:cNvSpPr txBox="1"/>
            <p:nvPr/>
          </p:nvSpPr>
          <p:spPr>
            <a:xfrm>
              <a:off x="8756904" y="4671060"/>
              <a:ext cx="164230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Kimlik, ApiSonucu&lt;T&gt;</a:t>
              </a:r>
            </a:p>
          </p:txBody>
        </p:sp>
        <p:sp>
          <p:nvSpPr>
            <p:cNvPr id="27" name="Line 27"/>
            <p:cNvSpPr/>
            <p:nvPr/>
          </p:nvSpPr>
          <p:spPr>
            <a:xfrm>
              <a:off x="609600" y="50958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4" name="choice-class"/>
          <p:cNvGrpSpPr/>
          <p:nvPr/>
        </p:nvGrpSpPr>
        <p:grpSpPr>
          <a:xfrm>
            <a:off x="609600" y="5183029"/>
            <a:ext cx="10972800" cy="484727"/>
            <a:chOff x="609600" y="5183029"/>
            <a:chExt cx="10972800" cy="484727"/>
          </a:xfrm>
        </p:grpSpPr>
        <p:sp>
          <p:nvSpPr>
            <p:cNvPr id="29" name="TextBox 29"/>
            <p:cNvSpPr txBox="1"/>
            <p:nvPr/>
          </p:nvSpPr>
          <p:spPr>
            <a:xfrm>
              <a:off x="753999" y="5183029"/>
              <a:ext cx="57433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class</a:t>
              </a:r>
            </a:p>
          </p:txBody>
        </p:sp>
        <p:sp>
          <p:nvSpPr>
            <p:cNvPr id="30" name="TextBox 30"/>
            <p:cNvSpPr txBox="1"/>
            <p:nvPr/>
          </p:nvSpPr>
          <p:spPr>
            <a:xfrm>
              <a:off x="2660904" y="5223510"/>
              <a:ext cx="253737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Veri ve davranışı birlikte taşır</a:t>
              </a:r>
            </a:p>
          </p:txBody>
        </p:sp>
        <p:sp>
          <p:nvSpPr>
            <p:cNvPr id="31" name="TextBox 31"/>
            <p:cNvSpPr txBox="1"/>
            <p:nvPr/>
          </p:nvSpPr>
          <p:spPr>
            <a:xfrm>
              <a:off x="5899404" y="5223510"/>
              <a:ext cx="19705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Her veri modeli için gerekli</a:t>
              </a:r>
              <a:br/>
              <a:r>
                <a:rPr lang="tr-TR" sz="1200" dirty="0">
                  <a:solidFill>
                    <a:srgbClr val="172B3A"/>
                  </a:solidFill>
                  <a:latin typeface="+mn-lt"/>
                  <a:ea typeface="+mn-ea"/>
                  <a:cs typeface="+mn-cs"/>
                </a:rPr>
                <a:t>değildir</a:t>
              </a:r>
            </a:p>
          </p:txBody>
        </p:sp>
        <p:sp>
          <p:nvSpPr>
            <p:cNvPr id="32" name="TextBox 32"/>
            <p:cNvSpPr txBox="1"/>
            <p:nvPr/>
          </p:nvSpPr>
          <p:spPr>
            <a:xfrm>
              <a:off x="8756904" y="5223510"/>
              <a:ext cx="23355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Servis veya domain davranışı</a:t>
              </a:r>
            </a:p>
          </p:txBody>
        </p:sp>
        <p:sp>
          <p:nvSpPr>
            <p:cNvPr id="33" name="Line 33"/>
            <p:cNvSpPr/>
            <p:nvPr/>
          </p:nvSpPr>
          <p:spPr>
            <a:xfrm>
              <a:off x="609600" y="564832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0" name="choice-inline"/>
          <p:cNvGrpSpPr/>
          <p:nvPr/>
        </p:nvGrpSpPr>
        <p:grpSpPr>
          <a:xfrm>
            <a:off x="609600" y="5657850"/>
            <a:ext cx="10972800" cy="614267"/>
            <a:chOff x="609600" y="5657850"/>
            <a:chExt cx="10972800" cy="614267"/>
          </a:xfrm>
        </p:grpSpPr>
        <p:sp>
          <p:nvSpPr>
            <p:cNvPr id="35" name="Rectangle 35"/>
            <p:cNvSpPr/>
            <p:nvPr/>
          </p:nvSpPr>
          <p:spPr>
            <a:xfrm>
              <a:off x="609600" y="5657850"/>
              <a:ext cx="10972800" cy="552450"/>
            </a:xfrm>
            <a:prstGeom prst="rect">
              <a:avLst/>
            </a:prstGeom>
            <a:solidFill>
              <a:srgbClr val="EAF4F6"/>
            </a:solidFill>
            <a:ln>
              <a:noFill/>
            </a:ln>
          </p:spPr>
        </p:sp>
        <p:sp>
          <p:nvSpPr>
            <p:cNvPr id="36" name="TextBox 36"/>
            <p:cNvSpPr txBox="1"/>
            <p:nvPr/>
          </p:nvSpPr>
          <p:spPr>
            <a:xfrm>
              <a:off x="753999" y="5735479"/>
              <a:ext cx="1195883" cy="536638"/>
            </a:xfrm>
            <a:prstGeom prst="rect">
              <a:avLst/>
            </a:prstGeom>
            <a:noFill/>
            <a:ln>
              <a:noFill/>
            </a:ln>
          </p:spPr>
          <p:txBody>
            <a:bodyPr wrap="none" lIns="0" tIns="0" rIns="0" bIns="0" anchor="t" anchorCtr="0">
              <a:spAutoFit/>
            </a:bodyPr>
            <a:lstStyle/>
            <a:p>
              <a:pPr algn="l">
                <a:lnSpc>
                  <a:spcPts val="1800"/>
                </a:lnSpc>
              </a:pPr>
              <a:r>
                <a:rPr lang="tr-TR" sz="1580" b="1" dirty="0">
                  <a:solidFill>
                    <a:srgbClr val="12355B"/>
                  </a:solidFill>
                  <a:latin typeface="+mn-lt"/>
                  <a:ea typeface="+mn-ea"/>
                  <a:cs typeface="+mn-cs"/>
                </a:rPr>
                <a:t>Inline nesne</a:t>
              </a:r>
              <a:br/>
              <a:r>
                <a:rPr lang="tr-TR" sz="1580" b="1" dirty="0">
                  <a:solidFill>
                    <a:srgbClr val="12355B"/>
                  </a:solidFill>
                  <a:latin typeface="+mn-lt"/>
                  <a:ea typeface="+mn-ea"/>
                  <a:cs typeface="+mn-cs"/>
                </a:rPr>
                <a:t>tipi</a:t>
              </a:r>
            </a:p>
          </p:txBody>
        </p:sp>
        <p:sp>
          <p:nvSpPr>
            <p:cNvPr id="37" name="TextBox 37"/>
            <p:cNvSpPr txBox="1"/>
            <p:nvPr/>
          </p:nvSpPr>
          <p:spPr>
            <a:xfrm>
              <a:off x="2660904" y="5775960"/>
              <a:ext cx="19397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Küçük ve tek kullanımlık</a:t>
              </a:r>
            </a:p>
          </p:txBody>
        </p:sp>
        <p:sp>
          <p:nvSpPr>
            <p:cNvPr id="38" name="TextBox 38"/>
            <p:cNvSpPr txBox="1"/>
            <p:nvPr/>
          </p:nvSpPr>
          <p:spPr>
            <a:xfrm>
              <a:off x="5899404" y="5775960"/>
              <a:ext cx="251309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Tekrar kullanımda dağınıklaşır</a:t>
              </a:r>
            </a:p>
          </p:txBody>
        </p:sp>
        <p:sp>
          <p:nvSpPr>
            <p:cNvPr id="39" name="TextBox 39"/>
            <p:cNvSpPr txBox="1"/>
            <p:nvPr/>
          </p:nvSpPr>
          <p:spPr>
            <a:xfrm>
              <a:off x="8756904" y="5775960"/>
              <a:ext cx="20688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Kısa callback parametresi</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930695" cy="557403"/>
            <a:chOff x="595122" y="282892"/>
            <a:chExt cx="6930695" cy="557403"/>
          </a:xfrm>
        </p:grpSpPr>
        <p:sp>
          <p:nvSpPr>
            <p:cNvPr id="4" name="TextBox 4"/>
            <p:cNvSpPr txBox="1"/>
            <p:nvPr/>
          </p:nvSpPr>
          <p:spPr>
            <a:xfrm>
              <a:off x="595122" y="282892"/>
              <a:ext cx="693069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Union: geçerli durumları sınırlama</a:t>
              </a:r>
            </a:p>
          </p:txBody>
        </p:sp>
      </p:grpSp>
      <p:grpSp>
        <p:nvGrpSpPr>
          <p:cNvPr id="7" name="union-lead"/>
          <p:cNvGrpSpPr/>
          <p:nvPr/>
        </p:nvGrpSpPr>
        <p:grpSpPr>
          <a:xfrm>
            <a:off x="600456" y="1386840"/>
            <a:ext cx="10362894" cy="352044"/>
            <a:chOff x="600456" y="1386840"/>
            <a:chExt cx="10362894" cy="352044"/>
          </a:xfrm>
        </p:grpSpPr>
        <p:sp>
          <p:nvSpPr>
            <p:cNvPr id="6" name="TextBox 6"/>
            <p:cNvSpPr txBox="1"/>
            <p:nvPr/>
          </p:nvSpPr>
          <p:spPr>
            <a:xfrm>
              <a:off x="600456" y="1386840"/>
              <a:ext cx="10362894"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 xml:space="preserve">Union, bir değerin önceden tanımlanmış değerlerden </a:t>
              </a:r>
              <a:r>
                <a:rPr lang="tr-TR" sz="1800" b="1" dirty="0">
                  <a:solidFill>
                    <a:srgbClr val="12355B"/>
                  </a:solidFill>
                  <a:latin typeface="+mn-lt"/>
                  <a:ea typeface="+mn-ea"/>
                  <a:cs typeface="+mn-cs"/>
                </a:rPr>
                <a:t>yalnızca biri</a:t>
              </a:r>
              <a:r>
                <a:rPr lang="tr-TR" sz="1800" dirty="0">
                  <a:solidFill>
                    <a:srgbClr val="172B3A"/>
                  </a:solidFill>
                  <a:latin typeface="+mn-lt"/>
                  <a:ea typeface="+mn-ea"/>
                  <a:cs typeface="+mn-cs"/>
                </a:rPr>
                <a:t xml:space="preserve"> olmasını ifade eder.</a:t>
              </a:r>
            </a:p>
          </p:txBody>
        </p:sp>
      </p:grpSp>
      <p:grpSp>
        <p:nvGrpSpPr>
          <p:cNvPr id="16" name="order-states"/>
          <p:cNvGrpSpPr/>
          <p:nvPr/>
        </p:nvGrpSpPr>
        <p:grpSpPr>
          <a:xfrm>
            <a:off x="609600" y="2095500"/>
            <a:ext cx="10820400" cy="609600"/>
            <a:chOff x="609600" y="2095500"/>
            <a:chExt cx="10820400" cy="609600"/>
          </a:xfrm>
        </p:grpSpPr>
        <p:sp>
          <p:nvSpPr>
            <p:cNvPr id="8" name="Rectangle 8"/>
            <p:cNvSpPr/>
            <p:nvPr/>
          </p:nvSpPr>
          <p:spPr>
            <a:xfrm>
              <a:off x="609600" y="2095500"/>
              <a:ext cx="2590800" cy="609600"/>
            </a:xfrm>
            <a:prstGeom prst="roundRect">
              <a:avLst>
                <a:gd name="adj" fmla="val 50000"/>
              </a:avLst>
            </a:prstGeom>
            <a:solidFill>
              <a:srgbClr val="EAF4F6"/>
            </a:solidFill>
            <a:ln w="14288">
              <a:solidFill>
                <a:srgbClr val="00A6A6"/>
              </a:solidFill>
            </a:ln>
          </p:spPr>
        </p:sp>
        <p:sp>
          <p:nvSpPr>
            <p:cNvPr id="9" name="TextBox 9"/>
            <p:cNvSpPr txBox="1"/>
            <p:nvPr/>
          </p:nvSpPr>
          <p:spPr>
            <a:xfrm>
              <a:off x="1253583" y="2306479"/>
              <a:ext cx="1302835" cy="308039"/>
            </a:xfrm>
            <a:prstGeom prst="rect">
              <a:avLst/>
            </a:prstGeom>
            <a:noFill/>
            <a:ln>
              <a:noFill/>
            </a:ln>
          </p:spPr>
          <p:txBody>
            <a:bodyPr wrap="none" lIns="0" tIns="0" rIns="0" bIns="0" anchor="t" anchorCtr="0">
              <a:spAutoFit/>
            </a:bodyPr>
            <a:lstStyle/>
            <a:p>
              <a:pPr algn="ctr"/>
              <a:r>
                <a:rPr lang="tr-TR" sz="1580" dirty="0">
                  <a:solidFill>
                    <a:srgbClr val="12355B"/>
                  </a:solidFill>
                  <a:latin typeface="Consolas"/>
                  <a:ea typeface="Consolas"/>
                  <a:cs typeface="Consolas"/>
                </a:rPr>
                <a:t>"beklemede"</a:t>
              </a:r>
            </a:p>
          </p:txBody>
        </p:sp>
        <p:sp>
          <p:nvSpPr>
            <p:cNvPr id="10" name="Rectangle 10"/>
            <p:cNvSpPr/>
            <p:nvPr/>
          </p:nvSpPr>
          <p:spPr>
            <a:xfrm>
              <a:off x="3352800" y="2095500"/>
              <a:ext cx="2590800" cy="609600"/>
            </a:xfrm>
            <a:prstGeom prst="roundRect">
              <a:avLst>
                <a:gd name="adj" fmla="val 50000"/>
              </a:avLst>
            </a:prstGeom>
            <a:solidFill>
              <a:srgbClr val="EAF4F6"/>
            </a:solidFill>
            <a:ln w="14288">
              <a:solidFill>
                <a:srgbClr val="00A6A6"/>
              </a:solidFill>
            </a:ln>
          </p:spPr>
        </p:sp>
        <p:sp>
          <p:nvSpPr>
            <p:cNvPr id="11" name="TextBox 11"/>
            <p:cNvSpPr txBox="1"/>
            <p:nvPr/>
          </p:nvSpPr>
          <p:spPr>
            <a:xfrm>
              <a:off x="3821306" y="2306479"/>
              <a:ext cx="1653789" cy="308039"/>
            </a:xfrm>
            <a:prstGeom prst="rect">
              <a:avLst/>
            </a:prstGeom>
            <a:noFill/>
            <a:ln>
              <a:noFill/>
            </a:ln>
          </p:spPr>
          <p:txBody>
            <a:bodyPr wrap="none" lIns="0" tIns="0" rIns="0" bIns="0" anchor="t" anchorCtr="0">
              <a:spAutoFit/>
            </a:bodyPr>
            <a:lstStyle/>
            <a:p>
              <a:pPr algn="ctr"/>
              <a:r>
                <a:rPr lang="tr-TR" sz="1580" dirty="0">
                  <a:solidFill>
                    <a:srgbClr val="12355B"/>
                  </a:solidFill>
                  <a:latin typeface="Consolas"/>
                  <a:ea typeface="Consolas"/>
                  <a:cs typeface="Consolas"/>
                </a:rPr>
                <a:t>"hazirlaniyor"</a:t>
              </a:r>
            </a:p>
          </p:txBody>
        </p:sp>
        <p:sp>
          <p:nvSpPr>
            <p:cNvPr id="12" name="Rectangle 12"/>
            <p:cNvSpPr/>
            <p:nvPr/>
          </p:nvSpPr>
          <p:spPr>
            <a:xfrm>
              <a:off x="6096000" y="2095500"/>
              <a:ext cx="2590800" cy="609600"/>
            </a:xfrm>
            <a:prstGeom prst="roundRect">
              <a:avLst>
                <a:gd name="adj" fmla="val 50000"/>
              </a:avLst>
            </a:prstGeom>
            <a:solidFill>
              <a:srgbClr val="EAF4F6"/>
            </a:solidFill>
            <a:ln w="14288">
              <a:solidFill>
                <a:srgbClr val="00A6A6"/>
              </a:solidFill>
            </a:ln>
          </p:spPr>
        </p:sp>
        <p:sp>
          <p:nvSpPr>
            <p:cNvPr id="13" name="TextBox 13"/>
            <p:cNvSpPr txBox="1"/>
            <p:nvPr/>
          </p:nvSpPr>
          <p:spPr>
            <a:xfrm>
              <a:off x="6856967" y="2306479"/>
              <a:ext cx="1068865" cy="308039"/>
            </a:xfrm>
            <a:prstGeom prst="rect">
              <a:avLst/>
            </a:prstGeom>
            <a:noFill/>
            <a:ln>
              <a:noFill/>
            </a:ln>
          </p:spPr>
          <p:txBody>
            <a:bodyPr wrap="none" lIns="0" tIns="0" rIns="0" bIns="0" anchor="t" anchorCtr="0">
              <a:spAutoFit/>
            </a:bodyPr>
            <a:lstStyle/>
            <a:p>
              <a:pPr algn="ctr"/>
              <a:r>
                <a:rPr lang="tr-TR" sz="1580" dirty="0">
                  <a:solidFill>
                    <a:srgbClr val="12355B"/>
                  </a:solidFill>
                  <a:latin typeface="Consolas"/>
                  <a:ea typeface="Consolas"/>
                  <a:cs typeface="Consolas"/>
                </a:rPr>
                <a:t>"kargoda"</a:t>
              </a:r>
            </a:p>
          </p:txBody>
        </p:sp>
        <p:sp>
          <p:nvSpPr>
            <p:cNvPr id="14" name="Rectangle 14"/>
            <p:cNvSpPr/>
            <p:nvPr/>
          </p:nvSpPr>
          <p:spPr>
            <a:xfrm>
              <a:off x="8839200" y="2095500"/>
              <a:ext cx="2590800" cy="609600"/>
            </a:xfrm>
            <a:prstGeom prst="roundRect">
              <a:avLst>
                <a:gd name="adj" fmla="val 50000"/>
              </a:avLst>
            </a:prstGeom>
            <a:solidFill>
              <a:srgbClr val="EAF4F6"/>
            </a:solidFill>
            <a:ln w="14288">
              <a:solidFill>
                <a:srgbClr val="00A6A6"/>
              </a:solidFill>
            </a:ln>
          </p:spPr>
        </p:sp>
        <p:sp>
          <p:nvSpPr>
            <p:cNvPr id="15" name="TextBox 15"/>
            <p:cNvSpPr txBox="1"/>
            <p:nvPr/>
          </p:nvSpPr>
          <p:spPr>
            <a:xfrm>
              <a:off x="9303843" y="2306479"/>
              <a:ext cx="1661514" cy="308039"/>
            </a:xfrm>
            <a:prstGeom prst="rect">
              <a:avLst/>
            </a:prstGeom>
            <a:noFill/>
            <a:ln>
              <a:noFill/>
            </a:ln>
          </p:spPr>
          <p:txBody>
            <a:bodyPr wrap="none" lIns="0" tIns="0" rIns="0" bIns="0" anchor="t" anchorCtr="0">
              <a:spAutoFit/>
            </a:bodyPr>
            <a:lstStyle/>
            <a:p>
              <a:pPr algn="ctr"/>
              <a:r>
                <a:rPr lang="tr-TR" sz="1580" dirty="0">
                  <a:solidFill>
                    <a:srgbClr val="12355B"/>
                  </a:solidFill>
                  <a:latin typeface="Consolas"/>
                  <a:ea typeface="Consolas"/>
                  <a:cs typeface="Consolas"/>
                </a:rPr>
                <a:t>"teslimEdildi"</a:t>
              </a:r>
            </a:p>
          </p:txBody>
        </p:sp>
      </p:grpSp>
      <p:grpSp>
        <p:nvGrpSpPr>
          <p:cNvPr id="20" name="code-union"/>
          <p:cNvGrpSpPr/>
          <p:nvPr/>
        </p:nvGrpSpPr>
        <p:grpSpPr>
          <a:xfrm>
            <a:off x="609600" y="3238500"/>
            <a:ext cx="6286500" cy="2762250"/>
            <a:chOff x="609600" y="3238500"/>
            <a:chExt cx="6286500" cy="2762250"/>
          </a:xfrm>
        </p:grpSpPr>
        <p:sp>
          <p:nvSpPr>
            <p:cNvPr id="17" name="Rectangle 17"/>
            <p:cNvSpPr/>
            <p:nvPr/>
          </p:nvSpPr>
          <p:spPr>
            <a:xfrm>
              <a:off x="609600" y="3238500"/>
              <a:ext cx="6286500" cy="2762250"/>
            </a:xfrm>
            <a:prstGeom prst="roundRect">
              <a:avLst>
                <a:gd name="adj" fmla="val 2759"/>
              </a:avLst>
            </a:prstGeom>
            <a:solidFill>
              <a:srgbClr val="EAF4F6"/>
            </a:solidFill>
            <a:ln w="14288">
              <a:solidFill>
                <a:srgbClr val="B8CBD3"/>
              </a:solidFill>
            </a:ln>
          </p:spPr>
        </p:sp>
        <p:sp>
          <p:nvSpPr>
            <p:cNvPr id="18" name="TextBox 18"/>
            <p:cNvSpPr txBox="1"/>
            <p:nvPr/>
          </p:nvSpPr>
          <p:spPr>
            <a:xfrm>
              <a:off x="832104" y="3394710"/>
              <a:ext cx="2280876"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Kod 3.7 — SiparisDurumu.ts</a:t>
              </a:r>
            </a:p>
          </p:txBody>
        </p:sp>
        <p:sp>
          <p:nvSpPr>
            <p:cNvPr id="19" name="TextBox 19"/>
            <p:cNvSpPr txBox="1"/>
            <p:nvPr/>
          </p:nvSpPr>
          <p:spPr>
            <a:xfrm>
              <a:off x="831342" y="3721418"/>
              <a:ext cx="4539996" cy="2245233"/>
            </a:xfrm>
            <a:prstGeom prst="rect">
              <a:avLst/>
            </a:prstGeom>
            <a:noFill/>
            <a:ln>
              <a:noFill/>
            </a:ln>
          </p:spPr>
          <p:txBody>
            <a:bodyPr wrap="none" lIns="0" tIns="0" rIns="0" bIns="0" anchor="t" anchorCtr="0">
              <a:spAutoFit/>
            </a:bodyPr>
            <a:lstStyle/>
            <a:p>
              <a:pPr algn="l">
                <a:lnSpc>
                  <a:spcPts val="1950"/>
                </a:lnSpc>
              </a:pPr>
              <a:r>
                <a:rPr lang="tr-TR" sz="1350" dirty="0">
                  <a:solidFill>
                    <a:srgbClr val="2E86AB"/>
                  </a:solidFill>
                  <a:latin typeface="Consolas"/>
                  <a:ea typeface="Consolas"/>
                  <a:cs typeface="Consolas"/>
                </a:rPr>
                <a:t>type</a:t>
              </a:r>
              <a:r>
                <a:rPr lang="tr-TR" sz="1350" dirty="0">
                  <a:solidFill>
                    <a:srgbClr val="172B3A"/>
                  </a:solidFill>
                  <a:latin typeface="Consolas"/>
                  <a:ea typeface="Consolas"/>
                  <a:cs typeface="Consolas"/>
                </a:rPr>
                <a:t xml:space="preserve"> SiparisDurumu =</a:t>
              </a:r>
              <a:br/>
              <a:r>
                <a:rPr lang="tr-TR" sz="1350" dirty="0">
                  <a:solidFill>
                    <a:srgbClr val="172B3A"/>
                  </a:solidFill>
                  <a:latin typeface="Consolas"/>
                  <a:ea typeface="Consolas"/>
                  <a:cs typeface="Consolas"/>
                </a:rPr>
                <a:t xml:space="preserve">| </a:t>
              </a:r>
              <a:r>
                <a:rPr lang="tr-TR" sz="1350" dirty="0">
                  <a:solidFill>
                    <a:srgbClr val="2E7D32"/>
                  </a:solidFill>
                  <a:latin typeface="Consolas"/>
                  <a:ea typeface="Consolas"/>
                  <a:cs typeface="Consolas"/>
                </a:rPr>
                <a:t>"beklemede"</a:t>
              </a:r>
              <a:r>
                <a:rPr lang="tr-TR" sz="1350" dirty="0">
                  <a:solidFill>
                    <a:srgbClr val="172B3A"/>
                  </a:solidFill>
                  <a:latin typeface="Consolas"/>
                  <a:ea typeface="Consolas"/>
                  <a:cs typeface="Consolas"/>
                </a:rPr>
                <a:t xml:space="preserve"> | </a:t>
              </a:r>
              <a:r>
                <a:rPr lang="tr-TR" sz="1350" dirty="0">
                  <a:solidFill>
                    <a:srgbClr val="2E7D32"/>
                  </a:solidFill>
                  <a:latin typeface="Consolas"/>
                  <a:ea typeface="Consolas"/>
                  <a:cs typeface="Consolas"/>
                </a:rPr>
                <a:t>"hazirlaniyor"</a:t>
              </a:r>
              <a:br/>
              <a:r>
                <a:rPr lang="tr-TR" sz="1350" dirty="0">
                  <a:solidFill>
                    <a:srgbClr val="172B3A"/>
                  </a:solidFill>
                  <a:latin typeface="Consolas"/>
                  <a:ea typeface="Consolas"/>
                  <a:cs typeface="Consolas"/>
                </a:rPr>
                <a:t xml:space="preserve">| </a:t>
              </a:r>
              <a:r>
                <a:rPr lang="tr-TR" sz="1350" dirty="0">
                  <a:solidFill>
                    <a:srgbClr val="2E7D32"/>
                  </a:solidFill>
                  <a:latin typeface="Consolas"/>
                  <a:ea typeface="Consolas"/>
                  <a:cs typeface="Consolas"/>
                </a:rPr>
                <a:t>"kargoda"</a:t>
              </a:r>
              <a:r>
                <a:rPr lang="tr-TR" sz="1350" dirty="0">
                  <a:solidFill>
                    <a:srgbClr val="172B3A"/>
                  </a:solidFill>
                  <a:latin typeface="Consolas"/>
                  <a:ea typeface="Consolas"/>
                  <a:cs typeface="Consolas"/>
                </a:rPr>
                <a:t xml:space="preserve"> | </a:t>
              </a:r>
              <a:r>
                <a:rPr lang="tr-TR" sz="1350" dirty="0">
                  <a:solidFill>
                    <a:srgbClr val="2E7D32"/>
                  </a:solidFill>
                  <a:latin typeface="Consolas"/>
                  <a:ea typeface="Consolas"/>
                  <a:cs typeface="Consolas"/>
                </a:rPr>
                <a:t>"teslimEdildi"</a:t>
              </a:r>
              <a:r>
                <a:rPr lang="tr-TR" sz="1350" dirty="0">
                  <a:solidFill>
                    <a:srgbClr val="172B3A"/>
                  </a:solidFill>
                  <a:latin typeface="Consolas"/>
                  <a:ea typeface="Consolas"/>
                  <a:cs typeface="Consolas"/>
                </a:rPr>
                <a:t>;</a:t>
              </a:r>
              <a:br/>
              <a:r>
                <a:rPr lang="tr-TR" sz="1350" dirty="0">
                  <a:solidFill>
                    <a:srgbClr val="2E86AB"/>
                  </a:solidFill>
                  <a:latin typeface="Consolas"/>
                  <a:ea typeface="Consolas"/>
                  <a:cs typeface="Consolas"/>
                </a:rPr>
                <a:t>function</a:t>
              </a:r>
              <a:r>
                <a:rPr lang="tr-TR" sz="1350" dirty="0">
                  <a:solidFill>
                    <a:srgbClr val="172B3A"/>
                  </a:solidFill>
                  <a:latin typeface="Consolas"/>
                  <a:ea typeface="Consolas"/>
                  <a:cs typeface="Consolas"/>
                </a:rPr>
                <a:t xml:space="preserve"> durumMesaji(d: SiparisDurumu): string {</a:t>
              </a:r>
              <a:br/>
              <a:r>
                <a:rPr lang="tr-TR" sz="1350" dirty="0">
                  <a:solidFill>
                    <a:srgbClr val="2E86AB"/>
                  </a:solidFill>
                  <a:latin typeface="Consolas"/>
                  <a:ea typeface="Consolas"/>
                  <a:cs typeface="Consolas"/>
                </a:rPr>
                <a:t>switch</a:t>
              </a:r>
              <a:r>
                <a:rPr lang="tr-TR" sz="1350" dirty="0">
                  <a:solidFill>
                    <a:srgbClr val="172B3A"/>
                  </a:solidFill>
                  <a:latin typeface="Consolas"/>
                  <a:ea typeface="Consolas"/>
                  <a:cs typeface="Consolas"/>
                </a:rPr>
                <a:t xml:space="preserve"> (d) {</a:t>
              </a:r>
              <a:br/>
              <a:r>
                <a:rPr lang="tr-TR" sz="1350" dirty="0">
                  <a:solidFill>
                    <a:srgbClr val="2E86AB"/>
                  </a:solidFill>
                  <a:latin typeface="Consolas"/>
                  <a:ea typeface="Consolas"/>
                  <a:cs typeface="Consolas"/>
                </a:rPr>
                <a:t>case</a:t>
              </a:r>
              <a:r>
                <a:rPr lang="tr-TR" sz="1350" dirty="0">
                  <a:solidFill>
                    <a:srgbClr val="172B3A"/>
                  </a:solidFill>
                  <a:latin typeface="Consolas"/>
                  <a:ea typeface="Consolas"/>
                  <a:cs typeface="Consolas"/>
                </a:rPr>
                <a:t xml:space="preserve"> </a:t>
              </a:r>
              <a:r>
                <a:rPr lang="tr-TR" sz="1350" dirty="0">
                  <a:solidFill>
                    <a:srgbClr val="2E7D32"/>
                  </a:solidFill>
                  <a:latin typeface="Consolas"/>
                  <a:ea typeface="Consolas"/>
                  <a:cs typeface="Consolas"/>
                </a:rPr>
                <a:t>"kargoda"</a:t>
              </a:r>
              <a:r>
                <a:rPr lang="tr-TR" sz="1350" dirty="0">
                  <a:solidFill>
                    <a:srgbClr val="172B3A"/>
                  </a:solidFill>
                  <a:latin typeface="Consolas"/>
                  <a:ea typeface="Consolas"/>
                  <a:cs typeface="Consolas"/>
                </a:rPr>
                <a:t xml:space="preserve">: return </a:t>
              </a:r>
              <a:r>
                <a:rPr lang="tr-TR" sz="1350" dirty="0">
                  <a:solidFill>
                    <a:srgbClr val="2E7D32"/>
                  </a:solidFill>
                  <a:latin typeface="Consolas"/>
                  <a:ea typeface="Consolas"/>
                  <a:cs typeface="Consolas"/>
                </a:rPr>
                <a:t>"Kargoya verildi."</a:t>
              </a:r>
              <a:r>
                <a:rPr lang="tr-TR" sz="1350" dirty="0">
                  <a:solidFill>
                    <a:srgbClr val="172B3A"/>
                  </a:solidFill>
                  <a:latin typeface="Consolas"/>
                  <a:ea typeface="Consolas"/>
                  <a:cs typeface="Consolas"/>
                </a:rPr>
                <a:t>;</a:t>
              </a:r>
              <a:br/>
              <a:r>
                <a:rPr lang="tr-TR" sz="1350" dirty="0">
                  <a:solidFill>
                    <a:srgbClr val="52616B"/>
                  </a:solidFill>
                  <a:latin typeface="Consolas"/>
                  <a:ea typeface="Consolas"/>
                  <a:cs typeface="Consolas"/>
                </a:rPr>
                <a:t>// ... diğer durumlar</a:t>
              </a:r>
              <a:br/>
              <a:r>
                <a:rPr lang="tr-TR" sz="1350" dirty="0">
                  <a:solidFill>
                    <a:srgbClr val="172B3A"/>
                  </a:solidFill>
                  <a:latin typeface="Consolas"/>
                  <a:ea typeface="Consolas"/>
                  <a:cs typeface="Consolas"/>
                </a:rPr>
                <a:t>}</a:t>
              </a:r>
              <a:br/>
              <a:r>
                <a:rPr lang="tr-TR" sz="1350" dirty="0">
                  <a:solidFill>
                    <a:srgbClr val="172B3A"/>
                  </a:solidFill>
                  <a:latin typeface="Consolas"/>
                  <a:ea typeface="Consolas"/>
                  <a:cs typeface="Consolas"/>
                </a:rPr>
                <a:t>}</a:t>
              </a:r>
            </a:p>
          </p:txBody>
        </p:sp>
      </p:grpSp>
      <p:grpSp>
        <p:nvGrpSpPr>
          <p:cNvPr id="25" name="union-analogy"/>
          <p:cNvGrpSpPr/>
          <p:nvPr/>
        </p:nvGrpSpPr>
        <p:grpSpPr>
          <a:xfrm>
            <a:off x="7200900" y="3238500"/>
            <a:ext cx="4381500" cy="2762250"/>
            <a:chOff x="7200900" y="3238500"/>
            <a:chExt cx="4381500" cy="2762250"/>
          </a:xfrm>
        </p:grpSpPr>
        <p:sp>
          <p:nvSpPr>
            <p:cNvPr id="21" name="Rectangle 21"/>
            <p:cNvSpPr/>
            <p:nvPr/>
          </p:nvSpPr>
          <p:spPr>
            <a:xfrm>
              <a:off x="7200900" y="3238500"/>
              <a:ext cx="4381500" cy="2762250"/>
            </a:xfrm>
            <a:prstGeom prst="roundRect">
              <a:avLst>
                <a:gd name="adj" fmla="val 2759"/>
              </a:avLst>
            </a:prstGeom>
            <a:solidFill>
              <a:srgbClr val="EAF4F6"/>
            </a:solidFill>
            <a:ln>
              <a:noFill/>
            </a:ln>
          </p:spPr>
        </p:sp>
        <p:sp>
          <p:nvSpPr>
            <p:cNvPr id="22" name="TextBox 22"/>
            <p:cNvSpPr txBox="1"/>
            <p:nvPr/>
          </p:nvSpPr>
          <p:spPr>
            <a:xfrm>
              <a:off x="7420356" y="3425190"/>
              <a:ext cx="269778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Sınırlı etiket kümesi</a:t>
              </a:r>
            </a:p>
          </p:txBody>
        </p:sp>
        <p:sp>
          <p:nvSpPr>
            <p:cNvPr id="23" name="TextBox 23"/>
            <p:cNvSpPr txBox="1"/>
            <p:nvPr/>
          </p:nvSpPr>
          <p:spPr>
            <a:xfrm>
              <a:off x="7423404" y="3832860"/>
              <a:ext cx="31211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Depoda mavi, sarı veya kırmızı etiketler</a:t>
              </a:r>
              <a:br/>
              <a:r>
                <a:rPr lang="tr-TR" sz="1200" dirty="0">
                  <a:solidFill>
                    <a:srgbClr val="172B3A"/>
                  </a:solidFill>
                  <a:latin typeface="+mn-lt"/>
                  <a:ea typeface="+mn-ea"/>
                  <a:cs typeface="+mn-cs"/>
                </a:rPr>
                <a:t>tanımlıysa görevli rastgele mor etiket</a:t>
              </a:r>
              <a:br/>
              <a:r>
                <a:rPr lang="tr-TR" sz="1200" dirty="0">
                  <a:solidFill>
                    <a:srgbClr val="172B3A"/>
                  </a:solidFill>
                  <a:latin typeface="+mn-lt"/>
                  <a:ea typeface="+mn-ea"/>
                  <a:cs typeface="+mn-cs"/>
                </a:rPr>
                <a:t>kullanamaz. Union, geçersiz durumların</a:t>
              </a:r>
              <a:br/>
              <a:r>
                <a:rPr lang="tr-TR" sz="1200" dirty="0">
                  <a:solidFill>
                    <a:srgbClr val="172B3A"/>
                  </a:solidFill>
                  <a:latin typeface="+mn-lt"/>
                  <a:ea typeface="+mn-ea"/>
                  <a:cs typeface="+mn-cs"/>
                </a:rPr>
                <a:t>sisteme girmesini zorlaştırır.</a:t>
              </a:r>
            </a:p>
          </p:txBody>
        </p:sp>
        <p:sp>
          <p:nvSpPr>
            <p:cNvPr id="24" name="TextBox 24"/>
            <p:cNvSpPr txBox="1"/>
            <p:nvPr/>
          </p:nvSpPr>
          <p:spPr>
            <a:xfrm>
              <a:off x="7423404" y="4918710"/>
              <a:ext cx="29992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Yeni durum eklenirse TypeScript,</a:t>
              </a:r>
              <a:br/>
              <a:r>
                <a:rPr lang="tr-TR" sz="1200" dirty="0">
                  <a:solidFill>
                    <a:srgbClr val="172B3A"/>
                  </a:solidFill>
                  <a:latin typeface="+mn-lt"/>
                  <a:ea typeface="+mn-ea"/>
                  <a:cs typeface="+mn-cs"/>
                </a:rPr>
                <a:t>güncellenmesi gereken switch bloklarını</a:t>
              </a:r>
              <a:br/>
              <a:r>
                <a:rPr lang="tr-TR" sz="1200" dirty="0">
                  <a:solidFill>
                    <a:srgbClr val="172B3A"/>
                  </a:solidFill>
                  <a:latin typeface="+mn-lt"/>
                  <a:ea typeface="+mn-ea"/>
                  <a:cs typeface="+mn-cs"/>
                </a:rPr>
                <a:t>daha görünür hâle getirir.</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226026" cy="668845"/>
            <a:chOff x="609600" y="171450"/>
            <a:chExt cx="822602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53565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Ayrık union: başarı ve hata sonuçları</a:t>
              </a:r>
            </a:p>
          </p:txBody>
        </p:sp>
      </p:grpSp>
      <p:grpSp>
        <p:nvGrpSpPr>
          <p:cNvPr id="15" name="code-discriminated"/>
          <p:cNvGrpSpPr/>
          <p:nvPr/>
        </p:nvGrpSpPr>
        <p:grpSpPr>
          <a:xfrm>
            <a:off x="609600" y="1428750"/>
            <a:ext cx="6286500" cy="3048000"/>
            <a:chOff x="609600" y="1428750"/>
            <a:chExt cx="6286500" cy="3048000"/>
          </a:xfrm>
        </p:grpSpPr>
        <p:sp>
          <p:nvSpPr>
            <p:cNvPr id="12" name="Rectangle 12"/>
            <p:cNvSpPr/>
            <p:nvPr/>
          </p:nvSpPr>
          <p:spPr>
            <a:xfrm>
              <a:off x="609600" y="1428750"/>
              <a:ext cx="6286500" cy="3048000"/>
            </a:xfrm>
            <a:prstGeom prst="roundRect">
              <a:avLst>
                <a:gd name="adj" fmla="val 2500"/>
              </a:avLst>
            </a:prstGeom>
            <a:solidFill>
              <a:srgbClr val="EAF4F6"/>
            </a:solidFill>
            <a:ln w="14288">
              <a:solidFill>
                <a:srgbClr val="B8CBD3"/>
              </a:solidFill>
            </a:ln>
          </p:spPr>
        </p:sp>
        <p:sp>
          <p:nvSpPr>
            <p:cNvPr id="13" name="TextBox 13"/>
            <p:cNvSpPr txBox="1"/>
            <p:nvPr/>
          </p:nvSpPr>
          <p:spPr>
            <a:xfrm>
              <a:off x="832104" y="1584960"/>
              <a:ext cx="2439503"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Kod 3.8 — AyrikUnionSonuc.ts</a:t>
              </a:r>
            </a:p>
          </p:txBody>
        </p:sp>
        <p:sp>
          <p:nvSpPr>
            <p:cNvPr id="14" name="TextBox 14"/>
            <p:cNvSpPr txBox="1"/>
            <p:nvPr/>
          </p:nvSpPr>
          <p:spPr>
            <a:xfrm>
              <a:off x="831342" y="1911668"/>
              <a:ext cx="4539996" cy="2245233"/>
            </a:xfrm>
            <a:prstGeom prst="rect">
              <a:avLst/>
            </a:prstGeom>
            <a:noFill/>
            <a:ln>
              <a:noFill/>
            </a:ln>
          </p:spPr>
          <p:txBody>
            <a:bodyPr wrap="none" lIns="0" tIns="0" rIns="0" bIns="0" anchor="t" anchorCtr="0">
              <a:spAutoFit/>
            </a:bodyPr>
            <a:lstStyle/>
            <a:p>
              <a:pPr algn="l">
                <a:lnSpc>
                  <a:spcPts val="1950"/>
                </a:lnSpc>
              </a:pPr>
              <a:r>
                <a:rPr lang="tr-TR" sz="1350" dirty="0">
                  <a:solidFill>
                    <a:srgbClr val="2E86AB"/>
                  </a:solidFill>
                  <a:latin typeface="Consolas"/>
                  <a:ea typeface="Consolas"/>
                  <a:cs typeface="Consolas"/>
                </a:rPr>
                <a:t>type</a:t>
              </a:r>
              <a:r>
                <a:rPr lang="tr-TR" sz="1350" dirty="0">
                  <a:solidFill>
                    <a:srgbClr val="172B3A"/>
                  </a:solidFill>
                  <a:latin typeface="Consolas"/>
                  <a:ea typeface="Consolas"/>
                  <a:cs typeface="Consolas"/>
                </a:rPr>
                <a:t xml:space="preserve"> KayitSonucu =</a:t>
              </a:r>
              <a:br/>
              <a:r>
                <a:rPr lang="tr-TR" sz="1350" dirty="0">
                  <a:solidFill>
                    <a:srgbClr val="172B3A"/>
                  </a:solidFill>
                  <a:latin typeface="Consolas"/>
                  <a:ea typeface="Consolas"/>
                  <a:cs typeface="Consolas"/>
                </a:rPr>
                <a:t>| { basarili: true; kullaniciKimligi: number }</a:t>
              </a:r>
              <a:br/>
              <a:r>
                <a:rPr lang="tr-TR" sz="1350" dirty="0">
                  <a:solidFill>
                    <a:srgbClr val="172B3A"/>
                  </a:solidFill>
                  <a:latin typeface="Consolas"/>
                  <a:ea typeface="Consolas"/>
                  <a:cs typeface="Consolas"/>
                </a:rPr>
                <a:t>| { basarili: false; hataMesaji: string };</a:t>
              </a:r>
              <a:br/>
              <a:r>
                <a:rPr lang="tr-TR" sz="1350" dirty="0">
                  <a:solidFill>
                    <a:srgbClr val="2E86AB"/>
                  </a:solidFill>
                  <a:latin typeface="Consolas"/>
                  <a:ea typeface="Consolas"/>
                  <a:cs typeface="Consolas"/>
                </a:rPr>
                <a:t>function</a:t>
              </a:r>
              <a:r>
                <a:rPr lang="tr-TR" sz="1350" dirty="0">
                  <a:solidFill>
                    <a:srgbClr val="172B3A"/>
                  </a:solidFill>
                  <a:latin typeface="Consolas"/>
                  <a:ea typeface="Consolas"/>
                  <a:cs typeface="Consolas"/>
                </a:rPr>
                <a:t xml:space="preserve"> kayitMesaji(sonuc: KayitSonucu) {</a:t>
              </a:r>
              <a:br/>
              <a:r>
                <a:rPr lang="tr-TR" sz="1350" dirty="0">
                  <a:solidFill>
                    <a:srgbClr val="2E86AB"/>
                  </a:solidFill>
                  <a:latin typeface="Consolas"/>
                  <a:ea typeface="Consolas"/>
                  <a:cs typeface="Consolas"/>
                </a:rPr>
                <a:t>if</a:t>
              </a:r>
              <a:r>
                <a:rPr lang="tr-TR" sz="1350" dirty="0">
                  <a:solidFill>
                    <a:srgbClr val="172B3A"/>
                  </a:solidFill>
                  <a:latin typeface="Consolas"/>
                  <a:ea typeface="Consolas"/>
                  <a:cs typeface="Consolas"/>
                </a:rPr>
                <a:t xml:space="preserve"> (sonuc.basarili) {</a:t>
              </a:r>
              <a:br/>
              <a:r>
                <a:rPr lang="tr-TR" sz="1350" dirty="0">
                  <a:solidFill>
                    <a:srgbClr val="172B3A"/>
                  </a:solidFill>
                  <a:latin typeface="Consolas"/>
                  <a:ea typeface="Consolas"/>
                  <a:cs typeface="Consolas"/>
                </a:rPr>
                <a:t>return `Oluşturuldu: ${sonuc.kullaniciKimligi}`;</a:t>
              </a:r>
              <a:br/>
              <a:r>
                <a:rPr lang="tr-TR" sz="1350" dirty="0">
                  <a:solidFill>
                    <a:srgbClr val="172B3A"/>
                  </a:solidFill>
                  <a:latin typeface="Consolas"/>
                  <a:ea typeface="Consolas"/>
                  <a:cs typeface="Consolas"/>
                </a:rPr>
                <a:t>}</a:t>
              </a:r>
              <a:br/>
              <a:r>
                <a:rPr lang="tr-TR" sz="1350" dirty="0">
                  <a:solidFill>
                    <a:srgbClr val="2E86AB"/>
                  </a:solidFill>
                  <a:latin typeface="Consolas"/>
                  <a:ea typeface="Consolas"/>
                  <a:cs typeface="Consolas"/>
                </a:rPr>
                <a:t>return</a:t>
              </a:r>
              <a:r>
                <a:rPr lang="tr-TR" sz="1350" dirty="0">
                  <a:solidFill>
                    <a:srgbClr val="172B3A"/>
                  </a:solidFill>
                  <a:latin typeface="Consolas"/>
                  <a:ea typeface="Consolas"/>
                  <a:cs typeface="Consolas"/>
                </a:rPr>
                <a:t xml:space="preserve"> `Başarısız: ${sonuc.hataMesaji}`;</a:t>
              </a:r>
              <a:br/>
              <a:r>
                <a:rPr lang="tr-TR" sz="1350" dirty="0">
                  <a:solidFill>
                    <a:srgbClr val="172B3A"/>
                  </a:solidFill>
                  <a:latin typeface="Consolas"/>
                  <a:ea typeface="Consolas"/>
                  <a:cs typeface="Consolas"/>
                </a:rPr>
                <a:t>}</a:t>
              </a:r>
            </a:p>
          </p:txBody>
        </p:sp>
      </p:grpSp>
      <p:grpSp>
        <p:nvGrpSpPr>
          <p:cNvPr id="20" name="branch-success"/>
          <p:cNvGrpSpPr/>
          <p:nvPr/>
        </p:nvGrpSpPr>
        <p:grpSpPr>
          <a:xfrm>
            <a:off x="7200900" y="1428750"/>
            <a:ext cx="4381500" cy="1428750"/>
            <a:chOff x="7200900" y="1428750"/>
            <a:chExt cx="4381500" cy="1428750"/>
          </a:xfrm>
        </p:grpSpPr>
        <p:sp>
          <p:nvSpPr>
            <p:cNvPr id="16" name="Rectangle 16"/>
            <p:cNvSpPr/>
            <p:nvPr/>
          </p:nvSpPr>
          <p:spPr>
            <a:xfrm>
              <a:off x="7200900" y="1428750"/>
              <a:ext cx="4381500" cy="1428750"/>
            </a:xfrm>
            <a:prstGeom prst="roundRect">
              <a:avLst>
                <a:gd name="adj" fmla="val 5333"/>
              </a:avLst>
            </a:prstGeom>
            <a:solidFill>
              <a:srgbClr val="FFFFFF"/>
            </a:solidFill>
            <a:ln w="14288">
              <a:solidFill>
                <a:srgbClr val="00A6A6"/>
              </a:solidFill>
            </a:ln>
          </p:spPr>
        </p:sp>
        <p:sp>
          <p:nvSpPr>
            <p:cNvPr id="17" name="TextBox 17"/>
            <p:cNvSpPr txBox="1"/>
            <p:nvPr/>
          </p:nvSpPr>
          <p:spPr>
            <a:xfrm>
              <a:off x="7421499" y="1658779"/>
              <a:ext cx="165378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Consolas"/>
                  <a:ea typeface="Consolas"/>
                  <a:cs typeface="Consolas"/>
                </a:rPr>
                <a:t>basarili: true</a:t>
              </a:r>
            </a:p>
          </p:txBody>
        </p:sp>
        <p:sp>
          <p:nvSpPr>
            <p:cNvPr id="18" name="TextBox 18"/>
            <p:cNvSpPr txBox="1"/>
            <p:nvPr/>
          </p:nvSpPr>
          <p:spPr>
            <a:xfrm>
              <a:off x="7423404" y="2061210"/>
              <a:ext cx="2191512" cy="463296"/>
            </a:xfrm>
            <a:prstGeom prst="rect">
              <a:avLst/>
            </a:prstGeom>
            <a:noFill/>
            <a:ln>
              <a:noFill/>
            </a:ln>
          </p:spPr>
          <p:txBody>
            <a:bodyPr wrap="none" lIns="0" tIns="0" rIns="0" bIns="0" anchor="t" anchorCtr="0">
              <a:spAutoFit/>
            </a:bodyPr>
            <a:lstStyle/>
            <a:p>
              <a:pPr algn="l">
                <a:lnSpc>
                  <a:spcPts val="1800"/>
                </a:lnSpc>
              </a:pPr>
              <a:r>
                <a:rPr lang="tr-TR" sz="1200" dirty="0">
                  <a:solidFill>
                    <a:srgbClr val="172B3A"/>
                  </a:solidFill>
                  <a:latin typeface="+mn-lt"/>
                  <a:ea typeface="+mn-ea"/>
                  <a:cs typeface="+mn-cs"/>
                </a:rPr>
                <a:t>Yalnızca bu dalda erişilebilir:</a:t>
              </a:r>
              <a:br/>
              <a:r>
                <a:rPr lang="tr-TR" sz="1200" dirty="0">
                  <a:solidFill>
                    <a:srgbClr val="172B3A"/>
                  </a:solidFill>
                  <a:latin typeface="Consolas"/>
                  <a:ea typeface="Consolas"/>
                  <a:cs typeface="Consolas"/>
                </a:rPr>
                <a:t>kullaniciKimligi: number</a:t>
              </a:r>
            </a:p>
          </p:txBody>
        </p:sp>
        <p:sp>
          <p:nvSpPr>
            <p:cNvPr id="19" name="TextBox 19"/>
            <p:cNvSpPr txBox="1"/>
            <p:nvPr/>
          </p:nvSpPr>
          <p:spPr>
            <a:xfrm>
              <a:off x="7423404" y="2575560"/>
              <a:ext cx="282819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hataMesaji burada tanımlı değildir.</a:t>
              </a:r>
            </a:p>
          </p:txBody>
        </p:sp>
      </p:grpSp>
      <p:grpSp>
        <p:nvGrpSpPr>
          <p:cNvPr id="25" name="branch-failure"/>
          <p:cNvGrpSpPr/>
          <p:nvPr/>
        </p:nvGrpSpPr>
        <p:grpSpPr>
          <a:xfrm>
            <a:off x="7200900" y="3143250"/>
            <a:ext cx="4381500" cy="1428750"/>
            <a:chOff x="7200900" y="3143250"/>
            <a:chExt cx="4381500" cy="1428750"/>
          </a:xfrm>
        </p:grpSpPr>
        <p:sp>
          <p:nvSpPr>
            <p:cNvPr id="21" name="Rectangle 21"/>
            <p:cNvSpPr/>
            <p:nvPr/>
          </p:nvSpPr>
          <p:spPr>
            <a:xfrm>
              <a:off x="7200900" y="3143250"/>
              <a:ext cx="4381500" cy="1428750"/>
            </a:xfrm>
            <a:prstGeom prst="roundRect">
              <a:avLst>
                <a:gd name="adj" fmla="val 5333"/>
              </a:avLst>
            </a:prstGeom>
            <a:solidFill>
              <a:srgbClr val="FFFFFF"/>
            </a:solidFill>
            <a:ln w="14288">
              <a:solidFill>
                <a:srgbClr val="B8CBD3"/>
              </a:solidFill>
            </a:ln>
          </p:spPr>
        </p:sp>
        <p:sp>
          <p:nvSpPr>
            <p:cNvPr id="22" name="TextBox 22"/>
            <p:cNvSpPr txBox="1"/>
            <p:nvPr/>
          </p:nvSpPr>
          <p:spPr>
            <a:xfrm>
              <a:off x="7421499" y="3373279"/>
              <a:ext cx="1770774" cy="308039"/>
            </a:xfrm>
            <a:prstGeom prst="rect">
              <a:avLst/>
            </a:prstGeom>
            <a:noFill/>
            <a:ln>
              <a:noFill/>
            </a:ln>
          </p:spPr>
          <p:txBody>
            <a:bodyPr wrap="none" lIns="0" tIns="0" rIns="0" bIns="0" anchor="t" anchorCtr="0">
              <a:spAutoFit/>
            </a:bodyPr>
            <a:lstStyle/>
            <a:p>
              <a:pPr algn="l"/>
              <a:r>
                <a:rPr lang="tr-TR" sz="1580" b="1" dirty="0">
                  <a:solidFill>
                    <a:srgbClr val="52616B"/>
                  </a:solidFill>
                  <a:latin typeface="Consolas"/>
                  <a:ea typeface="Consolas"/>
                  <a:cs typeface="Consolas"/>
                </a:rPr>
                <a:t>basarili: false</a:t>
              </a:r>
            </a:p>
          </p:txBody>
        </p:sp>
        <p:sp>
          <p:nvSpPr>
            <p:cNvPr id="23" name="TextBox 23"/>
            <p:cNvSpPr txBox="1"/>
            <p:nvPr/>
          </p:nvSpPr>
          <p:spPr>
            <a:xfrm>
              <a:off x="7423404" y="3775710"/>
              <a:ext cx="2191512" cy="463296"/>
            </a:xfrm>
            <a:prstGeom prst="rect">
              <a:avLst/>
            </a:prstGeom>
            <a:noFill/>
            <a:ln>
              <a:noFill/>
            </a:ln>
          </p:spPr>
          <p:txBody>
            <a:bodyPr wrap="none" lIns="0" tIns="0" rIns="0" bIns="0" anchor="t" anchorCtr="0">
              <a:spAutoFit/>
            </a:bodyPr>
            <a:lstStyle/>
            <a:p>
              <a:pPr algn="l">
                <a:lnSpc>
                  <a:spcPts val="1800"/>
                </a:lnSpc>
              </a:pPr>
              <a:r>
                <a:rPr lang="tr-TR" sz="1200" dirty="0">
                  <a:solidFill>
                    <a:srgbClr val="172B3A"/>
                  </a:solidFill>
                  <a:latin typeface="+mn-lt"/>
                  <a:ea typeface="+mn-ea"/>
                  <a:cs typeface="+mn-cs"/>
                </a:rPr>
                <a:t>Yalnızca bu dalda erişilebilir:</a:t>
              </a:r>
              <a:br/>
              <a:r>
                <a:rPr lang="tr-TR" sz="1200" dirty="0">
                  <a:solidFill>
                    <a:srgbClr val="172B3A"/>
                  </a:solidFill>
                  <a:latin typeface="Consolas"/>
                  <a:ea typeface="Consolas"/>
                  <a:cs typeface="Consolas"/>
                </a:rPr>
                <a:t>hataMesaji: string</a:t>
              </a:r>
            </a:p>
          </p:txBody>
        </p:sp>
        <p:sp>
          <p:nvSpPr>
            <p:cNvPr id="24" name="TextBox 24"/>
            <p:cNvSpPr txBox="1"/>
            <p:nvPr/>
          </p:nvSpPr>
          <p:spPr>
            <a:xfrm>
              <a:off x="7423404" y="4290060"/>
              <a:ext cx="239978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kullaniciKimligi burada yoktur.</a:t>
              </a:r>
            </a:p>
          </p:txBody>
        </p:sp>
      </p:grpSp>
      <p:grpSp>
        <p:nvGrpSpPr>
          <p:cNvPr id="29" name="discriminator-note"/>
          <p:cNvGrpSpPr/>
          <p:nvPr/>
        </p:nvGrpSpPr>
        <p:grpSpPr>
          <a:xfrm>
            <a:off x="609600" y="4857750"/>
            <a:ext cx="10972800" cy="1109567"/>
            <a:chOff x="609600" y="4857750"/>
            <a:chExt cx="10972800" cy="1109567"/>
          </a:xfrm>
        </p:grpSpPr>
        <p:sp>
          <p:nvSpPr>
            <p:cNvPr id="26" name="Rectangle 26"/>
            <p:cNvSpPr/>
            <p:nvPr/>
          </p:nvSpPr>
          <p:spPr>
            <a:xfrm>
              <a:off x="609600" y="4857750"/>
              <a:ext cx="10972800" cy="1047750"/>
            </a:xfrm>
            <a:prstGeom prst="roundRect">
              <a:avLst>
                <a:gd name="adj" fmla="val 7273"/>
              </a:avLst>
            </a:prstGeom>
            <a:solidFill>
              <a:srgbClr val="EAF4F6"/>
            </a:solidFill>
            <a:ln>
              <a:noFill/>
            </a:ln>
          </p:spPr>
        </p:sp>
        <p:sp>
          <p:nvSpPr>
            <p:cNvPr id="27" name="TextBox 27"/>
            <p:cNvSpPr txBox="1"/>
            <p:nvPr/>
          </p:nvSpPr>
          <p:spPr>
            <a:xfrm>
              <a:off x="905256" y="5025390"/>
              <a:ext cx="194701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Ayırt edici alan</a:t>
              </a:r>
            </a:p>
          </p:txBody>
        </p:sp>
        <p:sp>
          <p:nvSpPr>
            <p:cNvPr id="28" name="TextBox 28"/>
            <p:cNvSpPr txBox="1"/>
            <p:nvPr/>
          </p:nvSpPr>
          <p:spPr>
            <a:xfrm>
              <a:off x="906399" y="5373529"/>
              <a:ext cx="8574151" cy="59378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basarili alanı, paketin üzerindeki "teslim edildi" veya "teslim edilemedi" etiketi gibidir;</a:t>
              </a:r>
              <a:br/>
              <a:r>
                <a:rPr lang="tr-TR" sz="1580" dirty="0">
                  <a:solidFill>
                    <a:srgbClr val="172B3A"/>
                  </a:solidFill>
                  <a:latin typeface="+mn-lt"/>
                  <a:ea typeface="+mn-ea"/>
                  <a:cs typeface="+mn-cs"/>
                </a:rPr>
                <a:t>etikete bakarak hangi ayrıntının güvenle okunabileceğini anlarsınız.</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340853" cy="668845"/>
            <a:chOff x="609600" y="171450"/>
            <a:chExt cx="7340853"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6650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Generic: tür bağımsız API sonucu</a:t>
              </a:r>
            </a:p>
          </p:txBody>
        </p:sp>
      </p:grpSp>
      <p:grpSp>
        <p:nvGrpSpPr>
          <p:cNvPr id="16" name="code-generic"/>
          <p:cNvGrpSpPr/>
          <p:nvPr/>
        </p:nvGrpSpPr>
        <p:grpSpPr>
          <a:xfrm>
            <a:off x="609600" y="1333500"/>
            <a:ext cx="10972800" cy="2000250"/>
            <a:chOff x="609600" y="1333500"/>
            <a:chExt cx="10972800" cy="2000250"/>
          </a:xfrm>
        </p:grpSpPr>
        <p:sp>
          <p:nvSpPr>
            <p:cNvPr id="13" name="Rectangle 13"/>
            <p:cNvSpPr/>
            <p:nvPr/>
          </p:nvSpPr>
          <p:spPr>
            <a:xfrm>
              <a:off x="609600" y="1333500"/>
              <a:ext cx="10972800" cy="2000250"/>
            </a:xfrm>
            <a:prstGeom prst="roundRect">
              <a:avLst>
                <a:gd name="adj" fmla="val 3810"/>
              </a:avLst>
            </a:prstGeom>
            <a:solidFill>
              <a:srgbClr val="EAF4F6"/>
            </a:solidFill>
            <a:ln w="14288">
              <a:solidFill>
                <a:srgbClr val="B8CBD3"/>
              </a:solidFill>
            </a:ln>
          </p:spPr>
        </p:sp>
        <p:sp>
          <p:nvSpPr>
            <p:cNvPr id="14" name="TextBox 14"/>
            <p:cNvSpPr txBox="1"/>
            <p:nvPr/>
          </p:nvSpPr>
          <p:spPr>
            <a:xfrm>
              <a:off x="832104" y="1489710"/>
              <a:ext cx="2532507"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Kod 3.9 — GenericApiSonucu.ts</a:t>
              </a:r>
            </a:p>
          </p:txBody>
        </p:sp>
        <p:sp>
          <p:nvSpPr>
            <p:cNvPr id="15" name="TextBox 15"/>
            <p:cNvSpPr txBox="1"/>
            <p:nvPr/>
          </p:nvSpPr>
          <p:spPr>
            <a:xfrm>
              <a:off x="831342" y="1816418"/>
              <a:ext cx="7840409" cy="1502283"/>
            </a:xfrm>
            <a:prstGeom prst="rect">
              <a:avLst/>
            </a:prstGeom>
            <a:noFill/>
            <a:ln>
              <a:noFill/>
            </a:ln>
          </p:spPr>
          <p:txBody>
            <a:bodyPr wrap="none" lIns="0" tIns="0" rIns="0" bIns="0" anchor="t" anchorCtr="0">
              <a:spAutoFit/>
            </a:bodyPr>
            <a:lstStyle/>
            <a:p>
              <a:pPr algn="l">
                <a:lnSpc>
                  <a:spcPts val="1950"/>
                </a:lnSpc>
              </a:pPr>
              <a:r>
                <a:rPr lang="tr-TR" sz="1350" dirty="0">
                  <a:solidFill>
                    <a:srgbClr val="2E86AB"/>
                  </a:solidFill>
                  <a:latin typeface="Consolas"/>
                  <a:ea typeface="Consolas"/>
                  <a:cs typeface="Consolas"/>
                </a:rPr>
                <a:t>interface</a:t>
              </a:r>
              <a:r>
                <a:rPr lang="tr-TR" sz="1350" dirty="0">
                  <a:solidFill>
                    <a:srgbClr val="172B3A"/>
                  </a:solidFill>
                  <a:latin typeface="Consolas"/>
                  <a:ea typeface="Consolas"/>
                  <a:cs typeface="Consolas"/>
                </a:rPr>
                <a:t xml:space="preserve"> ApiSonucu&lt;T&gt; { basarili: boolean; mesaj: string; veri?: T; }</a:t>
              </a:r>
              <a:br/>
              <a:r>
                <a:rPr lang="tr-TR" sz="1350" dirty="0">
                  <a:solidFill>
                    <a:srgbClr val="2E86AB"/>
                  </a:solidFill>
                  <a:latin typeface="Consolas"/>
                  <a:ea typeface="Consolas"/>
                  <a:cs typeface="Consolas"/>
                </a:rPr>
                <a:t>function</a:t>
              </a:r>
              <a:r>
                <a:rPr lang="tr-TR" sz="1350" dirty="0">
                  <a:solidFill>
                    <a:srgbClr val="172B3A"/>
                  </a:solidFill>
                  <a:latin typeface="Consolas"/>
                  <a:ea typeface="Consolas"/>
                  <a:cs typeface="Consolas"/>
                </a:rPr>
                <a:t xml:space="preserve"> basariliSonuc&lt;T&gt;(veri: T, mesaj: string): ApiSonucu&lt;T&gt; {</a:t>
              </a:r>
              <a:br/>
              <a:r>
                <a:rPr lang="tr-TR" sz="1350" dirty="0">
                  <a:solidFill>
                    <a:srgbClr val="2E86AB"/>
                  </a:solidFill>
                  <a:latin typeface="Consolas"/>
                  <a:ea typeface="Consolas"/>
                  <a:cs typeface="Consolas"/>
                </a:rPr>
                <a:t>return</a:t>
              </a:r>
              <a:r>
                <a:rPr lang="tr-TR" sz="1350" dirty="0">
                  <a:solidFill>
                    <a:srgbClr val="172B3A"/>
                  </a:solidFill>
                  <a:latin typeface="Consolas"/>
                  <a:ea typeface="Consolas"/>
                  <a:cs typeface="Consolas"/>
                </a:rPr>
                <a:t xml:space="preserve"> { basarili: true, mesaj, veri };</a:t>
              </a:r>
              <a:br/>
              <a:r>
                <a:rPr lang="tr-TR" sz="1350" dirty="0">
                  <a:solidFill>
                    <a:srgbClr val="172B3A"/>
                  </a:solidFill>
                  <a:latin typeface="Consolas"/>
                  <a:ea typeface="Consolas"/>
                  <a:cs typeface="Consolas"/>
                </a:rPr>
                <a:t>}</a:t>
              </a:r>
              <a:b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kitapSonucu = basariliSonuc&lt;Kitap&gt;({ kimlik: 3, ad: </a:t>
              </a:r>
              <a:r>
                <a:rPr lang="tr-TR" sz="1350" dirty="0">
                  <a:solidFill>
                    <a:srgbClr val="2E7D32"/>
                  </a:solidFill>
                  <a:latin typeface="Consolas"/>
                  <a:ea typeface="Consolas"/>
                  <a:cs typeface="Consolas"/>
                </a:rPr>
                <a:t>"Node.js"</a:t>
              </a:r>
              <a:r>
                <a:rPr lang="tr-TR" sz="1350" dirty="0">
                  <a:solidFill>
                    <a:srgbClr val="172B3A"/>
                  </a:solidFill>
                  <a:latin typeface="Consolas"/>
                  <a:ea typeface="Consolas"/>
                  <a:cs typeface="Consolas"/>
                </a:rPr>
                <a:t xml:space="preserve"> }, </a:t>
              </a:r>
              <a:r>
                <a:rPr lang="tr-TR" sz="1350" dirty="0">
                  <a:solidFill>
                    <a:srgbClr val="2E7D32"/>
                  </a:solidFill>
                  <a:latin typeface="Consolas"/>
                  <a:ea typeface="Consolas"/>
                  <a:cs typeface="Consolas"/>
                </a:rPr>
                <a:t>"Bulundu."</a:t>
              </a:r>
              <a:r>
                <a:rPr lang="tr-TR" sz="1350" dirty="0">
                  <a:solidFill>
                    <a:srgbClr val="172B3A"/>
                  </a:solidFill>
                  <a:latin typeface="Consolas"/>
                  <a:ea typeface="Consolas"/>
                  <a:cs typeface="Consolas"/>
                </a:rPr>
                <a:t>);</a:t>
              </a:r>
              <a:br/>
              <a:r>
                <a:rPr lang="tr-TR" sz="1350" dirty="0">
                  <a:solidFill>
                    <a:srgbClr val="172B3A"/>
                  </a:solidFill>
                  <a:latin typeface="Consolas"/>
                  <a:ea typeface="Consolas"/>
                  <a:cs typeface="Consolas"/>
                </a:rPr>
                <a:t xml:space="preserve">console.log(kitapSonucu.veri?.ad); </a:t>
              </a:r>
              <a:r>
                <a:rPr lang="tr-TR" sz="1350" dirty="0">
                  <a:solidFill>
                    <a:srgbClr val="52616B"/>
                  </a:solidFill>
                  <a:latin typeface="Consolas"/>
                  <a:ea typeface="Consolas"/>
                  <a:cs typeface="Consolas"/>
                </a:rPr>
                <a:t>// Çıktı: Node.js</a:t>
              </a:r>
            </a:p>
          </p:txBody>
        </p:sp>
      </p:grpSp>
      <p:grpSp>
        <p:nvGrpSpPr>
          <p:cNvPr id="20" name="instance-kullanici"/>
          <p:cNvGrpSpPr/>
          <p:nvPr/>
        </p:nvGrpSpPr>
        <p:grpSpPr>
          <a:xfrm>
            <a:off x="609600" y="3810000"/>
            <a:ext cx="3505200" cy="857250"/>
            <a:chOff x="609600" y="3810000"/>
            <a:chExt cx="3505200" cy="857250"/>
          </a:xfrm>
        </p:grpSpPr>
        <p:sp>
          <p:nvSpPr>
            <p:cNvPr id="17" name="Rectangle 17"/>
            <p:cNvSpPr/>
            <p:nvPr/>
          </p:nvSpPr>
          <p:spPr>
            <a:xfrm>
              <a:off x="609600" y="3810000"/>
              <a:ext cx="3505200" cy="857250"/>
            </a:xfrm>
            <a:prstGeom prst="roundRect">
              <a:avLst>
                <a:gd name="adj" fmla="val 11111"/>
              </a:avLst>
            </a:prstGeom>
            <a:solidFill>
              <a:srgbClr val="FFFFFF"/>
            </a:solidFill>
            <a:ln w="14288">
              <a:solidFill>
                <a:srgbClr val="00A6A6"/>
              </a:solidFill>
            </a:ln>
          </p:spPr>
        </p:sp>
        <p:sp>
          <p:nvSpPr>
            <p:cNvPr id="18" name="TextBox 18"/>
            <p:cNvSpPr txBox="1"/>
            <p:nvPr/>
          </p:nvSpPr>
          <p:spPr>
            <a:xfrm>
              <a:off x="1173315" y="4020979"/>
              <a:ext cx="2377770" cy="308039"/>
            </a:xfrm>
            <a:prstGeom prst="rect">
              <a:avLst/>
            </a:prstGeom>
            <a:noFill/>
            <a:ln>
              <a:noFill/>
            </a:ln>
          </p:spPr>
          <p:txBody>
            <a:bodyPr wrap="none" lIns="0" tIns="0" rIns="0" bIns="0" anchor="t" anchorCtr="0">
              <a:spAutoFit/>
            </a:bodyPr>
            <a:lstStyle/>
            <a:p>
              <a:pPr algn="ctr"/>
              <a:r>
                <a:rPr lang="tr-TR" sz="1580" dirty="0">
                  <a:solidFill>
                    <a:srgbClr val="12355B"/>
                  </a:solidFill>
                  <a:latin typeface="Consolas"/>
                  <a:ea typeface="Consolas"/>
                  <a:cs typeface="Consolas"/>
                </a:rPr>
                <a:t>ApiSonucu&lt;Kullanici&gt;</a:t>
              </a:r>
            </a:p>
          </p:txBody>
        </p:sp>
        <p:sp>
          <p:nvSpPr>
            <p:cNvPr id="19" name="TextBox 19"/>
            <p:cNvSpPr txBox="1"/>
            <p:nvPr/>
          </p:nvSpPr>
          <p:spPr>
            <a:xfrm>
              <a:off x="1356003" y="4328160"/>
              <a:ext cx="2012394"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veri: Kullanici | undefined</a:t>
              </a:r>
            </a:p>
          </p:txBody>
        </p:sp>
      </p:grpSp>
      <p:grpSp>
        <p:nvGrpSpPr>
          <p:cNvPr id="24" name="instance-kitap"/>
          <p:cNvGrpSpPr/>
          <p:nvPr/>
        </p:nvGrpSpPr>
        <p:grpSpPr>
          <a:xfrm>
            <a:off x="4343400" y="3810000"/>
            <a:ext cx="3505200" cy="857250"/>
            <a:chOff x="4343400" y="3810000"/>
            <a:chExt cx="3505200" cy="857250"/>
          </a:xfrm>
        </p:grpSpPr>
        <p:sp>
          <p:nvSpPr>
            <p:cNvPr id="21" name="Rectangle 21"/>
            <p:cNvSpPr/>
            <p:nvPr/>
          </p:nvSpPr>
          <p:spPr>
            <a:xfrm>
              <a:off x="4343400" y="3810000"/>
              <a:ext cx="3505200" cy="857250"/>
            </a:xfrm>
            <a:prstGeom prst="roundRect">
              <a:avLst>
                <a:gd name="adj" fmla="val 11111"/>
              </a:avLst>
            </a:prstGeom>
            <a:solidFill>
              <a:srgbClr val="FFFFFF"/>
            </a:solidFill>
            <a:ln w="14288">
              <a:solidFill>
                <a:srgbClr val="00A6A6"/>
              </a:solidFill>
            </a:ln>
          </p:spPr>
        </p:sp>
        <p:sp>
          <p:nvSpPr>
            <p:cNvPr id="22" name="TextBox 22"/>
            <p:cNvSpPr txBox="1"/>
            <p:nvPr/>
          </p:nvSpPr>
          <p:spPr>
            <a:xfrm>
              <a:off x="5140769" y="4020979"/>
              <a:ext cx="1910462" cy="308039"/>
            </a:xfrm>
            <a:prstGeom prst="rect">
              <a:avLst/>
            </a:prstGeom>
            <a:noFill/>
            <a:ln>
              <a:noFill/>
            </a:ln>
          </p:spPr>
          <p:txBody>
            <a:bodyPr wrap="none" lIns="0" tIns="0" rIns="0" bIns="0" anchor="t" anchorCtr="0">
              <a:spAutoFit/>
            </a:bodyPr>
            <a:lstStyle/>
            <a:p>
              <a:pPr algn="ctr"/>
              <a:r>
                <a:rPr lang="tr-TR" sz="1580" dirty="0">
                  <a:solidFill>
                    <a:srgbClr val="12355B"/>
                  </a:solidFill>
                  <a:latin typeface="Consolas"/>
                  <a:ea typeface="Consolas"/>
                  <a:cs typeface="Consolas"/>
                </a:rPr>
                <a:t>ApiSonucu&lt;Kitap&gt;</a:t>
              </a:r>
            </a:p>
          </p:txBody>
        </p:sp>
        <p:sp>
          <p:nvSpPr>
            <p:cNvPr id="23" name="TextBox 23"/>
            <p:cNvSpPr txBox="1"/>
            <p:nvPr/>
          </p:nvSpPr>
          <p:spPr>
            <a:xfrm>
              <a:off x="5206721" y="4328160"/>
              <a:ext cx="1778559"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veri: Kitap | undefined</a:t>
              </a:r>
            </a:p>
          </p:txBody>
        </p:sp>
      </p:grpSp>
      <p:grpSp>
        <p:nvGrpSpPr>
          <p:cNvPr id="28" name="instance-siparis"/>
          <p:cNvGrpSpPr/>
          <p:nvPr/>
        </p:nvGrpSpPr>
        <p:grpSpPr>
          <a:xfrm>
            <a:off x="8077200" y="3810000"/>
            <a:ext cx="3505200" cy="857250"/>
            <a:chOff x="8077200" y="3810000"/>
            <a:chExt cx="3505200" cy="857250"/>
          </a:xfrm>
        </p:grpSpPr>
        <p:sp>
          <p:nvSpPr>
            <p:cNvPr id="25" name="Rectangle 25"/>
            <p:cNvSpPr/>
            <p:nvPr/>
          </p:nvSpPr>
          <p:spPr>
            <a:xfrm>
              <a:off x="8077200" y="3810000"/>
              <a:ext cx="3505200" cy="857250"/>
            </a:xfrm>
            <a:prstGeom prst="roundRect">
              <a:avLst>
                <a:gd name="adj" fmla="val 11111"/>
              </a:avLst>
            </a:prstGeom>
            <a:solidFill>
              <a:srgbClr val="FFFFFF"/>
            </a:solidFill>
            <a:ln w="14288">
              <a:solidFill>
                <a:srgbClr val="00A6A6"/>
              </a:solidFill>
            </a:ln>
          </p:spPr>
        </p:sp>
        <p:sp>
          <p:nvSpPr>
            <p:cNvPr id="26" name="TextBox 26"/>
            <p:cNvSpPr txBox="1"/>
            <p:nvPr/>
          </p:nvSpPr>
          <p:spPr>
            <a:xfrm>
              <a:off x="8757762" y="4020979"/>
              <a:ext cx="2144077" cy="308039"/>
            </a:xfrm>
            <a:prstGeom prst="rect">
              <a:avLst/>
            </a:prstGeom>
            <a:noFill/>
            <a:ln>
              <a:noFill/>
            </a:ln>
          </p:spPr>
          <p:txBody>
            <a:bodyPr wrap="none" lIns="0" tIns="0" rIns="0" bIns="0" anchor="t" anchorCtr="0">
              <a:spAutoFit/>
            </a:bodyPr>
            <a:lstStyle/>
            <a:p>
              <a:pPr algn="ctr"/>
              <a:r>
                <a:rPr lang="tr-TR" sz="1580" dirty="0">
                  <a:solidFill>
                    <a:srgbClr val="12355B"/>
                  </a:solidFill>
                  <a:latin typeface="Consolas"/>
                  <a:ea typeface="Consolas"/>
                  <a:cs typeface="Consolas"/>
                </a:rPr>
                <a:t>ApiSonucu&lt;Siparis&gt;</a:t>
              </a:r>
            </a:p>
          </p:txBody>
        </p:sp>
        <p:sp>
          <p:nvSpPr>
            <p:cNvPr id="27" name="TextBox 27"/>
            <p:cNvSpPr txBox="1"/>
            <p:nvPr/>
          </p:nvSpPr>
          <p:spPr>
            <a:xfrm>
              <a:off x="8871947" y="4328160"/>
              <a:ext cx="1915706"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veri: Siparis | undefined</a:t>
              </a:r>
            </a:p>
          </p:txBody>
        </p:sp>
      </p:grpSp>
      <p:grpSp>
        <p:nvGrpSpPr>
          <p:cNvPr id="32" name="generic-takeaway"/>
          <p:cNvGrpSpPr/>
          <p:nvPr/>
        </p:nvGrpSpPr>
        <p:grpSpPr>
          <a:xfrm>
            <a:off x="609600" y="5048250"/>
            <a:ext cx="10972800" cy="857250"/>
            <a:chOff x="609600" y="5048250"/>
            <a:chExt cx="10972800" cy="857250"/>
          </a:xfrm>
        </p:grpSpPr>
        <p:sp>
          <p:nvSpPr>
            <p:cNvPr id="29" name="Rectangle 29"/>
            <p:cNvSpPr/>
            <p:nvPr/>
          </p:nvSpPr>
          <p:spPr>
            <a:xfrm>
              <a:off x="609600" y="5048250"/>
              <a:ext cx="10972800" cy="857250"/>
            </a:xfrm>
            <a:prstGeom prst="roundRect">
              <a:avLst>
                <a:gd name="adj" fmla="val 8889"/>
              </a:avLst>
            </a:prstGeom>
            <a:solidFill>
              <a:srgbClr val="EAF4F6"/>
            </a:solidFill>
            <a:ln>
              <a:noFill/>
            </a:ln>
          </p:spPr>
        </p:sp>
        <p:sp>
          <p:nvSpPr>
            <p:cNvPr id="30" name="TextBox 30"/>
            <p:cNvSpPr txBox="1"/>
            <p:nvPr/>
          </p:nvSpPr>
          <p:spPr>
            <a:xfrm>
              <a:off x="905256" y="5215890"/>
              <a:ext cx="654031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Tek bir yapı, üç veri modeli, kaybolmayan tip bilgisi.</a:t>
              </a:r>
            </a:p>
          </p:txBody>
        </p:sp>
        <p:sp>
          <p:nvSpPr>
            <p:cNvPr id="31" name="TextBox 31"/>
            <p:cNvSpPr txBox="1"/>
            <p:nvPr/>
          </p:nvSpPr>
          <p:spPr>
            <a:xfrm>
              <a:off x="906399" y="5544979"/>
              <a:ext cx="972188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 çağrı sırasında çıkarılır; kitap sonucunda kullanıcıya ait alanlara yanlışlıkla erişilemez.</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856892" cy="557403"/>
            <a:chOff x="595122" y="282892"/>
            <a:chExt cx="7856892" cy="557403"/>
          </a:xfrm>
        </p:grpSpPr>
        <p:sp>
          <p:nvSpPr>
            <p:cNvPr id="4" name="TextBox 4"/>
            <p:cNvSpPr txBox="1"/>
            <p:nvPr/>
          </p:nvSpPr>
          <p:spPr>
            <a:xfrm>
              <a:off x="595122" y="282892"/>
              <a:ext cx="785689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Strict mode: belirsizliği görünür kılmak</a:t>
              </a:r>
            </a:p>
          </p:txBody>
        </p:sp>
      </p:grpSp>
      <p:grpSp>
        <p:nvGrpSpPr>
          <p:cNvPr id="7" name="strict-lead"/>
          <p:cNvGrpSpPr/>
          <p:nvPr/>
        </p:nvGrpSpPr>
        <p:grpSpPr>
          <a:xfrm>
            <a:off x="600456" y="1386840"/>
            <a:ext cx="9461796" cy="352044"/>
            <a:chOff x="600456" y="1386840"/>
            <a:chExt cx="9461796" cy="352044"/>
          </a:xfrm>
        </p:grpSpPr>
        <p:sp>
          <p:nvSpPr>
            <p:cNvPr id="6" name="TextBox 6"/>
            <p:cNvSpPr txBox="1"/>
            <p:nvPr/>
          </p:nvSpPr>
          <p:spPr>
            <a:xfrm>
              <a:off x="600456" y="1386840"/>
              <a:ext cx="9461796"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 xml:space="preserve">Strict mode, belirsiz veya riskli tip kullanımını </a:t>
              </a:r>
              <a:r>
                <a:rPr lang="tr-TR" sz="1800" b="1" dirty="0">
                  <a:solidFill>
                    <a:srgbClr val="12355B"/>
                  </a:solidFill>
                  <a:latin typeface="+mn-lt"/>
                  <a:ea typeface="+mn-ea"/>
                  <a:cs typeface="+mn-cs"/>
                </a:rPr>
                <a:t>derleme aşamasında</a:t>
              </a:r>
              <a:r>
                <a:rPr lang="tr-TR" sz="1800" dirty="0">
                  <a:solidFill>
                    <a:srgbClr val="172B3A"/>
                  </a:solidFill>
                  <a:latin typeface="+mn-lt"/>
                  <a:ea typeface="+mn-ea"/>
                  <a:cs typeface="+mn-cs"/>
                </a:rPr>
                <a:t xml:space="preserve"> raporlar.</a:t>
              </a:r>
            </a:p>
          </p:txBody>
        </p:sp>
      </p:grpSp>
      <p:grpSp>
        <p:nvGrpSpPr>
          <p:cNvPr id="11" name="code-strict"/>
          <p:cNvGrpSpPr/>
          <p:nvPr/>
        </p:nvGrpSpPr>
        <p:grpSpPr>
          <a:xfrm>
            <a:off x="609600" y="1905000"/>
            <a:ext cx="6286500" cy="2857500"/>
            <a:chOff x="609600" y="1905000"/>
            <a:chExt cx="6286500" cy="2857500"/>
          </a:xfrm>
        </p:grpSpPr>
        <p:sp>
          <p:nvSpPr>
            <p:cNvPr id="8" name="Rectangle 8"/>
            <p:cNvSpPr/>
            <p:nvPr/>
          </p:nvSpPr>
          <p:spPr>
            <a:xfrm>
              <a:off x="609600" y="1905000"/>
              <a:ext cx="6286500" cy="2857500"/>
            </a:xfrm>
            <a:prstGeom prst="roundRect">
              <a:avLst>
                <a:gd name="adj" fmla="val 2667"/>
              </a:avLst>
            </a:prstGeom>
            <a:solidFill>
              <a:srgbClr val="EAF4F6"/>
            </a:solidFill>
            <a:ln w="14288">
              <a:solidFill>
                <a:srgbClr val="B8CBD3"/>
              </a:solidFill>
            </a:ln>
          </p:spPr>
        </p:sp>
        <p:sp>
          <p:nvSpPr>
            <p:cNvPr id="9" name="TextBox 9"/>
            <p:cNvSpPr txBox="1"/>
            <p:nvPr/>
          </p:nvSpPr>
          <p:spPr>
            <a:xfrm>
              <a:off x="832104" y="2061210"/>
              <a:ext cx="2955083"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Kod 3.12 — GuvenliKullaniciArama.ts</a:t>
              </a:r>
            </a:p>
          </p:txBody>
        </p:sp>
        <p:sp>
          <p:nvSpPr>
            <p:cNvPr id="10" name="TextBox 10"/>
            <p:cNvSpPr txBox="1"/>
            <p:nvPr/>
          </p:nvSpPr>
          <p:spPr>
            <a:xfrm>
              <a:off x="831342" y="2387918"/>
              <a:ext cx="4351401" cy="1997583"/>
            </a:xfrm>
            <a:prstGeom prst="rect">
              <a:avLst/>
            </a:prstGeom>
            <a:noFill/>
            <a:ln>
              <a:noFill/>
            </a:ln>
          </p:spPr>
          <p:txBody>
            <a:bodyPr wrap="none" lIns="0" tIns="0" rIns="0" bIns="0" anchor="t" anchorCtr="0">
              <a:spAutoFit/>
            </a:bodyPr>
            <a:lstStyle/>
            <a:p>
              <a:pPr algn="l">
                <a:lnSpc>
                  <a:spcPts val="1950"/>
                </a:lnSpc>
              </a:pPr>
              <a:r>
                <a:rPr lang="tr-TR" sz="1350" dirty="0">
                  <a:solidFill>
                    <a:srgbClr val="2E86AB"/>
                  </a:solidFill>
                  <a:latin typeface="Consolas"/>
                  <a:ea typeface="Consolas"/>
                  <a:cs typeface="Consolas"/>
                </a:rPr>
                <a:t>function</a:t>
              </a:r>
              <a:r>
                <a:rPr lang="tr-TR" sz="1350" dirty="0">
                  <a:solidFill>
                    <a:srgbClr val="172B3A"/>
                  </a:solidFill>
                  <a:latin typeface="Consolas"/>
                  <a:ea typeface="Consolas"/>
                  <a:cs typeface="Consolas"/>
                </a:rPr>
                <a:t xml:space="preserve"> kullaniciBul(liste: Kullanici[],</a:t>
              </a:r>
              <a:br/>
              <a:r>
                <a:rPr lang="tr-TR" sz="1350" dirty="0">
                  <a:solidFill>
                    <a:srgbClr val="172B3A"/>
                  </a:solidFill>
                  <a:latin typeface="Consolas"/>
                  <a:ea typeface="Consolas"/>
                  <a:cs typeface="Consolas"/>
                </a:rPr>
                <a:t>kimlik: number): Kullanici | undefined {</a:t>
              </a:r>
              <a:br/>
              <a:r>
                <a:rPr lang="tr-TR" sz="1350" dirty="0">
                  <a:solidFill>
                    <a:srgbClr val="2E86AB"/>
                  </a:solidFill>
                  <a:latin typeface="Consolas"/>
                  <a:ea typeface="Consolas"/>
                  <a:cs typeface="Consolas"/>
                </a:rPr>
                <a:t>return</a:t>
              </a:r>
              <a:r>
                <a:rPr lang="tr-TR" sz="1350" dirty="0">
                  <a:solidFill>
                    <a:srgbClr val="172B3A"/>
                  </a:solidFill>
                  <a:latin typeface="Consolas"/>
                  <a:ea typeface="Consolas"/>
                  <a:cs typeface="Consolas"/>
                </a:rPr>
                <a:t xml:space="preserve"> liste.find((k) =&gt; k.kimlik === kimlik);</a:t>
              </a:r>
              <a:br/>
              <a:r>
                <a:rPr lang="tr-TR" sz="1350" dirty="0">
                  <a:solidFill>
                    <a:srgbClr val="172B3A"/>
                  </a:solidFill>
                  <a:latin typeface="Consolas"/>
                  <a:ea typeface="Consolas"/>
                  <a:cs typeface="Consolas"/>
                </a:rPr>
                <a:t>}</a:t>
              </a:r>
              <a:b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bulunan = kullaniciBul(kullanicilar, 2);</a:t>
              </a:r>
              <a:br/>
              <a:r>
                <a:rPr lang="tr-TR" sz="1350" dirty="0">
                  <a:solidFill>
                    <a:srgbClr val="2E86AB"/>
                  </a:solidFill>
                  <a:latin typeface="Consolas"/>
                  <a:ea typeface="Consolas"/>
                  <a:cs typeface="Consolas"/>
                </a:rPr>
                <a:t>if</a:t>
              </a:r>
              <a:r>
                <a:rPr lang="tr-TR" sz="1350" dirty="0">
                  <a:solidFill>
                    <a:srgbClr val="172B3A"/>
                  </a:solidFill>
                  <a:latin typeface="Consolas"/>
                  <a:ea typeface="Consolas"/>
                  <a:cs typeface="Consolas"/>
                </a:rPr>
                <a:t xml:space="preserve"> (bulunan === undefined) {</a:t>
              </a:r>
              <a:br/>
              <a:r>
                <a:rPr lang="tr-TR" sz="1350" dirty="0">
                  <a:solidFill>
                    <a:srgbClr val="172B3A"/>
                  </a:solidFill>
                  <a:latin typeface="Consolas"/>
                  <a:ea typeface="Consolas"/>
                  <a:cs typeface="Consolas"/>
                </a:rPr>
                <a:t>console.log(</a:t>
              </a:r>
              <a:r>
                <a:rPr lang="tr-TR" sz="1350" dirty="0">
                  <a:solidFill>
                    <a:srgbClr val="2E7D32"/>
                  </a:solidFill>
                  <a:latin typeface="Consolas"/>
                  <a:ea typeface="Consolas"/>
                  <a:cs typeface="Consolas"/>
                </a:rPr>
                <a:t>"Kullanıcı bulunamadı."</a:t>
              </a:r>
              <a:r>
                <a:rPr lang="tr-TR" sz="1350" dirty="0">
                  <a:solidFill>
                    <a:srgbClr val="172B3A"/>
                  </a:solidFill>
                  <a:latin typeface="Consolas"/>
                  <a:ea typeface="Consolas"/>
                  <a:cs typeface="Consolas"/>
                </a:rPr>
                <a:t>);</a:t>
              </a:r>
              <a:br/>
              <a:r>
                <a:rPr lang="tr-TR" sz="1350" dirty="0">
                  <a:solidFill>
                    <a:srgbClr val="172B3A"/>
                  </a:solidFill>
                  <a:latin typeface="Consolas"/>
                  <a:ea typeface="Consolas"/>
                  <a:cs typeface="Consolas"/>
                </a:rPr>
                <a:t xml:space="preserve">} </a:t>
              </a:r>
              <a:r>
                <a:rPr lang="tr-TR" sz="1350" dirty="0">
                  <a:solidFill>
                    <a:srgbClr val="2E86AB"/>
                  </a:solidFill>
                  <a:latin typeface="Consolas"/>
                  <a:ea typeface="Consolas"/>
                  <a:cs typeface="Consolas"/>
                </a:rPr>
                <a:t>else</a:t>
              </a:r>
              <a:r>
                <a:rPr lang="tr-TR" sz="1350" dirty="0">
                  <a:solidFill>
                    <a:srgbClr val="172B3A"/>
                  </a:solidFill>
                  <a:latin typeface="Consolas"/>
                  <a:ea typeface="Consolas"/>
                  <a:cs typeface="Consolas"/>
                </a:rPr>
                <a:t xml:space="preserve"> { console.log(bulunan.ad); }</a:t>
              </a:r>
            </a:p>
          </p:txBody>
        </p:sp>
      </p:grpSp>
      <p:grpSp>
        <p:nvGrpSpPr>
          <p:cNvPr id="21" name="strict-settings"/>
          <p:cNvGrpSpPr/>
          <p:nvPr/>
        </p:nvGrpSpPr>
        <p:grpSpPr>
          <a:xfrm>
            <a:off x="7190994" y="2037398"/>
            <a:ext cx="3684339" cy="2291620"/>
            <a:chOff x="7190994" y="2037398"/>
            <a:chExt cx="3684339" cy="2291620"/>
          </a:xfrm>
        </p:grpSpPr>
        <p:sp>
          <p:nvSpPr>
            <p:cNvPr id="12" name="TextBox 12"/>
            <p:cNvSpPr txBox="1"/>
            <p:nvPr/>
          </p:nvSpPr>
          <p:spPr>
            <a:xfrm>
              <a:off x="7190994" y="2037398"/>
              <a:ext cx="3253428"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Ayarlar ve kaçış yolları</a:t>
              </a:r>
            </a:p>
          </p:txBody>
        </p:sp>
        <p:sp>
          <p:nvSpPr>
            <p:cNvPr id="13" name="Rectangle 13"/>
            <p:cNvSpPr/>
            <p:nvPr/>
          </p:nvSpPr>
          <p:spPr>
            <a:xfrm>
              <a:off x="7200900" y="2514600"/>
              <a:ext cx="76200" cy="76200"/>
            </a:xfrm>
            <a:prstGeom prst="rect">
              <a:avLst/>
            </a:prstGeom>
            <a:solidFill>
              <a:srgbClr val="00A6A6"/>
            </a:solidFill>
            <a:ln>
              <a:noFill/>
            </a:ln>
          </p:spPr>
        </p:sp>
        <p:sp>
          <p:nvSpPr>
            <p:cNvPr id="14" name="TextBox 14"/>
            <p:cNvSpPr txBox="1"/>
            <p:nvPr/>
          </p:nvSpPr>
          <p:spPr>
            <a:xfrm>
              <a:off x="7421499" y="2420779"/>
              <a:ext cx="342983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"strict": true — en geniş koruma</a:t>
              </a:r>
            </a:p>
          </p:txBody>
        </p:sp>
        <p:sp>
          <p:nvSpPr>
            <p:cNvPr id="15" name="Rectangle 15"/>
            <p:cNvSpPr/>
            <p:nvPr/>
          </p:nvSpPr>
          <p:spPr>
            <a:xfrm>
              <a:off x="7200900" y="3048000"/>
              <a:ext cx="76200" cy="76200"/>
            </a:xfrm>
            <a:prstGeom prst="rect">
              <a:avLst/>
            </a:prstGeom>
            <a:solidFill>
              <a:srgbClr val="00A6A6"/>
            </a:solidFill>
            <a:ln>
              <a:noFill/>
            </a:ln>
          </p:spPr>
        </p:sp>
        <p:sp>
          <p:nvSpPr>
            <p:cNvPr id="16" name="TextBox 16"/>
            <p:cNvSpPr txBox="1"/>
            <p:nvPr/>
          </p:nvSpPr>
          <p:spPr>
            <a:xfrm>
              <a:off x="7421499" y="2954179"/>
              <a:ext cx="345383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strictNullChecks — kademeli geçiş</a:t>
              </a:r>
            </a:p>
          </p:txBody>
        </p:sp>
        <p:sp>
          <p:nvSpPr>
            <p:cNvPr id="17" name="Rectangle 17"/>
            <p:cNvSpPr/>
            <p:nvPr/>
          </p:nvSpPr>
          <p:spPr>
            <a:xfrm>
              <a:off x="7200900" y="3581400"/>
              <a:ext cx="76200" cy="76200"/>
            </a:xfrm>
            <a:prstGeom prst="rect">
              <a:avLst/>
            </a:prstGeom>
            <a:solidFill>
              <a:srgbClr val="B8CBD3"/>
            </a:solidFill>
            <a:ln>
              <a:noFill/>
            </a:ln>
          </p:spPr>
        </p:sp>
        <p:sp>
          <p:nvSpPr>
            <p:cNvPr id="18" name="TextBox 18"/>
            <p:cNvSpPr txBox="1"/>
            <p:nvPr/>
          </p:nvSpPr>
          <p:spPr>
            <a:xfrm>
              <a:off x="7421499" y="3487579"/>
              <a:ext cx="200474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 — riski gizleyebilir</a:t>
              </a:r>
            </a:p>
          </p:txBody>
        </p:sp>
        <p:sp>
          <p:nvSpPr>
            <p:cNvPr id="19" name="Rectangle 19"/>
            <p:cNvSpPr/>
            <p:nvPr/>
          </p:nvSpPr>
          <p:spPr>
            <a:xfrm>
              <a:off x="7200900" y="4114800"/>
              <a:ext cx="76200" cy="76200"/>
            </a:xfrm>
            <a:prstGeom prst="rect">
              <a:avLst/>
            </a:prstGeom>
            <a:solidFill>
              <a:srgbClr val="B8CBD3"/>
            </a:solidFill>
            <a:ln>
              <a:noFill/>
            </a:ln>
          </p:spPr>
        </p:sp>
        <p:sp>
          <p:nvSpPr>
            <p:cNvPr id="20" name="TextBox 20"/>
            <p:cNvSpPr txBox="1"/>
            <p:nvPr/>
          </p:nvSpPr>
          <p:spPr>
            <a:xfrm>
              <a:off x="7421499" y="4020979"/>
              <a:ext cx="315332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 — sessizce undefined üretir</a:t>
              </a:r>
            </a:p>
          </p:txBody>
        </p:sp>
      </p:grpSp>
      <p:grpSp>
        <p:nvGrpSpPr>
          <p:cNvPr id="25" name="strict-takeaway"/>
          <p:cNvGrpSpPr/>
          <p:nvPr/>
        </p:nvGrpSpPr>
        <p:grpSpPr>
          <a:xfrm>
            <a:off x="609600" y="5143500"/>
            <a:ext cx="10972800" cy="857250"/>
            <a:chOff x="609600" y="5143500"/>
            <a:chExt cx="10972800" cy="857250"/>
          </a:xfrm>
        </p:grpSpPr>
        <p:sp>
          <p:nvSpPr>
            <p:cNvPr id="22" name="Rectangle 22"/>
            <p:cNvSpPr/>
            <p:nvPr/>
          </p:nvSpPr>
          <p:spPr>
            <a:xfrm>
              <a:off x="609600" y="5143500"/>
              <a:ext cx="10972800" cy="857250"/>
            </a:xfrm>
            <a:prstGeom prst="roundRect">
              <a:avLst>
                <a:gd name="adj" fmla="val 8889"/>
              </a:avLst>
            </a:prstGeom>
            <a:solidFill>
              <a:srgbClr val="EAF4F6"/>
            </a:solidFill>
            <a:ln>
              <a:noFill/>
            </a:ln>
          </p:spPr>
        </p:sp>
        <p:sp>
          <p:nvSpPr>
            <p:cNvPr id="23" name="TextBox 23"/>
            <p:cNvSpPr txBox="1"/>
            <p:nvPr/>
          </p:nvSpPr>
          <p:spPr>
            <a:xfrm>
              <a:off x="905256" y="5311140"/>
              <a:ext cx="1049187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Dönüş türü Kullanici | undefined, aramanın başarısız olabileceğini sözleşmeye ekler.</a:t>
              </a:r>
            </a:p>
          </p:txBody>
        </p:sp>
        <p:sp>
          <p:nvSpPr>
            <p:cNvPr id="24" name="TextBox 24"/>
            <p:cNvSpPr txBox="1"/>
            <p:nvPr/>
          </p:nvSpPr>
          <p:spPr>
            <a:xfrm>
              <a:off x="906399" y="5640229"/>
              <a:ext cx="736094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Her uyarı, veri akışındaki gerçek bir belirsizliği inceleme fırsatıdır.</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37513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MİMARİ ÇÖZÜM</a:t>
              </a:r>
            </a:p>
          </p:txBody>
        </p:sp>
      </p:grpSp>
      <p:grpSp>
        <p:nvGrpSpPr>
          <p:cNvPr id="21" name="fallacy-erasure"/>
          <p:cNvGrpSpPr/>
          <p:nvPr/>
        </p:nvGrpSpPr>
        <p:grpSpPr>
          <a:xfrm>
            <a:off x="609600" y="1849279"/>
            <a:ext cx="10972800" cy="1313021"/>
            <a:chOff x="609600" y="1849279"/>
            <a:chExt cx="10972800" cy="1313021"/>
          </a:xfrm>
        </p:grpSpPr>
        <p:sp>
          <p:nvSpPr>
            <p:cNvPr id="17" name="TextBox 17"/>
            <p:cNvSpPr txBox="1"/>
            <p:nvPr/>
          </p:nvSpPr>
          <p:spPr>
            <a:xfrm>
              <a:off x="753999" y="1849279"/>
              <a:ext cx="2491645"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"Interface tanımladım;</a:t>
              </a:r>
              <a:br/>
              <a:r>
                <a:rPr lang="tr-TR" sz="1580" b="1" dirty="0">
                  <a:solidFill>
                    <a:srgbClr val="12355B"/>
                  </a:solidFill>
                  <a:latin typeface="+mn-lt"/>
                  <a:ea typeface="+mn-ea"/>
                  <a:cs typeface="+mn-cs"/>
                </a:rPr>
                <a:t>dışarıdan gelen JSON</a:t>
              </a:r>
              <a:br/>
              <a:r>
                <a:rPr lang="tr-TR" sz="1580" b="1" dirty="0">
                  <a:solidFill>
                    <a:srgbClr val="12355B"/>
                  </a:solidFill>
                  <a:latin typeface="+mn-lt"/>
                  <a:ea typeface="+mn-ea"/>
                  <a:cs typeface="+mn-cs"/>
                </a:rPr>
                <a:t>otomatik bu tipe uyar."</a:t>
              </a:r>
            </a:p>
          </p:txBody>
        </p:sp>
        <p:sp>
          <p:nvSpPr>
            <p:cNvPr id="18" name="TextBox 18"/>
            <p:cNvSpPr txBox="1"/>
            <p:nvPr/>
          </p:nvSpPr>
          <p:spPr>
            <a:xfrm>
              <a:off x="4375404" y="1889760"/>
              <a:ext cx="33649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Tipler derleme sonrası tamamen silinir</a:t>
              </a:r>
              <a:br/>
              <a:r>
                <a:rPr lang="tr-TR" sz="1200" dirty="0">
                  <a:solidFill>
                    <a:srgbClr val="172B3A"/>
                  </a:solidFill>
                  <a:latin typeface="+mn-lt"/>
                  <a:ea typeface="+mn-ea"/>
                  <a:cs typeface="+mn-cs"/>
                </a:rPr>
                <a:t>(type erasure). Çalışma zamanında yalnızca</a:t>
              </a:r>
              <a:br/>
              <a:r>
                <a:rPr lang="tr-TR" sz="1200" dirty="0">
                  <a:solidFill>
                    <a:srgbClr val="172B3A"/>
                  </a:solidFill>
                  <a:latin typeface="+mn-lt"/>
                  <a:ea typeface="+mn-ea"/>
                  <a:cs typeface="+mn-cs"/>
                </a:rPr>
                <a:t>ham JavaScript yürütülür; gelen veri bozuk,</a:t>
              </a:r>
              <a:br/>
              <a:r>
                <a:rPr lang="tr-TR" sz="1200" dirty="0">
                  <a:solidFill>
                    <a:srgbClr val="172B3A"/>
                  </a:solidFill>
                  <a:latin typeface="+mn-lt"/>
                  <a:ea typeface="+mn-ea"/>
                  <a:cs typeface="+mn-cs"/>
                </a:rPr>
                <a:t>eksik veya zararlı olabilir.</a:t>
              </a:r>
            </a:p>
          </p:txBody>
        </p:sp>
        <p:sp>
          <p:nvSpPr>
            <p:cNvPr id="19" name="TextBox 19"/>
            <p:cNvSpPr txBox="1"/>
            <p:nvPr/>
          </p:nvSpPr>
          <p:spPr>
            <a:xfrm>
              <a:off x="8185404" y="1889760"/>
              <a:ext cx="28392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Statik tipler çalışma zamanı şema</a:t>
              </a:r>
              <a:br/>
              <a:r>
                <a:rPr lang="tr-TR" sz="1200" dirty="0">
                  <a:solidFill>
                    <a:srgbClr val="172B3A"/>
                  </a:solidFill>
                  <a:latin typeface="+mn-lt"/>
                  <a:ea typeface="+mn-ea"/>
                  <a:cs typeface="+mn-cs"/>
                </a:rPr>
                <a:t>doğrulayıcılarıyla desteklenmeli; dış</a:t>
              </a:r>
              <a:br/>
              <a:r>
                <a:rPr lang="tr-TR" sz="1200" dirty="0">
                  <a:solidFill>
                    <a:srgbClr val="172B3A"/>
                  </a:solidFill>
                  <a:latin typeface="+mn-lt"/>
                  <a:ea typeface="+mn-ea"/>
                  <a:cs typeface="+mn-cs"/>
                </a:rPr>
                <a:t>girdiler doğrulamadan iç domain</a:t>
              </a:r>
              <a:br/>
              <a:r>
                <a:rPr lang="tr-TR" sz="1200" dirty="0">
                  <a:solidFill>
                    <a:srgbClr val="172B3A"/>
                  </a:solidFill>
                  <a:latin typeface="+mn-lt"/>
                  <a:ea typeface="+mn-ea"/>
                  <a:cs typeface="+mn-cs"/>
                </a:rPr>
                <a:t>katmanına aktarılmamalıdır.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any"/>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2280952"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"Tip hatalarını aşmak</a:t>
              </a:r>
              <a:br/>
              <a:r>
                <a:rPr lang="tr-TR" sz="1580" b="1" dirty="0">
                  <a:solidFill>
                    <a:srgbClr val="12355B"/>
                  </a:solidFill>
                  <a:latin typeface="+mn-lt"/>
                  <a:ea typeface="+mn-ea"/>
                  <a:cs typeface="+mn-cs"/>
                </a:rPr>
                <a:t>için any ya da as</a:t>
              </a:r>
              <a:br/>
              <a:r>
                <a:rPr lang="tr-TR" sz="1580" b="1" dirty="0">
                  <a:solidFill>
                    <a:srgbClr val="12355B"/>
                  </a:solidFill>
                  <a:latin typeface="+mn-lt"/>
                  <a:ea typeface="+mn-ea"/>
                  <a:cs typeface="+mn-cs"/>
                </a:rPr>
                <a:t>kullanmak çözümdür."</a:t>
              </a:r>
            </a:p>
          </p:txBody>
        </p:sp>
        <p:sp>
          <p:nvSpPr>
            <p:cNvPr id="24" name="TextBox 24"/>
            <p:cNvSpPr txBox="1"/>
            <p:nvPr/>
          </p:nvSpPr>
          <p:spPr>
            <a:xfrm>
              <a:off x="4375404" y="3337560"/>
              <a:ext cx="33116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any, o değişken için derleyici denetimini</a:t>
              </a:r>
              <a:br/>
              <a:r>
                <a:rPr lang="tr-TR" sz="1200" dirty="0">
                  <a:solidFill>
                    <a:srgbClr val="172B3A"/>
                  </a:solidFill>
                  <a:latin typeface="+mn-lt"/>
                  <a:ea typeface="+mn-ea"/>
                  <a:cs typeface="+mn-cs"/>
                </a:rPr>
                <a:t>tamamen kapatır. Sorun çözülmez; yalnızca</a:t>
              </a:r>
              <a:br/>
              <a:r>
                <a:rPr lang="tr-TR" sz="1200" dirty="0">
                  <a:solidFill>
                    <a:srgbClr val="172B3A"/>
                  </a:solidFill>
                  <a:latin typeface="+mn-lt"/>
                  <a:ea typeface="+mn-ea"/>
                  <a:cs typeface="+mn-cs"/>
                </a:rPr>
                <a:t>üretimde kullanıcıların karşısına çıkacak</a:t>
              </a:r>
              <a:br/>
              <a:r>
                <a:rPr lang="tr-TR" sz="1200" dirty="0">
                  <a:solidFill>
                    <a:srgbClr val="172B3A"/>
                  </a:solidFill>
                  <a:latin typeface="+mn-lt"/>
                  <a:ea typeface="+mn-ea"/>
                  <a:cs typeface="+mn-cs"/>
                </a:rPr>
                <a:t>bir çökmeye ertelenir.</a:t>
              </a:r>
            </a:p>
          </p:txBody>
        </p:sp>
        <p:sp>
          <p:nvSpPr>
            <p:cNvPr id="25" name="TextBox 25"/>
            <p:cNvSpPr txBox="1"/>
            <p:nvPr/>
          </p:nvSpPr>
          <p:spPr>
            <a:xfrm>
              <a:off x="8185404" y="3337560"/>
              <a:ext cx="28315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Tip bilinmiyorsa unknown kullanılmalı;</a:t>
              </a:r>
              <a:br/>
              <a:r>
                <a:rPr lang="tr-TR" sz="1200" dirty="0">
                  <a:solidFill>
                    <a:srgbClr val="172B3A"/>
                  </a:solidFill>
                  <a:latin typeface="+mn-lt"/>
                  <a:ea typeface="+mn-ea"/>
                  <a:cs typeface="+mn-cs"/>
                </a:rPr>
                <a:t>typeof, instanceof veya özel tip</a:t>
              </a:r>
              <a:br/>
              <a:r>
                <a:rPr lang="tr-TR" sz="1200" dirty="0">
                  <a:solidFill>
                    <a:srgbClr val="172B3A"/>
                  </a:solidFill>
                  <a:latin typeface="+mn-lt"/>
                  <a:ea typeface="+mn-ea"/>
                  <a:cs typeface="+mn-cs"/>
                </a:rPr>
                <a:t>koruyucu fonksiyonlarla kademeli</a:t>
              </a:r>
              <a:br/>
              <a:r>
                <a:rPr lang="tr-TR" sz="1200" dirty="0">
                  <a:solidFill>
                    <a:srgbClr val="172B3A"/>
                  </a:solidFill>
                  <a:latin typeface="+mn-lt"/>
                  <a:ea typeface="+mn-ea"/>
                  <a:cs typeface="+mn-cs"/>
                </a:rPr>
                <a:t>olarak daraltılmalıdır.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nonnull"/>
          <p:cNvGrpSpPr/>
          <p:nvPr/>
        </p:nvGrpSpPr>
        <p:grpSpPr>
          <a:xfrm>
            <a:off x="753999" y="4744879"/>
            <a:ext cx="9981057" cy="903827"/>
            <a:chOff x="753999" y="4744879"/>
            <a:chExt cx="9981057" cy="903827"/>
          </a:xfrm>
        </p:grpSpPr>
        <p:sp>
          <p:nvSpPr>
            <p:cNvPr id="28" name="TextBox 28"/>
            <p:cNvSpPr txBox="1"/>
            <p:nvPr/>
          </p:nvSpPr>
          <p:spPr>
            <a:xfrm>
              <a:off x="753999" y="4744879"/>
              <a:ext cx="2586457"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 operatörü değerin</a:t>
              </a:r>
              <a:br/>
              <a:r>
                <a:rPr lang="tr-TR" sz="1580" b="1" dirty="0">
                  <a:solidFill>
                    <a:srgbClr val="12355B"/>
                  </a:solidFill>
                  <a:latin typeface="+mn-lt"/>
                  <a:ea typeface="+mn-ea"/>
                  <a:cs typeface="+mn-cs"/>
                </a:rPr>
                <a:t>kesinlikle boş olmadığını</a:t>
              </a:r>
              <a:br/>
              <a:r>
                <a:rPr lang="tr-TR" sz="1580" b="1" dirty="0">
                  <a:solidFill>
                    <a:srgbClr val="12355B"/>
                  </a:solidFill>
                  <a:latin typeface="+mn-lt"/>
                  <a:ea typeface="+mn-ea"/>
                  <a:cs typeface="+mn-cs"/>
                </a:rPr>
                <a:t>garanti eder."</a:t>
              </a:r>
            </a:p>
          </p:txBody>
        </p:sp>
        <p:sp>
          <p:nvSpPr>
            <p:cNvPr id="29" name="TextBox 29"/>
            <p:cNvSpPr txBox="1"/>
            <p:nvPr/>
          </p:nvSpPr>
          <p:spPr>
            <a:xfrm>
              <a:off x="4375404" y="4785360"/>
              <a:ext cx="33268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 operatörü derleyiciye "bana güven, bu</a:t>
              </a:r>
              <a:br/>
              <a:r>
                <a:rPr lang="tr-TR" sz="1200" dirty="0">
                  <a:solidFill>
                    <a:srgbClr val="172B3A"/>
                  </a:solidFill>
                  <a:latin typeface="+mn-lt"/>
                  <a:ea typeface="+mn-ea"/>
                  <a:cs typeface="+mn-cs"/>
                </a:rPr>
                <a:t>değer boş olamaz" demektir; gerçekte değer</a:t>
              </a:r>
              <a:br/>
              <a:r>
                <a:rPr lang="tr-TR" sz="1200" dirty="0">
                  <a:solidFill>
                    <a:srgbClr val="172B3A"/>
                  </a:solidFill>
                  <a:latin typeface="+mn-lt"/>
                  <a:ea typeface="+mn-ea"/>
                  <a:cs typeface="+mn-cs"/>
                </a:rPr>
                <a:t>boş gelirse çalışma zamanında TypeError</a:t>
              </a:r>
              <a:br/>
              <a:r>
                <a:rPr lang="tr-TR" sz="1200" dirty="0">
                  <a:solidFill>
                    <a:srgbClr val="172B3A"/>
                  </a:solidFill>
                  <a:latin typeface="+mn-lt"/>
                  <a:ea typeface="+mn-ea"/>
                  <a:cs typeface="+mn-cs"/>
                </a:rPr>
                <a:t>kaçınılmazdır.</a:t>
              </a:r>
            </a:p>
          </p:txBody>
        </p:sp>
        <p:sp>
          <p:nvSpPr>
            <p:cNvPr id="30" name="TextBox 30"/>
            <p:cNvSpPr txBox="1"/>
            <p:nvPr/>
          </p:nvSpPr>
          <p:spPr>
            <a:xfrm>
              <a:off x="8185404" y="4785360"/>
              <a:ext cx="25496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Zorlama yapmak yerine if (!deger)</a:t>
              </a:r>
              <a:br/>
              <a:r>
                <a:rPr lang="tr-TR" sz="1200" dirty="0">
                  <a:solidFill>
                    <a:srgbClr val="172B3A"/>
                  </a:solidFill>
                  <a:latin typeface="+mn-lt"/>
                  <a:ea typeface="+mn-ea"/>
                  <a:cs typeface="+mn-cs"/>
                </a:rPr>
                <a:t>throw new Error('Eksik değer')</a:t>
              </a:r>
              <a:br/>
              <a:r>
                <a:rPr lang="tr-TR" sz="1200" dirty="0">
                  <a:solidFill>
                    <a:srgbClr val="172B3A"/>
                  </a:solidFill>
                  <a:latin typeface="+mn-lt"/>
                  <a:ea typeface="+mn-ea"/>
                  <a:cs typeface="+mn-cs"/>
                </a:rPr>
                <a:t>kontrolü yapılmalı veya opsiyonel</a:t>
              </a:r>
              <a:br/>
              <a:r>
                <a:rPr lang="tr-TR" sz="1200" dirty="0">
                  <a:solidFill>
                    <a:srgbClr val="172B3A"/>
                  </a:solidFill>
                  <a:latin typeface="+mn-lt"/>
                  <a:ea typeface="+mn-ea"/>
                  <a:cs typeface="+mn-cs"/>
                </a:rPr>
                <a:t>zincirleme (?.) tercih edilmelidir.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029847" cy="668845"/>
            <a:chOff x="609600" y="171450"/>
            <a:chExt cx="602984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533947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Hata ayıklama alıştırması</a:t>
              </a:r>
            </a:p>
          </p:txBody>
        </p:sp>
      </p:grpSp>
      <p:grpSp>
        <p:nvGrpSpPr>
          <p:cNvPr id="15" name="code-buggy"/>
          <p:cNvGrpSpPr/>
          <p:nvPr/>
        </p:nvGrpSpPr>
        <p:grpSpPr>
          <a:xfrm>
            <a:off x="609600" y="1428750"/>
            <a:ext cx="6286500" cy="2857500"/>
            <a:chOff x="609600" y="1428750"/>
            <a:chExt cx="6286500" cy="2857500"/>
          </a:xfrm>
        </p:grpSpPr>
        <p:sp>
          <p:nvSpPr>
            <p:cNvPr id="12" name="Rectangle 12"/>
            <p:cNvSpPr/>
            <p:nvPr/>
          </p:nvSpPr>
          <p:spPr>
            <a:xfrm>
              <a:off x="609600" y="1428750"/>
              <a:ext cx="6286500" cy="2857500"/>
            </a:xfrm>
            <a:prstGeom prst="roundRect">
              <a:avLst>
                <a:gd name="adj" fmla="val 2667"/>
              </a:avLst>
            </a:prstGeom>
            <a:solidFill>
              <a:srgbClr val="EAF4F6"/>
            </a:solidFill>
            <a:ln w="14288">
              <a:solidFill>
                <a:srgbClr val="B8CBD3"/>
              </a:solidFill>
            </a:ln>
          </p:spPr>
        </p:sp>
        <p:sp>
          <p:nvSpPr>
            <p:cNvPr id="13" name="TextBox 13"/>
            <p:cNvSpPr txBox="1"/>
            <p:nvPr/>
          </p:nvSpPr>
          <p:spPr>
            <a:xfrm>
              <a:off x="832104" y="1584960"/>
              <a:ext cx="2157369" cy="234696"/>
            </a:xfrm>
            <a:prstGeom prst="rect">
              <a:avLst/>
            </a:prstGeom>
            <a:noFill/>
            <a:ln>
              <a:noFill/>
            </a:ln>
          </p:spPr>
          <p:txBody>
            <a:bodyPr wrap="none" lIns="0" tIns="0" rIns="0" bIns="0" anchor="t" anchorCtr="0">
              <a:spAutoFit/>
            </a:bodyPr>
            <a:lstStyle/>
            <a:p>
              <a:pPr algn="l"/>
              <a:r>
                <a:rPr lang="tr-TR" sz="1200" b="1" dirty="0">
                  <a:solidFill>
                    <a:srgbClr val="C62828"/>
                  </a:solidFill>
                  <a:latin typeface="+mn-lt"/>
                  <a:ea typeface="+mn-ea"/>
                  <a:cs typeface="+mn-cs"/>
                </a:rPr>
                <a:t>Hatalı — SiparisServisi.ts</a:t>
              </a:r>
            </a:p>
          </p:txBody>
        </p:sp>
        <p:sp>
          <p:nvSpPr>
            <p:cNvPr id="14" name="TextBox 14"/>
            <p:cNvSpPr txBox="1"/>
            <p:nvPr/>
          </p:nvSpPr>
          <p:spPr>
            <a:xfrm>
              <a:off x="831342" y="1911668"/>
              <a:ext cx="4822888" cy="1997583"/>
            </a:xfrm>
            <a:prstGeom prst="rect">
              <a:avLst/>
            </a:prstGeom>
            <a:noFill/>
            <a:ln>
              <a:noFill/>
            </a:ln>
          </p:spPr>
          <p:txBody>
            <a:bodyPr wrap="none" lIns="0" tIns="0" rIns="0" bIns="0" anchor="t" anchorCtr="0">
              <a:spAutoFit/>
            </a:bodyPr>
            <a:lstStyle/>
            <a:p>
              <a:pPr algn="l">
                <a:lnSpc>
                  <a:spcPts val="1950"/>
                </a:lnSpc>
              </a:pPr>
              <a:r>
                <a:rPr lang="tr-TR" sz="1350" dirty="0">
                  <a:solidFill>
                    <a:srgbClr val="2E86AB"/>
                  </a:solidFill>
                  <a:latin typeface="Consolas"/>
                  <a:ea typeface="Consolas"/>
                  <a:cs typeface="Consolas"/>
                </a:rPr>
                <a:t>interface</a:t>
              </a:r>
              <a:r>
                <a:rPr lang="tr-TR" sz="1350" dirty="0">
                  <a:solidFill>
                    <a:srgbClr val="172B3A"/>
                  </a:solidFill>
                  <a:latin typeface="Consolas"/>
                  <a:ea typeface="Consolas"/>
                  <a:cs typeface="Consolas"/>
                </a:rPr>
                <a:t xml:space="preserve"> Siparis {</a:t>
              </a:r>
              <a:br/>
              <a:r>
                <a:rPr lang="tr-TR" sz="1350" dirty="0">
                  <a:solidFill>
                    <a:srgbClr val="172B3A"/>
                  </a:solidFill>
                  <a:latin typeface="Consolas"/>
                  <a:ea typeface="Consolas"/>
                  <a:cs typeface="Consolas"/>
                </a:rPr>
                <a:t>kimlik: number; tutar: number;</a:t>
              </a:r>
              <a:br/>
              <a:r>
                <a:rPr lang="tr-TR" sz="1350" dirty="0">
                  <a:solidFill>
                    <a:srgbClr val="172B3A"/>
                  </a:solidFill>
                  <a:latin typeface="Consolas"/>
                  <a:ea typeface="Consolas"/>
                  <a:cs typeface="Consolas"/>
                </a:rPr>
                <a:t>}</a:t>
              </a:r>
              <a:br/>
              <a:r>
                <a:rPr lang="tr-TR" sz="1350" dirty="0">
                  <a:solidFill>
                    <a:srgbClr val="2E86AB"/>
                  </a:solidFill>
                  <a:latin typeface="Consolas"/>
                  <a:ea typeface="Consolas"/>
                  <a:cs typeface="Consolas"/>
                </a:rPr>
                <a:t>function</a:t>
              </a:r>
              <a:r>
                <a:rPr lang="tr-TR" sz="1350" dirty="0">
                  <a:solidFill>
                    <a:srgbClr val="172B3A"/>
                  </a:solidFill>
                  <a:latin typeface="Consolas"/>
                  <a:ea typeface="Consolas"/>
                  <a:cs typeface="Consolas"/>
                </a:rPr>
                <a:t xml:space="preserve"> siparisBul(kimlik: string): Siparis {</a:t>
              </a:r>
              <a:br/>
              <a:r>
                <a:rPr lang="tr-TR" sz="1350" dirty="0">
                  <a:solidFill>
                    <a:srgbClr val="2E86AB"/>
                  </a:solidFill>
                  <a:latin typeface="Consolas"/>
                  <a:ea typeface="Consolas"/>
                  <a:cs typeface="Consolas"/>
                </a:rPr>
                <a:t>return</a:t>
              </a:r>
              <a:r>
                <a:rPr lang="tr-TR" sz="1350" dirty="0">
                  <a:solidFill>
                    <a:srgbClr val="172B3A"/>
                  </a:solidFill>
                  <a:latin typeface="Consolas"/>
                  <a:ea typeface="Consolas"/>
                  <a:cs typeface="Consolas"/>
                </a:rPr>
                <a:t xml:space="preserve"> siparisler.find((s) =&gt; s.kimlik === kimlik);</a:t>
              </a:r>
              <a:br/>
              <a:r>
                <a:rPr lang="tr-TR" sz="1350" dirty="0">
                  <a:solidFill>
                    <a:srgbClr val="172B3A"/>
                  </a:solidFill>
                  <a:latin typeface="Consolas"/>
                  <a:ea typeface="Consolas"/>
                  <a:cs typeface="Consolas"/>
                </a:rPr>
                <a:t>}</a:t>
              </a:r>
              <a:b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bulunan = siparisBul(2);</a:t>
              </a:r>
              <a:br/>
              <a:r>
                <a:rPr lang="tr-TR" sz="1350" dirty="0">
                  <a:solidFill>
                    <a:srgbClr val="172B3A"/>
                  </a:solidFill>
                  <a:latin typeface="Consolas"/>
                  <a:ea typeface="Consolas"/>
                  <a:cs typeface="Consolas"/>
                </a:rPr>
                <a:t>console.log(bulunan.tutar.toUpperCase());</a:t>
              </a:r>
            </a:p>
          </p:txBody>
        </p:sp>
      </p:grpSp>
      <p:grpSp>
        <p:nvGrpSpPr>
          <p:cNvPr id="25" name="error-list"/>
          <p:cNvGrpSpPr/>
          <p:nvPr/>
        </p:nvGrpSpPr>
        <p:grpSpPr>
          <a:xfrm>
            <a:off x="7190994" y="1561148"/>
            <a:ext cx="3721355" cy="3554158"/>
            <a:chOff x="7190994" y="1561148"/>
            <a:chExt cx="3721355" cy="3554158"/>
          </a:xfrm>
        </p:grpSpPr>
        <p:sp>
          <p:nvSpPr>
            <p:cNvPr id="16" name="TextBox 16"/>
            <p:cNvSpPr txBox="1"/>
            <p:nvPr/>
          </p:nvSpPr>
          <p:spPr>
            <a:xfrm>
              <a:off x="7190994" y="1561148"/>
              <a:ext cx="3721355"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Derleyicinin bulduğu hatalar</a:t>
              </a:r>
            </a:p>
          </p:txBody>
        </p:sp>
        <p:sp>
          <p:nvSpPr>
            <p:cNvPr id="17" name="TextBox 17"/>
            <p:cNvSpPr txBox="1"/>
            <p:nvPr/>
          </p:nvSpPr>
          <p:spPr>
            <a:xfrm>
              <a:off x="7194804" y="2042160"/>
              <a:ext cx="575462" cy="234696"/>
            </a:xfrm>
            <a:prstGeom prst="rect">
              <a:avLst/>
            </a:prstGeom>
            <a:noFill/>
            <a:ln>
              <a:noFill/>
            </a:ln>
          </p:spPr>
          <p:txBody>
            <a:bodyPr wrap="none" lIns="0" tIns="0" rIns="0" bIns="0" anchor="t" anchorCtr="0">
              <a:spAutoFit/>
            </a:bodyPr>
            <a:lstStyle/>
            <a:p>
              <a:pPr algn="l"/>
              <a:r>
                <a:rPr lang="tr-TR" sz="1200" b="1" dirty="0">
                  <a:solidFill>
                    <a:srgbClr val="C62828"/>
                  </a:solidFill>
                  <a:latin typeface="Consolas"/>
                  <a:ea typeface="Consolas"/>
                  <a:cs typeface="Consolas"/>
                </a:rPr>
                <a:t>TS2345</a:t>
              </a:r>
            </a:p>
          </p:txBody>
        </p:sp>
        <p:sp>
          <p:nvSpPr>
            <p:cNvPr id="18" name="TextBox 18"/>
            <p:cNvSpPr txBox="1"/>
            <p:nvPr/>
          </p:nvSpPr>
          <p:spPr>
            <a:xfrm>
              <a:off x="7194804" y="2270760"/>
              <a:ext cx="25725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Kimlik string tanımlanmış; sipariş</a:t>
              </a:r>
              <a:br/>
              <a:r>
                <a:rPr lang="tr-TR" sz="1200" dirty="0">
                  <a:solidFill>
                    <a:srgbClr val="172B3A"/>
                  </a:solidFill>
                  <a:latin typeface="+mn-lt"/>
                  <a:ea typeface="+mn-ea"/>
                  <a:cs typeface="+mn-cs"/>
                </a:rPr>
                <a:t>kimliği number türündedir.</a:t>
              </a:r>
            </a:p>
          </p:txBody>
        </p:sp>
        <p:sp>
          <p:nvSpPr>
            <p:cNvPr id="19" name="TextBox 19"/>
            <p:cNvSpPr txBox="1"/>
            <p:nvPr/>
          </p:nvSpPr>
          <p:spPr>
            <a:xfrm>
              <a:off x="7194804" y="2842260"/>
              <a:ext cx="575462" cy="234696"/>
            </a:xfrm>
            <a:prstGeom prst="rect">
              <a:avLst/>
            </a:prstGeom>
            <a:noFill/>
            <a:ln>
              <a:noFill/>
            </a:ln>
          </p:spPr>
          <p:txBody>
            <a:bodyPr wrap="none" lIns="0" tIns="0" rIns="0" bIns="0" anchor="t" anchorCtr="0">
              <a:spAutoFit/>
            </a:bodyPr>
            <a:lstStyle/>
            <a:p>
              <a:pPr algn="l"/>
              <a:r>
                <a:rPr lang="tr-TR" sz="1200" b="1" dirty="0">
                  <a:solidFill>
                    <a:srgbClr val="C62828"/>
                  </a:solidFill>
                  <a:latin typeface="Consolas"/>
                  <a:ea typeface="Consolas"/>
                  <a:cs typeface="Consolas"/>
                </a:rPr>
                <a:t>TS2367</a:t>
              </a:r>
            </a:p>
          </p:txBody>
        </p:sp>
        <p:sp>
          <p:nvSpPr>
            <p:cNvPr id="20" name="TextBox 20"/>
            <p:cNvSpPr txBox="1"/>
            <p:nvPr/>
          </p:nvSpPr>
          <p:spPr>
            <a:xfrm>
              <a:off x="7194804" y="3070860"/>
              <a:ext cx="26563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number ile string karşılaştırması;</a:t>
              </a:r>
              <a:br/>
              <a:r>
                <a:rPr lang="tr-TR" sz="1200" dirty="0">
                  <a:solidFill>
                    <a:srgbClr val="172B3A"/>
                  </a:solidFill>
                  <a:latin typeface="+mn-lt"/>
                  <a:ea typeface="+mn-ea"/>
                  <a:cs typeface="+mn-cs"/>
                </a:rPr>
                <a:t>iki tür örtüşmez.</a:t>
              </a:r>
            </a:p>
          </p:txBody>
        </p:sp>
        <p:sp>
          <p:nvSpPr>
            <p:cNvPr id="21" name="TextBox 21"/>
            <p:cNvSpPr txBox="1"/>
            <p:nvPr/>
          </p:nvSpPr>
          <p:spPr>
            <a:xfrm>
              <a:off x="7194804" y="3642360"/>
              <a:ext cx="575462" cy="234696"/>
            </a:xfrm>
            <a:prstGeom prst="rect">
              <a:avLst/>
            </a:prstGeom>
            <a:noFill/>
            <a:ln>
              <a:noFill/>
            </a:ln>
          </p:spPr>
          <p:txBody>
            <a:bodyPr wrap="none" lIns="0" tIns="0" rIns="0" bIns="0" anchor="t" anchorCtr="0">
              <a:spAutoFit/>
            </a:bodyPr>
            <a:lstStyle/>
            <a:p>
              <a:pPr algn="l"/>
              <a:r>
                <a:rPr lang="tr-TR" sz="1200" b="1" dirty="0">
                  <a:solidFill>
                    <a:srgbClr val="C62828"/>
                  </a:solidFill>
                  <a:latin typeface="Consolas"/>
                  <a:ea typeface="Consolas"/>
                  <a:cs typeface="Consolas"/>
                </a:rPr>
                <a:t>TS2322</a:t>
              </a:r>
            </a:p>
          </p:txBody>
        </p:sp>
        <p:sp>
          <p:nvSpPr>
            <p:cNvPr id="22" name="TextBox 22"/>
            <p:cNvSpPr txBox="1"/>
            <p:nvPr/>
          </p:nvSpPr>
          <p:spPr>
            <a:xfrm>
              <a:off x="7194804" y="3870960"/>
              <a:ext cx="26029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find, Siparis | undefined döndürür;</a:t>
              </a:r>
              <a:br/>
              <a:r>
                <a:rPr lang="tr-TR" sz="1200" dirty="0">
                  <a:solidFill>
                    <a:srgbClr val="172B3A"/>
                  </a:solidFill>
                  <a:latin typeface="+mn-lt"/>
                  <a:ea typeface="+mn-ea"/>
                  <a:cs typeface="+mn-cs"/>
                </a:rPr>
                <a:t>imza yalnızca Siparis vaat ediyor.</a:t>
              </a:r>
            </a:p>
          </p:txBody>
        </p:sp>
        <p:sp>
          <p:nvSpPr>
            <p:cNvPr id="23" name="TextBox 23"/>
            <p:cNvSpPr txBox="1"/>
            <p:nvPr/>
          </p:nvSpPr>
          <p:spPr>
            <a:xfrm>
              <a:off x="7194804" y="4442460"/>
              <a:ext cx="575462" cy="234696"/>
            </a:xfrm>
            <a:prstGeom prst="rect">
              <a:avLst/>
            </a:prstGeom>
            <a:noFill/>
            <a:ln>
              <a:noFill/>
            </a:ln>
          </p:spPr>
          <p:txBody>
            <a:bodyPr wrap="none" lIns="0" tIns="0" rIns="0" bIns="0" anchor="t" anchorCtr="0">
              <a:spAutoFit/>
            </a:bodyPr>
            <a:lstStyle/>
            <a:p>
              <a:pPr algn="l"/>
              <a:r>
                <a:rPr lang="tr-TR" sz="1200" b="1" dirty="0">
                  <a:solidFill>
                    <a:srgbClr val="C62828"/>
                  </a:solidFill>
                  <a:latin typeface="Consolas"/>
                  <a:ea typeface="Consolas"/>
                  <a:cs typeface="Consolas"/>
                </a:rPr>
                <a:t>TS2339</a:t>
              </a:r>
            </a:p>
          </p:txBody>
        </p:sp>
        <p:sp>
          <p:nvSpPr>
            <p:cNvPr id="24" name="TextBox 24"/>
            <p:cNvSpPr txBox="1"/>
            <p:nvPr/>
          </p:nvSpPr>
          <p:spPr>
            <a:xfrm>
              <a:off x="7194804" y="4671060"/>
              <a:ext cx="23743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tutar bir sayıdır; toUpperCase</a:t>
              </a:r>
              <a:br/>
              <a:r>
                <a:rPr lang="tr-TR" sz="1200" dirty="0">
                  <a:solidFill>
                    <a:srgbClr val="172B3A"/>
                  </a:solidFill>
                  <a:latin typeface="+mn-lt"/>
                  <a:ea typeface="+mn-ea"/>
                  <a:cs typeface="+mn-cs"/>
                </a:rPr>
                <a:t>metodu sayılarda bulunmaz.</a:t>
              </a:r>
            </a:p>
          </p:txBody>
        </p:sp>
      </p:grpSp>
      <p:grpSp>
        <p:nvGrpSpPr>
          <p:cNvPr id="29" name="fix-summary"/>
          <p:cNvGrpSpPr/>
          <p:nvPr/>
        </p:nvGrpSpPr>
        <p:grpSpPr>
          <a:xfrm>
            <a:off x="609600" y="4667250"/>
            <a:ext cx="6286500" cy="1238250"/>
            <a:chOff x="609600" y="4667250"/>
            <a:chExt cx="6286500" cy="1238250"/>
          </a:xfrm>
        </p:grpSpPr>
        <p:sp>
          <p:nvSpPr>
            <p:cNvPr id="26" name="Rectangle 26"/>
            <p:cNvSpPr/>
            <p:nvPr/>
          </p:nvSpPr>
          <p:spPr>
            <a:xfrm>
              <a:off x="609600" y="4667250"/>
              <a:ext cx="6286500" cy="1238250"/>
            </a:xfrm>
            <a:prstGeom prst="roundRect">
              <a:avLst>
                <a:gd name="adj" fmla="val 6154"/>
              </a:avLst>
            </a:prstGeom>
            <a:solidFill>
              <a:srgbClr val="EAF4F6"/>
            </a:solidFill>
            <a:ln>
              <a:noFill/>
            </a:ln>
          </p:spPr>
        </p:sp>
        <p:sp>
          <p:nvSpPr>
            <p:cNvPr id="27" name="TextBox 27"/>
            <p:cNvSpPr txBox="1"/>
            <p:nvPr/>
          </p:nvSpPr>
          <p:spPr>
            <a:xfrm>
              <a:off x="830199" y="4859179"/>
              <a:ext cx="180942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Güvenli düzeltme</a:t>
              </a:r>
            </a:p>
          </p:txBody>
        </p:sp>
        <p:sp>
          <p:nvSpPr>
            <p:cNvPr id="28" name="TextBox 28"/>
            <p:cNvSpPr txBox="1"/>
            <p:nvPr/>
          </p:nvSpPr>
          <p:spPr>
            <a:xfrm>
              <a:off x="832104" y="5204460"/>
              <a:ext cx="34640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Kimlik türü number yapılır, dönüş türü açıkça</a:t>
              </a:r>
              <a:br/>
              <a:r>
                <a:rPr lang="tr-TR" sz="1200" dirty="0">
                  <a:solidFill>
                    <a:srgbClr val="172B3A"/>
                  </a:solidFill>
                  <a:latin typeface="+mn-lt"/>
                  <a:ea typeface="+mn-ea"/>
                  <a:cs typeface="+mn-cs"/>
                </a:rPr>
                <a:t>Siparis | undefined yazılır ve çağıran kod</a:t>
              </a:r>
              <a:br/>
              <a:r>
                <a:rPr lang="tr-TR" sz="1200" dirty="0">
                  <a:solidFill>
                    <a:srgbClr val="172B3A"/>
                  </a:solidFill>
                  <a:latin typeface="+mn-lt"/>
                  <a:ea typeface="+mn-ea"/>
                  <a:cs typeface="+mn-cs"/>
                </a:rPr>
                <a:t>sonucu kullanmadan önce undefined denetler.</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4695046" cy="557403"/>
            <a:chOff x="595122" y="282892"/>
            <a:chExt cx="4695046" cy="557403"/>
          </a:xfrm>
        </p:grpSpPr>
        <p:sp>
          <p:nvSpPr>
            <p:cNvPr id="4" name="TextBox 4"/>
            <p:cNvSpPr txBox="1"/>
            <p:nvPr/>
          </p:nvSpPr>
          <p:spPr>
            <a:xfrm>
              <a:off x="595122" y="282892"/>
              <a:ext cx="469504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mini uygulama</a:t>
              </a:r>
            </a:p>
          </p:txBody>
        </p:sp>
      </p:grpSp>
      <p:grpSp>
        <p:nvGrpSpPr>
          <p:cNvPr id="9" name="code-miniapp"/>
          <p:cNvGrpSpPr/>
          <p:nvPr/>
        </p:nvGrpSpPr>
        <p:grpSpPr>
          <a:xfrm>
            <a:off x="609600" y="1333500"/>
            <a:ext cx="10972800" cy="2857500"/>
            <a:chOff x="609600" y="1333500"/>
            <a:chExt cx="10972800" cy="2857500"/>
          </a:xfrm>
        </p:grpSpPr>
        <p:sp>
          <p:nvSpPr>
            <p:cNvPr id="6" name="Rectangle 6"/>
            <p:cNvSpPr/>
            <p:nvPr/>
          </p:nvSpPr>
          <p:spPr>
            <a:xfrm>
              <a:off x="609600" y="1333500"/>
              <a:ext cx="10972800" cy="2857500"/>
            </a:xfrm>
            <a:prstGeom prst="roundRect">
              <a:avLst>
                <a:gd name="adj" fmla="val 2667"/>
              </a:avLst>
            </a:prstGeom>
            <a:solidFill>
              <a:srgbClr val="EAF4F6"/>
            </a:solidFill>
            <a:ln w="14288">
              <a:solidFill>
                <a:srgbClr val="B8CBD3"/>
              </a:solidFill>
            </a:ln>
          </p:spPr>
        </p:sp>
        <p:sp>
          <p:nvSpPr>
            <p:cNvPr id="7" name="TextBox 7"/>
            <p:cNvSpPr txBox="1"/>
            <p:nvPr/>
          </p:nvSpPr>
          <p:spPr>
            <a:xfrm>
              <a:off x="832104" y="1489710"/>
              <a:ext cx="3415960"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Kod 3.13 — ChapterMiniApp.ts (çekirdek)</a:t>
              </a:r>
            </a:p>
          </p:txBody>
        </p:sp>
        <p:sp>
          <p:nvSpPr>
            <p:cNvPr id="8" name="TextBox 8"/>
            <p:cNvSpPr txBox="1"/>
            <p:nvPr/>
          </p:nvSpPr>
          <p:spPr>
            <a:xfrm>
              <a:off x="831342" y="1816418"/>
              <a:ext cx="7840409" cy="2245233"/>
            </a:xfrm>
            <a:prstGeom prst="rect">
              <a:avLst/>
            </a:prstGeom>
            <a:noFill/>
            <a:ln>
              <a:noFill/>
            </a:ln>
          </p:spPr>
          <p:txBody>
            <a:bodyPr wrap="none" lIns="0" tIns="0" rIns="0" bIns="0" anchor="t" anchorCtr="0">
              <a:spAutoFit/>
            </a:bodyPr>
            <a:lstStyle/>
            <a:p>
              <a:pPr algn="l">
                <a:lnSpc>
                  <a:spcPts val="1950"/>
                </a:lnSpc>
              </a:pPr>
              <a:r>
                <a:rPr lang="tr-TR" sz="1350" dirty="0">
                  <a:solidFill>
                    <a:srgbClr val="2E86AB"/>
                  </a:solidFill>
                  <a:latin typeface="Consolas"/>
                  <a:ea typeface="Consolas"/>
                  <a:cs typeface="Consolas"/>
                </a:rPr>
                <a:t>type</a:t>
              </a:r>
              <a:r>
                <a:rPr lang="tr-TR" sz="1350" dirty="0">
                  <a:solidFill>
                    <a:srgbClr val="172B3A"/>
                  </a:solidFill>
                  <a:latin typeface="Consolas"/>
                  <a:ea typeface="Consolas"/>
                  <a:cs typeface="Consolas"/>
                </a:rPr>
                <a:t xml:space="preserve"> SiparisDurumu = </a:t>
              </a:r>
              <a:r>
                <a:rPr lang="tr-TR" sz="1350" dirty="0">
                  <a:solidFill>
                    <a:srgbClr val="2E7D32"/>
                  </a:solidFill>
                  <a:latin typeface="Consolas"/>
                  <a:ea typeface="Consolas"/>
                  <a:cs typeface="Consolas"/>
                </a:rPr>
                <a:t>"beklemede"</a:t>
              </a:r>
              <a:r>
                <a:rPr lang="tr-TR" sz="1350" dirty="0">
                  <a:solidFill>
                    <a:srgbClr val="172B3A"/>
                  </a:solidFill>
                  <a:latin typeface="Consolas"/>
                  <a:ea typeface="Consolas"/>
                  <a:cs typeface="Consolas"/>
                </a:rPr>
                <a:t xml:space="preserve"> | </a:t>
              </a:r>
              <a:r>
                <a:rPr lang="tr-TR" sz="1350" dirty="0">
                  <a:solidFill>
                    <a:srgbClr val="2E7D32"/>
                  </a:solidFill>
                  <a:latin typeface="Consolas"/>
                  <a:ea typeface="Consolas"/>
                  <a:cs typeface="Consolas"/>
                </a:rPr>
                <a:t>"hazirlaniyor"</a:t>
              </a:r>
              <a:r>
                <a:rPr lang="tr-TR" sz="1350" dirty="0">
                  <a:solidFill>
                    <a:srgbClr val="172B3A"/>
                  </a:solidFill>
                  <a:latin typeface="Consolas"/>
                  <a:ea typeface="Consolas"/>
                  <a:cs typeface="Consolas"/>
                </a:rPr>
                <a:t xml:space="preserve"> | </a:t>
              </a:r>
              <a:r>
                <a:rPr lang="tr-TR" sz="1350" dirty="0">
                  <a:solidFill>
                    <a:srgbClr val="2E7D32"/>
                  </a:solidFill>
                  <a:latin typeface="Consolas"/>
                  <a:ea typeface="Consolas"/>
                  <a:cs typeface="Consolas"/>
                </a:rPr>
                <a:t>"kargoda"</a:t>
              </a:r>
              <a:r>
                <a:rPr lang="tr-TR" sz="1350" dirty="0">
                  <a:solidFill>
                    <a:srgbClr val="172B3A"/>
                  </a:solidFill>
                  <a:latin typeface="Consolas"/>
                  <a:ea typeface="Consolas"/>
                  <a:cs typeface="Consolas"/>
                </a:rPr>
                <a:t>;</a:t>
              </a:r>
              <a:br/>
              <a:r>
                <a:rPr lang="tr-TR" sz="1350" dirty="0">
                  <a:solidFill>
                    <a:srgbClr val="2E86AB"/>
                  </a:solidFill>
                  <a:latin typeface="Consolas"/>
                  <a:ea typeface="Consolas"/>
                  <a:cs typeface="Consolas"/>
                </a:rPr>
                <a:t>type</a:t>
              </a:r>
              <a:r>
                <a:rPr lang="tr-TR" sz="1350" dirty="0">
                  <a:solidFill>
                    <a:srgbClr val="172B3A"/>
                  </a:solidFill>
                  <a:latin typeface="Consolas"/>
                  <a:ea typeface="Consolas"/>
                  <a:cs typeface="Consolas"/>
                </a:rPr>
                <a:t xml:space="preserve"> ServisSonucu&lt;T&gt; = { basarili: true; mesaj: string; veri: T }</a:t>
              </a:r>
              <a:br/>
              <a:r>
                <a:rPr lang="tr-TR" sz="1350" dirty="0">
                  <a:solidFill>
                    <a:srgbClr val="172B3A"/>
                  </a:solidFill>
                  <a:latin typeface="Consolas"/>
                  <a:ea typeface="Consolas"/>
                  <a:cs typeface="Consolas"/>
                </a:rPr>
                <a:t>| { basarili: false; mesaj: string };</a:t>
              </a:r>
              <a:br/>
              <a:r>
                <a:rPr lang="tr-TR" sz="1350" dirty="0">
                  <a:solidFill>
                    <a:srgbClr val="2E86AB"/>
                  </a:solidFill>
                  <a:latin typeface="Consolas"/>
                  <a:ea typeface="Consolas"/>
                  <a:cs typeface="Consolas"/>
                </a:rPr>
                <a:t>public</a:t>
              </a:r>
              <a:r>
                <a:rPr lang="tr-TR" sz="1350" dirty="0">
                  <a:solidFill>
                    <a:srgbClr val="172B3A"/>
                  </a:solidFill>
                  <a:latin typeface="Consolas"/>
                  <a:ea typeface="Consolas"/>
                  <a:cs typeface="Consolas"/>
                </a:rPr>
                <a:t xml:space="preserve"> siparisOlustur(kitapKimligi: number, adet: number): ServisSonucu&lt;Siparis&gt; {</a:t>
              </a:r>
              <a:br/>
              <a:r>
                <a:rPr lang="tr-TR" sz="1350" dirty="0">
                  <a:solidFill>
                    <a:srgbClr val="2E86AB"/>
                  </a:solidFill>
                  <a:latin typeface="Consolas"/>
                  <a:ea typeface="Consolas"/>
                  <a:cs typeface="Consolas"/>
                </a:rPr>
                <a:t>const</a:t>
              </a:r>
              <a:r>
                <a:rPr lang="tr-TR" sz="1350" dirty="0">
                  <a:solidFill>
                    <a:srgbClr val="172B3A"/>
                  </a:solidFill>
                  <a:latin typeface="Consolas"/>
                  <a:ea typeface="Consolas"/>
                  <a:cs typeface="Consolas"/>
                </a:rPr>
                <a:t xml:space="preserve"> kitap = this.kitapListesi.find((k) =&gt; k.kimlik === kitapKimligi);</a:t>
              </a:r>
              <a:br/>
              <a:r>
                <a:rPr lang="tr-TR" sz="1350" dirty="0">
                  <a:solidFill>
                    <a:srgbClr val="2E86AB"/>
                  </a:solidFill>
                  <a:latin typeface="Consolas"/>
                  <a:ea typeface="Consolas"/>
                  <a:cs typeface="Consolas"/>
                </a:rPr>
                <a:t>if</a:t>
              </a:r>
              <a:r>
                <a:rPr lang="tr-TR" sz="1350" dirty="0">
                  <a:solidFill>
                    <a:srgbClr val="172B3A"/>
                  </a:solidFill>
                  <a:latin typeface="Consolas"/>
                  <a:ea typeface="Consolas"/>
                  <a:cs typeface="Consolas"/>
                </a:rPr>
                <a:t xml:space="preserve"> (kitap === undefined) return { basarili: false, mesaj: </a:t>
              </a:r>
              <a:r>
                <a:rPr lang="tr-TR" sz="1350" dirty="0">
                  <a:solidFill>
                    <a:srgbClr val="2E7D32"/>
                  </a:solidFill>
                  <a:latin typeface="Consolas"/>
                  <a:ea typeface="Consolas"/>
                  <a:cs typeface="Consolas"/>
                </a:rPr>
                <a:t>"Kitap bulunamadı."</a:t>
              </a:r>
              <a:r>
                <a:rPr lang="tr-TR" sz="1350" dirty="0">
                  <a:solidFill>
                    <a:srgbClr val="172B3A"/>
                  </a:solidFill>
                  <a:latin typeface="Consolas"/>
                  <a:ea typeface="Consolas"/>
                  <a:cs typeface="Consolas"/>
                </a:rPr>
                <a:t xml:space="preserve"> };</a:t>
              </a:r>
              <a:br/>
              <a:r>
                <a:rPr lang="tr-TR" sz="1350" dirty="0">
                  <a:solidFill>
                    <a:srgbClr val="2E86AB"/>
                  </a:solidFill>
                  <a:latin typeface="Consolas"/>
                  <a:ea typeface="Consolas"/>
                  <a:cs typeface="Consolas"/>
                </a:rPr>
                <a:t>if</a:t>
              </a:r>
              <a:r>
                <a:rPr lang="tr-TR" sz="1350" dirty="0">
                  <a:solidFill>
                    <a:srgbClr val="172B3A"/>
                  </a:solidFill>
                  <a:latin typeface="Consolas"/>
                  <a:ea typeface="Consolas"/>
                  <a:cs typeface="Consolas"/>
                </a:rPr>
                <a:t xml:space="preserve"> (kitap.stokAdedi &lt; adet) return { basarili: false, mesaj: </a:t>
              </a:r>
              <a:r>
                <a:rPr lang="tr-TR" sz="1350" dirty="0">
                  <a:solidFill>
                    <a:srgbClr val="2E7D32"/>
                  </a:solidFill>
                  <a:latin typeface="Consolas"/>
                  <a:ea typeface="Consolas"/>
                  <a:cs typeface="Consolas"/>
                </a:rPr>
                <a:t>"Yeterli stok yok."</a:t>
              </a:r>
              <a:r>
                <a:rPr lang="tr-TR" sz="1350" dirty="0">
                  <a:solidFill>
                    <a:srgbClr val="172B3A"/>
                  </a:solidFill>
                  <a:latin typeface="Consolas"/>
                  <a:ea typeface="Consolas"/>
                  <a:cs typeface="Consolas"/>
                </a:rPr>
                <a:t xml:space="preserve"> };</a:t>
              </a:r>
              <a:br/>
              <a:r>
                <a:rPr lang="tr-TR" sz="1350" dirty="0">
                  <a:solidFill>
                    <a:srgbClr val="172B3A"/>
                  </a:solidFill>
                  <a:latin typeface="Consolas"/>
                  <a:ea typeface="Consolas"/>
                  <a:cs typeface="Consolas"/>
                </a:rPr>
                <a:t>kitap.stokAdedi -= adet;</a:t>
              </a:r>
              <a:br/>
              <a:r>
                <a:rPr lang="tr-TR" sz="1350" dirty="0">
                  <a:solidFill>
                    <a:srgbClr val="2E86AB"/>
                  </a:solidFill>
                  <a:latin typeface="Consolas"/>
                  <a:ea typeface="Consolas"/>
                  <a:cs typeface="Consolas"/>
                </a:rPr>
                <a:t>return</a:t>
              </a:r>
              <a:r>
                <a:rPr lang="tr-TR" sz="1350" dirty="0">
                  <a:solidFill>
                    <a:srgbClr val="172B3A"/>
                  </a:solidFill>
                  <a:latin typeface="Consolas"/>
                  <a:ea typeface="Consolas"/>
                  <a:cs typeface="Consolas"/>
                </a:rPr>
                <a:t xml:space="preserve"> { basarili: true, mesaj: </a:t>
              </a:r>
              <a:r>
                <a:rPr lang="tr-TR" sz="1350" dirty="0">
                  <a:solidFill>
                    <a:srgbClr val="2E7D32"/>
                  </a:solidFill>
                  <a:latin typeface="Consolas"/>
                  <a:ea typeface="Consolas"/>
                  <a:cs typeface="Consolas"/>
                </a:rPr>
                <a:t>"Sipariş oluşturuldu."</a:t>
              </a:r>
              <a:r>
                <a:rPr lang="tr-TR" sz="1350" dirty="0">
                  <a:solidFill>
                    <a:srgbClr val="172B3A"/>
                  </a:solidFill>
                  <a:latin typeface="Consolas"/>
                  <a:ea typeface="Consolas"/>
                  <a:cs typeface="Consolas"/>
                </a:rPr>
                <a:t>, veri: yeniSiparis };</a:t>
              </a:r>
            </a:p>
          </p:txBody>
        </p:sp>
      </p:grpSp>
      <p:grpSp>
        <p:nvGrpSpPr>
          <p:cNvPr id="13" name="mini-interface"/>
          <p:cNvGrpSpPr/>
          <p:nvPr/>
        </p:nvGrpSpPr>
        <p:grpSpPr>
          <a:xfrm>
            <a:off x="609600" y="4572000"/>
            <a:ext cx="3505200" cy="1428750"/>
            <a:chOff x="609600" y="4572000"/>
            <a:chExt cx="3505200" cy="1428750"/>
          </a:xfrm>
        </p:grpSpPr>
        <p:sp>
          <p:nvSpPr>
            <p:cNvPr id="10" name="Rectangle 10"/>
            <p:cNvSpPr/>
            <p:nvPr/>
          </p:nvSpPr>
          <p:spPr>
            <a:xfrm>
              <a:off x="609600" y="4572000"/>
              <a:ext cx="3505200" cy="1428750"/>
            </a:xfrm>
            <a:prstGeom prst="roundRect">
              <a:avLst>
                <a:gd name="adj" fmla="val 6667"/>
              </a:avLst>
            </a:prstGeom>
            <a:solidFill>
              <a:srgbClr val="FFFFFF"/>
            </a:solidFill>
            <a:ln w="14288">
              <a:solidFill>
                <a:srgbClr val="2E86AB"/>
              </a:solidFill>
            </a:ln>
          </p:spPr>
        </p:sp>
        <p:sp>
          <p:nvSpPr>
            <p:cNvPr id="11" name="TextBox 11"/>
            <p:cNvSpPr txBox="1"/>
            <p:nvPr/>
          </p:nvSpPr>
          <p:spPr>
            <a:xfrm>
              <a:off x="829056" y="4739640"/>
              <a:ext cx="21599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Interface + Union</a:t>
              </a:r>
            </a:p>
          </p:txBody>
        </p:sp>
        <p:sp>
          <p:nvSpPr>
            <p:cNvPr id="12" name="TextBox 12"/>
            <p:cNvSpPr txBox="1"/>
            <p:nvPr/>
          </p:nvSpPr>
          <p:spPr>
            <a:xfrm>
              <a:off x="832104" y="5128260"/>
              <a:ext cx="24734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Kitap ve Siparis veri sözleşmesini</a:t>
              </a:r>
              <a:br/>
              <a:r>
                <a:rPr lang="tr-TR" sz="1200" dirty="0">
                  <a:solidFill>
                    <a:srgbClr val="172B3A"/>
                  </a:solidFill>
                  <a:latin typeface="+mn-lt"/>
                  <a:ea typeface="+mn-ea"/>
                  <a:cs typeface="+mn-cs"/>
                </a:rPr>
                <a:t>kurar; SiparisDurumu yalnızca</a:t>
              </a:r>
              <a:br/>
              <a:r>
                <a:rPr lang="tr-TR" sz="1200" dirty="0">
                  <a:solidFill>
                    <a:srgbClr val="172B3A"/>
                  </a:solidFill>
                  <a:latin typeface="+mn-lt"/>
                  <a:ea typeface="+mn-ea"/>
                  <a:cs typeface="+mn-cs"/>
                </a:rPr>
                <a:t>tanımlı üç duruma izin verir.</a:t>
              </a:r>
            </a:p>
          </p:txBody>
        </p:sp>
      </p:grpSp>
      <p:grpSp>
        <p:nvGrpSpPr>
          <p:cNvPr id="17" name="mini-generic"/>
          <p:cNvGrpSpPr/>
          <p:nvPr/>
        </p:nvGrpSpPr>
        <p:grpSpPr>
          <a:xfrm>
            <a:off x="4343400" y="4572000"/>
            <a:ext cx="3505200" cy="1428750"/>
            <a:chOff x="4343400" y="4572000"/>
            <a:chExt cx="3505200" cy="1428750"/>
          </a:xfrm>
        </p:grpSpPr>
        <p:sp>
          <p:nvSpPr>
            <p:cNvPr id="14" name="Rectangle 14"/>
            <p:cNvSpPr/>
            <p:nvPr/>
          </p:nvSpPr>
          <p:spPr>
            <a:xfrm>
              <a:off x="4343400" y="4572000"/>
              <a:ext cx="3505200" cy="1428750"/>
            </a:xfrm>
            <a:prstGeom prst="roundRect">
              <a:avLst>
                <a:gd name="adj" fmla="val 6667"/>
              </a:avLst>
            </a:prstGeom>
            <a:solidFill>
              <a:srgbClr val="FFFFFF"/>
            </a:solidFill>
            <a:ln w="14288">
              <a:solidFill>
                <a:srgbClr val="2E86AB"/>
              </a:solidFill>
            </a:ln>
          </p:spPr>
        </p:sp>
        <p:sp>
          <p:nvSpPr>
            <p:cNvPr id="15" name="TextBox 15"/>
            <p:cNvSpPr txBox="1"/>
            <p:nvPr/>
          </p:nvSpPr>
          <p:spPr>
            <a:xfrm>
              <a:off x="4562856" y="4739640"/>
              <a:ext cx="243067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Generic ayrık union</a:t>
              </a:r>
            </a:p>
          </p:txBody>
        </p:sp>
        <p:sp>
          <p:nvSpPr>
            <p:cNvPr id="16" name="TextBox 16"/>
            <p:cNvSpPr txBox="1"/>
            <p:nvPr/>
          </p:nvSpPr>
          <p:spPr>
            <a:xfrm>
              <a:off x="4565904" y="5128260"/>
              <a:ext cx="25191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ServisSonucu&lt;T&gt; başarı ve hata</a:t>
              </a:r>
              <a:br/>
              <a:r>
                <a:rPr lang="tr-TR" sz="1200" dirty="0">
                  <a:solidFill>
                    <a:srgbClr val="172B3A"/>
                  </a:solidFill>
                  <a:latin typeface="+mn-lt"/>
                  <a:ea typeface="+mn-ea"/>
                  <a:cs typeface="+mn-cs"/>
                </a:rPr>
                <a:t>sonuçlarını T ile genelleyerek tek</a:t>
              </a:r>
              <a:br/>
              <a:r>
                <a:rPr lang="tr-TR" sz="1200" dirty="0">
                  <a:solidFill>
                    <a:srgbClr val="172B3A"/>
                  </a:solidFill>
                  <a:latin typeface="+mn-lt"/>
                  <a:ea typeface="+mn-ea"/>
                  <a:cs typeface="+mn-cs"/>
                </a:rPr>
                <a:t>dönüş tipinde güvenle taşır.</a:t>
              </a:r>
            </a:p>
          </p:txBody>
        </p:sp>
      </p:grpSp>
      <p:grpSp>
        <p:nvGrpSpPr>
          <p:cNvPr id="21" name="mini-strict"/>
          <p:cNvGrpSpPr/>
          <p:nvPr/>
        </p:nvGrpSpPr>
        <p:grpSpPr>
          <a:xfrm>
            <a:off x="8077200" y="4572000"/>
            <a:ext cx="3505200" cy="1428750"/>
            <a:chOff x="8077200" y="4572000"/>
            <a:chExt cx="3505200" cy="1428750"/>
          </a:xfrm>
        </p:grpSpPr>
        <p:sp>
          <p:nvSpPr>
            <p:cNvPr id="18" name="Rectangle 18"/>
            <p:cNvSpPr/>
            <p:nvPr/>
          </p:nvSpPr>
          <p:spPr>
            <a:xfrm>
              <a:off x="8077200" y="4572000"/>
              <a:ext cx="3505200" cy="1428750"/>
            </a:xfrm>
            <a:prstGeom prst="roundRect">
              <a:avLst>
                <a:gd name="adj" fmla="val 6667"/>
              </a:avLst>
            </a:prstGeom>
            <a:solidFill>
              <a:srgbClr val="FFFFFF"/>
            </a:solidFill>
            <a:ln w="14288">
              <a:solidFill>
                <a:srgbClr val="00A6A6"/>
              </a:solidFill>
            </a:ln>
          </p:spPr>
        </p:sp>
        <p:sp>
          <p:nvSpPr>
            <p:cNvPr id="19" name="TextBox 19"/>
            <p:cNvSpPr txBox="1"/>
            <p:nvPr/>
          </p:nvSpPr>
          <p:spPr>
            <a:xfrm>
              <a:off x="8296656" y="4739640"/>
              <a:ext cx="198533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Strict daraltma</a:t>
              </a:r>
            </a:p>
          </p:txBody>
        </p:sp>
        <p:sp>
          <p:nvSpPr>
            <p:cNvPr id="20" name="TextBox 20"/>
            <p:cNvSpPr txBox="1"/>
            <p:nvPr/>
          </p:nvSpPr>
          <p:spPr>
            <a:xfrm>
              <a:off x="8299704" y="5128260"/>
              <a:ext cx="25115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find sonucu undefined denetlenir;</a:t>
              </a:r>
              <a:br/>
              <a:r>
                <a:rPr lang="tr-TR" sz="1200" dirty="0">
                  <a:solidFill>
                    <a:srgbClr val="172B3A"/>
                  </a:solidFill>
                  <a:latin typeface="+mn-lt"/>
                  <a:ea typeface="+mn-ea"/>
                  <a:cs typeface="+mn-cs"/>
                </a:rPr>
                <a:t>basarili alanına bakılmadan veri</a:t>
              </a:r>
              <a:br/>
              <a:r>
                <a:rPr lang="tr-TR" sz="1200" dirty="0">
                  <a:solidFill>
                    <a:srgbClr val="172B3A"/>
                  </a:solidFill>
                  <a:latin typeface="+mn-lt"/>
                  <a:ea typeface="+mn-ea"/>
                  <a:cs typeface="+mn-cs"/>
                </a:rPr>
                <a:t>alanına erişilemez.</a:t>
              </a:r>
            </a:p>
          </p:txBody>
        </p:sp>
      </p:grpSp>
      <p:sp>
        <p:nvSpPr>
          <p:cNvPr id="22" name="TextBox 2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temel-tipler"/>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150158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Temel tipler</a:t>
              </a:r>
            </a:p>
          </p:txBody>
        </p:sp>
        <p:sp>
          <p:nvSpPr>
            <p:cNvPr id="8" name="TextBox 8"/>
            <p:cNvSpPr txBox="1"/>
            <p:nvPr/>
          </p:nvSpPr>
          <p:spPr>
            <a:xfrm>
              <a:off x="832104" y="1908810"/>
              <a:ext cx="26106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Kullanıcı, kitap ve sipariş alanları</a:t>
              </a:r>
              <a:br/>
              <a:r>
                <a:rPr lang="tr-TR" sz="1200" dirty="0">
                  <a:solidFill>
                    <a:srgbClr val="172B3A"/>
                  </a:solidFill>
                  <a:latin typeface="+mn-lt"/>
                  <a:ea typeface="+mn-ea"/>
                  <a:cs typeface="+mn-cs"/>
                </a:rPr>
                <a:t>number, string ve boolean ile</a:t>
              </a:r>
              <a:br/>
              <a:r>
                <a:rPr lang="tr-TR" sz="1200" dirty="0">
                  <a:solidFill>
                    <a:srgbClr val="172B3A"/>
                  </a:solidFill>
                  <a:latin typeface="+mn-lt"/>
                  <a:ea typeface="+mn-ea"/>
                  <a:cs typeface="+mn-cs"/>
                </a:rPr>
                <a:t>anlamına uygun modellendi.</a:t>
              </a:r>
            </a:p>
          </p:txBody>
        </p:sp>
      </p:grpSp>
      <p:grpSp>
        <p:nvGrpSpPr>
          <p:cNvPr id="13" name="summary-cikarim"/>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162945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Tip çıkarımı</a:t>
              </a:r>
            </a:p>
          </p:txBody>
        </p:sp>
        <p:sp>
          <p:nvSpPr>
            <p:cNvPr id="12" name="TextBox 12"/>
            <p:cNvSpPr txBox="1"/>
            <p:nvPr/>
          </p:nvSpPr>
          <p:spPr>
            <a:xfrm>
              <a:off x="4565904" y="1908810"/>
              <a:ext cx="22600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Yerel ve açık değerlerde kodu</a:t>
              </a:r>
              <a:br/>
              <a:r>
                <a:rPr lang="tr-TR" sz="1200" dirty="0">
                  <a:solidFill>
                    <a:srgbClr val="172B3A"/>
                  </a:solidFill>
                  <a:latin typeface="+mn-lt"/>
                  <a:ea typeface="+mn-ea"/>
                  <a:cs typeface="+mn-cs"/>
                </a:rPr>
                <a:t>sadeleştirir; API sınırlarında</a:t>
              </a:r>
              <a:br/>
              <a:r>
                <a:rPr lang="tr-TR" sz="1200" dirty="0">
                  <a:solidFill>
                    <a:srgbClr val="172B3A"/>
                  </a:solidFill>
                  <a:latin typeface="+mn-lt"/>
                  <a:ea typeface="+mn-ea"/>
                  <a:cs typeface="+mn-cs"/>
                </a:rPr>
                <a:t>açık tip daha yararlıdır.</a:t>
              </a:r>
            </a:p>
          </p:txBody>
        </p:sp>
      </p:grpSp>
      <p:grpSp>
        <p:nvGrpSpPr>
          <p:cNvPr id="17" name="summary-interface"/>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122163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Interface</a:t>
              </a:r>
            </a:p>
          </p:txBody>
        </p:sp>
        <p:sp>
          <p:nvSpPr>
            <p:cNvPr id="16" name="TextBox 16"/>
            <p:cNvSpPr txBox="1"/>
            <p:nvPr/>
          </p:nvSpPr>
          <p:spPr>
            <a:xfrm>
              <a:off x="8299704" y="1908810"/>
              <a:ext cx="24201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Nesne sözleşmesi kurar; servis,</a:t>
              </a:r>
              <a:br/>
              <a:r>
                <a:rPr lang="tr-TR" sz="1200" dirty="0">
                  <a:solidFill>
                    <a:srgbClr val="172B3A"/>
                  </a:solidFill>
                  <a:latin typeface="+mn-lt"/>
                  <a:ea typeface="+mn-ea"/>
                  <a:cs typeface="+mn-cs"/>
                </a:rPr>
                <a:t>denetleyici ve veri katmanı aynı</a:t>
              </a:r>
              <a:br/>
              <a:r>
                <a:rPr lang="tr-TR" sz="1200" dirty="0">
                  <a:solidFill>
                    <a:srgbClr val="172B3A"/>
                  </a:solidFill>
                  <a:latin typeface="+mn-lt"/>
                  <a:ea typeface="+mn-ea"/>
                  <a:cs typeface="+mn-cs"/>
                </a:rPr>
                <a:t>yapıyı paylaşır.</a:t>
              </a:r>
            </a:p>
          </p:txBody>
        </p:sp>
      </p:grpSp>
      <p:grpSp>
        <p:nvGrpSpPr>
          <p:cNvPr id="21" name="summary-union"/>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66156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Union</a:t>
              </a:r>
            </a:p>
          </p:txBody>
        </p:sp>
        <p:sp>
          <p:nvSpPr>
            <p:cNvPr id="20" name="TextBox 20"/>
            <p:cNvSpPr txBox="1"/>
            <p:nvPr/>
          </p:nvSpPr>
          <p:spPr>
            <a:xfrm>
              <a:off x="832104" y="3718560"/>
              <a:ext cx="21686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Geçerli durumları sınırlar;</a:t>
              </a:r>
              <a:br/>
              <a:r>
                <a:rPr lang="tr-TR" sz="1200" dirty="0">
                  <a:solidFill>
                    <a:srgbClr val="172B3A"/>
                  </a:solidFill>
                  <a:latin typeface="+mn-lt"/>
                  <a:ea typeface="+mn-ea"/>
                  <a:cs typeface="+mn-cs"/>
                </a:rPr>
                <a:t>ayrık union başarı ve hatayı</a:t>
              </a:r>
              <a:br/>
              <a:r>
                <a:rPr lang="tr-TR" sz="1200" dirty="0">
                  <a:solidFill>
                    <a:srgbClr val="172B3A"/>
                  </a:solidFill>
                  <a:latin typeface="+mn-lt"/>
                  <a:ea typeface="+mn-ea"/>
                  <a:cs typeface="+mn-cs"/>
                </a:rPr>
                <a:t>güvenle ayırır.</a:t>
              </a:r>
            </a:p>
          </p:txBody>
        </p:sp>
      </p:grpSp>
      <p:grpSp>
        <p:nvGrpSpPr>
          <p:cNvPr id="25" name="summary-generic"/>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94164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Generic</a:t>
              </a:r>
            </a:p>
          </p:txBody>
        </p:sp>
        <p:sp>
          <p:nvSpPr>
            <p:cNvPr id="24" name="TextBox 24"/>
            <p:cNvSpPr txBox="1"/>
            <p:nvPr/>
          </p:nvSpPr>
          <p:spPr>
            <a:xfrm>
              <a:off x="4565904" y="3718560"/>
              <a:ext cx="22981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Tekrar eden servis kodunu veri</a:t>
              </a:r>
              <a:br/>
              <a:r>
                <a:rPr lang="tr-TR" sz="1200" dirty="0">
                  <a:solidFill>
                    <a:srgbClr val="172B3A"/>
                  </a:solidFill>
                  <a:latin typeface="+mn-lt"/>
                  <a:ea typeface="+mn-ea"/>
                  <a:cs typeface="+mn-cs"/>
                </a:rPr>
                <a:t>türünü kaybetmeden</a:t>
              </a:r>
              <a:br/>
              <a:r>
                <a:rPr lang="tr-TR" sz="1200" dirty="0">
                  <a:solidFill>
                    <a:srgbClr val="172B3A"/>
                  </a:solidFill>
                  <a:latin typeface="+mn-lt"/>
                  <a:ea typeface="+mn-ea"/>
                  <a:cs typeface="+mn-cs"/>
                </a:rPr>
                <a:t>genelleştirir.</a:t>
              </a:r>
            </a:p>
          </p:txBody>
        </p:sp>
      </p:grpSp>
      <p:grpSp>
        <p:nvGrpSpPr>
          <p:cNvPr id="29" name="summary-strict"/>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148955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Strict mode</a:t>
              </a:r>
            </a:p>
          </p:txBody>
        </p:sp>
        <p:sp>
          <p:nvSpPr>
            <p:cNvPr id="28" name="TextBox 28"/>
            <p:cNvSpPr txBox="1"/>
            <p:nvPr/>
          </p:nvSpPr>
          <p:spPr>
            <a:xfrm>
              <a:off x="8299704" y="3718560"/>
              <a:ext cx="19324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null ve undefined kaynaklı</a:t>
              </a:r>
              <a:br/>
              <a:r>
                <a:rPr lang="tr-TR" sz="1200" dirty="0">
                  <a:solidFill>
                    <a:srgbClr val="172B3A"/>
                  </a:solidFill>
                  <a:latin typeface="+mn-lt"/>
                  <a:ea typeface="+mn-ea"/>
                  <a:cs typeface="+mn-cs"/>
                </a:rPr>
                <a:t>hataları üretim ortamına</a:t>
              </a:r>
              <a:br/>
              <a:r>
                <a:rPr lang="tr-TR" sz="1200" dirty="0">
                  <a:solidFill>
                    <a:srgbClr val="172B3A"/>
                  </a:solidFill>
                  <a:latin typeface="+mn-lt"/>
                  <a:ea typeface="+mn-ea"/>
                  <a:cs typeface="+mn-cs"/>
                </a:rPr>
                <a:t>ulaşmadan yakalar.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841972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TypeScript'in en önemli katkısı, kodu "daha katı" yapmak değildir.</a:t>
              </a:r>
            </a:p>
          </p:txBody>
        </p:sp>
        <p:sp>
          <p:nvSpPr>
            <p:cNvPr id="32" name="TextBox 32"/>
            <p:cNvSpPr txBox="1"/>
            <p:nvPr/>
          </p:nvSpPr>
          <p:spPr>
            <a:xfrm>
              <a:off x="906399" y="5583079"/>
              <a:ext cx="548869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Belirsizliği görünür ve yönetilebilir hâle getirmektir.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8935212" cy="724281"/>
            <a:chOff x="599694" y="1484948"/>
            <a:chExt cx="8935212" cy="724281"/>
          </a:xfrm>
        </p:grpSpPr>
        <p:sp>
          <p:nvSpPr>
            <p:cNvPr id="7" name="TextBox 7"/>
            <p:cNvSpPr txBox="1"/>
            <p:nvPr/>
          </p:nvSpPr>
          <p:spPr>
            <a:xfrm>
              <a:off x="599694" y="1484948"/>
              <a:ext cx="8935212"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Tip sözleşmeleri artık kodun içinde görünür. Sıradaki adım, dış dünyadan</a:t>
              </a:r>
              <a:br/>
              <a:r>
                <a:rPr lang="tr-TR" sz="1950" dirty="0">
                  <a:solidFill>
                    <a:srgbClr val="172B3A"/>
                  </a:solidFill>
                  <a:latin typeface="+mn-lt"/>
                  <a:ea typeface="+mn-ea"/>
                  <a:cs typeface="+mn-cs"/>
                </a:rPr>
                <a:t>gelen veriyi de aynı güvenceyle karşılamaktır.</a:t>
              </a:r>
            </a:p>
          </p:txBody>
        </p:sp>
      </p:grpSp>
      <p:grpSp>
        <p:nvGrpSpPr>
          <p:cNvPr id="14" name="bridge-now"/>
          <p:cNvGrpSpPr/>
          <p:nvPr/>
        </p:nvGrpSpPr>
        <p:grpSpPr>
          <a:xfrm>
            <a:off x="599694" y="2799398"/>
            <a:ext cx="2934335" cy="1834419"/>
            <a:chOff x="599694" y="2799398"/>
            <a:chExt cx="2934335"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59448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Kullanıcı, kitap ve sipariş</a:t>
              </a:r>
              <a:br/>
              <a:r>
                <a:rPr lang="tr-TR" sz="1580" dirty="0">
                  <a:solidFill>
                    <a:srgbClr val="172B3A"/>
                  </a:solidFill>
                  <a:latin typeface="+mn-lt"/>
                  <a:ea typeface="+mn-ea"/>
                  <a:cs typeface="+mn-cs"/>
                </a:rPr>
                <a:t>modellerini tiplemek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684780"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Başarı ve hata sonuçlarını</a:t>
              </a:r>
              <a:br/>
              <a:r>
                <a:rPr lang="tr-TR" sz="1580" dirty="0">
                  <a:solidFill>
                    <a:srgbClr val="172B3A"/>
                  </a:solidFill>
                  <a:latin typeface="+mn-lt"/>
                  <a:ea typeface="+mn-ea"/>
                  <a:cs typeface="+mn-cs"/>
                </a:rPr>
                <a:t>güvenle ayırmak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2408158"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HTTP katmanı ve</a:t>
              </a:r>
              <a:br/>
              <a:r>
                <a:rPr lang="tr-TR" sz="2250" b="1" dirty="0">
                  <a:solidFill>
                    <a:srgbClr val="FFFFFF"/>
                  </a:solidFill>
                  <a:latin typeface="+mn-lt"/>
                  <a:ea typeface="+mn-ea"/>
                  <a:cs typeface="+mn-cs"/>
                </a:rPr>
                <a:t>API tasarımı</a:t>
              </a:r>
            </a:p>
          </p:txBody>
        </p:sp>
        <p:sp>
          <p:nvSpPr>
            <p:cNvPr id="18" name="TextBox 18"/>
            <p:cNvSpPr txBox="1"/>
            <p:nvPr/>
          </p:nvSpPr>
          <p:spPr>
            <a:xfrm>
              <a:off x="7307199" y="4135279"/>
              <a:ext cx="3577717"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Tip güvenliğini çalışma zamanı</a:t>
              </a:r>
              <a:br/>
              <a:r>
                <a:rPr lang="tr-TR" sz="1580" dirty="0">
                  <a:solidFill>
                    <a:srgbClr val="EAF4F6"/>
                  </a:solidFill>
                  <a:latin typeface="+mn-lt"/>
                  <a:ea typeface="+mn-ea"/>
                  <a:cs typeface="+mn-cs"/>
                </a:rPr>
                <a:t>doğrulamasıyla tamamlayacaksınız.</a:t>
              </a:r>
            </a:p>
          </p:txBody>
        </p:sp>
      </p:grpSp>
      <p:grpSp>
        <p:nvGrpSpPr>
          <p:cNvPr id="22"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6787134"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Her yeni servis fonksiyonunda giriş verisi, dönüş verisi ve</a:t>
              </a:r>
              <a:br/>
              <a:r>
                <a:rPr lang="tr-TR" sz="1800" b="1" dirty="0">
                  <a:solidFill>
                    <a:srgbClr val="12355B"/>
                  </a:solidFill>
                  <a:latin typeface="+mn-lt"/>
                  <a:ea typeface="+mn-ea"/>
                  <a:cs typeface="+mn-cs"/>
                </a:rPr>
                <a:t>hata durumları için ayrı sözleşmeler düşünün.</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03-typescript-backend-20260915">
  <a:themeElements>
    <a:clrScheme name="b03-typescript-backend-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3-typescript-backend-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3-typescript-backend-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03-typescript-backend-20260915">
  <a:themeElements>
    <a:clrScheme name="b03-typescript-backend-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3-typescript-backend-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3-typescript-backend-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2026-09-19T21:22:56Z</dcterms:created>
  <dcterms:modified xsi:type="dcterms:W3CDTF">2026-09-19T21:22:56Z</dcterms:modified>
  <cp:category/>
  <cp:contentStatus/>
</cp:coreProperties>
</file>