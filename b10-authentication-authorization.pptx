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Modern Sunucu Tabanlı Programlama dersinin onuncu bölümü olan Kimlik Doğrulama ve Yetkilendirme konusunu ele alıyor. Bu iki kavram, günümüz web ve API güvenliğinin temel taşlarıdır ve bölüm boyunca bir kütüphane otomasyon sistemi senaryosu üzerinden işlenecek; öğrenci ve kütüphaneci rolleri arasındaki farklı yetki düzeyleri, bölümün somut örneklerinin omurgasını oluşturacaktır. Prof. Dr. İsmail Kırbaş tarafından hazırlanan bu içerik, Mehmet Akif Ersoy Üniversitesi Bilgisayar Mühendisliği Bölümü'nde okutulan sunucu tabanlı programlama müfredatının bir parçasıdır ve önceki bölümlerde kurulan backend mimarisi bilgisi üzerine inşa edilir.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Bölüme başlamadan önce, dersin ilerleyen bölümlerinde yanıtlanacak altı temel soruyu gözden geçiriyoruz: kimlik doğrulama ile yetkilendirme arasındaki fark nedir, bir parola neden düz metin olarak saklanmamalıdır, JWT nasıl bir yapıya sahiptir ve neden durumsuzdur, authentication middleware isteği nasıl işler, RBAC modeli rolleri nasıl yönetir ve son olarak 401 ile 403 durum kodları arasındaki anlamsal fark nedir. Bu sorular, bölümün öğrenme hedeflerinin doğal bir önizlemesidir ve öğrencilerin zihninde bölüm boyunca cevaplanacak bir çerçeve oluşturur. Bölüm hedefi, bu altı sorunun tümüne kütüphane senaryosu üzerinden çalışan kod örnekleriyle yanıt verebilmektir.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bölümü tamamladığınızda beş temel yetkinlik kazanmış olacaksınız: salt kullanarak parola hashleme ve doğrulama yapabilmek, JWT'nin header-payload-imza yapısını okuyup üretebilmek, bir authentication middleware'in isteği nasıl işlediğini açıklayabilmek, RBAC ile rol tabanlı erişim denetimi kurabilmek ve 401 ile 403 durum kodlarını doğru senaryolarda ayırt edebilmek. Her hedefin yanında bir ölçüt bulunuyor; bu ölçütler, sınavda veya uygulamalı ödevde bu bilginin nasıl sınanacağının somut bir göstergesidir — örneğin sadece "JWT'yi bilmek" değil, geçerlilik süresi dolmuş bir token'ı doğru şekilde reddedebilmek beklenir. Bu hedefler, bölümün sonundaki öz değerlendirme sorularıyla ve cevap anahtarıyla doğrudan eşleşir.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Bölümün merkezinde kimlik doğrulama ve yetkilendirme ayrımı yer alıyor; bu merkezi kavramdan beş alt konuya doğru dallanıyoruz: parola güvenliği, JWT, authentication middleware, RBAC ve son olarak 401/403 ayrımı. Bu beş dal birbirinden bağımsız değildir — parola güvenliği bir girişin nasıl doğrulanacağını, JWT bu doğrulamanın durumsuz bir token'a nasıl dönüştürüleceğini, middleware bu token'ın her istekte nasıl kontrol edileceğini, RBAC ise doğrulanmış kimliğin hangi işlemlere yetkili olduğunu belirler; 401/403 ayrımı ise bu zincirin hangi aşamasında başarısızlık olduğunu istemciye doğru şekilde bildirir. Bu akış, bölümün geri kalanında sırasıyla işlenecek konuların doğal bir yol haritasıdır.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altı temel kavramın sorumluluklarını ve sınırlarını netleştiriyor: authentication kimliği doğrular ama yetki vermez; authorization yetkiyi denetler ama kimliği doğrulamaz; parola özetleme (hashing) parolayı geri döndürülemez hale getirir ama tek başına kaba kuvvet saldırısına karşı yeterli değildir, bu yüzden salt ile birlikte kullanılmalıdır; JWT kimliği taşır ama şifrelemez, bu nedenle hassas veri içermemelidir; RBAC rolleri yönetir ama her kaydın sahipliğini kontrol etmez — bu ayrı bir nesne düzeyi yetkilendirme gerektirir; 401/403 ayrımı ise istemciye doğru hata anlamını iletir ama güvenlik açığını kendiliğinden kapatmaz. Her satırdaki "olmazsa ne olur" sütunu, bu sorumluluğun atlanması durumunda ortaya çıkacak somut güvenlik riskini vurguluyor; bu, öğrencilerin her kavramı sadece tanımıyla değil, ihmal edildiğinde doğuracağı sonuçla hatırlamasını sağlamak için tasarlandı.</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Authentication (kimlik doğrulama), "sen kimsin?" sorusuna yanıt verirken, authorization (yetkilendirme) "bu işlemi yapmaya yetkin var mı?" sorusuna yanıt verir; bu iki denetim sıralıdır ve birbirinin yerine geçemez. Kaynaktaki kampüs analojisi bu ayrımı somutlaştırır: bir güvenlik görevlisi önce öğrenci kimliğinizi kontrol eder (authentication), ardından o kimlik kartının hangi binalara girişe izin verdiğine bakar (authorization) — kimliğiniz geçerli olsa bile laboratuvar binasına erişim yetkiniz olmayabilir. Bu iki aşamalı model, bölümün geri kalanındaki tüm teknik uygulamaların (parola doğrulama, JWT, middleware, RBAC) kavramsal temelidir; biri diğerinden önce gelir ve biri diğerinin yerini tutamaz.</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10.1, authentication ve authorization'ın neden bu sırayla çalıştırılması gerektiğini gösteren iki fonksiyonla somutlaşıyor: kimlikDogrula fonksiyonu token geçersizse veya kullanıcı yoksa hemen 401 hatası fırlatarak akışı durdurur; yetkilendir fonksiyonu ise yalnızca zaten doğrulanmış bir kullanıcı üzerinde çalışır ve rol uyuşmazlığında 403 üretir. Örnekte öğrenci rolündeki bir kullanıcı, kimliği doğrulanmış olmasına rağmen kütüphaneciye özel bir işlemi denediğinde yetkilendirme aşamasında reddedilir ve 403 hatası alır — bu, kimliği doğrulanmış olmanın her işlem için yetkili olmak anlamına gelmediğini somut biçimde gösteriyor. Gerçek bir Express uygulamasında bu sıra middleware zincirinde korunmalıdır; sıranın tersine çevrilmesi, kimliği doğrulanmamış bir isteğin rol kontrolüne ulaşmasına ve tanımsız davranışa yol açabilir.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Kimlik doğrulamanın session tabanlı, JWT tabanlı, API anahtarı ile veya OAuth/SSO üzerinden yapılabileceği dört farklı yaklaşım karşılaştırılıyor; her biri farklı bir kullanım senaryosuna uygundur — session sunucu tarafında durum tutarken, JWT durumsuzdur ve dağıtık sistemlerde ölçeklenmesi daha kolaydır, API anahtarları servisler arası iletişimde tercih edilir, OAuth/SSO ise üçüncü taraf kimlik sağlayıcılarıyla federasyon gerektiren senaryolarda kullanılır. Bu bölümde OAuth sağlayıcı implementasyonu ve SSO altyapısı kapsam dışı bırakılmıştır; bunlar kurumsal kimlik federasyonu gerektiren daha ileri senaryolarda ele alınacaktır. Sayfadaki yaygın hata uyarısı, parolanın düz metin olarak saklanmasının ne kadar tehlikeli olduğunu vurguluyor: bir veritabanı sızıntısında düz metin parolalar anında ele geçirilebilirken, doğru hashlenmiş parolalar saldırgana anlamlı bir avantaj sağlamaz.</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Parola hashing, bir parolayı geri döndürülemez bir özete dönüştüren tek yönlü bir işlemdir; salt ise her kullanıcı için üretilen benzersiz bir rastgele değerdir ve rainbow table saldırılarını etkisiz hale getirir. Diyagramda aynı "guclu-Parola123" parolasını kullanan iki farklı kullanıcı (elif ve yasemin) gösteriliyor: her ikisi de aynı düz metin parolayı kullansa bile, farklı salt değerleri nedeniyle tamamen farklı hash sonuçları üretiliyor. Bu, saldırganın önceden hesapladığı bir rainbow table'ın işe yaramamasını sağlar, çünkü her kullanıcı için ayrı bir tablo hesaplaması gerekirdi ki bu hesaplama maliyeti pratikte imkânsız hale gelir. Salt olmadan aynı parola her zaman aynı hash'i üretir ve bu, toplu kırma saldırılarını kolaylaştırır; salt ile birlikte her kullanıcının hash'i biricik hale gelir.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10.2, Node.js'in crypto modülünü kullanarak salt'lı parola hashleme ve doğrulamayı gösteriyor: parolaHashle fonksiyonu randomBytes(16) ile her kullanıcı için benzersiz bir salt üretir ve scryptSync ile bilinçli olarak yavaş bir hash hesaplar; bu yavaşlık, kaba kuvvet saldırılarını pratikte imkânsız hale getirecek şekilde tasarlanmıştır. parolaDogrula fonksiyonu ise girilen parolayı aynı salt ile yeniden hashler ve sonucu kayıtlı hash ile karşılaştırır — ancak bu karşılaştırma sıradan === operatörüyle değil, timingSafeEqual fonksiyonuyla yapılır. Bunun nedeni, === operatörünün ilk farklı bayttan itibaren karşılaştırmayı durdurması ve bu durdurma süresindeki mikro farkın bir saldırgana hash'in doğru kısımlarını adım adım tahmin etme imkânı verebilmesidir (zamanlama saldırısı); timingSafeEqual sabit zamanlı çalışarak bu bilgi sızıntısını engeller.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Parola hashleme için dört farklı algoritma karşılaştırılıyor: Node.js'in yerleşik scryptSync fonksiyonu, yaygın olarak kullanılan bcrypt, daha yeni ve bellek-yoğun tasarlanmış argon2, ve önerilmeyen düz SHA-256. Provos ve Mazières'in 1999'da USENIX'te tanıttığı bcrypt algoritması, parola hashleme için özel olarak tasarlanmış ilk yaygın çözümlerden biridir ve hâlâ endüstride geniş kullanım alanı bulur; argon2 ise Password Hashing Competition'ın kazananı olarak daha modern bir alternatiftir. SHA-256 gibi genel amaçlı özet fonksiyonları hızlı olacak şekilde tasarlanmıştır ve bu hız, parola güvenliği bağlamında bir avantaj değil dezavantajdır — saniyede milyarlarca deneme yapabilen bir GPU, saltsız ve hızlı bir hash'i kısa sürede kırabilir. Sayfadaki yaygın hata uyarısı, tam olarak bu tuzağa işaret ediyor: hızlı ve saltsız bir özet fonksiyonu kullanmak, güvenlik sağlıyormuş hissi verirken aslında ciddi bir zafiyet yaratır.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JWT (JSON Web Token), noktalarla ayrılmış üç bölümden oluşur: header, payload ve imza; her bölüm Base64Url ile kodlanmıştır ve bu kodlama şifreleme değildir — herkes bu bölümleri çözüp içeriğini okuyabilir. RFC 7519 standardına göre tanımlanan JWT'nin gerçek güvencesi imza bölümündedir: imza, header ve payload'ın gizli bir anahtarla imzalanmış halidir ve içeriğin sunucu tarafından üretildiğinden ve değiştirilmediğinden emin olmayı sağlar, ama içeriği gizlemez. JWT'nin var olma nedeni durumsuzluktur (statelessness): sunucu, her istekte bir oturum veritabanına bakmak zorunda kalmadan, token'ın imzasını doğrulayarak kullanıcının kimliğini ve rolünü anında öğrenebilir; bu özellik JWT'yi yatay ölçeklenen dağıtık sistemlerde özellikle değerli kılar.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sıra diyagramı, bir istemci ile sunucu arasındaki tipik bir JWT tabanlı kimlik doğrulama akışını gösteriyor: istemci önce POST /login isteğiyle kimlik bilgilerini gönderir ve sunucu, parola doğrulanırsa 200 yanıtıyla birlikte bir JWT döner. İstemci daha sonra korumalı bir kaynağa GET /korumali isteği gönderirken bu token'ı Authorization başlığında taşır; sunucu tarafında bu istek önce authentication middleware'den geçer (token imzası ve süresi doğrulanır), ardından RBAC guard'dan geçer (kullanıcının rolü kontrol edilir). Bu iki iç adımın sonucuna göre üç farklı yanıt mümkündür: her iki denetim de başarılıysa 200 OK, kimlik doğrulama başarısızsa 401, kimlik doğru ama rol yetersizse 403 döner — bu diyagram, önceki sayfalarda anlatılan authentication/authorization sırasının gerçek bir HTTP isteği üzerinde nasıl somutlaştığını gösteriyor.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10.3, HMAC-SHA256 kullanarak basitleştirilmiş bir JWT imzalama ve doğrulama mekanizması gösteriyor: imzaOlustur fonksiyonu gizli anahtar ile header ve payload'ın birleşiminin HMAC imzasını üretir, tokenUret bu üç parçayı noktalarla birleştirerek tam token'ı oluşturur. tokenDogrula fonksiyonu ise gelen token'ı üç parçaya ayırır, imzayı yeniden hesaplayıp karşılaştırır ve ardından payload içindeki sonGecerlilik alanını kontrol eder. Buradaki kritik mimari karar, imza kontrolünün süre kontrolünden önce yapılmasıdır: eğer süre kontrolü imza kontrolünden önce yapılsaydı, saldırgan payload'ı değiştirip süreyi uzatarak geçersiz bir token'ı geçerliymiş gibi gösterebilirdi; imza her zaman ilk doğrulanması gereken bütünlük denetimidir, çünkü imza geçersizse payload içeriğine hiç güvenilmemelidir.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JWT'ye alternatif olarak session tabanlı kimlik doğrulama (sunucu tarafında saklanan oturum bilgisi ve istemciye verilen bir çerez), jsonwebtoken gibi hazır npm kütüphaneleri (üretim ortamında elle HMAC yazmak yerine kullanılması önerilir), ve opak token + veritabanı sorgusu yaklaşımı karşılaştırılıyor. Opak token yaklaşımında token'ın kendisi anlamsız bir dizgeden ibarettir ve her istekte veritabanında aranması gerekir; bu, JWT'nin durumsuzluk avantajını kaybettirir ama token'ın anında iptal edilebilmesini sağlar — JWT'de ise süresi dolmadan bir token'ı iptal etmek doğrudan mümkün değildir. Sayfadaki yaygın hata uyarısı, JWT payload'ına parola gibi hassas veri koymanın tehlikesini gösteriyor: payload base64url ile kolayca çözülüp düz metin olarak okunabildiği için, buraya konan herhangi bir hassas bilgi fiilen herkese açık hale gelir.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Authentication middleware, bir HTTP isteği route işleyicisine ulaşmadan önce çalışan ve Authorization başlığındaki token'ı doğrulayan bir fonksiyondur; doğrulama başarılıysa doğrulanan kullanıcı bilgisini isteğe ekleyip next() ile bir sonraki işleyiciye devreder, başarısızsa 401 döner ve next() hiç çağrılmaz. Bu middleware kavramının mimari kökeni, Gamma, Helm, Johnson ve Vlissides'in 1994 tarihli Design Patterns kitabında tanımladığı Chain of Responsibility (Sorumluluk Zinciri) tasarım desenidir: istek sırayla işleyicilerden geçer, her işleyici isteği ya işler ya da bir sonraki halkaya devreder. Express bu deseni Node.js ekosistemine taşımıştır; burada vurgulanması gereken önemli nokta, middleware'in ince tutulması gerektiğidir — yalnızca kimlik doğrulama yapar, rol kararını (RBAC) ayrı bir halkaya bırakır, böylece her middleware tek bir sorumluluğa sahip olur.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10.4, Express tarzı bir authMiddleware fonksiyonunun gerçek uygulamasını gösteriyor: fonksiyon önce Authorization başlığının varlığını ve "Bearer " ön ekiyle başladığını kontrol eder, yoksa hemen 401 döner; token çıkarıldıktan sonra tokenDogrulaVeKullaniciDondur fonksiyonuyla doğrulanır ve başarılıysa istek.kullanici alanına yazılıp next() çağrılır, başarısızsa catch bloğunda 401 döner. Bu middleware'in kritik sınırı, yalnızca kimlik doğrulaması yapması, rol kontrolü içermemesidir; bir sonraki bölümde göreceğimiz requireRole gibi ayrı bir authorization middleware'i, rol bazlı erişim kısıtlamasını bu temel üzerine ekleyecektir. Doğrulama başarılı olduğunda istek.kullanici alanının doldurulması, zincirdeki sonraki her middleware ve route handler'ın kullanıcı bilgisine yeniden veritabanı sorgusu yapmadan erişebilmesini sağlar.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RBAC (Role-Based Access Control), kullanıcılara doğrudan izin atamak yerine roller tanımlayan ve kullanıcıları bu rollere atayan bir yetkilendirme modelidir. Doğrudan atama modelinde n kullanıcı ve m izin varsa, en kötü durumda n çarpı m ilişkinin yönetilmesi gerekir — kullanıcı sayısı arttıkça bu karmaşıklık hızla yönetilemez hale gelir; RBAC ise bir dolaylama (indirection) katmanı ekleyerek yalnızca kullanıcı-rol ve rol-izin ilişkilerinin yönetilmesini sağlar, bu da yönetim karmaşıklığını önemli ölçüde azaltır. Diyagramdaki öğrenci ve kütüphaneci rolleri örneği, kütüphane senaryosunda bu modelin nasıl işlediğini gösteriyor: öğrenci rolü yalnızca kayıt görüntüleyebilirken, kütüphaneci rolü kitap ekleyip silebilir. RBAC'ın kuramsal temeli, Sandhu, Coyne, Feinstein ve Youman'ın 1996'da IEEE Computer'da yayımladığı "Role-Based Access Control Models" makalesine ve daha sonra ANSI/INCITS 359-2004 standardına dayanır; bu, RBAC'ın akademik ve endüstriyel olarak kabul görmüş, olgun bir modele oturduğunu gösterir.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10.5, requireRole adında bir middleware fabrikası (factory function) gösteriyor: bu fonksiyon belirli bir rol parametresi alır ve o role özel bir middleware üretir; üretilen middleware önce istek.kullanici alanının dolu olup olmadığını kontrol eder (dolu değilse 401 döner, çünkü kimlik doğrulama daha önce tamamlanmamış demektir), ardından kullanıcının rolünü gerekli rolle karşılaştırır (uyuşmuyorsa 403 döner, uyuşuyorsa next() çağrılır). Bu tasarımın kritik noktası, requireRole middleware'inin route tanımında authMiddleware'den mutlaka sonra eklenmesi gerektiğidir; sıra tersine çevrilirse istek.kullanici alanı henüz tanımlanmamış olur ve RBAC kontrolü anlamsız hale gelir. Sayfanın alt kısmındaki uyarı, RBAC pratiğindeki en yaygın ve tehlikeli hatalardan birine işaret ediyor: rol kontrolünün yalnızca istemci tarafında (örneğin bir düğmenin gizlenmesiyle) yapılması gerçek bir güvenlik önlemi değildir, çünkü istemci tarafı kod her zaman manipüle edilebilir; asıl yetki denetimi mutlaka sunucu tarafında yapılmalıdır.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401 Unauthorized, kimlik doğrulamanın başarısız veya eksik olduğu durumda (token yok, süresi dolmuş veya geçersiz) döndürülürken, 403 Forbidden kimlik doğrulandığı halde kullanıcının rolünün veya izninin yetersiz olduğu durumda döndürülür — "sen kimsin, henüz bilmiyorum" ile "seni tanıyorum ama buraya giremezsin" arasındaki fark budur. İlginç bir tarihsel not: "401 Unauthorized" adı, aslında 1996 tarihli RFC 1945 taslağından kalan bir isimlendirme hatasıdır; anlamı gerçekte "kimliği doğrulanmamış" (Unauthenticated) olması gerekirken tarihsel olarak bu isimle yerleşmiştir, ve RFC 9110 (2022) bu semantiği daha net biçimde tanımlar. Tablodaki 404 ve 400 durum kodları da bu ikiliyle karıştırılmaması gereken komşu kavramlar olarak ekleniyor: 404 bazen güvenlik amacıyla 403 yerine kaynağın varlığını gizlemek için kasıtlı olarak kullanılırken, 400 tamamen farklı bir kategoriye, istek biçimindeki hatalara işaret eder.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güvenlik mimarisinde sıkça karşılaşılan üç kritik yanılgıyı ele alıyor. Birincisi, JWT'nin şifreli bir belirteç olduğu ve içeriğinin kimse tarafından okunamayacağı yanılgısıdır — oysa JWT yalnızca imzalıdır, şifreli değildir; payload Base64Url ile kodludur ve saniyeler içinde çözülüp okunabilir, bu nedenle payload'a asla parola veya kimlik numarası gibi hassas veri konulmamalıdır. İkincisi, kullanıcının giriş yapmış olmasının kendi gönderdiği herhangi bir ID ile ilgili kaydı güncelleyebileceği yanılgısıdır; bu aslında BOLA/IDOR (Insecure Direct Object Reference) olarak bilinen ve OWASP API Top 10 listesinde birinci sırada yer alan çok yaygın bir güvenlik açığıdır — saldırgan kendi token'ıyla başkasının kayıt ID'sini göndererek başkasının verisini değiştirebilir; çözüm, her işlemde kaydın gerçekten o kullanıcıya ait olup olmadığını doğrulayan nesne düzeyi yetkilendirmedir. Üçüncüsü, MD5 veya SHA-256'nın parola hashleme için yeterli olduğu yanılgısıdır; bu algoritmalar hız için tasarlanmıştır ve GPU'larla saniyede milyarlarca deneme yapılarak rainbow table saldırılarıyla kırılabilir, bu yüzden özel olarak yavaşlatılmış ve tuzlanmış bcrypt veya argon2 gibi algoritmalar tercih edilmelidir.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alıştırma, hatalı bir kitapEkleHatali fonksiyonunu inceliyor: fonksiyon, kullanici parametresinin null olabileceğini TypeScript tipinde belirtmesine rağmen doğrudan kullanici.rol'e erişiyor, bu da TypeScript derleyicisinin TS18047 hatasını vermesine ve çalışma zamanında bir TypeError'a yol açmasına neden oluyor. Laboratuvar tartışmasındaki öğrencilerin işaret ettiği gibi, bu sadece bir tip hatası değil, daha derin bir mimari hatadır: fonksiyon, kullanıcının kimliğinin daha önce doğrulanıp doğrulanmadığını hiç sorgulamadan doğrudan role bakıyor, ve "Yetkisiz işlem" mesajı 401 mi yoksa 403 mü olduğunu belirtmiyor. Düzeltilmiş kodda üç değişiklik yapılıyor: null kontrolü eklenerek 401 durumu ayrıştırılıyor, rol uyuşmazlığı ayrı bir dalda 403 olarak ele alınıyor, ve rol: string yerine 'ogrenci' | 'kutuphaneci' biçiminde bir union tip tanımlanarak geçersiz rol değerlerinin (örneğin "admin") derleme aşamasında yakalanması sağlanıyor. İzleme tablosundaki dört senaryo, bu değişikliklerin somut etkisini gösteriyor: kimliksiz istek artık bir çökme yerine düzgün bir 401 yanıtı üretiyor, geçersiz rol girişi ise artık derleme zamanında tespit ediliyor ve üretime hiç ulaşamıyor.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10.7, bölümde öğrenilen tüm kavramları tek bir akışta birleştiren uçtan uca bir mini uygulama sunuyor: KullaniciRepository bellek içi bir veri kaynağı olarak kullanıcı kayıtlarını (salt ve parolaHash dahil) saklıyor, AuthService kayitOl ve girisYap metodlarıyla parola hashleme ve JWT üretimi iş kurallarını yönetiyor, KutuphaneController ise gelen token'ı doğrulayıp requireRole ile rol kontrolü yaparak HTTP benzeri bir yanıt üretiyor. Örnek çalıştırmada aynı kitapEkle metodu üç farklı token ile çağrılıyor: kütüphaneci token'ı 201 (başarılı) sonucu verirken, öğrenci token'ı kimliği doğru olsa bile 403 (yetkisiz) sonucu veriyor, ve geçersiz bir token dizgesi 401 (kimlik doğrulanamadı) sonucu veriyor — bu üç farklı sonuç, aynı isteğin farklı aşamalarda nasıl farklı şekillerde reddedilebileceğini net biçimde gösteriyor. Bu mimari, repository-service-controller katmanlarının ayrılmasının, güvenlik mantığının (parola hashleme, token doğrulama, rol kontrolü) iş mantığından nasıl temiz bir şekilde soyutlanabileceğinin de bir örneğidir.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kimlik doğrulama ve yetkilendirmenin birbirinden ayrı ama sıralı iki denetim olduğu görüldü: authentication isteği gönderenin kim olduğunu doğrularken, authorization o kimliğin belirli bir işlemi yapmaya izinli olup olmadığını denetler. Parolalar hiçbir zaman düz metin olarak saklanmamalı; salt ile birlikte scrypt, bcrypt veya argon2 gibi bilinçli olarak yavaş çalışan bir fonksiyonla hashlenmelidir. JWT, sunucunun durumsuz kalmasını sağlayan, header-payload-imza yapısına sahip bir token biçimidir; hassas veri içermemeli ve süre kontrolü mutlaka yapılmalıdır — authentication middleware bu token'ı doğrulayıp kullanıcıyı isteğe eklerken, RBAC guard'ları kullanıcının rolüne göre belirli işlemlere erişimi sınırlar. 401 ve 403 durum kodları, hatanın kimlik sorunu mu yoksa yetki sorunu mu olduğunu istemciye doğru biçimde iletmek için özenle ayrı tutulmalıdır; bu bölümdeki OAuth sağlayıcı implementasyonu ve SSO altyapısı konuları kapsam dışı bırakılmış olup, bunlar kurumsal kimlik federasyonu gerektiren daha ileri senaryolarda ele alınacaktır.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parola hashleme, JWT tabanlı authentication, authentication middleware, RBAC ile yetkilendirme ve 401/403 durum kodu ayrımını kütüphane senaryosu üzerinden uyguladınız; artık bir isteğin kimliğinin nasıl doğrulandığını ve yetkisinin nasıl kontrol edildiğini biliyorsunuz. Ancak bir backend'in güvenliği yalnızca bu iki denetimle sınırlı değildir — bir sonraki bölümde girdi doğrulama (validation), hız sınırlama (rate limiting), güvenlik başlıkları (security headers) ve genel hata middleware'i gibi bir backend'i uçtan uca güvenli hale getiren ek denetimler ele alınacak. Bu bölümde kurulan authentication ve authorization temeli, o denetimlerin üzerine doğrudan inşa edilecek; örneğin girdi doğrulama, authentication middleware'inden sonra çalışan ve isteğin içeriğini denetleyen benzer bir ara katman mantığı izleyecektir.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10-authentication-authorization-2026091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10-authentication-authorization-2026091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10</a:t>
              </a:r>
            </a:p>
          </p:txBody>
        </p:sp>
      </p:grpSp>
      <p:grpSp>
        <p:nvGrpSpPr>
          <p:cNvPr id="8" name="cover-title"/>
          <p:cNvGrpSpPr/>
          <p:nvPr/>
        </p:nvGrpSpPr>
        <p:grpSpPr>
          <a:xfrm>
            <a:off x="4933950" y="1546860"/>
            <a:ext cx="4490656" cy="2152650"/>
            <a:chOff x="4933950" y="1546860"/>
            <a:chExt cx="4490656" cy="2152650"/>
          </a:xfrm>
        </p:grpSpPr>
        <p:sp>
          <p:nvSpPr>
            <p:cNvPr id="7" name="TextBox 7"/>
            <p:cNvSpPr txBox="1"/>
            <p:nvPr/>
          </p:nvSpPr>
          <p:spPr>
            <a:xfrm>
              <a:off x="4933950" y="1546860"/>
              <a:ext cx="4490656" cy="2152650"/>
            </a:xfrm>
            <a:prstGeom prst="rect">
              <a:avLst/>
            </a:prstGeom>
            <a:noFill/>
            <a:ln>
              <a:noFill/>
            </a:ln>
          </p:spPr>
          <p:txBody>
            <a:bodyPr wrap="none" lIns="0" tIns="0" rIns="0" bIns="0" anchor="t" anchorCtr="0">
              <a:spAutoFit/>
            </a:bodyPr>
            <a:lstStyle/>
            <a:p>
              <a:pPr algn="l">
                <a:lnSpc>
                  <a:spcPts val="5250"/>
                </a:lnSpc>
              </a:pPr>
              <a:r>
                <a:rPr lang="tr-TR" sz="4200" b="1" dirty="0">
                  <a:solidFill>
                    <a:srgbClr val="12355B"/>
                  </a:solidFill>
                  <a:latin typeface="+mj-lt"/>
                  <a:ea typeface="+mj-ea"/>
                  <a:cs typeface="+mj-cs"/>
                </a:rPr>
                <a:t>Kimlik Doğrulama</a:t>
              </a:r>
              <a:br/>
              <a:r>
                <a:rPr lang="tr-TR" sz="4200" b="1" dirty="0">
                  <a:solidFill>
                    <a:srgbClr val="12355B"/>
                  </a:solidFill>
                  <a:latin typeface="+mj-lt"/>
                  <a:ea typeface="+mj-ea"/>
                  <a:cs typeface="+mj-cs"/>
                </a:rPr>
                <a:t>ve</a:t>
              </a:r>
              <a:br/>
              <a:r>
                <a:rPr lang="tr-TR" sz="4200" b="1" dirty="0">
                  <a:solidFill>
                    <a:srgbClr val="12355B"/>
                  </a:solidFill>
                  <a:latin typeface="+mj-lt"/>
                  <a:ea typeface="+mj-ea"/>
                  <a:cs typeface="+mj-cs"/>
                </a:rPr>
                <a:t>Yetkilendirme</a:t>
              </a:r>
            </a:p>
          </p:txBody>
        </p:sp>
      </p:grpSp>
      <p:grpSp>
        <p:nvGrpSpPr>
          <p:cNvPr id="12" name="cover-subtitle"/>
          <p:cNvGrpSpPr/>
          <p:nvPr/>
        </p:nvGrpSpPr>
        <p:grpSpPr>
          <a:xfrm>
            <a:off x="4943094" y="4095750"/>
            <a:ext cx="4648390" cy="900018"/>
            <a:chOff x="4943094" y="4095750"/>
            <a:chExt cx="4648390" cy="900018"/>
          </a:xfrm>
        </p:grpSpPr>
        <p:sp>
          <p:nvSpPr>
            <p:cNvPr id="9" name="Rectangle 9"/>
            <p:cNvSpPr/>
            <p:nvPr/>
          </p:nvSpPr>
          <p:spPr>
            <a:xfrm>
              <a:off x="4953000" y="4095750"/>
              <a:ext cx="1143000" cy="38100"/>
            </a:xfrm>
            <a:prstGeom prst="rect">
              <a:avLst/>
            </a:prstGeom>
            <a:solidFill>
              <a:srgbClr val="00A6A6"/>
            </a:solidFill>
            <a:ln>
              <a:noFill/>
            </a:ln>
          </p:spPr>
        </p:sp>
        <p:sp>
          <p:nvSpPr>
            <p:cNvPr id="10" name="TextBox 10"/>
            <p:cNvSpPr txBox="1"/>
            <p:nvPr/>
          </p:nvSpPr>
          <p:spPr>
            <a:xfrm>
              <a:off x="4943094" y="4228148"/>
              <a:ext cx="4648390"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Sunucu Tabanlı Programlama</a:t>
              </a:r>
            </a:p>
          </p:txBody>
        </p:sp>
        <p:sp>
          <p:nvSpPr>
            <p:cNvPr id="11" name="TextBox 11"/>
            <p:cNvSpPr txBox="1"/>
            <p:nvPr/>
          </p:nvSpPr>
          <p:spPr>
            <a:xfrm>
              <a:off x="4944999" y="4687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map-intro"/>
          <p:cNvGrpSpPr/>
          <p:nvPr/>
        </p:nvGrpSpPr>
        <p:grpSpPr>
          <a:xfrm>
            <a:off x="601599" y="1182529"/>
            <a:ext cx="5266286" cy="308039"/>
            <a:chOff x="601599" y="1182529"/>
            <a:chExt cx="5266286" cy="308039"/>
          </a:xfrm>
        </p:grpSpPr>
        <p:sp>
          <p:nvSpPr>
            <p:cNvPr id="6" name="TextBox 6"/>
            <p:cNvSpPr txBox="1"/>
            <p:nvPr/>
          </p:nvSpPr>
          <p:spPr>
            <a:xfrm>
              <a:off x="601599" y="1182529"/>
              <a:ext cx="526628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altı soruyu aklınızda tutun:</a:t>
              </a:r>
            </a:p>
          </p:txBody>
        </p:sp>
      </p:grpSp>
      <p:grpSp>
        <p:nvGrpSpPr>
          <p:cNvPr id="11" name="q1"/>
          <p:cNvGrpSpPr/>
          <p:nvPr/>
        </p:nvGrpSpPr>
        <p:grpSpPr>
          <a:xfrm>
            <a:off x="666750" y="1543050"/>
            <a:ext cx="7623683" cy="614267"/>
            <a:chOff x="666750" y="1543050"/>
            <a:chExt cx="7623683" cy="614267"/>
          </a:xfrm>
        </p:grpSpPr>
        <p:sp>
          <p:nvSpPr>
            <p:cNvPr id="8" name="Ellipse 8"/>
            <p:cNvSpPr/>
            <p:nvPr/>
          </p:nvSpPr>
          <p:spPr>
            <a:xfrm>
              <a:off x="666750" y="1543050"/>
              <a:ext cx="342900" cy="342900"/>
            </a:xfrm>
            <a:prstGeom prst="ellipse">
              <a:avLst/>
            </a:prstGeom>
            <a:solidFill>
              <a:srgbClr val="12355B"/>
            </a:solidFill>
            <a:ln>
              <a:noFill/>
            </a:ln>
          </p:spPr>
        </p:sp>
        <p:sp>
          <p:nvSpPr>
            <p:cNvPr id="9" name="TextBox 9"/>
            <p:cNvSpPr txBox="1"/>
            <p:nvPr/>
          </p:nvSpPr>
          <p:spPr>
            <a:xfrm>
              <a:off x="768782" y="161115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1</a:t>
              </a:r>
            </a:p>
          </p:txBody>
        </p:sp>
        <p:sp>
          <p:nvSpPr>
            <p:cNvPr id="10" name="TextBox 10"/>
            <p:cNvSpPr txBox="1"/>
            <p:nvPr/>
          </p:nvSpPr>
          <p:spPr>
            <a:xfrm>
              <a:off x="1211199" y="1601629"/>
              <a:ext cx="7079234"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Authentication ile authorization arasındaki fark nedir ve bir istek bu iki</a:t>
              </a:r>
              <a:br/>
              <a:r>
                <a:rPr lang="tr-TR" sz="1580" dirty="0">
                  <a:solidFill>
                    <a:srgbClr val="172B3A"/>
                  </a:solidFill>
                  <a:latin typeface="+mn-lt"/>
                  <a:ea typeface="+mn-ea"/>
                  <a:cs typeface="+mn-cs"/>
                </a:rPr>
                <a:t>denetimden nasıl geçer?</a:t>
              </a:r>
            </a:p>
          </p:txBody>
        </p:sp>
      </p:grpSp>
      <p:grpSp>
        <p:nvGrpSpPr>
          <p:cNvPr id="15" name="q2"/>
          <p:cNvGrpSpPr/>
          <p:nvPr/>
        </p:nvGrpSpPr>
        <p:grpSpPr>
          <a:xfrm>
            <a:off x="666750" y="2419350"/>
            <a:ext cx="7203635" cy="376143"/>
            <a:chOff x="666750" y="2419350"/>
            <a:chExt cx="7203635" cy="376143"/>
          </a:xfrm>
        </p:grpSpPr>
        <p:sp>
          <p:nvSpPr>
            <p:cNvPr id="12" name="Ellipse 12"/>
            <p:cNvSpPr/>
            <p:nvPr/>
          </p:nvSpPr>
          <p:spPr>
            <a:xfrm>
              <a:off x="666750" y="2419350"/>
              <a:ext cx="342900" cy="342900"/>
            </a:xfrm>
            <a:prstGeom prst="ellipse">
              <a:avLst/>
            </a:prstGeom>
            <a:solidFill>
              <a:srgbClr val="12355B"/>
            </a:solidFill>
            <a:ln>
              <a:noFill/>
            </a:ln>
          </p:spPr>
        </p:sp>
        <p:sp>
          <p:nvSpPr>
            <p:cNvPr id="13" name="TextBox 13"/>
            <p:cNvSpPr txBox="1"/>
            <p:nvPr/>
          </p:nvSpPr>
          <p:spPr>
            <a:xfrm>
              <a:off x="768782" y="248745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2</a:t>
              </a:r>
            </a:p>
          </p:txBody>
        </p:sp>
        <p:sp>
          <p:nvSpPr>
            <p:cNvPr id="14" name="TextBox 14"/>
            <p:cNvSpPr txBox="1"/>
            <p:nvPr/>
          </p:nvSpPr>
          <p:spPr>
            <a:xfrm>
              <a:off x="1211199" y="2477929"/>
              <a:ext cx="665918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parola veritabanına neden düz metin olarak yazılmamalıdır?</a:t>
              </a:r>
            </a:p>
          </p:txBody>
        </p:sp>
      </p:grpSp>
      <p:grpSp>
        <p:nvGrpSpPr>
          <p:cNvPr id="19" name="q3"/>
          <p:cNvGrpSpPr/>
          <p:nvPr/>
        </p:nvGrpSpPr>
        <p:grpSpPr>
          <a:xfrm>
            <a:off x="666750" y="3048000"/>
            <a:ext cx="9195682" cy="376143"/>
            <a:chOff x="666750" y="3048000"/>
            <a:chExt cx="9195682" cy="376143"/>
          </a:xfrm>
        </p:grpSpPr>
        <p:sp>
          <p:nvSpPr>
            <p:cNvPr id="16" name="Ellipse 16"/>
            <p:cNvSpPr/>
            <p:nvPr/>
          </p:nvSpPr>
          <p:spPr>
            <a:xfrm>
              <a:off x="666750" y="3048000"/>
              <a:ext cx="342900" cy="342900"/>
            </a:xfrm>
            <a:prstGeom prst="ellipse">
              <a:avLst/>
            </a:prstGeom>
            <a:solidFill>
              <a:srgbClr val="12355B"/>
            </a:solidFill>
            <a:ln>
              <a:noFill/>
            </a:ln>
          </p:spPr>
        </p:sp>
        <p:sp>
          <p:nvSpPr>
            <p:cNvPr id="17" name="TextBox 17"/>
            <p:cNvSpPr txBox="1"/>
            <p:nvPr/>
          </p:nvSpPr>
          <p:spPr>
            <a:xfrm>
              <a:off x="768782" y="311610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3</a:t>
              </a:r>
            </a:p>
          </p:txBody>
        </p:sp>
        <p:sp>
          <p:nvSpPr>
            <p:cNvPr id="18" name="TextBox 18"/>
            <p:cNvSpPr txBox="1"/>
            <p:nvPr/>
          </p:nvSpPr>
          <p:spPr>
            <a:xfrm>
              <a:off x="1211199" y="3106579"/>
              <a:ext cx="865123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JWT tabanlı bir authentication akışında token nerede üretilir, nerede doğrulanır?</a:t>
              </a:r>
            </a:p>
          </p:txBody>
        </p:sp>
      </p:grpSp>
      <p:grpSp>
        <p:nvGrpSpPr>
          <p:cNvPr id="23" name="q4"/>
          <p:cNvGrpSpPr/>
          <p:nvPr/>
        </p:nvGrpSpPr>
        <p:grpSpPr>
          <a:xfrm>
            <a:off x="666750" y="3676650"/>
            <a:ext cx="6714161" cy="376143"/>
            <a:chOff x="666750" y="3676650"/>
            <a:chExt cx="6714161" cy="376143"/>
          </a:xfrm>
        </p:grpSpPr>
        <p:sp>
          <p:nvSpPr>
            <p:cNvPr id="20" name="Ellipse 20"/>
            <p:cNvSpPr/>
            <p:nvPr/>
          </p:nvSpPr>
          <p:spPr>
            <a:xfrm>
              <a:off x="666750" y="3676650"/>
              <a:ext cx="342900" cy="342900"/>
            </a:xfrm>
            <a:prstGeom prst="ellipse">
              <a:avLst/>
            </a:prstGeom>
            <a:solidFill>
              <a:srgbClr val="12355B"/>
            </a:solidFill>
            <a:ln>
              <a:noFill/>
            </a:ln>
          </p:spPr>
        </p:sp>
        <p:sp>
          <p:nvSpPr>
            <p:cNvPr id="21" name="TextBox 21"/>
            <p:cNvSpPr txBox="1"/>
            <p:nvPr/>
          </p:nvSpPr>
          <p:spPr>
            <a:xfrm>
              <a:off x="768782" y="374475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4</a:t>
              </a:r>
            </a:p>
          </p:txBody>
        </p:sp>
        <p:sp>
          <p:nvSpPr>
            <p:cNvPr id="22" name="TextBox 22"/>
            <p:cNvSpPr txBox="1"/>
            <p:nvPr/>
          </p:nvSpPr>
          <p:spPr>
            <a:xfrm>
              <a:off x="1211199" y="3735229"/>
              <a:ext cx="616971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middleware, gelen isteğe kullanıcı kimliğini nasıl ekler?</a:t>
              </a:r>
            </a:p>
          </p:txBody>
        </p:sp>
      </p:grpSp>
      <p:grpSp>
        <p:nvGrpSpPr>
          <p:cNvPr id="27" name="q5"/>
          <p:cNvGrpSpPr/>
          <p:nvPr/>
        </p:nvGrpSpPr>
        <p:grpSpPr>
          <a:xfrm>
            <a:off x="666750" y="4305300"/>
            <a:ext cx="5501623" cy="376143"/>
            <a:chOff x="666750" y="4305300"/>
            <a:chExt cx="5501623" cy="376143"/>
          </a:xfrm>
        </p:grpSpPr>
        <p:sp>
          <p:nvSpPr>
            <p:cNvPr id="24" name="Ellipse 24"/>
            <p:cNvSpPr/>
            <p:nvPr/>
          </p:nvSpPr>
          <p:spPr>
            <a:xfrm>
              <a:off x="666750" y="4305300"/>
              <a:ext cx="342900" cy="342900"/>
            </a:xfrm>
            <a:prstGeom prst="ellipse">
              <a:avLst/>
            </a:prstGeom>
            <a:solidFill>
              <a:srgbClr val="12355B"/>
            </a:solidFill>
            <a:ln>
              <a:noFill/>
            </a:ln>
          </p:spPr>
        </p:sp>
        <p:sp>
          <p:nvSpPr>
            <p:cNvPr id="25" name="TextBox 25"/>
            <p:cNvSpPr txBox="1"/>
            <p:nvPr/>
          </p:nvSpPr>
          <p:spPr>
            <a:xfrm>
              <a:off x="768782" y="437340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5</a:t>
              </a:r>
            </a:p>
          </p:txBody>
        </p:sp>
        <p:sp>
          <p:nvSpPr>
            <p:cNvPr id="26" name="TextBox 26"/>
            <p:cNvSpPr txBox="1"/>
            <p:nvPr/>
          </p:nvSpPr>
          <p:spPr>
            <a:xfrm>
              <a:off x="1211199" y="4363879"/>
              <a:ext cx="495717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RBAC ile bir endpoint'e erişim nasıl kısıtlanır?</a:t>
              </a:r>
            </a:p>
          </p:txBody>
        </p:sp>
      </p:grpSp>
      <p:grpSp>
        <p:nvGrpSpPr>
          <p:cNvPr id="31" name="q6"/>
          <p:cNvGrpSpPr/>
          <p:nvPr/>
        </p:nvGrpSpPr>
        <p:grpSpPr>
          <a:xfrm>
            <a:off x="666750" y="4933950"/>
            <a:ext cx="9146948" cy="376143"/>
            <a:chOff x="666750" y="4933950"/>
            <a:chExt cx="9146948" cy="376143"/>
          </a:xfrm>
        </p:grpSpPr>
        <p:sp>
          <p:nvSpPr>
            <p:cNvPr id="28" name="Ellipse 28"/>
            <p:cNvSpPr/>
            <p:nvPr/>
          </p:nvSpPr>
          <p:spPr>
            <a:xfrm>
              <a:off x="666750" y="4933950"/>
              <a:ext cx="342900" cy="342900"/>
            </a:xfrm>
            <a:prstGeom prst="ellipse">
              <a:avLst/>
            </a:prstGeom>
            <a:solidFill>
              <a:srgbClr val="12355B"/>
            </a:solidFill>
            <a:ln>
              <a:noFill/>
            </a:ln>
          </p:spPr>
        </p:sp>
        <p:sp>
          <p:nvSpPr>
            <p:cNvPr id="29" name="TextBox 29"/>
            <p:cNvSpPr txBox="1"/>
            <p:nvPr/>
          </p:nvSpPr>
          <p:spPr>
            <a:xfrm>
              <a:off x="768782" y="500205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6</a:t>
              </a:r>
            </a:p>
          </p:txBody>
        </p:sp>
        <p:sp>
          <p:nvSpPr>
            <p:cNvPr id="30" name="TextBox 30"/>
            <p:cNvSpPr txBox="1"/>
            <p:nvPr/>
          </p:nvSpPr>
          <p:spPr>
            <a:xfrm>
              <a:off x="1211199" y="4992529"/>
              <a:ext cx="860249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401 Unauthorized ile 403 Forbidden yanıtları hangi durumlarda birbirinden ayrılır?</a:t>
              </a:r>
            </a:p>
          </p:txBody>
        </p:sp>
      </p:grpSp>
      <p:grpSp>
        <p:nvGrpSpPr>
          <p:cNvPr id="35" name="roadmap-goal"/>
          <p:cNvGrpSpPr/>
          <p:nvPr/>
        </p:nvGrpSpPr>
        <p:grpSpPr>
          <a:xfrm>
            <a:off x="609600" y="5600700"/>
            <a:ext cx="10972800" cy="800100"/>
            <a:chOff x="609600" y="5600700"/>
            <a:chExt cx="10972800" cy="800100"/>
          </a:xfrm>
        </p:grpSpPr>
        <p:sp>
          <p:nvSpPr>
            <p:cNvPr id="32" name="Rectangle 32"/>
            <p:cNvSpPr/>
            <p:nvPr/>
          </p:nvSpPr>
          <p:spPr>
            <a:xfrm>
              <a:off x="609600" y="5600700"/>
              <a:ext cx="10972800" cy="800100"/>
            </a:xfrm>
            <a:prstGeom prst="roundRect">
              <a:avLst>
                <a:gd name="adj" fmla="val 9524"/>
              </a:avLst>
            </a:prstGeom>
            <a:solidFill>
              <a:srgbClr val="EAF4F6"/>
            </a:solidFill>
            <a:ln>
              <a:noFill/>
            </a:ln>
          </p:spPr>
        </p:sp>
        <p:sp>
          <p:nvSpPr>
            <p:cNvPr id="33" name="TextBox 33"/>
            <p:cNvSpPr txBox="1"/>
            <p:nvPr/>
          </p:nvSpPr>
          <p:spPr>
            <a:xfrm>
              <a:off x="905256" y="5730240"/>
              <a:ext cx="156552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Bölüm hedefi</a:t>
              </a:r>
            </a:p>
          </p:txBody>
        </p:sp>
        <p:sp>
          <p:nvSpPr>
            <p:cNvPr id="34" name="TextBox 34"/>
            <p:cNvSpPr txBox="1"/>
            <p:nvPr/>
          </p:nvSpPr>
          <p:spPr>
            <a:xfrm>
              <a:off x="907542" y="6064568"/>
              <a:ext cx="992095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Üniversite kütüphanesi senaryosu üzerinden parola güvenliği, JWT, middleware ve RBAC uçtan uca kurulacaktır.</a:t>
              </a:r>
            </a:p>
          </p:txBody>
        </p:sp>
      </p:grpSp>
      <p:sp>
        <p:nvSpPr>
          <p:cNvPr id="36" name="TextBox 3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13763" cy="557403"/>
            <a:chOff x="595122" y="282892"/>
            <a:chExt cx="7413763" cy="557403"/>
          </a:xfrm>
        </p:grpSpPr>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9" name="objective-1"/>
          <p:cNvGrpSpPr/>
          <p:nvPr/>
        </p:nvGrpSpPr>
        <p:grpSpPr>
          <a:xfrm>
            <a:off x="685800" y="1520190"/>
            <a:ext cx="8311178" cy="637128"/>
            <a:chOff x="685800" y="1520190"/>
            <a:chExt cx="8311178" cy="637128"/>
          </a:xfrm>
        </p:grpSpPr>
        <p:sp>
          <p:nvSpPr>
            <p:cNvPr id="6" name="Rectangle 6"/>
            <p:cNvSpPr/>
            <p:nvPr/>
          </p:nvSpPr>
          <p:spPr>
            <a:xfrm>
              <a:off x="685800" y="1524000"/>
              <a:ext cx="57150" cy="495300"/>
            </a:xfrm>
            <a:prstGeom prst="rect">
              <a:avLst/>
            </a:prstGeom>
            <a:solidFill>
              <a:srgbClr val="00A6A6"/>
            </a:solidFill>
            <a:ln>
              <a:noFill/>
            </a:ln>
          </p:spPr>
        </p:sp>
        <p:sp>
          <p:nvSpPr>
            <p:cNvPr id="7" name="TextBox 7"/>
            <p:cNvSpPr txBox="1"/>
            <p:nvPr/>
          </p:nvSpPr>
          <p:spPr>
            <a:xfrm>
              <a:off x="981456" y="1520190"/>
              <a:ext cx="801552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Parolaların neden düz metin saklanmaması gerektiğini açıklamak</a:t>
              </a:r>
            </a:p>
          </p:txBody>
        </p:sp>
        <p:sp>
          <p:nvSpPr>
            <p:cNvPr id="8" name="TextBox 8"/>
            <p:cNvSpPr txBox="1"/>
            <p:nvPr/>
          </p:nvSpPr>
          <p:spPr>
            <a:xfrm>
              <a:off x="982599" y="1849279"/>
              <a:ext cx="606350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salt ve scrypt ile bir parolayı hashleyip doğrulamak</a:t>
              </a:r>
            </a:p>
          </p:txBody>
        </p:sp>
      </p:grpSp>
      <p:grpSp>
        <p:nvGrpSpPr>
          <p:cNvPr id="13" name="objective-2"/>
          <p:cNvGrpSpPr/>
          <p:nvPr/>
        </p:nvGrpSpPr>
        <p:grpSpPr>
          <a:xfrm>
            <a:off x="685800" y="2510790"/>
            <a:ext cx="7859999" cy="637128"/>
            <a:chOff x="685800" y="2510790"/>
            <a:chExt cx="7859999" cy="637128"/>
          </a:xfrm>
        </p:grpSpPr>
        <p:sp>
          <p:nvSpPr>
            <p:cNvPr id="10" name="Rectangle 10"/>
            <p:cNvSpPr/>
            <p:nvPr/>
          </p:nvSpPr>
          <p:spPr>
            <a:xfrm>
              <a:off x="685800" y="2514600"/>
              <a:ext cx="57150" cy="495300"/>
            </a:xfrm>
            <a:prstGeom prst="rect">
              <a:avLst/>
            </a:prstGeom>
            <a:solidFill>
              <a:srgbClr val="00A6A6"/>
            </a:solidFill>
            <a:ln>
              <a:noFill/>
            </a:ln>
          </p:spPr>
        </p:sp>
        <p:sp>
          <p:nvSpPr>
            <p:cNvPr id="11" name="TextBox 11"/>
            <p:cNvSpPr txBox="1"/>
            <p:nvPr/>
          </p:nvSpPr>
          <p:spPr>
            <a:xfrm>
              <a:off x="981456" y="2510790"/>
              <a:ext cx="747453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JWT'nin header, payload ve imza yapısını uçtan uca kurmak</a:t>
              </a:r>
            </a:p>
          </p:txBody>
        </p:sp>
        <p:sp>
          <p:nvSpPr>
            <p:cNvPr id="12" name="TextBox 12"/>
            <p:cNvSpPr txBox="1"/>
            <p:nvPr/>
          </p:nvSpPr>
          <p:spPr>
            <a:xfrm>
              <a:off x="982599" y="2839879"/>
              <a:ext cx="756320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login sonrası token üretme ve sonraki isteklerde doğrulama akışı</a:t>
              </a:r>
            </a:p>
          </p:txBody>
        </p:sp>
      </p:grpSp>
      <p:grpSp>
        <p:nvGrpSpPr>
          <p:cNvPr id="17" name="objective-3"/>
          <p:cNvGrpSpPr/>
          <p:nvPr/>
        </p:nvGrpSpPr>
        <p:grpSpPr>
          <a:xfrm>
            <a:off x="685800" y="3501390"/>
            <a:ext cx="8489460" cy="637128"/>
            <a:chOff x="685800" y="3501390"/>
            <a:chExt cx="8489460" cy="637128"/>
          </a:xfrm>
        </p:grpSpPr>
        <p:sp>
          <p:nvSpPr>
            <p:cNvPr id="14" name="Rectangle 14"/>
            <p:cNvSpPr/>
            <p:nvPr/>
          </p:nvSpPr>
          <p:spPr>
            <a:xfrm>
              <a:off x="685800" y="3505200"/>
              <a:ext cx="57150" cy="495300"/>
            </a:xfrm>
            <a:prstGeom prst="rect">
              <a:avLst/>
            </a:prstGeom>
            <a:solidFill>
              <a:srgbClr val="00A6A6"/>
            </a:solidFill>
            <a:ln>
              <a:noFill/>
            </a:ln>
          </p:spPr>
        </p:sp>
        <p:sp>
          <p:nvSpPr>
            <p:cNvPr id="15" name="TextBox 15"/>
            <p:cNvSpPr txBox="1"/>
            <p:nvPr/>
          </p:nvSpPr>
          <p:spPr>
            <a:xfrm>
              <a:off x="981456" y="3501390"/>
              <a:ext cx="819380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Authentication middleware'in token çözümleme akışını uygulamak</a:t>
              </a:r>
            </a:p>
          </p:txBody>
        </p:sp>
        <p:sp>
          <p:nvSpPr>
            <p:cNvPr id="16" name="TextBox 16"/>
            <p:cNvSpPr txBox="1"/>
            <p:nvPr/>
          </p:nvSpPr>
          <p:spPr>
            <a:xfrm>
              <a:off x="982599" y="3830479"/>
              <a:ext cx="709504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doğrulanan kullanıcıyı istek nesnesine doğru biçimde eklemek</a:t>
              </a:r>
            </a:p>
          </p:txBody>
        </p:sp>
      </p:grpSp>
      <p:grpSp>
        <p:nvGrpSpPr>
          <p:cNvPr id="21" name="objective-4"/>
          <p:cNvGrpSpPr/>
          <p:nvPr/>
        </p:nvGrpSpPr>
        <p:grpSpPr>
          <a:xfrm>
            <a:off x="685800" y="4491990"/>
            <a:ext cx="8366637" cy="637128"/>
            <a:chOff x="685800" y="4491990"/>
            <a:chExt cx="8366637" cy="637128"/>
          </a:xfrm>
        </p:grpSpPr>
        <p:sp>
          <p:nvSpPr>
            <p:cNvPr id="18" name="Rectangle 18"/>
            <p:cNvSpPr/>
            <p:nvPr/>
          </p:nvSpPr>
          <p:spPr>
            <a:xfrm>
              <a:off x="685800" y="4495800"/>
              <a:ext cx="57150" cy="495300"/>
            </a:xfrm>
            <a:prstGeom prst="rect">
              <a:avLst/>
            </a:prstGeom>
            <a:solidFill>
              <a:srgbClr val="00A6A6"/>
            </a:solidFill>
            <a:ln>
              <a:noFill/>
            </a:ln>
          </p:spPr>
        </p:sp>
        <p:sp>
          <p:nvSpPr>
            <p:cNvPr id="19" name="TextBox 19"/>
            <p:cNvSpPr txBox="1"/>
            <p:nvPr/>
          </p:nvSpPr>
          <p:spPr>
            <a:xfrm>
              <a:off x="981456" y="4491990"/>
              <a:ext cx="531640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RBAC ile bir endpoint'i belirli rollere açmak</a:t>
              </a:r>
            </a:p>
          </p:txBody>
        </p:sp>
        <p:sp>
          <p:nvSpPr>
            <p:cNvPr id="20" name="TextBox 20"/>
            <p:cNvSpPr txBox="1"/>
            <p:nvPr/>
          </p:nvSpPr>
          <p:spPr>
            <a:xfrm>
              <a:off x="982599" y="4821079"/>
              <a:ext cx="806983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öğrenci ve kütüphaneci rollerini ayıran bir requireRole guard'ı yazmak</a:t>
              </a:r>
            </a:p>
          </p:txBody>
        </p:sp>
      </p:grpSp>
      <p:grpSp>
        <p:nvGrpSpPr>
          <p:cNvPr id="25" name="objective-5"/>
          <p:cNvGrpSpPr/>
          <p:nvPr/>
        </p:nvGrpSpPr>
        <p:grpSpPr>
          <a:xfrm>
            <a:off x="685800" y="5482590"/>
            <a:ext cx="8232303" cy="637128"/>
            <a:chOff x="685800" y="5482590"/>
            <a:chExt cx="8232303" cy="637128"/>
          </a:xfrm>
        </p:grpSpPr>
        <p:sp>
          <p:nvSpPr>
            <p:cNvPr id="22" name="Rectangle 22"/>
            <p:cNvSpPr/>
            <p:nvPr/>
          </p:nvSpPr>
          <p:spPr>
            <a:xfrm>
              <a:off x="685800" y="5486400"/>
              <a:ext cx="57150" cy="495300"/>
            </a:xfrm>
            <a:prstGeom prst="rect">
              <a:avLst/>
            </a:prstGeom>
            <a:solidFill>
              <a:srgbClr val="00A6A6"/>
            </a:solidFill>
            <a:ln>
              <a:noFill/>
            </a:ln>
          </p:spPr>
        </p:sp>
        <p:sp>
          <p:nvSpPr>
            <p:cNvPr id="23" name="TextBox 23"/>
            <p:cNvSpPr txBox="1"/>
            <p:nvPr/>
          </p:nvSpPr>
          <p:spPr>
            <a:xfrm>
              <a:off x="981456" y="5482590"/>
              <a:ext cx="793664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401 Unauthorized ile 403 Forbidden yanıtlarını doğru uygulamak</a:t>
              </a:r>
            </a:p>
          </p:txBody>
        </p:sp>
        <p:sp>
          <p:nvSpPr>
            <p:cNvPr id="24" name="TextBox 24"/>
            <p:cNvSpPr txBox="1"/>
            <p:nvPr/>
          </p:nvSpPr>
          <p:spPr>
            <a:xfrm>
              <a:off x="982599" y="5811679"/>
              <a:ext cx="604332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kimliksiz isteğe 401, yetkisiz isteğe 403 döndürmek</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682545" cy="668845"/>
            <a:chOff x="609600" y="171450"/>
            <a:chExt cx="7682545"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699217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beş temel kavram</a:t>
              </a:r>
            </a:p>
          </p:txBody>
        </p:sp>
      </p:grpSp>
      <p:grpSp>
        <p:nvGrpSpPr>
          <p:cNvPr id="52" name="concept-map"/>
          <p:cNvGrpSpPr/>
          <p:nvPr/>
        </p:nvGrpSpPr>
        <p:grpSpPr>
          <a:xfrm>
            <a:off x="685800" y="1219200"/>
            <a:ext cx="10896600" cy="4886706"/>
            <a:chOff x="685800" y="1219200"/>
            <a:chExt cx="10896600" cy="4886706"/>
          </a:xfrm>
        </p:grpSpPr>
        <p:grpSp>
          <p:nvGrpSpPr>
            <p:cNvPr id="23" name="Group 23"/>
            <p:cNvGrpSpPr/>
            <p:nvPr/>
          </p:nvGrpSpPr>
          <p:grpSpPr>
            <a:xfrm>
              <a:off x="3143250" y="1581150"/>
              <a:ext cx="6953250" cy="4038600"/>
              <a:chOff x="3143250" y="1581150"/>
              <a:chExt cx="6953250" cy="403860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flipV="1">
                <a:off x="3143250" y="2571750"/>
                <a:ext cx="1352550" cy="523875"/>
              </a:xfrm>
              <a:prstGeom prst="line">
                <a:avLst/>
              </a:prstGeom>
              <a:noFill/>
              <a:ln w="23812">
                <a:solidFill>
                  <a:srgbClr val="00A6A6"/>
                </a:solidFill>
                <a:tailEnd type="arrow" w="lg" len="lg"/>
              </a:ln>
            </p:spPr>
          </p:sp>
          <p:sp>
            <p:nvSpPr>
              <p:cNvPr id="16" name="Line 16"/>
              <p:cNvSpPr/>
              <p:nvPr/>
            </p:nvSpPr>
            <p:spPr>
              <a:xfrm>
                <a:off x="3143250" y="3095625"/>
                <a:ext cx="1352550" cy="466725"/>
              </a:xfrm>
              <a:prstGeom prst="line">
                <a:avLst/>
              </a:prstGeom>
              <a:noFill/>
              <a:ln w="23812">
                <a:solidFill>
                  <a:srgbClr val="00A6A6"/>
                </a:solidFill>
                <a:tailEnd type="arrow" w="lg" len="lg"/>
              </a:ln>
            </p:spPr>
          </p:sp>
          <p:sp>
            <p:nvSpPr>
              <p:cNvPr id="17" name="Line 17"/>
              <p:cNvSpPr/>
              <p:nvPr/>
            </p:nvSpPr>
            <p:spPr>
              <a:xfrm>
                <a:off x="3143250" y="3095625"/>
                <a:ext cx="1352550" cy="1457325"/>
              </a:xfrm>
              <a:prstGeom prst="line">
                <a:avLst/>
              </a:prstGeom>
              <a:noFill/>
              <a:ln w="23812">
                <a:solidFill>
                  <a:srgbClr val="00A6A6"/>
                </a:solidFill>
                <a:tailEnd type="arrow" w="lg" len="lg"/>
              </a:ln>
            </p:spPr>
          </p:sp>
          <p:sp>
            <p:nvSpPr>
              <p:cNvPr id="18" name="Line 18"/>
              <p:cNvSpPr/>
              <p:nvPr/>
            </p:nvSpPr>
            <p:spPr>
              <a:xfrm>
                <a:off x="3143250" y="3095625"/>
                <a:ext cx="1352550" cy="2524125"/>
              </a:xfrm>
              <a:prstGeom prst="line">
                <a:avLst/>
              </a:prstGeom>
              <a:noFill/>
              <a:ln w="23812">
                <a:solidFill>
                  <a:srgbClr val="00A6A6"/>
                </a:solidFill>
                <a:tailEnd type="arrow" w="lg" len="lg"/>
              </a:ln>
            </p:spPr>
          </p:sp>
          <p:sp>
            <p:nvSpPr>
              <p:cNvPr id="19" name="Line 19"/>
              <p:cNvSpPr/>
              <p:nvPr/>
            </p:nvSpPr>
            <p:spPr>
              <a:xfrm>
                <a:off x="6477000" y="1943100"/>
                <a:ext cx="1" cy="247650"/>
              </a:xfrm>
              <a:prstGeom prst="line">
                <a:avLst/>
              </a:prstGeom>
              <a:noFill/>
              <a:ln w="19050">
                <a:solidFill>
                  <a:srgbClr val="52616B"/>
                </a:solidFill>
                <a:custDash>
                  <a:ds d="300000" sp="200000"/>
                </a:custDash>
                <a:tailEnd type="arrow" w="lg" len="lg"/>
              </a:ln>
            </p:spPr>
          </p:sp>
          <p:sp>
            <p:nvSpPr>
              <p:cNvPr id="20" name="Line 20"/>
              <p:cNvSpPr/>
              <p:nvPr/>
            </p:nvSpPr>
            <p:spPr>
              <a:xfrm>
                <a:off x="6477000" y="2933700"/>
                <a:ext cx="1" cy="247650"/>
              </a:xfrm>
              <a:prstGeom prst="line">
                <a:avLst/>
              </a:prstGeom>
              <a:noFill/>
              <a:ln w="19050">
                <a:solidFill>
                  <a:srgbClr val="52616B"/>
                </a:solidFill>
                <a:custDash>
                  <a:ds d="300000" sp="200000"/>
                </a:custDash>
                <a:tailEnd type="arrow" w="lg" len="lg"/>
              </a:ln>
            </p:spPr>
          </p:sp>
          <p:sp>
            <p:nvSpPr>
              <p:cNvPr id="21" name="Line 21"/>
              <p:cNvSpPr/>
              <p:nvPr/>
            </p:nvSpPr>
            <p:spPr>
              <a:xfrm>
                <a:off x="6477000" y="3924300"/>
                <a:ext cx="1" cy="247650"/>
              </a:xfrm>
              <a:prstGeom prst="line">
                <a:avLst/>
              </a:prstGeom>
              <a:noFill/>
              <a:ln w="19050">
                <a:solidFill>
                  <a:srgbClr val="52616B"/>
                </a:solidFill>
                <a:custDash>
                  <a:ds d="300000" sp="200000"/>
                </a:custDash>
                <a:tailEnd type="arrow" w="lg" len="lg"/>
              </a:ln>
            </p:spPr>
          </p:sp>
          <p:sp>
            <p:nvSpPr>
              <p:cNvPr id="22" name="Line 22"/>
              <p:cNvSpPr/>
              <p:nvPr/>
            </p:nvSpPr>
            <p:spPr>
              <a:xfrm>
                <a:off x="8382000" y="4914900"/>
                <a:ext cx="1714500" cy="400050"/>
              </a:xfrm>
              <a:prstGeom prst="line">
                <a:avLst/>
              </a:prstGeom>
              <a:noFill/>
              <a:ln w="19050">
                <a:solidFill>
                  <a:srgbClr val="52616B"/>
                </a:solidFill>
                <a:custDash>
                  <a:ds d="300000" sp="200000"/>
                </a:custDash>
                <a:tailEnd type="arrow" w="lg" len="lg"/>
              </a:ln>
            </p:spPr>
          </p:sp>
        </p:grpSp>
        <p:grpSp>
          <p:nvGrpSpPr>
            <p:cNvPr id="26" name="map-hub"/>
            <p:cNvGrpSpPr/>
            <p:nvPr/>
          </p:nvGrpSpPr>
          <p:grpSpPr>
            <a:xfrm>
              <a:off x="685800" y="2381250"/>
              <a:ext cx="2381250" cy="1428750"/>
              <a:chOff x="685800" y="2381250"/>
              <a:chExt cx="2381250" cy="1428750"/>
            </a:xfrm>
          </p:grpSpPr>
          <p:sp>
            <p:nvSpPr>
              <p:cNvPr id="24" name="Rectangle 24"/>
              <p:cNvSpPr/>
              <p:nvPr/>
            </p:nvSpPr>
            <p:spPr>
              <a:xfrm>
                <a:off x="685800" y="2381250"/>
                <a:ext cx="2381250" cy="1428750"/>
              </a:xfrm>
              <a:prstGeom prst="roundRect">
                <a:avLst>
                  <a:gd name="adj" fmla="val 6667"/>
                </a:avLst>
              </a:prstGeom>
              <a:solidFill>
                <a:srgbClr val="12355B"/>
              </a:solidFill>
              <a:ln>
                <a:noFill/>
              </a:ln>
            </p:spPr>
          </p:sp>
          <p:sp>
            <p:nvSpPr>
              <p:cNvPr id="25" name="TextBox 25"/>
              <p:cNvSpPr txBox="1"/>
              <p:nvPr/>
            </p:nvSpPr>
            <p:spPr>
              <a:xfrm>
                <a:off x="942594" y="2646998"/>
                <a:ext cx="1736027" cy="1029081"/>
              </a:xfrm>
              <a:prstGeom prst="rect">
                <a:avLst/>
              </a:prstGeom>
              <a:noFill/>
              <a:ln>
                <a:noFill/>
              </a:ln>
            </p:spPr>
            <p:txBody>
              <a:bodyPr wrap="none" lIns="0" tIns="0" rIns="0" bIns="0" anchor="t" anchorCtr="0">
                <a:spAutoFit/>
              </a:bodyPr>
              <a:lstStyle/>
              <a:p>
                <a:pPr algn="l">
                  <a:lnSpc>
                    <a:spcPts val="2550"/>
                  </a:lnSpc>
                </a:pPr>
                <a:r>
                  <a:rPr lang="tr-TR" sz="1950" b="1" dirty="0">
                    <a:solidFill>
                      <a:srgbClr val="FFFFFF"/>
                    </a:solidFill>
                    <a:latin typeface="+mn-lt"/>
                    <a:ea typeface="+mn-ea"/>
                    <a:cs typeface="+mn-cs"/>
                  </a:rPr>
                  <a:t>Kimlik</a:t>
                </a:r>
                <a:br/>
                <a:r>
                  <a:rPr lang="tr-TR" sz="1950" b="1" dirty="0">
                    <a:solidFill>
                      <a:srgbClr val="FFFFFF"/>
                    </a:solidFill>
                    <a:latin typeface="+mn-lt"/>
                    <a:ea typeface="+mn-ea"/>
                    <a:cs typeface="+mn-cs"/>
                  </a:rPr>
                  <a:t>doğrulama ve</a:t>
                </a:r>
                <a:br/>
                <a:r>
                  <a:rPr lang="tr-TR" sz="1950" b="1" dirty="0">
                    <a:solidFill>
                      <a:srgbClr val="FFFFFF"/>
                    </a:solidFill>
                    <a:latin typeface="+mn-lt"/>
                    <a:ea typeface="+mn-ea"/>
                    <a:cs typeface="+mn-cs"/>
                  </a:rPr>
                  <a:t>yetkilendirme</a:t>
                </a:r>
              </a:p>
            </p:txBody>
          </p:sp>
        </p:grpSp>
        <p:grpSp>
          <p:nvGrpSpPr>
            <p:cNvPr id="30" name="map-node-parola"/>
            <p:cNvGrpSpPr/>
            <p:nvPr/>
          </p:nvGrpSpPr>
          <p:grpSpPr>
            <a:xfrm>
              <a:off x="4572000" y="1219200"/>
              <a:ext cx="4245988" cy="723900"/>
              <a:chOff x="4572000" y="1219200"/>
              <a:chExt cx="4245988" cy="723900"/>
            </a:xfrm>
          </p:grpSpPr>
          <p:sp>
            <p:nvSpPr>
              <p:cNvPr id="27" name="Rectangle 27"/>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8" name="TextBox 28"/>
              <p:cNvSpPr txBox="1"/>
              <p:nvPr/>
            </p:nvSpPr>
            <p:spPr>
              <a:xfrm>
                <a:off x="4791456" y="1329690"/>
                <a:ext cx="194649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Parola güvenliği</a:t>
                </a:r>
              </a:p>
            </p:txBody>
          </p:sp>
          <p:sp>
            <p:nvSpPr>
              <p:cNvPr id="29" name="TextBox 29"/>
              <p:cNvSpPr txBox="1"/>
              <p:nvPr/>
            </p:nvSpPr>
            <p:spPr>
              <a:xfrm>
                <a:off x="4792599" y="1601629"/>
                <a:ext cx="402538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salt ile hashlenir, düz metin saklanmaz</a:t>
                </a:r>
              </a:p>
            </p:txBody>
          </p:sp>
        </p:grpSp>
        <p:grpSp>
          <p:nvGrpSpPr>
            <p:cNvPr id="34" name="map-node-jwt"/>
            <p:cNvGrpSpPr/>
            <p:nvPr/>
          </p:nvGrpSpPr>
          <p:grpSpPr>
            <a:xfrm>
              <a:off x="4572000" y="2209800"/>
              <a:ext cx="4554403" cy="723900"/>
              <a:chOff x="4572000" y="2209800"/>
              <a:chExt cx="4554403" cy="723900"/>
            </a:xfrm>
          </p:grpSpPr>
          <p:sp>
            <p:nvSpPr>
              <p:cNvPr id="31" name="Rectangle 31"/>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2" name="TextBox 32"/>
              <p:cNvSpPr txBox="1"/>
              <p:nvPr/>
            </p:nvSpPr>
            <p:spPr>
              <a:xfrm>
                <a:off x="4791456" y="2320290"/>
                <a:ext cx="51563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JWT</a:t>
                </a:r>
              </a:p>
            </p:txBody>
          </p:sp>
          <p:sp>
            <p:nvSpPr>
              <p:cNvPr id="33" name="TextBox 33"/>
              <p:cNvSpPr txBox="1"/>
              <p:nvPr/>
            </p:nvSpPr>
            <p:spPr>
              <a:xfrm>
                <a:off x="4792599" y="2592229"/>
                <a:ext cx="433380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login sonrası üretilir, imzayla doğrulanır</a:t>
                </a:r>
              </a:p>
            </p:txBody>
          </p:sp>
        </p:grpSp>
        <p:grpSp>
          <p:nvGrpSpPr>
            <p:cNvPr id="38" name="map-node-middleware"/>
            <p:cNvGrpSpPr/>
            <p:nvPr/>
          </p:nvGrpSpPr>
          <p:grpSpPr>
            <a:xfrm>
              <a:off x="4572000" y="3200400"/>
              <a:ext cx="3810000" cy="723900"/>
              <a:chOff x="4572000" y="3200400"/>
              <a:chExt cx="3810000" cy="723900"/>
            </a:xfrm>
          </p:grpSpPr>
          <p:sp>
            <p:nvSpPr>
              <p:cNvPr id="35" name="Rectangle 35"/>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6" name="TextBox 36"/>
              <p:cNvSpPr txBox="1"/>
              <p:nvPr/>
            </p:nvSpPr>
            <p:spPr>
              <a:xfrm>
                <a:off x="4791456" y="3310890"/>
                <a:ext cx="330819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Authentication middleware</a:t>
                </a:r>
              </a:p>
            </p:txBody>
          </p:sp>
          <p:sp>
            <p:nvSpPr>
              <p:cNvPr id="37" name="TextBox 37"/>
              <p:cNvSpPr txBox="1"/>
              <p:nvPr/>
            </p:nvSpPr>
            <p:spPr>
              <a:xfrm>
                <a:off x="4792599" y="3582829"/>
                <a:ext cx="302570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token'ı her istekte doğrular</a:t>
                </a:r>
              </a:p>
            </p:txBody>
          </p:sp>
        </p:grpSp>
        <p:grpSp>
          <p:nvGrpSpPr>
            <p:cNvPr id="42" name="map-node-rbac"/>
            <p:cNvGrpSpPr/>
            <p:nvPr/>
          </p:nvGrpSpPr>
          <p:grpSpPr>
            <a:xfrm>
              <a:off x="4572000" y="4191000"/>
              <a:ext cx="3969479" cy="723900"/>
              <a:chOff x="4572000" y="4191000"/>
              <a:chExt cx="3969479" cy="723900"/>
            </a:xfrm>
          </p:grpSpPr>
          <p:sp>
            <p:nvSpPr>
              <p:cNvPr id="39" name="Rectangle 39"/>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40" name="TextBox 40"/>
              <p:cNvSpPr txBox="1"/>
              <p:nvPr/>
            </p:nvSpPr>
            <p:spPr>
              <a:xfrm>
                <a:off x="4791456" y="4301490"/>
                <a:ext cx="60972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RBAC</a:t>
                </a:r>
              </a:p>
            </p:txBody>
          </p:sp>
          <p:sp>
            <p:nvSpPr>
              <p:cNvPr id="41" name="TextBox 41"/>
              <p:cNvSpPr txBox="1"/>
              <p:nvPr/>
            </p:nvSpPr>
            <p:spPr>
              <a:xfrm>
                <a:off x="4792599" y="4573429"/>
                <a:ext cx="374888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doğrulanan isteği role göre sınırlar</a:t>
                </a:r>
              </a:p>
            </p:txBody>
          </p:sp>
        </p:grpSp>
        <p:grpSp>
          <p:nvGrpSpPr>
            <p:cNvPr id="46" name="map-node-status"/>
            <p:cNvGrpSpPr/>
            <p:nvPr/>
          </p:nvGrpSpPr>
          <p:grpSpPr>
            <a:xfrm>
              <a:off x="4572000" y="5334000"/>
              <a:ext cx="7010400" cy="723900"/>
              <a:chOff x="4572000" y="5334000"/>
              <a:chExt cx="7010400" cy="723900"/>
            </a:xfrm>
          </p:grpSpPr>
          <p:sp>
            <p:nvSpPr>
              <p:cNvPr id="43" name="Rectangle 43"/>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4" name="TextBox 44"/>
              <p:cNvSpPr txBox="1"/>
              <p:nvPr/>
            </p:nvSpPr>
            <p:spPr>
              <a:xfrm>
                <a:off x="4791456" y="5444490"/>
                <a:ext cx="211735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401 / 403 ayrımı</a:t>
                </a:r>
              </a:p>
            </p:txBody>
          </p:sp>
          <p:sp>
            <p:nvSpPr>
              <p:cNvPr id="45" name="TextBox 45"/>
              <p:cNvSpPr txBox="1"/>
              <p:nvPr/>
            </p:nvSpPr>
            <p:spPr>
              <a:xfrm>
                <a:off x="4792599" y="5716429"/>
                <a:ext cx="576518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RBAC'ın kararı hangi durum kodunun döneceğini belirler</a:t>
                </a:r>
              </a:p>
            </p:txBody>
          </p:sp>
        </p:grpSp>
        <p:grpSp>
          <p:nvGrpSpPr>
            <p:cNvPr id="51" name="map-legend"/>
            <p:cNvGrpSpPr/>
            <p:nvPr/>
          </p:nvGrpSpPr>
          <p:grpSpPr>
            <a:xfrm>
              <a:off x="685800" y="5528310"/>
              <a:ext cx="3214223" cy="577596"/>
              <a:chOff x="685800" y="5528310"/>
              <a:chExt cx="3214223" cy="577596"/>
            </a:xfrm>
          </p:grpSpPr>
          <p:sp>
            <p:nvSpPr>
              <p:cNvPr id="47" name="Line 47"/>
              <p:cNvSpPr/>
              <p:nvPr/>
            </p:nvSpPr>
            <p:spPr>
              <a:xfrm>
                <a:off x="685800" y="5600700"/>
                <a:ext cx="304800" cy="1"/>
              </a:xfrm>
              <a:prstGeom prst="line">
                <a:avLst/>
              </a:prstGeom>
              <a:noFill/>
              <a:ln w="23812">
                <a:solidFill>
                  <a:srgbClr val="00A6A6"/>
                </a:solidFill>
                <a:tailEnd type="arrow" w="lg" len="lg"/>
              </a:ln>
            </p:spPr>
          </p:sp>
          <p:sp>
            <p:nvSpPr>
              <p:cNvPr id="48" name="TextBox 48"/>
              <p:cNvSpPr txBox="1"/>
              <p:nvPr/>
            </p:nvSpPr>
            <p:spPr>
              <a:xfrm>
                <a:off x="1079754" y="5528310"/>
                <a:ext cx="264240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Temel denetimden türeyen bileşen</a:t>
                </a:r>
              </a:p>
            </p:txBody>
          </p:sp>
          <p:sp>
            <p:nvSpPr>
              <p:cNvPr id="49" name="Line 49"/>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50" name="TextBox 50"/>
              <p:cNvSpPr txBox="1"/>
              <p:nvPr/>
            </p:nvSpPr>
            <p:spPr>
              <a:xfrm>
                <a:off x="1079754" y="5871210"/>
                <a:ext cx="282026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İsteğin bir sonraki adıma aktarımı</a:t>
                </a:r>
              </a:p>
            </p:txBody>
          </p:sp>
        </p:grpSp>
      </p:gr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5908695" cy="668845"/>
            <a:chOff x="609600" y="171450"/>
            <a:chExt cx="5908695"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52183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a:t>
              </a:r>
            </a:p>
          </p:txBody>
        </p:sp>
      </p:grpSp>
      <p:grpSp>
        <p:nvGrpSpPr>
          <p:cNvPr id="18" name="matrix-header"/>
          <p:cNvGrpSpPr/>
          <p:nvPr/>
        </p:nvGrpSpPr>
        <p:grpSpPr>
          <a:xfrm>
            <a:off x="609600" y="1257300"/>
            <a:ext cx="10972800" cy="342900"/>
            <a:chOff x="609600" y="1257300"/>
            <a:chExt cx="10972800" cy="342900"/>
          </a:xfrm>
        </p:grpSpPr>
        <p:sp>
          <p:nvSpPr>
            <p:cNvPr id="13" name="Rectangle 13"/>
            <p:cNvSpPr/>
            <p:nvPr/>
          </p:nvSpPr>
          <p:spPr>
            <a:xfrm>
              <a:off x="609600" y="1257300"/>
              <a:ext cx="10972800" cy="342900"/>
            </a:xfrm>
            <a:prstGeom prst="rect">
              <a:avLst/>
            </a:prstGeom>
            <a:solidFill>
              <a:srgbClr val="12355B"/>
            </a:solidFill>
            <a:ln>
              <a:noFill/>
            </a:ln>
          </p:spPr>
        </p:sp>
        <p:sp>
          <p:nvSpPr>
            <p:cNvPr id="14" name="TextBox 14"/>
            <p:cNvSpPr txBox="1"/>
            <p:nvPr/>
          </p:nvSpPr>
          <p:spPr>
            <a:xfrm>
              <a:off x="756666" y="1363028"/>
              <a:ext cx="61287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KAVRAM</a:t>
              </a:r>
            </a:p>
          </p:txBody>
        </p:sp>
        <p:sp>
          <p:nvSpPr>
            <p:cNvPr id="15" name="TextBox 15"/>
            <p:cNvSpPr txBox="1"/>
            <p:nvPr/>
          </p:nvSpPr>
          <p:spPr>
            <a:xfrm>
              <a:off x="2375916" y="1363028"/>
              <a:ext cx="1155184"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TEMEL GÖREVİ</a:t>
              </a:r>
            </a:p>
          </p:txBody>
        </p:sp>
        <p:sp>
          <p:nvSpPr>
            <p:cNvPr id="16" name="TextBox 16"/>
            <p:cNvSpPr txBox="1"/>
            <p:nvPr/>
          </p:nvSpPr>
          <p:spPr>
            <a:xfrm>
              <a:off x="5481066" y="1363028"/>
              <a:ext cx="96134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NE YAPMAZ?</a:t>
              </a:r>
            </a:p>
          </p:txBody>
        </p:sp>
        <p:sp>
          <p:nvSpPr>
            <p:cNvPr id="17" name="TextBox 17"/>
            <p:cNvSpPr txBox="1"/>
            <p:nvPr/>
          </p:nvSpPr>
          <p:spPr>
            <a:xfrm>
              <a:off x="8586216" y="1363028"/>
              <a:ext cx="1566382"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OLMAZSA NE OLUR?</a:t>
              </a:r>
            </a:p>
          </p:txBody>
        </p:sp>
      </p:grpSp>
      <p:grpSp>
        <p:nvGrpSpPr>
          <p:cNvPr id="24" name="row-authn"/>
          <p:cNvGrpSpPr/>
          <p:nvPr/>
        </p:nvGrpSpPr>
        <p:grpSpPr>
          <a:xfrm>
            <a:off x="609600" y="1699260"/>
            <a:ext cx="10972800" cy="710565"/>
            <a:chOff x="609600" y="1699260"/>
            <a:chExt cx="10972800" cy="710565"/>
          </a:xfrm>
        </p:grpSpPr>
        <p:sp>
          <p:nvSpPr>
            <p:cNvPr id="19" name="TextBox 19"/>
            <p:cNvSpPr txBox="1"/>
            <p:nvPr/>
          </p:nvSpPr>
          <p:spPr>
            <a:xfrm>
              <a:off x="755904" y="1737360"/>
              <a:ext cx="48921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AuthN</a:t>
              </a:r>
            </a:p>
          </p:txBody>
        </p:sp>
        <p:sp>
          <p:nvSpPr>
            <p:cNvPr id="20" name="TextBox 20"/>
            <p:cNvSpPr txBox="1"/>
            <p:nvPr/>
          </p:nvSpPr>
          <p:spPr>
            <a:xfrm>
              <a:off x="2375154" y="1699260"/>
              <a:ext cx="25115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İsteği gönderenin gerçekten iddia</a:t>
              </a:r>
              <a:br/>
              <a:r>
                <a:rPr lang="tr-TR" sz="1200" dirty="0">
                  <a:solidFill>
                    <a:srgbClr val="172B3A"/>
                  </a:solidFill>
                  <a:latin typeface="+mn-lt"/>
                  <a:ea typeface="+mn-ea"/>
                  <a:cs typeface="+mn-cs"/>
                </a:rPr>
                <a:t>ettiği kişi olup olmadığını</a:t>
              </a:r>
              <a:br/>
              <a:r>
                <a:rPr lang="tr-TR" sz="1200" dirty="0">
                  <a:solidFill>
                    <a:srgbClr val="172B3A"/>
                  </a:solidFill>
                  <a:latin typeface="+mn-lt"/>
                  <a:ea typeface="+mn-ea"/>
                  <a:cs typeface="+mn-cs"/>
                </a:rPr>
                <a:t>doğrular (Kimsin?).</a:t>
              </a:r>
            </a:p>
          </p:txBody>
        </p:sp>
        <p:sp>
          <p:nvSpPr>
            <p:cNvPr id="21" name="TextBox 21"/>
            <p:cNvSpPr txBox="1"/>
            <p:nvPr/>
          </p:nvSpPr>
          <p:spPr>
            <a:xfrm>
              <a:off x="5480304" y="1699260"/>
              <a:ext cx="20391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Hangi kaynağa erişim izni</a:t>
              </a:r>
              <a:br/>
              <a:r>
                <a:rPr lang="tr-TR" sz="1200" dirty="0">
                  <a:solidFill>
                    <a:srgbClr val="172B3A"/>
                  </a:solidFill>
                  <a:latin typeface="+mn-lt"/>
                  <a:ea typeface="+mn-ea"/>
                  <a:cs typeface="+mn-cs"/>
                </a:rPr>
                <a:t>olduğunu denetlemez; bu</a:t>
              </a:r>
              <a:br/>
              <a:r>
                <a:rPr lang="tr-TR" sz="1200" dirty="0">
                  <a:solidFill>
                    <a:srgbClr val="172B3A"/>
                  </a:solidFill>
                  <a:latin typeface="+mn-lt"/>
                  <a:ea typeface="+mn-ea"/>
                  <a:cs typeface="+mn-cs"/>
                </a:rPr>
                <a:t>yetkilendirmenin görevidir.</a:t>
              </a:r>
            </a:p>
          </p:txBody>
        </p:sp>
        <p:sp>
          <p:nvSpPr>
            <p:cNvPr id="22" name="TextBox 22"/>
            <p:cNvSpPr txBox="1"/>
            <p:nvPr/>
          </p:nvSpPr>
          <p:spPr>
            <a:xfrm>
              <a:off x="8585454" y="1699260"/>
              <a:ext cx="22829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Sistem anonim kalır; kullanıcı</a:t>
              </a:r>
              <a:br/>
              <a:r>
                <a:rPr lang="tr-TR" sz="1200" dirty="0">
                  <a:solidFill>
                    <a:srgbClr val="172B3A"/>
                  </a:solidFill>
                  <a:latin typeface="+mn-lt"/>
                  <a:ea typeface="+mn-ea"/>
                  <a:cs typeface="+mn-cs"/>
                </a:rPr>
                <a:t>bazlı veri güvenliği ve oturum</a:t>
              </a:r>
              <a:br/>
              <a:r>
                <a:rPr lang="tr-TR" sz="1200" dirty="0">
                  <a:solidFill>
                    <a:srgbClr val="172B3A"/>
                  </a:solidFill>
                  <a:latin typeface="+mn-lt"/>
                  <a:ea typeface="+mn-ea"/>
                  <a:cs typeface="+mn-cs"/>
                </a:rPr>
                <a:t>yönetimi sağlanamaz.</a:t>
              </a:r>
            </a:p>
          </p:txBody>
        </p:sp>
        <p:sp>
          <p:nvSpPr>
            <p:cNvPr id="23" name="Line 23"/>
            <p:cNvSpPr/>
            <p:nvPr/>
          </p:nvSpPr>
          <p:spPr>
            <a:xfrm>
              <a:off x="609600" y="2400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row-authz"/>
          <p:cNvGrpSpPr/>
          <p:nvPr/>
        </p:nvGrpSpPr>
        <p:grpSpPr>
          <a:xfrm>
            <a:off x="609600" y="2400300"/>
            <a:ext cx="10972800" cy="809625"/>
            <a:chOff x="609600" y="2400300"/>
            <a:chExt cx="10972800" cy="809625"/>
          </a:xfrm>
        </p:grpSpPr>
        <p:sp>
          <p:nvSpPr>
            <p:cNvPr id="25" name="Rectangle 25"/>
            <p:cNvSpPr/>
            <p:nvPr/>
          </p:nvSpPr>
          <p:spPr>
            <a:xfrm>
              <a:off x="609600" y="2400300"/>
              <a:ext cx="10972800" cy="800100"/>
            </a:xfrm>
            <a:prstGeom prst="rect">
              <a:avLst/>
            </a:prstGeom>
            <a:solidFill>
              <a:srgbClr val="EAF4F6"/>
            </a:solidFill>
            <a:ln>
              <a:noFill/>
            </a:ln>
          </p:spPr>
        </p:sp>
        <p:sp>
          <p:nvSpPr>
            <p:cNvPr id="26" name="TextBox 26"/>
            <p:cNvSpPr txBox="1"/>
            <p:nvPr/>
          </p:nvSpPr>
          <p:spPr>
            <a:xfrm>
              <a:off x="755904" y="2537460"/>
              <a:ext cx="48921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AuthZ</a:t>
              </a:r>
            </a:p>
          </p:txBody>
        </p:sp>
        <p:sp>
          <p:nvSpPr>
            <p:cNvPr id="27" name="TextBox 27"/>
            <p:cNvSpPr txBox="1"/>
            <p:nvPr/>
          </p:nvSpPr>
          <p:spPr>
            <a:xfrm>
              <a:off x="2375154" y="2499360"/>
              <a:ext cx="29687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Kimliği doğrulanmış kullanıcının</a:t>
              </a:r>
              <a:br/>
              <a:r>
                <a:rPr lang="tr-TR" sz="1200" dirty="0">
                  <a:solidFill>
                    <a:srgbClr val="172B3A"/>
                  </a:solidFill>
                  <a:latin typeface="+mn-lt"/>
                  <a:ea typeface="+mn-ea"/>
                  <a:cs typeface="+mn-cs"/>
                </a:rPr>
                <a:t>işlemi yapmaya izni olup</a:t>
              </a:r>
              <a:br/>
              <a:r>
                <a:rPr lang="tr-TR" sz="1200" dirty="0">
                  <a:solidFill>
                    <a:srgbClr val="172B3A"/>
                  </a:solidFill>
                  <a:latin typeface="+mn-lt"/>
                  <a:ea typeface="+mn-ea"/>
                  <a:cs typeface="+mn-cs"/>
                </a:rPr>
                <a:t>olmadığını denetler (Ne yapabilirsin?).</a:t>
              </a:r>
            </a:p>
          </p:txBody>
        </p:sp>
        <p:sp>
          <p:nvSpPr>
            <p:cNvPr id="28" name="TextBox 28"/>
            <p:cNvSpPr txBox="1"/>
            <p:nvPr/>
          </p:nvSpPr>
          <p:spPr>
            <a:xfrm>
              <a:off x="5480304" y="2499360"/>
              <a:ext cx="21534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Kimliği sıfırdan doğrulamaz;</a:t>
              </a:r>
              <a:br/>
              <a:r>
                <a:rPr lang="tr-TR" sz="1200" dirty="0">
                  <a:solidFill>
                    <a:srgbClr val="172B3A"/>
                  </a:solidFill>
                  <a:latin typeface="+mn-lt"/>
                  <a:ea typeface="+mn-ea"/>
                  <a:cs typeface="+mn-cs"/>
                </a:rPr>
                <a:t>doğrulanmış kimlik ve rol</a:t>
              </a:r>
              <a:br/>
              <a:r>
                <a:rPr lang="tr-TR" sz="1200" dirty="0">
                  <a:solidFill>
                    <a:srgbClr val="172B3A"/>
                  </a:solidFill>
                  <a:latin typeface="+mn-lt"/>
                  <a:ea typeface="+mn-ea"/>
                  <a:cs typeface="+mn-cs"/>
                </a:rPr>
                <a:t>bilgisine ihtiyaç duyar.</a:t>
              </a:r>
            </a:p>
          </p:txBody>
        </p:sp>
        <p:sp>
          <p:nvSpPr>
            <p:cNvPr id="29" name="TextBox 29"/>
            <p:cNvSpPr txBox="1"/>
            <p:nvPr/>
          </p:nvSpPr>
          <p:spPr>
            <a:xfrm>
              <a:off x="8585454" y="2499360"/>
              <a:ext cx="24810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Giriş yapan herhangi bir kullanıcı</a:t>
              </a:r>
              <a:br/>
              <a:r>
                <a:rPr lang="tr-TR" sz="1200" dirty="0">
                  <a:solidFill>
                    <a:srgbClr val="172B3A"/>
                  </a:solidFill>
                  <a:latin typeface="+mn-lt"/>
                  <a:ea typeface="+mn-ea"/>
                  <a:cs typeface="+mn-cs"/>
                </a:rPr>
                <a:t>başkasının verisini silebilir</a:t>
              </a:r>
              <a:br/>
              <a:r>
                <a:rPr lang="tr-TR" sz="1200" dirty="0">
                  <a:solidFill>
                    <a:srgbClr val="172B3A"/>
                  </a:solidFill>
                  <a:latin typeface="+mn-lt"/>
                  <a:ea typeface="+mn-ea"/>
                  <a:cs typeface="+mn-cs"/>
                </a:rPr>
                <a:t>(BOLA/IDOR).</a:t>
              </a:r>
            </a:p>
          </p:txBody>
        </p:sp>
        <p:sp>
          <p:nvSpPr>
            <p:cNvPr id="30" name="Line 30"/>
            <p:cNvSpPr/>
            <p:nvPr/>
          </p:nvSpPr>
          <p:spPr>
            <a:xfrm>
              <a:off x="609600" y="32004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row-parola"/>
          <p:cNvGrpSpPr/>
          <p:nvPr/>
        </p:nvGrpSpPr>
        <p:grpSpPr>
          <a:xfrm>
            <a:off x="609600" y="3299460"/>
            <a:ext cx="10972800" cy="710565"/>
            <a:chOff x="609600" y="3299460"/>
            <a:chExt cx="10972800" cy="710565"/>
          </a:xfrm>
        </p:grpSpPr>
        <p:sp>
          <p:nvSpPr>
            <p:cNvPr id="32" name="TextBox 32"/>
            <p:cNvSpPr txBox="1"/>
            <p:nvPr/>
          </p:nvSpPr>
          <p:spPr>
            <a:xfrm>
              <a:off x="755904" y="3337560"/>
              <a:ext cx="708279"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Parola</a:t>
              </a:r>
              <a:br/>
              <a:r>
                <a:rPr lang="tr-TR" sz="1200" b="1" dirty="0">
                  <a:solidFill>
                    <a:srgbClr val="12355B"/>
                  </a:solidFill>
                  <a:latin typeface="+mn-lt"/>
                  <a:ea typeface="+mn-ea"/>
                  <a:cs typeface="+mn-cs"/>
                </a:rPr>
                <a:t>özetleme</a:t>
              </a:r>
            </a:p>
          </p:txBody>
        </p:sp>
        <p:sp>
          <p:nvSpPr>
            <p:cNvPr id="33" name="TextBox 33"/>
            <p:cNvSpPr txBox="1"/>
            <p:nvPr/>
          </p:nvSpPr>
          <p:spPr>
            <a:xfrm>
              <a:off x="2375154" y="3299460"/>
              <a:ext cx="22829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Parolaları salt ile tek yönlü</a:t>
              </a:r>
              <a:br/>
              <a:r>
                <a:rPr lang="tr-TR" sz="1200" dirty="0">
                  <a:solidFill>
                    <a:srgbClr val="172B3A"/>
                  </a:solidFill>
                  <a:latin typeface="+mn-lt"/>
                  <a:ea typeface="+mn-ea"/>
                  <a:cs typeface="+mn-cs"/>
                </a:rPr>
                <a:t>özetleyerek geri döndürülemez</a:t>
              </a:r>
              <a:br/>
              <a:r>
                <a:rPr lang="tr-TR" sz="1200" dirty="0">
                  <a:solidFill>
                    <a:srgbClr val="172B3A"/>
                  </a:solidFill>
                  <a:latin typeface="+mn-lt"/>
                  <a:ea typeface="+mn-ea"/>
                  <a:cs typeface="+mn-cs"/>
                </a:rPr>
                <a:t>biçimde saklar.</a:t>
              </a:r>
            </a:p>
          </p:txBody>
        </p:sp>
        <p:sp>
          <p:nvSpPr>
            <p:cNvPr id="34" name="TextBox 34"/>
            <p:cNvSpPr txBox="1"/>
            <p:nvPr/>
          </p:nvSpPr>
          <p:spPr>
            <a:xfrm>
              <a:off x="5480304" y="3299460"/>
              <a:ext cx="20695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İki yönlü şifreleme yapmaz;</a:t>
              </a:r>
              <a:br/>
              <a:r>
                <a:rPr lang="tr-TR" sz="1200" dirty="0">
                  <a:solidFill>
                    <a:srgbClr val="172B3A"/>
                  </a:solidFill>
                  <a:latin typeface="+mn-lt"/>
                  <a:ea typeface="+mn-ea"/>
                  <a:cs typeface="+mn-cs"/>
                </a:rPr>
                <a:t>özetten orijinal parolaya</a:t>
              </a:r>
              <a:br/>
              <a:r>
                <a:rPr lang="tr-TR" sz="1200" dirty="0">
                  <a:solidFill>
                    <a:srgbClr val="172B3A"/>
                  </a:solidFill>
                  <a:latin typeface="+mn-lt"/>
                  <a:ea typeface="+mn-ea"/>
                  <a:cs typeface="+mn-cs"/>
                </a:rPr>
                <a:t>asla ulaşılamaz.</a:t>
              </a:r>
            </a:p>
          </p:txBody>
        </p:sp>
        <p:sp>
          <p:nvSpPr>
            <p:cNvPr id="35" name="TextBox 35"/>
            <p:cNvSpPr txBox="1"/>
            <p:nvPr/>
          </p:nvSpPr>
          <p:spPr>
            <a:xfrm>
              <a:off x="8585454" y="3299460"/>
              <a:ext cx="19552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Veritabanı sızarsa tüm</a:t>
              </a:r>
              <a:br/>
              <a:r>
                <a:rPr lang="tr-TR" sz="1200" dirty="0">
                  <a:solidFill>
                    <a:srgbClr val="172B3A"/>
                  </a:solidFill>
                  <a:latin typeface="+mn-lt"/>
                  <a:ea typeface="+mn-ea"/>
                  <a:cs typeface="+mn-cs"/>
                </a:rPr>
                <a:t>parolalar düz metin olarak</a:t>
              </a:r>
              <a:br/>
              <a:r>
                <a:rPr lang="tr-TR" sz="1200" dirty="0">
                  <a:solidFill>
                    <a:srgbClr val="172B3A"/>
                  </a:solidFill>
                  <a:latin typeface="+mn-lt"/>
                  <a:ea typeface="+mn-ea"/>
                  <a:cs typeface="+mn-cs"/>
                </a:rPr>
                <a:t>saldırganın eline geçer.</a:t>
              </a:r>
            </a:p>
          </p:txBody>
        </p:sp>
        <p:sp>
          <p:nvSpPr>
            <p:cNvPr id="36" name="Line 36"/>
            <p:cNvSpPr/>
            <p:nvPr/>
          </p:nvSpPr>
          <p:spPr>
            <a:xfrm>
              <a:off x="609600" y="4000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4" name="row-jwt"/>
          <p:cNvGrpSpPr/>
          <p:nvPr/>
        </p:nvGrpSpPr>
        <p:grpSpPr>
          <a:xfrm>
            <a:off x="609600" y="4000500"/>
            <a:ext cx="10972800" cy="809625"/>
            <a:chOff x="609600" y="4000500"/>
            <a:chExt cx="10972800" cy="809625"/>
          </a:xfrm>
        </p:grpSpPr>
        <p:sp>
          <p:nvSpPr>
            <p:cNvPr id="38" name="Rectangle 38"/>
            <p:cNvSpPr/>
            <p:nvPr/>
          </p:nvSpPr>
          <p:spPr>
            <a:xfrm>
              <a:off x="609600" y="4000500"/>
              <a:ext cx="10972800" cy="800100"/>
            </a:xfrm>
            <a:prstGeom prst="rect">
              <a:avLst/>
            </a:prstGeom>
            <a:solidFill>
              <a:srgbClr val="EAF4F6"/>
            </a:solidFill>
            <a:ln>
              <a:noFill/>
            </a:ln>
          </p:spPr>
        </p:sp>
        <p:sp>
          <p:nvSpPr>
            <p:cNvPr id="39" name="TextBox 39"/>
            <p:cNvSpPr txBox="1"/>
            <p:nvPr/>
          </p:nvSpPr>
          <p:spPr>
            <a:xfrm>
              <a:off x="755904" y="4137660"/>
              <a:ext cx="34375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JWT</a:t>
              </a:r>
            </a:p>
          </p:txBody>
        </p:sp>
        <p:sp>
          <p:nvSpPr>
            <p:cNvPr id="40" name="TextBox 40"/>
            <p:cNvSpPr txBox="1"/>
            <p:nvPr/>
          </p:nvSpPr>
          <p:spPr>
            <a:xfrm>
              <a:off x="2375154" y="4099560"/>
              <a:ext cx="20314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Kimlik/rol bilgisini imzalı,</a:t>
              </a:r>
              <a:br/>
              <a:r>
                <a:rPr lang="tr-TR" sz="1200" dirty="0">
                  <a:solidFill>
                    <a:srgbClr val="172B3A"/>
                  </a:solidFill>
                  <a:latin typeface="+mn-lt"/>
                  <a:ea typeface="+mn-ea"/>
                  <a:cs typeface="+mn-cs"/>
                </a:rPr>
                <a:t>durum bilgisi taşımayan bir</a:t>
              </a:r>
              <a:br/>
              <a:r>
                <a:rPr lang="tr-TR" sz="1200" dirty="0">
                  <a:solidFill>
                    <a:srgbClr val="172B3A"/>
                  </a:solidFill>
                  <a:latin typeface="+mn-lt"/>
                  <a:ea typeface="+mn-ea"/>
                  <a:cs typeface="+mn-cs"/>
                </a:rPr>
                <a:t>belirteçte sunar.</a:t>
              </a:r>
            </a:p>
          </p:txBody>
        </p:sp>
        <p:sp>
          <p:nvSpPr>
            <p:cNvPr id="41" name="TextBox 41"/>
            <p:cNvSpPr txBox="1"/>
            <p:nvPr/>
          </p:nvSpPr>
          <p:spPr>
            <a:xfrm>
              <a:off x="5480304" y="4099560"/>
              <a:ext cx="23439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Hassas veriyi gizlemez; içerik</a:t>
              </a:r>
              <a:br/>
              <a:r>
                <a:rPr lang="tr-TR" sz="1200" dirty="0">
                  <a:solidFill>
                    <a:srgbClr val="172B3A"/>
                  </a:solidFill>
                  <a:latin typeface="+mn-lt"/>
                  <a:ea typeface="+mn-ea"/>
                  <a:cs typeface="+mn-cs"/>
                </a:rPr>
                <a:t>base64url ile açıktır, yalnızca</a:t>
              </a:r>
              <a:br/>
              <a:r>
                <a:rPr lang="tr-TR" sz="1200" dirty="0">
                  <a:solidFill>
                    <a:srgbClr val="172B3A"/>
                  </a:solidFill>
                  <a:latin typeface="+mn-lt"/>
                  <a:ea typeface="+mn-ea"/>
                  <a:cs typeface="+mn-cs"/>
                </a:rPr>
                <a:t>imza değiştirilemez.</a:t>
              </a:r>
            </a:p>
          </p:txBody>
        </p:sp>
        <p:sp>
          <p:nvSpPr>
            <p:cNvPr id="42" name="TextBox 42"/>
            <p:cNvSpPr txBox="1"/>
            <p:nvPr/>
          </p:nvSpPr>
          <p:spPr>
            <a:xfrm>
              <a:off x="8585454" y="4099560"/>
              <a:ext cx="25725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Sunucu her istekte oturum için</a:t>
              </a:r>
              <a:br/>
              <a:r>
                <a:rPr lang="tr-TR" sz="1200" dirty="0">
                  <a:solidFill>
                    <a:srgbClr val="172B3A"/>
                  </a:solidFill>
                  <a:latin typeface="+mn-lt"/>
                  <a:ea typeface="+mn-ea"/>
                  <a:cs typeface="+mn-cs"/>
                </a:rPr>
                <a:t>veritabanına sorgu atmak zorunda</a:t>
              </a:r>
              <a:br/>
              <a:r>
                <a:rPr lang="tr-TR" sz="1200" dirty="0">
                  <a:solidFill>
                    <a:srgbClr val="172B3A"/>
                  </a:solidFill>
                  <a:latin typeface="+mn-lt"/>
                  <a:ea typeface="+mn-ea"/>
                  <a:cs typeface="+mn-cs"/>
                </a:rPr>
                <a:t>kalır; ölçekleme zorlaşır.</a:t>
              </a:r>
            </a:p>
          </p:txBody>
        </p:sp>
        <p:sp>
          <p:nvSpPr>
            <p:cNvPr id="43" name="Line 43"/>
            <p:cNvSpPr/>
            <p:nvPr/>
          </p:nvSpPr>
          <p:spPr>
            <a:xfrm>
              <a:off x="609600" y="48006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0" name="row-rbac"/>
          <p:cNvGrpSpPr/>
          <p:nvPr/>
        </p:nvGrpSpPr>
        <p:grpSpPr>
          <a:xfrm>
            <a:off x="609600" y="4899660"/>
            <a:ext cx="10972800" cy="710565"/>
            <a:chOff x="609600" y="4899660"/>
            <a:chExt cx="10972800" cy="710565"/>
          </a:xfrm>
        </p:grpSpPr>
        <p:sp>
          <p:nvSpPr>
            <p:cNvPr id="45" name="TextBox 45"/>
            <p:cNvSpPr txBox="1"/>
            <p:nvPr/>
          </p:nvSpPr>
          <p:spPr>
            <a:xfrm>
              <a:off x="755904" y="4937760"/>
              <a:ext cx="40648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RBAC</a:t>
              </a:r>
            </a:p>
          </p:txBody>
        </p:sp>
        <p:sp>
          <p:nvSpPr>
            <p:cNvPr id="46" name="TextBox 46"/>
            <p:cNvSpPr txBox="1"/>
            <p:nvPr/>
          </p:nvSpPr>
          <p:spPr>
            <a:xfrm>
              <a:off x="2375154" y="4899660"/>
              <a:ext cx="22372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İzinleri bireylere değil rollere</a:t>
              </a:r>
              <a:br/>
              <a:r>
                <a:rPr lang="tr-TR" sz="1200" dirty="0">
                  <a:solidFill>
                    <a:srgbClr val="172B3A"/>
                  </a:solidFill>
                  <a:latin typeface="+mn-lt"/>
                  <a:ea typeface="+mn-ea"/>
                  <a:cs typeface="+mn-cs"/>
                </a:rPr>
                <a:t>atayarak yetki denetimini</a:t>
              </a:r>
              <a:br/>
              <a:r>
                <a:rPr lang="tr-TR" sz="1200" dirty="0">
                  <a:solidFill>
                    <a:srgbClr val="172B3A"/>
                  </a:solidFill>
                  <a:latin typeface="+mn-lt"/>
                  <a:ea typeface="+mn-ea"/>
                  <a:cs typeface="+mn-cs"/>
                </a:rPr>
                <a:t>merkezileştirir.</a:t>
              </a:r>
            </a:p>
          </p:txBody>
        </p:sp>
        <p:sp>
          <p:nvSpPr>
            <p:cNvPr id="47" name="TextBox 47"/>
            <p:cNvSpPr txBox="1"/>
            <p:nvPr/>
          </p:nvSpPr>
          <p:spPr>
            <a:xfrm>
              <a:off x="5480304" y="4899660"/>
              <a:ext cx="21153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Nesne sahipliğini tek başına</a:t>
              </a:r>
              <a:br/>
              <a:r>
                <a:rPr lang="tr-TR" sz="1200" dirty="0">
                  <a:solidFill>
                    <a:srgbClr val="172B3A"/>
                  </a:solidFill>
                  <a:latin typeface="+mn-lt"/>
                  <a:ea typeface="+mn-ea"/>
                  <a:cs typeface="+mn-cs"/>
                </a:rPr>
                <a:t>çözmez; ek sahiplik denetimi</a:t>
              </a:r>
              <a:br/>
              <a:r>
                <a:rPr lang="tr-TR" sz="1200" dirty="0">
                  <a:solidFill>
                    <a:srgbClr val="172B3A"/>
                  </a:solidFill>
                  <a:latin typeface="+mn-lt"/>
                  <a:ea typeface="+mn-ea"/>
                  <a:cs typeface="+mn-cs"/>
                </a:rPr>
                <a:t>gerekir.</a:t>
              </a:r>
            </a:p>
          </p:txBody>
        </p:sp>
        <p:sp>
          <p:nvSpPr>
            <p:cNvPr id="48" name="TextBox 48"/>
            <p:cNvSpPr txBox="1"/>
            <p:nvPr/>
          </p:nvSpPr>
          <p:spPr>
            <a:xfrm>
              <a:off x="8585454" y="4899660"/>
              <a:ext cx="24734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Her kullanıcı için ayrı rota</a:t>
              </a:r>
              <a:br/>
              <a:r>
                <a:rPr lang="tr-TR" sz="1200" dirty="0">
                  <a:solidFill>
                    <a:srgbClr val="172B3A"/>
                  </a:solidFill>
                  <a:latin typeface="+mn-lt"/>
                  <a:ea typeface="+mn-ea"/>
                  <a:cs typeface="+mn-cs"/>
                </a:rPr>
                <a:t>kontrolü yazılır; yeni kural</a:t>
              </a:r>
              <a:br/>
              <a:r>
                <a:rPr lang="tr-TR" sz="1200" dirty="0">
                  <a:solidFill>
                    <a:srgbClr val="172B3A"/>
                  </a:solidFill>
                  <a:latin typeface="+mn-lt"/>
                  <a:ea typeface="+mn-ea"/>
                  <a:cs typeface="+mn-cs"/>
                </a:rPr>
                <a:t>geldiğinde kod baştan düzenlenir.</a:t>
              </a:r>
            </a:p>
          </p:txBody>
        </p:sp>
        <p:sp>
          <p:nvSpPr>
            <p:cNvPr id="49" name="Line 49"/>
            <p:cNvSpPr/>
            <p:nvPr/>
          </p:nvSpPr>
          <p:spPr>
            <a:xfrm>
              <a:off x="609600" y="56007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6" name="row-status"/>
          <p:cNvGrpSpPr/>
          <p:nvPr/>
        </p:nvGrpSpPr>
        <p:grpSpPr>
          <a:xfrm>
            <a:off x="609600" y="5600700"/>
            <a:ext cx="10972800" cy="800100"/>
            <a:chOff x="609600" y="5600700"/>
            <a:chExt cx="10972800" cy="800100"/>
          </a:xfrm>
        </p:grpSpPr>
        <p:sp>
          <p:nvSpPr>
            <p:cNvPr id="51" name="Rectangle 51"/>
            <p:cNvSpPr/>
            <p:nvPr/>
          </p:nvSpPr>
          <p:spPr>
            <a:xfrm>
              <a:off x="609600" y="5600700"/>
              <a:ext cx="10972800" cy="800100"/>
            </a:xfrm>
            <a:prstGeom prst="rect">
              <a:avLst/>
            </a:prstGeom>
            <a:solidFill>
              <a:srgbClr val="EAF4F6"/>
            </a:solidFill>
            <a:ln>
              <a:noFill/>
            </a:ln>
          </p:spPr>
        </p:sp>
        <p:sp>
          <p:nvSpPr>
            <p:cNvPr id="52" name="TextBox 52"/>
            <p:cNvSpPr txBox="1"/>
            <p:nvPr/>
          </p:nvSpPr>
          <p:spPr>
            <a:xfrm>
              <a:off x="755904" y="5737860"/>
              <a:ext cx="76700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401 / 403</a:t>
              </a:r>
            </a:p>
          </p:txBody>
        </p:sp>
        <p:sp>
          <p:nvSpPr>
            <p:cNvPr id="53" name="TextBox 53"/>
            <p:cNvSpPr txBox="1"/>
            <p:nvPr/>
          </p:nvSpPr>
          <p:spPr>
            <a:xfrm>
              <a:off x="2375154" y="5699760"/>
              <a:ext cx="22067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401 token eksik/geçersizken,</a:t>
              </a:r>
              <a:br/>
              <a:r>
                <a:rPr lang="tr-TR" sz="1200" dirty="0">
                  <a:solidFill>
                    <a:srgbClr val="172B3A"/>
                  </a:solidFill>
                  <a:latin typeface="+mn-lt"/>
                  <a:ea typeface="+mn-ea"/>
                  <a:cs typeface="+mn-cs"/>
                </a:rPr>
                <a:t>403 kimlik doğru ama rol</a:t>
              </a:r>
              <a:br/>
              <a:r>
                <a:rPr lang="tr-TR" sz="1200" dirty="0">
                  <a:solidFill>
                    <a:srgbClr val="172B3A"/>
                  </a:solidFill>
                  <a:latin typeface="+mn-lt"/>
                  <a:ea typeface="+mn-ea"/>
                  <a:cs typeface="+mn-cs"/>
                </a:rPr>
                <a:t>yetersizken döner.</a:t>
              </a:r>
            </a:p>
          </p:txBody>
        </p:sp>
        <p:sp>
          <p:nvSpPr>
            <p:cNvPr id="54" name="TextBox 54"/>
            <p:cNvSpPr txBox="1"/>
            <p:nvPr/>
          </p:nvSpPr>
          <p:spPr>
            <a:xfrm>
              <a:off x="5480304" y="5699760"/>
              <a:ext cx="22981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Hatanın nedenini gizlemez;</a:t>
              </a:r>
              <a:br/>
              <a:r>
                <a:rPr lang="tr-TR" sz="1200" dirty="0">
                  <a:solidFill>
                    <a:srgbClr val="172B3A"/>
                  </a:solidFill>
                  <a:latin typeface="+mn-lt"/>
                  <a:ea typeface="+mn-ea"/>
                  <a:cs typeface="+mn-cs"/>
                </a:rPr>
                <a:t>güvenlik gerekçesiyle iç sistem</a:t>
              </a:r>
              <a:br/>
              <a:r>
                <a:rPr lang="tr-TR" sz="1200" dirty="0">
                  <a:solidFill>
                    <a:srgbClr val="172B3A"/>
                  </a:solidFill>
                  <a:latin typeface="+mn-lt"/>
                  <a:ea typeface="+mn-ea"/>
                  <a:cs typeface="+mn-cs"/>
                </a:rPr>
                <a:t>detaylarını ifşa etmez.</a:t>
              </a:r>
            </a:p>
          </p:txBody>
        </p:sp>
        <p:sp>
          <p:nvSpPr>
            <p:cNvPr id="55" name="TextBox 55"/>
            <p:cNvSpPr txBox="1"/>
            <p:nvPr/>
          </p:nvSpPr>
          <p:spPr>
            <a:xfrm>
              <a:off x="8585454" y="5699760"/>
              <a:ext cx="23286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İstemci hatanın oturumdan mı</a:t>
              </a:r>
              <a:br/>
              <a:r>
                <a:rPr lang="tr-TR" sz="1200" dirty="0">
                  <a:solidFill>
                    <a:srgbClr val="172B3A"/>
                  </a:solidFill>
                  <a:latin typeface="+mn-lt"/>
                  <a:ea typeface="+mn-ea"/>
                  <a:cs typeface="+mn-cs"/>
                </a:rPr>
                <a:t>yetkiden mi geldiğini ayıramaz;</a:t>
              </a:r>
              <a:br/>
              <a:r>
                <a:rPr lang="tr-TR" sz="1200" dirty="0">
                  <a:solidFill>
                    <a:srgbClr val="172B3A"/>
                  </a:solidFill>
                  <a:latin typeface="+mn-lt"/>
                  <a:ea typeface="+mn-ea"/>
                  <a:cs typeface="+mn-cs"/>
                </a:rPr>
                <a:t>doğru akışa yönlendiremez.</a:t>
              </a:r>
            </a:p>
          </p:txBody>
        </p:sp>
      </p:grpSp>
      <p:sp>
        <p:nvSpPr>
          <p:cNvPr id="57" name="TextBox 5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0440802" cy="668845"/>
            <a:chOff x="609600" y="171450"/>
            <a:chExt cx="10440802"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975043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Kimlik doğrulama ve yetkilendirme: iki farklı soru</a:t>
              </a:r>
            </a:p>
          </p:txBody>
        </p:sp>
      </p:grpSp>
      <p:grpSp>
        <p:nvGrpSpPr>
          <p:cNvPr id="19" name="col-authn"/>
          <p:cNvGrpSpPr/>
          <p:nvPr/>
        </p:nvGrpSpPr>
        <p:grpSpPr>
          <a:xfrm>
            <a:off x="609600" y="1333500"/>
            <a:ext cx="5105400" cy="2857500"/>
            <a:chOff x="609600" y="1333500"/>
            <a:chExt cx="5105400" cy="2857500"/>
          </a:xfrm>
        </p:grpSpPr>
        <p:sp>
          <p:nvSpPr>
            <p:cNvPr id="12" name="Rectangle 12"/>
            <p:cNvSpPr/>
            <p:nvPr/>
          </p:nvSpPr>
          <p:spPr>
            <a:xfrm>
              <a:off x="609600" y="1333500"/>
              <a:ext cx="5105400" cy="2857500"/>
            </a:xfrm>
            <a:prstGeom prst="roundRect">
              <a:avLst>
                <a:gd name="adj" fmla="val 3333"/>
              </a:avLst>
            </a:prstGeom>
            <a:solidFill>
              <a:srgbClr val="FFFFFF"/>
            </a:solidFill>
            <a:ln w="14288">
              <a:solidFill>
                <a:srgbClr val="B8CBD3"/>
              </a:solidFill>
            </a:ln>
          </p:spPr>
        </p:sp>
        <p:grpSp>
          <p:nvGrpSpPr>
            <p:cNvPr id="15" name="icon-user"/>
            <p:cNvGrpSpPr/>
            <p:nvPr/>
          </p:nvGrpSpPr>
          <p:grpSpPr>
            <a:xfrm>
              <a:off x="1028700" y="1657350"/>
              <a:ext cx="228600" cy="342900"/>
              <a:chOff x="1028700" y="1657350"/>
              <a:chExt cx="228600" cy="342900"/>
            </a:xfrm>
          </p:grpSpPr>
          <p:sp>
            <p:nvSpPr>
              <p:cNvPr id="13" name="Freeform 13"/>
              <p:cNvSpPr/>
              <p:nvPr/>
            </p:nvSpPr>
            <p:spPr>
              <a:xfrm>
                <a:off x="1066800" y="1657350"/>
                <a:ext cx="152400" cy="152400"/>
              </a:xfrm>
              <a:custGeom>
                <a:avLst/>
                <a:gdLst/>
                <a:ahLst/>
                <a:cxnLst/>
                <a:rect l="l" t="t" r="r" b="b"/>
                <a:pathLst>
                  <a:path w="152400" h="152400">
                    <a:moveTo>
                      <a:pt x="0" y="76200"/>
                    </a:moveTo>
                    <a:cubicBezTo>
                      <a:pt x="0" y="118284"/>
                      <a:pt x="34116" y="152400"/>
                      <a:pt x="76200" y="152400"/>
                    </a:cubicBezTo>
                    <a:cubicBezTo>
                      <a:pt x="118284" y="152400"/>
                      <a:pt x="152400" y="118284"/>
                      <a:pt x="152400" y="76200"/>
                    </a:cubicBezTo>
                    <a:cubicBezTo>
                      <a:pt x="152400" y="34116"/>
                      <a:pt x="118284" y="0"/>
                      <a:pt x="76200" y="0"/>
                    </a:cubicBezTo>
                    <a:cubicBezTo>
                      <a:pt x="34116" y="0"/>
                      <a:pt x="0" y="34116"/>
                      <a:pt x="0" y="76200"/>
                    </a:cubicBezTo>
                  </a:path>
                </a:pathLst>
              </a:custGeom>
              <a:noFill/>
              <a:ln w="19050" cap="rnd">
                <a:solidFill>
                  <a:srgbClr val="12355B"/>
                </a:solidFill>
                <a:round/>
              </a:ln>
            </p:spPr>
          </p:sp>
          <p:sp>
            <p:nvSpPr>
              <p:cNvPr id="14" name="Freeform 14"/>
              <p:cNvSpPr/>
              <p:nvPr/>
            </p:nvSpPr>
            <p:spPr>
              <a:xfrm>
                <a:off x="1028700" y="1885950"/>
                <a:ext cx="228600" cy="114300"/>
              </a:xfrm>
              <a:custGeom>
                <a:avLst/>
                <a:gdLst/>
                <a:ahLst/>
                <a:cxnLst/>
                <a:rect l="l" t="t" r="r" b="b"/>
                <a:pathLst>
                  <a:path w="228600" h="114300">
                    <a:moveTo>
                      <a:pt x="0" y="114300"/>
                    </a:moveTo>
                    <a:lnTo>
                      <a:pt x="0" y="76200"/>
                    </a:lnTo>
                    <a:cubicBezTo>
                      <a:pt x="0" y="34116"/>
                      <a:pt x="34116" y="0"/>
                      <a:pt x="76200" y="0"/>
                    </a:cubicBezTo>
                    <a:lnTo>
                      <a:pt x="152400" y="0"/>
                    </a:lnTo>
                    <a:cubicBezTo>
                      <a:pt x="194484" y="0"/>
                      <a:pt x="228600" y="34116"/>
                      <a:pt x="228600" y="76200"/>
                    </a:cubicBezTo>
                    <a:lnTo>
                      <a:pt x="228600" y="114300"/>
                    </a:lnTo>
                  </a:path>
                </a:pathLst>
              </a:custGeom>
              <a:noFill/>
              <a:ln w="19050" cap="rnd">
                <a:solidFill>
                  <a:srgbClr val="12355B"/>
                </a:solidFill>
                <a:round/>
              </a:ln>
            </p:spPr>
          </p:sp>
        </p:grpSp>
        <p:sp>
          <p:nvSpPr>
            <p:cNvPr id="16" name="TextBox 16"/>
            <p:cNvSpPr txBox="1"/>
            <p:nvPr/>
          </p:nvSpPr>
          <p:spPr>
            <a:xfrm>
              <a:off x="1514094" y="1580198"/>
              <a:ext cx="2104989"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AuthN — Kimsin?</a:t>
              </a:r>
            </a:p>
          </p:txBody>
        </p:sp>
        <p:sp>
          <p:nvSpPr>
            <p:cNvPr id="17" name="TextBox 17"/>
            <p:cNvSpPr txBox="1"/>
            <p:nvPr/>
          </p:nvSpPr>
          <p:spPr>
            <a:xfrm>
              <a:off x="906399" y="2192179"/>
              <a:ext cx="3979037"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Bir isteği gönderen tarafın kimliğini</a:t>
              </a:r>
              <a:br/>
              <a:r>
                <a:rPr lang="tr-TR" sz="1580" dirty="0">
                  <a:solidFill>
                    <a:srgbClr val="172B3A"/>
                  </a:solidFill>
                  <a:latin typeface="+mn-lt"/>
                  <a:ea typeface="+mn-ea"/>
                  <a:cs typeface="+mn-cs"/>
                </a:rPr>
                <a:t>doğrulama sürecidir; genellikle kullanıcı</a:t>
              </a:r>
              <a:br/>
              <a:r>
                <a:rPr lang="tr-TR" sz="1580" dirty="0">
                  <a:solidFill>
                    <a:srgbClr val="172B3A"/>
                  </a:solidFill>
                  <a:latin typeface="+mn-lt"/>
                  <a:ea typeface="+mn-ea"/>
                  <a:cs typeface="+mn-cs"/>
                </a:rPr>
                <a:t>adı/parola veya bir token ile yapılır.</a:t>
              </a:r>
            </a:p>
          </p:txBody>
        </p:sp>
        <p:sp>
          <p:nvSpPr>
            <p:cNvPr id="18" name="TextBox 18"/>
            <p:cNvSpPr txBox="1"/>
            <p:nvPr/>
          </p:nvSpPr>
          <p:spPr>
            <a:xfrm>
              <a:off x="908304" y="3680460"/>
              <a:ext cx="440339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Authentication her zaman authorization'dan önce gelir.</a:t>
              </a:r>
            </a:p>
          </p:txBody>
        </p:sp>
      </p:grpSp>
      <p:sp>
        <p:nvSpPr>
          <p:cNvPr id="20" name="Line 20"/>
          <p:cNvSpPr/>
          <p:nvPr/>
        </p:nvSpPr>
        <p:spPr>
          <a:xfrm>
            <a:off x="5791200" y="2762250"/>
            <a:ext cx="609600" cy="1"/>
          </a:xfrm>
          <a:prstGeom prst="line">
            <a:avLst/>
          </a:prstGeom>
          <a:noFill/>
          <a:ln w="28575">
            <a:solidFill>
              <a:srgbClr val="00A6A6"/>
            </a:solidFill>
            <a:tailEnd type="arrow" w="lg" len="lg"/>
          </a:ln>
        </p:spPr>
      </p:sp>
      <p:grpSp>
        <p:nvGrpSpPr>
          <p:cNvPr id="29" name="col-authz"/>
          <p:cNvGrpSpPr/>
          <p:nvPr/>
        </p:nvGrpSpPr>
        <p:grpSpPr>
          <a:xfrm>
            <a:off x="6477000" y="1333500"/>
            <a:ext cx="5105400" cy="2857500"/>
            <a:chOff x="6477000" y="1333500"/>
            <a:chExt cx="5105400" cy="2857500"/>
          </a:xfrm>
        </p:grpSpPr>
        <p:sp>
          <p:nvSpPr>
            <p:cNvPr id="21" name="Rectangle 21"/>
            <p:cNvSpPr/>
            <p:nvPr/>
          </p:nvSpPr>
          <p:spPr>
            <a:xfrm>
              <a:off x="6477000" y="1333500"/>
              <a:ext cx="5105400" cy="2857500"/>
            </a:xfrm>
            <a:prstGeom prst="roundRect">
              <a:avLst>
                <a:gd name="adj" fmla="val 3333"/>
              </a:avLst>
            </a:prstGeom>
            <a:solidFill>
              <a:srgbClr val="FFFFFF"/>
            </a:solidFill>
            <a:ln w="14288">
              <a:solidFill>
                <a:srgbClr val="B8CBD3"/>
              </a:solidFill>
            </a:ln>
          </p:spPr>
        </p:sp>
        <p:grpSp>
          <p:nvGrpSpPr>
            <p:cNvPr id="25" name="icon-lock"/>
            <p:cNvGrpSpPr/>
            <p:nvPr/>
          </p:nvGrpSpPr>
          <p:grpSpPr>
            <a:xfrm>
              <a:off x="6877050" y="1638300"/>
              <a:ext cx="266700" cy="361950"/>
              <a:chOff x="6877050" y="1638300"/>
              <a:chExt cx="266700" cy="361950"/>
            </a:xfrm>
          </p:grpSpPr>
          <p:sp>
            <p:nvSpPr>
              <p:cNvPr id="22" name="Freeform 22"/>
              <p:cNvSpPr/>
              <p:nvPr/>
            </p:nvSpPr>
            <p:spPr>
              <a:xfrm>
                <a:off x="6877050" y="1809750"/>
                <a:ext cx="266700" cy="190500"/>
              </a:xfrm>
              <a:custGeom>
                <a:avLst/>
                <a:gdLst/>
                <a:ahLst/>
                <a:cxnLst/>
                <a:rect l="l" t="t" r="r" b="b"/>
                <a:pathLst>
                  <a:path w="266700" h="190500">
                    <a:moveTo>
                      <a:pt x="0" y="38100"/>
                    </a:moveTo>
                    <a:cubicBezTo>
                      <a:pt x="0" y="17058"/>
                      <a:pt x="17058" y="0"/>
                      <a:pt x="38100" y="0"/>
                    </a:cubicBezTo>
                    <a:lnTo>
                      <a:pt x="228600" y="0"/>
                    </a:lnTo>
                    <a:cubicBezTo>
                      <a:pt x="249642" y="0"/>
                      <a:pt x="266700" y="17058"/>
                      <a:pt x="266700" y="38100"/>
                    </a:cubicBezTo>
                    <a:lnTo>
                      <a:pt x="266700" y="152400"/>
                    </a:lnTo>
                    <a:cubicBezTo>
                      <a:pt x="266700" y="173442"/>
                      <a:pt x="249642" y="190500"/>
                      <a:pt x="228600" y="190500"/>
                    </a:cubicBezTo>
                    <a:lnTo>
                      <a:pt x="38100" y="190500"/>
                    </a:lnTo>
                    <a:cubicBezTo>
                      <a:pt x="17058" y="190500"/>
                      <a:pt x="0" y="173442"/>
                      <a:pt x="0" y="152400"/>
                    </a:cubicBezTo>
                    <a:lnTo>
                      <a:pt x="0" y="38100"/>
                    </a:lnTo>
                  </a:path>
                </a:pathLst>
              </a:custGeom>
              <a:noFill/>
              <a:ln w="19050" cap="rnd">
                <a:solidFill>
                  <a:srgbClr val="00A6A6"/>
                </a:solidFill>
                <a:round/>
              </a:ln>
            </p:spPr>
          </p:sp>
          <p:sp>
            <p:nvSpPr>
              <p:cNvPr id="23" name="Freeform 23"/>
              <p:cNvSpPr/>
              <p:nvPr/>
            </p:nvSpPr>
            <p:spPr>
              <a:xfrm>
                <a:off x="6991350" y="1885950"/>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cap="rnd">
                <a:solidFill>
                  <a:srgbClr val="00A6A6"/>
                </a:solidFill>
                <a:round/>
              </a:ln>
            </p:spPr>
          </p:sp>
          <p:sp>
            <p:nvSpPr>
              <p:cNvPr id="24" name="Freeform 24"/>
              <p:cNvSpPr/>
              <p:nvPr/>
            </p:nvSpPr>
            <p:spPr>
              <a:xfrm>
                <a:off x="6934200" y="1638300"/>
                <a:ext cx="152400" cy="171450"/>
              </a:xfrm>
              <a:custGeom>
                <a:avLst/>
                <a:gdLst/>
                <a:ahLst/>
                <a:cxnLst/>
                <a:rect l="l" t="t" r="r" b="b"/>
                <a:pathLst>
                  <a:path w="152400" h="171450">
                    <a:moveTo>
                      <a:pt x="0" y="171450"/>
                    </a:moveTo>
                    <a:lnTo>
                      <a:pt x="0" y="76200"/>
                    </a:lnTo>
                    <a:cubicBezTo>
                      <a:pt x="0" y="34116"/>
                      <a:pt x="34116" y="0"/>
                      <a:pt x="76200" y="0"/>
                    </a:cubicBezTo>
                    <a:cubicBezTo>
                      <a:pt x="118284" y="0"/>
                      <a:pt x="152400" y="34116"/>
                      <a:pt x="152400" y="76200"/>
                    </a:cubicBezTo>
                  </a:path>
                </a:pathLst>
              </a:custGeom>
              <a:noFill/>
              <a:ln w="19050" cap="rnd">
                <a:solidFill>
                  <a:srgbClr val="00A6A6"/>
                </a:solidFill>
                <a:round/>
              </a:ln>
            </p:spPr>
          </p:sp>
        </p:grpSp>
        <p:sp>
          <p:nvSpPr>
            <p:cNvPr id="26" name="TextBox 26"/>
            <p:cNvSpPr txBox="1"/>
            <p:nvPr/>
          </p:nvSpPr>
          <p:spPr>
            <a:xfrm>
              <a:off x="7381494" y="1580198"/>
              <a:ext cx="3204033"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AuthZ — Ne yapabilirsin?</a:t>
              </a:r>
            </a:p>
          </p:txBody>
        </p:sp>
        <p:sp>
          <p:nvSpPr>
            <p:cNvPr id="27" name="TextBox 27"/>
            <p:cNvSpPr txBox="1"/>
            <p:nvPr/>
          </p:nvSpPr>
          <p:spPr>
            <a:xfrm>
              <a:off x="6773799" y="2192179"/>
              <a:ext cx="4149598"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Kimliği doğrulanmış bir kullanıcının belirli</a:t>
              </a:r>
              <a:br/>
              <a:r>
                <a:rPr lang="tr-TR" sz="1580" dirty="0">
                  <a:solidFill>
                    <a:srgbClr val="172B3A"/>
                  </a:solidFill>
                  <a:latin typeface="+mn-lt"/>
                  <a:ea typeface="+mn-ea"/>
                  <a:cs typeface="+mn-cs"/>
                </a:rPr>
                <a:t>bir kaynağa veya işleme erişim izni</a:t>
              </a:r>
              <a:br/>
              <a:r>
                <a:rPr lang="tr-TR" sz="1580" dirty="0">
                  <a:solidFill>
                    <a:srgbClr val="172B3A"/>
                  </a:solidFill>
                  <a:latin typeface="+mn-lt"/>
                  <a:ea typeface="+mn-ea"/>
                  <a:cs typeface="+mn-cs"/>
                </a:rPr>
                <a:t>olup olmadığını belirleme sürecidir.</a:t>
              </a:r>
            </a:p>
          </p:txBody>
        </p:sp>
        <p:sp>
          <p:nvSpPr>
            <p:cNvPr id="28" name="TextBox 28"/>
            <p:cNvSpPr txBox="1"/>
            <p:nvPr/>
          </p:nvSpPr>
          <p:spPr>
            <a:xfrm>
              <a:off x="6775704" y="3680460"/>
              <a:ext cx="445159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Yalnızca kimliği doğrulanmış kullanıcı üzerinde çalışır.</a:t>
              </a:r>
            </a:p>
          </p:txBody>
        </p:sp>
      </p:grpSp>
      <p:grpSp>
        <p:nvGrpSpPr>
          <p:cNvPr id="33" name="campus-analogy"/>
          <p:cNvGrpSpPr/>
          <p:nvPr/>
        </p:nvGrpSpPr>
        <p:grpSpPr>
          <a:xfrm>
            <a:off x="609600" y="4476750"/>
            <a:ext cx="10972800" cy="1619250"/>
            <a:chOff x="609600" y="4476750"/>
            <a:chExt cx="10972800" cy="1619250"/>
          </a:xfrm>
        </p:grpSpPr>
        <p:sp>
          <p:nvSpPr>
            <p:cNvPr id="30" name="Rectangle 30"/>
            <p:cNvSpPr/>
            <p:nvPr/>
          </p:nvSpPr>
          <p:spPr>
            <a:xfrm>
              <a:off x="609600" y="4476750"/>
              <a:ext cx="10972800" cy="1619250"/>
            </a:xfrm>
            <a:prstGeom prst="roundRect">
              <a:avLst>
                <a:gd name="adj" fmla="val 4706"/>
              </a:avLst>
            </a:prstGeom>
            <a:solidFill>
              <a:srgbClr val="EAF4F6"/>
            </a:solidFill>
            <a:ln>
              <a:noFill/>
            </a:ln>
          </p:spPr>
        </p:sp>
        <p:sp>
          <p:nvSpPr>
            <p:cNvPr id="31" name="TextBox 31"/>
            <p:cNvSpPr txBox="1"/>
            <p:nvPr/>
          </p:nvSpPr>
          <p:spPr>
            <a:xfrm>
              <a:off x="905256" y="4606290"/>
              <a:ext cx="199757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Kampüs analojisi</a:t>
              </a:r>
            </a:p>
          </p:txBody>
        </p:sp>
        <p:sp>
          <p:nvSpPr>
            <p:cNvPr id="32" name="TextBox 32"/>
            <p:cNvSpPr txBox="1"/>
            <p:nvPr/>
          </p:nvSpPr>
          <p:spPr>
            <a:xfrm>
              <a:off x="906399" y="4954429"/>
              <a:ext cx="9326626" cy="879538"/>
            </a:xfrm>
            <a:prstGeom prst="rect">
              <a:avLst/>
            </a:prstGeom>
            <a:noFill/>
            <a:ln>
              <a:noFill/>
            </a:ln>
          </p:spPr>
          <p:txBody>
            <a:bodyPr wrap="none" lIns="0" tIns="0" rIns="0" bIns="0" anchor="t" anchorCtr="0">
              <a:spAutoFit/>
            </a:bodyPr>
            <a:lstStyle/>
            <a:p>
              <a:pPr algn="l">
                <a:lnSpc>
                  <a:spcPts val="2250"/>
                </a:lnSpc>
              </a:pPr>
              <a:r>
                <a:rPr lang="tr-TR" sz="1580" dirty="0">
                  <a:solidFill>
                    <a:srgbClr val="172B3A"/>
                  </a:solidFill>
                  <a:latin typeface="+mn-lt"/>
                  <a:ea typeface="+mn-ea"/>
                  <a:cs typeface="+mn-cs"/>
                </a:rPr>
                <a:t>Kampüs kapısındaki güvenlik görevlisi öğrenci kartını kontrol eder — bu authentication'dır,</a:t>
              </a:r>
              <a:br/>
              <a:r>
                <a:rPr lang="tr-TR" sz="1580" dirty="0">
                  <a:solidFill>
                    <a:srgbClr val="172B3A"/>
                  </a:solidFill>
                  <a:latin typeface="+mn-lt"/>
                  <a:ea typeface="+mn-ea"/>
                  <a:cs typeface="+mn-cs"/>
                </a:rPr>
                <a:t>kişinin gerçekten o üniversitenin öğrencisi olup olmadığını doğrular. Ancak kart, laboratuvara</a:t>
              </a:r>
              <a:br/>
              <a:r>
                <a:rPr lang="tr-TR" sz="1580" dirty="0">
                  <a:solidFill>
                    <a:srgbClr val="172B3A"/>
                  </a:solidFill>
                  <a:latin typeface="+mn-lt"/>
                  <a:ea typeface="+mn-ea"/>
                  <a:cs typeface="+mn-cs"/>
                </a:rPr>
                <a:t>veya yönetim binasına girme hakkı vermez; bu ayrı kurallarla belirlenen authorization'dır.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53904" y="309562"/>
                <a:ext cx="206693" cy="280512"/>
                <a:chOff x="753904" y="309562"/>
                <a:chExt cx="206693" cy="280512"/>
              </a:xfrm>
            </p:grpSpPr>
            <p:sp>
              <p:nvSpPr>
                <p:cNvPr id="5" name="Freeform 5"/>
                <p:cNvSpPr/>
                <p:nvPr/>
              </p:nvSpPr>
              <p:spPr>
                <a:xfrm>
                  <a:off x="7539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424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7981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61872" y="282892"/>
              <a:ext cx="9907991"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Kod 10.1 · Authentication ve authorization sırası</a:t>
              </a:r>
            </a:p>
          </p:txBody>
        </p:sp>
      </p:grpSp>
      <p:grpSp>
        <p:nvGrpSpPr>
          <p:cNvPr id="29" name="code-panel"/>
          <p:cNvGrpSpPr/>
          <p:nvPr/>
        </p:nvGrpSpPr>
        <p:grpSpPr>
          <a:xfrm>
            <a:off x="571500" y="1295400"/>
            <a:ext cx="6477000" cy="4271201"/>
            <a:chOff x="571500" y="1295400"/>
            <a:chExt cx="6477000" cy="4271201"/>
          </a:xfrm>
        </p:grpSpPr>
        <p:sp>
          <p:nvSpPr>
            <p:cNvPr id="12" name="Rectangle 12"/>
            <p:cNvSpPr/>
            <p:nvPr/>
          </p:nvSpPr>
          <p:spPr>
            <a:xfrm>
              <a:off x="571500" y="1295400"/>
              <a:ext cx="6477000" cy="3905250"/>
            </a:xfrm>
            <a:prstGeom prst="rect">
              <a:avLst/>
            </a:prstGeom>
            <a:solidFill>
              <a:srgbClr val="12355B"/>
            </a:solidFill>
            <a:ln>
              <a:noFill/>
            </a:ln>
          </p:spPr>
        </p:sp>
        <p:sp>
          <p:nvSpPr>
            <p:cNvPr id="13" name="TextBox 13"/>
            <p:cNvSpPr txBox="1"/>
            <p:nvPr/>
          </p:nvSpPr>
          <p:spPr>
            <a:xfrm>
              <a:off x="793242" y="1492568"/>
              <a:ext cx="4730612"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function kimlikDogrula(tokenGecerliMi: boolean,</a:t>
              </a:r>
            </a:p>
          </p:txBody>
        </p:sp>
        <p:sp>
          <p:nvSpPr>
            <p:cNvPr id="14" name="TextBox 14"/>
            <p:cNvSpPr txBox="1"/>
            <p:nvPr/>
          </p:nvSpPr>
          <p:spPr>
            <a:xfrm>
              <a:off x="1031367" y="1730692"/>
              <a:ext cx="412685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kullanici: Kullanici | null): Kullanici {</a:t>
              </a:r>
            </a:p>
          </p:txBody>
        </p:sp>
        <p:sp>
          <p:nvSpPr>
            <p:cNvPr id="15" name="TextBox 15"/>
            <p:cNvSpPr txBox="1"/>
            <p:nvPr/>
          </p:nvSpPr>
          <p:spPr>
            <a:xfrm>
              <a:off x="1031367" y="1968818"/>
              <a:ext cx="3628403"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if (!tokenGecerliMi || !kullanici) {</a:t>
              </a:r>
            </a:p>
          </p:txBody>
        </p:sp>
        <p:sp>
          <p:nvSpPr>
            <p:cNvPr id="16" name="TextBox 16"/>
            <p:cNvSpPr txBox="1"/>
            <p:nvPr/>
          </p:nvSpPr>
          <p:spPr>
            <a:xfrm>
              <a:off x="1269492" y="2206942"/>
              <a:ext cx="4627928"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throw new Error("401: Kimlik doğrulanamadı.");</a:t>
              </a:r>
            </a:p>
          </p:txBody>
        </p:sp>
        <p:sp>
          <p:nvSpPr>
            <p:cNvPr id="17" name="TextBox 17"/>
            <p:cNvSpPr txBox="1"/>
            <p:nvPr/>
          </p:nvSpPr>
          <p:spPr>
            <a:xfrm>
              <a:off x="1031367" y="2445068"/>
              <a:ext cx="11367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a:t>
              </a:r>
            </a:p>
          </p:txBody>
        </p:sp>
        <p:sp>
          <p:nvSpPr>
            <p:cNvPr id="18" name="TextBox 18"/>
            <p:cNvSpPr txBox="1"/>
            <p:nvPr/>
          </p:nvSpPr>
          <p:spPr>
            <a:xfrm>
              <a:off x="1031367" y="2683192"/>
              <a:ext cx="1712957"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return kullanici;</a:t>
              </a:r>
            </a:p>
          </p:txBody>
        </p:sp>
        <p:sp>
          <p:nvSpPr>
            <p:cNvPr id="19" name="TextBox 19"/>
            <p:cNvSpPr txBox="1"/>
            <p:nvPr/>
          </p:nvSpPr>
          <p:spPr>
            <a:xfrm>
              <a:off x="793242" y="2921318"/>
              <a:ext cx="11367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a:t>
              </a:r>
            </a:p>
          </p:txBody>
        </p:sp>
        <p:sp>
          <p:nvSpPr>
            <p:cNvPr id="20" name="TextBox 20"/>
            <p:cNvSpPr txBox="1"/>
            <p:nvPr/>
          </p:nvSpPr>
          <p:spPr>
            <a:xfrm>
              <a:off x="793242" y="3254692"/>
              <a:ext cx="4218263"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function yetkilendir(kullanici: Kullanici,</a:t>
              </a:r>
            </a:p>
          </p:txBody>
        </p:sp>
        <p:sp>
          <p:nvSpPr>
            <p:cNvPr id="21" name="TextBox 21"/>
            <p:cNvSpPr txBox="1"/>
            <p:nvPr/>
          </p:nvSpPr>
          <p:spPr>
            <a:xfrm>
              <a:off x="1031367" y="3492818"/>
              <a:ext cx="3728167"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gerekliRol: Kullanici["rol"]): void {</a:t>
              </a:r>
            </a:p>
          </p:txBody>
        </p:sp>
        <p:sp>
          <p:nvSpPr>
            <p:cNvPr id="22" name="TextBox 22"/>
            <p:cNvSpPr txBox="1"/>
            <p:nvPr/>
          </p:nvSpPr>
          <p:spPr>
            <a:xfrm>
              <a:off x="1031367" y="3730942"/>
              <a:ext cx="352040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if (kullanici.rol !== gerekliRol) {</a:t>
              </a:r>
            </a:p>
          </p:txBody>
        </p:sp>
        <p:sp>
          <p:nvSpPr>
            <p:cNvPr id="23" name="TextBox 23"/>
            <p:cNvSpPr txBox="1"/>
            <p:nvPr/>
          </p:nvSpPr>
          <p:spPr>
            <a:xfrm>
              <a:off x="1269492" y="3969068"/>
              <a:ext cx="5228206"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throw new Error("403: Bu işlem için yetkiniz yok.");</a:t>
              </a:r>
            </a:p>
          </p:txBody>
        </p:sp>
        <p:sp>
          <p:nvSpPr>
            <p:cNvPr id="24" name="TextBox 24"/>
            <p:cNvSpPr txBox="1"/>
            <p:nvPr/>
          </p:nvSpPr>
          <p:spPr>
            <a:xfrm>
              <a:off x="1031367" y="4207192"/>
              <a:ext cx="11367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a:t>
              </a:r>
            </a:p>
          </p:txBody>
        </p:sp>
        <p:sp>
          <p:nvSpPr>
            <p:cNvPr id="25" name="TextBox 25"/>
            <p:cNvSpPr txBox="1"/>
            <p:nvPr/>
          </p:nvSpPr>
          <p:spPr>
            <a:xfrm>
              <a:off x="793242" y="4445318"/>
              <a:ext cx="11367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a:t>
              </a:r>
            </a:p>
          </p:txBody>
        </p:sp>
        <p:sp>
          <p:nvSpPr>
            <p:cNvPr id="26" name="TextBox 26"/>
            <p:cNvSpPr txBox="1"/>
            <p:nvPr/>
          </p:nvSpPr>
          <p:spPr>
            <a:xfrm>
              <a:off x="793242" y="4778692"/>
              <a:ext cx="2919258"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kimlikDogrula(true, ogrenci);</a:t>
              </a:r>
            </a:p>
          </p:txBody>
        </p:sp>
        <p:sp>
          <p:nvSpPr>
            <p:cNvPr id="27" name="TextBox 27"/>
            <p:cNvSpPr txBox="1"/>
            <p:nvPr/>
          </p:nvSpPr>
          <p:spPr>
            <a:xfrm>
              <a:off x="793242" y="5016818"/>
              <a:ext cx="4918129"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yetkilendir(dogrulanmisKullanici, "kutuphaneci");</a:t>
              </a:r>
            </a:p>
          </p:txBody>
        </p:sp>
        <p:sp>
          <p:nvSpPr>
            <p:cNvPr id="28" name="TextBox 28"/>
            <p:cNvSpPr txBox="1"/>
            <p:nvPr/>
          </p:nvSpPr>
          <p:spPr>
            <a:xfrm>
              <a:off x="793242" y="5302568"/>
              <a:ext cx="4229443"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Consolas"/>
                  <a:ea typeface="Consolas"/>
                  <a:cs typeface="Consolas"/>
                </a:rPr>
                <a:t>// Çıktı: 403: Bu işlem için yetkiniz yok.</a:t>
              </a:r>
            </a:p>
          </p:txBody>
        </p:sp>
      </p:grpSp>
      <p:grpSp>
        <p:nvGrpSpPr>
          <p:cNvPr id="32" name="code-purpose"/>
          <p:cNvGrpSpPr/>
          <p:nvPr/>
        </p:nvGrpSpPr>
        <p:grpSpPr>
          <a:xfrm>
            <a:off x="7267194" y="1465898"/>
            <a:ext cx="3639820" cy="1205769"/>
            <a:chOff x="7267194" y="1465898"/>
            <a:chExt cx="3639820" cy="1205769"/>
          </a:xfrm>
        </p:grpSpPr>
        <p:sp>
          <p:nvSpPr>
            <p:cNvPr id="30" name="TextBox 30"/>
            <p:cNvSpPr txBox="1"/>
            <p:nvPr/>
          </p:nvSpPr>
          <p:spPr>
            <a:xfrm>
              <a:off x="7267194" y="1465898"/>
              <a:ext cx="168298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Kodun amacı</a:t>
              </a:r>
            </a:p>
          </p:txBody>
        </p:sp>
        <p:sp>
          <p:nvSpPr>
            <p:cNvPr id="31" name="TextBox 31"/>
            <p:cNvSpPr txBox="1"/>
            <p:nvPr/>
          </p:nvSpPr>
          <p:spPr>
            <a:xfrm>
              <a:off x="7269099" y="1830229"/>
              <a:ext cx="3637915"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Bir isteğin önce kimlik doğrulamadan,</a:t>
              </a:r>
              <a:br/>
              <a:r>
                <a:rPr lang="tr-TR" sz="1580" dirty="0">
                  <a:solidFill>
                    <a:srgbClr val="172B3A"/>
                  </a:solidFill>
                  <a:latin typeface="+mn-lt"/>
                  <a:ea typeface="+mn-ea"/>
                  <a:cs typeface="+mn-cs"/>
                </a:rPr>
                <a:t>sonra yetkilendirmeden geçtiği iki</a:t>
              </a:r>
              <a:br/>
              <a:r>
                <a:rPr lang="tr-TR" sz="1580" dirty="0">
                  <a:solidFill>
                    <a:srgbClr val="172B3A"/>
                  </a:solidFill>
                  <a:latin typeface="+mn-lt"/>
                  <a:ea typeface="+mn-ea"/>
                  <a:cs typeface="+mn-cs"/>
                </a:rPr>
                <a:t>aşamalı denetim akışını göstermek.</a:t>
              </a:r>
            </a:p>
          </p:txBody>
        </p:sp>
      </p:grpSp>
      <p:grpSp>
        <p:nvGrpSpPr>
          <p:cNvPr id="36" name="code-critical"/>
          <p:cNvGrpSpPr/>
          <p:nvPr/>
        </p:nvGrpSpPr>
        <p:grpSpPr>
          <a:xfrm>
            <a:off x="7267194" y="2570798"/>
            <a:ext cx="3688842" cy="1363408"/>
            <a:chOff x="7267194" y="2570798"/>
            <a:chExt cx="3688842" cy="1363408"/>
          </a:xfrm>
        </p:grpSpPr>
        <p:sp>
          <p:nvSpPr>
            <p:cNvPr id="33" name="TextBox 33"/>
            <p:cNvSpPr txBox="1"/>
            <p:nvPr/>
          </p:nvSpPr>
          <p:spPr>
            <a:xfrm>
              <a:off x="7267194" y="2570798"/>
              <a:ext cx="2026241"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Kritik satırlar</a:t>
              </a:r>
            </a:p>
          </p:txBody>
        </p:sp>
        <p:sp>
          <p:nvSpPr>
            <p:cNvPr id="34" name="TextBox 34"/>
            <p:cNvSpPr txBox="1"/>
            <p:nvPr/>
          </p:nvSpPr>
          <p:spPr>
            <a:xfrm>
              <a:off x="7271004" y="2937510"/>
              <a:ext cx="32506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1. kimlikDogrula, token geçersiz/kullanıcı</a:t>
              </a:r>
              <a:br/>
              <a:r>
                <a:rPr lang="tr-TR" sz="1200" dirty="0">
                  <a:solidFill>
                    <a:srgbClr val="172B3A"/>
                  </a:solidFill>
                  <a:latin typeface="+mn-lt"/>
                  <a:ea typeface="+mn-ea"/>
                  <a:cs typeface="+mn-cs"/>
                </a:rPr>
                <a:t>yoksa 401 hatasıyla akışı hemen durdurur.</a:t>
              </a:r>
            </a:p>
          </p:txBody>
        </p:sp>
        <p:sp>
          <p:nvSpPr>
            <p:cNvPr id="35" name="TextBox 35"/>
            <p:cNvSpPr txBox="1"/>
            <p:nvPr/>
          </p:nvSpPr>
          <p:spPr>
            <a:xfrm>
              <a:off x="7271004" y="3489960"/>
              <a:ext cx="36850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2. yetkilendir yalnızca doğrulanmış kullanıcı</a:t>
              </a:r>
              <a:br/>
              <a:r>
                <a:rPr lang="tr-TR" sz="1200" dirty="0">
                  <a:solidFill>
                    <a:srgbClr val="172B3A"/>
                  </a:solidFill>
                  <a:latin typeface="+mn-lt"/>
                  <a:ea typeface="+mn-ea"/>
                  <a:cs typeface="+mn-cs"/>
                </a:rPr>
                <a:t>üzerinde çalışır; rol uyuşmazlığında 403 üretir.</a:t>
              </a:r>
            </a:p>
          </p:txBody>
        </p:sp>
      </p:grpSp>
      <p:grpSp>
        <p:nvGrpSpPr>
          <p:cNvPr id="40" name="code-caution"/>
          <p:cNvGrpSpPr/>
          <p:nvPr/>
        </p:nvGrpSpPr>
        <p:grpSpPr>
          <a:xfrm>
            <a:off x="7277100" y="4381500"/>
            <a:ext cx="3686556" cy="819150"/>
            <a:chOff x="7277100" y="4381500"/>
            <a:chExt cx="3686556" cy="819150"/>
          </a:xfrm>
        </p:grpSpPr>
        <p:sp>
          <p:nvSpPr>
            <p:cNvPr id="37" name="Rectangle 37"/>
            <p:cNvSpPr/>
            <p:nvPr/>
          </p:nvSpPr>
          <p:spPr>
            <a:xfrm>
              <a:off x="7277100" y="4381500"/>
              <a:ext cx="57150" cy="819150"/>
            </a:xfrm>
            <a:prstGeom prst="rect">
              <a:avLst/>
            </a:prstGeom>
            <a:solidFill>
              <a:srgbClr val="2E86AB"/>
            </a:solidFill>
            <a:ln>
              <a:noFill/>
            </a:ln>
          </p:spPr>
        </p:sp>
        <p:sp>
          <p:nvSpPr>
            <p:cNvPr id="38" name="TextBox 38"/>
            <p:cNvSpPr txBox="1"/>
            <p:nvPr/>
          </p:nvSpPr>
          <p:spPr>
            <a:xfrm>
              <a:off x="7499604" y="448056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Dikkat noktası</a:t>
              </a:r>
            </a:p>
          </p:txBody>
        </p:sp>
        <p:sp>
          <p:nvSpPr>
            <p:cNvPr id="39" name="TextBox 39"/>
            <p:cNvSpPr txBox="1"/>
            <p:nvPr/>
          </p:nvSpPr>
          <p:spPr>
            <a:xfrm>
              <a:off x="7499604" y="4728210"/>
              <a:ext cx="34640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Gerçek Express'te bu sıra middleware</a:t>
              </a:r>
              <a:br/>
              <a:r>
                <a:rPr lang="tr-TR" sz="1200" dirty="0">
                  <a:solidFill>
                    <a:srgbClr val="52616B"/>
                  </a:solidFill>
                  <a:latin typeface="+mn-lt"/>
                  <a:ea typeface="+mn-ea"/>
                  <a:cs typeface="+mn-cs"/>
                </a:rPr>
                <a:t>zincirinde korunmalı, tersine çevrilmemelidir.</a:t>
              </a:r>
            </a:p>
          </p:txBody>
        </p:sp>
      </p:grpSp>
      <p:grpSp>
        <p:nvGrpSpPr>
          <p:cNvPr id="42" name="code-takeaway"/>
          <p:cNvGrpSpPr/>
          <p:nvPr/>
        </p:nvGrpSpPr>
        <p:grpSpPr>
          <a:xfrm>
            <a:off x="563499" y="5678329"/>
            <a:ext cx="8564118" cy="574738"/>
            <a:chOff x="563499" y="5678329"/>
            <a:chExt cx="8564118" cy="574738"/>
          </a:xfrm>
        </p:grpSpPr>
        <p:sp>
          <p:nvSpPr>
            <p:cNvPr id="41" name="TextBox 41"/>
            <p:cNvSpPr txBox="1"/>
            <p:nvPr/>
          </p:nvSpPr>
          <p:spPr>
            <a:xfrm>
              <a:off x="563499" y="5678329"/>
              <a:ext cx="8564118"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Çıktı 403 döner: öğrenci rolündeki kullanıcı, kimliği doğrulansa bile kütüphaneciye özel</a:t>
              </a:r>
              <a:br/>
              <a:r>
                <a:rPr lang="tr-TR" sz="1580" dirty="0">
                  <a:solidFill>
                    <a:srgbClr val="172B3A"/>
                  </a:solidFill>
                  <a:latin typeface="+mn-lt"/>
                  <a:ea typeface="+mn-ea"/>
                  <a:cs typeface="+mn-cs"/>
                </a:rPr>
                <a:t>işlemi deneyince yetkilendirme adımında reddedilir.</a:t>
              </a:r>
            </a:p>
          </p:txBody>
        </p:sp>
      </p:grpSp>
      <p:sp>
        <p:nvSpPr>
          <p:cNvPr id="43" name="TextBox 4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615071" cy="668845"/>
            <a:chOff x="609600" y="171450"/>
            <a:chExt cx="961507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892469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Kimlik doğrulama yaklaşımları ve yaygın hata</a:t>
              </a:r>
            </a:p>
          </p:txBody>
        </p:sp>
      </p:grpSp>
      <p:grpSp>
        <p:nvGrpSpPr>
          <p:cNvPr id="17" name="alt-header"/>
          <p:cNvGrpSpPr/>
          <p:nvPr/>
        </p:nvGrpSpPr>
        <p:grpSpPr>
          <a:xfrm>
            <a:off x="609600" y="1257300"/>
            <a:ext cx="10972800" cy="342900"/>
            <a:chOff x="609600" y="1257300"/>
            <a:chExt cx="10972800" cy="342900"/>
          </a:xfrm>
        </p:grpSpPr>
        <p:sp>
          <p:nvSpPr>
            <p:cNvPr id="12" name="Rectangle 12"/>
            <p:cNvSpPr/>
            <p:nvPr/>
          </p:nvSpPr>
          <p:spPr>
            <a:xfrm>
              <a:off x="609600" y="1257300"/>
              <a:ext cx="10972800" cy="342900"/>
            </a:xfrm>
            <a:prstGeom prst="rect">
              <a:avLst/>
            </a:prstGeom>
            <a:solidFill>
              <a:srgbClr val="12355B"/>
            </a:solidFill>
            <a:ln>
              <a:noFill/>
            </a:ln>
          </p:spPr>
        </p:sp>
        <p:sp>
          <p:nvSpPr>
            <p:cNvPr id="13" name="TextBox 13"/>
            <p:cNvSpPr txBox="1"/>
            <p:nvPr/>
          </p:nvSpPr>
          <p:spPr>
            <a:xfrm>
              <a:off x="756666" y="1363028"/>
              <a:ext cx="767509"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YAKLAŞIM</a:t>
              </a:r>
            </a:p>
          </p:txBody>
        </p:sp>
        <p:sp>
          <p:nvSpPr>
            <p:cNvPr id="14" name="TextBox 14"/>
            <p:cNvSpPr txBox="1"/>
            <p:nvPr/>
          </p:nvSpPr>
          <p:spPr>
            <a:xfrm>
              <a:off x="2852166" y="1363028"/>
              <a:ext cx="736145"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AVANTAJI</a:t>
              </a:r>
            </a:p>
          </p:txBody>
        </p:sp>
        <p:sp>
          <p:nvSpPr>
            <p:cNvPr id="15" name="TextBox 15"/>
            <p:cNvSpPr txBox="1"/>
            <p:nvPr/>
          </p:nvSpPr>
          <p:spPr>
            <a:xfrm>
              <a:off x="5862066" y="1363028"/>
              <a:ext cx="1026902"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DEZAVANTAJI</a:t>
              </a:r>
            </a:p>
          </p:txBody>
        </p:sp>
        <p:sp>
          <p:nvSpPr>
            <p:cNvPr id="16" name="TextBox 16"/>
            <p:cNvSpPr txBox="1"/>
            <p:nvPr/>
          </p:nvSpPr>
          <p:spPr>
            <a:xfrm>
              <a:off x="8871966" y="1363028"/>
              <a:ext cx="130981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UYGUN KULLANIM</a:t>
              </a:r>
            </a:p>
          </p:txBody>
        </p:sp>
      </p:grpSp>
      <p:grpSp>
        <p:nvGrpSpPr>
          <p:cNvPr id="23" name="row-session"/>
          <p:cNvGrpSpPr/>
          <p:nvPr/>
        </p:nvGrpSpPr>
        <p:grpSpPr>
          <a:xfrm>
            <a:off x="609600" y="1699260"/>
            <a:ext cx="10972800" cy="539115"/>
            <a:chOff x="609600" y="1699260"/>
            <a:chExt cx="10972800" cy="539115"/>
          </a:xfrm>
        </p:grpSpPr>
        <p:sp>
          <p:nvSpPr>
            <p:cNvPr id="18" name="TextBox 18"/>
            <p:cNvSpPr txBox="1"/>
            <p:nvPr/>
          </p:nvSpPr>
          <p:spPr>
            <a:xfrm>
              <a:off x="755142" y="1721168"/>
              <a:ext cx="661797" cy="454533"/>
            </a:xfrm>
            <a:prstGeom prst="rect">
              <a:avLst/>
            </a:prstGeom>
            <a:noFill/>
            <a:ln>
              <a:noFill/>
            </a:ln>
          </p:spPr>
          <p:txBody>
            <a:bodyPr wrap="none" lIns="0" tIns="0" rIns="0" bIns="0" anchor="t" anchorCtr="0">
              <a:spAutoFit/>
            </a:bodyPr>
            <a:lstStyle/>
            <a:p>
              <a:pPr algn="l">
                <a:lnSpc>
                  <a:spcPts val="1500"/>
                </a:lnSpc>
              </a:pPr>
              <a:r>
                <a:rPr lang="tr-TR" sz="1350" b="1" dirty="0">
                  <a:solidFill>
                    <a:srgbClr val="12355B"/>
                  </a:solidFill>
                  <a:latin typeface="+mn-lt"/>
                  <a:ea typeface="+mn-ea"/>
                  <a:cs typeface="+mn-cs"/>
                </a:rPr>
                <a:t>Session</a:t>
              </a:r>
              <a:br/>
              <a:r>
                <a:rPr lang="tr-TR" sz="1350" b="1" dirty="0">
                  <a:solidFill>
                    <a:srgbClr val="12355B"/>
                  </a:solidFill>
                  <a:latin typeface="+mn-lt"/>
                  <a:ea typeface="+mn-ea"/>
                  <a:cs typeface="+mn-cs"/>
                </a:rPr>
                <a:t>tabanlı</a:t>
              </a:r>
            </a:p>
          </p:txBody>
        </p:sp>
        <p:sp>
          <p:nvSpPr>
            <p:cNvPr id="19" name="TextBox 19"/>
            <p:cNvSpPr txBox="1"/>
            <p:nvPr/>
          </p:nvSpPr>
          <p:spPr>
            <a:xfrm>
              <a:off x="2851404" y="1699260"/>
              <a:ext cx="16428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Sunucu tarafında tam</a:t>
              </a:r>
              <a:br/>
              <a:r>
                <a:rPr lang="tr-TR" sz="1200" dirty="0">
                  <a:solidFill>
                    <a:srgbClr val="172B3A"/>
                  </a:solidFill>
                  <a:latin typeface="+mn-lt"/>
                  <a:ea typeface="+mn-ea"/>
                  <a:cs typeface="+mn-cs"/>
                </a:rPr>
                <a:t>kontrol sağlar</a:t>
              </a:r>
            </a:p>
          </p:txBody>
        </p:sp>
        <p:sp>
          <p:nvSpPr>
            <p:cNvPr id="20" name="TextBox 20"/>
            <p:cNvSpPr txBox="1"/>
            <p:nvPr/>
          </p:nvSpPr>
          <p:spPr>
            <a:xfrm>
              <a:off x="5861304" y="1699260"/>
              <a:ext cx="19019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Ölçeklenirken paylaşılan</a:t>
              </a:r>
              <a:br/>
              <a:r>
                <a:rPr lang="tr-TR" sz="1200" dirty="0">
                  <a:solidFill>
                    <a:srgbClr val="172B3A"/>
                  </a:solidFill>
                  <a:latin typeface="+mn-lt"/>
                  <a:ea typeface="+mn-ea"/>
                  <a:cs typeface="+mn-cs"/>
                </a:rPr>
                <a:t>oturum deposu gerektirir</a:t>
              </a:r>
            </a:p>
          </p:txBody>
        </p:sp>
        <p:sp>
          <p:nvSpPr>
            <p:cNvPr id="21" name="TextBox 21"/>
            <p:cNvSpPr txBox="1"/>
            <p:nvPr/>
          </p:nvSpPr>
          <p:spPr>
            <a:xfrm>
              <a:off x="8871204" y="1699260"/>
              <a:ext cx="15361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Tek sunuculu / küçük</a:t>
              </a:r>
              <a:br/>
              <a:r>
                <a:rPr lang="tr-TR" sz="1200" dirty="0">
                  <a:solidFill>
                    <a:srgbClr val="172B3A"/>
                  </a:solidFill>
                  <a:latin typeface="+mn-lt"/>
                  <a:ea typeface="+mn-ea"/>
                  <a:cs typeface="+mn-cs"/>
                </a:rPr>
                <a:t>ölçekli uygulamalar</a:t>
              </a:r>
            </a:p>
          </p:txBody>
        </p:sp>
        <p:sp>
          <p:nvSpPr>
            <p:cNvPr id="22" name="Line 22"/>
            <p:cNvSpPr/>
            <p:nvPr/>
          </p:nvSpPr>
          <p:spPr>
            <a:xfrm>
              <a:off x="609600" y="22288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0" name="row-jwt"/>
          <p:cNvGrpSpPr/>
          <p:nvPr/>
        </p:nvGrpSpPr>
        <p:grpSpPr>
          <a:xfrm>
            <a:off x="609600" y="2228850"/>
            <a:ext cx="10972800" cy="638175"/>
            <a:chOff x="609600" y="2228850"/>
            <a:chExt cx="10972800" cy="638175"/>
          </a:xfrm>
        </p:grpSpPr>
        <p:sp>
          <p:nvSpPr>
            <p:cNvPr id="24" name="Rectangle 24"/>
            <p:cNvSpPr/>
            <p:nvPr/>
          </p:nvSpPr>
          <p:spPr>
            <a:xfrm>
              <a:off x="609600" y="2228850"/>
              <a:ext cx="10972800" cy="628650"/>
            </a:xfrm>
            <a:prstGeom prst="rect">
              <a:avLst/>
            </a:prstGeom>
            <a:solidFill>
              <a:srgbClr val="EAF4F6"/>
            </a:solidFill>
            <a:ln>
              <a:noFill/>
            </a:ln>
          </p:spPr>
        </p:sp>
        <p:sp>
          <p:nvSpPr>
            <p:cNvPr id="25" name="TextBox 25"/>
            <p:cNvSpPr txBox="1"/>
            <p:nvPr/>
          </p:nvSpPr>
          <p:spPr>
            <a:xfrm>
              <a:off x="755142" y="2349818"/>
              <a:ext cx="112958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JWT tabanlı</a:t>
              </a:r>
            </a:p>
          </p:txBody>
        </p:sp>
        <p:sp>
          <p:nvSpPr>
            <p:cNvPr id="26" name="TextBox 26"/>
            <p:cNvSpPr txBox="1"/>
            <p:nvPr/>
          </p:nvSpPr>
          <p:spPr>
            <a:xfrm>
              <a:off x="2851404" y="2327910"/>
              <a:ext cx="16885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Durumsuzdur, yatay</a:t>
              </a:r>
              <a:br/>
              <a:r>
                <a:rPr lang="tr-TR" sz="1200" dirty="0">
                  <a:solidFill>
                    <a:srgbClr val="172B3A"/>
                  </a:solidFill>
                  <a:latin typeface="+mn-lt"/>
                  <a:ea typeface="+mn-ea"/>
                  <a:cs typeface="+mn-cs"/>
                </a:rPr>
                <a:t>ölçeklenmeye uygundur</a:t>
              </a:r>
            </a:p>
          </p:txBody>
        </p:sp>
        <p:sp>
          <p:nvSpPr>
            <p:cNvPr id="27" name="TextBox 27"/>
            <p:cNvSpPr txBox="1"/>
            <p:nvPr/>
          </p:nvSpPr>
          <p:spPr>
            <a:xfrm>
              <a:off x="5861304" y="2327910"/>
              <a:ext cx="20772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Token iptal etmek session'a</a:t>
              </a:r>
              <a:br/>
              <a:r>
                <a:rPr lang="tr-TR" sz="1200" dirty="0">
                  <a:solidFill>
                    <a:srgbClr val="172B3A"/>
                  </a:solidFill>
                  <a:latin typeface="+mn-lt"/>
                  <a:ea typeface="+mn-ea"/>
                  <a:cs typeface="+mn-cs"/>
                </a:rPr>
                <a:t>göre daha zordur</a:t>
              </a:r>
            </a:p>
          </p:txBody>
        </p:sp>
        <p:sp>
          <p:nvSpPr>
            <p:cNvPr id="28" name="TextBox 28"/>
            <p:cNvSpPr txBox="1"/>
            <p:nvPr/>
          </p:nvSpPr>
          <p:spPr>
            <a:xfrm>
              <a:off x="8871204" y="2327910"/>
              <a:ext cx="16047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API tabanlı, dağıtık</a:t>
              </a:r>
              <a:br/>
              <a:r>
                <a:rPr lang="tr-TR" sz="1200" dirty="0">
                  <a:solidFill>
                    <a:srgbClr val="172B3A"/>
                  </a:solidFill>
                  <a:latin typeface="+mn-lt"/>
                  <a:ea typeface="+mn-ea"/>
                  <a:cs typeface="+mn-cs"/>
                </a:rPr>
                <a:t>backend uygulamaları</a:t>
              </a:r>
            </a:p>
          </p:txBody>
        </p:sp>
        <p:sp>
          <p:nvSpPr>
            <p:cNvPr id="29" name="Line 29"/>
            <p:cNvSpPr/>
            <p:nvPr/>
          </p:nvSpPr>
          <p:spPr>
            <a:xfrm>
              <a:off x="609600" y="2857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6" name="row-apikey"/>
          <p:cNvGrpSpPr/>
          <p:nvPr/>
        </p:nvGrpSpPr>
        <p:grpSpPr>
          <a:xfrm>
            <a:off x="609600" y="2956560"/>
            <a:ext cx="10972800" cy="539115"/>
            <a:chOff x="609600" y="2956560"/>
            <a:chExt cx="10972800" cy="539115"/>
          </a:xfrm>
        </p:grpSpPr>
        <p:sp>
          <p:nvSpPr>
            <p:cNvPr id="31" name="TextBox 31"/>
            <p:cNvSpPr txBox="1"/>
            <p:nvPr/>
          </p:nvSpPr>
          <p:spPr>
            <a:xfrm>
              <a:off x="755142" y="2978468"/>
              <a:ext cx="119571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API anahtarı</a:t>
              </a:r>
            </a:p>
          </p:txBody>
        </p:sp>
        <p:sp>
          <p:nvSpPr>
            <p:cNvPr id="32" name="TextBox 32"/>
            <p:cNvSpPr txBox="1"/>
            <p:nvPr/>
          </p:nvSpPr>
          <p:spPr>
            <a:xfrm>
              <a:off x="2851404" y="2994660"/>
              <a:ext cx="13982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Kurulumu basittir</a:t>
              </a:r>
            </a:p>
          </p:txBody>
        </p:sp>
        <p:sp>
          <p:nvSpPr>
            <p:cNvPr id="33" name="TextBox 33"/>
            <p:cNvSpPr txBox="1"/>
            <p:nvPr/>
          </p:nvSpPr>
          <p:spPr>
            <a:xfrm>
              <a:off x="5861304" y="2956560"/>
              <a:ext cx="18790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Kullanıcı bazlı ayrıntılı</a:t>
              </a:r>
              <a:br/>
              <a:r>
                <a:rPr lang="tr-TR" sz="1200" dirty="0">
                  <a:solidFill>
                    <a:srgbClr val="172B3A"/>
                  </a:solidFill>
                  <a:latin typeface="+mn-lt"/>
                  <a:ea typeface="+mn-ea"/>
                  <a:cs typeface="+mn-cs"/>
                </a:rPr>
                <a:t>yetki sağlamaz</a:t>
              </a:r>
            </a:p>
          </p:txBody>
        </p:sp>
        <p:sp>
          <p:nvSpPr>
            <p:cNvPr id="34" name="TextBox 34"/>
            <p:cNvSpPr txBox="1"/>
            <p:nvPr/>
          </p:nvSpPr>
          <p:spPr>
            <a:xfrm>
              <a:off x="8871204" y="2994660"/>
              <a:ext cx="18585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Servisler arası iletişim</a:t>
              </a:r>
            </a:p>
          </p:txBody>
        </p:sp>
        <p:sp>
          <p:nvSpPr>
            <p:cNvPr id="35" name="Line 35"/>
            <p:cNvSpPr/>
            <p:nvPr/>
          </p:nvSpPr>
          <p:spPr>
            <a:xfrm>
              <a:off x="609600" y="34861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2" name="row-oauth"/>
          <p:cNvGrpSpPr/>
          <p:nvPr/>
        </p:nvGrpSpPr>
        <p:grpSpPr>
          <a:xfrm>
            <a:off x="609600" y="3486150"/>
            <a:ext cx="10972800" cy="628650"/>
            <a:chOff x="609600" y="3486150"/>
            <a:chExt cx="10972800" cy="628650"/>
          </a:xfrm>
        </p:grpSpPr>
        <p:sp>
          <p:nvSpPr>
            <p:cNvPr id="37" name="Rectangle 37"/>
            <p:cNvSpPr/>
            <p:nvPr/>
          </p:nvSpPr>
          <p:spPr>
            <a:xfrm>
              <a:off x="609600" y="3486150"/>
              <a:ext cx="10972800" cy="628650"/>
            </a:xfrm>
            <a:prstGeom prst="rect">
              <a:avLst/>
            </a:prstGeom>
            <a:solidFill>
              <a:srgbClr val="EAF4F6"/>
            </a:solidFill>
            <a:ln>
              <a:noFill/>
            </a:ln>
          </p:spPr>
        </p:sp>
        <p:sp>
          <p:nvSpPr>
            <p:cNvPr id="38" name="TextBox 38"/>
            <p:cNvSpPr txBox="1"/>
            <p:nvPr/>
          </p:nvSpPr>
          <p:spPr>
            <a:xfrm>
              <a:off x="755142" y="3607118"/>
              <a:ext cx="118928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OAuth / SSO</a:t>
              </a:r>
            </a:p>
          </p:txBody>
        </p:sp>
        <p:sp>
          <p:nvSpPr>
            <p:cNvPr id="39" name="TextBox 39"/>
            <p:cNvSpPr txBox="1"/>
            <p:nvPr/>
          </p:nvSpPr>
          <p:spPr>
            <a:xfrm>
              <a:off x="2851404" y="3585210"/>
              <a:ext cx="19400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Kurumsal kimlik yönetimini</a:t>
              </a:r>
              <a:br/>
              <a:r>
                <a:rPr lang="tr-TR" sz="1200" dirty="0">
                  <a:solidFill>
                    <a:srgbClr val="172B3A"/>
                  </a:solidFill>
                  <a:latin typeface="+mn-lt"/>
                  <a:ea typeface="+mn-ea"/>
                  <a:cs typeface="+mn-cs"/>
                </a:rPr>
                <a:t>merkezileştirir</a:t>
              </a:r>
            </a:p>
          </p:txBody>
        </p:sp>
        <p:sp>
          <p:nvSpPr>
            <p:cNvPr id="40" name="TextBox 40"/>
            <p:cNvSpPr txBox="1"/>
            <p:nvPr/>
          </p:nvSpPr>
          <p:spPr>
            <a:xfrm>
              <a:off x="5861304" y="3585210"/>
              <a:ext cx="17724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Kurulum ve entegrasyon</a:t>
              </a:r>
              <a:br/>
              <a:r>
                <a:rPr lang="tr-TR" sz="1200" dirty="0">
                  <a:solidFill>
                    <a:srgbClr val="172B3A"/>
                  </a:solidFill>
                  <a:latin typeface="+mn-lt"/>
                  <a:ea typeface="+mn-ea"/>
                  <a:cs typeface="+mn-cs"/>
                </a:rPr>
                <a:t>maliyeti yüksektir</a:t>
              </a:r>
            </a:p>
          </p:txBody>
        </p:sp>
        <p:sp>
          <p:nvSpPr>
            <p:cNvPr id="41" name="TextBox 41"/>
            <p:cNvSpPr txBox="1"/>
            <p:nvPr/>
          </p:nvSpPr>
          <p:spPr>
            <a:xfrm>
              <a:off x="8871204" y="3585210"/>
              <a:ext cx="16885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Çok sistemli, kurumsal</a:t>
              </a:r>
              <a:br/>
              <a:r>
                <a:rPr lang="tr-TR" sz="1200" dirty="0">
                  <a:solidFill>
                    <a:srgbClr val="172B3A"/>
                  </a:solidFill>
                  <a:latin typeface="+mn-lt"/>
                  <a:ea typeface="+mn-ea"/>
                  <a:cs typeface="+mn-cs"/>
                </a:rPr>
                <a:t>ortamlar</a:t>
              </a:r>
            </a:p>
          </p:txBody>
        </p:sp>
      </p:grpSp>
      <p:grpSp>
        <p:nvGrpSpPr>
          <p:cNvPr id="47" name="common-mistake"/>
          <p:cNvGrpSpPr/>
          <p:nvPr/>
        </p:nvGrpSpPr>
        <p:grpSpPr>
          <a:xfrm>
            <a:off x="609600" y="4400550"/>
            <a:ext cx="9151874" cy="1504950"/>
            <a:chOff x="609600" y="4400550"/>
            <a:chExt cx="9151874" cy="1504950"/>
          </a:xfrm>
        </p:grpSpPr>
        <p:sp>
          <p:nvSpPr>
            <p:cNvPr id="43" name="Rectangle 43"/>
            <p:cNvSpPr/>
            <p:nvPr/>
          </p:nvSpPr>
          <p:spPr>
            <a:xfrm>
              <a:off x="609600" y="4400550"/>
              <a:ext cx="57150" cy="1504950"/>
            </a:xfrm>
            <a:prstGeom prst="rect">
              <a:avLst/>
            </a:prstGeom>
            <a:solidFill>
              <a:srgbClr val="2E86AB"/>
            </a:solidFill>
            <a:ln>
              <a:noFill/>
            </a:ln>
          </p:spPr>
        </p:sp>
        <p:sp>
          <p:nvSpPr>
            <p:cNvPr id="44" name="TextBox 44"/>
            <p:cNvSpPr txBox="1"/>
            <p:nvPr/>
          </p:nvSpPr>
          <p:spPr>
            <a:xfrm>
              <a:off x="905256" y="4511040"/>
              <a:ext cx="521733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Yaygın hata: parolayı düz metin saklamak</a:t>
              </a:r>
            </a:p>
          </p:txBody>
        </p:sp>
        <p:sp>
          <p:nvSpPr>
            <p:cNvPr id="45" name="TextBox 45"/>
            <p:cNvSpPr txBox="1"/>
            <p:nvPr/>
          </p:nvSpPr>
          <p:spPr>
            <a:xfrm>
              <a:off x="908304" y="4899660"/>
              <a:ext cx="686741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console.log(`Kaydediliyor: ${kayit.kullaniciAdi} - parola: ${kayit.parola}`);</a:t>
              </a:r>
            </a:p>
          </p:txBody>
        </p:sp>
        <p:sp>
          <p:nvSpPr>
            <p:cNvPr id="46" name="TextBox 46"/>
            <p:cNvSpPr txBox="1"/>
            <p:nvPr/>
          </p:nvSpPr>
          <p:spPr>
            <a:xfrm>
              <a:off x="906399" y="5221129"/>
              <a:ext cx="8855075"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Veritabanı sızıntısı doğrudan tüm kullanıcı parolalarının ele geçirilmesi anlamına gelir;</a:t>
              </a:r>
              <a:br/>
              <a:r>
                <a:rPr lang="tr-TR" sz="1580" dirty="0">
                  <a:solidFill>
                    <a:srgbClr val="52616B"/>
                  </a:solidFill>
                  <a:latin typeface="+mn-lt"/>
                  <a:ea typeface="+mn-ea"/>
                  <a:cs typeface="+mn-cs"/>
                </a:rPr>
                <a:t>parola ayrıca log'a da yazılmıştır — bu ayrı bir güvenlik açığıdır.</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036681" cy="668845"/>
            <a:chOff x="609600" y="171450"/>
            <a:chExt cx="703668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634630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Parola güvenliği: salt ve hashing</a:t>
              </a:r>
            </a:p>
          </p:txBody>
        </p:sp>
      </p:grpSp>
      <p:grpSp>
        <p:nvGrpSpPr>
          <p:cNvPr id="13" name="definition"/>
          <p:cNvGrpSpPr/>
          <p:nvPr/>
        </p:nvGrpSpPr>
        <p:grpSpPr>
          <a:xfrm>
            <a:off x="600456" y="1310640"/>
            <a:ext cx="9573768" cy="656844"/>
            <a:chOff x="600456" y="1310640"/>
            <a:chExt cx="9573768" cy="656844"/>
          </a:xfrm>
        </p:grpSpPr>
        <p:sp>
          <p:nvSpPr>
            <p:cNvPr id="12" name="TextBox 12"/>
            <p:cNvSpPr txBox="1"/>
            <p:nvPr/>
          </p:nvSpPr>
          <p:spPr>
            <a:xfrm>
              <a:off x="600456" y="1310640"/>
              <a:ext cx="9573768" cy="656844"/>
            </a:xfrm>
            <a:prstGeom prst="rect">
              <a:avLst/>
            </a:prstGeom>
            <a:noFill/>
            <a:ln>
              <a:noFill/>
            </a:ln>
          </p:spPr>
          <p:txBody>
            <a:bodyPr wrap="none" lIns="0" tIns="0" rIns="0" bIns="0" anchor="t" anchorCtr="0">
              <a:spAutoFit/>
            </a:bodyPr>
            <a:lstStyle/>
            <a:p>
              <a:pPr algn="l">
                <a:lnSpc>
                  <a:spcPts val="2400"/>
                </a:lnSpc>
              </a:pPr>
              <a:r>
                <a:rPr lang="tr-TR" sz="1800" dirty="0">
                  <a:solidFill>
                    <a:srgbClr val="172B3A"/>
                  </a:solidFill>
                  <a:latin typeface="+mn-lt"/>
                  <a:ea typeface="+mn-ea"/>
                  <a:cs typeface="+mn-cs"/>
                </a:rPr>
                <a:t>Parola hashing, bir parolayı geri döndürülemez bir özete dönüştürür. Salt, her</a:t>
              </a:r>
              <a:br/>
              <a:r>
                <a:rPr lang="tr-TR" sz="1800" dirty="0">
                  <a:solidFill>
                    <a:srgbClr val="172B3A"/>
                  </a:solidFill>
                  <a:latin typeface="+mn-lt"/>
                  <a:ea typeface="+mn-ea"/>
                  <a:cs typeface="+mn-cs"/>
                </a:rPr>
                <a:t>kullanıcı için üretilen benzersiz bir değerdir ve rainbow table saldırılarını engeller.</a:t>
              </a:r>
            </a:p>
          </p:txBody>
        </p:sp>
      </p:grpSp>
      <p:grpSp>
        <p:nvGrpSpPr>
          <p:cNvPr id="16" name="source-password"/>
          <p:cNvGrpSpPr/>
          <p:nvPr/>
        </p:nvGrpSpPr>
        <p:grpSpPr>
          <a:xfrm>
            <a:off x="3714750" y="2209800"/>
            <a:ext cx="4762500" cy="533400"/>
            <a:chOff x="3714750" y="2209800"/>
            <a:chExt cx="4762500" cy="533400"/>
          </a:xfrm>
        </p:grpSpPr>
        <p:sp>
          <p:nvSpPr>
            <p:cNvPr id="14" name="Rectangle 14"/>
            <p:cNvSpPr/>
            <p:nvPr/>
          </p:nvSpPr>
          <p:spPr>
            <a:xfrm>
              <a:off x="3714750" y="2209800"/>
              <a:ext cx="4762500" cy="533400"/>
            </a:xfrm>
            <a:prstGeom prst="roundRect">
              <a:avLst>
                <a:gd name="adj" fmla="val 14286"/>
              </a:avLst>
            </a:prstGeom>
            <a:solidFill>
              <a:srgbClr val="12355B"/>
            </a:solidFill>
            <a:ln>
              <a:noFill/>
            </a:ln>
          </p:spPr>
        </p:sp>
        <p:sp>
          <p:nvSpPr>
            <p:cNvPr id="15" name="TextBox 15"/>
            <p:cNvSpPr txBox="1"/>
            <p:nvPr/>
          </p:nvSpPr>
          <p:spPr>
            <a:xfrm>
              <a:off x="3936178" y="2387918"/>
              <a:ext cx="4319644" cy="264033"/>
            </a:xfrm>
            <a:prstGeom prst="rect">
              <a:avLst/>
            </a:prstGeom>
            <a:noFill/>
            <a:ln>
              <a:noFill/>
            </a:ln>
          </p:spPr>
          <p:txBody>
            <a:bodyPr wrap="none" lIns="0" tIns="0" rIns="0" bIns="0" anchor="t" anchorCtr="0">
              <a:spAutoFit/>
            </a:bodyPr>
            <a:lstStyle/>
            <a:p>
              <a:pPr algn="ctr"/>
              <a:r>
                <a:rPr lang="tr-TR" sz="1350" dirty="0">
                  <a:solidFill>
                    <a:srgbClr val="FFFFFF"/>
                  </a:solidFill>
                  <a:latin typeface="Consolas"/>
                  <a:ea typeface="Consolas"/>
                  <a:cs typeface="Consolas"/>
                </a:rPr>
                <a:t>"guclu-Parola123" — iki kullanıcıda da aynı</a:t>
              </a:r>
            </a:p>
          </p:txBody>
        </p:sp>
      </p:grpSp>
      <p:grpSp>
        <p:nvGrpSpPr>
          <p:cNvPr id="19" name="flow-arrows"/>
          <p:cNvGrpSpPr/>
          <p:nvPr/>
        </p:nvGrpSpPr>
        <p:grpSpPr>
          <a:xfrm>
            <a:off x="3238500" y="2743200"/>
            <a:ext cx="5715000" cy="647700"/>
            <a:chOff x="3238500" y="2743200"/>
            <a:chExt cx="5715000" cy="647700"/>
          </a:xfrm>
        </p:grpSpPr>
        <p:sp>
          <p:nvSpPr>
            <p:cNvPr id="17" name="Line 17"/>
            <p:cNvSpPr/>
            <p:nvPr/>
          </p:nvSpPr>
          <p:spPr>
            <a:xfrm flipH="1">
              <a:off x="3238500" y="2743200"/>
              <a:ext cx="2095500" cy="647700"/>
            </a:xfrm>
            <a:prstGeom prst="line">
              <a:avLst/>
            </a:prstGeom>
            <a:noFill/>
            <a:ln w="23812">
              <a:solidFill>
                <a:srgbClr val="00A6A6"/>
              </a:solidFill>
              <a:tailEnd type="arrow" w="lg" len="lg"/>
            </a:ln>
          </p:spPr>
        </p:sp>
        <p:sp>
          <p:nvSpPr>
            <p:cNvPr id="18" name="Line 18"/>
            <p:cNvSpPr/>
            <p:nvPr/>
          </p:nvSpPr>
          <p:spPr>
            <a:xfrm>
              <a:off x="6858000" y="2743200"/>
              <a:ext cx="2095500" cy="647700"/>
            </a:xfrm>
            <a:prstGeom prst="line">
              <a:avLst/>
            </a:prstGeom>
            <a:noFill/>
            <a:ln w="23812">
              <a:solidFill>
                <a:srgbClr val="00A6A6"/>
              </a:solidFill>
              <a:tailEnd type="arrow" w="lg" len="lg"/>
            </a:ln>
          </p:spPr>
        </p:sp>
      </p:grpSp>
      <p:grpSp>
        <p:nvGrpSpPr>
          <p:cNvPr id="25" name="user-a"/>
          <p:cNvGrpSpPr/>
          <p:nvPr/>
        </p:nvGrpSpPr>
        <p:grpSpPr>
          <a:xfrm>
            <a:off x="1219200" y="3429000"/>
            <a:ext cx="4572000" cy="1600200"/>
            <a:chOff x="1219200" y="3429000"/>
            <a:chExt cx="4572000" cy="1600200"/>
          </a:xfrm>
        </p:grpSpPr>
        <p:sp>
          <p:nvSpPr>
            <p:cNvPr id="20" name="Rectangle 20"/>
            <p:cNvSpPr/>
            <p:nvPr/>
          </p:nvSpPr>
          <p:spPr>
            <a:xfrm>
              <a:off x="1219200" y="3429000"/>
              <a:ext cx="4572000" cy="1600200"/>
            </a:xfrm>
            <a:prstGeom prst="roundRect">
              <a:avLst>
                <a:gd name="adj" fmla="val 5952"/>
              </a:avLst>
            </a:prstGeom>
            <a:solidFill>
              <a:srgbClr val="FFFFFF"/>
            </a:solidFill>
            <a:ln w="14288">
              <a:solidFill>
                <a:srgbClr val="2E86AB"/>
              </a:solidFill>
            </a:ln>
          </p:spPr>
        </p:sp>
        <p:sp>
          <p:nvSpPr>
            <p:cNvPr id="21" name="TextBox 21"/>
            <p:cNvSpPr txBox="1"/>
            <p:nvPr/>
          </p:nvSpPr>
          <p:spPr>
            <a:xfrm>
              <a:off x="1439799" y="3563779"/>
              <a:ext cx="158615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Kullanıcı: elif</a:t>
              </a:r>
            </a:p>
          </p:txBody>
        </p:sp>
        <p:sp>
          <p:nvSpPr>
            <p:cNvPr id="22" name="TextBox 22"/>
            <p:cNvSpPr txBox="1"/>
            <p:nvPr/>
          </p:nvSpPr>
          <p:spPr>
            <a:xfrm>
              <a:off x="1441704" y="3928110"/>
              <a:ext cx="134493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Consolas"/>
                  <a:ea typeface="Consolas"/>
                  <a:cs typeface="Consolas"/>
                </a:rPr>
                <a:t>salt: a1f9c3...</a:t>
              </a:r>
            </a:p>
          </p:txBody>
        </p:sp>
        <p:sp>
          <p:nvSpPr>
            <p:cNvPr id="23" name="TextBox 23"/>
            <p:cNvSpPr txBox="1"/>
            <p:nvPr/>
          </p:nvSpPr>
          <p:spPr>
            <a:xfrm>
              <a:off x="1441704" y="4156710"/>
              <a:ext cx="152262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Consolas"/>
                  <a:ea typeface="Consolas"/>
                  <a:cs typeface="Consolas"/>
                </a:rPr>
                <a:t>hash: 7e2c88d4...</a:t>
              </a:r>
            </a:p>
          </p:txBody>
        </p:sp>
        <p:sp>
          <p:nvSpPr>
            <p:cNvPr id="24" name="TextBox 24"/>
            <p:cNvSpPr txBox="1"/>
            <p:nvPr/>
          </p:nvSpPr>
          <p:spPr>
            <a:xfrm>
              <a:off x="1441704" y="4537710"/>
              <a:ext cx="205340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Farklı salt → farklı hash</a:t>
              </a:r>
            </a:p>
          </p:txBody>
        </p:sp>
      </p:grpSp>
      <p:grpSp>
        <p:nvGrpSpPr>
          <p:cNvPr id="31" name="user-b"/>
          <p:cNvGrpSpPr/>
          <p:nvPr/>
        </p:nvGrpSpPr>
        <p:grpSpPr>
          <a:xfrm>
            <a:off x="6400800" y="3429000"/>
            <a:ext cx="4572000" cy="1600200"/>
            <a:chOff x="6400800" y="3429000"/>
            <a:chExt cx="4572000" cy="1600200"/>
          </a:xfrm>
        </p:grpSpPr>
        <p:sp>
          <p:nvSpPr>
            <p:cNvPr id="26" name="Rectangle 26"/>
            <p:cNvSpPr/>
            <p:nvPr/>
          </p:nvSpPr>
          <p:spPr>
            <a:xfrm>
              <a:off x="6400800" y="3429000"/>
              <a:ext cx="4572000" cy="1600200"/>
            </a:xfrm>
            <a:prstGeom prst="roundRect">
              <a:avLst>
                <a:gd name="adj" fmla="val 5952"/>
              </a:avLst>
            </a:prstGeom>
            <a:solidFill>
              <a:srgbClr val="FFFFFF"/>
            </a:solidFill>
            <a:ln w="14288">
              <a:solidFill>
                <a:srgbClr val="2E86AB"/>
              </a:solidFill>
            </a:ln>
          </p:spPr>
        </p:sp>
        <p:sp>
          <p:nvSpPr>
            <p:cNvPr id="27" name="TextBox 27"/>
            <p:cNvSpPr txBox="1"/>
            <p:nvPr/>
          </p:nvSpPr>
          <p:spPr>
            <a:xfrm>
              <a:off x="6621399" y="3563779"/>
              <a:ext cx="205553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Kullanıcı: yasemin</a:t>
              </a:r>
            </a:p>
          </p:txBody>
        </p:sp>
        <p:sp>
          <p:nvSpPr>
            <p:cNvPr id="28" name="TextBox 28"/>
            <p:cNvSpPr txBox="1"/>
            <p:nvPr/>
          </p:nvSpPr>
          <p:spPr>
            <a:xfrm>
              <a:off x="6623304" y="3928110"/>
              <a:ext cx="134493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Consolas"/>
                  <a:ea typeface="Consolas"/>
                  <a:cs typeface="Consolas"/>
                </a:rPr>
                <a:t>salt: b83de6...</a:t>
              </a:r>
            </a:p>
          </p:txBody>
        </p:sp>
        <p:sp>
          <p:nvSpPr>
            <p:cNvPr id="29" name="TextBox 29"/>
            <p:cNvSpPr txBox="1"/>
            <p:nvPr/>
          </p:nvSpPr>
          <p:spPr>
            <a:xfrm>
              <a:off x="6623304" y="4156710"/>
              <a:ext cx="152262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Consolas"/>
                  <a:ea typeface="Consolas"/>
                  <a:cs typeface="Consolas"/>
                </a:rPr>
                <a:t>hash: 91aaf20b...</a:t>
              </a:r>
            </a:p>
          </p:txBody>
        </p:sp>
        <p:sp>
          <p:nvSpPr>
            <p:cNvPr id="30" name="TextBox 30"/>
            <p:cNvSpPr txBox="1"/>
            <p:nvPr/>
          </p:nvSpPr>
          <p:spPr>
            <a:xfrm>
              <a:off x="6623304" y="4537710"/>
              <a:ext cx="213817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Aynı parola, farklı sonuç</a:t>
              </a:r>
            </a:p>
          </p:txBody>
        </p:sp>
      </p:grpSp>
      <p:grpSp>
        <p:nvGrpSpPr>
          <p:cNvPr id="35" name="takeaway"/>
          <p:cNvGrpSpPr/>
          <p:nvPr/>
        </p:nvGrpSpPr>
        <p:grpSpPr>
          <a:xfrm>
            <a:off x="609600" y="5334000"/>
            <a:ext cx="10972800" cy="857250"/>
            <a:chOff x="609600" y="5334000"/>
            <a:chExt cx="10972800" cy="857250"/>
          </a:xfrm>
        </p:grpSpPr>
        <p:sp>
          <p:nvSpPr>
            <p:cNvPr id="32" name="Rectangle 32"/>
            <p:cNvSpPr/>
            <p:nvPr/>
          </p:nvSpPr>
          <p:spPr>
            <a:xfrm>
              <a:off x="609600" y="5334000"/>
              <a:ext cx="10972800" cy="857250"/>
            </a:xfrm>
            <a:prstGeom prst="roundRect">
              <a:avLst>
                <a:gd name="adj" fmla="val 8889"/>
              </a:avLst>
            </a:prstGeom>
            <a:solidFill>
              <a:srgbClr val="EAF4F6"/>
            </a:solidFill>
            <a:ln>
              <a:noFill/>
            </a:ln>
          </p:spPr>
        </p:sp>
        <p:sp>
          <p:nvSpPr>
            <p:cNvPr id="33" name="TextBox 33"/>
            <p:cNvSpPr txBox="1"/>
            <p:nvPr/>
          </p:nvSpPr>
          <p:spPr>
            <a:xfrm>
              <a:off x="906399" y="5506879"/>
              <a:ext cx="810834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Salt olmadan: aynı parola → aynı hash → rainbow table ile toplu kırılabilir.</a:t>
              </a:r>
            </a:p>
          </p:txBody>
        </p:sp>
        <p:sp>
          <p:nvSpPr>
            <p:cNvPr id="34" name="TextBox 34"/>
            <p:cNvSpPr txBox="1"/>
            <p:nvPr/>
          </p:nvSpPr>
          <p:spPr>
            <a:xfrm>
              <a:off x="906399" y="5811679"/>
              <a:ext cx="886092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Salt ile: aynı parola → farklı hash → her kullanıcı için ayrı tablo hesaplamak gerekir.</a:t>
              </a:r>
            </a:p>
          </p:txBody>
        </p:sp>
      </p:grpSp>
      <p:sp>
        <p:nvSpPr>
          <p:cNvPr id="36" name="TextBox 3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53904" y="309562"/>
                <a:ext cx="206693" cy="280512"/>
                <a:chOff x="753904" y="309562"/>
                <a:chExt cx="206693" cy="280512"/>
              </a:xfrm>
            </p:grpSpPr>
            <p:sp>
              <p:nvSpPr>
                <p:cNvPr id="5" name="Freeform 5"/>
                <p:cNvSpPr/>
                <p:nvPr/>
              </p:nvSpPr>
              <p:spPr>
                <a:xfrm>
                  <a:off x="7539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424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7981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61872" y="282892"/>
              <a:ext cx="9426413"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Kod 10.2 · Salt'lı parola hashleme ve doğrulama</a:t>
              </a:r>
            </a:p>
          </p:txBody>
        </p:sp>
      </p:grpSp>
      <p:grpSp>
        <p:nvGrpSpPr>
          <p:cNvPr id="28" name="code-panel"/>
          <p:cNvGrpSpPr/>
          <p:nvPr/>
        </p:nvGrpSpPr>
        <p:grpSpPr>
          <a:xfrm>
            <a:off x="571500" y="1295400"/>
            <a:ext cx="6477000" cy="3985451"/>
            <a:chOff x="571500" y="1295400"/>
            <a:chExt cx="6477000" cy="3985451"/>
          </a:xfrm>
        </p:grpSpPr>
        <p:sp>
          <p:nvSpPr>
            <p:cNvPr id="12" name="Rectangle 12"/>
            <p:cNvSpPr/>
            <p:nvPr/>
          </p:nvSpPr>
          <p:spPr>
            <a:xfrm>
              <a:off x="571500" y="1295400"/>
              <a:ext cx="6477000" cy="3905250"/>
            </a:xfrm>
            <a:prstGeom prst="rect">
              <a:avLst/>
            </a:prstGeom>
            <a:solidFill>
              <a:srgbClr val="12355B"/>
            </a:solidFill>
            <a:ln>
              <a:noFill/>
            </a:ln>
          </p:spPr>
        </p:sp>
        <p:sp>
          <p:nvSpPr>
            <p:cNvPr id="13" name="TextBox 13"/>
            <p:cNvSpPr txBox="1"/>
            <p:nvPr/>
          </p:nvSpPr>
          <p:spPr>
            <a:xfrm>
              <a:off x="793242" y="1492568"/>
              <a:ext cx="4631182"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function parolaHashle(duzMetinParola: string):</a:t>
              </a:r>
            </a:p>
          </p:txBody>
        </p:sp>
        <p:sp>
          <p:nvSpPr>
            <p:cNvPr id="14" name="TextBox 14"/>
            <p:cNvSpPr txBox="1"/>
            <p:nvPr/>
          </p:nvSpPr>
          <p:spPr>
            <a:xfrm>
              <a:off x="1031367" y="1730692"/>
              <a:ext cx="1825642"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HashlenmisParola {</a:t>
              </a:r>
            </a:p>
          </p:txBody>
        </p:sp>
        <p:sp>
          <p:nvSpPr>
            <p:cNvPr id="15" name="TextBox 15"/>
            <p:cNvSpPr txBox="1"/>
            <p:nvPr/>
          </p:nvSpPr>
          <p:spPr>
            <a:xfrm>
              <a:off x="1031367" y="1968818"/>
              <a:ext cx="4528133"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const salt = randomBytes(16).toString("hex");</a:t>
              </a:r>
            </a:p>
          </p:txBody>
        </p:sp>
        <p:sp>
          <p:nvSpPr>
            <p:cNvPr id="16" name="TextBox 16"/>
            <p:cNvSpPr txBox="1"/>
            <p:nvPr/>
          </p:nvSpPr>
          <p:spPr>
            <a:xfrm>
              <a:off x="1031367" y="2206942"/>
              <a:ext cx="4934007"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const hash = scryptSync(duzMetinParola, salt, 64)</a:t>
              </a:r>
            </a:p>
          </p:txBody>
        </p:sp>
        <p:sp>
          <p:nvSpPr>
            <p:cNvPr id="17" name="TextBox 17"/>
            <p:cNvSpPr txBox="1"/>
            <p:nvPr/>
          </p:nvSpPr>
          <p:spPr>
            <a:xfrm>
              <a:off x="1269492" y="2445068"/>
              <a:ext cx="172170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.toString("hex");</a:t>
              </a:r>
            </a:p>
          </p:txBody>
        </p:sp>
        <p:sp>
          <p:nvSpPr>
            <p:cNvPr id="18" name="TextBox 18"/>
            <p:cNvSpPr txBox="1"/>
            <p:nvPr/>
          </p:nvSpPr>
          <p:spPr>
            <a:xfrm>
              <a:off x="1031367" y="2683192"/>
              <a:ext cx="221273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return { salt, hash };</a:t>
              </a:r>
            </a:p>
          </p:txBody>
        </p:sp>
        <p:sp>
          <p:nvSpPr>
            <p:cNvPr id="19" name="TextBox 19"/>
            <p:cNvSpPr txBox="1"/>
            <p:nvPr/>
          </p:nvSpPr>
          <p:spPr>
            <a:xfrm>
              <a:off x="793242" y="2921318"/>
              <a:ext cx="11367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a:t>
              </a:r>
            </a:p>
          </p:txBody>
        </p:sp>
        <p:sp>
          <p:nvSpPr>
            <p:cNvPr id="20" name="TextBox 20"/>
            <p:cNvSpPr txBox="1"/>
            <p:nvPr/>
          </p:nvSpPr>
          <p:spPr>
            <a:xfrm>
              <a:off x="793242" y="3254692"/>
              <a:ext cx="4630706"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function parolaDogrula(duzMetinParola: string,</a:t>
              </a:r>
            </a:p>
          </p:txBody>
        </p:sp>
        <p:sp>
          <p:nvSpPr>
            <p:cNvPr id="21" name="TextBox 21"/>
            <p:cNvSpPr txBox="1"/>
            <p:nvPr/>
          </p:nvSpPr>
          <p:spPr>
            <a:xfrm>
              <a:off x="1031367" y="3492818"/>
              <a:ext cx="4332070"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kayitliParola: HashlenmisParola): boolean {</a:t>
              </a:r>
            </a:p>
          </p:txBody>
        </p:sp>
        <p:sp>
          <p:nvSpPr>
            <p:cNvPr id="22" name="TextBox 22"/>
            <p:cNvSpPr txBox="1"/>
            <p:nvPr/>
          </p:nvSpPr>
          <p:spPr>
            <a:xfrm>
              <a:off x="1031367" y="3730942"/>
              <a:ext cx="4537820"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const denemeHash = scryptSync(duzMetinParola,</a:t>
              </a:r>
            </a:p>
          </p:txBody>
        </p:sp>
        <p:sp>
          <p:nvSpPr>
            <p:cNvPr id="23" name="TextBox 23"/>
            <p:cNvSpPr txBox="1"/>
            <p:nvPr/>
          </p:nvSpPr>
          <p:spPr>
            <a:xfrm>
              <a:off x="1269492" y="3969068"/>
              <a:ext cx="2420632"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kayitliParola.salt, 64);</a:t>
              </a:r>
            </a:p>
          </p:txBody>
        </p:sp>
        <p:sp>
          <p:nvSpPr>
            <p:cNvPr id="24" name="TextBox 24"/>
            <p:cNvSpPr txBox="1"/>
            <p:nvPr/>
          </p:nvSpPr>
          <p:spPr>
            <a:xfrm>
              <a:off x="1031367" y="4207192"/>
              <a:ext cx="343081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return timingSafeEqual(denemeHash,</a:t>
              </a:r>
            </a:p>
          </p:txBody>
        </p:sp>
        <p:sp>
          <p:nvSpPr>
            <p:cNvPr id="25" name="TextBox 25"/>
            <p:cNvSpPr txBox="1"/>
            <p:nvPr/>
          </p:nvSpPr>
          <p:spPr>
            <a:xfrm>
              <a:off x="1269492" y="4445318"/>
              <a:ext cx="4027018"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Buffer.from(kayitliParola.hash, "hex"));</a:t>
              </a:r>
            </a:p>
          </p:txBody>
        </p:sp>
        <p:sp>
          <p:nvSpPr>
            <p:cNvPr id="26" name="TextBox 26"/>
            <p:cNvSpPr txBox="1"/>
            <p:nvPr/>
          </p:nvSpPr>
          <p:spPr>
            <a:xfrm>
              <a:off x="793242" y="4683442"/>
              <a:ext cx="11367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a:t>
              </a:r>
            </a:p>
          </p:txBody>
        </p:sp>
        <p:sp>
          <p:nvSpPr>
            <p:cNvPr id="27" name="TextBox 27"/>
            <p:cNvSpPr txBox="1"/>
            <p:nvPr/>
          </p:nvSpPr>
          <p:spPr>
            <a:xfrm>
              <a:off x="793242" y="5016818"/>
              <a:ext cx="2221625"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Consolas"/>
                  <a:ea typeface="Consolas"/>
                  <a:cs typeface="Consolas"/>
                </a:rPr>
                <a:t>// Çıktı: true / false</a:t>
              </a:r>
            </a:p>
          </p:txBody>
        </p:sp>
      </p:grpSp>
      <p:grpSp>
        <p:nvGrpSpPr>
          <p:cNvPr id="31" name="code-purpose"/>
          <p:cNvGrpSpPr/>
          <p:nvPr/>
        </p:nvGrpSpPr>
        <p:grpSpPr>
          <a:xfrm>
            <a:off x="7267194" y="1465898"/>
            <a:ext cx="3679952" cy="1205769"/>
            <a:chOff x="7267194" y="1465898"/>
            <a:chExt cx="3679952" cy="1205769"/>
          </a:xfrm>
        </p:grpSpPr>
        <p:sp>
          <p:nvSpPr>
            <p:cNvPr id="29" name="TextBox 29"/>
            <p:cNvSpPr txBox="1"/>
            <p:nvPr/>
          </p:nvSpPr>
          <p:spPr>
            <a:xfrm>
              <a:off x="7267194" y="1465898"/>
              <a:ext cx="168298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Kodun amacı</a:t>
              </a:r>
            </a:p>
          </p:txBody>
        </p:sp>
        <p:sp>
          <p:nvSpPr>
            <p:cNvPr id="30" name="TextBox 30"/>
            <p:cNvSpPr txBox="1"/>
            <p:nvPr/>
          </p:nvSpPr>
          <p:spPr>
            <a:xfrm>
              <a:off x="7269099" y="1830229"/>
              <a:ext cx="3678047"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Salt eklenmiş bir parolayı yavaş bir</a:t>
              </a:r>
              <a:br/>
              <a:r>
                <a:rPr lang="tr-TR" sz="1580" dirty="0">
                  <a:solidFill>
                    <a:srgbClr val="172B3A"/>
                  </a:solidFill>
                  <a:latin typeface="+mn-lt"/>
                  <a:ea typeface="+mn-ea"/>
                  <a:cs typeface="+mn-cs"/>
                </a:rPr>
                <a:t>algoritmayla hashleyip zamanlama</a:t>
              </a:r>
              <a:br/>
              <a:r>
                <a:rPr lang="tr-TR" sz="1580" dirty="0">
                  <a:solidFill>
                    <a:srgbClr val="172B3A"/>
                  </a:solidFill>
                  <a:latin typeface="+mn-lt"/>
                  <a:ea typeface="+mn-ea"/>
                  <a:cs typeface="+mn-cs"/>
                </a:rPr>
                <a:t>saldırısına dirençli karşılaştırmak.</a:t>
              </a:r>
            </a:p>
          </p:txBody>
        </p:sp>
      </p:grpSp>
      <p:grpSp>
        <p:nvGrpSpPr>
          <p:cNvPr id="35" name="code-critical"/>
          <p:cNvGrpSpPr/>
          <p:nvPr/>
        </p:nvGrpSpPr>
        <p:grpSpPr>
          <a:xfrm>
            <a:off x="7267194" y="2570798"/>
            <a:ext cx="3292602" cy="1363408"/>
            <a:chOff x="7267194" y="2570798"/>
            <a:chExt cx="3292602" cy="1363408"/>
          </a:xfrm>
        </p:grpSpPr>
        <p:sp>
          <p:nvSpPr>
            <p:cNvPr id="32" name="TextBox 32"/>
            <p:cNvSpPr txBox="1"/>
            <p:nvPr/>
          </p:nvSpPr>
          <p:spPr>
            <a:xfrm>
              <a:off x="7267194" y="2570798"/>
              <a:ext cx="2026241"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Kritik satırlar</a:t>
              </a:r>
            </a:p>
          </p:txBody>
        </p:sp>
        <p:sp>
          <p:nvSpPr>
            <p:cNvPr id="33" name="TextBox 33"/>
            <p:cNvSpPr txBox="1"/>
            <p:nvPr/>
          </p:nvSpPr>
          <p:spPr>
            <a:xfrm>
              <a:off x="7271004" y="2937510"/>
              <a:ext cx="32887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1. randomBytes(16) her kullanıcı için</a:t>
              </a:r>
              <a:br/>
              <a:r>
                <a:rPr lang="tr-TR" sz="1200" dirty="0">
                  <a:solidFill>
                    <a:srgbClr val="172B3A"/>
                  </a:solidFill>
                  <a:latin typeface="+mn-lt"/>
                  <a:ea typeface="+mn-ea"/>
                  <a:cs typeface="+mn-cs"/>
                </a:rPr>
                <a:t>benzersiz bir salt üretir, hash ile saklanır.</a:t>
              </a:r>
            </a:p>
          </p:txBody>
        </p:sp>
        <p:sp>
          <p:nvSpPr>
            <p:cNvPr id="34" name="TextBox 34"/>
            <p:cNvSpPr txBox="1"/>
            <p:nvPr/>
          </p:nvSpPr>
          <p:spPr>
            <a:xfrm>
              <a:off x="7271004" y="3489960"/>
              <a:ext cx="29001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2. scryptSync bilinçli olarak yavaştır;</a:t>
              </a:r>
              <a:br/>
              <a:r>
                <a:rPr lang="tr-TR" sz="1200" dirty="0">
                  <a:solidFill>
                    <a:srgbClr val="172B3A"/>
                  </a:solidFill>
                  <a:latin typeface="+mn-lt"/>
                  <a:ea typeface="+mn-ea"/>
                  <a:cs typeface="+mn-cs"/>
                </a:rPr>
                <a:t>kaba kuvvet saldırılarını yavaşlatır.</a:t>
              </a:r>
            </a:p>
          </p:txBody>
        </p:sp>
      </p:grpSp>
      <p:grpSp>
        <p:nvGrpSpPr>
          <p:cNvPr id="39" name="code-caution"/>
          <p:cNvGrpSpPr/>
          <p:nvPr/>
        </p:nvGrpSpPr>
        <p:grpSpPr>
          <a:xfrm>
            <a:off x="7277100" y="4381500"/>
            <a:ext cx="3419856" cy="1000506"/>
            <a:chOff x="7277100" y="4381500"/>
            <a:chExt cx="3419856" cy="1000506"/>
          </a:xfrm>
        </p:grpSpPr>
        <p:sp>
          <p:nvSpPr>
            <p:cNvPr id="36" name="Rectangle 36"/>
            <p:cNvSpPr/>
            <p:nvPr/>
          </p:nvSpPr>
          <p:spPr>
            <a:xfrm>
              <a:off x="7277100" y="4381500"/>
              <a:ext cx="57150" cy="819150"/>
            </a:xfrm>
            <a:prstGeom prst="rect">
              <a:avLst/>
            </a:prstGeom>
            <a:solidFill>
              <a:srgbClr val="2E86AB"/>
            </a:solidFill>
            <a:ln>
              <a:noFill/>
            </a:ln>
          </p:spPr>
        </p:sp>
        <p:sp>
          <p:nvSpPr>
            <p:cNvPr id="37" name="TextBox 37"/>
            <p:cNvSpPr txBox="1"/>
            <p:nvPr/>
          </p:nvSpPr>
          <p:spPr>
            <a:xfrm>
              <a:off x="7499604" y="448056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Dikkat noktası</a:t>
              </a:r>
            </a:p>
          </p:txBody>
        </p:sp>
        <p:sp>
          <p:nvSpPr>
            <p:cNvPr id="38" name="TextBox 38"/>
            <p:cNvSpPr txBox="1"/>
            <p:nvPr/>
          </p:nvSpPr>
          <p:spPr>
            <a:xfrm>
              <a:off x="7499604" y="4728210"/>
              <a:ext cx="31973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Hash'ler === ile değil timingSafeEqual</a:t>
              </a:r>
              <a:br/>
              <a:r>
                <a:rPr lang="tr-TR" sz="1200" dirty="0">
                  <a:solidFill>
                    <a:srgbClr val="52616B"/>
                  </a:solidFill>
                  <a:latin typeface="+mn-lt"/>
                  <a:ea typeface="+mn-ea"/>
                  <a:cs typeface="+mn-cs"/>
                </a:rPr>
                <a:t>ile karşılaştırılır; aksi hâlde erken çıkış</a:t>
              </a:r>
              <a:br/>
              <a:r>
                <a:rPr lang="tr-TR" sz="1200" dirty="0">
                  <a:solidFill>
                    <a:srgbClr val="52616B"/>
                  </a:solidFill>
                  <a:latin typeface="+mn-lt"/>
                  <a:ea typeface="+mn-ea"/>
                  <a:cs typeface="+mn-cs"/>
                </a:rPr>
                <a:t>saldırgana bilgi sızdırabilir.</a:t>
              </a:r>
            </a:p>
          </p:txBody>
        </p:sp>
      </p:grpSp>
      <p:grpSp>
        <p:nvGrpSpPr>
          <p:cNvPr id="41" name="code-takeaway"/>
          <p:cNvGrpSpPr/>
          <p:nvPr/>
        </p:nvGrpSpPr>
        <p:grpSpPr>
          <a:xfrm>
            <a:off x="563499" y="5678329"/>
            <a:ext cx="8895207" cy="574738"/>
            <a:chOff x="563499" y="5678329"/>
            <a:chExt cx="8895207" cy="574738"/>
          </a:xfrm>
        </p:grpSpPr>
        <p:sp>
          <p:nvSpPr>
            <p:cNvPr id="40" name="TextBox 40"/>
            <p:cNvSpPr txBox="1"/>
            <p:nvPr/>
          </p:nvSpPr>
          <p:spPr>
            <a:xfrm>
              <a:off x="563499" y="5678329"/>
              <a:ext cx="8895207"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parolaHashle her çağrıldığında yeni bir salt üretir; bu nedenle aynı parola için bile</a:t>
              </a:r>
              <a:br/>
              <a:r>
                <a:rPr lang="tr-TR" sz="1580" dirty="0">
                  <a:solidFill>
                    <a:srgbClr val="172B3A"/>
                  </a:solidFill>
                  <a:latin typeface="+mn-lt"/>
                  <a:ea typeface="+mn-ea"/>
                  <a:cs typeface="+mn-cs"/>
                </a:rPr>
                <a:t>farklı bir hash oluşur ve doğrulama yalnızca kayıtlı salt ile yeniden hesaplanarak yapılır.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232474" cy="668845"/>
            <a:chOff x="609600" y="171450"/>
            <a:chExt cx="9232474"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854210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Hash fonksiyonu seçenekleri ve yaygın hata</a:t>
              </a:r>
            </a:p>
          </p:txBody>
        </p:sp>
      </p:grpSp>
      <p:grpSp>
        <p:nvGrpSpPr>
          <p:cNvPr id="17" name="alt-header"/>
          <p:cNvGrpSpPr/>
          <p:nvPr/>
        </p:nvGrpSpPr>
        <p:grpSpPr>
          <a:xfrm>
            <a:off x="609600" y="1257300"/>
            <a:ext cx="10972800" cy="342900"/>
            <a:chOff x="609600" y="1257300"/>
            <a:chExt cx="10972800" cy="342900"/>
          </a:xfrm>
        </p:grpSpPr>
        <p:sp>
          <p:nvSpPr>
            <p:cNvPr id="12" name="Rectangle 12"/>
            <p:cNvSpPr/>
            <p:nvPr/>
          </p:nvSpPr>
          <p:spPr>
            <a:xfrm>
              <a:off x="609600" y="1257300"/>
              <a:ext cx="10972800" cy="342900"/>
            </a:xfrm>
            <a:prstGeom prst="rect">
              <a:avLst/>
            </a:prstGeom>
            <a:solidFill>
              <a:srgbClr val="12355B"/>
            </a:solidFill>
            <a:ln>
              <a:noFill/>
            </a:ln>
          </p:spPr>
        </p:sp>
        <p:sp>
          <p:nvSpPr>
            <p:cNvPr id="13" name="TextBox 13"/>
            <p:cNvSpPr txBox="1"/>
            <p:nvPr/>
          </p:nvSpPr>
          <p:spPr>
            <a:xfrm>
              <a:off x="756666" y="1363028"/>
              <a:ext cx="61287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YÖNTEM</a:t>
              </a:r>
            </a:p>
          </p:txBody>
        </p:sp>
        <p:sp>
          <p:nvSpPr>
            <p:cNvPr id="14" name="TextBox 14"/>
            <p:cNvSpPr txBox="1"/>
            <p:nvPr/>
          </p:nvSpPr>
          <p:spPr>
            <a:xfrm>
              <a:off x="2852166" y="1363028"/>
              <a:ext cx="736145"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AVANTAJI</a:t>
              </a:r>
            </a:p>
          </p:txBody>
        </p:sp>
        <p:sp>
          <p:nvSpPr>
            <p:cNvPr id="15" name="TextBox 15"/>
            <p:cNvSpPr txBox="1"/>
            <p:nvPr/>
          </p:nvSpPr>
          <p:spPr>
            <a:xfrm>
              <a:off x="5862066" y="1363028"/>
              <a:ext cx="1026902"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DEZAVANTAJI</a:t>
              </a:r>
            </a:p>
          </p:txBody>
        </p:sp>
        <p:sp>
          <p:nvSpPr>
            <p:cNvPr id="16" name="TextBox 16"/>
            <p:cNvSpPr txBox="1"/>
            <p:nvPr/>
          </p:nvSpPr>
          <p:spPr>
            <a:xfrm>
              <a:off x="8871966" y="1363028"/>
              <a:ext cx="130981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UYGUN KULLANIM</a:t>
              </a:r>
            </a:p>
          </p:txBody>
        </p:sp>
      </p:grpSp>
      <p:grpSp>
        <p:nvGrpSpPr>
          <p:cNvPr id="23" name="row-scrypt"/>
          <p:cNvGrpSpPr/>
          <p:nvPr/>
        </p:nvGrpSpPr>
        <p:grpSpPr>
          <a:xfrm>
            <a:off x="609600" y="1699260"/>
            <a:ext cx="10972800" cy="539115"/>
            <a:chOff x="609600" y="1699260"/>
            <a:chExt cx="10972800" cy="539115"/>
          </a:xfrm>
        </p:grpSpPr>
        <p:sp>
          <p:nvSpPr>
            <p:cNvPr id="18" name="TextBox 18"/>
            <p:cNvSpPr txBox="1"/>
            <p:nvPr/>
          </p:nvSpPr>
          <p:spPr>
            <a:xfrm>
              <a:off x="755142" y="1721168"/>
              <a:ext cx="1363885" cy="454533"/>
            </a:xfrm>
            <a:prstGeom prst="rect">
              <a:avLst/>
            </a:prstGeom>
            <a:noFill/>
            <a:ln>
              <a:noFill/>
            </a:ln>
          </p:spPr>
          <p:txBody>
            <a:bodyPr wrap="none" lIns="0" tIns="0" rIns="0" bIns="0" anchor="t" anchorCtr="0">
              <a:spAutoFit/>
            </a:bodyPr>
            <a:lstStyle/>
            <a:p>
              <a:pPr algn="l">
                <a:lnSpc>
                  <a:spcPts val="1500"/>
                </a:lnSpc>
              </a:pPr>
              <a:r>
                <a:rPr lang="tr-TR" sz="1350" b="1" dirty="0">
                  <a:solidFill>
                    <a:srgbClr val="12355B"/>
                  </a:solidFill>
                  <a:latin typeface="+mn-lt"/>
                  <a:ea typeface="+mn-ea"/>
                  <a:cs typeface="+mn-cs"/>
                </a:rPr>
                <a:t>scryptSync</a:t>
              </a:r>
              <a:br/>
              <a:r>
                <a:rPr lang="tr-TR" sz="1350" b="1" dirty="0">
                  <a:solidFill>
                    <a:srgbClr val="12355B"/>
                  </a:solidFill>
                  <a:latin typeface="+mn-lt"/>
                  <a:ea typeface="+mn-ea"/>
                  <a:cs typeface="+mn-cs"/>
                </a:rPr>
                <a:t>(Node yerleşik)</a:t>
              </a:r>
            </a:p>
          </p:txBody>
        </p:sp>
        <p:sp>
          <p:nvSpPr>
            <p:cNvPr id="19" name="TextBox 19"/>
            <p:cNvSpPr txBox="1"/>
            <p:nvPr/>
          </p:nvSpPr>
          <p:spPr>
            <a:xfrm>
              <a:off x="2851404" y="1737360"/>
              <a:ext cx="21012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Ek bağımlılık gerektirmez</a:t>
              </a:r>
            </a:p>
          </p:txBody>
        </p:sp>
        <p:sp>
          <p:nvSpPr>
            <p:cNvPr id="20" name="TextBox 20"/>
            <p:cNvSpPr txBox="1"/>
            <p:nvPr/>
          </p:nvSpPr>
          <p:spPr>
            <a:xfrm>
              <a:off x="5861304" y="1699260"/>
              <a:ext cx="20162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Parametre ayarları manuel</a:t>
              </a:r>
              <a:br/>
              <a:r>
                <a:rPr lang="tr-TR" sz="1200" dirty="0">
                  <a:solidFill>
                    <a:srgbClr val="172B3A"/>
                  </a:solidFill>
                  <a:latin typeface="+mn-lt"/>
                  <a:ea typeface="+mn-ea"/>
                  <a:cs typeface="+mn-cs"/>
                </a:rPr>
                <a:t>yapılmalıdır</a:t>
              </a:r>
            </a:p>
          </p:txBody>
        </p:sp>
        <p:sp>
          <p:nvSpPr>
            <p:cNvPr id="21" name="TextBox 21"/>
            <p:cNvSpPr txBox="1"/>
            <p:nvPr/>
          </p:nvSpPr>
          <p:spPr>
            <a:xfrm>
              <a:off x="8871204" y="1699260"/>
              <a:ext cx="15438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Küçük ve orta ölçekli</a:t>
              </a:r>
              <a:br/>
              <a:r>
                <a:rPr lang="tr-TR" sz="1200" dirty="0">
                  <a:solidFill>
                    <a:srgbClr val="172B3A"/>
                  </a:solidFill>
                  <a:latin typeface="+mn-lt"/>
                  <a:ea typeface="+mn-ea"/>
                  <a:cs typeface="+mn-cs"/>
                </a:rPr>
                <a:t>projeler</a:t>
              </a:r>
            </a:p>
          </p:txBody>
        </p:sp>
        <p:sp>
          <p:nvSpPr>
            <p:cNvPr id="22" name="Line 22"/>
            <p:cNvSpPr/>
            <p:nvPr/>
          </p:nvSpPr>
          <p:spPr>
            <a:xfrm>
              <a:off x="609600" y="22288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0" name="row-bcrypt"/>
          <p:cNvGrpSpPr/>
          <p:nvPr/>
        </p:nvGrpSpPr>
        <p:grpSpPr>
          <a:xfrm>
            <a:off x="609600" y="2228850"/>
            <a:ext cx="10972800" cy="638175"/>
            <a:chOff x="609600" y="2228850"/>
            <a:chExt cx="10972800" cy="638175"/>
          </a:xfrm>
        </p:grpSpPr>
        <p:sp>
          <p:nvSpPr>
            <p:cNvPr id="24" name="Rectangle 24"/>
            <p:cNvSpPr/>
            <p:nvPr/>
          </p:nvSpPr>
          <p:spPr>
            <a:xfrm>
              <a:off x="609600" y="2228850"/>
              <a:ext cx="10972800" cy="628650"/>
            </a:xfrm>
            <a:prstGeom prst="rect">
              <a:avLst/>
            </a:prstGeom>
            <a:solidFill>
              <a:srgbClr val="EAF4F6"/>
            </a:solidFill>
            <a:ln>
              <a:noFill/>
            </a:ln>
          </p:spPr>
        </p:sp>
        <p:sp>
          <p:nvSpPr>
            <p:cNvPr id="25" name="TextBox 25"/>
            <p:cNvSpPr txBox="1"/>
            <p:nvPr/>
          </p:nvSpPr>
          <p:spPr>
            <a:xfrm>
              <a:off x="755142" y="2349818"/>
              <a:ext cx="64343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bcrypt</a:t>
              </a:r>
            </a:p>
          </p:txBody>
        </p:sp>
        <p:sp>
          <p:nvSpPr>
            <p:cNvPr id="26" name="TextBox 26"/>
            <p:cNvSpPr txBox="1"/>
            <p:nvPr/>
          </p:nvSpPr>
          <p:spPr>
            <a:xfrm>
              <a:off x="2851404" y="2327910"/>
              <a:ext cx="17114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Yaygın kullanılır, salt</a:t>
              </a:r>
              <a:br/>
              <a:r>
                <a:rPr lang="tr-TR" sz="1200" dirty="0">
                  <a:solidFill>
                    <a:srgbClr val="172B3A"/>
                  </a:solidFill>
                  <a:latin typeface="+mn-lt"/>
                  <a:ea typeface="+mn-ea"/>
                  <a:cs typeface="+mn-cs"/>
                </a:rPr>
                <a:t>otomatik yönetilir</a:t>
              </a:r>
            </a:p>
          </p:txBody>
        </p:sp>
        <p:sp>
          <p:nvSpPr>
            <p:cNvPr id="27" name="TextBox 27"/>
            <p:cNvSpPr txBox="1"/>
            <p:nvPr/>
          </p:nvSpPr>
          <p:spPr>
            <a:xfrm>
              <a:off x="5861304" y="2327910"/>
              <a:ext cx="19552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Bellek maliyeti argon2'den</a:t>
              </a:r>
              <a:br/>
              <a:r>
                <a:rPr lang="tr-TR" sz="1200" dirty="0">
                  <a:solidFill>
                    <a:srgbClr val="172B3A"/>
                  </a:solidFill>
                  <a:latin typeface="+mn-lt"/>
                  <a:ea typeface="+mn-ea"/>
                  <a:cs typeface="+mn-cs"/>
                </a:rPr>
                <a:t>düşüktür</a:t>
              </a:r>
            </a:p>
          </p:txBody>
        </p:sp>
        <p:sp>
          <p:nvSpPr>
            <p:cNvPr id="28" name="TextBox 28"/>
            <p:cNvSpPr txBox="1"/>
            <p:nvPr/>
          </p:nvSpPr>
          <p:spPr>
            <a:xfrm>
              <a:off x="8871204" y="2366010"/>
              <a:ext cx="164921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Çoğu web uygulaması</a:t>
              </a:r>
            </a:p>
          </p:txBody>
        </p:sp>
        <p:sp>
          <p:nvSpPr>
            <p:cNvPr id="29" name="Line 29"/>
            <p:cNvSpPr/>
            <p:nvPr/>
          </p:nvSpPr>
          <p:spPr>
            <a:xfrm>
              <a:off x="609600" y="2857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6" name="row-argon2"/>
          <p:cNvGrpSpPr/>
          <p:nvPr/>
        </p:nvGrpSpPr>
        <p:grpSpPr>
          <a:xfrm>
            <a:off x="609600" y="2956560"/>
            <a:ext cx="10972800" cy="539115"/>
            <a:chOff x="609600" y="2956560"/>
            <a:chExt cx="10972800" cy="539115"/>
          </a:xfrm>
        </p:grpSpPr>
        <p:sp>
          <p:nvSpPr>
            <p:cNvPr id="31" name="TextBox 31"/>
            <p:cNvSpPr txBox="1"/>
            <p:nvPr/>
          </p:nvSpPr>
          <p:spPr>
            <a:xfrm>
              <a:off x="755142" y="2978468"/>
              <a:ext cx="64343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argon2</a:t>
              </a:r>
            </a:p>
          </p:txBody>
        </p:sp>
        <p:sp>
          <p:nvSpPr>
            <p:cNvPr id="32" name="TextBox 32"/>
            <p:cNvSpPr txBox="1"/>
            <p:nvPr/>
          </p:nvSpPr>
          <p:spPr>
            <a:xfrm>
              <a:off x="2851404" y="2956560"/>
              <a:ext cx="19857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Modern, bellek-yoğun, GPU</a:t>
              </a:r>
              <a:br/>
              <a:r>
                <a:rPr lang="tr-TR" sz="1200" dirty="0">
                  <a:solidFill>
                    <a:srgbClr val="172B3A"/>
                  </a:solidFill>
                  <a:latin typeface="+mn-lt"/>
                  <a:ea typeface="+mn-ea"/>
                  <a:cs typeface="+mn-cs"/>
                </a:rPr>
                <a:t>saldırılarına dirençli</a:t>
              </a:r>
            </a:p>
          </p:txBody>
        </p:sp>
        <p:sp>
          <p:nvSpPr>
            <p:cNvPr id="33" name="TextBox 33"/>
            <p:cNvSpPr txBox="1"/>
            <p:nvPr/>
          </p:nvSpPr>
          <p:spPr>
            <a:xfrm>
              <a:off x="5861304" y="2956560"/>
              <a:ext cx="18105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Kurulumda yerel derleme</a:t>
              </a:r>
              <a:br/>
              <a:r>
                <a:rPr lang="tr-TR" sz="1200" dirty="0">
                  <a:solidFill>
                    <a:srgbClr val="172B3A"/>
                  </a:solidFill>
                  <a:latin typeface="+mn-lt"/>
                  <a:ea typeface="+mn-ea"/>
                  <a:cs typeface="+mn-cs"/>
                </a:rPr>
                <a:t>gerekebilir</a:t>
              </a:r>
            </a:p>
          </p:txBody>
        </p:sp>
        <p:sp>
          <p:nvSpPr>
            <p:cNvPr id="34" name="TextBox 34"/>
            <p:cNvSpPr txBox="1"/>
            <p:nvPr/>
          </p:nvSpPr>
          <p:spPr>
            <a:xfrm>
              <a:off x="8871204" y="2956560"/>
              <a:ext cx="20391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Yüksek güvenlik gereksinimi</a:t>
              </a:r>
              <a:br/>
              <a:r>
                <a:rPr lang="tr-TR" sz="1200" dirty="0">
                  <a:solidFill>
                    <a:srgbClr val="172B3A"/>
                  </a:solidFill>
                  <a:latin typeface="+mn-lt"/>
                  <a:ea typeface="+mn-ea"/>
                  <a:cs typeface="+mn-cs"/>
                </a:rPr>
                <a:t>olan sistemler</a:t>
              </a:r>
            </a:p>
          </p:txBody>
        </p:sp>
        <p:sp>
          <p:nvSpPr>
            <p:cNvPr id="35" name="Line 35"/>
            <p:cNvSpPr/>
            <p:nvPr/>
          </p:nvSpPr>
          <p:spPr>
            <a:xfrm>
              <a:off x="609600" y="34861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2" name="row-sha256"/>
          <p:cNvGrpSpPr/>
          <p:nvPr/>
        </p:nvGrpSpPr>
        <p:grpSpPr>
          <a:xfrm>
            <a:off x="609600" y="3486150"/>
            <a:ext cx="10972800" cy="628650"/>
            <a:chOff x="609600" y="3486150"/>
            <a:chExt cx="10972800" cy="628650"/>
          </a:xfrm>
        </p:grpSpPr>
        <p:sp>
          <p:nvSpPr>
            <p:cNvPr id="37" name="Rectangle 37"/>
            <p:cNvSpPr/>
            <p:nvPr/>
          </p:nvSpPr>
          <p:spPr>
            <a:xfrm>
              <a:off x="609600" y="3486150"/>
              <a:ext cx="10972800" cy="628650"/>
            </a:xfrm>
            <a:prstGeom prst="rect">
              <a:avLst/>
            </a:prstGeom>
            <a:solidFill>
              <a:srgbClr val="EAF4F6"/>
            </a:solidFill>
            <a:ln>
              <a:noFill/>
            </a:ln>
          </p:spPr>
        </p:sp>
        <p:sp>
          <p:nvSpPr>
            <p:cNvPr id="38" name="TextBox 38"/>
            <p:cNvSpPr txBox="1"/>
            <p:nvPr/>
          </p:nvSpPr>
          <p:spPr>
            <a:xfrm>
              <a:off x="755142" y="3607118"/>
              <a:ext cx="116226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Düz SHA-256</a:t>
              </a:r>
            </a:p>
          </p:txBody>
        </p:sp>
        <p:sp>
          <p:nvSpPr>
            <p:cNvPr id="39" name="TextBox 39"/>
            <p:cNvSpPr txBox="1"/>
            <p:nvPr/>
          </p:nvSpPr>
          <p:spPr>
            <a:xfrm>
              <a:off x="2851404" y="3661410"/>
              <a:ext cx="6873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Hızlıdır</a:t>
              </a:r>
            </a:p>
          </p:txBody>
        </p:sp>
        <p:sp>
          <p:nvSpPr>
            <p:cNvPr id="40" name="TextBox 40"/>
            <p:cNvSpPr txBox="1"/>
            <p:nvPr/>
          </p:nvSpPr>
          <p:spPr>
            <a:xfrm>
              <a:off x="5861304" y="3585210"/>
              <a:ext cx="20467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Parola hashleme için uygun</a:t>
              </a:r>
              <a:br/>
              <a:r>
                <a:rPr lang="tr-TR" sz="1200" dirty="0">
                  <a:solidFill>
                    <a:srgbClr val="172B3A"/>
                  </a:solidFill>
                  <a:latin typeface="+mn-lt"/>
                  <a:ea typeface="+mn-ea"/>
                  <a:cs typeface="+mn-cs"/>
                </a:rPr>
                <a:t>değildir; kaba kuvvete açık</a:t>
              </a:r>
            </a:p>
          </p:txBody>
        </p:sp>
        <p:sp>
          <p:nvSpPr>
            <p:cNvPr id="41" name="TextBox 41"/>
            <p:cNvSpPr txBox="1"/>
            <p:nvPr/>
          </p:nvSpPr>
          <p:spPr>
            <a:xfrm>
              <a:off x="8871204" y="3661410"/>
              <a:ext cx="805891"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Önerilmez</a:t>
              </a:r>
            </a:p>
          </p:txBody>
        </p:sp>
      </p:grpSp>
      <p:grpSp>
        <p:nvGrpSpPr>
          <p:cNvPr id="47" name="common-mistake"/>
          <p:cNvGrpSpPr/>
          <p:nvPr/>
        </p:nvGrpSpPr>
        <p:grpSpPr>
          <a:xfrm>
            <a:off x="609600" y="4400550"/>
            <a:ext cx="8529828" cy="1504950"/>
            <a:chOff x="609600" y="4400550"/>
            <a:chExt cx="8529828" cy="1504950"/>
          </a:xfrm>
        </p:grpSpPr>
        <p:sp>
          <p:nvSpPr>
            <p:cNvPr id="43" name="Rectangle 43"/>
            <p:cNvSpPr/>
            <p:nvPr/>
          </p:nvSpPr>
          <p:spPr>
            <a:xfrm>
              <a:off x="609600" y="4400550"/>
              <a:ext cx="57150" cy="1504950"/>
            </a:xfrm>
            <a:prstGeom prst="rect">
              <a:avLst/>
            </a:prstGeom>
            <a:solidFill>
              <a:srgbClr val="2E86AB"/>
            </a:solidFill>
            <a:ln>
              <a:noFill/>
            </a:ln>
          </p:spPr>
        </p:sp>
        <p:sp>
          <p:nvSpPr>
            <p:cNvPr id="44" name="TextBox 44"/>
            <p:cNvSpPr txBox="1"/>
            <p:nvPr/>
          </p:nvSpPr>
          <p:spPr>
            <a:xfrm>
              <a:off x="905256" y="4511040"/>
              <a:ext cx="603137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Yaygın hata: hızlı ve saltsız bir özet kullanmak</a:t>
              </a:r>
            </a:p>
          </p:txBody>
        </p:sp>
        <p:sp>
          <p:nvSpPr>
            <p:cNvPr id="45" name="TextBox 45"/>
            <p:cNvSpPr txBox="1"/>
            <p:nvPr/>
          </p:nvSpPr>
          <p:spPr>
            <a:xfrm>
              <a:off x="908304" y="4899660"/>
              <a:ext cx="608166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guvensizHashle("123456") === guvensizHashle("123456") // Çıktı: true</a:t>
              </a:r>
            </a:p>
          </p:txBody>
        </p:sp>
        <p:sp>
          <p:nvSpPr>
            <p:cNvPr id="46" name="TextBox 46"/>
            <p:cNvSpPr txBox="1"/>
            <p:nvPr/>
          </p:nvSpPr>
          <p:spPr>
            <a:xfrm>
              <a:off x="906399" y="5221129"/>
              <a:ext cx="823302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Salt yokluğu nedeniyle aynı parola her zaman aynı hash'i üretir; modern donanımlar</a:t>
              </a:r>
              <a:br/>
              <a:r>
                <a:rPr lang="tr-TR" sz="1580" dirty="0">
                  <a:solidFill>
                    <a:srgbClr val="52616B"/>
                  </a:solidFill>
                  <a:latin typeface="+mn-lt"/>
                  <a:ea typeface="+mn-ea"/>
                  <a:cs typeface="+mn-cs"/>
                </a:rPr>
                <a:t>saniyede milyarlarca SHA-256 denemesi yaparak rainbow table ile eşleşme arayabilir.</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389498" cy="668845"/>
            <a:chOff x="609600" y="171450"/>
            <a:chExt cx="7389498"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669912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JWT yapısı: header.payload.imza</a:t>
              </a:r>
            </a:p>
          </p:txBody>
        </p:sp>
      </p:grpSp>
      <p:grpSp>
        <p:nvGrpSpPr>
          <p:cNvPr id="23" name="token-segments"/>
          <p:cNvGrpSpPr/>
          <p:nvPr/>
        </p:nvGrpSpPr>
        <p:grpSpPr>
          <a:xfrm>
            <a:off x="1143000" y="1428750"/>
            <a:ext cx="9906000" cy="857250"/>
            <a:chOff x="1143000" y="1428750"/>
            <a:chExt cx="9906000" cy="857250"/>
          </a:xfrm>
        </p:grpSpPr>
        <p:sp>
          <p:nvSpPr>
            <p:cNvPr id="12" name="Rectangle 12"/>
            <p:cNvSpPr/>
            <p:nvPr/>
          </p:nvSpPr>
          <p:spPr>
            <a:xfrm>
              <a:off x="1143000" y="1428750"/>
              <a:ext cx="3048000" cy="857250"/>
            </a:xfrm>
            <a:prstGeom prst="roundRect">
              <a:avLst>
                <a:gd name="adj" fmla="val 8889"/>
              </a:avLst>
            </a:prstGeom>
            <a:solidFill>
              <a:srgbClr val="12355B"/>
            </a:solidFill>
            <a:ln>
              <a:noFill/>
            </a:ln>
          </p:spPr>
        </p:sp>
        <p:sp>
          <p:nvSpPr>
            <p:cNvPr id="13" name="TextBox 13"/>
            <p:cNvSpPr txBox="1"/>
            <p:nvPr/>
          </p:nvSpPr>
          <p:spPr>
            <a:xfrm>
              <a:off x="2202297" y="1580198"/>
              <a:ext cx="929406" cy="381381"/>
            </a:xfrm>
            <a:prstGeom prst="rect">
              <a:avLst/>
            </a:prstGeom>
            <a:noFill/>
            <a:ln>
              <a:noFill/>
            </a:ln>
          </p:spPr>
          <p:txBody>
            <a:bodyPr wrap="none" lIns="0" tIns="0" rIns="0" bIns="0" anchor="t" anchorCtr="0">
              <a:spAutoFit/>
            </a:bodyPr>
            <a:lstStyle/>
            <a:p>
              <a:pPr algn="ctr"/>
              <a:r>
                <a:rPr lang="tr-TR" sz="1950" b="1" dirty="0">
                  <a:solidFill>
                    <a:srgbClr val="FFFFFF"/>
                  </a:solidFill>
                  <a:latin typeface="+mn-lt"/>
                  <a:ea typeface="+mn-ea"/>
                  <a:cs typeface="+mn-cs"/>
                </a:rPr>
                <a:t>header</a:t>
              </a:r>
            </a:p>
          </p:txBody>
        </p:sp>
        <p:sp>
          <p:nvSpPr>
            <p:cNvPr id="14" name="TextBox 14"/>
            <p:cNvSpPr txBox="1"/>
            <p:nvPr/>
          </p:nvSpPr>
          <p:spPr>
            <a:xfrm>
              <a:off x="2366086" y="1908810"/>
              <a:ext cx="601828"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alg, tip</a:t>
              </a:r>
            </a:p>
          </p:txBody>
        </p:sp>
        <p:sp>
          <p:nvSpPr>
            <p:cNvPr id="15" name="TextBox 15"/>
            <p:cNvSpPr txBox="1"/>
            <p:nvPr/>
          </p:nvSpPr>
          <p:spPr>
            <a:xfrm>
              <a:off x="4160988" y="1711642"/>
              <a:ext cx="250524" cy="557403"/>
            </a:xfrm>
            <a:prstGeom prst="rect">
              <a:avLst/>
            </a:prstGeom>
            <a:noFill/>
            <a:ln>
              <a:noFill/>
            </a:ln>
          </p:spPr>
          <p:txBody>
            <a:bodyPr wrap="none" lIns="0" tIns="0" rIns="0" bIns="0" anchor="t" anchorCtr="0">
              <a:spAutoFit/>
            </a:bodyPr>
            <a:lstStyle/>
            <a:p>
              <a:pPr algn="ctr"/>
              <a:r>
                <a:rPr lang="tr-TR" sz="2850" b="1" dirty="0">
                  <a:solidFill>
                    <a:srgbClr val="52616B"/>
                  </a:solidFill>
                  <a:latin typeface="+mn-lt"/>
                  <a:ea typeface="+mn-ea"/>
                  <a:cs typeface="+mn-cs"/>
                </a:rPr>
                <a:t>.</a:t>
              </a:r>
            </a:p>
          </p:txBody>
        </p:sp>
        <p:sp>
          <p:nvSpPr>
            <p:cNvPr id="16" name="Rectangle 16"/>
            <p:cNvSpPr/>
            <p:nvPr/>
          </p:nvSpPr>
          <p:spPr>
            <a:xfrm>
              <a:off x="4572000" y="1428750"/>
              <a:ext cx="3048000" cy="857250"/>
            </a:xfrm>
            <a:prstGeom prst="roundRect">
              <a:avLst>
                <a:gd name="adj" fmla="val 8889"/>
              </a:avLst>
            </a:prstGeom>
            <a:solidFill>
              <a:srgbClr val="00A6A6"/>
            </a:solidFill>
            <a:ln>
              <a:noFill/>
            </a:ln>
          </p:spPr>
        </p:sp>
        <p:sp>
          <p:nvSpPr>
            <p:cNvPr id="17" name="TextBox 17"/>
            <p:cNvSpPr txBox="1"/>
            <p:nvPr/>
          </p:nvSpPr>
          <p:spPr>
            <a:xfrm>
              <a:off x="5589952" y="1580198"/>
              <a:ext cx="1012096" cy="381381"/>
            </a:xfrm>
            <a:prstGeom prst="rect">
              <a:avLst/>
            </a:prstGeom>
            <a:noFill/>
            <a:ln>
              <a:noFill/>
            </a:ln>
          </p:spPr>
          <p:txBody>
            <a:bodyPr wrap="none" lIns="0" tIns="0" rIns="0" bIns="0" anchor="t" anchorCtr="0">
              <a:spAutoFit/>
            </a:bodyPr>
            <a:lstStyle/>
            <a:p>
              <a:pPr algn="ctr"/>
              <a:r>
                <a:rPr lang="tr-TR" sz="1950" b="1" dirty="0">
                  <a:solidFill>
                    <a:srgbClr val="FFFFFF"/>
                  </a:solidFill>
                  <a:latin typeface="+mn-lt"/>
                  <a:ea typeface="+mn-ea"/>
                  <a:cs typeface="+mn-cs"/>
                </a:rPr>
                <a:t>payload</a:t>
              </a:r>
            </a:p>
          </p:txBody>
        </p:sp>
        <p:sp>
          <p:nvSpPr>
            <p:cNvPr id="18" name="TextBox 18"/>
            <p:cNvSpPr txBox="1"/>
            <p:nvPr/>
          </p:nvSpPr>
          <p:spPr>
            <a:xfrm>
              <a:off x="5473720" y="1908810"/>
              <a:ext cx="1244559"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kullaniciAdi, rol</a:t>
              </a:r>
            </a:p>
          </p:txBody>
        </p:sp>
        <p:sp>
          <p:nvSpPr>
            <p:cNvPr id="19" name="TextBox 19"/>
            <p:cNvSpPr txBox="1"/>
            <p:nvPr/>
          </p:nvSpPr>
          <p:spPr>
            <a:xfrm>
              <a:off x="7589988" y="1711642"/>
              <a:ext cx="250524" cy="557403"/>
            </a:xfrm>
            <a:prstGeom prst="rect">
              <a:avLst/>
            </a:prstGeom>
            <a:noFill/>
            <a:ln>
              <a:noFill/>
            </a:ln>
          </p:spPr>
          <p:txBody>
            <a:bodyPr wrap="none" lIns="0" tIns="0" rIns="0" bIns="0" anchor="t" anchorCtr="0">
              <a:spAutoFit/>
            </a:bodyPr>
            <a:lstStyle/>
            <a:p>
              <a:pPr algn="ctr"/>
              <a:r>
                <a:rPr lang="tr-TR" sz="2850" b="1" dirty="0">
                  <a:solidFill>
                    <a:srgbClr val="52616B"/>
                  </a:solidFill>
                  <a:latin typeface="+mn-lt"/>
                  <a:ea typeface="+mn-ea"/>
                  <a:cs typeface="+mn-cs"/>
                </a:rPr>
                <a:t>.</a:t>
              </a:r>
            </a:p>
          </p:txBody>
        </p:sp>
        <p:sp>
          <p:nvSpPr>
            <p:cNvPr id="20" name="Rectangle 20"/>
            <p:cNvSpPr/>
            <p:nvPr/>
          </p:nvSpPr>
          <p:spPr>
            <a:xfrm>
              <a:off x="8001000" y="1428750"/>
              <a:ext cx="3048000" cy="857250"/>
            </a:xfrm>
            <a:prstGeom prst="roundRect">
              <a:avLst>
                <a:gd name="adj" fmla="val 8889"/>
              </a:avLst>
            </a:prstGeom>
            <a:solidFill>
              <a:srgbClr val="2E86AB"/>
            </a:solidFill>
            <a:ln>
              <a:noFill/>
            </a:ln>
          </p:spPr>
        </p:sp>
        <p:sp>
          <p:nvSpPr>
            <p:cNvPr id="21" name="TextBox 21"/>
            <p:cNvSpPr txBox="1"/>
            <p:nvPr/>
          </p:nvSpPr>
          <p:spPr>
            <a:xfrm>
              <a:off x="8867353" y="1580198"/>
              <a:ext cx="1315294" cy="381381"/>
            </a:xfrm>
            <a:prstGeom prst="rect">
              <a:avLst/>
            </a:prstGeom>
            <a:noFill/>
            <a:ln>
              <a:noFill/>
            </a:ln>
          </p:spPr>
          <p:txBody>
            <a:bodyPr wrap="none" lIns="0" tIns="0" rIns="0" bIns="0" anchor="t" anchorCtr="0">
              <a:spAutoFit/>
            </a:bodyPr>
            <a:lstStyle/>
            <a:p>
              <a:pPr algn="ctr"/>
              <a:r>
                <a:rPr lang="tr-TR" sz="1950" b="1" dirty="0">
                  <a:solidFill>
                    <a:srgbClr val="FFFFFF"/>
                  </a:solidFill>
                  <a:latin typeface="+mn-lt"/>
                  <a:ea typeface="+mn-ea"/>
                  <a:cs typeface="+mn-cs"/>
                </a:rPr>
                <a:t>signature</a:t>
              </a:r>
            </a:p>
          </p:txBody>
        </p:sp>
        <p:sp>
          <p:nvSpPr>
            <p:cNvPr id="22" name="TextBox 22"/>
            <p:cNvSpPr txBox="1"/>
            <p:nvPr/>
          </p:nvSpPr>
          <p:spPr>
            <a:xfrm>
              <a:off x="8805581" y="1908810"/>
              <a:ext cx="1438839"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HMAC doğrulaması</a:t>
              </a:r>
            </a:p>
          </p:txBody>
        </p:sp>
      </p:grpSp>
      <p:grpSp>
        <p:nvGrpSpPr>
          <p:cNvPr id="25" name="jwt-definition"/>
          <p:cNvGrpSpPr/>
          <p:nvPr/>
        </p:nvGrpSpPr>
        <p:grpSpPr>
          <a:xfrm>
            <a:off x="600456" y="2739390"/>
            <a:ext cx="9848088" cy="961644"/>
            <a:chOff x="600456" y="2739390"/>
            <a:chExt cx="9848088" cy="961644"/>
          </a:xfrm>
        </p:grpSpPr>
        <p:sp>
          <p:nvSpPr>
            <p:cNvPr id="24" name="TextBox 24"/>
            <p:cNvSpPr txBox="1"/>
            <p:nvPr/>
          </p:nvSpPr>
          <p:spPr>
            <a:xfrm>
              <a:off x="600456" y="2739390"/>
              <a:ext cx="9848088" cy="961644"/>
            </a:xfrm>
            <a:prstGeom prst="rect">
              <a:avLst/>
            </a:prstGeom>
            <a:noFill/>
            <a:ln>
              <a:noFill/>
            </a:ln>
          </p:spPr>
          <p:txBody>
            <a:bodyPr wrap="none" lIns="0" tIns="0" rIns="0" bIns="0" anchor="t" anchorCtr="0">
              <a:spAutoFit/>
            </a:bodyPr>
            <a:lstStyle/>
            <a:p>
              <a:pPr algn="l">
                <a:lnSpc>
                  <a:spcPts val="2400"/>
                </a:lnSpc>
              </a:pPr>
              <a:r>
                <a:rPr lang="tr-TR" sz="1800" dirty="0">
                  <a:solidFill>
                    <a:srgbClr val="172B3A"/>
                  </a:solidFill>
                  <a:latin typeface="+mn-lt"/>
                  <a:ea typeface="+mn-ea"/>
                  <a:cs typeface="+mn-cs"/>
                </a:rPr>
                <a:t>JWT, nokta ile ayrılmış üç bölümden oluşan bir metin dizisidir. Header token'ın tipini ve</a:t>
              </a:r>
              <a:br/>
              <a:r>
                <a:rPr lang="tr-TR" sz="1800" dirty="0">
                  <a:solidFill>
                    <a:srgbClr val="172B3A"/>
                  </a:solidFill>
                  <a:latin typeface="+mn-lt"/>
                  <a:ea typeface="+mn-ea"/>
                  <a:cs typeface="+mn-cs"/>
                </a:rPr>
                <a:t>imza algoritmasını, payload kullanıcıya ait iddiaları (claims) taşır; imza ise header ve</a:t>
              </a:r>
              <a:br/>
              <a:r>
                <a:rPr lang="tr-TR" sz="1800" dirty="0">
                  <a:solidFill>
                    <a:srgbClr val="172B3A"/>
                  </a:solidFill>
                  <a:latin typeface="+mn-lt"/>
                  <a:ea typeface="+mn-ea"/>
                  <a:cs typeface="+mn-cs"/>
                </a:rPr>
                <a:t>payload'ın değiştirilmediğini garanti eden kriptografik bir doğrulama değeridir.</a:t>
              </a:r>
            </a:p>
          </p:txBody>
        </p:sp>
      </p:grpSp>
      <p:grpSp>
        <p:nvGrpSpPr>
          <p:cNvPr id="29" name="jwt-rfc"/>
          <p:cNvGrpSpPr/>
          <p:nvPr/>
        </p:nvGrpSpPr>
        <p:grpSpPr>
          <a:xfrm>
            <a:off x="609600" y="4305300"/>
            <a:ext cx="10972800" cy="1014317"/>
            <a:chOff x="609600" y="4305300"/>
            <a:chExt cx="10972800" cy="1014317"/>
          </a:xfrm>
        </p:grpSpPr>
        <p:sp>
          <p:nvSpPr>
            <p:cNvPr id="26" name="Rectangle 26"/>
            <p:cNvSpPr/>
            <p:nvPr/>
          </p:nvSpPr>
          <p:spPr>
            <a:xfrm>
              <a:off x="609600" y="4305300"/>
              <a:ext cx="10972800" cy="952500"/>
            </a:xfrm>
            <a:prstGeom prst="roundRect">
              <a:avLst>
                <a:gd name="adj" fmla="val 8000"/>
              </a:avLst>
            </a:prstGeom>
            <a:solidFill>
              <a:srgbClr val="EAF4F6"/>
            </a:solidFill>
            <a:ln>
              <a:noFill/>
            </a:ln>
          </p:spPr>
        </p:sp>
        <p:sp>
          <p:nvSpPr>
            <p:cNvPr id="27" name="TextBox 27"/>
            <p:cNvSpPr txBox="1"/>
            <p:nvPr/>
          </p:nvSpPr>
          <p:spPr>
            <a:xfrm>
              <a:off x="906399" y="4459129"/>
              <a:ext cx="250555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RFC 7519 (IETF, 2015)</a:t>
              </a:r>
            </a:p>
          </p:txBody>
        </p:sp>
        <p:sp>
          <p:nvSpPr>
            <p:cNvPr id="28" name="TextBox 28"/>
            <p:cNvSpPr txBox="1"/>
            <p:nvPr/>
          </p:nvSpPr>
          <p:spPr>
            <a:xfrm>
              <a:off x="906399" y="4763929"/>
              <a:ext cx="8754745"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JWT'yi resmî standart hâline getirir; imza mekanizması dijital imza teorisine (HMAC veya</a:t>
              </a:r>
              <a:br/>
              <a:r>
                <a:rPr lang="tr-TR" sz="1580" dirty="0">
                  <a:solidFill>
                    <a:srgbClr val="172B3A"/>
                  </a:solidFill>
                  <a:latin typeface="+mn-lt"/>
                  <a:ea typeface="+mn-ea"/>
                  <a:cs typeface="+mn-cs"/>
                </a:rPr>
                <a:t>public-key) dayanır ve veri bütünlüğü ile kaynağın kimliğini birlikte garanti eder.</a:t>
              </a:r>
            </a:p>
          </p:txBody>
        </p:sp>
      </p:grpSp>
      <p:grpSp>
        <p:nvGrpSpPr>
          <p:cNvPr id="33" name="jwt-stateless"/>
          <p:cNvGrpSpPr/>
          <p:nvPr/>
        </p:nvGrpSpPr>
        <p:grpSpPr>
          <a:xfrm>
            <a:off x="609600" y="5486400"/>
            <a:ext cx="10049864" cy="800100"/>
            <a:chOff x="609600" y="5486400"/>
            <a:chExt cx="10049864" cy="800100"/>
          </a:xfrm>
        </p:grpSpPr>
        <p:sp>
          <p:nvSpPr>
            <p:cNvPr id="30" name="Rectangle 30"/>
            <p:cNvSpPr/>
            <p:nvPr/>
          </p:nvSpPr>
          <p:spPr>
            <a:xfrm>
              <a:off x="609600" y="5486400"/>
              <a:ext cx="57150" cy="800100"/>
            </a:xfrm>
            <a:prstGeom prst="rect">
              <a:avLst/>
            </a:prstGeom>
            <a:solidFill>
              <a:srgbClr val="2E86AB"/>
            </a:solidFill>
            <a:ln>
              <a:noFill/>
            </a:ln>
          </p:spPr>
        </p:sp>
        <p:sp>
          <p:nvSpPr>
            <p:cNvPr id="31" name="TextBox 31"/>
            <p:cNvSpPr txBox="1"/>
            <p:nvPr/>
          </p:nvSpPr>
          <p:spPr>
            <a:xfrm>
              <a:off x="906399" y="5583079"/>
              <a:ext cx="156494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vardır?</a:t>
              </a:r>
            </a:p>
          </p:txBody>
        </p:sp>
        <p:sp>
          <p:nvSpPr>
            <p:cNvPr id="32" name="TextBox 32"/>
            <p:cNvSpPr txBox="1"/>
            <p:nvPr/>
          </p:nvSpPr>
          <p:spPr>
            <a:xfrm>
              <a:off x="907542" y="5874068"/>
              <a:ext cx="9751922"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Sunucunun oturum deposunda arama yapmasına gerek kalmadan durumsuz (stateless) kimlik doğrulama sağlar.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883299" cy="668845"/>
            <a:chOff x="609600" y="171450"/>
            <a:chExt cx="7883299"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719292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Girişten korumalı isteğe: JWT akışı</a:t>
              </a:r>
            </a:p>
          </p:txBody>
        </p:sp>
      </p:grpSp>
      <p:grpSp>
        <p:nvGrpSpPr>
          <p:cNvPr id="36" name="lifelines"/>
          <p:cNvGrpSpPr/>
          <p:nvPr/>
        </p:nvGrpSpPr>
        <p:grpSpPr>
          <a:xfrm>
            <a:off x="1143000" y="1238250"/>
            <a:ext cx="9906000" cy="4819650"/>
            <a:chOff x="1143000" y="1238250"/>
            <a:chExt cx="9906000" cy="4819650"/>
          </a:xfrm>
        </p:grpSpPr>
        <p:sp>
          <p:nvSpPr>
            <p:cNvPr id="12" name="Rectangle 12"/>
            <p:cNvSpPr/>
            <p:nvPr/>
          </p:nvSpPr>
          <p:spPr>
            <a:xfrm>
              <a:off x="1143000" y="1238250"/>
              <a:ext cx="2095500" cy="438150"/>
            </a:xfrm>
            <a:prstGeom prst="roundRect">
              <a:avLst>
                <a:gd name="adj" fmla="val 13043"/>
              </a:avLst>
            </a:prstGeom>
            <a:solidFill>
              <a:srgbClr val="12355B"/>
            </a:solidFill>
            <a:ln>
              <a:noFill/>
            </a:ln>
          </p:spPr>
        </p:sp>
        <p:sp>
          <p:nvSpPr>
            <p:cNvPr id="13" name="TextBox 13"/>
            <p:cNvSpPr txBox="1"/>
            <p:nvPr/>
          </p:nvSpPr>
          <p:spPr>
            <a:xfrm>
              <a:off x="1754982" y="1344454"/>
              <a:ext cx="8715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İstemci</a:t>
              </a:r>
            </a:p>
          </p:txBody>
        </p:sp>
        <p:sp>
          <p:nvSpPr>
            <p:cNvPr id="14" name="Line 14"/>
            <p:cNvSpPr/>
            <p:nvPr/>
          </p:nvSpPr>
          <p:spPr>
            <a:xfrm>
              <a:off x="2190750" y="1676400"/>
              <a:ext cx="9525" cy="4381500"/>
            </a:xfrm>
            <a:custGeom>
              <a:avLst/>
              <a:gdLst/>
              <a:ahLst/>
              <a:cxnLst/>
              <a:rect l="l" t="t" r="r" b="b"/>
              <a:pathLst>
                <a:path w="9525" h="4381500">
                  <a:moveTo>
                    <a:pt x="0" y="0"/>
                  </a:moveTo>
                  <a:lnTo>
                    <a:pt x="0" y="4381500"/>
                  </a:lnTo>
                </a:path>
              </a:pathLst>
            </a:custGeom>
            <a:noFill/>
            <a:ln w="19050">
              <a:solidFill>
                <a:srgbClr val="B8CBD3"/>
              </a:solidFill>
              <a:prstDash val="dash"/>
            </a:ln>
          </p:spPr>
        </p:sp>
        <p:sp>
          <p:nvSpPr>
            <p:cNvPr id="15" name="Rectangle 15"/>
            <p:cNvSpPr/>
            <p:nvPr/>
          </p:nvSpPr>
          <p:spPr>
            <a:xfrm>
              <a:off x="8953500" y="1238250"/>
              <a:ext cx="2095500" cy="438150"/>
            </a:xfrm>
            <a:prstGeom prst="roundRect">
              <a:avLst>
                <a:gd name="adj" fmla="val 13043"/>
              </a:avLst>
            </a:prstGeom>
            <a:solidFill>
              <a:srgbClr val="12355B"/>
            </a:solidFill>
            <a:ln>
              <a:noFill/>
            </a:ln>
          </p:spPr>
        </p:sp>
        <p:sp>
          <p:nvSpPr>
            <p:cNvPr id="16" name="TextBox 16"/>
            <p:cNvSpPr txBox="1"/>
            <p:nvPr/>
          </p:nvSpPr>
          <p:spPr>
            <a:xfrm>
              <a:off x="9621271" y="1344454"/>
              <a:ext cx="759959"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Sunucu</a:t>
              </a:r>
            </a:p>
          </p:txBody>
        </p:sp>
        <p:sp>
          <p:nvSpPr>
            <p:cNvPr id="17" name="Line 17"/>
            <p:cNvSpPr/>
            <p:nvPr/>
          </p:nvSpPr>
          <p:spPr>
            <a:xfrm>
              <a:off x="10001250" y="1676400"/>
              <a:ext cx="9525" cy="4381500"/>
            </a:xfrm>
            <a:custGeom>
              <a:avLst/>
              <a:gdLst/>
              <a:ahLst/>
              <a:cxnLst/>
              <a:rect l="l" t="t" r="r" b="b"/>
              <a:pathLst>
                <a:path w="9525" h="4381500">
                  <a:moveTo>
                    <a:pt x="0" y="0"/>
                  </a:moveTo>
                  <a:lnTo>
                    <a:pt x="0" y="4381500"/>
                  </a:lnTo>
                </a:path>
              </a:pathLst>
            </a:custGeom>
            <a:noFill/>
            <a:ln w="19050">
              <a:solidFill>
                <a:srgbClr val="B8CBD3"/>
              </a:solidFill>
              <a:prstDash val="dash"/>
            </a:ln>
          </p:spPr>
        </p:sp>
        <p:sp>
          <p:nvSpPr>
            <p:cNvPr id="18" name="Line 18"/>
            <p:cNvSpPr/>
            <p:nvPr/>
          </p:nvSpPr>
          <p:spPr>
            <a:xfrm>
              <a:off x="2190750" y="2057400"/>
              <a:ext cx="7753350" cy="1"/>
            </a:xfrm>
            <a:prstGeom prst="line">
              <a:avLst/>
            </a:prstGeom>
            <a:noFill/>
            <a:ln w="23812">
              <a:solidFill>
                <a:srgbClr val="00A6A6"/>
              </a:solidFill>
              <a:tailEnd type="arrow" w="lg" len="lg"/>
            </a:ln>
          </p:spPr>
        </p:sp>
        <p:sp>
          <p:nvSpPr>
            <p:cNvPr id="19" name="TextBox 19"/>
            <p:cNvSpPr txBox="1"/>
            <p:nvPr/>
          </p:nvSpPr>
          <p:spPr>
            <a:xfrm>
              <a:off x="2279904" y="1832610"/>
              <a:ext cx="264847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POST /login (kullaniciAdi, parola)</a:t>
              </a:r>
            </a:p>
          </p:txBody>
        </p:sp>
        <p:sp>
          <p:nvSpPr>
            <p:cNvPr id="20" name="Line 20"/>
            <p:cNvSpPr/>
            <p:nvPr/>
          </p:nvSpPr>
          <p:spPr>
            <a:xfrm flipH="1">
              <a:off x="2247900" y="2438400"/>
              <a:ext cx="7696200" cy="1"/>
            </a:xfrm>
            <a:prstGeom prst="line">
              <a:avLst/>
            </a:prstGeom>
            <a:noFill/>
            <a:ln w="19050">
              <a:solidFill>
                <a:srgbClr val="52616B"/>
              </a:solidFill>
              <a:custDash>
                <a:ds d="300000" sp="200000"/>
              </a:custDash>
              <a:tailEnd type="arrow" w="lg" len="lg"/>
            </a:ln>
          </p:spPr>
        </p:sp>
        <p:sp>
          <p:nvSpPr>
            <p:cNvPr id="21" name="TextBox 21"/>
            <p:cNvSpPr txBox="1"/>
            <p:nvPr/>
          </p:nvSpPr>
          <p:spPr>
            <a:xfrm>
              <a:off x="2279904" y="2213610"/>
              <a:ext cx="29246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200 OK + JWT (header.payload.imza)</a:t>
              </a:r>
            </a:p>
          </p:txBody>
        </p:sp>
        <p:sp>
          <p:nvSpPr>
            <p:cNvPr id="22" name="Line 22"/>
            <p:cNvSpPr/>
            <p:nvPr/>
          </p:nvSpPr>
          <p:spPr>
            <a:xfrm>
              <a:off x="2190750" y="3009900"/>
              <a:ext cx="7753350" cy="1"/>
            </a:xfrm>
            <a:prstGeom prst="line">
              <a:avLst/>
            </a:prstGeom>
            <a:noFill/>
            <a:ln w="23812">
              <a:solidFill>
                <a:srgbClr val="00A6A6"/>
              </a:solidFill>
              <a:tailEnd type="arrow" w="lg" len="lg"/>
            </a:ln>
          </p:spPr>
        </p:sp>
        <p:sp>
          <p:nvSpPr>
            <p:cNvPr id="23" name="TextBox 23"/>
            <p:cNvSpPr txBox="1"/>
            <p:nvPr/>
          </p:nvSpPr>
          <p:spPr>
            <a:xfrm>
              <a:off x="2279904" y="2785110"/>
              <a:ext cx="370889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GET /korumali · Authorization: Bearer &lt;token&gt;</a:t>
              </a:r>
            </a:p>
          </p:txBody>
        </p:sp>
        <p:sp>
          <p:nvSpPr>
            <p:cNvPr id="24" name="Rectangle 24"/>
            <p:cNvSpPr/>
            <p:nvPr/>
          </p:nvSpPr>
          <p:spPr>
            <a:xfrm>
              <a:off x="8572500" y="3200400"/>
              <a:ext cx="2476500" cy="495300"/>
            </a:xfrm>
            <a:prstGeom prst="roundRect">
              <a:avLst>
                <a:gd name="adj" fmla="val 11538"/>
              </a:avLst>
            </a:prstGeom>
            <a:solidFill>
              <a:srgbClr val="FFFFFF"/>
            </a:solidFill>
            <a:ln w="14288">
              <a:solidFill>
                <a:srgbClr val="2E86AB"/>
              </a:solidFill>
            </a:ln>
          </p:spPr>
        </p:sp>
        <p:sp>
          <p:nvSpPr>
            <p:cNvPr id="25" name="TextBox 25"/>
            <p:cNvSpPr txBox="1"/>
            <p:nvPr/>
          </p:nvSpPr>
          <p:spPr>
            <a:xfrm>
              <a:off x="9191549" y="3280410"/>
              <a:ext cx="1238402"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Authentication</a:t>
              </a:r>
            </a:p>
          </p:txBody>
        </p:sp>
        <p:sp>
          <p:nvSpPr>
            <p:cNvPr id="26" name="TextBox 26"/>
            <p:cNvSpPr txBox="1"/>
            <p:nvPr/>
          </p:nvSpPr>
          <p:spPr>
            <a:xfrm>
              <a:off x="8762695" y="3470910"/>
              <a:ext cx="2096110"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middleware: token doğrula</a:t>
              </a:r>
            </a:p>
          </p:txBody>
        </p:sp>
        <p:sp>
          <p:nvSpPr>
            <p:cNvPr id="27" name="Rectangle 27"/>
            <p:cNvSpPr/>
            <p:nvPr/>
          </p:nvSpPr>
          <p:spPr>
            <a:xfrm>
              <a:off x="8572500" y="3848100"/>
              <a:ext cx="2476500" cy="495300"/>
            </a:xfrm>
            <a:prstGeom prst="roundRect">
              <a:avLst>
                <a:gd name="adj" fmla="val 11538"/>
              </a:avLst>
            </a:prstGeom>
            <a:solidFill>
              <a:srgbClr val="FFFFFF"/>
            </a:solidFill>
            <a:ln w="14288">
              <a:solidFill>
                <a:srgbClr val="2E86AB"/>
              </a:solidFill>
            </a:ln>
          </p:spPr>
        </p:sp>
        <p:sp>
          <p:nvSpPr>
            <p:cNvPr id="28" name="TextBox 28"/>
            <p:cNvSpPr txBox="1"/>
            <p:nvPr/>
          </p:nvSpPr>
          <p:spPr>
            <a:xfrm>
              <a:off x="9348197" y="3928110"/>
              <a:ext cx="925106"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RBAC guard</a:t>
              </a:r>
            </a:p>
          </p:txBody>
        </p:sp>
        <p:sp>
          <p:nvSpPr>
            <p:cNvPr id="29" name="TextBox 29"/>
            <p:cNvSpPr txBox="1"/>
            <p:nvPr/>
          </p:nvSpPr>
          <p:spPr>
            <a:xfrm>
              <a:off x="8605190" y="4118610"/>
              <a:ext cx="2411120"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rolü izin listesiyle karşılaştır</a:t>
              </a:r>
            </a:p>
          </p:txBody>
        </p:sp>
        <p:sp>
          <p:nvSpPr>
            <p:cNvPr id="30" name="Line 30"/>
            <p:cNvSpPr/>
            <p:nvPr/>
          </p:nvSpPr>
          <p:spPr>
            <a:xfrm flipH="1">
              <a:off x="2247900" y="4724400"/>
              <a:ext cx="7696200" cy="1"/>
            </a:xfrm>
            <a:prstGeom prst="line">
              <a:avLst/>
            </a:prstGeom>
            <a:noFill/>
            <a:ln w="19050">
              <a:solidFill>
                <a:srgbClr val="52616B"/>
              </a:solidFill>
              <a:custDash>
                <a:ds d="300000" sp="200000"/>
              </a:custDash>
              <a:tailEnd type="arrow" w="lg" len="lg"/>
            </a:ln>
          </p:spPr>
        </p:sp>
        <p:sp>
          <p:nvSpPr>
            <p:cNvPr id="31" name="TextBox 31"/>
            <p:cNvSpPr txBox="1"/>
            <p:nvPr/>
          </p:nvSpPr>
          <p:spPr>
            <a:xfrm>
              <a:off x="2279904" y="4499610"/>
              <a:ext cx="39734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200 OK — kimlik ve rol doğru: işlem gerçekleştirildi</a:t>
              </a:r>
            </a:p>
          </p:txBody>
        </p:sp>
        <p:sp>
          <p:nvSpPr>
            <p:cNvPr id="32" name="Line 32"/>
            <p:cNvSpPr/>
            <p:nvPr/>
          </p:nvSpPr>
          <p:spPr>
            <a:xfrm flipH="1">
              <a:off x="2247900" y="5200650"/>
              <a:ext cx="7696200" cy="1"/>
            </a:xfrm>
            <a:prstGeom prst="line">
              <a:avLst/>
            </a:prstGeom>
            <a:noFill/>
            <a:ln w="19050">
              <a:solidFill>
                <a:srgbClr val="52616B"/>
              </a:solidFill>
              <a:custDash>
                <a:ds d="300000" sp="200000"/>
              </a:custDash>
              <a:tailEnd type="arrow" w="lg" len="lg"/>
            </a:ln>
          </p:spPr>
        </p:sp>
        <p:sp>
          <p:nvSpPr>
            <p:cNvPr id="33" name="TextBox 33"/>
            <p:cNvSpPr txBox="1"/>
            <p:nvPr/>
          </p:nvSpPr>
          <p:spPr>
            <a:xfrm>
              <a:off x="2279904" y="4975860"/>
              <a:ext cx="476743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401 Unauthorized — token eksik, geçersiz veya süresi dolmuş</a:t>
              </a:r>
            </a:p>
          </p:txBody>
        </p:sp>
        <p:sp>
          <p:nvSpPr>
            <p:cNvPr id="34" name="Line 34"/>
            <p:cNvSpPr/>
            <p:nvPr/>
          </p:nvSpPr>
          <p:spPr>
            <a:xfrm flipH="1">
              <a:off x="2247900" y="5676900"/>
              <a:ext cx="7696200" cy="1"/>
            </a:xfrm>
            <a:prstGeom prst="line">
              <a:avLst/>
            </a:prstGeom>
            <a:noFill/>
            <a:ln w="19050">
              <a:solidFill>
                <a:srgbClr val="52616B"/>
              </a:solidFill>
              <a:custDash>
                <a:ds d="300000" sp="200000"/>
              </a:custDash>
              <a:tailEnd type="arrow" w="lg" len="lg"/>
            </a:ln>
          </p:spPr>
        </p:sp>
        <p:sp>
          <p:nvSpPr>
            <p:cNvPr id="35" name="TextBox 35"/>
            <p:cNvSpPr txBox="1"/>
            <p:nvPr/>
          </p:nvSpPr>
          <p:spPr>
            <a:xfrm>
              <a:off x="2279904" y="5452110"/>
              <a:ext cx="32975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403 Forbidden — kimlik doğru, rol yetersiz</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53904" y="309562"/>
                <a:ext cx="206693" cy="280512"/>
                <a:chOff x="753904" y="309562"/>
                <a:chExt cx="206693" cy="280512"/>
              </a:xfrm>
            </p:grpSpPr>
            <p:sp>
              <p:nvSpPr>
                <p:cNvPr id="5" name="Freeform 5"/>
                <p:cNvSpPr/>
                <p:nvPr/>
              </p:nvSpPr>
              <p:spPr>
                <a:xfrm>
                  <a:off x="7539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424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7981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61872" y="282892"/>
              <a:ext cx="6592974"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Kod 10.3 · HMAC imzalı basit JWT</a:t>
              </a:r>
            </a:p>
          </p:txBody>
        </p:sp>
      </p:grpSp>
      <p:grpSp>
        <p:nvGrpSpPr>
          <p:cNvPr id="30" name="code-panel"/>
          <p:cNvGrpSpPr/>
          <p:nvPr/>
        </p:nvGrpSpPr>
        <p:grpSpPr>
          <a:xfrm>
            <a:off x="571500" y="1295400"/>
            <a:ext cx="6477000" cy="4264628"/>
            <a:chOff x="571500" y="1295400"/>
            <a:chExt cx="6477000" cy="4264628"/>
          </a:xfrm>
        </p:grpSpPr>
        <p:sp>
          <p:nvSpPr>
            <p:cNvPr id="12" name="Rectangle 12"/>
            <p:cNvSpPr/>
            <p:nvPr/>
          </p:nvSpPr>
          <p:spPr>
            <a:xfrm>
              <a:off x="571500" y="1295400"/>
              <a:ext cx="6477000" cy="3905250"/>
            </a:xfrm>
            <a:prstGeom prst="rect">
              <a:avLst/>
            </a:prstGeom>
            <a:solidFill>
              <a:srgbClr val="12355B"/>
            </a:solidFill>
            <a:ln>
              <a:noFill/>
            </a:ln>
          </p:spPr>
        </p:sp>
        <p:sp>
          <p:nvSpPr>
            <p:cNvPr id="13" name="TextBox 13"/>
            <p:cNvSpPr txBox="1"/>
            <p:nvPr/>
          </p:nvSpPr>
          <p:spPr>
            <a:xfrm>
              <a:off x="793623" y="1500664"/>
              <a:ext cx="4189687"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function imzaOlustur(veri: string): string {</a:t>
              </a:r>
            </a:p>
          </p:txBody>
        </p:sp>
        <p:sp>
          <p:nvSpPr>
            <p:cNvPr id="14" name="TextBox 14"/>
            <p:cNvSpPr txBox="1"/>
            <p:nvPr/>
          </p:nvSpPr>
          <p:spPr>
            <a:xfrm>
              <a:off x="1031748" y="1729264"/>
              <a:ext cx="4087882"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return createHmac("sha256", GIZLI_ANAHTAR)</a:t>
              </a:r>
            </a:p>
          </p:txBody>
        </p:sp>
        <p:sp>
          <p:nvSpPr>
            <p:cNvPr id="15" name="TextBox 15"/>
            <p:cNvSpPr txBox="1"/>
            <p:nvPr/>
          </p:nvSpPr>
          <p:spPr>
            <a:xfrm>
              <a:off x="1269873" y="1957864"/>
              <a:ext cx="3235218"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.update(veri).digest("base64url");</a:t>
              </a:r>
            </a:p>
          </p:txBody>
        </p:sp>
        <p:sp>
          <p:nvSpPr>
            <p:cNvPr id="16" name="TextBox 16"/>
            <p:cNvSpPr txBox="1"/>
            <p:nvPr/>
          </p:nvSpPr>
          <p:spPr>
            <a:xfrm>
              <a:off x="793623" y="2186464"/>
              <a:ext cx="107726"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a:t>
              </a:r>
            </a:p>
          </p:txBody>
        </p:sp>
        <p:sp>
          <p:nvSpPr>
            <p:cNvPr id="17" name="TextBox 17"/>
            <p:cNvSpPr txBox="1"/>
            <p:nvPr/>
          </p:nvSpPr>
          <p:spPr>
            <a:xfrm>
              <a:off x="793623" y="2491264"/>
              <a:ext cx="4865893"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function tokenUret(payload: TokenPayload): string {</a:t>
              </a:r>
            </a:p>
          </p:txBody>
        </p:sp>
        <p:sp>
          <p:nvSpPr>
            <p:cNvPr id="18" name="TextBox 18"/>
            <p:cNvSpPr txBox="1"/>
            <p:nvPr/>
          </p:nvSpPr>
          <p:spPr>
            <a:xfrm>
              <a:off x="1031748" y="2719864"/>
              <a:ext cx="4598818"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const header = base64UrlKodla({ alg: "HS256" });</a:t>
              </a:r>
            </a:p>
          </p:txBody>
        </p:sp>
        <p:sp>
          <p:nvSpPr>
            <p:cNvPr id="19" name="TextBox 19"/>
            <p:cNvSpPr txBox="1"/>
            <p:nvPr/>
          </p:nvSpPr>
          <p:spPr>
            <a:xfrm>
              <a:off x="1031748" y="2948464"/>
              <a:ext cx="3628367"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const govde = base64UrlKodla(payload);</a:t>
              </a:r>
            </a:p>
          </p:txBody>
        </p:sp>
        <p:sp>
          <p:nvSpPr>
            <p:cNvPr id="20" name="TextBox 20"/>
            <p:cNvSpPr txBox="1"/>
            <p:nvPr/>
          </p:nvSpPr>
          <p:spPr>
            <a:xfrm>
              <a:off x="1031748" y="3177064"/>
              <a:ext cx="4475394"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const imza = imzaOlustur(`${header}.${govde}`);</a:t>
              </a:r>
            </a:p>
          </p:txBody>
        </p:sp>
        <p:sp>
          <p:nvSpPr>
            <p:cNvPr id="21" name="TextBox 21"/>
            <p:cNvSpPr txBox="1"/>
            <p:nvPr/>
          </p:nvSpPr>
          <p:spPr>
            <a:xfrm>
              <a:off x="1031748" y="3405664"/>
              <a:ext cx="3424763"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return `${header}.${govde}.${imza}`;</a:t>
              </a:r>
            </a:p>
          </p:txBody>
        </p:sp>
        <p:sp>
          <p:nvSpPr>
            <p:cNvPr id="22" name="TextBox 22"/>
            <p:cNvSpPr txBox="1"/>
            <p:nvPr/>
          </p:nvSpPr>
          <p:spPr>
            <a:xfrm>
              <a:off x="793623" y="3634264"/>
              <a:ext cx="107726"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a:t>
              </a:r>
            </a:p>
          </p:txBody>
        </p:sp>
        <p:sp>
          <p:nvSpPr>
            <p:cNvPr id="23" name="TextBox 23"/>
            <p:cNvSpPr txBox="1"/>
            <p:nvPr/>
          </p:nvSpPr>
          <p:spPr>
            <a:xfrm>
              <a:off x="793623" y="3939064"/>
              <a:ext cx="4960585"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function tokenDogrula(token: string): TokenPayload {</a:t>
              </a:r>
            </a:p>
          </p:txBody>
        </p:sp>
        <p:sp>
          <p:nvSpPr>
            <p:cNvPr id="24" name="TextBox 24"/>
            <p:cNvSpPr txBox="1"/>
            <p:nvPr/>
          </p:nvSpPr>
          <p:spPr>
            <a:xfrm>
              <a:off x="1031748" y="4167664"/>
              <a:ext cx="4476265"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if (imza !== imzaOlustur(`${header}.${govde}`))</a:t>
              </a:r>
            </a:p>
          </p:txBody>
        </p:sp>
        <p:sp>
          <p:nvSpPr>
            <p:cNvPr id="25" name="TextBox 25"/>
            <p:cNvSpPr txBox="1"/>
            <p:nvPr/>
          </p:nvSpPr>
          <p:spPr>
            <a:xfrm>
              <a:off x="1269873" y="4396264"/>
              <a:ext cx="3725818"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throw new Error("401: İmza geçersiz.");</a:t>
              </a:r>
            </a:p>
          </p:txBody>
        </p:sp>
        <p:sp>
          <p:nvSpPr>
            <p:cNvPr id="26" name="TextBox 26"/>
            <p:cNvSpPr txBox="1"/>
            <p:nvPr/>
          </p:nvSpPr>
          <p:spPr>
            <a:xfrm>
              <a:off x="1031748" y="4624864"/>
              <a:ext cx="3723509"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if (Date.now() &gt; payload.sonGecerlilik)</a:t>
              </a:r>
            </a:p>
          </p:txBody>
        </p:sp>
        <p:sp>
          <p:nvSpPr>
            <p:cNvPr id="27" name="TextBox 27"/>
            <p:cNvSpPr txBox="1"/>
            <p:nvPr/>
          </p:nvSpPr>
          <p:spPr>
            <a:xfrm>
              <a:off x="1269873" y="4853464"/>
              <a:ext cx="3442320"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throw new Error("401: Süre doldu.");</a:t>
              </a:r>
            </a:p>
          </p:txBody>
        </p:sp>
        <p:sp>
          <p:nvSpPr>
            <p:cNvPr id="28" name="TextBox 28"/>
            <p:cNvSpPr txBox="1"/>
            <p:nvPr/>
          </p:nvSpPr>
          <p:spPr>
            <a:xfrm>
              <a:off x="1031748" y="5082064"/>
              <a:ext cx="1434541"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return payload;</a:t>
              </a:r>
            </a:p>
          </p:txBody>
        </p:sp>
        <p:sp>
          <p:nvSpPr>
            <p:cNvPr id="29" name="TextBox 29"/>
            <p:cNvSpPr txBox="1"/>
            <p:nvPr/>
          </p:nvSpPr>
          <p:spPr>
            <a:xfrm>
              <a:off x="793623" y="5310664"/>
              <a:ext cx="107726"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a:t>
              </a:r>
            </a:p>
          </p:txBody>
        </p:sp>
      </p:grpSp>
      <p:grpSp>
        <p:nvGrpSpPr>
          <p:cNvPr id="33" name="code-purpose"/>
          <p:cNvGrpSpPr/>
          <p:nvPr/>
        </p:nvGrpSpPr>
        <p:grpSpPr>
          <a:xfrm>
            <a:off x="7267194" y="1465898"/>
            <a:ext cx="3820414" cy="1205769"/>
            <a:chOff x="7267194" y="1465898"/>
            <a:chExt cx="3820414" cy="1205769"/>
          </a:xfrm>
        </p:grpSpPr>
        <p:sp>
          <p:nvSpPr>
            <p:cNvPr id="31" name="TextBox 31"/>
            <p:cNvSpPr txBox="1"/>
            <p:nvPr/>
          </p:nvSpPr>
          <p:spPr>
            <a:xfrm>
              <a:off x="7267194" y="1465898"/>
              <a:ext cx="168298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Kodun amacı</a:t>
              </a:r>
            </a:p>
          </p:txBody>
        </p:sp>
        <p:sp>
          <p:nvSpPr>
            <p:cNvPr id="32" name="TextBox 32"/>
            <p:cNvSpPr txBox="1"/>
            <p:nvPr/>
          </p:nvSpPr>
          <p:spPr>
            <a:xfrm>
              <a:off x="7269099" y="1830229"/>
              <a:ext cx="3818509"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JWT'nin header.payload.imza yapısını</a:t>
              </a:r>
              <a:br/>
              <a:r>
                <a:rPr lang="tr-TR" sz="1580" dirty="0">
                  <a:solidFill>
                    <a:srgbClr val="172B3A"/>
                  </a:solidFill>
                  <a:latin typeface="+mn-lt"/>
                  <a:ea typeface="+mn-ea"/>
                  <a:cs typeface="+mn-cs"/>
                </a:rPr>
                <a:t>ve imza/süre doğrulamasını</a:t>
              </a:r>
              <a:br/>
              <a:r>
                <a:rPr lang="tr-TR" sz="1580" dirty="0">
                  <a:solidFill>
                    <a:srgbClr val="172B3A"/>
                  </a:solidFill>
                  <a:latin typeface="+mn-lt"/>
                  <a:ea typeface="+mn-ea"/>
                  <a:cs typeface="+mn-cs"/>
                </a:rPr>
                <a:t>basitleştirilmiş biçimde göstermek.</a:t>
              </a:r>
            </a:p>
          </p:txBody>
        </p:sp>
      </p:grpSp>
      <p:grpSp>
        <p:nvGrpSpPr>
          <p:cNvPr id="37" name="code-critical"/>
          <p:cNvGrpSpPr/>
          <p:nvPr/>
        </p:nvGrpSpPr>
        <p:grpSpPr>
          <a:xfrm>
            <a:off x="7267194" y="2570798"/>
            <a:ext cx="3650742" cy="1363408"/>
            <a:chOff x="7267194" y="2570798"/>
            <a:chExt cx="3650742" cy="1363408"/>
          </a:xfrm>
        </p:grpSpPr>
        <p:sp>
          <p:nvSpPr>
            <p:cNvPr id="34" name="TextBox 34"/>
            <p:cNvSpPr txBox="1"/>
            <p:nvPr/>
          </p:nvSpPr>
          <p:spPr>
            <a:xfrm>
              <a:off x="7267194" y="2570798"/>
              <a:ext cx="2026241"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Kritik satırlar</a:t>
              </a:r>
            </a:p>
          </p:txBody>
        </p:sp>
        <p:sp>
          <p:nvSpPr>
            <p:cNvPr id="35" name="TextBox 35"/>
            <p:cNvSpPr txBox="1"/>
            <p:nvPr/>
          </p:nvSpPr>
          <p:spPr>
            <a:xfrm>
              <a:off x="7271004" y="2937510"/>
              <a:ext cx="36469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1. imzaOlustur, header+payload'ın HMAC-SHA256</a:t>
              </a:r>
              <a:br/>
              <a:r>
                <a:rPr lang="tr-TR" sz="1200" dirty="0">
                  <a:solidFill>
                    <a:srgbClr val="172B3A"/>
                  </a:solidFill>
                  <a:latin typeface="+mn-lt"/>
                  <a:ea typeface="+mn-ea"/>
                  <a:cs typeface="+mn-cs"/>
                </a:rPr>
                <a:t>imzasını gizli anahtarla üretir.</a:t>
              </a:r>
            </a:p>
          </p:txBody>
        </p:sp>
        <p:sp>
          <p:nvSpPr>
            <p:cNvPr id="36" name="TextBox 36"/>
            <p:cNvSpPr txBox="1"/>
            <p:nvPr/>
          </p:nvSpPr>
          <p:spPr>
            <a:xfrm>
              <a:off x="7271004" y="3489960"/>
              <a:ext cx="31897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2. İmza uyuşmazsa veya süre dolmuşsa 401</a:t>
              </a:r>
              <a:br/>
              <a:r>
                <a:rPr lang="tr-TR" sz="1200" dirty="0">
                  <a:solidFill>
                    <a:srgbClr val="172B3A"/>
                  </a:solidFill>
                  <a:latin typeface="+mn-lt"/>
                  <a:ea typeface="+mn-ea"/>
                  <a:cs typeface="+mn-cs"/>
                </a:rPr>
                <a:t>anlamına gelen hata fırlatılır.</a:t>
              </a:r>
            </a:p>
          </p:txBody>
        </p:sp>
      </p:grpSp>
      <p:grpSp>
        <p:nvGrpSpPr>
          <p:cNvPr id="41" name="code-caution"/>
          <p:cNvGrpSpPr/>
          <p:nvPr/>
        </p:nvGrpSpPr>
        <p:grpSpPr>
          <a:xfrm>
            <a:off x="7277100" y="4381500"/>
            <a:ext cx="3160776" cy="1000506"/>
            <a:chOff x="7277100" y="4381500"/>
            <a:chExt cx="3160776" cy="1000506"/>
          </a:xfrm>
        </p:grpSpPr>
        <p:sp>
          <p:nvSpPr>
            <p:cNvPr id="38" name="Rectangle 38"/>
            <p:cNvSpPr/>
            <p:nvPr/>
          </p:nvSpPr>
          <p:spPr>
            <a:xfrm>
              <a:off x="7277100" y="4381500"/>
              <a:ext cx="57150" cy="819150"/>
            </a:xfrm>
            <a:prstGeom prst="rect">
              <a:avLst/>
            </a:prstGeom>
            <a:solidFill>
              <a:srgbClr val="2E86AB"/>
            </a:solidFill>
            <a:ln>
              <a:noFill/>
            </a:ln>
          </p:spPr>
        </p:sp>
        <p:sp>
          <p:nvSpPr>
            <p:cNvPr id="39" name="TextBox 39"/>
            <p:cNvSpPr txBox="1"/>
            <p:nvPr/>
          </p:nvSpPr>
          <p:spPr>
            <a:xfrm>
              <a:off x="7499604" y="448056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Dikkat noktası</a:t>
              </a:r>
            </a:p>
          </p:txBody>
        </p:sp>
        <p:sp>
          <p:nvSpPr>
            <p:cNvPr id="40" name="TextBox 40"/>
            <p:cNvSpPr txBox="1"/>
            <p:nvPr/>
          </p:nvSpPr>
          <p:spPr>
            <a:xfrm>
              <a:off x="7499604" y="4728210"/>
              <a:ext cx="29382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İmza kontrolü süre kontrolünden önce</a:t>
              </a:r>
              <a:br/>
              <a:r>
                <a:rPr lang="tr-TR" sz="1200" dirty="0">
                  <a:solidFill>
                    <a:srgbClr val="52616B"/>
                  </a:solidFill>
                  <a:latin typeface="+mn-lt"/>
                  <a:ea typeface="+mn-ea"/>
                  <a:cs typeface="+mn-cs"/>
                </a:rPr>
                <a:t>yapılır; aksi hâlde saldırgan payload'ı</a:t>
              </a:r>
              <a:br/>
              <a:r>
                <a:rPr lang="tr-TR" sz="1200" dirty="0">
                  <a:solidFill>
                    <a:srgbClr val="52616B"/>
                  </a:solidFill>
                  <a:latin typeface="+mn-lt"/>
                  <a:ea typeface="+mn-ea"/>
                  <a:cs typeface="+mn-cs"/>
                </a:rPr>
                <a:t>değiştirip süreyi uzatabilir.</a:t>
              </a:r>
            </a:p>
          </p:txBody>
        </p:sp>
      </p:grpSp>
      <p:grpSp>
        <p:nvGrpSpPr>
          <p:cNvPr id="43" name="code-takeaway"/>
          <p:cNvGrpSpPr/>
          <p:nvPr/>
        </p:nvGrpSpPr>
        <p:grpSpPr>
          <a:xfrm>
            <a:off x="563499" y="5678329"/>
            <a:ext cx="8835009" cy="574738"/>
            <a:chOff x="563499" y="5678329"/>
            <a:chExt cx="8835009" cy="574738"/>
          </a:xfrm>
        </p:grpSpPr>
        <p:sp>
          <p:nvSpPr>
            <p:cNvPr id="42" name="TextBox 42"/>
            <p:cNvSpPr txBox="1"/>
            <p:nvPr/>
          </p:nvSpPr>
          <p:spPr>
            <a:xfrm>
              <a:off x="563499" y="5678329"/>
              <a:ext cx="883500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Gizli anahtar ortam değişkeni üzerinden yönetilmeli, koda gömülmemelidir; burada yalnızca</a:t>
              </a:r>
              <a:br/>
              <a:r>
                <a:rPr lang="tr-TR" sz="1580" dirty="0">
                  <a:solidFill>
                    <a:srgbClr val="172B3A"/>
                  </a:solidFill>
                  <a:latin typeface="+mn-lt"/>
                  <a:ea typeface="+mn-ea"/>
                  <a:cs typeface="+mn-cs"/>
                </a:rPr>
                <a:t>sadeleştirme amacıyla sabit tutulmuştur.</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882646" cy="668845"/>
            <a:chOff x="609600" y="171450"/>
            <a:chExt cx="688264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61922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JWT seçenekleri ve yaygın hata</a:t>
              </a:r>
            </a:p>
          </p:txBody>
        </p:sp>
      </p:grpSp>
      <p:grpSp>
        <p:nvGrpSpPr>
          <p:cNvPr id="17" name="alt-header"/>
          <p:cNvGrpSpPr/>
          <p:nvPr/>
        </p:nvGrpSpPr>
        <p:grpSpPr>
          <a:xfrm>
            <a:off x="609600" y="1257300"/>
            <a:ext cx="10972800" cy="342900"/>
            <a:chOff x="609600" y="1257300"/>
            <a:chExt cx="10972800" cy="342900"/>
          </a:xfrm>
        </p:grpSpPr>
        <p:sp>
          <p:nvSpPr>
            <p:cNvPr id="12" name="Rectangle 12"/>
            <p:cNvSpPr/>
            <p:nvPr/>
          </p:nvSpPr>
          <p:spPr>
            <a:xfrm>
              <a:off x="609600" y="1257300"/>
              <a:ext cx="10972800" cy="342900"/>
            </a:xfrm>
            <a:prstGeom prst="rect">
              <a:avLst/>
            </a:prstGeom>
            <a:solidFill>
              <a:srgbClr val="12355B"/>
            </a:solidFill>
            <a:ln>
              <a:noFill/>
            </a:ln>
          </p:spPr>
        </p:sp>
        <p:sp>
          <p:nvSpPr>
            <p:cNvPr id="13" name="TextBox 13"/>
            <p:cNvSpPr txBox="1"/>
            <p:nvPr/>
          </p:nvSpPr>
          <p:spPr>
            <a:xfrm>
              <a:off x="756666" y="1363028"/>
              <a:ext cx="767509"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YAKLAŞIM</a:t>
              </a:r>
            </a:p>
          </p:txBody>
        </p:sp>
        <p:sp>
          <p:nvSpPr>
            <p:cNvPr id="14" name="TextBox 14"/>
            <p:cNvSpPr txBox="1"/>
            <p:nvPr/>
          </p:nvSpPr>
          <p:spPr>
            <a:xfrm>
              <a:off x="2852166" y="1363028"/>
              <a:ext cx="736145"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AVANTAJI</a:t>
              </a:r>
            </a:p>
          </p:txBody>
        </p:sp>
        <p:sp>
          <p:nvSpPr>
            <p:cNvPr id="15" name="TextBox 15"/>
            <p:cNvSpPr txBox="1"/>
            <p:nvPr/>
          </p:nvSpPr>
          <p:spPr>
            <a:xfrm>
              <a:off x="5862066" y="1363028"/>
              <a:ext cx="1026902"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DEZAVANTAJI</a:t>
              </a:r>
            </a:p>
          </p:txBody>
        </p:sp>
        <p:sp>
          <p:nvSpPr>
            <p:cNvPr id="16" name="TextBox 16"/>
            <p:cNvSpPr txBox="1"/>
            <p:nvPr/>
          </p:nvSpPr>
          <p:spPr>
            <a:xfrm>
              <a:off x="8871966" y="1363028"/>
              <a:ext cx="130981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UYGUN KULLANIM</a:t>
              </a:r>
            </a:p>
          </p:txBody>
        </p:sp>
      </p:grpSp>
      <p:grpSp>
        <p:nvGrpSpPr>
          <p:cNvPr id="23" name="row-jwt"/>
          <p:cNvGrpSpPr/>
          <p:nvPr/>
        </p:nvGrpSpPr>
        <p:grpSpPr>
          <a:xfrm>
            <a:off x="609600" y="1699260"/>
            <a:ext cx="10972800" cy="539115"/>
            <a:chOff x="609600" y="1699260"/>
            <a:chExt cx="10972800" cy="539115"/>
          </a:xfrm>
        </p:grpSpPr>
        <p:sp>
          <p:nvSpPr>
            <p:cNvPr id="18" name="TextBox 18"/>
            <p:cNvSpPr txBox="1"/>
            <p:nvPr/>
          </p:nvSpPr>
          <p:spPr>
            <a:xfrm>
              <a:off x="755142" y="1721168"/>
              <a:ext cx="796814" cy="454533"/>
            </a:xfrm>
            <a:prstGeom prst="rect">
              <a:avLst/>
            </a:prstGeom>
            <a:noFill/>
            <a:ln>
              <a:noFill/>
            </a:ln>
          </p:spPr>
          <p:txBody>
            <a:bodyPr wrap="none" lIns="0" tIns="0" rIns="0" bIns="0" anchor="t" anchorCtr="0">
              <a:spAutoFit/>
            </a:bodyPr>
            <a:lstStyle/>
            <a:p>
              <a:pPr algn="l">
                <a:lnSpc>
                  <a:spcPts val="1500"/>
                </a:lnSpc>
              </a:pPr>
              <a:r>
                <a:rPr lang="tr-TR" sz="1350" b="1" dirty="0">
                  <a:solidFill>
                    <a:srgbClr val="12355B"/>
                  </a:solidFill>
                  <a:latin typeface="+mn-lt"/>
                  <a:ea typeface="+mn-ea"/>
                  <a:cs typeface="+mn-cs"/>
                </a:rPr>
                <a:t>JWT (bu</a:t>
              </a:r>
              <a:br/>
              <a:r>
                <a:rPr lang="tr-TR" sz="1350" b="1" dirty="0">
                  <a:solidFill>
                    <a:srgbClr val="12355B"/>
                  </a:solidFill>
                  <a:latin typeface="+mn-lt"/>
                  <a:ea typeface="+mn-ea"/>
                  <a:cs typeface="+mn-cs"/>
                </a:rPr>
                <a:t>bölümde)</a:t>
              </a:r>
            </a:p>
          </p:txBody>
        </p:sp>
        <p:sp>
          <p:nvSpPr>
            <p:cNvPr id="19" name="TextBox 19"/>
            <p:cNvSpPr txBox="1"/>
            <p:nvPr/>
          </p:nvSpPr>
          <p:spPr>
            <a:xfrm>
              <a:off x="2851404" y="1699260"/>
              <a:ext cx="20162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Durumsuzdur, ölçeklenmesi</a:t>
              </a:r>
              <a:br/>
              <a:r>
                <a:rPr lang="tr-TR" sz="1200" dirty="0">
                  <a:solidFill>
                    <a:srgbClr val="172B3A"/>
                  </a:solidFill>
                  <a:latin typeface="+mn-lt"/>
                  <a:ea typeface="+mn-ea"/>
                  <a:cs typeface="+mn-cs"/>
                </a:rPr>
                <a:t>kolaydır</a:t>
              </a:r>
            </a:p>
          </p:txBody>
        </p:sp>
        <p:sp>
          <p:nvSpPr>
            <p:cNvPr id="20" name="TextBox 20"/>
            <p:cNvSpPr txBox="1"/>
            <p:nvPr/>
          </p:nvSpPr>
          <p:spPr>
            <a:xfrm>
              <a:off x="5861304" y="1699260"/>
              <a:ext cx="16962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İptal etmek ek altyapı</a:t>
              </a:r>
              <a:br/>
              <a:r>
                <a:rPr lang="tr-TR" sz="1200" dirty="0">
                  <a:solidFill>
                    <a:srgbClr val="172B3A"/>
                  </a:solidFill>
                  <a:latin typeface="+mn-lt"/>
                  <a:ea typeface="+mn-ea"/>
                  <a:cs typeface="+mn-cs"/>
                </a:rPr>
                <a:t>gerektirir</a:t>
              </a:r>
            </a:p>
          </p:txBody>
        </p:sp>
        <p:sp>
          <p:nvSpPr>
            <p:cNvPr id="21" name="TextBox 21"/>
            <p:cNvSpPr txBox="1"/>
            <p:nvPr/>
          </p:nvSpPr>
          <p:spPr>
            <a:xfrm>
              <a:off x="8871204" y="1699260"/>
              <a:ext cx="15361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API tabanlı, dağıtık</a:t>
              </a:r>
              <a:br/>
              <a:r>
                <a:rPr lang="tr-TR" sz="1200" dirty="0">
                  <a:solidFill>
                    <a:srgbClr val="172B3A"/>
                  </a:solidFill>
                  <a:latin typeface="+mn-lt"/>
                  <a:ea typeface="+mn-ea"/>
                  <a:cs typeface="+mn-cs"/>
                </a:rPr>
                <a:t>sistemler</a:t>
              </a:r>
            </a:p>
          </p:txBody>
        </p:sp>
        <p:sp>
          <p:nvSpPr>
            <p:cNvPr id="22" name="Line 22"/>
            <p:cNvSpPr/>
            <p:nvPr/>
          </p:nvSpPr>
          <p:spPr>
            <a:xfrm>
              <a:off x="609600" y="22288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0" name="row-session"/>
          <p:cNvGrpSpPr/>
          <p:nvPr/>
        </p:nvGrpSpPr>
        <p:grpSpPr>
          <a:xfrm>
            <a:off x="609600" y="2228850"/>
            <a:ext cx="10972800" cy="638175"/>
            <a:chOff x="609600" y="2228850"/>
            <a:chExt cx="10972800" cy="638175"/>
          </a:xfrm>
        </p:grpSpPr>
        <p:sp>
          <p:nvSpPr>
            <p:cNvPr id="24" name="Rectangle 24"/>
            <p:cNvSpPr/>
            <p:nvPr/>
          </p:nvSpPr>
          <p:spPr>
            <a:xfrm>
              <a:off x="609600" y="2228850"/>
              <a:ext cx="10972800" cy="628650"/>
            </a:xfrm>
            <a:prstGeom prst="rect">
              <a:avLst/>
            </a:prstGeom>
            <a:solidFill>
              <a:srgbClr val="EAF4F6"/>
            </a:solidFill>
            <a:ln>
              <a:noFill/>
            </a:ln>
          </p:spPr>
        </p:sp>
        <p:sp>
          <p:nvSpPr>
            <p:cNvPr id="25" name="TextBox 25"/>
            <p:cNvSpPr txBox="1"/>
            <p:nvPr/>
          </p:nvSpPr>
          <p:spPr>
            <a:xfrm>
              <a:off x="755142" y="2349818"/>
              <a:ext cx="814816" cy="454533"/>
            </a:xfrm>
            <a:prstGeom prst="rect">
              <a:avLst/>
            </a:prstGeom>
            <a:noFill/>
            <a:ln>
              <a:noFill/>
            </a:ln>
          </p:spPr>
          <p:txBody>
            <a:bodyPr wrap="none" lIns="0" tIns="0" rIns="0" bIns="0" anchor="t" anchorCtr="0">
              <a:spAutoFit/>
            </a:bodyPr>
            <a:lstStyle/>
            <a:p>
              <a:pPr algn="l">
                <a:lnSpc>
                  <a:spcPts val="1500"/>
                </a:lnSpc>
              </a:pPr>
              <a:r>
                <a:rPr lang="tr-TR" sz="1350" b="1" dirty="0">
                  <a:solidFill>
                    <a:srgbClr val="12355B"/>
                  </a:solidFill>
                  <a:latin typeface="+mn-lt"/>
                  <a:ea typeface="+mn-ea"/>
                  <a:cs typeface="+mn-cs"/>
                </a:rPr>
                <a:t>Session +</a:t>
              </a:r>
              <a:br/>
              <a:r>
                <a:rPr lang="tr-TR" sz="1350" b="1" dirty="0">
                  <a:solidFill>
                    <a:srgbClr val="12355B"/>
                  </a:solidFill>
                  <a:latin typeface="+mn-lt"/>
                  <a:ea typeface="+mn-ea"/>
                  <a:cs typeface="+mn-cs"/>
                </a:rPr>
                <a:t>çerez</a:t>
              </a:r>
            </a:p>
          </p:txBody>
        </p:sp>
        <p:sp>
          <p:nvSpPr>
            <p:cNvPr id="26" name="TextBox 26"/>
            <p:cNvSpPr txBox="1"/>
            <p:nvPr/>
          </p:nvSpPr>
          <p:spPr>
            <a:xfrm>
              <a:off x="2851404" y="2327910"/>
              <a:ext cx="16276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İptal etmek basittir</a:t>
              </a:r>
              <a:br/>
              <a:r>
                <a:rPr lang="tr-TR" sz="1200" dirty="0">
                  <a:solidFill>
                    <a:srgbClr val="172B3A"/>
                  </a:solidFill>
                  <a:latin typeface="+mn-lt"/>
                  <a:ea typeface="+mn-ea"/>
                  <a:cs typeface="+mn-cs"/>
                </a:rPr>
                <a:t>(sunucu kaydı silinir)</a:t>
              </a:r>
            </a:p>
          </p:txBody>
        </p:sp>
        <p:sp>
          <p:nvSpPr>
            <p:cNvPr id="27" name="TextBox 27"/>
            <p:cNvSpPr txBox="1"/>
            <p:nvPr/>
          </p:nvSpPr>
          <p:spPr>
            <a:xfrm>
              <a:off x="5861304" y="2327910"/>
              <a:ext cx="19019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Paylaşılan oturum deposu</a:t>
              </a:r>
              <a:br/>
              <a:r>
                <a:rPr lang="tr-TR" sz="1200" dirty="0">
                  <a:solidFill>
                    <a:srgbClr val="172B3A"/>
                  </a:solidFill>
                  <a:latin typeface="+mn-lt"/>
                  <a:ea typeface="+mn-ea"/>
                  <a:cs typeface="+mn-cs"/>
                </a:rPr>
                <a:t>gerektirir</a:t>
              </a:r>
            </a:p>
          </p:txBody>
        </p:sp>
        <p:sp>
          <p:nvSpPr>
            <p:cNvPr id="28" name="TextBox 28"/>
            <p:cNvSpPr txBox="1"/>
            <p:nvPr/>
          </p:nvSpPr>
          <p:spPr>
            <a:xfrm>
              <a:off x="8871204" y="2327910"/>
              <a:ext cx="14142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Tek sunuculu klasik</a:t>
              </a:r>
              <a:br/>
              <a:r>
                <a:rPr lang="tr-TR" sz="1200" dirty="0">
                  <a:solidFill>
                    <a:srgbClr val="172B3A"/>
                  </a:solidFill>
                  <a:latin typeface="+mn-lt"/>
                  <a:ea typeface="+mn-ea"/>
                  <a:cs typeface="+mn-cs"/>
                </a:rPr>
                <a:t>web uygulamaları</a:t>
              </a:r>
            </a:p>
          </p:txBody>
        </p:sp>
        <p:sp>
          <p:nvSpPr>
            <p:cNvPr id="29" name="Line 29"/>
            <p:cNvSpPr/>
            <p:nvPr/>
          </p:nvSpPr>
          <p:spPr>
            <a:xfrm>
              <a:off x="609600" y="2857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6" name="row-npm"/>
          <p:cNvGrpSpPr/>
          <p:nvPr/>
        </p:nvGrpSpPr>
        <p:grpSpPr>
          <a:xfrm>
            <a:off x="609600" y="2956560"/>
            <a:ext cx="10972800" cy="539115"/>
            <a:chOff x="609600" y="2956560"/>
            <a:chExt cx="10972800" cy="539115"/>
          </a:xfrm>
        </p:grpSpPr>
        <p:sp>
          <p:nvSpPr>
            <p:cNvPr id="31" name="TextBox 31"/>
            <p:cNvSpPr txBox="1"/>
            <p:nvPr/>
          </p:nvSpPr>
          <p:spPr>
            <a:xfrm>
              <a:off x="755142" y="2978468"/>
              <a:ext cx="1192863" cy="454533"/>
            </a:xfrm>
            <a:prstGeom prst="rect">
              <a:avLst/>
            </a:prstGeom>
            <a:noFill/>
            <a:ln>
              <a:noFill/>
            </a:ln>
          </p:spPr>
          <p:txBody>
            <a:bodyPr wrap="none" lIns="0" tIns="0" rIns="0" bIns="0" anchor="t" anchorCtr="0">
              <a:spAutoFit/>
            </a:bodyPr>
            <a:lstStyle/>
            <a:p>
              <a:pPr algn="l">
                <a:lnSpc>
                  <a:spcPts val="1500"/>
                </a:lnSpc>
              </a:pPr>
              <a:r>
                <a:rPr lang="tr-TR" sz="1350" b="1" dirty="0">
                  <a:solidFill>
                    <a:srgbClr val="12355B"/>
                  </a:solidFill>
                  <a:latin typeface="+mn-lt"/>
                  <a:ea typeface="+mn-ea"/>
                  <a:cs typeface="+mn-cs"/>
                </a:rPr>
                <a:t>jsonwebtoken</a:t>
              </a:r>
              <a:br/>
              <a:r>
                <a:rPr lang="tr-TR" sz="1350" b="1" dirty="0">
                  <a:solidFill>
                    <a:srgbClr val="12355B"/>
                  </a:solidFill>
                  <a:latin typeface="+mn-lt"/>
                  <a:ea typeface="+mn-ea"/>
                  <a:cs typeface="+mn-cs"/>
                </a:rPr>
                <a:t>npm paketi</a:t>
              </a:r>
            </a:p>
          </p:txBody>
        </p:sp>
        <p:sp>
          <p:nvSpPr>
            <p:cNvPr id="32" name="TextBox 32"/>
            <p:cNvSpPr txBox="1"/>
            <p:nvPr/>
          </p:nvSpPr>
          <p:spPr>
            <a:xfrm>
              <a:off x="2851404" y="2956560"/>
              <a:ext cx="19933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Test edilmiş, standartlara</a:t>
              </a:r>
              <a:br/>
              <a:r>
                <a:rPr lang="tr-TR" sz="1200" dirty="0">
                  <a:solidFill>
                    <a:srgbClr val="172B3A"/>
                  </a:solidFill>
                  <a:latin typeface="+mn-lt"/>
                  <a:ea typeface="+mn-ea"/>
                  <a:cs typeface="+mn-cs"/>
                </a:rPr>
                <a:t>uygun, algoritma seçenekli</a:t>
              </a:r>
            </a:p>
          </p:txBody>
        </p:sp>
        <p:sp>
          <p:nvSpPr>
            <p:cNvPr id="33" name="TextBox 33"/>
            <p:cNvSpPr txBox="1"/>
            <p:nvPr/>
          </p:nvSpPr>
          <p:spPr>
            <a:xfrm>
              <a:off x="5861304" y="2994660"/>
              <a:ext cx="153576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Ek bağımlılık ekler</a:t>
              </a:r>
            </a:p>
          </p:txBody>
        </p:sp>
        <p:sp>
          <p:nvSpPr>
            <p:cNvPr id="34" name="TextBox 34"/>
            <p:cNvSpPr txBox="1"/>
            <p:nvPr/>
          </p:nvSpPr>
          <p:spPr>
            <a:xfrm>
              <a:off x="8871204" y="2994660"/>
              <a:ext cx="115644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Üretim ortamı</a:t>
              </a:r>
            </a:p>
          </p:txBody>
        </p:sp>
        <p:sp>
          <p:nvSpPr>
            <p:cNvPr id="35" name="Line 35"/>
            <p:cNvSpPr/>
            <p:nvPr/>
          </p:nvSpPr>
          <p:spPr>
            <a:xfrm>
              <a:off x="609600" y="34861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2" name="row-opaque"/>
          <p:cNvGrpSpPr/>
          <p:nvPr/>
        </p:nvGrpSpPr>
        <p:grpSpPr>
          <a:xfrm>
            <a:off x="609600" y="3486150"/>
            <a:ext cx="10972800" cy="628650"/>
            <a:chOff x="609600" y="3486150"/>
            <a:chExt cx="10972800" cy="628650"/>
          </a:xfrm>
        </p:grpSpPr>
        <p:sp>
          <p:nvSpPr>
            <p:cNvPr id="37" name="Rectangle 37"/>
            <p:cNvSpPr/>
            <p:nvPr/>
          </p:nvSpPr>
          <p:spPr>
            <a:xfrm>
              <a:off x="609600" y="3486150"/>
              <a:ext cx="10972800" cy="628650"/>
            </a:xfrm>
            <a:prstGeom prst="rect">
              <a:avLst/>
            </a:prstGeom>
            <a:solidFill>
              <a:srgbClr val="EAF4F6"/>
            </a:solidFill>
            <a:ln>
              <a:noFill/>
            </a:ln>
          </p:spPr>
        </p:sp>
        <p:sp>
          <p:nvSpPr>
            <p:cNvPr id="38" name="TextBox 38"/>
            <p:cNvSpPr txBox="1"/>
            <p:nvPr/>
          </p:nvSpPr>
          <p:spPr>
            <a:xfrm>
              <a:off x="755142" y="3607118"/>
              <a:ext cx="1147858" cy="454533"/>
            </a:xfrm>
            <a:prstGeom prst="rect">
              <a:avLst/>
            </a:prstGeom>
            <a:noFill/>
            <a:ln>
              <a:noFill/>
            </a:ln>
          </p:spPr>
          <p:txBody>
            <a:bodyPr wrap="none" lIns="0" tIns="0" rIns="0" bIns="0" anchor="t" anchorCtr="0">
              <a:spAutoFit/>
            </a:bodyPr>
            <a:lstStyle/>
            <a:p>
              <a:pPr algn="l">
                <a:lnSpc>
                  <a:spcPts val="1500"/>
                </a:lnSpc>
              </a:pPr>
              <a:r>
                <a:rPr lang="tr-TR" sz="1350" b="1" dirty="0">
                  <a:solidFill>
                    <a:srgbClr val="12355B"/>
                  </a:solidFill>
                  <a:latin typeface="+mn-lt"/>
                  <a:ea typeface="+mn-ea"/>
                  <a:cs typeface="+mn-cs"/>
                </a:rPr>
                <a:t>Opak token +</a:t>
              </a:r>
              <a:br/>
              <a:r>
                <a:rPr lang="tr-TR" sz="1350" b="1" dirty="0">
                  <a:solidFill>
                    <a:srgbClr val="12355B"/>
                  </a:solidFill>
                  <a:latin typeface="+mn-lt"/>
                  <a:ea typeface="+mn-ea"/>
                  <a:cs typeface="+mn-cs"/>
                </a:rPr>
                <a:t>DB sorgusu</a:t>
              </a:r>
            </a:p>
          </p:txBody>
        </p:sp>
        <p:sp>
          <p:nvSpPr>
            <p:cNvPr id="39" name="TextBox 39"/>
            <p:cNvSpPr txBox="1"/>
            <p:nvPr/>
          </p:nvSpPr>
          <p:spPr>
            <a:xfrm>
              <a:off x="2851404" y="3661410"/>
              <a:ext cx="169677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Anında iptal edilebilir</a:t>
              </a:r>
            </a:p>
          </p:txBody>
        </p:sp>
        <p:sp>
          <p:nvSpPr>
            <p:cNvPr id="40" name="TextBox 40"/>
            <p:cNvSpPr txBox="1"/>
            <p:nvPr/>
          </p:nvSpPr>
          <p:spPr>
            <a:xfrm>
              <a:off x="5861304" y="3585210"/>
              <a:ext cx="17038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Her istekte veritabanı</a:t>
              </a:r>
              <a:br/>
              <a:r>
                <a:rPr lang="tr-TR" sz="1200" dirty="0">
                  <a:solidFill>
                    <a:srgbClr val="172B3A"/>
                  </a:solidFill>
                  <a:latin typeface="+mn-lt"/>
                  <a:ea typeface="+mn-ea"/>
                  <a:cs typeface="+mn-cs"/>
                </a:rPr>
                <a:t>sorgusu gerektirir</a:t>
              </a:r>
            </a:p>
          </p:txBody>
        </p:sp>
        <p:sp>
          <p:nvSpPr>
            <p:cNvPr id="41" name="TextBox 41"/>
            <p:cNvSpPr txBox="1"/>
            <p:nvPr/>
          </p:nvSpPr>
          <p:spPr>
            <a:xfrm>
              <a:off x="8871204" y="3585210"/>
              <a:ext cx="17038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Yüksek güvenlik, düşük</a:t>
              </a:r>
              <a:br/>
              <a:r>
                <a:rPr lang="tr-TR" sz="1200" dirty="0">
                  <a:solidFill>
                    <a:srgbClr val="172B3A"/>
                  </a:solidFill>
                  <a:latin typeface="+mn-lt"/>
                  <a:ea typeface="+mn-ea"/>
                  <a:cs typeface="+mn-cs"/>
                </a:rPr>
                <a:t>ölçek gereksinimi</a:t>
              </a:r>
            </a:p>
          </p:txBody>
        </p:sp>
      </p:grpSp>
      <p:grpSp>
        <p:nvGrpSpPr>
          <p:cNvPr id="47" name="common-mistake"/>
          <p:cNvGrpSpPr/>
          <p:nvPr/>
        </p:nvGrpSpPr>
        <p:grpSpPr>
          <a:xfrm>
            <a:off x="609600" y="4400550"/>
            <a:ext cx="8830818" cy="1504950"/>
            <a:chOff x="609600" y="4400550"/>
            <a:chExt cx="8830818" cy="1504950"/>
          </a:xfrm>
        </p:grpSpPr>
        <p:sp>
          <p:nvSpPr>
            <p:cNvPr id="43" name="Rectangle 43"/>
            <p:cNvSpPr/>
            <p:nvPr/>
          </p:nvSpPr>
          <p:spPr>
            <a:xfrm>
              <a:off x="609600" y="4400550"/>
              <a:ext cx="57150" cy="1504950"/>
            </a:xfrm>
            <a:prstGeom prst="rect">
              <a:avLst/>
            </a:prstGeom>
            <a:solidFill>
              <a:srgbClr val="2E86AB"/>
            </a:solidFill>
            <a:ln>
              <a:noFill/>
            </a:ln>
          </p:spPr>
        </p:sp>
        <p:sp>
          <p:nvSpPr>
            <p:cNvPr id="44" name="TextBox 44"/>
            <p:cNvSpPr txBox="1"/>
            <p:nvPr/>
          </p:nvSpPr>
          <p:spPr>
            <a:xfrm>
              <a:off x="905256" y="4511040"/>
              <a:ext cx="537025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Yaygın hata: payload'a hassas veri koymak</a:t>
              </a:r>
            </a:p>
          </p:txBody>
        </p:sp>
        <p:sp>
          <p:nvSpPr>
            <p:cNvPr id="45" name="TextBox 45"/>
            <p:cNvSpPr txBox="1"/>
            <p:nvPr/>
          </p:nvSpPr>
          <p:spPr>
            <a:xfrm>
              <a:off x="908304" y="4899660"/>
              <a:ext cx="695723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{"kullaniciAdi":"elif","parola":"guclu-Parola123"} ← base64url ile herkes okur</a:t>
              </a:r>
            </a:p>
          </p:txBody>
        </p:sp>
        <p:sp>
          <p:nvSpPr>
            <p:cNvPr id="46" name="TextBox 46"/>
            <p:cNvSpPr txBox="1"/>
            <p:nvPr/>
          </p:nvSpPr>
          <p:spPr>
            <a:xfrm>
              <a:off x="906399" y="5221129"/>
              <a:ext cx="853401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JWT payload'ı imzalanmıştır ama şifrelenmemiştir; base64url çözülerek saniyeler</a:t>
              </a:r>
              <a:br/>
              <a:r>
                <a:rPr lang="tr-TR" sz="1580" dirty="0">
                  <a:solidFill>
                    <a:srgbClr val="52616B"/>
                  </a:solidFill>
                  <a:latin typeface="+mn-lt"/>
                  <a:ea typeface="+mn-ea"/>
                  <a:cs typeface="+mn-cs"/>
                </a:rPr>
                <a:t>içinde düz metin okunabilir. Yalnızca kullaniciId, rol gibi minimum alanlar taşınmalıdır.</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5928354" cy="668845"/>
            <a:chOff x="609600" y="171450"/>
            <a:chExt cx="5928354"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523798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Authentication middleware</a:t>
              </a:r>
            </a:p>
          </p:txBody>
        </p:sp>
      </p:grpSp>
      <p:grpSp>
        <p:nvGrpSpPr>
          <p:cNvPr id="13" name="definition"/>
          <p:cNvGrpSpPr/>
          <p:nvPr/>
        </p:nvGrpSpPr>
        <p:grpSpPr>
          <a:xfrm>
            <a:off x="600456" y="1310640"/>
            <a:ext cx="9996678" cy="656844"/>
            <a:chOff x="600456" y="1310640"/>
            <a:chExt cx="9996678" cy="656844"/>
          </a:xfrm>
        </p:grpSpPr>
        <p:sp>
          <p:nvSpPr>
            <p:cNvPr id="12" name="TextBox 12"/>
            <p:cNvSpPr txBox="1"/>
            <p:nvPr/>
          </p:nvSpPr>
          <p:spPr>
            <a:xfrm>
              <a:off x="600456" y="1310640"/>
              <a:ext cx="9996678" cy="656844"/>
            </a:xfrm>
            <a:prstGeom prst="rect">
              <a:avLst/>
            </a:prstGeom>
            <a:noFill/>
            <a:ln>
              <a:noFill/>
            </a:ln>
          </p:spPr>
          <p:txBody>
            <a:bodyPr wrap="none" lIns="0" tIns="0" rIns="0" bIns="0" anchor="t" anchorCtr="0">
              <a:spAutoFit/>
            </a:bodyPr>
            <a:lstStyle/>
            <a:p>
              <a:pPr algn="l">
                <a:lnSpc>
                  <a:spcPts val="2400"/>
                </a:lnSpc>
              </a:pPr>
              <a:r>
                <a:rPr lang="tr-TR" sz="1800" dirty="0">
                  <a:solidFill>
                    <a:srgbClr val="172B3A"/>
                  </a:solidFill>
                  <a:latin typeface="+mn-lt"/>
                  <a:ea typeface="+mn-ea"/>
                  <a:cs typeface="+mn-cs"/>
                </a:rPr>
                <a:t>HTTP isteği route işleyicisine ulaşmadan önce çalışan, Authorization başlığındaki token'ı</a:t>
              </a:r>
              <a:br/>
              <a:r>
                <a:rPr lang="tr-TR" sz="1800" dirty="0">
                  <a:solidFill>
                    <a:srgbClr val="172B3A"/>
                  </a:solidFill>
                  <a:latin typeface="+mn-lt"/>
                  <a:ea typeface="+mn-ea"/>
                  <a:cs typeface="+mn-cs"/>
                </a:rPr>
                <a:t>doğrulayan ve doğrulanan kullanıcıyı isteğe ekleyen bir fonksiyondur.</a:t>
              </a:r>
            </a:p>
          </p:txBody>
        </p:sp>
      </p:grpSp>
      <p:grpSp>
        <p:nvGrpSpPr>
          <p:cNvPr id="26" name="chain-diagram"/>
          <p:cNvGrpSpPr/>
          <p:nvPr/>
        </p:nvGrpSpPr>
        <p:grpSpPr>
          <a:xfrm>
            <a:off x="952500" y="2571750"/>
            <a:ext cx="9144000" cy="2000250"/>
            <a:chOff x="952500" y="2571750"/>
            <a:chExt cx="9144000" cy="2000250"/>
          </a:xfrm>
        </p:grpSpPr>
        <p:sp>
          <p:nvSpPr>
            <p:cNvPr id="14" name="Rectangle 14"/>
            <p:cNvSpPr/>
            <p:nvPr/>
          </p:nvSpPr>
          <p:spPr>
            <a:xfrm>
              <a:off x="952500" y="2762250"/>
              <a:ext cx="1714500" cy="666750"/>
            </a:xfrm>
            <a:prstGeom prst="roundRect">
              <a:avLst>
                <a:gd name="adj" fmla="val 11429"/>
              </a:avLst>
            </a:prstGeom>
            <a:solidFill>
              <a:srgbClr val="FFFFFF"/>
            </a:solidFill>
            <a:ln w="14288">
              <a:solidFill>
                <a:srgbClr val="2E86AB"/>
              </a:solidFill>
            </a:ln>
          </p:spPr>
        </p:sp>
        <p:sp>
          <p:nvSpPr>
            <p:cNvPr id="15" name="TextBox 15"/>
            <p:cNvSpPr txBox="1"/>
            <p:nvPr/>
          </p:nvSpPr>
          <p:spPr>
            <a:xfrm>
              <a:off x="1491188" y="2992279"/>
              <a:ext cx="637125"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İstek</a:t>
              </a:r>
            </a:p>
          </p:txBody>
        </p:sp>
        <p:sp>
          <p:nvSpPr>
            <p:cNvPr id="16" name="Line 16"/>
            <p:cNvSpPr/>
            <p:nvPr/>
          </p:nvSpPr>
          <p:spPr>
            <a:xfrm>
              <a:off x="2667000" y="3095625"/>
              <a:ext cx="914400" cy="1"/>
            </a:xfrm>
            <a:prstGeom prst="line">
              <a:avLst/>
            </a:prstGeom>
            <a:noFill/>
            <a:ln w="23812">
              <a:solidFill>
                <a:srgbClr val="00A6A6"/>
              </a:solidFill>
              <a:tailEnd type="arrow" w="lg" len="lg"/>
            </a:ln>
          </p:spPr>
        </p:sp>
        <p:sp>
          <p:nvSpPr>
            <p:cNvPr id="17" name="Rectangle 17"/>
            <p:cNvSpPr/>
            <p:nvPr/>
          </p:nvSpPr>
          <p:spPr>
            <a:xfrm>
              <a:off x="3619500" y="2571750"/>
              <a:ext cx="2667000" cy="1047750"/>
            </a:xfrm>
            <a:prstGeom prst="roundRect">
              <a:avLst>
                <a:gd name="adj" fmla="val 7273"/>
              </a:avLst>
            </a:prstGeom>
            <a:solidFill>
              <a:srgbClr val="12355B"/>
            </a:solidFill>
            <a:ln>
              <a:noFill/>
            </a:ln>
          </p:spPr>
        </p:sp>
        <p:sp>
          <p:nvSpPr>
            <p:cNvPr id="18" name="TextBox 18"/>
            <p:cNvSpPr txBox="1"/>
            <p:nvPr/>
          </p:nvSpPr>
          <p:spPr>
            <a:xfrm>
              <a:off x="4092896" y="2839879"/>
              <a:ext cx="1720207"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authMiddleware</a:t>
              </a:r>
            </a:p>
          </p:txBody>
        </p:sp>
        <p:sp>
          <p:nvSpPr>
            <p:cNvPr id="19" name="TextBox 19"/>
            <p:cNvSpPr txBox="1"/>
            <p:nvPr/>
          </p:nvSpPr>
          <p:spPr>
            <a:xfrm>
              <a:off x="3606089" y="3147060"/>
              <a:ext cx="2693822"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token'ı doğrular, next() çağırır</a:t>
              </a:r>
            </a:p>
          </p:txBody>
        </p:sp>
        <p:sp>
          <p:nvSpPr>
            <p:cNvPr id="20" name="Line 20"/>
            <p:cNvSpPr/>
            <p:nvPr/>
          </p:nvSpPr>
          <p:spPr>
            <a:xfrm>
              <a:off x="6286500" y="3095625"/>
              <a:ext cx="1104900" cy="1"/>
            </a:xfrm>
            <a:prstGeom prst="line">
              <a:avLst/>
            </a:prstGeom>
            <a:noFill/>
            <a:ln w="23812">
              <a:solidFill>
                <a:srgbClr val="00A6A6"/>
              </a:solidFill>
              <a:tailEnd type="arrow" w="lg" len="lg"/>
            </a:ln>
          </p:spPr>
        </p:sp>
        <p:sp>
          <p:nvSpPr>
            <p:cNvPr id="21" name="Rectangle 21"/>
            <p:cNvSpPr/>
            <p:nvPr/>
          </p:nvSpPr>
          <p:spPr>
            <a:xfrm>
              <a:off x="7429500" y="2762250"/>
              <a:ext cx="2667000" cy="666750"/>
            </a:xfrm>
            <a:prstGeom prst="roundRect">
              <a:avLst>
                <a:gd name="adj" fmla="val 11429"/>
              </a:avLst>
            </a:prstGeom>
            <a:solidFill>
              <a:srgbClr val="FFFFFF"/>
            </a:solidFill>
            <a:ln w="14288">
              <a:solidFill>
                <a:srgbClr val="2E86AB"/>
              </a:solidFill>
            </a:ln>
          </p:spPr>
        </p:sp>
        <p:sp>
          <p:nvSpPr>
            <p:cNvPr id="22" name="TextBox 22"/>
            <p:cNvSpPr txBox="1"/>
            <p:nvPr/>
          </p:nvSpPr>
          <p:spPr>
            <a:xfrm>
              <a:off x="7753659" y="2992279"/>
              <a:ext cx="2018681"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Controller / Route</a:t>
              </a:r>
            </a:p>
          </p:txBody>
        </p:sp>
        <p:sp>
          <p:nvSpPr>
            <p:cNvPr id="23" name="Line 23"/>
            <p:cNvSpPr/>
            <p:nvPr/>
          </p:nvSpPr>
          <p:spPr>
            <a:xfrm>
              <a:off x="4953000" y="3619500"/>
              <a:ext cx="1" cy="342900"/>
            </a:xfrm>
            <a:prstGeom prst="line">
              <a:avLst/>
            </a:prstGeom>
            <a:noFill/>
            <a:ln w="19050">
              <a:solidFill>
                <a:srgbClr val="52616B"/>
              </a:solidFill>
              <a:custDash>
                <a:ds d="300000" sp="200000"/>
              </a:custDash>
              <a:tailEnd type="arrow" w="lg" len="lg"/>
            </a:ln>
          </p:spPr>
        </p:sp>
        <p:sp>
          <p:nvSpPr>
            <p:cNvPr id="24" name="Rectangle 24"/>
            <p:cNvSpPr/>
            <p:nvPr/>
          </p:nvSpPr>
          <p:spPr>
            <a:xfrm>
              <a:off x="3619500" y="4000500"/>
              <a:ext cx="2667000" cy="571500"/>
            </a:xfrm>
            <a:prstGeom prst="roundRect">
              <a:avLst>
                <a:gd name="adj" fmla="val 13333"/>
              </a:avLst>
            </a:prstGeom>
            <a:solidFill>
              <a:srgbClr val="EAF4F6"/>
            </a:solidFill>
            <a:ln w="14288">
              <a:solidFill>
                <a:srgbClr val="52616B"/>
              </a:solidFill>
            </a:ln>
          </p:spPr>
        </p:sp>
        <p:sp>
          <p:nvSpPr>
            <p:cNvPr id="25" name="TextBox 25"/>
            <p:cNvSpPr txBox="1"/>
            <p:nvPr/>
          </p:nvSpPr>
          <p:spPr>
            <a:xfrm>
              <a:off x="3844366" y="4213860"/>
              <a:ext cx="2217268"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401 — next() hiç çağrılmaz</a:t>
              </a:r>
            </a:p>
          </p:txBody>
        </p:sp>
      </p:grpSp>
      <p:grpSp>
        <p:nvGrpSpPr>
          <p:cNvPr id="31" name="theory-box"/>
          <p:cNvGrpSpPr/>
          <p:nvPr/>
        </p:nvGrpSpPr>
        <p:grpSpPr>
          <a:xfrm>
            <a:off x="609600" y="4572000"/>
            <a:ext cx="10972800" cy="1428750"/>
            <a:chOff x="609600" y="4572000"/>
            <a:chExt cx="10972800" cy="1428750"/>
          </a:xfrm>
        </p:grpSpPr>
        <p:sp>
          <p:nvSpPr>
            <p:cNvPr id="27" name="Rectangle 27"/>
            <p:cNvSpPr/>
            <p:nvPr/>
          </p:nvSpPr>
          <p:spPr>
            <a:xfrm>
              <a:off x="609600" y="4572000"/>
              <a:ext cx="10972800" cy="1428750"/>
            </a:xfrm>
            <a:prstGeom prst="roundRect">
              <a:avLst>
                <a:gd name="adj" fmla="val 5333"/>
              </a:avLst>
            </a:prstGeom>
            <a:solidFill>
              <a:srgbClr val="EAF4F6"/>
            </a:solidFill>
            <a:ln>
              <a:noFill/>
            </a:ln>
          </p:spPr>
        </p:sp>
        <p:sp>
          <p:nvSpPr>
            <p:cNvPr id="28" name="TextBox 28"/>
            <p:cNvSpPr txBox="1"/>
            <p:nvPr/>
          </p:nvSpPr>
          <p:spPr>
            <a:xfrm>
              <a:off x="906399" y="4706779"/>
              <a:ext cx="484151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Chain of Responsibility (Gang of Four, 1994)</a:t>
              </a:r>
            </a:p>
          </p:txBody>
        </p:sp>
        <p:sp>
          <p:nvSpPr>
            <p:cNvPr id="29" name="TextBox 29"/>
            <p:cNvSpPr txBox="1"/>
            <p:nvPr/>
          </p:nvSpPr>
          <p:spPr>
            <a:xfrm>
              <a:off x="906399" y="5011579"/>
              <a:ext cx="9246362"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Middleware kavramının mimari kökenidir: istek sırayla işleyicilerden geçer, her işleyici isteği</a:t>
              </a:r>
              <a:br/>
              <a:r>
                <a:rPr lang="tr-TR" sz="1580" dirty="0">
                  <a:solidFill>
                    <a:srgbClr val="172B3A"/>
                  </a:solidFill>
                  <a:latin typeface="+mn-lt"/>
                  <a:ea typeface="+mn-ea"/>
                  <a:cs typeface="+mn-cs"/>
                </a:rPr>
                <a:t>işler ya da bir sonraki halkaya devreder. Express bu deseni Node.js'e taşımıştır.</a:t>
              </a:r>
            </a:p>
          </p:txBody>
        </p:sp>
        <p:sp>
          <p:nvSpPr>
            <p:cNvPr id="30" name="TextBox 30"/>
            <p:cNvSpPr txBox="1"/>
            <p:nvPr/>
          </p:nvSpPr>
          <p:spPr>
            <a:xfrm>
              <a:off x="908304" y="5642610"/>
              <a:ext cx="870628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Middleware ince tutulmalıdır: yalnızca kimlik doğrulama yapar, rol kararı (RBAC) ayrı bir halkaya bırakılır.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53904" y="309562"/>
                <a:ext cx="206693" cy="280512"/>
                <a:chOff x="753904" y="309562"/>
                <a:chExt cx="206693" cy="280512"/>
              </a:xfrm>
            </p:grpSpPr>
            <p:sp>
              <p:nvSpPr>
                <p:cNvPr id="5" name="Freeform 5"/>
                <p:cNvSpPr/>
                <p:nvPr/>
              </p:nvSpPr>
              <p:spPr>
                <a:xfrm>
                  <a:off x="7539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424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7981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61872" y="282892"/>
              <a:ext cx="10291057"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Kod 10.4 · Express tarzı authentication middleware</a:t>
              </a:r>
            </a:p>
          </p:txBody>
        </p:sp>
      </p:grpSp>
      <p:grpSp>
        <p:nvGrpSpPr>
          <p:cNvPr id="28" name="code-panel"/>
          <p:cNvGrpSpPr/>
          <p:nvPr/>
        </p:nvGrpSpPr>
        <p:grpSpPr>
          <a:xfrm>
            <a:off x="571500" y="1295400"/>
            <a:ext cx="6477000" cy="3905250"/>
            <a:chOff x="571500" y="1295400"/>
            <a:chExt cx="6477000" cy="3905250"/>
          </a:xfrm>
        </p:grpSpPr>
        <p:sp>
          <p:nvSpPr>
            <p:cNvPr id="12" name="Rectangle 12"/>
            <p:cNvSpPr/>
            <p:nvPr/>
          </p:nvSpPr>
          <p:spPr>
            <a:xfrm>
              <a:off x="571500" y="1295400"/>
              <a:ext cx="6477000" cy="3905250"/>
            </a:xfrm>
            <a:prstGeom prst="rect">
              <a:avLst/>
            </a:prstGeom>
            <a:solidFill>
              <a:srgbClr val="12355B"/>
            </a:solidFill>
            <a:ln>
              <a:noFill/>
            </a:ln>
          </p:spPr>
        </p:sp>
        <p:sp>
          <p:nvSpPr>
            <p:cNvPr id="13" name="TextBox 13"/>
            <p:cNvSpPr txBox="1"/>
            <p:nvPr/>
          </p:nvSpPr>
          <p:spPr>
            <a:xfrm>
              <a:off x="793623" y="1500664"/>
              <a:ext cx="4295821"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function authMiddleware(istek: KimlikliIstek,</a:t>
              </a:r>
            </a:p>
          </p:txBody>
        </p:sp>
        <p:sp>
          <p:nvSpPr>
            <p:cNvPr id="14" name="TextBox 14"/>
            <p:cNvSpPr txBox="1"/>
            <p:nvPr/>
          </p:nvSpPr>
          <p:spPr>
            <a:xfrm>
              <a:off x="1031748" y="1729264"/>
              <a:ext cx="4200427"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yanit: BasitYanit, next: () =&gt; void): void {</a:t>
              </a:r>
            </a:p>
          </p:txBody>
        </p:sp>
        <p:sp>
          <p:nvSpPr>
            <p:cNvPr id="15" name="TextBox 15"/>
            <p:cNvSpPr txBox="1"/>
            <p:nvPr/>
          </p:nvSpPr>
          <p:spPr>
            <a:xfrm>
              <a:off x="1031748" y="1957864"/>
              <a:ext cx="4088171"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const baslik = istek.headers.authorization;</a:t>
              </a:r>
            </a:p>
          </p:txBody>
        </p:sp>
        <p:sp>
          <p:nvSpPr>
            <p:cNvPr id="16" name="TextBox 16"/>
            <p:cNvSpPr txBox="1"/>
            <p:nvPr/>
          </p:nvSpPr>
          <p:spPr>
            <a:xfrm>
              <a:off x="1031748" y="2262664"/>
              <a:ext cx="4484069"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if (!baslik || !baslik.startsWith("Bearer ")) {</a:t>
              </a:r>
            </a:p>
          </p:txBody>
        </p:sp>
        <p:sp>
          <p:nvSpPr>
            <p:cNvPr id="17" name="TextBox 17"/>
            <p:cNvSpPr txBox="1"/>
            <p:nvPr/>
          </p:nvSpPr>
          <p:spPr>
            <a:xfrm>
              <a:off x="1269873" y="2491264"/>
              <a:ext cx="4476599"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yanit.durum(401).json({ mesaj: "Token yok." });</a:t>
              </a:r>
            </a:p>
          </p:txBody>
        </p:sp>
        <p:sp>
          <p:nvSpPr>
            <p:cNvPr id="18" name="TextBox 18"/>
            <p:cNvSpPr txBox="1"/>
            <p:nvPr/>
          </p:nvSpPr>
          <p:spPr>
            <a:xfrm>
              <a:off x="1269873" y="2719864"/>
              <a:ext cx="676361"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return;</a:t>
              </a:r>
            </a:p>
          </p:txBody>
        </p:sp>
        <p:sp>
          <p:nvSpPr>
            <p:cNvPr id="19" name="TextBox 19"/>
            <p:cNvSpPr txBox="1"/>
            <p:nvPr/>
          </p:nvSpPr>
          <p:spPr>
            <a:xfrm>
              <a:off x="1031748" y="2948464"/>
              <a:ext cx="107726"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a:t>
              </a:r>
            </a:p>
          </p:txBody>
        </p:sp>
        <p:sp>
          <p:nvSpPr>
            <p:cNvPr id="20" name="TextBox 20"/>
            <p:cNvSpPr txBox="1"/>
            <p:nvPr/>
          </p:nvSpPr>
          <p:spPr>
            <a:xfrm>
              <a:off x="1031748" y="3253264"/>
              <a:ext cx="4191082"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const token = baslik.replace("Bearer ", "");</a:t>
              </a:r>
            </a:p>
          </p:txBody>
        </p:sp>
        <p:sp>
          <p:nvSpPr>
            <p:cNvPr id="21" name="TextBox 21"/>
            <p:cNvSpPr txBox="1"/>
            <p:nvPr/>
          </p:nvSpPr>
          <p:spPr>
            <a:xfrm>
              <a:off x="1031748" y="3558064"/>
              <a:ext cx="486816"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try {</a:t>
              </a:r>
            </a:p>
          </p:txBody>
        </p:sp>
        <p:sp>
          <p:nvSpPr>
            <p:cNvPr id="22" name="TextBox 22"/>
            <p:cNvSpPr txBox="1"/>
            <p:nvPr/>
          </p:nvSpPr>
          <p:spPr>
            <a:xfrm>
              <a:off x="1269873" y="3786664"/>
              <a:ext cx="5250028"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istek.kullanici = tokenDogrulaVeKullaniciDondur(token);</a:t>
              </a:r>
            </a:p>
          </p:txBody>
        </p:sp>
        <p:sp>
          <p:nvSpPr>
            <p:cNvPr id="23" name="TextBox 23"/>
            <p:cNvSpPr txBox="1"/>
            <p:nvPr/>
          </p:nvSpPr>
          <p:spPr>
            <a:xfrm>
              <a:off x="1269873" y="4015264"/>
              <a:ext cx="676361"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next();</a:t>
              </a:r>
            </a:p>
          </p:txBody>
        </p:sp>
        <p:sp>
          <p:nvSpPr>
            <p:cNvPr id="24" name="TextBox 24"/>
            <p:cNvSpPr txBox="1"/>
            <p:nvPr/>
          </p:nvSpPr>
          <p:spPr>
            <a:xfrm>
              <a:off x="1031748" y="4243864"/>
              <a:ext cx="865906"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 catch {</a:t>
              </a:r>
            </a:p>
          </p:txBody>
        </p:sp>
        <p:sp>
          <p:nvSpPr>
            <p:cNvPr id="25" name="TextBox 25"/>
            <p:cNvSpPr txBox="1"/>
            <p:nvPr/>
          </p:nvSpPr>
          <p:spPr>
            <a:xfrm>
              <a:off x="1269873" y="4472464"/>
              <a:ext cx="4949840"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yanit.durum(401).json({ mesaj: "Token geçersiz." });</a:t>
              </a:r>
            </a:p>
          </p:txBody>
        </p:sp>
        <p:sp>
          <p:nvSpPr>
            <p:cNvPr id="26" name="TextBox 26"/>
            <p:cNvSpPr txBox="1"/>
            <p:nvPr/>
          </p:nvSpPr>
          <p:spPr>
            <a:xfrm>
              <a:off x="1031748" y="4701064"/>
              <a:ext cx="107726"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a:t>
              </a:r>
            </a:p>
          </p:txBody>
        </p:sp>
        <p:sp>
          <p:nvSpPr>
            <p:cNvPr id="27" name="TextBox 27"/>
            <p:cNvSpPr txBox="1"/>
            <p:nvPr/>
          </p:nvSpPr>
          <p:spPr>
            <a:xfrm>
              <a:off x="793623" y="4929664"/>
              <a:ext cx="107726"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a:t>
              </a:r>
            </a:p>
          </p:txBody>
        </p:sp>
      </p:grpSp>
      <p:grpSp>
        <p:nvGrpSpPr>
          <p:cNvPr id="31" name="code-purpose"/>
          <p:cNvGrpSpPr/>
          <p:nvPr/>
        </p:nvGrpSpPr>
        <p:grpSpPr>
          <a:xfrm>
            <a:off x="7267194" y="1237298"/>
            <a:ext cx="3730117" cy="1205769"/>
            <a:chOff x="7267194" y="1237298"/>
            <a:chExt cx="3730117" cy="1205769"/>
          </a:xfrm>
        </p:grpSpPr>
        <p:sp>
          <p:nvSpPr>
            <p:cNvPr id="29" name="TextBox 29"/>
            <p:cNvSpPr txBox="1"/>
            <p:nvPr/>
          </p:nvSpPr>
          <p:spPr>
            <a:xfrm>
              <a:off x="7267194" y="1237298"/>
              <a:ext cx="168298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Kodun amacı</a:t>
              </a:r>
            </a:p>
          </p:txBody>
        </p:sp>
        <p:sp>
          <p:nvSpPr>
            <p:cNvPr id="30" name="TextBox 30"/>
            <p:cNvSpPr txBox="1"/>
            <p:nvPr/>
          </p:nvSpPr>
          <p:spPr>
            <a:xfrm>
              <a:off x="7269099" y="1601629"/>
              <a:ext cx="3728212"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Bearer token'ı başlıktan alıp</a:t>
              </a:r>
              <a:br/>
              <a:r>
                <a:rPr lang="tr-TR" sz="1580" dirty="0">
                  <a:solidFill>
                    <a:srgbClr val="172B3A"/>
                  </a:solidFill>
                  <a:latin typeface="+mn-lt"/>
                  <a:ea typeface="+mn-ea"/>
                  <a:cs typeface="+mn-cs"/>
                </a:rPr>
                <a:t>doğrulamayı ve next() ile bir</a:t>
              </a:r>
              <a:br/>
              <a:r>
                <a:rPr lang="tr-TR" sz="1580" dirty="0">
                  <a:solidFill>
                    <a:srgbClr val="172B3A"/>
                  </a:solidFill>
                  <a:latin typeface="+mn-lt"/>
                  <a:ea typeface="+mn-ea"/>
                  <a:cs typeface="+mn-cs"/>
                </a:rPr>
                <a:t>sonraki işleyiciye geçmeyi göstermek.</a:t>
              </a:r>
            </a:p>
          </p:txBody>
        </p:sp>
      </p:grpSp>
      <p:grpSp>
        <p:nvGrpSpPr>
          <p:cNvPr id="35" name="code-critical"/>
          <p:cNvGrpSpPr/>
          <p:nvPr/>
        </p:nvGrpSpPr>
        <p:grpSpPr>
          <a:xfrm>
            <a:off x="7267194" y="2570798"/>
            <a:ext cx="3300222" cy="1363408"/>
            <a:chOff x="7267194" y="2570798"/>
            <a:chExt cx="3300222" cy="1363408"/>
          </a:xfrm>
        </p:grpSpPr>
        <p:sp>
          <p:nvSpPr>
            <p:cNvPr id="32" name="TextBox 32"/>
            <p:cNvSpPr txBox="1"/>
            <p:nvPr/>
          </p:nvSpPr>
          <p:spPr>
            <a:xfrm>
              <a:off x="7267194" y="2570798"/>
              <a:ext cx="2026241"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Kritik satırlar</a:t>
              </a:r>
            </a:p>
          </p:txBody>
        </p:sp>
        <p:sp>
          <p:nvSpPr>
            <p:cNvPr id="33" name="TextBox 33"/>
            <p:cNvSpPr txBox="1"/>
            <p:nvPr/>
          </p:nvSpPr>
          <p:spPr>
            <a:xfrm>
              <a:off x="7271004" y="2937510"/>
              <a:ext cx="32964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1. startsWith("Bearer ") kontrolü başlığın</a:t>
              </a:r>
              <a:br/>
              <a:r>
                <a:rPr lang="tr-TR" sz="1200" dirty="0">
                  <a:solidFill>
                    <a:srgbClr val="172B3A"/>
                  </a:solidFill>
                  <a:latin typeface="+mn-lt"/>
                  <a:ea typeface="+mn-ea"/>
                  <a:cs typeface="+mn-cs"/>
                </a:rPr>
                <a:t>biçimini denetler; yoksa 401 ile durur.</a:t>
              </a:r>
            </a:p>
          </p:txBody>
        </p:sp>
        <p:sp>
          <p:nvSpPr>
            <p:cNvPr id="34" name="TextBox 34"/>
            <p:cNvSpPr txBox="1"/>
            <p:nvPr/>
          </p:nvSpPr>
          <p:spPr>
            <a:xfrm>
              <a:off x="7271004" y="3489960"/>
              <a:ext cx="31440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2. Token geçersizse catch bloğu 401 döner</a:t>
              </a:r>
              <a:br/>
              <a:r>
                <a:rPr lang="tr-TR" sz="1200" dirty="0">
                  <a:solidFill>
                    <a:srgbClr val="172B3A"/>
                  </a:solidFill>
                  <a:latin typeface="+mn-lt"/>
                  <a:ea typeface="+mn-ea"/>
                  <a:cs typeface="+mn-cs"/>
                </a:rPr>
                <a:t>ve next() hiç çağrılmaz.</a:t>
              </a:r>
            </a:p>
          </p:txBody>
        </p:sp>
      </p:grpSp>
      <p:grpSp>
        <p:nvGrpSpPr>
          <p:cNvPr id="39" name="code-caution"/>
          <p:cNvGrpSpPr/>
          <p:nvPr/>
        </p:nvGrpSpPr>
        <p:grpSpPr>
          <a:xfrm>
            <a:off x="7277100" y="4381500"/>
            <a:ext cx="3564636" cy="1000506"/>
            <a:chOff x="7277100" y="4381500"/>
            <a:chExt cx="3564636" cy="1000506"/>
          </a:xfrm>
        </p:grpSpPr>
        <p:sp>
          <p:nvSpPr>
            <p:cNvPr id="36" name="Rectangle 36"/>
            <p:cNvSpPr/>
            <p:nvPr/>
          </p:nvSpPr>
          <p:spPr>
            <a:xfrm>
              <a:off x="7277100" y="4381500"/>
              <a:ext cx="57150" cy="819150"/>
            </a:xfrm>
            <a:prstGeom prst="rect">
              <a:avLst/>
            </a:prstGeom>
            <a:solidFill>
              <a:srgbClr val="2E86AB"/>
            </a:solidFill>
            <a:ln>
              <a:noFill/>
            </a:ln>
          </p:spPr>
        </p:sp>
        <p:sp>
          <p:nvSpPr>
            <p:cNvPr id="37" name="TextBox 37"/>
            <p:cNvSpPr txBox="1"/>
            <p:nvPr/>
          </p:nvSpPr>
          <p:spPr>
            <a:xfrm>
              <a:off x="7499604" y="448056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Dikkat noktası</a:t>
              </a:r>
            </a:p>
          </p:txBody>
        </p:sp>
        <p:sp>
          <p:nvSpPr>
            <p:cNvPr id="38" name="TextBox 38"/>
            <p:cNvSpPr txBox="1"/>
            <p:nvPr/>
          </p:nvSpPr>
          <p:spPr>
            <a:xfrm>
              <a:off x="7499604" y="4728210"/>
              <a:ext cx="33421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Bu middleware yalnızca kimlik doğrular,</a:t>
              </a:r>
              <a:br/>
              <a:r>
                <a:rPr lang="tr-TR" sz="1200" dirty="0">
                  <a:solidFill>
                    <a:srgbClr val="52616B"/>
                  </a:solidFill>
                  <a:latin typeface="+mn-lt"/>
                  <a:ea typeface="+mn-ea"/>
                  <a:cs typeface="+mn-cs"/>
                </a:rPr>
                <a:t>rol kontrolü içermez; requireRole gibi</a:t>
              </a:r>
              <a:br/>
              <a:r>
                <a:rPr lang="tr-TR" sz="1200" dirty="0">
                  <a:solidFill>
                    <a:srgbClr val="52616B"/>
                  </a:solidFill>
                  <a:latin typeface="+mn-lt"/>
                  <a:ea typeface="+mn-ea"/>
                  <a:cs typeface="+mn-cs"/>
                </a:rPr>
                <a:t>ayrı bir authorization middleware'i gerekir.</a:t>
              </a:r>
            </a:p>
          </p:txBody>
        </p:sp>
      </p:grpSp>
      <p:grpSp>
        <p:nvGrpSpPr>
          <p:cNvPr id="41" name="code-takeaway"/>
          <p:cNvGrpSpPr/>
          <p:nvPr/>
        </p:nvGrpSpPr>
        <p:grpSpPr>
          <a:xfrm>
            <a:off x="563499" y="5678329"/>
            <a:ext cx="8794877" cy="574738"/>
            <a:chOff x="563499" y="5678329"/>
            <a:chExt cx="8794877" cy="574738"/>
          </a:xfrm>
        </p:grpSpPr>
        <p:sp>
          <p:nvSpPr>
            <p:cNvPr id="40" name="TextBox 40"/>
            <p:cNvSpPr txBox="1"/>
            <p:nvPr/>
          </p:nvSpPr>
          <p:spPr>
            <a:xfrm>
              <a:off x="563499" y="5678329"/>
              <a:ext cx="8794877"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Doğrulama başarılıysa istek.kullanici alanı doldurulur; böylece sonraki middleware/route</a:t>
              </a:r>
              <a:br/>
              <a:r>
                <a:rPr lang="tr-TR" sz="1580" dirty="0">
                  <a:solidFill>
                    <a:srgbClr val="172B3A"/>
                  </a:solidFill>
                  <a:latin typeface="+mn-lt"/>
                  <a:ea typeface="+mn-ea"/>
                  <a:cs typeface="+mn-cs"/>
                </a:rPr>
                <a:t>kullanıcı bilgisine erişebilir.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914313" cy="668845"/>
            <a:chOff x="609600" y="171450"/>
            <a:chExt cx="691431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622394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RBAC: rol tabanlı yetkilendirme</a:t>
              </a:r>
            </a:p>
          </p:txBody>
        </p:sp>
      </p:grpSp>
      <p:grpSp>
        <p:nvGrpSpPr>
          <p:cNvPr id="13" name="definition"/>
          <p:cNvGrpSpPr/>
          <p:nvPr/>
        </p:nvGrpSpPr>
        <p:grpSpPr>
          <a:xfrm>
            <a:off x="600456" y="1310640"/>
            <a:ext cx="10499598" cy="656844"/>
            <a:chOff x="600456" y="1310640"/>
            <a:chExt cx="10499598" cy="656844"/>
          </a:xfrm>
        </p:grpSpPr>
        <p:sp>
          <p:nvSpPr>
            <p:cNvPr id="12" name="TextBox 12"/>
            <p:cNvSpPr txBox="1"/>
            <p:nvPr/>
          </p:nvSpPr>
          <p:spPr>
            <a:xfrm>
              <a:off x="600456" y="1310640"/>
              <a:ext cx="10499598" cy="656844"/>
            </a:xfrm>
            <a:prstGeom prst="rect">
              <a:avLst/>
            </a:prstGeom>
            <a:noFill/>
            <a:ln>
              <a:noFill/>
            </a:ln>
          </p:spPr>
          <p:txBody>
            <a:bodyPr wrap="none" lIns="0" tIns="0" rIns="0" bIns="0" anchor="t" anchorCtr="0">
              <a:spAutoFit/>
            </a:bodyPr>
            <a:lstStyle/>
            <a:p>
              <a:pPr algn="l">
                <a:lnSpc>
                  <a:spcPts val="2400"/>
                </a:lnSpc>
              </a:pPr>
              <a:r>
                <a:rPr lang="tr-TR" sz="1800" dirty="0">
                  <a:solidFill>
                    <a:srgbClr val="172B3A"/>
                  </a:solidFill>
                  <a:latin typeface="+mn-lt"/>
                  <a:ea typeface="+mn-ea"/>
                  <a:cs typeface="+mn-cs"/>
                </a:rPr>
                <a:t>Kullanıcılara doğrudan izin atamak yerine roller tanımlayan ve kullanıcıları bu rollere atayan</a:t>
              </a:r>
              <a:br/>
              <a:r>
                <a:rPr lang="tr-TR" sz="1800" dirty="0">
                  <a:solidFill>
                    <a:srgbClr val="172B3A"/>
                  </a:solidFill>
                  <a:latin typeface="+mn-lt"/>
                  <a:ea typeface="+mn-ea"/>
                  <a:cs typeface="+mn-cs"/>
                </a:rPr>
                <a:t>bir yetkilendirme modelidir; her rol belirli işlemleri yapma iznine sahiptir.</a:t>
              </a:r>
            </a:p>
          </p:txBody>
        </p:sp>
      </p:grpSp>
      <p:grpSp>
        <p:nvGrpSpPr>
          <p:cNvPr id="31" name="direct-assignment"/>
          <p:cNvGrpSpPr/>
          <p:nvPr/>
        </p:nvGrpSpPr>
        <p:grpSpPr>
          <a:xfrm>
            <a:off x="601599" y="2268379"/>
            <a:ext cx="4732401" cy="1751171"/>
            <a:chOff x="601599" y="2268379"/>
            <a:chExt cx="4732401" cy="1751171"/>
          </a:xfrm>
        </p:grpSpPr>
        <p:sp>
          <p:nvSpPr>
            <p:cNvPr id="14" name="TextBox 14"/>
            <p:cNvSpPr txBox="1"/>
            <p:nvPr/>
          </p:nvSpPr>
          <p:spPr>
            <a:xfrm>
              <a:off x="601599" y="2268379"/>
              <a:ext cx="317350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Doğrudan atama (n × m ilişki)</a:t>
              </a:r>
            </a:p>
          </p:txBody>
        </p:sp>
        <p:sp>
          <p:nvSpPr>
            <p:cNvPr id="15" name="Rectangle 15"/>
            <p:cNvSpPr/>
            <p:nvPr/>
          </p:nvSpPr>
          <p:spPr>
            <a:xfrm>
              <a:off x="762000" y="2705100"/>
              <a:ext cx="1143000" cy="323850"/>
            </a:xfrm>
            <a:prstGeom prst="roundRect">
              <a:avLst>
                <a:gd name="adj" fmla="val 17647"/>
              </a:avLst>
            </a:prstGeom>
            <a:solidFill>
              <a:srgbClr val="FFFFFF"/>
            </a:solidFill>
            <a:ln w="14288">
              <a:solidFill>
                <a:srgbClr val="B8CBD3"/>
              </a:solidFill>
            </a:ln>
          </p:spPr>
        </p:sp>
        <p:sp>
          <p:nvSpPr>
            <p:cNvPr id="16" name="TextBox 16"/>
            <p:cNvSpPr txBox="1"/>
            <p:nvPr/>
          </p:nvSpPr>
          <p:spPr>
            <a:xfrm>
              <a:off x="1208018" y="2801302"/>
              <a:ext cx="250965"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elif</a:t>
              </a:r>
            </a:p>
          </p:txBody>
        </p:sp>
        <p:sp>
          <p:nvSpPr>
            <p:cNvPr id="17" name="Rectangle 17"/>
            <p:cNvSpPr/>
            <p:nvPr/>
          </p:nvSpPr>
          <p:spPr>
            <a:xfrm>
              <a:off x="762000" y="3200400"/>
              <a:ext cx="1143000" cy="323850"/>
            </a:xfrm>
            <a:prstGeom prst="roundRect">
              <a:avLst>
                <a:gd name="adj" fmla="val 17647"/>
              </a:avLst>
            </a:prstGeom>
            <a:solidFill>
              <a:srgbClr val="FFFFFF"/>
            </a:solidFill>
            <a:ln w="14288">
              <a:solidFill>
                <a:srgbClr val="B8CBD3"/>
              </a:solidFill>
            </a:ln>
          </p:spPr>
        </p:sp>
        <p:sp>
          <p:nvSpPr>
            <p:cNvPr id="18" name="TextBox 18"/>
            <p:cNvSpPr txBox="1"/>
            <p:nvPr/>
          </p:nvSpPr>
          <p:spPr>
            <a:xfrm>
              <a:off x="1246889" y="3296602"/>
              <a:ext cx="173222"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ali</a:t>
              </a:r>
            </a:p>
          </p:txBody>
        </p:sp>
        <p:sp>
          <p:nvSpPr>
            <p:cNvPr id="19" name="Rectangle 19"/>
            <p:cNvSpPr/>
            <p:nvPr/>
          </p:nvSpPr>
          <p:spPr>
            <a:xfrm>
              <a:off x="762000" y="3695700"/>
              <a:ext cx="1143000" cy="323850"/>
            </a:xfrm>
            <a:prstGeom prst="roundRect">
              <a:avLst>
                <a:gd name="adj" fmla="val 17647"/>
              </a:avLst>
            </a:prstGeom>
            <a:solidFill>
              <a:srgbClr val="FFFFFF"/>
            </a:solidFill>
            <a:ln w="14288">
              <a:solidFill>
                <a:srgbClr val="B8CBD3"/>
              </a:solidFill>
            </a:ln>
          </p:spPr>
        </p:sp>
        <p:sp>
          <p:nvSpPr>
            <p:cNvPr id="20" name="TextBox 20"/>
            <p:cNvSpPr txBox="1"/>
            <p:nvPr/>
          </p:nvSpPr>
          <p:spPr>
            <a:xfrm>
              <a:off x="1059599" y="3791902"/>
              <a:ext cx="547802"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yasemin</a:t>
              </a:r>
            </a:p>
          </p:txBody>
        </p:sp>
        <p:sp>
          <p:nvSpPr>
            <p:cNvPr id="21" name="Rectangle 21"/>
            <p:cNvSpPr/>
            <p:nvPr/>
          </p:nvSpPr>
          <p:spPr>
            <a:xfrm>
              <a:off x="4000500" y="2705100"/>
              <a:ext cx="1333500" cy="323850"/>
            </a:xfrm>
            <a:prstGeom prst="roundRect">
              <a:avLst>
                <a:gd name="adj" fmla="val 17647"/>
              </a:avLst>
            </a:prstGeom>
            <a:solidFill>
              <a:srgbClr val="FFFFFF"/>
            </a:solidFill>
            <a:ln w="14288">
              <a:solidFill>
                <a:srgbClr val="B8CBD3"/>
              </a:solidFill>
            </a:ln>
          </p:spPr>
        </p:sp>
        <p:sp>
          <p:nvSpPr>
            <p:cNvPr id="22" name="TextBox 22"/>
            <p:cNvSpPr txBox="1"/>
            <p:nvPr/>
          </p:nvSpPr>
          <p:spPr>
            <a:xfrm>
              <a:off x="4114181" y="2801302"/>
              <a:ext cx="1106138"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kayıt görüntüle</a:t>
              </a:r>
            </a:p>
          </p:txBody>
        </p:sp>
        <p:sp>
          <p:nvSpPr>
            <p:cNvPr id="23" name="Rectangle 23"/>
            <p:cNvSpPr/>
            <p:nvPr/>
          </p:nvSpPr>
          <p:spPr>
            <a:xfrm>
              <a:off x="4000500" y="3695700"/>
              <a:ext cx="1333500" cy="323850"/>
            </a:xfrm>
            <a:prstGeom prst="roundRect">
              <a:avLst>
                <a:gd name="adj" fmla="val 17647"/>
              </a:avLst>
            </a:prstGeom>
            <a:solidFill>
              <a:srgbClr val="FFFFFF"/>
            </a:solidFill>
            <a:ln w="14288">
              <a:solidFill>
                <a:srgbClr val="B8CBD3"/>
              </a:solidFill>
            </a:ln>
          </p:spPr>
        </p:sp>
        <p:sp>
          <p:nvSpPr>
            <p:cNvPr id="24" name="TextBox 24"/>
            <p:cNvSpPr txBox="1"/>
            <p:nvPr/>
          </p:nvSpPr>
          <p:spPr>
            <a:xfrm>
              <a:off x="4206059" y="3791902"/>
              <a:ext cx="922382"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kitap ekle/sil</a:t>
              </a:r>
            </a:p>
          </p:txBody>
        </p:sp>
        <p:sp>
          <p:nvSpPr>
            <p:cNvPr id="25" name="Line 25"/>
            <p:cNvSpPr/>
            <p:nvPr/>
          </p:nvSpPr>
          <p:spPr>
            <a:xfrm>
              <a:off x="1905000" y="2867025"/>
              <a:ext cx="2057400" cy="1"/>
            </a:xfrm>
            <a:prstGeom prst="line">
              <a:avLst/>
            </a:prstGeom>
            <a:noFill/>
            <a:ln w="13335">
              <a:solidFill>
                <a:srgbClr val="52616B"/>
              </a:solidFill>
              <a:tailEnd type="arrow" w="lg" len="lg"/>
            </a:ln>
          </p:spPr>
        </p:sp>
        <p:sp>
          <p:nvSpPr>
            <p:cNvPr id="26" name="Line 26"/>
            <p:cNvSpPr/>
            <p:nvPr/>
          </p:nvSpPr>
          <p:spPr>
            <a:xfrm>
              <a:off x="1905000" y="2867025"/>
              <a:ext cx="2057400" cy="990600"/>
            </a:xfrm>
            <a:prstGeom prst="line">
              <a:avLst/>
            </a:prstGeom>
            <a:noFill/>
            <a:ln w="13335">
              <a:solidFill>
                <a:srgbClr val="52616B"/>
              </a:solidFill>
              <a:tailEnd type="arrow" w="lg" len="lg"/>
            </a:ln>
          </p:spPr>
        </p:sp>
        <p:sp>
          <p:nvSpPr>
            <p:cNvPr id="27" name="Line 27"/>
            <p:cNvSpPr/>
            <p:nvPr/>
          </p:nvSpPr>
          <p:spPr>
            <a:xfrm flipV="1">
              <a:off x="1905000" y="2867025"/>
              <a:ext cx="2057400" cy="495300"/>
            </a:xfrm>
            <a:prstGeom prst="line">
              <a:avLst/>
            </a:prstGeom>
            <a:noFill/>
            <a:ln w="13335">
              <a:solidFill>
                <a:srgbClr val="52616B"/>
              </a:solidFill>
              <a:tailEnd type="arrow" w="lg" len="lg"/>
            </a:ln>
          </p:spPr>
        </p:sp>
        <p:sp>
          <p:nvSpPr>
            <p:cNvPr id="28" name="Line 28"/>
            <p:cNvSpPr/>
            <p:nvPr/>
          </p:nvSpPr>
          <p:spPr>
            <a:xfrm>
              <a:off x="1905000" y="3362325"/>
              <a:ext cx="2057400" cy="495300"/>
            </a:xfrm>
            <a:prstGeom prst="line">
              <a:avLst/>
            </a:prstGeom>
            <a:noFill/>
            <a:ln w="13335">
              <a:solidFill>
                <a:srgbClr val="52616B"/>
              </a:solidFill>
              <a:tailEnd type="arrow" w="lg" len="lg"/>
            </a:ln>
          </p:spPr>
        </p:sp>
        <p:sp>
          <p:nvSpPr>
            <p:cNvPr id="29" name="Line 29"/>
            <p:cNvSpPr/>
            <p:nvPr/>
          </p:nvSpPr>
          <p:spPr>
            <a:xfrm flipV="1">
              <a:off x="1905000" y="2867025"/>
              <a:ext cx="2057400" cy="990600"/>
            </a:xfrm>
            <a:prstGeom prst="line">
              <a:avLst/>
            </a:prstGeom>
            <a:noFill/>
            <a:ln w="13335">
              <a:solidFill>
                <a:srgbClr val="52616B"/>
              </a:solidFill>
              <a:tailEnd type="arrow" w="lg" len="lg"/>
            </a:ln>
          </p:spPr>
        </p:sp>
        <p:sp>
          <p:nvSpPr>
            <p:cNvPr id="30" name="Line 30"/>
            <p:cNvSpPr/>
            <p:nvPr/>
          </p:nvSpPr>
          <p:spPr>
            <a:xfrm>
              <a:off x="1905000" y="3857625"/>
              <a:ext cx="2057400" cy="1"/>
            </a:xfrm>
            <a:prstGeom prst="line">
              <a:avLst/>
            </a:prstGeom>
            <a:noFill/>
            <a:ln w="13335">
              <a:solidFill>
                <a:srgbClr val="52616B"/>
              </a:solidFill>
              <a:tailEnd type="arrow" w="lg" len="lg"/>
            </a:ln>
          </p:spPr>
        </p:sp>
      </p:grpSp>
      <p:grpSp>
        <p:nvGrpSpPr>
          <p:cNvPr id="52" name="rbac-indirection"/>
          <p:cNvGrpSpPr/>
          <p:nvPr/>
        </p:nvGrpSpPr>
        <p:grpSpPr>
          <a:xfrm>
            <a:off x="6430899" y="2268379"/>
            <a:ext cx="5151501" cy="1751171"/>
            <a:chOff x="6430899" y="2268379"/>
            <a:chExt cx="5151501" cy="1751171"/>
          </a:xfrm>
        </p:grpSpPr>
        <p:sp>
          <p:nvSpPr>
            <p:cNvPr id="32" name="TextBox 32"/>
            <p:cNvSpPr txBox="1"/>
            <p:nvPr/>
          </p:nvSpPr>
          <p:spPr>
            <a:xfrm>
              <a:off x="6430899" y="2268379"/>
              <a:ext cx="286187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RBAC (dolaylama katmanı)</a:t>
              </a:r>
            </a:p>
          </p:txBody>
        </p:sp>
        <p:sp>
          <p:nvSpPr>
            <p:cNvPr id="33" name="Rectangle 33"/>
            <p:cNvSpPr/>
            <p:nvPr/>
          </p:nvSpPr>
          <p:spPr>
            <a:xfrm>
              <a:off x="6438900" y="2705100"/>
              <a:ext cx="1143000" cy="323850"/>
            </a:xfrm>
            <a:prstGeom prst="roundRect">
              <a:avLst>
                <a:gd name="adj" fmla="val 17647"/>
              </a:avLst>
            </a:prstGeom>
            <a:solidFill>
              <a:srgbClr val="FFFFFF"/>
            </a:solidFill>
            <a:ln w="14288">
              <a:solidFill>
                <a:srgbClr val="2E86AB"/>
              </a:solidFill>
            </a:ln>
          </p:spPr>
        </p:sp>
        <p:sp>
          <p:nvSpPr>
            <p:cNvPr id="34" name="TextBox 34"/>
            <p:cNvSpPr txBox="1"/>
            <p:nvPr/>
          </p:nvSpPr>
          <p:spPr>
            <a:xfrm>
              <a:off x="6884918" y="2801302"/>
              <a:ext cx="250965"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elif</a:t>
              </a:r>
            </a:p>
          </p:txBody>
        </p:sp>
        <p:sp>
          <p:nvSpPr>
            <p:cNvPr id="35" name="Rectangle 35"/>
            <p:cNvSpPr/>
            <p:nvPr/>
          </p:nvSpPr>
          <p:spPr>
            <a:xfrm>
              <a:off x="6438900" y="3200400"/>
              <a:ext cx="1143000" cy="323850"/>
            </a:xfrm>
            <a:prstGeom prst="roundRect">
              <a:avLst>
                <a:gd name="adj" fmla="val 17647"/>
              </a:avLst>
            </a:prstGeom>
            <a:solidFill>
              <a:srgbClr val="FFFFFF"/>
            </a:solidFill>
            <a:ln w="14288">
              <a:solidFill>
                <a:srgbClr val="2E86AB"/>
              </a:solidFill>
            </a:ln>
          </p:spPr>
        </p:sp>
        <p:sp>
          <p:nvSpPr>
            <p:cNvPr id="36" name="TextBox 36"/>
            <p:cNvSpPr txBox="1"/>
            <p:nvPr/>
          </p:nvSpPr>
          <p:spPr>
            <a:xfrm>
              <a:off x="6923789" y="3296602"/>
              <a:ext cx="173222"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ali</a:t>
              </a:r>
            </a:p>
          </p:txBody>
        </p:sp>
        <p:sp>
          <p:nvSpPr>
            <p:cNvPr id="37" name="Rectangle 37"/>
            <p:cNvSpPr/>
            <p:nvPr/>
          </p:nvSpPr>
          <p:spPr>
            <a:xfrm>
              <a:off x="6438900" y="3695700"/>
              <a:ext cx="1143000" cy="323850"/>
            </a:xfrm>
            <a:prstGeom prst="roundRect">
              <a:avLst>
                <a:gd name="adj" fmla="val 17647"/>
              </a:avLst>
            </a:prstGeom>
            <a:solidFill>
              <a:srgbClr val="FFFFFF"/>
            </a:solidFill>
            <a:ln w="14288">
              <a:solidFill>
                <a:srgbClr val="2E86AB"/>
              </a:solidFill>
            </a:ln>
          </p:spPr>
        </p:sp>
        <p:sp>
          <p:nvSpPr>
            <p:cNvPr id="38" name="TextBox 38"/>
            <p:cNvSpPr txBox="1"/>
            <p:nvPr/>
          </p:nvSpPr>
          <p:spPr>
            <a:xfrm>
              <a:off x="6736499" y="3791902"/>
              <a:ext cx="547802"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yasemin</a:t>
              </a:r>
            </a:p>
          </p:txBody>
        </p:sp>
        <p:sp>
          <p:nvSpPr>
            <p:cNvPr id="39" name="Rectangle 39"/>
            <p:cNvSpPr/>
            <p:nvPr/>
          </p:nvSpPr>
          <p:spPr>
            <a:xfrm>
              <a:off x="8439150" y="2857500"/>
              <a:ext cx="1333500" cy="381000"/>
            </a:xfrm>
            <a:prstGeom prst="roundRect">
              <a:avLst>
                <a:gd name="adj" fmla="val 15000"/>
              </a:avLst>
            </a:prstGeom>
            <a:solidFill>
              <a:srgbClr val="12355B"/>
            </a:solidFill>
            <a:ln>
              <a:noFill/>
            </a:ln>
          </p:spPr>
        </p:sp>
        <p:sp>
          <p:nvSpPr>
            <p:cNvPr id="40" name="TextBox 40"/>
            <p:cNvSpPr txBox="1"/>
            <p:nvPr/>
          </p:nvSpPr>
          <p:spPr>
            <a:xfrm>
              <a:off x="8687114" y="2982278"/>
              <a:ext cx="837571" cy="205359"/>
            </a:xfrm>
            <a:prstGeom prst="rect">
              <a:avLst/>
            </a:prstGeom>
            <a:noFill/>
            <a:ln>
              <a:noFill/>
            </a:ln>
          </p:spPr>
          <p:txBody>
            <a:bodyPr wrap="none" lIns="0" tIns="0" rIns="0" bIns="0" anchor="t" anchorCtr="0">
              <a:spAutoFit/>
            </a:bodyPr>
            <a:lstStyle/>
            <a:p>
              <a:pPr algn="ctr"/>
              <a:r>
                <a:rPr lang="tr-TR" sz="1050" dirty="0">
                  <a:solidFill>
                    <a:srgbClr val="FFFFFF"/>
                  </a:solidFill>
                  <a:latin typeface="+mn-lt"/>
                  <a:ea typeface="+mn-ea"/>
                  <a:cs typeface="+mn-cs"/>
                </a:rPr>
                <a:t>öğrenci rolü</a:t>
              </a:r>
            </a:p>
          </p:txBody>
        </p:sp>
        <p:sp>
          <p:nvSpPr>
            <p:cNvPr id="41" name="Rectangle 41"/>
            <p:cNvSpPr/>
            <p:nvPr/>
          </p:nvSpPr>
          <p:spPr>
            <a:xfrm>
              <a:off x="8439150" y="3390900"/>
              <a:ext cx="1333500" cy="381000"/>
            </a:xfrm>
            <a:prstGeom prst="roundRect">
              <a:avLst>
                <a:gd name="adj" fmla="val 15000"/>
              </a:avLst>
            </a:prstGeom>
            <a:solidFill>
              <a:srgbClr val="12355B"/>
            </a:solidFill>
            <a:ln>
              <a:noFill/>
            </a:ln>
          </p:spPr>
        </p:sp>
        <p:sp>
          <p:nvSpPr>
            <p:cNvPr id="42" name="TextBox 42"/>
            <p:cNvSpPr txBox="1"/>
            <p:nvPr/>
          </p:nvSpPr>
          <p:spPr>
            <a:xfrm>
              <a:off x="8531628" y="3515678"/>
              <a:ext cx="1148544" cy="205359"/>
            </a:xfrm>
            <a:prstGeom prst="rect">
              <a:avLst/>
            </a:prstGeom>
            <a:noFill/>
            <a:ln>
              <a:noFill/>
            </a:ln>
          </p:spPr>
          <p:txBody>
            <a:bodyPr wrap="none" lIns="0" tIns="0" rIns="0" bIns="0" anchor="t" anchorCtr="0">
              <a:spAutoFit/>
            </a:bodyPr>
            <a:lstStyle/>
            <a:p>
              <a:pPr algn="ctr"/>
              <a:r>
                <a:rPr lang="tr-TR" sz="1050" dirty="0">
                  <a:solidFill>
                    <a:srgbClr val="FFFFFF"/>
                  </a:solidFill>
                  <a:latin typeface="+mn-lt"/>
                  <a:ea typeface="+mn-ea"/>
                  <a:cs typeface="+mn-cs"/>
                </a:rPr>
                <a:t>kütüphaneci rolü</a:t>
              </a:r>
            </a:p>
          </p:txBody>
        </p:sp>
        <p:sp>
          <p:nvSpPr>
            <p:cNvPr id="43" name="Rectangle 43"/>
            <p:cNvSpPr/>
            <p:nvPr/>
          </p:nvSpPr>
          <p:spPr>
            <a:xfrm>
              <a:off x="10439400" y="2857500"/>
              <a:ext cx="1143000" cy="381000"/>
            </a:xfrm>
            <a:prstGeom prst="roundRect">
              <a:avLst>
                <a:gd name="adj" fmla="val 15000"/>
              </a:avLst>
            </a:prstGeom>
            <a:solidFill>
              <a:srgbClr val="EAF4F6"/>
            </a:solidFill>
            <a:ln w="14288">
              <a:solidFill>
                <a:srgbClr val="00A6A6"/>
              </a:solidFill>
            </a:ln>
          </p:spPr>
        </p:sp>
        <p:sp>
          <p:nvSpPr>
            <p:cNvPr id="44" name="TextBox 44"/>
            <p:cNvSpPr txBox="1"/>
            <p:nvPr/>
          </p:nvSpPr>
          <p:spPr>
            <a:xfrm>
              <a:off x="10494728" y="2990374"/>
              <a:ext cx="1032345" cy="190690"/>
            </a:xfrm>
            <a:prstGeom prst="rect">
              <a:avLst/>
            </a:prstGeom>
            <a:noFill/>
            <a:ln>
              <a:noFill/>
            </a:ln>
          </p:spPr>
          <p:txBody>
            <a:bodyPr wrap="none" lIns="0" tIns="0" rIns="0" bIns="0" anchor="t" anchorCtr="0">
              <a:spAutoFit/>
            </a:bodyPr>
            <a:lstStyle/>
            <a:p>
              <a:pPr algn="ctr"/>
              <a:r>
                <a:rPr lang="tr-TR" sz="980" dirty="0">
                  <a:solidFill>
                    <a:srgbClr val="12355B"/>
                  </a:solidFill>
                  <a:latin typeface="+mn-lt"/>
                  <a:ea typeface="+mn-ea"/>
                  <a:cs typeface="+mn-cs"/>
                </a:rPr>
                <a:t>kayıt görüntüle</a:t>
              </a:r>
            </a:p>
          </p:txBody>
        </p:sp>
        <p:sp>
          <p:nvSpPr>
            <p:cNvPr id="45" name="Rectangle 45"/>
            <p:cNvSpPr/>
            <p:nvPr/>
          </p:nvSpPr>
          <p:spPr>
            <a:xfrm>
              <a:off x="10439400" y="3390900"/>
              <a:ext cx="1143000" cy="381000"/>
            </a:xfrm>
            <a:prstGeom prst="roundRect">
              <a:avLst>
                <a:gd name="adj" fmla="val 15000"/>
              </a:avLst>
            </a:prstGeom>
            <a:solidFill>
              <a:srgbClr val="EAF4F6"/>
            </a:solidFill>
            <a:ln w="14288">
              <a:solidFill>
                <a:srgbClr val="00A6A6"/>
              </a:solidFill>
            </a:ln>
          </p:spPr>
        </p:sp>
        <p:sp>
          <p:nvSpPr>
            <p:cNvPr id="46" name="TextBox 46"/>
            <p:cNvSpPr txBox="1"/>
            <p:nvPr/>
          </p:nvSpPr>
          <p:spPr>
            <a:xfrm>
              <a:off x="10580480" y="3523774"/>
              <a:ext cx="860839" cy="190690"/>
            </a:xfrm>
            <a:prstGeom prst="rect">
              <a:avLst/>
            </a:prstGeom>
            <a:noFill/>
            <a:ln>
              <a:noFill/>
            </a:ln>
          </p:spPr>
          <p:txBody>
            <a:bodyPr wrap="none" lIns="0" tIns="0" rIns="0" bIns="0" anchor="t" anchorCtr="0">
              <a:spAutoFit/>
            </a:bodyPr>
            <a:lstStyle/>
            <a:p>
              <a:pPr algn="ctr"/>
              <a:r>
                <a:rPr lang="tr-TR" sz="980" dirty="0">
                  <a:solidFill>
                    <a:srgbClr val="12355B"/>
                  </a:solidFill>
                  <a:latin typeface="+mn-lt"/>
                  <a:ea typeface="+mn-ea"/>
                  <a:cs typeface="+mn-cs"/>
                </a:rPr>
                <a:t>kitap ekle/sil</a:t>
              </a:r>
            </a:p>
          </p:txBody>
        </p:sp>
        <p:sp>
          <p:nvSpPr>
            <p:cNvPr id="47" name="Line 47"/>
            <p:cNvSpPr/>
            <p:nvPr/>
          </p:nvSpPr>
          <p:spPr>
            <a:xfrm>
              <a:off x="7581900" y="2867025"/>
              <a:ext cx="819150" cy="161925"/>
            </a:xfrm>
            <a:prstGeom prst="line">
              <a:avLst/>
            </a:prstGeom>
            <a:noFill/>
            <a:ln w="15240">
              <a:solidFill>
                <a:srgbClr val="00A6A6"/>
              </a:solidFill>
              <a:tailEnd type="arrow" w="lg" len="lg"/>
            </a:ln>
          </p:spPr>
        </p:sp>
        <p:sp>
          <p:nvSpPr>
            <p:cNvPr id="48" name="Line 48"/>
            <p:cNvSpPr/>
            <p:nvPr/>
          </p:nvSpPr>
          <p:spPr>
            <a:xfrm flipV="1">
              <a:off x="7581900" y="3048000"/>
              <a:ext cx="819150" cy="314325"/>
            </a:xfrm>
            <a:prstGeom prst="line">
              <a:avLst/>
            </a:prstGeom>
            <a:noFill/>
            <a:ln w="15240">
              <a:solidFill>
                <a:srgbClr val="00A6A6"/>
              </a:solidFill>
              <a:tailEnd type="arrow" w="lg" len="lg"/>
            </a:ln>
          </p:spPr>
        </p:sp>
        <p:sp>
          <p:nvSpPr>
            <p:cNvPr id="49" name="Line 49"/>
            <p:cNvSpPr/>
            <p:nvPr/>
          </p:nvSpPr>
          <p:spPr>
            <a:xfrm flipV="1">
              <a:off x="7581900" y="3581400"/>
              <a:ext cx="819150" cy="276225"/>
            </a:xfrm>
            <a:prstGeom prst="line">
              <a:avLst/>
            </a:prstGeom>
            <a:noFill/>
            <a:ln w="15240">
              <a:solidFill>
                <a:srgbClr val="00A6A6"/>
              </a:solidFill>
              <a:tailEnd type="arrow" w="lg" len="lg"/>
            </a:ln>
          </p:spPr>
        </p:sp>
        <p:sp>
          <p:nvSpPr>
            <p:cNvPr id="50" name="Line 50"/>
            <p:cNvSpPr/>
            <p:nvPr/>
          </p:nvSpPr>
          <p:spPr>
            <a:xfrm>
              <a:off x="9772650" y="3048000"/>
              <a:ext cx="628650" cy="1"/>
            </a:xfrm>
            <a:prstGeom prst="line">
              <a:avLst/>
            </a:prstGeom>
            <a:noFill/>
            <a:ln w="15240">
              <a:solidFill>
                <a:srgbClr val="00A6A6"/>
              </a:solidFill>
              <a:tailEnd type="arrow" w="lg" len="lg"/>
            </a:ln>
          </p:spPr>
        </p:sp>
        <p:sp>
          <p:nvSpPr>
            <p:cNvPr id="51" name="Line 51"/>
            <p:cNvSpPr/>
            <p:nvPr/>
          </p:nvSpPr>
          <p:spPr>
            <a:xfrm>
              <a:off x="9772650" y="3581400"/>
              <a:ext cx="628650" cy="1"/>
            </a:xfrm>
            <a:prstGeom prst="line">
              <a:avLst/>
            </a:prstGeom>
            <a:noFill/>
            <a:ln w="15240">
              <a:solidFill>
                <a:srgbClr val="00A6A6"/>
              </a:solidFill>
              <a:tailEnd type="arrow" w="lg" len="lg"/>
            </a:ln>
          </p:spPr>
        </p:sp>
      </p:grpSp>
      <p:grpSp>
        <p:nvGrpSpPr>
          <p:cNvPr id="56" name="rbac-takeaway"/>
          <p:cNvGrpSpPr/>
          <p:nvPr/>
        </p:nvGrpSpPr>
        <p:grpSpPr>
          <a:xfrm>
            <a:off x="609600" y="4838700"/>
            <a:ext cx="10972800" cy="838200"/>
            <a:chOff x="609600" y="4838700"/>
            <a:chExt cx="10972800" cy="838200"/>
          </a:xfrm>
        </p:grpSpPr>
        <p:sp>
          <p:nvSpPr>
            <p:cNvPr id="53" name="Rectangle 53"/>
            <p:cNvSpPr/>
            <p:nvPr/>
          </p:nvSpPr>
          <p:spPr>
            <a:xfrm>
              <a:off x="609600" y="4838700"/>
              <a:ext cx="10972800" cy="838200"/>
            </a:xfrm>
            <a:prstGeom prst="roundRect">
              <a:avLst>
                <a:gd name="adj" fmla="val 9091"/>
              </a:avLst>
            </a:prstGeom>
            <a:solidFill>
              <a:srgbClr val="EAF4F6"/>
            </a:solidFill>
            <a:ln>
              <a:noFill/>
            </a:ln>
          </p:spPr>
        </p:sp>
        <p:sp>
          <p:nvSpPr>
            <p:cNvPr id="54" name="TextBox 54"/>
            <p:cNvSpPr txBox="1"/>
            <p:nvPr/>
          </p:nvSpPr>
          <p:spPr>
            <a:xfrm>
              <a:off x="906399" y="4973479"/>
              <a:ext cx="899405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 kullanıcı, m izin varsa: doğrudan atamada en kötü durumda n × m ilişki yönetilir.</a:t>
              </a:r>
            </a:p>
          </p:txBody>
        </p:sp>
        <p:sp>
          <p:nvSpPr>
            <p:cNvPr id="55" name="TextBox 55"/>
            <p:cNvSpPr txBox="1"/>
            <p:nvPr/>
          </p:nvSpPr>
          <p:spPr>
            <a:xfrm>
              <a:off x="906399" y="5278279"/>
              <a:ext cx="772162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RBAC'ta yalnızca n kullanıcı-rol ve sabit sayıda rol-izin ilişkisi yönetilir.</a:t>
              </a:r>
            </a:p>
          </p:txBody>
        </p:sp>
      </p:grpSp>
      <p:grpSp>
        <p:nvGrpSpPr>
          <p:cNvPr id="58" name="rbac-theory"/>
          <p:cNvGrpSpPr/>
          <p:nvPr/>
        </p:nvGrpSpPr>
        <p:grpSpPr>
          <a:xfrm>
            <a:off x="603504" y="5852160"/>
            <a:ext cx="8475030" cy="234696"/>
            <a:chOff x="603504" y="5852160"/>
            <a:chExt cx="8475030" cy="234696"/>
          </a:xfrm>
        </p:grpSpPr>
        <p:sp>
          <p:nvSpPr>
            <p:cNvPr id="57" name="TextBox 57"/>
            <p:cNvSpPr txBox="1"/>
            <p:nvPr/>
          </p:nvSpPr>
          <p:spPr>
            <a:xfrm>
              <a:off x="603504" y="5852160"/>
              <a:ext cx="847503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Sandhu ve arkadaşları, "Role-Based Access Control Models" (IEEE Computer, 1996) · ANSI/INCITS 359-2004</a:t>
              </a:r>
            </a:p>
          </p:txBody>
        </p:sp>
      </p:grpSp>
      <p:sp>
        <p:nvSpPr>
          <p:cNvPr id="59" name="TextBox 5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192000" cy="952500"/>
            <a:chOff x="0" y="0"/>
            <a:chExt cx="12192000"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53904" y="309562"/>
                <a:ext cx="206693" cy="280512"/>
                <a:chOff x="753904" y="309562"/>
                <a:chExt cx="206693" cy="280512"/>
              </a:xfrm>
            </p:grpSpPr>
            <p:sp>
              <p:nvSpPr>
                <p:cNvPr id="5" name="Freeform 5"/>
                <p:cNvSpPr/>
                <p:nvPr/>
              </p:nvSpPr>
              <p:spPr>
                <a:xfrm>
                  <a:off x="7539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424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7981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61872" y="282892"/>
              <a:ext cx="9766573"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Kod 10.5 · requireRole ile yetkilendirme koruması</a:t>
              </a:r>
            </a:p>
          </p:txBody>
        </p:sp>
      </p:grpSp>
      <p:grpSp>
        <p:nvGrpSpPr>
          <p:cNvPr id="27" name="code-panel"/>
          <p:cNvGrpSpPr/>
          <p:nvPr/>
        </p:nvGrpSpPr>
        <p:grpSpPr>
          <a:xfrm>
            <a:off x="571500" y="1295400"/>
            <a:ext cx="6477000" cy="3905250"/>
            <a:chOff x="571500" y="1295400"/>
            <a:chExt cx="6477000" cy="3905250"/>
          </a:xfrm>
        </p:grpSpPr>
        <p:sp>
          <p:nvSpPr>
            <p:cNvPr id="12" name="Rectangle 12"/>
            <p:cNvSpPr/>
            <p:nvPr/>
          </p:nvSpPr>
          <p:spPr>
            <a:xfrm>
              <a:off x="571500" y="1295400"/>
              <a:ext cx="6477000" cy="3905250"/>
            </a:xfrm>
            <a:prstGeom prst="rect">
              <a:avLst/>
            </a:prstGeom>
            <a:solidFill>
              <a:srgbClr val="12355B"/>
            </a:solidFill>
            <a:ln>
              <a:noFill/>
            </a:ln>
          </p:spPr>
        </p:sp>
        <p:sp>
          <p:nvSpPr>
            <p:cNvPr id="13" name="TextBox 13"/>
            <p:cNvSpPr txBox="1"/>
            <p:nvPr/>
          </p:nvSpPr>
          <p:spPr>
            <a:xfrm>
              <a:off x="793623" y="1500664"/>
              <a:ext cx="4961534"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function requireRole(gerekliRol: Kullanici["rol"]) {</a:t>
              </a:r>
            </a:p>
          </p:txBody>
        </p:sp>
        <p:sp>
          <p:nvSpPr>
            <p:cNvPr id="14" name="TextBox 14"/>
            <p:cNvSpPr txBox="1"/>
            <p:nvPr/>
          </p:nvSpPr>
          <p:spPr>
            <a:xfrm>
              <a:off x="1031748" y="1729264"/>
              <a:ext cx="3627049"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return function (istek: KimlikliIstek,</a:t>
              </a:r>
            </a:p>
          </p:txBody>
        </p:sp>
        <p:sp>
          <p:nvSpPr>
            <p:cNvPr id="15" name="TextBox 15"/>
            <p:cNvSpPr txBox="1"/>
            <p:nvPr/>
          </p:nvSpPr>
          <p:spPr>
            <a:xfrm>
              <a:off x="1269873" y="1957864"/>
              <a:ext cx="4200427"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yanit: BasitYanit, next: () =&gt; void): void {</a:t>
              </a:r>
            </a:p>
          </p:txBody>
        </p:sp>
        <p:sp>
          <p:nvSpPr>
            <p:cNvPr id="16" name="TextBox 16"/>
            <p:cNvSpPr txBox="1"/>
            <p:nvPr/>
          </p:nvSpPr>
          <p:spPr>
            <a:xfrm>
              <a:off x="1031748" y="2186464"/>
              <a:ext cx="2192721"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if (!istek.kullanici) {</a:t>
              </a:r>
            </a:p>
          </p:txBody>
        </p:sp>
        <p:sp>
          <p:nvSpPr>
            <p:cNvPr id="17" name="TextBox 17"/>
            <p:cNvSpPr txBox="1"/>
            <p:nvPr/>
          </p:nvSpPr>
          <p:spPr>
            <a:xfrm>
              <a:off x="1269873" y="2415064"/>
              <a:ext cx="4571229"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yanit.durum(401).json({ mesaj: "Kimlik yok." });</a:t>
              </a:r>
            </a:p>
          </p:txBody>
        </p:sp>
        <p:sp>
          <p:nvSpPr>
            <p:cNvPr id="18" name="TextBox 18"/>
            <p:cNvSpPr txBox="1"/>
            <p:nvPr/>
          </p:nvSpPr>
          <p:spPr>
            <a:xfrm>
              <a:off x="1269873" y="2643664"/>
              <a:ext cx="676361"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return;</a:t>
              </a:r>
            </a:p>
          </p:txBody>
        </p:sp>
        <p:sp>
          <p:nvSpPr>
            <p:cNvPr id="19" name="TextBox 19"/>
            <p:cNvSpPr txBox="1"/>
            <p:nvPr/>
          </p:nvSpPr>
          <p:spPr>
            <a:xfrm>
              <a:off x="1031748" y="2872264"/>
              <a:ext cx="107726"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a:t>
              </a:r>
            </a:p>
          </p:txBody>
        </p:sp>
        <p:sp>
          <p:nvSpPr>
            <p:cNvPr id="20" name="TextBox 20"/>
            <p:cNvSpPr txBox="1"/>
            <p:nvPr/>
          </p:nvSpPr>
          <p:spPr>
            <a:xfrm>
              <a:off x="1031748" y="3138964"/>
              <a:ext cx="3906210"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if (istek.kullanici.rol !== gerekliRol) {</a:t>
              </a:r>
            </a:p>
          </p:txBody>
        </p:sp>
        <p:sp>
          <p:nvSpPr>
            <p:cNvPr id="21" name="TextBox 21"/>
            <p:cNvSpPr txBox="1"/>
            <p:nvPr/>
          </p:nvSpPr>
          <p:spPr>
            <a:xfrm>
              <a:off x="1269873" y="3367564"/>
              <a:ext cx="4760519"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yanit.durum(403).json({ mesaj: "Yetkiniz yok." });</a:t>
              </a:r>
            </a:p>
          </p:txBody>
        </p:sp>
        <p:sp>
          <p:nvSpPr>
            <p:cNvPr id="22" name="TextBox 22"/>
            <p:cNvSpPr txBox="1"/>
            <p:nvPr/>
          </p:nvSpPr>
          <p:spPr>
            <a:xfrm>
              <a:off x="1269873" y="3596164"/>
              <a:ext cx="676361"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return;</a:t>
              </a:r>
            </a:p>
          </p:txBody>
        </p:sp>
        <p:sp>
          <p:nvSpPr>
            <p:cNvPr id="23" name="TextBox 23"/>
            <p:cNvSpPr txBox="1"/>
            <p:nvPr/>
          </p:nvSpPr>
          <p:spPr>
            <a:xfrm>
              <a:off x="1031748" y="3824764"/>
              <a:ext cx="107726"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a:t>
              </a:r>
            </a:p>
          </p:txBody>
        </p:sp>
        <p:sp>
          <p:nvSpPr>
            <p:cNvPr id="24" name="TextBox 24"/>
            <p:cNvSpPr txBox="1"/>
            <p:nvPr/>
          </p:nvSpPr>
          <p:spPr>
            <a:xfrm>
              <a:off x="1031748" y="4053364"/>
              <a:ext cx="676361"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next();</a:t>
              </a:r>
            </a:p>
          </p:txBody>
        </p:sp>
        <p:sp>
          <p:nvSpPr>
            <p:cNvPr id="25" name="TextBox 25"/>
            <p:cNvSpPr txBox="1"/>
            <p:nvPr/>
          </p:nvSpPr>
          <p:spPr>
            <a:xfrm>
              <a:off x="793623" y="4281964"/>
              <a:ext cx="202499"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a:t>
              </a:r>
            </a:p>
          </p:txBody>
        </p:sp>
        <p:sp>
          <p:nvSpPr>
            <p:cNvPr id="26" name="TextBox 26"/>
            <p:cNvSpPr txBox="1"/>
            <p:nvPr/>
          </p:nvSpPr>
          <p:spPr>
            <a:xfrm>
              <a:off x="793623" y="4510564"/>
              <a:ext cx="107726"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Consolas"/>
                  <a:ea typeface="Consolas"/>
                  <a:cs typeface="Consolas"/>
                </a:rPr>
                <a:t>}</a:t>
              </a:r>
            </a:p>
          </p:txBody>
        </p:sp>
      </p:grpSp>
      <p:grpSp>
        <p:nvGrpSpPr>
          <p:cNvPr id="30" name="code-purpose"/>
          <p:cNvGrpSpPr/>
          <p:nvPr/>
        </p:nvGrpSpPr>
        <p:grpSpPr>
          <a:xfrm>
            <a:off x="7267194" y="1237298"/>
            <a:ext cx="4021074" cy="1205769"/>
            <a:chOff x="7267194" y="1237298"/>
            <a:chExt cx="4021074" cy="1205769"/>
          </a:xfrm>
        </p:grpSpPr>
        <p:sp>
          <p:nvSpPr>
            <p:cNvPr id="28" name="TextBox 28"/>
            <p:cNvSpPr txBox="1"/>
            <p:nvPr/>
          </p:nvSpPr>
          <p:spPr>
            <a:xfrm>
              <a:off x="7267194" y="1237298"/>
              <a:ext cx="168298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Kodun amacı</a:t>
              </a:r>
            </a:p>
          </p:txBody>
        </p:sp>
        <p:sp>
          <p:nvSpPr>
            <p:cNvPr id="29" name="TextBox 29"/>
            <p:cNvSpPr txBox="1"/>
            <p:nvPr/>
          </p:nvSpPr>
          <p:spPr>
            <a:xfrm>
              <a:off x="7269099" y="1601629"/>
              <a:ext cx="4019169"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Belirli bir role özel bir middleware</a:t>
              </a:r>
              <a:br/>
              <a:r>
                <a:rPr lang="tr-TR" sz="1580" dirty="0">
                  <a:solidFill>
                    <a:srgbClr val="172B3A"/>
                  </a:solidFill>
                  <a:latin typeface="+mn-lt"/>
                  <a:ea typeface="+mn-ea"/>
                  <a:cs typeface="+mn-cs"/>
                </a:rPr>
                <a:t>üreten fonksiyon (factory) ile RBAC</a:t>
              </a:r>
              <a:br/>
              <a:r>
                <a:rPr lang="tr-TR" sz="1580" dirty="0">
                  <a:solidFill>
                    <a:srgbClr val="172B3A"/>
                  </a:solidFill>
                  <a:latin typeface="+mn-lt"/>
                  <a:ea typeface="+mn-ea"/>
                  <a:cs typeface="+mn-cs"/>
                </a:rPr>
                <a:t>denetimini authMiddleware'den ayırmak.</a:t>
              </a:r>
            </a:p>
          </p:txBody>
        </p:sp>
      </p:grpSp>
      <p:grpSp>
        <p:nvGrpSpPr>
          <p:cNvPr id="34" name="code-critical"/>
          <p:cNvGrpSpPr/>
          <p:nvPr/>
        </p:nvGrpSpPr>
        <p:grpSpPr>
          <a:xfrm>
            <a:off x="7267194" y="2570798"/>
            <a:ext cx="3071622" cy="1363408"/>
            <a:chOff x="7267194" y="2570798"/>
            <a:chExt cx="3071622" cy="1363408"/>
          </a:xfrm>
        </p:grpSpPr>
        <p:sp>
          <p:nvSpPr>
            <p:cNvPr id="31" name="TextBox 31"/>
            <p:cNvSpPr txBox="1"/>
            <p:nvPr/>
          </p:nvSpPr>
          <p:spPr>
            <a:xfrm>
              <a:off x="7267194" y="2570798"/>
              <a:ext cx="2026241"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Kritik satırlar</a:t>
              </a:r>
            </a:p>
          </p:txBody>
        </p:sp>
        <p:sp>
          <p:nvSpPr>
            <p:cNvPr id="32" name="TextBox 32"/>
            <p:cNvSpPr txBox="1"/>
            <p:nvPr/>
          </p:nvSpPr>
          <p:spPr>
            <a:xfrm>
              <a:off x="7271004" y="2937510"/>
              <a:ext cx="30678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1. istek.kullanici yoksa 401 döner; kimlik</a:t>
              </a:r>
              <a:br/>
              <a:r>
                <a:rPr lang="tr-TR" sz="1200" dirty="0">
                  <a:solidFill>
                    <a:srgbClr val="172B3A"/>
                  </a:solidFill>
                  <a:latin typeface="+mn-lt"/>
                  <a:ea typeface="+mn-ea"/>
                  <a:cs typeface="+mn-cs"/>
                </a:rPr>
                <a:t>doğrulama önce tamamlanmış olmalıdır.</a:t>
              </a:r>
            </a:p>
          </p:txBody>
        </p:sp>
        <p:sp>
          <p:nvSpPr>
            <p:cNvPr id="33" name="TextBox 33"/>
            <p:cNvSpPr txBox="1"/>
            <p:nvPr/>
          </p:nvSpPr>
          <p:spPr>
            <a:xfrm>
              <a:off x="7271004" y="3489960"/>
              <a:ext cx="30068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2. Rol uyuşmuyorsa 403 döner; eşleşirse</a:t>
              </a:r>
              <a:br/>
              <a:r>
                <a:rPr lang="tr-TR" sz="1200" dirty="0">
                  <a:solidFill>
                    <a:srgbClr val="172B3A"/>
                  </a:solidFill>
                  <a:latin typeface="+mn-lt"/>
                  <a:ea typeface="+mn-ea"/>
                  <a:cs typeface="+mn-cs"/>
                </a:rPr>
                <a:t>next() ile bir sonraki halkaya geçilir.</a:t>
              </a:r>
            </a:p>
          </p:txBody>
        </p:sp>
      </p:grpSp>
      <p:grpSp>
        <p:nvGrpSpPr>
          <p:cNvPr id="38" name="code-caution"/>
          <p:cNvGrpSpPr/>
          <p:nvPr/>
        </p:nvGrpSpPr>
        <p:grpSpPr>
          <a:xfrm>
            <a:off x="7277100" y="4381500"/>
            <a:ext cx="3488436" cy="1000506"/>
            <a:chOff x="7277100" y="4381500"/>
            <a:chExt cx="3488436" cy="1000506"/>
          </a:xfrm>
        </p:grpSpPr>
        <p:sp>
          <p:nvSpPr>
            <p:cNvPr id="35" name="Rectangle 35"/>
            <p:cNvSpPr/>
            <p:nvPr/>
          </p:nvSpPr>
          <p:spPr>
            <a:xfrm>
              <a:off x="7277100" y="4381500"/>
              <a:ext cx="57150" cy="819150"/>
            </a:xfrm>
            <a:prstGeom prst="rect">
              <a:avLst/>
            </a:prstGeom>
            <a:solidFill>
              <a:srgbClr val="2E86AB"/>
            </a:solidFill>
            <a:ln>
              <a:noFill/>
            </a:ln>
          </p:spPr>
        </p:sp>
        <p:sp>
          <p:nvSpPr>
            <p:cNvPr id="36" name="TextBox 36"/>
            <p:cNvSpPr txBox="1"/>
            <p:nvPr/>
          </p:nvSpPr>
          <p:spPr>
            <a:xfrm>
              <a:off x="7499604" y="448056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Dikkat noktası</a:t>
              </a:r>
            </a:p>
          </p:txBody>
        </p:sp>
        <p:sp>
          <p:nvSpPr>
            <p:cNvPr id="37" name="TextBox 37"/>
            <p:cNvSpPr txBox="1"/>
            <p:nvPr/>
          </p:nvSpPr>
          <p:spPr>
            <a:xfrm>
              <a:off x="7499604" y="4728210"/>
              <a:ext cx="32659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requireRole("kutuphaneci") route'a</a:t>
              </a:r>
              <a:br/>
              <a:r>
                <a:rPr lang="tr-TR" sz="1200" dirty="0">
                  <a:solidFill>
                    <a:srgbClr val="52616B"/>
                  </a:solidFill>
                  <a:latin typeface="+mn-lt"/>
                  <a:ea typeface="+mn-ea"/>
                  <a:cs typeface="+mn-cs"/>
                </a:rPr>
                <a:t>authMiddleware'den SONRA eklenmelidir;</a:t>
              </a:r>
              <a:br/>
              <a:r>
                <a:rPr lang="tr-TR" sz="1200" dirty="0">
                  <a:solidFill>
                    <a:srgbClr val="52616B"/>
                  </a:solidFill>
                  <a:latin typeface="+mn-lt"/>
                  <a:ea typeface="+mn-ea"/>
                  <a:cs typeface="+mn-cs"/>
                </a:rPr>
                <a:t>sıra tersse istek.kullanici tanımsız kalır.</a:t>
              </a:r>
            </a:p>
          </p:txBody>
        </p:sp>
      </p:grpSp>
      <p:grpSp>
        <p:nvGrpSpPr>
          <p:cNvPr id="40" name="code-takeaway"/>
          <p:cNvGrpSpPr/>
          <p:nvPr/>
        </p:nvGrpSpPr>
        <p:grpSpPr>
          <a:xfrm>
            <a:off x="563499" y="5678329"/>
            <a:ext cx="9135999" cy="574738"/>
            <a:chOff x="563499" y="5678329"/>
            <a:chExt cx="9135999" cy="574738"/>
          </a:xfrm>
        </p:grpSpPr>
        <p:sp>
          <p:nvSpPr>
            <p:cNvPr id="39" name="TextBox 39"/>
            <p:cNvSpPr txBox="1"/>
            <p:nvPr/>
          </p:nvSpPr>
          <p:spPr>
            <a:xfrm>
              <a:off x="563499" y="5678329"/>
              <a:ext cx="913599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Rol kontrolü YALNIZCA sunucu tarafında yapılmalıdır; istemci tarafındaki bir "gizle/göster"</a:t>
              </a:r>
              <a:br/>
              <a:r>
                <a:rPr lang="tr-TR" sz="1580" dirty="0">
                  <a:solidFill>
                    <a:srgbClr val="172B3A"/>
                  </a:solidFill>
                  <a:latin typeface="+mn-lt"/>
                  <a:ea typeface="+mn-ea"/>
                  <a:cs typeface="+mn-cs"/>
                </a:rPr>
                <a:t>mantığı asıl korumayı sağlamaz, sunucu ucu her zaman denetim yapmalıdır.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110761" cy="557403"/>
            <a:chOff x="595122" y="282892"/>
            <a:chExt cx="3110761" cy="557403"/>
          </a:xfrm>
        </p:grpSpPr>
        <p:sp>
          <p:nvSpPr>
            <p:cNvPr id="4" name="TextBox 4"/>
            <p:cNvSpPr txBox="1"/>
            <p:nvPr/>
          </p:nvSpPr>
          <p:spPr>
            <a:xfrm>
              <a:off x="595122" y="282892"/>
              <a:ext cx="311076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401 mi, 403 mü?</a:t>
              </a:r>
            </a:p>
          </p:txBody>
        </p:sp>
      </p:grpSp>
      <p:grpSp>
        <p:nvGrpSpPr>
          <p:cNvPr id="10" name="col-401"/>
          <p:cNvGrpSpPr/>
          <p:nvPr/>
        </p:nvGrpSpPr>
        <p:grpSpPr>
          <a:xfrm>
            <a:off x="609600" y="1219200"/>
            <a:ext cx="5257800" cy="1600200"/>
            <a:chOff x="609600" y="1219200"/>
            <a:chExt cx="5257800" cy="1600200"/>
          </a:xfrm>
        </p:grpSpPr>
        <p:sp>
          <p:nvSpPr>
            <p:cNvPr id="6" name="Rectangle 6"/>
            <p:cNvSpPr/>
            <p:nvPr/>
          </p:nvSpPr>
          <p:spPr>
            <a:xfrm>
              <a:off x="609600" y="1219200"/>
              <a:ext cx="5257800" cy="1600200"/>
            </a:xfrm>
            <a:prstGeom prst="roundRect">
              <a:avLst>
                <a:gd name="adj" fmla="val 4762"/>
              </a:avLst>
            </a:prstGeom>
            <a:solidFill>
              <a:srgbClr val="FFFFFF"/>
            </a:solidFill>
            <a:ln w="14288">
              <a:solidFill>
                <a:srgbClr val="2E86AB"/>
              </a:solidFill>
            </a:ln>
          </p:spPr>
        </p:sp>
        <p:sp>
          <p:nvSpPr>
            <p:cNvPr id="7" name="TextBox 7"/>
            <p:cNvSpPr txBox="1"/>
            <p:nvPr/>
          </p:nvSpPr>
          <p:spPr>
            <a:xfrm>
              <a:off x="866394" y="1351598"/>
              <a:ext cx="2318369"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401 Unauthorized</a:t>
              </a:r>
            </a:p>
          </p:txBody>
        </p:sp>
        <p:sp>
          <p:nvSpPr>
            <p:cNvPr id="8" name="TextBox 8"/>
            <p:cNvSpPr txBox="1"/>
            <p:nvPr/>
          </p:nvSpPr>
          <p:spPr>
            <a:xfrm>
              <a:off x="869442" y="1721168"/>
              <a:ext cx="3434144"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Kimlik doğrulama başarısız veya eksik:</a:t>
              </a:r>
              <a:br/>
              <a:r>
                <a:rPr lang="tr-TR" sz="1350" dirty="0">
                  <a:solidFill>
                    <a:srgbClr val="172B3A"/>
                  </a:solidFill>
                  <a:latin typeface="+mn-lt"/>
                  <a:ea typeface="+mn-ea"/>
                  <a:cs typeface="+mn-cs"/>
                </a:rPr>
                <a:t>token yok, süresi dolmuş ya da geçersiz.</a:t>
              </a:r>
            </a:p>
          </p:txBody>
        </p:sp>
        <p:sp>
          <p:nvSpPr>
            <p:cNvPr id="9" name="TextBox 9"/>
            <p:cNvSpPr txBox="1"/>
            <p:nvPr/>
          </p:nvSpPr>
          <p:spPr>
            <a:xfrm>
              <a:off x="870204" y="2404110"/>
              <a:ext cx="342491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"Sen kimsin, henüz bilmiyorum." — RFC 9110</a:t>
              </a:r>
            </a:p>
          </p:txBody>
        </p:sp>
      </p:grpSp>
      <p:grpSp>
        <p:nvGrpSpPr>
          <p:cNvPr id="15" name="col-403"/>
          <p:cNvGrpSpPr/>
          <p:nvPr/>
        </p:nvGrpSpPr>
        <p:grpSpPr>
          <a:xfrm>
            <a:off x="6324600" y="1219200"/>
            <a:ext cx="5257800" cy="1600200"/>
            <a:chOff x="6324600" y="1219200"/>
            <a:chExt cx="5257800" cy="1600200"/>
          </a:xfrm>
        </p:grpSpPr>
        <p:sp>
          <p:nvSpPr>
            <p:cNvPr id="11" name="Rectangle 11"/>
            <p:cNvSpPr/>
            <p:nvPr/>
          </p:nvSpPr>
          <p:spPr>
            <a:xfrm>
              <a:off x="6324600" y="1219200"/>
              <a:ext cx="5257800" cy="1600200"/>
            </a:xfrm>
            <a:prstGeom prst="roundRect">
              <a:avLst>
                <a:gd name="adj" fmla="val 4762"/>
              </a:avLst>
            </a:prstGeom>
            <a:solidFill>
              <a:srgbClr val="FFFFFF"/>
            </a:solidFill>
            <a:ln w="14288">
              <a:solidFill>
                <a:srgbClr val="00A6A6"/>
              </a:solidFill>
            </a:ln>
          </p:spPr>
        </p:sp>
        <p:sp>
          <p:nvSpPr>
            <p:cNvPr id="12" name="TextBox 12"/>
            <p:cNvSpPr txBox="1"/>
            <p:nvPr/>
          </p:nvSpPr>
          <p:spPr>
            <a:xfrm>
              <a:off x="6581394" y="1351598"/>
              <a:ext cx="1864309"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403 Forbidden</a:t>
              </a:r>
            </a:p>
          </p:txBody>
        </p:sp>
        <p:sp>
          <p:nvSpPr>
            <p:cNvPr id="13" name="TextBox 13"/>
            <p:cNvSpPr txBox="1"/>
            <p:nvPr/>
          </p:nvSpPr>
          <p:spPr>
            <a:xfrm>
              <a:off x="6584442" y="1721168"/>
              <a:ext cx="3485578"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Kimlik doğrulandı ama rol/izin yetersiz:</a:t>
              </a:r>
              <a:br/>
              <a:r>
                <a:rPr lang="tr-TR" sz="1350" dirty="0">
                  <a:solidFill>
                    <a:srgbClr val="172B3A"/>
                  </a:solidFill>
                  <a:latin typeface="+mn-lt"/>
                  <a:ea typeface="+mn-ea"/>
                  <a:cs typeface="+mn-cs"/>
                </a:rPr>
                <a:t>öğrenci, kütüphaneciye özel işlemi dener.</a:t>
              </a:r>
            </a:p>
          </p:txBody>
        </p:sp>
        <p:sp>
          <p:nvSpPr>
            <p:cNvPr id="14" name="TextBox 14"/>
            <p:cNvSpPr txBox="1"/>
            <p:nvPr/>
          </p:nvSpPr>
          <p:spPr>
            <a:xfrm>
              <a:off x="6585204" y="2404110"/>
              <a:ext cx="417447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"Seni tanıyorum ama buraya giremezsin." — RFC 9110</a:t>
              </a:r>
            </a:p>
          </p:txBody>
        </p:sp>
      </p:grpSp>
      <p:grpSp>
        <p:nvGrpSpPr>
          <p:cNvPr id="17" name="history-note"/>
          <p:cNvGrpSpPr/>
          <p:nvPr/>
        </p:nvGrpSpPr>
        <p:grpSpPr>
          <a:xfrm>
            <a:off x="603504" y="3070860"/>
            <a:ext cx="8333232" cy="425196"/>
            <a:chOff x="603504" y="3070860"/>
            <a:chExt cx="8333232" cy="425196"/>
          </a:xfrm>
        </p:grpSpPr>
        <p:sp>
          <p:nvSpPr>
            <p:cNvPr id="16" name="TextBox 16"/>
            <p:cNvSpPr txBox="1"/>
            <p:nvPr/>
          </p:nvSpPr>
          <p:spPr>
            <a:xfrm>
              <a:off x="603504" y="3070860"/>
              <a:ext cx="83332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Tarihsel not: "401 Unauthorized" adı, HTTP/1.0 taslağından (RFC 1945, 1996) kalan bir isimlendirme hatasıdır;</a:t>
              </a:r>
              <a:br/>
              <a:r>
                <a:rPr lang="tr-TR" sz="1200" dirty="0">
                  <a:solidFill>
                    <a:srgbClr val="52616B"/>
                  </a:solidFill>
                  <a:latin typeface="+mn-lt"/>
                  <a:ea typeface="+mn-ea"/>
                  <a:cs typeface="+mn-cs"/>
                </a:rPr>
                <a:t>anlamı aslında "Unauthenticated"tır — RFC 9110 (2022) semantiği bunu netleştirir.</a:t>
              </a:r>
            </a:p>
          </p:txBody>
        </p:sp>
      </p:grpSp>
      <p:grpSp>
        <p:nvGrpSpPr>
          <p:cNvPr id="41" name="status-table"/>
          <p:cNvGrpSpPr/>
          <p:nvPr/>
        </p:nvGrpSpPr>
        <p:grpSpPr>
          <a:xfrm>
            <a:off x="609600" y="3695700"/>
            <a:ext cx="10972800" cy="2209800"/>
            <a:chOff x="609600" y="3695700"/>
            <a:chExt cx="10972800" cy="2209800"/>
          </a:xfrm>
        </p:grpSpPr>
        <p:sp>
          <p:nvSpPr>
            <p:cNvPr id="18" name="Rectangle 18"/>
            <p:cNvSpPr/>
            <p:nvPr/>
          </p:nvSpPr>
          <p:spPr>
            <a:xfrm>
              <a:off x="609600" y="3695700"/>
              <a:ext cx="10972800" cy="342900"/>
            </a:xfrm>
            <a:prstGeom prst="rect">
              <a:avLst/>
            </a:prstGeom>
            <a:solidFill>
              <a:srgbClr val="12355B"/>
            </a:solidFill>
            <a:ln>
              <a:noFill/>
            </a:ln>
          </p:spPr>
        </p:sp>
        <p:sp>
          <p:nvSpPr>
            <p:cNvPr id="19" name="TextBox 19"/>
            <p:cNvSpPr txBox="1"/>
            <p:nvPr/>
          </p:nvSpPr>
          <p:spPr>
            <a:xfrm>
              <a:off x="909066" y="3810952"/>
              <a:ext cx="992711"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DURUM KODU</a:t>
              </a:r>
            </a:p>
          </p:txBody>
        </p:sp>
        <p:sp>
          <p:nvSpPr>
            <p:cNvPr id="20" name="TextBox 20"/>
            <p:cNvSpPr txBox="1"/>
            <p:nvPr/>
          </p:nvSpPr>
          <p:spPr>
            <a:xfrm>
              <a:off x="2814066" y="3810952"/>
              <a:ext cx="573672"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ANLAMI</a:t>
              </a:r>
            </a:p>
          </p:txBody>
        </p:sp>
        <p:sp>
          <p:nvSpPr>
            <p:cNvPr id="21" name="TextBox 21"/>
            <p:cNvSpPr txBox="1"/>
            <p:nvPr/>
          </p:nvSpPr>
          <p:spPr>
            <a:xfrm>
              <a:off x="5709666" y="3810952"/>
              <a:ext cx="484594"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ÖRNEK</a:t>
              </a:r>
            </a:p>
          </p:txBody>
        </p:sp>
        <p:sp>
          <p:nvSpPr>
            <p:cNvPr id="22" name="Rectangle 22"/>
            <p:cNvSpPr/>
            <p:nvPr/>
          </p:nvSpPr>
          <p:spPr>
            <a:xfrm>
              <a:off x="609600" y="4038600"/>
              <a:ext cx="10972800" cy="466725"/>
            </a:xfrm>
            <a:prstGeom prst="rect">
              <a:avLst/>
            </a:prstGeom>
            <a:solidFill>
              <a:srgbClr val="FFFFFF"/>
            </a:solidFill>
            <a:ln>
              <a:noFill/>
            </a:ln>
          </p:spPr>
        </p:sp>
        <p:sp>
          <p:nvSpPr>
            <p:cNvPr id="23" name="TextBox 23"/>
            <p:cNvSpPr txBox="1"/>
            <p:nvPr/>
          </p:nvSpPr>
          <p:spPr>
            <a:xfrm>
              <a:off x="908304" y="4185285"/>
              <a:ext cx="142668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401 Unauthorized</a:t>
              </a:r>
            </a:p>
          </p:txBody>
        </p:sp>
        <p:sp>
          <p:nvSpPr>
            <p:cNvPr id="24" name="TextBox 24"/>
            <p:cNvSpPr txBox="1"/>
            <p:nvPr/>
          </p:nvSpPr>
          <p:spPr>
            <a:xfrm>
              <a:off x="2813304" y="4185285"/>
              <a:ext cx="20443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Kimlik bilgisi yok/geçersiz</a:t>
              </a:r>
            </a:p>
          </p:txBody>
        </p:sp>
        <p:sp>
          <p:nvSpPr>
            <p:cNvPr id="25" name="TextBox 25"/>
            <p:cNvSpPr txBox="1"/>
            <p:nvPr/>
          </p:nvSpPr>
          <p:spPr>
            <a:xfrm>
              <a:off x="5709666" y="4201478"/>
              <a:ext cx="359434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Consolas"/>
                  <a:ea typeface="Consolas"/>
                  <a:cs typeface="Consolas"/>
                </a:rPr>
                <a:t>yanit.durum(401).json({ mesaj: "Token yok." })</a:t>
              </a:r>
            </a:p>
          </p:txBody>
        </p:sp>
        <p:sp>
          <p:nvSpPr>
            <p:cNvPr id="26" name="Line 26"/>
            <p:cNvSpPr/>
            <p:nvPr/>
          </p:nvSpPr>
          <p:spPr>
            <a:xfrm>
              <a:off x="609600" y="4505325"/>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7" name="Rectangle 27"/>
            <p:cNvSpPr/>
            <p:nvPr/>
          </p:nvSpPr>
          <p:spPr>
            <a:xfrm>
              <a:off x="609600" y="4505325"/>
              <a:ext cx="10972800" cy="466725"/>
            </a:xfrm>
            <a:prstGeom prst="rect">
              <a:avLst/>
            </a:prstGeom>
            <a:solidFill>
              <a:srgbClr val="EAF4F6"/>
            </a:solidFill>
            <a:ln>
              <a:noFill/>
            </a:ln>
          </p:spPr>
        </p:sp>
        <p:sp>
          <p:nvSpPr>
            <p:cNvPr id="28" name="TextBox 28"/>
            <p:cNvSpPr txBox="1"/>
            <p:nvPr/>
          </p:nvSpPr>
          <p:spPr>
            <a:xfrm>
              <a:off x="908304" y="4652010"/>
              <a:ext cx="114726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403 Forbidden</a:t>
              </a:r>
            </a:p>
          </p:txBody>
        </p:sp>
        <p:sp>
          <p:nvSpPr>
            <p:cNvPr id="29" name="TextBox 29"/>
            <p:cNvSpPr txBox="1"/>
            <p:nvPr/>
          </p:nvSpPr>
          <p:spPr>
            <a:xfrm>
              <a:off x="2813304" y="4652010"/>
              <a:ext cx="24001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Kimlik doğru, rol/izin yetersiz</a:t>
              </a:r>
            </a:p>
          </p:txBody>
        </p:sp>
        <p:sp>
          <p:nvSpPr>
            <p:cNvPr id="30" name="TextBox 30"/>
            <p:cNvSpPr txBox="1"/>
            <p:nvPr/>
          </p:nvSpPr>
          <p:spPr>
            <a:xfrm>
              <a:off x="5709666" y="4668202"/>
              <a:ext cx="382726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Consolas"/>
                  <a:ea typeface="Consolas"/>
                  <a:cs typeface="Consolas"/>
                </a:rPr>
                <a:t>yanit.durum(403).json({ mesaj: "Yetkiniz yok." })</a:t>
              </a:r>
            </a:p>
          </p:txBody>
        </p:sp>
        <p:sp>
          <p:nvSpPr>
            <p:cNvPr id="31" name="Line 31"/>
            <p:cNvSpPr/>
            <p:nvPr/>
          </p:nvSpPr>
          <p:spPr>
            <a:xfrm>
              <a:off x="609600" y="49720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2" name="Rectangle 32"/>
            <p:cNvSpPr/>
            <p:nvPr/>
          </p:nvSpPr>
          <p:spPr>
            <a:xfrm>
              <a:off x="609600" y="4972050"/>
              <a:ext cx="10972800" cy="466725"/>
            </a:xfrm>
            <a:prstGeom prst="rect">
              <a:avLst/>
            </a:prstGeom>
            <a:solidFill>
              <a:srgbClr val="FFFFFF"/>
            </a:solidFill>
            <a:ln>
              <a:noFill/>
            </a:ln>
          </p:spPr>
        </p:sp>
        <p:sp>
          <p:nvSpPr>
            <p:cNvPr id="33" name="TextBox 33"/>
            <p:cNvSpPr txBox="1"/>
            <p:nvPr/>
          </p:nvSpPr>
          <p:spPr>
            <a:xfrm>
              <a:off x="908304" y="5118735"/>
              <a:ext cx="115613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404 Not Found</a:t>
              </a:r>
            </a:p>
          </p:txBody>
        </p:sp>
        <p:sp>
          <p:nvSpPr>
            <p:cNvPr id="34" name="TextBox 34"/>
            <p:cNvSpPr txBox="1"/>
            <p:nvPr/>
          </p:nvSpPr>
          <p:spPr>
            <a:xfrm>
              <a:off x="2813304" y="5118735"/>
              <a:ext cx="424226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Kaynak yok (bazen 403 yerine gizlemek için kullanılır)</a:t>
              </a:r>
            </a:p>
          </p:txBody>
        </p:sp>
        <p:sp>
          <p:nvSpPr>
            <p:cNvPr id="35" name="TextBox 35"/>
            <p:cNvSpPr txBox="1"/>
            <p:nvPr/>
          </p:nvSpPr>
          <p:spPr>
            <a:xfrm>
              <a:off x="5709666" y="5134928"/>
              <a:ext cx="367172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Consolas"/>
                  <a:ea typeface="Consolas"/>
                  <a:cs typeface="Consolas"/>
                </a:rPr>
                <a:t>yanit.durum(404).json({ mesaj: "Bulunamadı." })</a:t>
              </a:r>
            </a:p>
          </p:txBody>
        </p:sp>
        <p:sp>
          <p:nvSpPr>
            <p:cNvPr id="36" name="Line 36"/>
            <p:cNvSpPr/>
            <p:nvPr/>
          </p:nvSpPr>
          <p:spPr>
            <a:xfrm>
              <a:off x="609600" y="5438775"/>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7" name="Rectangle 37"/>
            <p:cNvSpPr/>
            <p:nvPr/>
          </p:nvSpPr>
          <p:spPr>
            <a:xfrm>
              <a:off x="609600" y="5438775"/>
              <a:ext cx="10972800" cy="466725"/>
            </a:xfrm>
            <a:prstGeom prst="rect">
              <a:avLst/>
            </a:prstGeom>
            <a:solidFill>
              <a:srgbClr val="EAF4F6"/>
            </a:solidFill>
            <a:ln>
              <a:noFill/>
            </a:ln>
          </p:spPr>
        </p:sp>
        <p:sp>
          <p:nvSpPr>
            <p:cNvPr id="38" name="TextBox 38"/>
            <p:cNvSpPr txBox="1"/>
            <p:nvPr/>
          </p:nvSpPr>
          <p:spPr>
            <a:xfrm>
              <a:off x="908304" y="5585460"/>
              <a:ext cx="134163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400 Bad Request</a:t>
              </a:r>
            </a:p>
          </p:txBody>
        </p:sp>
        <p:sp>
          <p:nvSpPr>
            <p:cNvPr id="39" name="TextBox 39"/>
            <p:cNvSpPr txBox="1"/>
            <p:nvPr/>
          </p:nvSpPr>
          <p:spPr>
            <a:xfrm>
              <a:off x="2813304" y="5585460"/>
              <a:ext cx="28686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İstek gövdesi/parametresi geçersiz</a:t>
              </a:r>
            </a:p>
          </p:txBody>
        </p:sp>
        <p:sp>
          <p:nvSpPr>
            <p:cNvPr id="40" name="TextBox 40"/>
            <p:cNvSpPr txBox="1"/>
            <p:nvPr/>
          </p:nvSpPr>
          <p:spPr>
            <a:xfrm>
              <a:off x="5709666" y="5601652"/>
              <a:ext cx="398257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Consolas"/>
                  <a:ea typeface="Consolas"/>
                  <a:cs typeface="Consolas"/>
                </a:rPr>
                <a:t>yanit.durum(400).json({ mesaj: "Geçersiz istek." })</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37513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MİMARİ ÇÖZÜM</a:t>
              </a:r>
            </a:p>
          </p:txBody>
        </p:sp>
      </p:grpSp>
      <p:grpSp>
        <p:nvGrpSpPr>
          <p:cNvPr id="21" name="fallacy-jwt-encrypted"/>
          <p:cNvGrpSpPr/>
          <p:nvPr/>
        </p:nvGrpSpPr>
        <p:grpSpPr>
          <a:xfrm>
            <a:off x="609600" y="1849279"/>
            <a:ext cx="10972800" cy="1313021"/>
            <a:chOff x="609600" y="1849279"/>
            <a:chExt cx="10972800" cy="1313021"/>
          </a:xfrm>
        </p:grpSpPr>
        <p:sp>
          <p:nvSpPr>
            <p:cNvPr id="17" name="TextBox 17"/>
            <p:cNvSpPr txBox="1"/>
            <p:nvPr/>
          </p:nvSpPr>
          <p:spPr>
            <a:xfrm>
              <a:off x="753999" y="1849279"/>
              <a:ext cx="1964912"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"JWT şifreli bir</a:t>
              </a:r>
              <a:br/>
              <a:r>
                <a:rPr lang="tr-TR" sz="1580" b="1" dirty="0">
                  <a:solidFill>
                    <a:srgbClr val="12355B"/>
                  </a:solidFill>
                  <a:latin typeface="+mn-lt"/>
                  <a:ea typeface="+mn-ea"/>
                  <a:cs typeface="+mn-cs"/>
                </a:rPr>
                <a:t>belirteçtir; içeriği</a:t>
              </a:r>
              <a:br/>
              <a:r>
                <a:rPr lang="tr-TR" sz="1580" b="1" dirty="0">
                  <a:solidFill>
                    <a:srgbClr val="12355B"/>
                  </a:solidFill>
                  <a:latin typeface="+mn-lt"/>
                  <a:ea typeface="+mn-ea"/>
                  <a:cs typeface="+mn-cs"/>
                </a:rPr>
                <a:t>kimse okuyamaz."</a:t>
              </a:r>
            </a:p>
          </p:txBody>
        </p:sp>
        <p:sp>
          <p:nvSpPr>
            <p:cNvPr id="18" name="TextBox 18"/>
            <p:cNvSpPr txBox="1"/>
            <p:nvPr/>
          </p:nvSpPr>
          <p:spPr>
            <a:xfrm>
              <a:off x="4375404" y="1889760"/>
              <a:ext cx="34411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JWT imzalıdır, şifreli değildir. Header ve</a:t>
              </a:r>
              <a:br/>
              <a:r>
                <a:rPr lang="tr-TR" sz="1200" dirty="0">
                  <a:solidFill>
                    <a:srgbClr val="172B3A"/>
                  </a:solidFill>
                  <a:latin typeface="+mn-lt"/>
                  <a:ea typeface="+mn-ea"/>
                  <a:cs typeface="+mn-cs"/>
                </a:rPr>
                <a:t>payload yalnızca base64url ile kodlanmıştır;</a:t>
              </a:r>
              <a:br/>
              <a:r>
                <a:rPr lang="tr-TR" sz="1200" dirty="0">
                  <a:solidFill>
                    <a:srgbClr val="172B3A"/>
                  </a:solidFill>
                  <a:latin typeface="+mn-lt"/>
                  <a:ea typeface="+mn-ea"/>
                  <a:cs typeface="+mn-cs"/>
                </a:rPr>
                <a:t>herkes çözüp içeriği okuyabilir. İmza yalnızca</a:t>
              </a:r>
              <a:br/>
              <a:r>
                <a:rPr lang="tr-TR" sz="1200" dirty="0">
                  <a:solidFill>
                    <a:srgbClr val="172B3A"/>
                  </a:solidFill>
                  <a:latin typeface="+mn-lt"/>
                  <a:ea typeface="+mn-ea"/>
                  <a:cs typeface="+mn-cs"/>
                </a:rPr>
                <a:t>değiştirilmediğini garanti eder.</a:t>
              </a:r>
            </a:p>
          </p:txBody>
        </p:sp>
        <p:sp>
          <p:nvSpPr>
            <p:cNvPr id="19" name="TextBox 19"/>
            <p:cNvSpPr txBox="1"/>
            <p:nvPr/>
          </p:nvSpPr>
          <p:spPr>
            <a:xfrm>
              <a:off x="8185404" y="1889760"/>
              <a:ext cx="28392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Payload'a parola, kimlik numarası gibi</a:t>
              </a:r>
              <a:br/>
              <a:r>
                <a:rPr lang="tr-TR" sz="1200" dirty="0">
                  <a:solidFill>
                    <a:srgbClr val="172B3A"/>
                  </a:solidFill>
                  <a:latin typeface="+mn-lt"/>
                  <a:ea typeface="+mn-ea"/>
                  <a:cs typeface="+mn-cs"/>
                </a:rPr>
                <a:t>hassas veriler asla konulmamalı;</a:t>
              </a:r>
              <a:br/>
              <a:r>
                <a:rPr lang="tr-TR" sz="1200" dirty="0">
                  <a:solidFill>
                    <a:srgbClr val="172B3A"/>
                  </a:solidFill>
                  <a:latin typeface="+mn-lt"/>
                  <a:ea typeface="+mn-ea"/>
                  <a:cs typeface="+mn-cs"/>
                </a:rPr>
                <a:t>gizlilik gerekiyorsa ayrıca JWE ile</a:t>
              </a:r>
              <a:br/>
              <a:r>
                <a:rPr lang="tr-TR" sz="1200" dirty="0">
                  <a:solidFill>
                    <a:srgbClr val="172B3A"/>
                  </a:solidFill>
                  <a:latin typeface="+mn-lt"/>
                  <a:ea typeface="+mn-ea"/>
                  <a:cs typeface="+mn-cs"/>
                </a:rPr>
                <a:t>şifreleme uygulanmalıdır.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bola"/>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2776080"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"Giriş yapmış kullanıcı,</a:t>
              </a:r>
              <a:br/>
              <a:r>
                <a:rPr lang="tr-TR" sz="1580" b="1" dirty="0">
                  <a:solidFill>
                    <a:srgbClr val="12355B"/>
                  </a:solidFill>
                  <a:latin typeface="+mn-lt"/>
                  <a:ea typeface="+mn-ea"/>
                  <a:cs typeface="+mn-cs"/>
                </a:rPr>
                <a:t>kendi gönderdiği ID ile</a:t>
              </a:r>
              <a:br/>
              <a:r>
                <a:rPr lang="tr-TR" sz="1580" b="1" dirty="0">
                  <a:solidFill>
                    <a:srgbClr val="12355B"/>
                  </a:solidFill>
                  <a:latin typeface="+mn-lt"/>
                  <a:ea typeface="+mn-ea"/>
                  <a:cs typeface="+mn-cs"/>
                </a:rPr>
                <a:t>her kaydı güncelleyebilir."</a:t>
              </a:r>
            </a:p>
          </p:txBody>
        </p:sp>
        <p:sp>
          <p:nvSpPr>
            <p:cNvPr id="24" name="TextBox 24"/>
            <p:cNvSpPr txBox="1"/>
            <p:nvPr/>
          </p:nvSpPr>
          <p:spPr>
            <a:xfrm>
              <a:off x="4375404" y="3337560"/>
              <a:ext cx="32049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Kimlik doğrulama, isteğin sahibini bilmek</a:t>
              </a:r>
              <a:br/>
              <a:r>
                <a:rPr lang="tr-TR" sz="1200" dirty="0">
                  <a:solidFill>
                    <a:srgbClr val="172B3A"/>
                  </a:solidFill>
                  <a:latin typeface="+mn-lt"/>
                  <a:ea typeface="+mn-ea"/>
                  <a:cs typeface="+mn-cs"/>
                </a:rPr>
                <a:t>demektir; nesne düzeyinde yetki kontrolü</a:t>
              </a:r>
              <a:br/>
              <a:r>
                <a:rPr lang="tr-TR" sz="1200" dirty="0">
                  <a:solidFill>
                    <a:srgbClr val="172B3A"/>
                  </a:solidFill>
                  <a:latin typeface="+mn-lt"/>
                  <a:ea typeface="+mn-ea"/>
                  <a:cs typeface="+mn-cs"/>
                </a:rPr>
                <a:t>yapılmazsa bu, BOLA/IDOR açığına (OWASP</a:t>
              </a:r>
              <a:br/>
              <a:r>
                <a:rPr lang="tr-TR" sz="1200" dirty="0">
                  <a:solidFill>
                    <a:srgbClr val="172B3A"/>
                  </a:solidFill>
                  <a:latin typeface="+mn-lt"/>
                  <a:ea typeface="+mn-ea"/>
                  <a:cs typeface="+mn-cs"/>
                </a:rPr>
                <a:t>API Top 10, #1) yol açar.</a:t>
              </a:r>
            </a:p>
          </p:txBody>
        </p:sp>
        <p:sp>
          <p:nvSpPr>
            <p:cNvPr id="25" name="TextBox 25"/>
            <p:cNvSpPr txBox="1"/>
            <p:nvPr/>
          </p:nvSpPr>
          <p:spPr>
            <a:xfrm>
              <a:off x="8185404" y="3337560"/>
              <a:ext cx="28925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Her istekte hedef kaydın gerçek sahibi</a:t>
              </a:r>
              <a:br/>
              <a:r>
                <a:rPr lang="tr-TR" sz="1200" dirty="0">
                  <a:solidFill>
                    <a:srgbClr val="172B3A"/>
                  </a:solidFill>
                  <a:latin typeface="+mn-lt"/>
                  <a:ea typeface="+mn-ea"/>
                  <a:cs typeface="+mn-cs"/>
                </a:rPr>
                <a:t>sunucu tarafında doğrulanmalı: nesne</a:t>
              </a:r>
              <a:br/>
              <a:r>
                <a:rPr lang="tr-TR" sz="1200" dirty="0">
                  <a:solidFill>
                    <a:srgbClr val="172B3A"/>
                  </a:solidFill>
                  <a:latin typeface="+mn-lt"/>
                  <a:ea typeface="+mn-ea"/>
                  <a:cs typeface="+mn-cs"/>
                </a:rPr>
                <a:t>düzeyi yetkilendirme (Object-Level</a:t>
              </a:r>
              <a:br/>
              <a:r>
                <a:rPr lang="tr-TR" sz="1200" dirty="0">
                  <a:solidFill>
                    <a:srgbClr val="172B3A"/>
                  </a:solidFill>
                  <a:latin typeface="+mn-lt"/>
                  <a:ea typeface="+mn-ea"/>
                  <a:cs typeface="+mn-cs"/>
                </a:rPr>
                <a:t>Authorization) uygulanmalıdır.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md5"/>
          <p:cNvGrpSpPr/>
          <p:nvPr/>
        </p:nvGrpSpPr>
        <p:grpSpPr>
          <a:xfrm>
            <a:off x="753999" y="4744879"/>
            <a:ext cx="10491597" cy="903827"/>
            <a:chOff x="753999" y="4744879"/>
            <a:chExt cx="10491597" cy="903827"/>
          </a:xfrm>
        </p:grpSpPr>
        <p:sp>
          <p:nvSpPr>
            <p:cNvPr id="28" name="TextBox 28"/>
            <p:cNvSpPr txBox="1"/>
            <p:nvPr/>
          </p:nvSpPr>
          <p:spPr>
            <a:xfrm>
              <a:off x="753999" y="4744879"/>
              <a:ext cx="2302021"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"MD5 veya SHA-256 ile</a:t>
              </a:r>
              <a:br/>
              <a:r>
                <a:rPr lang="tr-TR" sz="1580" b="1" dirty="0">
                  <a:solidFill>
                    <a:srgbClr val="12355B"/>
                  </a:solidFill>
                  <a:latin typeface="+mn-lt"/>
                  <a:ea typeface="+mn-ea"/>
                  <a:cs typeface="+mn-cs"/>
                </a:rPr>
                <a:t>hashlemek parola için</a:t>
              </a:r>
              <a:br/>
              <a:r>
                <a:rPr lang="tr-TR" sz="1580" b="1" dirty="0">
                  <a:solidFill>
                    <a:srgbClr val="12355B"/>
                  </a:solidFill>
                  <a:latin typeface="+mn-lt"/>
                  <a:ea typeface="+mn-ea"/>
                  <a:cs typeface="+mn-cs"/>
                </a:rPr>
                <a:t>yeterince güvenlidir."</a:t>
              </a:r>
            </a:p>
          </p:txBody>
        </p:sp>
        <p:sp>
          <p:nvSpPr>
            <p:cNvPr id="29" name="TextBox 29"/>
            <p:cNvSpPr txBox="1"/>
            <p:nvPr/>
          </p:nvSpPr>
          <p:spPr>
            <a:xfrm>
              <a:off x="4375404" y="4785360"/>
              <a:ext cx="35173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Bu özet fonksiyonları hız için tasarlanmıştır;</a:t>
              </a:r>
              <a:br/>
              <a:r>
                <a:rPr lang="tr-TR" sz="1200" dirty="0">
                  <a:solidFill>
                    <a:srgbClr val="172B3A"/>
                  </a:solidFill>
                  <a:latin typeface="+mn-lt"/>
                  <a:ea typeface="+mn-ea"/>
                  <a:cs typeface="+mn-cs"/>
                </a:rPr>
                <a:t>GPU ile saniyede milyarlarca deneme yapılabilir</a:t>
              </a:r>
              <a:br/>
              <a:r>
                <a:rPr lang="tr-TR" sz="1200" dirty="0">
                  <a:solidFill>
                    <a:srgbClr val="172B3A"/>
                  </a:solidFill>
                  <a:latin typeface="+mn-lt"/>
                  <a:ea typeface="+mn-ea"/>
                  <a:cs typeface="+mn-cs"/>
                </a:rPr>
                <a:t>ve önceden hesaplanmış rainbow table</a:t>
              </a:r>
              <a:br/>
              <a:r>
                <a:rPr lang="tr-TR" sz="1200" dirty="0">
                  <a:solidFill>
                    <a:srgbClr val="172B3A"/>
                  </a:solidFill>
                  <a:latin typeface="+mn-lt"/>
                  <a:ea typeface="+mn-ea"/>
                  <a:cs typeface="+mn-cs"/>
                </a:rPr>
                <a:t>saldırılarına açıktır.</a:t>
              </a:r>
            </a:p>
          </p:txBody>
        </p:sp>
        <p:sp>
          <p:nvSpPr>
            <p:cNvPr id="30" name="TextBox 30"/>
            <p:cNvSpPr txBox="1"/>
            <p:nvPr/>
          </p:nvSpPr>
          <p:spPr>
            <a:xfrm>
              <a:off x="8185404" y="4785360"/>
              <a:ext cx="30601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Parola için özel olarak yavaş tasarlanmış</a:t>
              </a:r>
              <a:br/>
              <a:r>
                <a:rPr lang="tr-TR" sz="1200" dirty="0">
                  <a:solidFill>
                    <a:srgbClr val="172B3A"/>
                  </a:solidFill>
                  <a:latin typeface="+mn-lt"/>
                  <a:ea typeface="+mn-ea"/>
                  <a:cs typeface="+mn-cs"/>
                </a:rPr>
                <a:t>scrypt, bcrypt veya argon2 gibi</a:t>
              </a:r>
              <a:br/>
              <a:r>
                <a:rPr lang="tr-TR" sz="1200" dirty="0">
                  <a:solidFill>
                    <a:srgbClr val="172B3A"/>
                  </a:solidFill>
                  <a:latin typeface="+mn-lt"/>
                  <a:ea typeface="+mn-ea"/>
                  <a:cs typeface="+mn-cs"/>
                </a:rPr>
                <a:t>algoritmalar, salt ile birlikte</a:t>
              </a:r>
              <a:br/>
              <a:r>
                <a:rPr lang="tr-TR" sz="1200" dirty="0">
                  <a:solidFill>
                    <a:srgbClr val="172B3A"/>
                  </a:solidFill>
                  <a:latin typeface="+mn-lt"/>
                  <a:ea typeface="+mn-ea"/>
                  <a:cs typeface="+mn-cs"/>
                </a:rPr>
                <a:t>kullanılmalıdır.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11" name="title"/>
          <p:cNvGrpSpPr/>
          <p:nvPr/>
        </p:nvGrpSpPr>
        <p:grpSpPr>
          <a:xfrm>
            <a:off x="0" y="0"/>
            <a:ext cx="12302176" cy="952500"/>
            <a:chOff x="0" y="0"/>
            <a:chExt cx="12302176" cy="952500"/>
          </a:xfrm>
        </p:grpSpPr>
        <p:sp>
          <p:nvSpPr>
            <p:cNvPr id="2" name="Rectangle 2"/>
            <p:cNvSpPr/>
            <p:nvPr/>
          </p:nvSpPr>
          <p:spPr>
            <a:xfrm>
              <a:off x="0" y="0"/>
              <a:ext cx="12192000" cy="914400"/>
            </a:xfrm>
            <a:prstGeom prst="rect">
              <a:avLst/>
            </a:prstGeom>
            <a:solidFill>
              <a:srgbClr val="12355B"/>
            </a:solidFill>
            <a:ln>
              <a:noFill/>
            </a:ln>
          </p:spPr>
        </p:sp>
        <p:sp>
          <p:nvSpPr>
            <p:cNvPr id="3" name="Rectangle 3"/>
            <p:cNvSpPr/>
            <p:nvPr/>
          </p:nvSpPr>
          <p:spPr>
            <a:xfrm>
              <a:off x="0" y="914400"/>
              <a:ext cx="12192000" cy="38100"/>
            </a:xfrm>
            <a:prstGeom prst="rect">
              <a:avLst/>
            </a:prstGeom>
            <a:solidFill>
              <a:srgbClr val="00A6A6"/>
            </a:solidFill>
            <a:ln>
              <a:noFill/>
            </a:ln>
          </p:spPr>
        </p:sp>
        <p:grpSp>
          <p:nvGrpSpPr>
            <p:cNvPr id="9" name="icon-badge"/>
            <p:cNvGrpSpPr/>
            <p:nvPr/>
          </p:nvGrpSpPr>
          <p:grpSpPr>
            <a:xfrm>
              <a:off x="571500" y="171450"/>
              <a:ext cx="571500" cy="571500"/>
              <a:chOff x="571500" y="171450"/>
              <a:chExt cx="571500" cy="571500"/>
            </a:xfrm>
          </p:grpSpPr>
          <p:sp>
            <p:nvSpPr>
              <p:cNvPr id="4" name="Ellipse 4"/>
              <p:cNvSpPr/>
              <p:nvPr/>
            </p:nvSpPr>
            <p:spPr>
              <a:xfrm>
                <a:off x="571500" y="171450"/>
                <a:ext cx="571500" cy="571500"/>
              </a:xfrm>
              <a:prstGeom prst="ellipse">
                <a:avLst/>
              </a:prstGeom>
              <a:solidFill>
                <a:srgbClr val="00A6A6"/>
              </a:solidFill>
              <a:ln>
                <a:noFill/>
              </a:ln>
            </p:spPr>
          </p:sp>
          <p:grpSp>
            <p:nvGrpSpPr>
              <p:cNvPr id="8" name="Group 8"/>
              <p:cNvGrpSpPr/>
              <p:nvPr/>
            </p:nvGrpSpPr>
            <p:grpSpPr>
              <a:xfrm>
                <a:off x="708356" y="319421"/>
                <a:ext cx="297777" cy="255830"/>
                <a:chOff x="708356" y="319421"/>
                <a:chExt cx="297777" cy="255830"/>
              </a:xfrm>
            </p:grpSpPr>
            <p:sp>
              <p:nvSpPr>
                <p:cNvPr id="5" name="Freeform 5"/>
                <p:cNvSpPr/>
                <p:nvPr/>
              </p:nvSpPr>
              <p:spPr>
                <a:xfrm>
                  <a:off x="8572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083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572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61872" y="282892"/>
              <a:ext cx="11040304" cy="557403"/>
            </a:xfrm>
            <a:prstGeom prst="rect">
              <a:avLst/>
            </a:prstGeom>
            <a:noFill/>
            <a:ln>
              <a:noFill/>
            </a:ln>
          </p:spPr>
          <p:txBody>
            <a:bodyPr wrap="none" lIns="0" tIns="0" rIns="0" bIns="0" anchor="t" anchorCtr="0">
              <a:spAutoFit/>
            </a:bodyPr>
            <a:lstStyle/>
            <a:p>
              <a:pPr algn="l"/>
              <a:r>
                <a:rPr lang="tr-TR" sz="2850" b="1" dirty="0">
                  <a:solidFill>
                    <a:srgbClr val="F7FAFC"/>
                  </a:solidFill>
                  <a:latin typeface="+mj-lt"/>
                  <a:ea typeface="+mj-ea"/>
                  <a:cs typeface="+mj-cs"/>
                </a:rPr>
                <a:t>Hata ayıklama alıştırması: null kontrolü ve durum kodu</a:t>
              </a:r>
            </a:p>
          </p:txBody>
        </p:sp>
      </p:grpSp>
      <p:grpSp>
        <p:nvGrpSpPr>
          <p:cNvPr id="24" name="buggy-panel"/>
          <p:cNvGrpSpPr/>
          <p:nvPr/>
        </p:nvGrpSpPr>
        <p:grpSpPr>
          <a:xfrm>
            <a:off x="571500" y="1219200"/>
            <a:ext cx="5486400" cy="2857500"/>
            <a:chOff x="571500" y="1219200"/>
            <a:chExt cx="5486400" cy="2857500"/>
          </a:xfrm>
        </p:grpSpPr>
        <p:sp>
          <p:nvSpPr>
            <p:cNvPr id="12" name="Rectangle 12"/>
            <p:cNvSpPr/>
            <p:nvPr/>
          </p:nvSpPr>
          <p:spPr>
            <a:xfrm>
              <a:off x="571500" y="1219200"/>
              <a:ext cx="5486400" cy="2857500"/>
            </a:xfrm>
            <a:prstGeom prst="rect">
              <a:avLst/>
            </a:prstGeom>
            <a:solidFill>
              <a:srgbClr val="12355B"/>
            </a:solidFill>
            <a:ln>
              <a:noFill/>
            </a:ln>
          </p:spPr>
        </p:sp>
        <p:sp>
          <p:nvSpPr>
            <p:cNvPr id="13" name="TextBox 13"/>
            <p:cNvSpPr txBox="1"/>
            <p:nvPr/>
          </p:nvSpPr>
          <p:spPr>
            <a:xfrm>
              <a:off x="756285" y="1364456"/>
              <a:ext cx="739073" cy="220028"/>
            </a:xfrm>
            <a:prstGeom prst="rect">
              <a:avLst/>
            </a:prstGeom>
            <a:noFill/>
            <a:ln>
              <a:noFill/>
            </a:ln>
          </p:spPr>
          <p:txBody>
            <a:bodyPr wrap="none" lIns="0" tIns="0" rIns="0" bIns="0" anchor="t" anchorCtr="0">
              <a:spAutoFit/>
            </a:bodyPr>
            <a:lstStyle/>
            <a:p>
              <a:pPr algn="l"/>
              <a:r>
                <a:rPr lang="tr-TR" sz="1120" b="1" dirty="0">
                  <a:solidFill>
                    <a:srgbClr val="FF8A80"/>
                  </a:solidFill>
                  <a:latin typeface="+mn-lt"/>
                  <a:ea typeface="+mn-ea"/>
                  <a:cs typeface="+mn-cs"/>
                </a:rPr>
                <a:t>✕ HATALI</a:t>
              </a:r>
            </a:p>
          </p:txBody>
        </p:sp>
        <p:sp>
          <p:nvSpPr>
            <p:cNvPr id="14" name="TextBox 14"/>
            <p:cNvSpPr txBox="1"/>
            <p:nvPr/>
          </p:nvSpPr>
          <p:spPr>
            <a:xfrm>
              <a:off x="756666" y="1639252"/>
              <a:ext cx="1963811"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function kitapEkleHatali(</a:t>
              </a:r>
            </a:p>
          </p:txBody>
        </p:sp>
        <p:sp>
          <p:nvSpPr>
            <p:cNvPr id="15" name="TextBox 15"/>
            <p:cNvSpPr txBox="1"/>
            <p:nvPr/>
          </p:nvSpPr>
          <p:spPr>
            <a:xfrm>
              <a:off x="947166" y="1829752"/>
              <a:ext cx="2970876"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kullanici: Kullanici | null): string {</a:t>
              </a:r>
            </a:p>
          </p:txBody>
        </p:sp>
        <p:sp>
          <p:nvSpPr>
            <p:cNvPr id="16" name="TextBox 16"/>
            <p:cNvSpPr txBox="1"/>
            <p:nvPr/>
          </p:nvSpPr>
          <p:spPr>
            <a:xfrm>
              <a:off x="947166" y="2020252"/>
              <a:ext cx="2964904"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if (kullanici.rol === "kutuphaneci") {</a:t>
              </a:r>
            </a:p>
          </p:txBody>
        </p:sp>
        <p:sp>
          <p:nvSpPr>
            <p:cNvPr id="17" name="TextBox 17"/>
            <p:cNvSpPr txBox="1"/>
            <p:nvPr/>
          </p:nvSpPr>
          <p:spPr>
            <a:xfrm>
              <a:off x="1137666" y="2210752"/>
              <a:ext cx="1882369"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return "Kitap eklendi.";</a:t>
              </a:r>
            </a:p>
          </p:txBody>
        </p:sp>
        <p:sp>
          <p:nvSpPr>
            <p:cNvPr id="18" name="TextBox 18"/>
            <p:cNvSpPr txBox="1"/>
            <p:nvPr/>
          </p:nvSpPr>
          <p:spPr>
            <a:xfrm>
              <a:off x="947166" y="2401252"/>
              <a:ext cx="88411"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a:t>
              </a:r>
            </a:p>
          </p:txBody>
        </p:sp>
        <p:sp>
          <p:nvSpPr>
            <p:cNvPr id="19" name="TextBox 19"/>
            <p:cNvSpPr txBox="1"/>
            <p:nvPr/>
          </p:nvSpPr>
          <p:spPr>
            <a:xfrm>
              <a:off x="947166" y="2591752"/>
              <a:ext cx="1960034"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return "Yetkisiz işlem.";</a:t>
              </a:r>
            </a:p>
          </p:txBody>
        </p:sp>
        <p:sp>
          <p:nvSpPr>
            <p:cNvPr id="20" name="TextBox 20"/>
            <p:cNvSpPr txBox="1"/>
            <p:nvPr/>
          </p:nvSpPr>
          <p:spPr>
            <a:xfrm>
              <a:off x="756666" y="2782252"/>
              <a:ext cx="88411"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a:t>
              </a:r>
            </a:p>
          </p:txBody>
        </p:sp>
        <p:sp>
          <p:nvSpPr>
            <p:cNvPr id="21" name="TextBox 21"/>
            <p:cNvSpPr txBox="1"/>
            <p:nvPr/>
          </p:nvSpPr>
          <p:spPr>
            <a:xfrm>
              <a:off x="756666" y="3048952"/>
              <a:ext cx="1731206"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kitapEkleHatali(null);</a:t>
              </a:r>
            </a:p>
          </p:txBody>
        </p:sp>
        <p:sp>
          <p:nvSpPr>
            <p:cNvPr id="22" name="TextBox 22"/>
            <p:cNvSpPr txBox="1"/>
            <p:nvPr/>
          </p:nvSpPr>
          <p:spPr>
            <a:xfrm>
              <a:off x="756666" y="3277552"/>
              <a:ext cx="3290662" cy="205359"/>
            </a:xfrm>
            <a:prstGeom prst="rect">
              <a:avLst/>
            </a:prstGeom>
            <a:noFill/>
            <a:ln>
              <a:noFill/>
            </a:ln>
          </p:spPr>
          <p:txBody>
            <a:bodyPr wrap="none" lIns="0" tIns="0" rIns="0" bIns="0" anchor="t" anchorCtr="0">
              <a:spAutoFit/>
            </a:bodyPr>
            <a:lstStyle/>
            <a:p>
              <a:pPr algn="l"/>
              <a:r>
                <a:rPr lang="tr-TR" sz="1050" dirty="0">
                  <a:solidFill>
                    <a:srgbClr val="FF8A80"/>
                  </a:solidFill>
                  <a:latin typeface="Consolas"/>
                  <a:ea typeface="Consolas"/>
                  <a:cs typeface="Consolas"/>
                </a:rPr>
                <a:t>// TS18047: 'kullanici' is possibly 'null'</a:t>
              </a:r>
            </a:p>
          </p:txBody>
        </p:sp>
        <p:sp>
          <p:nvSpPr>
            <p:cNvPr id="23" name="TextBox 23"/>
            <p:cNvSpPr txBox="1"/>
            <p:nvPr/>
          </p:nvSpPr>
          <p:spPr>
            <a:xfrm>
              <a:off x="756666" y="3468052"/>
              <a:ext cx="2827020" cy="205359"/>
            </a:xfrm>
            <a:prstGeom prst="rect">
              <a:avLst/>
            </a:prstGeom>
            <a:noFill/>
            <a:ln>
              <a:noFill/>
            </a:ln>
          </p:spPr>
          <p:txBody>
            <a:bodyPr wrap="none" lIns="0" tIns="0" rIns="0" bIns="0" anchor="t" anchorCtr="0">
              <a:spAutoFit/>
            </a:bodyPr>
            <a:lstStyle/>
            <a:p>
              <a:pPr algn="l"/>
              <a:r>
                <a:rPr lang="tr-TR" sz="1050" dirty="0">
                  <a:solidFill>
                    <a:srgbClr val="FF8A80"/>
                  </a:solidFill>
                  <a:latin typeface="Consolas"/>
                  <a:ea typeface="Consolas"/>
                  <a:cs typeface="Consolas"/>
                </a:rPr>
                <a:t>// Çalışma zamanı: TypeError (çökme)</a:t>
              </a:r>
            </a:p>
          </p:txBody>
        </p:sp>
      </p:grpSp>
      <p:grpSp>
        <p:nvGrpSpPr>
          <p:cNvPr id="38" name="fixed-panel"/>
          <p:cNvGrpSpPr/>
          <p:nvPr/>
        </p:nvGrpSpPr>
        <p:grpSpPr>
          <a:xfrm>
            <a:off x="6134100" y="1219200"/>
            <a:ext cx="5486400" cy="2857500"/>
            <a:chOff x="6134100" y="1219200"/>
            <a:chExt cx="5486400" cy="2857500"/>
          </a:xfrm>
        </p:grpSpPr>
        <p:sp>
          <p:nvSpPr>
            <p:cNvPr id="25" name="Rectangle 25"/>
            <p:cNvSpPr/>
            <p:nvPr/>
          </p:nvSpPr>
          <p:spPr>
            <a:xfrm>
              <a:off x="6134100" y="1219200"/>
              <a:ext cx="5486400" cy="2857500"/>
            </a:xfrm>
            <a:prstGeom prst="rect">
              <a:avLst/>
            </a:prstGeom>
            <a:solidFill>
              <a:srgbClr val="12355B"/>
            </a:solidFill>
            <a:ln>
              <a:noFill/>
            </a:ln>
          </p:spPr>
        </p:sp>
        <p:sp>
          <p:nvSpPr>
            <p:cNvPr id="26" name="TextBox 26"/>
            <p:cNvSpPr txBox="1"/>
            <p:nvPr/>
          </p:nvSpPr>
          <p:spPr>
            <a:xfrm>
              <a:off x="6318885" y="1364456"/>
              <a:ext cx="1274351"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 DÜZELTİLMİŞ</a:t>
              </a:r>
            </a:p>
          </p:txBody>
        </p:sp>
        <p:sp>
          <p:nvSpPr>
            <p:cNvPr id="27" name="TextBox 27"/>
            <p:cNvSpPr txBox="1"/>
            <p:nvPr/>
          </p:nvSpPr>
          <p:spPr>
            <a:xfrm>
              <a:off x="6319266" y="1639252"/>
              <a:ext cx="2352389"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function kitapEkleDuzeltilmis(</a:t>
              </a:r>
            </a:p>
          </p:txBody>
        </p:sp>
        <p:sp>
          <p:nvSpPr>
            <p:cNvPr id="28" name="TextBox 28"/>
            <p:cNvSpPr txBox="1"/>
            <p:nvPr/>
          </p:nvSpPr>
          <p:spPr>
            <a:xfrm>
              <a:off x="6509766" y="1829752"/>
              <a:ext cx="2899222"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kullanici: Kullanici | null): Yanit {</a:t>
              </a:r>
            </a:p>
          </p:txBody>
        </p:sp>
        <p:sp>
          <p:nvSpPr>
            <p:cNvPr id="29" name="TextBox 29"/>
            <p:cNvSpPr txBox="1"/>
            <p:nvPr/>
          </p:nvSpPr>
          <p:spPr>
            <a:xfrm>
              <a:off x="6509766" y="2020252"/>
              <a:ext cx="1332300"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if (!kullanici) {</a:t>
              </a:r>
            </a:p>
          </p:txBody>
        </p:sp>
        <p:sp>
          <p:nvSpPr>
            <p:cNvPr id="30" name="TextBox 30"/>
            <p:cNvSpPr txBox="1"/>
            <p:nvPr/>
          </p:nvSpPr>
          <p:spPr>
            <a:xfrm>
              <a:off x="6700266" y="2210752"/>
              <a:ext cx="2429797"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return { durumKodu: 401, ... };</a:t>
              </a:r>
            </a:p>
          </p:txBody>
        </p:sp>
        <p:sp>
          <p:nvSpPr>
            <p:cNvPr id="31" name="TextBox 31"/>
            <p:cNvSpPr txBox="1"/>
            <p:nvPr/>
          </p:nvSpPr>
          <p:spPr>
            <a:xfrm>
              <a:off x="6509766" y="2401252"/>
              <a:ext cx="88411"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a:t>
              </a:r>
            </a:p>
          </p:txBody>
        </p:sp>
        <p:sp>
          <p:nvSpPr>
            <p:cNvPr id="32" name="TextBox 32"/>
            <p:cNvSpPr txBox="1"/>
            <p:nvPr/>
          </p:nvSpPr>
          <p:spPr>
            <a:xfrm>
              <a:off x="6509766" y="2591752"/>
              <a:ext cx="2964904"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if (kullanici.rol !== "kutuphaneci") {</a:t>
              </a:r>
            </a:p>
          </p:txBody>
        </p:sp>
        <p:sp>
          <p:nvSpPr>
            <p:cNvPr id="33" name="TextBox 33"/>
            <p:cNvSpPr txBox="1"/>
            <p:nvPr/>
          </p:nvSpPr>
          <p:spPr>
            <a:xfrm>
              <a:off x="6700266" y="2782252"/>
              <a:ext cx="2429797"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return { durumKodu: 403, ... };</a:t>
              </a:r>
            </a:p>
          </p:txBody>
        </p:sp>
        <p:sp>
          <p:nvSpPr>
            <p:cNvPr id="34" name="TextBox 34"/>
            <p:cNvSpPr txBox="1"/>
            <p:nvPr/>
          </p:nvSpPr>
          <p:spPr>
            <a:xfrm>
              <a:off x="6509766" y="2972752"/>
              <a:ext cx="88411"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a:t>
              </a:r>
            </a:p>
          </p:txBody>
        </p:sp>
        <p:sp>
          <p:nvSpPr>
            <p:cNvPr id="35" name="TextBox 35"/>
            <p:cNvSpPr txBox="1"/>
            <p:nvPr/>
          </p:nvSpPr>
          <p:spPr>
            <a:xfrm>
              <a:off x="6509766" y="3163252"/>
              <a:ext cx="2429797"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return { durumKodu: 201, ... };</a:t>
              </a:r>
            </a:p>
          </p:txBody>
        </p:sp>
        <p:sp>
          <p:nvSpPr>
            <p:cNvPr id="36" name="TextBox 36"/>
            <p:cNvSpPr txBox="1"/>
            <p:nvPr/>
          </p:nvSpPr>
          <p:spPr>
            <a:xfrm>
              <a:off x="6319266" y="3353752"/>
              <a:ext cx="88411"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a:t>
              </a:r>
            </a:p>
          </p:txBody>
        </p:sp>
        <p:sp>
          <p:nvSpPr>
            <p:cNvPr id="37" name="TextBox 37"/>
            <p:cNvSpPr txBox="1"/>
            <p:nvPr/>
          </p:nvSpPr>
          <p:spPr>
            <a:xfrm>
              <a:off x="6319266" y="3582352"/>
              <a:ext cx="3198133"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 rol: "ogrenci" | "kutuphaneci" (union)</a:t>
              </a:r>
            </a:p>
          </p:txBody>
        </p:sp>
      </p:grpSp>
      <p:grpSp>
        <p:nvGrpSpPr>
          <p:cNvPr id="40" name="error-types"/>
          <p:cNvGrpSpPr/>
          <p:nvPr/>
        </p:nvGrpSpPr>
        <p:grpSpPr>
          <a:xfrm>
            <a:off x="565404" y="4309110"/>
            <a:ext cx="7411212" cy="444246"/>
            <a:chOff x="565404" y="4309110"/>
            <a:chExt cx="7411212" cy="444246"/>
          </a:xfrm>
        </p:grpSpPr>
        <p:sp>
          <p:nvSpPr>
            <p:cNvPr id="39" name="TextBox 39"/>
            <p:cNvSpPr txBox="1"/>
            <p:nvPr/>
          </p:nvSpPr>
          <p:spPr>
            <a:xfrm>
              <a:off x="565404" y="4309110"/>
              <a:ext cx="74112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4 hata türü: (1) null kontrolü eksik, (2) authentication hiç denetlenmemiş, (3) durum kodu belirsiz</a:t>
              </a:r>
              <a:br/>
              <a:r>
                <a:rPr lang="tr-TR" sz="1200" dirty="0">
                  <a:solidFill>
                    <a:srgbClr val="172B3A"/>
                  </a:solidFill>
                  <a:latin typeface="+mn-lt"/>
                  <a:ea typeface="+mn-ea"/>
                  <a:cs typeface="+mn-cs"/>
                </a:rPr>
                <a:t>(401 mi 403 mü?), (4) rol: string gevşek türü geçersiz değerlere izin veriyor.</a:t>
              </a:r>
            </a:p>
          </p:txBody>
        </p:sp>
      </p:grpSp>
      <p:grpSp>
        <p:nvGrpSpPr>
          <p:cNvPr id="69" name="trace-table"/>
          <p:cNvGrpSpPr/>
          <p:nvPr/>
        </p:nvGrpSpPr>
        <p:grpSpPr>
          <a:xfrm>
            <a:off x="571500" y="5029200"/>
            <a:ext cx="11010900" cy="1504950"/>
            <a:chOff x="571500" y="5029200"/>
            <a:chExt cx="11010900" cy="1504950"/>
          </a:xfrm>
        </p:grpSpPr>
        <p:sp>
          <p:nvSpPr>
            <p:cNvPr id="41" name="Rectangle 41"/>
            <p:cNvSpPr/>
            <p:nvPr/>
          </p:nvSpPr>
          <p:spPr>
            <a:xfrm>
              <a:off x="571500" y="5029200"/>
              <a:ext cx="11010900" cy="285750"/>
            </a:xfrm>
            <a:prstGeom prst="rect">
              <a:avLst/>
            </a:prstGeom>
            <a:solidFill>
              <a:srgbClr val="12355B"/>
            </a:solidFill>
            <a:ln>
              <a:noFill/>
            </a:ln>
          </p:spPr>
        </p:sp>
        <p:sp>
          <p:nvSpPr>
            <p:cNvPr id="42" name="TextBox 42"/>
            <p:cNvSpPr txBox="1"/>
            <p:nvPr/>
          </p:nvSpPr>
          <p:spPr>
            <a:xfrm>
              <a:off x="757047" y="5123974"/>
              <a:ext cx="666692" cy="190690"/>
            </a:xfrm>
            <a:prstGeom prst="rect">
              <a:avLst/>
            </a:prstGeom>
            <a:noFill/>
            <a:ln>
              <a:noFill/>
            </a:ln>
          </p:spPr>
          <p:txBody>
            <a:bodyPr wrap="none" lIns="0" tIns="0" rIns="0" bIns="0" anchor="t" anchorCtr="0">
              <a:spAutoFit/>
            </a:bodyPr>
            <a:lstStyle/>
            <a:p>
              <a:pPr algn="l"/>
              <a:r>
                <a:rPr lang="tr-TR" sz="980" b="1" spc="75" dirty="0">
                  <a:solidFill>
                    <a:srgbClr val="FFFFFF"/>
                  </a:solidFill>
                  <a:latin typeface="+mn-lt"/>
                  <a:ea typeface="+mn-ea"/>
                  <a:cs typeface="+mn-cs"/>
                </a:rPr>
                <a:t>SENARYO</a:t>
              </a:r>
            </a:p>
          </p:txBody>
        </p:sp>
        <p:sp>
          <p:nvSpPr>
            <p:cNvPr id="43" name="TextBox 43"/>
            <p:cNvSpPr txBox="1"/>
            <p:nvPr/>
          </p:nvSpPr>
          <p:spPr>
            <a:xfrm>
              <a:off x="3043047" y="5123974"/>
              <a:ext cx="455082" cy="190690"/>
            </a:xfrm>
            <a:prstGeom prst="rect">
              <a:avLst/>
            </a:prstGeom>
            <a:noFill/>
            <a:ln>
              <a:noFill/>
            </a:ln>
          </p:spPr>
          <p:txBody>
            <a:bodyPr wrap="none" lIns="0" tIns="0" rIns="0" bIns="0" anchor="t" anchorCtr="0">
              <a:spAutoFit/>
            </a:bodyPr>
            <a:lstStyle/>
            <a:p>
              <a:pPr algn="l"/>
              <a:r>
                <a:rPr lang="tr-TR" sz="980" b="1" spc="75" dirty="0">
                  <a:solidFill>
                    <a:srgbClr val="FFFFFF"/>
                  </a:solidFill>
                  <a:latin typeface="+mn-lt"/>
                  <a:ea typeface="+mn-ea"/>
                  <a:cs typeface="+mn-cs"/>
                </a:rPr>
                <a:t>GİRDİ</a:t>
              </a:r>
            </a:p>
          </p:txBody>
        </p:sp>
        <p:sp>
          <p:nvSpPr>
            <p:cNvPr id="44" name="TextBox 44"/>
            <p:cNvSpPr txBox="1"/>
            <p:nvPr/>
          </p:nvSpPr>
          <p:spPr>
            <a:xfrm>
              <a:off x="5329047" y="5123974"/>
              <a:ext cx="946898" cy="190690"/>
            </a:xfrm>
            <a:prstGeom prst="rect">
              <a:avLst/>
            </a:prstGeom>
            <a:noFill/>
            <a:ln>
              <a:noFill/>
            </a:ln>
          </p:spPr>
          <p:txBody>
            <a:bodyPr wrap="none" lIns="0" tIns="0" rIns="0" bIns="0" anchor="t" anchorCtr="0">
              <a:spAutoFit/>
            </a:bodyPr>
            <a:lstStyle/>
            <a:p>
              <a:pPr algn="l"/>
              <a:r>
                <a:rPr lang="tr-TR" sz="980" b="1" spc="75" dirty="0">
                  <a:solidFill>
                    <a:srgbClr val="FFFFFF"/>
                  </a:solidFill>
                  <a:latin typeface="+mn-lt"/>
                  <a:ea typeface="+mn-ea"/>
                  <a:cs typeface="+mn-cs"/>
                </a:rPr>
                <a:t>HATALI ÇIKTI</a:t>
              </a:r>
            </a:p>
          </p:txBody>
        </p:sp>
        <p:sp>
          <p:nvSpPr>
            <p:cNvPr id="45" name="TextBox 45"/>
            <p:cNvSpPr txBox="1"/>
            <p:nvPr/>
          </p:nvSpPr>
          <p:spPr>
            <a:xfrm>
              <a:off x="8377047" y="5123974"/>
              <a:ext cx="1468606" cy="190690"/>
            </a:xfrm>
            <a:prstGeom prst="rect">
              <a:avLst/>
            </a:prstGeom>
            <a:noFill/>
            <a:ln>
              <a:noFill/>
            </a:ln>
          </p:spPr>
          <p:txBody>
            <a:bodyPr wrap="none" lIns="0" tIns="0" rIns="0" bIns="0" anchor="t" anchorCtr="0">
              <a:spAutoFit/>
            </a:bodyPr>
            <a:lstStyle/>
            <a:p>
              <a:pPr algn="l"/>
              <a:r>
                <a:rPr lang="tr-TR" sz="980" b="1" spc="75" dirty="0">
                  <a:solidFill>
                    <a:srgbClr val="FFFFFF"/>
                  </a:solidFill>
                  <a:latin typeface="+mn-lt"/>
                  <a:ea typeface="+mn-ea"/>
                  <a:cs typeface="+mn-cs"/>
                </a:rPr>
                <a:t>DÜZELTİLMİŞ ÇIKTI</a:t>
              </a:r>
            </a:p>
          </p:txBody>
        </p:sp>
        <p:sp>
          <p:nvSpPr>
            <p:cNvPr id="46" name="Rectangle 46"/>
            <p:cNvSpPr/>
            <p:nvPr/>
          </p:nvSpPr>
          <p:spPr>
            <a:xfrm>
              <a:off x="571500" y="5314950"/>
              <a:ext cx="11010900" cy="304800"/>
            </a:xfrm>
            <a:prstGeom prst="rect">
              <a:avLst/>
            </a:prstGeom>
            <a:solidFill>
              <a:srgbClr val="FFFFFF"/>
            </a:solidFill>
            <a:ln>
              <a:noFill/>
            </a:ln>
          </p:spPr>
        </p:sp>
        <p:sp>
          <p:nvSpPr>
            <p:cNvPr id="47" name="TextBox 47"/>
            <p:cNvSpPr txBox="1"/>
            <p:nvPr/>
          </p:nvSpPr>
          <p:spPr>
            <a:xfrm>
              <a:off x="756666" y="5401628"/>
              <a:ext cx="119572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1. Kimliksiz istek</a:t>
              </a:r>
            </a:p>
          </p:txBody>
        </p:sp>
        <p:sp>
          <p:nvSpPr>
            <p:cNvPr id="48" name="TextBox 48"/>
            <p:cNvSpPr txBox="1"/>
            <p:nvPr/>
          </p:nvSpPr>
          <p:spPr>
            <a:xfrm>
              <a:off x="3042666" y="5401628"/>
              <a:ext cx="25096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null</a:t>
              </a:r>
            </a:p>
          </p:txBody>
        </p:sp>
        <p:sp>
          <p:nvSpPr>
            <p:cNvPr id="49" name="TextBox 49"/>
            <p:cNvSpPr txBox="1"/>
            <p:nvPr/>
          </p:nvSpPr>
          <p:spPr>
            <a:xfrm>
              <a:off x="5328666" y="5401628"/>
              <a:ext cx="1335862"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TypeError (çökme)</a:t>
              </a:r>
            </a:p>
          </p:txBody>
        </p:sp>
        <p:sp>
          <p:nvSpPr>
            <p:cNvPr id="50" name="TextBox 50"/>
            <p:cNvSpPr txBox="1"/>
            <p:nvPr/>
          </p:nvSpPr>
          <p:spPr>
            <a:xfrm>
              <a:off x="8376666" y="5401628"/>
              <a:ext cx="192459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401 — Kimlik doğrulanamadı.</a:t>
              </a:r>
            </a:p>
          </p:txBody>
        </p:sp>
        <p:sp>
          <p:nvSpPr>
            <p:cNvPr id="51" name="Line 51"/>
            <p:cNvSpPr/>
            <p:nvPr/>
          </p:nvSpPr>
          <p:spPr>
            <a:xfrm>
              <a:off x="571500" y="5619750"/>
              <a:ext cx="11010900" cy="9525"/>
            </a:xfrm>
            <a:custGeom>
              <a:avLst/>
              <a:gdLst/>
              <a:ahLst/>
              <a:cxnLst/>
              <a:rect l="l" t="t" r="r" b="b"/>
              <a:pathLst>
                <a:path w="11010900" h="9525">
                  <a:moveTo>
                    <a:pt x="0" y="0"/>
                  </a:moveTo>
                  <a:lnTo>
                    <a:pt x="11010900" y="0"/>
                  </a:lnTo>
                </a:path>
              </a:pathLst>
            </a:custGeom>
            <a:noFill/>
            <a:ln w="9525">
              <a:solidFill>
                <a:srgbClr val="B8CBD3"/>
              </a:solidFill>
            </a:ln>
          </p:spPr>
        </p:sp>
        <p:sp>
          <p:nvSpPr>
            <p:cNvPr id="52" name="Rectangle 52"/>
            <p:cNvSpPr/>
            <p:nvPr/>
          </p:nvSpPr>
          <p:spPr>
            <a:xfrm>
              <a:off x="571500" y="5619750"/>
              <a:ext cx="11010900" cy="304800"/>
            </a:xfrm>
            <a:prstGeom prst="rect">
              <a:avLst/>
            </a:prstGeom>
            <a:solidFill>
              <a:srgbClr val="EAF4F6"/>
            </a:solidFill>
            <a:ln>
              <a:noFill/>
            </a:ln>
          </p:spPr>
        </p:sp>
        <p:sp>
          <p:nvSpPr>
            <p:cNvPr id="53" name="TextBox 53"/>
            <p:cNvSpPr txBox="1"/>
            <p:nvPr/>
          </p:nvSpPr>
          <p:spPr>
            <a:xfrm>
              <a:off x="756666" y="5706428"/>
              <a:ext cx="143597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2. Yetkisiz kullanıcı</a:t>
              </a:r>
            </a:p>
          </p:txBody>
        </p:sp>
        <p:sp>
          <p:nvSpPr>
            <p:cNvPr id="54" name="TextBox 54"/>
            <p:cNvSpPr txBox="1"/>
            <p:nvPr/>
          </p:nvSpPr>
          <p:spPr>
            <a:xfrm>
              <a:off x="3042666" y="5706428"/>
              <a:ext cx="123335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 rol: "ogrenci" }</a:t>
              </a:r>
            </a:p>
          </p:txBody>
        </p:sp>
        <p:sp>
          <p:nvSpPr>
            <p:cNvPr id="55" name="TextBox 55"/>
            <p:cNvSpPr txBox="1"/>
            <p:nvPr/>
          </p:nvSpPr>
          <p:spPr>
            <a:xfrm>
              <a:off x="5328666" y="5706428"/>
              <a:ext cx="189623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"Yetkisiz işlem." (kod yok)</a:t>
              </a:r>
            </a:p>
          </p:txBody>
        </p:sp>
        <p:sp>
          <p:nvSpPr>
            <p:cNvPr id="56" name="TextBox 56"/>
            <p:cNvSpPr txBox="1"/>
            <p:nvPr/>
          </p:nvSpPr>
          <p:spPr>
            <a:xfrm>
              <a:off x="8376666" y="5706428"/>
              <a:ext cx="218598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403 — Bu işlem için yetkiniz yok.</a:t>
              </a:r>
            </a:p>
          </p:txBody>
        </p:sp>
        <p:sp>
          <p:nvSpPr>
            <p:cNvPr id="57" name="Line 57"/>
            <p:cNvSpPr/>
            <p:nvPr/>
          </p:nvSpPr>
          <p:spPr>
            <a:xfrm>
              <a:off x="571500" y="5924550"/>
              <a:ext cx="11010900" cy="9525"/>
            </a:xfrm>
            <a:custGeom>
              <a:avLst/>
              <a:gdLst/>
              <a:ahLst/>
              <a:cxnLst/>
              <a:rect l="l" t="t" r="r" b="b"/>
              <a:pathLst>
                <a:path w="11010900" h="9525">
                  <a:moveTo>
                    <a:pt x="0" y="0"/>
                  </a:moveTo>
                  <a:lnTo>
                    <a:pt x="11010900" y="0"/>
                  </a:lnTo>
                </a:path>
              </a:pathLst>
            </a:custGeom>
            <a:noFill/>
            <a:ln w="9525">
              <a:solidFill>
                <a:srgbClr val="B8CBD3"/>
              </a:solidFill>
            </a:ln>
          </p:spPr>
        </p:sp>
        <p:sp>
          <p:nvSpPr>
            <p:cNvPr id="58" name="Rectangle 58"/>
            <p:cNvSpPr/>
            <p:nvPr/>
          </p:nvSpPr>
          <p:spPr>
            <a:xfrm>
              <a:off x="571500" y="5924550"/>
              <a:ext cx="11010900" cy="304800"/>
            </a:xfrm>
            <a:prstGeom prst="rect">
              <a:avLst/>
            </a:prstGeom>
            <a:solidFill>
              <a:srgbClr val="FFFFFF"/>
            </a:solidFill>
            <a:ln>
              <a:noFill/>
            </a:ln>
          </p:spPr>
        </p:sp>
        <p:sp>
          <p:nvSpPr>
            <p:cNvPr id="59" name="TextBox 59"/>
            <p:cNvSpPr txBox="1"/>
            <p:nvPr/>
          </p:nvSpPr>
          <p:spPr>
            <a:xfrm>
              <a:off x="756666" y="6011228"/>
              <a:ext cx="144306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3. Geçersiz rol girişi</a:t>
              </a:r>
            </a:p>
          </p:txBody>
        </p:sp>
        <p:sp>
          <p:nvSpPr>
            <p:cNvPr id="60" name="TextBox 60"/>
            <p:cNvSpPr txBox="1"/>
            <p:nvPr/>
          </p:nvSpPr>
          <p:spPr>
            <a:xfrm>
              <a:off x="3042666" y="6011228"/>
              <a:ext cx="110613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 rol: "admin" }</a:t>
              </a:r>
            </a:p>
          </p:txBody>
        </p:sp>
        <p:sp>
          <p:nvSpPr>
            <p:cNvPr id="61" name="TextBox 61"/>
            <p:cNvSpPr txBox="1"/>
            <p:nvPr/>
          </p:nvSpPr>
          <p:spPr>
            <a:xfrm>
              <a:off x="5328666" y="6011228"/>
              <a:ext cx="2213860"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"Yetkisiz işlem." (sessiz kabul)</a:t>
              </a:r>
            </a:p>
          </p:txBody>
        </p:sp>
        <p:sp>
          <p:nvSpPr>
            <p:cNvPr id="62" name="TextBox 62"/>
            <p:cNvSpPr txBox="1"/>
            <p:nvPr/>
          </p:nvSpPr>
          <p:spPr>
            <a:xfrm>
              <a:off x="8376666" y="6011228"/>
              <a:ext cx="187421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Derleme zamanı tür hatası</a:t>
              </a:r>
            </a:p>
          </p:txBody>
        </p:sp>
        <p:sp>
          <p:nvSpPr>
            <p:cNvPr id="63" name="Line 63"/>
            <p:cNvSpPr/>
            <p:nvPr/>
          </p:nvSpPr>
          <p:spPr>
            <a:xfrm>
              <a:off x="571500" y="6229350"/>
              <a:ext cx="11010900" cy="9525"/>
            </a:xfrm>
            <a:custGeom>
              <a:avLst/>
              <a:gdLst/>
              <a:ahLst/>
              <a:cxnLst/>
              <a:rect l="l" t="t" r="r" b="b"/>
              <a:pathLst>
                <a:path w="11010900" h="9525">
                  <a:moveTo>
                    <a:pt x="0" y="0"/>
                  </a:moveTo>
                  <a:lnTo>
                    <a:pt x="11010900" y="0"/>
                  </a:lnTo>
                </a:path>
              </a:pathLst>
            </a:custGeom>
            <a:noFill/>
            <a:ln w="9525">
              <a:solidFill>
                <a:srgbClr val="B8CBD3"/>
              </a:solidFill>
            </a:ln>
          </p:spPr>
        </p:sp>
        <p:sp>
          <p:nvSpPr>
            <p:cNvPr id="64" name="Rectangle 64"/>
            <p:cNvSpPr/>
            <p:nvPr/>
          </p:nvSpPr>
          <p:spPr>
            <a:xfrm>
              <a:off x="571500" y="6229350"/>
              <a:ext cx="11010900" cy="304800"/>
            </a:xfrm>
            <a:prstGeom prst="rect">
              <a:avLst/>
            </a:prstGeom>
            <a:solidFill>
              <a:srgbClr val="EAF4F6"/>
            </a:solidFill>
            <a:ln>
              <a:noFill/>
            </a:ln>
          </p:spPr>
        </p:sp>
        <p:sp>
          <p:nvSpPr>
            <p:cNvPr id="65" name="TextBox 65"/>
            <p:cNvSpPr txBox="1"/>
            <p:nvPr/>
          </p:nvSpPr>
          <p:spPr>
            <a:xfrm>
              <a:off x="756666" y="6316028"/>
              <a:ext cx="132279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4. Yetkili kullanıcı</a:t>
              </a:r>
            </a:p>
          </p:txBody>
        </p:sp>
        <p:sp>
          <p:nvSpPr>
            <p:cNvPr id="66" name="TextBox 66"/>
            <p:cNvSpPr txBox="1"/>
            <p:nvPr/>
          </p:nvSpPr>
          <p:spPr>
            <a:xfrm>
              <a:off x="3042666" y="6316028"/>
              <a:ext cx="154432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 rol: "kutuphaneci" }</a:t>
              </a:r>
            </a:p>
          </p:txBody>
        </p:sp>
        <p:sp>
          <p:nvSpPr>
            <p:cNvPr id="67" name="TextBox 67"/>
            <p:cNvSpPr txBox="1"/>
            <p:nvPr/>
          </p:nvSpPr>
          <p:spPr>
            <a:xfrm>
              <a:off x="5328666" y="6316028"/>
              <a:ext cx="111840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"Kitap eklendi."</a:t>
              </a:r>
            </a:p>
          </p:txBody>
        </p:sp>
        <p:sp>
          <p:nvSpPr>
            <p:cNvPr id="68" name="TextBox 68"/>
            <p:cNvSpPr txBox="1"/>
            <p:nvPr/>
          </p:nvSpPr>
          <p:spPr>
            <a:xfrm>
              <a:off x="8376666" y="6316028"/>
              <a:ext cx="135983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201 — Kitap eklendi.</a:t>
              </a:r>
            </a:p>
          </p:txBody>
        </p:sp>
      </p:grpSp>
      <p:sp>
        <p:nvSpPr>
          <p:cNvPr id="70" name="TextBox 70"/>
          <p:cNvSpPr txBox="1"/>
          <p:nvPr/>
        </p:nvSpPr>
        <p:spPr>
          <a:xfrm>
            <a:off x="11035132" y="6604635"/>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0123936" cy="668845"/>
            <a:chOff x="609600" y="171450"/>
            <a:chExt cx="1012393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943356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10.7 · Uçtan uca kayıt, giriş ve RBAC akışı</a:t>
              </a:r>
            </a:p>
          </p:txBody>
        </p:sp>
      </p:grpSp>
      <p:grpSp>
        <p:nvGrpSpPr>
          <p:cNvPr id="16" name="repo-card"/>
          <p:cNvGrpSpPr/>
          <p:nvPr/>
        </p:nvGrpSpPr>
        <p:grpSpPr>
          <a:xfrm>
            <a:off x="609600" y="1219200"/>
            <a:ext cx="3352800" cy="2095500"/>
            <a:chOff x="609600" y="1219200"/>
            <a:chExt cx="3352800" cy="2095500"/>
          </a:xfrm>
        </p:grpSpPr>
        <p:sp>
          <p:nvSpPr>
            <p:cNvPr id="12" name="Rectangle 12"/>
            <p:cNvSpPr/>
            <p:nvPr/>
          </p:nvSpPr>
          <p:spPr>
            <a:xfrm>
              <a:off x="609600" y="1219200"/>
              <a:ext cx="3352800" cy="2095500"/>
            </a:xfrm>
            <a:prstGeom prst="roundRect">
              <a:avLst>
                <a:gd name="adj" fmla="val 3636"/>
              </a:avLst>
            </a:prstGeom>
            <a:solidFill>
              <a:srgbClr val="12355B"/>
            </a:solidFill>
            <a:ln>
              <a:noFill/>
            </a:ln>
          </p:spPr>
        </p:sp>
        <p:sp>
          <p:nvSpPr>
            <p:cNvPr id="13" name="TextBox 13"/>
            <p:cNvSpPr txBox="1"/>
            <p:nvPr/>
          </p:nvSpPr>
          <p:spPr>
            <a:xfrm>
              <a:off x="831342" y="1378268"/>
              <a:ext cx="1779756"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KullaniciRepository</a:t>
              </a:r>
            </a:p>
          </p:txBody>
        </p:sp>
        <p:sp>
          <p:nvSpPr>
            <p:cNvPr id="14" name="TextBox 14"/>
            <p:cNvSpPr txBox="1"/>
            <p:nvPr/>
          </p:nvSpPr>
          <p:spPr>
            <a:xfrm>
              <a:off x="832866" y="1715452"/>
              <a:ext cx="1770888" cy="453009"/>
            </a:xfrm>
            <a:prstGeom prst="rect">
              <a:avLst/>
            </a:prstGeom>
            <a:noFill/>
            <a:ln>
              <a:noFill/>
            </a:ln>
          </p:spPr>
          <p:txBody>
            <a:bodyPr wrap="none" lIns="0" tIns="0" rIns="0" bIns="0" anchor="t" anchorCtr="0">
              <a:spAutoFit/>
            </a:bodyPr>
            <a:lstStyle/>
            <a:p>
              <a:pPr algn="l">
                <a:lnSpc>
                  <a:spcPts val="1950"/>
                </a:lnSpc>
              </a:pPr>
              <a:r>
                <a:rPr lang="tr-TR" sz="1050" dirty="0">
                  <a:solidFill>
                    <a:srgbClr val="EAF4F6"/>
                  </a:solidFill>
                  <a:latin typeface="Consolas"/>
                  <a:ea typeface="Consolas"/>
                  <a:cs typeface="Consolas"/>
                </a:rPr>
                <a:t>ekle(kullanici): void</a:t>
              </a:r>
              <a:br/>
              <a:r>
                <a:rPr lang="tr-TR" sz="1050" dirty="0">
                  <a:solidFill>
                    <a:srgbClr val="EAF4F6"/>
                  </a:solidFill>
                  <a:latin typeface="Consolas"/>
                  <a:ea typeface="Consolas"/>
                  <a:cs typeface="Consolas"/>
                </a:rPr>
                <a:t>bul(kullaniciAdi): Kayit</a:t>
              </a:r>
            </a:p>
          </p:txBody>
        </p:sp>
        <p:sp>
          <p:nvSpPr>
            <p:cNvPr id="15" name="TextBox 15"/>
            <p:cNvSpPr txBox="1"/>
            <p:nvPr/>
          </p:nvSpPr>
          <p:spPr>
            <a:xfrm>
              <a:off x="832866" y="2896552"/>
              <a:ext cx="1644206" cy="3958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mn-lt"/>
                  <a:ea typeface="+mn-ea"/>
                  <a:cs typeface="+mn-cs"/>
                </a:rPr>
                <a:t>Bellek içi veri kaynağı;</a:t>
              </a:r>
              <a:br/>
              <a:r>
                <a:rPr lang="tr-TR" sz="1050" dirty="0">
                  <a:solidFill>
                    <a:srgbClr val="EAF4F6"/>
                  </a:solidFill>
                  <a:latin typeface="+mn-lt"/>
                  <a:ea typeface="+mn-ea"/>
                  <a:cs typeface="+mn-cs"/>
                </a:rPr>
                <a:t>salt + parolaHash saklar.</a:t>
              </a:r>
            </a:p>
          </p:txBody>
        </p:sp>
      </p:grpSp>
      <p:grpSp>
        <p:nvGrpSpPr>
          <p:cNvPr id="21" name="service-card"/>
          <p:cNvGrpSpPr/>
          <p:nvPr/>
        </p:nvGrpSpPr>
        <p:grpSpPr>
          <a:xfrm>
            <a:off x="4419600" y="1219200"/>
            <a:ext cx="3352800" cy="2095500"/>
            <a:chOff x="4419600" y="1219200"/>
            <a:chExt cx="3352800" cy="2095500"/>
          </a:xfrm>
        </p:grpSpPr>
        <p:sp>
          <p:nvSpPr>
            <p:cNvPr id="17" name="Rectangle 17"/>
            <p:cNvSpPr/>
            <p:nvPr/>
          </p:nvSpPr>
          <p:spPr>
            <a:xfrm>
              <a:off x="4419600" y="1219200"/>
              <a:ext cx="3352800" cy="2095500"/>
            </a:xfrm>
            <a:prstGeom prst="roundRect">
              <a:avLst>
                <a:gd name="adj" fmla="val 3636"/>
              </a:avLst>
            </a:prstGeom>
            <a:solidFill>
              <a:srgbClr val="12355B"/>
            </a:solidFill>
            <a:ln>
              <a:noFill/>
            </a:ln>
          </p:spPr>
        </p:sp>
        <p:sp>
          <p:nvSpPr>
            <p:cNvPr id="18" name="TextBox 18"/>
            <p:cNvSpPr txBox="1"/>
            <p:nvPr/>
          </p:nvSpPr>
          <p:spPr>
            <a:xfrm>
              <a:off x="4641342" y="1378268"/>
              <a:ext cx="1131885"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AuthService</a:t>
              </a:r>
            </a:p>
          </p:txBody>
        </p:sp>
        <p:sp>
          <p:nvSpPr>
            <p:cNvPr id="19" name="TextBox 19"/>
            <p:cNvSpPr txBox="1"/>
            <p:nvPr/>
          </p:nvSpPr>
          <p:spPr>
            <a:xfrm>
              <a:off x="4642866" y="1715452"/>
              <a:ext cx="2064258" cy="453009"/>
            </a:xfrm>
            <a:prstGeom prst="rect">
              <a:avLst/>
            </a:prstGeom>
            <a:noFill/>
            <a:ln>
              <a:noFill/>
            </a:ln>
          </p:spPr>
          <p:txBody>
            <a:bodyPr wrap="none" lIns="0" tIns="0" rIns="0" bIns="0" anchor="t" anchorCtr="0">
              <a:spAutoFit/>
            </a:bodyPr>
            <a:lstStyle/>
            <a:p>
              <a:pPr algn="l">
                <a:lnSpc>
                  <a:spcPts val="1950"/>
                </a:lnSpc>
              </a:pPr>
              <a:r>
                <a:rPr lang="tr-TR" sz="1050" dirty="0">
                  <a:solidFill>
                    <a:srgbClr val="EAF4F6"/>
                  </a:solidFill>
                  <a:latin typeface="Consolas"/>
                  <a:ea typeface="Consolas"/>
                  <a:cs typeface="Consolas"/>
                </a:rPr>
                <a:t>kayitOl(ad, parola, rol)</a:t>
              </a:r>
              <a:br/>
              <a:r>
                <a:rPr lang="tr-TR" sz="1050" dirty="0">
                  <a:solidFill>
                    <a:srgbClr val="EAF4F6"/>
                  </a:solidFill>
                  <a:latin typeface="Consolas"/>
                  <a:ea typeface="Consolas"/>
                  <a:cs typeface="Consolas"/>
                </a:rPr>
                <a:t>girisYap(ad, parola): string</a:t>
              </a:r>
            </a:p>
          </p:txBody>
        </p:sp>
        <p:sp>
          <p:nvSpPr>
            <p:cNvPr id="20" name="TextBox 20"/>
            <p:cNvSpPr txBox="1"/>
            <p:nvPr/>
          </p:nvSpPr>
          <p:spPr>
            <a:xfrm>
              <a:off x="4642866" y="2591752"/>
              <a:ext cx="1670876" cy="3958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mn-lt"/>
                  <a:ea typeface="+mn-ea"/>
                  <a:cs typeface="+mn-cs"/>
                </a:rPr>
                <a:t>parolaHashle ile kayıt,</a:t>
              </a:r>
              <a:br/>
              <a:r>
                <a:rPr lang="tr-TR" sz="1050" dirty="0">
                  <a:solidFill>
                    <a:srgbClr val="EAF4F6"/>
                  </a:solidFill>
                  <a:latin typeface="+mn-lt"/>
                  <a:ea typeface="+mn-ea"/>
                  <a:cs typeface="+mn-cs"/>
                </a:rPr>
                <a:t>tokenUret ile JWT üretir.</a:t>
              </a:r>
            </a:p>
          </p:txBody>
        </p:sp>
      </p:grpSp>
      <p:grpSp>
        <p:nvGrpSpPr>
          <p:cNvPr id="26" name="controller-card"/>
          <p:cNvGrpSpPr/>
          <p:nvPr/>
        </p:nvGrpSpPr>
        <p:grpSpPr>
          <a:xfrm>
            <a:off x="8229600" y="1219200"/>
            <a:ext cx="3352800" cy="2095500"/>
            <a:chOff x="8229600" y="1219200"/>
            <a:chExt cx="3352800" cy="2095500"/>
          </a:xfrm>
        </p:grpSpPr>
        <p:sp>
          <p:nvSpPr>
            <p:cNvPr id="22" name="Rectangle 22"/>
            <p:cNvSpPr/>
            <p:nvPr/>
          </p:nvSpPr>
          <p:spPr>
            <a:xfrm>
              <a:off x="8229600" y="1219200"/>
              <a:ext cx="3352800" cy="2095500"/>
            </a:xfrm>
            <a:prstGeom prst="roundRect">
              <a:avLst>
                <a:gd name="adj" fmla="val 3636"/>
              </a:avLst>
            </a:prstGeom>
            <a:solidFill>
              <a:srgbClr val="12355B"/>
            </a:solidFill>
            <a:ln>
              <a:noFill/>
            </a:ln>
          </p:spPr>
        </p:sp>
        <p:sp>
          <p:nvSpPr>
            <p:cNvPr id="23" name="TextBox 23"/>
            <p:cNvSpPr txBox="1"/>
            <p:nvPr/>
          </p:nvSpPr>
          <p:spPr>
            <a:xfrm>
              <a:off x="8451342" y="1378268"/>
              <a:ext cx="1923726"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KutuphaneController</a:t>
              </a:r>
            </a:p>
          </p:txBody>
        </p:sp>
        <p:sp>
          <p:nvSpPr>
            <p:cNvPr id="24" name="TextBox 24"/>
            <p:cNvSpPr txBox="1"/>
            <p:nvPr/>
          </p:nvSpPr>
          <p:spPr>
            <a:xfrm>
              <a:off x="8452866" y="1715452"/>
              <a:ext cx="1477518" cy="414909"/>
            </a:xfrm>
            <a:prstGeom prst="rect">
              <a:avLst/>
            </a:prstGeom>
            <a:noFill/>
            <a:ln>
              <a:noFill/>
            </a:ln>
          </p:spPr>
          <p:txBody>
            <a:bodyPr wrap="none" lIns="0" tIns="0" rIns="0" bIns="0" anchor="t" anchorCtr="0">
              <a:spAutoFit/>
            </a:bodyPr>
            <a:lstStyle/>
            <a:p>
              <a:pPr algn="l">
                <a:lnSpc>
                  <a:spcPts val="1650"/>
                </a:lnSpc>
              </a:pPr>
              <a:r>
                <a:rPr lang="tr-TR" sz="1050" dirty="0">
                  <a:solidFill>
                    <a:srgbClr val="EAF4F6"/>
                  </a:solidFill>
                  <a:latin typeface="Consolas"/>
                  <a:ea typeface="Consolas"/>
                  <a:cs typeface="Consolas"/>
                </a:rPr>
                <a:t>kitapEkle(token):</a:t>
              </a:r>
              <a:br/>
              <a:r>
                <a:rPr lang="tr-TR" sz="1050" dirty="0">
                  <a:solidFill>
                    <a:srgbClr val="EAF4F6"/>
                  </a:solidFill>
                  <a:latin typeface="Consolas"/>
                  <a:ea typeface="Consolas"/>
                  <a:cs typeface="Consolas"/>
                </a:rPr>
                <a:t>{ durumKodu, mesaj }</a:t>
              </a:r>
            </a:p>
          </p:txBody>
        </p:sp>
        <p:sp>
          <p:nvSpPr>
            <p:cNvPr id="25" name="TextBox 25"/>
            <p:cNvSpPr txBox="1"/>
            <p:nvPr/>
          </p:nvSpPr>
          <p:spPr>
            <a:xfrm>
              <a:off x="8452866" y="2591752"/>
              <a:ext cx="1817561" cy="3958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mn-lt"/>
                  <a:ea typeface="+mn-ea"/>
                  <a:cs typeface="+mn-cs"/>
                </a:rPr>
                <a:t>tokenDogrula + requireRole</a:t>
              </a:r>
              <a:br/>
              <a:r>
                <a:rPr lang="tr-TR" sz="1050" dirty="0">
                  <a:solidFill>
                    <a:srgbClr val="EAF4F6"/>
                  </a:solidFill>
                  <a:latin typeface="+mn-lt"/>
                  <a:ea typeface="+mn-ea"/>
                  <a:cs typeface="+mn-cs"/>
                </a:rPr>
                <a:t>(["kutuphaneci"]) uygular.</a:t>
              </a:r>
            </a:p>
          </p:txBody>
        </p:sp>
      </p:grpSp>
      <p:grpSp>
        <p:nvGrpSpPr>
          <p:cNvPr id="29" name="flow-arrows"/>
          <p:cNvGrpSpPr/>
          <p:nvPr/>
        </p:nvGrpSpPr>
        <p:grpSpPr>
          <a:xfrm>
            <a:off x="3962400" y="2266950"/>
            <a:ext cx="4229100" cy="1"/>
            <a:chOff x="3962400" y="2266950"/>
            <a:chExt cx="4229100" cy="1"/>
          </a:xfrm>
        </p:grpSpPr>
        <p:sp>
          <p:nvSpPr>
            <p:cNvPr id="27" name="Line 27"/>
            <p:cNvSpPr/>
            <p:nvPr/>
          </p:nvSpPr>
          <p:spPr>
            <a:xfrm>
              <a:off x="3962400" y="2266950"/>
              <a:ext cx="419100" cy="1"/>
            </a:xfrm>
            <a:prstGeom prst="line">
              <a:avLst/>
            </a:prstGeom>
            <a:noFill/>
            <a:ln w="23812">
              <a:solidFill>
                <a:srgbClr val="00A6A6"/>
              </a:solidFill>
              <a:tailEnd type="arrow" w="lg" len="lg"/>
            </a:ln>
          </p:spPr>
        </p:sp>
        <p:sp>
          <p:nvSpPr>
            <p:cNvPr id="28" name="Line 28"/>
            <p:cNvSpPr/>
            <p:nvPr/>
          </p:nvSpPr>
          <p:spPr>
            <a:xfrm>
              <a:off x="7772400" y="2266950"/>
              <a:ext cx="419100" cy="1"/>
            </a:xfrm>
            <a:prstGeom prst="line">
              <a:avLst/>
            </a:prstGeom>
            <a:noFill/>
            <a:ln w="23812">
              <a:solidFill>
                <a:srgbClr val="00A6A6"/>
              </a:solidFill>
              <a:tailEnd type="arrow" w="lg" len="lg"/>
            </a:ln>
          </p:spPr>
        </p:sp>
      </p:grpSp>
      <p:grpSp>
        <p:nvGrpSpPr>
          <p:cNvPr id="33" name="output-panel"/>
          <p:cNvGrpSpPr/>
          <p:nvPr/>
        </p:nvGrpSpPr>
        <p:grpSpPr>
          <a:xfrm>
            <a:off x="609600" y="3543300"/>
            <a:ext cx="10972800" cy="1600200"/>
            <a:chOff x="609600" y="3543300"/>
            <a:chExt cx="10972800" cy="1600200"/>
          </a:xfrm>
        </p:grpSpPr>
        <p:sp>
          <p:nvSpPr>
            <p:cNvPr id="30" name="Rectangle 30"/>
            <p:cNvSpPr/>
            <p:nvPr/>
          </p:nvSpPr>
          <p:spPr>
            <a:xfrm>
              <a:off x="609600" y="3543300"/>
              <a:ext cx="10972800" cy="1600200"/>
            </a:xfrm>
            <a:prstGeom prst="rect">
              <a:avLst/>
            </a:prstGeom>
            <a:solidFill>
              <a:srgbClr val="12355B"/>
            </a:solidFill>
            <a:ln>
              <a:noFill/>
            </a:ln>
          </p:spPr>
        </p:sp>
        <p:sp>
          <p:nvSpPr>
            <p:cNvPr id="31" name="TextBox 31"/>
            <p:cNvSpPr txBox="1"/>
            <p:nvPr/>
          </p:nvSpPr>
          <p:spPr>
            <a:xfrm>
              <a:off x="832485" y="3707606"/>
              <a:ext cx="2019244"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Örnek çalıştırma çıktısı</a:t>
              </a:r>
            </a:p>
          </p:txBody>
        </p:sp>
        <p:sp>
          <p:nvSpPr>
            <p:cNvPr id="32" name="TextBox 32"/>
            <p:cNvSpPr txBox="1"/>
            <p:nvPr/>
          </p:nvSpPr>
          <p:spPr>
            <a:xfrm>
              <a:off x="832485" y="3974306"/>
              <a:ext cx="6426454" cy="753428"/>
            </a:xfrm>
            <a:prstGeom prst="rect">
              <a:avLst/>
            </a:prstGeom>
            <a:noFill/>
            <a:ln>
              <a:noFill/>
            </a:ln>
          </p:spPr>
          <p:txBody>
            <a:bodyPr wrap="none" lIns="0" tIns="0" rIns="0" bIns="0" anchor="t" anchorCtr="0">
              <a:spAutoFit/>
            </a:bodyPr>
            <a:lstStyle/>
            <a:p>
              <a:pPr algn="l">
                <a:lnSpc>
                  <a:spcPts val="2100"/>
                </a:lnSpc>
              </a:pPr>
              <a:r>
                <a:rPr lang="tr-TR" sz="1120" dirty="0">
                  <a:solidFill>
                    <a:srgbClr val="EAF4F6"/>
                  </a:solidFill>
                  <a:latin typeface="Consolas"/>
                  <a:ea typeface="Consolas"/>
                  <a:cs typeface="Consolas"/>
                </a:rPr>
                <a:t>kitapEkle(kutuphaneciToken) → { durumKodu: 201, mesaj: "Kitap eklendi." }</a:t>
              </a:r>
              <a:br/>
              <a:r>
                <a:rPr lang="tr-TR" sz="1120" dirty="0">
                  <a:solidFill>
                    <a:srgbClr val="EAF4F6"/>
                  </a:solidFill>
                  <a:latin typeface="Consolas"/>
                  <a:ea typeface="Consolas"/>
                  <a:cs typeface="Consolas"/>
                </a:rPr>
                <a:t>kitapEkle(ogrenciToken) → { durumKodu: 403, mesaj: "Bu işlem için yetkiniz yok." }</a:t>
              </a:r>
              <a:br/>
              <a:r>
                <a:rPr lang="tr-TR" sz="1120" dirty="0">
                  <a:solidFill>
                    <a:srgbClr val="EAF4F6"/>
                  </a:solidFill>
                  <a:latin typeface="Consolas"/>
                  <a:ea typeface="Consolas"/>
                  <a:cs typeface="Consolas"/>
                </a:rPr>
                <a:t>kitapEkle("gecersiz.token") → { durumKodu: 401, mesaj: "401" }</a:t>
              </a:r>
            </a:p>
          </p:txBody>
        </p:sp>
      </p:grpSp>
      <p:grpSp>
        <p:nvGrpSpPr>
          <p:cNvPr id="37" name="e2e-takeaway"/>
          <p:cNvGrpSpPr/>
          <p:nvPr/>
        </p:nvGrpSpPr>
        <p:grpSpPr>
          <a:xfrm>
            <a:off x="609600" y="5334000"/>
            <a:ext cx="10972800" cy="956501"/>
            <a:chOff x="609600" y="5334000"/>
            <a:chExt cx="10972800" cy="956501"/>
          </a:xfrm>
        </p:grpSpPr>
        <p:sp>
          <p:nvSpPr>
            <p:cNvPr id="34" name="Rectangle 34"/>
            <p:cNvSpPr/>
            <p:nvPr/>
          </p:nvSpPr>
          <p:spPr>
            <a:xfrm>
              <a:off x="609600" y="5334000"/>
              <a:ext cx="10972800" cy="952500"/>
            </a:xfrm>
            <a:prstGeom prst="roundRect">
              <a:avLst>
                <a:gd name="adj" fmla="val 8000"/>
              </a:avLst>
            </a:prstGeom>
            <a:solidFill>
              <a:srgbClr val="EAF4F6"/>
            </a:solidFill>
            <a:ln>
              <a:noFill/>
            </a:ln>
          </p:spPr>
        </p:sp>
        <p:sp>
          <p:nvSpPr>
            <p:cNvPr id="35" name="TextBox 35"/>
            <p:cNvSpPr txBox="1"/>
            <p:nvPr/>
          </p:nvSpPr>
          <p:spPr>
            <a:xfrm>
              <a:off x="906399" y="5468779"/>
              <a:ext cx="468028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Aynı token, role göre farklı sonuç üretir.</a:t>
              </a:r>
            </a:p>
          </p:txBody>
        </p:sp>
        <p:sp>
          <p:nvSpPr>
            <p:cNvPr id="36" name="TextBox 36"/>
            <p:cNvSpPr txBox="1"/>
            <p:nvPr/>
          </p:nvSpPr>
          <p:spPr>
            <a:xfrm>
              <a:off x="907542" y="5797868"/>
              <a:ext cx="7677531"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Kimliği doğrulanmış (authentication) her iki kullanıcı da geçer; ancak yalnızca kütüphaneci</a:t>
              </a:r>
              <a:br/>
              <a:r>
                <a:rPr lang="tr-TR" sz="1350" dirty="0">
                  <a:solidFill>
                    <a:srgbClr val="172B3A"/>
                  </a:solidFill>
                  <a:latin typeface="+mn-lt"/>
                  <a:ea typeface="+mn-ea"/>
                  <a:cs typeface="+mn-cs"/>
                </a:rPr>
                <a:t>rolü yetkilendirmeyi (authorization) geçip 201 alır — öğrenci rolü 403 ile reddedilir.</a:t>
              </a:r>
            </a:p>
          </p:txBody>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authn"/>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185760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Authentication</a:t>
              </a:r>
            </a:p>
          </p:txBody>
        </p:sp>
        <p:sp>
          <p:nvSpPr>
            <p:cNvPr id="8" name="TextBox 8"/>
            <p:cNvSpPr txBox="1"/>
            <p:nvPr/>
          </p:nvSpPr>
          <p:spPr>
            <a:xfrm>
              <a:off x="832104" y="1908810"/>
              <a:ext cx="22905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İsteği gönderenin kim olduğunu</a:t>
              </a:r>
              <a:br/>
              <a:r>
                <a:rPr lang="tr-TR" sz="1200" dirty="0">
                  <a:solidFill>
                    <a:srgbClr val="172B3A"/>
                  </a:solidFill>
                  <a:latin typeface="+mn-lt"/>
                  <a:ea typeface="+mn-ea"/>
                  <a:cs typeface="+mn-cs"/>
                </a:rPr>
                <a:t>doğrular; başarısızsa 401</a:t>
              </a:r>
              <a:br/>
              <a:r>
                <a:rPr lang="tr-TR" sz="1200" dirty="0">
                  <a:solidFill>
                    <a:srgbClr val="172B3A"/>
                  </a:solidFill>
                  <a:latin typeface="+mn-lt"/>
                  <a:ea typeface="+mn-ea"/>
                  <a:cs typeface="+mn-cs"/>
                </a:rPr>
                <a:t>döner.</a:t>
              </a:r>
            </a:p>
          </p:txBody>
        </p:sp>
      </p:grpSp>
      <p:grpSp>
        <p:nvGrpSpPr>
          <p:cNvPr id="13" name="summary-authz"/>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171762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Authorization</a:t>
              </a:r>
            </a:p>
          </p:txBody>
        </p:sp>
        <p:sp>
          <p:nvSpPr>
            <p:cNvPr id="12" name="TextBox 12"/>
            <p:cNvSpPr txBox="1"/>
            <p:nvPr/>
          </p:nvSpPr>
          <p:spPr>
            <a:xfrm>
              <a:off x="4565904" y="1908810"/>
              <a:ext cx="20086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Doğrulanmış kimliğin işlem</a:t>
              </a:r>
              <a:br/>
              <a:r>
                <a:rPr lang="tr-TR" sz="1200" dirty="0">
                  <a:solidFill>
                    <a:srgbClr val="172B3A"/>
                  </a:solidFill>
                  <a:latin typeface="+mn-lt"/>
                  <a:ea typeface="+mn-ea"/>
                  <a:cs typeface="+mn-cs"/>
                </a:rPr>
                <a:t>iznini denetler; yetersizse</a:t>
              </a:r>
              <a:br/>
              <a:r>
                <a:rPr lang="tr-TR" sz="1200" dirty="0">
                  <a:solidFill>
                    <a:srgbClr val="172B3A"/>
                  </a:solidFill>
                  <a:latin typeface="+mn-lt"/>
                  <a:ea typeface="+mn-ea"/>
                  <a:cs typeface="+mn-cs"/>
                </a:rPr>
                <a:t>403 döner.</a:t>
              </a:r>
            </a:p>
          </p:txBody>
        </p:sp>
      </p:grpSp>
      <p:grpSp>
        <p:nvGrpSpPr>
          <p:cNvPr id="17" name="summary-hash"/>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206197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Salt'lı hashleme</a:t>
              </a:r>
            </a:p>
          </p:txBody>
        </p:sp>
        <p:sp>
          <p:nvSpPr>
            <p:cNvPr id="16" name="TextBox 16"/>
            <p:cNvSpPr txBox="1"/>
            <p:nvPr/>
          </p:nvSpPr>
          <p:spPr>
            <a:xfrm>
              <a:off x="8299704" y="1908810"/>
              <a:ext cx="24048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Parola scrypt/bcrypt/argon2</a:t>
              </a:r>
              <a:br/>
              <a:r>
                <a:rPr lang="tr-TR" sz="1200" dirty="0">
                  <a:solidFill>
                    <a:srgbClr val="172B3A"/>
                  </a:solidFill>
                  <a:latin typeface="+mn-lt"/>
                  <a:ea typeface="+mn-ea"/>
                  <a:cs typeface="+mn-cs"/>
                </a:rPr>
                <a:t>ile salt eklenerek yavaşça</a:t>
              </a:r>
              <a:br/>
              <a:r>
                <a:rPr lang="tr-TR" sz="1200" dirty="0">
                  <a:solidFill>
                    <a:srgbClr val="172B3A"/>
                  </a:solidFill>
                  <a:latin typeface="+mn-lt"/>
                  <a:ea typeface="+mn-ea"/>
                  <a:cs typeface="+mn-cs"/>
                </a:rPr>
                <a:t>hashlenir, düz metin saklanmaz.</a:t>
              </a:r>
            </a:p>
          </p:txBody>
        </p:sp>
      </p:grpSp>
      <p:grpSp>
        <p:nvGrpSpPr>
          <p:cNvPr id="21" name="summary-jwt"/>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51563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JWT</a:t>
              </a:r>
            </a:p>
          </p:txBody>
        </p:sp>
        <p:sp>
          <p:nvSpPr>
            <p:cNvPr id="20" name="TextBox 20"/>
            <p:cNvSpPr txBox="1"/>
            <p:nvPr/>
          </p:nvSpPr>
          <p:spPr>
            <a:xfrm>
              <a:off x="832104" y="3718560"/>
              <a:ext cx="23058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İmzalı ama şifresiz, durumsuz</a:t>
              </a:r>
              <a:br/>
              <a:r>
                <a:rPr lang="tr-TR" sz="1200" dirty="0">
                  <a:solidFill>
                    <a:srgbClr val="172B3A"/>
                  </a:solidFill>
                  <a:latin typeface="+mn-lt"/>
                  <a:ea typeface="+mn-ea"/>
                  <a:cs typeface="+mn-cs"/>
                </a:rPr>
                <a:t>token; header.payload.imza</a:t>
              </a:r>
              <a:br/>
              <a:r>
                <a:rPr lang="tr-TR" sz="1200" dirty="0">
                  <a:solidFill>
                    <a:srgbClr val="172B3A"/>
                  </a:solidFill>
                  <a:latin typeface="+mn-lt"/>
                  <a:ea typeface="+mn-ea"/>
                  <a:cs typeface="+mn-cs"/>
                </a:rPr>
                <a:t>yapısına sahiptir.</a:t>
              </a:r>
            </a:p>
          </p:txBody>
        </p:sp>
      </p:grpSp>
      <p:grpSp>
        <p:nvGrpSpPr>
          <p:cNvPr id="25" name="summary-middleware"/>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3999" y="3354229"/>
              <a:ext cx="290381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Authentication middleware</a:t>
              </a:r>
            </a:p>
          </p:txBody>
        </p:sp>
        <p:sp>
          <p:nvSpPr>
            <p:cNvPr id="24" name="TextBox 24"/>
            <p:cNvSpPr txBox="1"/>
            <p:nvPr/>
          </p:nvSpPr>
          <p:spPr>
            <a:xfrm>
              <a:off x="4565904" y="3718560"/>
              <a:ext cx="23820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Token'ı doğrular ve kullanıcıyı</a:t>
              </a:r>
              <a:br/>
              <a:r>
                <a:rPr lang="tr-TR" sz="1200" dirty="0">
                  <a:solidFill>
                    <a:srgbClr val="172B3A"/>
                  </a:solidFill>
                  <a:latin typeface="+mn-lt"/>
                  <a:ea typeface="+mn-ea"/>
                  <a:cs typeface="+mn-cs"/>
                </a:rPr>
                <a:t>isteğe ekler; rol kararı</a:t>
              </a:r>
              <a:br/>
              <a:r>
                <a:rPr lang="tr-TR" sz="1200" dirty="0">
                  <a:solidFill>
                    <a:srgbClr val="172B3A"/>
                  </a:solidFill>
                  <a:latin typeface="+mn-lt"/>
                  <a:ea typeface="+mn-ea"/>
                  <a:cs typeface="+mn-cs"/>
                </a:rPr>
                <a:t>vermez.</a:t>
              </a:r>
            </a:p>
          </p:txBody>
        </p:sp>
      </p:grpSp>
      <p:grpSp>
        <p:nvGrpSpPr>
          <p:cNvPr id="29" name="summary-rbac"/>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13876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RBAC guard</a:t>
              </a:r>
            </a:p>
          </p:txBody>
        </p:sp>
        <p:sp>
          <p:nvSpPr>
            <p:cNvPr id="28" name="TextBox 28"/>
            <p:cNvSpPr txBox="1"/>
            <p:nvPr/>
          </p:nvSpPr>
          <p:spPr>
            <a:xfrm>
              <a:off x="8299704" y="3718560"/>
              <a:ext cx="20467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Kullanıcının rolüne göre</a:t>
              </a:r>
              <a:br/>
              <a:r>
                <a:rPr lang="tr-TR" sz="1200" dirty="0">
                  <a:solidFill>
                    <a:srgbClr val="172B3A"/>
                  </a:solidFill>
                  <a:latin typeface="+mn-lt"/>
                  <a:ea typeface="+mn-ea"/>
                  <a:cs typeface="+mn-cs"/>
                </a:rPr>
                <a:t>işlemleri sınırlar; yetkisiz</a:t>
              </a:r>
              <a:br/>
              <a:r>
                <a:rPr lang="tr-TR" sz="1200" dirty="0">
                  <a:solidFill>
                    <a:srgbClr val="172B3A"/>
                  </a:solidFill>
                  <a:latin typeface="+mn-lt"/>
                  <a:ea typeface="+mn-ea"/>
                  <a:cs typeface="+mn-cs"/>
                </a:rPr>
                <a:t>rolde 403 üretir.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6399" y="5259229"/>
              <a:ext cx="1002196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Sınav Notu: Authentication "kimsin", authorization "ne yapabilirsin" sorusuna yanıt verir.</a:t>
              </a:r>
            </a:p>
          </p:txBody>
        </p:sp>
        <p:sp>
          <p:nvSpPr>
            <p:cNvPr id="32" name="TextBox 32"/>
            <p:cNvSpPr txBox="1"/>
            <p:nvPr/>
          </p:nvSpPr>
          <p:spPr>
            <a:xfrm>
              <a:off x="906399" y="5583079"/>
              <a:ext cx="1042475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Parola her zaman salt'lı ve yavaş bir fonksiyonla hashlenir; 401 kimlik sorunu, 403 yetki sorunudur.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9913430" cy="724281"/>
            <a:chOff x="599694" y="1484948"/>
            <a:chExt cx="9913430" cy="724281"/>
          </a:xfrm>
        </p:grpSpPr>
        <p:sp>
          <p:nvSpPr>
            <p:cNvPr id="7" name="TextBox 7"/>
            <p:cNvSpPr txBox="1"/>
            <p:nvPr/>
          </p:nvSpPr>
          <p:spPr>
            <a:xfrm>
              <a:off x="599694" y="1484948"/>
              <a:ext cx="9913430"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Kimlik doğrulama ve yetkilendirme kuruldu; ancak bir backend'in güvenliği yalnızca</a:t>
              </a:r>
              <a:br/>
              <a:r>
                <a:rPr lang="tr-TR" sz="1950" dirty="0">
                  <a:solidFill>
                    <a:srgbClr val="172B3A"/>
                  </a:solidFill>
                  <a:latin typeface="+mn-lt"/>
                  <a:ea typeface="+mn-ea"/>
                  <a:cs typeface="+mn-cs"/>
                </a:rPr>
                <a:t>bu iki denetimle sınırlı değildir.</a:t>
              </a:r>
            </a:p>
          </p:txBody>
        </p:sp>
      </p:grpSp>
      <p:grpSp>
        <p:nvGrpSpPr>
          <p:cNvPr id="14" name="bridge-now"/>
          <p:cNvGrpSpPr/>
          <p:nvPr/>
        </p:nvGrpSpPr>
        <p:grpSpPr>
          <a:xfrm>
            <a:off x="599694" y="2799398"/>
            <a:ext cx="3064764" cy="1834419"/>
            <a:chOff x="599694" y="2799398"/>
            <a:chExt cx="3064764"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564384"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Parolayı salt'lı hashleyip</a:t>
              </a:r>
              <a:br/>
              <a:r>
                <a:rPr lang="tr-TR" sz="1580" dirty="0">
                  <a:solidFill>
                    <a:srgbClr val="172B3A"/>
                  </a:solidFill>
                  <a:latin typeface="+mn-lt"/>
                  <a:ea typeface="+mn-ea"/>
                  <a:cs typeface="+mn-cs"/>
                </a:rPr>
                <a:t>JWT ile giriş akışı kurmak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815209"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Middleware ve RBAC ile</a:t>
              </a:r>
              <a:br/>
              <a:r>
                <a:rPr lang="tr-TR" sz="1580" dirty="0">
                  <a:solidFill>
                    <a:srgbClr val="172B3A"/>
                  </a:solidFill>
                  <a:latin typeface="+mn-lt"/>
                  <a:ea typeface="+mn-ea"/>
                  <a:cs typeface="+mn-cs"/>
                </a:rPr>
                <a:t>401/403 ayrımını uygulamak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2918222"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Girdi doğrulama ve</a:t>
              </a:r>
              <a:br/>
              <a:r>
                <a:rPr lang="tr-TR" sz="2250" b="1" dirty="0">
                  <a:solidFill>
                    <a:srgbClr val="FFFFFF"/>
                  </a:solidFill>
                  <a:latin typeface="+mn-lt"/>
                  <a:ea typeface="+mn-ea"/>
                  <a:cs typeface="+mn-cs"/>
                </a:rPr>
                <a:t>güvenlik katmanları</a:t>
              </a:r>
            </a:p>
          </p:txBody>
        </p:sp>
        <p:sp>
          <p:nvSpPr>
            <p:cNvPr id="18" name="TextBox 18"/>
            <p:cNvSpPr txBox="1"/>
            <p:nvPr/>
          </p:nvSpPr>
          <p:spPr>
            <a:xfrm>
              <a:off x="7307199" y="4135279"/>
              <a:ext cx="3116199"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Rate limiting, security headers</a:t>
              </a:r>
              <a:br/>
              <a:r>
                <a:rPr lang="tr-TR" sz="1580" dirty="0">
                  <a:solidFill>
                    <a:srgbClr val="EAF4F6"/>
                  </a:solidFill>
                  <a:latin typeface="+mn-lt"/>
                  <a:ea typeface="+mn-ea"/>
                  <a:cs typeface="+mn-cs"/>
                </a:rPr>
                <a:t>ve hata middleware'i işlenecek.</a:t>
              </a:r>
            </a:p>
          </p:txBody>
        </p:sp>
      </p:grpSp>
      <p:grpSp>
        <p:nvGrpSpPr>
          <p:cNvPr id="22"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8659368"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Bu bölümde kurulan authentication ve authorization temeli, o denetimlerin</a:t>
              </a:r>
              <a:br/>
              <a:r>
                <a:rPr lang="tr-TR" sz="1800" b="1" dirty="0">
                  <a:solidFill>
                    <a:srgbClr val="12355B"/>
                  </a:solidFill>
                  <a:latin typeface="+mn-lt"/>
                  <a:ea typeface="+mn-ea"/>
                  <a:cs typeface="+mn-cs"/>
                </a:rPr>
                <a:t>üzerine inşa edilecektir.</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10-authentication-authorization-20260915">
  <a:themeElements>
    <a:clrScheme name="b10-authentication-authorization-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0-authentication-authorization-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0-authentication-authorization-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10-authentication-authorization-20260915">
  <a:themeElements>
    <a:clrScheme name="b10-authentication-authorization-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0-authentication-authorization-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0-authentication-authorization-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2026-09-19T21:22:11Z</dcterms:created>
  <dcterms:modified xsi:type="dcterms:W3CDTF">2026-09-19T21:22:11Z</dcterms:modified>
  <cp:category/>
  <cp:contentStatus/>
</cp:coreProperties>
</file>