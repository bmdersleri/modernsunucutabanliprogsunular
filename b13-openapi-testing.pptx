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kitabın on üçüncü bölümüdür ve "OpenAPI Dokümantasyonu ve Backend Testleri" başlığını taşır. Buraya kadar geliştirdiğimiz backend mantığını artık iki yeni disiplinle tamamlıyoruz: sözleşme tabanlı belgeleme ve otomatik test doğrulaması. Şimdiye kadar bir API'yi yalnızca kod okuyarak anlamak zorundaydık; bu bölümden sonra hem makinelerin hem insanların okuyabileceği resmi bir sözleşme yazacak, hem de bu sözleşmenin gerçek davranışla örtüştüğünü otomatik testlerle kanıtlayacaksınız. Bu ikili yaklaşım, endüstride yaygın kabul gören bir olgunluk işaretidir: bir ekip API'sini yalnızca "çalışıyor" demekle yetinmez, çalıştığını sürekli olarak kanıtlayan bir mekanizma kurar.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beş soru, bölümün ilerleyişini yönlendiren ana sorulardır ve her biri ileride ayrı ayrı yanıtlanacaktır. İlk soru, kod okumanın neden yeterli bir belgeleme yöntemi olmadığını sorgular — bunun cevabı, büyüyen bir kod tabanında hiçbir geliştiricinin tüm detayları zihninde tutamayacağı gerçeğidir. İkinci soru, sözleşme ile gerçek davranış arasındaki ayrışmanın sonuçlarına değinir; bu, bölümün ilerleyen kısımlarında "mock drift" ve "stale documentation" gibi kavramlarla somutlaşacaktır. Üçüncü ve dördüncü sorular sırasıyla unit test ile integration test arasındaki farkı ve test veritabanı/mock kullanımının nedenini işaret eder. Beşinci soru ise bölümün varış noktasını, yani otomatik bir kalite kapısı kurmayı özetler. Alttaki hedef kutusu, bu beş sorunun ortak paydasını tek cümlede toplar: API'yi belgelemek ve davranışını doğrulamak birbirini tamamlayan iki eylemdir.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Buradaki beş öğrenme hedefi, bölümün somut çıktısını tanımlar ve her biri bir "ölçüt" ile desteklenir; bu ölçütler, bir öğrencinin hedefe ulaşıp ulaşmadığını nasıl sınayabileceğinizi gösterir. İlk hedef, tam bir OpenAPI sözleşmesi yazma becerisidir — yalnızca path tanımlamak değil, istek ve yanıt şemalarını da eksiksiz belgelemek. İkinci hedef, unit test ile integration testin birbirinin yerine geçemeyeceğini kavramaktır; bu ayrım, test piramidinin temelini oluşturur. Üçüncü hedef, izole bir test veritabanının neden gerekli olduğunu, testler arasındaki yan etkilerin nasıl flaky testlere yol açtığını anlamaktır. Dördüncü hedef, dış bağımlılıkları mock'larla değiştirmenin ne zaman ve neden uygun olduğunu bilmektir — burada aşırı mocklama riskine de dikkat çekilecektir. Son hedef ise tüm bunları bir araya getirerek, testlerin geçmesini zorunlu kılan bir kalite kapısının nasıl ve neden kurulduğunu gerekçelendirmektir.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bölümün beş temel yapı taşının birbiriyle ilişkisini görselleştirir. Merkezdeki düğüm, "API belgeleme ve test disiplini" fikridir; bu, aslında Boehm'in 1981'de tanımladığı doğrulama (verification) ve geçerleme (validation) ayrımının pratik bir uygulamasıdır. OpenAPI sözleşmesi ve Swagger UI, geçerleme tarafını; unit test ve integration test ise doğrulama tarafını temsil eder. Mock ve test veritabanı düğümü özellikle geniş tutulmuştur çünkü ikisi de aynı amaca hizmet eder: testin yalıtımını (isolation) korumak. Kesikli çizgilerle gösterilen bağlantılar, OpenAPI ile Swagger UI arasındaki ve unit test ile integration test arasındaki doğal yakınlığı; düz oklar ise merkezdeki disiplinin her bir bileşeni nasıl kapsadığını gösterir. Bu harita, ileriki sayfalarda tek tek açılacak beş kavramın nasıl bir bütün oluşturduğunu önceden özetler.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altı temel kavramın her birinin tam olarak ne yaptığını, ne yapmadığını ve eksik bırakıldığında ne olacağını netleştirir; bu üçlü yapı, öğrencilerin sık yaptığı bir hatayı — bir aracın kapsamını abartmayı — önlemeyi amaçlar. Örneğin OpenAPI sözleşmesi API'nin şeklini tanımlar ama davranışını hiçbir şekilde test etmez; bu ayrım anlaşılmazsa, ekipler yalnızca belge yazıp testi ihmal edebilir. Benzer şekilde Swagger UI yalnızca sözleşmeyi sunar, kendisi bir doğrulama aracı değildir — bu nedenle üretimde açık bırakılması güvenlik riski taşır (ileride 11 ve 12. sayfalarda ele alınacaktır). Unit test ile integration testin farkı burada da netleşir: biri yalıtılmış mantığı, diğeri bileşenlerin gerçek koşullarda birlikte çalışmasını sınar. Mock ve test veritabanı satırları, ikisinin de "gerçek dış bağımlılığın yerini almak" için var olduğunu ama farklı senaryolarda tercih edildiğini gösterir. Bu tablo, aslında bölümün geri kalanının bir ön-özeti işlevi görür; her satır ilerleyen sayfalarda ayrıntılı olarak işlenecektir.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teorik temelini Boehm'in 1981 tarihli klasik ayrımıyla kurar: geçerleme (validation), "doğru yazılımı mı inşa ettik" sorusunu; doğrulama (verification) ise "yazılımı doğru mu inşa ettik" sorusunu yanıtlar. OpenAPI sözleşmesi, API'nin ne yapması gerektiğini tanımlayarak geçerleme tarafını karşılar — bu, gereksinimlerin doğru anlaşılıp anlaşılmadığıyla ilgilidir. Unit ve integration testler ise API'nin gerçekten o şekilde davranıp davranmadığını kanıtlayarak doğrulama tarafını karşılar. Bu ayrımın önemi şuradan gelir: bir API mükemmel şekilde "doğru" çalışabilir (verification geçer) ama yanlış bir problemi çözüyor olabilir (validation başarısız); ya da tam tersi, doğru problemi tanımlamış olabilir ama kod bunu yanlış uyguluyor olabilir. SmartBear'ın Swagger projesinden doğan ve daha sonra OpenAPI Initiative çatısı altında standartlaşan bu sözleşme biçimi, endüstrinin bu iki kavramı ayrı ayrı ama birbirini tamamlayacak şekilde yönetmesine imkân tanır.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13.1'de tanımlanan beş adımlı yaşam döngüsü, bir endpoint'in üretime çıkana kadar geçirdiği zorunlu aşamaları sıralı biçimde gösterir. İlk adımda endpoint'in iş mantığı yazılır; ancak bu adım tek başına yeterli değildir, çünkü kodun kendisi dışarıdan nasıl kullanılacağını açıklamaz. İkinci adımda OpenAPI belgelemesi yapılır — bu, endpoint'in path, metod, istek/yanıt şeması ve durum kodlarını makine tarafından okunabilir hâle getirir. Üçüncü ve dördüncü adımlarda sırasıyla unit test ve integration test yazılır; bunlar endpoint'in hem yalıtılmış mantığının hem de gerçek koşullardaki davranışının doğru olduğunu kanıtlar. Beşinci adım olan kalite kapısı, önceki dört adımın hepsinin başarıyla tamamlandığını doğrulayan otomatik bir denetim noktasıdır — testler geçmeden kod üretime ilerleyemez. Kaynak metindeki yaygın hata varyantı, bu adımların sırasının atlanmasının (örneğin belgeleme veya testin sona bırakılması) neden riskli olduğunu vurgular: adımlar ne kadar geç yapılırsa, unutulma ve tutarsızlık riski o kadar artar.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OpenAPI sözleşmesi, bir REST API'nin dört temel unsurunu standart bir biçimde tanımlar: path (uç noktanın adresi), desteklenen HTTP metodları, istek/yanıt şemaları ve olası durum kodları. Bu tanımın gücü, JSON Schema'ya dayanmasından gelir — tıpkı TypeScript'in derleme zamanında yaptığı yapısal tipleme denetimini, OpenAPI çalışma zamanında ve dil bağımsız biçimde ifade eder. Bu benzetme önemlidir çünkü OpenAPI'nin de design-by-contract felsefesinden beslendiğini gösterir: bir fonksiyonun ön koşulları ve son koşulları nasıl açıkça belirtilirse, bir API'nin girdi/çıktı sözleşmesi de aynı netlikte belirtilmelidir. Sözleşmenin makine tarafından işlenebilir olması, istemci SDK'larının veya doğrulama katmanlarının otomatik türetilmesini mümkün kılar — bu, elle yazılan dokümanların asla sağlayamayacağı bir avantajdır. Kaynak metindeki en yaygın hata, yalnızca başarı durumunu (200) belgeleyip hata durumlarını (400, 401) eksik bırakmaktır; bu, API'yi tüketen geliştiricilerin hata senaryolarını tahmin etmek zorunda kalmasına yol açar.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Kod 13.2'deki login endpoint'inin somut OpenAPI path tanımını gösterir ve önceki sayfadaki soyut kavramları (path, şema, durum kodu) gerçek bir örnek üzerinden pekiştirir. `requestBody` içindeki `required` alanı, `kullaniciAdi` ve `parola` alanlarının zorunlu olduğunu makineye bildirir; bu, Bölüm 11'de ele alınan girdi doğrulama mantığıyla tutarlı olmalıdır — aksi hâlde sözleşme ile kod arasında bir tutarsızlık (drift) oluşur. Yanıt tarafında 200 ve 401 durumları ayrı ayrı, kendi şemalarıyla tanımlanmıştır; bu ayrım, API'yi tüketen bir istemcinin hem başarı hem hata durumunu önceden bilmesini sağlar. TypeScript arayüzünün burada tekrar vurgulanması tesadüfi değildir: OpenAPI'nin yapısı, tıpkı bir arayüzün derleme zamanında denetlenmesi gibi, çalışma zamanında ve dil bağımsız şekilde denetlenebilir bir sözleşme sunar. Bu örnek, bir sonraki sayfada ele alınacak alternatif yaklaşımların (yalnızca test, yalnızca doküman) neden OpenAPI kadar kapsamlı olmadığını anlamak için bir referans noktası oluşturur.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OpenAPI'nin tek doğru yaklaşım olmadığını, farklı bağlamlarda farklı stratejilerin makul olabileceğini gösterir. OpenAPI ile otomatik testlerin birlikte kullanılması en kapsamlı güvenceyi sağlar çünkü hem sözleşme hem davranış aynı anda doğrulanır; ancak bu, kurulum ve bakım emeği gerektirir ve dolayısıyla uzun ömürlü, ekip hâlinde geliştirilen API'ler için mantıklıdır. Elle yazılmış dokümanlar hızlı yazılabilir ama kodla senkron kalması hiçbir zaman garanti değildir — bu yüzden yalnızca çok küçük, kısa ömürlü projelerde tercih edilebilir. Yalnızca test yazıp belgeleme yapmamak, davranışı doğrular ama yeni bir tüketicinin API'yi anlamak için doğrudan koda bakmasını gerektirir; bu da yalnızca iç kullanım için, tek bir ekip tarafından tüketilen servislerde kabul edilebilir. Formal doğrulama ise matematiksel kesinlik sunar ama kurulum maliyeti o kadar yüksektir ki yalnızca kritik güvenlik veya uçuş sistemleri gibi uç senaryolarda tercih edilir. Kaynak metindeki iki yaygın hata — `required` alanlarını belirtmemek ve örnek değerler eklememek — sözleşmenin teknik olarak "var" ama pratikte yetersiz kalmasının somut örnekleridir.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Swagger UI, OpenAPI belgesini alıp tarayıcıda interaktif, denenebilir bir sayfaya dönüştüren açık kaynaklı bir araçtır; "Dene" (try it out) düğmesi sayesinde geliştiriciler sözleşmeyi doğrudan tarayıcıdan çalıştırabilir. Bu, statik dokümanlardan çok daha güçlü bir kavramdır: canlı dokümantasyon, sistemin makine tarafından okunabilir tanımından türetildiği için sistemle senkron kalma olasılığı çok daha yüksektir. Bu fikir, Cucumber/Gherkin'in "yürütülebilir spesifikasyon" yaklaşımıyla aynı köke dayanır — her ikisi de dokümantasyonun yalnızca okunan değil, aynı zamanda çalıştırılabilen bir artefakt olmasını amaçlar. Ancak bu güç aynı zamanda bir risk taşır: Swagger UI üretim ortamında kimlik doğrulaması olmadan herkese açık bırakılırsa, API'nin tam şeması (tüm endpoint'ler, parametre adları, hata kodları) saldırgana normalde manuel keşifle elde etmesi gereken bilgiyi hazır sunar. Bu durumda saldırı yüzeyi haritalama maliyeti saldırgan için neredeyse sıfırlanır — bir sonraki sayfada bu riskin nasıl ortam bazlı bir yaklaşımla yönetildiğini göreceğiz.</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13.3, önceki sayfada tanımlanan bilgi ifşası riskine somut bir mimari çözüm sunar: ortam bazlı koşullu koruma. Geliştirme ortamında (`NODE_ENV !== "production"`), Swagger UI herhangi bir kimlik doğrulaması olmadan `/api-docs` üzerinden sunulur; bu, ekip içi hızlı iterasyonu destekler çünkü her geliştirici anlık olarak güncel API şemasını görebilir. Üretim ortamında ise (`NODE_ENV === "production"`) aynı rota, önce `authMiddleware` ile kimlik doğrulamasından, ardından `requireRole(["kutuphaneci"])` ile yetkilendirmeden geçirilir; böylece yalnızca yetkili bir kullanıcı API'nin iç yapısını görebilir. Bu iki-katmanlı kontrol yalnızca bir güvenlik önlemi değil, aynı zamanda bir mimari disiplin örneğidir: ortam farkındalığı (environment awareness) kodun doğasında olmalı, sonradan eklenen bir yama olmamalıdır. Kaynak metindeki yaygın hatalar bunu somutlaştırır: ortam ayrımı yapılmadan Swagger UI'ın doğrudan üretime açılması her ziyaretçiye tüm iç yapıyı gösterir; örnek verilerde gerçek üretim değerleri kullanmak ayrı bir veri sızıntısı riski taşır; ve OpenAPI güncellenmediğinde Swagger UI'ın eski, yanıltıcı bilgi göstermeye devam etmesi "stale documentation" sorununa yol açar.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Unit test, bir işlevin ya da modülün dış bağımlılıklardan (ağ, veritabanı, dosya sistemi) tamamen yalıtılmış biçimde, yalnızca kendi mantığının doğru çalıştığını doğrulayan en küçük test birimidir. Yalıtım ilkesi burada kritik bir kısıttır: bir unit test, çalıştığı makinede internet, veritabanı ya da dosya sistemi olmasa bile geçmelidir; test yalnızca kendi girdisine ve saf mantığa bağımlı olmalıdır. Bu yalıtım sayesinde testler milisaniyeler içinde ve tutarlı biçimde çalışır — bu hız, geliştiricinin her kod değişikliğinden sonra anında geri bildirim almasını sağlar. Bu pratiğin kökleri, Kent Beck'in SUnit çerçevesiyle başlattığı xUnit ailesine (1989/1998) ve test-güdümlü geliştirme (TDD) pratiğine dayanır: önce başarısız bir test yazılır, sonra testi geçirecek en az kod eklenir. Gamma ve Meszaros'un tanımladığı test çifti (test double) kavramı — dummy, stub, spy, mock, fake sınıflandırması — bu yalıtımı sağlamanın sistematik yoludur ve Meszaros'un 2007 tarihli "xUnit Test Patterns" çalışması bu kalıpları derli toplu bir şekilde belgelemiştir.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13.4'teki `KayitValidasyonu.test.ts`, `kayitIstegiDogrula` fonksiyonunu üç farklı senaryoyla sınar ve her senaryo, fonksiyonun farklı bir davranış dalını doğrular. İlk senaryo, tüm alanların kurallara uyduğu geçerli bir girdiyle çalışır ve hata listesinin boş dönmesini bekler — bu, "mutlu yol" (happy path) testidir. İkinci senaryo, kısa bir parola (`"123"`) ile minimum uzunluk kuralının ihlal edildiğini ve hata mesajının doğru şekilde üretildiğini doğrular. Üçüncü senaryo ise tanımlı rol kümesi dışında bir değer (`"yonetici"`) vererek whitelist doğrulamasının çalıştığını gösterir. Bu üç senaryo birlikte, fonksiyonun yalnızca "çalışıyor" değil, "her koşulda beklenen şekilde davranıyor" olduğunu kanıtlar. Kaynak metindeki yaygın hatalar (code_008) bu disiplinin nasıl bozulabileceğini gösterir: gerçek veritabanı bağlantısıyla çalışan bir testi "unit test" olarak adlandırmak yalıtım ilkesini tamamen ihlal eder ve testi yavaşlatıp kırılganlaştırır; fonksiyonun private uygulama detaylarını doğrudan test etmek, testi uygulamaya aşırı bağımlı hâle getirir; testler arasında paylaşılan, sıfırlanmayan değişebilir durum bırakmak ise testlerin birbirini etkilemesine ve flaky sonuçlara yol açar.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Integration test, bileşenlerin (endpoint, servis, veritabanı) gerçek veya gerçeğe yakın koşullarda birlikte doğru çalıştığını doğrulayan testtir; unit testin aksine, burada yalıtım değil, bileşenler arası etkileşimin doğruluğu önemlidir. Kontrollü deney mantığı burada devreye girer: her testten önce ortam sıfırlanmalıdır, aksi hâlde önceki testin yan etkisi sonucu bozar ve flaky test riski doğar — bu, bilimsel bir deneyde kontrol grubunun neden her denemede aynı başlangıç koşullarına sahip olması gerektiğiyle aynı mantığı taşır. Mike Cohn'un 2009 tarihli Test Piramidi kavramı, bu iki test türü arasındaki oranı görselleştirir: piramidin tabanında çok sayıda hızlı, ucuz unit test bulunur; ortasında daha az sayıda integration test; tepesinde ise en az sayıda, en yavaş ve en pahalı uçtan uca test yer alır. Bu oranın nedeni basittir — integration testler gerçek veritabanı veya ağ katmanını içerdiğinden doğası gereği daha yavaş ve daha kırılgandır; bu yüzden piramidin üst katmanlarında az sayıda tutulur, çünkü çoğu mantık zaten unit testlerle hızlıca doğrulanmıştır. Piramidin şeklini tersine çevirmek (çok sayıda yavaş test, az sayıda hızlı test) yaygın bir anti-pattern'dır ve bu bölümün ilerleyen sayfalarında kavram yanılgıları arasında ele alınacaktır.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Şekil 13.2, Kod 13.5'teki `LoginEndpoint.integration.test.ts` dosyasının çalışma akışını üç aktör üzerinden gösterir: Test, LoginEndpoint ve Test Veritabanı. Akış, `beforeEach` bloğuyla başlar — bu blok her testten önce veritabanını sıfırlar ve böylece testlerin birbirinden bağımsız, tekrarlanabilir sonuç üretmesini garanti eder. Ardından `testKullaniciEkle` fonksiyonu test veritabanına bilinen bir kullanıcı kaydı ekler; bu, testin kontrollü bir başlangıç durumuyla çalışmasını sağlar. Asıl test adımı, supertest kütüphanesi kullanılarak gerçek bir HTTP isteğinin (`request(app).post("/auth/login")`) endpoint'e gönderilmesidir — bu, integration testin unit testten temel farkıdır: burada gerçek bir HTTP sunucusu ve gerçek bir veritabanı sorgusu devreye girer. Endpoint, veritabanından kullanıcıyı doğrulayıp sonucu döndürdükten sonra test, dönen durum kodu ve token değerini `assert` ile kontrol eder. Bu akışın her adımı, integration testin neden unit testten daha yavaş ama daha gerçekçi bir güvence sağladığını somutlaştırır.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Test veritabanı seçimi, bir ekibin hız ile gerçekçilik arasında nasıl bir denge kurduğunu belirler. Ayrı, sıfırlanabilir bir test veritabanı, üretim verisiyle gerçek motor arasında tutarlılık sağlar ve çoğu üretim projesi için standart yaklaşımdır; bedeli, kurulum ve sıfırlama altyapısı gerektirmesidir. Bellek içi SQLite çok hızlı ve kurulumsuzdur, bu yüzden hızlı geri bildirim gereken CI adımlarında tercih edilir; ancak üretim veritabanı motoruyla (örneğin PostgreSQL) davranış farkları gösterebilir. Testcontainers, gerçek veritabanı motorunu izole bir konteynerde çalıştırarak üretime en yakın davranışı sağlar, ama Docker gerektirir ve başlatma süresi daha uzundur. Üretim veritabanının doğrudan testlerde kullanılması ise hiçbir koşulda kabul edilemez, çünkü gerçek kullanıcı verisini bozma veya silme riski taşır. Kaynak metindeki code_010 kodlu yaygın hatalar bu ilkelerin ihlalini gösterir: testler arasında veritabanını sıfırlamamak bir testin kalıntısının bir sonrakini etkilemesine ve flaky testlere yol açar; integration testin hızının unit test hızına eşit olmasını beklemek ise integration testin doğası gereği daha yavaş olduğunu kabul etmemektir — bu bir kusur değil, integration testin doğal bir özelliğidir.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Mock, gerçek bir dış bağımlılığın (e-posta servisi, ödeme sağlayıcısı) yerine geçen, davranışı önceden belirlenmiş sahte bir nesnedir ve testin yalıtımını korumaya yardımcı olur. Meszaros'un test çifti taksonomisi, bu sahte nesneleri beş kategoriye ayırır: dummy hiçbir işlevi olmayan, yalnızca parametre doldurmak için var olan bir nesnedir; stub sabit, önceden tanımlı bir yanıt döndürür; spy çağrıları kaydeder ve sonradan sorgulanabilir hâle getirir; mock ise belirli bir çağrının yapıldığını doğrudan doğrular (assert eder); fake ise basitleştirilmiş ama gerçekçi çalışan bir alternatiftir, örneğin bellek içi bir repository. Bu sınıflandırmanın pratik önemi şuradadır: her test senaryosu farklı bir test çifti türü gerektirir, hepsini "mock" olarak adlandırmak kavramsal karışıklığa yol açar. Mock kullanabilmenin ön koşulu mimaridedir: sınıfın somut bir e-posta servisine değil, bir arayüze (soyutlamaya) bağımlı olması gerekir — bu, Dependency Inversion Principle'ın doğal bir test sonucudur ve mock'un neden yalnızca iyi tasarlanmış, gevşek bağlı (loosely coupled) kodda kolayca uygulanabildiğini açıklar.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13.6'daki `KaydediciMockEmailService`, mock kavramının somut bir uygulamasıdır: test kodu servisi çağırdığında, gerçek e-posta sağlayıcısına hiçbir istek gitmez; bunun yerine mock, `gonder()` çağrısını gerçekten göndermeden bir listeye kaydeder. Test daha sonra bu listeyi (`mock.gonderilenler`) sorgulayarak servisin doğru parametrelerle, doğru sayıda çağrıldığını doğrular. Bu yaklaşımın gücü, gerçek e-posta altyapısına hiç dokunmadan, saniyeler içinde ve tekrarlanabilir biçimde bu davranışı test edebilmesidir. Ancak mock kullanımı kaynak metinde belirtilen code_012 kodlu üç yaygın hataya açıktır: test edilen birimin kendisini mocklamak, asıl mantığın hiç çalıştırılmadan testin "geçmiş" görünmesine yol açar — bu, testin amacını tamamen boşa çıkarır; mock drift, yani gerçek servisin arayüzü değişirken mock'un güncellenmemesi, testin yanlış bir güvenle geçmeye devam etmesine neden olur; ve yalnızca dönüş değerini kontrol edip mock'un doğru çağrılıp çağrılmadığını denetlememek, testin asıl davranışsal sözleşmeyi (örneğin "e-posta doğru adrese gönderildi mi") kaçırmasına yol açar.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üç yanılgı, bölümün en sık karşılaşılan yanlış anlamalarını ele alır. İlkinde, öğrenciler yüksek unit test kapsamını (coverage) yeterli sanabilir; oysa yüksek kapsam yalnızca her satırın çalıştığını gösterir, bileşenlerin birlikte, gerçek veritabanı veya ağ bağlantısıyla doğru davrandığını göstermez — bu yüzden unit ve integration testler farklı riskleri kapatır ve biri diğerinin yerine geçmemelidir. İkinci yanılgı, testleri paylaşılan bir geliştirme veritabanına karşı çalıştırmanın "pratik" olduğu düşüncesidir; ancak paylaşılan veritabanı testler arasında sıfırlanmadığından bir testin bıraktığı kayıt bir sonrakinin sonucunu bozar ve flaky testler üretir — bunun mimari çözümü, her çalıştırmadan önce izole, sıfırlanabilir bir test veritabanı (ya da bellek içi/Testcontainers) kullanmaktır. Üçüncü yanılgı, kodu yazdıktan sonra elle bir belge hazırlamanın yeterli olduğu inancıdır; oysa elle yazılan belgenin kodla senkron kalması garanti değildir, her değişiklikte belgenin ayrıca güncellenmesi kolayca unutulan bir adımdır — bu yüzden OpenAPI sözleşmesi koddan türetilmeli ve Swagger UI gibi araçlarla canlı, otomatik güncel tutulmalıdır.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Kod 13.13'teki hatalı testi Kod 13.14'teki düzeltilmiş haliyle karşılaştırarak, teorik ilkelerin pratikte nasıl ihlal edilip düzeltildiğini somut bir örnek üzerinden gösterir. Hatalı versiyon, `GercekVeritabaniRepository` kullanır ve testler arasında hiçbir sıfırlama yapmaz; bu, testlerin gerçek bir veritabanına yazması ve kalıcı iz bırakması anlamına gelir. Düzeltilmiş versiyon ise `BellekIciKullaniciRepository` kullanır ve her testten önce `beforeEach(() =&gt; repo.sifirla())` ile durumu sıfırlar; böylece her test tamamen bağımsız, temiz bir durumdan başlar. İz tablosu (trace table) dört adımda bu farkın etkisini gösterir: kullanıcı oluşturma adımında hatalı versiyon gerçek veritabanına yazarken düzeltilmiş versiyon yalnızca bellek içinde çalışır; sıralı bağımlılık adımında hatalı versiyonda ikinci test birinci testin verisine bağımlı kalırken düzeltilmiş versiyon her testte bağımsız başlar; veritabanı etkisi adımında hatalı versiyonda kalıcı kayıtlar birikip temizlik gerektirirken düzeltilmiş versiyonda süreç sonunda kayıtlar otomatik olarak kaybolur; ve son olarak hata yakalama gücü adımında hatalı versiyon yalnızca belirli bir sırada çalıştırıldığında doğru sonuç verirken, düzeltilmiş versiyon hangi sırada çalıştırılırsa çalıştırılsın doğru sonucu üretir. Bu karşılaştırma, kaynak metindeki laboratuvar tartışmasında öğrencilerin (Yasemin, Bahar, İsmail, Elif) birlikte keşfettiği temel dersi özetler: testin güvenilirliği, çalıştırma sırasından bağımsız olabilmesine bağlıdır.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13.15, bölümün tüm kavramlarını tek bir akışta birleştiren uçtan uca mini bir uygulamadır. Akış, `/kitaplar/{kitapKodu}/odunc-al` endpoint'inin OpenAPI path tanımıyla başlar; bu tanım, endpoint'in beklediği girdi ve döndüreceği çıktıyı makine tarafından okunabilir biçimde belgeler. Ardından `yolParametreleriEksikMi` fonksiyonu girdi doğrulamasını yapar — eksik veya hatalı bir parametre varsa işlem burada durur. `oduncAl` servis fonksiyonu asıl iş mantığını yürütür ve gerekirse `AppError` sınıfı aracılığıyla anlamlı hata mesajları üretir. Servis, bir ödünç alma işlemi tamamlandığında kullanıcıya bildirim göndermek için `KaydediciMockEmailService`'i kullanır — gerçek bir e-posta sağlayıcısına bağımlı olmadan, bildirimin doğru tetiklendiğini test edebilmek içindir. Son olarak, elle yazılmış bir `beklenenEsit` yardımcı fonksiyonuyla, herhangi bir test framework'üne ihtiyaç duymadan saf TypeScript'te beş ayrı doğrulama (assertion) gerçekleştirilir; bu, unit testin temel mantığının aslında bir framework'e değil, basit bir eşitlik kontrolüne dayandığını gösterir. Kodun sonunda yorum satırında bırakılan integration test iskeleti, bu senaryonun gerçek bir HTTP isteğiyle nasıl uçtan uca tamamlanacağını işaret eder ve bölümün tüm katmanlarını (sözleşme, doğrulama, servis, mock, test) bir araya getirir.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sözlük, bölüm boyunca kullanılan dokuz temel terimi tek bir referans noktasında toplar. OpenAPI, REST API'nin path, metod, şema ve durum kodlarını tanımlayan standart sözleşme biçimidir; Swagger UI ise bu belgeyi interaktif, denenebilir bir web sayfasına dönüştüren araçtır — ikisi birlikte "belgeleme" tarafını oluşturur. Unit test, dış bağımlılıklardan yalıtılmış, tek bir birimi doğrulayan en küçük test türüyken; integration test, bileşenlerin gerçek veya gerçeğe yakın koşullarda birlikte doğru çalıştığını doğrular — bu ikisi "doğrulama" tarafını temsil eder. Test veritabanı, integration testler için kullanılan, her çalıştırmadan önce sıfırlanabilen izole bir veritabanıdır; mock ise bir dış bağımlılığın yerine geçen, çağrıların doğrulanmasına izin veren sahte bir nesnedir. Mock drift, gerçek servis değişirken mock'un güncellenmemesi durumunda ortaya çıkan sinsi bir hata kaynağıdır; kalite kapısı, testlerin geçmesini zorunlu tutarak kodun üretime ilerlemesini engelleyen denetim noktasıdır; flaky test ise aynı kod ve girdiyle bazen geçen, bazen başarısız olan, genellikle yalıtım eksikliğinden doğan kararsız bir test türüdür. Bu son terim özellikle önemlidir çünkü bölüm boyunca defalarca karşılaştığımız "testler arasında sıfırlama yapılmaması" hatasının doğrudan sonucu budur.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özet, bölümün altı temel kavramını tek bakışta toparlar. OpenAPI sözleşmesi, API'nin path, metod, şema ve durum kodlarını makine tarafından okunabilir biçimde tanımlayarak "ne yapılması gerektiğini" belirler. Swagger UI, bu sözleşmeyi canlı, denenebilir bir dokümantasyona dönüştürür — ama üretimde mutlaka korunmalıdır, çünkü korumasız bırakıldığında API'nin tüm iç yapısını ifşa eder. Unit test, yalıtılmış mantığı hızlı ve tekrarlanabilir biçimde doğrularken; integration test, bileşenlerin gerçek koşullarda birlikte çalıştığını, izole bir test veritabanı kullanarak doğrular. Mock, dış bağımlılıkları sahte nesnelerle değiştirerek testin yalıtımını korumanın yoludur. Ve son olarak kalite kapısı, tüm bu testlerin geçmesini zorunlu kılarak kodun üretime ilerlemesini engelleyen otomatik bir denetim noktasıdır. Alttaki kapanış notu, bölümün özünü tek cümlede yakalar: belgeleme ve test, aynı sözleşmenin iki yüzüdür — biri neyin doğru olduğunu söyler, diğeri bunu kanıtlar; biri olmadan diğeri eksik kalır.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sözleşme belgelendi, testler yazıldı ve kalite kapısı kuruldu; ama bunların hepsi şimdiye kadar tek bir çalışma ortamında, geliştiricinin kendi makinesinde doğrulandı. Sıradaki bölüm olan Docker ile konteynerleştirme, bu güvenceyi her ortamda aynı biçimde çalışan taşınabilir bir kaba yerleştirmeyi öğretecek. Burada kritik bir bağlantı noktası var: bu bölümde yazdığınız unit ve integration testler bir kerelik bir egzersiz değildi — bunlar, konteynerin de tıpkı geliştirme ortamındaki gibi doğru davrandığını kanıtlamak için CI (sürekli entegrasyon) süreçlerinde yeniden kullanılacak. Yani "kalite kapısı" kavramı burada sona ermiyor, genişliyor: artık yalnızca kodu değil, kodun çalıştığı ortamı da doğrulayabilecek hâle gelecek. Bu, üretim ortamında "makinemde çalışıyordu ama sunucuda çalışmadı" sorununu kökünden çözen bir yaklaşımın ilk adımıdır.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3-openapi-testing-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3-openapi-testing-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13</a:t>
              </a:r>
            </a:p>
          </p:txBody>
        </p:sp>
      </p:grpSp>
      <p:grpSp>
        <p:nvGrpSpPr>
          <p:cNvPr id="8" name="cover-title"/>
          <p:cNvGrpSpPr/>
          <p:nvPr/>
        </p:nvGrpSpPr>
        <p:grpSpPr>
          <a:xfrm>
            <a:off x="4933950" y="1595438"/>
            <a:ext cx="3988594" cy="2505075"/>
            <a:chOff x="4933950" y="1595438"/>
            <a:chExt cx="3988594" cy="2505075"/>
          </a:xfrm>
        </p:grpSpPr>
        <p:sp>
          <p:nvSpPr>
            <p:cNvPr id="7" name="TextBox 7"/>
            <p:cNvSpPr txBox="1"/>
            <p:nvPr/>
          </p:nvSpPr>
          <p:spPr>
            <a:xfrm>
              <a:off x="4933950" y="1595438"/>
              <a:ext cx="3988594" cy="2505075"/>
            </a:xfrm>
            <a:prstGeom prst="rect">
              <a:avLst/>
            </a:prstGeom>
            <a:noFill/>
            <a:ln>
              <a:noFill/>
            </a:ln>
          </p:spPr>
          <p:txBody>
            <a:bodyPr wrap="none" lIns="0" tIns="0" rIns="0" bIns="0" anchor="t" anchorCtr="0">
              <a:spAutoFit/>
            </a:bodyPr>
            <a:lstStyle/>
            <a:p>
              <a:pPr algn="l">
                <a:lnSpc>
                  <a:spcPts val="4650"/>
                </a:lnSpc>
              </a:pPr>
              <a:r>
                <a:rPr lang="tr-TR" sz="3750" b="1" dirty="0">
                  <a:solidFill>
                    <a:srgbClr val="12355B"/>
                  </a:solidFill>
                  <a:latin typeface="+mj-lt"/>
                  <a:ea typeface="+mj-ea"/>
                  <a:cs typeface="+mj-cs"/>
                </a:rPr>
                <a:t>OpenAPI</a:t>
              </a:r>
              <a:br/>
              <a:r>
                <a:rPr lang="tr-TR" sz="3750" b="1" dirty="0">
                  <a:solidFill>
                    <a:srgbClr val="12355B"/>
                  </a:solidFill>
                  <a:latin typeface="+mj-lt"/>
                  <a:ea typeface="+mj-ea"/>
                  <a:cs typeface="+mj-cs"/>
                </a:rPr>
                <a:t>Dokümantasyonu</a:t>
              </a:r>
              <a:br/>
              <a:r>
                <a:rPr lang="tr-TR" sz="3750" b="1" dirty="0">
                  <a:solidFill>
                    <a:srgbClr val="12355B"/>
                  </a:solidFill>
                  <a:latin typeface="+mj-lt"/>
                  <a:ea typeface="+mj-ea"/>
                  <a:cs typeface="+mj-cs"/>
                </a:rPr>
                <a:t>ve Backend</a:t>
              </a:r>
              <a:br/>
              <a:r>
                <a:rPr lang="tr-TR" sz="3750" b="1" dirty="0">
                  <a:solidFill>
                    <a:srgbClr val="12355B"/>
                  </a:solidFill>
                  <a:latin typeface="+mj-lt"/>
                  <a:ea typeface="+mj-ea"/>
                  <a:cs typeface="+mj-cs"/>
                </a:rPr>
                <a:t>Testleri</a:t>
              </a:r>
            </a:p>
          </p:txBody>
        </p:sp>
      </p:grpSp>
      <p:grpSp>
        <p:nvGrpSpPr>
          <p:cNvPr id="12" name="cover-subtitle"/>
          <p:cNvGrpSpPr/>
          <p:nvPr/>
        </p:nvGrpSpPr>
        <p:grpSpPr>
          <a:xfrm>
            <a:off x="4943094" y="4476750"/>
            <a:ext cx="4648390" cy="900018"/>
            <a:chOff x="4943094" y="4476750"/>
            <a:chExt cx="4648390" cy="900018"/>
          </a:xfrm>
        </p:grpSpPr>
        <p:sp>
          <p:nvSpPr>
            <p:cNvPr id="9" name="Rectangle 9"/>
            <p:cNvSpPr/>
            <p:nvPr/>
          </p:nvSpPr>
          <p:spPr>
            <a:xfrm>
              <a:off x="4953000" y="4476750"/>
              <a:ext cx="1143000" cy="38100"/>
            </a:xfrm>
            <a:prstGeom prst="rect">
              <a:avLst/>
            </a:prstGeom>
            <a:solidFill>
              <a:srgbClr val="00A6A6"/>
            </a:solidFill>
            <a:ln>
              <a:noFill/>
            </a:ln>
          </p:spPr>
        </p:sp>
        <p:sp>
          <p:nvSpPr>
            <p:cNvPr id="10" name="TextBox 10"/>
            <p:cNvSpPr txBox="1"/>
            <p:nvPr/>
          </p:nvSpPr>
          <p:spPr>
            <a:xfrm>
              <a:off x="4943094" y="4609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5068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0456" y="1234440"/>
            <a:ext cx="5660312" cy="352044"/>
            <a:chOff x="600456" y="1234440"/>
            <a:chExt cx="5660312" cy="352044"/>
          </a:xfrm>
        </p:grpSpPr>
        <p:sp>
          <p:nvSpPr>
            <p:cNvPr id="6" name="TextBox 6"/>
            <p:cNvSpPr txBox="1"/>
            <p:nvPr/>
          </p:nvSpPr>
          <p:spPr>
            <a:xfrm>
              <a:off x="600456" y="1234440"/>
              <a:ext cx="566031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Bu bölümü okurken şu soruları aklınızda tutun:</a:t>
              </a:r>
            </a:p>
          </p:txBody>
        </p:sp>
      </p:grpSp>
      <p:grpSp>
        <p:nvGrpSpPr>
          <p:cNvPr id="11" name="q1"/>
          <p:cNvGrpSpPr/>
          <p:nvPr/>
        </p:nvGrpSpPr>
        <p:grpSpPr>
          <a:xfrm>
            <a:off x="704850" y="1773079"/>
            <a:ext cx="7280529" cy="555688"/>
            <a:chOff x="704850" y="1773079"/>
            <a:chExt cx="7280529" cy="555688"/>
          </a:xfrm>
        </p:grpSpPr>
        <p:sp>
          <p:nvSpPr>
            <p:cNvPr id="8" name="Ellipse 8"/>
            <p:cNvSpPr/>
            <p:nvPr/>
          </p:nvSpPr>
          <p:spPr>
            <a:xfrm>
              <a:off x="704850" y="1790700"/>
              <a:ext cx="419100" cy="419100"/>
            </a:xfrm>
            <a:prstGeom prst="ellipse">
              <a:avLst/>
            </a:prstGeom>
            <a:solidFill>
              <a:srgbClr val="12355B"/>
            </a:solidFill>
            <a:ln>
              <a:noFill/>
            </a:ln>
          </p:spPr>
        </p:sp>
        <p:sp>
          <p:nvSpPr>
            <p:cNvPr id="9" name="TextBox 9"/>
            <p:cNvSpPr txBox="1"/>
            <p:nvPr/>
          </p:nvSpPr>
          <p:spPr>
            <a:xfrm>
              <a:off x="844982" y="19064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0" name="TextBox 10"/>
            <p:cNvSpPr txBox="1"/>
            <p:nvPr/>
          </p:nvSpPr>
          <p:spPr>
            <a:xfrm>
              <a:off x="1287399" y="1773079"/>
              <a:ext cx="669798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API'nin davranışını yalnızca koda bakarak anlamak neden yeterli</a:t>
              </a:r>
              <a:br/>
              <a:r>
                <a:rPr lang="tr-TR" sz="1580" dirty="0">
                  <a:solidFill>
                    <a:srgbClr val="172B3A"/>
                  </a:solidFill>
                  <a:latin typeface="+mn-lt"/>
                  <a:ea typeface="+mn-ea"/>
                  <a:cs typeface="+mn-cs"/>
                </a:rPr>
                <a:t>değildir?</a:t>
              </a:r>
            </a:p>
          </p:txBody>
        </p:sp>
      </p:grpSp>
      <p:grpSp>
        <p:nvGrpSpPr>
          <p:cNvPr id="15" name="q2"/>
          <p:cNvGrpSpPr/>
          <p:nvPr/>
        </p:nvGrpSpPr>
        <p:grpSpPr>
          <a:xfrm>
            <a:off x="704850" y="2630329"/>
            <a:ext cx="7380859" cy="555688"/>
            <a:chOff x="704850" y="2630329"/>
            <a:chExt cx="7380859" cy="555688"/>
          </a:xfrm>
        </p:grpSpPr>
        <p:sp>
          <p:nvSpPr>
            <p:cNvPr id="12" name="Ellipse 12"/>
            <p:cNvSpPr/>
            <p:nvPr/>
          </p:nvSpPr>
          <p:spPr>
            <a:xfrm>
              <a:off x="704850" y="2647950"/>
              <a:ext cx="419100" cy="419100"/>
            </a:xfrm>
            <a:prstGeom prst="ellipse">
              <a:avLst/>
            </a:prstGeom>
            <a:solidFill>
              <a:srgbClr val="12355B"/>
            </a:solidFill>
            <a:ln>
              <a:noFill/>
            </a:ln>
          </p:spPr>
        </p:sp>
        <p:sp>
          <p:nvSpPr>
            <p:cNvPr id="13" name="TextBox 13"/>
            <p:cNvSpPr txBox="1"/>
            <p:nvPr/>
          </p:nvSpPr>
          <p:spPr>
            <a:xfrm>
              <a:off x="844982" y="27636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4" name="TextBox 14"/>
            <p:cNvSpPr txBox="1"/>
            <p:nvPr/>
          </p:nvSpPr>
          <p:spPr>
            <a:xfrm>
              <a:off x="1287399" y="2630329"/>
              <a:ext cx="679831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OpenAPI sözleşmesi ile gerçek kod davranışı birbirinden ayrıldığında</a:t>
              </a:r>
              <a:br/>
              <a:r>
                <a:rPr lang="tr-TR" sz="1580" dirty="0">
                  <a:solidFill>
                    <a:srgbClr val="172B3A"/>
                  </a:solidFill>
                  <a:latin typeface="+mn-lt"/>
                  <a:ea typeface="+mn-ea"/>
                  <a:cs typeface="+mn-cs"/>
                </a:rPr>
                <a:t>ne olur?</a:t>
              </a:r>
            </a:p>
          </p:txBody>
        </p:sp>
      </p:grpSp>
      <p:grpSp>
        <p:nvGrpSpPr>
          <p:cNvPr id="19" name="q3"/>
          <p:cNvGrpSpPr/>
          <p:nvPr/>
        </p:nvGrpSpPr>
        <p:grpSpPr>
          <a:xfrm>
            <a:off x="704850" y="3429000"/>
            <a:ext cx="7773290" cy="423768"/>
            <a:chOff x="704850" y="3429000"/>
            <a:chExt cx="7773290" cy="423768"/>
          </a:xfrm>
        </p:grpSpPr>
        <p:sp>
          <p:nvSpPr>
            <p:cNvPr id="16" name="Ellipse 16"/>
            <p:cNvSpPr/>
            <p:nvPr/>
          </p:nvSpPr>
          <p:spPr>
            <a:xfrm>
              <a:off x="704850" y="3429000"/>
              <a:ext cx="419100" cy="419100"/>
            </a:xfrm>
            <a:prstGeom prst="ellipse">
              <a:avLst/>
            </a:prstGeom>
            <a:solidFill>
              <a:srgbClr val="12355B"/>
            </a:solidFill>
            <a:ln>
              <a:noFill/>
            </a:ln>
          </p:spPr>
        </p:sp>
        <p:sp>
          <p:nvSpPr>
            <p:cNvPr id="17" name="TextBox 17"/>
            <p:cNvSpPr txBox="1"/>
            <p:nvPr/>
          </p:nvSpPr>
          <p:spPr>
            <a:xfrm>
              <a:off x="844982" y="35447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18" name="TextBox 18"/>
            <p:cNvSpPr txBox="1"/>
            <p:nvPr/>
          </p:nvSpPr>
          <p:spPr>
            <a:xfrm>
              <a:off x="1287399" y="3525679"/>
              <a:ext cx="71907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Unit test ile integration test hangi soruları farklı biçimde yanıtlar?</a:t>
              </a:r>
            </a:p>
          </p:txBody>
        </p:sp>
      </p:grpSp>
      <p:grpSp>
        <p:nvGrpSpPr>
          <p:cNvPr id="23" name="q4"/>
          <p:cNvGrpSpPr/>
          <p:nvPr/>
        </p:nvGrpSpPr>
        <p:grpSpPr>
          <a:xfrm>
            <a:off x="704850" y="4097179"/>
            <a:ext cx="6768846" cy="555688"/>
            <a:chOff x="704850" y="4097179"/>
            <a:chExt cx="6768846" cy="555688"/>
          </a:xfrm>
        </p:grpSpPr>
        <p:sp>
          <p:nvSpPr>
            <p:cNvPr id="20" name="Ellipse 20"/>
            <p:cNvSpPr/>
            <p:nvPr/>
          </p:nvSpPr>
          <p:spPr>
            <a:xfrm>
              <a:off x="704850" y="4114800"/>
              <a:ext cx="419100" cy="419100"/>
            </a:xfrm>
            <a:prstGeom prst="ellipse">
              <a:avLst/>
            </a:prstGeom>
            <a:solidFill>
              <a:srgbClr val="12355B"/>
            </a:solidFill>
            <a:ln>
              <a:noFill/>
            </a:ln>
          </p:spPr>
        </p:sp>
        <p:sp>
          <p:nvSpPr>
            <p:cNvPr id="21" name="TextBox 21"/>
            <p:cNvSpPr txBox="1"/>
            <p:nvPr/>
          </p:nvSpPr>
          <p:spPr>
            <a:xfrm>
              <a:off x="844982" y="42305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22" name="TextBox 22"/>
            <p:cNvSpPr txBox="1"/>
            <p:nvPr/>
          </p:nvSpPr>
          <p:spPr>
            <a:xfrm>
              <a:off x="1287399" y="4097179"/>
              <a:ext cx="6186297"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testte gerçek veritabanı yerine test veritabanı veya mock</a:t>
              </a:r>
              <a:br/>
              <a:r>
                <a:rPr lang="tr-TR" sz="1580" dirty="0">
                  <a:solidFill>
                    <a:srgbClr val="172B3A"/>
                  </a:solidFill>
                  <a:latin typeface="+mn-lt"/>
                  <a:ea typeface="+mn-ea"/>
                  <a:cs typeface="+mn-cs"/>
                </a:rPr>
                <a:t>kullanmak ne kazandırır?</a:t>
              </a:r>
            </a:p>
          </p:txBody>
        </p:sp>
      </p:grpSp>
      <p:grpSp>
        <p:nvGrpSpPr>
          <p:cNvPr id="27" name="q5"/>
          <p:cNvGrpSpPr/>
          <p:nvPr/>
        </p:nvGrpSpPr>
        <p:grpSpPr>
          <a:xfrm>
            <a:off x="704850" y="4895850"/>
            <a:ext cx="6656845" cy="423768"/>
            <a:chOff x="704850" y="4895850"/>
            <a:chExt cx="6656845" cy="423768"/>
          </a:xfrm>
        </p:grpSpPr>
        <p:sp>
          <p:nvSpPr>
            <p:cNvPr id="24" name="Ellipse 24"/>
            <p:cNvSpPr/>
            <p:nvPr/>
          </p:nvSpPr>
          <p:spPr>
            <a:xfrm>
              <a:off x="704850" y="4895850"/>
              <a:ext cx="419100" cy="419100"/>
            </a:xfrm>
            <a:prstGeom prst="ellipse">
              <a:avLst/>
            </a:prstGeom>
            <a:solidFill>
              <a:srgbClr val="12355B"/>
            </a:solidFill>
            <a:ln>
              <a:noFill/>
            </a:ln>
          </p:spPr>
        </p:sp>
        <p:sp>
          <p:nvSpPr>
            <p:cNvPr id="25" name="TextBox 25"/>
            <p:cNvSpPr txBox="1"/>
            <p:nvPr/>
          </p:nvSpPr>
          <p:spPr>
            <a:xfrm>
              <a:off x="844982" y="50115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5</a:t>
              </a:r>
            </a:p>
          </p:txBody>
        </p:sp>
        <p:sp>
          <p:nvSpPr>
            <p:cNvPr id="26" name="TextBox 26"/>
            <p:cNvSpPr txBox="1"/>
            <p:nvPr/>
          </p:nvSpPr>
          <p:spPr>
            <a:xfrm>
              <a:off x="1287399" y="4992529"/>
              <a:ext cx="60742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Test sonuçları bir "kalite kapısı" olarak nasıl kullanılır?</a:t>
              </a:r>
            </a:p>
          </p:txBody>
        </p:sp>
      </p:grpSp>
      <p:grpSp>
        <p:nvGrpSpPr>
          <p:cNvPr id="31" name="chapter-goal"/>
          <p:cNvGrpSpPr/>
          <p:nvPr/>
        </p:nvGrpSpPr>
        <p:grpSpPr>
          <a:xfrm>
            <a:off x="609600" y="5600700"/>
            <a:ext cx="10972800" cy="723900"/>
            <a:chOff x="609600" y="5600700"/>
            <a:chExt cx="10972800" cy="723900"/>
          </a:xfrm>
        </p:grpSpPr>
        <p:sp>
          <p:nvSpPr>
            <p:cNvPr id="28" name="Rectangle 28"/>
            <p:cNvSpPr/>
            <p:nvPr/>
          </p:nvSpPr>
          <p:spPr>
            <a:xfrm>
              <a:off x="609600" y="5600700"/>
              <a:ext cx="10972800" cy="723900"/>
            </a:xfrm>
            <a:prstGeom prst="roundRect">
              <a:avLst>
                <a:gd name="adj" fmla="val 10526"/>
              </a:avLst>
            </a:prstGeom>
            <a:solidFill>
              <a:srgbClr val="EAF4F6"/>
            </a:solidFill>
            <a:ln>
              <a:noFill/>
            </a:ln>
          </p:spPr>
        </p:sp>
        <p:sp>
          <p:nvSpPr>
            <p:cNvPr id="29" name="TextBox 29"/>
            <p:cNvSpPr txBox="1"/>
            <p:nvPr/>
          </p:nvSpPr>
          <p:spPr>
            <a:xfrm>
              <a:off x="905256" y="5692140"/>
              <a:ext cx="19076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Bölüm Hedefi</a:t>
              </a:r>
            </a:p>
          </p:txBody>
        </p:sp>
        <p:sp>
          <p:nvSpPr>
            <p:cNvPr id="30" name="TextBox 30"/>
            <p:cNvSpPr txBox="1"/>
            <p:nvPr/>
          </p:nvSpPr>
          <p:spPr>
            <a:xfrm>
              <a:off x="906399" y="6002179"/>
              <a:ext cx="957259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API OpenAPI ile belgelenecek; unit, integration test ve mock ile davranışı doğrulanacaktır.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9010501" cy="637128"/>
            <a:chOff x="685800" y="1520190"/>
            <a:chExt cx="9010501"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69412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 endpoint için tam bir OpenAPI sözleşmesi oluşturmak</a:t>
              </a:r>
            </a:p>
          </p:txBody>
        </p:sp>
        <p:sp>
          <p:nvSpPr>
            <p:cNvPr id="8" name="TextBox 8"/>
            <p:cNvSpPr txBox="1"/>
            <p:nvPr/>
          </p:nvSpPr>
          <p:spPr>
            <a:xfrm>
              <a:off x="982599" y="1849279"/>
              <a:ext cx="871370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path, method, istek/yanıt şeması ve durum kodlarını Swagger UI ile sunmak</a:t>
              </a:r>
            </a:p>
          </p:txBody>
        </p:sp>
      </p:grpSp>
      <p:grpSp>
        <p:nvGrpSpPr>
          <p:cNvPr id="13" name="objective-2"/>
          <p:cNvGrpSpPr/>
          <p:nvPr/>
        </p:nvGrpSpPr>
        <p:grpSpPr>
          <a:xfrm>
            <a:off x="685800" y="2510790"/>
            <a:ext cx="7881175" cy="637128"/>
            <a:chOff x="685800" y="2510790"/>
            <a:chExt cx="7881175"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744320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Unit test ile integration test arasındaki farkı ayırt etmek</a:t>
              </a:r>
            </a:p>
          </p:txBody>
        </p:sp>
        <p:sp>
          <p:nvSpPr>
            <p:cNvPr id="12" name="TextBox 12"/>
            <p:cNvSpPr txBox="1"/>
            <p:nvPr/>
          </p:nvSpPr>
          <p:spPr>
            <a:xfrm>
              <a:off x="982599" y="2839879"/>
              <a:ext cx="758437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izole fonksiyon testi ile uçtan uca katman testini örnekle ayırmak</a:t>
              </a:r>
            </a:p>
          </p:txBody>
        </p:sp>
      </p:grpSp>
      <p:grpSp>
        <p:nvGrpSpPr>
          <p:cNvPr id="17" name="objective-3"/>
          <p:cNvGrpSpPr/>
          <p:nvPr/>
        </p:nvGrpSpPr>
        <p:grpSpPr>
          <a:xfrm>
            <a:off x="685800" y="3501390"/>
            <a:ext cx="8582677" cy="637128"/>
            <a:chOff x="685800" y="3501390"/>
            <a:chExt cx="8582677"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63994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İzole bir test veritabanının gerekliliğini açıklamak</a:t>
              </a:r>
            </a:p>
          </p:txBody>
        </p:sp>
        <p:sp>
          <p:nvSpPr>
            <p:cNvPr id="16" name="TextBox 16"/>
            <p:cNvSpPr txBox="1"/>
            <p:nvPr/>
          </p:nvSpPr>
          <p:spPr>
            <a:xfrm>
              <a:off x="982599" y="3830479"/>
              <a:ext cx="828587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üretim verisinin bozulma riskini ve sıfırlama disiplinini gerekçelendirmek</a:t>
              </a:r>
            </a:p>
          </p:txBody>
        </p:sp>
      </p:grpSp>
      <p:grpSp>
        <p:nvGrpSpPr>
          <p:cNvPr id="21" name="objective-4"/>
          <p:cNvGrpSpPr/>
          <p:nvPr/>
        </p:nvGrpSpPr>
        <p:grpSpPr>
          <a:xfrm>
            <a:off x="685800" y="4491990"/>
            <a:ext cx="8107718" cy="637128"/>
            <a:chOff x="685800" y="4491990"/>
            <a:chExt cx="8107718"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781206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Harici bağımlılığı gerçek çağrı yapmadan mock ile değiştirmek</a:t>
              </a:r>
            </a:p>
          </p:txBody>
        </p:sp>
        <p:sp>
          <p:nvSpPr>
            <p:cNvPr id="20" name="TextBox 20"/>
            <p:cNvSpPr txBox="1"/>
            <p:nvPr/>
          </p:nvSpPr>
          <p:spPr>
            <a:xfrm>
              <a:off x="982599" y="4821079"/>
              <a:ext cx="698271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KaydediciMockEmailService ile bildirim çağrısını doğrulamak</a:t>
              </a:r>
            </a:p>
          </p:txBody>
        </p:sp>
      </p:grpSp>
      <p:grpSp>
        <p:nvGrpSpPr>
          <p:cNvPr id="25" name="objective-5"/>
          <p:cNvGrpSpPr/>
          <p:nvPr/>
        </p:nvGrpSpPr>
        <p:grpSpPr>
          <a:xfrm>
            <a:off x="685800" y="5482590"/>
            <a:ext cx="8040520" cy="637128"/>
            <a:chOff x="685800" y="5482590"/>
            <a:chExt cx="8040520"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73666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Test sonuçlarını bir kalite kapısı olarak gerekçelendirmek</a:t>
              </a:r>
            </a:p>
          </p:txBody>
        </p:sp>
        <p:sp>
          <p:nvSpPr>
            <p:cNvPr id="24" name="TextBox 24"/>
            <p:cNvSpPr txBox="1"/>
            <p:nvPr/>
          </p:nvSpPr>
          <p:spPr>
            <a:xfrm>
              <a:off x="982599" y="5811679"/>
              <a:ext cx="774372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başarısız testin değişikliği neden durdurması gerektiğini savunmak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9332995" cy="668845"/>
            <a:chOff x="609600" y="171450"/>
            <a:chExt cx="9332995"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86426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belgeleme ve test disiplini</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381250" cy="1435417"/>
              <a:chOff x="685800" y="2381250"/>
              <a:chExt cx="2381250" cy="1435417"/>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1070" y="2614612"/>
                <a:ext cx="1928098"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API belgeleme</a:t>
                </a:r>
                <a:br/>
                <a:r>
                  <a:rPr lang="tr-TR" sz="2250" b="1" dirty="0">
                    <a:solidFill>
                      <a:srgbClr val="FFFFFF"/>
                    </a:solidFill>
                    <a:latin typeface="+mn-lt"/>
                    <a:ea typeface="+mn-ea"/>
                    <a:cs typeface="+mn-cs"/>
                  </a:rPr>
                  <a:t>ve test</a:t>
                </a:r>
                <a:br/>
                <a:r>
                  <a:rPr lang="tr-TR" sz="2250" b="1" dirty="0">
                    <a:solidFill>
                      <a:srgbClr val="FFFFFF"/>
                    </a:solidFill>
                    <a:latin typeface="+mn-lt"/>
                    <a:ea typeface="+mn-ea"/>
                    <a:cs typeface="+mn-cs"/>
                  </a:rPr>
                  <a:t>disiplini</a:t>
                </a:r>
              </a:p>
            </p:txBody>
          </p:sp>
        </p:grpSp>
        <p:grpSp>
          <p:nvGrpSpPr>
            <p:cNvPr id="28" name="map-node-openapi"/>
            <p:cNvGrpSpPr/>
            <p:nvPr/>
          </p:nvGrpSpPr>
          <p:grpSpPr>
            <a:xfrm>
              <a:off x="4572000" y="1219200"/>
              <a:ext cx="4511232" cy="723900"/>
              <a:chOff x="4572000" y="1219200"/>
              <a:chExt cx="4511232"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241601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OpenAPI sözleşmesi</a:t>
                </a:r>
              </a:p>
            </p:txBody>
          </p:sp>
          <p:sp>
            <p:nvSpPr>
              <p:cNvPr id="27" name="TextBox 27"/>
              <p:cNvSpPr txBox="1"/>
              <p:nvPr/>
            </p:nvSpPr>
            <p:spPr>
              <a:xfrm>
                <a:off x="4792599" y="1601629"/>
                <a:ext cx="429063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API'nin ne yapması gerektiğini tarif eder</a:t>
                </a:r>
              </a:p>
            </p:txBody>
          </p:sp>
        </p:grpSp>
        <p:grpSp>
          <p:nvGrpSpPr>
            <p:cNvPr id="32" name="map-node-swagger"/>
            <p:cNvGrpSpPr/>
            <p:nvPr/>
          </p:nvGrpSpPr>
          <p:grpSpPr>
            <a:xfrm>
              <a:off x="4572000" y="2209800"/>
              <a:ext cx="4660753" cy="723900"/>
              <a:chOff x="4572000" y="2209800"/>
              <a:chExt cx="4660753"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13662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Swagger UI</a:t>
                </a:r>
              </a:p>
            </p:txBody>
          </p:sp>
          <p:sp>
            <p:nvSpPr>
              <p:cNvPr id="31" name="TextBox 31"/>
              <p:cNvSpPr txBox="1"/>
              <p:nvPr/>
            </p:nvSpPr>
            <p:spPr>
              <a:xfrm>
                <a:off x="4792599" y="2592229"/>
                <a:ext cx="444015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sözleşmeyi interaktif olarak görünür kılar</a:t>
                </a:r>
              </a:p>
            </p:txBody>
          </p:sp>
        </p:grpSp>
        <p:grpSp>
          <p:nvGrpSpPr>
            <p:cNvPr id="36" name="map-node-unit"/>
            <p:cNvGrpSpPr/>
            <p:nvPr/>
          </p:nvGrpSpPr>
          <p:grpSpPr>
            <a:xfrm>
              <a:off x="4572000" y="3200400"/>
              <a:ext cx="3852494" cy="723900"/>
              <a:chOff x="4572000" y="3200400"/>
              <a:chExt cx="3852494"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1585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Unit test</a:t>
                </a:r>
              </a:p>
            </p:txBody>
          </p:sp>
          <p:sp>
            <p:nvSpPr>
              <p:cNvPr id="35" name="TextBox 35"/>
              <p:cNvSpPr txBox="1"/>
              <p:nvPr/>
            </p:nvSpPr>
            <p:spPr>
              <a:xfrm>
                <a:off x="4792599" y="3582829"/>
                <a:ext cx="363189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tek birimi izole ve hızlıca doğrular</a:t>
                </a:r>
              </a:p>
            </p:txBody>
          </p:sp>
        </p:grpSp>
        <p:grpSp>
          <p:nvGrpSpPr>
            <p:cNvPr id="40" name="map-node-integration"/>
            <p:cNvGrpSpPr/>
            <p:nvPr/>
          </p:nvGrpSpPr>
          <p:grpSpPr>
            <a:xfrm>
              <a:off x="4572000" y="4191000"/>
              <a:ext cx="4299163" cy="723900"/>
              <a:chOff x="4572000" y="4191000"/>
              <a:chExt cx="4299163" cy="723900"/>
            </a:xfrm>
          </p:grpSpPr>
          <p:sp>
            <p:nvSpPr>
              <p:cNvPr id="37" name="Rectangle 37"/>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207419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Integration test</a:t>
                </a:r>
              </a:p>
            </p:txBody>
          </p:sp>
          <p:sp>
            <p:nvSpPr>
              <p:cNvPr id="39" name="TextBox 39"/>
              <p:cNvSpPr txBox="1"/>
              <p:nvPr/>
            </p:nvSpPr>
            <p:spPr>
              <a:xfrm>
                <a:off x="4792599" y="4573429"/>
                <a:ext cx="407856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katmanların birlikte çalıştığını sınar</a:t>
                </a:r>
              </a:p>
            </p:txBody>
          </p:sp>
        </p:grpSp>
        <p:grpSp>
          <p:nvGrpSpPr>
            <p:cNvPr id="44" name="map-node-mockdb"/>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291145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Mock ↔ Test veritabanı</a:t>
                </a:r>
              </a:p>
            </p:txBody>
          </p:sp>
          <p:sp>
            <p:nvSpPr>
              <p:cNvPr id="43" name="TextBox 43"/>
              <p:cNvSpPr txBox="1"/>
              <p:nvPr/>
            </p:nvSpPr>
            <p:spPr>
              <a:xfrm>
                <a:off x="4792599" y="5716429"/>
                <a:ext cx="58120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dış bağımlılığı ve veriyi testin kontrolünde izole tutar</a:t>
                </a:r>
              </a:p>
            </p:txBody>
          </p:sp>
        </p:grpSp>
        <p:grpSp>
          <p:nvGrpSpPr>
            <p:cNvPr id="49" name="map-legend"/>
            <p:cNvGrpSpPr/>
            <p:nvPr/>
          </p:nvGrpSpPr>
          <p:grpSpPr>
            <a:xfrm>
              <a:off x="685800" y="5528310"/>
              <a:ext cx="3238015" cy="577596"/>
              <a:chOff x="685800" y="5528310"/>
              <a:chExt cx="3238015"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284406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Disiplinden türeyen uygulama pratiği</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2771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 ilişki</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8" name="matrix-header"/>
          <p:cNvGrpSpPr/>
          <p:nvPr/>
        </p:nvGrpSpPr>
        <p:grpSpPr>
          <a:xfrm>
            <a:off x="609600" y="1066800"/>
            <a:ext cx="10972800" cy="323850"/>
            <a:chOff x="609600" y="1066800"/>
            <a:chExt cx="10972800" cy="323850"/>
          </a:xfrm>
        </p:grpSpPr>
        <p:sp>
          <p:nvSpPr>
            <p:cNvPr id="13" name="Rectangle 13"/>
            <p:cNvSpPr/>
            <p:nvPr/>
          </p:nvSpPr>
          <p:spPr>
            <a:xfrm>
              <a:off x="609600" y="1066800"/>
              <a:ext cx="10972800" cy="323850"/>
            </a:xfrm>
            <a:prstGeom prst="rect">
              <a:avLst/>
            </a:prstGeom>
            <a:solidFill>
              <a:srgbClr val="12355B"/>
            </a:solidFill>
            <a:ln>
              <a:noFill/>
            </a:ln>
          </p:spPr>
        </p:sp>
        <p:sp>
          <p:nvSpPr>
            <p:cNvPr id="14" name="TextBox 14"/>
            <p:cNvSpPr txBox="1"/>
            <p:nvPr/>
          </p:nvSpPr>
          <p:spPr>
            <a:xfrm>
              <a:off x="756666" y="1163002"/>
              <a:ext cx="61287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KAVRAM</a:t>
              </a:r>
            </a:p>
          </p:txBody>
        </p:sp>
        <p:sp>
          <p:nvSpPr>
            <p:cNvPr id="15" name="TextBox 15"/>
            <p:cNvSpPr txBox="1"/>
            <p:nvPr/>
          </p:nvSpPr>
          <p:spPr>
            <a:xfrm>
              <a:off x="2566416" y="1163002"/>
              <a:ext cx="115518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TEMEL GÖREVİ</a:t>
              </a:r>
            </a:p>
          </p:txBody>
        </p:sp>
        <p:sp>
          <p:nvSpPr>
            <p:cNvPr id="16" name="TextBox 16"/>
            <p:cNvSpPr txBox="1"/>
            <p:nvPr/>
          </p:nvSpPr>
          <p:spPr>
            <a:xfrm>
              <a:off x="5804916" y="1163002"/>
              <a:ext cx="96134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NE YAPMAZ?</a:t>
              </a:r>
            </a:p>
          </p:txBody>
        </p:sp>
        <p:sp>
          <p:nvSpPr>
            <p:cNvPr id="17" name="TextBox 17"/>
            <p:cNvSpPr txBox="1"/>
            <p:nvPr/>
          </p:nvSpPr>
          <p:spPr>
            <a:xfrm>
              <a:off x="9043416" y="1163002"/>
              <a:ext cx="156638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OLMAZSA NE OLUR?</a:t>
              </a:r>
            </a:p>
          </p:txBody>
        </p:sp>
      </p:grpSp>
      <p:grpSp>
        <p:nvGrpSpPr>
          <p:cNvPr id="24" name="row-openapi"/>
          <p:cNvGrpSpPr/>
          <p:nvPr/>
        </p:nvGrpSpPr>
        <p:grpSpPr>
          <a:xfrm>
            <a:off x="609600" y="1478756"/>
            <a:ext cx="10972800" cy="664369"/>
            <a:chOff x="609600" y="1478756"/>
            <a:chExt cx="10972800" cy="664369"/>
          </a:xfrm>
        </p:grpSpPr>
        <p:sp>
          <p:nvSpPr>
            <p:cNvPr id="19" name="TextBox 19"/>
            <p:cNvSpPr txBox="1"/>
            <p:nvPr/>
          </p:nvSpPr>
          <p:spPr>
            <a:xfrm>
              <a:off x="754761" y="1484471"/>
              <a:ext cx="999134" cy="469202"/>
            </a:xfrm>
            <a:prstGeom prst="rect">
              <a:avLst/>
            </a:prstGeom>
            <a:noFill/>
            <a:ln>
              <a:noFill/>
            </a:ln>
          </p:spPr>
          <p:txBody>
            <a:bodyPr wrap="none" lIns="0" tIns="0" rIns="0" bIns="0" anchor="t" anchorCtr="0">
              <a:spAutoFit/>
            </a:bodyPr>
            <a:lstStyle/>
            <a:p>
              <a:pPr algn="l">
                <a:lnSpc>
                  <a:spcPts val="1500"/>
                </a:lnSpc>
              </a:pPr>
              <a:r>
                <a:rPr lang="tr-TR" sz="1420" b="1" dirty="0">
                  <a:solidFill>
                    <a:srgbClr val="12355B"/>
                  </a:solidFill>
                  <a:latin typeface="+mn-lt"/>
                  <a:ea typeface="+mn-ea"/>
                  <a:cs typeface="+mn-cs"/>
                </a:rPr>
                <a:t>OpenAPI</a:t>
              </a:r>
              <a:br/>
              <a:r>
                <a:rPr lang="tr-TR" sz="1420" b="1" dirty="0">
                  <a:solidFill>
                    <a:srgbClr val="12355B"/>
                  </a:solidFill>
                  <a:latin typeface="+mn-lt"/>
                  <a:ea typeface="+mn-ea"/>
                  <a:cs typeface="+mn-cs"/>
                </a:rPr>
                <a:t>Sözleşmesi</a:t>
              </a:r>
            </a:p>
          </p:txBody>
        </p:sp>
        <p:sp>
          <p:nvSpPr>
            <p:cNvPr id="20" name="TextBox 20"/>
            <p:cNvSpPr txBox="1"/>
            <p:nvPr/>
          </p:nvSpPr>
          <p:spPr>
            <a:xfrm>
              <a:off x="2566035" y="1478756"/>
              <a:ext cx="144805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Path, şema ve durum</a:t>
              </a:r>
              <a:br/>
              <a:r>
                <a:rPr lang="tr-TR" sz="1120" dirty="0">
                  <a:solidFill>
                    <a:srgbClr val="172B3A"/>
                  </a:solidFill>
                  <a:latin typeface="+mn-lt"/>
                  <a:ea typeface="+mn-ea"/>
                  <a:cs typeface="+mn-cs"/>
                </a:rPr>
                <a:t>kodlarını standart</a:t>
              </a:r>
              <a:br/>
              <a:r>
                <a:rPr lang="tr-TR" sz="1120" dirty="0">
                  <a:solidFill>
                    <a:srgbClr val="172B3A"/>
                  </a:solidFill>
                  <a:latin typeface="+mn-lt"/>
                  <a:ea typeface="+mn-ea"/>
                  <a:cs typeface="+mn-cs"/>
                </a:rPr>
                <a:t>biçimde belgeler.</a:t>
              </a:r>
            </a:p>
          </p:txBody>
        </p:sp>
        <p:sp>
          <p:nvSpPr>
            <p:cNvPr id="21" name="TextBox 21"/>
            <p:cNvSpPr txBox="1"/>
            <p:nvPr/>
          </p:nvSpPr>
          <p:spPr>
            <a:xfrm>
              <a:off x="5804535" y="1478756"/>
              <a:ext cx="1391158"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Kodun hatasız</a:t>
              </a:r>
              <a:br/>
              <a:r>
                <a:rPr lang="tr-TR" sz="1120" dirty="0">
                  <a:solidFill>
                    <a:srgbClr val="172B3A"/>
                  </a:solidFill>
                  <a:latin typeface="+mn-lt"/>
                  <a:ea typeface="+mn-ea"/>
                  <a:cs typeface="+mn-cs"/>
                </a:rPr>
                <a:t>çalıştığını garanti</a:t>
              </a:r>
              <a:br/>
              <a:r>
                <a:rPr lang="tr-TR" sz="1120" dirty="0">
                  <a:solidFill>
                    <a:srgbClr val="172B3A"/>
                  </a:solidFill>
                  <a:latin typeface="+mn-lt"/>
                  <a:ea typeface="+mn-ea"/>
                  <a:cs typeface="+mn-cs"/>
                </a:rPr>
                <a:t>etmez.</a:t>
              </a:r>
            </a:p>
          </p:txBody>
        </p:sp>
        <p:sp>
          <p:nvSpPr>
            <p:cNvPr id="22" name="TextBox 22"/>
            <p:cNvSpPr txBox="1"/>
            <p:nvPr/>
          </p:nvSpPr>
          <p:spPr>
            <a:xfrm>
              <a:off x="9043035" y="1478756"/>
              <a:ext cx="1334262"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Belgeler hızla</a:t>
              </a:r>
              <a:br/>
              <a:r>
                <a:rPr lang="tr-TR" sz="1120" dirty="0">
                  <a:solidFill>
                    <a:srgbClr val="172B3A"/>
                  </a:solidFill>
                  <a:latin typeface="+mn-lt"/>
                  <a:ea typeface="+mn-ea"/>
                  <a:cs typeface="+mn-cs"/>
                </a:rPr>
                <a:t>güncelliğini yitirir,</a:t>
              </a:r>
              <a:br/>
              <a:r>
                <a:rPr lang="tr-TR" sz="1120" dirty="0">
                  <a:solidFill>
                    <a:srgbClr val="172B3A"/>
                  </a:solidFill>
                  <a:latin typeface="+mn-lt"/>
                  <a:ea typeface="+mn-ea"/>
                  <a:cs typeface="+mn-cs"/>
                </a:rPr>
                <a:t>yanıltıcı olur.</a:t>
              </a:r>
            </a:p>
          </p:txBody>
        </p:sp>
        <p:sp>
          <p:nvSpPr>
            <p:cNvPr id="23" name="Line 23"/>
            <p:cNvSpPr/>
            <p:nvPr/>
          </p:nvSpPr>
          <p:spPr>
            <a:xfrm>
              <a:off x="609600" y="21336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swagger"/>
          <p:cNvGrpSpPr/>
          <p:nvPr/>
        </p:nvGrpSpPr>
        <p:grpSpPr>
          <a:xfrm>
            <a:off x="609600" y="2133600"/>
            <a:ext cx="10972800" cy="752475"/>
            <a:chOff x="609600" y="2133600"/>
            <a:chExt cx="10972800" cy="752475"/>
          </a:xfrm>
        </p:grpSpPr>
        <p:sp>
          <p:nvSpPr>
            <p:cNvPr id="25" name="Rectangle 25"/>
            <p:cNvSpPr/>
            <p:nvPr/>
          </p:nvSpPr>
          <p:spPr>
            <a:xfrm>
              <a:off x="609600" y="2133600"/>
              <a:ext cx="10972800" cy="742950"/>
            </a:xfrm>
            <a:prstGeom prst="rect">
              <a:avLst/>
            </a:prstGeom>
            <a:solidFill>
              <a:srgbClr val="EAF4F6"/>
            </a:solidFill>
            <a:ln>
              <a:noFill/>
            </a:ln>
          </p:spPr>
        </p:sp>
        <p:sp>
          <p:nvSpPr>
            <p:cNvPr id="26" name="TextBox 26"/>
            <p:cNvSpPr txBox="1"/>
            <p:nvPr/>
          </p:nvSpPr>
          <p:spPr>
            <a:xfrm>
              <a:off x="754761" y="2227421"/>
              <a:ext cx="107790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Swagger UI</a:t>
              </a:r>
            </a:p>
          </p:txBody>
        </p:sp>
        <p:sp>
          <p:nvSpPr>
            <p:cNvPr id="27" name="TextBox 27"/>
            <p:cNvSpPr txBox="1"/>
            <p:nvPr/>
          </p:nvSpPr>
          <p:spPr>
            <a:xfrm>
              <a:off x="2566035" y="2221706"/>
              <a:ext cx="1597406"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OpenAPI belgesini</a:t>
              </a:r>
              <a:br/>
              <a:r>
                <a:rPr lang="tr-TR" sz="1120" dirty="0">
                  <a:solidFill>
                    <a:srgbClr val="172B3A"/>
                  </a:solidFill>
                  <a:latin typeface="+mn-lt"/>
                  <a:ea typeface="+mn-ea"/>
                  <a:cs typeface="+mn-cs"/>
                </a:rPr>
                <a:t>interaktif, denenebilir</a:t>
              </a:r>
              <a:br/>
              <a:r>
                <a:rPr lang="tr-TR" sz="1120" dirty="0">
                  <a:solidFill>
                    <a:srgbClr val="172B3A"/>
                  </a:solidFill>
                  <a:latin typeface="+mn-lt"/>
                  <a:ea typeface="+mn-ea"/>
                  <a:cs typeface="+mn-cs"/>
                </a:rPr>
                <a:t>arayüze çevirir.</a:t>
              </a:r>
            </a:p>
          </p:txBody>
        </p:sp>
        <p:sp>
          <p:nvSpPr>
            <p:cNvPr id="28" name="TextBox 28"/>
            <p:cNvSpPr txBox="1"/>
            <p:nvPr/>
          </p:nvSpPr>
          <p:spPr>
            <a:xfrm>
              <a:off x="5804535" y="2221706"/>
              <a:ext cx="1718310"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Otomatik bir test</a:t>
              </a:r>
              <a:br/>
              <a:r>
                <a:rPr lang="tr-TR" sz="1120" dirty="0">
                  <a:solidFill>
                    <a:srgbClr val="172B3A"/>
                  </a:solidFill>
                  <a:latin typeface="+mn-lt"/>
                  <a:ea typeface="+mn-ea"/>
                  <a:cs typeface="+mn-cs"/>
                </a:rPr>
                <a:t>paketi değildir; yalnızca</a:t>
              </a:r>
              <a:br/>
              <a:r>
                <a:rPr lang="tr-TR" sz="1120" dirty="0">
                  <a:solidFill>
                    <a:srgbClr val="172B3A"/>
                  </a:solidFill>
                  <a:latin typeface="+mn-lt"/>
                  <a:ea typeface="+mn-ea"/>
                  <a:cs typeface="+mn-cs"/>
                </a:rPr>
                <a:t>manuel keşif aracıdır.</a:t>
              </a:r>
            </a:p>
          </p:txBody>
        </p:sp>
        <p:sp>
          <p:nvSpPr>
            <p:cNvPr id="29" name="TextBox 29"/>
            <p:cNvSpPr txBox="1"/>
            <p:nvPr/>
          </p:nvSpPr>
          <p:spPr>
            <a:xfrm>
              <a:off x="9043035" y="2221706"/>
              <a:ext cx="169697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Postman/cURL</a:t>
              </a:r>
              <a:br/>
              <a:r>
                <a:rPr lang="tr-TR" sz="1120" dirty="0">
                  <a:solidFill>
                    <a:srgbClr val="172B3A"/>
                  </a:solidFill>
                  <a:latin typeface="+mn-lt"/>
                  <a:ea typeface="+mn-ea"/>
                  <a:cs typeface="+mn-cs"/>
                </a:rPr>
                <a:t>koleksiyonu paylaşımına</a:t>
              </a:r>
              <a:br/>
              <a:r>
                <a:rPr lang="tr-TR" sz="1120" dirty="0">
                  <a:solidFill>
                    <a:srgbClr val="172B3A"/>
                  </a:solidFill>
                  <a:latin typeface="+mn-lt"/>
                  <a:ea typeface="+mn-ea"/>
                  <a:cs typeface="+mn-cs"/>
                </a:rPr>
                <a:t>geri dönülür.</a:t>
              </a:r>
            </a:p>
          </p:txBody>
        </p:sp>
        <p:sp>
          <p:nvSpPr>
            <p:cNvPr id="30" name="Line 30"/>
            <p:cNvSpPr/>
            <p:nvPr/>
          </p:nvSpPr>
          <p:spPr>
            <a:xfrm>
              <a:off x="609600" y="28765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unit"/>
          <p:cNvGrpSpPr/>
          <p:nvPr/>
        </p:nvGrpSpPr>
        <p:grpSpPr>
          <a:xfrm>
            <a:off x="609600" y="2964656"/>
            <a:ext cx="10972800" cy="664369"/>
            <a:chOff x="609600" y="2964656"/>
            <a:chExt cx="10972800" cy="664369"/>
          </a:xfrm>
        </p:grpSpPr>
        <p:sp>
          <p:nvSpPr>
            <p:cNvPr id="32" name="TextBox 32"/>
            <p:cNvSpPr txBox="1"/>
            <p:nvPr/>
          </p:nvSpPr>
          <p:spPr>
            <a:xfrm>
              <a:off x="754761" y="2970371"/>
              <a:ext cx="92031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Unit Test</a:t>
              </a:r>
            </a:p>
          </p:txBody>
        </p:sp>
        <p:sp>
          <p:nvSpPr>
            <p:cNvPr id="33" name="TextBox 33"/>
            <p:cNvSpPr txBox="1"/>
            <p:nvPr/>
          </p:nvSpPr>
          <p:spPr>
            <a:xfrm>
              <a:off x="2566035" y="2964656"/>
              <a:ext cx="1903222"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En küçük birimi (fonksiyon,</a:t>
              </a:r>
              <a:br/>
              <a:r>
                <a:rPr lang="tr-TR" sz="1120" dirty="0">
                  <a:solidFill>
                    <a:srgbClr val="172B3A"/>
                  </a:solidFill>
                  <a:latin typeface="+mn-lt"/>
                  <a:ea typeface="+mn-ea"/>
                  <a:cs typeface="+mn-cs"/>
                </a:rPr>
                <a:t>metot) izole ve hızla</a:t>
              </a:r>
              <a:br/>
              <a:r>
                <a:rPr lang="tr-TR" sz="1120" dirty="0">
                  <a:solidFill>
                    <a:srgbClr val="172B3A"/>
                  </a:solidFill>
                  <a:latin typeface="+mn-lt"/>
                  <a:ea typeface="+mn-ea"/>
                  <a:cs typeface="+mn-cs"/>
                </a:rPr>
                <a:t>test eder.</a:t>
              </a:r>
            </a:p>
          </p:txBody>
        </p:sp>
        <p:sp>
          <p:nvSpPr>
            <p:cNvPr id="34" name="TextBox 34"/>
            <p:cNvSpPr txBox="1"/>
            <p:nvPr/>
          </p:nvSpPr>
          <p:spPr>
            <a:xfrm>
              <a:off x="5804535" y="2964656"/>
              <a:ext cx="2521966"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Veritabanı, ağ, dosya</a:t>
              </a:r>
              <a:br/>
              <a:r>
                <a:rPr lang="tr-TR" sz="1120" dirty="0">
                  <a:solidFill>
                    <a:srgbClr val="172B3A"/>
                  </a:solidFill>
                  <a:latin typeface="+mn-lt"/>
                  <a:ea typeface="+mn-ea"/>
                  <a:cs typeface="+mn-cs"/>
                </a:rPr>
                <a:t>sistemi hatalarını</a:t>
              </a:r>
              <a:br/>
              <a:r>
                <a:rPr lang="tr-TR" sz="1120" dirty="0">
                  <a:solidFill>
                    <a:srgbClr val="172B3A"/>
                  </a:solidFill>
                  <a:latin typeface="+mn-lt"/>
                  <a:ea typeface="+mn-ea"/>
                  <a:cs typeface="+mn-cs"/>
                </a:rPr>
                <a:t>yakalamaz; bağımlılığı taklit eder.</a:t>
              </a:r>
            </a:p>
          </p:txBody>
        </p:sp>
        <p:sp>
          <p:nvSpPr>
            <p:cNvPr id="35" name="TextBox 35"/>
            <p:cNvSpPr txBox="1"/>
            <p:nvPr/>
          </p:nvSpPr>
          <p:spPr>
            <a:xfrm>
              <a:off x="9043035" y="2964656"/>
              <a:ext cx="2009902"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Küçük mantık hataları erken</a:t>
              </a:r>
              <a:br/>
              <a:r>
                <a:rPr lang="tr-TR" sz="1120" dirty="0">
                  <a:solidFill>
                    <a:srgbClr val="172B3A"/>
                  </a:solidFill>
                  <a:latin typeface="+mn-lt"/>
                  <a:ea typeface="+mn-ea"/>
                  <a:cs typeface="+mn-cs"/>
                </a:rPr>
                <a:t>fark edilmez; refactoring</a:t>
              </a:r>
              <a:br/>
              <a:r>
                <a:rPr lang="tr-TR" sz="1120" dirty="0">
                  <a:solidFill>
                    <a:srgbClr val="172B3A"/>
                  </a:solidFill>
                  <a:latin typeface="+mn-lt"/>
                  <a:ea typeface="+mn-ea"/>
                  <a:cs typeface="+mn-cs"/>
                </a:rPr>
                <a:t>riskli hâle gelir.</a:t>
              </a:r>
            </a:p>
          </p:txBody>
        </p:sp>
        <p:sp>
          <p:nvSpPr>
            <p:cNvPr id="36" name="Line 36"/>
            <p:cNvSpPr/>
            <p:nvPr/>
          </p:nvSpPr>
          <p:spPr>
            <a:xfrm>
              <a:off x="609600" y="3619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4" name="row-integration"/>
          <p:cNvGrpSpPr/>
          <p:nvPr/>
        </p:nvGrpSpPr>
        <p:grpSpPr>
          <a:xfrm>
            <a:off x="609600" y="3619500"/>
            <a:ext cx="10972800" cy="752475"/>
            <a:chOff x="609600" y="3619500"/>
            <a:chExt cx="10972800" cy="752475"/>
          </a:xfrm>
        </p:grpSpPr>
        <p:sp>
          <p:nvSpPr>
            <p:cNvPr id="38" name="Rectangle 38"/>
            <p:cNvSpPr/>
            <p:nvPr/>
          </p:nvSpPr>
          <p:spPr>
            <a:xfrm>
              <a:off x="609600" y="3619500"/>
              <a:ext cx="10972800" cy="742950"/>
            </a:xfrm>
            <a:prstGeom prst="rect">
              <a:avLst/>
            </a:prstGeom>
            <a:solidFill>
              <a:srgbClr val="EAF4F6"/>
            </a:solidFill>
            <a:ln>
              <a:noFill/>
            </a:ln>
          </p:spPr>
        </p:sp>
        <p:sp>
          <p:nvSpPr>
            <p:cNvPr id="39" name="TextBox 39"/>
            <p:cNvSpPr txBox="1"/>
            <p:nvPr/>
          </p:nvSpPr>
          <p:spPr>
            <a:xfrm>
              <a:off x="754761" y="3713321"/>
              <a:ext cx="1160088" cy="469202"/>
            </a:xfrm>
            <a:prstGeom prst="rect">
              <a:avLst/>
            </a:prstGeom>
            <a:noFill/>
            <a:ln>
              <a:noFill/>
            </a:ln>
          </p:spPr>
          <p:txBody>
            <a:bodyPr wrap="none" lIns="0" tIns="0" rIns="0" bIns="0" anchor="t" anchorCtr="0">
              <a:spAutoFit/>
            </a:bodyPr>
            <a:lstStyle/>
            <a:p>
              <a:pPr algn="l">
                <a:lnSpc>
                  <a:spcPts val="1500"/>
                </a:lnSpc>
              </a:pPr>
              <a:r>
                <a:rPr lang="tr-TR" sz="1420" b="1" dirty="0">
                  <a:solidFill>
                    <a:srgbClr val="12355B"/>
                  </a:solidFill>
                  <a:latin typeface="+mn-lt"/>
                  <a:ea typeface="+mn-ea"/>
                  <a:cs typeface="+mn-cs"/>
                </a:rPr>
                <a:t>Entegrasyon</a:t>
              </a:r>
              <a:br/>
              <a:r>
                <a:rPr lang="tr-TR" sz="1420" b="1" dirty="0">
                  <a:solidFill>
                    <a:srgbClr val="12355B"/>
                  </a:solidFill>
                  <a:latin typeface="+mn-lt"/>
                  <a:ea typeface="+mn-ea"/>
                  <a:cs typeface="+mn-cs"/>
                </a:rPr>
                <a:t>Testi</a:t>
              </a:r>
            </a:p>
          </p:txBody>
        </p:sp>
        <p:sp>
          <p:nvSpPr>
            <p:cNvPr id="40" name="TextBox 40"/>
            <p:cNvSpPr txBox="1"/>
            <p:nvPr/>
          </p:nvSpPr>
          <p:spPr>
            <a:xfrm>
              <a:off x="2566035" y="3707606"/>
              <a:ext cx="1860550"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HTTP isteğinden DB'ye</a:t>
              </a:r>
              <a:br/>
              <a:r>
                <a:rPr lang="tr-TR" sz="1120" dirty="0">
                  <a:solidFill>
                    <a:srgbClr val="172B3A"/>
                  </a:solidFill>
                  <a:latin typeface="+mn-lt"/>
                  <a:ea typeface="+mn-ea"/>
                  <a:cs typeface="+mn-cs"/>
                </a:rPr>
                <a:t>kadar bileşenlerin uyumunu</a:t>
              </a:r>
              <a:br/>
              <a:r>
                <a:rPr lang="tr-TR" sz="1120" dirty="0">
                  <a:solidFill>
                    <a:srgbClr val="172B3A"/>
                  </a:solidFill>
                  <a:latin typeface="+mn-lt"/>
                  <a:ea typeface="+mn-ea"/>
                  <a:cs typeface="+mn-cs"/>
                </a:rPr>
                <a:t>doğrular.</a:t>
              </a:r>
            </a:p>
          </p:txBody>
        </p:sp>
        <p:sp>
          <p:nvSpPr>
            <p:cNvPr id="41" name="TextBox 41"/>
            <p:cNvSpPr txBox="1"/>
            <p:nvPr/>
          </p:nvSpPr>
          <p:spPr>
            <a:xfrm>
              <a:off x="5804535" y="3707606"/>
              <a:ext cx="176809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Unit test kadar hızlı</a:t>
              </a:r>
              <a:br/>
              <a:r>
                <a:rPr lang="tr-TR" sz="1120" dirty="0">
                  <a:solidFill>
                    <a:srgbClr val="172B3A"/>
                  </a:solidFill>
                  <a:latin typeface="+mn-lt"/>
                  <a:ea typeface="+mn-ea"/>
                  <a:cs typeface="+mn-cs"/>
                </a:rPr>
                <a:t>koşmaz; gerçek I/O ve DB</a:t>
              </a:r>
              <a:br/>
              <a:r>
                <a:rPr lang="tr-TR" sz="1120" dirty="0">
                  <a:solidFill>
                    <a:srgbClr val="172B3A"/>
                  </a:solidFill>
                  <a:latin typeface="+mn-lt"/>
                  <a:ea typeface="+mn-ea"/>
                  <a:cs typeface="+mn-cs"/>
                </a:rPr>
                <a:t>etkileşimi gerektirir.</a:t>
              </a:r>
            </a:p>
          </p:txBody>
        </p:sp>
        <p:sp>
          <p:nvSpPr>
            <p:cNvPr id="42" name="TextBox 42"/>
            <p:cNvSpPr txBox="1"/>
            <p:nvPr/>
          </p:nvSpPr>
          <p:spPr>
            <a:xfrm>
              <a:off x="9043035" y="3707606"/>
              <a:ext cx="1853438"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Middleware zincirinde veya</a:t>
              </a:r>
              <a:br/>
              <a:r>
                <a:rPr lang="tr-TR" sz="1120" dirty="0">
                  <a:solidFill>
                    <a:srgbClr val="172B3A"/>
                  </a:solidFill>
                  <a:latin typeface="+mn-lt"/>
                  <a:ea typeface="+mn-ea"/>
                  <a:cs typeface="+mn-cs"/>
                </a:rPr>
                <a:t>sorgularda çıkan gerçek</a:t>
              </a:r>
              <a:br/>
              <a:r>
                <a:rPr lang="tr-TR" sz="1120" dirty="0">
                  <a:solidFill>
                    <a:srgbClr val="172B3A"/>
                  </a:solidFill>
                  <a:latin typeface="+mn-lt"/>
                  <a:ea typeface="+mn-ea"/>
                  <a:cs typeface="+mn-cs"/>
                </a:rPr>
                <a:t>hatalar gözden kaçar.</a:t>
              </a:r>
            </a:p>
          </p:txBody>
        </p:sp>
        <p:sp>
          <p:nvSpPr>
            <p:cNvPr id="43" name="Line 43"/>
            <p:cNvSpPr/>
            <p:nvPr/>
          </p:nvSpPr>
          <p:spPr>
            <a:xfrm>
              <a:off x="609600" y="4362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0" name="row-mock"/>
          <p:cNvGrpSpPr/>
          <p:nvPr/>
        </p:nvGrpSpPr>
        <p:grpSpPr>
          <a:xfrm>
            <a:off x="609600" y="4450556"/>
            <a:ext cx="10972800" cy="664369"/>
            <a:chOff x="609600" y="4450556"/>
            <a:chExt cx="10972800" cy="664369"/>
          </a:xfrm>
        </p:grpSpPr>
        <p:sp>
          <p:nvSpPr>
            <p:cNvPr id="45" name="TextBox 45"/>
            <p:cNvSpPr txBox="1"/>
            <p:nvPr/>
          </p:nvSpPr>
          <p:spPr>
            <a:xfrm>
              <a:off x="754761" y="4456271"/>
              <a:ext cx="50301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Mock</a:t>
              </a:r>
            </a:p>
          </p:txBody>
        </p:sp>
        <p:sp>
          <p:nvSpPr>
            <p:cNvPr id="46" name="TextBox 46"/>
            <p:cNvSpPr txBox="1"/>
            <p:nvPr/>
          </p:nvSpPr>
          <p:spPr>
            <a:xfrm>
              <a:off x="2566035" y="4450556"/>
              <a:ext cx="1817878"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Yavaş/maliyetli dış</a:t>
              </a:r>
              <a:br/>
              <a:r>
                <a:rPr lang="tr-TR" sz="1120" dirty="0">
                  <a:solidFill>
                    <a:srgbClr val="172B3A"/>
                  </a:solidFill>
                  <a:latin typeface="+mn-lt"/>
                  <a:ea typeface="+mn-ea"/>
                  <a:cs typeface="+mn-cs"/>
                </a:rPr>
                <a:t>bağımlılığın yerine sahte</a:t>
              </a:r>
              <a:br/>
              <a:r>
                <a:rPr lang="tr-TR" sz="1120" dirty="0">
                  <a:solidFill>
                    <a:srgbClr val="172B3A"/>
                  </a:solidFill>
                  <a:latin typeface="+mn-lt"/>
                  <a:ea typeface="+mn-ea"/>
                  <a:cs typeface="+mn-cs"/>
                </a:rPr>
                <a:t>nesne koyar.</a:t>
              </a:r>
            </a:p>
          </p:txBody>
        </p:sp>
        <p:sp>
          <p:nvSpPr>
            <p:cNvPr id="47" name="TextBox 47"/>
            <p:cNvSpPr txBox="1"/>
            <p:nvPr/>
          </p:nvSpPr>
          <p:spPr>
            <a:xfrm>
              <a:off x="5804535" y="4450556"/>
              <a:ext cx="198145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Gerçek servisin sözleşmesini</a:t>
              </a:r>
              <a:br/>
              <a:r>
                <a:rPr lang="tr-TR" sz="1120" dirty="0">
                  <a:solidFill>
                    <a:srgbClr val="172B3A"/>
                  </a:solidFill>
                  <a:latin typeface="+mn-lt"/>
                  <a:ea typeface="+mn-ea"/>
                  <a:cs typeface="+mn-cs"/>
                </a:rPr>
                <a:t>değiştirip değiştirmediğini</a:t>
              </a:r>
              <a:br/>
              <a:r>
                <a:rPr lang="tr-TR" sz="1120" dirty="0">
                  <a:solidFill>
                    <a:srgbClr val="172B3A"/>
                  </a:solidFill>
                  <a:latin typeface="+mn-lt"/>
                  <a:ea typeface="+mn-ea"/>
                  <a:cs typeface="+mn-cs"/>
                </a:rPr>
                <a:t>denetlemez.</a:t>
              </a:r>
            </a:p>
          </p:txBody>
        </p:sp>
        <p:sp>
          <p:nvSpPr>
            <p:cNvPr id="48" name="TextBox 48"/>
            <p:cNvSpPr txBox="1"/>
            <p:nvPr/>
          </p:nvSpPr>
          <p:spPr>
            <a:xfrm>
              <a:off x="9043035" y="4450556"/>
              <a:ext cx="1867662"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Testler gerçek kullanıcıya</a:t>
              </a:r>
              <a:br/>
              <a:r>
                <a:rPr lang="tr-TR" sz="1120" dirty="0">
                  <a:solidFill>
                    <a:srgbClr val="172B3A"/>
                  </a:solidFill>
                  <a:latin typeface="+mn-lt"/>
                  <a:ea typeface="+mn-ea"/>
                  <a:cs typeface="+mn-cs"/>
                </a:rPr>
                <a:t>e-posta gönderir, kota</a:t>
              </a:r>
              <a:br/>
              <a:r>
                <a:rPr lang="tr-TR" sz="1120" dirty="0">
                  <a:solidFill>
                    <a:srgbClr val="172B3A"/>
                  </a:solidFill>
                  <a:latin typeface="+mn-lt"/>
                  <a:ea typeface="+mn-ea"/>
                  <a:cs typeface="+mn-cs"/>
                </a:rPr>
                <a:t>tükenir, testler yavaşlar.</a:t>
              </a:r>
            </a:p>
          </p:txBody>
        </p:sp>
        <p:sp>
          <p:nvSpPr>
            <p:cNvPr id="49" name="Line 49"/>
            <p:cNvSpPr/>
            <p:nvPr/>
          </p:nvSpPr>
          <p:spPr>
            <a:xfrm>
              <a:off x="609600" y="5105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6" name="row-testdb"/>
          <p:cNvGrpSpPr/>
          <p:nvPr/>
        </p:nvGrpSpPr>
        <p:grpSpPr>
          <a:xfrm>
            <a:off x="609600" y="5105400"/>
            <a:ext cx="10972800" cy="742950"/>
            <a:chOff x="609600" y="5105400"/>
            <a:chExt cx="10972800" cy="742950"/>
          </a:xfrm>
        </p:grpSpPr>
        <p:sp>
          <p:nvSpPr>
            <p:cNvPr id="51" name="Rectangle 51"/>
            <p:cNvSpPr/>
            <p:nvPr/>
          </p:nvSpPr>
          <p:spPr>
            <a:xfrm>
              <a:off x="609600" y="5105400"/>
              <a:ext cx="10972800" cy="742950"/>
            </a:xfrm>
            <a:prstGeom prst="rect">
              <a:avLst/>
            </a:prstGeom>
            <a:solidFill>
              <a:srgbClr val="EAF4F6"/>
            </a:solidFill>
            <a:ln>
              <a:noFill/>
            </a:ln>
          </p:spPr>
        </p:sp>
        <p:sp>
          <p:nvSpPr>
            <p:cNvPr id="52" name="TextBox 52"/>
            <p:cNvSpPr txBox="1"/>
            <p:nvPr/>
          </p:nvSpPr>
          <p:spPr>
            <a:xfrm>
              <a:off x="754761" y="5199221"/>
              <a:ext cx="1008602" cy="469202"/>
            </a:xfrm>
            <a:prstGeom prst="rect">
              <a:avLst/>
            </a:prstGeom>
            <a:noFill/>
            <a:ln>
              <a:noFill/>
            </a:ln>
          </p:spPr>
          <p:txBody>
            <a:bodyPr wrap="none" lIns="0" tIns="0" rIns="0" bIns="0" anchor="t" anchorCtr="0">
              <a:spAutoFit/>
            </a:bodyPr>
            <a:lstStyle/>
            <a:p>
              <a:pPr algn="l">
                <a:lnSpc>
                  <a:spcPts val="1500"/>
                </a:lnSpc>
              </a:pPr>
              <a:r>
                <a:rPr lang="tr-TR" sz="1420" b="1" dirty="0">
                  <a:solidFill>
                    <a:srgbClr val="12355B"/>
                  </a:solidFill>
                  <a:latin typeface="+mn-lt"/>
                  <a:ea typeface="+mn-ea"/>
                  <a:cs typeface="+mn-cs"/>
                </a:rPr>
                <a:t>Test</a:t>
              </a:r>
              <a:br/>
              <a:r>
                <a:rPr lang="tr-TR" sz="1420" b="1" dirty="0">
                  <a:solidFill>
                    <a:srgbClr val="12355B"/>
                  </a:solidFill>
                  <a:latin typeface="+mn-lt"/>
                  <a:ea typeface="+mn-ea"/>
                  <a:cs typeface="+mn-cs"/>
                </a:rPr>
                <a:t>Veritabanı</a:t>
              </a:r>
            </a:p>
          </p:txBody>
        </p:sp>
        <p:sp>
          <p:nvSpPr>
            <p:cNvPr id="53" name="TextBox 53"/>
            <p:cNvSpPr txBox="1"/>
            <p:nvPr/>
          </p:nvSpPr>
          <p:spPr>
            <a:xfrm>
              <a:off x="2566035" y="5193506"/>
              <a:ext cx="187477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Testlerin izole, her koşuda</a:t>
              </a:r>
              <a:br/>
              <a:r>
                <a:rPr lang="tr-TR" sz="1120" dirty="0">
                  <a:solidFill>
                    <a:srgbClr val="172B3A"/>
                  </a:solidFill>
                  <a:latin typeface="+mn-lt"/>
                  <a:ea typeface="+mn-ea"/>
                  <a:cs typeface="+mn-cs"/>
                </a:rPr>
                <a:t>sıfırlanabilir bir ortamda</a:t>
              </a:r>
              <a:br/>
              <a:r>
                <a:rPr lang="tr-TR" sz="1120" dirty="0">
                  <a:solidFill>
                    <a:srgbClr val="172B3A"/>
                  </a:solidFill>
                  <a:latin typeface="+mn-lt"/>
                  <a:ea typeface="+mn-ea"/>
                  <a:cs typeface="+mn-cs"/>
                </a:rPr>
                <a:t>çalışmasını sağlar.</a:t>
              </a:r>
            </a:p>
          </p:txBody>
        </p:sp>
        <p:sp>
          <p:nvSpPr>
            <p:cNvPr id="54" name="TextBox 54"/>
            <p:cNvSpPr txBox="1"/>
            <p:nvPr/>
          </p:nvSpPr>
          <p:spPr>
            <a:xfrm>
              <a:off x="5804535" y="5193506"/>
              <a:ext cx="2223262"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Canlı veritabanının yedeği</a:t>
              </a:r>
              <a:br/>
              <a:r>
                <a:rPr lang="tr-TR" sz="1120" dirty="0">
                  <a:solidFill>
                    <a:srgbClr val="172B3A"/>
                  </a:solidFill>
                  <a:latin typeface="+mn-lt"/>
                  <a:ea typeface="+mn-ea"/>
                  <a:cs typeface="+mn-cs"/>
                </a:rPr>
                <a:t>değildir; her turdan önce/sonra</a:t>
              </a:r>
              <a:br/>
              <a:r>
                <a:rPr lang="tr-TR" sz="1120" dirty="0">
                  <a:solidFill>
                    <a:srgbClr val="172B3A"/>
                  </a:solidFill>
                  <a:latin typeface="+mn-lt"/>
                  <a:ea typeface="+mn-ea"/>
                  <a:cs typeface="+mn-cs"/>
                </a:rPr>
                <a:t>temizlenir.</a:t>
              </a:r>
            </a:p>
          </p:txBody>
        </p:sp>
        <p:sp>
          <p:nvSpPr>
            <p:cNvPr id="55" name="TextBox 55"/>
            <p:cNvSpPr txBox="1"/>
            <p:nvPr/>
          </p:nvSpPr>
          <p:spPr>
            <a:xfrm>
              <a:off x="9043035" y="5193506"/>
              <a:ext cx="176809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Testler birbirinin verisini</a:t>
              </a:r>
              <a:br/>
              <a:r>
                <a:rPr lang="tr-TR" sz="1120" dirty="0">
                  <a:solidFill>
                    <a:srgbClr val="172B3A"/>
                  </a:solidFill>
                  <a:latin typeface="+mn-lt"/>
                  <a:ea typeface="+mn-ea"/>
                  <a:cs typeface="+mn-cs"/>
                </a:rPr>
                <a:t>bozar; sahte (flaky)</a:t>
              </a:r>
              <a:br/>
              <a:r>
                <a:rPr lang="tr-TR" sz="1120" dirty="0">
                  <a:solidFill>
                    <a:srgbClr val="172B3A"/>
                  </a:solidFill>
                  <a:latin typeface="+mn-lt"/>
                  <a:ea typeface="+mn-ea"/>
                  <a:cs typeface="+mn-cs"/>
                </a:rPr>
                <a:t>hatalar üretilir.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8547636" cy="668845"/>
            <a:chOff x="609600" y="171450"/>
            <a:chExt cx="8547636"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78572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Belgeleme ve test kültürüne genel bakış</a:t>
              </a:r>
            </a:p>
          </p:txBody>
        </p:sp>
      </p:grpSp>
      <p:grpSp>
        <p:nvGrpSpPr>
          <p:cNvPr id="15" name="definition-block"/>
          <p:cNvGrpSpPr/>
          <p:nvPr/>
        </p:nvGrpSpPr>
        <p:grpSpPr>
          <a:xfrm>
            <a:off x="600456" y="1234440"/>
            <a:ext cx="7927848" cy="961644"/>
            <a:chOff x="600456" y="1234440"/>
            <a:chExt cx="7927848" cy="961644"/>
          </a:xfrm>
        </p:grpSpPr>
        <p:sp>
          <p:nvSpPr>
            <p:cNvPr id="14" name="TextBox 14"/>
            <p:cNvSpPr txBox="1"/>
            <p:nvPr/>
          </p:nvSpPr>
          <p:spPr>
            <a:xfrm>
              <a:off x="600456" y="1234440"/>
              <a:ext cx="7927848" cy="961644"/>
            </a:xfrm>
            <a:prstGeom prst="rect">
              <a:avLst/>
            </a:prstGeom>
            <a:noFill/>
            <a:ln>
              <a:noFill/>
            </a:ln>
          </p:spPr>
          <p:txBody>
            <a:bodyPr wrap="none" lIns="0" tIns="0" rIns="0" bIns="0" anchor="t" anchorCtr="0">
              <a:spAutoFit/>
            </a:bodyPr>
            <a:lstStyle/>
            <a:p>
              <a:pPr algn="l">
                <a:lnSpc>
                  <a:spcPts val="2400"/>
                </a:lnSpc>
              </a:pPr>
              <a:r>
                <a:rPr lang="tr-TR" sz="1800" dirty="0">
                  <a:solidFill>
                    <a:srgbClr val="172B3A"/>
                  </a:solidFill>
                  <a:latin typeface="+mn-lt"/>
                  <a:ea typeface="+mn-ea"/>
                  <a:cs typeface="+mn-cs"/>
                </a:rPr>
                <a:t>Backend davranışını hem insan tarafından okunabilir bir sözleşme</a:t>
              </a:r>
              <a:br/>
              <a:r>
                <a:rPr lang="tr-TR" sz="1800" dirty="0">
                  <a:solidFill>
                    <a:srgbClr val="172B3A"/>
                  </a:solidFill>
                  <a:latin typeface="+mn-lt"/>
                  <a:ea typeface="+mn-ea"/>
                  <a:cs typeface="+mn-cs"/>
                </a:rPr>
                <a:t>(OpenAPI) hem de otomatik doğrulanabilir testlerle (unit, integration)</a:t>
              </a:r>
              <a:br/>
              <a:r>
                <a:rPr lang="tr-TR" sz="1800" dirty="0">
                  <a:solidFill>
                    <a:srgbClr val="172B3A"/>
                  </a:solidFill>
                  <a:latin typeface="+mn-lt"/>
                  <a:ea typeface="+mn-ea"/>
                  <a:cs typeface="+mn-cs"/>
                </a:rPr>
                <a:t>açıkça ifade etme pratiğidir.</a:t>
              </a:r>
            </a:p>
          </p:txBody>
        </p:sp>
      </p:grpSp>
      <p:grpSp>
        <p:nvGrpSpPr>
          <p:cNvPr id="29" name="vv-split"/>
          <p:cNvGrpSpPr/>
          <p:nvPr/>
        </p:nvGrpSpPr>
        <p:grpSpPr>
          <a:xfrm>
            <a:off x="609600" y="2343150"/>
            <a:ext cx="10972800" cy="2162556"/>
            <a:chOff x="609600" y="2343150"/>
            <a:chExt cx="10972800" cy="2162556"/>
          </a:xfrm>
        </p:grpSpPr>
        <p:sp>
          <p:nvSpPr>
            <p:cNvPr id="16" name="Rectangle 16"/>
            <p:cNvSpPr/>
            <p:nvPr/>
          </p:nvSpPr>
          <p:spPr>
            <a:xfrm>
              <a:off x="609600" y="2343150"/>
              <a:ext cx="5295900" cy="2095500"/>
            </a:xfrm>
            <a:prstGeom prst="roundRect">
              <a:avLst>
                <a:gd name="adj" fmla="val 4545"/>
              </a:avLst>
            </a:prstGeom>
            <a:solidFill>
              <a:srgbClr val="FFFFFF"/>
            </a:solidFill>
            <a:ln w="14288">
              <a:solidFill>
                <a:srgbClr val="2E86AB"/>
              </a:solidFill>
            </a:ln>
          </p:spPr>
        </p:sp>
        <p:sp>
          <p:nvSpPr>
            <p:cNvPr id="17" name="TextBox 17"/>
            <p:cNvSpPr txBox="1"/>
            <p:nvPr/>
          </p:nvSpPr>
          <p:spPr>
            <a:xfrm>
              <a:off x="829056" y="2529840"/>
              <a:ext cx="28381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Geçerleme (validation)</a:t>
              </a:r>
            </a:p>
          </p:txBody>
        </p:sp>
        <p:sp>
          <p:nvSpPr>
            <p:cNvPr id="18" name="TextBox 18"/>
            <p:cNvSpPr txBox="1"/>
            <p:nvPr/>
          </p:nvSpPr>
          <p:spPr>
            <a:xfrm>
              <a:off x="830199" y="2858929"/>
              <a:ext cx="209179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"API'nin ne yapması</a:t>
              </a:r>
            </a:p>
          </p:txBody>
        </p:sp>
        <p:sp>
          <p:nvSpPr>
            <p:cNvPr id="19" name="TextBox 19"/>
            <p:cNvSpPr txBox="1"/>
            <p:nvPr/>
          </p:nvSpPr>
          <p:spPr>
            <a:xfrm>
              <a:off x="830199" y="3106579"/>
              <a:ext cx="260810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GEREKTİĞİNİ" tanımlar.</a:t>
              </a:r>
            </a:p>
          </p:txBody>
        </p:sp>
        <p:sp>
          <p:nvSpPr>
            <p:cNvPr id="20" name="TextBox 20"/>
            <p:cNvSpPr txBox="1"/>
            <p:nvPr/>
          </p:nvSpPr>
          <p:spPr>
            <a:xfrm>
              <a:off x="830199" y="3563779"/>
              <a:ext cx="2313039"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 OpenAPI sözleşmesi</a:t>
              </a:r>
            </a:p>
          </p:txBody>
        </p:sp>
        <p:sp>
          <p:nvSpPr>
            <p:cNvPr id="21" name="TextBox 21"/>
            <p:cNvSpPr txBox="1"/>
            <p:nvPr/>
          </p:nvSpPr>
          <p:spPr>
            <a:xfrm>
              <a:off x="832104" y="4080510"/>
              <a:ext cx="25115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Boehm (1981): doğru yazılımı mı</a:t>
              </a:r>
              <a:br/>
              <a:r>
                <a:rPr lang="tr-TR" sz="1200" dirty="0">
                  <a:solidFill>
                    <a:srgbClr val="52616B"/>
                  </a:solidFill>
                  <a:latin typeface="+mn-lt"/>
                  <a:ea typeface="+mn-ea"/>
                  <a:cs typeface="+mn-cs"/>
                </a:rPr>
                <a:t>inşa ettik sorusu.</a:t>
              </a:r>
            </a:p>
          </p:txBody>
        </p:sp>
        <p:sp>
          <p:nvSpPr>
            <p:cNvPr id="22" name="Line 22"/>
            <p:cNvSpPr/>
            <p:nvPr/>
          </p:nvSpPr>
          <p:spPr>
            <a:xfrm>
              <a:off x="6286500" y="3390900"/>
              <a:ext cx="914400" cy="1"/>
            </a:xfrm>
            <a:prstGeom prst="line">
              <a:avLst/>
            </a:prstGeom>
            <a:noFill/>
            <a:ln w="23812">
              <a:solidFill>
                <a:srgbClr val="00A6A6"/>
              </a:solidFill>
              <a:tailEnd type="arrow" w="lg" len="lg"/>
            </a:ln>
          </p:spPr>
        </p:sp>
        <p:sp>
          <p:nvSpPr>
            <p:cNvPr id="23" name="Rectangle 23"/>
            <p:cNvSpPr/>
            <p:nvPr/>
          </p:nvSpPr>
          <p:spPr>
            <a:xfrm>
              <a:off x="6286500" y="2343150"/>
              <a:ext cx="5295900" cy="2095500"/>
            </a:xfrm>
            <a:prstGeom prst="roundRect">
              <a:avLst>
                <a:gd name="adj" fmla="val 4545"/>
              </a:avLst>
            </a:prstGeom>
            <a:solidFill>
              <a:srgbClr val="12355B"/>
            </a:solidFill>
            <a:ln>
              <a:noFill/>
            </a:ln>
          </p:spPr>
        </p:sp>
        <p:sp>
          <p:nvSpPr>
            <p:cNvPr id="24" name="TextBox 24"/>
            <p:cNvSpPr txBox="1"/>
            <p:nvPr/>
          </p:nvSpPr>
          <p:spPr>
            <a:xfrm>
              <a:off x="6505956" y="2529840"/>
              <a:ext cx="3117967"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Doğrulama (verification)</a:t>
              </a:r>
            </a:p>
          </p:txBody>
        </p:sp>
        <p:sp>
          <p:nvSpPr>
            <p:cNvPr id="25" name="TextBox 25"/>
            <p:cNvSpPr txBox="1"/>
            <p:nvPr/>
          </p:nvSpPr>
          <p:spPr>
            <a:xfrm>
              <a:off x="6507099" y="2858929"/>
              <a:ext cx="2111344"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"API GERÇEKTEN öyle</a:t>
              </a:r>
            </a:p>
          </p:txBody>
        </p:sp>
        <p:sp>
          <p:nvSpPr>
            <p:cNvPr id="26" name="TextBox 26"/>
            <p:cNvSpPr txBox="1"/>
            <p:nvPr/>
          </p:nvSpPr>
          <p:spPr>
            <a:xfrm>
              <a:off x="6507099" y="3106579"/>
              <a:ext cx="2706652"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davranıyor mu" kanıtlar.</a:t>
              </a:r>
            </a:p>
          </p:txBody>
        </p:sp>
        <p:sp>
          <p:nvSpPr>
            <p:cNvPr id="27" name="TextBox 27"/>
            <p:cNvSpPr txBox="1"/>
            <p:nvPr/>
          </p:nvSpPr>
          <p:spPr>
            <a:xfrm>
              <a:off x="6507099" y="3563779"/>
              <a:ext cx="2711985"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Unit + Integration test</a:t>
              </a:r>
            </a:p>
          </p:txBody>
        </p:sp>
        <p:sp>
          <p:nvSpPr>
            <p:cNvPr id="28" name="TextBox 28"/>
            <p:cNvSpPr txBox="1"/>
            <p:nvPr/>
          </p:nvSpPr>
          <p:spPr>
            <a:xfrm>
              <a:off x="6509004" y="4080510"/>
              <a:ext cx="25115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B8CBD3"/>
                  </a:solidFill>
                  <a:latin typeface="+mn-lt"/>
                  <a:ea typeface="+mn-ea"/>
                  <a:cs typeface="+mn-cs"/>
                </a:rPr>
                <a:t>Boehm (1981): yazılımı doğru mu</a:t>
              </a:r>
              <a:br/>
              <a:r>
                <a:rPr lang="tr-TR" sz="1200" dirty="0">
                  <a:solidFill>
                    <a:srgbClr val="B8CBD3"/>
                  </a:solidFill>
                  <a:latin typeface="+mn-lt"/>
                  <a:ea typeface="+mn-ea"/>
                  <a:cs typeface="+mn-cs"/>
                </a:rPr>
                <a:t>inşa ettik sorusu.</a:t>
              </a:r>
            </a:p>
          </p:txBody>
        </p:sp>
      </p:grpSp>
      <p:grpSp>
        <p:nvGrpSpPr>
          <p:cNvPr id="33" name="closing-note"/>
          <p:cNvGrpSpPr/>
          <p:nvPr/>
        </p:nvGrpSpPr>
        <p:grpSpPr>
          <a:xfrm>
            <a:off x="609600" y="4819650"/>
            <a:ext cx="10972800" cy="952500"/>
            <a:chOff x="609600" y="4819650"/>
            <a:chExt cx="10972800" cy="952500"/>
          </a:xfrm>
        </p:grpSpPr>
        <p:sp>
          <p:nvSpPr>
            <p:cNvPr id="30" name="Rectangle 30"/>
            <p:cNvSpPr/>
            <p:nvPr/>
          </p:nvSpPr>
          <p:spPr>
            <a:xfrm>
              <a:off x="609600" y="4819650"/>
              <a:ext cx="10972800" cy="952500"/>
            </a:xfrm>
            <a:prstGeom prst="roundRect">
              <a:avLst>
                <a:gd name="adj" fmla="val 8000"/>
              </a:avLst>
            </a:prstGeom>
            <a:solidFill>
              <a:srgbClr val="EAF4F6"/>
            </a:solidFill>
            <a:ln>
              <a:noFill/>
            </a:ln>
          </p:spPr>
        </p:sp>
        <p:sp>
          <p:nvSpPr>
            <p:cNvPr id="31" name="TextBox 31"/>
            <p:cNvSpPr txBox="1"/>
            <p:nvPr/>
          </p:nvSpPr>
          <p:spPr>
            <a:xfrm>
              <a:off x="905256" y="5006340"/>
              <a:ext cx="44917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Bu iki araç birbirinin yerine geçmez.</a:t>
              </a:r>
            </a:p>
          </p:txBody>
        </p:sp>
        <p:sp>
          <p:nvSpPr>
            <p:cNvPr id="32" name="TextBox 32"/>
            <p:cNvSpPr txBox="1"/>
            <p:nvPr/>
          </p:nvSpPr>
          <p:spPr>
            <a:xfrm>
              <a:off x="906399" y="5335429"/>
              <a:ext cx="854083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Kod tabanı büyüdükçe hiçbir geliştirici API'nin tüm davranışını zihninde tutamaz.</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10199708" cy="668845"/>
            <a:chOff x="609600" y="171450"/>
            <a:chExt cx="10199708"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95093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Bir endpoint'in belgeleme ve test yaşam döngüsü</a:t>
              </a:r>
            </a:p>
          </p:txBody>
        </p:sp>
      </p:grpSp>
      <p:grpSp>
        <p:nvGrpSpPr>
          <p:cNvPr id="24" name="lifecycle-flow"/>
          <p:cNvGrpSpPr/>
          <p:nvPr/>
        </p:nvGrpSpPr>
        <p:grpSpPr>
          <a:xfrm>
            <a:off x="601599" y="1428750"/>
            <a:ext cx="10542651" cy="1623917"/>
            <a:chOff x="601599" y="1428750"/>
            <a:chExt cx="10542651" cy="1623917"/>
          </a:xfrm>
        </p:grpSpPr>
        <p:sp>
          <p:nvSpPr>
            <p:cNvPr id="13" name="Freeform 13"/>
            <p:cNvSpPr/>
            <p:nvPr/>
          </p:nvSpPr>
          <p:spPr>
            <a:xfrm>
              <a:off x="609600" y="1428750"/>
              <a:ext cx="2381250" cy="857250"/>
            </a:xfrm>
            <a:prstGeom prst="chevron">
              <a:avLst/>
            </a:prstGeom>
            <a:solidFill>
              <a:srgbClr val="12355B"/>
            </a:solidFill>
            <a:ln>
              <a:noFill/>
            </a:ln>
          </p:spPr>
        </p:sp>
        <p:sp>
          <p:nvSpPr>
            <p:cNvPr id="14" name="Freeform 14"/>
            <p:cNvSpPr/>
            <p:nvPr/>
          </p:nvSpPr>
          <p:spPr>
            <a:xfrm>
              <a:off x="2647950" y="1428750"/>
              <a:ext cx="2381250" cy="857250"/>
            </a:xfrm>
            <a:prstGeom prst="chevron">
              <a:avLst/>
            </a:prstGeom>
            <a:solidFill>
              <a:srgbClr val="2E86AB"/>
            </a:solidFill>
            <a:ln>
              <a:noFill/>
            </a:ln>
          </p:spPr>
        </p:sp>
        <p:sp>
          <p:nvSpPr>
            <p:cNvPr id="15" name="Freeform 15"/>
            <p:cNvSpPr/>
            <p:nvPr/>
          </p:nvSpPr>
          <p:spPr>
            <a:xfrm>
              <a:off x="4686300" y="1428750"/>
              <a:ext cx="2381250" cy="857250"/>
            </a:xfrm>
            <a:prstGeom prst="chevron">
              <a:avLst/>
            </a:prstGeom>
            <a:solidFill>
              <a:srgbClr val="00A6A6"/>
            </a:solidFill>
            <a:ln>
              <a:noFill/>
            </a:ln>
          </p:spPr>
        </p:sp>
        <p:sp>
          <p:nvSpPr>
            <p:cNvPr id="16" name="Freeform 16"/>
            <p:cNvSpPr/>
            <p:nvPr/>
          </p:nvSpPr>
          <p:spPr>
            <a:xfrm>
              <a:off x="6724650" y="1428750"/>
              <a:ext cx="2381250" cy="857250"/>
            </a:xfrm>
            <a:prstGeom prst="chevron">
              <a:avLst/>
            </a:prstGeom>
            <a:solidFill>
              <a:srgbClr val="2E86AB"/>
            </a:solidFill>
            <a:ln>
              <a:noFill/>
            </a:ln>
          </p:spPr>
        </p:sp>
        <p:sp>
          <p:nvSpPr>
            <p:cNvPr id="17" name="Freeform 17"/>
            <p:cNvSpPr/>
            <p:nvPr/>
          </p:nvSpPr>
          <p:spPr>
            <a:xfrm>
              <a:off x="8763000" y="1428750"/>
              <a:ext cx="2381250" cy="857250"/>
            </a:xfrm>
            <a:prstGeom prst="chevron">
              <a:avLst/>
            </a:prstGeom>
            <a:solidFill>
              <a:srgbClr val="12355B"/>
            </a:solidFill>
            <a:ln>
              <a:noFill/>
            </a:ln>
          </p:spPr>
        </p:sp>
        <p:sp>
          <p:nvSpPr>
            <p:cNvPr id="18" name="TextBox 18"/>
            <p:cNvSpPr txBox="1"/>
            <p:nvPr/>
          </p:nvSpPr>
          <p:spPr>
            <a:xfrm>
              <a:off x="1350074" y="1699260"/>
              <a:ext cx="900303" cy="425196"/>
            </a:xfrm>
            <a:prstGeom prst="rect">
              <a:avLst/>
            </a:prstGeom>
            <a:noFill/>
            <a:ln>
              <a:noFill/>
            </a:ln>
          </p:spPr>
          <p:txBody>
            <a:bodyPr wrap="none" lIns="0" tIns="0" rIns="0" bIns="0" anchor="t" anchorCtr="0">
              <a:spAutoFit/>
            </a:bodyPr>
            <a:lstStyle/>
            <a:p>
              <a:pPr algn="ctr">
                <a:lnSpc>
                  <a:spcPts val="1500"/>
                </a:lnSpc>
              </a:pPr>
              <a:r>
                <a:rPr lang="tr-TR" sz="1200" b="1" dirty="0">
                  <a:solidFill>
                    <a:srgbClr val="FFFFFF"/>
                  </a:solidFill>
                  <a:latin typeface="+mn-lt"/>
                  <a:ea typeface="+mn-ea"/>
                  <a:cs typeface="+mn-cs"/>
                </a:rPr>
                <a:t>1. Endpoint</a:t>
              </a:r>
              <a:br/>
              <a:r>
                <a:rPr lang="tr-TR" sz="1200" b="1" dirty="0">
                  <a:solidFill>
                    <a:srgbClr val="FFFFFF"/>
                  </a:solidFill>
                  <a:latin typeface="+mn-lt"/>
                  <a:ea typeface="+mn-ea"/>
                  <a:cs typeface="+mn-cs"/>
                </a:rPr>
                <a:t>yazılır</a:t>
              </a:r>
            </a:p>
          </p:txBody>
        </p:sp>
        <p:sp>
          <p:nvSpPr>
            <p:cNvPr id="19" name="TextBox 19"/>
            <p:cNvSpPr txBox="1"/>
            <p:nvPr/>
          </p:nvSpPr>
          <p:spPr>
            <a:xfrm>
              <a:off x="3416427" y="1699260"/>
              <a:ext cx="844296" cy="425196"/>
            </a:xfrm>
            <a:prstGeom prst="rect">
              <a:avLst/>
            </a:prstGeom>
            <a:noFill/>
            <a:ln>
              <a:noFill/>
            </a:ln>
          </p:spPr>
          <p:txBody>
            <a:bodyPr wrap="none" lIns="0" tIns="0" rIns="0" bIns="0" anchor="t" anchorCtr="0">
              <a:spAutoFit/>
            </a:bodyPr>
            <a:lstStyle/>
            <a:p>
              <a:pPr algn="ctr">
                <a:lnSpc>
                  <a:spcPts val="1500"/>
                </a:lnSpc>
              </a:pPr>
              <a:r>
                <a:rPr lang="tr-TR" sz="1200" b="1" dirty="0">
                  <a:solidFill>
                    <a:srgbClr val="FFFFFF"/>
                  </a:solidFill>
                  <a:latin typeface="+mn-lt"/>
                  <a:ea typeface="+mn-ea"/>
                  <a:cs typeface="+mn-cs"/>
                </a:rPr>
                <a:t>2. OpenAPI</a:t>
              </a:r>
              <a:br/>
              <a:r>
                <a:rPr lang="tr-TR" sz="1200" b="1" dirty="0">
                  <a:solidFill>
                    <a:srgbClr val="FFFFFF"/>
                  </a:solidFill>
                  <a:latin typeface="+mn-lt"/>
                  <a:ea typeface="+mn-ea"/>
                  <a:cs typeface="+mn-cs"/>
                </a:rPr>
                <a:t>belgelenir</a:t>
              </a:r>
            </a:p>
          </p:txBody>
        </p:sp>
        <p:sp>
          <p:nvSpPr>
            <p:cNvPr id="20" name="TextBox 20"/>
            <p:cNvSpPr txBox="1"/>
            <p:nvPr/>
          </p:nvSpPr>
          <p:spPr>
            <a:xfrm>
              <a:off x="5402770" y="1699260"/>
              <a:ext cx="948309" cy="425196"/>
            </a:xfrm>
            <a:prstGeom prst="rect">
              <a:avLst/>
            </a:prstGeom>
            <a:noFill/>
            <a:ln>
              <a:noFill/>
            </a:ln>
          </p:spPr>
          <p:txBody>
            <a:bodyPr wrap="none" lIns="0" tIns="0" rIns="0" bIns="0" anchor="t" anchorCtr="0">
              <a:spAutoFit/>
            </a:bodyPr>
            <a:lstStyle/>
            <a:p>
              <a:pPr algn="ctr">
                <a:lnSpc>
                  <a:spcPts val="1500"/>
                </a:lnSpc>
              </a:pPr>
              <a:r>
                <a:rPr lang="tr-TR" sz="1200" b="1" dirty="0">
                  <a:solidFill>
                    <a:srgbClr val="FFFFFF"/>
                  </a:solidFill>
                  <a:latin typeface="+mn-lt"/>
                  <a:ea typeface="+mn-ea"/>
                  <a:cs typeface="+mn-cs"/>
                </a:rPr>
                <a:t>3. Unit test</a:t>
              </a:r>
              <a:br/>
              <a:r>
                <a:rPr lang="tr-TR" sz="1200" b="1" dirty="0">
                  <a:solidFill>
                    <a:srgbClr val="FFFFFF"/>
                  </a:solidFill>
                  <a:latin typeface="+mn-lt"/>
                  <a:ea typeface="+mn-ea"/>
                  <a:cs typeface="+mn-cs"/>
                </a:rPr>
                <a:t>yazılır</a:t>
              </a:r>
            </a:p>
          </p:txBody>
        </p:sp>
        <p:sp>
          <p:nvSpPr>
            <p:cNvPr id="21" name="TextBox 21"/>
            <p:cNvSpPr txBox="1"/>
            <p:nvPr/>
          </p:nvSpPr>
          <p:spPr>
            <a:xfrm>
              <a:off x="7353110" y="1699260"/>
              <a:ext cx="1124331" cy="425196"/>
            </a:xfrm>
            <a:prstGeom prst="rect">
              <a:avLst/>
            </a:prstGeom>
            <a:noFill/>
            <a:ln>
              <a:noFill/>
            </a:ln>
          </p:spPr>
          <p:txBody>
            <a:bodyPr wrap="none" lIns="0" tIns="0" rIns="0" bIns="0" anchor="t" anchorCtr="0">
              <a:spAutoFit/>
            </a:bodyPr>
            <a:lstStyle/>
            <a:p>
              <a:pPr algn="ctr">
                <a:lnSpc>
                  <a:spcPts val="1500"/>
                </a:lnSpc>
              </a:pPr>
              <a:r>
                <a:rPr lang="tr-TR" sz="1200" b="1" dirty="0">
                  <a:solidFill>
                    <a:srgbClr val="FFFFFF"/>
                  </a:solidFill>
                  <a:latin typeface="+mn-lt"/>
                  <a:ea typeface="+mn-ea"/>
                  <a:cs typeface="+mn-cs"/>
                </a:rPr>
                <a:t>4. Integration</a:t>
              </a:r>
              <a:br/>
              <a:r>
                <a:rPr lang="tr-TR" sz="1200" b="1" dirty="0">
                  <a:solidFill>
                    <a:srgbClr val="FFFFFF"/>
                  </a:solidFill>
                  <a:latin typeface="+mn-lt"/>
                  <a:ea typeface="+mn-ea"/>
                  <a:cs typeface="+mn-cs"/>
                </a:rPr>
                <a:t>test yazılır</a:t>
              </a:r>
            </a:p>
          </p:txBody>
        </p:sp>
        <p:sp>
          <p:nvSpPr>
            <p:cNvPr id="22" name="TextBox 22"/>
            <p:cNvSpPr txBox="1"/>
            <p:nvPr/>
          </p:nvSpPr>
          <p:spPr>
            <a:xfrm>
              <a:off x="9611487" y="1699260"/>
              <a:ext cx="684276" cy="425196"/>
            </a:xfrm>
            <a:prstGeom prst="rect">
              <a:avLst/>
            </a:prstGeom>
            <a:noFill/>
            <a:ln>
              <a:noFill/>
            </a:ln>
          </p:spPr>
          <p:txBody>
            <a:bodyPr wrap="none" lIns="0" tIns="0" rIns="0" bIns="0" anchor="t" anchorCtr="0">
              <a:spAutoFit/>
            </a:bodyPr>
            <a:lstStyle/>
            <a:p>
              <a:pPr algn="ctr">
                <a:lnSpc>
                  <a:spcPts val="1500"/>
                </a:lnSpc>
              </a:pPr>
              <a:r>
                <a:rPr lang="tr-TR" sz="1200" b="1" dirty="0">
                  <a:solidFill>
                    <a:srgbClr val="FFFFFF"/>
                  </a:solidFill>
                  <a:latin typeface="+mn-lt"/>
                  <a:ea typeface="+mn-ea"/>
                  <a:cs typeface="+mn-cs"/>
                </a:rPr>
                <a:t>5. Kalite</a:t>
              </a:r>
              <a:br/>
              <a:r>
                <a:rPr lang="tr-TR" sz="1200" b="1" dirty="0">
                  <a:solidFill>
                    <a:srgbClr val="FFFFFF"/>
                  </a:solidFill>
                  <a:latin typeface="+mn-lt"/>
                  <a:ea typeface="+mn-ea"/>
                  <a:cs typeface="+mn-cs"/>
                </a:rPr>
                <a:t>kapısı</a:t>
              </a:r>
            </a:p>
          </p:txBody>
        </p:sp>
        <p:sp>
          <p:nvSpPr>
            <p:cNvPr id="23" name="TextBox 23"/>
            <p:cNvSpPr txBox="1"/>
            <p:nvPr/>
          </p:nvSpPr>
          <p:spPr>
            <a:xfrm>
              <a:off x="601599" y="2477929"/>
              <a:ext cx="715949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Kod 13.1, bir `Adim` dizisiyle bu beş adımın önerilen sırasını listeler ve</a:t>
              </a:r>
              <a:br/>
              <a:r>
                <a:rPr lang="tr-TR" sz="1580" dirty="0">
                  <a:solidFill>
                    <a:srgbClr val="172B3A"/>
                  </a:solidFill>
                  <a:latin typeface="+mn-lt"/>
                  <a:ea typeface="+mn-ea"/>
                  <a:cs typeface="+mn-cs"/>
                </a:rPr>
                <a:t>konsola sırayla yazdırır — adımların kendisini uygulamaz.</a:t>
              </a:r>
            </a:p>
          </p:txBody>
        </p:sp>
      </p:grpSp>
      <p:grpSp>
        <p:nvGrpSpPr>
          <p:cNvPr id="29" name="warning-note"/>
          <p:cNvGrpSpPr/>
          <p:nvPr/>
        </p:nvGrpSpPr>
        <p:grpSpPr>
          <a:xfrm>
            <a:off x="609600" y="4705350"/>
            <a:ext cx="10972800" cy="995268"/>
            <a:chOff x="609600" y="4705350"/>
            <a:chExt cx="10972800" cy="995268"/>
          </a:xfrm>
        </p:grpSpPr>
        <p:sp>
          <p:nvSpPr>
            <p:cNvPr id="25" name="Rectangle 25"/>
            <p:cNvSpPr/>
            <p:nvPr/>
          </p:nvSpPr>
          <p:spPr>
            <a:xfrm>
              <a:off x="609600" y="4705350"/>
              <a:ext cx="10972800" cy="952500"/>
            </a:xfrm>
            <a:prstGeom prst="roundRect">
              <a:avLst>
                <a:gd name="adj" fmla="val 8000"/>
              </a:avLst>
            </a:prstGeom>
            <a:solidFill>
              <a:srgbClr val="EAF4F6"/>
            </a:solidFill>
            <a:ln>
              <a:noFill/>
            </a:ln>
          </p:spPr>
        </p:sp>
        <p:sp>
          <p:nvSpPr>
            <p:cNvPr id="26" name="TextBox 26"/>
            <p:cNvSpPr txBox="1"/>
            <p:nvPr/>
          </p:nvSpPr>
          <p:spPr>
            <a:xfrm>
              <a:off x="906399" y="4859179"/>
              <a:ext cx="19226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Dikkat noktası</a:t>
              </a:r>
            </a:p>
          </p:txBody>
        </p:sp>
        <p:sp>
          <p:nvSpPr>
            <p:cNvPr id="27" name="TextBox 27"/>
            <p:cNvSpPr txBox="1"/>
            <p:nvPr/>
          </p:nvSpPr>
          <p:spPr>
            <a:xfrm>
              <a:off x="906399" y="5144929"/>
              <a:ext cx="845803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sıralama katı bir kural değildir — bazı ekipler testi koddan önce yazar (TDD) —</a:t>
              </a:r>
            </a:p>
          </p:txBody>
        </p:sp>
        <p:sp>
          <p:nvSpPr>
            <p:cNvPr id="28" name="TextBox 28"/>
            <p:cNvSpPr txBox="1"/>
            <p:nvPr/>
          </p:nvSpPr>
          <p:spPr>
            <a:xfrm>
              <a:off x="906399" y="5392579"/>
              <a:ext cx="983886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ancak `kaliteKapisi` adımı, başarısız testin ana kola birleştirilmeyi engellediğini temsil eder.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4515734" cy="668845"/>
            <a:chOff x="609600" y="171450"/>
            <a:chExt cx="4515734"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382536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OpenAPI sözleşmesi</a:t>
              </a:r>
            </a:p>
          </p:txBody>
        </p:sp>
      </p:grpSp>
      <p:grpSp>
        <p:nvGrpSpPr>
          <p:cNvPr id="16" name="definition-text"/>
          <p:cNvGrpSpPr/>
          <p:nvPr/>
        </p:nvGrpSpPr>
        <p:grpSpPr>
          <a:xfrm>
            <a:off x="600456" y="1215390"/>
            <a:ext cx="9487150" cy="961644"/>
            <a:chOff x="600456" y="1215390"/>
            <a:chExt cx="9487150" cy="961644"/>
          </a:xfrm>
        </p:grpSpPr>
        <p:sp>
          <p:nvSpPr>
            <p:cNvPr id="13" name="TextBox 13"/>
            <p:cNvSpPr txBox="1"/>
            <p:nvPr/>
          </p:nvSpPr>
          <p:spPr>
            <a:xfrm>
              <a:off x="600456" y="1215390"/>
              <a:ext cx="948715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REST API'lerin path'lerini, HTTP metodlarını, istek/yanıt şemalarını ve durum</a:t>
              </a:r>
            </a:p>
          </p:txBody>
        </p:sp>
        <p:sp>
          <p:nvSpPr>
            <p:cNvPr id="14" name="TextBox 14"/>
            <p:cNvSpPr txBox="1"/>
            <p:nvPr/>
          </p:nvSpPr>
          <p:spPr>
            <a:xfrm>
              <a:off x="600456" y="1520190"/>
              <a:ext cx="882647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kodlarını hem insan hem makine tarafından okunabilir biçimde tanımlayan,</a:t>
              </a:r>
            </a:p>
          </p:txBody>
        </p:sp>
        <p:sp>
          <p:nvSpPr>
            <p:cNvPr id="15" name="TextBox 15"/>
            <p:cNvSpPr txBox="1"/>
            <p:nvPr/>
          </p:nvSpPr>
          <p:spPr>
            <a:xfrm>
              <a:off x="600456" y="1824990"/>
              <a:ext cx="516750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yaygın kabul görmüş bir sözleşme biçimidir.</a:t>
              </a:r>
            </a:p>
          </p:txBody>
        </p:sp>
      </p:grpSp>
      <p:grpSp>
        <p:nvGrpSpPr>
          <p:cNvPr id="21" name="icon-api"/>
          <p:cNvGrpSpPr/>
          <p:nvPr/>
        </p:nvGrpSpPr>
        <p:grpSpPr>
          <a:xfrm>
            <a:off x="10363201" y="1314451"/>
            <a:ext cx="457206" cy="457206"/>
            <a:chOff x="10363201" y="1314451"/>
            <a:chExt cx="457206" cy="457206"/>
          </a:xfrm>
        </p:grpSpPr>
        <p:sp>
          <p:nvSpPr>
            <p:cNvPr id="17" name="Freeform 17"/>
            <p:cNvSpPr/>
            <p:nvPr/>
          </p:nvSpPr>
          <p:spPr>
            <a:xfrm>
              <a:off x="10363201" y="1492253"/>
              <a:ext cx="228603" cy="127002"/>
            </a:xfrm>
            <a:custGeom>
              <a:avLst/>
              <a:gdLst/>
              <a:ahLst/>
              <a:cxnLst/>
              <a:rect l="l" t="t" r="r" b="b"/>
              <a:pathLst>
                <a:path w="228603" h="127002">
                  <a:moveTo>
                    <a:pt x="228603" y="127002"/>
                  </a:moveTo>
                  <a:lnTo>
                    <a:pt x="63501" y="127002"/>
                  </a:lnTo>
                  <a:cubicBezTo>
                    <a:pt x="28430" y="127002"/>
                    <a:pt x="0" y="98571"/>
                    <a:pt x="0" y="63501"/>
                  </a:cubicBezTo>
                  <a:cubicBezTo>
                    <a:pt x="0" y="28430"/>
                    <a:pt x="28430" y="0"/>
                    <a:pt x="63501" y="0"/>
                  </a:cubicBezTo>
                  <a:lnTo>
                    <a:pt x="76201" y="0"/>
                  </a:lnTo>
                </a:path>
              </a:pathLst>
            </a:custGeom>
            <a:noFill/>
            <a:ln w="19050" cap="rnd">
              <a:solidFill>
                <a:srgbClr val="00A6A6"/>
              </a:solidFill>
              <a:round/>
            </a:ln>
          </p:spPr>
        </p:sp>
        <p:sp>
          <p:nvSpPr>
            <p:cNvPr id="18" name="Freeform 18"/>
            <p:cNvSpPr/>
            <p:nvPr/>
          </p:nvSpPr>
          <p:spPr>
            <a:xfrm>
              <a:off x="10541003" y="1543054"/>
              <a:ext cx="127002" cy="228603"/>
            </a:xfrm>
            <a:custGeom>
              <a:avLst/>
              <a:gdLst/>
              <a:ahLst/>
              <a:cxnLst/>
              <a:rect l="l" t="t" r="r" b="b"/>
              <a:pathLst>
                <a:path w="127002" h="228603">
                  <a:moveTo>
                    <a:pt x="127002" y="0"/>
                  </a:moveTo>
                  <a:lnTo>
                    <a:pt x="127002" y="165102"/>
                  </a:lnTo>
                  <a:cubicBezTo>
                    <a:pt x="127002" y="200173"/>
                    <a:pt x="98571" y="228603"/>
                    <a:pt x="63501" y="228603"/>
                  </a:cubicBezTo>
                  <a:cubicBezTo>
                    <a:pt x="28430" y="228603"/>
                    <a:pt x="0" y="200173"/>
                    <a:pt x="0" y="165102"/>
                  </a:cubicBezTo>
                  <a:lnTo>
                    <a:pt x="0" y="152402"/>
                  </a:lnTo>
                </a:path>
              </a:pathLst>
            </a:custGeom>
            <a:noFill/>
            <a:ln w="19050" cap="rnd">
              <a:solidFill>
                <a:srgbClr val="00A6A6"/>
              </a:solidFill>
              <a:round/>
            </a:ln>
          </p:spPr>
        </p:sp>
        <p:sp>
          <p:nvSpPr>
            <p:cNvPr id="19" name="Freeform 19"/>
            <p:cNvSpPr/>
            <p:nvPr/>
          </p:nvSpPr>
          <p:spPr>
            <a:xfrm>
              <a:off x="10591804" y="1466853"/>
              <a:ext cx="228603" cy="127002"/>
            </a:xfrm>
            <a:custGeom>
              <a:avLst/>
              <a:gdLst/>
              <a:ahLst/>
              <a:cxnLst/>
              <a:rect l="l" t="t" r="r" b="b"/>
              <a:pathLst>
                <a:path w="228603" h="127002">
                  <a:moveTo>
                    <a:pt x="0" y="0"/>
                  </a:moveTo>
                  <a:lnTo>
                    <a:pt x="165102" y="0"/>
                  </a:lnTo>
                  <a:cubicBezTo>
                    <a:pt x="200173" y="0"/>
                    <a:pt x="228603" y="28430"/>
                    <a:pt x="228603" y="63501"/>
                  </a:cubicBezTo>
                  <a:cubicBezTo>
                    <a:pt x="228603" y="98571"/>
                    <a:pt x="200173" y="127002"/>
                    <a:pt x="165102" y="127002"/>
                  </a:cubicBezTo>
                  <a:lnTo>
                    <a:pt x="152402" y="127002"/>
                  </a:lnTo>
                </a:path>
              </a:pathLst>
            </a:custGeom>
            <a:noFill/>
            <a:ln w="19050" cap="rnd">
              <a:solidFill>
                <a:srgbClr val="00A6A6"/>
              </a:solidFill>
              <a:round/>
            </a:ln>
          </p:spPr>
        </p:sp>
        <p:sp>
          <p:nvSpPr>
            <p:cNvPr id="20" name="Freeform 20"/>
            <p:cNvSpPr/>
            <p:nvPr/>
          </p:nvSpPr>
          <p:spPr>
            <a:xfrm>
              <a:off x="10515603" y="1314451"/>
              <a:ext cx="127002" cy="228603"/>
            </a:xfrm>
            <a:custGeom>
              <a:avLst/>
              <a:gdLst/>
              <a:ahLst/>
              <a:cxnLst/>
              <a:rect l="l" t="t" r="r" b="b"/>
              <a:pathLst>
                <a:path w="127002" h="228603">
                  <a:moveTo>
                    <a:pt x="0" y="228603"/>
                  </a:moveTo>
                  <a:lnTo>
                    <a:pt x="0" y="63501"/>
                  </a:lnTo>
                  <a:cubicBezTo>
                    <a:pt x="0" y="28430"/>
                    <a:pt x="28430" y="0"/>
                    <a:pt x="63501" y="0"/>
                  </a:cubicBezTo>
                  <a:cubicBezTo>
                    <a:pt x="98571" y="0"/>
                    <a:pt x="127002" y="28430"/>
                    <a:pt x="127002" y="63501"/>
                  </a:cubicBezTo>
                  <a:lnTo>
                    <a:pt x="127002" y="76201"/>
                  </a:lnTo>
                </a:path>
              </a:pathLst>
            </a:custGeom>
            <a:noFill/>
            <a:ln w="19050" cap="rnd">
              <a:solidFill>
                <a:srgbClr val="00A6A6"/>
              </a:solidFill>
              <a:round/>
            </a:ln>
          </p:spPr>
        </p:sp>
      </p:grpSp>
      <p:grpSp>
        <p:nvGrpSpPr>
          <p:cNvPr id="38" name="contract-parts"/>
          <p:cNvGrpSpPr/>
          <p:nvPr/>
        </p:nvGrpSpPr>
        <p:grpSpPr>
          <a:xfrm>
            <a:off x="609600" y="2381250"/>
            <a:ext cx="10972800" cy="1428750"/>
            <a:chOff x="609600" y="2381250"/>
            <a:chExt cx="10972800" cy="1428750"/>
          </a:xfrm>
        </p:grpSpPr>
        <p:sp>
          <p:nvSpPr>
            <p:cNvPr id="22" name="Rectangle 22"/>
            <p:cNvSpPr/>
            <p:nvPr/>
          </p:nvSpPr>
          <p:spPr>
            <a:xfrm>
              <a:off x="609600" y="2381250"/>
              <a:ext cx="2571750" cy="1428750"/>
            </a:xfrm>
            <a:prstGeom prst="roundRect">
              <a:avLst>
                <a:gd name="adj" fmla="val 6667"/>
              </a:avLst>
            </a:prstGeom>
            <a:solidFill>
              <a:srgbClr val="FFFFFF"/>
            </a:solidFill>
            <a:ln w="14288">
              <a:solidFill>
                <a:srgbClr val="B8CBD3"/>
              </a:solidFill>
            </a:ln>
          </p:spPr>
        </p:sp>
        <p:sp>
          <p:nvSpPr>
            <p:cNvPr id="23" name="TextBox 23"/>
            <p:cNvSpPr txBox="1"/>
            <p:nvPr/>
          </p:nvSpPr>
          <p:spPr>
            <a:xfrm>
              <a:off x="829056" y="2586990"/>
              <a:ext cx="5859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Path</a:t>
              </a:r>
            </a:p>
          </p:txBody>
        </p:sp>
        <p:sp>
          <p:nvSpPr>
            <p:cNvPr id="24" name="TextBox 24"/>
            <p:cNvSpPr txBox="1"/>
            <p:nvPr/>
          </p:nvSpPr>
          <p:spPr>
            <a:xfrm>
              <a:off x="832104" y="2937510"/>
              <a:ext cx="166652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xml:space="preserve">Örnek: </a:t>
              </a:r>
              <a:r>
                <a:rPr lang="tr-TR" sz="1200" dirty="0">
                  <a:solidFill>
                    <a:srgbClr val="52616B"/>
                  </a:solidFill>
                  <a:latin typeface="Consolas"/>
                  <a:ea typeface="Consolas"/>
                  <a:cs typeface="Consolas"/>
                </a:rPr>
                <a:t>/auth/login</a:t>
              </a:r>
            </a:p>
          </p:txBody>
        </p:sp>
        <p:sp>
          <p:nvSpPr>
            <p:cNvPr id="25" name="TextBox 25"/>
            <p:cNvSpPr txBox="1"/>
            <p:nvPr/>
          </p:nvSpPr>
          <p:spPr>
            <a:xfrm>
              <a:off x="832104" y="3166110"/>
              <a:ext cx="15847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Uç noktanın adresi.</a:t>
              </a:r>
            </a:p>
          </p:txBody>
        </p:sp>
        <p:sp>
          <p:nvSpPr>
            <p:cNvPr id="26" name="Rectangle 26"/>
            <p:cNvSpPr/>
            <p:nvPr/>
          </p:nvSpPr>
          <p:spPr>
            <a:xfrm>
              <a:off x="3409950" y="2381250"/>
              <a:ext cx="2571750" cy="1428750"/>
            </a:xfrm>
            <a:prstGeom prst="roundRect">
              <a:avLst>
                <a:gd name="adj" fmla="val 6667"/>
              </a:avLst>
            </a:prstGeom>
            <a:solidFill>
              <a:srgbClr val="FFFFFF"/>
            </a:solidFill>
            <a:ln w="14288">
              <a:solidFill>
                <a:srgbClr val="B8CBD3"/>
              </a:solidFill>
            </a:ln>
          </p:spPr>
        </p:sp>
        <p:sp>
          <p:nvSpPr>
            <p:cNvPr id="27" name="TextBox 27"/>
            <p:cNvSpPr txBox="1"/>
            <p:nvPr/>
          </p:nvSpPr>
          <p:spPr>
            <a:xfrm>
              <a:off x="3629406" y="2586990"/>
              <a:ext cx="157944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HTTP metodu</a:t>
              </a:r>
            </a:p>
          </p:txBody>
        </p:sp>
        <p:sp>
          <p:nvSpPr>
            <p:cNvPr id="28" name="TextBox 28"/>
            <p:cNvSpPr txBox="1"/>
            <p:nvPr/>
          </p:nvSpPr>
          <p:spPr>
            <a:xfrm>
              <a:off x="3632454" y="2937510"/>
              <a:ext cx="207751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GET, POST, PUT, DELETE…</a:t>
              </a:r>
            </a:p>
          </p:txBody>
        </p:sp>
        <p:sp>
          <p:nvSpPr>
            <p:cNvPr id="29" name="TextBox 29"/>
            <p:cNvSpPr txBox="1"/>
            <p:nvPr/>
          </p:nvSpPr>
          <p:spPr>
            <a:xfrm>
              <a:off x="3632454" y="3166110"/>
              <a:ext cx="225485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Path başına desteklenenler.</a:t>
              </a:r>
            </a:p>
          </p:txBody>
        </p:sp>
        <p:sp>
          <p:nvSpPr>
            <p:cNvPr id="30" name="Rectangle 30"/>
            <p:cNvSpPr/>
            <p:nvPr/>
          </p:nvSpPr>
          <p:spPr>
            <a:xfrm>
              <a:off x="6210300" y="2381250"/>
              <a:ext cx="2571750" cy="1428750"/>
            </a:xfrm>
            <a:prstGeom prst="roundRect">
              <a:avLst>
                <a:gd name="adj" fmla="val 6667"/>
              </a:avLst>
            </a:prstGeom>
            <a:solidFill>
              <a:srgbClr val="FFFFFF"/>
            </a:solidFill>
            <a:ln w="14288">
              <a:solidFill>
                <a:srgbClr val="B8CBD3"/>
              </a:solidFill>
            </a:ln>
          </p:spPr>
        </p:sp>
        <p:sp>
          <p:nvSpPr>
            <p:cNvPr id="31" name="TextBox 31"/>
            <p:cNvSpPr txBox="1"/>
            <p:nvPr/>
          </p:nvSpPr>
          <p:spPr>
            <a:xfrm>
              <a:off x="6429756" y="2586990"/>
              <a:ext cx="253330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İstek/yanıt şeması</a:t>
              </a:r>
            </a:p>
          </p:txBody>
        </p:sp>
        <p:sp>
          <p:nvSpPr>
            <p:cNvPr id="32" name="TextBox 32"/>
            <p:cNvSpPr txBox="1"/>
            <p:nvPr/>
          </p:nvSpPr>
          <p:spPr>
            <a:xfrm>
              <a:off x="6432804" y="2937510"/>
              <a:ext cx="177826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Alan adları ve türleri;</a:t>
              </a:r>
            </a:p>
          </p:txBody>
        </p:sp>
        <p:sp>
          <p:nvSpPr>
            <p:cNvPr id="33" name="TextBox 33"/>
            <p:cNvSpPr txBox="1"/>
            <p:nvPr/>
          </p:nvSpPr>
          <p:spPr>
            <a:xfrm>
              <a:off x="6432804" y="3166110"/>
              <a:ext cx="216880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`required` zorunlu alanlar.</a:t>
              </a:r>
            </a:p>
          </p:txBody>
        </p:sp>
        <p:sp>
          <p:nvSpPr>
            <p:cNvPr id="34" name="Rectangle 34"/>
            <p:cNvSpPr/>
            <p:nvPr/>
          </p:nvSpPr>
          <p:spPr>
            <a:xfrm>
              <a:off x="9010650" y="2381250"/>
              <a:ext cx="2571750" cy="1428750"/>
            </a:xfrm>
            <a:prstGeom prst="roundRect">
              <a:avLst>
                <a:gd name="adj" fmla="val 6667"/>
              </a:avLst>
            </a:prstGeom>
            <a:solidFill>
              <a:srgbClr val="EAF4F6"/>
            </a:solidFill>
            <a:ln w="14288">
              <a:solidFill>
                <a:srgbClr val="00A6A6"/>
              </a:solidFill>
            </a:ln>
          </p:spPr>
        </p:sp>
        <p:sp>
          <p:nvSpPr>
            <p:cNvPr id="35" name="TextBox 35"/>
            <p:cNvSpPr txBox="1"/>
            <p:nvPr/>
          </p:nvSpPr>
          <p:spPr>
            <a:xfrm>
              <a:off x="9230106" y="2586990"/>
              <a:ext cx="176936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Durum kodları</a:t>
              </a:r>
            </a:p>
          </p:txBody>
        </p:sp>
        <p:sp>
          <p:nvSpPr>
            <p:cNvPr id="36" name="TextBox 36"/>
            <p:cNvSpPr txBox="1"/>
            <p:nvPr/>
          </p:nvSpPr>
          <p:spPr>
            <a:xfrm>
              <a:off x="9233154" y="2937510"/>
              <a:ext cx="216072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200 başarı, 401/400 hata —</a:t>
              </a:r>
            </a:p>
          </p:txBody>
        </p:sp>
        <p:sp>
          <p:nvSpPr>
            <p:cNvPr id="37" name="TextBox 37"/>
            <p:cNvSpPr txBox="1"/>
            <p:nvPr/>
          </p:nvSpPr>
          <p:spPr>
            <a:xfrm>
              <a:off x="9233154" y="3166110"/>
              <a:ext cx="198302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her biri kendi şemasıyla.</a:t>
              </a:r>
            </a:p>
          </p:txBody>
        </p:sp>
      </p:grpSp>
      <p:grpSp>
        <p:nvGrpSpPr>
          <p:cNvPr id="45" name="theory-note"/>
          <p:cNvGrpSpPr/>
          <p:nvPr/>
        </p:nvGrpSpPr>
        <p:grpSpPr>
          <a:xfrm>
            <a:off x="609600" y="4038600"/>
            <a:ext cx="10972800" cy="1547718"/>
            <a:chOff x="609600" y="4038600"/>
            <a:chExt cx="10972800" cy="1547718"/>
          </a:xfrm>
        </p:grpSpPr>
        <p:sp>
          <p:nvSpPr>
            <p:cNvPr id="39" name="Rectangle 39"/>
            <p:cNvSpPr/>
            <p:nvPr/>
          </p:nvSpPr>
          <p:spPr>
            <a:xfrm>
              <a:off x="609600" y="4038600"/>
              <a:ext cx="10972800" cy="1485900"/>
            </a:xfrm>
            <a:prstGeom prst="roundRect">
              <a:avLst>
                <a:gd name="adj" fmla="val 5128"/>
              </a:avLst>
            </a:prstGeom>
            <a:solidFill>
              <a:srgbClr val="EAF4F6"/>
            </a:solidFill>
            <a:ln>
              <a:noFill/>
            </a:ln>
          </p:spPr>
        </p:sp>
        <p:sp>
          <p:nvSpPr>
            <p:cNvPr id="40" name="TextBox 40"/>
            <p:cNvSpPr txBox="1"/>
            <p:nvPr/>
          </p:nvSpPr>
          <p:spPr>
            <a:xfrm>
              <a:off x="906399" y="4192429"/>
              <a:ext cx="17880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Derinlemesine</a:t>
              </a:r>
            </a:p>
          </p:txBody>
        </p:sp>
        <p:sp>
          <p:nvSpPr>
            <p:cNvPr id="41" name="TextBox 41"/>
            <p:cNvSpPr txBox="1"/>
            <p:nvPr/>
          </p:nvSpPr>
          <p:spPr>
            <a:xfrm>
              <a:off x="906399" y="4478179"/>
              <a:ext cx="866866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OpenAPI'nin JSON Schema'ya dayanan tanımları, TypeScript'in derleme zamanında</a:t>
              </a:r>
            </a:p>
          </p:txBody>
        </p:sp>
        <p:sp>
          <p:nvSpPr>
            <p:cNvPr id="42" name="TextBox 42"/>
            <p:cNvSpPr txBox="1"/>
            <p:nvPr/>
          </p:nvSpPr>
          <p:spPr>
            <a:xfrm>
              <a:off x="906399" y="4744879"/>
              <a:ext cx="870478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yaptığı yapısal tipleme denetimini, çalışma zamanında ve dil bağımsız olarak ifade</a:t>
              </a:r>
            </a:p>
          </p:txBody>
        </p:sp>
        <p:sp>
          <p:nvSpPr>
            <p:cNvPr id="43" name="TextBox 43"/>
            <p:cNvSpPr txBox="1"/>
            <p:nvPr/>
          </p:nvSpPr>
          <p:spPr>
            <a:xfrm>
              <a:off x="906399" y="5011579"/>
              <a:ext cx="850922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eder. Sözleşmenin makine tarafından işlenebilir olması, istemci SDK'larının veya</a:t>
              </a:r>
            </a:p>
          </p:txBody>
        </p:sp>
        <p:sp>
          <p:nvSpPr>
            <p:cNvPr id="44" name="TextBox 44"/>
            <p:cNvSpPr txBox="1"/>
            <p:nvPr/>
          </p:nvSpPr>
          <p:spPr>
            <a:xfrm>
              <a:off x="906399" y="5278279"/>
              <a:ext cx="854525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doğrulama katmanlarının otomatik türetilmesini (code generation) mümkün kılar.</a:t>
              </a:r>
            </a:p>
          </p:txBody>
        </p:sp>
      </p:grpSp>
      <p:grpSp>
        <p:nvGrpSpPr>
          <p:cNvPr id="47" name="common-error"/>
          <p:cNvGrpSpPr/>
          <p:nvPr/>
        </p:nvGrpSpPr>
        <p:grpSpPr>
          <a:xfrm>
            <a:off x="601599" y="5754529"/>
            <a:ext cx="10726542" cy="308039"/>
            <a:chOff x="601599" y="5754529"/>
            <a:chExt cx="10726542" cy="308039"/>
          </a:xfrm>
        </p:grpSpPr>
        <p:sp>
          <p:nvSpPr>
            <p:cNvPr id="46" name="TextBox 46"/>
            <p:cNvSpPr txBox="1"/>
            <p:nvPr/>
          </p:nvSpPr>
          <p:spPr>
            <a:xfrm>
              <a:off x="601599" y="5754529"/>
              <a:ext cx="10726542" cy="308039"/>
            </a:xfrm>
            <a:prstGeom prst="rect">
              <a:avLst/>
            </a:prstGeom>
            <a:noFill/>
            <a:ln>
              <a:noFill/>
            </a:ln>
          </p:spPr>
          <p:txBody>
            <a:bodyPr wrap="none" lIns="0" tIns="0" rIns="0" bIns="0" anchor="t" anchorCtr="0">
              <a:spAutoFit/>
            </a:bodyPr>
            <a:lstStyle/>
            <a:p>
              <a:pPr algn="l"/>
              <a:r>
                <a:rPr lang="tr-TR" sz="1580" b="1" dirty="0">
                  <a:solidFill>
                    <a:srgbClr val="9E2B25"/>
                  </a:solidFill>
                  <a:latin typeface="+mn-lt"/>
                  <a:ea typeface="+mn-ea"/>
                  <a:cs typeface="+mn-cs"/>
                </a:rPr>
                <a:t>Yaygın hata:</a:t>
              </a:r>
              <a:r>
                <a:rPr lang="tr-TR" sz="1580" dirty="0">
                  <a:solidFill>
                    <a:srgbClr val="172B3A"/>
                  </a:solidFill>
                  <a:latin typeface="+mn-lt"/>
                  <a:ea typeface="+mn-ea"/>
                  <a:cs typeface="+mn-cs"/>
                </a:rPr>
                <a:t xml:space="preserve"> yalnızca başarı durumunu (200) belgeleyip hata durumlarını (400, 401) eksik bırakmak.</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10720411" cy="668845"/>
            <a:chOff x="609600" y="171450"/>
            <a:chExt cx="1072041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100300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13.2: Login endpoint'inin OpenAPI path tanımı</a:t>
              </a:r>
            </a:p>
          </p:txBody>
        </p:sp>
      </p:grpSp>
      <p:grpSp>
        <p:nvGrpSpPr>
          <p:cNvPr id="15" name="path-node"/>
          <p:cNvGrpSpPr/>
          <p:nvPr/>
        </p:nvGrpSpPr>
        <p:grpSpPr>
          <a:xfrm>
            <a:off x="3714750" y="1143000"/>
            <a:ext cx="4762500" cy="533400"/>
            <a:chOff x="3714750" y="1143000"/>
            <a:chExt cx="4762500" cy="533400"/>
          </a:xfrm>
        </p:grpSpPr>
        <p:sp>
          <p:nvSpPr>
            <p:cNvPr id="13" name="Rectangle 13"/>
            <p:cNvSpPr/>
            <p:nvPr/>
          </p:nvSpPr>
          <p:spPr>
            <a:xfrm>
              <a:off x="3714750" y="1143000"/>
              <a:ext cx="4762500" cy="533400"/>
            </a:xfrm>
            <a:prstGeom prst="roundRect">
              <a:avLst>
                <a:gd name="adj" fmla="val 50000"/>
              </a:avLst>
            </a:prstGeom>
            <a:solidFill>
              <a:srgbClr val="12355B"/>
            </a:solidFill>
            <a:ln>
              <a:noFill/>
            </a:ln>
          </p:spPr>
        </p:sp>
        <p:sp>
          <p:nvSpPr>
            <p:cNvPr id="14" name="TextBox 14"/>
            <p:cNvSpPr txBox="1"/>
            <p:nvPr/>
          </p:nvSpPr>
          <p:spPr>
            <a:xfrm>
              <a:off x="4903482" y="1282065"/>
              <a:ext cx="2385037"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Consolas"/>
                  <a:ea typeface="Consolas"/>
                  <a:cs typeface="Consolas"/>
                </a:rPr>
                <a:t>POST /auth/login</a:t>
              </a:r>
            </a:p>
          </p:txBody>
        </p:sp>
      </p:grpSp>
      <p:sp>
        <p:nvSpPr>
          <p:cNvPr id="16" name="Line 16"/>
          <p:cNvSpPr/>
          <p:nvPr/>
        </p:nvSpPr>
        <p:spPr>
          <a:xfrm flipH="1">
            <a:off x="3905250" y="1676400"/>
            <a:ext cx="1619250" cy="438150"/>
          </a:xfrm>
          <a:prstGeom prst="line">
            <a:avLst/>
          </a:prstGeom>
          <a:noFill/>
          <a:ln w="19050">
            <a:solidFill>
              <a:srgbClr val="52616B"/>
            </a:solidFill>
            <a:tailEnd type="arrow" w="lg" len="lg"/>
          </a:ln>
        </p:spPr>
      </p:sp>
      <p:sp>
        <p:nvSpPr>
          <p:cNvPr id="17" name="Line 17"/>
          <p:cNvSpPr/>
          <p:nvPr/>
        </p:nvSpPr>
        <p:spPr>
          <a:xfrm>
            <a:off x="6667500" y="1676400"/>
            <a:ext cx="1619250" cy="438150"/>
          </a:xfrm>
          <a:prstGeom prst="line">
            <a:avLst/>
          </a:prstGeom>
          <a:noFill/>
          <a:ln w="19050">
            <a:solidFill>
              <a:srgbClr val="52616B"/>
            </a:solidFill>
            <a:tailEnd type="arrow" w="lg" len="lg"/>
          </a:ln>
        </p:spPr>
      </p:sp>
      <p:grpSp>
        <p:nvGrpSpPr>
          <p:cNvPr id="25" name="request-box"/>
          <p:cNvGrpSpPr/>
          <p:nvPr/>
        </p:nvGrpSpPr>
        <p:grpSpPr>
          <a:xfrm>
            <a:off x="1333500" y="2152650"/>
            <a:ext cx="4513293" cy="2000250"/>
            <a:chOff x="1333500" y="2152650"/>
            <a:chExt cx="4513293" cy="2000250"/>
          </a:xfrm>
        </p:grpSpPr>
        <p:sp>
          <p:nvSpPr>
            <p:cNvPr id="18" name="Rectangle 18"/>
            <p:cNvSpPr/>
            <p:nvPr/>
          </p:nvSpPr>
          <p:spPr>
            <a:xfrm>
              <a:off x="1333500" y="2152650"/>
              <a:ext cx="4381500" cy="2000250"/>
            </a:xfrm>
            <a:prstGeom prst="roundRect">
              <a:avLst>
                <a:gd name="adj" fmla="val 4762"/>
              </a:avLst>
            </a:prstGeom>
            <a:solidFill>
              <a:srgbClr val="FFFFFF"/>
            </a:solidFill>
            <a:ln w="14288">
              <a:solidFill>
                <a:srgbClr val="2E86AB"/>
              </a:solidFill>
            </a:ln>
          </p:spPr>
        </p:sp>
        <p:sp>
          <p:nvSpPr>
            <p:cNvPr id="19" name="TextBox 19"/>
            <p:cNvSpPr txBox="1"/>
            <p:nvPr/>
          </p:nvSpPr>
          <p:spPr>
            <a:xfrm>
              <a:off x="1554099" y="2325529"/>
              <a:ext cx="24916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requestBody (zorunlu)</a:t>
              </a:r>
            </a:p>
          </p:txBody>
        </p:sp>
        <p:sp>
          <p:nvSpPr>
            <p:cNvPr id="20" name="Line 20"/>
            <p:cNvSpPr/>
            <p:nvPr/>
          </p:nvSpPr>
          <p:spPr>
            <a:xfrm>
              <a:off x="1562100" y="2628900"/>
              <a:ext cx="3924300" cy="9525"/>
            </a:xfrm>
            <a:custGeom>
              <a:avLst/>
              <a:gdLst/>
              <a:ahLst/>
              <a:cxnLst/>
              <a:rect l="l" t="t" r="r" b="b"/>
              <a:pathLst>
                <a:path w="3924300" h="9525">
                  <a:moveTo>
                    <a:pt x="0" y="0"/>
                  </a:moveTo>
                  <a:lnTo>
                    <a:pt x="3924300" y="0"/>
                  </a:lnTo>
                </a:path>
              </a:pathLst>
            </a:custGeom>
            <a:noFill/>
            <a:ln w="9525">
              <a:solidFill>
                <a:srgbClr val="B8CBD3"/>
              </a:solidFill>
            </a:ln>
          </p:spPr>
        </p:sp>
        <p:sp>
          <p:nvSpPr>
            <p:cNvPr id="21" name="TextBox 21"/>
            <p:cNvSpPr txBox="1"/>
            <p:nvPr/>
          </p:nvSpPr>
          <p:spPr>
            <a:xfrm>
              <a:off x="1555242" y="2787968"/>
              <a:ext cx="220141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Consolas"/>
                  <a:ea typeface="Consolas"/>
                  <a:cs typeface="Consolas"/>
                </a:rPr>
                <a:t>kullaniciAdi: string</a:t>
              </a:r>
            </a:p>
          </p:txBody>
        </p:sp>
        <p:sp>
          <p:nvSpPr>
            <p:cNvPr id="22" name="TextBox 22"/>
            <p:cNvSpPr txBox="1"/>
            <p:nvPr/>
          </p:nvSpPr>
          <p:spPr>
            <a:xfrm>
              <a:off x="1555242" y="3073718"/>
              <a:ext cx="154030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Consolas"/>
                  <a:ea typeface="Consolas"/>
                  <a:cs typeface="Consolas"/>
                </a:rPr>
                <a:t>parola: string</a:t>
              </a:r>
            </a:p>
          </p:txBody>
        </p:sp>
        <p:sp>
          <p:nvSpPr>
            <p:cNvPr id="23" name="TextBox 23"/>
            <p:cNvSpPr txBox="1"/>
            <p:nvPr/>
          </p:nvSpPr>
          <p:spPr>
            <a:xfrm>
              <a:off x="1556004" y="3470910"/>
              <a:ext cx="32188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`required` alanı bu ikisini zorunlu kılar;</a:t>
              </a:r>
            </a:p>
          </p:txBody>
        </p:sp>
        <p:sp>
          <p:nvSpPr>
            <p:cNvPr id="24" name="TextBox 24"/>
            <p:cNvSpPr txBox="1"/>
            <p:nvPr/>
          </p:nvSpPr>
          <p:spPr>
            <a:xfrm>
              <a:off x="1556004" y="3680460"/>
              <a:ext cx="42907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doğrulama mantığıyla (Bölüm 11) tutarlı olmalı.</a:t>
              </a:r>
            </a:p>
          </p:txBody>
        </p:sp>
      </p:grpSp>
      <p:grpSp>
        <p:nvGrpSpPr>
          <p:cNvPr id="32" name="response-box"/>
          <p:cNvGrpSpPr/>
          <p:nvPr/>
        </p:nvGrpSpPr>
        <p:grpSpPr>
          <a:xfrm>
            <a:off x="6477000" y="2152650"/>
            <a:ext cx="4381500" cy="2000250"/>
            <a:chOff x="6477000" y="2152650"/>
            <a:chExt cx="4381500" cy="2000250"/>
          </a:xfrm>
        </p:grpSpPr>
        <p:sp>
          <p:nvSpPr>
            <p:cNvPr id="26" name="Rectangle 26"/>
            <p:cNvSpPr/>
            <p:nvPr/>
          </p:nvSpPr>
          <p:spPr>
            <a:xfrm>
              <a:off x="6477000" y="2152650"/>
              <a:ext cx="4381500" cy="876300"/>
            </a:xfrm>
            <a:prstGeom prst="roundRect">
              <a:avLst>
                <a:gd name="adj" fmla="val 10870"/>
              </a:avLst>
            </a:prstGeom>
            <a:solidFill>
              <a:srgbClr val="EAF4F6"/>
            </a:solidFill>
            <a:ln w="14288">
              <a:solidFill>
                <a:srgbClr val="00A6A6"/>
              </a:solidFill>
            </a:ln>
          </p:spPr>
        </p:sp>
        <p:sp>
          <p:nvSpPr>
            <p:cNvPr id="27" name="TextBox 27"/>
            <p:cNvSpPr txBox="1"/>
            <p:nvPr/>
          </p:nvSpPr>
          <p:spPr>
            <a:xfrm>
              <a:off x="6697599" y="2287429"/>
              <a:ext cx="214691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200 · Giriş başarılı</a:t>
              </a:r>
            </a:p>
          </p:txBody>
        </p:sp>
        <p:sp>
          <p:nvSpPr>
            <p:cNvPr id="28" name="TextBox 28"/>
            <p:cNvSpPr txBox="1"/>
            <p:nvPr/>
          </p:nvSpPr>
          <p:spPr>
            <a:xfrm>
              <a:off x="6698742" y="2578418"/>
              <a:ext cx="18674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Consolas"/>
                  <a:ea typeface="Consolas"/>
                  <a:cs typeface="Consolas"/>
                </a:rPr>
                <a:t>{ token: string }</a:t>
              </a:r>
            </a:p>
          </p:txBody>
        </p:sp>
        <p:sp>
          <p:nvSpPr>
            <p:cNvPr id="29" name="Rectangle 29"/>
            <p:cNvSpPr/>
            <p:nvPr/>
          </p:nvSpPr>
          <p:spPr>
            <a:xfrm>
              <a:off x="6477000" y="3276600"/>
              <a:ext cx="4381500" cy="876300"/>
            </a:xfrm>
            <a:prstGeom prst="roundRect">
              <a:avLst>
                <a:gd name="adj" fmla="val 10870"/>
              </a:avLst>
            </a:prstGeom>
            <a:solidFill>
              <a:srgbClr val="FFFFFF"/>
            </a:solidFill>
            <a:ln w="14288">
              <a:solidFill>
                <a:srgbClr val="B8CBD3"/>
              </a:solidFill>
            </a:ln>
          </p:spPr>
        </p:sp>
        <p:sp>
          <p:nvSpPr>
            <p:cNvPr id="30" name="TextBox 30"/>
            <p:cNvSpPr txBox="1"/>
            <p:nvPr/>
          </p:nvSpPr>
          <p:spPr>
            <a:xfrm>
              <a:off x="6697599" y="3411379"/>
              <a:ext cx="201305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401 · Kimlik hatalı</a:t>
              </a:r>
            </a:p>
          </p:txBody>
        </p:sp>
        <p:sp>
          <p:nvSpPr>
            <p:cNvPr id="31" name="TextBox 31"/>
            <p:cNvSpPr txBox="1"/>
            <p:nvPr/>
          </p:nvSpPr>
          <p:spPr>
            <a:xfrm>
              <a:off x="6698742" y="3702368"/>
              <a:ext cx="18674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Consolas"/>
                  <a:ea typeface="Consolas"/>
                  <a:cs typeface="Consolas"/>
                </a:rPr>
                <a:t>{ mesaj: string }</a:t>
              </a:r>
            </a:p>
          </p:txBody>
        </p:sp>
      </p:grpSp>
      <p:grpSp>
        <p:nvGrpSpPr>
          <p:cNvPr id="38" name="critical-lines"/>
          <p:cNvGrpSpPr/>
          <p:nvPr/>
        </p:nvGrpSpPr>
        <p:grpSpPr>
          <a:xfrm>
            <a:off x="609600" y="4476750"/>
            <a:ext cx="10972800" cy="1238250"/>
            <a:chOff x="609600" y="4476750"/>
            <a:chExt cx="10972800" cy="1238250"/>
          </a:xfrm>
        </p:grpSpPr>
        <p:sp>
          <p:nvSpPr>
            <p:cNvPr id="33" name="Rectangle 33"/>
            <p:cNvSpPr/>
            <p:nvPr/>
          </p:nvSpPr>
          <p:spPr>
            <a:xfrm>
              <a:off x="609600" y="4476750"/>
              <a:ext cx="10972800" cy="1238250"/>
            </a:xfrm>
            <a:prstGeom prst="roundRect">
              <a:avLst>
                <a:gd name="adj" fmla="val 6154"/>
              </a:avLst>
            </a:prstGeom>
            <a:solidFill>
              <a:srgbClr val="FFFFFF"/>
            </a:solidFill>
            <a:ln w="14288">
              <a:solidFill>
                <a:srgbClr val="B8CBD3"/>
              </a:solidFill>
            </a:ln>
          </p:spPr>
        </p:sp>
        <p:sp>
          <p:nvSpPr>
            <p:cNvPr id="34" name="TextBox 34"/>
            <p:cNvSpPr txBox="1"/>
            <p:nvPr/>
          </p:nvSpPr>
          <p:spPr>
            <a:xfrm>
              <a:off x="906399" y="4611529"/>
              <a:ext cx="1641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Kritik satırlar</a:t>
              </a:r>
            </a:p>
          </p:txBody>
        </p:sp>
        <p:sp>
          <p:nvSpPr>
            <p:cNvPr id="35" name="TextBox 35"/>
            <p:cNvSpPr txBox="1"/>
            <p:nvPr/>
          </p:nvSpPr>
          <p:spPr>
            <a:xfrm>
              <a:off x="907542" y="4921568"/>
              <a:ext cx="945245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 `required: ["kullaniciAdi", "parola"]`, zorunlu alanları gerçek doğrulama mantığıyla tutarlı belgeler.</a:t>
              </a:r>
            </a:p>
          </p:txBody>
        </p:sp>
        <p:sp>
          <p:nvSpPr>
            <p:cNvPr id="36" name="TextBox 36"/>
            <p:cNvSpPr txBox="1"/>
            <p:nvPr/>
          </p:nvSpPr>
          <p:spPr>
            <a:xfrm>
              <a:off x="907542" y="5169218"/>
              <a:ext cx="831001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 `responses`, hem başarılı (200) hem hatalı (401) durumun şemasını ayrı ayrı tanımlar.</a:t>
              </a:r>
            </a:p>
          </p:txBody>
        </p:sp>
        <p:sp>
          <p:nvSpPr>
            <p:cNvPr id="37" name="TextBox 37"/>
            <p:cNvSpPr txBox="1"/>
            <p:nvPr/>
          </p:nvSpPr>
          <p:spPr>
            <a:xfrm>
              <a:off x="907542" y="5416868"/>
              <a:ext cx="716589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3. TypeScript arayüzü, OpenAPI yapısının biçimini derleme zamanında denetler.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848639" cy="668845"/>
            <a:chOff x="609600" y="171450"/>
            <a:chExt cx="7848639"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715826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OpenAPI: ne zaman, hangi yaklaşım?</a:t>
              </a:r>
            </a:p>
          </p:txBody>
        </p:sp>
      </p:grpSp>
      <p:grpSp>
        <p:nvGrpSpPr>
          <p:cNvPr id="18" name="alt-header"/>
          <p:cNvGrpSpPr/>
          <p:nvPr/>
        </p:nvGrpSpPr>
        <p:grpSpPr>
          <a:xfrm>
            <a:off x="609600" y="1066800"/>
            <a:ext cx="10972800" cy="323850"/>
            <a:chOff x="609600" y="1066800"/>
            <a:chExt cx="10972800" cy="323850"/>
          </a:xfrm>
        </p:grpSpPr>
        <p:sp>
          <p:nvSpPr>
            <p:cNvPr id="13" name="Rectangle 13"/>
            <p:cNvSpPr/>
            <p:nvPr/>
          </p:nvSpPr>
          <p:spPr>
            <a:xfrm>
              <a:off x="609600" y="1066800"/>
              <a:ext cx="10972800" cy="323850"/>
            </a:xfrm>
            <a:prstGeom prst="rect">
              <a:avLst/>
            </a:prstGeom>
            <a:solidFill>
              <a:srgbClr val="12355B"/>
            </a:solidFill>
            <a:ln>
              <a:noFill/>
            </a:ln>
          </p:spPr>
        </p:sp>
        <p:sp>
          <p:nvSpPr>
            <p:cNvPr id="14" name="TextBox 14"/>
            <p:cNvSpPr txBox="1"/>
            <p:nvPr/>
          </p:nvSpPr>
          <p:spPr>
            <a:xfrm>
              <a:off x="756666" y="1163002"/>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YAKLAŞIM</a:t>
              </a:r>
            </a:p>
          </p:txBody>
        </p:sp>
        <p:sp>
          <p:nvSpPr>
            <p:cNvPr id="15" name="TextBox 15"/>
            <p:cNvSpPr txBox="1"/>
            <p:nvPr/>
          </p:nvSpPr>
          <p:spPr>
            <a:xfrm>
              <a:off x="3137916" y="1163002"/>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6" name="TextBox 16"/>
            <p:cNvSpPr txBox="1"/>
            <p:nvPr/>
          </p:nvSpPr>
          <p:spPr>
            <a:xfrm>
              <a:off x="5804916" y="1163002"/>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7" name="TextBox 17"/>
            <p:cNvSpPr txBox="1"/>
            <p:nvPr/>
          </p:nvSpPr>
          <p:spPr>
            <a:xfrm>
              <a:off x="8471916" y="1163002"/>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5" name="alt-row1"/>
          <p:cNvGrpSpPr/>
          <p:nvPr/>
        </p:nvGrpSpPr>
        <p:grpSpPr>
          <a:xfrm>
            <a:off x="609600" y="1390650"/>
            <a:ext cx="10972800" cy="733425"/>
            <a:chOff x="609600" y="1390650"/>
            <a:chExt cx="10972800" cy="733425"/>
          </a:xfrm>
        </p:grpSpPr>
        <p:sp>
          <p:nvSpPr>
            <p:cNvPr id="19" name="Rectangle 19"/>
            <p:cNvSpPr/>
            <p:nvPr/>
          </p:nvSpPr>
          <p:spPr>
            <a:xfrm>
              <a:off x="609600" y="1390650"/>
              <a:ext cx="10972800" cy="723900"/>
            </a:xfrm>
            <a:prstGeom prst="rect">
              <a:avLst/>
            </a:prstGeom>
            <a:solidFill>
              <a:srgbClr val="EAF4F6"/>
            </a:solidFill>
            <a:ln>
              <a:noFill/>
            </a:ln>
          </p:spPr>
        </p:sp>
        <p:sp>
          <p:nvSpPr>
            <p:cNvPr id="20" name="TextBox 20"/>
            <p:cNvSpPr txBox="1"/>
            <p:nvPr/>
          </p:nvSpPr>
          <p:spPr>
            <a:xfrm>
              <a:off x="755904" y="1546860"/>
              <a:ext cx="1332357"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OpenAPI +</a:t>
              </a:r>
              <a:br/>
              <a:r>
                <a:rPr lang="tr-TR" sz="1200" b="1" dirty="0">
                  <a:solidFill>
                    <a:srgbClr val="12355B"/>
                  </a:solidFill>
                  <a:latin typeface="+mn-lt"/>
                  <a:ea typeface="+mn-ea"/>
                  <a:cs typeface="+mn-cs"/>
                </a:rPr>
                <a:t>otomatik testler</a:t>
              </a:r>
            </a:p>
          </p:txBody>
        </p:sp>
        <p:sp>
          <p:nvSpPr>
            <p:cNvPr id="21" name="TextBox 21"/>
            <p:cNvSpPr txBox="1"/>
            <p:nvPr/>
          </p:nvSpPr>
          <p:spPr>
            <a:xfrm>
              <a:off x="3137535" y="1612106"/>
              <a:ext cx="149783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Sözleşme ve davranış</a:t>
              </a:r>
              <a:br/>
              <a:r>
                <a:rPr lang="tr-TR" sz="1120" dirty="0">
                  <a:solidFill>
                    <a:srgbClr val="172B3A"/>
                  </a:solidFill>
                  <a:latin typeface="+mn-lt"/>
                  <a:ea typeface="+mn-ea"/>
                  <a:cs typeface="+mn-cs"/>
                </a:rPr>
                <a:t>birlikte doğrulanır.</a:t>
              </a:r>
            </a:p>
          </p:txBody>
        </p:sp>
        <p:sp>
          <p:nvSpPr>
            <p:cNvPr id="22" name="TextBox 22"/>
            <p:cNvSpPr txBox="1"/>
            <p:nvPr/>
          </p:nvSpPr>
          <p:spPr>
            <a:xfrm>
              <a:off x="5804535" y="1612106"/>
              <a:ext cx="164007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Kurulum ve bakım emeği</a:t>
              </a:r>
              <a:br/>
              <a:r>
                <a:rPr lang="tr-TR" sz="1120" dirty="0">
                  <a:solidFill>
                    <a:srgbClr val="172B3A"/>
                  </a:solidFill>
                  <a:latin typeface="+mn-lt"/>
                  <a:ea typeface="+mn-ea"/>
                  <a:cs typeface="+mn-cs"/>
                </a:rPr>
                <a:t>gerektirir.</a:t>
              </a:r>
            </a:p>
          </p:txBody>
        </p:sp>
        <p:sp>
          <p:nvSpPr>
            <p:cNvPr id="23" name="TextBox 23"/>
            <p:cNvSpPr txBox="1"/>
            <p:nvPr/>
          </p:nvSpPr>
          <p:spPr>
            <a:xfrm>
              <a:off x="8471535" y="1612106"/>
              <a:ext cx="168986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Ekip hâlinde geliştirilen,</a:t>
              </a:r>
              <a:br/>
              <a:r>
                <a:rPr lang="tr-TR" sz="1120" dirty="0">
                  <a:solidFill>
                    <a:srgbClr val="172B3A"/>
                  </a:solidFill>
                  <a:latin typeface="+mn-lt"/>
                  <a:ea typeface="+mn-ea"/>
                  <a:cs typeface="+mn-cs"/>
                </a:rPr>
                <a:t>uzun ömürlü API'ler.</a:t>
              </a:r>
            </a:p>
          </p:txBody>
        </p:sp>
        <p:sp>
          <p:nvSpPr>
            <p:cNvPr id="24" name="Line 24"/>
            <p:cNvSpPr/>
            <p:nvPr/>
          </p:nvSpPr>
          <p:spPr>
            <a:xfrm>
              <a:off x="609600" y="21145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alt-row2"/>
          <p:cNvGrpSpPr/>
          <p:nvPr/>
        </p:nvGrpSpPr>
        <p:grpSpPr>
          <a:xfrm>
            <a:off x="609600" y="2270760"/>
            <a:ext cx="10972800" cy="577215"/>
            <a:chOff x="609600" y="2270760"/>
            <a:chExt cx="10972800" cy="577215"/>
          </a:xfrm>
        </p:grpSpPr>
        <p:sp>
          <p:nvSpPr>
            <p:cNvPr id="26" name="TextBox 26"/>
            <p:cNvSpPr txBox="1"/>
            <p:nvPr/>
          </p:nvSpPr>
          <p:spPr>
            <a:xfrm>
              <a:off x="755904" y="2270760"/>
              <a:ext cx="1028319"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Elle yazılmış</a:t>
              </a:r>
              <a:br/>
              <a:r>
                <a:rPr lang="tr-TR" sz="1200" b="1" dirty="0">
                  <a:solidFill>
                    <a:srgbClr val="12355B"/>
                  </a:solidFill>
                  <a:latin typeface="+mn-lt"/>
                  <a:ea typeface="+mn-ea"/>
                  <a:cs typeface="+mn-cs"/>
                </a:rPr>
                <a:t>doküman</a:t>
              </a:r>
            </a:p>
          </p:txBody>
        </p:sp>
        <p:sp>
          <p:nvSpPr>
            <p:cNvPr id="27" name="TextBox 27"/>
            <p:cNvSpPr txBox="1"/>
            <p:nvPr/>
          </p:nvSpPr>
          <p:spPr>
            <a:xfrm>
              <a:off x="3137535" y="2336006"/>
              <a:ext cx="106425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Hızlı yazılır.</a:t>
              </a:r>
            </a:p>
          </p:txBody>
        </p:sp>
        <p:sp>
          <p:nvSpPr>
            <p:cNvPr id="28" name="TextBox 28"/>
            <p:cNvSpPr txBox="1"/>
            <p:nvPr/>
          </p:nvSpPr>
          <p:spPr>
            <a:xfrm>
              <a:off x="5804535" y="2336006"/>
              <a:ext cx="1540510"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Kodla senkron kalması</a:t>
              </a:r>
              <a:br/>
              <a:r>
                <a:rPr lang="tr-TR" sz="1120" dirty="0">
                  <a:solidFill>
                    <a:srgbClr val="172B3A"/>
                  </a:solidFill>
                  <a:latin typeface="+mn-lt"/>
                  <a:ea typeface="+mn-ea"/>
                  <a:cs typeface="+mn-cs"/>
                </a:rPr>
                <a:t>garanti değildir.</a:t>
              </a:r>
            </a:p>
          </p:txBody>
        </p:sp>
        <p:sp>
          <p:nvSpPr>
            <p:cNvPr id="29" name="TextBox 29"/>
            <p:cNvSpPr txBox="1"/>
            <p:nvPr/>
          </p:nvSpPr>
          <p:spPr>
            <a:xfrm>
              <a:off x="8471535" y="2336006"/>
              <a:ext cx="161874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Çok küçük, kısa ömürlü</a:t>
              </a:r>
              <a:br/>
              <a:r>
                <a:rPr lang="tr-TR" sz="1120" dirty="0">
                  <a:solidFill>
                    <a:srgbClr val="172B3A"/>
                  </a:solidFill>
                  <a:latin typeface="+mn-lt"/>
                  <a:ea typeface="+mn-ea"/>
                  <a:cs typeface="+mn-cs"/>
                </a:rPr>
                <a:t>projeler.</a:t>
              </a:r>
            </a:p>
          </p:txBody>
        </p:sp>
        <p:sp>
          <p:nvSpPr>
            <p:cNvPr id="30" name="Line 30"/>
            <p:cNvSpPr/>
            <p:nvPr/>
          </p:nvSpPr>
          <p:spPr>
            <a:xfrm>
              <a:off x="609600" y="2838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8" name="alt-row3"/>
          <p:cNvGrpSpPr/>
          <p:nvPr/>
        </p:nvGrpSpPr>
        <p:grpSpPr>
          <a:xfrm>
            <a:off x="609600" y="2838450"/>
            <a:ext cx="10972800" cy="733425"/>
            <a:chOff x="609600" y="2838450"/>
            <a:chExt cx="10972800" cy="733425"/>
          </a:xfrm>
        </p:grpSpPr>
        <p:sp>
          <p:nvSpPr>
            <p:cNvPr id="32" name="Rectangle 32"/>
            <p:cNvSpPr/>
            <p:nvPr/>
          </p:nvSpPr>
          <p:spPr>
            <a:xfrm>
              <a:off x="609600" y="2838450"/>
              <a:ext cx="10972800" cy="723900"/>
            </a:xfrm>
            <a:prstGeom prst="rect">
              <a:avLst/>
            </a:prstGeom>
            <a:solidFill>
              <a:srgbClr val="EAF4F6"/>
            </a:solidFill>
            <a:ln>
              <a:noFill/>
            </a:ln>
          </p:spPr>
        </p:sp>
        <p:sp>
          <p:nvSpPr>
            <p:cNvPr id="33" name="TextBox 33"/>
            <p:cNvSpPr txBox="1"/>
            <p:nvPr/>
          </p:nvSpPr>
          <p:spPr>
            <a:xfrm>
              <a:off x="755904" y="2994660"/>
              <a:ext cx="1388364"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Yalnızca testler,</a:t>
              </a:r>
              <a:br/>
              <a:r>
                <a:rPr lang="tr-TR" sz="1200" b="1" dirty="0">
                  <a:solidFill>
                    <a:srgbClr val="12355B"/>
                  </a:solidFill>
                  <a:latin typeface="+mn-lt"/>
                  <a:ea typeface="+mn-ea"/>
                  <a:cs typeface="+mn-cs"/>
                </a:rPr>
                <a:t>belgeleme yok</a:t>
              </a:r>
            </a:p>
          </p:txBody>
        </p:sp>
        <p:sp>
          <p:nvSpPr>
            <p:cNvPr id="34" name="TextBox 34"/>
            <p:cNvSpPr txBox="1"/>
            <p:nvPr/>
          </p:nvSpPr>
          <p:spPr>
            <a:xfrm>
              <a:off x="3137535" y="3059906"/>
              <a:ext cx="159954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Davranış doğrulanır.</a:t>
              </a:r>
            </a:p>
          </p:txBody>
        </p:sp>
        <p:sp>
          <p:nvSpPr>
            <p:cNvPr id="35" name="TextBox 35"/>
            <p:cNvSpPr txBox="1"/>
            <p:nvPr/>
          </p:nvSpPr>
          <p:spPr>
            <a:xfrm>
              <a:off x="5804535" y="3059906"/>
              <a:ext cx="1988566"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Yeni tüketici, API'yi anlamak</a:t>
              </a:r>
              <a:br/>
              <a:r>
                <a:rPr lang="tr-TR" sz="1120" dirty="0">
                  <a:solidFill>
                    <a:srgbClr val="172B3A"/>
                  </a:solidFill>
                  <a:latin typeface="+mn-lt"/>
                  <a:ea typeface="+mn-ea"/>
                  <a:cs typeface="+mn-cs"/>
                </a:rPr>
                <a:t>için koda bakmak zorunda.</a:t>
              </a:r>
            </a:p>
          </p:txBody>
        </p:sp>
        <p:sp>
          <p:nvSpPr>
            <p:cNvPr id="36" name="TextBox 36"/>
            <p:cNvSpPr txBox="1"/>
            <p:nvPr/>
          </p:nvSpPr>
          <p:spPr>
            <a:xfrm>
              <a:off x="8471535" y="3059906"/>
              <a:ext cx="2024126"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İç kullanım, tek ekip</a:t>
              </a:r>
              <a:br/>
              <a:r>
                <a:rPr lang="tr-TR" sz="1120" dirty="0">
                  <a:solidFill>
                    <a:srgbClr val="172B3A"/>
                  </a:solidFill>
                  <a:latin typeface="+mn-lt"/>
                  <a:ea typeface="+mn-ea"/>
                  <a:cs typeface="+mn-cs"/>
                </a:rPr>
                <a:t>tarafından tüketilen servis.</a:t>
              </a:r>
            </a:p>
          </p:txBody>
        </p:sp>
        <p:sp>
          <p:nvSpPr>
            <p:cNvPr id="37" name="Line 37"/>
            <p:cNvSpPr/>
            <p:nvPr/>
          </p:nvSpPr>
          <p:spPr>
            <a:xfrm>
              <a:off x="609600" y="35623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alt-row4"/>
          <p:cNvGrpSpPr/>
          <p:nvPr/>
        </p:nvGrpSpPr>
        <p:grpSpPr>
          <a:xfrm>
            <a:off x="755904" y="3718560"/>
            <a:ext cx="9782429" cy="456724"/>
            <a:chOff x="755904" y="3718560"/>
            <a:chExt cx="9782429" cy="456724"/>
          </a:xfrm>
        </p:grpSpPr>
        <p:sp>
          <p:nvSpPr>
            <p:cNvPr id="39" name="TextBox 39"/>
            <p:cNvSpPr txBox="1"/>
            <p:nvPr/>
          </p:nvSpPr>
          <p:spPr>
            <a:xfrm>
              <a:off x="755904" y="3718560"/>
              <a:ext cx="145090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Formal doğrulama</a:t>
              </a:r>
            </a:p>
          </p:txBody>
        </p:sp>
        <p:sp>
          <p:nvSpPr>
            <p:cNvPr id="40" name="TextBox 40"/>
            <p:cNvSpPr txBox="1"/>
            <p:nvPr/>
          </p:nvSpPr>
          <p:spPr>
            <a:xfrm>
              <a:off x="3137535" y="3783806"/>
              <a:ext cx="149783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Matematiksel kesinlik</a:t>
              </a:r>
              <a:br/>
              <a:r>
                <a:rPr lang="tr-TR" sz="1120" dirty="0">
                  <a:solidFill>
                    <a:srgbClr val="172B3A"/>
                  </a:solidFill>
                  <a:latin typeface="+mn-lt"/>
                  <a:ea typeface="+mn-ea"/>
                  <a:cs typeface="+mn-cs"/>
                </a:rPr>
                <a:t>sağlar.</a:t>
              </a:r>
            </a:p>
          </p:txBody>
        </p:sp>
        <p:sp>
          <p:nvSpPr>
            <p:cNvPr id="41" name="TextBox 41"/>
            <p:cNvSpPr txBox="1"/>
            <p:nvPr/>
          </p:nvSpPr>
          <p:spPr>
            <a:xfrm>
              <a:off x="5804535" y="3783806"/>
              <a:ext cx="173253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Kurulum maliyeti çok</a:t>
              </a:r>
              <a:br/>
              <a:r>
                <a:rPr lang="tr-TR" sz="1120" dirty="0">
                  <a:solidFill>
                    <a:srgbClr val="172B3A"/>
                  </a:solidFill>
                  <a:latin typeface="+mn-lt"/>
                  <a:ea typeface="+mn-ea"/>
                  <a:cs typeface="+mn-cs"/>
                </a:rPr>
                <a:t>yüksektir; kapsam dışı.</a:t>
              </a:r>
            </a:p>
          </p:txBody>
        </p:sp>
        <p:sp>
          <p:nvSpPr>
            <p:cNvPr id="42" name="TextBox 42"/>
            <p:cNvSpPr txBox="1"/>
            <p:nvPr/>
          </p:nvSpPr>
          <p:spPr>
            <a:xfrm>
              <a:off x="8471535" y="3783806"/>
              <a:ext cx="206679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Kritik güvenlik/uçuş</a:t>
              </a:r>
              <a:br/>
              <a:r>
                <a:rPr lang="tr-TR" sz="1120" dirty="0">
                  <a:solidFill>
                    <a:srgbClr val="172B3A"/>
                  </a:solidFill>
                  <a:latin typeface="+mn-lt"/>
                  <a:ea typeface="+mn-ea"/>
                  <a:cs typeface="+mn-cs"/>
                </a:rPr>
                <a:t>sistemleri gibi uç senaryolar.</a:t>
              </a:r>
            </a:p>
          </p:txBody>
        </p:sp>
      </p:grpSp>
      <p:grpSp>
        <p:nvGrpSpPr>
          <p:cNvPr id="52" name="common-errors"/>
          <p:cNvGrpSpPr/>
          <p:nvPr/>
        </p:nvGrpSpPr>
        <p:grpSpPr>
          <a:xfrm>
            <a:off x="609600" y="4610100"/>
            <a:ext cx="10972800" cy="1676400"/>
            <a:chOff x="609600" y="4610100"/>
            <a:chExt cx="10972800" cy="1676400"/>
          </a:xfrm>
        </p:grpSpPr>
        <p:sp>
          <p:nvSpPr>
            <p:cNvPr id="44" name="Rectangle 44"/>
            <p:cNvSpPr/>
            <p:nvPr/>
          </p:nvSpPr>
          <p:spPr>
            <a:xfrm>
              <a:off x="609600" y="4610100"/>
              <a:ext cx="10972800" cy="1676400"/>
            </a:xfrm>
            <a:prstGeom prst="roundRect">
              <a:avLst>
                <a:gd name="adj" fmla="val 4545"/>
              </a:avLst>
            </a:prstGeom>
            <a:solidFill>
              <a:srgbClr val="FFFFFF"/>
            </a:solidFill>
            <a:ln w="14288">
              <a:solidFill>
                <a:srgbClr val="B8CBD3"/>
              </a:solidFill>
            </a:ln>
          </p:spPr>
        </p:sp>
        <p:sp>
          <p:nvSpPr>
            <p:cNvPr id="45" name="TextBox 45"/>
            <p:cNvSpPr txBox="1"/>
            <p:nvPr/>
          </p:nvSpPr>
          <p:spPr>
            <a:xfrm>
              <a:off x="906399" y="47639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sp>
          <p:nvSpPr>
            <p:cNvPr id="46" name="Rectangle 46"/>
            <p:cNvSpPr/>
            <p:nvPr/>
          </p:nvSpPr>
          <p:spPr>
            <a:xfrm>
              <a:off x="914400" y="5105400"/>
              <a:ext cx="57150" cy="438150"/>
            </a:xfrm>
            <a:prstGeom prst="rect">
              <a:avLst/>
            </a:prstGeom>
            <a:solidFill>
              <a:srgbClr val="00A6A6"/>
            </a:solidFill>
            <a:ln>
              <a:noFill/>
            </a:ln>
          </p:spPr>
        </p:sp>
        <p:sp>
          <p:nvSpPr>
            <p:cNvPr id="47" name="TextBox 47"/>
            <p:cNvSpPr txBox="1"/>
            <p:nvPr/>
          </p:nvSpPr>
          <p:spPr>
            <a:xfrm>
              <a:off x="1115949" y="5106829"/>
              <a:ext cx="754556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`required` alanlarını şemada belirtmemek — zorunlu alanlar yalnızca kod</a:t>
              </a:r>
            </a:p>
          </p:txBody>
        </p:sp>
        <p:sp>
          <p:nvSpPr>
            <p:cNvPr id="48" name="TextBox 48"/>
            <p:cNvSpPr txBox="1"/>
            <p:nvPr/>
          </p:nvSpPr>
          <p:spPr>
            <a:xfrm>
              <a:off x="1115949" y="5354479"/>
              <a:ext cx="340856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okunarak anlaşılabilir hâle gelir.</a:t>
              </a:r>
            </a:p>
          </p:txBody>
        </p:sp>
        <p:sp>
          <p:nvSpPr>
            <p:cNvPr id="49" name="Rectangle 49"/>
            <p:cNvSpPr/>
            <p:nvPr/>
          </p:nvSpPr>
          <p:spPr>
            <a:xfrm>
              <a:off x="914400" y="5676900"/>
              <a:ext cx="57150" cy="438150"/>
            </a:xfrm>
            <a:prstGeom prst="rect">
              <a:avLst/>
            </a:prstGeom>
            <a:solidFill>
              <a:srgbClr val="00A6A6"/>
            </a:solidFill>
            <a:ln>
              <a:noFill/>
            </a:ln>
          </p:spPr>
        </p:sp>
        <p:sp>
          <p:nvSpPr>
            <p:cNvPr id="50" name="TextBox 50"/>
            <p:cNvSpPr txBox="1"/>
            <p:nvPr/>
          </p:nvSpPr>
          <p:spPr>
            <a:xfrm>
              <a:off x="1115949" y="5678329"/>
              <a:ext cx="776766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Örnek (`example`) değerler eklememek — Swagger UI üzerinden manuel test</a:t>
              </a:r>
            </a:p>
          </p:txBody>
        </p:sp>
        <p:sp>
          <p:nvSpPr>
            <p:cNvPr id="51" name="TextBox 51"/>
            <p:cNvSpPr txBox="1"/>
            <p:nvPr/>
          </p:nvSpPr>
          <p:spPr>
            <a:xfrm>
              <a:off x="1115949" y="5925979"/>
              <a:ext cx="255776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daha zahmetli hâle gelir.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653504" cy="668845"/>
            <a:chOff x="609600" y="171450"/>
            <a:chExt cx="8653504"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796313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Swagger UI ile interaktif dokümantasyon</a:t>
              </a:r>
            </a:p>
          </p:txBody>
        </p:sp>
      </p:grpSp>
      <p:grpSp>
        <p:nvGrpSpPr>
          <p:cNvPr id="16" name="icon-browser"/>
          <p:cNvGrpSpPr/>
          <p:nvPr/>
        </p:nvGrpSpPr>
        <p:grpSpPr>
          <a:xfrm>
            <a:off x="10388601" y="1339851"/>
            <a:ext cx="406405" cy="406405"/>
            <a:chOff x="10388601" y="1339851"/>
            <a:chExt cx="406405" cy="406405"/>
          </a:xfrm>
        </p:grpSpPr>
        <p:sp>
          <p:nvSpPr>
            <p:cNvPr id="13" name="Freeform 13"/>
            <p:cNvSpPr/>
            <p:nvPr/>
          </p:nvSpPr>
          <p:spPr>
            <a:xfrm>
              <a:off x="10388601" y="1441453"/>
              <a:ext cx="406405" cy="9525"/>
            </a:xfrm>
            <a:custGeom>
              <a:avLst/>
              <a:gdLst/>
              <a:ahLst/>
              <a:cxnLst/>
              <a:rect l="l" t="t" r="r" b="b"/>
              <a:pathLst>
                <a:path w="406405" h="9525">
                  <a:moveTo>
                    <a:pt x="0" y="0"/>
                  </a:moveTo>
                  <a:lnTo>
                    <a:pt x="406405" y="0"/>
                  </a:lnTo>
                </a:path>
              </a:pathLst>
            </a:custGeom>
            <a:noFill/>
            <a:ln w="19050" cap="rnd">
              <a:solidFill>
                <a:srgbClr val="00A6A6"/>
              </a:solidFill>
              <a:round/>
            </a:ln>
          </p:spPr>
        </p:sp>
        <p:sp>
          <p:nvSpPr>
            <p:cNvPr id="14" name="Freeform 14"/>
            <p:cNvSpPr/>
            <p:nvPr/>
          </p:nvSpPr>
          <p:spPr>
            <a:xfrm>
              <a:off x="10388601" y="1339851"/>
              <a:ext cx="406405" cy="406405"/>
            </a:xfrm>
            <a:custGeom>
              <a:avLst/>
              <a:gdLst/>
              <a:ahLst/>
              <a:cxnLst/>
              <a:rect l="l" t="t" r="r" b="b"/>
              <a:pathLst>
                <a:path w="406405" h="406405">
                  <a:moveTo>
                    <a:pt x="0" y="50801"/>
                  </a:moveTo>
                  <a:cubicBezTo>
                    <a:pt x="0" y="22744"/>
                    <a:pt x="22744" y="0"/>
                    <a:pt x="50801" y="0"/>
                  </a:cubicBezTo>
                  <a:lnTo>
                    <a:pt x="355604" y="0"/>
                  </a:lnTo>
                  <a:cubicBezTo>
                    <a:pt x="383661" y="0"/>
                    <a:pt x="406405" y="22744"/>
                    <a:pt x="406405" y="50801"/>
                  </a:cubicBezTo>
                  <a:lnTo>
                    <a:pt x="406405" y="355604"/>
                  </a:lnTo>
                  <a:cubicBezTo>
                    <a:pt x="406405" y="383661"/>
                    <a:pt x="383661" y="406405"/>
                    <a:pt x="355604" y="406405"/>
                  </a:cubicBezTo>
                  <a:lnTo>
                    <a:pt x="50801" y="406405"/>
                  </a:lnTo>
                  <a:cubicBezTo>
                    <a:pt x="22744" y="406405"/>
                    <a:pt x="0" y="383661"/>
                    <a:pt x="0" y="355604"/>
                  </a:cubicBezTo>
                  <a:lnTo>
                    <a:pt x="0" y="50801"/>
                  </a:lnTo>
                </a:path>
              </a:pathLst>
            </a:custGeom>
            <a:noFill/>
            <a:ln w="19050" cap="rnd">
              <a:solidFill>
                <a:srgbClr val="00A6A6"/>
              </a:solidFill>
              <a:round/>
            </a:ln>
          </p:spPr>
        </p:sp>
        <p:sp>
          <p:nvSpPr>
            <p:cNvPr id="15" name="Freeform 15"/>
            <p:cNvSpPr/>
            <p:nvPr/>
          </p:nvSpPr>
          <p:spPr>
            <a:xfrm>
              <a:off x="10490203" y="1339851"/>
              <a:ext cx="9525" cy="101601"/>
            </a:xfrm>
            <a:custGeom>
              <a:avLst/>
              <a:gdLst/>
              <a:ahLst/>
              <a:cxnLst/>
              <a:rect l="l" t="t" r="r" b="b"/>
              <a:pathLst>
                <a:path w="9525" h="101601">
                  <a:moveTo>
                    <a:pt x="0" y="0"/>
                  </a:moveTo>
                  <a:lnTo>
                    <a:pt x="0" y="101601"/>
                  </a:lnTo>
                </a:path>
              </a:pathLst>
            </a:custGeom>
            <a:noFill/>
            <a:ln w="19050" cap="rnd">
              <a:solidFill>
                <a:srgbClr val="00A6A6"/>
              </a:solidFill>
              <a:round/>
            </a:ln>
          </p:spPr>
        </p:sp>
      </p:grpSp>
      <p:grpSp>
        <p:nvGrpSpPr>
          <p:cNvPr id="20" name="definition-text"/>
          <p:cNvGrpSpPr/>
          <p:nvPr/>
        </p:nvGrpSpPr>
        <p:grpSpPr>
          <a:xfrm>
            <a:off x="600456" y="1215390"/>
            <a:ext cx="7950327" cy="961644"/>
            <a:chOff x="600456" y="1215390"/>
            <a:chExt cx="7950327" cy="961644"/>
          </a:xfrm>
        </p:grpSpPr>
        <p:sp>
          <p:nvSpPr>
            <p:cNvPr id="17" name="TextBox 17"/>
            <p:cNvSpPr txBox="1"/>
            <p:nvPr/>
          </p:nvSpPr>
          <p:spPr>
            <a:xfrm>
              <a:off x="600456" y="1215390"/>
              <a:ext cx="719658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OpenAPI belgesini alıp tarayıcıda interaktif, denenebilir bir</a:t>
              </a:r>
            </a:p>
          </p:txBody>
        </p:sp>
        <p:sp>
          <p:nvSpPr>
            <p:cNvPr id="18" name="TextBox 18"/>
            <p:cNvSpPr txBox="1"/>
            <p:nvPr/>
          </p:nvSpPr>
          <p:spPr>
            <a:xfrm>
              <a:off x="600456" y="1520190"/>
              <a:ext cx="771182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dokümantasyon sayfasına dönüştüren açık kaynaklı bir araçtır.</a:t>
              </a:r>
            </a:p>
          </p:txBody>
        </p:sp>
        <p:sp>
          <p:nvSpPr>
            <p:cNvPr id="19" name="TextBox 19"/>
            <p:cNvSpPr txBox="1"/>
            <p:nvPr/>
          </p:nvSpPr>
          <p:spPr>
            <a:xfrm>
              <a:off x="600456" y="1824990"/>
              <a:ext cx="7950327"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"Dene" (try it out) düğmesiyle sözleşme doğrudan çalıştırılabilir.</a:t>
              </a:r>
            </a:p>
          </p:txBody>
        </p:sp>
      </p:grpSp>
      <p:grpSp>
        <p:nvGrpSpPr>
          <p:cNvPr id="26" name="living-doc"/>
          <p:cNvGrpSpPr/>
          <p:nvPr/>
        </p:nvGrpSpPr>
        <p:grpSpPr>
          <a:xfrm>
            <a:off x="609600" y="2419350"/>
            <a:ext cx="10972800" cy="1238250"/>
            <a:chOff x="609600" y="2419350"/>
            <a:chExt cx="10972800" cy="1238250"/>
          </a:xfrm>
        </p:grpSpPr>
        <p:sp>
          <p:nvSpPr>
            <p:cNvPr id="21" name="Rectangle 21"/>
            <p:cNvSpPr/>
            <p:nvPr/>
          </p:nvSpPr>
          <p:spPr>
            <a:xfrm>
              <a:off x="609600" y="2419350"/>
              <a:ext cx="10972800" cy="1238250"/>
            </a:xfrm>
            <a:prstGeom prst="roundRect">
              <a:avLst>
                <a:gd name="adj" fmla="val 6154"/>
              </a:avLst>
            </a:prstGeom>
            <a:solidFill>
              <a:srgbClr val="EAF4F6"/>
            </a:solidFill>
            <a:ln>
              <a:noFill/>
            </a:ln>
          </p:spPr>
        </p:sp>
        <p:sp>
          <p:nvSpPr>
            <p:cNvPr id="22" name="TextBox 22"/>
            <p:cNvSpPr txBox="1"/>
            <p:nvPr/>
          </p:nvSpPr>
          <p:spPr>
            <a:xfrm>
              <a:off x="906399" y="2573179"/>
              <a:ext cx="42447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Derinlemesine: canlı dokümantasyon</a:t>
              </a:r>
            </a:p>
          </p:txBody>
        </p:sp>
        <p:sp>
          <p:nvSpPr>
            <p:cNvPr id="23" name="TextBox 23"/>
            <p:cNvSpPr txBox="1"/>
            <p:nvPr/>
          </p:nvSpPr>
          <p:spPr>
            <a:xfrm>
              <a:off x="906399" y="2858929"/>
              <a:ext cx="837133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Statik, elle yazılmış dokümanların aksine, Swagger UI doğrudan sistemin makine</a:t>
              </a:r>
            </a:p>
          </p:txBody>
        </p:sp>
        <p:sp>
          <p:nvSpPr>
            <p:cNvPr id="24" name="TextBox 24"/>
            <p:cNvSpPr txBox="1"/>
            <p:nvPr/>
          </p:nvSpPr>
          <p:spPr>
            <a:xfrm>
              <a:off x="906399" y="3125629"/>
              <a:ext cx="872605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tarafından okunabilir tanımından türetilir; bu, sistemle senkron kalma olasılığını</a:t>
              </a:r>
            </a:p>
          </p:txBody>
        </p:sp>
        <p:sp>
          <p:nvSpPr>
            <p:cNvPr id="25" name="TextBox 25"/>
            <p:cNvSpPr txBox="1"/>
            <p:nvPr/>
          </p:nvSpPr>
          <p:spPr>
            <a:xfrm>
              <a:off x="906399" y="3335179"/>
              <a:ext cx="924017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artırır — Cucumber/Gherkin'in "yürütülebilir spesifikasyon" fikriyle aynı köke dayanır.</a:t>
              </a:r>
            </a:p>
          </p:txBody>
        </p:sp>
      </p:grpSp>
      <p:grpSp>
        <p:nvGrpSpPr>
          <p:cNvPr id="33" name="security-warning"/>
          <p:cNvGrpSpPr/>
          <p:nvPr/>
        </p:nvGrpSpPr>
        <p:grpSpPr>
          <a:xfrm>
            <a:off x="609600" y="3848100"/>
            <a:ext cx="10972800" cy="1809750"/>
            <a:chOff x="609600" y="3848100"/>
            <a:chExt cx="10972800" cy="1809750"/>
          </a:xfrm>
        </p:grpSpPr>
        <p:sp>
          <p:nvSpPr>
            <p:cNvPr id="27" name="Rectangle 27"/>
            <p:cNvSpPr/>
            <p:nvPr/>
          </p:nvSpPr>
          <p:spPr>
            <a:xfrm>
              <a:off x="609600" y="3848100"/>
              <a:ext cx="10972800" cy="1809750"/>
            </a:xfrm>
            <a:prstGeom prst="roundRect">
              <a:avLst>
                <a:gd name="adj" fmla="val 5263"/>
              </a:avLst>
            </a:prstGeom>
            <a:solidFill>
              <a:srgbClr val="12355B"/>
            </a:solidFill>
            <a:ln>
              <a:noFill/>
            </a:ln>
          </p:spPr>
        </p:sp>
        <p:sp>
          <p:nvSpPr>
            <p:cNvPr id="28" name="TextBox 28"/>
            <p:cNvSpPr txBox="1"/>
            <p:nvPr/>
          </p:nvSpPr>
          <p:spPr>
            <a:xfrm>
              <a:off x="906399" y="4020979"/>
              <a:ext cx="2949212"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Dikkat: bilgi ifşası riski</a:t>
              </a:r>
            </a:p>
          </p:txBody>
        </p:sp>
        <p:sp>
          <p:nvSpPr>
            <p:cNvPr id="29" name="TextBox 29"/>
            <p:cNvSpPr txBox="1"/>
            <p:nvPr/>
          </p:nvSpPr>
          <p:spPr>
            <a:xfrm>
              <a:off x="906399" y="4325779"/>
              <a:ext cx="7332596"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Swagger UI üretim ortamında kimlik doğrulaması olmadan herkese açık</a:t>
              </a:r>
            </a:p>
          </p:txBody>
        </p:sp>
        <p:sp>
          <p:nvSpPr>
            <p:cNvPr id="30" name="TextBox 30"/>
            <p:cNvSpPr txBox="1"/>
            <p:nvPr/>
          </p:nvSpPr>
          <p:spPr>
            <a:xfrm>
              <a:off x="906399" y="4592479"/>
              <a:ext cx="800452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bırakılırsa, API'nin tam şeması (tüm endpoint'ler, parametre adları, hata</a:t>
              </a:r>
            </a:p>
          </p:txBody>
        </p:sp>
        <p:sp>
          <p:nvSpPr>
            <p:cNvPr id="31" name="TextBox 31"/>
            <p:cNvSpPr txBox="1"/>
            <p:nvPr/>
          </p:nvSpPr>
          <p:spPr>
            <a:xfrm>
              <a:off x="906399" y="4859179"/>
              <a:ext cx="7386043"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kodları) saldırgana normalde manuel keşifle elde etmesi gereken bilgiyi</a:t>
              </a:r>
            </a:p>
          </p:txBody>
        </p:sp>
        <p:sp>
          <p:nvSpPr>
            <p:cNvPr id="32" name="TextBox 32"/>
            <p:cNvSpPr txBox="1"/>
            <p:nvPr/>
          </p:nvSpPr>
          <p:spPr>
            <a:xfrm>
              <a:off x="906399" y="5125879"/>
              <a:ext cx="7811442"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hazır sunar — saldırı yüzeyi haritalama maliyeti saldırgan için sıfırlanır.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202444" cy="668845"/>
            <a:chOff x="609600" y="171450"/>
            <a:chExt cx="9202444"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851207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13.3: ortam bazlı korumalı Swagger UI</a:t>
              </a:r>
            </a:p>
          </p:txBody>
        </p:sp>
      </p:grpSp>
      <p:grpSp>
        <p:nvGrpSpPr>
          <p:cNvPr id="34" name="env-compare"/>
          <p:cNvGrpSpPr/>
          <p:nvPr/>
        </p:nvGrpSpPr>
        <p:grpSpPr>
          <a:xfrm>
            <a:off x="609600" y="1143000"/>
            <a:ext cx="10972800" cy="2476500"/>
            <a:chOff x="609600" y="1143000"/>
            <a:chExt cx="10972800" cy="2476500"/>
          </a:xfrm>
        </p:grpSpPr>
        <p:sp>
          <p:nvSpPr>
            <p:cNvPr id="13" name="Rectangle 13"/>
            <p:cNvSpPr/>
            <p:nvPr/>
          </p:nvSpPr>
          <p:spPr>
            <a:xfrm>
              <a:off x="609600" y="1143000"/>
              <a:ext cx="5295900" cy="2476500"/>
            </a:xfrm>
            <a:prstGeom prst="roundRect">
              <a:avLst>
                <a:gd name="adj" fmla="val 3846"/>
              </a:avLst>
            </a:prstGeom>
            <a:solidFill>
              <a:srgbClr val="FFFFFF"/>
            </a:solidFill>
            <a:ln w="14288">
              <a:solidFill>
                <a:srgbClr val="2E86AB"/>
              </a:solidFill>
            </a:ln>
          </p:spPr>
        </p:sp>
        <p:sp>
          <p:nvSpPr>
            <p:cNvPr id="14" name="TextBox 14"/>
            <p:cNvSpPr txBox="1"/>
            <p:nvPr/>
          </p:nvSpPr>
          <p:spPr>
            <a:xfrm>
              <a:off x="829056" y="1291590"/>
              <a:ext cx="22524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Geliştirme ortamı</a:t>
              </a:r>
            </a:p>
          </p:txBody>
        </p:sp>
        <p:sp>
          <p:nvSpPr>
            <p:cNvPr id="15" name="TextBox 15"/>
            <p:cNvSpPr txBox="1"/>
            <p:nvPr/>
          </p:nvSpPr>
          <p:spPr>
            <a:xfrm>
              <a:off x="832104" y="1642110"/>
              <a:ext cx="21529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NODE_ENV !== "production"</a:t>
              </a:r>
            </a:p>
          </p:txBody>
        </p:sp>
        <p:sp>
          <p:nvSpPr>
            <p:cNvPr id="16" name="Rectangle 16"/>
            <p:cNvSpPr/>
            <p:nvPr/>
          </p:nvSpPr>
          <p:spPr>
            <a:xfrm>
              <a:off x="838200" y="2000250"/>
              <a:ext cx="2095500" cy="533400"/>
            </a:xfrm>
            <a:prstGeom prst="roundRect">
              <a:avLst>
                <a:gd name="adj" fmla="val 14286"/>
              </a:avLst>
            </a:prstGeom>
            <a:solidFill>
              <a:srgbClr val="EAF4F6"/>
            </a:solidFill>
            <a:ln>
              <a:noFill/>
            </a:ln>
          </p:spPr>
        </p:sp>
        <p:sp>
          <p:nvSpPr>
            <p:cNvPr id="17" name="TextBox 17"/>
            <p:cNvSpPr txBox="1"/>
            <p:nvPr/>
          </p:nvSpPr>
          <p:spPr>
            <a:xfrm>
              <a:off x="1057969" y="2178368"/>
              <a:ext cx="1655962" cy="264033"/>
            </a:xfrm>
            <a:prstGeom prst="rect">
              <a:avLst/>
            </a:prstGeom>
            <a:noFill/>
            <a:ln>
              <a:noFill/>
            </a:ln>
          </p:spPr>
          <p:txBody>
            <a:bodyPr wrap="none" lIns="0" tIns="0" rIns="0" bIns="0" anchor="t" anchorCtr="0">
              <a:spAutoFit/>
            </a:bodyPr>
            <a:lstStyle/>
            <a:p>
              <a:pPr algn="ctr"/>
              <a:r>
                <a:rPr lang="tr-TR" sz="1350" dirty="0">
                  <a:solidFill>
                    <a:srgbClr val="12355B"/>
                  </a:solidFill>
                  <a:latin typeface="Consolas"/>
                  <a:ea typeface="Consolas"/>
                  <a:cs typeface="Consolas"/>
                </a:rPr>
                <a:t>swaggerUi.serve</a:t>
              </a:r>
            </a:p>
          </p:txBody>
        </p:sp>
        <p:sp>
          <p:nvSpPr>
            <p:cNvPr id="18" name="Line 18"/>
            <p:cNvSpPr/>
            <p:nvPr/>
          </p:nvSpPr>
          <p:spPr>
            <a:xfrm>
              <a:off x="2933700" y="2266950"/>
              <a:ext cx="495300" cy="1"/>
            </a:xfrm>
            <a:prstGeom prst="line">
              <a:avLst/>
            </a:prstGeom>
            <a:noFill/>
            <a:ln w="19050">
              <a:solidFill>
                <a:srgbClr val="52616B"/>
              </a:solidFill>
              <a:tailEnd type="arrow" w="lg" len="lg"/>
            </a:ln>
          </p:spPr>
        </p:sp>
        <p:sp>
          <p:nvSpPr>
            <p:cNvPr id="19" name="Rectangle 19"/>
            <p:cNvSpPr/>
            <p:nvPr/>
          </p:nvSpPr>
          <p:spPr>
            <a:xfrm>
              <a:off x="3429000" y="2000250"/>
              <a:ext cx="2095500" cy="533400"/>
            </a:xfrm>
            <a:prstGeom prst="roundRect">
              <a:avLst>
                <a:gd name="adj" fmla="val 14286"/>
              </a:avLst>
            </a:prstGeom>
            <a:solidFill>
              <a:srgbClr val="EAF4F6"/>
            </a:solidFill>
            <a:ln>
              <a:noFill/>
            </a:ln>
          </p:spPr>
        </p:sp>
        <p:sp>
          <p:nvSpPr>
            <p:cNvPr id="20" name="TextBox 20"/>
            <p:cNvSpPr txBox="1"/>
            <p:nvPr/>
          </p:nvSpPr>
          <p:spPr>
            <a:xfrm>
              <a:off x="3979202" y="2178368"/>
              <a:ext cx="995096" cy="264033"/>
            </a:xfrm>
            <a:prstGeom prst="rect">
              <a:avLst/>
            </a:prstGeom>
            <a:noFill/>
            <a:ln>
              <a:noFill/>
            </a:ln>
          </p:spPr>
          <p:txBody>
            <a:bodyPr wrap="none" lIns="0" tIns="0" rIns="0" bIns="0" anchor="t" anchorCtr="0">
              <a:spAutoFit/>
            </a:bodyPr>
            <a:lstStyle/>
            <a:p>
              <a:pPr algn="ctr"/>
              <a:r>
                <a:rPr lang="tr-TR" sz="1350" dirty="0">
                  <a:solidFill>
                    <a:srgbClr val="12355B"/>
                  </a:solidFill>
                  <a:latin typeface="Consolas"/>
                  <a:ea typeface="Consolas"/>
                  <a:cs typeface="Consolas"/>
                </a:rPr>
                <a:t>/api-docs</a:t>
              </a:r>
            </a:p>
          </p:txBody>
        </p:sp>
        <p:sp>
          <p:nvSpPr>
            <p:cNvPr id="21" name="TextBox 21"/>
            <p:cNvSpPr txBox="1"/>
            <p:nvPr/>
          </p:nvSpPr>
          <p:spPr>
            <a:xfrm>
              <a:off x="832104" y="2899410"/>
              <a:ext cx="39753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Herkese açık; ekip içi hızlı iterasyonu destekler.</a:t>
              </a:r>
            </a:p>
          </p:txBody>
        </p:sp>
        <p:sp>
          <p:nvSpPr>
            <p:cNvPr id="22" name="TextBox 22"/>
            <p:cNvSpPr txBox="1"/>
            <p:nvPr/>
          </p:nvSpPr>
          <p:spPr>
            <a:xfrm>
              <a:off x="832104" y="3128010"/>
              <a:ext cx="34987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Örnek veriler her zaman kurgusal olmalıdır.</a:t>
              </a:r>
            </a:p>
          </p:txBody>
        </p:sp>
        <p:sp>
          <p:nvSpPr>
            <p:cNvPr id="23" name="Line 23"/>
            <p:cNvSpPr/>
            <p:nvPr/>
          </p:nvSpPr>
          <p:spPr>
            <a:xfrm>
              <a:off x="6286500" y="1447800"/>
              <a:ext cx="914400" cy="1"/>
            </a:xfrm>
            <a:prstGeom prst="line">
              <a:avLst/>
            </a:prstGeom>
            <a:noFill/>
            <a:ln w="23812">
              <a:solidFill>
                <a:srgbClr val="00A6A6"/>
              </a:solidFill>
              <a:tailEnd type="arrow" w="lg" len="lg"/>
            </a:ln>
          </p:spPr>
        </p:sp>
        <p:sp>
          <p:nvSpPr>
            <p:cNvPr id="24" name="Rectangle 24"/>
            <p:cNvSpPr/>
            <p:nvPr/>
          </p:nvSpPr>
          <p:spPr>
            <a:xfrm>
              <a:off x="6286500" y="1143000"/>
              <a:ext cx="5295900" cy="2476500"/>
            </a:xfrm>
            <a:prstGeom prst="roundRect">
              <a:avLst>
                <a:gd name="adj" fmla="val 3846"/>
              </a:avLst>
            </a:prstGeom>
            <a:solidFill>
              <a:srgbClr val="12355B"/>
            </a:solidFill>
            <a:ln>
              <a:noFill/>
            </a:ln>
          </p:spPr>
        </p:sp>
        <p:sp>
          <p:nvSpPr>
            <p:cNvPr id="25" name="TextBox 25"/>
            <p:cNvSpPr txBox="1"/>
            <p:nvPr/>
          </p:nvSpPr>
          <p:spPr>
            <a:xfrm>
              <a:off x="6505956" y="1291590"/>
              <a:ext cx="1820493"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Üretim ortamı</a:t>
              </a:r>
            </a:p>
          </p:txBody>
        </p:sp>
        <p:sp>
          <p:nvSpPr>
            <p:cNvPr id="26" name="TextBox 26"/>
            <p:cNvSpPr txBox="1"/>
            <p:nvPr/>
          </p:nvSpPr>
          <p:spPr>
            <a:xfrm>
              <a:off x="6509004" y="1642110"/>
              <a:ext cx="2194273"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NODE_ENV === "production"</a:t>
              </a:r>
            </a:p>
          </p:txBody>
        </p:sp>
        <p:sp>
          <p:nvSpPr>
            <p:cNvPr id="27" name="Rectangle 27"/>
            <p:cNvSpPr/>
            <p:nvPr/>
          </p:nvSpPr>
          <p:spPr>
            <a:xfrm>
              <a:off x="6515100" y="2000250"/>
              <a:ext cx="1714500" cy="438150"/>
            </a:xfrm>
            <a:prstGeom prst="roundRect">
              <a:avLst>
                <a:gd name="adj" fmla="val 17391"/>
              </a:avLst>
            </a:prstGeom>
            <a:solidFill>
              <a:srgbClr val="00A6A6"/>
            </a:solidFill>
            <a:ln>
              <a:noFill/>
            </a:ln>
          </p:spPr>
        </p:sp>
        <p:sp>
          <p:nvSpPr>
            <p:cNvPr id="28" name="TextBox 28"/>
            <p:cNvSpPr txBox="1"/>
            <p:nvPr/>
          </p:nvSpPr>
          <p:spPr>
            <a:xfrm>
              <a:off x="6730822" y="2164556"/>
              <a:ext cx="1283056"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Consolas"/>
                  <a:ea typeface="Consolas"/>
                  <a:cs typeface="Consolas"/>
                </a:rPr>
                <a:t>authMiddleware</a:t>
              </a:r>
            </a:p>
          </p:txBody>
        </p:sp>
        <p:sp>
          <p:nvSpPr>
            <p:cNvPr id="29" name="Line 29"/>
            <p:cNvSpPr/>
            <p:nvPr/>
          </p:nvSpPr>
          <p:spPr>
            <a:xfrm>
              <a:off x="8229600" y="2219325"/>
              <a:ext cx="342900" cy="1"/>
            </a:xfrm>
            <a:prstGeom prst="line">
              <a:avLst/>
            </a:prstGeom>
            <a:noFill/>
            <a:ln w="19050">
              <a:solidFill>
                <a:srgbClr val="EAF4F6"/>
              </a:solidFill>
              <a:tailEnd type="arrow" w="lg" len="lg"/>
            </a:ln>
          </p:spPr>
        </p:sp>
        <p:sp>
          <p:nvSpPr>
            <p:cNvPr id="30" name="Rectangle 30"/>
            <p:cNvSpPr/>
            <p:nvPr/>
          </p:nvSpPr>
          <p:spPr>
            <a:xfrm>
              <a:off x="8572500" y="2000250"/>
              <a:ext cx="2762250" cy="438150"/>
            </a:xfrm>
            <a:prstGeom prst="roundRect">
              <a:avLst>
                <a:gd name="adj" fmla="val 17391"/>
              </a:avLst>
            </a:prstGeom>
            <a:solidFill>
              <a:srgbClr val="00A6A6"/>
            </a:solidFill>
            <a:ln>
              <a:noFill/>
            </a:ln>
          </p:spPr>
        </p:sp>
        <p:sp>
          <p:nvSpPr>
            <p:cNvPr id="31" name="TextBox 31"/>
            <p:cNvSpPr txBox="1"/>
            <p:nvPr/>
          </p:nvSpPr>
          <p:spPr>
            <a:xfrm>
              <a:off x="8678146" y="2164556"/>
              <a:ext cx="2550957"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Consolas"/>
                  <a:ea typeface="Consolas"/>
                  <a:cs typeface="Consolas"/>
                </a:rPr>
                <a:t>requireRole(["kutuphaneci"])</a:t>
              </a:r>
            </a:p>
          </p:txBody>
        </p:sp>
        <p:sp>
          <p:nvSpPr>
            <p:cNvPr id="32" name="TextBox 32"/>
            <p:cNvSpPr txBox="1"/>
            <p:nvPr/>
          </p:nvSpPr>
          <p:spPr>
            <a:xfrm>
              <a:off x="6509004" y="2670810"/>
              <a:ext cx="375750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Yalnızca yetkili kullanıcı `/api-docs`'a erişir;</a:t>
              </a:r>
            </a:p>
          </p:txBody>
        </p:sp>
        <p:sp>
          <p:nvSpPr>
            <p:cNvPr id="33" name="TextBox 33"/>
            <p:cNvSpPr txBox="1"/>
            <p:nvPr/>
          </p:nvSpPr>
          <p:spPr>
            <a:xfrm>
              <a:off x="6509004" y="2899410"/>
              <a:ext cx="347731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korumasız üretim, tüm iç yapıyı ifşa eder.</a:t>
              </a:r>
            </a:p>
          </p:txBody>
        </p:sp>
      </p:grpSp>
      <p:grpSp>
        <p:nvGrpSpPr>
          <p:cNvPr id="43" name="common-errors"/>
          <p:cNvGrpSpPr/>
          <p:nvPr/>
        </p:nvGrpSpPr>
        <p:grpSpPr>
          <a:xfrm>
            <a:off x="609600" y="3848100"/>
            <a:ext cx="10972800" cy="1809750"/>
            <a:chOff x="609600" y="3848100"/>
            <a:chExt cx="10972800" cy="1809750"/>
          </a:xfrm>
        </p:grpSpPr>
        <p:sp>
          <p:nvSpPr>
            <p:cNvPr id="35" name="Rectangle 35"/>
            <p:cNvSpPr/>
            <p:nvPr/>
          </p:nvSpPr>
          <p:spPr>
            <a:xfrm>
              <a:off x="609600" y="3848100"/>
              <a:ext cx="10972800" cy="1809750"/>
            </a:xfrm>
            <a:prstGeom prst="roundRect">
              <a:avLst>
                <a:gd name="adj" fmla="val 4211"/>
              </a:avLst>
            </a:prstGeom>
            <a:solidFill>
              <a:srgbClr val="FFFFFF"/>
            </a:solidFill>
            <a:ln w="14288">
              <a:solidFill>
                <a:srgbClr val="B8CBD3"/>
              </a:solidFill>
            </a:ln>
          </p:spPr>
        </p:sp>
        <p:sp>
          <p:nvSpPr>
            <p:cNvPr id="36" name="TextBox 36"/>
            <p:cNvSpPr txBox="1"/>
            <p:nvPr/>
          </p:nvSpPr>
          <p:spPr>
            <a:xfrm>
              <a:off x="906399" y="40019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sp>
          <p:nvSpPr>
            <p:cNvPr id="37" name="Rectangle 37"/>
            <p:cNvSpPr/>
            <p:nvPr/>
          </p:nvSpPr>
          <p:spPr>
            <a:xfrm>
              <a:off x="914400" y="4343400"/>
              <a:ext cx="57150" cy="438150"/>
            </a:xfrm>
            <a:prstGeom prst="rect">
              <a:avLst/>
            </a:prstGeom>
            <a:solidFill>
              <a:srgbClr val="00A6A6"/>
            </a:solidFill>
            <a:ln>
              <a:noFill/>
            </a:ln>
          </p:spPr>
        </p:sp>
        <p:sp>
          <p:nvSpPr>
            <p:cNvPr id="38" name="TextBox 38"/>
            <p:cNvSpPr txBox="1"/>
            <p:nvPr/>
          </p:nvSpPr>
          <p:spPr>
            <a:xfrm>
              <a:off x="1116330" y="4352925"/>
              <a:ext cx="660600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Ortam ayrımı yapılmadan Swagger UI doğrudan üretime açılması —</a:t>
              </a:r>
            </a:p>
          </p:txBody>
        </p:sp>
        <p:sp>
          <p:nvSpPr>
            <p:cNvPr id="39" name="TextBox 39"/>
            <p:cNvSpPr txBox="1"/>
            <p:nvPr/>
          </p:nvSpPr>
          <p:spPr>
            <a:xfrm>
              <a:off x="1116330" y="4581525"/>
              <a:ext cx="4699625"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her ziyaretçi API'nin tüm iç yapısını görebilir.</a:t>
              </a:r>
            </a:p>
          </p:txBody>
        </p:sp>
        <p:sp>
          <p:nvSpPr>
            <p:cNvPr id="40" name="Rectangle 40"/>
            <p:cNvSpPr/>
            <p:nvPr/>
          </p:nvSpPr>
          <p:spPr>
            <a:xfrm>
              <a:off x="914400" y="4914900"/>
              <a:ext cx="57150" cy="628650"/>
            </a:xfrm>
            <a:prstGeom prst="rect">
              <a:avLst/>
            </a:prstGeom>
            <a:solidFill>
              <a:srgbClr val="00A6A6"/>
            </a:solidFill>
            <a:ln>
              <a:noFill/>
            </a:ln>
          </p:spPr>
        </p:sp>
        <p:sp>
          <p:nvSpPr>
            <p:cNvPr id="41" name="TextBox 41"/>
            <p:cNvSpPr txBox="1"/>
            <p:nvPr/>
          </p:nvSpPr>
          <p:spPr>
            <a:xfrm>
              <a:off x="1116330" y="4924425"/>
              <a:ext cx="746799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Örnek verilerde gerçek üretim değerleri kullanmak; OpenAPI güncellenmediği</a:t>
              </a:r>
            </a:p>
          </p:txBody>
        </p:sp>
        <p:sp>
          <p:nvSpPr>
            <p:cNvPr id="42" name="TextBox 42"/>
            <p:cNvSpPr txBox="1"/>
            <p:nvPr/>
          </p:nvSpPr>
          <p:spPr>
            <a:xfrm>
              <a:off x="1116330" y="5153025"/>
              <a:ext cx="655809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için Swagger UI'ın eski, yanıltıcı bilgi göstermeye devam etmesi.</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3834782" cy="668845"/>
            <a:chOff x="609600" y="171450"/>
            <a:chExt cx="3834782"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31444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Unit test yazma</a:t>
              </a:r>
            </a:p>
          </p:txBody>
        </p:sp>
      </p:grpSp>
      <p:grpSp>
        <p:nvGrpSpPr>
          <p:cNvPr id="12" name="icon-code"/>
          <p:cNvGrpSpPr/>
          <p:nvPr/>
        </p:nvGrpSpPr>
        <p:grpSpPr>
          <a:xfrm>
            <a:off x="10363201" y="1339851"/>
            <a:ext cx="457205" cy="406405"/>
            <a:chOff x="10363201" y="1339851"/>
            <a:chExt cx="457205" cy="406405"/>
          </a:xfrm>
        </p:grpSpPr>
        <p:sp>
          <p:nvSpPr>
            <p:cNvPr id="9" name="Freeform 9"/>
            <p:cNvSpPr/>
            <p:nvPr/>
          </p:nvSpPr>
          <p:spPr>
            <a:xfrm>
              <a:off x="10363201" y="1441453"/>
              <a:ext cx="101601" cy="203203"/>
            </a:xfrm>
            <a:custGeom>
              <a:avLst/>
              <a:gdLst/>
              <a:ahLst/>
              <a:cxnLst/>
              <a:rect l="l" t="t" r="r" b="b"/>
              <a:pathLst>
                <a:path w="101601" h="203203">
                  <a:moveTo>
                    <a:pt x="101601" y="0"/>
                  </a:moveTo>
                  <a:lnTo>
                    <a:pt x="0" y="101601"/>
                  </a:lnTo>
                  <a:lnTo>
                    <a:pt x="101601" y="203203"/>
                  </a:lnTo>
                </a:path>
              </a:pathLst>
            </a:custGeom>
            <a:noFill/>
            <a:ln w="19050" cap="rnd">
              <a:solidFill>
                <a:srgbClr val="00A6A6"/>
              </a:solidFill>
              <a:round/>
            </a:ln>
          </p:spPr>
        </p:sp>
        <p:sp>
          <p:nvSpPr>
            <p:cNvPr id="10" name="Freeform 10"/>
            <p:cNvSpPr/>
            <p:nvPr/>
          </p:nvSpPr>
          <p:spPr>
            <a:xfrm>
              <a:off x="10718805" y="1441453"/>
              <a:ext cx="101601" cy="203203"/>
            </a:xfrm>
            <a:custGeom>
              <a:avLst/>
              <a:gdLst/>
              <a:ahLst/>
              <a:cxnLst/>
              <a:rect l="l" t="t" r="r" b="b"/>
              <a:pathLst>
                <a:path w="101601" h="203203">
                  <a:moveTo>
                    <a:pt x="0" y="0"/>
                  </a:moveTo>
                  <a:lnTo>
                    <a:pt x="101601" y="101601"/>
                  </a:lnTo>
                  <a:lnTo>
                    <a:pt x="0" y="203203"/>
                  </a:lnTo>
                </a:path>
              </a:pathLst>
            </a:custGeom>
            <a:noFill/>
            <a:ln w="19050" cap="rnd">
              <a:solidFill>
                <a:srgbClr val="00A6A6"/>
              </a:solidFill>
              <a:round/>
            </a:ln>
          </p:spPr>
        </p:sp>
        <p:sp>
          <p:nvSpPr>
            <p:cNvPr id="11" name="Freeform 11"/>
            <p:cNvSpPr/>
            <p:nvPr/>
          </p:nvSpPr>
          <p:spPr>
            <a:xfrm>
              <a:off x="10541003" y="1339851"/>
              <a:ext cx="101601" cy="406405"/>
            </a:xfrm>
            <a:custGeom>
              <a:avLst/>
              <a:gdLst/>
              <a:ahLst/>
              <a:cxnLst/>
              <a:rect l="l" t="t" r="r" b="b"/>
              <a:pathLst>
                <a:path w="101601" h="406405">
                  <a:moveTo>
                    <a:pt x="101601" y="0"/>
                  </a:moveTo>
                  <a:lnTo>
                    <a:pt x="0" y="406405"/>
                  </a:lnTo>
                </a:path>
              </a:pathLst>
            </a:custGeom>
            <a:noFill/>
            <a:ln w="19050" cap="rnd">
              <a:solidFill>
                <a:srgbClr val="00A6A6"/>
              </a:solidFill>
              <a:round/>
            </a:ln>
          </p:spPr>
        </p:sp>
      </p:grpSp>
      <p:grpSp>
        <p:nvGrpSpPr>
          <p:cNvPr id="16" name="definition-text"/>
          <p:cNvGrpSpPr/>
          <p:nvPr/>
        </p:nvGrpSpPr>
        <p:grpSpPr>
          <a:xfrm>
            <a:off x="600456" y="1215390"/>
            <a:ext cx="8362236" cy="961644"/>
            <a:chOff x="600456" y="1215390"/>
            <a:chExt cx="8362236" cy="961644"/>
          </a:xfrm>
        </p:grpSpPr>
        <p:sp>
          <p:nvSpPr>
            <p:cNvPr id="13" name="TextBox 13"/>
            <p:cNvSpPr txBox="1"/>
            <p:nvPr/>
          </p:nvSpPr>
          <p:spPr>
            <a:xfrm>
              <a:off x="600456" y="1215390"/>
              <a:ext cx="836223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işlevin ya da modülün, dış bağımlılıklardan (ağ, veritabanı, dosya</a:t>
              </a:r>
            </a:p>
          </p:txBody>
        </p:sp>
        <p:sp>
          <p:nvSpPr>
            <p:cNvPr id="14" name="TextBox 14"/>
            <p:cNvSpPr txBox="1"/>
            <p:nvPr/>
          </p:nvSpPr>
          <p:spPr>
            <a:xfrm>
              <a:off x="600456" y="1520190"/>
              <a:ext cx="819645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sistemi) tamamen yalıtılmış biçimde, yalnız kendi mantığının doğru</a:t>
              </a:r>
            </a:p>
          </p:txBody>
        </p:sp>
        <p:sp>
          <p:nvSpPr>
            <p:cNvPr id="15" name="TextBox 15"/>
            <p:cNvSpPr txBox="1"/>
            <p:nvPr/>
          </p:nvSpPr>
          <p:spPr>
            <a:xfrm>
              <a:off x="600456" y="1824990"/>
              <a:ext cx="566425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çalıştığını doğrulayan en küçük test birimidir.</a:t>
              </a:r>
            </a:p>
          </p:txBody>
        </p:sp>
      </p:grpSp>
      <p:grpSp>
        <p:nvGrpSpPr>
          <p:cNvPr id="22" name="isolation-note"/>
          <p:cNvGrpSpPr/>
          <p:nvPr/>
        </p:nvGrpSpPr>
        <p:grpSpPr>
          <a:xfrm>
            <a:off x="609600" y="2419350"/>
            <a:ext cx="10972800" cy="1238250"/>
            <a:chOff x="609600" y="2419350"/>
            <a:chExt cx="10972800" cy="1238250"/>
          </a:xfrm>
        </p:grpSpPr>
        <p:sp>
          <p:nvSpPr>
            <p:cNvPr id="17" name="Rectangle 17"/>
            <p:cNvSpPr/>
            <p:nvPr/>
          </p:nvSpPr>
          <p:spPr>
            <a:xfrm>
              <a:off x="609600" y="2419350"/>
              <a:ext cx="10972800" cy="1238250"/>
            </a:xfrm>
            <a:prstGeom prst="roundRect">
              <a:avLst>
                <a:gd name="adj" fmla="val 6154"/>
              </a:avLst>
            </a:prstGeom>
            <a:solidFill>
              <a:srgbClr val="EAF4F6"/>
            </a:solidFill>
            <a:ln>
              <a:noFill/>
            </a:ln>
          </p:spPr>
        </p:sp>
        <p:sp>
          <p:nvSpPr>
            <p:cNvPr id="18" name="TextBox 18"/>
            <p:cNvSpPr txBox="1"/>
            <p:nvPr/>
          </p:nvSpPr>
          <p:spPr>
            <a:xfrm>
              <a:off x="906399" y="2573179"/>
              <a:ext cx="150764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Yalıtım ilkesi</a:t>
              </a:r>
            </a:p>
          </p:txBody>
        </p:sp>
        <p:sp>
          <p:nvSpPr>
            <p:cNvPr id="19" name="TextBox 19"/>
            <p:cNvSpPr txBox="1"/>
            <p:nvPr/>
          </p:nvSpPr>
          <p:spPr>
            <a:xfrm>
              <a:off x="906399" y="2858929"/>
              <a:ext cx="856300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unit test, çalıştığı makinede internet, veritabanı ya da dosya sistemi olmasa</a:t>
              </a:r>
            </a:p>
          </p:txBody>
        </p:sp>
        <p:sp>
          <p:nvSpPr>
            <p:cNvPr id="20" name="TextBox 20"/>
            <p:cNvSpPr txBox="1"/>
            <p:nvPr/>
          </p:nvSpPr>
          <p:spPr>
            <a:xfrm>
              <a:off x="906399" y="3125629"/>
              <a:ext cx="832192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bile geçmelidir; test yalnızca kendi girdisine ve saf mantığa bağımlı olmalıdır.</a:t>
              </a:r>
            </a:p>
          </p:txBody>
        </p:sp>
        <p:sp>
          <p:nvSpPr>
            <p:cNvPr id="21" name="TextBox 21"/>
            <p:cNvSpPr txBox="1"/>
            <p:nvPr/>
          </p:nvSpPr>
          <p:spPr>
            <a:xfrm>
              <a:off x="906399" y="3335179"/>
              <a:ext cx="809477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yalıtım, testin milisaniyeler içinde ve tutarlı biçimde çalışmasını sağlar.</a:t>
              </a:r>
            </a:p>
          </p:txBody>
        </p:sp>
      </p:grpSp>
      <p:grpSp>
        <p:nvGrpSpPr>
          <p:cNvPr id="30" name="theory-note"/>
          <p:cNvGrpSpPr/>
          <p:nvPr/>
        </p:nvGrpSpPr>
        <p:grpSpPr>
          <a:xfrm>
            <a:off x="609600" y="3848100"/>
            <a:ext cx="10972800" cy="1809750"/>
            <a:chOff x="609600" y="3848100"/>
            <a:chExt cx="10972800" cy="1809750"/>
          </a:xfrm>
        </p:grpSpPr>
        <p:sp>
          <p:nvSpPr>
            <p:cNvPr id="23" name="Rectangle 23"/>
            <p:cNvSpPr/>
            <p:nvPr/>
          </p:nvSpPr>
          <p:spPr>
            <a:xfrm>
              <a:off x="609600" y="3848100"/>
              <a:ext cx="10972800" cy="1809750"/>
            </a:xfrm>
            <a:prstGeom prst="roundRect">
              <a:avLst>
                <a:gd name="adj" fmla="val 4211"/>
              </a:avLst>
            </a:prstGeom>
            <a:solidFill>
              <a:srgbClr val="FFFFFF"/>
            </a:solidFill>
            <a:ln w="14288">
              <a:solidFill>
                <a:srgbClr val="B8CBD3"/>
              </a:solidFill>
            </a:ln>
          </p:spPr>
        </p:sp>
        <p:sp>
          <p:nvSpPr>
            <p:cNvPr id="24" name="TextBox 24"/>
            <p:cNvSpPr txBox="1"/>
            <p:nvPr/>
          </p:nvSpPr>
          <p:spPr>
            <a:xfrm>
              <a:off x="906399" y="4001929"/>
              <a:ext cx="369755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Derinlemesine: kuramsal kökler</a:t>
              </a:r>
            </a:p>
          </p:txBody>
        </p:sp>
        <p:sp>
          <p:nvSpPr>
            <p:cNvPr id="25" name="TextBox 25"/>
            <p:cNvSpPr txBox="1"/>
            <p:nvPr/>
          </p:nvSpPr>
          <p:spPr>
            <a:xfrm>
              <a:off x="906780" y="4314825"/>
              <a:ext cx="880594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Kent Beck'in SUnit çerçevesiyle başlattığı xUnit ailesi (Beck, 1989/1998), test-güdümlü</a:t>
              </a:r>
            </a:p>
          </p:txBody>
        </p:sp>
        <p:sp>
          <p:nvSpPr>
            <p:cNvPr id="26" name="TextBox 26"/>
            <p:cNvSpPr txBox="1"/>
            <p:nvPr/>
          </p:nvSpPr>
          <p:spPr>
            <a:xfrm>
              <a:off x="906780" y="4562475"/>
              <a:ext cx="8778873"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geliştirme (TDD) pratiğinin temelini oluşturur: önce başarısız test yazılır, sonra testi</a:t>
              </a:r>
            </a:p>
          </p:txBody>
        </p:sp>
        <p:sp>
          <p:nvSpPr>
            <p:cNvPr id="27" name="TextBox 27"/>
            <p:cNvSpPr txBox="1"/>
            <p:nvPr/>
          </p:nvSpPr>
          <p:spPr>
            <a:xfrm>
              <a:off x="906780" y="4810125"/>
              <a:ext cx="878306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geçirecek en az kod eklenir. Gamma ve Meszaros'un tanımladığı test çifti (test double)</a:t>
              </a:r>
            </a:p>
          </p:txBody>
        </p:sp>
        <p:sp>
          <p:nvSpPr>
            <p:cNvPr id="28" name="TextBox 28"/>
            <p:cNvSpPr txBox="1"/>
            <p:nvPr/>
          </p:nvSpPr>
          <p:spPr>
            <a:xfrm>
              <a:off x="906780" y="5057775"/>
              <a:ext cx="9021318"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kavramı, bu yalıtımı sağlayan dummy/stub/spy/mock/fake sınıflandırmasının temelidir.</a:t>
              </a:r>
            </a:p>
          </p:txBody>
        </p:sp>
        <p:sp>
          <p:nvSpPr>
            <p:cNvPr id="29" name="TextBox 29"/>
            <p:cNvSpPr txBox="1"/>
            <p:nvPr/>
          </p:nvSpPr>
          <p:spPr>
            <a:xfrm>
              <a:off x="906780" y="5362575"/>
              <a:ext cx="913148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Meszaros (2007), "xUnit Test Patterns" adlı çalışmasında bu kalıpları sistemleştirmiştir.</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796816" cy="668845"/>
            <a:chOff x="609600" y="171450"/>
            <a:chExt cx="7796816"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1064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13.4: KayitValidasyonu.test.ts</a:t>
              </a:r>
            </a:p>
          </p:txBody>
        </p:sp>
      </p:grpSp>
      <p:grpSp>
        <p:nvGrpSpPr>
          <p:cNvPr id="29" name="scenarios"/>
          <p:cNvGrpSpPr/>
          <p:nvPr/>
        </p:nvGrpSpPr>
        <p:grpSpPr>
          <a:xfrm>
            <a:off x="609600" y="1143000"/>
            <a:ext cx="10972800" cy="2476500"/>
            <a:chOff x="609600" y="1143000"/>
            <a:chExt cx="10972800" cy="2476500"/>
          </a:xfrm>
        </p:grpSpPr>
        <p:sp>
          <p:nvSpPr>
            <p:cNvPr id="9" name="Rectangle 9"/>
            <p:cNvSpPr/>
            <p:nvPr/>
          </p:nvSpPr>
          <p:spPr>
            <a:xfrm>
              <a:off x="609600" y="1143000"/>
              <a:ext cx="3505200" cy="2476500"/>
            </a:xfrm>
            <a:prstGeom prst="roundRect">
              <a:avLst>
                <a:gd name="adj" fmla="val 3846"/>
              </a:avLst>
            </a:prstGeom>
            <a:solidFill>
              <a:srgbClr val="FFFFFF"/>
            </a:solidFill>
            <a:ln w="14288">
              <a:solidFill>
                <a:srgbClr val="00A6A6"/>
              </a:solidFill>
            </a:ln>
          </p:spPr>
        </p:sp>
        <p:sp>
          <p:nvSpPr>
            <p:cNvPr id="10" name="TextBox 10"/>
            <p:cNvSpPr txBox="1"/>
            <p:nvPr/>
          </p:nvSpPr>
          <p:spPr>
            <a:xfrm>
              <a:off x="830199" y="1315879"/>
              <a:ext cx="16540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Geçerli girdi</a:t>
              </a:r>
            </a:p>
          </p:txBody>
        </p:sp>
        <p:sp>
          <p:nvSpPr>
            <p:cNvPr id="11" name="TextBox 11"/>
            <p:cNvSpPr txBox="1"/>
            <p:nvPr/>
          </p:nvSpPr>
          <p:spPr>
            <a:xfrm>
              <a:off x="832104" y="1661160"/>
              <a:ext cx="18653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kayitIstegiDogrula(</a:t>
              </a:r>
            </a:p>
          </p:txBody>
        </p:sp>
        <p:sp>
          <p:nvSpPr>
            <p:cNvPr id="12" name="TextBox 12"/>
            <p:cNvSpPr txBox="1"/>
            <p:nvPr/>
          </p:nvSpPr>
          <p:spPr>
            <a:xfrm>
              <a:off x="832104" y="1870710"/>
              <a:ext cx="14729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 kullaniciAdi,</a:t>
              </a:r>
            </a:p>
          </p:txBody>
        </p:sp>
        <p:sp>
          <p:nvSpPr>
            <p:cNvPr id="13" name="TextBox 13"/>
            <p:cNvSpPr txBox="1"/>
            <p:nvPr/>
          </p:nvSpPr>
          <p:spPr>
            <a:xfrm>
              <a:off x="832104" y="2061210"/>
              <a:ext cx="13691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parola, rol })</a:t>
              </a:r>
            </a:p>
          </p:txBody>
        </p:sp>
        <p:sp>
          <p:nvSpPr>
            <p:cNvPr id="14" name="TextBox 14"/>
            <p:cNvSpPr txBox="1"/>
            <p:nvPr/>
          </p:nvSpPr>
          <p:spPr>
            <a:xfrm>
              <a:off x="832104" y="2385060"/>
              <a:ext cx="20799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beklenen: geçerli === true</a:t>
              </a:r>
            </a:p>
          </p:txBody>
        </p:sp>
        <p:sp>
          <p:nvSpPr>
            <p:cNvPr id="15" name="TextBox 15"/>
            <p:cNvSpPr txBox="1"/>
            <p:nvPr/>
          </p:nvSpPr>
          <p:spPr>
            <a:xfrm>
              <a:off x="832485" y="3155156"/>
              <a:ext cx="202166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Tüm alanlar kurallara uyar;</a:t>
              </a:r>
            </a:p>
          </p:txBody>
        </p:sp>
        <p:sp>
          <p:nvSpPr>
            <p:cNvPr id="16" name="TextBox 16"/>
            <p:cNvSpPr txBox="1"/>
            <p:nvPr/>
          </p:nvSpPr>
          <p:spPr>
            <a:xfrm>
              <a:off x="832485" y="3364706"/>
              <a:ext cx="169256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hata listesi boş döner.</a:t>
              </a:r>
            </a:p>
          </p:txBody>
        </p:sp>
        <p:sp>
          <p:nvSpPr>
            <p:cNvPr id="17" name="Rectangle 17"/>
            <p:cNvSpPr/>
            <p:nvPr/>
          </p:nvSpPr>
          <p:spPr>
            <a:xfrm>
              <a:off x="4343400" y="1143000"/>
              <a:ext cx="3505200" cy="2476500"/>
            </a:xfrm>
            <a:prstGeom prst="roundRect">
              <a:avLst>
                <a:gd name="adj" fmla="val 3846"/>
              </a:avLst>
            </a:prstGeom>
            <a:solidFill>
              <a:srgbClr val="FFFFFF"/>
            </a:solidFill>
            <a:ln w="14288">
              <a:solidFill>
                <a:srgbClr val="B8CBD3"/>
              </a:solidFill>
            </a:ln>
          </p:spPr>
        </p:sp>
        <p:sp>
          <p:nvSpPr>
            <p:cNvPr id="18" name="TextBox 18"/>
            <p:cNvSpPr txBox="1"/>
            <p:nvPr/>
          </p:nvSpPr>
          <p:spPr>
            <a:xfrm>
              <a:off x="4563999" y="1315879"/>
              <a:ext cx="157696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Kısa parola</a:t>
              </a:r>
            </a:p>
          </p:txBody>
        </p:sp>
        <p:sp>
          <p:nvSpPr>
            <p:cNvPr id="19" name="TextBox 19"/>
            <p:cNvSpPr txBox="1"/>
            <p:nvPr/>
          </p:nvSpPr>
          <p:spPr>
            <a:xfrm>
              <a:off x="4565904" y="1661160"/>
              <a:ext cx="12722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parola: "123"</a:t>
              </a:r>
            </a:p>
          </p:txBody>
        </p:sp>
        <p:sp>
          <p:nvSpPr>
            <p:cNvPr id="20" name="TextBox 20"/>
            <p:cNvSpPr txBox="1"/>
            <p:nvPr/>
          </p:nvSpPr>
          <p:spPr>
            <a:xfrm>
              <a:off x="4565904" y="1985010"/>
              <a:ext cx="21284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beklenen: geçerli === false</a:t>
              </a:r>
            </a:p>
          </p:txBody>
        </p:sp>
        <p:sp>
          <p:nvSpPr>
            <p:cNvPr id="21" name="TextBox 21"/>
            <p:cNvSpPr txBox="1"/>
            <p:nvPr/>
          </p:nvSpPr>
          <p:spPr>
            <a:xfrm>
              <a:off x="4566285" y="3155156"/>
              <a:ext cx="170488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Minimum uzunluk kuralı</a:t>
              </a:r>
            </a:p>
          </p:txBody>
        </p:sp>
        <p:sp>
          <p:nvSpPr>
            <p:cNvPr id="22" name="TextBox 22"/>
            <p:cNvSpPr txBox="1"/>
            <p:nvPr/>
          </p:nvSpPr>
          <p:spPr>
            <a:xfrm>
              <a:off x="4566285" y="3364706"/>
              <a:ext cx="228812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ihlal edilir; hata mesajı içerir.</a:t>
              </a:r>
            </a:p>
          </p:txBody>
        </p:sp>
        <p:sp>
          <p:nvSpPr>
            <p:cNvPr id="23" name="Rectangle 23"/>
            <p:cNvSpPr/>
            <p:nvPr/>
          </p:nvSpPr>
          <p:spPr>
            <a:xfrm>
              <a:off x="8077200" y="1143000"/>
              <a:ext cx="3505200" cy="2476500"/>
            </a:xfrm>
            <a:prstGeom prst="roundRect">
              <a:avLst>
                <a:gd name="adj" fmla="val 3846"/>
              </a:avLst>
            </a:prstGeom>
            <a:solidFill>
              <a:srgbClr val="EAF4F6"/>
            </a:solidFill>
            <a:ln w="14288">
              <a:solidFill>
                <a:srgbClr val="2E86AB"/>
              </a:solidFill>
            </a:ln>
          </p:spPr>
        </p:sp>
        <p:sp>
          <p:nvSpPr>
            <p:cNvPr id="24" name="TextBox 24"/>
            <p:cNvSpPr txBox="1"/>
            <p:nvPr/>
          </p:nvSpPr>
          <p:spPr>
            <a:xfrm>
              <a:off x="8297799" y="1315879"/>
              <a:ext cx="16435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Geçersiz rol</a:t>
              </a:r>
            </a:p>
          </p:txBody>
        </p:sp>
        <p:sp>
          <p:nvSpPr>
            <p:cNvPr id="25" name="TextBox 25"/>
            <p:cNvSpPr txBox="1"/>
            <p:nvPr/>
          </p:nvSpPr>
          <p:spPr>
            <a:xfrm>
              <a:off x="8299704" y="1661160"/>
              <a:ext cx="14660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rol: "yonetici"</a:t>
              </a:r>
            </a:p>
          </p:txBody>
        </p:sp>
        <p:sp>
          <p:nvSpPr>
            <p:cNvPr id="26" name="TextBox 26"/>
            <p:cNvSpPr txBox="1"/>
            <p:nvPr/>
          </p:nvSpPr>
          <p:spPr>
            <a:xfrm>
              <a:off x="8299704" y="1985010"/>
              <a:ext cx="21284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beklenen: geçerli === false</a:t>
              </a:r>
            </a:p>
          </p:txBody>
        </p:sp>
        <p:sp>
          <p:nvSpPr>
            <p:cNvPr id="27" name="TextBox 27"/>
            <p:cNvSpPr txBox="1"/>
            <p:nvPr/>
          </p:nvSpPr>
          <p:spPr>
            <a:xfrm>
              <a:off x="8300085" y="3155156"/>
              <a:ext cx="208968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Tanımlı rol kümesi dışında;</a:t>
              </a:r>
            </a:p>
          </p:txBody>
        </p:sp>
        <p:sp>
          <p:nvSpPr>
            <p:cNvPr id="28" name="TextBox 28"/>
            <p:cNvSpPr txBox="1"/>
            <p:nvPr/>
          </p:nvSpPr>
          <p:spPr>
            <a:xfrm>
              <a:off x="8300085" y="3364706"/>
              <a:ext cx="2295662"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whitelist doğrulaması çalışır.</a:t>
              </a:r>
            </a:p>
          </p:txBody>
        </p:sp>
      </p:grpSp>
      <p:grpSp>
        <p:nvGrpSpPr>
          <p:cNvPr id="39" name="common-errors"/>
          <p:cNvGrpSpPr/>
          <p:nvPr/>
        </p:nvGrpSpPr>
        <p:grpSpPr>
          <a:xfrm>
            <a:off x="609600" y="3848100"/>
            <a:ext cx="10972800" cy="1809750"/>
            <a:chOff x="609600" y="3848100"/>
            <a:chExt cx="10972800" cy="1809750"/>
          </a:xfrm>
        </p:grpSpPr>
        <p:sp>
          <p:nvSpPr>
            <p:cNvPr id="30" name="Rectangle 30"/>
            <p:cNvSpPr/>
            <p:nvPr/>
          </p:nvSpPr>
          <p:spPr>
            <a:xfrm>
              <a:off x="609600" y="3848100"/>
              <a:ext cx="10972800" cy="1809750"/>
            </a:xfrm>
            <a:prstGeom prst="roundRect">
              <a:avLst>
                <a:gd name="adj" fmla="val 4211"/>
              </a:avLst>
            </a:prstGeom>
            <a:solidFill>
              <a:srgbClr val="FFFFFF"/>
            </a:solidFill>
            <a:ln w="14288">
              <a:solidFill>
                <a:srgbClr val="B8CBD3"/>
              </a:solidFill>
            </a:ln>
          </p:spPr>
        </p:sp>
        <p:sp>
          <p:nvSpPr>
            <p:cNvPr id="31" name="TextBox 31"/>
            <p:cNvSpPr txBox="1"/>
            <p:nvPr/>
          </p:nvSpPr>
          <p:spPr>
            <a:xfrm>
              <a:off x="906399" y="40019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sp>
          <p:nvSpPr>
            <p:cNvPr id="32" name="Rectangle 32"/>
            <p:cNvSpPr/>
            <p:nvPr/>
          </p:nvSpPr>
          <p:spPr>
            <a:xfrm>
              <a:off x="914400" y="4343400"/>
              <a:ext cx="57150" cy="438150"/>
            </a:xfrm>
            <a:prstGeom prst="rect">
              <a:avLst/>
            </a:prstGeom>
            <a:solidFill>
              <a:srgbClr val="00A6A6"/>
            </a:solidFill>
            <a:ln>
              <a:noFill/>
            </a:ln>
          </p:spPr>
        </p:sp>
        <p:sp>
          <p:nvSpPr>
            <p:cNvPr id="33" name="TextBox 33"/>
            <p:cNvSpPr txBox="1"/>
            <p:nvPr/>
          </p:nvSpPr>
          <p:spPr>
            <a:xfrm>
              <a:off x="1116711" y="4361021"/>
              <a:ext cx="7609772"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Gerçek veritabanı bağlantısıyla çalışan bir testi "unit test" olarak adlandırmak</a:t>
              </a:r>
            </a:p>
          </p:txBody>
        </p:sp>
        <p:sp>
          <p:nvSpPr>
            <p:cNvPr id="34" name="TextBox 34"/>
            <p:cNvSpPr txBox="1"/>
            <p:nvPr/>
          </p:nvSpPr>
          <p:spPr>
            <a:xfrm>
              <a:off x="1116711" y="4570571"/>
              <a:ext cx="6131611"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(code_008) — yavaşlar, kırılganlaşır, yalıtım ilkesini ihlal eder.</a:t>
              </a:r>
            </a:p>
          </p:txBody>
        </p:sp>
        <p:sp>
          <p:nvSpPr>
            <p:cNvPr id="35" name="Rectangle 35"/>
            <p:cNvSpPr/>
            <p:nvPr/>
          </p:nvSpPr>
          <p:spPr>
            <a:xfrm>
              <a:off x="914400" y="4895850"/>
              <a:ext cx="57150" cy="285750"/>
            </a:xfrm>
            <a:prstGeom prst="rect">
              <a:avLst/>
            </a:prstGeom>
            <a:solidFill>
              <a:srgbClr val="00A6A6"/>
            </a:solidFill>
            <a:ln>
              <a:noFill/>
            </a:ln>
          </p:spPr>
        </p:sp>
        <p:sp>
          <p:nvSpPr>
            <p:cNvPr id="36" name="TextBox 36"/>
            <p:cNvSpPr txBox="1"/>
            <p:nvPr/>
          </p:nvSpPr>
          <p:spPr>
            <a:xfrm>
              <a:off x="1116711" y="4913471"/>
              <a:ext cx="7160734"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Fonksiyonun iç uygulama detaylarını (private alanlar) doğrudan test etmek.</a:t>
              </a:r>
            </a:p>
          </p:txBody>
        </p:sp>
        <p:sp>
          <p:nvSpPr>
            <p:cNvPr id="37" name="Rectangle 37"/>
            <p:cNvSpPr/>
            <p:nvPr/>
          </p:nvSpPr>
          <p:spPr>
            <a:xfrm>
              <a:off x="914400" y="5257800"/>
              <a:ext cx="57150" cy="285750"/>
            </a:xfrm>
            <a:prstGeom prst="rect">
              <a:avLst/>
            </a:prstGeom>
            <a:solidFill>
              <a:srgbClr val="00A6A6"/>
            </a:solidFill>
            <a:ln>
              <a:noFill/>
            </a:ln>
          </p:spPr>
        </p:sp>
        <p:sp>
          <p:nvSpPr>
            <p:cNvPr id="38" name="TextBox 38"/>
            <p:cNvSpPr txBox="1"/>
            <p:nvPr/>
          </p:nvSpPr>
          <p:spPr>
            <a:xfrm>
              <a:off x="1116711" y="5275421"/>
              <a:ext cx="782022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Testler arasında paylaşılan, sıfırlanmayan değişebilir (mutable) durum bırakmak.</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217878" cy="668845"/>
            <a:chOff x="609600" y="171450"/>
            <a:chExt cx="7217878"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52750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Integration test ve test piramidi</a:t>
              </a:r>
            </a:p>
          </p:txBody>
        </p:sp>
      </p:grpSp>
      <p:grpSp>
        <p:nvGrpSpPr>
          <p:cNvPr id="18" name="definition-text"/>
          <p:cNvGrpSpPr/>
          <p:nvPr/>
        </p:nvGrpSpPr>
        <p:grpSpPr>
          <a:xfrm>
            <a:off x="601218" y="1231582"/>
            <a:ext cx="5723382" cy="2826068"/>
            <a:chOff x="601218" y="1231582"/>
            <a:chExt cx="5723382" cy="2826068"/>
          </a:xfrm>
        </p:grpSpPr>
        <p:sp>
          <p:nvSpPr>
            <p:cNvPr id="9" name="TextBox 9"/>
            <p:cNvSpPr txBox="1"/>
            <p:nvPr/>
          </p:nvSpPr>
          <p:spPr>
            <a:xfrm>
              <a:off x="601218" y="1231582"/>
              <a:ext cx="3366993"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Bileşenlerin (endpoint, servis,</a:t>
              </a:r>
            </a:p>
          </p:txBody>
        </p:sp>
        <p:sp>
          <p:nvSpPr>
            <p:cNvPr id="10" name="TextBox 10"/>
            <p:cNvSpPr txBox="1"/>
            <p:nvPr/>
          </p:nvSpPr>
          <p:spPr>
            <a:xfrm>
              <a:off x="601218" y="1498282"/>
              <a:ext cx="3581838"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veritabanı) gerçek veya gerçeğe</a:t>
              </a:r>
            </a:p>
          </p:txBody>
        </p:sp>
        <p:sp>
          <p:nvSpPr>
            <p:cNvPr id="11" name="TextBox 11"/>
            <p:cNvSpPr txBox="1"/>
            <p:nvPr/>
          </p:nvSpPr>
          <p:spPr>
            <a:xfrm>
              <a:off x="601218" y="1764982"/>
              <a:ext cx="3359715"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yakın koşullarda birlikte doğru</a:t>
              </a:r>
            </a:p>
          </p:txBody>
        </p:sp>
        <p:sp>
          <p:nvSpPr>
            <p:cNvPr id="12" name="TextBox 12"/>
            <p:cNvSpPr txBox="1"/>
            <p:nvPr/>
          </p:nvSpPr>
          <p:spPr>
            <a:xfrm>
              <a:off x="601218" y="2031682"/>
              <a:ext cx="3526307"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çalıştığını doğrulayan testtir.</a:t>
              </a:r>
            </a:p>
          </p:txBody>
        </p:sp>
        <p:sp>
          <p:nvSpPr>
            <p:cNvPr id="13" name="Rectangle 13"/>
            <p:cNvSpPr/>
            <p:nvPr/>
          </p:nvSpPr>
          <p:spPr>
            <a:xfrm>
              <a:off x="609600" y="2533650"/>
              <a:ext cx="5715000" cy="1524000"/>
            </a:xfrm>
            <a:prstGeom prst="roundRect">
              <a:avLst>
                <a:gd name="adj" fmla="val 5000"/>
              </a:avLst>
            </a:prstGeom>
            <a:solidFill>
              <a:srgbClr val="EAF4F6"/>
            </a:solidFill>
            <a:ln>
              <a:noFill/>
            </a:ln>
          </p:spPr>
        </p:sp>
        <p:sp>
          <p:nvSpPr>
            <p:cNvPr id="14" name="TextBox 14"/>
            <p:cNvSpPr txBox="1"/>
            <p:nvPr/>
          </p:nvSpPr>
          <p:spPr>
            <a:xfrm>
              <a:off x="830580" y="2676525"/>
              <a:ext cx="253452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Kontrollü deney mantığı</a:t>
              </a:r>
            </a:p>
          </p:txBody>
        </p:sp>
        <p:sp>
          <p:nvSpPr>
            <p:cNvPr id="15" name="TextBox 15"/>
            <p:cNvSpPr txBox="1"/>
            <p:nvPr/>
          </p:nvSpPr>
          <p:spPr>
            <a:xfrm>
              <a:off x="831342" y="2959418"/>
              <a:ext cx="341840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Her testten önce ortam sıfırlanmalı;</a:t>
              </a:r>
            </a:p>
          </p:txBody>
        </p:sp>
        <p:sp>
          <p:nvSpPr>
            <p:cNvPr id="16" name="TextBox 16"/>
            <p:cNvSpPr txBox="1"/>
            <p:nvPr/>
          </p:nvSpPr>
          <p:spPr>
            <a:xfrm>
              <a:off x="831342" y="3188018"/>
              <a:ext cx="301237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aksi hâlde önceki testin yan etkisi</a:t>
              </a:r>
            </a:p>
          </p:txBody>
        </p:sp>
        <p:sp>
          <p:nvSpPr>
            <p:cNvPr id="17" name="TextBox 17"/>
            <p:cNvSpPr txBox="1"/>
            <p:nvPr/>
          </p:nvSpPr>
          <p:spPr>
            <a:xfrm>
              <a:off x="831342" y="3416618"/>
              <a:ext cx="289424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sonucu bozar (flaky test riski).</a:t>
              </a:r>
            </a:p>
          </p:txBody>
        </p:sp>
      </p:grpSp>
      <p:grpSp>
        <p:nvGrpSpPr>
          <p:cNvPr id="27" name="pyramid"/>
          <p:cNvGrpSpPr/>
          <p:nvPr/>
        </p:nvGrpSpPr>
        <p:grpSpPr>
          <a:xfrm>
            <a:off x="7369607" y="1247775"/>
            <a:ext cx="3701186" cy="2895981"/>
            <a:chOff x="7369607" y="1247775"/>
            <a:chExt cx="3701186" cy="2895981"/>
          </a:xfrm>
        </p:grpSpPr>
        <p:sp>
          <p:nvSpPr>
            <p:cNvPr id="19" name="TextBox 19"/>
            <p:cNvSpPr txBox="1"/>
            <p:nvPr/>
          </p:nvSpPr>
          <p:spPr>
            <a:xfrm>
              <a:off x="7819781" y="1247775"/>
              <a:ext cx="2800838"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Test Piramidi (Cohn, 2009)</a:t>
              </a:r>
            </a:p>
          </p:txBody>
        </p:sp>
        <p:sp>
          <p:nvSpPr>
            <p:cNvPr id="20" name="Freeform 20"/>
            <p:cNvSpPr/>
            <p:nvPr/>
          </p:nvSpPr>
          <p:spPr>
            <a:xfrm>
              <a:off x="8534400" y="1657350"/>
              <a:ext cx="1371600" cy="571500"/>
            </a:xfrm>
            <a:custGeom>
              <a:avLst/>
              <a:gdLst/>
              <a:ahLst/>
              <a:cxnLst/>
              <a:rect l="l" t="t" r="r" b="b"/>
              <a:pathLst>
                <a:path w="1371600" h="571500">
                  <a:moveTo>
                    <a:pt x="685800" y="0"/>
                  </a:moveTo>
                  <a:lnTo>
                    <a:pt x="1371600" y="571500"/>
                  </a:lnTo>
                  <a:lnTo>
                    <a:pt x="0" y="571500"/>
                  </a:lnTo>
                  <a:close/>
                </a:path>
              </a:pathLst>
            </a:custGeom>
            <a:solidFill>
              <a:srgbClr val="12355B"/>
            </a:solidFill>
            <a:ln>
              <a:noFill/>
            </a:ln>
          </p:spPr>
        </p:sp>
        <p:sp>
          <p:nvSpPr>
            <p:cNvPr id="21" name="TextBox 21"/>
            <p:cNvSpPr txBox="1"/>
            <p:nvPr/>
          </p:nvSpPr>
          <p:spPr>
            <a:xfrm>
              <a:off x="8857658" y="1897856"/>
              <a:ext cx="725084" cy="220028"/>
            </a:xfrm>
            <a:prstGeom prst="rect">
              <a:avLst/>
            </a:prstGeom>
            <a:noFill/>
            <a:ln>
              <a:noFill/>
            </a:ln>
          </p:spPr>
          <p:txBody>
            <a:bodyPr wrap="none" lIns="0" tIns="0" rIns="0" bIns="0" anchor="t" anchorCtr="0">
              <a:spAutoFit/>
            </a:bodyPr>
            <a:lstStyle/>
            <a:p>
              <a:pPr algn="ctr"/>
              <a:r>
                <a:rPr lang="tr-TR" sz="1120" dirty="0">
                  <a:solidFill>
                    <a:srgbClr val="FFFFFF"/>
                  </a:solidFill>
                  <a:latin typeface="+mn-lt"/>
                  <a:ea typeface="+mn-ea"/>
                  <a:cs typeface="+mn-cs"/>
                </a:rPr>
                <a:t>Uçtan uca</a:t>
              </a:r>
            </a:p>
          </p:txBody>
        </p:sp>
        <p:sp>
          <p:nvSpPr>
            <p:cNvPr id="22" name="Freeform 22"/>
            <p:cNvSpPr/>
            <p:nvPr/>
          </p:nvSpPr>
          <p:spPr>
            <a:xfrm>
              <a:off x="8115300" y="2228850"/>
              <a:ext cx="2209800" cy="685800"/>
            </a:xfrm>
            <a:custGeom>
              <a:avLst/>
              <a:gdLst/>
              <a:ahLst/>
              <a:cxnLst/>
              <a:rect l="l" t="t" r="r" b="b"/>
              <a:pathLst>
                <a:path w="2209800" h="685800">
                  <a:moveTo>
                    <a:pt x="419100" y="0"/>
                  </a:moveTo>
                  <a:lnTo>
                    <a:pt x="1790700" y="0"/>
                  </a:lnTo>
                  <a:lnTo>
                    <a:pt x="2209800" y="685800"/>
                  </a:lnTo>
                  <a:lnTo>
                    <a:pt x="0" y="685800"/>
                  </a:lnTo>
                  <a:close/>
                </a:path>
              </a:pathLst>
            </a:custGeom>
            <a:solidFill>
              <a:srgbClr val="2E86AB"/>
            </a:solidFill>
            <a:ln>
              <a:noFill/>
            </a:ln>
          </p:spPr>
        </p:sp>
        <p:sp>
          <p:nvSpPr>
            <p:cNvPr id="23" name="TextBox 23"/>
            <p:cNvSpPr txBox="1"/>
            <p:nvPr/>
          </p:nvSpPr>
          <p:spPr>
            <a:xfrm>
              <a:off x="8517544" y="2510314"/>
              <a:ext cx="1405313" cy="249364"/>
            </a:xfrm>
            <a:prstGeom prst="rect">
              <a:avLst/>
            </a:prstGeom>
            <a:noFill/>
            <a:ln>
              <a:noFill/>
            </a:ln>
          </p:spPr>
          <p:txBody>
            <a:bodyPr wrap="none" lIns="0" tIns="0" rIns="0" bIns="0" anchor="t" anchorCtr="0">
              <a:spAutoFit/>
            </a:bodyPr>
            <a:lstStyle/>
            <a:p>
              <a:pPr algn="ctr"/>
              <a:r>
                <a:rPr lang="tr-TR" sz="1280" dirty="0">
                  <a:solidFill>
                    <a:srgbClr val="FFFFFF"/>
                  </a:solidFill>
                  <a:latin typeface="+mn-lt"/>
                  <a:ea typeface="+mn-ea"/>
                  <a:cs typeface="+mn-cs"/>
                </a:rPr>
                <a:t>Integration test</a:t>
              </a:r>
            </a:p>
          </p:txBody>
        </p:sp>
        <p:sp>
          <p:nvSpPr>
            <p:cNvPr id="24" name="Freeform 24"/>
            <p:cNvSpPr/>
            <p:nvPr/>
          </p:nvSpPr>
          <p:spPr>
            <a:xfrm>
              <a:off x="7620000" y="2914650"/>
              <a:ext cx="3200400" cy="895350"/>
            </a:xfrm>
            <a:custGeom>
              <a:avLst/>
              <a:gdLst/>
              <a:ahLst/>
              <a:cxnLst/>
              <a:rect l="l" t="t" r="r" b="b"/>
              <a:pathLst>
                <a:path w="3200400" h="895350">
                  <a:moveTo>
                    <a:pt x="495300" y="0"/>
                  </a:moveTo>
                  <a:lnTo>
                    <a:pt x="2705100" y="0"/>
                  </a:lnTo>
                  <a:lnTo>
                    <a:pt x="3200400" y="895350"/>
                  </a:lnTo>
                  <a:lnTo>
                    <a:pt x="0" y="895350"/>
                  </a:lnTo>
                  <a:close/>
                </a:path>
              </a:pathLst>
            </a:custGeom>
            <a:solidFill>
              <a:srgbClr val="00A6A6"/>
            </a:solidFill>
            <a:ln>
              <a:noFill/>
            </a:ln>
          </p:spPr>
        </p:sp>
        <p:sp>
          <p:nvSpPr>
            <p:cNvPr id="25" name="TextBox 25"/>
            <p:cNvSpPr txBox="1"/>
            <p:nvPr/>
          </p:nvSpPr>
          <p:spPr>
            <a:xfrm>
              <a:off x="8784620" y="3294221"/>
              <a:ext cx="871161" cy="278702"/>
            </a:xfrm>
            <a:prstGeom prst="rect">
              <a:avLst/>
            </a:prstGeom>
            <a:noFill/>
            <a:ln>
              <a:noFill/>
            </a:ln>
          </p:spPr>
          <p:txBody>
            <a:bodyPr wrap="none" lIns="0" tIns="0" rIns="0" bIns="0" anchor="t" anchorCtr="0">
              <a:spAutoFit/>
            </a:bodyPr>
            <a:lstStyle/>
            <a:p>
              <a:pPr algn="ctr"/>
              <a:r>
                <a:rPr lang="tr-TR" sz="1420" dirty="0">
                  <a:solidFill>
                    <a:srgbClr val="FFFFFF"/>
                  </a:solidFill>
                  <a:latin typeface="+mn-lt"/>
                  <a:ea typeface="+mn-ea"/>
                  <a:cs typeface="+mn-cs"/>
                </a:rPr>
                <a:t>Unit test</a:t>
              </a:r>
            </a:p>
          </p:txBody>
        </p:sp>
        <p:sp>
          <p:nvSpPr>
            <p:cNvPr id="26" name="TextBox 26"/>
            <p:cNvSpPr txBox="1"/>
            <p:nvPr/>
          </p:nvSpPr>
          <p:spPr>
            <a:xfrm>
              <a:off x="7369607" y="3909060"/>
              <a:ext cx="3701186"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Aşağı indikçe: daha çok, daha hızlı, daha ucuz</a:t>
              </a:r>
            </a:p>
          </p:txBody>
        </p:sp>
      </p:grpSp>
      <p:grpSp>
        <p:nvGrpSpPr>
          <p:cNvPr id="33" name="closing-note"/>
          <p:cNvGrpSpPr/>
          <p:nvPr/>
        </p:nvGrpSpPr>
        <p:grpSpPr>
          <a:xfrm>
            <a:off x="609600" y="4381500"/>
            <a:ext cx="10972800" cy="1276350"/>
            <a:chOff x="609600" y="4381500"/>
            <a:chExt cx="10972800" cy="1276350"/>
          </a:xfrm>
        </p:grpSpPr>
        <p:sp>
          <p:nvSpPr>
            <p:cNvPr id="28" name="Rectangle 28"/>
            <p:cNvSpPr/>
            <p:nvPr/>
          </p:nvSpPr>
          <p:spPr>
            <a:xfrm>
              <a:off x="609600" y="4381500"/>
              <a:ext cx="10972800" cy="1276350"/>
            </a:xfrm>
            <a:prstGeom prst="roundRect">
              <a:avLst>
                <a:gd name="adj" fmla="val 5970"/>
              </a:avLst>
            </a:prstGeom>
            <a:solidFill>
              <a:srgbClr val="FFFFFF"/>
            </a:solidFill>
            <a:ln w="14288">
              <a:solidFill>
                <a:srgbClr val="B8CBD3"/>
              </a:solidFill>
            </a:ln>
          </p:spPr>
        </p:sp>
        <p:sp>
          <p:nvSpPr>
            <p:cNvPr id="29" name="TextBox 29"/>
            <p:cNvSpPr txBox="1"/>
            <p:nvPr/>
          </p:nvSpPr>
          <p:spPr>
            <a:xfrm>
              <a:off x="906399" y="4535329"/>
              <a:ext cx="187775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az sayıda?</a:t>
              </a:r>
            </a:p>
          </p:txBody>
        </p:sp>
        <p:sp>
          <p:nvSpPr>
            <p:cNvPr id="30" name="TextBox 30"/>
            <p:cNvSpPr txBox="1"/>
            <p:nvPr/>
          </p:nvSpPr>
          <p:spPr>
            <a:xfrm>
              <a:off x="906780" y="4829175"/>
              <a:ext cx="831089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Integration testler gerçek veritabanı/ağ katmanını içerdiğinden unit testlere göre</a:t>
              </a:r>
            </a:p>
          </p:txBody>
        </p:sp>
        <p:sp>
          <p:nvSpPr>
            <p:cNvPr id="31" name="TextBox 31"/>
            <p:cNvSpPr txBox="1"/>
            <p:nvPr/>
          </p:nvSpPr>
          <p:spPr>
            <a:xfrm>
              <a:off x="906780" y="5076825"/>
              <a:ext cx="806215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daha yavaş ve daha kırılgandır; bu yüzden piramidin üst katmanlarında az sayıda</a:t>
              </a:r>
            </a:p>
          </p:txBody>
        </p:sp>
        <p:sp>
          <p:nvSpPr>
            <p:cNvPr id="32" name="TextBox 32"/>
            <p:cNvSpPr txBox="1"/>
            <p:nvPr/>
          </p:nvSpPr>
          <p:spPr>
            <a:xfrm>
              <a:off x="906780" y="5324475"/>
              <a:ext cx="671931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tutulur — çoğu mantık zaten unit testlerle hızlıca doğrulanmıştır.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923983" cy="668845"/>
            <a:chOff x="609600" y="171450"/>
            <a:chExt cx="6923983"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23361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Şekil 13.2: Kod 13.5 test akışı</a:t>
              </a:r>
            </a:p>
          </p:txBody>
        </p:sp>
      </p:grpSp>
      <p:grpSp>
        <p:nvGrpSpPr>
          <p:cNvPr id="27" name="sequence"/>
          <p:cNvGrpSpPr/>
          <p:nvPr/>
        </p:nvGrpSpPr>
        <p:grpSpPr>
          <a:xfrm>
            <a:off x="1494765" y="1283018"/>
            <a:ext cx="9735014" cy="3288982"/>
            <a:chOff x="1494765" y="1283018"/>
            <a:chExt cx="9735014" cy="3288982"/>
          </a:xfrm>
        </p:grpSpPr>
        <p:sp>
          <p:nvSpPr>
            <p:cNvPr id="9" name="TextBox 9"/>
            <p:cNvSpPr txBox="1"/>
            <p:nvPr/>
          </p:nvSpPr>
          <p:spPr>
            <a:xfrm>
              <a:off x="1494765" y="1283018"/>
              <a:ext cx="439469"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Test</a:t>
              </a:r>
            </a:p>
          </p:txBody>
        </p:sp>
        <p:sp>
          <p:nvSpPr>
            <p:cNvPr id="10" name="TextBox 10"/>
            <p:cNvSpPr txBox="1"/>
            <p:nvPr/>
          </p:nvSpPr>
          <p:spPr>
            <a:xfrm>
              <a:off x="5449127" y="1283018"/>
              <a:ext cx="1293745"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LoginEndpoint</a:t>
              </a:r>
            </a:p>
          </p:txBody>
        </p:sp>
        <p:sp>
          <p:nvSpPr>
            <p:cNvPr id="11" name="TextBox 11"/>
            <p:cNvSpPr txBox="1"/>
            <p:nvPr/>
          </p:nvSpPr>
          <p:spPr>
            <a:xfrm>
              <a:off x="9725220" y="1283018"/>
              <a:ext cx="1504559"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Test Veritabanı</a:t>
              </a:r>
            </a:p>
          </p:txBody>
        </p:sp>
        <p:sp>
          <p:nvSpPr>
            <p:cNvPr id="12" name="Line 12"/>
            <p:cNvSpPr/>
            <p:nvPr/>
          </p:nvSpPr>
          <p:spPr>
            <a:xfrm>
              <a:off x="1714500" y="1562100"/>
              <a:ext cx="9525" cy="3009900"/>
            </a:xfrm>
            <a:custGeom>
              <a:avLst/>
              <a:gdLst/>
              <a:ahLst/>
              <a:cxnLst/>
              <a:rect l="l" t="t" r="r" b="b"/>
              <a:pathLst>
                <a:path w="9525" h="3009900">
                  <a:moveTo>
                    <a:pt x="0" y="0"/>
                  </a:moveTo>
                  <a:lnTo>
                    <a:pt x="0" y="3009900"/>
                  </a:lnTo>
                </a:path>
              </a:pathLst>
            </a:custGeom>
            <a:noFill/>
            <a:ln w="14288">
              <a:solidFill>
                <a:srgbClr val="B8CBD3"/>
              </a:solidFill>
            </a:ln>
          </p:spPr>
        </p:sp>
        <p:sp>
          <p:nvSpPr>
            <p:cNvPr id="13" name="Line 13"/>
            <p:cNvSpPr/>
            <p:nvPr/>
          </p:nvSpPr>
          <p:spPr>
            <a:xfrm>
              <a:off x="6096000" y="1562100"/>
              <a:ext cx="9525" cy="3009900"/>
            </a:xfrm>
            <a:custGeom>
              <a:avLst/>
              <a:gdLst/>
              <a:ahLst/>
              <a:cxnLst/>
              <a:rect l="l" t="t" r="r" b="b"/>
              <a:pathLst>
                <a:path w="9525" h="3009900">
                  <a:moveTo>
                    <a:pt x="0" y="0"/>
                  </a:moveTo>
                  <a:lnTo>
                    <a:pt x="0" y="3009900"/>
                  </a:lnTo>
                </a:path>
              </a:pathLst>
            </a:custGeom>
            <a:noFill/>
            <a:ln w="14288">
              <a:solidFill>
                <a:srgbClr val="B8CBD3"/>
              </a:solidFill>
            </a:ln>
          </p:spPr>
        </p:sp>
        <p:sp>
          <p:nvSpPr>
            <p:cNvPr id="14" name="Line 14"/>
            <p:cNvSpPr/>
            <p:nvPr/>
          </p:nvSpPr>
          <p:spPr>
            <a:xfrm>
              <a:off x="10477500" y="1562100"/>
              <a:ext cx="9525" cy="3009900"/>
            </a:xfrm>
            <a:custGeom>
              <a:avLst/>
              <a:gdLst/>
              <a:ahLst/>
              <a:cxnLst/>
              <a:rect l="l" t="t" r="r" b="b"/>
              <a:pathLst>
                <a:path w="9525" h="3009900">
                  <a:moveTo>
                    <a:pt x="0" y="0"/>
                  </a:moveTo>
                  <a:lnTo>
                    <a:pt x="0" y="3009900"/>
                  </a:lnTo>
                </a:path>
              </a:pathLst>
            </a:custGeom>
            <a:noFill/>
            <a:ln w="14288">
              <a:solidFill>
                <a:srgbClr val="B8CBD3"/>
              </a:solidFill>
            </a:ln>
          </p:spPr>
        </p:sp>
        <p:sp>
          <p:nvSpPr>
            <p:cNvPr id="15" name="Line 15"/>
            <p:cNvSpPr/>
            <p:nvPr/>
          </p:nvSpPr>
          <p:spPr>
            <a:xfrm>
              <a:off x="1714500" y="1866900"/>
              <a:ext cx="8763000" cy="1"/>
            </a:xfrm>
            <a:prstGeom prst="line">
              <a:avLst/>
            </a:prstGeom>
            <a:noFill/>
            <a:ln w="19050">
              <a:solidFill>
                <a:srgbClr val="52616B"/>
              </a:solidFill>
              <a:tailEnd type="arrow" w="lg" len="lg"/>
            </a:ln>
          </p:spPr>
        </p:sp>
        <p:sp>
          <p:nvSpPr>
            <p:cNvPr id="16" name="TextBox 16"/>
            <p:cNvSpPr txBox="1"/>
            <p:nvPr/>
          </p:nvSpPr>
          <p:spPr>
            <a:xfrm>
              <a:off x="4746472" y="1661160"/>
              <a:ext cx="269905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beforeEach: veritabanını sıfırla</a:t>
              </a:r>
            </a:p>
          </p:txBody>
        </p:sp>
        <p:sp>
          <p:nvSpPr>
            <p:cNvPr id="17" name="Line 17"/>
            <p:cNvSpPr/>
            <p:nvPr/>
          </p:nvSpPr>
          <p:spPr>
            <a:xfrm>
              <a:off x="1714500" y="2362200"/>
              <a:ext cx="8763000" cy="1"/>
            </a:xfrm>
            <a:prstGeom prst="line">
              <a:avLst/>
            </a:prstGeom>
            <a:noFill/>
            <a:ln w="19050">
              <a:solidFill>
                <a:srgbClr val="52616B"/>
              </a:solidFill>
              <a:tailEnd type="arrow" w="lg" len="lg"/>
            </a:ln>
          </p:spPr>
        </p:sp>
        <p:sp>
          <p:nvSpPr>
            <p:cNvPr id="18" name="TextBox 18"/>
            <p:cNvSpPr txBox="1"/>
            <p:nvPr/>
          </p:nvSpPr>
          <p:spPr>
            <a:xfrm>
              <a:off x="5023127" y="2156460"/>
              <a:ext cx="2145745"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testKullaniciEkle(kullanici)</a:t>
              </a:r>
            </a:p>
          </p:txBody>
        </p:sp>
        <p:sp>
          <p:nvSpPr>
            <p:cNvPr id="19" name="Line 19"/>
            <p:cNvSpPr/>
            <p:nvPr/>
          </p:nvSpPr>
          <p:spPr>
            <a:xfrm>
              <a:off x="1714500" y="2933700"/>
              <a:ext cx="4381500" cy="1"/>
            </a:xfrm>
            <a:prstGeom prst="line">
              <a:avLst/>
            </a:prstGeom>
            <a:noFill/>
            <a:ln w="19050">
              <a:solidFill>
                <a:srgbClr val="52616B"/>
              </a:solidFill>
              <a:tailEnd type="arrow" w="lg" len="lg"/>
            </a:ln>
          </p:spPr>
        </p:sp>
        <p:sp>
          <p:nvSpPr>
            <p:cNvPr id="20" name="TextBox 20"/>
            <p:cNvSpPr txBox="1"/>
            <p:nvPr/>
          </p:nvSpPr>
          <p:spPr>
            <a:xfrm>
              <a:off x="2517953" y="2727960"/>
              <a:ext cx="2774594"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request(app).post("/auth/login")</a:t>
              </a:r>
            </a:p>
          </p:txBody>
        </p:sp>
        <p:sp>
          <p:nvSpPr>
            <p:cNvPr id="21" name="Line 21"/>
            <p:cNvSpPr/>
            <p:nvPr/>
          </p:nvSpPr>
          <p:spPr>
            <a:xfrm>
              <a:off x="6096000" y="3409950"/>
              <a:ext cx="4381500" cy="1"/>
            </a:xfrm>
            <a:prstGeom prst="line">
              <a:avLst/>
            </a:prstGeom>
            <a:noFill/>
            <a:ln w="19050">
              <a:solidFill>
                <a:srgbClr val="52616B"/>
              </a:solidFill>
              <a:tailEnd type="arrow" w="lg" len="lg"/>
            </a:ln>
          </p:spPr>
        </p:sp>
        <p:sp>
          <p:nvSpPr>
            <p:cNvPr id="22" name="TextBox 22"/>
            <p:cNvSpPr txBox="1"/>
            <p:nvPr/>
          </p:nvSpPr>
          <p:spPr>
            <a:xfrm>
              <a:off x="7242734" y="3204210"/>
              <a:ext cx="2088032"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kullaniciyi doğrula (sorgu)</a:t>
              </a:r>
            </a:p>
          </p:txBody>
        </p:sp>
        <p:sp>
          <p:nvSpPr>
            <p:cNvPr id="23" name="Line 23"/>
            <p:cNvSpPr/>
            <p:nvPr/>
          </p:nvSpPr>
          <p:spPr>
            <a:xfrm flipH="1">
              <a:off x="6096000" y="3905250"/>
              <a:ext cx="4381500" cy="1"/>
            </a:xfrm>
            <a:prstGeom prst="line">
              <a:avLst/>
            </a:prstGeom>
            <a:noFill/>
            <a:ln w="19050">
              <a:solidFill>
                <a:srgbClr val="52616B"/>
              </a:solidFill>
              <a:tailEnd type="arrow" w="lg" len="lg"/>
            </a:ln>
          </p:spPr>
        </p:sp>
        <p:sp>
          <p:nvSpPr>
            <p:cNvPr id="24" name="TextBox 24"/>
            <p:cNvSpPr txBox="1"/>
            <p:nvPr/>
          </p:nvSpPr>
          <p:spPr>
            <a:xfrm>
              <a:off x="7743520" y="3699510"/>
              <a:ext cx="108646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kayıt bulundu</a:t>
              </a:r>
            </a:p>
          </p:txBody>
        </p:sp>
        <p:sp>
          <p:nvSpPr>
            <p:cNvPr id="25" name="Line 25"/>
            <p:cNvSpPr/>
            <p:nvPr/>
          </p:nvSpPr>
          <p:spPr>
            <a:xfrm flipH="1">
              <a:off x="1714500" y="4381500"/>
              <a:ext cx="4381500" cy="1"/>
            </a:xfrm>
            <a:prstGeom prst="line">
              <a:avLst/>
            </a:prstGeom>
            <a:noFill/>
            <a:ln w="19050">
              <a:solidFill>
                <a:srgbClr val="52616B"/>
              </a:solidFill>
              <a:tailEnd type="arrow" w="lg" len="lg"/>
            </a:ln>
          </p:spPr>
        </p:sp>
        <p:sp>
          <p:nvSpPr>
            <p:cNvPr id="26" name="TextBox 26"/>
            <p:cNvSpPr txBox="1"/>
            <p:nvPr/>
          </p:nvSpPr>
          <p:spPr>
            <a:xfrm>
              <a:off x="3091434" y="4175760"/>
              <a:ext cx="1627632"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200 + token → assert</a:t>
              </a:r>
            </a:p>
          </p:txBody>
        </p:sp>
      </p:grpSp>
      <p:grpSp>
        <p:nvGrpSpPr>
          <p:cNvPr id="31" name="side-note"/>
          <p:cNvGrpSpPr/>
          <p:nvPr/>
        </p:nvGrpSpPr>
        <p:grpSpPr>
          <a:xfrm>
            <a:off x="609600" y="4953000"/>
            <a:ext cx="10972800" cy="704850"/>
            <a:chOff x="609600" y="4953000"/>
            <a:chExt cx="10972800" cy="704850"/>
          </a:xfrm>
        </p:grpSpPr>
        <p:sp>
          <p:nvSpPr>
            <p:cNvPr id="28" name="Rectangle 28"/>
            <p:cNvSpPr/>
            <p:nvPr/>
          </p:nvSpPr>
          <p:spPr>
            <a:xfrm>
              <a:off x="609600" y="4953000"/>
              <a:ext cx="10972800" cy="704850"/>
            </a:xfrm>
            <a:prstGeom prst="roundRect">
              <a:avLst>
                <a:gd name="adj" fmla="val 10811"/>
              </a:avLst>
            </a:prstGeom>
            <a:solidFill>
              <a:srgbClr val="EAF4F6"/>
            </a:solidFill>
            <a:ln>
              <a:noFill/>
            </a:ln>
          </p:spPr>
        </p:sp>
        <p:sp>
          <p:nvSpPr>
            <p:cNvPr id="29" name="TextBox 29"/>
            <p:cNvSpPr txBox="1"/>
            <p:nvPr/>
          </p:nvSpPr>
          <p:spPr>
            <a:xfrm>
              <a:off x="907161" y="5103971"/>
              <a:ext cx="7504826"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`beforeEach` her testten önce veritabanını sıfırlar; bu, testlerin birbirinden</a:t>
              </a:r>
            </a:p>
          </p:txBody>
        </p:sp>
        <p:sp>
          <p:nvSpPr>
            <p:cNvPr id="30" name="TextBox 30"/>
            <p:cNvSpPr txBox="1"/>
            <p:nvPr/>
          </p:nvSpPr>
          <p:spPr>
            <a:xfrm>
              <a:off x="907161" y="5332571"/>
              <a:ext cx="8193107"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bağımsız, tekrarlanabilir sonuç üretmesini garanti eder (supertest ile HTTP çağrısı).</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299555" cy="668845"/>
            <a:chOff x="609600" y="171450"/>
            <a:chExt cx="729955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66091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Test veritabanı: hangi yaklaşım?</a:t>
              </a:r>
            </a:p>
          </p:txBody>
        </p:sp>
      </p:grpSp>
      <p:grpSp>
        <p:nvGrpSpPr>
          <p:cNvPr id="17" name="alt-header"/>
          <p:cNvGrpSpPr/>
          <p:nvPr/>
        </p:nvGrpSpPr>
        <p:grpSpPr>
          <a:xfrm>
            <a:off x="609600" y="1066800"/>
            <a:ext cx="10972800" cy="323850"/>
            <a:chOff x="609600" y="1066800"/>
            <a:chExt cx="10972800" cy="323850"/>
          </a:xfrm>
        </p:grpSpPr>
        <p:sp>
          <p:nvSpPr>
            <p:cNvPr id="12" name="Rectangle 12"/>
            <p:cNvSpPr/>
            <p:nvPr/>
          </p:nvSpPr>
          <p:spPr>
            <a:xfrm>
              <a:off x="609600" y="1066800"/>
              <a:ext cx="10972800" cy="323850"/>
            </a:xfrm>
            <a:prstGeom prst="rect">
              <a:avLst/>
            </a:prstGeom>
            <a:solidFill>
              <a:srgbClr val="12355B"/>
            </a:solidFill>
            <a:ln>
              <a:noFill/>
            </a:ln>
          </p:spPr>
        </p:sp>
        <p:sp>
          <p:nvSpPr>
            <p:cNvPr id="13" name="TextBox 13"/>
            <p:cNvSpPr txBox="1"/>
            <p:nvPr/>
          </p:nvSpPr>
          <p:spPr>
            <a:xfrm>
              <a:off x="756666" y="1163002"/>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YAKLAŞIM</a:t>
              </a:r>
            </a:p>
          </p:txBody>
        </p:sp>
        <p:sp>
          <p:nvSpPr>
            <p:cNvPr id="14" name="TextBox 14"/>
            <p:cNvSpPr txBox="1"/>
            <p:nvPr/>
          </p:nvSpPr>
          <p:spPr>
            <a:xfrm>
              <a:off x="3137916" y="1163002"/>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5" name="TextBox 15"/>
            <p:cNvSpPr txBox="1"/>
            <p:nvPr/>
          </p:nvSpPr>
          <p:spPr>
            <a:xfrm>
              <a:off x="5804916" y="1163002"/>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6" name="TextBox 16"/>
            <p:cNvSpPr txBox="1"/>
            <p:nvPr/>
          </p:nvSpPr>
          <p:spPr>
            <a:xfrm>
              <a:off x="8471916" y="1163002"/>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4" name="alt-row1"/>
          <p:cNvGrpSpPr/>
          <p:nvPr/>
        </p:nvGrpSpPr>
        <p:grpSpPr>
          <a:xfrm>
            <a:off x="609600" y="1390650"/>
            <a:ext cx="10972800" cy="733425"/>
            <a:chOff x="609600" y="1390650"/>
            <a:chExt cx="10972800" cy="733425"/>
          </a:xfrm>
        </p:grpSpPr>
        <p:sp>
          <p:nvSpPr>
            <p:cNvPr id="18" name="Rectangle 18"/>
            <p:cNvSpPr/>
            <p:nvPr/>
          </p:nvSpPr>
          <p:spPr>
            <a:xfrm>
              <a:off x="609600" y="1390650"/>
              <a:ext cx="10972800" cy="723900"/>
            </a:xfrm>
            <a:prstGeom prst="rect">
              <a:avLst/>
            </a:prstGeom>
            <a:solidFill>
              <a:srgbClr val="EAF4F6"/>
            </a:solidFill>
            <a:ln>
              <a:noFill/>
            </a:ln>
          </p:spPr>
        </p:sp>
        <p:sp>
          <p:nvSpPr>
            <p:cNvPr id="19" name="TextBox 19"/>
            <p:cNvSpPr txBox="1"/>
            <p:nvPr/>
          </p:nvSpPr>
          <p:spPr>
            <a:xfrm>
              <a:off x="755904" y="1546860"/>
              <a:ext cx="1572387"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Ayrı, sıfırlanabilir</a:t>
              </a:r>
              <a:br/>
              <a:r>
                <a:rPr lang="tr-TR" sz="1200" b="1" dirty="0">
                  <a:solidFill>
                    <a:srgbClr val="12355B"/>
                  </a:solidFill>
                  <a:latin typeface="+mn-lt"/>
                  <a:ea typeface="+mn-ea"/>
                  <a:cs typeface="+mn-cs"/>
                </a:rPr>
                <a:t>test veritabanı</a:t>
              </a:r>
            </a:p>
          </p:txBody>
        </p:sp>
        <p:sp>
          <p:nvSpPr>
            <p:cNvPr id="20" name="TextBox 20"/>
            <p:cNvSpPr txBox="1"/>
            <p:nvPr/>
          </p:nvSpPr>
          <p:spPr>
            <a:xfrm>
              <a:off x="3137535" y="1612106"/>
              <a:ext cx="173253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Üretim verisiyle gerçek</a:t>
              </a:r>
              <a:br/>
              <a:r>
                <a:rPr lang="tr-TR" sz="1120" dirty="0">
                  <a:solidFill>
                    <a:srgbClr val="172B3A"/>
                  </a:solidFill>
                  <a:latin typeface="+mn-lt"/>
                  <a:ea typeface="+mn-ea"/>
                  <a:cs typeface="+mn-cs"/>
                </a:rPr>
                <a:t>motor arasında tutarlı.</a:t>
              </a:r>
            </a:p>
          </p:txBody>
        </p:sp>
        <p:sp>
          <p:nvSpPr>
            <p:cNvPr id="21" name="TextBox 21"/>
            <p:cNvSpPr txBox="1"/>
            <p:nvPr/>
          </p:nvSpPr>
          <p:spPr>
            <a:xfrm>
              <a:off x="5804535" y="1612106"/>
              <a:ext cx="151206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Kurulum ve sıfırlama</a:t>
              </a:r>
              <a:br/>
              <a:r>
                <a:rPr lang="tr-TR" sz="1120" dirty="0">
                  <a:solidFill>
                    <a:srgbClr val="172B3A"/>
                  </a:solidFill>
                  <a:latin typeface="+mn-lt"/>
                  <a:ea typeface="+mn-ea"/>
                  <a:cs typeface="+mn-cs"/>
                </a:rPr>
                <a:t>altyapısı gerektirir.</a:t>
              </a:r>
            </a:p>
          </p:txBody>
        </p:sp>
        <p:sp>
          <p:nvSpPr>
            <p:cNvPr id="22" name="TextBox 22"/>
            <p:cNvSpPr txBox="1"/>
            <p:nvPr/>
          </p:nvSpPr>
          <p:spPr>
            <a:xfrm>
              <a:off x="8471535" y="1612106"/>
              <a:ext cx="1632966"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Çoğu üretim projesi için</a:t>
              </a:r>
              <a:br/>
              <a:r>
                <a:rPr lang="tr-TR" sz="1120" dirty="0">
                  <a:solidFill>
                    <a:srgbClr val="172B3A"/>
                  </a:solidFill>
                  <a:latin typeface="+mn-lt"/>
                  <a:ea typeface="+mn-ea"/>
                  <a:cs typeface="+mn-cs"/>
                </a:rPr>
                <a:t>standart yaklaşım.</a:t>
              </a:r>
            </a:p>
          </p:txBody>
        </p:sp>
        <p:sp>
          <p:nvSpPr>
            <p:cNvPr id="23" name="Line 23"/>
            <p:cNvSpPr/>
            <p:nvPr/>
          </p:nvSpPr>
          <p:spPr>
            <a:xfrm>
              <a:off x="609600" y="21145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alt-row2"/>
          <p:cNvGrpSpPr/>
          <p:nvPr/>
        </p:nvGrpSpPr>
        <p:grpSpPr>
          <a:xfrm>
            <a:off x="609600" y="2270760"/>
            <a:ext cx="10972800" cy="577215"/>
            <a:chOff x="609600" y="2270760"/>
            <a:chExt cx="10972800" cy="577215"/>
          </a:xfrm>
        </p:grpSpPr>
        <p:sp>
          <p:nvSpPr>
            <p:cNvPr id="25" name="TextBox 25"/>
            <p:cNvSpPr txBox="1"/>
            <p:nvPr/>
          </p:nvSpPr>
          <p:spPr>
            <a:xfrm>
              <a:off x="755904" y="2270760"/>
              <a:ext cx="135520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Bellek içi SQLite</a:t>
              </a:r>
            </a:p>
          </p:txBody>
        </p:sp>
        <p:sp>
          <p:nvSpPr>
            <p:cNvPr id="26" name="TextBox 26"/>
            <p:cNvSpPr txBox="1"/>
            <p:nvPr/>
          </p:nvSpPr>
          <p:spPr>
            <a:xfrm>
              <a:off x="3137535" y="2336006"/>
              <a:ext cx="172053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 hızlı, kurulumsuz.</a:t>
              </a:r>
            </a:p>
          </p:txBody>
        </p:sp>
        <p:sp>
          <p:nvSpPr>
            <p:cNvPr id="27" name="TextBox 27"/>
            <p:cNvSpPr txBox="1"/>
            <p:nvPr/>
          </p:nvSpPr>
          <p:spPr>
            <a:xfrm>
              <a:off x="5804535" y="2336006"/>
              <a:ext cx="2002790"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Üretim veritabanı motoruyla</a:t>
              </a:r>
              <a:br/>
              <a:r>
                <a:rPr lang="tr-TR" sz="1120" dirty="0">
                  <a:solidFill>
                    <a:srgbClr val="172B3A"/>
                  </a:solidFill>
                  <a:latin typeface="+mn-lt"/>
                  <a:ea typeface="+mn-ea"/>
                  <a:cs typeface="+mn-cs"/>
                </a:rPr>
                <a:t>davranış farkı olabilir.</a:t>
              </a:r>
            </a:p>
          </p:txBody>
        </p:sp>
        <p:sp>
          <p:nvSpPr>
            <p:cNvPr id="28" name="TextBox 28"/>
            <p:cNvSpPr txBox="1"/>
            <p:nvPr/>
          </p:nvSpPr>
          <p:spPr>
            <a:xfrm>
              <a:off x="8471535" y="2336006"/>
              <a:ext cx="183210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Hızlı geri bildirim gereken</a:t>
              </a:r>
              <a:br/>
              <a:r>
                <a:rPr lang="tr-TR" sz="1120" dirty="0">
                  <a:solidFill>
                    <a:srgbClr val="172B3A"/>
                  </a:solidFill>
                  <a:latin typeface="+mn-lt"/>
                  <a:ea typeface="+mn-ea"/>
                  <a:cs typeface="+mn-cs"/>
                </a:rPr>
                <a:t>CI adımları.</a:t>
              </a:r>
            </a:p>
          </p:txBody>
        </p:sp>
        <p:sp>
          <p:nvSpPr>
            <p:cNvPr id="29" name="Line 29"/>
            <p:cNvSpPr/>
            <p:nvPr/>
          </p:nvSpPr>
          <p:spPr>
            <a:xfrm>
              <a:off x="609600" y="2838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alt-row3"/>
          <p:cNvGrpSpPr/>
          <p:nvPr/>
        </p:nvGrpSpPr>
        <p:grpSpPr>
          <a:xfrm>
            <a:off x="609600" y="2838450"/>
            <a:ext cx="10972800" cy="733425"/>
            <a:chOff x="609600" y="2838450"/>
            <a:chExt cx="10972800" cy="733425"/>
          </a:xfrm>
        </p:grpSpPr>
        <p:sp>
          <p:nvSpPr>
            <p:cNvPr id="31" name="Rectangle 31"/>
            <p:cNvSpPr/>
            <p:nvPr/>
          </p:nvSpPr>
          <p:spPr>
            <a:xfrm>
              <a:off x="609600" y="2838450"/>
              <a:ext cx="10972800" cy="723900"/>
            </a:xfrm>
            <a:prstGeom prst="rect">
              <a:avLst/>
            </a:prstGeom>
            <a:solidFill>
              <a:srgbClr val="EAF4F6"/>
            </a:solidFill>
            <a:ln>
              <a:noFill/>
            </a:ln>
          </p:spPr>
        </p:sp>
        <p:sp>
          <p:nvSpPr>
            <p:cNvPr id="32" name="TextBox 32"/>
            <p:cNvSpPr txBox="1"/>
            <p:nvPr/>
          </p:nvSpPr>
          <p:spPr>
            <a:xfrm>
              <a:off x="755904" y="2994660"/>
              <a:ext cx="128097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Testcontainers</a:t>
              </a:r>
            </a:p>
          </p:txBody>
        </p:sp>
        <p:sp>
          <p:nvSpPr>
            <p:cNvPr id="33" name="TextBox 33"/>
            <p:cNvSpPr txBox="1"/>
            <p:nvPr/>
          </p:nvSpPr>
          <p:spPr>
            <a:xfrm>
              <a:off x="3137535" y="3059906"/>
              <a:ext cx="210235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Gerçek veritabanı motorunu</a:t>
              </a:r>
              <a:br/>
              <a:r>
                <a:rPr lang="tr-TR" sz="1120" dirty="0">
                  <a:solidFill>
                    <a:srgbClr val="172B3A"/>
                  </a:solidFill>
                  <a:latin typeface="+mn-lt"/>
                  <a:ea typeface="+mn-ea"/>
                  <a:cs typeface="+mn-cs"/>
                </a:rPr>
                <a:t>izole konteynerde çalıştırır.</a:t>
              </a:r>
            </a:p>
          </p:txBody>
        </p:sp>
        <p:sp>
          <p:nvSpPr>
            <p:cNvPr id="34" name="TextBox 34"/>
            <p:cNvSpPr txBox="1"/>
            <p:nvPr/>
          </p:nvSpPr>
          <p:spPr>
            <a:xfrm>
              <a:off x="5804535" y="3059906"/>
              <a:ext cx="197434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Docker gerektirir; başlatma</a:t>
              </a:r>
              <a:br/>
              <a:r>
                <a:rPr lang="tr-TR" sz="1120" dirty="0">
                  <a:solidFill>
                    <a:srgbClr val="172B3A"/>
                  </a:solidFill>
                  <a:latin typeface="+mn-lt"/>
                  <a:ea typeface="+mn-ea"/>
                  <a:cs typeface="+mn-cs"/>
                </a:rPr>
                <a:t>süresi daha uzundur.</a:t>
              </a:r>
            </a:p>
          </p:txBody>
        </p:sp>
        <p:sp>
          <p:nvSpPr>
            <p:cNvPr id="35" name="TextBox 35"/>
            <p:cNvSpPr txBox="1"/>
            <p:nvPr/>
          </p:nvSpPr>
          <p:spPr>
            <a:xfrm>
              <a:off x="8471535" y="3059906"/>
              <a:ext cx="200990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Üretime en yakın davranışın</a:t>
              </a:r>
              <a:br/>
              <a:r>
                <a:rPr lang="tr-TR" sz="1120" dirty="0">
                  <a:solidFill>
                    <a:srgbClr val="172B3A"/>
                  </a:solidFill>
                  <a:latin typeface="+mn-lt"/>
                  <a:ea typeface="+mn-ea"/>
                  <a:cs typeface="+mn-cs"/>
                </a:rPr>
                <a:t>gerektiği ekipler.</a:t>
              </a:r>
            </a:p>
          </p:txBody>
        </p:sp>
        <p:sp>
          <p:nvSpPr>
            <p:cNvPr id="36" name="Line 36"/>
            <p:cNvSpPr/>
            <p:nvPr/>
          </p:nvSpPr>
          <p:spPr>
            <a:xfrm>
              <a:off x="609600" y="35623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alt-row4"/>
          <p:cNvGrpSpPr/>
          <p:nvPr/>
        </p:nvGrpSpPr>
        <p:grpSpPr>
          <a:xfrm>
            <a:off x="755904" y="3718560"/>
            <a:ext cx="9473199" cy="456724"/>
            <a:chOff x="755904" y="3718560"/>
            <a:chExt cx="9473199" cy="456724"/>
          </a:xfrm>
        </p:grpSpPr>
        <p:sp>
          <p:nvSpPr>
            <p:cNvPr id="38" name="TextBox 38"/>
            <p:cNvSpPr txBox="1"/>
            <p:nvPr/>
          </p:nvSpPr>
          <p:spPr>
            <a:xfrm>
              <a:off x="755904" y="3718560"/>
              <a:ext cx="1510139" cy="234696"/>
            </a:xfrm>
            <a:prstGeom prst="rect">
              <a:avLst/>
            </a:prstGeom>
            <a:noFill/>
            <a:ln>
              <a:noFill/>
            </a:ln>
          </p:spPr>
          <p:txBody>
            <a:bodyPr wrap="none" lIns="0" tIns="0" rIns="0" bIns="0" anchor="t" anchorCtr="0">
              <a:spAutoFit/>
            </a:bodyPr>
            <a:lstStyle/>
            <a:p>
              <a:pPr algn="l"/>
              <a:r>
                <a:rPr lang="tr-TR" sz="1200" b="1" dirty="0">
                  <a:solidFill>
                    <a:srgbClr val="9E2B25"/>
                  </a:solidFill>
                  <a:latin typeface="+mn-lt"/>
                  <a:ea typeface="+mn-ea"/>
                  <a:cs typeface="+mn-cs"/>
                </a:rPr>
                <a:t>Üretim veritabanı</a:t>
              </a:r>
            </a:p>
          </p:txBody>
        </p:sp>
        <p:sp>
          <p:nvSpPr>
            <p:cNvPr id="39" name="TextBox 39"/>
            <p:cNvSpPr txBox="1"/>
            <p:nvPr/>
          </p:nvSpPr>
          <p:spPr>
            <a:xfrm>
              <a:off x="3137535" y="3783806"/>
              <a:ext cx="156233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Yok — kabul edilemez.</a:t>
              </a:r>
            </a:p>
          </p:txBody>
        </p:sp>
        <p:sp>
          <p:nvSpPr>
            <p:cNvPr id="40" name="TextBox 40"/>
            <p:cNvSpPr txBox="1"/>
            <p:nvPr/>
          </p:nvSpPr>
          <p:spPr>
            <a:xfrm>
              <a:off x="5804535" y="3783806"/>
              <a:ext cx="173253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Gerçek kullanıcı verisini</a:t>
              </a:r>
              <a:br/>
              <a:r>
                <a:rPr lang="tr-TR" sz="1120" dirty="0">
                  <a:solidFill>
                    <a:srgbClr val="172B3A"/>
                  </a:solidFill>
                  <a:latin typeface="+mn-lt"/>
                  <a:ea typeface="+mn-ea"/>
                  <a:cs typeface="+mn-cs"/>
                </a:rPr>
                <a:t>bozma/silme riski taşır.</a:t>
              </a:r>
            </a:p>
          </p:txBody>
        </p:sp>
        <p:sp>
          <p:nvSpPr>
            <p:cNvPr id="41" name="TextBox 41"/>
            <p:cNvSpPr txBox="1"/>
            <p:nvPr/>
          </p:nvSpPr>
          <p:spPr>
            <a:xfrm>
              <a:off x="8471535" y="3783806"/>
              <a:ext cx="175756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Asla kullanılmamalıdır.</a:t>
              </a:r>
            </a:p>
          </p:txBody>
        </p:sp>
      </p:grpSp>
      <p:grpSp>
        <p:nvGrpSpPr>
          <p:cNvPr id="51" name="common-errors"/>
          <p:cNvGrpSpPr/>
          <p:nvPr/>
        </p:nvGrpSpPr>
        <p:grpSpPr>
          <a:xfrm>
            <a:off x="609600" y="4610100"/>
            <a:ext cx="10972800" cy="1676400"/>
            <a:chOff x="609600" y="4610100"/>
            <a:chExt cx="10972800" cy="1676400"/>
          </a:xfrm>
        </p:grpSpPr>
        <p:sp>
          <p:nvSpPr>
            <p:cNvPr id="43" name="Rectangle 43"/>
            <p:cNvSpPr/>
            <p:nvPr/>
          </p:nvSpPr>
          <p:spPr>
            <a:xfrm>
              <a:off x="609600" y="4610100"/>
              <a:ext cx="10972800" cy="1676400"/>
            </a:xfrm>
            <a:prstGeom prst="roundRect">
              <a:avLst>
                <a:gd name="adj" fmla="val 4545"/>
              </a:avLst>
            </a:prstGeom>
            <a:solidFill>
              <a:srgbClr val="FFFFFF"/>
            </a:solidFill>
            <a:ln w="14288">
              <a:solidFill>
                <a:srgbClr val="B8CBD3"/>
              </a:solidFill>
            </a:ln>
          </p:spPr>
        </p:sp>
        <p:sp>
          <p:nvSpPr>
            <p:cNvPr id="44" name="TextBox 44"/>
            <p:cNvSpPr txBox="1"/>
            <p:nvPr/>
          </p:nvSpPr>
          <p:spPr>
            <a:xfrm>
              <a:off x="906399" y="4763929"/>
              <a:ext cx="292901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 (code_010)</a:t>
              </a:r>
            </a:p>
          </p:txBody>
        </p:sp>
        <p:sp>
          <p:nvSpPr>
            <p:cNvPr id="45" name="Rectangle 45"/>
            <p:cNvSpPr/>
            <p:nvPr/>
          </p:nvSpPr>
          <p:spPr>
            <a:xfrm>
              <a:off x="914400" y="5105400"/>
              <a:ext cx="57150" cy="438150"/>
            </a:xfrm>
            <a:prstGeom prst="rect">
              <a:avLst/>
            </a:prstGeom>
            <a:solidFill>
              <a:srgbClr val="00A6A6"/>
            </a:solidFill>
            <a:ln>
              <a:noFill/>
            </a:ln>
          </p:spPr>
        </p:sp>
        <p:sp>
          <p:nvSpPr>
            <p:cNvPr id="46" name="TextBox 46"/>
            <p:cNvSpPr txBox="1"/>
            <p:nvPr/>
          </p:nvSpPr>
          <p:spPr>
            <a:xfrm>
              <a:off x="1116330" y="5114925"/>
              <a:ext cx="796770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Testler arasında veritabanını sıfırlamamak — bir testin kalıntısı bir sonrakini</a:t>
              </a:r>
            </a:p>
          </p:txBody>
        </p:sp>
        <p:sp>
          <p:nvSpPr>
            <p:cNvPr id="47" name="TextBox 47"/>
            <p:cNvSpPr txBox="1"/>
            <p:nvPr/>
          </p:nvSpPr>
          <p:spPr>
            <a:xfrm>
              <a:off x="1116330" y="5362575"/>
              <a:ext cx="3054287"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etkiler, flaky test'e yol açar.</a:t>
              </a:r>
            </a:p>
          </p:txBody>
        </p:sp>
        <p:sp>
          <p:nvSpPr>
            <p:cNvPr id="48" name="Rectangle 48"/>
            <p:cNvSpPr/>
            <p:nvPr/>
          </p:nvSpPr>
          <p:spPr>
            <a:xfrm>
              <a:off x="914400" y="5676900"/>
              <a:ext cx="57150" cy="438150"/>
            </a:xfrm>
            <a:prstGeom prst="rect">
              <a:avLst/>
            </a:prstGeom>
            <a:solidFill>
              <a:srgbClr val="00A6A6"/>
            </a:solidFill>
            <a:ln>
              <a:noFill/>
            </a:ln>
          </p:spPr>
        </p:sp>
        <p:sp>
          <p:nvSpPr>
            <p:cNvPr id="49" name="TextBox 49"/>
            <p:cNvSpPr txBox="1"/>
            <p:nvPr/>
          </p:nvSpPr>
          <p:spPr>
            <a:xfrm>
              <a:off x="1116330" y="5686425"/>
              <a:ext cx="825054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Integration testin hızının unit test hızına eşit olmasını beklemek — doğası gereği</a:t>
              </a:r>
            </a:p>
          </p:txBody>
        </p:sp>
        <p:sp>
          <p:nvSpPr>
            <p:cNvPr id="50" name="TextBox 50"/>
            <p:cNvSpPr txBox="1"/>
            <p:nvPr/>
          </p:nvSpPr>
          <p:spPr>
            <a:xfrm>
              <a:off x="1116330" y="5934075"/>
              <a:ext cx="3670173"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daha yavaştır, bu bir kusur değildir.</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002798" cy="557403"/>
            <a:chOff x="595122" y="282892"/>
            <a:chExt cx="3002798" cy="557403"/>
          </a:xfrm>
        </p:grpSpPr>
        <p:sp>
          <p:nvSpPr>
            <p:cNvPr id="4" name="TextBox 4"/>
            <p:cNvSpPr txBox="1"/>
            <p:nvPr/>
          </p:nvSpPr>
          <p:spPr>
            <a:xfrm>
              <a:off x="595122" y="282892"/>
              <a:ext cx="300279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Mock kullanımı</a:t>
              </a:r>
            </a:p>
          </p:txBody>
        </p:sp>
      </p:grpSp>
      <p:grpSp>
        <p:nvGrpSpPr>
          <p:cNvPr id="8" name="definition-text"/>
          <p:cNvGrpSpPr/>
          <p:nvPr/>
        </p:nvGrpSpPr>
        <p:grpSpPr>
          <a:xfrm>
            <a:off x="600456" y="1215390"/>
            <a:ext cx="9549729" cy="656844"/>
            <a:chOff x="600456" y="1215390"/>
            <a:chExt cx="9549729" cy="656844"/>
          </a:xfrm>
        </p:grpSpPr>
        <p:sp>
          <p:nvSpPr>
            <p:cNvPr id="6" name="TextBox 6"/>
            <p:cNvSpPr txBox="1"/>
            <p:nvPr/>
          </p:nvSpPr>
          <p:spPr>
            <a:xfrm>
              <a:off x="600456" y="1215390"/>
              <a:ext cx="954972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Gerçek bir dış bağımlılığın (e-posta servisi, ödeme sağlayıcısı) yerine geçen,</a:t>
              </a:r>
            </a:p>
          </p:txBody>
        </p:sp>
        <p:sp>
          <p:nvSpPr>
            <p:cNvPr id="7" name="TextBox 7"/>
            <p:cNvSpPr txBox="1"/>
            <p:nvPr/>
          </p:nvSpPr>
          <p:spPr>
            <a:xfrm>
              <a:off x="600456" y="1520190"/>
              <a:ext cx="900821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davranışı önceden belirlenmiş sahte bir nesnedir; testin yalıtımını korur.</a:t>
              </a:r>
            </a:p>
          </p:txBody>
        </p:sp>
      </p:grpSp>
      <p:grpSp>
        <p:nvGrpSpPr>
          <p:cNvPr id="33" name="taxonomy"/>
          <p:cNvGrpSpPr/>
          <p:nvPr/>
        </p:nvGrpSpPr>
        <p:grpSpPr>
          <a:xfrm>
            <a:off x="609600" y="2286000"/>
            <a:ext cx="11056277" cy="1809750"/>
            <a:chOff x="609600" y="2286000"/>
            <a:chExt cx="11056277" cy="1809750"/>
          </a:xfrm>
        </p:grpSpPr>
        <p:sp>
          <p:nvSpPr>
            <p:cNvPr id="9" name="Rectangle 9"/>
            <p:cNvSpPr/>
            <p:nvPr/>
          </p:nvSpPr>
          <p:spPr>
            <a:xfrm>
              <a:off x="609600" y="2286000"/>
              <a:ext cx="2057400" cy="1809750"/>
            </a:xfrm>
            <a:prstGeom prst="roundRect">
              <a:avLst>
                <a:gd name="adj" fmla="val 5263"/>
              </a:avLst>
            </a:prstGeom>
            <a:solidFill>
              <a:srgbClr val="FFFFFF"/>
            </a:solidFill>
            <a:ln w="14288">
              <a:solidFill>
                <a:srgbClr val="B8CBD3"/>
              </a:solidFill>
            </a:ln>
          </p:spPr>
        </p:sp>
        <p:sp>
          <p:nvSpPr>
            <p:cNvPr id="10" name="TextBox 10"/>
            <p:cNvSpPr txBox="1"/>
            <p:nvPr/>
          </p:nvSpPr>
          <p:spPr>
            <a:xfrm>
              <a:off x="1311351" y="2436971"/>
              <a:ext cx="653899" cy="278702"/>
            </a:xfrm>
            <a:prstGeom prst="rect">
              <a:avLst/>
            </a:prstGeom>
            <a:noFill/>
            <a:ln>
              <a:noFill/>
            </a:ln>
          </p:spPr>
          <p:txBody>
            <a:bodyPr wrap="none" lIns="0" tIns="0" rIns="0" bIns="0" anchor="t" anchorCtr="0">
              <a:spAutoFit/>
            </a:bodyPr>
            <a:lstStyle/>
            <a:p>
              <a:pPr algn="ctr"/>
              <a:r>
                <a:rPr lang="tr-TR" sz="1420" b="1" dirty="0">
                  <a:solidFill>
                    <a:srgbClr val="12355B"/>
                  </a:solidFill>
                  <a:latin typeface="+mn-lt"/>
                  <a:ea typeface="+mn-ea"/>
                  <a:cs typeface="+mn-cs"/>
                </a:rPr>
                <a:t>Dummy</a:t>
              </a:r>
            </a:p>
          </p:txBody>
        </p:sp>
        <p:sp>
          <p:nvSpPr>
            <p:cNvPr id="11" name="TextBox 11"/>
            <p:cNvSpPr txBox="1"/>
            <p:nvPr/>
          </p:nvSpPr>
          <p:spPr>
            <a:xfrm>
              <a:off x="1083016" y="2744152"/>
              <a:ext cx="111056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Hiç kullanılmaz,</a:t>
              </a:r>
            </a:p>
          </p:txBody>
        </p:sp>
        <p:sp>
          <p:nvSpPr>
            <p:cNvPr id="12" name="TextBox 12"/>
            <p:cNvSpPr txBox="1"/>
            <p:nvPr/>
          </p:nvSpPr>
          <p:spPr>
            <a:xfrm>
              <a:off x="954481" y="2934652"/>
              <a:ext cx="1367638"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yalnızca parametre</a:t>
              </a:r>
            </a:p>
          </p:txBody>
        </p:sp>
        <p:sp>
          <p:nvSpPr>
            <p:cNvPr id="13" name="TextBox 13"/>
            <p:cNvSpPr txBox="1"/>
            <p:nvPr/>
          </p:nvSpPr>
          <p:spPr>
            <a:xfrm>
              <a:off x="1300791" y="3125152"/>
              <a:ext cx="675018"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doldurur.</a:t>
              </a:r>
            </a:p>
          </p:txBody>
        </p:sp>
        <p:sp>
          <p:nvSpPr>
            <p:cNvPr id="14" name="Rectangle 14"/>
            <p:cNvSpPr/>
            <p:nvPr/>
          </p:nvSpPr>
          <p:spPr>
            <a:xfrm>
              <a:off x="2819400" y="2286000"/>
              <a:ext cx="2057400" cy="1809750"/>
            </a:xfrm>
            <a:prstGeom prst="roundRect">
              <a:avLst>
                <a:gd name="adj" fmla="val 5263"/>
              </a:avLst>
            </a:prstGeom>
            <a:solidFill>
              <a:srgbClr val="FFFFFF"/>
            </a:solidFill>
            <a:ln w="14288">
              <a:solidFill>
                <a:srgbClr val="B8CBD3"/>
              </a:solidFill>
            </a:ln>
          </p:spPr>
        </p:sp>
        <p:sp>
          <p:nvSpPr>
            <p:cNvPr id="15" name="TextBox 15"/>
            <p:cNvSpPr txBox="1"/>
            <p:nvPr/>
          </p:nvSpPr>
          <p:spPr>
            <a:xfrm>
              <a:off x="3616946" y="2436971"/>
              <a:ext cx="462307" cy="278702"/>
            </a:xfrm>
            <a:prstGeom prst="rect">
              <a:avLst/>
            </a:prstGeom>
            <a:noFill/>
            <a:ln>
              <a:noFill/>
            </a:ln>
          </p:spPr>
          <p:txBody>
            <a:bodyPr wrap="none" lIns="0" tIns="0" rIns="0" bIns="0" anchor="t" anchorCtr="0">
              <a:spAutoFit/>
            </a:bodyPr>
            <a:lstStyle/>
            <a:p>
              <a:pPr algn="ctr"/>
              <a:r>
                <a:rPr lang="tr-TR" sz="1420" b="1" dirty="0">
                  <a:solidFill>
                    <a:srgbClr val="12355B"/>
                  </a:solidFill>
                  <a:latin typeface="+mn-lt"/>
                  <a:ea typeface="+mn-ea"/>
                  <a:cs typeface="+mn-cs"/>
                </a:rPr>
                <a:t>Stub</a:t>
              </a:r>
            </a:p>
          </p:txBody>
        </p:sp>
        <p:sp>
          <p:nvSpPr>
            <p:cNvPr id="16" name="TextBox 16"/>
            <p:cNvSpPr txBox="1"/>
            <p:nvPr/>
          </p:nvSpPr>
          <p:spPr>
            <a:xfrm>
              <a:off x="3331502" y="2744152"/>
              <a:ext cx="1033196"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Sabit, önceden</a:t>
              </a:r>
            </a:p>
          </p:txBody>
        </p:sp>
        <p:sp>
          <p:nvSpPr>
            <p:cNvPr id="17" name="TextBox 17"/>
            <p:cNvSpPr txBox="1"/>
            <p:nvPr/>
          </p:nvSpPr>
          <p:spPr>
            <a:xfrm>
              <a:off x="3358639" y="2934652"/>
              <a:ext cx="978922"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tanımlı yanıt</a:t>
              </a:r>
            </a:p>
          </p:txBody>
        </p:sp>
        <p:sp>
          <p:nvSpPr>
            <p:cNvPr id="18" name="TextBox 18"/>
            <p:cNvSpPr txBox="1"/>
            <p:nvPr/>
          </p:nvSpPr>
          <p:spPr>
            <a:xfrm>
              <a:off x="3492922" y="3125152"/>
              <a:ext cx="710355"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döndürür.</a:t>
              </a:r>
            </a:p>
          </p:txBody>
        </p:sp>
        <p:sp>
          <p:nvSpPr>
            <p:cNvPr id="19" name="Rectangle 19"/>
            <p:cNvSpPr/>
            <p:nvPr/>
          </p:nvSpPr>
          <p:spPr>
            <a:xfrm>
              <a:off x="5029200" y="2286000"/>
              <a:ext cx="2057400" cy="1809750"/>
            </a:xfrm>
            <a:prstGeom prst="roundRect">
              <a:avLst>
                <a:gd name="adj" fmla="val 5263"/>
              </a:avLst>
            </a:prstGeom>
            <a:solidFill>
              <a:srgbClr val="FFFFFF"/>
            </a:solidFill>
            <a:ln w="14288">
              <a:solidFill>
                <a:srgbClr val="B8CBD3"/>
              </a:solidFill>
            </a:ln>
          </p:spPr>
        </p:sp>
        <p:sp>
          <p:nvSpPr>
            <p:cNvPr id="20" name="TextBox 20"/>
            <p:cNvSpPr txBox="1"/>
            <p:nvPr/>
          </p:nvSpPr>
          <p:spPr>
            <a:xfrm>
              <a:off x="5881944" y="2436971"/>
              <a:ext cx="351912" cy="278702"/>
            </a:xfrm>
            <a:prstGeom prst="rect">
              <a:avLst/>
            </a:prstGeom>
            <a:noFill/>
            <a:ln>
              <a:noFill/>
            </a:ln>
          </p:spPr>
          <p:txBody>
            <a:bodyPr wrap="none" lIns="0" tIns="0" rIns="0" bIns="0" anchor="t" anchorCtr="0">
              <a:spAutoFit/>
            </a:bodyPr>
            <a:lstStyle/>
            <a:p>
              <a:pPr algn="ctr"/>
              <a:r>
                <a:rPr lang="tr-TR" sz="1420" b="1" dirty="0">
                  <a:solidFill>
                    <a:srgbClr val="12355B"/>
                  </a:solidFill>
                  <a:latin typeface="+mn-lt"/>
                  <a:ea typeface="+mn-ea"/>
                  <a:cs typeface="+mn-cs"/>
                </a:rPr>
                <a:t>Spy</a:t>
              </a:r>
            </a:p>
          </p:txBody>
        </p:sp>
        <p:sp>
          <p:nvSpPr>
            <p:cNvPr id="21" name="TextBox 21"/>
            <p:cNvSpPr txBox="1"/>
            <p:nvPr/>
          </p:nvSpPr>
          <p:spPr>
            <a:xfrm>
              <a:off x="5347003" y="2744152"/>
              <a:ext cx="1421793"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Çağrıları kaydeder;</a:t>
              </a:r>
            </a:p>
          </p:txBody>
        </p:sp>
        <p:sp>
          <p:nvSpPr>
            <p:cNvPr id="22" name="TextBox 22"/>
            <p:cNvSpPr txBox="1"/>
            <p:nvPr/>
          </p:nvSpPr>
          <p:spPr>
            <a:xfrm>
              <a:off x="5310473" y="2934652"/>
              <a:ext cx="149485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sonradan sorgulanır.</a:t>
              </a:r>
            </a:p>
          </p:txBody>
        </p:sp>
        <p:sp>
          <p:nvSpPr>
            <p:cNvPr id="23" name="Rectangle 23"/>
            <p:cNvSpPr/>
            <p:nvPr/>
          </p:nvSpPr>
          <p:spPr>
            <a:xfrm>
              <a:off x="7239000" y="2286000"/>
              <a:ext cx="2057400" cy="1809750"/>
            </a:xfrm>
            <a:prstGeom prst="roundRect">
              <a:avLst>
                <a:gd name="adj" fmla="val 5263"/>
              </a:avLst>
            </a:prstGeom>
            <a:solidFill>
              <a:srgbClr val="EAF4F6"/>
            </a:solidFill>
            <a:ln w="14288">
              <a:solidFill>
                <a:srgbClr val="00A6A6"/>
              </a:solidFill>
            </a:ln>
          </p:spPr>
        </p:sp>
        <p:sp>
          <p:nvSpPr>
            <p:cNvPr id="24" name="TextBox 24"/>
            <p:cNvSpPr txBox="1"/>
            <p:nvPr/>
          </p:nvSpPr>
          <p:spPr>
            <a:xfrm>
              <a:off x="8016190" y="2436971"/>
              <a:ext cx="503019" cy="278702"/>
            </a:xfrm>
            <a:prstGeom prst="rect">
              <a:avLst/>
            </a:prstGeom>
            <a:noFill/>
            <a:ln>
              <a:noFill/>
            </a:ln>
          </p:spPr>
          <p:txBody>
            <a:bodyPr wrap="none" lIns="0" tIns="0" rIns="0" bIns="0" anchor="t" anchorCtr="0">
              <a:spAutoFit/>
            </a:bodyPr>
            <a:lstStyle/>
            <a:p>
              <a:pPr algn="ctr"/>
              <a:r>
                <a:rPr lang="tr-TR" sz="1420" b="1" dirty="0">
                  <a:solidFill>
                    <a:srgbClr val="12355B"/>
                  </a:solidFill>
                  <a:latin typeface="+mn-lt"/>
                  <a:ea typeface="+mn-ea"/>
                  <a:cs typeface="+mn-cs"/>
                </a:rPr>
                <a:t>Mock</a:t>
              </a:r>
            </a:p>
          </p:txBody>
        </p:sp>
        <p:sp>
          <p:nvSpPr>
            <p:cNvPr id="25" name="TextBox 25"/>
            <p:cNvSpPr txBox="1"/>
            <p:nvPr/>
          </p:nvSpPr>
          <p:spPr>
            <a:xfrm>
              <a:off x="7726752" y="2744152"/>
              <a:ext cx="1081895"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Belirli çağrının</a:t>
              </a:r>
            </a:p>
          </p:txBody>
        </p:sp>
        <p:sp>
          <p:nvSpPr>
            <p:cNvPr id="26" name="TextBox 26"/>
            <p:cNvSpPr txBox="1"/>
            <p:nvPr/>
          </p:nvSpPr>
          <p:spPr>
            <a:xfrm>
              <a:off x="7520273" y="2934652"/>
              <a:ext cx="1494854"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yapıldığını doğrudan</a:t>
              </a:r>
            </a:p>
          </p:txBody>
        </p:sp>
        <p:sp>
          <p:nvSpPr>
            <p:cNvPr id="27" name="TextBox 27"/>
            <p:cNvSpPr txBox="1"/>
            <p:nvPr/>
          </p:nvSpPr>
          <p:spPr>
            <a:xfrm>
              <a:off x="7598016" y="3125152"/>
              <a:ext cx="1339367"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doğrular (assert).</a:t>
              </a:r>
            </a:p>
          </p:txBody>
        </p:sp>
        <p:sp>
          <p:nvSpPr>
            <p:cNvPr id="28" name="Rectangle 28"/>
            <p:cNvSpPr/>
            <p:nvPr/>
          </p:nvSpPr>
          <p:spPr>
            <a:xfrm>
              <a:off x="9448800" y="2286000"/>
              <a:ext cx="2133600" cy="1809750"/>
            </a:xfrm>
            <a:prstGeom prst="roundRect">
              <a:avLst>
                <a:gd name="adj" fmla="val 5263"/>
              </a:avLst>
            </a:prstGeom>
            <a:solidFill>
              <a:srgbClr val="FFFFFF"/>
            </a:solidFill>
            <a:ln w="14288">
              <a:solidFill>
                <a:srgbClr val="B8CBD3"/>
              </a:solidFill>
            </a:ln>
          </p:spPr>
        </p:sp>
        <p:sp>
          <p:nvSpPr>
            <p:cNvPr id="29" name="TextBox 29"/>
            <p:cNvSpPr txBox="1"/>
            <p:nvPr/>
          </p:nvSpPr>
          <p:spPr>
            <a:xfrm>
              <a:off x="10284446" y="2436971"/>
              <a:ext cx="462307" cy="278702"/>
            </a:xfrm>
            <a:prstGeom prst="rect">
              <a:avLst/>
            </a:prstGeom>
            <a:noFill/>
            <a:ln>
              <a:noFill/>
            </a:ln>
          </p:spPr>
          <p:txBody>
            <a:bodyPr wrap="none" lIns="0" tIns="0" rIns="0" bIns="0" anchor="t" anchorCtr="0">
              <a:spAutoFit/>
            </a:bodyPr>
            <a:lstStyle/>
            <a:p>
              <a:pPr algn="ctr"/>
              <a:r>
                <a:rPr lang="tr-TR" sz="1420" b="1" dirty="0">
                  <a:solidFill>
                    <a:srgbClr val="12355B"/>
                  </a:solidFill>
                  <a:latin typeface="+mn-lt"/>
                  <a:ea typeface="+mn-ea"/>
                  <a:cs typeface="+mn-cs"/>
                </a:rPr>
                <a:t>Fake</a:t>
              </a:r>
            </a:p>
          </p:txBody>
        </p:sp>
        <p:sp>
          <p:nvSpPr>
            <p:cNvPr id="30" name="TextBox 30"/>
            <p:cNvSpPr txBox="1"/>
            <p:nvPr/>
          </p:nvSpPr>
          <p:spPr>
            <a:xfrm>
              <a:off x="9939315" y="2744152"/>
              <a:ext cx="115256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Basitleştirilmiş,</a:t>
              </a:r>
            </a:p>
          </p:txBody>
        </p:sp>
        <p:sp>
          <p:nvSpPr>
            <p:cNvPr id="31" name="TextBox 31"/>
            <p:cNvSpPr txBox="1"/>
            <p:nvPr/>
          </p:nvSpPr>
          <p:spPr>
            <a:xfrm>
              <a:off x="9941328" y="2934652"/>
              <a:ext cx="114854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gerçekçi çalışan</a:t>
              </a:r>
            </a:p>
          </p:txBody>
        </p:sp>
        <p:sp>
          <p:nvSpPr>
            <p:cNvPr id="32" name="TextBox 32"/>
            <p:cNvSpPr txBox="1"/>
            <p:nvPr/>
          </p:nvSpPr>
          <p:spPr>
            <a:xfrm>
              <a:off x="9365323" y="3125152"/>
              <a:ext cx="230055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alternatif (örn. bellek içi repo).</a:t>
              </a:r>
            </a:p>
          </p:txBody>
        </p:sp>
      </p:grpSp>
      <p:grpSp>
        <p:nvGrpSpPr>
          <p:cNvPr id="39" name="dip-note"/>
          <p:cNvGrpSpPr/>
          <p:nvPr/>
        </p:nvGrpSpPr>
        <p:grpSpPr>
          <a:xfrm>
            <a:off x="609600" y="4305300"/>
            <a:ext cx="10972800" cy="1352550"/>
            <a:chOff x="609600" y="4305300"/>
            <a:chExt cx="10972800" cy="1352550"/>
          </a:xfrm>
        </p:grpSpPr>
        <p:sp>
          <p:nvSpPr>
            <p:cNvPr id="34" name="Rectangle 34"/>
            <p:cNvSpPr/>
            <p:nvPr/>
          </p:nvSpPr>
          <p:spPr>
            <a:xfrm>
              <a:off x="609600" y="4305300"/>
              <a:ext cx="10972800" cy="1352550"/>
            </a:xfrm>
            <a:prstGeom prst="roundRect">
              <a:avLst>
                <a:gd name="adj" fmla="val 5634"/>
              </a:avLst>
            </a:prstGeom>
            <a:solidFill>
              <a:srgbClr val="EAF4F6"/>
            </a:solidFill>
            <a:ln>
              <a:noFill/>
            </a:ln>
          </p:spPr>
        </p:sp>
        <p:sp>
          <p:nvSpPr>
            <p:cNvPr id="35" name="TextBox 35"/>
            <p:cNvSpPr txBox="1"/>
            <p:nvPr/>
          </p:nvSpPr>
          <p:spPr>
            <a:xfrm>
              <a:off x="906399" y="4459129"/>
              <a:ext cx="543526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Derinlemesine: Bağımlılığın tersine çevrilmesi</a:t>
              </a:r>
            </a:p>
          </p:txBody>
        </p:sp>
        <p:sp>
          <p:nvSpPr>
            <p:cNvPr id="36" name="TextBox 36"/>
            <p:cNvSpPr txBox="1"/>
            <p:nvPr/>
          </p:nvSpPr>
          <p:spPr>
            <a:xfrm>
              <a:off x="906780" y="4752975"/>
              <a:ext cx="769516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Mock kullanabilmek için sınıfın somut bir e-posta servisine değil, bir arayüze</a:t>
              </a:r>
            </a:p>
          </p:txBody>
        </p:sp>
        <p:sp>
          <p:nvSpPr>
            <p:cNvPr id="37" name="TextBox 37"/>
            <p:cNvSpPr txBox="1"/>
            <p:nvPr/>
          </p:nvSpPr>
          <p:spPr>
            <a:xfrm>
              <a:off x="906780" y="5000625"/>
              <a:ext cx="7635065"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(soyutlamaya) bağımlı olması gerekir — Meszaros'un test çifti taksonomisi,</a:t>
              </a:r>
            </a:p>
          </p:txBody>
        </p:sp>
        <p:sp>
          <p:nvSpPr>
            <p:cNvPr id="38" name="TextBox 38"/>
            <p:cNvSpPr txBox="1"/>
            <p:nvPr/>
          </p:nvSpPr>
          <p:spPr>
            <a:xfrm>
              <a:off x="906780" y="5248275"/>
              <a:ext cx="593122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Dependency Inversion Principle'ın doğal bir test sonucudur.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003237" cy="668845"/>
            <a:chOff x="609600" y="171450"/>
            <a:chExt cx="800323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73128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13.6: KaydediciMockEmailService</a:t>
              </a:r>
            </a:p>
          </p:txBody>
        </p:sp>
      </p:grpSp>
      <p:grpSp>
        <p:nvGrpSpPr>
          <p:cNvPr id="26" name="diagram"/>
          <p:cNvGrpSpPr/>
          <p:nvPr/>
        </p:nvGrpSpPr>
        <p:grpSpPr>
          <a:xfrm>
            <a:off x="914400" y="1428750"/>
            <a:ext cx="10325100" cy="1143000"/>
            <a:chOff x="914400" y="1428750"/>
            <a:chExt cx="10325100" cy="1143000"/>
          </a:xfrm>
        </p:grpSpPr>
        <p:sp>
          <p:nvSpPr>
            <p:cNvPr id="12" name="Rectangle 12"/>
            <p:cNvSpPr/>
            <p:nvPr/>
          </p:nvSpPr>
          <p:spPr>
            <a:xfrm>
              <a:off x="914400" y="1428750"/>
              <a:ext cx="3143250" cy="1143000"/>
            </a:xfrm>
            <a:prstGeom prst="roundRect">
              <a:avLst>
                <a:gd name="adj" fmla="val 8333"/>
              </a:avLst>
            </a:prstGeom>
            <a:solidFill>
              <a:srgbClr val="FFFFFF"/>
            </a:solidFill>
            <a:ln w="14288">
              <a:solidFill>
                <a:srgbClr val="2E86AB"/>
              </a:solidFill>
            </a:ln>
          </p:spPr>
        </p:sp>
        <p:sp>
          <p:nvSpPr>
            <p:cNvPr id="13" name="TextBox 13"/>
            <p:cNvSpPr txBox="1"/>
            <p:nvPr/>
          </p:nvSpPr>
          <p:spPr>
            <a:xfrm>
              <a:off x="1976617" y="1628775"/>
              <a:ext cx="1018815"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Test kodu</a:t>
              </a:r>
            </a:p>
          </p:txBody>
        </p:sp>
        <p:sp>
          <p:nvSpPr>
            <p:cNvPr id="14" name="TextBox 14"/>
            <p:cNvSpPr txBox="1"/>
            <p:nvPr/>
          </p:nvSpPr>
          <p:spPr>
            <a:xfrm>
              <a:off x="1611630" y="1927860"/>
              <a:ext cx="174879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servis.calistir(mock)</a:t>
              </a:r>
            </a:p>
          </p:txBody>
        </p:sp>
        <p:sp>
          <p:nvSpPr>
            <p:cNvPr id="15" name="TextBox 15"/>
            <p:cNvSpPr txBox="1"/>
            <p:nvPr/>
          </p:nvSpPr>
          <p:spPr>
            <a:xfrm>
              <a:off x="1369314" y="2156460"/>
              <a:ext cx="2233422"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assert(mock.gonderilenler)</a:t>
              </a:r>
            </a:p>
          </p:txBody>
        </p:sp>
        <p:sp>
          <p:nvSpPr>
            <p:cNvPr id="16" name="Line 16"/>
            <p:cNvSpPr/>
            <p:nvPr/>
          </p:nvSpPr>
          <p:spPr>
            <a:xfrm>
              <a:off x="4057650" y="2000250"/>
              <a:ext cx="704850" cy="1"/>
            </a:xfrm>
            <a:prstGeom prst="line">
              <a:avLst/>
            </a:prstGeom>
            <a:noFill/>
            <a:ln w="23812">
              <a:solidFill>
                <a:srgbClr val="52616B"/>
              </a:solidFill>
              <a:tailEnd type="arrow" w="lg" len="lg"/>
            </a:ln>
          </p:spPr>
        </p:sp>
        <p:sp>
          <p:nvSpPr>
            <p:cNvPr id="17" name="Rectangle 17"/>
            <p:cNvSpPr/>
            <p:nvPr/>
          </p:nvSpPr>
          <p:spPr>
            <a:xfrm>
              <a:off x="4762500" y="1428750"/>
              <a:ext cx="3143250" cy="1143000"/>
            </a:xfrm>
            <a:prstGeom prst="roundRect">
              <a:avLst>
                <a:gd name="adj" fmla="val 8333"/>
              </a:avLst>
            </a:prstGeom>
            <a:solidFill>
              <a:srgbClr val="EAF4F6"/>
            </a:solidFill>
            <a:ln w="14288">
              <a:solidFill>
                <a:srgbClr val="00A6A6"/>
              </a:solidFill>
            </a:ln>
          </p:spPr>
        </p:sp>
        <p:sp>
          <p:nvSpPr>
            <p:cNvPr id="18" name="TextBox 18"/>
            <p:cNvSpPr txBox="1"/>
            <p:nvPr/>
          </p:nvSpPr>
          <p:spPr>
            <a:xfrm>
              <a:off x="4946549" y="1628775"/>
              <a:ext cx="2775153"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KaydediciMockEmailService</a:t>
              </a:r>
            </a:p>
          </p:txBody>
        </p:sp>
        <p:sp>
          <p:nvSpPr>
            <p:cNvPr id="19" name="TextBox 19"/>
            <p:cNvSpPr txBox="1"/>
            <p:nvPr/>
          </p:nvSpPr>
          <p:spPr>
            <a:xfrm>
              <a:off x="5205141" y="1935956"/>
              <a:ext cx="2257969"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gonder() çağrısını gerçekten</a:t>
              </a:r>
            </a:p>
          </p:txBody>
        </p:sp>
        <p:sp>
          <p:nvSpPr>
            <p:cNvPr id="20" name="TextBox 20"/>
            <p:cNvSpPr txBox="1"/>
            <p:nvPr/>
          </p:nvSpPr>
          <p:spPr>
            <a:xfrm>
              <a:off x="5099599" y="2145506"/>
              <a:ext cx="2469053"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göndermeden bir listeye kaydeder</a:t>
              </a:r>
            </a:p>
          </p:txBody>
        </p:sp>
        <p:sp>
          <p:nvSpPr>
            <p:cNvPr id="21" name="Line 21"/>
            <p:cNvSpPr/>
            <p:nvPr/>
          </p:nvSpPr>
          <p:spPr>
            <a:xfrm>
              <a:off x="7905750" y="2000250"/>
              <a:ext cx="704850" cy="9525"/>
            </a:xfrm>
            <a:custGeom>
              <a:avLst/>
              <a:gdLst/>
              <a:ahLst/>
              <a:cxnLst/>
              <a:rect l="l" t="t" r="r" b="b"/>
              <a:pathLst>
                <a:path w="704850" h="9525">
                  <a:moveTo>
                    <a:pt x="0" y="0"/>
                  </a:moveTo>
                  <a:lnTo>
                    <a:pt x="704850" y="0"/>
                  </a:lnTo>
                </a:path>
              </a:pathLst>
            </a:custGeom>
            <a:noFill/>
            <a:ln w="19050">
              <a:solidFill>
                <a:srgbClr val="B8CBD3"/>
              </a:solidFill>
              <a:custDash>
                <a:ds d="300000" sp="250000"/>
              </a:custDash>
            </a:ln>
          </p:spPr>
        </p:sp>
        <p:sp>
          <p:nvSpPr>
            <p:cNvPr id="22" name="Rectangle 22"/>
            <p:cNvSpPr/>
            <p:nvPr/>
          </p:nvSpPr>
          <p:spPr>
            <a:xfrm>
              <a:off x="8610600" y="1428750"/>
              <a:ext cx="2628900" cy="1143000"/>
            </a:xfrm>
            <a:prstGeom prst="roundRect">
              <a:avLst>
                <a:gd name="adj" fmla="val 8333"/>
              </a:avLst>
            </a:prstGeom>
            <a:solidFill>
              <a:srgbClr val="FFFFFF"/>
            </a:solidFill>
            <a:ln w="14288">
              <a:solidFill>
                <a:srgbClr val="B8CBD3"/>
              </a:solidFill>
              <a:prstDash val="dash"/>
            </a:ln>
          </p:spPr>
        </p:sp>
        <p:sp>
          <p:nvSpPr>
            <p:cNvPr id="23" name="TextBox 23"/>
            <p:cNvSpPr txBox="1"/>
            <p:nvPr/>
          </p:nvSpPr>
          <p:spPr>
            <a:xfrm>
              <a:off x="9123906" y="1628775"/>
              <a:ext cx="1602288" cy="293370"/>
            </a:xfrm>
            <a:prstGeom prst="rect">
              <a:avLst/>
            </a:prstGeom>
            <a:noFill/>
            <a:ln>
              <a:noFill/>
            </a:ln>
          </p:spPr>
          <p:txBody>
            <a:bodyPr wrap="none" lIns="0" tIns="0" rIns="0" bIns="0" anchor="t" anchorCtr="0">
              <a:spAutoFit/>
            </a:bodyPr>
            <a:lstStyle/>
            <a:p>
              <a:pPr algn="ctr"/>
              <a:r>
                <a:rPr lang="tr-TR" sz="1500" b="1" dirty="0">
                  <a:solidFill>
                    <a:srgbClr val="52616B"/>
                  </a:solidFill>
                  <a:latin typeface="+mn-lt"/>
                  <a:ea typeface="+mn-ea"/>
                  <a:cs typeface="+mn-cs"/>
                </a:rPr>
                <a:t>Gerçek e-posta</a:t>
              </a:r>
            </a:p>
          </p:txBody>
        </p:sp>
        <p:sp>
          <p:nvSpPr>
            <p:cNvPr id="24" name="TextBox 24"/>
            <p:cNvSpPr txBox="1"/>
            <p:nvPr/>
          </p:nvSpPr>
          <p:spPr>
            <a:xfrm>
              <a:off x="9482089" y="1897856"/>
              <a:ext cx="885922"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sağlayıcısı</a:t>
              </a:r>
            </a:p>
          </p:txBody>
        </p:sp>
        <p:sp>
          <p:nvSpPr>
            <p:cNvPr id="25" name="TextBox 25"/>
            <p:cNvSpPr txBox="1"/>
            <p:nvPr/>
          </p:nvSpPr>
          <p:spPr>
            <a:xfrm>
              <a:off x="9467012" y="2126456"/>
              <a:ext cx="916076"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(çağrılmaz)</a:t>
              </a:r>
            </a:p>
          </p:txBody>
        </p:sp>
      </p:grpSp>
      <p:grpSp>
        <p:nvGrpSpPr>
          <p:cNvPr id="37" name="common-errors"/>
          <p:cNvGrpSpPr/>
          <p:nvPr/>
        </p:nvGrpSpPr>
        <p:grpSpPr>
          <a:xfrm>
            <a:off x="609600" y="3619500"/>
            <a:ext cx="10972800" cy="1905000"/>
            <a:chOff x="609600" y="3619500"/>
            <a:chExt cx="10972800" cy="1905000"/>
          </a:xfrm>
        </p:grpSpPr>
        <p:sp>
          <p:nvSpPr>
            <p:cNvPr id="27" name="Rectangle 27"/>
            <p:cNvSpPr/>
            <p:nvPr/>
          </p:nvSpPr>
          <p:spPr>
            <a:xfrm>
              <a:off x="609600" y="3619500"/>
              <a:ext cx="10972800" cy="1905000"/>
            </a:xfrm>
            <a:prstGeom prst="roundRect">
              <a:avLst>
                <a:gd name="adj" fmla="val 4000"/>
              </a:avLst>
            </a:prstGeom>
            <a:solidFill>
              <a:srgbClr val="FFFFFF"/>
            </a:solidFill>
            <a:ln w="14288">
              <a:solidFill>
                <a:srgbClr val="B8CBD3"/>
              </a:solidFill>
            </a:ln>
          </p:spPr>
        </p:sp>
        <p:sp>
          <p:nvSpPr>
            <p:cNvPr id="28" name="TextBox 28"/>
            <p:cNvSpPr txBox="1"/>
            <p:nvPr/>
          </p:nvSpPr>
          <p:spPr>
            <a:xfrm>
              <a:off x="906399" y="3773329"/>
              <a:ext cx="292901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 (code_012)</a:t>
              </a:r>
            </a:p>
          </p:txBody>
        </p:sp>
        <p:sp>
          <p:nvSpPr>
            <p:cNvPr id="29" name="Rectangle 29"/>
            <p:cNvSpPr/>
            <p:nvPr/>
          </p:nvSpPr>
          <p:spPr>
            <a:xfrm>
              <a:off x="914400" y="4114800"/>
              <a:ext cx="57150" cy="438150"/>
            </a:xfrm>
            <a:prstGeom prst="rect">
              <a:avLst/>
            </a:prstGeom>
            <a:solidFill>
              <a:srgbClr val="00A6A6"/>
            </a:solidFill>
            <a:ln>
              <a:noFill/>
            </a:ln>
          </p:spPr>
        </p:sp>
        <p:sp>
          <p:nvSpPr>
            <p:cNvPr id="30" name="TextBox 30"/>
            <p:cNvSpPr txBox="1"/>
            <p:nvPr/>
          </p:nvSpPr>
          <p:spPr>
            <a:xfrm>
              <a:off x="1116711" y="4132421"/>
              <a:ext cx="683546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Test edilen birimin kendisini mocklamak — asıl mantık hiç çalıştırılmadan</a:t>
              </a:r>
            </a:p>
          </p:txBody>
        </p:sp>
        <p:sp>
          <p:nvSpPr>
            <p:cNvPr id="31" name="TextBox 31"/>
            <p:cNvSpPr txBox="1"/>
            <p:nvPr/>
          </p:nvSpPr>
          <p:spPr>
            <a:xfrm>
              <a:off x="1116711" y="4341971"/>
              <a:ext cx="2222381"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test "geçmiş" görünür.</a:t>
              </a:r>
            </a:p>
          </p:txBody>
        </p:sp>
        <p:sp>
          <p:nvSpPr>
            <p:cNvPr id="32" name="Rectangle 32"/>
            <p:cNvSpPr/>
            <p:nvPr/>
          </p:nvSpPr>
          <p:spPr>
            <a:xfrm>
              <a:off x="914400" y="4667250"/>
              <a:ext cx="57150" cy="438150"/>
            </a:xfrm>
            <a:prstGeom prst="rect">
              <a:avLst/>
            </a:prstGeom>
            <a:solidFill>
              <a:srgbClr val="00A6A6"/>
            </a:solidFill>
            <a:ln>
              <a:noFill/>
            </a:ln>
          </p:spPr>
        </p:sp>
        <p:sp>
          <p:nvSpPr>
            <p:cNvPr id="33" name="TextBox 33"/>
            <p:cNvSpPr txBox="1"/>
            <p:nvPr/>
          </p:nvSpPr>
          <p:spPr>
            <a:xfrm>
              <a:off x="1116711" y="4684871"/>
              <a:ext cx="6979173"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Mock drift: gerçek servisin arayüzü değişirken mock'un güncellenmemesi —</a:t>
              </a:r>
            </a:p>
          </p:txBody>
        </p:sp>
        <p:sp>
          <p:nvSpPr>
            <p:cNvPr id="34" name="TextBox 34"/>
            <p:cNvSpPr txBox="1"/>
            <p:nvPr/>
          </p:nvSpPr>
          <p:spPr>
            <a:xfrm>
              <a:off x="1116711" y="4894421"/>
              <a:ext cx="418177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test yanlış bir güvenle geçmeye devam eder.</a:t>
              </a:r>
            </a:p>
          </p:txBody>
        </p:sp>
        <p:sp>
          <p:nvSpPr>
            <p:cNvPr id="35" name="Rectangle 35"/>
            <p:cNvSpPr/>
            <p:nvPr/>
          </p:nvSpPr>
          <p:spPr>
            <a:xfrm>
              <a:off x="914400" y="5219700"/>
              <a:ext cx="57150" cy="228600"/>
            </a:xfrm>
            <a:prstGeom prst="rect">
              <a:avLst/>
            </a:prstGeom>
            <a:solidFill>
              <a:srgbClr val="00A6A6"/>
            </a:solidFill>
            <a:ln>
              <a:noFill/>
            </a:ln>
          </p:spPr>
        </p:sp>
        <p:sp>
          <p:nvSpPr>
            <p:cNvPr id="36" name="TextBox 36"/>
            <p:cNvSpPr txBox="1"/>
            <p:nvPr/>
          </p:nvSpPr>
          <p:spPr>
            <a:xfrm>
              <a:off x="1116711" y="5237321"/>
              <a:ext cx="861345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Yalnızca dönüş değerini kontrol edip mock'un doğru çağrılıp çağrılmadığını denetlememek.</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coverage"/>
          <p:cNvGrpSpPr/>
          <p:nvPr/>
        </p:nvGrpSpPr>
        <p:grpSpPr>
          <a:xfrm>
            <a:off x="609600" y="1849279"/>
            <a:ext cx="10972800" cy="1313021"/>
            <a:chOff x="609600" y="1849279"/>
            <a:chExt cx="10972800" cy="1313021"/>
          </a:xfrm>
        </p:grpSpPr>
        <p:sp>
          <p:nvSpPr>
            <p:cNvPr id="17" name="TextBox 17"/>
            <p:cNvSpPr txBox="1"/>
            <p:nvPr/>
          </p:nvSpPr>
          <p:spPr>
            <a:xfrm>
              <a:off x="753999" y="1849279"/>
              <a:ext cx="3113189"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"Unit testlerim var ve</a:t>
              </a:r>
              <a:br/>
              <a:r>
                <a:rPr lang="tr-TR" sz="1580" b="1" dirty="0">
                  <a:solidFill>
                    <a:srgbClr val="12355B"/>
                  </a:solidFill>
                  <a:latin typeface="+mn-lt"/>
                  <a:ea typeface="+mn-ea"/>
                  <a:cs typeface="+mn-cs"/>
                </a:rPr>
                <a:t>kapsam (coverage) %100;</a:t>
              </a:r>
              <a:br/>
              <a:r>
                <a:rPr lang="tr-TR" sz="1580" b="1" dirty="0">
                  <a:solidFill>
                    <a:srgbClr val="12355B"/>
                  </a:solidFill>
                  <a:latin typeface="+mn-lt"/>
                  <a:ea typeface="+mn-ea"/>
                  <a:cs typeface="+mn-cs"/>
                </a:rPr>
                <a:t>integration teste gerek yok."</a:t>
              </a:r>
            </a:p>
          </p:txBody>
        </p:sp>
        <p:sp>
          <p:nvSpPr>
            <p:cNvPr id="18" name="TextBox 18"/>
            <p:cNvSpPr txBox="1"/>
            <p:nvPr/>
          </p:nvSpPr>
          <p:spPr>
            <a:xfrm>
              <a:off x="4375404" y="1889760"/>
              <a:ext cx="36393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Yüksek kapsam yalnızca her satırın çalıştığını</a:t>
              </a:r>
              <a:br/>
              <a:r>
                <a:rPr lang="tr-TR" sz="1200" dirty="0">
                  <a:solidFill>
                    <a:srgbClr val="172B3A"/>
                  </a:solidFill>
                  <a:latin typeface="+mn-lt"/>
                  <a:ea typeface="+mn-ea"/>
                  <a:cs typeface="+mn-cs"/>
                </a:rPr>
                <a:t>gösterir; bileşenlerin BİRLİKTE, gerçek</a:t>
              </a:r>
              <a:br/>
              <a:r>
                <a:rPr lang="tr-TR" sz="1200" dirty="0">
                  <a:solidFill>
                    <a:srgbClr val="172B3A"/>
                  </a:solidFill>
                  <a:latin typeface="+mn-lt"/>
                  <a:ea typeface="+mn-ea"/>
                  <a:cs typeface="+mn-cs"/>
                </a:rPr>
                <a:t>veritabanı/ağ bağlantısıyla doğru davrandığını</a:t>
              </a:r>
              <a:br/>
              <a:r>
                <a:rPr lang="tr-TR" sz="1200" dirty="0">
                  <a:solidFill>
                    <a:srgbClr val="172B3A"/>
                  </a:solidFill>
                  <a:latin typeface="+mn-lt"/>
                  <a:ea typeface="+mn-ea"/>
                  <a:cs typeface="+mn-cs"/>
                </a:rPr>
                <a:t>göstermez.</a:t>
              </a:r>
            </a:p>
          </p:txBody>
        </p:sp>
        <p:sp>
          <p:nvSpPr>
            <p:cNvPr id="19" name="TextBox 19"/>
            <p:cNvSpPr txBox="1"/>
            <p:nvPr/>
          </p:nvSpPr>
          <p:spPr>
            <a:xfrm>
              <a:off x="8185404" y="1889760"/>
              <a:ext cx="31211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Unit ve integration testler farklı riskleri</a:t>
              </a:r>
              <a:br/>
              <a:r>
                <a:rPr lang="tr-TR" sz="1200" dirty="0">
                  <a:solidFill>
                    <a:srgbClr val="172B3A"/>
                  </a:solidFill>
                  <a:latin typeface="+mn-lt"/>
                  <a:ea typeface="+mn-ea"/>
                  <a:cs typeface="+mn-cs"/>
                </a:rPr>
                <a:t>kapatır; piramidin her iki katmanı da</a:t>
              </a:r>
              <a:br/>
              <a:r>
                <a:rPr lang="tr-TR" sz="1200" dirty="0">
                  <a:solidFill>
                    <a:srgbClr val="172B3A"/>
                  </a:solidFill>
                  <a:latin typeface="+mn-lt"/>
                  <a:ea typeface="+mn-ea"/>
                  <a:cs typeface="+mn-cs"/>
                </a:rPr>
                <a:t>korunmalı, biri diğerinin yerine</a:t>
              </a:r>
              <a:br/>
              <a:r>
                <a:rPr lang="tr-TR" sz="1200" dirty="0">
                  <a:solidFill>
                    <a:srgbClr val="172B3A"/>
                  </a:solidFill>
                  <a:latin typeface="+mn-lt"/>
                  <a:ea typeface="+mn-ea"/>
                  <a:cs typeface="+mn-cs"/>
                </a:rPr>
                <a:t>geçmemelidir.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devdb"/>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512714"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"Testleri geliştirme</a:t>
              </a:r>
              <a:br/>
              <a:r>
                <a:rPr lang="tr-TR" sz="1580" b="1" dirty="0">
                  <a:solidFill>
                    <a:srgbClr val="12355B"/>
                  </a:solidFill>
                  <a:latin typeface="+mn-lt"/>
                  <a:ea typeface="+mn-ea"/>
                  <a:cs typeface="+mn-cs"/>
                </a:rPr>
                <a:t>veritabanıma karşı</a:t>
              </a:r>
              <a:br/>
              <a:r>
                <a:rPr lang="tr-TR" sz="1580" b="1" dirty="0">
                  <a:solidFill>
                    <a:srgbClr val="12355B"/>
                  </a:solidFill>
                  <a:latin typeface="+mn-lt"/>
                  <a:ea typeface="+mn-ea"/>
                  <a:cs typeface="+mn-cs"/>
                </a:rPr>
                <a:t>çalıştırmak pratiktir."</a:t>
              </a:r>
            </a:p>
          </p:txBody>
        </p:sp>
        <p:sp>
          <p:nvSpPr>
            <p:cNvPr id="24" name="TextBox 24"/>
            <p:cNvSpPr txBox="1"/>
            <p:nvPr/>
          </p:nvSpPr>
          <p:spPr>
            <a:xfrm>
              <a:off x="4375404" y="3337560"/>
              <a:ext cx="32964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Paylaşılan geliştirme veritabanı testler</a:t>
              </a:r>
              <a:br/>
              <a:r>
                <a:rPr lang="tr-TR" sz="1200" dirty="0">
                  <a:solidFill>
                    <a:srgbClr val="172B3A"/>
                  </a:solidFill>
                  <a:latin typeface="+mn-lt"/>
                  <a:ea typeface="+mn-ea"/>
                  <a:cs typeface="+mn-cs"/>
                </a:rPr>
                <a:t>arasında sıfırlanmaz; bir testin bıraktığı</a:t>
              </a:r>
              <a:br/>
              <a:r>
                <a:rPr lang="tr-TR" sz="1200" dirty="0">
                  <a:solidFill>
                    <a:srgbClr val="172B3A"/>
                  </a:solidFill>
                  <a:latin typeface="+mn-lt"/>
                  <a:ea typeface="+mn-ea"/>
                  <a:cs typeface="+mn-cs"/>
                </a:rPr>
                <a:t>kayıt bir sonrakinin sonucunu bozar,</a:t>
              </a:r>
              <a:br/>
              <a:r>
                <a:rPr lang="tr-TR" sz="1200" dirty="0">
                  <a:solidFill>
                    <a:srgbClr val="172B3A"/>
                  </a:solidFill>
                  <a:latin typeface="+mn-lt"/>
                  <a:ea typeface="+mn-ea"/>
                  <a:cs typeface="+mn-cs"/>
                </a:rPr>
                <a:t>flaky test üretir.</a:t>
              </a:r>
            </a:p>
          </p:txBody>
        </p:sp>
        <p:sp>
          <p:nvSpPr>
            <p:cNvPr id="25" name="TextBox 25"/>
            <p:cNvSpPr txBox="1"/>
            <p:nvPr/>
          </p:nvSpPr>
          <p:spPr>
            <a:xfrm>
              <a:off x="8185404" y="3337560"/>
              <a:ext cx="28773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Her test çalıştırmasından önce izole,</a:t>
              </a:r>
              <a:br/>
              <a:r>
                <a:rPr lang="tr-TR" sz="1200" dirty="0">
                  <a:solidFill>
                    <a:srgbClr val="172B3A"/>
                  </a:solidFill>
                  <a:latin typeface="+mn-lt"/>
                  <a:ea typeface="+mn-ea"/>
                  <a:cs typeface="+mn-cs"/>
                </a:rPr>
                <a:t>sıfırlanabilir bir test veritabanı</a:t>
              </a:r>
              <a:br/>
              <a:r>
                <a:rPr lang="tr-TR" sz="1200" dirty="0">
                  <a:solidFill>
                    <a:srgbClr val="172B3A"/>
                  </a:solidFill>
                  <a:latin typeface="+mn-lt"/>
                  <a:ea typeface="+mn-ea"/>
                  <a:cs typeface="+mn-cs"/>
                </a:rPr>
                <a:t>(veya bellek içi/Testcontainers)</a:t>
              </a:r>
              <a:br/>
              <a:r>
                <a:rPr lang="tr-TR" sz="1200" dirty="0">
                  <a:solidFill>
                    <a:srgbClr val="172B3A"/>
                  </a:solidFill>
                  <a:latin typeface="+mn-lt"/>
                  <a:ea typeface="+mn-ea"/>
                  <a:cs typeface="+mn-cs"/>
                </a:rPr>
                <a:t>kullanılmalıdır.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manualdoc"/>
          <p:cNvGrpSpPr/>
          <p:nvPr/>
        </p:nvGrpSpPr>
        <p:grpSpPr>
          <a:xfrm>
            <a:off x="753999" y="4744879"/>
            <a:ext cx="10278237" cy="903827"/>
            <a:chOff x="753999" y="4744879"/>
            <a:chExt cx="10278237" cy="903827"/>
          </a:xfrm>
        </p:grpSpPr>
        <p:sp>
          <p:nvSpPr>
            <p:cNvPr id="28" name="TextBox 28"/>
            <p:cNvSpPr txBox="1"/>
            <p:nvPr/>
          </p:nvSpPr>
          <p:spPr>
            <a:xfrm>
              <a:off x="753999" y="4744879"/>
              <a:ext cx="2460041"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"Kodu yazdıktan sonra</a:t>
              </a:r>
              <a:br/>
              <a:r>
                <a:rPr lang="tr-TR" sz="1580" b="1" dirty="0">
                  <a:solidFill>
                    <a:srgbClr val="12355B"/>
                  </a:solidFill>
                  <a:latin typeface="+mn-lt"/>
                  <a:ea typeface="+mn-ea"/>
                  <a:cs typeface="+mn-cs"/>
                </a:rPr>
                <a:t>elle bir Word belgesi</a:t>
              </a:r>
              <a:br/>
              <a:r>
                <a:rPr lang="tr-TR" sz="1580" b="1" dirty="0">
                  <a:solidFill>
                    <a:srgbClr val="12355B"/>
                  </a:solidFill>
                  <a:latin typeface="+mn-lt"/>
                  <a:ea typeface="+mn-ea"/>
                  <a:cs typeface="+mn-cs"/>
                </a:rPr>
                <a:t>hazırlamak yeterlidir."</a:t>
              </a:r>
            </a:p>
          </p:txBody>
        </p:sp>
        <p:sp>
          <p:nvSpPr>
            <p:cNvPr id="29" name="TextBox 29"/>
            <p:cNvSpPr txBox="1"/>
            <p:nvPr/>
          </p:nvSpPr>
          <p:spPr>
            <a:xfrm>
              <a:off x="4375404" y="4785360"/>
              <a:ext cx="32964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Elle yazılan belgenin kodla senkron kalması</a:t>
              </a:r>
              <a:br/>
              <a:r>
                <a:rPr lang="tr-TR" sz="1200" dirty="0">
                  <a:solidFill>
                    <a:srgbClr val="172B3A"/>
                  </a:solidFill>
                  <a:latin typeface="+mn-lt"/>
                  <a:ea typeface="+mn-ea"/>
                  <a:cs typeface="+mn-cs"/>
                </a:rPr>
                <a:t>garanti değildir; her değişiklikte belgenin de</a:t>
              </a:r>
              <a:br/>
              <a:r>
                <a:rPr lang="tr-TR" sz="1200" dirty="0">
                  <a:solidFill>
                    <a:srgbClr val="172B3A"/>
                  </a:solidFill>
                  <a:latin typeface="+mn-lt"/>
                  <a:ea typeface="+mn-ea"/>
                  <a:cs typeface="+mn-cs"/>
                </a:rPr>
                <a:t>güncellenmesi ayrı, kolayca unutulan bir</a:t>
              </a:r>
              <a:br/>
              <a:r>
                <a:rPr lang="tr-TR" sz="1200" dirty="0">
                  <a:solidFill>
                    <a:srgbClr val="172B3A"/>
                  </a:solidFill>
                  <a:latin typeface="+mn-lt"/>
                  <a:ea typeface="+mn-ea"/>
                  <a:cs typeface="+mn-cs"/>
                </a:rPr>
                <a:t>adımdır.</a:t>
              </a:r>
            </a:p>
          </p:txBody>
        </p:sp>
        <p:sp>
          <p:nvSpPr>
            <p:cNvPr id="30" name="TextBox 30"/>
            <p:cNvSpPr txBox="1"/>
            <p:nvPr/>
          </p:nvSpPr>
          <p:spPr>
            <a:xfrm>
              <a:off x="8185404" y="4785360"/>
              <a:ext cx="28468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OpenAPI sözleşmesi koddan (veya kod</a:t>
              </a:r>
              <a:br/>
              <a:r>
                <a:rPr lang="tr-TR" sz="1200" dirty="0">
                  <a:solidFill>
                    <a:srgbClr val="172B3A"/>
                  </a:solidFill>
                  <a:latin typeface="+mn-lt"/>
                  <a:ea typeface="+mn-ea"/>
                  <a:cs typeface="+mn-cs"/>
                </a:rPr>
                <a:t>koddan) türetilmeli; Swagger UI gibi</a:t>
              </a:r>
              <a:br/>
              <a:r>
                <a:rPr lang="tr-TR" sz="1200" dirty="0">
                  <a:solidFill>
                    <a:srgbClr val="172B3A"/>
                  </a:solidFill>
                  <a:latin typeface="+mn-lt"/>
                  <a:ea typeface="+mn-ea"/>
                  <a:cs typeface="+mn-cs"/>
                </a:rPr>
                <a:t>araçlar belgeyi canlı, otomatik güncel</a:t>
              </a:r>
              <a:br/>
              <a:r>
                <a:rPr lang="tr-TR" sz="1200" dirty="0">
                  <a:solidFill>
                    <a:srgbClr val="172B3A"/>
                  </a:solidFill>
                  <a:latin typeface="+mn-lt"/>
                  <a:ea typeface="+mn-ea"/>
                  <a:cs typeface="+mn-cs"/>
                </a:rPr>
                <a:t>tutmalıdır.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697855" cy="668845"/>
            <a:chOff x="609600" y="171450"/>
            <a:chExt cx="1069785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100074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HataliTest.ts → DuzeltilmisTest.ts</a:t>
              </a:r>
            </a:p>
          </p:txBody>
        </p:sp>
      </p:grpSp>
      <p:grpSp>
        <p:nvGrpSpPr>
          <p:cNvPr id="26" name="code-compare"/>
          <p:cNvGrpSpPr/>
          <p:nvPr/>
        </p:nvGrpSpPr>
        <p:grpSpPr>
          <a:xfrm>
            <a:off x="609600" y="1123950"/>
            <a:ext cx="10972800" cy="1905000"/>
            <a:chOff x="609600" y="1123950"/>
            <a:chExt cx="10972800" cy="1905000"/>
          </a:xfrm>
        </p:grpSpPr>
        <p:sp>
          <p:nvSpPr>
            <p:cNvPr id="12" name="Rectangle 12"/>
            <p:cNvSpPr/>
            <p:nvPr/>
          </p:nvSpPr>
          <p:spPr>
            <a:xfrm>
              <a:off x="609600" y="1123950"/>
              <a:ext cx="5295900" cy="1905000"/>
            </a:xfrm>
            <a:prstGeom prst="roundRect">
              <a:avLst>
                <a:gd name="adj" fmla="val 5000"/>
              </a:avLst>
            </a:prstGeom>
            <a:solidFill>
              <a:srgbClr val="FFFFFF"/>
            </a:solidFill>
            <a:ln w="14288">
              <a:solidFill>
                <a:srgbClr val="9E2B25"/>
              </a:solidFill>
            </a:ln>
          </p:spPr>
        </p:sp>
        <p:sp>
          <p:nvSpPr>
            <p:cNvPr id="13" name="TextBox 13"/>
            <p:cNvSpPr txBox="1"/>
            <p:nvPr/>
          </p:nvSpPr>
          <p:spPr>
            <a:xfrm>
              <a:off x="830580" y="1266825"/>
              <a:ext cx="1926012" cy="293370"/>
            </a:xfrm>
            <a:prstGeom prst="rect">
              <a:avLst/>
            </a:prstGeom>
            <a:noFill/>
            <a:ln>
              <a:noFill/>
            </a:ln>
          </p:spPr>
          <p:txBody>
            <a:bodyPr wrap="none" lIns="0" tIns="0" rIns="0" bIns="0" anchor="t" anchorCtr="0">
              <a:spAutoFit/>
            </a:bodyPr>
            <a:lstStyle/>
            <a:p>
              <a:pPr algn="l"/>
              <a:r>
                <a:rPr lang="tr-TR" sz="1500" b="1" dirty="0">
                  <a:solidFill>
                    <a:srgbClr val="9E2B25"/>
                  </a:solidFill>
                  <a:latin typeface="+mn-lt"/>
                  <a:ea typeface="+mn-ea"/>
                  <a:cs typeface="+mn-cs"/>
                </a:rPr>
                <a:t>Kod 13.13 — Hatalı</a:t>
              </a:r>
            </a:p>
          </p:txBody>
        </p:sp>
        <p:sp>
          <p:nvSpPr>
            <p:cNvPr id="14" name="TextBox 14"/>
            <p:cNvSpPr txBox="1"/>
            <p:nvPr/>
          </p:nvSpPr>
          <p:spPr>
            <a:xfrm>
              <a:off x="832485" y="1593056"/>
              <a:ext cx="14588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const repo = new</a:t>
              </a:r>
            </a:p>
          </p:txBody>
        </p:sp>
        <p:sp>
          <p:nvSpPr>
            <p:cNvPr id="15" name="TextBox 15"/>
            <p:cNvSpPr txBox="1"/>
            <p:nvPr/>
          </p:nvSpPr>
          <p:spPr>
            <a:xfrm>
              <a:off x="832485" y="1783556"/>
              <a:ext cx="256098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GercekVeritabaniRepository()</a:t>
              </a:r>
            </a:p>
          </p:txBody>
        </p:sp>
        <p:sp>
          <p:nvSpPr>
            <p:cNvPr id="16" name="TextBox 16"/>
            <p:cNvSpPr txBox="1"/>
            <p:nvPr/>
          </p:nvSpPr>
          <p:spPr>
            <a:xfrm>
              <a:off x="832485" y="2069306"/>
              <a:ext cx="30872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test("kullanici olusturulur", ...)</a:t>
              </a:r>
            </a:p>
          </p:txBody>
        </p:sp>
        <p:sp>
          <p:nvSpPr>
            <p:cNvPr id="17" name="TextBox 17"/>
            <p:cNvSpPr txBox="1"/>
            <p:nvPr/>
          </p:nvSpPr>
          <p:spPr>
            <a:xfrm>
              <a:off x="832866" y="2363152"/>
              <a:ext cx="227702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Testler arasında sıfırlama yok;</a:t>
              </a:r>
            </a:p>
          </p:txBody>
        </p:sp>
        <p:sp>
          <p:nvSpPr>
            <p:cNvPr id="18" name="TextBox 18"/>
            <p:cNvSpPr txBox="1"/>
            <p:nvPr/>
          </p:nvSpPr>
          <p:spPr>
            <a:xfrm>
              <a:off x="832866" y="2572702"/>
              <a:ext cx="207439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gerçek veritabanına bağımlı.</a:t>
              </a:r>
            </a:p>
          </p:txBody>
        </p:sp>
        <p:sp>
          <p:nvSpPr>
            <p:cNvPr id="19" name="Rectangle 19"/>
            <p:cNvSpPr/>
            <p:nvPr/>
          </p:nvSpPr>
          <p:spPr>
            <a:xfrm>
              <a:off x="6286500" y="1123950"/>
              <a:ext cx="5295900" cy="1905000"/>
            </a:xfrm>
            <a:prstGeom prst="roundRect">
              <a:avLst>
                <a:gd name="adj" fmla="val 5000"/>
              </a:avLst>
            </a:prstGeom>
            <a:solidFill>
              <a:srgbClr val="FFFFFF"/>
            </a:solidFill>
            <a:ln w="14288">
              <a:solidFill>
                <a:srgbClr val="00A6A6"/>
              </a:solidFill>
            </a:ln>
          </p:spPr>
        </p:sp>
        <p:sp>
          <p:nvSpPr>
            <p:cNvPr id="20" name="TextBox 20"/>
            <p:cNvSpPr txBox="1"/>
            <p:nvPr/>
          </p:nvSpPr>
          <p:spPr>
            <a:xfrm>
              <a:off x="6507480" y="1266825"/>
              <a:ext cx="2387765"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Kod 13.14 — Düzeltilmiş</a:t>
              </a:r>
            </a:p>
          </p:txBody>
        </p:sp>
        <p:sp>
          <p:nvSpPr>
            <p:cNvPr id="21" name="TextBox 21"/>
            <p:cNvSpPr txBox="1"/>
            <p:nvPr/>
          </p:nvSpPr>
          <p:spPr>
            <a:xfrm>
              <a:off x="6509385" y="1593056"/>
              <a:ext cx="14588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const repo = new</a:t>
              </a:r>
            </a:p>
          </p:txBody>
        </p:sp>
        <p:sp>
          <p:nvSpPr>
            <p:cNvPr id="22" name="TextBox 22"/>
            <p:cNvSpPr txBox="1"/>
            <p:nvPr/>
          </p:nvSpPr>
          <p:spPr>
            <a:xfrm>
              <a:off x="6509385" y="1783556"/>
              <a:ext cx="27473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BellekIciKullaniciRepository()</a:t>
              </a:r>
            </a:p>
          </p:txBody>
        </p:sp>
        <p:sp>
          <p:nvSpPr>
            <p:cNvPr id="23" name="TextBox 23"/>
            <p:cNvSpPr txBox="1"/>
            <p:nvPr/>
          </p:nvSpPr>
          <p:spPr>
            <a:xfrm>
              <a:off x="6509385" y="2069306"/>
              <a:ext cx="291410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beforeEach(() =&gt; repo.sifirla())</a:t>
              </a:r>
            </a:p>
          </p:txBody>
        </p:sp>
        <p:sp>
          <p:nvSpPr>
            <p:cNvPr id="24" name="TextBox 24"/>
            <p:cNvSpPr txBox="1"/>
            <p:nvPr/>
          </p:nvSpPr>
          <p:spPr>
            <a:xfrm>
              <a:off x="6509766" y="2363152"/>
              <a:ext cx="233334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Bellek içi, yalıtılmış repository;</a:t>
              </a:r>
            </a:p>
          </p:txBody>
        </p:sp>
        <p:sp>
          <p:nvSpPr>
            <p:cNvPr id="25" name="TextBox 25"/>
            <p:cNvSpPr txBox="1"/>
            <p:nvPr/>
          </p:nvSpPr>
          <p:spPr>
            <a:xfrm>
              <a:off x="6509766" y="2572702"/>
              <a:ext cx="226521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her test temiz durumdan başlar.</a:t>
              </a:r>
            </a:p>
          </p:txBody>
        </p:sp>
      </p:grpSp>
      <p:grpSp>
        <p:nvGrpSpPr>
          <p:cNvPr id="31" name="trace-header"/>
          <p:cNvGrpSpPr/>
          <p:nvPr/>
        </p:nvGrpSpPr>
        <p:grpSpPr>
          <a:xfrm>
            <a:off x="609600" y="3200400"/>
            <a:ext cx="10972800" cy="323850"/>
            <a:chOff x="609600" y="3200400"/>
            <a:chExt cx="10972800" cy="323850"/>
          </a:xfrm>
        </p:grpSpPr>
        <p:sp>
          <p:nvSpPr>
            <p:cNvPr id="27" name="Rectangle 27"/>
            <p:cNvSpPr/>
            <p:nvPr/>
          </p:nvSpPr>
          <p:spPr>
            <a:xfrm>
              <a:off x="609600" y="3200400"/>
              <a:ext cx="10972800" cy="323850"/>
            </a:xfrm>
            <a:prstGeom prst="rect">
              <a:avLst/>
            </a:prstGeom>
            <a:solidFill>
              <a:srgbClr val="12355B"/>
            </a:solidFill>
            <a:ln>
              <a:noFill/>
            </a:ln>
          </p:spPr>
        </p:sp>
        <p:sp>
          <p:nvSpPr>
            <p:cNvPr id="28" name="TextBox 28"/>
            <p:cNvSpPr txBox="1"/>
            <p:nvPr/>
          </p:nvSpPr>
          <p:spPr>
            <a:xfrm>
              <a:off x="756666" y="3296602"/>
              <a:ext cx="37983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ADIM</a:t>
              </a:r>
            </a:p>
          </p:txBody>
        </p:sp>
        <p:sp>
          <p:nvSpPr>
            <p:cNvPr id="29" name="TextBox 29"/>
            <p:cNvSpPr txBox="1"/>
            <p:nvPr/>
          </p:nvSpPr>
          <p:spPr>
            <a:xfrm>
              <a:off x="2471166" y="3296602"/>
              <a:ext cx="133616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HATALI DAVRANIŞ</a:t>
              </a:r>
            </a:p>
          </p:txBody>
        </p:sp>
        <p:sp>
          <p:nvSpPr>
            <p:cNvPr id="30" name="TextBox 30"/>
            <p:cNvSpPr txBox="1"/>
            <p:nvPr/>
          </p:nvSpPr>
          <p:spPr>
            <a:xfrm>
              <a:off x="6662166" y="3296602"/>
              <a:ext cx="1891330"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DÜZELTİLMİŞ DAVRANIŞ</a:t>
              </a:r>
            </a:p>
          </p:txBody>
        </p:sp>
      </p:grpSp>
      <p:grpSp>
        <p:nvGrpSpPr>
          <p:cNvPr id="49" name="trace-rows"/>
          <p:cNvGrpSpPr/>
          <p:nvPr/>
        </p:nvGrpSpPr>
        <p:grpSpPr>
          <a:xfrm>
            <a:off x="609600" y="3524250"/>
            <a:ext cx="10972800" cy="1975009"/>
            <a:chOff x="609600" y="3524250"/>
            <a:chExt cx="10972800" cy="1975009"/>
          </a:xfrm>
        </p:grpSpPr>
        <p:sp>
          <p:nvSpPr>
            <p:cNvPr id="32" name="Rectangle 32"/>
            <p:cNvSpPr/>
            <p:nvPr/>
          </p:nvSpPr>
          <p:spPr>
            <a:xfrm>
              <a:off x="609600" y="3524250"/>
              <a:ext cx="10972800" cy="523875"/>
            </a:xfrm>
            <a:prstGeom prst="rect">
              <a:avLst/>
            </a:prstGeom>
            <a:solidFill>
              <a:srgbClr val="EAF4F6"/>
            </a:solidFill>
            <a:ln>
              <a:noFill/>
            </a:ln>
          </p:spPr>
        </p:sp>
        <p:sp>
          <p:nvSpPr>
            <p:cNvPr id="33" name="TextBox 33"/>
            <p:cNvSpPr txBox="1"/>
            <p:nvPr/>
          </p:nvSpPr>
          <p:spPr>
            <a:xfrm>
              <a:off x="756285" y="3707606"/>
              <a:ext cx="154395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Kullanıcı oluşturma</a:t>
              </a:r>
            </a:p>
          </p:txBody>
        </p:sp>
        <p:sp>
          <p:nvSpPr>
            <p:cNvPr id="34" name="TextBox 34"/>
            <p:cNvSpPr txBox="1"/>
            <p:nvPr/>
          </p:nvSpPr>
          <p:spPr>
            <a:xfrm>
              <a:off x="2471166" y="3715702"/>
              <a:ext cx="237953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Gerçek DB'ye yazılır, iz bırakır.</a:t>
              </a:r>
            </a:p>
          </p:txBody>
        </p:sp>
        <p:sp>
          <p:nvSpPr>
            <p:cNvPr id="35" name="TextBox 35"/>
            <p:cNvSpPr txBox="1"/>
            <p:nvPr/>
          </p:nvSpPr>
          <p:spPr>
            <a:xfrm>
              <a:off x="6662166" y="3715702"/>
              <a:ext cx="280699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Bellek içinde oluşur, kalıcı iz bırakmaz.</a:t>
              </a:r>
            </a:p>
          </p:txBody>
        </p:sp>
        <p:sp>
          <p:nvSpPr>
            <p:cNvPr id="36" name="Line 36"/>
            <p:cNvSpPr/>
            <p:nvPr/>
          </p:nvSpPr>
          <p:spPr>
            <a:xfrm>
              <a:off x="609600" y="4048125"/>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7" name="TextBox 37"/>
            <p:cNvSpPr txBox="1"/>
            <p:nvPr/>
          </p:nvSpPr>
          <p:spPr>
            <a:xfrm>
              <a:off x="756285" y="4231481"/>
              <a:ext cx="136979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Sıralı bağımlılık</a:t>
              </a:r>
            </a:p>
          </p:txBody>
        </p:sp>
        <p:sp>
          <p:nvSpPr>
            <p:cNvPr id="38" name="TextBox 38"/>
            <p:cNvSpPr txBox="1"/>
            <p:nvPr/>
          </p:nvSpPr>
          <p:spPr>
            <a:xfrm>
              <a:off x="2471166" y="4239578"/>
              <a:ext cx="291543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 test, 1. testin verisine bağımlı kalır.</a:t>
              </a:r>
            </a:p>
          </p:txBody>
        </p:sp>
        <p:sp>
          <p:nvSpPr>
            <p:cNvPr id="39" name="TextBox 39"/>
            <p:cNvSpPr txBox="1"/>
            <p:nvPr/>
          </p:nvSpPr>
          <p:spPr>
            <a:xfrm>
              <a:off x="6662166" y="4239578"/>
              <a:ext cx="303146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Her test `beforeEach` ile bağımsız başlar.</a:t>
              </a:r>
            </a:p>
          </p:txBody>
        </p:sp>
        <p:sp>
          <p:nvSpPr>
            <p:cNvPr id="40" name="Line 40"/>
            <p:cNvSpPr/>
            <p:nvPr/>
          </p:nvSpPr>
          <p:spPr>
            <a:xfrm>
              <a:off x="609600" y="4572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41" name="Rectangle 41"/>
            <p:cNvSpPr/>
            <p:nvPr/>
          </p:nvSpPr>
          <p:spPr>
            <a:xfrm>
              <a:off x="609600" y="4572000"/>
              <a:ext cx="10972800" cy="523875"/>
            </a:xfrm>
            <a:prstGeom prst="rect">
              <a:avLst/>
            </a:prstGeom>
            <a:solidFill>
              <a:srgbClr val="EAF4F6"/>
            </a:solidFill>
            <a:ln>
              <a:noFill/>
            </a:ln>
          </p:spPr>
        </p:sp>
        <p:sp>
          <p:nvSpPr>
            <p:cNvPr id="42" name="TextBox 42"/>
            <p:cNvSpPr txBox="1"/>
            <p:nvPr/>
          </p:nvSpPr>
          <p:spPr>
            <a:xfrm>
              <a:off x="756285" y="4755356"/>
              <a:ext cx="1338021"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Veritabanı etkisi</a:t>
              </a:r>
            </a:p>
          </p:txBody>
        </p:sp>
        <p:sp>
          <p:nvSpPr>
            <p:cNvPr id="43" name="TextBox 43"/>
            <p:cNvSpPr txBox="1"/>
            <p:nvPr/>
          </p:nvSpPr>
          <p:spPr>
            <a:xfrm>
              <a:off x="2471166" y="4763452"/>
              <a:ext cx="284921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Kalıcı kayıtlar birikir, temizlik gerekir.</a:t>
              </a:r>
            </a:p>
          </p:txBody>
        </p:sp>
        <p:sp>
          <p:nvSpPr>
            <p:cNvPr id="44" name="TextBox 44"/>
            <p:cNvSpPr txBox="1"/>
            <p:nvPr/>
          </p:nvSpPr>
          <p:spPr>
            <a:xfrm>
              <a:off x="6662166" y="4763452"/>
              <a:ext cx="282823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Süreç sonunda otomatik olarak kaybolur.</a:t>
              </a:r>
            </a:p>
          </p:txBody>
        </p:sp>
        <p:sp>
          <p:nvSpPr>
            <p:cNvPr id="45" name="Line 45"/>
            <p:cNvSpPr/>
            <p:nvPr/>
          </p:nvSpPr>
          <p:spPr>
            <a:xfrm>
              <a:off x="609600" y="5095875"/>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46" name="TextBox 46"/>
            <p:cNvSpPr txBox="1"/>
            <p:nvPr/>
          </p:nvSpPr>
          <p:spPr>
            <a:xfrm>
              <a:off x="756285" y="5279231"/>
              <a:ext cx="149689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Hata yakalama gücü</a:t>
              </a:r>
            </a:p>
          </p:txBody>
        </p:sp>
        <p:sp>
          <p:nvSpPr>
            <p:cNvPr id="47" name="TextBox 47"/>
            <p:cNvSpPr txBox="1"/>
            <p:nvPr/>
          </p:nvSpPr>
          <p:spPr>
            <a:xfrm>
              <a:off x="2471166" y="5287328"/>
              <a:ext cx="322387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Testler sırayla çalıştırılmazsa yanlış geçer.</a:t>
              </a:r>
            </a:p>
          </p:txBody>
        </p:sp>
        <p:sp>
          <p:nvSpPr>
            <p:cNvPr id="48" name="TextBox 48"/>
            <p:cNvSpPr txBox="1"/>
            <p:nvPr/>
          </p:nvSpPr>
          <p:spPr>
            <a:xfrm>
              <a:off x="6662166" y="5287328"/>
              <a:ext cx="319580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Her sırada çalıştırılsa da doğru sonuç verir.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625022" cy="668845"/>
            <a:chOff x="609600" y="171450"/>
            <a:chExt cx="762502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693465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13.15: uçtan uca mini uygulama</a:t>
              </a:r>
            </a:p>
          </p:txBody>
        </p:sp>
      </p:grpSp>
      <p:grpSp>
        <p:nvGrpSpPr>
          <p:cNvPr id="14" name="path-node"/>
          <p:cNvGrpSpPr/>
          <p:nvPr/>
        </p:nvGrpSpPr>
        <p:grpSpPr>
          <a:xfrm>
            <a:off x="3238500" y="1143000"/>
            <a:ext cx="5715000" cy="533400"/>
            <a:chOff x="3238500" y="1143000"/>
            <a:chExt cx="5715000" cy="533400"/>
          </a:xfrm>
        </p:grpSpPr>
        <p:sp>
          <p:nvSpPr>
            <p:cNvPr id="12" name="Rectangle 12"/>
            <p:cNvSpPr/>
            <p:nvPr/>
          </p:nvSpPr>
          <p:spPr>
            <a:xfrm>
              <a:off x="3238500" y="1143000"/>
              <a:ext cx="5715000" cy="533400"/>
            </a:xfrm>
            <a:prstGeom prst="roundRect">
              <a:avLst>
                <a:gd name="adj" fmla="val 50000"/>
              </a:avLst>
            </a:prstGeom>
            <a:solidFill>
              <a:srgbClr val="12355B"/>
            </a:solidFill>
            <a:ln>
              <a:noFill/>
            </a:ln>
          </p:spPr>
        </p:sp>
        <p:sp>
          <p:nvSpPr>
            <p:cNvPr id="13" name="TextBox 13"/>
            <p:cNvSpPr txBox="1"/>
            <p:nvPr/>
          </p:nvSpPr>
          <p:spPr>
            <a:xfrm>
              <a:off x="3832079" y="1306354"/>
              <a:ext cx="4527842"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Consolas"/>
                  <a:ea typeface="Consolas"/>
                  <a:cs typeface="Consolas"/>
                </a:rPr>
                <a:t>POST /kitaplar/{kitapKodu}/odunc-al</a:t>
              </a:r>
            </a:p>
          </p:txBody>
        </p:sp>
      </p:grpSp>
      <p:sp>
        <p:nvSpPr>
          <p:cNvPr id="15" name="Line 15"/>
          <p:cNvSpPr/>
          <p:nvPr/>
        </p:nvSpPr>
        <p:spPr>
          <a:xfrm>
            <a:off x="6096000" y="1676400"/>
            <a:ext cx="1" cy="285750"/>
          </a:xfrm>
          <a:prstGeom prst="line">
            <a:avLst/>
          </a:prstGeom>
          <a:noFill/>
          <a:ln w="19050">
            <a:solidFill>
              <a:srgbClr val="52616B"/>
            </a:solidFill>
            <a:tailEnd type="arrow" w="lg" len="lg"/>
          </a:ln>
        </p:spPr>
      </p:sp>
      <p:grpSp>
        <p:nvGrpSpPr>
          <p:cNvPr id="31" name="pipeline"/>
          <p:cNvGrpSpPr/>
          <p:nvPr/>
        </p:nvGrpSpPr>
        <p:grpSpPr>
          <a:xfrm>
            <a:off x="609600" y="2000250"/>
            <a:ext cx="10972800" cy="857250"/>
            <a:chOff x="609600" y="2000250"/>
            <a:chExt cx="10972800" cy="857250"/>
          </a:xfrm>
        </p:grpSpPr>
        <p:sp>
          <p:nvSpPr>
            <p:cNvPr id="16" name="Rectangle 16"/>
            <p:cNvSpPr/>
            <p:nvPr/>
          </p:nvSpPr>
          <p:spPr>
            <a:xfrm>
              <a:off x="609600" y="2000250"/>
              <a:ext cx="2476500" cy="857250"/>
            </a:xfrm>
            <a:prstGeom prst="roundRect">
              <a:avLst>
                <a:gd name="adj" fmla="val 8889"/>
              </a:avLst>
            </a:prstGeom>
            <a:solidFill>
              <a:srgbClr val="FFFFFF"/>
            </a:solidFill>
            <a:ln w="14288">
              <a:solidFill>
                <a:srgbClr val="2E86AB"/>
              </a:solidFill>
            </a:ln>
          </p:spPr>
        </p:sp>
        <p:sp>
          <p:nvSpPr>
            <p:cNvPr id="17" name="TextBox 17"/>
            <p:cNvSpPr txBox="1"/>
            <p:nvPr/>
          </p:nvSpPr>
          <p:spPr>
            <a:xfrm>
              <a:off x="833600" y="2156460"/>
              <a:ext cx="2028500"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yolParametreleriEksikMi</a:t>
              </a:r>
            </a:p>
          </p:txBody>
        </p:sp>
        <p:sp>
          <p:nvSpPr>
            <p:cNvPr id="18" name="TextBox 18"/>
            <p:cNvSpPr txBox="1"/>
            <p:nvPr/>
          </p:nvSpPr>
          <p:spPr>
            <a:xfrm>
              <a:off x="1315984" y="2420302"/>
              <a:ext cx="1063733"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girdi doğrulama</a:t>
              </a:r>
            </a:p>
          </p:txBody>
        </p:sp>
        <p:sp>
          <p:nvSpPr>
            <p:cNvPr id="19" name="Line 19"/>
            <p:cNvSpPr/>
            <p:nvPr/>
          </p:nvSpPr>
          <p:spPr>
            <a:xfrm>
              <a:off x="3086100" y="2428875"/>
              <a:ext cx="476250" cy="1"/>
            </a:xfrm>
            <a:prstGeom prst="line">
              <a:avLst/>
            </a:prstGeom>
            <a:noFill/>
            <a:ln w="19050">
              <a:solidFill>
                <a:srgbClr val="52616B"/>
              </a:solidFill>
              <a:tailEnd type="arrow" w="lg" len="lg"/>
            </a:ln>
          </p:spPr>
        </p:sp>
        <p:sp>
          <p:nvSpPr>
            <p:cNvPr id="20" name="Rectangle 20"/>
            <p:cNvSpPr/>
            <p:nvPr/>
          </p:nvSpPr>
          <p:spPr>
            <a:xfrm>
              <a:off x="3562350" y="2000250"/>
              <a:ext cx="2476500" cy="857250"/>
            </a:xfrm>
            <a:prstGeom prst="roundRect">
              <a:avLst>
                <a:gd name="adj" fmla="val 8889"/>
              </a:avLst>
            </a:prstGeom>
            <a:solidFill>
              <a:srgbClr val="FFFFFF"/>
            </a:solidFill>
            <a:ln w="14288">
              <a:solidFill>
                <a:srgbClr val="2E86AB"/>
              </a:solidFill>
            </a:ln>
          </p:spPr>
        </p:sp>
        <p:sp>
          <p:nvSpPr>
            <p:cNvPr id="21" name="TextBox 21"/>
            <p:cNvSpPr txBox="1"/>
            <p:nvPr/>
          </p:nvSpPr>
          <p:spPr>
            <a:xfrm>
              <a:off x="4486717" y="2156460"/>
              <a:ext cx="627766"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oduncAl</a:t>
              </a:r>
            </a:p>
          </p:txBody>
        </p:sp>
        <p:sp>
          <p:nvSpPr>
            <p:cNvPr id="22" name="TextBox 22"/>
            <p:cNvSpPr txBox="1"/>
            <p:nvPr/>
          </p:nvSpPr>
          <p:spPr>
            <a:xfrm>
              <a:off x="3896401" y="2420302"/>
              <a:ext cx="180839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servis mantığı, AppError</a:t>
              </a:r>
            </a:p>
          </p:txBody>
        </p:sp>
        <p:sp>
          <p:nvSpPr>
            <p:cNvPr id="23" name="Line 23"/>
            <p:cNvSpPr/>
            <p:nvPr/>
          </p:nvSpPr>
          <p:spPr>
            <a:xfrm>
              <a:off x="6038850" y="2428875"/>
              <a:ext cx="476250" cy="1"/>
            </a:xfrm>
            <a:prstGeom prst="line">
              <a:avLst/>
            </a:prstGeom>
            <a:noFill/>
            <a:ln w="19050">
              <a:solidFill>
                <a:srgbClr val="52616B"/>
              </a:solidFill>
              <a:tailEnd type="arrow" w="lg" len="lg"/>
            </a:ln>
          </p:spPr>
        </p:sp>
        <p:sp>
          <p:nvSpPr>
            <p:cNvPr id="24" name="Rectangle 24"/>
            <p:cNvSpPr/>
            <p:nvPr/>
          </p:nvSpPr>
          <p:spPr>
            <a:xfrm>
              <a:off x="6515100" y="2000250"/>
              <a:ext cx="2476500" cy="857250"/>
            </a:xfrm>
            <a:prstGeom prst="roundRect">
              <a:avLst>
                <a:gd name="adj" fmla="val 8889"/>
              </a:avLst>
            </a:prstGeom>
            <a:solidFill>
              <a:srgbClr val="EAF4F6"/>
            </a:solidFill>
            <a:ln w="14288">
              <a:solidFill>
                <a:srgbClr val="00A6A6"/>
              </a:solidFill>
            </a:ln>
          </p:spPr>
        </p:sp>
        <p:sp>
          <p:nvSpPr>
            <p:cNvPr id="25" name="TextBox 25"/>
            <p:cNvSpPr txBox="1"/>
            <p:nvPr/>
          </p:nvSpPr>
          <p:spPr>
            <a:xfrm>
              <a:off x="6643289" y="2156460"/>
              <a:ext cx="222012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KaydediciMockEmailService</a:t>
              </a:r>
            </a:p>
          </p:txBody>
        </p:sp>
        <p:sp>
          <p:nvSpPr>
            <p:cNvPr id="26" name="TextBox 26"/>
            <p:cNvSpPr txBox="1"/>
            <p:nvPr/>
          </p:nvSpPr>
          <p:spPr>
            <a:xfrm>
              <a:off x="7225017" y="2420302"/>
              <a:ext cx="1056665"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bildirim (mock)</a:t>
              </a:r>
            </a:p>
          </p:txBody>
        </p:sp>
        <p:sp>
          <p:nvSpPr>
            <p:cNvPr id="27" name="Line 27"/>
            <p:cNvSpPr/>
            <p:nvPr/>
          </p:nvSpPr>
          <p:spPr>
            <a:xfrm>
              <a:off x="8991600" y="2428875"/>
              <a:ext cx="476250" cy="1"/>
            </a:xfrm>
            <a:prstGeom prst="line">
              <a:avLst/>
            </a:prstGeom>
            <a:noFill/>
            <a:ln w="19050">
              <a:solidFill>
                <a:srgbClr val="52616B"/>
              </a:solidFill>
              <a:tailEnd type="arrow" w="lg" len="lg"/>
            </a:ln>
          </p:spPr>
        </p:sp>
        <p:sp>
          <p:nvSpPr>
            <p:cNvPr id="28" name="Rectangle 28"/>
            <p:cNvSpPr/>
            <p:nvPr/>
          </p:nvSpPr>
          <p:spPr>
            <a:xfrm>
              <a:off x="9467850" y="2000250"/>
              <a:ext cx="2114550" cy="857250"/>
            </a:xfrm>
            <a:prstGeom prst="roundRect">
              <a:avLst>
                <a:gd name="adj" fmla="val 8889"/>
              </a:avLst>
            </a:prstGeom>
            <a:solidFill>
              <a:srgbClr val="FFFFFF"/>
            </a:solidFill>
            <a:ln w="14288">
              <a:solidFill>
                <a:srgbClr val="B8CBD3"/>
              </a:solidFill>
            </a:ln>
          </p:spPr>
        </p:sp>
        <p:sp>
          <p:nvSpPr>
            <p:cNvPr id="29" name="TextBox 29"/>
            <p:cNvSpPr txBox="1"/>
            <p:nvPr/>
          </p:nvSpPr>
          <p:spPr>
            <a:xfrm>
              <a:off x="9999244" y="2156460"/>
              <a:ext cx="105176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beklenenEsit</a:t>
              </a:r>
            </a:p>
          </p:txBody>
        </p:sp>
        <p:sp>
          <p:nvSpPr>
            <p:cNvPr id="30" name="TextBox 30"/>
            <p:cNvSpPr txBox="1"/>
            <p:nvPr/>
          </p:nvSpPr>
          <p:spPr>
            <a:xfrm>
              <a:off x="9781232" y="2420302"/>
              <a:ext cx="1487786"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5 doğrulama (assert)</a:t>
              </a:r>
            </a:p>
          </p:txBody>
        </p:sp>
      </p:grpSp>
      <p:grpSp>
        <p:nvGrpSpPr>
          <p:cNvPr id="37" name="explain"/>
          <p:cNvGrpSpPr/>
          <p:nvPr/>
        </p:nvGrpSpPr>
        <p:grpSpPr>
          <a:xfrm>
            <a:off x="609600" y="3486150"/>
            <a:ext cx="10972800" cy="1238250"/>
            <a:chOff x="609600" y="3486150"/>
            <a:chExt cx="10972800" cy="1238250"/>
          </a:xfrm>
        </p:grpSpPr>
        <p:sp>
          <p:nvSpPr>
            <p:cNvPr id="32" name="Rectangle 32"/>
            <p:cNvSpPr/>
            <p:nvPr/>
          </p:nvSpPr>
          <p:spPr>
            <a:xfrm>
              <a:off x="609600" y="3486150"/>
              <a:ext cx="10972800" cy="1238250"/>
            </a:xfrm>
            <a:prstGeom prst="roundRect">
              <a:avLst>
                <a:gd name="adj" fmla="val 6154"/>
              </a:avLst>
            </a:prstGeom>
            <a:solidFill>
              <a:srgbClr val="EAF4F6"/>
            </a:solidFill>
            <a:ln>
              <a:noFill/>
            </a:ln>
          </p:spPr>
        </p:sp>
        <p:sp>
          <p:nvSpPr>
            <p:cNvPr id="33" name="TextBox 33"/>
            <p:cNvSpPr txBox="1"/>
            <p:nvPr/>
          </p:nvSpPr>
          <p:spPr>
            <a:xfrm>
              <a:off x="906399" y="3620929"/>
              <a:ext cx="387604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Bölümün tüm kavramları tek akışta</a:t>
              </a:r>
            </a:p>
          </p:txBody>
        </p:sp>
        <p:sp>
          <p:nvSpPr>
            <p:cNvPr id="34" name="TextBox 34"/>
            <p:cNvSpPr txBox="1"/>
            <p:nvPr/>
          </p:nvSpPr>
          <p:spPr>
            <a:xfrm>
              <a:off x="906780" y="3914775"/>
              <a:ext cx="818051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OpenAPI path tanımı, girdi doğrulaması, mock e-posta servisi ve elle yazılmış bir</a:t>
              </a:r>
            </a:p>
          </p:txBody>
        </p:sp>
        <p:sp>
          <p:nvSpPr>
            <p:cNvPr id="35" name="TextBox 35"/>
            <p:cNvSpPr txBox="1"/>
            <p:nvPr/>
          </p:nvSpPr>
          <p:spPr>
            <a:xfrm>
              <a:off x="906780" y="4162425"/>
              <a:ext cx="855796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`beklenenEsit` yardımcı fonksiyonuyla test framework'süz, saf TypeScript'te 5 unit</a:t>
              </a:r>
            </a:p>
          </p:txBody>
        </p:sp>
        <p:sp>
          <p:nvSpPr>
            <p:cNvPr id="36" name="TextBox 36"/>
            <p:cNvSpPr txBox="1"/>
            <p:nvPr/>
          </p:nvSpPr>
          <p:spPr>
            <a:xfrm>
              <a:off x="906780" y="4410075"/>
              <a:ext cx="891025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test doğrulaması gerçekleştirilir; entegrasyon testi iskeleti yorum satırında bırakılır.</a:t>
              </a:r>
            </a:p>
          </p:txBody>
        </p:sp>
      </p:grpSp>
      <p:grpSp>
        <p:nvGrpSpPr>
          <p:cNvPr id="41" name="integration-note"/>
          <p:cNvGrpSpPr/>
          <p:nvPr/>
        </p:nvGrpSpPr>
        <p:grpSpPr>
          <a:xfrm>
            <a:off x="609600" y="4876800"/>
            <a:ext cx="10972800" cy="781050"/>
            <a:chOff x="609600" y="4876800"/>
            <a:chExt cx="10972800" cy="781050"/>
          </a:xfrm>
        </p:grpSpPr>
        <p:sp>
          <p:nvSpPr>
            <p:cNvPr id="38" name="Rectangle 38"/>
            <p:cNvSpPr/>
            <p:nvPr/>
          </p:nvSpPr>
          <p:spPr>
            <a:xfrm>
              <a:off x="609600" y="4876800"/>
              <a:ext cx="10972800" cy="781050"/>
            </a:xfrm>
            <a:prstGeom prst="roundRect">
              <a:avLst>
                <a:gd name="adj" fmla="val 9756"/>
              </a:avLst>
            </a:prstGeom>
            <a:solidFill>
              <a:srgbClr val="FFFFFF"/>
            </a:solidFill>
            <a:ln w="14288">
              <a:solidFill>
                <a:srgbClr val="B8CBD3"/>
              </a:solidFill>
            </a:ln>
          </p:spPr>
        </p:sp>
        <p:sp>
          <p:nvSpPr>
            <p:cNvPr id="39" name="TextBox 39"/>
            <p:cNvSpPr txBox="1"/>
            <p:nvPr/>
          </p:nvSpPr>
          <p:spPr>
            <a:xfrm>
              <a:off x="907161" y="5046821"/>
              <a:ext cx="7538702"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Yorum satırındaki integration test iskeleti, gerçek bir HTTP isteğiyle uçtan uca</a:t>
              </a:r>
            </a:p>
          </p:txBody>
        </p:sp>
        <p:sp>
          <p:nvSpPr>
            <p:cNvPr id="40" name="TextBox 40"/>
            <p:cNvSpPr txBox="1"/>
            <p:nvPr/>
          </p:nvSpPr>
          <p:spPr>
            <a:xfrm>
              <a:off x="907161" y="5275421"/>
              <a:ext cx="8177027"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senaryonun nasıl tamamlanacağını gösterir — bu bölümün tüm katmanlarını birleştirir.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269241" cy="557403"/>
            <a:chOff x="595122" y="282892"/>
            <a:chExt cx="1269241" cy="557403"/>
          </a:xfrm>
        </p:grpSpPr>
        <p:sp>
          <p:nvSpPr>
            <p:cNvPr id="4" name="TextBox 4"/>
            <p:cNvSpPr txBox="1"/>
            <p:nvPr/>
          </p:nvSpPr>
          <p:spPr>
            <a:xfrm>
              <a:off x="595122" y="282892"/>
              <a:ext cx="126924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Sözlük</a:t>
              </a:r>
            </a:p>
          </p:txBody>
        </p:sp>
      </p:grpSp>
      <p:grpSp>
        <p:nvGrpSpPr>
          <p:cNvPr id="51" name="glossary-grid"/>
          <p:cNvGrpSpPr/>
          <p:nvPr/>
        </p:nvGrpSpPr>
        <p:grpSpPr>
          <a:xfrm>
            <a:off x="609600" y="1143000"/>
            <a:ext cx="10972800" cy="4876800"/>
            <a:chOff x="609600" y="1143000"/>
            <a:chExt cx="10972800" cy="4876800"/>
          </a:xfrm>
        </p:grpSpPr>
        <p:sp>
          <p:nvSpPr>
            <p:cNvPr id="6" name="Rectangle 6"/>
            <p:cNvSpPr/>
            <p:nvPr/>
          </p:nvSpPr>
          <p:spPr>
            <a:xfrm>
              <a:off x="609600" y="1143000"/>
              <a:ext cx="3505200" cy="1524000"/>
            </a:xfrm>
            <a:prstGeom prst="roundRect">
              <a:avLst>
                <a:gd name="adj" fmla="val 5000"/>
              </a:avLst>
            </a:prstGeom>
            <a:solidFill>
              <a:srgbClr val="FFFFFF"/>
            </a:solidFill>
            <a:ln w="14288">
              <a:solidFill>
                <a:srgbClr val="B8CBD3"/>
              </a:solidFill>
            </a:ln>
          </p:spPr>
        </p:sp>
        <p:sp>
          <p:nvSpPr>
            <p:cNvPr id="7" name="TextBox 7"/>
            <p:cNvSpPr txBox="1"/>
            <p:nvPr/>
          </p:nvSpPr>
          <p:spPr>
            <a:xfrm>
              <a:off x="830961" y="1274921"/>
              <a:ext cx="80187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OpenAPI</a:t>
              </a:r>
            </a:p>
          </p:txBody>
        </p:sp>
        <p:sp>
          <p:nvSpPr>
            <p:cNvPr id="8" name="TextBox 8"/>
            <p:cNvSpPr txBox="1"/>
            <p:nvPr/>
          </p:nvSpPr>
          <p:spPr>
            <a:xfrm>
              <a:off x="832866" y="1563052"/>
              <a:ext cx="242300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REST API'nin path, metod, şema ve</a:t>
              </a:r>
            </a:p>
          </p:txBody>
        </p:sp>
        <p:sp>
          <p:nvSpPr>
            <p:cNvPr id="9" name="TextBox 9"/>
            <p:cNvSpPr txBox="1"/>
            <p:nvPr/>
          </p:nvSpPr>
          <p:spPr>
            <a:xfrm>
              <a:off x="832866" y="1753552"/>
              <a:ext cx="261152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durum kodlarını tanımlayan standart</a:t>
              </a:r>
            </a:p>
          </p:txBody>
        </p:sp>
        <p:sp>
          <p:nvSpPr>
            <p:cNvPr id="10" name="TextBox 10"/>
            <p:cNvSpPr txBox="1"/>
            <p:nvPr/>
          </p:nvSpPr>
          <p:spPr>
            <a:xfrm>
              <a:off x="832866" y="1944052"/>
              <a:ext cx="113440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sözleşme biçimi.</a:t>
              </a:r>
            </a:p>
          </p:txBody>
        </p:sp>
        <p:sp>
          <p:nvSpPr>
            <p:cNvPr id="11" name="Rectangle 11"/>
            <p:cNvSpPr/>
            <p:nvPr/>
          </p:nvSpPr>
          <p:spPr>
            <a:xfrm>
              <a:off x="4343400" y="1143000"/>
              <a:ext cx="3505200" cy="1524000"/>
            </a:xfrm>
            <a:prstGeom prst="roundRect">
              <a:avLst>
                <a:gd name="adj" fmla="val 5000"/>
              </a:avLst>
            </a:prstGeom>
            <a:solidFill>
              <a:srgbClr val="FFFFFF"/>
            </a:solidFill>
            <a:ln w="14288">
              <a:solidFill>
                <a:srgbClr val="B8CBD3"/>
              </a:solidFill>
            </a:ln>
          </p:spPr>
        </p:sp>
        <p:sp>
          <p:nvSpPr>
            <p:cNvPr id="12" name="TextBox 12"/>
            <p:cNvSpPr txBox="1"/>
            <p:nvPr/>
          </p:nvSpPr>
          <p:spPr>
            <a:xfrm>
              <a:off x="4564761" y="1274921"/>
              <a:ext cx="107790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Swagger UI</a:t>
              </a:r>
            </a:p>
          </p:txBody>
        </p:sp>
        <p:sp>
          <p:nvSpPr>
            <p:cNvPr id="13" name="TextBox 13"/>
            <p:cNvSpPr txBox="1"/>
            <p:nvPr/>
          </p:nvSpPr>
          <p:spPr>
            <a:xfrm>
              <a:off x="4566666" y="1563052"/>
              <a:ext cx="202820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OpenAPI belgesini interaktif,</a:t>
              </a:r>
            </a:p>
          </p:txBody>
        </p:sp>
        <p:sp>
          <p:nvSpPr>
            <p:cNvPr id="14" name="TextBox 14"/>
            <p:cNvSpPr txBox="1"/>
            <p:nvPr/>
          </p:nvSpPr>
          <p:spPr>
            <a:xfrm>
              <a:off x="4566666" y="1753552"/>
              <a:ext cx="204612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denenebilir bir web sayfasına</a:t>
              </a:r>
            </a:p>
          </p:txBody>
        </p:sp>
        <p:sp>
          <p:nvSpPr>
            <p:cNvPr id="15" name="TextBox 15"/>
            <p:cNvSpPr txBox="1"/>
            <p:nvPr/>
          </p:nvSpPr>
          <p:spPr>
            <a:xfrm>
              <a:off x="4566666" y="1944052"/>
              <a:ext cx="121921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dönüştüren araç.</a:t>
              </a:r>
            </a:p>
          </p:txBody>
        </p:sp>
        <p:sp>
          <p:nvSpPr>
            <p:cNvPr id="16" name="Rectangle 16"/>
            <p:cNvSpPr/>
            <p:nvPr/>
          </p:nvSpPr>
          <p:spPr>
            <a:xfrm>
              <a:off x="8077200" y="1143000"/>
              <a:ext cx="3505200" cy="1524000"/>
            </a:xfrm>
            <a:prstGeom prst="roundRect">
              <a:avLst>
                <a:gd name="adj" fmla="val 5000"/>
              </a:avLst>
            </a:prstGeom>
            <a:solidFill>
              <a:srgbClr val="FFFFFF"/>
            </a:solidFill>
            <a:ln w="14288">
              <a:solidFill>
                <a:srgbClr val="B8CBD3"/>
              </a:solidFill>
            </a:ln>
          </p:spPr>
        </p:sp>
        <p:sp>
          <p:nvSpPr>
            <p:cNvPr id="17" name="TextBox 17"/>
            <p:cNvSpPr txBox="1"/>
            <p:nvPr/>
          </p:nvSpPr>
          <p:spPr>
            <a:xfrm>
              <a:off x="8298561" y="1274921"/>
              <a:ext cx="91399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Unit test</a:t>
              </a:r>
            </a:p>
          </p:txBody>
        </p:sp>
        <p:sp>
          <p:nvSpPr>
            <p:cNvPr id="18" name="TextBox 18"/>
            <p:cNvSpPr txBox="1"/>
            <p:nvPr/>
          </p:nvSpPr>
          <p:spPr>
            <a:xfrm>
              <a:off x="8300466" y="1563052"/>
              <a:ext cx="231210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Dış bağımlılıklardan yalıtılmış,</a:t>
              </a:r>
            </a:p>
          </p:txBody>
        </p:sp>
        <p:sp>
          <p:nvSpPr>
            <p:cNvPr id="19" name="TextBox 19"/>
            <p:cNvSpPr txBox="1"/>
            <p:nvPr/>
          </p:nvSpPr>
          <p:spPr>
            <a:xfrm>
              <a:off x="8300466" y="1753552"/>
              <a:ext cx="232882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tek bir birimi doğrulayan en küçük</a:t>
              </a:r>
            </a:p>
          </p:txBody>
        </p:sp>
        <p:sp>
          <p:nvSpPr>
            <p:cNvPr id="20" name="TextBox 20"/>
            <p:cNvSpPr txBox="1"/>
            <p:nvPr/>
          </p:nvSpPr>
          <p:spPr>
            <a:xfrm>
              <a:off x="8300466" y="1944052"/>
              <a:ext cx="75276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test türü.</a:t>
              </a:r>
            </a:p>
          </p:txBody>
        </p:sp>
        <p:sp>
          <p:nvSpPr>
            <p:cNvPr id="21" name="Rectangle 21"/>
            <p:cNvSpPr/>
            <p:nvPr/>
          </p:nvSpPr>
          <p:spPr>
            <a:xfrm>
              <a:off x="609600" y="2819400"/>
              <a:ext cx="3505200" cy="1524000"/>
            </a:xfrm>
            <a:prstGeom prst="roundRect">
              <a:avLst>
                <a:gd name="adj" fmla="val 5000"/>
              </a:avLst>
            </a:prstGeom>
            <a:solidFill>
              <a:srgbClr val="EAF4F6"/>
            </a:solidFill>
            <a:ln w="14288">
              <a:solidFill>
                <a:srgbClr val="00A6A6"/>
              </a:solidFill>
            </a:ln>
          </p:spPr>
        </p:sp>
        <p:sp>
          <p:nvSpPr>
            <p:cNvPr id="22" name="TextBox 22"/>
            <p:cNvSpPr txBox="1"/>
            <p:nvPr/>
          </p:nvSpPr>
          <p:spPr>
            <a:xfrm>
              <a:off x="830961" y="2951321"/>
              <a:ext cx="163635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Integration test</a:t>
              </a:r>
            </a:p>
          </p:txBody>
        </p:sp>
        <p:sp>
          <p:nvSpPr>
            <p:cNvPr id="23" name="TextBox 23"/>
            <p:cNvSpPr txBox="1"/>
            <p:nvPr/>
          </p:nvSpPr>
          <p:spPr>
            <a:xfrm>
              <a:off x="832866" y="3239452"/>
              <a:ext cx="236860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Bileşenlerin gerçek/gerçeğe yakın</a:t>
              </a:r>
            </a:p>
          </p:txBody>
        </p:sp>
        <p:sp>
          <p:nvSpPr>
            <p:cNvPr id="24" name="TextBox 24"/>
            <p:cNvSpPr txBox="1"/>
            <p:nvPr/>
          </p:nvSpPr>
          <p:spPr>
            <a:xfrm>
              <a:off x="832866" y="3429952"/>
              <a:ext cx="256912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koşullarda birlikte doğru çalıştığını</a:t>
              </a:r>
            </a:p>
          </p:txBody>
        </p:sp>
        <p:sp>
          <p:nvSpPr>
            <p:cNvPr id="25" name="TextBox 25"/>
            <p:cNvSpPr txBox="1"/>
            <p:nvPr/>
          </p:nvSpPr>
          <p:spPr>
            <a:xfrm>
              <a:off x="832866" y="3620452"/>
              <a:ext cx="153725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doğrulayan test türü.</a:t>
              </a:r>
            </a:p>
          </p:txBody>
        </p:sp>
        <p:sp>
          <p:nvSpPr>
            <p:cNvPr id="26" name="Rectangle 26"/>
            <p:cNvSpPr/>
            <p:nvPr/>
          </p:nvSpPr>
          <p:spPr>
            <a:xfrm>
              <a:off x="4343400" y="2819400"/>
              <a:ext cx="3505200" cy="1524000"/>
            </a:xfrm>
            <a:prstGeom prst="roundRect">
              <a:avLst>
                <a:gd name="adj" fmla="val 5000"/>
              </a:avLst>
            </a:prstGeom>
            <a:solidFill>
              <a:srgbClr val="FFFFFF"/>
            </a:solidFill>
            <a:ln w="14288">
              <a:solidFill>
                <a:srgbClr val="B8CBD3"/>
              </a:solidFill>
            </a:ln>
          </p:spPr>
        </p:sp>
        <p:sp>
          <p:nvSpPr>
            <p:cNvPr id="27" name="TextBox 27"/>
            <p:cNvSpPr txBox="1"/>
            <p:nvPr/>
          </p:nvSpPr>
          <p:spPr>
            <a:xfrm>
              <a:off x="4564761" y="2951321"/>
              <a:ext cx="157633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Test veritabanı</a:t>
              </a:r>
            </a:p>
          </p:txBody>
        </p:sp>
        <p:sp>
          <p:nvSpPr>
            <p:cNvPr id="28" name="TextBox 28"/>
            <p:cNvSpPr txBox="1"/>
            <p:nvPr/>
          </p:nvSpPr>
          <p:spPr>
            <a:xfrm>
              <a:off x="4566666" y="3239452"/>
              <a:ext cx="242496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Integration testler için kullanılan,</a:t>
              </a:r>
            </a:p>
          </p:txBody>
        </p:sp>
        <p:sp>
          <p:nvSpPr>
            <p:cNvPr id="29" name="TextBox 29"/>
            <p:cNvSpPr txBox="1"/>
            <p:nvPr/>
          </p:nvSpPr>
          <p:spPr>
            <a:xfrm>
              <a:off x="4566666" y="3429952"/>
              <a:ext cx="266806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her çalıştırmadan önce sıfırlanabilen</a:t>
              </a:r>
            </a:p>
          </p:txBody>
        </p:sp>
        <p:sp>
          <p:nvSpPr>
            <p:cNvPr id="30" name="TextBox 30"/>
            <p:cNvSpPr txBox="1"/>
            <p:nvPr/>
          </p:nvSpPr>
          <p:spPr>
            <a:xfrm>
              <a:off x="4566666" y="3620452"/>
              <a:ext cx="119094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izole veritabanı.</a:t>
              </a:r>
            </a:p>
          </p:txBody>
        </p:sp>
        <p:sp>
          <p:nvSpPr>
            <p:cNvPr id="31" name="Rectangle 31"/>
            <p:cNvSpPr/>
            <p:nvPr/>
          </p:nvSpPr>
          <p:spPr>
            <a:xfrm>
              <a:off x="8077200" y="2819400"/>
              <a:ext cx="3505200" cy="1524000"/>
            </a:xfrm>
            <a:prstGeom prst="roundRect">
              <a:avLst>
                <a:gd name="adj" fmla="val 5000"/>
              </a:avLst>
            </a:prstGeom>
            <a:solidFill>
              <a:srgbClr val="FFFFFF"/>
            </a:solidFill>
            <a:ln w="14288">
              <a:solidFill>
                <a:srgbClr val="B8CBD3"/>
              </a:solidFill>
            </a:ln>
          </p:spPr>
        </p:sp>
        <p:sp>
          <p:nvSpPr>
            <p:cNvPr id="32" name="TextBox 32"/>
            <p:cNvSpPr txBox="1"/>
            <p:nvPr/>
          </p:nvSpPr>
          <p:spPr>
            <a:xfrm>
              <a:off x="8298561" y="2951321"/>
              <a:ext cx="50301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Mock</a:t>
              </a:r>
            </a:p>
          </p:txBody>
        </p:sp>
        <p:sp>
          <p:nvSpPr>
            <p:cNvPr id="33" name="TextBox 33"/>
            <p:cNvSpPr txBox="1"/>
            <p:nvPr/>
          </p:nvSpPr>
          <p:spPr>
            <a:xfrm>
              <a:off x="8300466" y="3239452"/>
              <a:ext cx="240416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Bir dış bağımlılığın yerine geçen,</a:t>
              </a:r>
            </a:p>
          </p:txBody>
        </p:sp>
        <p:sp>
          <p:nvSpPr>
            <p:cNvPr id="34" name="TextBox 34"/>
            <p:cNvSpPr txBox="1"/>
            <p:nvPr/>
          </p:nvSpPr>
          <p:spPr>
            <a:xfrm>
              <a:off x="8300466" y="3429952"/>
              <a:ext cx="259032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çağrıların doğrulanmasına izin veren</a:t>
              </a:r>
            </a:p>
          </p:txBody>
        </p:sp>
        <p:sp>
          <p:nvSpPr>
            <p:cNvPr id="35" name="TextBox 35"/>
            <p:cNvSpPr txBox="1"/>
            <p:nvPr/>
          </p:nvSpPr>
          <p:spPr>
            <a:xfrm>
              <a:off x="8300466" y="3620452"/>
              <a:ext cx="90824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sahte nesne.</a:t>
              </a:r>
            </a:p>
          </p:txBody>
        </p:sp>
        <p:sp>
          <p:nvSpPr>
            <p:cNvPr id="36" name="Rectangle 36"/>
            <p:cNvSpPr/>
            <p:nvPr/>
          </p:nvSpPr>
          <p:spPr>
            <a:xfrm>
              <a:off x="609600" y="4495800"/>
              <a:ext cx="3505200" cy="1524000"/>
            </a:xfrm>
            <a:prstGeom prst="roundRect">
              <a:avLst>
                <a:gd name="adj" fmla="val 5000"/>
              </a:avLst>
            </a:prstGeom>
            <a:solidFill>
              <a:srgbClr val="FFFFFF"/>
            </a:solidFill>
            <a:ln w="14288">
              <a:solidFill>
                <a:srgbClr val="B8CBD3"/>
              </a:solidFill>
            </a:ln>
          </p:spPr>
        </p:sp>
        <p:sp>
          <p:nvSpPr>
            <p:cNvPr id="37" name="TextBox 37"/>
            <p:cNvSpPr txBox="1"/>
            <p:nvPr/>
          </p:nvSpPr>
          <p:spPr>
            <a:xfrm>
              <a:off x="830961" y="4627721"/>
              <a:ext cx="106477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Mock drift</a:t>
              </a:r>
            </a:p>
          </p:txBody>
        </p:sp>
        <p:sp>
          <p:nvSpPr>
            <p:cNvPr id="38" name="TextBox 38"/>
            <p:cNvSpPr txBox="1"/>
            <p:nvPr/>
          </p:nvSpPr>
          <p:spPr>
            <a:xfrm>
              <a:off x="832866" y="4915852"/>
              <a:ext cx="231934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Gerçek servis değişirken mock'un</a:t>
              </a:r>
            </a:p>
          </p:txBody>
        </p:sp>
        <p:sp>
          <p:nvSpPr>
            <p:cNvPr id="39" name="TextBox 39"/>
            <p:cNvSpPr txBox="1"/>
            <p:nvPr/>
          </p:nvSpPr>
          <p:spPr>
            <a:xfrm>
              <a:off x="832866" y="5106352"/>
              <a:ext cx="215213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güncellenmemesi; testin yanlış</a:t>
              </a:r>
            </a:p>
          </p:txBody>
        </p:sp>
        <p:sp>
          <p:nvSpPr>
            <p:cNvPr id="40" name="TextBox 40"/>
            <p:cNvSpPr txBox="1"/>
            <p:nvPr/>
          </p:nvSpPr>
          <p:spPr>
            <a:xfrm>
              <a:off x="832866" y="5296852"/>
              <a:ext cx="217333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güvenle geçmeye devam etmesi.</a:t>
              </a:r>
            </a:p>
          </p:txBody>
        </p:sp>
        <p:sp>
          <p:nvSpPr>
            <p:cNvPr id="41" name="Rectangle 41"/>
            <p:cNvSpPr/>
            <p:nvPr/>
          </p:nvSpPr>
          <p:spPr>
            <a:xfrm>
              <a:off x="4343400" y="4495800"/>
              <a:ext cx="3505200" cy="1524000"/>
            </a:xfrm>
            <a:prstGeom prst="roundRect">
              <a:avLst>
                <a:gd name="adj" fmla="val 5000"/>
              </a:avLst>
            </a:prstGeom>
            <a:solidFill>
              <a:srgbClr val="FFFFFF"/>
            </a:solidFill>
            <a:ln w="14288">
              <a:solidFill>
                <a:srgbClr val="B8CBD3"/>
              </a:solidFill>
            </a:ln>
          </p:spPr>
        </p:sp>
        <p:sp>
          <p:nvSpPr>
            <p:cNvPr id="42" name="TextBox 42"/>
            <p:cNvSpPr txBox="1"/>
            <p:nvPr/>
          </p:nvSpPr>
          <p:spPr>
            <a:xfrm>
              <a:off x="4564761" y="4627721"/>
              <a:ext cx="130513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Kalite kapısı</a:t>
              </a:r>
            </a:p>
          </p:txBody>
        </p:sp>
        <p:sp>
          <p:nvSpPr>
            <p:cNvPr id="43" name="TextBox 43"/>
            <p:cNvSpPr txBox="1"/>
            <p:nvPr/>
          </p:nvSpPr>
          <p:spPr>
            <a:xfrm>
              <a:off x="4566666" y="4915852"/>
              <a:ext cx="240400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Testlerin geçmesi zorunlu tutulan,</a:t>
              </a:r>
            </a:p>
          </p:txBody>
        </p:sp>
        <p:sp>
          <p:nvSpPr>
            <p:cNvPr id="44" name="TextBox 44"/>
            <p:cNvSpPr txBox="1"/>
            <p:nvPr/>
          </p:nvSpPr>
          <p:spPr>
            <a:xfrm>
              <a:off x="4566666" y="5106352"/>
              <a:ext cx="255498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kodun üretime ilerlemesini engelleyen</a:t>
              </a:r>
            </a:p>
          </p:txBody>
        </p:sp>
        <p:sp>
          <p:nvSpPr>
            <p:cNvPr id="45" name="TextBox 45"/>
            <p:cNvSpPr txBox="1"/>
            <p:nvPr/>
          </p:nvSpPr>
          <p:spPr>
            <a:xfrm>
              <a:off x="4566666" y="5296852"/>
              <a:ext cx="121215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denetim noktası.</a:t>
              </a:r>
            </a:p>
          </p:txBody>
        </p:sp>
        <p:sp>
          <p:nvSpPr>
            <p:cNvPr id="46" name="Rectangle 46"/>
            <p:cNvSpPr/>
            <p:nvPr/>
          </p:nvSpPr>
          <p:spPr>
            <a:xfrm>
              <a:off x="8077200" y="4495800"/>
              <a:ext cx="3505200" cy="1524000"/>
            </a:xfrm>
            <a:prstGeom prst="roundRect">
              <a:avLst>
                <a:gd name="adj" fmla="val 5000"/>
              </a:avLst>
            </a:prstGeom>
            <a:solidFill>
              <a:srgbClr val="FFFFFF"/>
            </a:solidFill>
            <a:ln w="14288">
              <a:solidFill>
                <a:srgbClr val="B8CBD3"/>
              </a:solidFill>
            </a:ln>
          </p:spPr>
        </p:sp>
        <p:sp>
          <p:nvSpPr>
            <p:cNvPr id="47" name="TextBox 47"/>
            <p:cNvSpPr txBox="1"/>
            <p:nvPr/>
          </p:nvSpPr>
          <p:spPr>
            <a:xfrm>
              <a:off x="8298561" y="4627721"/>
              <a:ext cx="102438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Flaky test</a:t>
              </a:r>
            </a:p>
          </p:txBody>
        </p:sp>
        <p:sp>
          <p:nvSpPr>
            <p:cNvPr id="48" name="TextBox 48"/>
            <p:cNvSpPr txBox="1"/>
            <p:nvPr/>
          </p:nvSpPr>
          <p:spPr>
            <a:xfrm>
              <a:off x="8300466" y="4915852"/>
              <a:ext cx="229827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Aynı kod ve girdiyle bazen geçen,</a:t>
              </a:r>
            </a:p>
          </p:txBody>
        </p:sp>
        <p:sp>
          <p:nvSpPr>
            <p:cNvPr id="49" name="TextBox 49"/>
            <p:cNvSpPr txBox="1"/>
            <p:nvPr/>
          </p:nvSpPr>
          <p:spPr>
            <a:xfrm>
              <a:off x="8300466" y="5106352"/>
              <a:ext cx="267513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bazen başarısız olan, kararsız test —</a:t>
              </a:r>
            </a:p>
          </p:txBody>
        </p:sp>
        <p:sp>
          <p:nvSpPr>
            <p:cNvPr id="50" name="TextBox 50"/>
            <p:cNvSpPr txBox="1"/>
            <p:nvPr/>
          </p:nvSpPr>
          <p:spPr>
            <a:xfrm>
              <a:off x="8300466" y="5296852"/>
              <a:ext cx="264686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genellikle yalıtım eksikliğinden doğar.</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openapi"/>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41601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OpenAPI sözleşmesi</a:t>
              </a:r>
            </a:p>
          </p:txBody>
        </p:sp>
        <p:sp>
          <p:nvSpPr>
            <p:cNvPr id="8" name="TextBox 8"/>
            <p:cNvSpPr txBox="1"/>
            <p:nvPr/>
          </p:nvSpPr>
          <p:spPr>
            <a:xfrm>
              <a:off x="832104" y="1908810"/>
              <a:ext cx="21534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Path, metod, şema ve durum</a:t>
              </a:r>
              <a:br/>
              <a:r>
                <a:rPr lang="tr-TR" sz="1200" dirty="0">
                  <a:solidFill>
                    <a:srgbClr val="172B3A"/>
                  </a:solidFill>
                  <a:latin typeface="+mn-lt"/>
                  <a:ea typeface="+mn-ea"/>
                  <a:cs typeface="+mn-cs"/>
                </a:rPr>
                <a:t>kodlarını makine tarafından</a:t>
              </a:r>
              <a:br/>
              <a:r>
                <a:rPr lang="tr-TR" sz="1200" dirty="0">
                  <a:solidFill>
                    <a:srgbClr val="172B3A"/>
                  </a:solidFill>
                  <a:latin typeface="+mn-lt"/>
                  <a:ea typeface="+mn-ea"/>
                  <a:cs typeface="+mn-cs"/>
                </a:rPr>
                <a:t>okunabilir biçimde tanımlar.</a:t>
              </a:r>
            </a:p>
          </p:txBody>
        </p:sp>
      </p:grpSp>
      <p:grpSp>
        <p:nvGrpSpPr>
          <p:cNvPr id="13" name="summary-swaggerui"/>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3662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Swagger UI</a:t>
              </a:r>
            </a:p>
          </p:txBody>
        </p:sp>
        <p:sp>
          <p:nvSpPr>
            <p:cNvPr id="12" name="TextBox 12"/>
            <p:cNvSpPr txBox="1"/>
            <p:nvPr/>
          </p:nvSpPr>
          <p:spPr>
            <a:xfrm>
              <a:off x="4565904" y="1908810"/>
              <a:ext cx="21838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Sözleşmeyi canlı, denenebilir</a:t>
              </a:r>
              <a:br/>
              <a:r>
                <a:rPr lang="tr-TR" sz="1200" dirty="0">
                  <a:solidFill>
                    <a:srgbClr val="172B3A"/>
                  </a:solidFill>
                  <a:latin typeface="+mn-lt"/>
                  <a:ea typeface="+mn-ea"/>
                  <a:cs typeface="+mn-cs"/>
                </a:rPr>
                <a:t>dokümantasyona dönüştürür;</a:t>
              </a:r>
              <a:br/>
              <a:r>
                <a:rPr lang="tr-TR" sz="1200" dirty="0">
                  <a:solidFill>
                    <a:srgbClr val="172B3A"/>
                  </a:solidFill>
                  <a:latin typeface="+mn-lt"/>
                  <a:ea typeface="+mn-ea"/>
                  <a:cs typeface="+mn-cs"/>
                </a:rPr>
                <a:t>üretimde korunmalıdır.</a:t>
              </a:r>
            </a:p>
          </p:txBody>
        </p:sp>
      </p:grpSp>
      <p:grpSp>
        <p:nvGrpSpPr>
          <p:cNvPr id="17" name="summary-unittest"/>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1585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Unit test</a:t>
              </a:r>
            </a:p>
          </p:txBody>
        </p:sp>
        <p:sp>
          <p:nvSpPr>
            <p:cNvPr id="16" name="TextBox 16"/>
            <p:cNvSpPr txBox="1"/>
            <p:nvPr/>
          </p:nvSpPr>
          <p:spPr>
            <a:xfrm>
              <a:off x="8299704" y="1908810"/>
              <a:ext cx="21076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Yalıtılmış mantığı hızlı ve</a:t>
              </a:r>
              <a:br/>
              <a:r>
                <a:rPr lang="tr-TR" sz="1200" dirty="0">
                  <a:solidFill>
                    <a:srgbClr val="172B3A"/>
                  </a:solidFill>
                  <a:latin typeface="+mn-lt"/>
                  <a:ea typeface="+mn-ea"/>
                  <a:cs typeface="+mn-cs"/>
                </a:rPr>
                <a:t>tekrarlanabilir biçimde</a:t>
              </a:r>
              <a:br/>
              <a:r>
                <a:rPr lang="tr-TR" sz="1200" dirty="0">
                  <a:solidFill>
                    <a:srgbClr val="172B3A"/>
                  </a:solidFill>
                  <a:latin typeface="+mn-lt"/>
                  <a:ea typeface="+mn-ea"/>
                  <a:cs typeface="+mn-cs"/>
                </a:rPr>
                <a:t>doğrular.</a:t>
              </a:r>
            </a:p>
          </p:txBody>
        </p:sp>
      </p:grpSp>
      <p:grpSp>
        <p:nvGrpSpPr>
          <p:cNvPr id="21" name="summary-integrationtest"/>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207419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Integration test</a:t>
              </a:r>
            </a:p>
          </p:txBody>
        </p:sp>
        <p:sp>
          <p:nvSpPr>
            <p:cNvPr id="20" name="TextBox 20"/>
            <p:cNvSpPr txBox="1"/>
            <p:nvPr/>
          </p:nvSpPr>
          <p:spPr>
            <a:xfrm>
              <a:off x="832104" y="3718560"/>
              <a:ext cx="23515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Bileşenlerin gerçek koşullarda</a:t>
              </a:r>
              <a:br/>
              <a:r>
                <a:rPr lang="tr-TR" sz="1200" dirty="0">
                  <a:solidFill>
                    <a:srgbClr val="172B3A"/>
                  </a:solidFill>
                  <a:latin typeface="+mn-lt"/>
                  <a:ea typeface="+mn-ea"/>
                  <a:cs typeface="+mn-cs"/>
                </a:rPr>
                <a:t>birlikte çalıştığını, izole test</a:t>
              </a:r>
              <a:br/>
              <a:r>
                <a:rPr lang="tr-TR" sz="1200" dirty="0">
                  <a:solidFill>
                    <a:srgbClr val="172B3A"/>
                  </a:solidFill>
                  <a:latin typeface="+mn-lt"/>
                  <a:ea typeface="+mn-ea"/>
                  <a:cs typeface="+mn-cs"/>
                </a:rPr>
                <a:t>veritabanıyla doğrular.</a:t>
              </a:r>
            </a:p>
          </p:txBody>
        </p:sp>
      </p:grpSp>
      <p:grpSp>
        <p:nvGrpSpPr>
          <p:cNvPr id="25" name="summary-mock"/>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63756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Mock</a:t>
              </a:r>
            </a:p>
          </p:txBody>
        </p:sp>
        <p:sp>
          <p:nvSpPr>
            <p:cNvPr id="24" name="TextBox 24"/>
            <p:cNvSpPr txBox="1"/>
            <p:nvPr/>
          </p:nvSpPr>
          <p:spPr>
            <a:xfrm>
              <a:off x="4565904" y="3718560"/>
              <a:ext cx="19019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Dış bağımlılıkları sahte</a:t>
              </a:r>
              <a:br/>
              <a:r>
                <a:rPr lang="tr-TR" sz="1200" dirty="0">
                  <a:solidFill>
                    <a:srgbClr val="172B3A"/>
                  </a:solidFill>
                  <a:latin typeface="+mn-lt"/>
                  <a:ea typeface="+mn-ea"/>
                  <a:cs typeface="+mn-cs"/>
                </a:rPr>
                <a:t>nesnelerle değiştirerek</a:t>
              </a:r>
              <a:br/>
              <a:r>
                <a:rPr lang="tr-TR" sz="1200" dirty="0">
                  <a:solidFill>
                    <a:srgbClr val="172B3A"/>
                  </a:solidFill>
                  <a:latin typeface="+mn-lt"/>
                  <a:ea typeface="+mn-ea"/>
                  <a:cs typeface="+mn-cs"/>
                </a:rPr>
                <a:t>testin yalıtımını korur.</a:t>
              </a:r>
            </a:p>
          </p:txBody>
        </p:sp>
      </p:grpSp>
      <p:grpSp>
        <p:nvGrpSpPr>
          <p:cNvPr id="29" name="summary-kalitekapisi"/>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6543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Kalite kapısı</a:t>
              </a:r>
            </a:p>
          </p:txBody>
        </p:sp>
        <p:sp>
          <p:nvSpPr>
            <p:cNvPr id="28" name="TextBox 28"/>
            <p:cNvSpPr txBox="1"/>
            <p:nvPr/>
          </p:nvSpPr>
          <p:spPr>
            <a:xfrm>
              <a:off x="8299704" y="3718560"/>
              <a:ext cx="21000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Tüm testler geçmeden kodun</a:t>
              </a:r>
              <a:br/>
              <a:r>
                <a:rPr lang="tr-TR" sz="1200" dirty="0">
                  <a:solidFill>
                    <a:srgbClr val="172B3A"/>
                  </a:solidFill>
                  <a:latin typeface="+mn-lt"/>
                  <a:ea typeface="+mn-ea"/>
                  <a:cs typeface="+mn-cs"/>
                </a:rPr>
                <a:t>üretime ilerlemesini</a:t>
              </a:r>
              <a:br/>
              <a:r>
                <a:rPr lang="tr-TR" sz="1200" dirty="0">
                  <a:solidFill>
                    <a:srgbClr val="172B3A"/>
                  </a:solidFill>
                  <a:latin typeface="+mn-lt"/>
                  <a:ea typeface="+mn-ea"/>
                  <a:cs typeface="+mn-cs"/>
                </a:rPr>
                <a:t>engeller.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60823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Belgeleme ve test, aynı sözleşmenin iki yüzüdür.</a:t>
              </a:r>
            </a:p>
          </p:txBody>
        </p:sp>
        <p:sp>
          <p:nvSpPr>
            <p:cNvPr id="32" name="TextBox 32"/>
            <p:cNvSpPr txBox="1"/>
            <p:nvPr/>
          </p:nvSpPr>
          <p:spPr>
            <a:xfrm>
              <a:off x="906399" y="5583079"/>
              <a:ext cx="565947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Biri neyin doğru olduğunu söyler, diğeri bunu kanıtlar.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777222" cy="724281"/>
            <a:chOff x="599694" y="1484948"/>
            <a:chExt cx="9777222" cy="724281"/>
          </a:xfrm>
        </p:grpSpPr>
        <p:sp>
          <p:nvSpPr>
            <p:cNvPr id="7" name="TextBox 7"/>
            <p:cNvSpPr txBox="1"/>
            <p:nvPr/>
          </p:nvSpPr>
          <p:spPr>
            <a:xfrm>
              <a:off x="599694" y="1484948"/>
              <a:ext cx="977722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Sözleşme belgelendi, testler yazıldı ve kalite kapısı kuruldu. Sıradaki adım, bu</a:t>
              </a:r>
              <a:br/>
              <a:r>
                <a:rPr lang="tr-TR" sz="1950" dirty="0">
                  <a:solidFill>
                    <a:srgbClr val="172B3A"/>
                  </a:solidFill>
                  <a:latin typeface="+mn-lt"/>
                  <a:ea typeface="+mn-ea"/>
                  <a:cs typeface="+mn-cs"/>
                </a:rPr>
                <a:t>güvenceyi her ortamda aynı biçimde çalışan bir kaba taşımaktır.</a:t>
              </a:r>
            </a:p>
          </p:txBody>
        </p:sp>
      </p:grpSp>
      <p:grpSp>
        <p:nvGrpSpPr>
          <p:cNvPr id="14" name="bridge-now"/>
          <p:cNvGrpSpPr/>
          <p:nvPr/>
        </p:nvGrpSpPr>
        <p:grpSpPr>
          <a:xfrm>
            <a:off x="599694" y="2799398"/>
            <a:ext cx="3415919" cy="1834419"/>
            <a:chOff x="599694" y="2799398"/>
            <a:chExt cx="3415919"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316636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endpoint'i OpenAPI ile</a:t>
              </a:r>
              <a:br/>
              <a:r>
                <a:rPr lang="tr-TR" sz="1580" dirty="0">
                  <a:solidFill>
                    <a:srgbClr val="172B3A"/>
                  </a:solidFill>
                  <a:latin typeface="+mn-lt"/>
                  <a:ea typeface="+mn-ea"/>
                  <a:cs typeface="+mn-cs"/>
                </a:rPr>
                <a:t>belgeleyip Swagger UI'da sunmak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301586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Unit, integration test ve mock</a:t>
              </a:r>
              <a:br/>
              <a:r>
                <a:rPr lang="tr-TR" sz="1580" dirty="0">
                  <a:solidFill>
                    <a:srgbClr val="172B3A"/>
                  </a:solidFill>
                  <a:latin typeface="+mn-lt"/>
                  <a:ea typeface="+mn-ea"/>
                  <a:cs typeface="+mn-cs"/>
                </a:rPr>
                <a:t>ile bir kalite kapısı kurmak</a:t>
              </a:r>
            </a:p>
          </p:txBody>
        </p:sp>
      </p:grpSp>
      <p:grpSp>
        <p:nvGrpSpPr>
          <p:cNvPr id="19" name="bridge-next"/>
          <p:cNvGrpSpPr/>
          <p:nvPr/>
        </p:nvGrpSpPr>
        <p:grpSpPr>
          <a:xfrm>
            <a:off x="7010400" y="2667000"/>
            <a:ext cx="4572000" cy="2309717"/>
            <a:chOff x="7010400" y="2667000"/>
            <a:chExt cx="4572000" cy="2309717"/>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738199"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Docker ile</a:t>
              </a:r>
              <a:br/>
              <a:r>
                <a:rPr lang="tr-TR" sz="2250" b="1" dirty="0">
                  <a:solidFill>
                    <a:srgbClr val="FFFFFF"/>
                  </a:solidFill>
                  <a:latin typeface="+mn-lt"/>
                  <a:ea typeface="+mn-ea"/>
                  <a:cs typeface="+mn-cs"/>
                </a:rPr>
                <a:t>konteynerleştirme</a:t>
              </a:r>
            </a:p>
          </p:txBody>
        </p:sp>
        <p:sp>
          <p:nvSpPr>
            <p:cNvPr id="18" name="TextBox 18"/>
            <p:cNvSpPr txBox="1"/>
            <p:nvPr/>
          </p:nvSpPr>
          <p:spPr>
            <a:xfrm>
              <a:off x="7307199" y="4135279"/>
              <a:ext cx="4199763"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Bu bölümde yazdığınız testler,</a:t>
              </a:r>
              <a:br/>
              <a:r>
                <a:rPr lang="tr-TR" sz="1580" dirty="0">
                  <a:solidFill>
                    <a:srgbClr val="EAF4F6"/>
                  </a:solidFill>
                  <a:latin typeface="+mn-lt"/>
                  <a:ea typeface="+mn-ea"/>
                  <a:cs typeface="+mn-cs"/>
                </a:rPr>
                <a:t>konteynerin de doğru çalıştığını</a:t>
              </a:r>
              <a:br/>
              <a:r>
                <a:rPr lang="tr-TR" sz="1580" dirty="0">
                  <a:solidFill>
                    <a:srgbClr val="EAF4F6"/>
                  </a:solidFill>
                  <a:latin typeface="+mn-lt"/>
                  <a:ea typeface="+mn-ea"/>
                  <a:cs typeface="+mn-cs"/>
                </a:rPr>
                <a:t>CI'da kanıtlamak için yeniden kullanılacak.</a:t>
              </a:r>
            </a:p>
          </p:txBody>
        </p:sp>
      </p:grpSp>
      <p:grpSp>
        <p:nvGrpSpPr>
          <p:cNvPr id="23" name="bridge-closing"/>
          <p:cNvGrpSpPr/>
          <p:nvPr/>
        </p:nvGrpSpPr>
        <p:grpSpPr>
          <a:xfrm>
            <a:off x="609600" y="5429250"/>
            <a:ext cx="10972800" cy="709518"/>
            <a:chOff x="609600" y="5429250"/>
            <a:chExt cx="10972800" cy="709518"/>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69471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Kalite kapınız yalnızca kodu değil, çalıştığı ortamı da</a:t>
              </a:r>
            </a:p>
          </p:txBody>
        </p:sp>
        <p:sp>
          <p:nvSpPr>
            <p:cNvPr id="22" name="TextBox 22"/>
            <p:cNvSpPr txBox="1"/>
            <p:nvPr/>
          </p:nvSpPr>
          <p:spPr>
            <a:xfrm>
              <a:off x="906399" y="5830729"/>
              <a:ext cx="398285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doğrulayabilecek şekilde genişleyecek.</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3-openapi-testing-20260916">
  <a:themeElements>
    <a:clrScheme name="b13-openapi-testing-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3-openapi-testing-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3-openapi-testing-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3-openapi-testing-20260916">
  <a:themeElements>
    <a:clrScheme name="b13-openapi-testing-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3-openapi-testing-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3-openapi-testing-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2026-09-19T21:22:38Z</dcterms:created>
  <dcterms:modified xsi:type="dcterms:W3CDTF">2026-09-19T21:22:38Z</dcterms:modified>
  <cp:category/>
  <cp:contentStatus/>
</cp:coreProperties>
</file>