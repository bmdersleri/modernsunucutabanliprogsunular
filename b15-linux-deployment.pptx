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  <Relationship Id="rId3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bölümle birlikte artık geliştirici makinenizde çalışan bir uygulamayı gerçek kullanıcıların erişebileceği bir Linux sunucusuna taşıyacaksınız. Şimdiye kadar Docker Compose ile bir araya getirdiğiniz servisler yalnızca kendi bilgisayarınızda ayaktaydı; bu bölümün amacı, aynı servisleri güvenli, izlenebilir ve kesintiye dayanıklı biçimde internete açmaktır. Nginx, HTTPS ve operasyon pratiklerini bir arada ele alacağız çünkü üçü birbirinden ayrı düşünülemez: erişim, güvenlik ve gözlemlenebilirlik aynı sistemin farklı yüzleridir.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 boyunca izleyeceğimiz yol, bir dağıtımın gerçek hayattaki sırasını takip ediyor. Önce sunucuya bağlanıp uygulamayı ayağa kaldıracağız, ardından dış dünyanın bu uygulamaya nasıl ulaşacağını Nginx ile çözeceğiz, sonra bu bağlantıyı HTTPS ile şifreleyeceğiz, sunucuyu saldırılara karşı sertleştireceğiz ve son olarak sistemin kendi kendini denetleyip iyileştirmesini sağlayacağız. Bu sıralama rastgele değildir: her adım bir öncekinin üzerine inşa edilir, bu yüzden konuları bu sırayla işlemek gerçek bir dağıtım sürecini birebir yansıtır.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bölümü bitirdiğinizde yalnızca komutları ezbere bilen değil, neden o komutu çalıştırdığınızı açıklayabilen biri olacaksınız. Örneğin nginx -t ile reload arasındaki farkı sadece sözdizimsel değil, üretimdeki bir kesintiyi önleme kararı olarak göreceksiniz. Hedefimiz, bu bölümün sonunda kendi projenizi güvenle production'a taşıyabilecek özgüvene sahip olmanızdır; bu yalnızca teorik bir bilgi değil, uygulanabilir bir yetkinliktir.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haritadaki oklar rastgele çizilmemiştir: katı oklar bir kavramın doğrudan diğerine bağımlı olduğunu, kesikli oklar ise birbirini tamamlayan ama bağımsız çalışabilen ilişkileri gösterir. İstemciden gelen bir isteğin önce Nginx'e, oradan uygulamaya ve veritabanına ulaştığını görüyorsunuz; HTTPS bu akışın tamamını şifreler, sertleştirme ise bu akışın dışına sızmaya çalışan saldırıları engeller. Bu haritayı zihninizde tutmak, ilerleyen derslerde her yeni kavramı nereye yerleştireceğinizi bilmenizi sağlayacak.</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tablodaki her satır, bir kavramın ne yaptığını değil aynı zamanda ne yapmadığını da netleştirmek için var. Production dağıtımı yalnızca kodu çalıştırmak değil, güvenlik ve erişilebilirlik gereksinimlerini karşılamaktır; ama kendisi bir güvenlik katmanı değildir, bu görevi ayrı araçlara bırakır. Nginx isteği doğru yere yönlendirir fakat içeriği denetlemez; sertleştirme saldırı yüzeyini daraltır ama uygulamanın kendi mantık hatalarını düzeltmez. Bu ayrımı net görmek, bir sorun çıktığında hangi katmana bakmanız gerektiğini hızla anlamanızı sağlar.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tablonun ikinci yarısı güvenlik ve gözlemlenebilirlik kavramlarına odaklanıyor. HTTPS trafiği şifreler ama gönderilen verinin kötü niyetli olup olmadığını denetlemez; bu yanılgı sık yapılır çünkü kilit simgesi "güvenli" hissi verir. Loglama ise kendiliğinden hiçbir şeyi düzeltmez, yalnızca sonradan olay yeniden kurgulanabilsin diye kanıt biriktirir. Sağlık kontrolü de aynı şekilde pasiftir: bozuk bir servisi tek başına tamir etmez, yalnızca "bu servis şu an sağlıksız" bilgisini dışarı bildirir ve bu bilgiyi kullanacak sistemin (Nginx, systemd) ayrıca var olması gerekir.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Geliştirme ortamında rahatça göz ardı ettiğimiz birçok şey production'da kritik hale gelir. Tek kullanıcılı, şifresiz bir yerel ortamda çalışan kod, aynı haliyle binlerce kullanıcıya açıldığında güvenlik açığı veya izlenemeyen bir çökme haline dönüşebilir. Adam Wiggins'in Twelve-Factor App yaklaşımı tam olarak bu geçişi kurallara bağlamak için tasarlandı; Bölüm 14'te Docker imajınızla "build" ve "release" aşamalarını tamamlamıştınız, bu bölümde aynı imajın gerçek bir sunucuda "run" aşamasını nasıl güvenle yürüteceğinizi göreceksiniz.</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kod parçası basit görünse de içinde önemli bir felsefe barındırıyor: bir container'ın "ayakta" olması, uygulamanın "sağlıklı" olduğu anlamına gelmez. -d bayrağı ile servisi arka planda çalıştırdığınızda SSH bağlantınız kesilse bile uygulama çalışmaya devam eder, ama bu sadece process'in yaşadığını gösterir. Bu yüzden dağıtımın gerçekten başarılı olup olmadığını anlamanın tek güvenilir yolu, uygulamaya gerçek bir HTTP isteği göndermek ve anlamlı bir yanıt almaktır — docker compose ps'nin gösterdiği "Up" durumu bu garantiyi vermez.</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Bir sunucuyu internete açtığınız andan itibaren otomatik tarama botları saniyeler içinde onu bulur; bu yüzden sertleştirme, isteğe bağlı bir adım değil zorunlu bir ön koşuldur. Ayrı bir dağıtım kullanıcısı kullanmak, olası bir güvenlik açığının doğrudan root yetkisine sıçramasını engeller. Parolasız SSH ile şifre tahmin saldırıları tamamen devre dışı kalır çünkü artık ortada tahmin edilecek bir şifre yoktur. UFW'nin "varsayılan olarak reddet" mantığı, açık bırakılmayan hiçbir kapının saldırıya açık olmadığı basit ama güçlü bir ilkeye dayanır; burada özellikle vurgulanması gereken nokta, Docker'ın kendi iptables kurallarını eklediği ve container portlarının bazen UFW'yi atlayabildiğidir, bu yüzden veritabanı gibi hassas portların yalnızca 127.0.0.1'e bağlanması gerekir.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Node.js veya Express gibi uygulama sunucuları iş mantığını çalıştırmak için tasarlanmıştır, ama HTTPS sonlandırma veya binlerce eşzamanlı bağlantıyı yönetmek gibi görevlerde optimize değildir. Nginx'in tarihi burada öğretici: Igor Sysoev, 2004 yılında Dan Kegel'in ortaya attığı "C10K problemi" olarak bilinen, on binlerce eşzamanlı bağlantıyı verimli yönetme sorununa çözüm olarak Nginx'i yazdı. Olay güdümlü mimarisi sayesinde tek bir iş parçacığı düşük bellek kullanımıyla çok sayıda bağlantıyı yönetebilir; bu, Bölüm 9'da gördüğünüz sorumlulukların ayrılması ilkesinin ağ katmanındaki somut bir örneğidir.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yapılandırmadaki her satırın bir nedeni var. proxy_pass isteği doğru porta yönlendirirken, proxy_set_header satırları olmadan uygulama isteklerin nereden geldiğini yanlış anlar. Host başlığı olmadan uygulama kendi adresini "localhost:3000" sanabilir ve ürettiği bağlantı adresleri bozulabilir. X-Real-IP başlığı, Nginx arkasında çalışan uygulamanın gerçek istemci IP'sini görebilmesini sağlar; bu başlık olmadan tüm istekler Nginx'in kendi IP'sinden geliyormuş gibi görünür. X-Forwarded-Proto ise Nginx dış dünyayla HTTPS, uygulamayla HTTP konuştuğu için hangi protokolün gerçekten kullanıldığını uygulamaya bildirir. Yapılandırmayı etkinleştirirken nginx -t ile test etmeyi ve ardından reload kullanmayı unutmayın; bu iki adım ilerleyen bir slaytta tekrar karşınıza çıkacak kritik bir alışkanlıktır.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Nginx'i seçmemizin nedeni onun "en iyi" araç olması değil, bu bölümün öğretim hedefine en uygun olmasıdır. Apache da aynı işi mod_proxy ile yapabilir ama iş parçacığı tabanlı modeli yüksek eşzamanlılıkta daha fazla kaynak tüketir. Caddy ise otomatik HTTPS sunar ve modern bir sözdizimine sahiptir, ama tam da bu otomasyonu yüzünden Certbot ile TLS sürecini adım adım görmenizi engeller — biz bu bölümde bilinçli olarak bu süreci gizlemek yerine göstermeyi tercih ediyoruz. Gerçek dünyada hangi aracı seçeceğiniz ekibinizin ihtiyaçlarına bağlı olacak; önemli olan, hangisini seçerseniz seçin altındaki ilkeleri anlamanızdır.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HTTPS'i sadece "tarayıcıda kilit simgesi görünsün" diye kurmayı düşünmeyin; asıl amaç üç somut güvenceyi sağlamaktır. Gizlilik, verinin üçüncü bir tarafça okunamamasını sağlar; bir kafenin paylaşılan Wi-Fi'ında araya giren biri şifresiz bir bağlantıyı doğrudan dinleyebilir, ama TLS bunu engeller. Bütünlük, verinin yolda değiştirilmediğini garanti eder. Kimlik doğrulama ise belki de en az anlaşılan kısımdır: sertifika, bağlandığınız sunucunun gerçekten iddia ettiği alan adına ait olduğunu bir Sertifika Otoritesi'nin imzasıyla kanıtlar. Tarayıcıların 2018'den beri HTTPS olmayan siteleri "Güvenli Değil" diye işaretlemesi, bu güvencenin artık bir seçenek değil, bir varsayılan olduğunu gösteriyor.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Certbot'un --nginx eklentisi işinizi büyük ölçüde kolaylaştırır: sertifika dosyalarının yollarını Nginx yapılandırmanıza otomatik olarak ekler, siz elle düzenleme yapmak zorunda kalmazsınız. Ama arka planda olan biteni anlamak önemli: Certbot, alan adının gerçekten size ait olduğunu kanıtlamak için HTTP-01 doğrulaması kullanır, yani 80 portundan geçici bir dosya sunar; bu port kapalıysa doğrulama başarısız olur. 301 yönlendirmesinin "kalıcı" olması da önemli bir detay çünkü tarayıcılar ve arama motorları bu kodu önbelleğe alır ve bir daha HTTP adresine gitmeyi denemezler. Böylece hem güvenlik hem de kullanıcı deneyimi açısından tutarlı bir davranış elde edersiniz.</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Let's Encrypt sertifikalarının yalnızca doksan gün geçerli olması bilinçli bir tasarım kararıdır; kısa ömür, sertifika çalınsa bile zarar penceresini daraltır. Ama bu, sürecin insan tarafından takip edilmesi gerektiği anlamına gelmez — tam tersine, tamamı otomatikleştirilmiştir. systemd timer günde iki kez sertifikanın süresini kontrol eder, otuz günden az kaldığında yenileme süreci kendiliğinden başlar. Yenileme de ilk alım gibi HTTP-01 doğrulamasından geçer, bu yüzden 80 portunu asla kapatmamalısınız. Yeni sertifika üretildiğinde deploy-hook mekanizması Nginx'i otomatik olarak yeniden yükler, üstelik mevcut bağlantıları kesmeden. Bu döngü, birkaç yıl öncesine kadar elle ve genelde ücretli olarak yapılan bir işlemin nasıl tamamen otomatikleştirilebileceğinin güzel bir örneğidir.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HTTPS kurulumunda en sık karşılaşılan hatalardan biri karışık içerik sorunudur: sayfanız HTTPS üzerinden servis edilirken içindeki bir script veya resim hâlâ http:// ile çağrılıyorsa tarayıcı bunu güvenlik ihlali olarak işaretler. İkinci yaygın hata, "artık HTTPS'e geçtik" diye 80 portunu tamamen kapatmaktır; oysa hem 301 yönlendirmesi hem de Certbot'un doğrulama süreci bu portun açık kalmasına bağlıdır. Üçüncü hata ise yenileme sürecini elle takip etmeye çalışmaktır; unutulan bir sertifika süresi, kullanıcıların karşısına çıkan bir güven uyarısıyla sonuçlanır. Bu üç hatanın ortak noktası, HTTPS'in tek seferlik bir kurulum değil, sürekli izlenmesi gereken bir yapılandırma olduğunu unutmaktır.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Dağıtım tamamlandıktan sonraki süreç genelde göz ardı edilir, ama işin asıl zorluğu burada başlar. Bir sunucu çalışır durumda görünse bile içindeki uygulama bellek sızıntısı yaşayabilir, veritabanına erişimini kaybedebilir veya sessizce takılıp kalabilir. Bu tür durumları fark etmenin üç yolu vardır: uygulamanın başlamadan önce gerekli yapılandırmanın var olduğunu doğrulaması, olayların kalıcı olarak loglanması ve sistemin dışarıdan sorgulanabilir bir sağlık sinyali vermesi. Bu üç direk, systemd'in servisi otomatik yeniden başlatma yeteneğiyle birleştiğinde, insan müdahalesi olmadan kendini toparlayan bir sistem ortaya çıkar.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koddaki mantık kasıtlı olarak katıdır: gerekli bir ortam değişkeni eksikse uygulama sessizce yarım yamalak çalışmaya devam etmek yerine hemen durur ve process.exit(1) ile çıkar. Bu "hızlı başarısızlık" ilkesi, eksik bir yapılandırmanın üretimde günler sonra garip bir hataya dönüşmesini önler. /saglik uç noktası ise sadece "uygulama ayakta" demekle yetinmez, veritabanına gerçek bir sorgu göndererek bağımlı servisin de erişilebilir olduğunu doğrular. Bu uç noktanın kimlik doğrulaması gerektirmemesi bilinçlidir çünkü hem izleme araçlarının hem de az sonra göreceğiniz Nginx'in bu noktayı sık sık, kimlik bilgisi olmadan sorgulayabilmesi gerekir.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Bir önceki slaytta uygulamanın process.exit(1) ile çökmesini kasıtlı olarak sağlamıştık; bu ancak bir gözetmen varsa anlamlıdır, işte bu gözetmen systemd'dir. Restart=on-failure satırı, uygulama çöktüğünde beş saniye sonra otomatik olarak yeniden başlatılmasını sağlar, böylece insan müdahalesine gerek kalmaz. After=docker.service satırı da kritik bir sıralama garantisi verir: Docker servisi tam olarak hazır olmadan Compose komutunun çalıştırılmaya çalışılması başarısız olurdu. systemctl enable --now komutundaki iki görev ayrı ayrı önemlidir — enable servisi kalıcı olarak açılışa kaydeder, --now bayrağı ise onu hemen de başlatır. journalctl ile bu servisin ürettiği tüm loglara zaman damgalı olarak erişebilirsiniz, bu da SSH oturumunuz kapansa bile sistemin geçmişini yeniden kurmanızı sağlar.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kontrol listesi, bölümde öğrendiğiniz her konunun gerçek bir dağıtımda birleştiği andır. Her madde aslında bir önceki slaytların somut bir hatırlatıcısıdır: gizli anahtarların Git'e girmemesi, veritabanı portunun dışa kapalı olması, HTTPS'in zorunlu kılınması, sağlık kontrolünün gerçekten çalışması, systemd servisinin kalıcı olarak etkinleştirilmesi, logların sorgulanabilir olması ve SSH yapılandırmasının kilitlenme riskine karşı test edilmiş olması. Buradaki asıl mesaj şu: "kod çalışıyor" ile "production'a hazır" farklı iddialardır, ve bu farkı kapatan şey bu listenin eksiksiz imzalanabilir olmasıdır. Deneyimli bir mentor bu listeyi atlamaz çünkü her bir maddesi geçmişte yaşanmış gerçek bir aksaklığın dersidir.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en sık karşılaşılan üç yanılgıyı ele alalım. Birincisi, docker compose ps'nin "Up" göstermesinin dağıtımın başarılı olduğu anlamına geldiğini düşünmektir; oysa bu yalnızca process'in ölmediğini gösterir, uygulamanın içeriden sağlıklı çalıştığını değil — bunu ancak /saglik uç noktasına gerçek bir istek atarak öğrenebilirsiniz. İkincisi, HTTPS kurulduğunda sistemin tamamen güvenli hale geldiğini sanmaktır; TLS yalnızca iletim hattını şifreler, SQL enjeksiyonuna, açık portlara veya zayıf parolalara karşı hiçbir koruma sağlamaz. Üçüncüsü ise Nginx yapılandırmasını değiştirdikten sonra restart komutunu güvenli sanmaktır; restart test etmeden mevcut tüm bağlantıları anında keser ve yapılandırma hatalıysa Nginx hiç ayağa kalkmayabilir — bunun yerine önce nginx -t ile test edip ardından reload kullanmak, kesintisiz ve güvenli bir güncelleme sağlar.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Şimdiye kadar her konuyu ayrı ayrı işledik, ama gerçek bir dağıtımda hepsi tek bir zincirde birleşir. SSH ile bağlanıp servisi ayağa kaldırmaktan başlayıp, Nginx'in isteği doğru yere yönlendirmesine, Certbot'un trafiği şifrelemesine, uygulamanın kendi yapılandırmasını doğrulamasına ve son olarak systemd'in her şeyi ayakta tutmasına kadar beş katman birbirine bağlıdır. Bu zincirin doğruluğunu kanıtlamanın en güvenilir yolu, gerçek bir tarayıcıdan bağımsız olarak curl ile HTTPS uç noktasına istek atmak ve anlamlı bir yanıt almaktır. Zincirin herhangi bir halkası eksik olsa — örneğin sertifika süresi dolmuş veya systemd servisi etkin değilse — bu uçtan uca test başarısız olur; bu yüzden bölümdeki konuların hiçbiri diğerinden bağımsız değildir.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altı ana başlığı ele aldık: production dağıtımının SSH ve Compose ile nasıl yapıldığını, Nginx'in isteği nasıl doğru başlıklarla ilettiğini, HTTPS'in Certbot ile nasıl kurulup ACME ile otomatik yenilendiğini, sunucunun UFW ve parolasız SSH ile nasıl sertleştirildiğini, uygulamanın yapılandırmasını ve sağlığını nasıl doğruladığını, ve son olarak systemd'in servisi nasıl kendiliğinden ayakta tuttuğunu. Ama bu bölümün asıl kazanımı tek bir aracı öğrenmek değildi. Asıl kazanım, erişim, güvenlik ve gözlemlenebilirliğin birbirinden ayrı ama birbirini tamamlayan katmanlar olduğunu görmenizdi — bu zihniyet, hangi araç değişirse değişsin sizinle kalacak.</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Artık API'niz şifreli bir bağlantı üzerinden, sertleştirilmiş bir sunucuda, kendi kendini iyileştirerek çalışıyor. Ama şimdiye kadar bu API'ye yalnızca insan kullanıcıların tarayıcılarının bağlandığını varsaydık. Bir sonraki bölümde bu varsayımı değiştireceğiz: ESP32 gibi küçük bir mikrodenetleyicinin, bu bölümde kurduğunuz güvenli HTTPS uç noktasına doğrudan telemetri verisi göndermesini sağlayacaksınız. Yani bugün öğrendiğiniz her şey — reverse proxy, TLS sonlandırma, sağlık kontrolü — bir insanın değil, fiziksel bir cihazın karşılanacağı kapı haline gelecek.</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15-linux-deployment-2026091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15-linux-deployment-2026091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15</a:t>
              </a:r>
            </a:p>
          </p:txBody>
        </p:sp>
      </p:grpSp>
      <p:grpSp>
        <p:nvGrpSpPr>
          <p:cNvPr id="8" name="cover-title"/>
          <p:cNvGrpSpPr/>
          <p:nvPr/>
        </p:nvGrpSpPr>
        <p:grpSpPr>
          <a:xfrm>
            <a:off x="4933950" y="1579245"/>
            <a:ext cx="5030724" cy="1981200"/>
            <a:chOff x="4933950" y="1579245"/>
            <a:chExt cx="5030724" cy="1981200"/>
          </a:xfrm>
        </p:grpSpPr>
        <p:sp>
          <p:nvSpPr>
            <p:cNvPr id="7" name="TextBox 7"/>
            <p:cNvSpPr txBox="1"/>
            <p:nvPr/>
          </p:nvSpPr>
          <p:spPr>
            <a:xfrm>
              <a:off x="4933950" y="1579245"/>
              <a:ext cx="5030724" cy="1981200"/>
            </a:xfrm>
            <a:prstGeom prst="rect">
              <a:avLst/>
            </a:prstGeom>
            <a:noFill/>
            <a:ln>
              <a:noFill/>
            </a:ln>
          </p:spPr>
          <p:txBody>
            <a:bodyPr wrap="none" lIns="0" tIns="0" rIns="0" bIns="0" anchor="t" anchorCtr="0">
              <a:spAutoFit/>
            </a:bodyPr>
            <a:lstStyle/>
            <a:p>
              <a:pPr algn="l">
                <a:lnSpc>
                  <a:spcPts val="4800"/>
                </a:lnSpc>
              </a:pPr>
              <a:r>
                <a:rPr lang="tr-TR" sz="3900" b="1" dirty="0">
                  <a:solidFill>
                    <a:srgbClr val="12355B"/>
                  </a:solidFill>
                  <a:latin typeface="+mj-lt"/>
                  <a:ea typeface="+mj-ea"/>
                  <a:cs typeface="+mj-cs"/>
                </a:rPr>
                <a:t>Linux Sunucuya</a:t>
              </a:r>
              <a:br/>
              <a:r>
                <a:rPr lang="tr-TR" sz="3900" b="1" dirty="0">
                  <a:solidFill>
                    <a:srgbClr val="12355B"/>
                  </a:solidFill>
                  <a:latin typeface="+mj-lt"/>
                  <a:ea typeface="+mj-ea"/>
                  <a:cs typeface="+mj-cs"/>
                </a:rPr>
                <a:t>Yayınlama: Nginx,</a:t>
              </a:r>
              <a:br/>
              <a:r>
                <a:rPr lang="tr-TR" sz="3900" b="1" dirty="0">
                  <a:solidFill>
                    <a:srgbClr val="12355B"/>
                  </a:solidFill>
                  <a:latin typeface="+mj-lt"/>
                  <a:ea typeface="+mj-ea"/>
                  <a:cs typeface="+mj-cs"/>
                </a:rPr>
                <a:t>HTTPS ve Operasyon</a:t>
              </a:r>
            </a:p>
          </p:txBody>
        </p:sp>
      </p:grpSp>
      <p:grpSp>
        <p:nvGrpSpPr>
          <p:cNvPr id="12" name="cover-subtitle"/>
          <p:cNvGrpSpPr/>
          <p:nvPr/>
        </p:nvGrpSpPr>
        <p:grpSpPr>
          <a:xfrm>
            <a:off x="4943094" y="4095750"/>
            <a:ext cx="4648390" cy="900018"/>
            <a:chOff x="4943094" y="4095750"/>
            <a:chExt cx="4648390" cy="900018"/>
          </a:xfrm>
        </p:grpSpPr>
        <p:sp>
          <p:nvSpPr>
            <p:cNvPr id="9" name="Rectangle 9"/>
            <p:cNvSpPr/>
            <p:nvPr/>
          </p:nvSpPr>
          <p:spPr>
            <a:xfrm>
              <a:off x="4953000" y="4095750"/>
              <a:ext cx="1143000" cy="38100"/>
            </a:xfrm>
            <a:prstGeom prst="rect">
              <a:avLst/>
            </a:prstGeom>
            <a:solidFill>
              <a:srgbClr val="00A6A6"/>
            </a:solidFill>
            <a:ln>
              <a:noFill/>
            </a:ln>
          </p:spPr>
        </p:sp>
        <p:sp>
          <p:nvSpPr>
            <p:cNvPr id="10" name="TextBox 10"/>
            <p:cNvSpPr txBox="1"/>
            <p:nvPr/>
          </p:nvSpPr>
          <p:spPr>
            <a:xfrm>
              <a:off x="4943094" y="4228148"/>
              <a:ext cx="4648390"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Sunucu Tabanlı Programlama</a:t>
              </a:r>
            </a:p>
          </p:txBody>
        </p:sp>
        <p:sp>
          <p:nvSpPr>
            <p:cNvPr id="11" name="TextBox 11"/>
            <p:cNvSpPr txBox="1"/>
            <p:nvPr/>
          </p:nvSpPr>
          <p:spPr>
            <a:xfrm>
              <a:off x="4944999" y="468772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946904" y="6233160"/>
            <a:ext cx="4973434" cy="234696"/>
            <a:chOff x="4946904" y="6233160"/>
            <a:chExt cx="4973434" cy="234696"/>
          </a:xfrm>
        </p:grpSpPr>
        <p:sp>
          <p:nvSpPr>
            <p:cNvPr id="13" name="TextBox 13"/>
            <p:cNvSpPr txBox="1"/>
            <p:nvPr/>
          </p:nvSpPr>
          <p:spPr>
            <a:xfrm>
              <a:off x="4946904" y="6233160"/>
              <a:ext cx="49734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Bilgisayar Mühendisliği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606794" cy="557403"/>
            <a:chOff x="595122" y="282892"/>
            <a:chExt cx="3606794" cy="557403"/>
          </a:xfrm>
        </p:grpSpPr>
        <p:sp>
          <p:nvSpPr>
            <p:cNvPr id="4" name="TextBox 4"/>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7" name="roadmap-intro"/>
          <p:cNvGrpSpPr/>
          <p:nvPr/>
        </p:nvGrpSpPr>
        <p:grpSpPr>
          <a:xfrm>
            <a:off x="603504" y="1108710"/>
            <a:ext cx="3951355" cy="234696"/>
            <a:chOff x="603504" y="1108710"/>
            <a:chExt cx="3951355" cy="234696"/>
          </a:xfrm>
        </p:grpSpPr>
        <p:sp>
          <p:nvSpPr>
            <p:cNvPr id="6" name="TextBox 6"/>
            <p:cNvSpPr txBox="1"/>
            <p:nvPr/>
          </p:nvSpPr>
          <p:spPr>
            <a:xfrm>
              <a:off x="603504" y="1108710"/>
              <a:ext cx="395135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Bu bölümü okurken şu beş soruyu aklınızda tutun:</a:t>
              </a:r>
            </a:p>
          </p:txBody>
        </p:sp>
      </p:grpSp>
      <p:grpSp>
        <p:nvGrpSpPr>
          <p:cNvPr id="12" name="roadmap-q1"/>
          <p:cNvGrpSpPr/>
          <p:nvPr/>
        </p:nvGrpSpPr>
        <p:grpSpPr>
          <a:xfrm>
            <a:off x="609600" y="1447800"/>
            <a:ext cx="10684837" cy="419100"/>
            <a:chOff x="609600" y="1447800"/>
            <a:chExt cx="10684837" cy="419100"/>
          </a:xfrm>
        </p:grpSpPr>
        <p:sp>
          <p:nvSpPr>
            <p:cNvPr id="8" name="Rectangle 8"/>
            <p:cNvSpPr/>
            <p:nvPr/>
          </p:nvSpPr>
          <p:spPr>
            <a:xfrm>
              <a:off x="609600" y="1447800"/>
              <a:ext cx="57150" cy="419100"/>
            </a:xfrm>
            <a:prstGeom prst="rect">
              <a:avLst/>
            </a:prstGeom>
            <a:solidFill>
              <a:srgbClr val="00A6A6"/>
            </a:solidFill>
            <a:ln>
              <a:noFill/>
            </a:ln>
          </p:spPr>
        </p:sp>
        <p:sp>
          <p:nvSpPr>
            <p:cNvPr id="9" name="Ellipse 9"/>
            <p:cNvSpPr/>
            <p:nvPr/>
          </p:nvSpPr>
          <p:spPr>
            <a:xfrm>
              <a:off x="857250" y="1485900"/>
              <a:ext cx="342900" cy="342900"/>
            </a:xfrm>
            <a:prstGeom prst="ellipse">
              <a:avLst/>
            </a:prstGeom>
            <a:solidFill>
              <a:srgbClr val="12355B"/>
            </a:solidFill>
            <a:ln>
              <a:noFill/>
            </a:ln>
          </p:spPr>
        </p:sp>
        <p:sp>
          <p:nvSpPr>
            <p:cNvPr id="10" name="TextBox 10"/>
            <p:cNvSpPr txBox="1"/>
            <p:nvPr/>
          </p:nvSpPr>
          <p:spPr>
            <a:xfrm>
              <a:off x="969365" y="157829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1</a:t>
              </a:r>
            </a:p>
          </p:txBody>
        </p:sp>
        <p:sp>
          <p:nvSpPr>
            <p:cNvPr id="11" name="TextBox 11"/>
            <p:cNvSpPr txBox="1"/>
            <p:nvPr/>
          </p:nvSpPr>
          <p:spPr>
            <a:xfrm>
              <a:off x="1363599" y="1544479"/>
              <a:ext cx="993083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Konteynerleştirilmiş bir uygulama Linux sunucuya taşındığında hangi ek sorunlar ortaya çıkar?</a:t>
              </a:r>
            </a:p>
          </p:txBody>
        </p:sp>
      </p:grpSp>
      <p:grpSp>
        <p:nvGrpSpPr>
          <p:cNvPr id="17" name="roadmap-q2"/>
          <p:cNvGrpSpPr/>
          <p:nvPr/>
        </p:nvGrpSpPr>
        <p:grpSpPr>
          <a:xfrm>
            <a:off x="609600" y="2133600"/>
            <a:ext cx="10753613" cy="419100"/>
            <a:chOff x="609600" y="2133600"/>
            <a:chExt cx="10753613" cy="419100"/>
          </a:xfrm>
        </p:grpSpPr>
        <p:sp>
          <p:nvSpPr>
            <p:cNvPr id="13" name="Rectangle 13"/>
            <p:cNvSpPr/>
            <p:nvPr/>
          </p:nvSpPr>
          <p:spPr>
            <a:xfrm>
              <a:off x="609600" y="2133600"/>
              <a:ext cx="57150" cy="419100"/>
            </a:xfrm>
            <a:prstGeom prst="rect">
              <a:avLst/>
            </a:prstGeom>
            <a:solidFill>
              <a:srgbClr val="00A6A6"/>
            </a:solidFill>
            <a:ln>
              <a:noFill/>
            </a:ln>
          </p:spPr>
        </p:sp>
        <p:sp>
          <p:nvSpPr>
            <p:cNvPr id="14" name="Ellipse 14"/>
            <p:cNvSpPr/>
            <p:nvPr/>
          </p:nvSpPr>
          <p:spPr>
            <a:xfrm>
              <a:off x="857250" y="2171700"/>
              <a:ext cx="342900" cy="342900"/>
            </a:xfrm>
            <a:prstGeom prst="ellipse">
              <a:avLst/>
            </a:prstGeom>
            <a:solidFill>
              <a:srgbClr val="12355B"/>
            </a:solidFill>
            <a:ln>
              <a:noFill/>
            </a:ln>
          </p:spPr>
        </p:sp>
        <p:sp>
          <p:nvSpPr>
            <p:cNvPr id="15" name="TextBox 15"/>
            <p:cNvSpPr txBox="1"/>
            <p:nvPr/>
          </p:nvSpPr>
          <p:spPr>
            <a:xfrm>
              <a:off x="969365" y="226409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2</a:t>
              </a:r>
            </a:p>
          </p:txBody>
        </p:sp>
        <p:sp>
          <p:nvSpPr>
            <p:cNvPr id="16" name="TextBox 16"/>
            <p:cNvSpPr txBox="1"/>
            <p:nvPr/>
          </p:nvSpPr>
          <p:spPr>
            <a:xfrm>
              <a:off x="1363599" y="2230279"/>
              <a:ext cx="999961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 reverse proxy tam olarak ne yapar; API'nin doğrudan dış dünyaya açılmasından farkı nedir?</a:t>
              </a:r>
            </a:p>
          </p:txBody>
        </p:sp>
      </p:grpSp>
      <p:grpSp>
        <p:nvGrpSpPr>
          <p:cNvPr id="22" name="roadmap-q3"/>
          <p:cNvGrpSpPr/>
          <p:nvPr/>
        </p:nvGrpSpPr>
        <p:grpSpPr>
          <a:xfrm>
            <a:off x="609600" y="2819400"/>
            <a:ext cx="6737782" cy="419100"/>
            <a:chOff x="609600" y="2819400"/>
            <a:chExt cx="6737782" cy="419100"/>
          </a:xfrm>
        </p:grpSpPr>
        <p:sp>
          <p:nvSpPr>
            <p:cNvPr id="18" name="Rectangle 18"/>
            <p:cNvSpPr/>
            <p:nvPr/>
          </p:nvSpPr>
          <p:spPr>
            <a:xfrm>
              <a:off x="609600" y="2819400"/>
              <a:ext cx="57150" cy="419100"/>
            </a:xfrm>
            <a:prstGeom prst="rect">
              <a:avLst/>
            </a:prstGeom>
            <a:solidFill>
              <a:srgbClr val="00A6A6"/>
            </a:solidFill>
            <a:ln>
              <a:noFill/>
            </a:ln>
          </p:spPr>
        </p:sp>
        <p:sp>
          <p:nvSpPr>
            <p:cNvPr id="19" name="Ellipse 19"/>
            <p:cNvSpPr/>
            <p:nvPr/>
          </p:nvSpPr>
          <p:spPr>
            <a:xfrm>
              <a:off x="857250" y="2857500"/>
              <a:ext cx="342900" cy="342900"/>
            </a:xfrm>
            <a:prstGeom prst="ellipse">
              <a:avLst/>
            </a:prstGeom>
            <a:solidFill>
              <a:srgbClr val="12355B"/>
            </a:solidFill>
            <a:ln>
              <a:noFill/>
            </a:ln>
          </p:spPr>
        </p:sp>
        <p:sp>
          <p:nvSpPr>
            <p:cNvPr id="20" name="TextBox 20"/>
            <p:cNvSpPr txBox="1"/>
            <p:nvPr/>
          </p:nvSpPr>
          <p:spPr>
            <a:xfrm>
              <a:off x="969365" y="294989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3</a:t>
              </a:r>
            </a:p>
          </p:txBody>
        </p:sp>
        <p:sp>
          <p:nvSpPr>
            <p:cNvPr id="21" name="TextBox 21"/>
            <p:cNvSpPr txBox="1"/>
            <p:nvPr/>
          </p:nvSpPr>
          <p:spPr>
            <a:xfrm>
              <a:off x="1363599" y="2916079"/>
              <a:ext cx="5983783"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HTTPS, HTTP'den farklı olarak hangi somut riski azaltır?</a:t>
              </a:r>
            </a:p>
          </p:txBody>
        </p:sp>
      </p:grpSp>
      <p:grpSp>
        <p:nvGrpSpPr>
          <p:cNvPr id="27" name="roadmap-q4"/>
          <p:cNvGrpSpPr/>
          <p:nvPr/>
        </p:nvGrpSpPr>
        <p:grpSpPr>
          <a:xfrm>
            <a:off x="609600" y="3505200"/>
            <a:ext cx="10380357" cy="419100"/>
            <a:chOff x="609600" y="3505200"/>
            <a:chExt cx="10380357" cy="419100"/>
          </a:xfrm>
        </p:grpSpPr>
        <p:sp>
          <p:nvSpPr>
            <p:cNvPr id="23" name="Rectangle 23"/>
            <p:cNvSpPr/>
            <p:nvPr/>
          </p:nvSpPr>
          <p:spPr>
            <a:xfrm>
              <a:off x="609600" y="3505200"/>
              <a:ext cx="57150" cy="419100"/>
            </a:xfrm>
            <a:prstGeom prst="rect">
              <a:avLst/>
            </a:prstGeom>
            <a:solidFill>
              <a:srgbClr val="00A6A6"/>
            </a:solidFill>
            <a:ln>
              <a:noFill/>
            </a:ln>
          </p:spPr>
        </p:sp>
        <p:sp>
          <p:nvSpPr>
            <p:cNvPr id="24" name="Ellipse 24"/>
            <p:cNvSpPr/>
            <p:nvPr/>
          </p:nvSpPr>
          <p:spPr>
            <a:xfrm>
              <a:off x="857250" y="3543300"/>
              <a:ext cx="342900" cy="342900"/>
            </a:xfrm>
            <a:prstGeom prst="ellipse">
              <a:avLst/>
            </a:prstGeom>
            <a:solidFill>
              <a:srgbClr val="12355B"/>
            </a:solidFill>
            <a:ln>
              <a:noFill/>
            </a:ln>
          </p:spPr>
        </p:sp>
        <p:sp>
          <p:nvSpPr>
            <p:cNvPr id="25" name="TextBox 25"/>
            <p:cNvSpPr txBox="1"/>
            <p:nvPr/>
          </p:nvSpPr>
          <p:spPr>
            <a:xfrm>
              <a:off x="969365" y="363569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4</a:t>
              </a:r>
            </a:p>
          </p:txBody>
        </p:sp>
        <p:sp>
          <p:nvSpPr>
            <p:cNvPr id="26" name="TextBox 26"/>
            <p:cNvSpPr txBox="1"/>
            <p:nvPr/>
          </p:nvSpPr>
          <p:spPr>
            <a:xfrm>
              <a:off x="1363599" y="3601879"/>
              <a:ext cx="962635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 sunucu ortam değişkenlerini (secrets) production'da nasıl güvenli biçimde saklamalıdır?</a:t>
              </a:r>
            </a:p>
          </p:txBody>
        </p:sp>
      </p:grpSp>
      <p:grpSp>
        <p:nvGrpSpPr>
          <p:cNvPr id="32" name="roadmap-q5"/>
          <p:cNvGrpSpPr/>
          <p:nvPr/>
        </p:nvGrpSpPr>
        <p:grpSpPr>
          <a:xfrm>
            <a:off x="609600" y="4191000"/>
            <a:ext cx="10146218" cy="419100"/>
            <a:chOff x="609600" y="4191000"/>
            <a:chExt cx="10146218" cy="419100"/>
          </a:xfrm>
        </p:grpSpPr>
        <p:sp>
          <p:nvSpPr>
            <p:cNvPr id="28" name="Rectangle 28"/>
            <p:cNvSpPr/>
            <p:nvPr/>
          </p:nvSpPr>
          <p:spPr>
            <a:xfrm>
              <a:off x="609600" y="4191000"/>
              <a:ext cx="57150" cy="419100"/>
            </a:xfrm>
            <a:prstGeom prst="rect">
              <a:avLst/>
            </a:prstGeom>
            <a:solidFill>
              <a:srgbClr val="00A6A6"/>
            </a:solidFill>
            <a:ln>
              <a:noFill/>
            </a:ln>
          </p:spPr>
        </p:sp>
        <p:sp>
          <p:nvSpPr>
            <p:cNvPr id="29" name="Ellipse 29"/>
            <p:cNvSpPr/>
            <p:nvPr/>
          </p:nvSpPr>
          <p:spPr>
            <a:xfrm>
              <a:off x="857250" y="4229100"/>
              <a:ext cx="342900" cy="342900"/>
            </a:xfrm>
            <a:prstGeom prst="ellipse">
              <a:avLst/>
            </a:prstGeom>
            <a:solidFill>
              <a:srgbClr val="12355B"/>
            </a:solidFill>
            <a:ln>
              <a:noFill/>
            </a:ln>
          </p:spPr>
        </p:sp>
        <p:sp>
          <p:nvSpPr>
            <p:cNvPr id="30" name="TextBox 30"/>
            <p:cNvSpPr txBox="1"/>
            <p:nvPr/>
          </p:nvSpPr>
          <p:spPr>
            <a:xfrm>
              <a:off x="969365" y="432149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5</a:t>
              </a:r>
            </a:p>
          </p:txBody>
        </p:sp>
        <p:sp>
          <p:nvSpPr>
            <p:cNvPr id="31" name="TextBox 31"/>
            <p:cNvSpPr txBox="1"/>
            <p:nvPr/>
          </p:nvSpPr>
          <p:spPr>
            <a:xfrm>
              <a:off x="1363599" y="4287679"/>
              <a:ext cx="939221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 servisin "ayakta" olduğunu bilmek için loglama ve health check nasıl birlikte kullanılır?</a:t>
              </a:r>
            </a:p>
          </p:txBody>
        </p:sp>
      </p:grpSp>
      <p:grpSp>
        <p:nvGrpSpPr>
          <p:cNvPr id="38" name="roadmap-goal"/>
          <p:cNvGrpSpPr/>
          <p:nvPr/>
        </p:nvGrpSpPr>
        <p:grpSpPr>
          <a:xfrm>
            <a:off x="609600" y="5257800"/>
            <a:ext cx="10972800" cy="1028700"/>
            <a:chOff x="609600" y="5257800"/>
            <a:chExt cx="10972800" cy="1028700"/>
          </a:xfrm>
        </p:grpSpPr>
        <p:sp>
          <p:nvSpPr>
            <p:cNvPr id="33" name="Rectangle 33"/>
            <p:cNvSpPr/>
            <p:nvPr/>
          </p:nvSpPr>
          <p:spPr>
            <a:xfrm>
              <a:off x="609600" y="5257800"/>
              <a:ext cx="10972800" cy="1028700"/>
            </a:xfrm>
            <a:prstGeom prst="roundRect">
              <a:avLst>
                <a:gd name="adj" fmla="val 7407"/>
              </a:avLst>
            </a:prstGeom>
            <a:solidFill>
              <a:srgbClr val="EAF4F6"/>
            </a:solidFill>
            <a:ln>
              <a:noFill/>
            </a:ln>
          </p:spPr>
        </p:sp>
        <p:sp>
          <p:nvSpPr>
            <p:cNvPr id="34" name="Rectangle 34"/>
            <p:cNvSpPr/>
            <p:nvPr/>
          </p:nvSpPr>
          <p:spPr>
            <a:xfrm>
              <a:off x="609600" y="5257800"/>
              <a:ext cx="57150" cy="1028700"/>
            </a:xfrm>
            <a:prstGeom prst="rect">
              <a:avLst/>
            </a:prstGeom>
            <a:solidFill>
              <a:srgbClr val="00A6A6"/>
            </a:solidFill>
            <a:ln>
              <a:noFill/>
            </a:ln>
          </p:spPr>
        </p:sp>
        <p:sp>
          <p:nvSpPr>
            <p:cNvPr id="35" name="TextBox 35"/>
            <p:cNvSpPr txBox="1"/>
            <p:nvPr/>
          </p:nvSpPr>
          <p:spPr>
            <a:xfrm>
              <a:off x="906399" y="5392579"/>
              <a:ext cx="167440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Bölüm Hedefi</a:t>
              </a:r>
            </a:p>
          </p:txBody>
        </p:sp>
        <p:sp>
          <p:nvSpPr>
            <p:cNvPr id="36" name="TextBox 36"/>
            <p:cNvSpPr txBox="1"/>
            <p:nvPr/>
          </p:nvSpPr>
          <p:spPr>
            <a:xfrm>
              <a:off x="906399" y="5659279"/>
              <a:ext cx="944757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Konteynerleştirilmiş kütüphane API'si bir Linux sunucuya aktarılacak, Nginx reverse proxy</a:t>
              </a:r>
            </a:p>
          </p:txBody>
        </p:sp>
        <p:sp>
          <p:nvSpPr>
            <p:cNvPr id="37" name="TextBox 37"/>
            <p:cNvSpPr txBox="1"/>
            <p:nvPr/>
          </p:nvSpPr>
          <p:spPr>
            <a:xfrm>
              <a:off x="908304" y="5947410"/>
              <a:ext cx="843949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arkasına alınacak, HTTPS ile güvenli hâle getirilecek ve temel operasyon (log, health check) kurulacaktır.</a:t>
              </a:r>
            </a:p>
          </p:txBody>
        </p:sp>
      </p:grpSp>
      <p:sp>
        <p:nvSpPr>
          <p:cNvPr id="39" name="TextBox 3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24</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413763" cy="557403"/>
            <a:chOff x="595122" y="282892"/>
            <a:chExt cx="7413763" cy="557403"/>
          </a:xfrm>
        </p:grpSpPr>
        <p:sp>
          <p:nvSpPr>
            <p:cNvPr id="4" name="TextBox 4"/>
            <p:cNvSpPr txBox="1"/>
            <p:nvPr/>
          </p:nvSpPr>
          <p:spPr>
            <a:xfrm>
              <a:off x="59512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9" name="objective-1"/>
          <p:cNvGrpSpPr/>
          <p:nvPr/>
        </p:nvGrpSpPr>
        <p:grpSpPr>
          <a:xfrm>
            <a:off x="685800" y="1291590"/>
            <a:ext cx="10476673" cy="637128"/>
            <a:chOff x="685800" y="1291590"/>
            <a:chExt cx="10476673" cy="637128"/>
          </a:xfrm>
        </p:grpSpPr>
        <p:sp>
          <p:nvSpPr>
            <p:cNvPr id="6" name="Rectangle 6"/>
            <p:cNvSpPr/>
            <p:nvPr/>
          </p:nvSpPr>
          <p:spPr>
            <a:xfrm>
              <a:off x="685800" y="1295400"/>
              <a:ext cx="57150" cy="571500"/>
            </a:xfrm>
            <a:prstGeom prst="rect">
              <a:avLst/>
            </a:prstGeom>
            <a:solidFill>
              <a:srgbClr val="00A6A6"/>
            </a:solidFill>
            <a:ln>
              <a:noFill/>
            </a:ln>
          </p:spPr>
        </p:sp>
        <p:sp>
          <p:nvSpPr>
            <p:cNvPr id="7" name="TextBox 7"/>
            <p:cNvSpPr txBox="1"/>
            <p:nvPr/>
          </p:nvSpPr>
          <p:spPr>
            <a:xfrm>
              <a:off x="981456" y="1291590"/>
              <a:ext cx="807268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Konteynerleştirilmiş uygulamayı SSH ile Linux sunucuya aktarmak</a:t>
              </a:r>
            </a:p>
          </p:txBody>
        </p:sp>
        <p:sp>
          <p:nvSpPr>
            <p:cNvPr id="8" name="TextBox 8"/>
            <p:cNvSpPr txBox="1"/>
            <p:nvPr/>
          </p:nvSpPr>
          <p:spPr>
            <a:xfrm>
              <a:off x="982599" y="1620679"/>
              <a:ext cx="1017987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sunucuda docker compose -f docker-compose.prod.yml up -d ile servisleri ayağa kaldırmak</a:t>
              </a:r>
            </a:p>
          </p:txBody>
        </p:sp>
      </p:grpSp>
      <p:grpSp>
        <p:nvGrpSpPr>
          <p:cNvPr id="13" name="objective-2"/>
          <p:cNvGrpSpPr/>
          <p:nvPr/>
        </p:nvGrpSpPr>
        <p:grpSpPr>
          <a:xfrm>
            <a:off x="685800" y="2129790"/>
            <a:ext cx="10346781" cy="637128"/>
            <a:chOff x="685800" y="2129790"/>
            <a:chExt cx="10346781" cy="637128"/>
          </a:xfrm>
        </p:grpSpPr>
        <p:sp>
          <p:nvSpPr>
            <p:cNvPr id="10" name="Rectangle 10"/>
            <p:cNvSpPr/>
            <p:nvPr/>
          </p:nvSpPr>
          <p:spPr>
            <a:xfrm>
              <a:off x="685800" y="2133600"/>
              <a:ext cx="57150" cy="571500"/>
            </a:xfrm>
            <a:prstGeom prst="rect">
              <a:avLst/>
            </a:prstGeom>
            <a:solidFill>
              <a:srgbClr val="00A6A6"/>
            </a:solidFill>
            <a:ln>
              <a:noFill/>
            </a:ln>
          </p:spPr>
        </p:sp>
        <p:sp>
          <p:nvSpPr>
            <p:cNvPr id="11" name="TextBox 11"/>
            <p:cNvSpPr txBox="1"/>
            <p:nvPr/>
          </p:nvSpPr>
          <p:spPr>
            <a:xfrm>
              <a:off x="981456" y="2129790"/>
              <a:ext cx="1005112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Nginx'i reverse proxy olarak yapılandırıp isteği doğru container'a yönlendirmek</a:t>
              </a:r>
            </a:p>
          </p:txBody>
        </p:sp>
        <p:sp>
          <p:nvSpPr>
            <p:cNvPr id="12" name="TextBox 12"/>
            <p:cNvSpPr txBox="1"/>
            <p:nvPr/>
          </p:nvSpPr>
          <p:spPr>
            <a:xfrm>
              <a:off x="982599" y="2458879"/>
              <a:ext cx="887078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API yalnızca 127.0.0.1'de dinlerken dış dünyaya Nginx üzerinden erişilebilmesi</a:t>
              </a:r>
            </a:p>
          </p:txBody>
        </p:sp>
      </p:grpSp>
      <p:grpSp>
        <p:nvGrpSpPr>
          <p:cNvPr id="17" name="objective-3"/>
          <p:cNvGrpSpPr/>
          <p:nvPr/>
        </p:nvGrpSpPr>
        <p:grpSpPr>
          <a:xfrm>
            <a:off x="685800" y="2967990"/>
            <a:ext cx="8699754" cy="637128"/>
            <a:chOff x="685800" y="2967990"/>
            <a:chExt cx="8699754" cy="637128"/>
          </a:xfrm>
        </p:grpSpPr>
        <p:sp>
          <p:nvSpPr>
            <p:cNvPr id="14" name="Rectangle 14"/>
            <p:cNvSpPr/>
            <p:nvPr/>
          </p:nvSpPr>
          <p:spPr>
            <a:xfrm>
              <a:off x="685800" y="2971800"/>
              <a:ext cx="57150" cy="571500"/>
            </a:xfrm>
            <a:prstGeom prst="rect">
              <a:avLst/>
            </a:prstGeom>
            <a:solidFill>
              <a:srgbClr val="00A6A6"/>
            </a:solidFill>
            <a:ln>
              <a:noFill/>
            </a:ln>
          </p:spPr>
        </p:sp>
        <p:sp>
          <p:nvSpPr>
            <p:cNvPr id="15" name="TextBox 15"/>
            <p:cNvSpPr txBox="1"/>
            <p:nvPr/>
          </p:nvSpPr>
          <p:spPr>
            <a:xfrm>
              <a:off x="981456" y="2967990"/>
              <a:ext cx="782879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HTTPS'in HTTP'ye göre azalttığı somut riski gerekçelendirmek</a:t>
              </a:r>
            </a:p>
          </p:txBody>
        </p:sp>
        <p:sp>
          <p:nvSpPr>
            <p:cNvPr id="16" name="TextBox 16"/>
            <p:cNvSpPr txBox="1"/>
            <p:nvPr/>
          </p:nvSpPr>
          <p:spPr>
            <a:xfrm>
              <a:off x="982599" y="3297079"/>
              <a:ext cx="840295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trafiğin araya girilerek okunması/değiştirilmesi riskini örnekle açıklamak</a:t>
              </a:r>
            </a:p>
          </p:txBody>
        </p:sp>
      </p:grpSp>
      <p:grpSp>
        <p:nvGrpSpPr>
          <p:cNvPr id="21" name="objective-4"/>
          <p:cNvGrpSpPr/>
          <p:nvPr/>
        </p:nvGrpSpPr>
        <p:grpSpPr>
          <a:xfrm>
            <a:off x="685800" y="3806190"/>
            <a:ext cx="10092379" cy="637128"/>
            <a:chOff x="685800" y="3806190"/>
            <a:chExt cx="10092379" cy="637128"/>
          </a:xfrm>
        </p:grpSpPr>
        <p:sp>
          <p:nvSpPr>
            <p:cNvPr id="18" name="Rectangle 18"/>
            <p:cNvSpPr/>
            <p:nvPr/>
          </p:nvSpPr>
          <p:spPr>
            <a:xfrm>
              <a:off x="685800" y="3810000"/>
              <a:ext cx="57150" cy="571500"/>
            </a:xfrm>
            <a:prstGeom prst="rect">
              <a:avLst/>
            </a:prstGeom>
            <a:solidFill>
              <a:srgbClr val="00A6A6"/>
            </a:solidFill>
            <a:ln>
              <a:noFill/>
            </a:ln>
          </p:spPr>
        </p:sp>
        <p:sp>
          <p:nvSpPr>
            <p:cNvPr id="19" name="TextBox 19"/>
            <p:cNvSpPr txBox="1"/>
            <p:nvPr/>
          </p:nvSpPr>
          <p:spPr>
            <a:xfrm>
              <a:off x="981456" y="3806190"/>
              <a:ext cx="979672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Ortam değişkenlerini ve sırları kod deposundan ayrı, güvenli biçimde saklamak</a:t>
              </a:r>
            </a:p>
          </p:txBody>
        </p:sp>
        <p:sp>
          <p:nvSpPr>
            <p:cNvPr id="20" name="TextBox 20"/>
            <p:cNvSpPr txBox="1"/>
            <p:nvPr/>
          </p:nvSpPr>
          <p:spPr>
            <a:xfrm>
              <a:off x="982599" y="4135279"/>
              <a:ext cx="802047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eksik zorunlu değişkende uygulamanın fail-fast biçimde erken durması</a:t>
              </a:r>
            </a:p>
          </p:txBody>
        </p:sp>
      </p:grpSp>
      <p:grpSp>
        <p:nvGrpSpPr>
          <p:cNvPr id="25" name="objective-5"/>
          <p:cNvGrpSpPr/>
          <p:nvPr/>
        </p:nvGrpSpPr>
        <p:grpSpPr>
          <a:xfrm>
            <a:off x="685800" y="4644390"/>
            <a:ext cx="8997989" cy="637128"/>
            <a:chOff x="685800" y="4644390"/>
            <a:chExt cx="8997989" cy="637128"/>
          </a:xfrm>
        </p:grpSpPr>
        <p:sp>
          <p:nvSpPr>
            <p:cNvPr id="22" name="Rectangle 22"/>
            <p:cNvSpPr/>
            <p:nvPr/>
          </p:nvSpPr>
          <p:spPr>
            <a:xfrm>
              <a:off x="685800" y="4648200"/>
              <a:ext cx="57150" cy="571500"/>
            </a:xfrm>
            <a:prstGeom prst="rect">
              <a:avLst/>
            </a:prstGeom>
            <a:solidFill>
              <a:srgbClr val="00A6A6"/>
            </a:solidFill>
            <a:ln>
              <a:noFill/>
            </a:ln>
          </p:spPr>
        </p:sp>
        <p:sp>
          <p:nvSpPr>
            <p:cNvPr id="23" name="TextBox 23"/>
            <p:cNvSpPr txBox="1"/>
            <p:nvPr/>
          </p:nvSpPr>
          <p:spPr>
            <a:xfrm>
              <a:off x="981456" y="4644390"/>
              <a:ext cx="870233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Yapılandırılmış loglama ve health check ile servisin sağlığını izlemek</a:t>
              </a:r>
            </a:p>
          </p:txBody>
        </p:sp>
        <p:sp>
          <p:nvSpPr>
            <p:cNvPr id="24" name="TextBox 24"/>
            <p:cNvSpPr txBox="1"/>
            <p:nvPr/>
          </p:nvSpPr>
          <p:spPr>
            <a:xfrm>
              <a:off x="982599" y="4973479"/>
              <a:ext cx="803122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/saglik uç noktasının veritabanı bağlantısını da gerçekten sınaması</a:t>
              </a:r>
            </a:p>
          </p:txBody>
        </p:sp>
      </p:grpSp>
      <p:grpSp>
        <p:nvGrpSpPr>
          <p:cNvPr id="29" name="objective-note"/>
          <p:cNvGrpSpPr/>
          <p:nvPr/>
        </p:nvGrpSpPr>
        <p:grpSpPr>
          <a:xfrm>
            <a:off x="609600" y="5600700"/>
            <a:ext cx="10972800" cy="685800"/>
            <a:chOff x="609600" y="5600700"/>
            <a:chExt cx="10972800" cy="685800"/>
          </a:xfrm>
        </p:grpSpPr>
        <p:sp>
          <p:nvSpPr>
            <p:cNvPr id="26" name="Rectangle 26"/>
            <p:cNvSpPr/>
            <p:nvPr/>
          </p:nvSpPr>
          <p:spPr>
            <a:xfrm>
              <a:off x="609600" y="5600700"/>
              <a:ext cx="10972800" cy="685800"/>
            </a:xfrm>
            <a:prstGeom prst="roundRect">
              <a:avLst>
                <a:gd name="adj" fmla="val 11111"/>
              </a:avLst>
            </a:prstGeom>
            <a:solidFill>
              <a:srgbClr val="EAF4F6"/>
            </a:solidFill>
            <a:ln>
              <a:noFill/>
            </a:ln>
          </p:spPr>
        </p:sp>
        <p:sp>
          <p:nvSpPr>
            <p:cNvPr id="27" name="TextBox 27"/>
            <p:cNvSpPr txBox="1"/>
            <p:nvPr/>
          </p:nvSpPr>
          <p:spPr>
            <a:xfrm>
              <a:off x="906399" y="5735479"/>
              <a:ext cx="734857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Kaliteli bir çözümde API container'ı doğrudan dış dünyaya açılmaz.</a:t>
              </a:r>
            </a:p>
          </p:txBody>
        </p:sp>
        <p:sp>
          <p:nvSpPr>
            <p:cNvPr id="28" name="TextBox 28"/>
            <p:cNvSpPr txBox="1"/>
            <p:nvPr/>
          </p:nvSpPr>
          <p:spPr>
            <a:xfrm>
              <a:off x="908304" y="6023610"/>
              <a:ext cx="368483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Tüm trafik Nginx üzerinden ve HTTPS ile geçer.</a:t>
              </a:r>
            </a:p>
          </p:txBody>
        </p:sp>
      </p:grpSp>
      <p:sp>
        <p:nvSpPr>
          <p:cNvPr id="30" name="TextBox 3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24</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10932942" cy="668845"/>
            <a:chOff x="609600" y="171450"/>
            <a:chExt cx="10932942"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1024257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istekten container'a HTTPS akışı</a:t>
              </a:r>
            </a:p>
          </p:txBody>
        </p:sp>
      </p:grpSp>
      <p:grpSp>
        <p:nvGrpSpPr>
          <p:cNvPr id="86" name="concept-map"/>
          <p:cNvGrpSpPr/>
          <p:nvPr/>
        </p:nvGrpSpPr>
        <p:grpSpPr>
          <a:xfrm>
            <a:off x="609600" y="1390650"/>
            <a:ext cx="10402976" cy="4791456"/>
            <a:chOff x="609600" y="1390650"/>
            <a:chExt cx="10402976" cy="4791456"/>
          </a:xfrm>
        </p:grpSpPr>
        <p:grpSp>
          <p:nvGrpSpPr>
            <p:cNvPr id="15" name="map-arrows"/>
            <p:cNvGrpSpPr/>
            <p:nvPr/>
          </p:nvGrpSpPr>
          <p:grpSpPr>
            <a:xfrm>
              <a:off x="2514600" y="2343150"/>
              <a:ext cx="6096000" cy="2571750"/>
              <a:chOff x="2514600" y="2343150"/>
              <a:chExt cx="6096000" cy="2571750"/>
            </a:xfrm>
          </p:grpSpPr>
          <p:sp>
            <p:nvSpPr>
              <p:cNvPr id="9" name="Line 9"/>
              <p:cNvSpPr/>
              <p:nvPr/>
            </p:nvSpPr>
            <p:spPr>
              <a:xfrm>
                <a:off x="2514600" y="3486150"/>
                <a:ext cx="381000" cy="1"/>
              </a:xfrm>
              <a:prstGeom prst="line">
                <a:avLst/>
              </a:prstGeom>
              <a:noFill/>
              <a:ln w="23812">
                <a:solidFill>
                  <a:srgbClr val="00A6A6"/>
                </a:solidFill>
                <a:tailEnd type="arrow" w="lg" len="lg"/>
              </a:ln>
            </p:spPr>
          </p:sp>
          <p:sp>
            <p:nvSpPr>
              <p:cNvPr id="10" name="Line 10"/>
              <p:cNvSpPr/>
              <p:nvPr/>
            </p:nvSpPr>
            <p:spPr>
              <a:xfrm>
                <a:off x="5372100" y="3486150"/>
                <a:ext cx="381000" cy="1"/>
              </a:xfrm>
              <a:prstGeom prst="line">
                <a:avLst/>
              </a:prstGeom>
              <a:noFill/>
              <a:ln w="23812">
                <a:solidFill>
                  <a:srgbClr val="00A6A6"/>
                </a:solidFill>
                <a:tailEnd type="arrow" w="lg" len="lg"/>
              </a:ln>
            </p:spPr>
          </p:sp>
          <p:sp>
            <p:nvSpPr>
              <p:cNvPr id="11" name="Line 11"/>
              <p:cNvSpPr/>
              <p:nvPr/>
            </p:nvSpPr>
            <p:spPr>
              <a:xfrm>
                <a:off x="8229600" y="3486150"/>
                <a:ext cx="381000" cy="1"/>
              </a:xfrm>
              <a:prstGeom prst="line">
                <a:avLst/>
              </a:prstGeom>
              <a:noFill/>
              <a:ln w="23812">
                <a:solidFill>
                  <a:srgbClr val="00A6A6"/>
                </a:solidFill>
                <a:tailEnd type="arrow" w="lg" len="lg"/>
              </a:ln>
            </p:spPr>
          </p:sp>
          <p:sp>
            <p:nvSpPr>
              <p:cNvPr id="12" name="Line 12"/>
              <p:cNvSpPr/>
              <p:nvPr/>
            </p:nvSpPr>
            <p:spPr>
              <a:xfrm>
                <a:off x="6991350" y="2343150"/>
                <a:ext cx="1" cy="666750"/>
              </a:xfrm>
              <a:prstGeom prst="line">
                <a:avLst/>
              </a:prstGeom>
              <a:noFill/>
              <a:ln w="19050">
                <a:solidFill>
                  <a:srgbClr val="52616B"/>
                </a:solidFill>
                <a:custDash>
                  <a:ds d="300000" sp="200000"/>
                </a:custDash>
                <a:tailEnd type="arrow" w="lg" len="lg"/>
              </a:ln>
            </p:spPr>
          </p:sp>
          <p:sp>
            <p:nvSpPr>
              <p:cNvPr id="13" name="Line 13"/>
              <p:cNvSpPr/>
              <p:nvPr/>
            </p:nvSpPr>
            <p:spPr>
              <a:xfrm>
                <a:off x="4191000" y="3962400"/>
                <a:ext cx="1" cy="952500"/>
              </a:xfrm>
              <a:prstGeom prst="line">
                <a:avLst/>
              </a:prstGeom>
              <a:noFill/>
              <a:ln w="19050">
                <a:solidFill>
                  <a:srgbClr val="52616B"/>
                </a:solidFill>
                <a:custDash>
                  <a:ds d="300000" sp="200000"/>
                </a:custDash>
                <a:tailEnd type="arrow" w="lg" len="lg"/>
              </a:ln>
            </p:spPr>
          </p:sp>
          <p:sp>
            <p:nvSpPr>
              <p:cNvPr id="14" name="Line 14"/>
              <p:cNvSpPr/>
              <p:nvPr/>
            </p:nvSpPr>
            <p:spPr>
              <a:xfrm flipH="1">
                <a:off x="5715000" y="3962400"/>
                <a:ext cx="1143000" cy="952500"/>
              </a:xfrm>
              <a:prstGeom prst="line">
                <a:avLst/>
              </a:prstGeom>
              <a:noFill/>
              <a:ln w="19050">
                <a:solidFill>
                  <a:srgbClr val="52616B"/>
                </a:solidFill>
                <a:custDash>
                  <a:ds d="300000" sp="200000"/>
                </a:custDash>
                <a:tailEnd type="arrow" w="lg" len="lg"/>
              </a:ln>
            </p:spPr>
          </p:sp>
        </p:grpSp>
        <p:grpSp>
          <p:nvGrpSpPr>
            <p:cNvPr id="26" name="map-node-client"/>
            <p:cNvGrpSpPr/>
            <p:nvPr/>
          </p:nvGrpSpPr>
          <p:grpSpPr>
            <a:xfrm>
              <a:off x="609600" y="3009900"/>
              <a:ext cx="2531212" cy="952500"/>
              <a:chOff x="609600" y="3009900"/>
              <a:chExt cx="2531212" cy="952500"/>
            </a:xfrm>
          </p:grpSpPr>
          <p:sp>
            <p:nvSpPr>
              <p:cNvPr id="16" name="Rectangle 16"/>
              <p:cNvSpPr/>
              <p:nvPr/>
            </p:nvSpPr>
            <p:spPr>
              <a:xfrm>
                <a:off x="609600" y="3009900"/>
                <a:ext cx="1905000" cy="952500"/>
              </a:xfrm>
              <a:prstGeom prst="roundRect">
                <a:avLst>
                  <a:gd name="adj" fmla="val 10000"/>
                </a:avLst>
              </a:prstGeom>
              <a:solidFill>
                <a:srgbClr val="12355B"/>
              </a:solidFill>
              <a:ln>
                <a:noFill/>
              </a:ln>
            </p:spPr>
          </p:sp>
          <p:grpSp>
            <p:nvGrpSpPr>
              <p:cNvPr id="22" name="map-icon-client"/>
              <p:cNvGrpSpPr/>
              <p:nvPr/>
            </p:nvGrpSpPr>
            <p:grpSpPr>
              <a:xfrm>
                <a:off x="847726" y="3171826"/>
                <a:ext cx="285756" cy="285756"/>
                <a:chOff x="847726" y="3171826"/>
                <a:chExt cx="285756" cy="285756"/>
              </a:xfrm>
            </p:grpSpPr>
            <p:sp>
              <p:nvSpPr>
                <p:cNvPr id="17" name="Freeform 17"/>
                <p:cNvSpPr/>
                <p:nvPr/>
              </p:nvSpPr>
              <p:spPr>
                <a:xfrm>
                  <a:off x="847726" y="3171826"/>
                  <a:ext cx="285756" cy="285756"/>
                </a:xfrm>
                <a:custGeom>
                  <a:avLst/>
                  <a:gdLst/>
                  <a:ahLst/>
                  <a:cxnLst/>
                  <a:rect l="l" t="t" r="r" b="b"/>
                  <a:pathLst>
                    <a:path w="285756" h="285756">
                      <a:moveTo>
                        <a:pt x="0" y="142878"/>
                      </a:moveTo>
                      <a:cubicBezTo>
                        <a:pt x="0" y="221787"/>
                        <a:pt x="63969" y="285756"/>
                        <a:pt x="142878" y="285756"/>
                      </a:cubicBezTo>
                      <a:cubicBezTo>
                        <a:pt x="221787" y="285756"/>
                        <a:pt x="285756" y="221787"/>
                        <a:pt x="285756" y="142878"/>
                      </a:cubicBezTo>
                      <a:cubicBezTo>
                        <a:pt x="285756" y="63969"/>
                        <a:pt x="221787" y="0"/>
                        <a:pt x="142878" y="0"/>
                      </a:cubicBezTo>
                      <a:cubicBezTo>
                        <a:pt x="63969" y="0"/>
                        <a:pt x="0" y="63969"/>
                        <a:pt x="0" y="142878"/>
                      </a:cubicBezTo>
                    </a:path>
                  </a:pathLst>
                </a:custGeom>
                <a:noFill/>
                <a:ln w="19050" cap="rnd">
                  <a:solidFill>
                    <a:srgbClr val="FFFFFF"/>
                  </a:solidFill>
                  <a:round/>
                </a:ln>
              </p:spPr>
            </p:sp>
            <p:sp>
              <p:nvSpPr>
                <p:cNvPr id="18" name="Freeform 18"/>
                <p:cNvSpPr/>
                <p:nvPr/>
              </p:nvSpPr>
              <p:spPr>
                <a:xfrm>
                  <a:off x="857251" y="3267078"/>
                  <a:ext cx="266705" cy="9525"/>
                </a:xfrm>
                <a:custGeom>
                  <a:avLst/>
                  <a:gdLst/>
                  <a:ahLst/>
                  <a:cxnLst/>
                  <a:rect l="l" t="t" r="r" b="b"/>
                  <a:pathLst>
                    <a:path w="266705" h="9525">
                      <a:moveTo>
                        <a:pt x="0" y="0"/>
                      </a:moveTo>
                      <a:lnTo>
                        <a:pt x="266705" y="0"/>
                      </a:lnTo>
                    </a:path>
                  </a:pathLst>
                </a:custGeom>
                <a:noFill/>
                <a:ln w="19050" cap="rnd">
                  <a:solidFill>
                    <a:srgbClr val="FFFFFF"/>
                  </a:solidFill>
                  <a:round/>
                </a:ln>
              </p:spPr>
            </p:sp>
            <p:sp>
              <p:nvSpPr>
                <p:cNvPr id="19" name="Freeform 19"/>
                <p:cNvSpPr/>
                <p:nvPr/>
              </p:nvSpPr>
              <p:spPr>
                <a:xfrm>
                  <a:off x="857251" y="3362330"/>
                  <a:ext cx="266705" cy="9525"/>
                </a:xfrm>
                <a:custGeom>
                  <a:avLst/>
                  <a:gdLst/>
                  <a:ahLst/>
                  <a:cxnLst/>
                  <a:rect l="l" t="t" r="r" b="b"/>
                  <a:pathLst>
                    <a:path w="266705" h="9525">
                      <a:moveTo>
                        <a:pt x="0" y="0"/>
                      </a:moveTo>
                      <a:lnTo>
                        <a:pt x="266705" y="0"/>
                      </a:lnTo>
                    </a:path>
                  </a:pathLst>
                </a:custGeom>
                <a:noFill/>
                <a:ln w="19050" cap="rnd">
                  <a:solidFill>
                    <a:srgbClr val="FFFFFF"/>
                  </a:solidFill>
                  <a:round/>
                </a:ln>
              </p:spPr>
            </p:sp>
            <p:sp>
              <p:nvSpPr>
                <p:cNvPr id="20" name="Freeform 20"/>
                <p:cNvSpPr/>
                <p:nvPr/>
              </p:nvSpPr>
              <p:spPr>
                <a:xfrm>
                  <a:off x="928102" y="3171826"/>
                  <a:ext cx="54564" cy="285756"/>
                </a:xfrm>
                <a:custGeom>
                  <a:avLst/>
                  <a:gdLst/>
                  <a:ahLst/>
                  <a:cxnLst/>
                  <a:rect l="l" t="t" r="r" b="b"/>
                  <a:pathLst>
                    <a:path w="54564" h="285756">
                      <a:moveTo>
                        <a:pt x="54564" y="0"/>
                      </a:moveTo>
                      <a:cubicBezTo>
                        <a:pt x="0" y="87438"/>
                        <a:pt x="0" y="198318"/>
                        <a:pt x="54564" y="285756"/>
                      </a:cubicBezTo>
                    </a:path>
                  </a:pathLst>
                </a:custGeom>
                <a:noFill/>
                <a:ln w="19050" cap="rnd">
                  <a:solidFill>
                    <a:srgbClr val="FFFFFF"/>
                  </a:solidFill>
                  <a:round/>
                </a:ln>
              </p:spPr>
            </p:sp>
            <p:sp>
              <p:nvSpPr>
                <p:cNvPr id="21" name="Freeform 21"/>
                <p:cNvSpPr/>
                <p:nvPr/>
              </p:nvSpPr>
              <p:spPr>
                <a:xfrm>
                  <a:off x="998541" y="3171826"/>
                  <a:ext cx="54564" cy="285756"/>
                </a:xfrm>
                <a:custGeom>
                  <a:avLst/>
                  <a:gdLst/>
                  <a:ahLst/>
                  <a:cxnLst/>
                  <a:rect l="l" t="t" r="r" b="b"/>
                  <a:pathLst>
                    <a:path w="54564" h="285756">
                      <a:moveTo>
                        <a:pt x="0" y="0"/>
                      </a:moveTo>
                      <a:cubicBezTo>
                        <a:pt x="54564" y="87438"/>
                        <a:pt x="54564" y="198318"/>
                        <a:pt x="0" y="285756"/>
                      </a:cubicBezTo>
                    </a:path>
                  </a:pathLst>
                </a:custGeom>
                <a:noFill/>
                <a:ln w="19050" cap="rnd">
                  <a:solidFill>
                    <a:srgbClr val="FFFFFF"/>
                  </a:solidFill>
                  <a:round/>
                </a:ln>
              </p:spPr>
            </p:sp>
          </p:grpSp>
          <p:sp>
            <p:nvSpPr>
              <p:cNvPr id="23" name="TextBox 23"/>
              <p:cNvSpPr txBox="1"/>
              <p:nvPr/>
            </p:nvSpPr>
            <p:spPr>
              <a:xfrm>
                <a:off x="1324356" y="3091815"/>
                <a:ext cx="992947" cy="352044"/>
              </a:xfrm>
              <a:prstGeom prst="rect">
                <a:avLst/>
              </a:prstGeom>
              <a:noFill/>
              <a:ln>
                <a:noFill/>
              </a:ln>
            </p:spPr>
            <p:txBody>
              <a:bodyPr wrap="none" lIns="0" tIns="0" rIns="0" bIns="0" anchor="t" anchorCtr="0">
                <a:spAutoFit/>
              </a:bodyPr>
              <a:lstStyle/>
              <a:p>
                <a:pPr algn="l"/>
                <a:r>
                  <a:rPr lang="tr-TR" sz="1800" b="1" dirty="0">
                    <a:solidFill>
                      <a:srgbClr val="FFFFFF"/>
                    </a:solidFill>
                    <a:latin typeface="+mn-lt"/>
                    <a:ea typeface="+mn-ea"/>
                    <a:cs typeface="+mn-cs"/>
                  </a:rPr>
                  <a:t>İstemci</a:t>
                </a:r>
              </a:p>
            </p:txBody>
          </p:sp>
          <p:sp>
            <p:nvSpPr>
              <p:cNvPr id="24" name="TextBox 24"/>
              <p:cNvSpPr txBox="1"/>
              <p:nvPr/>
            </p:nvSpPr>
            <p:spPr>
              <a:xfrm>
                <a:off x="1327404" y="3413760"/>
                <a:ext cx="181340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kutuphane.mehmetakif</a:t>
                </a:r>
              </a:p>
            </p:txBody>
          </p:sp>
          <p:sp>
            <p:nvSpPr>
              <p:cNvPr id="25" name="TextBox 25"/>
              <p:cNvSpPr txBox="1"/>
              <p:nvPr/>
            </p:nvSpPr>
            <p:spPr>
              <a:xfrm>
                <a:off x="1327404" y="3604260"/>
                <a:ext cx="63413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.edu.tr</a:t>
                </a:r>
              </a:p>
            </p:txBody>
          </p:sp>
        </p:grpSp>
        <p:grpSp>
          <p:nvGrpSpPr>
            <p:cNvPr id="35" name="map-node-nginx"/>
            <p:cNvGrpSpPr/>
            <p:nvPr/>
          </p:nvGrpSpPr>
          <p:grpSpPr>
            <a:xfrm>
              <a:off x="2895600" y="3009900"/>
              <a:ext cx="2585692" cy="952500"/>
              <a:chOff x="2895600" y="3009900"/>
              <a:chExt cx="2585692" cy="952500"/>
            </a:xfrm>
          </p:grpSpPr>
          <p:sp>
            <p:nvSpPr>
              <p:cNvPr id="27" name="Rectangle 27"/>
              <p:cNvSpPr/>
              <p:nvPr/>
            </p:nvSpPr>
            <p:spPr>
              <a:xfrm>
                <a:off x="2895600" y="3009900"/>
                <a:ext cx="2476500" cy="952500"/>
              </a:xfrm>
              <a:prstGeom prst="roundRect">
                <a:avLst>
                  <a:gd name="adj" fmla="val 10000"/>
                </a:avLst>
              </a:prstGeom>
              <a:solidFill>
                <a:srgbClr val="FFFFFF"/>
              </a:solidFill>
              <a:ln w="14288">
                <a:solidFill>
                  <a:srgbClr val="00A6A6"/>
                </a:solidFill>
              </a:ln>
            </p:spPr>
          </p:sp>
          <p:grpSp>
            <p:nvGrpSpPr>
              <p:cNvPr id="31" name="map-icon-nginx"/>
              <p:cNvGrpSpPr/>
              <p:nvPr/>
            </p:nvGrpSpPr>
            <p:grpSpPr>
              <a:xfrm>
                <a:off x="3165477" y="3155951"/>
                <a:ext cx="222254" cy="301630"/>
                <a:chOff x="3165477" y="3155951"/>
                <a:chExt cx="222254" cy="301630"/>
              </a:xfrm>
            </p:grpSpPr>
            <p:sp>
              <p:nvSpPr>
                <p:cNvPr id="28" name="Freeform 28"/>
                <p:cNvSpPr/>
                <p:nvPr/>
              </p:nvSpPr>
              <p:spPr>
                <a:xfrm>
                  <a:off x="3165477" y="3298828"/>
                  <a:ext cx="222254" cy="158753"/>
                </a:xfrm>
                <a:custGeom>
                  <a:avLst/>
                  <a:gdLst/>
                  <a:ahLst/>
                  <a:cxnLst/>
                  <a:rect l="l" t="t" r="r" b="b"/>
                  <a:pathLst>
                    <a:path w="222254" h="158753">
                      <a:moveTo>
                        <a:pt x="0" y="31751"/>
                      </a:moveTo>
                      <a:cubicBezTo>
                        <a:pt x="0" y="14215"/>
                        <a:pt x="14215" y="0"/>
                        <a:pt x="31751" y="0"/>
                      </a:cubicBezTo>
                      <a:lnTo>
                        <a:pt x="190504" y="0"/>
                      </a:lnTo>
                      <a:cubicBezTo>
                        <a:pt x="208039" y="0"/>
                        <a:pt x="222254" y="14215"/>
                        <a:pt x="222254" y="31751"/>
                      </a:cubicBezTo>
                      <a:lnTo>
                        <a:pt x="222254" y="127003"/>
                      </a:lnTo>
                      <a:cubicBezTo>
                        <a:pt x="222254" y="144538"/>
                        <a:pt x="208039" y="158753"/>
                        <a:pt x="190504" y="158753"/>
                      </a:cubicBezTo>
                      <a:lnTo>
                        <a:pt x="31751" y="158753"/>
                      </a:lnTo>
                      <a:cubicBezTo>
                        <a:pt x="14215" y="158753"/>
                        <a:pt x="0" y="144538"/>
                        <a:pt x="0" y="127003"/>
                      </a:cubicBezTo>
                      <a:lnTo>
                        <a:pt x="0" y="31751"/>
                      </a:lnTo>
                    </a:path>
                  </a:pathLst>
                </a:custGeom>
                <a:noFill/>
                <a:ln w="19050" cap="rnd">
                  <a:solidFill>
                    <a:srgbClr val="00A6A6"/>
                  </a:solidFill>
                  <a:round/>
                </a:ln>
              </p:spPr>
            </p:sp>
            <p:sp>
              <p:nvSpPr>
                <p:cNvPr id="29" name="Freeform 29"/>
                <p:cNvSpPr/>
                <p:nvPr/>
              </p:nvSpPr>
              <p:spPr>
                <a:xfrm>
                  <a:off x="3260728" y="3362330"/>
                  <a:ext cx="31751" cy="31751"/>
                </a:xfrm>
                <a:custGeom>
                  <a:avLst/>
                  <a:gdLst/>
                  <a:ahLst/>
                  <a:cxnLst/>
                  <a:rect l="l" t="t" r="r" b="b"/>
                  <a:pathLst>
                    <a:path w="31751" h="31751">
                      <a:moveTo>
                        <a:pt x="0" y="15875"/>
                      </a:moveTo>
                      <a:cubicBezTo>
                        <a:pt x="0" y="24643"/>
                        <a:pt x="7108" y="31751"/>
                        <a:pt x="15875" y="31751"/>
                      </a:cubicBezTo>
                      <a:cubicBezTo>
                        <a:pt x="24643" y="31751"/>
                        <a:pt x="31751" y="24643"/>
                        <a:pt x="31751" y="15875"/>
                      </a:cubicBezTo>
                      <a:cubicBezTo>
                        <a:pt x="31751" y="7108"/>
                        <a:pt x="24643" y="0"/>
                        <a:pt x="15875" y="0"/>
                      </a:cubicBezTo>
                      <a:cubicBezTo>
                        <a:pt x="7108" y="0"/>
                        <a:pt x="0" y="7108"/>
                        <a:pt x="0" y="15875"/>
                      </a:cubicBezTo>
                    </a:path>
                  </a:pathLst>
                </a:custGeom>
                <a:noFill/>
                <a:ln w="19050" cap="rnd">
                  <a:solidFill>
                    <a:srgbClr val="00A6A6"/>
                  </a:solidFill>
                  <a:round/>
                </a:ln>
              </p:spPr>
            </p:sp>
            <p:sp>
              <p:nvSpPr>
                <p:cNvPr id="30" name="Freeform 30"/>
                <p:cNvSpPr/>
                <p:nvPr/>
              </p:nvSpPr>
              <p:spPr>
                <a:xfrm>
                  <a:off x="3213103" y="3155951"/>
                  <a:ext cx="127003" cy="142878"/>
                </a:xfrm>
                <a:custGeom>
                  <a:avLst/>
                  <a:gdLst/>
                  <a:ahLst/>
                  <a:cxnLst/>
                  <a:rect l="l" t="t" r="r" b="b"/>
                  <a:pathLst>
                    <a:path w="127003" h="142878">
                      <a:moveTo>
                        <a:pt x="0" y="142878"/>
                      </a:moveTo>
                      <a:lnTo>
                        <a:pt x="0" y="63501"/>
                      </a:lnTo>
                      <a:cubicBezTo>
                        <a:pt x="0" y="28430"/>
                        <a:pt x="28430" y="0"/>
                        <a:pt x="63501" y="0"/>
                      </a:cubicBezTo>
                      <a:cubicBezTo>
                        <a:pt x="98572" y="0"/>
                        <a:pt x="127003" y="28430"/>
                        <a:pt x="127003" y="63501"/>
                      </a:cubicBezTo>
                    </a:path>
                  </a:pathLst>
                </a:custGeom>
                <a:noFill/>
                <a:ln w="19050" cap="rnd">
                  <a:solidFill>
                    <a:srgbClr val="00A6A6"/>
                  </a:solidFill>
                  <a:round/>
                </a:ln>
              </p:spPr>
            </p:sp>
          </p:grpSp>
          <p:sp>
            <p:nvSpPr>
              <p:cNvPr id="32" name="TextBox 32"/>
              <p:cNvSpPr txBox="1"/>
              <p:nvPr/>
            </p:nvSpPr>
            <p:spPr>
              <a:xfrm>
                <a:off x="3610356" y="3091815"/>
                <a:ext cx="187093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Nginx (80/443)</a:t>
                </a:r>
              </a:p>
            </p:txBody>
          </p:sp>
          <p:sp>
            <p:nvSpPr>
              <p:cNvPr id="33" name="TextBox 33"/>
              <p:cNvSpPr txBox="1"/>
              <p:nvPr/>
            </p:nvSpPr>
            <p:spPr>
              <a:xfrm>
                <a:off x="3613404" y="3413760"/>
                <a:ext cx="140197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TLS sonlandırma,</a:t>
                </a:r>
              </a:p>
            </p:txBody>
          </p:sp>
          <p:sp>
            <p:nvSpPr>
              <p:cNvPr id="34" name="TextBox 34"/>
              <p:cNvSpPr txBox="1"/>
              <p:nvPr/>
            </p:nvSpPr>
            <p:spPr>
              <a:xfrm>
                <a:off x="3613404" y="3604260"/>
                <a:ext cx="112684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reverse proxy</a:t>
                </a:r>
              </a:p>
            </p:txBody>
          </p:sp>
        </p:grpSp>
        <p:grpSp>
          <p:nvGrpSpPr>
            <p:cNvPr id="51" name="map-node-backend"/>
            <p:cNvGrpSpPr/>
            <p:nvPr/>
          </p:nvGrpSpPr>
          <p:grpSpPr>
            <a:xfrm>
              <a:off x="5753100" y="3009900"/>
              <a:ext cx="2676601" cy="952500"/>
              <a:chOff x="5753100" y="3009900"/>
              <a:chExt cx="2676601" cy="952500"/>
            </a:xfrm>
          </p:grpSpPr>
          <p:sp>
            <p:nvSpPr>
              <p:cNvPr id="36" name="Rectangle 36"/>
              <p:cNvSpPr/>
              <p:nvPr/>
            </p:nvSpPr>
            <p:spPr>
              <a:xfrm>
                <a:off x="5753100" y="3009900"/>
                <a:ext cx="2476500" cy="952500"/>
              </a:xfrm>
              <a:prstGeom prst="roundRect">
                <a:avLst>
                  <a:gd name="adj" fmla="val 10000"/>
                </a:avLst>
              </a:prstGeom>
              <a:solidFill>
                <a:srgbClr val="FFFFFF"/>
              </a:solidFill>
              <a:ln w="14288">
                <a:solidFill>
                  <a:srgbClr val="2E86AB"/>
                </a:solidFill>
              </a:ln>
            </p:spPr>
          </p:sp>
          <p:grpSp>
            <p:nvGrpSpPr>
              <p:cNvPr id="47" name="map-icon-backend"/>
              <p:cNvGrpSpPr/>
              <p:nvPr/>
            </p:nvGrpSpPr>
            <p:grpSpPr>
              <a:xfrm>
                <a:off x="5991226" y="3171826"/>
                <a:ext cx="285756" cy="285756"/>
                <a:chOff x="5991226" y="3171826"/>
                <a:chExt cx="285756" cy="285756"/>
              </a:xfrm>
            </p:grpSpPr>
            <p:sp>
              <p:nvSpPr>
                <p:cNvPr id="37" name="Freeform 37"/>
                <p:cNvSpPr/>
                <p:nvPr/>
              </p:nvSpPr>
              <p:spPr>
                <a:xfrm>
                  <a:off x="6022977" y="3203577"/>
                  <a:ext cx="222254" cy="222254"/>
                </a:xfrm>
                <a:custGeom>
                  <a:avLst/>
                  <a:gdLst/>
                  <a:ahLst/>
                  <a:cxnLst/>
                  <a:rect l="l" t="t" r="r" b="b"/>
                  <a:pathLst>
                    <a:path w="222254" h="222254">
                      <a:moveTo>
                        <a:pt x="0" y="15875"/>
                      </a:moveTo>
                      <a:cubicBezTo>
                        <a:pt x="0" y="7108"/>
                        <a:pt x="7108" y="0"/>
                        <a:pt x="15875" y="0"/>
                      </a:cubicBezTo>
                      <a:lnTo>
                        <a:pt x="206379" y="0"/>
                      </a:lnTo>
                      <a:cubicBezTo>
                        <a:pt x="215147" y="0"/>
                        <a:pt x="222254" y="7108"/>
                        <a:pt x="222254" y="15875"/>
                      </a:cubicBezTo>
                      <a:lnTo>
                        <a:pt x="222254" y="206379"/>
                      </a:lnTo>
                      <a:cubicBezTo>
                        <a:pt x="222254" y="215147"/>
                        <a:pt x="215147" y="222254"/>
                        <a:pt x="206379" y="222254"/>
                      </a:cubicBezTo>
                      <a:lnTo>
                        <a:pt x="15875" y="222254"/>
                      </a:lnTo>
                      <a:cubicBezTo>
                        <a:pt x="7108" y="222254"/>
                        <a:pt x="0" y="215147"/>
                        <a:pt x="0" y="206379"/>
                      </a:cubicBezTo>
                      <a:lnTo>
                        <a:pt x="0" y="15875"/>
                      </a:lnTo>
                    </a:path>
                  </a:pathLst>
                </a:custGeom>
                <a:noFill/>
                <a:ln w="19050" cap="rnd">
                  <a:solidFill>
                    <a:srgbClr val="2E86AB"/>
                  </a:solidFill>
                  <a:round/>
                </a:ln>
              </p:spPr>
            </p:sp>
            <p:sp>
              <p:nvSpPr>
                <p:cNvPr id="38" name="Freeform 38"/>
                <p:cNvSpPr/>
                <p:nvPr/>
              </p:nvSpPr>
              <p:spPr>
                <a:xfrm>
                  <a:off x="6086478" y="3267078"/>
                  <a:ext cx="95252" cy="95252"/>
                </a:xfrm>
                <a:custGeom>
                  <a:avLst/>
                  <a:gdLst/>
                  <a:ahLst/>
                  <a:cxnLst/>
                  <a:rect l="l" t="t" r="r" b="b"/>
                  <a:pathLst>
                    <a:path w="95252" h="95252">
                      <a:moveTo>
                        <a:pt x="0" y="0"/>
                      </a:moveTo>
                      <a:lnTo>
                        <a:pt x="95252" y="0"/>
                      </a:lnTo>
                      <a:lnTo>
                        <a:pt x="95252" y="95252"/>
                      </a:lnTo>
                      <a:lnTo>
                        <a:pt x="0" y="95252"/>
                      </a:lnTo>
                      <a:lnTo>
                        <a:pt x="0" y="0"/>
                      </a:lnTo>
                    </a:path>
                  </a:pathLst>
                </a:custGeom>
                <a:noFill/>
                <a:ln w="19050" cap="rnd">
                  <a:solidFill>
                    <a:srgbClr val="2E86AB"/>
                  </a:solidFill>
                  <a:round/>
                </a:ln>
              </p:spPr>
            </p:sp>
            <p:sp>
              <p:nvSpPr>
                <p:cNvPr id="39" name="Freeform 39"/>
                <p:cNvSpPr/>
                <p:nvPr/>
              </p:nvSpPr>
              <p:spPr>
                <a:xfrm>
                  <a:off x="5991226" y="3282953"/>
                  <a:ext cx="31751" cy="9525"/>
                </a:xfrm>
                <a:custGeom>
                  <a:avLst/>
                  <a:gdLst/>
                  <a:ahLst/>
                  <a:cxnLst/>
                  <a:rect l="l" t="t" r="r" b="b"/>
                  <a:pathLst>
                    <a:path w="31751" h="9525">
                      <a:moveTo>
                        <a:pt x="0" y="0"/>
                      </a:moveTo>
                      <a:lnTo>
                        <a:pt x="31751" y="0"/>
                      </a:lnTo>
                    </a:path>
                  </a:pathLst>
                </a:custGeom>
                <a:noFill/>
                <a:ln w="19050" cap="rnd">
                  <a:solidFill>
                    <a:srgbClr val="2E86AB"/>
                  </a:solidFill>
                  <a:round/>
                </a:ln>
              </p:spPr>
            </p:sp>
            <p:sp>
              <p:nvSpPr>
                <p:cNvPr id="40" name="Freeform 40"/>
                <p:cNvSpPr/>
                <p:nvPr/>
              </p:nvSpPr>
              <p:spPr>
                <a:xfrm>
                  <a:off x="5991226" y="3346454"/>
                  <a:ext cx="31751" cy="9525"/>
                </a:xfrm>
                <a:custGeom>
                  <a:avLst/>
                  <a:gdLst/>
                  <a:ahLst/>
                  <a:cxnLst/>
                  <a:rect l="l" t="t" r="r" b="b"/>
                  <a:pathLst>
                    <a:path w="31751" h="9525">
                      <a:moveTo>
                        <a:pt x="0" y="0"/>
                      </a:moveTo>
                      <a:lnTo>
                        <a:pt x="31751" y="0"/>
                      </a:lnTo>
                    </a:path>
                  </a:pathLst>
                </a:custGeom>
                <a:noFill/>
                <a:ln w="19050" cap="rnd">
                  <a:solidFill>
                    <a:srgbClr val="2E86AB"/>
                  </a:solidFill>
                  <a:round/>
                </a:ln>
              </p:spPr>
            </p:sp>
            <p:sp>
              <p:nvSpPr>
                <p:cNvPr id="41" name="Freeform 41"/>
                <p:cNvSpPr/>
                <p:nvPr/>
              </p:nvSpPr>
              <p:spPr>
                <a:xfrm>
                  <a:off x="6102353" y="3171826"/>
                  <a:ext cx="9525" cy="31751"/>
                </a:xfrm>
                <a:custGeom>
                  <a:avLst/>
                  <a:gdLst/>
                  <a:ahLst/>
                  <a:cxnLst/>
                  <a:rect l="l" t="t" r="r" b="b"/>
                  <a:pathLst>
                    <a:path w="9525" h="31751">
                      <a:moveTo>
                        <a:pt x="0" y="0"/>
                      </a:moveTo>
                      <a:lnTo>
                        <a:pt x="0" y="31751"/>
                      </a:lnTo>
                    </a:path>
                  </a:pathLst>
                </a:custGeom>
                <a:noFill/>
                <a:ln w="19050" cap="rnd">
                  <a:solidFill>
                    <a:srgbClr val="2E86AB"/>
                  </a:solidFill>
                  <a:round/>
                </a:ln>
              </p:spPr>
            </p:sp>
            <p:sp>
              <p:nvSpPr>
                <p:cNvPr id="42" name="Freeform 42"/>
                <p:cNvSpPr/>
                <p:nvPr/>
              </p:nvSpPr>
              <p:spPr>
                <a:xfrm>
                  <a:off x="6165854" y="3171826"/>
                  <a:ext cx="9525" cy="31751"/>
                </a:xfrm>
                <a:custGeom>
                  <a:avLst/>
                  <a:gdLst/>
                  <a:ahLst/>
                  <a:cxnLst/>
                  <a:rect l="l" t="t" r="r" b="b"/>
                  <a:pathLst>
                    <a:path w="9525" h="31751">
                      <a:moveTo>
                        <a:pt x="0" y="0"/>
                      </a:moveTo>
                      <a:lnTo>
                        <a:pt x="0" y="31751"/>
                      </a:lnTo>
                    </a:path>
                  </a:pathLst>
                </a:custGeom>
                <a:noFill/>
                <a:ln w="19050" cap="rnd">
                  <a:solidFill>
                    <a:srgbClr val="2E86AB"/>
                  </a:solidFill>
                  <a:round/>
                </a:ln>
              </p:spPr>
            </p:sp>
            <p:sp>
              <p:nvSpPr>
                <p:cNvPr id="43" name="Freeform 43"/>
                <p:cNvSpPr/>
                <p:nvPr/>
              </p:nvSpPr>
              <p:spPr>
                <a:xfrm>
                  <a:off x="6245231" y="3282953"/>
                  <a:ext cx="31751" cy="9525"/>
                </a:xfrm>
                <a:custGeom>
                  <a:avLst/>
                  <a:gdLst/>
                  <a:ahLst/>
                  <a:cxnLst/>
                  <a:rect l="l" t="t" r="r" b="b"/>
                  <a:pathLst>
                    <a:path w="31751" h="9525">
                      <a:moveTo>
                        <a:pt x="31751" y="0"/>
                      </a:moveTo>
                      <a:lnTo>
                        <a:pt x="0" y="0"/>
                      </a:lnTo>
                    </a:path>
                  </a:pathLst>
                </a:custGeom>
                <a:noFill/>
                <a:ln w="19050" cap="rnd">
                  <a:solidFill>
                    <a:srgbClr val="2E86AB"/>
                  </a:solidFill>
                  <a:round/>
                </a:ln>
              </p:spPr>
            </p:sp>
            <p:sp>
              <p:nvSpPr>
                <p:cNvPr id="44" name="Freeform 44"/>
                <p:cNvSpPr/>
                <p:nvPr/>
              </p:nvSpPr>
              <p:spPr>
                <a:xfrm>
                  <a:off x="6245231" y="3346454"/>
                  <a:ext cx="31751" cy="9525"/>
                </a:xfrm>
                <a:custGeom>
                  <a:avLst/>
                  <a:gdLst/>
                  <a:ahLst/>
                  <a:cxnLst/>
                  <a:rect l="l" t="t" r="r" b="b"/>
                  <a:pathLst>
                    <a:path w="31751" h="9525">
                      <a:moveTo>
                        <a:pt x="31751" y="0"/>
                      </a:moveTo>
                      <a:lnTo>
                        <a:pt x="0" y="0"/>
                      </a:lnTo>
                    </a:path>
                  </a:pathLst>
                </a:custGeom>
                <a:noFill/>
                <a:ln w="19050" cap="rnd">
                  <a:solidFill>
                    <a:srgbClr val="2E86AB"/>
                  </a:solidFill>
                  <a:round/>
                </a:ln>
              </p:spPr>
            </p:sp>
            <p:sp>
              <p:nvSpPr>
                <p:cNvPr id="45" name="Freeform 45"/>
                <p:cNvSpPr/>
                <p:nvPr/>
              </p:nvSpPr>
              <p:spPr>
                <a:xfrm>
                  <a:off x="6165854" y="3425831"/>
                  <a:ext cx="9525" cy="31751"/>
                </a:xfrm>
                <a:custGeom>
                  <a:avLst/>
                  <a:gdLst/>
                  <a:ahLst/>
                  <a:cxnLst/>
                  <a:rect l="l" t="t" r="r" b="b"/>
                  <a:pathLst>
                    <a:path w="9525" h="31751">
                      <a:moveTo>
                        <a:pt x="0" y="31751"/>
                      </a:moveTo>
                      <a:lnTo>
                        <a:pt x="0" y="0"/>
                      </a:lnTo>
                    </a:path>
                  </a:pathLst>
                </a:custGeom>
                <a:noFill/>
                <a:ln w="19050" cap="rnd">
                  <a:solidFill>
                    <a:srgbClr val="2E86AB"/>
                  </a:solidFill>
                  <a:round/>
                </a:ln>
              </p:spPr>
            </p:sp>
            <p:sp>
              <p:nvSpPr>
                <p:cNvPr id="46" name="Freeform 46"/>
                <p:cNvSpPr/>
                <p:nvPr/>
              </p:nvSpPr>
              <p:spPr>
                <a:xfrm>
                  <a:off x="6102353" y="3425831"/>
                  <a:ext cx="9525" cy="31751"/>
                </a:xfrm>
                <a:custGeom>
                  <a:avLst/>
                  <a:gdLst/>
                  <a:ahLst/>
                  <a:cxnLst/>
                  <a:rect l="l" t="t" r="r" b="b"/>
                  <a:pathLst>
                    <a:path w="9525" h="31751">
                      <a:moveTo>
                        <a:pt x="0" y="31751"/>
                      </a:moveTo>
                      <a:lnTo>
                        <a:pt x="0" y="0"/>
                      </a:lnTo>
                    </a:path>
                  </a:pathLst>
                </a:custGeom>
                <a:noFill/>
                <a:ln w="19050" cap="rnd">
                  <a:solidFill>
                    <a:srgbClr val="2E86AB"/>
                  </a:solidFill>
                  <a:round/>
                </a:ln>
              </p:spPr>
            </p:sp>
          </p:grpSp>
          <p:sp>
            <p:nvSpPr>
              <p:cNvPr id="48" name="TextBox 48"/>
              <p:cNvSpPr txBox="1"/>
              <p:nvPr/>
            </p:nvSpPr>
            <p:spPr>
              <a:xfrm>
                <a:off x="6467856" y="3091815"/>
                <a:ext cx="166969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API container</a:t>
                </a:r>
              </a:p>
            </p:txBody>
          </p:sp>
          <p:sp>
            <p:nvSpPr>
              <p:cNvPr id="49" name="TextBox 49"/>
              <p:cNvSpPr txBox="1"/>
              <p:nvPr/>
            </p:nvSpPr>
            <p:spPr>
              <a:xfrm>
                <a:off x="6470904" y="3413760"/>
                <a:ext cx="125608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127.0.0.1:3000</a:t>
                </a:r>
              </a:p>
            </p:txBody>
          </p:sp>
          <p:sp>
            <p:nvSpPr>
              <p:cNvPr id="50" name="TextBox 50"/>
              <p:cNvSpPr txBox="1"/>
              <p:nvPr/>
            </p:nvSpPr>
            <p:spPr>
              <a:xfrm>
                <a:off x="6470904" y="3604260"/>
                <a:ext cx="195879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yalnızca iç ağdan erişilir</a:t>
                </a:r>
              </a:p>
            </p:txBody>
          </p:sp>
        </p:grpSp>
        <p:grpSp>
          <p:nvGrpSpPr>
            <p:cNvPr id="60" name="map-node-db"/>
            <p:cNvGrpSpPr/>
            <p:nvPr/>
          </p:nvGrpSpPr>
          <p:grpSpPr>
            <a:xfrm>
              <a:off x="8610600" y="3009900"/>
              <a:ext cx="2401976" cy="952500"/>
              <a:chOff x="8610600" y="3009900"/>
              <a:chExt cx="2401976" cy="952500"/>
            </a:xfrm>
          </p:grpSpPr>
          <p:sp>
            <p:nvSpPr>
              <p:cNvPr id="52" name="Rectangle 52"/>
              <p:cNvSpPr/>
              <p:nvPr/>
            </p:nvSpPr>
            <p:spPr>
              <a:xfrm>
                <a:off x="8610600" y="3009900"/>
                <a:ext cx="2095500" cy="952500"/>
              </a:xfrm>
              <a:prstGeom prst="roundRect">
                <a:avLst>
                  <a:gd name="adj" fmla="val 10000"/>
                </a:avLst>
              </a:prstGeom>
              <a:solidFill>
                <a:srgbClr val="EAF4F6"/>
              </a:solidFill>
              <a:ln w="14288">
                <a:solidFill>
                  <a:srgbClr val="B8CBD3"/>
                </a:solidFill>
              </a:ln>
            </p:spPr>
          </p:sp>
          <p:grpSp>
            <p:nvGrpSpPr>
              <p:cNvPr id="56" name="map-icon-db"/>
              <p:cNvGrpSpPr/>
              <p:nvPr/>
            </p:nvGrpSpPr>
            <p:grpSpPr>
              <a:xfrm>
                <a:off x="8864601" y="3171826"/>
                <a:ext cx="254005" cy="285756"/>
                <a:chOff x="8864601" y="3171826"/>
                <a:chExt cx="254005" cy="285756"/>
              </a:xfrm>
            </p:grpSpPr>
            <p:sp>
              <p:nvSpPr>
                <p:cNvPr id="53" name="Freeform 53"/>
                <p:cNvSpPr/>
                <p:nvPr/>
              </p:nvSpPr>
              <p:spPr>
                <a:xfrm>
                  <a:off x="8864601" y="3171826"/>
                  <a:ext cx="254005" cy="95252"/>
                </a:xfrm>
                <a:custGeom>
                  <a:avLst/>
                  <a:gdLst/>
                  <a:ahLst/>
                  <a:cxnLst/>
                  <a:rect l="l" t="t" r="r" b="b"/>
                  <a:pathLst>
                    <a:path w="254005" h="95252">
                      <a:moveTo>
                        <a:pt x="0" y="47626"/>
                      </a:moveTo>
                      <a:cubicBezTo>
                        <a:pt x="0" y="73929"/>
                        <a:pt x="56861" y="95252"/>
                        <a:pt x="127003" y="95252"/>
                      </a:cubicBezTo>
                      <a:cubicBezTo>
                        <a:pt x="197144" y="95252"/>
                        <a:pt x="254005" y="73929"/>
                        <a:pt x="254005" y="47626"/>
                      </a:cubicBezTo>
                      <a:cubicBezTo>
                        <a:pt x="254005" y="21323"/>
                        <a:pt x="197144" y="0"/>
                        <a:pt x="127003" y="0"/>
                      </a:cubicBezTo>
                      <a:cubicBezTo>
                        <a:pt x="56861" y="0"/>
                        <a:pt x="0" y="21323"/>
                        <a:pt x="0" y="47626"/>
                      </a:cubicBezTo>
                    </a:path>
                  </a:pathLst>
                </a:custGeom>
                <a:noFill/>
                <a:ln w="19050" cap="rnd">
                  <a:solidFill>
                    <a:srgbClr val="52616B"/>
                  </a:solidFill>
                  <a:round/>
                </a:ln>
              </p:spPr>
            </p:sp>
            <p:sp>
              <p:nvSpPr>
                <p:cNvPr id="54" name="Freeform 54"/>
                <p:cNvSpPr/>
                <p:nvPr/>
              </p:nvSpPr>
              <p:spPr>
                <a:xfrm>
                  <a:off x="8864601" y="3219452"/>
                  <a:ext cx="254005" cy="142878"/>
                </a:xfrm>
                <a:custGeom>
                  <a:avLst/>
                  <a:gdLst/>
                  <a:ahLst/>
                  <a:cxnLst/>
                  <a:rect l="l" t="t" r="r" b="b"/>
                  <a:pathLst>
                    <a:path w="254005" h="142878">
                      <a:moveTo>
                        <a:pt x="0" y="0"/>
                      </a:moveTo>
                      <a:lnTo>
                        <a:pt x="0" y="95252"/>
                      </a:lnTo>
                      <a:cubicBezTo>
                        <a:pt x="0" y="121555"/>
                        <a:pt x="56861" y="142878"/>
                        <a:pt x="127003" y="142878"/>
                      </a:cubicBezTo>
                      <a:cubicBezTo>
                        <a:pt x="197144" y="142878"/>
                        <a:pt x="254005" y="121555"/>
                        <a:pt x="254005" y="95252"/>
                      </a:cubicBezTo>
                      <a:lnTo>
                        <a:pt x="254005" y="0"/>
                      </a:lnTo>
                    </a:path>
                  </a:pathLst>
                </a:custGeom>
                <a:noFill/>
                <a:ln w="19050" cap="rnd">
                  <a:solidFill>
                    <a:srgbClr val="52616B"/>
                  </a:solidFill>
                  <a:round/>
                </a:ln>
              </p:spPr>
            </p:sp>
            <p:sp>
              <p:nvSpPr>
                <p:cNvPr id="55" name="Freeform 55"/>
                <p:cNvSpPr/>
                <p:nvPr/>
              </p:nvSpPr>
              <p:spPr>
                <a:xfrm>
                  <a:off x="8864601" y="3314704"/>
                  <a:ext cx="254005" cy="142878"/>
                </a:xfrm>
                <a:custGeom>
                  <a:avLst/>
                  <a:gdLst/>
                  <a:ahLst/>
                  <a:cxnLst/>
                  <a:rect l="l" t="t" r="r" b="b"/>
                  <a:pathLst>
                    <a:path w="254005" h="142878">
                      <a:moveTo>
                        <a:pt x="0" y="0"/>
                      </a:moveTo>
                      <a:lnTo>
                        <a:pt x="0" y="95252"/>
                      </a:lnTo>
                      <a:cubicBezTo>
                        <a:pt x="0" y="121555"/>
                        <a:pt x="56861" y="142878"/>
                        <a:pt x="127003" y="142878"/>
                      </a:cubicBezTo>
                      <a:cubicBezTo>
                        <a:pt x="197144" y="142878"/>
                        <a:pt x="254005" y="121555"/>
                        <a:pt x="254005" y="95252"/>
                      </a:cubicBezTo>
                      <a:lnTo>
                        <a:pt x="254005" y="0"/>
                      </a:lnTo>
                    </a:path>
                  </a:pathLst>
                </a:custGeom>
                <a:noFill/>
                <a:ln w="19050" cap="rnd">
                  <a:solidFill>
                    <a:srgbClr val="52616B"/>
                  </a:solidFill>
                  <a:round/>
                </a:ln>
              </p:spPr>
            </p:sp>
          </p:grpSp>
          <p:sp>
            <p:nvSpPr>
              <p:cNvPr id="57" name="TextBox 57"/>
              <p:cNvSpPr txBox="1"/>
              <p:nvPr/>
            </p:nvSpPr>
            <p:spPr>
              <a:xfrm>
                <a:off x="9325356" y="3091815"/>
                <a:ext cx="150138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PostgreSQL</a:t>
                </a:r>
              </a:p>
            </p:txBody>
          </p:sp>
          <p:sp>
            <p:nvSpPr>
              <p:cNvPr id="58" name="TextBox 58"/>
              <p:cNvSpPr txBox="1"/>
              <p:nvPr/>
            </p:nvSpPr>
            <p:spPr>
              <a:xfrm>
                <a:off x="9328404" y="3413760"/>
                <a:ext cx="136108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yalnızca iç ağdan</a:t>
                </a:r>
              </a:p>
            </p:txBody>
          </p:sp>
          <p:sp>
            <p:nvSpPr>
              <p:cNvPr id="59" name="TextBox 59"/>
              <p:cNvSpPr txBox="1"/>
              <p:nvPr/>
            </p:nvSpPr>
            <p:spPr>
              <a:xfrm>
                <a:off x="9328404" y="3604260"/>
                <a:ext cx="168417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erişilir (5432 kapalı)</a:t>
                </a:r>
              </a:p>
            </p:txBody>
          </p:sp>
        </p:grpSp>
        <p:grpSp>
          <p:nvGrpSpPr>
            <p:cNvPr id="69" name="map-node-deploy"/>
            <p:cNvGrpSpPr/>
            <p:nvPr/>
          </p:nvGrpSpPr>
          <p:grpSpPr>
            <a:xfrm>
              <a:off x="5753100" y="1390650"/>
              <a:ext cx="2975458" cy="952500"/>
              <a:chOff x="5753100" y="1390650"/>
              <a:chExt cx="2975458" cy="952500"/>
            </a:xfrm>
          </p:grpSpPr>
          <p:sp>
            <p:nvSpPr>
              <p:cNvPr id="61" name="Rectangle 61"/>
              <p:cNvSpPr/>
              <p:nvPr/>
            </p:nvSpPr>
            <p:spPr>
              <a:xfrm>
                <a:off x="5753100" y="1390650"/>
                <a:ext cx="2476500" cy="952500"/>
              </a:xfrm>
              <a:prstGeom prst="roundRect">
                <a:avLst>
                  <a:gd name="adj" fmla="val 10000"/>
                </a:avLst>
              </a:prstGeom>
              <a:solidFill>
                <a:srgbClr val="12355B"/>
              </a:solidFill>
              <a:ln>
                <a:noFill/>
              </a:ln>
            </p:spPr>
          </p:sp>
          <p:grpSp>
            <p:nvGrpSpPr>
              <p:cNvPr id="65" name="map-icon-deploy"/>
              <p:cNvGrpSpPr/>
              <p:nvPr/>
            </p:nvGrpSpPr>
            <p:grpSpPr>
              <a:xfrm>
                <a:off x="5991226" y="1568451"/>
                <a:ext cx="285756" cy="254005"/>
                <a:chOff x="5991226" y="1568451"/>
                <a:chExt cx="285756" cy="254005"/>
              </a:xfrm>
            </p:grpSpPr>
            <p:sp>
              <p:nvSpPr>
                <p:cNvPr id="62" name="Freeform 62"/>
                <p:cNvSpPr/>
                <p:nvPr/>
              </p:nvSpPr>
              <p:spPr>
                <a:xfrm>
                  <a:off x="6070603" y="1647828"/>
                  <a:ext cx="47626" cy="95252"/>
                </a:xfrm>
                <a:custGeom>
                  <a:avLst/>
                  <a:gdLst/>
                  <a:ahLst/>
                  <a:cxnLst/>
                  <a:rect l="l" t="t" r="r" b="b"/>
                  <a:pathLst>
                    <a:path w="47626" h="95252">
                      <a:moveTo>
                        <a:pt x="0" y="0"/>
                      </a:moveTo>
                      <a:lnTo>
                        <a:pt x="47626" y="47626"/>
                      </a:lnTo>
                      <a:lnTo>
                        <a:pt x="0" y="95252"/>
                      </a:lnTo>
                    </a:path>
                  </a:pathLst>
                </a:custGeom>
                <a:noFill/>
                <a:ln w="19050" cap="rnd">
                  <a:solidFill>
                    <a:srgbClr val="FFFFFF"/>
                  </a:solidFill>
                  <a:round/>
                </a:ln>
              </p:spPr>
            </p:sp>
            <p:sp>
              <p:nvSpPr>
                <p:cNvPr id="63" name="Freeform 63"/>
                <p:cNvSpPr/>
                <p:nvPr/>
              </p:nvSpPr>
              <p:spPr>
                <a:xfrm>
                  <a:off x="6149979" y="1743080"/>
                  <a:ext cx="47626" cy="9525"/>
                </a:xfrm>
                <a:custGeom>
                  <a:avLst/>
                  <a:gdLst/>
                  <a:ahLst/>
                  <a:cxnLst/>
                  <a:rect l="l" t="t" r="r" b="b"/>
                  <a:pathLst>
                    <a:path w="47626" h="9525">
                      <a:moveTo>
                        <a:pt x="0" y="0"/>
                      </a:moveTo>
                      <a:lnTo>
                        <a:pt x="47626" y="0"/>
                      </a:lnTo>
                    </a:path>
                  </a:pathLst>
                </a:custGeom>
                <a:noFill/>
                <a:ln w="19050" cap="rnd">
                  <a:solidFill>
                    <a:srgbClr val="FFFFFF"/>
                  </a:solidFill>
                  <a:round/>
                </a:ln>
              </p:spPr>
            </p:sp>
            <p:sp>
              <p:nvSpPr>
                <p:cNvPr id="64" name="Freeform 64"/>
                <p:cNvSpPr/>
                <p:nvPr/>
              </p:nvSpPr>
              <p:spPr>
                <a:xfrm>
                  <a:off x="5991226" y="1568451"/>
                  <a:ext cx="285756" cy="254005"/>
                </a:xfrm>
                <a:custGeom>
                  <a:avLst/>
                  <a:gdLst/>
                  <a:ahLst/>
                  <a:cxnLst/>
                  <a:rect l="l" t="t" r="r" b="b"/>
                  <a:pathLst>
                    <a:path w="285756" h="254005">
                      <a:moveTo>
                        <a:pt x="0" y="31751"/>
                      </a:moveTo>
                      <a:cubicBezTo>
                        <a:pt x="0" y="14215"/>
                        <a:pt x="14215" y="0"/>
                        <a:pt x="31751" y="0"/>
                      </a:cubicBezTo>
                      <a:lnTo>
                        <a:pt x="254005" y="0"/>
                      </a:lnTo>
                      <a:cubicBezTo>
                        <a:pt x="271540" y="0"/>
                        <a:pt x="285756" y="14215"/>
                        <a:pt x="285756" y="31751"/>
                      </a:cubicBezTo>
                      <a:lnTo>
                        <a:pt x="285756" y="222254"/>
                      </a:lnTo>
                      <a:cubicBezTo>
                        <a:pt x="285756" y="239790"/>
                        <a:pt x="271540" y="254005"/>
                        <a:pt x="254005" y="254005"/>
                      </a:cubicBezTo>
                      <a:lnTo>
                        <a:pt x="31751" y="254005"/>
                      </a:lnTo>
                      <a:cubicBezTo>
                        <a:pt x="14215" y="254005"/>
                        <a:pt x="0" y="239790"/>
                        <a:pt x="0" y="222254"/>
                      </a:cubicBezTo>
                      <a:lnTo>
                        <a:pt x="0" y="31751"/>
                      </a:lnTo>
                    </a:path>
                  </a:pathLst>
                </a:custGeom>
                <a:noFill/>
                <a:ln w="19050" cap="rnd">
                  <a:solidFill>
                    <a:srgbClr val="FFFFFF"/>
                  </a:solidFill>
                  <a:round/>
                </a:ln>
              </p:spPr>
            </p:sp>
          </p:grpSp>
          <p:sp>
            <p:nvSpPr>
              <p:cNvPr id="66" name="TextBox 66"/>
              <p:cNvSpPr txBox="1"/>
              <p:nvPr/>
            </p:nvSpPr>
            <p:spPr>
              <a:xfrm>
                <a:off x="6467856" y="1472565"/>
                <a:ext cx="1790742" cy="352044"/>
              </a:xfrm>
              <a:prstGeom prst="rect">
                <a:avLst/>
              </a:prstGeom>
              <a:noFill/>
              <a:ln>
                <a:noFill/>
              </a:ln>
            </p:spPr>
            <p:txBody>
              <a:bodyPr wrap="none" lIns="0" tIns="0" rIns="0" bIns="0" anchor="t" anchorCtr="0">
                <a:spAutoFit/>
              </a:bodyPr>
              <a:lstStyle/>
              <a:p>
                <a:pPr algn="l"/>
                <a:r>
                  <a:rPr lang="tr-TR" sz="1800" b="1" dirty="0">
                    <a:solidFill>
                      <a:srgbClr val="FFFFFF"/>
                    </a:solidFill>
                    <a:latin typeface="+mn-lt"/>
                    <a:ea typeface="+mn-ea"/>
                    <a:cs typeface="+mn-cs"/>
                  </a:rPr>
                  <a:t>SSH + systemd</a:t>
                </a:r>
              </a:p>
            </p:txBody>
          </p:sp>
          <p:sp>
            <p:nvSpPr>
              <p:cNvPr id="67" name="TextBox 67"/>
              <p:cNvSpPr txBox="1"/>
              <p:nvPr/>
            </p:nvSpPr>
            <p:spPr>
              <a:xfrm>
                <a:off x="6470904" y="1794510"/>
                <a:ext cx="207995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dağıtım — çalışma zamanı</a:t>
                </a:r>
              </a:p>
            </p:txBody>
          </p:sp>
          <p:sp>
            <p:nvSpPr>
              <p:cNvPr id="68" name="TextBox 68"/>
              <p:cNvSpPr txBox="1"/>
              <p:nvPr/>
            </p:nvSpPr>
            <p:spPr>
              <a:xfrm>
                <a:off x="6470904" y="1985010"/>
                <a:ext cx="2257654"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istek akışının parçası değil</a:t>
                </a:r>
              </a:p>
            </p:txBody>
          </p:sp>
        </p:grpSp>
        <p:grpSp>
          <p:nvGrpSpPr>
            <p:cNvPr id="80" name="map-node-obs"/>
            <p:cNvGrpSpPr/>
            <p:nvPr/>
          </p:nvGrpSpPr>
          <p:grpSpPr>
            <a:xfrm>
              <a:off x="2895600" y="4914900"/>
              <a:ext cx="6419850" cy="952500"/>
              <a:chOff x="2895600" y="4914900"/>
              <a:chExt cx="6419850" cy="952500"/>
            </a:xfrm>
          </p:grpSpPr>
          <p:sp>
            <p:nvSpPr>
              <p:cNvPr id="70" name="Rectangle 70"/>
              <p:cNvSpPr/>
              <p:nvPr/>
            </p:nvSpPr>
            <p:spPr>
              <a:xfrm>
                <a:off x="2895600" y="4914900"/>
                <a:ext cx="5334000" cy="952500"/>
              </a:xfrm>
              <a:prstGeom prst="roundRect">
                <a:avLst>
                  <a:gd name="adj" fmla="val 10000"/>
                </a:avLst>
              </a:prstGeom>
              <a:solidFill>
                <a:srgbClr val="FFFFFF"/>
              </a:solidFill>
              <a:ln w="14288">
                <a:solidFill>
                  <a:srgbClr val="B8CBD3"/>
                </a:solidFill>
              </a:ln>
            </p:spPr>
          </p:sp>
          <p:grpSp>
            <p:nvGrpSpPr>
              <p:cNvPr id="76" name="map-icon-obs"/>
              <p:cNvGrpSpPr/>
              <p:nvPr/>
            </p:nvGrpSpPr>
            <p:grpSpPr>
              <a:xfrm>
                <a:off x="3165477" y="5076826"/>
                <a:ext cx="222254" cy="285756"/>
                <a:chOff x="3165477" y="5076826"/>
                <a:chExt cx="222254" cy="285756"/>
              </a:xfrm>
            </p:grpSpPr>
            <p:sp>
              <p:nvSpPr>
                <p:cNvPr id="71" name="Freeform 71"/>
                <p:cNvSpPr/>
                <p:nvPr/>
              </p:nvSpPr>
              <p:spPr>
                <a:xfrm>
                  <a:off x="3308354" y="5076826"/>
                  <a:ext cx="79377" cy="79377"/>
                </a:xfrm>
                <a:custGeom>
                  <a:avLst/>
                  <a:gdLst/>
                  <a:ahLst/>
                  <a:cxnLst/>
                  <a:rect l="l" t="t" r="r" b="b"/>
                  <a:pathLst>
                    <a:path w="79377" h="79377">
                      <a:moveTo>
                        <a:pt x="0" y="0"/>
                      </a:moveTo>
                      <a:lnTo>
                        <a:pt x="0" y="63501"/>
                      </a:lnTo>
                      <a:cubicBezTo>
                        <a:pt x="0" y="72269"/>
                        <a:pt x="7108" y="79377"/>
                        <a:pt x="15875" y="79377"/>
                      </a:cubicBezTo>
                      <a:lnTo>
                        <a:pt x="79377" y="79377"/>
                      </a:lnTo>
                    </a:path>
                  </a:pathLst>
                </a:custGeom>
                <a:noFill/>
                <a:ln w="19050" cap="rnd">
                  <a:solidFill>
                    <a:srgbClr val="52616B"/>
                  </a:solidFill>
                  <a:round/>
                </a:ln>
              </p:spPr>
            </p:sp>
            <p:sp>
              <p:nvSpPr>
                <p:cNvPr id="72" name="Freeform 72"/>
                <p:cNvSpPr/>
                <p:nvPr/>
              </p:nvSpPr>
              <p:spPr>
                <a:xfrm>
                  <a:off x="3165477" y="5076826"/>
                  <a:ext cx="222254" cy="285756"/>
                </a:xfrm>
                <a:custGeom>
                  <a:avLst/>
                  <a:gdLst/>
                  <a:ahLst/>
                  <a:cxnLst/>
                  <a:rect l="l" t="t" r="r" b="b"/>
                  <a:pathLst>
                    <a:path w="222254" h="285756">
                      <a:moveTo>
                        <a:pt x="190504" y="285756"/>
                      </a:moveTo>
                      <a:lnTo>
                        <a:pt x="31751" y="285756"/>
                      </a:lnTo>
                      <a:cubicBezTo>
                        <a:pt x="14215" y="285756"/>
                        <a:pt x="0" y="271540"/>
                        <a:pt x="0" y="254005"/>
                      </a:cubicBezTo>
                      <a:lnTo>
                        <a:pt x="0" y="31751"/>
                      </a:lnTo>
                      <a:cubicBezTo>
                        <a:pt x="0" y="14215"/>
                        <a:pt x="14215" y="0"/>
                        <a:pt x="31751" y="0"/>
                      </a:cubicBezTo>
                      <a:lnTo>
                        <a:pt x="142878" y="0"/>
                      </a:lnTo>
                      <a:lnTo>
                        <a:pt x="222254" y="79377"/>
                      </a:lnTo>
                      <a:lnTo>
                        <a:pt x="222254" y="254005"/>
                      </a:lnTo>
                      <a:cubicBezTo>
                        <a:pt x="222254" y="271540"/>
                        <a:pt x="208039" y="285756"/>
                        <a:pt x="190504" y="285756"/>
                      </a:cubicBezTo>
                    </a:path>
                  </a:pathLst>
                </a:custGeom>
                <a:noFill/>
                <a:ln w="19050" cap="rnd">
                  <a:solidFill>
                    <a:srgbClr val="52616B"/>
                  </a:solidFill>
                  <a:round/>
                </a:ln>
              </p:spPr>
            </p:sp>
            <p:sp>
              <p:nvSpPr>
                <p:cNvPr id="73" name="Freeform 73"/>
                <p:cNvSpPr/>
                <p:nvPr/>
              </p:nvSpPr>
              <p:spPr>
                <a:xfrm>
                  <a:off x="3228978" y="5172078"/>
                  <a:ext cx="15875" cy="9525"/>
                </a:xfrm>
                <a:custGeom>
                  <a:avLst/>
                  <a:gdLst/>
                  <a:ahLst/>
                  <a:cxnLst/>
                  <a:rect l="l" t="t" r="r" b="b"/>
                  <a:pathLst>
                    <a:path w="15875" h="9525">
                      <a:moveTo>
                        <a:pt x="0" y="0"/>
                      </a:moveTo>
                      <a:lnTo>
                        <a:pt x="15875" y="0"/>
                      </a:lnTo>
                    </a:path>
                  </a:pathLst>
                </a:custGeom>
                <a:noFill/>
                <a:ln w="19050" cap="rnd">
                  <a:solidFill>
                    <a:srgbClr val="52616B"/>
                  </a:solidFill>
                  <a:round/>
                </a:ln>
              </p:spPr>
            </p:sp>
            <p:sp>
              <p:nvSpPr>
                <p:cNvPr id="74" name="Freeform 74"/>
                <p:cNvSpPr/>
                <p:nvPr/>
              </p:nvSpPr>
              <p:spPr>
                <a:xfrm>
                  <a:off x="3228978" y="5235579"/>
                  <a:ext cx="95252" cy="9525"/>
                </a:xfrm>
                <a:custGeom>
                  <a:avLst/>
                  <a:gdLst/>
                  <a:ahLst/>
                  <a:cxnLst/>
                  <a:rect l="l" t="t" r="r" b="b"/>
                  <a:pathLst>
                    <a:path w="95252" h="9525">
                      <a:moveTo>
                        <a:pt x="0" y="0"/>
                      </a:moveTo>
                      <a:lnTo>
                        <a:pt x="95252" y="0"/>
                      </a:lnTo>
                    </a:path>
                  </a:pathLst>
                </a:custGeom>
                <a:noFill/>
                <a:ln w="19050" cap="rnd">
                  <a:solidFill>
                    <a:srgbClr val="52616B"/>
                  </a:solidFill>
                  <a:round/>
                </a:ln>
              </p:spPr>
            </p:sp>
            <p:sp>
              <p:nvSpPr>
                <p:cNvPr id="75" name="Freeform 75"/>
                <p:cNvSpPr/>
                <p:nvPr/>
              </p:nvSpPr>
              <p:spPr>
                <a:xfrm>
                  <a:off x="3228978" y="5299080"/>
                  <a:ext cx="95252" cy="9525"/>
                </a:xfrm>
                <a:custGeom>
                  <a:avLst/>
                  <a:gdLst/>
                  <a:ahLst/>
                  <a:cxnLst/>
                  <a:rect l="l" t="t" r="r" b="b"/>
                  <a:pathLst>
                    <a:path w="95252" h="9525">
                      <a:moveTo>
                        <a:pt x="0" y="0"/>
                      </a:moveTo>
                      <a:lnTo>
                        <a:pt x="95252" y="0"/>
                      </a:lnTo>
                    </a:path>
                  </a:pathLst>
                </a:custGeom>
                <a:noFill/>
                <a:ln w="19050" cap="rnd">
                  <a:solidFill>
                    <a:srgbClr val="52616B"/>
                  </a:solidFill>
                  <a:round/>
                </a:ln>
              </p:spPr>
            </p:sp>
          </p:grpSp>
          <p:sp>
            <p:nvSpPr>
              <p:cNvPr id="77" name="TextBox 77"/>
              <p:cNvSpPr txBox="1"/>
              <p:nvPr/>
            </p:nvSpPr>
            <p:spPr>
              <a:xfrm>
                <a:off x="5705856" y="5025390"/>
                <a:ext cx="285628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Loglama + Health Check</a:t>
                </a:r>
              </a:p>
            </p:txBody>
          </p:sp>
          <p:sp>
            <p:nvSpPr>
              <p:cNvPr id="78" name="TextBox 78"/>
              <p:cNvSpPr txBox="1"/>
              <p:nvPr/>
            </p:nvSpPr>
            <p:spPr>
              <a:xfrm>
                <a:off x="5708904" y="5347335"/>
                <a:ext cx="295749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Nginx ve API'nin olaylarını kaydeder,</a:t>
                </a:r>
              </a:p>
            </p:txBody>
          </p:sp>
          <p:sp>
            <p:nvSpPr>
              <p:cNvPr id="79" name="TextBox 79"/>
              <p:cNvSpPr txBox="1"/>
              <p:nvPr/>
            </p:nvSpPr>
            <p:spPr>
              <a:xfrm>
                <a:off x="5708904" y="5537835"/>
                <a:ext cx="360654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/saglik uç noktasıyla gerçek sağlığı doğrular</a:t>
                </a:r>
              </a:p>
            </p:txBody>
          </p:sp>
        </p:grpSp>
        <p:grpSp>
          <p:nvGrpSpPr>
            <p:cNvPr id="85" name="map-legend"/>
            <p:cNvGrpSpPr/>
            <p:nvPr/>
          </p:nvGrpSpPr>
          <p:grpSpPr>
            <a:xfrm>
              <a:off x="609600" y="5947410"/>
              <a:ext cx="7321781" cy="234696"/>
              <a:chOff x="609600" y="5947410"/>
              <a:chExt cx="7321781" cy="234696"/>
            </a:xfrm>
          </p:grpSpPr>
          <p:sp>
            <p:nvSpPr>
              <p:cNvPr id="81" name="Line 81"/>
              <p:cNvSpPr/>
              <p:nvPr/>
            </p:nvSpPr>
            <p:spPr>
              <a:xfrm>
                <a:off x="609600" y="6019800"/>
                <a:ext cx="304800" cy="1"/>
              </a:xfrm>
              <a:prstGeom prst="line">
                <a:avLst/>
              </a:prstGeom>
              <a:noFill/>
              <a:ln w="23812">
                <a:solidFill>
                  <a:srgbClr val="00A6A6"/>
                </a:solidFill>
                <a:tailEnd type="arrow" w="lg" len="lg"/>
              </a:ln>
            </p:spPr>
          </p:sp>
          <p:sp>
            <p:nvSpPr>
              <p:cNvPr id="82" name="TextBox 82"/>
              <p:cNvSpPr txBox="1"/>
              <p:nvPr/>
            </p:nvSpPr>
            <p:spPr>
              <a:xfrm>
                <a:off x="1003554" y="5947410"/>
                <a:ext cx="288985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Çalışma zamanı istek akışı (HTTPS)</a:t>
                </a:r>
              </a:p>
            </p:txBody>
          </p:sp>
          <p:sp>
            <p:nvSpPr>
              <p:cNvPr id="83" name="Line 83"/>
              <p:cNvSpPr/>
              <p:nvPr/>
            </p:nvSpPr>
            <p:spPr>
              <a:xfrm>
                <a:off x="4572000" y="6019800"/>
                <a:ext cx="304800" cy="1"/>
              </a:xfrm>
              <a:prstGeom prst="line">
                <a:avLst/>
              </a:prstGeom>
              <a:noFill/>
              <a:ln w="19050">
                <a:solidFill>
                  <a:srgbClr val="52616B"/>
                </a:solidFill>
                <a:custDash>
                  <a:ds d="300000" sp="200000"/>
                </a:custDash>
                <a:tailEnd type="arrow" w="lg" len="lg"/>
              </a:ln>
            </p:spPr>
          </p:sp>
          <p:sp>
            <p:nvSpPr>
              <p:cNvPr id="84" name="TextBox 84"/>
              <p:cNvSpPr txBox="1"/>
              <p:nvPr/>
            </p:nvSpPr>
            <p:spPr>
              <a:xfrm>
                <a:off x="4965954" y="5947410"/>
                <a:ext cx="296542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Destek: dağıtım ve gözlemlenebilirlik</a:t>
                </a:r>
              </a:p>
            </p:txBody>
          </p:sp>
        </p:grpSp>
      </p:grpSp>
      <p:sp>
        <p:nvSpPr>
          <p:cNvPr id="87" name="TextBox 8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7140412" cy="668845"/>
            <a:chOff x="609600" y="171450"/>
            <a:chExt cx="7140412"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645004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sorumluluk matrisi (1/2)</a:t>
              </a:r>
            </a:p>
          </p:txBody>
        </p:sp>
      </p:grpSp>
      <p:grpSp>
        <p:nvGrpSpPr>
          <p:cNvPr id="18" name="table-header"/>
          <p:cNvGrpSpPr/>
          <p:nvPr/>
        </p:nvGrpSpPr>
        <p:grpSpPr>
          <a:xfrm>
            <a:off x="609600" y="1162050"/>
            <a:ext cx="10972800" cy="381000"/>
            <a:chOff x="609600" y="1162050"/>
            <a:chExt cx="10972800" cy="381000"/>
          </a:xfrm>
        </p:grpSpPr>
        <p:sp>
          <p:nvSpPr>
            <p:cNvPr id="13" name="Rectangle 13"/>
            <p:cNvSpPr/>
            <p:nvPr/>
          </p:nvSpPr>
          <p:spPr>
            <a:xfrm>
              <a:off x="609600" y="1162050"/>
              <a:ext cx="10972800" cy="381000"/>
            </a:xfrm>
            <a:prstGeom prst="rect">
              <a:avLst/>
            </a:prstGeom>
            <a:solidFill>
              <a:srgbClr val="12355B"/>
            </a:solidFill>
            <a:ln>
              <a:noFill/>
            </a:ln>
          </p:spPr>
        </p:sp>
        <p:sp>
          <p:nvSpPr>
            <p:cNvPr id="14" name="TextBox 14"/>
            <p:cNvSpPr txBox="1"/>
            <p:nvPr/>
          </p:nvSpPr>
          <p:spPr>
            <a:xfrm>
              <a:off x="832104" y="1280160"/>
              <a:ext cx="611467"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Kavram</a:t>
              </a:r>
            </a:p>
          </p:txBody>
        </p:sp>
        <p:sp>
          <p:nvSpPr>
            <p:cNvPr id="15" name="TextBox 15"/>
            <p:cNvSpPr txBox="1"/>
            <p:nvPr/>
          </p:nvSpPr>
          <p:spPr>
            <a:xfrm>
              <a:off x="2946654" y="1280160"/>
              <a:ext cx="1048962"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Temel Görevi</a:t>
              </a:r>
            </a:p>
          </p:txBody>
        </p:sp>
        <p:sp>
          <p:nvSpPr>
            <p:cNvPr id="16" name="TextBox 16"/>
            <p:cNvSpPr txBox="1"/>
            <p:nvPr/>
          </p:nvSpPr>
          <p:spPr>
            <a:xfrm>
              <a:off x="6185154" y="1280160"/>
              <a:ext cx="949709"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Ne Yapmaz?</a:t>
              </a:r>
            </a:p>
          </p:txBody>
        </p:sp>
        <p:sp>
          <p:nvSpPr>
            <p:cNvPr id="17" name="TextBox 17"/>
            <p:cNvSpPr txBox="1"/>
            <p:nvPr/>
          </p:nvSpPr>
          <p:spPr>
            <a:xfrm>
              <a:off x="8852154" y="1280160"/>
              <a:ext cx="1455622"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Olmazsa Ne Olur?</a:t>
              </a:r>
            </a:p>
          </p:txBody>
        </p:sp>
      </p:grpSp>
      <p:grpSp>
        <p:nvGrpSpPr>
          <p:cNvPr id="24" name="row-linux"/>
          <p:cNvGrpSpPr/>
          <p:nvPr/>
        </p:nvGrpSpPr>
        <p:grpSpPr>
          <a:xfrm>
            <a:off x="609600" y="1543050"/>
            <a:ext cx="10972800" cy="1028700"/>
            <a:chOff x="609600" y="1543050"/>
            <a:chExt cx="10972800" cy="1028700"/>
          </a:xfrm>
        </p:grpSpPr>
        <p:sp>
          <p:nvSpPr>
            <p:cNvPr id="19" name="Rectangle 19"/>
            <p:cNvSpPr/>
            <p:nvPr/>
          </p:nvSpPr>
          <p:spPr>
            <a:xfrm>
              <a:off x="609600" y="1543050"/>
              <a:ext cx="10972800" cy="1028700"/>
            </a:xfrm>
            <a:prstGeom prst="rect">
              <a:avLst/>
            </a:prstGeom>
            <a:solidFill>
              <a:srgbClr val="FFFFFF"/>
            </a:solidFill>
            <a:ln w="9525">
              <a:solidFill>
                <a:srgbClr val="B8CBD3"/>
              </a:solidFill>
            </a:ln>
          </p:spPr>
        </p:sp>
        <p:sp>
          <p:nvSpPr>
            <p:cNvPr id="20" name="TextBox 20"/>
            <p:cNvSpPr txBox="1"/>
            <p:nvPr/>
          </p:nvSpPr>
          <p:spPr>
            <a:xfrm>
              <a:off x="830199" y="1773079"/>
              <a:ext cx="1301229" cy="536638"/>
            </a:xfrm>
            <a:prstGeom prst="rect">
              <a:avLst/>
            </a:prstGeom>
            <a:noFill/>
            <a:ln>
              <a:noFill/>
            </a:ln>
          </p:spPr>
          <p:txBody>
            <a:bodyPr wrap="none" lIns="0" tIns="0" rIns="0" bIns="0" anchor="t" anchorCtr="0">
              <a:spAutoFit/>
            </a:bodyPr>
            <a:lstStyle/>
            <a:p>
              <a:pPr algn="l">
                <a:lnSpc>
                  <a:spcPts val="1800"/>
                </a:lnSpc>
              </a:pPr>
              <a:r>
                <a:rPr lang="tr-TR" sz="1580" b="1" dirty="0">
                  <a:solidFill>
                    <a:srgbClr val="12355B"/>
                  </a:solidFill>
                  <a:latin typeface="+mn-lt"/>
                  <a:ea typeface="+mn-ea"/>
                  <a:cs typeface="+mn-cs"/>
                </a:rPr>
                <a:t>Linux Sunucu</a:t>
              </a:r>
              <a:br/>
              <a:r>
                <a:rPr lang="tr-TR" sz="1580" b="1" dirty="0">
                  <a:solidFill>
                    <a:srgbClr val="12355B"/>
                  </a:solidFill>
                  <a:latin typeface="+mn-lt"/>
                  <a:ea typeface="+mn-ea"/>
                  <a:cs typeface="+mn-cs"/>
                </a:rPr>
                <a:t>Ortamı</a:t>
              </a:r>
            </a:p>
          </p:txBody>
        </p:sp>
        <p:sp>
          <p:nvSpPr>
            <p:cNvPr id="21" name="TextBox 21"/>
            <p:cNvSpPr txBox="1"/>
            <p:nvPr/>
          </p:nvSpPr>
          <p:spPr>
            <a:xfrm>
              <a:off x="2946654" y="1699260"/>
              <a:ext cx="23439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Backend konteynerlerinin ve</a:t>
              </a:r>
              <a:br/>
              <a:r>
                <a:rPr lang="tr-TR" sz="1200" dirty="0">
                  <a:solidFill>
                    <a:srgbClr val="172B3A"/>
                  </a:solidFill>
                  <a:latin typeface="+mn-lt"/>
                  <a:ea typeface="+mn-ea"/>
                  <a:cs typeface="+mn-cs"/>
                </a:rPr>
                <a:t>sistem servislerinin kesintisiz,</a:t>
              </a:r>
              <a:br/>
              <a:r>
                <a:rPr lang="tr-TR" sz="1200" dirty="0">
                  <a:solidFill>
                    <a:srgbClr val="172B3A"/>
                  </a:solidFill>
                  <a:latin typeface="+mn-lt"/>
                  <a:ea typeface="+mn-ea"/>
                  <a:cs typeface="+mn-cs"/>
                </a:rPr>
                <a:t>güvenli çalıştığı ana altyapı.</a:t>
              </a:r>
            </a:p>
          </p:txBody>
        </p:sp>
        <p:sp>
          <p:nvSpPr>
            <p:cNvPr id="22" name="TextBox 22"/>
            <p:cNvSpPr txBox="1"/>
            <p:nvPr/>
          </p:nvSpPr>
          <p:spPr>
            <a:xfrm>
              <a:off x="6185154" y="1699260"/>
              <a:ext cx="24429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Uygulama kodundaki</a:t>
              </a:r>
              <a:br/>
              <a:r>
                <a:rPr lang="tr-TR" sz="1200" dirty="0">
                  <a:solidFill>
                    <a:srgbClr val="52616B"/>
                  </a:solidFill>
                  <a:latin typeface="+mn-lt"/>
                  <a:ea typeface="+mn-ea"/>
                  <a:cs typeface="+mn-cs"/>
                </a:rPr>
                <a:t>mantıksal açıkları gidermez;</a:t>
              </a:r>
              <a:br/>
              <a:r>
                <a:rPr lang="tr-TR" sz="1200" dirty="0">
                  <a:solidFill>
                    <a:srgbClr val="52616B"/>
                  </a:solidFill>
                  <a:latin typeface="+mn-lt"/>
                  <a:ea typeface="+mn-ea"/>
                  <a:cs typeface="+mn-cs"/>
                </a:rPr>
                <a:t>yalnızca çalışma ortamı sağlar.</a:t>
              </a:r>
            </a:p>
          </p:txBody>
        </p:sp>
        <p:sp>
          <p:nvSpPr>
            <p:cNvPr id="23" name="TextBox 23"/>
            <p:cNvSpPr txBox="1"/>
            <p:nvPr/>
          </p:nvSpPr>
          <p:spPr>
            <a:xfrm>
              <a:off x="8852154" y="1699260"/>
              <a:ext cx="258013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Geliştirme ile sunucu</a:t>
              </a:r>
              <a:br/>
              <a:r>
                <a:rPr lang="tr-TR" sz="1200" dirty="0">
                  <a:solidFill>
                    <a:srgbClr val="172B3A"/>
                  </a:solidFill>
                  <a:latin typeface="+mn-lt"/>
                  <a:ea typeface="+mn-ea"/>
                  <a:cs typeface="+mn-cs"/>
                </a:rPr>
                <a:t>arasındaki dosya yolu/izin</a:t>
              </a:r>
              <a:br/>
              <a:r>
                <a:rPr lang="tr-TR" sz="1200" dirty="0">
                  <a:solidFill>
                    <a:srgbClr val="172B3A"/>
                  </a:solidFill>
                  <a:latin typeface="+mn-lt"/>
                  <a:ea typeface="+mn-ea"/>
                  <a:cs typeface="+mn-cs"/>
                </a:rPr>
                <a:t>farkları yüzünden canlı çalışmaz.</a:t>
              </a:r>
            </a:p>
          </p:txBody>
        </p:sp>
      </p:grpSp>
      <p:grpSp>
        <p:nvGrpSpPr>
          <p:cNvPr id="30" name="row-ssh"/>
          <p:cNvGrpSpPr/>
          <p:nvPr/>
        </p:nvGrpSpPr>
        <p:grpSpPr>
          <a:xfrm>
            <a:off x="609600" y="2571750"/>
            <a:ext cx="10972800" cy="1028700"/>
            <a:chOff x="609600" y="2571750"/>
            <a:chExt cx="10972800" cy="1028700"/>
          </a:xfrm>
        </p:grpSpPr>
        <p:sp>
          <p:nvSpPr>
            <p:cNvPr id="25" name="Rectangle 25"/>
            <p:cNvSpPr/>
            <p:nvPr/>
          </p:nvSpPr>
          <p:spPr>
            <a:xfrm>
              <a:off x="609600" y="2571750"/>
              <a:ext cx="10972800" cy="1028700"/>
            </a:xfrm>
            <a:prstGeom prst="rect">
              <a:avLst/>
            </a:prstGeom>
            <a:solidFill>
              <a:srgbClr val="EAF4F6"/>
            </a:solidFill>
            <a:ln w="9525">
              <a:solidFill>
                <a:srgbClr val="B8CBD3"/>
              </a:solidFill>
            </a:ln>
          </p:spPr>
        </p:sp>
        <p:sp>
          <p:nvSpPr>
            <p:cNvPr id="26" name="TextBox 26"/>
            <p:cNvSpPr txBox="1"/>
            <p:nvPr/>
          </p:nvSpPr>
          <p:spPr>
            <a:xfrm>
              <a:off x="830199" y="2801779"/>
              <a:ext cx="900913" cy="536638"/>
            </a:xfrm>
            <a:prstGeom prst="rect">
              <a:avLst/>
            </a:prstGeom>
            <a:noFill/>
            <a:ln>
              <a:noFill/>
            </a:ln>
          </p:spPr>
          <p:txBody>
            <a:bodyPr wrap="none" lIns="0" tIns="0" rIns="0" bIns="0" anchor="t" anchorCtr="0">
              <a:spAutoFit/>
            </a:bodyPr>
            <a:lstStyle/>
            <a:p>
              <a:pPr algn="l">
                <a:lnSpc>
                  <a:spcPts val="1800"/>
                </a:lnSpc>
              </a:pPr>
              <a:r>
                <a:rPr lang="tr-TR" sz="1580" b="1" dirty="0">
                  <a:solidFill>
                    <a:srgbClr val="12355B"/>
                  </a:solidFill>
                  <a:latin typeface="+mn-lt"/>
                  <a:ea typeface="+mn-ea"/>
                  <a:cs typeface="+mn-cs"/>
                </a:rPr>
                <a:t>SSH</a:t>
              </a:r>
              <a:br/>
              <a:r>
                <a:rPr lang="tr-TR" sz="1580" b="1" dirty="0">
                  <a:solidFill>
                    <a:srgbClr val="12355B"/>
                  </a:solidFill>
                  <a:latin typeface="+mn-lt"/>
                  <a:ea typeface="+mn-ea"/>
                  <a:cs typeface="+mn-cs"/>
                </a:rPr>
                <a:t>Güvenliği</a:t>
              </a:r>
            </a:p>
          </p:txBody>
        </p:sp>
        <p:sp>
          <p:nvSpPr>
            <p:cNvPr id="27" name="TextBox 27"/>
            <p:cNvSpPr txBox="1"/>
            <p:nvPr/>
          </p:nvSpPr>
          <p:spPr>
            <a:xfrm>
              <a:off x="2946654" y="2727960"/>
              <a:ext cx="23667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Şifresiz, kriptografik anahtar</a:t>
              </a:r>
              <a:br/>
              <a:r>
                <a:rPr lang="tr-TR" sz="1200" dirty="0">
                  <a:solidFill>
                    <a:srgbClr val="172B3A"/>
                  </a:solidFill>
                  <a:latin typeface="+mn-lt"/>
                  <a:ea typeface="+mn-ea"/>
                  <a:cs typeface="+mn-cs"/>
                </a:rPr>
                <a:t>çifti (Ed25519) ile güvenli</a:t>
              </a:r>
              <a:br/>
              <a:r>
                <a:rPr lang="tr-TR" sz="1200" dirty="0">
                  <a:solidFill>
                    <a:srgbClr val="172B3A"/>
                  </a:solidFill>
                  <a:latin typeface="+mn-lt"/>
                  <a:ea typeface="+mn-ea"/>
                  <a:cs typeface="+mn-cs"/>
                </a:rPr>
                <a:t>uzaktan terminal erişimi sunar.</a:t>
              </a:r>
            </a:p>
          </p:txBody>
        </p:sp>
        <p:sp>
          <p:nvSpPr>
            <p:cNvPr id="28" name="TextBox 28"/>
            <p:cNvSpPr txBox="1"/>
            <p:nvPr/>
          </p:nvSpPr>
          <p:spPr>
            <a:xfrm>
              <a:off x="6185154" y="2727960"/>
              <a:ext cx="24201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Web kullanıcılarının API</a:t>
              </a:r>
              <a:br/>
              <a:r>
                <a:rPr lang="tr-TR" sz="1200" dirty="0">
                  <a:solidFill>
                    <a:srgbClr val="52616B"/>
                  </a:solidFill>
                  <a:latin typeface="+mn-lt"/>
                  <a:ea typeface="+mn-ea"/>
                  <a:cs typeface="+mn-cs"/>
                </a:rPr>
                <a:t>isteklerini karşılamaz; yalnızca</a:t>
              </a:r>
              <a:br/>
              <a:r>
                <a:rPr lang="tr-TR" sz="1200" dirty="0">
                  <a:solidFill>
                    <a:srgbClr val="52616B"/>
                  </a:solidFill>
                  <a:latin typeface="+mn-lt"/>
                  <a:ea typeface="+mn-ea"/>
                  <a:cs typeface="+mn-cs"/>
                </a:rPr>
                <a:t>yönetim kanalıdır.</a:t>
              </a:r>
            </a:p>
          </p:txBody>
        </p:sp>
        <p:sp>
          <p:nvSpPr>
            <p:cNvPr id="29" name="TextBox 29"/>
            <p:cNvSpPr txBox="1"/>
            <p:nvPr/>
          </p:nvSpPr>
          <p:spPr>
            <a:xfrm>
              <a:off x="8852154" y="2727960"/>
              <a:ext cx="21534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Sunucu kaba kuvvet parola</a:t>
              </a:r>
              <a:br/>
              <a:r>
                <a:rPr lang="tr-TR" sz="1200" dirty="0">
                  <a:solidFill>
                    <a:srgbClr val="172B3A"/>
                  </a:solidFill>
                  <a:latin typeface="+mn-lt"/>
                  <a:ea typeface="+mn-ea"/>
                  <a:cs typeface="+mn-cs"/>
                </a:rPr>
                <a:t>saldırılarına maruz kalır;</a:t>
              </a:r>
              <a:br/>
              <a:r>
                <a:rPr lang="tr-TR" sz="1200" dirty="0">
                  <a:solidFill>
                    <a:srgbClr val="172B3A"/>
                  </a:solidFill>
                  <a:latin typeface="+mn-lt"/>
                  <a:ea typeface="+mn-ea"/>
                  <a:cs typeface="+mn-cs"/>
                </a:rPr>
                <a:t>dakikalar içinde ele geçirilir.</a:t>
              </a:r>
            </a:p>
          </p:txBody>
        </p:sp>
      </p:grpSp>
      <p:grpSp>
        <p:nvGrpSpPr>
          <p:cNvPr id="36" name="row-nginx"/>
          <p:cNvGrpSpPr/>
          <p:nvPr/>
        </p:nvGrpSpPr>
        <p:grpSpPr>
          <a:xfrm>
            <a:off x="609600" y="3600450"/>
            <a:ext cx="10972800" cy="1028700"/>
            <a:chOff x="609600" y="3600450"/>
            <a:chExt cx="10972800" cy="1028700"/>
          </a:xfrm>
        </p:grpSpPr>
        <p:sp>
          <p:nvSpPr>
            <p:cNvPr id="31" name="Rectangle 31"/>
            <p:cNvSpPr/>
            <p:nvPr/>
          </p:nvSpPr>
          <p:spPr>
            <a:xfrm>
              <a:off x="609600" y="3600450"/>
              <a:ext cx="10972800" cy="1028700"/>
            </a:xfrm>
            <a:prstGeom prst="rect">
              <a:avLst/>
            </a:prstGeom>
            <a:solidFill>
              <a:srgbClr val="FFFFFF"/>
            </a:solidFill>
            <a:ln w="9525">
              <a:solidFill>
                <a:srgbClr val="B8CBD3"/>
              </a:solidFill>
            </a:ln>
          </p:spPr>
        </p:sp>
        <p:sp>
          <p:nvSpPr>
            <p:cNvPr id="32" name="TextBox 32"/>
            <p:cNvSpPr txBox="1"/>
            <p:nvPr/>
          </p:nvSpPr>
          <p:spPr>
            <a:xfrm>
              <a:off x="830199" y="3830479"/>
              <a:ext cx="1417110" cy="536638"/>
            </a:xfrm>
            <a:prstGeom prst="rect">
              <a:avLst/>
            </a:prstGeom>
            <a:noFill/>
            <a:ln>
              <a:noFill/>
            </a:ln>
          </p:spPr>
          <p:txBody>
            <a:bodyPr wrap="none" lIns="0" tIns="0" rIns="0" bIns="0" anchor="t" anchorCtr="0">
              <a:spAutoFit/>
            </a:bodyPr>
            <a:lstStyle/>
            <a:p>
              <a:pPr algn="l">
                <a:lnSpc>
                  <a:spcPts val="1800"/>
                </a:lnSpc>
              </a:pPr>
              <a:r>
                <a:rPr lang="tr-TR" sz="1580" b="1" dirty="0">
                  <a:solidFill>
                    <a:srgbClr val="12355B"/>
                  </a:solidFill>
                  <a:latin typeface="+mn-lt"/>
                  <a:ea typeface="+mn-ea"/>
                  <a:cs typeface="+mn-cs"/>
                </a:rPr>
                <a:t>Nginx Reverse</a:t>
              </a:r>
              <a:br/>
              <a:r>
                <a:rPr lang="tr-TR" sz="1580" b="1" dirty="0">
                  <a:solidFill>
                    <a:srgbClr val="12355B"/>
                  </a:solidFill>
                  <a:latin typeface="+mn-lt"/>
                  <a:ea typeface="+mn-ea"/>
                  <a:cs typeface="+mn-cs"/>
                </a:rPr>
                <a:t>Proxy</a:t>
              </a:r>
            </a:p>
          </p:txBody>
        </p:sp>
        <p:sp>
          <p:nvSpPr>
            <p:cNvPr id="33" name="TextBox 33"/>
            <p:cNvSpPr txBox="1"/>
            <p:nvPr/>
          </p:nvSpPr>
          <p:spPr>
            <a:xfrm>
              <a:off x="2946654" y="3756660"/>
              <a:ext cx="25572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80/443 isteklerini karşılayıp iç</a:t>
              </a:r>
              <a:br/>
              <a:r>
                <a:rPr lang="tr-TR" sz="1200" dirty="0">
                  <a:solidFill>
                    <a:srgbClr val="172B3A"/>
                  </a:solidFill>
                  <a:latin typeface="+mn-lt"/>
                  <a:ea typeface="+mn-ea"/>
                  <a:cs typeface="+mn-cs"/>
                </a:rPr>
                <a:t>ağdaki container'lara yönlendirir,</a:t>
              </a:r>
              <a:br/>
              <a:r>
                <a:rPr lang="tr-TR" sz="1200" dirty="0">
                  <a:solidFill>
                    <a:srgbClr val="172B3A"/>
                  </a:solidFill>
                  <a:latin typeface="+mn-lt"/>
                  <a:ea typeface="+mn-ea"/>
                  <a:cs typeface="+mn-cs"/>
                </a:rPr>
                <a:t>yük dengeler ve önbellekler.</a:t>
              </a:r>
            </a:p>
          </p:txBody>
        </p:sp>
        <p:sp>
          <p:nvSpPr>
            <p:cNvPr id="34" name="TextBox 34"/>
            <p:cNvSpPr txBox="1"/>
            <p:nvPr/>
          </p:nvSpPr>
          <p:spPr>
            <a:xfrm>
              <a:off x="6185154" y="3756660"/>
              <a:ext cx="21534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Backend'in iş kurallarını</a:t>
              </a:r>
              <a:br/>
              <a:r>
                <a:rPr lang="tr-TR" sz="1200" dirty="0">
                  <a:solidFill>
                    <a:srgbClr val="52616B"/>
                  </a:solidFill>
                  <a:latin typeface="+mn-lt"/>
                  <a:ea typeface="+mn-ea"/>
                  <a:cs typeface="+mn-cs"/>
                </a:rPr>
                <a:t>çalıştırmaz veya veritabanı</a:t>
              </a:r>
              <a:br/>
              <a:r>
                <a:rPr lang="tr-TR" sz="1200" dirty="0">
                  <a:solidFill>
                    <a:srgbClr val="52616B"/>
                  </a:solidFill>
                  <a:latin typeface="+mn-lt"/>
                  <a:ea typeface="+mn-ea"/>
                  <a:cs typeface="+mn-cs"/>
                </a:rPr>
                <a:t>sorgusu üretmez.</a:t>
              </a:r>
            </a:p>
          </p:txBody>
        </p:sp>
        <p:sp>
          <p:nvSpPr>
            <p:cNvPr id="35" name="TextBox 35"/>
            <p:cNvSpPr txBox="1"/>
            <p:nvPr/>
          </p:nvSpPr>
          <p:spPr>
            <a:xfrm>
              <a:off x="8852154" y="3756660"/>
              <a:ext cx="23743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Node.js doğrudan internete</a:t>
              </a:r>
              <a:br/>
              <a:r>
                <a:rPr lang="tr-TR" sz="1200" dirty="0">
                  <a:solidFill>
                    <a:srgbClr val="172B3A"/>
                  </a:solidFill>
                  <a:latin typeface="+mn-lt"/>
                  <a:ea typeface="+mn-ea"/>
                  <a:cs typeface="+mn-cs"/>
                </a:rPr>
                <a:t>açılır; tek istek yavaşlığı tüm</a:t>
              </a:r>
              <a:br/>
              <a:r>
                <a:rPr lang="tr-TR" sz="1200" dirty="0">
                  <a:solidFill>
                    <a:srgbClr val="172B3A"/>
                  </a:solidFill>
                  <a:latin typeface="+mn-lt"/>
                  <a:ea typeface="+mn-ea"/>
                  <a:cs typeface="+mn-cs"/>
                </a:rPr>
                <a:t>sunucu sürecini kilitler.</a:t>
              </a:r>
            </a:p>
          </p:txBody>
        </p:sp>
      </p:grpSp>
      <p:grpSp>
        <p:nvGrpSpPr>
          <p:cNvPr id="41" name="row-note"/>
          <p:cNvGrpSpPr/>
          <p:nvPr/>
        </p:nvGrpSpPr>
        <p:grpSpPr>
          <a:xfrm>
            <a:off x="609600" y="4743450"/>
            <a:ext cx="10972800" cy="723900"/>
            <a:chOff x="609600" y="4743450"/>
            <a:chExt cx="10972800" cy="723900"/>
          </a:xfrm>
        </p:grpSpPr>
        <p:sp>
          <p:nvSpPr>
            <p:cNvPr id="37" name="Rectangle 37"/>
            <p:cNvSpPr/>
            <p:nvPr/>
          </p:nvSpPr>
          <p:spPr>
            <a:xfrm>
              <a:off x="609600" y="4743450"/>
              <a:ext cx="10972800" cy="723900"/>
            </a:xfrm>
            <a:prstGeom prst="roundRect">
              <a:avLst>
                <a:gd name="adj" fmla="val 10526"/>
              </a:avLst>
            </a:prstGeom>
            <a:solidFill>
              <a:srgbClr val="EAF4F6"/>
            </a:solidFill>
            <a:ln>
              <a:noFill/>
            </a:ln>
          </p:spPr>
        </p:sp>
        <p:sp>
          <p:nvSpPr>
            <p:cNvPr id="38" name="Rectangle 38"/>
            <p:cNvSpPr/>
            <p:nvPr/>
          </p:nvSpPr>
          <p:spPr>
            <a:xfrm>
              <a:off x="609600" y="4743450"/>
              <a:ext cx="57150" cy="723900"/>
            </a:xfrm>
            <a:prstGeom prst="rect">
              <a:avLst/>
            </a:prstGeom>
            <a:solidFill>
              <a:srgbClr val="00A6A6"/>
            </a:solidFill>
            <a:ln>
              <a:noFill/>
            </a:ln>
          </p:spPr>
        </p:sp>
        <p:sp>
          <p:nvSpPr>
            <p:cNvPr id="39" name="TextBox 39"/>
            <p:cNvSpPr txBox="1"/>
            <p:nvPr/>
          </p:nvSpPr>
          <p:spPr>
            <a:xfrm>
              <a:off x="906399" y="4859179"/>
              <a:ext cx="335093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Ortak ilke: sınırlı sorumluluk</a:t>
              </a:r>
            </a:p>
          </p:txBody>
        </p:sp>
        <p:sp>
          <p:nvSpPr>
            <p:cNvPr id="40" name="TextBox 40"/>
            <p:cNvSpPr txBox="1"/>
            <p:nvPr/>
          </p:nvSpPr>
          <p:spPr>
            <a:xfrm>
              <a:off x="908304" y="5147310"/>
              <a:ext cx="852271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Her bileşen tek bir işi iyi yapar; sorumlulukları karıştırmak sunucuyu hem yavaşlatır hem güvensizleştirir.</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24</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7140412" cy="668845"/>
            <a:chOff x="609600" y="171450"/>
            <a:chExt cx="7140412"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645004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sorumluluk matrisi (2/2)</a:t>
              </a:r>
            </a:p>
          </p:txBody>
        </p:sp>
      </p:grpSp>
      <p:grpSp>
        <p:nvGrpSpPr>
          <p:cNvPr id="18" name="table-header"/>
          <p:cNvGrpSpPr/>
          <p:nvPr/>
        </p:nvGrpSpPr>
        <p:grpSpPr>
          <a:xfrm>
            <a:off x="609600" y="1162050"/>
            <a:ext cx="10972800" cy="381000"/>
            <a:chOff x="609600" y="1162050"/>
            <a:chExt cx="10972800" cy="381000"/>
          </a:xfrm>
        </p:grpSpPr>
        <p:sp>
          <p:nvSpPr>
            <p:cNvPr id="13" name="Rectangle 13"/>
            <p:cNvSpPr/>
            <p:nvPr/>
          </p:nvSpPr>
          <p:spPr>
            <a:xfrm>
              <a:off x="609600" y="1162050"/>
              <a:ext cx="10972800" cy="381000"/>
            </a:xfrm>
            <a:prstGeom prst="rect">
              <a:avLst/>
            </a:prstGeom>
            <a:solidFill>
              <a:srgbClr val="12355B"/>
            </a:solidFill>
            <a:ln>
              <a:noFill/>
            </a:ln>
          </p:spPr>
        </p:sp>
        <p:sp>
          <p:nvSpPr>
            <p:cNvPr id="14" name="TextBox 14"/>
            <p:cNvSpPr txBox="1"/>
            <p:nvPr/>
          </p:nvSpPr>
          <p:spPr>
            <a:xfrm>
              <a:off x="832104" y="1280160"/>
              <a:ext cx="611467"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Kavram</a:t>
              </a:r>
            </a:p>
          </p:txBody>
        </p:sp>
        <p:sp>
          <p:nvSpPr>
            <p:cNvPr id="15" name="TextBox 15"/>
            <p:cNvSpPr txBox="1"/>
            <p:nvPr/>
          </p:nvSpPr>
          <p:spPr>
            <a:xfrm>
              <a:off x="2946654" y="1280160"/>
              <a:ext cx="1048962"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Temel Görevi</a:t>
              </a:r>
            </a:p>
          </p:txBody>
        </p:sp>
        <p:sp>
          <p:nvSpPr>
            <p:cNvPr id="16" name="TextBox 16"/>
            <p:cNvSpPr txBox="1"/>
            <p:nvPr/>
          </p:nvSpPr>
          <p:spPr>
            <a:xfrm>
              <a:off x="6185154" y="1280160"/>
              <a:ext cx="949709"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Ne Yapmaz?</a:t>
              </a:r>
            </a:p>
          </p:txBody>
        </p:sp>
        <p:sp>
          <p:nvSpPr>
            <p:cNvPr id="17" name="TextBox 17"/>
            <p:cNvSpPr txBox="1"/>
            <p:nvPr/>
          </p:nvSpPr>
          <p:spPr>
            <a:xfrm>
              <a:off x="8852154" y="1280160"/>
              <a:ext cx="1455622"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Olmazsa Ne Olur?</a:t>
              </a:r>
            </a:p>
          </p:txBody>
        </p:sp>
      </p:grpSp>
      <p:grpSp>
        <p:nvGrpSpPr>
          <p:cNvPr id="24" name="row-https"/>
          <p:cNvGrpSpPr/>
          <p:nvPr/>
        </p:nvGrpSpPr>
        <p:grpSpPr>
          <a:xfrm>
            <a:off x="609600" y="1543050"/>
            <a:ext cx="10972800" cy="1028700"/>
            <a:chOff x="609600" y="1543050"/>
            <a:chExt cx="10972800" cy="1028700"/>
          </a:xfrm>
        </p:grpSpPr>
        <p:sp>
          <p:nvSpPr>
            <p:cNvPr id="19" name="Rectangle 19"/>
            <p:cNvSpPr/>
            <p:nvPr/>
          </p:nvSpPr>
          <p:spPr>
            <a:xfrm>
              <a:off x="609600" y="1543050"/>
              <a:ext cx="10972800" cy="1028700"/>
            </a:xfrm>
            <a:prstGeom prst="rect">
              <a:avLst/>
            </a:prstGeom>
            <a:solidFill>
              <a:srgbClr val="FFFFFF"/>
            </a:solidFill>
            <a:ln w="9525">
              <a:solidFill>
                <a:srgbClr val="B8CBD3"/>
              </a:solidFill>
            </a:ln>
          </p:spPr>
        </p:sp>
        <p:sp>
          <p:nvSpPr>
            <p:cNvPr id="20" name="TextBox 20"/>
            <p:cNvSpPr txBox="1"/>
            <p:nvPr/>
          </p:nvSpPr>
          <p:spPr>
            <a:xfrm>
              <a:off x="830199" y="1773079"/>
              <a:ext cx="774497" cy="536638"/>
            </a:xfrm>
            <a:prstGeom prst="rect">
              <a:avLst/>
            </a:prstGeom>
            <a:noFill/>
            <a:ln>
              <a:noFill/>
            </a:ln>
          </p:spPr>
          <p:txBody>
            <a:bodyPr wrap="none" lIns="0" tIns="0" rIns="0" bIns="0" anchor="t" anchorCtr="0">
              <a:spAutoFit/>
            </a:bodyPr>
            <a:lstStyle/>
            <a:p>
              <a:pPr algn="l">
                <a:lnSpc>
                  <a:spcPts val="1800"/>
                </a:lnSpc>
              </a:pPr>
              <a:r>
                <a:rPr lang="tr-TR" sz="1580" b="1" dirty="0">
                  <a:solidFill>
                    <a:srgbClr val="12355B"/>
                  </a:solidFill>
                  <a:latin typeface="+mn-lt"/>
                  <a:ea typeface="+mn-ea"/>
                  <a:cs typeface="+mn-cs"/>
                </a:rPr>
                <a:t>HTTPS /</a:t>
              </a:r>
              <a:br/>
              <a:r>
                <a:rPr lang="tr-TR" sz="1580" b="1" dirty="0">
                  <a:solidFill>
                    <a:srgbClr val="12355B"/>
                  </a:solidFill>
                  <a:latin typeface="+mn-lt"/>
                  <a:ea typeface="+mn-ea"/>
                  <a:cs typeface="+mn-cs"/>
                </a:rPr>
                <a:t>TLS</a:t>
              </a:r>
            </a:p>
          </p:txBody>
        </p:sp>
        <p:sp>
          <p:nvSpPr>
            <p:cNvPr id="21" name="TextBox 21"/>
            <p:cNvSpPr txBox="1"/>
            <p:nvPr/>
          </p:nvSpPr>
          <p:spPr>
            <a:xfrm>
              <a:off x="2946654" y="1699260"/>
              <a:ext cx="24429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Ağ trafiğini şifreler ve sertifika</a:t>
              </a:r>
              <a:br/>
              <a:r>
                <a:rPr lang="tr-TR" sz="1200" dirty="0">
                  <a:solidFill>
                    <a:srgbClr val="172B3A"/>
                  </a:solidFill>
                  <a:latin typeface="+mn-lt"/>
                  <a:ea typeface="+mn-ea"/>
                  <a:cs typeface="+mn-cs"/>
                </a:rPr>
                <a:t>ile sunucu kimliğini doğrular;</a:t>
              </a:r>
              <a:br/>
              <a:r>
                <a:rPr lang="tr-TR" sz="1200" dirty="0">
                  <a:solidFill>
                    <a:srgbClr val="172B3A"/>
                  </a:solidFill>
                  <a:latin typeface="+mn-lt"/>
                  <a:ea typeface="+mn-ea"/>
                  <a:cs typeface="+mn-cs"/>
                </a:rPr>
                <a:t>gizlilik + bütünlük sağlar.</a:t>
              </a:r>
            </a:p>
          </p:txBody>
        </p:sp>
        <p:sp>
          <p:nvSpPr>
            <p:cNvPr id="22" name="TextBox 22"/>
            <p:cNvSpPr txBox="1"/>
            <p:nvPr/>
          </p:nvSpPr>
          <p:spPr>
            <a:xfrm>
              <a:off x="6185154" y="1699260"/>
              <a:ext cx="25344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Gönderilen verinin SQLi/XSS</a:t>
              </a:r>
              <a:br/>
              <a:r>
                <a:rPr lang="tr-TR" sz="1200" dirty="0">
                  <a:solidFill>
                    <a:srgbClr val="52616B"/>
                  </a:solidFill>
                  <a:latin typeface="+mn-lt"/>
                  <a:ea typeface="+mn-ea"/>
                  <a:cs typeface="+mn-cs"/>
                </a:rPr>
                <a:t>içermediğini denetlemez; yalnızca</a:t>
              </a:r>
              <a:br/>
              <a:r>
                <a:rPr lang="tr-TR" sz="1200" dirty="0">
                  <a:solidFill>
                    <a:srgbClr val="52616B"/>
                  </a:solidFill>
                  <a:latin typeface="+mn-lt"/>
                  <a:ea typeface="+mn-ea"/>
                  <a:cs typeface="+mn-cs"/>
                </a:rPr>
                <a:t>iletim hattını şifreler.</a:t>
              </a:r>
            </a:p>
          </p:txBody>
        </p:sp>
        <p:sp>
          <p:nvSpPr>
            <p:cNvPr id="23" name="TextBox 23"/>
            <p:cNvSpPr txBox="1"/>
            <p:nvPr/>
          </p:nvSpPr>
          <p:spPr>
            <a:xfrm>
              <a:off x="8852154" y="1699260"/>
              <a:ext cx="23743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Ağdaki paketler (şifreler, JWT)</a:t>
              </a:r>
              <a:br/>
              <a:r>
                <a:rPr lang="tr-TR" sz="1200" dirty="0">
                  <a:solidFill>
                    <a:srgbClr val="172B3A"/>
                  </a:solidFill>
                  <a:latin typeface="+mn-lt"/>
                  <a:ea typeface="+mn-ea"/>
                  <a:cs typeface="+mn-cs"/>
                </a:rPr>
                <a:t>araya giren saldırganca düz</a:t>
              </a:r>
              <a:br/>
              <a:r>
                <a:rPr lang="tr-TR" sz="1200" dirty="0">
                  <a:solidFill>
                    <a:srgbClr val="172B3A"/>
                  </a:solidFill>
                  <a:latin typeface="+mn-lt"/>
                  <a:ea typeface="+mn-ea"/>
                  <a:cs typeface="+mn-cs"/>
                </a:rPr>
                <a:t>metin olarak dinlenir (MITM).</a:t>
              </a:r>
            </a:p>
          </p:txBody>
        </p:sp>
      </p:grpSp>
      <p:grpSp>
        <p:nvGrpSpPr>
          <p:cNvPr id="30" name="row-log"/>
          <p:cNvGrpSpPr/>
          <p:nvPr/>
        </p:nvGrpSpPr>
        <p:grpSpPr>
          <a:xfrm>
            <a:off x="609600" y="2571750"/>
            <a:ext cx="10972800" cy="1028700"/>
            <a:chOff x="609600" y="2571750"/>
            <a:chExt cx="10972800" cy="1028700"/>
          </a:xfrm>
        </p:grpSpPr>
        <p:sp>
          <p:nvSpPr>
            <p:cNvPr id="25" name="Rectangle 25"/>
            <p:cNvSpPr/>
            <p:nvPr/>
          </p:nvSpPr>
          <p:spPr>
            <a:xfrm>
              <a:off x="609600" y="2571750"/>
              <a:ext cx="10972800" cy="1028700"/>
            </a:xfrm>
            <a:prstGeom prst="rect">
              <a:avLst/>
            </a:prstGeom>
            <a:solidFill>
              <a:srgbClr val="EAF4F6"/>
            </a:solidFill>
            <a:ln w="9525">
              <a:solidFill>
                <a:srgbClr val="B8CBD3"/>
              </a:solidFill>
            </a:ln>
          </p:spPr>
        </p:sp>
        <p:sp>
          <p:nvSpPr>
            <p:cNvPr id="26" name="TextBox 26"/>
            <p:cNvSpPr txBox="1"/>
            <p:nvPr/>
          </p:nvSpPr>
          <p:spPr>
            <a:xfrm>
              <a:off x="830199" y="2801779"/>
              <a:ext cx="1111606" cy="536638"/>
            </a:xfrm>
            <a:prstGeom prst="rect">
              <a:avLst/>
            </a:prstGeom>
            <a:noFill/>
            <a:ln>
              <a:noFill/>
            </a:ln>
          </p:spPr>
          <p:txBody>
            <a:bodyPr wrap="none" lIns="0" tIns="0" rIns="0" bIns="0" anchor="t" anchorCtr="0">
              <a:spAutoFit/>
            </a:bodyPr>
            <a:lstStyle/>
            <a:p>
              <a:pPr algn="l">
                <a:lnSpc>
                  <a:spcPts val="1800"/>
                </a:lnSpc>
              </a:pPr>
              <a:r>
                <a:rPr lang="tr-TR" sz="1580" b="1" dirty="0">
                  <a:solidFill>
                    <a:srgbClr val="12355B"/>
                  </a:solidFill>
                  <a:latin typeface="+mn-lt"/>
                  <a:ea typeface="+mn-ea"/>
                  <a:cs typeface="+mn-cs"/>
                </a:rPr>
                <a:t>Loglama ve</a:t>
              </a:r>
              <a:br/>
              <a:r>
                <a:rPr lang="tr-TR" sz="1580" b="1" dirty="0">
                  <a:solidFill>
                    <a:srgbClr val="12355B"/>
                  </a:solidFill>
                  <a:latin typeface="+mn-lt"/>
                  <a:ea typeface="+mn-ea"/>
                  <a:cs typeface="+mn-cs"/>
                </a:rPr>
                <a:t>İzleme</a:t>
              </a:r>
            </a:p>
          </p:txBody>
        </p:sp>
        <p:sp>
          <p:nvSpPr>
            <p:cNvPr id="27" name="TextBox 27"/>
            <p:cNvSpPr txBox="1"/>
            <p:nvPr/>
          </p:nvSpPr>
          <p:spPr>
            <a:xfrm>
              <a:off x="2946654" y="2727960"/>
              <a:ext cx="24201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Sistem/uygulama olaylarını,</a:t>
              </a:r>
              <a:br/>
              <a:r>
                <a:rPr lang="tr-TR" sz="1200" dirty="0">
                  <a:solidFill>
                    <a:srgbClr val="172B3A"/>
                  </a:solidFill>
                  <a:latin typeface="+mn-lt"/>
                  <a:ea typeface="+mn-ea"/>
                  <a:cs typeface="+mn-cs"/>
                </a:rPr>
                <a:t>hataları ve HTTP trafiğini zaman</a:t>
              </a:r>
              <a:br/>
              <a:r>
                <a:rPr lang="tr-TR" sz="1200" dirty="0">
                  <a:solidFill>
                    <a:srgbClr val="172B3A"/>
                  </a:solidFill>
                  <a:latin typeface="+mn-lt"/>
                  <a:ea typeface="+mn-ea"/>
                  <a:cs typeface="+mn-cs"/>
                </a:rPr>
                <a:t>damgalı olarak tutar.</a:t>
              </a:r>
            </a:p>
          </p:txBody>
        </p:sp>
        <p:sp>
          <p:nvSpPr>
            <p:cNvPr id="28" name="TextBox 28"/>
            <p:cNvSpPr txBox="1"/>
            <p:nvPr/>
          </p:nvSpPr>
          <p:spPr>
            <a:xfrm>
              <a:off x="6185154" y="2727960"/>
              <a:ext cx="26106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Oluşan arızaları kendi kendine</a:t>
              </a:r>
              <a:br/>
              <a:r>
                <a:rPr lang="tr-TR" sz="1200" dirty="0">
                  <a:solidFill>
                    <a:srgbClr val="52616B"/>
                  </a:solidFill>
                  <a:latin typeface="+mn-lt"/>
                  <a:ea typeface="+mn-ea"/>
                  <a:cs typeface="+mn-cs"/>
                </a:rPr>
                <a:t>düzeltmez; yalnızca hata ayıklama</a:t>
              </a:r>
              <a:br/>
              <a:r>
                <a:rPr lang="tr-TR" sz="1200" dirty="0">
                  <a:solidFill>
                    <a:srgbClr val="52616B"/>
                  </a:solidFill>
                  <a:latin typeface="+mn-lt"/>
                  <a:ea typeface="+mn-ea"/>
                  <a:cs typeface="+mn-cs"/>
                </a:rPr>
                <a:t>için kanıt sağlar.</a:t>
              </a:r>
            </a:p>
          </p:txBody>
        </p:sp>
        <p:sp>
          <p:nvSpPr>
            <p:cNvPr id="29" name="TextBox 29"/>
            <p:cNvSpPr txBox="1"/>
            <p:nvPr/>
          </p:nvSpPr>
          <p:spPr>
            <a:xfrm>
              <a:off x="8852154" y="2727960"/>
              <a:ext cx="26410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Üretimde hata/çökme yaşandığında</a:t>
              </a:r>
              <a:br/>
              <a:r>
                <a:rPr lang="tr-TR" sz="1200" dirty="0">
                  <a:solidFill>
                    <a:srgbClr val="172B3A"/>
                  </a:solidFill>
                  <a:latin typeface="+mn-lt"/>
                  <a:ea typeface="+mn-ea"/>
                  <a:cs typeface="+mn-cs"/>
                </a:rPr>
                <a:t>nedeni anlaşılamaz; operasyon</a:t>
              </a:r>
              <a:br/>
              <a:r>
                <a:rPr lang="tr-TR" sz="1200" dirty="0">
                  <a:solidFill>
                    <a:srgbClr val="172B3A"/>
                  </a:solidFill>
                  <a:latin typeface="+mn-lt"/>
                  <a:ea typeface="+mn-ea"/>
                  <a:cs typeface="+mn-cs"/>
                </a:rPr>
                <a:t>ekibi kör uçuş yapar.</a:t>
              </a:r>
            </a:p>
          </p:txBody>
        </p:sp>
      </p:grpSp>
      <p:grpSp>
        <p:nvGrpSpPr>
          <p:cNvPr id="36" name="row-health"/>
          <p:cNvGrpSpPr/>
          <p:nvPr/>
        </p:nvGrpSpPr>
        <p:grpSpPr>
          <a:xfrm>
            <a:off x="609600" y="3600450"/>
            <a:ext cx="10972800" cy="1028700"/>
            <a:chOff x="609600" y="3600450"/>
            <a:chExt cx="10972800" cy="1028700"/>
          </a:xfrm>
        </p:grpSpPr>
        <p:sp>
          <p:nvSpPr>
            <p:cNvPr id="31" name="Rectangle 31"/>
            <p:cNvSpPr/>
            <p:nvPr/>
          </p:nvSpPr>
          <p:spPr>
            <a:xfrm>
              <a:off x="609600" y="3600450"/>
              <a:ext cx="10972800" cy="1028700"/>
            </a:xfrm>
            <a:prstGeom prst="rect">
              <a:avLst/>
            </a:prstGeom>
            <a:solidFill>
              <a:srgbClr val="FFFFFF"/>
            </a:solidFill>
            <a:ln w="9525">
              <a:solidFill>
                <a:srgbClr val="B8CBD3"/>
              </a:solidFill>
            </a:ln>
          </p:spPr>
        </p:sp>
        <p:sp>
          <p:nvSpPr>
            <p:cNvPr id="32" name="TextBox 32"/>
            <p:cNvSpPr txBox="1"/>
            <p:nvPr/>
          </p:nvSpPr>
          <p:spPr>
            <a:xfrm>
              <a:off x="830199" y="3830479"/>
              <a:ext cx="1596200" cy="536638"/>
            </a:xfrm>
            <a:prstGeom prst="rect">
              <a:avLst/>
            </a:prstGeom>
            <a:noFill/>
            <a:ln>
              <a:noFill/>
            </a:ln>
          </p:spPr>
          <p:txBody>
            <a:bodyPr wrap="none" lIns="0" tIns="0" rIns="0" bIns="0" anchor="t" anchorCtr="0">
              <a:spAutoFit/>
            </a:bodyPr>
            <a:lstStyle/>
            <a:p>
              <a:pPr algn="l">
                <a:lnSpc>
                  <a:spcPts val="1800"/>
                </a:lnSpc>
              </a:pPr>
              <a:r>
                <a:rPr lang="tr-TR" sz="1580" b="1" dirty="0">
                  <a:solidFill>
                    <a:srgbClr val="12355B"/>
                  </a:solidFill>
                  <a:latin typeface="+mn-lt"/>
                  <a:ea typeface="+mn-ea"/>
                  <a:cs typeface="+mn-cs"/>
                </a:rPr>
                <a:t>Sağlık Kontrolü</a:t>
              </a:r>
              <a:br/>
              <a:r>
                <a:rPr lang="tr-TR" sz="1580" b="1" dirty="0">
                  <a:solidFill>
                    <a:srgbClr val="12355B"/>
                  </a:solidFill>
                  <a:latin typeface="+mn-lt"/>
                  <a:ea typeface="+mn-ea"/>
                  <a:cs typeface="+mn-cs"/>
                </a:rPr>
                <a:t>(Health Check)</a:t>
              </a:r>
            </a:p>
          </p:txBody>
        </p:sp>
        <p:sp>
          <p:nvSpPr>
            <p:cNvPr id="33" name="TextBox 33"/>
            <p:cNvSpPr txBox="1"/>
            <p:nvPr/>
          </p:nvSpPr>
          <p:spPr>
            <a:xfrm>
              <a:off x="2946654" y="3756660"/>
              <a:ext cx="223723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Sunucu ve bağımlı servislerin</a:t>
              </a:r>
              <a:br/>
              <a:r>
                <a:rPr lang="tr-TR" sz="1200" dirty="0">
                  <a:solidFill>
                    <a:srgbClr val="172B3A"/>
                  </a:solidFill>
                  <a:latin typeface="+mn-lt"/>
                  <a:ea typeface="+mn-ea"/>
                  <a:cs typeface="+mn-cs"/>
                </a:rPr>
                <a:t>ayakta olup olmadığını izleme</a:t>
              </a:r>
              <a:br/>
              <a:r>
                <a:rPr lang="tr-TR" sz="1200" dirty="0">
                  <a:solidFill>
                    <a:srgbClr val="172B3A"/>
                  </a:solidFill>
                  <a:latin typeface="+mn-lt"/>
                  <a:ea typeface="+mn-ea"/>
                  <a:cs typeface="+mn-cs"/>
                </a:rPr>
                <a:t>araçlarına düzenli bildirir.</a:t>
              </a:r>
            </a:p>
          </p:txBody>
        </p:sp>
        <p:sp>
          <p:nvSpPr>
            <p:cNvPr id="34" name="TextBox 34"/>
            <p:cNvSpPr txBox="1"/>
            <p:nvPr/>
          </p:nvSpPr>
          <p:spPr>
            <a:xfrm>
              <a:off x="6185154" y="3756660"/>
              <a:ext cx="24429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Bozuk bir servisi otomatik</a:t>
              </a:r>
              <a:br/>
              <a:r>
                <a:rPr lang="tr-TR" sz="1200" dirty="0">
                  <a:solidFill>
                    <a:srgbClr val="52616B"/>
                  </a:solidFill>
                  <a:latin typeface="+mn-lt"/>
                  <a:ea typeface="+mn-ea"/>
                  <a:cs typeface="+mn-cs"/>
                </a:rPr>
                <a:t>tamir etmez; yalnızca çalışıyor</a:t>
              </a:r>
              <a:br/>
              <a:r>
                <a:rPr lang="tr-TR" sz="1200" dirty="0">
                  <a:solidFill>
                    <a:srgbClr val="52616B"/>
                  </a:solidFill>
                  <a:latin typeface="+mn-lt"/>
                  <a:ea typeface="+mn-ea"/>
                  <a:cs typeface="+mn-cs"/>
                </a:rPr>
                <a:t>mu bilgisini raporlar.</a:t>
              </a:r>
            </a:p>
          </p:txBody>
        </p:sp>
        <p:sp>
          <p:nvSpPr>
            <p:cNvPr id="35" name="TextBox 35"/>
            <p:cNvSpPr txBox="1"/>
            <p:nvPr/>
          </p:nvSpPr>
          <p:spPr>
            <a:xfrm>
              <a:off x="8852154" y="3756660"/>
              <a:ext cx="24124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Nginx çökmüş container'a trafik</a:t>
              </a:r>
              <a:br/>
              <a:r>
                <a:rPr lang="tr-TR" sz="1200" dirty="0">
                  <a:solidFill>
                    <a:srgbClr val="172B3A"/>
                  </a:solidFill>
                  <a:latin typeface="+mn-lt"/>
                  <a:ea typeface="+mn-ea"/>
                  <a:cs typeface="+mn-cs"/>
                </a:rPr>
                <a:t>yönlendirmeye devam eder;</a:t>
              </a:r>
              <a:br/>
              <a:r>
                <a:rPr lang="tr-TR" sz="1200" dirty="0">
                  <a:solidFill>
                    <a:srgbClr val="172B3A"/>
                  </a:solidFill>
                  <a:latin typeface="+mn-lt"/>
                  <a:ea typeface="+mn-ea"/>
                  <a:cs typeface="+mn-cs"/>
                </a:rPr>
                <a:t>kullanıcılar 502/504 alır.</a:t>
              </a:r>
            </a:p>
          </p:txBody>
        </p:sp>
      </p:grpSp>
      <p:grpSp>
        <p:nvGrpSpPr>
          <p:cNvPr id="41" name="row-note"/>
          <p:cNvGrpSpPr/>
          <p:nvPr/>
        </p:nvGrpSpPr>
        <p:grpSpPr>
          <a:xfrm>
            <a:off x="609600" y="4743450"/>
            <a:ext cx="10972800" cy="723900"/>
            <a:chOff x="609600" y="4743450"/>
            <a:chExt cx="10972800" cy="723900"/>
          </a:xfrm>
        </p:grpSpPr>
        <p:sp>
          <p:nvSpPr>
            <p:cNvPr id="37" name="Rectangle 37"/>
            <p:cNvSpPr/>
            <p:nvPr/>
          </p:nvSpPr>
          <p:spPr>
            <a:xfrm>
              <a:off x="609600" y="4743450"/>
              <a:ext cx="10972800" cy="723900"/>
            </a:xfrm>
            <a:prstGeom prst="roundRect">
              <a:avLst>
                <a:gd name="adj" fmla="val 10526"/>
              </a:avLst>
            </a:prstGeom>
            <a:solidFill>
              <a:srgbClr val="EAF4F6"/>
            </a:solidFill>
            <a:ln>
              <a:noFill/>
            </a:ln>
          </p:spPr>
        </p:sp>
        <p:sp>
          <p:nvSpPr>
            <p:cNvPr id="38" name="Rectangle 38"/>
            <p:cNvSpPr/>
            <p:nvPr/>
          </p:nvSpPr>
          <p:spPr>
            <a:xfrm>
              <a:off x="609600" y="4743450"/>
              <a:ext cx="57150" cy="723900"/>
            </a:xfrm>
            <a:prstGeom prst="rect">
              <a:avLst/>
            </a:prstGeom>
            <a:solidFill>
              <a:srgbClr val="00A6A6"/>
            </a:solidFill>
            <a:ln>
              <a:noFill/>
            </a:ln>
          </p:spPr>
        </p:sp>
        <p:sp>
          <p:nvSpPr>
            <p:cNvPr id="39" name="TextBox 39"/>
            <p:cNvSpPr txBox="1"/>
            <p:nvPr/>
          </p:nvSpPr>
          <p:spPr>
            <a:xfrm>
              <a:off x="906399" y="4859179"/>
              <a:ext cx="476841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Güvenlik + gözlemlenebilirlik birlikte çalışır</a:t>
              </a:r>
            </a:p>
          </p:txBody>
        </p:sp>
        <p:sp>
          <p:nvSpPr>
            <p:cNvPr id="40" name="TextBox 40"/>
            <p:cNvSpPr txBox="1"/>
            <p:nvPr/>
          </p:nvSpPr>
          <p:spPr>
            <a:xfrm>
              <a:off x="908304" y="5147310"/>
              <a:ext cx="764655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HTTPS trafiği korur, loglama ve health check ise trafiğin gerçekten sağlıklı işlendiğini kanıtlar.</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24</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9072213" cy="668845"/>
            <a:chOff x="609600" y="171450"/>
            <a:chExt cx="9072213"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838184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Production dağıtımı nedir, neden vardır?</a:t>
              </a:r>
            </a:p>
          </p:txBody>
        </p:sp>
      </p:grpSp>
      <p:grpSp>
        <p:nvGrpSpPr>
          <p:cNvPr id="14" name="definition-block"/>
          <p:cNvGrpSpPr/>
          <p:nvPr/>
        </p:nvGrpSpPr>
        <p:grpSpPr>
          <a:xfrm>
            <a:off x="609600" y="1181100"/>
            <a:ext cx="10972800" cy="857250"/>
            <a:chOff x="609600" y="1181100"/>
            <a:chExt cx="10972800" cy="857250"/>
          </a:xfrm>
        </p:grpSpPr>
        <p:sp>
          <p:nvSpPr>
            <p:cNvPr id="9" name="Rectangle 9"/>
            <p:cNvSpPr/>
            <p:nvPr/>
          </p:nvSpPr>
          <p:spPr>
            <a:xfrm>
              <a:off x="609600" y="1181100"/>
              <a:ext cx="10972800" cy="857250"/>
            </a:xfrm>
            <a:prstGeom prst="roundRect">
              <a:avLst>
                <a:gd name="adj" fmla="val 8889"/>
              </a:avLst>
            </a:prstGeom>
            <a:solidFill>
              <a:srgbClr val="EAF4F6"/>
            </a:solidFill>
            <a:ln>
              <a:noFill/>
            </a:ln>
          </p:spPr>
        </p:sp>
        <p:sp>
          <p:nvSpPr>
            <p:cNvPr id="10" name="Rectangle 10"/>
            <p:cNvSpPr/>
            <p:nvPr/>
          </p:nvSpPr>
          <p:spPr>
            <a:xfrm>
              <a:off x="609600" y="1181100"/>
              <a:ext cx="57150" cy="857250"/>
            </a:xfrm>
            <a:prstGeom prst="rect">
              <a:avLst/>
            </a:prstGeom>
            <a:solidFill>
              <a:srgbClr val="00A6A6"/>
            </a:solidFill>
            <a:ln>
              <a:noFill/>
            </a:ln>
          </p:spPr>
        </p:sp>
        <p:sp>
          <p:nvSpPr>
            <p:cNvPr id="11" name="TextBox 11"/>
            <p:cNvSpPr txBox="1"/>
            <p:nvPr/>
          </p:nvSpPr>
          <p:spPr>
            <a:xfrm>
              <a:off x="906399" y="127777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12" name="TextBox 12"/>
            <p:cNvSpPr txBox="1"/>
            <p:nvPr/>
          </p:nvSpPr>
          <p:spPr>
            <a:xfrm>
              <a:off x="906399" y="1525429"/>
              <a:ext cx="1043426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 uygulamanın geliştirici makinesinden çıkıp gerçek kullanıcıların eriştiği bir sunucuda; güvenlik,</a:t>
              </a:r>
            </a:p>
          </p:txBody>
        </p:sp>
        <p:sp>
          <p:nvSpPr>
            <p:cNvPr id="13" name="TextBox 13"/>
            <p:cNvSpPr txBox="1"/>
            <p:nvPr/>
          </p:nvSpPr>
          <p:spPr>
            <a:xfrm>
              <a:off x="908304" y="1794510"/>
              <a:ext cx="774207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erişilebilirlik ve gözlemlenebilirlik gereksinimlerini karşılayacak biçimde çalıştırılması sürecidir.</a:t>
              </a:r>
            </a:p>
          </p:txBody>
        </p:sp>
      </p:grpSp>
      <p:grpSp>
        <p:nvGrpSpPr>
          <p:cNvPr id="27" name="why-block"/>
          <p:cNvGrpSpPr/>
          <p:nvPr/>
        </p:nvGrpSpPr>
        <p:grpSpPr>
          <a:xfrm>
            <a:off x="609600" y="2209800"/>
            <a:ext cx="5257800" cy="3238500"/>
            <a:chOff x="609600" y="2209800"/>
            <a:chExt cx="5257800" cy="3238500"/>
          </a:xfrm>
        </p:grpSpPr>
        <p:sp>
          <p:nvSpPr>
            <p:cNvPr id="15" name="Rectangle 15"/>
            <p:cNvSpPr/>
            <p:nvPr/>
          </p:nvSpPr>
          <p:spPr>
            <a:xfrm>
              <a:off x="609600" y="2209800"/>
              <a:ext cx="5257800" cy="3238500"/>
            </a:xfrm>
            <a:prstGeom prst="roundRect">
              <a:avLst>
                <a:gd name="adj" fmla="val 2353"/>
              </a:avLst>
            </a:prstGeom>
            <a:solidFill>
              <a:srgbClr val="FFFFFF"/>
            </a:solidFill>
            <a:ln w="14288">
              <a:solidFill>
                <a:srgbClr val="B8CBD3"/>
              </a:solidFill>
            </a:ln>
          </p:spPr>
        </p:sp>
        <p:sp>
          <p:nvSpPr>
            <p:cNvPr id="16" name="TextBox 16"/>
            <p:cNvSpPr txBox="1"/>
            <p:nvPr/>
          </p:nvSpPr>
          <p:spPr>
            <a:xfrm>
              <a:off x="868299" y="2363629"/>
              <a:ext cx="156494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Neden vardır?</a:t>
              </a:r>
            </a:p>
          </p:txBody>
        </p:sp>
        <p:sp>
          <p:nvSpPr>
            <p:cNvPr id="17" name="TextBox 17"/>
            <p:cNvSpPr txBox="1"/>
            <p:nvPr/>
          </p:nvSpPr>
          <p:spPr>
            <a:xfrm>
              <a:off x="870204" y="2727960"/>
              <a:ext cx="286024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Geliştirme ortamının gereksinimleri</a:t>
              </a:r>
            </a:p>
          </p:txBody>
        </p:sp>
        <p:sp>
          <p:nvSpPr>
            <p:cNvPr id="18" name="TextBox 18"/>
            <p:cNvSpPr txBox="1"/>
            <p:nvPr/>
          </p:nvSpPr>
          <p:spPr>
            <a:xfrm>
              <a:off x="870204" y="2956560"/>
              <a:ext cx="211226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production'dan farklıdır:</a:t>
              </a:r>
            </a:p>
          </p:txBody>
        </p:sp>
        <p:sp>
          <p:nvSpPr>
            <p:cNvPr id="19" name="TextBox 19"/>
            <p:cNvSpPr txBox="1"/>
            <p:nvPr/>
          </p:nvSpPr>
          <p:spPr>
            <a:xfrm>
              <a:off x="870204" y="3299460"/>
              <a:ext cx="293321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Geliştirmede: tek kullanıcı, şifresiz</a:t>
              </a:r>
            </a:p>
          </p:txBody>
        </p:sp>
        <p:sp>
          <p:nvSpPr>
            <p:cNvPr id="20" name="TextBox 20"/>
            <p:cNvSpPr txBox="1"/>
            <p:nvPr/>
          </p:nvSpPr>
          <p:spPr>
            <a:xfrm>
              <a:off x="870204" y="3528060"/>
              <a:ext cx="318327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HTTP, konsola yazdırılan loglar yeterli.</a:t>
              </a:r>
            </a:p>
          </p:txBody>
        </p:sp>
        <p:sp>
          <p:nvSpPr>
            <p:cNvPr id="21" name="TextBox 21"/>
            <p:cNvSpPr txBox="1"/>
            <p:nvPr/>
          </p:nvSpPr>
          <p:spPr>
            <a:xfrm>
              <a:off x="870204" y="3870960"/>
              <a:ext cx="297402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Production'da: çok sayıda kullanıcı,</a:t>
              </a:r>
            </a:p>
          </p:txBody>
        </p:sp>
        <p:sp>
          <p:nvSpPr>
            <p:cNvPr id="22" name="TextBox 22"/>
            <p:cNvSpPr txBox="1"/>
            <p:nvPr/>
          </p:nvSpPr>
          <p:spPr>
            <a:xfrm>
              <a:off x="870204" y="4099560"/>
              <a:ext cx="261396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şifreli HTTPS trafiği, aranabilir/</a:t>
              </a:r>
            </a:p>
          </p:txBody>
        </p:sp>
        <p:sp>
          <p:nvSpPr>
            <p:cNvPr id="23" name="TextBox 23"/>
            <p:cNvSpPr txBox="1"/>
            <p:nvPr/>
          </p:nvSpPr>
          <p:spPr>
            <a:xfrm>
              <a:off x="870204" y="4328160"/>
              <a:ext cx="213649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saklanabilir loglar gerekir.</a:t>
              </a:r>
            </a:p>
          </p:txBody>
        </p:sp>
        <p:sp>
          <p:nvSpPr>
            <p:cNvPr id="24" name="TextBox 24"/>
            <p:cNvSpPr txBox="1"/>
            <p:nvPr/>
          </p:nvSpPr>
          <p:spPr>
            <a:xfrm>
              <a:off x="870204" y="4671060"/>
              <a:ext cx="290928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Bu farkı görmezden gelmek, güvenlik</a:t>
              </a:r>
            </a:p>
          </p:txBody>
        </p:sp>
        <p:sp>
          <p:nvSpPr>
            <p:cNvPr id="25" name="TextBox 25"/>
            <p:cNvSpPr txBox="1"/>
            <p:nvPr/>
          </p:nvSpPr>
          <p:spPr>
            <a:xfrm>
              <a:off x="870204" y="4899660"/>
              <a:ext cx="278267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açıklarına ve izlenemeyen hatalara</a:t>
              </a:r>
            </a:p>
          </p:txBody>
        </p:sp>
        <p:sp>
          <p:nvSpPr>
            <p:cNvPr id="26" name="TextBox 26"/>
            <p:cNvSpPr txBox="1"/>
            <p:nvPr/>
          </p:nvSpPr>
          <p:spPr>
            <a:xfrm>
              <a:off x="870204" y="5128260"/>
              <a:ext cx="73106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yol açar.</a:t>
              </a:r>
            </a:p>
          </p:txBody>
        </p:sp>
      </p:grpSp>
      <p:grpSp>
        <p:nvGrpSpPr>
          <p:cNvPr id="41" name="theory-block"/>
          <p:cNvGrpSpPr/>
          <p:nvPr/>
        </p:nvGrpSpPr>
        <p:grpSpPr>
          <a:xfrm>
            <a:off x="6324600" y="2209800"/>
            <a:ext cx="5257800" cy="3238500"/>
            <a:chOff x="6324600" y="2209800"/>
            <a:chExt cx="5257800" cy="3238500"/>
          </a:xfrm>
        </p:grpSpPr>
        <p:sp>
          <p:nvSpPr>
            <p:cNvPr id="28" name="Rectangle 28"/>
            <p:cNvSpPr/>
            <p:nvPr/>
          </p:nvSpPr>
          <p:spPr>
            <a:xfrm>
              <a:off x="6324600" y="2209800"/>
              <a:ext cx="5257800" cy="3238500"/>
            </a:xfrm>
            <a:prstGeom prst="roundRect">
              <a:avLst>
                <a:gd name="adj" fmla="val 2353"/>
              </a:avLst>
            </a:prstGeom>
            <a:solidFill>
              <a:srgbClr val="FFFFFF"/>
            </a:solidFill>
            <a:ln w="14288">
              <a:solidFill>
                <a:srgbClr val="00A6A6"/>
              </a:solidFill>
            </a:ln>
          </p:spPr>
        </p:sp>
        <p:sp>
          <p:nvSpPr>
            <p:cNvPr id="29" name="TextBox 29"/>
            <p:cNvSpPr txBox="1"/>
            <p:nvPr/>
          </p:nvSpPr>
          <p:spPr>
            <a:xfrm>
              <a:off x="6583299" y="2363629"/>
              <a:ext cx="205553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Kuramsal arka plan</a:t>
              </a:r>
            </a:p>
          </p:txBody>
        </p:sp>
        <p:sp>
          <p:nvSpPr>
            <p:cNvPr id="30" name="TextBox 30"/>
            <p:cNvSpPr txBox="1"/>
            <p:nvPr/>
          </p:nvSpPr>
          <p:spPr>
            <a:xfrm>
              <a:off x="6585204" y="2727960"/>
              <a:ext cx="278685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Adam Wiggins'in Heroku'da 2011'de</a:t>
              </a:r>
            </a:p>
          </p:txBody>
        </p:sp>
        <p:sp>
          <p:nvSpPr>
            <p:cNvPr id="31" name="TextBox 31"/>
            <p:cNvSpPr txBox="1"/>
            <p:nvPr/>
          </p:nvSpPr>
          <p:spPr>
            <a:xfrm>
              <a:off x="6585204" y="2956560"/>
              <a:ext cx="312270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yayımladığı Twelve-Factor App, ortam</a:t>
              </a:r>
            </a:p>
          </p:txBody>
        </p:sp>
        <p:sp>
          <p:nvSpPr>
            <p:cNvPr id="32" name="TextBox 32"/>
            <p:cNvSpPr txBox="1"/>
            <p:nvPr/>
          </p:nvSpPr>
          <p:spPr>
            <a:xfrm>
              <a:off x="6585204" y="3185160"/>
              <a:ext cx="287959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değişkenlerinin config'i taşıması ve</a:t>
              </a:r>
            </a:p>
          </p:txBody>
        </p:sp>
        <p:sp>
          <p:nvSpPr>
            <p:cNvPr id="33" name="TextBox 33"/>
            <p:cNvSpPr txBox="1"/>
            <p:nvPr/>
          </p:nvSpPr>
          <p:spPr>
            <a:xfrm>
              <a:off x="6585204" y="3413760"/>
              <a:ext cx="289575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logların bir olay akışı olması gibi on</a:t>
              </a:r>
            </a:p>
          </p:txBody>
        </p:sp>
        <p:sp>
          <p:nvSpPr>
            <p:cNvPr id="34" name="TextBox 34"/>
            <p:cNvSpPr txBox="1"/>
            <p:nvPr/>
          </p:nvSpPr>
          <p:spPr>
            <a:xfrm>
              <a:off x="6585204" y="3642360"/>
              <a:ext cx="149839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iki ilkeyi tanımlar.</a:t>
              </a:r>
            </a:p>
          </p:txBody>
        </p:sp>
        <p:sp>
          <p:nvSpPr>
            <p:cNvPr id="35" name="TextBox 35"/>
            <p:cNvSpPr txBox="1"/>
            <p:nvPr/>
          </p:nvSpPr>
          <p:spPr>
            <a:xfrm>
              <a:off x="6585204" y="3966210"/>
              <a:ext cx="270596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14'teki Docker imajı "build,</a:t>
              </a:r>
            </a:p>
          </p:txBody>
        </p:sp>
        <p:sp>
          <p:nvSpPr>
            <p:cNvPr id="36" name="TextBox 36"/>
            <p:cNvSpPr txBox="1"/>
            <p:nvPr/>
          </p:nvSpPr>
          <p:spPr>
            <a:xfrm>
              <a:off x="6585204" y="4194810"/>
              <a:ext cx="321884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release, run" ayrımını sağlar; bu bölüm</a:t>
              </a:r>
            </a:p>
          </p:txBody>
        </p:sp>
        <p:sp>
          <p:nvSpPr>
            <p:cNvPr id="37" name="TextBox 37"/>
            <p:cNvSpPr txBox="1"/>
            <p:nvPr/>
          </p:nvSpPr>
          <p:spPr>
            <a:xfrm>
              <a:off x="6585204" y="4423410"/>
              <a:ext cx="242727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aynı imajın "release" ve "run"</a:t>
              </a:r>
            </a:p>
          </p:txBody>
        </p:sp>
        <p:sp>
          <p:nvSpPr>
            <p:cNvPr id="38" name="TextBox 38"/>
            <p:cNvSpPr txBox="1"/>
            <p:nvPr/>
          </p:nvSpPr>
          <p:spPr>
            <a:xfrm>
              <a:off x="6585204" y="4652010"/>
              <a:ext cx="319460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aşamalarını gerçek sunucuda tamamlar.</a:t>
              </a:r>
            </a:p>
          </p:txBody>
        </p:sp>
        <p:sp>
          <p:nvSpPr>
            <p:cNvPr id="39" name="TextBox 39"/>
            <p:cNvSpPr txBox="1"/>
            <p:nvPr/>
          </p:nvSpPr>
          <p:spPr>
            <a:xfrm>
              <a:off x="6585204" y="4975860"/>
              <a:ext cx="250466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Güvenilirlik + gözlemlenebilirlik:</a:t>
              </a:r>
            </a:p>
          </p:txBody>
        </p:sp>
        <p:sp>
          <p:nvSpPr>
            <p:cNvPr id="40" name="TextBox 40"/>
            <p:cNvSpPr txBox="1"/>
            <p:nvPr/>
          </p:nvSpPr>
          <p:spPr>
            <a:xfrm>
              <a:off x="6585204" y="5204460"/>
              <a:ext cx="398617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sistem doğru çalışmalı ve dışarıdan izlenebilmeli.</a:t>
              </a:r>
            </a:p>
          </p:txBody>
        </p:sp>
      </p:grpSp>
      <p:grpSp>
        <p:nvGrpSpPr>
          <p:cNvPr id="45" name="mapping-note"/>
          <p:cNvGrpSpPr/>
          <p:nvPr/>
        </p:nvGrpSpPr>
        <p:grpSpPr>
          <a:xfrm>
            <a:off x="609600" y="5600700"/>
            <a:ext cx="10972800" cy="685800"/>
            <a:chOff x="609600" y="5600700"/>
            <a:chExt cx="10972800" cy="685800"/>
          </a:xfrm>
        </p:grpSpPr>
        <p:sp>
          <p:nvSpPr>
            <p:cNvPr id="42" name="Rectangle 42"/>
            <p:cNvSpPr/>
            <p:nvPr/>
          </p:nvSpPr>
          <p:spPr>
            <a:xfrm>
              <a:off x="609600" y="5600700"/>
              <a:ext cx="10972800" cy="685800"/>
            </a:xfrm>
            <a:prstGeom prst="roundRect">
              <a:avLst>
                <a:gd name="adj" fmla="val 11111"/>
              </a:avLst>
            </a:prstGeom>
            <a:solidFill>
              <a:srgbClr val="EAF4F6"/>
            </a:solidFill>
            <a:ln>
              <a:noFill/>
            </a:ln>
          </p:spPr>
        </p:sp>
        <p:sp>
          <p:nvSpPr>
            <p:cNvPr id="43" name="TextBox 43"/>
            <p:cNvSpPr txBox="1"/>
            <p:nvPr/>
          </p:nvSpPr>
          <p:spPr>
            <a:xfrm>
              <a:off x="906399" y="5735479"/>
              <a:ext cx="727593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Nginx → erişim, HTTPS → güvenlik, health check → gözlemlenebilirlik.</a:t>
              </a:r>
            </a:p>
          </p:txBody>
        </p:sp>
        <p:sp>
          <p:nvSpPr>
            <p:cNvPr id="44" name="TextBox 44"/>
            <p:cNvSpPr txBox="1"/>
            <p:nvPr/>
          </p:nvSpPr>
          <p:spPr>
            <a:xfrm>
              <a:off x="908304" y="6023610"/>
              <a:ext cx="596243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Bu bölümdeki üç konu, production'ın üç somut gereksinimine karşılık gelir.</a:t>
              </a:r>
            </a:p>
          </p:txBody>
        </p:sp>
      </p:grpSp>
      <p:sp>
        <p:nvSpPr>
          <p:cNvPr id="46" name="TextBox 4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24</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478293" cy="668845"/>
            <a:chOff x="609600" y="171450"/>
            <a:chExt cx="8478293"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778792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SSH ile production dağıtımı (Kod 15.1)</a:t>
              </a:r>
            </a:p>
          </p:txBody>
        </p:sp>
      </p:grpSp>
      <p:grpSp>
        <p:nvGrpSpPr>
          <p:cNvPr id="22" name="code-block"/>
          <p:cNvGrpSpPr/>
          <p:nvPr/>
        </p:nvGrpSpPr>
        <p:grpSpPr>
          <a:xfrm>
            <a:off x="609600" y="1181100"/>
            <a:ext cx="6096000" cy="3238500"/>
            <a:chOff x="609600" y="1181100"/>
            <a:chExt cx="6096000" cy="3238500"/>
          </a:xfrm>
        </p:grpSpPr>
        <p:sp>
          <p:nvSpPr>
            <p:cNvPr id="9" name="Rectangle 9"/>
            <p:cNvSpPr/>
            <p:nvPr/>
          </p:nvSpPr>
          <p:spPr>
            <a:xfrm>
              <a:off x="609600" y="1181100"/>
              <a:ext cx="6096000" cy="3238500"/>
            </a:xfrm>
            <a:prstGeom prst="roundRect">
              <a:avLst>
                <a:gd name="adj" fmla="val 2353"/>
              </a:avLst>
            </a:prstGeom>
            <a:solidFill>
              <a:srgbClr val="12355B"/>
            </a:solidFill>
            <a:ln>
              <a:noFill/>
            </a:ln>
          </p:spPr>
        </p:sp>
        <p:sp>
          <p:nvSpPr>
            <p:cNvPr id="10" name="TextBox 10"/>
            <p:cNvSpPr txBox="1"/>
            <p:nvPr/>
          </p:nvSpPr>
          <p:spPr>
            <a:xfrm>
              <a:off x="832104" y="1337310"/>
              <a:ext cx="2521092"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1. SSH ile sunucuya bağlan</a:t>
              </a:r>
            </a:p>
          </p:txBody>
        </p:sp>
        <p:sp>
          <p:nvSpPr>
            <p:cNvPr id="11" name="TextBox 11"/>
            <p:cNvSpPr txBox="1"/>
            <p:nvPr/>
          </p:nvSpPr>
          <p:spPr>
            <a:xfrm>
              <a:off x="832104" y="1584960"/>
              <a:ext cx="276651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ssh dagitim@kutuphane-sunucu...</a:t>
              </a:r>
            </a:p>
          </p:txBody>
        </p:sp>
        <p:sp>
          <p:nvSpPr>
            <p:cNvPr id="12" name="TextBox 12"/>
            <p:cNvSpPr txBox="1"/>
            <p:nvPr/>
          </p:nvSpPr>
          <p:spPr>
            <a:xfrm>
              <a:off x="832104" y="1889760"/>
              <a:ext cx="2417910"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2. Depoyu klonla/güncelle</a:t>
              </a:r>
            </a:p>
          </p:txBody>
        </p:sp>
        <p:sp>
          <p:nvSpPr>
            <p:cNvPr id="13" name="TextBox 13"/>
            <p:cNvSpPr txBox="1"/>
            <p:nvPr/>
          </p:nvSpPr>
          <p:spPr>
            <a:xfrm>
              <a:off x="832104" y="2137410"/>
              <a:ext cx="276651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git clone .../kutuphane-api.git</a:t>
              </a:r>
            </a:p>
          </p:txBody>
        </p:sp>
        <p:sp>
          <p:nvSpPr>
            <p:cNvPr id="14" name="TextBox 14"/>
            <p:cNvSpPr txBox="1"/>
            <p:nvPr/>
          </p:nvSpPr>
          <p:spPr>
            <a:xfrm>
              <a:off x="832104" y="2346960"/>
              <a:ext cx="143377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cd kutuphane-api</a:t>
              </a:r>
            </a:p>
          </p:txBody>
        </p:sp>
        <p:sp>
          <p:nvSpPr>
            <p:cNvPr id="15" name="TextBox 15"/>
            <p:cNvSpPr txBox="1"/>
            <p:nvPr/>
          </p:nvSpPr>
          <p:spPr>
            <a:xfrm>
              <a:off x="832104" y="2651760"/>
              <a:ext cx="2862072"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3. Üretim modunda ayağa kaldır</a:t>
              </a:r>
            </a:p>
          </p:txBody>
        </p:sp>
        <p:sp>
          <p:nvSpPr>
            <p:cNvPr id="16" name="TextBox 16"/>
            <p:cNvSpPr txBox="1"/>
            <p:nvPr/>
          </p:nvSpPr>
          <p:spPr>
            <a:xfrm>
              <a:off x="832104" y="2899410"/>
              <a:ext cx="285536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docker compose -f docker-compose</a:t>
              </a:r>
            </a:p>
          </p:txBody>
        </p:sp>
        <p:sp>
          <p:nvSpPr>
            <p:cNvPr id="17" name="TextBox 17"/>
            <p:cNvSpPr txBox="1"/>
            <p:nvPr/>
          </p:nvSpPr>
          <p:spPr>
            <a:xfrm>
              <a:off x="832104" y="3108960"/>
              <a:ext cx="2055724"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.prod.yml up --build -d</a:t>
              </a:r>
            </a:p>
          </p:txBody>
        </p:sp>
        <p:sp>
          <p:nvSpPr>
            <p:cNvPr id="18" name="TextBox 18"/>
            <p:cNvSpPr txBox="1"/>
            <p:nvPr/>
          </p:nvSpPr>
          <p:spPr>
            <a:xfrm>
              <a:off x="832104" y="3413760"/>
              <a:ext cx="1796361"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4. Sağlığı doğrula</a:t>
              </a:r>
            </a:p>
          </p:txBody>
        </p:sp>
        <p:sp>
          <p:nvSpPr>
            <p:cNvPr id="19" name="TextBox 19"/>
            <p:cNvSpPr txBox="1"/>
            <p:nvPr/>
          </p:nvSpPr>
          <p:spPr>
            <a:xfrm>
              <a:off x="832104" y="3661410"/>
              <a:ext cx="294421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curl http://localhost:3000/saglik</a:t>
              </a:r>
            </a:p>
          </p:txBody>
        </p:sp>
        <p:sp>
          <p:nvSpPr>
            <p:cNvPr id="20" name="TextBox 20"/>
            <p:cNvSpPr txBox="1"/>
            <p:nvPr/>
          </p:nvSpPr>
          <p:spPr>
            <a:xfrm>
              <a:off x="832104" y="3909060"/>
              <a:ext cx="2508771"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Çıktı: {"durum":"ayakta"}</a:t>
              </a:r>
            </a:p>
          </p:txBody>
        </p:sp>
        <p:sp>
          <p:nvSpPr>
            <p:cNvPr id="21" name="TextBox 21"/>
            <p:cNvSpPr txBox="1"/>
            <p:nvPr/>
          </p:nvSpPr>
          <p:spPr>
            <a:xfrm>
              <a:off x="832104" y="4156710"/>
              <a:ext cx="442691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SSH ile bağlanıp Compose ile servisleri ayağa kaldırmak.</a:t>
              </a:r>
            </a:p>
          </p:txBody>
        </p:sp>
      </p:grpSp>
      <p:grpSp>
        <p:nvGrpSpPr>
          <p:cNvPr id="36" name="critical-lines"/>
          <p:cNvGrpSpPr/>
          <p:nvPr/>
        </p:nvGrpSpPr>
        <p:grpSpPr>
          <a:xfrm>
            <a:off x="7010400" y="1181100"/>
            <a:ext cx="4572000" cy="3238500"/>
            <a:chOff x="7010400" y="1181100"/>
            <a:chExt cx="4572000" cy="3238500"/>
          </a:xfrm>
        </p:grpSpPr>
        <p:sp>
          <p:nvSpPr>
            <p:cNvPr id="23" name="Rectangle 23"/>
            <p:cNvSpPr/>
            <p:nvPr/>
          </p:nvSpPr>
          <p:spPr>
            <a:xfrm>
              <a:off x="7010400" y="1181100"/>
              <a:ext cx="4572000" cy="971550"/>
            </a:xfrm>
            <a:prstGeom prst="roundRect">
              <a:avLst>
                <a:gd name="adj" fmla="val 7843"/>
              </a:avLst>
            </a:prstGeom>
            <a:solidFill>
              <a:srgbClr val="FFFFFF"/>
            </a:solidFill>
            <a:ln w="14288">
              <a:solidFill>
                <a:srgbClr val="B8CBD3"/>
              </a:solidFill>
            </a:ln>
          </p:spPr>
        </p:sp>
        <p:sp>
          <p:nvSpPr>
            <p:cNvPr id="24" name="TextBox 24"/>
            <p:cNvSpPr txBox="1"/>
            <p:nvPr/>
          </p:nvSpPr>
          <p:spPr>
            <a:xfrm>
              <a:off x="7232142" y="1321118"/>
              <a:ext cx="2904697"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up --build -d bağımsız kümedir</a:t>
              </a:r>
            </a:p>
          </p:txBody>
        </p:sp>
        <p:sp>
          <p:nvSpPr>
            <p:cNvPr id="25" name="TextBox 25"/>
            <p:cNvSpPr txBox="1"/>
            <p:nvPr/>
          </p:nvSpPr>
          <p:spPr>
            <a:xfrm>
              <a:off x="7232904" y="1584960"/>
              <a:ext cx="305257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Üretim dosyası Bölüm 14'teki dosyayla</a:t>
              </a:r>
            </a:p>
          </p:txBody>
        </p:sp>
        <p:sp>
          <p:nvSpPr>
            <p:cNvPr id="26" name="TextBox 26"/>
            <p:cNvSpPr txBox="1"/>
            <p:nvPr/>
          </p:nvSpPr>
          <p:spPr>
            <a:xfrm>
              <a:off x="7232904" y="1794510"/>
              <a:ext cx="422041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aynı servis adlarını kullanmaz, üst üste bindirilmez.</a:t>
              </a:r>
            </a:p>
          </p:txBody>
        </p:sp>
        <p:sp>
          <p:nvSpPr>
            <p:cNvPr id="27" name="Rectangle 27"/>
            <p:cNvSpPr/>
            <p:nvPr/>
          </p:nvSpPr>
          <p:spPr>
            <a:xfrm>
              <a:off x="7010400" y="2266950"/>
              <a:ext cx="4572000" cy="933450"/>
            </a:xfrm>
            <a:prstGeom prst="roundRect">
              <a:avLst>
                <a:gd name="adj" fmla="val 8163"/>
              </a:avLst>
            </a:prstGeom>
            <a:solidFill>
              <a:srgbClr val="FFFFFF"/>
            </a:solidFill>
            <a:ln w="14288">
              <a:solidFill>
                <a:srgbClr val="B8CBD3"/>
              </a:solidFill>
            </a:ln>
          </p:spPr>
        </p:sp>
        <p:sp>
          <p:nvSpPr>
            <p:cNvPr id="28" name="TextBox 28"/>
            <p:cNvSpPr txBox="1"/>
            <p:nvPr/>
          </p:nvSpPr>
          <p:spPr>
            <a:xfrm>
              <a:off x="7232142" y="2406968"/>
              <a:ext cx="2551673"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-d: arka planda (detached)</a:t>
              </a:r>
            </a:p>
          </p:txBody>
        </p:sp>
        <p:sp>
          <p:nvSpPr>
            <p:cNvPr id="29" name="TextBox 29"/>
            <p:cNvSpPr txBox="1"/>
            <p:nvPr/>
          </p:nvSpPr>
          <p:spPr>
            <a:xfrm>
              <a:off x="7232904" y="2670810"/>
              <a:ext cx="275773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SSH oturumu kapansa bile servisler</a:t>
              </a:r>
            </a:p>
          </p:txBody>
        </p:sp>
        <p:sp>
          <p:nvSpPr>
            <p:cNvPr id="30" name="TextBox 30"/>
            <p:cNvSpPr txBox="1"/>
            <p:nvPr/>
          </p:nvSpPr>
          <p:spPr>
            <a:xfrm>
              <a:off x="7232904" y="2880360"/>
              <a:ext cx="182148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çalışmaya devam eder.</a:t>
              </a:r>
            </a:p>
          </p:txBody>
        </p:sp>
        <p:sp>
          <p:nvSpPr>
            <p:cNvPr id="31" name="Rectangle 31"/>
            <p:cNvSpPr/>
            <p:nvPr/>
          </p:nvSpPr>
          <p:spPr>
            <a:xfrm>
              <a:off x="7010400" y="3314700"/>
              <a:ext cx="4572000" cy="1104900"/>
            </a:xfrm>
            <a:prstGeom prst="roundRect">
              <a:avLst>
                <a:gd name="adj" fmla="val 6897"/>
              </a:avLst>
            </a:prstGeom>
            <a:solidFill>
              <a:srgbClr val="FFFFFF"/>
            </a:solidFill>
            <a:ln w="14288">
              <a:solidFill>
                <a:srgbClr val="00A6A6"/>
              </a:solidFill>
            </a:ln>
          </p:spPr>
        </p:sp>
        <p:sp>
          <p:nvSpPr>
            <p:cNvPr id="32" name="TextBox 32"/>
            <p:cNvSpPr txBox="1"/>
            <p:nvPr/>
          </p:nvSpPr>
          <p:spPr>
            <a:xfrm>
              <a:off x="7232142" y="3454718"/>
              <a:ext cx="3076439"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curl /saglik gerçek doğrulamadır</a:t>
              </a:r>
            </a:p>
          </p:txBody>
        </p:sp>
        <p:sp>
          <p:nvSpPr>
            <p:cNvPr id="33" name="TextBox 33"/>
            <p:cNvSpPr txBox="1"/>
            <p:nvPr/>
          </p:nvSpPr>
          <p:spPr>
            <a:xfrm>
              <a:off x="7232904" y="3718560"/>
              <a:ext cx="353114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Dağıtımın başarısı container'ın görünüşte</a:t>
              </a:r>
            </a:p>
          </p:txBody>
        </p:sp>
        <p:sp>
          <p:nvSpPr>
            <p:cNvPr id="34" name="TextBox 34"/>
            <p:cNvSpPr txBox="1"/>
            <p:nvPr/>
          </p:nvSpPr>
          <p:spPr>
            <a:xfrm>
              <a:off x="7232904" y="3928110"/>
              <a:ext cx="334807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çalışmasına değil, uygulamanın gerçekten</a:t>
              </a:r>
            </a:p>
          </p:txBody>
        </p:sp>
        <p:sp>
          <p:nvSpPr>
            <p:cNvPr id="35" name="TextBox 35"/>
            <p:cNvSpPr txBox="1"/>
            <p:nvPr/>
          </p:nvSpPr>
          <p:spPr>
            <a:xfrm>
              <a:off x="7232904" y="4137660"/>
              <a:ext cx="300075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istek yanıtlamasına göre doğrulanır.</a:t>
              </a:r>
            </a:p>
          </p:txBody>
        </p:sp>
      </p:grpSp>
      <p:grpSp>
        <p:nvGrpSpPr>
          <p:cNvPr id="42" name="warning-note"/>
          <p:cNvGrpSpPr/>
          <p:nvPr/>
        </p:nvGrpSpPr>
        <p:grpSpPr>
          <a:xfrm>
            <a:off x="609600" y="4572000"/>
            <a:ext cx="10972800" cy="829056"/>
            <a:chOff x="609600" y="4572000"/>
            <a:chExt cx="10972800" cy="829056"/>
          </a:xfrm>
        </p:grpSpPr>
        <p:sp>
          <p:nvSpPr>
            <p:cNvPr id="37" name="Rectangle 37"/>
            <p:cNvSpPr/>
            <p:nvPr/>
          </p:nvSpPr>
          <p:spPr>
            <a:xfrm>
              <a:off x="609600" y="4572000"/>
              <a:ext cx="10972800" cy="800100"/>
            </a:xfrm>
            <a:prstGeom prst="roundRect">
              <a:avLst>
                <a:gd name="adj" fmla="val 9524"/>
              </a:avLst>
            </a:prstGeom>
            <a:solidFill>
              <a:srgbClr val="EAF4F6"/>
            </a:solidFill>
            <a:ln>
              <a:noFill/>
            </a:ln>
          </p:spPr>
        </p:sp>
        <p:sp>
          <p:nvSpPr>
            <p:cNvPr id="38" name="Rectangle 38"/>
            <p:cNvSpPr/>
            <p:nvPr/>
          </p:nvSpPr>
          <p:spPr>
            <a:xfrm>
              <a:off x="609600" y="4572000"/>
              <a:ext cx="57150" cy="800100"/>
            </a:xfrm>
            <a:prstGeom prst="rect">
              <a:avLst/>
            </a:prstGeom>
            <a:solidFill>
              <a:srgbClr val="00A6A6"/>
            </a:solidFill>
            <a:ln>
              <a:noFill/>
            </a:ln>
          </p:spPr>
        </p:sp>
        <p:sp>
          <p:nvSpPr>
            <p:cNvPr id="39" name="TextBox 39"/>
            <p:cNvSpPr txBox="1"/>
            <p:nvPr/>
          </p:nvSpPr>
          <p:spPr>
            <a:xfrm>
              <a:off x="906399" y="4687729"/>
              <a:ext cx="19226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Dikkat noktası</a:t>
              </a:r>
            </a:p>
          </p:txBody>
        </p:sp>
        <p:sp>
          <p:nvSpPr>
            <p:cNvPr id="40" name="TextBox 40"/>
            <p:cNvSpPr txBox="1"/>
            <p:nvPr/>
          </p:nvSpPr>
          <p:spPr>
            <a:xfrm>
              <a:off x="908304" y="4975860"/>
              <a:ext cx="847709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docker compose ps container durumunu gösterir ama uygulamanın içeriden sağlıklı olduğunu garanti etmez;</a:t>
              </a:r>
            </a:p>
          </p:txBody>
        </p:sp>
        <p:sp>
          <p:nvSpPr>
            <p:cNvPr id="41" name="TextBox 41"/>
            <p:cNvSpPr txBox="1"/>
            <p:nvPr/>
          </p:nvSpPr>
          <p:spPr>
            <a:xfrm>
              <a:off x="908304" y="5166360"/>
              <a:ext cx="671395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bu yüzden ayrıca bir HTTP sağlık kontrolü (/saglik) ile doğrulama yapılması gerekir.</a:t>
              </a:r>
            </a:p>
          </p:txBody>
        </p:sp>
      </p:grpSp>
      <p:grpSp>
        <p:nvGrpSpPr>
          <p:cNvPr id="46" name="closing-note"/>
          <p:cNvGrpSpPr/>
          <p:nvPr/>
        </p:nvGrpSpPr>
        <p:grpSpPr>
          <a:xfrm>
            <a:off x="609600" y="5448300"/>
            <a:ext cx="10972800" cy="838200"/>
            <a:chOff x="609600" y="5448300"/>
            <a:chExt cx="10972800" cy="838200"/>
          </a:xfrm>
        </p:grpSpPr>
        <p:sp>
          <p:nvSpPr>
            <p:cNvPr id="43" name="Rectangle 43"/>
            <p:cNvSpPr/>
            <p:nvPr/>
          </p:nvSpPr>
          <p:spPr>
            <a:xfrm>
              <a:off x="609600" y="5448300"/>
              <a:ext cx="10972800" cy="838200"/>
            </a:xfrm>
            <a:prstGeom prst="roundRect">
              <a:avLst>
                <a:gd name="adj" fmla="val 9091"/>
              </a:avLst>
            </a:prstGeom>
            <a:solidFill>
              <a:srgbClr val="FFFFFF"/>
            </a:solidFill>
            <a:ln w="14288">
              <a:solidFill>
                <a:srgbClr val="B8CBD3"/>
              </a:solidFill>
            </a:ln>
          </p:spPr>
        </p:sp>
        <p:sp>
          <p:nvSpPr>
            <p:cNvPr id="44" name="TextBox 44"/>
            <p:cNvSpPr txBox="1"/>
            <p:nvPr/>
          </p:nvSpPr>
          <p:spPr>
            <a:xfrm>
              <a:off x="906399" y="5564029"/>
              <a:ext cx="630287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localhost:3000 yalnızca sunucunun kendisinden erişilebilir</a:t>
              </a:r>
            </a:p>
          </p:txBody>
        </p:sp>
        <p:sp>
          <p:nvSpPr>
            <p:cNvPr id="45" name="TextBox 45"/>
            <p:cNvSpPr txBox="1"/>
            <p:nvPr/>
          </p:nvSpPr>
          <p:spPr>
            <a:xfrm>
              <a:off x="908304" y="5871210"/>
              <a:ext cx="714768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Dış dünyanın API'ye ulaşabilmesi için bir reverse proxy (Nginx) gerekir — bir sonraki konu.</a:t>
              </a:r>
            </a:p>
          </p:txBody>
        </p:sp>
      </p:grpSp>
      <p:sp>
        <p:nvSpPr>
          <p:cNvPr id="47" name="TextBox 4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24</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332283" cy="668845"/>
            <a:chOff x="609600" y="171450"/>
            <a:chExt cx="933228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09562"/>
                <a:ext cx="206693" cy="280512"/>
                <a:chOff x="792004" y="309562"/>
                <a:chExt cx="206693" cy="280512"/>
              </a:xfrm>
            </p:grpSpPr>
            <p:sp>
              <p:nvSpPr>
                <p:cNvPr id="5" name="Freeform 5"/>
                <p:cNvSpPr/>
                <p:nvPr/>
              </p:nvSpPr>
              <p:spPr>
                <a:xfrm>
                  <a:off x="7920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805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8362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99972" y="282892"/>
              <a:ext cx="864191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Sunucu sertleştirme ve UFW güvenlik duvarı</a:t>
              </a:r>
            </a:p>
          </p:txBody>
        </p:sp>
      </p:grpSp>
      <p:grpSp>
        <p:nvGrpSpPr>
          <p:cNvPr id="21" name="card-user"/>
          <p:cNvGrpSpPr/>
          <p:nvPr/>
        </p:nvGrpSpPr>
        <p:grpSpPr>
          <a:xfrm>
            <a:off x="609600" y="1181100"/>
            <a:ext cx="5257800" cy="1600200"/>
            <a:chOff x="609600" y="1181100"/>
            <a:chExt cx="5257800" cy="1600200"/>
          </a:xfrm>
        </p:grpSpPr>
        <p:sp>
          <p:nvSpPr>
            <p:cNvPr id="12" name="Rectangle 12"/>
            <p:cNvSpPr/>
            <p:nvPr/>
          </p:nvSpPr>
          <p:spPr>
            <a:xfrm>
              <a:off x="609600" y="1181100"/>
              <a:ext cx="5257800" cy="1600200"/>
            </a:xfrm>
            <a:prstGeom prst="roundRect">
              <a:avLst>
                <a:gd name="adj" fmla="val 5952"/>
              </a:avLst>
            </a:prstGeom>
            <a:solidFill>
              <a:srgbClr val="FFFFFF"/>
            </a:solidFill>
            <a:ln w="14288">
              <a:solidFill>
                <a:srgbClr val="B8CBD3"/>
              </a:solidFill>
            </a:ln>
          </p:spPr>
        </p:sp>
        <p:grpSp>
          <p:nvGrpSpPr>
            <p:cNvPr id="15" name="icon-user"/>
            <p:cNvGrpSpPr/>
            <p:nvPr/>
          </p:nvGrpSpPr>
          <p:grpSpPr>
            <a:xfrm>
              <a:off x="933452" y="1457326"/>
              <a:ext cx="190504" cy="285756"/>
              <a:chOff x="933452" y="1457326"/>
              <a:chExt cx="190504" cy="285756"/>
            </a:xfrm>
          </p:grpSpPr>
          <p:sp>
            <p:nvSpPr>
              <p:cNvPr id="13" name="Freeform 13"/>
              <p:cNvSpPr/>
              <p:nvPr/>
            </p:nvSpPr>
            <p:spPr>
              <a:xfrm>
                <a:off x="965203" y="1457326"/>
                <a:ext cx="127003" cy="127003"/>
              </a:xfrm>
              <a:custGeom>
                <a:avLst/>
                <a:gdLst/>
                <a:ahLst/>
                <a:cxnLst/>
                <a:rect l="l" t="t" r="r" b="b"/>
                <a:pathLst>
                  <a:path w="127003" h="127003">
                    <a:moveTo>
                      <a:pt x="0" y="63501"/>
                    </a:moveTo>
                    <a:cubicBezTo>
                      <a:pt x="0" y="98572"/>
                      <a:pt x="28430" y="127003"/>
                      <a:pt x="63501" y="127003"/>
                    </a:cubicBezTo>
                    <a:cubicBezTo>
                      <a:pt x="98572" y="127003"/>
                      <a:pt x="127003" y="98572"/>
                      <a:pt x="127003" y="63501"/>
                    </a:cubicBezTo>
                    <a:cubicBezTo>
                      <a:pt x="127003" y="28430"/>
                      <a:pt x="98572" y="0"/>
                      <a:pt x="63501" y="0"/>
                    </a:cubicBezTo>
                    <a:cubicBezTo>
                      <a:pt x="28430" y="0"/>
                      <a:pt x="0" y="28430"/>
                      <a:pt x="0" y="63501"/>
                    </a:cubicBezTo>
                  </a:path>
                </a:pathLst>
              </a:custGeom>
              <a:noFill/>
              <a:ln w="19050" cap="rnd">
                <a:solidFill>
                  <a:srgbClr val="00A6A6"/>
                </a:solidFill>
                <a:round/>
              </a:ln>
            </p:spPr>
          </p:sp>
          <p:sp>
            <p:nvSpPr>
              <p:cNvPr id="14" name="Freeform 14"/>
              <p:cNvSpPr/>
              <p:nvPr/>
            </p:nvSpPr>
            <p:spPr>
              <a:xfrm>
                <a:off x="933452" y="1647830"/>
                <a:ext cx="190504" cy="95252"/>
              </a:xfrm>
              <a:custGeom>
                <a:avLst/>
                <a:gdLst/>
                <a:ahLst/>
                <a:cxnLst/>
                <a:rect l="l" t="t" r="r" b="b"/>
                <a:pathLst>
                  <a:path w="190504" h="95252">
                    <a:moveTo>
                      <a:pt x="0" y="95252"/>
                    </a:moveTo>
                    <a:lnTo>
                      <a:pt x="0" y="63501"/>
                    </a:lnTo>
                    <a:cubicBezTo>
                      <a:pt x="0" y="28430"/>
                      <a:pt x="28430" y="0"/>
                      <a:pt x="63501" y="0"/>
                    </a:cubicBezTo>
                    <a:lnTo>
                      <a:pt x="127003" y="0"/>
                    </a:lnTo>
                    <a:cubicBezTo>
                      <a:pt x="162073" y="0"/>
                      <a:pt x="190504" y="28430"/>
                      <a:pt x="190504" y="63501"/>
                    </a:cubicBezTo>
                    <a:lnTo>
                      <a:pt x="190504" y="95252"/>
                    </a:lnTo>
                  </a:path>
                </a:pathLst>
              </a:custGeom>
              <a:noFill/>
              <a:ln w="19050" cap="rnd">
                <a:solidFill>
                  <a:srgbClr val="00A6A6"/>
                </a:solidFill>
                <a:round/>
              </a:ln>
            </p:spPr>
          </p:sp>
        </p:grpSp>
        <p:sp>
          <p:nvSpPr>
            <p:cNvPr id="16" name="TextBox 16"/>
            <p:cNvSpPr txBox="1"/>
            <p:nvPr/>
          </p:nvSpPr>
          <p:spPr>
            <a:xfrm>
              <a:off x="1439799" y="1468279"/>
              <a:ext cx="312180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1. Ayrı Dağıtım Kullanıcısı</a:t>
              </a:r>
            </a:p>
          </p:txBody>
        </p:sp>
        <p:sp>
          <p:nvSpPr>
            <p:cNvPr id="17" name="TextBox 17"/>
            <p:cNvSpPr txBox="1"/>
            <p:nvPr/>
          </p:nvSpPr>
          <p:spPr>
            <a:xfrm>
              <a:off x="832104" y="1851660"/>
              <a:ext cx="29866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Günlük operasyonlar ve Docker yetkisi</a:t>
              </a:r>
            </a:p>
          </p:txBody>
        </p:sp>
        <p:sp>
          <p:nvSpPr>
            <p:cNvPr id="18" name="TextBox 18"/>
            <p:cNvSpPr txBox="1"/>
            <p:nvPr/>
          </p:nvSpPr>
          <p:spPr>
            <a:xfrm>
              <a:off x="832104" y="2061210"/>
              <a:ext cx="266151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root yerine sudo yetkili "dagitim"</a:t>
              </a:r>
            </a:p>
          </p:txBody>
        </p:sp>
        <p:sp>
          <p:nvSpPr>
            <p:cNvPr id="19" name="TextBox 19"/>
            <p:cNvSpPr txBox="1"/>
            <p:nvPr/>
          </p:nvSpPr>
          <p:spPr>
            <a:xfrm>
              <a:off x="832104" y="2270760"/>
              <a:ext cx="172455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kullanıcısına verilir.</a:t>
              </a:r>
            </a:p>
          </p:txBody>
        </p:sp>
        <p:sp>
          <p:nvSpPr>
            <p:cNvPr id="20" name="TextBox 20"/>
            <p:cNvSpPr txBox="1"/>
            <p:nvPr/>
          </p:nvSpPr>
          <p:spPr>
            <a:xfrm>
              <a:off x="832104" y="2518410"/>
              <a:ext cx="459714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Group=docker ile container yönetimi yetkisi kısıtlı kalır.</a:t>
              </a:r>
            </a:p>
          </p:txBody>
        </p:sp>
      </p:grpSp>
      <p:grpSp>
        <p:nvGrpSpPr>
          <p:cNvPr id="32" name="card-ssh"/>
          <p:cNvGrpSpPr/>
          <p:nvPr/>
        </p:nvGrpSpPr>
        <p:grpSpPr>
          <a:xfrm>
            <a:off x="6324600" y="1181100"/>
            <a:ext cx="5257800" cy="1600200"/>
            <a:chOff x="6324600" y="1181100"/>
            <a:chExt cx="5257800" cy="1600200"/>
          </a:xfrm>
        </p:grpSpPr>
        <p:sp>
          <p:nvSpPr>
            <p:cNvPr id="22" name="Rectangle 22"/>
            <p:cNvSpPr/>
            <p:nvPr/>
          </p:nvSpPr>
          <p:spPr>
            <a:xfrm>
              <a:off x="6324600" y="1181100"/>
              <a:ext cx="5257800" cy="1600200"/>
            </a:xfrm>
            <a:prstGeom prst="roundRect">
              <a:avLst>
                <a:gd name="adj" fmla="val 5952"/>
              </a:avLst>
            </a:prstGeom>
            <a:solidFill>
              <a:srgbClr val="FFFFFF"/>
            </a:solidFill>
            <a:ln w="14288">
              <a:solidFill>
                <a:srgbClr val="00A6A6"/>
              </a:solidFill>
            </a:ln>
          </p:spPr>
        </p:sp>
        <p:grpSp>
          <p:nvGrpSpPr>
            <p:cNvPr id="26" name="icon-lock2"/>
            <p:cNvGrpSpPr/>
            <p:nvPr/>
          </p:nvGrpSpPr>
          <p:grpSpPr>
            <a:xfrm>
              <a:off x="6632577" y="1441451"/>
              <a:ext cx="222254" cy="301630"/>
              <a:chOff x="6632577" y="1441451"/>
              <a:chExt cx="222254" cy="301630"/>
            </a:xfrm>
          </p:grpSpPr>
          <p:sp>
            <p:nvSpPr>
              <p:cNvPr id="23" name="Freeform 23"/>
              <p:cNvSpPr/>
              <p:nvPr/>
            </p:nvSpPr>
            <p:spPr>
              <a:xfrm>
                <a:off x="6632577" y="1584328"/>
                <a:ext cx="222254" cy="158753"/>
              </a:xfrm>
              <a:custGeom>
                <a:avLst/>
                <a:gdLst/>
                <a:ahLst/>
                <a:cxnLst/>
                <a:rect l="l" t="t" r="r" b="b"/>
                <a:pathLst>
                  <a:path w="222254" h="158753">
                    <a:moveTo>
                      <a:pt x="0" y="31751"/>
                    </a:moveTo>
                    <a:cubicBezTo>
                      <a:pt x="0" y="14215"/>
                      <a:pt x="14215" y="0"/>
                      <a:pt x="31751" y="0"/>
                    </a:cubicBezTo>
                    <a:lnTo>
                      <a:pt x="190504" y="0"/>
                    </a:lnTo>
                    <a:cubicBezTo>
                      <a:pt x="208039" y="0"/>
                      <a:pt x="222254" y="14215"/>
                      <a:pt x="222254" y="31751"/>
                    </a:cubicBezTo>
                    <a:lnTo>
                      <a:pt x="222254" y="127003"/>
                    </a:lnTo>
                    <a:cubicBezTo>
                      <a:pt x="222254" y="144538"/>
                      <a:pt x="208039" y="158753"/>
                      <a:pt x="190504" y="158753"/>
                    </a:cubicBezTo>
                    <a:lnTo>
                      <a:pt x="31751" y="158753"/>
                    </a:lnTo>
                    <a:cubicBezTo>
                      <a:pt x="14215" y="158753"/>
                      <a:pt x="0" y="144538"/>
                      <a:pt x="0" y="127003"/>
                    </a:cubicBezTo>
                    <a:lnTo>
                      <a:pt x="0" y="31751"/>
                    </a:lnTo>
                  </a:path>
                </a:pathLst>
              </a:custGeom>
              <a:noFill/>
              <a:ln w="19050" cap="rnd">
                <a:solidFill>
                  <a:srgbClr val="00A6A6"/>
                </a:solidFill>
                <a:round/>
              </a:ln>
            </p:spPr>
          </p:sp>
          <p:sp>
            <p:nvSpPr>
              <p:cNvPr id="24" name="Freeform 24"/>
              <p:cNvSpPr/>
              <p:nvPr/>
            </p:nvSpPr>
            <p:spPr>
              <a:xfrm>
                <a:off x="6727828" y="1647830"/>
                <a:ext cx="31751" cy="31751"/>
              </a:xfrm>
              <a:custGeom>
                <a:avLst/>
                <a:gdLst/>
                <a:ahLst/>
                <a:cxnLst/>
                <a:rect l="l" t="t" r="r" b="b"/>
                <a:pathLst>
                  <a:path w="31751" h="31751">
                    <a:moveTo>
                      <a:pt x="0" y="15875"/>
                    </a:moveTo>
                    <a:cubicBezTo>
                      <a:pt x="0" y="24643"/>
                      <a:pt x="7108" y="31751"/>
                      <a:pt x="15875" y="31751"/>
                    </a:cubicBezTo>
                    <a:cubicBezTo>
                      <a:pt x="24643" y="31751"/>
                      <a:pt x="31751" y="24643"/>
                      <a:pt x="31751" y="15875"/>
                    </a:cubicBezTo>
                    <a:cubicBezTo>
                      <a:pt x="31751" y="7108"/>
                      <a:pt x="24643" y="0"/>
                      <a:pt x="15875" y="0"/>
                    </a:cubicBezTo>
                    <a:cubicBezTo>
                      <a:pt x="7108" y="0"/>
                      <a:pt x="0" y="7108"/>
                      <a:pt x="0" y="15875"/>
                    </a:cubicBezTo>
                  </a:path>
                </a:pathLst>
              </a:custGeom>
              <a:noFill/>
              <a:ln w="19050" cap="rnd">
                <a:solidFill>
                  <a:srgbClr val="00A6A6"/>
                </a:solidFill>
                <a:round/>
              </a:ln>
            </p:spPr>
          </p:sp>
          <p:sp>
            <p:nvSpPr>
              <p:cNvPr id="25" name="Freeform 25"/>
              <p:cNvSpPr/>
              <p:nvPr/>
            </p:nvSpPr>
            <p:spPr>
              <a:xfrm>
                <a:off x="6680203" y="1441451"/>
                <a:ext cx="127003" cy="142878"/>
              </a:xfrm>
              <a:custGeom>
                <a:avLst/>
                <a:gdLst/>
                <a:ahLst/>
                <a:cxnLst/>
                <a:rect l="l" t="t" r="r" b="b"/>
                <a:pathLst>
                  <a:path w="127003" h="142878">
                    <a:moveTo>
                      <a:pt x="0" y="142878"/>
                    </a:moveTo>
                    <a:lnTo>
                      <a:pt x="0" y="63501"/>
                    </a:lnTo>
                    <a:cubicBezTo>
                      <a:pt x="0" y="28430"/>
                      <a:pt x="28430" y="0"/>
                      <a:pt x="63501" y="0"/>
                    </a:cubicBezTo>
                    <a:cubicBezTo>
                      <a:pt x="98572" y="0"/>
                      <a:pt x="127003" y="28430"/>
                      <a:pt x="127003" y="63501"/>
                    </a:cubicBezTo>
                  </a:path>
                </a:pathLst>
              </a:custGeom>
              <a:noFill/>
              <a:ln w="19050" cap="rnd">
                <a:solidFill>
                  <a:srgbClr val="00A6A6"/>
                </a:solidFill>
                <a:round/>
              </a:ln>
            </p:spPr>
          </p:sp>
        </p:grpSp>
        <p:sp>
          <p:nvSpPr>
            <p:cNvPr id="27" name="TextBox 27"/>
            <p:cNvSpPr txBox="1"/>
            <p:nvPr/>
          </p:nvSpPr>
          <p:spPr>
            <a:xfrm>
              <a:off x="7154799" y="1468279"/>
              <a:ext cx="184776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2. Parolasız SSH</a:t>
              </a:r>
            </a:p>
          </p:txBody>
        </p:sp>
        <p:sp>
          <p:nvSpPr>
            <p:cNvPr id="28" name="TextBox 28"/>
            <p:cNvSpPr txBox="1"/>
            <p:nvPr/>
          </p:nvSpPr>
          <p:spPr>
            <a:xfrm>
              <a:off x="6547104" y="1851660"/>
              <a:ext cx="289973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Yalnızca Ed25519 anahtar çifti kabul</a:t>
              </a:r>
            </a:p>
          </p:txBody>
        </p:sp>
        <p:sp>
          <p:nvSpPr>
            <p:cNvPr id="29" name="TextBox 29"/>
            <p:cNvSpPr txBox="1"/>
            <p:nvPr/>
          </p:nvSpPr>
          <p:spPr>
            <a:xfrm>
              <a:off x="6547104" y="2061210"/>
              <a:ext cx="279312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edilir: PasswordAuthentication no,</a:t>
              </a:r>
            </a:p>
          </p:txBody>
        </p:sp>
        <p:sp>
          <p:nvSpPr>
            <p:cNvPr id="30" name="TextBox 30"/>
            <p:cNvSpPr txBox="1"/>
            <p:nvPr/>
          </p:nvSpPr>
          <p:spPr>
            <a:xfrm>
              <a:off x="6547104" y="2270760"/>
              <a:ext cx="162745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PermitRootLogin no.</a:t>
              </a:r>
            </a:p>
          </p:txBody>
        </p:sp>
        <p:sp>
          <p:nvSpPr>
            <p:cNvPr id="31" name="TextBox 31"/>
            <p:cNvSpPr txBox="1"/>
            <p:nvPr/>
          </p:nvSpPr>
          <p:spPr>
            <a:xfrm>
              <a:off x="6547104" y="2518410"/>
              <a:ext cx="361985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Şifre tahmin saldırılarını tamamen engeller.</a:t>
              </a:r>
            </a:p>
          </p:txBody>
        </p:sp>
      </p:grpSp>
      <p:grpSp>
        <p:nvGrpSpPr>
          <p:cNvPr id="43" name="card-firewall"/>
          <p:cNvGrpSpPr/>
          <p:nvPr/>
        </p:nvGrpSpPr>
        <p:grpSpPr>
          <a:xfrm>
            <a:off x="609600" y="2857500"/>
            <a:ext cx="5257800" cy="1600200"/>
            <a:chOff x="609600" y="2857500"/>
            <a:chExt cx="5257800" cy="1600200"/>
          </a:xfrm>
        </p:grpSpPr>
        <p:sp>
          <p:nvSpPr>
            <p:cNvPr id="33" name="Rectangle 33"/>
            <p:cNvSpPr/>
            <p:nvPr/>
          </p:nvSpPr>
          <p:spPr>
            <a:xfrm>
              <a:off x="609600" y="2857500"/>
              <a:ext cx="5257800" cy="1600200"/>
            </a:xfrm>
            <a:prstGeom prst="roundRect">
              <a:avLst>
                <a:gd name="adj" fmla="val 5952"/>
              </a:avLst>
            </a:prstGeom>
            <a:solidFill>
              <a:srgbClr val="FFFFFF"/>
            </a:solidFill>
            <a:ln w="14288">
              <a:solidFill>
                <a:srgbClr val="B8CBD3"/>
              </a:solidFill>
            </a:ln>
          </p:spPr>
        </p:sp>
        <p:grpSp>
          <p:nvGrpSpPr>
            <p:cNvPr id="37" name="icon-alert"/>
            <p:cNvGrpSpPr/>
            <p:nvPr/>
          </p:nvGrpSpPr>
          <p:grpSpPr>
            <a:xfrm>
              <a:off x="868599" y="3128452"/>
              <a:ext cx="320196" cy="275091"/>
              <a:chOff x="868599" y="3128452"/>
              <a:chExt cx="320196" cy="275091"/>
            </a:xfrm>
          </p:grpSpPr>
          <p:sp>
            <p:nvSpPr>
              <p:cNvPr id="34" name="Freeform 34"/>
              <p:cNvSpPr/>
              <p:nvPr/>
            </p:nvSpPr>
            <p:spPr>
              <a:xfrm>
                <a:off x="1028704" y="3228978"/>
                <a:ext cx="9525" cy="63501"/>
              </a:xfrm>
              <a:custGeom>
                <a:avLst/>
                <a:gdLst/>
                <a:ahLst/>
                <a:cxnLst/>
                <a:rect l="l" t="t" r="r" b="b"/>
                <a:pathLst>
                  <a:path w="9525" h="63501">
                    <a:moveTo>
                      <a:pt x="0" y="0"/>
                    </a:moveTo>
                    <a:lnTo>
                      <a:pt x="0" y="63501"/>
                    </a:lnTo>
                  </a:path>
                </a:pathLst>
              </a:custGeom>
              <a:noFill/>
              <a:ln w="19050" cap="rnd">
                <a:solidFill>
                  <a:srgbClr val="00A6A6"/>
                </a:solidFill>
                <a:round/>
              </a:ln>
            </p:spPr>
          </p:sp>
          <p:sp>
            <p:nvSpPr>
              <p:cNvPr id="35" name="Freeform 35"/>
              <p:cNvSpPr/>
              <p:nvPr/>
            </p:nvSpPr>
            <p:spPr>
              <a:xfrm>
                <a:off x="868599" y="3128452"/>
                <a:ext cx="320196" cy="275091"/>
              </a:xfrm>
              <a:custGeom>
                <a:avLst/>
                <a:gdLst/>
                <a:ahLst/>
                <a:cxnLst/>
                <a:rect l="l" t="t" r="r" b="b"/>
                <a:pathLst>
                  <a:path w="320196" h="275091">
                    <a:moveTo>
                      <a:pt x="134117" y="14656"/>
                    </a:moveTo>
                    <a:lnTo>
                      <a:pt x="5431" y="229513"/>
                    </a:lnTo>
                    <a:cubicBezTo>
                      <a:pt x="33" y="238861"/>
                      <a:pt x="0" y="250372"/>
                      <a:pt x="5345" y="259751"/>
                    </a:cubicBezTo>
                    <a:cubicBezTo>
                      <a:pt x="10689" y="269130"/>
                      <a:pt x="20609" y="274970"/>
                      <a:pt x="31403" y="275091"/>
                    </a:cubicBezTo>
                    <a:lnTo>
                      <a:pt x="288806" y="275091"/>
                    </a:lnTo>
                    <a:cubicBezTo>
                      <a:pt x="299595" y="274967"/>
                      <a:pt x="309509" y="269129"/>
                      <a:pt x="314853" y="259755"/>
                    </a:cubicBezTo>
                    <a:cubicBezTo>
                      <a:pt x="320196" y="250381"/>
                      <a:pt x="320168" y="238876"/>
                      <a:pt x="314778" y="229529"/>
                    </a:cubicBezTo>
                    <a:lnTo>
                      <a:pt x="186092" y="14641"/>
                    </a:lnTo>
                    <a:cubicBezTo>
                      <a:pt x="180586" y="5552"/>
                      <a:pt x="170731" y="0"/>
                      <a:pt x="160104" y="0"/>
                    </a:cubicBezTo>
                    <a:cubicBezTo>
                      <a:pt x="149478" y="0"/>
                      <a:pt x="139623" y="5552"/>
                      <a:pt x="134117" y="14641"/>
                    </a:cubicBezTo>
                  </a:path>
                </a:pathLst>
              </a:custGeom>
              <a:noFill/>
              <a:ln w="19050" cap="rnd">
                <a:solidFill>
                  <a:srgbClr val="00A6A6"/>
                </a:solidFill>
                <a:round/>
              </a:ln>
            </p:spPr>
          </p:sp>
          <p:sp>
            <p:nvSpPr>
              <p:cNvPr id="36" name="Freeform 36"/>
              <p:cNvSpPr/>
              <p:nvPr/>
            </p:nvSpPr>
            <p:spPr>
              <a:xfrm>
                <a:off x="1028704" y="3340105"/>
                <a:ext cx="9525" cy="9525"/>
              </a:xfrm>
              <a:custGeom>
                <a:avLst/>
                <a:gdLst/>
                <a:ahLst/>
                <a:cxnLst/>
                <a:rect l="l" t="t" r="r" b="b"/>
                <a:pathLst>
                  <a:path w="9525" h="9525">
                    <a:moveTo>
                      <a:pt x="0" y="0"/>
                    </a:moveTo>
                    <a:lnTo>
                      <a:pt x="159" y="0"/>
                    </a:lnTo>
                  </a:path>
                </a:pathLst>
              </a:custGeom>
              <a:noFill/>
              <a:ln w="19050" cap="rnd">
                <a:solidFill>
                  <a:srgbClr val="00A6A6"/>
                </a:solidFill>
                <a:round/>
              </a:ln>
            </p:spPr>
          </p:sp>
        </p:grpSp>
        <p:sp>
          <p:nvSpPr>
            <p:cNvPr id="38" name="TextBox 38"/>
            <p:cNvSpPr txBox="1"/>
            <p:nvPr/>
          </p:nvSpPr>
          <p:spPr>
            <a:xfrm>
              <a:off x="1439799" y="3144679"/>
              <a:ext cx="277469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3. Güvenlik Duvarı (UFW)</a:t>
              </a:r>
            </a:p>
          </p:txBody>
        </p:sp>
        <p:sp>
          <p:nvSpPr>
            <p:cNvPr id="39" name="TextBox 39"/>
            <p:cNvSpPr txBox="1"/>
            <p:nvPr/>
          </p:nvSpPr>
          <p:spPr>
            <a:xfrm>
              <a:off x="832104" y="3528060"/>
              <a:ext cx="286344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ufw default deny incoming; yalnızca</a:t>
              </a:r>
            </a:p>
          </p:txBody>
        </p:sp>
        <p:sp>
          <p:nvSpPr>
            <p:cNvPr id="40" name="TextBox 40"/>
            <p:cNvSpPr txBox="1"/>
            <p:nvPr/>
          </p:nvSpPr>
          <p:spPr>
            <a:xfrm>
              <a:off x="832104" y="3737610"/>
              <a:ext cx="327919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22 (SSH), 80 (HTTP), 443 (HTTPS) açık.</a:t>
              </a:r>
            </a:p>
          </p:txBody>
        </p:sp>
        <p:sp>
          <p:nvSpPr>
            <p:cNvPr id="41" name="TextBox 41"/>
            <p:cNvSpPr txBox="1"/>
            <p:nvPr/>
          </p:nvSpPr>
          <p:spPr>
            <a:xfrm>
              <a:off x="832104" y="3947160"/>
              <a:ext cx="328345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5432 ve 3000 dışarıya kesinlikle açılmaz.</a:t>
              </a:r>
            </a:p>
          </p:txBody>
        </p:sp>
        <p:sp>
          <p:nvSpPr>
            <p:cNvPr id="42" name="TextBox 42"/>
            <p:cNvSpPr txBox="1"/>
            <p:nvPr/>
          </p:nvSpPr>
          <p:spPr>
            <a:xfrm>
              <a:off x="832104" y="4194810"/>
              <a:ext cx="278789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Açık bırakılmayan kapı güvenlidir.</a:t>
              </a:r>
            </a:p>
          </p:txBody>
        </p:sp>
      </p:grpSp>
      <p:grpSp>
        <p:nvGrpSpPr>
          <p:cNvPr id="53" name="card-fail2ban"/>
          <p:cNvGrpSpPr/>
          <p:nvPr/>
        </p:nvGrpSpPr>
        <p:grpSpPr>
          <a:xfrm>
            <a:off x="6324600" y="2857500"/>
            <a:ext cx="5257800" cy="1600200"/>
            <a:chOff x="6324600" y="2857500"/>
            <a:chExt cx="5257800" cy="1600200"/>
          </a:xfrm>
        </p:grpSpPr>
        <p:sp>
          <p:nvSpPr>
            <p:cNvPr id="44" name="Rectangle 44"/>
            <p:cNvSpPr/>
            <p:nvPr/>
          </p:nvSpPr>
          <p:spPr>
            <a:xfrm>
              <a:off x="6324600" y="2857500"/>
              <a:ext cx="5257800" cy="1600200"/>
            </a:xfrm>
            <a:prstGeom prst="roundRect">
              <a:avLst>
                <a:gd name="adj" fmla="val 5952"/>
              </a:avLst>
            </a:prstGeom>
            <a:solidFill>
              <a:srgbClr val="FFFFFF"/>
            </a:solidFill>
            <a:ln w="14288">
              <a:solidFill>
                <a:srgbClr val="B8CBD3"/>
              </a:solidFill>
            </a:ln>
          </p:spPr>
        </p:sp>
        <p:grpSp>
          <p:nvGrpSpPr>
            <p:cNvPr id="47" name="icon-clock"/>
            <p:cNvGrpSpPr/>
            <p:nvPr/>
          </p:nvGrpSpPr>
          <p:grpSpPr>
            <a:xfrm>
              <a:off x="6600826" y="3133726"/>
              <a:ext cx="285756" cy="285756"/>
              <a:chOff x="6600826" y="3133726"/>
              <a:chExt cx="285756" cy="285756"/>
            </a:xfrm>
          </p:grpSpPr>
          <p:sp>
            <p:nvSpPr>
              <p:cNvPr id="45" name="Freeform 45"/>
              <p:cNvSpPr/>
              <p:nvPr/>
            </p:nvSpPr>
            <p:spPr>
              <a:xfrm>
                <a:off x="6600826" y="3133726"/>
                <a:ext cx="285756" cy="285756"/>
              </a:xfrm>
              <a:custGeom>
                <a:avLst/>
                <a:gdLst/>
                <a:ahLst/>
                <a:cxnLst/>
                <a:rect l="l" t="t" r="r" b="b"/>
                <a:pathLst>
                  <a:path w="285756" h="285756">
                    <a:moveTo>
                      <a:pt x="0" y="142878"/>
                    </a:moveTo>
                    <a:cubicBezTo>
                      <a:pt x="0" y="221787"/>
                      <a:pt x="63969" y="285756"/>
                      <a:pt x="142878" y="285756"/>
                    </a:cubicBezTo>
                    <a:cubicBezTo>
                      <a:pt x="221787" y="285756"/>
                      <a:pt x="285756" y="221787"/>
                      <a:pt x="285756" y="142878"/>
                    </a:cubicBezTo>
                    <a:cubicBezTo>
                      <a:pt x="285756" y="63969"/>
                      <a:pt x="221787" y="0"/>
                      <a:pt x="142878" y="0"/>
                    </a:cubicBezTo>
                    <a:cubicBezTo>
                      <a:pt x="63969" y="0"/>
                      <a:pt x="0" y="63969"/>
                      <a:pt x="0" y="142878"/>
                    </a:cubicBezTo>
                  </a:path>
                </a:pathLst>
              </a:custGeom>
              <a:noFill/>
              <a:ln w="19050" cap="rnd">
                <a:solidFill>
                  <a:srgbClr val="00A6A6"/>
                </a:solidFill>
                <a:round/>
              </a:ln>
            </p:spPr>
          </p:sp>
          <p:sp>
            <p:nvSpPr>
              <p:cNvPr id="46" name="Freeform 46"/>
              <p:cNvSpPr/>
              <p:nvPr/>
            </p:nvSpPr>
            <p:spPr>
              <a:xfrm>
                <a:off x="6743704" y="3197227"/>
                <a:ext cx="47626" cy="127003"/>
              </a:xfrm>
              <a:custGeom>
                <a:avLst/>
                <a:gdLst/>
                <a:ahLst/>
                <a:cxnLst/>
                <a:rect l="l" t="t" r="r" b="b"/>
                <a:pathLst>
                  <a:path w="47626" h="127003">
                    <a:moveTo>
                      <a:pt x="0" y="0"/>
                    </a:moveTo>
                    <a:lnTo>
                      <a:pt x="0" y="79377"/>
                    </a:lnTo>
                    <a:lnTo>
                      <a:pt x="47626" y="127003"/>
                    </a:lnTo>
                  </a:path>
                </a:pathLst>
              </a:custGeom>
              <a:noFill/>
              <a:ln w="19050" cap="rnd">
                <a:solidFill>
                  <a:srgbClr val="00A6A6"/>
                </a:solidFill>
                <a:round/>
              </a:ln>
            </p:spPr>
          </p:sp>
        </p:grpSp>
        <p:sp>
          <p:nvSpPr>
            <p:cNvPr id="48" name="TextBox 48"/>
            <p:cNvSpPr txBox="1"/>
            <p:nvPr/>
          </p:nvSpPr>
          <p:spPr>
            <a:xfrm>
              <a:off x="7154799" y="3144679"/>
              <a:ext cx="313202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4. Başarısız Giriş Engelleme</a:t>
              </a:r>
            </a:p>
          </p:txBody>
        </p:sp>
        <p:sp>
          <p:nvSpPr>
            <p:cNvPr id="49" name="TextBox 49"/>
            <p:cNvSpPr txBox="1"/>
            <p:nvPr/>
          </p:nvSpPr>
          <p:spPr>
            <a:xfrm>
              <a:off x="6547104" y="3528060"/>
              <a:ext cx="240304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fail2ban gibi araçlarla ardışık</a:t>
              </a:r>
            </a:p>
          </p:txBody>
        </p:sp>
        <p:sp>
          <p:nvSpPr>
            <p:cNvPr id="50" name="TextBox 50"/>
            <p:cNvSpPr txBox="1"/>
            <p:nvPr/>
          </p:nvSpPr>
          <p:spPr>
            <a:xfrm>
              <a:off x="6547104" y="3737610"/>
              <a:ext cx="289849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başarısız SSH denemesi yapan IP'ler</a:t>
              </a:r>
            </a:p>
          </p:txBody>
        </p:sp>
        <p:sp>
          <p:nvSpPr>
            <p:cNvPr id="51" name="TextBox 51"/>
            <p:cNvSpPr txBox="1"/>
            <p:nvPr/>
          </p:nvSpPr>
          <p:spPr>
            <a:xfrm>
              <a:off x="6547104" y="3947160"/>
              <a:ext cx="191033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geçici olarak engellenir.</a:t>
              </a:r>
            </a:p>
          </p:txBody>
        </p:sp>
        <p:sp>
          <p:nvSpPr>
            <p:cNvPr id="52" name="TextBox 52"/>
            <p:cNvSpPr txBox="1"/>
            <p:nvPr/>
          </p:nvSpPr>
          <p:spPr>
            <a:xfrm>
              <a:off x="6547104" y="4194810"/>
              <a:ext cx="328356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MaxAuthTries 3 ile denemeler sınırlanır.</a:t>
              </a:r>
            </a:p>
          </p:txBody>
        </p:sp>
      </p:grpSp>
      <p:grpSp>
        <p:nvGrpSpPr>
          <p:cNvPr id="61" name="claim-note"/>
          <p:cNvGrpSpPr/>
          <p:nvPr/>
        </p:nvGrpSpPr>
        <p:grpSpPr>
          <a:xfrm>
            <a:off x="609600" y="4686300"/>
            <a:ext cx="10972800" cy="1504950"/>
            <a:chOff x="609600" y="4686300"/>
            <a:chExt cx="10972800" cy="1504950"/>
          </a:xfrm>
        </p:grpSpPr>
        <p:sp>
          <p:nvSpPr>
            <p:cNvPr id="54" name="Rectangle 54"/>
            <p:cNvSpPr/>
            <p:nvPr/>
          </p:nvSpPr>
          <p:spPr>
            <a:xfrm>
              <a:off x="609600" y="4686300"/>
              <a:ext cx="10972800" cy="1504950"/>
            </a:xfrm>
            <a:prstGeom prst="roundRect">
              <a:avLst>
                <a:gd name="adj" fmla="val 5063"/>
              </a:avLst>
            </a:prstGeom>
            <a:solidFill>
              <a:srgbClr val="EAF4F6"/>
            </a:solidFill>
            <a:ln>
              <a:noFill/>
            </a:ln>
          </p:spPr>
        </p:sp>
        <p:sp>
          <p:nvSpPr>
            <p:cNvPr id="55" name="Rectangle 55"/>
            <p:cNvSpPr/>
            <p:nvPr/>
          </p:nvSpPr>
          <p:spPr>
            <a:xfrm>
              <a:off x="609600" y="4686300"/>
              <a:ext cx="57150" cy="1504950"/>
            </a:xfrm>
            <a:prstGeom prst="rect">
              <a:avLst/>
            </a:prstGeom>
            <a:solidFill>
              <a:srgbClr val="00A6A6"/>
            </a:solidFill>
            <a:ln>
              <a:noFill/>
            </a:ln>
          </p:spPr>
        </p:sp>
        <p:sp>
          <p:nvSpPr>
            <p:cNvPr id="56" name="TextBox 56"/>
            <p:cNvSpPr txBox="1"/>
            <p:nvPr/>
          </p:nvSpPr>
          <p:spPr>
            <a:xfrm>
              <a:off x="906399" y="4821079"/>
              <a:ext cx="557703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sudo sshd -t: kilitlenmeden önce sözdizimi denetimi</a:t>
              </a:r>
            </a:p>
          </p:txBody>
        </p:sp>
        <p:sp>
          <p:nvSpPr>
            <p:cNvPr id="57" name="TextBox 57"/>
            <p:cNvSpPr txBox="1"/>
            <p:nvPr/>
          </p:nvSpPr>
          <p:spPr>
            <a:xfrm>
              <a:off x="908304" y="5128260"/>
              <a:ext cx="755536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SSH yapılandırması yeniden yüklenmeden önce test edilir; hatalı bir yapılandırma geliştiricinin</a:t>
              </a:r>
            </a:p>
          </p:txBody>
        </p:sp>
        <p:sp>
          <p:nvSpPr>
            <p:cNvPr id="58" name="TextBox 58"/>
            <p:cNvSpPr txBox="1"/>
            <p:nvPr/>
          </p:nvSpPr>
          <p:spPr>
            <a:xfrm>
              <a:off x="908304" y="5337810"/>
              <a:ext cx="367116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sunucunun dışında kalmasını (lockout) önler.</a:t>
              </a:r>
            </a:p>
          </p:txBody>
        </p:sp>
        <p:sp>
          <p:nvSpPr>
            <p:cNvPr id="59" name="TextBox 59"/>
            <p:cNvSpPr txBox="1"/>
            <p:nvPr/>
          </p:nvSpPr>
          <p:spPr>
            <a:xfrm>
              <a:off x="908304" y="5642610"/>
              <a:ext cx="753370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Dikkat: Docker kendi iptables kurallarını ekler; yayınlanan container portları UFW kurallarını</a:t>
              </a:r>
            </a:p>
          </p:txBody>
        </p:sp>
        <p:sp>
          <p:nvSpPr>
            <p:cNvPr id="60" name="TextBox 60"/>
            <p:cNvSpPr txBox="1"/>
            <p:nvPr/>
          </p:nvSpPr>
          <p:spPr>
            <a:xfrm>
              <a:off x="908304" y="5852160"/>
              <a:ext cx="727005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atlayabilir — bu yüzden port eşleme her zaman 127.0.0.1 ile sınırlanmalıdır (Docker Docs).</a:t>
              </a:r>
            </a:p>
          </p:txBody>
        </p:sp>
      </p:grpSp>
      <p:sp>
        <p:nvSpPr>
          <p:cNvPr id="62" name="TextBox 6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24</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7763278" cy="668845"/>
            <a:chOff x="609600" y="171450"/>
            <a:chExt cx="7763278"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707290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Nginx reverse proxy: neden vardır?</a:t>
              </a:r>
            </a:p>
          </p:txBody>
        </p:sp>
      </p:grpSp>
      <p:grpSp>
        <p:nvGrpSpPr>
          <p:cNvPr id="14" name="definition-block"/>
          <p:cNvGrpSpPr/>
          <p:nvPr/>
        </p:nvGrpSpPr>
        <p:grpSpPr>
          <a:xfrm>
            <a:off x="609600" y="1181100"/>
            <a:ext cx="10972800" cy="857250"/>
            <a:chOff x="609600" y="1181100"/>
            <a:chExt cx="10972800" cy="857250"/>
          </a:xfrm>
        </p:grpSpPr>
        <p:sp>
          <p:nvSpPr>
            <p:cNvPr id="9" name="Rectangle 9"/>
            <p:cNvSpPr/>
            <p:nvPr/>
          </p:nvSpPr>
          <p:spPr>
            <a:xfrm>
              <a:off x="609600" y="1181100"/>
              <a:ext cx="10972800" cy="857250"/>
            </a:xfrm>
            <a:prstGeom prst="roundRect">
              <a:avLst>
                <a:gd name="adj" fmla="val 8889"/>
              </a:avLst>
            </a:prstGeom>
            <a:solidFill>
              <a:srgbClr val="EAF4F6"/>
            </a:solidFill>
            <a:ln>
              <a:noFill/>
            </a:ln>
          </p:spPr>
        </p:sp>
        <p:sp>
          <p:nvSpPr>
            <p:cNvPr id="10" name="Rectangle 10"/>
            <p:cNvSpPr/>
            <p:nvPr/>
          </p:nvSpPr>
          <p:spPr>
            <a:xfrm>
              <a:off x="609600" y="1181100"/>
              <a:ext cx="57150" cy="857250"/>
            </a:xfrm>
            <a:prstGeom prst="rect">
              <a:avLst/>
            </a:prstGeom>
            <a:solidFill>
              <a:srgbClr val="00A6A6"/>
            </a:solidFill>
            <a:ln>
              <a:noFill/>
            </a:ln>
          </p:spPr>
        </p:sp>
        <p:sp>
          <p:nvSpPr>
            <p:cNvPr id="11" name="TextBox 11"/>
            <p:cNvSpPr txBox="1"/>
            <p:nvPr/>
          </p:nvSpPr>
          <p:spPr>
            <a:xfrm>
              <a:off x="906399" y="127777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12" name="TextBox 12"/>
            <p:cNvSpPr txBox="1"/>
            <p:nvPr/>
          </p:nvSpPr>
          <p:spPr>
            <a:xfrm>
              <a:off x="906399" y="1525429"/>
              <a:ext cx="984120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İstemcilerden gelen HTTP(S) isteklerini karşılayıp arkadaki uygulama sunucusuna yönlendiren,</a:t>
              </a:r>
            </a:p>
          </p:txBody>
        </p:sp>
        <p:sp>
          <p:nvSpPr>
            <p:cNvPr id="13" name="TextBox 13"/>
            <p:cNvSpPr txBox="1"/>
            <p:nvPr/>
          </p:nvSpPr>
          <p:spPr>
            <a:xfrm>
              <a:off x="908304" y="1794510"/>
              <a:ext cx="867622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yanıtı da aynı şekilde istemciye ileten ara katman. Nginx bu amaçla en yaygın kullanılan sunuculardan biridir.</a:t>
              </a:r>
            </a:p>
          </p:txBody>
        </p:sp>
      </p:grpSp>
      <p:grpSp>
        <p:nvGrpSpPr>
          <p:cNvPr id="27" name="why-block"/>
          <p:cNvGrpSpPr/>
          <p:nvPr/>
        </p:nvGrpSpPr>
        <p:grpSpPr>
          <a:xfrm>
            <a:off x="609600" y="2209800"/>
            <a:ext cx="5257800" cy="3238500"/>
            <a:chOff x="609600" y="2209800"/>
            <a:chExt cx="5257800" cy="3238500"/>
          </a:xfrm>
        </p:grpSpPr>
        <p:sp>
          <p:nvSpPr>
            <p:cNvPr id="15" name="Rectangle 15"/>
            <p:cNvSpPr/>
            <p:nvPr/>
          </p:nvSpPr>
          <p:spPr>
            <a:xfrm>
              <a:off x="609600" y="2209800"/>
              <a:ext cx="5257800" cy="3238500"/>
            </a:xfrm>
            <a:prstGeom prst="roundRect">
              <a:avLst>
                <a:gd name="adj" fmla="val 2353"/>
              </a:avLst>
            </a:prstGeom>
            <a:solidFill>
              <a:srgbClr val="FFFFFF"/>
            </a:solidFill>
            <a:ln w="14288">
              <a:solidFill>
                <a:srgbClr val="B8CBD3"/>
              </a:solidFill>
            </a:ln>
          </p:spPr>
        </p:sp>
        <p:sp>
          <p:nvSpPr>
            <p:cNvPr id="16" name="TextBox 16"/>
            <p:cNvSpPr txBox="1"/>
            <p:nvPr/>
          </p:nvSpPr>
          <p:spPr>
            <a:xfrm>
              <a:off x="868299" y="2363629"/>
              <a:ext cx="156494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Neden vardır?</a:t>
              </a:r>
            </a:p>
          </p:txBody>
        </p:sp>
        <p:sp>
          <p:nvSpPr>
            <p:cNvPr id="17" name="TextBox 17"/>
            <p:cNvSpPr txBox="1"/>
            <p:nvPr/>
          </p:nvSpPr>
          <p:spPr>
            <a:xfrm>
              <a:off x="870204" y="2727960"/>
              <a:ext cx="303340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Node.js/Express; HTTPS sonlandırma,</a:t>
              </a:r>
            </a:p>
          </p:txBody>
        </p:sp>
        <p:sp>
          <p:nvSpPr>
            <p:cNvPr id="18" name="TextBox 18"/>
            <p:cNvSpPr txBox="1"/>
            <p:nvPr/>
          </p:nvSpPr>
          <p:spPr>
            <a:xfrm>
              <a:off x="870204" y="2937510"/>
              <a:ext cx="260497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statik dosya sunma, birden fazla</a:t>
              </a:r>
            </a:p>
          </p:txBody>
        </p:sp>
        <p:sp>
          <p:nvSpPr>
            <p:cNvPr id="19" name="TextBox 19"/>
            <p:cNvSpPr txBox="1"/>
            <p:nvPr/>
          </p:nvSpPr>
          <p:spPr>
            <a:xfrm>
              <a:off x="870204" y="3147060"/>
              <a:ext cx="254843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backend arasında yük dengeleme</a:t>
              </a:r>
            </a:p>
          </p:txBody>
        </p:sp>
        <p:sp>
          <p:nvSpPr>
            <p:cNvPr id="20" name="TextBox 20"/>
            <p:cNvSpPr txBox="1"/>
            <p:nvPr/>
          </p:nvSpPr>
          <p:spPr>
            <a:xfrm>
              <a:off x="870204" y="3356610"/>
              <a:ext cx="262112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gibi görevlerde optimize değildir.</a:t>
              </a:r>
            </a:p>
          </p:txBody>
        </p:sp>
        <p:sp>
          <p:nvSpPr>
            <p:cNvPr id="21" name="TextBox 21"/>
            <p:cNvSpPr txBox="1"/>
            <p:nvPr/>
          </p:nvSpPr>
          <p:spPr>
            <a:xfrm>
              <a:off x="870204" y="3680460"/>
              <a:ext cx="276345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Nginx bu görevleri verimli üstlenir;</a:t>
              </a:r>
            </a:p>
          </p:txBody>
        </p:sp>
        <p:sp>
          <p:nvSpPr>
            <p:cNvPr id="22" name="TextBox 22"/>
            <p:cNvSpPr txBox="1"/>
            <p:nvPr/>
          </p:nvSpPr>
          <p:spPr>
            <a:xfrm>
              <a:off x="870204" y="3890010"/>
              <a:ext cx="237881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uygulama sunucusu yalnızca iş</a:t>
              </a:r>
            </a:p>
          </p:txBody>
        </p:sp>
        <p:sp>
          <p:nvSpPr>
            <p:cNvPr id="23" name="TextBox 23"/>
            <p:cNvSpPr txBox="1"/>
            <p:nvPr/>
          </p:nvSpPr>
          <p:spPr>
            <a:xfrm>
              <a:off x="870204" y="4099560"/>
              <a:ext cx="197495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mantığına odaklanabilir.</a:t>
              </a:r>
            </a:p>
          </p:txBody>
        </p:sp>
        <p:sp>
          <p:nvSpPr>
            <p:cNvPr id="24" name="TextBox 24"/>
            <p:cNvSpPr txBox="1"/>
            <p:nvPr/>
          </p:nvSpPr>
          <p:spPr>
            <a:xfrm>
              <a:off x="870204" y="4423410"/>
              <a:ext cx="260815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Bu, Bölüm 9'daki sorumlulukların</a:t>
              </a:r>
            </a:p>
          </p:txBody>
        </p:sp>
        <p:sp>
          <p:nvSpPr>
            <p:cNvPr id="25" name="TextBox 25"/>
            <p:cNvSpPr txBox="1"/>
            <p:nvPr/>
          </p:nvSpPr>
          <p:spPr>
            <a:xfrm>
              <a:off x="870204" y="4632960"/>
              <a:ext cx="282305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ayrılması ilkesinin ağ katmanındaki</a:t>
              </a:r>
            </a:p>
          </p:txBody>
        </p:sp>
        <p:sp>
          <p:nvSpPr>
            <p:cNvPr id="26" name="TextBox 26"/>
            <p:cNvSpPr txBox="1"/>
            <p:nvPr/>
          </p:nvSpPr>
          <p:spPr>
            <a:xfrm>
              <a:off x="870204" y="4842510"/>
              <a:ext cx="172455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somut yansımasıdır.</a:t>
              </a:r>
            </a:p>
          </p:txBody>
        </p:sp>
      </p:grpSp>
      <p:grpSp>
        <p:nvGrpSpPr>
          <p:cNvPr id="41" name="theory-block"/>
          <p:cNvGrpSpPr/>
          <p:nvPr/>
        </p:nvGrpSpPr>
        <p:grpSpPr>
          <a:xfrm>
            <a:off x="6324600" y="2209800"/>
            <a:ext cx="5257800" cy="3238500"/>
            <a:chOff x="6324600" y="2209800"/>
            <a:chExt cx="5257800" cy="3238500"/>
          </a:xfrm>
        </p:grpSpPr>
        <p:sp>
          <p:nvSpPr>
            <p:cNvPr id="28" name="Rectangle 28"/>
            <p:cNvSpPr/>
            <p:nvPr/>
          </p:nvSpPr>
          <p:spPr>
            <a:xfrm>
              <a:off x="6324600" y="2209800"/>
              <a:ext cx="5257800" cy="3238500"/>
            </a:xfrm>
            <a:prstGeom prst="roundRect">
              <a:avLst>
                <a:gd name="adj" fmla="val 2353"/>
              </a:avLst>
            </a:prstGeom>
            <a:solidFill>
              <a:srgbClr val="FFFFFF"/>
            </a:solidFill>
            <a:ln w="14288">
              <a:solidFill>
                <a:srgbClr val="00A6A6"/>
              </a:solidFill>
            </a:ln>
          </p:spPr>
        </p:sp>
        <p:sp>
          <p:nvSpPr>
            <p:cNvPr id="29" name="TextBox 29"/>
            <p:cNvSpPr txBox="1"/>
            <p:nvPr/>
          </p:nvSpPr>
          <p:spPr>
            <a:xfrm>
              <a:off x="6583299" y="2363629"/>
              <a:ext cx="205553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Kuramsal arka plan</a:t>
              </a:r>
            </a:p>
          </p:txBody>
        </p:sp>
        <p:sp>
          <p:nvSpPr>
            <p:cNvPr id="30" name="TextBox 30"/>
            <p:cNvSpPr txBox="1"/>
            <p:nvPr/>
          </p:nvSpPr>
          <p:spPr>
            <a:xfrm>
              <a:off x="6585204" y="2727960"/>
              <a:ext cx="306285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Reverse proxy deseni, dış dünyaya tek</a:t>
              </a:r>
            </a:p>
          </p:txBody>
        </p:sp>
        <p:sp>
          <p:nvSpPr>
            <p:cNvPr id="31" name="TextBox 31"/>
            <p:cNvSpPr txBox="1"/>
            <p:nvPr/>
          </p:nvSpPr>
          <p:spPr>
            <a:xfrm>
              <a:off x="6585204" y="2937510"/>
              <a:ext cx="305729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giriş noktası sunan ara katman fikrine</a:t>
              </a:r>
            </a:p>
          </p:txBody>
        </p:sp>
        <p:sp>
          <p:nvSpPr>
            <p:cNvPr id="32" name="TextBox 32"/>
            <p:cNvSpPr txBox="1"/>
            <p:nvPr/>
          </p:nvSpPr>
          <p:spPr>
            <a:xfrm>
              <a:off x="6585204" y="3147060"/>
              <a:ext cx="280962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dayanır — "Facade" deseninin (GoF,</a:t>
              </a:r>
            </a:p>
          </p:txBody>
        </p:sp>
        <p:sp>
          <p:nvSpPr>
            <p:cNvPr id="33" name="TextBox 33"/>
            <p:cNvSpPr txBox="1"/>
            <p:nvPr/>
          </p:nvSpPr>
          <p:spPr>
            <a:xfrm>
              <a:off x="6585204" y="3356610"/>
              <a:ext cx="292806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1994) ağ seviyesindeki karşılığıdır.</a:t>
              </a:r>
            </a:p>
          </p:txBody>
        </p:sp>
        <p:sp>
          <p:nvSpPr>
            <p:cNvPr id="34" name="TextBox 34"/>
            <p:cNvSpPr txBox="1"/>
            <p:nvPr/>
          </p:nvSpPr>
          <p:spPr>
            <a:xfrm>
              <a:off x="6585204" y="3680460"/>
              <a:ext cx="316585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Nginx, Igor Sysoev tarafından 2004'te,</a:t>
              </a:r>
            </a:p>
          </p:txBody>
        </p:sp>
        <p:sp>
          <p:nvSpPr>
            <p:cNvPr id="35" name="TextBox 35"/>
            <p:cNvSpPr txBox="1"/>
            <p:nvPr/>
          </p:nvSpPr>
          <p:spPr>
            <a:xfrm>
              <a:off x="6585204" y="3890010"/>
              <a:ext cx="228942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Dan Kegel'in 1999'daki "C10K</a:t>
              </a:r>
            </a:p>
          </p:txBody>
        </p:sp>
        <p:sp>
          <p:nvSpPr>
            <p:cNvPr id="36" name="TextBox 36"/>
            <p:cNvSpPr txBox="1"/>
            <p:nvPr/>
          </p:nvSpPr>
          <p:spPr>
            <a:xfrm>
              <a:off x="6585204" y="4099560"/>
              <a:ext cx="312191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problemi"ne çözüm olarak, olay güdümlü</a:t>
              </a:r>
            </a:p>
          </p:txBody>
        </p:sp>
        <p:sp>
          <p:nvSpPr>
            <p:cNvPr id="37" name="TextBox 37"/>
            <p:cNvSpPr txBox="1"/>
            <p:nvPr/>
          </p:nvSpPr>
          <p:spPr>
            <a:xfrm>
              <a:off x="6585204" y="4309110"/>
              <a:ext cx="269785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(event-driven), engellemeyen G/Ç</a:t>
              </a:r>
            </a:p>
          </p:txBody>
        </p:sp>
        <p:sp>
          <p:nvSpPr>
            <p:cNvPr id="38" name="TextBox 38"/>
            <p:cNvSpPr txBox="1"/>
            <p:nvPr/>
          </p:nvSpPr>
          <p:spPr>
            <a:xfrm>
              <a:off x="6585204" y="4518660"/>
              <a:ext cx="182956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modeliyle yazılmıştır.</a:t>
              </a:r>
            </a:p>
          </p:txBody>
        </p:sp>
        <p:sp>
          <p:nvSpPr>
            <p:cNvPr id="39" name="TextBox 39"/>
            <p:cNvSpPr txBox="1"/>
            <p:nvPr/>
          </p:nvSpPr>
          <p:spPr>
            <a:xfrm>
              <a:off x="6585204" y="4842510"/>
              <a:ext cx="311106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Tek iş parçacığı çok sayıda bağlantıyı</a:t>
              </a:r>
            </a:p>
          </p:txBody>
        </p:sp>
        <p:sp>
          <p:nvSpPr>
            <p:cNvPr id="40" name="TextBox 40"/>
            <p:cNvSpPr txBox="1"/>
            <p:nvPr/>
          </p:nvSpPr>
          <p:spPr>
            <a:xfrm>
              <a:off x="6585204" y="5052060"/>
              <a:ext cx="257266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düşük bellek maliyetiyle yönetir.</a:t>
              </a:r>
            </a:p>
          </p:txBody>
        </p:sp>
      </p:grpSp>
      <p:grpSp>
        <p:nvGrpSpPr>
          <p:cNvPr id="45" name="closing-note"/>
          <p:cNvGrpSpPr/>
          <p:nvPr/>
        </p:nvGrpSpPr>
        <p:grpSpPr>
          <a:xfrm>
            <a:off x="609600" y="5600700"/>
            <a:ext cx="10972800" cy="685800"/>
            <a:chOff x="609600" y="5600700"/>
            <a:chExt cx="10972800" cy="685800"/>
          </a:xfrm>
        </p:grpSpPr>
        <p:sp>
          <p:nvSpPr>
            <p:cNvPr id="42" name="Rectangle 42"/>
            <p:cNvSpPr/>
            <p:nvPr/>
          </p:nvSpPr>
          <p:spPr>
            <a:xfrm>
              <a:off x="609600" y="5600700"/>
              <a:ext cx="10972800" cy="685800"/>
            </a:xfrm>
            <a:prstGeom prst="roundRect">
              <a:avLst>
                <a:gd name="adj" fmla="val 11111"/>
              </a:avLst>
            </a:prstGeom>
            <a:solidFill>
              <a:srgbClr val="EAF4F6"/>
            </a:solidFill>
            <a:ln>
              <a:noFill/>
            </a:ln>
          </p:spPr>
        </p:sp>
        <p:sp>
          <p:nvSpPr>
            <p:cNvPr id="43" name="TextBox 43"/>
            <p:cNvSpPr txBox="1"/>
            <p:nvPr/>
          </p:nvSpPr>
          <p:spPr>
            <a:xfrm>
              <a:off x="906399" y="5735479"/>
              <a:ext cx="620673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İstek uygulamaya doğrudan ulaşmaz — önce Nginx'e gelir.</a:t>
              </a:r>
            </a:p>
          </p:txBody>
        </p:sp>
        <p:sp>
          <p:nvSpPr>
            <p:cNvPr id="44" name="TextBox 44"/>
            <p:cNvSpPr txBox="1"/>
            <p:nvPr/>
          </p:nvSpPr>
          <p:spPr>
            <a:xfrm>
              <a:off x="908304" y="6023610"/>
              <a:ext cx="758147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502 Bad Gateway yanıtı bu yüzden çoğu zaman uygulama kodunda değil, Nginx tarafında üretilir.</a:t>
              </a:r>
            </a:p>
          </p:txBody>
        </p:sp>
      </p:grpSp>
      <p:sp>
        <p:nvSpPr>
          <p:cNvPr id="46" name="TextBox 4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24</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9755914" cy="668845"/>
            <a:chOff x="609600" y="171450"/>
            <a:chExt cx="9755914"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906554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Nginx yapılandırması: proxy_pass (Kod 15.3)</a:t>
              </a:r>
            </a:p>
          </p:txBody>
        </p:sp>
      </p:grpSp>
      <p:grpSp>
        <p:nvGrpSpPr>
          <p:cNvPr id="25" name="code-block"/>
          <p:cNvGrpSpPr/>
          <p:nvPr/>
        </p:nvGrpSpPr>
        <p:grpSpPr>
          <a:xfrm>
            <a:off x="609600" y="1181100"/>
            <a:ext cx="6096000" cy="3810000"/>
            <a:chOff x="609600" y="1181100"/>
            <a:chExt cx="6096000" cy="3810000"/>
          </a:xfrm>
        </p:grpSpPr>
        <p:sp>
          <p:nvSpPr>
            <p:cNvPr id="9" name="Rectangle 9"/>
            <p:cNvSpPr/>
            <p:nvPr/>
          </p:nvSpPr>
          <p:spPr>
            <a:xfrm>
              <a:off x="609600" y="1181100"/>
              <a:ext cx="6096000" cy="3810000"/>
            </a:xfrm>
            <a:prstGeom prst="roundRect">
              <a:avLst>
                <a:gd name="adj" fmla="val 2000"/>
              </a:avLst>
            </a:prstGeom>
            <a:solidFill>
              <a:srgbClr val="12355B"/>
            </a:solidFill>
            <a:ln>
              <a:noFill/>
            </a:ln>
          </p:spPr>
        </p:sp>
        <p:sp>
          <p:nvSpPr>
            <p:cNvPr id="10" name="TextBox 10"/>
            <p:cNvSpPr txBox="1"/>
            <p:nvPr/>
          </p:nvSpPr>
          <p:spPr>
            <a:xfrm>
              <a:off x="832104" y="1337310"/>
              <a:ext cx="2855366"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/etc/nginx/sites-available/api</a:t>
              </a:r>
            </a:p>
          </p:txBody>
        </p:sp>
        <p:sp>
          <p:nvSpPr>
            <p:cNvPr id="11" name="TextBox 11"/>
            <p:cNvSpPr txBox="1"/>
            <p:nvPr/>
          </p:nvSpPr>
          <p:spPr>
            <a:xfrm>
              <a:off x="832104" y="1604010"/>
              <a:ext cx="72298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server {</a:t>
              </a:r>
            </a:p>
          </p:txBody>
        </p:sp>
        <p:sp>
          <p:nvSpPr>
            <p:cNvPr id="12" name="TextBox 12"/>
            <p:cNvSpPr txBox="1"/>
            <p:nvPr/>
          </p:nvSpPr>
          <p:spPr>
            <a:xfrm>
              <a:off x="832104" y="1832610"/>
              <a:ext cx="900684"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listen 80;</a:t>
              </a:r>
            </a:p>
          </p:txBody>
        </p:sp>
        <p:sp>
          <p:nvSpPr>
            <p:cNvPr id="13" name="TextBox 13"/>
            <p:cNvSpPr txBox="1"/>
            <p:nvPr/>
          </p:nvSpPr>
          <p:spPr>
            <a:xfrm>
              <a:off x="832104" y="2061210"/>
              <a:ext cx="258881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server_name kutuphane-api...;</a:t>
              </a:r>
            </a:p>
          </p:txBody>
        </p:sp>
        <p:sp>
          <p:nvSpPr>
            <p:cNvPr id="14" name="TextBox 14"/>
            <p:cNvSpPr txBox="1"/>
            <p:nvPr/>
          </p:nvSpPr>
          <p:spPr>
            <a:xfrm>
              <a:off x="832104" y="2366010"/>
              <a:ext cx="107838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location / {</a:t>
              </a:r>
            </a:p>
          </p:txBody>
        </p:sp>
        <p:sp>
          <p:nvSpPr>
            <p:cNvPr id="15" name="TextBox 15"/>
            <p:cNvSpPr txBox="1"/>
            <p:nvPr/>
          </p:nvSpPr>
          <p:spPr>
            <a:xfrm>
              <a:off x="832104" y="2594610"/>
              <a:ext cx="294421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proxy_pass http://localhost:3000;</a:t>
              </a:r>
            </a:p>
          </p:txBody>
        </p:sp>
        <p:sp>
          <p:nvSpPr>
            <p:cNvPr id="16" name="TextBox 16"/>
            <p:cNvSpPr txBox="1"/>
            <p:nvPr/>
          </p:nvSpPr>
          <p:spPr>
            <a:xfrm>
              <a:off x="832104" y="2823210"/>
              <a:ext cx="250637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proxy_set_header Host $host;</a:t>
              </a:r>
            </a:p>
          </p:txBody>
        </p:sp>
        <p:sp>
          <p:nvSpPr>
            <p:cNvPr id="17" name="TextBox 17"/>
            <p:cNvSpPr txBox="1"/>
            <p:nvPr/>
          </p:nvSpPr>
          <p:spPr>
            <a:xfrm>
              <a:off x="832104" y="3051810"/>
              <a:ext cx="234717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proxy_set_header X-Real-IP</a:t>
              </a:r>
            </a:p>
          </p:txBody>
        </p:sp>
        <p:sp>
          <p:nvSpPr>
            <p:cNvPr id="18" name="TextBox 18"/>
            <p:cNvSpPr txBox="1"/>
            <p:nvPr/>
          </p:nvSpPr>
          <p:spPr>
            <a:xfrm>
              <a:off x="832104" y="3261360"/>
              <a:ext cx="116723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$remote_addr;</a:t>
              </a:r>
            </a:p>
          </p:txBody>
        </p:sp>
        <p:sp>
          <p:nvSpPr>
            <p:cNvPr id="19" name="TextBox 19"/>
            <p:cNvSpPr txBox="1"/>
            <p:nvPr/>
          </p:nvSpPr>
          <p:spPr>
            <a:xfrm>
              <a:off x="832104" y="3489960"/>
              <a:ext cx="3050754"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proxy_set_header X-Forwarded-Proto</a:t>
              </a:r>
            </a:p>
          </p:txBody>
        </p:sp>
        <p:sp>
          <p:nvSpPr>
            <p:cNvPr id="20" name="TextBox 20"/>
            <p:cNvSpPr txBox="1"/>
            <p:nvPr/>
          </p:nvSpPr>
          <p:spPr>
            <a:xfrm>
              <a:off x="832104" y="3699510"/>
              <a:ext cx="72298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$scheme;</a:t>
              </a:r>
            </a:p>
          </p:txBody>
        </p:sp>
        <p:sp>
          <p:nvSpPr>
            <p:cNvPr id="21" name="TextBox 21"/>
            <p:cNvSpPr txBox="1"/>
            <p:nvPr/>
          </p:nvSpPr>
          <p:spPr>
            <a:xfrm>
              <a:off x="832104" y="3928110"/>
              <a:ext cx="10104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a:t>
              </a:r>
            </a:p>
          </p:txBody>
        </p:sp>
        <p:sp>
          <p:nvSpPr>
            <p:cNvPr id="22" name="TextBox 22"/>
            <p:cNvSpPr txBox="1"/>
            <p:nvPr/>
          </p:nvSpPr>
          <p:spPr>
            <a:xfrm>
              <a:off x="832104" y="4156710"/>
              <a:ext cx="10104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a:t>
              </a:r>
            </a:p>
          </p:txBody>
        </p:sp>
        <p:sp>
          <p:nvSpPr>
            <p:cNvPr id="23" name="TextBox 23"/>
            <p:cNvSpPr txBox="1"/>
            <p:nvPr/>
          </p:nvSpPr>
          <p:spPr>
            <a:xfrm>
              <a:off x="832104" y="4442460"/>
              <a:ext cx="4896574"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Amaç: isteği 3000 portuna iletirken doğru başlıkları eklemek.</a:t>
              </a:r>
            </a:p>
          </p:txBody>
        </p:sp>
        <p:sp>
          <p:nvSpPr>
            <p:cNvPr id="24" name="TextBox 24"/>
            <p:cNvSpPr txBox="1"/>
            <p:nvPr/>
          </p:nvSpPr>
          <p:spPr>
            <a:xfrm>
              <a:off x="832104" y="4671060"/>
              <a:ext cx="435772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nginx -t ile test edilir, reload nginx ile devreye alınır.</a:t>
              </a:r>
            </a:p>
          </p:txBody>
        </p:sp>
      </p:grpSp>
      <p:grpSp>
        <p:nvGrpSpPr>
          <p:cNvPr id="41" name="critical-lines"/>
          <p:cNvGrpSpPr/>
          <p:nvPr/>
        </p:nvGrpSpPr>
        <p:grpSpPr>
          <a:xfrm>
            <a:off x="7010400" y="1181100"/>
            <a:ext cx="4572000" cy="3657600"/>
            <a:chOff x="7010400" y="1181100"/>
            <a:chExt cx="4572000" cy="3657600"/>
          </a:xfrm>
        </p:grpSpPr>
        <p:sp>
          <p:nvSpPr>
            <p:cNvPr id="26" name="Rectangle 26"/>
            <p:cNvSpPr/>
            <p:nvPr/>
          </p:nvSpPr>
          <p:spPr>
            <a:xfrm>
              <a:off x="7010400" y="1181100"/>
              <a:ext cx="4572000" cy="1143000"/>
            </a:xfrm>
            <a:prstGeom prst="roundRect">
              <a:avLst>
                <a:gd name="adj" fmla="val 6667"/>
              </a:avLst>
            </a:prstGeom>
            <a:solidFill>
              <a:srgbClr val="FFFFFF"/>
            </a:solidFill>
            <a:ln w="14288">
              <a:solidFill>
                <a:srgbClr val="00A6A6"/>
              </a:solidFill>
            </a:ln>
          </p:spPr>
        </p:sp>
        <p:sp>
          <p:nvSpPr>
            <p:cNvPr id="27" name="TextBox 27"/>
            <p:cNvSpPr txBox="1"/>
            <p:nvPr/>
          </p:nvSpPr>
          <p:spPr>
            <a:xfrm>
              <a:off x="7232142" y="1321118"/>
              <a:ext cx="386486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Host başlığı olmadan yönlendirme kırılır</a:t>
              </a:r>
            </a:p>
          </p:txBody>
        </p:sp>
        <p:sp>
          <p:nvSpPr>
            <p:cNvPr id="28" name="TextBox 28"/>
            <p:cNvSpPr txBox="1"/>
            <p:nvPr/>
          </p:nvSpPr>
          <p:spPr>
            <a:xfrm>
              <a:off x="7232904" y="1584960"/>
              <a:ext cx="318229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Uygulama, proxy_set_header Host $host</a:t>
              </a:r>
            </a:p>
          </p:txBody>
        </p:sp>
        <p:sp>
          <p:nvSpPr>
            <p:cNvPr id="29" name="TextBox 29"/>
            <p:cNvSpPr txBox="1"/>
            <p:nvPr/>
          </p:nvSpPr>
          <p:spPr>
            <a:xfrm>
              <a:off x="7232904" y="1794510"/>
              <a:ext cx="332384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olmadan istekleri "localhost:3000" sanır;</a:t>
              </a:r>
            </a:p>
          </p:txBody>
        </p:sp>
        <p:sp>
          <p:nvSpPr>
            <p:cNvPr id="30" name="TextBox 30"/>
            <p:cNvSpPr txBox="1"/>
            <p:nvPr/>
          </p:nvSpPr>
          <p:spPr>
            <a:xfrm>
              <a:off x="7232904" y="2004060"/>
              <a:ext cx="312191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üretilen bağlantı adresleri hatalı olur.</a:t>
              </a:r>
            </a:p>
          </p:txBody>
        </p:sp>
        <p:sp>
          <p:nvSpPr>
            <p:cNvPr id="31" name="Rectangle 31"/>
            <p:cNvSpPr/>
            <p:nvPr/>
          </p:nvSpPr>
          <p:spPr>
            <a:xfrm>
              <a:off x="7010400" y="2438400"/>
              <a:ext cx="4572000" cy="1143000"/>
            </a:xfrm>
            <a:prstGeom prst="roundRect">
              <a:avLst>
                <a:gd name="adj" fmla="val 6667"/>
              </a:avLst>
            </a:prstGeom>
            <a:solidFill>
              <a:srgbClr val="FFFFFF"/>
            </a:solidFill>
            <a:ln w="14288">
              <a:solidFill>
                <a:srgbClr val="B8CBD3"/>
              </a:solidFill>
            </a:ln>
          </p:spPr>
        </p:sp>
        <p:sp>
          <p:nvSpPr>
            <p:cNvPr id="32" name="TextBox 32"/>
            <p:cNvSpPr txBox="1"/>
            <p:nvPr/>
          </p:nvSpPr>
          <p:spPr>
            <a:xfrm>
              <a:off x="7232142" y="2578418"/>
              <a:ext cx="3159849"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X-Real-IP: gerçek istemciyi taşır</a:t>
              </a:r>
            </a:p>
          </p:txBody>
        </p:sp>
        <p:sp>
          <p:nvSpPr>
            <p:cNvPr id="33" name="TextBox 33"/>
            <p:cNvSpPr txBox="1"/>
            <p:nvPr/>
          </p:nvSpPr>
          <p:spPr>
            <a:xfrm>
              <a:off x="7232904" y="2842260"/>
              <a:ext cx="309472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Nginx olmadan uygulama isteği doğrudan</a:t>
              </a:r>
            </a:p>
          </p:txBody>
        </p:sp>
        <p:sp>
          <p:nvSpPr>
            <p:cNvPr id="34" name="TextBox 34"/>
            <p:cNvSpPr txBox="1"/>
            <p:nvPr/>
          </p:nvSpPr>
          <p:spPr>
            <a:xfrm>
              <a:off x="7232904" y="3051810"/>
              <a:ext cx="305729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alır; proxy arkasında ise tüm istekler</a:t>
              </a:r>
            </a:p>
          </p:txBody>
        </p:sp>
        <p:sp>
          <p:nvSpPr>
            <p:cNvPr id="35" name="TextBox 35"/>
            <p:cNvSpPr txBox="1"/>
            <p:nvPr/>
          </p:nvSpPr>
          <p:spPr>
            <a:xfrm>
              <a:off x="7232904" y="3261360"/>
              <a:ext cx="307345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Nginx'in IP'sinden geliyormuş görünür.</a:t>
              </a:r>
            </a:p>
          </p:txBody>
        </p:sp>
        <p:sp>
          <p:nvSpPr>
            <p:cNvPr id="36" name="Rectangle 36"/>
            <p:cNvSpPr/>
            <p:nvPr/>
          </p:nvSpPr>
          <p:spPr>
            <a:xfrm>
              <a:off x="7010400" y="3695700"/>
              <a:ext cx="4572000" cy="1143000"/>
            </a:xfrm>
            <a:prstGeom prst="roundRect">
              <a:avLst>
                <a:gd name="adj" fmla="val 6667"/>
              </a:avLst>
            </a:prstGeom>
            <a:solidFill>
              <a:srgbClr val="FFFFFF"/>
            </a:solidFill>
            <a:ln w="14288">
              <a:solidFill>
                <a:srgbClr val="B8CBD3"/>
              </a:solidFill>
            </a:ln>
          </p:spPr>
        </p:sp>
        <p:sp>
          <p:nvSpPr>
            <p:cNvPr id="37" name="TextBox 37"/>
            <p:cNvSpPr txBox="1"/>
            <p:nvPr/>
          </p:nvSpPr>
          <p:spPr>
            <a:xfrm>
              <a:off x="7232142" y="3835718"/>
              <a:ext cx="382106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X-Forwarded-Proto: şema bilgisini korur</a:t>
              </a:r>
            </a:p>
          </p:txBody>
        </p:sp>
        <p:sp>
          <p:nvSpPr>
            <p:cNvPr id="38" name="TextBox 38"/>
            <p:cNvSpPr txBox="1"/>
            <p:nvPr/>
          </p:nvSpPr>
          <p:spPr>
            <a:xfrm>
              <a:off x="7232904" y="4099560"/>
              <a:ext cx="338718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Nginx dış dünyayla HTTPS, backend'le HTTP</a:t>
              </a:r>
            </a:p>
          </p:txBody>
        </p:sp>
        <p:sp>
          <p:nvSpPr>
            <p:cNvPr id="39" name="TextBox 39"/>
            <p:cNvSpPr txBox="1"/>
            <p:nvPr/>
          </p:nvSpPr>
          <p:spPr>
            <a:xfrm>
              <a:off x="7232904" y="4309110"/>
              <a:ext cx="290383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konuşur; uygulama bu başlık olmadan</a:t>
              </a:r>
            </a:p>
          </p:txBody>
        </p:sp>
        <p:sp>
          <p:nvSpPr>
            <p:cNvPr id="40" name="TextBox 40"/>
            <p:cNvSpPr txBox="1"/>
            <p:nvPr/>
          </p:nvSpPr>
          <p:spPr>
            <a:xfrm>
              <a:off x="7232904" y="4518660"/>
              <a:ext cx="316230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trafiğin şifresiz sandığını düşünebilir.</a:t>
              </a:r>
            </a:p>
          </p:txBody>
        </p:sp>
      </p:grpSp>
      <p:grpSp>
        <p:nvGrpSpPr>
          <p:cNvPr id="48" name="closing-note"/>
          <p:cNvGrpSpPr/>
          <p:nvPr/>
        </p:nvGrpSpPr>
        <p:grpSpPr>
          <a:xfrm>
            <a:off x="609600" y="5143500"/>
            <a:ext cx="10972800" cy="1143000"/>
            <a:chOff x="609600" y="5143500"/>
            <a:chExt cx="10972800" cy="1143000"/>
          </a:xfrm>
        </p:grpSpPr>
        <p:sp>
          <p:nvSpPr>
            <p:cNvPr id="42" name="Rectangle 42"/>
            <p:cNvSpPr/>
            <p:nvPr/>
          </p:nvSpPr>
          <p:spPr>
            <a:xfrm>
              <a:off x="609600" y="5143500"/>
              <a:ext cx="10972800" cy="1143000"/>
            </a:xfrm>
            <a:prstGeom prst="roundRect">
              <a:avLst>
                <a:gd name="adj" fmla="val 6667"/>
              </a:avLst>
            </a:prstGeom>
            <a:solidFill>
              <a:srgbClr val="EAF4F6"/>
            </a:solidFill>
            <a:ln>
              <a:noFill/>
            </a:ln>
          </p:spPr>
        </p:sp>
        <p:sp>
          <p:nvSpPr>
            <p:cNvPr id="43" name="Rectangle 43"/>
            <p:cNvSpPr/>
            <p:nvPr/>
          </p:nvSpPr>
          <p:spPr>
            <a:xfrm>
              <a:off x="609600" y="5143500"/>
              <a:ext cx="57150" cy="1143000"/>
            </a:xfrm>
            <a:prstGeom prst="rect">
              <a:avLst/>
            </a:prstGeom>
            <a:solidFill>
              <a:srgbClr val="00A6A6"/>
            </a:solidFill>
            <a:ln>
              <a:noFill/>
            </a:ln>
          </p:spPr>
        </p:sp>
        <p:sp>
          <p:nvSpPr>
            <p:cNvPr id="44" name="TextBox 44"/>
            <p:cNvSpPr txBox="1"/>
            <p:nvPr/>
          </p:nvSpPr>
          <p:spPr>
            <a:xfrm>
              <a:off x="906399" y="5278279"/>
              <a:ext cx="298188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Etkinleştirme iki adımlıdır</a:t>
              </a:r>
            </a:p>
          </p:txBody>
        </p:sp>
        <p:sp>
          <p:nvSpPr>
            <p:cNvPr id="45" name="TextBox 45"/>
            <p:cNvSpPr txBox="1"/>
            <p:nvPr/>
          </p:nvSpPr>
          <p:spPr>
            <a:xfrm>
              <a:off x="908304" y="5585460"/>
              <a:ext cx="663549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ln -s ile sites-available dosyası sites-enabled altına bağlanır, ardından nginx -t ve</a:t>
              </a:r>
            </a:p>
          </p:txBody>
        </p:sp>
        <p:sp>
          <p:nvSpPr>
            <p:cNvPr id="46" name="TextBox 46"/>
            <p:cNvSpPr txBox="1"/>
            <p:nvPr/>
          </p:nvSpPr>
          <p:spPr>
            <a:xfrm>
              <a:off x="908304" y="5795010"/>
              <a:ext cx="291998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systemctl reload nginx çalıştırılır.</a:t>
              </a:r>
            </a:p>
          </p:txBody>
        </p:sp>
        <p:sp>
          <p:nvSpPr>
            <p:cNvPr id="47" name="TextBox 47"/>
            <p:cNvSpPr txBox="1"/>
            <p:nvPr/>
          </p:nvSpPr>
          <p:spPr>
            <a:xfrm>
              <a:off x="908304" y="6042660"/>
              <a:ext cx="754822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reload, restart'tan farklı olarak mevcut bağlantıları kesmeden yapılandırmayı yeniden okur.</a:t>
              </a:r>
            </a:p>
          </p:txBody>
        </p:sp>
      </p:grpSp>
      <p:sp>
        <p:nvSpPr>
          <p:cNvPr id="49" name="TextBox 4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24</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5640767" cy="557403"/>
            <a:chOff x="595122" y="282892"/>
            <a:chExt cx="5640767" cy="557403"/>
          </a:xfrm>
        </p:grpSpPr>
        <p:sp>
          <p:nvSpPr>
            <p:cNvPr id="4" name="TextBox 4"/>
            <p:cNvSpPr txBox="1"/>
            <p:nvPr/>
          </p:nvSpPr>
          <p:spPr>
            <a:xfrm>
              <a:off x="595122" y="282892"/>
              <a:ext cx="564076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Reverse proxy alternatifleri</a:t>
              </a:r>
            </a:p>
          </p:txBody>
        </p:sp>
      </p:grpSp>
      <p:grpSp>
        <p:nvGrpSpPr>
          <p:cNvPr id="10" name="table-header"/>
          <p:cNvGrpSpPr/>
          <p:nvPr/>
        </p:nvGrpSpPr>
        <p:grpSpPr>
          <a:xfrm>
            <a:off x="609600" y="1162050"/>
            <a:ext cx="10972800" cy="381000"/>
            <a:chOff x="609600" y="1162050"/>
            <a:chExt cx="10972800" cy="381000"/>
          </a:xfrm>
        </p:grpSpPr>
        <p:sp>
          <p:nvSpPr>
            <p:cNvPr id="6" name="Rectangle 6"/>
            <p:cNvSpPr/>
            <p:nvPr/>
          </p:nvSpPr>
          <p:spPr>
            <a:xfrm>
              <a:off x="609600" y="1162050"/>
              <a:ext cx="10972800" cy="381000"/>
            </a:xfrm>
            <a:prstGeom prst="rect">
              <a:avLst/>
            </a:prstGeom>
            <a:solidFill>
              <a:srgbClr val="12355B"/>
            </a:solidFill>
            <a:ln>
              <a:noFill/>
            </a:ln>
          </p:spPr>
        </p:sp>
        <p:sp>
          <p:nvSpPr>
            <p:cNvPr id="7" name="TextBox 7"/>
            <p:cNvSpPr txBox="1"/>
            <p:nvPr/>
          </p:nvSpPr>
          <p:spPr>
            <a:xfrm>
              <a:off x="832104" y="1280160"/>
              <a:ext cx="390639"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Araç</a:t>
              </a:r>
            </a:p>
          </p:txBody>
        </p:sp>
        <p:sp>
          <p:nvSpPr>
            <p:cNvPr id="8" name="TextBox 8"/>
            <p:cNvSpPr txBox="1"/>
            <p:nvPr/>
          </p:nvSpPr>
          <p:spPr>
            <a:xfrm>
              <a:off x="2756154" y="1280160"/>
              <a:ext cx="848563"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Yaklaşımı</a:t>
              </a:r>
            </a:p>
          </p:txBody>
        </p:sp>
        <p:sp>
          <p:nvSpPr>
            <p:cNvPr id="9" name="TextBox 9"/>
            <p:cNvSpPr txBox="1"/>
            <p:nvPr/>
          </p:nvSpPr>
          <p:spPr>
            <a:xfrm>
              <a:off x="6089904" y="1280160"/>
              <a:ext cx="2003245"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Bu Bölümde Neden Nginx?</a:t>
              </a:r>
            </a:p>
          </p:txBody>
        </p:sp>
      </p:grpSp>
      <p:grpSp>
        <p:nvGrpSpPr>
          <p:cNvPr id="15" name="row-nginx"/>
          <p:cNvGrpSpPr/>
          <p:nvPr/>
        </p:nvGrpSpPr>
        <p:grpSpPr>
          <a:xfrm>
            <a:off x="609600" y="1543050"/>
            <a:ext cx="10972800" cy="1028700"/>
            <a:chOff x="609600" y="1543050"/>
            <a:chExt cx="10972800" cy="1028700"/>
          </a:xfrm>
        </p:grpSpPr>
        <p:sp>
          <p:nvSpPr>
            <p:cNvPr id="11" name="Rectangle 11"/>
            <p:cNvSpPr/>
            <p:nvPr/>
          </p:nvSpPr>
          <p:spPr>
            <a:xfrm>
              <a:off x="609600" y="1543050"/>
              <a:ext cx="10972800" cy="1028700"/>
            </a:xfrm>
            <a:prstGeom prst="rect">
              <a:avLst/>
            </a:prstGeom>
            <a:solidFill>
              <a:srgbClr val="EAF4F6"/>
            </a:solidFill>
            <a:ln w="14288">
              <a:solidFill>
                <a:srgbClr val="00A6A6"/>
              </a:solidFill>
            </a:ln>
          </p:spPr>
        </p:sp>
        <p:sp>
          <p:nvSpPr>
            <p:cNvPr id="12" name="TextBox 12"/>
            <p:cNvSpPr txBox="1"/>
            <p:nvPr/>
          </p:nvSpPr>
          <p:spPr>
            <a:xfrm>
              <a:off x="830199" y="1773079"/>
              <a:ext cx="58065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Nginx</a:t>
              </a:r>
            </a:p>
          </p:txBody>
        </p:sp>
        <p:sp>
          <p:nvSpPr>
            <p:cNvPr id="13" name="TextBox 13"/>
            <p:cNvSpPr txBox="1"/>
            <p:nvPr/>
          </p:nvSpPr>
          <p:spPr>
            <a:xfrm>
              <a:off x="2756154" y="1699260"/>
              <a:ext cx="24048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Olay güdümlü, tek işlem çok</a:t>
              </a:r>
              <a:br/>
              <a:r>
                <a:rPr lang="tr-TR" sz="1200" dirty="0">
                  <a:solidFill>
                    <a:srgbClr val="172B3A"/>
                  </a:solidFill>
                  <a:latin typeface="+mn-lt"/>
                  <a:ea typeface="+mn-ea"/>
                  <a:cs typeface="+mn-cs"/>
                </a:rPr>
                <a:t>bağlantı; yapılandırma dosyası</a:t>
              </a:r>
              <a:br/>
              <a:r>
                <a:rPr lang="tr-TR" sz="1200" dirty="0">
                  <a:solidFill>
                    <a:srgbClr val="172B3A"/>
                  </a:solidFill>
                  <a:latin typeface="+mn-lt"/>
                  <a:ea typeface="+mn-ea"/>
                  <a:cs typeface="+mn-cs"/>
                </a:rPr>
                <a:t>ile bildirimsel kurulum.</a:t>
              </a:r>
            </a:p>
          </p:txBody>
        </p:sp>
        <p:sp>
          <p:nvSpPr>
            <p:cNvPr id="14" name="TextBox 14"/>
            <p:cNvSpPr txBox="1"/>
            <p:nvPr/>
          </p:nvSpPr>
          <p:spPr>
            <a:xfrm>
              <a:off x="6089904" y="1699260"/>
              <a:ext cx="28315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Geniş dokümantasyon, Certbot ile</a:t>
              </a:r>
              <a:br/>
              <a:r>
                <a:rPr lang="tr-TR" sz="1200" dirty="0">
                  <a:solidFill>
                    <a:srgbClr val="172B3A"/>
                  </a:solidFill>
                  <a:latin typeface="+mn-lt"/>
                  <a:ea typeface="+mn-ea"/>
                  <a:cs typeface="+mn-cs"/>
                </a:rPr>
                <a:t>doğrudan entegrasyon, düşük</a:t>
              </a:r>
              <a:br/>
              <a:r>
                <a:rPr lang="tr-TR" sz="1200" dirty="0">
                  <a:solidFill>
                    <a:srgbClr val="172B3A"/>
                  </a:solidFill>
                  <a:latin typeface="+mn-lt"/>
                  <a:ea typeface="+mn-ea"/>
                  <a:cs typeface="+mn-cs"/>
                </a:rPr>
                <a:t>kaynak tüketimi, endüstri standardı.</a:t>
              </a:r>
            </a:p>
          </p:txBody>
        </p:sp>
      </p:grpSp>
      <p:grpSp>
        <p:nvGrpSpPr>
          <p:cNvPr id="20" name="row-apache"/>
          <p:cNvGrpSpPr/>
          <p:nvPr/>
        </p:nvGrpSpPr>
        <p:grpSpPr>
          <a:xfrm>
            <a:off x="609600" y="2571750"/>
            <a:ext cx="10972800" cy="1028700"/>
            <a:chOff x="609600" y="2571750"/>
            <a:chExt cx="10972800" cy="1028700"/>
          </a:xfrm>
        </p:grpSpPr>
        <p:sp>
          <p:nvSpPr>
            <p:cNvPr id="16" name="Rectangle 16"/>
            <p:cNvSpPr/>
            <p:nvPr/>
          </p:nvSpPr>
          <p:spPr>
            <a:xfrm>
              <a:off x="609600" y="2571750"/>
              <a:ext cx="10972800" cy="1028700"/>
            </a:xfrm>
            <a:prstGeom prst="rect">
              <a:avLst/>
            </a:prstGeom>
            <a:solidFill>
              <a:srgbClr val="FFFFFF"/>
            </a:solidFill>
            <a:ln w="9525">
              <a:solidFill>
                <a:srgbClr val="B8CBD3"/>
              </a:solidFill>
            </a:ln>
          </p:spPr>
        </p:sp>
        <p:sp>
          <p:nvSpPr>
            <p:cNvPr id="17" name="TextBox 17"/>
            <p:cNvSpPr txBox="1"/>
            <p:nvPr/>
          </p:nvSpPr>
          <p:spPr>
            <a:xfrm>
              <a:off x="830199" y="2801779"/>
              <a:ext cx="1332833" cy="536638"/>
            </a:xfrm>
            <a:prstGeom prst="rect">
              <a:avLst/>
            </a:prstGeom>
            <a:noFill/>
            <a:ln>
              <a:noFill/>
            </a:ln>
          </p:spPr>
          <p:txBody>
            <a:bodyPr wrap="none" lIns="0" tIns="0" rIns="0" bIns="0" anchor="t" anchorCtr="0">
              <a:spAutoFit/>
            </a:bodyPr>
            <a:lstStyle/>
            <a:p>
              <a:pPr algn="l">
                <a:lnSpc>
                  <a:spcPts val="1800"/>
                </a:lnSpc>
              </a:pPr>
              <a:r>
                <a:rPr lang="tr-TR" sz="1580" b="1" dirty="0">
                  <a:solidFill>
                    <a:srgbClr val="12355B"/>
                  </a:solidFill>
                  <a:latin typeface="+mn-lt"/>
                  <a:ea typeface="+mn-ea"/>
                  <a:cs typeface="+mn-cs"/>
                </a:rPr>
                <a:t>Apache</a:t>
              </a:r>
              <a:br/>
              <a:r>
                <a:rPr lang="tr-TR" sz="1580" b="1" dirty="0">
                  <a:solidFill>
                    <a:srgbClr val="12355B"/>
                  </a:solidFill>
                  <a:latin typeface="+mn-lt"/>
                  <a:ea typeface="+mn-ea"/>
                  <a:cs typeface="+mn-cs"/>
                </a:rPr>
                <a:t>(mod_proxy)</a:t>
              </a:r>
            </a:p>
          </p:txBody>
        </p:sp>
        <p:sp>
          <p:nvSpPr>
            <p:cNvPr id="18" name="TextBox 18"/>
            <p:cNvSpPr txBox="1"/>
            <p:nvPr/>
          </p:nvSpPr>
          <p:spPr>
            <a:xfrm>
              <a:off x="2756154" y="2727960"/>
              <a:ext cx="25725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İş parçacığı/işlem tabanlı model;</a:t>
              </a:r>
              <a:br/>
              <a:r>
                <a:rPr lang="tr-TR" sz="1200" dirty="0">
                  <a:solidFill>
                    <a:srgbClr val="172B3A"/>
                  </a:solidFill>
                  <a:latin typeface="+mn-lt"/>
                  <a:ea typeface="+mn-ea"/>
                  <a:cs typeface="+mn-cs"/>
                </a:rPr>
                <a:t>.htaccess ile esnek ama daha</a:t>
              </a:r>
              <a:br/>
              <a:r>
                <a:rPr lang="tr-TR" sz="1200" dirty="0">
                  <a:solidFill>
                    <a:srgbClr val="172B3A"/>
                  </a:solidFill>
                  <a:latin typeface="+mn-lt"/>
                  <a:ea typeface="+mn-ea"/>
                  <a:cs typeface="+mn-cs"/>
                </a:rPr>
                <a:t>ağır yapılandırma.</a:t>
              </a:r>
            </a:p>
          </p:txBody>
        </p:sp>
        <p:sp>
          <p:nvSpPr>
            <p:cNvPr id="19" name="TextBox 19"/>
            <p:cNvSpPr txBox="1"/>
            <p:nvPr/>
          </p:nvSpPr>
          <p:spPr>
            <a:xfrm>
              <a:off x="6089904" y="2727960"/>
              <a:ext cx="308305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Yüksek eşzamanlı bağlantıda daha</a:t>
              </a:r>
              <a:br/>
              <a:r>
                <a:rPr lang="tr-TR" sz="1200" dirty="0">
                  <a:solidFill>
                    <a:srgbClr val="52616B"/>
                  </a:solidFill>
                  <a:latin typeface="+mn-lt"/>
                  <a:ea typeface="+mn-ea"/>
                  <a:cs typeface="+mn-cs"/>
                </a:rPr>
                <a:t>fazla bellek tüketir; bu ders serisinin</a:t>
              </a:r>
              <a:br/>
              <a:r>
                <a:rPr lang="tr-TR" sz="1200" dirty="0">
                  <a:solidFill>
                    <a:srgbClr val="52616B"/>
                  </a:solidFill>
                  <a:latin typeface="+mn-lt"/>
                  <a:ea typeface="+mn-ea"/>
                  <a:cs typeface="+mn-cs"/>
                </a:rPr>
                <a:t>Bölüm 14 Docker akışıyla daha az uyumlu.</a:t>
              </a:r>
            </a:p>
          </p:txBody>
        </p:sp>
      </p:grpSp>
      <p:grpSp>
        <p:nvGrpSpPr>
          <p:cNvPr id="25" name="row-caddy"/>
          <p:cNvGrpSpPr/>
          <p:nvPr/>
        </p:nvGrpSpPr>
        <p:grpSpPr>
          <a:xfrm>
            <a:off x="609600" y="3600450"/>
            <a:ext cx="10972800" cy="1028700"/>
            <a:chOff x="609600" y="3600450"/>
            <a:chExt cx="10972800" cy="1028700"/>
          </a:xfrm>
        </p:grpSpPr>
        <p:sp>
          <p:nvSpPr>
            <p:cNvPr id="21" name="Rectangle 21"/>
            <p:cNvSpPr/>
            <p:nvPr/>
          </p:nvSpPr>
          <p:spPr>
            <a:xfrm>
              <a:off x="609600" y="3600450"/>
              <a:ext cx="10972800" cy="1028700"/>
            </a:xfrm>
            <a:prstGeom prst="rect">
              <a:avLst/>
            </a:prstGeom>
            <a:solidFill>
              <a:srgbClr val="FFFFFF"/>
            </a:solidFill>
            <a:ln w="9525">
              <a:solidFill>
                <a:srgbClr val="B8CBD3"/>
              </a:solidFill>
            </a:ln>
          </p:spPr>
        </p:sp>
        <p:sp>
          <p:nvSpPr>
            <p:cNvPr id="22" name="TextBox 22"/>
            <p:cNvSpPr txBox="1"/>
            <p:nvPr/>
          </p:nvSpPr>
          <p:spPr>
            <a:xfrm>
              <a:off x="830199" y="3830479"/>
              <a:ext cx="63712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Caddy</a:t>
              </a:r>
            </a:p>
          </p:txBody>
        </p:sp>
        <p:sp>
          <p:nvSpPr>
            <p:cNvPr id="23" name="TextBox 23"/>
            <p:cNvSpPr txBox="1"/>
            <p:nvPr/>
          </p:nvSpPr>
          <p:spPr>
            <a:xfrm>
              <a:off x="2756154" y="3756660"/>
              <a:ext cx="228295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Otomatik HTTPS varsayılan;</a:t>
              </a:r>
              <a:br/>
              <a:r>
                <a:rPr lang="tr-TR" sz="1200" dirty="0">
                  <a:solidFill>
                    <a:srgbClr val="172B3A"/>
                  </a:solidFill>
                  <a:latin typeface="+mn-lt"/>
                  <a:ea typeface="+mn-ea"/>
                  <a:cs typeface="+mn-cs"/>
                </a:rPr>
                <a:t>Go dilinde yazılmış, modern ve</a:t>
              </a:r>
              <a:br/>
              <a:r>
                <a:rPr lang="tr-TR" sz="1200" dirty="0">
                  <a:solidFill>
                    <a:srgbClr val="172B3A"/>
                  </a:solidFill>
                  <a:latin typeface="+mn-lt"/>
                  <a:ea typeface="+mn-ea"/>
                  <a:cs typeface="+mn-cs"/>
                </a:rPr>
                <a:t>sade yapılandırma sözdizimi.</a:t>
              </a:r>
            </a:p>
          </p:txBody>
        </p:sp>
        <p:sp>
          <p:nvSpPr>
            <p:cNvPr id="24" name="TextBox 24"/>
            <p:cNvSpPr txBox="1"/>
            <p:nvPr/>
          </p:nvSpPr>
          <p:spPr>
            <a:xfrm>
              <a:off x="6089904" y="3756660"/>
              <a:ext cx="303733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Certbot/Let's Encrypt manuel akışı</a:t>
              </a:r>
              <a:br/>
              <a:r>
                <a:rPr lang="tr-TR" sz="1200" dirty="0">
                  <a:solidFill>
                    <a:srgbClr val="52616B"/>
                  </a:solidFill>
                  <a:latin typeface="+mn-lt"/>
                  <a:ea typeface="+mn-ea"/>
                  <a:cs typeface="+mn-cs"/>
                </a:rPr>
                <a:t>öğretme hedefiyle çelişir; bu bölüm</a:t>
              </a:r>
              <a:br/>
              <a:r>
                <a:rPr lang="tr-TR" sz="1200" dirty="0">
                  <a:solidFill>
                    <a:srgbClr val="52616B"/>
                  </a:solidFill>
                  <a:latin typeface="+mn-lt"/>
                  <a:ea typeface="+mn-ea"/>
                  <a:cs typeface="+mn-cs"/>
                </a:rPr>
                <a:t>TLS sürecini kasten adım adım gösterir.</a:t>
              </a:r>
            </a:p>
          </p:txBody>
        </p:sp>
      </p:grpSp>
      <p:grpSp>
        <p:nvGrpSpPr>
          <p:cNvPr id="30" name="row-note"/>
          <p:cNvGrpSpPr/>
          <p:nvPr/>
        </p:nvGrpSpPr>
        <p:grpSpPr>
          <a:xfrm>
            <a:off x="609600" y="4743450"/>
            <a:ext cx="10972800" cy="723900"/>
            <a:chOff x="609600" y="4743450"/>
            <a:chExt cx="10972800" cy="723900"/>
          </a:xfrm>
        </p:grpSpPr>
        <p:sp>
          <p:nvSpPr>
            <p:cNvPr id="26" name="Rectangle 26"/>
            <p:cNvSpPr/>
            <p:nvPr/>
          </p:nvSpPr>
          <p:spPr>
            <a:xfrm>
              <a:off x="609600" y="4743450"/>
              <a:ext cx="10972800" cy="723900"/>
            </a:xfrm>
            <a:prstGeom prst="roundRect">
              <a:avLst>
                <a:gd name="adj" fmla="val 10526"/>
              </a:avLst>
            </a:prstGeom>
            <a:solidFill>
              <a:srgbClr val="EAF4F6"/>
            </a:solidFill>
            <a:ln>
              <a:noFill/>
            </a:ln>
          </p:spPr>
        </p:sp>
        <p:sp>
          <p:nvSpPr>
            <p:cNvPr id="27" name="Rectangle 27"/>
            <p:cNvSpPr/>
            <p:nvPr/>
          </p:nvSpPr>
          <p:spPr>
            <a:xfrm>
              <a:off x="609600" y="4743450"/>
              <a:ext cx="57150" cy="723900"/>
            </a:xfrm>
            <a:prstGeom prst="rect">
              <a:avLst/>
            </a:prstGeom>
            <a:solidFill>
              <a:srgbClr val="00A6A6"/>
            </a:solidFill>
            <a:ln>
              <a:noFill/>
            </a:ln>
          </p:spPr>
        </p:sp>
        <p:sp>
          <p:nvSpPr>
            <p:cNvPr id="28" name="TextBox 28"/>
            <p:cNvSpPr txBox="1"/>
            <p:nvPr/>
          </p:nvSpPr>
          <p:spPr>
            <a:xfrm>
              <a:off x="906399" y="4859179"/>
              <a:ext cx="510405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Seçim, araç üstünlüğünden değil hedeften gelir</a:t>
              </a:r>
            </a:p>
          </p:txBody>
        </p:sp>
        <p:sp>
          <p:nvSpPr>
            <p:cNvPr id="29" name="TextBox 29"/>
            <p:cNvSpPr txBox="1"/>
            <p:nvPr/>
          </p:nvSpPr>
          <p:spPr>
            <a:xfrm>
              <a:off x="908304" y="5147310"/>
              <a:ext cx="818019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Üçü de reverse proxy görevini görebilir; Nginx bu bölümde TLS sürecini görünür kılmak için tercih edilir.</a:t>
              </a:r>
            </a:p>
          </p:txBody>
        </p:sp>
      </p:grpSp>
      <p:sp>
        <p:nvSpPr>
          <p:cNvPr id="31" name="TextBox 3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24</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391985" cy="668845"/>
            <a:chOff x="609600" y="171450"/>
            <a:chExt cx="7391985"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09562"/>
                <a:ext cx="206693" cy="280512"/>
                <a:chOff x="792004" y="309562"/>
                <a:chExt cx="206693" cy="280512"/>
              </a:xfrm>
            </p:grpSpPr>
            <p:sp>
              <p:nvSpPr>
                <p:cNvPr id="5" name="Freeform 5"/>
                <p:cNvSpPr/>
                <p:nvPr/>
              </p:nvSpPr>
              <p:spPr>
                <a:xfrm>
                  <a:off x="7920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805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8362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99972" y="282892"/>
              <a:ext cx="670161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HTTPS ve TLS: şifreleme temelleri</a:t>
              </a:r>
            </a:p>
          </p:txBody>
        </p:sp>
      </p:grpSp>
      <p:grpSp>
        <p:nvGrpSpPr>
          <p:cNvPr id="17" name="definition-block"/>
          <p:cNvGrpSpPr/>
          <p:nvPr/>
        </p:nvGrpSpPr>
        <p:grpSpPr>
          <a:xfrm>
            <a:off x="609600" y="1181100"/>
            <a:ext cx="10972800" cy="857250"/>
            <a:chOff x="609600" y="1181100"/>
            <a:chExt cx="10972800" cy="857250"/>
          </a:xfrm>
        </p:grpSpPr>
        <p:sp>
          <p:nvSpPr>
            <p:cNvPr id="12" name="Rectangle 12"/>
            <p:cNvSpPr/>
            <p:nvPr/>
          </p:nvSpPr>
          <p:spPr>
            <a:xfrm>
              <a:off x="609600" y="1181100"/>
              <a:ext cx="10972800" cy="857250"/>
            </a:xfrm>
            <a:prstGeom prst="roundRect">
              <a:avLst>
                <a:gd name="adj" fmla="val 8889"/>
              </a:avLst>
            </a:prstGeom>
            <a:solidFill>
              <a:srgbClr val="EAF4F6"/>
            </a:solidFill>
            <a:ln>
              <a:noFill/>
            </a:ln>
          </p:spPr>
        </p:sp>
        <p:sp>
          <p:nvSpPr>
            <p:cNvPr id="13" name="Rectangle 13"/>
            <p:cNvSpPr/>
            <p:nvPr/>
          </p:nvSpPr>
          <p:spPr>
            <a:xfrm>
              <a:off x="609600" y="1181100"/>
              <a:ext cx="57150" cy="857250"/>
            </a:xfrm>
            <a:prstGeom prst="rect">
              <a:avLst/>
            </a:prstGeom>
            <a:solidFill>
              <a:srgbClr val="00A6A6"/>
            </a:solidFill>
            <a:ln>
              <a:noFill/>
            </a:ln>
          </p:spPr>
        </p:sp>
        <p:sp>
          <p:nvSpPr>
            <p:cNvPr id="14" name="TextBox 14"/>
            <p:cNvSpPr txBox="1"/>
            <p:nvPr/>
          </p:nvSpPr>
          <p:spPr>
            <a:xfrm>
              <a:off x="906399" y="127777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15" name="TextBox 15"/>
            <p:cNvSpPr txBox="1"/>
            <p:nvPr/>
          </p:nvSpPr>
          <p:spPr>
            <a:xfrm>
              <a:off x="906399" y="1525429"/>
              <a:ext cx="922399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HTTPS, HTTP trafiğinin TLS (Transport Layer Security) protokolüyle şifrelenmiş halidir;</a:t>
              </a:r>
            </a:p>
          </p:txBody>
        </p:sp>
        <p:sp>
          <p:nvSpPr>
            <p:cNvPr id="16" name="TextBox 16"/>
            <p:cNvSpPr txBox="1"/>
            <p:nvPr/>
          </p:nvSpPr>
          <p:spPr>
            <a:xfrm>
              <a:off x="908304" y="1794510"/>
              <a:ext cx="657087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sunucu kimliğini bir sertifika ile kanıtlar ve iletilen veriyi araya girenlerden gizler.</a:t>
              </a:r>
            </a:p>
          </p:txBody>
        </p:sp>
      </p:grpSp>
      <p:grpSp>
        <p:nvGrpSpPr>
          <p:cNvPr id="29" name="why-block"/>
          <p:cNvGrpSpPr/>
          <p:nvPr/>
        </p:nvGrpSpPr>
        <p:grpSpPr>
          <a:xfrm>
            <a:off x="609600" y="2209800"/>
            <a:ext cx="5257800" cy="3238500"/>
            <a:chOff x="609600" y="2209800"/>
            <a:chExt cx="5257800" cy="3238500"/>
          </a:xfrm>
        </p:grpSpPr>
        <p:sp>
          <p:nvSpPr>
            <p:cNvPr id="18" name="Rectangle 18"/>
            <p:cNvSpPr/>
            <p:nvPr/>
          </p:nvSpPr>
          <p:spPr>
            <a:xfrm>
              <a:off x="609600" y="2209800"/>
              <a:ext cx="5257800" cy="3238500"/>
            </a:xfrm>
            <a:prstGeom prst="roundRect">
              <a:avLst>
                <a:gd name="adj" fmla="val 2353"/>
              </a:avLst>
            </a:prstGeom>
            <a:solidFill>
              <a:srgbClr val="FFFFFF"/>
            </a:solidFill>
            <a:ln w="14288">
              <a:solidFill>
                <a:srgbClr val="B8CBD3"/>
              </a:solidFill>
            </a:ln>
          </p:spPr>
        </p:sp>
        <p:sp>
          <p:nvSpPr>
            <p:cNvPr id="19" name="TextBox 19"/>
            <p:cNvSpPr txBox="1"/>
            <p:nvPr/>
          </p:nvSpPr>
          <p:spPr>
            <a:xfrm>
              <a:off x="868299" y="2363629"/>
              <a:ext cx="156494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Neden vardır?</a:t>
              </a:r>
            </a:p>
          </p:txBody>
        </p:sp>
        <p:sp>
          <p:nvSpPr>
            <p:cNvPr id="20" name="TextBox 20"/>
            <p:cNvSpPr txBox="1"/>
            <p:nvPr/>
          </p:nvSpPr>
          <p:spPr>
            <a:xfrm>
              <a:off x="870204" y="2727960"/>
              <a:ext cx="245575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Düz metin HTTP; kullanıcı adı,</a:t>
              </a:r>
            </a:p>
          </p:txBody>
        </p:sp>
        <p:sp>
          <p:nvSpPr>
            <p:cNvPr id="21" name="TextBox 21"/>
            <p:cNvSpPr txBox="1"/>
            <p:nvPr/>
          </p:nvSpPr>
          <p:spPr>
            <a:xfrm>
              <a:off x="870204" y="2937510"/>
              <a:ext cx="241052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şifre, JWT gibi hassas verileri</a:t>
              </a:r>
            </a:p>
          </p:txBody>
        </p:sp>
        <p:sp>
          <p:nvSpPr>
            <p:cNvPr id="22" name="TextBox 22"/>
            <p:cNvSpPr txBox="1"/>
            <p:nvPr/>
          </p:nvSpPr>
          <p:spPr>
            <a:xfrm>
              <a:off x="870204" y="3147060"/>
              <a:ext cx="248381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ağ üzerinde okunabilir bırakır.</a:t>
              </a:r>
            </a:p>
          </p:txBody>
        </p:sp>
        <p:sp>
          <p:nvSpPr>
            <p:cNvPr id="23" name="TextBox 23"/>
            <p:cNvSpPr txBox="1"/>
            <p:nvPr/>
          </p:nvSpPr>
          <p:spPr>
            <a:xfrm>
              <a:off x="870204" y="3489960"/>
              <a:ext cx="245930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Bir kafe Wi-Fi'ı gibi paylaşılan</a:t>
              </a:r>
            </a:p>
          </p:txBody>
        </p:sp>
        <p:sp>
          <p:nvSpPr>
            <p:cNvPr id="24" name="TextBox 24"/>
            <p:cNvSpPr txBox="1"/>
            <p:nvPr/>
          </p:nvSpPr>
          <p:spPr>
            <a:xfrm>
              <a:off x="870204" y="3699510"/>
              <a:ext cx="235420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ağda, araya giren biri (MITM)</a:t>
              </a:r>
            </a:p>
          </p:txBody>
        </p:sp>
        <p:sp>
          <p:nvSpPr>
            <p:cNvPr id="25" name="TextBox 25"/>
            <p:cNvSpPr txBox="1"/>
            <p:nvPr/>
          </p:nvSpPr>
          <p:spPr>
            <a:xfrm>
              <a:off x="870204" y="3909060"/>
              <a:ext cx="245150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bu veriyi doğrudan dinleyebilir.</a:t>
              </a:r>
            </a:p>
          </p:txBody>
        </p:sp>
        <p:sp>
          <p:nvSpPr>
            <p:cNvPr id="26" name="TextBox 26"/>
            <p:cNvSpPr txBox="1"/>
            <p:nvPr/>
          </p:nvSpPr>
          <p:spPr>
            <a:xfrm>
              <a:off x="870204" y="4251960"/>
              <a:ext cx="234500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Tarayıcılar 2018'den bu yana</a:t>
              </a:r>
            </a:p>
          </p:txBody>
        </p:sp>
        <p:sp>
          <p:nvSpPr>
            <p:cNvPr id="27" name="TextBox 27"/>
            <p:cNvSpPr txBox="1"/>
            <p:nvPr/>
          </p:nvSpPr>
          <p:spPr>
            <a:xfrm>
              <a:off x="870204" y="4461510"/>
              <a:ext cx="246583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HTTPS olmayan siteleri "Güvenli</a:t>
              </a:r>
            </a:p>
          </p:txBody>
        </p:sp>
        <p:sp>
          <p:nvSpPr>
            <p:cNvPr id="28" name="TextBox 28"/>
            <p:cNvSpPr txBox="1"/>
            <p:nvPr/>
          </p:nvSpPr>
          <p:spPr>
            <a:xfrm>
              <a:off x="870204" y="4671060"/>
              <a:ext cx="186710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Değil" olarak işaretler.</a:t>
              </a:r>
            </a:p>
          </p:txBody>
        </p:sp>
      </p:grpSp>
      <p:grpSp>
        <p:nvGrpSpPr>
          <p:cNvPr id="42" name="theory-block"/>
          <p:cNvGrpSpPr/>
          <p:nvPr/>
        </p:nvGrpSpPr>
        <p:grpSpPr>
          <a:xfrm>
            <a:off x="6324600" y="2209800"/>
            <a:ext cx="5257800" cy="3238500"/>
            <a:chOff x="6324600" y="2209800"/>
            <a:chExt cx="5257800" cy="3238500"/>
          </a:xfrm>
        </p:grpSpPr>
        <p:sp>
          <p:nvSpPr>
            <p:cNvPr id="30" name="Rectangle 30"/>
            <p:cNvSpPr/>
            <p:nvPr/>
          </p:nvSpPr>
          <p:spPr>
            <a:xfrm>
              <a:off x="6324600" y="2209800"/>
              <a:ext cx="5257800" cy="3238500"/>
            </a:xfrm>
            <a:prstGeom prst="roundRect">
              <a:avLst>
                <a:gd name="adj" fmla="val 2353"/>
              </a:avLst>
            </a:prstGeom>
            <a:solidFill>
              <a:srgbClr val="FFFFFF"/>
            </a:solidFill>
            <a:ln w="14288">
              <a:solidFill>
                <a:srgbClr val="00A6A6"/>
              </a:solidFill>
            </a:ln>
          </p:spPr>
        </p:sp>
        <p:sp>
          <p:nvSpPr>
            <p:cNvPr id="31" name="TextBox 31"/>
            <p:cNvSpPr txBox="1"/>
            <p:nvPr/>
          </p:nvSpPr>
          <p:spPr>
            <a:xfrm>
              <a:off x="6583299" y="2363629"/>
              <a:ext cx="119588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Üç güvence</a:t>
              </a:r>
            </a:p>
          </p:txBody>
        </p:sp>
        <p:sp>
          <p:nvSpPr>
            <p:cNvPr id="32" name="TextBox 32"/>
            <p:cNvSpPr txBox="1"/>
            <p:nvPr/>
          </p:nvSpPr>
          <p:spPr>
            <a:xfrm>
              <a:off x="6585204" y="2727960"/>
              <a:ext cx="246453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Gizlilik: veri şifrelenir, üçüncü</a:t>
              </a:r>
            </a:p>
          </p:txBody>
        </p:sp>
        <p:sp>
          <p:nvSpPr>
            <p:cNvPr id="33" name="TextBox 33"/>
            <p:cNvSpPr txBox="1"/>
            <p:nvPr/>
          </p:nvSpPr>
          <p:spPr>
            <a:xfrm>
              <a:off x="6585204" y="2937510"/>
              <a:ext cx="188610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taraf içeriği okuyamaz.</a:t>
              </a:r>
            </a:p>
          </p:txBody>
        </p:sp>
        <p:sp>
          <p:nvSpPr>
            <p:cNvPr id="34" name="TextBox 34"/>
            <p:cNvSpPr txBox="1"/>
            <p:nvPr/>
          </p:nvSpPr>
          <p:spPr>
            <a:xfrm>
              <a:off x="6585204" y="3242310"/>
              <a:ext cx="268253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Bütünlük: veri yolda değiştirilirse</a:t>
              </a:r>
            </a:p>
          </p:txBody>
        </p:sp>
        <p:sp>
          <p:nvSpPr>
            <p:cNvPr id="35" name="TextBox 35"/>
            <p:cNvSpPr txBox="1"/>
            <p:nvPr/>
          </p:nvSpPr>
          <p:spPr>
            <a:xfrm>
              <a:off x="6585204" y="3451860"/>
              <a:ext cx="81991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algılanır.</a:t>
              </a:r>
            </a:p>
          </p:txBody>
        </p:sp>
        <p:sp>
          <p:nvSpPr>
            <p:cNvPr id="36" name="TextBox 36"/>
            <p:cNvSpPr txBox="1"/>
            <p:nvPr/>
          </p:nvSpPr>
          <p:spPr>
            <a:xfrm>
              <a:off x="6585204" y="3756660"/>
              <a:ext cx="224675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Kimlik doğrulama: sertifika,</a:t>
              </a:r>
            </a:p>
          </p:txBody>
        </p:sp>
        <p:sp>
          <p:nvSpPr>
            <p:cNvPr id="37" name="TextBox 37"/>
            <p:cNvSpPr txBox="1"/>
            <p:nvPr/>
          </p:nvSpPr>
          <p:spPr>
            <a:xfrm>
              <a:off x="6585204" y="3966210"/>
              <a:ext cx="240304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sunucunun iddia ettiği alan adı</a:t>
              </a:r>
            </a:p>
          </p:txBody>
        </p:sp>
        <p:sp>
          <p:nvSpPr>
            <p:cNvPr id="38" name="TextBox 38"/>
            <p:cNvSpPr txBox="1"/>
            <p:nvPr/>
          </p:nvSpPr>
          <p:spPr>
            <a:xfrm>
              <a:off x="6585204" y="4175760"/>
              <a:ext cx="149032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olduğunu kanıtlar.</a:t>
              </a:r>
            </a:p>
          </p:txBody>
        </p:sp>
        <p:sp>
          <p:nvSpPr>
            <p:cNvPr id="39" name="TextBox 39"/>
            <p:cNvSpPr txBox="1"/>
            <p:nvPr/>
          </p:nvSpPr>
          <p:spPr>
            <a:xfrm>
              <a:off x="6585204" y="4499610"/>
              <a:ext cx="327661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TLS, güvenilir bir Sertifika Otoritesi'nin</a:t>
              </a:r>
            </a:p>
          </p:txBody>
        </p:sp>
        <p:sp>
          <p:nvSpPr>
            <p:cNvPr id="40" name="TextBox 40"/>
            <p:cNvSpPr txBox="1"/>
            <p:nvPr/>
          </p:nvSpPr>
          <p:spPr>
            <a:xfrm>
              <a:off x="6585204" y="4709160"/>
              <a:ext cx="283442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(CA) imzaladığı ortak/özel anahtar</a:t>
              </a:r>
            </a:p>
          </p:txBody>
        </p:sp>
        <p:sp>
          <p:nvSpPr>
            <p:cNvPr id="41" name="TextBox 41"/>
            <p:cNvSpPr txBox="1"/>
            <p:nvPr/>
          </p:nvSpPr>
          <p:spPr>
            <a:xfrm>
              <a:off x="6585204" y="4918710"/>
              <a:ext cx="131262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çiftine dayanır.</a:t>
              </a:r>
            </a:p>
          </p:txBody>
        </p:sp>
      </p:grpSp>
      <p:grpSp>
        <p:nvGrpSpPr>
          <p:cNvPr id="46" name="closing-note"/>
          <p:cNvGrpSpPr/>
          <p:nvPr/>
        </p:nvGrpSpPr>
        <p:grpSpPr>
          <a:xfrm>
            <a:off x="609600" y="5600700"/>
            <a:ext cx="10972800" cy="685800"/>
            <a:chOff x="609600" y="5600700"/>
            <a:chExt cx="10972800" cy="685800"/>
          </a:xfrm>
        </p:grpSpPr>
        <p:sp>
          <p:nvSpPr>
            <p:cNvPr id="43" name="Rectangle 43"/>
            <p:cNvSpPr/>
            <p:nvPr/>
          </p:nvSpPr>
          <p:spPr>
            <a:xfrm>
              <a:off x="609600" y="5600700"/>
              <a:ext cx="10972800" cy="685800"/>
            </a:xfrm>
            <a:prstGeom prst="roundRect">
              <a:avLst>
                <a:gd name="adj" fmla="val 11111"/>
              </a:avLst>
            </a:prstGeom>
            <a:solidFill>
              <a:srgbClr val="EAF4F6"/>
            </a:solidFill>
            <a:ln>
              <a:noFill/>
            </a:ln>
          </p:spPr>
        </p:sp>
        <p:sp>
          <p:nvSpPr>
            <p:cNvPr id="44" name="TextBox 44"/>
            <p:cNvSpPr txBox="1"/>
            <p:nvPr/>
          </p:nvSpPr>
          <p:spPr>
            <a:xfrm>
              <a:off x="906399" y="5735479"/>
              <a:ext cx="785080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Sertifika kimin sertifikası olduğunu değil, sunucunun kimliğini kanıtlar.</a:t>
              </a:r>
            </a:p>
          </p:txBody>
        </p:sp>
        <p:sp>
          <p:nvSpPr>
            <p:cNvPr id="45" name="TextBox 45"/>
            <p:cNvSpPr txBox="1"/>
            <p:nvPr/>
          </p:nvSpPr>
          <p:spPr>
            <a:xfrm>
              <a:off x="908304" y="6023610"/>
              <a:ext cx="738915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Bir sonraki konu: Certbot ile bu sertifikayı ücretsiz ve otomatik biçimde nasıl elde edeceğiz.</a:t>
              </a:r>
            </a:p>
          </p:txBody>
        </p:sp>
      </p:grpSp>
      <p:sp>
        <p:nvSpPr>
          <p:cNvPr id="47" name="TextBox 4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24</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430692" cy="668845"/>
            <a:chOff x="609600" y="171450"/>
            <a:chExt cx="9430692"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874032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Certbot ile TLS sertifikası (Kod 15.4-15.5)</a:t>
              </a:r>
            </a:p>
          </p:txBody>
        </p:sp>
      </p:grpSp>
      <p:grpSp>
        <p:nvGrpSpPr>
          <p:cNvPr id="28" name="code-block"/>
          <p:cNvGrpSpPr/>
          <p:nvPr/>
        </p:nvGrpSpPr>
        <p:grpSpPr>
          <a:xfrm>
            <a:off x="609600" y="1181100"/>
            <a:ext cx="6096000" cy="3810000"/>
            <a:chOff x="609600" y="1181100"/>
            <a:chExt cx="6096000" cy="3810000"/>
          </a:xfrm>
        </p:grpSpPr>
        <p:sp>
          <p:nvSpPr>
            <p:cNvPr id="12" name="Rectangle 12"/>
            <p:cNvSpPr/>
            <p:nvPr/>
          </p:nvSpPr>
          <p:spPr>
            <a:xfrm>
              <a:off x="609600" y="1181100"/>
              <a:ext cx="6096000" cy="3810000"/>
            </a:xfrm>
            <a:prstGeom prst="roundRect">
              <a:avLst>
                <a:gd name="adj" fmla="val 2000"/>
              </a:avLst>
            </a:prstGeom>
            <a:solidFill>
              <a:srgbClr val="12355B"/>
            </a:solidFill>
            <a:ln>
              <a:noFill/>
            </a:ln>
          </p:spPr>
        </p:sp>
        <p:sp>
          <p:nvSpPr>
            <p:cNvPr id="13" name="TextBox 13"/>
            <p:cNvSpPr txBox="1"/>
            <p:nvPr/>
          </p:nvSpPr>
          <p:spPr>
            <a:xfrm>
              <a:off x="832104" y="1337310"/>
              <a:ext cx="2862364"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1. Certbot kur ve sertifika al</a:t>
              </a:r>
            </a:p>
          </p:txBody>
        </p:sp>
        <p:sp>
          <p:nvSpPr>
            <p:cNvPr id="14" name="TextBox 14"/>
            <p:cNvSpPr txBox="1"/>
            <p:nvPr/>
          </p:nvSpPr>
          <p:spPr>
            <a:xfrm>
              <a:off x="832104" y="1584960"/>
              <a:ext cx="232227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sudo apt install certbot \</a:t>
              </a:r>
            </a:p>
          </p:txBody>
        </p:sp>
        <p:sp>
          <p:nvSpPr>
            <p:cNvPr id="15" name="TextBox 15"/>
            <p:cNvSpPr txBox="1"/>
            <p:nvPr/>
          </p:nvSpPr>
          <p:spPr>
            <a:xfrm>
              <a:off x="832104" y="1794510"/>
              <a:ext cx="187802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python3-certbot-nginx</a:t>
              </a:r>
            </a:p>
          </p:txBody>
        </p:sp>
        <p:sp>
          <p:nvSpPr>
            <p:cNvPr id="16" name="TextBox 16"/>
            <p:cNvSpPr txBox="1"/>
            <p:nvPr/>
          </p:nvSpPr>
          <p:spPr>
            <a:xfrm>
              <a:off x="832104" y="2042160"/>
              <a:ext cx="223342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sudo certbot --nginx -d \</a:t>
              </a:r>
            </a:p>
          </p:txBody>
        </p:sp>
        <p:sp>
          <p:nvSpPr>
            <p:cNvPr id="17" name="TextBox 17"/>
            <p:cNvSpPr txBox="1"/>
            <p:nvPr/>
          </p:nvSpPr>
          <p:spPr>
            <a:xfrm>
              <a:off x="832104" y="2251710"/>
              <a:ext cx="223342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kutuphane-api.example.com</a:t>
              </a:r>
            </a:p>
          </p:txBody>
        </p:sp>
        <p:sp>
          <p:nvSpPr>
            <p:cNvPr id="18" name="TextBox 18"/>
            <p:cNvSpPr txBox="1"/>
            <p:nvPr/>
          </p:nvSpPr>
          <p:spPr>
            <a:xfrm>
              <a:off x="832104" y="2556510"/>
              <a:ext cx="3217229"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2. Nginx otomatik olarak günceller</a:t>
              </a:r>
            </a:p>
          </p:txBody>
        </p:sp>
        <p:sp>
          <p:nvSpPr>
            <p:cNvPr id="19" name="TextBox 19"/>
            <p:cNvSpPr txBox="1"/>
            <p:nvPr/>
          </p:nvSpPr>
          <p:spPr>
            <a:xfrm>
              <a:off x="832104" y="2804160"/>
              <a:ext cx="72298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server {</a:t>
              </a:r>
            </a:p>
          </p:txBody>
        </p:sp>
        <p:sp>
          <p:nvSpPr>
            <p:cNvPr id="20" name="TextBox 20"/>
            <p:cNvSpPr txBox="1"/>
            <p:nvPr/>
          </p:nvSpPr>
          <p:spPr>
            <a:xfrm>
              <a:off x="832104" y="3013710"/>
              <a:ext cx="134493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listen 443 ssl;</a:t>
              </a:r>
            </a:p>
          </p:txBody>
        </p:sp>
        <p:sp>
          <p:nvSpPr>
            <p:cNvPr id="21" name="TextBox 21"/>
            <p:cNvSpPr txBox="1"/>
            <p:nvPr/>
          </p:nvSpPr>
          <p:spPr>
            <a:xfrm>
              <a:off x="832104" y="3223260"/>
              <a:ext cx="294421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ssl_certificate ...fullchain.pem;</a:t>
              </a:r>
            </a:p>
          </p:txBody>
        </p:sp>
        <p:sp>
          <p:nvSpPr>
            <p:cNvPr id="22" name="TextBox 22"/>
            <p:cNvSpPr txBox="1"/>
            <p:nvPr/>
          </p:nvSpPr>
          <p:spPr>
            <a:xfrm>
              <a:off x="832104" y="3432810"/>
              <a:ext cx="3121914"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ssl_certificate_key ...privkey.pem;</a:t>
              </a:r>
            </a:p>
          </p:txBody>
        </p:sp>
        <p:sp>
          <p:nvSpPr>
            <p:cNvPr id="23" name="TextBox 23"/>
            <p:cNvSpPr txBox="1"/>
            <p:nvPr/>
          </p:nvSpPr>
          <p:spPr>
            <a:xfrm>
              <a:off x="832104" y="3642360"/>
              <a:ext cx="10104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a:t>
              </a:r>
            </a:p>
          </p:txBody>
        </p:sp>
        <p:sp>
          <p:nvSpPr>
            <p:cNvPr id="24" name="TextBox 24"/>
            <p:cNvSpPr txBox="1"/>
            <p:nvPr/>
          </p:nvSpPr>
          <p:spPr>
            <a:xfrm>
              <a:off x="832104" y="3890010"/>
              <a:ext cx="2742329"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3. HTTP'yi HTTPS'e yönlendir</a:t>
              </a:r>
            </a:p>
          </p:txBody>
        </p:sp>
        <p:sp>
          <p:nvSpPr>
            <p:cNvPr id="25" name="TextBox 25"/>
            <p:cNvSpPr txBox="1"/>
            <p:nvPr/>
          </p:nvSpPr>
          <p:spPr>
            <a:xfrm>
              <a:off x="832104" y="4137660"/>
              <a:ext cx="267766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server { listen 80; return 301</a:t>
              </a:r>
            </a:p>
          </p:txBody>
        </p:sp>
        <p:sp>
          <p:nvSpPr>
            <p:cNvPr id="26" name="TextBox 26"/>
            <p:cNvSpPr txBox="1"/>
            <p:nvPr/>
          </p:nvSpPr>
          <p:spPr>
            <a:xfrm>
              <a:off x="832104" y="4347210"/>
              <a:ext cx="249997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https://$host$request_uri; }</a:t>
              </a:r>
            </a:p>
          </p:txBody>
        </p:sp>
        <p:sp>
          <p:nvSpPr>
            <p:cNvPr id="27" name="TextBox 27"/>
            <p:cNvSpPr txBox="1"/>
            <p:nvPr/>
          </p:nvSpPr>
          <p:spPr>
            <a:xfrm>
              <a:off x="832104" y="4613910"/>
              <a:ext cx="542120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Kodun amacı: sertifika almak ve tüm trafiği şifreli kanala zorlamak.</a:t>
              </a:r>
            </a:p>
          </p:txBody>
        </p:sp>
      </p:grpSp>
      <p:grpSp>
        <p:nvGrpSpPr>
          <p:cNvPr id="44" name="critical-lines"/>
          <p:cNvGrpSpPr/>
          <p:nvPr/>
        </p:nvGrpSpPr>
        <p:grpSpPr>
          <a:xfrm>
            <a:off x="7010400" y="1181100"/>
            <a:ext cx="4572000" cy="3657600"/>
            <a:chOff x="7010400" y="1181100"/>
            <a:chExt cx="4572000" cy="3657600"/>
          </a:xfrm>
        </p:grpSpPr>
        <p:sp>
          <p:nvSpPr>
            <p:cNvPr id="29" name="Rectangle 29"/>
            <p:cNvSpPr/>
            <p:nvPr/>
          </p:nvSpPr>
          <p:spPr>
            <a:xfrm>
              <a:off x="7010400" y="1181100"/>
              <a:ext cx="4572000" cy="1143000"/>
            </a:xfrm>
            <a:prstGeom prst="roundRect">
              <a:avLst>
                <a:gd name="adj" fmla="val 6667"/>
              </a:avLst>
            </a:prstGeom>
            <a:solidFill>
              <a:srgbClr val="FFFFFF"/>
            </a:solidFill>
            <a:ln w="14288">
              <a:solidFill>
                <a:srgbClr val="00A6A6"/>
              </a:solidFill>
            </a:ln>
          </p:spPr>
        </p:sp>
        <p:sp>
          <p:nvSpPr>
            <p:cNvPr id="30" name="TextBox 30"/>
            <p:cNvSpPr txBox="1"/>
            <p:nvPr/>
          </p:nvSpPr>
          <p:spPr>
            <a:xfrm>
              <a:off x="7232142" y="1321118"/>
              <a:ext cx="3925605"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--nginx eklentisi yapılandırmayı düzenler</a:t>
              </a:r>
            </a:p>
          </p:txBody>
        </p:sp>
        <p:sp>
          <p:nvSpPr>
            <p:cNvPr id="31" name="TextBox 31"/>
            <p:cNvSpPr txBox="1"/>
            <p:nvPr/>
          </p:nvSpPr>
          <p:spPr>
            <a:xfrm>
              <a:off x="7232904" y="1584960"/>
              <a:ext cx="311091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Certbot, sertifika dosyalarının yolunu</a:t>
              </a:r>
            </a:p>
          </p:txBody>
        </p:sp>
        <p:sp>
          <p:nvSpPr>
            <p:cNvPr id="32" name="TextBox 32"/>
            <p:cNvSpPr txBox="1"/>
            <p:nvPr/>
          </p:nvSpPr>
          <p:spPr>
            <a:xfrm>
              <a:off x="7232904" y="1794510"/>
              <a:ext cx="298985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Nginx'in server bloğuna kendisi ekler;</a:t>
              </a:r>
            </a:p>
          </p:txBody>
        </p:sp>
        <p:sp>
          <p:nvSpPr>
            <p:cNvPr id="33" name="TextBox 33"/>
            <p:cNvSpPr txBox="1"/>
            <p:nvPr/>
          </p:nvSpPr>
          <p:spPr>
            <a:xfrm>
              <a:off x="7232904" y="2004060"/>
              <a:ext cx="200726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elle düzenleme gerekmez.</a:t>
              </a:r>
            </a:p>
          </p:txBody>
        </p:sp>
        <p:sp>
          <p:nvSpPr>
            <p:cNvPr id="34" name="Rectangle 34"/>
            <p:cNvSpPr/>
            <p:nvPr/>
          </p:nvSpPr>
          <p:spPr>
            <a:xfrm>
              <a:off x="7010400" y="2438400"/>
              <a:ext cx="4572000" cy="1143000"/>
            </a:xfrm>
            <a:prstGeom prst="roundRect">
              <a:avLst>
                <a:gd name="adj" fmla="val 6667"/>
              </a:avLst>
            </a:prstGeom>
            <a:solidFill>
              <a:srgbClr val="FFFFFF"/>
            </a:solidFill>
            <a:ln w="14288">
              <a:solidFill>
                <a:srgbClr val="B8CBD3"/>
              </a:solidFill>
            </a:ln>
          </p:spPr>
        </p:sp>
        <p:sp>
          <p:nvSpPr>
            <p:cNvPr id="35" name="TextBox 35"/>
            <p:cNvSpPr txBox="1"/>
            <p:nvPr/>
          </p:nvSpPr>
          <p:spPr>
            <a:xfrm>
              <a:off x="7232142" y="2578418"/>
              <a:ext cx="2437179"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301 yönlendirme kalıcıdır</a:t>
              </a:r>
            </a:p>
          </p:txBody>
        </p:sp>
        <p:sp>
          <p:nvSpPr>
            <p:cNvPr id="36" name="TextBox 36"/>
            <p:cNvSpPr txBox="1"/>
            <p:nvPr/>
          </p:nvSpPr>
          <p:spPr>
            <a:xfrm>
              <a:off x="7232904" y="2842260"/>
              <a:ext cx="277189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Tarayıcılar ve arama motorları bu</a:t>
              </a:r>
            </a:p>
          </p:txBody>
        </p:sp>
        <p:sp>
          <p:nvSpPr>
            <p:cNvPr id="37" name="TextBox 37"/>
            <p:cNvSpPr txBox="1"/>
            <p:nvPr/>
          </p:nvSpPr>
          <p:spPr>
            <a:xfrm>
              <a:off x="7232904" y="3051810"/>
              <a:ext cx="250533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kodu önbelleğe alır; artık HTTP</a:t>
              </a:r>
            </a:p>
          </p:txBody>
        </p:sp>
        <p:sp>
          <p:nvSpPr>
            <p:cNvPr id="38" name="TextBox 38"/>
            <p:cNvSpPr txBox="1"/>
            <p:nvPr/>
          </p:nvSpPr>
          <p:spPr>
            <a:xfrm>
              <a:off x="7232904" y="3261360"/>
              <a:ext cx="232227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adresine gitmeyi denemezler.</a:t>
              </a:r>
            </a:p>
          </p:txBody>
        </p:sp>
        <p:sp>
          <p:nvSpPr>
            <p:cNvPr id="39" name="Rectangle 39"/>
            <p:cNvSpPr/>
            <p:nvPr/>
          </p:nvSpPr>
          <p:spPr>
            <a:xfrm>
              <a:off x="7010400" y="3695700"/>
              <a:ext cx="4572000" cy="1143000"/>
            </a:xfrm>
            <a:prstGeom prst="roundRect">
              <a:avLst>
                <a:gd name="adj" fmla="val 6667"/>
              </a:avLst>
            </a:prstGeom>
            <a:solidFill>
              <a:srgbClr val="FFFFFF"/>
            </a:solidFill>
            <a:ln w="14288">
              <a:solidFill>
                <a:srgbClr val="B8CBD3"/>
              </a:solidFill>
            </a:ln>
          </p:spPr>
        </p:sp>
        <p:sp>
          <p:nvSpPr>
            <p:cNvPr id="40" name="TextBox 40"/>
            <p:cNvSpPr txBox="1"/>
            <p:nvPr/>
          </p:nvSpPr>
          <p:spPr>
            <a:xfrm>
              <a:off x="7232142" y="3835718"/>
              <a:ext cx="3635049"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Doğrulama, HTTP-01 zorluğuyla çalışır</a:t>
              </a:r>
            </a:p>
          </p:txBody>
        </p:sp>
        <p:sp>
          <p:nvSpPr>
            <p:cNvPr id="41" name="TextBox 41"/>
            <p:cNvSpPr txBox="1"/>
            <p:nvPr/>
          </p:nvSpPr>
          <p:spPr>
            <a:xfrm>
              <a:off x="7232904" y="4099560"/>
              <a:ext cx="307061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Certbot, alan adının sahibi olduğunuzu</a:t>
              </a:r>
            </a:p>
          </p:txBody>
        </p:sp>
        <p:sp>
          <p:nvSpPr>
            <p:cNvPr id="42" name="TextBox 42"/>
            <p:cNvSpPr txBox="1"/>
            <p:nvPr/>
          </p:nvSpPr>
          <p:spPr>
            <a:xfrm>
              <a:off x="7232904" y="4309110"/>
              <a:ext cx="288767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kanıtlamak için geçici bir dosyayı 80</a:t>
              </a:r>
            </a:p>
          </p:txBody>
        </p:sp>
        <p:sp>
          <p:nvSpPr>
            <p:cNvPr id="43" name="TextBox 43"/>
            <p:cNvSpPr txBox="1"/>
            <p:nvPr/>
          </p:nvSpPr>
          <p:spPr>
            <a:xfrm>
              <a:off x="7232904" y="4518660"/>
              <a:ext cx="390540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portundan sunar; port kapalıysa başarısız olur.</a:t>
              </a:r>
            </a:p>
          </p:txBody>
        </p:sp>
      </p:grpSp>
      <p:grpSp>
        <p:nvGrpSpPr>
          <p:cNvPr id="51" name="closing-note"/>
          <p:cNvGrpSpPr/>
          <p:nvPr/>
        </p:nvGrpSpPr>
        <p:grpSpPr>
          <a:xfrm>
            <a:off x="609600" y="5143500"/>
            <a:ext cx="10972800" cy="1143000"/>
            <a:chOff x="609600" y="5143500"/>
            <a:chExt cx="10972800" cy="1143000"/>
          </a:xfrm>
        </p:grpSpPr>
        <p:sp>
          <p:nvSpPr>
            <p:cNvPr id="45" name="Rectangle 45"/>
            <p:cNvSpPr/>
            <p:nvPr/>
          </p:nvSpPr>
          <p:spPr>
            <a:xfrm>
              <a:off x="609600" y="5143500"/>
              <a:ext cx="10972800" cy="1143000"/>
            </a:xfrm>
            <a:prstGeom prst="roundRect">
              <a:avLst>
                <a:gd name="adj" fmla="val 6667"/>
              </a:avLst>
            </a:prstGeom>
            <a:solidFill>
              <a:srgbClr val="EAF4F6"/>
            </a:solidFill>
            <a:ln>
              <a:noFill/>
            </a:ln>
          </p:spPr>
        </p:sp>
        <p:sp>
          <p:nvSpPr>
            <p:cNvPr id="46" name="Rectangle 46"/>
            <p:cNvSpPr/>
            <p:nvPr/>
          </p:nvSpPr>
          <p:spPr>
            <a:xfrm>
              <a:off x="609600" y="5143500"/>
              <a:ext cx="57150" cy="1143000"/>
            </a:xfrm>
            <a:prstGeom prst="rect">
              <a:avLst/>
            </a:prstGeom>
            <a:solidFill>
              <a:srgbClr val="00A6A6"/>
            </a:solidFill>
            <a:ln>
              <a:noFill/>
            </a:ln>
          </p:spPr>
        </p:sp>
        <p:sp>
          <p:nvSpPr>
            <p:cNvPr id="47" name="TextBox 47"/>
            <p:cNvSpPr txBox="1"/>
            <p:nvPr/>
          </p:nvSpPr>
          <p:spPr>
            <a:xfrm>
              <a:off x="906399" y="5278279"/>
              <a:ext cx="474656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Sertifika, kimlik + şifreleme birlikte sağlar</a:t>
              </a:r>
            </a:p>
          </p:txBody>
        </p:sp>
        <p:sp>
          <p:nvSpPr>
            <p:cNvPr id="48" name="TextBox 48"/>
            <p:cNvSpPr txBox="1"/>
            <p:nvPr/>
          </p:nvSpPr>
          <p:spPr>
            <a:xfrm>
              <a:off x="908304" y="5585460"/>
              <a:ext cx="638510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nginx -t ile test edip systemctl reload nginx ile devreye alınmadan önce sözdizimi</a:t>
              </a:r>
            </a:p>
          </p:txBody>
        </p:sp>
        <p:sp>
          <p:nvSpPr>
            <p:cNvPr id="49" name="TextBox 49"/>
            <p:cNvSpPr txBox="1"/>
            <p:nvPr/>
          </p:nvSpPr>
          <p:spPr>
            <a:xfrm>
              <a:off x="908304" y="5795010"/>
              <a:ext cx="204764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mutlaka doğrulanmalıdır.</a:t>
              </a:r>
            </a:p>
          </p:txBody>
        </p:sp>
        <p:sp>
          <p:nvSpPr>
            <p:cNvPr id="50" name="TextBox 50"/>
            <p:cNvSpPr txBox="1"/>
            <p:nvPr/>
          </p:nvSpPr>
          <p:spPr>
            <a:xfrm>
              <a:off x="908304" y="6042660"/>
              <a:ext cx="694523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Let's Encrypt sertifikaları 90 gün geçerlidir — sonraki konu bu süreyi otomatikleştirir.</a:t>
              </a:r>
            </a:p>
          </p:txBody>
        </p:sp>
      </p:grpSp>
      <p:sp>
        <p:nvSpPr>
          <p:cNvPr id="52" name="TextBox 5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24</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11322448" cy="668845"/>
            <a:chOff x="609600" y="171450"/>
            <a:chExt cx="11322448"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1063207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Let's Encrypt: otomatik yenileme döngüsü (Kod 15.6)</a:t>
              </a:r>
            </a:p>
          </p:txBody>
        </p:sp>
      </p:grpSp>
      <p:grpSp>
        <p:nvGrpSpPr>
          <p:cNvPr id="16" name="definition-block"/>
          <p:cNvGrpSpPr/>
          <p:nvPr/>
        </p:nvGrpSpPr>
        <p:grpSpPr>
          <a:xfrm>
            <a:off x="609600" y="1181100"/>
            <a:ext cx="10972800" cy="742950"/>
            <a:chOff x="609600" y="1181100"/>
            <a:chExt cx="10972800" cy="742950"/>
          </a:xfrm>
        </p:grpSpPr>
        <p:sp>
          <p:nvSpPr>
            <p:cNvPr id="12" name="Rectangle 12"/>
            <p:cNvSpPr/>
            <p:nvPr/>
          </p:nvSpPr>
          <p:spPr>
            <a:xfrm>
              <a:off x="609600" y="1181100"/>
              <a:ext cx="10972800" cy="742950"/>
            </a:xfrm>
            <a:prstGeom prst="roundRect">
              <a:avLst>
                <a:gd name="adj" fmla="val 10256"/>
              </a:avLst>
            </a:prstGeom>
            <a:solidFill>
              <a:srgbClr val="EAF4F6"/>
            </a:solidFill>
            <a:ln>
              <a:noFill/>
            </a:ln>
          </p:spPr>
        </p:sp>
        <p:sp>
          <p:nvSpPr>
            <p:cNvPr id="13" name="Rectangle 13"/>
            <p:cNvSpPr/>
            <p:nvPr/>
          </p:nvSpPr>
          <p:spPr>
            <a:xfrm>
              <a:off x="609600" y="1181100"/>
              <a:ext cx="57150" cy="742950"/>
            </a:xfrm>
            <a:prstGeom prst="rect">
              <a:avLst/>
            </a:prstGeom>
            <a:solidFill>
              <a:srgbClr val="00A6A6"/>
            </a:solidFill>
            <a:ln>
              <a:noFill/>
            </a:ln>
          </p:spPr>
        </p:sp>
        <p:sp>
          <p:nvSpPr>
            <p:cNvPr id="14" name="TextBox 14"/>
            <p:cNvSpPr txBox="1"/>
            <p:nvPr/>
          </p:nvSpPr>
          <p:spPr>
            <a:xfrm>
              <a:off x="906399" y="1296829"/>
              <a:ext cx="844134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ACME protokolü, sertifika sürecini insan müdahalesi olmadan otomatikleştirir</a:t>
              </a:r>
            </a:p>
          </p:txBody>
        </p:sp>
        <p:sp>
          <p:nvSpPr>
            <p:cNvPr id="15" name="TextBox 15"/>
            <p:cNvSpPr txBox="1"/>
            <p:nvPr/>
          </p:nvSpPr>
          <p:spPr>
            <a:xfrm>
              <a:off x="908304" y="1584960"/>
              <a:ext cx="687257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Let's Encrypt sertifikaları yalnızca 90 gün geçerlidir; sürecin unutulmaması gerekir.</a:t>
              </a:r>
            </a:p>
          </p:txBody>
        </p:sp>
      </p:grpSp>
      <p:grpSp>
        <p:nvGrpSpPr>
          <p:cNvPr id="25" name="step-1"/>
          <p:cNvGrpSpPr/>
          <p:nvPr/>
        </p:nvGrpSpPr>
        <p:grpSpPr>
          <a:xfrm>
            <a:off x="609600" y="2152650"/>
            <a:ext cx="2476500" cy="2095500"/>
            <a:chOff x="609600" y="2152650"/>
            <a:chExt cx="2476500" cy="2095500"/>
          </a:xfrm>
        </p:grpSpPr>
        <p:sp>
          <p:nvSpPr>
            <p:cNvPr id="17" name="Rectangle 17"/>
            <p:cNvSpPr/>
            <p:nvPr/>
          </p:nvSpPr>
          <p:spPr>
            <a:xfrm>
              <a:off x="609600" y="2152650"/>
              <a:ext cx="2476500" cy="2095500"/>
            </a:xfrm>
            <a:prstGeom prst="roundRect">
              <a:avLst>
                <a:gd name="adj" fmla="val 4545"/>
              </a:avLst>
            </a:prstGeom>
            <a:solidFill>
              <a:srgbClr val="FFFFFF"/>
            </a:solidFill>
            <a:ln w="14288">
              <a:solidFill>
                <a:srgbClr val="B8CBD3"/>
              </a:solidFill>
            </a:ln>
          </p:spPr>
        </p:sp>
        <p:sp>
          <p:nvSpPr>
            <p:cNvPr id="18" name="Ellipse 18"/>
            <p:cNvSpPr/>
            <p:nvPr/>
          </p:nvSpPr>
          <p:spPr>
            <a:xfrm>
              <a:off x="781050" y="2324100"/>
              <a:ext cx="419100" cy="419100"/>
            </a:xfrm>
            <a:prstGeom prst="ellipse">
              <a:avLst/>
            </a:prstGeom>
            <a:solidFill>
              <a:srgbClr val="12355B"/>
            </a:solidFill>
            <a:ln>
              <a:noFill/>
            </a:ln>
          </p:spPr>
        </p:sp>
        <p:sp>
          <p:nvSpPr>
            <p:cNvPr id="19" name="TextBox 19"/>
            <p:cNvSpPr txBox="1"/>
            <p:nvPr/>
          </p:nvSpPr>
          <p:spPr>
            <a:xfrm>
              <a:off x="921182" y="243982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1</a:t>
              </a:r>
            </a:p>
          </p:txBody>
        </p:sp>
        <p:sp>
          <p:nvSpPr>
            <p:cNvPr id="20" name="TextBox 20"/>
            <p:cNvSpPr txBox="1"/>
            <p:nvPr/>
          </p:nvSpPr>
          <p:spPr>
            <a:xfrm>
              <a:off x="1307592" y="2445068"/>
              <a:ext cx="1359024"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systemd timer</a:t>
              </a:r>
            </a:p>
          </p:txBody>
        </p:sp>
        <p:sp>
          <p:nvSpPr>
            <p:cNvPr id="21" name="TextBox 21"/>
            <p:cNvSpPr txBox="1"/>
            <p:nvPr/>
          </p:nvSpPr>
          <p:spPr>
            <a:xfrm>
              <a:off x="832104" y="2804160"/>
              <a:ext cx="165186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certbot.timer günde</a:t>
              </a:r>
            </a:p>
          </p:txBody>
        </p:sp>
        <p:sp>
          <p:nvSpPr>
            <p:cNvPr id="22" name="TextBox 22"/>
            <p:cNvSpPr txBox="1"/>
            <p:nvPr/>
          </p:nvSpPr>
          <p:spPr>
            <a:xfrm>
              <a:off x="832104" y="3013710"/>
              <a:ext cx="105415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iki kez süreyi</a:t>
              </a:r>
            </a:p>
          </p:txBody>
        </p:sp>
        <p:sp>
          <p:nvSpPr>
            <p:cNvPr id="23" name="TextBox 23"/>
            <p:cNvSpPr txBox="1"/>
            <p:nvPr/>
          </p:nvSpPr>
          <p:spPr>
            <a:xfrm>
              <a:off x="832104" y="3223260"/>
              <a:ext cx="108646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kontrol eder;</a:t>
              </a:r>
            </a:p>
          </p:txBody>
        </p:sp>
        <p:sp>
          <p:nvSpPr>
            <p:cNvPr id="24" name="TextBox 24"/>
            <p:cNvSpPr txBox="1"/>
            <p:nvPr/>
          </p:nvSpPr>
          <p:spPr>
            <a:xfrm>
              <a:off x="832104" y="3528060"/>
              <a:ext cx="149839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az kalınca yeniler.</a:t>
              </a:r>
            </a:p>
          </p:txBody>
        </p:sp>
      </p:grpSp>
      <p:grpSp>
        <p:nvGrpSpPr>
          <p:cNvPr id="28" name="arrow-1"/>
          <p:cNvGrpSpPr/>
          <p:nvPr/>
        </p:nvGrpSpPr>
        <p:grpSpPr>
          <a:xfrm>
            <a:off x="3086100" y="3124200"/>
            <a:ext cx="342900" cy="152400"/>
            <a:chOff x="3086100" y="3124200"/>
            <a:chExt cx="342900" cy="152400"/>
          </a:xfrm>
        </p:grpSpPr>
        <p:sp>
          <p:nvSpPr>
            <p:cNvPr id="26" name="Freeform 26"/>
            <p:cNvSpPr/>
            <p:nvPr/>
          </p:nvSpPr>
          <p:spPr>
            <a:xfrm>
              <a:off x="3086100" y="3200400"/>
              <a:ext cx="304800" cy="9525"/>
            </a:xfrm>
            <a:custGeom>
              <a:avLst/>
              <a:gdLst/>
              <a:ahLst/>
              <a:cxnLst/>
              <a:rect l="l" t="t" r="r" b="b"/>
              <a:pathLst>
                <a:path w="304800" h="9525">
                  <a:moveTo>
                    <a:pt x="0" y="0"/>
                  </a:moveTo>
                  <a:lnTo>
                    <a:pt x="304800" y="0"/>
                  </a:lnTo>
                </a:path>
              </a:pathLst>
            </a:custGeom>
            <a:noFill/>
            <a:ln w="28575">
              <a:solidFill>
                <a:srgbClr val="00A6A6"/>
              </a:solidFill>
            </a:ln>
          </p:spPr>
        </p:sp>
        <p:sp>
          <p:nvSpPr>
            <p:cNvPr id="27" name="Freeform 27"/>
            <p:cNvSpPr/>
            <p:nvPr/>
          </p:nvSpPr>
          <p:spPr>
            <a:xfrm>
              <a:off x="3333750" y="3124200"/>
              <a:ext cx="95250" cy="152400"/>
            </a:xfrm>
            <a:custGeom>
              <a:avLst/>
              <a:gdLst/>
              <a:ahLst/>
              <a:cxnLst/>
              <a:rect l="l" t="t" r="r" b="b"/>
              <a:pathLst>
                <a:path w="95250" h="152400">
                  <a:moveTo>
                    <a:pt x="0" y="0"/>
                  </a:moveTo>
                  <a:lnTo>
                    <a:pt x="95250" y="76200"/>
                  </a:lnTo>
                  <a:lnTo>
                    <a:pt x="0" y="152400"/>
                  </a:lnTo>
                </a:path>
              </a:pathLst>
            </a:custGeom>
            <a:noFill/>
            <a:ln w="28575" cap="rnd">
              <a:solidFill>
                <a:srgbClr val="00A6A6"/>
              </a:solidFill>
              <a:round/>
            </a:ln>
          </p:spPr>
        </p:sp>
      </p:grpSp>
      <p:grpSp>
        <p:nvGrpSpPr>
          <p:cNvPr id="37" name="step-2"/>
          <p:cNvGrpSpPr/>
          <p:nvPr/>
        </p:nvGrpSpPr>
        <p:grpSpPr>
          <a:xfrm>
            <a:off x="3467100" y="2152650"/>
            <a:ext cx="2476500" cy="2095500"/>
            <a:chOff x="3467100" y="2152650"/>
            <a:chExt cx="2476500" cy="2095500"/>
          </a:xfrm>
        </p:grpSpPr>
        <p:sp>
          <p:nvSpPr>
            <p:cNvPr id="29" name="Rectangle 29"/>
            <p:cNvSpPr/>
            <p:nvPr/>
          </p:nvSpPr>
          <p:spPr>
            <a:xfrm>
              <a:off x="3467100" y="2152650"/>
              <a:ext cx="2476500" cy="2095500"/>
            </a:xfrm>
            <a:prstGeom prst="roundRect">
              <a:avLst>
                <a:gd name="adj" fmla="val 4545"/>
              </a:avLst>
            </a:prstGeom>
            <a:solidFill>
              <a:srgbClr val="FFFFFF"/>
            </a:solidFill>
            <a:ln w="14288">
              <a:solidFill>
                <a:srgbClr val="B8CBD3"/>
              </a:solidFill>
            </a:ln>
          </p:spPr>
        </p:sp>
        <p:sp>
          <p:nvSpPr>
            <p:cNvPr id="30" name="Ellipse 30"/>
            <p:cNvSpPr/>
            <p:nvPr/>
          </p:nvSpPr>
          <p:spPr>
            <a:xfrm>
              <a:off x="3638550" y="2324100"/>
              <a:ext cx="419100" cy="419100"/>
            </a:xfrm>
            <a:prstGeom prst="ellipse">
              <a:avLst/>
            </a:prstGeom>
            <a:solidFill>
              <a:srgbClr val="12355B"/>
            </a:solidFill>
            <a:ln>
              <a:noFill/>
            </a:ln>
          </p:spPr>
        </p:sp>
        <p:sp>
          <p:nvSpPr>
            <p:cNvPr id="31" name="TextBox 31"/>
            <p:cNvSpPr txBox="1"/>
            <p:nvPr/>
          </p:nvSpPr>
          <p:spPr>
            <a:xfrm>
              <a:off x="3778682" y="243982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2</a:t>
              </a:r>
            </a:p>
          </p:txBody>
        </p:sp>
        <p:sp>
          <p:nvSpPr>
            <p:cNvPr id="32" name="TextBox 32"/>
            <p:cNvSpPr txBox="1"/>
            <p:nvPr/>
          </p:nvSpPr>
          <p:spPr>
            <a:xfrm>
              <a:off x="4165092" y="2445068"/>
              <a:ext cx="146754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HTTP-01 kanıtı</a:t>
              </a:r>
            </a:p>
          </p:txBody>
        </p:sp>
        <p:sp>
          <p:nvSpPr>
            <p:cNvPr id="33" name="TextBox 33"/>
            <p:cNvSpPr txBox="1"/>
            <p:nvPr/>
          </p:nvSpPr>
          <p:spPr>
            <a:xfrm>
              <a:off x="3689604" y="2804160"/>
              <a:ext cx="133343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Alan adı sahipliği</a:t>
              </a:r>
            </a:p>
          </p:txBody>
        </p:sp>
        <p:sp>
          <p:nvSpPr>
            <p:cNvPr id="34" name="TextBox 34"/>
            <p:cNvSpPr txBox="1"/>
            <p:nvPr/>
          </p:nvSpPr>
          <p:spPr>
            <a:xfrm>
              <a:off x="3689604" y="3013710"/>
              <a:ext cx="153878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80 portundan geçici</a:t>
              </a:r>
            </a:p>
          </p:txBody>
        </p:sp>
        <p:sp>
          <p:nvSpPr>
            <p:cNvPr id="35" name="TextBox 35"/>
            <p:cNvSpPr txBox="1"/>
            <p:nvPr/>
          </p:nvSpPr>
          <p:spPr>
            <a:xfrm>
              <a:off x="3689604" y="3223260"/>
              <a:ext cx="166801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dosyayla kanıtlanır.</a:t>
              </a:r>
            </a:p>
          </p:txBody>
        </p:sp>
        <p:sp>
          <p:nvSpPr>
            <p:cNvPr id="36" name="TextBox 36"/>
            <p:cNvSpPr txBox="1"/>
            <p:nvPr/>
          </p:nvSpPr>
          <p:spPr>
            <a:xfrm>
              <a:off x="3689604" y="3528060"/>
              <a:ext cx="176345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Bu yüzden 80 açıktır.</a:t>
              </a:r>
            </a:p>
          </p:txBody>
        </p:sp>
      </p:grpSp>
      <p:grpSp>
        <p:nvGrpSpPr>
          <p:cNvPr id="40" name="arrow-2"/>
          <p:cNvGrpSpPr/>
          <p:nvPr/>
        </p:nvGrpSpPr>
        <p:grpSpPr>
          <a:xfrm>
            <a:off x="5943600" y="3124200"/>
            <a:ext cx="342900" cy="152400"/>
            <a:chOff x="5943600" y="3124200"/>
            <a:chExt cx="342900" cy="152400"/>
          </a:xfrm>
        </p:grpSpPr>
        <p:sp>
          <p:nvSpPr>
            <p:cNvPr id="38" name="Freeform 38"/>
            <p:cNvSpPr/>
            <p:nvPr/>
          </p:nvSpPr>
          <p:spPr>
            <a:xfrm>
              <a:off x="5943600" y="3200400"/>
              <a:ext cx="304800" cy="9525"/>
            </a:xfrm>
            <a:custGeom>
              <a:avLst/>
              <a:gdLst/>
              <a:ahLst/>
              <a:cxnLst/>
              <a:rect l="l" t="t" r="r" b="b"/>
              <a:pathLst>
                <a:path w="304800" h="9525">
                  <a:moveTo>
                    <a:pt x="0" y="0"/>
                  </a:moveTo>
                  <a:lnTo>
                    <a:pt x="304800" y="0"/>
                  </a:lnTo>
                </a:path>
              </a:pathLst>
            </a:custGeom>
            <a:noFill/>
            <a:ln w="28575">
              <a:solidFill>
                <a:srgbClr val="00A6A6"/>
              </a:solidFill>
            </a:ln>
          </p:spPr>
        </p:sp>
        <p:sp>
          <p:nvSpPr>
            <p:cNvPr id="39" name="Freeform 39"/>
            <p:cNvSpPr/>
            <p:nvPr/>
          </p:nvSpPr>
          <p:spPr>
            <a:xfrm>
              <a:off x="6191250" y="3124200"/>
              <a:ext cx="95250" cy="152400"/>
            </a:xfrm>
            <a:custGeom>
              <a:avLst/>
              <a:gdLst/>
              <a:ahLst/>
              <a:cxnLst/>
              <a:rect l="l" t="t" r="r" b="b"/>
              <a:pathLst>
                <a:path w="95250" h="152400">
                  <a:moveTo>
                    <a:pt x="0" y="0"/>
                  </a:moveTo>
                  <a:lnTo>
                    <a:pt x="95250" y="76200"/>
                  </a:lnTo>
                  <a:lnTo>
                    <a:pt x="0" y="152400"/>
                  </a:lnTo>
                </a:path>
              </a:pathLst>
            </a:custGeom>
            <a:noFill/>
            <a:ln w="28575" cap="rnd">
              <a:solidFill>
                <a:srgbClr val="00A6A6"/>
              </a:solidFill>
              <a:round/>
            </a:ln>
          </p:spPr>
        </p:sp>
      </p:grpSp>
      <p:grpSp>
        <p:nvGrpSpPr>
          <p:cNvPr id="49" name="step-3"/>
          <p:cNvGrpSpPr/>
          <p:nvPr/>
        </p:nvGrpSpPr>
        <p:grpSpPr>
          <a:xfrm>
            <a:off x="6324600" y="2152650"/>
            <a:ext cx="2476500" cy="2095500"/>
            <a:chOff x="6324600" y="2152650"/>
            <a:chExt cx="2476500" cy="2095500"/>
          </a:xfrm>
        </p:grpSpPr>
        <p:sp>
          <p:nvSpPr>
            <p:cNvPr id="41" name="Rectangle 41"/>
            <p:cNvSpPr/>
            <p:nvPr/>
          </p:nvSpPr>
          <p:spPr>
            <a:xfrm>
              <a:off x="6324600" y="2152650"/>
              <a:ext cx="2476500" cy="2095500"/>
            </a:xfrm>
            <a:prstGeom prst="roundRect">
              <a:avLst>
                <a:gd name="adj" fmla="val 4545"/>
              </a:avLst>
            </a:prstGeom>
            <a:solidFill>
              <a:srgbClr val="FFFFFF"/>
            </a:solidFill>
            <a:ln w="14288">
              <a:solidFill>
                <a:srgbClr val="B8CBD3"/>
              </a:solidFill>
            </a:ln>
          </p:spPr>
        </p:sp>
        <p:sp>
          <p:nvSpPr>
            <p:cNvPr id="42" name="Ellipse 42"/>
            <p:cNvSpPr/>
            <p:nvPr/>
          </p:nvSpPr>
          <p:spPr>
            <a:xfrm>
              <a:off x="6496050" y="2324100"/>
              <a:ext cx="419100" cy="419100"/>
            </a:xfrm>
            <a:prstGeom prst="ellipse">
              <a:avLst/>
            </a:prstGeom>
            <a:solidFill>
              <a:srgbClr val="12355B"/>
            </a:solidFill>
            <a:ln>
              <a:noFill/>
            </a:ln>
          </p:spPr>
        </p:sp>
        <p:sp>
          <p:nvSpPr>
            <p:cNvPr id="43" name="TextBox 43"/>
            <p:cNvSpPr txBox="1"/>
            <p:nvPr/>
          </p:nvSpPr>
          <p:spPr>
            <a:xfrm>
              <a:off x="6636182" y="243982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3</a:t>
              </a:r>
            </a:p>
          </p:txBody>
        </p:sp>
        <p:sp>
          <p:nvSpPr>
            <p:cNvPr id="44" name="TextBox 44"/>
            <p:cNvSpPr txBox="1"/>
            <p:nvPr/>
          </p:nvSpPr>
          <p:spPr>
            <a:xfrm>
              <a:off x="7022592" y="2445068"/>
              <a:ext cx="1297803"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Yeni sertifika</a:t>
              </a:r>
            </a:p>
          </p:txBody>
        </p:sp>
        <p:sp>
          <p:nvSpPr>
            <p:cNvPr id="45" name="TextBox 45"/>
            <p:cNvSpPr txBox="1"/>
            <p:nvPr/>
          </p:nvSpPr>
          <p:spPr>
            <a:xfrm>
              <a:off x="6547104" y="2804160"/>
              <a:ext cx="10965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CA imzalı yeni</a:t>
              </a:r>
            </a:p>
          </p:txBody>
        </p:sp>
        <p:sp>
          <p:nvSpPr>
            <p:cNvPr id="46" name="TextBox 46"/>
            <p:cNvSpPr txBox="1"/>
            <p:nvPr/>
          </p:nvSpPr>
          <p:spPr>
            <a:xfrm>
              <a:off x="6547104" y="3013710"/>
              <a:ext cx="9168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fullchain ve</a:t>
              </a:r>
            </a:p>
          </p:txBody>
        </p:sp>
        <p:sp>
          <p:nvSpPr>
            <p:cNvPr id="47" name="TextBox 47"/>
            <p:cNvSpPr txBox="1"/>
            <p:nvPr/>
          </p:nvSpPr>
          <p:spPr>
            <a:xfrm>
              <a:off x="6547104" y="3223260"/>
              <a:ext cx="132069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privkey üretilir;</a:t>
              </a:r>
            </a:p>
          </p:txBody>
        </p:sp>
        <p:sp>
          <p:nvSpPr>
            <p:cNvPr id="48" name="TextBox 48"/>
            <p:cNvSpPr txBox="1"/>
            <p:nvPr/>
          </p:nvSpPr>
          <p:spPr>
            <a:xfrm>
              <a:off x="6547104" y="3528060"/>
              <a:ext cx="181340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eskisinin yerine geçer.</a:t>
              </a:r>
            </a:p>
          </p:txBody>
        </p:sp>
      </p:grpSp>
      <p:grpSp>
        <p:nvGrpSpPr>
          <p:cNvPr id="52" name="arrow-3"/>
          <p:cNvGrpSpPr/>
          <p:nvPr/>
        </p:nvGrpSpPr>
        <p:grpSpPr>
          <a:xfrm>
            <a:off x="8801100" y="3124200"/>
            <a:ext cx="342900" cy="152400"/>
            <a:chOff x="8801100" y="3124200"/>
            <a:chExt cx="342900" cy="152400"/>
          </a:xfrm>
        </p:grpSpPr>
        <p:sp>
          <p:nvSpPr>
            <p:cNvPr id="50" name="Freeform 50"/>
            <p:cNvSpPr/>
            <p:nvPr/>
          </p:nvSpPr>
          <p:spPr>
            <a:xfrm>
              <a:off x="8801100" y="3200400"/>
              <a:ext cx="304800" cy="9525"/>
            </a:xfrm>
            <a:custGeom>
              <a:avLst/>
              <a:gdLst/>
              <a:ahLst/>
              <a:cxnLst/>
              <a:rect l="l" t="t" r="r" b="b"/>
              <a:pathLst>
                <a:path w="304800" h="9525">
                  <a:moveTo>
                    <a:pt x="0" y="0"/>
                  </a:moveTo>
                  <a:lnTo>
                    <a:pt x="304800" y="0"/>
                  </a:lnTo>
                </a:path>
              </a:pathLst>
            </a:custGeom>
            <a:noFill/>
            <a:ln w="28575">
              <a:solidFill>
                <a:srgbClr val="00A6A6"/>
              </a:solidFill>
            </a:ln>
          </p:spPr>
        </p:sp>
        <p:sp>
          <p:nvSpPr>
            <p:cNvPr id="51" name="Freeform 51"/>
            <p:cNvSpPr/>
            <p:nvPr/>
          </p:nvSpPr>
          <p:spPr>
            <a:xfrm>
              <a:off x="9048750" y="3124200"/>
              <a:ext cx="95250" cy="152400"/>
            </a:xfrm>
            <a:custGeom>
              <a:avLst/>
              <a:gdLst/>
              <a:ahLst/>
              <a:cxnLst/>
              <a:rect l="l" t="t" r="r" b="b"/>
              <a:pathLst>
                <a:path w="95250" h="152400">
                  <a:moveTo>
                    <a:pt x="0" y="0"/>
                  </a:moveTo>
                  <a:lnTo>
                    <a:pt x="95250" y="76200"/>
                  </a:lnTo>
                  <a:lnTo>
                    <a:pt x="0" y="152400"/>
                  </a:lnTo>
                </a:path>
              </a:pathLst>
            </a:custGeom>
            <a:noFill/>
            <a:ln w="28575" cap="rnd">
              <a:solidFill>
                <a:srgbClr val="00A6A6"/>
              </a:solidFill>
              <a:round/>
            </a:ln>
          </p:spPr>
        </p:sp>
      </p:grpSp>
      <p:grpSp>
        <p:nvGrpSpPr>
          <p:cNvPr id="61" name="step-4"/>
          <p:cNvGrpSpPr/>
          <p:nvPr/>
        </p:nvGrpSpPr>
        <p:grpSpPr>
          <a:xfrm>
            <a:off x="9182100" y="2152650"/>
            <a:ext cx="2400300" cy="2095500"/>
            <a:chOff x="9182100" y="2152650"/>
            <a:chExt cx="2400300" cy="2095500"/>
          </a:xfrm>
        </p:grpSpPr>
        <p:sp>
          <p:nvSpPr>
            <p:cNvPr id="53" name="Rectangle 53"/>
            <p:cNvSpPr/>
            <p:nvPr/>
          </p:nvSpPr>
          <p:spPr>
            <a:xfrm>
              <a:off x="9182100" y="2152650"/>
              <a:ext cx="2400300" cy="2095500"/>
            </a:xfrm>
            <a:prstGeom prst="roundRect">
              <a:avLst>
                <a:gd name="adj" fmla="val 4545"/>
              </a:avLst>
            </a:prstGeom>
            <a:solidFill>
              <a:srgbClr val="EAF4F6"/>
            </a:solidFill>
            <a:ln w="14288">
              <a:solidFill>
                <a:srgbClr val="00A6A6"/>
              </a:solidFill>
            </a:ln>
          </p:spPr>
        </p:sp>
        <p:sp>
          <p:nvSpPr>
            <p:cNvPr id="54" name="Ellipse 54"/>
            <p:cNvSpPr/>
            <p:nvPr/>
          </p:nvSpPr>
          <p:spPr>
            <a:xfrm>
              <a:off x="9353550" y="2324100"/>
              <a:ext cx="419100" cy="419100"/>
            </a:xfrm>
            <a:prstGeom prst="ellipse">
              <a:avLst/>
            </a:prstGeom>
            <a:solidFill>
              <a:srgbClr val="00A6A6"/>
            </a:solidFill>
            <a:ln>
              <a:noFill/>
            </a:ln>
          </p:spPr>
        </p:sp>
        <p:sp>
          <p:nvSpPr>
            <p:cNvPr id="55" name="TextBox 55"/>
            <p:cNvSpPr txBox="1"/>
            <p:nvPr/>
          </p:nvSpPr>
          <p:spPr>
            <a:xfrm>
              <a:off x="9493682" y="243982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4</a:t>
              </a:r>
            </a:p>
          </p:txBody>
        </p:sp>
        <p:sp>
          <p:nvSpPr>
            <p:cNvPr id="56" name="TextBox 56"/>
            <p:cNvSpPr txBox="1"/>
            <p:nvPr/>
          </p:nvSpPr>
          <p:spPr>
            <a:xfrm>
              <a:off x="9880092" y="2445068"/>
              <a:ext cx="1135780"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Nginx reload</a:t>
              </a:r>
            </a:p>
          </p:txBody>
        </p:sp>
        <p:sp>
          <p:nvSpPr>
            <p:cNvPr id="57" name="TextBox 57"/>
            <p:cNvSpPr txBox="1"/>
            <p:nvPr/>
          </p:nvSpPr>
          <p:spPr>
            <a:xfrm>
              <a:off x="9404604" y="2804160"/>
              <a:ext cx="156301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deploy-hook komutu</a:t>
              </a:r>
            </a:p>
          </p:txBody>
        </p:sp>
        <p:sp>
          <p:nvSpPr>
            <p:cNvPr id="58" name="TextBox 58"/>
            <p:cNvSpPr txBox="1"/>
            <p:nvPr/>
          </p:nvSpPr>
          <p:spPr>
            <a:xfrm>
              <a:off x="9404604" y="3013710"/>
              <a:ext cx="109453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reload nginx'i</a:t>
              </a:r>
            </a:p>
          </p:txBody>
        </p:sp>
        <p:sp>
          <p:nvSpPr>
            <p:cNvPr id="59" name="TextBox 59"/>
            <p:cNvSpPr txBox="1"/>
            <p:nvPr/>
          </p:nvSpPr>
          <p:spPr>
            <a:xfrm>
              <a:off x="9404604" y="3223260"/>
              <a:ext cx="148224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otomatik tetikler;</a:t>
              </a:r>
            </a:p>
          </p:txBody>
        </p:sp>
        <p:sp>
          <p:nvSpPr>
            <p:cNvPr id="60" name="TextBox 60"/>
            <p:cNvSpPr txBox="1"/>
            <p:nvPr/>
          </p:nvSpPr>
          <p:spPr>
            <a:xfrm>
              <a:off x="9404604" y="3528060"/>
              <a:ext cx="148224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bağlantı kesilmez.</a:t>
              </a:r>
            </a:p>
          </p:txBody>
        </p:sp>
      </p:grpSp>
      <p:grpSp>
        <p:nvGrpSpPr>
          <p:cNvPr id="65" name="closing-note"/>
          <p:cNvGrpSpPr/>
          <p:nvPr/>
        </p:nvGrpSpPr>
        <p:grpSpPr>
          <a:xfrm>
            <a:off x="609600" y="4610100"/>
            <a:ext cx="10972800" cy="685800"/>
            <a:chOff x="609600" y="4610100"/>
            <a:chExt cx="10972800" cy="685800"/>
          </a:xfrm>
        </p:grpSpPr>
        <p:sp>
          <p:nvSpPr>
            <p:cNvPr id="62" name="Rectangle 62"/>
            <p:cNvSpPr/>
            <p:nvPr/>
          </p:nvSpPr>
          <p:spPr>
            <a:xfrm>
              <a:off x="609600" y="4610100"/>
              <a:ext cx="10972800" cy="685800"/>
            </a:xfrm>
            <a:prstGeom prst="roundRect">
              <a:avLst>
                <a:gd name="adj" fmla="val 11111"/>
              </a:avLst>
            </a:prstGeom>
            <a:solidFill>
              <a:srgbClr val="EAF4F6"/>
            </a:solidFill>
            <a:ln>
              <a:noFill/>
            </a:ln>
          </p:spPr>
        </p:sp>
        <p:sp>
          <p:nvSpPr>
            <p:cNvPr id="63" name="TextBox 63"/>
            <p:cNvSpPr txBox="1"/>
            <p:nvPr/>
          </p:nvSpPr>
          <p:spPr>
            <a:xfrm>
              <a:off x="906399" y="4744879"/>
              <a:ext cx="365252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İnsan hiçbir adımda araya girmez</a:t>
              </a:r>
            </a:p>
          </p:txBody>
        </p:sp>
        <p:sp>
          <p:nvSpPr>
            <p:cNvPr id="64" name="TextBox 64"/>
            <p:cNvSpPr txBox="1"/>
            <p:nvPr/>
          </p:nvSpPr>
          <p:spPr>
            <a:xfrm>
              <a:off x="908304" y="5033010"/>
              <a:ext cx="803778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Bu, elle yenilenen ücretli sertifikalarla karşılaştırıldığında güvenlik pratiğinde köklü bir değişimdir.</a:t>
              </a:r>
            </a:p>
          </p:txBody>
        </p:sp>
      </p:grpSp>
      <p:grpSp>
        <p:nvGrpSpPr>
          <p:cNvPr id="69" name="code-note"/>
          <p:cNvGrpSpPr/>
          <p:nvPr/>
        </p:nvGrpSpPr>
        <p:grpSpPr>
          <a:xfrm>
            <a:off x="609600" y="5448300"/>
            <a:ext cx="10972800" cy="838200"/>
            <a:chOff x="609600" y="5448300"/>
            <a:chExt cx="10972800" cy="838200"/>
          </a:xfrm>
        </p:grpSpPr>
        <p:sp>
          <p:nvSpPr>
            <p:cNvPr id="66" name="Rectangle 66"/>
            <p:cNvSpPr/>
            <p:nvPr/>
          </p:nvSpPr>
          <p:spPr>
            <a:xfrm>
              <a:off x="609600" y="5448300"/>
              <a:ext cx="10972800" cy="838200"/>
            </a:xfrm>
            <a:prstGeom prst="roundRect">
              <a:avLst>
                <a:gd name="adj" fmla="val 9091"/>
              </a:avLst>
            </a:prstGeom>
            <a:solidFill>
              <a:srgbClr val="12355B"/>
            </a:solidFill>
            <a:ln>
              <a:noFill/>
            </a:ln>
          </p:spPr>
        </p:sp>
        <p:sp>
          <p:nvSpPr>
            <p:cNvPr id="67" name="TextBox 67"/>
            <p:cNvSpPr txBox="1"/>
            <p:nvPr/>
          </p:nvSpPr>
          <p:spPr>
            <a:xfrm>
              <a:off x="908304" y="5604510"/>
              <a:ext cx="2499970"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sudo certbot renew --dry-run</a:t>
              </a:r>
            </a:p>
          </p:txBody>
        </p:sp>
        <p:sp>
          <p:nvSpPr>
            <p:cNvPr id="68" name="TextBox 68"/>
            <p:cNvSpPr txBox="1"/>
            <p:nvPr/>
          </p:nvSpPr>
          <p:spPr>
            <a:xfrm>
              <a:off x="908304" y="5852160"/>
              <a:ext cx="521936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Kodun amacı: sertifika tüketmeden yenileme sürecini test etmek.</a:t>
              </a:r>
            </a:p>
          </p:txBody>
        </p:sp>
      </p:grpSp>
      <p:sp>
        <p:nvSpPr>
          <p:cNvPr id="70" name="TextBox 7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24</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5581086" cy="668845"/>
            <a:chOff x="609600" y="171450"/>
            <a:chExt cx="5581086"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489071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HTTPS'te yaygın hatalar</a:t>
              </a:r>
            </a:p>
          </p:txBody>
        </p:sp>
      </p:grpSp>
      <p:grpSp>
        <p:nvGrpSpPr>
          <p:cNvPr id="16" name="table-header"/>
          <p:cNvGrpSpPr/>
          <p:nvPr/>
        </p:nvGrpSpPr>
        <p:grpSpPr>
          <a:xfrm>
            <a:off x="609600" y="1162050"/>
            <a:ext cx="10972800" cy="381000"/>
            <a:chOff x="609600" y="1162050"/>
            <a:chExt cx="10972800" cy="381000"/>
          </a:xfrm>
        </p:grpSpPr>
        <p:sp>
          <p:nvSpPr>
            <p:cNvPr id="12" name="Rectangle 12"/>
            <p:cNvSpPr/>
            <p:nvPr/>
          </p:nvSpPr>
          <p:spPr>
            <a:xfrm>
              <a:off x="609600" y="1162050"/>
              <a:ext cx="10972800" cy="381000"/>
            </a:xfrm>
            <a:prstGeom prst="rect">
              <a:avLst/>
            </a:prstGeom>
            <a:solidFill>
              <a:srgbClr val="12355B"/>
            </a:solidFill>
            <a:ln>
              <a:noFill/>
            </a:ln>
          </p:spPr>
        </p:sp>
        <p:sp>
          <p:nvSpPr>
            <p:cNvPr id="13" name="TextBox 13"/>
            <p:cNvSpPr txBox="1"/>
            <p:nvPr/>
          </p:nvSpPr>
          <p:spPr>
            <a:xfrm>
              <a:off x="832104" y="1280160"/>
              <a:ext cx="390639"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Hata</a:t>
              </a:r>
            </a:p>
          </p:txBody>
        </p:sp>
        <p:sp>
          <p:nvSpPr>
            <p:cNvPr id="14" name="TextBox 14"/>
            <p:cNvSpPr txBox="1"/>
            <p:nvPr/>
          </p:nvSpPr>
          <p:spPr>
            <a:xfrm>
              <a:off x="3994404" y="1280160"/>
              <a:ext cx="999782"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Neden Olur?</a:t>
              </a:r>
            </a:p>
          </p:txBody>
        </p:sp>
        <p:sp>
          <p:nvSpPr>
            <p:cNvPr id="15" name="TextBox 15"/>
            <p:cNvSpPr txBox="1"/>
            <p:nvPr/>
          </p:nvSpPr>
          <p:spPr>
            <a:xfrm>
              <a:off x="7613904" y="1280160"/>
              <a:ext cx="1278319"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Doğru Yaklaşım</a:t>
              </a:r>
            </a:p>
          </p:txBody>
        </p:sp>
      </p:grpSp>
      <p:grpSp>
        <p:nvGrpSpPr>
          <p:cNvPr id="21" name="row-1"/>
          <p:cNvGrpSpPr/>
          <p:nvPr/>
        </p:nvGrpSpPr>
        <p:grpSpPr>
          <a:xfrm>
            <a:off x="609600" y="1543050"/>
            <a:ext cx="10972800" cy="1028700"/>
            <a:chOff x="609600" y="1543050"/>
            <a:chExt cx="10972800" cy="1028700"/>
          </a:xfrm>
        </p:grpSpPr>
        <p:sp>
          <p:nvSpPr>
            <p:cNvPr id="17" name="Rectangle 17"/>
            <p:cNvSpPr/>
            <p:nvPr/>
          </p:nvSpPr>
          <p:spPr>
            <a:xfrm>
              <a:off x="609600" y="1543050"/>
              <a:ext cx="10972800" cy="1028700"/>
            </a:xfrm>
            <a:prstGeom prst="rect">
              <a:avLst/>
            </a:prstGeom>
            <a:solidFill>
              <a:srgbClr val="FFFFFF"/>
            </a:solidFill>
            <a:ln w="9525">
              <a:solidFill>
                <a:srgbClr val="B8CBD3"/>
              </a:solidFill>
            </a:ln>
          </p:spPr>
        </p:sp>
        <p:sp>
          <p:nvSpPr>
            <p:cNvPr id="18" name="TextBox 18"/>
            <p:cNvSpPr txBox="1"/>
            <p:nvPr/>
          </p:nvSpPr>
          <p:spPr>
            <a:xfrm>
              <a:off x="831342" y="1797368"/>
              <a:ext cx="1444895" cy="473583"/>
            </a:xfrm>
            <a:prstGeom prst="rect">
              <a:avLst/>
            </a:prstGeom>
            <a:noFill/>
            <a:ln>
              <a:noFill/>
            </a:ln>
          </p:spPr>
          <p:txBody>
            <a:bodyPr wrap="none" lIns="0" tIns="0" rIns="0" bIns="0" anchor="t" anchorCtr="0">
              <a:spAutoFit/>
            </a:bodyPr>
            <a:lstStyle/>
            <a:p>
              <a:pPr algn="l">
                <a:lnSpc>
                  <a:spcPts val="1650"/>
                </a:lnSpc>
              </a:pPr>
              <a:r>
                <a:rPr lang="tr-TR" sz="1350" b="1" dirty="0">
                  <a:solidFill>
                    <a:srgbClr val="12355B"/>
                  </a:solidFill>
                  <a:latin typeface="+mn-lt"/>
                  <a:ea typeface="+mn-ea"/>
                  <a:cs typeface="+mn-cs"/>
                </a:rPr>
                <a:t>Karışık içerik</a:t>
              </a:r>
              <a:br/>
              <a:r>
                <a:rPr lang="tr-TR" sz="1350" b="1" dirty="0">
                  <a:solidFill>
                    <a:srgbClr val="12355B"/>
                  </a:solidFill>
                  <a:latin typeface="+mn-lt"/>
                  <a:ea typeface="+mn-ea"/>
                  <a:cs typeface="+mn-cs"/>
                </a:rPr>
                <a:t>(mixed content)</a:t>
              </a:r>
            </a:p>
          </p:txBody>
        </p:sp>
        <p:sp>
          <p:nvSpPr>
            <p:cNvPr id="19" name="TextBox 19"/>
            <p:cNvSpPr txBox="1"/>
            <p:nvPr/>
          </p:nvSpPr>
          <p:spPr>
            <a:xfrm>
              <a:off x="3994404" y="1699260"/>
              <a:ext cx="20010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HTTPS sayfa içinde http://</a:t>
              </a:r>
              <a:br/>
              <a:r>
                <a:rPr lang="tr-TR" sz="1200" dirty="0">
                  <a:solidFill>
                    <a:srgbClr val="172B3A"/>
                  </a:solidFill>
                  <a:latin typeface="+mn-lt"/>
                  <a:ea typeface="+mn-ea"/>
                  <a:cs typeface="+mn-cs"/>
                </a:rPr>
                <a:t>ile başlayan script/resim</a:t>
              </a:r>
              <a:br/>
              <a:r>
                <a:rPr lang="tr-TR" sz="1200" dirty="0">
                  <a:solidFill>
                    <a:srgbClr val="172B3A"/>
                  </a:solidFill>
                  <a:latin typeface="+mn-lt"/>
                  <a:ea typeface="+mn-ea"/>
                  <a:cs typeface="+mn-cs"/>
                </a:rPr>
                <a:t>bağlantısı çağrılır.</a:t>
              </a:r>
            </a:p>
          </p:txBody>
        </p:sp>
        <p:sp>
          <p:nvSpPr>
            <p:cNvPr id="20" name="TextBox 20"/>
            <p:cNvSpPr txBox="1"/>
            <p:nvPr/>
          </p:nvSpPr>
          <p:spPr>
            <a:xfrm>
              <a:off x="7613904" y="1699260"/>
              <a:ext cx="23743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Tüm kaynak bağlantıları</a:t>
              </a:r>
              <a:br/>
              <a:r>
                <a:rPr lang="tr-TR" sz="1200" dirty="0">
                  <a:solidFill>
                    <a:srgbClr val="172B3A"/>
                  </a:solidFill>
                  <a:latin typeface="+mn-lt"/>
                  <a:ea typeface="+mn-ea"/>
                  <a:cs typeface="+mn-cs"/>
                </a:rPr>
                <a:t>protokolsüz (//) veya https://</a:t>
              </a:r>
              <a:br/>
              <a:r>
                <a:rPr lang="tr-TR" sz="1200" dirty="0">
                  <a:solidFill>
                    <a:srgbClr val="172B3A"/>
                  </a:solidFill>
                  <a:latin typeface="+mn-lt"/>
                  <a:ea typeface="+mn-ea"/>
                  <a:cs typeface="+mn-cs"/>
                </a:rPr>
                <a:t>ile yazılmalıdır.</a:t>
              </a:r>
            </a:p>
          </p:txBody>
        </p:sp>
      </p:grpSp>
      <p:grpSp>
        <p:nvGrpSpPr>
          <p:cNvPr id="26" name="row-2"/>
          <p:cNvGrpSpPr/>
          <p:nvPr/>
        </p:nvGrpSpPr>
        <p:grpSpPr>
          <a:xfrm>
            <a:off x="609600" y="2571750"/>
            <a:ext cx="10972800" cy="1028700"/>
            <a:chOff x="609600" y="2571750"/>
            <a:chExt cx="10972800" cy="1028700"/>
          </a:xfrm>
        </p:grpSpPr>
        <p:sp>
          <p:nvSpPr>
            <p:cNvPr id="22" name="Rectangle 22"/>
            <p:cNvSpPr/>
            <p:nvPr/>
          </p:nvSpPr>
          <p:spPr>
            <a:xfrm>
              <a:off x="609600" y="2571750"/>
              <a:ext cx="10972800" cy="1028700"/>
            </a:xfrm>
            <a:prstGeom prst="rect">
              <a:avLst/>
            </a:prstGeom>
            <a:solidFill>
              <a:srgbClr val="EAF4F6"/>
            </a:solidFill>
            <a:ln w="9525">
              <a:solidFill>
                <a:srgbClr val="B8CBD3"/>
              </a:solidFill>
            </a:ln>
          </p:spPr>
        </p:sp>
        <p:sp>
          <p:nvSpPr>
            <p:cNvPr id="23" name="TextBox 23"/>
            <p:cNvSpPr txBox="1"/>
            <p:nvPr/>
          </p:nvSpPr>
          <p:spPr>
            <a:xfrm>
              <a:off x="831342" y="2826068"/>
              <a:ext cx="1660922" cy="473583"/>
            </a:xfrm>
            <a:prstGeom prst="rect">
              <a:avLst/>
            </a:prstGeom>
            <a:noFill/>
            <a:ln>
              <a:noFill/>
            </a:ln>
          </p:spPr>
          <p:txBody>
            <a:bodyPr wrap="none" lIns="0" tIns="0" rIns="0" bIns="0" anchor="t" anchorCtr="0">
              <a:spAutoFit/>
            </a:bodyPr>
            <a:lstStyle/>
            <a:p>
              <a:pPr algn="l">
                <a:lnSpc>
                  <a:spcPts val="1650"/>
                </a:lnSpc>
              </a:pPr>
              <a:r>
                <a:rPr lang="tr-TR" sz="1350" b="1" dirty="0">
                  <a:solidFill>
                    <a:srgbClr val="12355B"/>
                  </a:solidFill>
                  <a:latin typeface="+mn-lt"/>
                  <a:ea typeface="+mn-ea"/>
                  <a:cs typeface="+mn-cs"/>
                </a:rPr>
                <a:t>80 portunu</a:t>
              </a:r>
              <a:br/>
              <a:r>
                <a:rPr lang="tr-TR" sz="1350" b="1" dirty="0">
                  <a:solidFill>
                    <a:srgbClr val="12355B"/>
                  </a:solidFill>
                  <a:latin typeface="+mn-lt"/>
                  <a:ea typeface="+mn-ea"/>
                  <a:cs typeface="+mn-cs"/>
                </a:rPr>
                <a:t>tamamen kapatmak</a:t>
              </a:r>
            </a:p>
          </p:txBody>
        </p:sp>
        <p:sp>
          <p:nvSpPr>
            <p:cNvPr id="24" name="TextBox 24"/>
            <p:cNvSpPr txBox="1"/>
            <p:nvPr/>
          </p:nvSpPr>
          <p:spPr>
            <a:xfrm>
              <a:off x="3994404" y="2727960"/>
              <a:ext cx="209245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"HTTPS'e geçtik, HTTP</a:t>
              </a:r>
              <a:br/>
              <a:r>
                <a:rPr lang="tr-TR" sz="1200" dirty="0">
                  <a:solidFill>
                    <a:srgbClr val="172B3A"/>
                  </a:solidFill>
                  <a:latin typeface="+mn-lt"/>
                  <a:ea typeface="+mn-ea"/>
                  <a:cs typeface="+mn-cs"/>
                </a:rPr>
                <a:t>artık gerekmez" varsayımı</a:t>
              </a:r>
              <a:br/>
              <a:r>
                <a:rPr lang="tr-TR" sz="1200" dirty="0">
                  <a:solidFill>
                    <a:srgbClr val="172B3A"/>
                  </a:solidFill>
                  <a:latin typeface="+mn-lt"/>
                  <a:ea typeface="+mn-ea"/>
                  <a:cs typeface="+mn-cs"/>
                </a:rPr>
                <a:t>ile UFW'de 80 kapatılır.</a:t>
              </a:r>
            </a:p>
          </p:txBody>
        </p:sp>
        <p:sp>
          <p:nvSpPr>
            <p:cNvPr id="25" name="TextBox 25"/>
            <p:cNvSpPr txBox="1"/>
            <p:nvPr/>
          </p:nvSpPr>
          <p:spPr>
            <a:xfrm>
              <a:off x="7613904" y="2727960"/>
              <a:ext cx="265633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80 açık kalmalı; hem 301</a:t>
              </a:r>
              <a:br/>
              <a:r>
                <a:rPr lang="tr-TR" sz="1200" dirty="0">
                  <a:solidFill>
                    <a:srgbClr val="172B3A"/>
                  </a:solidFill>
                  <a:latin typeface="+mn-lt"/>
                  <a:ea typeface="+mn-ea"/>
                  <a:cs typeface="+mn-cs"/>
                </a:rPr>
                <a:t>yönlendirmesi hem de Certbot'un</a:t>
              </a:r>
              <a:br/>
              <a:r>
                <a:rPr lang="tr-TR" sz="1200" dirty="0">
                  <a:solidFill>
                    <a:srgbClr val="172B3A"/>
                  </a:solidFill>
                  <a:latin typeface="+mn-lt"/>
                  <a:ea typeface="+mn-ea"/>
                  <a:cs typeface="+mn-cs"/>
                </a:rPr>
                <a:t>HTTP-01 doğrulaması buna dayanır.</a:t>
              </a:r>
            </a:p>
          </p:txBody>
        </p:sp>
      </p:grpSp>
      <p:grpSp>
        <p:nvGrpSpPr>
          <p:cNvPr id="31" name="row-3"/>
          <p:cNvGrpSpPr/>
          <p:nvPr/>
        </p:nvGrpSpPr>
        <p:grpSpPr>
          <a:xfrm>
            <a:off x="609600" y="3600450"/>
            <a:ext cx="10972800" cy="1028700"/>
            <a:chOff x="609600" y="3600450"/>
            <a:chExt cx="10972800" cy="1028700"/>
          </a:xfrm>
        </p:grpSpPr>
        <p:sp>
          <p:nvSpPr>
            <p:cNvPr id="27" name="Rectangle 27"/>
            <p:cNvSpPr/>
            <p:nvPr/>
          </p:nvSpPr>
          <p:spPr>
            <a:xfrm>
              <a:off x="609600" y="3600450"/>
              <a:ext cx="10972800" cy="1028700"/>
            </a:xfrm>
            <a:prstGeom prst="rect">
              <a:avLst/>
            </a:prstGeom>
            <a:solidFill>
              <a:srgbClr val="FFFFFF"/>
            </a:solidFill>
            <a:ln w="9525">
              <a:solidFill>
                <a:srgbClr val="B8CBD3"/>
              </a:solidFill>
            </a:ln>
          </p:spPr>
        </p:sp>
        <p:sp>
          <p:nvSpPr>
            <p:cNvPr id="28" name="TextBox 28"/>
            <p:cNvSpPr txBox="1"/>
            <p:nvPr/>
          </p:nvSpPr>
          <p:spPr>
            <a:xfrm>
              <a:off x="831342" y="3854768"/>
              <a:ext cx="1408890" cy="473583"/>
            </a:xfrm>
            <a:prstGeom prst="rect">
              <a:avLst/>
            </a:prstGeom>
            <a:noFill/>
            <a:ln>
              <a:noFill/>
            </a:ln>
          </p:spPr>
          <p:txBody>
            <a:bodyPr wrap="none" lIns="0" tIns="0" rIns="0" bIns="0" anchor="t" anchorCtr="0">
              <a:spAutoFit/>
            </a:bodyPr>
            <a:lstStyle/>
            <a:p>
              <a:pPr algn="l">
                <a:lnSpc>
                  <a:spcPts val="1650"/>
                </a:lnSpc>
              </a:pPr>
              <a:r>
                <a:rPr lang="tr-TR" sz="1350" b="1" dirty="0">
                  <a:solidFill>
                    <a:srgbClr val="12355B"/>
                  </a:solidFill>
                  <a:latin typeface="+mn-lt"/>
                  <a:ea typeface="+mn-ea"/>
                  <a:cs typeface="+mn-cs"/>
                </a:rPr>
                <a:t>Yenilemeyi</a:t>
              </a:r>
              <a:br/>
              <a:r>
                <a:rPr lang="tr-TR" sz="1350" b="1" dirty="0">
                  <a:solidFill>
                    <a:srgbClr val="12355B"/>
                  </a:solidFill>
                  <a:latin typeface="+mn-lt"/>
                  <a:ea typeface="+mn-ea"/>
                  <a:cs typeface="+mn-cs"/>
                </a:rPr>
                <a:t>elle takip etmek</a:t>
              </a:r>
            </a:p>
          </p:txBody>
        </p:sp>
        <p:sp>
          <p:nvSpPr>
            <p:cNvPr id="29" name="TextBox 29"/>
            <p:cNvSpPr txBox="1"/>
            <p:nvPr/>
          </p:nvSpPr>
          <p:spPr>
            <a:xfrm>
              <a:off x="3994404" y="3756660"/>
              <a:ext cx="22524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90 günlük süre unutulur,</a:t>
              </a:r>
              <a:br/>
              <a:r>
                <a:rPr lang="tr-TR" sz="1200" dirty="0">
                  <a:solidFill>
                    <a:srgbClr val="172B3A"/>
                  </a:solidFill>
                  <a:latin typeface="+mn-lt"/>
                  <a:ea typeface="+mn-ea"/>
                  <a:cs typeface="+mn-cs"/>
                </a:rPr>
                <a:t>sertifika sona erer, tarayıcı</a:t>
              </a:r>
              <a:br/>
              <a:r>
                <a:rPr lang="tr-TR" sz="1200" dirty="0">
                  <a:solidFill>
                    <a:srgbClr val="172B3A"/>
                  </a:solidFill>
                  <a:latin typeface="+mn-lt"/>
                  <a:ea typeface="+mn-ea"/>
                  <a:cs typeface="+mn-cs"/>
                </a:rPr>
                <a:t>"Güvenli Değil" uyarısı verir.</a:t>
              </a:r>
            </a:p>
          </p:txBody>
        </p:sp>
        <p:sp>
          <p:nvSpPr>
            <p:cNvPr id="30" name="TextBox 30"/>
            <p:cNvSpPr txBox="1"/>
            <p:nvPr/>
          </p:nvSpPr>
          <p:spPr>
            <a:xfrm>
              <a:off x="7613904" y="3756660"/>
              <a:ext cx="243535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certbot.timer'ın etkin olduğu</a:t>
              </a:r>
              <a:br/>
              <a:r>
                <a:rPr lang="tr-TR" sz="1200" dirty="0">
                  <a:solidFill>
                    <a:srgbClr val="172B3A"/>
                  </a:solidFill>
                  <a:latin typeface="+mn-lt"/>
                  <a:ea typeface="+mn-ea"/>
                  <a:cs typeface="+mn-cs"/>
                </a:rPr>
                <a:t>systemctl status certbot.timer</a:t>
              </a:r>
              <a:br/>
              <a:r>
                <a:rPr lang="tr-TR" sz="1200" dirty="0">
                  <a:solidFill>
                    <a:srgbClr val="172B3A"/>
                  </a:solidFill>
                  <a:latin typeface="+mn-lt"/>
                  <a:ea typeface="+mn-ea"/>
                  <a:cs typeface="+mn-cs"/>
                </a:rPr>
                <a:t>ile düzenli doğrulanmalıdır.</a:t>
              </a:r>
            </a:p>
          </p:txBody>
        </p:sp>
      </p:grpSp>
      <p:grpSp>
        <p:nvGrpSpPr>
          <p:cNvPr id="36" name="row-note"/>
          <p:cNvGrpSpPr/>
          <p:nvPr/>
        </p:nvGrpSpPr>
        <p:grpSpPr>
          <a:xfrm>
            <a:off x="609600" y="4743450"/>
            <a:ext cx="10972800" cy="723900"/>
            <a:chOff x="609600" y="4743450"/>
            <a:chExt cx="10972800" cy="723900"/>
          </a:xfrm>
        </p:grpSpPr>
        <p:sp>
          <p:nvSpPr>
            <p:cNvPr id="32" name="Rectangle 32"/>
            <p:cNvSpPr/>
            <p:nvPr/>
          </p:nvSpPr>
          <p:spPr>
            <a:xfrm>
              <a:off x="609600" y="4743450"/>
              <a:ext cx="10972800" cy="723900"/>
            </a:xfrm>
            <a:prstGeom prst="roundRect">
              <a:avLst>
                <a:gd name="adj" fmla="val 10526"/>
              </a:avLst>
            </a:prstGeom>
            <a:solidFill>
              <a:srgbClr val="EAF4F6"/>
            </a:solidFill>
            <a:ln>
              <a:noFill/>
            </a:ln>
          </p:spPr>
        </p:sp>
        <p:sp>
          <p:nvSpPr>
            <p:cNvPr id="33" name="Rectangle 33"/>
            <p:cNvSpPr/>
            <p:nvPr/>
          </p:nvSpPr>
          <p:spPr>
            <a:xfrm>
              <a:off x="609600" y="4743450"/>
              <a:ext cx="57150" cy="723900"/>
            </a:xfrm>
            <a:prstGeom prst="rect">
              <a:avLst/>
            </a:prstGeom>
            <a:solidFill>
              <a:srgbClr val="00A6A6"/>
            </a:solidFill>
            <a:ln>
              <a:noFill/>
            </a:ln>
          </p:spPr>
        </p:sp>
        <p:sp>
          <p:nvSpPr>
            <p:cNvPr id="34" name="TextBox 34"/>
            <p:cNvSpPr txBox="1"/>
            <p:nvPr/>
          </p:nvSpPr>
          <p:spPr>
            <a:xfrm>
              <a:off x="906399" y="4859179"/>
              <a:ext cx="576233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Kilit simgesi tek başına yeterlilik göstergesi değildir</a:t>
              </a:r>
            </a:p>
          </p:txBody>
        </p:sp>
        <p:sp>
          <p:nvSpPr>
            <p:cNvPr id="35" name="TextBox 35"/>
            <p:cNvSpPr txBox="1"/>
            <p:nvPr/>
          </p:nvSpPr>
          <p:spPr>
            <a:xfrm>
              <a:off x="908304" y="5147310"/>
              <a:ext cx="916065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Tarayıcının kilit simgesi yalnızca bağlantının şifreli olduğunu gösterir; yapılandırma hataları görünmez kalabilir.</a:t>
              </a:r>
            </a:p>
          </p:txBody>
        </p:sp>
      </p:grpSp>
      <p:sp>
        <p:nvSpPr>
          <p:cNvPr id="37" name="TextBox 3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24</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11046196" cy="668845"/>
            <a:chOff x="609600" y="171450"/>
            <a:chExt cx="11046196"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92004" y="324326"/>
                <a:ext cx="206693" cy="265748"/>
                <a:chOff x="792004" y="324326"/>
                <a:chExt cx="206693" cy="265748"/>
              </a:xfrm>
            </p:grpSpPr>
            <p:sp>
              <p:nvSpPr>
                <p:cNvPr id="5" name="Freeform 5"/>
                <p:cNvSpPr/>
                <p:nvPr/>
              </p:nvSpPr>
              <p:spPr>
                <a:xfrm>
                  <a:off x="924878" y="324326"/>
                  <a:ext cx="73819" cy="73819"/>
                </a:xfrm>
                <a:custGeom>
                  <a:avLst/>
                  <a:gdLst/>
                  <a:ahLst/>
                  <a:cxnLst/>
                  <a:rect l="l" t="t" r="r" b="b"/>
                  <a:pathLst>
                    <a:path w="73819" h="73819">
                      <a:moveTo>
                        <a:pt x="0" y="0"/>
                      </a:moveTo>
                      <a:lnTo>
                        <a:pt x="0" y="59055"/>
                      </a:lnTo>
                      <a:cubicBezTo>
                        <a:pt x="0" y="67209"/>
                        <a:pt x="6610" y="73819"/>
                        <a:pt x="14764" y="73819"/>
                      </a:cubicBezTo>
                      <a:lnTo>
                        <a:pt x="73819" y="73819"/>
                      </a:lnTo>
                    </a:path>
                  </a:pathLst>
                </a:custGeom>
                <a:noFill/>
                <a:ln w="24759" cap="rnd">
                  <a:solidFill>
                    <a:srgbClr val="FFFFFF"/>
                  </a:solidFill>
                  <a:round/>
                </a:ln>
              </p:spPr>
            </p:sp>
            <p:sp>
              <p:nvSpPr>
                <p:cNvPr id="6" name="Freeform 6"/>
                <p:cNvSpPr/>
                <p:nvPr/>
              </p:nvSpPr>
              <p:spPr>
                <a:xfrm>
                  <a:off x="792004" y="324326"/>
                  <a:ext cx="206693" cy="265748"/>
                </a:xfrm>
                <a:custGeom>
                  <a:avLst/>
                  <a:gdLst/>
                  <a:ahLst/>
                  <a:cxnLst/>
                  <a:rect l="l" t="t" r="r" b="b"/>
                  <a:pathLst>
                    <a:path w="206693" h="265748">
                      <a:moveTo>
                        <a:pt x="177165" y="265748"/>
                      </a:moveTo>
                      <a:lnTo>
                        <a:pt x="29527" y="265748"/>
                      </a:lnTo>
                      <a:cubicBezTo>
                        <a:pt x="13220" y="265748"/>
                        <a:pt x="0" y="252528"/>
                        <a:pt x="0" y="236220"/>
                      </a:cubicBezTo>
                      <a:lnTo>
                        <a:pt x="0" y="29528"/>
                      </a:lnTo>
                      <a:cubicBezTo>
                        <a:pt x="0" y="13220"/>
                        <a:pt x="13220" y="0"/>
                        <a:pt x="29527" y="0"/>
                      </a:cubicBezTo>
                      <a:lnTo>
                        <a:pt x="132874" y="0"/>
                      </a:lnTo>
                      <a:lnTo>
                        <a:pt x="206693" y="73819"/>
                      </a:lnTo>
                      <a:lnTo>
                        <a:pt x="206693" y="236220"/>
                      </a:lnTo>
                      <a:cubicBezTo>
                        <a:pt x="206693" y="252528"/>
                        <a:pt x="193473" y="265748"/>
                        <a:pt x="177165" y="265748"/>
                      </a:cubicBezTo>
                    </a:path>
                  </a:pathLst>
                </a:custGeom>
                <a:noFill/>
                <a:ln w="24759" cap="rnd">
                  <a:solidFill>
                    <a:srgbClr val="FFFFFF"/>
                  </a:solidFill>
                  <a:round/>
                </a:ln>
              </p:spPr>
            </p:sp>
            <p:sp>
              <p:nvSpPr>
                <p:cNvPr id="7" name="Freeform 7"/>
                <p:cNvSpPr/>
                <p:nvPr/>
              </p:nvSpPr>
              <p:spPr>
                <a:xfrm>
                  <a:off x="851059" y="412909"/>
                  <a:ext cx="14764" cy="9525"/>
                </a:xfrm>
                <a:custGeom>
                  <a:avLst/>
                  <a:gdLst/>
                  <a:ahLst/>
                  <a:cxnLst/>
                  <a:rect l="l" t="t" r="r" b="b"/>
                  <a:pathLst>
                    <a:path w="14764" h="9525">
                      <a:moveTo>
                        <a:pt x="0" y="0"/>
                      </a:moveTo>
                      <a:lnTo>
                        <a:pt x="14764" y="0"/>
                      </a:lnTo>
                    </a:path>
                  </a:pathLst>
                </a:custGeom>
                <a:noFill/>
                <a:ln w="24759" cap="rnd">
                  <a:solidFill>
                    <a:srgbClr val="FFFFFF"/>
                  </a:solidFill>
                  <a:round/>
                </a:ln>
              </p:spPr>
            </p:sp>
            <p:sp>
              <p:nvSpPr>
                <p:cNvPr id="8" name="Freeform 8"/>
                <p:cNvSpPr/>
                <p:nvPr/>
              </p:nvSpPr>
              <p:spPr>
                <a:xfrm>
                  <a:off x="851059" y="471964"/>
                  <a:ext cx="88582" cy="9525"/>
                </a:xfrm>
                <a:custGeom>
                  <a:avLst/>
                  <a:gdLst/>
                  <a:ahLst/>
                  <a:cxnLst/>
                  <a:rect l="l" t="t" r="r" b="b"/>
                  <a:pathLst>
                    <a:path w="88582" h="9525">
                      <a:moveTo>
                        <a:pt x="0" y="0"/>
                      </a:moveTo>
                      <a:lnTo>
                        <a:pt x="88582" y="0"/>
                      </a:lnTo>
                    </a:path>
                  </a:pathLst>
                </a:custGeom>
                <a:noFill/>
                <a:ln w="24759" cap="rnd">
                  <a:solidFill>
                    <a:srgbClr val="FFFFFF"/>
                  </a:solidFill>
                  <a:round/>
                </a:ln>
              </p:spPr>
            </p:sp>
            <p:sp>
              <p:nvSpPr>
                <p:cNvPr id="9" name="Freeform 9"/>
                <p:cNvSpPr/>
                <p:nvPr/>
              </p:nvSpPr>
              <p:spPr>
                <a:xfrm>
                  <a:off x="851059" y="531019"/>
                  <a:ext cx="88582" cy="9525"/>
                </a:xfrm>
                <a:custGeom>
                  <a:avLst/>
                  <a:gdLst/>
                  <a:ahLst/>
                  <a:cxnLst/>
                  <a:rect l="l" t="t" r="r" b="b"/>
                  <a:pathLst>
                    <a:path w="88582" h="9525">
                      <a:moveTo>
                        <a:pt x="0" y="0"/>
                      </a:moveTo>
                      <a:lnTo>
                        <a:pt x="88582" y="0"/>
                      </a:lnTo>
                    </a:path>
                  </a:pathLst>
                </a:custGeom>
                <a:noFill/>
                <a:ln w="24759" cap="rnd">
                  <a:solidFill>
                    <a:srgbClr val="FFFFFF"/>
                  </a:solidFill>
                  <a:round/>
                </a:ln>
              </p:spPr>
            </p:sp>
          </p:grpSp>
        </p:grpSp>
        <p:sp>
          <p:nvSpPr>
            <p:cNvPr id="12" name="TextBox 12"/>
            <p:cNvSpPr txBox="1"/>
            <p:nvPr/>
          </p:nvSpPr>
          <p:spPr>
            <a:xfrm>
              <a:off x="1299972" y="282892"/>
              <a:ext cx="1035582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Operasyon kuramı: config, loglama, sağlık kontrolü</a:t>
              </a:r>
            </a:p>
          </p:txBody>
        </p:sp>
      </p:grpSp>
      <p:grpSp>
        <p:nvGrpSpPr>
          <p:cNvPr id="19" name="definition-block"/>
          <p:cNvGrpSpPr/>
          <p:nvPr/>
        </p:nvGrpSpPr>
        <p:grpSpPr>
          <a:xfrm>
            <a:off x="609600" y="1181100"/>
            <a:ext cx="10972800" cy="857250"/>
            <a:chOff x="609600" y="1181100"/>
            <a:chExt cx="10972800" cy="857250"/>
          </a:xfrm>
        </p:grpSpPr>
        <p:sp>
          <p:nvSpPr>
            <p:cNvPr id="14" name="Rectangle 14"/>
            <p:cNvSpPr/>
            <p:nvPr/>
          </p:nvSpPr>
          <p:spPr>
            <a:xfrm>
              <a:off x="609600" y="1181100"/>
              <a:ext cx="10972800" cy="857250"/>
            </a:xfrm>
            <a:prstGeom prst="roundRect">
              <a:avLst>
                <a:gd name="adj" fmla="val 8889"/>
              </a:avLst>
            </a:prstGeom>
            <a:solidFill>
              <a:srgbClr val="EAF4F6"/>
            </a:solidFill>
            <a:ln>
              <a:noFill/>
            </a:ln>
          </p:spPr>
        </p:sp>
        <p:sp>
          <p:nvSpPr>
            <p:cNvPr id="15" name="Rectangle 15"/>
            <p:cNvSpPr/>
            <p:nvPr/>
          </p:nvSpPr>
          <p:spPr>
            <a:xfrm>
              <a:off x="609600" y="1181100"/>
              <a:ext cx="57150" cy="857250"/>
            </a:xfrm>
            <a:prstGeom prst="rect">
              <a:avLst/>
            </a:prstGeom>
            <a:solidFill>
              <a:srgbClr val="00A6A6"/>
            </a:solidFill>
            <a:ln>
              <a:noFill/>
            </a:ln>
          </p:spPr>
        </p:sp>
        <p:sp>
          <p:nvSpPr>
            <p:cNvPr id="16" name="TextBox 16"/>
            <p:cNvSpPr txBox="1"/>
            <p:nvPr/>
          </p:nvSpPr>
          <p:spPr>
            <a:xfrm>
              <a:off x="906399" y="127777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17" name="TextBox 17"/>
            <p:cNvSpPr txBox="1"/>
            <p:nvPr/>
          </p:nvSpPr>
          <p:spPr>
            <a:xfrm>
              <a:off x="906399" y="1525429"/>
              <a:ext cx="982830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Operasyon, dağıtımdan sonra sistemin ayakta kalmasını, izlenebilir olmasını ve öngörülebilir</a:t>
              </a:r>
            </a:p>
          </p:txBody>
        </p:sp>
        <p:sp>
          <p:nvSpPr>
            <p:cNvPr id="18" name="TextBox 18"/>
            <p:cNvSpPr txBox="1"/>
            <p:nvPr/>
          </p:nvSpPr>
          <p:spPr>
            <a:xfrm>
              <a:off x="908304" y="1794510"/>
              <a:ext cx="700704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biçimde yönetilmesini sağlayan sürekli süreçtir; tek seferlik bir dağıtım eylemi değildir.</a:t>
              </a:r>
            </a:p>
          </p:txBody>
        </p:sp>
      </p:grpSp>
      <p:grpSp>
        <p:nvGrpSpPr>
          <p:cNvPr id="31" name="why-block"/>
          <p:cNvGrpSpPr/>
          <p:nvPr/>
        </p:nvGrpSpPr>
        <p:grpSpPr>
          <a:xfrm>
            <a:off x="609600" y="2209800"/>
            <a:ext cx="5257800" cy="3238500"/>
            <a:chOff x="609600" y="2209800"/>
            <a:chExt cx="5257800" cy="3238500"/>
          </a:xfrm>
        </p:grpSpPr>
        <p:sp>
          <p:nvSpPr>
            <p:cNvPr id="20" name="Rectangle 20"/>
            <p:cNvSpPr/>
            <p:nvPr/>
          </p:nvSpPr>
          <p:spPr>
            <a:xfrm>
              <a:off x="609600" y="2209800"/>
              <a:ext cx="5257800" cy="3238500"/>
            </a:xfrm>
            <a:prstGeom prst="roundRect">
              <a:avLst>
                <a:gd name="adj" fmla="val 2353"/>
              </a:avLst>
            </a:prstGeom>
            <a:solidFill>
              <a:srgbClr val="FFFFFF"/>
            </a:solidFill>
            <a:ln w="14288">
              <a:solidFill>
                <a:srgbClr val="B8CBD3"/>
              </a:solidFill>
            </a:ln>
          </p:spPr>
        </p:sp>
        <p:sp>
          <p:nvSpPr>
            <p:cNvPr id="21" name="TextBox 21"/>
            <p:cNvSpPr txBox="1"/>
            <p:nvPr/>
          </p:nvSpPr>
          <p:spPr>
            <a:xfrm>
              <a:off x="868299" y="2363629"/>
              <a:ext cx="156494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Neden vardır?</a:t>
              </a:r>
            </a:p>
          </p:txBody>
        </p:sp>
        <p:sp>
          <p:nvSpPr>
            <p:cNvPr id="22" name="TextBox 22"/>
            <p:cNvSpPr txBox="1"/>
            <p:nvPr/>
          </p:nvSpPr>
          <p:spPr>
            <a:xfrm>
              <a:off x="870204" y="2727960"/>
              <a:ext cx="264258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Sunucu çalışmaya devam etse bile</a:t>
              </a:r>
            </a:p>
          </p:txBody>
        </p:sp>
        <p:sp>
          <p:nvSpPr>
            <p:cNvPr id="23" name="TextBox 23"/>
            <p:cNvSpPr txBox="1"/>
            <p:nvPr/>
          </p:nvSpPr>
          <p:spPr>
            <a:xfrm>
              <a:off x="870204" y="2937510"/>
              <a:ext cx="230611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içindeki uygulama takılabilir,</a:t>
              </a:r>
            </a:p>
          </p:txBody>
        </p:sp>
        <p:sp>
          <p:nvSpPr>
            <p:cNvPr id="24" name="TextBox 24"/>
            <p:cNvSpPr txBox="1"/>
            <p:nvPr/>
          </p:nvSpPr>
          <p:spPr>
            <a:xfrm>
              <a:off x="870204" y="3147060"/>
              <a:ext cx="221726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bellek dolabilir veya bağımlı</a:t>
              </a:r>
            </a:p>
          </p:txBody>
        </p:sp>
        <p:sp>
          <p:nvSpPr>
            <p:cNvPr id="25" name="TextBox 25"/>
            <p:cNvSpPr txBox="1"/>
            <p:nvPr/>
          </p:nvSpPr>
          <p:spPr>
            <a:xfrm>
              <a:off x="870204" y="3356610"/>
              <a:ext cx="278267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servise (veritabanı) erişemez hale</a:t>
              </a:r>
            </a:p>
          </p:txBody>
        </p:sp>
        <p:sp>
          <p:nvSpPr>
            <p:cNvPr id="26" name="TextBox 26"/>
            <p:cNvSpPr txBox="1"/>
            <p:nvPr/>
          </p:nvSpPr>
          <p:spPr>
            <a:xfrm>
              <a:off x="870204" y="3566160"/>
              <a:ext cx="73914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gelebilir.</a:t>
              </a:r>
            </a:p>
          </p:txBody>
        </p:sp>
        <p:sp>
          <p:nvSpPr>
            <p:cNvPr id="27" name="TextBox 27"/>
            <p:cNvSpPr txBox="1"/>
            <p:nvPr/>
          </p:nvSpPr>
          <p:spPr>
            <a:xfrm>
              <a:off x="870204" y="3909060"/>
              <a:ext cx="241655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Bu durumları fark etmenin tek</a:t>
              </a:r>
            </a:p>
          </p:txBody>
        </p:sp>
        <p:sp>
          <p:nvSpPr>
            <p:cNvPr id="28" name="TextBox 28"/>
            <p:cNvSpPr txBox="1"/>
            <p:nvPr/>
          </p:nvSpPr>
          <p:spPr>
            <a:xfrm>
              <a:off x="870204" y="4118610"/>
              <a:ext cx="207187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yolu; ortam değişkenlerini</a:t>
              </a:r>
            </a:p>
          </p:txBody>
        </p:sp>
        <p:sp>
          <p:nvSpPr>
            <p:cNvPr id="29" name="TextBox 29"/>
            <p:cNvSpPr txBox="1"/>
            <p:nvPr/>
          </p:nvSpPr>
          <p:spPr>
            <a:xfrm>
              <a:off x="870204" y="4328160"/>
              <a:ext cx="23707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doğrulamak, olayları loglamak</a:t>
              </a:r>
            </a:p>
          </p:txBody>
        </p:sp>
        <p:sp>
          <p:nvSpPr>
            <p:cNvPr id="30" name="TextBox 30"/>
            <p:cNvSpPr txBox="1"/>
            <p:nvPr/>
          </p:nvSpPr>
          <p:spPr>
            <a:xfrm>
              <a:off x="870204" y="4537710"/>
              <a:ext cx="300883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ve düzenli sağlık kontrolü yapmaktır.</a:t>
              </a:r>
            </a:p>
          </p:txBody>
        </p:sp>
      </p:grpSp>
      <p:grpSp>
        <p:nvGrpSpPr>
          <p:cNvPr id="44" name="theory-block"/>
          <p:cNvGrpSpPr/>
          <p:nvPr/>
        </p:nvGrpSpPr>
        <p:grpSpPr>
          <a:xfrm>
            <a:off x="6324600" y="2209800"/>
            <a:ext cx="5257800" cy="3238500"/>
            <a:chOff x="6324600" y="2209800"/>
            <a:chExt cx="5257800" cy="3238500"/>
          </a:xfrm>
        </p:grpSpPr>
        <p:sp>
          <p:nvSpPr>
            <p:cNvPr id="32" name="Rectangle 32"/>
            <p:cNvSpPr/>
            <p:nvPr/>
          </p:nvSpPr>
          <p:spPr>
            <a:xfrm>
              <a:off x="6324600" y="2209800"/>
              <a:ext cx="5257800" cy="3238500"/>
            </a:xfrm>
            <a:prstGeom prst="roundRect">
              <a:avLst>
                <a:gd name="adj" fmla="val 2353"/>
              </a:avLst>
            </a:prstGeom>
            <a:solidFill>
              <a:srgbClr val="FFFFFF"/>
            </a:solidFill>
            <a:ln w="14288">
              <a:solidFill>
                <a:srgbClr val="00A6A6"/>
              </a:solidFill>
            </a:ln>
          </p:spPr>
        </p:sp>
        <p:sp>
          <p:nvSpPr>
            <p:cNvPr id="33" name="TextBox 33"/>
            <p:cNvSpPr txBox="1"/>
            <p:nvPr/>
          </p:nvSpPr>
          <p:spPr>
            <a:xfrm>
              <a:off x="6583299" y="2363629"/>
              <a:ext cx="89405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Üç direk</a:t>
              </a:r>
            </a:p>
          </p:txBody>
        </p:sp>
        <p:sp>
          <p:nvSpPr>
            <p:cNvPr id="34" name="TextBox 34"/>
            <p:cNvSpPr txBox="1"/>
            <p:nvPr/>
          </p:nvSpPr>
          <p:spPr>
            <a:xfrm>
              <a:off x="6585204" y="2727960"/>
              <a:ext cx="219030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Config doğrulama: uygulama</a:t>
              </a:r>
            </a:p>
          </p:txBody>
        </p:sp>
        <p:sp>
          <p:nvSpPr>
            <p:cNvPr id="35" name="TextBox 35"/>
            <p:cNvSpPr txBox="1"/>
            <p:nvPr/>
          </p:nvSpPr>
          <p:spPr>
            <a:xfrm>
              <a:off x="6585204" y="2937510"/>
              <a:ext cx="241112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başlamadan önce gerekli ortam</a:t>
              </a:r>
            </a:p>
          </p:txBody>
        </p:sp>
        <p:sp>
          <p:nvSpPr>
            <p:cNvPr id="36" name="TextBox 36"/>
            <p:cNvSpPr txBox="1"/>
            <p:nvPr/>
          </p:nvSpPr>
          <p:spPr>
            <a:xfrm>
              <a:off x="6585204" y="3147060"/>
              <a:ext cx="302498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değişkenlerinin var olduğunu denetler.</a:t>
              </a:r>
            </a:p>
          </p:txBody>
        </p:sp>
        <p:sp>
          <p:nvSpPr>
            <p:cNvPr id="37" name="TextBox 37"/>
            <p:cNvSpPr txBox="1"/>
            <p:nvPr/>
          </p:nvSpPr>
          <p:spPr>
            <a:xfrm>
              <a:off x="6585204" y="3470910"/>
              <a:ext cx="28526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Loglama: olayları zaman damgasıyla</a:t>
              </a:r>
            </a:p>
          </p:txBody>
        </p:sp>
        <p:sp>
          <p:nvSpPr>
            <p:cNvPr id="38" name="TextBox 38"/>
            <p:cNvSpPr txBox="1"/>
            <p:nvPr/>
          </p:nvSpPr>
          <p:spPr>
            <a:xfrm>
              <a:off x="6585204" y="3680460"/>
              <a:ext cx="189418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kalıcı olarak kaydeder.</a:t>
              </a:r>
            </a:p>
          </p:txBody>
        </p:sp>
        <p:sp>
          <p:nvSpPr>
            <p:cNvPr id="39" name="TextBox 39"/>
            <p:cNvSpPr txBox="1"/>
            <p:nvPr/>
          </p:nvSpPr>
          <p:spPr>
            <a:xfrm>
              <a:off x="6585204" y="4004310"/>
              <a:ext cx="287674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Sağlık kontrolü: sistemin dışarıdan</a:t>
              </a:r>
            </a:p>
          </p:txBody>
        </p:sp>
        <p:sp>
          <p:nvSpPr>
            <p:cNvPr id="40" name="TextBox 40"/>
            <p:cNvSpPr txBox="1"/>
            <p:nvPr/>
          </p:nvSpPr>
          <p:spPr>
            <a:xfrm>
              <a:off x="6585204" y="4213860"/>
              <a:ext cx="290383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sorgulanabilir bir "çalışıyor" sinyali</a:t>
              </a:r>
            </a:p>
          </p:txBody>
        </p:sp>
        <p:sp>
          <p:nvSpPr>
            <p:cNvPr id="41" name="TextBox 41"/>
            <p:cNvSpPr txBox="1"/>
            <p:nvPr/>
          </p:nvSpPr>
          <p:spPr>
            <a:xfrm>
              <a:off x="6585204" y="4423410"/>
              <a:ext cx="139339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vermesini sağlar.</a:t>
              </a:r>
            </a:p>
          </p:txBody>
        </p:sp>
        <p:sp>
          <p:nvSpPr>
            <p:cNvPr id="42" name="TextBox 42"/>
            <p:cNvSpPr txBox="1"/>
            <p:nvPr/>
          </p:nvSpPr>
          <p:spPr>
            <a:xfrm>
              <a:off x="6585204" y="4747260"/>
              <a:ext cx="286900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Bu üçü, systemd'in servisi otomatik</a:t>
              </a:r>
            </a:p>
          </p:txBody>
        </p:sp>
        <p:sp>
          <p:nvSpPr>
            <p:cNvPr id="43" name="TextBox 43"/>
            <p:cNvSpPr txBox="1"/>
            <p:nvPr/>
          </p:nvSpPr>
          <p:spPr>
            <a:xfrm>
              <a:off x="6585204" y="4956810"/>
              <a:ext cx="364693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yeniden başlatma yeteneğiyle birlikte çalışır.</a:t>
              </a:r>
            </a:p>
          </p:txBody>
        </p:sp>
      </p:grpSp>
      <p:grpSp>
        <p:nvGrpSpPr>
          <p:cNvPr id="48" name="closing-note"/>
          <p:cNvGrpSpPr/>
          <p:nvPr/>
        </p:nvGrpSpPr>
        <p:grpSpPr>
          <a:xfrm>
            <a:off x="609600" y="5600700"/>
            <a:ext cx="10972800" cy="685800"/>
            <a:chOff x="609600" y="5600700"/>
            <a:chExt cx="10972800" cy="685800"/>
          </a:xfrm>
        </p:grpSpPr>
        <p:sp>
          <p:nvSpPr>
            <p:cNvPr id="45" name="Rectangle 45"/>
            <p:cNvSpPr/>
            <p:nvPr/>
          </p:nvSpPr>
          <p:spPr>
            <a:xfrm>
              <a:off x="609600" y="5600700"/>
              <a:ext cx="10972800" cy="685800"/>
            </a:xfrm>
            <a:prstGeom prst="roundRect">
              <a:avLst>
                <a:gd name="adj" fmla="val 11111"/>
              </a:avLst>
            </a:prstGeom>
            <a:solidFill>
              <a:srgbClr val="EAF4F6"/>
            </a:solidFill>
            <a:ln>
              <a:noFill/>
            </a:ln>
          </p:spPr>
        </p:sp>
        <p:sp>
          <p:nvSpPr>
            <p:cNvPr id="46" name="TextBox 46"/>
            <p:cNvSpPr txBox="1"/>
            <p:nvPr/>
          </p:nvSpPr>
          <p:spPr>
            <a:xfrm>
              <a:off x="906399" y="5735479"/>
              <a:ext cx="776209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"Sistem çalışıyor" ile "sistem sorunsuz çalışıyor" farklı iddialardır.</a:t>
              </a:r>
            </a:p>
          </p:txBody>
        </p:sp>
        <p:sp>
          <p:nvSpPr>
            <p:cNvPr id="47" name="TextBox 47"/>
            <p:cNvSpPr txBox="1"/>
            <p:nvPr/>
          </p:nvSpPr>
          <p:spPr>
            <a:xfrm>
              <a:off x="908304" y="6023610"/>
              <a:ext cx="454087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Sonraki üç konu bu farkı somut kod örnekleriyle kapatır.</a:t>
              </a:r>
            </a:p>
          </p:txBody>
        </p:sp>
      </p:grpSp>
      <p:sp>
        <p:nvSpPr>
          <p:cNvPr id="49" name="TextBox 4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24</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11203640" cy="668845"/>
            <a:chOff x="609600" y="171450"/>
            <a:chExt cx="11203640"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1051326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Ortam değişkenlerini doğrulama ve /saglik (Kod 15.7)</a:t>
              </a:r>
            </a:p>
          </p:txBody>
        </p:sp>
      </p:grpSp>
      <p:grpSp>
        <p:nvGrpSpPr>
          <p:cNvPr id="25" name="code-block"/>
          <p:cNvGrpSpPr/>
          <p:nvPr/>
        </p:nvGrpSpPr>
        <p:grpSpPr>
          <a:xfrm>
            <a:off x="609600" y="1181100"/>
            <a:ext cx="6322292" cy="3810000"/>
            <a:chOff x="609600" y="1181100"/>
            <a:chExt cx="6322292" cy="3810000"/>
          </a:xfrm>
        </p:grpSpPr>
        <p:sp>
          <p:nvSpPr>
            <p:cNvPr id="9" name="Rectangle 9"/>
            <p:cNvSpPr/>
            <p:nvPr/>
          </p:nvSpPr>
          <p:spPr>
            <a:xfrm>
              <a:off x="609600" y="1181100"/>
              <a:ext cx="6096000" cy="3810000"/>
            </a:xfrm>
            <a:prstGeom prst="roundRect">
              <a:avLst>
                <a:gd name="adj" fmla="val 2000"/>
              </a:avLst>
            </a:prstGeom>
            <a:solidFill>
              <a:srgbClr val="12355B"/>
            </a:solidFill>
            <a:ln>
              <a:noFill/>
            </a:ln>
          </p:spPr>
        </p:sp>
        <p:sp>
          <p:nvSpPr>
            <p:cNvPr id="10" name="TextBox 10"/>
            <p:cNvSpPr txBox="1"/>
            <p:nvPr/>
          </p:nvSpPr>
          <p:spPr>
            <a:xfrm>
              <a:off x="832104" y="1337310"/>
              <a:ext cx="2944216"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app.js — başlangıçta doğrulama</a:t>
              </a:r>
            </a:p>
          </p:txBody>
        </p:sp>
        <p:sp>
          <p:nvSpPr>
            <p:cNvPr id="11" name="TextBox 11"/>
            <p:cNvSpPr txBox="1"/>
            <p:nvPr/>
          </p:nvSpPr>
          <p:spPr>
            <a:xfrm>
              <a:off x="832104" y="1584960"/>
              <a:ext cx="302028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const required = ['DATABASE_URL',</a:t>
              </a:r>
            </a:p>
          </p:txBody>
        </p:sp>
        <p:sp>
          <p:nvSpPr>
            <p:cNvPr id="12" name="TextBox 12"/>
            <p:cNvSpPr txBox="1"/>
            <p:nvPr/>
          </p:nvSpPr>
          <p:spPr>
            <a:xfrm>
              <a:off x="832104" y="1794510"/>
              <a:ext cx="207751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'JWT_SECRET', 'PORT'];</a:t>
              </a:r>
            </a:p>
          </p:txBody>
        </p:sp>
        <p:sp>
          <p:nvSpPr>
            <p:cNvPr id="13" name="TextBox 13"/>
            <p:cNvSpPr txBox="1"/>
            <p:nvPr/>
          </p:nvSpPr>
          <p:spPr>
            <a:xfrm>
              <a:off x="832104" y="2042160"/>
              <a:ext cx="258881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for (const key of required) {</a:t>
              </a:r>
            </a:p>
          </p:txBody>
        </p:sp>
        <p:sp>
          <p:nvSpPr>
            <p:cNvPr id="14" name="TextBox 14"/>
            <p:cNvSpPr txBox="1"/>
            <p:nvPr/>
          </p:nvSpPr>
          <p:spPr>
            <a:xfrm>
              <a:off x="832104" y="2251710"/>
              <a:ext cx="214457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if (!process.env[key]) {</a:t>
              </a:r>
            </a:p>
          </p:txBody>
        </p:sp>
        <p:sp>
          <p:nvSpPr>
            <p:cNvPr id="15" name="TextBox 15"/>
            <p:cNvSpPr txBox="1"/>
            <p:nvPr/>
          </p:nvSpPr>
          <p:spPr>
            <a:xfrm>
              <a:off x="832104" y="2461260"/>
              <a:ext cx="277431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console.error(`Eksik: ${key}`);</a:t>
              </a:r>
            </a:p>
          </p:txBody>
        </p:sp>
        <p:sp>
          <p:nvSpPr>
            <p:cNvPr id="16" name="TextBox 16"/>
            <p:cNvSpPr txBox="1"/>
            <p:nvPr/>
          </p:nvSpPr>
          <p:spPr>
            <a:xfrm>
              <a:off x="832104" y="2670810"/>
              <a:ext cx="143377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process.exit(1);</a:t>
              </a:r>
            </a:p>
          </p:txBody>
        </p:sp>
        <p:sp>
          <p:nvSpPr>
            <p:cNvPr id="17" name="TextBox 17"/>
            <p:cNvSpPr txBox="1"/>
            <p:nvPr/>
          </p:nvSpPr>
          <p:spPr>
            <a:xfrm>
              <a:off x="832104" y="2880360"/>
              <a:ext cx="10104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a:t>
              </a:r>
            </a:p>
          </p:txBody>
        </p:sp>
        <p:sp>
          <p:nvSpPr>
            <p:cNvPr id="18" name="TextBox 18"/>
            <p:cNvSpPr txBox="1"/>
            <p:nvPr/>
          </p:nvSpPr>
          <p:spPr>
            <a:xfrm>
              <a:off x="832104" y="3089910"/>
              <a:ext cx="10104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a:t>
              </a:r>
            </a:p>
          </p:txBody>
        </p:sp>
        <p:sp>
          <p:nvSpPr>
            <p:cNvPr id="19" name="TextBox 19"/>
            <p:cNvSpPr txBox="1"/>
            <p:nvPr/>
          </p:nvSpPr>
          <p:spPr>
            <a:xfrm>
              <a:off x="832104" y="3394710"/>
              <a:ext cx="1878025"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/saglik uç noktası</a:t>
              </a:r>
            </a:p>
          </p:txBody>
        </p:sp>
        <p:sp>
          <p:nvSpPr>
            <p:cNvPr id="20" name="TextBox 20"/>
            <p:cNvSpPr txBox="1"/>
            <p:nvPr/>
          </p:nvSpPr>
          <p:spPr>
            <a:xfrm>
              <a:off x="832104" y="3642360"/>
              <a:ext cx="356616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app.get('/saglik', async (req, res) =&gt; {</a:t>
              </a:r>
            </a:p>
          </p:txBody>
        </p:sp>
        <p:sp>
          <p:nvSpPr>
            <p:cNvPr id="21" name="TextBox 21"/>
            <p:cNvSpPr txBox="1"/>
            <p:nvPr/>
          </p:nvSpPr>
          <p:spPr>
            <a:xfrm>
              <a:off x="832104" y="3851910"/>
              <a:ext cx="245638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await db.query('SELECT 1');</a:t>
              </a:r>
            </a:p>
          </p:txBody>
        </p:sp>
        <p:sp>
          <p:nvSpPr>
            <p:cNvPr id="22" name="TextBox 22"/>
            <p:cNvSpPr txBox="1"/>
            <p:nvPr/>
          </p:nvSpPr>
          <p:spPr>
            <a:xfrm>
              <a:off x="832104" y="4061460"/>
              <a:ext cx="267766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res.json({ durum: 'ayakta' });</a:t>
              </a:r>
            </a:p>
          </p:txBody>
        </p:sp>
        <p:sp>
          <p:nvSpPr>
            <p:cNvPr id="23" name="TextBox 23"/>
            <p:cNvSpPr txBox="1"/>
            <p:nvPr/>
          </p:nvSpPr>
          <p:spPr>
            <a:xfrm>
              <a:off x="832104" y="4271010"/>
              <a:ext cx="27874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a:t>
              </a:r>
            </a:p>
          </p:txBody>
        </p:sp>
        <p:sp>
          <p:nvSpPr>
            <p:cNvPr id="24" name="TextBox 24"/>
            <p:cNvSpPr txBox="1"/>
            <p:nvPr/>
          </p:nvSpPr>
          <p:spPr>
            <a:xfrm>
              <a:off x="832104" y="4537710"/>
              <a:ext cx="609978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Kodun amacı: eksik yapılandırmayla sessizce çalışmak yerine hemen durmak.</a:t>
              </a:r>
            </a:p>
          </p:txBody>
        </p:sp>
      </p:grpSp>
      <p:grpSp>
        <p:nvGrpSpPr>
          <p:cNvPr id="41" name="critical-lines"/>
          <p:cNvGrpSpPr/>
          <p:nvPr/>
        </p:nvGrpSpPr>
        <p:grpSpPr>
          <a:xfrm>
            <a:off x="7010400" y="1181100"/>
            <a:ext cx="4572000" cy="3752850"/>
            <a:chOff x="7010400" y="1181100"/>
            <a:chExt cx="4572000" cy="3752850"/>
          </a:xfrm>
        </p:grpSpPr>
        <p:sp>
          <p:nvSpPr>
            <p:cNvPr id="26" name="Rectangle 26"/>
            <p:cNvSpPr/>
            <p:nvPr/>
          </p:nvSpPr>
          <p:spPr>
            <a:xfrm>
              <a:off x="7010400" y="1181100"/>
              <a:ext cx="4572000" cy="1238250"/>
            </a:xfrm>
            <a:prstGeom prst="roundRect">
              <a:avLst>
                <a:gd name="adj" fmla="val 6154"/>
              </a:avLst>
            </a:prstGeom>
            <a:solidFill>
              <a:srgbClr val="FFFFFF"/>
            </a:solidFill>
            <a:ln w="14288">
              <a:solidFill>
                <a:srgbClr val="00A6A6"/>
              </a:solidFill>
            </a:ln>
          </p:spPr>
        </p:sp>
        <p:sp>
          <p:nvSpPr>
            <p:cNvPr id="27" name="TextBox 27"/>
            <p:cNvSpPr txBox="1"/>
            <p:nvPr/>
          </p:nvSpPr>
          <p:spPr>
            <a:xfrm>
              <a:off x="7232142" y="1321118"/>
              <a:ext cx="365845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process.exit(1) hızlı başarısızlıktır</a:t>
              </a:r>
            </a:p>
          </p:txBody>
        </p:sp>
        <p:sp>
          <p:nvSpPr>
            <p:cNvPr id="28" name="TextBox 28"/>
            <p:cNvSpPr txBox="1"/>
            <p:nvPr/>
          </p:nvSpPr>
          <p:spPr>
            <a:xfrm>
              <a:off x="7232904" y="1584960"/>
              <a:ext cx="282819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Eksik bir değişkenle uygulama yarım</a:t>
              </a:r>
            </a:p>
          </p:txBody>
        </p:sp>
        <p:sp>
          <p:nvSpPr>
            <p:cNvPr id="29" name="TextBox 29"/>
            <p:cNvSpPr txBox="1"/>
            <p:nvPr/>
          </p:nvSpPr>
          <p:spPr>
            <a:xfrm>
              <a:off x="7232904" y="1794510"/>
              <a:ext cx="279882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yamalak ayağa kalkmaz; systemd bu</a:t>
              </a:r>
            </a:p>
          </p:txBody>
        </p:sp>
        <p:sp>
          <p:nvSpPr>
            <p:cNvPr id="30" name="TextBox 30"/>
            <p:cNvSpPr txBox="1"/>
            <p:nvPr/>
          </p:nvSpPr>
          <p:spPr>
            <a:xfrm>
              <a:off x="7232904" y="2004060"/>
              <a:ext cx="367116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çıkış kodunu görüp yeniden başlatmayı dener.</a:t>
              </a:r>
            </a:p>
          </p:txBody>
        </p:sp>
        <p:sp>
          <p:nvSpPr>
            <p:cNvPr id="31" name="Rectangle 31"/>
            <p:cNvSpPr/>
            <p:nvPr/>
          </p:nvSpPr>
          <p:spPr>
            <a:xfrm>
              <a:off x="7010400" y="2533650"/>
              <a:ext cx="4572000" cy="1143000"/>
            </a:xfrm>
            <a:prstGeom prst="roundRect">
              <a:avLst>
                <a:gd name="adj" fmla="val 6667"/>
              </a:avLst>
            </a:prstGeom>
            <a:solidFill>
              <a:srgbClr val="FFFFFF"/>
            </a:solidFill>
            <a:ln w="14288">
              <a:solidFill>
                <a:srgbClr val="B8CBD3"/>
              </a:solidFill>
            </a:ln>
          </p:spPr>
        </p:sp>
        <p:sp>
          <p:nvSpPr>
            <p:cNvPr id="32" name="TextBox 32"/>
            <p:cNvSpPr txBox="1"/>
            <p:nvPr/>
          </p:nvSpPr>
          <p:spPr>
            <a:xfrm>
              <a:off x="7232142" y="2673668"/>
              <a:ext cx="350579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/saglik veritabanına gerçekten sorar</a:t>
              </a:r>
            </a:p>
          </p:txBody>
        </p:sp>
        <p:sp>
          <p:nvSpPr>
            <p:cNvPr id="33" name="TextBox 33"/>
            <p:cNvSpPr txBox="1"/>
            <p:nvPr/>
          </p:nvSpPr>
          <p:spPr>
            <a:xfrm>
              <a:off x="7232904" y="2937510"/>
              <a:ext cx="272372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Yalnızca "uygulama ayakta" demek</a:t>
              </a:r>
            </a:p>
          </p:txBody>
        </p:sp>
        <p:sp>
          <p:nvSpPr>
            <p:cNvPr id="34" name="TextBox 34"/>
            <p:cNvSpPr txBox="1"/>
            <p:nvPr/>
          </p:nvSpPr>
          <p:spPr>
            <a:xfrm>
              <a:off x="7232904" y="3147060"/>
              <a:ext cx="276651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yetmez; bağımlı servise erişimi de</a:t>
              </a:r>
            </a:p>
          </p:txBody>
        </p:sp>
        <p:sp>
          <p:nvSpPr>
            <p:cNvPr id="35" name="TextBox 35"/>
            <p:cNvSpPr txBox="1"/>
            <p:nvPr/>
          </p:nvSpPr>
          <p:spPr>
            <a:xfrm>
              <a:off x="7232904" y="3356610"/>
              <a:ext cx="161147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test etmek gerekir.</a:t>
              </a:r>
            </a:p>
          </p:txBody>
        </p:sp>
        <p:sp>
          <p:nvSpPr>
            <p:cNvPr id="36" name="Rectangle 36"/>
            <p:cNvSpPr/>
            <p:nvPr/>
          </p:nvSpPr>
          <p:spPr>
            <a:xfrm>
              <a:off x="7010400" y="3790950"/>
              <a:ext cx="4572000" cy="1143000"/>
            </a:xfrm>
            <a:prstGeom prst="roundRect">
              <a:avLst>
                <a:gd name="adj" fmla="val 6667"/>
              </a:avLst>
            </a:prstGeom>
            <a:solidFill>
              <a:srgbClr val="FFFFFF"/>
            </a:solidFill>
            <a:ln w="14288">
              <a:solidFill>
                <a:srgbClr val="B8CBD3"/>
              </a:solidFill>
            </a:ln>
          </p:spPr>
        </p:sp>
        <p:sp>
          <p:nvSpPr>
            <p:cNvPr id="37" name="TextBox 37"/>
            <p:cNvSpPr txBox="1"/>
            <p:nvPr/>
          </p:nvSpPr>
          <p:spPr>
            <a:xfrm>
              <a:off x="7232142" y="3930968"/>
              <a:ext cx="3645588"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Bu uç nokta kimlik doğrulaması istemez</a:t>
              </a:r>
            </a:p>
          </p:txBody>
        </p:sp>
        <p:sp>
          <p:nvSpPr>
            <p:cNvPr id="38" name="TextBox 38"/>
            <p:cNvSpPr txBox="1"/>
            <p:nvPr/>
          </p:nvSpPr>
          <p:spPr>
            <a:xfrm>
              <a:off x="7232904" y="4194810"/>
              <a:ext cx="288196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İzleme araçları ve Nginx tarafından</a:t>
              </a:r>
            </a:p>
          </p:txBody>
        </p:sp>
        <p:sp>
          <p:nvSpPr>
            <p:cNvPr id="39" name="TextBox 39"/>
            <p:cNvSpPr txBox="1"/>
            <p:nvPr/>
          </p:nvSpPr>
          <p:spPr>
            <a:xfrm>
              <a:off x="7232904" y="4404360"/>
              <a:ext cx="234650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sık sık, kimlik bilgisi olmadan</a:t>
              </a:r>
            </a:p>
          </p:txBody>
        </p:sp>
        <p:sp>
          <p:nvSpPr>
            <p:cNvPr id="40" name="TextBox 40"/>
            <p:cNvSpPr txBox="1"/>
            <p:nvPr/>
          </p:nvSpPr>
          <p:spPr>
            <a:xfrm>
              <a:off x="7232904" y="4613910"/>
              <a:ext cx="202341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sorgulanabilmesi gerekir.</a:t>
              </a:r>
            </a:p>
          </p:txBody>
        </p:sp>
      </p:grpSp>
      <p:grpSp>
        <p:nvGrpSpPr>
          <p:cNvPr id="48" name="closing-note"/>
          <p:cNvGrpSpPr/>
          <p:nvPr/>
        </p:nvGrpSpPr>
        <p:grpSpPr>
          <a:xfrm>
            <a:off x="609600" y="5143500"/>
            <a:ext cx="10972800" cy="1143000"/>
            <a:chOff x="609600" y="5143500"/>
            <a:chExt cx="10972800" cy="1143000"/>
          </a:xfrm>
        </p:grpSpPr>
        <p:sp>
          <p:nvSpPr>
            <p:cNvPr id="42" name="Rectangle 42"/>
            <p:cNvSpPr/>
            <p:nvPr/>
          </p:nvSpPr>
          <p:spPr>
            <a:xfrm>
              <a:off x="609600" y="5143500"/>
              <a:ext cx="10972800" cy="1143000"/>
            </a:xfrm>
            <a:prstGeom prst="roundRect">
              <a:avLst>
                <a:gd name="adj" fmla="val 6667"/>
              </a:avLst>
            </a:prstGeom>
            <a:solidFill>
              <a:srgbClr val="EAF4F6"/>
            </a:solidFill>
            <a:ln>
              <a:noFill/>
            </a:ln>
          </p:spPr>
        </p:sp>
        <p:sp>
          <p:nvSpPr>
            <p:cNvPr id="43" name="Rectangle 43"/>
            <p:cNvSpPr/>
            <p:nvPr/>
          </p:nvSpPr>
          <p:spPr>
            <a:xfrm>
              <a:off x="609600" y="5143500"/>
              <a:ext cx="57150" cy="1143000"/>
            </a:xfrm>
            <a:prstGeom prst="rect">
              <a:avLst/>
            </a:prstGeom>
            <a:solidFill>
              <a:srgbClr val="00A6A6"/>
            </a:solidFill>
            <a:ln>
              <a:noFill/>
            </a:ln>
          </p:spPr>
        </p:sp>
        <p:sp>
          <p:nvSpPr>
            <p:cNvPr id="44" name="TextBox 44"/>
            <p:cNvSpPr txBox="1"/>
            <p:nvPr/>
          </p:nvSpPr>
          <p:spPr>
            <a:xfrm>
              <a:off x="906399" y="5278279"/>
              <a:ext cx="603078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Doğrulama başlangıçta, sağlık kontrolü sürekli çalışır</a:t>
              </a:r>
            </a:p>
          </p:txBody>
        </p:sp>
        <p:sp>
          <p:nvSpPr>
            <p:cNvPr id="45" name="TextBox 45"/>
            <p:cNvSpPr txBox="1"/>
            <p:nvPr/>
          </p:nvSpPr>
          <p:spPr>
            <a:xfrm>
              <a:off x="908304" y="5585460"/>
              <a:ext cx="721406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İkisi farklı zaman dilimlerinde aynı amacı taşır: yapılandırma veya bağımlılık eksikliğinin</a:t>
              </a:r>
            </a:p>
          </p:txBody>
        </p:sp>
        <p:sp>
          <p:nvSpPr>
            <p:cNvPr id="46" name="TextBox 46"/>
            <p:cNvSpPr txBox="1"/>
            <p:nvPr/>
          </p:nvSpPr>
          <p:spPr>
            <a:xfrm>
              <a:off x="908304" y="5795010"/>
              <a:ext cx="338038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sessizce üretime yansımasını engellemek.</a:t>
              </a:r>
            </a:p>
          </p:txBody>
        </p:sp>
        <p:sp>
          <p:nvSpPr>
            <p:cNvPr id="47" name="TextBox 47"/>
            <p:cNvSpPr txBox="1"/>
            <p:nvPr/>
          </p:nvSpPr>
          <p:spPr>
            <a:xfrm>
              <a:off x="908304" y="6042660"/>
              <a:ext cx="585424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Bu bilgi Nginx'in health check ile birleşmesiyle sonraki konuda tamamlanır.</a:t>
              </a:r>
            </a:p>
          </p:txBody>
        </p:sp>
      </p:grpSp>
      <p:sp>
        <p:nvSpPr>
          <p:cNvPr id="49" name="TextBox 4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24</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517501" cy="668845"/>
            <a:chOff x="609600" y="171450"/>
            <a:chExt cx="9517501"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836295" y="412909"/>
                  <a:ext cx="44291" cy="88582"/>
                </a:xfrm>
                <a:custGeom>
                  <a:avLst/>
                  <a:gdLst/>
                  <a:ahLst/>
                  <a:cxnLst/>
                  <a:rect l="l" t="t" r="r" b="b"/>
                  <a:pathLst>
                    <a:path w="44291" h="88582">
                      <a:moveTo>
                        <a:pt x="0" y="0"/>
                      </a:moveTo>
                      <a:lnTo>
                        <a:pt x="44291" y="44291"/>
                      </a:lnTo>
                      <a:lnTo>
                        <a:pt x="0" y="88582"/>
                      </a:lnTo>
                    </a:path>
                  </a:pathLst>
                </a:custGeom>
                <a:noFill/>
                <a:ln w="24759" cap="rnd">
                  <a:solidFill>
                    <a:srgbClr val="FFFFFF"/>
                  </a:solidFill>
                  <a:round/>
                </a:ln>
              </p:spPr>
            </p:sp>
            <p:sp>
              <p:nvSpPr>
                <p:cNvPr id="6" name="Freeform 6"/>
                <p:cNvSpPr/>
                <p:nvPr/>
              </p:nvSpPr>
              <p:spPr>
                <a:xfrm>
                  <a:off x="910114" y="501491"/>
                  <a:ext cx="44291" cy="9525"/>
                </a:xfrm>
                <a:custGeom>
                  <a:avLst/>
                  <a:gdLst/>
                  <a:ahLst/>
                  <a:cxnLst/>
                  <a:rect l="l" t="t" r="r" b="b"/>
                  <a:pathLst>
                    <a:path w="44291" h="9525">
                      <a:moveTo>
                        <a:pt x="0" y="0"/>
                      </a:moveTo>
                      <a:lnTo>
                        <a:pt x="44291" y="0"/>
                      </a:lnTo>
                    </a:path>
                  </a:pathLst>
                </a:custGeom>
                <a:noFill/>
                <a:ln w="24759" cap="rnd">
                  <a:solidFill>
                    <a:srgbClr val="FFFFFF"/>
                  </a:solidFill>
                  <a:round/>
                </a:ln>
              </p:spPr>
            </p:sp>
            <p:sp>
              <p:nvSpPr>
                <p:cNvPr id="7" name="Freeform 7"/>
                <p:cNvSpPr/>
                <p:nvPr/>
              </p:nvSpPr>
              <p:spPr>
                <a:xfrm>
                  <a:off x="762476" y="339090"/>
                  <a:ext cx="265748" cy="236220"/>
                </a:xfrm>
                <a:custGeom>
                  <a:avLst/>
                  <a:gdLst/>
                  <a:ahLst/>
                  <a:cxnLst/>
                  <a:rect l="l" t="t" r="r" b="b"/>
                  <a:pathLst>
                    <a:path w="265748" h="236220">
                      <a:moveTo>
                        <a:pt x="0" y="29528"/>
                      </a:moveTo>
                      <a:cubicBezTo>
                        <a:pt x="0" y="13220"/>
                        <a:pt x="13220" y="0"/>
                        <a:pt x="29527" y="0"/>
                      </a:cubicBezTo>
                      <a:lnTo>
                        <a:pt x="236220" y="0"/>
                      </a:lnTo>
                      <a:cubicBezTo>
                        <a:pt x="252528" y="0"/>
                        <a:pt x="265748" y="13220"/>
                        <a:pt x="265748" y="29528"/>
                      </a:cubicBezTo>
                      <a:lnTo>
                        <a:pt x="265748" y="206692"/>
                      </a:lnTo>
                      <a:cubicBezTo>
                        <a:pt x="265748" y="223000"/>
                        <a:pt x="252528" y="236220"/>
                        <a:pt x="236220" y="236220"/>
                      </a:cubicBezTo>
                      <a:lnTo>
                        <a:pt x="29527" y="236220"/>
                      </a:lnTo>
                      <a:cubicBezTo>
                        <a:pt x="13220" y="236220"/>
                        <a:pt x="0" y="223000"/>
                        <a:pt x="0" y="206692"/>
                      </a:cubicBezTo>
                      <a:lnTo>
                        <a:pt x="0" y="29528"/>
                      </a:lnTo>
                    </a:path>
                  </a:pathLst>
                </a:custGeom>
                <a:noFill/>
                <a:ln w="24759" cap="rnd">
                  <a:solidFill>
                    <a:srgbClr val="FFFFFF"/>
                  </a:solidFill>
                  <a:round/>
                </a:ln>
              </p:spPr>
            </p:sp>
          </p:grpSp>
        </p:grpSp>
        <p:sp>
          <p:nvSpPr>
            <p:cNvPr id="10" name="TextBox 10"/>
            <p:cNvSpPr txBox="1"/>
            <p:nvPr/>
          </p:nvSpPr>
          <p:spPr>
            <a:xfrm>
              <a:off x="1299972" y="282892"/>
              <a:ext cx="882712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systemd ile servis yaşam döngüsü (Kod 15.8)</a:t>
              </a:r>
            </a:p>
          </p:txBody>
        </p:sp>
      </p:grpSp>
      <p:grpSp>
        <p:nvGrpSpPr>
          <p:cNvPr id="28" name="code-block"/>
          <p:cNvGrpSpPr/>
          <p:nvPr/>
        </p:nvGrpSpPr>
        <p:grpSpPr>
          <a:xfrm>
            <a:off x="609600" y="1181100"/>
            <a:ext cx="6096000" cy="3810000"/>
            <a:chOff x="609600" y="1181100"/>
            <a:chExt cx="6096000" cy="3810000"/>
          </a:xfrm>
        </p:grpSpPr>
        <p:sp>
          <p:nvSpPr>
            <p:cNvPr id="12" name="Rectangle 12"/>
            <p:cNvSpPr/>
            <p:nvPr/>
          </p:nvSpPr>
          <p:spPr>
            <a:xfrm>
              <a:off x="609600" y="1181100"/>
              <a:ext cx="6096000" cy="3810000"/>
            </a:xfrm>
            <a:prstGeom prst="roundRect">
              <a:avLst>
                <a:gd name="adj" fmla="val 2000"/>
              </a:avLst>
            </a:prstGeom>
            <a:solidFill>
              <a:srgbClr val="12355B"/>
            </a:solidFill>
            <a:ln>
              <a:noFill/>
            </a:ln>
          </p:spPr>
        </p:sp>
        <p:sp>
          <p:nvSpPr>
            <p:cNvPr id="13" name="TextBox 13"/>
            <p:cNvSpPr txBox="1"/>
            <p:nvPr/>
          </p:nvSpPr>
          <p:spPr>
            <a:xfrm>
              <a:off x="832104" y="1337310"/>
              <a:ext cx="3477311"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/etc/systemd/system/kutuphane.service</a:t>
              </a:r>
            </a:p>
          </p:txBody>
        </p:sp>
        <p:sp>
          <p:nvSpPr>
            <p:cNvPr id="14" name="TextBox 14"/>
            <p:cNvSpPr txBox="1"/>
            <p:nvPr/>
          </p:nvSpPr>
          <p:spPr>
            <a:xfrm>
              <a:off x="832104" y="1604010"/>
              <a:ext cx="55283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[Unit]</a:t>
              </a:r>
            </a:p>
          </p:txBody>
        </p:sp>
        <p:sp>
          <p:nvSpPr>
            <p:cNvPr id="15" name="TextBox 15"/>
            <p:cNvSpPr txBox="1"/>
            <p:nvPr/>
          </p:nvSpPr>
          <p:spPr>
            <a:xfrm>
              <a:off x="832104" y="1813560"/>
              <a:ext cx="226075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Description=Kütüphane API</a:t>
              </a:r>
            </a:p>
          </p:txBody>
        </p:sp>
        <p:sp>
          <p:nvSpPr>
            <p:cNvPr id="16" name="TextBox 16"/>
            <p:cNvSpPr txBox="1"/>
            <p:nvPr/>
          </p:nvSpPr>
          <p:spPr>
            <a:xfrm>
              <a:off x="832104" y="2023110"/>
              <a:ext cx="312759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After=network.target docker.service</a:t>
              </a:r>
            </a:p>
          </p:txBody>
        </p:sp>
        <p:sp>
          <p:nvSpPr>
            <p:cNvPr id="17" name="TextBox 17"/>
            <p:cNvSpPr txBox="1"/>
            <p:nvPr/>
          </p:nvSpPr>
          <p:spPr>
            <a:xfrm>
              <a:off x="832104" y="2270760"/>
              <a:ext cx="81830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[Service]</a:t>
              </a:r>
            </a:p>
          </p:txBody>
        </p:sp>
        <p:sp>
          <p:nvSpPr>
            <p:cNvPr id="18" name="TextBox 18"/>
            <p:cNvSpPr txBox="1"/>
            <p:nvPr/>
          </p:nvSpPr>
          <p:spPr>
            <a:xfrm>
              <a:off x="832104" y="2480310"/>
              <a:ext cx="161713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Restart=on-failure</a:t>
              </a:r>
            </a:p>
          </p:txBody>
        </p:sp>
        <p:sp>
          <p:nvSpPr>
            <p:cNvPr id="19" name="TextBox 19"/>
            <p:cNvSpPr txBox="1"/>
            <p:nvPr/>
          </p:nvSpPr>
          <p:spPr>
            <a:xfrm>
              <a:off x="832104" y="2689860"/>
              <a:ext cx="109045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RestartSec=5</a:t>
              </a:r>
            </a:p>
          </p:txBody>
        </p:sp>
        <p:sp>
          <p:nvSpPr>
            <p:cNvPr id="20" name="TextBox 20"/>
            <p:cNvSpPr txBox="1"/>
            <p:nvPr/>
          </p:nvSpPr>
          <p:spPr>
            <a:xfrm>
              <a:off x="832104" y="2899410"/>
              <a:ext cx="313448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ExecStart=/usr/bin/docker compose \</a:t>
              </a:r>
            </a:p>
          </p:txBody>
        </p:sp>
        <p:sp>
          <p:nvSpPr>
            <p:cNvPr id="21" name="TextBox 21"/>
            <p:cNvSpPr txBox="1"/>
            <p:nvPr/>
          </p:nvSpPr>
          <p:spPr>
            <a:xfrm>
              <a:off x="832104" y="3108960"/>
              <a:ext cx="258881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-f docker-compose.prod.yml up</a:t>
              </a:r>
            </a:p>
          </p:txBody>
        </p:sp>
        <p:sp>
          <p:nvSpPr>
            <p:cNvPr id="22" name="TextBox 22"/>
            <p:cNvSpPr txBox="1"/>
            <p:nvPr/>
          </p:nvSpPr>
          <p:spPr>
            <a:xfrm>
              <a:off x="832104" y="3356610"/>
              <a:ext cx="81830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[Install]</a:t>
              </a:r>
            </a:p>
          </p:txBody>
        </p:sp>
        <p:sp>
          <p:nvSpPr>
            <p:cNvPr id="23" name="TextBox 23"/>
            <p:cNvSpPr txBox="1"/>
            <p:nvPr/>
          </p:nvSpPr>
          <p:spPr>
            <a:xfrm>
              <a:off x="832104" y="3566160"/>
              <a:ext cx="233364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WantedBy=multi-user.target</a:t>
              </a:r>
            </a:p>
          </p:txBody>
        </p:sp>
        <p:sp>
          <p:nvSpPr>
            <p:cNvPr id="24" name="TextBox 24"/>
            <p:cNvSpPr txBox="1"/>
            <p:nvPr/>
          </p:nvSpPr>
          <p:spPr>
            <a:xfrm>
              <a:off x="832104" y="3851910"/>
              <a:ext cx="1173175"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Etkinleştir</a:t>
              </a:r>
            </a:p>
          </p:txBody>
        </p:sp>
        <p:sp>
          <p:nvSpPr>
            <p:cNvPr id="25" name="TextBox 25"/>
            <p:cNvSpPr txBox="1"/>
            <p:nvPr/>
          </p:nvSpPr>
          <p:spPr>
            <a:xfrm>
              <a:off x="832104" y="4099560"/>
              <a:ext cx="258881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sudo systemctl enable --now \</a:t>
              </a:r>
            </a:p>
          </p:txBody>
        </p:sp>
        <p:sp>
          <p:nvSpPr>
            <p:cNvPr id="26" name="TextBox 26"/>
            <p:cNvSpPr txBox="1"/>
            <p:nvPr/>
          </p:nvSpPr>
          <p:spPr>
            <a:xfrm>
              <a:off x="832104" y="4309110"/>
              <a:ext cx="152262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kutuphane.service</a:t>
              </a:r>
            </a:p>
          </p:txBody>
        </p:sp>
        <p:sp>
          <p:nvSpPr>
            <p:cNvPr id="27" name="TextBox 27"/>
            <p:cNvSpPr txBox="1"/>
            <p:nvPr/>
          </p:nvSpPr>
          <p:spPr>
            <a:xfrm>
              <a:off x="832104" y="4575810"/>
              <a:ext cx="490443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Amaç: servisi açılışta ve çökme sonrası otomatik başlatmak.</a:t>
              </a:r>
            </a:p>
          </p:txBody>
        </p:sp>
      </p:grpSp>
      <p:grpSp>
        <p:nvGrpSpPr>
          <p:cNvPr id="44" name="critical-lines"/>
          <p:cNvGrpSpPr/>
          <p:nvPr/>
        </p:nvGrpSpPr>
        <p:grpSpPr>
          <a:xfrm>
            <a:off x="7010400" y="1181100"/>
            <a:ext cx="4572000" cy="3657600"/>
            <a:chOff x="7010400" y="1181100"/>
            <a:chExt cx="4572000" cy="3657600"/>
          </a:xfrm>
        </p:grpSpPr>
        <p:sp>
          <p:nvSpPr>
            <p:cNvPr id="29" name="Rectangle 29"/>
            <p:cNvSpPr/>
            <p:nvPr/>
          </p:nvSpPr>
          <p:spPr>
            <a:xfrm>
              <a:off x="7010400" y="1181100"/>
              <a:ext cx="4572000" cy="1143000"/>
            </a:xfrm>
            <a:prstGeom prst="roundRect">
              <a:avLst>
                <a:gd name="adj" fmla="val 6667"/>
              </a:avLst>
            </a:prstGeom>
            <a:solidFill>
              <a:srgbClr val="FFFFFF"/>
            </a:solidFill>
            <a:ln w="14288">
              <a:solidFill>
                <a:srgbClr val="00A6A6"/>
              </a:solidFill>
            </a:ln>
          </p:spPr>
        </p:sp>
        <p:sp>
          <p:nvSpPr>
            <p:cNvPr id="30" name="TextBox 30"/>
            <p:cNvSpPr txBox="1"/>
            <p:nvPr/>
          </p:nvSpPr>
          <p:spPr>
            <a:xfrm>
              <a:off x="7232142" y="1321118"/>
              <a:ext cx="4132095"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Restart=on-failure otomatik iyileşme sağlar</a:t>
              </a:r>
            </a:p>
          </p:txBody>
        </p:sp>
        <p:sp>
          <p:nvSpPr>
            <p:cNvPr id="31" name="TextBox 31"/>
            <p:cNvSpPr txBox="1"/>
            <p:nvPr/>
          </p:nvSpPr>
          <p:spPr>
            <a:xfrm>
              <a:off x="7232904" y="1584960"/>
              <a:ext cx="287152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process.exit(1) ile çöken uygulama,</a:t>
              </a:r>
            </a:p>
          </p:txBody>
        </p:sp>
        <p:sp>
          <p:nvSpPr>
            <p:cNvPr id="32" name="TextBox 32"/>
            <p:cNvSpPr txBox="1"/>
            <p:nvPr/>
          </p:nvSpPr>
          <p:spPr>
            <a:xfrm>
              <a:off x="7232904" y="1794510"/>
              <a:ext cx="264535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insan müdahalesi olmadan 5 saniye</a:t>
              </a:r>
            </a:p>
          </p:txBody>
        </p:sp>
        <p:sp>
          <p:nvSpPr>
            <p:cNvPr id="33" name="TextBox 33"/>
            <p:cNvSpPr txBox="1"/>
            <p:nvPr/>
          </p:nvSpPr>
          <p:spPr>
            <a:xfrm>
              <a:off x="7232904" y="2004060"/>
              <a:ext cx="203149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sonra yeniden başlatılır.</a:t>
              </a:r>
            </a:p>
          </p:txBody>
        </p:sp>
        <p:sp>
          <p:nvSpPr>
            <p:cNvPr id="34" name="Rectangle 34"/>
            <p:cNvSpPr/>
            <p:nvPr/>
          </p:nvSpPr>
          <p:spPr>
            <a:xfrm>
              <a:off x="7010400" y="2438400"/>
              <a:ext cx="4572000" cy="1143000"/>
            </a:xfrm>
            <a:prstGeom prst="roundRect">
              <a:avLst>
                <a:gd name="adj" fmla="val 6667"/>
              </a:avLst>
            </a:prstGeom>
            <a:solidFill>
              <a:srgbClr val="FFFFFF"/>
            </a:solidFill>
            <a:ln w="14288">
              <a:solidFill>
                <a:srgbClr val="B8CBD3"/>
              </a:solidFill>
            </a:ln>
          </p:spPr>
        </p:sp>
        <p:sp>
          <p:nvSpPr>
            <p:cNvPr id="35" name="TextBox 35"/>
            <p:cNvSpPr txBox="1"/>
            <p:nvPr/>
          </p:nvSpPr>
          <p:spPr>
            <a:xfrm>
              <a:off x="7232142" y="2578418"/>
              <a:ext cx="417987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After=docker.service sıralamayı garantiler</a:t>
              </a:r>
            </a:p>
          </p:txBody>
        </p:sp>
        <p:sp>
          <p:nvSpPr>
            <p:cNvPr id="36" name="TextBox 36"/>
            <p:cNvSpPr txBox="1"/>
            <p:nvPr/>
          </p:nvSpPr>
          <p:spPr>
            <a:xfrm>
              <a:off x="7232904" y="2842260"/>
              <a:ext cx="269905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Docker servisi hazır olmadan önce</a:t>
              </a:r>
            </a:p>
          </p:txBody>
        </p:sp>
        <p:sp>
          <p:nvSpPr>
            <p:cNvPr id="37" name="TextBox 37"/>
            <p:cNvSpPr txBox="1"/>
            <p:nvPr/>
          </p:nvSpPr>
          <p:spPr>
            <a:xfrm>
              <a:off x="7232904" y="3051810"/>
              <a:ext cx="239226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Compose komutunun çalışması</a:t>
              </a:r>
            </a:p>
          </p:txBody>
        </p:sp>
        <p:sp>
          <p:nvSpPr>
            <p:cNvPr id="38" name="TextBox 38"/>
            <p:cNvSpPr txBox="1"/>
            <p:nvPr/>
          </p:nvSpPr>
          <p:spPr>
            <a:xfrm>
              <a:off x="7232904" y="3261360"/>
              <a:ext cx="144185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başarısız olurdu.</a:t>
              </a:r>
            </a:p>
          </p:txBody>
        </p:sp>
        <p:sp>
          <p:nvSpPr>
            <p:cNvPr id="39" name="Rectangle 39"/>
            <p:cNvSpPr/>
            <p:nvPr/>
          </p:nvSpPr>
          <p:spPr>
            <a:xfrm>
              <a:off x="7010400" y="3695700"/>
              <a:ext cx="4572000" cy="1143000"/>
            </a:xfrm>
            <a:prstGeom prst="roundRect">
              <a:avLst>
                <a:gd name="adj" fmla="val 6667"/>
              </a:avLst>
            </a:prstGeom>
            <a:solidFill>
              <a:srgbClr val="FFFFFF"/>
            </a:solidFill>
            <a:ln w="14288">
              <a:solidFill>
                <a:srgbClr val="B8CBD3"/>
              </a:solidFill>
            </a:ln>
          </p:spPr>
        </p:sp>
        <p:sp>
          <p:nvSpPr>
            <p:cNvPr id="40" name="TextBox 40"/>
            <p:cNvSpPr txBox="1"/>
            <p:nvPr/>
          </p:nvSpPr>
          <p:spPr>
            <a:xfrm>
              <a:off x="7232142" y="3835718"/>
              <a:ext cx="2809285"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enable --now: kalıcı + anında</a:t>
              </a:r>
            </a:p>
          </p:txBody>
        </p:sp>
        <p:sp>
          <p:nvSpPr>
            <p:cNvPr id="41" name="TextBox 41"/>
            <p:cNvSpPr txBox="1"/>
            <p:nvPr/>
          </p:nvSpPr>
          <p:spPr>
            <a:xfrm>
              <a:off x="7232904" y="4099560"/>
              <a:ext cx="287152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enable yalnızca açılışta başlatmayı</a:t>
              </a:r>
            </a:p>
          </p:txBody>
        </p:sp>
        <p:sp>
          <p:nvSpPr>
            <p:cNvPr id="42" name="TextBox 42"/>
            <p:cNvSpPr txBox="1"/>
            <p:nvPr/>
          </p:nvSpPr>
          <p:spPr>
            <a:xfrm>
              <a:off x="7232904" y="4309110"/>
              <a:ext cx="312191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kaydeder; --now bayrağı servisi hemen</a:t>
              </a:r>
            </a:p>
          </p:txBody>
        </p:sp>
        <p:sp>
          <p:nvSpPr>
            <p:cNvPr id="43" name="TextBox 43"/>
            <p:cNvSpPr txBox="1"/>
            <p:nvPr/>
          </p:nvSpPr>
          <p:spPr>
            <a:xfrm>
              <a:off x="7232904" y="4518660"/>
              <a:ext cx="99761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 başlatır.</a:t>
              </a:r>
            </a:p>
          </p:txBody>
        </p:sp>
      </p:grpSp>
      <p:grpSp>
        <p:nvGrpSpPr>
          <p:cNvPr id="51" name="closing-note"/>
          <p:cNvGrpSpPr/>
          <p:nvPr/>
        </p:nvGrpSpPr>
        <p:grpSpPr>
          <a:xfrm>
            <a:off x="609600" y="5143500"/>
            <a:ext cx="10972800" cy="1143000"/>
            <a:chOff x="609600" y="5143500"/>
            <a:chExt cx="10972800" cy="1143000"/>
          </a:xfrm>
        </p:grpSpPr>
        <p:sp>
          <p:nvSpPr>
            <p:cNvPr id="45" name="Rectangle 45"/>
            <p:cNvSpPr/>
            <p:nvPr/>
          </p:nvSpPr>
          <p:spPr>
            <a:xfrm>
              <a:off x="609600" y="5143500"/>
              <a:ext cx="10972800" cy="1143000"/>
            </a:xfrm>
            <a:prstGeom prst="roundRect">
              <a:avLst>
                <a:gd name="adj" fmla="val 6667"/>
              </a:avLst>
            </a:prstGeom>
            <a:solidFill>
              <a:srgbClr val="EAF4F6"/>
            </a:solidFill>
            <a:ln>
              <a:noFill/>
            </a:ln>
          </p:spPr>
        </p:sp>
        <p:sp>
          <p:nvSpPr>
            <p:cNvPr id="46" name="Rectangle 46"/>
            <p:cNvSpPr/>
            <p:nvPr/>
          </p:nvSpPr>
          <p:spPr>
            <a:xfrm>
              <a:off x="609600" y="5143500"/>
              <a:ext cx="57150" cy="1143000"/>
            </a:xfrm>
            <a:prstGeom prst="rect">
              <a:avLst/>
            </a:prstGeom>
            <a:solidFill>
              <a:srgbClr val="00A6A6"/>
            </a:solidFill>
            <a:ln>
              <a:noFill/>
            </a:ln>
          </p:spPr>
        </p:sp>
        <p:sp>
          <p:nvSpPr>
            <p:cNvPr id="47" name="TextBox 47"/>
            <p:cNvSpPr txBox="1"/>
            <p:nvPr/>
          </p:nvSpPr>
          <p:spPr>
            <a:xfrm>
              <a:off x="906399" y="5278279"/>
              <a:ext cx="600104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systemd, SSH oturumundan bağımsız bir denetleyicidir</a:t>
              </a:r>
            </a:p>
          </p:txBody>
        </p:sp>
        <p:sp>
          <p:nvSpPr>
            <p:cNvPr id="48" name="TextBox 48"/>
            <p:cNvSpPr txBox="1"/>
            <p:nvPr/>
          </p:nvSpPr>
          <p:spPr>
            <a:xfrm>
              <a:off x="908304" y="5585460"/>
              <a:ext cx="637702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journalctl -u kutuphane.service ile bu servisin ürettiği tüm loglar zaman damgalı</a:t>
              </a:r>
            </a:p>
          </p:txBody>
        </p:sp>
        <p:sp>
          <p:nvSpPr>
            <p:cNvPr id="49" name="TextBox 49"/>
            <p:cNvSpPr txBox="1"/>
            <p:nvPr/>
          </p:nvSpPr>
          <p:spPr>
            <a:xfrm>
              <a:off x="908304" y="5795010"/>
              <a:ext cx="172455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olarak sorgulanabilir.</a:t>
              </a:r>
            </a:p>
          </p:txBody>
        </p:sp>
        <p:sp>
          <p:nvSpPr>
            <p:cNvPr id="50" name="TextBox 50"/>
            <p:cNvSpPr txBox="1"/>
            <p:nvPr/>
          </p:nvSpPr>
          <p:spPr>
            <a:xfrm>
              <a:off x="908304" y="6042660"/>
              <a:ext cx="483933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Sunucu yeniden başlasa bile servis kendiliğinden ayağa kalkar.</a:t>
              </a:r>
            </a:p>
          </p:txBody>
        </p:sp>
      </p:grpSp>
      <p:sp>
        <p:nvSpPr>
          <p:cNvPr id="52" name="TextBox 5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24</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896387" cy="668845"/>
            <a:chOff x="609600" y="171450"/>
            <a:chExt cx="8896387"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820601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Dağıtım denetimi: Go-Live kontrol listesi</a:t>
              </a:r>
            </a:p>
          </p:txBody>
        </p:sp>
      </p:grpSp>
      <p:grpSp>
        <p:nvGrpSpPr>
          <p:cNvPr id="37" name="col-left"/>
          <p:cNvGrpSpPr/>
          <p:nvPr/>
        </p:nvGrpSpPr>
        <p:grpSpPr>
          <a:xfrm>
            <a:off x="609600" y="1181100"/>
            <a:ext cx="5257800" cy="4476750"/>
            <a:chOff x="609600" y="1181100"/>
            <a:chExt cx="5257800" cy="4476750"/>
          </a:xfrm>
        </p:grpSpPr>
        <p:grpSp>
          <p:nvGrpSpPr>
            <p:cNvPr id="15" name="check-1"/>
            <p:cNvGrpSpPr/>
            <p:nvPr/>
          </p:nvGrpSpPr>
          <p:grpSpPr>
            <a:xfrm>
              <a:off x="609600" y="1181100"/>
              <a:ext cx="5257800" cy="1047750"/>
              <a:chOff x="609600" y="1181100"/>
              <a:chExt cx="5257800" cy="1047750"/>
            </a:xfrm>
          </p:grpSpPr>
          <p:sp>
            <p:nvSpPr>
              <p:cNvPr id="9" name="Rectangle 9"/>
              <p:cNvSpPr/>
              <p:nvPr/>
            </p:nvSpPr>
            <p:spPr>
              <a:xfrm>
                <a:off x="609600" y="1181100"/>
                <a:ext cx="5257800" cy="1047750"/>
              </a:xfrm>
              <a:prstGeom prst="roundRect">
                <a:avLst>
                  <a:gd name="adj" fmla="val 7273"/>
                </a:avLst>
              </a:prstGeom>
              <a:solidFill>
                <a:srgbClr val="FFFFFF"/>
              </a:solidFill>
              <a:ln w="14288">
                <a:solidFill>
                  <a:srgbClr val="B8CBD3"/>
                </a:solidFill>
              </a:ln>
            </p:spPr>
          </p:sp>
          <p:sp>
            <p:nvSpPr>
              <p:cNvPr id="10" name="Ellipse 10"/>
              <p:cNvSpPr/>
              <p:nvPr/>
            </p:nvSpPr>
            <p:spPr>
              <a:xfrm>
                <a:off x="819150" y="1295400"/>
                <a:ext cx="266700" cy="266700"/>
              </a:xfrm>
              <a:prstGeom prst="ellipse">
                <a:avLst/>
              </a:prstGeom>
              <a:solidFill>
                <a:srgbClr val="00A6A6"/>
              </a:solidFill>
              <a:ln>
                <a:noFill/>
              </a:ln>
            </p:spPr>
          </p:sp>
          <p:sp>
            <p:nvSpPr>
              <p:cNvPr id="11" name="TextBox 11"/>
              <p:cNvSpPr txBox="1"/>
              <p:nvPr/>
            </p:nvSpPr>
            <p:spPr>
              <a:xfrm>
                <a:off x="861593" y="1356360"/>
                <a:ext cx="181813"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a:t>
                </a:r>
              </a:p>
            </p:txBody>
          </p:sp>
          <p:sp>
            <p:nvSpPr>
              <p:cNvPr id="12" name="TextBox 12"/>
              <p:cNvSpPr txBox="1"/>
              <p:nvPr/>
            </p:nvSpPr>
            <p:spPr>
              <a:xfrm>
                <a:off x="1212342" y="1340168"/>
                <a:ext cx="309840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Gizli anahtarlar Git'e girmedi mi?</a:t>
                </a:r>
              </a:p>
            </p:txBody>
          </p:sp>
          <p:sp>
            <p:nvSpPr>
              <p:cNvPr id="13" name="TextBox 13"/>
              <p:cNvSpPr txBox="1"/>
              <p:nvPr/>
            </p:nvSpPr>
            <p:spPr>
              <a:xfrm>
                <a:off x="832104" y="1680210"/>
                <a:ext cx="248381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.env dosyası .gitignore içinde;</a:t>
                </a:r>
              </a:p>
            </p:txBody>
          </p:sp>
          <p:sp>
            <p:nvSpPr>
              <p:cNvPr id="14" name="TextBox 14"/>
              <p:cNvSpPr txBox="1"/>
              <p:nvPr/>
            </p:nvSpPr>
            <p:spPr>
              <a:xfrm>
                <a:off x="832104" y="1889760"/>
                <a:ext cx="312375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JWT_SECRET yalnızca ortamda tutulur.</a:t>
                </a:r>
              </a:p>
            </p:txBody>
          </p:sp>
        </p:grpSp>
        <p:grpSp>
          <p:nvGrpSpPr>
            <p:cNvPr id="22" name="check-2"/>
            <p:cNvGrpSpPr/>
            <p:nvPr/>
          </p:nvGrpSpPr>
          <p:grpSpPr>
            <a:xfrm>
              <a:off x="609600" y="2324100"/>
              <a:ext cx="5257800" cy="1047750"/>
              <a:chOff x="609600" y="2324100"/>
              <a:chExt cx="5257800" cy="1047750"/>
            </a:xfrm>
          </p:grpSpPr>
          <p:sp>
            <p:nvSpPr>
              <p:cNvPr id="16" name="Rectangle 16"/>
              <p:cNvSpPr/>
              <p:nvPr/>
            </p:nvSpPr>
            <p:spPr>
              <a:xfrm>
                <a:off x="609600" y="2324100"/>
                <a:ext cx="5257800" cy="1047750"/>
              </a:xfrm>
              <a:prstGeom prst="roundRect">
                <a:avLst>
                  <a:gd name="adj" fmla="val 7273"/>
                </a:avLst>
              </a:prstGeom>
              <a:solidFill>
                <a:srgbClr val="FFFFFF"/>
              </a:solidFill>
              <a:ln w="14288">
                <a:solidFill>
                  <a:srgbClr val="B8CBD3"/>
                </a:solidFill>
              </a:ln>
            </p:spPr>
          </p:sp>
          <p:sp>
            <p:nvSpPr>
              <p:cNvPr id="17" name="Ellipse 17"/>
              <p:cNvSpPr/>
              <p:nvPr/>
            </p:nvSpPr>
            <p:spPr>
              <a:xfrm>
                <a:off x="819150" y="2438400"/>
                <a:ext cx="266700" cy="266700"/>
              </a:xfrm>
              <a:prstGeom prst="ellipse">
                <a:avLst/>
              </a:prstGeom>
              <a:solidFill>
                <a:srgbClr val="00A6A6"/>
              </a:solidFill>
              <a:ln>
                <a:noFill/>
              </a:ln>
            </p:spPr>
          </p:sp>
          <p:sp>
            <p:nvSpPr>
              <p:cNvPr id="18" name="TextBox 18"/>
              <p:cNvSpPr txBox="1"/>
              <p:nvPr/>
            </p:nvSpPr>
            <p:spPr>
              <a:xfrm>
                <a:off x="861593" y="2499360"/>
                <a:ext cx="181813"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a:t>
                </a:r>
              </a:p>
            </p:txBody>
          </p:sp>
          <p:sp>
            <p:nvSpPr>
              <p:cNvPr id="19" name="TextBox 19"/>
              <p:cNvSpPr txBox="1"/>
              <p:nvPr/>
            </p:nvSpPr>
            <p:spPr>
              <a:xfrm>
                <a:off x="1212342" y="2483168"/>
                <a:ext cx="3130666"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Veritabanı portu dışa kapalı mı?</a:t>
                </a:r>
              </a:p>
            </p:txBody>
          </p:sp>
          <p:sp>
            <p:nvSpPr>
              <p:cNvPr id="20" name="TextBox 20"/>
              <p:cNvSpPr txBox="1"/>
              <p:nvPr/>
            </p:nvSpPr>
            <p:spPr>
              <a:xfrm>
                <a:off x="832104" y="2823210"/>
                <a:ext cx="309768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5432/3000 yalnızca 127.0.0.1'e bağlı;</a:t>
                </a:r>
              </a:p>
            </p:txBody>
          </p:sp>
          <p:sp>
            <p:nvSpPr>
              <p:cNvPr id="21" name="TextBox 21"/>
              <p:cNvSpPr txBox="1"/>
              <p:nvPr/>
            </p:nvSpPr>
            <p:spPr>
              <a:xfrm>
                <a:off x="832104" y="3032760"/>
                <a:ext cx="239743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UFW yalnızca 22/80/443 açık.</a:t>
                </a:r>
              </a:p>
            </p:txBody>
          </p:sp>
        </p:grpSp>
        <p:grpSp>
          <p:nvGrpSpPr>
            <p:cNvPr id="29" name="check-3"/>
            <p:cNvGrpSpPr/>
            <p:nvPr/>
          </p:nvGrpSpPr>
          <p:grpSpPr>
            <a:xfrm>
              <a:off x="609600" y="3467100"/>
              <a:ext cx="5257800" cy="1047750"/>
              <a:chOff x="609600" y="3467100"/>
              <a:chExt cx="5257800" cy="1047750"/>
            </a:xfrm>
          </p:grpSpPr>
          <p:sp>
            <p:nvSpPr>
              <p:cNvPr id="23" name="Rectangle 23"/>
              <p:cNvSpPr/>
              <p:nvPr/>
            </p:nvSpPr>
            <p:spPr>
              <a:xfrm>
                <a:off x="609600" y="3467100"/>
                <a:ext cx="5257800" cy="1047750"/>
              </a:xfrm>
              <a:prstGeom prst="roundRect">
                <a:avLst>
                  <a:gd name="adj" fmla="val 7273"/>
                </a:avLst>
              </a:prstGeom>
              <a:solidFill>
                <a:srgbClr val="FFFFFF"/>
              </a:solidFill>
              <a:ln w="14288">
                <a:solidFill>
                  <a:srgbClr val="B8CBD3"/>
                </a:solidFill>
              </a:ln>
            </p:spPr>
          </p:sp>
          <p:sp>
            <p:nvSpPr>
              <p:cNvPr id="24" name="Ellipse 24"/>
              <p:cNvSpPr/>
              <p:nvPr/>
            </p:nvSpPr>
            <p:spPr>
              <a:xfrm>
                <a:off x="819150" y="3581400"/>
                <a:ext cx="266700" cy="266700"/>
              </a:xfrm>
              <a:prstGeom prst="ellipse">
                <a:avLst/>
              </a:prstGeom>
              <a:solidFill>
                <a:srgbClr val="00A6A6"/>
              </a:solidFill>
              <a:ln>
                <a:noFill/>
              </a:ln>
            </p:spPr>
          </p:sp>
          <p:sp>
            <p:nvSpPr>
              <p:cNvPr id="25" name="TextBox 25"/>
              <p:cNvSpPr txBox="1"/>
              <p:nvPr/>
            </p:nvSpPr>
            <p:spPr>
              <a:xfrm>
                <a:off x="861593" y="3642360"/>
                <a:ext cx="181813"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a:t>
                </a:r>
              </a:p>
            </p:txBody>
          </p:sp>
          <p:sp>
            <p:nvSpPr>
              <p:cNvPr id="26" name="TextBox 26"/>
              <p:cNvSpPr txBox="1"/>
              <p:nvPr/>
            </p:nvSpPr>
            <p:spPr>
              <a:xfrm>
                <a:off x="1212342" y="3626168"/>
                <a:ext cx="1726913"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HTTPS zorunlu mu?</a:t>
                </a:r>
              </a:p>
            </p:txBody>
          </p:sp>
          <p:sp>
            <p:nvSpPr>
              <p:cNvPr id="27" name="TextBox 27"/>
              <p:cNvSpPr txBox="1"/>
              <p:nvPr/>
            </p:nvSpPr>
            <p:spPr>
              <a:xfrm>
                <a:off x="832104" y="3966210"/>
                <a:ext cx="287152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80'den 443'e 301 yönlendirme aktif;</a:t>
                </a:r>
              </a:p>
            </p:txBody>
          </p:sp>
          <p:sp>
            <p:nvSpPr>
              <p:cNvPr id="28" name="TextBox 28"/>
              <p:cNvSpPr txBox="1"/>
              <p:nvPr/>
            </p:nvSpPr>
            <p:spPr>
              <a:xfrm>
                <a:off x="832104" y="4175760"/>
                <a:ext cx="205572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certbot.timer çalışıyor.</a:t>
                </a:r>
              </a:p>
            </p:txBody>
          </p:sp>
        </p:grpSp>
        <p:grpSp>
          <p:nvGrpSpPr>
            <p:cNvPr id="36" name="check-4"/>
            <p:cNvGrpSpPr/>
            <p:nvPr/>
          </p:nvGrpSpPr>
          <p:grpSpPr>
            <a:xfrm>
              <a:off x="609600" y="4610100"/>
              <a:ext cx="5257800" cy="1047750"/>
              <a:chOff x="609600" y="4610100"/>
              <a:chExt cx="5257800" cy="1047750"/>
            </a:xfrm>
          </p:grpSpPr>
          <p:sp>
            <p:nvSpPr>
              <p:cNvPr id="30" name="Rectangle 30"/>
              <p:cNvSpPr/>
              <p:nvPr/>
            </p:nvSpPr>
            <p:spPr>
              <a:xfrm>
                <a:off x="609600" y="4610100"/>
                <a:ext cx="5257800" cy="1047750"/>
              </a:xfrm>
              <a:prstGeom prst="roundRect">
                <a:avLst>
                  <a:gd name="adj" fmla="val 7273"/>
                </a:avLst>
              </a:prstGeom>
              <a:solidFill>
                <a:srgbClr val="FFFFFF"/>
              </a:solidFill>
              <a:ln w="14288">
                <a:solidFill>
                  <a:srgbClr val="B8CBD3"/>
                </a:solidFill>
              </a:ln>
            </p:spPr>
          </p:sp>
          <p:sp>
            <p:nvSpPr>
              <p:cNvPr id="31" name="Ellipse 31"/>
              <p:cNvSpPr/>
              <p:nvPr/>
            </p:nvSpPr>
            <p:spPr>
              <a:xfrm>
                <a:off x="819150" y="4724400"/>
                <a:ext cx="266700" cy="266700"/>
              </a:xfrm>
              <a:prstGeom prst="ellipse">
                <a:avLst/>
              </a:prstGeom>
              <a:solidFill>
                <a:srgbClr val="00A6A6"/>
              </a:solidFill>
              <a:ln>
                <a:noFill/>
              </a:ln>
            </p:spPr>
          </p:sp>
          <p:sp>
            <p:nvSpPr>
              <p:cNvPr id="32" name="TextBox 32"/>
              <p:cNvSpPr txBox="1"/>
              <p:nvPr/>
            </p:nvSpPr>
            <p:spPr>
              <a:xfrm>
                <a:off x="861593" y="4785360"/>
                <a:ext cx="181813"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a:t>
                </a:r>
              </a:p>
            </p:txBody>
          </p:sp>
          <p:sp>
            <p:nvSpPr>
              <p:cNvPr id="33" name="TextBox 33"/>
              <p:cNvSpPr txBox="1"/>
              <p:nvPr/>
            </p:nvSpPr>
            <p:spPr>
              <a:xfrm>
                <a:off x="1212342" y="4769168"/>
                <a:ext cx="3400839"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/saglik gerçek bir yanıt veriyor mu?</a:t>
                </a:r>
              </a:p>
            </p:txBody>
          </p:sp>
          <p:sp>
            <p:nvSpPr>
              <p:cNvPr id="34" name="TextBox 34"/>
              <p:cNvSpPr txBox="1"/>
              <p:nvPr/>
            </p:nvSpPr>
            <p:spPr>
              <a:xfrm>
                <a:off x="832104" y="5109210"/>
                <a:ext cx="288767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curl ile sunucudan ve dışarıdan test</a:t>
                </a:r>
              </a:p>
            </p:txBody>
          </p:sp>
          <p:sp>
            <p:nvSpPr>
              <p:cNvPr id="35" name="TextBox 35"/>
              <p:cNvSpPr txBox="1"/>
              <p:nvPr/>
            </p:nvSpPr>
            <p:spPr>
              <a:xfrm>
                <a:off x="832104" y="5318760"/>
                <a:ext cx="262112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edildi; veritabanı yanıt veriyor.</a:t>
                </a:r>
              </a:p>
            </p:txBody>
          </p:sp>
        </p:grpSp>
      </p:grpSp>
      <p:grpSp>
        <p:nvGrpSpPr>
          <p:cNvPr id="64" name="col-right"/>
          <p:cNvGrpSpPr/>
          <p:nvPr/>
        </p:nvGrpSpPr>
        <p:grpSpPr>
          <a:xfrm>
            <a:off x="6324600" y="1181100"/>
            <a:ext cx="5257800" cy="4476750"/>
            <a:chOff x="6324600" y="1181100"/>
            <a:chExt cx="5257800" cy="4476750"/>
          </a:xfrm>
        </p:grpSpPr>
        <p:grpSp>
          <p:nvGrpSpPr>
            <p:cNvPr id="44" name="check-5"/>
            <p:cNvGrpSpPr/>
            <p:nvPr/>
          </p:nvGrpSpPr>
          <p:grpSpPr>
            <a:xfrm>
              <a:off x="6324600" y="1181100"/>
              <a:ext cx="5257800" cy="1047750"/>
              <a:chOff x="6324600" y="1181100"/>
              <a:chExt cx="5257800" cy="1047750"/>
            </a:xfrm>
          </p:grpSpPr>
          <p:sp>
            <p:nvSpPr>
              <p:cNvPr id="38" name="Rectangle 38"/>
              <p:cNvSpPr/>
              <p:nvPr/>
            </p:nvSpPr>
            <p:spPr>
              <a:xfrm>
                <a:off x="6324600" y="1181100"/>
                <a:ext cx="5257800" cy="1047750"/>
              </a:xfrm>
              <a:prstGeom prst="roundRect">
                <a:avLst>
                  <a:gd name="adj" fmla="val 7273"/>
                </a:avLst>
              </a:prstGeom>
              <a:solidFill>
                <a:srgbClr val="FFFFFF"/>
              </a:solidFill>
              <a:ln w="14288">
                <a:solidFill>
                  <a:srgbClr val="B8CBD3"/>
                </a:solidFill>
              </a:ln>
            </p:spPr>
          </p:sp>
          <p:sp>
            <p:nvSpPr>
              <p:cNvPr id="39" name="Ellipse 39"/>
              <p:cNvSpPr/>
              <p:nvPr/>
            </p:nvSpPr>
            <p:spPr>
              <a:xfrm>
                <a:off x="6534150" y="1295400"/>
                <a:ext cx="266700" cy="266700"/>
              </a:xfrm>
              <a:prstGeom prst="ellipse">
                <a:avLst/>
              </a:prstGeom>
              <a:solidFill>
                <a:srgbClr val="00A6A6"/>
              </a:solidFill>
              <a:ln>
                <a:noFill/>
              </a:ln>
            </p:spPr>
          </p:sp>
          <p:sp>
            <p:nvSpPr>
              <p:cNvPr id="40" name="TextBox 40"/>
              <p:cNvSpPr txBox="1"/>
              <p:nvPr/>
            </p:nvSpPr>
            <p:spPr>
              <a:xfrm>
                <a:off x="6576593" y="1356360"/>
                <a:ext cx="181813"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a:t>
                </a:r>
              </a:p>
            </p:txBody>
          </p:sp>
          <p:sp>
            <p:nvSpPr>
              <p:cNvPr id="41" name="TextBox 41"/>
              <p:cNvSpPr txBox="1"/>
              <p:nvPr/>
            </p:nvSpPr>
            <p:spPr>
              <a:xfrm>
                <a:off x="6927342" y="1340168"/>
                <a:ext cx="3028733"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systemd servisi enable edildi mi?</a:t>
                </a:r>
              </a:p>
            </p:txBody>
          </p:sp>
          <p:sp>
            <p:nvSpPr>
              <p:cNvPr id="42" name="TextBox 42"/>
              <p:cNvSpPr txBox="1"/>
              <p:nvPr/>
            </p:nvSpPr>
            <p:spPr>
              <a:xfrm>
                <a:off x="6547104" y="1680210"/>
                <a:ext cx="299267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systemctl enable --now çalıştırıldı;</a:t>
                </a:r>
              </a:p>
            </p:txBody>
          </p:sp>
          <p:sp>
            <p:nvSpPr>
              <p:cNvPr id="43" name="TextBox 43"/>
              <p:cNvSpPr txBox="1"/>
              <p:nvPr/>
            </p:nvSpPr>
            <p:spPr>
              <a:xfrm>
                <a:off x="6547104" y="1889760"/>
                <a:ext cx="207187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reboot sonrası da başlar.</a:t>
                </a:r>
              </a:p>
            </p:txBody>
          </p:sp>
        </p:grpSp>
        <p:grpSp>
          <p:nvGrpSpPr>
            <p:cNvPr id="51" name="check-6"/>
            <p:cNvGrpSpPr/>
            <p:nvPr/>
          </p:nvGrpSpPr>
          <p:grpSpPr>
            <a:xfrm>
              <a:off x="6324600" y="2324100"/>
              <a:ext cx="5257800" cy="1047750"/>
              <a:chOff x="6324600" y="2324100"/>
              <a:chExt cx="5257800" cy="1047750"/>
            </a:xfrm>
          </p:grpSpPr>
          <p:sp>
            <p:nvSpPr>
              <p:cNvPr id="45" name="Rectangle 45"/>
              <p:cNvSpPr/>
              <p:nvPr/>
            </p:nvSpPr>
            <p:spPr>
              <a:xfrm>
                <a:off x="6324600" y="2324100"/>
                <a:ext cx="5257800" cy="1047750"/>
              </a:xfrm>
              <a:prstGeom prst="roundRect">
                <a:avLst>
                  <a:gd name="adj" fmla="val 7273"/>
                </a:avLst>
              </a:prstGeom>
              <a:solidFill>
                <a:srgbClr val="FFFFFF"/>
              </a:solidFill>
              <a:ln w="14288">
                <a:solidFill>
                  <a:srgbClr val="B8CBD3"/>
                </a:solidFill>
              </a:ln>
            </p:spPr>
          </p:sp>
          <p:sp>
            <p:nvSpPr>
              <p:cNvPr id="46" name="Ellipse 46"/>
              <p:cNvSpPr/>
              <p:nvPr/>
            </p:nvSpPr>
            <p:spPr>
              <a:xfrm>
                <a:off x="6534150" y="2438400"/>
                <a:ext cx="266700" cy="266700"/>
              </a:xfrm>
              <a:prstGeom prst="ellipse">
                <a:avLst/>
              </a:prstGeom>
              <a:solidFill>
                <a:srgbClr val="00A6A6"/>
              </a:solidFill>
              <a:ln>
                <a:noFill/>
              </a:ln>
            </p:spPr>
          </p:sp>
          <p:sp>
            <p:nvSpPr>
              <p:cNvPr id="47" name="TextBox 47"/>
              <p:cNvSpPr txBox="1"/>
              <p:nvPr/>
            </p:nvSpPr>
            <p:spPr>
              <a:xfrm>
                <a:off x="6576593" y="2499360"/>
                <a:ext cx="181813"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a:t>
                </a:r>
              </a:p>
            </p:txBody>
          </p:sp>
          <p:sp>
            <p:nvSpPr>
              <p:cNvPr id="48" name="TextBox 48"/>
              <p:cNvSpPr txBox="1"/>
              <p:nvPr/>
            </p:nvSpPr>
            <p:spPr>
              <a:xfrm>
                <a:off x="6927342" y="2483168"/>
                <a:ext cx="3206487"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Loglar kalıcı ve sorgulanabilir mi?</a:t>
                </a:r>
              </a:p>
            </p:txBody>
          </p:sp>
          <p:sp>
            <p:nvSpPr>
              <p:cNvPr id="49" name="TextBox 49"/>
              <p:cNvSpPr txBox="1"/>
              <p:nvPr/>
            </p:nvSpPr>
            <p:spPr>
              <a:xfrm>
                <a:off x="6547104" y="2823210"/>
                <a:ext cx="275844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journalctl -u kutuphane.service ile</a:t>
                </a:r>
              </a:p>
            </p:txBody>
          </p:sp>
          <p:sp>
            <p:nvSpPr>
              <p:cNvPr id="50" name="TextBox 50"/>
              <p:cNvSpPr txBox="1"/>
              <p:nvPr/>
            </p:nvSpPr>
            <p:spPr>
              <a:xfrm>
                <a:off x="6547104" y="3032760"/>
                <a:ext cx="234650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geçmiş olaylar sorgulanabilir.</a:t>
                </a:r>
              </a:p>
            </p:txBody>
          </p:sp>
        </p:grpSp>
        <p:grpSp>
          <p:nvGrpSpPr>
            <p:cNvPr id="58" name="check-7"/>
            <p:cNvGrpSpPr/>
            <p:nvPr/>
          </p:nvGrpSpPr>
          <p:grpSpPr>
            <a:xfrm>
              <a:off x="6324600" y="3467100"/>
              <a:ext cx="5257800" cy="1047750"/>
              <a:chOff x="6324600" y="3467100"/>
              <a:chExt cx="5257800" cy="1047750"/>
            </a:xfrm>
          </p:grpSpPr>
          <p:sp>
            <p:nvSpPr>
              <p:cNvPr id="52" name="Rectangle 52"/>
              <p:cNvSpPr/>
              <p:nvPr/>
            </p:nvSpPr>
            <p:spPr>
              <a:xfrm>
                <a:off x="6324600" y="3467100"/>
                <a:ext cx="5257800" cy="1047750"/>
              </a:xfrm>
              <a:prstGeom prst="roundRect">
                <a:avLst>
                  <a:gd name="adj" fmla="val 7273"/>
                </a:avLst>
              </a:prstGeom>
              <a:solidFill>
                <a:srgbClr val="EAF4F6"/>
              </a:solidFill>
              <a:ln w="14288">
                <a:solidFill>
                  <a:srgbClr val="00A6A6"/>
                </a:solidFill>
              </a:ln>
            </p:spPr>
          </p:sp>
          <p:sp>
            <p:nvSpPr>
              <p:cNvPr id="53" name="Ellipse 53"/>
              <p:cNvSpPr/>
              <p:nvPr/>
            </p:nvSpPr>
            <p:spPr>
              <a:xfrm>
                <a:off x="6534150" y="3581400"/>
                <a:ext cx="266700" cy="266700"/>
              </a:xfrm>
              <a:prstGeom prst="ellipse">
                <a:avLst/>
              </a:prstGeom>
              <a:solidFill>
                <a:srgbClr val="00A6A6"/>
              </a:solidFill>
              <a:ln>
                <a:noFill/>
              </a:ln>
            </p:spPr>
          </p:sp>
          <p:sp>
            <p:nvSpPr>
              <p:cNvPr id="54" name="TextBox 54"/>
              <p:cNvSpPr txBox="1"/>
              <p:nvPr/>
            </p:nvSpPr>
            <p:spPr>
              <a:xfrm>
                <a:off x="6576593" y="3642360"/>
                <a:ext cx="181813"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a:t>
                </a:r>
              </a:p>
            </p:txBody>
          </p:sp>
          <p:sp>
            <p:nvSpPr>
              <p:cNvPr id="55" name="TextBox 55"/>
              <p:cNvSpPr txBox="1"/>
              <p:nvPr/>
            </p:nvSpPr>
            <p:spPr>
              <a:xfrm>
                <a:off x="6927342" y="3626168"/>
                <a:ext cx="3476364"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SSH kilitlenmeye karşı test edildi mi?</a:t>
                </a:r>
              </a:p>
            </p:txBody>
          </p:sp>
          <p:sp>
            <p:nvSpPr>
              <p:cNvPr id="56" name="TextBox 56"/>
              <p:cNvSpPr txBox="1"/>
              <p:nvPr/>
            </p:nvSpPr>
            <p:spPr>
              <a:xfrm>
                <a:off x="6547104" y="3966210"/>
                <a:ext cx="24757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sshd -t ile yapılandırma reload</a:t>
                </a:r>
              </a:p>
            </p:txBody>
          </p:sp>
          <p:sp>
            <p:nvSpPr>
              <p:cNvPr id="57" name="TextBox 57"/>
              <p:cNvSpPr txBox="1"/>
              <p:nvPr/>
            </p:nvSpPr>
            <p:spPr>
              <a:xfrm>
                <a:off x="6547104" y="4175760"/>
                <a:ext cx="274228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öncesi test edildi; oturum açıktı.</a:t>
                </a:r>
              </a:p>
            </p:txBody>
          </p:sp>
        </p:grpSp>
        <p:grpSp>
          <p:nvGrpSpPr>
            <p:cNvPr id="63" name="mentor-note"/>
            <p:cNvGrpSpPr/>
            <p:nvPr/>
          </p:nvGrpSpPr>
          <p:grpSpPr>
            <a:xfrm>
              <a:off x="6324600" y="4610100"/>
              <a:ext cx="5257800" cy="1047750"/>
              <a:chOff x="6324600" y="4610100"/>
              <a:chExt cx="5257800" cy="1047750"/>
            </a:xfrm>
          </p:grpSpPr>
          <p:sp>
            <p:nvSpPr>
              <p:cNvPr id="59" name="Rectangle 59"/>
              <p:cNvSpPr/>
              <p:nvPr/>
            </p:nvSpPr>
            <p:spPr>
              <a:xfrm>
                <a:off x="6324600" y="4610100"/>
                <a:ext cx="5257800" cy="1047750"/>
              </a:xfrm>
              <a:prstGeom prst="roundRect">
                <a:avLst>
                  <a:gd name="adj" fmla="val 7273"/>
                </a:avLst>
              </a:prstGeom>
              <a:solidFill>
                <a:srgbClr val="12355B"/>
              </a:solidFill>
              <a:ln>
                <a:noFill/>
              </a:ln>
            </p:spPr>
          </p:sp>
          <p:sp>
            <p:nvSpPr>
              <p:cNvPr id="60" name="TextBox 60"/>
              <p:cNvSpPr txBox="1"/>
              <p:nvPr/>
            </p:nvSpPr>
            <p:spPr>
              <a:xfrm>
                <a:off x="6584442" y="4750118"/>
                <a:ext cx="1165140" cy="264033"/>
              </a:xfrm>
              <a:prstGeom prst="rect">
                <a:avLst/>
              </a:prstGeom>
              <a:noFill/>
              <a:ln>
                <a:noFill/>
              </a:ln>
            </p:spPr>
            <p:txBody>
              <a:bodyPr wrap="none" lIns="0" tIns="0" rIns="0" bIns="0" anchor="t" anchorCtr="0">
                <a:spAutoFit/>
              </a:bodyPr>
              <a:lstStyle/>
              <a:p>
                <a:pPr algn="l"/>
                <a:r>
                  <a:rPr lang="tr-TR" sz="1350" b="1" dirty="0">
                    <a:solidFill>
                      <a:srgbClr val="00A6A6"/>
                    </a:solidFill>
                    <a:latin typeface="+mn-lt"/>
                    <a:ea typeface="+mn-ea"/>
                    <a:cs typeface="+mn-cs"/>
                  </a:rPr>
                  <a:t>Mentor notu</a:t>
                </a:r>
              </a:p>
            </p:txBody>
          </p:sp>
          <p:sp>
            <p:nvSpPr>
              <p:cNvPr id="61" name="TextBox 61"/>
              <p:cNvSpPr txBox="1"/>
              <p:nvPr/>
            </p:nvSpPr>
            <p:spPr>
              <a:xfrm>
                <a:off x="6585204" y="5033010"/>
                <a:ext cx="324897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"Kod çalışıyor" ile "production'a hazır"</a:t>
                </a:r>
              </a:p>
            </p:txBody>
          </p:sp>
          <p:sp>
            <p:nvSpPr>
              <p:cNvPr id="62" name="TextBox 62"/>
              <p:cNvSpPr txBox="1"/>
              <p:nvPr/>
            </p:nvSpPr>
            <p:spPr>
              <a:xfrm>
                <a:off x="6585204" y="5242560"/>
                <a:ext cx="337230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farkı, bu listenin imzalanabilir olmasıdır.</a:t>
                </a:r>
              </a:p>
            </p:txBody>
          </p:sp>
        </p:grpSp>
      </p:grpSp>
      <p:sp>
        <p:nvSpPr>
          <p:cNvPr id="65" name="TextBox 6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24</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527853" cy="668845"/>
            <a:chOff x="609600" y="171450"/>
            <a:chExt cx="852785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83748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anti-pattern'lar</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37513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MİMARİ ÇÖZÜM</a:t>
              </a:r>
            </a:p>
          </p:txBody>
        </p:sp>
      </p:grpSp>
      <p:grpSp>
        <p:nvGrpSpPr>
          <p:cNvPr id="21" name="fallacy-ps"/>
          <p:cNvGrpSpPr/>
          <p:nvPr/>
        </p:nvGrpSpPr>
        <p:grpSpPr>
          <a:xfrm>
            <a:off x="609600" y="1849279"/>
            <a:ext cx="10972800" cy="1313021"/>
            <a:chOff x="609600" y="1849279"/>
            <a:chExt cx="10972800" cy="1313021"/>
          </a:xfrm>
        </p:grpSpPr>
        <p:sp>
          <p:nvSpPr>
            <p:cNvPr id="17" name="TextBox 17"/>
            <p:cNvSpPr txBox="1"/>
            <p:nvPr/>
          </p:nvSpPr>
          <p:spPr>
            <a:xfrm>
              <a:off x="753999" y="1849279"/>
              <a:ext cx="2565387"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"docker compose ps</a:t>
              </a:r>
              <a:br/>
              <a:r>
                <a:rPr lang="tr-TR" sz="1580" b="1" dirty="0">
                  <a:solidFill>
                    <a:srgbClr val="12355B"/>
                  </a:solidFill>
                  <a:latin typeface="+mn-lt"/>
                  <a:ea typeface="+mn-ea"/>
                  <a:cs typeface="+mn-cs"/>
                </a:rPr>
                <a:t>Up gösteriyorsa dağıtım</a:t>
              </a:r>
              <a:br/>
              <a:r>
                <a:rPr lang="tr-TR" sz="1580" b="1" dirty="0">
                  <a:solidFill>
                    <a:srgbClr val="12355B"/>
                  </a:solidFill>
                  <a:latin typeface="+mn-lt"/>
                  <a:ea typeface="+mn-ea"/>
                  <a:cs typeface="+mn-cs"/>
                </a:rPr>
                <a:t>başarılıdır."</a:t>
              </a:r>
            </a:p>
          </p:txBody>
        </p:sp>
        <p:sp>
          <p:nvSpPr>
            <p:cNvPr id="18" name="TextBox 18"/>
            <p:cNvSpPr txBox="1"/>
            <p:nvPr/>
          </p:nvSpPr>
          <p:spPr>
            <a:xfrm>
              <a:off x="4375404" y="1889760"/>
              <a:ext cx="30830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Up durumu yalnızca process'in ölmediğini</a:t>
              </a:r>
              <a:br/>
              <a:r>
                <a:rPr lang="tr-TR" sz="1200" dirty="0">
                  <a:solidFill>
                    <a:srgbClr val="172B3A"/>
                  </a:solidFill>
                  <a:latin typeface="+mn-lt"/>
                  <a:ea typeface="+mn-ea"/>
                  <a:cs typeface="+mn-cs"/>
                </a:rPr>
                <a:t>gösterir; uygulama içeride veritabanına</a:t>
              </a:r>
              <a:br/>
              <a:r>
                <a:rPr lang="tr-TR" sz="1200" dirty="0">
                  <a:solidFill>
                    <a:srgbClr val="172B3A"/>
                  </a:solidFill>
                  <a:latin typeface="+mn-lt"/>
                  <a:ea typeface="+mn-ea"/>
                  <a:cs typeface="+mn-cs"/>
                </a:rPr>
                <a:t>bağlanamıyor veya sonsuz döngüde takılı</a:t>
              </a:r>
              <a:br/>
              <a:r>
                <a:rPr lang="tr-TR" sz="1200" dirty="0">
                  <a:solidFill>
                    <a:srgbClr val="172B3A"/>
                  </a:solidFill>
                  <a:latin typeface="+mn-lt"/>
                  <a:ea typeface="+mn-ea"/>
                  <a:cs typeface="+mn-cs"/>
                </a:rPr>
                <a:t>olabilir.</a:t>
              </a:r>
            </a:p>
          </p:txBody>
        </p:sp>
        <p:sp>
          <p:nvSpPr>
            <p:cNvPr id="19" name="TextBox 19"/>
            <p:cNvSpPr txBox="1"/>
            <p:nvPr/>
          </p:nvSpPr>
          <p:spPr>
            <a:xfrm>
              <a:off x="8185404" y="1889760"/>
              <a:ext cx="24201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/saglik uç noktasına gerçek bir</a:t>
              </a:r>
              <a:br/>
              <a:r>
                <a:rPr lang="tr-TR" sz="1200" dirty="0">
                  <a:solidFill>
                    <a:srgbClr val="172B3A"/>
                  </a:solidFill>
                  <a:latin typeface="+mn-lt"/>
                  <a:ea typeface="+mn-ea"/>
                  <a:cs typeface="+mn-cs"/>
                </a:rPr>
                <a:t>HTTP isteği gönderilerek bağımlı</a:t>
              </a:r>
              <a:br/>
              <a:r>
                <a:rPr lang="tr-TR" sz="1200" dirty="0">
                  <a:solidFill>
                    <a:srgbClr val="172B3A"/>
                  </a:solidFill>
                  <a:latin typeface="+mn-lt"/>
                  <a:ea typeface="+mn-ea"/>
                  <a:cs typeface="+mn-cs"/>
                </a:rPr>
                <a:t>servislerin de yanıt verdiği</a:t>
              </a:r>
              <a:br/>
              <a:r>
                <a:rPr lang="tr-TR" sz="1200" dirty="0">
                  <a:solidFill>
                    <a:srgbClr val="172B3A"/>
                  </a:solidFill>
                  <a:latin typeface="+mn-lt"/>
                  <a:ea typeface="+mn-ea"/>
                  <a:cs typeface="+mn-cs"/>
                </a:rPr>
                <a:t>doğrulanmalıdır.</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https"/>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3999" y="3297079"/>
              <a:ext cx="2375764"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"HTTPS kurdum; sistem</a:t>
              </a:r>
              <a:br/>
              <a:r>
                <a:rPr lang="tr-TR" sz="1580" b="1" dirty="0">
                  <a:solidFill>
                    <a:srgbClr val="12355B"/>
                  </a:solidFill>
                  <a:latin typeface="+mn-lt"/>
                  <a:ea typeface="+mn-ea"/>
                  <a:cs typeface="+mn-cs"/>
                </a:rPr>
                <a:t>artık tamamen</a:t>
              </a:r>
              <a:br/>
              <a:r>
                <a:rPr lang="tr-TR" sz="1580" b="1" dirty="0">
                  <a:solidFill>
                    <a:srgbClr val="12355B"/>
                  </a:solidFill>
                  <a:latin typeface="+mn-lt"/>
                  <a:ea typeface="+mn-ea"/>
                  <a:cs typeface="+mn-cs"/>
                </a:rPr>
                <a:t>güvenlidir."</a:t>
              </a:r>
            </a:p>
          </p:txBody>
        </p:sp>
        <p:sp>
          <p:nvSpPr>
            <p:cNvPr id="24" name="TextBox 24"/>
            <p:cNvSpPr txBox="1"/>
            <p:nvPr/>
          </p:nvSpPr>
          <p:spPr>
            <a:xfrm>
              <a:off x="4375404" y="3337560"/>
              <a:ext cx="32202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TLS yalnızca iletim hattını şifreler ve</a:t>
              </a:r>
              <a:br/>
              <a:r>
                <a:rPr lang="tr-TR" sz="1200" dirty="0">
                  <a:solidFill>
                    <a:srgbClr val="172B3A"/>
                  </a:solidFill>
                  <a:latin typeface="+mn-lt"/>
                  <a:ea typeface="+mn-ea"/>
                  <a:cs typeface="+mn-cs"/>
                </a:rPr>
                <a:t>sunucu kimliğini doğrular; SQL enjeksiyonu,</a:t>
              </a:r>
              <a:br/>
              <a:r>
                <a:rPr lang="tr-TR" sz="1200" dirty="0">
                  <a:solidFill>
                    <a:srgbClr val="172B3A"/>
                  </a:solidFill>
                  <a:latin typeface="+mn-lt"/>
                  <a:ea typeface="+mn-ea"/>
                  <a:cs typeface="+mn-cs"/>
                </a:rPr>
                <a:t>açık portlar veya zayıf parolalar gibi</a:t>
              </a:r>
              <a:br/>
              <a:r>
                <a:rPr lang="tr-TR" sz="1200" dirty="0">
                  <a:solidFill>
                    <a:srgbClr val="172B3A"/>
                  </a:solidFill>
                  <a:latin typeface="+mn-lt"/>
                  <a:ea typeface="+mn-ea"/>
                  <a:cs typeface="+mn-cs"/>
                </a:rPr>
                <a:t>açıklara karşı hiçbir koruma sağlamaz.</a:t>
              </a:r>
            </a:p>
          </p:txBody>
        </p:sp>
        <p:sp>
          <p:nvSpPr>
            <p:cNvPr id="25" name="TextBox 25"/>
            <p:cNvSpPr txBox="1"/>
            <p:nvPr/>
          </p:nvSpPr>
          <p:spPr>
            <a:xfrm>
              <a:off x="8185404" y="3337560"/>
              <a:ext cx="25953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HTTPS, UFW ile port kısıtlama,</a:t>
              </a:r>
              <a:br/>
              <a:r>
                <a:rPr lang="tr-TR" sz="1200" dirty="0">
                  <a:solidFill>
                    <a:srgbClr val="172B3A"/>
                  </a:solidFill>
                  <a:latin typeface="+mn-lt"/>
                  <a:ea typeface="+mn-ea"/>
                  <a:cs typeface="+mn-cs"/>
                </a:rPr>
                <a:t>parolasız SSH ve girdi doğrulama</a:t>
              </a:r>
              <a:br/>
              <a:r>
                <a:rPr lang="tr-TR" sz="1200" dirty="0">
                  <a:solidFill>
                    <a:srgbClr val="172B3A"/>
                  </a:solidFill>
                  <a:latin typeface="+mn-lt"/>
                  <a:ea typeface="+mn-ea"/>
                  <a:cs typeface="+mn-cs"/>
                </a:rPr>
                <a:t>gibi katmanlardan yalnızca biridir;</a:t>
              </a:r>
              <a:br/>
              <a:r>
                <a:rPr lang="tr-TR" sz="1200" dirty="0">
                  <a:solidFill>
                    <a:srgbClr val="172B3A"/>
                  </a:solidFill>
                  <a:latin typeface="+mn-lt"/>
                  <a:ea typeface="+mn-ea"/>
                  <a:cs typeface="+mn-cs"/>
                </a:rPr>
                <a:t>tek başına yeterli değildir.</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restart"/>
          <p:cNvGrpSpPr/>
          <p:nvPr/>
        </p:nvGrpSpPr>
        <p:grpSpPr>
          <a:xfrm>
            <a:off x="753999" y="4744879"/>
            <a:ext cx="10346817" cy="903827"/>
            <a:chOff x="753999" y="4744879"/>
            <a:chExt cx="10346817" cy="903827"/>
          </a:xfrm>
        </p:grpSpPr>
        <p:sp>
          <p:nvSpPr>
            <p:cNvPr id="28" name="TextBox 28"/>
            <p:cNvSpPr txBox="1"/>
            <p:nvPr/>
          </p:nvSpPr>
          <p:spPr>
            <a:xfrm>
              <a:off x="753999" y="4744879"/>
              <a:ext cx="2565387"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"Nginx yapılandırmasını</a:t>
              </a:r>
              <a:br/>
              <a:r>
                <a:rPr lang="tr-TR" sz="1580" b="1" dirty="0">
                  <a:solidFill>
                    <a:srgbClr val="12355B"/>
                  </a:solidFill>
                  <a:latin typeface="+mn-lt"/>
                  <a:ea typeface="+mn-ea"/>
                  <a:cs typeface="+mn-cs"/>
                </a:rPr>
                <a:t>değiştirince restart ile</a:t>
              </a:r>
              <a:br/>
              <a:r>
                <a:rPr lang="tr-TR" sz="1580" b="1" dirty="0">
                  <a:solidFill>
                    <a:srgbClr val="12355B"/>
                  </a:solidFill>
                  <a:latin typeface="+mn-lt"/>
                  <a:ea typeface="+mn-ea"/>
                  <a:cs typeface="+mn-cs"/>
                </a:rPr>
                <a:t>uygulamak güvenlidir."</a:t>
              </a:r>
            </a:p>
          </p:txBody>
        </p:sp>
        <p:sp>
          <p:nvSpPr>
            <p:cNvPr id="29" name="TextBox 29"/>
            <p:cNvSpPr txBox="1"/>
            <p:nvPr/>
          </p:nvSpPr>
          <p:spPr>
            <a:xfrm>
              <a:off x="4375404" y="4785360"/>
              <a:ext cx="32506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restart, önce test etmeden mevcut tüm</a:t>
              </a:r>
              <a:br/>
              <a:r>
                <a:rPr lang="tr-TR" sz="1200" dirty="0">
                  <a:solidFill>
                    <a:srgbClr val="172B3A"/>
                  </a:solidFill>
                  <a:latin typeface="+mn-lt"/>
                  <a:ea typeface="+mn-ea"/>
                  <a:cs typeface="+mn-cs"/>
                </a:rPr>
                <a:t>bağlantıları anında keser; yapılandırmada</a:t>
              </a:r>
              <a:br/>
              <a:r>
                <a:rPr lang="tr-TR" sz="1200" dirty="0">
                  <a:solidFill>
                    <a:srgbClr val="172B3A"/>
                  </a:solidFill>
                  <a:latin typeface="+mn-lt"/>
                  <a:ea typeface="+mn-ea"/>
                  <a:cs typeface="+mn-cs"/>
                </a:rPr>
                <a:t>hata varsa Nginx hiç ayağa kalkmayabilir</a:t>
              </a:r>
              <a:br/>
              <a:r>
                <a:rPr lang="tr-TR" sz="1200" dirty="0">
                  <a:solidFill>
                    <a:srgbClr val="172B3A"/>
                  </a:solidFill>
                  <a:latin typeface="+mn-lt"/>
                  <a:ea typeface="+mn-ea"/>
                  <a:cs typeface="+mn-cs"/>
                </a:rPr>
                <a:t>ve siteler kesintiye uğrar.</a:t>
              </a:r>
            </a:p>
          </p:txBody>
        </p:sp>
        <p:sp>
          <p:nvSpPr>
            <p:cNvPr id="30" name="TextBox 30"/>
            <p:cNvSpPr txBox="1"/>
            <p:nvPr/>
          </p:nvSpPr>
          <p:spPr>
            <a:xfrm>
              <a:off x="8185404" y="4785360"/>
              <a:ext cx="29154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Önce nginx -t ile sözdizimi test</a:t>
              </a:r>
              <a:br/>
              <a:r>
                <a:rPr lang="tr-TR" sz="1200" dirty="0">
                  <a:solidFill>
                    <a:srgbClr val="172B3A"/>
                  </a:solidFill>
                  <a:latin typeface="+mn-lt"/>
                  <a:ea typeface="+mn-ea"/>
                  <a:cs typeface="+mn-cs"/>
                </a:rPr>
                <a:t>edilmeli, ardından systemctl</a:t>
              </a:r>
              <a:br/>
              <a:r>
                <a:rPr lang="tr-TR" sz="1200" dirty="0">
                  <a:solidFill>
                    <a:srgbClr val="172B3A"/>
                  </a:solidFill>
                  <a:latin typeface="+mn-lt"/>
                  <a:ea typeface="+mn-ea"/>
                  <a:cs typeface="+mn-cs"/>
                </a:rPr>
                <a:t>reload nginx ile mevcut</a:t>
              </a:r>
              <a:br/>
              <a:r>
                <a:rPr lang="tr-TR" sz="1200" dirty="0">
                  <a:solidFill>
                    <a:srgbClr val="172B3A"/>
                  </a:solidFill>
                  <a:latin typeface="+mn-lt"/>
                  <a:ea typeface="+mn-ea"/>
                  <a:cs typeface="+mn-cs"/>
                </a:rPr>
                <a:t>bağlantılar korunarak uygulanmalıdır.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24</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977925" cy="668845"/>
            <a:chOff x="609600" y="171450"/>
            <a:chExt cx="8977925"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828755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Uçtan uca mini uygulama (Kod 15.9-15.11)</a:t>
              </a:r>
            </a:p>
          </p:txBody>
        </p:sp>
      </p:grpSp>
      <p:grpSp>
        <p:nvGrpSpPr>
          <p:cNvPr id="16" name="def-note"/>
          <p:cNvGrpSpPr/>
          <p:nvPr/>
        </p:nvGrpSpPr>
        <p:grpSpPr>
          <a:xfrm>
            <a:off x="609600" y="1181100"/>
            <a:ext cx="10972800" cy="628650"/>
            <a:chOff x="609600" y="1181100"/>
            <a:chExt cx="10972800" cy="628650"/>
          </a:xfrm>
        </p:grpSpPr>
        <p:sp>
          <p:nvSpPr>
            <p:cNvPr id="12" name="Rectangle 12"/>
            <p:cNvSpPr/>
            <p:nvPr/>
          </p:nvSpPr>
          <p:spPr>
            <a:xfrm>
              <a:off x="609600" y="1181100"/>
              <a:ext cx="10972800" cy="628650"/>
            </a:xfrm>
            <a:prstGeom prst="roundRect">
              <a:avLst>
                <a:gd name="adj" fmla="val 12121"/>
              </a:avLst>
            </a:prstGeom>
            <a:solidFill>
              <a:srgbClr val="EAF4F6"/>
            </a:solidFill>
            <a:ln>
              <a:noFill/>
            </a:ln>
          </p:spPr>
        </p:sp>
        <p:sp>
          <p:nvSpPr>
            <p:cNvPr id="13" name="Rectangle 13"/>
            <p:cNvSpPr/>
            <p:nvPr/>
          </p:nvSpPr>
          <p:spPr>
            <a:xfrm>
              <a:off x="609600" y="1181100"/>
              <a:ext cx="57150" cy="628650"/>
            </a:xfrm>
            <a:prstGeom prst="rect">
              <a:avLst/>
            </a:prstGeom>
            <a:solidFill>
              <a:srgbClr val="00A6A6"/>
            </a:solidFill>
            <a:ln>
              <a:noFill/>
            </a:ln>
          </p:spPr>
        </p:sp>
        <p:sp>
          <p:nvSpPr>
            <p:cNvPr id="14" name="TextBox 14"/>
            <p:cNvSpPr txBox="1"/>
            <p:nvPr/>
          </p:nvSpPr>
          <p:spPr>
            <a:xfrm>
              <a:off x="907542" y="1321118"/>
              <a:ext cx="796089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kutuphane-api'nin SSH bağlantısından tarayıcıda kilit simgesine kadar tam yolculuğu</a:t>
              </a:r>
            </a:p>
          </p:txBody>
        </p:sp>
        <p:sp>
          <p:nvSpPr>
            <p:cNvPr id="15" name="TextBox 15"/>
            <p:cNvSpPr txBox="1"/>
            <p:nvPr/>
          </p:nvSpPr>
          <p:spPr>
            <a:xfrm>
              <a:off x="908304" y="1546860"/>
              <a:ext cx="461342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Bölümdeki tüm parçalar tek bir gerçek dağıtımda birleşir.</a:t>
              </a:r>
            </a:p>
          </p:txBody>
        </p:sp>
      </p:grpSp>
      <p:grpSp>
        <p:nvGrpSpPr>
          <p:cNvPr id="55" name="flow-row"/>
          <p:cNvGrpSpPr/>
          <p:nvPr/>
        </p:nvGrpSpPr>
        <p:grpSpPr>
          <a:xfrm>
            <a:off x="609600" y="2000250"/>
            <a:ext cx="10972800" cy="1238250"/>
            <a:chOff x="609600" y="2000250"/>
            <a:chExt cx="10972800" cy="1238250"/>
          </a:xfrm>
        </p:grpSpPr>
        <p:grpSp>
          <p:nvGrpSpPr>
            <p:cNvPr id="22" name="node-1"/>
            <p:cNvGrpSpPr/>
            <p:nvPr/>
          </p:nvGrpSpPr>
          <p:grpSpPr>
            <a:xfrm>
              <a:off x="609600" y="2000250"/>
              <a:ext cx="1981200" cy="1238250"/>
              <a:chOff x="609600" y="2000250"/>
              <a:chExt cx="1981200" cy="1238250"/>
            </a:xfrm>
          </p:grpSpPr>
          <p:sp>
            <p:nvSpPr>
              <p:cNvPr id="17" name="Rectangle 17"/>
              <p:cNvSpPr/>
              <p:nvPr/>
            </p:nvSpPr>
            <p:spPr>
              <a:xfrm>
                <a:off x="609600" y="2000250"/>
                <a:ext cx="1981200" cy="1238250"/>
              </a:xfrm>
              <a:prstGeom prst="roundRect">
                <a:avLst>
                  <a:gd name="adj" fmla="val 6154"/>
                </a:avLst>
              </a:prstGeom>
              <a:solidFill>
                <a:srgbClr val="FFFFFF"/>
              </a:solidFill>
              <a:ln w="14288">
                <a:solidFill>
                  <a:srgbClr val="B8CBD3"/>
                </a:solidFill>
              </a:ln>
            </p:spPr>
          </p:sp>
          <p:sp>
            <p:nvSpPr>
              <p:cNvPr id="18" name="TextBox 18"/>
              <p:cNvSpPr txBox="1"/>
              <p:nvPr/>
            </p:nvSpPr>
            <p:spPr>
              <a:xfrm>
                <a:off x="832104" y="2156460"/>
                <a:ext cx="944103"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1. Dağıtım</a:t>
                </a:r>
              </a:p>
            </p:txBody>
          </p:sp>
          <p:sp>
            <p:nvSpPr>
              <p:cNvPr id="19" name="TextBox 19"/>
              <p:cNvSpPr txBox="1"/>
              <p:nvPr/>
            </p:nvSpPr>
            <p:spPr>
              <a:xfrm>
                <a:off x="832104" y="2385060"/>
                <a:ext cx="115900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SSH ile bağlan,</a:t>
                </a:r>
              </a:p>
            </p:txBody>
          </p:sp>
          <p:sp>
            <p:nvSpPr>
              <p:cNvPr id="20" name="TextBox 20"/>
              <p:cNvSpPr txBox="1"/>
              <p:nvPr/>
            </p:nvSpPr>
            <p:spPr>
              <a:xfrm>
                <a:off x="832104" y="2594610"/>
                <a:ext cx="12480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docker compose</a:t>
                </a:r>
              </a:p>
            </p:txBody>
          </p:sp>
          <p:sp>
            <p:nvSpPr>
              <p:cNvPr id="21" name="TextBox 21"/>
              <p:cNvSpPr txBox="1"/>
              <p:nvPr/>
            </p:nvSpPr>
            <p:spPr>
              <a:xfrm>
                <a:off x="832104" y="2804160"/>
                <a:ext cx="139339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-f prod.yml up -d</a:t>
                </a:r>
              </a:p>
            </p:txBody>
          </p:sp>
        </p:grpSp>
        <p:sp>
          <p:nvSpPr>
            <p:cNvPr id="23" name="Freeform 23"/>
            <p:cNvSpPr/>
            <p:nvPr/>
          </p:nvSpPr>
          <p:spPr>
            <a:xfrm>
              <a:off x="2590800" y="2619375"/>
              <a:ext cx="266700" cy="9525"/>
            </a:xfrm>
            <a:custGeom>
              <a:avLst/>
              <a:gdLst/>
              <a:ahLst/>
              <a:cxnLst/>
              <a:rect l="l" t="t" r="r" b="b"/>
              <a:pathLst>
                <a:path w="266700" h="9525">
                  <a:moveTo>
                    <a:pt x="0" y="0"/>
                  </a:moveTo>
                  <a:lnTo>
                    <a:pt x="266700" y="0"/>
                  </a:lnTo>
                </a:path>
              </a:pathLst>
            </a:custGeom>
            <a:noFill/>
            <a:ln w="28575">
              <a:solidFill>
                <a:srgbClr val="00A6A6"/>
              </a:solidFill>
            </a:ln>
          </p:spPr>
        </p:sp>
        <p:sp>
          <p:nvSpPr>
            <p:cNvPr id="24" name="Freeform 24"/>
            <p:cNvSpPr/>
            <p:nvPr/>
          </p:nvSpPr>
          <p:spPr>
            <a:xfrm>
              <a:off x="2800350" y="2543175"/>
              <a:ext cx="95250" cy="152400"/>
            </a:xfrm>
            <a:custGeom>
              <a:avLst/>
              <a:gdLst/>
              <a:ahLst/>
              <a:cxnLst/>
              <a:rect l="l" t="t" r="r" b="b"/>
              <a:pathLst>
                <a:path w="95250" h="152400">
                  <a:moveTo>
                    <a:pt x="0" y="0"/>
                  </a:moveTo>
                  <a:lnTo>
                    <a:pt x="95250" y="76200"/>
                  </a:lnTo>
                  <a:lnTo>
                    <a:pt x="0" y="152400"/>
                  </a:lnTo>
                </a:path>
              </a:pathLst>
            </a:custGeom>
            <a:noFill/>
            <a:ln w="28575" cap="rnd">
              <a:solidFill>
                <a:srgbClr val="00A6A6"/>
              </a:solidFill>
              <a:round/>
            </a:ln>
          </p:spPr>
        </p:sp>
        <p:grpSp>
          <p:nvGrpSpPr>
            <p:cNvPr id="30" name="node-2"/>
            <p:cNvGrpSpPr/>
            <p:nvPr/>
          </p:nvGrpSpPr>
          <p:grpSpPr>
            <a:xfrm>
              <a:off x="2933700" y="2000250"/>
              <a:ext cx="1981200" cy="1238250"/>
              <a:chOff x="2933700" y="2000250"/>
              <a:chExt cx="1981200" cy="1238250"/>
            </a:xfrm>
          </p:grpSpPr>
          <p:sp>
            <p:nvSpPr>
              <p:cNvPr id="25" name="Rectangle 25"/>
              <p:cNvSpPr/>
              <p:nvPr/>
            </p:nvSpPr>
            <p:spPr>
              <a:xfrm>
                <a:off x="2933700" y="2000250"/>
                <a:ext cx="1981200" cy="1238250"/>
              </a:xfrm>
              <a:prstGeom prst="roundRect">
                <a:avLst>
                  <a:gd name="adj" fmla="val 6154"/>
                </a:avLst>
              </a:prstGeom>
              <a:solidFill>
                <a:srgbClr val="FFFFFF"/>
              </a:solidFill>
              <a:ln w="14288">
                <a:solidFill>
                  <a:srgbClr val="B8CBD3"/>
                </a:solidFill>
              </a:ln>
            </p:spPr>
          </p:sp>
          <p:sp>
            <p:nvSpPr>
              <p:cNvPr id="26" name="TextBox 26"/>
              <p:cNvSpPr txBox="1"/>
              <p:nvPr/>
            </p:nvSpPr>
            <p:spPr>
              <a:xfrm>
                <a:off x="3156204" y="2156460"/>
                <a:ext cx="72408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2. Proxy</a:t>
                </a:r>
              </a:p>
            </p:txBody>
          </p:sp>
          <p:sp>
            <p:nvSpPr>
              <p:cNvPr id="27" name="TextBox 27"/>
              <p:cNvSpPr txBox="1"/>
              <p:nvPr/>
            </p:nvSpPr>
            <p:spPr>
              <a:xfrm>
                <a:off x="3156204" y="2385060"/>
                <a:ext cx="123812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Nginx :80 isteği</a:t>
                </a:r>
              </a:p>
            </p:txBody>
          </p:sp>
          <p:sp>
            <p:nvSpPr>
              <p:cNvPr id="28" name="TextBox 28"/>
              <p:cNvSpPr txBox="1"/>
              <p:nvPr/>
            </p:nvSpPr>
            <p:spPr>
              <a:xfrm>
                <a:off x="3156204" y="2594610"/>
                <a:ext cx="135300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localhost:3000'e</a:t>
                </a:r>
              </a:p>
            </p:txBody>
          </p:sp>
          <p:sp>
            <p:nvSpPr>
              <p:cNvPr id="29" name="TextBox 29"/>
              <p:cNvSpPr txBox="1"/>
              <p:nvPr/>
            </p:nvSpPr>
            <p:spPr>
              <a:xfrm>
                <a:off x="3156204" y="2804160"/>
                <a:ext cx="86837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yönlendirir</a:t>
                </a:r>
              </a:p>
            </p:txBody>
          </p:sp>
        </p:grpSp>
        <p:sp>
          <p:nvSpPr>
            <p:cNvPr id="31" name="Freeform 31"/>
            <p:cNvSpPr/>
            <p:nvPr/>
          </p:nvSpPr>
          <p:spPr>
            <a:xfrm>
              <a:off x="4914900" y="2619375"/>
              <a:ext cx="266700" cy="9525"/>
            </a:xfrm>
            <a:custGeom>
              <a:avLst/>
              <a:gdLst/>
              <a:ahLst/>
              <a:cxnLst/>
              <a:rect l="l" t="t" r="r" b="b"/>
              <a:pathLst>
                <a:path w="266700" h="9525">
                  <a:moveTo>
                    <a:pt x="0" y="0"/>
                  </a:moveTo>
                  <a:lnTo>
                    <a:pt x="266700" y="0"/>
                  </a:lnTo>
                </a:path>
              </a:pathLst>
            </a:custGeom>
            <a:noFill/>
            <a:ln w="28575">
              <a:solidFill>
                <a:srgbClr val="00A6A6"/>
              </a:solidFill>
            </a:ln>
          </p:spPr>
        </p:sp>
        <p:sp>
          <p:nvSpPr>
            <p:cNvPr id="32" name="Freeform 32"/>
            <p:cNvSpPr/>
            <p:nvPr/>
          </p:nvSpPr>
          <p:spPr>
            <a:xfrm>
              <a:off x="5124450" y="2543175"/>
              <a:ext cx="95250" cy="152400"/>
            </a:xfrm>
            <a:custGeom>
              <a:avLst/>
              <a:gdLst/>
              <a:ahLst/>
              <a:cxnLst/>
              <a:rect l="l" t="t" r="r" b="b"/>
              <a:pathLst>
                <a:path w="95250" h="152400">
                  <a:moveTo>
                    <a:pt x="0" y="0"/>
                  </a:moveTo>
                  <a:lnTo>
                    <a:pt x="95250" y="76200"/>
                  </a:lnTo>
                  <a:lnTo>
                    <a:pt x="0" y="152400"/>
                  </a:lnTo>
                </a:path>
              </a:pathLst>
            </a:custGeom>
            <a:noFill/>
            <a:ln w="28575" cap="rnd">
              <a:solidFill>
                <a:srgbClr val="00A6A6"/>
              </a:solidFill>
              <a:round/>
            </a:ln>
          </p:spPr>
        </p:sp>
        <p:grpSp>
          <p:nvGrpSpPr>
            <p:cNvPr id="38" name="node-3"/>
            <p:cNvGrpSpPr/>
            <p:nvPr/>
          </p:nvGrpSpPr>
          <p:grpSpPr>
            <a:xfrm>
              <a:off x="5257800" y="2000250"/>
              <a:ext cx="1981200" cy="1238250"/>
              <a:chOff x="5257800" y="2000250"/>
              <a:chExt cx="1981200" cy="1238250"/>
            </a:xfrm>
          </p:grpSpPr>
          <p:sp>
            <p:nvSpPr>
              <p:cNvPr id="33" name="Rectangle 33"/>
              <p:cNvSpPr/>
              <p:nvPr/>
            </p:nvSpPr>
            <p:spPr>
              <a:xfrm>
                <a:off x="5257800" y="2000250"/>
                <a:ext cx="1981200" cy="1238250"/>
              </a:xfrm>
              <a:prstGeom prst="roundRect">
                <a:avLst>
                  <a:gd name="adj" fmla="val 6154"/>
                </a:avLst>
              </a:prstGeom>
              <a:solidFill>
                <a:srgbClr val="EAF4F6"/>
              </a:solidFill>
              <a:ln w="14288">
                <a:solidFill>
                  <a:srgbClr val="00A6A6"/>
                </a:solidFill>
              </a:ln>
            </p:spPr>
          </p:sp>
          <p:sp>
            <p:nvSpPr>
              <p:cNvPr id="34" name="TextBox 34"/>
              <p:cNvSpPr txBox="1"/>
              <p:nvPr/>
            </p:nvSpPr>
            <p:spPr>
              <a:xfrm>
                <a:off x="5480304" y="2156460"/>
                <a:ext cx="55882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3. TLS</a:t>
                </a:r>
              </a:p>
            </p:txBody>
          </p:sp>
          <p:sp>
            <p:nvSpPr>
              <p:cNvPr id="35" name="TextBox 35"/>
              <p:cNvSpPr txBox="1"/>
              <p:nvPr/>
            </p:nvSpPr>
            <p:spPr>
              <a:xfrm>
                <a:off x="5480304" y="2385060"/>
                <a:ext cx="158409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Certbot sertifikası</a:t>
                </a:r>
              </a:p>
            </p:txBody>
          </p:sp>
          <p:sp>
            <p:nvSpPr>
              <p:cNvPr id="36" name="TextBox 36"/>
              <p:cNvSpPr txBox="1"/>
              <p:nvPr/>
            </p:nvSpPr>
            <p:spPr>
              <a:xfrm>
                <a:off x="5480304" y="2594610"/>
                <a:ext cx="113492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443'te trafiği</a:t>
                </a:r>
              </a:p>
            </p:txBody>
          </p:sp>
          <p:sp>
            <p:nvSpPr>
              <p:cNvPr id="37" name="TextBox 37"/>
              <p:cNvSpPr txBox="1"/>
              <p:nvPr/>
            </p:nvSpPr>
            <p:spPr>
              <a:xfrm>
                <a:off x="5480304" y="2804160"/>
                <a:ext cx="64221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şifreler</a:t>
                </a:r>
              </a:p>
            </p:txBody>
          </p:sp>
        </p:grpSp>
        <p:sp>
          <p:nvSpPr>
            <p:cNvPr id="39" name="Freeform 39"/>
            <p:cNvSpPr/>
            <p:nvPr/>
          </p:nvSpPr>
          <p:spPr>
            <a:xfrm>
              <a:off x="7239000" y="2619375"/>
              <a:ext cx="266700" cy="9525"/>
            </a:xfrm>
            <a:custGeom>
              <a:avLst/>
              <a:gdLst/>
              <a:ahLst/>
              <a:cxnLst/>
              <a:rect l="l" t="t" r="r" b="b"/>
              <a:pathLst>
                <a:path w="266700" h="9525">
                  <a:moveTo>
                    <a:pt x="0" y="0"/>
                  </a:moveTo>
                  <a:lnTo>
                    <a:pt x="266700" y="0"/>
                  </a:lnTo>
                </a:path>
              </a:pathLst>
            </a:custGeom>
            <a:noFill/>
            <a:ln w="28575">
              <a:solidFill>
                <a:srgbClr val="00A6A6"/>
              </a:solidFill>
            </a:ln>
          </p:spPr>
        </p:sp>
        <p:sp>
          <p:nvSpPr>
            <p:cNvPr id="40" name="Freeform 40"/>
            <p:cNvSpPr/>
            <p:nvPr/>
          </p:nvSpPr>
          <p:spPr>
            <a:xfrm>
              <a:off x="7448550" y="2543175"/>
              <a:ext cx="95250" cy="152400"/>
            </a:xfrm>
            <a:custGeom>
              <a:avLst/>
              <a:gdLst/>
              <a:ahLst/>
              <a:cxnLst/>
              <a:rect l="l" t="t" r="r" b="b"/>
              <a:pathLst>
                <a:path w="95250" h="152400">
                  <a:moveTo>
                    <a:pt x="0" y="0"/>
                  </a:moveTo>
                  <a:lnTo>
                    <a:pt x="95250" y="76200"/>
                  </a:lnTo>
                  <a:lnTo>
                    <a:pt x="0" y="152400"/>
                  </a:lnTo>
                </a:path>
              </a:pathLst>
            </a:custGeom>
            <a:noFill/>
            <a:ln w="28575" cap="rnd">
              <a:solidFill>
                <a:srgbClr val="00A6A6"/>
              </a:solidFill>
              <a:round/>
            </a:ln>
          </p:spPr>
        </p:sp>
        <p:grpSp>
          <p:nvGrpSpPr>
            <p:cNvPr id="46" name="node-4"/>
            <p:cNvGrpSpPr/>
            <p:nvPr/>
          </p:nvGrpSpPr>
          <p:grpSpPr>
            <a:xfrm>
              <a:off x="7581900" y="2000250"/>
              <a:ext cx="1981200" cy="1238250"/>
              <a:chOff x="7581900" y="2000250"/>
              <a:chExt cx="1981200" cy="1238250"/>
            </a:xfrm>
          </p:grpSpPr>
          <p:sp>
            <p:nvSpPr>
              <p:cNvPr id="41" name="Rectangle 41"/>
              <p:cNvSpPr/>
              <p:nvPr/>
            </p:nvSpPr>
            <p:spPr>
              <a:xfrm>
                <a:off x="7581900" y="2000250"/>
                <a:ext cx="1981200" cy="1238250"/>
              </a:xfrm>
              <a:prstGeom prst="roundRect">
                <a:avLst>
                  <a:gd name="adj" fmla="val 6154"/>
                </a:avLst>
              </a:prstGeom>
              <a:solidFill>
                <a:srgbClr val="FFFFFF"/>
              </a:solidFill>
              <a:ln w="14288">
                <a:solidFill>
                  <a:srgbClr val="B8CBD3"/>
                </a:solidFill>
              </a:ln>
            </p:spPr>
          </p:sp>
          <p:sp>
            <p:nvSpPr>
              <p:cNvPr id="42" name="TextBox 42"/>
              <p:cNvSpPr txBox="1"/>
              <p:nvPr/>
            </p:nvSpPr>
            <p:spPr>
              <a:xfrm>
                <a:off x="7804404" y="2156460"/>
                <a:ext cx="99441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4. Uygulama</a:t>
                </a:r>
              </a:p>
            </p:txBody>
          </p:sp>
          <p:sp>
            <p:nvSpPr>
              <p:cNvPr id="43" name="TextBox 43"/>
              <p:cNvSpPr txBox="1"/>
              <p:nvPr/>
            </p:nvSpPr>
            <p:spPr>
              <a:xfrm>
                <a:off x="7804404" y="2385060"/>
                <a:ext cx="151955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Ortam değişkenleri</a:t>
                </a:r>
              </a:p>
            </p:txBody>
          </p:sp>
          <p:sp>
            <p:nvSpPr>
              <p:cNvPr id="44" name="TextBox 44"/>
              <p:cNvSpPr txBox="1"/>
              <p:nvPr/>
            </p:nvSpPr>
            <p:spPr>
              <a:xfrm>
                <a:off x="7804404" y="2594610"/>
                <a:ext cx="107030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doğrulanmış,</a:t>
                </a:r>
              </a:p>
            </p:txBody>
          </p:sp>
          <p:sp>
            <p:nvSpPr>
              <p:cNvPr id="45" name="TextBox 45"/>
              <p:cNvSpPr txBox="1"/>
              <p:nvPr/>
            </p:nvSpPr>
            <p:spPr>
              <a:xfrm>
                <a:off x="7804404" y="2804160"/>
                <a:ext cx="149839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/saglik yanıt verir</a:t>
                </a:r>
              </a:p>
            </p:txBody>
          </p:sp>
        </p:grpSp>
        <p:sp>
          <p:nvSpPr>
            <p:cNvPr id="47" name="Freeform 47"/>
            <p:cNvSpPr/>
            <p:nvPr/>
          </p:nvSpPr>
          <p:spPr>
            <a:xfrm>
              <a:off x="9563100" y="2619375"/>
              <a:ext cx="266700" cy="9525"/>
            </a:xfrm>
            <a:custGeom>
              <a:avLst/>
              <a:gdLst/>
              <a:ahLst/>
              <a:cxnLst/>
              <a:rect l="l" t="t" r="r" b="b"/>
              <a:pathLst>
                <a:path w="266700" h="9525">
                  <a:moveTo>
                    <a:pt x="0" y="0"/>
                  </a:moveTo>
                  <a:lnTo>
                    <a:pt x="266700" y="0"/>
                  </a:lnTo>
                </a:path>
              </a:pathLst>
            </a:custGeom>
            <a:noFill/>
            <a:ln w="28575">
              <a:solidFill>
                <a:srgbClr val="00A6A6"/>
              </a:solidFill>
            </a:ln>
          </p:spPr>
        </p:sp>
        <p:sp>
          <p:nvSpPr>
            <p:cNvPr id="48" name="Freeform 48"/>
            <p:cNvSpPr/>
            <p:nvPr/>
          </p:nvSpPr>
          <p:spPr>
            <a:xfrm>
              <a:off x="9772650" y="2543175"/>
              <a:ext cx="95250" cy="152400"/>
            </a:xfrm>
            <a:custGeom>
              <a:avLst/>
              <a:gdLst/>
              <a:ahLst/>
              <a:cxnLst/>
              <a:rect l="l" t="t" r="r" b="b"/>
              <a:pathLst>
                <a:path w="95250" h="152400">
                  <a:moveTo>
                    <a:pt x="0" y="0"/>
                  </a:moveTo>
                  <a:lnTo>
                    <a:pt x="95250" y="76200"/>
                  </a:lnTo>
                  <a:lnTo>
                    <a:pt x="0" y="152400"/>
                  </a:lnTo>
                </a:path>
              </a:pathLst>
            </a:custGeom>
            <a:noFill/>
            <a:ln w="28575" cap="rnd">
              <a:solidFill>
                <a:srgbClr val="00A6A6"/>
              </a:solidFill>
              <a:round/>
            </a:ln>
          </p:spPr>
        </p:sp>
        <p:grpSp>
          <p:nvGrpSpPr>
            <p:cNvPr id="54" name="node-5"/>
            <p:cNvGrpSpPr/>
            <p:nvPr/>
          </p:nvGrpSpPr>
          <p:grpSpPr>
            <a:xfrm>
              <a:off x="9906000" y="2000250"/>
              <a:ext cx="1676400" cy="1238250"/>
              <a:chOff x="9906000" y="2000250"/>
              <a:chExt cx="1676400" cy="1238250"/>
            </a:xfrm>
          </p:grpSpPr>
          <p:sp>
            <p:nvSpPr>
              <p:cNvPr id="49" name="Rectangle 49"/>
              <p:cNvSpPr/>
              <p:nvPr/>
            </p:nvSpPr>
            <p:spPr>
              <a:xfrm>
                <a:off x="9906000" y="2000250"/>
                <a:ext cx="1676400" cy="1238250"/>
              </a:xfrm>
              <a:prstGeom prst="roundRect">
                <a:avLst>
                  <a:gd name="adj" fmla="val 6154"/>
                </a:avLst>
              </a:prstGeom>
              <a:solidFill>
                <a:srgbClr val="FFFFFF"/>
              </a:solidFill>
              <a:ln w="14288">
                <a:solidFill>
                  <a:srgbClr val="B8CBD3"/>
                </a:solidFill>
              </a:ln>
            </p:spPr>
          </p:sp>
          <p:sp>
            <p:nvSpPr>
              <p:cNvPr id="50" name="TextBox 50"/>
              <p:cNvSpPr txBox="1"/>
              <p:nvPr/>
            </p:nvSpPr>
            <p:spPr>
              <a:xfrm>
                <a:off x="10128504" y="2156460"/>
                <a:ext cx="113019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5. Operasyon</a:t>
                </a:r>
              </a:p>
            </p:txBody>
          </p:sp>
          <p:sp>
            <p:nvSpPr>
              <p:cNvPr id="51" name="TextBox 51"/>
              <p:cNvSpPr txBox="1"/>
              <p:nvPr/>
            </p:nvSpPr>
            <p:spPr>
              <a:xfrm>
                <a:off x="10128504" y="2385060"/>
                <a:ext cx="125608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systemd servisi</a:t>
                </a:r>
              </a:p>
            </p:txBody>
          </p:sp>
          <p:sp>
            <p:nvSpPr>
              <p:cNvPr id="52" name="TextBox 52"/>
              <p:cNvSpPr txBox="1"/>
              <p:nvPr/>
            </p:nvSpPr>
            <p:spPr>
              <a:xfrm>
                <a:off x="10128504" y="2594610"/>
                <a:ext cx="90068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çöktüğünde</a:t>
                </a:r>
              </a:p>
            </p:txBody>
          </p:sp>
          <p:sp>
            <p:nvSpPr>
              <p:cNvPr id="53" name="TextBox 53"/>
              <p:cNvSpPr txBox="1"/>
              <p:nvPr/>
            </p:nvSpPr>
            <p:spPr>
              <a:xfrm>
                <a:off x="10128504" y="2804160"/>
                <a:ext cx="131262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yeniden başlatır</a:t>
                </a:r>
              </a:p>
            </p:txBody>
          </p:sp>
        </p:grpSp>
      </p:grpSp>
      <p:grpSp>
        <p:nvGrpSpPr>
          <p:cNvPr id="61" name="test-block"/>
          <p:cNvGrpSpPr/>
          <p:nvPr/>
        </p:nvGrpSpPr>
        <p:grpSpPr>
          <a:xfrm>
            <a:off x="609600" y="4191000"/>
            <a:ext cx="10972800" cy="1238250"/>
            <a:chOff x="609600" y="4191000"/>
            <a:chExt cx="10972800" cy="1238250"/>
          </a:xfrm>
        </p:grpSpPr>
        <p:sp>
          <p:nvSpPr>
            <p:cNvPr id="56" name="Rectangle 56"/>
            <p:cNvSpPr/>
            <p:nvPr/>
          </p:nvSpPr>
          <p:spPr>
            <a:xfrm>
              <a:off x="609600" y="4191000"/>
              <a:ext cx="10972800" cy="1238250"/>
            </a:xfrm>
            <a:prstGeom prst="roundRect">
              <a:avLst>
                <a:gd name="adj" fmla="val 6154"/>
              </a:avLst>
            </a:prstGeom>
            <a:solidFill>
              <a:srgbClr val="12355B"/>
            </a:solidFill>
            <a:ln>
              <a:noFill/>
            </a:ln>
          </p:spPr>
        </p:sp>
        <p:sp>
          <p:nvSpPr>
            <p:cNvPr id="57" name="TextBox 57"/>
            <p:cNvSpPr txBox="1"/>
            <p:nvPr/>
          </p:nvSpPr>
          <p:spPr>
            <a:xfrm>
              <a:off x="908304" y="4347210"/>
              <a:ext cx="4371813"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Doğrulama: gerçek bir tarayıcıdan bağımsız test</a:t>
              </a:r>
            </a:p>
          </p:txBody>
        </p:sp>
        <p:sp>
          <p:nvSpPr>
            <p:cNvPr id="58" name="TextBox 58"/>
            <p:cNvSpPr txBox="1"/>
            <p:nvPr/>
          </p:nvSpPr>
          <p:spPr>
            <a:xfrm>
              <a:off x="908304" y="4594860"/>
              <a:ext cx="428330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curl -I https://kutuphane-api.example.com/saglik</a:t>
              </a:r>
            </a:p>
          </p:txBody>
        </p:sp>
        <p:sp>
          <p:nvSpPr>
            <p:cNvPr id="59" name="TextBox 59"/>
            <p:cNvSpPr txBox="1"/>
            <p:nvPr/>
          </p:nvSpPr>
          <p:spPr>
            <a:xfrm>
              <a:off x="908304" y="4842510"/>
              <a:ext cx="2988473"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HTTP/2 200, {"durum":"ayakta"}</a:t>
              </a:r>
            </a:p>
          </p:txBody>
        </p:sp>
        <p:sp>
          <p:nvSpPr>
            <p:cNvPr id="60" name="TextBox 60"/>
            <p:cNvSpPr txBox="1"/>
            <p:nvPr/>
          </p:nvSpPr>
          <p:spPr>
            <a:xfrm>
              <a:off x="908304" y="5128260"/>
              <a:ext cx="921881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Kodun amacı: beş katmanın (proxy, TLS, uygulama, veritabanı) hepsinin tek istekte doğru çalıştığını kanıtlamak.</a:t>
              </a:r>
            </a:p>
          </p:txBody>
        </p:sp>
      </p:grpSp>
      <p:grpSp>
        <p:nvGrpSpPr>
          <p:cNvPr id="65" name="closing-note"/>
          <p:cNvGrpSpPr/>
          <p:nvPr/>
        </p:nvGrpSpPr>
        <p:grpSpPr>
          <a:xfrm>
            <a:off x="609600" y="5600700"/>
            <a:ext cx="10972800" cy="685800"/>
            <a:chOff x="609600" y="5600700"/>
            <a:chExt cx="10972800" cy="685800"/>
          </a:xfrm>
        </p:grpSpPr>
        <p:sp>
          <p:nvSpPr>
            <p:cNvPr id="62" name="Rectangle 62"/>
            <p:cNvSpPr/>
            <p:nvPr/>
          </p:nvSpPr>
          <p:spPr>
            <a:xfrm>
              <a:off x="609600" y="5600700"/>
              <a:ext cx="10972800" cy="685800"/>
            </a:xfrm>
            <a:prstGeom prst="roundRect">
              <a:avLst>
                <a:gd name="adj" fmla="val 11111"/>
              </a:avLst>
            </a:prstGeom>
            <a:solidFill>
              <a:srgbClr val="EAF4F6"/>
            </a:solidFill>
            <a:ln>
              <a:noFill/>
            </a:ln>
          </p:spPr>
        </p:sp>
        <p:sp>
          <p:nvSpPr>
            <p:cNvPr id="63" name="TextBox 63"/>
            <p:cNvSpPr txBox="1"/>
            <p:nvPr/>
          </p:nvSpPr>
          <p:spPr>
            <a:xfrm>
              <a:off x="906399" y="5735479"/>
              <a:ext cx="723700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Zincirin herhangi bir halkası kopsa uçtan uca test başarısız olur.</a:t>
              </a:r>
            </a:p>
          </p:txBody>
        </p:sp>
        <p:sp>
          <p:nvSpPr>
            <p:cNvPr id="64" name="TextBox 64"/>
            <p:cNvSpPr txBox="1"/>
            <p:nvPr/>
          </p:nvSpPr>
          <p:spPr>
            <a:xfrm>
              <a:off x="908304" y="6023610"/>
              <a:ext cx="639857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Bu yüzden bölümün her konusu bağımsız değil, birbirini tamamlayan bir bütündür.</a:t>
              </a:r>
            </a:p>
          </p:txBody>
        </p:sp>
      </p:grpSp>
      <p:sp>
        <p:nvSpPr>
          <p:cNvPr id="66" name="TextBox 6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24</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production"/>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260889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Production dağıtımı</a:t>
              </a:r>
            </a:p>
          </p:txBody>
        </p:sp>
        <p:sp>
          <p:nvSpPr>
            <p:cNvPr id="8" name="TextBox 8"/>
            <p:cNvSpPr txBox="1"/>
            <p:nvPr/>
          </p:nvSpPr>
          <p:spPr>
            <a:xfrm>
              <a:off x="832104" y="1908810"/>
              <a:ext cx="21153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SSH ile sunucuya bağlanıp</a:t>
              </a:r>
              <a:br/>
              <a:r>
                <a:rPr lang="tr-TR" sz="1200" dirty="0">
                  <a:solidFill>
                    <a:srgbClr val="172B3A"/>
                  </a:solidFill>
                  <a:latin typeface="+mn-lt"/>
                  <a:ea typeface="+mn-ea"/>
                  <a:cs typeface="+mn-cs"/>
                </a:rPr>
                <a:t>Docker Compose ile servisi</a:t>
              </a:r>
              <a:br/>
              <a:r>
                <a:rPr lang="tr-TR" sz="1200" dirty="0">
                  <a:solidFill>
                    <a:srgbClr val="172B3A"/>
                  </a:solidFill>
                  <a:latin typeface="+mn-lt"/>
                  <a:ea typeface="+mn-ea"/>
                  <a:cs typeface="+mn-cs"/>
                </a:rPr>
                <a:t>arka planda ayağa kaldırma.</a:t>
              </a:r>
            </a:p>
          </p:txBody>
        </p:sp>
      </p:grpSp>
      <p:grpSp>
        <p:nvGrpSpPr>
          <p:cNvPr id="13" name="summary-nginx"/>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249449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Nginx reverse proxy</a:t>
              </a:r>
            </a:p>
          </p:txBody>
        </p:sp>
        <p:sp>
          <p:nvSpPr>
            <p:cNvPr id="12" name="TextBox 12"/>
            <p:cNvSpPr txBox="1"/>
            <p:nvPr/>
          </p:nvSpPr>
          <p:spPr>
            <a:xfrm>
              <a:off x="4565904" y="1908810"/>
              <a:ext cx="19781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proxy_pass ve başlıklarla</a:t>
              </a:r>
              <a:br/>
              <a:r>
                <a:rPr lang="tr-TR" sz="1200" dirty="0">
                  <a:solidFill>
                    <a:srgbClr val="172B3A"/>
                  </a:solidFill>
                  <a:latin typeface="+mn-lt"/>
                  <a:ea typeface="+mn-ea"/>
                  <a:cs typeface="+mn-cs"/>
                </a:rPr>
                <a:t>isteği uygulamaya iletme;</a:t>
              </a:r>
              <a:br/>
              <a:r>
                <a:rPr lang="tr-TR" sz="1200" dirty="0">
                  <a:solidFill>
                    <a:srgbClr val="172B3A"/>
                  </a:solidFill>
                  <a:latin typeface="+mn-lt"/>
                  <a:ea typeface="+mn-ea"/>
                  <a:cs typeface="+mn-cs"/>
                </a:rPr>
                <a:t>nginx -t ile güvenli reload.</a:t>
              </a:r>
            </a:p>
          </p:txBody>
        </p:sp>
      </p:grpSp>
      <p:grpSp>
        <p:nvGrpSpPr>
          <p:cNvPr id="17" name="summary-https"/>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164060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HTTPS ve TLS</a:t>
              </a:r>
            </a:p>
          </p:txBody>
        </p:sp>
        <p:sp>
          <p:nvSpPr>
            <p:cNvPr id="16" name="TextBox 16"/>
            <p:cNvSpPr txBox="1"/>
            <p:nvPr/>
          </p:nvSpPr>
          <p:spPr>
            <a:xfrm>
              <a:off x="8299704" y="1908810"/>
              <a:ext cx="20010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Certbot ile sertifika alma,</a:t>
              </a:r>
              <a:br/>
              <a:r>
                <a:rPr lang="tr-TR" sz="1200" dirty="0">
                  <a:solidFill>
                    <a:srgbClr val="172B3A"/>
                  </a:solidFill>
                  <a:latin typeface="+mn-lt"/>
                  <a:ea typeface="+mn-ea"/>
                  <a:cs typeface="+mn-cs"/>
                </a:rPr>
                <a:t>301 yönlendirme ve ACME</a:t>
              </a:r>
              <a:br/>
              <a:r>
                <a:rPr lang="tr-TR" sz="1200" dirty="0">
                  <a:solidFill>
                    <a:srgbClr val="172B3A"/>
                  </a:solidFill>
                  <a:latin typeface="+mn-lt"/>
                  <a:ea typeface="+mn-ea"/>
                  <a:cs typeface="+mn-cs"/>
                </a:rPr>
                <a:t>ile otomatik yenileme.</a:t>
              </a:r>
            </a:p>
          </p:txBody>
        </p:sp>
      </p:grpSp>
      <p:grpSp>
        <p:nvGrpSpPr>
          <p:cNvPr id="21" name="summary-hardening"/>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254508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Sunucu sertleştirme</a:t>
              </a:r>
            </a:p>
          </p:txBody>
        </p:sp>
        <p:sp>
          <p:nvSpPr>
            <p:cNvPr id="20" name="TextBox 20"/>
            <p:cNvSpPr txBox="1"/>
            <p:nvPr/>
          </p:nvSpPr>
          <p:spPr>
            <a:xfrm>
              <a:off x="832104" y="3718560"/>
              <a:ext cx="22981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Ayrı kullanıcı, parolasız SSH,</a:t>
              </a:r>
              <a:br/>
              <a:r>
                <a:rPr lang="tr-TR" sz="1200" dirty="0">
                  <a:solidFill>
                    <a:srgbClr val="172B3A"/>
                  </a:solidFill>
                  <a:latin typeface="+mn-lt"/>
                  <a:ea typeface="+mn-ea"/>
                  <a:cs typeface="+mn-cs"/>
                </a:rPr>
                <a:t>UFW güvenlik duvarı ve</a:t>
              </a:r>
              <a:br/>
              <a:r>
                <a:rPr lang="tr-TR" sz="1200" dirty="0">
                  <a:solidFill>
                    <a:srgbClr val="172B3A"/>
                  </a:solidFill>
                  <a:latin typeface="+mn-lt"/>
                  <a:ea typeface="+mn-ea"/>
                  <a:cs typeface="+mn-cs"/>
                </a:rPr>
                <a:t>başarısız giriş engelleme.</a:t>
              </a:r>
            </a:p>
          </p:txBody>
        </p:sp>
      </p:grpSp>
      <p:grpSp>
        <p:nvGrpSpPr>
          <p:cNvPr id="25" name="summary-config"/>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208751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Config ve /saglik</a:t>
              </a:r>
            </a:p>
          </p:txBody>
        </p:sp>
        <p:sp>
          <p:nvSpPr>
            <p:cNvPr id="24" name="TextBox 24"/>
            <p:cNvSpPr txBox="1"/>
            <p:nvPr/>
          </p:nvSpPr>
          <p:spPr>
            <a:xfrm>
              <a:off x="4565904" y="3718560"/>
              <a:ext cx="26563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Ortam değişkenlerini başlangıçta</a:t>
              </a:r>
              <a:br/>
              <a:r>
                <a:rPr lang="tr-TR" sz="1200" dirty="0">
                  <a:solidFill>
                    <a:srgbClr val="172B3A"/>
                  </a:solidFill>
                  <a:latin typeface="+mn-lt"/>
                  <a:ea typeface="+mn-ea"/>
                  <a:cs typeface="+mn-cs"/>
                </a:rPr>
                <a:t>doğrulama; veritabanına gerçekten</a:t>
              </a:r>
              <a:br/>
              <a:r>
                <a:rPr lang="tr-TR" sz="1200" dirty="0">
                  <a:solidFill>
                    <a:srgbClr val="172B3A"/>
                  </a:solidFill>
                  <a:latin typeface="+mn-lt"/>
                  <a:ea typeface="+mn-ea"/>
                  <a:cs typeface="+mn-cs"/>
                </a:rPr>
                <a:t>sorgu atan sağlık kontrolü.</a:t>
              </a:r>
            </a:p>
          </p:txBody>
        </p:sp>
      </p:grpSp>
      <p:grpSp>
        <p:nvGrpSpPr>
          <p:cNvPr id="29" name="summary-systemd"/>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252444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systemd operasyonu</a:t>
              </a:r>
            </a:p>
          </p:txBody>
        </p:sp>
        <p:sp>
          <p:nvSpPr>
            <p:cNvPr id="28" name="TextBox 28"/>
            <p:cNvSpPr txBox="1"/>
            <p:nvPr/>
          </p:nvSpPr>
          <p:spPr>
            <a:xfrm>
              <a:off x="8299704" y="3718560"/>
              <a:ext cx="23743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Restart=on-failure ile otomatik</a:t>
              </a:r>
              <a:br/>
              <a:r>
                <a:rPr lang="tr-TR" sz="1200" dirty="0">
                  <a:solidFill>
                    <a:srgbClr val="172B3A"/>
                  </a:solidFill>
                  <a:latin typeface="+mn-lt"/>
                  <a:ea typeface="+mn-ea"/>
                  <a:cs typeface="+mn-cs"/>
                </a:rPr>
                <a:t>iyileşme; journalctl ile kalıcı</a:t>
              </a:r>
              <a:br/>
              <a:r>
                <a:rPr lang="tr-TR" sz="1200" dirty="0">
                  <a:solidFill>
                    <a:srgbClr val="172B3A"/>
                  </a:solidFill>
                  <a:latin typeface="+mn-lt"/>
                  <a:ea typeface="+mn-ea"/>
                  <a:cs typeface="+mn-cs"/>
                </a:rPr>
                <a:t>ve sorgulanabilir loglar.</a:t>
              </a:r>
            </a:p>
          </p:txBody>
        </p:sp>
      </p:grpSp>
      <p:grpSp>
        <p:nvGrpSpPr>
          <p:cNvPr id="33" name="exam-note"/>
          <p:cNvGrpSpPr/>
          <p:nvPr/>
        </p:nvGrpSpPr>
        <p:grpSpPr>
          <a:xfrm>
            <a:off x="609600" y="5048250"/>
            <a:ext cx="11071454" cy="952500"/>
            <a:chOff x="609600" y="5048250"/>
            <a:chExt cx="11071454"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5256" y="5234940"/>
              <a:ext cx="820668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Bu bölümün en önemli katkısı, tek bir aracın öğretilmesi değildir.</a:t>
              </a:r>
            </a:p>
          </p:txBody>
        </p:sp>
        <p:sp>
          <p:nvSpPr>
            <p:cNvPr id="32" name="TextBox 32"/>
            <p:cNvSpPr txBox="1"/>
            <p:nvPr/>
          </p:nvSpPr>
          <p:spPr>
            <a:xfrm>
              <a:off x="906399" y="5583079"/>
              <a:ext cx="1077465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Erişim, güvenlik ve gözlemlenebilirliğin ayrı ama birbirini tamamlayan katmanlar olduğunu göstermektir.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24</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484948"/>
            <a:ext cx="8179880" cy="724281"/>
            <a:chOff x="599694" y="1484948"/>
            <a:chExt cx="8179880" cy="724281"/>
          </a:xfrm>
        </p:grpSpPr>
        <p:sp>
          <p:nvSpPr>
            <p:cNvPr id="7" name="TextBox 7"/>
            <p:cNvSpPr txBox="1"/>
            <p:nvPr/>
          </p:nvSpPr>
          <p:spPr>
            <a:xfrm>
              <a:off x="599694" y="1484948"/>
              <a:ext cx="8179880"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API'niz artık şifreli, sertleştirilmiş sunucuda kendini iyileştiriyor.</a:t>
              </a:r>
              <a:br/>
              <a:r>
                <a:rPr lang="tr-TR" sz="1950" dirty="0">
                  <a:solidFill>
                    <a:srgbClr val="172B3A"/>
                  </a:solidFill>
                  <a:latin typeface="+mn-lt"/>
                  <a:ea typeface="+mn-ea"/>
                  <a:cs typeface="+mn-cs"/>
                </a:rPr>
                <a:t>Sıradaki adım: API'ye insan değil, fiziksel cihazlar bağlanacak.</a:t>
              </a:r>
            </a:p>
          </p:txBody>
        </p:sp>
      </p:grpSp>
      <p:grpSp>
        <p:nvGrpSpPr>
          <p:cNvPr id="14" name="bridge-now"/>
          <p:cNvGrpSpPr/>
          <p:nvPr/>
        </p:nvGrpSpPr>
        <p:grpSpPr>
          <a:xfrm>
            <a:off x="599694" y="2799398"/>
            <a:ext cx="2994533" cy="1834419"/>
            <a:chOff x="599694" y="2799398"/>
            <a:chExt cx="2994533" cy="18344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2373757"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Bir API'yi Nginx ve HTTPS</a:t>
              </a:r>
              <a:br/>
              <a:r>
                <a:rPr lang="tr-TR" sz="1580" dirty="0">
                  <a:solidFill>
                    <a:srgbClr val="172B3A"/>
                  </a:solidFill>
                  <a:latin typeface="+mn-lt"/>
                  <a:ea typeface="+mn-ea"/>
                  <a:cs typeface="+mn-cs"/>
                </a:rPr>
                <a:t>ile güvenle yayınlamak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2744978"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systemd ile kendini</a:t>
              </a:r>
              <a:br/>
              <a:r>
                <a:rPr lang="tr-TR" sz="1580" dirty="0">
                  <a:solidFill>
                    <a:srgbClr val="172B3A"/>
                  </a:solidFill>
                  <a:latin typeface="+mn-lt"/>
                  <a:ea typeface="+mn-ea"/>
                  <a:cs typeface="+mn-cs"/>
                </a:rPr>
                <a:t>iyileştiren servisler kurmak</a:t>
              </a:r>
            </a:p>
          </p:txBody>
        </p:sp>
      </p:grpSp>
      <p:grpSp>
        <p:nvGrpSpPr>
          <p:cNvPr id="19" name="bridge-next"/>
          <p:cNvGrpSpPr/>
          <p:nvPr/>
        </p:nvGrpSpPr>
        <p:grpSpPr>
          <a:xfrm>
            <a:off x="7010400" y="2667000"/>
            <a:ext cx="4572000" cy="2286000"/>
            <a:chOff x="7010400" y="2667000"/>
            <a:chExt cx="4572000" cy="2286000"/>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7" name="TextBox 17"/>
            <p:cNvSpPr txBox="1"/>
            <p:nvPr/>
          </p:nvSpPr>
          <p:spPr>
            <a:xfrm>
              <a:off x="7303770" y="3319462"/>
              <a:ext cx="2213134"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IoT ve ESP32 ile</a:t>
              </a:r>
              <a:br/>
              <a:r>
                <a:rPr lang="tr-TR" sz="2250" b="1" dirty="0">
                  <a:solidFill>
                    <a:srgbClr val="FFFFFF"/>
                  </a:solidFill>
                  <a:latin typeface="+mn-lt"/>
                  <a:ea typeface="+mn-ea"/>
                  <a:cs typeface="+mn-cs"/>
                </a:rPr>
                <a:t>telemetri</a:t>
              </a:r>
            </a:p>
          </p:txBody>
        </p:sp>
        <p:sp>
          <p:nvSpPr>
            <p:cNvPr id="18" name="TextBox 18"/>
            <p:cNvSpPr txBox="1"/>
            <p:nvPr/>
          </p:nvSpPr>
          <p:spPr>
            <a:xfrm>
              <a:off x="7307199" y="4135279"/>
              <a:ext cx="3627882"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Güvenli API'nize artık bir</a:t>
              </a:r>
              <a:br/>
              <a:r>
                <a:rPr lang="tr-TR" sz="1580" dirty="0">
                  <a:solidFill>
                    <a:srgbClr val="EAF4F6"/>
                  </a:solidFill>
                  <a:latin typeface="+mn-lt"/>
                  <a:ea typeface="+mn-ea"/>
                  <a:cs typeface="+mn-cs"/>
                </a:rPr>
                <a:t>mikrodenetleyici de veri gönderecek.</a:t>
              </a:r>
            </a:p>
          </p:txBody>
        </p:sp>
      </p:grpSp>
      <p:grpSp>
        <p:nvGrpSpPr>
          <p:cNvPr id="22" name="bridge-closing"/>
          <p:cNvGrpSpPr/>
          <p:nvPr/>
        </p:nvGrpSpPr>
        <p:grpSpPr>
          <a:xfrm>
            <a:off x="609600" y="5429250"/>
            <a:ext cx="10972800" cy="729234"/>
            <a:chOff x="609600" y="5429250"/>
            <a:chExt cx="10972800" cy="729234"/>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7519226" cy="637794"/>
            </a:xfrm>
            <a:prstGeom prst="rect">
              <a:avLst/>
            </a:prstGeom>
            <a:noFill/>
            <a:ln>
              <a:noFill/>
            </a:ln>
          </p:spPr>
          <p:txBody>
            <a:bodyPr wrap="none" lIns="0" tIns="0" rIns="0" bIns="0" anchor="t" anchorCtr="0">
              <a:spAutoFit/>
            </a:bodyPr>
            <a:lstStyle/>
            <a:p>
              <a:pPr algn="l">
                <a:lnSpc>
                  <a:spcPts val="2250"/>
                </a:lnSpc>
              </a:pPr>
              <a:r>
                <a:rPr lang="tr-TR" sz="1800" b="1" dirty="0">
                  <a:solidFill>
                    <a:srgbClr val="12355B"/>
                  </a:solidFill>
                  <a:latin typeface="+mn-lt"/>
                  <a:ea typeface="+mn-ea"/>
                  <a:cs typeface="+mn-cs"/>
                </a:rPr>
                <a:t>Bu bölümde kurduğunuz HTTPS uç noktası, ESP32'nin göndereceği</a:t>
              </a:r>
              <a:br/>
              <a:r>
                <a:rPr lang="tr-TR" sz="1800" b="1" dirty="0">
                  <a:solidFill>
                    <a:srgbClr val="12355B"/>
                  </a:solidFill>
                  <a:latin typeface="+mn-lt"/>
                  <a:ea typeface="+mn-ea"/>
                  <a:cs typeface="+mn-cs"/>
                </a:rPr>
                <a:t>telemetri verisini karşılayacak kapıdır.</a:t>
              </a:r>
            </a:p>
          </p:txBody>
        </p:sp>
      </p:grpSp>
      <p:sp>
        <p:nvSpPr>
          <p:cNvPr id="23" name="TextBox 2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24</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15-linux-deployment-20260916">
  <a:themeElements>
    <a:clrScheme name="b15-linux-deployment-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15-linux-deployment-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15-linux-deployment-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15-linux-deployment-20260916">
  <a:themeElements>
    <a:clrScheme name="b15-linux-deployment-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15-linux-deployment-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15-linux-deployment-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2026-09-19T21:22:51Z</dcterms:created>
  <dcterms:modified xsi:type="dcterms:W3CDTF">2026-09-19T21:22:51Z</dcterms:modified>
  <cp:category/>
  <cp:contentStatus/>
</cp:coreProperties>
</file>