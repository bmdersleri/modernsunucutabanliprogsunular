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  <Relationship Id="rId3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Express çatısı üzerinden Node.js ile web sunucusu kurmayı ve HTTP isteklerini routing mantığıyla yönetmeyi ele alır. Odak noktası, bir isteğin sunucuya ulaşmasından anlamlı bir yanıt üretilmesine kadar geçen yolda dört temel kavramın — istek, route, middleware ve yanıt — nasıl birlikte çalıştığıdır. Bölüm boyunca kullanılan örnekler, bir kitap kataloğu API'si etrafında kurgulanmıştır ve bu örnekler ilerleyen sayfalarda uçtan uca bir mini uygulamaya dönüşecektir.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 tamamlayan bir öğrenci beş temel beceri kazanmalıdır: Express uygulaması kurup belirli bir portta dinletmek, istemcinin hangi URL'ye hangi HTTP metoduyla istek gönderdiğini okuyarak uygun route'u tasarlamak, route parametresi üzerinden belirli bir kaynağın kimliğine ulaşmak, query parametresiyle listeleri filtrelemek ve son olarak JSON gövdesini doğrulayıp uygun durum koduyla yanıt vermek. Bu beceriler birbirinden bağımsız değildir; her biri bir öncekinin üzerine inşa edilir ve hepsi birlikte bir API endpoint'inin tam yaşam döngüsünü oluşturur. Sağdaki başarı ölçütleri, GET ile POST'un farklı amaçlara hizmet ettiğini, route parametresinin belirli bir kaynağı, query parametresinin ise filtreleme ve sıralamayı ifade ettiğini ve 200/201/400/401/404 durum kodlarının her birinin istemciye farklı bir anlam taşıdığını vurgular. Alttaki not, TypeScript'in strictNullChecks özelliğinin, bir arama sonucunun bulunamama ihtimalini derleme anında görünür kılarak çalışma zamanı hatalarını önceden yakalamaya yardımcı olduğunu hatırlatır; bu, bölümün ilerleyen kısımlarında tür güvenliği ile çalışma zamanı doğrulaması arasındaki ayrımın temelini oluşturur.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 HTTP isteği, Express sunucusuna ulaştığında sırasıyla routing, middleware, request verisi ve response üretimi aşamalarından geçerek anlamlı bir yanıta dönüşür. Express sunucusu isteği dinler ve uygulamaya alır; routing bu isteğin HTTP metoduna ve URL yoluna bakarak hangi işleyici fonksiyonun çalışacağına karar verir; middleware katmanı sırayla çalışan ara katmanlardır ve isteği inceleyip doğrulayabilir ya da doğrudan bir yanıt üretip zinciri sonlandırabilir; request verisi params, query, body ve headers gibi bileşenlerden oluşur; response ise durum kodu ve JSON gövdesiyle istemciye dönen sonuçtur. Kesikli oklar, bu doğrusal akışın istisnalarını gösterir: middleware bir hata durumunda doğrudan yanıt üretip route işleyicisine hiç ulaşmadan süreci sonlandırabilir, route parametreleri ise aslında request verisinin bir parçası olduğu için ayrı bir kavram gibi görünse de aynı akışın içine yerleşir. Bu beş kavram, bölüm boyunca geliştirilecek olan Üniversite Laboratuvar Yönetim Sistemi projesinin temelini oluşturur; ekipman, öğrenci ve rezervasyon yönlendirmeleri ile günlükleme ve hata middleware'i, burada tanıtılan kalıplarla kurulacaktır.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 mimari kavramı yalnızca ne yaptığıyla değil, ne yapmadığıyla da tanımlanır; bu matris her bileşenin görev sınırını netleştirir. Express, Node.js'in http modülü üzerine kurulmuş bir katman olarak yönlendirme, ara katman ve istek-yanıt akışını düzenler, ancak veritabanı sorgusu çalıştırmaz, arayüz tasarlamaz ve yerleşik bir kimlik doğrulama mekanizması sunmaz; bu nedenle URL ayrıştırma, gövde okuma ve başlık çözümleme gibi işler her istekte elle yazılmalıdır. Routing, gelen isteği HTTP metodu ve URL yoluna göre ilgili işleyici fonksiyona iletir, fakat gövdenin geçerliliğini doğrulamaz ve iş mantığını kendi içinde barındırmaz; aksi hâlde tüm istekler devasa bir if-else bloğuna yığılır ve bakım imkânsızlaşır. Middleware, istek ile nihai yanıt arasında loglama, kimlik denetimi, CORS ve gövde ayrıştırma gibi görevleri üstlenir, ancak next() çağrılmazsa isteği askıda bırakır; bu olmadan her uç noktada yetki ve log kodu tekrarlanır, merkezi denetim kaybolur. Request nesnesi, URL parametrelerini, sorgu parametrelerini, gövdeyi ve başlıkları sunucuya taşır ama içindeki verinin doğruluğunu garanti etmez — her veri güvensiz bir girdi olarak ele alınmalıdır. Response ise durum kodunu, üstbilgileri ve gövdeyi yapılandırarak iletir; olmadığında istemci sonucu asla öğrenemez ve bağlantı zaman aşımına uğrar. Bu tablonun özeti nettir: bir kavramı en hızlı anlatan şey, onsuz ortaya çıkan sorundur.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Express, Node.js üzerinde HTTP sunucuları ve web API'leri geliştirmek için kullanılan hafif bir web uygulama çatısıdır. Katman yığını incelendiğinde Express'in tam olarak nerede durduğu görülür: en üstte istemci (tarayıcı, mobil uygulama veya başka bir sunucu) yer alır, onun altında Express katmanı route tanımı, middleware zinciri ve JSON yardımcılarını sağlar, bunun altında Node.js'in ham http modülü istek ve yanıt nesnelerini, soket yönetimini üstlenir, en altta ise işletim sisteminin ağ yığını TCP bağlantısını ve dinlenen portu yönetir. Teknik olarak Express, Node.js http sunucusunun üzerine kurulmuş, route tanımlama, middleware bağlama, JSON yanıtı ve hata işleme için okunabilir API'ler sunan bir katmandır. Günlük hayattan bir benzetmeyle, Express bir belediye hizmet masası gibi çalışır: vatandaşın hangi işlem için geldiğini anlar, onu doğru masaya yönlendirir ve işlem sonunda bir belge verir. Express özellikle REST API'leri, küçük yönetim panelleri, prototipler, eğitim projeleri ve mikro servisler için tercih edilir; başlangıç düzeyinde en büyük avantajı istek akışını görünür kılmasıdır. TypeScript, Express projelerinde tür denetimiyle daha güvenli kod yazılmasına yardımcı olur; bir endpoint'in eksik veya yanlış veriyle çağrılması yaygın bir sorun olduğundan, bu güvenlik özellikle web API'lerinde değerlidir.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Bağımlılıklar kurulduktan sonra express() ile uygulama oluşturulur, listen() ile port dinlenir. Kurulum iki adımda gerçekleşir: önce npm install express ile Express paketi eklenir, ardından npm install --save-dev typescript, ts-node-dev, @types/express ve @types/node ile geliştirme bağımlılıkları kurulur. Çalışan en küçük sunucu örneği üç kritik satır içerir: express() çağrısı, route ve middleware eklenecek uygulama nesnesini oluşturur; uygulama.get("/", ...) kök URL'ye gelen GET isteğini hangi fonksiyonun karşılayacağını tanımlar; uygulama.listen(portNumarasi, ...) ise işletim sisteminden ilgili portu dinlemesini ister. Bu üç adımın sırası önemlidir ve bir sonraki slaytta ele alınacak yaygın hatalarla doğrudan ilişkilidir. Dikkat edilmesi gereken kritik nokta, @types/express paketinin eksik kurulması durumunda Request ve Response parametrelerinin any tipine düşmesidir; bu durumda TypeScript'in sağladığı tür güvenliği tamamen kaybolur ve derleyici, yanlış kullanılan istek veya yanıt nesnelerini artık yakalayamaz.</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express.json() metodu, yanit.json(...) çağrısıyla verilen bir nesneyi otomatik olarak JSON gövdesine dönüştürür ve Content-Type başlığını buna göre ayarlar; böylece geliştirici başlık yönetimiyle elle uğraşmak zorunda kalmaz. Dikkat edilmesi gereken nokta, yanit.json(...) çağrıldıktan sonra aynı yanıt nesnesine tekrar send veya json çağrılamayacağıdır — Express bu durumda "headers already sent" hatası üretir, çünkü HTTP protokolünde bir isteğe yalnızca bir kez yanıt verilebilir. Express'in ne zaman tercih edilmesi gerektiği sorusuna yanıt olarak, hızlı prototipleme, eğitim amaçlı sunucu mantığı veya esnek bir REST API için güçlü bir başlangıç seçeneği olduğu söylenebilir. Karşılaştırma tablosu dört yaklaşımı sıralar: çıplak http modülü bağımsız ve temel olduğu için HTTP öğrenimine uygundur; Express basit ve esnek olduğu için küçük ve orta ölçekli REST API'lere uygundur; Fastify performans odaklıdır ve performansın kritik olduğu senaryolarda tercih edilir; NestJS ise kurallı bir mimari sunduğu için büyük ekiplerde ve kurumsal projelerde avantajlıdır. Son olarak, tek seferlik komut satırı programları gibi istemci-sunucu iletişimi gerekmeyen işlerde Express gereksiz bir katman olur ve tercih edilmemelidir.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Express kurulumunda karşılaşılan üç yaygın hata, farklı doğalarda sorunlara yol açar. Birinci hata, uygulama nesnesi oluşturulmadan route tanımlamaya çalışmaktır; bu bir derleme engelidir, çünkü TypeScript uygulama adını bulamaz ve dosya hiç derlenmez — hata çalıştırmaya sıra gelmeden görünür hâle gelir. İkinci hata, listen() çağrısını unutmak veya yanlış port kullanmaktır; route tanımlamak tek başına sunucuyu başlatmaz, ve tarayıcıda localhost:3000 açılırken kodda 3001 kullanılmışsa bağlantı hiçbir zaman kurulamaz. Üçüncü hata, aynı portu birden fazla uygulamanın aynı anda kullanmaya çalışmasıdır; bu durumda EADDRINUSE hatası görülür ve ya aynı portu dinleyen önceki süreç kapatılmalı ya da farklı bir port seçilmelidir. Bu üç hatanın ortak çözümü basit bir sıralama kuralına dayanır: önce express() ile uygulama oluşturulur, sonra route'lar eklenir, en son listen() çağrılır. Bu sıra bozulduğunda ortaya çıkan hatalar, deneyimsiz geliştiricilerin en sık karşılaştığı başlangıç sorunlarındandır.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Routing, gelen HTTP isteğinin metot ve yol bilgisine göre uygun işleyici fonksiyona yönlendirilmesidir; burada kritik nokta, HTTP metodunun da route'un kimliğinin bir parçası olmasıdır — aynı URL yolu farklı metotlarla tamamen farklı işleyicilere yönlenebilir. Bina danışması benzetmesiyle düşünüldüğünde, bir ziyaretçi "muhasebeye gideceğim" dediğinde danışma onu muhasebe odasına, "insan kaynaklarına gideceğim" dediğinde başka bir yere yönlendirir; routing de URL ve metoda bakarak isteği doğru "odaya" götürür. Kaynak odaklı isimlendirme — /kitaplar, /kitaplar/:kitapKimligi, /yazarlar gibi tutarlı route'lar — bir API sözleşmesi oluşturur ve API'nin öngörülebilir olmasını sağlar. Kuramsal arka planda, Roy Fielding'in 2000 tarihli REST tezi, bir URI'nin bir eylemi değil bir "kaynağı" adreslemesi gerektiğini savunur; eylem HTTP metoduyla belirtilir. Bu nedenle /kitaplar aynı yolda GET ile okuma, POST ile oluşturma anlamına gelir; /kitapOlustur gibi eylem adlı bir yol REST ilkesine aykırıdır. Route eşleştirme aslında biçimsel dil teorisindeki örüntü eşleştirmeyle ilişkilidir: /kitaplar/:id gibi bir kalıp bir düzenli ifadeye derlenip parametre çıkarır. Routing'in var olma nedeni açıktır: routing olmadan her istek tek bir if-else zincirinde incelenir, uygulama büyüdükçe okunabilirlik ciddi biçimde azalır; routing bu davranışları amaç odaklı, bağımsız fonksiyonlara ayırarak karmaşıklığı yönetilebilir kılar.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örneği, kitap listesini getiren, tekil bir kaydı ID ile getiren ve yeni kitap ekleyen üç route'u bir arada gösterir. Üç kritik satır özellikle dikkat gerektirir. Birincisi, Number(istek.params.kitapKimligi) dönüşümü zorunludur, çünkü route parametreleri Express tarafından her zaman metin (string) olarak sağlanır; bu dönüşüm yapılmazsa sayısal karşılaştırmalar hiçbir zaman doğru sonuç vermez. İkincisi, 404 durumunda gönderilen yanıttan sonra gelen return ifadesi, aynı isteğe ikinci bir yanıt gönderilmesini engeller; bu satır olmadan kod akışı if bloğundan sonra devam eder ve yanit.json(kitap) satırına da ulaşarak "headers already sent" hatası üretir. Üçüncüsü, express.json() middleware'i POST route'undan önce tanımlanmıştır; bu sıralama sayesinde istek.body doğru şekilde ayrıştırılır. Eğer express.json() route tanımlarından sonra eklenseydi, POST isteğinin gövdesi ayrıştırılamadan route'a ulaşır ve istek.body tanımsız kalırdı — bu, middleware sıralamasının neden bu kadar kritik olduğunu somut biçimde gösterir.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Express, gelen bir isteği işlerken beş aşamalı bir akış izler: önce HTTP isteği metot ve URL yoluyla sunucuya ulaşır, ardından route eşleşmesi bu metot ve yol kalıbına göre değerlendirilir, sonra parametre ve tip kontrolü içeren doğrulama aşaması gelir, doğrulama başarılıysa iş mantığı (veriye erişim, işlem) çalışır ve son olarak durum kodu ile gövdeden oluşan HTTP yanıtı üretilir. Bu akışta kritik bir uyarı vardır: eşleşme bulunamazsa veya doğrulama başarısız olursa akış iş mantığına hiç ulaşmadan uygun bir hata yanıtıyla, tipik olarak 400 veya 404 ile sonlanır — yani her isteğin mutlaka iş mantığına kadar ilerlediği varsayılmamalıdır. Route parametresi ile query parametresi arasındaki seçim de bu akışın doğruluğunu belirler: route parametresi, /kitaplar/15 örneğinde olduğu gibi belirli bir kaynağın kimliği URL'nin zorunlu bir parçası olduğunda tercih edilmelidir; query parametresi ise filtreleme, sayfalama, sıralama ve isteğe bağlı seçenekler için daha uygundur. Bu ayrımı doğru yapmak, API'nin hem okunabilirliğini hem de beklenen kullanım biçimini netleştirir.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karşılaştırma tablosu, routing'de kullanılan beş temel kavramı güçlü yönleri ve sınırlılıklarıyla bir arada sunar. Route parametresi (/kitaplar/4 gibi) tek bir kaynağı açıkça tanımlar ama filtreleme için uygun değildir. Query parametresi (?kategori=Tarih gibi) isteğe bağlı filtreleme sunar ama kaynağın temel kimliği olamaz. Request body (POST /kitaplar gibi) çok alanlı veri taşıyabilir ama GET isteklerinde standart bir kullanım değildir. Sabit route (/durum gibi) basit ve anlaşılırdır ama değişken bir kaynak seçemez. Dinamik route (/kitaplar/:kitapKimligi gibi) tek bir tanımla çok sayıda kaynağı işleyebilir ama beraberinde parametre doğrulaması gerektirir. Bu farkları özetleyen kritik soru şudur: "Hangi kitabı istiyorum?" sorusu route parametresine, "hangi özellikteki kitapları listeliyorum?" sorusu ise query parametresine karşılık gelir; ikisini karıştırmak yaygın bir tasarım hatasıdır. Ayrıca yaygın bir sıralama hatası da vurgulanmalıdır: /kitaplar/istatistik gibi sabit bir route, /kitaplar/:kitapKimligi route'undan sonra tanımlanırsa, "istatistik" kelimesi yanlışlıkla bir parametre değeri olarak kabul edilebilir; bu nedenle daha özel (spesifik) route'lar her zaman daha genel olanlardan önce tanımlanmalıdır.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Routing'de sık görülen hatalar, tür sistemiyle yakalanabilenler ile yalnızca çalışma zamanında ortaya çıkanlar olmak üzere iki gruba ayrılır. Birinci hata, tür dönüşümü yapılmadan karşılaştırma yapmaktır; kitap.kimlik (sayı) ile istek.params.kitapKimligi (metin) sıkı eşitlikle karşılaştırıldığında bu bir derleme engelidir, çünkü TypeScript bu karşılaştırmanın hiçbir zaman doğru olamayacağını bildirir — doğru kullanım Number(istek.params.kitapKimligi) === kitap.kimlik şeklindedir. İkinci hata, bulunamayan bir kaynak için yanlışlıkla 200 durum kodu döndürmektir; bu durumda istemci isteğin başarılı olduğunu sanır, ancak aslında veri yoktur — bunun yerine 404 Not Found kullanılmalıdır. Üçüncü hata, GET route'unda veri ekleme veya silme gibi yan etkili işlemler yapmaktır; GET metodu yalnızca okuma amaçlıdır, veri değiştiren davranışlar için POST, PATCH, PUT veya DELETE metotları kullanılmalıdır. Bu hataların değerlendirilmesi için sorulması gereken sorular arasında, geçerli bir kimlikle istenip veri kaynağında bulunamayan durumlarda 404, geçersiz (örneğin sayısal olmayan) bir kimlik durumunda ise 400 Bad Request kullanılması gerektiği hatırlanmalıdır — bu ayrım, hata kodlarının doğru seçilmesinin ne kadar incelikli olabileceğini gösterir.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Middleware, request ile response arasında çalışan bir fonksiyondur; isteği inceler, doğrular veya kontrolü next() fonksiyonuyla bir sonraki adıma aktarır. Örnek zincirde bu akış somutlaşır: istek gelir (GET /korumali-durum), ardından istek günlüğü middleware'i next() ile devam eder, sonra yetki kontrolü ya 401 döndürür ya da next() ile ilerler, en sonunda route işleyicisi devreye girip yanıtı üretir. Havaalanı güvenliği benzetmesi bu akışı netleştirir: yolcu önce kimlik kontrolünden geçer, sonra bagajı kontrol edilir, sonra kapıya yönlendirilir; bir aşamada sorun varsa yolcu uçağa alınmaz — aynı şekilde yetkilendirme middleware'i başarısız olursa route işleyicisine hiç geçilmez. Kuramsal arka planda, bu yapı Gamma ve arkadaşlarının 1994 tarihli eserinde tanımladığı Sorumluluk Zinciri (Chain of Responsibility) tasarım desenine dayanır: isteği işleyebilecek nesneler zincir hâlinde sıralanır; next() çağrısı "isteği bir sonraki halkaya devret" adımına, yanıt gönderme ise "burada işle ve durdur" dalına karşılık gelir. Bu kavramsal çerçeve, middleware'in neden bu kadar esnek ve güçlü bir mekanizma olduğunu açıklar.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örneği, bir günlükleme (logging) middleware'i ile bir yetki kontrolü middleware'inin birlikte nasıl çalıştığını gösterir. istekGunlugu fonksiyonu her isteğin metodunu ve yolunu konsola yazdırır, ardından sonrakiAdim() çağrısı kontrolü bir sonraki middleware'e devreder. apiAnahtariKontrolu fonksiyonu ise istek başlığından bir API anahtarı okur; anahtar beklenen değerle eşleşmiyorsa 401 Unauthorized döndürüp isteği sonlandırır, eşleşiyorsa sonrakiAdim() ile devam eder. Dikkat edilmesi gereken önemli bir tasarım kararı, apiAnahtariKontrolu middleware'inin yalnızca /korumali-durum route'una verilmiş olmasıdır; bu sayede diğer endpoint'ler bu kontrolden etkilenmeden açık kalır. Eğer global bir yetki denetimi isteniyorsa uygulama.use(apiAnahtariKontrolu) kullanılabilir, ancak bu durumda tüm route'lar etkilenir ve açık kalması gereken uç noktalar da yanlışlıkla erişilemez hâle gelebilir. Son olarak, uygulama.use(express.json()) çağrısının JSON body'lerini ayrıştıran middleware'i eklediği ve POST route'larından önce tanımlanması gerektiği vurgulanmalıdır; aksi hâlde istek.body undefined kalabilir.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Middleware kullanımına karar verirken temel ilke şudur: bir davranış birden fazla route'ta tekrar ediyorsa middleware tercih edilmelidir; tek bir endpoint'e özgü küçük bir işlem ise route içinde tutulabilir. Karşılaştırma tablosu dört yaklaşımı ele alır. Global middleware tek bir tanımla tüm route'ları etkiler — loglama ve JSON ayrıştırma için uygundur — ancak gereksiz endpoint'leri de etkileme riski taşır. Route middleware'i belirli endpoint'lere uygulanır ve yetki gerektiren alanlar için idealdir, ancak aynı kural birden fazla route'ta tekrarlanabilir. Route içi kod, küçük tekil işlemler için basittir ama tekrar eden kod üretme riski taşır. Hata middleware'i merkezi bir hata yanıtı sağlar ve uygulama genelinde hata yönetimi için kullanılır, ancak doğru sırada tanımlanması gerekir. Sıralama önemi ayrıca vurgulanmalıdır: JSON ayrıştırma body kullanan route'lardan önce, güvenlik kontrolü korunan iş mantığından önce, hata middleware'i ise çoğunlukla route'lardan sonra tanımlanır. Middleware ile yardımcı fonksiyon arasındaki fark da netleştirilmelidir: yardımcı fonksiyon uygulama kodu tarafından doğrudan çağrılır, middleware ise Express'in istek zinciri tarafından çağrılır ve next() mekanizmasıyla akışı yönetir. Global yetki denetimi kurarken dikkatli olunmalıdır, çünkü açık olması gereken route'ları yanlışlıkla erişilemez hâle getirebilir.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Middleware kullanımında dört yaygın hata sıkça karşılaşılan sorunlara yol açar. Birinci hata, next() çağrısını unutmaktır; bu bir akış hatasıdır, çünkü kod sorunsuz derlenir ve çalışır, sorun yalnızca istemcinin sonsuza kadar yanıtsız kalmasıyla ortaya çıkar — örnekteki hataliGunluk fonksiyonu next() çağırmadığı için zincir hiç sürmez ve route işleyicisine asla ulaşılmaz. Bunun mimari çözümü, her kod dalında ya yanıt döndüğünden ya da next() çağrıldığından emin olmaktır. İkinci hata, yanıt gönderildikten sonra yine de next() çağırmaktır; response gönderildiyse işlem sonlandırılmalıdır, aksi hâlde "headers already sent" hatası oluşabilir. Üçüncü hata, express.json() middleware'ini route'lardan sonra tanımlamaktır; middleware'ler sıralı çalıştığı için body ayrıştırma beklenen zamanda yapılmaz ve istek.body undefined kalır. Dördüncü hata, API anahtarını URL'nin query kısmında taşımaktır; URL'ler loglarda ve tarayıcı geçmişinde görünür hâle geldiğinden, hassas erişim bilgileri başlıklarda veya güvenli kimlik doğrulama mekanizmalarında taşınmalıdır. Bu dört hatanın ortak mimari çözümü, return yanit.status(...).json(...) kalıbını kullanmaktır: yanıt döndüren tüm satırlarda return kullanmak, aynı isteğe ikinci kez yanıt gönderilmesini önler ve middleware zincirinin ancak bir kez ilerlemesini garanti eder.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Request nesnesi, istemcinin gönderdiği HTTP mesajını temsil eder; ancak farklı türdeki veriler bu nesnenin farklı bölümlerinde taşınır ve bu ayrımı doğru yapmak API tasarımının temelini oluşturur. istek.params, /kitaplar/:kitapKimligi gibi URL içindeki dinamik yol parçalarını taşır ve belirli bir kaynağın kimliğini ifade eder — kütüphanede bir raf numarasına benzetilebilir. istek.query, /kitaplar?kategori=Bilim örneğinde olduğu gibi URL'nin soru işaretinden sonraki kısmında yer alan isteğe bağlı filtre, sıralama ve sayfalama alanlarını taşır — bir katalog filtresi gibi düşünülebilir. istek.body ise POST veya PATCH ile gönderilen yapılandırılmış veriyi içerir ve express.json() middleware'i ile ayrıştırılır — yeni bir kitap kayıt formuna benzetilebilir. Bu üç veri kaynağı arasında seçim yaparken şu ilkeler geçerlidir: route parametresi, kaynağın kimliği URL'nin zorunlu ve temel bir parçasıysa tercih edilmelidir; query parametresi, filtre, sıralama veya sayfa numarası gibi isteğe bağlı seçenekler için kullanılmalıdır; body ise oluşturma veya güncelleme işlemlerinde çok alanlı, yapılandırılmış veri taşırken tercih edilmelidir. Bu üç kaynağın ortak bir güven sınırı vardır: istemciden gelen hiçbir veri otomatik olarak doğru kabul edilmemelidir; params, query ve body kullanılmadan önce mutlaka doğrulanmalıdır.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İki kod örneği, request verisinin nasıl güvenli biçimde işlenmesi gerektiğini somutlaştırır. İlk örnekte, kategoriye göre filtreleme yapılırken typeof kontrolü kullanılır: kategori değişkeni yalnızca istek.query.kategori bir string ise atanır, aksi hâlde undefined kalır; bu kontrol sayesinde query değerinin eksik veya dizi olduğu durumlarda bile kod güvenli biçimde çalışır — çünkü Express'te query parametreleri her zaman string, dizi ya da undefined olabilir. İkinci örnekte, yeni bir kitap eklenirken alanlar önce unknown türünde kabul edilir ve ardından typeof kontrolleriyle doğrulanır; bu, bilinçli bir güvenlik tercihidir, çünkü istemcinin "bu bir metindir" demesi, sunucunun bu iddiayı doğrulamadan kabul etmesi için yeterli değildir. Doğrulama başarısız olursa 400 durum koduyla yanıt verilip return ile işlem sonlandırılır. Bu iki örneğin ortak mesajı, runtime doğrulamasının neden vazgeçilmez olduğudur: TypeScript türleri yalnızca derleme zamanında geçerlidir, ağ üzerinden gelen veri ise çalışma zamanında bilinmeyen bir yapıdadır — bu nedenle hem tür tanımı hem de çalışma zamanı doğrulaması birlikte gereklidir. Doğrulanmamış veriyi doğrudan veri kaynağına eklemek, istenmeyen alanların saklanmasına yol açabileceği için özellikle riskli bir alışkanlıktır.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Dört veri kaynağı — params, query, body ve headers — farklı amaçlara hizmet eder ve her birinin kendine özgü dikkat noktaları vardır: params değeri her zaman string olarak gelir, query eksik veya dizi olabilir, body middleware ve doğrulama gerektirir, headers'taki hassas veriler ise loglanmamalıdır. Bu farklılıklar göz ardı edildiğinde dört yaygın hata ortaya çıkar. Birincisi, NaN kontrolünün atlanmasıdır; bu bir akış hatasıdır, çünkü türler doğru olduğu için derleyici uyarmaz, hata yalnızca geçersiz bir kimlik gönderildiğinde sessizce ortaya çıkar — çözüm, Number.isNaN(kitapKimligi) kontrolüyle geçersiz kimlik için 400, bulunamayan kimlik için ise 404 döndürmektir. İkincisi, express.json() middleware'inin eksik olması veya istemcinin Content-Type başlığını göndermemesidir; bu durumda istek.body tanımsız kalır. Üçüncüsü, query parametresinin her zaman string sayılmasıdır; oysa query alanı tamamen eksik de olabilir ve bu undefined durumu ayrıca kontrol edilmelidir. Dördüncüsü, doğrulanmamış body verisinin doğrudan veri kaynağına eklenmesidir; bu, istenmeyen alanların sisteme sızmasına yol açabilir. Bu dört hata, request verisinin hiçbir zaman "olduğu gibi" güvenilmemesi gerektiğini gösteren somut örneklerdir.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5.8'deki kaynak getirme örneği, iyi tasarlanmış bir response'un nasıl kurulduğunu gösterir: önce route parametresi sayıya dönüştürülür ve NaN ise 400 Bad Request döndürülür, ardından kayıt bulunamazsa 404 Not Found döndürülür, her iki durumda da return ile akış sonlandırılır, son olarak başarılı durumda 200 OK ile birlikte veri JSON gövdesinde gönderilir. İyi tasarlanmış bir response, istemcinin ek tahmin yapmasını önler: durum kodu sonuç sınıfını, JSON gövdesi ise ayrıntıyı taşır. Durum kodu rehberi altı temel kodu özetler: 200 OK başarılı bir GET (okuma) işlemini, 201 Created başarılı bir POST ile yeni kaynağın oluşturulduğunu, 400 Bad Request istemcinin verisinin eksik veya geçersiz türde olduğunu, 401 Unauthorized kimlik doğrulama bilgisinin eksik olduğunu, 404 Not Found isteğin geçerli olduğu ama kaynağın veri kaynağında bulunamadığını, 500 Internal Server Error ise sunucu tarafında beklenmeyen bir hatanın oluştuğunu ifade eder. Teknik olarak yanit.json(...) veriyi JSON'a dönüştürür, yanit.send(...) düz metin gönderir, yanit.status(...).json(...) ise durum kodu ile gövdeyi birlikte belirler; aynı isteğe iki kez yanıt gönderilemez, aksi hâlde "headers already sent" hatası oluşur. Bu sayfanın özet kuralı nettir: her hataya 200 dönmek, istemcinin gerçek hatayla başarıyı ayırt etmesini engeller.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Response oluştururken dört yaygın hata istemci deneyimini ve güvenliği doğrudan etkiler. Birincisi, yanıt gönderildikten sonra akışın durmamasıdır; bu bir akış hatasıdır, çünkü derleyici iki kez yanıt gönderildiğini göremez, hata yalnızca çalışma anında "headers already sent" olarak ortaya çıkar — örnekte 404 döndürüldükten sonra return eksik olduğu için kod akışı devam eder ve ikinci bir yanıt göndermeye çalışır; çözüm, yanıt gönderen her dalda return kullanmaktır. İkincisi, 200 ile 201'in karıştırılmasıdır; yeni bir kaynak oluşturulduğunda 201 Created kullanılmalıdır, çünkü bu durum kodu istemciye özellikle "oluşturma" bilgisini taşır, salt 200 bu ayrımı kaybettirir. Üçüncüsü, hata durumunda tutarsız yanıt vermektir; yalnızca metin veya boş yanıt göndermek yerine tutarlı bir JSON hata nesnesi kullanmak, istemcinin hata mesajını güvenilir biçimde işlemesini sağlar. Dördüncüsü, 500 hatasında ayrıntı sızdırmaktır; veritabanı parolası, dosya yolu veya hata yığını gibi teknik bilgiler istemciye asla döndürülmemelidir — istemciye genel bir mesaj, sunucu loglarına ise teknik ayrıntı yazılmalıdır. Bu dört hatanın ortak mimari çözümü, return yanit.status(...).json(...) kalıbını her yanıt noktasında tutarlı biçimde kullanmaktır; bu, aynı isteğe ikinci kez yanıt gönderilmesini önler ve her HTTP isteğinin tam olarak bir kez yanıtlanmasını garanti eder.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Express öğrenirken sıkça karşılaşılan üç kavram yanılgısını ve bunların mimari çözümlerini ele alır. Birinci yanılgı, "next() çağırmasam da istek bir sonraki adıma ilerler" düşüncesidir; oysa Express bir ara katmanın işini ancak res.send() veya res.json() ile yanıt verilmesinden ya da next() çağrılmasından anlar — ikisi de yapılmazsa istek askıda kalır ve istemci sonsuza kadar bekler; çözüm, middleware akışındaki her kod dalında ya istemciye yanıt döndüğünden ya da next() çağrıldığından emin olmaktır. İkinci yanılgı, "res.json() çağrıldığında fonksiyonun yürütülmesi anında durur" inancıdır; oysa res.json() yalnızca yanıt paketini sokete yazar, altındaki JavaScript kodu çalışmaya devam eder — alt satırda ikinci bir res.json() çağrısı yapılırsa ERR_HTTP_HEADERS_SENT hatası üretilir; çözüm, yanıt döndüren tüm satırlarda return yanit.status(...).json(...) kalıbını kullanmaktır. Üçüncü yanılgı, "tüm route ve iş kurallarını tek dosyaya yığmak performansı artırır" düşüncesidir; oysa bunun performansa hiçbir olumlu etkisi yoktur, yalnızca bakım yapılabilirliği, modülerliği ve ekip çalışmasını felç eder — route eşleşme hızı dosya sayısından bağımsızdır; çözüm, express.Router() ile alan bazlı (laboratuvar, ekipman, kullanıcı gibi) bağımsız rota modülleri oluşturmaktır. Bu üç yanılgı, kodun "çalışıyor gibi görünmesi" ile "doğru çalışması" arasındaki farkı gösteren tipik örneklerdir.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KitapApiUygulamasi sınıfı, bölümde öğrenilen tüm kavramları tek bir uçtan uca örnekte birleştirir. baslat() metodu sırasıyla express.json() middleware'ini, istekGunlugu günlükleme middleware'ini ekler, ardından GET /kitaplar ve POST /kitaplar route'larını tanımlar ve en sonunda listen() ile sunucuyu başlatır. Dikkat edilmesi gereken önemli bir tasarım noktası, route handler'larının ok fonksiyonuyla (kitapGetir = (istek, yanit) =&gt; {...} şeklinde) tanımlanmasıdır; bu, this bağlamının Express tarafından çağrıldığında kaybolmamasını sağlar — sınıf metotları normal fonksiyon olarak tanımlansaydı, Express çağırdığında this bağlamı kaybolabilirdi. Sağ tarafta listelenen dört endpoint, bölümün tüm kavramlarını somutlaştırır: GET /kitaplar kategori filtresiyle listeleme yapar, GET /kitaplar/:kitapKimligi 400 ve 404 durumlarını ayırarak tekil kayıt getirir, POST /kitaplar alan doğrulaması yapıp başarılı olduğunda 201 Created döndürür, GET /durum ise basit bir sağlık kontrolü endpoint'idir. Bu programı genişletmek isteyenler için üç öneri sunulur: DELETE /kitaplar/:kitapKimligi ile silme işlevi eklemek, sayfa ve sayfaBoyutu parametreleriyle sayfalama eklemek, API anahtarı denetimini yalnızca POST ve DELETE işlemlerine uygulamak. Bu uygulama, middleware zinciri, routing, request doğrulama ve response ile anlamlı durum kodlarını tek yerde birleştirir ve bu rota-middleware düzeni, bölüm boyunca referans verilen Üniversite Laboratuvar Yönetim Sistemi'nin API iskeletini oluşturur.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altı temel kavram işlendi. Express, express() ile uygulama nesnesi oluşturmayı, listen() ile port dinlemeyi ve get() ile temel route tanımlamayı kapsar. Routing, HTTP metodu ile URL yolunun birlikte değerlendirilmesini gerektirir; route parametresi tekil bir kaynağı seçer. Middleware, istek ile route arasında çalışan işlem halkalarıdır; next() zinciri sürdürür, yanıt gönderme ise zinciri sonlandırır. Request nesnesi, params ile kimlik, query ile filtre, body ile yeni veri taşır — hiçbiri otomatik olarak güvenilir kabul edilmemelidir. Response, 200 ve 201 gibi başarı kodlarını, 400, 401 ve 404 gibi hata sınıflarını istemciye anlamlı biçimde bildirir. Son olarak, TypeScript ile çalışma zamanı doğrulaması birlikte ele alınmalıdır: tür sistemi yalnızca derleme zamanı güvenliği sağlar, ağdan gelen veri ise çalışma zamanında ayrıca doğrulanmalıdır. Bu altı kavramın pratik bir özeti şudur: bir API endpoint'i tasarlarken önce kaynak belirlenir, sonra uygun HTTP metodu seçilir, request verisi doğrulanır ve son olarak uygun response ile durum kodu döndürülür — bu sıra, bölümün tüm içeriğinin pratiğe dökülmüş hâlidir.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Kitap API'si bu bölümde route, middleware, request ve response ilişkisini kurdu; ancak veri şu ana kadar yalnızca bellekte, bir dizi içinde tutuluyor. Bu bölümü tamamlayan bir öğrenci artık route ve middleware zinciriyle istek işlem hattı kurabilir, request'i doğrulayıp anlamlı bir HTTP yanıtı üretebilir hâle gelmiştir. Ancak bellek içi bir liste, sunucu her yeniden başlatıldığında sıfırlanır ve gerçek bir uygulamada kalıcı olmayan veri ciddi bir sınırlamadır. Bir sonraki bölüm, kalıcı veri yönetimini ele alacak: bellek içi listeler yerine güvenilir bir veri katmanı nasıl kurulur, sorusuna yanıt arayacak. Bu bölümde öğrenilen Express routing bilgisi, bir sonraki bölümde veritabanı işlemlerini doğru endpoint'lere bağlamak ve daha sürdürülebilir web servisleri geliştirmek için doğrudan temel oluşturacaktır — yani route ve middleware kalıpları değişmeyecek, yalnızca route'ların içindeki veri erişim katmanı bellekten kalıcı bir depoya taşınacaktır.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05-express-web-server-2026091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05-express-web-server-2026091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kapak-plani"/>
          <p:cNvSpPr/>
          <p:nvPr/>
        </p:nvSpPr>
        <p:spPr>
          <a:xfrm>
            <a:off x="0" y="0"/>
            <a:ext cx="4305300" cy="6858000"/>
          </a:xfrm>
          <a:prstGeom prst="rect">
            <a:avLst/>
          </a:prstGeom>
          <a:solidFill>
            <a:srgbClr val="12355B"/>
          </a:solidFill>
          <a:ln>
            <a:noFill/>
          </a:ln>
        </p:spPr>
      </p:sp>
      <p:grpSp>
        <p:nvGrpSpPr>
          <p:cNvPr id="7" name="kapak-kimlik"/>
          <p:cNvGrpSpPr/>
          <p:nvPr/>
        </p:nvGrpSpPr>
        <p:grpSpPr>
          <a:xfrm>
            <a:off x="590550" y="1546860"/>
            <a:ext cx="3123133" cy="3196590"/>
            <a:chOff x="590550" y="1546860"/>
            <a:chExt cx="3123133" cy="3196590"/>
          </a:xfrm>
        </p:grpSpPr>
        <p:sp>
          <p:nvSpPr>
            <p:cNvPr id="3" name="TextBox 3"/>
            <p:cNvSpPr txBox="1"/>
            <p:nvPr/>
          </p:nvSpPr>
          <p:spPr>
            <a:xfrm>
              <a:off x="603504" y="1546860"/>
              <a:ext cx="311017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MODERN SUNUCU TABANLI PROGRAMLAMA</a:t>
              </a:r>
            </a:p>
          </p:txBody>
        </p:sp>
        <p:sp>
          <p:nvSpPr>
            <p:cNvPr id="4" name="Rectangle 4"/>
            <p:cNvSpPr/>
            <p:nvPr/>
          </p:nvSpPr>
          <p:spPr>
            <a:xfrm>
              <a:off x="609600" y="1905000"/>
              <a:ext cx="1143000" cy="38100"/>
            </a:xfrm>
            <a:prstGeom prst="rect">
              <a:avLst/>
            </a:prstGeom>
            <a:solidFill>
              <a:srgbClr val="00A6A6"/>
            </a:solidFill>
            <a:ln>
              <a:noFill/>
            </a:ln>
          </p:spPr>
        </p:sp>
        <p:sp>
          <p:nvSpPr>
            <p:cNvPr id="5" name="TextBox 5"/>
            <p:cNvSpPr txBox="1"/>
            <p:nvPr/>
          </p:nvSpPr>
          <p:spPr>
            <a:xfrm>
              <a:off x="590550" y="2438400"/>
              <a:ext cx="1903933" cy="2305050"/>
            </a:xfrm>
            <a:prstGeom prst="rect">
              <a:avLst/>
            </a:prstGeom>
            <a:noFill/>
            <a:ln>
              <a:noFill/>
            </a:ln>
          </p:spPr>
          <p:txBody>
            <a:bodyPr wrap="none" lIns="0" tIns="0" rIns="0" bIns="0" anchor="t" anchorCtr="0">
              <a:spAutoFit/>
            </a:bodyPr>
            <a:lstStyle/>
            <a:p>
              <a:pPr algn="l"/>
              <a:r>
                <a:rPr lang="tr-TR" sz="12000" b="1" dirty="0">
                  <a:solidFill>
                    <a:srgbClr val="00A6A6"/>
                  </a:solidFill>
                  <a:latin typeface="+mj-lt"/>
                  <a:ea typeface="+mj-ea"/>
                  <a:cs typeface="+mj-cs"/>
                </a:rPr>
                <a:t>05</a:t>
              </a:r>
            </a:p>
          </p:txBody>
        </p:sp>
        <p:sp>
          <p:nvSpPr>
            <p:cNvPr id="6" name="TextBox 6"/>
            <p:cNvSpPr txBox="1"/>
            <p:nvPr/>
          </p:nvSpPr>
          <p:spPr>
            <a:xfrm>
              <a:off x="598170" y="4062412"/>
              <a:ext cx="891289" cy="440055"/>
            </a:xfrm>
            <a:prstGeom prst="rect">
              <a:avLst/>
            </a:prstGeom>
            <a:noFill/>
            <a:ln>
              <a:noFill/>
            </a:ln>
          </p:spPr>
          <p:txBody>
            <a:bodyPr wrap="none" lIns="0" tIns="0" rIns="0" bIns="0" anchor="t" anchorCtr="0">
              <a:spAutoFit/>
            </a:bodyPr>
            <a:lstStyle/>
            <a:p>
              <a:pPr algn="l"/>
              <a:r>
                <a:rPr lang="tr-TR" sz="2250" b="1" dirty="0">
                  <a:solidFill>
                    <a:srgbClr val="FFFFFF"/>
                  </a:solidFill>
                  <a:latin typeface="+mn-lt"/>
                  <a:ea typeface="+mn-ea"/>
                  <a:cs typeface="+mn-cs"/>
                </a:rPr>
                <a:t>Bölüm</a:t>
              </a:r>
            </a:p>
          </p:txBody>
        </p:sp>
      </p:grpSp>
      <p:grpSp>
        <p:nvGrpSpPr>
          <p:cNvPr id="11" name="kapak-baslik"/>
          <p:cNvGrpSpPr/>
          <p:nvPr/>
        </p:nvGrpSpPr>
        <p:grpSpPr>
          <a:xfrm>
            <a:off x="4898136" y="2501265"/>
            <a:ext cx="4511832" cy="2113503"/>
            <a:chOff x="4898136" y="2501265"/>
            <a:chExt cx="4511832" cy="2113503"/>
          </a:xfrm>
        </p:grpSpPr>
        <p:sp>
          <p:nvSpPr>
            <p:cNvPr id="8" name="TextBox 8"/>
            <p:cNvSpPr txBox="1"/>
            <p:nvPr/>
          </p:nvSpPr>
          <p:spPr>
            <a:xfrm>
              <a:off x="4898136" y="2501265"/>
              <a:ext cx="4302062" cy="1178814"/>
            </a:xfrm>
            <a:prstGeom prst="rect">
              <a:avLst/>
            </a:prstGeom>
            <a:noFill/>
            <a:ln>
              <a:noFill/>
            </a:ln>
          </p:spPr>
          <p:txBody>
            <a:bodyPr wrap="none" lIns="0" tIns="0" rIns="0" bIns="0" anchor="t" anchorCtr="0">
              <a:spAutoFit/>
            </a:bodyPr>
            <a:lstStyle/>
            <a:p>
              <a:pPr algn="l">
                <a:lnSpc>
                  <a:spcPts val="4200"/>
                </a:lnSpc>
              </a:pPr>
              <a:r>
                <a:rPr lang="tr-TR" sz="3300" b="1" dirty="0">
                  <a:solidFill>
                    <a:srgbClr val="12355B"/>
                  </a:solidFill>
                  <a:latin typeface="+mj-lt"/>
                  <a:ea typeface="+mj-ea"/>
                  <a:cs typeface="+mj-cs"/>
                </a:rPr>
                <a:t>Express ile Web</a:t>
              </a:r>
              <a:br/>
              <a:r>
                <a:rPr lang="tr-TR" sz="3300" b="1" dirty="0">
                  <a:solidFill>
                    <a:srgbClr val="12355B"/>
                  </a:solidFill>
                  <a:latin typeface="+mj-lt"/>
                  <a:ea typeface="+mj-ea"/>
                  <a:cs typeface="+mj-cs"/>
                </a:rPr>
                <a:t>Sunucusu ve Routing</a:t>
              </a:r>
            </a:p>
          </p:txBody>
        </p:sp>
        <p:sp>
          <p:nvSpPr>
            <p:cNvPr id="9" name="TextBox 9"/>
            <p:cNvSpPr txBox="1"/>
            <p:nvPr/>
          </p:nvSpPr>
          <p:spPr>
            <a:xfrm>
              <a:off x="4904994" y="3885248"/>
              <a:ext cx="4504974"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İstek, route, middleware ve yanıt</a:t>
              </a:r>
            </a:p>
          </p:txBody>
        </p:sp>
        <p:sp>
          <p:nvSpPr>
            <p:cNvPr id="10" name="TextBox 10"/>
            <p:cNvSpPr txBox="1"/>
            <p:nvPr/>
          </p:nvSpPr>
          <p:spPr>
            <a:xfrm>
              <a:off x="4906899" y="4306729"/>
              <a:ext cx="323117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 · 2026</a:t>
              </a:r>
            </a:p>
          </p:txBody>
        </p:sp>
      </p:grpSp>
      <p:grpSp>
        <p:nvGrpSpPr>
          <p:cNvPr id="15" name="akis-cizgileri"/>
          <p:cNvGrpSpPr/>
          <p:nvPr/>
        </p:nvGrpSpPr>
        <p:grpSpPr>
          <a:xfrm>
            <a:off x="4914900" y="5391150"/>
            <a:ext cx="6667500" cy="638175"/>
            <a:chOff x="4914900" y="5391150"/>
            <a:chExt cx="6667500" cy="638175"/>
          </a:xfrm>
        </p:grpSpPr>
        <p:sp>
          <p:nvSpPr>
            <p:cNvPr id="12" name="Rectangle 12"/>
            <p:cNvSpPr/>
            <p:nvPr/>
          </p:nvSpPr>
          <p:spPr>
            <a:xfrm>
              <a:off x="4914900" y="5391150"/>
              <a:ext cx="6667500" cy="28575"/>
            </a:xfrm>
            <a:prstGeom prst="rect">
              <a:avLst/>
            </a:prstGeom>
            <a:gradFill>
              <a:gsLst>
                <a:gs pos="0">
                  <a:srgbClr val="00A6A6"/>
                </a:gs>
                <a:gs pos="100000">
                  <a:srgbClr val="2E86AB"/>
                </a:gs>
              </a:gsLst>
              <a:lin ang="0" scaled="1"/>
            </a:gradFill>
            <a:ln>
              <a:noFill/>
            </a:ln>
          </p:spPr>
        </p:sp>
        <p:sp>
          <p:nvSpPr>
            <p:cNvPr id="13" name="Line 13"/>
            <p:cNvSpPr/>
            <p:nvPr/>
          </p:nvSpPr>
          <p:spPr>
            <a:xfrm>
              <a:off x="4914900" y="5715000"/>
              <a:ext cx="4991100" cy="9525"/>
            </a:xfrm>
            <a:custGeom>
              <a:avLst/>
              <a:gdLst/>
              <a:ahLst/>
              <a:cxnLst/>
              <a:rect l="l" t="t" r="r" b="b"/>
              <a:pathLst>
                <a:path w="4991100" h="9525">
                  <a:moveTo>
                    <a:pt x="0" y="0"/>
                  </a:moveTo>
                  <a:lnTo>
                    <a:pt x="4991100" y="0"/>
                  </a:lnTo>
                </a:path>
              </a:pathLst>
            </a:custGeom>
            <a:noFill/>
            <a:ln w="19050">
              <a:solidFill>
                <a:srgbClr val="00A6A6">
                  <a:alpha val="70000"/>
                </a:srgbClr>
              </a:solidFill>
            </a:ln>
          </p:spPr>
        </p:sp>
        <p:sp>
          <p:nvSpPr>
            <p:cNvPr id="14" name="Line 14"/>
            <p:cNvSpPr/>
            <p:nvPr/>
          </p:nvSpPr>
          <p:spPr>
            <a:xfrm>
              <a:off x="4914900" y="6019800"/>
              <a:ext cx="3467100" cy="9525"/>
            </a:xfrm>
            <a:custGeom>
              <a:avLst/>
              <a:gdLst/>
              <a:ahLst/>
              <a:cxnLst/>
              <a:rect l="l" t="t" r="r" b="b"/>
              <a:pathLst>
                <a:path w="3467100" h="9525">
                  <a:moveTo>
                    <a:pt x="0" y="0"/>
                  </a:moveTo>
                  <a:lnTo>
                    <a:pt x="3467100" y="0"/>
                  </a:lnTo>
                </a:path>
              </a:pathLst>
            </a:custGeom>
            <a:noFill/>
            <a:ln w="9525">
              <a:solidFill>
                <a:srgbClr val="00A6A6">
                  <a:alpha val="50000"/>
                </a:srgbClr>
              </a:solidFill>
            </a:ln>
          </p:spPr>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7" name="hedef-lead"/>
          <p:cNvGrpSpPr/>
          <p:nvPr/>
        </p:nvGrpSpPr>
        <p:grpSpPr>
          <a:xfrm>
            <a:off x="601599" y="1277779"/>
            <a:ext cx="9499427" cy="308039"/>
            <a:chOff x="601599" y="1277779"/>
            <a:chExt cx="9499427" cy="308039"/>
          </a:xfrm>
        </p:grpSpPr>
        <p:sp>
          <p:nvSpPr>
            <p:cNvPr id="6" name="TextBox 6"/>
            <p:cNvSpPr txBox="1"/>
            <p:nvPr/>
          </p:nvSpPr>
          <p:spPr>
            <a:xfrm>
              <a:off x="601599" y="1277779"/>
              <a:ext cx="949942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Metot, URL, giriş verisi, middleware sırası ve durum kodu birlikte doğru tasarlanmalıdır.</a:t>
              </a:r>
            </a:p>
          </p:txBody>
        </p:sp>
      </p:grpSp>
      <p:grpSp>
        <p:nvGrpSpPr>
          <p:cNvPr id="33" name="hedefler"/>
          <p:cNvGrpSpPr/>
          <p:nvPr/>
        </p:nvGrpSpPr>
        <p:grpSpPr>
          <a:xfrm>
            <a:off x="685800" y="1933575"/>
            <a:ext cx="5195316" cy="3734181"/>
            <a:chOff x="685800" y="1933575"/>
            <a:chExt cx="5195316" cy="3734181"/>
          </a:xfrm>
        </p:grpSpPr>
        <p:grpSp>
          <p:nvGrpSpPr>
            <p:cNvPr id="12" name="hedef-1"/>
            <p:cNvGrpSpPr/>
            <p:nvPr/>
          </p:nvGrpSpPr>
          <p:grpSpPr>
            <a:xfrm>
              <a:off x="685800" y="1933575"/>
              <a:ext cx="5103876" cy="762381"/>
              <a:chOff x="685800" y="1933575"/>
              <a:chExt cx="5103876" cy="762381"/>
            </a:xfrm>
          </p:grpSpPr>
          <p:sp>
            <p:nvSpPr>
              <p:cNvPr id="8" name="Ellipse 8"/>
              <p:cNvSpPr/>
              <p:nvPr/>
            </p:nvSpPr>
            <p:spPr>
              <a:xfrm>
                <a:off x="685800" y="1933575"/>
                <a:ext cx="304800" cy="304800"/>
              </a:xfrm>
              <a:prstGeom prst="ellipse">
                <a:avLst/>
              </a:prstGeom>
              <a:solidFill>
                <a:srgbClr val="12355B"/>
              </a:solidFill>
              <a:ln>
                <a:noFill/>
              </a:ln>
            </p:spPr>
          </p:sp>
          <p:sp>
            <p:nvSpPr>
              <p:cNvPr id="9" name="TextBox 9"/>
              <p:cNvSpPr txBox="1"/>
              <p:nvPr/>
            </p:nvSpPr>
            <p:spPr>
              <a:xfrm>
                <a:off x="785458" y="20231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1</a:t>
                </a:r>
              </a:p>
            </p:txBody>
          </p:sp>
          <p:sp>
            <p:nvSpPr>
              <p:cNvPr id="10" name="TextBox 10"/>
              <p:cNvSpPr txBox="1"/>
              <p:nvPr/>
            </p:nvSpPr>
            <p:spPr>
              <a:xfrm>
                <a:off x="1134999" y="1982629"/>
                <a:ext cx="301605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Express uygulaması kurmak</a:t>
                </a:r>
              </a:p>
            </p:txBody>
          </p:sp>
          <p:sp>
            <p:nvSpPr>
              <p:cNvPr id="11" name="TextBox 11"/>
              <p:cNvSpPr txBox="1"/>
              <p:nvPr/>
            </p:nvSpPr>
            <p:spPr>
              <a:xfrm>
                <a:off x="1136904" y="2251710"/>
                <a:ext cx="46527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express() ile uygulama nesnesi oluşturup listen() ile belirli bir</a:t>
                </a:r>
                <a:br/>
                <a:r>
                  <a:rPr lang="tr-TR" sz="1200" dirty="0">
                    <a:solidFill>
                      <a:srgbClr val="52616B"/>
                    </a:solidFill>
                    <a:latin typeface="+mn-lt"/>
                    <a:ea typeface="+mn-ea"/>
                    <a:cs typeface="+mn-cs"/>
                  </a:rPr>
                  <a:t>portta dinletmek ve ilk GET route'unu tanımlamak.</a:t>
                </a:r>
              </a:p>
            </p:txBody>
          </p:sp>
        </p:grpSp>
        <p:grpSp>
          <p:nvGrpSpPr>
            <p:cNvPr id="17" name="hedef-2"/>
            <p:cNvGrpSpPr/>
            <p:nvPr/>
          </p:nvGrpSpPr>
          <p:grpSpPr>
            <a:xfrm>
              <a:off x="685800" y="2676525"/>
              <a:ext cx="5195316" cy="762381"/>
              <a:chOff x="685800" y="2676525"/>
              <a:chExt cx="5195316" cy="762381"/>
            </a:xfrm>
          </p:grpSpPr>
          <p:sp>
            <p:nvSpPr>
              <p:cNvPr id="13" name="Ellipse 13"/>
              <p:cNvSpPr/>
              <p:nvPr/>
            </p:nvSpPr>
            <p:spPr>
              <a:xfrm>
                <a:off x="685800" y="2676525"/>
                <a:ext cx="304800" cy="304800"/>
              </a:xfrm>
              <a:prstGeom prst="ellipse">
                <a:avLst/>
              </a:prstGeom>
              <a:solidFill>
                <a:srgbClr val="00A6A6"/>
              </a:solidFill>
              <a:ln>
                <a:noFill/>
              </a:ln>
            </p:spPr>
          </p:sp>
          <p:sp>
            <p:nvSpPr>
              <p:cNvPr id="14" name="TextBox 14"/>
              <p:cNvSpPr txBox="1"/>
              <p:nvPr/>
            </p:nvSpPr>
            <p:spPr>
              <a:xfrm>
                <a:off x="785458" y="276606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2</a:t>
                </a:r>
              </a:p>
            </p:txBody>
          </p:sp>
          <p:sp>
            <p:nvSpPr>
              <p:cNvPr id="15" name="TextBox 15"/>
              <p:cNvSpPr txBox="1"/>
              <p:nvPr/>
            </p:nvSpPr>
            <p:spPr>
              <a:xfrm>
                <a:off x="1134999" y="2725579"/>
                <a:ext cx="260281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Uygun route tasarlamak</a:t>
                </a:r>
              </a:p>
            </p:txBody>
          </p:sp>
          <p:sp>
            <p:nvSpPr>
              <p:cNvPr id="16" name="TextBox 16"/>
              <p:cNvSpPr txBox="1"/>
              <p:nvPr/>
            </p:nvSpPr>
            <p:spPr>
              <a:xfrm>
                <a:off x="1136904" y="2994660"/>
                <a:ext cx="47442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İstemcinin hangi URL'ye hangi HTTP metoduyla istek gönderdiğini</a:t>
                </a:r>
                <a:br/>
                <a:r>
                  <a:rPr lang="tr-TR" sz="1200" dirty="0">
                    <a:solidFill>
                      <a:srgbClr val="52616B"/>
                    </a:solidFill>
                    <a:latin typeface="+mn-lt"/>
                    <a:ea typeface="+mn-ea"/>
                    <a:cs typeface="+mn-cs"/>
                  </a:rPr>
                  <a:t>okuyarak eşleşen route'u yazmak.</a:t>
                </a:r>
              </a:p>
            </p:txBody>
          </p:sp>
        </p:grpSp>
        <p:grpSp>
          <p:nvGrpSpPr>
            <p:cNvPr id="22" name="hedef-3"/>
            <p:cNvGrpSpPr/>
            <p:nvPr/>
          </p:nvGrpSpPr>
          <p:grpSpPr>
            <a:xfrm>
              <a:off x="685800" y="3419475"/>
              <a:ext cx="5119116" cy="762381"/>
              <a:chOff x="685800" y="3419475"/>
              <a:chExt cx="5119116" cy="762381"/>
            </a:xfrm>
          </p:grpSpPr>
          <p:sp>
            <p:nvSpPr>
              <p:cNvPr id="18" name="Ellipse 18"/>
              <p:cNvSpPr/>
              <p:nvPr/>
            </p:nvSpPr>
            <p:spPr>
              <a:xfrm>
                <a:off x="685800" y="3419475"/>
                <a:ext cx="304800" cy="304800"/>
              </a:xfrm>
              <a:prstGeom prst="ellipse">
                <a:avLst/>
              </a:prstGeom>
              <a:solidFill>
                <a:srgbClr val="2E86AB"/>
              </a:solidFill>
              <a:ln>
                <a:noFill/>
              </a:ln>
            </p:spPr>
          </p:sp>
          <p:sp>
            <p:nvSpPr>
              <p:cNvPr id="19" name="TextBox 19"/>
              <p:cNvSpPr txBox="1"/>
              <p:nvPr/>
            </p:nvSpPr>
            <p:spPr>
              <a:xfrm>
                <a:off x="785458" y="35090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3</a:t>
                </a:r>
              </a:p>
            </p:txBody>
          </p:sp>
          <p:sp>
            <p:nvSpPr>
              <p:cNvPr id="20" name="TextBox 20"/>
              <p:cNvSpPr txBox="1"/>
              <p:nvPr/>
            </p:nvSpPr>
            <p:spPr>
              <a:xfrm>
                <a:off x="1134999" y="3468529"/>
                <a:ext cx="254648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Kaynak kimliğini okumak</a:t>
                </a:r>
              </a:p>
            </p:txBody>
          </p:sp>
          <p:sp>
            <p:nvSpPr>
              <p:cNvPr id="21" name="TextBox 21"/>
              <p:cNvSpPr txBox="1"/>
              <p:nvPr/>
            </p:nvSpPr>
            <p:spPr>
              <a:xfrm>
                <a:off x="1136904" y="3737610"/>
                <a:ext cx="46680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/kitaplar/3 adresindeki 3 değerini istek.params üzerinden alıp</a:t>
                </a:r>
                <a:br/>
                <a:r>
                  <a:rPr lang="tr-TR" sz="1200" dirty="0">
                    <a:solidFill>
                      <a:srgbClr val="52616B"/>
                    </a:solidFill>
                    <a:latin typeface="+mn-lt"/>
                    <a:ea typeface="+mn-ea"/>
                    <a:cs typeface="+mn-cs"/>
                  </a:rPr>
                  <a:t>belirli bir kayda ulaşmak.</a:t>
                </a:r>
              </a:p>
            </p:txBody>
          </p:sp>
        </p:grpSp>
        <p:grpSp>
          <p:nvGrpSpPr>
            <p:cNvPr id="27" name="hedef-4"/>
            <p:cNvGrpSpPr/>
            <p:nvPr/>
          </p:nvGrpSpPr>
          <p:grpSpPr>
            <a:xfrm>
              <a:off x="685800" y="4162425"/>
              <a:ext cx="4974336" cy="762381"/>
              <a:chOff x="685800" y="4162425"/>
              <a:chExt cx="4974336" cy="762381"/>
            </a:xfrm>
          </p:grpSpPr>
          <p:sp>
            <p:nvSpPr>
              <p:cNvPr id="23" name="Ellipse 23"/>
              <p:cNvSpPr/>
              <p:nvPr/>
            </p:nvSpPr>
            <p:spPr>
              <a:xfrm>
                <a:off x="685800" y="4162425"/>
                <a:ext cx="304800" cy="304800"/>
              </a:xfrm>
              <a:prstGeom prst="ellipse">
                <a:avLst/>
              </a:prstGeom>
              <a:solidFill>
                <a:srgbClr val="2E86AB"/>
              </a:solidFill>
              <a:ln>
                <a:noFill/>
              </a:ln>
            </p:spPr>
          </p:sp>
          <p:sp>
            <p:nvSpPr>
              <p:cNvPr id="24" name="TextBox 24"/>
              <p:cNvSpPr txBox="1"/>
              <p:nvPr/>
            </p:nvSpPr>
            <p:spPr>
              <a:xfrm>
                <a:off x="785458" y="425196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4</a:t>
                </a:r>
              </a:p>
            </p:txBody>
          </p:sp>
          <p:sp>
            <p:nvSpPr>
              <p:cNvPr id="25" name="TextBox 25"/>
              <p:cNvSpPr txBox="1"/>
              <p:nvPr/>
            </p:nvSpPr>
            <p:spPr>
              <a:xfrm>
                <a:off x="1134999" y="4211479"/>
                <a:ext cx="23008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Query ile filtrelemek</a:t>
                </a:r>
              </a:p>
            </p:txBody>
          </p:sp>
          <p:sp>
            <p:nvSpPr>
              <p:cNvPr id="26" name="TextBox 26"/>
              <p:cNvSpPr txBox="1"/>
              <p:nvPr/>
            </p:nvSpPr>
            <p:spPr>
              <a:xfrm>
                <a:off x="1136904" y="4480560"/>
                <a:ext cx="45232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/kitaplar?kategori=Programlama isteğinde listeyi kategoriye</a:t>
                </a:r>
                <a:br/>
                <a:r>
                  <a:rPr lang="tr-TR" sz="1200" dirty="0">
                    <a:solidFill>
                      <a:srgbClr val="52616B"/>
                    </a:solidFill>
                    <a:latin typeface="+mn-lt"/>
                    <a:ea typeface="+mn-ea"/>
                    <a:cs typeface="+mn-cs"/>
                  </a:rPr>
                  <a:t>göre daraltmak ve isteğe bağlı değeri denetlemek.</a:t>
                </a:r>
              </a:p>
            </p:txBody>
          </p:sp>
        </p:grpSp>
        <p:grpSp>
          <p:nvGrpSpPr>
            <p:cNvPr id="32" name="hedef-5"/>
            <p:cNvGrpSpPr/>
            <p:nvPr/>
          </p:nvGrpSpPr>
          <p:grpSpPr>
            <a:xfrm>
              <a:off x="685800" y="4905375"/>
              <a:ext cx="4814316" cy="762381"/>
              <a:chOff x="685800" y="4905375"/>
              <a:chExt cx="4814316" cy="762381"/>
            </a:xfrm>
          </p:grpSpPr>
          <p:sp>
            <p:nvSpPr>
              <p:cNvPr id="28" name="Ellipse 28"/>
              <p:cNvSpPr/>
              <p:nvPr/>
            </p:nvSpPr>
            <p:spPr>
              <a:xfrm>
                <a:off x="685800" y="4905375"/>
                <a:ext cx="304800" cy="304800"/>
              </a:xfrm>
              <a:prstGeom prst="ellipse">
                <a:avLst/>
              </a:prstGeom>
              <a:solidFill>
                <a:srgbClr val="12355B"/>
              </a:solidFill>
              <a:ln>
                <a:noFill/>
              </a:ln>
            </p:spPr>
          </p:sp>
          <p:sp>
            <p:nvSpPr>
              <p:cNvPr id="29" name="TextBox 29"/>
              <p:cNvSpPr txBox="1"/>
              <p:nvPr/>
            </p:nvSpPr>
            <p:spPr>
              <a:xfrm>
                <a:off x="785458" y="49949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5</a:t>
                </a:r>
              </a:p>
            </p:txBody>
          </p:sp>
          <p:sp>
            <p:nvSpPr>
              <p:cNvPr id="30" name="TextBox 30"/>
              <p:cNvSpPr txBox="1"/>
              <p:nvPr/>
            </p:nvSpPr>
            <p:spPr>
              <a:xfrm>
                <a:off x="1134999" y="4954429"/>
                <a:ext cx="292537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JSON gövdesini doğrulamak</a:t>
                </a:r>
              </a:p>
            </p:txBody>
          </p:sp>
          <p:sp>
            <p:nvSpPr>
              <p:cNvPr id="31" name="TextBox 31"/>
              <p:cNvSpPr txBox="1"/>
              <p:nvPr/>
            </p:nvSpPr>
            <p:spPr>
              <a:xfrm>
                <a:off x="1136904" y="5223510"/>
                <a:ext cx="43632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express.json() ile gövdeyi ayrıştırmak; eksik alanda 400,</a:t>
                </a:r>
                <a:br/>
                <a:r>
                  <a:rPr lang="tr-TR" sz="1200" dirty="0">
                    <a:solidFill>
                      <a:srgbClr val="52616B"/>
                    </a:solidFill>
                    <a:latin typeface="+mn-lt"/>
                    <a:ea typeface="+mn-ea"/>
                    <a:cs typeface="+mn-cs"/>
                  </a:rPr>
                  <a:t>başarılı eklemede 201 döndürmek.</a:t>
                </a:r>
              </a:p>
            </p:txBody>
          </p:sp>
        </p:grpSp>
      </p:grpSp>
      <p:grpSp>
        <p:nvGrpSpPr>
          <p:cNvPr id="49" name="olcutler"/>
          <p:cNvGrpSpPr/>
          <p:nvPr/>
        </p:nvGrpSpPr>
        <p:grpSpPr>
          <a:xfrm>
            <a:off x="7581900" y="1771650"/>
            <a:ext cx="4000500" cy="3771900"/>
            <a:chOff x="7581900" y="1771650"/>
            <a:chExt cx="4000500" cy="3771900"/>
          </a:xfrm>
        </p:grpSpPr>
        <p:sp>
          <p:nvSpPr>
            <p:cNvPr id="34" name="Rectangle 34"/>
            <p:cNvSpPr/>
            <p:nvPr/>
          </p:nvSpPr>
          <p:spPr>
            <a:xfrm>
              <a:off x="7581900" y="1771650"/>
              <a:ext cx="4000500" cy="3771900"/>
            </a:xfrm>
            <a:prstGeom prst="rect">
              <a:avLst/>
            </a:prstGeom>
            <a:solidFill>
              <a:srgbClr val="FFFFFF"/>
            </a:solidFill>
            <a:ln w="9525">
              <a:solidFill>
                <a:srgbClr val="B8CBD3"/>
              </a:solidFill>
            </a:ln>
          </p:spPr>
        </p:sp>
        <p:sp>
          <p:nvSpPr>
            <p:cNvPr id="35" name="Rectangle 35"/>
            <p:cNvSpPr/>
            <p:nvPr/>
          </p:nvSpPr>
          <p:spPr>
            <a:xfrm>
              <a:off x="7581900" y="1771650"/>
              <a:ext cx="4000500" cy="38100"/>
            </a:xfrm>
            <a:prstGeom prst="rect">
              <a:avLst/>
            </a:prstGeom>
            <a:gradFill>
              <a:gsLst>
                <a:gs pos="0">
                  <a:srgbClr val="00A6A6"/>
                </a:gs>
                <a:gs pos="100000">
                  <a:srgbClr val="2E86AB"/>
                </a:gs>
              </a:gsLst>
              <a:lin ang="0" scaled="1"/>
            </a:gradFill>
            <a:ln>
              <a:noFill/>
            </a:ln>
          </p:spPr>
        </p:sp>
        <p:sp>
          <p:nvSpPr>
            <p:cNvPr id="36" name="TextBox 36"/>
            <p:cNvSpPr txBox="1"/>
            <p:nvPr/>
          </p:nvSpPr>
          <p:spPr>
            <a:xfrm>
              <a:off x="7878699" y="2001679"/>
              <a:ext cx="176458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Başarı ölçütleri</a:t>
              </a:r>
            </a:p>
          </p:txBody>
        </p:sp>
        <p:grpSp>
          <p:nvGrpSpPr>
            <p:cNvPr id="39" name="olcut-1"/>
            <p:cNvGrpSpPr/>
            <p:nvPr/>
          </p:nvGrpSpPr>
          <p:grpSpPr>
            <a:xfrm>
              <a:off x="7886700" y="2480310"/>
              <a:ext cx="2505456" cy="444246"/>
              <a:chOff x="7886700" y="2480310"/>
              <a:chExt cx="2505456" cy="444246"/>
            </a:xfrm>
          </p:grpSpPr>
          <p:sp>
            <p:nvSpPr>
              <p:cNvPr id="37" name="Rectangle 37"/>
              <p:cNvSpPr/>
              <p:nvPr/>
            </p:nvSpPr>
            <p:spPr>
              <a:xfrm>
                <a:off x="7886700" y="2514600"/>
                <a:ext cx="95250" cy="95250"/>
              </a:xfrm>
              <a:prstGeom prst="rect">
                <a:avLst/>
              </a:prstGeom>
              <a:solidFill>
                <a:srgbClr val="00A6A6"/>
              </a:solidFill>
              <a:ln>
                <a:noFill/>
              </a:ln>
            </p:spPr>
          </p:sp>
          <p:sp>
            <p:nvSpPr>
              <p:cNvPr id="38" name="TextBox 38"/>
              <p:cNvSpPr txBox="1"/>
              <p:nvPr/>
            </p:nvSpPr>
            <p:spPr>
              <a:xfrm>
                <a:off x="8109204" y="2480310"/>
                <a:ext cx="22829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GET veri okumak, POST ise yeni</a:t>
                </a:r>
                <a:br/>
                <a:r>
                  <a:rPr lang="tr-TR" sz="1200" dirty="0">
                    <a:solidFill>
                      <a:srgbClr val="172B3A"/>
                    </a:solidFill>
                    <a:latin typeface="+mn-lt"/>
                    <a:ea typeface="+mn-ea"/>
                    <a:cs typeface="+mn-cs"/>
                  </a:rPr>
                  <a:t>veri oluşturmak içindir.</a:t>
                </a:r>
              </a:p>
            </p:txBody>
          </p:sp>
        </p:grpSp>
        <p:grpSp>
          <p:nvGrpSpPr>
            <p:cNvPr id="42" name="olcut-2"/>
            <p:cNvGrpSpPr/>
            <p:nvPr/>
          </p:nvGrpSpPr>
          <p:grpSpPr>
            <a:xfrm>
              <a:off x="7886700" y="3147060"/>
              <a:ext cx="2353056" cy="444246"/>
              <a:chOff x="7886700" y="3147060"/>
              <a:chExt cx="2353056" cy="444246"/>
            </a:xfrm>
          </p:grpSpPr>
          <p:sp>
            <p:nvSpPr>
              <p:cNvPr id="40" name="Rectangle 40"/>
              <p:cNvSpPr/>
              <p:nvPr/>
            </p:nvSpPr>
            <p:spPr>
              <a:xfrm>
                <a:off x="7886700" y="3181350"/>
                <a:ext cx="95250" cy="95250"/>
              </a:xfrm>
              <a:prstGeom prst="rect">
                <a:avLst/>
              </a:prstGeom>
              <a:solidFill>
                <a:srgbClr val="00A6A6"/>
              </a:solidFill>
              <a:ln>
                <a:noFill/>
              </a:ln>
            </p:spPr>
          </p:sp>
          <p:sp>
            <p:nvSpPr>
              <p:cNvPr id="41" name="TextBox 41"/>
              <p:cNvSpPr txBox="1"/>
              <p:nvPr/>
            </p:nvSpPr>
            <p:spPr>
              <a:xfrm>
                <a:off x="8109204" y="3147060"/>
                <a:ext cx="21305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Route parametresi belirli bir</a:t>
                </a:r>
                <a:br/>
                <a:r>
                  <a:rPr lang="tr-TR" sz="1200" dirty="0">
                    <a:solidFill>
                      <a:srgbClr val="172B3A"/>
                    </a:solidFill>
                    <a:latin typeface="+mn-lt"/>
                    <a:ea typeface="+mn-ea"/>
                    <a:cs typeface="+mn-cs"/>
                  </a:rPr>
                  <a:t>kaynağı tanımlar.</a:t>
                </a:r>
              </a:p>
            </p:txBody>
          </p:sp>
        </p:grpSp>
        <p:grpSp>
          <p:nvGrpSpPr>
            <p:cNvPr id="45" name="olcut-3"/>
            <p:cNvGrpSpPr/>
            <p:nvPr/>
          </p:nvGrpSpPr>
          <p:grpSpPr>
            <a:xfrm>
              <a:off x="7886700" y="3813810"/>
              <a:ext cx="2657856" cy="444246"/>
              <a:chOff x="7886700" y="3813810"/>
              <a:chExt cx="2657856" cy="444246"/>
            </a:xfrm>
          </p:grpSpPr>
          <p:sp>
            <p:nvSpPr>
              <p:cNvPr id="43" name="Rectangle 43"/>
              <p:cNvSpPr/>
              <p:nvPr/>
            </p:nvSpPr>
            <p:spPr>
              <a:xfrm>
                <a:off x="7886700" y="3848100"/>
                <a:ext cx="95250" cy="95250"/>
              </a:xfrm>
              <a:prstGeom prst="rect">
                <a:avLst/>
              </a:prstGeom>
              <a:solidFill>
                <a:srgbClr val="00A6A6"/>
              </a:solidFill>
              <a:ln>
                <a:noFill/>
              </a:ln>
            </p:spPr>
          </p:sp>
          <p:sp>
            <p:nvSpPr>
              <p:cNvPr id="44" name="TextBox 44"/>
              <p:cNvSpPr txBox="1"/>
              <p:nvPr/>
            </p:nvSpPr>
            <p:spPr>
              <a:xfrm>
                <a:off x="8109204" y="3813810"/>
                <a:ext cx="24353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Query parametresi filtreleme ve</a:t>
                </a:r>
                <a:br/>
                <a:r>
                  <a:rPr lang="tr-TR" sz="1200" dirty="0">
                    <a:solidFill>
                      <a:srgbClr val="172B3A"/>
                    </a:solidFill>
                    <a:latin typeface="+mn-lt"/>
                    <a:ea typeface="+mn-ea"/>
                    <a:cs typeface="+mn-cs"/>
                  </a:rPr>
                  <a:t>sıralama için uygundur.</a:t>
                </a:r>
              </a:p>
            </p:txBody>
          </p:sp>
        </p:grpSp>
        <p:grpSp>
          <p:nvGrpSpPr>
            <p:cNvPr id="48" name="olcut-4"/>
            <p:cNvGrpSpPr/>
            <p:nvPr/>
          </p:nvGrpSpPr>
          <p:grpSpPr>
            <a:xfrm>
              <a:off x="7886700" y="4480560"/>
              <a:ext cx="2734056" cy="444246"/>
              <a:chOff x="7886700" y="4480560"/>
              <a:chExt cx="2734056" cy="444246"/>
            </a:xfrm>
          </p:grpSpPr>
          <p:sp>
            <p:nvSpPr>
              <p:cNvPr id="46" name="Rectangle 46"/>
              <p:cNvSpPr/>
              <p:nvPr/>
            </p:nvSpPr>
            <p:spPr>
              <a:xfrm>
                <a:off x="7886700" y="4514850"/>
                <a:ext cx="95250" cy="95250"/>
              </a:xfrm>
              <a:prstGeom prst="rect">
                <a:avLst/>
              </a:prstGeom>
              <a:solidFill>
                <a:srgbClr val="00A6A6"/>
              </a:solidFill>
              <a:ln>
                <a:noFill/>
              </a:ln>
            </p:spPr>
          </p:sp>
          <p:sp>
            <p:nvSpPr>
              <p:cNvPr id="47" name="TextBox 47"/>
              <p:cNvSpPr txBox="1"/>
              <p:nvPr/>
            </p:nvSpPr>
            <p:spPr>
              <a:xfrm>
                <a:off x="8109204" y="4480560"/>
                <a:ext cx="25115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200, 201, 400, 401 ve 404 kodları</a:t>
                </a:r>
                <a:br/>
                <a:r>
                  <a:rPr lang="tr-TR" sz="1200" dirty="0">
                    <a:solidFill>
                      <a:srgbClr val="172B3A"/>
                    </a:solidFill>
                    <a:latin typeface="+mn-lt"/>
                    <a:ea typeface="+mn-ea"/>
                    <a:cs typeface="+mn-cs"/>
                  </a:rPr>
                  <a:t>farklı anlamlar taşır.</a:t>
                </a:r>
              </a:p>
            </p:txBody>
          </p:sp>
        </p:grpSp>
      </p:grpSp>
      <p:grpSp>
        <p:nvGrpSpPr>
          <p:cNvPr id="53" name="tur-notu"/>
          <p:cNvGrpSpPr/>
          <p:nvPr/>
        </p:nvGrpSpPr>
        <p:grpSpPr>
          <a:xfrm>
            <a:off x="609600" y="5715000"/>
            <a:ext cx="10972800" cy="609600"/>
            <a:chOff x="609600" y="5715000"/>
            <a:chExt cx="10972800" cy="609600"/>
          </a:xfrm>
        </p:grpSpPr>
        <p:sp>
          <p:nvSpPr>
            <p:cNvPr id="50" name="Rectangle 50"/>
            <p:cNvSpPr/>
            <p:nvPr/>
          </p:nvSpPr>
          <p:spPr>
            <a:xfrm>
              <a:off x="609600" y="5715000"/>
              <a:ext cx="10972800" cy="609600"/>
            </a:xfrm>
            <a:prstGeom prst="rect">
              <a:avLst/>
            </a:prstGeom>
            <a:solidFill>
              <a:srgbClr val="EAF4F6"/>
            </a:solidFill>
            <a:ln>
              <a:noFill/>
            </a:ln>
          </p:spPr>
        </p:sp>
        <p:sp>
          <p:nvSpPr>
            <p:cNvPr id="51" name="Rectangle 51"/>
            <p:cNvSpPr/>
            <p:nvPr/>
          </p:nvSpPr>
          <p:spPr>
            <a:xfrm>
              <a:off x="609600" y="5715000"/>
              <a:ext cx="10972800" cy="38100"/>
            </a:xfrm>
            <a:prstGeom prst="rect">
              <a:avLst/>
            </a:prstGeom>
            <a:gradFill>
              <a:gsLst>
                <a:gs pos="0">
                  <a:srgbClr val="00A6A6"/>
                </a:gs>
                <a:gs pos="100000">
                  <a:srgbClr val="2E86AB"/>
                </a:gs>
              </a:gsLst>
              <a:lin ang="0" scaled="1"/>
            </a:gradFill>
            <a:ln>
              <a:noFill/>
            </a:ln>
          </p:spPr>
        </p:sp>
        <p:sp>
          <p:nvSpPr>
            <p:cNvPr id="52" name="TextBox 52"/>
            <p:cNvSpPr txBox="1"/>
            <p:nvPr/>
          </p:nvSpPr>
          <p:spPr>
            <a:xfrm>
              <a:off x="907161" y="5770721"/>
              <a:ext cx="5506282"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72B3A"/>
                  </a:solidFill>
                  <a:latin typeface="+mn-lt"/>
                  <a:ea typeface="+mn-ea"/>
                  <a:cs typeface="+mn-cs"/>
                </a:rPr>
                <a:t xml:space="preserve">TypeScript 2.0'ın </a:t>
              </a:r>
              <a:r>
                <a:rPr lang="tr-TR" sz="1420" b="1" dirty="0">
                  <a:solidFill>
                    <a:srgbClr val="12355B"/>
                  </a:solidFill>
                  <a:latin typeface="+mn-lt"/>
                  <a:ea typeface="+mn-ea"/>
                  <a:cs typeface="+mn-cs"/>
                </a:rPr>
                <a:t>strictNullChecks</a:t>
              </a:r>
              <a:r>
                <a:rPr lang="tr-TR" sz="1420" dirty="0">
                  <a:solidFill>
                    <a:srgbClr val="172B3A"/>
                  </a:solidFill>
                  <a:latin typeface="+mn-lt"/>
                  <a:ea typeface="+mn-ea"/>
                  <a:cs typeface="+mn-cs"/>
                </a:rPr>
                <a:t xml:space="preserve"> özelliği, find() sonucunun</a:t>
              </a:r>
              <a:br/>
              <a:r>
                <a:rPr lang="tr-TR" sz="1420" dirty="0">
                  <a:solidFill>
                    <a:srgbClr val="172B3A"/>
                  </a:solidFill>
                  <a:latin typeface="+mn-lt"/>
                  <a:ea typeface="+mn-ea"/>
                  <a:cs typeface="+mn-cs"/>
                </a:rPr>
                <a:t>undefined olabileceğini derleme anında görünür kılar.</a:t>
              </a:r>
            </a:p>
          </p:txBody>
        </p:sp>
      </p:grpSp>
      <p:grpSp>
        <p:nvGrpSpPr>
          <p:cNvPr id="56" name="footer"/>
          <p:cNvGrpSpPr/>
          <p:nvPr/>
        </p:nvGrpSpPr>
        <p:grpSpPr>
          <a:xfrm>
            <a:off x="603504" y="6461760"/>
            <a:ext cx="10984992" cy="234696"/>
            <a:chOff x="603504" y="6461760"/>
            <a:chExt cx="10984992" cy="234696"/>
          </a:xfrm>
        </p:grpSpPr>
        <p:sp>
          <p:nvSpPr>
            <p:cNvPr id="54" name="TextBox 54"/>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55" name="TextBox 55"/>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3"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324456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a:t>
              </a:r>
            </a:p>
          </p:txBody>
        </p:sp>
      </p:grpSp>
      <p:grpSp>
        <p:nvGrpSpPr>
          <p:cNvPr id="15" name="harita-lead"/>
          <p:cNvGrpSpPr/>
          <p:nvPr/>
        </p:nvGrpSpPr>
        <p:grpSpPr>
          <a:xfrm>
            <a:off x="601599" y="1277779"/>
            <a:ext cx="8240592" cy="308039"/>
            <a:chOff x="601599" y="1277779"/>
            <a:chExt cx="8240592" cy="308039"/>
          </a:xfrm>
        </p:grpSpPr>
        <p:sp>
          <p:nvSpPr>
            <p:cNvPr id="14" name="TextBox 14"/>
            <p:cNvSpPr txBox="1"/>
            <p:nvPr/>
          </p:nvSpPr>
          <p:spPr>
            <a:xfrm>
              <a:off x="601599" y="1277779"/>
              <a:ext cx="824059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Bir HTTP isteği bu beş kavramın arasından geçerek anlamlı bir yanıta dönüşür.</a:t>
              </a:r>
            </a:p>
          </p:txBody>
        </p:sp>
      </p:grpSp>
      <p:grpSp>
        <p:nvGrpSpPr>
          <p:cNvPr id="54" name="kavram-akisi"/>
          <p:cNvGrpSpPr/>
          <p:nvPr/>
        </p:nvGrpSpPr>
        <p:grpSpPr>
          <a:xfrm>
            <a:off x="595741" y="2000250"/>
            <a:ext cx="10986659" cy="1762506"/>
            <a:chOff x="595741" y="2000250"/>
            <a:chExt cx="10986659" cy="1762506"/>
          </a:xfrm>
        </p:grpSpPr>
        <p:grpSp>
          <p:nvGrpSpPr>
            <p:cNvPr id="19" name="kavram-express"/>
            <p:cNvGrpSpPr/>
            <p:nvPr/>
          </p:nvGrpSpPr>
          <p:grpSpPr>
            <a:xfrm>
              <a:off x="595741" y="2000250"/>
              <a:ext cx="1932718" cy="962406"/>
              <a:chOff x="595741" y="2000250"/>
              <a:chExt cx="1932718" cy="962406"/>
            </a:xfrm>
          </p:grpSpPr>
          <p:sp>
            <p:nvSpPr>
              <p:cNvPr id="16" name="Rectangle 16"/>
              <p:cNvSpPr/>
              <p:nvPr/>
            </p:nvSpPr>
            <p:spPr>
              <a:xfrm>
                <a:off x="609600" y="2000250"/>
                <a:ext cx="1905000" cy="952500"/>
              </a:xfrm>
              <a:prstGeom prst="rect">
                <a:avLst/>
              </a:prstGeom>
              <a:solidFill>
                <a:srgbClr val="12355B"/>
              </a:solidFill>
              <a:ln>
                <a:noFill/>
              </a:ln>
            </p:spPr>
          </p:sp>
          <p:sp>
            <p:nvSpPr>
              <p:cNvPr id="17" name="TextBox 17"/>
              <p:cNvSpPr txBox="1"/>
              <p:nvPr/>
            </p:nvSpPr>
            <p:spPr>
              <a:xfrm>
                <a:off x="595741" y="2230279"/>
                <a:ext cx="1932718"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Express sunucusu</a:t>
                </a:r>
              </a:p>
            </p:txBody>
          </p:sp>
          <p:sp>
            <p:nvSpPr>
              <p:cNvPr id="18" name="TextBox 18"/>
              <p:cNvSpPr txBox="1"/>
              <p:nvPr/>
            </p:nvSpPr>
            <p:spPr>
              <a:xfrm>
                <a:off x="969264" y="2537460"/>
                <a:ext cx="118567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EAF4F6"/>
                    </a:solidFill>
                    <a:latin typeface="+mn-lt"/>
                    <a:ea typeface="+mn-ea"/>
                    <a:cs typeface="+mn-cs"/>
                  </a:rPr>
                  <a:t>isteği dinler ve</a:t>
                </a:r>
                <a:br/>
                <a:r>
                  <a:rPr lang="tr-TR" sz="1200" dirty="0">
                    <a:solidFill>
                      <a:srgbClr val="EAF4F6"/>
                    </a:solidFill>
                    <a:latin typeface="+mn-lt"/>
                    <a:ea typeface="+mn-ea"/>
                    <a:cs typeface="+mn-cs"/>
                  </a:rPr>
                  <a:t>uygulamaya alır</a:t>
                </a:r>
              </a:p>
            </p:txBody>
          </p:sp>
        </p:grpSp>
        <p:sp>
          <p:nvSpPr>
            <p:cNvPr id="20" name="Line 20"/>
            <p:cNvSpPr/>
            <p:nvPr/>
          </p:nvSpPr>
          <p:spPr>
            <a:xfrm>
              <a:off x="2552700" y="2476500"/>
              <a:ext cx="266700" cy="1"/>
            </a:xfrm>
            <a:prstGeom prst="line">
              <a:avLst/>
            </a:prstGeom>
            <a:noFill/>
            <a:ln w="19050">
              <a:solidFill>
                <a:srgbClr val="00A6A6"/>
              </a:solidFill>
              <a:tailEnd type="triangle" w="lg" len="lg"/>
            </a:ln>
          </p:spPr>
        </p:sp>
        <p:grpSp>
          <p:nvGrpSpPr>
            <p:cNvPr id="25" name="kavram-routing"/>
            <p:cNvGrpSpPr/>
            <p:nvPr/>
          </p:nvGrpSpPr>
          <p:grpSpPr>
            <a:xfrm>
              <a:off x="2876550" y="2000250"/>
              <a:ext cx="1905000" cy="962406"/>
              <a:chOff x="2876550" y="2000250"/>
              <a:chExt cx="1905000" cy="962406"/>
            </a:xfrm>
          </p:grpSpPr>
          <p:sp>
            <p:nvSpPr>
              <p:cNvPr id="21" name="Rectangle 21"/>
              <p:cNvSpPr/>
              <p:nvPr/>
            </p:nvSpPr>
            <p:spPr>
              <a:xfrm>
                <a:off x="2876550" y="2000250"/>
                <a:ext cx="1905000" cy="952500"/>
              </a:xfrm>
              <a:prstGeom prst="rect">
                <a:avLst/>
              </a:prstGeom>
              <a:solidFill>
                <a:srgbClr val="FFFFFF"/>
              </a:solidFill>
              <a:ln w="9525">
                <a:solidFill>
                  <a:srgbClr val="00A6A6"/>
                </a:solidFill>
              </a:ln>
            </p:spPr>
          </p:sp>
          <p:sp>
            <p:nvSpPr>
              <p:cNvPr id="22" name="Rectangle 22"/>
              <p:cNvSpPr/>
              <p:nvPr/>
            </p:nvSpPr>
            <p:spPr>
              <a:xfrm>
                <a:off x="2876550" y="2000250"/>
                <a:ext cx="1905000" cy="38100"/>
              </a:xfrm>
              <a:prstGeom prst="rect">
                <a:avLst/>
              </a:prstGeom>
              <a:solidFill>
                <a:srgbClr val="00A6A6"/>
              </a:solidFill>
              <a:ln>
                <a:noFill/>
              </a:ln>
            </p:spPr>
          </p:sp>
          <p:sp>
            <p:nvSpPr>
              <p:cNvPr id="23" name="TextBox 23"/>
              <p:cNvSpPr txBox="1"/>
              <p:nvPr/>
            </p:nvSpPr>
            <p:spPr>
              <a:xfrm>
                <a:off x="3415796" y="2230279"/>
                <a:ext cx="826508"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Routing</a:t>
                </a:r>
              </a:p>
            </p:txBody>
          </p:sp>
          <p:sp>
            <p:nvSpPr>
              <p:cNvPr id="24" name="TextBox 24"/>
              <p:cNvSpPr txBox="1"/>
              <p:nvPr/>
            </p:nvSpPr>
            <p:spPr>
              <a:xfrm>
                <a:off x="3129534" y="2537460"/>
                <a:ext cx="139903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52616B"/>
                    </a:solidFill>
                    <a:latin typeface="+mn-lt"/>
                    <a:ea typeface="+mn-ea"/>
                    <a:cs typeface="+mn-cs"/>
                  </a:rPr>
                  <a:t>metot ve yola göre</a:t>
                </a:r>
                <a:br/>
                <a:r>
                  <a:rPr lang="tr-TR" sz="1200" dirty="0">
                    <a:solidFill>
                      <a:srgbClr val="52616B"/>
                    </a:solidFill>
                    <a:latin typeface="+mn-lt"/>
                    <a:ea typeface="+mn-ea"/>
                    <a:cs typeface="+mn-cs"/>
                  </a:rPr>
                  <a:t>işleyiciyi seçer</a:t>
                </a:r>
              </a:p>
            </p:txBody>
          </p:sp>
        </p:grpSp>
        <p:sp>
          <p:nvSpPr>
            <p:cNvPr id="26" name="Line 26"/>
            <p:cNvSpPr/>
            <p:nvPr/>
          </p:nvSpPr>
          <p:spPr>
            <a:xfrm>
              <a:off x="4819650" y="2476500"/>
              <a:ext cx="266700" cy="1"/>
            </a:xfrm>
            <a:prstGeom prst="line">
              <a:avLst/>
            </a:prstGeom>
            <a:noFill/>
            <a:ln w="19050">
              <a:solidFill>
                <a:srgbClr val="00A6A6"/>
              </a:solidFill>
              <a:tailEnd type="triangle" w="lg" len="lg"/>
            </a:ln>
          </p:spPr>
        </p:sp>
        <p:grpSp>
          <p:nvGrpSpPr>
            <p:cNvPr id="31" name="kavram-middleware"/>
            <p:cNvGrpSpPr/>
            <p:nvPr/>
          </p:nvGrpSpPr>
          <p:grpSpPr>
            <a:xfrm>
              <a:off x="5143500" y="2000250"/>
              <a:ext cx="1905000" cy="962406"/>
              <a:chOff x="5143500" y="2000250"/>
              <a:chExt cx="1905000" cy="962406"/>
            </a:xfrm>
          </p:grpSpPr>
          <p:sp>
            <p:nvSpPr>
              <p:cNvPr id="27" name="Rectangle 27"/>
              <p:cNvSpPr/>
              <p:nvPr/>
            </p:nvSpPr>
            <p:spPr>
              <a:xfrm>
                <a:off x="5143500" y="2000250"/>
                <a:ext cx="1905000" cy="952500"/>
              </a:xfrm>
              <a:prstGeom prst="rect">
                <a:avLst/>
              </a:prstGeom>
              <a:solidFill>
                <a:srgbClr val="FFFFFF"/>
              </a:solidFill>
              <a:ln w="9525">
                <a:solidFill>
                  <a:srgbClr val="2E86AB"/>
                </a:solidFill>
              </a:ln>
            </p:spPr>
          </p:sp>
          <p:sp>
            <p:nvSpPr>
              <p:cNvPr id="28" name="Rectangle 28"/>
              <p:cNvSpPr/>
              <p:nvPr/>
            </p:nvSpPr>
            <p:spPr>
              <a:xfrm>
                <a:off x="5143500" y="2000250"/>
                <a:ext cx="1905000" cy="38100"/>
              </a:xfrm>
              <a:prstGeom prst="rect">
                <a:avLst/>
              </a:prstGeom>
              <a:solidFill>
                <a:srgbClr val="2E86AB"/>
              </a:solidFill>
              <a:ln>
                <a:noFill/>
              </a:ln>
            </p:spPr>
          </p:sp>
          <p:sp>
            <p:nvSpPr>
              <p:cNvPr id="29" name="TextBox 29"/>
              <p:cNvSpPr txBox="1"/>
              <p:nvPr/>
            </p:nvSpPr>
            <p:spPr>
              <a:xfrm>
                <a:off x="5481582" y="2230279"/>
                <a:ext cx="1228835"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Middleware</a:t>
                </a:r>
              </a:p>
            </p:txBody>
          </p:sp>
          <p:sp>
            <p:nvSpPr>
              <p:cNvPr id="30" name="TextBox 30"/>
              <p:cNvSpPr txBox="1"/>
              <p:nvPr/>
            </p:nvSpPr>
            <p:spPr>
              <a:xfrm>
                <a:off x="5518404" y="2537460"/>
                <a:ext cx="115519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52616B"/>
                    </a:solidFill>
                    <a:latin typeface="+mn-lt"/>
                    <a:ea typeface="+mn-ea"/>
                    <a:cs typeface="+mn-cs"/>
                  </a:rPr>
                  <a:t>sırayla çalışan</a:t>
                </a:r>
                <a:br/>
                <a:r>
                  <a:rPr lang="tr-TR" sz="1200" dirty="0">
                    <a:solidFill>
                      <a:srgbClr val="52616B"/>
                    </a:solidFill>
                    <a:latin typeface="+mn-lt"/>
                    <a:ea typeface="+mn-ea"/>
                    <a:cs typeface="+mn-cs"/>
                  </a:rPr>
                  <a:t>ara katmanlar</a:t>
                </a:r>
              </a:p>
            </p:txBody>
          </p:sp>
        </p:grpSp>
        <p:sp>
          <p:nvSpPr>
            <p:cNvPr id="32" name="Line 32"/>
            <p:cNvSpPr/>
            <p:nvPr/>
          </p:nvSpPr>
          <p:spPr>
            <a:xfrm>
              <a:off x="7086600" y="2476500"/>
              <a:ext cx="266700" cy="1"/>
            </a:xfrm>
            <a:prstGeom prst="line">
              <a:avLst/>
            </a:prstGeom>
            <a:noFill/>
            <a:ln w="19050">
              <a:solidFill>
                <a:srgbClr val="00A6A6"/>
              </a:solidFill>
              <a:tailEnd type="triangle" w="lg" len="lg"/>
            </a:ln>
          </p:spPr>
        </p:sp>
        <p:grpSp>
          <p:nvGrpSpPr>
            <p:cNvPr id="37" name="kavram-request"/>
            <p:cNvGrpSpPr/>
            <p:nvPr/>
          </p:nvGrpSpPr>
          <p:grpSpPr>
            <a:xfrm>
              <a:off x="7410450" y="2000250"/>
              <a:ext cx="1905000" cy="962406"/>
              <a:chOff x="7410450" y="2000250"/>
              <a:chExt cx="1905000" cy="962406"/>
            </a:xfrm>
          </p:grpSpPr>
          <p:sp>
            <p:nvSpPr>
              <p:cNvPr id="33" name="Rectangle 33"/>
              <p:cNvSpPr/>
              <p:nvPr/>
            </p:nvSpPr>
            <p:spPr>
              <a:xfrm>
                <a:off x="7410450" y="2000250"/>
                <a:ext cx="1905000" cy="952500"/>
              </a:xfrm>
              <a:prstGeom prst="rect">
                <a:avLst/>
              </a:prstGeom>
              <a:solidFill>
                <a:srgbClr val="FFFFFF"/>
              </a:solidFill>
              <a:ln w="9525">
                <a:solidFill>
                  <a:srgbClr val="B8CBD3"/>
                </a:solidFill>
              </a:ln>
            </p:spPr>
          </p:sp>
          <p:sp>
            <p:nvSpPr>
              <p:cNvPr id="34" name="Rectangle 34"/>
              <p:cNvSpPr/>
              <p:nvPr/>
            </p:nvSpPr>
            <p:spPr>
              <a:xfrm>
                <a:off x="7410450" y="2000250"/>
                <a:ext cx="1905000" cy="38100"/>
              </a:xfrm>
              <a:prstGeom prst="rect">
                <a:avLst/>
              </a:prstGeom>
              <a:solidFill>
                <a:srgbClr val="B8CBD3"/>
              </a:solidFill>
              <a:ln>
                <a:noFill/>
              </a:ln>
            </p:spPr>
          </p:sp>
          <p:sp>
            <p:nvSpPr>
              <p:cNvPr id="35" name="TextBox 35"/>
              <p:cNvSpPr txBox="1"/>
              <p:nvPr/>
            </p:nvSpPr>
            <p:spPr>
              <a:xfrm>
                <a:off x="7575482" y="2230279"/>
                <a:ext cx="1574936"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Request verisi</a:t>
                </a:r>
              </a:p>
            </p:txBody>
          </p:sp>
          <p:sp>
            <p:nvSpPr>
              <p:cNvPr id="36" name="TextBox 36"/>
              <p:cNvSpPr txBox="1"/>
              <p:nvPr/>
            </p:nvSpPr>
            <p:spPr>
              <a:xfrm>
                <a:off x="7773924" y="2537460"/>
                <a:ext cx="117805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52616B"/>
                    </a:solidFill>
                    <a:latin typeface="+mn-lt"/>
                    <a:ea typeface="+mn-ea"/>
                    <a:cs typeface="+mn-cs"/>
                  </a:rPr>
                  <a:t>params, query,</a:t>
                </a:r>
                <a:br/>
                <a:r>
                  <a:rPr lang="tr-TR" sz="1200" dirty="0">
                    <a:solidFill>
                      <a:srgbClr val="52616B"/>
                    </a:solidFill>
                    <a:latin typeface="+mn-lt"/>
                    <a:ea typeface="+mn-ea"/>
                    <a:cs typeface="+mn-cs"/>
                  </a:rPr>
                  <a:t>body, headers</a:t>
                </a:r>
              </a:p>
            </p:txBody>
          </p:sp>
        </p:grpSp>
        <p:sp>
          <p:nvSpPr>
            <p:cNvPr id="38" name="Line 38"/>
            <p:cNvSpPr/>
            <p:nvPr/>
          </p:nvSpPr>
          <p:spPr>
            <a:xfrm>
              <a:off x="9353550" y="2476500"/>
              <a:ext cx="266700" cy="1"/>
            </a:xfrm>
            <a:prstGeom prst="line">
              <a:avLst/>
            </a:prstGeom>
            <a:noFill/>
            <a:ln w="19050">
              <a:solidFill>
                <a:srgbClr val="00A6A6"/>
              </a:solidFill>
              <a:tailEnd type="triangle" w="lg" len="lg"/>
            </a:ln>
          </p:spPr>
        </p:sp>
        <p:grpSp>
          <p:nvGrpSpPr>
            <p:cNvPr id="43" name="kavram-response"/>
            <p:cNvGrpSpPr/>
            <p:nvPr/>
          </p:nvGrpSpPr>
          <p:grpSpPr>
            <a:xfrm>
              <a:off x="9677400" y="2000250"/>
              <a:ext cx="1905000" cy="962406"/>
              <a:chOff x="9677400" y="2000250"/>
              <a:chExt cx="1905000" cy="962406"/>
            </a:xfrm>
          </p:grpSpPr>
          <p:sp>
            <p:nvSpPr>
              <p:cNvPr id="39" name="Rectangle 39"/>
              <p:cNvSpPr/>
              <p:nvPr/>
            </p:nvSpPr>
            <p:spPr>
              <a:xfrm>
                <a:off x="9677400" y="2000250"/>
                <a:ext cx="1905000" cy="952500"/>
              </a:xfrm>
              <a:prstGeom prst="rect">
                <a:avLst/>
              </a:prstGeom>
              <a:solidFill>
                <a:srgbClr val="FFFFFF"/>
              </a:solidFill>
              <a:ln w="9525">
                <a:solidFill>
                  <a:srgbClr val="00A6A6"/>
                </a:solidFill>
              </a:ln>
            </p:spPr>
          </p:sp>
          <p:sp>
            <p:nvSpPr>
              <p:cNvPr id="40" name="Rectangle 40"/>
              <p:cNvSpPr/>
              <p:nvPr/>
            </p:nvSpPr>
            <p:spPr>
              <a:xfrm>
                <a:off x="9677400" y="2000250"/>
                <a:ext cx="1905000" cy="38100"/>
              </a:xfrm>
              <a:prstGeom prst="rect">
                <a:avLst/>
              </a:prstGeom>
              <a:solidFill>
                <a:srgbClr val="00A6A6"/>
              </a:solidFill>
              <a:ln>
                <a:noFill/>
              </a:ln>
            </p:spPr>
          </p:sp>
          <p:sp>
            <p:nvSpPr>
              <p:cNvPr id="41" name="TextBox 41"/>
              <p:cNvSpPr txBox="1"/>
              <p:nvPr/>
            </p:nvSpPr>
            <p:spPr>
              <a:xfrm>
                <a:off x="10127086" y="2230279"/>
                <a:ext cx="1005627"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Response</a:t>
                </a:r>
              </a:p>
            </p:txBody>
          </p:sp>
          <p:sp>
            <p:nvSpPr>
              <p:cNvPr id="42" name="TextBox 42"/>
              <p:cNvSpPr txBox="1"/>
              <p:nvPr/>
            </p:nvSpPr>
            <p:spPr>
              <a:xfrm>
                <a:off x="10101834" y="2537460"/>
                <a:ext cx="1056132" cy="425196"/>
              </a:xfrm>
              <a:prstGeom prst="rect">
                <a:avLst/>
              </a:prstGeom>
              <a:noFill/>
              <a:ln>
                <a:noFill/>
              </a:ln>
            </p:spPr>
            <p:txBody>
              <a:bodyPr wrap="none" lIns="0" tIns="0" rIns="0" bIns="0" anchor="t" anchorCtr="0">
                <a:spAutoFit/>
              </a:bodyPr>
              <a:lstStyle/>
              <a:p>
                <a:pPr algn="ctr">
                  <a:lnSpc>
                    <a:spcPts val="1500"/>
                  </a:lnSpc>
                </a:pPr>
                <a:r>
                  <a:rPr lang="tr-TR" sz="1200" dirty="0">
                    <a:solidFill>
                      <a:srgbClr val="52616B"/>
                    </a:solidFill>
                    <a:latin typeface="+mn-lt"/>
                    <a:ea typeface="+mn-ea"/>
                    <a:cs typeface="+mn-cs"/>
                  </a:rPr>
                  <a:t>durum kodu ve</a:t>
                </a:r>
                <a:br/>
                <a:r>
                  <a:rPr lang="tr-TR" sz="1200" dirty="0">
                    <a:solidFill>
                      <a:srgbClr val="52616B"/>
                    </a:solidFill>
                    <a:latin typeface="+mn-lt"/>
                    <a:ea typeface="+mn-ea"/>
                    <a:cs typeface="+mn-cs"/>
                  </a:rPr>
                  <a:t>JSON gövdesi</a:t>
                </a:r>
              </a:p>
            </p:txBody>
          </p:sp>
        </p:grpSp>
        <p:grpSp>
          <p:nvGrpSpPr>
            <p:cNvPr id="47" name="kisayol-middleware"/>
            <p:cNvGrpSpPr/>
            <p:nvPr/>
          </p:nvGrpSpPr>
          <p:grpSpPr>
            <a:xfrm>
              <a:off x="6096000" y="2952750"/>
              <a:ext cx="4533901" cy="390525"/>
              <a:chOff x="6096000" y="2952750"/>
              <a:chExt cx="4533901" cy="390525"/>
            </a:xfrm>
          </p:grpSpPr>
          <p:sp>
            <p:nvSpPr>
              <p:cNvPr id="44" name="Line 44"/>
              <p:cNvSpPr/>
              <p:nvPr/>
            </p:nvSpPr>
            <p:spPr>
              <a:xfrm>
                <a:off x="6096000" y="2952750"/>
                <a:ext cx="9525" cy="381000"/>
              </a:xfrm>
              <a:custGeom>
                <a:avLst/>
                <a:gdLst/>
                <a:ahLst/>
                <a:cxnLst/>
                <a:rect l="l" t="t" r="r" b="b"/>
                <a:pathLst>
                  <a:path w="9525" h="381000">
                    <a:moveTo>
                      <a:pt x="0" y="0"/>
                    </a:moveTo>
                    <a:lnTo>
                      <a:pt x="0" y="381000"/>
                    </a:lnTo>
                  </a:path>
                </a:pathLst>
              </a:custGeom>
              <a:noFill/>
              <a:ln w="19050">
                <a:solidFill>
                  <a:srgbClr val="52616B"/>
                </a:solidFill>
                <a:prstDash val="lgDash"/>
              </a:ln>
            </p:spPr>
          </p:sp>
          <p:sp>
            <p:nvSpPr>
              <p:cNvPr id="45" name="Line 45"/>
              <p:cNvSpPr/>
              <p:nvPr/>
            </p:nvSpPr>
            <p:spPr>
              <a:xfrm>
                <a:off x="6096000" y="3333750"/>
                <a:ext cx="4533900" cy="9525"/>
              </a:xfrm>
              <a:custGeom>
                <a:avLst/>
                <a:gdLst/>
                <a:ahLst/>
                <a:cxnLst/>
                <a:rect l="l" t="t" r="r" b="b"/>
                <a:pathLst>
                  <a:path w="4533900" h="9525">
                    <a:moveTo>
                      <a:pt x="0" y="0"/>
                    </a:moveTo>
                    <a:lnTo>
                      <a:pt x="4533900" y="0"/>
                    </a:lnTo>
                  </a:path>
                </a:pathLst>
              </a:custGeom>
              <a:noFill/>
              <a:ln w="19050">
                <a:solidFill>
                  <a:srgbClr val="52616B"/>
                </a:solidFill>
                <a:prstDash val="lgDash"/>
              </a:ln>
            </p:spPr>
          </p:sp>
          <p:sp>
            <p:nvSpPr>
              <p:cNvPr id="46" name="Line 46"/>
              <p:cNvSpPr/>
              <p:nvPr/>
            </p:nvSpPr>
            <p:spPr>
              <a:xfrm flipV="1">
                <a:off x="10629900" y="2990850"/>
                <a:ext cx="1" cy="342900"/>
              </a:xfrm>
              <a:prstGeom prst="line">
                <a:avLst/>
              </a:prstGeom>
              <a:noFill/>
              <a:ln w="19050">
                <a:solidFill>
                  <a:srgbClr val="52616B"/>
                </a:solidFill>
                <a:prstDash val="lgDash"/>
                <a:tailEnd type="triangle" w="lg" len="lg"/>
              </a:ln>
            </p:spPr>
          </p:sp>
        </p:grpSp>
        <p:sp>
          <p:nvSpPr>
            <p:cNvPr id="48" name="TextBox 48"/>
            <p:cNvSpPr txBox="1"/>
            <p:nvPr/>
          </p:nvSpPr>
          <p:spPr>
            <a:xfrm>
              <a:off x="6280404" y="3147060"/>
              <a:ext cx="423656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middleware hata durumunda doğrudan yanıt üretebilir</a:t>
              </a:r>
            </a:p>
          </p:txBody>
        </p:sp>
        <p:grpSp>
          <p:nvGrpSpPr>
            <p:cNvPr id="52" name="kisayol-parametre"/>
            <p:cNvGrpSpPr/>
            <p:nvPr/>
          </p:nvGrpSpPr>
          <p:grpSpPr>
            <a:xfrm>
              <a:off x="3829050" y="2952750"/>
              <a:ext cx="4533901" cy="771525"/>
              <a:chOff x="3829050" y="2952750"/>
              <a:chExt cx="4533901" cy="771525"/>
            </a:xfrm>
          </p:grpSpPr>
          <p:sp>
            <p:nvSpPr>
              <p:cNvPr id="49" name="Line 49"/>
              <p:cNvSpPr/>
              <p:nvPr/>
            </p:nvSpPr>
            <p:spPr>
              <a:xfrm>
                <a:off x="3829050" y="2952750"/>
                <a:ext cx="9525" cy="762000"/>
              </a:xfrm>
              <a:custGeom>
                <a:avLst/>
                <a:gdLst/>
                <a:ahLst/>
                <a:cxnLst/>
                <a:rect l="l" t="t" r="r" b="b"/>
                <a:pathLst>
                  <a:path w="9525" h="762000">
                    <a:moveTo>
                      <a:pt x="0" y="0"/>
                    </a:moveTo>
                    <a:lnTo>
                      <a:pt x="0" y="762000"/>
                    </a:lnTo>
                  </a:path>
                </a:pathLst>
              </a:custGeom>
              <a:noFill/>
              <a:ln w="19050">
                <a:solidFill>
                  <a:srgbClr val="52616B"/>
                </a:solidFill>
                <a:prstDash val="lgDash"/>
              </a:ln>
            </p:spPr>
          </p:sp>
          <p:sp>
            <p:nvSpPr>
              <p:cNvPr id="50" name="Line 50"/>
              <p:cNvSpPr/>
              <p:nvPr/>
            </p:nvSpPr>
            <p:spPr>
              <a:xfrm>
                <a:off x="3829050" y="3714750"/>
                <a:ext cx="4533900" cy="9525"/>
              </a:xfrm>
              <a:custGeom>
                <a:avLst/>
                <a:gdLst/>
                <a:ahLst/>
                <a:cxnLst/>
                <a:rect l="l" t="t" r="r" b="b"/>
                <a:pathLst>
                  <a:path w="4533900" h="9525">
                    <a:moveTo>
                      <a:pt x="0" y="0"/>
                    </a:moveTo>
                    <a:lnTo>
                      <a:pt x="4533900" y="0"/>
                    </a:lnTo>
                  </a:path>
                </a:pathLst>
              </a:custGeom>
              <a:noFill/>
              <a:ln w="19050">
                <a:solidFill>
                  <a:srgbClr val="52616B"/>
                </a:solidFill>
                <a:prstDash val="lgDash"/>
              </a:ln>
            </p:spPr>
          </p:sp>
          <p:sp>
            <p:nvSpPr>
              <p:cNvPr id="51" name="Line 51"/>
              <p:cNvSpPr/>
              <p:nvPr/>
            </p:nvSpPr>
            <p:spPr>
              <a:xfrm flipV="1">
                <a:off x="8362950" y="2990850"/>
                <a:ext cx="1" cy="723900"/>
              </a:xfrm>
              <a:prstGeom prst="line">
                <a:avLst/>
              </a:prstGeom>
              <a:noFill/>
              <a:ln w="19050">
                <a:solidFill>
                  <a:srgbClr val="52616B"/>
                </a:solidFill>
                <a:prstDash val="lgDash"/>
                <a:tailEnd type="triangle" w="lg" len="lg"/>
              </a:ln>
            </p:spPr>
          </p:sp>
        </p:grpSp>
        <p:sp>
          <p:nvSpPr>
            <p:cNvPr id="53" name="TextBox 53"/>
            <p:cNvSpPr txBox="1"/>
            <p:nvPr/>
          </p:nvSpPr>
          <p:spPr>
            <a:xfrm>
              <a:off x="4089654" y="3528060"/>
              <a:ext cx="422041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route parametreleri request verisinin bir parçasıdır</a:t>
              </a:r>
            </a:p>
          </p:txBody>
        </p:sp>
      </p:grpSp>
      <p:grpSp>
        <p:nvGrpSpPr>
          <p:cNvPr id="65" name="ok-aciklamasi"/>
          <p:cNvGrpSpPr/>
          <p:nvPr/>
        </p:nvGrpSpPr>
        <p:grpSpPr>
          <a:xfrm>
            <a:off x="609600" y="3981450"/>
            <a:ext cx="10972800" cy="867156"/>
            <a:chOff x="609600" y="3981450"/>
            <a:chExt cx="10972800" cy="867156"/>
          </a:xfrm>
        </p:grpSpPr>
        <p:grpSp>
          <p:nvGrpSpPr>
            <p:cNvPr id="59" name="aciklama-duz"/>
            <p:cNvGrpSpPr/>
            <p:nvPr/>
          </p:nvGrpSpPr>
          <p:grpSpPr>
            <a:xfrm>
              <a:off x="609600" y="3981450"/>
              <a:ext cx="5334000" cy="867156"/>
              <a:chOff x="609600" y="3981450"/>
              <a:chExt cx="5334000" cy="867156"/>
            </a:xfrm>
          </p:grpSpPr>
          <p:sp>
            <p:nvSpPr>
              <p:cNvPr id="55" name="Rectangle 55"/>
              <p:cNvSpPr/>
              <p:nvPr/>
            </p:nvSpPr>
            <p:spPr>
              <a:xfrm>
                <a:off x="609600" y="3981450"/>
                <a:ext cx="5334000" cy="857250"/>
              </a:xfrm>
              <a:prstGeom prst="rect">
                <a:avLst/>
              </a:prstGeom>
              <a:solidFill>
                <a:srgbClr val="FFFFFF"/>
              </a:solidFill>
              <a:ln w="9525">
                <a:solidFill>
                  <a:srgbClr val="B8CBD3"/>
                </a:solidFill>
              </a:ln>
            </p:spPr>
          </p:sp>
          <p:sp>
            <p:nvSpPr>
              <p:cNvPr id="56" name="Rectangle 56"/>
              <p:cNvSpPr/>
              <p:nvPr/>
            </p:nvSpPr>
            <p:spPr>
              <a:xfrm>
                <a:off x="609600" y="3981450"/>
                <a:ext cx="57150" cy="857250"/>
              </a:xfrm>
              <a:prstGeom prst="rect">
                <a:avLst/>
              </a:prstGeom>
              <a:solidFill>
                <a:srgbClr val="00A6A6"/>
              </a:solidFill>
              <a:ln>
                <a:noFill/>
              </a:ln>
            </p:spPr>
          </p:sp>
          <p:sp>
            <p:nvSpPr>
              <p:cNvPr id="57" name="TextBox 57"/>
              <p:cNvSpPr txBox="1"/>
              <p:nvPr/>
            </p:nvSpPr>
            <p:spPr>
              <a:xfrm>
                <a:off x="944499" y="4116229"/>
                <a:ext cx="101687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Düz oklar</a:t>
                </a:r>
              </a:p>
            </p:txBody>
          </p:sp>
          <p:sp>
            <p:nvSpPr>
              <p:cNvPr id="58" name="TextBox 58"/>
              <p:cNvSpPr txBox="1"/>
              <p:nvPr/>
            </p:nvSpPr>
            <p:spPr>
              <a:xfrm>
                <a:off x="946404" y="4423410"/>
                <a:ext cx="38221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İsteğin Express sunucusundan yanıta kadar izlediği</a:t>
                </a:r>
                <a:br/>
                <a:r>
                  <a:rPr lang="tr-TR" sz="1200" dirty="0">
                    <a:solidFill>
                      <a:srgbClr val="52616B"/>
                    </a:solidFill>
                    <a:latin typeface="+mn-lt"/>
                    <a:ea typeface="+mn-ea"/>
                    <a:cs typeface="+mn-cs"/>
                  </a:rPr>
                  <a:t>ana akışı gösterir.</a:t>
                </a:r>
              </a:p>
            </p:txBody>
          </p:sp>
        </p:grpSp>
        <p:grpSp>
          <p:nvGrpSpPr>
            <p:cNvPr id="64" name="aciklama-kesikli"/>
            <p:cNvGrpSpPr/>
            <p:nvPr/>
          </p:nvGrpSpPr>
          <p:grpSpPr>
            <a:xfrm>
              <a:off x="6248400" y="3981450"/>
              <a:ext cx="5334000" cy="867156"/>
              <a:chOff x="6248400" y="3981450"/>
              <a:chExt cx="5334000" cy="867156"/>
            </a:xfrm>
          </p:grpSpPr>
          <p:sp>
            <p:nvSpPr>
              <p:cNvPr id="60" name="Rectangle 60"/>
              <p:cNvSpPr/>
              <p:nvPr/>
            </p:nvSpPr>
            <p:spPr>
              <a:xfrm>
                <a:off x="6248400" y="3981450"/>
                <a:ext cx="5334000" cy="857250"/>
              </a:xfrm>
              <a:prstGeom prst="rect">
                <a:avLst/>
              </a:prstGeom>
              <a:solidFill>
                <a:srgbClr val="FFFFFF"/>
              </a:solidFill>
              <a:ln w="9525">
                <a:solidFill>
                  <a:srgbClr val="B8CBD3"/>
                </a:solidFill>
              </a:ln>
            </p:spPr>
          </p:sp>
          <p:sp>
            <p:nvSpPr>
              <p:cNvPr id="61" name="Rectangle 61"/>
              <p:cNvSpPr/>
              <p:nvPr/>
            </p:nvSpPr>
            <p:spPr>
              <a:xfrm>
                <a:off x="6248400" y="3981450"/>
                <a:ext cx="57150" cy="857250"/>
              </a:xfrm>
              <a:prstGeom prst="rect">
                <a:avLst/>
              </a:prstGeom>
              <a:solidFill>
                <a:srgbClr val="52616B"/>
              </a:solidFill>
              <a:ln>
                <a:noFill/>
              </a:ln>
            </p:spPr>
          </p:sp>
          <p:sp>
            <p:nvSpPr>
              <p:cNvPr id="62" name="TextBox 62"/>
              <p:cNvSpPr txBox="1"/>
              <p:nvPr/>
            </p:nvSpPr>
            <p:spPr>
              <a:xfrm>
                <a:off x="6583299" y="4116229"/>
                <a:ext cx="133989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Kesikli oklar</a:t>
                </a:r>
              </a:p>
            </p:txBody>
          </p:sp>
          <p:sp>
            <p:nvSpPr>
              <p:cNvPr id="63" name="TextBox 63"/>
              <p:cNvSpPr txBox="1"/>
              <p:nvPr/>
            </p:nvSpPr>
            <p:spPr>
              <a:xfrm>
                <a:off x="6585204" y="4423410"/>
                <a:ext cx="34869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Akışı kısaltan veya bir kavramı diğerinin içine</a:t>
                </a:r>
                <a:br/>
                <a:r>
                  <a:rPr lang="tr-TR" sz="1200" dirty="0">
                    <a:solidFill>
                      <a:srgbClr val="52616B"/>
                    </a:solidFill>
                    <a:latin typeface="+mn-lt"/>
                    <a:ea typeface="+mn-ea"/>
                    <a:cs typeface="+mn-cs"/>
                  </a:rPr>
                  <a:t>yerleştiren dolaylı ilişkileri gösterir.</a:t>
                </a:r>
              </a:p>
            </p:txBody>
          </p:sp>
        </p:grpSp>
      </p:grpSp>
      <p:grpSp>
        <p:nvGrpSpPr>
          <p:cNvPr id="70" name="bolum-projesi"/>
          <p:cNvGrpSpPr/>
          <p:nvPr/>
        </p:nvGrpSpPr>
        <p:grpSpPr>
          <a:xfrm>
            <a:off x="609600" y="5086350"/>
            <a:ext cx="10972800" cy="1128617"/>
            <a:chOff x="609600" y="5086350"/>
            <a:chExt cx="10972800" cy="1128617"/>
          </a:xfrm>
        </p:grpSpPr>
        <p:sp>
          <p:nvSpPr>
            <p:cNvPr id="66" name="Rectangle 66"/>
            <p:cNvSpPr/>
            <p:nvPr/>
          </p:nvSpPr>
          <p:spPr>
            <a:xfrm>
              <a:off x="609600" y="5086350"/>
              <a:ext cx="10972800" cy="1047750"/>
            </a:xfrm>
            <a:prstGeom prst="rect">
              <a:avLst/>
            </a:prstGeom>
            <a:solidFill>
              <a:srgbClr val="EAF4F6"/>
            </a:solidFill>
            <a:ln>
              <a:noFill/>
            </a:ln>
          </p:spPr>
        </p:sp>
        <p:sp>
          <p:nvSpPr>
            <p:cNvPr id="67" name="Rectangle 67"/>
            <p:cNvSpPr/>
            <p:nvPr/>
          </p:nvSpPr>
          <p:spPr>
            <a:xfrm>
              <a:off x="609600" y="5086350"/>
              <a:ext cx="10972800" cy="38100"/>
            </a:xfrm>
            <a:prstGeom prst="rect">
              <a:avLst/>
            </a:prstGeom>
            <a:gradFill>
              <a:gsLst>
                <a:gs pos="0">
                  <a:srgbClr val="00A6A6"/>
                </a:gs>
                <a:gs pos="100000">
                  <a:srgbClr val="2E86AB"/>
                </a:gs>
              </a:gsLst>
              <a:lin ang="0" scaled="1"/>
            </a:gradFill>
            <a:ln>
              <a:noFill/>
            </a:ln>
          </p:spPr>
        </p:sp>
        <p:sp>
          <p:nvSpPr>
            <p:cNvPr id="68" name="TextBox 68"/>
            <p:cNvSpPr txBox="1"/>
            <p:nvPr/>
          </p:nvSpPr>
          <p:spPr>
            <a:xfrm>
              <a:off x="905256" y="5311140"/>
              <a:ext cx="680133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Bölüm projesi: Üniversite Laboratuvar Yönetim Sistemi</a:t>
              </a:r>
            </a:p>
          </p:txBody>
        </p:sp>
        <p:sp>
          <p:nvSpPr>
            <p:cNvPr id="69" name="TextBox 69"/>
            <p:cNvSpPr txBox="1"/>
            <p:nvPr/>
          </p:nvSpPr>
          <p:spPr>
            <a:xfrm>
              <a:off x="906399" y="5640229"/>
              <a:ext cx="8273161"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Ekipman, öğrenci ve rezervasyon yönlendirmeleri ile günlükleme ve hata middleware'i</a:t>
              </a:r>
              <a:br/>
              <a:r>
                <a:rPr lang="tr-TR" sz="1580" dirty="0">
                  <a:solidFill>
                    <a:srgbClr val="172B3A"/>
                  </a:solidFill>
                  <a:latin typeface="+mn-lt"/>
                  <a:ea typeface="+mn-ea"/>
                  <a:cs typeface="+mn-cs"/>
                </a:rPr>
                <a:t>bu bölümdeki kalıplarla kurulur.</a:t>
              </a:r>
            </a:p>
          </p:txBody>
        </p:sp>
      </p:grpSp>
      <p:grpSp>
        <p:nvGrpSpPr>
          <p:cNvPr id="73" name="footer"/>
          <p:cNvGrpSpPr/>
          <p:nvPr/>
        </p:nvGrpSpPr>
        <p:grpSpPr>
          <a:xfrm>
            <a:off x="603504" y="6461760"/>
            <a:ext cx="10984992" cy="234696"/>
            <a:chOff x="603504" y="6461760"/>
            <a:chExt cx="10984992" cy="234696"/>
          </a:xfrm>
        </p:grpSpPr>
        <p:sp>
          <p:nvSpPr>
            <p:cNvPr id="71" name="TextBox 71"/>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72" name="TextBox 72"/>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59" name="sorumluluk-matrisi"/>
          <p:cNvGrpSpPr/>
          <p:nvPr/>
        </p:nvGrpSpPr>
        <p:grpSpPr>
          <a:xfrm>
            <a:off x="603504" y="1184910"/>
            <a:ext cx="10978896" cy="4292346"/>
            <a:chOff x="603504" y="1184910"/>
            <a:chExt cx="10978896" cy="4292346"/>
          </a:xfrm>
        </p:grpSpPr>
        <p:sp>
          <p:nvSpPr>
            <p:cNvPr id="13" name="TextBox 13"/>
            <p:cNvSpPr txBox="1"/>
            <p:nvPr/>
          </p:nvSpPr>
          <p:spPr>
            <a:xfrm>
              <a:off x="603504" y="1184910"/>
              <a:ext cx="542919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Her bileşenin görevi kadar sorumluluk sınırı da mimari bir karardır.</a:t>
              </a:r>
            </a:p>
          </p:txBody>
        </p:sp>
        <p:sp>
          <p:nvSpPr>
            <p:cNvPr id="14" name="Rectangle 14"/>
            <p:cNvSpPr/>
            <p:nvPr/>
          </p:nvSpPr>
          <p:spPr>
            <a:xfrm>
              <a:off x="609600" y="1428750"/>
              <a:ext cx="10972800" cy="304800"/>
            </a:xfrm>
            <a:prstGeom prst="rect">
              <a:avLst/>
            </a:prstGeom>
            <a:solidFill>
              <a:srgbClr val="EAF4F6"/>
            </a:solidFill>
            <a:ln>
              <a:noFill/>
            </a:ln>
          </p:spPr>
        </p:sp>
        <p:grpSp>
          <p:nvGrpSpPr>
            <p:cNvPr id="19" name="matris-basliklari"/>
            <p:cNvGrpSpPr/>
            <p:nvPr/>
          </p:nvGrpSpPr>
          <p:grpSpPr>
            <a:xfrm>
              <a:off x="717804" y="1499235"/>
              <a:ext cx="9505392" cy="234696"/>
              <a:chOff x="717804" y="1499235"/>
              <a:chExt cx="9505392" cy="234696"/>
            </a:xfrm>
          </p:grpSpPr>
          <p:sp>
            <p:nvSpPr>
              <p:cNvPr id="15" name="TextBox 15"/>
              <p:cNvSpPr txBox="1"/>
              <p:nvPr/>
            </p:nvSpPr>
            <p:spPr>
              <a:xfrm>
                <a:off x="717804" y="1499235"/>
                <a:ext cx="61146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Kavram</a:t>
                </a:r>
              </a:p>
            </p:txBody>
          </p:sp>
          <p:sp>
            <p:nvSpPr>
              <p:cNvPr id="16" name="TextBox 16"/>
              <p:cNvSpPr txBox="1"/>
              <p:nvPr/>
            </p:nvSpPr>
            <p:spPr>
              <a:xfrm>
                <a:off x="2908554" y="1499235"/>
                <a:ext cx="104368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Temel görevi</a:t>
                </a:r>
              </a:p>
            </p:txBody>
          </p:sp>
          <p:sp>
            <p:nvSpPr>
              <p:cNvPr id="17" name="TextBox 17"/>
              <p:cNvSpPr txBox="1"/>
              <p:nvPr/>
            </p:nvSpPr>
            <p:spPr>
              <a:xfrm>
                <a:off x="5956554" y="1499235"/>
                <a:ext cx="267302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 yapmaz? (sorumluluk sınırı)</a:t>
                </a:r>
              </a:p>
            </p:txBody>
          </p:sp>
          <p:sp>
            <p:nvSpPr>
              <p:cNvPr id="18" name="TextBox 18"/>
              <p:cNvSpPr txBox="1"/>
              <p:nvPr/>
            </p:nvSpPr>
            <p:spPr>
              <a:xfrm>
                <a:off x="8814054" y="1499235"/>
                <a:ext cx="140914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Olmazsa ne olur?</a:t>
                </a:r>
              </a:p>
            </p:txBody>
          </p:sp>
        </p:grpSp>
        <p:grpSp>
          <p:nvGrpSpPr>
            <p:cNvPr id="27" name="satir-express"/>
            <p:cNvGrpSpPr/>
            <p:nvPr/>
          </p:nvGrpSpPr>
          <p:grpSpPr>
            <a:xfrm>
              <a:off x="609600" y="1771650"/>
              <a:ext cx="10972800" cy="771525"/>
              <a:chOff x="609600" y="1771650"/>
              <a:chExt cx="10972800" cy="771525"/>
            </a:xfrm>
          </p:grpSpPr>
          <p:sp>
            <p:nvSpPr>
              <p:cNvPr id="20" name="Rectangle 20"/>
              <p:cNvSpPr/>
              <p:nvPr/>
            </p:nvSpPr>
            <p:spPr>
              <a:xfrm>
                <a:off x="609600" y="1771650"/>
                <a:ext cx="95250" cy="247650"/>
              </a:xfrm>
              <a:prstGeom prst="rect">
                <a:avLst/>
              </a:prstGeom>
              <a:solidFill>
                <a:srgbClr val="12355B"/>
              </a:solidFill>
              <a:ln>
                <a:noFill/>
              </a:ln>
            </p:spPr>
          </p:sp>
          <p:sp>
            <p:nvSpPr>
              <p:cNvPr id="21" name="TextBox 21"/>
              <p:cNvSpPr txBox="1"/>
              <p:nvPr/>
            </p:nvSpPr>
            <p:spPr>
              <a:xfrm>
                <a:off x="792099" y="1811179"/>
                <a:ext cx="88279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Express</a:t>
                </a:r>
              </a:p>
            </p:txBody>
          </p:sp>
          <p:grpSp>
            <p:nvGrpSpPr>
              <p:cNvPr id="25" name="hucre-express"/>
              <p:cNvGrpSpPr/>
              <p:nvPr/>
            </p:nvGrpSpPr>
            <p:grpSpPr>
              <a:xfrm>
                <a:off x="2908554" y="1832610"/>
                <a:ext cx="8340852" cy="596646"/>
                <a:chOff x="2908554" y="1832610"/>
                <a:chExt cx="8340852" cy="596646"/>
              </a:xfrm>
            </p:grpSpPr>
            <p:sp>
              <p:nvSpPr>
                <p:cNvPr id="22" name="TextBox 22"/>
                <p:cNvSpPr txBox="1"/>
                <p:nvPr/>
              </p:nvSpPr>
              <p:spPr>
                <a:xfrm>
                  <a:off x="2908554" y="1832610"/>
                  <a:ext cx="22067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Node.js http modülü üstünde</a:t>
                  </a:r>
                  <a:br/>
                  <a:r>
                    <a:rPr lang="tr-TR" sz="1200" dirty="0">
                      <a:solidFill>
                        <a:srgbClr val="172B3A"/>
                      </a:solidFill>
                      <a:latin typeface="+mn-lt"/>
                      <a:ea typeface="+mn-ea"/>
                      <a:cs typeface="+mn-cs"/>
                    </a:rPr>
                    <a:t>yönlendirme, ara katman ve</a:t>
                  </a:r>
                  <a:br/>
                  <a:r>
                    <a:rPr lang="tr-TR" sz="1200" dirty="0">
                      <a:solidFill>
                        <a:srgbClr val="172B3A"/>
                      </a:solidFill>
                      <a:latin typeface="+mn-lt"/>
                      <a:ea typeface="+mn-ea"/>
                      <a:cs typeface="+mn-cs"/>
                    </a:rPr>
                    <a:t>istek-yanıt akışını düzenler</a:t>
                  </a:r>
                </a:p>
              </p:txBody>
            </p:sp>
            <p:sp>
              <p:nvSpPr>
                <p:cNvPr id="23" name="TextBox 23"/>
                <p:cNvSpPr txBox="1"/>
                <p:nvPr/>
              </p:nvSpPr>
              <p:spPr>
                <a:xfrm>
                  <a:off x="5956554" y="1832610"/>
                  <a:ext cx="24886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Veritabanı sorgusu çalıştırmaz,</a:t>
                  </a:r>
                  <a:br/>
                  <a:r>
                    <a:rPr lang="tr-TR" sz="1200" dirty="0">
                      <a:solidFill>
                        <a:srgbClr val="172B3A"/>
                      </a:solidFill>
                      <a:latin typeface="+mn-lt"/>
                      <a:ea typeface="+mn-ea"/>
                      <a:cs typeface="+mn-cs"/>
                    </a:rPr>
                    <a:t>arayüz tasarlamaz, yerleşik</a:t>
                  </a:r>
                  <a:br/>
                  <a:r>
                    <a:rPr lang="tr-TR" sz="1200" dirty="0">
                      <a:solidFill>
                        <a:srgbClr val="172B3A"/>
                      </a:solidFill>
                      <a:latin typeface="+mn-lt"/>
                      <a:ea typeface="+mn-ea"/>
                      <a:cs typeface="+mn-cs"/>
                    </a:rPr>
                    <a:t>kimlik doğrulama sunmaz</a:t>
                  </a:r>
                </a:p>
              </p:txBody>
            </p:sp>
            <p:sp>
              <p:nvSpPr>
                <p:cNvPr id="24" name="TextBox 24"/>
                <p:cNvSpPr txBox="1"/>
                <p:nvPr/>
              </p:nvSpPr>
              <p:spPr>
                <a:xfrm>
                  <a:off x="8814054" y="1832610"/>
                  <a:ext cx="24353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URL ayrıştırma, gövde okuma ve</a:t>
                  </a:r>
                  <a:br/>
                  <a:r>
                    <a:rPr lang="tr-TR" sz="1200" dirty="0">
                      <a:solidFill>
                        <a:srgbClr val="172B3A"/>
                      </a:solidFill>
                      <a:latin typeface="+mn-lt"/>
                      <a:ea typeface="+mn-ea"/>
                      <a:cs typeface="+mn-cs"/>
                    </a:rPr>
                    <a:t>başlık çözümleme her istekte</a:t>
                  </a:r>
                  <a:br/>
                  <a:r>
                    <a:rPr lang="tr-TR" sz="1200" dirty="0">
                      <a:solidFill>
                        <a:srgbClr val="172B3A"/>
                      </a:solidFill>
                      <a:latin typeface="+mn-lt"/>
                      <a:ea typeface="+mn-ea"/>
                      <a:cs typeface="+mn-cs"/>
                    </a:rPr>
                    <a:t>elle yazılır</a:t>
                  </a:r>
                </a:p>
              </p:txBody>
            </p:sp>
          </p:grpSp>
          <p:sp>
            <p:nvSpPr>
              <p:cNvPr id="26" name="Line 26"/>
              <p:cNvSpPr/>
              <p:nvPr/>
            </p:nvSpPr>
            <p:spPr>
              <a:xfrm>
                <a:off x="609600" y="2533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5" name="satir-routing"/>
            <p:cNvGrpSpPr/>
            <p:nvPr/>
          </p:nvGrpSpPr>
          <p:grpSpPr>
            <a:xfrm>
              <a:off x="609600" y="2533650"/>
              <a:ext cx="10972800" cy="771525"/>
              <a:chOff x="609600" y="2533650"/>
              <a:chExt cx="10972800" cy="771525"/>
            </a:xfrm>
          </p:grpSpPr>
          <p:sp>
            <p:nvSpPr>
              <p:cNvPr id="28" name="Rectangle 28"/>
              <p:cNvSpPr/>
              <p:nvPr/>
            </p:nvSpPr>
            <p:spPr>
              <a:xfrm>
                <a:off x="609600" y="2533650"/>
                <a:ext cx="95250" cy="247650"/>
              </a:xfrm>
              <a:prstGeom prst="rect">
                <a:avLst/>
              </a:prstGeom>
              <a:solidFill>
                <a:srgbClr val="00A6A6"/>
              </a:solidFill>
              <a:ln>
                <a:noFill/>
              </a:ln>
            </p:spPr>
          </p:sp>
          <p:sp>
            <p:nvSpPr>
              <p:cNvPr id="29" name="TextBox 29"/>
              <p:cNvSpPr txBox="1"/>
              <p:nvPr/>
            </p:nvSpPr>
            <p:spPr>
              <a:xfrm>
                <a:off x="792099" y="2573179"/>
                <a:ext cx="82650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Routing</a:t>
                </a:r>
              </a:p>
            </p:txBody>
          </p:sp>
          <p:grpSp>
            <p:nvGrpSpPr>
              <p:cNvPr id="33" name="hucre-routing"/>
              <p:cNvGrpSpPr/>
              <p:nvPr/>
            </p:nvGrpSpPr>
            <p:grpSpPr>
              <a:xfrm>
                <a:off x="2908554" y="2594610"/>
                <a:ext cx="8203692" cy="596646"/>
                <a:chOff x="2908554" y="2594610"/>
                <a:chExt cx="8203692" cy="596646"/>
              </a:xfrm>
            </p:grpSpPr>
            <p:sp>
              <p:nvSpPr>
                <p:cNvPr id="30" name="TextBox 30"/>
                <p:cNvSpPr txBox="1"/>
                <p:nvPr/>
              </p:nvSpPr>
              <p:spPr>
                <a:xfrm>
                  <a:off x="2908554" y="2594610"/>
                  <a:ext cx="20772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Gelen isteği HTTP metodu ve</a:t>
                  </a:r>
                  <a:br/>
                  <a:r>
                    <a:rPr lang="tr-TR" sz="1200" dirty="0">
                      <a:solidFill>
                        <a:srgbClr val="172B3A"/>
                      </a:solidFill>
                      <a:latin typeface="+mn-lt"/>
                      <a:ea typeface="+mn-ea"/>
                      <a:cs typeface="+mn-cs"/>
                    </a:rPr>
                    <a:t>URL yoluna göre ilgili işleyici</a:t>
                  </a:r>
                  <a:br/>
                  <a:r>
                    <a:rPr lang="tr-TR" sz="1200" dirty="0">
                      <a:solidFill>
                        <a:srgbClr val="172B3A"/>
                      </a:solidFill>
                      <a:latin typeface="+mn-lt"/>
                      <a:ea typeface="+mn-ea"/>
                      <a:cs typeface="+mn-cs"/>
                    </a:rPr>
                    <a:t>fonksiyona iletir</a:t>
                  </a:r>
                </a:p>
              </p:txBody>
            </p:sp>
            <p:sp>
              <p:nvSpPr>
                <p:cNvPr id="31" name="TextBox 31"/>
                <p:cNvSpPr txBox="1"/>
                <p:nvPr/>
              </p:nvSpPr>
              <p:spPr>
                <a:xfrm>
                  <a:off x="5956554" y="2594610"/>
                  <a:ext cx="23591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İstek gövdesinin geçerliliğini</a:t>
                  </a:r>
                  <a:br/>
                  <a:r>
                    <a:rPr lang="tr-TR" sz="1200" dirty="0">
                      <a:solidFill>
                        <a:srgbClr val="172B3A"/>
                      </a:solidFill>
                      <a:latin typeface="+mn-lt"/>
                      <a:ea typeface="+mn-ea"/>
                      <a:cs typeface="+mn-cs"/>
                    </a:rPr>
                    <a:t>doğrulamaz; iş mantığını kendi</a:t>
                  </a:r>
                  <a:br/>
                  <a:r>
                    <a:rPr lang="tr-TR" sz="1200" dirty="0">
                      <a:solidFill>
                        <a:srgbClr val="172B3A"/>
                      </a:solidFill>
                      <a:latin typeface="+mn-lt"/>
                      <a:ea typeface="+mn-ea"/>
                      <a:cs typeface="+mn-cs"/>
                    </a:rPr>
                    <a:t>gövdesinde barındırmaz</a:t>
                  </a:r>
                </a:p>
              </p:txBody>
            </p:sp>
            <p:sp>
              <p:nvSpPr>
                <p:cNvPr id="32" name="TextBox 32"/>
                <p:cNvSpPr txBox="1"/>
                <p:nvPr/>
              </p:nvSpPr>
              <p:spPr>
                <a:xfrm>
                  <a:off x="8814054" y="2594610"/>
                  <a:ext cx="22981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Tüm istekler devasa bir if-else</a:t>
                  </a:r>
                  <a:br/>
                  <a:r>
                    <a:rPr lang="tr-TR" sz="1200" dirty="0">
                      <a:solidFill>
                        <a:srgbClr val="172B3A"/>
                      </a:solidFill>
                      <a:latin typeface="+mn-lt"/>
                      <a:ea typeface="+mn-ea"/>
                      <a:cs typeface="+mn-cs"/>
                    </a:rPr>
                    <a:t>bloğuna yığılır; uç noktaların</a:t>
                  </a:r>
                  <a:br/>
                  <a:r>
                    <a:rPr lang="tr-TR" sz="1200" dirty="0">
                      <a:solidFill>
                        <a:srgbClr val="172B3A"/>
                      </a:solidFill>
                      <a:latin typeface="+mn-lt"/>
                      <a:ea typeface="+mn-ea"/>
                      <a:cs typeface="+mn-cs"/>
                    </a:rPr>
                    <a:t>bakımı imkânsızlaşır</a:t>
                  </a:r>
                </a:p>
              </p:txBody>
            </p:sp>
          </p:grpSp>
          <p:sp>
            <p:nvSpPr>
              <p:cNvPr id="34" name="Line 34"/>
              <p:cNvSpPr/>
              <p:nvPr/>
            </p:nvSpPr>
            <p:spPr>
              <a:xfrm>
                <a:off x="609600" y="3295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3" name="satir-middleware"/>
            <p:cNvGrpSpPr/>
            <p:nvPr/>
          </p:nvGrpSpPr>
          <p:grpSpPr>
            <a:xfrm>
              <a:off x="609600" y="3295650"/>
              <a:ext cx="10972800" cy="771525"/>
              <a:chOff x="609600" y="3295650"/>
              <a:chExt cx="10972800" cy="771525"/>
            </a:xfrm>
          </p:grpSpPr>
          <p:sp>
            <p:nvSpPr>
              <p:cNvPr id="36" name="Rectangle 36"/>
              <p:cNvSpPr/>
              <p:nvPr/>
            </p:nvSpPr>
            <p:spPr>
              <a:xfrm>
                <a:off x="609600" y="3295650"/>
                <a:ext cx="95250" cy="247650"/>
              </a:xfrm>
              <a:prstGeom prst="rect">
                <a:avLst/>
              </a:prstGeom>
              <a:solidFill>
                <a:srgbClr val="2E86AB"/>
              </a:solidFill>
              <a:ln>
                <a:noFill/>
              </a:ln>
            </p:spPr>
          </p:sp>
          <p:sp>
            <p:nvSpPr>
              <p:cNvPr id="37" name="TextBox 37"/>
              <p:cNvSpPr txBox="1"/>
              <p:nvPr/>
            </p:nvSpPr>
            <p:spPr>
              <a:xfrm>
                <a:off x="792099" y="3335179"/>
                <a:ext cx="122883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Middleware</a:t>
                </a:r>
              </a:p>
            </p:txBody>
          </p:sp>
          <p:grpSp>
            <p:nvGrpSpPr>
              <p:cNvPr id="41" name="hucre-middleware"/>
              <p:cNvGrpSpPr/>
              <p:nvPr/>
            </p:nvGrpSpPr>
            <p:grpSpPr>
              <a:xfrm>
                <a:off x="2908554" y="3356610"/>
                <a:ext cx="8272272" cy="596646"/>
                <a:chOff x="2908554" y="3356610"/>
                <a:chExt cx="8272272" cy="596646"/>
              </a:xfrm>
            </p:grpSpPr>
            <p:sp>
              <p:nvSpPr>
                <p:cNvPr id="38" name="TextBox 38"/>
                <p:cNvSpPr txBox="1"/>
                <p:nvPr/>
              </p:nvSpPr>
              <p:spPr>
                <a:xfrm>
                  <a:off x="2908554" y="3356610"/>
                  <a:ext cx="22677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İstek ile nihai yanıt arasında</a:t>
                  </a:r>
                  <a:br/>
                  <a:r>
                    <a:rPr lang="tr-TR" sz="1200" dirty="0">
                      <a:solidFill>
                        <a:srgbClr val="172B3A"/>
                      </a:solidFill>
                      <a:latin typeface="+mn-lt"/>
                      <a:ea typeface="+mn-ea"/>
                      <a:cs typeface="+mn-cs"/>
                    </a:rPr>
                    <a:t>loglama, kimlik denetimi, CORS</a:t>
                  </a:r>
                  <a:br/>
                  <a:r>
                    <a:rPr lang="tr-TR" sz="1200" dirty="0">
                      <a:solidFill>
                        <a:srgbClr val="172B3A"/>
                      </a:solidFill>
                      <a:latin typeface="+mn-lt"/>
                      <a:ea typeface="+mn-ea"/>
                      <a:cs typeface="+mn-cs"/>
                    </a:rPr>
                    <a:t>ve gövde ayrıştırmayı yapar</a:t>
                  </a:r>
                </a:p>
              </p:txBody>
            </p:sp>
            <p:sp>
              <p:nvSpPr>
                <p:cNvPr id="39" name="TextBox 39"/>
                <p:cNvSpPr txBox="1"/>
                <p:nvPr/>
              </p:nvSpPr>
              <p:spPr>
                <a:xfrm>
                  <a:off x="5956554" y="3356610"/>
                  <a:ext cx="24658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Nihai veriyi tek başına saklamaz;</a:t>
                  </a:r>
                  <a:br/>
                  <a:r>
                    <a:rPr lang="tr-TR" sz="1200" dirty="0">
                      <a:solidFill>
                        <a:srgbClr val="172B3A"/>
                      </a:solidFill>
                      <a:latin typeface="+mn-lt"/>
                      <a:ea typeface="+mn-ea"/>
                      <a:cs typeface="+mn-cs"/>
                    </a:rPr>
                    <a:t>next() çağrılmazsa isteği</a:t>
                  </a:r>
                  <a:br/>
                  <a:r>
                    <a:rPr lang="tr-TR" sz="1200" dirty="0">
                      <a:solidFill>
                        <a:srgbClr val="172B3A"/>
                      </a:solidFill>
                      <a:latin typeface="+mn-lt"/>
                      <a:ea typeface="+mn-ea"/>
                      <a:cs typeface="+mn-cs"/>
                    </a:rPr>
                    <a:t>askıda bırakır</a:t>
                  </a:r>
                </a:p>
              </p:txBody>
            </p:sp>
            <p:sp>
              <p:nvSpPr>
                <p:cNvPr id="40" name="TextBox 40"/>
                <p:cNvSpPr txBox="1"/>
                <p:nvPr/>
              </p:nvSpPr>
              <p:spPr>
                <a:xfrm>
                  <a:off x="8814054" y="3356610"/>
                  <a:ext cx="23667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Her uç noktada yetki, log ve</a:t>
                  </a:r>
                  <a:br/>
                  <a:r>
                    <a:rPr lang="tr-TR" sz="1200" dirty="0">
                      <a:solidFill>
                        <a:srgbClr val="172B3A"/>
                      </a:solidFill>
                      <a:latin typeface="+mn-lt"/>
                      <a:ea typeface="+mn-ea"/>
                      <a:cs typeface="+mn-cs"/>
                    </a:rPr>
                    <a:t>hata kodu tekrarlanır; merkezi</a:t>
                  </a:r>
                  <a:br/>
                  <a:r>
                    <a:rPr lang="tr-TR" sz="1200" dirty="0">
                      <a:solidFill>
                        <a:srgbClr val="172B3A"/>
                      </a:solidFill>
                      <a:latin typeface="+mn-lt"/>
                      <a:ea typeface="+mn-ea"/>
                      <a:cs typeface="+mn-cs"/>
                    </a:rPr>
                    <a:t>denetim kaybolur</a:t>
                  </a:r>
                </a:p>
              </p:txBody>
            </p:sp>
          </p:grpSp>
          <p:sp>
            <p:nvSpPr>
              <p:cNvPr id="42" name="Line 42"/>
              <p:cNvSpPr/>
              <p:nvPr/>
            </p:nvSpPr>
            <p:spPr>
              <a:xfrm>
                <a:off x="609600" y="4057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1" name="satir-request"/>
            <p:cNvGrpSpPr/>
            <p:nvPr/>
          </p:nvGrpSpPr>
          <p:grpSpPr>
            <a:xfrm>
              <a:off x="609600" y="4057650"/>
              <a:ext cx="10972800" cy="771525"/>
              <a:chOff x="609600" y="4057650"/>
              <a:chExt cx="10972800" cy="771525"/>
            </a:xfrm>
          </p:grpSpPr>
          <p:sp>
            <p:nvSpPr>
              <p:cNvPr id="44" name="Rectangle 44"/>
              <p:cNvSpPr/>
              <p:nvPr/>
            </p:nvSpPr>
            <p:spPr>
              <a:xfrm>
                <a:off x="609600" y="4057650"/>
                <a:ext cx="95250" cy="247650"/>
              </a:xfrm>
              <a:prstGeom prst="rect">
                <a:avLst/>
              </a:prstGeom>
              <a:solidFill>
                <a:srgbClr val="B8CBD3"/>
              </a:solidFill>
              <a:ln>
                <a:noFill/>
              </a:ln>
            </p:spPr>
          </p:sp>
          <p:sp>
            <p:nvSpPr>
              <p:cNvPr id="45" name="TextBox 45"/>
              <p:cNvSpPr txBox="1"/>
              <p:nvPr/>
            </p:nvSpPr>
            <p:spPr>
              <a:xfrm>
                <a:off x="792099" y="4097179"/>
                <a:ext cx="156573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Request (req)</a:t>
                </a:r>
              </a:p>
            </p:txBody>
          </p:sp>
          <p:grpSp>
            <p:nvGrpSpPr>
              <p:cNvPr id="49" name="hucre-request"/>
              <p:cNvGrpSpPr/>
              <p:nvPr/>
            </p:nvGrpSpPr>
            <p:grpSpPr>
              <a:xfrm>
                <a:off x="2908554" y="4118610"/>
                <a:ext cx="8074152" cy="596646"/>
                <a:chOff x="2908554" y="4118610"/>
                <a:chExt cx="8074152" cy="596646"/>
              </a:xfrm>
            </p:grpSpPr>
            <p:sp>
              <p:nvSpPr>
                <p:cNvPr id="46" name="TextBox 46"/>
                <p:cNvSpPr txBox="1"/>
                <p:nvPr/>
              </p:nvSpPr>
              <p:spPr>
                <a:xfrm>
                  <a:off x="2908554" y="4118610"/>
                  <a:ext cx="20772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URL parametrelerini, sorgu</a:t>
                  </a:r>
                  <a:br/>
                  <a:r>
                    <a:rPr lang="tr-TR" sz="1200" dirty="0">
                      <a:solidFill>
                        <a:srgbClr val="172B3A"/>
                      </a:solidFill>
                      <a:latin typeface="+mn-lt"/>
                      <a:ea typeface="+mn-ea"/>
                      <a:cs typeface="+mn-cs"/>
                    </a:rPr>
                    <a:t>parametrelerini, gövdeyi ve</a:t>
                  </a:r>
                  <a:br/>
                  <a:r>
                    <a:rPr lang="tr-TR" sz="1200" dirty="0">
                      <a:solidFill>
                        <a:srgbClr val="172B3A"/>
                      </a:solidFill>
                      <a:latin typeface="+mn-lt"/>
                      <a:ea typeface="+mn-ea"/>
                      <a:cs typeface="+mn-cs"/>
                    </a:rPr>
                    <a:t>başlıkları sunucuya taşır</a:t>
                  </a:r>
                </a:p>
              </p:txBody>
            </p:sp>
            <p:sp>
              <p:nvSpPr>
                <p:cNvPr id="47" name="TextBox 47"/>
                <p:cNvSpPr txBox="1"/>
                <p:nvPr/>
              </p:nvSpPr>
              <p:spPr>
                <a:xfrm>
                  <a:off x="5956554" y="4118610"/>
                  <a:ext cx="20924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İçindeki verinin doğruluğunu</a:t>
                  </a:r>
                  <a:br/>
                  <a:r>
                    <a:rPr lang="tr-TR" sz="1200" dirty="0">
                      <a:solidFill>
                        <a:srgbClr val="172B3A"/>
                      </a:solidFill>
                      <a:latin typeface="+mn-lt"/>
                      <a:ea typeface="+mn-ea"/>
                      <a:cs typeface="+mn-cs"/>
                    </a:rPr>
                    <a:t>garanti etmez; her veriyi</a:t>
                  </a:r>
                  <a:br/>
                  <a:r>
                    <a:rPr lang="tr-TR" sz="1200" dirty="0">
                      <a:solidFill>
                        <a:srgbClr val="172B3A"/>
                      </a:solidFill>
                      <a:latin typeface="+mn-lt"/>
                      <a:ea typeface="+mn-ea"/>
                      <a:cs typeface="+mn-cs"/>
                    </a:rPr>
                    <a:t>güvensiz girdi olarak sunar</a:t>
                  </a:r>
                </a:p>
              </p:txBody>
            </p:sp>
            <p:sp>
              <p:nvSpPr>
                <p:cNvPr id="48" name="TextBox 48"/>
                <p:cNvSpPr txBox="1"/>
                <p:nvPr/>
              </p:nvSpPr>
              <p:spPr>
                <a:xfrm>
                  <a:off x="8814054" y="4118610"/>
                  <a:ext cx="21686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Sunucu istemcinin ne talep</a:t>
                  </a:r>
                  <a:br/>
                  <a:r>
                    <a:rPr lang="tr-TR" sz="1200" dirty="0">
                      <a:solidFill>
                        <a:srgbClr val="172B3A"/>
                      </a:solidFill>
                      <a:latin typeface="+mn-lt"/>
                      <a:ea typeface="+mn-ea"/>
                      <a:cs typeface="+mn-cs"/>
                    </a:rPr>
                    <a:t>ettiğini, hangi parametreleri</a:t>
                  </a:r>
                  <a:br/>
                  <a:r>
                    <a:rPr lang="tr-TR" sz="1200" dirty="0">
                      <a:solidFill>
                        <a:srgbClr val="172B3A"/>
                      </a:solidFill>
                      <a:latin typeface="+mn-lt"/>
                      <a:ea typeface="+mn-ea"/>
                      <a:cs typeface="+mn-cs"/>
                    </a:rPr>
                    <a:t>yolladığını öğrenemez</a:t>
                  </a:r>
                </a:p>
              </p:txBody>
            </p:sp>
          </p:grpSp>
          <p:sp>
            <p:nvSpPr>
              <p:cNvPr id="50" name="Line 50"/>
              <p:cNvSpPr/>
              <p:nvPr/>
            </p:nvSpPr>
            <p:spPr>
              <a:xfrm>
                <a:off x="609600" y="4819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8" name="satir-response"/>
            <p:cNvGrpSpPr/>
            <p:nvPr/>
          </p:nvGrpSpPr>
          <p:grpSpPr>
            <a:xfrm>
              <a:off x="609600" y="4819650"/>
              <a:ext cx="10434066" cy="657606"/>
              <a:chOff x="609600" y="4819650"/>
              <a:chExt cx="10434066" cy="657606"/>
            </a:xfrm>
          </p:grpSpPr>
          <p:sp>
            <p:nvSpPr>
              <p:cNvPr id="52" name="Rectangle 52"/>
              <p:cNvSpPr/>
              <p:nvPr/>
            </p:nvSpPr>
            <p:spPr>
              <a:xfrm>
                <a:off x="609600" y="4819650"/>
                <a:ext cx="95250" cy="247650"/>
              </a:xfrm>
              <a:prstGeom prst="rect">
                <a:avLst/>
              </a:prstGeom>
              <a:solidFill>
                <a:srgbClr val="52616B"/>
              </a:solidFill>
              <a:ln>
                <a:noFill/>
              </a:ln>
            </p:spPr>
          </p:sp>
          <p:sp>
            <p:nvSpPr>
              <p:cNvPr id="53" name="TextBox 53"/>
              <p:cNvSpPr txBox="1"/>
              <p:nvPr/>
            </p:nvSpPr>
            <p:spPr>
              <a:xfrm>
                <a:off x="792099" y="4859179"/>
                <a:ext cx="168840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Response (res)</a:t>
                </a:r>
              </a:p>
            </p:txBody>
          </p:sp>
          <p:grpSp>
            <p:nvGrpSpPr>
              <p:cNvPr id="57" name="hucre-response"/>
              <p:cNvGrpSpPr/>
              <p:nvPr/>
            </p:nvGrpSpPr>
            <p:grpSpPr>
              <a:xfrm>
                <a:off x="2908554" y="4880610"/>
                <a:ext cx="8135112" cy="596646"/>
                <a:chOff x="2908554" y="4880610"/>
                <a:chExt cx="8135112" cy="596646"/>
              </a:xfrm>
            </p:grpSpPr>
            <p:sp>
              <p:nvSpPr>
                <p:cNvPr id="54" name="TextBox 54"/>
                <p:cNvSpPr txBox="1"/>
                <p:nvPr/>
              </p:nvSpPr>
              <p:spPr>
                <a:xfrm>
                  <a:off x="2908554" y="4880610"/>
                  <a:ext cx="21686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Durum kodunu, üstbilgileri ve</a:t>
                  </a:r>
                  <a:br/>
                  <a:r>
                    <a:rPr lang="tr-TR" sz="1200" dirty="0">
                      <a:solidFill>
                        <a:srgbClr val="172B3A"/>
                      </a:solidFill>
                      <a:latin typeface="+mn-lt"/>
                      <a:ea typeface="+mn-ea"/>
                      <a:cs typeface="+mn-cs"/>
                    </a:rPr>
                    <a:t>JSON/metin gövdesini</a:t>
                  </a:r>
                  <a:br/>
                  <a:r>
                    <a:rPr lang="tr-TR" sz="1200" dirty="0">
                      <a:solidFill>
                        <a:srgbClr val="172B3A"/>
                      </a:solidFill>
                      <a:latin typeface="+mn-lt"/>
                      <a:ea typeface="+mn-ea"/>
                      <a:cs typeface="+mn-cs"/>
                    </a:rPr>
                    <a:t>yapılandırarak iletir</a:t>
                  </a:r>
                </a:p>
              </p:txBody>
            </p:sp>
            <p:sp>
              <p:nvSpPr>
                <p:cNvPr id="55" name="TextBox 55"/>
                <p:cNvSpPr txBox="1"/>
                <p:nvPr/>
              </p:nvSpPr>
              <p:spPr>
                <a:xfrm>
                  <a:off x="5956554" y="4880610"/>
                  <a:ext cx="22372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Yanıtın ekrana çizilmesini</a:t>
                  </a:r>
                  <a:br/>
                  <a:r>
                    <a:rPr lang="tr-TR" sz="1200" dirty="0">
                      <a:solidFill>
                        <a:srgbClr val="172B3A"/>
                      </a:solidFill>
                      <a:latin typeface="+mn-lt"/>
                      <a:ea typeface="+mn-ea"/>
                      <a:cs typeface="+mn-cs"/>
                    </a:rPr>
                    <a:t>sağlamaz; soket bağlantısını</a:t>
                  </a:r>
                  <a:br/>
                  <a:r>
                    <a:rPr lang="tr-TR" sz="1200" dirty="0">
                      <a:solidFill>
                        <a:srgbClr val="172B3A"/>
                      </a:solidFill>
                      <a:latin typeface="+mn-lt"/>
                      <a:ea typeface="+mn-ea"/>
                      <a:cs typeface="+mn-cs"/>
                    </a:rPr>
                    <a:t>sonsuza kadar açık tutmaz</a:t>
                  </a:r>
                </a:p>
              </p:txBody>
            </p:sp>
            <p:sp>
              <p:nvSpPr>
                <p:cNvPr id="56" name="TextBox 56"/>
                <p:cNvSpPr txBox="1"/>
                <p:nvPr/>
              </p:nvSpPr>
              <p:spPr>
                <a:xfrm>
                  <a:off x="8814054" y="4880610"/>
                  <a:ext cx="22296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İstemci yanıt alamaz, sonucu</a:t>
                  </a:r>
                  <a:br/>
                  <a:r>
                    <a:rPr lang="tr-TR" sz="1200" dirty="0">
                      <a:solidFill>
                        <a:srgbClr val="172B3A"/>
                      </a:solidFill>
                      <a:latin typeface="+mn-lt"/>
                      <a:ea typeface="+mn-ea"/>
                      <a:cs typeface="+mn-cs"/>
                    </a:rPr>
                    <a:t>öğrenemez ve bağlantı zaman</a:t>
                  </a:r>
                  <a:br/>
                  <a:r>
                    <a:rPr lang="tr-TR" sz="1200" dirty="0">
                      <a:solidFill>
                        <a:srgbClr val="172B3A"/>
                      </a:solidFill>
                      <a:latin typeface="+mn-lt"/>
                      <a:ea typeface="+mn-ea"/>
                      <a:cs typeface="+mn-cs"/>
                    </a:rPr>
                    <a:t>aşımına uğrar</a:t>
                  </a:r>
                </a:p>
              </p:txBody>
            </p:sp>
          </p:grpSp>
        </p:grpSp>
      </p:grpSp>
      <p:grpSp>
        <p:nvGrpSpPr>
          <p:cNvPr id="63" name="matris-sonucu"/>
          <p:cNvGrpSpPr/>
          <p:nvPr/>
        </p:nvGrpSpPr>
        <p:grpSpPr>
          <a:xfrm>
            <a:off x="609600" y="5715000"/>
            <a:ext cx="10972800" cy="533400"/>
            <a:chOff x="609600" y="5715000"/>
            <a:chExt cx="10972800" cy="533400"/>
          </a:xfrm>
        </p:grpSpPr>
        <p:sp>
          <p:nvSpPr>
            <p:cNvPr id="60" name="Rectangle 60"/>
            <p:cNvSpPr/>
            <p:nvPr/>
          </p:nvSpPr>
          <p:spPr>
            <a:xfrm>
              <a:off x="609600" y="5715000"/>
              <a:ext cx="10972800" cy="533400"/>
            </a:xfrm>
            <a:prstGeom prst="rect">
              <a:avLst/>
            </a:prstGeom>
            <a:solidFill>
              <a:srgbClr val="EAF4F6"/>
            </a:solidFill>
            <a:ln>
              <a:noFill/>
            </a:ln>
          </p:spPr>
        </p:sp>
        <p:sp>
          <p:nvSpPr>
            <p:cNvPr id="61" name="Rectangle 61"/>
            <p:cNvSpPr/>
            <p:nvPr/>
          </p:nvSpPr>
          <p:spPr>
            <a:xfrm>
              <a:off x="609600" y="5715000"/>
              <a:ext cx="10972800" cy="38100"/>
            </a:xfrm>
            <a:prstGeom prst="rect">
              <a:avLst/>
            </a:prstGeom>
            <a:gradFill>
              <a:gsLst>
                <a:gs pos="0">
                  <a:srgbClr val="00A6A6"/>
                </a:gs>
                <a:gs pos="100000">
                  <a:srgbClr val="2E86AB"/>
                </a:gs>
              </a:gsLst>
              <a:lin ang="0" scaled="1"/>
            </a:gradFill>
            <a:ln>
              <a:noFill/>
            </a:ln>
          </p:spPr>
        </p:sp>
        <p:sp>
          <p:nvSpPr>
            <p:cNvPr id="62" name="TextBox 62"/>
            <p:cNvSpPr txBox="1"/>
            <p:nvPr/>
          </p:nvSpPr>
          <p:spPr>
            <a:xfrm>
              <a:off x="906399" y="5887879"/>
              <a:ext cx="683672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 xml:space="preserve">Bir kavramı en hızlı anlatan şey, </a:t>
              </a:r>
              <a:r>
                <a:rPr lang="tr-TR" sz="1580" b="1" dirty="0">
                  <a:solidFill>
                    <a:srgbClr val="12355B"/>
                  </a:solidFill>
                  <a:latin typeface="+mn-lt"/>
                  <a:ea typeface="+mn-ea"/>
                  <a:cs typeface="+mn-cs"/>
                </a:rPr>
                <a:t>onsuz ortaya çıkan sorundur.</a:t>
              </a:r>
            </a:p>
          </p:txBody>
        </p:sp>
      </p:grpSp>
      <p:grpSp>
        <p:nvGrpSpPr>
          <p:cNvPr id="66" name="footer"/>
          <p:cNvGrpSpPr/>
          <p:nvPr/>
        </p:nvGrpSpPr>
        <p:grpSpPr>
          <a:xfrm>
            <a:off x="603504" y="6461760"/>
            <a:ext cx="10984992" cy="234696"/>
            <a:chOff x="603504" y="6461760"/>
            <a:chExt cx="10984992" cy="234696"/>
          </a:xfrm>
        </p:grpSpPr>
        <p:sp>
          <p:nvSpPr>
            <p:cNvPr id="64" name="TextBox 64"/>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65" name="TextBox 65"/>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294316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Express nedir?</a:t>
              </a:r>
            </a:p>
          </p:txBody>
        </p:sp>
      </p:grpSp>
      <p:grpSp>
        <p:nvGrpSpPr>
          <p:cNvPr id="7" name="tanim-lead"/>
          <p:cNvGrpSpPr/>
          <p:nvPr/>
        </p:nvGrpSpPr>
        <p:grpSpPr>
          <a:xfrm>
            <a:off x="600456" y="1253490"/>
            <a:ext cx="9425178" cy="637794"/>
            <a:chOff x="600456" y="1253490"/>
            <a:chExt cx="9425178" cy="637794"/>
          </a:xfrm>
        </p:grpSpPr>
        <p:sp>
          <p:nvSpPr>
            <p:cNvPr id="6" name="TextBox 6"/>
            <p:cNvSpPr txBox="1"/>
            <p:nvPr/>
          </p:nvSpPr>
          <p:spPr>
            <a:xfrm>
              <a:off x="600456" y="1253490"/>
              <a:ext cx="9425178" cy="6377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Express, Node.js üzerinde HTTP sunucuları ve web API'leri geliştirmek için kullanılan</a:t>
              </a:r>
              <a:br/>
              <a:r>
                <a:rPr lang="tr-TR" sz="1800" dirty="0">
                  <a:solidFill>
                    <a:srgbClr val="172B3A"/>
                  </a:solidFill>
                  <a:latin typeface="+mn-lt"/>
                  <a:ea typeface="+mn-ea"/>
                  <a:cs typeface="+mn-cs"/>
                </a:rPr>
                <a:t>hafif bir web uygulama çatısıdır.</a:t>
              </a:r>
            </a:p>
          </p:txBody>
        </p:sp>
      </p:grpSp>
      <p:grpSp>
        <p:nvGrpSpPr>
          <p:cNvPr id="28" name="katman-yigini"/>
          <p:cNvGrpSpPr/>
          <p:nvPr/>
        </p:nvGrpSpPr>
        <p:grpSpPr>
          <a:xfrm>
            <a:off x="601599" y="2115979"/>
            <a:ext cx="5342001" cy="3065621"/>
            <a:chOff x="601599" y="2115979"/>
            <a:chExt cx="5342001" cy="3065621"/>
          </a:xfrm>
        </p:grpSpPr>
        <p:sp>
          <p:nvSpPr>
            <p:cNvPr id="8" name="TextBox 8"/>
            <p:cNvSpPr txBox="1"/>
            <p:nvPr/>
          </p:nvSpPr>
          <p:spPr>
            <a:xfrm>
              <a:off x="601599" y="2115979"/>
              <a:ext cx="249161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Express nerede durur?</a:t>
              </a:r>
            </a:p>
          </p:txBody>
        </p:sp>
        <p:grpSp>
          <p:nvGrpSpPr>
            <p:cNvPr id="13" name="katman-istemci"/>
            <p:cNvGrpSpPr/>
            <p:nvPr/>
          </p:nvGrpSpPr>
          <p:grpSpPr>
            <a:xfrm>
              <a:off x="609600" y="2400300"/>
              <a:ext cx="5334000" cy="609600"/>
              <a:chOff x="609600" y="2400300"/>
              <a:chExt cx="5334000" cy="609600"/>
            </a:xfrm>
          </p:grpSpPr>
          <p:sp>
            <p:nvSpPr>
              <p:cNvPr id="9" name="Rectangle 9"/>
              <p:cNvSpPr/>
              <p:nvPr/>
            </p:nvSpPr>
            <p:spPr>
              <a:xfrm>
                <a:off x="609600" y="2400300"/>
                <a:ext cx="5334000" cy="609600"/>
              </a:xfrm>
              <a:prstGeom prst="rect">
                <a:avLst/>
              </a:prstGeom>
              <a:solidFill>
                <a:srgbClr val="FFFFFF"/>
              </a:solidFill>
              <a:ln w="9525">
                <a:solidFill>
                  <a:srgbClr val="B8CBD3"/>
                </a:solidFill>
              </a:ln>
            </p:spPr>
          </p:sp>
          <p:sp>
            <p:nvSpPr>
              <p:cNvPr id="10" name="Rectangle 10"/>
              <p:cNvSpPr/>
              <p:nvPr/>
            </p:nvSpPr>
            <p:spPr>
              <a:xfrm>
                <a:off x="609600" y="2400300"/>
                <a:ext cx="57150" cy="609600"/>
              </a:xfrm>
              <a:prstGeom prst="rect">
                <a:avLst/>
              </a:prstGeom>
              <a:solidFill>
                <a:srgbClr val="B8CBD3"/>
              </a:solidFill>
              <a:ln>
                <a:noFill/>
              </a:ln>
            </p:spPr>
          </p:sp>
          <p:sp>
            <p:nvSpPr>
              <p:cNvPr id="11" name="TextBox 11"/>
              <p:cNvSpPr txBox="1"/>
              <p:nvPr/>
            </p:nvSpPr>
            <p:spPr>
              <a:xfrm>
                <a:off x="906399" y="2496979"/>
                <a:ext cx="87153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İstemci</a:t>
                </a:r>
              </a:p>
            </p:txBody>
          </p:sp>
          <p:sp>
            <p:nvSpPr>
              <p:cNvPr id="12" name="TextBox 12"/>
              <p:cNvSpPr txBox="1"/>
              <p:nvPr/>
            </p:nvSpPr>
            <p:spPr>
              <a:xfrm>
                <a:off x="908304" y="2747010"/>
                <a:ext cx="376001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tarayıcı, mobil uygulama veya başka bir sunucu</a:t>
                </a:r>
              </a:p>
            </p:txBody>
          </p:sp>
        </p:grpSp>
        <p:grpSp>
          <p:nvGrpSpPr>
            <p:cNvPr id="17" name="katman-express"/>
            <p:cNvGrpSpPr/>
            <p:nvPr/>
          </p:nvGrpSpPr>
          <p:grpSpPr>
            <a:xfrm>
              <a:off x="609600" y="3124200"/>
              <a:ext cx="5334000" cy="609600"/>
              <a:chOff x="609600" y="3124200"/>
              <a:chExt cx="5334000" cy="609600"/>
            </a:xfrm>
          </p:grpSpPr>
          <p:sp>
            <p:nvSpPr>
              <p:cNvPr id="14" name="Rectangle 14"/>
              <p:cNvSpPr/>
              <p:nvPr/>
            </p:nvSpPr>
            <p:spPr>
              <a:xfrm>
                <a:off x="609600" y="3124200"/>
                <a:ext cx="5334000" cy="609600"/>
              </a:xfrm>
              <a:prstGeom prst="rect">
                <a:avLst/>
              </a:prstGeom>
              <a:solidFill>
                <a:srgbClr val="12355B"/>
              </a:solidFill>
              <a:ln>
                <a:noFill/>
              </a:ln>
            </p:spPr>
          </p:sp>
          <p:sp>
            <p:nvSpPr>
              <p:cNvPr id="15" name="TextBox 15"/>
              <p:cNvSpPr txBox="1"/>
              <p:nvPr/>
            </p:nvSpPr>
            <p:spPr>
              <a:xfrm>
                <a:off x="906399" y="3220879"/>
                <a:ext cx="1854750"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Express katmanı</a:t>
                </a:r>
              </a:p>
            </p:txBody>
          </p:sp>
          <p:sp>
            <p:nvSpPr>
              <p:cNvPr id="16" name="TextBox 16"/>
              <p:cNvSpPr txBox="1"/>
              <p:nvPr/>
            </p:nvSpPr>
            <p:spPr>
              <a:xfrm>
                <a:off x="908304" y="3470910"/>
                <a:ext cx="428266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route tanımı, middleware zinciri, JSON yardımcıları</a:t>
                </a:r>
              </a:p>
            </p:txBody>
          </p:sp>
        </p:grpSp>
        <p:grpSp>
          <p:nvGrpSpPr>
            <p:cNvPr id="22" name="katman-http"/>
            <p:cNvGrpSpPr/>
            <p:nvPr/>
          </p:nvGrpSpPr>
          <p:grpSpPr>
            <a:xfrm>
              <a:off x="609600" y="3848100"/>
              <a:ext cx="5334000" cy="609600"/>
              <a:chOff x="609600" y="3848100"/>
              <a:chExt cx="5334000" cy="609600"/>
            </a:xfrm>
          </p:grpSpPr>
          <p:sp>
            <p:nvSpPr>
              <p:cNvPr id="18" name="Rectangle 18"/>
              <p:cNvSpPr/>
              <p:nvPr/>
            </p:nvSpPr>
            <p:spPr>
              <a:xfrm>
                <a:off x="609600" y="3848100"/>
                <a:ext cx="5334000" cy="609600"/>
              </a:xfrm>
              <a:prstGeom prst="rect">
                <a:avLst/>
              </a:prstGeom>
              <a:solidFill>
                <a:srgbClr val="FFFFFF"/>
              </a:solidFill>
              <a:ln w="9525">
                <a:solidFill>
                  <a:srgbClr val="00A6A6"/>
                </a:solidFill>
              </a:ln>
            </p:spPr>
          </p:sp>
          <p:sp>
            <p:nvSpPr>
              <p:cNvPr id="19" name="Rectangle 19"/>
              <p:cNvSpPr/>
              <p:nvPr/>
            </p:nvSpPr>
            <p:spPr>
              <a:xfrm>
                <a:off x="609600" y="3848100"/>
                <a:ext cx="57150" cy="609600"/>
              </a:xfrm>
              <a:prstGeom prst="rect">
                <a:avLst/>
              </a:prstGeom>
              <a:solidFill>
                <a:srgbClr val="00A6A6"/>
              </a:solidFill>
              <a:ln>
                <a:noFill/>
              </a:ln>
            </p:spPr>
          </p:sp>
          <p:sp>
            <p:nvSpPr>
              <p:cNvPr id="20" name="TextBox 20"/>
              <p:cNvSpPr txBox="1"/>
              <p:nvPr/>
            </p:nvSpPr>
            <p:spPr>
              <a:xfrm>
                <a:off x="906399" y="3944779"/>
                <a:ext cx="21788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Node.js http modülü</a:t>
                </a:r>
              </a:p>
            </p:txBody>
          </p:sp>
          <p:sp>
            <p:nvSpPr>
              <p:cNvPr id="21" name="TextBox 21"/>
              <p:cNvSpPr txBox="1"/>
              <p:nvPr/>
            </p:nvSpPr>
            <p:spPr>
              <a:xfrm>
                <a:off x="908304" y="4194810"/>
                <a:ext cx="35419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ham istek ve yanıt nesneleri, soket yönetimi</a:t>
                </a:r>
              </a:p>
            </p:txBody>
          </p:sp>
        </p:grpSp>
        <p:grpSp>
          <p:nvGrpSpPr>
            <p:cNvPr id="27" name="katman-isletim"/>
            <p:cNvGrpSpPr/>
            <p:nvPr/>
          </p:nvGrpSpPr>
          <p:grpSpPr>
            <a:xfrm>
              <a:off x="609600" y="4572000"/>
              <a:ext cx="5334000" cy="609600"/>
              <a:chOff x="609600" y="4572000"/>
              <a:chExt cx="5334000" cy="609600"/>
            </a:xfrm>
          </p:grpSpPr>
          <p:sp>
            <p:nvSpPr>
              <p:cNvPr id="23" name="Rectangle 23"/>
              <p:cNvSpPr/>
              <p:nvPr/>
            </p:nvSpPr>
            <p:spPr>
              <a:xfrm>
                <a:off x="609600" y="4572000"/>
                <a:ext cx="5334000" cy="609600"/>
              </a:xfrm>
              <a:prstGeom prst="rect">
                <a:avLst/>
              </a:prstGeom>
              <a:solidFill>
                <a:srgbClr val="FFFFFF"/>
              </a:solidFill>
              <a:ln w="9525">
                <a:solidFill>
                  <a:srgbClr val="B8CBD3"/>
                </a:solidFill>
              </a:ln>
            </p:spPr>
          </p:sp>
          <p:sp>
            <p:nvSpPr>
              <p:cNvPr id="24" name="Rectangle 24"/>
              <p:cNvSpPr/>
              <p:nvPr/>
            </p:nvSpPr>
            <p:spPr>
              <a:xfrm>
                <a:off x="609600" y="4572000"/>
                <a:ext cx="57150" cy="609600"/>
              </a:xfrm>
              <a:prstGeom prst="rect">
                <a:avLst/>
              </a:prstGeom>
              <a:solidFill>
                <a:srgbClr val="52616B"/>
              </a:solidFill>
              <a:ln>
                <a:noFill/>
              </a:ln>
            </p:spPr>
          </p:sp>
          <p:sp>
            <p:nvSpPr>
              <p:cNvPr id="25" name="TextBox 25"/>
              <p:cNvSpPr txBox="1"/>
              <p:nvPr/>
            </p:nvSpPr>
            <p:spPr>
              <a:xfrm>
                <a:off x="906399" y="4668679"/>
                <a:ext cx="279247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İşletim sistemi ağ yığını</a:t>
                </a:r>
              </a:p>
            </p:txBody>
          </p:sp>
          <p:sp>
            <p:nvSpPr>
              <p:cNvPr id="26" name="TextBox 26"/>
              <p:cNvSpPr txBox="1"/>
              <p:nvPr/>
            </p:nvSpPr>
            <p:spPr>
              <a:xfrm>
                <a:off x="908304" y="4918710"/>
                <a:ext cx="249936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TCP bağlantısı ve dinlenen port</a:t>
                </a:r>
              </a:p>
            </p:txBody>
          </p:sp>
        </p:grpSp>
      </p:grpSp>
      <p:grpSp>
        <p:nvGrpSpPr>
          <p:cNvPr id="38" name="tanim-aciklamasi"/>
          <p:cNvGrpSpPr/>
          <p:nvPr/>
        </p:nvGrpSpPr>
        <p:grpSpPr>
          <a:xfrm>
            <a:off x="6240399" y="2154079"/>
            <a:ext cx="4372737" cy="3094577"/>
            <a:chOff x="6240399" y="2154079"/>
            <a:chExt cx="4372737" cy="3094577"/>
          </a:xfrm>
        </p:grpSpPr>
        <p:grpSp>
          <p:nvGrpSpPr>
            <p:cNvPr id="31" name="aciklama-teknik"/>
            <p:cNvGrpSpPr/>
            <p:nvPr/>
          </p:nvGrpSpPr>
          <p:grpSpPr>
            <a:xfrm>
              <a:off x="6240399" y="2154079"/>
              <a:ext cx="4243197" cy="960977"/>
              <a:chOff x="6240399" y="2154079"/>
              <a:chExt cx="4243197" cy="960977"/>
            </a:xfrm>
          </p:grpSpPr>
          <p:sp>
            <p:nvSpPr>
              <p:cNvPr id="29" name="TextBox 29"/>
              <p:cNvSpPr txBox="1"/>
              <p:nvPr/>
            </p:nvSpPr>
            <p:spPr>
              <a:xfrm>
                <a:off x="6240399" y="2154079"/>
                <a:ext cx="15081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Teknik açıdan</a:t>
                </a:r>
              </a:p>
            </p:txBody>
          </p:sp>
          <p:sp>
            <p:nvSpPr>
              <p:cNvPr id="30" name="TextBox 30"/>
              <p:cNvSpPr txBox="1"/>
              <p:nvPr/>
            </p:nvSpPr>
            <p:spPr>
              <a:xfrm>
                <a:off x="6242304" y="2461260"/>
                <a:ext cx="42412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Express, Node.js http sunucusunun üzerine kurulmuş bir</a:t>
                </a:r>
                <a:br/>
                <a:r>
                  <a:rPr lang="tr-TR" sz="1200" dirty="0">
                    <a:solidFill>
                      <a:srgbClr val="52616B"/>
                    </a:solidFill>
                    <a:latin typeface="+mn-lt"/>
                    <a:ea typeface="+mn-ea"/>
                    <a:cs typeface="+mn-cs"/>
                  </a:rPr>
                  <a:t>katmandır. Route tanımlama, middleware bağlama, JSON</a:t>
                </a:r>
                <a:br/>
                <a:r>
                  <a:rPr lang="tr-TR" sz="1200" dirty="0">
                    <a:solidFill>
                      <a:srgbClr val="52616B"/>
                    </a:solidFill>
                    <a:latin typeface="+mn-lt"/>
                    <a:ea typeface="+mn-ea"/>
                    <a:cs typeface="+mn-cs"/>
                  </a:rPr>
                  <a:t>yanıtı ve hata işleme için okunabilir API'ler sunar.</a:t>
                </a:r>
              </a:p>
            </p:txBody>
          </p:sp>
        </p:grpSp>
        <p:grpSp>
          <p:nvGrpSpPr>
            <p:cNvPr id="34" name="aciklama-benzetme"/>
            <p:cNvGrpSpPr/>
            <p:nvPr/>
          </p:nvGrpSpPr>
          <p:grpSpPr>
            <a:xfrm>
              <a:off x="6240399" y="3220879"/>
              <a:ext cx="4319397" cy="960977"/>
              <a:chOff x="6240399" y="3220879"/>
              <a:chExt cx="4319397" cy="960977"/>
            </a:xfrm>
          </p:grpSpPr>
          <p:sp>
            <p:nvSpPr>
              <p:cNvPr id="32" name="TextBox 32"/>
              <p:cNvSpPr txBox="1"/>
              <p:nvPr/>
            </p:nvSpPr>
            <p:spPr>
              <a:xfrm>
                <a:off x="6240399" y="3220879"/>
                <a:ext cx="167587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Günlük yaşamda</a:t>
                </a:r>
              </a:p>
            </p:txBody>
          </p:sp>
          <p:sp>
            <p:nvSpPr>
              <p:cNvPr id="33" name="TextBox 33"/>
              <p:cNvSpPr txBox="1"/>
              <p:nvPr/>
            </p:nvSpPr>
            <p:spPr>
              <a:xfrm>
                <a:off x="6242304" y="3528060"/>
                <a:ext cx="43174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Bir belediye hizmet masası gibidir: vatandaşın hangi işlem</a:t>
                </a:r>
                <a:br/>
                <a:r>
                  <a:rPr lang="tr-TR" sz="1200" dirty="0">
                    <a:solidFill>
                      <a:srgbClr val="52616B"/>
                    </a:solidFill>
                    <a:latin typeface="+mn-lt"/>
                    <a:ea typeface="+mn-ea"/>
                    <a:cs typeface="+mn-cs"/>
                  </a:rPr>
                  <a:t>için geldiğini anlar, onu doğru masaya yönlendirir ve</a:t>
                </a:r>
                <a:br/>
                <a:r>
                  <a:rPr lang="tr-TR" sz="1200" dirty="0">
                    <a:solidFill>
                      <a:srgbClr val="52616B"/>
                    </a:solidFill>
                    <a:latin typeface="+mn-lt"/>
                    <a:ea typeface="+mn-ea"/>
                    <a:cs typeface="+mn-cs"/>
                  </a:rPr>
                  <a:t>işlem sonucunda bir belge verir.</a:t>
                </a:r>
              </a:p>
            </p:txBody>
          </p:sp>
        </p:grpSp>
        <p:grpSp>
          <p:nvGrpSpPr>
            <p:cNvPr id="37" name="aciklama-kullanim"/>
            <p:cNvGrpSpPr/>
            <p:nvPr/>
          </p:nvGrpSpPr>
          <p:grpSpPr>
            <a:xfrm>
              <a:off x="6240399" y="4287679"/>
              <a:ext cx="4372737" cy="960977"/>
              <a:chOff x="6240399" y="4287679"/>
              <a:chExt cx="4372737" cy="960977"/>
            </a:xfrm>
          </p:grpSpPr>
          <p:sp>
            <p:nvSpPr>
              <p:cNvPr id="35" name="TextBox 35"/>
              <p:cNvSpPr txBox="1"/>
              <p:nvPr/>
            </p:nvSpPr>
            <p:spPr>
              <a:xfrm>
                <a:off x="6240399" y="4287679"/>
                <a:ext cx="20107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Nerede kullanılır?</a:t>
                </a:r>
              </a:p>
            </p:txBody>
          </p:sp>
          <p:sp>
            <p:nvSpPr>
              <p:cNvPr id="36" name="TextBox 36"/>
              <p:cNvSpPr txBox="1"/>
              <p:nvPr/>
            </p:nvSpPr>
            <p:spPr>
              <a:xfrm>
                <a:off x="6242304" y="4594860"/>
                <a:ext cx="43708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REST API'leri, küçük yönetim panelleri, prototipler, eğitim</a:t>
                </a:r>
                <a:br/>
                <a:r>
                  <a:rPr lang="tr-TR" sz="1200" dirty="0">
                    <a:solidFill>
                      <a:srgbClr val="52616B"/>
                    </a:solidFill>
                    <a:latin typeface="+mn-lt"/>
                    <a:ea typeface="+mn-ea"/>
                    <a:cs typeface="+mn-cs"/>
                  </a:rPr>
                  <a:t>projeleri ve mikro servisler. Başlangıç düzeyinde en büyük</a:t>
                </a:r>
                <a:br/>
                <a:r>
                  <a:rPr lang="tr-TR" sz="1200" dirty="0">
                    <a:solidFill>
                      <a:srgbClr val="52616B"/>
                    </a:solidFill>
                    <a:latin typeface="+mn-lt"/>
                    <a:ea typeface="+mn-ea"/>
                    <a:cs typeface="+mn-cs"/>
                  </a:rPr>
                  <a:t>avantajı, istek akışını görünür kılmasıdır.</a:t>
                </a:r>
              </a:p>
            </p:txBody>
          </p:sp>
        </p:grpSp>
      </p:grpSp>
      <p:grpSp>
        <p:nvGrpSpPr>
          <p:cNvPr id="43" name="typescript-notu"/>
          <p:cNvGrpSpPr/>
          <p:nvPr/>
        </p:nvGrpSpPr>
        <p:grpSpPr>
          <a:xfrm>
            <a:off x="609600" y="5505450"/>
            <a:ext cx="10972800" cy="742950"/>
            <a:chOff x="609600" y="5505450"/>
            <a:chExt cx="10972800" cy="742950"/>
          </a:xfrm>
        </p:grpSpPr>
        <p:sp>
          <p:nvSpPr>
            <p:cNvPr id="39" name="Rectangle 39"/>
            <p:cNvSpPr/>
            <p:nvPr/>
          </p:nvSpPr>
          <p:spPr>
            <a:xfrm>
              <a:off x="609600" y="5505450"/>
              <a:ext cx="10972800" cy="742950"/>
            </a:xfrm>
            <a:prstGeom prst="rect">
              <a:avLst/>
            </a:prstGeom>
            <a:solidFill>
              <a:srgbClr val="EAF4F6"/>
            </a:solidFill>
            <a:ln>
              <a:noFill/>
            </a:ln>
          </p:spPr>
        </p:sp>
        <p:sp>
          <p:nvSpPr>
            <p:cNvPr id="40" name="Rectangle 40"/>
            <p:cNvSpPr/>
            <p:nvPr/>
          </p:nvSpPr>
          <p:spPr>
            <a:xfrm>
              <a:off x="609600" y="5505450"/>
              <a:ext cx="10972800" cy="38100"/>
            </a:xfrm>
            <a:prstGeom prst="rect">
              <a:avLst/>
            </a:prstGeom>
            <a:gradFill>
              <a:gsLst>
                <a:gs pos="0">
                  <a:srgbClr val="00A6A6"/>
                </a:gs>
                <a:gs pos="100000">
                  <a:srgbClr val="2E86AB"/>
                </a:gs>
              </a:gsLst>
              <a:lin ang="0" scaled="1"/>
            </a:gradFill>
            <a:ln>
              <a:noFill/>
            </a:ln>
          </p:spPr>
        </p:sp>
        <p:sp>
          <p:nvSpPr>
            <p:cNvPr id="41" name="TextBox 41"/>
            <p:cNvSpPr txBox="1"/>
            <p:nvPr/>
          </p:nvSpPr>
          <p:spPr>
            <a:xfrm>
              <a:off x="906399" y="5678329"/>
              <a:ext cx="1011032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TypeScript, Express projelerinde tür denetimiyle daha güvenli kod yazılmasına yardım eder.</a:t>
              </a:r>
            </a:p>
          </p:txBody>
        </p:sp>
        <p:sp>
          <p:nvSpPr>
            <p:cNvPr id="42" name="TextBox 42"/>
            <p:cNvSpPr txBox="1"/>
            <p:nvPr/>
          </p:nvSpPr>
          <p:spPr>
            <a:xfrm>
              <a:off x="908304" y="5985510"/>
              <a:ext cx="943472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Bir endpoint'in eksik veya yanlış veriyle çağrılması yaygın olduğundan, bu güvenlik özellikle web API'lerinde değerlidir.</a:t>
              </a:r>
            </a:p>
          </p:txBody>
        </p:sp>
      </p:grpSp>
      <p:grpSp>
        <p:nvGrpSpPr>
          <p:cNvPr id="46" name="footer"/>
          <p:cNvGrpSpPr/>
          <p:nvPr/>
        </p:nvGrpSpPr>
        <p:grpSpPr>
          <a:xfrm>
            <a:off x="603504" y="6461760"/>
            <a:ext cx="10984992" cy="234696"/>
            <a:chOff x="603504" y="6461760"/>
            <a:chExt cx="10984992" cy="234696"/>
          </a:xfrm>
        </p:grpSpPr>
        <p:sp>
          <p:nvSpPr>
            <p:cNvPr id="44" name="TextBox 44"/>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5" name="TextBox 45"/>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39090"/>
                <a:ext cx="265748" cy="236220"/>
                <a:chOff x="762476" y="339090"/>
                <a:chExt cx="265748" cy="236220"/>
              </a:xfrm>
            </p:grpSpPr>
            <p:sp>
              <p:nvSpPr>
                <p:cNvPr id="5" name="Freeform 5"/>
                <p:cNvSpPr/>
                <p:nvPr/>
              </p:nvSpPr>
              <p:spPr>
                <a:xfrm>
                  <a:off x="762476" y="339090"/>
                  <a:ext cx="265748" cy="118110"/>
                </a:xfrm>
                <a:custGeom>
                  <a:avLst/>
                  <a:gdLst/>
                  <a:ahLst/>
                  <a:cxnLst/>
                  <a:rect l="l" t="t" r="r" b="b"/>
                  <a:pathLst>
                    <a:path w="265748" h="118110">
                      <a:moveTo>
                        <a:pt x="0" y="44291"/>
                      </a:moveTo>
                      <a:cubicBezTo>
                        <a:pt x="0" y="19830"/>
                        <a:pt x="19830" y="0"/>
                        <a:pt x="44291" y="0"/>
                      </a:cubicBezTo>
                      <a:lnTo>
                        <a:pt x="221456" y="0"/>
                      </a:lnTo>
                      <a:cubicBezTo>
                        <a:pt x="245918" y="0"/>
                        <a:pt x="265748" y="19830"/>
                        <a:pt x="265748" y="44291"/>
                      </a:cubicBezTo>
                      <a:lnTo>
                        <a:pt x="265748" y="73819"/>
                      </a:lnTo>
                      <a:cubicBezTo>
                        <a:pt x="265748" y="98280"/>
                        <a:pt x="245918" y="118110"/>
                        <a:pt x="221456" y="118110"/>
                      </a:cubicBezTo>
                      <a:lnTo>
                        <a:pt x="44291" y="118110"/>
                      </a:lnTo>
                      <a:cubicBezTo>
                        <a:pt x="19830" y="118110"/>
                        <a:pt x="0" y="98280"/>
                        <a:pt x="0" y="73819"/>
                      </a:cubicBezTo>
                      <a:lnTo>
                        <a:pt x="0" y="44291"/>
                      </a:lnTo>
                    </a:path>
                  </a:pathLst>
                </a:custGeom>
                <a:noFill/>
                <a:ln w="24759" cap="rnd">
                  <a:solidFill>
                    <a:srgbClr val="FFFFFF"/>
                  </a:solidFill>
                  <a:round/>
                </a:ln>
              </p:spPr>
            </p:sp>
            <p:sp>
              <p:nvSpPr>
                <p:cNvPr id="6" name="Freeform 6"/>
                <p:cNvSpPr/>
                <p:nvPr/>
              </p:nvSpPr>
              <p:spPr>
                <a:xfrm>
                  <a:off x="762476" y="457200"/>
                  <a:ext cx="265748" cy="118110"/>
                </a:xfrm>
                <a:custGeom>
                  <a:avLst/>
                  <a:gdLst/>
                  <a:ahLst/>
                  <a:cxnLst/>
                  <a:rect l="l" t="t" r="r" b="b"/>
                  <a:pathLst>
                    <a:path w="265748" h="118110">
                      <a:moveTo>
                        <a:pt x="0" y="44291"/>
                      </a:moveTo>
                      <a:cubicBezTo>
                        <a:pt x="0" y="19830"/>
                        <a:pt x="19830" y="0"/>
                        <a:pt x="44291" y="0"/>
                      </a:cubicBezTo>
                      <a:lnTo>
                        <a:pt x="221456" y="0"/>
                      </a:lnTo>
                      <a:cubicBezTo>
                        <a:pt x="245918" y="0"/>
                        <a:pt x="265748" y="19830"/>
                        <a:pt x="265748" y="44291"/>
                      </a:cubicBezTo>
                      <a:lnTo>
                        <a:pt x="265748" y="73819"/>
                      </a:lnTo>
                      <a:cubicBezTo>
                        <a:pt x="265748" y="98280"/>
                        <a:pt x="245918" y="118110"/>
                        <a:pt x="221456" y="118110"/>
                      </a:cubicBezTo>
                      <a:lnTo>
                        <a:pt x="44291" y="118110"/>
                      </a:lnTo>
                      <a:cubicBezTo>
                        <a:pt x="19830" y="118110"/>
                        <a:pt x="0" y="98280"/>
                        <a:pt x="0" y="73819"/>
                      </a:cubicBezTo>
                      <a:lnTo>
                        <a:pt x="0" y="44291"/>
                      </a:lnTo>
                    </a:path>
                  </a:pathLst>
                </a:custGeom>
                <a:noFill/>
                <a:ln w="24759" cap="rnd">
                  <a:solidFill>
                    <a:srgbClr val="FFFFFF"/>
                  </a:solidFill>
                  <a:round/>
                </a:ln>
              </p:spPr>
            </p:sp>
            <p:sp>
              <p:nvSpPr>
                <p:cNvPr id="7" name="Freeform 7"/>
                <p:cNvSpPr/>
                <p:nvPr/>
              </p:nvSpPr>
              <p:spPr>
                <a:xfrm>
                  <a:off x="821531" y="398145"/>
                  <a:ext cx="9525" cy="9525"/>
                </a:xfrm>
                <a:custGeom>
                  <a:avLst/>
                  <a:gdLst/>
                  <a:ahLst/>
                  <a:cxnLst/>
                  <a:rect l="l" t="t" r="r" b="b"/>
                  <a:pathLst>
                    <a:path w="9525" h="9525">
                      <a:moveTo>
                        <a:pt x="0" y="0"/>
                      </a:moveTo>
                      <a:lnTo>
                        <a:pt x="0" y="148"/>
                      </a:lnTo>
                    </a:path>
                  </a:pathLst>
                </a:custGeom>
                <a:noFill/>
                <a:ln w="24759" cap="rnd">
                  <a:solidFill>
                    <a:srgbClr val="FFFFFF"/>
                  </a:solidFill>
                  <a:round/>
                </a:ln>
              </p:spPr>
            </p:sp>
            <p:sp>
              <p:nvSpPr>
                <p:cNvPr id="8" name="Freeform 8"/>
                <p:cNvSpPr/>
                <p:nvPr/>
              </p:nvSpPr>
              <p:spPr>
                <a:xfrm>
                  <a:off x="821531" y="516255"/>
                  <a:ext cx="9525" cy="9525"/>
                </a:xfrm>
                <a:custGeom>
                  <a:avLst/>
                  <a:gdLst/>
                  <a:ahLst/>
                  <a:cxnLst/>
                  <a:rect l="l" t="t" r="r" b="b"/>
                  <a:pathLst>
                    <a:path w="9525" h="9525">
                      <a:moveTo>
                        <a:pt x="0" y="0"/>
                      </a:moveTo>
                      <a:lnTo>
                        <a:pt x="0" y="148"/>
                      </a:lnTo>
                    </a:path>
                  </a:pathLst>
                </a:custGeom>
                <a:noFill/>
                <a:ln w="24759" cap="rnd">
                  <a:solidFill>
                    <a:srgbClr val="FFFFFF"/>
                  </a:solidFill>
                  <a:round/>
                </a:ln>
              </p:spPr>
            </p:sp>
          </p:grpSp>
        </p:grpSp>
        <p:sp>
          <p:nvSpPr>
            <p:cNvPr id="11" name="TextBox 11"/>
            <p:cNvSpPr txBox="1"/>
            <p:nvPr/>
          </p:nvSpPr>
          <p:spPr>
            <a:xfrm>
              <a:off x="1299972" y="282892"/>
              <a:ext cx="629931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Kurulum ve ilk Express sunucusu</a:t>
              </a:r>
            </a:p>
          </p:txBody>
        </p:sp>
      </p:grpSp>
      <p:grpSp>
        <p:nvGrpSpPr>
          <p:cNvPr id="14" name="lead"/>
          <p:cNvGrpSpPr/>
          <p:nvPr/>
        </p:nvGrpSpPr>
        <p:grpSpPr>
          <a:xfrm>
            <a:off x="601218" y="1269682"/>
            <a:ext cx="10275085" cy="322707"/>
            <a:chOff x="601218" y="1269682"/>
            <a:chExt cx="10275085" cy="322707"/>
          </a:xfrm>
        </p:grpSpPr>
        <p:sp>
          <p:nvSpPr>
            <p:cNvPr id="13" name="TextBox 13"/>
            <p:cNvSpPr txBox="1"/>
            <p:nvPr/>
          </p:nvSpPr>
          <p:spPr>
            <a:xfrm>
              <a:off x="601218" y="1269682"/>
              <a:ext cx="10275085" cy="322707"/>
            </a:xfrm>
            <a:prstGeom prst="rect">
              <a:avLst/>
            </a:prstGeom>
            <a:noFill/>
            <a:ln>
              <a:noFill/>
            </a:ln>
          </p:spPr>
          <p:txBody>
            <a:bodyPr wrap="none" lIns="0" tIns="0" rIns="0" bIns="0" anchor="t" anchorCtr="0">
              <a:spAutoFit/>
            </a:bodyPr>
            <a:lstStyle/>
            <a:p>
              <a:pPr algn="l"/>
              <a:r>
                <a:rPr lang="tr-TR" sz="1650" dirty="0">
                  <a:solidFill>
                    <a:srgbClr val="172B3A"/>
                  </a:solidFill>
                  <a:latin typeface="+mn-lt"/>
                  <a:ea typeface="+mn-ea"/>
                  <a:cs typeface="+mn-cs"/>
                </a:rPr>
                <a:t>Bağımlılıklar kurulduktan sonra express() ile uygulama oluşturulur, listen() ile port dinlenir.</a:t>
              </a:r>
            </a:p>
          </p:txBody>
        </p:sp>
      </p:grpSp>
      <p:grpSp>
        <p:nvGrpSpPr>
          <p:cNvPr id="20" name="kod-kurulum"/>
          <p:cNvGrpSpPr/>
          <p:nvPr/>
        </p:nvGrpSpPr>
        <p:grpSpPr>
          <a:xfrm>
            <a:off x="601599" y="1773079"/>
            <a:ext cx="5265801" cy="1598771"/>
            <a:chOff x="601599" y="1773079"/>
            <a:chExt cx="5265801" cy="1598771"/>
          </a:xfrm>
        </p:grpSpPr>
        <p:sp>
          <p:nvSpPr>
            <p:cNvPr id="15" name="TextBox 15"/>
            <p:cNvSpPr txBox="1"/>
            <p:nvPr/>
          </p:nvSpPr>
          <p:spPr>
            <a:xfrm>
              <a:off x="601599" y="1773079"/>
              <a:ext cx="385165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5.1 · Bağımlılıkların kurulumu</a:t>
              </a:r>
            </a:p>
          </p:txBody>
        </p:sp>
        <p:sp>
          <p:nvSpPr>
            <p:cNvPr id="16" name="Rectangle 16"/>
            <p:cNvSpPr/>
            <p:nvPr/>
          </p:nvSpPr>
          <p:spPr>
            <a:xfrm>
              <a:off x="609600" y="2057400"/>
              <a:ext cx="5257800" cy="1314450"/>
            </a:xfrm>
            <a:prstGeom prst="rect">
              <a:avLst/>
            </a:prstGeom>
            <a:solidFill>
              <a:srgbClr val="12355B"/>
            </a:solidFill>
            <a:ln>
              <a:noFill/>
            </a:ln>
          </p:spPr>
        </p:sp>
        <p:sp>
          <p:nvSpPr>
            <p:cNvPr id="17" name="TextBox 17"/>
            <p:cNvSpPr txBox="1"/>
            <p:nvPr/>
          </p:nvSpPr>
          <p:spPr>
            <a:xfrm>
              <a:off x="830961" y="2246471"/>
              <a:ext cx="2012104" cy="278702"/>
            </a:xfrm>
            <a:prstGeom prst="rect">
              <a:avLst/>
            </a:prstGeom>
            <a:noFill/>
            <a:ln>
              <a:noFill/>
            </a:ln>
          </p:spPr>
          <p:txBody>
            <a:bodyPr wrap="none" lIns="0" tIns="0" rIns="0" bIns="0" anchor="t" anchorCtr="0">
              <a:spAutoFit/>
            </a:bodyPr>
            <a:lstStyle/>
            <a:p>
              <a:pPr algn="l"/>
              <a:r>
                <a:rPr lang="tr-TR" sz="1420" dirty="0">
                  <a:solidFill>
                    <a:srgbClr val="EAF4F6"/>
                  </a:solidFill>
                  <a:latin typeface="Consolas"/>
                  <a:ea typeface="Consolas"/>
                  <a:cs typeface="Consolas"/>
                </a:rPr>
                <a:t>npm install express</a:t>
              </a:r>
            </a:p>
          </p:txBody>
        </p:sp>
        <p:sp>
          <p:nvSpPr>
            <p:cNvPr id="18" name="TextBox 18"/>
            <p:cNvSpPr txBox="1"/>
            <p:nvPr/>
          </p:nvSpPr>
          <p:spPr>
            <a:xfrm>
              <a:off x="830961" y="2551271"/>
              <a:ext cx="3694316" cy="278702"/>
            </a:xfrm>
            <a:prstGeom prst="rect">
              <a:avLst/>
            </a:prstGeom>
            <a:noFill/>
            <a:ln>
              <a:noFill/>
            </a:ln>
          </p:spPr>
          <p:txBody>
            <a:bodyPr wrap="none" lIns="0" tIns="0" rIns="0" bIns="0" anchor="t" anchorCtr="0">
              <a:spAutoFit/>
            </a:bodyPr>
            <a:lstStyle/>
            <a:p>
              <a:pPr algn="l"/>
              <a:r>
                <a:rPr lang="tr-TR" sz="1420" dirty="0">
                  <a:solidFill>
                    <a:srgbClr val="EAF4F6"/>
                  </a:solidFill>
                  <a:latin typeface="Consolas"/>
                  <a:ea typeface="Consolas"/>
                  <a:cs typeface="Consolas"/>
                </a:rPr>
                <a:t>npm install --save-dev typescript \</a:t>
              </a:r>
            </a:p>
          </p:txBody>
        </p:sp>
        <p:sp>
          <p:nvSpPr>
            <p:cNvPr id="19" name="TextBox 19"/>
            <p:cNvSpPr txBox="1"/>
            <p:nvPr/>
          </p:nvSpPr>
          <p:spPr>
            <a:xfrm>
              <a:off x="830961" y="2779871"/>
              <a:ext cx="4009730" cy="278702"/>
            </a:xfrm>
            <a:prstGeom prst="rect">
              <a:avLst/>
            </a:prstGeom>
            <a:noFill/>
            <a:ln>
              <a:noFill/>
            </a:ln>
          </p:spPr>
          <p:txBody>
            <a:bodyPr wrap="none" lIns="0" tIns="0" rIns="0" bIns="0" anchor="t" anchorCtr="0">
              <a:spAutoFit/>
            </a:bodyPr>
            <a:lstStyle/>
            <a:p>
              <a:pPr algn="l"/>
              <a:r>
                <a:rPr lang="tr-TR" sz="1420" dirty="0">
                  <a:solidFill>
                    <a:srgbClr val="EAF4F6"/>
                  </a:solidFill>
                  <a:latin typeface="Consolas"/>
                  <a:ea typeface="Consolas"/>
                  <a:cs typeface="Consolas"/>
                </a:rPr>
                <a:t>ts-node-dev @types/express @types/node</a:t>
              </a:r>
            </a:p>
          </p:txBody>
        </p:sp>
      </p:grpSp>
      <p:grpSp>
        <p:nvGrpSpPr>
          <p:cNvPr id="31" name="kod-minimal"/>
          <p:cNvGrpSpPr/>
          <p:nvPr/>
        </p:nvGrpSpPr>
        <p:grpSpPr>
          <a:xfrm>
            <a:off x="6240399" y="1773079"/>
            <a:ext cx="5342001" cy="2475071"/>
            <a:chOff x="6240399" y="1773079"/>
            <a:chExt cx="5342001" cy="2475071"/>
          </a:xfrm>
        </p:grpSpPr>
        <p:sp>
          <p:nvSpPr>
            <p:cNvPr id="21" name="TextBox 21"/>
            <p:cNvSpPr txBox="1"/>
            <p:nvPr/>
          </p:nvSpPr>
          <p:spPr>
            <a:xfrm>
              <a:off x="6240399" y="1773079"/>
              <a:ext cx="369671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5.2 · Çalışan en küçük sunucu</a:t>
              </a:r>
            </a:p>
          </p:txBody>
        </p:sp>
        <p:sp>
          <p:nvSpPr>
            <p:cNvPr id="22" name="Rectangle 22"/>
            <p:cNvSpPr/>
            <p:nvPr/>
          </p:nvSpPr>
          <p:spPr>
            <a:xfrm>
              <a:off x="6248400" y="2057400"/>
              <a:ext cx="5334000" cy="2190750"/>
            </a:xfrm>
            <a:prstGeom prst="rect">
              <a:avLst/>
            </a:prstGeom>
            <a:solidFill>
              <a:srgbClr val="12355B"/>
            </a:solidFill>
            <a:ln>
              <a:noFill/>
            </a:ln>
          </p:spPr>
        </p:sp>
        <p:sp>
          <p:nvSpPr>
            <p:cNvPr id="23" name="TextBox 23"/>
            <p:cNvSpPr txBox="1"/>
            <p:nvPr/>
          </p:nvSpPr>
          <p:spPr>
            <a:xfrm>
              <a:off x="6470523" y="2205514"/>
              <a:ext cx="2856128"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import express from "express";</a:t>
              </a:r>
            </a:p>
          </p:txBody>
        </p:sp>
        <p:sp>
          <p:nvSpPr>
            <p:cNvPr id="24" name="TextBox 24"/>
            <p:cNvSpPr txBox="1"/>
            <p:nvPr/>
          </p:nvSpPr>
          <p:spPr>
            <a:xfrm>
              <a:off x="6470523" y="2472214"/>
              <a:ext cx="2571811"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Consolas"/>
                  <a:ea typeface="Consolas"/>
                  <a:cs typeface="Consolas"/>
                </a:rPr>
                <a:t>const uygulama = express();</a:t>
              </a:r>
            </a:p>
          </p:txBody>
        </p:sp>
        <p:sp>
          <p:nvSpPr>
            <p:cNvPr id="25" name="TextBox 25"/>
            <p:cNvSpPr txBox="1"/>
            <p:nvPr/>
          </p:nvSpPr>
          <p:spPr>
            <a:xfrm>
              <a:off x="6470523" y="2738914"/>
              <a:ext cx="351953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uygulama.get("/", (istek, yanit) =&gt; {</a:t>
              </a:r>
            </a:p>
          </p:txBody>
        </p:sp>
        <p:sp>
          <p:nvSpPr>
            <p:cNvPr id="26" name="TextBox 26"/>
            <p:cNvSpPr txBox="1"/>
            <p:nvPr/>
          </p:nvSpPr>
          <p:spPr>
            <a:xfrm>
              <a:off x="6470523" y="2967514"/>
              <a:ext cx="3052826"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Consolas"/>
                  <a:ea typeface="Consolas"/>
                  <a:cs typeface="Consolas"/>
                </a:rPr>
                <a:t>yanit.send("Sunucu çalışıyor.");</a:t>
              </a:r>
            </a:p>
          </p:txBody>
        </p:sp>
        <p:sp>
          <p:nvSpPr>
            <p:cNvPr id="27" name="TextBox 27"/>
            <p:cNvSpPr txBox="1"/>
            <p:nvPr/>
          </p:nvSpPr>
          <p:spPr>
            <a:xfrm>
              <a:off x="6470523" y="3196114"/>
              <a:ext cx="297271"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sp>
          <p:nvSpPr>
            <p:cNvPr id="28" name="TextBox 28"/>
            <p:cNvSpPr txBox="1"/>
            <p:nvPr/>
          </p:nvSpPr>
          <p:spPr>
            <a:xfrm>
              <a:off x="6470523" y="3462814"/>
              <a:ext cx="3329991"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Consolas"/>
                  <a:ea typeface="Consolas"/>
                  <a:cs typeface="Consolas"/>
                </a:rPr>
                <a:t>uygulama.listen(3000, () =&gt; {...});</a:t>
              </a:r>
            </a:p>
          </p:txBody>
        </p:sp>
        <p:sp>
          <p:nvSpPr>
            <p:cNvPr id="29" name="TextBox 29"/>
            <p:cNvSpPr txBox="1"/>
            <p:nvPr/>
          </p:nvSpPr>
          <p:spPr>
            <a:xfrm>
              <a:off x="6470523" y="3729514"/>
              <a:ext cx="2287494"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Consolas"/>
                  <a:ea typeface="Consolas"/>
                  <a:cs typeface="Consolas"/>
                </a:rPr>
                <a:t>// http://localhost:3000</a:t>
              </a:r>
            </a:p>
          </p:txBody>
        </p:sp>
        <p:sp>
          <p:nvSpPr>
            <p:cNvPr id="30" name="TextBox 30"/>
            <p:cNvSpPr txBox="1"/>
            <p:nvPr/>
          </p:nvSpPr>
          <p:spPr>
            <a:xfrm>
              <a:off x="6470523" y="3958114"/>
              <a:ext cx="1908404"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Consolas"/>
                  <a:ea typeface="Consolas"/>
                  <a:cs typeface="Consolas"/>
                </a:rPr>
                <a:t>// adresinde çalışır</a:t>
              </a:r>
            </a:p>
          </p:txBody>
        </p:sp>
      </p:grpSp>
      <p:grpSp>
        <p:nvGrpSpPr>
          <p:cNvPr id="42" name="kritik-satirlar"/>
          <p:cNvGrpSpPr/>
          <p:nvPr/>
        </p:nvGrpSpPr>
        <p:grpSpPr>
          <a:xfrm>
            <a:off x="601599" y="3563779"/>
            <a:ext cx="4250817" cy="1780127"/>
            <a:chOff x="601599" y="3563779"/>
            <a:chExt cx="4250817" cy="1780127"/>
          </a:xfrm>
        </p:grpSpPr>
        <p:sp>
          <p:nvSpPr>
            <p:cNvPr id="32" name="TextBox 32"/>
            <p:cNvSpPr txBox="1"/>
            <p:nvPr/>
          </p:nvSpPr>
          <p:spPr>
            <a:xfrm>
              <a:off x="601599" y="3563779"/>
              <a:ext cx="164172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Kritik satırlar</a:t>
              </a:r>
            </a:p>
          </p:txBody>
        </p:sp>
        <p:grpSp>
          <p:nvGrpSpPr>
            <p:cNvPr id="35" name="kritik-1"/>
            <p:cNvGrpSpPr/>
            <p:nvPr/>
          </p:nvGrpSpPr>
          <p:grpSpPr>
            <a:xfrm>
              <a:off x="685800" y="3890010"/>
              <a:ext cx="3343656" cy="425196"/>
              <a:chOff x="685800" y="3890010"/>
              <a:chExt cx="3343656" cy="425196"/>
            </a:xfrm>
          </p:grpSpPr>
          <p:sp>
            <p:nvSpPr>
              <p:cNvPr id="33" name="Ellipse 33"/>
              <p:cNvSpPr/>
              <p:nvPr/>
            </p:nvSpPr>
            <p:spPr>
              <a:xfrm>
                <a:off x="685800" y="3924300"/>
                <a:ext cx="76200" cy="76200"/>
              </a:xfrm>
              <a:prstGeom prst="ellipse">
                <a:avLst/>
              </a:prstGeom>
              <a:solidFill>
                <a:srgbClr val="00A6A6"/>
              </a:solidFill>
              <a:ln>
                <a:noFill/>
              </a:ln>
            </p:spPr>
          </p:sp>
          <p:sp>
            <p:nvSpPr>
              <p:cNvPr id="34" name="TextBox 34"/>
              <p:cNvSpPr txBox="1"/>
              <p:nvPr/>
            </p:nvSpPr>
            <p:spPr>
              <a:xfrm>
                <a:off x="870204" y="3890010"/>
                <a:ext cx="31592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express(), route ve middleware eklenecek</a:t>
                </a:r>
                <a:br/>
                <a:r>
                  <a:rPr lang="tr-TR" sz="1200" dirty="0">
                    <a:solidFill>
                      <a:srgbClr val="172B3A"/>
                    </a:solidFill>
                    <a:latin typeface="+mn-lt"/>
                    <a:ea typeface="+mn-ea"/>
                    <a:cs typeface="+mn-cs"/>
                  </a:rPr>
                  <a:t>uygulama nesnesini oluşturur.</a:t>
                </a:r>
              </a:p>
            </p:txBody>
          </p:sp>
        </p:grpSp>
        <p:grpSp>
          <p:nvGrpSpPr>
            <p:cNvPr id="38" name="kritik-2"/>
            <p:cNvGrpSpPr/>
            <p:nvPr/>
          </p:nvGrpSpPr>
          <p:grpSpPr>
            <a:xfrm>
              <a:off x="685800" y="4404360"/>
              <a:ext cx="4166616" cy="425196"/>
              <a:chOff x="685800" y="4404360"/>
              <a:chExt cx="4166616" cy="425196"/>
            </a:xfrm>
          </p:grpSpPr>
          <p:sp>
            <p:nvSpPr>
              <p:cNvPr id="36" name="Ellipse 36"/>
              <p:cNvSpPr/>
              <p:nvPr/>
            </p:nvSpPr>
            <p:spPr>
              <a:xfrm>
                <a:off x="685800" y="4438650"/>
                <a:ext cx="76200" cy="76200"/>
              </a:xfrm>
              <a:prstGeom prst="ellipse">
                <a:avLst/>
              </a:prstGeom>
              <a:solidFill>
                <a:srgbClr val="00A6A6"/>
              </a:solidFill>
              <a:ln>
                <a:noFill/>
              </a:ln>
            </p:spPr>
          </p:sp>
          <p:sp>
            <p:nvSpPr>
              <p:cNvPr id="37" name="TextBox 37"/>
              <p:cNvSpPr txBox="1"/>
              <p:nvPr/>
            </p:nvSpPr>
            <p:spPr>
              <a:xfrm>
                <a:off x="870204" y="4404360"/>
                <a:ext cx="39822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uygulama.get("/", ...) kök URL'ye gelen GET</a:t>
                </a:r>
                <a:br/>
                <a:r>
                  <a:rPr lang="tr-TR" sz="1200" dirty="0">
                    <a:solidFill>
                      <a:srgbClr val="172B3A"/>
                    </a:solidFill>
                    <a:latin typeface="+mn-lt"/>
                    <a:ea typeface="+mn-ea"/>
                    <a:cs typeface="+mn-cs"/>
                  </a:rPr>
                  <a:t>isteğini hangi fonksiyonun karşılayacağını tanımlar.</a:t>
                </a:r>
              </a:p>
            </p:txBody>
          </p:sp>
        </p:grpSp>
        <p:grpSp>
          <p:nvGrpSpPr>
            <p:cNvPr id="41" name="kritik-3"/>
            <p:cNvGrpSpPr/>
            <p:nvPr/>
          </p:nvGrpSpPr>
          <p:grpSpPr>
            <a:xfrm>
              <a:off x="685800" y="4918710"/>
              <a:ext cx="3549396" cy="425196"/>
              <a:chOff x="685800" y="4918710"/>
              <a:chExt cx="3549396" cy="425196"/>
            </a:xfrm>
          </p:grpSpPr>
          <p:sp>
            <p:nvSpPr>
              <p:cNvPr id="39" name="Ellipse 39"/>
              <p:cNvSpPr/>
              <p:nvPr/>
            </p:nvSpPr>
            <p:spPr>
              <a:xfrm>
                <a:off x="685800" y="4953000"/>
                <a:ext cx="76200" cy="76200"/>
              </a:xfrm>
              <a:prstGeom prst="ellipse">
                <a:avLst/>
              </a:prstGeom>
              <a:solidFill>
                <a:srgbClr val="00A6A6"/>
              </a:solidFill>
              <a:ln>
                <a:noFill/>
              </a:ln>
            </p:spPr>
          </p:sp>
          <p:sp>
            <p:nvSpPr>
              <p:cNvPr id="40" name="TextBox 40"/>
              <p:cNvSpPr txBox="1"/>
              <p:nvPr/>
            </p:nvSpPr>
            <p:spPr>
              <a:xfrm>
                <a:off x="870204" y="4918710"/>
                <a:ext cx="33649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uygulama.listen(portNumarasi, ...), işletim</a:t>
                </a:r>
                <a:br/>
                <a:r>
                  <a:rPr lang="tr-TR" sz="1200" dirty="0">
                    <a:solidFill>
                      <a:srgbClr val="172B3A"/>
                    </a:solidFill>
                    <a:latin typeface="+mn-lt"/>
                    <a:ea typeface="+mn-ea"/>
                    <a:cs typeface="+mn-cs"/>
                  </a:rPr>
                  <a:t>sisteminden portu dinlemesini ister.</a:t>
                </a:r>
              </a:p>
            </p:txBody>
          </p:sp>
        </p:grpSp>
      </p:grpSp>
      <p:grpSp>
        <p:nvGrpSpPr>
          <p:cNvPr id="47" name="dikkat"/>
          <p:cNvGrpSpPr/>
          <p:nvPr/>
        </p:nvGrpSpPr>
        <p:grpSpPr>
          <a:xfrm>
            <a:off x="609600" y="5715000"/>
            <a:ext cx="10972800" cy="609600"/>
            <a:chOff x="609600" y="5715000"/>
            <a:chExt cx="10972800" cy="609600"/>
          </a:xfrm>
        </p:grpSpPr>
        <p:sp>
          <p:nvSpPr>
            <p:cNvPr id="43" name="Rectangle 43"/>
            <p:cNvSpPr/>
            <p:nvPr/>
          </p:nvSpPr>
          <p:spPr>
            <a:xfrm>
              <a:off x="609600" y="5715000"/>
              <a:ext cx="10972800" cy="609600"/>
            </a:xfrm>
            <a:prstGeom prst="rect">
              <a:avLst/>
            </a:prstGeom>
            <a:solidFill>
              <a:srgbClr val="EAF4F6"/>
            </a:solidFill>
            <a:ln>
              <a:noFill/>
            </a:ln>
          </p:spPr>
        </p:sp>
        <p:sp>
          <p:nvSpPr>
            <p:cNvPr id="44" name="Rectangle 44"/>
            <p:cNvSpPr/>
            <p:nvPr/>
          </p:nvSpPr>
          <p:spPr>
            <a:xfrm>
              <a:off x="609600" y="5715000"/>
              <a:ext cx="10972800" cy="38100"/>
            </a:xfrm>
            <a:prstGeom prst="rect">
              <a:avLst/>
            </a:prstGeom>
            <a:gradFill>
              <a:gsLst>
                <a:gs pos="0">
                  <a:srgbClr val="00A6A6"/>
                </a:gs>
                <a:gs pos="100000">
                  <a:srgbClr val="2E86AB"/>
                </a:gs>
              </a:gsLst>
              <a:lin ang="0" scaled="1"/>
            </a:gradFill>
            <a:ln>
              <a:noFill/>
            </a:ln>
          </p:spPr>
        </p:sp>
        <p:sp>
          <p:nvSpPr>
            <p:cNvPr id="45" name="TextBox 45"/>
            <p:cNvSpPr txBox="1"/>
            <p:nvPr/>
          </p:nvSpPr>
          <p:spPr>
            <a:xfrm>
              <a:off x="907161" y="5827871"/>
              <a:ext cx="1728013"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 Dikkat noktası</a:t>
              </a:r>
            </a:p>
          </p:txBody>
        </p:sp>
        <p:sp>
          <p:nvSpPr>
            <p:cNvPr id="46" name="TextBox 46"/>
            <p:cNvSpPr txBox="1"/>
            <p:nvPr/>
          </p:nvSpPr>
          <p:spPr>
            <a:xfrm>
              <a:off x="908304" y="6080760"/>
              <a:ext cx="85847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@types/express eksik kurulursa Request ve Response parametreleri any tipine düşer; tür güvenliği kaybolur.</a:t>
              </a:r>
            </a:p>
          </p:txBody>
        </p:sp>
      </p:grpSp>
      <p:grpSp>
        <p:nvGrpSpPr>
          <p:cNvPr id="50" name="footer"/>
          <p:cNvGrpSpPr/>
          <p:nvPr/>
        </p:nvGrpSpPr>
        <p:grpSpPr>
          <a:xfrm>
            <a:off x="603504" y="6461760"/>
            <a:ext cx="10984992" cy="234696"/>
            <a:chOff x="603504" y="6461760"/>
            <a:chExt cx="10984992" cy="234696"/>
          </a:xfrm>
        </p:grpSpPr>
        <p:sp>
          <p:nvSpPr>
            <p:cNvPr id="48" name="TextBox 48"/>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9" name="TextBox 49"/>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600031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JSON yanıt ve Express'in yeri</a:t>
              </a:r>
            </a:p>
          </p:txBody>
        </p:sp>
      </p:grpSp>
      <p:grpSp>
        <p:nvGrpSpPr>
          <p:cNvPr id="15" name="kod-json"/>
          <p:cNvGrpSpPr/>
          <p:nvPr/>
        </p:nvGrpSpPr>
        <p:grpSpPr>
          <a:xfrm>
            <a:off x="601599" y="1220629"/>
            <a:ext cx="5265801" cy="2027777"/>
            <a:chOff x="601599" y="1220629"/>
            <a:chExt cx="5265801" cy="2027777"/>
          </a:xfrm>
        </p:grpSpPr>
        <p:sp>
          <p:nvSpPr>
            <p:cNvPr id="6" name="TextBox 6"/>
            <p:cNvSpPr txBox="1"/>
            <p:nvPr/>
          </p:nvSpPr>
          <p:spPr>
            <a:xfrm>
              <a:off x="601599" y="1220629"/>
              <a:ext cx="375528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5.3 · express.json() ile yanıt</a:t>
              </a:r>
            </a:p>
          </p:txBody>
        </p:sp>
        <p:sp>
          <p:nvSpPr>
            <p:cNvPr id="7" name="Rectangle 7"/>
            <p:cNvSpPr/>
            <p:nvPr/>
          </p:nvSpPr>
          <p:spPr>
            <a:xfrm>
              <a:off x="609600" y="1504950"/>
              <a:ext cx="5257800" cy="1714500"/>
            </a:xfrm>
            <a:prstGeom prst="rect">
              <a:avLst/>
            </a:prstGeom>
            <a:solidFill>
              <a:srgbClr val="12355B"/>
            </a:solidFill>
            <a:ln>
              <a:noFill/>
            </a:ln>
          </p:spPr>
        </p:sp>
        <p:sp>
          <p:nvSpPr>
            <p:cNvPr id="8" name="TextBox 8"/>
            <p:cNvSpPr txBox="1"/>
            <p:nvPr/>
          </p:nvSpPr>
          <p:spPr>
            <a:xfrm>
              <a:off x="831723" y="1653064"/>
              <a:ext cx="3993398"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uygulama.get("/durum", (istek, yanit) =&gt; {</a:t>
              </a:r>
            </a:p>
          </p:txBody>
        </p:sp>
        <p:sp>
          <p:nvSpPr>
            <p:cNvPr id="9" name="TextBox 9"/>
            <p:cNvSpPr txBox="1"/>
            <p:nvPr/>
          </p:nvSpPr>
          <p:spPr>
            <a:xfrm>
              <a:off x="831723" y="1881664"/>
              <a:ext cx="1150224"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Consolas"/>
                  <a:ea typeface="Consolas"/>
                  <a:cs typeface="Consolas"/>
                </a:rPr>
                <a:t>yanit.json({</a:t>
              </a:r>
            </a:p>
          </p:txBody>
        </p:sp>
        <p:sp>
          <p:nvSpPr>
            <p:cNvPr id="10" name="TextBox 10"/>
            <p:cNvSpPr txBox="1"/>
            <p:nvPr/>
          </p:nvSpPr>
          <p:spPr>
            <a:xfrm>
              <a:off x="831723" y="2110264"/>
              <a:ext cx="2508033"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Consolas"/>
                  <a:ea typeface="Consolas"/>
                  <a:cs typeface="Consolas"/>
                </a:rPr>
                <a:t>mesaj: "Kitap API hazır.",</a:t>
              </a:r>
            </a:p>
          </p:txBody>
        </p:sp>
        <p:sp>
          <p:nvSpPr>
            <p:cNvPr id="11" name="TextBox 11"/>
            <p:cNvSpPr txBox="1"/>
            <p:nvPr/>
          </p:nvSpPr>
          <p:spPr>
            <a:xfrm>
              <a:off x="831723" y="2338864"/>
              <a:ext cx="2388652"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Consolas"/>
                  <a:ea typeface="Consolas"/>
                  <a:cs typeface="Consolas"/>
                </a:rPr>
                <a:t>sunucuDurumu: "çalışıyor"</a:t>
              </a:r>
            </a:p>
          </p:txBody>
        </p:sp>
        <p:sp>
          <p:nvSpPr>
            <p:cNvPr id="12" name="TextBox 12"/>
            <p:cNvSpPr txBox="1"/>
            <p:nvPr/>
          </p:nvSpPr>
          <p:spPr>
            <a:xfrm>
              <a:off x="831723" y="2567464"/>
              <a:ext cx="297271"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Consolas"/>
                  <a:ea typeface="Consolas"/>
                  <a:cs typeface="Consolas"/>
                </a:rPr>
                <a:t>});</a:t>
              </a:r>
            </a:p>
          </p:txBody>
        </p:sp>
        <p:sp>
          <p:nvSpPr>
            <p:cNvPr id="13" name="TextBox 13"/>
            <p:cNvSpPr txBox="1"/>
            <p:nvPr/>
          </p:nvSpPr>
          <p:spPr>
            <a:xfrm>
              <a:off x="831723" y="2796064"/>
              <a:ext cx="297271"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sp>
          <p:nvSpPr>
            <p:cNvPr id="14" name="TextBox 14"/>
            <p:cNvSpPr txBox="1"/>
            <p:nvPr/>
          </p:nvSpPr>
          <p:spPr>
            <a:xfrm>
              <a:off x="832104" y="3013710"/>
              <a:ext cx="304527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Consolas"/>
                  <a:ea typeface="Consolas"/>
                  <a:cs typeface="Consolas"/>
                </a:rPr>
                <a:t>// Content-Type otomatik ayarlanır</a:t>
              </a:r>
            </a:p>
          </p:txBody>
        </p:sp>
      </p:grpSp>
      <p:grpSp>
        <p:nvGrpSpPr>
          <p:cNvPr id="21" name="json-not"/>
          <p:cNvGrpSpPr/>
          <p:nvPr/>
        </p:nvGrpSpPr>
        <p:grpSpPr>
          <a:xfrm>
            <a:off x="603504" y="3661410"/>
            <a:ext cx="4217739" cy="1282446"/>
            <a:chOff x="603504" y="3661410"/>
            <a:chExt cx="4217739" cy="1282446"/>
          </a:xfrm>
        </p:grpSpPr>
        <p:sp>
          <p:nvSpPr>
            <p:cNvPr id="16" name="TextBox 16"/>
            <p:cNvSpPr txBox="1"/>
            <p:nvPr/>
          </p:nvSpPr>
          <p:spPr>
            <a:xfrm>
              <a:off x="603504" y="3661410"/>
              <a:ext cx="40203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yanit.json(…), verilen nesneyi otomatik olarak JSON</a:t>
              </a:r>
              <a:br/>
              <a:r>
                <a:rPr lang="tr-TR" sz="1200" dirty="0">
                  <a:solidFill>
                    <a:srgbClr val="172B3A"/>
                  </a:solidFill>
                  <a:latin typeface="+mn-lt"/>
                  <a:ea typeface="+mn-ea"/>
                  <a:cs typeface="+mn-cs"/>
                </a:rPr>
                <a:t>gövdesine dönüştürür ve Content-Type başlığını buna</a:t>
              </a:r>
              <a:br/>
              <a:r>
                <a:rPr lang="tr-TR" sz="1200" dirty="0">
                  <a:solidFill>
                    <a:srgbClr val="172B3A"/>
                  </a:solidFill>
                  <a:latin typeface="+mn-lt"/>
                  <a:ea typeface="+mn-ea"/>
                  <a:cs typeface="+mn-cs"/>
                </a:rPr>
                <a:t>göre ayarlar.</a:t>
              </a:r>
            </a:p>
          </p:txBody>
        </p:sp>
        <p:sp>
          <p:nvSpPr>
            <p:cNvPr id="17" name="TextBox 17"/>
            <p:cNvSpPr txBox="1"/>
            <p:nvPr/>
          </p:nvSpPr>
          <p:spPr>
            <a:xfrm>
              <a:off x="603504" y="4328160"/>
              <a:ext cx="851177"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 Dikkat:</a:t>
              </a:r>
            </a:p>
          </p:txBody>
        </p:sp>
        <p:sp>
          <p:nvSpPr>
            <p:cNvPr id="18" name="TextBox 18"/>
            <p:cNvSpPr txBox="1"/>
            <p:nvPr/>
          </p:nvSpPr>
          <p:spPr>
            <a:xfrm>
              <a:off x="1232154" y="4328160"/>
              <a:ext cx="35500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yanit.json(…) çağrıldıktan sonra aynı yanıt</a:t>
              </a:r>
            </a:p>
          </p:txBody>
        </p:sp>
        <p:sp>
          <p:nvSpPr>
            <p:cNvPr id="19" name="TextBox 19"/>
            <p:cNvSpPr txBox="1"/>
            <p:nvPr/>
          </p:nvSpPr>
          <p:spPr>
            <a:xfrm>
              <a:off x="603504" y="4518660"/>
              <a:ext cx="421773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nesnesine tekrar send veya json çağrılamaz; Express</a:t>
              </a:r>
            </a:p>
          </p:txBody>
        </p:sp>
        <p:sp>
          <p:nvSpPr>
            <p:cNvPr id="20" name="TextBox 20"/>
            <p:cNvSpPr txBox="1"/>
            <p:nvPr/>
          </p:nvSpPr>
          <p:spPr>
            <a:xfrm>
              <a:off x="603504" y="4709160"/>
              <a:ext cx="30572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"headers already sent" hatası üretir.</a:t>
              </a:r>
            </a:p>
          </p:txBody>
        </p:sp>
      </p:grpSp>
      <p:grpSp>
        <p:nvGrpSpPr>
          <p:cNvPr id="45" name="tercih-tablosu"/>
          <p:cNvGrpSpPr/>
          <p:nvPr/>
        </p:nvGrpSpPr>
        <p:grpSpPr>
          <a:xfrm>
            <a:off x="6240399" y="1220629"/>
            <a:ext cx="5342001" cy="3551777"/>
            <a:chOff x="6240399" y="1220629"/>
            <a:chExt cx="5342001" cy="3551777"/>
          </a:xfrm>
        </p:grpSpPr>
        <p:sp>
          <p:nvSpPr>
            <p:cNvPr id="22" name="TextBox 22"/>
            <p:cNvSpPr txBox="1"/>
            <p:nvPr/>
          </p:nvSpPr>
          <p:spPr>
            <a:xfrm>
              <a:off x="6240399" y="1220629"/>
              <a:ext cx="304932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 zaman tercih edilmelidir?</a:t>
              </a:r>
            </a:p>
          </p:txBody>
        </p:sp>
        <p:sp>
          <p:nvSpPr>
            <p:cNvPr id="23" name="TextBox 23"/>
            <p:cNvSpPr txBox="1"/>
            <p:nvPr/>
          </p:nvSpPr>
          <p:spPr>
            <a:xfrm>
              <a:off x="6242304" y="1508760"/>
              <a:ext cx="42565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Hızlı prototip, eğitim amaçlı sunucu mantığı veya esnek</a:t>
              </a:r>
              <a:br/>
              <a:r>
                <a:rPr lang="tr-TR" sz="1200" dirty="0">
                  <a:solidFill>
                    <a:srgbClr val="52616B"/>
                  </a:solidFill>
                  <a:latin typeface="+mn-lt"/>
                  <a:ea typeface="+mn-ea"/>
                  <a:cs typeface="+mn-cs"/>
                </a:rPr>
                <a:t>bir REST API için güçlü bir başlangıç seçeneğidir.</a:t>
              </a:r>
            </a:p>
          </p:txBody>
        </p:sp>
        <p:sp>
          <p:nvSpPr>
            <p:cNvPr id="24" name="Rectangle 24"/>
            <p:cNvSpPr/>
            <p:nvPr/>
          </p:nvSpPr>
          <p:spPr>
            <a:xfrm>
              <a:off x="6248400" y="2057400"/>
              <a:ext cx="5334000" cy="285750"/>
            </a:xfrm>
            <a:prstGeom prst="rect">
              <a:avLst/>
            </a:prstGeom>
            <a:solidFill>
              <a:srgbClr val="EAF4F6"/>
            </a:solidFill>
            <a:ln>
              <a:noFill/>
            </a:ln>
          </p:spPr>
        </p:sp>
        <p:sp>
          <p:nvSpPr>
            <p:cNvPr id="25" name="TextBox 25"/>
            <p:cNvSpPr txBox="1"/>
            <p:nvPr/>
          </p:nvSpPr>
          <p:spPr>
            <a:xfrm>
              <a:off x="6356604" y="2118360"/>
              <a:ext cx="75526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Yaklaşım</a:t>
              </a:r>
            </a:p>
          </p:txBody>
        </p:sp>
        <p:sp>
          <p:nvSpPr>
            <p:cNvPr id="26" name="TextBox 26"/>
            <p:cNvSpPr txBox="1"/>
            <p:nvPr/>
          </p:nvSpPr>
          <p:spPr>
            <a:xfrm>
              <a:off x="8185404" y="2118360"/>
              <a:ext cx="86563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Güçlü yönü</a:t>
              </a:r>
            </a:p>
          </p:txBody>
        </p:sp>
        <p:sp>
          <p:nvSpPr>
            <p:cNvPr id="27" name="TextBox 27"/>
            <p:cNvSpPr txBox="1"/>
            <p:nvPr/>
          </p:nvSpPr>
          <p:spPr>
            <a:xfrm>
              <a:off x="9518904" y="2118360"/>
              <a:ext cx="118809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Uygun senaryo</a:t>
              </a:r>
            </a:p>
          </p:txBody>
        </p:sp>
        <p:sp>
          <p:nvSpPr>
            <p:cNvPr id="28" name="Line 28"/>
            <p:cNvSpPr/>
            <p:nvPr/>
          </p:nvSpPr>
          <p:spPr>
            <a:xfrm>
              <a:off x="6248400" y="2343150"/>
              <a:ext cx="5334000" cy="9525"/>
            </a:xfrm>
            <a:custGeom>
              <a:avLst/>
              <a:gdLst/>
              <a:ahLst/>
              <a:cxnLst/>
              <a:rect l="l" t="t" r="r" b="b"/>
              <a:pathLst>
                <a:path w="5334000" h="9525">
                  <a:moveTo>
                    <a:pt x="0" y="0"/>
                  </a:moveTo>
                  <a:lnTo>
                    <a:pt x="5334000" y="0"/>
                  </a:lnTo>
                </a:path>
              </a:pathLst>
            </a:custGeom>
            <a:noFill/>
            <a:ln w="9525">
              <a:solidFill>
                <a:srgbClr val="B8CBD3"/>
              </a:solidFill>
            </a:ln>
          </p:spPr>
        </p:sp>
        <p:sp>
          <p:nvSpPr>
            <p:cNvPr id="29" name="TextBox 29"/>
            <p:cNvSpPr txBox="1"/>
            <p:nvPr/>
          </p:nvSpPr>
          <p:spPr>
            <a:xfrm>
              <a:off x="6356604" y="2442210"/>
              <a:ext cx="9410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http modülü</a:t>
              </a:r>
            </a:p>
          </p:txBody>
        </p:sp>
        <p:sp>
          <p:nvSpPr>
            <p:cNvPr id="30" name="TextBox 30"/>
            <p:cNvSpPr txBox="1"/>
            <p:nvPr/>
          </p:nvSpPr>
          <p:spPr>
            <a:xfrm>
              <a:off x="8185404" y="2442210"/>
              <a:ext cx="13345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Bağımsız, temel</a:t>
              </a:r>
            </a:p>
          </p:txBody>
        </p:sp>
        <p:sp>
          <p:nvSpPr>
            <p:cNvPr id="31" name="TextBox 31"/>
            <p:cNvSpPr txBox="1"/>
            <p:nvPr/>
          </p:nvSpPr>
          <p:spPr>
            <a:xfrm>
              <a:off x="9518904" y="2442210"/>
              <a:ext cx="10984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HTTP öğrenimi</a:t>
              </a:r>
            </a:p>
          </p:txBody>
        </p:sp>
        <p:sp>
          <p:nvSpPr>
            <p:cNvPr id="32" name="Line 32"/>
            <p:cNvSpPr/>
            <p:nvPr/>
          </p:nvSpPr>
          <p:spPr>
            <a:xfrm>
              <a:off x="6248400" y="2762250"/>
              <a:ext cx="5334000" cy="9525"/>
            </a:xfrm>
            <a:custGeom>
              <a:avLst/>
              <a:gdLst/>
              <a:ahLst/>
              <a:cxnLst/>
              <a:rect l="l" t="t" r="r" b="b"/>
              <a:pathLst>
                <a:path w="5334000" h="9525">
                  <a:moveTo>
                    <a:pt x="0" y="0"/>
                  </a:moveTo>
                  <a:lnTo>
                    <a:pt x="5334000" y="0"/>
                  </a:lnTo>
                </a:path>
              </a:pathLst>
            </a:custGeom>
            <a:noFill/>
            <a:ln w="9525">
              <a:solidFill>
                <a:srgbClr val="B8CBD3"/>
              </a:solidFill>
            </a:ln>
          </p:spPr>
        </p:sp>
        <p:sp>
          <p:nvSpPr>
            <p:cNvPr id="33" name="TextBox 33"/>
            <p:cNvSpPr txBox="1"/>
            <p:nvPr/>
          </p:nvSpPr>
          <p:spPr>
            <a:xfrm>
              <a:off x="6356604" y="2861310"/>
              <a:ext cx="6391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Express</a:t>
              </a:r>
            </a:p>
          </p:txBody>
        </p:sp>
        <p:sp>
          <p:nvSpPr>
            <p:cNvPr id="34" name="TextBox 34"/>
            <p:cNvSpPr txBox="1"/>
            <p:nvPr/>
          </p:nvSpPr>
          <p:spPr>
            <a:xfrm>
              <a:off x="8185404" y="2861310"/>
              <a:ext cx="11402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Basit ve esnek</a:t>
              </a:r>
            </a:p>
          </p:txBody>
        </p:sp>
        <p:sp>
          <p:nvSpPr>
            <p:cNvPr id="35" name="TextBox 35"/>
            <p:cNvSpPr txBox="1"/>
            <p:nvPr/>
          </p:nvSpPr>
          <p:spPr>
            <a:xfrm>
              <a:off x="9518904" y="2861310"/>
              <a:ext cx="16235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Küçük/orta REST API</a:t>
              </a:r>
            </a:p>
          </p:txBody>
        </p:sp>
        <p:sp>
          <p:nvSpPr>
            <p:cNvPr id="36" name="Line 36"/>
            <p:cNvSpPr/>
            <p:nvPr/>
          </p:nvSpPr>
          <p:spPr>
            <a:xfrm>
              <a:off x="6248400" y="3181350"/>
              <a:ext cx="5334000" cy="9525"/>
            </a:xfrm>
            <a:custGeom>
              <a:avLst/>
              <a:gdLst/>
              <a:ahLst/>
              <a:cxnLst/>
              <a:rect l="l" t="t" r="r" b="b"/>
              <a:pathLst>
                <a:path w="5334000" h="9525">
                  <a:moveTo>
                    <a:pt x="0" y="0"/>
                  </a:moveTo>
                  <a:lnTo>
                    <a:pt x="5334000" y="0"/>
                  </a:lnTo>
                </a:path>
              </a:pathLst>
            </a:custGeom>
            <a:noFill/>
            <a:ln w="9525">
              <a:solidFill>
                <a:srgbClr val="B8CBD3"/>
              </a:solidFill>
            </a:ln>
          </p:spPr>
        </p:sp>
        <p:sp>
          <p:nvSpPr>
            <p:cNvPr id="37" name="TextBox 37"/>
            <p:cNvSpPr txBox="1"/>
            <p:nvPr/>
          </p:nvSpPr>
          <p:spPr>
            <a:xfrm>
              <a:off x="6356604" y="3280410"/>
              <a:ext cx="5984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Fastify</a:t>
              </a:r>
            </a:p>
          </p:txBody>
        </p:sp>
        <p:sp>
          <p:nvSpPr>
            <p:cNvPr id="38" name="TextBox 38"/>
            <p:cNvSpPr txBox="1"/>
            <p:nvPr/>
          </p:nvSpPr>
          <p:spPr>
            <a:xfrm>
              <a:off x="8185404" y="3280410"/>
              <a:ext cx="10752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Performanslı</a:t>
              </a:r>
            </a:p>
          </p:txBody>
        </p:sp>
        <p:sp>
          <p:nvSpPr>
            <p:cNvPr id="39" name="TextBox 39"/>
            <p:cNvSpPr txBox="1"/>
            <p:nvPr/>
          </p:nvSpPr>
          <p:spPr>
            <a:xfrm>
              <a:off x="9518904" y="3280410"/>
              <a:ext cx="17286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Performans kritik API</a:t>
              </a:r>
            </a:p>
          </p:txBody>
        </p:sp>
        <p:sp>
          <p:nvSpPr>
            <p:cNvPr id="40" name="Line 40"/>
            <p:cNvSpPr/>
            <p:nvPr/>
          </p:nvSpPr>
          <p:spPr>
            <a:xfrm>
              <a:off x="6248400" y="3600450"/>
              <a:ext cx="5334000" cy="9525"/>
            </a:xfrm>
            <a:custGeom>
              <a:avLst/>
              <a:gdLst/>
              <a:ahLst/>
              <a:cxnLst/>
              <a:rect l="l" t="t" r="r" b="b"/>
              <a:pathLst>
                <a:path w="5334000" h="9525">
                  <a:moveTo>
                    <a:pt x="0" y="0"/>
                  </a:moveTo>
                  <a:lnTo>
                    <a:pt x="5334000" y="0"/>
                  </a:lnTo>
                </a:path>
              </a:pathLst>
            </a:custGeom>
            <a:noFill/>
            <a:ln w="9525">
              <a:solidFill>
                <a:srgbClr val="B8CBD3"/>
              </a:solidFill>
            </a:ln>
          </p:spPr>
        </p:sp>
        <p:sp>
          <p:nvSpPr>
            <p:cNvPr id="41" name="TextBox 41"/>
            <p:cNvSpPr txBox="1"/>
            <p:nvPr/>
          </p:nvSpPr>
          <p:spPr>
            <a:xfrm>
              <a:off x="6356604" y="3699510"/>
              <a:ext cx="5603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NestJS</a:t>
              </a:r>
            </a:p>
          </p:txBody>
        </p:sp>
        <p:sp>
          <p:nvSpPr>
            <p:cNvPr id="42" name="TextBox 42"/>
            <p:cNvSpPr txBox="1"/>
            <p:nvPr/>
          </p:nvSpPr>
          <p:spPr>
            <a:xfrm>
              <a:off x="8185404" y="3699510"/>
              <a:ext cx="11235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Kurallı mimari</a:t>
              </a:r>
            </a:p>
          </p:txBody>
        </p:sp>
        <p:sp>
          <p:nvSpPr>
            <p:cNvPr id="43" name="TextBox 43"/>
            <p:cNvSpPr txBox="1"/>
            <p:nvPr/>
          </p:nvSpPr>
          <p:spPr>
            <a:xfrm>
              <a:off x="9518904" y="3699510"/>
              <a:ext cx="166542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Büyük ekip, kurumsal</a:t>
              </a:r>
            </a:p>
          </p:txBody>
        </p:sp>
        <p:sp>
          <p:nvSpPr>
            <p:cNvPr id="44" name="TextBox 44"/>
            <p:cNvSpPr txBox="1"/>
            <p:nvPr/>
          </p:nvSpPr>
          <p:spPr>
            <a:xfrm>
              <a:off x="6242304" y="4156710"/>
              <a:ext cx="41422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Tek seferlik komut satırı programı için Express tercih</a:t>
              </a:r>
              <a:br/>
              <a:r>
                <a:rPr lang="tr-TR" sz="1200" dirty="0">
                  <a:solidFill>
                    <a:srgbClr val="52616B"/>
                  </a:solidFill>
                  <a:latin typeface="+mn-lt"/>
                  <a:ea typeface="+mn-ea"/>
                  <a:cs typeface="+mn-cs"/>
                </a:rPr>
                <a:t>edilmez; istemci-sunucu iletişimi gerekmeyen işlerde</a:t>
              </a:r>
              <a:br/>
              <a:r>
                <a:rPr lang="tr-TR" sz="1200" dirty="0">
                  <a:solidFill>
                    <a:srgbClr val="52616B"/>
                  </a:solidFill>
                  <a:latin typeface="+mn-lt"/>
                  <a:ea typeface="+mn-ea"/>
                  <a:cs typeface="+mn-cs"/>
                </a:rPr>
                <a:t>gereksiz bir katmandır.</a:t>
              </a:r>
            </a:p>
          </p:txBody>
        </p:sp>
      </p:grpSp>
      <p:grpSp>
        <p:nvGrpSpPr>
          <p:cNvPr id="48" name="footer"/>
          <p:cNvGrpSpPr/>
          <p:nvPr/>
        </p:nvGrpSpPr>
        <p:grpSpPr>
          <a:xfrm>
            <a:off x="603504" y="6461760"/>
            <a:ext cx="10984992" cy="234696"/>
            <a:chOff x="603504" y="6461760"/>
            <a:chExt cx="10984992" cy="234696"/>
          </a:xfrm>
        </p:grpSpPr>
        <p:sp>
          <p:nvSpPr>
            <p:cNvPr id="46" name="TextBox 46"/>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7" name="TextBox 47"/>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15224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Express kurulumunda yaygın hatalar</a:t>
              </a:r>
            </a:p>
          </p:txBody>
        </p:sp>
      </p:grpSp>
      <p:grpSp>
        <p:nvGrpSpPr>
          <p:cNvPr id="32" name="hatalar"/>
          <p:cNvGrpSpPr/>
          <p:nvPr/>
        </p:nvGrpSpPr>
        <p:grpSpPr>
          <a:xfrm>
            <a:off x="609600" y="1219200"/>
            <a:ext cx="10972800" cy="4381500"/>
            <a:chOff x="609600" y="1219200"/>
            <a:chExt cx="10972800" cy="4381500"/>
          </a:xfrm>
        </p:grpSpPr>
        <p:grpSp>
          <p:nvGrpSpPr>
            <p:cNvPr id="18" name="hata-1"/>
            <p:cNvGrpSpPr/>
            <p:nvPr/>
          </p:nvGrpSpPr>
          <p:grpSpPr>
            <a:xfrm>
              <a:off x="609600" y="1219200"/>
              <a:ext cx="10629900" cy="1333500"/>
              <a:chOff x="609600" y="1219200"/>
              <a:chExt cx="10629900" cy="1333500"/>
            </a:xfrm>
          </p:grpSpPr>
          <p:sp>
            <p:nvSpPr>
              <p:cNvPr id="12" name="Rectangle 12"/>
              <p:cNvSpPr/>
              <p:nvPr/>
            </p:nvSpPr>
            <p:spPr>
              <a:xfrm>
                <a:off x="609600" y="1219200"/>
                <a:ext cx="95250" cy="1333500"/>
              </a:xfrm>
              <a:prstGeom prst="rect">
                <a:avLst/>
              </a:prstGeom>
              <a:solidFill>
                <a:srgbClr val="12355B"/>
              </a:solidFill>
              <a:ln>
                <a:noFill/>
              </a:ln>
            </p:spPr>
          </p:sp>
          <p:sp>
            <p:nvSpPr>
              <p:cNvPr id="13" name="TextBox 13"/>
              <p:cNvSpPr txBox="1"/>
              <p:nvPr/>
            </p:nvSpPr>
            <p:spPr>
              <a:xfrm>
                <a:off x="830199" y="1277779"/>
                <a:ext cx="510463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 · Uygulama oluşturulmadan route tanımlamak</a:t>
                </a:r>
              </a:p>
            </p:txBody>
          </p:sp>
          <p:sp>
            <p:nvSpPr>
              <p:cNvPr id="14" name="TextBox 14"/>
              <p:cNvSpPr txBox="1"/>
              <p:nvPr/>
            </p:nvSpPr>
            <p:spPr>
              <a:xfrm>
                <a:off x="832104" y="1584960"/>
                <a:ext cx="59024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Bu bir derleme engelidir: TypeScript uygulama adını bulamaz, dosya derlenmez;</a:t>
                </a:r>
                <a:br/>
                <a:r>
                  <a:rPr lang="tr-TR" sz="1200" dirty="0">
                    <a:solidFill>
                      <a:srgbClr val="52616B"/>
                    </a:solidFill>
                    <a:latin typeface="+mn-lt"/>
                    <a:ea typeface="+mn-ea"/>
                    <a:cs typeface="+mn-cs"/>
                  </a:rPr>
                  <a:t>hata çalıştırmaya sıra gelmeden görünür.</a:t>
                </a:r>
              </a:p>
            </p:txBody>
          </p:sp>
          <p:sp>
            <p:nvSpPr>
              <p:cNvPr id="15" name="Rectangle 15"/>
              <p:cNvSpPr/>
              <p:nvPr/>
            </p:nvSpPr>
            <p:spPr>
              <a:xfrm>
                <a:off x="838200" y="2000250"/>
                <a:ext cx="10401300" cy="457200"/>
              </a:xfrm>
              <a:prstGeom prst="rect">
                <a:avLst/>
              </a:prstGeom>
              <a:solidFill>
                <a:srgbClr val="EAF4F6"/>
              </a:solidFill>
              <a:ln>
                <a:noFill/>
              </a:ln>
            </p:spPr>
          </p:sp>
          <p:sp>
            <p:nvSpPr>
              <p:cNvPr id="16" name="TextBox 16"/>
              <p:cNvSpPr txBox="1"/>
              <p:nvPr/>
            </p:nvSpPr>
            <p:spPr>
              <a:xfrm>
                <a:off x="984504" y="2061210"/>
                <a:ext cx="7304700"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 Hatalı: const uygulama = express(); satırından önce uygulama.get(...) çağrılmış</a:t>
                </a:r>
              </a:p>
            </p:txBody>
          </p:sp>
          <p:sp>
            <p:nvSpPr>
              <p:cNvPr id="17" name="TextBox 17"/>
              <p:cNvSpPr txBox="1"/>
              <p:nvPr/>
            </p:nvSpPr>
            <p:spPr>
              <a:xfrm>
                <a:off x="984504" y="2251710"/>
                <a:ext cx="7304700"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 Doğru sıra: önce express() ile oluştur, sonra route ekle, en son listen() çağır</a:t>
                </a:r>
              </a:p>
            </p:txBody>
          </p:sp>
        </p:grpSp>
        <p:grpSp>
          <p:nvGrpSpPr>
            <p:cNvPr id="22" name="hata-2"/>
            <p:cNvGrpSpPr/>
            <p:nvPr/>
          </p:nvGrpSpPr>
          <p:grpSpPr>
            <a:xfrm>
              <a:off x="609600" y="2705100"/>
              <a:ext cx="6601637" cy="952500"/>
              <a:chOff x="609600" y="2705100"/>
              <a:chExt cx="6601637" cy="952500"/>
            </a:xfrm>
          </p:grpSpPr>
          <p:sp>
            <p:nvSpPr>
              <p:cNvPr id="19" name="Rectangle 19"/>
              <p:cNvSpPr/>
              <p:nvPr/>
            </p:nvSpPr>
            <p:spPr>
              <a:xfrm>
                <a:off x="609600" y="2705100"/>
                <a:ext cx="95250" cy="952500"/>
              </a:xfrm>
              <a:prstGeom prst="rect">
                <a:avLst/>
              </a:prstGeom>
              <a:solidFill>
                <a:srgbClr val="00A6A6"/>
              </a:solidFill>
              <a:ln>
                <a:noFill/>
              </a:ln>
            </p:spPr>
          </p:sp>
          <p:sp>
            <p:nvSpPr>
              <p:cNvPr id="20" name="TextBox 20"/>
              <p:cNvSpPr txBox="1"/>
              <p:nvPr/>
            </p:nvSpPr>
            <p:spPr>
              <a:xfrm>
                <a:off x="830199" y="2763679"/>
                <a:ext cx="638103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 · listen() çağrısını unutmak veya yanlış port kullanmak</a:t>
                </a:r>
              </a:p>
            </p:txBody>
          </p:sp>
          <p:sp>
            <p:nvSpPr>
              <p:cNvPr id="21" name="TextBox 21"/>
              <p:cNvSpPr txBox="1"/>
              <p:nvPr/>
            </p:nvSpPr>
            <p:spPr>
              <a:xfrm>
                <a:off x="832104" y="3070860"/>
                <a:ext cx="58033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Route tanımlamak tek başına sunucuyu başlatmaz. Tarayıcıda localhost:3000</a:t>
                </a:r>
                <a:br/>
                <a:r>
                  <a:rPr lang="tr-TR" sz="1200" dirty="0">
                    <a:solidFill>
                      <a:srgbClr val="52616B"/>
                    </a:solidFill>
                    <a:latin typeface="+mn-lt"/>
                    <a:ea typeface="+mn-ea"/>
                    <a:cs typeface="+mn-cs"/>
                  </a:rPr>
                  <a:t>açılırken kodda 3001 kullanılmışsa bağlantı kurulamaz.</a:t>
                </a:r>
              </a:p>
            </p:txBody>
          </p:sp>
        </p:grpSp>
        <p:grpSp>
          <p:nvGrpSpPr>
            <p:cNvPr id="26" name="hata-3"/>
            <p:cNvGrpSpPr/>
            <p:nvPr/>
          </p:nvGrpSpPr>
          <p:grpSpPr>
            <a:xfrm>
              <a:off x="609600" y="3810000"/>
              <a:ext cx="5805309" cy="952500"/>
              <a:chOff x="609600" y="3810000"/>
              <a:chExt cx="5805309" cy="952500"/>
            </a:xfrm>
          </p:grpSpPr>
          <p:sp>
            <p:nvSpPr>
              <p:cNvPr id="23" name="Rectangle 23"/>
              <p:cNvSpPr/>
              <p:nvPr/>
            </p:nvSpPr>
            <p:spPr>
              <a:xfrm>
                <a:off x="609600" y="3810000"/>
                <a:ext cx="95250" cy="952500"/>
              </a:xfrm>
              <a:prstGeom prst="rect">
                <a:avLst/>
              </a:prstGeom>
              <a:solidFill>
                <a:srgbClr val="2E86AB"/>
              </a:solidFill>
              <a:ln>
                <a:noFill/>
              </a:ln>
            </p:spPr>
          </p:sp>
          <p:sp>
            <p:nvSpPr>
              <p:cNvPr id="24" name="TextBox 24"/>
              <p:cNvSpPr txBox="1"/>
              <p:nvPr/>
            </p:nvSpPr>
            <p:spPr>
              <a:xfrm>
                <a:off x="830199" y="3868579"/>
                <a:ext cx="558471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3 · Aynı portu birden fazla uygulamanın kullanması</a:t>
                </a:r>
              </a:p>
            </p:txBody>
          </p:sp>
          <p:sp>
            <p:nvSpPr>
              <p:cNvPr id="25" name="TextBox 25"/>
              <p:cNvSpPr txBox="1"/>
              <p:nvPr/>
            </p:nvSpPr>
            <p:spPr>
              <a:xfrm>
                <a:off x="832104" y="4175760"/>
                <a:ext cx="55062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EADDRINUSE hatası görülürse aynı portu dinleyen önceki süreç kapatılmalı</a:t>
                </a:r>
                <a:br/>
                <a:r>
                  <a:rPr lang="tr-TR" sz="1200" dirty="0">
                    <a:solidFill>
                      <a:srgbClr val="52616B"/>
                    </a:solidFill>
                    <a:latin typeface="+mn-lt"/>
                    <a:ea typeface="+mn-ea"/>
                    <a:cs typeface="+mn-cs"/>
                  </a:rPr>
                  <a:t>veya farklı bir port seçilmelidir.</a:t>
                </a:r>
              </a:p>
            </p:txBody>
          </p:sp>
        </p:grpSp>
        <p:grpSp>
          <p:nvGrpSpPr>
            <p:cNvPr id="31" name="ozet-kural"/>
            <p:cNvGrpSpPr/>
            <p:nvPr/>
          </p:nvGrpSpPr>
          <p:grpSpPr>
            <a:xfrm>
              <a:off x="609600" y="4933950"/>
              <a:ext cx="10972800" cy="666750"/>
              <a:chOff x="609600" y="4933950"/>
              <a:chExt cx="10972800" cy="666750"/>
            </a:xfrm>
          </p:grpSpPr>
          <p:sp>
            <p:nvSpPr>
              <p:cNvPr id="27" name="Rectangle 27"/>
              <p:cNvSpPr/>
              <p:nvPr/>
            </p:nvSpPr>
            <p:spPr>
              <a:xfrm>
                <a:off x="609600" y="4933950"/>
                <a:ext cx="10972800" cy="666750"/>
              </a:xfrm>
              <a:prstGeom prst="rect">
                <a:avLst/>
              </a:prstGeom>
              <a:solidFill>
                <a:srgbClr val="EAF4F6"/>
              </a:solidFill>
              <a:ln>
                <a:noFill/>
              </a:ln>
            </p:spPr>
          </p:sp>
          <p:sp>
            <p:nvSpPr>
              <p:cNvPr id="28" name="Rectangle 28"/>
              <p:cNvSpPr/>
              <p:nvPr/>
            </p:nvSpPr>
            <p:spPr>
              <a:xfrm>
                <a:off x="609600" y="4933950"/>
                <a:ext cx="10972800" cy="38100"/>
              </a:xfrm>
              <a:prstGeom prst="rect">
                <a:avLst/>
              </a:prstGeom>
              <a:gradFill>
                <a:gsLst>
                  <a:gs pos="0">
                    <a:srgbClr val="00A6A6"/>
                  </a:gs>
                  <a:gs pos="100000">
                    <a:srgbClr val="2E86AB"/>
                  </a:gs>
                </a:gsLst>
                <a:lin ang="0" scaled="1"/>
              </a:gradFill>
              <a:ln>
                <a:noFill/>
              </a:ln>
            </p:spPr>
          </p:sp>
          <p:sp>
            <p:nvSpPr>
              <p:cNvPr id="29" name="TextBox 29"/>
              <p:cNvSpPr txBox="1"/>
              <p:nvPr/>
            </p:nvSpPr>
            <p:spPr>
              <a:xfrm>
                <a:off x="907161" y="5065871"/>
                <a:ext cx="156625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Sıralama kuralı</a:t>
                </a:r>
              </a:p>
            </p:txBody>
          </p:sp>
          <p:sp>
            <p:nvSpPr>
              <p:cNvPr id="30" name="TextBox 30"/>
              <p:cNvSpPr txBox="1"/>
              <p:nvPr/>
            </p:nvSpPr>
            <p:spPr>
              <a:xfrm>
                <a:off x="908304" y="5318760"/>
                <a:ext cx="724696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Önce express() ile uygulama oluşturulur, sonra route'lar eklenir, en son listen() çağrılır.</a:t>
                </a:r>
              </a:p>
            </p:txBody>
          </p:sp>
        </p:grpSp>
      </p:grpSp>
      <p:grpSp>
        <p:nvGrpSpPr>
          <p:cNvPr id="35" name="footer"/>
          <p:cNvGrpSpPr/>
          <p:nvPr/>
        </p:nvGrpSpPr>
        <p:grpSpPr>
          <a:xfrm>
            <a:off x="603504" y="6461760"/>
            <a:ext cx="10984992" cy="234696"/>
            <a:chOff x="603504" y="6461760"/>
            <a:chExt cx="10984992" cy="234696"/>
          </a:xfrm>
        </p:grpSpPr>
        <p:sp>
          <p:nvSpPr>
            <p:cNvPr id="33" name="TextBox 33"/>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34" name="TextBox 34"/>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63252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Routing ile istekleri yönlendirme</a:t>
              </a:r>
            </a:p>
          </p:txBody>
        </p:sp>
      </p:grpSp>
      <p:grpSp>
        <p:nvGrpSpPr>
          <p:cNvPr id="14" name="tanim"/>
          <p:cNvGrpSpPr/>
          <p:nvPr/>
        </p:nvGrpSpPr>
        <p:grpSpPr>
          <a:xfrm>
            <a:off x="600456" y="1253490"/>
            <a:ext cx="9013698" cy="637794"/>
            <a:chOff x="600456" y="1253490"/>
            <a:chExt cx="9013698" cy="637794"/>
          </a:xfrm>
        </p:grpSpPr>
        <p:sp>
          <p:nvSpPr>
            <p:cNvPr id="13" name="TextBox 13"/>
            <p:cNvSpPr txBox="1"/>
            <p:nvPr/>
          </p:nvSpPr>
          <p:spPr>
            <a:xfrm>
              <a:off x="600456" y="1253490"/>
              <a:ext cx="9013698" cy="6377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Routing, gelen HTTP isteğinin metot ve yol bilgisine göre uygun işleyici fonksiyona</a:t>
              </a:r>
              <a:br/>
              <a:r>
                <a:rPr lang="tr-TR" sz="1800" dirty="0">
                  <a:solidFill>
                    <a:srgbClr val="172B3A"/>
                  </a:solidFill>
                  <a:latin typeface="+mn-lt"/>
                  <a:ea typeface="+mn-ea"/>
                  <a:cs typeface="+mn-cs"/>
                </a:rPr>
                <a:t>yönlendirilmesidir. Metot da route'un kimliğinin bir parçasıdır.</a:t>
              </a:r>
            </a:p>
          </p:txBody>
        </p:sp>
      </p:grpSp>
      <p:grpSp>
        <p:nvGrpSpPr>
          <p:cNvPr id="20" name="benzetme"/>
          <p:cNvGrpSpPr/>
          <p:nvPr/>
        </p:nvGrpSpPr>
        <p:grpSpPr>
          <a:xfrm>
            <a:off x="609600" y="2324100"/>
            <a:ext cx="5257800" cy="2857500"/>
            <a:chOff x="609600" y="2324100"/>
            <a:chExt cx="5257800" cy="2857500"/>
          </a:xfrm>
        </p:grpSpPr>
        <p:sp>
          <p:nvSpPr>
            <p:cNvPr id="15" name="Rectangle 15"/>
            <p:cNvSpPr/>
            <p:nvPr/>
          </p:nvSpPr>
          <p:spPr>
            <a:xfrm>
              <a:off x="609600" y="2324100"/>
              <a:ext cx="5257800" cy="2857500"/>
            </a:xfrm>
            <a:prstGeom prst="rect">
              <a:avLst/>
            </a:prstGeom>
            <a:solidFill>
              <a:srgbClr val="FFFFFF"/>
            </a:solidFill>
            <a:ln w="9525">
              <a:solidFill>
                <a:srgbClr val="B8CBD3"/>
              </a:solidFill>
            </a:ln>
          </p:spPr>
        </p:sp>
        <p:sp>
          <p:nvSpPr>
            <p:cNvPr id="16" name="Rectangle 16"/>
            <p:cNvSpPr/>
            <p:nvPr/>
          </p:nvSpPr>
          <p:spPr>
            <a:xfrm>
              <a:off x="609600" y="2324100"/>
              <a:ext cx="5257800" cy="38100"/>
            </a:xfrm>
            <a:prstGeom prst="rect">
              <a:avLst/>
            </a:prstGeom>
            <a:solidFill>
              <a:srgbClr val="00A6A6"/>
            </a:solidFill>
            <a:ln>
              <a:noFill/>
            </a:ln>
          </p:spPr>
        </p:sp>
        <p:sp>
          <p:nvSpPr>
            <p:cNvPr id="17" name="TextBox 17"/>
            <p:cNvSpPr txBox="1"/>
            <p:nvPr/>
          </p:nvSpPr>
          <p:spPr>
            <a:xfrm>
              <a:off x="906399" y="2477929"/>
              <a:ext cx="296007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Bina danışması benzetmesi</a:t>
              </a:r>
            </a:p>
          </p:txBody>
        </p:sp>
        <p:sp>
          <p:nvSpPr>
            <p:cNvPr id="18" name="TextBox 18"/>
            <p:cNvSpPr txBox="1"/>
            <p:nvPr/>
          </p:nvSpPr>
          <p:spPr>
            <a:xfrm>
              <a:off x="908304" y="2804160"/>
              <a:ext cx="3265932" cy="10728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Ziyaretçi "muhasebeye gideceğim" dediğinde</a:t>
              </a:r>
              <a:br/>
              <a:r>
                <a:rPr lang="tr-TR" sz="1200" dirty="0">
                  <a:solidFill>
                    <a:srgbClr val="172B3A"/>
                  </a:solidFill>
                  <a:latin typeface="+mn-lt"/>
                  <a:ea typeface="+mn-ea"/>
                  <a:cs typeface="+mn-cs"/>
                </a:rPr>
                <a:t>danışma onu muhasebe odasına, "insan</a:t>
              </a:r>
              <a:br/>
              <a:r>
                <a:rPr lang="tr-TR" sz="1200" dirty="0">
                  <a:solidFill>
                    <a:srgbClr val="172B3A"/>
                  </a:solidFill>
                  <a:latin typeface="+mn-lt"/>
                  <a:ea typeface="+mn-ea"/>
                  <a:cs typeface="+mn-cs"/>
                </a:rPr>
                <a:t>kaynaklarına gideceğim" dediğinde başka bir</a:t>
              </a:r>
              <a:br/>
              <a:r>
                <a:rPr lang="tr-TR" sz="1200" dirty="0">
                  <a:solidFill>
                    <a:srgbClr val="172B3A"/>
                  </a:solidFill>
                  <a:latin typeface="+mn-lt"/>
                  <a:ea typeface="+mn-ea"/>
                  <a:cs typeface="+mn-cs"/>
                </a:rPr>
                <a:t>yere yönlendirir. Routing de URL ve metoda</a:t>
              </a:r>
              <a:br/>
              <a:r>
                <a:rPr lang="tr-TR" sz="1200" dirty="0">
                  <a:solidFill>
                    <a:srgbClr val="172B3A"/>
                  </a:solidFill>
                  <a:latin typeface="+mn-lt"/>
                  <a:ea typeface="+mn-ea"/>
                  <a:cs typeface="+mn-cs"/>
                </a:rPr>
                <a:t>bakarak isteği doğru "odaya" götürür.</a:t>
              </a:r>
            </a:p>
          </p:txBody>
        </p:sp>
        <p:sp>
          <p:nvSpPr>
            <p:cNvPr id="19" name="TextBox 19"/>
            <p:cNvSpPr txBox="1"/>
            <p:nvPr/>
          </p:nvSpPr>
          <p:spPr>
            <a:xfrm>
              <a:off x="908304" y="4156710"/>
              <a:ext cx="34488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Kaynak odaklı isimlendirme: /kitaplar,</a:t>
              </a:r>
              <a:br/>
              <a:r>
                <a:rPr lang="tr-TR" sz="1200" dirty="0">
                  <a:solidFill>
                    <a:srgbClr val="52616B"/>
                  </a:solidFill>
                  <a:latin typeface="+mn-lt"/>
                  <a:ea typeface="+mn-ea"/>
                  <a:cs typeface="+mn-cs"/>
                </a:rPr>
                <a:t>/kitaplar/:kitapKimligi, /yazarlar gibi tutarlı</a:t>
              </a:r>
              <a:br/>
              <a:r>
                <a:rPr lang="tr-TR" sz="1200" dirty="0">
                  <a:solidFill>
                    <a:srgbClr val="52616B"/>
                  </a:solidFill>
                  <a:latin typeface="+mn-lt"/>
                  <a:ea typeface="+mn-ea"/>
                  <a:cs typeface="+mn-cs"/>
                </a:rPr>
                <a:t>route'lar bir API sözleşmesi oluşturur.</a:t>
              </a:r>
            </a:p>
          </p:txBody>
        </p:sp>
      </p:grpSp>
      <p:grpSp>
        <p:nvGrpSpPr>
          <p:cNvPr id="26" name="kuramsal"/>
          <p:cNvGrpSpPr/>
          <p:nvPr/>
        </p:nvGrpSpPr>
        <p:grpSpPr>
          <a:xfrm>
            <a:off x="6248400" y="2324100"/>
            <a:ext cx="5334000" cy="2857500"/>
            <a:chOff x="6248400" y="2324100"/>
            <a:chExt cx="5334000" cy="2857500"/>
          </a:xfrm>
        </p:grpSpPr>
        <p:sp>
          <p:nvSpPr>
            <p:cNvPr id="21" name="Rectangle 21"/>
            <p:cNvSpPr/>
            <p:nvPr/>
          </p:nvSpPr>
          <p:spPr>
            <a:xfrm>
              <a:off x="6248400" y="2324100"/>
              <a:ext cx="5334000" cy="2857500"/>
            </a:xfrm>
            <a:prstGeom prst="rect">
              <a:avLst/>
            </a:prstGeom>
            <a:solidFill>
              <a:srgbClr val="EAF4F6"/>
            </a:solidFill>
            <a:ln>
              <a:noFill/>
            </a:ln>
          </p:spPr>
        </p:sp>
        <p:sp>
          <p:nvSpPr>
            <p:cNvPr id="22" name="Rectangle 22"/>
            <p:cNvSpPr/>
            <p:nvPr/>
          </p:nvSpPr>
          <p:spPr>
            <a:xfrm>
              <a:off x="6248400" y="2324100"/>
              <a:ext cx="5334000" cy="38100"/>
            </a:xfrm>
            <a:prstGeom prst="rect">
              <a:avLst/>
            </a:prstGeom>
            <a:gradFill>
              <a:gsLst>
                <a:gs pos="0">
                  <a:srgbClr val="00A6A6"/>
                </a:gs>
                <a:gs pos="100000">
                  <a:srgbClr val="2E86AB"/>
                </a:gs>
              </a:gsLst>
              <a:lin ang="0" scaled="1"/>
            </a:gradFill>
            <a:ln>
              <a:noFill/>
            </a:ln>
          </p:spPr>
        </p:sp>
        <p:sp>
          <p:nvSpPr>
            <p:cNvPr id="23" name="TextBox 23"/>
            <p:cNvSpPr txBox="1"/>
            <p:nvPr/>
          </p:nvSpPr>
          <p:spPr>
            <a:xfrm>
              <a:off x="6545199" y="2477929"/>
              <a:ext cx="205553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Kuramsal arka plan</a:t>
              </a:r>
            </a:p>
          </p:txBody>
        </p:sp>
        <p:sp>
          <p:nvSpPr>
            <p:cNvPr id="24" name="TextBox 24"/>
            <p:cNvSpPr txBox="1"/>
            <p:nvPr/>
          </p:nvSpPr>
          <p:spPr>
            <a:xfrm>
              <a:off x="6547104" y="2804160"/>
              <a:ext cx="3517392" cy="12824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Fielding'in 2000 tarihli REST tezi: bir URI bir</a:t>
              </a:r>
              <a:br/>
              <a:r>
                <a:rPr lang="tr-TR" sz="1200" dirty="0">
                  <a:solidFill>
                    <a:srgbClr val="172B3A"/>
                  </a:solidFill>
                  <a:latin typeface="+mn-lt"/>
                  <a:ea typeface="+mn-ea"/>
                  <a:cs typeface="+mn-cs"/>
                </a:rPr>
                <a:t>eylemi değil bir "kaynağı" adresler; eylem HTTP</a:t>
              </a:r>
              <a:br/>
              <a:r>
                <a:rPr lang="tr-TR" sz="1200" dirty="0">
                  <a:solidFill>
                    <a:srgbClr val="172B3A"/>
                  </a:solidFill>
                  <a:latin typeface="+mn-lt"/>
                  <a:ea typeface="+mn-ea"/>
                  <a:cs typeface="+mn-cs"/>
                </a:rPr>
                <a:t>metoduyla belirtilir. Bu yüzden /kitaplar aynı</a:t>
              </a:r>
              <a:br/>
              <a:r>
                <a:rPr lang="tr-TR" sz="1200" dirty="0">
                  <a:solidFill>
                    <a:srgbClr val="172B3A"/>
                  </a:solidFill>
                  <a:latin typeface="+mn-lt"/>
                  <a:ea typeface="+mn-ea"/>
                  <a:cs typeface="+mn-cs"/>
                </a:rPr>
                <a:t>yolda GET (okuma) ve POST (oluşturma) ile</a:t>
              </a:r>
              <a:br/>
              <a:r>
                <a:rPr lang="tr-TR" sz="1200" dirty="0">
                  <a:solidFill>
                    <a:srgbClr val="172B3A"/>
                  </a:solidFill>
                  <a:latin typeface="+mn-lt"/>
                  <a:ea typeface="+mn-ea"/>
                  <a:cs typeface="+mn-cs"/>
                </a:rPr>
                <a:t>farklı anlamlara gelir; /kitapOlustur gibi bir</a:t>
              </a:r>
              <a:br/>
              <a:r>
                <a:rPr lang="tr-TR" sz="1200" dirty="0">
                  <a:solidFill>
                    <a:srgbClr val="172B3A"/>
                  </a:solidFill>
                  <a:latin typeface="+mn-lt"/>
                  <a:ea typeface="+mn-ea"/>
                  <a:cs typeface="+mn-cs"/>
                </a:rPr>
                <a:t>eylem-adlı yol REST ilkesine aykırıdır.</a:t>
              </a:r>
            </a:p>
          </p:txBody>
        </p:sp>
        <p:sp>
          <p:nvSpPr>
            <p:cNvPr id="25" name="TextBox 25"/>
            <p:cNvSpPr txBox="1"/>
            <p:nvPr/>
          </p:nvSpPr>
          <p:spPr>
            <a:xfrm>
              <a:off x="6547104" y="4309110"/>
              <a:ext cx="35631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Route eşleştirme, biçimsel dil teorisindeki</a:t>
              </a:r>
              <a:br/>
              <a:r>
                <a:rPr lang="tr-TR" sz="1200" dirty="0">
                  <a:solidFill>
                    <a:srgbClr val="52616B"/>
                  </a:solidFill>
                  <a:latin typeface="+mn-lt"/>
                  <a:ea typeface="+mn-ea"/>
                  <a:cs typeface="+mn-cs"/>
                </a:rPr>
                <a:t>örüntü eşleştirme ile ilişkilidir: /kitaplar/:id</a:t>
              </a:r>
              <a:br/>
              <a:r>
                <a:rPr lang="tr-TR" sz="1200" dirty="0">
                  <a:solidFill>
                    <a:srgbClr val="52616B"/>
                  </a:solidFill>
                  <a:latin typeface="+mn-lt"/>
                  <a:ea typeface="+mn-ea"/>
                  <a:cs typeface="+mn-cs"/>
                </a:rPr>
                <a:t>bir düzenli ifadeye derlenip parametre çıkarır.</a:t>
              </a:r>
            </a:p>
          </p:txBody>
        </p:sp>
      </p:grpSp>
      <p:grpSp>
        <p:nvGrpSpPr>
          <p:cNvPr id="31" name="neden-vardir"/>
          <p:cNvGrpSpPr/>
          <p:nvPr/>
        </p:nvGrpSpPr>
        <p:grpSpPr>
          <a:xfrm>
            <a:off x="609600" y="5505450"/>
            <a:ext cx="10972800" cy="829056"/>
            <a:chOff x="609600" y="5505450"/>
            <a:chExt cx="10972800" cy="829056"/>
          </a:xfrm>
        </p:grpSpPr>
        <p:sp>
          <p:nvSpPr>
            <p:cNvPr id="27" name="Rectangle 27"/>
            <p:cNvSpPr/>
            <p:nvPr/>
          </p:nvSpPr>
          <p:spPr>
            <a:xfrm>
              <a:off x="609600" y="5505450"/>
              <a:ext cx="10972800" cy="742950"/>
            </a:xfrm>
            <a:prstGeom prst="rect">
              <a:avLst/>
            </a:prstGeom>
            <a:solidFill>
              <a:srgbClr val="FFFFFF"/>
            </a:solidFill>
            <a:ln w="9525">
              <a:solidFill>
                <a:srgbClr val="B8CBD3"/>
              </a:solidFill>
            </a:ln>
          </p:spPr>
        </p:sp>
        <p:sp>
          <p:nvSpPr>
            <p:cNvPr id="28" name="Rectangle 28"/>
            <p:cNvSpPr/>
            <p:nvPr/>
          </p:nvSpPr>
          <p:spPr>
            <a:xfrm>
              <a:off x="609600" y="5505450"/>
              <a:ext cx="57150" cy="742950"/>
            </a:xfrm>
            <a:prstGeom prst="rect">
              <a:avLst/>
            </a:prstGeom>
            <a:solidFill>
              <a:srgbClr val="2E86AB"/>
            </a:solidFill>
            <a:ln>
              <a:noFill/>
            </a:ln>
          </p:spPr>
        </p:sp>
        <p:sp>
          <p:nvSpPr>
            <p:cNvPr id="29" name="TextBox 29"/>
            <p:cNvSpPr txBox="1"/>
            <p:nvPr/>
          </p:nvSpPr>
          <p:spPr>
            <a:xfrm>
              <a:off x="907161" y="5637371"/>
              <a:ext cx="1406562"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Neden vardır?</a:t>
              </a:r>
            </a:p>
          </p:txBody>
        </p:sp>
        <p:sp>
          <p:nvSpPr>
            <p:cNvPr id="30" name="TextBox 30"/>
            <p:cNvSpPr txBox="1"/>
            <p:nvPr/>
          </p:nvSpPr>
          <p:spPr>
            <a:xfrm>
              <a:off x="908304" y="5909310"/>
              <a:ext cx="76093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Routing olmadan her istek tek bir if-else zincirinde incelenir; uygulama büyüdükçe okunabilirlik azalır.</a:t>
              </a:r>
              <a:br/>
              <a:r>
                <a:rPr lang="tr-TR" sz="1200" dirty="0">
                  <a:solidFill>
                    <a:srgbClr val="172B3A"/>
                  </a:solidFill>
                  <a:latin typeface="+mn-lt"/>
                  <a:ea typeface="+mn-ea"/>
                  <a:cs typeface="+mn-cs"/>
                </a:rPr>
                <a:t>Her kaynağın farklı davranışı olduğundan routing bu davranışları amaç odaklı fonksiyonlara ayırır.</a:t>
              </a:r>
            </a:p>
          </p:txBody>
        </p:sp>
      </p:grpSp>
      <p:grpSp>
        <p:nvGrpSpPr>
          <p:cNvPr id="34" name="footer"/>
          <p:cNvGrpSpPr/>
          <p:nvPr/>
        </p:nvGrpSpPr>
        <p:grpSpPr>
          <a:xfrm>
            <a:off x="603504" y="6461760"/>
            <a:ext cx="10984992" cy="234696"/>
            <a:chOff x="603504" y="6461760"/>
            <a:chExt cx="10984992" cy="234696"/>
          </a:xfrm>
        </p:grpSpPr>
        <p:sp>
          <p:nvSpPr>
            <p:cNvPr id="32" name="TextBox 32"/>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33" name="TextBox 33"/>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847927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5.4 · Kitap listesi, tekil kayıt, ekleme</a:t>
              </a:r>
            </a:p>
          </p:txBody>
        </p:sp>
      </p:grpSp>
      <p:grpSp>
        <p:nvGrpSpPr>
          <p:cNvPr id="31" name="kod"/>
          <p:cNvGrpSpPr/>
          <p:nvPr/>
        </p:nvGrpSpPr>
        <p:grpSpPr>
          <a:xfrm>
            <a:off x="609600" y="1219200"/>
            <a:ext cx="6667500" cy="4239006"/>
            <a:chOff x="609600" y="1219200"/>
            <a:chExt cx="6667500" cy="4239006"/>
          </a:xfrm>
        </p:grpSpPr>
        <p:sp>
          <p:nvSpPr>
            <p:cNvPr id="12" name="Rectangle 12"/>
            <p:cNvSpPr/>
            <p:nvPr/>
          </p:nvSpPr>
          <p:spPr>
            <a:xfrm>
              <a:off x="609600" y="1219200"/>
              <a:ext cx="6667500" cy="4000500"/>
            </a:xfrm>
            <a:prstGeom prst="rect">
              <a:avLst/>
            </a:prstGeom>
            <a:solidFill>
              <a:srgbClr val="12355B"/>
            </a:solidFill>
            <a:ln>
              <a:noFill/>
            </a:ln>
          </p:spPr>
        </p:sp>
        <p:sp>
          <p:nvSpPr>
            <p:cNvPr id="13" name="TextBox 13"/>
            <p:cNvSpPr txBox="1"/>
            <p:nvPr/>
          </p:nvSpPr>
          <p:spPr>
            <a:xfrm>
              <a:off x="832104" y="1375410"/>
              <a:ext cx="258881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uygulama.use(express.json());</a:t>
              </a:r>
            </a:p>
          </p:txBody>
        </p:sp>
        <p:sp>
          <p:nvSpPr>
            <p:cNvPr id="14" name="TextBox 14"/>
            <p:cNvSpPr txBox="1"/>
            <p:nvPr/>
          </p:nvSpPr>
          <p:spPr>
            <a:xfrm>
              <a:off x="832104" y="1680210"/>
              <a:ext cx="401040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uygulama.get("/kitaplar", (istek, yanit) =&gt; {</a:t>
              </a:r>
            </a:p>
          </p:txBody>
        </p:sp>
        <p:sp>
          <p:nvSpPr>
            <p:cNvPr id="15" name="TextBox 15"/>
            <p:cNvSpPr txBox="1"/>
            <p:nvPr/>
          </p:nvSpPr>
          <p:spPr>
            <a:xfrm>
              <a:off x="832104" y="1889760"/>
              <a:ext cx="223940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yanit.json(kitapListesi);</a:t>
              </a:r>
            </a:p>
          </p:txBody>
        </p:sp>
        <p:sp>
          <p:nvSpPr>
            <p:cNvPr id="16" name="TextBox 16"/>
            <p:cNvSpPr txBox="1"/>
            <p:nvPr/>
          </p:nvSpPr>
          <p:spPr>
            <a:xfrm>
              <a:off x="832104" y="2099310"/>
              <a:ext cx="27874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a:t>
              </a:r>
            </a:p>
          </p:txBody>
        </p:sp>
        <p:sp>
          <p:nvSpPr>
            <p:cNvPr id="17" name="TextBox 17"/>
            <p:cNvSpPr txBox="1"/>
            <p:nvPr/>
          </p:nvSpPr>
          <p:spPr>
            <a:xfrm>
              <a:off x="832104" y="2404110"/>
              <a:ext cx="3483638"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uygulama.get("/kitaplar/:kitapKimligi",</a:t>
              </a:r>
            </a:p>
          </p:txBody>
        </p:sp>
        <p:sp>
          <p:nvSpPr>
            <p:cNvPr id="18" name="TextBox 18"/>
            <p:cNvSpPr txBox="1"/>
            <p:nvPr/>
          </p:nvSpPr>
          <p:spPr>
            <a:xfrm>
              <a:off x="832104" y="2613660"/>
              <a:ext cx="1700327"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(istek, yanit) =&gt; {</a:t>
              </a:r>
            </a:p>
          </p:txBody>
        </p:sp>
        <p:sp>
          <p:nvSpPr>
            <p:cNvPr id="19" name="TextBox 19"/>
            <p:cNvSpPr txBox="1"/>
            <p:nvPr/>
          </p:nvSpPr>
          <p:spPr>
            <a:xfrm>
              <a:off x="832104" y="2823210"/>
              <a:ext cx="402297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const id = Number(istek.params.kitapKimligi);</a:t>
              </a:r>
            </a:p>
          </p:txBody>
        </p:sp>
        <p:sp>
          <p:nvSpPr>
            <p:cNvPr id="20" name="TextBox 20"/>
            <p:cNvSpPr txBox="1"/>
            <p:nvPr/>
          </p:nvSpPr>
          <p:spPr>
            <a:xfrm>
              <a:off x="832104" y="3032760"/>
              <a:ext cx="481759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const kitap = kitapListesi.find(k =&gt; k.kimlik === id);</a:t>
              </a:r>
            </a:p>
          </p:txBody>
        </p:sp>
        <p:sp>
          <p:nvSpPr>
            <p:cNvPr id="21" name="TextBox 21"/>
            <p:cNvSpPr txBox="1"/>
            <p:nvPr/>
          </p:nvSpPr>
          <p:spPr>
            <a:xfrm>
              <a:off x="832104" y="3242310"/>
              <a:ext cx="116723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if (!kitap) {</a:t>
              </a:r>
            </a:p>
          </p:txBody>
        </p:sp>
        <p:sp>
          <p:nvSpPr>
            <p:cNvPr id="22" name="TextBox 22"/>
            <p:cNvSpPr txBox="1"/>
            <p:nvPr/>
          </p:nvSpPr>
          <p:spPr>
            <a:xfrm>
              <a:off x="832104" y="3451860"/>
              <a:ext cx="410696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yanit.status(404).json({mesaj:"Bulunamadı."});</a:t>
              </a:r>
            </a:p>
          </p:txBody>
        </p:sp>
        <p:sp>
          <p:nvSpPr>
            <p:cNvPr id="23" name="TextBox 23"/>
            <p:cNvSpPr txBox="1"/>
            <p:nvPr/>
          </p:nvSpPr>
          <p:spPr>
            <a:xfrm>
              <a:off x="832104" y="3661410"/>
              <a:ext cx="63413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return;</a:t>
              </a:r>
            </a:p>
          </p:txBody>
        </p:sp>
        <p:sp>
          <p:nvSpPr>
            <p:cNvPr id="24" name="TextBox 24"/>
            <p:cNvSpPr txBox="1"/>
            <p:nvPr/>
          </p:nvSpPr>
          <p:spPr>
            <a:xfrm>
              <a:off x="832104" y="3870960"/>
              <a:ext cx="10104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t>
              </a:r>
            </a:p>
          </p:txBody>
        </p:sp>
        <p:sp>
          <p:nvSpPr>
            <p:cNvPr id="25" name="TextBox 25"/>
            <p:cNvSpPr txBox="1"/>
            <p:nvPr/>
          </p:nvSpPr>
          <p:spPr>
            <a:xfrm>
              <a:off x="832104" y="4080510"/>
              <a:ext cx="161147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yanit.json(kitap);</a:t>
              </a:r>
            </a:p>
          </p:txBody>
        </p:sp>
        <p:sp>
          <p:nvSpPr>
            <p:cNvPr id="26" name="TextBox 26"/>
            <p:cNvSpPr txBox="1"/>
            <p:nvPr/>
          </p:nvSpPr>
          <p:spPr>
            <a:xfrm>
              <a:off x="832104" y="4290060"/>
              <a:ext cx="27874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a:t>
              </a:r>
            </a:p>
          </p:txBody>
        </p:sp>
        <p:sp>
          <p:nvSpPr>
            <p:cNvPr id="27" name="TextBox 27"/>
            <p:cNvSpPr txBox="1"/>
            <p:nvPr/>
          </p:nvSpPr>
          <p:spPr>
            <a:xfrm>
              <a:off x="832104" y="4594860"/>
              <a:ext cx="4099255"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uygulama.post("/kitaplar", (istek, yanit) =&gt; {</a:t>
              </a:r>
            </a:p>
          </p:txBody>
        </p:sp>
        <p:sp>
          <p:nvSpPr>
            <p:cNvPr id="28" name="TextBox 28"/>
            <p:cNvSpPr txBox="1"/>
            <p:nvPr/>
          </p:nvSpPr>
          <p:spPr>
            <a:xfrm>
              <a:off x="832104" y="4804410"/>
              <a:ext cx="437401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const yeniKitap = { kimlik: ++n, ...istek.body };</a:t>
              </a:r>
            </a:p>
          </p:txBody>
        </p:sp>
        <p:sp>
          <p:nvSpPr>
            <p:cNvPr id="29" name="TextBox 29"/>
            <p:cNvSpPr txBox="1"/>
            <p:nvPr/>
          </p:nvSpPr>
          <p:spPr>
            <a:xfrm>
              <a:off x="832104" y="5013960"/>
              <a:ext cx="304019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yanit.status(201).json(yeniKitap);</a:t>
              </a:r>
            </a:p>
          </p:txBody>
        </p:sp>
        <p:sp>
          <p:nvSpPr>
            <p:cNvPr id="30" name="TextBox 30"/>
            <p:cNvSpPr txBox="1"/>
            <p:nvPr/>
          </p:nvSpPr>
          <p:spPr>
            <a:xfrm>
              <a:off x="832104" y="5223510"/>
              <a:ext cx="27874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a:t>
              </a:r>
            </a:p>
          </p:txBody>
        </p:sp>
      </p:grpSp>
      <p:grpSp>
        <p:nvGrpSpPr>
          <p:cNvPr id="46" name="kritik"/>
          <p:cNvGrpSpPr/>
          <p:nvPr/>
        </p:nvGrpSpPr>
        <p:grpSpPr>
          <a:xfrm>
            <a:off x="7573899" y="1258729"/>
            <a:ext cx="4008501" cy="4011929"/>
            <a:chOff x="7573899" y="1258729"/>
            <a:chExt cx="4008501" cy="4011929"/>
          </a:xfrm>
        </p:grpSpPr>
        <p:sp>
          <p:nvSpPr>
            <p:cNvPr id="32" name="TextBox 32"/>
            <p:cNvSpPr txBox="1"/>
            <p:nvPr/>
          </p:nvSpPr>
          <p:spPr>
            <a:xfrm>
              <a:off x="7573899" y="1258729"/>
              <a:ext cx="164172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Kritik satırlar</a:t>
              </a:r>
            </a:p>
          </p:txBody>
        </p:sp>
        <p:grpSp>
          <p:nvGrpSpPr>
            <p:cNvPr id="35" name="k1"/>
            <p:cNvGrpSpPr/>
            <p:nvPr/>
          </p:nvGrpSpPr>
          <p:grpSpPr>
            <a:xfrm>
              <a:off x="7658100" y="1623060"/>
              <a:ext cx="2871216" cy="615696"/>
              <a:chOff x="7658100" y="1623060"/>
              <a:chExt cx="2871216" cy="615696"/>
            </a:xfrm>
          </p:grpSpPr>
          <p:sp>
            <p:nvSpPr>
              <p:cNvPr id="33" name="Ellipse 33"/>
              <p:cNvSpPr/>
              <p:nvPr/>
            </p:nvSpPr>
            <p:spPr>
              <a:xfrm>
                <a:off x="7658100" y="1657350"/>
                <a:ext cx="76200" cy="76200"/>
              </a:xfrm>
              <a:prstGeom prst="ellipse">
                <a:avLst/>
              </a:prstGeom>
              <a:solidFill>
                <a:srgbClr val="00A6A6"/>
              </a:solidFill>
              <a:ln>
                <a:noFill/>
              </a:ln>
            </p:spPr>
          </p:sp>
          <p:sp>
            <p:nvSpPr>
              <p:cNvPr id="34" name="TextBox 34"/>
              <p:cNvSpPr txBox="1"/>
              <p:nvPr/>
            </p:nvSpPr>
            <p:spPr>
              <a:xfrm>
                <a:off x="7842504" y="1623060"/>
                <a:ext cx="26868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Number(istek.params.kitapKimligi)</a:t>
                </a:r>
                <a:br/>
                <a:r>
                  <a:rPr lang="tr-TR" sz="1200" dirty="0">
                    <a:solidFill>
                      <a:srgbClr val="172B3A"/>
                    </a:solidFill>
                    <a:latin typeface="+mn-lt"/>
                    <a:ea typeface="+mn-ea"/>
                    <a:cs typeface="+mn-cs"/>
                  </a:rPr>
                  <a:t>dönüşümü zorunludur; parametreler</a:t>
                </a:r>
                <a:br/>
                <a:r>
                  <a:rPr lang="tr-TR" sz="1200" dirty="0">
                    <a:solidFill>
                      <a:srgbClr val="172B3A"/>
                    </a:solidFill>
                    <a:latin typeface="+mn-lt"/>
                    <a:ea typeface="+mn-ea"/>
                    <a:cs typeface="+mn-cs"/>
                  </a:rPr>
                  <a:t>her zaman metin olarak gelir.</a:t>
                </a:r>
              </a:p>
            </p:txBody>
          </p:sp>
        </p:grpSp>
        <p:grpSp>
          <p:nvGrpSpPr>
            <p:cNvPr id="38" name="k2"/>
            <p:cNvGrpSpPr/>
            <p:nvPr/>
          </p:nvGrpSpPr>
          <p:grpSpPr>
            <a:xfrm>
              <a:off x="7658100" y="2461260"/>
              <a:ext cx="2916936" cy="615696"/>
              <a:chOff x="7658100" y="2461260"/>
              <a:chExt cx="2916936" cy="615696"/>
            </a:xfrm>
          </p:grpSpPr>
          <p:sp>
            <p:nvSpPr>
              <p:cNvPr id="36" name="Ellipse 36"/>
              <p:cNvSpPr/>
              <p:nvPr/>
            </p:nvSpPr>
            <p:spPr>
              <a:xfrm>
                <a:off x="7658100" y="2495550"/>
                <a:ext cx="76200" cy="76200"/>
              </a:xfrm>
              <a:prstGeom prst="ellipse">
                <a:avLst/>
              </a:prstGeom>
              <a:solidFill>
                <a:srgbClr val="00A6A6"/>
              </a:solidFill>
              <a:ln>
                <a:noFill/>
              </a:ln>
            </p:spPr>
          </p:sp>
          <p:sp>
            <p:nvSpPr>
              <p:cNvPr id="37" name="TextBox 37"/>
              <p:cNvSpPr txBox="1"/>
              <p:nvPr/>
            </p:nvSpPr>
            <p:spPr>
              <a:xfrm>
                <a:off x="7842504" y="2461260"/>
                <a:ext cx="27325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404 sonrası gelen return, aynı</a:t>
                </a:r>
                <a:br/>
                <a:r>
                  <a:rPr lang="tr-TR" sz="1200" dirty="0">
                    <a:solidFill>
                      <a:srgbClr val="172B3A"/>
                    </a:solidFill>
                    <a:latin typeface="+mn-lt"/>
                    <a:ea typeface="+mn-ea"/>
                    <a:cs typeface="+mn-cs"/>
                  </a:rPr>
                  <a:t>isteğe ikinci bir yanıt gönderilmesini</a:t>
                </a:r>
                <a:br/>
                <a:r>
                  <a:rPr lang="tr-TR" sz="1200" dirty="0">
                    <a:solidFill>
                      <a:srgbClr val="172B3A"/>
                    </a:solidFill>
                    <a:latin typeface="+mn-lt"/>
                    <a:ea typeface="+mn-ea"/>
                    <a:cs typeface="+mn-cs"/>
                  </a:rPr>
                  <a:t>engeller.</a:t>
                </a:r>
              </a:p>
            </p:txBody>
          </p:sp>
        </p:grpSp>
        <p:grpSp>
          <p:nvGrpSpPr>
            <p:cNvPr id="41" name="k3"/>
            <p:cNvGrpSpPr/>
            <p:nvPr/>
          </p:nvGrpSpPr>
          <p:grpSpPr>
            <a:xfrm>
              <a:off x="7658100" y="3299460"/>
              <a:ext cx="2855976" cy="615696"/>
              <a:chOff x="7658100" y="3299460"/>
              <a:chExt cx="2855976" cy="615696"/>
            </a:xfrm>
          </p:grpSpPr>
          <p:sp>
            <p:nvSpPr>
              <p:cNvPr id="39" name="Ellipse 39"/>
              <p:cNvSpPr/>
              <p:nvPr/>
            </p:nvSpPr>
            <p:spPr>
              <a:xfrm>
                <a:off x="7658100" y="3333750"/>
                <a:ext cx="76200" cy="76200"/>
              </a:xfrm>
              <a:prstGeom prst="ellipse">
                <a:avLst/>
              </a:prstGeom>
              <a:solidFill>
                <a:srgbClr val="00A6A6"/>
              </a:solidFill>
              <a:ln>
                <a:noFill/>
              </a:ln>
            </p:spPr>
          </p:sp>
          <p:sp>
            <p:nvSpPr>
              <p:cNvPr id="40" name="TextBox 40"/>
              <p:cNvSpPr txBox="1"/>
              <p:nvPr/>
            </p:nvSpPr>
            <p:spPr>
              <a:xfrm>
                <a:off x="7842504" y="3299460"/>
                <a:ext cx="26715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express.json() middleware'i POST</a:t>
                </a:r>
                <a:br/>
                <a:r>
                  <a:rPr lang="tr-TR" sz="1200" dirty="0">
                    <a:solidFill>
                      <a:srgbClr val="172B3A"/>
                    </a:solidFill>
                    <a:latin typeface="+mn-lt"/>
                    <a:ea typeface="+mn-ea"/>
                    <a:cs typeface="+mn-cs"/>
                  </a:rPr>
                  <a:t>route'undan önce tanımlanmıştır;</a:t>
                </a:r>
                <a:br/>
                <a:r>
                  <a:rPr lang="tr-TR" sz="1200" dirty="0">
                    <a:solidFill>
                      <a:srgbClr val="172B3A"/>
                    </a:solidFill>
                    <a:latin typeface="+mn-lt"/>
                    <a:ea typeface="+mn-ea"/>
                    <a:cs typeface="+mn-cs"/>
                  </a:rPr>
                  <a:t>bu sayede istek.body ayrıştırılır.</a:t>
                </a:r>
              </a:p>
            </p:txBody>
          </p:sp>
        </p:grpSp>
        <p:sp>
          <p:nvSpPr>
            <p:cNvPr id="42" name="Rectangle 42"/>
            <p:cNvSpPr/>
            <p:nvPr/>
          </p:nvSpPr>
          <p:spPr>
            <a:xfrm>
              <a:off x="7581900" y="4191000"/>
              <a:ext cx="4000500" cy="1028700"/>
            </a:xfrm>
            <a:prstGeom prst="rect">
              <a:avLst/>
            </a:prstGeom>
            <a:solidFill>
              <a:srgbClr val="EAF4F6"/>
            </a:solidFill>
            <a:ln>
              <a:noFill/>
            </a:ln>
          </p:spPr>
        </p:sp>
        <p:sp>
          <p:nvSpPr>
            <p:cNvPr id="43" name="Rectangle 43"/>
            <p:cNvSpPr/>
            <p:nvPr/>
          </p:nvSpPr>
          <p:spPr>
            <a:xfrm>
              <a:off x="7581900" y="4191000"/>
              <a:ext cx="4000500" cy="38100"/>
            </a:xfrm>
            <a:prstGeom prst="rect">
              <a:avLst/>
            </a:prstGeom>
            <a:gradFill>
              <a:gsLst>
                <a:gs pos="0">
                  <a:srgbClr val="00A6A6"/>
                </a:gs>
                <a:gs pos="100000">
                  <a:srgbClr val="2E86AB"/>
                </a:gs>
              </a:gsLst>
              <a:lin ang="0" scaled="1"/>
            </a:gradFill>
            <a:ln>
              <a:noFill/>
            </a:ln>
          </p:spPr>
        </p:sp>
        <p:sp>
          <p:nvSpPr>
            <p:cNvPr id="44" name="TextBox 44"/>
            <p:cNvSpPr txBox="1"/>
            <p:nvPr/>
          </p:nvSpPr>
          <p:spPr>
            <a:xfrm>
              <a:off x="7728204" y="4290060"/>
              <a:ext cx="14602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Dikkat noktası</a:t>
              </a:r>
            </a:p>
          </p:txBody>
        </p:sp>
        <p:sp>
          <p:nvSpPr>
            <p:cNvPr id="45" name="TextBox 45"/>
            <p:cNvSpPr txBox="1"/>
            <p:nvPr/>
          </p:nvSpPr>
          <p:spPr>
            <a:xfrm>
              <a:off x="7728585" y="4507706"/>
              <a:ext cx="2763774" cy="762952"/>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express.json() route tanımlarından</a:t>
              </a:r>
              <a:br/>
              <a:r>
                <a:rPr lang="tr-TR" sz="1120" dirty="0">
                  <a:solidFill>
                    <a:srgbClr val="172B3A"/>
                  </a:solidFill>
                  <a:latin typeface="+mn-lt"/>
                  <a:ea typeface="+mn-ea"/>
                  <a:cs typeface="+mn-cs"/>
                </a:rPr>
                <a:t>sonra eklenseydi, POST isteğinin</a:t>
              </a:r>
              <a:br/>
              <a:r>
                <a:rPr lang="tr-TR" sz="1120" dirty="0">
                  <a:solidFill>
                    <a:srgbClr val="172B3A"/>
                  </a:solidFill>
                  <a:latin typeface="+mn-lt"/>
                  <a:ea typeface="+mn-ea"/>
                  <a:cs typeface="+mn-cs"/>
                </a:rPr>
                <a:t>gövdesi ayrıştırılamadan route'a</a:t>
              </a:r>
              <a:br/>
              <a:r>
                <a:rPr lang="tr-TR" sz="1120" dirty="0">
                  <a:solidFill>
                    <a:srgbClr val="172B3A"/>
                  </a:solidFill>
                  <a:latin typeface="+mn-lt"/>
                  <a:ea typeface="+mn-ea"/>
                  <a:cs typeface="+mn-cs"/>
                </a:rPr>
                <a:t>ulaşır ve istek.body tanımsız kalırdı.</a:t>
              </a:r>
            </a:p>
          </p:txBody>
        </p:sp>
      </p:grpSp>
      <p:grpSp>
        <p:nvGrpSpPr>
          <p:cNvPr id="49" name="footer"/>
          <p:cNvGrpSpPr/>
          <p:nvPr/>
        </p:nvGrpSpPr>
        <p:grpSpPr>
          <a:xfrm>
            <a:off x="603504" y="6461760"/>
            <a:ext cx="10984992" cy="234696"/>
            <a:chOff x="603504" y="6461760"/>
            <a:chExt cx="10984992" cy="234696"/>
          </a:xfrm>
        </p:grpSpPr>
        <p:sp>
          <p:nvSpPr>
            <p:cNvPr id="47" name="TextBox 47"/>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8" name="TextBox 48"/>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828019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İsteğin route eşleşmesinden yanıta akışı</a:t>
              </a:r>
            </a:p>
          </p:txBody>
        </p:sp>
      </p:grpSp>
      <p:grpSp>
        <p:nvGrpSpPr>
          <p:cNvPr id="14" name="lead"/>
          <p:cNvGrpSpPr/>
          <p:nvPr/>
        </p:nvGrpSpPr>
        <p:grpSpPr>
          <a:xfrm>
            <a:off x="601980" y="1247775"/>
            <a:ext cx="10410931" cy="293370"/>
            <a:chOff x="601980" y="1247775"/>
            <a:chExt cx="10410931" cy="293370"/>
          </a:xfrm>
        </p:grpSpPr>
        <p:sp>
          <p:nvSpPr>
            <p:cNvPr id="13" name="TextBox 13"/>
            <p:cNvSpPr txBox="1"/>
            <p:nvPr/>
          </p:nvSpPr>
          <p:spPr>
            <a:xfrm>
              <a:off x="601980" y="1247775"/>
              <a:ext cx="10410931"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mn-lt"/>
                  <a:ea typeface="+mn-ea"/>
                  <a:cs typeface="+mn-cs"/>
                </a:rPr>
                <a:t>Express önce isteğin route ile eşleştiğini değerlendirir; eşleşme ve doğrulama başarılıysa yanıt üretilir.</a:t>
              </a:r>
            </a:p>
          </p:txBody>
        </p:sp>
      </p:grpSp>
      <p:grpSp>
        <p:nvGrpSpPr>
          <p:cNvPr id="43" name="akis"/>
          <p:cNvGrpSpPr/>
          <p:nvPr/>
        </p:nvGrpSpPr>
        <p:grpSpPr>
          <a:xfrm>
            <a:off x="609600" y="2095500"/>
            <a:ext cx="10972800" cy="857250"/>
            <a:chOff x="609600" y="2095500"/>
            <a:chExt cx="10972800" cy="857250"/>
          </a:xfrm>
        </p:grpSpPr>
        <p:grpSp>
          <p:nvGrpSpPr>
            <p:cNvPr id="18" name="adim-1"/>
            <p:cNvGrpSpPr/>
            <p:nvPr/>
          </p:nvGrpSpPr>
          <p:grpSpPr>
            <a:xfrm>
              <a:off x="609600" y="2095500"/>
              <a:ext cx="1905000" cy="857250"/>
              <a:chOff x="609600" y="2095500"/>
              <a:chExt cx="1905000" cy="857250"/>
            </a:xfrm>
          </p:grpSpPr>
          <p:sp>
            <p:nvSpPr>
              <p:cNvPr id="15" name="Rectangle 15"/>
              <p:cNvSpPr/>
              <p:nvPr/>
            </p:nvSpPr>
            <p:spPr>
              <a:xfrm>
                <a:off x="609600" y="2095500"/>
                <a:ext cx="1905000" cy="857250"/>
              </a:xfrm>
              <a:prstGeom prst="rect">
                <a:avLst/>
              </a:prstGeom>
              <a:solidFill>
                <a:srgbClr val="12355B"/>
              </a:solidFill>
              <a:ln>
                <a:noFill/>
              </a:ln>
            </p:spPr>
          </p:sp>
          <p:sp>
            <p:nvSpPr>
              <p:cNvPr id="16" name="TextBox 16"/>
              <p:cNvSpPr txBox="1"/>
              <p:nvPr/>
            </p:nvSpPr>
            <p:spPr>
              <a:xfrm>
                <a:off x="1038109" y="2292668"/>
                <a:ext cx="1047981"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HTTP isteği</a:t>
                </a:r>
              </a:p>
            </p:txBody>
          </p:sp>
          <p:sp>
            <p:nvSpPr>
              <p:cNvPr id="17" name="TextBox 17"/>
              <p:cNvSpPr txBox="1"/>
              <p:nvPr/>
            </p:nvSpPr>
            <p:spPr>
              <a:xfrm>
                <a:off x="983361" y="2553652"/>
                <a:ext cx="1157478" cy="205359"/>
              </a:xfrm>
              <a:prstGeom prst="rect">
                <a:avLst/>
              </a:prstGeom>
              <a:noFill/>
              <a:ln>
                <a:noFill/>
              </a:ln>
            </p:spPr>
            <p:txBody>
              <a:bodyPr wrap="none" lIns="0" tIns="0" rIns="0" bIns="0" anchor="t" anchorCtr="0">
                <a:spAutoFit/>
              </a:bodyPr>
              <a:lstStyle/>
              <a:p>
                <a:pPr algn="ctr"/>
                <a:r>
                  <a:rPr lang="tr-TR" sz="1050" dirty="0">
                    <a:solidFill>
                      <a:srgbClr val="EAF4F6"/>
                    </a:solidFill>
                    <a:latin typeface="+mn-lt"/>
                    <a:ea typeface="+mn-ea"/>
                    <a:cs typeface="+mn-cs"/>
                  </a:rPr>
                  <a:t>metot + URL yolu</a:t>
                </a:r>
              </a:p>
            </p:txBody>
          </p:sp>
        </p:grpSp>
        <p:sp>
          <p:nvSpPr>
            <p:cNvPr id="19" name="Line 19"/>
            <p:cNvSpPr/>
            <p:nvPr/>
          </p:nvSpPr>
          <p:spPr>
            <a:xfrm>
              <a:off x="2552700" y="2524125"/>
              <a:ext cx="285750" cy="1"/>
            </a:xfrm>
            <a:prstGeom prst="line">
              <a:avLst/>
            </a:prstGeom>
            <a:noFill/>
            <a:ln w="19050">
              <a:solidFill>
                <a:srgbClr val="00A6A6"/>
              </a:solidFill>
              <a:tailEnd type="triangle" w="lg" len="lg"/>
            </a:ln>
          </p:spPr>
        </p:sp>
        <p:grpSp>
          <p:nvGrpSpPr>
            <p:cNvPr id="24" name="adim-2"/>
            <p:cNvGrpSpPr/>
            <p:nvPr/>
          </p:nvGrpSpPr>
          <p:grpSpPr>
            <a:xfrm>
              <a:off x="2895600" y="2095500"/>
              <a:ext cx="1905000" cy="857250"/>
              <a:chOff x="2895600" y="2095500"/>
              <a:chExt cx="1905000" cy="857250"/>
            </a:xfrm>
          </p:grpSpPr>
          <p:sp>
            <p:nvSpPr>
              <p:cNvPr id="20" name="Rectangle 20"/>
              <p:cNvSpPr/>
              <p:nvPr/>
            </p:nvSpPr>
            <p:spPr>
              <a:xfrm>
                <a:off x="2895600" y="2095500"/>
                <a:ext cx="1905000" cy="857250"/>
              </a:xfrm>
              <a:prstGeom prst="rect">
                <a:avLst/>
              </a:prstGeom>
              <a:solidFill>
                <a:srgbClr val="FFFFFF"/>
              </a:solidFill>
              <a:ln w="9525">
                <a:solidFill>
                  <a:srgbClr val="00A6A6"/>
                </a:solidFill>
              </a:ln>
            </p:spPr>
          </p:sp>
          <p:sp>
            <p:nvSpPr>
              <p:cNvPr id="21" name="Rectangle 21"/>
              <p:cNvSpPr/>
              <p:nvPr/>
            </p:nvSpPr>
            <p:spPr>
              <a:xfrm>
                <a:off x="2895600" y="2095500"/>
                <a:ext cx="1905000" cy="38100"/>
              </a:xfrm>
              <a:prstGeom prst="rect">
                <a:avLst/>
              </a:prstGeom>
              <a:solidFill>
                <a:srgbClr val="00A6A6"/>
              </a:solidFill>
              <a:ln>
                <a:noFill/>
              </a:ln>
            </p:spPr>
          </p:sp>
          <p:sp>
            <p:nvSpPr>
              <p:cNvPr id="22" name="TextBox 22"/>
              <p:cNvSpPr txBox="1"/>
              <p:nvPr/>
            </p:nvSpPr>
            <p:spPr>
              <a:xfrm>
                <a:off x="3103600" y="2292668"/>
                <a:ext cx="1489000"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Route eşleşmesi</a:t>
                </a:r>
              </a:p>
            </p:txBody>
          </p:sp>
          <p:sp>
            <p:nvSpPr>
              <p:cNvPr id="23" name="TextBox 23"/>
              <p:cNvSpPr txBox="1"/>
              <p:nvPr/>
            </p:nvSpPr>
            <p:spPr>
              <a:xfrm>
                <a:off x="3217288" y="2553652"/>
                <a:ext cx="1261624"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metot + yol kalıbı</a:t>
                </a:r>
              </a:p>
            </p:txBody>
          </p:sp>
        </p:grpSp>
        <p:sp>
          <p:nvSpPr>
            <p:cNvPr id="25" name="Line 25"/>
            <p:cNvSpPr/>
            <p:nvPr/>
          </p:nvSpPr>
          <p:spPr>
            <a:xfrm>
              <a:off x="4838700" y="2524125"/>
              <a:ext cx="285750" cy="1"/>
            </a:xfrm>
            <a:prstGeom prst="line">
              <a:avLst/>
            </a:prstGeom>
            <a:noFill/>
            <a:ln w="19050">
              <a:solidFill>
                <a:srgbClr val="00A6A6"/>
              </a:solidFill>
              <a:tailEnd type="triangle" w="lg" len="lg"/>
            </a:ln>
          </p:spPr>
        </p:sp>
        <p:grpSp>
          <p:nvGrpSpPr>
            <p:cNvPr id="30" name="adim-3"/>
            <p:cNvGrpSpPr/>
            <p:nvPr/>
          </p:nvGrpSpPr>
          <p:grpSpPr>
            <a:xfrm>
              <a:off x="5181600" y="2095500"/>
              <a:ext cx="1905000" cy="857250"/>
              <a:chOff x="5181600" y="2095500"/>
              <a:chExt cx="1905000" cy="857250"/>
            </a:xfrm>
          </p:grpSpPr>
          <p:sp>
            <p:nvSpPr>
              <p:cNvPr id="26" name="Rectangle 26"/>
              <p:cNvSpPr/>
              <p:nvPr/>
            </p:nvSpPr>
            <p:spPr>
              <a:xfrm>
                <a:off x="5181600" y="2095500"/>
                <a:ext cx="1905000" cy="857250"/>
              </a:xfrm>
              <a:prstGeom prst="rect">
                <a:avLst/>
              </a:prstGeom>
              <a:solidFill>
                <a:srgbClr val="FFFFFF"/>
              </a:solidFill>
              <a:ln w="9525">
                <a:solidFill>
                  <a:srgbClr val="2E86AB"/>
                </a:solidFill>
              </a:ln>
            </p:spPr>
          </p:sp>
          <p:sp>
            <p:nvSpPr>
              <p:cNvPr id="27" name="Rectangle 27"/>
              <p:cNvSpPr/>
              <p:nvPr/>
            </p:nvSpPr>
            <p:spPr>
              <a:xfrm>
                <a:off x="5181600" y="2095500"/>
                <a:ext cx="1905000" cy="38100"/>
              </a:xfrm>
              <a:prstGeom prst="rect">
                <a:avLst/>
              </a:prstGeom>
              <a:solidFill>
                <a:srgbClr val="2E86AB"/>
              </a:solidFill>
              <a:ln>
                <a:noFill/>
              </a:ln>
            </p:spPr>
          </p:sp>
          <p:sp>
            <p:nvSpPr>
              <p:cNvPr id="28" name="TextBox 28"/>
              <p:cNvSpPr txBox="1"/>
              <p:nvPr/>
            </p:nvSpPr>
            <p:spPr>
              <a:xfrm>
                <a:off x="5656783" y="2292668"/>
                <a:ext cx="954634"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Doğrulama</a:t>
                </a:r>
              </a:p>
            </p:txBody>
          </p:sp>
          <p:sp>
            <p:nvSpPr>
              <p:cNvPr id="29" name="TextBox 29"/>
              <p:cNvSpPr txBox="1"/>
              <p:nvPr/>
            </p:nvSpPr>
            <p:spPr>
              <a:xfrm>
                <a:off x="5291261" y="2553652"/>
                <a:ext cx="1685677"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parametre, tip kontrolü</a:t>
                </a:r>
              </a:p>
            </p:txBody>
          </p:sp>
        </p:grpSp>
        <p:sp>
          <p:nvSpPr>
            <p:cNvPr id="31" name="Line 31"/>
            <p:cNvSpPr/>
            <p:nvPr/>
          </p:nvSpPr>
          <p:spPr>
            <a:xfrm>
              <a:off x="7124700" y="2524125"/>
              <a:ext cx="285750" cy="1"/>
            </a:xfrm>
            <a:prstGeom prst="line">
              <a:avLst/>
            </a:prstGeom>
            <a:noFill/>
            <a:ln w="19050">
              <a:solidFill>
                <a:srgbClr val="00A6A6"/>
              </a:solidFill>
              <a:tailEnd type="triangle" w="lg" len="lg"/>
            </a:ln>
          </p:spPr>
        </p:sp>
        <p:grpSp>
          <p:nvGrpSpPr>
            <p:cNvPr id="36" name="adim-4"/>
            <p:cNvGrpSpPr/>
            <p:nvPr/>
          </p:nvGrpSpPr>
          <p:grpSpPr>
            <a:xfrm>
              <a:off x="7467600" y="2095500"/>
              <a:ext cx="1905000" cy="857250"/>
              <a:chOff x="7467600" y="2095500"/>
              <a:chExt cx="1905000" cy="857250"/>
            </a:xfrm>
          </p:grpSpPr>
          <p:sp>
            <p:nvSpPr>
              <p:cNvPr id="32" name="Rectangle 32"/>
              <p:cNvSpPr/>
              <p:nvPr/>
            </p:nvSpPr>
            <p:spPr>
              <a:xfrm>
                <a:off x="7467600" y="2095500"/>
                <a:ext cx="1905000" cy="857250"/>
              </a:xfrm>
              <a:prstGeom prst="rect">
                <a:avLst/>
              </a:prstGeom>
              <a:solidFill>
                <a:srgbClr val="FFFFFF"/>
              </a:solidFill>
              <a:ln w="9525">
                <a:solidFill>
                  <a:srgbClr val="B8CBD3"/>
                </a:solidFill>
              </a:ln>
            </p:spPr>
          </p:sp>
          <p:sp>
            <p:nvSpPr>
              <p:cNvPr id="33" name="Rectangle 33"/>
              <p:cNvSpPr/>
              <p:nvPr/>
            </p:nvSpPr>
            <p:spPr>
              <a:xfrm>
                <a:off x="7467600" y="2095500"/>
                <a:ext cx="1905000" cy="38100"/>
              </a:xfrm>
              <a:prstGeom prst="rect">
                <a:avLst/>
              </a:prstGeom>
              <a:solidFill>
                <a:srgbClr val="B8CBD3"/>
              </a:solidFill>
              <a:ln>
                <a:noFill/>
              </a:ln>
            </p:spPr>
          </p:sp>
          <p:sp>
            <p:nvSpPr>
              <p:cNvPr id="34" name="TextBox 34"/>
              <p:cNvSpPr txBox="1"/>
              <p:nvPr/>
            </p:nvSpPr>
            <p:spPr>
              <a:xfrm>
                <a:off x="7889977" y="2292668"/>
                <a:ext cx="1060247"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İş mantığı</a:t>
                </a:r>
              </a:p>
            </p:txBody>
          </p:sp>
          <p:sp>
            <p:nvSpPr>
              <p:cNvPr id="35" name="TextBox 35"/>
              <p:cNvSpPr txBox="1"/>
              <p:nvPr/>
            </p:nvSpPr>
            <p:spPr>
              <a:xfrm>
                <a:off x="7732747" y="2553652"/>
                <a:ext cx="1374705"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veriye erişim, işlem</a:t>
                </a:r>
              </a:p>
            </p:txBody>
          </p:sp>
        </p:grpSp>
        <p:sp>
          <p:nvSpPr>
            <p:cNvPr id="37" name="Line 37"/>
            <p:cNvSpPr/>
            <p:nvPr/>
          </p:nvSpPr>
          <p:spPr>
            <a:xfrm>
              <a:off x="9410700" y="2524125"/>
              <a:ext cx="285750" cy="1"/>
            </a:xfrm>
            <a:prstGeom prst="line">
              <a:avLst/>
            </a:prstGeom>
            <a:noFill/>
            <a:ln w="19050">
              <a:solidFill>
                <a:srgbClr val="00A6A6"/>
              </a:solidFill>
              <a:tailEnd type="triangle" w="lg" len="lg"/>
            </a:ln>
          </p:spPr>
        </p:sp>
        <p:grpSp>
          <p:nvGrpSpPr>
            <p:cNvPr id="42" name="adim-5"/>
            <p:cNvGrpSpPr/>
            <p:nvPr/>
          </p:nvGrpSpPr>
          <p:grpSpPr>
            <a:xfrm>
              <a:off x="9753600" y="2095500"/>
              <a:ext cx="1828800" cy="857250"/>
              <a:chOff x="9753600" y="2095500"/>
              <a:chExt cx="1828800" cy="857250"/>
            </a:xfrm>
          </p:grpSpPr>
          <p:sp>
            <p:nvSpPr>
              <p:cNvPr id="38" name="Rectangle 38"/>
              <p:cNvSpPr/>
              <p:nvPr/>
            </p:nvSpPr>
            <p:spPr>
              <a:xfrm>
                <a:off x="9753600" y="2095500"/>
                <a:ext cx="1828800" cy="857250"/>
              </a:xfrm>
              <a:prstGeom prst="rect">
                <a:avLst/>
              </a:prstGeom>
              <a:solidFill>
                <a:srgbClr val="FFFFFF"/>
              </a:solidFill>
              <a:ln w="9525">
                <a:solidFill>
                  <a:srgbClr val="00A6A6"/>
                </a:solidFill>
              </a:ln>
            </p:spPr>
          </p:sp>
          <p:sp>
            <p:nvSpPr>
              <p:cNvPr id="39" name="Rectangle 39"/>
              <p:cNvSpPr/>
              <p:nvPr/>
            </p:nvSpPr>
            <p:spPr>
              <a:xfrm>
                <a:off x="9753600" y="2095500"/>
                <a:ext cx="1828800" cy="38100"/>
              </a:xfrm>
              <a:prstGeom prst="rect">
                <a:avLst/>
              </a:prstGeom>
              <a:solidFill>
                <a:srgbClr val="00A6A6"/>
              </a:solidFill>
              <a:ln>
                <a:noFill/>
              </a:ln>
            </p:spPr>
          </p:sp>
          <p:sp>
            <p:nvSpPr>
              <p:cNvPr id="40" name="TextBox 40"/>
              <p:cNvSpPr txBox="1"/>
              <p:nvPr/>
            </p:nvSpPr>
            <p:spPr>
              <a:xfrm>
                <a:off x="10095223" y="2292668"/>
                <a:ext cx="1145553"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HTTP yanıtı</a:t>
                </a:r>
              </a:p>
            </p:txBody>
          </p:sp>
          <p:sp>
            <p:nvSpPr>
              <p:cNvPr id="41" name="TextBox 41"/>
              <p:cNvSpPr txBox="1"/>
              <p:nvPr/>
            </p:nvSpPr>
            <p:spPr>
              <a:xfrm>
                <a:off x="10001850" y="2553652"/>
                <a:ext cx="1332300"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durum kodu + gövde</a:t>
                </a:r>
              </a:p>
            </p:txBody>
          </p:sp>
        </p:grpSp>
      </p:grpSp>
      <p:grpSp>
        <p:nvGrpSpPr>
          <p:cNvPr id="47" name="uyari"/>
          <p:cNvGrpSpPr/>
          <p:nvPr/>
        </p:nvGrpSpPr>
        <p:grpSpPr>
          <a:xfrm>
            <a:off x="609600" y="4038600"/>
            <a:ext cx="10972800" cy="533400"/>
            <a:chOff x="609600" y="4038600"/>
            <a:chExt cx="10972800" cy="533400"/>
          </a:xfrm>
        </p:grpSpPr>
        <p:sp>
          <p:nvSpPr>
            <p:cNvPr id="44" name="Rectangle 44"/>
            <p:cNvSpPr/>
            <p:nvPr/>
          </p:nvSpPr>
          <p:spPr>
            <a:xfrm>
              <a:off x="609600" y="4038600"/>
              <a:ext cx="10972800" cy="533400"/>
            </a:xfrm>
            <a:prstGeom prst="rect">
              <a:avLst/>
            </a:prstGeom>
            <a:solidFill>
              <a:srgbClr val="FFFFFF"/>
            </a:solidFill>
            <a:ln w="9525">
              <a:solidFill>
                <a:srgbClr val="B8CBD3"/>
              </a:solidFill>
            </a:ln>
          </p:spPr>
        </p:sp>
        <p:sp>
          <p:nvSpPr>
            <p:cNvPr id="45" name="Rectangle 45"/>
            <p:cNvSpPr/>
            <p:nvPr/>
          </p:nvSpPr>
          <p:spPr>
            <a:xfrm>
              <a:off x="609600" y="4038600"/>
              <a:ext cx="57150" cy="533400"/>
            </a:xfrm>
            <a:prstGeom prst="rect">
              <a:avLst/>
            </a:prstGeom>
            <a:solidFill>
              <a:srgbClr val="52616B"/>
            </a:solidFill>
            <a:ln>
              <a:noFill/>
            </a:ln>
          </p:spPr>
        </p:sp>
        <p:sp>
          <p:nvSpPr>
            <p:cNvPr id="46" name="TextBox 46"/>
            <p:cNvSpPr txBox="1"/>
            <p:nvPr/>
          </p:nvSpPr>
          <p:spPr>
            <a:xfrm>
              <a:off x="908304" y="4194810"/>
              <a:ext cx="958956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Eşleşme bulunamazsa veya doğrulama başarısızsa akış iş mantığına ulaşmadan uygun hata yanıtıyla (400/404) sonlanır.</a:t>
              </a:r>
            </a:p>
          </p:txBody>
        </p:sp>
      </p:grpSp>
      <p:grpSp>
        <p:nvGrpSpPr>
          <p:cNvPr id="59" name="tercih"/>
          <p:cNvGrpSpPr/>
          <p:nvPr/>
        </p:nvGrpSpPr>
        <p:grpSpPr>
          <a:xfrm>
            <a:off x="601599" y="4878229"/>
            <a:ext cx="10980801" cy="1465421"/>
            <a:chOff x="601599" y="4878229"/>
            <a:chExt cx="10980801" cy="1465421"/>
          </a:xfrm>
        </p:grpSpPr>
        <p:sp>
          <p:nvSpPr>
            <p:cNvPr id="48" name="TextBox 48"/>
            <p:cNvSpPr txBox="1"/>
            <p:nvPr/>
          </p:nvSpPr>
          <p:spPr>
            <a:xfrm>
              <a:off x="601599" y="4878229"/>
              <a:ext cx="504915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 zaman route parametresi, ne zaman query?</a:t>
              </a:r>
            </a:p>
          </p:txBody>
        </p:sp>
        <p:grpSp>
          <p:nvGrpSpPr>
            <p:cNvPr id="53" name="tercih-param"/>
            <p:cNvGrpSpPr/>
            <p:nvPr/>
          </p:nvGrpSpPr>
          <p:grpSpPr>
            <a:xfrm>
              <a:off x="609600" y="5200650"/>
              <a:ext cx="5334000" cy="1143000"/>
              <a:chOff x="609600" y="5200650"/>
              <a:chExt cx="5334000" cy="1143000"/>
            </a:xfrm>
          </p:grpSpPr>
          <p:sp>
            <p:nvSpPr>
              <p:cNvPr id="49" name="Rectangle 49"/>
              <p:cNvSpPr/>
              <p:nvPr/>
            </p:nvSpPr>
            <p:spPr>
              <a:xfrm>
                <a:off x="609600" y="5200650"/>
                <a:ext cx="5334000" cy="1143000"/>
              </a:xfrm>
              <a:prstGeom prst="rect">
                <a:avLst/>
              </a:prstGeom>
              <a:solidFill>
                <a:srgbClr val="FFFFFF"/>
              </a:solidFill>
              <a:ln w="9525">
                <a:solidFill>
                  <a:srgbClr val="00A6A6"/>
                </a:solidFill>
              </a:ln>
            </p:spPr>
          </p:sp>
          <p:sp>
            <p:nvSpPr>
              <p:cNvPr id="50" name="Rectangle 50"/>
              <p:cNvSpPr/>
              <p:nvPr/>
            </p:nvSpPr>
            <p:spPr>
              <a:xfrm>
                <a:off x="609600" y="5200650"/>
                <a:ext cx="57150" cy="1143000"/>
              </a:xfrm>
              <a:prstGeom prst="rect">
                <a:avLst/>
              </a:prstGeom>
              <a:solidFill>
                <a:srgbClr val="00A6A6"/>
              </a:solidFill>
              <a:ln>
                <a:noFill/>
              </a:ln>
            </p:spPr>
          </p:sp>
          <p:sp>
            <p:nvSpPr>
              <p:cNvPr id="51" name="TextBox 51"/>
              <p:cNvSpPr txBox="1"/>
              <p:nvPr/>
            </p:nvSpPr>
            <p:spPr>
              <a:xfrm>
                <a:off x="907542" y="5340668"/>
                <a:ext cx="174678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Route parametresi</a:t>
                </a:r>
              </a:p>
            </p:txBody>
          </p:sp>
          <p:sp>
            <p:nvSpPr>
              <p:cNvPr id="52" name="TextBox 52"/>
              <p:cNvSpPr txBox="1"/>
              <p:nvPr/>
            </p:nvSpPr>
            <p:spPr>
              <a:xfrm>
                <a:off x="908304" y="5604510"/>
                <a:ext cx="27020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/kitaplar/15 gibi belirli bir kaynağın</a:t>
                </a:r>
                <a:br/>
                <a:r>
                  <a:rPr lang="tr-TR" sz="1200" dirty="0">
                    <a:solidFill>
                      <a:srgbClr val="52616B"/>
                    </a:solidFill>
                    <a:latin typeface="+mn-lt"/>
                    <a:ea typeface="+mn-ea"/>
                    <a:cs typeface="+mn-cs"/>
                  </a:rPr>
                  <a:t>kimliği URL'nin parçası olduğunda</a:t>
                </a:r>
                <a:br/>
                <a:r>
                  <a:rPr lang="tr-TR" sz="1200" dirty="0">
                    <a:solidFill>
                      <a:srgbClr val="52616B"/>
                    </a:solidFill>
                    <a:latin typeface="+mn-lt"/>
                    <a:ea typeface="+mn-ea"/>
                    <a:cs typeface="+mn-cs"/>
                  </a:rPr>
                  <a:t>tercih edilmelidir.</a:t>
                </a:r>
              </a:p>
            </p:txBody>
          </p:sp>
        </p:grpSp>
        <p:grpSp>
          <p:nvGrpSpPr>
            <p:cNvPr id="58" name="tercih-query"/>
            <p:cNvGrpSpPr/>
            <p:nvPr/>
          </p:nvGrpSpPr>
          <p:grpSpPr>
            <a:xfrm>
              <a:off x="6248400" y="5200650"/>
              <a:ext cx="5334000" cy="1143000"/>
              <a:chOff x="6248400" y="5200650"/>
              <a:chExt cx="5334000" cy="1143000"/>
            </a:xfrm>
          </p:grpSpPr>
          <p:sp>
            <p:nvSpPr>
              <p:cNvPr id="54" name="Rectangle 54"/>
              <p:cNvSpPr/>
              <p:nvPr/>
            </p:nvSpPr>
            <p:spPr>
              <a:xfrm>
                <a:off x="6248400" y="5200650"/>
                <a:ext cx="5334000" cy="1143000"/>
              </a:xfrm>
              <a:prstGeom prst="rect">
                <a:avLst/>
              </a:prstGeom>
              <a:solidFill>
                <a:srgbClr val="FFFFFF"/>
              </a:solidFill>
              <a:ln w="9525">
                <a:solidFill>
                  <a:srgbClr val="2E86AB"/>
                </a:solidFill>
              </a:ln>
            </p:spPr>
          </p:sp>
          <p:sp>
            <p:nvSpPr>
              <p:cNvPr id="55" name="Rectangle 55"/>
              <p:cNvSpPr/>
              <p:nvPr/>
            </p:nvSpPr>
            <p:spPr>
              <a:xfrm>
                <a:off x="6248400" y="5200650"/>
                <a:ext cx="57150" cy="1143000"/>
              </a:xfrm>
              <a:prstGeom prst="rect">
                <a:avLst/>
              </a:prstGeom>
              <a:solidFill>
                <a:srgbClr val="2E86AB"/>
              </a:solidFill>
              <a:ln>
                <a:noFill/>
              </a:ln>
            </p:spPr>
          </p:sp>
          <p:sp>
            <p:nvSpPr>
              <p:cNvPr id="56" name="TextBox 56"/>
              <p:cNvSpPr txBox="1"/>
              <p:nvPr/>
            </p:nvSpPr>
            <p:spPr>
              <a:xfrm>
                <a:off x="6546342" y="5340668"/>
                <a:ext cx="178508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Query parametresi</a:t>
                </a:r>
              </a:p>
            </p:txBody>
          </p:sp>
          <p:sp>
            <p:nvSpPr>
              <p:cNvPr id="57" name="TextBox 57"/>
              <p:cNvSpPr txBox="1"/>
              <p:nvPr/>
            </p:nvSpPr>
            <p:spPr>
              <a:xfrm>
                <a:off x="6547104" y="5604510"/>
                <a:ext cx="26487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Filtreleme, sayfalama, sıralama ve</a:t>
                </a:r>
                <a:br/>
                <a:r>
                  <a:rPr lang="tr-TR" sz="1200" dirty="0">
                    <a:solidFill>
                      <a:srgbClr val="52616B"/>
                    </a:solidFill>
                    <a:latin typeface="+mn-lt"/>
                    <a:ea typeface="+mn-ea"/>
                    <a:cs typeface="+mn-cs"/>
                  </a:rPr>
                  <a:t>isteğe bağlı seçenekler için daha</a:t>
                </a:r>
                <a:br/>
                <a:r>
                  <a:rPr lang="tr-TR" sz="1200" dirty="0">
                    <a:solidFill>
                      <a:srgbClr val="52616B"/>
                    </a:solidFill>
                    <a:latin typeface="+mn-lt"/>
                    <a:ea typeface="+mn-ea"/>
                    <a:cs typeface="+mn-cs"/>
                  </a:rPr>
                  <a:t>uygundur.</a:t>
                </a:r>
              </a:p>
            </p:txBody>
          </p:sp>
        </p:grpSp>
      </p:grpSp>
      <p:grpSp>
        <p:nvGrpSpPr>
          <p:cNvPr id="62" name="footer"/>
          <p:cNvGrpSpPr/>
          <p:nvPr/>
        </p:nvGrpSpPr>
        <p:grpSpPr>
          <a:xfrm>
            <a:off x="603504" y="6461760"/>
            <a:ext cx="10984992" cy="234696"/>
            <a:chOff x="603504" y="6461760"/>
            <a:chExt cx="10984992" cy="234696"/>
          </a:xfrm>
        </p:grpSpPr>
        <p:sp>
          <p:nvSpPr>
            <p:cNvPr id="60" name="TextBox 60"/>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61" name="TextBox 61"/>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789724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Routing kavramlarının karşılaştırması</a:t>
              </a:r>
            </a:p>
          </p:txBody>
        </p:sp>
      </p:grpSp>
      <p:grpSp>
        <p:nvGrpSpPr>
          <p:cNvPr id="39" name="tablo"/>
          <p:cNvGrpSpPr/>
          <p:nvPr/>
        </p:nvGrpSpPr>
        <p:grpSpPr>
          <a:xfrm>
            <a:off x="609600" y="1219200"/>
            <a:ext cx="10972800" cy="3009900"/>
            <a:chOff x="609600" y="1219200"/>
            <a:chExt cx="10972800" cy="3009900"/>
          </a:xfrm>
        </p:grpSpPr>
        <p:sp>
          <p:nvSpPr>
            <p:cNvPr id="6" name="Rectangle 6"/>
            <p:cNvSpPr/>
            <p:nvPr/>
          </p:nvSpPr>
          <p:spPr>
            <a:xfrm>
              <a:off x="609600" y="1219200"/>
              <a:ext cx="10972800" cy="304800"/>
            </a:xfrm>
            <a:prstGeom prst="rect">
              <a:avLst/>
            </a:prstGeom>
            <a:solidFill>
              <a:srgbClr val="EAF4F6"/>
            </a:solidFill>
            <a:ln>
              <a:noFill/>
            </a:ln>
          </p:spPr>
        </p:sp>
        <p:sp>
          <p:nvSpPr>
            <p:cNvPr id="7" name="TextBox 7"/>
            <p:cNvSpPr txBox="1"/>
            <p:nvPr/>
          </p:nvSpPr>
          <p:spPr>
            <a:xfrm>
              <a:off x="717804" y="1299210"/>
              <a:ext cx="61146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Kavram</a:t>
              </a:r>
            </a:p>
          </p:txBody>
        </p:sp>
        <p:sp>
          <p:nvSpPr>
            <p:cNvPr id="8" name="TextBox 8"/>
            <p:cNvSpPr txBox="1"/>
            <p:nvPr/>
          </p:nvSpPr>
          <p:spPr>
            <a:xfrm>
              <a:off x="2432304" y="1299210"/>
              <a:ext cx="48393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Örnek</a:t>
              </a:r>
            </a:p>
          </p:txBody>
        </p:sp>
        <p:sp>
          <p:nvSpPr>
            <p:cNvPr id="9" name="TextBox 9"/>
            <p:cNvSpPr txBox="1"/>
            <p:nvPr/>
          </p:nvSpPr>
          <p:spPr>
            <a:xfrm>
              <a:off x="4623054" y="1299210"/>
              <a:ext cx="86563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Güçlü yönü</a:t>
              </a:r>
            </a:p>
          </p:txBody>
        </p:sp>
        <p:sp>
          <p:nvSpPr>
            <p:cNvPr id="10" name="TextBox 10"/>
            <p:cNvSpPr txBox="1"/>
            <p:nvPr/>
          </p:nvSpPr>
          <p:spPr>
            <a:xfrm>
              <a:off x="7480554" y="1299210"/>
              <a:ext cx="95843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Sınırlılığı</a:t>
              </a:r>
            </a:p>
          </p:txBody>
        </p:sp>
        <p:sp>
          <p:nvSpPr>
            <p:cNvPr id="11" name="Line 11"/>
            <p:cNvSpPr/>
            <p:nvPr/>
          </p:nvSpPr>
          <p:spPr>
            <a:xfrm>
              <a:off x="609600" y="1524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12" name="TextBox 12"/>
            <p:cNvSpPr txBox="1"/>
            <p:nvPr/>
          </p:nvSpPr>
          <p:spPr>
            <a:xfrm>
              <a:off x="717804" y="1623060"/>
              <a:ext cx="14793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Route parametresi</a:t>
              </a:r>
            </a:p>
          </p:txBody>
        </p:sp>
        <p:sp>
          <p:nvSpPr>
            <p:cNvPr id="13" name="TextBox 13"/>
            <p:cNvSpPr txBox="1"/>
            <p:nvPr/>
          </p:nvSpPr>
          <p:spPr>
            <a:xfrm>
              <a:off x="2432685" y="1631156"/>
              <a:ext cx="92361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/kitaplar/4</a:t>
              </a:r>
            </a:p>
          </p:txBody>
        </p:sp>
        <p:sp>
          <p:nvSpPr>
            <p:cNvPr id="14" name="TextBox 14"/>
            <p:cNvSpPr txBox="1"/>
            <p:nvPr/>
          </p:nvSpPr>
          <p:spPr>
            <a:xfrm>
              <a:off x="4623054" y="1623060"/>
              <a:ext cx="210956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 kaynağı açık tanımlar</a:t>
              </a:r>
            </a:p>
          </p:txBody>
        </p:sp>
        <p:sp>
          <p:nvSpPr>
            <p:cNvPr id="15" name="TextBox 15"/>
            <p:cNvSpPr txBox="1"/>
            <p:nvPr/>
          </p:nvSpPr>
          <p:spPr>
            <a:xfrm>
              <a:off x="7480554" y="1623060"/>
              <a:ext cx="20443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Filtreleme için uygun değil</a:t>
              </a:r>
            </a:p>
          </p:txBody>
        </p:sp>
        <p:sp>
          <p:nvSpPr>
            <p:cNvPr id="16" name="Line 16"/>
            <p:cNvSpPr/>
            <p:nvPr/>
          </p:nvSpPr>
          <p:spPr>
            <a:xfrm>
              <a:off x="609600" y="1905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17" name="TextBox 17"/>
            <p:cNvSpPr txBox="1"/>
            <p:nvPr/>
          </p:nvSpPr>
          <p:spPr>
            <a:xfrm>
              <a:off x="717804" y="2004060"/>
              <a:ext cx="15117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Query parametresi</a:t>
              </a:r>
            </a:p>
          </p:txBody>
        </p:sp>
        <p:sp>
          <p:nvSpPr>
            <p:cNvPr id="18" name="TextBox 18"/>
            <p:cNvSpPr txBox="1"/>
            <p:nvPr/>
          </p:nvSpPr>
          <p:spPr>
            <a:xfrm>
              <a:off x="2432685" y="2012156"/>
              <a:ext cx="126073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?kategori=Tarih</a:t>
              </a:r>
            </a:p>
          </p:txBody>
        </p:sp>
        <p:sp>
          <p:nvSpPr>
            <p:cNvPr id="19" name="TextBox 19"/>
            <p:cNvSpPr txBox="1"/>
            <p:nvPr/>
          </p:nvSpPr>
          <p:spPr>
            <a:xfrm>
              <a:off x="4623054" y="2004060"/>
              <a:ext cx="23434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İsteğe bağlı filtreleme sunar</a:t>
              </a:r>
            </a:p>
          </p:txBody>
        </p:sp>
        <p:sp>
          <p:nvSpPr>
            <p:cNvPr id="20" name="TextBox 20"/>
            <p:cNvSpPr txBox="1"/>
            <p:nvPr/>
          </p:nvSpPr>
          <p:spPr>
            <a:xfrm>
              <a:off x="7480554" y="2004060"/>
              <a:ext cx="23273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Kaynağın temel kimliği olamaz</a:t>
              </a:r>
            </a:p>
          </p:txBody>
        </p:sp>
        <p:sp>
          <p:nvSpPr>
            <p:cNvPr id="21" name="Line 21"/>
            <p:cNvSpPr/>
            <p:nvPr/>
          </p:nvSpPr>
          <p:spPr>
            <a:xfrm>
              <a:off x="609600" y="2286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2" name="TextBox 22"/>
            <p:cNvSpPr txBox="1"/>
            <p:nvPr/>
          </p:nvSpPr>
          <p:spPr>
            <a:xfrm>
              <a:off x="717804" y="2385060"/>
              <a:ext cx="10432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Request body</a:t>
              </a:r>
            </a:p>
          </p:txBody>
        </p:sp>
        <p:sp>
          <p:nvSpPr>
            <p:cNvPr id="23" name="TextBox 23"/>
            <p:cNvSpPr txBox="1"/>
            <p:nvPr/>
          </p:nvSpPr>
          <p:spPr>
            <a:xfrm>
              <a:off x="2432685" y="2393156"/>
              <a:ext cx="119429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POST /kitaplar</a:t>
              </a:r>
            </a:p>
          </p:txBody>
        </p:sp>
        <p:sp>
          <p:nvSpPr>
            <p:cNvPr id="24" name="TextBox 24"/>
            <p:cNvSpPr txBox="1"/>
            <p:nvPr/>
          </p:nvSpPr>
          <p:spPr>
            <a:xfrm>
              <a:off x="4623054" y="2385060"/>
              <a:ext cx="16408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Çok alanlı veri taşır</a:t>
              </a:r>
            </a:p>
          </p:txBody>
        </p:sp>
        <p:sp>
          <p:nvSpPr>
            <p:cNvPr id="25" name="TextBox 25"/>
            <p:cNvSpPr txBox="1"/>
            <p:nvPr/>
          </p:nvSpPr>
          <p:spPr>
            <a:xfrm>
              <a:off x="7480554" y="2385060"/>
              <a:ext cx="24430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GET'te standart kullanım değil</a:t>
              </a:r>
            </a:p>
          </p:txBody>
        </p:sp>
        <p:sp>
          <p:nvSpPr>
            <p:cNvPr id="26" name="Line 26"/>
            <p:cNvSpPr/>
            <p:nvPr/>
          </p:nvSpPr>
          <p:spPr>
            <a:xfrm>
              <a:off x="609600" y="2667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7" name="TextBox 27"/>
            <p:cNvSpPr txBox="1"/>
            <p:nvPr/>
          </p:nvSpPr>
          <p:spPr>
            <a:xfrm>
              <a:off x="717804" y="2766060"/>
              <a:ext cx="9138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Sabit route</a:t>
              </a:r>
            </a:p>
          </p:txBody>
        </p:sp>
        <p:sp>
          <p:nvSpPr>
            <p:cNvPr id="28" name="TextBox 28"/>
            <p:cNvSpPr txBox="1"/>
            <p:nvPr/>
          </p:nvSpPr>
          <p:spPr>
            <a:xfrm>
              <a:off x="2432685" y="2774156"/>
              <a:ext cx="50898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/durum</a:t>
              </a:r>
            </a:p>
          </p:txBody>
        </p:sp>
        <p:sp>
          <p:nvSpPr>
            <p:cNvPr id="29" name="TextBox 29"/>
            <p:cNvSpPr txBox="1"/>
            <p:nvPr/>
          </p:nvSpPr>
          <p:spPr>
            <a:xfrm>
              <a:off x="4623054" y="2766060"/>
              <a:ext cx="16810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Basit ve anlaşılırdır</a:t>
              </a:r>
            </a:p>
          </p:txBody>
        </p:sp>
        <p:sp>
          <p:nvSpPr>
            <p:cNvPr id="30" name="TextBox 30"/>
            <p:cNvSpPr txBox="1"/>
            <p:nvPr/>
          </p:nvSpPr>
          <p:spPr>
            <a:xfrm>
              <a:off x="7480554" y="2766060"/>
              <a:ext cx="19721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Değişken kaynak seçemez</a:t>
              </a:r>
            </a:p>
          </p:txBody>
        </p:sp>
        <p:sp>
          <p:nvSpPr>
            <p:cNvPr id="31" name="Line 31"/>
            <p:cNvSpPr/>
            <p:nvPr/>
          </p:nvSpPr>
          <p:spPr>
            <a:xfrm>
              <a:off x="609600" y="3048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2" name="TextBox 32"/>
            <p:cNvSpPr txBox="1"/>
            <p:nvPr/>
          </p:nvSpPr>
          <p:spPr>
            <a:xfrm>
              <a:off x="717804" y="3147060"/>
              <a:ext cx="10834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Dinamik route</a:t>
              </a:r>
            </a:p>
          </p:txBody>
        </p:sp>
        <p:sp>
          <p:nvSpPr>
            <p:cNvPr id="33" name="TextBox 33"/>
            <p:cNvSpPr txBox="1"/>
            <p:nvPr/>
          </p:nvSpPr>
          <p:spPr>
            <a:xfrm>
              <a:off x="2432685" y="3155156"/>
              <a:ext cx="192412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/kitaplar/:kitapKimligi</a:t>
              </a:r>
            </a:p>
          </p:txBody>
        </p:sp>
        <p:sp>
          <p:nvSpPr>
            <p:cNvPr id="34" name="TextBox 34"/>
            <p:cNvSpPr txBox="1"/>
            <p:nvPr/>
          </p:nvSpPr>
          <p:spPr>
            <a:xfrm>
              <a:off x="4623054" y="3147060"/>
              <a:ext cx="22548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 tanımla çok kaynak işler</a:t>
              </a:r>
            </a:p>
          </p:txBody>
        </p:sp>
        <p:sp>
          <p:nvSpPr>
            <p:cNvPr id="35" name="TextBox 35"/>
            <p:cNvSpPr txBox="1"/>
            <p:nvPr/>
          </p:nvSpPr>
          <p:spPr>
            <a:xfrm>
              <a:off x="7480554" y="3147060"/>
              <a:ext cx="249709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Parametre doğrulaması gerekir</a:t>
              </a:r>
            </a:p>
          </p:txBody>
        </p:sp>
        <p:sp>
          <p:nvSpPr>
            <p:cNvPr id="36" name="Rectangle 36"/>
            <p:cNvSpPr/>
            <p:nvPr/>
          </p:nvSpPr>
          <p:spPr>
            <a:xfrm>
              <a:off x="609600" y="3562350"/>
              <a:ext cx="10972800" cy="666750"/>
            </a:xfrm>
            <a:prstGeom prst="rect">
              <a:avLst/>
            </a:prstGeom>
            <a:solidFill>
              <a:srgbClr val="FFFFFF"/>
            </a:solidFill>
            <a:ln w="9525">
              <a:solidFill>
                <a:srgbClr val="B8CBD3"/>
              </a:solidFill>
            </a:ln>
          </p:spPr>
        </p:sp>
        <p:sp>
          <p:nvSpPr>
            <p:cNvPr id="37" name="Rectangle 37"/>
            <p:cNvSpPr/>
            <p:nvPr/>
          </p:nvSpPr>
          <p:spPr>
            <a:xfrm>
              <a:off x="609600" y="3562350"/>
              <a:ext cx="57150" cy="666750"/>
            </a:xfrm>
            <a:prstGeom prst="rect">
              <a:avLst/>
            </a:prstGeom>
            <a:solidFill>
              <a:srgbClr val="2E86AB"/>
            </a:solidFill>
            <a:ln>
              <a:noFill/>
            </a:ln>
          </p:spPr>
        </p:sp>
        <p:sp>
          <p:nvSpPr>
            <p:cNvPr id="38" name="TextBox 38"/>
            <p:cNvSpPr txBox="1"/>
            <p:nvPr/>
          </p:nvSpPr>
          <p:spPr>
            <a:xfrm>
              <a:off x="908304" y="3699510"/>
              <a:ext cx="72816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"Hangi kitabı istiyorum?" sorusu route parametresine, "hangi özellikteki kitapları listeliyorum?"</a:t>
              </a:r>
              <a:br/>
              <a:r>
                <a:rPr lang="tr-TR" sz="1200" dirty="0">
                  <a:solidFill>
                    <a:srgbClr val="172B3A"/>
                  </a:solidFill>
                  <a:latin typeface="+mn-lt"/>
                  <a:ea typeface="+mn-ea"/>
                  <a:cs typeface="+mn-cs"/>
                </a:rPr>
                <a:t>sorusu query parametresine karşılık gelir. İkisini karıştırmak yaygın bir tasarım hatasıdır.</a:t>
              </a:r>
            </a:p>
          </p:txBody>
        </p:sp>
      </p:grpSp>
      <p:grpSp>
        <p:nvGrpSpPr>
          <p:cNvPr id="46" name="hata-siralama"/>
          <p:cNvGrpSpPr/>
          <p:nvPr/>
        </p:nvGrpSpPr>
        <p:grpSpPr>
          <a:xfrm>
            <a:off x="609600" y="4476750"/>
            <a:ext cx="10972800" cy="1276350"/>
            <a:chOff x="609600" y="4476750"/>
            <a:chExt cx="10972800" cy="1276350"/>
          </a:xfrm>
        </p:grpSpPr>
        <p:sp>
          <p:nvSpPr>
            <p:cNvPr id="40" name="Rectangle 40"/>
            <p:cNvSpPr/>
            <p:nvPr/>
          </p:nvSpPr>
          <p:spPr>
            <a:xfrm>
              <a:off x="609600" y="4476750"/>
              <a:ext cx="10972800" cy="1276350"/>
            </a:xfrm>
            <a:prstGeom prst="rect">
              <a:avLst/>
            </a:prstGeom>
            <a:solidFill>
              <a:srgbClr val="EAF4F6"/>
            </a:solidFill>
            <a:ln>
              <a:noFill/>
            </a:ln>
          </p:spPr>
        </p:sp>
        <p:sp>
          <p:nvSpPr>
            <p:cNvPr id="41" name="Rectangle 41"/>
            <p:cNvSpPr/>
            <p:nvPr/>
          </p:nvSpPr>
          <p:spPr>
            <a:xfrm>
              <a:off x="609600" y="4476750"/>
              <a:ext cx="10972800" cy="38100"/>
            </a:xfrm>
            <a:prstGeom prst="rect">
              <a:avLst/>
            </a:prstGeom>
            <a:gradFill>
              <a:gsLst>
                <a:gs pos="0">
                  <a:srgbClr val="00A6A6"/>
                </a:gs>
                <a:gs pos="100000">
                  <a:srgbClr val="2E86AB"/>
                </a:gs>
              </a:gsLst>
              <a:lin ang="0" scaled="1"/>
            </a:gradFill>
            <a:ln>
              <a:noFill/>
            </a:ln>
          </p:spPr>
        </p:sp>
        <p:sp>
          <p:nvSpPr>
            <p:cNvPr id="42" name="TextBox 42"/>
            <p:cNvSpPr txBox="1"/>
            <p:nvPr/>
          </p:nvSpPr>
          <p:spPr>
            <a:xfrm>
              <a:off x="907161" y="4627721"/>
              <a:ext cx="3323772"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 Yaygın hata: route sıralaması</a:t>
              </a:r>
            </a:p>
          </p:txBody>
        </p:sp>
        <p:sp>
          <p:nvSpPr>
            <p:cNvPr id="43" name="TextBox 43"/>
            <p:cNvSpPr txBox="1"/>
            <p:nvPr/>
          </p:nvSpPr>
          <p:spPr>
            <a:xfrm>
              <a:off x="908304" y="4899660"/>
              <a:ext cx="769082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/kitaplar/istatistik gibi sabit bir route, /kitaplar/:kitapKimligi route'undan sonra tanımlanırsa</a:t>
              </a:r>
            </a:p>
          </p:txBody>
        </p:sp>
        <p:sp>
          <p:nvSpPr>
            <p:cNvPr id="44" name="TextBox 44"/>
            <p:cNvSpPr txBox="1"/>
            <p:nvPr/>
          </p:nvSpPr>
          <p:spPr>
            <a:xfrm>
              <a:off x="908304" y="5109210"/>
              <a:ext cx="76988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"istatistik" yanlışlıkla parametre olarak kabul edilebilir. Daha özel route'lar önce yazılmalıdır.</a:t>
              </a:r>
            </a:p>
          </p:txBody>
        </p:sp>
        <p:sp>
          <p:nvSpPr>
            <p:cNvPr id="45" name="TextBox 45"/>
            <p:cNvSpPr txBox="1"/>
            <p:nvPr/>
          </p:nvSpPr>
          <p:spPr>
            <a:xfrm>
              <a:off x="908685" y="5403056"/>
              <a:ext cx="7655253"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 Doğru sıra: app.get("/kitaplar/istatistik", ...) → app.get("/kitaplar/:kitapKimligi", ...)</a:t>
              </a:r>
            </a:p>
          </p:txBody>
        </p:sp>
      </p:grpSp>
      <p:grpSp>
        <p:nvGrpSpPr>
          <p:cNvPr id="49" name="footer"/>
          <p:cNvGrpSpPr/>
          <p:nvPr/>
        </p:nvGrpSpPr>
        <p:grpSpPr>
          <a:xfrm>
            <a:off x="603504" y="6461760"/>
            <a:ext cx="10984992" cy="234696"/>
            <a:chOff x="603504" y="6461760"/>
            <a:chExt cx="10984992" cy="234696"/>
          </a:xfrm>
        </p:grpSpPr>
        <p:sp>
          <p:nvSpPr>
            <p:cNvPr id="47" name="TextBox 47"/>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8" name="TextBox 48"/>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517851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Routing'de yaygın hatalar</a:t>
              </a:r>
            </a:p>
          </p:txBody>
        </p:sp>
      </p:grpSp>
      <p:grpSp>
        <p:nvGrpSpPr>
          <p:cNvPr id="21" name="hata1"/>
          <p:cNvGrpSpPr/>
          <p:nvPr/>
        </p:nvGrpSpPr>
        <p:grpSpPr>
          <a:xfrm>
            <a:off x="609600" y="1219200"/>
            <a:ext cx="5257800" cy="2343150"/>
            <a:chOff x="609600" y="1219200"/>
            <a:chExt cx="5257800" cy="2343150"/>
          </a:xfrm>
        </p:grpSpPr>
        <p:sp>
          <p:nvSpPr>
            <p:cNvPr id="12" name="Rectangle 12"/>
            <p:cNvSpPr/>
            <p:nvPr/>
          </p:nvSpPr>
          <p:spPr>
            <a:xfrm>
              <a:off x="609600" y="1219200"/>
              <a:ext cx="5257800" cy="2343150"/>
            </a:xfrm>
            <a:prstGeom prst="rect">
              <a:avLst/>
            </a:prstGeom>
            <a:solidFill>
              <a:srgbClr val="FFFFFF"/>
            </a:solidFill>
            <a:ln w="9525">
              <a:solidFill>
                <a:srgbClr val="B8CBD3"/>
              </a:solidFill>
            </a:ln>
          </p:spPr>
        </p:sp>
        <p:sp>
          <p:nvSpPr>
            <p:cNvPr id="13" name="Rectangle 13"/>
            <p:cNvSpPr/>
            <p:nvPr/>
          </p:nvSpPr>
          <p:spPr>
            <a:xfrm>
              <a:off x="609600" y="1219200"/>
              <a:ext cx="57150" cy="2343150"/>
            </a:xfrm>
            <a:prstGeom prst="rect">
              <a:avLst/>
            </a:prstGeom>
            <a:solidFill>
              <a:srgbClr val="12355B"/>
            </a:solidFill>
            <a:ln>
              <a:noFill/>
            </a:ln>
          </p:spPr>
        </p:sp>
        <p:sp>
          <p:nvSpPr>
            <p:cNvPr id="14" name="TextBox 14"/>
            <p:cNvSpPr txBox="1"/>
            <p:nvPr/>
          </p:nvSpPr>
          <p:spPr>
            <a:xfrm>
              <a:off x="907161" y="1332071"/>
              <a:ext cx="398590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1 · Tür dönüşümü olmadan karşılaştırma</a:t>
              </a:r>
            </a:p>
          </p:txBody>
        </p:sp>
        <p:sp>
          <p:nvSpPr>
            <p:cNvPr id="15" name="TextBox 15"/>
            <p:cNvSpPr txBox="1"/>
            <p:nvPr/>
          </p:nvSpPr>
          <p:spPr>
            <a:xfrm>
              <a:off x="908304" y="1604010"/>
              <a:ext cx="35707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Bu bir derleme engelidir: string ile number sıkı</a:t>
              </a:r>
              <a:br/>
              <a:r>
                <a:rPr lang="tr-TR" sz="1200" dirty="0">
                  <a:solidFill>
                    <a:srgbClr val="52616B"/>
                  </a:solidFill>
                  <a:latin typeface="+mn-lt"/>
                  <a:ea typeface="+mn-ea"/>
                  <a:cs typeface="+mn-cs"/>
                </a:rPr>
                <a:t>eşitlikle karşılaştırıldığında TypeScript bunun</a:t>
              </a:r>
              <a:br/>
              <a:r>
                <a:rPr lang="tr-TR" sz="1200" dirty="0">
                  <a:solidFill>
                    <a:srgbClr val="52616B"/>
                  </a:solidFill>
                  <a:latin typeface="+mn-lt"/>
                  <a:ea typeface="+mn-ea"/>
                  <a:cs typeface="+mn-cs"/>
                </a:rPr>
                <a:t>hiç doğru olamayacağını bildirir.</a:t>
              </a:r>
            </a:p>
          </p:txBody>
        </p:sp>
        <p:sp>
          <p:nvSpPr>
            <p:cNvPr id="16" name="Rectangle 16"/>
            <p:cNvSpPr/>
            <p:nvPr/>
          </p:nvSpPr>
          <p:spPr>
            <a:xfrm>
              <a:off x="914400" y="2400300"/>
              <a:ext cx="4648200" cy="952500"/>
            </a:xfrm>
            <a:prstGeom prst="rect">
              <a:avLst/>
            </a:prstGeom>
            <a:solidFill>
              <a:srgbClr val="12355B"/>
            </a:solidFill>
            <a:ln>
              <a:noFill/>
            </a:ln>
          </p:spPr>
        </p:sp>
        <p:sp>
          <p:nvSpPr>
            <p:cNvPr id="17" name="TextBox 17"/>
            <p:cNvSpPr txBox="1"/>
            <p:nvPr/>
          </p:nvSpPr>
          <p:spPr>
            <a:xfrm>
              <a:off x="1061466" y="2515552"/>
              <a:ext cx="716956"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 Hatalı</a:t>
              </a:r>
            </a:p>
          </p:txBody>
        </p:sp>
        <p:sp>
          <p:nvSpPr>
            <p:cNvPr id="18" name="TextBox 18"/>
            <p:cNvSpPr txBox="1"/>
            <p:nvPr/>
          </p:nvSpPr>
          <p:spPr>
            <a:xfrm>
              <a:off x="1061466" y="2706052"/>
              <a:ext cx="3281312"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kitap.kimlik === istek.params.kitapKimligi</a:t>
              </a:r>
            </a:p>
          </p:txBody>
        </p:sp>
        <p:sp>
          <p:nvSpPr>
            <p:cNvPr id="19" name="TextBox 19"/>
            <p:cNvSpPr txBox="1"/>
            <p:nvPr/>
          </p:nvSpPr>
          <p:spPr>
            <a:xfrm>
              <a:off x="1061466" y="2934652"/>
              <a:ext cx="639653"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Doğru</a:t>
              </a:r>
            </a:p>
          </p:txBody>
        </p:sp>
        <p:sp>
          <p:nvSpPr>
            <p:cNvPr id="20" name="TextBox 20"/>
            <p:cNvSpPr txBox="1"/>
            <p:nvPr/>
          </p:nvSpPr>
          <p:spPr>
            <a:xfrm>
              <a:off x="1061466" y="3125152"/>
              <a:ext cx="3908822"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Number(istek.params.kitapKimligi) === kitap.kimlik</a:t>
              </a:r>
            </a:p>
          </p:txBody>
        </p:sp>
      </p:grpSp>
      <p:grpSp>
        <p:nvGrpSpPr>
          <p:cNvPr id="28" name="hata2"/>
          <p:cNvGrpSpPr/>
          <p:nvPr/>
        </p:nvGrpSpPr>
        <p:grpSpPr>
          <a:xfrm>
            <a:off x="6248400" y="1219200"/>
            <a:ext cx="5334000" cy="2343150"/>
            <a:chOff x="6248400" y="1219200"/>
            <a:chExt cx="5334000" cy="2343150"/>
          </a:xfrm>
        </p:grpSpPr>
        <p:sp>
          <p:nvSpPr>
            <p:cNvPr id="22" name="Rectangle 22"/>
            <p:cNvSpPr/>
            <p:nvPr/>
          </p:nvSpPr>
          <p:spPr>
            <a:xfrm>
              <a:off x="6248400" y="1219200"/>
              <a:ext cx="5334000" cy="2343150"/>
            </a:xfrm>
            <a:prstGeom prst="rect">
              <a:avLst/>
            </a:prstGeom>
            <a:solidFill>
              <a:srgbClr val="FFFFFF"/>
            </a:solidFill>
            <a:ln w="9525">
              <a:solidFill>
                <a:srgbClr val="B8CBD3"/>
              </a:solidFill>
            </a:ln>
          </p:spPr>
        </p:sp>
        <p:sp>
          <p:nvSpPr>
            <p:cNvPr id="23" name="Rectangle 23"/>
            <p:cNvSpPr/>
            <p:nvPr/>
          </p:nvSpPr>
          <p:spPr>
            <a:xfrm>
              <a:off x="6248400" y="1219200"/>
              <a:ext cx="57150" cy="2343150"/>
            </a:xfrm>
            <a:prstGeom prst="rect">
              <a:avLst/>
            </a:prstGeom>
            <a:solidFill>
              <a:srgbClr val="00A6A6"/>
            </a:solidFill>
            <a:ln>
              <a:noFill/>
            </a:ln>
          </p:spPr>
        </p:sp>
        <p:sp>
          <p:nvSpPr>
            <p:cNvPr id="24" name="TextBox 24"/>
            <p:cNvSpPr txBox="1"/>
            <p:nvPr/>
          </p:nvSpPr>
          <p:spPr>
            <a:xfrm>
              <a:off x="6545961" y="1332071"/>
              <a:ext cx="384618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2 · Bulunamayan kaynak için 200 dönmek</a:t>
              </a:r>
            </a:p>
          </p:txBody>
        </p:sp>
        <p:sp>
          <p:nvSpPr>
            <p:cNvPr id="25" name="TextBox 25"/>
            <p:cNvSpPr txBox="1"/>
            <p:nvPr/>
          </p:nvSpPr>
          <p:spPr>
            <a:xfrm>
              <a:off x="6547104" y="1604010"/>
              <a:ext cx="36850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İstemci isteğin başarılı olduğunu düşünür; ancak</a:t>
              </a:r>
              <a:br/>
              <a:r>
                <a:rPr lang="tr-TR" sz="1200" dirty="0">
                  <a:solidFill>
                    <a:srgbClr val="52616B"/>
                  </a:solidFill>
                  <a:latin typeface="+mn-lt"/>
                  <a:ea typeface="+mn-ea"/>
                  <a:cs typeface="+mn-cs"/>
                </a:rPr>
                <a:t>veri yoktur. Bunun yerine 404 Not Found</a:t>
              </a:r>
              <a:br/>
              <a:r>
                <a:rPr lang="tr-TR" sz="1200" dirty="0">
                  <a:solidFill>
                    <a:srgbClr val="52616B"/>
                  </a:solidFill>
                  <a:latin typeface="+mn-lt"/>
                  <a:ea typeface="+mn-ea"/>
                  <a:cs typeface="+mn-cs"/>
                </a:rPr>
                <a:t>kullanılmalıdır.</a:t>
              </a:r>
            </a:p>
          </p:txBody>
        </p:sp>
        <p:sp>
          <p:nvSpPr>
            <p:cNvPr id="26" name="TextBox 26"/>
            <p:cNvSpPr txBox="1"/>
            <p:nvPr/>
          </p:nvSpPr>
          <p:spPr>
            <a:xfrm>
              <a:off x="6545961" y="2379821"/>
              <a:ext cx="3860554"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3 · GET route'unda veri eklemek/silmek</a:t>
              </a:r>
            </a:p>
          </p:txBody>
        </p:sp>
        <p:sp>
          <p:nvSpPr>
            <p:cNvPr id="27" name="TextBox 27"/>
            <p:cNvSpPr txBox="1"/>
            <p:nvPr/>
          </p:nvSpPr>
          <p:spPr>
            <a:xfrm>
              <a:off x="6547104" y="2651760"/>
              <a:ext cx="34716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GET metodu okuma amaçlıdır. Veri değiştiren</a:t>
              </a:r>
              <a:br/>
              <a:r>
                <a:rPr lang="tr-TR" sz="1200" dirty="0">
                  <a:solidFill>
                    <a:srgbClr val="52616B"/>
                  </a:solidFill>
                  <a:latin typeface="+mn-lt"/>
                  <a:ea typeface="+mn-ea"/>
                  <a:cs typeface="+mn-cs"/>
                </a:rPr>
                <a:t>davranışlar için POST, PATCH, PUT veya DELETE</a:t>
              </a:r>
              <a:br/>
              <a:r>
                <a:rPr lang="tr-TR" sz="1200" dirty="0">
                  <a:solidFill>
                    <a:srgbClr val="52616B"/>
                  </a:solidFill>
                  <a:latin typeface="+mn-lt"/>
                  <a:ea typeface="+mn-ea"/>
                  <a:cs typeface="+mn-cs"/>
                </a:rPr>
                <a:t>metotları kullanılmalıdır.</a:t>
              </a:r>
            </a:p>
          </p:txBody>
        </p:sp>
      </p:grpSp>
      <p:grpSp>
        <p:nvGrpSpPr>
          <p:cNvPr id="46" name="degerlendirme"/>
          <p:cNvGrpSpPr/>
          <p:nvPr/>
        </p:nvGrpSpPr>
        <p:grpSpPr>
          <a:xfrm>
            <a:off x="601599" y="3849529"/>
            <a:ext cx="10980801" cy="2341721"/>
            <a:chOff x="601599" y="3849529"/>
            <a:chExt cx="10980801" cy="2341721"/>
          </a:xfrm>
        </p:grpSpPr>
        <p:sp>
          <p:nvSpPr>
            <p:cNvPr id="29" name="TextBox 29"/>
            <p:cNvSpPr txBox="1"/>
            <p:nvPr/>
          </p:nvSpPr>
          <p:spPr>
            <a:xfrm>
              <a:off x="601599" y="3849529"/>
              <a:ext cx="145156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Değerlendirin</a:t>
              </a:r>
            </a:p>
          </p:txBody>
        </p:sp>
        <p:grpSp>
          <p:nvGrpSpPr>
            <p:cNvPr id="32" name="d1"/>
            <p:cNvGrpSpPr/>
            <p:nvPr/>
          </p:nvGrpSpPr>
          <p:grpSpPr>
            <a:xfrm>
              <a:off x="685800" y="4175760"/>
              <a:ext cx="4706433" cy="234696"/>
              <a:chOff x="685800" y="4175760"/>
              <a:chExt cx="4706433" cy="234696"/>
            </a:xfrm>
          </p:grpSpPr>
          <p:sp>
            <p:nvSpPr>
              <p:cNvPr id="30" name="Ellipse 30"/>
              <p:cNvSpPr/>
              <p:nvPr/>
            </p:nvSpPr>
            <p:spPr>
              <a:xfrm>
                <a:off x="685800" y="4210050"/>
                <a:ext cx="76200" cy="76200"/>
              </a:xfrm>
              <a:prstGeom prst="ellipse">
                <a:avLst/>
              </a:prstGeom>
              <a:solidFill>
                <a:srgbClr val="2E86AB"/>
              </a:solidFill>
              <a:ln>
                <a:noFill/>
              </a:ln>
            </p:spPr>
          </p:sp>
          <p:sp>
            <p:nvSpPr>
              <p:cNvPr id="31" name="TextBox 31"/>
              <p:cNvSpPr txBox="1"/>
              <p:nvPr/>
            </p:nvSpPr>
            <p:spPr>
              <a:xfrm>
                <a:off x="870204" y="4175760"/>
                <a:ext cx="452202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Route parametresi neden Number() ile dönüştürülmelidir?</a:t>
                </a:r>
              </a:p>
            </p:txBody>
          </p:sp>
        </p:grpSp>
        <p:grpSp>
          <p:nvGrpSpPr>
            <p:cNvPr id="35" name="d2"/>
            <p:cNvGrpSpPr/>
            <p:nvPr/>
          </p:nvGrpSpPr>
          <p:grpSpPr>
            <a:xfrm>
              <a:off x="685800" y="4480560"/>
              <a:ext cx="5807374" cy="234696"/>
              <a:chOff x="685800" y="4480560"/>
              <a:chExt cx="5807374" cy="234696"/>
            </a:xfrm>
          </p:grpSpPr>
          <p:sp>
            <p:nvSpPr>
              <p:cNvPr id="33" name="Ellipse 33"/>
              <p:cNvSpPr/>
              <p:nvPr/>
            </p:nvSpPr>
            <p:spPr>
              <a:xfrm>
                <a:off x="685800" y="4514850"/>
                <a:ext cx="76200" cy="76200"/>
              </a:xfrm>
              <a:prstGeom prst="ellipse">
                <a:avLst/>
              </a:prstGeom>
              <a:solidFill>
                <a:srgbClr val="2E86AB"/>
              </a:solidFill>
              <a:ln>
                <a:noFill/>
              </a:ln>
            </p:spPr>
          </p:sp>
          <p:sp>
            <p:nvSpPr>
              <p:cNvPr id="34" name="TextBox 34"/>
              <p:cNvSpPr txBox="1"/>
              <p:nvPr/>
            </p:nvSpPr>
            <p:spPr>
              <a:xfrm>
                <a:off x="870204" y="4480560"/>
                <a:ext cx="56229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response gönderildikten sonra return kullanmak hangi sorunu önler?</a:t>
                </a:r>
              </a:p>
            </p:txBody>
          </p:sp>
        </p:grpSp>
        <p:grpSp>
          <p:nvGrpSpPr>
            <p:cNvPr id="38" name="d3"/>
            <p:cNvGrpSpPr/>
            <p:nvPr/>
          </p:nvGrpSpPr>
          <p:grpSpPr>
            <a:xfrm>
              <a:off x="685800" y="4785360"/>
              <a:ext cx="5614789" cy="234696"/>
              <a:chOff x="685800" y="4785360"/>
              <a:chExt cx="5614789" cy="234696"/>
            </a:xfrm>
          </p:grpSpPr>
          <p:sp>
            <p:nvSpPr>
              <p:cNvPr id="36" name="Ellipse 36"/>
              <p:cNvSpPr/>
              <p:nvPr/>
            </p:nvSpPr>
            <p:spPr>
              <a:xfrm>
                <a:off x="685800" y="4819650"/>
                <a:ext cx="76200" cy="76200"/>
              </a:xfrm>
              <a:prstGeom prst="ellipse">
                <a:avLst/>
              </a:prstGeom>
              <a:solidFill>
                <a:srgbClr val="2E86AB"/>
              </a:solidFill>
              <a:ln>
                <a:noFill/>
              </a:ln>
            </p:spPr>
          </p:sp>
          <p:sp>
            <p:nvSpPr>
              <p:cNvPr id="37" name="TextBox 37"/>
              <p:cNvSpPr txBox="1"/>
              <p:nvPr/>
            </p:nvSpPr>
            <p:spPr>
              <a:xfrm>
                <a:off x="870204" y="4785360"/>
                <a:ext cx="543038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express.json() POST endpoint'inden sonra tanımlansaydı ne olurdu?</a:t>
                </a:r>
              </a:p>
            </p:txBody>
          </p:sp>
        </p:grpSp>
        <p:grpSp>
          <p:nvGrpSpPr>
            <p:cNvPr id="41" name="d4"/>
            <p:cNvGrpSpPr/>
            <p:nvPr/>
          </p:nvGrpSpPr>
          <p:grpSpPr>
            <a:xfrm>
              <a:off x="685800" y="5090160"/>
              <a:ext cx="6712403" cy="234696"/>
              <a:chOff x="685800" y="5090160"/>
              <a:chExt cx="6712403" cy="234696"/>
            </a:xfrm>
          </p:grpSpPr>
          <p:sp>
            <p:nvSpPr>
              <p:cNvPr id="39" name="Ellipse 39"/>
              <p:cNvSpPr/>
              <p:nvPr/>
            </p:nvSpPr>
            <p:spPr>
              <a:xfrm>
                <a:off x="685800" y="5124450"/>
                <a:ext cx="76200" cy="76200"/>
              </a:xfrm>
              <a:prstGeom prst="ellipse">
                <a:avLst/>
              </a:prstGeom>
              <a:solidFill>
                <a:srgbClr val="2E86AB"/>
              </a:solidFill>
              <a:ln>
                <a:noFill/>
              </a:ln>
            </p:spPr>
          </p:sp>
          <p:sp>
            <p:nvSpPr>
              <p:cNvPr id="40" name="TextBox 40"/>
              <p:cNvSpPr txBox="1"/>
              <p:nvPr/>
            </p:nvSpPr>
            <p:spPr>
              <a:xfrm>
                <a:off x="870204" y="5090160"/>
                <a:ext cx="65279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Yeni kitap kaydında 200 yerine 201 kullanılmasının istemciye sağladığı bilgi nedir?</a:t>
                </a:r>
              </a:p>
            </p:txBody>
          </p:sp>
        </p:grpSp>
        <p:sp>
          <p:nvSpPr>
            <p:cNvPr id="42" name="Rectangle 42"/>
            <p:cNvSpPr/>
            <p:nvPr/>
          </p:nvSpPr>
          <p:spPr>
            <a:xfrm>
              <a:off x="609600" y="5524500"/>
              <a:ext cx="10972800" cy="666750"/>
            </a:xfrm>
            <a:prstGeom prst="rect">
              <a:avLst/>
            </a:prstGeom>
            <a:solidFill>
              <a:srgbClr val="EAF4F6"/>
            </a:solidFill>
            <a:ln>
              <a:noFill/>
            </a:ln>
          </p:spPr>
        </p:sp>
        <p:sp>
          <p:nvSpPr>
            <p:cNvPr id="43" name="Rectangle 43"/>
            <p:cNvSpPr/>
            <p:nvPr/>
          </p:nvSpPr>
          <p:spPr>
            <a:xfrm>
              <a:off x="609600" y="5524500"/>
              <a:ext cx="10972800" cy="38100"/>
            </a:xfrm>
            <a:prstGeom prst="rect">
              <a:avLst/>
            </a:prstGeom>
            <a:gradFill>
              <a:gsLst>
                <a:gs pos="0">
                  <a:srgbClr val="00A6A6"/>
                </a:gs>
                <a:gs pos="100000">
                  <a:srgbClr val="2E86AB"/>
                </a:gs>
              </a:gsLst>
              <a:lin ang="0" scaled="1"/>
            </a:gradFill>
            <a:ln>
              <a:noFill/>
            </a:ln>
          </p:spPr>
        </p:sp>
        <p:sp>
          <p:nvSpPr>
            <p:cNvPr id="44" name="TextBox 44"/>
            <p:cNvSpPr txBox="1"/>
            <p:nvPr/>
          </p:nvSpPr>
          <p:spPr>
            <a:xfrm>
              <a:off x="908304" y="5661660"/>
              <a:ext cx="73840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Kaynak geçerli kimlikle istenmiş ancak veri kaynağında bulunamamışsa 404 uygundur; geçersiz</a:t>
              </a:r>
            </a:p>
          </p:txBody>
        </p:sp>
        <p:sp>
          <p:nvSpPr>
            <p:cNvPr id="45" name="TextBox 45"/>
            <p:cNvSpPr txBox="1"/>
            <p:nvPr/>
          </p:nvSpPr>
          <p:spPr>
            <a:xfrm>
              <a:off x="908304" y="5871210"/>
              <a:ext cx="62027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kimlikte (örn. sayısal olmayan bir değer) ise 400 Bad Request kullanılmalıdır.</a:t>
              </a:r>
            </a:p>
          </p:txBody>
        </p:sp>
      </p:grpSp>
      <p:grpSp>
        <p:nvGrpSpPr>
          <p:cNvPr id="49" name="footer"/>
          <p:cNvGrpSpPr/>
          <p:nvPr/>
        </p:nvGrpSpPr>
        <p:grpSpPr>
          <a:xfrm>
            <a:off x="603504" y="6461760"/>
            <a:ext cx="10984992" cy="234696"/>
            <a:chOff x="603504" y="6461760"/>
            <a:chExt cx="10984992" cy="234696"/>
          </a:xfrm>
        </p:grpSpPr>
        <p:sp>
          <p:nvSpPr>
            <p:cNvPr id="47" name="TextBox 47"/>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8" name="TextBox 48"/>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0"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55995" y="317845"/>
                <a:ext cx="278710" cy="278710"/>
                <a:chOff x="755995" y="317845"/>
                <a:chExt cx="278710" cy="278710"/>
              </a:xfrm>
            </p:grpSpPr>
            <p:sp>
              <p:nvSpPr>
                <p:cNvPr id="5" name="Freeform 5"/>
                <p:cNvSpPr/>
                <p:nvPr/>
              </p:nvSpPr>
              <p:spPr>
                <a:xfrm>
                  <a:off x="755995" y="317845"/>
                  <a:ext cx="278710" cy="278710"/>
                </a:xfrm>
                <a:custGeom>
                  <a:avLst/>
                  <a:gdLst/>
                  <a:ahLst/>
                  <a:cxnLst/>
                  <a:rect l="l" t="t" r="r" b="b"/>
                  <a:pathLst>
                    <a:path w="278710" h="278710">
                      <a:moveTo>
                        <a:pt x="114626" y="25925"/>
                      </a:moveTo>
                      <a:cubicBezTo>
                        <a:pt x="120915" y="0"/>
                        <a:pt x="157795" y="0"/>
                        <a:pt x="164084" y="25925"/>
                      </a:cubicBezTo>
                      <a:cubicBezTo>
                        <a:pt x="165998" y="33825"/>
                        <a:pt x="171570" y="40335"/>
                        <a:pt x="179079" y="43446"/>
                      </a:cubicBezTo>
                      <a:cubicBezTo>
                        <a:pt x="186588" y="46557"/>
                        <a:pt x="195132" y="45895"/>
                        <a:pt x="202071" y="41663"/>
                      </a:cubicBezTo>
                      <a:cubicBezTo>
                        <a:pt x="224852" y="27785"/>
                        <a:pt x="250939" y="53858"/>
                        <a:pt x="237062" y="76653"/>
                      </a:cubicBezTo>
                      <a:cubicBezTo>
                        <a:pt x="232836" y="83590"/>
                        <a:pt x="232176" y="92127"/>
                        <a:pt x="235283" y="99631"/>
                      </a:cubicBezTo>
                      <a:cubicBezTo>
                        <a:pt x="238390" y="107136"/>
                        <a:pt x="244893" y="112706"/>
                        <a:pt x="252785" y="114626"/>
                      </a:cubicBezTo>
                      <a:cubicBezTo>
                        <a:pt x="278710" y="120915"/>
                        <a:pt x="278710" y="157795"/>
                        <a:pt x="252785" y="164084"/>
                      </a:cubicBezTo>
                      <a:cubicBezTo>
                        <a:pt x="244885" y="165998"/>
                        <a:pt x="238375" y="171570"/>
                        <a:pt x="235264" y="179079"/>
                      </a:cubicBezTo>
                      <a:cubicBezTo>
                        <a:pt x="232153" y="186588"/>
                        <a:pt x="232815" y="195132"/>
                        <a:pt x="237047" y="202071"/>
                      </a:cubicBezTo>
                      <a:cubicBezTo>
                        <a:pt x="250925" y="224852"/>
                        <a:pt x="224852" y="250939"/>
                        <a:pt x="202057" y="237062"/>
                      </a:cubicBezTo>
                      <a:cubicBezTo>
                        <a:pt x="195120" y="232836"/>
                        <a:pt x="186583" y="232176"/>
                        <a:pt x="179079" y="235283"/>
                      </a:cubicBezTo>
                      <a:cubicBezTo>
                        <a:pt x="171574" y="238390"/>
                        <a:pt x="166004" y="244893"/>
                        <a:pt x="164084" y="252785"/>
                      </a:cubicBezTo>
                      <a:cubicBezTo>
                        <a:pt x="157795" y="278710"/>
                        <a:pt x="120915" y="278710"/>
                        <a:pt x="114626" y="252785"/>
                      </a:cubicBezTo>
                      <a:cubicBezTo>
                        <a:pt x="112712" y="244885"/>
                        <a:pt x="107140" y="238375"/>
                        <a:pt x="99631" y="235264"/>
                      </a:cubicBezTo>
                      <a:cubicBezTo>
                        <a:pt x="92122" y="232153"/>
                        <a:pt x="83578" y="232815"/>
                        <a:pt x="76639" y="237047"/>
                      </a:cubicBezTo>
                      <a:cubicBezTo>
                        <a:pt x="53858" y="250925"/>
                        <a:pt x="27771" y="224852"/>
                        <a:pt x="41649" y="202057"/>
                      </a:cubicBezTo>
                      <a:cubicBezTo>
                        <a:pt x="45874" y="195120"/>
                        <a:pt x="46535" y="186583"/>
                        <a:pt x="43427" y="179079"/>
                      </a:cubicBezTo>
                      <a:cubicBezTo>
                        <a:pt x="40320" y="171574"/>
                        <a:pt x="33817" y="166004"/>
                        <a:pt x="25925" y="164084"/>
                      </a:cubicBezTo>
                      <a:cubicBezTo>
                        <a:pt x="0" y="157795"/>
                        <a:pt x="0" y="120915"/>
                        <a:pt x="25925" y="114626"/>
                      </a:cubicBezTo>
                      <a:cubicBezTo>
                        <a:pt x="33825" y="112712"/>
                        <a:pt x="40335" y="107140"/>
                        <a:pt x="43446" y="99631"/>
                      </a:cubicBezTo>
                      <a:cubicBezTo>
                        <a:pt x="46557" y="92122"/>
                        <a:pt x="45895" y="83578"/>
                        <a:pt x="41663" y="76639"/>
                      </a:cubicBezTo>
                      <a:cubicBezTo>
                        <a:pt x="27785" y="53858"/>
                        <a:pt x="53858" y="27771"/>
                        <a:pt x="76653" y="41649"/>
                      </a:cubicBezTo>
                      <a:cubicBezTo>
                        <a:pt x="91417" y="50625"/>
                        <a:pt x="110551" y="42682"/>
                        <a:pt x="114626" y="25925"/>
                      </a:cubicBez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44291"/>
                      </a:moveTo>
                      <a:cubicBezTo>
                        <a:pt x="0" y="68753"/>
                        <a:pt x="19830" y="88582"/>
                        <a:pt x="44291" y="88582"/>
                      </a:cubicBezTo>
                      <a:cubicBezTo>
                        <a:pt x="68753" y="88582"/>
                        <a:pt x="88582" y="68753"/>
                        <a:pt x="88582" y="44291"/>
                      </a:cubicBezTo>
                      <a:cubicBezTo>
                        <a:pt x="88582" y="19830"/>
                        <a:pt x="68753" y="0"/>
                        <a:pt x="44291" y="0"/>
                      </a:cubicBezTo>
                      <a:cubicBezTo>
                        <a:pt x="19830" y="0"/>
                        <a:pt x="0" y="19830"/>
                        <a:pt x="0" y="44291"/>
                      </a:cubicBezTo>
                    </a:path>
                  </a:pathLst>
                </a:custGeom>
                <a:noFill/>
                <a:ln w="24759" cap="rnd">
                  <a:solidFill>
                    <a:srgbClr val="FFFFFF"/>
                  </a:solidFill>
                  <a:round/>
                </a:ln>
              </p:spPr>
            </p:sp>
          </p:grpSp>
        </p:grpSp>
        <p:sp>
          <p:nvSpPr>
            <p:cNvPr id="9" name="TextBox 9"/>
            <p:cNvSpPr txBox="1"/>
            <p:nvPr/>
          </p:nvSpPr>
          <p:spPr>
            <a:xfrm>
              <a:off x="1299972" y="282892"/>
              <a:ext cx="626557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Middleware ile istek işlem hattı</a:t>
              </a:r>
            </a:p>
          </p:txBody>
        </p:sp>
      </p:grpSp>
      <p:grpSp>
        <p:nvGrpSpPr>
          <p:cNvPr id="12" name="tanim"/>
          <p:cNvGrpSpPr/>
          <p:nvPr/>
        </p:nvGrpSpPr>
        <p:grpSpPr>
          <a:xfrm>
            <a:off x="600456" y="1253490"/>
            <a:ext cx="10030968" cy="637794"/>
            <a:chOff x="600456" y="1253490"/>
            <a:chExt cx="10030968" cy="637794"/>
          </a:xfrm>
        </p:grpSpPr>
        <p:sp>
          <p:nvSpPr>
            <p:cNvPr id="11" name="TextBox 11"/>
            <p:cNvSpPr txBox="1"/>
            <p:nvPr/>
          </p:nvSpPr>
          <p:spPr>
            <a:xfrm>
              <a:off x="600456" y="1253490"/>
              <a:ext cx="10030968" cy="6377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Middleware, request ile response arasında çalışan fonksiyondur; isteği inceler, doğrular</a:t>
              </a:r>
              <a:br/>
              <a:r>
                <a:rPr lang="tr-TR" sz="1800" dirty="0">
                  <a:solidFill>
                    <a:srgbClr val="172B3A"/>
                  </a:solidFill>
                  <a:latin typeface="+mn-lt"/>
                  <a:ea typeface="+mn-ea"/>
                  <a:cs typeface="+mn-cs"/>
                </a:rPr>
                <a:t>veya kontrolü next() ile bir sonraki adıma aktarır.</a:t>
              </a:r>
            </a:p>
          </p:txBody>
        </p:sp>
      </p:grpSp>
      <p:grpSp>
        <p:nvGrpSpPr>
          <p:cNvPr id="31" name="zincir"/>
          <p:cNvGrpSpPr/>
          <p:nvPr/>
        </p:nvGrpSpPr>
        <p:grpSpPr>
          <a:xfrm>
            <a:off x="609600" y="2400300"/>
            <a:ext cx="9734550" cy="666750"/>
            <a:chOff x="609600" y="2400300"/>
            <a:chExt cx="9734550" cy="666750"/>
          </a:xfrm>
        </p:grpSpPr>
        <p:sp>
          <p:nvSpPr>
            <p:cNvPr id="13" name="Rectangle 13"/>
            <p:cNvSpPr/>
            <p:nvPr/>
          </p:nvSpPr>
          <p:spPr>
            <a:xfrm>
              <a:off x="609600" y="2400300"/>
              <a:ext cx="2190750" cy="666750"/>
            </a:xfrm>
            <a:prstGeom prst="rect">
              <a:avLst/>
            </a:prstGeom>
            <a:solidFill>
              <a:srgbClr val="12355B"/>
            </a:solidFill>
            <a:ln>
              <a:noFill/>
            </a:ln>
          </p:spPr>
        </p:sp>
        <p:sp>
          <p:nvSpPr>
            <p:cNvPr id="14" name="TextBox 14"/>
            <p:cNvSpPr txBox="1"/>
            <p:nvPr/>
          </p:nvSpPr>
          <p:spPr>
            <a:xfrm>
              <a:off x="1246839" y="2556510"/>
              <a:ext cx="916273"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İstek gelir</a:t>
              </a:r>
            </a:p>
          </p:txBody>
        </p:sp>
        <p:sp>
          <p:nvSpPr>
            <p:cNvPr id="15" name="TextBox 15"/>
            <p:cNvSpPr txBox="1"/>
            <p:nvPr/>
          </p:nvSpPr>
          <p:spPr>
            <a:xfrm>
              <a:off x="1026717" y="2790349"/>
              <a:ext cx="1356517" cy="190690"/>
            </a:xfrm>
            <a:prstGeom prst="rect">
              <a:avLst/>
            </a:prstGeom>
            <a:noFill/>
            <a:ln>
              <a:noFill/>
            </a:ln>
          </p:spPr>
          <p:txBody>
            <a:bodyPr wrap="none" lIns="0" tIns="0" rIns="0" bIns="0" anchor="t" anchorCtr="0">
              <a:spAutoFit/>
            </a:bodyPr>
            <a:lstStyle/>
            <a:p>
              <a:pPr algn="ctr"/>
              <a:r>
                <a:rPr lang="tr-TR" sz="980" dirty="0">
                  <a:solidFill>
                    <a:srgbClr val="EAF4F6"/>
                  </a:solidFill>
                  <a:latin typeface="+mn-lt"/>
                  <a:ea typeface="+mn-ea"/>
                  <a:cs typeface="+mn-cs"/>
                </a:rPr>
                <a:t>GET /korumali-durum</a:t>
              </a:r>
            </a:p>
          </p:txBody>
        </p:sp>
        <p:sp>
          <p:nvSpPr>
            <p:cNvPr id="16" name="Line 16"/>
            <p:cNvSpPr/>
            <p:nvPr/>
          </p:nvSpPr>
          <p:spPr>
            <a:xfrm>
              <a:off x="2800350" y="2733675"/>
              <a:ext cx="266700" cy="1"/>
            </a:xfrm>
            <a:prstGeom prst="line">
              <a:avLst/>
            </a:prstGeom>
            <a:noFill/>
            <a:ln w="19050">
              <a:solidFill>
                <a:srgbClr val="00A6A6"/>
              </a:solidFill>
              <a:tailEnd type="triangle" w="lg" len="lg"/>
            </a:ln>
          </p:spPr>
        </p:sp>
        <p:sp>
          <p:nvSpPr>
            <p:cNvPr id="17" name="Rectangle 17"/>
            <p:cNvSpPr/>
            <p:nvPr/>
          </p:nvSpPr>
          <p:spPr>
            <a:xfrm>
              <a:off x="3124200" y="2400300"/>
              <a:ext cx="2190750" cy="666750"/>
            </a:xfrm>
            <a:prstGeom prst="rect">
              <a:avLst/>
            </a:prstGeom>
            <a:solidFill>
              <a:srgbClr val="FFFFFF"/>
            </a:solidFill>
            <a:ln w="9525">
              <a:solidFill>
                <a:srgbClr val="00A6A6"/>
              </a:solidFill>
            </a:ln>
          </p:spPr>
        </p:sp>
        <p:sp>
          <p:nvSpPr>
            <p:cNvPr id="18" name="Rectangle 18"/>
            <p:cNvSpPr/>
            <p:nvPr/>
          </p:nvSpPr>
          <p:spPr>
            <a:xfrm>
              <a:off x="3124200" y="2400300"/>
              <a:ext cx="2190750" cy="38100"/>
            </a:xfrm>
            <a:prstGeom prst="rect">
              <a:avLst/>
            </a:prstGeom>
            <a:solidFill>
              <a:srgbClr val="00A6A6"/>
            </a:solidFill>
            <a:ln>
              <a:noFill/>
            </a:ln>
          </p:spPr>
        </p:sp>
        <p:sp>
          <p:nvSpPr>
            <p:cNvPr id="19" name="TextBox 19"/>
            <p:cNvSpPr txBox="1"/>
            <p:nvPr/>
          </p:nvSpPr>
          <p:spPr>
            <a:xfrm>
              <a:off x="3646828" y="2556510"/>
              <a:ext cx="1145494"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İstek günlüğü</a:t>
              </a:r>
            </a:p>
          </p:txBody>
        </p:sp>
        <p:sp>
          <p:nvSpPr>
            <p:cNvPr id="20" name="TextBox 20"/>
            <p:cNvSpPr txBox="1"/>
            <p:nvPr/>
          </p:nvSpPr>
          <p:spPr>
            <a:xfrm>
              <a:off x="3686912" y="2790349"/>
              <a:ext cx="1065327"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next() ile devam</a:t>
              </a:r>
            </a:p>
          </p:txBody>
        </p:sp>
        <p:sp>
          <p:nvSpPr>
            <p:cNvPr id="21" name="Line 21"/>
            <p:cNvSpPr/>
            <p:nvPr/>
          </p:nvSpPr>
          <p:spPr>
            <a:xfrm>
              <a:off x="5314950" y="2733675"/>
              <a:ext cx="266700" cy="1"/>
            </a:xfrm>
            <a:prstGeom prst="line">
              <a:avLst/>
            </a:prstGeom>
            <a:noFill/>
            <a:ln w="19050">
              <a:solidFill>
                <a:srgbClr val="00A6A6"/>
              </a:solidFill>
              <a:tailEnd type="triangle" w="lg" len="lg"/>
            </a:ln>
          </p:spPr>
        </p:sp>
        <p:sp>
          <p:nvSpPr>
            <p:cNvPr id="22" name="Rectangle 22"/>
            <p:cNvSpPr/>
            <p:nvPr/>
          </p:nvSpPr>
          <p:spPr>
            <a:xfrm>
              <a:off x="5638800" y="2400300"/>
              <a:ext cx="2190750" cy="666750"/>
            </a:xfrm>
            <a:prstGeom prst="rect">
              <a:avLst/>
            </a:prstGeom>
            <a:solidFill>
              <a:srgbClr val="FFFFFF"/>
            </a:solidFill>
            <a:ln w="9525">
              <a:solidFill>
                <a:srgbClr val="2E86AB"/>
              </a:solidFill>
            </a:ln>
          </p:spPr>
        </p:sp>
        <p:sp>
          <p:nvSpPr>
            <p:cNvPr id="23" name="Rectangle 23"/>
            <p:cNvSpPr/>
            <p:nvPr/>
          </p:nvSpPr>
          <p:spPr>
            <a:xfrm>
              <a:off x="5638800" y="2400300"/>
              <a:ext cx="2190750" cy="38100"/>
            </a:xfrm>
            <a:prstGeom prst="rect">
              <a:avLst/>
            </a:prstGeom>
            <a:solidFill>
              <a:srgbClr val="2E86AB"/>
            </a:solidFill>
            <a:ln>
              <a:noFill/>
            </a:ln>
          </p:spPr>
        </p:sp>
        <p:sp>
          <p:nvSpPr>
            <p:cNvPr id="24" name="TextBox 24"/>
            <p:cNvSpPr txBox="1"/>
            <p:nvPr/>
          </p:nvSpPr>
          <p:spPr>
            <a:xfrm>
              <a:off x="6136079" y="2556510"/>
              <a:ext cx="1196192"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Yetki kontrolü</a:t>
              </a:r>
            </a:p>
          </p:txBody>
        </p:sp>
        <p:sp>
          <p:nvSpPr>
            <p:cNvPr id="25" name="TextBox 25"/>
            <p:cNvSpPr txBox="1"/>
            <p:nvPr/>
          </p:nvSpPr>
          <p:spPr>
            <a:xfrm>
              <a:off x="6218003" y="2790349"/>
              <a:ext cx="1032345"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401 veya next()</a:t>
              </a:r>
            </a:p>
          </p:txBody>
        </p:sp>
        <p:sp>
          <p:nvSpPr>
            <p:cNvPr id="26" name="Line 26"/>
            <p:cNvSpPr/>
            <p:nvPr/>
          </p:nvSpPr>
          <p:spPr>
            <a:xfrm>
              <a:off x="7829550" y="2733675"/>
              <a:ext cx="266700" cy="1"/>
            </a:xfrm>
            <a:prstGeom prst="line">
              <a:avLst/>
            </a:prstGeom>
            <a:noFill/>
            <a:ln w="19050">
              <a:solidFill>
                <a:srgbClr val="00A6A6"/>
              </a:solidFill>
              <a:tailEnd type="triangle" w="lg" len="lg"/>
            </a:ln>
          </p:spPr>
        </p:sp>
        <p:sp>
          <p:nvSpPr>
            <p:cNvPr id="27" name="Rectangle 27"/>
            <p:cNvSpPr/>
            <p:nvPr/>
          </p:nvSpPr>
          <p:spPr>
            <a:xfrm>
              <a:off x="8153400" y="2400300"/>
              <a:ext cx="2190750" cy="666750"/>
            </a:xfrm>
            <a:prstGeom prst="rect">
              <a:avLst/>
            </a:prstGeom>
            <a:solidFill>
              <a:srgbClr val="FFFFFF"/>
            </a:solidFill>
            <a:ln w="9525">
              <a:solidFill>
                <a:srgbClr val="B8CBD3"/>
              </a:solidFill>
            </a:ln>
          </p:spPr>
        </p:sp>
        <p:sp>
          <p:nvSpPr>
            <p:cNvPr id="28" name="Rectangle 28"/>
            <p:cNvSpPr/>
            <p:nvPr/>
          </p:nvSpPr>
          <p:spPr>
            <a:xfrm>
              <a:off x="8153400" y="2400300"/>
              <a:ext cx="2190750" cy="38100"/>
            </a:xfrm>
            <a:prstGeom prst="rect">
              <a:avLst/>
            </a:prstGeom>
            <a:solidFill>
              <a:srgbClr val="B8CBD3"/>
            </a:solidFill>
            <a:ln>
              <a:noFill/>
            </a:ln>
          </p:spPr>
        </p:sp>
        <p:sp>
          <p:nvSpPr>
            <p:cNvPr id="29" name="TextBox 29"/>
            <p:cNvSpPr txBox="1"/>
            <p:nvPr/>
          </p:nvSpPr>
          <p:spPr>
            <a:xfrm>
              <a:off x="8621225" y="2556510"/>
              <a:ext cx="1255099"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Route işleyicisi</a:t>
              </a:r>
            </a:p>
          </p:txBody>
        </p:sp>
        <p:sp>
          <p:nvSpPr>
            <p:cNvPr id="30" name="TextBox 30"/>
            <p:cNvSpPr txBox="1"/>
            <p:nvPr/>
          </p:nvSpPr>
          <p:spPr>
            <a:xfrm>
              <a:off x="8841443" y="2790349"/>
              <a:ext cx="814664"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yanıt üretir</a:t>
              </a:r>
            </a:p>
          </p:txBody>
        </p:sp>
      </p:grpSp>
      <p:grpSp>
        <p:nvGrpSpPr>
          <p:cNvPr id="36" name="benzetme"/>
          <p:cNvGrpSpPr/>
          <p:nvPr/>
        </p:nvGrpSpPr>
        <p:grpSpPr>
          <a:xfrm>
            <a:off x="609600" y="3429000"/>
            <a:ext cx="5257800" cy="1771650"/>
            <a:chOff x="609600" y="3429000"/>
            <a:chExt cx="5257800" cy="1771650"/>
          </a:xfrm>
        </p:grpSpPr>
        <p:sp>
          <p:nvSpPr>
            <p:cNvPr id="32" name="Rectangle 32"/>
            <p:cNvSpPr/>
            <p:nvPr/>
          </p:nvSpPr>
          <p:spPr>
            <a:xfrm>
              <a:off x="609600" y="3429000"/>
              <a:ext cx="5257800" cy="1771650"/>
            </a:xfrm>
            <a:prstGeom prst="rect">
              <a:avLst/>
            </a:prstGeom>
            <a:solidFill>
              <a:srgbClr val="FFFFFF"/>
            </a:solidFill>
            <a:ln w="9525">
              <a:solidFill>
                <a:srgbClr val="B8CBD3"/>
              </a:solidFill>
            </a:ln>
          </p:spPr>
        </p:sp>
        <p:sp>
          <p:nvSpPr>
            <p:cNvPr id="33" name="Rectangle 33"/>
            <p:cNvSpPr/>
            <p:nvPr/>
          </p:nvSpPr>
          <p:spPr>
            <a:xfrm>
              <a:off x="609600" y="3429000"/>
              <a:ext cx="5257800" cy="38100"/>
            </a:xfrm>
            <a:prstGeom prst="rect">
              <a:avLst/>
            </a:prstGeom>
            <a:solidFill>
              <a:srgbClr val="00A6A6"/>
            </a:solidFill>
            <a:ln>
              <a:noFill/>
            </a:ln>
          </p:spPr>
        </p:sp>
        <p:sp>
          <p:nvSpPr>
            <p:cNvPr id="34" name="TextBox 34"/>
            <p:cNvSpPr txBox="1"/>
            <p:nvPr/>
          </p:nvSpPr>
          <p:spPr>
            <a:xfrm>
              <a:off x="906399" y="3563779"/>
              <a:ext cx="336160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Havaalanı güvenliği benzetmesi</a:t>
              </a:r>
            </a:p>
          </p:txBody>
        </p:sp>
        <p:sp>
          <p:nvSpPr>
            <p:cNvPr id="35" name="TextBox 35"/>
            <p:cNvSpPr txBox="1"/>
            <p:nvPr/>
          </p:nvSpPr>
          <p:spPr>
            <a:xfrm>
              <a:off x="908304" y="3870960"/>
              <a:ext cx="3631692" cy="10728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Yolcu önce kimlik kontrolünden geçer, sonra</a:t>
              </a:r>
              <a:br/>
              <a:r>
                <a:rPr lang="tr-TR" sz="1200" dirty="0">
                  <a:solidFill>
                    <a:srgbClr val="172B3A"/>
                  </a:solidFill>
                  <a:latin typeface="+mn-lt"/>
                  <a:ea typeface="+mn-ea"/>
                  <a:cs typeface="+mn-cs"/>
                </a:rPr>
                <a:t>bagajı kontrol edilir, sonra kapıya yönlendirilir.</a:t>
              </a:r>
              <a:br/>
              <a:r>
                <a:rPr lang="tr-TR" sz="1200" dirty="0">
                  <a:solidFill>
                    <a:srgbClr val="172B3A"/>
                  </a:solidFill>
                  <a:latin typeface="+mn-lt"/>
                  <a:ea typeface="+mn-ea"/>
                  <a:cs typeface="+mn-cs"/>
                </a:rPr>
                <a:t>Bir aşamada sorun varsa yolcu uçağa alınmaz;</a:t>
              </a:r>
              <a:br/>
              <a:r>
                <a:rPr lang="tr-TR" sz="1200" dirty="0">
                  <a:solidFill>
                    <a:srgbClr val="172B3A"/>
                  </a:solidFill>
                  <a:latin typeface="+mn-lt"/>
                  <a:ea typeface="+mn-ea"/>
                  <a:cs typeface="+mn-cs"/>
                </a:rPr>
                <a:t>yetkilendirme middleware'i başarısız olursa</a:t>
              </a:r>
              <a:br/>
              <a:r>
                <a:rPr lang="tr-TR" sz="1200" dirty="0">
                  <a:solidFill>
                    <a:srgbClr val="172B3A"/>
                  </a:solidFill>
                  <a:latin typeface="+mn-lt"/>
                  <a:ea typeface="+mn-ea"/>
                  <a:cs typeface="+mn-cs"/>
                </a:rPr>
                <a:t>route işleyicisine geçilmez.</a:t>
              </a:r>
            </a:p>
          </p:txBody>
        </p:sp>
      </p:grpSp>
      <p:grpSp>
        <p:nvGrpSpPr>
          <p:cNvPr id="41" name="kuramsal"/>
          <p:cNvGrpSpPr/>
          <p:nvPr/>
        </p:nvGrpSpPr>
        <p:grpSpPr>
          <a:xfrm>
            <a:off x="6248400" y="3429000"/>
            <a:ext cx="5334000" cy="1771650"/>
            <a:chOff x="6248400" y="3429000"/>
            <a:chExt cx="5334000" cy="1771650"/>
          </a:xfrm>
        </p:grpSpPr>
        <p:sp>
          <p:nvSpPr>
            <p:cNvPr id="37" name="Rectangle 37"/>
            <p:cNvSpPr/>
            <p:nvPr/>
          </p:nvSpPr>
          <p:spPr>
            <a:xfrm>
              <a:off x="6248400" y="3429000"/>
              <a:ext cx="5334000" cy="1771650"/>
            </a:xfrm>
            <a:prstGeom prst="rect">
              <a:avLst/>
            </a:prstGeom>
            <a:solidFill>
              <a:srgbClr val="EAF4F6"/>
            </a:solidFill>
            <a:ln>
              <a:noFill/>
            </a:ln>
          </p:spPr>
        </p:sp>
        <p:sp>
          <p:nvSpPr>
            <p:cNvPr id="38" name="Rectangle 38"/>
            <p:cNvSpPr/>
            <p:nvPr/>
          </p:nvSpPr>
          <p:spPr>
            <a:xfrm>
              <a:off x="6248400" y="3429000"/>
              <a:ext cx="5334000" cy="38100"/>
            </a:xfrm>
            <a:prstGeom prst="rect">
              <a:avLst/>
            </a:prstGeom>
            <a:gradFill>
              <a:gsLst>
                <a:gs pos="0">
                  <a:srgbClr val="00A6A6"/>
                </a:gs>
                <a:gs pos="100000">
                  <a:srgbClr val="2E86AB"/>
                </a:gs>
              </a:gsLst>
              <a:lin ang="0" scaled="1"/>
            </a:gradFill>
            <a:ln>
              <a:noFill/>
            </a:ln>
          </p:spPr>
        </p:sp>
        <p:sp>
          <p:nvSpPr>
            <p:cNvPr id="39" name="TextBox 39"/>
            <p:cNvSpPr txBox="1"/>
            <p:nvPr/>
          </p:nvSpPr>
          <p:spPr>
            <a:xfrm>
              <a:off x="6545199" y="3563779"/>
              <a:ext cx="205553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Kuramsal arka plan</a:t>
              </a:r>
            </a:p>
          </p:txBody>
        </p:sp>
        <p:sp>
          <p:nvSpPr>
            <p:cNvPr id="40" name="TextBox 40"/>
            <p:cNvSpPr txBox="1"/>
            <p:nvPr/>
          </p:nvSpPr>
          <p:spPr>
            <a:xfrm>
              <a:off x="6547104" y="3870960"/>
              <a:ext cx="3448812" cy="10728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Sorumluluk Zinciri deseni (Gamma vd., 1994):</a:t>
              </a:r>
              <a:br/>
              <a:r>
                <a:rPr lang="tr-TR" sz="1200" dirty="0">
                  <a:solidFill>
                    <a:srgbClr val="172B3A"/>
                  </a:solidFill>
                  <a:latin typeface="+mn-lt"/>
                  <a:ea typeface="+mn-ea"/>
                  <a:cs typeface="+mn-cs"/>
                </a:rPr>
                <a:t>isteği işleyebilecek nesneler zincir hâlinde</a:t>
              </a:r>
              <a:br/>
              <a:r>
                <a:rPr lang="tr-TR" sz="1200" dirty="0">
                  <a:solidFill>
                    <a:srgbClr val="172B3A"/>
                  </a:solidFill>
                  <a:latin typeface="+mn-lt"/>
                  <a:ea typeface="+mn-ea"/>
                  <a:cs typeface="+mn-cs"/>
                </a:rPr>
                <a:t>sıralanır. next() "isteği bir sonraki halkaya</a:t>
              </a:r>
              <a:br/>
              <a:r>
                <a:rPr lang="tr-TR" sz="1200" dirty="0">
                  <a:solidFill>
                    <a:srgbClr val="172B3A"/>
                  </a:solidFill>
                  <a:latin typeface="+mn-lt"/>
                  <a:ea typeface="+mn-ea"/>
                  <a:cs typeface="+mn-cs"/>
                </a:rPr>
                <a:t>devret" adımına, yanıt gönderme ise "burada</a:t>
              </a:r>
              <a:br/>
              <a:r>
                <a:rPr lang="tr-TR" sz="1200" dirty="0">
                  <a:solidFill>
                    <a:srgbClr val="172B3A"/>
                  </a:solidFill>
                  <a:latin typeface="+mn-lt"/>
                  <a:ea typeface="+mn-ea"/>
                  <a:cs typeface="+mn-cs"/>
                </a:rPr>
                <a:t>işle ve durdur" dalına karşılık gelir.</a:t>
              </a:r>
            </a:p>
          </p:txBody>
        </p:sp>
      </p:grpSp>
      <p:grpSp>
        <p:nvGrpSpPr>
          <p:cNvPr id="44" name="footer"/>
          <p:cNvGrpSpPr/>
          <p:nvPr/>
        </p:nvGrpSpPr>
        <p:grpSpPr>
          <a:xfrm>
            <a:off x="603504" y="6461760"/>
            <a:ext cx="10984992" cy="234696"/>
            <a:chOff x="603504" y="6461760"/>
            <a:chExt cx="10984992" cy="234696"/>
          </a:xfrm>
        </p:grpSpPr>
        <p:sp>
          <p:nvSpPr>
            <p:cNvPr id="42" name="TextBox 42"/>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3" name="TextBox 43"/>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75331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5.5 · Günlük ve yetki middleware'i</a:t>
              </a:r>
            </a:p>
          </p:txBody>
        </p:sp>
      </p:grpSp>
      <p:grpSp>
        <p:nvGrpSpPr>
          <p:cNvPr id="31" name="kod"/>
          <p:cNvGrpSpPr/>
          <p:nvPr/>
        </p:nvGrpSpPr>
        <p:grpSpPr>
          <a:xfrm>
            <a:off x="609600" y="1219200"/>
            <a:ext cx="6667500" cy="4000500"/>
            <a:chOff x="609600" y="1219200"/>
            <a:chExt cx="6667500" cy="4000500"/>
          </a:xfrm>
        </p:grpSpPr>
        <p:sp>
          <p:nvSpPr>
            <p:cNvPr id="12" name="Rectangle 12"/>
            <p:cNvSpPr/>
            <p:nvPr/>
          </p:nvSpPr>
          <p:spPr>
            <a:xfrm>
              <a:off x="609600" y="1219200"/>
              <a:ext cx="6667500" cy="4000500"/>
            </a:xfrm>
            <a:prstGeom prst="rect">
              <a:avLst/>
            </a:prstGeom>
            <a:solidFill>
              <a:srgbClr val="12355B"/>
            </a:solidFill>
            <a:ln>
              <a:noFill/>
            </a:ln>
          </p:spPr>
        </p:sp>
        <p:sp>
          <p:nvSpPr>
            <p:cNvPr id="13" name="TextBox 13"/>
            <p:cNvSpPr txBox="1"/>
            <p:nvPr/>
          </p:nvSpPr>
          <p:spPr>
            <a:xfrm>
              <a:off x="832485" y="1364456"/>
              <a:ext cx="4169175"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function istekGunlugu(istek, yanit, sonrakiAdim) {</a:t>
              </a:r>
            </a:p>
          </p:txBody>
        </p:sp>
        <p:sp>
          <p:nvSpPr>
            <p:cNvPr id="14" name="TextBox 14"/>
            <p:cNvSpPr txBox="1"/>
            <p:nvPr/>
          </p:nvSpPr>
          <p:spPr>
            <a:xfrm>
              <a:off x="832485" y="1554956"/>
              <a:ext cx="374309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console.log(`${istek.method} ${istek.path}`);</a:t>
              </a:r>
            </a:p>
          </p:txBody>
        </p:sp>
        <p:sp>
          <p:nvSpPr>
            <p:cNvPr id="15" name="TextBox 15"/>
            <p:cNvSpPr txBox="1"/>
            <p:nvPr/>
          </p:nvSpPr>
          <p:spPr>
            <a:xfrm>
              <a:off x="832485" y="1745456"/>
              <a:ext cx="117836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sonrakiAdim();</a:t>
              </a:r>
            </a:p>
          </p:txBody>
        </p:sp>
        <p:sp>
          <p:nvSpPr>
            <p:cNvPr id="16" name="TextBox 16"/>
            <p:cNvSpPr txBox="1"/>
            <p:nvPr/>
          </p:nvSpPr>
          <p:spPr>
            <a:xfrm>
              <a:off x="832485" y="1935956"/>
              <a:ext cx="94356"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t>
              </a:r>
            </a:p>
          </p:txBody>
        </p:sp>
        <p:sp>
          <p:nvSpPr>
            <p:cNvPr id="17" name="TextBox 17"/>
            <p:cNvSpPr txBox="1"/>
            <p:nvPr/>
          </p:nvSpPr>
          <p:spPr>
            <a:xfrm>
              <a:off x="832485" y="2240756"/>
              <a:ext cx="4754930"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function apiAnahtariKontrolu(istek, yanit, sonrakiAdim) {</a:t>
              </a:r>
            </a:p>
          </p:txBody>
        </p:sp>
        <p:sp>
          <p:nvSpPr>
            <p:cNvPr id="18" name="TextBox 18"/>
            <p:cNvSpPr txBox="1"/>
            <p:nvPr/>
          </p:nvSpPr>
          <p:spPr>
            <a:xfrm>
              <a:off x="832485" y="2431256"/>
              <a:ext cx="390894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const anahtar = istek.header("x-api-anahtari");</a:t>
              </a:r>
            </a:p>
          </p:txBody>
        </p:sp>
        <p:sp>
          <p:nvSpPr>
            <p:cNvPr id="19" name="TextBox 19"/>
            <p:cNvSpPr txBox="1"/>
            <p:nvPr/>
          </p:nvSpPr>
          <p:spPr>
            <a:xfrm>
              <a:off x="832485" y="2621756"/>
              <a:ext cx="291383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if (anahtar !== "kitap-api-2026") {</a:t>
              </a:r>
            </a:p>
          </p:txBody>
        </p:sp>
        <p:sp>
          <p:nvSpPr>
            <p:cNvPr id="20" name="TextBox 20"/>
            <p:cNvSpPr txBox="1"/>
            <p:nvPr/>
          </p:nvSpPr>
          <p:spPr>
            <a:xfrm>
              <a:off x="832485" y="2812256"/>
              <a:ext cx="366754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yanit.status(401).json({mesaj:"Yetkisiz."});</a:t>
              </a:r>
            </a:p>
          </p:txBody>
        </p:sp>
        <p:sp>
          <p:nvSpPr>
            <p:cNvPr id="21" name="TextBox 21"/>
            <p:cNvSpPr txBox="1"/>
            <p:nvPr/>
          </p:nvSpPr>
          <p:spPr>
            <a:xfrm>
              <a:off x="832485" y="3002756"/>
              <a:ext cx="59191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return;</a:t>
              </a:r>
            </a:p>
          </p:txBody>
        </p:sp>
        <p:sp>
          <p:nvSpPr>
            <p:cNvPr id="22" name="TextBox 22"/>
            <p:cNvSpPr txBox="1"/>
            <p:nvPr/>
          </p:nvSpPr>
          <p:spPr>
            <a:xfrm>
              <a:off x="832485" y="3193256"/>
              <a:ext cx="9435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a:t>
              </a:r>
            </a:p>
          </p:txBody>
        </p:sp>
        <p:sp>
          <p:nvSpPr>
            <p:cNvPr id="23" name="TextBox 23"/>
            <p:cNvSpPr txBox="1"/>
            <p:nvPr/>
          </p:nvSpPr>
          <p:spPr>
            <a:xfrm>
              <a:off x="832485" y="3383756"/>
              <a:ext cx="117836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sonrakiAdim();</a:t>
              </a:r>
            </a:p>
          </p:txBody>
        </p:sp>
        <p:sp>
          <p:nvSpPr>
            <p:cNvPr id="24" name="TextBox 24"/>
            <p:cNvSpPr txBox="1"/>
            <p:nvPr/>
          </p:nvSpPr>
          <p:spPr>
            <a:xfrm>
              <a:off x="832485" y="3574256"/>
              <a:ext cx="94356"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t>
              </a:r>
            </a:p>
          </p:txBody>
        </p:sp>
        <p:sp>
          <p:nvSpPr>
            <p:cNvPr id="25" name="TextBox 25"/>
            <p:cNvSpPr txBox="1"/>
            <p:nvPr/>
          </p:nvSpPr>
          <p:spPr>
            <a:xfrm>
              <a:off x="832485" y="3879056"/>
              <a:ext cx="2255940"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uygulama.use(istekGunlugu);</a:t>
              </a:r>
            </a:p>
          </p:txBody>
        </p:sp>
        <p:sp>
          <p:nvSpPr>
            <p:cNvPr id="26" name="TextBox 26"/>
            <p:cNvSpPr txBox="1"/>
            <p:nvPr/>
          </p:nvSpPr>
          <p:spPr>
            <a:xfrm>
              <a:off x="832485" y="4164806"/>
              <a:ext cx="2582134"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uygulama.get("/korumali-durum",</a:t>
              </a:r>
            </a:p>
          </p:txBody>
        </p:sp>
        <p:sp>
          <p:nvSpPr>
            <p:cNvPr id="27" name="TextBox 27"/>
            <p:cNvSpPr txBox="1"/>
            <p:nvPr/>
          </p:nvSpPr>
          <p:spPr>
            <a:xfrm>
              <a:off x="832485" y="4355306"/>
              <a:ext cx="1679830"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apiAnahtariKontrolu,</a:t>
              </a:r>
            </a:p>
          </p:txBody>
        </p:sp>
        <p:sp>
          <p:nvSpPr>
            <p:cNvPr id="28" name="TextBox 28"/>
            <p:cNvSpPr txBox="1"/>
            <p:nvPr/>
          </p:nvSpPr>
          <p:spPr>
            <a:xfrm>
              <a:off x="832485" y="4545806"/>
              <a:ext cx="1587022"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(istek, yanit) =&gt; {</a:t>
              </a:r>
            </a:p>
          </p:txBody>
        </p:sp>
        <p:sp>
          <p:nvSpPr>
            <p:cNvPr id="29" name="TextBox 29"/>
            <p:cNvSpPr txBox="1"/>
            <p:nvPr/>
          </p:nvSpPr>
          <p:spPr>
            <a:xfrm>
              <a:off x="832485" y="4736306"/>
              <a:ext cx="408101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yanit.json({mesaj:"Korumalı bilgiye erişildi."});</a:t>
              </a:r>
            </a:p>
          </p:txBody>
        </p:sp>
        <p:sp>
          <p:nvSpPr>
            <p:cNvPr id="30" name="TextBox 30"/>
            <p:cNvSpPr txBox="1"/>
            <p:nvPr/>
          </p:nvSpPr>
          <p:spPr>
            <a:xfrm>
              <a:off x="832485" y="4926806"/>
              <a:ext cx="260208"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t>
              </a:r>
            </a:p>
          </p:txBody>
        </p:sp>
      </p:grpSp>
      <p:grpSp>
        <p:nvGrpSpPr>
          <p:cNvPr id="40" name="anlatim"/>
          <p:cNvGrpSpPr/>
          <p:nvPr/>
        </p:nvGrpSpPr>
        <p:grpSpPr>
          <a:xfrm>
            <a:off x="7573899" y="1258729"/>
            <a:ext cx="4008501" cy="4040505"/>
            <a:chOff x="7573899" y="1258729"/>
            <a:chExt cx="4008501" cy="4040505"/>
          </a:xfrm>
        </p:grpSpPr>
        <p:sp>
          <p:nvSpPr>
            <p:cNvPr id="32" name="TextBox 32"/>
            <p:cNvSpPr txBox="1"/>
            <p:nvPr/>
          </p:nvSpPr>
          <p:spPr>
            <a:xfrm>
              <a:off x="7573899" y="1258729"/>
              <a:ext cx="157549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Nasıl çalışır?</a:t>
              </a:r>
            </a:p>
          </p:txBody>
        </p:sp>
        <p:sp>
          <p:nvSpPr>
            <p:cNvPr id="33" name="TextBox 33"/>
            <p:cNvSpPr txBox="1"/>
            <p:nvPr/>
          </p:nvSpPr>
          <p:spPr>
            <a:xfrm>
              <a:off x="7575804" y="1565910"/>
              <a:ext cx="30754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istekGunlugu her isteğin metodunu ve</a:t>
              </a:r>
              <a:br/>
              <a:r>
                <a:rPr lang="tr-TR" sz="1200" dirty="0">
                  <a:solidFill>
                    <a:srgbClr val="172B3A"/>
                  </a:solidFill>
                  <a:latin typeface="+mn-lt"/>
                  <a:ea typeface="+mn-ea"/>
                  <a:cs typeface="+mn-cs"/>
                </a:rPr>
                <a:t>yolunu yazdırır; sonrakiAdim() çağrısı</a:t>
              </a:r>
              <a:br/>
              <a:r>
                <a:rPr lang="tr-TR" sz="1200" dirty="0">
                  <a:solidFill>
                    <a:srgbClr val="172B3A"/>
                  </a:solidFill>
                  <a:latin typeface="+mn-lt"/>
                  <a:ea typeface="+mn-ea"/>
                  <a:cs typeface="+mn-cs"/>
                </a:rPr>
                <a:t>kontrolü sonraki middleware'e devreder.</a:t>
              </a:r>
            </a:p>
          </p:txBody>
        </p:sp>
        <p:sp>
          <p:nvSpPr>
            <p:cNvPr id="34" name="TextBox 34"/>
            <p:cNvSpPr txBox="1"/>
            <p:nvPr/>
          </p:nvSpPr>
          <p:spPr>
            <a:xfrm>
              <a:off x="7575804" y="2346960"/>
              <a:ext cx="30220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apiAnahtariKontrolu yalnızca</a:t>
              </a:r>
              <a:br/>
              <a:r>
                <a:rPr lang="tr-TR" sz="1200" dirty="0">
                  <a:solidFill>
                    <a:srgbClr val="172B3A"/>
                  </a:solidFill>
                  <a:latin typeface="+mn-lt"/>
                  <a:ea typeface="+mn-ea"/>
                  <a:cs typeface="+mn-cs"/>
                </a:rPr>
                <a:t>/korumali-durum route'una verilmiştir;</a:t>
              </a:r>
              <a:br/>
              <a:r>
                <a:rPr lang="tr-TR" sz="1200" dirty="0">
                  <a:solidFill>
                    <a:srgbClr val="172B3A"/>
                  </a:solidFill>
                  <a:latin typeface="+mn-lt"/>
                  <a:ea typeface="+mn-ea"/>
                  <a:cs typeface="+mn-cs"/>
                </a:rPr>
                <a:t>bu sayede diğer endpoint'ler açık kalır.</a:t>
              </a:r>
            </a:p>
          </p:txBody>
        </p:sp>
        <p:sp>
          <p:nvSpPr>
            <p:cNvPr id="35" name="TextBox 35"/>
            <p:cNvSpPr txBox="1"/>
            <p:nvPr/>
          </p:nvSpPr>
          <p:spPr>
            <a:xfrm>
              <a:off x="7575804" y="3128010"/>
              <a:ext cx="33649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Global middleware için</a:t>
              </a:r>
              <a:br/>
              <a:r>
                <a:rPr lang="tr-TR" sz="1200" dirty="0">
                  <a:solidFill>
                    <a:srgbClr val="172B3A"/>
                  </a:solidFill>
                  <a:latin typeface="+mn-lt"/>
                  <a:ea typeface="+mn-ea"/>
                  <a:cs typeface="+mn-cs"/>
                </a:rPr>
                <a:t>uygulama.use(apiAnahtariKontrolu)</a:t>
              </a:r>
              <a:br/>
              <a:r>
                <a:rPr lang="tr-TR" sz="1200" dirty="0">
                  <a:solidFill>
                    <a:srgbClr val="172B3A"/>
                  </a:solidFill>
                  <a:latin typeface="+mn-lt"/>
                  <a:ea typeface="+mn-ea"/>
                  <a:cs typeface="+mn-cs"/>
                </a:rPr>
                <a:t>kullanılabilir; ancak tüm route'lar etkilenir.</a:t>
              </a:r>
            </a:p>
          </p:txBody>
        </p:sp>
        <p:sp>
          <p:nvSpPr>
            <p:cNvPr id="36" name="Rectangle 36"/>
            <p:cNvSpPr/>
            <p:nvPr/>
          </p:nvSpPr>
          <p:spPr>
            <a:xfrm>
              <a:off x="7581900" y="4000500"/>
              <a:ext cx="4000500" cy="1219200"/>
            </a:xfrm>
            <a:prstGeom prst="rect">
              <a:avLst/>
            </a:prstGeom>
            <a:solidFill>
              <a:srgbClr val="EAF4F6"/>
            </a:solidFill>
            <a:ln>
              <a:noFill/>
            </a:ln>
          </p:spPr>
        </p:sp>
        <p:sp>
          <p:nvSpPr>
            <p:cNvPr id="37" name="Rectangle 37"/>
            <p:cNvSpPr/>
            <p:nvPr/>
          </p:nvSpPr>
          <p:spPr>
            <a:xfrm>
              <a:off x="7581900" y="4000500"/>
              <a:ext cx="4000500" cy="38100"/>
            </a:xfrm>
            <a:prstGeom prst="rect">
              <a:avLst/>
            </a:prstGeom>
            <a:gradFill>
              <a:gsLst>
                <a:gs pos="0">
                  <a:srgbClr val="00A6A6"/>
                </a:gs>
                <a:gs pos="100000">
                  <a:srgbClr val="2E86AB"/>
                </a:gs>
              </a:gsLst>
              <a:lin ang="0" scaled="1"/>
            </a:gradFill>
            <a:ln>
              <a:noFill/>
            </a:ln>
          </p:spPr>
        </p:sp>
        <p:sp>
          <p:nvSpPr>
            <p:cNvPr id="38" name="TextBox 38"/>
            <p:cNvSpPr txBox="1"/>
            <p:nvPr/>
          </p:nvSpPr>
          <p:spPr>
            <a:xfrm>
              <a:off x="7728204" y="4118610"/>
              <a:ext cx="14602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Dikkat noktası</a:t>
              </a:r>
            </a:p>
          </p:txBody>
        </p:sp>
        <p:sp>
          <p:nvSpPr>
            <p:cNvPr id="39" name="TextBox 39"/>
            <p:cNvSpPr txBox="1"/>
            <p:nvPr/>
          </p:nvSpPr>
          <p:spPr>
            <a:xfrm>
              <a:off x="7728585" y="4355306"/>
              <a:ext cx="2906014" cy="94392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uygulama.use(express.json()),</a:t>
              </a:r>
              <a:br/>
              <a:r>
                <a:rPr lang="tr-TR" sz="1120" dirty="0">
                  <a:solidFill>
                    <a:srgbClr val="172B3A"/>
                  </a:solidFill>
                  <a:latin typeface="+mn-lt"/>
                  <a:ea typeface="+mn-ea"/>
                  <a:cs typeface="+mn-cs"/>
                </a:rPr>
                <a:t>JSON body'lerini ayrıştıran middleware'i</a:t>
              </a:r>
              <a:br/>
              <a:r>
                <a:rPr lang="tr-TR" sz="1120" dirty="0">
                  <a:solidFill>
                    <a:srgbClr val="172B3A"/>
                  </a:solidFill>
                  <a:latin typeface="+mn-lt"/>
                  <a:ea typeface="+mn-ea"/>
                  <a:cs typeface="+mn-cs"/>
                </a:rPr>
                <a:t>ekler; POST route'larından önce</a:t>
              </a:r>
              <a:br/>
              <a:r>
                <a:rPr lang="tr-TR" sz="1120" dirty="0">
                  <a:solidFill>
                    <a:srgbClr val="172B3A"/>
                  </a:solidFill>
                  <a:latin typeface="+mn-lt"/>
                  <a:ea typeface="+mn-ea"/>
                  <a:cs typeface="+mn-cs"/>
                </a:rPr>
                <a:t>tanımlanmalıdır, aksi hâlde istek.body</a:t>
              </a:r>
              <a:br/>
              <a:r>
                <a:rPr lang="tr-TR" sz="1120" dirty="0">
                  <a:solidFill>
                    <a:srgbClr val="172B3A"/>
                  </a:solidFill>
                  <a:latin typeface="+mn-lt"/>
                  <a:ea typeface="+mn-ea"/>
                  <a:cs typeface="+mn-cs"/>
                </a:rPr>
                <a:t>undefined olabilir.</a:t>
              </a:r>
            </a:p>
          </p:txBody>
        </p:sp>
      </p:grpSp>
      <p:grpSp>
        <p:nvGrpSpPr>
          <p:cNvPr id="43" name="footer"/>
          <p:cNvGrpSpPr/>
          <p:nvPr/>
        </p:nvGrpSpPr>
        <p:grpSpPr>
          <a:xfrm>
            <a:off x="603504" y="6461760"/>
            <a:ext cx="10984992" cy="234696"/>
            <a:chOff x="603504" y="6461760"/>
            <a:chExt cx="10984992" cy="234696"/>
          </a:xfrm>
        </p:grpSpPr>
        <p:sp>
          <p:nvSpPr>
            <p:cNvPr id="41" name="TextBox 41"/>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2" name="TextBox 42"/>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0"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23296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Middleware ne zaman tercih edilmeli?</a:t>
              </a:r>
            </a:p>
          </p:txBody>
        </p:sp>
      </p:grpSp>
      <p:grpSp>
        <p:nvGrpSpPr>
          <p:cNvPr id="12" name="ilke"/>
          <p:cNvGrpSpPr/>
          <p:nvPr/>
        </p:nvGrpSpPr>
        <p:grpSpPr>
          <a:xfrm>
            <a:off x="601599" y="1277779"/>
            <a:ext cx="9527286" cy="555688"/>
            <a:chOff x="601599" y="1277779"/>
            <a:chExt cx="9527286" cy="555688"/>
          </a:xfrm>
        </p:grpSpPr>
        <p:sp>
          <p:nvSpPr>
            <p:cNvPr id="11" name="TextBox 11"/>
            <p:cNvSpPr txBox="1"/>
            <p:nvPr/>
          </p:nvSpPr>
          <p:spPr>
            <a:xfrm>
              <a:off x="601599" y="1277779"/>
              <a:ext cx="952728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davranış birden fazla route'ta tekrar ediyorsa middleware tercih edilmelidir; tek endpoint'e</a:t>
              </a:r>
              <a:br/>
              <a:r>
                <a:rPr lang="tr-TR" sz="1580" dirty="0">
                  <a:solidFill>
                    <a:srgbClr val="172B3A"/>
                  </a:solidFill>
                  <a:latin typeface="+mn-lt"/>
                  <a:ea typeface="+mn-ea"/>
                  <a:cs typeface="+mn-cs"/>
                </a:rPr>
                <a:t>özgü küçük bir işlem route içinde tutulabilir.</a:t>
              </a:r>
            </a:p>
          </p:txBody>
        </p:sp>
      </p:grpSp>
      <p:grpSp>
        <p:nvGrpSpPr>
          <p:cNvPr id="41" name="tablo"/>
          <p:cNvGrpSpPr/>
          <p:nvPr/>
        </p:nvGrpSpPr>
        <p:grpSpPr>
          <a:xfrm>
            <a:off x="609600" y="2038350"/>
            <a:ext cx="10972800" cy="2353056"/>
            <a:chOff x="609600" y="2038350"/>
            <a:chExt cx="10972800" cy="2353056"/>
          </a:xfrm>
        </p:grpSpPr>
        <p:sp>
          <p:nvSpPr>
            <p:cNvPr id="13" name="Rectangle 13"/>
            <p:cNvSpPr/>
            <p:nvPr/>
          </p:nvSpPr>
          <p:spPr>
            <a:xfrm>
              <a:off x="609600" y="2038350"/>
              <a:ext cx="10972800" cy="304800"/>
            </a:xfrm>
            <a:prstGeom prst="rect">
              <a:avLst/>
            </a:prstGeom>
            <a:solidFill>
              <a:srgbClr val="EAF4F6"/>
            </a:solidFill>
            <a:ln>
              <a:noFill/>
            </a:ln>
          </p:spPr>
        </p:sp>
        <p:sp>
          <p:nvSpPr>
            <p:cNvPr id="14" name="TextBox 14"/>
            <p:cNvSpPr txBox="1"/>
            <p:nvPr/>
          </p:nvSpPr>
          <p:spPr>
            <a:xfrm>
              <a:off x="717804" y="2118360"/>
              <a:ext cx="75526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Yaklaşım</a:t>
              </a:r>
            </a:p>
          </p:txBody>
        </p:sp>
        <p:sp>
          <p:nvSpPr>
            <p:cNvPr id="15" name="TextBox 15"/>
            <p:cNvSpPr txBox="1"/>
            <p:nvPr/>
          </p:nvSpPr>
          <p:spPr>
            <a:xfrm>
              <a:off x="3137154" y="2118360"/>
              <a:ext cx="72110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Avantajı</a:t>
              </a:r>
            </a:p>
          </p:txBody>
        </p:sp>
        <p:sp>
          <p:nvSpPr>
            <p:cNvPr id="16" name="TextBox 16"/>
            <p:cNvSpPr txBox="1"/>
            <p:nvPr/>
          </p:nvSpPr>
          <p:spPr>
            <a:xfrm>
              <a:off x="5956554" y="2118360"/>
              <a:ext cx="100105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Dezavantajı</a:t>
              </a:r>
            </a:p>
          </p:txBody>
        </p:sp>
        <p:sp>
          <p:nvSpPr>
            <p:cNvPr id="17" name="TextBox 17"/>
            <p:cNvSpPr txBox="1"/>
            <p:nvPr/>
          </p:nvSpPr>
          <p:spPr>
            <a:xfrm>
              <a:off x="8814054" y="2118360"/>
              <a:ext cx="123026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Uygun kullanım</a:t>
              </a:r>
            </a:p>
          </p:txBody>
        </p:sp>
        <p:sp>
          <p:nvSpPr>
            <p:cNvPr id="18" name="Line 18"/>
            <p:cNvSpPr/>
            <p:nvPr/>
          </p:nvSpPr>
          <p:spPr>
            <a:xfrm>
              <a:off x="609600" y="23431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19" name="TextBox 19"/>
            <p:cNvSpPr txBox="1"/>
            <p:nvPr/>
          </p:nvSpPr>
          <p:spPr>
            <a:xfrm>
              <a:off x="717804" y="2404110"/>
              <a:ext cx="13901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Global middleware</a:t>
              </a:r>
            </a:p>
          </p:txBody>
        </p:sp>
        <p:sp>
          <p:nvSpPr>
            <p:cNvPr id="20" name="TextBox 20"/>
            <p:cNvSpPr txBox="1"/>
            <p:nvPr/>
          </p:nvSpPr>
          <p:spPr>
            <a:xfrm>
              <a:off x="3137154" y="2404110"/>
              <a:ext cx="27799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 tanımla tüm route'ları etkiler</a:t>
              </a:r>
            </a:p>
          </p:txBody>
        </p:sp>
        <p:sp>
          <p:nvSpPr>
            <p:cNvPr id="21" name="TextBox 21"/>
            <p:cNvSpPr txBox="1"/>
            <p:nvPr/>
          </p:nvSpPr>
          <p:spPr>
            <a:xfrm>
              <a:off x="5956554" y="2404110"/>
              <a:ext cx="23596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Gereksiz endpoint'i de etkiler</a:t>
              </a:r>
            </a:p>
          </p:txBody>
        </p:sp>
        <p:sp>
          <p:nvSpPr>
            <p:cNvPr id="22" name="TextBox 22"/>
            <p:cNvSpPr txBox="1"/>
            <p:nvPr/>
          </p:nvSpPr>
          <p:spPr>
            <a:xfrm>
              <a:off x="8814054" y="2404110"/>
              <a:ext cx="21487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Loglama, JSON ayrıştırma</a:t>
              </a:r>
            </a:p>
          </p:txBody>
        </p:sp>
        <p:sp>
          <p:nvSpPr>
            <p:cNvPr id="23" name="Line 23"/>
            <p:cNvSpPr/>
            <p:nvPr/>
          </p:nvSpPr>
          <p:spPr>
            <a:xfrm>
              <a:off x="609600" y="27241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4" name="TextBox 24"/>
            <p:cNvSpPr txBox="1"/>
            <p:nvPr/>
          </p:nvSpPr>
          <p:spPr>
            <a:xfrm>
              <a:off x="717804" y="2785110"/>
              <a:ext cx="15198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Route middleware'i</a:t>
              </a:r>
            </a:p>
          </p:txBody>
        </p:sp>
        <p:sp>
          <p:nvSpPr>
            <p:cNvPr id="25" name="TextBox 25"/>
            <p:cNvSpPr txBox="1"/>
            <p:nvPr/>
          </p:nvSpPr>
          <p:spPr>
            <a:xfrm>
              <a:off x="3137154" y="2785110"/>
              <a:ext cx="24078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Belirli endpoint'lere uygulanır</a:t>
              </a:r>
            </a:p>
          </p:txBody>
        </p:sp>
        <p:sp>
          <p:nvSpPr>
            <p:cNvPr id="26" name="TextBox 26"/>
            <p:cNvSpPr txBox="1"/>
            <p:nvPr/>
          </p:nvSpPr>
          <p:spPr>
            <a:xfrm>
              <a:off x="5956554" y="2785110"/>
              <a:ext cx="28850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Aynı kural çok route'ta tekrarlanır</a:t>
              </a:r>
            </a:p>
          </p:txBody>
        </p:sp>
        <p:sp>
          <p:nvSpPr>
            <p:cNvPr id="27" name="TextBox 27"/>
            <p:cNvSpPr txBox="1"/>
            <p:nvPr/>
          </p:nvSpPr>
          <p:spPr>
            <a:xfrm>
              <a:off x="8814054" y="2785110"/>
              <a:ext cx="19071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Yetki gerektiren alanlar</a:t>
              </a:r>
            </a:p>
          </p:txBody>
        </p:sp>
        <p:sp>
          <p:nvSpPr>
            <p:cNvPr id="28" name="Line 28"/>
            <p:cNvSpPr/>
            <p:nvPr/>
          </p:nvSpPr>
          <p:spPr>
            <a:xfrm>
              <a:off x="609600" y="31051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9" name="TextBox 29"/>
            <p:cNvSpPr txBox="1"/>
            <p:nvPr/>
          </p:nvSpPr>
          <p:spPr>
            <a:xfrm>
              <a:off x="717804" y="3166110"/>
              <a:ext cx="10108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Route içi kod</a:t>
              </a:r>
            </a:p>
          </p:txBody>
        </p:sp>
        <p:sp>
          <p:nvSpPr>
            <p:cNvPr id="30" name="TextBox 30"/>
            <p:cNvSpPr txBox="1"/>
            <p:nvPr/>
          </p:nvSpPr>
          <p:spPr>
            <a:xfrm>
              <a:off x="3137154" y="3166110"/>
              <a:ext cx="23190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Küçük tekil işlem için basittir</a:t>
              </a:r>
            </a:p>
          </p:txBody>
        </p:sp>
        <p:sp>
          <p:nvSpPr>
            <p:cNvPr id="31" name="TextBox 31"/>
            <p:cNvSpPr txBox="1"/>
            <p:nvPr/>
          </p:nvSpPr>
          <p:spPr>
            <a:xfrm>
              <a:off x="5956554" y="3166110"/>
              <a:ext cx="18106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Tekrar eden kod üretir</a:t>
              </a:r>
            </a:p>
          </p:txBody>
        </p:sp>
        <p:sp>
          <p:nvSpPr>
            <p:cNvPr id="32" name="TextBox 32"/>
            <p:cNvSpPr txBox="1"/>
            <p:nvPr/>
          </p:nvSpPr>
          <p:spPr>
            <a:xfrm>
              <a:off x="8814054" y="3166110"/>
              <a:ext cx="22145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 endpoint'e özgü kontrol</a:t>
              </a:r>
            </a:p>
          </p:txBody>
        </p:sp>
        <p:sp>
          <p:nvSpPr>
            <p:cNvPr id="33" name="Line 33"/>
            <p:cNvSpPr/>
            <p:nvPr/>
          </p:nvSpPr>
          <p:spPr>
            <a:xfrm>
              <a:off x="609600" y="34861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4" name="TextBox 34"/>
            <p:cNvSpPr txBox="1"/>
            <p:nvPr/>
          </p:nvSpPr>
          <p:spPr>
            <a:xfrm>
              <a:off x="717804" y="3547110"/>
              <a:ext cx="14310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Hata middleware'i</a:t>
              </a:r>
            </a:p>
          </p:txBody>
        </p:sp>
        <p:sp>
          <p:nvSpPr>
            <p:cNvPr id="35" name="TextBox 35"/>
            <p:cNvSpPr txBox="1"/>
            <p:nvPr/>
          </p:nvSpPr>
          <p:spPr>
            <a:xfrm>
              <a:off x="3137154" y="3547110"/>
              <a:ext cx="21579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Merkezi hata yanıtı sağlar</a:t>
              </a:r>
            </a:p>
          </p:txBody>
        </p:sp>
        <p:sp>
          <p:nvSpPr>
            <p:cNvPr id="36" name="TextBox 36"/>
            <p:cNvSpPr txBox="1"/>
            <p:nvPr/>
          </p:nvSpPr>
          <p:spPr>
            <a:xfrm>
              <a:off x="5956554" y="3547110"/>
              <a:ext cx="24082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 sırada tanımlanmalıdır</a:t>
              </a:r>
            </a:p>
          </p:txBody>
        </p:sp>
        <p:sp>
          <p:nvSpPr>
            <p:cNvPr id="37" name="TextBox 37"/>
            <p:cNvSpPr txBox="1"/>
            <p:nvPr/>
          </p:nvSpPr>
          <p:spPr>
            <a:xfrm>
              <a:off x="8814054" y="3547110"/>
              <a:ext cx="23353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Uygulama geneli hata yönetimi</a:t>
              </a:r>
            </a:p>
          </p:txBody>
        </p:sp>
        <p:sp>
          <p:nvSpPr>
            <p:cNvPr id="38" name="Line 38"/>
            <p:cNvSpPr/>
            <p:nvPr/>
          </p:nvSpPr>
          <p:spPr>
            <a:xfrm>
              <a:off x="609600" y="38671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9" name="TextBox 39"/>
            <p:cNvSpPr txBox="1"/>
            <p:nvPr/>
          </p:nvSpPr>
          <p:spPr>
            <a:xfrm>
              <a:off x="717804" y="3966210"/>
              <a:ext cx="129394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Sıralama önemi:</a:t>
              </a:r>
            </a:p>
          </p:txBody>
        </p:sp>
        <p:sp>
          <p:nvSpPr>
            <p:cNvPr id="40" name="TextBox 40"/>
            <p:cNvSpPr txBox="1"/>
            <p:nvPr/>
          </p:nvSpPr>
          <p:spPr>
            <a:xfrm>
              <a:off x="2432304" y="3966210"/>
              <a:ext cx="60548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JSON ayrıştırma body kullanan route'lardan önce; güvenlik kontrolü korunan iş</a:t>
              </a:r>
              <a:br/>
              <a:r>
                <a:rPr lang="tr-TR" sz="1200" dirty="0">
                  <a:solidFill>
                    <a:srgbClr val="52616B"/>
                  </a:solidFill>
                  <a:latin typeface="+mn-lt"/>
                  <a:ea typeface="+mn-ea"/>
                  <a:cs typeface="+mn-cs"/>
                </a:rPr>
                <a:t>mantığından önce; hata middleware'i çoğunlukla route'lardan sonra tanımlanır.</a:t>
              </a:r>
            </a:p>
          </p:txBody>
        </p:sp>
      </p:grpSp>
      <p:grpSp>
        <p:nvGrpSpPr>
          <p:cNvPr id="48" name="fark"/>
          <p:cNvGrpSpPr/>
          <p:nvPr/>
        </p:nvGrpSpPr>
        <p:grpSpPr>
          <a:xfrm>
            <a:off x="609600" y="4629150"/>
            <a:ext cx="10972800" cy="1085850"/>
            <a:chOff x="609600" y="4629150"/>
            <a:chExt cx="10972800" cy="1085850"/>
          </a:xfrm>
        </p:grpSpPr>
        <p:sp>
          <p:nvSpPr>
            <p:cNvPr id="42" name="Rectangle 42"/>
            <p:cNvSpPr/>
            <p:nvPr/>
          </p:nvSpPr>
          <p:spPr>
            <a:xfrm>
              <a:off x="609600" y="4629150"/>
              <a:ext cx="10972800" cy="1085850"/>
            </a:xfrm>
            <a:prstGeom prst="rect">
              <a:avLst/>
            </a:prstGeom>
            <a:solidFill>
              <a:srgbClr val="FFFFFF"/>
            </a:solidFill>
            <a:ln w="9525">
              <a:solidFill>
                <a:srgbClr val="B8CBD3"/>
              </a:solidFill>
            </a:ln>
          </p:spPr>
        </p:sp>
        <p:sp>
          <p:nvSpPr>
            <p:cNvPr id="43" name="Rectangle 43"/>
            <p:cNvSpPr/>
            <p:nvPr/>
          </p:nvSpPr>
          <p:spPr>
            <a:xfrm>
              <a:off x="609600" y="4629150"/>
              <a:ext cx="57150" cy="1085850"/>
            </a:xfrm>
            <a:prstGeom prst="rect">
              <a:avLst/>
            </a:prstGeom>
            <a:solidFill>
              <a:srgbClr val="2E86AB"/>
            </a:solidFill>
            <a:ln>
              <a:noFill/>
            </a:ln>
          </p:spPr>
        </p:sp>
        <p:sp>
          <p:nvSpPr>
            <p:cNvPr id="44" name="TextBox 44"/>
            <p:cNvSpPr txBox="1"/>
            <p:nvPr/>
          </p:nvSpPr>
          <p:spPr>
            <a:xfrm>
              <a:off x="907161" y="4742021"/>
              <a:ext cx="3262876"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Middleware ≠ yardımcı fonksiyon</a:t>
              </a:r>
            </a:p>
          </p:txBody>
        </p:sp>
        <p:sp>
          <p:nvSpPr>
            <p:cNvPr id="45" name="TextBox 45"/>
            <p:cNvSpPr txBox="1"/>
            <p:nvPr/>
          </p:nvSpPr>
          <p:spPr>
            <a:xfrm>
              <a:off x="908304" y="5013960"/>
              <a:ext cx="77823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Yardımcı fonksiyon uygulama kodu tarafından doğrudan çağrılır. Middleware ise Express'in istek</a:t>
              </a:r>
            </a:p>
          </p:txBody>
        </p:sp>
        <p:sp>
          <p:nvSpPr>
            <p:cNvPr id="46" name="TextBox 46"/>
            <p:cNvSpPr txBox="1"/>
            <p:nvPr/>
          </p:nvSpPr>
          <p:spPr>
            <a:xfrm>
              <a:off x="908304" y="5223510"/>
              <a:ext cx="54723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zinciri tarafından çağrılır ve next() mekanizması ile akışı yönetir.</a:t>
              </a:r>
            </a:p>
          </p:txBody>
        </p:sp>
        <p:sp>
          <p:nvSpPr>
            <p:cNvPr id="47" name="TextBox 47"/>
            <p:cNvSpPr txBox="1"/>
            <p:nvPr/>
          </p:nvSpPr>
          <p:spPr>
            <a:xfrm>
              <a:off x="908304" y="5471160"/>
              <a:ext cx="733524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Global yetki denetimi, açık olması gereken route'ları yanlışlıkla erişilemez hâle getirebilir.</a:t>
              </a:r>
            </a:p>
          </p:txBody>
        </p:sp>
      </p:grpSp>
      <p:grpSp>
        <p:nvGrpSpPr>
          <p:cNvPr id="51" name="footer"/>
          <p:cNvGrpSpPr/>
          <p:nvPr/>
        </p:nvGrpSpPr>
        <p:grpSpPr>
          <a:xfrm>
            <a:off x="603504" y="6461760"/>
            <a:ext cx="10984992" cy="234696"/>
            <a:chOff x="603504" y="6461760"/>
            <a:chExt cx="10984992" cy="234696"/>
          </a:xfrm>
        </p:grpSpPr>
        <p:sp>
          <p:nvSpPr>
            <p:cNvPr id="49" name="TextBox 49"/>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50" name="TextBox 50"/>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590370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Middleware'de yaygın hatalar</a:t>
              </a:r>
            </a:p>
          </p:txBody>
        </p:sp>
      </p:grpSp>
      <p:grpSp>
        <p:nvGrpSpPr>
          <p:cNvPr id="23" name="hata1"/>
          <p:cNvGrpSpPr/>
          <p:nvPr/>
        </p:nvGrpSpPr>
        <p:grpSpPr>
          <a:xfrm>
            <a:off x="609600" y="1219200"/>
            <a:ext cx="5257800" cy="3318034"/>
            <a:chOff x="609600" y="1219200"/>
            <a:chExt cx="5257800" cy="3318034"/>
          </a:xfrm>
        </p:grpSpPr>
        <p:sp>
          <p:nvSpPr>
            <p:cNvPr id="12" name="Rectangle 12"/>
            <p:cNvSpPr/>
            <p:nvPr/>
          </p:nvSpPr>
          <p:spPr>
            <a:xfrm>
              <a:off x="609600" y="1219200"/>
              <a:ext cx="5257800" cy="3200400"/>
            </a:xfrm>
            <a:prstGeom prst="rect">
              <a:avLst/>
            </a:prstGeom>
            <a:solidFill>
              <a:srgbClr val="FFFFFF"/>
            </a:solidFill>
            <a:ln w="9525">
              <a:solidFill>
                <a:srgbClr val="B8CBD3"/>
              </a:solidFill>
            </a:ln>
          </p:spPr>
        </p:sp>
        <p:sp>
          <p:nvSpPr>
            <p:cNvPr id="13" name="Rectangle 13"/>
            <p:cNvSpPr/>
            <p:nvPr/>
          </p:nvSpPr>
          <p:spPr>
            <a:xfrm>
              <a:off x="609600" y="1219200"/>
              <a:ext cx="57150" cy="3200400"/>
            </a:xfrm>
            <a:prstGeom prst="rect">
              <a:avLst/>
            </a:prstGeom>
            <a:solidFill>
              <a:srgbClr val="12355B"/>
            </a:solidFill>
            <a:ln>
              <a:noFill/>
            </a:ln>
          </p:spPr>
        </p:sp>
        <p:sp>
          <p:nvSpPr>
            <p:cNvPr id="14" name="TextBox 14"/>
            <p:cNvSpPr txBox="1"/>
            <p:nvPr/>
          </p:nvSpPr>
          <p:spPr>
            <a:xfrm>
              <a:off x="907161" y="1332071"/>
              <a:ext cx="294496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1 · next() çağrısını unutmak</a:t>
              </a:r>
            </a:p>
          </p:txBody>
        </p:sp>
        <p:sp>
          <p:nvSpPr>
            <p:cNvPr id="15" name="TextBox 15"/>
            <p:cNvSpPr txBox="1"/>
            <p:nvPr/>
          </p:nvSpPr>
          <p:spPr>
            <a:xfrm>
              <a:off x="908304" y="1604010"/>
              <a:ext cx="35707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Bu bir akış hatasıdır: kod sorunsuz derlenir ve</a:t>
              </a:r>
              <a:br/>
              <a:r>
                <a:rPr lang="tr-TR" sz="1200" dirty="0">
                  <a:solidFill>
                    <a:srgbClr val="52616B"/>
                  </a:solidFill>
                  <a:latin typeface="+mn-lt"/>
                  <a:ea typeface="+mn-ea"/>
                  <a:cs typeface="+mn-cs"/>
                </a:rPr>
                <a:t>çalışır; sorun yalnızca istemcinin yanıtsız</a:t>
              </a:r>
              <a:br/>
              <a:r>
                <a:rPr lang="tr-TR" sz="1200" dirty="0">
                  <a:solidFill>
                    <a:srgbClr val="52616B"/>
                  </a:solidFill>
                  <a:latin typeface="+mn-lt"/>
                  <a:ea typeface="+mn-ea"/>
                  <a:cs typeface="+mn-cs"/>
                </a:rPr>
                <a:t>kalmasıyla ortaya çıkar.</a:t>
              </a:r>
            </a:p>
          </p:txBody>
        </p:sp>
        <p:sp>
          <p:nvSpPr>
            <p:cNvPr id="16" name="Rectangle 16"/>
            <p:cNvSpPr/>
            <p:nvPr/>
          </p:nvSpPr>
          <p:spPr>
            <a:xfrm>
              <a:off x="914400" y="2400300"/>
              <a:ext cx="4648200" cy="838200"/>
            </a:xfrm>
            <a:prstGeom prst="rect">
              <a:avLst/>
            </a:prstGeom>
            <a:solidFill>
              <a:srgbClr val="12355B"/>
            </a:solidFill>
            <a:ln>
              <a:noFill/>
            </a:ln>
          </p:spPr>
        </p:sp>
        <p:sp>
          <p:nvSpPr>
            <p:cNvPr id="17" name="TextBox 17"/>
            <p:cNvSpPr txBox="1"/>
            <p:nvPr/>
          </p:nvSpPr>
          <p:spPr>
            <a:xfrm>
              <a:off x="1061466" y="2515552"/>
              <a:ext cx="320414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function hataliGunluk(istek, _y, _next) {</a:t>
              </a:r>
            </a:p>
          </p:txBody>
        </p:sp>
        <p:sp>
          <p:nvSpPr>
            <p:cNvPr id="18" name="TextBox 18"/>
            <p:cNvSpPr txBox="1"/>
            <p:nvPr/>
          </p:nvSpPr>
          <p:spPr>
            <a:xfrm>
              <a:off x="1061466" y="2706052"/>
              <a:ext cx="2964904"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cagrilar.push(`gunluk:${istek.path}`);</a:t>
              </a:r>
            </a:p>
          </p:txBody>
        </p:sp>
        <p:sp>
          <p:nvSpPr>
            <p:cNvPr id="19" name="TextBox 19"/>
            <p:cNvSpPr txBox="1"/>
            <p:nvPr/>
          </p:nvSpPr>
          <p:spPr>
            <a:xfrm>
              <a:off x="1061466" y="2896552"/>
              <a:ext cx="304264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 // next() çağrılmadı → zincir sürmedi</a:t>
              </a:r>
            </a:p>
          </p:txBody>
        </p:sp>
        <p:sp>
          <p:nvSpPr>
            <p:cNvPr id="20" name="TextBox 20"/>
            <p:cNvSpPr txBox="1"/>
            <p:nvPr/>
          </p:nvSpPr>
          <p:spPr>
            <a:xfrm>
              <a:off x="908304" y="3375660"/>
              <a:ext cx="29687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Çıktı: "zincir surdu mu: false" — route</a:t>
              </a:r>
              <a:br/>
              <a:r>
                <a:rPr lang="tr-TR" sz="1200" dirty="0">
                  <a:solidFill>
                    <a:srgbClr val="172B3A"/>
                  </a:solidFill>
                  <a:latin typeface="+mn-lt"/>
                  <a:ea typeface="+mn-ea"/>
                  <a:cs typeface="+mn-cs"/>
                </a:rPr>
                <a:t>işleyicisine hiç ulaşılmaz.</a:t>
              </a:r>
            </a:p>
          </p:txBody>
        </p:sp>
        <p:sp>
          <p:nvSpPr>
            <p:cNvPr id="21" name="TextBox 21"/>
            <p:cNvSpPr txBox="1"/>
            <p:nvPr/>
          </p:nvSpPr>
          <p:spPr>
            <a:xfrm>
              <a:off x="908304" y="3909060"/>
              <a:ext cx="111187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Mimari çözüm</a:t>
              </a:r>
            </a:p>
          </p:txBody>
        </p:sp>
        <p:sp>
          <p:nvSpPr>
            <p:cNvPr id="22" name="TextBox 22"/>
            <p:cNvSpPr txBox="1"/>
            <p:nvPr/>
          </p:nvSpPr>
          <p:spPr>
            <a:xfrm>
              <a:off x="908685" y="4145756"/>
              <a:ext cx="3012694"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Her kod dalında ya yanıt döndüğünden ya da</a:t>
              </a:r>
              <a:br/>
              <a:r>
                <a:rPr lang="tr-TR" sz="1120" dirty="0">
                  <a:solidFill>
                    <a:srgbClr val="172B3A"/>
                  </a:solidFill>
                  <a:latin typeface="+mn-lt"/>
                  <a:ea typeface="+mn-ea"/>
                  <a:cs typeface="+mn-cs"/>
                </a:rPr>
                <a:t>next() çağrıldığından emin olunmalıdır.</a:t>
              </a:r>
            </a:p>
          </p:txBody>
        </p:sp>
      </p:grpSp>
      <p:grpSp>
        <p:nvGrpSpPr>
          <p:cNvPr id="32" name="hata2"/>
          <p:cNvGrpSpPr/>
          <p:nvPr/>
        </p:nvGrpSpPr>
        <p:grpSpPr>
          <a:xfrm>
            <a:off x="6248400" y="1219200"/>
            <a:ext cx="5334000" cy="3200400"/>
            <a:chOff x="6248400" y="1219200"/>
            <a:chExt cx="5334000" cy="3200400"/>
          </a:xfrm>
        </p:grpSpPr>
        <p:sp>
          <p:nvSpPr>
            <p:cNvPr id="24" name="Rectangle 24"/>
            <p:cNvSpPr/>
            <p:nvPr/>
          </p:nvSpPr>
          <p:spPr>
            <a:xfrm>
              <a:off x="6248400" y="1219200"/>
              <a:ext cx="5334000" cy="3200400"/>
            </a:xfrm>
            <a:prstGeom prst="rect">
              <a:avLst/>
            </a:prstGeom>
            <a:solidFill>
              <a:srgbClr val="FFFFFF"/>
            </a:solidFill>
            <a:ln w="9525">
              <a:solidFill>
                <a:srgbClr val="B8CBD3"/>
              </a:solidFill>
            </a:ln>
          </p:spPr>
        </p:sp>
        <p:sp>
          <p:nvSpPr>
            <p:cNvPr id="25" name="Rectangle 25"/>
            <p:cNvSpPr/>
            <p:nvPr/>
          </p:nvSpPr>
          <p:spPr>
            <a:xfrm>
              <a:off x="6248400" y="1219200"/>
              <a:ext cx="57150" cy="3200400"/>
            </a:xfrm>
            <a:prstGeom prst="rect">
              <a:avLst/>
            </a:prstGeom>
            <a:solidFill>
              <a:srgbClr val="00A6A6"/>
            </a:solidFill>
            <a:ln>
              <a:noFill/>
            </a:ln>
          </p:spPr>
        </p:sp>
        <p:sp>
          <p:nvSpPr>
            <p:cNvPr id="26" name="TextBox 26"/>
            <p:cNvSpPr txBox="1"/>
            <p:nvPr/>
          </p:nvSpPr>
          <p:spPr>
            <a:xfrm>
              <a:off x="6545961" y="1332071"/>
              <a:ext cx="3454858"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2 · Yanıt sonrası next() çağırmak</a:t>
              </a:r>
            </a:p>
          </p:txBody>
        </p:sp>
        <p:sp>
          <p:nvSpPr>
            <p:cNvPr id="27" name="TextBox 27"/>
            <p:cNvSpPr txBox="1"/>
            <p:nvPr/>
          </p:nvSpPr>
          <p:spPr>
            <a:xfrm>
              <a:off x="6547104" y="1604010"/>
              <a:ext cx="36774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Response gönderildiyse işlem sonlandırılmalıdır;</a:t>
              </a:r>
              <a:br/>
              <a:r>
                <a:rPr lang="tr-TR" sz="1200" dirty="0">
                  <a:solidFill>
                    <a:srgbClr val="52616B"/>
                  </a:solidFill>
                  <a:latin typeface="+mn-lt"/>
                  <a:ea typeface="+mn-ea"/>
                  <a:cs typeface="+mn-cs"/>
                </a:rPr>
                <a:t>aksi hâlde "headers already sent" hatası</a:t>
              </a:r>
              <a:br/>
              <a:r>
                <a:rPr lang="tr-TR" sz="1200" dirty="0">
                  <a:solidFill>
                    <a:srgbClr val="52616B"/>
                  </a:solidFill>
                  <a:latin typeface="+mn-lt"/>
                  <a:ea typeface="+mn-ea"/>
                  <a:cs typeface="+mn-cs"/>
                </a:rPr>
                <a:t>oluşabilir.</a:t>
              </a:r>
            </a:p>
          </p:txBody>
        </p:sp>
        <p:sp>
          <p:nvSpPr>
            <p:cNvPr id="28" name="TextBox 28"/>
            <p:cNvSpPr txBox="1"/>
            <p:nvPr/>
          </p:nvSpPr>
          <p:spPr>
            <a:xfrm>
              <a:off x="6545961" y="2379821"/>
              <a:ext cx="3777948"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3 · express.json()'ı sonradan yazmak</a:t>
              </a:r>
            </a:p>
          </p:txBody>
        </p:sp>
        <p:sp>
          <p:nvSpPr>
            <p:cNvPr id="29" name="TextBox 29"/>
            <p:cNvSpPr txBox="1"/>
            <p:nvPr/>
          </p:nvSpPr>
          <p:spPr>
            <a:xfrm>
              <a:off x="6547104" y="2651760"/>
              <a:ext cx="37078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Middleware sıralı çalıştığı için body ayrıştırma</a:t>
              </a:r>
              <a:br/>
              <a:r>
                <a:rPr lang="tr-TR" sz="1200" dirty="0">
                  <a:solidFill>
                    <a:srgbClr val="52616B"/>
                  </a:solidFill>
                  <a:latin typeface="+mn-lt"/>
                  <a:ea typeface="+mn-ea"/>
                  <a:cs typeface="+mn-cs"/>
                </a:rPr>
                <a:t>beklenen zamanda yapılmaz; istek.body</a:t>
              </a:r>
              <a:br/>
              <a:r>
                <a:rPr lang="tr-TR" sz="1200" dirty="0">
                  <a:solidFill>
                    <a:srgbClr val="52616B"/>
                  </a:solidFill>
                  <a:latin typeface="+mn-lt"/>
                  <a:ea typeface="+mn-ea"/>
                  <a:cs typeface="+mn-cs"/>
                </a:rPr>
                <a:t>undefined kalır.</a:t>
              </a:r>
            </a:p>
          </p:txBody>
        </p:sp>
        <p:sp>
          <p:nvSpPr>
            <p:cNvPr id="30" name="TextBox 30"/>
            <p:cNvSpPr txBox="1"/>
            <p:nvPr/>
          </p:nvSpPr>
          <p:spPr>
            <a:xfrm>
              <a:off x="6545961" y="3427571"/>
              <a:ext cx="3640033"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4 · API anahtarını query'de taşımak</a:t>
              </a:r>
            </a:p>
          </p:txBody>
        </p:sp>
        <p:sp>
          <p:nvSpPr>
            <p:cNvPr id="31" name="TextBox 31"/>
            <p:cNvSpPr txBox="1"/>
            <p:nvPr/>
          </p:nvSpPr>
          <p:spPr>
            <a:xfrm>
              <a:off x="6547104" y="3699510"/>
              <a:ext cx="37231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URL'ler loglarda ve tarayıcı geçmişinde görünür.</a:t>
              </a:r>
              <a:br/>
              <a:r>
                <a:rPr lang="tr-TR" sz="1200" dirty="0">
                  <a:solidFill>
                    <a:srgbClr val="52616B"/>
                  </a:solidFill>
                  <a:latin typeface="+mn-lt"/>
                  <a:ea typeface="+mn-ea"/>
                  <a:cs typeface="+mn-cs"/>
                </a:rPr>
                <a:t>Hassas erişim bilgileri başlıklarda veya güvenli</a:t>
              </a:r>
              <a:br/>
              <a:r>
                <a:rPr lang="tr-TR" sz="1200" dirty="0">
                  <a:solidFill>
                    <a:srgbClr val="52616B"/>
                  </a:solidFill>
                  <a:latin typeface="+mn-lt"/>
                  <a:ea typeface="+mn-ea"/>
                  <a:cs typeface="+mn-cs"/>
                </a:rPr>
                <a:t>kimlik doğrulama mekanizmalarında taşınmalıdır.</a:t>
              </a:r>
            </a:p>
          </p:txBody>
        </p:sp>
      </p:grpSp>
      <p:grpSp>
        <p:nvGrpSpPr>
          <p:cNvPr id="38" name="ozet"/>
          <p:cNvGrpSpPr/>
          <p:nvPr/>
        </p:nvGrpSpPr>
        <p:grpSpPr>
          <a:xfrm>
            <a:off x="609600" y="4629150"/>
            <a:ext cx="10972800" cy="1085850"/>
            <a:chOff x="609600" y="4629150"/>
            <a:chExt cx="10972800" cy="1085850"/>
          </a:xfrm>
        </p:grpSpPr>
        <p:sp>
          <p:nvSpPr>
            <p:cNvPr id="33" name="Rectangle 33"/>
            <p:cNvSpPr/>
            <p:nvPr/>
          </p:nvSpPr>
          <p:spPr>
            <a:xfrm>
              <a:off x="609600" y="4629150"/>
              <a:ext cx="10972800" cy="1085850"/>
            </a:xfrm>
            <a:prstGeom prst="rect">
              <a:avLst/>
            </a:prstGeom>
            <a:solidFill>
              <a:srgbClr val="EAF4F6"/>
            </a:solidFill>
            <a:ln>
              <a:noFill/>
            </a:ln>
          </p:spPr>
        </p:sp>
        <p:sp>
          <p:nvSpPr>
            <p:cNvPr id="34" name="Rectangle 34"/>
            <p:cNvSpPr/>
            <p:nvPr/>
          </p:nvSpPr>
          <p:spPr>
            <a:xfrm>
              <a:off x="609600" y="4629150"/>
              <a:ext cx="10972800" cy="38100"/>
            </a:xfrm>
            <a:prstGeom prst="rect">
              <a:avLst/>
            </a:prstGeom>
            <a:gradFill>
              <a:gsLst>
                <a:gs pos="0">
                  <a:srgbClr val="00A6A6"/>
                </a:gs>
                <a:gs pos="100000">
                  <a:srgbClr val="2E86AB"/>
                </a:gs>
              </a:gsLst>
              <a:lin ang="0" scaled="1"/>
            </a:gradFill>
            <a:ln>
              <a:noFill/>
            </a:ln>
          </p:spPr>
        </p:sp>
        <p:sp>
          <p:nvSpPr>
            <p:cNvPr id="35" name="TextBox 35"/>
            <p:cNvSpPr txBox="1"/>
            <p:nvPr/>
          </p:nvSpPr>
          <p:spPr>
            <a:xfrm>
              <a:off x="907161" y="4761071"/>
              <a:ext cx="5593172"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Mimari çözüm: return res.status(...).json(...) kalıbı</a:t>
              </a:r>
            </a:p>
          </p:txBody>
        </p:sp>
        <p:sp>
          <p:nvSpPr>
            <p:cNvPr id="36" name="TextBox 36"/>
            <p:cNvSpPr txBox="1"/>
            <p:nvPr/>
          </p:nvSpPr>
          <p:spPr>
            <a:xfrm>
              <a:off x="908304" y="5052060"/>
              <a:ext cx="77634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Yanıt döndüren tüm satırlarda return kullanmak, aynı isteğe ikinci kez yanıt gönderilmesini önler</a:t>
              </a:r>
            </a:p>
          </p:txBody>
        </p:sp>
        <p:sp>
          <p:nvSpPr>
            <p:cNvPr id="37" name="TextBox 37"/>
            <p:cNvSpPr txBox="1"/>
            <p:nvPr/>
          </p:nvSpPr>
          <p:spPr>
            <a:xfrm>
              <a:off x="908304" y="5261610"/>
              <a:ext cx="50362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 middleware zincirinin ancak bir kez ilerlemesini garanti eder.</a:t>
              </a:r>
            </a:p>
          </p:txBody>
        </p:sp>
      </p:grpSp>
      <p:grpSp>
        <p:nvGrpSpPr>
          <p:cNvPr id="41" name="footer"/>
          <p:cNvGrpSpPr/>
          <p:nvPr/>
        </p:nvGrpSpPr>
        <p:grpSpPr>
          <a:xfrm>
            <a:off x="603504" y="6461760"/>
            <a:ext cx="10984992" cy="234696"/>
            <a:chOff x="603504" y="6461760"/>
            <a:chExt cx="10984992" cy="234696"/>
          </a:xfrm>
        </p:grpSpPr>
        <p:sp>
          <p:nvSpPr>
            <p:cNvPr id="39" name="TextBox 39"/>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0" name="TextBox 40"/>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602667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Request: params, query, body</a:t>
              </a:r>
            </a:p>
          </p:txBody>
        </p:sp>
      </p:grpSp>
      <p:grpSp>
        <p:nvGrpSpPr>
          <p:cNvPr id="7" name="lead"/>
          <p:cNvGrpSpPr/>
          <p:nvPr/>
        </p:nvGrpSpPr>
        <p:grpSpPr>
          <a:xfrm>
            <a:off x="601980" y="1247775"/>
            <a:ext cx="9942755" cy="293370"/>
            <a:chOff x="601980" y="1247775"/>
            <a:chExt cx="9942755" cy="293370"/>
          </a:xfrm>
        </p:grpSpPr>
        <p:sp>
          <p:nvSpPr>
            <p:cNvPr id="6" name="TextBox 6"/>
            <p:cNvSpPr txBox="1"/>
            <p:nvPr/>
          </p:nvSpPr>
          <p:spPr>
            <a:xfrm>
              <a:off x="601980" y="1247775"/>
              <a:ext cx="9942755"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mn-lt"/>
                  <a:ea typeface="+mn-ea"/>
                  <a:cs typeface="+mn-cs"/>
                </a:rPr>
                <a:t>Request, istemcinin gönderdiği HTTP mesajını temsil eder; farklı veriler farklı bölümlerde taşınır.</a:t>
              </a:r>
            </a:p>
          </p:txBody>
        </p:sp>
      </p:grpSp>
      <p:grpSp>
        <p:nvGrpSpPr>
          <p:cNvPr id="14" name="kart-params"/>
          <p:cNvGrpSpPr/>
          <p:nvPr/>
        </p:nvGrpSpPr>
        <p:grpSpPr>
          <a:xfrm>
            <a:off x="609600" y="1771650"/>
            <a:ext cx="3505200" cy="2095500"/>
            <a:chOff x="609600" y="1771650"/>
            <a:chExt cx="3505200" cy="2095500"/>
          </a:xfrm>
        </p:grpSpPr>
        <p:sp>
          <p:nvSpPr>
            <p:cNvPr id="8" name="Rectangle 8"/>
            <p:cNvSpPr/>
            <p:nvPr/>
          </p:nvSpPr>
          <p:spPr>
            <a:xfrm>
              <a:off x="609600" y="1771650"/>
              <a:ext cx="3505200" cy="2095500"/>
            </a:xfrm>
            <a:prstGeom prst="rect">
              <a:avLst/>
            </a:prstGeom>
            <a:solidFill>
              <a:srgbClr val="FFFFFF"/>
            </a:solidFill>
            <a:ln w="9525">
              <a:solidFill>
                <a:srgbClr val="00A6A6"/>
              </a:solidFill>
            </a:ln>
          </p:spPr>
        </p:sp>
        <p:sp>
          <p:nvSpPr>
            <p:cNvPr id="9" name="Rectangle 9"/>
            <p:cNvSpPr/>
            <p:nvPr/>
          </p:nvSpPr>
          <p:spPr>
            <a:xfrm>
              <a:off x="609600" y="1771650"/>
              <a:ext cx="3505200" cy="38100"/>
            </a:xfrm>
            <a:prstGeom prst="rect">
              <a:avLst/>
            </a:prstGeom>
            <a:solidFill>
              <a:srgbClr val="00A6A6"/>
            </a:solidFill>
            <a:ln>
              <a:noFill/>
            </a:ln>
          </p:spPr>
        </p:sp>
        <p:sp>
          <p:nvSpPr>
            <p:cNvPr id="10" name="TextBox 10"/>
            <p:cNvSpPr txBox="1"/>
            <p:nvPr/>
          </p:nvSpPr>
          <p:spPr>
            <a:xfrm>
              <a:off x="830961" y="1941671"/>
              <a:ext cx="1329184"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istek.params</a:t>
              </a:r>
            </a:p>
          </p:txBody>
        </p:sp>
        <p:sp>
          <p:nvSpPr>
            <p:cNvPr id="11" name="TextBox 11"/>
            <p:cNvSpPr txBox="1"/>
            <p:nvPr/>
          </p:nvSpPr>
          <p:spPr>
            <a:xfrm>
              <a:off x="832485" y="2221706"/>
              <a:ext cx="1924124" cy="220028"/>
            </a:xfrm>
            <a:prstGeom prst="rect">
              <a:avLst/>
            </a:prstGeom>
            <a:noFill/>
            <a:ln>
              <a:noFill/>
            </a:ln>
          </p:spPr>
          <p:txBody>
            <a:bodyPr wrap="none" lIns="0" tIns="0" rIns="0" bIns="0" anchor="t" anchorCtr="0">
              <a:spAutoFit/>
            </a:bodyPr>
            <a:lstStyle/>
            <a:p>
              <a:pPr algn="l"/>
              <a:r>
                <a:rPr lang="tr-TR" sz="1120" dirty="0">
                  <a:solidFill>
                    <a:srgbClr val="2E86AB"/>
                  </a:solidFill>
                  <a:latin typeface="Consolas"/>
                  <a:ea typeface="Consolas"/>
                  <a:cs typeface="Consolas"/>
                </a:rPr>
                <a:t>/kitaplar/:kitapKimligi</a:t>
              </a:r>
            </a:p>
          </p:txBody>
        </p:sp>
        <p:sp>
          <p:nvSpPr>
            <p:cNvPr id="12" name="TextBox 12"/>
            <p:cNvSpPr txBox="1"/>
            <p:nvPr/>
          </p:nvSpPr>
          <p:spPr>
            <a:xfrm>
              <a:off x="832485" y="2526506"/>
              <a:ext cx="2038350"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URL içindeki dinamik yol</a:t>
              </a:r>
              <a:br/>
              <a:r>
                <a:rPr lang="tr-TR" sz="1120" dirty="0">
                  <a:solidFill>
                    <a:srgbClr val="172B3A"/>
                  </a:solidFill>
                  <a:latin typeface="+mn-lt"/>
                  <a:ea typeface="+mn-ea"/>
                  <a:cs typeface="+mn-cs"/>
                </a:rPr>
                <a:t>parçalarını taşır; belirli bir</a:t>
              </a:r>
              <a:br/>
              <a:r>
                <a:rPr lang="tr-TR" sz="1120" dirty="0">
                  <a:solidFill>
                    <a:srgbClr val="172B3A"/>
                  </a:solidFill>
                  <a:latin typeface="+mn-lt"/>
                  <a:ea typeface="+mn-ea"/>
                  <a:cs typeface="+mn-cs"/>
                </a:rPr>
                <a:t>kaynağın kimliğidir.</a:t>
              </a:r>
            </a:p>
          </p:txBody>
        </p:sp>
        <p:sp>
          <p:nvSpPr>
            <p:cNvPr id="13" name="TextBox 13"/>
            <p:cNvSpPr txBox="1"/>
            <p:nvPr/>
          </p:nvSpPr>
          <p:spPr>
            <a:xfrm>
              <a:off x="832866" y="3372802"/>
              <a:ext cx="1804226"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52616B"/>
                  </a:solidFill>
                  <a:latin typeface="+mn-lt"/>
                  <a:ea typeface="+mn-ea"/>
                  <a:cs typeface="+mn-cs"/>
                </a:rPr>
                <a:t>Benzetme: kütüphanede raf</a:t>
              </a:r>
              <a:br/>
              <a:r>
                <a:rPr lang="tr-TR" sz="1050" dirty="0">
                  <a:solidFill>
                    <a:srgbClr val="52616B"/>
                  </a:solidFill>
                  <a:latin typeface="+mn-lt"/>
                  <a:ea typeface="+mn-ea"/>
                  <a:cs typeface="+mn-cs"/>
                </a:rPr>
                <a:t>numarası.</a:t>
              </a:r>
            </a:p>
          </p:txBody>
        </p:sp>
      </p:grpSp>
      <p:grpSp>
        <p:nvGrpSpPr>
          <p:cNvPr id="21" name="kart-query"/>
          <p:cNvGrpSpPr/>
          <p:nvPr/>
        </p:nvGrpSpPr>
        <p:grpSpPr>
          <a:xfrm>
            <a:off x="4343400" y="1771650"/>
            <a:ext cx="3505200" cy="2095500"/>
            <a:chOff x="4343400" y="1771650"/>
            <a:chExt cx="3505200" cy="2095500"/>
          </a:xfrm>
        </p:grpSpPr>
        <p:sp>
          <p:nvSpPr>
            <p:cNvPr id="15" name="Rectangle 15"/>
            <p:cNvSpPr/>
            <p:nvPr/>
          </p:nvSpPr>
          <p:spPr>
            <a:xfrm>
              <a:off x="4343400" y="1771650"/>
              <a:ext cx="3505200" cy="2095500"/>
            </a:xfrm>
            <a:prstGeom prst="rect">
              <a:avLst/>
            </a:prstGeom>
            <a:solidFill>
              <a:srgbClr val="FFFFFF"/>
            </a:solidFill>
            <a:ln w="9525">
              <a:solidFill>
                <a:srgbClr val="2E86AB"/>
              </a:solidFill>
            </a:ln>
          </p:spPr>
        </p:sp>
        <p:sp>
          <p:nvSpPr>
            <p:cNvPr id="16" name="Rectangle 16"/>
            <p:cNvSpPr/>
            <p:nvPr/>
          </p:nvSpPr>
          <p:spPr>
            <a:xfrm>
              <a:off x="4343400" y="1771650"/>
              <a:ext cx="3505200" cy="38100"/>
            </a:xfrm>
            <a:prstGeom prst="rect">
              <a:avLst/>
            </a:prstGeom>
            <a:solidFill>
              <a:srgbClr val="2E86AB"/>
            </a:solidFill>
            <a:ln>
              <a:noFill/>
            </a:ln>
          </p:spPr>
        </p:sp>
        <p:sp>
          <p:nvSpPr>
            <p:cNvPr id="17" name="TextBox 17"/>
            <p:cNvSpPr txBox="1"/>
            <p:nvPr/>
          </p:nvSpPr>
          <p:spPr>
            <a:xfrm>
              <a:off x="4564761" y="1941671"/>
              <a:ext cx="117864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istek.query</a:t>
              </a:r>
            </a:p>
          </p:txBody>
        </p:sp>
        <p:sp>
          <p:nvSpPr>
            <p:cNvPr id="18" name="TextBox 18"/>
            <p:cNvSpPr txBox="1"/>
            <p:nvPr/>
          </p:nvSpPr>
          <p:spPr>
            <a:xfrm>
              <a:off x="4566285" y="2221706"/>
              <a:ext cx="2007017" cy="220028"/>
            </a:xfrm>
            <a:prstGeom prst="rect">
              <a:avLst/>
            </a:prstGeom>
            <a:noFill/>
            <a:ln>
              <a:noFill/>
            </a:ln>
          </p:spPr>
          <p:txBody>
            <a:bodyPr wrap="none" lIns="0" tIns="0" rIns="0" bIns="0" anchor="t" anchorCtr="0">
              <a:spAutoFit/>
            </a:bodyPr>
            <a:lstStyle/>
            <a:p>
              <a:pPr algn="l"/>
              <a:r>
                <a:rPr lang="tr-TR" sz="1120" dirty="0">
                  <a:solidFill>
                    <a:srgbClr val="2E86AB"/>
                  </a:solidFill>
                  <a:latin typeface="Consolas"/>
                  <a:ea typeface="Consolas"/>
                  <a:cs typeface="Consolas"/>
                </a:rPr>
                <a:t>/kitaplar?kategori=Bilim</a:t>
              </a:r>
            </a:p>
          </p:txBody>
        </p:sp>
        <p:sp>
          <p:nvSpPr>
            <p:cNvPr id="19" name="TextBox 19"/>
            <p:cNvSpPr txBox="1"/>
            <p:nvPr/>
          </p:nvSpPr>
          <p:spPr>
            <a:xfrm>
              <a:off x="4566285" y="2526506"/>
              <a:ext cx="2173478"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URL'nin ? işaretinden sonraki</a:t>
              </a:r>
              <a:br/>
              <a:r>
                <a:rPr lang="tr-TR" sz="1120" dirty="0">
                  <a:solidFill>
                    <a:srgbClr val="172B3A"/>
                  </a:solidFill>
                  <a:latin typeface="+mn-lt"/>
                  <a:ea typeface="+mn-ea"/>
                  <a:cs typeface="+mn-cs"/>
                </a:rPr>
                <a:t>isteğe bağlı filtre, sıralama</a:t>
              </a:r>
              <a:br/>
              <a:r>
                <a:rPr lang="tr-TR" sz="1120" dirty="0">
                  <a:solidFill>
                    <a:srgbClr val="172B3A"/>
                  </a:solidFill>
                  <a:latin typeface="+mn-lt"/>
                  <a:ea typeface="+mn-ea"/>
                  <a:cs typeface="+mn-cs"/>
                </a:rPr>
                <a:t>ve sayfalama alanlarını taşır.</a:t>
              </a:r>
            </a:p>
          </p:txBody>
        </p:sp>
        <p:sp>
          <p:nvSpPr>
            <p:cNvPr id="20" name="TextBox 20"/>
            <p:cNvSpPr txBox="1"/>
            <p:nvPr/>
          </p:nvSpPr>
          <p:spPr>
            <a:xfrm>
              <a:off x="4566666" y="3372802"/>
              <a:ext cx="1930688"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Benzetme: katalog filtresi.</a:t>
              </a:r>
            </a:p>
          </p:txBody>
        </p:sp>
      </p:grpSp>
      <p:grpSp>
        <p:nvGrpSpPr>
          <p:cNvPr id="28" name="kart-body"/>
          <p:cNvGrpSpPr/>
          <p:nvPr/>
        </p:nvGrpSpPr>
        <p:grpSpPr>
          <a:xfrm>
            <a:off x="8077200" y="1771650"/>
            <a:ext cx="3505200" cy="2095500"/>
            <a:chOff x="8077200" y="1771650"/>
            <a:chExt cx="3505200" cy="2095500"/>
          </a:xfrm>
        </p:grpSpPr>
        <p:sp>
          <p:nvSpPr>
            <p:cNvPr id="22" name="Rectangle 22"/>
            <p:cNvSpPr/>
            <p:nvPr/>
          </p:nvSpPr>
          <p:spPr>
            <a:xfrm>
              <a:off x="8077200" y="1771650"/>
              <a:ext cx="3505200" cy="2095500"/>
            </a:xfrm>
            <a:prstGeom prst="rect">
              <a:avLst/>
            </a:prstGeom>
            <a:solidFill>
              <a:srgbClr val="FFFFFF"/>
            </a:solidFill>
            <a:ln w="9525">
              <a:solidFill>
                <a:srgbClr val="12355B"/>
              </a:solidFill>
            </a:ln>
          </p:spPr>
        </p:sp>
        <p:sp>
          <p:nvSpPr>
            <p:cNvPr id="23" name="Rectangle 23"/>
            <p:cNvSpPr/>
            <p:nvPr/>
          </p:nvSpPr>
          <p:spPr>
            <a:xfrm>
              <a:off x="8077200" y="1771650"/>
              <a:ext cx="3505200" cy="38100"/>
            </a:xfrm>
            <a:prstGeom prst="rect">
              <a:avLst/>
            </a:prstGeom>
            <a:solidFill>
              <a:srgbClr val="12355B"/>
            </a:solidFill>
            <a:ln>
              <a:noFill/>
            </a:ln>
          </p:spPr>
        </p:sp>
        <p:sp>
          <p:nvSpPr>
            <p:cNvPr id="24" name="TextBox 24"/>
            <p:cNvSpPr txBox="1"/>
            <p:nvPr/>
          </p:nvSpPr>
          <p:spPr>
            <a:xfrm>
              <a:off x="8298561" y="1941671"/>
              <a:ext cx="106825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istek.body</a:t>
              </a:r>
            </a:p>
          </p:txBody>
        </p:sp>
        <p:sp>
          <p:nvSpPr>
            <p:cNvPr id="25" name="TextBox 25"/>
            <p:cNvSpPr txBox="1"/>
            <p:nvPr/>
          </p:nvSpPr>
          <p:spPr>
            <a:xfrm>
              <a:off x="8300085" y="2221706"/>
              <a:ext cx="2033839" cy="220028"/>
            </a:xfrm>
            <a:prstGeom prst="rect">
              <a:avLst/>
            </a:prstGeom>
            <a:noFill/>
            <a:ln>
              <a:noFill/>
            </a:ln>
          </p:spPr>
          <p:txBody>
            <a:bodyPr wrap="none" lIns="0" tIns="0" rIns="0" bIns="0" anchor="t" anchorCtr="0">
              <a:spAutoFit/>
            </a:bodyPr>
            <a:lstStyle/>
            <a:p>
              <a:pPr algn="l"/>
              <a:r>
                <a:rPr lang="tr-TR" sz="1120" dirty="0">
                  <a:solidFill>
                    <a:srgbClr val="2E86AB"/>
                  </a:solidFill>
                  <a:latin typeface="Consolas"/>
                  <a:ea typeface="Consolas"/>
                  <a:cs typeface="Consolas"/>
                </a:rPr>
                <a:t>POST /kitaplar {"ad": …}</a:t>
              </a:r>
            </a:p>
          </p:txBody>
        </p:sp>
        <p:sp>
          <p:nvSpPr>
            <p:cNvPr id="26" name="TextBox 26"/>
            <p:cNvSpPr txBox="1"/>
            <p:nvPr/>
          </p:nvSpPr>
          <p:spPr>
            <a:xfrm>
              <a:off x="8300085" y="2526506"/>
              <a:ext cx="2301494"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POST/PATCH ile gönderilen</a:t>
              </a:r>
              <a:br/>
              <a:r>
                <a:rPr lang="tr-TR" sz="1120" dirty="0">
                  <a:solidFill>
                    <a:srgbClr val="172B3A"/>
                  </a:solidFill>
                  <a:latin typeface="+mn-lt"/>
                  <a:ea typeface="+mn-ea"/>
                  <a:cs typeface="+mn-cs"/>
                </a:rPr>
                <a:t>yapılandırılmış veriyi içerir;</a:t>
              </a:r>
              <a:br/>
              <a:r>
                <a:rPr lang="tr-TR" sz="1120" dirty="0">
                  <a:solidFill>
                    <a:srgbClr val="172B3A"/>
                  </a:solidFill>
                  <a:latin typeface="+mn-lt"/>
                  <a:ea typeface="+mn-ea"/>
                  <a:cs typeface="+mn-cs"/>
                </a:rPr>
                <a:t>express.json() ile ayrıştırılır.</a:t>
              </a:r>
            </a:p>
          </p:txBody>
        </p:sp>
        <p:sp>
          <p:nvSpPr>
            <p:cNvPr id="27" name="TextBox 27"/>
            <p:cNvSpPr txBox="1"/>
            <p:nvPr/>
          </p:nvSpPr>
          <p:spPr>
            <a:xfrm>
              <a:off x="8300466" y="3372802"/>
              <a:ext cx="242575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Benzetme: yeni kitap kayıt formu.</a:t>
              </a:r>
            </a:p>
          </p:txBody>
        </p:sp>
      </p:grpSp>
      <p:grpSp>
        <p:nvGrpSpPr>
          <p:cNvPr id="38" name="ne-zaman"/>
          <p:cNvGrpSpPr/>
          <p:nvPr/>
        </p:nvGrpSpPr>
        <p:grpSpPr>
          <a:xfrm>
            <a:off x="609600" y="4095750"/>
            <a:ext cx="10972800" cy="1447800"/>
            <a:chOff x="609600" y="4095750"/>
            <a:chExt cx="10972800" cy="1447800"/>
          </a:xfrm>
        </p:grpSpPr>
        <p:sp>
          <p:nvSpPr>
            <p:cNvPr id="29" name="Rectangle 29"/>
            <p:cNvSpPr/>
            <p:nvPr/>
          </p:nvSpPr>
          <p:spPr>
            <a:xfrm>
              <a:off x="609600" y="4095750"/>
              <a:ext cx="10972800" cy="1447800"/>
            </a:xfrm>
            <a:prstGeom prst="rect">
              <a:avLst/>
            </a:prstGeom>
            <a:solidFill>
              <a:srgbClr val="EAF4F6"/>
            </a:solidFill>
            <a:ln>
              <a:noFill/>
            </a:ln>
          </p:spPr>
        </p:sp>
        <p:sp>
          <p:nvSpPr>
            <p:cNvPr id="30" name="Rectangle 30"/>
            <p:cNvSpPr/>
            <p:nvPr/>
          </p:nvSpPr>
          <p:spPr>
            <a:xfrm>
              <a:off x="609600" y="4095750"/>
              <a:ext cx="10972800" cy="38100"/>
            </a:xfrm>
            <a:prstGeom prst="rect">
              <a:avLst/>
            </a:prstGeom>
            <a:gradFill>
              <a:gsLst>
                <a:gs pos="0">
                  <a:srgbClr val="00A6A6"/>
                </a:gs>
                <a:gs pos="100000">
                  <a:srgbClr val="2E86AB"/>
                </a:gs>
              </a:gsLst>
              <a:lin ang="0" scaled="1"/>
            </a:gradFill>
            <a:ln>
              <a:noFill/>
            </a:ln>
          </p:spPr>
        </p:sp>
        <p:sp>
          <p:nvSpPr>
            <p:cNvPr id="31" name="TextBox 31"/>
            <p:cNvSpPr txBox="1"/>
            <p:nvPr/>
          </p:nvSpPr>
          <p:spPr>
            <a:xfrm>
              <a:off x="907161" y="4227671"/>
              <a:ext cx="274062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Ne zaman tercih edilmelidir?</a:t>
              </a:r>
            </a:p>
          </p:txBody>
        </p:sp>
        <p:sp>
          <p:nvSpPr>
            <p:cNvPr id="32" name="Ellipse 32"/>
            <p:cNvSpPr/>
            <p:nvPr/>
          </p:nvSpPr>
          <p:spPr>
            <a:xfrm>
              <a:off x="990600" y="4572000"/>
              <a:ext cx="76200" cy="76200"/>
            </a:xfrm>
            <a:prstGeom prst="ellipse">
              <a:avLst/>
            </a:prstGeom>
            <a:solidFill>
              <a:srgbClr val="00A6A6"/>
            </a:solidFill>
            <a:ln>
              <a:noFill/>
            </a:ln>
          </p:spPr>
        </p:sp>
        <p:sp>
          <p:nvSpPr>
            <p:cNvPr id="33" name="TextBox 33"/>
            <p:cNvSpPr txBox="1"/>
            <p:nvPr/>
          </p:nvSpPr>
          <p:spPr>
            <a:xfrm>
              <a:off x="1175004" y="4537710"/>
              <a:ext cx="74101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Route parametresi: kaynağın kimliği URL'nin zorunlu ve temel parçasıysa (ör. /kitaplar/10).</a:t>
              </a:r>
            </a:p>
          </p:txBody>
        </p:sp>
        <p:sp>
          <p:nvSpPr>
            <p:cNvPr id="34" name="Ellipse 34"/>
            <p:cNvSpPr/>
            <p:nvPr/>
          </p:nvSpPr>
          <p:spPr>
            <a:xfrm>
              <a:off x="990600" y="4857750"/>
              <a:ext cx="76200" cy="76200"/>
            </a:xfrm>
            <a:prstGeom prst="ellipse">
              <a:avLst/>
            </a:prstGeom>
            <a:solidFill>
              <a:srgbClr val="2E86AB"/>
            </a:solidFill>
            <a:ln>
              <a:noFill/>
            </a:ln>
          </p:spPr>
        </p:sp>
        <p:sp>
          <p:nvSpPr>
            <p:cNvPr id="35" name="TextBox 35"/>
            <p:cNvSpPr txBox="1"/>
            <p:nvPr/>
          </p:nvSpPr>
          <p:spPr>
            <a:xfrm>
              <a:off x="1175004" y="4823460"/>
              <a:ext cx="69397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Query parametresi: filtre, sıralama, sayfa numarası gibi isteğe bağlı seçenekler için.</a:t>
              </a:r>
            </a:p>
          </p:txBody>
        </p:sp>
        <p:sp>
          <p:nvSpPr>
            <p:cNvPr id="36" name="Ellipse 36"/>
            <p:cNvSpPr/>
            <p:nvPr/>
          </p:nvSpPr>
          <p:spPr>
            <a:xfrm>
              <a:off x="990600" y="5143500"/>
              <a:ext cx="76200" cy="76200"/>
            </a:xfrm>
            <a:prstGeom prst="ellipse">
              <a:avLst/>
            </a:prstGeom>
            <a:solidFill>
              <a:srgbClr val="12355B"/>
            </a:solidFill>
            <a:ln>
              <a:noFill/>
            </a:ln>
          </p:spPr>
        </p:sp>
        <p:sp>
          <p:nvSpPr>
            <p:cNvPr id="37" name="TextBox 37"/>
            <p:cNvSpPr txBox="1"/>
            <p:nvPr/>
          </p:nvSpPr>
          <p:spPr>
            <a:xfrm>
              <a:off x="1175004" y="5109210"/>
              <a:ext cx="585742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Body: oluşturma/güncellemede çok alanlı, yapılandırılmış veri taşırken.</a:t>
              </a:r>
            </a:p>
          </p:txBody>
        </p:sp>
      </p:grpSp>
      <p:grpSp>
        <p:nvGrpSpPr>
          <p:cNvPr id="43" name="dikkat"/>
          <p:cNvGrpSpPr/>
          <p:nvPr/>
        </p:nvGrpSpPr>
        <p:grpSpPr>
          <a:xfrm>
            <a:off x="609600" y="5715000"/>
            <a:ext cx="10972800" cy="609600"/>
            <a:chOff x="609600" y="5715000"/>
            <a:chExt cx="10972800" cy="609600"/>
          </a:xfrm>
        </p:grpSpPr>
        <p:sp>
          <p:nvSpPr>
            <p:cNvPr id="39" name="Rectangle 39"/>
            <p:cNvSpPr/>
            <p:nvPr/>
          </p:nvSpPr>
          <p:spPr>
            <a:xfrm>
              <a:off x="609600" y="5715000"/>
              <a:ext cx="10972800" cy="609600"/>
            </a:xfrm>
            <a:prstGeom prst="rect">
              <a:avLst/>
            </a:prstGeom>
            <a:solidFill>
              <a:srgbClr val="FFFFFF"/>
            </a:solidFill>
            <a:ln w="9525">
              <a:solidFill>
                <a:srgbClr val="B8CBD3"/>
              </a:solidFill>
            </a:ln>
          </p:spPr>
        </p:sp>
        <p:sp>
          <p:nvSpPr>
            <p:cNvPr id="40" name="Rectangle 40"/>
            <p:cNvSpPr/>
            <p:nvPr/>
          </p:nvSpPr>
          <p:spPr>
            <a:xfrm>
              <a:off x="609600" y="5715000"/>
              <a:ext cx="57150" cy="609600"/>
            </a:xfrm>
            <a:prstGeom prst="rect">
              <a:avLst/>
            </a:prstGeom>
            <a:solidFill>
              <a:srgbClr val="52616B"/>
            </a:solidFill>
            <a:ln>
              <a:noFill/>
            </a:ln>
          </p:spPr>
        </p:sp>
        <p:sp>
          <p:nvSpPr>
            <p:cNvPr id="41" name="TextBox 41"/>
            <p:cNvSpPr txBox="1"/>
            <p:nvPr/>
          </p:nvSpPr>
          <p:spPr>
            <a:xfrm>
              <a:off x="907161" y="5827871"/>
              <a:ext cx="155787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 Güven sınırı</a:t>
              </a:r>
            </a:p>
          </p:txBody>
        </p:sp>
        <p:sp>
          <p:nvSpPr>
            <p:cNvPr id="42" name="TextBox 42"/>
            <p:cNvSpPr txBox="1"/>
            <p:nvPr/>
          </p:nvSpPr>
          <p:spPr>
            <a:xfrm>
              <a:off x="908304" y="6080760"/>
              <a:ext cx="1014630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İstemciden gelen hiçbir veri otomatik olarak doğru kabul edilmemeli; params, query ve body kullanılmadan önce doğrulanmalıdır.</a:t>
              </a:r>
            </a:p>
          </p:txBody>
        </p:sp>
      </p:grpSp>
      <p:grpSp>
        <p:nvGrpSpPr>
          <p:cNvPr id="46" name="footer"/>
          <p:cNvGrpSpPr/>
          <p:nvPr/>
        </p:nvGrpSpPr>
        <p:grpSpPr>
          <a:xfrm>
            <a:off x="603504" y="6461760"/>
            <a:ext cx="10984992" cy="234696"/>
            <a:chOff x="603504" y="6461760"/>
            <a:chExt cx="10984992" cy="234696"/>
          </a:xfrm>
        </p:grpSpPr>
        <p:sp>
          <p:nvSpPr>
            <p:cNvPr id="44" name="TextBox 44"/>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5" name="TextBox 45"/>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8"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01141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Query filtreleme ve body doğrulama</a:t>
              </a:r>
            </a:p>
          </p:txBody>
        </p:sp>
      </p:grpSp>
      <p:grpSp>
        <p:nvGrpSpPr>
          <p:cNvPr id="21" name="kod-query"/>
          <p:cNvGrpSpPr/>
          <p:nvPr/>
        </p:nvGrpSpPr>
        <p:grpSpPr>
          <a:xfrm>
            <a:off x="601599" y="1220629"/>
            <a:ext cx="5265801" cy="3049905"/>
            <a:chOff x="601599" y="1220629"/>
            <a:chExt cx="5265801" cy="3049905"/>
          </a:xfrm>
        </p:grpSpPr>
        <p:sp>
          <p:nvSpPr>
            <p:cNvPr id="9" name="TextBox 9"/>
            <p:cNvSpPr txBox="1"/>
            <p:nvPr/>
          </p:nvSpPr>
          <p:spPr>
            <a:xfrm>
              <a:off x="601599" y="1220629"/>
              <a:ext cx="39968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5.6 · Kategoriye göre filtreleme</a:t>
              </a:r>
            </a:p>
          </p:txBody>
        </p:sp>
        <p:sp>
          <p:nvSpPr>
            <p:cNvPr id="10" name="Rectangle 10"/>
            <p:cNvSpPr/>
            <p:nvPr/>
          </p:nvSpPr>
          <p:spPr>
            <a:xfrm>
              <a:off x="609600" y="1504950"/>
              <a:ext cx="5257800" cy="2000250"/>
            </a:xfrm>
            <a:prstGeom prst="rect">
              <a:avLst/>
            </a:prstGeom>
            <a:solidFill>
              <a:srgbClr val="12355B"/>
            </a:solidFill>
            <a:ln>
              <a:noFill/>
            </a:ln>
          </p:spPr>
        </p:sp>
        <p:sp>
          <p:nvSpPr>
            <p:cNvPr id="11" name="TextBox 11"/>
            <p:cNvSpPr txBox="1"/>
            <p:nvPr/>
          </p:nvSpPr>
          <p:spPr>
            <a:xfrm>
              <a:off x="832485" y="1631156"/>
              <a:ext cx="3660170"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const kategori = typeof istek.query.kategori</a:t>
              </a:r>
            </a:p>
          </p:txBody>
        </p:sp>
        <p:sp>
          <p:nvSpPr>
            <p:cNvPr id="12" name="TextBox 12"/>
            <p:cNvSpPr txBox="1"/>
            <p:nvPr/>
          </p:nvSpPr>
          <p:spPr>
            <a:xfrm>
              <a:off x="832485" y="1821656"/>
              <a:ext cx="291383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 "string" ? istek.query.kategori</a:t>
              </a:r>
            </a:p>
          </p:txBody>
        </p:sp>
        <p:sp>
          <p:nvSpPr>
            <p:cNvPr id="13" name="TextBox 13"/>
            <p:cNvSpPr txBox="1"/>
            <p:nvPr/>
          </p:nvSpPr>
          <p:spPr>
            <a:xfrm>
              <a:off x="832485" y="2012156"/>
              <a:ext cx="100654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 undefined;</a:t>
              </a:r>
            </a:p>
          </p:txBody>
        </p:sp>
        <p:sp>
          <p:nvSpPr>
            <p:cNvPr id="14" name="TextBox 14"/>
            <p:cNvSpPr txBox="1"/>
            <p:nvPr/>
          </p:nvSpPr>
          <p:spPr>
            <a:xfrm>
              <a:off x="832485" y="2278856"/>
              <a:ext cx="2084578"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const filtreli = kategori</a:t>
              </a:r>
            </a:p>
          </p:txBody>
        </p:sp>
        <p:sp>
          <p:nvSpPr>
            <p:cNvPr id="15" name="TextBox 15"/>
            <p:cNvSpPr txBox="1"/>
            <p:nvPr/>
          </p:nvSpPr>
          <p:spPr>
            <a:xfrm>
              <a:off x="832485" y="2469356"/>
              <a:ext cx="3085892"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kitapListesi.filter(k =&gt; k.kategori</a:t>
              </a:r>
            </a:p>
          </p:txBody>
        </p:sp>
        <p:sp>
          <p:nvSpPr>
            <p:cNvPr id="16" name="TextBox 16"/>
            <p:cNvSpPr txBox="1"/>
            <p:nvPr/>
          </p:nvSpPr>
          <p:spPr>
            <a:xfrm>
              <a:off x="832485" y="2659856"/>
              <a:ext cx="1089467"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kategori)</a:t>
              </a:r>
            </a:p>
          </p:txBody>
        </p:sp>
        <p:sp>
          <p:nvSpPr>
            <p:cNvPr id="17" name="TextBox 17"/>
            <p:cNvSpPr txBox="1"/>
            <p:nvPr/>
          </p:nvSpPr>
          <p:spPr>
            <a:xfrm>
              <a:off x="832485" y="2850356"/>
              <a:ext cx="1261186"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kitapListesi;</a:t>
              </a:r>
            </a:p>
          </p:txBody>
        </p:sp>
        <p:sp>
          <p:nvSpPr>
            <p:cNvPr id="18" name="TextBox 18"/>
            <p:cNvSpPr txBox="1"/>
            <p:nvPr/>
          </p:nvSpPr>
          <p:spPr>
            <a:xfrm>
              <a:off x="832866" y="3125152"/>
              <a:ext cx="288716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Consolas"/>
                  <a:ea typeface="Consolas"/>
                  <a:cs typeface="Consolas"/>
                </a:rPr>
                <a:t>// query her zaman string, dizi ya da</a:t>
              </a:r>
            </a:p>
          </p:txBody>
        </p:sp>
        <p:sp>
          <p:nvSpPr>
            <p:cNvPr id="19" name="TextBox 19"/>
            <p:cNvSpPr txBox="1"/>
            <p:nvPr/>
          </p:nvSpPr>
          <p:spPr>
            <a:xfrm>
              <a:off x="832866" y="3296602"/>
              <a:ext cx="164327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Consolas"/>
                  <a:ea typeface="Consolas"/>
                  <a:cs typeface="Consolas"/>
                </a:rPr>
                <a:t>// undefined olabilir</a:t>
              </a:r>
            </a:p>
          </p:txBody>
        </p:sp>
        <p:sp>
          <p:nvSpPr>
            <p:cNvPr id="20" name="TextBox 20"/>
            <p:cNvSpPr txBox="1"/>
            <p:nvPr/>
          </p:nvSpPr>
          <p:spPr>
            <a:xfrm>
              <a:off x="603885" y="3669506"/>
              <a:ext cx="3389630"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typeof kontrolü, query değerinin eksik veya dizi</a:t>
              </a:r>
              <a:br/>
              <a:r>
                <a:rPr lang="tr-TR" sz="1120" dirty="0">
                  <a:solidFill>
                    <a:srgbClr val="172B3A"/>
                  </a:solidFill>
                  <a:latin typeface="+mn-lt"/>
                  <a:ea typeface="+mn-ea"/>
                  <a:cs typeface="+mn-cs"/>
                </a:rPr>
                <a:t>olduğu durumlarda güvenli biçimde kullanılmasını</a:t>
              </a:r>
              <a:br/>
              <a:r>
                <a:rPr lang="tr-TR" sz="1120" dirty="0">
                  <a:solidFill>
                    <a:srgbClr val="172B3A"/>
                  </a:solidFill>
                  <a:latin typeface="+mn-lt"/>
                  <a:ea typeface="+mn-ea"/>
                  <a:cs typeface="+mn-cs"/>
                </a:rPr>
                <a:t>sağlar.</a:t>
              </a:r>
            </a:p>
          </p:txBody>
        </p:sp>
      </p:grpSp>
      <p:grpSp>
        <p:nvGrpSpPr>
          <p:cNvPr id="34" name="kod-body"/>
          <p:cNvGrpSpPr/>
          <p:nvPr/>
        </p:nvGrpSpPr>
        <p:grpSpPr>
          <a:xfrm>
            <a:off x="6240399" y="1220629"/>
            <a:ext cx="5342001" cy="3240405"/>
            <a:chOff x="6240399" y="1220629"/>
            <a:chExt cx="5342001" cy="3240405"/>
          </a:xfrm>
        </p:grpSpPr>
        <p:sp>
          <p:nvSpPr>
            <p:cNvPr id="22" name="TextBox 22"/>
            <p:cNvSpPr txBox="1"/>
            <p:nvPr/>
          </p:nvSpPr>
          <p:spPr>
            <a:xfrm>
              <a:off x="6240399" y="1220629"/>
              <a:ext cx="415604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5.7 · unknown alanlarla doğrulama</a:t>
              </a:r>
            </a:p>
          </p:txBody>
        </p:sp>
        <p:sp>
          <p:nvSpPr>
            <p:cNvPr id="23" name="Rectangle 23"/>
            <p:cNvSpPr/>
            <p:nvPr/>
          </p:nvSpPr>
          <p:spPr>
            <a:xfrm>
              <a:off x="6248400" y="1504950"/>
              <a:ext cx="5334000" cy="2000250"/>
            </a:xfrm>
            <a:prstGeom prst="rect">
              <a:avLst/>
            </a:prstGeom>
            <a:solidFill>
              <a:srgbClr val="12355B"/>
            </a:solidFill>
            <a:ln>
              <a:noFill/>
            </a:ln>
          </p:spPr>
        </p:sp>
        <p:sp>
          <p:nvSpPr>
            <p:cNvPr id="24" name="TextBox 24"/>
            <p:cNvSpPr txBox="1"/>
            <p:nvPr/>
          </p:nvSpPr>
          <p:spPr>
            <a:xfrm>
              <a:off x="6471285" y="1631156"/>
              <a:ext cx="176382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interface YeniKitap {</a:t>
              </a:r>
            </a:p>
          </p:txBody>
        </p:sp>
        <p:sp>
          <p:nvSpPr>
            <p:cNvPr id="25" name="TextBox 25"/>
            <p:cNvSpPr txBox="1"/>
            <p:nvPr/>
          </p:nvSpPr>
          <p:spPr>
            <a:xfrm>
              <a:off x="6471285" y="1821656"/>
              <a:ext cx="249920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ad?: unknown; yazar?: unknown;</a:t>
              </a:r>
            </a:p>
          </p:txBody>
        </p:sp>
        <p:sp>
          <p:nvSpPr>
            <p:cNvPr id="26" name="TextBox 26"/>
            <p:cNvSpPr txBox="1"/>
            <p:nvPr/>
          </p:nvSpPr>
          <p:spPr>
            <a:xfrm>
              <a:off x="6471285" y="2012156"/>
              <a:ext cx="9435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a:t>
              </a:r>
            </a:p>
          </p:txBody>
        </p:sp>
        <p:sp>
          <p:nvSpPr>
            <p:cNvPr id="27" name="TextBox 27"/>
            <p:cNvSpPr txBox="1"/>
            <p:nvPr/>
          </p:nvSpPr>
          <p:spPr>
            <a:xfrm>
              <a:off x="6471285" y="2278856"/>
              <a:ext cx="3245541"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if (typeof veri.ad !== "string" || …) {</a:t>
              </a:r>
            </a:p>
          </p:txBody>
        </p:sp>
        <p:sp>
          <p:nvSpPr>
            <p:cNvPr id="28" name="TextBox 28"/>
            <p:cNvSpPr txBox="1"/>
            <p:nvPr/>
          </p:nvSpPr>
          <p:spPr>
            <a:xfrm>
              <a:off x="6471285" y="2469356"/>
              <a:ext cx="3245541"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yanit.status(400).json({ mesaj: "…" });</a:t>
              </a:r>
            </a:p>
          </p:txBody>
        </p:sp>
        <p:sp>
          <p:nvSpPr>
            <p:cNvPr id="29" name="TextBox 29"/>
            <p:cNvSpPr txBox="1"/>
            <p:nvPr/>
          </p:nvSpPr>
          <p:spPr>
            <a:xfrm>
              <a:off x="6471285" y="2659856"/>
              <a:ext cx="591911"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return;</a:t>
              </a:r>
            </a:p>
          </p:txBody>
        </p:sp>
        <p:sp>
          <p:nvSpPr>
            <p:cNvPr id="30" name="TextBox 30"/>
            <p:cNvSpPr txBox="1"/>
            <p:nvPr/>
          </p:nvSpPr>
          <p:spPr>
            <a:xfrm>
              <a:off x="6471285" y="2850356"/>
              <a:ext cx="94356"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t>
              </a:r>
            </a:p>
          </p:txBody>
        </p:sp>
        <p:sp>
          <p:nvSpPr>
            <p:cNvPr id="31" name="TextBox 31"/>
            <p:cNvSpPr txBox="1"/>
            <p:nvPr/>
          </p:nvSpPr>
          <p:spPr>
            <a:xfrm>
              <a:off x="6471666" y="3125152"/>
              <a:ext cx="305824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Consolas"/>
                  <a:ea typeface="Consolas"/>
                  <a:cs typeface="Consolas"/>
                </a:rPr>
                <a:t>// Kontrolden sonra TypeScript alanları</a:t>
              </a:r>
            </a:p>
          </p:txBody>
        </p:sp>
        <p:sp>
          <p:nvSpPr>
            <p:cNvPr id="32" name="TextBox 32"/>
            <p:cNvSpPr txBox="1"/>
            <p:nvPr/>
          </p:nvSpPr>
          <p:spPr>
            <a:xfrm>
              <a:off x="6471666" y="3296602"/>
              <a:ext cx="195424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Consolas"/>
                  <a:ea typeface="Consolas"/>
                  <a:cs typeface="Consolas"/>
                </a:rPr>
                <a:t>// string olarak daraltır</a:t>
              </a:r>
            </a:p>
          </p:txBody>
        </p:sp>
        <p:sp>
          <p:nvSpPr>
            <p:cNvPr id="33" name="TextBox 33"/>
            <p:cNvSpPr txBox="1"/>
            <p:nvPr/>
          </p:nvSpPr>
          <p:spPr>
            <a:xfrm>
              <a:off x="6242685" y="3669506"/>
              <a:ext cx="3176270" cy="791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Alanları önce unknown kabul etmek bilinçli bir</a:t>
              </a:r>
              <a:br/>
              <a:r>
                <a:rPr lang="tr-TR" sz="1120" dirty="0">
                  <a:solidFill>
                    <a:srgbClr val="172B3A"/>
                  </a:solidFill>
                  <a:latin typeface="+mn-lt"/>
                  <a:ea typeface="+mn-ea"/>
                  <a:cs typeface="+mn-cs"/>
                </a:rPr>
                <a:t>güvenlik tercihidir: istemcinin "bu metindir"</a:t>
              </a:r>
              <a:br/>
              <a:r>
                <a:rPr lang="tr-TR" sz="1120" dirty="0">
                  <a:solidFill>
                    <a:srgbClr val="172B3A"/>
                  </a:solidFill>
                  <a:latin typeface="+mn-lt"/>
                  <a:ea typeface="+mn-ea"/>
                  <a:cs typeface="+mn-cs"/>
                </a:rPr>
                <a:t>demesi, sunucunun doğrulamadan kabul etmesi</a:t>
              </a:r>
              <a:br/>
              <a:r>
                <a:rPr lang="tr-TR" sz="1120" dirty="0">
                  <a:solidFill>
                    <a:srgbClr val="172B3A"/>
                  </a:solidFill>
                  <a:latin typeface="+mn-lt"/>
                  <a:ea typeface="+mn-ea"/>
                  <a:cs typeface="+mn-cs"/>
                </a:rPr>
                <a:t>için yeterli değildir.</a:t>
              </a:r>
            </a:p>
          </p:txBody>
        </p:sp>
      </p:grpSp>
      <p:grpSp>
        <p:nvGrpSpPr>
          <p:cNvPr id="40" name="neden"/>
          <p:cNvGrpSpPr/>
          <p:nvPr/>
        </p:nvGrpSpPr>
        <p:grpSpPr>
          <a:xfrm>
            <a:off x="609600" y="4572000"/>
            <a:ext cx="10972800" cy="1123950"/>
            <a:chOff x="609600" y="4572000"/>
            <a:chExt cx="10972800" cy="1123950"/>
          </a:xfrm>
        </p:grpSpPr>
        <p:sp>
          <p:nvSpPr>
            <p:cNvPr id="35" name="Rectangle 35"/>
            <p:cNvSpPr/>
            <p:nvPr/>
          </p:nvSpPr>
          <p:spPr>
            <a:xfrm>
              <a:off x="609600" y="4572000"/>
              <a:ext cx="10972800" cy="1123950"/>
            </a:xfrm>
            <a:prstGeom prst="rect">
              <a:avLst/>
            </a:prstGeom>
            <a:solidFill>
              <a:srgbClr val="EAF4F6"/>
            </a:solidFill>
            <a:ln>
              <a:noFill/>
            </a:ln>
          </p:spPr>
        </p:sp>
        <p:sp>
          <p:nvSpPr>
            <p:cNvPr id="36" name="TextBox 36"/>
            <p:cNvSpPr txBox="1"/>
            <p:nvPr/>
          </p:nvSpPr>
          <p:spPr>
            <a:xfrm>
              <a:off x="907161" y="4703921"/>
              <a:ext cx="3553788"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Neden runtime doğrulaması gerekir?</a:t>
              </a:r>
            </a:p>
          </p:txBody>
        </p:sp>
        <p:sp>
          <p:nvSpPr>
            <p:cNvPr id="37" name="TextBox 37"/>
            <p:cNvSpPr txBox="1"/>
            <p:nvPr/>
          </p:nvSpPr>
          <p:spPr>
            <a:xfrm>
              <a:off x="908304" y="4975860"/>
              <a:ext cx="88670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TypeScript türleri yalnızca derleme zamanında geçerlidir; ağ üzerinden gelen veri çalışma zamanında bilinmeyen</a:t>
              </a:r>
            </a:p>
          </p:txBody>
        </p:sp>
        <p:sp>
          <p:nvSpPr>
            <p:cNvPr id="38" name="TextBox 38"/>
            <p:cNvSpPr txBox="1"/>
            <p:nvPr/>
          </p:nvSpPr>
          <p:spPr>
            <a:xfrm>
              <a:off x="908304" y="5185410"/>
              <a:ext cx="65925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yapıdadır. Hem tür tanımı hem de çalışma zamanı doğrulaması birlikte gereklidir.</a:t>
              </a:r>
            </a:p>
          </p:txBody>
        </p:sp>
        <p:sp>
          <p:nvSpPr>
            <p:cNvPr id="39" name="TextBox 39"/>
            <p:cNvSpPr txBox="1"/>
            <p:nvPr/>
          </p:nvSpPr>
          <p:spPr>
            <a:xfrm>
              <a:off x="908304" y="5433060"/>
              <a:ext cx="822384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Doğrulanmamış veriyi doğrudan veri kaynağına eklemek, istenmeyen alanların saklanmasına yol açabilir.</a:t>
              </a:r>
            </a:p>
          </p:txBody>
        </p:sp>
      </p:grpSp>
      <p:grpSp>
        <p:nvGrpSpPr>
          <p:cNvPr id="43" name="footer"/>
          <p:cNvGrpSpPr/>
          <p:nvPr/>
        </p:nvGrpSpPr>
        <p:grpSpPr>
          <a:xfrm>
            <a:off x="603504" y="6461760"/>
            <a:ext cx="10984992" cy="234696"/>
            <a:chOff x="603504" y="6461760"/>
            <a:chExt cx="10984992" cy="234696"/>
          </a:xfrm>
        </p:grpSpPr>
        <p:sp>
          <p:nvSpPr>
            <p:cNvPr id="41" name="TextBox 41"/>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2" name="TextBox 42"/>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664859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Veri kaynakları ve yaygın hatalar</a:t>
              </a:r>
            </a:p>
          </p:txBody>
        </p:sp>
      </p:grpSp>
      <p:grpSp>
        <p:nvGrpSpPr>
          <p:cNvPr id="37" name="tablo"/>
          <p:cNvGrpSpPr/>
          <p:nvPr/>
        </p:nvGrpSpPr>
        <p:grpSpPr>
          <a:xfrm>
            <a:off x="609600" y="1219200"/>
            <a:ext cx="10972800" cy="1781556"/>
            <a:chOff x="609600" y="1219200"/>
            <a:chExt cx="10972800" cy="1781556"/>
          </a:xfrm>
        </p:grpSpPr>
        <p:sp>
          <p:nvSpPr>
            <p:cNvPr id="12" name="Rectangle 12"/>
            <p:cNvSpPr/>
            <p:nvPr/>
          </p:nvSpPr>
          <p:spPr>
            <a:xfrm>
              <a:off x="609600" y="1219200"/>
              <a:ext cx="10972800" cy="304800"/>
            </a:xfrm>
            <a:prstGeom prst="rect">
              <a:avLst/>
            </a:prstGeom>
            <a:solidFill>
              <a:srgbClr val="EAF4F6"/>
            </a:solidFill>
            <a:ln>
              <a:noFill/>
            </a:ln>
          </p:spPr>
        </p:sp>
        <p:sp>
          <p:nvSpPr>
            <p:cNvPr id="13" name="TextBox 13"/>
            <p:cNvSpPr txBox="1"/>
            <p:nvPr/>
          </p:nvSpPr>
          <p:spPr>
            <a:xfrm>
              <a:off x="717804" y="1299210"/>
              <a:ext cx="57722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Kaynak</a:t>
              </a:r>
            </a:p>
          </p:txBody>
        </p:sp>
        <p:sp>
          <p:nvSpPr>
            <p:cNvPr id="14" name="TextBox 14"/>
            <p:cNvSpPr txBox="1"/>
            <p:nvPr/>
          </p:nvSpPr>
          <p:spPr>
            <a:xfrm>
              <a:off x="2432304" y="1299210"/>
              <a:ext cx="48393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Örnek</a:t>
              </a:r>
            </a:p>
          </p:txBody>
        </p:sp>
        <p:sp>
          <p:nvSpPr>
            <p:cNvPr id="15" name="TextBox 15"/>
            <p:cNvSpPr txBox="1"/>
            <p:nvPr/>
          </p:nvSpPr>
          <p:spPr>
            <a:xfrm>
              <a:off x="4623054" y="1299210"/>
              <a:ext cx="42504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Amaç</a:t>
              </a:r>
            </a:p>
          </p:txBody>
        </p:sp>
        <p:sp>
          <p:nvSpPr>
            <p:cNvPr id="16" name="TextBox 16"/>
            <p:cNvSpPr txBox="1"/>
            <p:nvPr/>
          </p:nvSpPr>
          <p:spPr>
            <a:xfrm>
              <a:off x="7480554" y="1299210"/>
              <a:ext cx="53441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a:t>
              </a:r>
            </a:p>
          </p:txBody>
        </p:sp>
        <p:sp>
          <p:nvSpPr>
            <p:cNvPr id="17" name="Line 17"/>
            <p:cNvSpPr/>
            <p:nvPr/>
          </p:nvSpPr>
          <p:spPr>
            <a:xfrm>
              <a:off x="609600" y="1524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18" name="TextBox 18"/>
            <p:cNvSpPr txBox="1"/>
            <p:nvPr/>
          </p:nvSpPr>
          <p:spPr>
            <a:xfrm>
              <a:off x="717804" y="1623060"/>
              <a:ext cx="5775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params</a:t>
              </a:r>
            </a:p>
          </p:txBody>
        </p:sp>
        <p:sp>
          <p:nvSpPr>
            <p:cNvPr id="19" name="TextBox 19"/>
            <p:cNvSpPr txBox="1"/>
            <p:nvPr/>
          </p:nvSpPr>
          <p:spPr>
            <a:xfrm>
              <a:off x="2432685" y="1631156"/>
              <a:ext cx="92361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/kitaplar/5</a:t>
              </a:r>
            </a:p>
          </p:txBody>
        </p:sp>
        <p:sp>
          <p:nvSpPr>
            <p:cNvPr id="20" name="TextBox 20"/>
            <p:cNvSpPr txBox="1"/>
            <p:nvPr/>
          </p:nvSpPr>
          <p:spPr>
            <a:xfrm>
              <a:off x="4623054" y="1623060"/>
              <a:ext cx="15030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Tekil kaynak kimliği</a:t>
              </a:r>
            </a:p>
          </p:txBody>
        </p:sp>
        <p:sp>
          <p:nvSpPr>
            <p:cNvPr id="21" name="TextBox 21"/>
            <p:cNvSpPr txBox="1"/>
            <p:nvPr/>
          </p:nvSpPr>
          <p:spPr>
            <a:xfrm>
              <a:off x="7480554" y="1623060"/>
              <a:ext cx="22548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Değer her zaman string gelir</a:t>
              </a:r>
            </a:p>
          </p:txBody>
        </p:sp>
        <p:sp>
          <p:nvSpPr>
            <p:cNvPr id="22" name="Line 22"/>
            <p:cNvSpPr/>
            <p:nvPr/>
          </p:nvSpPr>
          <p:spPr>
            <a:xfrm>
              <a:off x="609600" y="1905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3" name="TextBox 23"/>
            <p:cNvSpPr txBox="1"/>
            <p:nvPr/>
          </p:nvSpPr>
          <p:spPr>
            <a:xfrm>
              <a:off x="717804" y="200406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query</a:t>
              </a:r>
            </a:p>
          </p:txBody>
        </p:sp>
        <p:sp>
          <p:nvSpPr>
            <p:cNvPr id="24" name="TextBox 24"/>
            <p:cNvSpPr txBox="1"/>
            <p:nvPr/>
          </p:nvSpPr>
          <p:spPr>
            <a:xfrm>
              <a:off x="2432685" y="2012156"/>
              <a:ext cx="126073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?kategori=Bilim</a:t>
              </a:r>
            </a:p>
          </p:txBody>
        </p:sp>
        <p:sp>
          <p:nvSpPr>
            <p:cNvPr id="25" name="TextBox 25"/>
            <p:cNvSpPr txBox="1"/>
            <p:nvPr/>
          </p:nvSpPr>
          <p:spPr>
            <a:xfrm>
              <a:off x="4623054" y="2004060"/>
              <a:ext cx="18023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Filtreleme, seçenekler</a:t>
              </a:r>
            </a:p>
          </p:txBody>
        </p:sp>
        <p:sp>
          <p:nvSpPr>
            <p:cNvPr id="26" name="TextBox 26"/>
            <p:cNvSpPr txBox="1"/>
            <p:nvPr/>
          </p:nvSpPr>
          <p:spPr>
            <a:xfrm>
              <a:off x="7480554" y="2004060"/>
              <a:ext cx="17453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Eksik veya dizi olabilir</a:t>
              </a:r>
            </a:p>
          </p:txBody>
        </p:sp>
        <p:sp>
          <p:nvSpPr>
            <p:cNvPr id="27" name="Line 27"/>
            <p:cNvSpPr/>
            <p:nvPr/>
          </p:nvSpPr>
          <p:spPr>
            <a:xfrm>
              <a:off x="609600" y="2286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8" name="TextBox 28"/>
            <p:cNvSpPr txBox="1"/>
            <p:nvPr/>
          </p:nvSpPr>
          <p:spPr>
            <a:xfrm>
              <a:off x="717804" y="2385060"/>
              <a:ext cx="3675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body</a:t>
              </a:r>
            </a:p>
          </p:txBody>
        </p:sp>
        <p:sp>
          <p:nvSpPr>
            <p:cNvPr id="29" name="TextBox 29"/>
            <p:cNvSpPr txBox="1"/>
            <p:nvPr/>
          </p:nvSpPr>
          <p:spPr>
            <a:xfrm>
              <a:off x="2432685" y="2393156"/>
              <a:ext cx="109963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{"ad":"Java"}</a:t>
              </a:r>
            </a:p>
          </p:txBody>
        </p:sp>
        <p:sp>
          <p:nvSpPr>
            <p:cNvPr id="30" name="TextBox 30"/>
            <p:cNvSpPr txBox="1"/>
            <p:nvPr/>
          </p:nvSpPr>
          <p:spPr>
            <a:xfrm>
              <a:off x="4623054" y="2385060"/>
              <a:ext cx="18187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Oluşturma, güncelleme</a:t>
              </a:r>
            </a:p>
          </p:txBody>
        </p:sp>
        <p:sp>
          <p:nvSpPr>
            <p:cNvPr id="31" name="TextBox 31"/>
            <p:cNvSpPr txBox="1"/>
            <p:nvPr/>
          </p:nvSpPr>
          <p:spPr>
            <a:xfrm>
              <a:off x="7480554" y="2385060"/>
              <a:ext cx="258593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Middleware ve doğrulama gerekir</a:t>
              </a:r>
            </a:p>
          </p:txBody>
        </p:sp>
        <p:sp>
          <p:nvSpPr>
            <p:cNvPr id="32" name="Line 32"/>
            <p:cNvSpPr/>
            <p:nvPr/>
          </p:nvSpPr>
          <p:spPr>
            <a:xfrm>
              <a:off x="609600" y="2667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3" name="TextBox 33"/>
            <p:cNvSpPr txBox="1"/>
            <p:nvPr/>
          </p:nvSpPr>
          <p:spPr>
            <a:xfrm>
              <a:off x="717804" y="2766060"/>
              <a:ext cx="6341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headers</a:t>
              </a:r>
            </a:p>
          </p:txBody>
        </p:sp>
        <p:sp>
          <p:nvSpPr>
            <p:cNvPr id="34" name="TextBox 34"/>
            <p:cNvSpPr txBox="1"/>
            <p:nvPr/>
          </p:nvSpPr>
          <p:spPr>
            <a:xfrm>
              <a:off x="2432685" y="2774156"/>
              <a:ext cx="117239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x-api-anahtari</a:t>
              </a:r>
            </a:p>
          </p:txBody>
        </p:sp>
        <p:sp>
          <p:nvSpPr>
            <p:cNvPr id="35" name="TextBox 35"/>
            <p:cNvSpPr txBox="1"/>
            <p:nvPr/>
          </p:nvSpPr>
          <p:spPr>
            <a:xfrm>
              <a:off x="4623054" y="2766060"/>
              <a:ext cx="184307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Teknik metadata, yetki</a:t>
              </a:r>
            </a:p>
          </p:txBody>
        </p:sp>
        <p:sp>
          <p:nvSpPr>
            <p:cNvPr id="36" name="TextBox 36"/>
            <p:cNvSpPr txBox="1"/>
            <p:nvPr/>
          </p:nvSpPr>
          <p:spPr>
            <a:xfrm>
              <a:off x="7480554" y="2766060"/>
              <a:ext cx="21979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Hassas veriler loglanmamalı</a:t>
              </a:r>
            </a:p>
          </p:txBody>
        </p:sp>
      </p:grpSp>
      <p:grpSp>
        <p:nvGrpSpPr>
          <p:cNvPr id="44" name="hata1"/>
          <p:cNvGrpSpPr/>
          <p:nvPr/>
        </p:nvGrpSpPr>
        <p:grpSpPr>
          <a:xfrm>
            <a:off x="609600" y="3238500"/>
            <a:ext cx="5257800" cy="2438400"/>
            <a:chOff x="609600" y="3238500"/>
            <a:chExt cx="5257800" cy="2438400"/>
          </a:xfrm>
        </p:grpSpPr>
        <p:sp>
          <p:nvSpPr>
            <p:cNvPr id="38" name="Rectangle 38"/>
            <p:cNvSpPr/>
            <p:nvPr/>
          </p:nvSpPr>
          <p:spPr>
            <a:xfrm>
              <a:off x="609600" y="3238500"/>
              <a:ext cx="5257800" cy="2438400"/>
            </a:xfrm>
            <a:prstGeom prst="rect">
              <a:avLst/>
            </a:prstGeom>
            <a:solidFill>
              <a:srgbClr val="FFFFFF"/>
            </a:solidFill>
            <a:ln w="9525">
              <a:solidFill>
                <a:srgbClr val="B8CBD3"/>
              </a:solidFill>
            </a:ln>
          </p:spPr>
        </p:sp>
        <p:sp>
          <p:nvSpPr>
            <p:cNvPr id="39" name="Rectangle 39"/>
            <p:cNvSpPr/>
            <p:nvPr/>
          </p:nvSpPr>
          <p:spPr>
            <a:xfrm>
              <a:off x="609600" y="3238500"/>
              <a:ext cx="57150" cy="2438400"/>
            </a:xfrm>
            <a:prstGeom prst="rect">
              <a:avLst/>
            </a:prstGeom>
            <a:solidFill>
              <a:srgbClr val="12355B"/>
            </a:solidFill>
            <a:ln>
              <a:noFill/>
            </a:ln>
          </p:spPr>
        </p:sp>
        <p:sp>
          <p:nvSpPr>
            <p:cNvPr id="40" name="TextBox 40"/>
            <p:cNvSpPr txBox="1"/>
            <p:nvPr/>
          </p:nvSpPr>
          <p:spPr>
            <a:xfrm>
              <a:off x="907542" y="3359468"/>
              <a:ext cx="226039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1 · NaN kontrolü atlanır</a:t>
              </a:r>
            </a:p>
          </p:txBody>
        </p:sp>
        <p:sp>
          <p:nvSpPr>
            <p:cNvPr id="41" name="TextBox 41"/>
            <p:cNvSpPr txBox="1"/>
            <p:nvPr/>
          </p:nvSpPr>
          <p:spPr>
            <a:xfrm>
              <a:off x="908685" y="3631406"/>
              <a:ext cx="3133598"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52616B"/>
                  </a:solidFill>
                  <a:latin typeface="+mn-lt"/>
                  <a:ea typeface="+mn-ea"/>
                  <a:cs typeface="+mn-cs"/>
                </a:rPr>
                <a:t>Akış hatası: türler doğru olduğu için</a:t>
              </a:r>
              <a:br/>
              <a:r>
                <a:rPr lang="tr-TR" sz="1120" dirty="0">
                  <a:solidFill>
                    <a:srgbClr val="52616B"/>
                  </a:solidFill>
                  <a:latin typeface="+mn-lt"/>
                  <a:ea typeface="+mn-ea"/>
                  <a:cs typeface="+mn-cs"/>
                </a:rPr>
                <a:t>derleyici uyarmaz; hata yalnızca geçersiz</a:t>
              </a:r>
              <a:br/>
              <a:r>
                <a:rPr lang="tr-TR" sz="1120" dirty="0">
                  <a:solidFill>
                    <a:srgbClr val="52616B"/>
                  </a:solidFill>
                  <a:latin typeface="+mn-lt"/>
                  <a:ea typeface="+mn-ea"/>
                  <a:cs typeface="+mn-cs"/>
                </a:rPr>
                <a:t>kimlik gönderildiğinde sessizce ortaya çıkar.</a:t>
              </a:r>
            </a:p>
          </p:txBody>
        </p:sp>
        <p:sp>
          <p:nvSpPr>
            <p:cNvPr id="42" name="TextBox 42"/>
            <p:cNvSpPr txBox="1"/>
            <p:nvPr/>
          </p:nvSpPr>
          <p:spPr>
            <a:xfrm>
              <a:off x="909066" y="4382452"/>
              <a:ext cx="2797683" cy="548259"/>
            </a:xfrm>
            <a:prstGeom prst="rect">
              <a:avLst/>
            </a:prstGeom>
            <a:noFill/>
            <a:ln>
              <a:noFill/>
            </a:ln>
          </p:spPr>
          <p:txBody>
            <a:bodyPr wrap="none" lIns="0" tIns="0" rIns="0" bIns="0" anchor="t" anchorCtr="0">
              <a:spAutoFit/>
            </a:bodyPr>
            <a:lstStyle/>
            <a:p>
              <a:pPr algn="l">
                <a:lnSpc>
                  <a:spcPts val="1350"/>
                </a:lnSpc>
              </a:pPr>
              <a:r>
                <a:rPr lang="tr-TR" sz="1050" dirty="0">
                  <a:solidFill>
                    <a:srgbClr val="12355B"/>
                  </a:solidFill>
                  <a:latin typeface="Consolas"/>
                  <a:ea typeface="Consolas"/>
                  <a:cs typeface="Consolas"/>
                </a:rPr>
                <a:t>if (Number.isNaN(kitapKimligi)) {</a:t>
              </a:r>
              <a:br/>
              <a:r>
                <a:rPr lang="tr-TR" sz="1050" dirty="0">
                  <a:solidFill>
                    <a:srgbClr val="12355B"/>
                  </a:solidFill>
                  <a:latin typeface="Consolas"/>
                  <a:ea typeface="Consolas"/>
                  <a:cs typeface="Consolas"/>
                </a:rPr>
                <a:t>yanit.status(400).json({...}); return;</a:t>
              </a:r>
              <a:br/>
              <a:r>
                <a:rPr lang="tr-TR" sz="1050" dirty="0">
                  <a:solidFill>
                    <a:srgbClr val="12355B"/>
                  </a:solidFill>
                  <a:latin typeface="Consolas"/>
                  <a:ea typeface="Consolas"/>
                  <a:cs typeface="Consolas"/>
                </a:rPr>
                <a:t>}</a:t>
              </a:r>
            </a:p>
          </p:txBody>
        </p:sp>
        <p:sp>
          <p:nvSpPr>
            <p:cNvPr id="43" name="TextBox 43"/>
            <p:cNvSpPr txBox="1"/>
            <p:nvPr/>
          </p:nvSpPr>
          <p:spPr>
            <a:xfrm>
              <a:off x="908685" y="5231606"/>
              <a:ext cx="2571750" cy="401002"/>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Geçersiz kimlik için 400, bulunamayan</a:t>
              </a:r>
              <a:br/>
              <a:r>
                <a:rPr lang="tr-TR" sz="1120" dirty="0">
                  <a:solidFill>
                    <a:srgbClr val="172B3A"/>
                  </a:solidFill>
                  <a:latin typeface="+mn-lt"/>
                  <a:ea typeface="+mn-ea"/>
                  <a:cs typeface="+mn-cs"/>
                </a:rPr>
                <a:t>kimlik için 404 kullanılmalıdır.</a:t>
              </a:r>
            </a:p>
          </p:txBody>
        </p:sp>
      </p:grpSp>
      <p:grpSp>
        <p:nvGrpSpPr>
          <p:cNvPr id="52" name="hata2"/>
          <p:cNvGrpSpPr/>
          <p:nvPr/>
        </p:nvGrpSpPr>
        <p:grpSpPr>
          <a:xfrm>
            <a:off x="6248400" y="3238500"/>
            <a:ext cx="5334000" cy="2438400"/>
            <a:chOff x="6248400" y="3238500"/>
            <a:chExt cx="5334000" cy="2438400"/>
          </a:xfrm>
        </p:grpSpPr>
        <p:sp>
          <p:nvSpPr>
            <p:cNvPr id="45" name="Rectangle 45"/>
            <p:cNvSpPr/>
            <p:nvPr/>
          </p:nvSpPr>
          <p:spPr>
            <a:xfrm>
              <a:off x="6248400" y="3238500"/>
              <a:ext cx="5334000" cy="2438400"/>
            </a:xfrm>
            <a:prstGeom prst="rect">
              <a:avLst/>
            </a:prstGeom>
            <a:solidFill>
              <a:srgbClr val="FFFFFF"/>
            </a:solidFill>
            <a:ln w="9525">
              <a:solidFill>
                <a:srgbClr val="B8CBD3"/>
              </a:solidFill>
            </a:ln>
          </p:spPr>
        </p:sp>
        <p:sp>
          <p:nvSpPr>
            <p:cNvPr id="46" name="Rectangle 46"/>
            <p:cNvSpPr/>
            <p:nvPr/>
          </p:nvSpPr>
          <p:spPr>
            <a:xfrm>
              <a:off x="6248400" y="3238500"/>
              <a:ext cx="57150" cy="2438400"/>
            </a:xfrm>
            <a:prstGeom prst="rect">
              <a:avLst/>
            </a:prstGeom>
            <a:solidFill>
              <a:srgbClr val="00A6A6"/>
            </a:solidFill>
            <a:ln>
              <a:noFill/>
            </a:ln>
          </p:spPr>
        </p:sp>
        <p:sp>
          <p:nvSpPr>
            <p:cNvPr id="47" name="TextBox 47"/>
            <p:cNvSpPr txBox="1"/>
            <p:nvPr/>
          </p:nvSpPr>
          <p:spPr>
            <a:xfrm>
              <a:off x="6546342" y="3359468"/>
              <a:ext cx="271387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2 · express.json() eksik/geç</a:t>
              </a:r>
            </a:p>
          </p:txBody>
        </p:sp>
        <p:sp>
          <p:nvSpPr>
            <p:cNvPr id="48" name="TextBox 48"/>
            <p:cNvSpPr txBox="1"/>
            <p:nvPr/>
          </p:nvSpPr>
          <p:spPr>
            <a:xfrm>
              <a:off x="6547485" y="3631406"/>
              <a:ext cx="2763774"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52616B"/>
                  </a:solidFill>
                  <a:latin typeface="+mn-lt"/>
                  <a:ea typeface="+mn-ea"/>
                  <a:cs typeface="+mn-cs"/>
                </a:rPr>
                <a:t>express.json() unutulursa veya istemci</a:t>
              </a:r>
              <a:br/>
              <a:r>
                <a:rPr lang="tr-TR" sz="1120" dirty="0">
                  <a:solidFill>
                    <a:srgbClr val="52616B"/>
                  </a:solidFill>
                  <a:latin typeface="+mn-lt"/>
                  <a:ea typeface="+mn-ea"/>
                  <a:cs typeface="+mn-cs"/>
                </a:rPr>
                <a:t>Content-Type başlığını göndermezse</a:t>
              </a:r>
              <a:br/>
              <a:r>
                <a:rPr lang="tr-TR" sz="1120" dirty="0">
                  <a:solidFill>
                    <a:srgbClr val="52616B"/>
                  </a:solidFill>
                  <a:latin typeface="+mn-lt"/>
                  <a:ea typeface="+mn-ea"/>
                  <a:cs typeface="+mn-cs"/>
                </a:rPr>
                <a:t>istek.body tanımsız kalır.</a:t>
              </a:r>
            </a:p>
          </p:txBody>
        </p:sp>
        <p:sp>
          <p:nvSpPr>
            <p:cNvPr id="49" name="TextBox 49"/>
            <p:cNvSpPr txBox="1"/>
            <p:nvPr/>
          </p:nvSpPr>
          <p:spPr>
            <a:xfrm>
              <a:off x="6546342" y="4350068"/>
              <a:ext cx="323863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3 · query her zaman string sayılır</a:t>
              </a:r>
            </a:p>
          </p:txBody>
        </p:sp>
        <p:sp>
          <p:nvSpPr>
            <p:cNvPr id="50" name="TextBox 50"/>
            <p:cNvSpPr txBox="1"/>
            <p:nvPr/>
          </p:nvSpPr>
          <p:spPr>
            <a:xfrm>
              <a:off x="6547485" y="4622006"/>
              <a:ext cx="2543302" cy="401002"/>
            </a:xfrm>
            <a:prstGeom prst="rect">
              <a:avLst/>
            </a:prstGeom>
            <a:noFill/>
            <a:ln>
              <a:noFill/>
            </a:ln>
          </p:spPr>
          <p:txBody>
            <a:bodyPr wrap="none" lIns="0" tIns="0" rIns="0" bIns="0" anchor="t" anchorCtr="0">
              <a:spAutoFit/>
            </a:bodyPr>
            <a:lstStyle/>
            <a:p>
              <a:pPr algn="l">
                <a:lnSpc>
                  <a:spcPts val="1425"/>
                </a:lnSpc>
              </a:pPr>
              <a:r>
                <a:rPr lang="tr-TR" sz="1120" dirty="0">
                  <a:solidFill>
                    <a:srgbClr val="52616B"/>
                  </a:solidFill>
                  <a:latin typeface="+mn-lt"/>
                  <a:ea typeface="+mn-ea"/>
                  <a:cs typeface="+mn-cs"/>
                </a:rPr>
                <a:t>Query alanı eksik olabilir; undefined</a:t>
              </a:r>
              <a:br/>
              <a:r>
                <a:rPr lang="tr-TR" sz="1120" dirty="0">
                  <a:solidFill>
                    <a:srgbClr val="52616B"/>
                  </a:solidFill>
                  <a:latin typeface="+mn-lt"/>
                  <a:ea typeface="+mn-ea"/>
                  <a:cs typeface="+mn-cs"/>
                </a:rPr>
                <a:t>durumu ayrıca kontrol edilmelidir.</a:t>
              </a:r>
            </a:p>
          </p:txBody>
        </p:sp>
        <p:sp>
          <p:nvSpPr>
            <p:cNvPr id="51" name="TextBox 51"/>
            <p:cNvSpPr txBox="1"/>
            <p:nvPr/>
          </p:nvSpPr>
          <p:spPr>
            <a:xfrm>
              <a:off x="6547485" y="5174456"/>
              <a:ext cx="2977134" cy="401002"/>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4 · Body doğrudan veri kaynağına eklenirse</a:t>
              </a:r>
              <a:br/>
              <a:r>
                <a:rPr lang="tr-TR" sz="1120" dirty="0">
                  <a:solidFill>
                    <a:srgbClr val="172B3A"/>
                  </a:solidFill>
                  <a:latin typeface="+mn-lt"/>
                  <a:ea typeface="+mn-ea"/>
                  <a:cs typeface="+mn-cs"/>
                </a:rPr>
                <a:t>istenmeyen alanlar saklanabilir.</a:t>
              </a:r>
            </a:p>
          </p:txBody>
        </p:sp>
      </p:grpSp>
      <p:grpSp>
        <p:nvGrpSpPr>
          <p:cNvPr id="55" name="footer"/>
          <p:cNvGrpSpPr/>
          <p:nvPr/>
        </p:nvGrpSpPr>
        <p:grpSpPr>
          <a:xfrm>
            <a:off x="603504" y="6461760"/>
            <a:ext cx="10984992" cy="234696"/>
            <a:chOff x="603504" y="6461760"/>
            <a:chExt cx="10984992" cy="234696"/>
          </a:xfrm>
        </p:grpSpPr>
        <p:sp>
          <p:nvSpPr>
            <p:cNvPr id="53" name="TextBox 53"/>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54" name="TextBox 54"/>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632074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Response ve HTTP durum kodları</a:t>
              </a:r>
            </a:p>
          </p:txBody>
        </p:sp>
      </p:grpSp>
      <p:grpSp>
        <p:nvGrpSpPr>
          <p:cNvPr id="19" name="kod-response"/>
          <p:cNvGrpSpPr/>
          <p:nvPr/>
        </p:nvGrpSpPr>
        <p:grpSpPr>
          <a:xfrm>
            <a:off x="601599" y="1220629"/>
            <a:ext cx="5265801" cy="3240405"/>
            <a:chOff x="601599" y="1220629"/>
            <a:chExt cx="5265801" cy="3240405"/>
          </a:xfrm>
        </p:grpSpPr>
        <p:sp>
          <p:nvSpPr>
            <p:cNvPr id="6" name="TextBox 6"/>
            <p:cNvSpPr txBox="1"/>
            <p:nvPr/>
          </p:nvSpPr>
          <p:spPr>
            <a:xfrm>
              <a:off x="601599" y="1220629"/>
              <a:ext cx="349946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5.8 · Kaynak getirme ve 404</a:t>
              </a:r>
            </a:p>
          </p:txBody>
        </p:sp>
        <p:sp>
          <p:nvSpPr>
            <p:cNvPr id="7" name="Rectangle 7"/>
            <p:cNvSpPr/>
            <p:nvPr/>
          </p:nvSpPr>
          <p:spPr>
            <a:xfrm>
              <a:off x="609600" y="1504950"/>
              <a:ext cx="5257800" cy="2190750"/>
            </a:xfrm>
            <a:prstGeom prst="rect">
              <a:avLst/>
            </a:prstGeom>
            <a:solidFill>
              <a:srgbClr val="12355B"/>
            </a:solidFill>
            <a:ln>
              <a:noFill/>
            </a:ln>
          </p:spPr>
        </p:sp>
        <p:sp>
          <p:nvSpPr>
            <p:cNvPr id="8" name="TextBox 8"/>
            <p:cNvSpPr txBox="1"/>
            <p:nvPr/>
          </p:nvSpPr>
          <p:spPr>
            <a:xfrm>
              <a:off x="832485" y="1631156"/>
              <a:ext cx="375483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const id = Number(istek.params.kitapKimligi);</a:t>
              </a:r>
            </a:p>
          </p:txBody>
        </p:sp>
        <p:sp>
          <p:nvSpPr>
            <p:cNvPr id="9" name="TextBox 9"/>
            <p:cNvSpPr txBox="1"/>
            <p:nvPr/>
          </p:nvSpPr>
          <p:spPr>
            <a:xfrm>
              <a:off x="832485" y="1897856"/>
              <a:ext cx="1940318"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if (Number.isNaN(id)) {</a:t>
              </a:r>
            </a:p>
          </p:txBody>
        </p:sp>
        <p:sp>
          <p:nvSpPr>
            <p:cNvPr id="10" name="TextBox 10"/>
            <p:cNvSpPr txBox="1"/>
            <p:nvPr/>
          </p:nvSpPr>
          <p:spPr>
            <a:xfrm>
              <a:off x="832485" y="2088356"/>
              <a:ext cx="3245541"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yanit.status(400).json({ mesaj: "…" });</a:t>
              </a:r>
            </a:p>
          </p:txBody>
        </p:sp>
        <p:sp>
          <p:nvSpPr>
            <p:cNvPr id="11" name="TextBox 11"/>
            <p:cNvSpPr txBox="1"/>
            <p:nvPr/>
          </p:nvSpPr>
          <p:spPr>
            <a:xfrm>
              <a:off x="832485" y="2278856"/>
              <a:ext cx="591911"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return;</a:t>
              </a:r>
            </a:p>
          </p:txBody>
        </p:sp>
        <p:sp>
          <p:nvSpPr>
            <p:cNvPr id="12" name="TextBox 12"/>
            <p:cNvSpPr txBox="1"/>
            <p:nvPr/>
          </p:nvSpPr>
          <p:spPr>
            <a:xfrm>
              <a:off x="832485" y="2469356"/>
              <a:ext cx="94356"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t>
              </a:r>
            </a:p>
          </p:txBody>
        </p:sp>
        <p:sp>
          <p:nvSpPr>
            <p:cNvPr id="13" name="TextBox 13"/>
            <p:cNvSpPr txBox="1"/>
            <p:nvPr/>
          </p:nvSpPr>
          <p:spPr>
            <a:xfrm>
              <a:off x="832485" y="2736056"/>
              <a:ext cx="1676654"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if (!bulunanKitap) {</a:t>
              </a:r>
            </a:p>
          </p:txBody>
        </p:sp>
        <p:sp>
          <p:nvSpPr>
            <p:cNvPr id="14" name="TextBox 14"/>
            <p:cNvSpPr txBox="1"/>
            <p:nvPr/>
          </p:nvSpPr>
          <p:spPr>
            <a:xfrm>
              <a:off x="832485" y="2926556"/>
              <a:ext cx="324554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yanit.status(404).json({ mesaj: "…" });</a:t>
              </a:r>
            </a:p>
          </p:txBody>
        </p:sp>
        <p:sp>
          <p:nvSpPr>
            <p:cNvPr id="15" name="TextBox 15"/>
            <p:cNvSpPr txBox="1"/>
            <p:nvPr/>
          </p:nvSpPr>
          <p:spPr>
            <a:xfrm>
              <a:off x="832485" y="3117056"/>
              <a:ext cx="59191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return;</a:t>
              </a:r>
            </a:p>
          </p:txBody>
        </p:sp>
        <p:sp>
          <p:nvSpPr>
            <p:cNvPr id="16" name="TextBox 16"/>
            <p:cNvSpPr txBox="1"/>
            <p:nvPr/>
          </p:nvSpPr>
          <p:spPr>
            <a:xfrm>
              <a:off x="832485" y="3307556"/>
              <a:ext cx="9435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a:t>
              </a:r>
            </a:p>
          </p:txBody>
        </p:sp>
        <p:sp>
          <p:nvSpPr>
            <p:cNvPr id="17" name="TextBox 17"/>
            <p:cNvSpPr txBox="1"/>
            <p:nvPr/>
          </p:nvSpPr>
          <p:spPr>
            <a:xfrm>
              <a:off x="832485" y="3498056"/>
              <a:ext cx="3743096"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yanit.status(200).json({ mesaj: "…", veri });</a:t>
              </a:r>
            </a:p>
          </p:txBody>
        </p:sp>
        <p:sp>
          <p:nvSpPr>
            <p:cNvPr id="18" name="TextBox 18"/>
            <p:cNvSpPr txBox="1"/>
            <p:nvPr/>
          </p:nvSpPr>
          <p:spPr>
            <a:xfrm>
              <a:off x="603885" y="3860006"/>
              <a:ext cx="3304286" cy="6010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İyi tasarlanmış response, istemcinin ek tahmin</a:t>
              </a:r>
              <a:br/>
              <a:r>
                <a:rPr lang="tr-TR" sz="1120" dirty="0">
                  <a:solidFill>
                    <a:srgbClr val="172B3A"/>
                  </a:solidFill>
                  <a:latin typeface="+mn-lt"/>
                  <a:ea typeface="+mn-ea"/>
                  <a:cs typeface="+mn-cs"/>
                </a:rPr>
                <a:t>yapmasını önler: durum kodu sonuç sınıfını,</a:t>
              </a:r>
              <a:br/>
              <a:r>
                <a:rPr lang="tr-TR" sz="1120" dirty="0">
                  <a:solidFill>
                    <a:srgbClr val="172B3A"/>
                  </a:solidFill>
                  <a:latin typeface="+mn-lt"/>
                  <a:ea typeface="+mn-ea"/>
                  <a:cs typeface="+mn-cs"/>
                </a:rPr>
                <a:t>JSON gövdesi ise ayrıntıyı taşır.</a:t>
              </a:r>
            </a:p>
          </p:txBody>
        </p:sp>
      </p:grpSp>
      <p:grpSp>
        <p:nvGrpSpPr>
          <p:cNvPr id="45" name="durum-tablo"/>
          <p:cNvGrpSpPr/>
          <p:nvPr/>
        </p:nvGrpSpPr>
        <p:grpSpPr>
          <a:xfrm>
            <a:off x="6240399" y="1220629"/>
            <a:ext cx="5342001" cy="3271932"/>
            <a:chOff x="6240399" y="1220629"/>
            <a:chExt cx="5342001" cy="3271932"/>
          </a:xfrm>
        </p:grpSpPr>
        <p:sp>
          <p:nvSpPr>
            <p:cNvPr id="20" name="TextBox 20"/>
            <p:cNvSpPr txBox="1"/>
            <p:nvPr/>
          </p:nvSpPr>
          <p:spPr>
            <a:xfrm>
              <a:off x="6240399" y="1220629"/>
              <a:ext cx="211156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Durum kodu rehberi</a:t>
              </a:r>
            </a:p>
          </p:txBody>
        </p:sp>
        <p:sp>
          <p:nvSpPr>
            <p:cNvPr id="21" name="Rectangle 21"/>
            <p:cNvSpPr/>
            <p:nvPr/>
          </p:nvSpPr>
          <p:spPr>
            <a:xfrm>
              <a:off x="6248400" y="1543050"/>
              <a:ext cx="5334000" cy="438150"/>
            </a:xfrm>
            <a:prstGeom prst="rect">
              <a:avLst/>
            </a:prstGeom>
            <a:solidFill>
              <a:srgbClr val="FFFFFF"/>
            </a:solidFill>
            <a:ln w="9525">
              <a:solidFill>
                <a:srgbClr val="B8CBD3"/>
              </a:solidFill>
            </a:ln>
          </p:spPr>
        </p:sp>
        <p:sp>
          <p:nvSpPr>
            <p:cNvPr id="22" name="Rectangle 22"/>
            <p:cNvSpPr/>
            <p:nvPr/>
          </p:nvSpPr>
          <p:spPr>
            <a:xfrm>
              <a:off x="6248400" y="1543050"/>
              <a:ext cx="57150" cy="438150"/>
            </a:xfrm>
            <a:prstGeom prst="rect">
              <a:avLst/>
            </a:prstGeom>
            <a:solidFill>
              <a:srgbClr val="00A6A6"/>
            </a:solidFill>
            <a:ln>
              <a:noFill/>
            </a:ln>
          </p:spPr>
        </p:sp>
        <p:sp>
          <p:nvSpPr>
            <p:cNvPr id="23" name="TextBox 23"/>
            <p:cNvSpPr txBox="1"/>
            <p:nvPr/>
          </p:nvSpPr>
          <p:spPr>
            <a:xfrm>
              <a:off x="6432804" y="1604010"/>
              <a:ext cx="57546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Consolas"/>
                  <a:ea typeface="Consolas"/>
                  <a:cs typeface="Consolas"/>
                </a:rPr>
                <a:t>200 OK</a:t>
              </a:r>
            </a:p>
          </p:txBody>
        </p:sp>
        <p:sp>
          <p:nvSpPr>
            <p:cNvPr id="24" name="TextBox 24"/>
            <p:cNvSpPr txBox="1"/>
            <p:nvPr/>
          </p:nvSpPr>
          <p:spPr>
            <a:xfrm>
              <a:off x="6433566" y="1810702"/>
              <a:ext cx="193854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Başarılı GET işlemi (okuma)</a:t>
              </a:r>
            </a:p>
          </p:txBody>
        </p:sp>
        <p:sp>
          <p:nvSpPr>
            <p:cNvPr id="25" name="Rectangle 25"/>
            <p:cNvSpPr/>
            <p:nvPr/>
          </p:nvSpPr>
          <p:spPr>
            <a:xfrm>
              <a:off x="6248400" y="2038350"/>
              <a:ext cx="5334000" cy="438150"/>
            </a:xfrm>
            <a:prstGeom prst="rect">
              <a:avLst/>
            </a:prstGeom>
            <a:solidFill>
              <a:srgbClr val="FFFFFF"/>
            </a:solidFill>
            <a:ln w="9525">
              <a:solidFill>
                <a:srgbClr val="B8CBD3"/>
              </a:solidFill>
            </a:ln>
          </p:spPr>
        </p:sp>
        <p:sp>
          <p:nvSpPr>
            <p:cNvPr id="26" name="Rectangle 26"/>
            <p:cNvSpPr/>
            <p:nvPr/>
          </p:nvSpPr>
          <p:spPr>
            <a:xfrm>
              <a:off x="6248400" y="2038350"/>
              <a:ext cx="57150" cy="438150"/>
            </a:xfrm>
            <a:prstGeom prst="rect">
              <a:avLst/>
            </a:prstGeom>
            <a:solidFill>
              <a:srgbClr val="00A6A6"/>
            </a:solidFill>
            <a:ln>
              <a:noFill/>
            </a:ln>
          </p:spPr>
        </p:sp>
        <p:sp>
          <p:nvSpPr>
            <p:cNvPr id="27" name="TextBox 27"/>
            <p:cNvSpPr txBox="1"/>
            <p:nvPr/>
          </p:nvSpPr>
          <p:spPr>
            <a:xfrm>
              <a:off x="6432804" y="2099310"/>
              <a:ext cx="99743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Consolas"/>
                  <a:ea typeface="Consolas"/>
                  <a:cs typeface="Consolas"/>
                </a:rPr>
                <a:t>201 Created</a:t>
              </a:r>
            </a:p>
          </p:txBody>
        </p:sp>
        <p:sp>
          <p:nvSpPr>
            <p:cNvPr id="28" name="TextBox 28"/>
            <p:cNvSpPr txBox="1"/>
            <p:nvPr/>
          </p:nvSpPr>
          <p:spPr>
            <a:xfrm>
              <a:off x="6433566" y="2306002"/>
              <a:ext cx="285991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Başarılı POST ile yeni kaynak oluşturuldu</a:t>
              </a:r>
            </a:p>
          </p:txBody>
        </p:sp>
        <p:sp>
          <p:nvSpPr>
            <p:cNvPr id="29" name="Rectangle 29"/>
            <p:cNvSpPr/>
            <p:nvPr/>
          </p:nvSpPr>
          <p:spPr>
            <a:xfrm>
              <a:off x="6248400" y="2533650"/>
              <a:ext cx="5334000" cy="438150"/>
            </a:xfrm>
            <a:prstGeom prst="rect">
              <a:avLst/>
            </a:prstGeom>
            <a:solidFill>
              <a:srgbClr val="FFFFFF"/>
            </a:solidFill>
            <a:ln w="9525">
              <a:solidFill>
                <a:srgbClr val="B8CBD3"/>
              </a:solidFill>
            </a:ln>
          </p:spPr>
        </p:sp>
        <p:sp>
          <p:nvSpPr>
            <p:cNvPr id="30" name="Rectangle 30"/>
            <p:cNvSpPr/>
            <p:nvPr/>
          </p:nvSpPr>
          <p:spPr>
            <a:xfrm>
              <a:off x="6248400" y="2533650"/>
              <a:ext cx="57150" cy="438150"/>
            </a:xfrm>
            <a:prstGeom prst="rect">
              <a:avLst/>
            </a:prstGeom>
            <a:solidFill>
              <a:srgbClr val="2E86AB"/>
            </a:solidFill>
            <a:ln>
              <a:noFill/>
            </a:ln>
          </p:spPr>
        </p:sp>
        <p:sp>
          <p:nvSpPr>
            <p:cNvPr id="31" name="TextBox 31"/>
            <p:cNvSpPr txBox="1"/>
            <p:nvPr/>
          </p:nvSpPr>
          <p:spPr>
            <a:xfrm>
              <a:off x="6432804" y="2594610"/>
              <a:ext cx="136001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Consolas"/>
                  <a:ea typeface="Consolas"/>
                  <a:cs typeface="Consolas"/>
                </a:rPr>
                <a:t>400 Bad Request</a:t>
              </a:r>
            </a:p>
          </p:txBody>
        </p:sp>
        <p:sp>
          <p:nvSpPr>
            <p:cNvPr id="32" name="TextBox 32"/>
            <p:cNvSpPr txBox="1"/>
            <p:nvPr/>
          </p:nvSpPr>
          <p:spPr>
            <a:xfrm>
              <a:off x="6433566" y="2801302"/>
              <a:ext cx="299761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İstemcinin verisi eksik veya geçersiz türde</a:t>
              </a:r>
            </a:p>
          </p:txBody>
        </p:sp>
        <p:sp>
          <p:nvSpPr>
            <p:cNvPr id="33" name="Rectangle 33"/>
            <p:cNvSpPr/>
            <p:nvPr/>
          </p:nvSpPr>
          <p:spPr>
            <a:xfrm>
              <a:off x="6248400" y="3028950"/>
              <a:ext cx="5334000" cy="438150"/>
            </a:xfrm>
            <a:prstGeom prst="rect">
              <a:avLst/>
            </a:prstGeom>
            <a:solidFill>
              <a:srgbClr val="FFFFFF"/>
            </a:solidFill>
            <a:ln w="9525">
              <a:solidFill>
                <a:srgbClr val="B8CBD3"/>
              </a:solidFill>
            </a:ln>
          </p:spPr>
        </p:sp>
        <p:sp>
          <p:nvSpPr>
            <p:cNvPr id="34" name="Rectangle 34"/>
            <p:cNvSpPr/>
            <p:nvPr/>
          </p:nvSpPr>
          <p:spPr>
            <a:xfrm>
              <a:off x="6248400" y="3028950"/>
              <a:ext cx="57150" cy="438150"/>
            </a:xfrm>
            <a:prstGeom prst="rect">
              <a:avLst/>
            </a:prstGeom>
            <a:solidFill>
              <a:srgbClr val="2E86AB"/>
            </a:solidFill>
            <a:ln>
              <a:noFill/>
            </a:ln>
          </p:spPr>
        </p:sp>
        <p:sp>
          <p:nvSpPr>
            <p:cNvPr id="35" name="TextBox 35"/>
            <p:cNvSpPr txBox="1"/>
            <p:nvPr/>
          </p:nvSpPr>
          <p:spPr>
            <a:xfrm>
              <a:off x="6432804" y="3089910"/>
              <a:ext cx="144048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Consolas"/>
                  <a:ea typeface="Consolas"/>
                  <a:cs typeface="Consolas"/>
                </a:rPr>
                <a:t>401 Unauthorized</a:t>
              </a:r>
            </a:p>
          </p:txBody>
        </p:sp>
        <p:sp>
          <p:nvSpPr>
            <p:cNvPr id="36" name="TextBox 36"/>
            <p:cNvSpPr txBox="1"/>
            <p:nvPr/>
          </p:nvSpPr>
          <p:spPr>
            <a:xfrm>
              <a:off x="6433566" y="3296602"/>
              <a:ext cx="197956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Kimlik doğrulama bilgisi eksik</a:t>
              </a:r>
            </a:p>
          </p:txBody>
        </p:sp>
        <p:sp>
          <p:nvSpPr>
            <p:cNvPr id="37" name="Rectangle 37"/>
            <p:cNvSpPr/>
            <p:nvPr/>
          </p:nvSpPr>
          <p:spPr>
            <a:xfrm>
              <a:off x="6248400" y="3524250"/>
              <a:ext cx="5334000" cy="438150"/>
            </a:xfrm>
            <a:prstGeom prst="rect">
              <a:avLst/>
            </a:prstGeom>
            <a:solidFill>
              <a:srgbClr val="FFFFFF"/>
            </a:solidFill>
            <a:ln w="9525">
              <a:solidFill>
                <a:srgbClr val="B8CBD3"/>
              </a:solidFill>
            </a:ln>
          </p:spPr>
        </p:sp>
        <p:sp>
          <p:nvSpPr>
            <p:cNvPr id="38" name="Rectangle 38"/>
            <p:cNvSpPr/>
            <p:nvPr/>
          </p:nvSpPr>
          <p:spPr>
            <a:xfrm>
              <a:off x="6248400" y="3524250"/>
              <a:ext cx="57150" cy="438150"/>
            </a:xfrm>
            <a:prstGeom prst="rect">
              <a:avLst/>
            </a:prstGeom>
            <a:solidFill>
              <a:srgbClr val="2E86AB"/>
            </a:solidFill>
            <a:ln>
              <a:noFill/>
            </a:ln>
          </p:spPr>
        </p:sp>
        <p:sp>
          <p:nvSpPr>
            <p:cNvPr id="39" name="TextBox 39"/>
            <p:cNvSpPr txBox="1"/>
            <p:nvPr/>
          </p:nvSpPr>
          <p:spPr>
            <a:xfrm>
              <a:off x="6432804" y="3585210"/>
              <a:ext cx="118357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Consolas"/>
                  <a:ea typeface="Consolas"/>
                  <a:cs typeface="Consolas"/>
                </a:rPr>
                <a:t>404 Not Found</a:t>
              </a:r>
            </a:p>
          </p:txBody>
        </p:sp>
        <p:sp>
          <p:nvSpPr>
            <p:cNvPr id="40" name="TextBox 40"/>
            <p:cNvSpPr txBox="1"/>
            <p:nvPr/>
          </p:nvSpPr>
          <p:spPr>
            <a:xfrm>
              <a:off x="6433566" y="3791902"/>
              <a:ext cx="314625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İstek geçerli ama kaynak veri kaynağında yok</a:t>
              </a:r>
            </a:p>
          </p:txBody>
        </p:sp>
        <p:sp>
          <p:nvSpPr>
            <p:cNvPr id="41" name="Rectangle 41"/>
            <p:cNvSpPr/>
            <p:nvPr/>
          </p:nvSpPr>
          <p:spPr>
            <a:xfrm>
              <a:off x="6248400" y="4019550"/>
              <a:ext cx="5334000" cy="438150"/>
            </a:xfrm>
            <a:prstGeom prst="rect">
              <a:avLst/>
            </a:prstGeom>
            <a:solidFill>
              <a:srgbClr val="FFFFFF"/>
            </a:solidFill>
            <a:ln w="9525">
              <a:solidFill>
                <a:srgbClr val="B8CBD3"/>
              </a:solidFill>
            </a:ln>
          </p:spPr>
        </p:sp>
        <p:sp>
          <p:nvSpPr>
            <p:cNvPr id="42" name="Rectangle 42"/>
            <p:cNvSpPr/>
            <p:nvPr/>
          </p:nvSpPr>
          <p:spPr>
            <a:xfrm>
              <a:off x="6248400" y="4019550"/>
              <a:ext cx="57150" cy="438150"/>
            </a:xfrm>
            <a:prstGeom prst="rect">
              <a:avLst/>
            </a:prstGeom>
            <a:solidFill>
              <a:srgbClr val="12355B"/>
            </a:solidFill>
            <a:ln>
              <a:noFill/>
            </a:ln>
          </p:spPr>
        </p:sp>
        <p:sp>
          <p:nvSpPr>
            <p:cNvPr id="43" name="TextBox 43"/>
            <p:cNvSpPr txBox="1"/>
            <p:nvPr/>
          </p:nvSpPr>
          <p:spPr>
            <a:xfrm>
              <a:off x="6432804" y="4080510"/>
              <a:ext cx="225327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Consolas"/>
                  <a:ea typeface="Consolas"/>
                  <a:cs typeface="Consolas"/>
                </a:rPr>
                <a:t>500 Internal Server Error</a:t>
              </a:r>
            </a:p>
          </p:txBody>
        </p:sp>
        <p:sp>
          <p:nvSpPr>
            <p:cNvPr id="44" name="TextBox 44"/>
            <p:cNvSpPr txBox="1"/>
            <p:nvPr/>
          </p:nvSpPr>
          <p:spPr>
            <a:xfrm>
              <a:off x="6433566" y="4287202"/>
              <a:ext cx="223453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Sunucu tarafı beklenmeyen hata</a:t>
              </a:r>
            </a:p>
          </p:txBody>
        </p:sp>
      </p:grpSp>
      <p:grpSp>
        <p:nvGrpSpPr>
          <p:cNvPr id="50" name="footer-not"/>
          <p:cNvGrpSpPr/>
          <p:nvPr/>
        </p:nvGrpSpPr>
        <p:grpSpPr>
          <a:xfrm>
            <a:off x="609600" y="5143500"/>
            <a:ext cx="10972800" cy="1181100"/>
            <a:chOff x="609600" y="5143500"/>
            <a:chExt cx="10972800" cy="1181100"/>
          </a:xfrm>
        </p:grpSpPr>
        <p:sp>
          <p:nvSpPr>
            <p:cNvPr id="46" name="Rectangle 46"/>
            <p:cNvSpPr/>
            <p:nvPr/>
          </p:nvSpPr>
          <p:spPr>
            <a:xfrm>
              <a:off x="609600" y="5143500"/>
              <a:ext cx="10972800" cy="1181100"/>
            </a:xfrm>
            <a:prstGeom prst="rect">
              <a:avLst/>
            </a:prstGeom>
            <a:solidFill>
              <a:srgbClr val="EAF4F6"/>
            </a:solidFill>
            <a:ln>
              <a:noFill/>
            </a:ln>
          </p:spPr>
        </p:sp>
        <p:sp>
          <p:nvSpPr>
            <p:cNvPr id="47" name="TextBox 47"/>
            <p:cNvSpPr txBox="1"/>
            <p:nvPr/>
          </p:nvSpPr>
          <p:spPr>
            <a:xfrm>
              <a:off x="908304" y="5299710"/>
              <a:ext cx="855936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yanit.json(…) veriyi JSON'a dönüştürür; yanit.send(…) düz metin gönderir; yanit.status(…).json(…) durum</a:t>
              </a:r>
            </a:p>
          </p:txBody>
        </p:sp>
        <p:sp>
          <p:nvSpPr>
            <p:cNvPr id="48" name="TextBox 48"/>
            <p:cNvSpPr txBox="1"/>
            <p:nvPr/>
          </p:nvSpPr>
          <p:spPr>
            <a:xfrm>
              <a:off x="908304" y="5509260"/>
              <a:ext cx="870854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kodu ile gövdeyi birlikte belirler. Aynı isteğe iki kez yanıt gönderilemez — headers already sent hatası oluşur.</a:t>
              </a:r>
            </a:p>
          </p:txBody>
        </p:sp>
        <p:sp>
          <p:nvSpPr>
            <p:cNvPr id="49" name="TextBox 49"/>
            <p:cNvSpPr txBox="1"/>
            <p:nvPr/>
          </p:nvSpPr>
          <p:spPr>
            <a:xfrm>
              <a:off x="908304" y="5795010"/>
              <a:ext cx="732886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Kural: her hataya 200 dönmek, istemcinin gerçek hatayla başarıyı ayırmasını engeller.</a:t>
              </a:r>
            </a:p>
          </p:txBody>
        </p:sp>
      </p:grpSp>
      <p:grpSp>
        <p:nvGrpSpPr>
          <p:cNvPr id="53" name="footer"/>
          <p:cNvGrpSpPr/>
          <p:nvPr/>
        </p:nvGrpSpPr>
        <p:grpSpPr>
          <a:xfrm>
            <a:off x="603504" y="6461760"/>
            <a:ext cx="10984992" cy="234696"/>
            <a:chOff x="603504" y="6461760"/>
            <a:chExt cx="10984992" cy="234696"/>
          </a:xfrm>
        </p:grpSpPr>
        <p:sp>
          <p:nvSpPr>
            <p:cNvPr id="51" name="TextBox 51"/>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52" name="TextBox 52"/>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550101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Response'da yaygın hatalar</a:t>
              </a:r>
            </a:p>
          </p:txBody>
        </p:sp>
      </p:grpSp>
      <p:grpSp>
        <p:nvGrpSpPr>
          <p:cNvPr id="23" name="hata1"/>
          <p:cNvGrpSpPr/>
          <p:nvPr/>
        </p:nvGrpSpPr>
        <p:grpSpPr>
          <a:xfrm>
            <a:off x="609600" y="1219200"/>
            <a:ext cx="5257800" cy="3318034"/>
            <a:chOff x="609600" y="1219200"/>
            <a:chExt cx="5257800" cy="3318034"/>
          </a:xfrm>
        </p:grpSpPr>
        <p:sp>
          <p:nvSpPr>
            <p:cNvPr id="12" name="Rectangle 12"/>
            <p:cNvSpPr/>
            <p:nvPr/>
          </p:nvSpPr>
          <p:spPr>
            <a:xfrm>
              <a:off x="609600" y="1219200"/>
              <a:ext cx="5257800" cy="3200400"/>
            </a:xfrm>
            <a:prstGeom prst="rect">
              <a:avLst/>
            </a:prstGeom>
            <a:solidFill>
              <a:srgbClr val="FFFFFF"/>
            </a:solidFill>
            <a:ln w="9525">
              <a:solidFill>
                <a:srgbClr val="B8CBD3"/>
              </a:solidFill>
            </a:ln>
          </p:spPr>
        </p:sp>
        <p:sp>
          <p:nvSpPr>
            <p:cNvPr id="13" name="Rectangle 13"/>
            <p:cNvSpPr/>
            <p:nvPr/>
          </p:nvSpPr>
          <p:spPr>
            <a:xfrm>
              <a:off x="609600" y="1219200"/>
              <a:ext cx="57150" cy="3200400"/>
            </a:xfrm>
            <a:prstGeom prst="rect">
              <a:avLst/>
            </a:prstGeom>
            <a:solidFill>
              <a:srgbClr val="12355B"/>
            </a:solidFill>
            <a:ln>
              <a:noFill/>
            </a:ln>
          </p:spPr>
        </p:sp>
        <p:sp>
          <p:nvSpPr>
            <p:cNvPr id="14" name="TextBox 14"/>
            <p:cNvSpPr txBox="1"/>
            <p:nvPr/>
          </p:nvSpPr>
          <p:spPr>
            <a:xfrm>
              <a:off x="907161" y="1332071"/>
              <a:ext cx="3293596"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1 · Yanıt sonrası akışın sürmesi</a:t>
              </a:r>
            </a:p>
          </p:txBody>
        </p:sp>
        <p:sp>
          <p:nvSpPr>
            <p:cNvPr id="15" name="TextBox 15"/>
            <p:cNvSpPr txBox="1"/>
            <p:nvPr/>
          </p:nvSpPr>
          <p:spPr>
            <a:xfrm>
              <a:off x="908304" y="1604010"/>
              <a:ext cx="34030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Akış hatası: derleyici iki kez yanıt</a:t>
              </a:r>
              <a:br/>
              <a:r>
                <a:rPr lang="tr-TR" sz="1200" dirty="0">
                  <a:solidFill>
                    <a:srgbClr val="52616B"/>
                  </a:solidFill>
                  <a:latin typeface="+mn-lt"/>
                  <a:ea typeface="+mn-ea"/>
                  <a:cs typeface="+mn-cs"/>
                </a:rPr>
                <a:t>gönderildiğini göremez; hata çalışma</a:t>
              </a:r>
              <a:br/>
              <a:r>
                <a:rPr lang="tr-TR" sz="1200" dirty="0">
                  <a:solidFill>
                    <a:srgbClr val="52616B"/>
                  </a:solidFill>
                  <a:latin typeface="+mn-lt"/>
                  <a:ea typeface="+mn-ea"/>
                  <a:cs typeface="+mn-cs"/>
                </a:rPr>
                <a:t>anında "headers already sent" olarak belirir.</a:t>
              </a:r>
            </a:p>
          </p:txBody>
        </p:sp>
        <p:sp>
          <p:nvSpPr>
            <p:cNvPr id="16" name="Rectangle 16"/>
            <p:cNvSpPr/>
            <p:nvPr/>
          </p:nvSpPr>
          <p:spPr>
            <a:xfrm>
              <a:off x="914400" y="2400300"/>
              <a:ext cx="4648200" cy="666750"/>
            </a:xfrm>
            <a:prstGeom prst="rect">
              <a:avLst/>
            </a:prstGeom>
            <a:solidFill>
              <a:srgbClr val="12355B"/>
            </a:solidFill>
            <a:ln>
              <a:noFill/>
            </a:ln>
          </p:spPr>
        </p:sp>
        <p:sp>
          <p:nvSpPr>
            <p:cNvPr id="17" name="TextBox 17"/>
            <p:cNvSpPr txBox="1"/>
            <p:nvPr/>
          </p:nvSpPr>
          <p:spPr>
            <a:xfrm>
              <a:off x="1061466" y="2515552"/>
              <a:ext cx="1571816"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if (!bulunanKitap) {</a:t>
              </a:r>
            </a:p>
          </p:txBody>
        </p:sp>
        <p:sp>
          <p:nvSpPr>
            <p:cNvPr id="18" name="TextBox 18"/>
            <p:cNvSpPr txBox="1"/>
            <p:nvPr/>
          </p:nvSpPr>
          <p:spPr>
            <a:xfrm>
              <a:off x="1061466" y="2706052"/>
              <a:ext cx="3431362"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yanit.status(404).json({...}); // return yok</a:t>
              </a:r>
            </a:p>
          </p:txBody>
        </p:sp>
        <p:sp>
          <p:nvSpPr>
            <p:cNvPr id="19" name="TextBox 19"/>
            <p:cNvSpPr txBox="1"/>
            <p:nvPr/>
          </p:nvSpPr>
          <p:spPr>
            <a:xfrm>
              <a:off x="1061466" y="2896552"/>
              <a:ext cx="8841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a:t>
              </a:r>
            </a:p>
          </p:txBody>
        </p:sp>
        <p:sp>
          <p:nvSpPr>
            <p:cNvPr id="20" name="TextBox 20"/>
            <p:cNvSpPr txBox="1"/>
            <p:nvPr/>
          </p:nvSpPr>
          <p:spPr>
            <a:xfrm>
              <a:off x="908304" y="3204210"/>
              <a:ext cx="29992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Çözüm: yanıt gönderen her dalda return</a:t>
              </a:r>
              <a:br/>
              <a:r>
                <a:rPr lang="tr-TR" sz="1200" dirty="0">
                  <a:solidFill>
                    <a:srgbClr val="172B3A"/>
                  </a:solidFill>
                  <a:latin typeface="+mn-lt"/>
                  <a:ea typeface="+mn-ea"/>
                  <a:cs typeface="+mn-cs"/>
                </a:rPr>
                <a:t>kullanmak.</a:t>
              </a:r>
            </a:p>
          </p:txBody>
        </p:sp>
        <p:sp>
          <p:nvSpPr>
            <p:cNvPr id="21" name="TextBox 21"/>
            <p:cNvSpPr txBox="1"/>
            <p:nvPr/>
          </p:nvSpPr>
          <p:spPr>
            <a:xfrm>
              <a:off x="908304" y="3909060"/>
              <a:ext cx="241233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2 · 200 ile 201'i karıştırmak</a:t>
              </a:r>
            </a:p>
          </p:txBody>
        </p:sp>
        <p:sp>
          <p:nvSpPr>
            <p:cNvPr id="22" name="TextBox 22"/>
            <p:cNvSpPr txBox="1"/>
            <p:nvPr/>
          </p:nvSpPr>
          <p:spPr>
            <a:xfrm>
              <a:off x="908685" y="4145756"/>
              <a:ext cx="2970022"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Yeni kaynak oluşturulduğunda 201 Created,</a:t>
              </a:r>
              <a:br/>
              <a:r>
                <a:rPr lang="tr-TR" sz="1120" dirty="0">
                  <a:solidFill>
                    <a:srgbClr val="172B3A"/>
                  </a:solidFill>
                  <a:latin typeface="+mn-lt"/>
                  <a:ea typeface="+mn-ea"/>
                  <a:cs typeface="+mn-cs"/>
                </a:rPr>
                <a:t>istemciye oluşturma bilgisini taşır.</a:t>
              </a:r>
            </a:p>
          </p:txBody>
        </p:sp>
      </p:grpSp>
      <p:grpSp>
        <p:nvGrpSpPr>
          <p:cNvPr id="34" name="hata2"/>
          <p:cNvGrpSpPr/>
          <p:nvPr/>
        </p:nvGrpSpPr>
        <p:grpSpPr>
          <a:xfrm>
            <a:off x="6248400" y="1219200"/>
            <a:ext cx="5334000" cy="3200400"/>
            <a:chOff x="6248400" y="1219200"/>
            <a:chExt cx="5334000" cy="3200400"/>
          </a:xfrm>
        </p:grpSpPr>
        <p:sp>
          <p:nvSpPr>
            <p:cNvPr id="24" name="Rectangle 24"/>
            <p:cNvSpPr/>
            <p:nvPr/>
          </p:nvSpPr>
          <p:spPr>
            <a:xfrm>
              <a:off x="6248400" y="1219200"/>
              <a:ext cx="5334000" cy="3200400"/>
            </a:xfrm>
            <a:prstGeom prst="rect">
              <a:avLst/>
            </a:prstGeom>
            <a:solidFill>
              <a:srgbClr val="FFFFFF"/>
            </a:solidFill>
            <a:ln w="9525">
              <a:solidFill>
                <a:srgbClr val="B8CBD3"/>
              </a:solidFill>
            </a:ln>
          </p:spPr>
        </p:sp>
        <p:sp>
          <p:nvSpPr>
            <p:cNvPr id="25" name="Rectangle 25"/>
            <p:cNvSpPr/>
            <p:nvPr/>
          </p:nvSpPr>
          <p:spPr>
            <a:xfrm>
              <a:off x="6248400" y="1219200"/>
              <a:ext cx="57150" cy="3200400"/>
            </a:xfrm>
            <a:prstGeom prst="rect">
              <a:avLst/>
            </a:prstGeom>
            <a:solidFill>
              <a:srgbClr val="00A6A6"/>
            </a:solidFill>
            <a:ln>
              <a:noFill/>
            </a:ln>
          </p:spPr>
        </p:sp>
        <p:sp>
          <p:nvSpPr>
            <p:cNvPr id="26" name="TextBox 26"/>
            <p:cNvSpPr txBox="1"/>
            <p:nvPr/>
          </p:nvSpPr>
          <p:spPr>
            <a:xfrm>
              <a:off x="6545961" y="1332071"/>
              <a:ext cx="345423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3 · Hata durumunda tutarsız yanıt</a:t>
              </a:r>
            </a:p>
          </p:txBody>
        </p:sp>
        <p:sp>
          <p:nvSpPr>
            <p:cNvPr id="27" name="TextBox 27"/>
            <p:cNvSpPr txBox="1"/>
            <p:nvPr/>
          </p:nvSpPr>
          <p:spPr>
            <a:xfrm>
              <a:off x="6547104" y="1604010"/>
              <a:ext cx="35935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Yalnızca metin veya boş yanıt göndermek</a:t>
              </a:r>
              <a:br/>
              <a:r>
                <a:rPr lang="tr-TR" sz="1200" dirty="0">
                  <a:solidFill>
                    <a:srgbClr val="52616B"/>
                  </a:solidFill>
                  <a:latin typeface="+mn-lt"/>
                  <a:ea typeface="+mn-ea"/>
                  <a:cs typeface="+mn-cs"/>
                </a:rPr>
                <a:t>yerine tutarlı bir JSON hata nesnesi,</a:t>
              </a:r>
              <a:br/>
              <a:r>
                <a:rPr lang="tr-TR" sz="1200" dirty="0">
                  <a:solidFill>
                    <a:srgbClr val="52616B"/>
                  </a:solidFill>
                  <a:latin typeface="+mn-lt"/>
                  <a:ea typeface="+mn-ea"/>
                  <a:cs typeface="+mn-cs"/>
                </a:rPr>
                <a:t>istemcinin mesajı güvenilir göstermesini sağlar.</a:t>
              </a:r>
            </a:p>
          </p:txBody>
        </p:sp>
        <p:sp>
          <p:nvSpPr>
            <p:cNvPr id="28" name="TextBox 28"/>
            <p:cNvSpPr txBox="1"/>
            <p:nvPr/>
          </p:nvSpPr>
          <p:spPr>
            <a:xfrm>
              <a:off x="6545961" y="2379821"/>
              <a:ext cx="3667553"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4 · 500 hatasında ayrıntı sızdırmak</a:t>
              </a:r>
            </a:p>
          </p:txBody>
        </p:sp>
        <p:sp>
          <p:nvSpPr>
            <p:cNvPr id="29" name="TextBox 29"/>
            <p:cNvSpPr txBox="1"/>
            <p:nvPr/>
          </p:nvSpPr>
          <p:spPr>
            <a:xfrm>
              <a:off x="6547104" y="2651760"/>
              <a:ext cx="35250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Veritabanı parolası, dosya yolu veya hata</a:t>
              </a:r>
              <a:br/>
              <a:r>
                <a:rPr lang="tr-TR" sz="1200" dirty="0">
                  <a:solidFill>
                    <a:srgbClr val="52616B"/>
                  </a:solidFill>
                  <a:latin typeface="+mn-lt"/>
                  <a:ea typeface="+mn-ea"/>
                  <a:cs typeface="+mn-cs"/>
                </a:rPr>
                <a:t>yığını istemciye döndürülmemelidir. İstemciye</a:t>
              </a:r>
              <a:br/>
              <a:r>
                <a:rPr lang="tr-TR" sz="1200" dirty="0">
                  <a:solidFill>
                    <a:srgbClr val="52616B"/>
                  </a:solidFill>
                  <a:latin typeface="+mn-lt"/>
                  <a:ea typeface="+mn-ea"/>
                  <a:cs typeface="+mn-cs"/>
                </a:rPr>
                <a:t>genel mesaj, sunucu loglarına teknik ayrıntı.</a:t>
              </a:r>
            </a:p>
          </p:txBody>
        </p:sp>
        <p:sp>
          <p:nvSpPr>
            <p:cNvPr id="30" name="Rectangle 30"/>
            <p:cNvSpPr/>
            <p:nvPr/>
          </p:nvSpPr>
          <p:spPr>
            <a:xfrm>
              <a:off x="6553200" y="3581400"/>
              <a:ext cx="4724400" cy="666750"/>
            </a:xfrm>
            <a:prstGeom prst="rect">
              <a:avLst/>
            </a:prstGeom>
            <a:solidFill>
              <a:srgbClr val="12355B"/>
            </a:solidFill>
            <a:ln>
              <a:noFill/>
            </a:ln>
          </p:spPr>
        </p:sp>
        <p:sp>
          <p:nvSpPr>
            <p:cNvPr id="31" name="TextBox 31"/>
            <p:cNvSpPr txBox="1"/>
            <p:nvPr/>
          </p:nvSpPr>
          <p:spPr>
            <a:xfrm>
              <a:off x="6700266" y="3696652"/>
              <a:ext cx="1876501"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yanit.status(500).json({</a:t>
              </a:r>
            </a:p>
          </p:txBody>
        </p:sp>
        <p:sp>
          <p:nvSpPr>
            <p:cNvPr id="32" name="TextBox 32"/>
            <p:cNvSpPr txBox="1"/>
            <p:nvPr/>
          </p:nvSpPr>
          <p:spPr>
            <a:xfrm>
              <a:off x="6700266" y="3887152"/>
              <a:ext cx="3281312"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mesaj: "Sunucuda beklenmeyen hata oluştu."</a:t>
              </a:r>
            </a:p>
          </p:txBody>
        </p:sp>
        <p:sp>
          <p:nvSpPr>
            <p:cNvPr id="33" name="TextBox 33"/>
            <p:cNvSpPr txBox="1"/>
            <p:nvPr/>
          </p:nvSpPr>
          <p:spPr>
            <a:xfrm>
              <a:off x="6700266" y="4077652"/>
              <a:ext cx="243897"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a:t>
              </a:r>
            </a:p>
          </p:txBody>
        </p:sp>
      </p:grpSp>
      <p:grpSp>
        <p:nvGrpSpPr>
          <p:cNvPr id="40" name="ozet"/>
          <p:cNvGrpSpPr/>
          <p:nvPr/>
        </p:nvGrpSpPr>
        <p:grpSpPr>
          <a:xfrm>
            <a:off x="609600" y="4629150"/>
            <a:ext cx="10972800" cy="1085850"/>
            <a:chOff x="609600" y="4629150"/>
            <a:chExt cx="10972800" cy="1085850"/>
          </a:xfrm>
        </p:grpSpPr>
        <p:sp>
          <p:nvSpPr>
            <p:cNvPr id="35" name="Rectangle 35"/>
            <p:cNvSpPr/>
            <p:nvPr/>
          </p:nvSpPr>
          <p:spPr>
            <a:xfrm>
              <a:off x="609600" y="4629150"/>
              <a:ext cx="10972800" cy="1085850"/>
            </a:xfrm>
            <a:prstGeom prst="rect">
              <a:avLst/>
            </a:prstGeom>
            <a:solidFill>
              <a:srgbClr val="EAF4F6"/>
            </a:solidFill>
            <a:ln>
              <a:noFill/>
            </a:ln>
          </p:spPr>
        </p:sp>
        <p:sp>
          <p:nvSpPr>
            <p:cNvPr id="36" name="Rectangle 36"/>
            <p:cNvSpPr/>
            <p:nvPr/>
          </p:nvSpPr>
          <p:spPr>
            <a:xfrm>
              <a:off x="609600" y="4629150"/>
              <a:ext cx="10972800" cy="38100"/>
            </a:xfrm>
            <a:prstGeom prst="rect">
              <a:avLst/>
            </a:prstGeom>
            <a:gradFill>
              <a:gsLst>
                <a:gs pos="0">
                  <a:srgbClr val="00A6A6"/>
                </a:gs>
                <a:gs pos="100000">
                  <a:srgbClr val="2E86AB"/>
                </a:gs>
              </a:gsLst>
              <a:lin ang="0" scaled="1"/>
            </a:gradFill>
            <a:ln>
              <a:noFill/>
            </a:ln>
          </p:spPr>
        </p:sp>
        <p:sp>
          <p:nvSpPr>
            <p:cNvPr id="37" name="TextBox 37"/>
            <p:cNvSpPr txBox="1"/>
            <p:nvPr/>
          </p:nvSpPr>
          <p:spPr>
            <a:xfrm>
              <a:off x="907161" y="4761071"/>
              <a:ext cx="532133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Mimari çözüm: return yanit.status(…).json(…) kalıbı</a:t>
              </a:r>
            </a:p>
          </p:txBody>
        </p:sp>
        <p:sp>
          <p:nvSpPr>
            <p:cNvPr id="38" name="TextBox 38"/>
            <p:cNvSpPr txBox="1"/>
            <p:nvPr/>
          </p:nvSpPr>
          <p:spPr>
            <a:xfrm>
              <a:off x="908304" y="5052060"/>
              <a:ext cx="77634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Yanıt döndüren tüm satırlarda return kullanmak, aynı isteğe ikinci kez yanıt gönderilmesini önler</a:t>
              </a:r>
            </a:p>
          </p:txBody>
        </p:sp>
        <p:sp>
          <p:nvSpPr>
            <p:cNvPr id="39" name="TextBox 39"/>
            <p:cNvSpPr txBox="1"/>
            <p:nvPr/>
          </p:nvSpPr>
          <p:spPr>
            <a:xfrm>
              <a:off x="908304" y="5261610"/>
              <a:ext cx="55423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 her HTTP isteğinin tam olarak bir kez yanıtlanmasını garanti eder.</a:t>
              </a:r>
            </a:p>
          </p:txBody>
        </p:sp>
      </p:grpSp>
      <p:grpSp>
        <p:nvGrpSpPr>
          <p:cNvPr id="43" name="footer"/>
          <p:cNvGrpSpPr/>
          <p:nvPr/>
        </p:nvGrpSpPr>
        <p:grpSpPr>
          <a:xfrm>
            <a:off x="603504" y="6461760"/>
            <a:ext cx="10984992" cy="234696"/>
            <a:chOff x="603504" y="6461760"/>
            <a:chExt cx="10984992" cy="234696"/>
          </a:xfrm>
        </p:grpSpPr>
        <p:sp>
          <p:nvSpPr>
            <p:cNvPr id="41" name="TextBox 41"/>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42" name="TextBox 42"/>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next"/>
          <p:cNvGrpSpPr/>
          <p:nvPr/>
        </p:nvGrpSpPr>
        <p:grpSpPr>
          <a:xfrm>
            <a:off x="609600" y="1857375"/>
            <a:ext cx="10972800" cy="1304925"/>
            <a:chOff x="609600" y="1857375"/>
            <a:chExt cx="10972800" cy="1304925"/>
          </a:xfrm>
        </p:grpSpPr>
        <p:sp>
          <p:nvSpPr>
            <p:cNvPr id="17" name="TextBox 17"/>
            <p:cNvSpPr txBox="1"/>
            <p:nvPr/>
          </p:nvSpPr>
          <p:spPr>
            <a:xfrm>
              <a:off x="754380" y="1857375"/>
              <a:ext cx="2025491"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"next() çağırmasam</a:t>
              </a:r>
              <a:br/>
              <a:r>
                <a:rPr lang="tr-TR" sz="1500" b="1" dirty="0">
                  <a:solidFill>
                    <a:srgbClr val="12355B"/>
                  </a:solidFill>
                  <a:latin typeface="+mn-lt"/>
                  <a:ea typeface="+mn-ea"/>
                  <a:cs typeface="+mn-cs"/>
                </a:rPr>
                <a:t>da istek bir sonraki</a:t>
              </a:r>
              <a:br/>
              <a:r>
                <a:rPr lang="tr-TR" sz="1500" b="1" dirty="0">
                  <a:solidFill>
                    <a:srgbClr val="12355B"/>
                  </a:solidFill>
                  <a:latin typeface="+mn-lt"/>
                  <a:ea typeface="+mn-ea"/>
                  <a:cs typeface="+mn-cs"/>
                </a:rPr>
                <a:t>adıma ilerler."</a:t>
              </a:r>
            </a:p>
          </p:txBody>
        </p:sp>
        <p:sp>
          <p:nvSpPr>
            <p:cNvPr id="18" name="TextBox 18"/>
            <p:cNvSpPr txBox="1"/>
            <p:nvPr/>
          </p:nvSpPr>
          <p:spPr>
            <a:xfrm>
              <a:off x="4375404" y="1889760"/>
              <a:ext cx="34030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Express bir ara katmanın işini ancak</a:t>
              </a:r>
              <a:br/>
              <a:r>
                <a:rPr lang="tr-TR" sz="1200" dirty="0">
                  <a:solidFill>
                    <a:srgbClr val="172B3A"/>
                  </a:solidFill>
                  <a:latin typeface="+mn-lt"/>
                  <a:ea typeface="+mn-ea"/>
                  <a:cs typeface="+mn-cs"/>
                </a:rPr>
                <a:t>res.send()/res.json() ile yanıt</a:t>
              </a:r>
              <a:br/>
              <a:r>
                <a:rPr lang="tr-TR" sz="1200" dirty="0">
                  <a:solidFill>
                    <a:srgbClr val="172B3A"/>
                  </a:solidFill>
                  <a:latin typeface="+mn-lt"/>
                  <a:ea typeface="+mn-ea"/>
                  <a:cs typeface="+mn-cs"/>
                </a:rPr>
                <a:t>verilmesinden ya da next() çağrılmasından</a:t>
              </a:r>
              <a:br/>
              <a:r>
                <a:rPr lang="tr-TR" sz="1200" dirty="0">
                  <a:solidFill>
                    <a:srgbClr val="172B3A"/>
                  </a:solidFill>
                  <a:latin typeface="+mn-lt"/>
                  <a:ea typeface="+mn-ea"/>
                  <a:cs typeface="+mn-cs"/>
                </a:rPr>
                <a:t>anlar; ikisi de yapılmazsa istek askıda kalır.</a:t>
              </a:r>
            </a:p>
          </p:txBody>
        </p:sp>
        <p:sp>
          <p:nvSpPr>
            <p:cNvPr id="19" name="TextBox 19"/>
            <p:cNvSpPr txBox="1"/>
            <p:nvPr/>
          </p:nvSpPr>
          <p:spPr>
            <a:xfrm>
              <a:off x="8185404" y="1889760"/>
              <a:ext cx="30754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Middleware akışındaki her kod dalında</a:t>
              </a:r>
              <a:br/>
              <a:r>
                <a:rPr lang="tr-TR" sz="1200" dirty="0">
                  <a:solidFill>
                    <a:srgbClr val="172B3A"/>
                  </a:solidFill>
                  <a:latin typeface="+mn-lt"/>
                  <a:ea typeface="+mn-ea"/>
                  <a:cs typeface="+mn-cs"/>
                </a:rPr>
                <a:t>ya istemciye yanıt döndüğünden ya da</a:t>
              </a:r>
              <a:br/>
              <a:r>
                <a:rPr lang="tr-TR" sz="1200" dirty="0">
                  <a:solidFill>
                    <a:srgbClr val="172B3A"/>
                  </a:solidFill>
                  <a:latin typeface="+mn-lt"/>
                  <a:ea typeface="+mn-ea"/>
                  <a:cs typeface="+mn-cs"/>
                </a:rPr>
                <a:t>next() çağrıldığından emin olunmalıdır.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resjson"/>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4380" y="3305175"/>
              <a:ext cx="2615565"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"res.json() çağrıldığında</a:t>
              </a:r>
              <a:br/>
              <a:r>
                <a:rPr lang="tr-TR" sz="1500" b="1" dirty="0">
                  <a:solidFill>
                    <a:srgbClr val="12355B"/>
                  </a:solidFill>
                  <a:latin typeface="+mn-lt"/>
                  <a:ea typeface="+mn-ea"/>
                  <a:cs typeface="+mn-cs"/>
                </a:rPr>
                <a:t>fonksiyonun yürütülmesi</a:t>
              </a:r>
              <a:br/>
              <a:r>
                <a:rPr lang="tr-TR" sz="1500" b="1" dirty="0">
                  <a:solidFill>
                    <a:srgbClr val="12355B"/>
                  </a:solidFill>
                  <a:latin typeface="+mn-lt"/>
                  <a:ea typeface="+mn-ea"/>
                  <a:cs typeface="+mn-cs"/>
                </a:rPr>
                <a:t>anında durur."</a:t>
              </a:r>
            </a:p>
          </p:txBody>
        </p:sp>
        <p:sp>
          <p:nvSpPr>
            <p:cNvPr id="24" name="TextBox 24"/>
            <p:cNvSpPr txBox="1"/>
            <p:nvPr/>
          </p:nvSpPr>
          <p:spPr>
            <a:xfrm>
              <a:off x="4375404" y="3337560"/>
              <a:ext cx="32583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res.json() yalnızca yanıt paketini sokete</a:t>
              </a:r>
              <a:br/>
              <a:r>
                <a:rPr lang="tr-TR" sz="1200" dirty="0">
                  <a:solidFill>
                    <a:srgbClr val="172B3A"/>
                  </a:solidFill>
                  <a:latin typeface="+mn-lt"/>
                  <a:ea typeface="+mn-ea"/>
                  <a:cs typeface="+mn-cs"/>
                </a:rPr>
                <a:t>yazar; altındaki JavaScript kodu çalışmaya</a:t>
              </a:r>
              <a:br/>
              <a:r>
                <a:rPr lang="tr-TR" sz="1200" dirty="0">
                  <a:solidFill>
                    <a:srgbClr val="172B3A"/>
                  </a:solidFill>
                  <a:latin typeface="+mn-lt"/>
                  <a:ea typeface="+mn-ea"/>
                  <a:cs typeface="+mn-cs"/>
                </a:rPr>
                <a:t>devam eder. Alt satırda ikinci bir</a:t>
              </a:r>
              <a:br/>
              <a:r>
                <a:rPr lang="tr-TR" sz="1200" dirty="0">
                  <a:solidFill>
                    <a:srgbClr val="172B3A"/>
                  </a:solidFill>
                  <a:latin typeface="+mn-lt"/>
                  <a:ea typeface="+mn-ea"/>
                  <a:cs typeface="+mn-cs"/>
                </a:rPr>
                <a:t>res.json() ERR_HTTP_HEADERS_SENT üretir.</a:t>
              </a:r>
            </a:p>
          </p:txBody>
        </p:sp>
        <p:sp>
          <p:nvSpPr>
            <p:cNvPr id="25" name="TextBox 25"/>
            <p:cNvSpPr txBox="1"/>
            <p:nvPr/>
          </p:nvSpPr>
          <p:spPr>
            <a:xfrm>
              <a:off x="8185404" y="3337560"/>
              <a:ext cx="24124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Yanıt döndüren tüm satırlarda</a:t>
              </a:r>
              <a:br/>
              <a:r>
                <a:rPr lang="tr-TR" sz="1200" dirty="0">
                  <a:solidFill>
                    <a:srgbClr val="172B3A"/>
                  </a:solidFill>
                  <a:latin typeface="+mn-lt"/>
                  <a:ea typeface="+mn-ea"/>
                  <a:cs typeface="+mn-cs"/>
                </a:rPr>
                <a:t>return yanit.status(…).json(…)</a:t>
              </a:r>
              <a:br/>
              <a:r>
                <a:rPr lang="tr-TR" sz="1200" dirty="0">
                  <a:solidFill>
                    <a:srgbClr val="172B3A"/>
                  </a:solidFill>
                  <a:latin typeface="+mn-lt"/>
                  <a:ea typeface="+mn-ea"/>
                  <a:cs typeface="+mn-cs"/>
                </a:rPr>
                <a:t>kalıbı kullanılmalıdır.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tekdosya"/>
          <p:cNvGrpSpPr/>
          <p:nvPr/>
        </p:nvGrpSpPr>
        <p:grpSpPr>
          <a:xfrm>
            <a:off x="754380" y="4752975"/>
            <a:ext cx="10628376" cy="895731"/>
            <a:chOff x="754380" y="4752975"/>
            <a:chExt cx="10628376" cy="895731"/>
          </a:xfrm>
        </p:grpSpPr>
        <p:sp>
          <p:nvSpPr>
            <p:cNvPr id="28" name="TextBox 28"/>
            <p:cNvSpPr txBox="1"/>
            <p:nvPr/>
          </p:nvSpPr>
          <p:spPr>
            <a:xfrm>
              <a:off x="754380" y="4752975"/>
              <a:ext cx="3075623"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"Tüm route ve iş</a:t>
              </a:r>
              <a:br/>
              <a:r>
                <a:rPr lang="tr-TR" sz="1500" b="1" dirty="0">
                  <a:solidFill>
                    <a:srgbClr val="12355B"/>
                  </a:solidFill>
                  <a:latin typeface="+mn-lt"/>
                  <a:ea typeface="+mn-ea"/>
                  <a:cs typeface="+mn-cs"/>
                </a:rPr>
                <a:t>kurallarını tek dosyaya</a:t>
              </a:r>
              <a:br/>
              <a:r>
                <a:rPr lang="tr-TR" sz="1500" b="1" dirty="0">
                  <a:solidFill>
                    <a:srgbClr val="12355B"/>
                  </a:solidFill>
                  <a:latin typeface="+mn-lt"/>
                  <a:ea typeface="+mn-ea"/>
                  <a:cs typeface="+mn-cs"/>
                </a:rPr>
                <a:t>yığmak performansı artırır."</a:t>
              </a:r>
            </a:p>
          </p:txBody>
        </p:sp>
        <p:sp>
          <p:nvSpPr>
            <p:cNvPr id="29" name="TextBox 29"/>
            <p:cNvSpPr txBox="1"/>
            <p:nvPr/>
          </p:nvSpPr>
          <p:spPr>
            <a:xfrm>
              <a:off x="4375404" y="4785360"/>
              <a:ext cx="30449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Performansa hiçbir olumlu etkisi yoktur;</a:t>
              </a:r>
              <a:br/>
              <a:r>
                <a:rPr lang="tr-TR" sz="1200" dirty="0">
                  <a:solidFill>
                    <a:srgbClr val="172B3A"/>
                  </a:solidFill>
                  <a:latin typeface="+mn-lt"/>
                  <a:ea typeface="+mn-ea"/>
                  <a:cs typeface="+mn-cs"/>
                </a:rPr>
                <a:t>bakım yapılabilirliği, modülerliği ve ekip</a:t>
              </a:r>
              <a:br/>
              <a:r>
                <a:rPr lang="tr-TR" sz="1200" dirty="0">
                  <a:solidFill>
                    <a:srgbClr val="172B3A"/>
                  </a:solidFill>
                  <a:latin typeface="+mn-lt"/>
                  <a:ea typeface="+mn-ea"/>
                  <a:cs typeface="+mn-cs"/>
                </a:rPr>
                <a:t>çalışmasını felç eder. Route eşleşme</a:t>
              </a:r>
              <a:br/>
              <a:r>
                <a:rPr lang="tr-TR" sz="1200" dirty="0">
                  <a:solidFill>
                    <a:srgbClr val="172B3A"/>
                  </a:solidFill>
                  <a:latin typeface="+mn-lt"/>
                  <a:ea typeface="+mn-ea"/>
                  <a:cs typeface="+mn-cs"/>
                </a:rPr>
                <a:t>hızı dosya sayısından bağımsızdır.</a:t>
              </a:r>
            </a:p>
          </p:txBody>
        </p:sp>
        <p:sp>
          <p:nvSpPr>
            <p:cNvPr id="30" name="TextBox 30"/>
            <p:cNvSpPr txBox="1"/>
            <p:nvPr/>
          </p:nvSpPr>
          <p:spPr>
            <a:xfrm>
              <a:off x="8185404" y="4785360"/>
              <a:ext cx="31973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express.Router() ile alan bazlı</a:t>
              </a:r>
              <a:br/>
              <a:r>
                <a:rPr lang="tr-TR" sz="1200" dirty="0">
                  <a:solidFill>
                    <a:srgbClr val="172B3A"/>
                  </a:solidFill>
                  <a:latin typeface="+mn-lt"/>
                  <a:ea typeface="+mn-ea"/>
                  <a:cs typeface="+mn-cs"/>
                </a:rPr>
                <a:t>(laboratuvar, ekipman, kullanıcı)</a:t>
              </a:r>
              <a:br/>
              <a:r>
                <a:rPr lang="tr-TR" sz="1200" dirty="0">
                  <a:solidFill>
                    <a:srgbClr val="172B3A"/>
                  </a:solidFill>
                  <a:latin typeface="+mn-lt"/>
                  <a:ea typeface="+mn-ea"/>
                  <a:cs typeface="+mn-cs"/>
                </a:rPr>
                <a:t>bağımsız rota modülleri oluşturulmalıdır.</a:t>
              </a:r>
            </a:p>
          </p:txBody>
        </p:sp>
      </p:grpSp>
      <p:sp>
        <p:nvSpPr>
          <p:cNvPr id="32" name="TextBox 32"/>
          <p:cNvSpPr txBox="1"/>
          <p:nvPr/>
        </p:nvSpPr>
        <p:spPr>
          <a:xfrm>
            <a:off x="11398606" y="64427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header"/>
          <p:cNvGrpSpPr/>
          <p:nvPr/>
        </p:nvGrpSpPr>
        <p:grpSpPr>
          <a:xfrm>
            <a:off x="0" y="0"/>
            <a:ext cx="12192000" cy="990600"/>
            <a:chOff x="0" y="0"/>
            <a:chExt cx="12192000" cy="990600"/>
          </a:xfrm>
        </p:grpSpPr>
        <p:sp>
          <p:nvSpPr>
            <p:cNvPr id="2" name="Rectangle 2"/>
            <p:cNvSpPr/>
            <p:nvPr/>
          </p:nvSpPr>
          <p:spPr>
            <a:xfrm>
              <a:off x="0" y="0"/>
              <a:ext cx="12192000" cy="990600"/>
            </a:xfrm>
            <a:prstGeom prst="rect">
              <a:avLst/>
            </a:prstGeom>
            <a:solidFill>
              <a:srgbClr val="12355B"/>
            </a:solidFill>
            <a:ln>
              <a:noFill/>
            </a:ln>
          </p:spPr>
        </p:sp>
        <p:sp>
          <p:nvSpPr>
            <p:cNvPr id="3" name="Rectangle 3"/>
            <p:cNvSpPr/>
            <p:nvPr/>
          </p:nvSpPr>
          <p:spPr>
            <a:xfrm>
              <a:off x="609600" y="914400"/>
              <a:ext cx="1143000" cy="38100"/>
            </a:xfrm>
            <a:prstGeom prst="rect">
              <a:avLst/>
            </a:prstGeom>
            <a:solidFill>
              <a:srgbClr val="00A6A6"/>
            </a:solidFill>
            <a:ln>
              <a:noFill/>
            </a:ln>
          </p:spPr>
        </p:sp>
        <p:sp>
          <p:nvSpPr>
            <p:cNvPr id="4" name="TextBox 4"/>
            <p:cNvSpPr txBox="1"/>
            <p:nvPr/>
          </p:nvSpPr>
          <p:spPr>
            <a:xfrm>
              <a:off x="595122" y="282892"/>
              <a:ext cx="469504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mini uygulama</a:t>
              </a:r>
            </a:p>
          </p:txBody>
        </p:sp>
      </p:grpSp>
      <p:grpSp>
        <p:nvGrpSpPr>
          <p:cNvPr id="20" name="kod"/>
          <p:cNvGrpSpPr/>
          <p:nvPr/>
        </p:nvGrpSpPr>
        <p:grpSpPr>
          <a:xfrm>
            <a:off x="601599" y="1220629"/>
            <a:ext cx="5265801" cy="2760821"/>
            <a:chOff x="601599" y="1220629"/>
            <a:chExt cx="5265801" cy="2760821"/>
          </a:xfrm>
        </p:grpSpPr>
        <p:sp>
          <p:nvSpPr>
            <p:cNvPr id="6" name="TextBox 6"/>
            <p:cNvSpPr txBox="1"/>
            <p:nvPr/>
          </p:nvSpPr>
          <p:spPr>
            <a:xfrm>
              <a:off x="601599" y="1220629"/>
              <a:ext cx="394587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5.9 · KitapApiUygulamasi sınıfı</a:t>
              </a:r>
            </a:p>
          </p:txBody>
        </p:sp>
        <p:sp>
          <p:nvSpPr>
            <p:cNvPr id="7" name="Rectangle 7"/>
            <p:cNvSpPr/>
            <p:nvPr/>
          </p:nvSpPr>
          <p:spPr>
            <a:xfrm>
              <a:off x="609600" y="1504950"/>
              <a:ext cx="5257800" cy="2476500"/>
            </a:xfrm>
            <a:prstGeom prst="rect">
              <a:avLst/>
            </a:prstGeom>
            <a:solidFill>
              <a:srgbClr val="12355B"/>
            </a:solidFill>
            <a:ln>
              <a:noFill/>
            </a:ln>
          </p:spPr>
        </p:sp>
        <p:sp>
          <p:nvSpPr>
            <p:cNvPr id="8" name="TextBox 8"/>
            <p:cNvSpPr txBox="1"/>
            <p:nvPr/>
          </p:nvSpPr>
          <p:spPr>
            <a:xfrm>
              <a:off x="832866" y="1639252"/>
              <a:ext cx="204691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class KitapApiUygulamasi {</a:t>
              </a:r>
            </a:p>
          </p:txBody>
        </p:sp>
        <p:sp>
          <p:nvSpPr>
            <p:cNvPr id="9" name="TextBox 9"/>
            <p:cNvSpPr txBox="1"/>
            <p:nvPr/>
          </p:nvSpPr>
          <p:spPr>
            <a:xfrm>
              <a:off x="832866" y="1829752"/>
              <a:ext cx="2265216"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private uygulama = express();</a:t>
              </a:r>
            </a:p>
          </p:txBody>
        </p:sp>
        <p:sp>
          <p:nvSpPr>
            <p:cNvPr id="10" name="TextBox 10"/>
            <p:cNvSpPr txBox="1"/>
            <p:nvPr/>
          </p:nvSpPr>
          <p:spPr>
            <a:xfrm>
              <a:off x="832866" y="2020252"/>
              <a:ext cx="2978839"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private kitapListesi: Kitap[] = [...];</a:t>
              </a:r>
            </a:p>
          </p:txBody>
        </p:sp>
        <p:sp>
          <p:nvSpPr>
            <p:cNvPr id="11" name="TextBox 11"/>
            <p:cNvSpPr txBox="1"/>
            <p:nvPr/>
          </p:nvSpPr>
          <p:spPr>
            <a:xfrm>
              <a:off x="832866" y="2248852"/>
              <a:ext cx="1798758"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public baslat(): void {</a:t>
              </a:r>
            </a:p>
          </p:txBody>
        </p:sp>
        <p:sp>
          <p:nvSpPr>
            <p:cNvPr id="12" name="TextBox 12"/>
            <p:cNvSpPr txBox="1"/>
            <p:nvPr/>
          </p:nvSpPr>
          <p:spPr>
            <a:xfrm>
              <a:off x="832866" y="2439352"/>
              <a:ext cx="2653932"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this.uygulama.use(express.json());</a:t>
              </a:r>
            </a:p>
          </p:txBody>
        </p:sp>
        <p:sp>
          <p:nvSpPr>
            <p:cNvPr id="13" name="TextBox 13"/>
            <p:cNvSpPr txBox="1"/>
            <p:nvPr/>
          </p:nvSpPr>
          <p:spPr>
            <a:xfrm>
              <a:off x="832866" y="2629852"/>
              <a:ext cx="2892413"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this.uygulama.use(this.istekGunlugu);</a:t>
              </a:r>
            </a:p>
          </p:txBody>
        </p:sp>
        <p:sp>
          <p:nvSpPr>
            <p:cNvPr id="14" name="TextBox 14"/>
            <p:cNvSpPr txBox="1"/>
            <p:nvPr/>
          </p:nvSpPr>
          <p:spPr>
            <a:xfrm>
              <a:off x="832866" y="2820352"/>
              <a:ext cx="2809418"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this.uygulama.get("/kitaplar", ...);</a:t>
              </a:r>
            </a:p>
          </p:txBody>
        </p:sp>
        <p:sp>
          <p:nvSpPr>
            <p:cNvPr id="15" name="TextBox 15"/>
            <p:cNvSpPr txBox="1"/>
            <p:nvPr/>
          </p:nvSpPr>
          <p:spPr>
            <a:xfrm>
              <a:off x="832866" y="3010852"/>
              <a:ext cx="2887161"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this.uygulama.post("/kitaplar", ...);</a:t>
              </a:r>
            </a:p>
          </p:txBody>
        </p:sp>
        <p:sp>
          <p:nvSpPr>
            <p:cNvPr id="16" name="TextBox 16"/>
            <p:cNvSpPr txBox="1"/>
            <p:nvPr/>
          </p:nvSpPr>
          <p:spPr>
            <a:xfrm>
              <a:off x="832866" y="3201352"/>
              <a:ext cx="3125567"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this.uygulama.listen(this.portNumarasi);</a:t>
              </a:r>
            </a:p>
          </p:txBody>
        </p:sp>
        <p:sp>
          <p:nvSpPr>
            <p:cNvPr id="17" name="TextBox 17"/>
            <p:cNvSpPr txBox="1"/>
            <p:nvPr/>
          </p:nvSpPr>
          <p:spPr>
            <a:xfrm>
              <a:off x="832866" y="3391852"/>
              <a:ext cx="8841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a:t>
              </a:r>
            </a:p>
          </p:txBody>
        </p:sp>
        <p:sp>
          <p:nvSpPr>
            <p:cNvPr id="18" name="TextBox 18"/>
            <p:cNvSpPr txBox="1"/>
            <p:nvPr/>
          </p:nvSpPr>
          <p:spPr>
            <a:xfrm>
              <a:off x="832866" y="3582352"/>
              <a:ext cx="3516440"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private kitapGetir = (istek, yanit) =&gt; {...};</a:t>
              </a:r>
            </a:p>
          </p:txBody>
        </p:sp>
        <p:sp>
          <p:nvSpPr>
            <p:cNvPr id="19" name="TextBox 19"/>
            <p:cNvSpPr txBox="1"/>
            <p:nvPr/>
          </p:nvSpPr>
          <p:spPr>
            <a:xfrm>
              <a:off x="832866" y="3772852"/>
              <a:ext cx="8841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a:t>
              </a:r>
            </a:p>
          </p:txBody>
        </p:sp>
      </p:grpSp>
      <p:grpSp>
        <p:nvGrpSpPr>
          <p:cNvPr id="25" name="dikkat"/>
          <p:cNvGrpSpPr/>
          <p:nvPr/>
        </p:nvGrpSpPr>
        <p:grpSpPr>
          <a:xfrm>
            <a:off x="609600" y="4133850"/>
            <a:ext cx="5257800" cy="879634"/>
            <a:chOff x="609600" y="4133850"/>
            <a:chExt cx="5257800" cy="879634"/>
          </a:xfrm>
        </p:grpSpPr>
        <p:sp>
          <p:nvSpPr>
            <p:cNvPr id="21" name="Rectangle 21"/>
            <p:cNvSpPr/>
            <p:nvPr/>
          </p:nvSpPr>
          <p:spPr>
            <a:xfrm>
              <a:off x="609600" y="4133850"/>
              <a:ext cx="5257800" cy="819150"/>
            </a:xfrm>
            <a:prstGeom prst="rect">
              <a:avLst/>
            </a:prstGeom>
            <a:solidFill>
              <a:srgbClr val="FFFFFF"/>
            </a:solidFill>
            <a:ln w="9525">
              <a:solidFill>
                <a:srgbClr val="B8CBD3"/>
              </a:solidFill>
            </a:ln>
          </p:spPr>
        </p:sp>
        <p:sp>
          <p:nvSpPr>
            <p:cNvPr id="22" name="Rectangle 22"/>
            <p:cNvSpPr/>
            <p:nvPr/>
          </p:nvSpPr>
          <p:spPr>
            <a:xfrm>
              <a:off x="609600" y="4133850"/>
              <a:ext cx="57150" cy="819150"/>
            </a:xfrm>
            <a:prstGeom prst="rect">
              <a:avLst/>
            </a:prstGeom>
            <a:solidFill>
              <a:srgbClr val="52616B"/>
            </a:solidFill>
            <a:ln>
              <a:noFill/>
            </a:ln>
          </p:spPr>
        </p:sp>
        <p:sp>
          <p:nvSpPr>
            <p:cNvPr id="23" name="TextBox 23"/>
            <p:cNvSpPr txBox="1"/>
            <p:nvPr/>
          </p:nvSpPr>
          <p:spPr>
            <a:xfrm>
              <a:off x="908304" y="4232910"/>
              <a:ext cx="14602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Dikkat noktası</a:t>
              </a:r>
            </a:p>
          </p:txBody>
        </p:sp>
        <p:sp>
          <p:nvSpPr>
            <p:cNvPr id="24" name="TextBox 24"/>
            <p:cNvSpPr txBox="1"/>
            <p:nvPr/>
          </p:nvSpPr>
          <p:spPr>
            <a:xfrm>
              <a:off x="908685" y="4450556"/>
              <a:ext cx="3531870" cy="562928"/>
            </a:xfrm>
            <a:prstGeom prst="rect">
              <a:avLst/>
            </a:prstGeom>
            <a:noFill/>
            <a:ln>
              <a:noFill/>
            </a:ln>
          </p:spPr>
          <p:txBody>
            <a:bodyPr wrap="none" lIns="0" tIns="0" rIns="0" bIns="0" anchor="t" anchorCtr="0">
              <a:spAutoFit/>
            </a:bodyPr>
            <a:lstStyle/>
            <a:p>
              <a:pPr algn="l">
                <a:lnSpc>
                  <a:spcPts val="1350"/>
                </a:lnSpc>
              </a:pPr>
              <a:r>
                <a:rPr lang="tr-TR" sz="1120" dirty="0">
                  <a:solidFill>
                    <a:srgbClr val="172B3A"/>
                  </a:solidFill>
                  <a:latin typeface="+mn-lt"/>
                  <a:ea typeface="+mn-ea"/>
                  <a:cs typeface="+mn-cs"/>
                </a:rPr>
                <a:t>Route handler'ları ok fonksiyonuyla tanımlanır</a:t>
              </a:r>
              <a:br/>
              <a:r>
                <a:rPr lang="tr-TR" sz="1120" dirty="0">
                  <a:solidFill>
                    <a:srgbClr val="172B3A"/>
                  </a:solidFill>
                  <a:latin typeface="+mn-lt"/>
                  <a:ea typeface="+mn-ea"/>
                  <a:cs typeface="+mn-cs"/>
                </a:rPr>
                <a:t>(kitapGetir =…); bu, this bağlamının Express</a:t>
              </a:r>
              <a:br/>
              <a:r>
                <a:rPr lang="tr-TR" sz="1120" dirty="0">
                  <a:solidFill>
                    <a:srgbClr val="172B3A"/>
                  </a:solidFill>
                  <a:latin typeface="+mn-lt"/>
                  <a:ea typeface="+mn-ea"/>
                  <a:cs typeface="+mn-cs"/>
                </a:rPr>
                <a:t>tarafından çağrıldığında kaybolmamasını sağlar.</a:t>
              </a:r>
            </a:p>
          </p:txBody>
        </p:sp>
      </p:grpSp>
      <p:grpSp>
        <p:nvGrpSpPr>
          <p:cNvPr id="39" name="endpointler"/>
          <p:cNvGrpSpPr/>
          <p:nvPr/>
        </p:nvGrpSpPr>
        <p:grpSpPr>
          <a:xfrm>
            <a:off x="6240399" y="1220629"/>
            <a:ext cx="5342001" cy="2281332"/>
            <a:chOff x="6240399" y="1220629"/>
            <a:chExt cx="5342001" cy="2281332"/>
          </a:xfrm>
        </p:grpSpPr>
        <p:sp>
          <p:nvSpPr>
            <p:cNvPr id="26" name="TextBox 26"/>
            <p:cNvSpPr txBox="1"/>
            <p:nvPr/>
          </p:nvSpPr>
          <p:spPr>
            <a:xfrm>
              <a:off x="6240399" y="1220629"/>
              <a:ext cx="404313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Tek uygulamada birleşen endpoint'ler</a:t>
              </a:r>
            </a:p>
          </p:txBody>
        </p:sp>
        <p:sp>
          <p:nvSpPr>
            <p:cNvPr id="27" name="Rectangle 27"/>
            <p:cNvSpPr/>
            <p:nvPr/>
          </p:nvSpPr>
          <p:spPr>
            <a:xfrm>
              <a:off x="6248400" y="1543050"/>
              <a:ext cx="5334000" cy="438150"/>
            </a:xfrm>
            <a:prstGeom prst="rect">
              <a:avLst/>
            </a:prstGeom>
            <a:solidFill>
              <a:srgbClr val="FFFFFF"/>
            </a:solidFill>
            <a:ln w="9525">
              <a:solidFill>
                <a:srgbClr val="00A6A6"/>
              </a:solidFill>
            </a:ln>
          </p:spPr>
        </p:sp>
        <p:sp>
          <p:nvSpPr>
            <p:cNvPr id="28" name="TextBox 28"/>
            <p:cNvSpPr txBox="1"/>
            <p:nvPr/>
          </p:nvSpPr>
          <p:spPr>
            <a:xfrm>
              <a:off x="6433185" y="1631156"/>
              <a:ext cx="1106109"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Consolas"/>
                  <a:ea typeface="Consolas"/>
                  <a:cs typeface="Consolas"/>
                </a:rPr>
                <a:t>GET /kitaplar</a:t>
              </a:r>
            </a:p>
          </p:txBody>
        </p:sp>
        <p:sp>
          <p:nvSpPr>
            <p:cNvPr id="29" name="TextBox 29"/>
            <p:cNvSpPr txBox="1"/>
            <p:nvPr/>
          </p:nvSpPr>
          <p:spPr>
            <a:xfrm>
              <a:off x="6433566" y="1810702"/>
              <a:ext cx="202191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Kategori filtresiyle listeleme</a:t>
              </a:r>
            </a:p>
          </p:txBody>
        </p:sp>
        <p:sp>
          <p:nvSpPr>
            <p:cNvPr id="30" name="Rectangle 30"/>
            <p:cNvSpPr/>
            <p:nvPr/>
          </p:nvSpPr>
          <p:spPr>
            <a:xfrm>
              <a:off x="6248400" y="2038350"/>
              <a:ext cx="5334000" cy="438150"/>
            </a:xfrm>
            <a:prstGeom prst="rect">
              <a:avLst/>
            </a:prstGeom>
            <a:solidFill>
              <a:srgbClr val="FFFFFF"/>
            </a:solidFill>
            <a:ln w="9525">
              <a:solidFill>
                <a:srgbClr val="00A6A6"/>
              </a:solidFill>
            </a:ln>
          </p:spPr>
        </p:sp>
        <p:sp>
          <p:nvSpPr>
            <p:cNvPr id="31" name="TextBox 31"/>
            <p:cNvSpPr txBox="1"/>
            <p:nvPr/>
          </p:nvSpPr>
          <p:spPr>
            <a:xfrm>
              <a:off x="6433185" y="2126456"/>
              <a:ext cx="2272471"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Consolas"/>
                  <a:ea typeface="Consolas"/>
                  <a:cs typeface="Consolas"/>
                </a:rPr>
                <a:t>GET /kitaplar/:kitapKimligi</a:t>
              </a:r>
            </a:p>
          </p:txBody>
        </p:sp>
        <p:sp>
          <p:nvSpPr>
            <p:cNvPr id="32" name="TextBox 32"/>
            <p:cNvSpPr txBox="1"/>
            <p:nvPr/>
          </p:nvSpPr>
          <p:spPr>
            <a:xfrm>
              <a:off x="6433566" y="2306002"/>
              <a:ext cx="250551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400/404 ayrımlı tekil kayıt getirme</a:t>
              </a:r>
            </a:p>
          </p:txBody>
        </p:sp>
        <p:sp>
          <p:nvSpPr>
            <p:cNvPr id="33" name="Rectangle 33"/>
            <p:cNvSpPr/>
            <p:nvPr/>
          </p:nvSpPr>
          <p:spPr>
            <a:xfrm>
              <a:off x="6248400" y="2533650"/>
              <a:ext cx="5334000" cy="438150"/>
            </a:xfrm>
            <a:prstGeom prst="rect">
              <a:avLst/>
            </a:prstGeom>
            <a:solidFill>
              <a:srgbClr val="FFFFFF"/>
            </a:solidFill>
            <a:ln w="9525">
              <a:solidFill>
                <a:srgbClr val="2E86AB"/>
              </a:solidFill>
            </a:ln>
          </p:spPr>
        </p:sp>
        <p:sp>
          <p:nvSpPr>
            <p:cNvPr id="34" name="TextBox 34"/>
            <p:cNvSpPr txBox="1"/>
            <p:nvPr/>
          </p:nvSpPr>
          <p:spPr>
            <a:xfrm>
              <a:off x="6433185" y="2621756"/>
              <a:ext cx="1194298"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Consolas"/>
                  <a:ea typeface="Consolas"/>
                  <a:cs typeface="Consolas"/>
                </a:rPr>
                <a:t>POST /kitaplar</a:t>
              </a:r>
            </a:p>
          </p:txBody>
        </p:sp>
        <p:sp>
          <p:nvSpPr>
            <p:cNvPr id="35" name="TextBox 35"/>
            <p:cNvSpPr txBox="1"/>
            <p:nvPr/>
          </p:nvSpPr>
          <p:spPr>
            <a:xfrm>
              <a:off x="6433566" y="2801302"/>
              <a:ext cx="217025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Alan doğrulaması + 201 Created</a:t>
              </a:r>
            </a:p>
          </p:txBody>
        </p:sp>
        <p:sp>
          <p:nvSpPr>
            <p:cNvPr id="36" name="Rectangle 36"/>
            <p:cNvSpPr/>
            <p:nvPr/>
          </p:nvSpPr>
          <p:spPr>
            <a:xfrm>
              <a:off x="6248400" y="3028950"/>
              <a:ext cx="5334000" cy="438150"/>
            </a:xfrm>
            <a:prstGeom prst="rect">
              <a:avLst/>
            </a:prstGeom>
            <a:solidFill>
              <a:srgbClr val="FFFFFF"/>
            </a:solidFill>
            <a:ln w="9525">
              <a:solidFill>
                <a:srgbClr val="B8CBD3"/>
              </a:solidFill>
            </a:ln>
          </p:spPr>
        </p:sp>
        <p:sp>
          <p:nvSpPr>
            <p:cNvPr id="37" name="TextBox 37"/>
            <p:cNvSpPr txBox="1"/>
            <p:nvPr/>
          </p:nvSpPr>
          <p:spPr>
            <a:xfrm>
              <a:off x="6433185" y="3117056"/>
              <a:ext cx="858291"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Consolas"/>
                  <a:ea typeface="Consolas"/>
                  <a:cs typeface="Consolas"/>
                </a:rPr>
                <a:t>GET /durum</a:t>
              </a:r>
            </a:p>
          </p:txBody>
        </p:sp>
        <p:sp>
          <p:nvSpPr>
            <p:cNvPr id="38" name="TextBox 38"/>
            <p:cNvSpPr txBox="1"/>
            <p:nvPr/>
          </p:nvSpPr>
          <p:spPr>
            <a:xfrm>
              <a:off x="6433566" y="3296602"/>
              <a:ext cx="182441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Sağlık kontrolü endpoint'i</a:t>
              </a:r>
            </a:p>
          </p:txBody>
        </p:sp>
      </p:grpSp>
      <p:grpSp>
        <p:nvGrpSpPr>
          <p:cNvPr id="46" name="genislet"/>
          <p:cNvGrpSpPr/>
          <p:nvPr/>
        </p:nvGrpSpPr>
        <p:grpSpPr>
          <a:xfrm>
            <a:off x="6248400" y="3829050"/>
            <a:ext cx="5334000" cy="1123950"/>
            <a:chOff x="6248400" y="3829050"/>
            <a:chExt cx="5334000" cy="1123950"/>
          </a:xfrm>
        </p:grpSpPr>
        <p:sp>
          <p:nvSpPr>
            <p:cNvPr id="40" name="Rectangle 40"/>
            <p:cNvSpPr/>
            <p:nvPr/>
          </p:nvSpPr>
          <p:spPr>
            <a:xfrm>
              <a:off x="6248400" y="3829050"/>
              <a:ext cx="5334000" cy="1123950"/>
            </a:xfrm>
            <a:prstGeom prst="rect">
              <a:avLst/>
            </a:prstGeom>
            <a:solidFill>
              <a:srgbClr val="EAF4F6"/>
            </a:solidFill>
            <a:ln>
              <a:noFill/>
            </a:ln>
          </p:spPr>
        </p:sp>
        <p:sp>
          <p:nvSpPr>
            <p:cNvPr id="41" name="Rectangle 41"/>
            <p:cNvSpPr/>
            <p:nvPr/>
          </p:nvSpPr>
          <p:spPr>
            <a:xfrm>
              <a:off x="6248400" y="3829050"/>
              <a:ext cx="5334000" cy="38100"/>
            </a:xfrm>
            <a:prstGeom prst="rect">
              <a:avLst/>
            </a:prstGeom>
            <a:gradFill>
              <a:gsLst>
                <a:gs pos="0">
                  <a:srgbClr val="00A6A6"/>
                </a:gs>
                <a:gs pos="100000">
                  <a:srgbClr val="2E86AB"/>
                </a:gs>
              </a:gsLst>
              <a:lin ang="0" scaled="1"/>
            </a:gradFill>
            <a:ln>
              <a:noFill/>
            </a:ln>
          </p:spPr>
        </p:sp>
        <p:sp>
          <p:nvSpPr>
            <p:cNvPr id="42" name="TextBox 42"/>
            <p:cNvSpPr txBox="1"/>
            <p:nvPr/>
          </p:nvSpPr>
          <p:spPr>
            <a:xfrm>
              <a:off x="6546342" y="3950018"/>
              <a:ext cx="212828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Bu programı genişletin</a:t>
              </a:r>
            </a:p>
          </p:txBody>
        </p:sp>
        <p:sp>
          <p:nvSpPr>
            <p:cNvPr id="43" name="TextBox 43"/>
            <p:cNvSpPr txBox="1"/>
            <p:nvPr/>
          </p:nvSpPr>
          <p:spPr>
            <a:xfrm>
              <a:off x="6547485" y="4202906"/>
              <a:ext cx="374110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1. DELETE /kitaplar/:kitapKimligi ile silme ekleyin.</a:t>
              </a:r>
            </a:p>
          </p:txBody>
        </p:sp>
        <p:sp>
          <p:nvSpPr>
            <p:cNvPr id="44" name="TextBox 44"/>
            <p:cNvSpPr txBox="1"/>
            <p:nvPr/>
          </p:nvSpPr>
          <p:spPr>
            <a:xfrm>
              <a:off x="6547485" y="4412456"/>
              <a:ext cx="344679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2. sayfa ve sayfaBoyutu ile sayfalama ekleyin.</a:t>
              </a:r>
            </a:p>
          </p:txBody>
        </p:sp>
        <p:sp>
          <p:nvSpPr>
            <p:cNvPr id="45" name="TextBox 45"/>
            <p:cNvSpPr txBox="1"/>
            <p:nvPr/>
          </p:nvSpPr>
          <p:spPr>
            <a:xfrm>
              <a:off x="6547485" y="4622006"/>
              <a:ext cx="466380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3. API anahtarı denetimini yalnızca POST/DELETE'e uygulayın.</a:t>
              </a:r>
            </a:p>
          </p:txBody>
        </p:sp>
      </p:grpSp>
      <p:grpSp>
        <p:nvGrpSpPr>
          <p:cNvPr id="51" name="ozet-satir"/>
          <p:cNvGrpSpPr/>
          <p:nvPr/>
        </p:nvGrpSpPr>
        <p:grpSpPr>
          <a:xfrm>
            <a:off x="609600" y="5143500"/>
            <a:ext cx="10972800" cy="1143000"/>
            <a:chOff x="609600" y="5143500"/>
            <a:chExt cx="10972800" cy="1143000"/>
          </a:xfrm>
        </p:grpSpPr>
        <p:sp>
          <p:nvSpPr>
            <p:cNvPr id="47" name="Rectangle 47"/>
            <p:cNvSpPr/>
            <p:nvPr/>
          </p:nvSpPr>
          <p:spPr>
            <a:xfrm>
              <a:off x="609600" y="5143500"/>
              <a:ext cx="10972800" cy="1143000"/>
            </a:xfrm>
            <a:prstGeom prst="rect">
              <a:avLst/>
            </a:prstGeom>
            <a:solidFill>
              <a:srgbClr val="FFFFFF"/>
            </a:solidFill>
            <a:ln w="9525">
              <a:solidFill>
                <a:srgbClr val="B8CBD3"/>
              </a:solidFill>
            </a:ln>
          </p:spPr>
        </p:sp>
        <p:sp>
          <p:nvSpPr>
            <p:cNvPr id="48" name="TextBox 48"/>
            <p:cNvSpPr txBox="1"/>
            <p:nvPr/>
          </p:nvSpPr>
          <p:spPr>
            <a:xfrm>
              <a:off x="908304" y="5299710"/>
              <a:ext cx="84799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uygulama, Express'in temel kavramlarının tamamını tek yerde birleştirir: middleware zinciri, routing,</a:t>
              </a:r>
            </a:p>
          </p:txBody>
        </p:sp>
        <p:sp>
          <p:nvSpPr>
            <p:cNvPr id="49" name="TextBox 49"/>
            <p:cNvSpPr txBox="1"/>
            <p:nvPr/>
          </p:nvSpPr>
          <p:spPr>
            <a:xfrm>
              <a:off x="908304" y="5509260"/>
              <a:ext cx="63285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request doğrulama (params/query/body) ve response ile anlamlı durum kodları.</a:t>
              </a:r>
            </a:p>
          </p:txBody>
        </p:sp>
        <p:sp>
          <p:nvSpPr>
            <p:cNvPr id="50" name="TextBox 50"/>
            <p:cNvSpPr txBox="1"/>
            <p:nvPr/>
          </p:nvSpPr>
          <p:spPr>
            <a:xfrm>
              <a:off x="908304" y="5795010"/>
              <a:ext cx="823200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Bu rota ve middleware düzeni, Üniversite Laboratuvar Yönetim Sistemi'nin API iskeletini oluşturur.</a:t>
              </a:r>
            </a:p>
          </p:txBody>
        </p:sp>
      </p:grpSp>
      <p:grpSp>
        <p:nvGrpSpPr>
          <p:cNvPr id="54" name="footer"/>
          <p:cNvGrpSpPr/>
          <p:nvPr/>
        </p:nvGrpSpPr>
        <p:grpSpPr>
          <a:xfrm>
            <a:off x="603504" y="6461760"/>
            <a:ext cx="10984992" cy="234696"/>
            <a:chOff x="603504" y="6461760"/>
            <a:chExt cx="10984992" cy="234696"/>
          </a:xfrm>
        </p:grpSpPr>
        <p:sp>
          <p:nvSpPr>
            <p:cNvPr id="52" name="TextBox 52"/>
            <p:cNvSpPr txBox="1"/>
            <p:nvPr/>
          </p:nvSpPr>
          <p:spPr>
            <a:xfrm>
              <a:off x="603504" y="6461760"/>
              <a:ext cx="2852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Express ile Web Sunucusu ve Routing</a:t>
              </a:r>
            </a:p>
          </p:txBody>
        </p:sp>
        <p:sp>
          <p:nvSpPr>
            <p:cNvPr id="53" name="TextBox 53"/>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express"/>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00577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Express</a:t>
              </a:r>
            </a:p>
          </p:txBody>
        </p:sp>
        <p:sp>
          <p:nvSpPr>
            <p:cNvPr id="8" name="TextBox 8"/>
            <p:cNvSpPr txBox="1"/>
            <p:nvPr/>
          </p:nvSpPr>
          <p:spPr>
            <a:xfrm>
              <a:off x="832104" y="1908810"/>
              <a:ext cx="23743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express() ile uygulama nesnesi,</a:t>
              </a:r>
              <a:br/>
              <a:r>
                <a:rPr lang="tr-TR" sz="1200" dirty="0">
                  <a:solidFill>
                    <a:srgbClr val="172B3A"/>
                  </a:solidFill>
                  <a:latin typeface="+mn-lt"/>
                  <a:ea typeface="+mn-ea"/>
                  <a:cs typeface="+mn-cs"/>
                </a:rPr>
                <a:t>listen() ile port dinleme,</a:t>
              </a:r>
              <a:br/>
              <a:r>
                <a:rPr lang="tr-TR" sz="1200" dirty="0">
                  <a:solidFill>
                    <a:srgbClr val="172B3A"/>
                  </a:solidFill>
                  <a:latin typeface="+mn-lt"/>
                  <a:ea typeface="+mn-ea"/>
                  <a:cs typeface="+mn-cs"/>
                </a:rPr>
                <a:t>get() ile temel route.</a:t>
              </a:r>
            </a:p>
          </p:txBody>
        </p:sp>
      </p:grpSp>
      <p:grpSp>
        <p:nvGrpSpPr>
          <p:cNvPr id="13" name="summary-routing"/>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9416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Routing</a:t>
              </a:r>
            </a:p>
          </p:txBody>
        </p:sp>
        <p:sp>
          <p:nvSpPr>
            <p:cNvPr id="12" name="TextBox 12"/>
            <p:cNvSpPr txBox="1"/>
            <p:nvPr/>
          </p:nvSpPr>
          <p:spPr>
            <a:xfrm>
              <a:off x="4565904" y="1908810"/>
              <a:ext cx="24963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HTTP metodu ve URL yolu</a:t>
              </a:r>
              <a:br/>
              <a:r>
                <a:rPr lang="tr-TR" sz="1200" dirty="0">
                  <a:solidFill>
                    <a:srgbClr val="172B3A"/>
                  </a:solidFill>
                  <a:latin typeface="+mn-lt"/>
                  <a:ea typeface="+mn-ea"/>
                  <a:cs typeface="+mn-cs"/>
                </a:rPr>
                <a:t>birlikte değerlendirilir; route</a:t>
              </a:r>
              <a:br/>
              <a:r>
                <a:rPr lang="tr-TR" sz="1200" dirty="0">
                  <a:solidFill>
                    <a:srgbClr val="172B3A"/>
                  </a:solidFill>
                  <a:latin typeface="+mn-lt"/>
                  <a:ea typeface="+mn-ea"/>
                  <a:cs typeface="+mn-cs"/>
                </a:rPr>
                <a:t>parametresi tekil kaynağı seçer.</a:t>
              </a:r>
            </a:p>
          </p:txBody>
        </p:sp>
      </p:grpSp>
      <p:grpSp>
        <p:nvGrpSpPr>
          <p:cNvPr id="17" name="summary-middleware"/>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139999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Middleware</a:t>
              </a:r>
            </a:p>
          </p:txBody>
        </p:sp>
        <p:sp>
          <p:nvSpPr>
            <p:cNvPr id="16" name="TextBox 16"/>
            <p:cNvSpPr txBox="1"/>
            <p:nvPr/>
          </p:nvSpPr>
          <p:spPr>
            <a:xfrm>
              <a:off x="8299704" y="1908810"/>
              <a:ext cx="24277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İstek ile route arasında çalışan</a:t>
              </a:r>
              <a:br/>
              <a:r>
                <a:rPr lang="tr-TR" sz="1200" dirty="0">
                  <a:solidFill>
                    <a:srgbClr val="172B3A"/>
                  </a:solidFill>
                  <a:latin typeface="+mn-lt"/>
                  <a:ea typeface="+mn-ea"/>
                  <a:cs typeface="+mn-cs"/>
                </a:rPr>
                <a:t>işlem halkaları; next() zinciri</a:t>
              </a:r>
              <a:br/>
              <a:r>
                <a:rPr lang="tr-TR" sz="1200" dirty="0">
                  <a:solidFill>
                    <a:srgbClr val="172B3A"/>
                  </a:solidFill>
                  <a:latin typeface="+mn-lt"/>
                  <a:ea typeface="+mn-ea"/>
                  <a:cs typeface="+mn-cs"/>
                </a:rPr>
                <a:t>sürdürür, yanıt sonlandırır.</a:t>
              </a:r>
            </a:p>
          </p:txBody>
        </p:sp>
      </p:grpSp>
      <p:grpSp>
        <p:nvGrpSpPr>
          <p:cNvPr id="21" name="summary-request"/>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00577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Request</a:t>
              </a:r>
            </a:p>
          </p:txBody>
        </p:sp>
        <p:sp>
          <p:nvSpPr>
            <p:cNvPr id="20" name="TextBox 20"/>
            <p:cNvSpPr txBox="1"/>
            <p:nvPr/>
          </p:nvSpPr>
          <p:spPr>
            <a:xfrm>
              <a:off x="832104" y="3718560"/>
              <a:ext cx="21153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params kimlik, query filtre,</a:t>
              </a:r>
              <a:br/>
              <a:r>
                <a:rPr lang="tr-TR" sz="1200" dirty="0">
                  <a:solidFill>
                    <a:srgbClr val="172B3A"/>
                  </a:solidFill>
                  <a:latin typeface="+mn-lt"/>
                  <a:ea typeface="+mn-ea"/>
                  <a:cs typeface="+mn-cs"/>
                </a:rPr>
                <a:t>body yeni veri taşır; hiçbiri</a:t>
              </a:r>
              <a:br/>
              <a:r>
                <a:rPr lang="tr-TR" sz="1200" dirty="0">
                  <a:solidFill>
                    <a:srgbClr val="172B3A"/>
                  </a:solidFill>
                  <a:latin typeface="+mn-lt"/>
                  <a:ea typeface="+mn-ea"/>
                  <a:cs typeface="+mn-cs"/>
                </a:rPr>
                <a:t>otomatik güvenilir değildir.</a:t>
              </a:r>
            </a:p>
          </p:txBody>
        </p:sp>
      </p:grpSp>
      <p:grpSp>
        <p:nvGrpSpPr>
          <p:cNvPr id="25" name="summary-response"/>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114570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Response</a:t>
              </a:r>
            </a:p>
          </p:txBody>
        </p:sp>
        <p:sp>
          <p:nvSpPr>
            <p:cNvPr id="24" name="TextBox 24"/>
            <p:cNvSpPr txBox="1"/>
            <p:nvPr/>
          </p:nvSpPr>
          <p:spPr>
            <a:xfrm>
              <a:off x="4565904" y="3718560"/>
              <a:ext cx="21991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200/201 başarı, 400/401/404</a:t>
              </a:r>
              <a:br/>
              <a:r>
                <a:rPr lang="tr-TR" sz="1200" dirty="0">
                  <a:solidFill>
                    <a:srgbClr val="172B3A"/>
                  </a:solidFill>
                  <a:latin typeface="+mn-lt"/>
                  <a:ea typeface="+mn-ea"/>
                  <a:cs typeface="+mn-cs"/>
                </a:rPr>
                <a:t>hata sınıflarını istemciye</a:t>
              </a:r>
              <a:br/>
              <a:r>
                <a:rPr lang="tr-TR" sz="1200" dirty="0">
                  <a:solidFill>
                    <a:srgbClr val="172B3A"/>
                  </a:solidFill>
                  <a:latin typeface="+mn-lt"/>
                  <a:ea typeface="+mn-ea"/>
                  <a:cs typeface="+mn-cs"/>
                </a:rPr>
                <a:t>anlamlı biçimde bildirir.</a:t>
              </a:r>
            </a:p>
          </p:txBody>
        </p:sp>
      </p:grpSp>
      <p:grpSp>
        <p:nvGrpSpPr>
          <p:cNvPr id="29" name="summary-typescript"/>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63077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TypeScript + runtime</a:t>
              </a:r>
            </a:p>
          </p:txBody>
        </p:sp>
        <p:sp>
          <p:nvSpPr>
            <p:cNvPr id="28" name="TextBox 28"/>
            <p:cNvSpPr txBox="1"/>
            <p:nvPr/>
          </p:nvSpPr>
          <p:spPr>
            <a:xfrm>
              <a:off x="8299704" y="3718560"/>
              <a:ext cx="29001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Tür sistemi derleme zamanı</a:t>
              </a:r>
              <a:br/>
              <a:r>
                <a:rPr lang="tr-TR" sz="1200" dirty="0">
                  <a:solidFill>
                    <a:srgbClr val="172B3A"/>
                  </a:solidFill>
                  <a:latin typeface="+mn-lt"/>
                  <a:ea typeface="+mn-ea"/>
                  <a:cs typeface="+mn-cs"/>
                </a:rPr>
                <a:t>güvenliği sağlar; ağdan gelen veri</a:t>
              </a:r>
              <a:br/>
              <a:r>
                <a:rPr lang="tr-TR" sz="1200" dirty="0">
                  <a:solidFill>
                    <a:srgbClr val="172B3A"/>
                  </a:solidFill>
                  <a:latin typeface="+mn-lt"/>
                  <a:ea typeface="+mn-ea"/>
                  <a:cs typeface="+mn-cs"/>
                </a:rPr>
                <a:t>çalışma zamanında ayrıca doğrulanır.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835666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Bir API endpoint'i tasarlarken: kaynak belirle, HTTP metodunu seç,</a:t>
              </a:r>
            </a:p>
          </p:txBody>
        </p:sp>
        <p:sp>
          <p:nvSpPr>
            <p:cNvPr id="32" name="TextBox 32"/>
            <p:cNvSpPr txBox="1"/>
            <p:nvPr/>
          </p:nvSpPr>
          <p:spPr>
            <a:xfrm>
              <a:off x="906399" y="5583079"/>
              <a:ext cx="690746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request verisini doğrula, uygun response ve durum kodunu döndür.</a:t>
              </a:r>
            </a:p>
          </p:txBody>
        </p:sp>
      </p:grpSp>
      <p:sp>
        <p:nvSpPr>
          <p:cNvPr id="34" name="TextBox 34"/>
          <p:cNvSpPr txBox="1"/>
          <p:nvPr/>
        </p:nvSpPr>
        <p:spPr>
          <a:xfrm>
            <a:off x="11398606" y="64427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a:t>
            </a:r>
          </a:p>
        </p:txBody>
      </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7585520" cy="724281"/>
            <a:chOff x="599694" y="1484948"/>
            <a:chExt cx="7585520" cy="724281"/>
          </a:xfrm>
        </p:grpSpPr>
        <p:sp>
          <p:nvSpPr>
            <p:cNvPr id="7" name="TextBox 7"/>
            <p:cNvSpPr txBox="1"/>
            <p:nvPr/>
          </p:nvSpPr>
          <p:spPr>
            <a:xfrm>
              <a:off x="599694" y="1484948"/>
              <a:ext cx="7585520"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Kitap API'si; route, middleware, request ve response ilişkisini</a:t>
              </a:r>
              <a:br/>
              <a:r>
                <a:rPr lang="tr-TR" sz="1950" dirty="0">
                  <a:solidFill>
                    <a:srgbClr val="172B3A"/>
                  </a:solidFill>
                  <a:latin typeface="+mn-lt"/>
                  <a:ea typeface="+mn-ea"/>
                  <a:cs typeface="+mn-cs"/>
                </a:rPr>
                <a:t>kurdu. Ancak veri yalnızca bellekte tutuluyor.</a:t>
              </a:r>
            </a:p>
          </p:txBody>
        </p:sp>
      </p:grpSp>
      <p:grpSp>
        <p:nvGrpSpPr>
          <p:cNvPr id="14" name="bridge-now"/>
          <p:cNvGrpSpPr/>
          <p:nvPr/>
        </p:nvGrpSpPr>
        <p:grpSpPr>
          <a:xfrm>
            <a:off x="599694" y="2799398"/>
            <a:ext cx="3094863" cy="1834419"/>
            <a:chOff x="599694" y="2799398"/>
            <a:chExt cx="3094863"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73494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Route ve middleware zinciri</a:t>
              </a:r>
              <a:br/>
              <a:r>
                <a:rPr lang="tr-TR" sz="1580" dirty="0">
                  <a:solidFill>
                    <a:srgbClr val="172B3A"/>
                  </a:solidFill>
                  <a:latin typeface="+mn-lt"/>
                  <a:ea typeface="+mn-ea"/>
                  <a:cs typeface="+mn-cs"/>
                </a:rPr>
                <a:t>ile istek işlem hattı kurmak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84530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Request'i doğrulayıp anlamlı</a:t>
              </a:r>
              <a:br/>
              <a:r>
                <a:rPr lang="tr-TR" sz="1580" dirty="0">
                  <a:solidFill>
                    <a:srgbClr val="172B3A"/>
                  </a:solidFill>
                  <a:latin typeface="+mn-lt"/>
                  <a:ea typeface="+mn-ea"/>
                  <a:cs typeface="+mn-cs"/>
                </a:rPr>
                <a:t>HTTP yanıtı üretmek</a:t>
              </a:r>
            </a:p>
          </p:txBody>
        </p:sp>
      </p:grpSp>
      <p:grpSp>
        <p:nvGrpSpPr>
          <p:cNvPr id="20"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1718012" cy="440055"/>
            </a:xfrm>
            <a:prstGeom prst="rect">
              <a:avLst/>
            </a:prstGeom>
            <a:noFill/>
            <a:ln>
              <a:noFill/>
            </a:ln>
          </p:spPr>
          <p:txBody>
            <a:bodyPr wrap="none" lIns="0" tIns="0" rIns="0" bIns="0" anchor="t" anchorCtr="0">
              <a:spAutoFit/>
            </a:bodyPr>
            <a:lstStyle/>
            <a:p>
              <a:pPr algn="l"/>
              <a:r>
                <a:rPr lang="tr-TR" sz="2250" b="1" dirty="0">
                  <a:solidFill>
                    <a:srgbClr val="FFFFFF"/>
                  </a:solidFill>
                  <a:latin typeface="+mn-lt"/>
                  <a:ea typeface="+mn-ea"/>
                  <a:cs typeface="+mn-cs"/>
                </a:rPr>
                <a:t>Kalıcı veri</a:t>
              </a:r>
            </a:p>
          </p:txBody>
        </p:sp>
        <p:sp>
          <p:nvSpPr>
            <p:cNvPr id="18" name="TextBox 18"/>
            <p:cNvSpPr txBox="1"/>
            <p:nvPr/>
          </p:nvSpPr>
          <p:spPr>
            <a:xfrm>
              <a:off x="7303770" y="3681412"/>
              <a:ext cx="1326823" cy="440055"/>
            </a:xfrm>
            <a:prstGeom prst="rect">
              <a:avLst/>
            </a:prstGeom>
            <a:noFill/>
            <a:ln>
              <a:noFill/>
            </a:ln>
          </p:spPr>
          <p:txBody>
            <a:bodyPr wrap="none" lIns="0" tIns="0" rIns="0" bIns="0" anchor="t" anchorCtr="0">
              <a:spAutoFit/>
            </a:bodyPr>
            <a:lstStyle/>
            <a:p>
              <a:pPr algn="l"/>
              <a:r>
                <a:rPr lang="tr-TR" sz="2250" b="1" dirty="0">
                  <a:solidFill>
                    <a:srgbClr val="FFFFFF"/>
                  </a:solidFill>
                  <a:latin typeface="+mn-lt"/>
                  <a:ea typeface="+mn-ea"/>
                  <a:cs typeface="+mn-cs"/>
                </a:rPr>
                <a:t>yönetimi</a:t>
              </a:r>
            </a:p>
          </p:txBody>
        </p:sp>
        <p:sp>
          <p:nvSpPr>
            <p:cNvPr id="19" name="TextBox 19"/>
            <p:cNvSpPr txBox="1"/>
            <p:nvPr/>
          </p:nvSpPr>
          <p:spPr>
            <a:xfrm>
              <a:off x="7307199" y="4135279"/>
              <a:ext cx="263461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Bellek içi listeler yerine</a:t>
              </a:r>
              <a:br/>
              <a:r>
                <a:rPr lang="tr-TR" sz="1580" dirty="0">
                  <a:solidFill>
                    <a:srgbClr val="EAF4F6"/>
                  </a:solidFill>
                  <a:latin typeface="+mn-lt"/>
                  <a:ea typeface="+mn-ea"/>
                  <a:cs typeface="+mn-cs"/>
                </a:rPr>
                <a:t>güvenilir bir veri katmanı.</a:t>
              </a:r>
            </a:p>
          </p:txBody>
        </p:sp>
      </p:grpSp>
      <p:grpSp>
        <p:nvGrpSpPr>
          <p:cNvPr id="24" name="bridge-closing"/>
          <p:cNvGrpSpPr/>
          <p:nvPr/>
        </p:nvGrpSpPr>
        <p:grpSpPr>
          <a:xfrm>
            <a:off x="609600" y="5429250"/>
            <a:ext cx="10972800" cy="709518"/>
            <a:chOff x="609600" y="5429250"/>
            <a:chExt cx="10972800" cy="709518"/>
          </a:xfrm>
        </p:grpSpPr>
        <p:sp>
          <p:nvSpPr>
            <p:cNvPr id="21" name="Rectangle 21"/>
            <p:cNvSpPr/>
            <p:nvPr/>
          </p:nvSpPr>
          <p:spPr>
            <a:xfrm>
              <a:off x="609600" y="5429250"/>
              <a:ext cx="10972800" cy="666750"/>
            </a:xfrm>
            <a:prstGeom prst="roundRect">
              <a:avLst>
                <a:gd name="adj" fmla="val 11429"/>
              </a:avLst>
            </a:prstGeom>
            <a:solidFill>
              <a:srgbClr val="EAF4F6"/>
            </a:solidFill>
            <a:ln>
              <a:noFill/>
            </a:ln>
          </p:spPr>
        </p:sp>
        <p:sp>
          <p:nvSpPr>
            <p:cNvPr id="22" name="TextBox 22"/>
            <p:cNvSpPr txBox="1"/>
            <p:nvPr/>
          </p:nvSpPr>
          <p:spPr>
            <a:xfrm>
              <a:off x="905256" y="5520690"/>
              <a:ext cx="824432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Express routing bilgisi, veritabanı işlemlerini doğru endpoint'lere</a:t>
              </a:r>
            </a:p>
          </p:txBody>
        </p:sp>
        <p:sp>
          <p:nvSpPr>
            <p:cNvPr id="23" name="TextBox 23"/>
            <p:cNvSpPr txBox="1"/>
            <p:nvPr/>
          </p:nvSpPr>
          <p:spPr>
            <a:xfrm>
              <a:off x="906399" y="5830729"/>
              <a:ext cx="885367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bağlamak ve daha sürdürülebilir web servisleri geliştirmek için temel oluşturacaktır.</a:t>
              </a:r>
            </a:p>
          </p:txBody>
        </p:sp>
      </p:grpSp>
      <p:sp>
        <p:nvSpPr>
          <p:cNvPr id="25" name="TextBox 25"/>
          <p:cNvSpPr txBox="1"/>
          <p:nvPr/>
        </p:nvSpPr>
        <p:spPr>
          <a:xfrm>
            <a:off x="11398606" y="64427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26</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05-express-web-server-20260915">
  <a:themeElements>
    <a:clrScheme name="b05-express-web-server-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5-express-web-server-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5-express-web-server-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05-express-web-server-20260915">
  <a:themeElements>
    <a:clrScheme name="b05-express-web-server-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5-express-web-server-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5-express-web-server-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2026-09-19T21:22:42Z</dcterms:created>
  <dcterms:modified xsi:type="dcterms:W3CDTF">2026-09-19T21:22:42Z</dcterms:modified>
  <cp:category/>
  <cp:contentStatus/>
</cp:coreProperties>
</file>